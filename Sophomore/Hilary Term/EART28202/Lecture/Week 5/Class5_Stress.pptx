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42"/>
  </p:notesMasterIdLst>
  <p:handoutMasterIdLst>
    <p:handoutMasterId r:id="rId43"/>
  </p:handoutMasterIdLst>
  <p:sldIdLst>
    <p:sldId id="316" r:id="rId2"/>
    <p:sldId id="341" r:id="rId3"/>
    <p:sldId id="344" r:id="rId4"/>
    <p:sldId id="384" r:id="rId5"/>
    <p:sldId id="345" r:id="rId6"/>
    <p:sldId id="385" r:id="rId7"/>
    <p:sldId id="351" r:id="rId8"/>
    <p:sldId id="383" r:id="rId9"/>
    <p:sldId id="352" r:id="rId10"/>
    <p:sldId id="353" r:id="rId11"/>
    <p:sldId id="347" r:id="rId12"/>
    <p:sldId id="348" r:id="rId13"/>
    <p:sldId id="349" r:id="rId14"/>
    <p:sldId id="354" r:id="rId15"/>
    <p:sldId id="350" r:id="rId16"/>
    <p:sldId id="355" r:id="rId17"/>
    <p:sldId id="356" r:id="rId18"/>
    <p:sldId id="357" r:id="rId19"/>
    <p:sldId id="359" r:id="rId20"/>
    <p:sldId id="361" r:id="rId21"/>
    <p:sldId id="362" r:id="rId22"/>
    <p:sldId id="363" r:id="rId23"/>
    <p:sldId id="364" r:id="rId24"/>
    <p:sldId id="365" r:id="rId25"/>
    <p:sldId id="378" r:id="rId26"/>
    <p:sldId id="358" r:id="rId27"/>
    <p:sldId id="368" r:id="rId28"/>
    <p:sldId id="367" r:id="rId29"/>
    <p:sldId id="360" r:id="rId30"/>
    <p:sldId id="369" r:id="rId31"/>
    <p:sldId id="370" r:id="rId32"/>
    <p:sldId id="379" r:id="rId33"/>
    <p:sldId id="372" r:id="rId34"/>
    <p:sldId id="373" r:id="rId35"/>
    <p:sldId id="374" r:id="rId36"/>
    <p:sldId id="375" r:id="rId37"/>
    <p:sldId id="366" r:id="rId38"/>
    <p:sldId id="377" r:id="rId39"/>
    <p:sldId id="376" r:id="rId40"/>
    <p:sldId id="343" r:id="rId41"/>
  </p:sldIdLst>
  <p:sldSz cx="9144000" cy="6858000" type="screen4x3"/>
  <p:notesSz cx="6732588" cy="9855200"/>
  <p:defaultTextStyle>
    <a:defPPr>
      <a:defRPr lang="en-GB"/>
    </a:defPPr>
    <a:lvl1pPr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1pPr>
    <a:lvl2pPr marL="4572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2pPr>
    <a:lvl3pPr marL="9144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3pPr>
    <a:lvl4pPr marL="13716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4pPr>
    <a:lvl5pPr marL="18288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5pPr>
    <a:lvl6pPr marL="22860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6pPr>
    <a:lvl7pPr marL="27432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7pPr>
    <a:lvl8pPr marL="32004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8pPr>
    <a:lvl9pPr marL="36576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FFFF00"/>
    <a:srgbClr val="FF66CC"/>
    <a:srgbClr val="FF3300"/>
    <a:srgbClr val="FF0000"/>
    <a:srgbClr val="D3D3FF"/>
    <a:srgbClr val="B7B7FF"/>
    <a:srgbClr val="A1A1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55" autoAdjust="0"/>
    <p:restoredTop sz="70838" autoAdjust="0"/>
  </p:normalViewPr>
  <p:slideViewPr>
    <p:cSldViewPr snapToGrid="0">
      <p:cViewPr varScale="1">
        <p:scale>
          <a:sx n="78" d="100"/>
          <a:sy n="78" d="100"/>
        </p:scale>
        <p:origin x="3012" y="90"/>
      </p:cViewPr>
      <p:guideLst>
        <p:guide orient="horz" pos="2914"/>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_rels/viewProps.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slide" Target="slides/slide18.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B12331F6-0824-4E42-8E40-C55BDF5132D8}"/>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3" name="Rectangle 3">
            <a:extLst>
              <a:ext uri="{FF2B5EF4-FFF2-40B4-BE49-F238E27FC236}">
                <a16:creationId xmlns:a16="http://schemas.microsoft.com/office/drawing/2014/main" id="{C22FA5EE-CABD-4ED9-8E13-F566067782B2}"/>
              </a:ext>
            </a:extLst>
          </p:cNvPr>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87044" name="Rectangle 4">
            <a:extLst>
              <a:ext uri="{FF2B5EF4-FFF2-40B4-BE49-F238E27FC236}">
                <a16:creationId xmlns:a16="http://schemas.microsoft.com/office/drawing/2014/main" id="{8BB1C5AB-6B91-4ACC-9F10-C5DD6C3DB5ED}"/>
              </a:ext>
            </a:extLst>
          </p:cNvPr>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5" name="Rectangle 5">
            <a:extLst>
              <a:ext uri="{FF2B5EF4-FFF2-40B4-BE49-F238E27FC236}">
                <a16:creationId xmlns:a16="http://schemas.microsoft.com/office/drawing/2014/main" id="{CAEF4889-61DD-4E98-A19D-B5195049F813}"/>
              </a:ext>
            </a:extLst>
          </p:cNvPr>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071095DE-08EA-4002-948A-0D32255F30DC}"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7B39451-B51E-4F85-BB69-A7FCFD8DE36D}"/>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1" name="Rectangle 3">
            <a:extLst>
              <a:ext uri="{FF2B5EF4-FFF2-40B4-BE49-F238E27FC236}">
                <a16:creationId xmlns:a16="http://schemas.microsoft.com/office/drawing/2014/main" id="{F936D888-2C66-4210-859E-85EFC54978F4}"/>
              </a:ext>
            </a:extLst>
          </p:cNvPr>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40964" name="Rectangle 4">
            <a:extLst>
              <a:ext uri="{FF2B5EF4-FFF2-40B4-BE49-F238E27FC236}">
                <a16:creationId xmlns:a16="http://schemas.microsoft.com/office/drawing/2014/main" id="{AAB99160-52FE-481C-A1B9-31C1165EAEE6}"/>
              </a:ext>
            </a:extLst>
          </p:cNvPr>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a:extLst>
              <a:ext uri="{FF2B5EF4-FFF2-40B4-BE49-F238E27FC236}">
                <a16:creationId xmlns:a16="http://schemas.microsoft.com/office/drawing/2014/main" id="{B0C0A458-F7E1-43FD-9420-7967E843C838}"/>
              </a:ext>
            </a:extLst>
          </p:cNvPr>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a:extLst>
              <a:ext uri="{FF2B5EF4-FFF2-40B4-BE49-F238E27FC236}">
                <a16:creationId xmlns:a16="http://schemas.microsoft.com/office/drawing/2014/main" id="{AA1D4348-3754-490C-A259-D03B45CFA603}"/>
              </a:ext>
            </a:extLst>
          </p:cNvPr>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5" name="Rectangle 7">
            <a:extLst>
              <a:ext uri="{FF2B5EF4-FFF2-40B4-BE49-F238E27FC236}">
                <a16:creationId xmlns:a16="http://schemas.microsoft.com/office/drawing/2014/main" id="{65A37E65-0899-47DE-8567-44572227E96D}"/>
              </a:ext>
            </a:extLst>
          </p:cNvPr>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205EB4C7-7A98-4010-9A78-7BA43D6198B8}"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6F63A6BE-E31F-4BB4-BEA2-D3E7A40D5624}"/>
              </a:ext>
            </a:extLst>
          </p:cNvPr>
          <p:cNvSpPr>
            <a:spLocks noGrp="1" noRot="1" noChangeAspect="1" noChangeArrowheads="1" noTextEdit="1"/>
          </p:cNvSpPr>
          <p:nvPr>
            <p:ph type="sldImg"/>
          </p:nvPr>
        </p:nvSpPr>
        <p:spPr>
          <a:ln/>
        </p:spPr>
      </p:sp>
      <p:sp>
        <p:nvSpPr>
          <p:cNvPr id="317443" name="Rectangle 3">
            <a:extLst>
              <a:ext uri="{FF2B5EF4-FFF2-40B4-BE49-F238E27FC236}">
                <a16:creationId xmlns:a16="http://schemas.microsoft.com/office/drawing/2014/main" id="{4376EC28-F0A2-45EE-B604-53C44B54E75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development of the concept of stress in the first dozen or so slides of this class is in outline form. A more rigorous account is given in the supporting document, </a:t>
            </a:r>
            <a:r>
              <a:rPr lang="en-GB" altLang="en-US" sz="1000" i="1" dirty="0"/>
              <a:t>StressNote.pdf</a:t>
            </a:r>
            <a:r>
              <a:rPr lang="en-GB" altLang="en-US" sz="1000" dirty="0"/>
              <a:t>, that accompanies this PowerPoint presentation (I have not yet incorporated an account of 3d stress into this document – for that see Jaeger </a:t>
            </a:r>
            <a:r>
              <a:rPr lang="en-GB" altLang="en-US" sz="1000" i="1" dirty="0"/>
              <a:t>et al.</a:t>
            </a:r>
            <a:r>
              <a:rPr lang="en-GB" altLang="en-US" sz="1000" dirty="0"/>
              <a:t>, p.27-41 – but you really don’t need to worry about 3d stress at 2</a:t>
            </a:r>
            <a:r>
              <a:rPr lang="en-GB" altLang="en-US" sz="1000" baseline="30000" dirty="0"/>
              <a:t>nd</a:t>
            </a:r>
            <a:r>
              <a:rPr lang="en-GB" altLang="en-US" sz="1000" dirty="0"/>
              <a:t> year level). You do </a:t>
            </a:r>
            <a:r>
              <a:rPr lang="en-GB" altLang="en-US" sz="1000" b="1" i="1" dirty="0"/>
              <a:t>NOT</a:t>
            </a:r>
            <a:r>
              <a:rPr lang="en-GB" altLang="en-US" sz="1000" dirty="0"/>
              <a:t> need to know the contents of this document for this course. However, anyone thinking of a career / further academic study in rock mechanics or geophysics will find that a sound understanding of stress is absolutely fundamental</a:t>
            </a:r>
          </a:p>
          <a:p>
            <a:pPr marL="108000" indent="-108000">
              <a:spcBef>
                <a:spcPts val="300"/>
              </a:spcBef>
              <a:buFont typeface="Arial" panose="020B0604020202020204" pitchFamily="34" charset="0"/>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 typeface="Arial" panose="020B0604020202020204" pitchFamily="34" charset="0"/>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a:spcBef>
                <a:spcPts val="300"/>
              </a:spcBef>
            </a:pPr>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a:extLst>
              <a:ext uri="{FF2B5EF4-FFF2-40B4-BE49-F238E27FC236}">
                <a16:creationId xmlns:a16="http://schemas.microsoft.com/office/drawing/2014/main" id="{ADEFE499-CF9B-46B4-B292-50DA84E85656}"/>
              </a:ext>
            </a:extLst>
          </p:cNvPr>
          <p:cNvSpPr>
            <a:spLocks noGrp="1" noRot="1" noChangeAspect="1" noChangeArrowheads="1" noTextEdit="1"/>
          </p:cNvSpPr>
          <p:nvPr>
            <p:ph type="sldImg"/>
          </p:nvPr>
        </p:nvSpPr>
        <p:spPr>
          <a:ln/>
        </p:spPr>
      </p:sp>
      <p:sp>
        <p:nvSpPr>
          <p:cNvPr id="218115" name="Rectangle 3">
            <a:extLst>
              <a:ext uri="{FF2B5EF4-FFF2-40B4-BE49-F238E27FC236}">
                <a16:creationId xmlns:a16="http://schemas.microsoft.com/office/drawing/2014/main" id="{4A6C225D-153D-4509-BEC9-23B11BABE90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endParaRPr lang="en-US" altLang="en-US"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34DA6BC0-7DB8-4756-8B90-14F23C2201B5}"/>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315F0200-D8B1-4B41-B297-45D0592F9B0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Strictly, traction is defined as the limit of the ratio </a:t>
            </a:r>
            <a:r>
              <a:rPr lang="en-GB" altLang="en-US" sz="1000" i="1" spc="150" baseline="0" dirty="0"/>
              <a:t>F</a:t>
            </a:r>
            <a:r>
              <a:rPr lang="en-GB" altLang="en-US" sz="1000" spc="150" baseline="0" dirty="0"/>
              <a:t>/</a:t>
            </a:r>
            <a:r>
              <a:rPr lang="en-GB" altLang="en-US" sz="1000" i="1" dirty="0"/>
              <a:t>A</a:t>
            </a:r>
            <a:r>
              <a:rPr lang="en-GB" altLang="en-US" sz="1000" dirty="0"/>
              <a:t> as we shrink </a:t>
            </a:r>
            <a:r>
              <a:rPr lang="en-GB" altLang="en-US" sz="1000" i="1" dirty="0"/>
              <a:t>A</a:t>
            </a:r>
            <a:r>
              <a:rPr lang="en-GB" altLang="en-US" sz="1000" dirty="0"/>
              <a:t> to zero, that is, as we shrink the surface over which the force acts to a point. A particularly clear exposition of the concept of traction is given by Pollard &amp; Fletcher (p.197-200) but also see the file </a:t>
            </a:r>
            <a:r>
              <a:rPr lang="en-GB" altLang="en-US" sz="1000" i="1" dirty="0"/>
              <a:t>StressNote.pdf</a:t>
            </a:r>
            <a:r>
              <a:rPr lang="en-GB" altLang="en-US" sz="1000" dirty="0"/>
              <a:t> that accompanies this PowerPoint presentation</a:t>
            </a:r>
          </a:p>
          <a:p>
            <a:pPr marL="108000" indent="-108000">
              <a:spcBef>
                <a:spcPts val="300"/>
              </a:spcBef>
              <a:buFont typeface="Arial" panose="020B0604020202020204" pitchFamily="34" charset="0"/>
              <a:buChar char="•"/>
            </a:pPr>
            <a:r>
              <a:rPr lang="en-GB" altLang="en-US" sz="1000" dirty="0"/>
              <a:t>Note that the definition of the unit of force follows from Newton’s 2</a:t>
            </a:r>
            <a:r>
              <a:rPr lang="en-GB" altLang="en-US" sz="1000" baseline="30000" dirty="0"/>
              <a:t>nd</a:t>
            </a:r>
            <a:r>
              <a:rPr lang="en-GB" altLang="en-US" sz="1000" dirty="0"/>
              <a:t> law, </a:t>
            </a:r>
            <a:r>
              <a:rPr lang="en-GB" altLang="en-US" sz="1000" i="1" dirty="0"/>
              <a:t>F</a:t>
            </a:r>
            <a:r>
              <a:rPr lang="en-GB" altLang="en-US" sz="1000" dirty="0"/>
              <a:t> = </a:t>
            </a:r>
            <a:r>
              <a:rPr lang="en-GB" altLang="en-US" sz="1000" i="1" dirty="0"/>
              <a:t>ma</a:t>
            </a:r>
            <a:r>
              <a:rPr lang="en-GB" altLang="en-US" sz="1000" dirty="0"/>
              <a:t> (1 N = 1 kg m s</a:t>
            </a:r>
            <a:r>
              <a:rPr lang="en-GB" altLang="en-US" sz="1000" baseline="30000" dirty="0"/>
              <a:t>-2</a:t>
            </a:r>
            <a:r>
              <a:rPr lang="en-GB" altLang="en-US" sz="1000" dirty="0"/>
              <a:t>). Hence in base SI units (the relevant base units are here, kg, m, s), 1 Pa = 1 N/m</a:t>
            </a:r>
            <a:r>
              <a:rPr lang="en-GB" altLang="en-US" sz="1000" baseline="30000" dirty="0"/>
              <a:t>2 </a:t>
            </a:r>
            <a:r>
              <a:rPr lang="en-GB" altLang="en-US" sz="1000" dirty="0"/>
              <a:t>= 1 kg m s</a:t>
            </a:r>
            <a:r>
              <a:rPr lang="en-GB" altLang="en-US" sz="1000" baseline="30000" dirty="0"/>
              <a:t>-</a:t>
            </a:r>
            <a:r>
              <a:rPr lang="en-GB" altLang="en-US" sz="1000" spc="150" baseline="30000" dirty="0"/>
              <a:t>2</a:t>
            </a:r>
            <a:r>
              <a:rPr lang="en-GB" altLang="en-US" sz="1000" spc="150" baseline="0" dirty="0"/>
              <a:t>/</a:t>
            </a:r>
            <a:r>
              <a:rPr lang="en-GB" altLang="en-US" sz="1000" baseline="0" dirty="0"/>
              <a:t>m</a:t>
            </a:r>
            <a:r>
              <a:rPr lang="en-GB" altLang="en-US" sz="1000" baseline="30000" dirty="0"/>
              <a:t>2</a:t>
            </a:r>
            <a:r>
              <a:rPr lang="en-GB" altLang="en-US" sz="1000" dirty="0"/>
              <a:t> = 1 kg m</a:t>
            </a:r>
            <a:r>
              <a:rPr lang="en-GB" altLang="en-US" sz="1000" baseline="30000" dirty="0"/>
              <a:t>-1 </a:t>
            </a:r>
            <a:r>
              <a:rPr lang="en-GB" altLang="en-US" sz="1000" dirty="0"/>
              <a:t>s</a:t>
            </a:r>
            <a:r>
              <a:rPr lang="en-GB" altLang="en-US" sz="1000" baseline="30000" dirty="0"/>
              <a:t>-2</a:t>
            </a:r>
            <a:endParaRPr lang="en-GB" altLang="en-US" sz="1000" dirty="0"/>
          </a:p>
          <a:p>
            <a:pPr marL="108000" indent="-108000">
              <a:spcBef>
                <a:spcPts val="300"/>
              </a:spcBef>
              <a:buFont typeface="Arial" panose="020B0604020202020204" pitchFamily="34" charset="0"/>
              <a:buChar char="•"/>
            </a:pPr>
            <a:r>
              <a:rPr lang="en-GB" altLang="en-US" sz="1000" dirty="0"/>
              <a:t>In igneous and metamorphic petrology, you will have met the pressure unit, kilobar. 1 </a:t>
            </a:r>
            <a:r>
              <a:rPr lang="en-GB" altLang="en-US" sz="1000" dirty="0" err="1"/>
              <a:t>kbar</a:t>
            </a:r>
            <a:r>
              <a:rPr lang="en-GB" altLang="en-US" sz="1000" dirty="0"/>
              <a:t> = 100 </a:t>
            </a:r>
            <a:r>
              <a:rPr lang="en-GB" altLang="en-US" sz="1000" dirty="0" err="1"/>
              <a:t>MPa</a:t>
            </a:r>
            <a:r>
              <a:rPr lang="en-GB" altLang="en-US" sz="1000" dirty="0"/>
              <a:t>. You will find it very convenient to remember this conversion</a:t>
            </a:r>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p.153) illustrating the fact that it is the intensity of the force that counts, not its magnitude – note that in each case the same force acts (the weight of the dinosaur does not change) but the response of the stand is different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9A957F20-7BC3-4894-B656-C2A87909CEBD}"/>
              </a:ext>
            </a:extLst>
          </p:cNvPr>
          <p:cNvSpPr>
            <a:spLocks noGrp="1" noRot="1" noChangeAspect="1" noChangeArrowheads="1" noTextEdit="1"/>
          </p:cNvSpPr>
          <p:nvPr>
            <p:ph type="sldImg"/>
          </p:nvPr>
        </p:nvSpPr>
        <p:spPr>
          <a:ln/>
        </p:spPr>
      </p:sp>
      <p:sp>
        <p:nvSpPr>
          <p:cNvPr id="355331" name="Rectangle 3">
            <a:extLst>
              <a:ext uri="{FF2B5EF4-FFF2-40B4-BE49-F238E27FC236}">
                <a16:creationId xmlns:a16="http://schemas.microsoft.com/office/drawing/2014/main" id="{9278C657-2AB0-4A06-A5D7-CBE3376AE9F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Note the difference between resolving the force vector into normal and shear components </a:t>
            </a:r>
            <a:r>
              <a:rPr lang="en-GB" altLang="en-US" sz="1000" spc="100" baseline="0" dirty="0">
                <a:latin typeface="Times New Roman" panose="02020603050405020304" pitchFamily="18" charset="0"/>
                <a:cs typeface="Times New Roman" panose="02020603050405020304" pitchFamily="18" charset="0"/>
              </a:rPr>
              <a:t>(</a:t>
            </a:r>
            <a:r>
              <a:rPr lang="en-GB" altLang="en-US" sz="1000" i="1" dirty="0" err="1">
                <a:latin typeface="Times New Roman" panose="02020603050405020304" pitchFamily="18" charset="0"/>
                <a:cs typeface="Times New Roman" panose="02020603050405020304" pitchFamily="18" charset="0"/>
              </a:rPr>
              <a:t>F</a:t>
            </a:r>
            <a:r>
              <a:rPr lang="en-GB" altLang="en-US" sz="1000" i="1" baseline="-25000" dirty="0" err="1">
                <a:latin typeface="Times New Roman" panose="02020603050405020304" pitchFamily="18" charset="0"/>
                <a:cs typeface="Times New Roman" panose="02020603050405020304" pitchFamily="18" charset="0"/>
              </a:rPr>
              <a:t>n</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F</a:t>
            </a:r>
            <a:r>
              <a:rPr lang="en-GB" altLang="en-US" sz="1000" dirty="0">
                <a:latin typeface="Times New Roman" panose="02020603050405020304" pitchFamily="18" charset="0"/>
                <a:cs typeface="Times New Roman" panose="02020603050405020304" pitchFamily="18" charset="0"/>
              </a:rPr>
              <a:t> cos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 F</a:t>
            </a:r>
            <a:r>
              <a:rPr lang="en-GB" altLang="en-US" sz="1000" i="1" baseline="-25000" dirty="0">
                <a:latin typeface="Times New Roman" panose="02020603050405020304" pitchFamily="18" charset="0"/>
                <a:cs typeface="Times New Roman" panose="02020603050405020304" pitchFamily="18" charset="0"/>
              </a:rPr>
              <a:t>s</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F</a:t>
            </a:r>
            <a:r>
              <a:rPr lang="en-GB" altLang="en-US" sz="1000" dirty="0">
                <a:latin typeface="Times New Roman" panose="02020603050405020304" pitchFamily="18" charset="0"/>
                <a:cs typeface="Times New Roman" panose="02020603050405020304" pitchFamily="18" charset="0"/>
              </a:rPr>
              <a:t> sin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respectively), and obtaining the traction vector from its normal and shear components (</a:t>
            </a:r>
            <a:r>
              <a:rPr lang="en-GB" altLang="en-US" sz="1000" i="1" dirty="0">
                <a:latin typeface="Times New Roman" panose="02020603050405020304" pitchFamily="18" charset="0"/>
                <a:cs typeface="Times New Roman" panose="02020603050405020304" pitchFamily="18" charset="0"/>
              </a:rPr>
              <a:t>T</a:t>
            </a:r>
            <a:r>
              <a:rPr lang="en-GB" altLang="en-US" sz="1000" i="1" baseline="-25000" dirty="0">
                <a:latin typeface="Times New Roman" panose="02020603050405020304" pitchFamily="18" charset="0"/>
                <a:cs typeface="Times New Roman" panose="02020603050405020304" pitchFamily="18" charset="0"/>
              </a:rPr>
              <a:t>n</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T</a:t>
            </a:r>
            <a:r>
              <a:rPr lang="en-GB" altLang="en-US" sz="1000" dirty="0">
                <a:latin typeface="Times New Roman" panose="02020603050405020304" pitchFamily="18" charset="0"/>
                <a:cs typeface="Times New Roman" panose="02020603050405020304" pitchFamily="18" charset="0"/>
              </a:rPr>
              <a:t> cos</a:t>
            </a:r>
            <a:r>
              <a:rPr lang="en-GB" altLang="en-US" sz="1000" baseline="30000" dirty="0">
                <a:latin typeface="Times New Roman" panose="02020603050405020304" pitchFamily="18" charset="0"/>
                <a:cs typeface="Times New Roman" panose="02020603050405020304" pitchFamily="18" charset="0"/>
              </a:rPr>
              <a:t>2</a:t>
            </a:r>
            <a:r>
              <a:rPr lang="en-GB" altLang="en-US" sz="1000" dirty="0">
                <a:latin typeface="Times New Roman" panose="02020603050405020304" pitchFamily="18" charset="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 T</a:t>
            </a:r>
            <a:r>
              <a:rPr lang="en-GB" altLang="en-US" sz="1000" i="1" baseline="-25000" dirty="0">
                <a:latin typeface="Times New Roman" panose="02020603050405020304" pitchFamily="18" charset="0"/>
                <a:cs typeface="Times New Roman" panose="02020603050405020304" pitchFamily="18" charset="0"/>
              </a:rPr>
              <a:t>s</a:t>
            </a:r>
            <a:r>
              <a:rPr lang="en-GB" altLang="en-US" sz="1000" dirty="0">
                <a:latin typeface="Times New Roman" panose="02020603050405020304" pitchFamily="18" charset="0"/>
                <a:cs typeface="Times New Roman" panose="02020603050405020304" pitchFamily="18" charset="0"/>
              </a:rPr>
              <a:t> = </a:t>
            </a:r>
            <a:r>
              <a:rPr lang="en-GB" altLang="en-US" sz="1000" spc="50" baseline="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T</a:t>
            </a:r>
            <a:r>
              <a:rPr lang="en-GB" altLang="en-US" sz="1000" dirty="0">
                <a:latin typeface="Times New Roman" panose="02020603050405020304" pitchFamily="18" charset="0"/>
                <a:cs typeface="Times New Roman" panose="02020603050405020304" pitchFamily="18" charset="0"/>
              </a:rPr>
              <a:t> sin 2</a:t>
            </a:r>
            <a:r>
              <a:rPr lang="el-GR" altLang="en-US" sz="1000" i="1" spc="100" baseline="0"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spc="150" baseline="0"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2</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respectively). From the perspective of the trigonometrical analysis presented on this slide, the difference arises because the traction vector depends upon the size of the area </a:t>
            </a:r>
            <a:r>
              <a:rPr lang="en-GB" altLang="en-US" sz="1000" spc="100" baseline="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A</a:t>
            </a:r>
            <a:r>
              <a:rPr lang="en-GB" altLang="en-US" sz="1000" spc="150" baseline="-25000" dirty="0">
                <a:latin typeface="Times New Roman" panose="02020603050405020304" pitchFamily="18" charset="0"/>
                <a:cs typeface="Times New Roman" panose="02020603050405020304" pitchFamily="18" charset="0"/>
              </a:rPr>
              <a:t>2</a:t>
            </a:r>
            <a:r>
              <a:rPr lang="en-GB" altLang="en-US" sz="1000" dirty="0">
                <a:latin typeface="Times New Roman" panose="02020603050405020304" pitchFamily="18" charset="0"/>
                <a:cs typeface="Times New Roman" panose="02020603050405020304" pitchFamily="18" charset="0"/>
              </a:rPr>
              <a:t>) across which the traction acts, and this depends upon the orientation </a:t>
            </a:r>
            <a:r>
              <a:rPr lang="en-GB" altLang="en-US" sz="1000" spc="100" baseline="0" dirty="0">
                <a:latin typeface="Times New Roman" panose="02020603050405020304" pitchFamily="18" charset="0"/>
                <a:cs typeface="Times New Roman" panose="02020603050405020304" pitchFamily="18" charset="0"/>
              </a:rPr>
              <a:t>(</a:t>
            </a:r>
            <a:r>
              <a:rPr lang="el-GR"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of the surface. For a formal derivation of this same result, which accommodates the definition of traction as the limit of the ratio </a:t>
            </a:r>
            <a:r>
              <a:rPr lang="en-GB" altLang="en-US" sz="1000" i="1" spc="150" baseline="0" dirty="0">
                <a:latin typeface="Times New Roman" panose="02020603050405020304" pitchFamily="18" charset="0"/>
                <a:cs typeface="Times New Roman" panose="02020603050405020304" pitchFamily="18" charset="0"/>
              </a:rPr>
              <a:t>F</a:t>
            </a:r>
            <a:r>
              <a:rPr lang="en-GB" altLang="en-US" sz="1000" spc="150" baseline="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A</a:t>
            </a:r>
            <a:r>
              <a:rPr lang="en-GB" altLang="en-US" sz="1000" dirty="0">
                <a:latin typeface="Times New Roman" panose="02020603050405020304" pitchFamily="18" charset="0"/>
                <a:cs typeface="Times New Roman" panose="02020603050405020304" pitchFamily="18" charset="0"/>
              </a:rPr>
              <a:t> as we shrink </a:t>
            </a:r>
            <a:r>
              <a:rPr lang="en-GB" altLang="en-US" sz="1000" i="1" dirty="0">
                <a:latin typeface="Times New Roman" panose="02020603050405020304" pitchFamily="18" charset="0"/>
                <a:cs typeface="Times New Roman" panose="02020603050405020304" pitchFamily="18" charset="0"/>
              </a:rPr>
              <a:t>A</a:t>
            </a:r>
            <a:r>
              <a:rPr lang="en-GB" altLang="en-US" sz="1000" dirty="0">
                <a:latin typeface="Times New Roman" panose="02020603050405020304" pitchFamily="18" charset="0"/>
                <a:cs typeface="Times New Roman" panose="02020603050405020304" pitchFamily="18" charset="0"/>
              </a:rPr>
              <a:t> to zero (see notes to last slide), see Pollard &amp; Fletcher, p.203-205</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top middle by Steve Covey-Crump. </a:t>
            </a:r>
            <a:r>
              <a:rPr lang="en-GB" altLang="en-US" sz="1000" i="1" dirty="0">
                <a:latin typeface="Times New Roman" panose="02020603050405020304" pitchFamily="18" charset="0"/>
                <a:cs typeface="Times New Roman" panose="02020603050405020304" pitchFamily="18" charset="0"/>
              </a:rPr>
              <a:t>Note that, in general, the traction vector is not parallel to the force vector</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right adapted by Steve Covey-Crump from Fossen, p.76</a:t>
            </a:r>
          </a:p>
          <a:p>
            <a:pPr marL="0" indent="-10800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58184990-061C-4B9F-B69D-0388E3835D3B}"/>
              </a:ext>
            </a:extLst>
          </p:cNvPr>
          <p:cNvSpPr>
            <a:spLocks noGrp="1" noRot="1" noChangeAspect="1" noChangeArrowheads="1" noTextEdit="1"/>
          </p:cNvSpPr>
          <p:nvPr>
            <p:ph type="sldImg"/>
          </p:nvPr>
        </p:nvSpPr>
        <p:spPr>
          <a:ln/>
        </p:spPr>
      </p:sp>
      <p:sp>
        <p:nvSpPr>
          <p:cNvPr id="226307" name="Rectangle 3">
            <a:extLst>
              <a:ext uri="{FF2B5EF4-FFF2-40B4-BE49-F238E27FC236}">
                <a16:creationId xmlns:a16="http://schemas.microsoft.com/office/drawing/2014/main" id="{DA418A88-799E-4DF4-AA11-04B2171CCBA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Newton’s 3</a:t>
            </a:r>
            <a:r>
              <a:rPr lang="en-GB" altLang="en-US" sz="1000" baseline="30000" dirty="0"/>
              <a:t>rd</a:t>
            </a:r>
            <a:r>
              <a:rPr lang="en-GB" altLang="en-US" sz="1000" dirty="0"/>
              <a:t> law: to every action there is always opposed an equal reaction</a:t>
            </a:r>
          </a:p>
          <a:p>
            <a:pPr marL="108000" indent="-108000">
              <a:spcBef>
                <a:spcPts val="300"/>
              </a:spcBef>
              <a:buFont typeface="Arial" panose="020B0604020202020204" pitchFamily="34" charset="0"/>
              <a:buChar char="•"/>
            </a:pPr>
            <a:r>
              <a:rPr lang="en-GB" altLang="en-US" sz="1000" dirty="0"/>
              <a:t>The words “Mohr circle convention” are included because in the matrix (tensor) notation of stress the sign of the shear stresses is defined in a different way (see Slides 7 and 12)</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Some care is needed with using ‘anticlockwise ‘ and ‘clockwise to define +</a:t>
            </a:r>
            <a:r>
              <a:rPr lang="en-GB" altLang="en-US" sz="1000" dirty="0" err="1"/>
              <a:t>ve</a:t>
            </a:r>
            <a:r>
              <a:rPr lang="en-GB" altLang="en-US" sz="1000" dirty="0"/>
              <a:t> and -</a:t>
            </a:r>
            <a:r>
              <a:rPr lang="en-GB" altLang="en-US" sz="1000" dirty="0" err="1"/>
              <a:t>ve</a:t>
            </a:r>
            <a:r>
              <a:rPr lang="en-GB" altLang="en-US" sz="1000" dirty="0"/>
              <a:t> shear respectively because whether a rotation is clockwise or anticlockwise depends upon the direction of observation. See for yourself – if you rotate a piece of paper clockwise and then continue to do so while looking at the piece of paper from the other side, you’ll see that it is now rotating anticlockwise. Anticlockwise +</a:t>
            </a:r>
            <a:r>
              <a:rPr lang="en-GB" altLang="en-US" sz="1000" dirty="0" err="1"/>
              <a:t>ve</a:t>
            </a:r>
            <a:r>
              <a:rPr lang="en-GB" altLang="en-US" sz="1000" dirty="0"/>
              <a:t> is true if the </a:t>
            </a:r>
            <a:r>
              <a:rPr lang="en-GB" altLang="en-US" sz="1000" i="1" dirty="0"/>
              <a:t>x</a:t>
            </a:r>
            <a:r>
              <a:rPr lang="en-GB" altLang="en-US" sz="1000" i="0" dirty="0"/>
              <a:t>-axis points right and the </a:t>
            </a:r>
            <a:r>
              <a:rPr lang="en-GB" altLang="en-US" sz="1000" i="1" dirty="0"/>
              <a:t>y</a:t>
            </a:r>
            <a:r>
              <a:rPr lang="en-GB" altLang="en-US" sz="1000" i="0" dirty="0"/>
              <a:t>-axis points up (the conventional orientations of these axes when we plot a graph) because then according to the right-hand rule we are looking in the -</a:t>
            </a:r>
            <a:r>
              <a:rPr lang="en-GB" altLang="en-US" sz="1000" i="0" dirty="0" err="1"/>
              <a:t>ve</a:t>
            </a:r>
            <a:r>
              <a:rPr lang="en-GB" altLang="en-US" sz="1000" i="0" dirty="0"/>
              <a:t> </a:t>
            </a:r>
            <a:r>
              <a:rPr lang="en-GB" altLang="en-US" sz="1000" i="1" dirty="0"/>
              <a:t>z</a:t>
            </a:r>
            <a:r>
              <a:rPr lang="en-GB" altLang="en-US" sz="1000" i="0" dirty="0"/>
              <a:t>-direction – with your right hand </a:t>
            </a:r>
            <a:r>
              <a:rPr lang="en-GB" altLang="en-US" sz="1000" dirty="0">
                <a:latin typeface="Times New Roman" panose="02020603050405020304" pitchFamily="18" charset="0"/>
                <a:cs typeface="Times New Roman" panose="02020603050405020304" pitchFamily="18" charset="0"/>
              </a:rPr>
              <a:t>put your thumb pointing right along the </a:t>
            </a:r>
            <a:r>
              <a:rPr lang="en-GB" altLang="en-US" sz="1000" i="1" dirty="0">
                <a:latin typeface="Times New Roman" panose="02020603050405020304" pitchFamily="18" charset="0"/>
                <a:cs typeface="Times New Roman" panose="02020603050405020304" pitchFamily="18" charset="0"/>
              </a:rPr>
              <a:t>x</a:t>
            </a:r>
            <a:r>
              <a:rPr lang="en-GB" altLang="en-US" sz="1000" i="0" dirty="0">
                <a:latin typeface="Times New Roman" panose="02020603050405020304" pitchFamily="18" charset="0"/>
                <a:cs typeface="Times New Roman" panose="02020603050405020304" pitchFamily="18" charset="0"/>
              </a:rPr>
              <a:t> axis and your first finger pointing up along the </a:t>
            </a:r>
            <a:r>
              <a:rPr lang="en-GB" altLang="en-US" sz="1000" i="1" dirty="0">
                <a:latin typeface="Times New Roman" panose="02020603050405020304" pitchFamily="18" charset="0"/>
                <a:cs typeface="Times New Roman" panose="02020603050405020304" pitchFamily="18" charset="0"/>
              </a:rPr>
              <a:t>y</a:t>
            </a:r>
            <a:r>
              <a:rPr lang="en-GB" altLang="en-US" sz="1000" i="0" dirty="0">
                <a:latin typeface="Times New Roman" panose="02020603050405020304" pitchFamily="18" charset="0"/>
                <a:cs typeface="Times New Roman" panose="02020603050405020304" pitchFamily="18" charset="0"/>
              </a:rPr>
              <a:t> axis; your second finger (</a:t>
            </a:r>
            <a:r>
              <a:rPr lang="en-GB" altLang="en-US" sz="1000" i="1" dirty="0">
                <a:latin typeface="Times New Roman" panose="02020603050405020304" pitchFamily="18" charset="0"/>
                <a:cs typeface="Times New Roman" panose="02020603050405020304" pitchFamily="18" charset="0"/>
              </a:rPr>
              <a:t>z</a:t>
            </a:r>
            <a:r>
              <a:rPr lang="en-GB" altLang="en-US" sz="1000" i="0" dirty="0">
                <a:latin typeface="Times New Roman" panose="02020603050405020304" pitchFamily="18" charset="0"/>
                <a:cs typeface="Times New Roman" panose="02020603050405020304" pitchFamily="18" charset="0"/>
              </a:rPr>
              <a:t> axis) is now pointing towards you; now put your thumb pointing along the </a:t>
            </a:r>
            <a:r>
              <a:rPr lang="en-GB" altLang="en-US" sz="1000" i="1" dirty="0">
                <a:latin typeface="Times New Roman" panose="02020603050405020304" pitchFamily="18" charset="0"/>
                <a:cs typeface="Times New Roman" panose="02020603050405020304" pitchFamily="18" charset="0"/>
              </a:rPr>
              <a:t>z</a:t>
            </a:r>
            <a:r>
              <a:rPr lang="en-GB" altLang="en-US" sz="1000" i="0" dirty="0">
                <a:latin typeface="Times New Roman" panose="02020603050405020304" pitchFamily="18" charset="0"/>
                <a:cs typeface="Times New Roman" panose="02020603050405020304" pitchFamily="18" charset="0"/>
              </a:rPr>
              <a:t> axis towards you and you will see that your fingers curl in an anticlockwise sense, that is, anticlockwise is +</a:t>
            </a:r>
            <a:r>
              <a:rPr lang="en-GB" altLang="en-US" sz="1000" i="0" dirty="0" err="1">
                <a:latin typeface="Times New Roman" panose="02020603050405020304" pitchFamily="18" charset="0"/>
                <a:cs typeface="Times New Roman" panose="02020603050405020304" pitchFamily="18" charset="0"/>
              </a:rPr>
              <a:t>ve</a:t>
            </a:r>
            <a:r>
              <a:rPr lang="en-GB" altLang="en-US" sz="1000" i="0" dirty="0">
                <a:latin typeface="Times New Roman" panose="02020603050405020304" pitchFamily="18" charset="0"/>
                <a:cs typeface="Times New Roman" panose="02020603050405020304" pitchFamily="18" charset="0"/>
              </a:rPr>
              <a:t>. However, c</a:t>
            </a:r>
            <a:r>
              <a:rPr lang="en-GB" altLang="en-US" sz="1000" i="0" dirty="0"/>
              <a:t>lockwise rotations are +</a:t>
            </a:r>
            <a:r>
              <a:rPr lang="en-GB" altLang="en-US" sz="1000" i="0" dirty="0" err="1"/>
              <a:t>ve</a:t>
            </a:r>
            <a:r>
              <a:rPr lang="en-GB" altLang="en-US" sz="1000" i="0" dirty="0"/>
              <a:t> when we look in a +</a:t>
            </a:r>
            <a:r>
              <a:rPr lang="en-GB" altLang="en-US" sz="1000" i="0" dirty="0" err="1"/>
              <a:t>ve</a:t>
            </a:r>
            <a:r>
              <a:rPr lang="en-GB" altLang="en-US" sz="1000" i="0" dirty="0"/>
              <a:t> axis direction (with your right-hand thumb pointing that way, your fingers curl in a clockwise sense). If we were to define our axes so that </a:t>
            </a:r>
            <a:r>
              <a:rPr lang="en-GB" altLang="en-US" sz="1000" i="1" dirty="0"/>
              <a:t>x </a:t>
            </a:r>
            <a:r>
              <a:rPr lang="en-GB" altLang="en-US" sz="1000" i="0" dirty="0"/>
              <a:t>pointed left and </a:t>
            </a:r>
            <a:r>
              <a:rPr lang="en-GB" altLang="en-US" sz="1000" i="1" dirty="0"/>
              <a:t>y</a:t>
            </a:r>
            <a:r>
              <a:rPr lang="en-GB" altLang="en-US" sz="1000" i="0" dirty="0"/>
              <a:t> pointed up, then anticlockwise would be -</a:t>
            </a:r>
            <a:r>
              <a:rPr lang="en-GB" altLang="en-US" sz="1000" i="0" dirty="0" err="1"/>
              <a:t>ve</a:t>
            </a:r>
            <a:r>
              <a:rPr lang="en-GB" altLang="en-US" sz="1000" i="0" dirty="0"/>
              <a:t>. </a:t>
            </a:r>
            <a:r>
              <a:rPr lang="en-GB" altLang="en-US" sz="1000" b="1" i="1" dirty="0"/>
              <a:t>You’ll not go wrong in this course unit if you simply remember anticlockwise = +</a:t>
            </a:r>
            <a:r>
              <a:rPr lang="en-GB" altLang="en-US" sz="1000" b="1" i="1" dirty="0" err="1"/>
              <a:t>ve</a:t>
            </a:r>
            <a:r>
              <a:rPr lang="en-GB" altLang="en-US" sz="1000" b="1" i="1" dirty="0"/>
              <a:t> (as it was when we considered shear strain, Class 3 Slide 4)</a:t>
            </a:r>
          </a:p>
          <a:p>
            <a:pPr marL="108000" indent="-108000">
              <a:spcBef>
                <a:spcPts val="300"/>
              </a:spcBef>
              <a:buFont typeface="Arial" panose="020B0604020202020204" pitchFamily="34" charset="0"/>
              <a:buChar char="•"/>
            </a:pPr>
            <a:r>
              <a:rPr lang="en-GB" altLang="en-US" sz="1000" dirty="0"/>
              <a:t>The geological convention of positive compressive stresses follows from the fact that stresses within the Earth are dominantly compressive. Engineers prefer to consider tensile stresses as positive because they are concerned with the failure of engineering constructions – the tensile strength of materials is generally smaller than the compressive strength and is therefore of greater significance to them. In both cases, the definition is designed to avoid unnecessary numbers of negative signs in the various deformation modelling equations</a:t>
            </a:r>
          </a:p>
          <a:p>
            <a:pPr marL="108000" indent="-108000">
              <a:spcBef>
                <a:spcPts val="300"/>
              </a:spcBef>
              <a:buFont typeface="Arial" panose="020B0604020202020204" pitchFamily="34" charset="0"/>
              <a:buChar char="•"/>
            </a:pPr>
            <a:r>
              <a:rPr lang="en-GB" altLang="en-US" sz="1000" dirty="0"/>
              <a:t>Note that if we are being strict in terminology, in stress we have </a:t>
            </a:r>
            <a:r>
              <a:rPr lang="en-GB" altLang="en-US" sz="1000" b="1" i="1" dirty="0"/>
              <a:t>compression</a:t>
            </a:r>
            <a:r>
              <a:rPr lang="en-GB" altLang="en-US" sz="1000" dirty="0"/>
              <a:t> and </a:t>
            </a:r>
            <a:r>
              <a:rPr lang="en-GB" altLang="en-US" sz="1000" b="1" i="1" dirty="0"/>
              <a:t>tension</a:t>
            </a:r>
            <a:r>
              <a:rPr lang="en-GB" altLang="en-US" sz="1000" dirty="0"/>
              <a:t>, while in strain shortening is </a:t>
            </a:r>
            <a:r>
              <a:rPr lang="en-GB" altLang="en-US" sz="1000" b="1" i="1" dirty="0"/>
              <a:t>contraction</a:t>
            </a:r>
            <a:r>
              <a:rPr lang="en-GB" altLang="en-US" sz="1000" dirty="0"/>
              <a:t> and lengthening is </a:t>
            </a:r>
            <a:r>
              <a:rPr lang="en-GB" altLang="en-US" sz="1000" b="1" i="1" dirty="0"/>
              <a:t>extension</a:t>
            </a:r>
            <a:r>
              <a:rPr lang="en-GB" altLang="en-US" sz="1000" dirty="0"/>
              <a:t>. Note also that extension can occur even when all stresses are compressive – the deformation response depends upon the relative magnitudes of the stresses in different directions and so if we compress strongly in one direction, extension will occur in directions at a high angle to this provided that the compressive stresses acting in those directions are relatively small</a:t>
            </a:r>
          </a:p>
          <a:p>
            <a:pPr marL="108000" indent="-108000">
              <a:spcBef>
                <a:spcPts val="300"/>
              </a:spcBef>
              <a:buFont typeface="Arial" panose="020B0604020202020204" pitchFamily="34" charset="0"/>
              <a:buChar char="•"/>
            </a:pPr>
            <a:r>
              <a:rPr lang="en-GB" altLang="en-US" sz="1000" dirty="0"/>
              <a:t>Figures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a:extLst>
              <a:ext uri="{FF2B5EF4-FFF2-40B4-BE49-F238E27FC236}">
                <a16:creationId xmlns:a16="http://schemas.microsoft.com/office/drawing/2014/main" id="{93D757AB-DBB6-45D6-8703-AEB4BFB25FBF}"/>
              </a:ext>
            </a:extLst>
          </p:cNvPr>
          <p:cNvSpPr>
            <a:spLocks noGrp="1" noRot="1" noChangeAspect="1" noChangeArrowheads="1" noTextEdit="1"/>
          </p:cNvSpPr>
          <p:nvPr>
            <p:ph type="sldImg"/>
          </p:nvPr>
        </p:nvSpPr>
        <p:spPr>
          <a:ln/>
        </p:spPr>
      </p:sp>
      <p:sp>
        <p:nvSpPr>
          <p:cNvPr id="337923" name="Rectangle 3">
            <a:extLst>
              <a:ext uri="{FF2B5EF4-FFF2-40B4-BE49-F238E27FC236}">
                <a16:creationId xmlns:a16="http://schemas.microsoft.com/office/drawing/2014/main" id="{ECCEC979-65C7-4950-B790-C4904D2F11E8}"/>
              </a:ext>
            </a:extLst>
          </p:cNvPr>
          <p:cNvSpPr>
            <a:spLocks noGrp="1" noChangeArrowheads="1"/>
          </p:cNvSpPr>
          <p:nvPr>
            <p:ph type="body" idx="1"/>
          </p:nvPr>
        </p:nvSpPr>
        <p:spPr>
          <a:noFill/>
        </p:spPr>
        <p:txBody>
          <a:bodyPr/>
          <a:lstStyle/>
          <a:p>
            <a:pPr marL="108000" indent="-108000">
              <a:lnSpc>
                <a:spcPct val="100000"/>
              </a:lnSpc>
              <a:spcBef>
                <a:spcPts val="300"/>
              </a:spcBef>
              <a:buFont typeface="Arial" panose="020B0604020202020204" pitchFamily="34" charset="0"/>
              <a:buChar char="•"/>
            </a:pPr>
            <a:r>
              <a:rPr lang="en-GB" altLang="en-US" sz="1000" dirty="0"/>
              <a:t>The 2D analysis applies for biaxial compression (or tension), that is, when the body (the yellow square in the figure on the slide) is being compressed in two perpendicular directions. Note that this method of defining the stress ellipse requires that all tractions be either positive or negative and not some combination of these</a:t>
            </a:r>
          </a:p>
          <a:p>
            <a:pPr marL="108000" indent="-108000">
              <a:lnSpc>
                <a:spcPct val="100000"/>
              </a:lnSpc>
              <a:spcBef>
                <a:spcPts val="300"/>
              </a:spcBef>
              <a:buFont typeface="Arial" panose="020B0604020202020204" pitchFamily="34" charset="0"/>
              <a:buChar char="•"/>
            </a:pPr>
            <a:r>
              <a:rPr lang="en-GB" altLang="en-US" sz="1000" dirty="0"/>
              <a:t>In general, the traction vector is not at right angles to the surface upon which it is acting. This means that given a particular traction vector, the orientation of the surface on which it is acting is not immediately obvious (notice on the figure on this slide how the orientations of the surfaces of the yellow square upon which the red traction arrows are acting are not obvious from the orientations of the red arrows themselves). A simple construction allowing the surface orientation to be obtained from the traction vector using the stress ellipse is described by Ragan (p.226)</a:t>
            </a:r>
          </a:p>
          <a:p>
            <a:pPr marL="108000" indent="-108000">
              <a:lnSpc>
                <a:spcPct val="100000"/>
              </a:lnSpc>
              <a:spcBef>
                <a:spcPts val="300"/>
              </a:spcBef>
              <a:buClr>
                <a:schemeClr val="tx1"/>
              </a:buClr>
              <a:buFont typeface="Arial" panose="020B0604020202020204" pitchFamily="34" charset="0"/>
              <a:buChar char="•"/>
            </a:pPr>
            <a:r>
              <a:rPr lang="en-GB" altLang="en-US" sz="1000" dirty="0"/>
              <a:t>There are two surfaces (at right angles to each other) for which the traction vector is parallel to the pole (normal) to the surface – the traction vector then has zero shear component and so equals the normal component. These two orientations correspond with the maximum and minimum values of the magnitude of the traction vector, that is, with the two axes of the stress ellipse (the significance of this point is developed in Slide 8). Hence it follows that </a:t>
            </a:r>
            <a:r>
              <a:rPr lang="en-GB" altLang="en-US" sz="1000" dirty="0">
                <a:cs typeface="Times New Roman" panose="02020603050405020304" pitchFamily="18" charset="0"/>
              </a:rPr>
              <a:t>the stress ellipse may be defined by plotting the normal component of traction acting on planes of all possible orientations through a point (for the analysis behind this approach to defining the 2D stress ellipse, see Price &amp; Cosgrove, p.6-7)</a:t>
            </a:r>
          </a:p>
          <a:p>
            <a:pPr marL="108000" indent="-108000">
              <a:lnSpc>
                <a:spcPct val="100000"/>
              </a:lnSpc>
              <a:spcBef>
                <a:spcPts val="300"/>
              </a:spcBef>
              <a:buClr>
                <a:schemeClr val="tx1"/>
              </a:buClr>
              <a:buFont typeface="Arial" panose="020B0604020202020204" pitchFamily="34" charset="0"/>
              <a:buChar char="•"/>
            </a:pPr>
            <a:r>
              <a:rPr lang="en-GB" altLang="en-US" sz="1000" dirty="0">
                <a:cs typeface="Times New Roman" panose="02020603050405020304" pitchFamily="18" charset="0"/>
              </a:rPr>
              <a:t>The conventional symbol for stress is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dirty="0">
                <a:cs typeface="Times New Roman" panose="02020603050405020304" pitchFamily="18" charset="0"/>
              </a:rPr>
              <a:t>. In </a:t>
            </a:r>
            <a:r>
              <a:rPr lang="en-GB" altLang="en-US" sz="1000" dirty="0"/>
              <a:t>the subscript to these stresses the first letter refers to the direction of the normal to the surface and the second letter to the direction in which the stress component of interest is acting. When the stress on one specific surface is being considered, the normal stress (= normal component of traction on that surface) is commonly written as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cs typeface="Times New Roman" panose="02020603050405020304" pitchFamily="18" charset="0"/>
              </a:rPr>
              <a:t>n</a:t>
            </a:r>
            <a:r>
              <a:rPr lang="en-GB" altLang="en-US" sz="1000" dirty="0">
                <a:cs typeface="Times New Roman" panose="02020603050405020304" pitchFamily="18" charset="0"/>
              </a:rPr>
              <a:t> and the shear stress (</a:t>
            </a:r>
            <a:r>
              <a:rPr lang="en-GB" altLang="en-US" sz="1000" dirty="0"/>
              <a:t>= shear component of traction on that surface) as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τ</a:t>
            </a:r>
            <a:endParaRPr lang="el-GR" altLang="en-US" sz="1000" dirty="0">
              <a:latin typeface="Cambria Math" panose="02040503050406030204" pitchFamily="18" charset="0"/>
              <a:ea typeface="Cambria Math" panose="02040503050406030204" pitchFamily="18" charset="0"/>
              <a:cs typeface="Times New Roman" panose="02020603050405020304" pitchFamily="18" charset="0"/>
            </a:endParaRPr>
          </a:p>
          <a:p>
            <a:pPr marL="108000" indent="-108000">
              <a:lnSpc>
                <a:spcPct val="100000"/>
              </a:lnSpc>
              <a:spcBef>
                <a:spcPts val="300"/>
              </a:spcBef>
              <a:buFont typeface="Arial" panose="020B0604020202020204" pitchFamily="34" charset="0"/>
              <a:buChar char="•"/>
            </a:pPr>
            <a:r>
              <a:rPr lang="en-GB" altLang="en-US" sz="1000" dirty="0">
                <a:cs typeface="Times New Roman" panose="02020603050405020304" pitchFamily="18" charset="0"/>
              </a:rPr>
              <a:t>Figure by Steve Covey-Crump based on Twiss &amp; </a:t>
            </a:r>
            <a:r>
              <a:rPr lang="en-GB" altLang="en-US" sz="1000" dirty="0" err="1">
                <a:cs typeface="Times New Roman" panose="02020603050405020304" pitchFamily="18" charset="0"/>
              </a:rPr>
              <a:t>Moores</a:t>
            </a:r>
            <a:r>
              <a:rPr lang="en-GB" altLang="en-US" sz="1000" dirty="0">
                <a:cs typeface="Times New Roman" panose="02020603050405020304" pitchFamily="18" charset="0"/>
              </a:rPr>
              <a:t>, p.152. The red arrows are the traction vectors; the blue arrows are the normal and shear components of the traction vector on the indicated surfaces</a:t>
            </a:r>
          </a:p>
          <a:p>
            <a:pPr marL="0" indent="0">
              <a:lnSpc>
                <a:spcPct val="100000"/>
              </a:lnSpc>
              <a:spcBef>
                <a:spcPts val="300"/>
              </a:spcBef>
              <a:buFont typeface="Arial" panose="020B0604020202020204" pitchFamily="34" charset="0"/>
              <a:buNone/>
            </a:pPr>
            <a:endParaRPr lang="el-GR" altLang="en-US" sz="1000" dirty="0">
              <a:cs typeface="Times New Roman" panose="02020603050405020304" pitchFamily="18" charset="0"/>
            </a:endParaRPr>
          </a:p>
        </p:txBody>
      </p:sp>
    </p:spTree>
    <p:extLst>
      <p:ext uri="{BB962C8B-B14F-4D97-AF65-F5344CB8AC3E}">
        <p14:creationId xmlns:p14="http://schemas.microsoft.com/office/powerpoint/2010/main" val="2684583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EDEB509E-0C88-43ED-A7B8-F77133BA8F62}"/>
              </a:ext>
            </a:extLst>
          </p:cNvPr>
          <p:cNvSpPr>
            <a:spLocks noGrp="1" noRot="1" noChangeAspect="1" noChangeArrowheads="1" noTextEdit="1"/>
          </p:cNvSpPr>
          <p:nvPr>
            <p:ph type="sldImg"/>
          </p:nvPr>
        </p:nvSpPr>
        <p:spPr>
          <a:ln/>
        </p:spPr>
      </p:sp>
      <p:sp>
        <p:nvSpPr>
          <p:cNvPr id="243715" name="Rectangle 3">
            <a:extLst>
              <a:ext uri="{FF2B5EF4-FFF2-40B4-BE49-F238E27FC236}">
                <a16:creationId xmlns:a16="http://schemas.microsoft.com/office/drawing/2014/main" id="{29BF6154-6845-43A5-9519-09706575BA5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those of you who are unfamiliar with matrices, note that the terms in each row have the same first subscript and the terms in each column have the same second subscript</a:t>
            </a:r>
          </a:p>
          <a:p>
            <a:pPr marL="108000" indent="-108000">
              <a:spcBef>
                <a:spcPts val="300"/>
              </a:spcBef>
              <a:buFont typeface="Arial" panose="020B0604020202020204" pitchFamily="34" charset="0"/>
              <a:buChar char="•"/>
            </a:pPr>
            <a:r>
              <a:rPr lang="en-GB" altLang="en-US" sz="1000" dirty="0"/>
              <a:t>The leading diagonal of the matrix contains the normal stresses, and the off-diagonal terms are the shear stresses</a:t>
            </a:r>
          </a:p>
          <a:p>
            <a:pPr marL="108000" indent="-108000">
              <a:spcBef>
                <a:spcPts val="300"/>
              </a:spcBef>
              <a:buFont typeface="Arial" panose="020B0604020202020204" pitchFamily="34" charset="0"/>
              <a:buChar char="•"/>
            </a:pPr>
            <a:r>
              <a:rPr lang="en-GB" altLang="en-US" sz="1000" dirty="0">
                <a:cs typeface="Times New Roman" panose="02020603050405020304" pitchFamily="18" charset="0"/>
              </a:rPr>
              <a:t>In this case, the conditions for mechanical equilibrium are the conditions required to stop the yellow square from spinning. For this to be so, the two shear stress terms must be equal and opposite</a:t>
            </a:r>
          </a:p>
          <a:p>
            <a:pPr marL="108000" indent="-108000">
              <a:spcBef>
                <a:spcPts val="300"/>
              </a:spcBef>
              <a:buFont typeface="Arial" panose="020B0604020202020204" pitchFamily="34" charset="0"/>
              <a:buChar char="•"/>
            </a:pPr>
            <a:r>
              <a:rPr lang="en-GB" altLang="en-US" sz="1000" dirty="0">
                <a:cs typeface="Times New Roman" panose="02020603050405020304" pitchFamily="18" charset="0"/>
              </a:rPr>
              <a:t>The tensor convention for assigning the signs of the shear stresses makes the stress matrix symmetric which is mathematically very convenient. The tensor convention also works for the signs of the normal stresses – note that for the stress state on the top diagram on this slide, the stresses are compressive and if we look at the direction that the normal stress arrows are pointing on the negative faces of the square, we see that they are pointing in a +</a:t>
            </a:r>
            <a:r>
              <a:rPr lang="en-GB" altLang="en-US" sz="1000" dirty="0" err="1">
                <a:cs typeface="Times New Roman" panose="02020603050405020304" pitchFamily="18" charset="0"/>
              </a:rPr>
              <a:t>ve</a:t>
            </a:r>
            <a:r>
              <a:rPr lang="en-GB" altLang="en-US" sz="1000" dirty="0">
                <a:cs typeface="Times New Roman" panose="02020603050405020304" pitchFamily="18" charset="0"/>
              </a:rPr>
              <a:t> direction</a:t>
            </a:r>
          </a:p>
          <a:p>
            <a:pPr marL="108000" indent="-108000">
              <a:spcBef>
                <a:spcPts val="300"/>
              </a:spcBef>
              <a:buFont typeface="Arial" panose="020B0604020202020204" pitchFamily="34" charset="0"/>
              <a:buChar char="•"/>
            </a:pPr>
            <a:r>
              <a:rPr lang="en-GB" altLang="en-US" sz="1000" dirty="0">
                <a:cs typeface="Times New Roman" panose="02020603050405020304" pitchFamily="18" charset="0"/>
              </a:rPr>
              <a:t>Looking at the faces of the square that cut the -</a:t>
            </a:r>
            <a:r>
              <a:rPr lang="en-GB" altLang="en-US" sz="1000" dirty="0" err="1">
                <a:cs typeface="Times New Roman" panose="02020603050405020304" pitchFamily="18" charset="0"/>
              </a:rPr>
              <a:t>ve</a:t>
            </a:r>
            <a:r>
              <a:rPr lang="en-GB" altLang="en-US" sz="1000" dirty="0">
                <a:cs typeface="Times New Roman" panose="02020603050405020304" pitchFamily="18" charset="0"/>
              </a:rPr>
              <a:t> axes works in rock mechanics where compressive stresses are +</a:t>
            </a:r>
            <a:r>
              <a:rPr lang="en-GB" altLang="en-US" sz="1000" dirty="0" err="1">
                <a:cs typeface="Times New Roman" panose="02020603050405020304" pitchFamily="18" charset="0"/>
              </a:rPr>
              <a:t>ve</a:t>
            </a:r>
            <a:r>
              <a:rPr lang="en-GB" altLang="en-US" sz="1000" dirty="0">
                <a:cs typeface="Times New Roman" panose="02020603050405020304" pitchFamily="18" charset="0"/>
              </a:rPr>
              <a:t>. In the engineering sciences, where compressive stresses are -</a:t>
            </a:r>
            <a:r>
              <a:rPr lang="en-GB" altLang="en-US" sz="1000" dirty="0" err="1">
                <a:cs typeface="Times New Roman" panose="02020603050405020304" pitchFamily="18" charset="0"/>
              </a:rPr>
              <a:t>ve</a:t>
            </a:r>
            <a:r>
              <a:rPr lang="en-GB" altLang="en-US" sz="1000" dirty="0">
                <a:cs typeface="Times New Roman" panose="02020603050405020304" pitchFamily="18" charset="0"/>
              </a:rPr>
              <a:t> (see Slide 5), the signs of the normal and shear stresses are assigned by looking at the faces of the square that cut the +</a:t>
            </a:r>
            <a:r>
              <a:rPr lang="en-GB" altLang="en-US" sz="1000" dirty="0" err="1">
                <a:cs typeface="Times New Roman" panose="02020603050405020304" pitchFamily="18" charset="0"/>
              </a:rPr>
              <a:t>ve</a:t>
            </a:r>
            <a:r>
              <a:rPr lang="en-GB" altLang="en-US" sz="1000" dirty="0">
                <a:cs typeface="Times New Roman" panose="02020603050405020304" pitchFamily="18" charset="0"/>
              </a:rPr>
              <a:t> axes. The practical class handout illustrates this</a:t>
            </a:r>
          </a:p>
          <a:p>
            <a:pPr marL="108000" indent="-108000">
              <a:spcBef>
                <a:spcPts val="300"/>
              </a:spcBef>
              <a:buFont typeface="Arial" panose="020B0604020202020204" pitchFamily="34" charset="0"/>
              <a:buChar char="•"/>
            </a:pPr>
            <a:r>
              <a:rPr lang="en-GB" altLang="en-US" sz="1000" dirty="0">
                <a:cs typeface="Times New Roman" panose="02020603050405020304" pitchFamily="18" charset="0"/>
              </a:rPr>
              <a:t>“Tensor convention” refers to the fact that stress is a tensor quantity (see Slide 13)</a:t>
            </a:r>
          </a:p>
          <a:p>
            <a:pPr marL="108000" indent="-108000">
              <a:spcBef>
                <a:spcPts val="300"/>
              </a:spcBef>
              <a:buFont typeface="Arial" panose="020B0604020202020204" pitchFamily="34" charset="0"/>
              <a:buChar char="•"/>
            </a:pPr>
            <a:r>
              <a:rPr lang="en-GB" altLang="en-US" sz="1000" dirty="0"/>
              <a:t>Figures by Steve Covey-Crump – note how the shear stresses on the square in the top figure are both negative in the tensor convention, whereas in the Mohr circle convention the pair acting horizontally are negative (they act to spin the box clockwise) and the pair acting vertically are positive (they act to spin the box anticlockwise)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65A3B9E6-DED8-4CB5-9D4F-612E3FA3F54B}"/>
              </a:ext>
            </a:extLst>
          </p:cNvPr>
          <p:cNvSpPr>
            <a:spLocks noGrp="1" noRot="1" noChangeAspect="1" noChangeArrowheads="1" noTextEdit="1"/>
          </p:cNvSpPr>
          <p:nvPr>
            <p:ph type="sldImg"/>
          </p:nvPr>
        </p:nvSpPr>
        <p:spPr>
          <a:ln/>
        </p:spPr>
      </p:sp>
      <p:sp>
        <p:nvSpPr>
          <p:cNvPr id="351235" name="Rectangle 3">
            <a:extLst>
              <a:ext uri="{FF2B5EF4-FFF2-40B4-BE49-F238E27FC236}">
                <a16:creationId xmlns:a16="http://schemas.microsoft.com/office/drawing/2014/main" id="{4E7891A9-7753-4772-8A6A-C5A2DE3E330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Following the way that matters were presented on Slides 4-6, note that when the shear component of traction is zero, the traction vector is acting parallel to the pole to the surface. Surfaces on which this is so are described as principal planes of stress</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derivation of the two sets of equations on the bottom right of this slide is given in the document accompanying this PowerPoint presentation (</a:t>
            </a:r>
            <a:r>
              <a:rPr lang="en-GB" altLang="en-US" sz="1000" i="1" dirty="0">
                <a:latin typeface="Times New Roman" panose="02020603050405020304" pitchFamily="18" charset="0"/>
                <a:cs typeface="Times New Roman" panose="02020603050405020304" pitchFamily="18" charset="0"/>
              </a:rPr>
              <a:t>StressNote.pdf</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 The first pair of equations is helpful when we know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latin typeface="Times New Roman" panose="02020603050405020304" pitchFamily="18" charset="0"/>
                <a:cs typeface="Times New Roman" panose="02020603050405020304" pitchFamily="18" charset="0"/>
              </a:rPr>
              <a:t>x</a:t>
            </a:r>
            <a:r>
              <a:rPr lang="en-GB" altLang="en-US" sz="1000" i="1" spc="150" baseline="-25000"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err="1">
                <a:latin typeface="Times New Roman" panose="02020603050405020304" pitchFamily="18" charset="0"/>
                <a:ea typeface="Cambria Math" panose="02040503050406030204" pitchFamily="18" charset="0"/>
                <a:cs typeface="Times New Roman" panose="02020603050405020304" pitchFamily="18" charset="0"/>
              </a:rPr>
              <a:t>y</a:t>
            </a:r>
            <a:r>
              <a:rPr lang="en-GB" altLang="en-US" sz="1000" i="1" spc="150" baseline="-25000" dirty="0" err="1">
                <a:latin typeface="Times New Roman" panose="02020603050405020304" pitchFamily="18" charset="0"/>
                <a:ea typeface="Cambria Math" panose="020405030504060302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err="1">
                <a:latin typeface="Times New Roman" panose="02020603050405020304" pitchFamily="18" charset="0"/>
                <a:cs typeface="Times New Roman" panose="02020603050405020304" pitchFamily="18" charset="0"/>
              </a:rPr>
              <a:t>xy</a:t>
            </a:r>
            <a:r>
              <a:rPr lang="en-GB" altLang="en-US" sz="1000" dirty="0">
                <a:latin typeface="Times New Roman" panose="02020603050405020304" pitchFamily="18" charset="0"/>
                <a:cs typeface="Times New Roman" panose="02020603050405020304" pitchFamily="18" charset="0"/>
              </a:rPr>
              <a:t> and want to calculate the principal stresses; the second pair of equations is helpful when we want to go the other way</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by Steve Covey-Crump</a:t>
            </a:r>
          </a:p>
          <a:p>
            <a:pPr>
              <a:spcBef>
                <a:spcPts val="300"/>
              </a:spcBef>
            </a:pPr>
            <a:endParaRPr lang="en-GB"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FC21886A-97A6-47D9-969F-ADCD6C645CC7}"/>
              </a:ext>
            </a:extLst>
          </p:cNvPr>
          <p:cNvSpPr>
            <a:spLocks noGrp="1" noRot="1" noChangeAspect="1" noChangeArrowheads="1" noTextEdit="1"/>
          </p:cNvSpPr>
          <p:nvPr>
            <p:ph type="sldImg"/>
          </p:nvPr>
        </p:nvSpPr>
        <p:spPr>
          <a:ln/>
        </p:spPr>
      </p:sp>
      <p:sp>
        <p:nvSpPr>
          <p:cNvPr id="246787" name="Rectangle 3">
            <a:extLst>
              <a:ext uri="{FF2B5EF4-FFF2-40B4-BE49-F238E27FC236}">
                <a16:creationId xmlns:a16="http://schemas.microsoft.com/office/drawing/2014/main" id="{C36566DD-FE43-4DAC-9C76-6F474E4CE53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parametric equations for a circle centred on the </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-axis are:    </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C</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r</a:t>
            </a:r>
            <a:r>
              <a:rPr lang="en-GB" altLang="en-US" sz="1000" dirty="0">
                <a:latin typeface="Times New Roman" panose="02020603050405020304" pitchFamily="18" charset="0"/>
                <a:cs typeface="Times New Roman" panose="02020603050405020304" pitchFamily="18" charset="0"/>
              </a:rPr>
              <a:t> cos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dirty="0">
                <a:latin typeface="Times New Roman" panose="02020603050405020304" pitchFamily="18" charset="0"/>
                <a:cs typeface="Times New Roman" panose="02020603050405020304" pitchFamily="18" charset="0"/>
              </a:rPr>
              <a:t>  and   </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 ± </a:t>
            </a:r>
            <a:r>
              <a:rPr lang="en-GB" altLang="en-US" sz="1000" i="1" dirty="0">
                <a:latin typeface="Times New Roman" panose="02020603050405020304" pitchFamily="18" charset="0"/>
                <a:cs typeface="Times New Roman" panose="02020603050405020304" pitchFamily="18" charset="0"/>
              </a:rPr>
              <a:t>r</a:t>
            </a:r>
            <a:r>
              <a:rPr lang="en-GB" altLang="en-US" sz="1000" dirty="0">
                <a:latin typeface="Times New Roman" panose="02020603050405020304" pitchFamily="18" charset="0"/>
                <a:cs typeface="Times New Roman" panose="02020603050405020304" pitchFamily="18" charset="0"/>
              </a:rPr>
              <a:t> sin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dirty="0">
                <a:latin typeface="Times New Roman" panose="02020603050405020304" pitchFamily="18" charset="0"/>
                <a:cs typeface="Times New Roman" panose="02020603050405020304" pitchFamily="18" charset="0"/>
              </a:rPr>
              <a:t>  where </a:t>
            </a:r>
            <a:r>
              <a:rPr lang="en-GB" altLang="en-US" sz="1000" i="1" dirty="0">
                <a:latin typeface="Times New Roman" panose="02020603050405020304" pitchFamily="18" charset="0"/>
                <a:cs typeface="Times New Roman" panose="02020603050405020304" pitchFamily="18" charset="0"/>
              </a:rPr>
              <a:t>C</a:t>
            </a:r>
            <a:r>
              <a:rPr lang="en-GB" altLang="en-US" sz="1000" dirty="0">
                <a:latin typeface="Times New Roman" panose="02020603050405020304" pitchFamily="18" charset="0"/>
                <a:cs typeface="Times New Roman" panose="02020603050405020304" pitchFamily="18" charset="0"/>
              </a:rPr>
              <a:t> is the centre of the circle, </a:t>
            </a:r>
            <a:r>
              <a:rPr lang="en-GB" altLang="en-US" sz="1000" i="1" dirty="0">
                <a:latin typeface="Times New Roman" panose="02020603050405020304" pitchFamily="18" charset="0"/>
                <a:cs typeface="Times New Roman" panose="02020603050405020304" pitchFamily="18" charset="0"/>
              </a:rPr>
              <a:t>r</a:t>
            </a:r>
            <a:r>
              <a:rPr lang="en-GB" altLang="en-US" sz="1000" dirty="0">
                <a:latin typeface="Times New Roman" panose="02020603050405020304" pitchFamily="18" charset="0"/>
                <a:cs typeface="Times New Roman" panose="02020603050405020304" pitchFamily="18" charset="0"/>
              </a:rPr>
              <a:t> is its radius,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dirty="0">
                <a:latin typeface="Times New Roman" panose="02020603050405020304" pitchFamily="18" charset="0"/>
                <a:cs typeface="Times New Roman" panose="02020603050405020304" pitchFamily="18" charset="0"/>
              </a:rPr>
              <a:t> is the angle that a radius of the circle makes with the +</a:t>
            </a:r>
            <a:r>
              <a:rPr lang="en-GB" altLang="en-US" sz="1000" dirty="0" err="1">
                <a:latin typeface="Times New Roman" panose="02020603050405020304" pitchFamily="18" charset="0"/>
                <a:cs typeface="Times New Roman" panose="02020603050405020304" pitchFamily="18" charset="0"/>
              </a:rPr>
              <a:t>ve</a:t>
            </a:r>
            <a:r>
              <a:rPr lang="en-GB" altLang="en-US" sz="100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x</a:t>
            </a:r>
            <a:r>
              <a:rPr lang="en-GB" altLang="en-US" sz="1000" i="0" dirty="0">
                <a:latin typeface="Times New Roman" panose="02020603050405020304" pitchFamily="18" charset="0"/>
                <a:cs typeface="Times New Roman" panose="02020603050405020304" pitchFamily="18" charset="0"/>
              </a:rPr>
              <a:t>-axis</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Note the conventions: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is the angle from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to the normal of the plane of interest and plots on the Mohr diagram as anticlockwise (+</a:t>
            </a:r>
            <a:r>
              <a:rPr lang="en-GB" altLang="en-US" sz="1000" dirty="0" err="1">
                <a:latin typeface="Times New Roman" panose="02020603050405020304" pitchFamily="18" charset="0"/>
                <a:cs typeface="Times New Roman" panose="02020603050405020304" pitchFamily="18" charset="0"/>
              </a:rPr>
              <a:t>ve</a:t>
            </a:r>
            <a:r>
              <a:rPr lang="en-GB" altLang="en-US" sz="1000" dirty="0">
                <a:latin typeface="Times New Roman" panose="02020603050405020304" pitchFamily="18" charset="0"/>
                <a:cs typeface="Times New Roman" panose="02020603050405020304" pitchFamily="18" charset="0"/>
              </a:rPr>
              <a:t>) up</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Note that the convention for assigning signs to the shear stresses outlined on Slide 5 must be used, NOT the tensor convention</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circle on this diagram describes all possible combinations of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latin typeface="Times New Roman" panose="02020603050405020304" pitchFamily="18" charset="0"/>
                <a:cs typeface="Times New Roman" panose="02020603050405020304" pitchFamily="18" charset="0"/>
              </a:rPr>
              <a:t>n</a:t>
            </a:r>
            <a:r>
              <a:rPr lang="en-GB" altLang="en-US" sz="1000" dirty="0">
                <a:latin typeface="Times New Roman" panose="02020603050405020304" pitchFamily="18" charset="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τ</a:t>
            </a:r>
            <a:r>
              <a:rPr lang="en-GB" altLang="en-US" sz="1000" dirty="0">
                <a:latin typeface="Times New Roman" panose="02020603050405020304" pitchFamily="18" charset="0"/>
                <a:cs typeface="Times New Roman" panose="02020603050405020304" pitchFamily="18" charset="0"/>
              </a:rPr>
              <a:t>, that is, how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latin typeface="Times New Roman" panose="02020603050405020304" pitchFamily="18" charset="0"/>
                <a:cs typeface="Times New Roman" panose="02020603050405020304" pitchFamily="18" charset="0"/>
              </a:rPr>
              <a:t>n</a:t>
            </a:r>
            <a:r>
              <a:rPr lang="en-GB" altLang="en-US" sz="1000" dirty="0">
                <a:latin typeface="Times New Roman" panose="02020603050405020304" pitchFamily="18" charset="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τ</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co-vary as the orientation of the plane is varied. Hence from the diagram, given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latin typeface="Times New Roman" panose="02020603050405020304" pitchFamily="18" charset="0"/>
                <a:ea typeface="Cambria Math" panose="02040503050406030204" pitchFamily="18" charset="0"/>
                <a:cs typeface="Times New Roman" panose="02020603050405020304" pitchFamily="18" charset="0"/>
              </a:rPr>
              <a:t>2</a:t>
            </a:r>
            <a:r>
              <a:rPr lang="en-GB" altLang="en-US" sz="1000" dirty="0">
                <a:latin typeface="Times New Roman" panose="02020603050405020304" pitchFamily="18" charset="0"/>
                <a:cs typeface="Times New Roman" panose="02020603050405020304" pitchFamily="18" charset="0"/>
              </a:rPr>
              <a:t> then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latin typeface="Times New Roman" panose="02020603050405020304" pitchFamily="18" charset="0"/>
                <a:cs typeface="Times New Roman" panose="02020603050405020304" pitchFamily="18" charset="0"/>
              </a:rPr>
              <a:t>n</a:t>
            </a:r>
            <a:r>
              <a:rPr lang="en-GB" altLang="en-US" sz="1000" dirty="0">
                <a:latin typeface="Times New Roman" panose="02020603050405020304" pitchFamily="18" charset="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τ</a:t>
            </a:r>
            <a:r>
              <a:rPr lang="en-GB" altLang="en-US" sz="1000" dirty="0">
                <a:latin typeface="Times New Roman" panose="02020603050405020304" pitchFamily="18" charset="0"/>
                <a:cs typeface="Times New Roman" panose="02020603050405020304" pitchFamily="18" charset="0"/>
              </a:rPr>
              <a:t> may be found for any plane of interest. Alternatively, given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latin typeface="Times New Roman" panose="02020603050405020304" pitchFamily="18" charset="0"/>
                <a:cs typeface="Times New Roman" panose="02020603050405020304" pitchFamily="18" charset="0"/>
              </a:rPr>
              <a:t>n</a:t>
            </a:r>
            <a:r>
              <a:rPr lang="en-GB" altLang="en-US" sz="1000" dirty="0">
                <a:latin typeface="Times New Roman" panose="02020603050405020304" pitchFamily="18" charset="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τ</a:t>
            </a:r>
            <a:r>
              <a:rPr lang="en-GB" altLang="en-US" sz="1000" dirty="0">
                <a:latin typeface="Times New Roman" panose="02020603050405020304" pitchFamily="18" charset="0"/>
                <a:cs typeface="Times New Roman" panose="02020603050405020304" pitchFamily="18" charset="0"/>
              </a:rPr>
              <a:t> on any two planes,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0" baseline="-25000" dirty="0">
                <a:latin typeface="Times New Roman" panose="02020603050405020304" pitchFamily="18" charset="0"/>
                <a:ea typeface="Cambria Math" panose="02040503050406030204" pitchFamily="18" charset="0"/>
                <a:cs typeface="Times New Roman" panose="02020603050405020304" pitchFamily="18" charset="0"/>
              </a:rPr>
              <a:t>2</a:t>
            </a:r>
            <a:r>
              <a:rPr lang="en-GB" altLang="en-US" sz="1000" dirty="0">
                <a:latin typeface="Times New Roman" panose="02020603050405020304" pitchFamily="18" charset="0"/>
                <a:cs typeface="Times New Roman" panose="02020603050405020304" pitchFamily="18" charset="0"/>
              </a:rPr>
              <a:t> may be determined. This was very helpful in the days before calculators, and remains very helpful now if you are not comfortable with matrix manipulation</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Image top right (from https://upload.wikimedia.org/wikipedia/commons/5/56/Christian_Otto_Mohr.jpg): Christian Otto Mohr (1835-1918). Otto Mohr was a German civil engineer. He presented his graphical construction in: Mohr O., 1882, </a:t>
            </a:r>
            <a:r>
              <a:rPr lang="en-US" altLang="en-US" sz="1000" dirty="0" err="1">
                <a:latin typeface="Times New Roman" panose="02020603050405020304" pitchFamily="18" charset="0"/>
                <a:cs typeface="Times New Roman" panose="02020603050405020304" pitchFamily="18" charset="0"/>
              </a:rPr>
              <a:t>Über</a:t>
            </a:r>
            <a:r>
              <a:rPr lang="en-US" altLang="en-US" sz="1000" dirty="0">
                <a:latin typeface="Times New Roman" panose="02020603050405020304" pitchFamily="18" charset="0"/>
                <a:cs typeface="Times New Roman" panose="02020603050405020304" pitchFamily="18" charset="0"/>
              </a:rPr>
              <a:t> die </a:t>
            </a:r>
            <a:r>
              <a:rPr lang="en-US" altLang="en-US" sz="1000" dirty="0" err="1">
                <a:latin typeface="Times New Roman" panose="02020603050405020304" pitchFamily="18" charset="0"/>
                <a:cs typeface="Times New Roman" panose="02020603050405020304" pitchFamily="18" charset="0"/>
              </a:rPr>
              <a:t>darstellung</a:t>
            </a:r>
            <a:r>
              <a:rPr lang="en-US" altLang="en-US" sz="1000" dirty="0">
                <a:latin typeface="Times New Roman" panose="02020603050405020304" pitchFamily="18" charset="0"/>
                <a:cs typeface="Times New Roman" panose="02020603050405020304" pitchFamily="18" charset="0"/>
              </a:rPr>
              <a:t> des </a:t>
            </a:r>
            <a:r>
              <a:rPr lang="en-US" altLang="en-US" sz="1000" dirty="0" err="1">
                <a:latin typeface="Times New Roman" panose="02020603050405020304" pitchFamily="18" charset="0"/>
                <a:cs typeface="Times New Roman" panose="02020603050405020304" pitchFamily="18" charset="0"/>
              </a:rPr>
              <a:t>spannungszustandes</a:t>
            </a:r>
            <a:r>
              <a:rPr lang="en-US" altLang="en-US" sz="1000" dirty="0">
                <a:latin typeface="Times New Roman" panose="02020603050405020304" pitchFamily="18" charset="0"/>
                <a:cs typeface="Times New Roman" panose="02020603050405020304" pitchFamily="18" charset="0"/>
              </a:rPr>
              <a:t> </a:t>
            </a:r>
            <a:r>
              <a:rPr lang="en-US" altLang="en-US" sz="1000" dirty="0" err="1">
                <a:latin typeface="Times New Roman" panose="02020603050405020304" pitchFamily="18" charset="0"/>
                <a:cs typeface="Times New Roman" panose="02020603050405020304" pitchFamily="18" charset="0"/>
              </a:rPr>
              <a:t>eines</a:t>
            </a:r>
            <a:r>
              <a:rPr lang="en-US" altLang="en-US" sz="1000" dirty="0">
                <a:latin typeface="Times New Roman" panose="02020603050405020304" pitchFamily="18" charset="0"/>
                <a:cs typeface="Times New Roman" panose="02020603050405020304" pitchFamily="18" charset="0"/>
              </a:rPr>
              <a:t> </a:t>
            </a:r>
            <a:r>
              <a:rPr lang="en-US" altLang="en-US" sz="1000" dirty="0" err="1">
                <a:latin typeface="Times New Roman" panose="02020603050405020304" pitchFamily="18" charset="0"/>
                <a:cs typeface="Times New Roman" panose="02020603050405020304" pitchFamily="18" charset="0"/>
              </a:rPr>
              <a:t>körperelements</a:t>
            </a:r>
            <a:r>
              <a:rPr lang="en-US" altLang="en-US" sz="1000" dirty="0">
                <a:latin typeface="Times New Roman" panose="02020603050405020304" pitchFamily="18" charset="0"/>
                <a:cs typeface="Times New Roman" panose="02020603050405020304" pitchFamily="18" charset="0"/>
              </a:rPr>
              <a:t>, </a:t>
            </a:r>
            <a:r>
              <a:rPr lang="en-GB" sz="1200" i="1" dirty="0"/>
              <a:t>Der </a:t>
            </a:r>
            <a:r>
              <a:rPr lang="en-GB" sz="1200" i="1" dirty="0" err="1"/>
              <a:t>Civilingenieur</a:t>
            </a:r>
            <a:r>
              <a:rPr lang="en-US" altLang="en-US" sz="1000" dirty="0">
                <a:latin typeface="Times New Roman" panose="02020603050405020304" pitchFamily="18" charset="0"/>
                <a:cs typeface="Times New Roman" panose="02020603050405020304" pitchFamily="18" charset="0"/>
              </a:rPr>
              <a:t> 28: 113-156</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bottom by Steve Covey-Crump</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C3E59585-5F91-4943-A9E4-839703666091}"/>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A4EC14B5-7498-46B7-A667-04CD225BCAE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cs typeface="Times New Roman" panose="02020603050405020304" pitchFamily="18" charset="0"/>
              </a:rPr>
              <a:t> is the angle from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1</a:t>
            </a:r>
            <a:r>
              <a:rPr lang="en-GB" altLang="en-US" sz="1000" dirty="0">
                <a:cs typeface="Times New Roman" panose="02020603050405020304" pitchFamily="18" charset="0"/>
              </a:rPr>
              <a:t> to the plane and so it is also the angle from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2</a:t>
            </a:r>
            <a:r>
              <a:rPr lang="en-GB" altLang="en-US" sz="1000" dirty="0">
                <a:cs typeface="Times New Roman" panose="02020603050405020304" pitchFamily="18" charset="0"/>
              </a:rPr>
              <a:t> to the plane normal – hence the way that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i="1" dirty="0">
                <a:cs typeface="Times New Roman" panose="02020603050405020304" pitchFamily="18" charset="0"/>
              </a:rPr>
              <a:t> </a:t>
            </a:r>
            <a:r>
              <a:rPr lang="en-GB" altLang="en-US" sz="1000" dirty="0">
                <a:cs typeface="Times New Roman" panose="02020603050405020304" pitchFamily="18" charset="0"/>
              </a:rPr>
              <a:t>has been depicted on the figure</a:t>
            </a:r>
            <a:endParaRPr lang="el-GR" altLang="en-US" sz="1000" dirty="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t>It is as well to be aware of this alternative presentation of the Mohr circle diagram because it appears in many (of the older) rock mechanics’ texts</a:t>
            </a:r>
          </a:p>
          <a:p>
            <a:pPr marL="108000" indent="-108000">
              <a:spcBef>
                <a:spcPts val="300"/>
              </a:spcBef>
              <a:buFont typeface="Arial" panose="020B0604020202020204" pitchFamily="34" charset="0"/>
              <a:buChar char="•"/>
            </a:pPr>
            <a:r>
              <a:rPr lang="en-GB" altLang="en-US" sz="1000" dirty="0"/>
              <a:t>Figure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189B6084-C4F0-4B1A-978C-0827E814543B}"/>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70B4D2E4-B148-435A-B638-C1DE81D4B0A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Again (see Slide 3), strictly, the state of stress at a point is the limit of these ratios as one shrinks the areas to zero, </a:t>
            </a:r>
            <a:r>
              <a:rPr lang="en-GB" altLang="en-US" sz="1000" i="1" dirty="0"/>
              <a:t>e.g.</a:t>
            </a:r>
            <a:r>
              <a:rPr lang="en-GB" altLang="en-US" sz="1000" dirty="0"/>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t>xx</a:t>
            </a:r>
            <a:r>
              <a:rPr lang="en-GB" altLang="en-US" sz="1000" dirty="0"/>
              <a:t> is the limit of </a:t>
            </a:r>
            <a:r>
              <a:rPr lang="en-GB" altLang="en-US" sz="1000" i="1" dirty="0" err="1"/>
              <a:t>F</a:t>
            </a:r>
            <a:r>
              <a:rPr lang="en-GB" altLang="en-US" sz="1000" i="1" spc="250" baseline="-25000" dirty="0" err="1"/>
              <a:t>x</a:t>
            </a:r>
            <a:r>
              <a:rPr lang="en-GB" altLang="en-US" sz="1000" spc="150" dirty="0"/>
              <a:t>/</a:t>
            </a:r>
            <a:r>
              <a:rPr lang="en-GB" altLang="en-US" sz="1000" i="1" dirty="0" err="1"/>
              <a:t>A</a:t>
            </a:r>
            <a:r>
              <a:rPr lang="en-GB" altLang="en-US" sz="1000" i="1" baseline="-25000" dirty="0" err="1"/>
              <a:t>x</a:t>
            </a:r>
            <a:r>
              <a:rPr lang="en-GB" altLang="en-US" sz="1000" dirty="0"/>
              <a:t> as </a:t>
            </a:r>
            <a:r>
              <a:rPr lang="en-GB" altLang="en-US" sz="1000" i="1" dirty="0" err="1"/>
              <a:t>A</a:t>
            </a:r>
            <a:r>
              <a:rPr lang="en-GB" altLang="en-US" sz="1000" i="1" baseline="-25000" dirty="0" err="1"/>
              <a:t>x</a:t>
            </a:r>
            <a:r>
              <a:rPr lang="en-GB" altLang="en-US" sz="1000" dirty="0"/>
              <a:t> tends to zero</a:t>
            </a:r>
          </a:p>
          <a:p>
            <a:pPr marL="108000" indent="-108000">
              <a:spcBef>
                <a:spcPts val="300"/>
              </a:spcBef>
              <a:buFont typeface="Arial" panose="020B0604020202020204" pitchFamily="34" charset="0"/>
              <a:buChar char="•"/>
            </a:pPr>
            <a:r>
              <a:rPr lang="en-GB" altLang="en-US" sz="1000" dirty="0"/>
              <a:t>The stress ellipsoid defined in this way is sometimes called </a:t>
            </a:r>
            <a:r>
              <a:rPr lang="en-GB" altLang="en-US" sz="1000" dirty="0" err="1"/>
              <a:t>Lamé’s</a:t>
            </a:r>
            <a:r>
              <a:rPr lang="en-GB" altLang="en-US" sz="1000" dirty="0"/>
              <a:t> stress ellipsoid. The axes of the ellipsoid define the orientations and magnitudes of the three </a:t>
            </a:r>
            <a:r>
              <a:rPr lang="en-GB" altLang="en-US" sz="1000" b="1" i="1" dirty="0"/>
              <a:t>principal stresses</a:t>
            </a:r>
            <a:r>
              <a:rPr lang="en-GB" altLang="en-US" sz="1000" dirty="0"/>
              <a:t>. By convention,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t>1</a:t>
            </a:r>
            <a:r>
              <a:rPr lang="en-GB" altLang="en-US" sz="1000" dirty="0"/>
              <a:t> is the greatest principal stress (longest axis);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t>2</a:t>
            </a:r>
            <a:r>
              <a:rPr lang="en-GB" altLang="en-US" sz="1000" dirty="0"/>
              <a:t> is the intermediate principal stress (intermediate axis),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t>3</a:t>
            </a:r>
            <a:r>
              <a:rPr lang="en-GB" altLang="en-US" sz="1000" dirty="0"/>
              <a:t> is the least principal stress (shortest axis). On planes oriented with one of these principal stresses as its pole, the shear stresses are zero, that is, the traction vector equals the normal stress acting on that plane</a:t>
            </a:r>
          </a:p>
          <a:p>
            <a:pPr marL="108000" indent="-108000">
              <a:spcBef>
                <a:spcPts val="300"/>
              </a:spcBef>
              <a:buFont typeface="Arial" panose="020B0604020202020204" pitchFamily="34" charset="0"/>
              <a:buChar char="•"/>
            </a:pPr>
            <a:r>
              <a:rPr lang="en-GB" altLang="en-US" sz="1000" dirty="0"/>
              <a:t>Figure top by Steve Covey-Crump</a:t>
            </a:r>
          </a:p>
          <a:p>
            <a:pPr marL="108000" indent="-108000">
              <a:spcBef>
                <a:spcPts val="300"/>
              </a:spcBef>
              <a:buFont typeface="Arial" panose="020B0604020202020204" pitchFamily="34" charset="0"/>
              <a:buChar char="•"/>
            </a:pPr>
            <a:r>
              <a:rPr lang="en-GB" altLang="en-US" sz="1000" dirty="0"/>
              <a:t>Figure bottom </a:t>
            </a:r>
            <a:r>
              <a:rPr lang="en-GB" altLang="en-US" sz="1000" dirty="0">
                <a:cs typeface="Times New Roman" panose="02020603050405020304" pitchFamily="18" charset="0"/>
              </a:rPr>
              <a:t>from </a:t>
            </a:r>
            <a:r>
              <a:rPr lang="en-GB" altLang="en-US" sz="1000" dirty="0"/>
              <a:t>J-P Burg’s 2016 lecture notes (www.files.ethz.ch/structuralgeology/JPB/files/English/1stress.pdf), p.45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4CDB5416-137F-491C-BE80-DA7D325735A5}"/>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1BBF29FF-7F2E-4B93-88E6-E540C2196F1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by Steve Covey-Crump</a:t>
            </a:r>
          </a:p>
          <a:p>
            <a:pPr marL="108000" indent="-108000">
              <a:spcBef>
                <a:spcPts val="300"/>
              </a:spcBef>
              <a:buFont typeface="Arial" panose="020B0604020202020204" pitchFamily="34" charset="0"/>
              <a:buChar char="•"/>
            </a:pPr>
            <a:r>
              <a:rPr lang="en-GB" altLang="en-US" sz="1000" dirty="0"/>
              <a:t>Figure bottom from Fossen, p.75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256B3FF9-A0A3-4341-9B0C-34407465CCAC}"/>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DAC200AA-6878-4E4F-896B-61842DE1CB9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We noted previously (Class 3) that strain is a tensor quantity</a:t>
            </a:r>
          </a:p>
          <a:p>
            <a:pPr marL="108000" indent="-108000">
              <a:spcBef>
                <a:spcPts val="300"/>
              </a:spcBef>
              <a:buFont typeface="Arial" panose="020B0604020202020204" pitchFamily="34" charset="0"/>
              <a:buChar char="•"/>
            </a:pPr>
            <a:r>
              <a:rPr lang="en-GB" altLang="en-US" sz="1000" dirty="0"/>
              <a:t>To use the transformation equation mentioned on this slide requires a familiarity with direction cosines. Many texts describe these (</a:t>
            </a:r>
            <a:r>
              <a:rPr lang="en-GB" altLang="en-US" sz="1000" i="1" dirty="0"/>
              <a:t>e.g</a:t>
            </a:r>
            <a:r>
              <a:rPr lang="en-GB" altLang="en-US" sz="1000" dirty="0"/>
              <a:t>., Nye, 1985, </a:t>
            </a:r>
            <a:r>
              <a:rPr lang="en-GB" altLang="en-US" sz="1000" i="1" dirty="0"/>
              <a:t>Physical Properties of Crystals: Their Representation by Tensors and Matrices</a:t>
            </a:r>
            <a:r>
              <a:rPr lang="en-GB" altLang="en-US" sz="1000" dirty="0"/>
              <a:t> (new edition), Oxford University Press; Newnham, 2005, </a:t>
            </a:r>
            <a:r>
              <a:rPr lang="en-GB" altLang="en-US" sz="1000" i="1" dirty="0"/>
              <a:t>Properties of Materials: Anisotropy, Symmetry, Structure</a:t>
            </a:r>
            <a:r>
              <a:rPr lang="en-GB" altLang="en-US" sz="1000" dirty="0"/>
              <a:t>, Oxford University Press) since they form a first step in the manipulation of all physical quantities that are not scalars or vectors</a:t>
            </a:r>
          </a:p>
          <a:p>
            <a:pPr marL="108000" indent="-108000">
              <a:spcBef>
                <a:spcPts val="300"/>
              </a:spcBef>
              <a:buFont typeface="Arial" panose="020B0604020202020204" pitchFamily="34" charset="0"/>
              <a:buChar char="•"/>
            </a:pPr>
            <a:r>
              <a:rPr lang="en-GB" altLang="en-US" sz="1000" dirty="0"/>
              <a:t>For those with a little more maths than A level provides (that is, for those of you who have done some elementary matrix algebra), it follows that the magnitude of the three principal stresses are the three eigenvalues of the matrix, and the orientation of these principal stresses are its three eigenvectors. These eigenvalues and eigenvectors may be calculated given the full stress matrix in any one orientation of the coordinate frame (an illustration of this procedure for the 2D case is given in the solution set to one of the exercises in the Stress practical)</a:t>
            </a:r>
          </a:p>
          <a:p>
            <a:pPr marL="108000" indent="-108000">
              <a:spcBef>
                <a:spcPts val="300"/>
              </a:spcBef>
              <a:buFont typeface="Arial" panose="020B0604020202020204" pitchFamily="34" charset="0"/>
              <a:buChar char="•"/>
            </a:pPr>
            <a:r>
              <a:rPr lang="en-GB" altLang="en-US" sz="1000" dirty="0"/>
              <a:t>Figures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53AFCDCF-66FA-410B-9680-5DED8BB3BF04}"/>
              </a:ext>
            </a:extLst>
          </p:cNvPr>
          <p:cNvSpPr>
            <a:spLocks noGrp="1" noRot="1" noChangeAspect="1" noChangeArrowheads="1" noTextEdit="1"/>
          </p:cNvSpPr>
          <p:nvPr>
            <p:ph type="sldImg"/>
          </p:nvPr>
        </p:nvSpPr>
        <p:spPr>
          <a:ln/>
        </p:spPr>
      </p:sp>
      <p:sp>
        <p:nvSpPr>
          <p:cNvPr id="251907" name="Rectangle 3">
            <a:extLst>
              <a:ext uri="{FF2B5EF4-FFF2-40B4-BE49-F238E27FC236}">
                <a16:creationId xmlns:a16="http://schemas.microsoft.com/office/drawing/2014/main" id="{404E19C5-A8C3-4E18-ADF7-490BABE952A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further discussion about using the Mohr diagram for 3D stress, see Jaeger </a:t>
            </a:r>
            <a:r>
              <a:rPr lang="en-GB" altLang="en-US" sz="1000" i="1" dirty="0"/>
              <a:t>et al. </a:t>
            </a:r>
            <a:r>
              <a:rPr lang="en-GB" altLang="en-US" sz="1000" dirty="0"/>
              <a:t>p.27-38 or Twiss &amp; </a:t>
            </a:r>
            <a:r>
              <a:rPr lang="en-GB" altLang="en-US" sz="1000" dirty="0" err="1"/>
              <a:t>Moores</a:t>
            </a:r>
            <a:r>
              <a:rPr lang="en-GB" altLang="en-US" sz="1000" dirty="0"/>
              <a:t>, p.178-181. Careful attention to the signs of shear stresses / angles is necessary (Twiss &amp; </a:t>
            </a:r>
            <a:r>
              <a:rPr lang="en-GB" altLang="en-US" sz="1000" dirty="0" err="1"/>
              <a:t>Moores</a:t>
            </a:r>
            <a:r>
              <a:rPr lang="en-GB" altLang="en-US" sz="1000" dirty="0"/>
              <a:t>, p.178-181, is good at explaining this)</a:t>
            </a:r>
          </a:p>
          <a:p>
            <a:pPr marL="108000" indent="-108000">
              <a:spcBef>
                <a:spcPts val="300"/>
              </a:spcBef>
              <a:buFont typeface="Arial" panose="020B0604020202020204" pitchFamily="34" charset="0"/>
              <a:buChar char="•"/>
            </a:pPr>
            <a:r>
              <a:rPr lang="en-GB" altLang="en-US" sz="1000" dirty="0"/>
              <a:t>Figure redrawn by Steve Covey-Crump from Allmendinger </a:t>
            </a:r>
            <a:r>
              <a:rPr lang="en-GB" altLang="en-US" sz="1000" i="1" dirty="0"/>
              <a:t>et al</a:t>
            </a:r>
            <a:r>
              <a:rPr lang="en-GB" altLang="en-US" sz="1000" dirty="0"/>
              <a:t>., p.110</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06F83C81-9FA4-4750-AA7B-D8C346FBFE25}"/>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41DE80E5-46AE-43F8-85EE-67AB6A18E64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US" altLang="en-US" sz="1000" dirty="0"/>
              <a:t>My “cause</a:t>
            </a:r>
            <a:r>
              <a:rPr lang="en-US" altLang="en-US" sz="1000" spc="150" baseline="0" dirty="0"/>
              <a:t>s/</a:t>
            </a:r>
            <a:r>
              <a:rPr lang="en-US" altLang="en-US" sz="1000" dirty="0"/>
              <a:t>arises from” alternatives are simply different perspectives: one can consider stress as the cause of strain or alternatively one can consider stress as arising as the result of strain (see the points on Slide 39)</a:t>
            </a:r>
          </a:p>
          <a:p>
            <a:pPr marL="0" indent="0">
              <a:spcBef>
                <a:spcPts val="300"/>
              </a:spcBef>
              <a:buFont typeface="Arial" panose="020B0604020202020204" pitchFamily="34" charset="0"/>
              <a:buNone/>
            </a:pPr>
            <a:endParaRPr lang="en-US" altLang="en-US" sz="10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150E009F-1D6A-4691-AC7D-09CE2A55F9D9}"/>
              </a:ext>
            </a:extLst>
          </p:cNvPr>
          <p:cNvSpPr>
            <a:spLocks noGrp="1" noRot="1" noChangeAspect="1" noChangeArrowheads="1" noTextEdit="1"/>
          </p:cNvSpPr>
          <p:nvPr>
            <p:ph type="sldImg"/>
          </p:nvPr>
        </p:nvSpPr>
        <p:spPr>
          <a:ln/>
        </p:spPr>
      </p:sp>
      <p:sp>
        <p:nvSpPr>
          <p:cNvPr id="253955" name="Rectangle 3">
            <a:extLst>
              <a:ext uri="{FF2B5EF4-FFF2-40B4-BE49-F238E27FC236}">
                <a16:creationId xmlns:a16="http://schemas.microsoft.com/office/drawing/2014/main" id="{D083CE41-C597-4F85-8177-6F869D7EE497}"/>
              </a:ext>
            </a:extLst>
          </p:cNvPr>
          <p:cNvSpPr>
            <a:spLocks noGrp="1" noChangeArrowheads="1"/>
          </p:cNvSpPr>
          <p:nvPr>
            <p:ph type="body" idx="1"/>
          </p:nvPr>
        </p:nvSpPr>
        <p:spPr>
          <a:noFill/>
        </p:spPr>
        <p:txBody>
          <a:bodyPr/>
          <a:lstStyle/>
          <a:p>
            <a:pPr marL="108000" indent="-108000">
              <a:spcBef>
                <a:spcPts val="300"/>
              </a:spcBef>
              <a:buFontTx/>
              <a:buChar char="•"/>
            </a:pPr>
            <a:r>
              <a:rPr lang="en-US" altLang="en-US" dirty="0"/>
              <a:t>Lithostatic tends to be used when referring to stresses in solid rocks, and hydrostatic when referring to stresses in fluids</a:t>
            </a:r>
          </a:p>
          <a:p>
            <a:pPr marL="0" indent="0">
              <a:spcBef>
                <a:spcPts val="300"/>
              </a:spcBef>
              <a:buFontTx/>
              <a:buNone/>
            </a:pPr>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36129CB3-085C-4898-8DAD-B9ECDDF44764}"/>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D3D9DA06-8A26-4288-9F22-CA6E6CB8EE7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Note that when referring to principal stresses, the double-digit subscript can be specified by one digit (</a:t>
            </a:r>
            <a:r>
              <a:rPr lang="en-GB" altLang="en-US" sz="1000" i="1" dirty="0">
                <a:latin typeface="Times New Roman" panose="02020603050405020304" pitchFamily="18" charset="0"/>
                <a:cs typeface="Times New Roman" panose="02020603050405020304" pitchFamily="18" charset="0"/>
              </a:rPr>
              <a:t>e.g.</a:t>
            </a:r>
            <a:r>
              <a:rPr lang="en-GB" altLang="en-US" sz="1000" dirty="0">
                <a:latin typeface="Times New Roman" panose="02020603050405020304" pitchFamily="18" charset="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spc="2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without ambiguity</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from Fossen, p.80</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205EB4C7-7A98-4010-9A78-7BA43D6198B8}" type="slidenum">
              <a:rPr lang="en-GB" altLang="en-US" smtClean="0"/>
              <a:pPr/>
              <a:t>18</a:t>
            </a:fld>
            <a:endParaRPr lang="en-GB" altLang="en-US"/>
          </a:p>
        </p:txBody>
      </p:sp>
    </p:spTree>
    <p:extLst>
      <p:ext uri="{BB962C8B-B14F-4D97-AF65-F5344CB8AC3E}">
        <p14:creationId xmlns:p14="http://schemas.microsoft.com/office/powerpoint/2010/main" val="348869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a:extLst>
              <a:ext uri="{FF2B5EF4-FFF2-40B4-BE49-F238E27FC236}">
                <a16:creationId xmlns:a16="http://schemas.microsoft.com/office/drawing/2014/main" id="{9389CAB3-5308-49BB-BD22-B9EC572FCBC9}"/>
              </a:ext>
            </a:extLst>
          </p:cNvPr>
          <p:cNvSpPr>
            <a:spLocks noGrp="1" noRot="1" noChangeAspect="1" noChangeArrowheads="1" noTextEdit="1"/>
          </p:cNvSpPr>
          <p:nvPr>
            <p:ph type="sldImg"/>
          </p:nvPr>
        </p:nvSpPr>
        <p:spPr>
          <a:ln/>
        </p:spPr>
      </p:sp>
      <p:sp>
        <p:nvSpPr>
          <p:cNvPr id="260099" name="Rectangle 3">
            <a:extLst>
              <a:ext uri="{FF2B5EF4-FFF2-40B4-BE49-F238E27FC236}">
                <a16:creationId xmlns:a16="http://schemas.microsoft.com/office/drawing/2014/main" id="{20D30B05-B9EA-44D5-892B-517339905F3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an overview of techniques for measuring present-day stresses, see </a:t>
            </a:r>
            <a:r>
              <a:rPr lang="en-GB" altLang="en-US" sz="1000" dirty="0" err="1"/>
              <a:t>Ljunggren</a:t>
            </a:r>
            <a:r>
              <a:rPr lang="en-GB" altLang="en-US" sz="1000" dirty="0"/>
              <a:t> </a:t>
            </a:r>
            <a:r>
              <a:rPr lang="en-GB" altLang="en-US" sz="1000" i="1" dirty="0"/>
              <a:t>et al.</a:t>
            </a:r>
            <a:r>
              <a:rPr lang="en-GB" altLang="en-US" sz="1000" dirty="0"/>
              <a:t>, 2003, </a:t>
            </a:r>
            <a:r>
              <a:rPr lang="en-GB" altLang="en-US" sz="1000" i="1" dirty="0"/>
              <a:t>International Journal of Rock Mechanics &amp; Mining Sciences</a:t>
            </a:r>
            <a:r>
              <a:rPr lang="en-GB" altLang="en-US" sz="1000" dirty="0"/>
              <a:t> 40: 975-989, </a:t>
            </a:r>
            <a:r>
              <a:rPr lang="en-GB" sz="1000" dirty="0"/>
              <a:t>https://doi.org/10.1016/j.ijrmms.2003.07.003</a:t>
            </a:r>
            <a:r>
              <a:rPr lang="en-GB" altLang="en-US" sz="1000" dirty="0"/>
              <a:t>. For borehole stress measurement techniques that are widely used in the petroleum industry, see Zoback </a:t>
            </a:r>
            <a:r>
              <a:rPr lang="en-GB" altLang="en-US" sz="1000" i="1" dirty="0"/>
              <a:t>et al.</a:t>
            </a:r>
            <a:r>
              <a:rPr lang="en-GB" altLang="en-US" sz="1000" dirty="0"/>
              <a:t>, 2003, </a:t>
            </a:r>
            <a:r>
              <a:rPr lang="en-GB" altLang="en-US" sz="1000" i="1" dirty="0"/>
              <a:t>International Journal of Rock Mechanics &amp; Mining Sciences</a:t>
            </a:r>
            <a:r>
              <a:rPr lang="en-GB" altLang="en-US" sz="1000" dirty="0"/>
              <a:t> 40: 1049-1079, </a:t>
            </a:r>
            <a:r>
              <a:rPr lang="en-GB" sz="1000" dirty="0"/>
              <a:t>https://doi.org/10.1016/j.ijrmms.2003.07.001;</a:t>
            </a:r>
            <a:r>
              <a:rPr lang="en-GB" altLang="en-US" sz="1000" dirty="0"/>
              <a:t> or Zoback, 2007, </a:t>
            </a:r>
            <a:r>
              <a:rPr lang="en-GB" altLang="en-US" sz="1000" i="1" dirty="0"/>
              <a:t>Reservoir Geomechanics</a:t>
            </a:r>
            <a:r>
              <a:rPr lang="en-GB" altLang="en-US" sz="1000" dirty="0"/>
              <a:t>, p.167-265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a:extLst>
              <a:ext uri="{FF2B5EF4-FFF2-40B4-BE49-F238E27FC236}">
                <a16:creationId xmlns:a16="http://schemas.microsoft.com/office/drawing/2014/main" id="{EB4FEB4E-D70B-4F9C-AB98-D76F3791D319}"/>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C3F4BE84-A55A-45E1-8E40-026657013DC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Borehole breakouts occur parallel to the minimum horizontal stress </a:t>
            </a:r>
            <a:r>
              <a:rPr lang="en-GB" altLang="en-US" sz="1000" spc="100" baseline="0" dirty="0"/>
              <a:t>(</a:t>
            </a:r>
            <a:r>
              <a:rPr lang="el-GR" altLang="en-US" sz="1000" i="1" dirty="0">
                <a:cs typeface="Times New Roman" panose="02020603050405020304" pitchFamily="18" charset="0"/>
              </a:rPr>
              <a:t>σ</a:t>
            </a:r>
            <a:r>
              <a:rPr lang="en-GB" altLang="en-US" sz="1000" i="0" spc="200" baseline="-25000" dirty="0">
                <a:cs typeface="Times New Roman" panose="02020603050405020304" pitchFamily="18" charset="0"/>
              </a:rPr>
              <a:t>h</a:t>
            </a:r>
            <a:r>
              <a:rPr lang="en-GB" altLang="en-US" sz="1000" dirty="0">
                <a:cs typeface="Times New Roman" panose="02020603050405020304" pitchFamily="18" charset="0"/>
              </a:rPr>
              <a:t>) because, assuming that the vertical stress is the greatest principal stress, this is the direction in which the deviatoric stress is greatest – the breakout results from compressive failure of the borehole wall. If the compressive failure strength of the rock is known, the width of the breakout zone may be used to quantify the magnitude of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0" baseline="-25000" dirty="0">
                <a:cs typeface="Times New Roman" panose="02020603050405020304" pitchFamily="18" charset="0"/>
              </a:rPr>
              <a:t>H</a:t>
            </a:r>
            <a:r>
              <a:rPr lang="en-GB" altLang="en-US" sz="1000" dirty="0">
                <a:cs typeface="Times New Roman" panose="02020603050405020304" pitchFamily="18" charset="0"/>
              </a:rPr>
              <a:t> (see </a:t>
            </a:r>
            <a:r>
              <a:rPr lang="en-GB" altLang="en-US" sz="1000" dirty="0"/>
              <a:t>Zoback </a:t>
            </a:r>
            <a:r>
              <a:rPr lang="en-GB" altLang="en-US" sz="1000" i="1" dirty="0"/>
              <a:t>et al.</a:t>
            </a:r>
            <a:r>
              <a:rPr lang="en-GB" altLang="en-US" sz="1000" dirty="0"/>
              <a:t>, 2003, </a:t>
            </a:r>
            <a:r>
              <a:rPr lang="en-GB" altLang="en-US" sz="1000" i="1" dirty="0"/>
              <a:t>International Journal of Rock Mechanics &amp; Mining Sciences</a:t>
            </a:r>
            <a:r>
              <a:rPr lang="en-GB" altLang="en-US" sz="1000" dirty="0"/>
              <a:t> 40: 1049-1079, </a:t>
            </a:r>
            <a:r>
              <a:rPr lang="en-GB" sz="1000" dirty="0"/>
              <a:t>https://doi.org/10.1016/j.ijrmms.2003.07.001;</a:t>
            </a:r>
            <a:r>
              <a:rPr lang="en-GB" altLang="en-US" sz="1000" dirty="0"/>
              <a:t> or Zoback, 2007, </a:t>
            </a:r>
            <a:r>
              <a:rPr lang="en-GB" altLang="en-US" sz="1000" i="1" dirty="0"/>
              <a:t>Reservoir Geomechanics</a:t>
            </a:r>
            <a:r>
              <a:rPr lang="en-GB" altLang="en-US" sz="1000" dirty="0"/>
              <a:t>, p.196-198)</a:t>
            </a:r>
            <a:endParaRPr lang="en-GB" altLang="en-US" sz="1000" dirty="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t>Figures from Fossen, p.84-85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476B33B4-FE38-432F-8EBB-AD8831DD0C3C}"/>
              </a:ext>
            </a:extLst>
          </p:cNvPr>
          <p:cNvSpPr>
            <a:spLocks noGrp="1" noRot="1" noChangeAspect="1" noChangeArrowheads="1" noTextEdit="1"/>
          </p:cNvSpPr>
          <p:nvPr>
            <p:ph type="sldImg"/>
          </p:nvPr>
        </p:nvSpPr>
        <p:spPr>
          <a:ln/>
        </p:spPr>
      </p:sp>
      <p:sp>
        <p:nvSpPr>
          <p:cNvPr id="267267" name="Rectangle 3">
            <a:extLst>
              <a:ext uri="{FF2B5EF4-FFF2-40B4-BE49-F238E27FC236}">
                <a16:creationId xmlns:a16="http://schemas.microsoft.com/office/drawing/2014/main" id="{0C53D911-159D-4A3A-9623-4A240989D5C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 strain gauge is a long wire. The electrical resistance of that wire equals the resistivity of the wire material multiplied by (wire length </a:t>
            </a:r>
            <a:r>
              <a:rPr lang="en-US" altLang="en-US" sz="1000" dirty="0">
                <a:cs typeface="Times New Roman" panose="02020603050405020304" pitchFamily="18" charset="0"/>
              </a:rPr>
              <a:t>÷</a:t>
            </a:r>
            <a:r>
              <a:rPr lang="en-GB" altLang="en-US" sz="1000" dirty="0"/>
              <a:t> wire </a:t>
            </a:r>
            <a:r>
              <a:rPr lang="en-US" altLang="en-US" sz="1000" dirty="0"/>
              <a:t>cross-sectional area). The length and cross-sectional area of the wire change as the sample is deformed and so the resistance changes. From a previous calibration of the change in resistance with strain, the strain of the sample may then be inferred by monitoring the change in resistance</a:t>
            </a:r>
            <a:endParaRPr lang="en-GB" altLang="en-US" sz="1000" dirty="0"/>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p.235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a:extLst>
              <a:ext uri="{FF2B5EF4-FFF2-40B4-BE49-F238E27FC236}">
                <a16:creationId xmlns:a16="http://schemas.microsoft.com/office/drawing/2014/main" id="{8067E575-9677-49EE-9774-5E556DB88631}"/>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2F2D5DFD-3868-42B8-A47F-00EDBB11EC4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fractures form parallel to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0" baseline="-25000" dirty="0">
                <a:cs typeface="Times New Roman" panose="02020603050405020304" pitchFamily="18" charset="0"/>
              </a:rPr>
              <a:t>H</a:t>
            </a:r>
            <a:r>
              <a:rPr lang="en-GB" altLang="en-US" sz="1000" dirty="0">
                <a:cs typeface="Times New Roman" panose="02020603050405020304" pitchFamily="18" charset="0"/>
              </a:rPr>
              <a:t> because the hoop stresses (stresses parallel to the circumference of the borehole) are least compressive in this direction and so this is the place where it is easiest to open an extensional fracture</a:t>
            </a:r>
            <a:endParaRPr lang="en-GB" altLang="en-US" sz="1000" dirty="0"/>
          </a:p>
          <a:p>
            <a:pPr marL="108000" indent="-108000">
              <a:spcBef>
                <a:spcPts val="300"/>
              </a:spcBef>
              <a:buFont typeface="Arial" panose="020B0604020202020204" pitchFamily="34" charset="0"/>
              <a:buChar char="•"/>
            </a:pPr>
            <a:r>
              <a:rPr lang="en-GB" altLang="en-US" sz="1000" dirty="0"/>
              <a:t>Further details of the calculation of stresses using the hydrofracking technique are given by Twiss &amp; </a:t>
            </a:r>
            <a:r>
              <a:rPr lang="en-GB" altLang="en-US" sz="1000" dirty="0" err="1"/>
              <a:t>Moores</a:t>
            </a:r>
            <a:r>
              <a:rPr lang="en-GB" altLang="en-US" sz="1000" dirty="0"/>
              <a:t>, p.234. For extra information on the subtleties of the technique, </a:t>
            </a:r>
            <a:r>
              <a:rPr lang="en-GB" altLang="en-US" sz="1000" dirty="0">
                <a:cs typeface="Times New Roman" panose="02020603050405020304" pitchFamily="18" charset="0"/>
              </a:rPr>
              <a:t>see </a:t>
            </a:r>
            <a:r>
              <a:rPr lang="en-GB" altLang="en-US" sz="1000" dirty="0"/>
              <a:t>Zoback </a:t>
            </a:r>
            <a:r>
              <a:rPr lang="en-GB" altLang="en-US" sz="1000" i="1" dirty="0"/>
              <a:t>et al.</a:t>
            </a:r>
            <a:r>
              <a:rPr lang="en-GB" altLang="en-US" sz="1000" dirty="0"/>
              <a:t>, 2003, </a:t>
            </a:r>
            <a:r>
              <a:rPr lang="en-GB" altLang="en-US" sz="1000" i="1" dirty="0"/>
              <a:t>International Journal of Rock Mechanics &amp; Mining Sciences</a:t>
            </a:r>
            <a:r>
              <a:rPr lang="en-GB" altLang="en-US" sz="1000" dirty="0"/>
              <a:t> 40: 1049-1079, </a:t>
            </a:r>
            <a:r>
              <a:rPr lang="en-GB" sz="1000" dirty="0"/>
              <a:t>https://doi.org/10.1016/j.ijrmms.2003.07.001;</a:t>
            </a:r>
            <a:r>
              <a:rPr lang="en-GB" altLang="en-US" sz="1000" dirty="0"/>
              <a:t> and </a:t>
            </a:r>
            <a:r>
              <a:rPr lang="en-GB" altLang="en-US" sz="1000" dirty="0" err="1"/>
              <a:t>Couzens</a:t>
            </a:r>
            <a:r>
              <a:rPr lang="en-GB" altLang="en-US" sz="1000" dirty="0"/>
              <a:t>-Schultz &amp; Chan, 2010, </a:t>
            </a:r>
            <a:r>
              <a:rPr lang="en-GB" altLang="en-US" sz="1000" i="1" dirty="0"/>
              <a:t>Journal of Structural Geology</a:t>
            </a:r>
            <a:r>
              <a:rPr lang="en-GB" altLang="en-US" sz="1000" i="0" dirty="0"/>
              <a:t> 32: 1061-1069, </a:t>
            </a:r>
            <a:r>
              <a:rPr lang="en-GB" sz="1000" dirty="0"/>
              <a:t>https://doi.org/10.1016/j.jsg.2010.06.013</a:t>
            </a:r>
            <a:endParaRPr lang="en-GB" altLang="en-US" sz="1000" dirty="0"/>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p.236</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D28461AE-A679-4675-89B3-5DBB09D97A45}"/>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288DBA33-2344-45AF-AC3F-5023F9289B7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Methods of determining stresses from fault plane and slip vector measurements are described by Ramsay &amp; Lisle, 2000, </a:t>
            </a:r>
            <a:r>
              <a:rPr lang="en-GB" altLang="en-US" sz="1000" i="1" dirty="0"/>
              <a:t>The Techniques of Modern Structural Geology, Vol. 3: Applications of Continuum Mechanics in Structural Geology</a:t>
            </a:r>
            <a:r>
              <a:rPr lang="en-GB" altLang="en-US" sz="1000" dirty="0"/>
              <a:t>, Academic Press (Session 32). See also Fossen, p.224-230, and </a:t>
            </a:r>
            <a:r>
              <a:rPr lang="en-GB" altLang="en-US" sz="1000" dirty="0" err="1"/>
              <a:t>Yamaji</a:t>
            </a:r>
            <a:r>
              <a:rPr lang="en-GB" altLang="en-US" sz="1000" dirty="0"/>
              <a:t>, 2007, </a:t>
            </a:r>
            <a:r>
              <a:rPr lang="en-GB" altLang="en-US" sz="1000" i="1" dirty="0"/>
              <a:t>An Introduction to Tectonophysics: Theoretical Aspects of Structural Geology</a:t>
            </a:r>
            <a:r>
              <a:rPr lang="en-GB" altLang="en-US" sz="1000" dirty="0"/>
              <a:t>, Chapter 11. For a review and perspective on these methods, see Simón, 2019, </a:t>
            </a:r>
            <a:r>
              <a:rPr lang="en-GB" altLang="en-US" sz="1000" i="1" dirty="0"/>
              <a:t>Journal of Structural Geology</a:t>
            </a:r>
            <a:r>
              <a:rPr lang="en-GB" altLang="en-US" sz="1000" i="0" dirty="0"/>
              <a:t> 125: 124-133, </a:t>
            </a:r>
            <a:r>
              <a:rPr lang="en-GB" sz="1000" dirty="0"/>
              <a:t>https://doi.org/10.1016/j.jsg.2018.02.011</a:t>
            </a:r>
            <a:endParaRPr lang="en-GB" altLang="en-US" sz="1000" dirty="0"/>
          </a:p>
          <a:p>
            <a:pPr marL="108000" indent="-108000">
              <a:spcBef>
                <a:spcPts val="300"/>
              </a:spcBef>
              <a:buFont typeface="Arial" panose="020B0604020202020204" pitchFamily="34" charset="0"/>
              <a:buChar char="•"/>
            </a:pPr>
            <a:r>
              <a:rPr lang="en-GB" altLang="en-US" sz="1000" dirty="0"/>
              <a:t>Accompanying this PowerPoint presentation is a folder called “Stresses from Faults” which contains a worked example of how to obtain principal stress orientations from fault plane and slip vector orientations. There is also freely available software that carries out these calculations (</a:t>
            </a:r>
            <a:r>
              <a:rPr lang="en-GB" altLang="en-US" sz="1000" i="1" dirty="0"/>
              <a:t>e.g.</a:t>
            </a:r>
            <a:r>
              <a:rPr lang="en-GB" altLang="en-US" sz="1000" dirty="0"/>
              <a:t>, Allmendinger’s </a:t>
            </a:r>
            <a:r>
              <a:rPr lang="en-GB" altLang="en-US" sz="1000" dirty="0" err="1"/>
              <a:t>FaultKin</a:t>
            </a:r>
            <a:r>
              <a:rPr lang="en-GB" altLang="en-US" sz="1000" dirty="0"/>
              <a:t> program: www.geo.cornell.edu/geology/faculty/RWA/programs/faultkin.html, OR https://www.rickallmendinger.net/)</a:t>
            </a:r>
          </a:p>
          <a:p>
            <a:pPr marL="108000" indent="-108000">
              <a:spcBef>
                <a:spcPts val="300"/>
              </a:spcBef>
              <a:buFont typeface="Arial" panose="020B0604020202020204" pitchFamily="34" charset="0"/>
              <a:buChar char="•"/>
            </a:pPr>
            <a:r>
              <a:rPr lang="en-GB" altLang="en-US" sz="1000" dirty="0"/>
              <a:t>It is often possible to approximate the vertical stress as one of the principal stresses (see Slides 27 and 32). For an example (developed for the calcite twinning case, see next slide) of going from the orientation of principal stresses and the stress ratio to obtaining absolute values of the principal stress magnitudes, see Lacombe, 2007, </a:t>
            </a:r>
            <a:r>
              <a:rPr lang="en-GB" altLang="en-US" sz="1000" i="1" dirty="0"/>
              <a:t>Journal of Structural Geology</a:t>
            </a:r>
            <a:r>
              <a:rPr lang="en-GB" altLang="en-US" sz="1000" dirty="0"/>
              <a:t> 29: 86-99, </a:t>
            </a:r>
            <a:r>
              <a:rPr lang="en-GB" sz="1000" dirty="0"/>
              <a:t>https://doi.org/10.1016/j.jsg.2006.08.009</a:t>
            </a:r>
            <a:endParaRPr lang="en-GB" altLang="en-US" sz="1000" dirty="0"/>
          </a:p>
          <a:p>
            <a:pPr marL="108000" indent="-108000">
              <a:spcBef>
                <a:spcPts val="300"/>
              </a:spcBef>
              <a:buFont typeface="Arial" panose="020B0604020202020204" pitchFamily="34" charset="0"/>
              <a:buChar char="•"/>
            </a:pPr>
            <a:r>
              <a:rPr lang="en-GB" altLang="en-US" sz="1000" dirty="0"/>
              <a:t>Photo (from Fossen, p.86): active vertical fractures on the surface of Holocene lava flows in SE Iceland. Because the fractures occur at the surface, one of the principal stresses must be vertical (see Slide 27)</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76573909-4BEB-4A43-9D3C-56D7982EB41D}"/>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4F7F3C9D-FAC4-493B-8555-06AA3D1B839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use of </a:t>
            </a:r>
            <a:r>
              <a:rPr lang="en-GB" altLang="en-US" sz="1000" dirty="0" err="1"/>
              <a:t>palaeostress</a:t>
            </a:r>
            <a:r>
              <a:rPr lang="en-GB" altLang="en-US" sz="1000" dirty="0"/>
              <a:t> techniques is to some extent compromised by the need to establish when in the deformation history the microstructures formed</a:t>
            </a:r>
          </a:p>
          <a:p>
            <a:pPr marL="108000" indent="-108000">
              <a:spcBef>
                <a:spcPts val="300"/>
              </a:spcBef>
              <a:buFont typeface="Arial" panose="020B0604020202020204" pitchFamily="34" charset="0"/>
              <a:buChar char="•"/>
            </a:pPr>
            <a:r>
              <a:rPr lang="en-GB" altLang="en-US" sz="1000" dirty="0"/>
              <a:t>A well illustrated overview of the use of calcite twins for </a:t>
            </a:r>
            <a:r>
              <a:rPr lang="en-GB" altLang="en-US" sz="1000" dirty="0" err="1"/>
              <a:t>palaeostress</a:t>
            </a:r>
            <a:r>
              <a:rPr lang="en-GB" altLang="en-US" sz="1000" dirty="0"/>
              <a:t> determination is given by Lacombe, 2010, </a:t>
            </a:r>
            <a:r>
              <a:rPr lang="en-GB" altLang="en-US" sz="1000" i="1" dirty="0"/>
              <a:t>Oil &amp; Gas Science and Technology</a:t>
            </a:r>
            <a:r>
              <a:rPr lang="en-GB" altLang="en-US" sz="1000" dirty="0"/>
              <a:t> 65: 809-838, </a:t>
            </a:r>
            <a:r>
              <a:rPr lang="en-GB" sz="1000" dirty="0"/>
              <a:t>https://doi.org/10.2516/ogst/2009088</a:t>
            </a:r>
            <a:r>
              <a:rPr lang="en-GB" altLang="en-US" sz="1000" dirty="0"/>
              <a:t>. The use of quartz deformation lamellae is discussed by Twiss &amp; </a:t>
            </a:r>
            <a:r>
              <a:rPr lang="en-GB" altLang="en-US" sz="1000" dirty="0" err="1"/>
              <a:t>Moores</a:t>
            </a:r>
            <a:r>
              <a:rPr lang="en-GB" altLang="en-US" sz="1000" dirty="0"/>
              <a:t>, p.521-524</a:t>
            </a:r>
          </a:p>
          <a:p>
            <a:pPr marL="108000" indent="-108000">
              <a:spcBef>
                <a:spcPts val="300"/>
              </a:spcBef>
              <a:buFont typeface="Arial" panose="020B0604020202020204" pitchFamily="34" charset="0"/>
              <a:buChar char="•"/>
            </a:pPr>
            <a:r>
              <a:rPr lang="en-GB" altLang="en-US" sz="1000" dirty="0"/>
              <a:t>Accompanying this PowerPoint presentation is a folder called “Stresses from Calcite Twins” which contains a worked example of how to obtain principal stress orientations from calcite twin measurements</a:t>
            </a:r>
          </a:p>
          <a:p>
            <a:pPr marL="108000" indent="-108000">
              <a:spcBef>
                <a:spcPts val="300"/>
              </a:spcBef>
              <a:buFont typeface="Arial" panose="020B0604020202020204" pitchFamily="34" charset="0"/>
              <a:buChar char="•"/>
            </a:pPr>
            <a:r>
              <a:rPr lang="en-GB" altLang="en-US" sz="1000" dirty="0"/>
              <a:t>Photomicrograph left (from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i="1" dirty="0"/>
              <a:t> </a:t>
            </a:r>
            <a:r>
              <a:rPr lang="en-GB" altLang="en-US" sz="1000" dirty="0"/>
              <a:t>(2</a:t>
            </a:r>
            <a:r>
              <a:rPr lang="en-GB" altLang="en-US" sz="1000" baseline="30000" dirty="0"/>
              <a:t>nd</a:t>
            </a:r>
            <a:r>
              <a:rPr lang="en-GB" altLang="en-US" sz="1000" dirty="0"/>
              <a:t> edition), Fig.3.18): quartz deformation lamellae (obliquely inclined in this image), Mt. Isa, Australia</a:t>
            </a:r>
          </a:p>
          <a:p>
            <a:pPr marL="108000" indent="-108000">
              <a:spcBef>
                <a:spcPts val="300"/>
              </a:spcBef>
              <a:buFont typeface="Arial" panose="020B0604020202020204" pitchFamily="34" charset="0"/>
              <a:buChar char="•"/>
            </a:pPr>
            <a:r>
              <a:rPr lang="en-GB" altLang="en-US" sz="1000" dirty="0"/>
              <a:t>Photomicrograph right (from BGS image database: geoscenic.bgs.ac.uk/asset-bank/action/</a:t>
            </a:r>
            <a:r>
              <a:rPr lang="en-GB" altLang="en-US" sz="1000" dirty="0" err="1"/>
              <a:t>viewHome</a:t>
            </a:r>
            <a:r>
              <a:rPr lang="en-GB" altLang="en-US" sz="1000" dirty="0"/>
              <a:t>, image P531450): calcite twins in a Dalradian limestone, near Kirkton of </a:t>
            </a:r>
            <a:r>
              <a:rPr lang="en-GB" altLang="en-US" sz="1000" dirty="0" err="1"/>
              <a:t>Glenbucket</a:t>
            </a:r>
            <a:r>
              <a:rPr lang="en-GB" altLang="en-US" sz="1000" dirty="0"/>
              <a:t>, Aberdeenshire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a:extLst>
              <a:ext uri="{FF2B5EF4-FFF2-40B4-BE49-F238E27FC236}">
                <a16:creationId xmlns:a16="http://schemas.microsoft.com/office/drawing/2014/main" id="{70B280B8-9347-4749-A8CC-27B1F7A73F80}"/>
              </a:ext>
            </a:extLst>
          </p:cNvPr>
          <p:cNvSpPr>
            <a:spLocks noGrp="1" noRot="1" noChangeAspect="1" noChangeArrowheads="1" noTextEdit="1"/>
          </p:cNvSpPr>
          <p:nvPr>
            <p:ph type="sldImg"/>
          </p:nvPr>
        </p:nvSpPr>
        <p:spPr>
          <a:ln/>
        </p:spPr>
      </p:sp>
      <p:sp>
        <p:nvSpPr>
          <p:cNvPr id="312323" name="Rectangle 3">
            <a:extLst>
              <a:ext uri="{FF2B5EF4-FFF2-40B4-BE49-F238E27FC236}">
                <a16:creationId xmlns:a16="http://schemas.microsoft.com/office/drawing/2014/main" id="{B1C2B35A-D1E3-4DD9-A686-6E2716DC66E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Dislocations are lattice defects (irregularities in the crystal lattice structure). Specifically, they are the edge of an extra half plane of atoms that has been inserted into the crystal lattice. Their generation and motion is a fundamental part of plastic deformation (or more specifically, intracrystalline plasticity) – see the Optional PowerPoint presentation, Slides 24-27</a:t>
            </a:r>
          </a:p>
          <a:p>
            <a:pPr marL="108000" indent="-108000">
              <a:spcBef>
                <a:spcPts val="300"/>
              </a:spcBef>
              <a:buFont typeface="Arial" panose="020B0604020202020204" pitchFamily="34" charset="0"/>
              <a:buChar char="•"/>
            </a:pPr>
            <a:r>
              <a:rPr lang="en-GB" altLang="en-US" sz="1000" dirty="0"/>
              <a:t>The use of dynamically recrystallized grain size as a piezometer usually requires a knowledge of the recrystallization mechanism (the three mechanisms are noted in the Optional PowerPoint presentation, Slides 32-34)</a:t>
            </a:r>
          </a:p>
          <a:p>
            <a:pPr marL="108000" indent="-108000">
              <a:spcBef>
                <a:spcPts val="300"/>
              </a:spcBef>
              <a:buFont typeface="Arial" panose="020B0604020202020204" pitchFamily="34" charset="0"/>
              <a:buChar char="•"/>
            </a:pPr>
            <a:r>
              <a:rPr lang="en-GB" altLang="en-US" sz="1000" dirty="0"/>
              <a:t>Figure top right is from Twiss &amp; </a:t>
            </a:r>
            <a:r>
              <a:rPr lang="en-GB" altLang="en-US" sz="1000" dirty="0" err="1"/>
              <a:t>Moores</a:t>
            </a:r>
            <a:r>
              <a:rPr lang="en-GB" altLang="en-US" sz="1000" dirty="0"/>
              <a:t>, p.520. In the dislocation density plot, stress is divided by </a:t>
            </a:r>
            <a:r>
              <a:rPr lang="en-GB" altLang="en-US" sz="1000" i="1" dirty="0"/>
              <a:t>G</a:t>
            </a:r>
            <a:r>
              <a:rPr lang="en-GB" altLang="en-US" sz="1000" dirty="0"/>
              <a:t> (shear modulus) and the dislocation density is multiplied by </a:t>
            </a:r>
            <a:r>
              <a:rPr lang="en-GB" altLang="en-US" sz="1000" i="1" dirty="0"/>
              <a:t>b</a:t>
            </a:r>
            <a:r>
              <a:rPr lang="en-GB" altLang="en-US" sz="1000" baseline="30000" dirty="0"/>
              <a:t>2</a:t>
            </a:r>
            <a:r>
              <a:rPr lang="en-GB" altLang="en-US" sz="1000" dirty="0"/>
              <a:t> (</a:t>
            </a:r>
            <a:r>
              <a:rPr lang="en-GB" altLang="en-US" sz="1000" i="1" dirty="0"/>
              <a:t>b</a:t>
            </a:r>
            <a:r>
              <a:rPr lang="en-GB" altLang="en-US" sz="1000" dirty="0"/>
              <a:t> = Burgers vector = the slip displacement across a dislocation). Doing this allows data from different minerals (here olivine and quartz) to be shown on the same graph</a:t>
            </a:r>
          </a:p>
          <a:p>
            <a:pPr marL="108000" indent="-108000">
              <a:spcBef>
                <a:spcPts val="300"/>
              </a:spcBef>
              <a:buFont typeface="Arial" panose="020B0604020202020204" pitchFamily="34" charset="0"/>
              <a:buChar char="•"/>
            </a:pPr>
            <a:r>
              <a:rPr lang="en-GB" altLang="en-US" sz="1000" dirty="0"/>
              <a:t>Image bottom left (from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i="1" dirty="0"/>
              <a:t> </a:t>
            </a:r>
            <a:r>
              <a:rPr lang="en-GB" altLang="en-US" sz="1000" dirty="0"/>
              <a:t>(2</a:t>
            </a:r>
            <a:r>
              <a:rPr lang="en-GB" altLang="en-US" sz="1000" baseline="30000" dirty="0"/>
              <a:t>nd</a:t>
            </a:r>
            <a:r>
              <a:rPr lang="en-GB" altLang="en-US" sz="1000" dirty="0"/>
              <a:t> edition), Fig.3.36b): Transmission Electron Microscope image of dislocations (the dark lines) in quartz, quartz </a:t>
            </a:r>
            <a:r>
              <a:rPr lang="en-GB" altLang="en-US" sz="1000" dirty="0" err="1"/>
              <a:t>ultramylonite</a:t>
            </a:r>
            <a:r>
              <a:rPr lang="en-GB" altLang="en-US" sz="1000" dirty="0"/>
              <a:t>, Portugal</a:t>
            </a:r>
          </a:p>
          <a:p>
            <a:pPr marL="108000" indent="-108000">
              <a:spcBef>
                <a:spcPts val="300"/>
              </a:spcBef>
              <a:buFont typeface="Arial" panose="020B0604020202020204" pitchFamily="34" charset="0"/>
              <a:buChar char="•"/>
            </a:pPr>
            <a:r>
              <a:rPr lang="en-GB" altLang="en-US" sz="1000" dirty="0"/>
              <a:t>Photomicrograph bottom right (from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i="1" dirty="0"/>
              <a:t> </a:t>
            </a:r>
            <a:r>
              <a:rPr lang="en-GB" altLang="en-US" sz="1000" dirty="0"/>
              <a:t>(2</a:t>
            </a:r>
            <a:r>
              <a:rPr lang="en-GB" altLang="en-US" sz="1000" baseline="30000" dirty="0"/>
              <a:t>nd</a:t>
            </a:r>
            <a:r>
              <a:rPr lang="en-GB" altLang="en-US" sz="1000" dirty="0"/>
              <a:t> edition), Fig.3.31): dynamically recrystallized quartz, granite </a:t>
            </a:r>
            <a:r>
              <a:rPr lang="en-GB" altLang="en-US" sz="1000" dirty="0" err="1"/>
              <a:t>mylonite</a:t>
            </a:r>
            <a:r>
              <a:rPr lang="en-GB" altLang="en-US" sz="1000" dirty="0"/>
              <a:t>, Qin Ling Mountains, China. </a:t>
            </a:r>
            <a:r>
              <a:rPr lang="en-GB" altLang="en-US" sz="1000" dirty="0" err="1"/>
              <a:t>Passchier</a:t>
            </a:r>
            <a:r>
              <a:rPr lang="en-GB" altLang="en-US" sz="1000" dirty="0"/>
              <a:t> &amp; </a:t>
            </a:r>
            <a:r>
              <a:rPr lang="en-GB" altLang="en-US" sz="1000" dirty="0" err="1"/>
              <a:t>Trouw</a:t>
            </a:r>
            <a:r>
              <a:rPr lang="en-GB" altLang="en-US" sz="1000" dirty="0"/>
              <a:t> indicate that the recrystallization mechanism was </a:t>
            </a:r>
            <a:r>
              <a:rPr lang="en-GB" altLang="en-US" sz="1000" dirty="0" err="1"/>
              <a:t>subgrain</a:t>
            </a:r>
            <a:r>
              <a:rPr lang="en-GB" altLang="en-US" sz="1000" dirty="0"/>
              <a:t> rotation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205EB4C7-7A98-4010-9A78-7BA43D6198B8}" type="slidenum">
              <a:rPr lang="en-GB" altLang="en-US" smtClean="0"/>
              <a:pPr/>
              <a:t>26</a:t>
            </a:fld>
            <a:endParaRPr lang="en-GB" altLang="en-US"/>
          </a:p>
        </p:txBody>
      </p:sp>
    </p:spTree>
    <p:extLst>
      <p:ext uri="{BB962C8B-B14F-4D97-AF65-F5344CB8AC3E}">
        <p14:creationId xmlns:p14="http://schemas.microsoft.com/office/powerpoint/2010/main" val="20150969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a:extLst>
              <a:ext uri="{FF2B5EF4-FFF2-40B4-BE49-F238E27FC236}">
                <a16:creationId xmlns:a16="http://schemas.microsoft.com/office/drawing/2014/main" id="{02FAD251-16DF-42A6-A0B2-45D84298E5BF}"/>
              </a:ext>
            </a:extLst>
          </p:cNvPr>
          <p:cNvSpPr>
            <a:spLocks noGrp="1" noRot="1" noChangeAspect="1" noChangeArrowheads="1" noTextEdit="1"/>
          </p:cNvSpPr>
          <p:nvPr>
            <p:ph type="sldImg"/>
          </p:nvPr>
        </p:nvSpPr>
        <p:spPr>
          <a:ln/>
        </p:spPr>
      </p:sp>
      <p:sp>
        <p:nvSpPr>
          <p:cNvPr id="280579" name="Rectangle 3">
            <a:extLst>
              <a:ext uri="{FF2B5EF4-FFF2-40B4-BE49-F238E27FC236}">
                <a16:creationId xmlns:a16="http://schemas.microsoft.com/office/drawing/2014/main" id="{ECEA4DC1-7DCA-4FBD-9D63-246B7FD4D32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“air and water can’t sustain a shear stress”. To be strictly accurate, the shear stresses generated in flowing air or water are miniscule in comparison with tectonically induced shear stresses. Although the shear stresses in flowing air or water are miniscule in comparison with tectonic shear stress, they are important in understanding sediment transport processes</a:t>
            </a:r>
          </a:p>
          <a:p>
            <a:pPr marL="108000" indent="-108000">
              <a:spcBef>
                <a:spcPts val="300"/>
              </a:spcBef>
              <a:buFont typeface="Arial" panose="020B0604020202020204" pitchFamily="34" charset="0"/>
              <a:buChar char="•"/>
            </a:pPr>
            <a:r>
              <a:rPr lang="en-GB" altLang="en-US" sz="1000" dirty="0"/>
              <a:t>Notice that the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i="1" dirty="0" err="1">
                <a:cs typeface="Times New Roman" panose="02020603050405020304" pitchFamily="18" charset="0"/>
              </a:rPr>
              <a:t>gz</a:t>
            </a:r>
            <a:r>
              <a:rPr lang="en-GB" altLang="en-US" sz="1000" dirty="0">
                <a:cs typeface="Times New Roman" panose="02020603050405020304" pitchFamily="18" charset="0"/>
              </a:rPr>
              <a:t> formula is effectively just a different way of saying </a:t>
            </a:r>
            <a:r>
              <a:rPr lang="en-GB" altLang="en-US" sz="1000" i="1" dirty="0">
                <a:cs typeface="Times New Roman" panose="02020603050405020304" pitchFamily="18" charset="0"/>
              </a:rPr>
              <a:t>F</a:t>
            </a:r>
            <a:r>
              <a:rPr lang="en-GB" altLang="en-US" sz="1000" i="0" dirty="0">
                <a:cs typeface="Times New Roman" panose="02020603050405020304" pitchFamily="18" charset="0"/>
              </a:rPr>
              <a:t> = </a:t>
            </a:r>
            <a:r>
              <a:rPr lang="en-GB" altLang="en-US" sz="1000" i="1" dirty="0">
                <a:cs typeface="Times New Roman" panose="02020603050405020304" pitchFamily="18" charset="0"/>
              </a:rPr>
              <a:t>ma </a:t>
            </a:r>
            <a:r>
              <a:rPr lang="en-GB" altLang="en-US" sz="1000" i="0" dirty="0">
                <a:cs typeface="Times New Roman" panose="02020603050405020304" pitchFamily="18" charset="0"/>
              </a:rPr>
              <a:t>:</a:t>
            </a:r>
          </a:p>
          <a:p>
            <a:pPr marL="0" indent="0">
              <a:spcBef>
                <a:spcPts val="300"/>
              </a:spcBef>
              <a:buFont typeface="Arial" panose="020B0604020202020204" pitchFamily="34" charset="0"/>
              <a:buNone/>
            </a:pPr>
            <a:r>
              <a:rPr lang="en-GB" altLang="en-US" sz="1000" i="0" dirty="0">
                <a:latin typeface="Cambria Math" panose="02040503050406030204" pitchFamily="18" charset="0"/>
                <a:ea typeface="Cambria Math" panose="02040503050406030204" pitchFamily="18" charset="0"/>
                <a:cs typeface="Times New Roman" panose="02020603050405020304" pitchFamily="18" charset="0"/>
              </a:rPr>
              <a:t>	vertical stress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baseline="0" dirty="0">
                <a:cs typeface="Times New Roman" panose="02020603050405020304" pitchFamily="18" charset="0"/>
              </a:rPr>
              <a:t>) is </a:t>
            </a:r>
            <a:r>
              <a:rPr lang="en-GB" altLang="en-US" sz="1000" i="1" baseline="0" dirty="0">
                <a:cs typeface="Times New Roman" panose="02020603050405020304" pitchFamily="18" charset="0"/>
              </a:rPr>
              <a:t>F</a:t>
            </a:r>
            <a:r>
              <a:rPr lang="en-GB" altLang="en-US" sz="1000" i="0" baseline="0" dirty="0">
                <a:cs typeface="Times New Roman" panose="02020603050405020304" pitchFamily="18" charset="0"/>
              </a:rPr>
              <a:t>/</a:t>
            </a:r>
            <a:r>
              <a:rPr lang="en-GB" altLang="en-US" sz="1000" i="1" baseline="0" dirty="0">
                <a:cs typeface="Times New Roman" panose="02020603050405020304" pitchFamily="18" charset="0"/>
              </a:rPr>
              <a:t>A</a:t>
            </a:r>
            <a:r>
              <a:rPr lang="en-GB" altLang="en-US" sz="1000" i="0" baseline="0" dirty="0">
                <a:cs typeface="Times New Roman" panose="02020603050405020304" pitchFamily="18" charset="0"/>
              </a:rPr>
              <a:t> (where </a:t>
            </a:r>
            <a:r>
              <a:rPr lang="en-GB" altLang="en-US" sz="1000" i="1" baseline="0" dirty="0">
                <a:cs typeface="Times New Roman" panose="02020603050405020304" pitchFamily="18" charset="0"/>
              </a:rPr>
              <a:t>A</a:t>
            </a:r>
            <a:r>
              <a:rPr lang="en-GB" altLang="en-US" sz="1000" i="0" baseline="0" dirty="0">
                <a:cs typeface="Times New Roman" panose="02020603050405020304" pitchFamily="18" charset="0"/>
              </a:rPr>
              <a:t> is cross-sectional area). Density (</a:t>
            </a:r>
            <a:r>
              <a:rPr lang="el-GR" altLang="en-US" sz="1000" i="1" baseline="0" dirty="0">
                <a:cs typeface="Times New Roman" panose="02020603050405020304" pitchFamily="18" charset="0"/>
              </a:rPr>
              <a:t>ρ</a:t>
            </a:r>
            <a:r>
              <a:rPr lang="en-GB" altLang="en-US" sz="1000" i="0" baseline="0" dirty="0">
                <a:cs typeface="Times New Roman" panose="02020603050405020304" pitchFamily="18" charset="0"/>
              </a:rPr>
              <a:t>) = </a:t>
            </a:r>
            <a:r>
              <a:rPr lang="en-GB" altLang="en-US" sz="1000" i="1" baseline="0" dirty="0">
                <a:cs typeface="Times New Roman" panose="02020603050405020304" pitchFamily="18" charset="0"/>
              </a:rPr>
              <a:t>m</a:t>
            </a:r>
            <a:r>
              <a:rPr lang="en-GB" altLang="en-US" sz="1000" i="0" baseline="0" dirty="0">
                <a:cs typeface="Times New Roman" panose="02020603050405020304" pitchFamily="18" charset="0"/>
              </a:rPr>
              <a:t>/</a:t>
            </a:r>
            <a:r>
              <a:rPr lang="en-GB" altLang="en-US" sz="1000" i="1" baseline="0" dirty="0">
                <a:cs typeface="Times New Roman" panose="02020603050405020304" pitchFamily="18" charset="0"/>
              </a:rPr>
              <a:t>V</a:t>
            </a:r>
            <a:r>
              <a:rPr lang="en-GB" altLang="en-US" sz="1000" i="0" baseline="0" dirty="0">
                <a:cs typeface="Times New Roman" panose="02020603050405020304" pitchFamily="18" charset="0"/>
              </a:rPr>
              <a:t> (where </a:t>
            </a:r>
            <a:r>
              <a:rPr lang="en-GB" altLang="en-US" sz="1000" i="1" baseline="0" dirty="0">
                <a:cs typeface="Times New Roman" panose="02020603050405020304" pitchFamily="18" charset="0"/>
              </a:rPr>
              <a:t>V</a:t>
            </a:r>
            <a:r>
              <a:rPr lang="en-GB" altLang="en-US" sz="1000" i="0" baseline="0" dirty="0">
                <a:cs typeface="Times New Roman" panose="02020603050405020304" pitchFamily="18" charset="0"/>
              </a:rPr>
              <a:t> is volume). Acceleration due to gravity (</a:t>
            </a:r>
            <a:r>
              <a:rPr lang="en-GB" altLang="en-US" sz="1000" i="1" baseline="0" dirty="0">
                <a:cs typeface="Times New Roman" panose="02020603050405020304" pitchFamily="18" charset="0"/>
              </a:rPr>
              <a:t>g</a:t>
            </a:r>
            <a:r>
              <a:rPr lang="en-GB" altLang="en-US" sz="1000" i="0" baseline="0" dirty="0">
                <a:cs typeface="Times New Roman" panose="02020603050405020304" pitchFamily="18" charset="0"/>
              </a:rPr>
              <a:t>) = </a:t>
            </a:r>
            <a:r>
              <a:rPr lang="en-GB" altLang="en-US" sz="1000" i="1" baseline="0" dirty="0">
                <a:cs typeface="Times New Roman" panose="02020603050405020304" pitchFamily="18" charset="0"/>
              </a:rPr>
              <a:t>a</a:t>
            </a:r>
            <a:r>
              <a:rPr lang="en-GB" altLang="en-US" sz="1000" i="0" baseline="0" dirty="0">
                <a:cs typeface="Times New Roman" panose="02020603050405020304" pitchFamily="18" charset="0"/>
              </a:rPr>
              <a:t>. Depth (</a:t>
            </a:r>
            <a:r>
              <a:rPr lang="en-GB" altLang="en-US" sz="1000" i="1" baseline="0" dirty="0">
                <a:cs typeface="Times New Roman" panose="02020603050405020304" pitchFamily="18" charset="0"/>
              </a:rPr>
              <a:t>z</a:t>
            </a:r>
            <a:r>
              <a:rPr lang="en-GB" altLang="en-US" sz="1000" i="0" baseline="0" dirty="0">
                <a:cs typeface="Times New Roman" panose="02020603050405020304" pitchFamily="18" charset="0"/>
              </a:rPr>
              <a:t>) = </a:t>
            </a:r>
            <a:r>
              <a:rPr lang="en-GB" altLang="en-US" sz="1000" i="1" baseline="0" dirty="0">
                <a:cs typeface="Times New Roman" panose="02020603050405020304" pitchFamily="18" charset="0"/>
              </a:rPr>
              <a:t>V</a:t>
            </a:r>
            <a:r>
              <a:rPr lang="en-GB" altLang="en-US" sz="1000" i="0" baseline="0" dirty="0">
                <a:cs typeface="Times New Roman" panose="02020603050405020304" pitchFamily="18" charset="0"/>
              </a:rPr>
              <a:t>/</a:t>
            </a:r>
            <a:r>
              <a:rPr lang="en-GB" altLang="en-US" sz="1000" i="1" baseline="0" dirty="0">
                <a:cs typeface="Times New Roman" panose="02020603050405020304" pitchFamily="18" charset="0"/>
              </a:rPr>
              <a:t>A</a:t>
            </a:r>
            <a:r>
              <a:rPr lang="en-GB" altLang="en-US" sz="1000" i="0" baseline="0" dirty="0">
                <a:cs typeface="Times New Roman" panose="02020603050405020304" pitchFamily="18" charset="0"/>
              </a:rPr>
              <a:t>.</a:t>
            </a:r>
          </a:p>
          <a:p>
            <a:pPr marL="0" indent="0">
              <a:spcBef>
                <a:spcPts val="300"/>
              </a:spcBef>
              <a:buFont typeface="Arial" panose="020B0604020202020204" pitchFamily="34" charset="0"/>
              <a:buNone/>
            </a:pPr>
            <a:r>
              <a:rPr lang="en-GB" altLang="en-US" sz="1000" i="0" baseline="0" dirty="0">
                <a:cs typeface="Times New Roman" panose="02020603050405020304" pitchFamily="18" charset="0"/>
              </a:rPr>
              <a:t>	So,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i="1" dirty="0" err="1">
                <a:cs typeface="Times New Roman" panose="02020603050405020304" pitchFamily="18" charset="0"/>
              </a:rPr>
              <a:t>gz</a:t>
            </a:r>
            <a:r>
              <a:rPr lang="en-GB" altLang="en-US" sz="1000" dirty="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a:t>
            </a:r>
            <a:r>
              <a:rPr lang="en-GB" altLang="en-US" sz="1000" dirty="0">
                <a:cs typeface="Times New Roman" panose="02020603050405020304" pitchFamily="18" charset="0"/>
              </a:rPr>
              <a:t>   (</a:t>
            </a:r>
            <a:r>
              <a:rPr lang="en-GB" altLang="en-US" sz="1000" i="1" dirty="0">
                <a:cs typeface="Times New Roman" panose="02020603050405020304" pitchFamily="18" charset="0"/>
              </a:rPr>
              <a:t>F</a:t>
            </a:r>
            <a:r>
              <a:rPr lang="en-GB" altLang="en-US" sz="1000" i="0" dirty="0">
                <a:cs typeface="Times New Roman" panose="02020603050405020304" pitchFamily="18" charset="0"/>
              </a:rPr>
              <a:t>/</a:t>
            </a:r>
            <a:r>
              <a:rPr lang="en-GB" altLang="en-US" sz="1000" i="1" dirty="0">
                <a:cs typeface="Times New Roman" panose="02020603050405020304" pitchFamily="18" charset="0"/>
              </a:rPr>
              <a:t>A</a:t>
            </a:r>
            <a:r>
              <a:rPr lang="en-GB" altLang="en-US" sz="1000" i="0" dirty="0">
                <a:cs typeface="Times New Roman" panose="02020603050405020304" pitchFamily="18" charset="0"/>
              </a:rPr>
              <a:t>) = (</a:t>
            </a:r>
            <a:r>
              <a:rPr lang="en-GB" altLang="en-US" sz="1000" i="1" dirty="0">
                <a:cs typeface="Times New Roman" panose="02020603050405020304" pitchFamily="18" charset="0"/>
              </a:rPr>
              <a:t>m</a:t>
            </a:r>
            <a:r>
              <a:rPr lang="en-GB" altLang="en-US" sz="1000" i="0" dirty="0">
                <a:cs typeface="Times New Roman" panose="02020603050405020304" pitchFamily="18" charset="0"/>
              </a:rPr>
              <a:t>/</a:t>
            </a:r>
            <a:r>
              <a:rPr lang="en-GB" altLang="en-US" sz="1000" i="1" dirty="0">
                <a:cs typeface="Times New Roman" panose="02020603050405020304" pitchFamily="18" charset="0"/>
              </a:rPr>
              <a:t>V</a:t>
            </a:r>
            <a:r>
              <a:rPr lang="en-GB" altLang="en-US" sz="1000" i="0" dirty="0">
                <a:cs typeface="Times New Roman" panose="02020603050405020304" pitchFamily="18" charset="0"/>
              </a:rPr>
              <a:t>) </a:t>
            </a:r>
            <a:r>
              <a:rPr lang="en-GB" altLang="en-US" sz="1000" i="1" dirty="0">
                <a:cs typeface="Times New Roman" panose="02020603050405020304" pitchFamily="18" charset="0"/>
              </a:rPr>
              <a:t>a </a:t>
            </a:r>
            <a:r>
              <a:rPr lang="en-GB" altLang="en-US" sz="1000" i="0" dirty="0">
                <a:cs typeface="Times New Roman" panose="02020603050405020304" pitchFamily="18" charset="0"/>
              </a:rPr>
              <a:t>(</a:t>
            </a:r>
            <a:r>
              <a:rPr lang="en-GB" altLang="en-US" sz="1000" i="1" dirty="0">
                <a:cs typeface="Times New Roman" panose="02020603050405020304" pitchFamily="18" charset="0"/>
              </a:rPr>
              <a:t>V</a:t>
            </a:r>
            <a:r>
              <a:rPr lang="en-GB" altLang="en-US" sz="1000" i="0" dirty="0">
                <a:cs typeface="Times New Roman" panose="02020603050405020304" pitchFamily="18" charset="0"/>
              </a:rPr>
              <a:t>/</a:t>
            </a:r>
            <a:r>
              <a:rPr lang="en-GB" altLang="en-US" sz="1000" i="1" dirty="0">
                <a:cs typeface="Times New Roman" panose="02020603050405020304" pitchFamily="18" charset="0"/>
              </a:rPr>
              <a:t>A</a:t>
            </a:r>
            <a:r>
              <a:rPr lang="en-GB" altLang="en-US" sz="1000" i="0" dirty="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   →</a:t>
            </a:r>
            <a:r>
              <a:rPr lang="en-GB" altLang="en-US" sz="1000" dirty="0">
                <a:cs typeface="Times New Roman" panose="02020603050405020304" pitchFamily="18" charset="0"/>
              </a:rPr>
              <a:t>   </a:t>
            </a:r>
            <a:r>
              <a:rPr lang="en-GB" altLang="en-US" sz="1000" i="1" dirty="0">
                <a:cs typeface="Times New Roman" panose="02020603050405020304" pitchFamily="18" charset="0"/>
              </a:rPr>
              <a:t>F</a:t>
            </a:r>
            <a:r>
              <a:rPr lang="en-GB" altLang="en-US" sz="1000" i="0" dirty="0">
                <a:cs typeface="Times New Roman" panose="02020603050405020304" pitchFamily="18" charset="0"/>
              </a:rPr>
              <a:t> = </a:t>
            </a:r>
            <a:r>
              <a:rPr lang="en-GB" altLang="en-US" sz="1000" i="1" dirty="0">
                <a:cs typeface="Times New Roman" panose="02020603050405020304" pitchFamily="18" charset="0"/>
              </a:rPr>
              <a:t>ma</a:t>
            </a:r>
            <a:endParaRPr lang="en-GB" altLang="en-US" sz="1000" i="1" dirty="0"/>
          </a:p>
          <a:p>
            <a:pPr marL="108000" indent="-108000">
              <a:spcBef>
                <a:spcPts val="300"/>
              </a:spcBef>
              <a:buFont typeface="Arial" panose="020B0604020202020204" pitchFamily="34" charset="0"/>
              <a:buChar char="•"/>
            </a:pPr>
            <a:r>
              <a:rPr lang="en-GB" altLang="en-US" sz="1000" dirty="0"/>
              <a:t>Porous sedimentary rocks have a smaller density </a:t>
            </a:r>
            <a:r>
              <a:rPr lang="en-GB" altLang="en-US" sz="1000" spc="200" baseline="0" dirty="0"/>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baseline="-25000" dirty="0">
                <a:cs typeface="Times New Roman" panose="02020603050405020304" pitchFamily="18" charset="0"/>
              </a:rPr>
              <a:t>rock</a:t>
            </a:r>
            <a:r>
              <a:rPr lang="en-GB" altLang="en-US" sz="1000" dirty="0"/>
              <a:t> = 2.</a:t>
            </a:r>
            <a:r>
              <a:rPr lang="en-GB" altLang="en-US" sz="1000" spc="150" baseline="0" dirty="0"/>
              <a:t>1-</a:t>
            </a:r>
            <a:r>
              <a:rPr lang="en-GB" altLang="en-US" sz="1000" dirty="0"/>
              <a:t>2.5 g/cm</a:t>
            </a:r>
            <a:r>
              <a:rPr lang="en-GB" altLang="en-US" sz="1000" spc="200" baseline="30000" dirty="0"/>
              <a:t>3</a:t>
            </a:r>
            <a:r>
              <a:rPr lang="en-GB" altLang="en-US" sz="1000" dirty="0"/>
              <a:t>)</a:t>
            </a:r>
          </a:p>
          <a:p>
            <a:pPr marL="108000" indent="-108000">
              <a:spcBef>
                <a:spcPts val="300"/>
              </a:spcBef>
              <a:buFont typeface="Arial" panose="020B0604020202020204" pitchFamily="34" charset="0"/>
              <a:buChar char="•"/>
            </a:pPr>
            <a:r>
              <a:rPr lang="en-GB" altLang="en-US" sz="1000" dirty="0"/>
              <a:t>Figure left (from Twiss &amp; </a:t>
            </a:r>
            <a:r>
              <a:rPr lang="en-GB" altLang="en-US" sz="1000" dirty="0" err="1"/>
              <a:t>Moores</a:t>
            </a:r>
            <a:r>
              <a:rPr lang="en-GB" altLang="en-US" sz="1000" dirty="0"/>
              <a:t>, p.238): note that the clustering of principal stresses in the centre of the stereogram and around the rim implies that one principal stress (which one depends upon the tectonic setting) is vertical and the other two are horizontal</a:t>
            </a:r>
          </a:p>
          <a:p>
            <a:pPr marL="108000" indent="-108000">
              <a:spcBef>
                <a:spcPts val="300"/>
              </a:spcBef>
              <a:buFont typeface="Arial" panose="020B0604020202020204" pitchFamily="34" charset="0"/>
              <a:buChar char="•"/>
            </a:pPr>
            <a:r>
              <a:rPr lang="en-GB" altLang="en-US" sz="1000" dirty="0"/>
              <a:t>Figure right (from Fossen, p.87) showing stresses measured down to a depth of 1 km in rocks of low or negligible porosity. The vertical stress is well described by the relationship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i="1" baseline="-25000" dirty="0" err="1">
                <a:cs typeface="Times New Roman" panose="02020603050405020304" pitchFamily="18" charset="0"/>
              </a:rPr>
              <a:t>roc</a:t>
            </a:r>
            <a:r>
              <a:rPr lang="en-GB" altLang="en-US" sz="1000" i="1" spc="200" baseline="-25000" dirty="0" err="1">
                <a:cs typeface="Times New Roman" panose="02020603050405020304" pitchFamily="18" charset="0"/>
              </a:rPr>
              <a:t>k</a:t>
            </a:r>
            <a:r>
              <a:rPr lang="en-GB" altLang="en-US" sz="1000" i="1" spc="150" dirty="0" err="1">
                <a:cs typeface="Times New Roman" panose="02020603050405020304" pitchFamily="18" charset="0"/>
              </a:rPr>
              <a:t>g</a:t>
            </a:r>
            <a:r>
              <a:rPr lang="en-GB" altLang="en-US" sz="1000" i="1" dirty="0" err="1">
                <a:cs typeface="Times New Roman" panose="02020603050405020304" pitchFamily="18" charset="0"/>
              </a:rPr>
              <a:t>z</a:t>
            </a:r>
            <a:r>
              <a:rPr lang="en-GB" altLang="en-US" sz="1000" i="0" dirty="0">
                <a:cs typeface="Times New Roman" panose="02020603050405020304" pitchFamily="18" charset="0"/>
              </a:rPr>
              <a:t> with </a:t>
            </a:r>
            <a:r>
              <a:rPr lang="el-GR" altLang="en-US" sz="1000" i="1" dirty="0">
                <a:cs typeface="Times New Roman" panose="02020603050405020304" pitchFamily="18" charset="0"/>
              </a:rPr>
              <a:t>ρ</a:t>
            </a:r>
            <a:r>
              <a:rPr lang="en-GB" altLang="en-US" sz="1000" i="1" baseline="-25000" dirty="0">
                <a:cs typeface="Times New Roman" panose="02020603050405020304" pitchFamily="18" charset="0"/>
              </a:rPr>
              <a:t>rock</a:t>
            </a:r>
            <a:r>
              <a:rPr lang="en-GB" altLang="en-US" sz="1000" i="0" baseline="0" dirty="0">
                <a:cs typeface="Times New Roman" panose="02020603050405020304" pitchFamily="18" charset="0"/>
              </a:rPr>
              <a:t> = 2.7 g cm</a:t>
            </a:r>
            <a:r>
              <a:rPr lang="en-GB" altLang="en-US" sz="1000" i="0" baseline="30000" dirty="0">
                <a:cs typeface="Times New Roman" panose="02020603050405020304" pitchFamily="18" charset="0"/>
              </a:rPr>
              <a:t>-3</a:t>
            </a:r>
            <a:r>
              <a:rPr lang="en-GB" altLang="en-US" sz="1000" i="0" baseline="0" dirty="0">
                <a:cs typeface="Times New Roman" panose="02020603050405020304" pitchFamily="18" charset="0"/>
              </a:rPr>
              <a:t> and </a:t>
            </a:r>
            <a:r>
              <a:rPr lang="en-GB" altLang="en-US" sz="1000" i="1" baseline="0" dirty="0">
                <a:cs typeface="Times New Roman" panose="02020603050405020304" pitchFamily="18" charset="0"/>
              </a:rPr>
              <a:t>g</a:t>
            </a:r>
            <a:r>
              <a:rPr lang="en-GB" altLang="en-US" sz="1000" i="0" baseline="0" dirty="0">
                <a:cs typeface="Times New Roman" panose="02020603050405020304" pitchFamily="18" charset="0"/>
              </a:rPr>
              <a:t> = 9.8 m s</a:t>
            </a:r>
            <a:r>
              <a:rPr lang="en-GB" altLang="en-US" sz="1000" i="0" baseline="30000" dirty="0">
                <a:cs typeface="Times New Roman" panose="02020603050405020304" pitchFamily="18" charset="0"/>
              </a:rPr>
              <a:t>-2</a:t>
            </a:r>
            <a:endParaRPr lang="en-GB" altLang="en-US" sz="1000" i="0" baseline="0" dirty="0">
              <a:cs typeface="Times New Roman" panose="02020603050405020304" pitchFamily="18" charset="0"/>
            </a:endParaRPr>
          </a:p>
          <a:p>
            <a:pPr marL="0" indent="0">
              <a:spcBef>
                <a:spcPts val="300"/>
              </a:spcBef>
              <a:buFont typeface="Arial" panose="020B0604020202020204" pitchFamily="34" charset="0"/>
              <a:buNone/>
            </a:pPr>
            <a:endParaRPr lang="el-GR" altLang="en-US" sz="1000" i="1" dirty="0">
              <a:cs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F2F71563-F7CA-439D-8BF5-5911A52941BD}"/>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D01F4315-68A6-4B46-ABB3-93B10FA939A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in using formulae like </a:t>
            </a:r>
            <a:r>
              <a:rPr lang="en-GB" altLang="en-US" sz="1000" i="1" dirty="0"/>
              <a:t>p</a:t>
            </a:r>
            <a:r>
              <a:rPr lang="en-GB" altLang="en-US" sz="1000" dirty="0"/>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i="1" dirty="0" err="1">
                <a:cs typeface="Times New Roman" panose="02020603050405020304" pitchFamily="18" charset="0"/>
              </a:rPr>
              <a:t>gz</a:t>
            </a:r>
            <a:r>
              <a:rPr lang="en-GB" altLang="en-US" sz="1000" dirty="0">
                <a:cs typeface="Times New Roman" panose="02020603050405020304" pitchFamily="18" charset="0"/>
              </a:rPr>
              <a:t> care is required with units. In SI units we have </a:t>
            </a:r>
            <a:r>
              <a:rPr lang="en-GB" altLang="en-US" sz="1000" i="1" dirty="0">
                <a:cs typeface="Times New Roman" panose="02020603050405020304" pitchFamily="18" charset="0"/>
              </a:rPr>
              <a:t>p</a:t>
            </a:r>
            <a:r>
              <a:rPr lang="en-GB" altLang="en-US" sz="1000" dirty="0">
                <a:cs typeface="Times New Roman" panose="02020603050405020304" pitchFamily="18" charset="0"/>
              </a:rPr>
              <a:t> as Pa (= N/m</a:t>
            </a:r>
            <a:r>
              <a:rPr lang="en-GB" altLang="en-US" sz="1000" baseline="30000" dirty="0">
                <a:cs typeface="Times New Roman" panose="02020603050405020304" pitchFamily="18" charset="0"/>
              </a:rPr>
              <a:t>2</a:t>
            </a:r>
            <a:r>
              <a:rPr lang="en-GB" altLang="en-US" sz="1000" dirty="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dirty="0">
                <a:cs typeface="Times New Roman" panose="02020603050405020304" pitchFamily="18" charset="0"/>
              </a:rPr>
              <a:t> as kg/m</a:t>
            </a:r>
            <a:r>
              <a:rPr lang="en-GB" altLang="en-US" sz="1000" baseline="30000" dirty="0">
                <a:cs typeface="Times New Roman" panose="02020603050405020304" pitchFamily="18" charset="0"/>
              </a:rPr>
              <a:t>3</a:t>
            </a:r>
            <a:r>
              <a:rPr lang="en-GB" altLang="en-US" sz="1000" dirty="0">
                <a:cs typeface="Times New Roman" panose="02020603050405020304" pitchFamily="18" charset="0"/>
              </a:rPr>
              <a:t>, </a:t>
            </a:r>
            <a:r>
              <a:rPr lang="en-GB" altLang="en-US" sz="1000" i="1" dirty="0">
                <a:cs typeface="Times New Roman" panose="02020603050405020304" pitchFamily="18" charset="0"/>
              </a:rPr>
              <a:t>g</a:t>
            </a:r>
            <a:r>
              <a:rPr lang="en-GB" altLang="en-US" sz="1000" dirty="0">
                <a:cs typeface="Times New Roman" panose="02020603050405020304" pitchFamily="18" charset="0"/>
              </a:rPr>
              <a:t> as m/s</a:t>
            </a:r>
            <a:r>
              <a:rPr lang="en-GB" altLang="en-US" sz="1000" baseline="30000" dirty="0">
                <a:cs typeface="Times New Roman" panose="02020603050405020304" pitchFamily="18" charset="0"/>
              </a:rPr>
              <a:t>2</a:t>
            </a:r>
            <a:r>
              <a:rPr lang="en-GB" altLang="en-US" sz="1000" dirty="0">
                <a:cs typeface="Times New Roman" panose="02020603050405020304" pitchFamily="18" charset="0"/>
              </a:rPr>
              <a:t>, and </a:t>
            </a:r>
            <a:r>
              <a:rPr lang="en-GB" altLang="en-US" sz="1000" i="1" dirty="0">
                <a:cs typeface="Times New Roman" panose="02020603050405020304" pitchFamily="18" charset="0"/>
              </a:rPr>
              <a:t>z</a:t>
            </a:r>
            <a:r>
              <a:rPr lang="en-GB" altLang="en-US" sz="1000" dirty="0">
                <a:cs typeface="Times New Roman" panose="02020603050405020304" pitchFamily="18" charset="0"/>
              </a:rPr>
              <a:t> as m. It is best to work in these units to avoid confusion. However, you will get the same answer for </a:t>
            </a:r>
            <a:r>
              <a:rPr lang="en-GB" altLang="en-US" sz="1000" i="1" dirty="0">
                <a:cs typeface="Times New Roman" panose="02020603050405020304" pitchFamily="18" charset="0"/>
              </a:rPr>
              <a:t>p</a:t>
            </a:r>
            <a:r>
              <a:rPr lang="en-GB" altLang="en-US" sz="1000" dirty="0">
                <a:cs typeface="Times New Roman" panose="02020603050405020304" pitchFamily="18" charset="0"/>
              </a:rPr>
              <a:t> but in </a:t>
            </a:r>
            <a:r>
              <a:rPr lang="en-GB" altLang="en-US" sz="1000" dirty="0" err="1">
                <a:cs typeface="Times New Roman" panose="02020603050405020304" pitchFamily="18" charset="0"/>
              </a:rPr>
              <a:t>MPa</a:t>
            </a:r>
            <a:r>
              <a:rPr lang="en-GB" altLang="en-US" sz="1000" dirty="0">
                <a:cs typeface="Times New Roman" panose="02020603050405020304" pitchFamily="18" charset="0"/>
              </a:rPr>
              <a:t> if you use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dirty="0">
                <a:cs typeface="Times New Roman" panose="02020603050405020304" pitchFamily="18" charset="0"/>
              </a:rPr>
              <a:t> as g/cm</a:t>
            </a:r>
            <a:r>
              <a:rPr lang="en-GB" altLang="en-US" sz="1000" baseline="30000" dirty="0">
                <a:cs typeface="Times New Roman" panose="02020603050405020304" pitchFamily="18" charset="0"/>
              </a:rPr>
              <a:t>3</a:t>
            </a:r>
            <a:r>
              <a:rPr lang="en-GB" altLang="en-US" sz="1000" dirty="0">
                <a:cs typeface="Times New Roman" panose="02020603050405020304" pitchFamily="18" charset="0"/>
              </a:rPr>
              <a:t>, </a:t>
            </a:r>
            <a:r>
              <a:rPr lang="en-GB" altLang="en-US" sz="1000" i="1" dirty="0">
                <a:cs typeface="Times New Roman" panose="02020603050405020304" pitchFamily="18" charset="0"/>
              </a:rPr>
              <a:t>g</a:t>
            </a:r>
            <a:r>
              <a:rPr lang="en-GB" altLang="en-US" sz="1000" dirty="0">
                <a:cs typeface="Times New Roman" panose="02020603050405020304" pitchFamily="18" charset="0"/>
              </a:rPr>
              <a:t> as m/s</a:t>
            </a:r>
            <a:r>
              <a:rPr lang="en-GB" altLang="en-US" sz="1000" baseline="30000" dirty="0">
                <a:cs typeface="Times New Roman" panose="02020603050405020304" pitchFamily="18" charset="0"/>
              </a:rPr>
              <a:t>2</a:t>
            </a:r>
            <a:r>
              <a:rPr lang="en-GB" altLang="en-US" sz="1000" dirty="0">
                <a:cs typeface="Times New Roman" panose="02020603050405020304" pitchFamily="18" charset="0"/>
              </a:rPr>
              <a:t>, and </a:t>
            </a:r>
            <a:r>
              <a:rPr lang="en-GB" altLang="en-US" sz="1000" i="1" dirty="0">
                <a:cs typeface="Times New Roman" panose="02020603050405020304" pitchFamily="18" charset="0"/>
              </a:rPr>
              <a:t>z</a:t>
            </a:r>
            <a:r>
              <a:rPr lang="en-GB" altLang="en-US" sz="1000" dirty="0">
                <a:cs typeface="Times New Roman" panose="02020603050405020304" pitchFamily="18" charset="0"/>
              </a:rPr>
              <a:t> as km. </a:t>
            </a:r>
            <a:r>
              <a:rPr lang="en-GB" altLang="en-US" sz="1000" i="1" dirty="0">
                <a:cs typeface="Times New Roman" panose="02020603050405020304" pitchFamily="18" charset="0"/>
              </a:rPr>
              <a:t>E.g.</a:t>
            </a:r>
            <a:r>
              <a:rPr lang="en-GB" altLang="en-US" sz="1000" dirty="0">
                <a:cs typeface="Times New Roman" panose="02020603050405020304" pitchFamily="18" charset="0"/>
              </a:rPr>
              <a:t>, if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dirty="0">
                <a:cs typeface="Times New Roman" panose="02020603050405020304" pitchFamily="18" charset="0"/>
              </a:rPr>
              <a:t> = 2.5 g/cm</a:t>
            </a:r>
            <a:r>
              <a:rPr lang="en-GB" altLang="en-US" sz="1000" baseline="30000" dirty="0">
                <a:cs typeface="Times New Roman" panose="02020603050405020304" pitchFamily="18" charset="0"/>
              </a:rPr>
              <a:t>3</a:t>
            </a:r>
            <a:r>
              <a:rPr lang="en-GB" altLang="en-US" sz="1000" dirty="0">
                <a:cs typeface="Times New Roman" panose="02020603050405020304" pitchFamily="18" charset="0"/>
              </a:rPr>
              <a:t>, </a:t>
            </a:r>
            <a:r>
              <a:rPr lang="en-GB" altLang="en-US" sz="1000" i="1" dirty="0">
                <a:cs typeface="Times New Roman" panose="02020603050405020304" pitchFamily="18" charset="0"/>
              </a:rPr>
              <a:t>g</a:t>
            </a:r>
            <a:r>
              <a:rPr lang="en-GB" altLang="en-US" sz="1000" dirty="0">
                <a:cs typeface="Times New Roman" panose="02020603050405020304" pitchFamily="18" charset="0"/>
              </a:rPr>
              <a:t> = 10 m/s</a:t>
            </a:r>
            <a:r>
              <a:rPr lang="en-GB" altLang="en-US" sz="1000" baseline="30000" dirty="0">
                <a:cs typeface="Times New Roman" panose="02020603050405020304" pitchFamily="18" charset="0"/>
              </a:rPr>
              <a:t>2</a:t>
            </a:r>
            <a:r>
              <a:rPr lang="en-GB" altLang="en-US" sz="1000" dirty="0">
                <a:cs typeface="Times New Roman" panose="02020603050405020304" pitchFamily="18" charset="0"/>
              </a:rPr>
              <a:t>, and </a:t>
            </a:r>
            <a:r>
              <a:rPr lang="en-GB" altLang="en-US" sz="1000" i="1" dirty="0">
                <a:cs typeface="Times New Roman" panose="02020603050405020304" pitchFamily="18" charset="0"/>
              </a:rPr>
              <a:t>z</a:t>
            </a:r>
            <a:r>
              <a:rPr lang="en-GB" altLang="en-US" sz="1000" dirty="0">
                <a:cs typeface="Times New Roman" panose="02020603050405020304" pitchFamily="18" charset="0"/>
              </a:rPr>
              <a:t> = 4 km, then </a:t>
            </a:r>
            <a:r>
              <a:rPr lang="en-GB" altLang="en-US" sz="1000" i="1" dirty="0">
                <a:cs typeface="Times New Roman" panose="02020603050405020304" pitchFamily="18" charset="0"/>
              </a:rPr>
              <a:t>p</a:t>
            </a:r>
            <a:r>
              <a:rPr lang="en-GB" altLang="en-US" sz="1000" dirty="0">
                <a:cs typeface="Times New Roman" panose="02020603050405020304" pitchFamily="18" charset="0"/>
              </a:rPr>
              <a:t> = 100 </a:t>
            </a:r>
            <a:r>
              <a:rPr lang="en-GB" altLang="en-US" sz="1000" dirty="0" err="1">
                <a:cs typeface="Times New Roman" panose="02020603050405020304" pitchFamily="18" charset="0"/>
              </a:rPr>
              <a:t>MPa</a:t>
            </a:r>
            <a:r>
              <a:rPr lang="en-GB" altLang="en-US" sz="1000" dirty="0">
                <a:cs typeface="Times New Roman" panose="02020603050405020304" pitchFamily="18" charset="0"/>
              </a:rPr>
              <a:t>, or doing it properly with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dirty="0">
                <a:cs typeface="Times New Roman" panose="02020603050405020304" pitchFamily="18" charset="0"/>
              </a:rPr>
              <a:t> = 2500 kg/m</a:t>
            </a:r>
            <a:r>
              <a:rPr lang="en-GB" altLang="en-US" sz="1000" baseline="30000" dirty="0">
                <a:cs typeface="Times New Roman" panose="02020603050405020304" pitchFamily="18" charset="0"/>
              </a:rPr>
              <a:t>3</a:t>
            </a:r>
            <a:r>
              <a:rPr lang="en-GB" altLang="en-US" sz="1000" dirty="0">
                <a:cs typeface="Times New Roman" panose="02020603050405020304" pitchFamily="18" charset="0"/>
              </a:rPr>
              <a:t>, </a:t>
            </a:r>
            <a:r>
              <a:rPr lang="en-GB" altLang="en-US" sz="1000" i="1" dirty="0">
                <a:cs typeface="Times New Roman" panose="02020603050405020304" pitchFamily="18" charset="0"/>
              </a:rPr>
              <a:t>g</a:t>
            </a:r>
            <a:r>
              <a:rPr lang="en-GB" altLang="en-US" sz="1000" dirty="0">
                <a:cs typeface="Times New Roman" panose="02020603050405020304" pitchFamily="18" charset="0"/>
              </a:rPr>
              <a:t> = 10 m/s</a:t>
            </a:r>
            <a:r>
              <a:rPr lang="en-GB" altLang="en-US" sz="1000" baseline="30000" dirty="0">
                <a:cs typeface="Times New Roman" panose="02020603050405020304" pitchFamily="18" charset="0"/>
              </a:rPr>
              <a:t>2</a:t>
            </a:r>
            <a:r>
              <a:rPr lang="en-GB" altLang="en-US" sz="1000" dirty="0">
                <a:cs typeface="Times New Roman" panose="02020603050405020304" pitchFamily="18" charset="0"/>
              </a:rPr>
              <a:t>, and </a:t>
            </a:r>
            <a:r>
              <a:rPr lang="en-GB" altLang="en-US" sz="1000" i="1" dirty="0">
                <a:cs typeface="Times New Roman" panose="02020603050405020304" pitchFamily="18" charset="0"/>
              </a:rPr>
              <a:t>z</a:t>
            </a:r>
            <a:r>
              <a:rPr lang="en-GB" altLang="en-US" sz="1000" dirty="0">
                <a:cs typeface="Times New Roman" panose="02020603050405020304" pitchFamily="18" charset="0"/>
              </a:rPr>
              <a:t> = 4000 m, then </a:t>
            </a:r>
            <a:r>
              <a:rPr lang="en-GB" altLang="en-US" sz="1000" i="1" dirty="0">
                <a:cs typeface="Times New Roman" panose="02020603050405020304" pitchFamily="18" charset="0"/>
              </a:rPr>
              <a:t>p</a:t>
            </a:r>
            <a:r>
              <a:rPr lang="en-GB" altLang="en-US" sz="1000" dirty="0">
                <a:cs typeface="Times New Roman" panose="02020603050405020304" pitchFamily="18" charset="0"/>
              </a:rPr>
              <a:t> = 10</a:t>
            </a:r>
            <a:r>
              <a:rPr lang="en-GB" altLang="en-US" sz="1000" spc="150" baseline="0" dirty="0">
                <a:cs typeface="Times New Roman" panose="02020603050405020304" pitchFamily="18" charset="0"/>
              </a:rPr>
              <a:t>0</a:t>
            </a:r>
            <a:r>
              <a:rPr lang="en-US" altLang="en-US" sz="1000" spc="100" baseline="0" dirty="0">
                <a:cs typeface="Times New Roman" panose="02020603050405020304" pitchFamily="18" charset="0"/>
              </a:rPr>
              <a:t>×</a:t>
            </a:r>
            <a:r>
              <a:rPr lang="en-US" altLang="en-US" sz="1000" dirty="0">
                <a:cs typeface="Times New Roman" panose="02020603050405020304" pitchFamily="18" charset="0"/>
              </a:rPr>
              <a:t>10</a:t>
            </a:r>
            <a:r>
              <a:rPr lang="en-US" altLang="en-US" sz="1000" baseline="30000" dirty="0">
                <a:cs typeface="Times New Roman" panose="02020603050405020304" pitchFamily="18" charset="0"/>
              </a:rPr>
              <a:t>6</a:t>
            </a:r>
            <a:r>
              <a:rPr lang="en-GB" altLang="en-US" sz="1000" dirty="0">
                <a:cs typeface="Times New Roman" panose="02020603050405020304" pitchFamily="18" charset="0"/>
              </a:rPr>
              <a:t> Pa = 100 MPa</a:t>
            </a:r>
            <a:endParaRPr lang="el-GR" altLang="en-US" sz="1000" dirty="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t>Over-pressured pore fluids are defined as pore fluids with a pore fluid pressure greater than </a:t>
            </a:r>
            <a:r>
              <a:rPr lang="en-GB" altLang="en-US" sz="1000" i="1" dirty="0" err="1"/>
              <a:t>gz</a:t>
            </a:r>
            <a:r>
              <a:rPr lang="en-GB" altLang="en-US" sz="1000" dirty="0"/>
              <a:t>. Pore fluid pressure cannot exceed lithostatic pressure (or not by very much) because then the effective pressure</a:t>
            </a:r>
            <a:r>
              <a:rPr lang="en-GB" altLang="en-US" sz="1000" dirty="0">
                <a:cs typeface="Times New Roman" panose="02020603050405020304" pitchFamily="18" charset="0"/>
              </a:rPr>
              <a:t> would be tensile and rocks are weak in tension – if pore fluid pressure exceeds lithostatic pressure the rock fractures</a:t>
            </a:r>
            <a:endParaRPr lang="el-GR" altLang="en-US" sz="1000" dirty="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t>Over-pressuring is important for borehole engineers because it may mean that the over-pressured rocks are poorly compacted/cemented and hence that the borehole is liable to collapse. Moreover, if a borehole penetrates an over-pressured fluid reservoir, the fluid will erupt to the surface</a:t>
            </a:r>
          </a:p>
          <a:p>
            <a:pPr marL="108000" indent="-108000">
              <a:spcBef>
                <a:spcPts val="300"/>
              </a:spcBef>
              <a:buFont typeface="Arial" panose="020B0604020202020204" pitchFamily="34" charset="0"/>
              <a:buChar char="•"/>
            </a:pPr>
            <a:r>
              <a:rPr lang="en-GB" altLang="en-US" sz="1000" dirty="0"/>
              <a:t>Figure from Fossen, p.87. Note that the red data show over-pressured pore fluids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817B2793-63F6-4114-806B-0A42A849ACD5}"/>
              </a:ext>
            </a:extLst>
          </p:cNvPr>
          <p:cNvSpPr>
            <a:spLocks noGrp="1" noRot="1" noChangeAspect="1" noChangeArrowheads="1" noTextEdit="1"/>
          </p:cNvSpPr>
          <p:nvPr>
            <p:ph type="sldImg"/>
          </p:nvPr>
        </p:nvSpPr>
        <p:spPr>
          <a:ln/>
        </p:spPr>
      </p:sp>
      <p:sp>
        <p:nvSpPr>
          <p:cNvPr id="262147" name="Rectangle 3">
            <a:extLst>
              <a:ext uri="{FF2B5EF4-FFF2-40B4-BE49-F238E27FC236}">
                <a16:creationId xmlns:a16="http://schemas.microsoft.com/office/drawing/2014/main" id="{776E5CD5-3C91-442C-A656-E59117BC04C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Reference states are important for defining the state of stress with depth in circumstances where there are no tectonic stresses. They are then the starting point for considering what happens when a tectonic stress is added. The lithostatic depth variation of stress described on the previous two slides is effectively a reference state, although not one that provides a good indication of horizontal stresses</a:t>
            </a:r>
          </a:p>
          <a:p>
            <a:pPr marL="108000" indent="-108000">
              <a:spcBef>
                <a:spcPts val="300"/>
              </a:spcBef>
              <a:buFont typeface="Arial" panose="020B0604020202020204" pitchFamily="34" charset="0"/>
              <a:buChar char="•"/>
            </a:pPr>
            <a:r>
              <a:rPr lang="en-GB" altLang="en-US" sz="1000" dirty="0"/>
              <a:t>The uniaxial reference state equation on this slide is one that is widely employed to constrain the magnitude of the horizontal stresses for elastically isotropic materials. It is straightforwardly derived (from the equations for elastic deformation - </a:t>
            </a:r>
            <a:r>
              <a:rPr lang="en-GB" altLang="en-US" sz="1000" dirty="0">
                <a:cs typeface="Times New Roman" panose="02020603050405020304" pitchFamily="18" charset="0"/>
              </a:rPr>
              <a:t>see Optional PowerPoint presentation Slides 10-11) </a:t>
            </a:r>
            <a:r>
              <a:rPr lang="en-GB" altLang="en-US" sz="1000" dirty="0"/>
              <a:t>if one recalls that the strain in given direction (here the H direction) comprises three components: the strain produced by the stress in that direction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ε</a:t>
            </a:r>
            <a:r>
              <a:rPr lang="en-GB" altLang="en-US" sz="1000" baseline="-25000" dirty="0">
                <a:cs typeface="Times New Roman" panose="02020603050405020304" pitchFamily="18" charset="0"/>
              </a:rPr>
              <a:t>H1 </a:t>
            </a:r>
            <a:r>
              <a:rPr lang="en-GB" altLang="en-US" sz="1000" dirty="0">
                <a:cs typeface="Times New Roman" panose="02020603050405020304" pitchFamily="18" charset="0"/>
              </a:rPr>
              <a:t>= </a:t>
            </a:r>
            <a:r>
              <a:rPr lang="el-GR" altLang="en-US" sz="1000" i="1" dirty="0">
                <a:cs typeface="Times New Roman" panose="02020603050405020304" pitchFamily="18" charset="0"/>
              </a:rPr>
              <a:t>σ</a:t>
            </a:r>
            <a:r>
              <a:rPr lang="en-GB" altLang="en-US" sz="1000" baseline="-25000" dirty="0">
                <a:cs typeface="Times New Roman" panose="02020603050405020304" pitchFamily="18" charset="0"/>
              </a:rPr>
              <a:t>H </a:t>
            </a:r>
            <a:r>
              <a:rPr lang="en-GB" altLang="en-US" sz="1000" dirty="0">
                <a:cs typeface="Times New Roman" panose="02020603050405020304" pitchFamily="18" charset="0"/>
              </a:rPr>
              <a:t>/ </a:t>
            </a:r>
            <a:r>
              <a:rPr lang="en-GB" altLang="en-US" sz="1000" i="1" dirty="0">
                <a:cs typeface="Times New Roman" panose="02020603050405020304" pitchFamily="18" charset="0"/>
              </a:rPr>
              <a:t>E </a:t>
            </a:r>
            <a:r>
              <a:rPr lang="en-GB" altLang="en-US" sz="1000" dirty="0">
                <a:cs typeface="Times New Roman" panose="02020603050405020304" pitchFamily="18" charset="0"/>
              </a:rPr>
              <a:t>) less the expansion arising from the Poisson effect induced by the stresses applied in the other two orthogonal directions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ε</a:t>
            </a:r>
            <a:r>
              <a:rPr lang="en-GB" altLang="en-US" sz="1000" baseline="-25000" dirty="0">
                <a:cs typeface="Times New Roman" panose="02020603050405020304" pitchFamily="18" charset="0"/>
              </a:rPr>
              <a:t>H2 </a:t>
            </a:r>
            <a:r>
              <a:rPr lang="en-GB" altLang="en-US" sz="1000" dirty="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νε</a:t>
            </a:r>
            <a:r>
              <a:rPr lang="en-GB" altLang="en-US" sz="1000" baseline="-25000" dirty="0">
                <a:cs typeface="Times New Roman" panose="02020603050405020304" pitchFamily="18" charset="0"/>
              </a:rPr>
              <a:t>V </a:t>
            </a:r>
            <a:r>
              <a:rPr lang="en-GB" altLang="en-US" sz="1000" dirty="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νσ</a:t>
            </a:r>
            <a:r>
              <a:rPr lang="en-GB" altLang="en-US" sz="1000" baseline="-25000" dirty="0">
                <a:cs typeface="Times New Roman" panose="02020603050405020304" pitchFamily="18" charset="0"/>
              </a:rPr>
              <a:t>V </a:t>
            </a:r>
            <a:r>
              <a:rPr lang="en-GB" altLang="en-US" sz="1000" dirty="0">
                <a:cs typeface="Times New Roman" panose="02020603050405020304" pitchFamily="18" charset="0"/>
              </a:rPr>
              <a:t>/</a:t>
            </a:r>
            <a:r>
              <a:rPr lang="en-GB" altLang="en-US" sz="1000" i="1" dirty="0">
                <a:cs typeface="Times New Roman" panose="02020603050405020304" pitchFamily="18" charset="0"/>
              </a:rPr>
              <a:t>E</a:t>
            </a:r>
            <a:r>
              <a:rPr lang="en-GB" altLang="en-US" sz="1000" dirty="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ε</a:t>
            </a:r>
            <a:r>
              <a:rPr lang="en-GB" altLang="en-US" sz="1000" baseline="-25000" dirty="0">
                <a:cs typeface="Times New Roman" panose="02020603050405020304" pitchFamily="18" charset="0"/>
              </a:rPr>
              <a:t>H3 </a:t>
            </a:r>
            <a:r>
              <a:rPr lang="en-GB" altLang="en-US" sz="1000" dirty="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νσ</a:t>
            </a:r>
            <a:r>
              <a:rPr lang="en-GB" altLang="en-US" sz="1000" baseline="-25000" dirty="0">
                <a:cs typeface="Times New Roman" panose="02020603050405020304" pitchFamily="18" charset="0"/>
              </a:rPr>
              <a:t>h </a:t>
            </a:r>
            <a:r>
              <a:rPr lang="en-GB" altLang="en-US" sz="1000" dirty="0">
                <a:cs typeface="Times New Roman" panose="02020603050405020304" pitchFamily="18" charset="0"/>
              </a:rPr>
              <a:t>/</a:t>
            </a:r>
            <a:r>
              <a:rPr lang="en-GB" altLang="en-US" sz="1000" i="1" dirty="0">
                <a:cs typeface="Times New Roman" panose="02020603050405020304" pitchFamily="18" charset="0"/>
              </a:rPr>
              <a:t>E</a:t>
            </a:r>
            <a:r>
              <a:rPr lang="en-GB" altLang="en-US" sz="1000" dirty="0">
                <a:cs typeface="Times New Roman" panose="02020603050405020304" pitchFamily="18" charset="0"/>
              </a:rPr>
              <a:t> ), where </a:t>
            </a:r>
            <a:r>
              <a:rPr lang="en-GB" altLang="en-US" sz="1000" i="1" dirty="0">
                <a:cs typeface="Times New Roman" panose="02020603050405020304" pitchFamily="18" charset="0"/>
              </a:rPr>
              <a:t>E</a:t>
            </a:r>
            <a:r>
              <a:rPr lang="en-GB" altLang="en-US" sz="1000" dirty="0">
                <a:cs typeface="Times New Roman" panose="02020603050405020304" pitchFamily="18" charset="0"/>
              </a:rPr>
              <a:t> is the Young’s modulus of the rock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cs typeface="Times New Roman" panose="02020603050405020304" pitchFamily="18" charset="0"/>
              </a:rPr>
              <a:t> is Poisson’s ratio of the rock. Hence</a:t>
            </a:r>
          </a:p>
          <a:p>
            <a:pPr marL="0" indent="0">
              <a:spcBef>
                <a:spcPts val="300"/>
              </a:spcBef>
              <a:buFont typeface="Arial" panose="020B0604020202020204" pitchFamily="34" charset="0"/>
              <a:buNone/>
            </a:pPr>
            <a:r>
              <a:rPr lang="en-GB" altLang="en-US" sz="1000" dirty="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ε</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ε</a:t>
            </a:r>
            <a:r>
              <a:rPr lang="en-GB" altLang="en-US" sz="1000" baseline="-25000" dirty="0">
                <a:cs typeface="Times New Roman" panose="02020603050405020304" pitchFamily="18" charset="0"/>
              </a:rPr>
              <a:t>H1</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ε</a:t>
            </a:r>
            <a:r>
              <a:rPr lang="en-GB" altLang="en-US" sz="1000" baseline="-25000" dirty="0">
                <a:cs typeface="Times New Roman" panose="02020603050405020304" pitchFamily="18" charset="0"/>
              </a:rPr>
              <a:t>H2</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ε</a:t>
            </a:r>
            <a:r>
              <a:rPr lang="en-GB" altLang="en-US" sz="1000" baseline="-25000" dirty="0">
                <a:cs typeface="Times New Roman" panose="02020603050405020304" pitchFamily="18" charset="0"/>
              </a:rPr>
              <a:t>H3</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a:t>
            </a:r>
            <a:r>
              <a:rPr lang="en-GB" altLang="en-US" sz="1000" i="1" dirty="0">
                <a:cs typeface="Times New Roman" panose="02020603050405020304" pitchFamily="18" charset="0"/>
              </a:rPr>
              <a:t>E </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a:t>
            </a:r>
            <a:r>
              <a:rPr lang="en-GB" altLang="en-US" sz="1000" i="1" dirty="0">
                <a:cs typeface="Times New Roman" panose="02020603050405020304" pitchFamily="18" charset="0"/>
              </a:rPr>
              <a:t>E </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a:t>
            </a:r>
            <a:r>
              <a:rPr lang="en-GB" altLang="en-US" sz="1000" i="1" dirty="0">
                <a:cs typeface="Times New Roman" panose="02020603050405020304" pitchFamily="18" charset="0"/>
              </a:rPr>
              <a:t>E </a:t>
            </a:r>
            <a:r>
              <a:rPr lang="en-GB" altLang="en-US" sz="1000" dirty="0">
                <a:cs typeface="Times New Roman" panose="02020603050405020304" pitchFamily="18" charset="0"/>
              </a:rPr>
              <a:t>)  =  (1/</a:t>
            </a:r>
            <a:r>
              <a:rPr lang="en-GB" altLang="en-US" sz="1000" i="1" dirty="0">
                <a:cs typeface="Times New Roman" panose="02020603050405020304" pitchFamily="18" charset="0"/>
              </a:rPr>
              <a:t>E </a:t>
            </a:r>
            <a:r>
              <a:rPr lang="en-GB" altLang="en-US" sz="1000" dirty="0">
                <a:cs typeface="Times New Roman" panose="02020603050405020304" pitchFamily="18" charset="0"/>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cs typeface="Times New Roman" panose="02020603050405020304" pitchFamily="18" charset="0"/>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a:t>
            </a:r>
            <a:endParaRPr lang="el-GR" altLang="en-US" sz="1000" dirty="0">
              <a:cs typeface="Times New Roman" panose="02020603050405020304" pitchFamily="18" charset="0"/>
            </a:endParaRPr>
          </a:p>
          <a:p>
            <a:pPr marL="108000" indent="0">
              <a:spcBef>
                <a:spcPts val="300"/>
              </a:spcBef>
              <a:buFont typeface="Arial" panose="020B0604020202020204" pitchFamily="34" charset="0"/>
              <a:buNone/>
            </a:pPr>
            <a:r>
              <a:rPr lang="en-GB" altLang="en-US" sz="1000" dirty="0"/>
              <a:t>If we require that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ε</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0 (no strain in the H direction) then</a:t>
            </a:r>
          </a:p>
          <a:p>
            <a:pPr marL="0" indent="0">
              <a:spcBef>
                <a:spcPts val="300"/>
              </a:spcBef>
              <a:buFont typeface="Arial" panose="020B0604020202020204" pitchFamily="34" charset="0"/>
              <a:buNone/>
            </a:pPr>
            <a:r>
              <a:rPr lang="en-GB" altLang="en-US" sz="1000" dirty="0">
                <a:cs typeface="Times New Roman" panose="02020603050405020304" pitchFamily="18" charset="0"/>
              </a:rPr>
              <a:t>		0  =  (1/</a:t>
            </a:r>
            <a:r>
              <a:rPr lang="en-GB" altLang="en-US" sz="1000" i="1" dirty="0">
                <a:cs typeface="Times New Roman" panose="02020603050405020304" pitchFamily="18" charset="0"/>
              </a:rPr>
              <a:t>E </a:t>
            </a:r>
            <a:r>
              <a:rPr lang="en-GB" altLang="en-US" sz="1000" dirty="0">
                <a:cs typeface="Times New Roman" panose="02020603050405020304" pitchFamily="18" charset="0"/>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cs typeface="Times New Roman" panose="02020603050405020304" pitchFamily="18" charset="0"/>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a:t>
            </a:r>
          </a:p>
          <a:p>
            <a:pPr marL="108000" indent="0">
              <a:spcBef>
                <a:spcPts val="300"/>
              </a:spcBef>
              <a:buFont typeface="Arial" panose="020B0604020202020204" pitchFamily="34" charset="0"/>
              <a:buNone/>
            </a:pPr>
            <a:r>
              <a:rPr lang="en-GB" altLang="en-US" sz="1000" dirty="0">
                <a:cs typeface="Times New Roman" panose="02020603050405020304" pitchFamily="18" charset="0"/>
              </a:rPr>
              <a:t>Since (1/</a:t>
            </a:r>
            <a:r>
              <a:rPr lang="en-GB" altLang="en-US" sz="1000" i="1" dirty="0">
                <a:cs typeface="Times New Roman" panose="02020603050405020304" pitchFamily="18" charset="0"/>
              </a:rPr>
              <a:t>E </a:t>
            </a:r>
            <a:r>
              <a:rPr lang="en-GB" altLang="en-US" sz="1000" dirty="0">
                <a:cs typeface="Times New Roman" panose="02020603050405020304" pitchFamily="18" charset="0"/>
              </a:rPr>
              <a:t>) is not zero,</a:t>
            </a:r>
          </a:p>
          <a:p>
            <a:pPr marL="0" indent="0">
              <a:spcBef>
                <a:spcPts val="300"/>
              </a:spcBef>
              <a:buFont typeface="Arial" panose="020B0604020202020204" pitchFamily="34" charset="0"/>
              <a:buNone/>
            </a:pPr>
            <a:r>
              <a:rPr lang="en-GB" altLang="en-US" sz="1000" dirty="0">
                <a:cs typeface="Times New Roman" panose="02020603050405020304" pitchFamily="18" charset="0"/>
              </a:rPr>
              <a:t>		0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cs typeface="Times New Roman" panose="02020603050405020304" pitchFamily="18" charset="0"/>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a:t>
            </a:r>
          </a:p>
          <a:p>
            <a:pPr marL="108000" indent="0">
              <a:spcBef>
                <a:spcPts val="300"/>
              </a:spcBef>
              <a:buFont typeface="Arial" panose="020B0604020202020204" pitchFamily="34" charset="0"/>
              <a:buNone/>
            </a:pPr>
            <a:r>
              <a:rPr lang="en-GB" altLang="en-US" sz="1000" dirty="0">
                <a:cs typeface="Times New Roman" panose="02020603050405020304" pitchFamily="18" charset="0"/>
              </a:rPr>
              <a:t>Letting </a:t>
            </a:r>
            <a:r>
              <a:rPr lang="el-GR" altLang="en-US" sz="1000" i="1" dirty="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(because in the uniaxial reference state the stress is the same in all horizontal directions) and rearranging</a:t>
            </a:r>
          </a:p>
          <a:p>
            <a:pPr marL="0" indent="0">
              <a:spcBef>
                <a:spcPts val="300"/>
              </a:spcBef>
              <a:buFont typeface="Arial" panose="020B0604020202020204" pitchFamily="34" charset="0"/>
              <a:buNone/>
            </a:pPr>
            <a:r>
              <a:rPr lang="en-GB" altLang="en-US" sz="1000" dirty="0">
                <a:cs typeface="Times New Roman" panose="02020603050405020304" pitchFamily="18" charset="0"/>
              </a:rPr>
              <a:t>		0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cs typeface="Times New Roman" panose="02020603050405020304" pitchFamily="18" charset="0"/>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cs typeface="Times New Roman" panose="02020603050405020304" pitchFamily="18" charset="0"/>
              </a:rPr>
              <a:t>ν</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i="1" dirty="0">
                <a:latin typeface="Cambria Math" panose="02040503050406030204" pitchFamily="18" charset="0"/>
                <a:ea typeface="Cambria Math" panose="02040503050406030204" pitchFamily="18" charset="0"/>
                <a:cs typeface="Times New Roman" panose="02020603050405020304" pitchFamily="18" charset="0"/>
              </a:rPr>
              <a:t> </a:t>
            </a:r>
            <a:r>
              <a:rPr lang="en-GB" altLang="en-US" sz="1000" dirty="0">
                <a:cs typeface="Times New Roman" panose="02020603050405020304" pitchFamily="18" charset="0"/>
              </a:rPr>
              <a:t>/ (1 -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endParaRPr lang="en-GB" altLang="en-US" sz="1000" dirty="0"/>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For the inclusion of the temperature term in the above derivation, see </a:t>
            </a:r>
            <a:r>
              <a:rPr lang="en-GB" altLang="en-US" sz="1000" dirty="0" err="1"/>
              <a:t>Haxby</a:t>
            </a:r>
            <a:r>
              <a:rPr lang="en-GB" altLang="en-US" sz="1000" dirty="0"/>
              <a:t> &amp; Turcotte, 1976, </a:t>
            </a:r>
            <a:r>
              <a:rPr lang="en-GB" altLang="en-US" sz="1000" i="1" dirty="0"/>
              <a:t>Geology</a:t>
            </a:r>
            <a:r>
              <a:rPr lang="en-GB" altLang="en-US" sz="1000" dirty="0"/>
              <a:t> 4: 181-184, </a:t>
            </a:r>
            <a:r>
              <a:rPr lang="en-GB" sz="1000" dirty="0"/>
              <a:t>https://doi.org/10.1130/0091-7613(1976)4&lt;181:SIBTAO&gt;2.0.CO;2</a:t>
            </a:r>
            <a:endParaRPr lang="en-GB" altLang="en-US" sz="1000" dirty="0"/>
          </a:p>
          <a:p>
            <a:pPr marL="108000" indent="-108000">
              <a:spcBef>
                <a:spcPts val="300"/>
              </a:spcBef>
              <a:buFont typeface="Arial" panose="020B0604020202020204" pitchFamily="34" charset="0"/>
              <a:buChar char="•"/>
            </a:pPr>
            <a:r>
              <a:rPr lang="en-GB" altLang="en-US" sz="1000" dirty="0"/>
              <a:t>The figure is from Fossen, p.89</a:t>
            </a:r>
          </a:p>
          <a:p>
            <a:pPr marL="0" indent="0">
              <a:buFont typeface="Arial" panose="020B0604020202020204" pitchFamily="34" charset="0"/>
              <a:buNone/>
            </a:pPr>
            <a:endParaRPr lang="en-GB" altLang="en-US" sz="10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11C53E98-A266-4174-B064-4F0BE362CC68}"/>
              </a:ext>
            </a:extLst>
          </p:cNvPr>
          <p:cNvSpPr>
            <a:spLocks noGrp="1" noRot="1" noChangeAspect="1" noChangeArrowheads="1" noTextEdit="1"/>
          </p:cNvSpPr>
          <p:nvPr>
            <p:ph type="sldImg"/>
          </p:nvPr>
        </p:nvSpPr>
        <p:spPr>
          <a:ln/>
        </p:spPr>
      </p:sp>
      <p:sp>
        <p:nvSpPr>
          <p:cNvPr id="284675" name="Rectangle 3">
            <a:extLst>
              <a:ext uri="{FF2B5EF4-FFF2-40B4-BE49-F238E27FC236}">
                <a16:creationId xmlns:a16="http://schemas.microsoft.com/office/drawing/2014/main" id="{964B0288-5955-4803-90C3-0D9981E26CD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Note that this analysis assumes the uniaxial strain reference state, that is, it is only applicable when there is no lateral strain. The model incorporates a crude account of the variation of elastic properties with depth (that is, the variation of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i="1" dirty="0">
                <a:latin typeface="Times New Roman" panose="02020603050405020304" pitchFamily="18" charset="0"/>
                <a:cs typeface="Times New Roman" panose="02020603050405020304" pitchFamily="18" charset="0"/>
              </a:rPr>
              <a:t> </a:t>
            </a:r>
            <a:r>
              <a:rPr lang="en-GB" altLang="en-US" sz="1000" i="0" dirty="0">
                <a:latin typeface="Times New Roman" panose="02020603050405020304" pitchFamily="18" charset="0"/>
                <a:cs typeface="Times New Roman" panose="02020603050405020304" pitchFamily="18" charset="0"/>
              </a:rPr>
              <a:t>and implicitly, </a:t>
            </a:r>
            <a:r>
              <a:rPr lang="en-GB" altLang="en-US" sz="1000" i="1" dirty="0">
                <a:latin typeface="Times New Roman" panose="02020603050405020304" pitchFamily="18" charset="0"/>
                <a:cs typeface="Times New Roman" panose="02020603050405020304" pitchFamily="18" charset="0"/>
              </a:rPr>
              <a:t>E</a:t>
            </a:r>
            <a:r>
              <a:rPr lang="en-GB" altLang="en-US" sz="1000" i="0" dirty="0">
                <a:latin typeface="Times New Roman" panose="02020603050405020304" pitchFamily="18" charset="0"/>
                <a:cs typeface="Times New Roman" panose="02020603050405020304" pitchFamily="18" charset="0"/>
              </a:rPr>
              <a:t> – see notes to previous slide</a:t>
            </a:r>
            <a:r>
              <a:rPr lang="en-GB" altLang="en-US" sz="1000" dirty="0">
                <a:latin typeface="Times New Roman" panose="02020603050405020304" pitchFamily="18" charset="0"/>
                <a:cs typeface="Times New Roman" panose="02020603050405020304" pitchFamily="18" charset="0"/>
              </a:rPr>
              <a:t>), it neglects pore pressure effects, and it assumes that lithification occurs instantaneously at maximum burial depth so that there is one set of elastic properties for burial and one set for uplift. These simplifications mean that the model has illustrative value only. For further discussion about the model, see </a:t>
            </a:r>
            <a:r>
              <a:rPr lang="en-GB" altLang="en-US" sz="1000" dirty="0" err="1">
                <a:latin typeface="Times New Roman" panose="02020603050405020304" pitchFamily="18" charset="0"/>
                <a:cs typeface="Times New Roman" panose="02020603050405020304" pitchFamily="18" charset="0"/>
              </a:rPr>
              <a:t>Engelder</a:t>
            </a:r>
            <a:r>
              <a:rPr lang="en-GB" altLang="en-US" sz="1000" dirty="0">
                <a:latin typeface="Times New Roman" panose="02020603050405020304" pitchFamily="18" charset="0"/>
                <a:cs typeface="Times New Roman" panose="02020603050405020304" pitchFamily="18" charset="0"/>
              </a:rPr>
              <a:t>, 1985,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dirty="0">
                <a:latin typeface="Times New Roman" panose="02020603050405020304" pitchFamily="18" charset="0"/>
                <a:cs typeface="Times New Roman" panose="02020603050405020304" pitchFamily="18" charset="0"/>
              </a:rPr>
              <a:t> 7: 459-476, </a:t>
            </a:r>
            <a:r>
              <a:rPr lang="en-GB" sz="1200" dirty="0"/>
              <a:t>https://doi.org/10.1016/0191-8141(85)90049-5</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from Fossen, p.92</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 right (Steve Covey-Crump): fractures in sandstone units within the Bishopston Mudstone Formation of late </a:t>
            </a:r>
            <a:r>
              <a:rPr lang="en-GB" altLang="en-US" sz="1000" dirty="0" err="1">
                <a:latin typeface="Times New Roman" panose="02020603050405020304" pitchFamily="18" charset="0"/>
                <a:cs typeface="Times New Roman" panose="02020603050405020304" pitchFamily="18" charset="0"/>
              </a:rPr>
              <a:t>Marsdenia</a:t>
            </a:r>
            <a:r>
              <a:rPr lang="en-GB" altLang="en-US" sz="1000" spc="150" baseline="0" dirty="0" err="1">
                <a:latin typeface="Times New Roman" panose="02020603050405020304" pitchFamily="18" charset="0"/>
                <a:cs typeface="Times New Roman" panose="02020603050405020304" pitchFamily="18" charset="0"/>
              </a:rPr>
              <a:t>n</a:t>
            </a:r>
            <a:r>
              <a:rPr lang="en-GB" altLang="en-US" sz="1000" spc="150" baseline="0"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early </a:t>
            </a:r>
            <a:r>
              <a:rPr lang="en-GB" altLang="en-US" sz="1000" dirty="0" err="1">
                <a:latin typeface="Times New Roman" panose="02020603050405020304" pitchFamily="18" charset="0"/>
                <a:cs typeface="Times New Roman" panose="02020603050405020304" pitchFamily="18" charset="0"/>
              </a:rPr>
              <a:t>Yeadonian</a:t>
            </a:r>
            <a:r>
              <a:rPr lang="en-GB" altLang="en-US" sz="1000" dirty="0">
                <a:latin typeface="Times New Roman" panose="02020603050405020304" pitchFamily="18" charset="0"/>
                <a:cs typeface="Times New Roman" panose="02020603050405020304" pitchFamily="18" charset="0"/>
              </a:rPr>
              <a:t> age, </a:t>
            </a:r>
            <a:r>
              <a:rPr lang="en-GB" altLang="en-US" sz="1000" dirty="0" err="1">
                <a:latin typeface="Times New Roman" panose="02020603050405020304" pitchFamily="18" charset="0"/>
                <a:cs typeface="Times New Roman" panose="02020603050405020304" pitchFamily="18" charset="0"/>
              </a:rPr>
              <a:t>Telpyn</a:t>
            </a:r>
            <a:r>
              <a:rPr lang="en-GB" altLang="en-US" sz="1000" dirty="0">
                <a:latin typeface="Times New Roman" panose="02020603050405020304" pitchFamily="18" charset="0"/>
                <a:cs typeface="Times New Roman" panose="02020603050405020304" pitchFamily="18" charset="0"/>
              </a:rPr>
              <a:t> Point, Amroth, Pembrokeshire. Could these be fractures formed as the horizontal stresses became tensional in the sandstones during uplift and exhumation?</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736961D0-7F60-4733-8953-2D4C97C9637D}"/>
              </a:ext>
            </a:extLst>
          </p:cNvPr>
          <p:cNvSpPr>
            <a:spLocks noGrp="1" noRot="1" noChangeAspect="1" noChangeArrowheads="1" noTextEdit="1"/>
          </p:cNvSpPr>
          <p:nvPr>
            <p:ph type="sldImg"/>
          </p:nvPr>
        </p:nvSpPr>
        <p:spPr>
          <a:ln/>
        </p:spPr>
      </p:sp>
      <p:sp>
        <p:nvSpPr>
          <p:cNvPr id="286723" name="Rectangle 3">
            <a:extLst>
              <a:ext uri="{FF2B5EF4-FFF2-40B4-BE49-F238E27FC236}">
                <a16:creationId xmlns:a16="http://schemas.microsoft.com/office/drawing/2014/main" id="{C72CCD3D-4A1B-48C2-A9AD-43C023499325}"/>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The derivation (which is straightforward) of the equation shown on this slide for the constant horizontal stress reference state is given by </a:t>
            </a:r>
            <a:r>
              <a:rPr lang="en-GB" altLang="en-US" sz="1000" dirty="0" err="1"/>
              <a:t>McGarr</a:t>
            </a:r>
            <a:r>
              <a:rPr lang="en-GB" altLang="en-US" sz="1000" dirty="0"/>
              <a:t>, 1988, </a:t>
            </a:r>
            <a:r>
              <a:rPr lang="en-GB" altLang="en-US" sz="1000" i="1" dirty="0"/>
              <a:t>Journal of Geophysical Research</a:t>
            </a:r>
            <a:r>
              <a:rPr lang="en-GB" altLang="en-US" sz="1000" dirty="0"/>
              <a:t> 93: 13609-13617, </a:t>
            </a:r>
            <a:r>
              <a:rPr lang="en-GB" sz="1000" dirty="0"/>
              <a:t>https://doi.org/10.1029/JB093iB11p13609</a:t>
            </a:r>
            <a:r>
              <a:rPr lang="en-GB" altLang="en-US" sz="1000" dirty="0"/>
              <a:t>. Note that the horizontal stress in the thinned lithosphere is greater because the horizontal forces are acting over a smaller area (the area over which the horizontal stresses act is given by the thickness of the crust, which is now smaller, times the length in the third dimension into and out of the plane of the figure on this slide, which we hold constant)</a:t>
            </a:r>
          </a:p>
          <a:p>
            <a:pPr marL="108000" indent="-108000">
              <a:spcBef>
                <a:spcPts val="300"/>
              </a:spcBef>
              <a:buFont typeface="Arial" panose="020B0604020202020204" pitchFamily="34" charset="0"/>
              <a:buChar char="•"/>
            </a:pPr>
            <a:r>
              <a:rPr lang="en-GB" altLang="en-US" sz="1000" dirty="0"/>
              <a:t>Figure (modified by Steve Covey-Crump from Fossen, p.90) showing the terms used in the constant horizontal stress reference state. Note that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cs typeface="Times New Roman" panose="02020603050405020304" pitchFamily="18" charset="0"/>
              </a:rPr>
              <a:t>h</a:t>
            </a:r>
            <a:r>
              <a:rPr lang="en-GB" altLang="en-US" sz="1000" dirty="0">
                <a:cs typeface="Times New Roman" panose="02020603050405020304" pitchFamily="18" charset="0"/>
              </a:rPr>
              <a:t>* is the horizontal stress in the lithosphere in the part that has been thinned (or thickened) relative to the part that is of reference thickness</a:t>
            </a:r>
          </a:p>
          <a:p>
            <a:pPr marL="0" indent="0">
              <a:spcBef>
                <a:spcPts val="300"/>
              </a:spcBef>
              <a:buFont typeface="Arial" panose="020B0604020202020204" pitchFamily="34" charset="0"/>
              <a:buNone/>
            </a:pPr>
            <a:endParaRPr lang="el-GR" altLang="en-US" sz="1000" dirty="0">
              <a:cs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a:extLst>
              <a:ext uri="{FF2B5EF4-FFF2-40B4-BE49-F238E27FC236}">
                <a16:creationId xmlns:a16="http://schemas.microsoft.com/office/drawing/2014/main" id="{7C213D29-3F92-4F55-9AC5-54D6B94AF560}"/>
              </a:ext>
            </a:extLst>
          </p:cNvPr>
          <p:cNvSpPr>
            <a:spLocks noGrp="1" noRot="1" noChangeAspect="1" noChangeArrowheads="1" noTextEdit="1"/>
          </p:cNvSpPr>
          <p:nvPr>
            <p:ph type="sldImg"/>
          </p:nvPr>
        </p:nvSpPr>
        <p:spPr>
          <a:ln/>
        </p:spPr>
      </p:sp>
      <p:sp>
        <p:nvSpPr>
          <p:cNvPr id="322563" name="Rectangle 3">
            <a:extLst>
              <a:ext uri="{FF2B5EF4-FFF2-40B4-BE49-F238E27FC236}">
                <a16:creationId xmlns:a16="http://schemas.microsoft.com/office/drawing/2014/main" id="{95BCE10F-4F6D-4BFA-BC58-EFD5A976E855}"/>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Anderson noted that there are three possible arrangements of principal stresses when one is assumed to be vertical (no shear stress parallel to Earth’s surface), and so there are three possible arrangements of fault geometry with respect to these stress orientations if we assume that conjugate faults form (at ± 30° to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spc="150" baseline="-25000" dirty="0"/>
              <a:t>1</a:t>
            </a:r>
            <a:r>
              <a:rPr lang="en-GB" altLang="en-US" sz="1000" dirty="0"/>
              <a:t>) with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2</a:t>
            </a:r>
            <a:r>
              <a:rPr lang="en-GB" altLang="en-US" sz="1000" dirty="0">
                <a:cs typeface="Times New Roman" panose="02020603050405020304" pitchFamily="18" charset="0"/>
              </a:rPr>
              <a:t> lying in the plane of each fault (parallel to their line of intersection). </a:t>
            </a:r>
            <a:r>
              <a:rPr lang="en-GB" altLang="en-US" sz="1000" dirty="0"/>
              <a:t>Anderson outlined his scheme in Anderson, 1905, </a:t>
            </a:r>
            <a:r>
              <a:rPr lang="en-GB" altLang="en-US" sz="1000" i="1" dirty="0"/>
              <a:t>Transactions of the Edinburgh Geological Society</a:t>
            </a:r>
            <a:r>
              <a:rPr lang="en-GB" altLang="en-US" sz="1000" dirty="0"/>
              <a:t> 8: 387-402, </a:t>
            </a:r>
            <a:r>
              <a:rPr lang="en-GB" sz="1000" dirty="0"/>
              <a:t>https://doi.org/10.1144/transed.8.3.387</a:t>
            </a:r>
            <a:r>
              <a:rPr lang="en-GB" altLang="en-US" sz="1000" dirty="0"/>
              <a:t>. See also Anderson, 1951, </a:t>
            </a:r>
            <a:r>
              <a:rPr lang="en-GB" altLang="en-US" sz="1000" i="1" dirty="0"/>
              <a:t>The Dynamics of Faulting and Dyke Formation With Application to Britain</a:t>
            </a:r>
            <a:r>
              <a:rPr lang="en-GB" altLang="en-US" sz="1000" dirty="0"/>
              <a:t> (2</a:t>
            </a:r>
            <a:r>
              <a:rPr lang="en-GB" altLang="en-US" sz="1000" baseline="30000" dirty="0"/>
              <a:t>nd</a:t>
            </a:r>
            <a:r>
              <a:rPr lang="en-GB" altLang="en-US" sz="1000" dirty="0"/>
              <a:t> edition). The classification has since been developed to accommodate situations of </a:t>
            </a:r>
            <a:r>
              <a:rPr lang="en-GB" altLang="en-US" sz="1000" dirty="0" err="1"/>
              <a:t>transtension</a:t>
            </a:r>
            <a:r>
              <a:rPr lang="en-GB" altLang="en-US" sz="1000" dirty="0"/>
              <a:t> and </a:t>
            </a:r>
            <a:r>
              <a:rPr lang="en-GB" altLang="en-US" sz="1000" dirty="0" err="1"/>
              <a:t>transpression</a:t>
            </a:r>
            <a:r>
              <a:rPr lang="en-GB" altLang="en-US" sz="1000" dirty="0"/>
              <a:t> (see Simpson, 1997, </a:t>
            </a:r>
            <a:r>
              <a:rPr lang="en-GB" altLang="en-US" sz="1000" i="1" dirty="0"/>
              <a:t>Journal of Geophysical Research</a:t>
            </a:r>
            <a:r>
              <a:rPr lang="en-GB" altLang="en-US" sz="1000" dirty="0"/>
              <a:t> 102: 17909-17919, </a:t>
            </a:r>
            <a:r>
              <a:rPr lang="en-GB" sz="1000" dirty="0"/>
              <a:t>https://doi.org/10.1029/97JB01274</a:t>
            </a:r>
            <a:r>
              <a:rPr lang="en-GB" altLang="en-US" sz="1000" dirty="0"/>
              <a:t>)</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It should be noted that the assumption that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2</a:t>
            </a:r>
            <a:r>
              <a:rPr lang="en-GB" altLang="en-US" sz="1000" dirty="0">
                <a:cs typeface="Times New Roman" panose="02020603050405020304" pitchFamily="18" charset="0"/>
              </a:rPr>
              <a:t> lies in the fault plane is an oversimplification and cannot be true in the case where three or more differently oriented faults that do not share a common line of intersection are simultaneously active. Hence, although the </a:t>
            </a:r>
            <a:r>
              <a:rPr lang="en-GB" altLang="en-US" sz="1000" dirty="0" err="1">
                <a:cs typeface="Times New Roman" panose="02020603050405020304" pitchFamily="18" charset="0"/>
              </a:rPr>
              <a:t>Andersonian</a:t>
            </a:r>
            <a:r>
              <a:rPr lang="en-GB" altLang="en-US" sz="1000" dirty="0">
                <a:cs typeface="Times New Roman" panose="02020603050405020304" pitchFamily="18" charset="0"/>
              </a:rPr>
              <a:t> scheme is extremely widely used, it does have limitations (for further discussion on this point, see Healy </a:t>
            </a:r>
            <a:r>
              <a:rPr lang="en-GB" altLang="en-US" sz="1000" i="1" dirty="0"/>
              <a:t>et al.</a:t>
            </a:r>
            <a:r>
              <a:rPr lang="en-GB" altLang="en-US" sz="1000" dirty="0"/>
              <a:t>, 2015, </a:t>
            </a:r>
            <a:r>
              <a:rPr lang="en-GB" altLang="en-US" sz="1000" i="1" dirty="0"/>
              <a:t>Journal of Structural Geology</a:t>
            </a:r>
            <a:r>
              <a:rPr lang="en-GB" altLang="en-US" sz="1000" dirty="0"/>
              <a:t> 80: 57-71, </a:t>
            </a:r>
            <a:r>
              <a:rPr lang="en-GB" sz="1000" dirty="0"/>
              <a:t>https://doi.org/10.1016/j.jsg.2015.08.013</a:t>
            </a:r>
            <a:r>
              <a:rPr lang="en-GB" altLang="en-US" sz="1000" dirty="0"/>
              <a:t>)</a:t>
            </a:r>
          </a:p>
          <a:p>
            <a:pPr marL="108000" indent="-108000">
              <a:spcBef>
                <a:spcPts val="300"/>
              </a:spcBef>
              <a:buFont typeface="Arial" panose="020B0604020202020204" pitchFamily="34" charset="0"/>
              <a:buChar char="•"/>
            </a:pPr>
            <a:r>
              <a:rPr lang="en-GB" altLang="en-US" sz="1000" dirty="0"/>
              <a:t>Figure top by Steve Covey-Crump</a:t>
            </a:r>
          </a:p>
          <a:p>
            <a:pPr marL="108000" indent="-108000">
              <a:spcBef>
                <a:spcPts val="300"/>
              </a:spcBef>
              <a:buFont typeface="Arial" panose="020B0604020202020204" pitchFamily="34" charset="0"/>
              <a:buChar char="•"/>
            </a:pPr>
            <a:r>
              <a:rPr lang="en-GB" altLang="en-US" sz="1000" dirty="0"/>
              <a:t>Three figures bottom from Fossen, p.93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a:extLst>
              <a:ext uri="{FF2B5EF4-FFF2-40B4-BE49-F238E27FC236}">
                <a16:creationId xmlns:a16="http://schemas.microsoft.com/office/drawing/2014/main" id="{E32BD2E0-80D1-448F-A47D-ED05F7110331}"/>
              </a:ext>
            </a:extLst>
          </p:cNvPr>
          <p:cNvSpPr>
            <a:spLocks noGrp="1" noRot="1" noChangeAspect="1" noChangeArrowheads="1" noTextEdit="1"/>
          </p:cNvSpPr>
          <p:nvPr>
            <p:ph type="sldImg"/>
          </p:nvPr>
        </p:nvSpPr>
        <p:spPr>
          <a:ln/>
        </p:spPr>
      </p:sp>
      <p:sp>
        <p:nvSpPr>
          <p:cNvPr id="293891" name="Rectangle 3">
            <a:extLst>
              <a:ext uri="{FF2B5EF4-FFF2-40B4-BE49-F238E27FC236}">
                <a16:creationId xmlns:a16="http://schemas.microsoft.com/office/drawing/2014/main" id="{C668B149-A94B-4FA6-93E5-FA3BA4DF316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from Twiss &amp; </a:t>
            </a:r>
            <a:r>
              <a:rPr lang="en-GB" altLang="en-US" sz="1000" dirty="0" err="1"/>
              <a:t>Moores</a:t>
            </a:r>
            <a:r>
              <a:rPr lang="en-GB" altLang="en-US" sz="1000" dirty="0"/>
              <a:t>, p.237. Note that by replacing the ice with lava flows, the figure is a cartoon of the deformation of the lunar crust under the lunar mare</a:t>
            </a:r>
          </a:p>
          <a:p>
            <a:pPr marL="108000" indent="-108000">
              <a:spcBef>
                <a:spcPts val="300"/>
              </a:spcBef>
              <a:buFont typeface="Arial" panose="020B0604020202020204" pitchFamily="34" charset="0"/>
              <a:buChar char="•"/>
            </a:pPr>
            <a:r>
              <a:rPr lang="en-GB" altLang="en-US" sz="1000" dirty="0"/>
              <a:t>Figure bottom from Fossen, p.269</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a:extLst>
              <a:ext uri="{FF2B5EF4-FFF2-40B4-BE49-F238E27FC236}">
                <a16:creationId xmlns:a16="http://schemas.microsoft.com/office/drawing/2014/main" id="{1F24424D-0CF7-4200-B6C8-40E1D67A3090}"/>
              </a:ext>
            </a:extLst>
          </p:cNvPr>
          <p:cNvSpPr>
            <a:spLocks noGrp="1" noRot="1" noChangeAspect="1" noChangeArrowheads="1" noTextEdit="1"/>
          </p:cNvSpPr>
          <p:nvPr>
            <p:ph type="sldImg"/>
          </p:nvPr>
        </p:nvSpPr>
        <p:spPr>
          <a:ln/>
        </p:spPr>
      </p:sp>
      <p:sp>
        <p:nvSpPr>
          <p:cNvPr id="296963" name="Rectangle 3">
            <a:extLst>
              <a:ext uri="{FF2B5EF4-FFF2-40B4-BE49-F238E27FC236}">
                <a16:creationId xmlns:a16="http://schemas.microsoft.com/office/drawing/2014/main" id="{E1C2EE0C-5728-4741-A7A1-79AD8DAA8A8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Photomicrograph (from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i="1" dirty="0"/>
              <a:t> </a:t>
            </a:r>
            <a:r>
              <a:rPr lang="en-GB" altLang="en-US" sz="1000" dirty="0"/>
              <a:t>(2</a:t>
            </a:r>
            <a:r>
              <a:rPr lang="en-GB" altLang="en-US" sz="1000" baseline="30000" dirty="0"/>
              <a:t>nd</a:t>
            </a:r>
            <a:r>
              <a:rPr lang="en-GB" altLang="en-US" sz="1000" dirty="0"/>
              <a:t> edition), Fig.3.31): </a:t>
            </a:r>
            <a:r>
              <a:rPr lang="en-GB" altLang="en-US" sz="1000" dirty="0" err="1"/>
              <a:t>undulose</a:t>
            </a:r>
            <a:r>
              <a:rPr lang="en-GB" altLang="en-US" sz="1000" dirty="0"/>
              <a:t> extinction within quartz in a </a:t>
            </a:r>
            <a:r>
              <a:rPr lang="en-GB" altLang="en-US" sz="1000" dirty="0" err="1"/>
              <a:t>micaschist</a:t>
            </a:r>
            <a:r>
              <a:rPr lang="en-GB" altLang="en-US" sz="1000" dirty="0"/>
              <a:t> from the </a:t>
            </a:r>
            <a:r>
              <a:rPr lang="en-GB" altLang="en-US" sz="1000" dirty="0" err="1"/>
              <a:t>Orobic</a:t>
            </a:r>
            <a:r>
              <a:rPr lang="en-GB" altLang="en-US" sz="1000" dirty="0"/>
              <a:t> Alps, Italy. </a:t>
            </a:r>
            <a:r>
              <a:rPr lang="en-GB" altLang="en-US" sz="1000" dirty="0" err="1"/>
              <a:t>Undulose</a:t>
            </a:r>
            <a:r>
              <a:rPr lang="en-GB" altLang="en-US" sz="1000" dirty="0"/>
              <a:t> extinction results from a strained lattice and hence implies the presence of stored stresses. Note that in the grain in the bottom left corner there are some deformation lamellae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a:extLst>
              <a:ext uri="{FF2B5EF4-FFF2-40B4-BE49-F238E27FC236}">
                <a16:creationId xmlns:a16="http://schemas.microsoft.com/office/drawing/2014/main" id="{BB52BAB1-6733-4F37-972C-299968095DE2}"/>
              </a:ext>
            </a:extLst>
          </p:cNvPr>
          <p:cNvSpPr>
            <a:spLocks noGrp="1" noRot="1" noChangeAspect="1" noChangeArrowheads="1" noTextEdit="1"/>
          </p:cNvSpPr>
          <p:nvPr>
            <p:ph type="sldImg"/>
          </p:nvPr>
        </p:nvSpPr>
        <p:spPr>
          <a:ln/>
        </p:spPr>
      </p:sp>
      <p:sp>
        <p:nvSpPr>
          <p:cNvPr id="301059" name="Rectangle 3">
            <a:extLst>
              <a:ext uri="{FF2B5EF4-FFF2-40B4-BE49-F238E27FC236}">
                <a16:creationId xmlns:a16="http://schemas.microsoft.com/office/drawing/2014/main" id="{1E42C1FE-0E36-4A3F-957C-B4DB813E700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World Stress Map is described by </a:t>
            </a:r>
            <a:r>
              <a:rPr lang="en-GB" altLang="en-US" sz="1000" dirty="0" err="1"/>
              <a:t>Heidbach</a:t>
            </a:r>
            <a:r>
              <a:rPr lang="en-GB" altLang="en-US" sz="1000" dirty="0"/>
              <a:t> </a:t>
            </a:r>
            <a:r>
              <a:rPr lang="en-GB" altLang="en-US" sz="1000" i="1" dirty="0"/>
              <a:t>et al.</a:t>
            </a:r>
            <a:r>
              <a:rPr lang="en-GB" altLang="en-US" sz="1000" i="0" dirty="0"/>
              <a:t>, 2018, </a:t>
            </a:r>
            <a:r>
              <a:rPr lang="en-GB" altLang="en-US" sz="1000" i="1" dirty="0"/>
              <a:t>Tectonophysics</a:t>
            </a:r>
            <a:r>
              <a:rPr lang="en-GB" altLang="en-US" sz="1000" i="0" dirty="0"/>
              <a:t> 744: 484-498, https://doi.org/10.1016/j.tecto.2018.07.007. It is available on-line at </a:t>
            </a:r>
            <a:r>
              <a:rPr lang="en-GB" altLang="en-US" sz="1000" dirty="0">
                <a:solidFill>
                  <a:srgbClr val="FF6600"/>
                </a:solidFill>
                <a:effectLst>
                  <a:outerShdw blurRad="38100" dist="38100" dir="2700000" algn="tl">
                    <a:srgbClr val="C0C0C0"/>
                  </a:outerShdw>
                </a:effectLst>
              </a:rPr>
              <a:t>www.world-stress-map.org.</a:t>
            </a:r>
            <a:r>
              <a:rPr lang="en-GB" altLang="en-US" sz="1000" dirty="0"/>
              <a:t> You can use the site to create your own stress maps for regions that you define</a:t>
            </a:r>
          </a:p>
          <a:p>
            <a:pPr marL="108000" indent="-108000">
              <a:spcBef>
                <a:spcPts val="300"/>
              </a:spcBef>
              <a:buFont typeface="Arial" panose="020B0604020202020204" pitchFamily="34" charset="0"/>
              <a:buChar char="•"/>
            </a:pPr>
            <a:r>
              <a:rPr lang="en-GB" altLang="en-US" sz="1000" dirty="0"/>
              <a:t>Note the use of the </a:t>
            </a:r>
            <a:r>
              <a:rPr lang="en-GB" altLang="en-US" sz="1000" dirty="0" err="1"/>
              <a:t>Andersonian</a:t>
            </a:r>
            <a:r>
              <a:rPr lang="en-GB" altLang="en-US" sz="1000" dirty="0"/>
              <a:t> tectonic stress regimes (see Slide 32)</a:t>
            </a:r>
          </a:p>
          <a:p>
            <a:pPr marL="108000" indent="-108000">
              <a:spcBef>
                <a:spcPts val="300"/>
              </a:spcBef>
              <a:buFont typeface="Arial" panose="020B0604020202020204" pitchFamily="34" charset="0"/>
              <a:buChar char="•"/>
            </a:pPr>
            <a:r>
              <a:rPr lang="en-GB" altLang="en-US" sz="1000" dirty="0"/>
              <a:t>Figure from Fossen, p.95</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a:extLst>
              <a:ext uri="{FF2B5EF4-FFF2-40B4-BE49-F238E27FC236}">
                <a16:creationId xmlns:a16="http://schemas.microsoft.com/office/drawing/2014/main" id="{29638F5B-5444-4025-A1AA-34A36DC04232}"/>
              </a:ext>
            </a:extLst>
          </p:cNvPr>
          <p:cNvSpPr>
            <a:spLocks noGrp="1" noRot="1" noChangeAspect="1" noChangeArrowheads="1" noTextEdit="1"/>
          </p:cNvSpPr>
          <p:nvPr>
            <p:ph type="sldImg"/>
          </p:nvPr>
        </p:nvSpPr>
        <p:spPr>
          <a:ln/>
        </p:spPr>
      </p:sp>
      <p:sp>
        <p:nvSpPr>
          <p:cNvPr id="303107" name="Rectangle 3">
            <a:extLst>
              <a:ext uri="{FF2B5EF4-FFF2-40B4-BE49-F238E27FC236}">
                <a16:creationId xmlns:a16="http://schemas.microsoft.com/office/drawing/2014/main" id="{BB6417E2-975B-489B-88A0-9224004D868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Fossen, p.95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a:extLst>
              <a:ext uri="{FF2B5EF4-FFF2-40B4-BE49-F238E27FC236}">
                <a16:creationId xmlns:a16="http://schemas.microsoft.com/office/drawing/2014/main" id="{B2513003-BED1-4C70-B0E0-13A6087F0995}"/>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74D47859-AEB0-4F87-8C4D-7E3A07408A4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notion that the stress in the lithosphere equals the strength of the rocks under the conditions (temperature, pressure, strain-rate, </a:t>
            </a:r>
            <a:r>
              <a:rPr lang="en-GB" altLang="en-US" sz="1000" i="1" dirty="0"/>
              <a:t>etc.</a:t>
            </a:r>
            <a:r>
              <a:rPr lang="en-GB" altLang="en-US" sz="1000" dirty="0"/>
              <a:t> – see Optional PowerPoint presentation Slide 6) that they experience, is captured by saying that the lithosphere is ‘critically stressed’. For a development of such ideas, see Zoback &amp; Townend, 2001, </a:t>
            </a:r>
            <a:r>
              <a:rPr lang="en-GB" altLang="en-US" sz="1000" i="1" dirty="0"/>
              <a:t>Tectonophysics </a:t>
            </a:r>
            <a:r>
              <a:rPr lang="en-GB" altLang="en-US" sz="1000" dirty="0"/>
              <a:t>336: 19-30, </a:t>
            </a:r>
            <a:r>
              <a:rPr lang="en-GB" sz="1000" dirty="0"/>
              <a:t>https://doi.org/10.1016/S0040-1951(01)00091-9;</a:t>
            </a:r>
            <a:r>
              <a:rPr lang="en-GB" altLang="en-US" sz="1000" dirty="0"/>
              <a:t> and Zoback </a:t>
            </a:r>
            <a:r>
              <a:rPr lang="en-GB" altLang="en-US" sz="1000" i="1" dirty="0"/>
              <a:t>et al.</a:t>
            </a:r>
            <a:r>
              <a:rPr lang="en-GB" altLang="en-US" sz="1000" dirty="0"/>
              <a:t>, 2002, </a:t>
            </a:r>
            <a:r>
              <a:rPr lang="en-GB" altLang="en-US" sz="1000" i="1" dirty="0"/>
              <a:t>International Geology Review</a:t>
            </a:r>
            <a:r>
              <a:rPr lang="en-GB" altLang="en-US" sz="1000" dirty="0"/>
              <a:t> 44: 383-401, </a:t>
            </a:r>
            <a:r>
              <a:rPr lang="en-GB" sz="1000" dirty="0"/>
              <a:t>https://doi.org/10.2747/0020-6814.44.5.383</a:t>
            </a:r>
            <a:endParaRPr lang="en-GB" altLang="en-US" sz="1000" dirty="0"/>
          </a:p>
          <a:p>
            <a:pPr marL="108000" indent="-108000">
              <a:spcBef>
                <a:spcPts val="300"/>
              </a:spcBef>
              <a:buFont typeface="Arial" panose="020B0604020202020204" pitchFamily="34" charset="0"/>
              <a:buChar char="•"/>
            </a:pPr>
            <a:r>
              <a:rPr lang="en-GB" altLang="en-US" sz="1000" dirty="0"/>
              <a:t>The meaning of the terms ‘</a:t>
            </a:r>
            <a:r>
              <a:rPr lang="en-GB" altLang="en-US" sz="1000" dirty="0" err="1"/>
              <a:t>cataclastic</a:t>
            </a:r>
            <a:r>
              <a:rPr lang="en-GB" altLang="en-US" sz="1000" dirty="0"/>
              <a:t>’, ‘intracrystalline plasticity’, and ‘diffusive mass transfer’ are given in the Optional PowerPoint presentation. You don’t need to worry about these terms in this unit – they just refer to different ways in which the rock responds to stress. Near the surface of the Earth where the rocks are relatively cool and where pressures (from the weight of overlying rock) are small, rocks tend to be brittle (fail by fracturing = </a:t>
            </a:r>
            <a:r>
              <a:rPr lang="en-GB" altLang="en-US" sz="1000" dirty="0" err="1"/>
              <a:t>cataclastic</a:t>
            </a:r>
            <a:r>
              <a:rPr lang="en-GB" altLang="en-US" sz="1000" dirty="0"/>
              <a:t> deformation); deeper where the rocks are hotter and at higher pressure, they flow without forming fractures – intracrystalline plasticity and high temperature diffusive mass transfer are two groups of processes by which they do this</a:t>
            </a:r>
          </a:p>
          <a:p>
            <a:pPr marL="108000" indent="-108000">
              <a:spcBef>
                <a:spcPts val="300"/>
              </a:spcBef>
              <a:buFont typeface="Arial" panose="020B0604020202020204" pitchFamily="34" charset="0"/>
              <a:buChar char="•"/>
            </a:pPr>
            <a:r>
              <a:rPr lang="en-GB" altLang="en-US" sz="1000" dirty="0"/>
              <a:t>Note that the four equations on this slide are gross simplifications of real material strength but, nevertheless, they are widely regarded as useful first order approximations. The equations for </a:t>
            </a:r>
            <a:r>
              <a:rPr lang="en-GB" altLang="en-US" sz="1000" dirty="0" err="1"/>
              <a:t>cataclastic</a:t>
            </a:r>
            <a:r>
              <a:rPr lang="en-GB" altLang="en-US" sz="1000" dirty="0"/>
              <a:t> deformation – really just one equation rewritten for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1</a:t>
            </a:r>
            <a:r>
              <a:rPr lang="en-GB" altLang="en-US" sz="1000" dirty="0">
                <a:cs typeface="Times New Roman" panose="02020603050405020304" pitchFamily="18" charset="0"/>
              </a:rPr>
              <a:t> vertical (extension) and for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3</a:t>
            </a:r>
            <a:r>
              <a:rPr lang="en-GB" altLang="en-US" sz="1000" dirty="0">
                <a:cs typeface="Times New Roman" panose="02020603050405020304" pitchFamily="18" charset="0"/>
              </a:rPr>
              <a:t> vertical (compression) – </a:t>
            </a:r>
            <a:r>
              <a:rPr lang="en-GB" altLang="en-US" sz="1000" dirty="0"/>
              <a:t>are essentially independent of rock type. This independence of rock type is known as </a:t>
            </a:r>
            <a:r>
              <a:rPr lang="en-GB" altLang="en-US" sz="1000" dirty="0" err="1"/>
              <a:t>Byerlee’s</a:t>
            </a:r>
            <a:r>
              <a:rPr lang="en-GB" altLang="en-US" sz="1000" dirty="0"/>
              <a:t> law, and we will return to it in Class 7. The equations for intracrystalline plasticity and diffusive mass transfer do not include a variable that accounts for the mechanical condition of the deforming material and so are described as steady state creep laws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a:extLst>
              <a:ext uri="{FF2B5EF4-FFF2-40B4-BE49-F238E27FC236}">
                <a16:creationId xmlns:a16="http://schemas.microsoft.com/office/drawing/2014/main" id="{7EC81344-F1D4-476E-B700-A101A870C1C7}"/>
              </a:ext>
            </a:extLst>
          </p:cNvPr>
          <p:cNvSpPr>
            <a:spLocks noGrp="1" noRot="1" noChangeAspect="1" noChangeArrowheads="1" noTextEdit="1"/>
          </p:cNvSpPr>
          <p:nvPr>
            <p:ph type="sldImg"/>
          </p:nvPr>
        </p:nvSpPr>
        <p:spPr>
          <a:ln/>
        </p:spPr>
      </p:sp>
      <p:sp>
        <p:nvSpPr>
          <p:cNvPr id="309251" name="Rectangle 3">
            <a:extLst>
              <a:ext uri="{FF2B5EF4-FFF2-40B4-BE49-F238E27FC236}">
                <a16:creationId xmlns:a16="http://schemas.microsoft.com/office/drawing/2014/main" id="{C9EF6444-F019-4F23-A0BC-D33269F4B1F4}"/>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The underlying principles and data used to construct lithospheric strength vs. depth profiles are summarized by </a:t>
            </a:r>
            <a:r>
              <a:rPr lang="en-GB" altLang="en-US" sz="1000" dirty="0" err="1"/>
              <a:t>Kohlstedt</a:t>
            </a:r>
            <a:r>
              <a:rPr lang="en-GB" altLang="en-US" sz="1000" dirty="0"/>
              <a:t> </a:t>
            </a:r>
            <a:r>
              <a:rPr lang="en-GB" altLang="en-US" sz="1000" i="1" dirty="0"/>
              <a:t>et al.</a:t>
            </a:r>
            <a:r>
              <a:rPr lang="en-GB" altLang="en-US" sz="1000" dirty="0"/>
              <a:t>, 1995, </a:t>
            </a:r>
            <a:r>
              <a:rPr lang="en-GB" altLang="en-US" sz="1000" i="1" dirty="0"/>
              <a:t>Journal of Geophysical Research</a:t>
            </a:r>
            <a:r>
              <a:rPr lang="en-GB" altLang="en-US" sz="1000" dirty="0"/>
              <a:t> 100: 17587-17602, </a:t>
            </a:r>
            <a:r>
              <a:rPr lang="en-GB" sz="1000" dirty="0"/>
              <a:t>https://doi.org/10.1029/95JB01460</a:t>
            </a:r>
            <a:endParaRPr lang="en-GB" altLang="en-US" sz="1000" dirty="0"/>
          </a:p>
          <a:p>
            <a:pPr marL="108000" indent="-108000">
              <a:spcBef>
                <a:spcPts val="300"/>
              </a:spcBef>
              <a:buFont typeface="Arial" panose="020B0604020202020204" pitchFamily="34" charset="0"/>
              <a:buChar char="•"/>
            </a:pPr>
            <a:r>
              <a:rPr lang="en-GB" altLang="en-US" sz="1000" dirty="0"/>
              <a:t>For colourful (and culinary) discussions on the strength vs. depth profile of the continental lithosphere, see</a:t>
            </a:r>
          </a:p>
          <a:p>
            <a:pPr marL="252000" indent="-144000">
              <a:spcBef>
                <a:spcPts val="300"/>
              </a:spcBef>
              <a:buFont typeface="Times New Roman" panose="02020603050405020304" pitchFamily="18" charset="0"/>
              <a:buChar char="‒"/>
            </a:pPr>
            <a:r>
              <a:rPr lang="en-GB" altLang="en-US" sz="1000" dirty="0"/>
              <a:t>Jackson, 2002, </a:t>
            </a:r>
            <a:r>
              <a:rPr lang="en-GB" altLang="en-US" sz="1000" i="1" dirty="0"/>
              <a:t>GSA Today</a:t>
            </a:r>
            <a:r>
              <a:rPr lang="en-GB" altLang="en-US" sz="1000" dirty="0"/>
              <a:t> 12(9): 4-10, </a:t>
            </a:r>
            <a:r>
              <a:rPr lang="en-GB" sz="1000" dirty="0"/>
              <a:t>https://doi.org/10.1130/1052-5173(2002)012&lt;0004:SOTCLT&gt;2.0.CO;2</a:t>
            </a:r>
            <a:endParaRPr lang="en-GB" altLang="en-US" sz="1000" dirty="0"/>
          </a:p>
          <a:p>
            <a:pPr marL="252000" marR="0" lvl="0" indent="-144000" algn="l" defTabSz="914400" rtl="0" eaLnBrk="0" fontAlgn="base" latinLnBrk="0" hangingPunct="0">
              <a:lnSpc>
                <a:spcPct val="100000"/>
              </a:lnSpc>
              <a:spcBef>
                <a:spcPts val="300"/>
              </a:spcBef>
              <a:spcAft>
                <a:spcPct val="0"/>
              </a:spcAft>
              <a:buClrTx/>
              <a:buSzTx/>
              <a:buFont typeface="Times New Roman" panose="02020603050405020304" pitchFamily="18" charset="0"/>
              <a:buChar char="‒"/>
              <a:tabLst/>
              <a:defRPr/>
            </a:pPr>
            <a:r>
              <a:rPr lang="en-GB" altLang="en-US" sz="1000" dirty="0"/>
              <a:t>Burov &amp; Watts, 2006, </a:t>
            </a:r>
            <a:r>
              <a:rPr lang="en-GB" altLang="en-US" sz="1000" i="1" dirty="0"/>
              <a:t>GSA Today</a:t>
            </a:r>
            <a:r>
              <a:rPr lang="en-GB" altLang="en-US" sz="1000" dirty="0"/>
              <a:t> 16(1): 4-10, </a:t>
            </a:r>
            <a:r>
              <a:rPr lang="en-GB" sz="1000" dirty="0"/>
              <a:t>https://doi.org/</a:t>
            </a:r>
            <a:r>
              <a:rPr lang="pl-PL" sz="1000" dirty="0"/>
              <a:t>10.1130/1052-5173(2006)016&lt;4:TLTSOC&gt;2.0.CO;2</a:t>
            </a:r>
            <a:endParaRPr lang="en-GB" altLang="en-US" sz="1000" dirty="0"/>
          </a:p>
          <a:p>
            <a:pPr marL="252000" indent="-144000">
              <a:spcBef>
                <a:spcPts val="300"/>
              </a:spcBef>
              <a:buFont typeface="Times New Roman" panose="02020603050405020304" pitchFamily="18" charset="0"/>
              <a:buChar char="‒"/>
            </a:pPr>
            <a:r>
              <a:rPr lang="en-GB" altLang="en-US" sz="1000" dirty="0"/>
              <a:t>Thatcher &amp; </a:t>
            </a:r>
            <a:r>
              <a:rPr lang="en-GB" altLang="en-US" sz="1000" dirty="0" err="1"/>
              <a:t>Pollitz</a:t>
            </a:r>
            <a:r>
              <a:rPr lang="en-GB" altLang="en-US" sz="1000" dirty="0"/>
              <a:t>, 2008, </a:t>
            </a:r>
            <a:r>
              <a:rPr lang="en-GB" altLang="en-US" sz="1000" i="1" dirty="0"/>
              <a:t>GSA Today</a:t>
            </a:r>
            <a:r>
              <a:rPr lang="en-GB" altLang="en-US" sz="1000" dirty="0"/>
              <a:t> 18(4-5): 4-11, </a:t>
            </a:r>
            <a:r>
              <a:rPr lang="en-GB" sz="1000" dirty="0"/>
              <a:t>https://doi.org/10.1130/GSAT01804-5A.1</a:t>
            </a:r>
          </a:p>
          <a:p>
            <a:pPr marL="252000" indent="-144000">
              <a:spcBef>
                <a:spcPts val="300"/>
              </a:spcBef>
              <a:buFont typeface="Times New Roman" panose="02020603050405020304" pitchFamily="18" charset="0"/>
              <a:buChar char="‒"/>
            </a:pPr>
            <a:r>
              <a:rPr lang="en-GB" altLang="en-US" sz="1000" dirty="0" err="1"/>
              <a:t>Bürgmann</a:t>
            </a:r>
            <a:r>
              <a:rPr lang="en-GB" altLang="en-US" sz="1000" dirty="0"/>
              <a:t> &amp; </a:t>
            </a:r>
            <a:r>
              <a:rPr lang="en-GB" altLang="en-US" sz="1000" dirty="0" err="1"/>
              <a:t>Dresen</a:t>
            </a:r>
            <a:r>
              <a:rPr lang="en-GB" altLang="en-US" sz="1000" dirty="0"/>
              <a:t>, 2008, </a:t>
            </a:r>
            <a:r>
              <a:rPr lang="en-GB" altLang="en-US" sz="1000" i="1" dirty="0"/>
              <a:t>Annual Reviews in Earth and Planetary Science</a:t>
            </a:r>
            <a:r>
              <a:rPr lang="en-GB" altLang="en-US" sz="1000" dirty="0"/>
              <a:t> 36: 531-567, </a:t>
            </a:r>
            <a:r>
              <a:rPr lang="en-GB" sz="1000" dirty="0"/>
              <a:t>https://doi.org/10.1146/annurev.earth.36.031207.124326</a:t>
            </a:r>
          </a:p>
          <a:p>
            <a:pPr marL="108000" marR="0" lvl="0" indent="0" algn="l" defTabSz="914400" rtl="0" eaLnBrk="0" fontAlgn="base" latinLnBrk="0" hangingPunct="0">
              <a:lnSpc>
                <a:spcPct val="100000"/>
              </a:lnSpc>
              <a:spcBef>
                <a:spcPts val="300"/>
              </a:spcBef>
              <a:spcAft>
                <a:spcPct val="0"/>
              </a:spcAft>
              <a:buClrTx/>
              <a:buSzTx/>
              <a:buFont typeface="Times New Roman" panose="02020603050405020304" pitchFamily="18" charset="0"/>
              <a:buNone/>
              <a:tabLst/>
              <a:defRPr/>
            </a:pPr>
            <a:r>
              <a:rPr lang="en-GB" altLang="en-US" sz="1000" dirty="0"/>
              <a:t>As an example of where this type of thinking can lead when considering the variation of lithospheric strength with depth, see Behr &amp; Platt, 2014, </a:t>
            </a:r>
            <a:r>
              <a:rPr lang="en-GB" altLang="en-US" sz="1000" i="1" dirty="0"/>
              <a:t>Geophysical Research Letters</a:t>
            </a:r>
            <a:r>
              <a:rPr lang="en-GB" altLang="en-US" sz="1000" dirty="0"/>
              <a:t> 41: 8067-8075, </a:t>
            </a:r>
            <a:r>
              <a:rPr lang="en-GB" sz="1000" dirty="0"/>
              <a:t>https://doi.org/10.1002/2014GL061349</a:t>
            </a:r>
            <a:endParaRPr lang="en-GB" altLang="en-US" sz="1000" dirty="0"/>
          </a:p>
          <a:p>
            <a:pPr marL="108000" indent="-108000">
              <a:spcBef>
                <a:spcPts val="300"/>
              </a:spcBef>
              <a:buFont typeface="Arial" panose="020B0604020202020204" pitchFamily="34" charset="0"/>
              <a:buChar char="•"/>
            </a:pPr>
            <a:r>
              <a:rPr lang="en-GB" altLang="en-US" sz="1000" dirty="0"/>
              <a:t>Figure from </a:t>
            </a:r>
            <a:r>
              <a:rPr lang="en-GB" altLang="en-US" sz="1000" dirty="0" err="1"/>
              <a:t>Bürgmann</a:t>
            </a:r>
            <a:r>
              <a:rPr lang="en-GB" altLang="en-US" sz="1000" dirty="0"/>
              <a:t> &amp; </a:t>
            </a:r>
            <a:r>
              <a:rPr lang="en-GB" altLang="en-US" sz="1000" dirty="0" err="1"/>
              <a:t>Dresen</a:t>
            </a:r>
            <a:r>
              <a:rPr lang="en-GB" altLang="en-US" sz="1000" dirty="0"/>
              <a:t>, 2008, </a:t>
            </a:r>
            <a:r>
              <a:rPr lang="en-GB" altLang="en-US" sz="1000" i="1" dirty="0"/>
              <a:t>Annual Reviews in Earth and Planetary Science</a:t>
            </a:r>
            <a:r>
              <a:rPr lang="en-GB" altLang="en-US" sz="1000" dirty="0"/>
              <a:t> 36: 531-567, </a:t>
            </a:r>
            <a:r>
              <a:rPr lang="en-GB" sz="1000" dirty="0"/>
              <a:t>https://doi.org/10.1146/annurev.earth.36.031207.124326</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8AD3ACD7-8AB3-436F-817F-AF8531947C60}"/>
              </a:ext>
            </a:extLst>
          </p:cNvPr>
          <p:cNvSpPr>
            <a:spLocks noGrp="1" noRot="1" noChangeAspect="1" noChangeArrowheads="1" noTextEdit="1"/>
          </p:cNvSpPr>
          <p:nvPr>
            <p:ph type="sldImg"/>
          </p:nvPr>
        </p:nvSpPr>
        <p:spPr>
          <a:ln/>
        </p:spPr>
      </p:sp>
      <p:sp>
        <p:nvSpPr>
          <p:cNvPr id="307203" name="Rectangle 3">
            <a:extLst>
              <a:ext uri="{FF2B5EF4-FFF2-40B4-BE49-F238E27FC236}">
                <a16:creationId xmlns:a16="http://schemas.microsoft.com/office/drawing/2014/main" id="{CD704BE8-4ACC-40CB-9F0C-8A55B0B3F5C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uniaxial strain reference state (Slide 29) is built on the notion that the horizontal stresses arise because there is no strain in the horizontal direction – the stresses arise from the imposed zero horizontal strain</a:t>
            </a:r>
          </a:p>
          <a:p>
            <a:pPr marL="108000" indent="-108000">
              <a:spcBef>
                <a:spcPts val="300"/>
              </a:spcBef>
              <a:buFont typeface="Arial" panose="020B0604020202020204" pitchFamily="34" charset="0"/>
              <a:buChar char="•"/>
            </a:pPr>
            <a:r>
              <a:rPr lang="en-GB" altLang="en-US" sz="1000" dirty="0"/>
              <a:t>When we look at geological structures, we are looking at strains not stresses. Hence drawing stress directions on maps from observations of geological structures is a risky business – we are implicitly making an interpretation of how the stresses arise from the strains. We shall see in the next couple of lectures that the temptation to do this is considerable – that doesn’t make it wrong, but we do need to acknowledge what we are doing</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A discussion of this matter, as applied to the extraction of the orientations and relative magnitudes of the principal stresses from fault slip data, is given by Twiss &amp; Unruh, 1998, </a:t>
            </a:r>
            <a:r>
              <a:rPr lang="en-GB" altLang="en-US" sz="1000" i="1" dirty="0"/>
              <a:t>Journal of Geophysical Research</a:t>
            </a:r>
            <a:r>
              <a:rPr lang="en-GB" altLang="en-US" sz="1000" dirty="0"/>
              <a:t> 103: 12205-12222, </a:t>
            </a:r>
            <a:r>
              <a:rPr lang="en-GB" sz="1000" dirty="0"/>
              <a:t>https://doi.org/10.1029/98JB00612</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10"/>
          </p:nvPr>
        </p:nvSpPr>
        <p:spPr/>
        <p:txBody>
          <a:bodyPr/>
          <a:lstStyle/>
          <a:p>
            <a:fld id="{205EB4C7-7A98-4010-9A78-7BA43D6198B8}" type="slidenum">
              <a:rPr lang="en-GB" altLang="en-US" smtClean="0"/>
              <a:pPr/>
              <a:t>40</a:t>
            </a:fld>
            <a:endParaRPr lang="en-GB" altLang="en-US"/>
          </a:p>
        </p:txBody>
      </p:sp>
    </p:spTree>
    <p:extLst>
      <p:ext uri="{BB962C8B-B14F-4D97-AF65-F5344CB8AC3E}">
        <p14:creationId xmlns:p14="http://schemas.microsoft.com/office/powerpoint/2010/main" val="829499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377844105"/>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830478"/>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525257021"/>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37985539"/>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61147079"/>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168586884"/>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327919"/>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56123295"/>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87332330"/>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6413351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7523954"/>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73086097"/>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D5714-11FF-41D7-B8EB-F07B064BFA36}"/>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37B2354-290B-4B2A-8410-1D61F5A4CD0D}"/>
              </a:ext>
            </a:extLst>
          </p:cNvPr>
          <p:cNvSpPr>
            <a:spLocks noGrp="1"/>
          </p:cNvSpPr>
          <p:nvPr>
            <p:ph type="body"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9375094-EE3E-46E6-997F-25260629FEAD}"/>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1629B384-358F-4CAD-8B42-A31757111DE7}"/>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83204785"/>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55F49-14F2-4A6C-B81E-5E0D0C4EEFF6}"/>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29F493E-6C91-4F3D-81B8-27011A646196}"/>
              </a:ext>
            </a:extLst>
          </p:cNvPr>
          <p:cNvSpPr>
            <a:spLocks noGrp="1"/>
          </p:cNvSpPr>
          <p:nvPr>
            <p:ph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E2ED6A8-C5DD-4903-8DC6-9FC048952829}"/>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7204E183-56F7-48B9-85E3-4F11DC1E2619}"/>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94459925"/>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4DBBC-6BCF-4E6A-9F80-69A6F1AC1CD6}"/>
              </a:ext>
            </a:extLst>
          </p:cNvPr>
          <p:cNvSpPr>
            <a:spLocks noGrp="1"/>
          </p:cNvSpPr>
          <p:nvPr>
            <p:ph type="title" sz="quarter"/>
          </p:nvPr>
        </p:nvSpPr>
        <p:spPr>
          <a:xfrm>
            <a:off x="252413" y="93663"/>
            <a:ext cx="8742362" cy="54133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2C4CFFE-C474-4E8C-B1F7-5FB6362B620A}"/>
              </a:ext>
            </a:extLst>
          </p:cNvPr>
          <p:cNvSpPr>
            <a:spLocks noGrp="1"/>
          </p:cNvSpPr>
          <p:nvPr>
            <p:ph sz="quarter" idx="1"/>
          </p:nvPr>
        </p:nvSpPr>
        <p:spPr>
          <a:xfrm>
            <a:off x="255588" y="917575"/>
            <a:ext cx="4291012"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88E4E71-3FBB-415D-8C40-8DB31A8B262E}"/>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B736A4D0-A5AC-46F2-9798-66F0B62AD994}"/>
              </a:ext>
            </a:extLst>
          </p:cNvPr>
          <p:cNvSpPr>
            <a:spLocks noGrp="1"/>
          </p:cNvSpPr>
          <p:nvPr>
            <p:ph sz="quarter" idx="3"/>
          </p:nvPr>
        </p:nvSpPr>
        <p:spPr>
          <a:xfrm>
            <a:off x="255588" y="3857625"/>
            <a:ext cx="4291012"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a:extLst>
              <a:ext uri="{FF2B5EF4-FFF2-40B4-BE49-F238E27FC236}">
                <a16:creationId xmlns:a16="http://schemas.microsoft.com/office/drawing/2014/main" id="{CE9A9F94-F7EC-4118-B2F8-FAA6CC1628A6}"/>
              </a:ext>
            </a:extLst>
          </p:cNvPr>
          <p:cNvSpPr>
            <a:spLocks noGrp="1"/>
          </p:cNvSpPr>
          <p:nvPr>
            <p:ph sz="quarter" idx="4"/>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33502043"/>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8CABBE6F-95F6-4587-AB94-F3FB6D7DF172}"/>
              </a:ext>
            </a:extLst>
          </p:cNvPr>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a:extLst>
              <a:ext uri="{FF2B5EF4-FFF2-40B4-BE49-F238E27FC236}">
                <a16:creationId xmlns:a16="http://schemas.microsoft.com/office/drawing/2014/main" id="{5043410C-463E-42F4-A0BB-1C53599CD356}"/>
              </a:ext>
            </a:extLst>
          </p:cNvPr>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a:extLst>
              <a:ext uri="{FF2B5EF4-FFF2-40B4-BE49-F238E27FC236}">
                <a16:creationId xmlns:a16="http://schemas.microsoft.com/office/drawing/2014/main" id="{E24EB44E-AD75-4B90-9DE6-EA36F05BC7FD}"/>
              </a:ext>
            </a:extLst>
          </p:cNvPr>
          <p:cNvSpPr>
            <a:spLocks noChangeShapeType="1"/>
          </p:cNvSpPr>
          <p:nvPr userDrawn="1"/>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 bg1="dk2" tx1="lt1" bg2="dk1" tx2="lt2" accent1="accent1" accent2="accent2" accent3="accent3" accent4="accent4" accent5="accent5" accent6="accent6" hlink="hlink" folHlink="folHlink"/>
  <p:sldLayoutIdLst>
    <p:sldLayoutId id="2147483679"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8.jpeg"/></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14.xml"/><Relationship Id="rId5" Type="http://schemas.openxmlformats.org/officeDocument/2006/relationships/image" Target="../media/image31.jpeg"/><Relationship Id="rId4" Type="http://schemas.openxmlformats.org/officeDocument/2006/relationships/image" Target="../media/image30.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3.jpeg"/></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7.jpe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14.xml"/><Relationship Id="rId4" Type="http://schemas.openxmlformats.org/officeDocument/2006/relationships/image" Target="../media/image39.jpeg"/></Relationships>
</file>

<file path=ppt/slides/_rels/slide3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2.xml"/><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43.jpeg"/></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712EA071-57AE-40E3-BB57-972945BD81E9}"/>
              </a:ext>
            </a:extLst>
          </p:cNvPr>
          <p:cNvSpPr>
            <a:spLocks noGrp="1" noChangeArrowheads="1"/>
          </p:cNvSpPr>
          <p:nvPr>
            <p:ph type="ctrTitle"/>
          </p:nvPr>
        </p:nvSpPr>
        <p:spPr>
          <a:xfrm>
            <a:off x="239713" y="967538"/>
            <a:ext cx="8705850" cy="3213187"/>
          </a:xfrm>
        </p:spPr>
        <p:txBody>
          <a:bodyPr/>
          <a:lstStyle/>
          <a:p>
            <a:pPr>
              <a:lnSpc>
                <a:spcPct val="120000"/>
              </a:lnSpc>
            </a:pPr>
            <a:r>
              <a:rPr lang="en-US" altLang="en-US" sz="3200" dirty="0"/>
              <a:t>EART 28202 :  Structural Geology</a:t>
            </a:r>
            <a:br>
              <a:rPr lang="en-US" altLang="en-US" sz="3200" dirty="0"/>
            </a:br>
            <a:br>
              <a:rPr lang="en-US" altLang="en-US" dirty="0"/>
            </a:br>
            <a:br>
              <a:rPr lang="en-US" altLang="en-US" dirty="0"/>
            </a:br>
            <a:br>
              <a:rPr lang="en-US" altLang="en-US" dirty="0"/>
            </a:br>
            <a:r>
              <a:rPr lang="en-US" altLang="en-US" sz="3200" dirty="0">
                <a:solidFill>
                  <a:srgbClr val="FF6600"/>
                </a:solidFill>
              </a:rPr>
              <a:t>Class 5 :  Stress</a:t>
            </a:r>
            <a:endParaRPr lang="en-US" alt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FA658E78-7271-48AC-9436-6B17868A0B60}"/>
              </a:ext>
            </a:extLst>
          </p:cNvPr>
          <p:cNvSpPr>
            <a:spLocks noGrp="1" noChangeArrowheads="1"/>
          </p:cNvSpPr>
          <p:nvPr>
            <p:ph type="title"/>
          </p:nvPr>
        </p:nvSpPr>
        <p:spPr>
          <a:noFill/>
        </p:spPr>
        <p:txBody>
          <a:bodyPr/>
          <a:lstStyle/>
          <a:p>
            <a:r>
              <a:rPr lang="en-GB" altLang="en-US">
                <a:effectLst/>
              </a:rPr>
              <a:t>Force</a:t>
            </a:r>
          </a:p>
        </p:txBody>
      </p:sp>
      <p:sp>
        <p:nvSpPr>
          <p:cNvPr id="212995" name="Rectangle 3">
            <a:extLst>
              <a:ext uri="{FF2B5EF4-FFF2-40B4-BE49-F238E27FC236}">
                <a16:creationId xmlns:a16="http://schemas.microsoft.com/office/drawing/2014/main" id="{A8A54139-45F4-414D-B50D-9D5BEBDB8762}"/>
              </a:ext>
            </a:extLst>
          </p:cNvPr>
          <p:cNvSpPr>
            <a:spLocks noGrp="1" noChangeArrowheads="1"/>
          </p:cNvSpPr>
          <p:nvPr>
            <p:ph type="body" sz="half" idx="1"/>
          </p:nvPr>
        </p:nvSpPr>
        <p:spPr>
          <a:xfrm>
            <a:off x="112713" y="839788"/>
            <a:ext cx="8907462" cy="5868987"/>
          </a:xfrm>
          <a:noFill/>
        </p:spPr>
        <p:txBody>
          <a:bodyPr/>
          <a:lstStyle/>
          <a:p>
            <a:pPr marL="182563" indent="-182563"/>
            <a:r>
              <a:rPr lang="en-GB" altLang="en-US" sz="1700" dirty="0">
                <a:solidFill>
                  <a:srgbClr val="FF66CC"/>
                </a:solidFill>
                <a:effectLst/>
              </a:rPr>
              <a:t>Deformation</a:t>
            </a:r>
            <a:r>
              <a:rPr lang="en-GB" altLang="en-US" sz="1700" dirty="0">
                <a:effectLst/>
              </a:rPr>
              <a:t> occurs when a force is applied to a body; the concept of </a:t>
            </a:r>
            <a:r>
              <a:rPr lang="en-GB" altLang="en-US" sz="1700" dirty="0">
                <a:solidFill>
                  <a:srgbClr val="FF6600"/>
                </a:solidFill>
                <a:effectLst/>
              </a:rPr>
              <a:t>stress</a:t>
            </a:r>
            <a:r>
              <a:rPr lang="en-GB" altLang="en-US" sz="1700" dirty="0">
                <a:effectLst/>
              </a:rPr>
              <a:t> is used to describe the </a:t>
            </a:r>
            <a:r>
              <a:rPr lang="en-GB" altLang="en-US" sz="1700" dirty="0">
                <a:solidFill>
                  <a:srgbClr val="FFFF00"/>
                </a:solidFill>
                <a:effectLst/>
              </a:rPr>
              <a:t>physical state of a material body </a:t>
            </a:r>
            <a:r>
              <a:rPr lang="en-GB" altLang="en-US" sz="1700" dirty="0">
                <a:effectLst/>
              </a:rPr>
              <a:t>on which forces are applied. Hence, as structural geologists interested in deformation, we need to get to grips with stress</a:t>
            </a:r>
          </a:p>
          <a:p>
            <a:pPr marL="182563" indent="-182563"/>
            <a:r>
              <a:rPr lang="en-GB" altLang="en-US" sz="1700" dirty="0">
                <a:effectLst/>
              </a:rPr>
              <a:t>The concept of stress arises from a consideration of </a:t>
            </a:r>
            <a:r>
              <a:rPr lang="en-GB" altLang="en-US" sz="1700" dirty="0">
                <a:solidFill>
                  <a:srgbClr val="FF66CC"/>
                </a:solidFill>
                <a:effectLst/>
              </a:rPr>
              <a:t>surface forces</a:t>
            </a:r>
          </a:p>
          <a:p>
            <a:pPr marL="182563" indent="-182563">
              <a:spcBef>
                <a:spcPct val="75000"/>
              </a:spcBef>
            </a:pPr>
            <a:r>
              <a:rPr lang="en-GB" altLang="en-US" sz="1700" dirty="0">
                <a:effectLst/>
              </a:rPr>
              <a:t>There are two kinds of </a:t>
            </a:r>
            <a:r>
              <a:rPr lang="en-GB" altLang="en-US" sz="1700" dirty="0">
                <a:solidFill>
                  <a:srgbClr val="FF6600"/>
                </a:solidFill>
                <a:effectLst/>
              </a:rPr>
              <a:t>forces</a:t>
            </a:r>
            <a:r>
              <a:rPr lang="en-GB" altLang="en-US" sz="1700" dirty="0">
                <a:effectLst/>
              </a:rPr>
              <a:t>:</a:t>
            </a:r>
          </a:p>
          <a:p>
            <a:pPr marL="630238" lvl="1" indent="-268288">
              <a:spcBef>
                <a:spcPct val="25000"/>
              </a:spcBef>
              <a:buFont typeface="Times" panose="02020603050405020304" pitchFamily="18" charset="0"/>
              <a:buAutoNum type="arabicPeriod"/>
            </a:pPr>
            <a:r>
              <a:rPr lang="en-GB" altLang="en-US" sz="1700" dirty="0">
                <a:solidFill>
                  <a:srgbClr val="FF6600"/>
                </a:solidFill>
                <a:effectLst/>
              </a:rPr>
              <a:t>body forces</a:t>
            </a:r>
            <a:r>
              <a:rPr lang="en-GB" altLang="en-US" sz="1700" dirty="0">
                <a:effectLst/>
              </a:rPr>
              <a:t> which act at a distance on all the volume elements of a rock (</a:t>
            </a:r>
            <a:r>
              <a:rPr lang="en-GB" altLang="en-US" sz="1700" i="1" dirty="0">
                <a:effectLst/>
              </a:rPr>
              <a:t>e.g.</a:t>
            </a:r>
            <a:r>
              <a:rPr lang="en-GB" altLang="en-US" sz="1700" dirty="0">
                <a:effectLst/>
              </a:rPr>
              <a:t>, </a:t>
            </a:r>
            <a:r>
              <a:rPr lang="en-GB" altLang="en-US" sz="1700" dirty="0">
                <a:solidFill>
                  <a:srgbClr val="FF66CC"/>
                </a:solidFill>
                <a:effectLst/>
              </a:rPr>
              <a:t>gravity,</a:t>
            </a:r>
            <a:r>
              <a:rPr lang="en-GB" altLang="en-US" sz="1700" dirty="0">
                <a:effectLst/>
              </a:rPr>
              <a:t> </a:t>
            </a:r>
            <a:r>
              <a:rPr lang="en-GB" altLang="en-US" sz="1700" dirty="0">
                <a:solidFill>
                  <a:srgbClr val="FF66CC"/>
                </a:solidFill>
                <a:effectLst/>
              </a:rPr>
              <a:t>electromagnetic forces</a:t>
            </a:r>
            <a:r>
              <a:rPr lang="en-GB" altLang="en-US" sz="1700" dirty="0">
                <a:effectLst/>
              </a:rPr>
              <a:t>)</a:t>
            </a:r>
          </a:p>
          <a:p>
            <a:pPr marL="630238" lvl="1" indent="-268288">
              <a:buFont typeface="Times" panose="02020603050405020304" pitchFamily="18" charset="0"/>
              <a:buAutoNum type="arabicPeriod"/>
            </a:pPr>
            <a:r>
              <a:rPr lang="en-GB" altLang="en-US" sz="1700" dirty="0">
                <a:solidFill>
                  <a:srgbClr val="FF6600"/>
                </a:solidFill>
                <a:effectLst/>
              </a:rPr>
              <a:t>surface forces</a:t>
            </a:r>
            <a:r>
              <a:rPr lang="en-GB" altLang="en-US" sz="1700" dirty="0">
                <a:effectLst/>
              </a:rPr>
              <a:t> which arise directly from the action of one body on another across the surface between them (</a:t>
            </a:r>
            <a:r>
              <a:rPr lang="en-GB" altLang="en-US" sz="1700" i="1" dirty="0">
                <a:effectLst/>
              </a:rPr>
              <a:t>e.g</a:t>
            </a:r>
            <a:r>
              <a:rPr lang="en-GB" altLang="en-US" sz="1700" dirty="0">
                <a:effectLst/>
              </a:rPr>
              <a:t>., </a:t>
            </a:r>
            <a:r>
              <a:rPr lang="en-GB" altLang="en-US" sz="1700" dirty="0">
                <a:solidFill>
                  <a:srgbClr val="FF66CC"/>
                </a:solidFill>
                <a:effectLst/>
              </a:rPr>
              <a:t>when we push a block we apply a surface force across the area of contact between our hand and the block</a:t>
            </a:r>
            <a:r>
              <a:rPr lang="en-GB" altLang="en-US" sz="1700" dirty="0">
                <a:effectLst/>
              </a:rPr>
              <a:t>), or which arise indirectly from the action of one part of a body on another part across some imaginary internal surface – they describe the </a:t>
            </a:r>
            <a:r>
              <a:rPr lang="en-GB" altLang="en-US" sz="1700" dirty="0">
                <a:solidFill>
                  <a:srgbClr val="FF6600"/>
                </a:solidFill>
                <a:effectLst/>
              </a:rPr>
              <a:t>interatomic forces</a:t>
            </a:r>
            <a:r>
              <a:rPr lang="en-GB" altLang="en-US" sz="1700" dirty="0">
                <a:effectLst/>
              </a:rPr>
              <a:t> exerted by the material on one side of the imaginary surface upon the material on the other side</a:t>
            </a:r>
          </a:p>
          <a:p>
            <a:pPr marL="182563" indent="-182563"/>
            <a:r>
              <a:rPr lang="en-GB" altLang="en-US" sz="1700" dirty="0">
                <a:effectLst/>
              </a:rPr>
              <a:t>The </a:t>
            </a:r>
            <a:r>
              <a:rPr lang="en-GB" altLang="en-US" sz="1700" dirty="0">
                <a:solidFill>
                  <a:srgbClr val="FF66CC"/>
                </a:solidFill>
                <a:effectLst/>
              </a:rPr>
              <a:t>magnitude</a:t>
            </a:r>
            <a:r>
              <a:rPr lang="en-GB" altLang="en-US" sz="1700" dirty="0">
                <a:effectLst/>
              </a:rPr>
              <a:t> of a body force is directly proportional to </a:t>
            </a:r>
            <a:r>
              <a:rPr lang="en-GB" altLang="en-US" sz="1700" dirty="0">
                <a:solidFill>
                  <a:srgbClr val="FF66CC"/>
                </a:solidFill>
                <a:effectLst/>
              </a:rPr>
              <a:t>mass </a:t>
            </a:r>
            <a:r>
              <a:rPr lang="en-GB" altLang="en-US" sz="1700" dirty="0">
                <a:effectLst/>
              </a:rPr>
              <a:t>or</a:t>
            </a:r>
            <a:r>
              <a:rPr lang="en-GB" altLang="en-US" sz="1700" dirty="0">
                <a:solidFill>
                  <a:srgbClr val="FF66CC"/>
                </a:solidFill>
                <a:effectLst/>
              </a:rPr>
              <a:t> volume</a:t>
            </a:r>
            <a:r>
              <a:rPr lang="en-GB" altLang="en-US" sz="1700" dirty="0">
                <a:effectLst/>
              </a:rPr>
              <a:t>; the magnitude of a surface force is directly proportional to the </a:t>
            </a:r>
            <a:r>
              <a:rPr lang="en-GB" altLang="en-US" sz="1700" dirty="0">
                <a:solidFill>
                  <a:srgbClr val="FF66CC"/>
                </a:solidFill>
                <a:effectLst/>
              </a:rPr>
              <a:t>area of surface</a:t>
            </a:r>
            <a:r>
              <a:rPr lang="en-GB" altLang="en-US" sz="1700" dirty="0">
                <a:effectLst/>
              </a:rPr>
              <a:t> over which it acts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CFAC5F1D-6272-4E63-A186-E9FCB3F73063}"/>
              </a:ext>
            </a:extLst>
          </p:cNvPr>
          <p:cNvSpPr>
            <a:spLocks noGrp="1" noChangeArrowheads="1"/>
          </p:cNvSpPr>
          <p:nvPr>
            <p:ph type="title"/>
          </p:nvPr>
        </p:nvSpPr>
        <p:spPr>
          <a:noFill/>
        </p:spPr>
        <p:txBody>
          <a:bodyPr/>
          <a:lstStyle/>
          <a:p>
            <a:r>
              <a:rPr lang="en-GB" altLang="en-US">
                <a:effectLst/>
              </a:rPr>
              <a:t>Traction</a:t>
            </a:r>
          </a:p>
        </p:txBody>
      </p:sp>
      <p:sp>
        <p:nvSpPr>
          <p:cNvPr id="217091" name="Rectangle 3">
            <a:extLst>
              <a:ext uri="{FF2B5EF4-FFF2-40B4-BE49-F238E27FC236}">
                <a16:creationId xmlns:a16="http://schemas.microsoft.com/office/drawing/2014/main" id="{7444C136-6592-433F-9280-C6A186191880}"/>
              </a:ext>
            </a:extLst>
          </p:cNvPr>
          <p:cNvSpPr>
            <a:spLocks noGrp="1" noChangeArrowheads="1"/>
          </p:cNvSpPr>
          <p:nvPr>
            <p:ph type="body" sz="half" idx="1"/>
          </p:nvPr>
        </p:nvSpPr>
        <p:spPr>
          <a:xfrm>
            <a:off x="112713" y="811213"/>
            <a:ext cx="8907462" cy="779462"/>
          </a:xfrm>
          <a:noFill/>
        </p:spPr>
        <p:txBody>
          <a:bodyPr/>
          <a:lstStyle/>
          <a:p>
            <a:pPr marL="177800" indent="-177800"/>
            <a:r>
              <a:rPr lang="en-GB" altLang="en-US" sz="1700" dirty="0">
                <a:effectLst/>
              </a:rPr>
              <a:t>A large force obviously has a greater effect on an object than a small force. However, the response of the object is governed by the </a:t>
            </a:r>
            <a:r>
              <a:rPr lang="en-GB" altLang="en-US" sz="1700" dirty="0">
                <a:solidFill>
                  <a:srgbClr val="FF6600"/>
                </a:solidFill>
                <a:effectLst/>
              </a:rPr>
              <a:t>intensity of the force</a:t>
            </a:r>
            <a:r>
              <a:rPr lang="en-GB" altLang="en-US" sz="1700" dirty="0">
                <a:effectLst/>
              </a:rPr>
              <a:t>,</a:t>
            </a:r>
            <a:r>
              <a:rPr lang="en-GB" altLang="en-US" sz="1700" dirty="0">
                <a:solidFill>
                  <a:srgbClr val="FF6600"/>
                </a:solidFill>
                <a:effectLst/>
              </a:rPr>
              <a:t> </a:t>
            </a:r>
            <a:r>
              <a:rPr lang="en-GB" altLang="en-US" sz="1700" dirty="0">
                <a:solidFill>
                  <a:srgbClr val="FF66CC"/>
                </a:solidFill>
                <a:effectLst/>
              </a:rPr>
              <a:t>not by its magnitude</a:t>
            </a:r>
          </a:p>
        </p:txBody>
      </p:sp>
      <p:pic>
        <p:nvPicPr>
          <p:cNvPr id="217092" name="Picture 4" descr="01a">
            <a:extLst>
              <a:ext uri="{FF2B5EF4-FFF2-40B4-BE49-F238E27FC236}">
                <a16:creationId xmlns:a16="http://schemas.microsoft.com/office/drawing/2014/main" id="{C7737CE8-03C0-42E3-8180-B8C5A2D4A0A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92100" y="1784350"/>
            <a:ext cx="5397500" cy="29368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7094" name="Text Box 6">
            <a:extLst>
              <a:ext uri="{FF2B5EF4-FFF2-40B4-BE49-F238E27FC236}">
                <a16:creationId xmlns:a16="http://schemas.microsoft.com/office/drawing/2014/main" id="{C40C4006-16F0-4A16-9A99-6D56308E6F65}"/>
              </a:ext>
            </a:extLst>
          </p:cNvPr>
          <p:cNvSpPr txBox="1">
            <a:spLocks noChangeArrowheads="1"/>
          </p:cNvSpPr>
          <p:nvPr/>
        </p:nvSpPr>
        <p:spPr bwMode="auto">
          <a:xfrm>
            <a:off x="5935663" y="1647825"/>
            <a:ext cx="2970212"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starting point for considering stress is therefore</a:t>
            </a:r>
            <a:r>
              <a:rPr lang="en-GB" altLang="en-US" sz="1700" dirty="0">
                <a:solidFill>
                  <a:srgbClr val="FF6600"/>
                </a:solidFill>
                <a:effectLst>
                  <a:outerShdw blurRad="38100" dist="38100" dir="2700000" algn="tl">
                    <a:srgbClr val="000000"/>
                  </a:outerShdw>
                </a:effectLst>
                <a:latin typeface="Arial" panose="020B0604020202020204" pitchFamily="34" charset="0"/>
              </a:rPr>
              <a:t> traction</a:t>
            </a:r>
          </a:p>
          <a:p>
            <a:pPr>
              <a:lnSpc>
                <a:spcPct val="120000"/>
              </a:lnSpc>
              <a:spcBef>
                <a:spcPct val="75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Traction</a:t>
            </a:r>
            <a:r>
              <a:rPr lang="en-GB" altLang="en-US" sz="1700" dirty="0">
                <a:effectLst>
                  <a:outerShdw blurRad="38100" dist="38100" dir="2700000" algn="tl">
                    <a:srgbClr val="000000"/>
                  </a:outerShdw>
                </a:effectLst>
                <a:latin typeface="Arial" panose="020B0604020202020204" pitchFamily="34" charset="0"/>
              </a:rPr>
              <a:t> </a:t>
            </a:r>
            <a:r>
              <a:rPr lang="en-GB" altLang="en-US" sz="1700" spc="250" dirty="0">
                <a:effectLst>
                  <a:outerShdw blurRad="38100" dist="38100" dir="2700000" algn="tl">
                    <a:srgbClr val="000000"/>
                  </a:outerShdw>
                </a:effectLst>
                <a:latin typeface="Arial" panose="020B0604020202020204" pitchFamily="34" charset="0"/>
              </a:rPr>
              <a:t>(</a:t>
            </a:r>
            <a:r>
              <a:rPr lang="en-GB" altLang="en-US" sz="1700" i="1" spc="450" dirty="0">
                <a:solidFill>
                  <a:srgbClr val="FFFF00"/>
                </a:solidFill>
                <a:effectLst>
                  <a:outerShdw blurRad="38100" dist="38100" dir="2700000" algn="tl">
                    <a:srgbClr val="000000"/>
                  </a:outerShdw>
                </a:effectLst>
                <a:latin typeface="Arial" panose="020B0604020202020204" pitchFamily="34" charset="0"/>
              </a:rPr>
              <a:t>T</a:t>
            </a:r>
            <a:r>
              <a:rPr lang="en-GB" altLang="en-US" sz="1700" dirty="0">
                <a:effectLst>
                  <a:outerShdw blurRad="38100" dist="38100" dir="2700000" algn="tl">
                    <a:srgbClr val="000000"/>
                  </a:outerShdw>
                </a:effectLst>
                <a:latin typeface="Arial" panose="020B0604020202020204" pitchFamily="34" charset="0"/>
              </a:rPr>
              <a:t>) is force intensity and is defined as</a:t>
            </a:r>
          </a:p>
          <a:p>
            <a:pPr algn="ctr">
              <a:lnSpc>
                <a:spcPct val="120000"/>
              </a:lnSpc>
              <a:spcBef>
                <a:spcPct val="50000"/>
              </a:spcBef>
            </a:pPr>
            <a:r>
              <a:rPr lang="en-GB" altLang="en-US" sz="1700" i="1" dirty="0">
                <a:solidFill>
                  <a:srgbClr val="FFFF00"/>
                </a:solidFill>
                <a:effectLst>
                  <a:outerShdw blurRad="38100" dist="38100" dir="2700000" algn="tl">
                    <a:srgbClr val="000000"/>
                  </a:outerShdw>
                </a:effectLst>
                <a:latin typeface="Arial" panose="020B0604020202020204" pitchFamily="34" charset="0"/>
              </a:rPr>
              <a:t>T</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n-GB" altLang="en-US" sz="1700" i="1" spc="300" dirty="0">
                <a:solidFill>
                  <a:srgbClr val="FFFF00"/>
                </a:solidFill>
                <a:effectLst>
                  <a:outerShdw blurRad="38100" dist="38100" dir="2700000" algn="tl">
                    <a:srgbClr val="000000"/>
                  </a:outerShdw>
                </a:effectLst>
                <a:latin typeface="Arial" panose="020B0604020202020204" pitchFamily="34" charset="0"/>
              </a:rPr>
              <a:t>F</a:t>
            </a:r>
            <a:r>
              <a:rPr lang="en-GB" altLang="en-US" sz="1700" spc="300" dirty="0">
                <a:solidFill>
                  <a:srgbClr val="FFFF00"/>
                </a:solidFill>
                <a:effectLst>
                  <a:outerShdw blurRad="38100" dist="38100" dir="2700000" algn="tl">
                    <a:srgbClr val="000000"/>
                  </a:outerShdw>
                </a:effectLst>
                <a:latin typeface="Arial" panose="020B0604020202020204" pitchFamily="34" charset="0"/>
              </a:rPr>
              <a:t>/</a:t>
            </a:r>
            <a:r>
              <a:rPr lang="en-GB" altLang="en-US" sz="1700" i="1" dirty="0">
                <a:solidFill>
                  <a:srgbClr val="FFFF00"/>
                </a:solidFill>
                <a:effectLst>
                  <a:outerShdw blurRad="38100" dist="38100" dir="2700000" algn="tl">
                    <a:srgbClr val="000000"/>
                  </a:outerShdw>
                </a:effectLst>
                <a:latin typeface="Arial" panose="020B0604020202020204" pitchFamily="34" charset="0"/>
              </a:rPr>
              <a:t>A</a:t>
            </a:r>
            <a:endParaRPr lang="en-GB" altLang="en-US" sz="1700" dirty="0">
              <a:effectLst>
                <a:outerShdw blurRad="38100" dist="38100" dir="2700000" algn="tl">
                  <a:srgbClr val="000000"/>
                </a:outerShdw>
              </a:effectLst>
              <a:latin typeface="Arial" panose="020B0604020202020204" pitchFamily="34" charset="0"/>
            </a:endParaRPr>
          </a:p>
        </p:txBody>
      </p:sp>
      <p:sp>
        <p:nvSpPr>
          <p:cNvPr id="217095" name="Text Box 7">
            <a:extLst>
              <a:ext uri="{FF2B5EF4-FFF2-40B4-BE49-F238E27FC236}">
                <a16:creationId xmlns:a16="http://schemas.microsoft.com/office/drawing/2014/main" id="{E12566E6-FC53-4A5B-82E5-833166B52C87}"/>
              </a:ext>
            </a:extLst>
          </p:cNvPr>
          <p:cNvSpPr txBox="1">
            <a:spLocks noChangeArrowheads="1"/>
          </p:cNvSpPr>
          <p:nvPr/>
        </p:nvSpPr>
        <p:spPr bwMode="auto">
          <a:xfrm>
            <a:off x="128588" y="5041900"/>
            <a:ext cx="8897937"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3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SI unit of force is the </a:t>
            </a:r>
            <a:r>
              <a:rPr lang="en-GB" altLang="en-US" sz="1700" dirty="0">
                <a:solidFill>
                  <a:srgbClr val="FF66CC"/>
                </a:solidFill>
                <a:effectLst>
                  <a:outerShdw blurRad="38100" dist="38100" dir="2700000" algn="tl">
                    <a:srgbClr val="000000"/>
                  </a:outerShdw>
                </a:effectLst>
                <a:latin typeface="Arial" panose="020B0604020202020204" pitchFamily="34" charset="0"/>
              </a:rPr>
              <a:t>Newton</a:t>
            </a:r>
            <a:r>
              <a:rPr lang="en-GB" altLang="en-US" sz="1700" dirty="0">
                <a:effectLst>
                  <a:outerShdw blurRad="38100" dist="38100" dir="2700000" algn="tl">
                    <a:srgbClr val="000000"/>
                  </a:outerShdw>
                </a:effectLst>
                <a:latin typeface="Arial" panose="020B0604020202020204" pitchFamily="34" charset="0"/>
              </a:rPr>
              <a:t> </a:t>
            </a:r>
            <a:r>
              <a:rPr lang="en-GB" altLang="en-US" sz="1700" spc="150" dirty="0">
                <a:effectLst>
                  <a:outerShdw blurRad="38100" dist="38100" dir="2700000" algn="tl">
                    <a:srgbClr val="000000"/>
                  </a:outerShdw>
                </a:effectLst>
                <a:latin typeface="Arial" panose="020B0604020202020204" pitchFamily="34" charset="0"/>
              </a:rPr>
              <a:t>(N</a:t>
            </a:r>
            <a:r>
              <a:rPr lang="en-GB" altLang="en-US" sz="1700" dirty="0">
                <a:effectLst>
                  <a:outerShdw blurRad="38100" dist="38100" dir="2700000" algn="tl">
                    <a:srgbClr val="000000"/>
                  </a:outerShdw>
                </a:effectLst>
                <a:latin typeface="Arial" panose="020B0604020202020204" pitchFamily="34" charset="0"/>
              </a:rPr>
              <a:t>) - the force required to accelerate </a:t>
            </a:r>
            <a:r>
              <a:rPr lang="en-GB" altLang="en-US" sz="1700" dirty="0">
                <a:solidFill>
                  <a:srgbClr val="FFFF00"/>
                </a:solidFill>
                <a:effectLst>
                  <a:outerShdw blurRad="38100" dist="38100" dir="2700000" algn="tl">
                    <a:srgbClr val="000000"/>
                  </a:outerShdw>
                </a:effectLst>
                <a:latin typeface="Arial" panose="020B0604020202020204" pitchFamily="34" charset="0"/>
              </a:rPr>
              <a:t>1 kg </a:t>
            </a:r>
            <a:r>
              <a:rPr lang="en-GB" altLang="en-US" sz="1700" dirty="0">
                <a:effectLst>
                  <a:outerShdw blurRad="38100" dist="38100" dir="2700000" algn="tl">
                    <a:srgbClr val="000000"/>
                  </a:outerShdw>
                </a:effectLst>
                <a:latin typeface="Arial" panose="020B0604020202020204" pitchFamily="34" charset="0"/>
              </a:rPr>
              <a:t>at</a:t>
            </a:r>
            <a:r>
              <a:rPr lang="en-GB" altLang="en-US" sz="1700" dirty="0">
                <a:solidFill>
                  <a:srgbClr val="FFFF00"/>
                </a:solidFill>
                <a:effectLst>
                  <a:outerShdw blurRad="38100" dist="38100" dir="2700000" algn="tl">
                    <a:srgbClr val="000000"/>
                  </a:outerShdw>
                </a:effectLst>
                <a:latin typeface="Arial" panose="020B0604020202020204" pitchFamily="34" charset="0"/>
              </a:rPr>
              <a:t> 1 </a:t>
            </a:r>
            <a:r>
              <a:rPr lang="en-GB" altLang="en-US" sz="1700" spc="150" dirty="0">
                <a:solidFill>
                  <a:srgbClr val="FFFF00"/>
                </a:solidFill>
                <a:effectLst>
                  <a:outerShdw blurRad="38100" dist="38100" dir="2700000" algn="tl">
                    <a:srgbClr val="000000"/>
                  </a:outerShdw>
                </a:effectLst>
                <a:latin typeface="Arial" panose="020B0604020202020204" pitchFamily="34" charset="0"/>
              </a:rPr>
              <a:t>m</a:t>
            </a:r>
            <a:r>
              <a:rPr lang="en-GB" altLang="en-US" sz="1700" dirty="0">
                <a:solidFill>
                  <a:srgbClr val="FFFF00"/>
                </a:solidFill>
                <a:effectLst>
                  <a:outerShdw blurRad="38100" dist="38100" dir="2700000" algn="tl">
                    <a:srgbClr val="000000"/>
                  </a:outerShdw>
                </a:effectLst>
                <a:latin typeface="Arial" panose="020B0604020202020204" pitchFamily="34" charset="0"/>
              </a:rPr>
              <a:t>s</a:t>
            </a:r>
            <a:r>
              <a:rPr lang="en-GB" altLang="en-US" sz="1700" baseline="30000" dirty="0">
                <a:solidFill>
                  <a:srgbClr val="FFFF00"/>
                </a:solidFill>
                <a:effectLst>
                  <a:outerShdw blurRad="38100" dist="38100" dir="2700000" algn="tl">
                    <a:srgbClr val="000000"/>
                  </a:outerShdw>
                </a:effectLst>
                <a:latin typeface="Arial" panose="020B0604020202020204" pitchFamily="34" charset="0"/>
              </a:rPr>
              <a:t>-2</a:t>
            </a:r>
          </a:p>
          <a:p>
            <a:pPr>
              <a:lnSpc>
                <a:spcPct val="120000"/>
              </a:lnSpc>
              <a:spcBef>
                <a:spcPct val="3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Hence the SI unit of traction is </a:t>
            </a:r>
            <a:r>
              <a:rPr lang="en-GB" altLang="en-US" sz="1700" spc="250" dirty="0">
                <a:effectLst>
                  <a:outerShdw blurRad="38100" dist="38100" dir="2700000" algn="tl">
                    <a:srgbClr val="000000"/>
                  </a:outerShdw>
                </a:effectLst>
                <a:latin typeface="Arial" panose="020B0604020202020204" pitchFamily="34" charset="0"/>
              </a:rPr>
              <a:t>N/</a:t>
            </a:r>
            <a:r>
              <a:rPr lang="en-GB" altLang="en-US" sz="1700" dirty="0">
                <a:effectLst>
                  <a:outerShdw blurRad="38100" dist="38100" dir="2700000" algn="tl">
                    <a:srgbClr val="000000"/>
                  </a:outerShdw>
                </a:effectLst>
                <a:latin typeface="Arial" panose="020B0604020202020204" pitchFamily="34" charset="0"/>
              </a:rPr>
              <a:t>m</a:t>
            </a:r>
            <a:r>
              <a:rPr lang="en-GB" altLang="en-US" sz="1700" baseline="30000" dirty="0">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 which is known as a </a:t>
            </a:r>
            <a:r>
              <a:rPr lang="en-GB" altLang="en-US" sz="1700" dirty="0">
                <a:solidFill>
                  <a:srgbClr val="FF66CC"/>
                </a:solidFill>
                <a:effectLst>
                  <a:outerShdw blurRad="38100" dist="38100" dir="2700000" algn="tl">
                    <a:srgbClr val="000000"/>
                  </a:outerShdw>
                </a:effectLst>
                <a:latin typeface="Arial" panose="020B0604020202020204" pitchFamily="34" charset="0"/>
              </a:rPr>
              <a:t>Pascal</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1 Pa = 1 </a:t>
            </a:r>
            <a:r>
              <a:rPr lang="en-GB" altLang="en-US" sz="1700" spc="150" dirty="0">
                <a:solidFill>
                  <a:srgbClr val="FFFF00"/>
                </a:solidFill>
                <a:effectLst>
                  <a:outerShdw blurRad="38100" dist="38100" dir="2700000" algn="tl">
                    <a:srgbClr val="000000"/>
                  </a:outerShdw>
                </a:effectLst>
                <a:latin typeface="Arial" panose="020B0604020202020204" pitchFamily="34" charset="0"/>
              </a:rPr>
              <a:t>N</a:t>
            </a:r>
            <a:r>
              <a:rPr lang="en-GB" altLang="en-US" sz="1700" dirty="0">
                <a:solidFill>
                  <a:srgbClr val="FFFF00"/>
                </a:solidFill>
                <a:effectLst>
                  <a:outerShdw blurRad="38100" dist="38100" dir="2700000" algn="tl">
                    <a:srgbClr val="000000"/>
                  </a:outerShdw>
                </a:effectLst>
                <a:latin typeface="Arial" panose="020B0604020202020204" pitchFamily="34" charset="0"/>
              </a:rPr>
              <a:t>m</a:t>
            </a:r>
            <a:r>
              <a:rPr lang="en-GB" altLang="en-US" sz="1700" baseline="30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a:t>
            </a:r>
          </a:p>
          <a:p>
            <a:pPr>
              <a:lnSpc>
                <a:spcPct val="120000"/>
              </a:lnSpc>
              <a:spcBef>
                <a:spcPct val="3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Pascal is a small quantity – we commonly work in </a:t>
            </a:r>
            <a:r>
              <a:rPr lang="en-GB" altLang="en-US" sz="1700" dirty="0" err="1">
                <a:solidFill>
                  <a:srgbClr val="FF66CC"/>
                </a:solidFill>
                <a:effectLst>
                  <a:outerShdw blurRad="38100" dist="38100" dir="2700000" algn="tl">
                    <a:srgbClr val="000000"/>
                  </a:outerShdw>
                </a:effectLst>
                <a:latin typeface="Arial" panose="020B0604020202020204" pitchFamily="34" charset="0"/>
              </a:rPr>
              <a:t>megaPascals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err="1">
                <a:effectLst>
                  <a:outerShdw blurRad="38100" dist="38100" dir="2700000" algn="tl">
                    <a:srgbClr val="000000"/>
                  </a:outerShdw>
                </a:effectLst>
                <a:latin typeface="Arial" panose="020B0604020202020204" pitchFamily="34" charset="0"/>
              </a:rPr>
              <a:t>MPa</a:t>
            </a:r>
            <a:r>
              <a:rPr lang="en-GB" altLang="en-US" sz="1700" dirty="0">
                <a:effectLst>
                  <a:outerShdw blurRad="38100" dist="38100" dir="2700000" algn="tl">
                    <a:srgbClr val="000000"/>
                  </a:outerShdw>
                </a:effectLst>
                <a:latin typeface="Arial" panose="020B0604020202020204" pitchFamily="34" charset="0"/>
              </a:rPr>
              <a:t>), </a:t>
            </a:r>
          </a:p>
          <a:p>
            <a:pPr>
              <a:lnSpc>
                <a:spcPct val="120000"/>
              </a:lnSpc>
              <a:spcBef>
                <a:spcPct val="0"/>
              </a:spcBef>
              <a:buClr>
                <a:schemeClr val="tx1"/>
              </a:buClr>
            </a:pPr>
            <a:r>
              <a:rPr lang="en-GB" altLang="en-US" sz="1700" dirty="0">
                <a:effectLst>
                  <a:outerShdw blurRad="38100" dist="38100" dir="2700000" algn="tl">
                    <a:srgbClr val="000000"/>
                  </a:outerShdw>
                </a:effectLst>
                <a:latin typeface="Arial" panose="020B0604020202020204" pitchFamily="34" charset="0"/>
              </a:rPr>
              <a:t>	where </a:t>
            </a:r>
            <a:r>
              <a:rPr lang="en-GB" altLang="en-US" sz="1700" dirty="0">
                <a:solidFill>
                  <a:srgbClr val="FFFF00"/>
                </a:solidFill>
                <a:effectLst>
                  <a:outerShdw blurRad="38100" dist="38100" dir="2700000" algn="tl">
                    <a:srgbClr val="000000"/>
                  </a:outerShdw>
                </a:effectLst>
                <a:latin typeface="Arial" panose="020B0604020202020204" pitchFamily="34" charset="0"/>
              </a:rPr>
              <a:t>1 </a:t>
            </a:r>
            <a:r>
              <a:rPr lang="en-GB" altLang="en-US" sz="1700" dirty="0" err="1">
                <a:solidFill>
                  <a:srgbClr val="FFFF00"/>
                </a:solidFill>
                <a:effectLst>
                  <a:outerShdw blurRad="38100" dist="38100" dir="2700000" algn="tl">
                    <a:srgbClr val="000000"/>
                  </a:outerShdw>
                </a:effectLst>
                <a:latin typeface="Arial" panose="020B0604020202020204" pitchFamily="34" charset="0"/>
              </a:rPr>
              <a:t>MPa</a:t>
            </a:r>
            <a:r>
              <a:rPr lang="en-GB" altLang="en-US" sz="1700" dirty="0">
                <a:solidFill>
                  <a:srgbClr val="FFFF00"/>
                </a:solidFill>
                <a:effectLst>
                  <a:outerShdw blurRad="38100" dist="38100" dir="2700000" algn="tl">
                    <a:srgbClr val="000000"/>
                  </a:outerShdw>
                </a:effectLst>
                <a:latin typeface="Arial" panose="020B0604020202020204" pitchFamily="34" charset="0"/>
              </a:rPr>
              <a:t> = 10</a:t>
            </a:r>
            <a:r>
              <a:rPr lang="en-GB" altLang="en-US" sz="1700" baseline="30000" dirty="0">
                <a:solidFill>
                  <a:srgbClr val="FFFF00"/>
                </a:solidFill>
                <a:effectLst>
                  <a:outerShdw blurRad="38100" dist="38100" dir="2700000" algn="tl">
                    <a:srgbClr val="000000"/>
                  </a:outerShdw>
                </a:effectLst>
                <a:latin typeface="Arial" panose="020B0604020202020204" pitchFamily="34" charset="0"/>
              </a:rPr>
              <a:t>6</a:t>
            </a:r>
            <a:r>
              <a:rPr lang="en-GB" altLang="en-US" sz="1700" dirty="0">
                <a:solidFill>
                  <a:srgbClr val="FFFF00"/>
                </a:solidFill>
                <a:effectLst>
                  <a:outerShdw blurRad="38100" dist="38100" dir="2700000" algn="tl">
                    <a:srgbClr val="000000"/>
                  </a:outerShdw>
                </a:effectLst>
                <a:latin typeface="Arial" panose="020B0604020202020204" pitchFamily="34" charset="0"/>
              </a:rPr>
              <a:t> Pa  </a:t>
            </a:r>
            <a:r>
              <a:rPr lang="en-GB" altLang="en-US" sz="1700" dirty="0">
                <a:solidFill>
                  <a:srgbClr val="FF66CC"/>
                </a:solidFill>
                <a:effectLst>
                  <a:outerShdw blurRad="38100" dist="38100" dir="2700000" algn="tl">
                    <a:srgbClr val="000000"/>
                  </a:outerShdw>
                </a:effectLst>
                <a:latin typeface="Arial" panose="020B0604020202020204" pitchFamily="34" charset="0"/>
              </a:rPr>
              <a:t>(NB. 1 </a:t>
            </a:r>
            <a:r>
              <a:rPr lang="en-GB" altLang="en-US" sz="1700" dirty="0" err="1">
                <a:solidFill>
                  <a:srgbClr val="FF66CC"/>
                </a:solidFill>
                <a:effectLst>
                  <a:outerShdw blurRad="38100" dist="38100" dir="2700000" algn="tl">
                    <a:srgbClr val="000000"/>
                  </a:outerShdw>
                </a:effectLst>
                <a:latin typeface="Arial" panose="020B0604020202020204" pitchFamily="34" charset="0"/>
              </a:rPr>
              <a:t>kbar</a:t>
            </a:r>
            <a:r>
              <a:rPr lang="en-GB" altLang="en-US" sz="1700" dirty="0">
                <a:solidFill>
                  <a:srgbClr val="FF66CC"/>
                </a:solidFill>
                <a:effectLst>
                  <a:outerShdw blurRad="38100" dist="38100" dir="2700000" algn="tl">
                    <a:srgbClr val="000000"/>
                  </a:outerShdw>
                </a:effectLst>
                <a:latin typeface="Arial" panose="020B0604020202020204" pitchFamily="34" charset="0"/>
              </a:rPr>
              <a:t> = 100 </a:t>
            </a:r>
            <a:r>
              <a:rPr lang="en-GB" altLang="en-US" sz="1700" dirty="0" err="1">
                <a:solidFill>
                  <a:srgbClr val="FF66CC"/>
                </a:solidFill>
                <a:effectLst>
                  <a:outerShdw blurRad="38100" dist="38100" dir="2700000" algn="tl">
                    <a:srgbClr val="000000"/>
                  </a:outerShdw>
                </a:effectLst>
                <a:latin typeface="Arial" panose="020B0604020202020204" pitchFamily="34" charset="0"/>
              </a:rPr>
              <a:t>MPa</a:t>
            </a:r>
            <a:r>
              <a:rPr lang="en-GB" altLang="en-US" sz="1700" dirty="0">
                <a:solidFill>
                  <a:srgbClr val="FF66CC"/>
                </a:solidFill>
                <a:effectLst>
                  <a:outerShdw blurRad="38100" dist="38100" dir="2700000" algn="tl">
                    <a:srgbClr val="000000"/>
                  </a:outerShdw>
                </a:effectLst>
                <a:latin typeface="Arial" panose="020B0604020202020204" pitchFamily="34" charset="0"/>
              </a:rPr>
              <a:t>)</a:t>
            </a:r>
          </a:p>
        </p:txBody>
      </p:sp>
      <p:sp>
        <p:nvSpPr>
          <p:cNvPr id="217096" name="Text Box 8">
            <a:extLst>
              <a:ext uri="{FF2B5EF4-FFF2-40B4-BE49-F238E27FC236}">
                <a16:creationId xmlns:a16="http://schemas.microsoft.com/office/drawing/2014/main" id="{EEC32107-8BB8-4C80-A113-EEB1278DBC77}"/>
              </a:ext>
            </a:extLst>
          </p:cNvPr>
          <p:cNvSpPr txBox="1">
            <a:spLocks noChangeArrowheads="1"/>
          </p:cNvSpPr>
          <p:nvPr/>
        </p:nvSpPr>
        <p:spPr bwMode="auto">
          <a:xfrm>
            <a:off x="6546850" y="4124325"/>
            <a:ext cx="6873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dirty="0">
                <a:solidFill>
                  <a:srgbClr val="66FF33"/>
                </a:solidFill>
                <a:effectLst>
                  <a:outerShdw blurRad="38100" dist="38100" dir="2700000" algn="tl">
                    <a:srgbClr val="000000"/>
                  </a:outerShdw>
                </a:effectLst>
                <a:latin typeface="Arial" panose="020B0604020202020204" pitchFamily="34" charset="0"/>
              </a:rPr>
              <a:t>force</a:t>
            </a:r>
          </a:p>
        </p:txBody>
      </p:sp>
      <p:sp>
        <p:nvSpPr>
          <p:cNvPr id="217097" name="Text Box 9">
            <a:extLst>
              <a:ext uri="{FF2B5EF4-FFF2-40B4-BE49-F238E27FC236}">
                <a16:creationId xmlns:a16="http://schemas.microsoft.com/office/drawing/2014/main" id="{522C6777-ACB2-4AD2-894F-72DE3EDAB697}"/>
              </a:ext>
            </a:extLst>
          </p:cNvPr>
          <p:cNvSpPr txBox="1">
            <a:spLocks noChangeArrowheads="1"/>
          </p:cNvSpPr>
          <p:nvPr/>
        </p:nvSpPr>
        <p:spPr bwMode="auto">
          <a:xfrm>
            <a:off x="7391400" y="4214813"/>
            <a:ext cx="14763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5000"/>
              </a:lnSpc>
              <a:spcBef>
                <a:spcPct val="0"/>
              </a:spcBef>
            </a:pPr>
            <a:r>
              <a:rPr lang="en-GB" altLang="en-US" sz="1400" dirty="0">
                <a:solidFill>
                  <a:srgbClr val="66FF33"/>
                </a:solidFill>
                <a:effectLst>
                  <a:outerShdw blurRad="38100" dist="38100" dir="2700000" algn="tl">
                    <a:srgbClr val="000000"/>
                  </a:outerShdw>
                </a:effectLst>
                <a:latin typeface="Arial" panose="020B0604020202020204" pitchFamily="34" charset="0"/>
              </a:rPr>
              <a:t>area over which</a:t>
            </a:r>
          </a:p>
          <a:p>
            <a:pPr algn="ctr">
              <a:lnSpc>
                <a:spcPct val="115000"/>
              </a:lnSpc>
              <a:spcBef>
                <a:spcPct val="0"/>
              </a:spcBef>
            </a:pPr>
            <a:r>
              <a:rPr lang="en-GB" altLang="en-US" sz="1400" dirty="0">
                <a:solidFill>
                  <a:srgbClr val="66FF33"/>
                </a:solidFill>
                <a:effectLst>
                  <a:outerShdw blurRad="38100" dist="38100" dir="2700000" algn="tl">
                    <a:srgbClr val="000000"/>
                  </a:outerShdw>
                </a:effectLst>
                <a:latin typeface="Arial" panose="020B0604020202020204" pitchFamily="34" charset="0"/>
              </a:rPr>
              <a:t>the force acts</a:t>
            </a:r>
          </a:p>
        </p:txBody>
      </p:sp>
      <p:sp>
        <p:nvSpPr>
          <p:cNvPr id="217098" name="Line 10">
            <a:extLst>
              <a:ext uri="{FF2B5EF4-FFF2-40B4-BE49-F238E27FC236}">
                <a16:creationId xmlns:a16="http://schemas.microsoft.com/office/drawing/2014/main" id="{2B7AAC9F-21EC-4831-AEE8-DDC9DF314C76}"/>
              </a:ext>
            </a:extLst>
          </p:cNvPr>
          <p:cNvSpPr>
            <a:spLocks noChangeShapeType="1"/>
          </p:cNvSpPr>
          <p:nvPr/>
        </p:nvSpPr>
        <p:spPr bwMode="auto">
          <a:xfrm flipV="1">
            <a:off x="7123113" y="3929063"/>
            <a:ext cx="328612" cy="273050"/>
          </a:xfrm>
          <a:prstGeom prst="line">
            <a:avLst/>
          </a:prstGeom>
          <a:noFill/>
          <a:ln w="19050">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7099" name="Line 11">
            <a:extLst>
              <a:ext uri="{FF2B5EF4-FFF2-40B4-BE49-F238E27FC236}">
                <a16:creationId xmlns:a16="http://schemas.microsoft.com/office/drawing/2014/main" id="{EA7EB4CB-84A7-465F-8083-5BBCC199620E}"/>
              </a:ext>
            </a:extLst>
          </p:cNvPr>
          <p:cNvSpPr>
            <a:spLocks noChangeShapeType="1"/>
          </p:cNvSpPr>
          <p:nvPr/>
        </p:nvSpPr>
        <p:spPr bwMode="auto">
          <a:xfrm flipH="1" flipV="1">
            <a:off x="7840663" y="3929063"/>
            <a:ext cx="138112" cy="296862"/>
          </a:xfrm>
          <a:prstGeom prst="line">
            <a:avLst/>
          </a:prstGeom>
          <a:noFill/>
          <a:ln w="19050">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4328" name="Picture 24" descr="01e">
            <a:extLst>
              <a:ext uri="{FF2B5EF4-FFF2-40B4-BE49-F238E27FC236}">
                <a16:creationId xmlns:a16="http://schemas.microsoft.com/office/drawing/2014/main" id="{99E184BF-5FE8-438A-B5B4-E6B5557AFB04}"/>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489575" y="863600"/>
            <a:ext cx="3305175" cy="584993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4306" name="Rectangle 2">
            <a:extLst>
              <a:ext uri="{FF2B5EF4-FFF2-40B4-BE49-F238E27FC236}">
                <a16:creationId xmlns:a16="http://schemas.microsoft.com/office/drawing/2014/main" id="{C648C0C6-B89F-4C08-A1E1-289495F2C015}"/>
              </a:ext>
            </a:extLst>
          </p:cNvPr>
          <p:cNvSpPr>
            <a:spLocks noGrp="1" noChangeArrowheads="1"/>
          </p:cNvSpPr>
          <p:nvPr>
            <p:ph type="title"/>
          </p:nvPr>
        </p:nvSpPr>
        <p:spPr>
          <a:noFill/>
        </p:spPr>
        <p:txBody>
          <a:bodyPr/>
          <a:lstStyle/>
          <a:p>
            <a:r>
              <a:rPr lang="en-GB" altLang="en-US">
                <a:effectLst/>
              </a:rPr>
              <a:t>The traction vector</a:t>
            </a:r>
          </a:p>
        </p:txBody>
      </p:sp>
      <p:sp>
        <p:nvSpPr>
          <p:cNvPr id="354307" name="Rectangle 3">
            <a:extLst>
              <a:ext uri="{FF2B5EF4-FFF2-40B4-BE49-F238E27FC236}">
                <a16:creationId xmlns:a16="http://schemas.microsoft.com/office/drawing/2014/main" id="{82020C98-973A-479C-8022-E4AD75580FC6}"/>
              </a:ext>
            </a:extLst>
          </p:cNvPr>
          <p:cNvSpPr>
            <a:spLocks noGrp="1" noChangeArrowheads="1"/>
          </p:cNvSpPr>
          <p:nvPr>
            <p:ph type="body" sz="half" idx="1"/>
          </p:nvPr>
        </p:nvSpPr>
        <p:spPr>
          <a:xfrm>
            <a:off x="136525" y="2925763"/>
            <a:ext cx="5140325" cy="2668587"/>
          </a:xfrm>
          <a:noFill/>
        </p:spPr>
        <p:txBody>
          <a:bodyPr/>
          <a:lstStyle/>
          <a:p>
            <a:pPr marL="177800" indent="-177800">
              <a:spcBef>
                <a:spcPct val="75000"/>
              </a:spcBef>
              <a:buFont typeface="Times" panose="02020603050405020304" pitchFamily="18" charset="0"/>
              <a:buNone/>
              <a:tabLst>
                <a:tab pos="446088" algn="l"/>
              </a:tabLst>
            </a:pPr>
            <a:r>
              <a:rPr lang="en-GB" altLang="en-US" sz="1600" i="1" dirty="0">
                <a:solidFill>
                  <a:srgbClr val="FFFF00"/>
                </a:solidFill>
                <a:effectLst/>
              </a:rPr>
              <a:t>	</a:t>
            </a:r>
            <a:r>
              <a:rPr lang="en-GB" altLang="en-US" sz="1600" i="1" dirty="0" err="1">
                <a:solidFill>
                  <a:srgbClr val="FFFF00"/>
                </a:solidFill>
                <a:effectLst/>
              </a:rPr>
              <a:t>T</a:t>
            </a:r>
            <a:r>
              <a:rPr lang="en-GB" altLang="en-US" sz="1600" i="1" baseline="-25000" dirty="0" err="1">
                <a:solidFill>
                  <a:srgbClr val="FFFF00"/>
                </a:solidFill>
                <a:effectLst/>
              </a:rPr>
              <a:t>n</a:t>
            </a:r>
            <a:r>
              <a:rPr lang="en-GB" altLang="en-US" sz="1600" i="1" dirty="0">
                <a:solidFill>
                  <a:srgbClr val="FFFF00"/>
                </a:solidFill>
                <a:effectLst/>
              </a:rPr>
              <a:t>	</a:t>
            </a:r>
            <a:r>
              <a:rPr lang="en-GB" altLang="en-US" sz="1600" dirty="0">
                <a:solidFill>
                  <a:srgbClr val="FFFF00"/>
                </a:solidFill>
                <a:effectLst/>
              </a:rPr>
              <a:t>=  </a:t>
            </a:r>
            <a:r>
              <a:rPr lang="en-GB" altLang="en-US" sz="1600" i="1" dirty="0" err="1">
                <a:solidFill>
                  <a:srgbClr val="FFFF00"/>
                </a:solidFill>
                <a:effectLst/>
              </a:rPr>
              <a:t>F</a:t>
            </a:r>
            <a:r>
              <a:rPr lang="en-GB" altLang="en-US" sz="1600" i="1" baseline="-25000" dirty="0" err="1">
                <a:solidFill>
                  <a:srgbClr val="FFFF00"/>
                </a:solidFill>
                <a:effectLst/>
              </a:rPr>
              <a:t>n</a:t>
            </a:r>
            <a:r>
              <a:rPr lang="en-GB" altLang="en-US" sz="1600" dirty="0">
                <a:solidFill>
                  <a:srgbClr val="FFFF00"/>
                </a:solidFill>
                <a:effectLst/>
              </a:rPr>
              <a:t> /</a:t>
            </a:r>
            <a:r>
              <a:rPr lang="en-GB" altLang="en-US" sz="800" dirty="0">
                <a:solidFill>
                  <a:srgbClr val="FFFF00"/>
                </a:solidFill>
                <a:effectLst/>
              </a:rPr>
              <a:t> </a:t>
            </a:r>
            <a:r>
              <a:rPr lang="en-GB" altLang="en-US" sz="1600" i="1" dirty="0">
                <a:solidFill>
                  <a:srgbClr val="FFFF00"/>
                </a:solidFill>
                <a:effectLst/>
              </a:rPr>
              <a:t>A</a:t>
            </a:r>
            <a:r>
              <a:rPr lang="en-GB" altLang="en-US" sz="1600" baseline="-25000" dirty="0">
                <a:solidFill>
                  <a:srgbClr val="FFFF00"/>
                </a:solidFill>
                <a:effectLst/>
              </a:rPr>
              <a:t>2</a:t>
            </a:r>
          </a:p>
          <a:p>
            <a:pPr marL="177800" indent="-177800">
              <a:spcBef>
                <a:spcPct val="25000"/>
              </a:spcBef>
              <a:buFont typeface="Times" panose="02020603050405020304" pitchFamily="18" charset="0"/>
              <a:buNone/>
              <a:tabLst>
                <a:tab pos="446088" algn="l"/>
              </a:tabLst>
            </a:pPr>
            <a:r>
              <a:rPr lang="en-GB" altLang="en-US" sz="1600" baseline="-25000" dirty="0">
                <a:solidFill>
                  <a:srgbClr val="FFFF00"/>
                </a:solidFill>
                <a:effectLst/>
              </a:rPr>
              <a:t>		</a:t>
            </a:r>
            <a:r>
              <a:rPr lang="en-GB" altLang="en-US" sz="1600" dirty="0">
                <a:solidFill>
                  <a:srgbClr val="FFFF00"/>
                </a:solidFill>
                <a:effectLst/>
              </a:rPr>
              <a:t>=  (</a:t>
            </a:r>
            <a:r>
              <a:rPr lang="en-GB" altLang="en-US" sz="800" dirty="0">
                <a:solidFill>
                  <a:srgbClr val="FFFF00"/>
                </a:solidFill>
                <a:effectLst/>
              </a:rPr>
              <a:t> </a:t>
            </a:r>
            <a:r>
              <a:rPr lang="en-GB" altLang="en-US" sz="1600" i="1" dirty="0">
                <a:solidFill>
                  <a:srgbClr val="FFFF00"/>
                </a:solidFill>
                <a:effectLst/>
              </a:rPr>
              <a:t>F</a:t>
            </a:r>
            <a:r>
              <a:rPr lang="en-GB" altLang="en-US" sz="1600" dirty="0">
                <a:solidFill>
                  <a:srgbClr val="FFFF00"/>
                </a:solidFill>
                <a:effectLst/>
              </a:rPr>
              <a:t> cos </a:t>
            </a:r>
            <a:r>
              <a:rPr lang="el-GR" altLang="en-US" sz="1600" i="1" dirty="0">
                <a:solidFill>
                  <a:srgbClr val="FFFF00"/>
                </a:solidFill>
                <a:effectLst/>
                <a:latin typeface="Cambria Math" panose="02040503050406030204" pitchFamily="18" charset="0"/>
                <a:ea typeface="Cambria Math" panose="02040503050406030204" pitchFamily="18" charset="0"/>
              </a:rPr>
              <a:t>θ</a:t>
            </a:r>
            <a:r>
              <a:rPr lang="en-GB" altLang="en-US" sz="1600" dirty="0">
                <a:solidFill>
                  <a:srgbClr val="FFFF00"/>
                </a:solidFill>
                <a:effectLst/>
              </a:rPr>
              <a:t> ) /</a:t>
            </a:r>
            <a:r>
              <a:rPr lang="en-GB" altLang="en-US" sz="800" dirty="0">
                <a:solidFill>
                  <a:srgbClr val="FFFF00"/>
                </a:solidFill>
                <a:effectLst/>
              </a:rPr>
              <a:t> </a:t>
            </a:r>
            <a:r>
              <a:rPr lang="en-GB" altLang="en-US" sz="1600" i="1" dirty="0">
                <a:solidFill>
                  <a:srgbClr val="FFFF00"/>
                </a:solidFill>
                <a:effectLst/>
              </a:rPr>
              <a:t>A</a:t>
            </a:r>
            <a:r>
              <a:rPr lang="en-GB" altLang="en-US" sz="1600" baseline="-25000" dirty="0">
                <a:solidFill>
                  <a:srgbClr val="FFFF00"/>
                </a:solidFill>
                <a:effectLst/>
              </a:rPr>
              <a:t>2</a:t>
            </a:r>
          </a:p>
          <a:p>
            <a:pPr marL="177800" indent="-177800">
              <a:spcBef>
                <a:spcPct val="25000"/>
              </a:spcBef>
              <a:buNone/>
              <a:tabLst>
                <a:tab pos="446088" algn="l"/>
              </a:tabLst>
            </a:pPr>
            <a:r>
              <a:rPr lang="en-GB" altLang="en-US" sz="1600" dirty="0">
                <a:solidFill>
                  <a:srgbClr val="FFFF00"/>
                </a:solidFill>
                <a:effectLst/>
              </a:rPr>
              <a:t>		=  (</a:t>
            </a:r>
            <a:r>
              <a:rPr lang="en-GB" altLang="en-US" sz="800" dirty="0">
                <a:solidFill>
                  <a:srgbClr val="FFFF00"/>
                </a:solidFill>
                <a:effectLst/>
              </a:rPr>
              <a:t> </a:t>
            </a:r>
            <a:r>
              <a:rPr lang="en-GB" altLang="en-US" sz="1600" i="1" dirty="0">
                <a:solidFill>
                  <a:srgbClr val="FFFF00"/>
                </a:solidFill>
                <a:effectLst/>
              </a:rPr>
              <a:t>F</a:t>
            </a:r>
            <a:r>
              <a:rPr lang="en-GB" altLang="en-US" sz="800" i="1" dirty="0">
                <a:solidFill>
                  <a:srgbClr val="FFFF00"/>
                </a:solidFill>
                <a:effectLst/>
              </a:rPr>
              <a:t> </a:t>
            </a:r>
            <a:r>
              <a:rPr lang="en-GB" altLang="en-US" sz="1600" dirty="0">
                <a:solidFill>
                  <a:srgbClr val="FFFF00"/>
                </a:solidFill>
                <a:effectLst/>
              </a:rPr>
              <a:t>/</a:t>
            </a:r>
            <a:r>
              <a:rPr lang="en-GB" altLang="en-US" sz="800" dirty="0">
                <a:solidFill>
                  <a:srgbClr val="FFFF00"/>
                </a:solidFill>
                <a:effectLst/>
              </a:rPr>
              <a:t> </a:t>
            </a:r>
            <a:r>
              <a:rPr lang="en-GB" altLang="en-US" sz="1600" i="1" dirty="0">
                <a:solidFill>
                  <a:srgbClr val="FFFF00"/>
                </a:solidFill>
                <a:effectLst/>
              </a:rPr>
              <a:t>A</a:t>
            </a:r>
            <a:r>
              <a:rPr lang="en-GB" altLang="en-US" sz="1600" baseline="-25000" dirty="0">
                <a:solidFill>
                  <a:srgbClr val="FFFF00"/>
                </a:solidFill>
                <a:effectLst/>
              </a:rPr>
              <a:t>1</a:t>
            </a:r>
            <a:r>
              <a:rPr lang="en-GB" altLang="en-US" sz="800" baseline="-25000" dirty="0">
                <a:solidFill>
                  <a:srgbClr val="FFFF00"/>
                </a:solidFill>
                <a:effectLst/>
              </a:rPr>
              <a:t> </a:t>
            </a:r>
            <a:r>
              <a:rPr lang="en-GB" altLang="en-US" sz="1600" dirty="0">
                <a:solidFill>
                  <a:srgbClr val="FFFF00"/>
                </a:solidFill>
                <a:effectLst/>
              </a:rPr>
              <a:t>) cos</a:t>
            </a:r>
            <a:r>
              <a:rPr lang="en-GB" altLang="en-US" sz="1600" baseline="30000" dirty="0">
                <a:solidFill>
                  <a:srgbClr val="FFFF00"/>
                </a:solidFill>
                <a:effectLst/>
              </a:rPr>
              <a:t>2</a:t>
            </a:r>
            <a:r>
              <a:rPr lang="en-GB" altLang="en-US" sz="1600" dirty="0">
                <a:solidFill>
                  <a:srgbClr val="FFFF00"/>
                </a:solidFill>
                <a:effectLst/>
              </a:rPr>
              <a:t> </a:t>
            </a:r>
            <a:r>
              <a:rPr lang="el-GR" altLang="en-US" sz="1600" i="1" dirty="0">
                <a:solidFill>
                  <a:srgbClr val="FFFF00"/>
                </a:solidFill>
                <a:effectLst/>
                <a:latin typeface="Cambria Math" panose="02040503050406030204" pitchFamily="18" charset="0"/>
                <a:ea typeface="Cambria Math" panose="02040503050406030204" pitchFamily="18" charset="0"/>
              </a:rPr>
              <a:t>θ </a:t>
            </a:r>
            <a:endParaRPr lang="en-GB" altLang="en-US" sz="1600" i="1" dirty="0">
              <a:solidFill>
                <a:srgbClr val="FFFF00"/>
              </a:solidFill>
              <a:effectLst/>
              <a:latin typeface="Cambria Math" panose="02040503050406030204" pitchFamily="18" charset="0"/>
              <a:ea typeface="Cambria Math" panose="02040503050406030204" pitchFamily="18" charset="0"/>
            </a:endParaRPr>
          </a:p>
          <a:p>
            <a:pPr marL="177800" indent="-177800">
              <a:spcBef>
                <a:spcPct val="25000"/>
              </a:spcBef>
              <a:buNone/>
              <a:tabLst>
                <a:tab pos="446088" algn="l"/>
              </a:tabLst>
            </a:pPr>
            <a:r>
              <a:rPr lang="en-GB" altLang="en-US" sz="1600" dirty="0">
                <a:solidFill>
                  <a:srgbClr val="FFFF00"/>
                </a:solidFill>
                <a:effectLst/>
              </a:rPr>
              <a:t>	</a:t>
            </a:r>
            <a:r>
              <a:rPr lang="en-GB" altLang="en-US" sz="1600" i="1" dirty="0" err="1">
                <a:solidFill>
                  <a:srgbClr val="FFFF00"/>
                </a:solidFill>
                <a:effectLst/>
              </a:rPr>
              <a:t>T</a:t>
            </a:r>
            <a:r>
              <a:rPr lang="en-GB" altLang="en-US" sz="1600" i="1" baseline="-25000" dirty="0" err="1">
                <a:solidFill>
                  <a:srgbClr val="FFFF00"/>
                </a:solidFill>
                <a:effectLst/>
              </a:rPr>
              <a:t>s</a:t>
            </a:r>
            <a:r>
              <a:rPr lang="en-GB" altLang="en-US" sz="1600" i="1" dirty="0">
                <a:solidFill>
                  <a:srgbClr val="FFFF00"/>
                </a:solidFill>
                <a:effectLst/>
              </a:rPr>
              <a:t>	=  F</a:t>
            </a:r>
            <a:r>
              <a:rPr lang="en-GB" altLang="en-US" sz="1600" i="1" baseline="-25000" dirty="0">
                <a:solidFill>
                  <a:srgbClr val="FFFF00"/>
                </a:solidFill>
                <a:effectLst/>
              </a:rPr>
              <a:t>s</a:t>
            </a:r>
            <a:r>
              <a:rPr lang="en-GB" altLang="en-US" sz="1600" dirty="0">
                <a:solidFill>
                  <a:srgbClr val="FFFF00"/>
                </a:solidFill>
                <a:effectLst/>
              </a:rPr>
              <a:t> /</a:t>
            </a:r>
            <a:r>
              <a:rPr lang="en-GB" altLang="en-US" sz="800" dirty="0">
                <a:solidFill>
                  <a:srgbClr val="FFFF00"/>
                </a:solidFill>
                <a:effectLst/>
              </a:rPr>
              <a:t> </a:t>
            </a:r>
            <a:r>
              <a:rPr lang="en-GB" altLang="en-US" sz="1600" i="1" dirty="0">
                <a:solidFill>
                  <a:srgbClr val="FFFF00"/>
                </a:solidFill>
                <a:effectLst/>
              </a:rPr>
              <a:t>A</a:t>
            </a:r>
            <a:r>
              <a:rPr lang="en-GB" altLang="en-US" sz="1600" baseline="-25000" dirty="0">
                <a:solidFill>
                  <a:srgbClr val="FFFF00"/>
                </a:solidFill>
                <a:effectLst/>
              </a:rPr>
              <a:t>2</a:t>
            </a:r>
          </a:p>
          <a:p>
            <a:pPr marL="177800" indent="-177800">
              <a:spcBef>
                <a:spcPct val="25000"/>
              </a:spcBef>
              <a:buNone/>
              <a:tabLst>
                <a:tab pos="446088" algn="l"/>
              </a:tabLst>
            </a:pPr>
            <a:r>
              <a:rPr lang="en-GB" altLang="en-US" sz="1600" dirty="0">
                <a:solidFill>
                  <a:srgbClr val="FFFF00"/>
                </a:solidFill>
                <a:effectLst/>
              </a:rPr>
              <a:t>		=  (</a:t>
            </a:r>
            <a:r>
              <a:rPr lang="en-GB" altLang="en-US" sz="800" dirty="0">
                <a:solidFill>
                  <a:srgbClr val="FFFF00"/>
                </a:solidFill>
                <a:effectLst/>
              </a:rPr>
              <a:t> </a:t>
            </a:r>
            <a:r>
              <a:rPr lang="en-GB" altLang="en-US" sz="1600" i="1" dirty="0">
                <a:solidFill>
                  <a:srgbClr val="FFFF00"/>
                </a:solidFill>
                <a:effectLst/>
              </a:rPr>
              <a:t>F</a:t>
            </a:r>
            <a:r>
              <a:rPr lang="en-GB" altLang="en-US" sz="1600" dirty="0">
                <a:solidFill>
                  <a:srgbClr val="FFFF00"/>
                </a:solidFill>
                <a:effectLst/>
              </a:rPr>
              <a:t> sin </a:t>
            </a:r>
            <a:r>
              <a:rPr lang="el-GR" altLang="en-US" sz="1600" i="1" dirty="0">
                <a:solidFill>
                  <a:srgbClr val="FFFF00"/>
                </a:solidFill>
                <a:effectLst/>
                <a:latin typeface="Cambria Math" panose="02040503050406030204" pitchFamily="18" charset="0"/>
                <a:ea typeface="Cambria Math" panose="02040503050406030204" pitchFamily="18" charset="0"/>
              </a:rPr>
              <a:t>θ</a:t>
            </a:r>
            <a:r>
              <a:rPr lang="en-GB" altLang="en-US" sz="800" dirty="0">
                <a:solidFill>
                  <a:srgbClr val="FFFF00"/>
                </a:solidFill>
                <a:effectLst/>
              </a:rPr>
              <a:t> </a:t>
            </a:r>
            <a:r>
              <a:rPr lang="en-GB" altLang="en-US" sz="1600" dirty="0">
                <a:solidFill>
                  <a:srgbClr val="FFFF00"/>
                </a:solidFill>
                <a:effectLst/>
              </a:rPr>
              <a:t>) / (</a:t>
            </a:r>
            <a:r>
              <a:rPr lang="en-GB" altLang="en-US" sz="800" dirty="0">
                <a:solidFill>
                  <a:srgbClr val="FFFF00"/>
                </a:solidFill>
                <a:effectLst/>
              </a:rPr>
              <a:t> </a:t>
            </a:r>
            <a:r>
              <a:rPr lang="en-GB" altLang="en-US" sz="1600" i="1" dirty="0">
                <a:solidFill>
                  <a:srgbClr val="FFFF00"/>
                </a:solidFill>
                <a:effectLst/>
              </a:rPr>
              <a:t>A</a:t>
            </a:r>
            <a:r>
              <a:rPr lang="en-GB" altLang="en-US" sz="1600" baseline="-25000" dirty="0">
                <a:solidFill>
                  <a:srgbClr val="FFFF00"/>
                </a:solidFill>
                <a:effectLst/>
              </a:rPr>
              <a:t>1</a:t>
            </a:r>
            <a:r>
              <a:rPr lang="en-GB" altLang="en-US" sz="800" dirty="0">
                <a:solidFill>
                  <a:srgbClr val="FFFF00"/>
                </a:solidFill>
                <a:effectLst/>
              </a:rPr>
              <a:t> </a:t>
            </a:r>
            <a:r>
              <a:rPr lang="en-GB" altLang="en-US" sz="1600" dirty="0">
                <a:solidFill>
                  <a:srgbClr val="FFFF00"/>
                </a:solidFill>
                <a:effectLst/>
              </a:rPr>
              <a:t>/</a:t>
            </a:r>
            <a:r>
              <a:rPr lang="en-GB" altLang="en-US" sz="800" dirty="0">
                <a:solidFill>
                  <a:srgbClr val="FFFF00"/>
                </a:solidFill>
                <a:effectLst/>
              </a:rPr>
              <a:t> </a:t>
            </a:r>
            <a:r>
              <a:rPr lang="en-GB" altLang="en-US" sz="1600" dirty="0">
                <a:solidFill>
                  <a:srgbClr val="FFFF00"/>
                </a:solidFill>
                <a:effectLst/>
              </a:rPr>
              <a:t>cos </a:t>
            </a:r>
            <a:r>
              <a:rPr lang="el-GR" altLang="en-US" sz="1600" i="1" dirty="0">
                <a:solidFill>
                  <a:srgbClr val="FFFF00"/>
                </a:solidFill>
                <a:effectLst/>
                <a:latin typeface="Cambria Math" panose="02040503050406030204" pitchFamily="18" charset="0"/>
                <a:ea typeface="Cambria Math" panose="02040503050406030204" pitchFamily="18" charset="0"/>
              </a:rPr>
              <a:t>θ</a:t>
            </a:r>
            <a:r>
              <a:rPr lang="en-GB" altLang="en-US" sz="800" i="1" dirty="0">
                <a:solidFill>
                  <a:srgbClr val="FFFF00"/>
                </a:solidFill>
                <a:effectLst/>
                <a:latin typeface="Symbol" panose="05050102010706020507" pitchFamily="18" charset="2"/>
              </a:rPr>
              <a:t> </a:t>
            </a:r>
            <a:r>
              <a:rPr lang="en-GB" altLang="en-US" sz="1600" dirty="0">
                <a:solidFill>
                  <a:srgbClr val="FFFF00"/>
                </a:solidFill>
                <a:effectLst/>
              </a:rPr>
              <a:t>)</a:t>
            </a:r>
          </a:p>
          <a:p>
            <a:pPr marL="177800" indent="-177800">
              <a:spcBef>
                <a:spcPct val="25000"/>
              </a:spcBef>
              <a:buNone/>
              <a:tabLst>
                <a:tab pos="446088" algn="l"/>
              </a:tabLst>
            </a:pPr>
            <a:r>
              <a:rPr lang="en-GB" altLang="en-US" sz="1600" dirty="0">
                <a:solidFill>
                  <a:srgbClr val="FFFF00"/>
                </a:solidFill>
                <a:effectLst/>
              </a:rPr>
              <a:t>		=  (</a:t>
            </a:r>
            <a:r>
              <a:rPr lang="en-GB" altLang="en-US" sz="800" dirty="0">
                <a:solidFill>
                  <a:srgbClr val="FFFF00"/>
                </a:solidFill>
                <a:effectLst/>
              </a:rPr>
              <a:t> </a:t>
            </a:r>
            <a:r>
              <a:rPr lang="en-GB" altLang="en-US" sz="1600" i="1" dirty="0">
                <a:solidFill>
                  <a:srgbClr val="FFFF00"/>
                </a:solidFill>
                <a:effectLst/>
              </a:rPr>
              <a:t>F</a:t>
            </a:r>
            <a:r>
              <a:rPr lang="en-GB" altLang="en-US" sz="800" dirty="0">
                <a:solidFill>
                  <a:srgbClr val="FFFF00"/>
                </a:solidFill>
                <a:effectLst/>
              </a:rPr>
              <a:t> </a:t>
            </a:r>
            <a:r>
              <a:rPr lang="en-GB" altLang="en-US" sz="1600" dirty="0">
                <a:solidFill>
                  <a:srgbClr val="FFFF00"/>
                </a:solidFill>
                <a:effectLst/>
              </a:rPr>
              <a:t>/</a:t>
            </a:r>
            <a:r>
              <a:rPr lang="en-GB" altLang="en-US" sz="800" dirty="0">
                <a:solidFill>
                  <a:srgbClr val="FFFF00"/>
                </a:solidFill>
                <a:effectLst/>
              </a:rPr>
              <a:t> </a:t>
            </a:r>
            <a:r>
              <a:rPr lang="en-GB" altLang="en-US" sz="1600" i="1" dirty="0">
                <a:solidFill>
                  <a:srgbClr val="FFFF00"/>
                </a:solidFill>
                <a:effectLst/>
              </a:rPr>
              <a:t>A</a:t>
            </a:r>
            <a:r>
              <a:rPr lang="en-GB" altLang="en-US" sz="1600" baseline="-25000" dirty="0">
                <a:solidFill>
                  <a:srgbClr val="FFFF00"/>
                </a:solidFill>
                <a:effectLst/>
              </a:rPr>
              <a:t>1</a:t>
            </a:r>
            <a:r>
              <a:rPr lang="en-GB" altLang="en-US" sz="800" dirty="0">
                <a:solidFill>
                  <a:srgbClr val="FFFF00"/>
                </a:solidFill>
                <a:effectLst/>
              </a:rPr>
              <a:t> </a:t>
            </a:r>
            <a:r>
              <a:rPr lang="en-GB" altLang="en-US" sz="1600" dirty="0">
                <a:solidFill>
                  <a:srgbClr val="FFFF00"/>
                </a:solidFill>
                <a:effectLst/>
              </a:rPr>
              <a:t>)</a:t>
            </a:r>
            <a:r>
              <a:rPr lang="en-GB" altLang="en-US" sz="1600" i="1" dirty="0">
                <a:solidFill>
                  <a:srgbClr val="FFFF00"/>
                </a:solidFill>
                <a:effectLst/>
              </a:rPr>
              <a:t> </a:t>
            </a:r>
            <a:r>
              <a:rPr lang="en-GB" altLang="en-US" sz="1600" dirty="0">
                <a:solidFill>
                  <a:srgbClr val="FFFF00"/>
                </a:solidFill>
                <a:effectLst/>
              </a:rPr>
              <a:t>sin </a:t>
            </a:r>
            <a:r>
              <a:rPr lang="el-GR" altLang="en-US" sz="1600" i="1" dirty="0">
                <a:solidFill>
                  <a:srgbClr val="FFFF00"/>
                </a:solidFill>
                <a:effectLst/>
                <a:latin typeface="Cambria Math" panose="02040503050406030204" pitchFamily="18" charset="0"/>
                <a:ea typeface="Cambria Math" panose="02040503050406030204" pitchFamily="18" charset="0"/>
              </a:rPr>
              <a:t>θ</a:t>
            </a:r>
            <a:r>
              <a:rPr lang="en-GB" altLang="en-US" sz="1600" dirty="0">
                <a:solidFill>
                  <a:srgbClr val="FFFF00"/>
                </a:solidFill>
                <a:effectLst/>
              </a:rPr>
              <a:t>  cos </a:t>
            </a:r>
            <a:r>
              <a:rPr lang="el-GR" altLang="en-US" sz="1600" i="1" dirty="0">
                <a:solidFill>
                  <a:srgbClr val="FFFF00"/>
                </a:solidFill>
                <a:effectLst/>
                <a:latin typeface="Cambria Math" panose="02040503050406030204" pitchFamily="18" charset="0"/>
                <a:ea typeface="Cambria Math" panose="02040503050406030204" pitchFamily="18" charset="0"/>
              </a:rPr>
              <a:t>θ </a:t>
            </a:r>
            <a:endParaRPr lang="en-GB" altLang="en-US" sz="1600" i="1" dirty="0">
              <a:solidFill>
                <a:srgbClr val="FFFF00"/>
              </a:solidFill>
              <a:effectLst/>
              <a:latin typeface="Cambria Math" panose="02040503050406030204" pitchFamily="18" charset="0"/>
              <a:ea typeface="Cambria Math" panose="02040503050406030204" pitchFamily="18" charset="0"/>
            </a:endParaRPr>
          </a:p>
          <a:p>
            <a:pPr marL="177800" indent="-177800">
              <a:spcBef>
                <a:spcPct val="25000"/>
              </a:spcBef>
              <a:buNone/>
              <a:tabLst>
                <a:tab pos="446088" algn="l"/>
              </a:tabLst>
            </a:pPr>
            <a:r>
              <a:rPr lang="en-GB" altLang="en-US" sz="1600" dirty="0">
                <a:solidFill>
                  <a:srgbClr val="FFFF00"/>
                </a:solidFill>
                <a:effectLst/>
              </a:rPr>
              <a:t>		=  (</a:t>
            </a:r>
            <a:r>
              <a:rPr lang="en-GB" altLang="en-US" sz="800" dirty="0">
                <a:solidFill>
                  <a:srgbClr val="FFFF00"/>
                </a:solidFill>
                <a:effectLst/>
              </a:rPr>
              <a:t> </a:t>
            </a:r>
            <a:r>
              <a:rPr lang="en-GB" altLang="en-US" sz="1600" i="1" dirty="0">
                <a:solidFill>
                  <a:srgbClr val="FFFF00"/>
                </a:solidFill>
                <a:effectLst/>
              </a:rPr>
              <a:t>F </a:t>
            </a:r>
            <a:r>
              <a:rPr lang="en-GB" altLang="en-US" sz="1600" dirty="0">
                <a:solidFill>
                  <a:srgbClr val="FFFF00"/>
                </a:solidFill>
                <a:effectLst/>
              </a:rPr>
              <a:t>/</a:t>
            </a:r>
            <a:r>
              <a:rPr lang="en-GB" altLang="en-US" sz="800" dirty="0">
                <a:solidFill>
                  <a:srgbClr val="FFFF00"/>
                </a:solidFill>
                <a:effectLst/>
              </a:rPr>
              <a:t> </a:t>
            </a:r>
            <a:r>
              <a:rPr lang="en-GB" altLang="en-US" sz="1600" i="1" dirty="0">
                <a:solidFill>
                  <a:srgbClr val="FFFF00"/>
                </a:solidFill>
                <a:effectLst/>
              </a:rPr>
              <a:t>A</a:t>
            </a:r>
            <a:r>
              <a:rPr lang="en-GB" altLang="en-US" sz="1600" baseline="-25000" dirty="0">
                <a:solidFill>
                  <a:srgbClr val="FFFF00"/>
                </a:solidFill>
                <a:effectLst/>
              </a:rPr>
              <a:t>1</a:t>
            </a:r>
            <a:r>
              <a:rPr lang="en-GB" altLang="en-US" sz="800" baseline="-25000" dirty="0">
                <a:solidFill>
                  <a:srgbClr val="FFFF00"/>
                </a:solidFill>
                <a:effectLst/>
              </a:rPr>
              <a:t> </a:t>
            </a:r>
            <a:r>
              <a:rPr lang="en-GB" altLang="en-US" sz="1600" dirty="0">
                <a:solidFill>
                  <a:srgbClr val="FFFF00"/>
                </a:solidFill>
                <a:effectLst/>
              </a:rPr>
              <a:t>) (</a:t>
            </a:r>
            <a:r>
              <a:rPr lang="en-GB" altLang="en-US" sz="800" dirty="0">
                <a:solidFill>
                  <a:srgbClr val="FFFF00"/>
                </a:solidFill>
                <a:effectLst/>
              </a:rPr>
              <a:t> </a:t>
            </a:r>
            <a:r>
              <a:rPr lang="en-GB" altLang="en-US" sz="1600" dirty="0">
                <a:solidFill>
                  <a:srgbClr val="FFFF00"/>
                </a:solidFill>
                <a:effectLst/>
              </a:rPr>
              <a:t>sin 2</a:t>
            </a:r>
            <a:r>
              <a:rPr lang="el-GR" altLang="en-US" sz="1600" i="1" dirty="0">
                <a:solidFill>
                  <a:srgbClr val="FFFF00"/>
                </a:solidFill>
                <a:effectLst/>
                <a:latin typeface="Cambria Math" panose="02040503050406030204" pitchFamily="18" charset="0"/>
                <a:ea typeface="Cambria Math" panose="02040503050406030204" pitchFamily="18" charset="0"/>
              </a:rPr>
              <a:t>θ</a:t>
            </a:r>
            <a:r>
              <a:rPr lang="en-GB" altLang="en-US" sz="1600" i="1" dirty="0">
                <a:solidFill>
                  <a:srgbClr val="FFFF00"/>
                </a:solidFill>
                <a:effectLst/>
                <a:latin typeface="Symbol" panose="05050102010706020507" pitchFamily="18" charset="2"/>
              </a:rPr>
              <a:t> </a:t>
            </a:r>
            <a:r>
              <a:rPr lang="en-GB" altLang="en-US" sz="1600" dirty="0">
                <a:solidFill>
                  <a:srgbClr val="FFFF00"/>
                </a:solidFill>
                <a:effectLst/>
              </a:rPr>
              <a:t>) / 2</a:t>
            </a:r>
          </a:p>
        </p:txBody>
      </p:sp>
      <p:sp>
        <p:nvSpPr>
          <p:cNvPr id="354318" name="Text Box 14">
            <a:extLst>
              <a:ext uri="{FF2B5EF4-FFF2-40B4-BE49-F238E27FC236}">
                <a16:creationId xmlns:a16="http://schemas.microsoft.com/office/drawing/2014/main" id="{6C0A1A65-3D6B-4BC4-9076-8AC9646C651D}"/>
              </a:ext>
            </a:extLst>
          </p:cNvPr>
          <p:cNvSpPr txBox="1">
            <a:spLocks noChangeArrowheads="1"/>
          </p:cNvSpPr>
          <p:nvPr/>
        </p:nvSpPr>
        <p:spPr bwMode="auto">
          <a:xfrm>
            <a:off x="119063" y="822325"/>
            <a:ext cx="3022600"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 traction acting on a surface within a loaded body is a </a:t>
            </a:r>
            <a:r>
              <a:rPr lang="en-GB" altLang="en-US" sz="1700" dirty="0">
                <a:solidFill>
                  <a:srgbClr val="FFFF00"/>
                </a:solidFill>
                <a:effectLst/>
                <a:latin typeface="Arial" panose="020B0604020202020204" pitchFamily="34" charset="0"/>
              </a:rPr>
              <a:t>vector</a:t>
            </a:r>
            <a:r>
              <a:rPr lang="en-GB" altLang="en-US" sz="1700" dirty="0">
                <a:solidFill>
                  <a:srgbClr val="FF66CC"/>
                </a:solidFill>
                <a:effectLst/>
                <a:latin typeface="Arial" panose="020B0604020202020204" pitchFamily="34" charset="0"/>
              </a:rPr>
              <a:t> that may be obtained</a:t>
            </a:r>
            <a:r>
              <a:rPr lang="en-GB" altLang="en-US" sz="1700" dirty="0">
                <a:effectLst/>
                <a:latin typeface="Arial" panose="020B0604020202020204" pitchFamily="34" charset="0"/>
              </a:rPr>
              <a:t> </a:t>
            </a:r>
            <a:r>
              <a:rPr lang="en-GB" altLang="en-US" sz="1700" dirty="0">
                <a:solidFill>
                  <a:srgbClr val="FF66CC"/>
                </a:solidFill>
                <a:effectLst/>
                <a:latin typeface="Arial" panose="020B0604020202020204" pitchFamily="34" charset="0"/>
              </a:rPr>
              <a:t>by adding components</a:t>
            </a:r>
            <a:r>
              <a:rPr lang="en-GB" altLang="en-US" sz="1700" dirty="0">
                <a:effectLst/>
                <a:latin typeface="Arial" panose="020B0604020202020204" pitchFamily="34" charset="0"/>
              </a:rPr>
              <a:t> acting normal and parallel to the surface</a:t>
            </a:r>
            <a:endParaRPr lang="en-GB" altLang="en-US" sz="1700" dirty="0">
              <a:effectLst>
                <a:outerShdw blurRad="38100" dist="38100" dir="2700000" algn="tl">
                  <a:srgbClr val="000000"/>
                </a:outerShdw>
              </a:effectLst>
              <a:latin typeface="Arial" panose="020B0604020202020204" pitchFamily="34" charset="0"/>
            </a:endParaRPr>
          </a:p>
        </p:txBody>
      </p:sp>
      <p:sp>
        <p:nvSpPr>
          <p:cNvPr id="354319" name="Line 15">
            <a:extLst>
              <a:ext uri="{FF2B5EF4-FFF2-40B4-BE49-F238E27FC236}">
                <a16:creationId xmlns:a16="http://schemas.microsoft.com/office/drawing/2014/main" id="{AF4B0381-41AB-46F8-BB49-F4988FACB0F9}"/>
              </a:ext>
            </a:extLst>
          </p:cNvPr>
          <p:cNvSpPr>
            <a:spLocks noChangeShapeType="1"/>
          </p:cNvSpPr>
          <p:nvPr/>
        </p:nvSpPr>
        <p:spPr bwMode="auto">
          <a:xfrm flipH="1" flipV="1">
            <a:off x="6188075" y="2874963"/>
            <a:ext cx="630238" cy="50165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4320" name="Line 16">
            <a:extLst>
              <a:ext uri="{FF2B5EF4-FFF2-40B4-BE49-F238E27FC236}">
                <a16:creationId xmlns:a16="http://schemas.microsoft.com/office/drawing/2014/main" id="{EC8631C7-20E0-4C6D-B491-5F018EA13020}"/>
              </a:ext>
            </a:extLst>
          </p:cNvPr>
          <p:cNvSpPr>
            <a:spLocks noChangeShapeType="1"/>
          </p:cNvSpPr>
          <p:nvPr/>
        </p:nvSpPr>
        <p:spPr bwMode="auto">
          <a:xfrm flipV="1">
            <a:off x="6864350" y="2576513"/>
            <a:ext cx="0" cy="77628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4321" name="Freeform 17">
            <a:extLst>
              <a:ext uri="{FF2B5EF4-FFF2-40B4-BE49-F238E27FC236}">
                <a16:creationId xmlns:a16="http://schemas.microsoft.com/office/drawing/2014/main" id="{2E1103BE-9A99-49F5-8F97-9FB6811680E5}"/>
              </a:ext>
            </a:extLst>
          </p:cNvPr>
          <p:cNvSpPr>
            <a:spLocks/>
          </p:cNvSpPr>
          <p:nvPr/>
        </p:nvSpPr>
        <p:spPr bwMode="auto">
          <a:xfrm>
            <a:off x="6611938" y="2997200"/>
            <a:ext cx="200025" cy="157163"/>
          </a:xfrm>
          <a:custGeom>
            <a:avLst/>
            <a:gdLst>
              <a:gd name="T0" fmla="*/ 138 w 138"/>
              <a:gd name="T1" fmla="*/ 0 h 60"/>
              <a:gd name="T2" fmla="*/ 54 w 138"/>
              <a:gd name="T3" fmla="*/ 15 h 60"/>
              <a:gd name="T4" fmla="*/ 0 w 138"/>
              <a:gd name="T5" fmla="*/ 60 h 60"/>
            </a:gdLst>
            <a:ahLst/>
            <a:cxnLst>
              <a:cxn ang="0">
                <a:pos x="T0" y="T1"/>
              </a:cxn>
              <a:cxn ang="0">
                <a:pos x="T2" y="T3"/>
              </a:cxn>
              <a:cxn ang="0">
                <a:pos x="T4" y="T5"/>
              </a:cxn>
            </a:cxnLst>
            <a:rect l="0" t="0" r="r" b="b"/>
            <a:pathLst>
              <a:path w="138" h="60">
                <a:moveTo>
                  <a:pt x="138" y="0"/>
                </a:moveTo>
                <a:cubicBezTo>
                  <a:pt x="107" y="2"/>
                  <a:pt x="77" y="5"/>
                  <a:pt x="54" y="15"/>
                </a:cubicBezTo>
                <a:cubicBezTo>
                  <a:pt x="31" y="25"/>
                  <a:pt x="15" y="42"/>
                  <a:pt x="0" y="60"/>
                </a:cubicBez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4322" name="Text Box 18">
            <a:extLst>
              <a:ext uri="{FF2B5EF4-FFF2-40B4-BE49-F238E27FC236}">
                <a16:creationId xmlns:a16="http://schemas.microsoft.com/office/drawing/2014/main" id="{8F3F4C82-F03E-4D7D-9C42-799E78D21EDE}"/>
              </a:ext>
            </a:extLst>
          </p:cNvPr>
          <p:cNvSpPr txBox="1">
            <a:spLocks noChangeArrowheads="1"/>
          </p:cNvSpPr>
          <p:nvPr/>
        </p:nvSpPr>
        <p:spPr bwMode="auto">
          <a:xfrm>
            <a:off x="6464300" y="2744788"/>
            <a:ext cx="2619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b="1" i="1">
                <a:solidFill>
                  <a:srgbClr val="FF0000"/>
                </a:solidFill>
                <a:effectLst/>
                <a:latin typeface="Symbol" panose="05050102010706020507" pitchFamily="18" charset="2"/>
              </a:rPr>
              <a:t>q</a:t>
            </a:r>
          </a:p>
        </p:txBody>
      </p:sp>
      <p:sp>
        <p:nvSpPr>
          <p:cNvPr id="354323" name="Text Box 19">
            <a:extLst>
              <a:ext uri="{FF2B5EF4-FFF2-40B4-BE49-F238E27FC236}">
                <a16:creationId xmlns:a16="http://schemas.microsoft.com/office/drawing/2014/main" id="{BF4CE4BD-FCA8-4020-8D73-0831BD251C61}"/>
              </a:ext>
            </a:extLst>
          </p:cNvPr>
          <p:cNvSpPr txBox="1">
            <a:spLocks noChangeArrowheads="1"/>
          </p:cNvSpPr>
          <p:nvPr/>
        </p:nvSpPr>
        <p:spPr bwMode="auto">
          <a:xfrm>
            <a:off x="119063" y="5678488"/>
            <a:ext cx="519747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Hence the </a:t>
            </a:r>
            <a:r>
              <a:rPr lang="en-GB" altLang="en-US" sz="1700" dirty="0">
                <a:solidFill>
                  <a:srgbClr val="FF6600"/>
                </a:solidFill>
                <a:effectLst/>
                <a:latin typeface="Arial" panose="020B0604020202020204" pitchFamily="34" charset="0"/>
              </a:rPr>
              <a:t>magnitude and orientation of the traction vector</a:t>
            </a:r>
            <a:r>
              <a:rPr lang="en-GB" altLang="en-US" sz="1700" dirty="0">
                <a:effectLst/>
                <a:latin typeface="Arial" panose="020B0604020202020204" pitchFamily="34" charset="0"/>
              </a:rPr>
              <a:t> as obtained by combining </a:t>
            </a:r>
            <a:r>
              <a:rPr lang="en-GB" altLang="en-US" sz="1700" i="1" dirty="0" err="1">
                <a:effectLst/>
                <a:latin typeface="Arial" panose="020B0604020202020204" pitchFamily="34" charset="0"/>
              </a:rPr>
              <a:t>T</a:t>
            </a:r>
            <a:r>
              <a:rPr lang="en-GB" altLang="en-US" sz="1700" i="1" baseline="-25000" dirty="0" err="1">
                <a:effectLst/>
                <a:latin typeface="Arial" panose="020B0604020202020204" pitchFamily="34" charset="0"/>
              </a:rPr>
              <a:t>n</a:t>
            </a:r>
            <a:r>
              <a:rPr lang="en-GB" altLang="en-US" sz="1700" dirty="0">
                <a:effectLst/>
                <a:latin typeface="Arial" panose="020B0604020202020204" pitchFamily="34" charset="0"/>
              </a:rPr>
              <a:t> and </a:t>
            </a:r>
            <a:r>
              <a:rPr lang="en-GB" altLang="en-US" sz="1700" i="1" dirty="0" err="1">
                <a:effectLst/>
                <a:latin typeface="Arial" panose="020B0604020202020204" pitchFamily="34" charset="0"/>
              </a:rPr>
              <a:t>T</a:t>
            </a:r>
            <a:r>
              <a:rPr lang="en-GB" altLang="en-US" sz="1700" i="1" baseline="-25000" dirty="0" err="1">
                <a:effectLst/>
                <a:latin typeface="Arial" panose="020B0604020202020204" pitchFamily="34" charset="0"/>
              </a:rPr>
              <a:t>s</a:t>
            </a:r>
            <a:r>
              <a:rPr lang="en-GB" altLang="en-US" sz="1700" dirty="0">
                <a:effectLst/>
                <a:latin typeface="Arial" panose="020B0604020202020204" pitchFamily="34" charset="0"/>
              </a:rPr>
              <a:t> </a:t>
            </a:r>
            <a:r>
              <a:rPr lang="en-GB" altLang="en-US" sz="1700" dirty="0">
                <a:solidFill>
                  <a:srgbClr val="FF66CC"/>
                </a:solidFill>
                <a:effectLst/>
                <a:latin typeface="Arial" panose="020B0604020202020204" pitchFamily="34" charset="0"/>
              </a:rPr>
              <a:t>varies with the orientation</a:t>
            </a:r>
            <a:r>
              <a:rPr lang="en-GB" altLang="en-US" sz="1700" dirty="0">
                <a:effectLst/>
                <a:latin typeface="Arial" panose="020B0604020202020204" pitchFamily="34" charset="0"/>
              </a:rPr>
              <a:t> (</a:t>
            </a:r>
            <a:r>
              <a:rPr lang="el-GR" altLang="en-US" sz="1700" i="1" dirty="0">
                <a:effectLst/>
                <a:latin typeface="Cambria Math" panose="02040503050406030204" pitchFamily="18" charset="0"/>
                <a:ea typeface="Cambria Math" panose="02040503050406030204" pitchFamily="18" charset="0"/>
                <a:cs typeface="Times New Roman" panose="02020603050405020304" pitchFamily="18" charset="0"/>
              </a:rPr>
              <a:t>θ</a:t>
            </a:r>
            <a:r>
              <a:rPr lang="en-GB" altLang="en-US" sz="800" i="1" dirty="0">
                <a:effectLst/>
                <a:latin typeface="Times New Roman" panose="02020603050405020304" pitchFamily="18" charset="0"/>
                <a:cs typeface="Times New Roman" panose="02020603050405020304" pitchFamily="18" charset="0"/>
              </a:rPr>
              <a:t>  </a:t>
            </a:r>
            <a:r>
              <a:rPr lang="en-GB" altLang="en-US" sz="1700" dirty="0">
                <a:effectLst/>
                <a:latin typeface="Arial" panose="020B0604020202020204" pitchFamily="34" charset="0"/>
              </a:rPr>
              <a:t>) of the surface </a:t>
            </a:r>
            <a:endParaRPr lang="en-GB" altLang="en-US" sz="1700" dirty="0">
              <a:effectLst>
                <a:outerShdw blurRad="38100" dist="38100" dir="2700000" algn="tl">
                  <a:srgbClr val="000000"/>
                </a:outerShdw>
              </a:effectLst>
              <a:latin typeface="Arial" panose="020B0604020202020204" pitchFamily="34" charset="0"/>
            </a:endParaRPr>
          </a:p>
        </p:txBody>
      </p:sp>
      <p:sp>
        <p:nvSpPr>
          <p:cNvPr id="354330" name="Text Box 26">
            <a:extLst>
              <a:ext uri="{FF2B5EF4-FFF2-40B4-BE49-F238E27FC236}">
                <a16:creationId xmlns:a16="http://schemas.microsoft.com/office/drawing/2014/main" id="{94660B34-EC79-4A46-92ED-25BE6DF93942}"/>
              </a:ext>
            </a:extLst>
          </p:cNvPr>
          <p:cNvSpPr txBox="1">
            <a:spLocks noChangeArrowheads="1"/>
          </p:cNvSpPr>
          <p:nvPr/>
        </p:nvSpPr>
        <p:spPr bwMode="auto">
          <a:xfrm>
            <a:off x="3933825" y="3146425"/>
            <a:ext cx="1382713"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cs typeface="Times New Roman" panose="02020603050405020304" pitchFamily="18" charset="0"/>
              </a:rPr>
              <a:t>θ</a:t>
            </a:r>
            <a:r>
              <a:rPr lang="en-GB" altLang="en-US" sz="1400" dirty="0">
                <a:effectLst>
                  <a:outerShdw blurRad="38100" dist="38100" dir="2700000" algn="tl">
                    <a:srgbClr val="000000"/>
                  </a:outerShdw>
                </a:effectLst>
                <a:latin typeface="Arial" panose="020B0604020202020204" pitchFamily="34" charset="0"/>
                <a:cs typeface="Times New Roman" panose="02020603050405020304" pitchFamily="18" charset="0"/>
              </a:rPr>
              <a:t>  is the angle between the </a:t>
            </a:r>
            <a:r>
              <a:rPr lang="en-GB" altLang="en-US" sz="1400" dirty="0">
                <a:solidFill>
                  <a:srgbClr val="FF66CC"/>
                </a:solidFill>
                <a:effectLst>
                  <a:outerShdw blurRad="38100" dist="38100" dir="2700000" algn="tl">
                    <a:srgbClr val="000000"/>
                  </a:outerShdw>
                </a:effectLst>
                <a:latin typeface="Arial" panose="020B0604020202020204" pitchFamily="34" charset="0"/>
                <a:cs typeface="Times New Roman" panose="02020603050405020304" pitchFamily="18" charset="0"/>
              </a:rPr>
              <a:t>direction of the applied force</a:t>
            </a:r>
            <a:r>
              <a:rPr lang="en-GB" altLang="en-US" sz="1400" dirty="0">
                <a:effectLst>
                  <a:outerShdw blurRad="38100" dist="38100" dir="2700000" algn="tl">
                    <a:srgbClr val="000000"/>
                  </a:outerShdw>
                </a:effectLst>
                <a:latin typeface="Arial" panose="020B0604020202020204" pitchFamily="34" charset="0"/>
                <a:cs typeface="Times New Roman" panose="02020603050405020304" pitchFamily="18" charset="0"/>
              </a:rPr>
              <a:t> and the </a:t>
            </a:r>
            <a:r>
              <a:rPr lang="en-GB" altLang="en-US" sz="1400" dirty="0">
                <a:solidFill>
                  <a:srgbClr val="FF66CC"/>
                </a:solidFill>
                <a:effectLst>
                  <a:outerShdw blurRad="38100" dist="38100" dir="2700000" algn="tl">
                    <a:srgbClr val="000000"/>
                  </a:outerShdw>
                </a:effectLst>
                <a:latin typeface="Arial" panose="020B0604020202020204" pitchFamily="34" charset="0"/>
                <a:cs typeface="Times New Roman" panose="02020603050405020304" pitchFamily="18" charset="0"/>
              </a:rPr>
              <a:t>normal to the surface</a:t>
            </a:r>
            <a:r>
              <a:rPr lang="en-GB" altLang="en-US" sz="1400" dirty="0">
                <a:effectLst>
                  <a:outerShdw blurRad="38100" dist="38100" dir="2700000" algn="tl">
                    <a:srgbClr val="000000"/>
                  </a:outerShdw>
                </a:effectLst>
                <a:latin typeface="Arial" panose="020B0604020202020204" pitchFamily="34" charset="0"/>
                <a:cs typeface="Times New Roman" panose="02020603050405020304" pitchFamily="18" charset="0"/>
              </a:rPr>
              <a:t> (anticlockwise = positive)</a:t>
            </a:r>
            <a:endParaRPr lang="el-GR" altLang="en-US" sz="1400" dirty="0">
              <a:effectLst>
                <a:outerShdw blurRad="38100" dist="38100" dir="2700000" algn="tl">
                  <a:srgbClr val="000000"/>
                </a:outerShdw>
              </a:effectLst>
              <a:latin typeface="Arial" panose="020B06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CDFEAE5-3446-47E8-878C-DF6BDDF21689}"/>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3238500" y="855662"/>
            <a:ext cx="2038350" cy="2009958"/>
          </a:xfrm>
          <a:prstGeom prst="rect">
            <a:avLst/>
          </a:prstGeom>
          <a:ln w="38100">
            <a:solidFill>
              <a:schemeClr val="bg2"/>
            </a:solidFill>
          </a:ln>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C86F9AFB-AFC2-437B-850F-C6527AE0C2F7}"/>
              </a:ext>
            </a:extLst>
          </p:cNvPr>
          <p:cNvSpPr>
            <a:spLocks noGrp="1" noChangeArrowheads="1"/>
          </p:cNvSpPr>
          <p:nvPr>
            <p:ph type="title"/>
          </p:nvPr>
        </p:nvSpPr>
        <p:spPr>
          <a:noFill/>
        </p:spPr>
        <p:txBody>
          <a:bodyPr/>
          <a:lstStyle/>
          <a:p>
            <a:r>
              <a:rPr lang="en-GB" altLang="en-US">
                <a:effectLst/>
              </a:rPr>
              <a:t>Sign conventions  ;  tractions </a:t>
            </a:r>
            <a:r>
              <a:rPr lang="en-GB" altLang="en-US">
                <a:effectLst/>
                <a:cs typeface="Arial" panose="020B0604020202020204" pitchFamily="34" charset="0"/>
              </a:rPr>
              <a:t>→</a:t>
            </a:r>
            <a:r>
              <a:rPr lang="en-GB" altLang="en-US">
                <a:effectLst/>
              </a:rPr>
              <a:t> stresses</a:t>
            </a:r>
          </a:p>
        </p:txBody>
      </p:sp>
      <p:pic>
        <p:nvPicPr>
          <p:cNvPr id="220166" name="Picture 6">
            <a:extLst>
              <a:ext uri="{FF2B5EF4-FFF2-40B4-BE49-F238E27FC236}">
                <a16:creationId xmlns:a16="http://schemas.microsoft.com/office/drawing/2014/main" id="{E9BF9309-514B-4DC3-BAE6-6F9E3769E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88" y="2124075"/>
            <a:ext cx="4916487" cy="2128838"/>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0167" name="Text Box 7">
            <a:extLst>
              <a:ext uri="{FF2B5EF4-FFF2-40B4-BE49-F238E27FC236}">
                <a16:creationId xmlns:a16="http://schemas.microsoft.com/office/drawing/2014/main" id="{655AB0C8-8F9A-4C23-9D3C-843B6FBC8EB2}"/>
              </a:ext>
            </a:extLst>
          </p:cNvPr>
          <p:cNvSpPr txBox="1">
            <a:spLocks noChangeArrowheads="1"/>
          </p:cNvSpPr>
          <p:nvPr/>
        </p:nvSpPr>
        <p:spPr bwMode="auto">
          <a:xfrm>
            <a:off x="112713" y="833438"/>
            <a:ext cx="637857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If the surface upon which a traction is applied is to be in </a:t>
            </a:r>
            <a:r>
              <a:rPr lang="en-GB" altLang="en-US" sz="1700">
                <a:solidFill>
                  <a:srgbClr val="FF66CC"/>
                </a:solidFill>
                <a:effectLst/>
                <a:latin typeface="Arial" panose="020B0604020202020204" pitchFamily="34" charset="0"/>
              </a:rPr>
              <a:t>mechanical equilibrium</a:t>
            </a:r>
            <a:r>
              <a:rPr lang="en-GB" altLang="en-US" sz="1700">
                <a:effectLst/>
                <a:latin typeface="Arial" panose="020B0604020202020204" pitchFamily="34" charset="0"/>
              </a:rPr>
              <a:t>, then by Newton’s 3</a:t>
            </a:r>
            <a:r>
              <a:rPr lang="en-GB" altLang="en-US" sz="1700" baseline="30000">
                <a:effectLst/>
                <a:latin typeface="Arial" panose="020B0604020202020204" pitchFamily="34" charset="0"/>
              </a:rPr>
              <a:t>rd</a:t>
            </a:r>
            <a:r>
              <a:rPr lang="en-GB" altLang="en-US" sz="1700">
                <a:effectLst/>
                <a:latin typeface="Arial" panose="020B0604020202020204" pitchFamily="34" charset="0"/>
              </a:rPr>
              <a:t> law there must be an </a:t>
            </a:r>
            <a:r>
              <a:rPr lang="en-GB" altLang="en-US" sz="1700">
                <a:solidFill>
                  <a:srgbClr val="FF66CC"/>
                </a:solidFill>
                <a:effectLst/>
                <a:latin typeface="Arial" panose="020B0604020202020204" pitchFamily="34" charset="0"/>
              </a:rPr>
              <a:t>equal and opposite</a:t>
            </a:r>
            <a:r>
              <a:rPr lang="en-GB" altLang="en-US" sz="1700">
                <a:effectLst/>
                <a:latin typeface="Arial" panose="020B0604020202020204" pitchFamily="34" charset="0"/>
              </a:rPr>
              <a:t> traction operating on the other side</a:t>
            </a:r>
            <a:endParaRPr lang="en-GB" altLang="en-US" sz="1700">
              <a:effectLst>
                <a:outerShdw blurRad="38100" dist="38100" dir="2700000" algn="tl">
                  <a:srgbClr val="000000"/>
                </a:outerShdw>
              </a:effectLst>
              <a:latin typeface="Arial" panose="020B0604020202020204" pitchFamily="34" charset="0"/>
            </a:endParaRPr>
          </a:p>
        </p:txBody>
      </p:sp>
      <p:sp>
        <p:nvSpPr>
          <p:cNvPr id="220168" name="Text Box 8">
            <a:extLst>
              <a:ext uri="{FF2B5EF4-FFF2-40B4-BE49-F238E27FC236}">
                <a16:creationId xmlns:a16="http://schemas.microsoft.com/office/drawing/2014/main" id="{D718FD35-B44F-4BC2-A607-DCA355DA944B}"/>
              </a:ext>
            </a:extLst>
          </p:cNvPr>
          <p:cNvSpPr txBox="1">
            <a:spLocks noChangeArrowheads="1"/>
          </p:cNvSpPr>
          <p:nvPr/>
        </p:nvSpPr>
        <p:spPr bwMode="auto">
          <a:xfrm>
            <a:off x="5521325" y="2949575"/>
            <a:ext cx="3438525"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Positive tractions</a:t>
            </a:r>
            <a:r>
              <a:rPr lang="en-GB" altLang="en-US" sz="1700" dirty="0">
                <a:effectLst>
                  <a:outerShdw blurRad="38100" dist="38100" dir="2700000" algn="tl">
                    <a:srgbClr val="000000"/>
                  </a:outerShdw>
                </a:effectLst>
                <a:latin typeface="Arial" panose="020B0604020202020204" pitchFamily="34" charset="0"/>
              </a:rPr>
              <a:t> are defined as </a:t>
            </a:r>
            <a:r>
              <a:rPr lang="en-GB" altLang="en-US" sz="1700" dirty="0">
                <a:solidFill>
                  <a:srgbClr val="FF66CC"/>
                </a:solidFill>
                <a:effectLst>
                  <a:outerShdw blurRad="38100" dist="38100" dir="2700000" algn="tl">
                    <a:srgbClr val="000000"/>
                  </a:outerShdw>
                </a:effectLst>
                <a:latin typeface="Arial" panose="020B0604020202020204" pitchFamily="34" charset="0"/>
              </a:rPr>
              <a:t>compressive</a:t>
            </a:r>
            <a:r>
              <a:rPr lang="en-GB" altLang="en-US" sz="1700" dirty="0">
                <a:effectLst>
                  <a:outerShdw blurRad="38100" dist="38100" dir="2700000" algn="tl">
                    <a:srgbClr val="000000"/>
                  </a:outerShdw>
                </a:effectLst>
                <a:latin typeface="Arial" panose="020B0604020202020204" pitchFamily="34" charset="0"/>
              </a:rPr>
              <a:t> and with an </a:t>
            </a:r>
            <a:r>
              <a:rPr lang="en-GB" altLang="en-US" sz="1700" dirty="0">
                <a:solidFill>
                  <a:srgbClr val="FF66CC"/>
                </a:solidFill>
                <a:effectLst>
                  <a:outerShdw blurRad="38100" dist="38100" dir="2700000" algn="tl">
                    <a:srgbClr val="000000"/>
                  </a:outerShdw>
                </a:effectLst>
                <a:latin typeface="Arial" panose="020B0604020202020204" pitchFamily="34" charset="0"/>
              </a:rPr>
              <a:t>anticlockwise sense of shear</a:t>
            </a:r>
          </a:p>
          <a:p>
            <a:pPr>
              <a:lnSpc>
                <a:spcPct val="120000"/>
              </a:lnSpc>
              <a:spcBef>
                <a:spcPct val="0"/>
              </a:spcBef>
              <a:buClr>
                <a:schemeClr val="tx1"/>
              </a:buClr>
            </a:pP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Mohr circle convention</a:t>
            </a:r>
            <a:r>
              <a:rPr lang="en-GB" altLang="en-US" sz="1700" dirty="0">
                <a:effectLst>
                  <a:outerShdw blurRad="38100" dist="38100" dir="2700000" algn="tl">
                    <a:srgbClr val="000000"/>
                  </a:outerShdw>
                </a:effectLst>
                <a:latin typeface="Arial" panose="020B0604020202020204" pitchFamily="34" charset="0"/>
              </a:rPr>
              <a:t>)</a:t>
            </a:r>
          </a:p>
        </p:txBody>
      </p:sp>
      <p:sp>
        <p:nvSpPr>
          <p:cNvPr id="220171" name="Text Box 11">
            <a:extLst>
              <a:ext uri="{FF2B5EF4-FFF2-40B4-BE49-F238E27FC236}">
                <a16:creationId xmlns:a16="http://schemas.microsoft.com/office/drawing/2014/main" id="{488A5196-9E7A-4B00-AA90-CCC636266A88}"/>
              </a:ext>
            </a:extLst>
          </p:cNvPr>
          <p:cNvSpPr txBox="1">
            <a:spLocks noChangeArrowheads="1"/>
          </p:cNvSpPr>
          <p:nvPr/>
        </p:nvSpPr>
        <p:spPr bwMode="auto">
          <a:xfrm>
            <a:off x="119063" y="4481513"/>
            <a:ext cx="8878887"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NB. the definition of compressive tractions as positive is a </a:t>
            </a:r>
            <a:r>
              <a:rPr lang="en-GB" altLang="en-US" sz="1700" dirty="0">
                <a:solidFill>
                  <a:srgbClr val="FF66CC"/>
                </a:solidFill>
                <a:effectLst>
                  <a:outerShdw blurRad="38100" dist="38100" dir="2700000" algn="tl">
                    <a:srgbClr val="000000"/>
                  </a:outerShdw>
                </a:effectLst>
                <a:latin typeface="Arial" panose="020B0604020202020204" pitchFamily="34" charset="0"/>
              </a:rPr>
              <a:t>geological (rock mechanics) convention</a:t>
            </a:r>
            <a:r>
              <a:rPr lang="en-GB" altLang="en-US" sz="1700" dirty="0">
                <a:effectLst>
                  <a:outerShdw blurRad="38100" dist="38100" dir="2700000" algn="tl">
                    <a:srgbClr val="000000"/>
                  </a:outerShdw>
                </a:effectLst>
                <a:latin typeface="Arial" panose="020B0604020202020204" pitchFamily="34" charset="0"/>
              </a:rPr>
              <a:t>; in the engineering community, compressive tractions are negative</a:t>
            </a:r>
          </a:p>
        </p:txBody>
      </p:sp>
      <p:sp>
        <p:nvSpPr>
          <p:cNvPr id="220172" name="Text Box 12">
            <a:extLst>
              <a:ext uri="{FF2B5EF4-FFF2-40B4-BE49-F238E27FC236}">
                <a16:creationId xmlns:a16="http://schemas.microsoft.com/office/drawing/2014/main" id="{71D7BB57-A2D2-45E3-A0B4-718650A215D9}"/>
              </a:ext>
            </a:extLst>
          </p:cNvPr>
          <p:cNvSpPr txBox="1">
            <a:spLocks noChangeArrowheads="1"/>
          </p:cNvSpPr>
          <p:nvPr/>
        </p:nvSpPr>
        <p:spPr bwMode="auto">
          <a:xfrm>
            <a:off x="112713" y="5589588"/>
            <a:ext cx="8897937" cy="10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solidFill>
                  <a:srgbClr val="FF6600"/>
                </a:solidFill>
                <a:effectLst/>
                <a:latin typeface="Arial" panose="020B0604020202020204" pitchFamily="34" charset="0"/>
              </a:rPr>
              <a:t>Traction</a:t>
            </a:r>
            <a:r>
              <a:rPr lang="en-GB" altLang="en-US" sz="1700" dirty="0">
                <a:effectLst/>
                <a:latin typeface="Arial" panose="020B0604020202020204" pitchFamily="34" charset="0"/>
              </a:rPr>
              <a:t> describes force intensity at a point </a:t>
            </a:r>
            <a:r>
              <a:rPr lang="en-GB" altLang="en-US" sz="1700" dirty="0">
                <a:solidFill>
                  <a:srgbClr val="FF66CC"/>
                </a:solidFill>
                <a:effectLst/>
                <a:latin typeface="Arial" panose="020B0604020202020204" pitchFamily="34" charset="0"/>
              </a:rPr>
              <a:t>on a surface of specified orientation</a:t>
            </a:r>
            <a:r>
              <a:rPr lang="en-GB" altLang="en-US" sz="1700" dirty="0">
                <a:effectLst/>
                <a:latin typeface="Arial" panose="020B0604020202020204" pitchFamily="34" charset="0"/>
              </a:rPr>
              <a:t>;</a:t>
            </a:r>
          </a:p>
          <a:p>
            <a:pPr>
              <a:lnSpc>
                <a:spcPct val="120000"/>
              </a:lnSpc>
              <a:spcBef>
                <a:spcPct val="0"/>
              </a:spcBef>
              <a:buClr>
                <a:schemeClr val="folHlink"/>
              </a:buClr>
              <a:buSzPct val="100000"/>
              <a:buFont typeface="Times" panose="02020603050405020304" pitchFamily="18" charset="0"/>
              <a:buNone/>
            </a:pPr>
            <a:r>
              <a:rPr lang="en-GB" altLang="en-US" sz="1700" dirty="0">
                <a:solidFill>
                  <a:srgbClr val="FF6600"/>
                </a:solidFill>
                <a:effectLst/>
                <a:latin typeface="Arial" panose="020B0604020202020204" pitchFamily="34" charset="0"/>
              </a:rPr>
              <a:t>	</a:t>
            </a:r>
            <a:r>
              <a:rPr lang="en-GB" altLang="en-US" sz="1700" dirty="0">
                <a:effectLst/>
                <a:latin typeface="Arial" panose="020B0604020202020204" pitchFamily="34" charset="0"/>
              </a:rPr>
              <a:t>The </a:t>
            </a:r>
            <a:r>
              <a:rPr lang="en-GB" altLang="en-US" sz="1700" dirty="0">
                <a:solidFill>
                  <a:srgbClr val="FF6600"/>
                </a:solidFill>
                <a:effectLst/>
                <a:latin typeface="Arial" panose="020B0604020202020204" pitchFamily="34" charset="0"/>
              </a:rPr>
              <a:t>state of stress</a:t>
            </a:r>
            <a:r>
              <a:rPr lang="en-GB" altLang="en-US" sz="1700" dirty="0">
                <a:effectLst/>
                <a:latin typeface="Arial" panose="020B0604020202020204" pitchFamily="34" charset="0"/>
              </a:rPr>
              <a:t> describes force intensity </a:t>
            </a:r>
            <a:r>
              <a:rPr lang="en-GB" altLang="en-US" sz="1700" dirty="0">
                <a:solidFill>
                  <a:srgbClr val="FF66CC"/>
                </a:solidFill>
                <a:effectLst/>
                <a:latin typeface="Arial" panose="020B0604020202020204" pitchFamily="34" charset="0"/>
              </a:rPr>
              <a:t>on surfaces of all possible orientations</a:t>
            </a:r>
            <a:r>
              <a:rPr lang="en-GB" altLang="en-US" sz="1700" dirty="0">
                <a:effectLst/>
                <a:latin typeface="Arial" panose="020B0604020202020204" pitchFamily="34" charset="0"/>
              </a:rPr>
              <a:t> through the point</a:t>
            </a:r>
          </a:p>
        </p:txBody>
      </p:sp>
      <p:pic>
        <p:nvPicPr>
          <p:cNvPr id="9" name="Picture 8">
            <a:extLst>
              <a:ext uri="{FF2B5EF4-FFF2-40B4-BE49-F238E27FC236}">
                <a16:creationId xmlns:a16="http://schemas.microsoft.com/office/drawing/2014/main" id="{C41F1DA9-1C27-46DC-B5E9-16A676396F27}"/>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614555" y="931068"/>
            <a:ext cx="2232107" cy="1627188"/>
          </a:xfrm>
          <a:prstGeom prst="rect">
            <a:avLst/>
          </a:prstGeom>
          <a:ln w="38100">
            <a:solidFill>
              <a:schemeClr val="bg2"/>
            </a:solidFill>
          </a:ln>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73ED788E-90BC-4288-9426-BE80CCE09EE9}"/>
              </a:ext>
            </a:extLst>
          </p:cNvPr>
          <p:cNvSpPr>
            <a:spLocks noGrp="1" noChangeArrowheads="1"/>
          </p:cNvSpPr>
          <p:nvPr>
            <p:ph type="title"/>
          </p:nvPr>
        </p:nvSpPr>
        <p:spPr>
          <a:noFill/>
        </p:spPr>
        <p:txBody>
          <a:bodyPr/>
          <a:lstStyle/>
          <a:p>
            <a:r>
              <a:rPr lang="en-GB" altLang="en-US">
                <a:effectLst/>
              </a:rPr>
              <a:t>Stress at a point in 2D</a:t>
            </a:r>
          </a:p>
        </p:txBody>
      </p:sp>
      <p:sp>
        <p:nvSpPr>
          <p:cNvPr id="336900" name="Text Box 4">
            <a:extLst>
              <a:ext uri="{FF2B5EF4-FFF2-40B4-BE49-F238E27FC236}">
                <a16:creationId xmlns:a16="http://schemas.microsoft.com/office/drawing/2014/main" id="{CFC946E5-2F02-48B7-8CEA-03946C8C0A6F}"/>
              </a:ext>
            </a:extLst>
          </p:cNvPr>
          <p:cNvSpPr txBox="1">
            <a:spLocks noChangeArrowheads="1"/>
          </p:cNvSpPr>
          <p:nvPr/>
        </p:nvSpPr>
        <p:spPr bwMode="auto">
          <a:xfrm>
            <a:off x="112713" y="4403725"/>
            <a:ext cx="8872537"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00"/>
                </a:solidFill>
                <a:effectLst>
                  <a:outerShdw blurRad="38100" dist="38100" dir="2700000" algn="tl">
                    <a:srgbClr val="000000"/>
                  </a:outerShdw>
                </a:effectLst>
                <a:latin typeface="Arial" panose="020B0604020202020204" pitchFamily="34" charset="0"/>
              </a:rPr>
              <a:t>state of stress</a:t>
            </a:r>
            <a:r>
              <a:rPr lang="en-GB" altLang="en-US" sz="1700" dirty="0">
                <a:effectLst>
                  <a:outerShdw blurRad="38100" dist="38100" dir="2700000" algn="tl">
                    <a:srgbClr val="000000"/>
                  </a:outerShdw>
                </a:effectLst>
                <a:latin typeface="Arial" panose="020B0604020202020204" pitchFamily="34" charset="0"/>
              </a:rPr>
              <a:t>, </a:t>
            </a:r>
            <a:r>
              <a:rPr lang="el-GR" altLang="en-US" sz="1700" b="1"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dirty="0">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dirty="0">
                <a:effectLst>
                  <a:outerShdw blurRad="38100" dist="38100" dir="2700000" algn="tl">
                    <a:srgbClr val="000000"/>
                  </a:outerShdw>
                </a:effectLst>
                <a:latin typeface="Arial" panose="020B0604020202020204" pitchFamily="34" charset="0"/>
              </a:rPr>
              <a:t>, is therefore given by the information that is required to define </a:t>
            </a:r>
            <a:r>
              <a:rPr lang="en-GB" altLang="en-US" sz="1700" dirty="0">
                <a:solidFill>
                  <a:srgbClr val="FF66CC"/>
                </a:solidFill>
                <a:effectLst>
                  <a:outerShdw blurRad="38100" dist="38100" dir="2700000" algn="tl">
                    <a:srgbClr val="000000"/>
                  </a:outerShdw>
                </a:effectLst>
                <a:latin typeface="Arial" panose="020B0604020202020204" pitchFamily="34" charset="0"/>
              </a:rPr>
              <a:t>the shape and orientation of this ellipse</a:t>
            </a:r>
            <a:r>
              <a:rPr lang="en-GB" altLang="en-US" sz="1700" dirty="0">
                <a:effectLst>
                  <a:outerShdw blurRad="38100" dist="38100" dir="2700000" algn="tl">
                    <a:srgbClr val="000000"/>
                  </a:outerShdw>
                </a:effectLst>
                <a:latin typeface="Arial" panose="020B0604020202020204" pitchFamily="34" charset="0"/>
              </a:rPr>
              <a:t> → this is given by knowledge of the tractions acting on </a:t>
            </a:r>
            <a:r>
              <a:rPr lang="en-GB" altLang="en-US" sz="1700" dirty="0">
                <a:solidFill>
                  <a:srgbClr val="FF66CC"/>
                </a:solidFill>
                <a:effectLst>
                  <a:outerShdw blurRad="38100" dist="38100" dir="2700000" algn="tl">
                    <a:srgbClr val="000000"/>
                  </a:outerShdw>
                </a:effectLst>
                <a:latin typeface="Arial" panose="020B0604020202020204" pitchFamily="34" charset="0"/>
              </a:rPr>
              <a:t>two mutually perpendicular surfaces</a:t>
            </a:r>
          </a:p>
          <a:p>
            <a:pPr>
              <a:lnSpc>
                <a:spcPct val="120000"/>
              </a:lnSpc>
              <a:spcBef>
                <a:spcPct val="6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Hence the state of stress is defined by </a:t>
            </a:r>
            <a:r>
              <a:rPr lang="en-GB" altLang="en-US" sz="1700" dirty="0">
                <a:solidFill>
                  <a:srgbClr val="FF66CC"/>
                </a:solidFill>
                <a:effectLst>
                  <a:outerShdw blurRad="38100" dist="38100" dir="2700000" algn="tl">
                    <a:srgbClr val="000000"/>
                  </a:outerShdw>
                </a:effectLst>
                <a:latin typeface="Arial" panose="020B0604020202020204" pitchFamily="34" charset="0"/>
              </a:rPr>
              <a:t>four numbers</a:t>
            </a:r>
            <a:r>
              <a:rPr lang="en-GB" altLang="en-US" sz="1700" dirty="0">
                <a:effectLst>
                  <a:outerShdw blurRad="38100" dist="38100" dir="2700000" algn="tl">
                    <a:srgbClr val="000000"/>
                  </a:outerShdw>
                </a:effectLst>
                <a:latin typeface="Arial" panose="020B0604020202020204" pitchFamily="34" charset="0"/>
              </a:rPr>
              <a:t>: </a:t>
            </a:r>
          </a:p>
          <a:p>
            <a:pPr>
              <a:lnSpc>
                <a:spcPct val="120000"/>
              </a:lnSpc>
              <a:spcBef>
                <a:spcPct val="25000"/>
              </a:spcBef>
              <a:buClr>
                <a:schemeClr val="tx1"/>
              </a:buClr>
            </a:pPr>
            <a:r>
              <a:rPr lang="en-GB" altLang="en-US" sz="1700" dirty="0">
                <a:effectLst>
                  <a:outerShdw blurRad="38100" dist="38100" dir="2700000" algn="tl">
                    <a:srgbClr val="000000"/>
                  </a:outerShdw>
                </a:effectLst>
                <a:latin typeface="Arial" panose="020B0604020202020204" pitchFamily="34" charset="0"/>
              </a:rPr>
              <a:t>	                            two </a:t>
            </a:r>
            <a:r>
              <a:rPr lang="en-GB" altLang="en-US" sz="1700" dirty="0">
                <a:solidFill>
                  <a:srgbClr val="FF6600"/>
                </a:solidFill>
                <a:effectLst>
                  <a:outerShdw blurRad="38100" dist="38100" dir="2700000" algn="tl">
                    <a:srgbClr val="000000"/>
                  </a:outerShdw>
                </a:effectLst>
                <a:latin typeface="Arial" panose="020B0604020202020204" pitchFamily="34" charset="0"/>
              </a:rPr>
              <a:t>normal stresses</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a:solidFill>
                  <a:srgbClr val="FFFF00"/>
                </a:solidFill>
                <a:effectLst>
                  <a:outerShdw blurRad="38100" dist="38100" dir="2700000" algn="tl">
                    <a:srgbClr val="000000"/>
                  </a:outerShdw>
                </a:effectLst>
                <a:latin typeface="Arial" panose="020B0604020202020204" pitchFamily="34" charset="0"/>
              </a:rPr>
              <a:t>n</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a:effectLst>
                  <a:outerShdw blurRad="38100" dist="38100" dir="2700000" algn="tl">
                    <a:srgbClr val="000000"/>
                  </a:outerShdw>
                </a:effectLst>
                <a:latin typeface="Arial" panose="020B0604020202020204" pitchFamily="34" charset="0"/>
              </a:rPr>
              <a:t>xx</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effectLst>
                  <a:outerShdw blurRad="38100" dist="38100" dir="2700000" algn="tl">
                    <a:srgbClr val="000000"/>
                  </a:outerShdw>
                </a:effectLst>
                <a:latin typeface="Arial" panose="020B0604020202020204" pitchFamily="34" charset="0"/>
                <a:ea typeface="Cambria Math" panose="02040503050406030204" pitchFamily="18" charset="0"/>
              </a:rPr>
              <a:t>yy</a:t>
            </a:r>
            <a:endParaRPr lang="en-GB" altLang="en-US" sz="1700" i="1" baseline="-25000" dirty="0">
              <a:effectLst>
                <a:outerShdw blurRad="38100" dist="38100" dir="2700000" algn="tl">
                  <a:srgbClr val="000000"/>
                </a:outerShdw>
              </a:effectLst>
              <a:latin typeface="Arial" panose="020B0604020202020204" pitchFamily="34" charset="0"/>
            </a:endParaRPr>
          </a:p>
          <a:p>
            <a:pPr>
              <a:lnSpc>
                <a:spcPct val="120000"/>
              </a:lnSpc>
              <a:spcBef>
                <a:spcPct val="25000"/>
              </a:spcBef>
              <a:buClr>
                <a:schemeClr val="tx1"/>
              </a:buClr>
            </a:pPr>
            <a:r>
              <a:rPr lang="en-GB" altLang="en-US" sz="1700" dirty="0">
                <a:effectLst>
                  <a:outerShdw blurRad="38100" dist="38100" dir="2700000" algn="tl">
                    <a:srgbClr val="000000"/>
                  </a:outerShdw>
                </a:effectLst>
                <a:latin typeface="Arial" panose="020B0604020202020204" pitchFamily="34" charset="0"/>
              </a:rPr>
              <a:t>	                            two </a:t>
            </a:r>
            <a:r>
              <a:rPr lang="en-GB" altLang="en-US" sz="1700" dirty="0">
                <a:solidFill>
                  <a:srgbClr val="FF6600"/>
                </a:solidFill>
                <a:effectLst>
                  <a:outerShdw blurRad="38100" dist="38100" dir="2700000" algn="tl">
                    <a:srgbClr val="000000"/>
                  </a:outerShdw>
                </a:effectLst>
                <a:latin typeface="Arial" panose="020B0604020202020204" pitchFamily="34" charset="0"/>
              </a:rPr>
              <a:t>shear stresses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τ</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effectLst>
                  <a:outerShdw blurRad="38100" dist="38100" dir="2700000" algn="tl">
                    <a:srgbClr val="000000"/>
                  </a:outerShdw>
                </a:effectLst>
                <a:latin typeface="Arial" panose="020B0604020202020204" pitchFamily="34" charset="0"/>
              </a:rPr>
              <a:t>xy</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effectLst>
                  <a:outerShdw blurRad="38100" dist="38100" dir="2700000" algn="tl">
                    <a:srgbClr val="000000"/>
                  </a:outerShdw>
                </a:effectLst>
                <a:latin typeface="Arial" panose="020B0604020202020204" pitchFamily="34" charset="0"/>
                <a:ea typeface="Cambria Math" panose="02040503050406030204" pitchFamily="18" charset="0"/>
              </a:rPr>
              <a:t>y</a:t>
            </a:r>
            <a:r>
              <a:rPr lang="en-GB" altLang="en-US" sz="1700" i="1" baseline="-25000" dirty="0" err="1">
                <a:effectLst>
                  <a:outerShdw blurRad="38100" dist="38100" dir="2700000" algn="tl">
                    <a:srgbClr val="000000"/>
                  </a:outerShdw>
                </a:effectLst>
                <a:latin typeface="Arial" panose="020B0604020202020204" pitchFamily="34" charset="0"/>
              </a:rPr>
              <a:t>x</a:t>
            </a:r>
            <a:endParaRPr lang="en-GB" altLang="en-US" sz="1700" baseline="-25000" dirty="0">
              <a:effectLst>
                <a:outerShdw blurRad="38100" dist="38100" dir="2700000" algn="tl">
                  <a:srgbClr val="000000"/>
                </a:outerShdw>
              </a:effectLst>
              <a:latin typeface="Arial" panose="020B0604020202020204" pitchFamily="34" charset="0"/>
            </a:endParaRPr>
          </a:p>
        </p:txBody>
      </p:sp>
      <p:sp>
        <p:nvSpPr>
          <p:cNvPr id="336902" name="Text Box 6">
            <a:extLst>
              <a:ext uri="{FF2B5EF4-FFF2-40B4-BE49-F238E27FC236}">
                <a16:creationId xmlns:a16="http://schemas.microsoft.com/office/drawing/2014/main" id="{482776B1-AF3E-4A7C-A0CD-22F19497F507}"/>
              </a:ext>
            </a:extLst>
          </p:cNvPr>
          <p:cNvSpPr txBox="1">
            <a:spLocks noChangeArrowheads="1"/>
          </p:cNvSpPr>
          <p:nvPr/>
        </p:nvSpPr>
        <p:spPr bwMode="auto">
          <a:xfrm>
            <a:off x="112713" y="787400"/>
            <a:ext cx="88741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In 2D, if we calculate the </a:t>
            </a:r>
            <a:r>
              <a:rPr lang="en-GB" altLang="en-US" sz="1700">
                <a:solidFill>
                  <a:srgbClr val="FF66CC"/>
                </a:solidFill>
                <a:effectLst>
                  <a:outerShdw blurRad="38100" dist="38100" dir="2700000" algn="tl">
                    <a:srgbClr val="000000"/>
                  </a:outerShdw>
                </a:effectLst>
                <a:latin typeface="Arial" panose="020B0604020202020204" pitchFamily="34" charset="0"/>
              </a:rPr>
              <a:t>traction acting on planes of all possible orientations</a:t>
            </a:r>
            <a:r>
              <a:rPr lang="en-GB" altLang="en-US" sz="1700">
                <a:effectLst>
                  <a:outerShdw blurRad="38100" dist="38100" dir="2700000" algn="tl">
                    <a:srgbClr val="000000"/>
                  </a:outerShdw>
                </a:effectLst>
                <a:latin typeface="Arial" panose="020B0604020202020204" pitchFamily="34" charset="0"/>
              </a:rPr>
              <a:t> through a point, the tails of the traction vectors define an ellipse (</a:t>
            </a:r>
            <a:r>
              <a:rPr lang="en-GB" altLang="en-US" sz="1700">
                <a:solidFill>
                  <a:srgbClr val="FF6600"/>
                </a:solidFill>
                <a:effectLst>
                  <a:outerShdw blurRad="38100" dist="38100" dir="2700000" algn="tl">
                    <a:srgbClr val="000000"/>
                  </a:outerShdw>
                </a:effectLst>
                <a:latin typeface="Arial" panose="020B0604020202020204" pitchFamily="34" charset="0"/>
              </a:rPr>
              <a:t>stress ellipse</a:t>
            </a:r>
            <a:r>
              <a:rPr lang="en-GB" altLang="en-US" sz="1700">
                <a:effectLst>
                  <a:outerShdw blurRad="38100" dist="38100" dir="2700000" algn="tl">
                    <a:srgbClr val="000000"/>
                  </a:outerShdw>
                </a:effectLst>
                <a:latin typeface="Arial" panose="020B0604020202020204" pitchFamily="34" charset="0"/>
              </a:rPr>
              <a:t>)</a:t>
            </a:r>
            <a:endParaRPr lang="en-GB" altLang="en-US" sz="1700">
              <a:solidFill>
                <a:srgbClr val="FF66CC"/>
              </a:solidFill>
              <a:effectLst>
                <a:outerShdw blurRad="38100" dist="38100" dir="2700000" algn="tl">
                  <a:srgbClr val="000000"/>
                </a:outerShdw>
              </a:effectLst>
              <a:latin typeface="Arial" panose="020B0604020202020204" pitchFamily="34" charset="0"/>
            </a:endParaRPr>
          </a:p>
        </p:txBody>
      </p:sp>
      <p:pic>
        <p:nvPicPr>
          <p:cNvPr id="7" name="Picture 6">
            <a:extLst>
              <a:ext uri="{FF2B5EF4-FFF2-40B4-BE49-F238E27FC236}">
                <a16:creationId xmlns:a16="http://schemas.microsoft.com/office/drawing/2014/main" id="{D7A3DE81-C18B-4777-91D1-B3C22EFDE7BC}"/>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183167" y="1654175"/>
            <a:ext cx="6763314" cy="2635793"/>
          </a:xfrm>
          <a:prstGeom prst="rect">
            <a:avLst/>
          </a:prstGeom>
          <a:ln w="38100">
            <a:solidFill>
              <a:schemeClr val="bg2"/>
            </a:solidFill>
          </a:ln>
        </p:spPr>
      </p:pic>
      <p:sp>
        <p:nvSpPr>
          <p:cNvPr id="2" name="TextBox 1">
            <a:extLst>
              <a:ext uri="{FF2B5EF4-FFF2-40B4-BE49-F238E27FC236}">
                <a16:creationId xmlns:a16="http://schemas.microsoft.com/office/drawing/2014/main" id="{E71B4EB3-0239-C4A0-D3F5-1C29FB54603F}"/>
              </a:ext>
            </a:extLst>
          </p:cNvPr>
          <p:cNvSpPr txBox="1"/>
          <p:nvPr/>
        </p:nvSpPr>
        <p:spPr>
          <a:xfrm>
            <a:off x="7341234" y="5344499"/>
            <a:ext cx="705394" cy="461665"/>
          </a:xfrm>
          <a:prstGeom prst="rect">
            <a:avLst/>
          </a:prstGeom>
          <a:noFill/>
        </p:spPr>
        <p:txBody>
          <a:bodyPr wrap="square" rtlCol="0">
            <a:spAutoFit/>
          </a:bodyPr>
          <a:lstStyle/>
          <a:p>
            <a:r>
              <a:rPr lang="el-GR" altLang="en-US" sz="2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2400" i="1" baseline="-25000" dirty="0" err="1">
                <a:solidFill>
                  <a:srgbClr val="FFFF00"/>
                </a:solidFill>
                <a:effectLst>
                  <a:outerShdw blurRad="38100" dist="38100" dir="2700000" algn="tl">
                    <a:srgbClr val="000000"/>
                  </a:outerShdw>
                </a:effectLst>
                <a:latin typeface="Arial" panose="020B0604020202020204" pitchFamily="34" charset="0"/>
              </a:rPr>
              <a:t>xy</a:t>
            </a:r>
            <a:endParaRPr lang="en-GB" sz="2400" dirty="0">
              <a:solidFill>
                <a:srgbClr val="FFFF00"/>
              </a:solidFill>
            </a:endParaRPr>
          </a:p>
        </p:txBody>
      </p:sp>
      <p:sp>
        <p:nvSpPr>
          <p:cNvPr id="3" name="TextBox 2">
            <a:extLst>
              <a:ext uri="{FF2B5EF4-FFF2-40B4-BE49-F238E27FC236}">
                <a16:creationId xmlns:a16="http://schemas.microsoft.com/office/drawing/2014/main" id="{EE496181-7060-55C6-BB56-5B7A2800A5B9}"/>
              </a:ext>
            </a:extLst>
          </p:cNvPr>
          <p:cNvSpPr txBox="1"/>
          <p:nvPr/>
        </p:nvSpPr>
        <p:spPr>
          <a:xfrm>
            <a:off x="6770823" y="6092958"/>
            <a:ext cx="822961" cy="566309"/>
          </a:xfrm>
          <a:prstGeom prst="rect">
            <a:avLst/>
          </a:prstGeom>
          <a:noFill/>
        </p:spPr>
        <p:txBody>
          <a:bodyPr wrap="square" rtlCol="0" anchor="ctr" anchorCtr="1">
            <a:spAutoFit/>
          </a:bodyPr>
          <a:lstStyle/>
          <a:p>
            <a:pPr algn="ctr"/>
            <a:r>
              <a:rPr lang="en-US" sz="1400" dirty="0">
                <a:solidFill>
                  <a:srgbClr val="66FF33"/>
                </a:solidFill>
                <a:latin typeface="+mn-lt"/>
              </a:rPr>
              <a:t>pole to</a:t>
            </a:r>
          </a:p>
          <a:p>
            <a:pPr algn="ctr"/>
            <a:r>
              <a:rPr lang="en-US" sz="1400" dirty="0">
                <a:solidFill>
                  <a:srgbClr val="66FF33"/>
                </a:solidFill>
                <a:latin typeface="+mn-lt"/>
              </a:rPr>
              <a:t>plane</a:t>
            </a:r>
            <a:endParaRPr lang="en-GB" sz="1400" dirty="0">
              <a:solidFill>
                <a:srgbClr val="66FF33"/>
              </a:solidFill>
              <a:latin typeface="+mn-lt"/>
            </a:endParaRPr>
          </a:p>
        </p:txBody>
      </p:sp>
      <p:sp>
        <p:nvSpPr>
          <p:cNvPr id="4" name="TextBox 3">
            <a:extLst>
              <a:ext uri="{FF2B5EF4-FFF2-40B4-BE49-F238E27FC236}">
                <a16:creationId xmlns:a16="http://schemas.microsoft.com/office/drawing/2014/main" id="{359C89B6-2973-FFA3-E61E-51FFA9EAFB7A}"/>
              </a:ext>
            </a:extLst>
          </p:cNvPr>
          <p:cNvSpPr txBox="1"/>
          <p:nvPr/>
        </p:nvSpPr>
        <p:spPr>
          <a:xfrm>
            <a:off x="7824557" y="6144803"/>
            <a:ext cx="938622" cy="307777"/>
          </a:xfrm>
          <a:prstGeom prst="rect">
            <a:avLst/>
          </a:prstGeom>
          <a:noFill/>
        </p:spPr>
        <p:txBody>
          <a:bodyPr wrap="square" rtlCol="0" anchor="ctr" anchorCtr="1">
            <a:spAutoFit/>
          </a:bodyPr>
          <a:lstStyle/>
          <a:p>
            <a:pPr algn="ctr"/>
            <a:r>
              <a:rPr lang="en-US" sz="1400" dirty="0">
                <a:solidFill>
                  <a:srgbClr val="66FF33"/>
                </a:solidFill>
                <a:latin typeface="+mn-lt"/>
              </a:rPr>
              <a:t>direction</a:t>
            </a:r>
            <a:endParaRPr lang="en-GB" sz="1400" dirty="0">
              <a:solidFill>
                <a:srgbClr val="66FF33"/>
              </a:solidFill>
              <a:latin typeface="+mn-lt"/>
            </a:endParaRPr>
          </a:p>
        </p:txBody>
      </p:sp>
      <p:cxnSp>
        <p:nvCxnSpPr>
          <p:cNvPr id="9" name="Straight Arrow Connector 8">
            <a:extLst>
              <a:ext uri="{FF2B5EF4-FFF2-40B4-BE49-F238E27FC236}">
                <a16:creationId xmlns:a16="http://schemas.microsoft.com/office/drawing/2014/main" id="{C01E5F1E-B5A4-22F4-6BB6-9552A8F8128B}"/>
              </a:ext>
            </a:extLst>
          </p:cNvPr>
          <p:cNvCxnSpPr>
            <a:cxnSpLocks/>
          </p:cNvCxnSpPr>
          <p:nvPr/>
        </p:nvCxnSpPr>
        <p:spPr bwMode="auto">
          <a:xfrm flipV="1">
            <a:off x="7367360" y="5839873"/>
            <a:ext cx="219708" cy="225076"/>
          </a:xfrm>
          <a:prstGeom prst="straightConnector1">
            <a:avLst/>
          </a:prstGeom>
          <a:noFill/>
          <a:ln w="28575" cap="flat" cmpd="sng" algn="ctr">
            <a:solidFill>
              <a:srgbClr val="66FF33"/>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2">
            <a:extLst>
              <a:ext uri="{FF2B5EF4-FFF2-40B4-BE49-F238E27FC236}">
                <a16:creationId xmlns:a16="http://schemas.microsoft.com/office/drawing/2014/main" id="{690366DB-9CC6-5FAA-E95C-87C02E7E7888}"/>
              </a:ext>
            </a:extLst>
          </p:cNvPr>
          <p:cNvCxnSpPr>
            <a:cxnSpLocks/>
          </p:cNvCxnSpPr>
          <p:nvPr/>
        </p:nvCxnSpPr>
        <p:spPr bwMode="auto">
          <a:xfrm flipH="1" flipV="1">
            <a:off x="7843972" y="5835517"/>
            <a:ext cx="202656" cy="257441"/>
          </a:xfrm>
          <a:prstGeom prst="straightConnector1">
            <a:avLst/>
          </a:prstGeom>
          <a:noFill/>
          <a:ln w="28575" cap="flat" cmpd="sng" algn="ctr">
            <a:solidFill>
              <a:srgbClr val="66FF33"/>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2049869"/>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a:extLst>
              <a:ext uri="{FF2B5EF4-FFF2-40B4-BE49-F238E27FC236}">
                <a16:creationId xmlns:a16="http://schemas.microsoft.com/office/drawing/2014/main" id="{CE378C0F-CD26-4DB8-902F-8FA14DE2B435}"/>
              </a:ext>
            </a:extLst>
          </p:cNvPr>
          <p:cNvSpPr>
            <a:spLocks noGrp="1" noChangeArrowheads="1"/>
          </p:cNvSpPr>
          <p:nvPr>
            <p:ph type="title"/>
          </p:nvPr>
        </p:nvSpPr>
        <p:spPr>
          <a:noFill/>
        </p:spPr>
        <p:txBody>
          <a:bodyPr/>
          <a:lstStyle/>
          <a:p>
            <a:r>
              <a:rPr lang="en-GB" altLang="en-US">
                <a:effectLst/>
              </a:rPr>
              <a:t>The 2D stress matrix</a:t>
            </a:r>
          </a:p>
        </p:txBody>
      </p:sp>
      <p:pic>
        <p:nvPicPr>
          <p:cNvPr id="242706" name="Picture 18">
            <a:extLst>
              <a:ext uri="{FF2B5EF4-FFF2-40B4-BE49-F238E27FC236}">
                <a16:creationId xmlns:a16="http://schemas.microsoft.com/office/drawing/2014/main" id="{CF373C65-8F90-41D9-9820-B56017A7F363}"/>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995863" y="3667125"/>
            <a:ext cx="3908425" cy="2170113"/>
          </a:xfrm>
          <a:noFill/>
          <a:ln w="38100" cap="flat">
            <a:solidFill>
              <a:schemeClr val="bg2"/>
            </a:solidFill>
            <a:miter lim="800000"/>
            <a:headEnd/>
            <a:tailEnd/>
          </a:ln>
        </p:spPr>
      </p:pic>
      <p:sp>
        <p:nvSpPr>
          <p:cNvPr id="242703" name="Text Box 15">
            <a:extLst>
              <a:ext uri="{FF2B5EF4-FFF2-40B4-BE49-F238E27FC236}">
                <a16:creationId xmlns:a16="http://schemas.microsoft.com/office/drawing/2014/main" id="{30D00B37-E5F9-4B10-B5C9-B88D097DE627}"/>
              </a:ext>
            </a:extLst>
          </p:cNvPr>
          <p:cNvSpPr txBox="1">
            <a:spLocks noChangeArrowheads="1"/>
          </p:cNvSpPr>
          <p:nvPr/>
        </p:nvSpPr>
        <p:spPr bwMode="auto">
          <a:xfrm>
            <a:off x="111125" y="3454400"/>
            <a:ext cx="4719638" cy="260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CC"/>
                </a:solidFill>
                <a:effectLst>
                  <a:outerShdw blurRad="38100" dist="38100" dir="2700000" algn="tl">
                    <a:srgbClr val="000000"/>
                  </a:outerShdw>
                </a:effectLst>
                <a:latin typeface="Arial" panose="020B0604020202020204" pitchFamily="34" charset="0"/>
              </a:rPr>
              <a:t>four numbers</a:t>
            </a:r>
            <a:r>
              <a:rPr lang="en-GB" altLang="en-US" sz="1700" dirty="0">
                <a:effectLst>
                  <a:outerShdw blurRad="38100" dist="38100" dir="2700000" algn="tl">
                    <a:srgbClr val="000000"/>
                  </a:outerShdw>
                </a:effectLst>
                <a:latin typeface="Arial" panose="020B0604020202020204" pitchFamily="34" charset="0"/>
              </a:rPr>
              <a:t> defining the state of stress in 2D may be written as a </a:t>
            </a:r>
            <a:r>
              <a:rPr lang="en-GB" altLang="en-US" sz="1700" spc="250" dirty="0">
                <a:solidFill>
                  <a:srgbClr val="FF66CC"/>
                </a:solidFill>
                <a:effectLst>
                  <a:outerShdw blurRad="38100" dist="38100" dir="2700000" algn="tl">
                    <a:srgbClr val="000000"/>
                  </a:outerShdw>
                </a:effectLst>
                <a:latin typeface="Arial" panose="020B0604020202020204" pitchFamily="34" charset="0"/>
              </a:rPr>
              <a:t>2×</a:t>
            </a:r>
            <a:r>
              <a:rPr lang="en-GB" altLang="en-US" sz="1700" dirty="0">
                <a:solidFill>
                  <a:srgbClr val="FF66CC"/>
                </a:solidFill>
                <a:effectLst>
                  <a:outerShdw blurRad="38100" dist="38100" dir="2700000" algn="tl">
                    <a:srgbClr val="000000"/>
                  </a:outerShdw>
                </a:effectLst>
                <a:latin typeface="Arial" panose="020B0604020202020204" pitchFamily="34" charset="0"/>
              </a:rPr>
              <a:t>2 matrix</a:t>
            </a:r>
          </a:p>
          <a:p>
            <a:pPr>
              <a:lnSpc>
                <a:spcPct val="120000"/>
              </a:lnSpc>
              <a:spcBef>
                <a:spcPct val="6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For </a:t>
            </a:r>
            <a:r>
              <a:rPr lang="en-GB" altLang="en-US" sz="1700" dirty="0">
                <a:solidFill>
                  <a:srgbClr val="FF66CC"/>
                </a:solidFill>
                <a:effectLst>
                  <a:outerShdw blurRad="38100" dist="38100" dir="2700000" algn="tl">
                    <a:srgbClr val="000000"/>
                  </a:outerShdw>
                </a:effectLst>
                <a:latin typeface="Arial" panose="020B0604020202020204" pitchFamily="34" charset="0"/>
              </a:rPr>
              <a:t>mechanical equilibrium</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xy</a:t>
            </a:r>
            <a:r>
              <a:rPr lang="en-GB" altLang="en-US" sz="1700" dirty="0">
                <a:solidFill>
                  <a:srgbClr val="FFFF00"/>
                </a:solidFill>
                <a:effectLst>
                  <a:outerShdw blurRad="38100" dist="38100" dir="2700000" algn="tl">
                    <a:srgbClr val="000000"/>
                  </a:outerShdw>
                </a:effectLst>
                <a:latin typeface="Arial" panose="020B0604020202020204" pitchFamily="34" charset="0"/>
              </a:rPr>
              <a:t> =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ea typeface="Cambria Math" panose="02040503050406030204" pitchFamily="18" charset="0"/>
              </a:rPr>
              <a:t>y</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x</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6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To eliminate the minus sign so that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xy</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ea typeface="Cambria Math" panose="02040503050406030204" pitchFamily="18" charset="0"/>
              </a:rPr>
              <a:t>y</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x</a:t>
            </a:r>
            <a:r>
              <a:rPr lang="en-GB" altLang="en-US" sz="8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 it is convenient when working with the stress matrix to use a </a:t>
            </a:r>
            <a:r>
              <a:rPr lang="en-GB" altLang="en-US" sz="1700" dirty="0">
                <a:solidFill>
                  <a:srgbClr val="FF66CC"/>
                </a:solidFill>
                <a:effectLst>
                  <a:outerShdw blurRad="38100" dist="38100" dir="2700000" algn="tl">
                    <a:srgbClr val="000000"/>
                  </a:outerShdw>
                </a:effectLst>
                <a:latin typeface="Arial" panose="020B0604020202020204" pitchFamily="34" charset="0"/>
              </a:rPr>
              <a:t>different sign convention for shear stresses</a:t>
            </a:r>
            <a:r>
              <a:rPr lang="en-GB" altLang="en-US" sz="1700" dirty="0">
                <a:effectLst>
                  <a:outerShdw blurRad="38100" dist="38100" dir="2700000" algn="tl">
                    <a:srgbClr val="000000"/>
                  </a:outerShdw>
                </a:effectLst>
                <a:latin typeface="Arial" panose="020B0604020202020204" pitchFamily="34" charset="0"/>
              </a:rPr>
              <a:t>: shear stresses are positive if </a:t>
            </a:r>
            <a:endParaRPr lang="en-GB" altLang="en-US" sz="1700" i="1" baseline="-25000" dirty="0">
              <a:solidFill>
                <a:srgbClr val="FFFF00"/>
              </a:solidFill>
              <a:effectLst>
                <a:outerShdw blurRad="38100" dist="38100" dir="2700000" algn="tl">
                  <a:srgbClr val="000000"/>
                </a:outerShdw>
              </a:effectLst>
              <a:latin typeface="Arial" panose="020B0604020202020204" pitchFamily="34" charset="0"/>
            </a:endParaRPr>
          </a:p>
        </p:txBody>
      </p:sp>
      <p:sp>
        <p:nvSpPr>
          <p:cNvPr id="242709" name="Text Box 21">
            <a:extLst>
              <a:ext uri="{FF2B5EF4-FFF2-40B4-BE49-F238E27FC236}">
                <a16:creationId xmlns:a16="http://schemas.microsoft.com/office/drawing/2014/main" id="{F2F63A2A-6CDD-4435-B25C-5177899E9C15}"/>
              </a:ext>
            </a:extLst>
          </p:cNvPr>
          <p:cNvSpPr txBox="1">
            <a:spLocks noChangeArrowheads="1"/>
          </p:cNvSpPr>
          <p:nvPr/>
        </p:nvSpPr>
        <p:spPr bwMode="auto">
          <a:xfrm>
            <a:off x="111125" y="5988050"/>
            <a:ext cx="88233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pPr>
            <a:r>
              <a:rPr lang="en-GB" altLang="en-US" sz="1700" dirty="0">
                <a:effectLst>
                  <a:outerShdw blurRad="38100" dist="38100" dir="2700000" algn="tl">
                    <a:srgbClr val="000000"/>
                  </a:outerShdw>
                </a:effectLst>
                <a:latin typeface="Arial" panose="020B0604020202020204" pitchFamily="34" charset="0"/>
              </a:rPr>
              <a:t>	the shear sense on the sides of the square that cut the negative coordinate axes are in a positive direction (</a:t>
            </a:r>
            <a:r>
              <a:rPr lang="en-GB" altLang="en-US" sz="1700" dirty="0">
                <a:solidFill>
                  <a:srgbClr val="FFFF00"/>
                </a:solidFill>
                <a:effectLst>
                  <a:outerShdw blurRad="38100" dist="38100" dir="2700000" algn="tl">
                    <a:srgbClr val="000000"/>
                  </a:outerShdw>
                </a:effectLst>
                <a:latin typeface="Arial" panose="020B0604020202020204" pitchFamily="34" charset="0"/>
              </a:rPr>
              <a:t>tensor convention</a:t>
            </a:r>
            <a:r>
              <a:rPr lang="en-GB" altLang="en-US" sz="1700" dirty="0">
                <a:effectLst>
                  <a:outerShdw blurRad="38100" dist="38100" dir="2700000" algn="tl">
                    <a:srgbClr val="000000"/>
                  </a:outerShdw>
                </a:effectLst>
                <a:latin typeface="Arial" panose="020B0604020202020204" pitchFamily="34" charset="0"/>
              </a:rPr>
              <a:t>)</a:t>
            </a:r>
            <a:endParaRPr lang="en-GB" altLang="en-US" sz="1700" i="1" baseline="-25000" dirty="0">
              <a:solidFill>
                <a:srgbClr val="FFFF00"/>
              </a:solidFill>
              <a:effectLst>
                <a:outerShdw blurRad="38100" dist="38100" dir="2700000" algn="tl">
                  <a:srgbClr val="000000"/>
                </a:outerShdw>
              </a:effectLst>
              <a:latin typeface="Arial" panose="020B0604020202020204" pitchFamily="34" charset="0"/>
            </a:endParaRPr>
          </a:p>
        </p:txBody>
      </p:sp>
      <p:pic>
        <p:nvPicPr>
          <p:cNvPr id="6" name="Picture 5">
            <a:extLst>
              <a:ext uri="{FF2B5EF4-FFF2-40B4-BE49-F238E27FC236}">
                <a16:creationId xmlns:a16="http://schemas.microsoft.com/office/drawing/2014/main" id="{EF80E1CD-DE16-4F17-9CBE-2AA6DD555932}"/>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74914" y="878774"/>
            <a:ext cx="7200308" cy="2522794"/>
          </a:xfrm>
          <a:prstGeom prst="rect">
            <a:avLst/>
          </a:prstGeom>
          <a:ln w="38100">
            <a:solidFill>
              <a:schemeClr val="bg2"/>
            </a:solidFill>
          </a:ln>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a:extLst>
              <a:ext uri="{FF2B5EF4-FFF2-40B4-BE49-F238E27FC236}">
                <a16:creationId xmlns:a16="http://schemas.microsoft.com/office/drawing/2014/main" id="{55502E1C-D76A-44B2-9CB7-BCA70B6FEF2F}"/>
              </a:ext>
            </a:extLst>
          </p:cNvPr>
          <p:cNvSpPr>
            <a:spLocks noGrp="1" noChangeArrowheads="1"/>
          </p:cNvSpPr>
          <p:nvPr>
            <p:ph type="title"/>
          </p:nvPr>
        </p:nvSpPr>
        <p:spPr>
          <a:noFill/>
        </p:spPr>
        <p:txBody>
          <a:bodyPr/>
          <a:lstStyle/>
          <a:p>
            <a:r>
              <a:rPr lang="en-GB" altLang="en-US">
                <a:effectLst/>
              </a:rPr>
              <a:t>Principal stresses</a:t>
            </a:r>
          </a:p>
        </p:txBody>
      </p:sp>
      <p:sp>
        <p:nvSpPr>
          <p:cNvPr id="350213" name="Text Box 5">
            <a:extLst>
              <a:ext uri="{FF2B5EF4-FFF2-40B4-BE49-F238E27FC236}">
                <a16:creationId xmlns:a16="http://schemas.microsoft.com/office/drawing/2014/main" id="{3D210ACA-B803-4BC5-ABC5-0F40B720A14E}"/>
              </a:ext>
            </a:extLst>
          </p:cNvPr>
          <p:cNvSpPr txBox="1">
            <a:spLocks noChangeArrowheads="1"/>
          </p:cNvSpPr>
          <p:nvPr/>
        </p:nvSpPr>
        <p:spPr bwMode="auto">
          <a:xfrm>
            <a:off x="120650" y="765175"/>
            <a:ext cx="3236913" cy="588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It is always possible to choose an orientation of the coordinate axes such that the </a:t>
            </a:r>
            <a:r>
              <a:rPr lang="en-GB" altLang="en-US" sz="1700" dirty="0">
                <a:solidFill>
                  <a:srgbClr val="FF66CC"/>
                </a:solidFill>
                <a:effectLst>
                  <a:outerShdw blurRad="38100" dist="38100" dir="2700000" algn="tl">
                    <a:srgbClr val="000000"/>
                  </a:outerShdw>
                </a:effectLst>
                <a:latin typeface="Arial" panose="020B0604020202020204" pitchFamily="34" charset="0"/>
              </a:rPr>
              <a:t>shear stresses are zero</a:t>
            </a:r>
            <a:r>
              <a:rPr lang="en-GB" altLang="en-US" sz="1700" dirty="0">
                <a:effectLst>
                  <a:outerShdw blurRad="38100" dist="38100" dir="2700000" algn="tl">
                    <a:srgbClr val="000000"/>
                  </a:outerShdw>
                </a:effectLst>
                <a:latin typeface="Arial" panose="020B0604020202020204" pitchFamily="34" charset="0"/>
              </a:rPr>
              <a:t> parallel to these axes</a:t>
            </a:r>
          </a:p>
          <a:p>
            <a:pPr>
              <a:lnSpc>
                <a:spcPct val="120000"/>
              </a:lnSpc>
              <a:spcBef>
                <a:spcPct val="6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this orientation the normal stresses parallel to the coordinate axes are described as </a:t>
            </a:r>
            <a:r>
              <a:rPr lang="en-GB" altLang="en-US" sz="1700" dirty="0">
                <a:solidFill>
                  <a:srgbClr val="FF6600"/>
                </a:solidFill>
                <a:effectLst>
                  <a:outerShdw blurRad="38100" dist="38100" dir="2700000" algn="tl">
                    <a:srgbClr val="000000"/>
                  </a:outerShdw>
                </a:effectLst>
                <a:latin typeface="Arial" panose="020B0604020202020204" pitchFamily="34" charset="0"/>
              </a:rPr>
              <a:t>principal stresses</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and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ea typeface="Cambria Math" panose="02040503050406030204" pitchFamily="18" charset="0"/>
              </a:rPr>
              <a:t>2</a:t>
            </a:r>
            <a:r>
              <a:rPr lang="en-GB" altLang="en-US" sz="1700" dirty="0">
                <a:effectLst>
                  <a:outerShdw blurRad="38100" dist="38100" dir="2700000" algn="tl">
                    <a:srgbClr val="000000"/>
                  </a:outerShdw>
                </a:effectLst>
                <a:latin typeface="Arial" panose="020B0604020202020204" pitchFamily="34" charset="0"/>
              </a:rPr>
              <a:t>, where by convention,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ea typeface="Cambria Math" panose="02040503050406030204" pitchFamily="18" charset="0"/>
              </a:rPr>
              <a:t>2</a:t>
            </a:r>
            <a:endParaRPr lang="en-GB" altLang="en-US" sz="1700" dirty="0">
              <a:solidFill>
                <a:srgbClr val="FFFF00"/>
              </a:solidFill>
              <a:effectLst>
                <a:outerShdw blurRad="38100" dist="38100" dir="2700000" algn="tl">
                  <a:srgbClr val="000000"/>
                </a:outerShdw>
              </a:effectLst>
              <a:latin typeface="Arial" panose="020B0604020202020204" pitchFamily="34" charset="0"/>
            </a:endParaRPr>
          </a:p>
          <a:p>
            <a:pPr>
              <a:lnSpc>
                <a:spcPct val="120000"/>
              </a:lnSpc>
              <a:spcBef>
                <a:spcPct val="6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greatest principal stress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8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 is the </a:t>
            </a:r>
            <a:r>
              <a:rPr lang="en-GB" altLang="en-US" sz="1700" dirty="0">
                <a:solidFill>
                  <a:srgbClr val="FF66CC"/>
                </a:solidFill>
                <a:effectLst>
                  <a:outerShdw blurRad="38100" dist="38100" dir="2700000" algn="tl">
                    <a:srgbClr val="000000"/>
                  </a:outerShdw>
                </a:effectLst>
                <a:latin typeface="Arial" panose="020B0604020202020204" pitchFamily="34" charset="0"/>
              </a:rPr>
              <a:t>semi-major axis of the stress ellipse</a:t>
            </a:r>
          </a:p>
          <a:p>
            <a:pPr>
              <a:lnSpc>
                <a:spcPct val="120000"/>
              </a:lnSpc>
              <a:spcBef>
                <a:spcPct val="6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least principal stress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ea typeface="Cambria Math" panose="02040503050406030204" pitchFamily="18" charset="0"/>
              </a:rPr>
              <a:t>2</a:t>
            </a:r>
            <a:r>
              <a:rPr lang="en-GB" altLang="en-US" sz="800" baseline="-250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 is the </a:t>
            </a:r>
            <a:r>
              <a:rPr lang="en-GB" altLang="en-US" sz="1700" dirty="0">
                <a:solidFill>
                  <a:srgbClr val="FF66CC"/>
                </a:solidFill>
                <a:effectLst>
                  <a:outerShdw blurRad="38100" dist="38100" dir="2700000" algn="tl">
                    <a:srgbClr val="000000"/>
                  </a:outerShdw>
                </a:effectLst>
                <a:latin typeface="Arial" panose="020B0604020202020204" pitchFamily="34" charset="0"/>
              </a:rPr>
              <a:t>semi-minor axis of the stress ellipse</a:t>
            </a:r>
            <a:endParaRPr lang="en-GB" altLang="en-US" sz="1700" i="1" dirty="0">
              <a:solidFill>
                <a:srgbClr val="FF66CC"/>
              </a:solidFill>
              <a:effectLst>
                <a:outerShdw blurRad="38100" dist="38100" dir="2700000" algn="tl">
                  <a:srgbClr val="000000"/>
                </a:outerShdw>
              </a:effectLst>
              <a:latin typeface="Arial" panose="020B0604020202020204" pitchFamily="34" charset="0"/>
            </a:endParaRPr>
          </a:p>
        </p:txBody>
      </p:sp>
      <p:sp>
        <p:nvSpPr>
          <p:cNvPr id="350220" name="Text Box 12">
            <a:extLst>
              <a:ext uri="{FF2B5EF4-FFF2-40B4-BE49-F238E27FC236}">
                <a16:creationId xmlns:a16="http://schemas.microsoft.com/office/drawing/2014/main" id="{70E57888-2E87-4DB4-B34E-2BFE8D937DEC}"/>
              </a:ext>
            </a:extLst>
          </p:cNvPr>
          <p:cNvSpPr txBox="1">
            <a:spLocks noChangeArrowheads="1"/>
          </p:cNvSpPr>
          <p:nvPr/>
        </p:nvSpPr>
        <p:spPr bwMode="auto">
          <a:xfrm>
            <a:off x="3706813" y="3697288"/>
            <a:ext cx="5138737" cy="291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a:lnSpc>
                <a:spcPct val="120000"/>
              </a:lnSpc>
              <a:spcBef>
                <a:spcPct val="150000"/>
              </a:spcBef>
              <a:buClr>
                <a:schemeClr val="tx1"/>
              </a:buClr>
            </a:pPr>
            <a:r>
              <a:rPr lang="en-GB" altLang="en-US" sz="1400" dirty="0">
                <a:solidFill>
                  <a:srgbClr val="FF6600"/>
                </a:solidFill>
                <a:effectLst>
                  <a:outerShdw blurRad="38100" dist="38100" dir="2700000" algn="tl">
                    <a:srgbClr val="000000"/>
                  </a:outerShdw>
                </a:effectLst>
                <a:latin typeface="Arial" panose="020B0604020202020204" pitchFamily="34" charset="0"/>
              </a:rPr>
              <a:t>Principal stresses in terms of the stresses in an arbitrary frame</a:t>
            </a:r>
          </a:p>
          <a:p>
            <a:pPr algn="ctr">
              <a:lnSpc>
                <a:spcPct val="120000"/>
              </a:lnSpc>
              <a:spcBef>
                <a:spcPct val="50000"/>
              </a:spcBef>
              <a:buClr>
                <a:schemeClr val="tx1"/>
              </a:buClr>
            </a:pP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1</a:t>
            </a:r>
            <a:r>
              <a:rPr lang="en-GB" altLang="en-US" sz="14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ea typeface="Cambria Math" panose="02040503050406030204" pitchFamily="18" charset="0"/>
              </a:rPr>
              <a:t>2</a:t>
            </a:r>
            <a:r>
              <a:rPr lang="en-GB" altLang="en-US" sz="1400" dirty="0">
                <a:effectLst>
                  <a:outerShdw blurRad="38100" dist="38100" dir="2700000" algn="tl">
                    <a:srgbClr val="000000"/>
                  </a:outerShdw>
                </a:effectLst>
                <a:latin typeface="Arial" panose="020B0604020202020204" pitchFamily="34" charset="0"/>
              </a:rPr>
              <a:t>   =   ½</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a:effectLst>
                  <a:outerShdw blurRad="38100" dist="38100" dir="2700000" algn="tl">
                    <a:srgbClr val="000000"/>
                  </a:outerShdw>
                </a:effectLst>
                <a:latin typeface="Arial" panose="020B0604020202020204" pitchFamily="34" charset="0"/>
              </a:rPr>
              <a:t>xx</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err="1">
                <a:effectLst>
                  <a:outerShdw blurRad="38100" dist="38100" dir="2700000" algn="tl">
                    <a:srgbClr val="000000"/>
                  </a:outerShdw>
                </a:effectLst>
                <a:latin typeface="Arial" panose="020B0604020202020204" pitchFamily="34" charset="0"/>
                <a:ea typeface="Cambria Math" panose="02040503050406030204" pitchFamily="18" charset="0"/>
              </a:rPr>
              <a:t>yy</a:t>
            </a:r>
            <a:r>
              <a:rPr lang="en-GB" altLang="en-US" sz="800" i="1" baseline="-250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  ±  ½</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a:effectLst>
                  <a:outerShdw blurRad="38100" dist="38100" dir="2700000" algn="tl">
                    <a:srgbClr val="000000"/>
                  </a:outerShdw>
                </a:effectLst>
                <a:latin typeface="Arial" panose="020B0604020202020204" pitchFamily="34" charset="0"/>
              </a:rPr>
              <a:t>xx</a:t>
            </a:r>
            <a:r>
              <a:rPr lang="en-GB" altLang="en-US" sz="800" i="1" baseline="-250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err="1">
                <a:effectLst>
                  <a:outerShdw blurRad="38100" dist="38100" dir="2700000" algn="tl">
                    <a:srgbClr val="000000"/>
                  </a:outerShdw>
                </a:effectLst>
                <a:latin typeface="Arial" panose="020B0604020202020204" pitchFamily="34" charset="0"/>
                <a:ea typeface="Cambria Math" panose="02040503050406030204" pitchFamily="18" charset="0"/>
              </a:rPr>
              <a:t>yy</a:t>
            </a:r>
            <a:r>
              <a:rPr lang="en-GB" altLang="en-US" sz="800" i="1" baseline="-250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n-GB" altLang="en-US" sz="1400" baseline="30000" dirty="0">
                <a:effectLst>
                  <a:outerShdw blurRad="38100" dist="38100" dir="2700000" algn="tl">
                    <a:srgbClr val="000000"/>
                  </a:outerShdw>
                </a:effectLst>
                <a:latin typeface="Arial" panose="020B0604020202020204" pitchFamily="34" charset="0"/>
              </a:rPr>
              <a:t>2</a:t>
            </a:r>
            <a:r>
              <a:rPr lang="en-GB" altLang="en-US" sz="1400" dirty="0">
                <a:effectLst>
                  <a:outerShdw blurRad="38100" dist="38100" dir="2700000" algn="tl">
                    <a:srgbClr val="000000"/>
                  </a:outerShdw>
                </a:effectLst>
                <a:latin typeface="Arial" panose="020B0604020202020204" pitchFamily="34" charset="0"/>
              </a:rPr>
              <a:t> + 4</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err="1">
                <a:effectLst>
                  <a:outerShdw blurRad="38100" dist="38100" dir="2700000" algn="tl">
                    <a:srgbClr val="000000"/>
                  </a:outerShdw>
                </a:effectLst>
                <a:latin typeface="Arial" panose="020B0604020202020204" pitchFamily="34" charset="0"/>
              </a:rPr>
              <a:t>xy</a:t>
            </a:r>
            <a:r>
              <a:rPr lang="en-GB" altLang="en-US" sz="1400" i="1" dirty="0">
                <a:effectLst>
                  <a:outerShdw blurRad="38100" dist="38100" dir="2700000" algn="tl">
                    <a:srgbClr val="000000"/>
                  </a:outerShdw>
                </a:effectLst>
                <a:latin typeface="Symbol" panose="05050102010706020507" pitchFamily="18" charset="2"/>
              </a:rPr>
              <a:t> </a:t>
            </a:r>
            <a:r>
              <a:rPr lang="en-GB" altLang="en-US" sz="1400" baseline="30000" dirty="0">
                <a:effectLst>
                  <a:outerShdw blurRad="38100" dist="38100" dir="2700000" algn="tl">
                    <a:srgbClr val="000000"/>
                  </a:outerShdw>
                </a:effectLst>
                <a:latin typeface="Arial" panose="020B0604020202020204" pitchFamily="34" charset="0"/>
              </a:rPr>
              <a:t>2 </a:t>
            </a:r>
            <a:r>
              <a:rPr lang="en-GB" altLang="en-US" sz="1400" dirty="0">
                <a:effectLst>
                  <a:outerShdw blurRad="38100" dist="38100" dir="2700000" algn="tl">
                    <a:srgbClr val="000000"/>
                  </a:outerShdw>
                </a:effectLst>
                <a:latin typeface="Arial" panose="020B0604020202020204" pitchFamily="34" charset="0"/>
              </a:rPr>
              <a:t>] </a:t>
            </a:r>
            <a:r>
              <a:rPr lang="en-GB" altLang="en-US" sz="1400" baseline="30000" dirty="0">
                <a:effectLst>
                  <a:outerShdw blurRad="38100" dist="38100" dir="2700000" algn="tl">
                    <a:srgbClr val="000000"/>
                  </a:outerShdw>
                </a:effectLst>
                <a:latin typeface="Arial" panose="020B0604020202020204" pitchFamily="34" charset="0"/>
              </a:rPr>
              <a:t>½</a:t>
            </a:r>
            <a:endParaRPr lang="en-GB" altLang="en-US" sz="1400" dirty="0">
              <a:effectLst>
                <a:outerShdw blurRad="38100" dist="38100" dir="2700000" algn="tl">
                  <a:srgbClr val="000000"/>
                </a:outerShdw>
              </a:effectLst>
              <a:latin typeface="Arial" panose="020B0604020202020204" pitchFamily="34" charset="0"/>
            </a:endParaRPr>
          </a:p>
          <a:p>
            <a:pPr algn="ctr">
              <a:lnSpc>
                <a:spcPct val="120000"/>
              </a:lnSpc>
              <a:spcBef>
                <a:spcPct val="50000"/>
              </a:spcBef>
              <a:buClr>
                <a:schemeClr val="tx1"/>
              </a:buClr>
            </a:pPr>
            <a:r>
              <a:rPr lang="en-GB" altLang="en-US" sz="1400" dirty="0">
                <a:effectLst>
                  <a:outerShdw blurRad="38100" dist="38100" dir="2700000" algn="tl">
                    <a:srgbClr val="000000"/>
                  </a:outerShdw>
                </a:effectLst>
                <a:latin typeface="Arial" panose="020B0604020202020204" pitchFamily="34" charset="0"/>
              </a:rPr>
              <a:t>tan 2</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400" dirty="0">
                <a:effectLst>
                  <a:outerShdw blurRad="38100" dist="38100" dir="2700000" algn="tl">
                    <a:srgbClr val="000000"/>
                  </a:outerShdw>
                </a:effectLst>
                <a:latin typeface="Arial" panose="020B0604020202020204" pitchFamily="34" charset="0"/>
              </a:rPr>
              <a:t>   =   2</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err="1">
                <a:effectLst>
                  <a:outerShdw blurRad="38100" dist="38100" dir="2700000" algn="tl">
                    <a:srgbClr val="000000"/>
                  </a:outerShdw>
                </a:effectLst>
                <a:latin typeface="Arial" panose="020B0604020202020204" pitchFamily="34" charset="0"/>
              </a:rPr>
              <a:t>xy</a:t>
            </a:r>
            <a:r>
              <a:rPr lang="en-GB" altLang="en-US" sz="1400" dirty="0">
                <a:effectLst>
                  <a:outerShdw blurRad="38100" dist="38100" dir="2700000" algn="tl">
                    <a:srgbClr val="000000"/>
                  </a:outerShdw>
                </a:effectLst>
                <a:latin typeface="Arial" panose="020B0604020202020204" pitchFamily="34" charset="0"/>
              </a:rPr>
              <a:t> /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a:effectLst>
                  <a:outerShdw blurRad="38100" dist="38100" dir="2700000" algn="tl">
                    <a:srgbClr val="000000"/>
                  </a:outerShdw>
                </a:effectLst>
                <a:latin typeface="Arial" panose="020B0604020202020204" pitchFamily="34" charset="0"/>
              </a:rPr>
              <a:t>xx</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err="1">
                <a:effectLst>
                  <a:outerShdw blurRad="38100" dist="38100" dir="2700000" algn="tl">
                    <a:srgbClr val="000000"/>
                  </a:outerShdw>
                </a:effectLst>
                <a:latin typeface="Arial" panose="020B0604020202020204" pitchFamily="34" charset="0"/>
                <a:ea typeface="Cambria Math" panose="02040503050406030204" pitchFamily="18" charset="0"/>
              </a:rPr>
              <a:t>yy</a:t>
            </a:r>
            <a:r>
              <a:rPr lang="en-GB" altLang="en-US" sz="800" i="1" baseline="-250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p>
          <a:p>
            <a:pPr>
              <a:lnSpc>
                <a:spcPct val="120000"/>
              </a:lnSpc>
              <a:spcBef>
                <a:spcPct val="50000"/>
              </a:spcBef>
              <a:buClr>
                <a:schemeClr val="tx1"/>
              </a:buClr>
            </a:pPr>
            <a:r>
              <a:rPr lang="en-GB" altLang="en-US" sz="1400" dirty="0">
                <a:effectLst>
                  <a:outerShdw blurRad="38100" dist="38100" dir="2700000" algn="tl">
                    <a:srgbClr val="000000"/>
                  </a:outerShdw>
                </a:effectLst>
                <a:latin typeface="Arial" panose="020B0604020202020204" pitchFamily="34" charset="0"/>
              </a:rPr>
              <a:t>	where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400" dirty="0">
                <a:effectLst>
                  <a:outerShdw blurRad="38100" dist="38100" dir="2700000" algn="tl">
                    <a:srgbClr val="000000"/>
                  </a:outerShdw>
                </a:effectLst>
                <a:latin typeface="Arial" panose="020B0604020202020204" pitchFamily="34" charset="0"/>
              </a:rPr>
              <a:t>  is the angle measured from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1</a:t>
            </a:r>
            <a:r>
              <a:rPr lang="en-GB" altLang="en-US" sz="1400" dirty="0">
                <a:effectLst>
                  <a:outerShdw blurRad="38100" dist="38100" dir="2700000" algn="tl">
                    <a:srgbClr val="000000"/>
                  </a:outerShdw>
                </a:effectLst>
                <a:latin typeface="Arial" panose="020B0604020202020204" pitchFamily="34" charset="0"/>
              </a:rPr>
              <a:t> to the normal to the plane</a:t>
            </a:r>
          </a:p>
          <a:p>
            <a:pPr algn="ctr">
              <a:lnSpc>
                <a:spcPct val="120000"/>
              </a:lnSpc>
              <a:spcBef>
                <a:spcPct val="100000"/>
              </a:spcBef>
              <a:buClr>
                <a:schemeClr val="tx1"/>
              </a:buClr>
            </a:pPr>
            <a:r>
              <a:rPr lang="en-GB" altLang="en-US" sz="1400" dirty="0">
                <a:solidFill>
                  <a:srgbClr val="FF6600"/>
                </a:solidFill>
                <a:effectLst>
                  <a:outerShdw blurRad="38100" dist="38100" dir="2700000" algn="tl">
                    <a:srgbClr val="000000"/>
                  </a:outerShdw>
                </a:effectLst>
                <a:latin typeface="Arial" panose="020B0604020202020204" pitchFamily="34" charset="0"/>
              </a:rPr>
              <a:t>Stresses on a plane in terms of the principal stresses</a:t>
            </a:r>
          </a:p>
          <a:p>
            <a:pPr algn="ctr">
              <a:lnSpc>
                <a:spcPct val="120000"/>
              </a:lnSpc>
              <a:spcBef>
                <a:spcPct val="50000"/>
              </a:spcBef>
              <a:buClr>
                <a:schemeClr val="tx1"/>
              </a:buClr>
            </a:pP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a:effectLst>
                  <a:outerShdw blurRad="38100" dist="38100" dir="2700000" algn="tl">
                    <a:srgbClr val="000000"/>
                  </a:outerShdw>
                </a:effectLst>
                <a:latin typeface="Arial" panose="020B0604020202020204" pitchFamily="34" charset="0"/>
              </a:rPr>
              <a:t>n</a:t>
            </a:r>
            <a:r>
              <a:rPr lang="en-GB" altLang="en-US" sz="1400" dirty="0">
                <a:effectLst>
                  <a:outerShdw blurRad="38100" dist="38100" dir="2700000" algn="tl">
                    <a:srgbClr val="000000"/>
                  </a:outerShdw>
                </a:effectLst>
                <a:latin typeface="Arial" panose="020B0604020202020204" pitchFamily="34" charset="0"/>
              </a:rPr>
              <a:t>   =   [</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1</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i="1" baseline="-25000" dirty="0">
                <a:effectLst>
                  <a:outerShdw blurRad="38100" dist="38100" dir="2700000" algn="tl">
                    <a:srgbClr val="000000"/>
                  </a:outerShdw>
                </a:effectLst>
                <a:latin typeface="Arial" panose="020B0604020202020204" pitchFamily="34" charset="0"/>
                <a:ea typeface="Cambria Math" panose="02040503050406030204" pitchFamily="18" charset="0"/>
              </a:rPr>
              <a:t>2</a:t>
            </a:r>
            <a:r>
              <a:rPr lang="en-GB" altLang="en-US" sz="800" baseline="-250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 /</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2</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  +  [</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1</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ea typeface="Cambria Math" panose="02040503050406030204" pitchFamily="18" charset="0"/>
              </a:rPr>
              <a:t>2</a:t>
            </a:r>
            <a:r>
              <a:rPr lang="en-GB" altLang="en-US" sz="800" baseline="-250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 /</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2</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 cos 2</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θ </a:t>
            </a:r>
            <a:endParaRPr lang="en-GB"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endParaRPr>
          </a:p>
          <a:p>
            <a:pPr algn="ctr">
              <a:lnSpc>
                <a:spcPct val="120000"/>
              </a:lnSpc>
              <a:spcBef>
                <a:spcPct val="50000"/>
              </a:spcBef>
              <a:buClr>
                <a:schemeClr val="tx1"/>
              </a:buClr>
            </a:pPr>
            <a:r>
              <a:rPr lang="en-GB" altLang="en-US" sz="1400" dirty="0">
                <a:effectLst>
                  <a:outerShdw blurRad="38100" dist="38100" dir="2700000" algn="tl">
                    <a:srgbClr val="000000"/>
                  </a:outerShdw>
                </a:effectLst>
                <a:latin typeface="Arial" panose="020B0604020202020204" pitchFamily="34" charset="0"/>
              </a:rPr>
              <a:t>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τ</a:t>
            </a:r>
            <a:r>
              <a:rPr lang="en-GB"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400" dirty="0">
                <a:effectLst>
                  <a:outerShdw blurRad="38100" dist="38100" dir="2700000" algn="tl">
                    <a:srgbClr val="000000"/>
                  </a:outerShdw>
                </a:effectLst>
                <a:latin typeface="Arial" panose="020B0604020202020204" pitchFamily="34" charset="0"/>
              </a:rPr>
              <a:t>=   [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1</a:t>
            </a:r>
            <a:r>
              <a:rPr lang="en-GB" altLang="en-US" sz="9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ea typeface="Cambria Math" panose="02040503050406030204" pitchFamily="18" charset="0"/>
              </a:rPr>
              <a:t>2</a:t>
            </a:r>
            <a:r>
              <a:rPr lang="en-GB" altLang="en-US" sz="800" baseline="-250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 /</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2</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 sin 2</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θ</a:t>
            </a:r>
            <a:endParaRPr lang="en-GB" altLang="en-US" sz="1400" i="1" dirty="0">
              <a:effectLst>
                <a:outerShdw blurRad="38100" dist="38100" dir="2700000" algn="tl">
                  <a:srgbClr val="000000"/>
                </a:outerShdw>
              </a:effectLst>
              <a:latin typeface="Symbol" panose="05050102010706020507" pitchFamily="18" charset="2"/>
            </a:endParaRPr>
          </a:p>
        </p:txBody>
      </p:sp>
      <p:pic>
        <p:nvPicPr>
          <p:cNvPr id="5" name="Picture 4">
            <a:extLst>
              <a:ext uri="{FF2B5EF4-FFF2-40B4-BE49-F238E27FC236}">
                <a16:creationId xmlns:a16="http://schemas.microsoft.com/office/drawing/2014/main" id="{240D55BC-D8B9-4FF6-B233-4E17113164B9}"/>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3457287" y="927488"/>
            <a:ext cx="5478113" cy="2623234"/>
          </a:xfrm>
          <a:prstGeom prst="rect">
            <a:avLst/>
          </a:prstGeom>
          <a:ln w="38100">
            <a:solidFill>
              <a:schemeClr val="bg2"/>
            </a:solidFill>
          </a:ln>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1434E308-655B-48FE-96D3-FC4F5A4EE1A3}"/>
              </a:ext>
            </a:extLst>
          </p:cNvPr>
          <p:cNvSpPr>
            <a:spLocks noGrp="1" noChangeArrowheads="1"/>
          </p:cNvSpPr>
          <p:nvPr>
            <p:ph type="title"/>
          </p:nvPr>
        </p:nvSpPr>
        <p:spPr>
          <a:noFill/>
        </p:spPr>
        <p:txBody>
          <a:bodyPr/>
          <a:lstStyle/>
          <a:p>
            <a:r>
              <a:rPr lang="en-GB" altLang="en-US">
                <a:effectLst/>
              </a:rPr>
              <a:t>Mohr circle representation of stress (in 2D)</a:t>
            </a:r>
          </a:p>
        </p:txBody>
      </p:sp>
      <p:sp>
        <p:nvSpPr>
          <p:cNvPr id="245763" name="Text Box 3">
            <a:extLst>
              <a:ext uri="{FF2B5EF4-FFF2-40B4-BE49-F238E27FC236}">
                <a16:creationId xmlns:a16="http://schemas.microsoft.com/office/drawing/2014/main" id="{213E41F4-783A-49E1-82DC-E778AFE53A89}"/>
              </a:ext>
            </a:extLst>
          </p:cNvPr>
          <p:cNvSpPr txBox="1">
            <a:spLocks noChangeArrowheads="1"/>
          </p:cNvSpPr>
          <p:nvPr/>
        </p:nvSpPr>
        <p:spPr bwMode="auto">
          <a:xfrm>
            <a:off x="138113" y="833438"/>
            <a:ext cx="6964362" cy="208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65113" algn="l"/>
              </a:tabLst>
              <a:defRPr sz="1600">
                <a:solidFill>
                  <a:schemeClr val="tx1"/>
                </a:solidFill>
                <a:latin typeface="Helvetica" panose="020B0604020202020204" pitchFamily="34" charset="0"/>
              </a:defRPr>
            </a:lvl1pPr>
            <a:lvl2pPr>
              <a:tabLst>
                <a:tab pos="265113" algn="l"/>
              </a:tabLst>
              <a:defRPr sz="1600">
                <a:solidFill>
                  <a:schemeClr val="tx1"/>
                </a:solidFill>
                <a:latin typeface="Helvetica" panose="020B0604020202020204" pitchFamily="34" charset="0"/>
              </a:defRPr>
            </a:lvl2pPr>
            <a:lvl3pPr>
              <a:tabLst>
                <a:tab pos="265113" algn="l"/>
              </a:tabLst>
              <a:defRPr sz="1600">
                <a:solidFill>
                  <a:schemeClr val="tx1"/>
                </a:solidFill>
                <a:latin typeface="Helvetica" panose="020B0604020202020204" pitchFamily="34" charset="0"/>
              </a:defRPr>
            </a:lvl3pPr>
            <a:lvl4pPr>
              <a:tabLst>
                <a:tab pos="265113" algn="l"/>
              </a:tabLst>
              <a:defRPr sz="1600">
                <a:solidFill>
                  <a:schemeClr val="tx1"/>
                </a:solidFill>
                <a:latin typeface="Helvetica" panose="020B0604020202020204" pitchFamily="34" charset="0"/>
              </a:defRPr>
            </a:lvl4pPr>
            <a:lvl5pPr>
              <a:tabLst>
                <a:tab pos="265113" algn="l"/>
              </a:tabLst>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tabLst>
                <a:tab pos="265113" algn="l"/>
              </a:tabLst>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tabLst>
                <a:tab pos="265113" algn="l"/>
              </a:tabLst>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tabLst>
                <a:tab pos="265113" algn="l"/>
              </a:tabLst>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tabLst>
                <a:tab pos="265113" algn="l"/>
              </a:tabLst>
              <a:defRPr sz="1600">
                <a:solidFill>
                  <a:schemeClr val="tx1"/>
                </a:solidFill>
                <a:latin typeface="Helvetica" panose="020B0604020202020204" pitchFamily="34" charset="0"/>
              </a:defRPr>
            </a:lvl9pPr>
          </a:lstStyle>
          <a:p>
            <a:pPr algn="ctr">
              <a:lnSpc>
                <a:spcPct val="120000"/>
              </a:lnSpc>
              <a:spcBef>
                <a:spcPct val="50000"/>
              </a:spcBef>
              <a:buClr>
                <a:schemeClr val="tx1"/>
              </a:buClr>
            </a:pP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a:effectLst>
                  <a:outerShdw blurRad="38100" dist="38100" dir="2700000" algn="tl">
                    <a:srgbClr val="000000"/>
                  </a:outerShdw>
                </a:effectLst>
                <a:latin typeface="Arial" panose="020B0604020202020204" pitchFamily="34" charset="0"/>
              </a:rPr>
              <a:t>n</a:t>
            </a:r>
            <a:r>
              <a:rPr lang="en-GB" altLang="en-US" sz="1700" dirty="0">
                <a:effectLst>
                  <a:outerShdw blurRad="38100" dist="38100" dir="2700000" algn="tl">
                    <a:srgbClr val="000000"/>
                  </a:outerShdw>
                </a:effectLst>
                <a:latin typeface="Arial" panose="020B0604020202020204" pitchFamily="34" charset="0"/>
              </a:rPr>
              <a:t>   =   ½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ea typeface="Cambria Math" panose="02040503050406030204" pitchFamily="18" charset="0"/>
              </a:rPr>
              <a:t>2</a:t>
            </a:r>
            <a:r>
              <a:rPr lang="en-GB" altLang="en-US" sz="1700" dirty="0">
                <a:effectLst>
                  <a:outerShdw blurRad="38100" dist="38100" dir="2700000" algn="tl">
                    <a:srgbClr val="000000"/>
                  </a:outerShdw>
                </a:effectLst>
                <a:latin typeface="Arial" panose="020B0604020202020204" pitchFamily="34" charset="0"/>
              </a:rPr>
              <a:t>)  +  ½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 cos 2</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θ</a:t>
            </a:r>
            <a:endParaRPr lang="en-GB" altLang="en-US" sz="1700" i="1" dirty="0">
              <a:effectLst>
                <a:outerShdw blurRad="38100" dist="38100" dir="2700000" algn="tl">
                  <a:srgbClr val="000000"/>
                </a:outerShdw>
              </a:effectLst>
              <a:latin typeface="Symbol" panose="05050102010706020507" pitchFamily="18" charset="2"/>
            </a:endParaRPr>
          </a:p>
          <a:p>
            <a:pPr algn="ctr">
              <a:lnSpc>
                <a:spcPct val="120000"/>
              </a:lnSpc>
              <a:buFont typeface="Symbol" panose="05050102010706020507" pitchFamily="18" charset="2"/>
              <a:buNone/>
            </a:pP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τ</a:t>
            </a:r>
            <a:r>
              <a:rPr lang="en-GB" altLang="en-US" sz="1700" dirty="0">
                <a:effectLst>
                  <a:outerShdw blurRad="38100" dist="38100" dir="2700000" algn="tl">
                    <a:srgbClr val="000000"/>
                  </a:outerShdw>
                </a:effectLst>
                <a:latin typeface="Arial" panose="020B0604020202020204" pitchFamily="34" charset="0"/>
              </a:rPr>
              <a:t>   =   ½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 sin 2</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θ</a:t>
            </a:r>
            <a:endParaRPr lang="en-GB"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endParaRPr>
          </a:p>
          <a:p>
            <a:pPr>
              <a:lnSpc>
                <a:spcPct val="120000"/>
              </a:lnSpc>
              <a:buFont typeface="Symbol" panose="05050102010706020507" pitchFamily="18" charset="2"/>
              <a:buNone/>
            </a:pPr>
            <a:r>
              <a:rPr lang="en-GB" altLang="en-US" sz="1700" dirty="0">
                <a:effectLst>
                  <a:outerShdw blurRad="38100" dist="38100" dir="2700000" algn="tl">
                    <a:srgbClr val="000000"/>
                  </a:outerShdw>
                </a:effectLst>
                <a:latin typeface="Arial" panose="020B0604020202020204" pitchFamily="34" charset="0"/>
              </a:rPr>
              <a:t>have the same form as the </a:t>
            </a:r>
            <a:r>
              <a:rPr lang="en-GB" altLang="en-US" sz="1700" dirty="0">
                <a:solidFill>
                  <a:srgbClr val="FF66CC"/>
                </a:solidFill>
                <a:effectLst>
                  <a:outerShdw blurRad="38100" dist="38100" dir="2700000" algn="tl">
                    <a:srgbClr val="000000"/>
                  </a:outerShdw>
                </a:effectLst>
                <a:latin typeface="Arial" panose="020B0604020202020204" pitchFamily="34" charset="0"/>
              </a:rPr>
              <a:t>parametric equations for a circle</a:t>
            </a:r>
            <a:r>
              <a:rPr lang="en-GB" altLang="en-US" sz="1700" dirty="0">
                <a:effectLst>
                  <a:outerShdw blurRad="38100" dist="38100" dir="2700000" algn="tl">
                    <a:srgbClr val="000000"/>
                  </a:outerShdw>
                </a:effectLst>
                <a:latin typeface="Arial" panose="020B0604020202020204" pitchFamily="34" charset="0"/>
              </a:rPr>
              <a:t> and so there is a straightforward graphical approach that allows the stresses on a plane of any orientation to be calculated. The diagram that implements this approach is known as the </a:t>
            </a:r>
            <a:r>
              <a:rPr lang="en-GB" altLang="en-US" sz="1700" dirty="0">
                <a:solidFill>
                  <a:srgbClr val="FF6600"/>
                </a:solidFill>
                <a:effectLst>
                  <a:outerShdw blurRad="38100" dist="38100" dir="2700000" algn="tl">
                    <a:srgbClr val="000000"/>
                  </a:outerShdw>
                </a:effectLst>
                <a:latin typeface="Arial" panose="020B0604020202020204" pitchFamily="34" charset="0"/>
              </a:rPr>
              <a:t>Mohr diagram</a:t>
            </a:r>
          </a:p>
        </p:txBody>
      </p:sp>
      <p:pic>
        <p:nvPicPr>
          <p:cNvPr id="245769" name="Picture 9" descr="Mohr">
            <a:extLst>
              <a:ext uri="{FF2B5EF4-FFF2-40B4-BE49-F238E27FC236}">
                <a16:creationId xmlns:a16="http://schemas.microsoft.com/office/drawing/2014/main" id="{2D42C81E-443D-4164-9A78-7262DE3541E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7319963" y="488950"/>
            <a:ext cx="1690687" cy="22637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4">
            <a:extLst>
              <a:ext uri="{FF2B5EF4-FFF2-40B4-BE49-F238E27FC236}">
                <a16:creationId xmlns:a16="http://schemas.microsoft.com/office/drawing/2014/main" id="{CD8EE4A6-0A8E-4AD4-8CB9-29F0EA4C282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58140" y="3051554"/>
            <a:ext cx="8110847" cy="3589655"/>
          </a:xfrm>
          <a:prstGeom prst="rect">
            <a:avLst/>
          </a:prstGeom>
          <a:ln w="38100">
            <a:solidFill>
              <a:schemeClr val="bg2"/>
            </a:solidFill>
          </a:ln>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a:extLst>
              <a:ext uri="{FF2B5EF4-FFF2-40B4-BE49-F238E27FC236}">
                <a16:creationId xmlns:a16="http://schemas.microsoft.com/office/drawing/2014/main" id="{6F272C97-B3DF-4F60-81B1-F11A95CDB012}"/>
              </a:ext>
            </a:extLst>
          </p:cNvPr>
          <p:cNvSpPr>
            <a:spLocks noGrp="1" noChangeArrowheads="1"/>
          </p:cNvSpPr>
          <p:nvPr>
            <p:ph type="title"/>
          </p:nvPr>
        </p:nvSpPr>
        <p:spPr>
          <a:noFill/>
        </p:spPr>
        <p:txBody>
          <a:bodyPr/>
          <a:lstStyle/>
          <a:p>
            <a:r>
              <a:rPr lang="en-GB" altLang="en-US">
                <a:effectLst/>
              </a:rPr>
              <a:t>Mohr circle representation of stress (2D alternative)</a:t>
            </a:r>
          </a:p>
        </p:txBody>
      </p:sp>
      <p:sp>
        <p:nvSpPr>
          <p:cNvPr id="248835" name="Text Box 3">
            <a:extLst>
              <a:ext uri="{FF2B5EF4-FFF2-40B4-BE49-F238E27FC236}">
                <a16:creationId xmlns:a16="http://schemas.microsoft.com/office/drawing/2014/main" id="{5698F45A-B6FF-4D52-ACC5-AD59971F12B5}"/>
              </a:ext>
            </a:extLst>
          </p:cNvPr>
          <p:cNvSpPr txBox="1">
            <a:spLocks noChangeArrowheads="1"/>
          </p:cNvSpPr>
          <p:nvPr/>
        </p:nvSpPr>
        <p:spPr bwMode="auto">
          <a:xfrm>
            <a:off x="119063" y="833438"/>
            <a:ext cx="8905875" cy="177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Many prefer to use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α</a:t>
            </a:r>
            <a:r>
              <a:rPr lang="en-GB" altLang="en-US" sz="1700" dirty="0">
                <a:effectLst>
                  <a:outerShdw blurRad="38100" dist="38100" dir="2700000" algn="tl">
                    <a:srgbClr val="000000"/>
                  </a:outerShdw>
                </a:effectLst>
                <a:latin typeface="Arial" panose="020B0604020202020204" pitchFamily="34" charset="0"/>
              </a:rPr>
              <a:t>, the </a:t>
            </a:r>
            <a:r>
              <a:rPr lang="en-GB" altLang="en-US" sz="1700" dirty="0">
                <a:solidFill>
                  <a:srgbClr val="FF66CC"/>
                </a:solidFill>
                <a:effectLst>
                  <a:outerShdw blurRad="38100" dist="38100" dir="2700000" algn="tl">
                    <a:srgbClr val="000000"/>
                  </a:outerShdw>
                </a:effectLst>
                <a:latin typeface="Arial" panose="020B0604020202020204" pitchFamily="34" charset="0"/>
              </a:rPr>
              <a:t>angle between </a:t>
            </a:r>
            <a:r>
              <a:rPr lang="el-GR" altLang="en-US" sz="1700" i="1" dirty="0">
                <a:solidFill>
                  <a:srgbClr val="FF66CC"/>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rPr>
              <a:t>1</a:t>
            </a:r>
            <a:r>
              <a:rPr lang="en-GB" altLang="en-US" sz="1700" dirty="0">
                <a:solidFill>
                  <a:srgbClr val="FF66CC"/>
                </a:solidFill>
                <a:effectLst>
                  <a:outerShdw blurRad="38100" dist="38100" dir="2700000" algn="tl">
                    <a:srgbClr val="000000"/>
                  </a:outerShdw>
                </a:effectLst>
                <a:latin typeface="Arial" panose="020B0604020202020204" pitchFamily="34" charset="0"/>
              </a:rPr>
              <a:t> and the plane itself</a:t>
            </a:r>
            <a:r>
              <a:rPr lang="en-GB" altLang="en-US" sz="1700" dirty="0">
                <a:effectLst>
                  <a:outerShdw blurRad="38100" dist="38100" dir="2700000" algn="tl">
                    <a:srgbClr val="000000"/>
                  </a:outerShdw>
                </a:effectLst>
                <a:latin typeface="Arial" panose="020B0604020202020204" pitchFamily="34" charset="0"/>
              </a:rPr>
              <a:t> (arguably more intuitive), rather than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700" dirty="0">
                <a:effectLst>
                  <a:outerShdw blurRad="38100" dist="38100" dir="2700000" algn="tl">
                    <a:srgbClr val="000000"/>
                  </a:outerShdw>
                </a:effectLst>
                <a:latin typeface="Arial" panose="020B0604020202020204" pitchFamily="34" charset="0"/>
              </a:rPr>
              <a:t>, the angle between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and the normal to the plane (mathematically more conventional). Below the Mohr diagram is drawn using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α</a:t>
            </a:r>
            <a:endParaRPr lang="en-GB"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endParaRP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Throughout this course </a:t>
            </a:r>
            <a:r>
              <a:rPr lang="en-GB" altLang="en-US" sz="1700" dirty="0">
                <a:solidFill>
                  <a:srgbClr val="FF6600"/>
                </a:solidFill>
                <a:effectLst>
                  <a:outerShdw blurRad="38100" dist="38100" dir="2700000" algn="tl">
                    <a:srgbClr val="000000"/>
                  </a:outerShdw>
                </a:effectLst>
                <a:latin typeface="Arial" panose="020B0604020202020204" pitchFamily="34" charset="0"/>
              </a:rPr>
              <a:t>we will use the mathematically more conventional version</a:t>
            </a:r>
            <a:r>
              <a:rPr lang="en-GB" altLang="en-US" sz="1700" dirty="0">
                <a:effectLst>
                  <a:outerShdw blurRad="38100" dist="38100" dir="2700000" algn="tl">
                    <a:srgbClr val="000000"/>
                  </a:outerShdw>
                </a:effectLst>
                <a:latin typeface="Arial" panose="020B0604020202020204" pitchFamily="34" charset="0"/>
              </a:rPr>
              <a:t> that was illustrated on the previous slide</a:t>
            </a:r>
          </a:p>
        </p:txBody>
      </p:sp>
      <p:pic>
        <p:nvPicPr>
          <p:cNvPr id="5" name="Picture 4">
            <a:extLst>
              <a:ext uri="{FF2B5EF4-FFF2-40B4-BE49-F238E27FC236}">
                <a16:creationId xmlns:a16="http://schemas.microsoft.com/office/drawing/2014/main" id="{3986B755-0D61-4338-9356-EE6773E3DC4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39646" y="2809876"/>
            <a:ext cx="8181840" cy="3697802"/>
          </a:xfrm>
          <a:prstGeom prst="rect">
            <a:avLst/>
          </a:prstGeom>
          <a:ln w="38100">
            <a:solidFill>
              <a:schemeClr val="bg2"/>
            </a:solidFill>
          </a:ln>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6" name="Rectangle 4">
            <a:extLst>
              <a:ext uri="{FF2B5EF4-FFF2-40B4-BE49-F238E27FC236}">
                <a16:creationId xmlns:a16="http://schemas.microsoft.com/office/drawing/2014/main" id="{9977BDDB-AC0F-4C57-9379-E31371EF5D1E}"/>
              </a:ext>
            </a:extLst>
          </p:cNvPr>
          <p:cNvSpPr>
            <a:spLocks noGrp="1" noChangeArrowheads="1"/>
          </p:cNvSpPr>
          <p:nvPr>
            <p:ph type="title"/>
          </p:nvPr>
        </p:nvSpPr>
        <p:spPr>
          <a:noFill/>
        </p:spPr>
        <p:txBody>
          <a:bodyPr/>
          <a:lstStyle/>
          <a:p>
            <a:r>
              <a:rPr lang="en-GB" altLang="en-US">
                <a:effectLst/>
              </a:rPr>
              <a:t>Stress at a point in 3D</a:t>
            </a:r>
          </a:p>
        </p:txBody>
      </p:sp>
      <p:pic>
        <p:nvPicPr>
          <p:cNvPr id="228382" name="Picture 30" descr="02a">
            <a:extLst>
              <a:ext uri="{FF2B5EF4-FFF2-40B4-BE49-F238E27FC236}">
                <a16:creationId xmlns:a16="http://schemas.microsoft.com/office/drawing/2014/main" id="{AF031079-A83B-4C92-8F87-BD526C9D4795}"/>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5400675" y="3938588"/>
            <a:ext cx="3270250" cy="27559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8358" name="Text Box 6">
            <a:extLst>
              <a:ext uri="{FF2B5EF4-FFF2-40B4-BE49-F238E27FC236}">
                <a16:creationId xmlns:a16="http://schemas.microsoft.com/office/drawing/2014/main" id="{0C384526-2D7C-4787-AAC3-F01D5E5F21D9}"/>
              </a:ext>
            </a:extLst>
          </p:cNvPr>
          <p:cNvSpPr txBox="1">
            <a:spLocks noChangeArrowheads="1"/>
          </p:cNvSpPr>
          <p:nvPr/>
        </p:nvSpPr>
        <p:spPr bwMode="auto">
          <a:xfrm>
            <a:off x="131763" y="781050"/>
            <a:ext cx="4579937" cy="321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solidFill>
                  <a:srgbClr val="FF66CC"/>
                </a:solidFill>
                <a:effectLst/>
                <a:latin typeface="Arial" panose="020B0604020202020204" pitchFamily="34" charset="0"/>
              </a:rPr>
              <a:t>In 3D the state of stress</a:t>
            </a:r>
            <a:r>
              <a:rPr lang="en-GB" altLang="en-US" sz="1700" dirty="0">
                <a:effectLst/>
                <a:latin typeface="Arial" panose="020B0604020202020204" pitchFamily="34" charset="0"/>
              </a:rPr>
              <a:t> is fully defined by the stresses acting on any three mutually perpendicular surfaces</a:t>
            </a:r>
          </a:p>
          <a:p>
            <a:pPr>
              <a:lnSpc>
                <a:spcPct val="120000"/>
              </a:lnSpc>
              <a:spcBef>
                <a:spcPct val="5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Using a Cartesian coordinate frame, the component of an applied force </a:t>
            </a:r>
            <a:r>
              <a:rPr lang="en-GB" altLang="en-US" sz="1700" i="1" dirty="0">
                <a:solidFill>
                  <a:srgbClr val="FF66CC"/>
                </a:solidFill>
                <a:effectLst/>
                <a:latin typeface="Arial" panose="020B0604020202020204" pitchFamily="34" charset="0"/>
              </a:rPr>
              <a:t>F</a:t>
            </a:r>
            <a:r>
              <a:rPr lang="en-GB" altLang="en-US" sz="1700" dirty="0">
                <a:effectLst/>
                <a:latin typeface="Arial" panose="020B0604020202020204" pitchFamily="34" charset="0"/>
              </a:rPr>
              <a:t> acting along the </a:t>
            </a:r>
            <a:r>
              <a:rPr lang="en-GB" altLang="en-US" sz="1700" i="1" dirty="0">
                <a:effectLst/>
                <a:latin typeface="Arial" panose="020B0604020202020204" pitchFamily="34" charset="0"/>
              </a:rPr>
              <a:t>x</a:t>
            </a:r>
            <a:r>
              <a:rPr lang="en-GB" altLang="en-US" sz="1700" dirty="0">
                <a:effectLst/>
                <a:latin typeface="Arial" panose="020B0604020202020204" pitchFamily="34" charset="0"/>
              </a:rPr>
              <a:t>-axis is </a:t>
            </a:r>
            <a:r>
              <a:rPr lang="en-GB" altLang="en-US" sz="1700" i="1" dirty="0" err="1">
                <a:solidFill>
                  <a:srgbClr val="FF66CC"/>
                </a:solidFill>
                <a:effectLst/>
                <a:latin typeface="Arial" panose="020B0604020202020204" pitchFamily="34" charset="0"/>
              </a:rPr>
              <a:t>F</a:t>
            </a:r>
            <a:r>
              <a:rPr lang="en-GB" altLang="en-US" sz="1700" i="1" baseline="-25000" dirty="0" err="1">
                <a:solidFill>
                  <a:srgbClr val="FF66CC"/>
                </a:solidFill>
                <a:effectLst/>
                <a:latin typeface="Arial" panose="020B0604020202020204" pitchFamily="34" charset="0"/>
              </a:rPr>
              <a:t>x</a:t>
            </a:r>
            <a:r>
              <a:rPr lang="en-GB" altLang="en-US" sz="1700" dirty="0">
                <a:effectLst/>
                <a:latin typeface="Arial" panose="020B0604020202020204" pitchFamily="34" charset="0"/>
              </a:rPr>
              <a:t>, and gives rise to:</a:t>
            </a:r>
          </a:p>
          <a:p>
            <a:pPr>
              <a:lnSpc>
                <a:spcPct val="120000"/>
              </a:lnSpc>
              <a:spcBef>
                <a:spcPct val="25000"/>
              </a:spcBef>
              <a:buClr>
                <a:schemeClr val="folHlink"/>
              </a:buClr>
              <a:buSzPct val="100000"/>
              <a:buFont typeface="Times" panose="02020603050405020304" pitchFamily="18" charset="0"/>
              <a:buNone/>
            </a:pPr>
            <a:r>
              <a:rPr lang="en-GB" altLang="en-US" sz="1700" dirty="0">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a:solidFill>
                  <a:srgbClr val="FFFF00"/>
                </a:solidFill>
                <a:effectLst/>
                <a:latin typeface="Arial" panose="020B0604020202020204" pitchFamily="34" charset="0"/>
              </a:rPr>
              <a:t>xx</a:t>
            </a:r>
            <a:r>
              <a:rPr lang="en-GB" altLang="en-US" sz="1700" dirty="0">
                <a:effectLst/>
                <a:latin typeface="Arial" panose="020B0604020202020204" pitchFamily="34" charset="0"/>
              </a:rPr>
              <a:t> </a:t>
            </a:r>
            <a:r>
              <a:rPr lang="en-GB" altLang="en-US" sz="1700" dirty="0">
                <a:solidFill>
                  <a:srgbClr val="FFFF00"/>
                </a:solidFill>
                <a:effectLst/>
                <a:latin typeface="Arial" panose="020B0604020202020204" pitchFamily="34" charset="0"/>
              </a:rPr>
              <a:t>= </a:t>
            </a:r>
            <a:r>
              <a:rPr lang="en-GB" altLang="en-US" sz="1700" i="1" dirty="0" err="1">
                <a:solidFill>
                  <a:srgbClr val="FFFF00"/>
                </a:solidFill>
                <a:effectLst/>
                <a:latin typeface="Arial" panose="020B0604020202020204" pitchFamily="34" charset="0"/>
              </a:rPr>
              <a:t>F</a:t>
            </a:r>
            <a:r>
              <a:rPr lang="en-GB" altLang="en-US" sz="1700" i="1" baseline="-25000" dirty="0" err="1">
                <a:solidFill>
                  <a:srgbClr val="FFFF00"/>
                </a:solidFill>
                <a:effectLst/>
                <a:latin typeface="Arial" panose="020B0604020202020204" pitchFamily="34" charset="0"/>
              </a:rPr>
              <a:t>x</a:t>
            </a:r>
            <a:r>
              <a:rPr lang="en-GB" altLang="en-US" sz="1700" dirty="0">
                <a:solidFill>
                  <a:srgbClr val="FFFF00"/>
                </a:solidFill>
                <a:effectLst/>
                <a:latin typeface="Arial" panose="020B0604020202020204" pitchFamily="34" charset="0"/>
              </a:rPr>
              <a:t> /</a:t>
            </a:r>
            <a:r>
              <a:rPr lang="en-GB" altLang="en-US" sz="800" dirty="0">
                <a:solidFill>
                  <a:srgbClr val="FFFF00"/>
                </a:solidFill>
                <a:effectLst/>
                <a:latin typeface="Arial" panose="020B0604020202020204" pitchFamily="34" charset="0"/>
              </a:rPr>
              <a:t> </a:t>
            </a:r>
            <a:r>
              <a:rPr lang="en-GB" altLang="en-US" sz="1700" i="1" dirty="0" err="1">
                <a:solidFill>
                  <a:srgbClr val="FFFF00"/>
                </a:solidFill>
                <a:effectLst/>
                <a:latin typeface="Arial" panose="020B0604020202020204" pitchFamily="34" charset="0"/>
              </a:rPr>
              <a:t>A</a:t>
            </a:r>
            <a:r>
              <a:rPr lang="en-GB" altLang="en-US" sz="1700" i="1" baseline="-25000" dirty="0" err="1">
                <a:solidFill>
                  <a:srgbClr val="FFFF00"/>
                </a:solidFill>
                <a:effectLst/>
                <a:latin typeface="Arial" panose="020B0604020202020204" pitchFamily="34" charset="0"/>
              </a:rPr>
              <a:t>x</a:t>
            </a:r>
            <a:r>
              <a:rPr lang="en-GB" altLang="en-US" sz="1700" dirty="0">
                <a:effectLst/>
                <a:latin typeface="Arial" panose="020B0604020202020204" pitchFamily="34" charset="0"/>
              </a:rPr>
              <a:t>  (normal stress)</a:t>
            </a:r>
          </a:p>
          <a:p>
            <a:pPr>
              <a:lnSpc>
                <a:spcPct val="120000"/>
              </a:lnSpc>
              <a:spcBef>
                <a:spcPct val="25000"/>
              </a:spcBef>
              <a:buClr>
                <a:schemeClr val="folHlink"/>
              </a:buClr>
              <a:buSzPct val="100000"/>
              <a:buFont typeface="Times" panose="02020603050405020304" pitchFamily="18" charset="0"/>
              <a:buNone/>
            </a:pPr>
            <a:r>
              <a:rPr lang="en-GB" altLang="en-US" sz="1700" dirty="0">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latin typeface="Arial" panose="020B0604020202020204" pitchFamily="34" charset="0"/>
              </a:rPr>
              <a:t>yx</a:t>
            </a:r>
            <a:r>
              <a:rPr lang="en-GB" altLang="en-US" sz="1700" dirty="0">
                <a:effectLst/>
                <a:latin typeface="Arial" panose="020B0604020202020204" pitchFamily="34" charset="0"/>
              </a:rPr>
              <a:t> </a:t>
            </a:r>
            <a:r>
              <a:rPr lang="en-GB" altLang="en-US" sz="1700" dirty="0">
                <a:solidFill>
                  <a:srgbClr val="FFFF00"/>
                </a:solidFill>
                <a:effectLst/>
                <a:latin typeface="Arial" panose="020B0604020202020204" pitchFamily="34" charset="0"/>
              </a:rPr>
              <a:t>= </a:t>
            </a:r>
            <a:r>
              <a:rPr lang="en-GB" altLang="en-US" sz="1700" i="1" dirty="0" err="1">
                <a:solidFill>
                  <a:srgbClr val="FFFF00"/>
                </a:solidFill>
                <a:effectLst/>
                <a:latin typeface="Arial" panose="020B0604020202020204" pitchFamily="34" charset="0"/>
              </a:rPr>
              <a:t>F</a:t>
            </a:r>
            <a:r>
              <a:rPr lang="en-GB" altLang="en-US" sz="1700" i="1" baseline="-25000" dirty="0" err="1">
                <a:solidFill>
                  <a:srgbClr val="FFFF00"/>
                </a:solidFill>
                <a:effectLst/>
                <a:latin typeface="Arial" panose="020B0604020202020204" pitchFamily="34" charset="0"/>
              </a:rPr>
              <a:t>x</a:t>
            </a:r>
            <a:r>
              <a:rPr lang="en-GB" altLang="en-US" sz="1700" dirty="0">
                <a:solidFill>
                  <a:srgbClr val="FFFF00"/>
                </a:solidFill>
                <a:effectLst/>
                <a:latin typeface="Arial" panose="020B0604020202020204" pitchFamily="34" charset="0"/>
              </a:rPr>
              <a:t> /</a:t>
            </a:r>
            <a:r>
              <a:rPr lang="en-GB" altLang="en-US" sz="800" dirty="0">
                <a:solidFill>
                  <a:srgbClr val="FFFF00"/>
                </a:solidFill>
                <a:effectLst/>
                <a:latin typeface="Arial" panose="020B0604020202020204" pitchFamily="34" charset="0"/>
              </a:rPr>
              <a:t> </a:t>
            </a:r>
            <a:r>
              <a:rPr lang="en-GB" altLang="en-US" sz="1700" i="1" dirty="0">
                <a:solidFill>
                  <a:srgbClr val="FFFF00"/>
                </a:solidFill>
                <a:effectLst/>
                <a:latin typeface="Arial" panose="020B0604020202020204" pitchFamily="34" charset="0"/>
              </a:rPr>
              <a:t>A</a:t>
            </a:r>
            <a:r>
              <a:rPr lang="en-GB" altLang="en-US" sz="1700" i="1" baseline="-25000" dirty="0">
                <a:solidFill>
                  <a:srgbClr val="FFFF00"/>
                </a:solidFill>
                <a:effectLst/>
                <a:latin typeface="Arial" panose="020B0604020202020204" pitchFamily="34" charset="0"/>
              </a:rPr>
              <a:t>y</a:t>
            </a:r>
            <a:r>
              <a:rPr lang="en-GB" altLang="en-US" sz="1700" dirty="0">
                <a:effectLst/>
                <a:latin typeface="Arial" panose="020B0604020202020204" pitchFamily="34" charset="0"/>
              </a:rPr>
              <a:t>  (shear stress)</a:t>
            </a:r>
          </a:p>
          <a:p>
            <a:pPr>
              <a:lnSpc>
                <a:spcPct val="120000"/>
              </a:lnSpc>
              <a:spcBef>
                <a:spcPct val="25000"/>
              </a:spcBef>
              <a:buClr>
                <a:schemeClr val="folHlink"/>
              </a:buClr>
              <a:buSzPct val="100000"/>
              <a:buFont typeface="Times" panose="02020603050405020304" pitchFamily="18" charset="0"/>
              <a:buNone/>
            </a:pPr>
            <a:r>
              <a:rPr lang="en-GB" altLang="en-US" sz="1700" dirty="0">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latin typeface="Arial" panose="020B0604020202020204" pitchFamily="34" charset="0"/>
              </a:rPr>
              <a:t>zx</a:t>
            </a:r>
            <a:r>
              <a:rPr lang="en-GB" altLang="en-US" sz="1700" dirty="0">
                <a:effectLst/>
                <a:latin typeface="Arial" panose="020B0604020202020204" pitchFamily="34" charset="0"/>
              </a:rPr>
              <a:t> </a:t>
            </a:r>
            <a:r>
              <a:rPr lang="en-GB" altLang="en-US" sz="1700" dirty="0">
                <a:solidFill>
                  <a:srgbClr val="FFFF00"/>
                </a:solidFill>
                <a:effectLst/>
                <a:latin typeface="Arial" panose="020B0604020202020204" pitchFamily="34" charset="0"/>
              </a:rPr>
              <a:t>= </a:t>
            </a:r>
            <a:r>
              <a:rPr lang="en-GB" altLang="en-US" sz="1700" i="1" dirty="0" err="1">
                <a:solidFill>
                  <a:srgbClr val="FFFF00"/>
                </a:solidFill>
                <a:effectLst/>
                <a:latin typeface="Arial" panose="020B0604020202020204" pitchFamily="34" charset="0"/>
              </a:rPr>
              <a:t>F</a:t>
            </a:r>
            <a:r>
              <a:rPr lang="en-GB" altLang="en-US" sz="1700" i="1" baseline="-25000" dirty="0" err="1">
                <a:solidFill>
                  <a:srgbClr val="FFFF00"/>
                </a:solidFill>
                <a:effectLst/>
                <a:latin typeface="Arial" panose="020B0604020202020204" pitchFamily="34" charset="0"/>
              </a:rPr>
              <a:t>x</a:t>
            </a:r>
            <a:r>
              <a:rPr lang="en-GB" altLang="en-US" sz="1700" dirty="0">
                <a:solidFill>
                  <a:srgbClr val="FFFF00"/>
                </a:solidFill>
                <a:effectLst/>
                <a:latin typeface="Arial" panose="020B0604020202020204" pitchFamily="34" charset="0"/>
              </a:rPr>
              <a:t> /</a:t>
            </a:r>
            <a:r>
              <a:rPr lang="en-GB" altLang="en-US" sz="800" dirty="0">
                <a:solidFill>
                  <a:srgbClr val="FFFF00"/>
                </a:solidFill>
                <a:effectLst/>
                <a:latin typeface="Arial" panose="020B0604020202020204" pitchFamily="34" charset="0"/>
              </a:rPr>
              <a:t> </a:t>
            </a:r>
            <a:r>
              <a:rPr lang="en-GB" altLang="en-US" sz="1700" i="1" dirty="0" err="1">
                <a:solidFill>
                  <a:srgbClr val="FFFF00"/>
                </a:solidFill>
                <a:effectLst/>
                <a:latin typeface="Arial" panose="020B0604020202020204" pitchFamily="34" charset="0"/>
              </a:rPr>
              <a:t>A</a:t>
            </a:r>
            <a:r>
              <a:rPr lang="en-GB" altLang="en-US" sz="1700" i="1" baseline="-25000" dirty="0" err="1">
                <a:solidFill>
                  <a:srgbClr val="FFFF00"/>
                </a:solidFill>
                <a:effectLst/>
                <a:latin typeface="Arial" panose="020B0604020202020204" pitchFamily="34" charset="0"/>
              </a:rPr>
              <a:t>z</a:t>
            </a:r>
            <a:r>
              <a:rPr lang="en-GB" altLang="en-US" sz="1700" dirty="0">
                <a:effectLst/>
                <a:latin typeface="Arial" panose="020B0604020202020204" pitchFamily="34" charset="0"/>
              </a:rPr>
              <a:t>  (shear stress) </a:t>
            </a:r>
            <a:endParaRPr lang="en-GB" altLang="en-US" sz="1700" dirty="0">
              <a:solidFill>
                <a:srgbClr val="FF66CC"/>
              </a:solidFill>
              <a:effectLst/>
              <a:latin typeface="Arial" panose="020B0604020202020204" pitchFamily="34" charset="0"/>
              <a:cs typeface="Arial" panose="020B0604020202020204" pitchFamily="34" charset="0"/>
            </a:endParaRPr>
          </a:p>
        </p:txBody>
      </p:sp>
      <p:sp>
        <p:nvSpPr>
          <p:cNvPr id="228373" name="Text Box 21">
            <a:extLst>
              <a:ext uri="{FF2B5EF4-FFF2-40B4-BE49-F238E27FC236}">
                <a16:creationId xmlns:a16="http://schemas.microsoft.com/office/drawing/2014/main" id="{6D7DD364-EBD0-4A83-BF41-B626DB0AAF87}"/>
              </a:ext>
            </a:extLst>
          </p:cNvPr>
          <p:cNvSpPr txBox="1">
            <a:spLocks noChangeArrowheads="1"/>
          </p:cNvSpPr>
          <p:nvPr/>
        </p:nvSpPr>
        <p:spPr bwMode="auto">
          <a:xfrm>
            <a:off x="115888" y="4164013"/>
            <a:ext cx="5570537" cy="241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tabLst>
                <a:tab pos="182563" algn="l"/>
              </a:tabLst>
              <a:defRPr sz="1600">
                <a:solidFill>
                  <a:schemeClr val="tx1"/>
                </a:solidFill>
                <a:latin typeface="Helvetica" panose="020B0604020202020204" pitchFamily="34" charset="0"/>
              </a:defRPr>
            </a:lvl1pPr>
            <a:lvl2pPr>
              <a:tabLst>
                <a:tab pos="182563" algn="l"/>
              </a:tabLst>
              <a:defRPr sz="1600">
                <a:solidFill>
                  <a:schemeClr val="tx1"/>
                </a:solidFill>
                <a:latin typeface="Helvetica" panose="020B0604020202020204" pitchFamily="34" charset="0"/>
              </a:defRPr>
            </a:lvl2pPr>
            <a:lvl3pPr>
              <a:tabLst>
                <a:tab pos="182563" algn="l"/>
              </a:tabLst>
              <a:defRPr sz="1600">
                <a:solidFill>
                  <a:schemeClr val="tx1"/>
                </a:solidFill>
                <a:latin typeface="Helvetica" panose="020B0604020202020204" pitchFamily="34" charset="0"/>
              </a:defRPr>
            </a:lvl3pPr>
            <a:lvl4pPr>
              <a:tabLst>
                <a:tab pos="182563" algn="l"/>
              </a:tabLst>
              <a:defRPr sz="1600">
                <a:solidFill>
                  <a:schemeClr val="tx1"/>
                </a:solidFill>
                <a:latin typeface="Helvetica" panose="020B0604020202020204" pitchFamily="34" charset="0"/>
              </a:defRPr>
            </a:lvl4pPr>
            <a:lvl5pPr>
              <a:tabLst>
                <a:tab pos="182563" algn="l"/>
              </a:tabLst>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Similarly, </a:t>
            </a:r>
            <a:r>
              <a:rPr lang="en-GB" altLang="en-US" sz="1700" i="1" dirty="0" err="1">
                <a:solidFill>
                  <a:srgbClr val="FF66CC"/>
                </a:solidFill>
                <a:effectLst>
                  <a:outerShdw blurRad="38100" dist="38100" dir="2700000" algn="tl">
                    <a:srgbClr val="000000"/>
                  </a:outerShdw>
                </a:effectLst>
                <a:latin typeface="Arial" panose="020B0604020202020204" pitchFamily="34" charset="0"/>
              </a:rPr>
              <a:t>F</a:t>
            </a:r>
            <a:r>
              <a:rPr lang="en-GB" altLang="en-US" sz="1700" i="1" baseline="-25000" dirty="0" err="1">
                <a:solidFill>
                  <a:srgbClr val="FF66CC"/>
                </a:solidFill>
                <a:effectLst>
                  <a:outerShdw blurRad="38100" dist="38100" dir="2700000" algn="tl">
                    <a:srgbClr val="000000"/>
                  </a:outerShdw>
                </a:effectLst>
                <a:latin typeface="Arial" panose="020B0604020202020204" pitchFamily="34" charset="0"/>
              </a:rPr>
              <a:t>y</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yy</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xy</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zy</a:t>
            </a:r>
            <a:r>
              <a:rPr lang="en-GB" altLang="en-US" sz="1700" dirty="0">
                <a:effectLst>
                  <a:outerShdw blurRad="38100" dist="38100" dir="2700000" algn="tl">
                    <a:srgbClr val="000000"/>
                  </a:outerShdw>
                </a:effectLst>
                <a:latin typeface="Arial" panose="020B0604020202020204" pitchFamily="34" charset="0"/>
              </a:rPr>
              <a:t>,  and </a:t>
            </a:r>
            <a:r>
              <a:rPr lang="en-GB" altLang="en-US" i="1" dirty="0" err="1">
                <a:solidFill>
                  <a:srgbClr val="FF66CC"/>
                </a:solidFill>
                <a:effectLst>
                  <a:outerShdw blurRad="38100" dist="38100" dir="2700000" algn="tl">
                    <a:srgbClr val="000000"/>
                  </a:outerShdw>
                </a:effectLst>
              </a:rPr>
              <a:t>F</a:t>
            </a:r>
            <a:r>
              <a:rPr lang="en-GB" altLang="en-US" i="1" baseline="-25000" dirty="0" err="1">
                <a:solidFill>
                  <a:srgbClr val="FF66CC"/>
                </a:solidFill>
                <a:effectLst>
                  <a:outerShdw blurRad="38100" dist="38100" dir="2700000" algn="tl">
                    <a:srgbClr val="000000"/>
                  </a:outerShdw>
                </a:effectLst>
              </a:rPr>
              <a:t>z</a:t>
            </a:r>
            <a:r>
              <a:rPr lang="en-GB" altLang="en-US" dirty="0">
                <a:effectLst>
                  <a:outerShdw blurRad="38100" dist="38100" dir="2700000" algn="tl">
                    <a:srgbClr val="000000"/>
                  </a:outerShdw>
                </a:effectLst>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zz</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xz</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yz</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stress ellipse becomes a </a:t>
            </a:r>
            <a:r>
              <a:rPr lang="en-GB" altLang="en-US" sz="1700" dirty="0">
                <a:solidFill>
                  <a:srgbClr val="FF6600"/>
                </a:solidFill>
                <a:effectLst>
                  <a:outerShdw blurRad="38100" dist="38100" dir="2700000" algn="tl">
                    <a:srgbClr val="000000"/>
                  </a:outerShdw>
                </a:effectLst>
                <a:latin typeface="Arial" panose="020B0604020202020204" pitchFamily="34" charset="0"/>
              </a:rPr>
              <a:t>stress ellipsoid</a:t>
            </a:r>
            <a:r>
              <a:rPr lang="en-GB" altLang="en-US" sz="1700" dirty="0">
                <a:effectLst>
                  <a:outerShdw blurRad="38100" dist="38100" dir="2700000" algn="tl">
                    <a:srgbClr val="000000"/>
                  </a:outerShdw>
                </a:effectLst>
                <a:latin typeface="Arial" panose="020B0604020202020204" pitchFamily="34" charset="0"/>
              </a:rPr>
              <a:t> and three principal stresses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800" baseline="-250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 are defined</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state of stress at a point is defined by nine numbers but for </a:t>
            </a:r>
            <a:r>
              <a:rPr lang="en-GB" altLang="en-US" sz="1700" dirty="0">
                <a:solidFill>
                  <a:srgbClr val="FF66CC"/>
                </a:solidFill>
                <a:effectLst>
                  <a:outerShdw blurRad="38100" dist="38100" dir="2700000" algn="tl">
                    <a:srgbClr val="000000"/>
                  </a:outerShdw>
                </a:effectLst>
                <a:latin typeface="Arial" panose="020B0604020202020204" pitchFamily="34" charset="0"/>
              </a:rPr>
              <a:t>mechanical equilibrium</a:t>
            </a:r>
          </a:p>
          <a:p>
            <a:pPr>
              <a:lnSpc>
                <a:spcPct val="120000"/>
              </a:lnSpc>
              <a:spcBef>
                <a:spcPct val="25000"/>
              </a:spcBef>
              <a:buClr>
                <a:schemeClr val="tx1"/>
              </a:buClr>
            </a:pPr>
            <a:r>
              <a:rPr lang="en-GB" altLang="en-US" sz="1700" i="1" dirty="0">
                <a:solidFill>
                  <a:srgbClr val="FFFF00"/>
                </a:solidFill>
                <a:effectLst>
                  <a:outerShdw blurRad="38100" dist="38100" dir="2700000" algn="tl">
                    <a:srgbClr val="000000"/>
                  </a:outerShdw>
                </a:effectLst>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rPr>
              <a:t>xy</a:t>
            </a:r>
            <a:r>
              <a:rPr lang="en-GB" altLang="en-US" sz="1700" dirty="0">
                <a:solidFill>
                  <a:srgbClr val="FFFF00"/>
                </a:solidFill>
                <a:effectLst>
                  <a:outerShdw blurRad="38100" dist="38100" dir="2700000" algn="tl">
                    <a:srgbClr val="000000"/>
                  </a:outerShdw>
                </a:effectLst>
              </a:rPr>
              <a:t> =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rPr>
              <a:t>yx</a:t>
            </a:r>
            <a:r>
              <a:rPr lang="en-GB" altLang="en-US" sz="1700" dirty="0">
                <a:effectLst>
                  <a:outerShdw blurRad="38100" dist="38100" dir="2700000" algn="tl">
                    <a:srgbClr val="000000"/>
                  </a:outerShdw>
                </a:effectLst>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rPr>
              <a:t>yz</a:t>
            </a:r>
            <a:r>
              <a:rPr lang="en-GB" altLang="en-US" sz="1700" dirty="0">
                <a:solidFill>
                  <a:srgbClr val="FFFF00"/>
                </a:solidFill>
                <a:effectLst>
                  <a:outerShdw blurRad="38100" dist="38100" dir="2700000" algn="tl">
                    <a:srgbClr val="000000"/>
                  </a:outerShdw>
                </a:effectLst>
              </a:rPr>
              <a:t> =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rPr>
              <a:t>zy</a:t>
            </a:r>
            <a:r>
              <a:rPr lang="en-GB" altLang="en-US" sz="1700" dirty="0">
                <a:effectLst>
                  <a:outerShdw blurRad="38100" dist="38100" dir="2700000" algn="tl">
                    <a:srgbClr val="000000"/>
                  </a:outerShdw>
                </a:effectLst>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rPr>
              <a:t>xz</a:t>
            </a:r>
            <a:r>
              <a:rPr lang="en-GB" altLang="en-US" sz="1700" dirty="0">
                <a:solidFill>
                  <a:srgbClr val="FFFF00"/>
                </a:solidFill>
                <a:effectLst>
                  <a:outerShdw blurRad="38100" dist="38100" dir="2700000" algn="tl">
                    <a:srgbClr val="000000"/>
                  </a:outerShdw>
                </a:effectLst>
              </a:rPr>
              <a:t> =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err="1">
                <a:solidFill>
                  <a:srgbClr val="FFFF00"/>
                </a:solidFill>
                <a:effectLst>
                  <a:outerShdw blurRad="38100" dist="38100" dir="2700000" algn="tl">
                    <a:srgbClr val="000000"/>
                  </a:outerShdw>
                </a:effectLst>
              </a:rPr>
              <a:t>zx</a:t>
            </a:r>
            <a:endParaRPr lang="en-GB" altLang="en-US" sz="1700" i="1" baseline="-25000" dirty="0">
              <a:solidFill>
                <a:srgbClr val="FFFF00"/>
              </a:solidFill>
              <a:effectLst>
                <a:outerShdw blurRad="38100" dist="38100" dir="2700000" algn="tl">
                  <a:srgbClr val="000000"/>
                </a:outerShdw>
              </a:effectLst>
            </a:endParaRPr>
          </a:p>
        </p:txBody>
      </p:sp>
      <p:pic>
        <p:nvPicPr>
          <p:cNvPr id="228385" name="Picture 33">
            <a:extLst>
              <a:ext uri="{FF2B5EF4-FFF2-40B4-BE49-F238E27FC236}">
                <a16:creationId xmlns:a16="http://schemas.microsoft.com/office/drawing/2014/main" id="{F152DD8B-2EB5-4747-BC82-1E8B30BCABE6}"/>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87888" y="900113"/>
            <a:ext cx="4184650" cy="2862262"/>
          </a:xfrm>
          <a:noFill/>
          <a:ln w="38100" cap="flat">
            <a:solidFill>
              <a:schemeClr val="bg2"/>
            </a:solidFill>
            <a:miter lim="800000"/>
            <a:headEnd/>
            <a:tailEnd/>
          </a:ln>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2A736312-0914-4507-858A-B328455B9815}"/>
              </a:ext>
            </a:extLst>
          </p:cNvPr>
          <p:cNvSpPr>
            <a:spLocks noGrp="1" noChangeArrowheads="1"/>
          </p:cNvSpPr>
          <p:nvPr>
            <p:ph type="title"/>
          </p:nvPr>
        </p:nvSpPr>
        <p:spPr>
          <a:noFill/>
        </p:spPr>
        <p:txBody>
          <a:bodyPr/>
          <a:lstStyle/>
          <a:p>
            <a:r>
              <a:rPr lang="en-GB" altLang="en-US">
                <a:effectLst/>
              </a:rPr>
              <a:t>Stress at a point (matrix form)</a:t>
            </a:r>
          </a:p>
        </p:txBody>
      </p:sp>
      <p:pic>
        <p:nvPicPr>
          <p:cNvPr id="232460" name="Picture 12">
            <a:extLst>
              <a:ext uri="{FF2B5EF4-FFF2-40B4-BE49-F238E27FC236}">
                <a16:creationId xmlns:a16="http://schemas.microsoft.com/office/drawing/2014/main" id="{C44B2B04-F816-42BC-96EF-B9A783A624F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4152900" y="1766888"/>
            <a:ext cx="4676775" cy="2278062"/>
          </a:xfrm>
          <a:noFill/>
          <a:ln w="38100">
            <a:solidFill>
              <a:schemeClr val="bg2"/>
            </a:solidFill>
            <a:miter lim="800000"/>
            <a:headEnd/>
            <a:tailEnd/>
          </a:ln>
        </p:spPr>
      </p:pic>
      <p:sp>
        <p:nvSpPr>
          <p:cNvPr id="232452" name="Text Box 4">
            <a:extLst>
              <a:ext uri="{FF2B5EF4-FFF2-40B4-BE49-F238E27FC236}">
                <a16:creationId xmlns:a16="http://schemas.microsoft.com/office/drawing/2014/main" id="{A7EBAC38-6097-4B4D-90E4-E35F1BC7627F}"/>
              </a:ext>
            </a:extLst>
          </p:cNvPr>
          <p:cNvSpPr txBox="1">
            <a:spLocks noChangeArrowheads="1"/>
          </p:cNvSpPr>
          <p:nvPr/>
        </p:nvSpPr>
        <p:spPr bwMode="auto">
          <a:xfrm>
            <a:off x="112713" y="776288"/>
            <a:ext cx="8897937"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 </a:t>
            </a:r>
            <a:r>
              <a:rPr lang="en-GB" altLang="en-US" sz="1700" dirty="0">
                <a:solidFill>
                  <a:srgbClr val="FF66CC"/>
                </a:solidFill>
                <a:effectLst/>
                <a:latin typeface="Arial" panose="020B0604020202020204" pitchFamily="34" charset="0"/>
              </a:rPr>
              <a:t>nine components of stress</a:t>
            </a:r>
            <a:r>
              <a:rPr lang="en-GB" altLang="en-US" sz="1700" dirty="0">
                <a:effectLst/>
                <a:latin typeface="Arial" panose="020B0604020202020204" pitchFamily="34" charset="0"/>
              </a:rPr>
              <a:t> may be written as a </a:t>
            </a:r>
            <a:r>
              <a:rPr lang="en-GB" altLang="en-US" sz="1700" spc="250" dirty="0">
                <a:effectLst/>
                <a:latin typeface="Arial" panose="020B0604020202020204" pitchFamily="34" charset="0"/>
              </a:rPr>
              <a:t>3×</a:t>
            </a:r>
            <a:r>
              <a:rPr lang="en-GB" altLang="en-US" sz="1700" dirty="0">
                <a:effectLst/>
                <a:latin typeface="Arial" panose="020B0604020202020204" pitchFamily="34" charset="0"/>
              </a:rPr>
              <a:t>3 matrix, here shown using the convention of relabelling the </a:t>
            </a:r>
            <a:r>
              <a:rPr lang="en-GB" altLang="en-US" sz="1700" i="1" dirty="0">
                <a:effectLst/>
                <a:latin typeface="Arial" panose="020B0604020202020204" pitchFamily="34" charset="0"/>
              </a:rPr>
              <a:t>x-</a:t>
            </a:r>
            <a:r>
              <a:rPr lang="en-GB" altLang="en-US" sz="1700" dirty="0">
                <a:effectLst/>
                <a:latin typeface="Arial" panose="020B0604020202020204" pitchFamily="34" charset="0"/>
              </a:rPr>
              <a:t>, </a:t>
            </a:r>
            <a:r>
              <a:rPr lang="en-GB" altLang="en-US" sz="1700" i="1" dirty="0">
                <a:effectLst/>
                <a:latin typeface="Arial" panose="020B0604020202020204" pitchFamily="34" charset="0"/>
              </a:rPr>
              <a:t>y-</a:t>
            </a:r>
            <a:r>
              <a:rPr lang="en-GB" altLang="en-US" sz="1700" dirty="0">
                <a:effectLst/>
                <a:latin typeface="Arial" panose="020B0604020202020204" pitchFamily="34" charset="0"/>
              </a:rPr>
              <a:t>, and </a:t>
            </a:r>
            <a:r>
              <a:rPr lang="en-GB" altLang="en-US" sz="1700" i="1" dirty="0">
                <a:effectLst/>
                <a:latin typeface="Arial" panose="020B0604020202020204" pitchFamily="34" charset="0"/>
              </a:rPr>
              <a:t>z-</a:t>
            </a:r>
            <a:r>
              <a:rPr lang="en-GB" altLang="en-US" sz="1700" dirty="0">
                <a:effectLst/>
                <a:latin typeface="Arial" panose="020B0604020202020204" pitchFamily="34" charset="0"/>
              </a:rPr>
              <a:t>axes as 1, 2, and 3 respectively</a:t>
            </a:r>
            <a:endParaRPr lang="en-GB" altLang="en-US" sz="1700" dirty="0">
              <a:effectLst>
                <a:outerShdw blurRad="38100" dist="38100" dir="2700000" algn="tl">
                  <a:srgbClr val="000000"/>
                </a:outerShdw>
              </a:effectLst>
              <a:latin typeface="Arial" panose="020B0604020202020204" pitchFamily="34" charset="0"/>
            </a:endParaRPr>
          </a:p>
        </p:txBody>
      </p:sp>
      <p:sp>
        <p:nvSpPr>
          <p:cNvPr id="232462" name="Text Box 14">
            <a:extLst>
              <a:ext uri="{FF2B5EF4-FFF2-40B4-BE49-F238E27FC236}">
                <a16:creationId xmlns:a16="http://schemas.microsoft.com/office/drawing/2014/main" id="{F9909E69-3559-49ED-9E1D-7EE2E1C22819}"/>
              </a:ext>
            </a:extLst>
          </p:cNvPr>
          <p:cNvSpPr txBox="1">
            <a:spLocks noChangeArrowheads="1"/>
          </p:cNvSpPr>
          <p:nvPr/>
        </p:nvSpPr>
        <p:spPr bwMode="auto">
          <a:xfrm>
            <a:off x="115888" y="1598613"/>
            <a:ext cx="3833812" cy="504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As in the 2D case, the leading diagonal terms are the </a:t>
            </a:r>
            <a:r>
              <a:rPr lang="en-GB" altLang="en-US" sz="1700" dirty="0">
                <a:solidFill>
                  <a:srgbClr val="FF6600"/>
                </a:solidFill>
                <a:effectLst>
                  <a:outerShdw blurRad="38100" dist="38100" dir="2700000" algn="tl">
                    <a:srgbClr val="000000"/>
                  </a:outerShdw>
                </a:effectLst>
                <a:latin typeface="Arial" panose="020B0604020202020204" pitchFamily="34" charset="0"/>
              </a:rPr>
              <a:t>normal stresses</a:t>
            </a:r>
            <a:r>
              <a:rPr lang="en-GB" altLang="en-US" sz="1700" dirty="0">
                <a:effectLst>
                  <a:outerShdw blurRad="38100" dist="38100" dir="2700000" algn="tl">
                    <a:srgbClr val="000000"/>
                  </a:outerShdw>
                </a:effectLst>
                <a:latin typeface="Arial" panose="020B0604020202020204" pitchFamily="34" charset="0"/>
              </a:rPr>
              <a:t>, and the off-diagonal terms are the </a:t>
            </a:r>
            <a:r>
              <a:rPr lang="en-GB" altLang="en-US" sz="1700" dirty="0">
                <a:solidFill>
                  <a:srgbClr val="FF6600"/>
                </a:solidFill>
                <a:effectLst>
                  <a:outerShdw blurRad="38100" dist="38100" dir="2700000" algn="tl">
                    <a:srgbClr val="000000"/>
                  </a:outerShdw>
                </a:effectLst>
                <a:latin typeface="Arial" panose="020B0604020202020204" pitchFamily="34" charset="0"/>
              </a:rPr>
              <a:t>shear stresses</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CC"/>
                </a:solidFill>
                <a:effectLst>
                  <a:outerShdw blurRad="38100" dist="38100" dir="2700000" algn="tl">
                    <a:srgbClr val="000000"/>
                  </a:outerShdw>
                </a:effectLst>
                <a:latin typeface="Arial" panose="020B0604020202020204" pitchFamily="34" charset="0"/>
              </a:rPr>
              <a:t>tensor</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sign convention</a:t>
            </a:r>
            <a:r>
              <a:rPr lang="en-GB" altLang="en-US" sz="1700" dirty="0">
                <a:effectLst>
                  <a:outerShdw blurRad="38100" dist="38100" dir="2700000" algn="tl">
                    <a:srgbClr val="000000"/>
                  </a:outerShdw>
                </a:effectLst>
                <a:latin typeface="Arial" panose="020B0604020202020204" pitchFamily="34" charset="0"/>
              </a:rPr>
              <a:t> is again used: the shear stresses are positive if the shear components on the hidden sides of the cube act in positive directions of the coordinate axes (</a:t>
            </a:r>
            <a:r>
              <a:rPr lang="en-GB" altLang="en-US" sz="1700" dirty="0">
                <a:solidFill>
                  <a:srgbClr val="FFFF00"/>
                </a:solidFill>
                <a:effectLst>
                  <a:outerShdw blurRad="38100" dist="38100" dir="2700000" algn="tl">
                    <a:srgbClr val="000000"/>
                  </a:outerShdw>
                </a:effectLst>
                <a:latin typeface="Arial" panose="020B0604020202020204" pitchFamily="34" charset="0"/>
              </a:rPr>
              <a:t>tensor convention</a:t>
            </a:r>
            <a:r>
              <a:rPr lang="en-GB" altLang="en-US" sz="1700" dirty="0">
                <a:effectLst>
                  <a:outerShdw blurRad="38100" dist="38100" dir="2700000" algn="tl">
                    <a:srgbClr val="000000"/>
                  </a:outerShdw>
                </a:effectLst>
                <a:latin typeface="Arial" panose="020B0604020202020204" pitchFamily="34" charset="0"/>
              </a:rPr>
              <a:t>)</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With this sign convention</a:t>
            </a:r>
            <a:endParaRPr lang="en-GB" altLang="en-US" sz="1700" dirty="0">
              <a:solidFill>
                <a:srgbClr val="FF66CC"/>
              </a:solidFill>
              <a:effectLst>
                <a:outerShdw blurRad="38100" dist="38100" dir="2700000" algn="tl">
                  <a:srgbClr val="000000"/>
                </a:outerShdw>
              </a:effectLst>
              <a:latin typeface="Arial" panose="020B0604020202020204" pitchFamily="34" charset="0"/>
            </a:endParaRPr>
          </a:p>
          <a:p>
            <a:pPr algn="ctr">
              <a:lnSpc>
                <a:spcPct val="120000"/>
              </a:lnSpc>
              <a:spcBef>
                <a:spcPct val="30000"/>
              </a:spcBef>
              <a:buClr>
                <a:schemeClr val="tx1"/>
              </a:buClr>
            </a:pP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 σ</a:t>
            </a:r>
            <a:r>
              <a:rPr lang="en-GB" altLang="en-US" sz="1700" baseline="-25000" dirty="0">
                <a:effectLst>
                  <a:outerShdw blurRad="38100" dist="38100" dir="2700000" algn="tl">
                    <a:srgbClr val="000000"/>
                  </a:outerShdw>
                </a:effectLst>
                <a:latin typeface="Arial" panose="020B0604020202020204" pitchFamily="34" charset="0"/>
              </a:rPr>
              <a:t>12</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21</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23</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32</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13</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31</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50000"/>
              </a:spcBef>
              <a:buClr>
                <a:schemeClr val="tx1"/>
              </a:buClr>
            </a:pPr>
            <a:r>
              <a:rPr lang="en-GB" altLang="en-US" sz="1700" dirty="0">
                <a:effectLst>
                  <a:outerShdw blurRad="38100" dist="38100" dir="2700000" algn="tl">
                    <a:srgbClr val="000000"/>
                  </a:outerShdw>
                </a:effectLst>
                <a:latin typeface="Arial" panose="020B0604020202020204" pitchFamily="34" charset="0"/>
              </a:rPr>
              <a:t>	and so the matrix is </a:t>
            </a:r>
            <a:r>
              <a:rPr lang="en-GB" altLang="en-US" sz="1700" dirty="0">
                <a:solidFill>
                  <a:srgbClr val="FF66CC"/>
                </a:solidFill>
                <a:effectLst>
                  <a:outerShdw blurRad="38100" dist="38100" dir="2700000" algn="tl">
                    <a:srgbClr val="000000"/>
                  </a:outerShdw>
                </a:effectLst>
                <a:latin typeface="Arial" panose="020B0604020202020204" pitchFamily="34" charset="0"/>
              </a:rPr>
              <a:t>symmetric </a:t>
            </a:r>
            <a:r>
              <a:rPr lang="en-GB" altLang="en-US" sz="1700" dirty="0">
                <a:effectLst>
                  <a:outerShdw blurRad="38100" dist="38100" dir="2700000" algn="tl">
                    <a:srgbClr val="000000"/>
                  </a:outerShdw>
                </a:effectLst>
                <a:latin typeface="Arial" panose="020B0604020202020204" pitchFamily="34" charset="0"/>
              </a:rPr>
              <a:t>about its leading diagonal</a:t>
            </a:r>
          </a:p>
        </p:txBody>
      </p:sp>
      <p:grpSp>
        <p:nvGrpSpPr>
          <p:cNvPr id="232470" name="Group 22">
            <a:extLst>
              <a:ext uri="{FF2B5EF4-FFF2-40B4-BE49-F238E27FC236}">
                <a16:creationId xmlns:a16="http://schemas.microsoft.com/office/drawing/2014/main" id="{026EB834-EDFE-41A2-9A66-EB81C7078D17}"/>
              </a:ext>
            </a:extLst>
          </p:cNvPr>
          <p:cNvGrpSpPr>
            <a:grpSpLocks/>
          </p:cNvGrpSpPr>
          <p:nvPr/>
        </p:nvGrpSpPr>
        <p:grpSpPr bwMode="auto">
          <a:xfrm>
            <a:off x="4140200" y="4325938"/>
            <a:ext cx="4705350" cy="2219325"/>
            <a:chOff x="2287" y="2701"/>
            <a:chExt cx="3208" cy="1388"/>
          </a:xfrm>
        </p:grpSpPr>
        <p:sp>
          <p:nvSpPr>
            <p:cNvPr id="232471" name="Rectangle 23">
              <a:extLst>
                <a:ext uri="{FF2B5EF4-FFF2-40B4-BE49-F238E27FC236}">
                  <a16:creationId xmlns:a16="http://schemas.microsoft.com/office/drawing/2014/main" id="{1403B2AD-0228-4E1A-9ED5-5CC61006DFA2}"/>
                </a:ext>
              </a:extLst>
            </p:cNvPr>
            <p:cNvSpPr>
              <a:spLocks noChangeArrowheads="1"/>
            </p:cNvSpPr>
            <p:nvPr/>
          </p:nvSpPr>
          <p:spPr bwMode="auto">
            <a:xfrm>
              <a:off x="2287" y="2701"/>
              <a:ext cx="3208" cy="138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32472" name="Picture 2" descr="Box01_boxes.jpg">
              <a:extLst>
                <a:ext uri="{FF2B5EF4-FFF2-40B4-BE49-F238E27FC236}">
                  <a16:creationId xmlns:a16="http://schemas.microsoft.com/office/drawing/2014/main" id="{76BE47A4-8FF4-43B8-A062-989F7775AACD}"/>
                </a:ext>
              </a:extLst>
            </p:cNvPr>
            <p:cNvPicPr>
              <a:picLocks noChangeAspect="1"/>
            </p:cNvPicPr>
            <p:nvPr/>
          </p:nvPicPr>
          <p:blipFill>
            <a:blip r:embed="rId4">
              <a:lum bright="-10000" contrast="10000"/>
              <a:extLst>
                <a:ext uri="{28A0092B-C50C-407E-A947-70E740481C1C}">
                  <a14:useLocalDpi xmlns:a14="http://schemas.microsoft.com/office/drawing/2010/main" val="0"/>
                </a:ext>
              </a:extLst>
            </a:blip>
            <a:srcRect/>
            <a:stretch>
              <a:fillRect/>
            </a:stretch>
          </p:blipFill>
          <p:spPr bwMode="auto">
            <a:xfrm>
              <a:off x="2327" y="2752"/>
              <a:ext cx="3119" cy="1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AB99D51B-F8FA-4E1D-90F1-8FAA65728D38}"/>
              </a:ext>
            </a:extLst>
          </p:cNvPr>
          <p:cNvSpPr>
            <a:spLocks noGrp="1" noChangeArrowheads="1"/>
          </p:cNvSpPr>
          <p:nvPr>
            <p:ph type="title"/>
          </p:nvPr>
        </p:nvSpPr>
        <p:spPr>
          <a:noFill/>
        </p:spPr>
        <p:txBody>
          <a:bodyPr/>
          <a:lstStyle/>
          <a:p>
            <a:r>
              <a:rPr lang="en-GB" altLang="en-US">
                <a:effectLst/>
              </a:rPr>
              <a:t>Stress as a tensor</a:t>
            </a:r>
          </a:p>
        </p:txBody>
      </p:sp>
      <p:pic>
        <p:nvPicPr>
          <p:cNvPr id="236557" name="Picture 13">
            <a:extLst>
              <a:ext uri="{FF2B5EF4-FFF2-40B4-BE49-F238E27FC236}">
                <a16:creationId xmlns:a16="http://schemas.microsoft.com/office/drawing/2014/main" id="{2D23B9C8-6CF3-4C18-AC41-5CFA5E56195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100513" y="2397125"/>
            <a:ext cx="4733925" cy="2306638"/>
          </a:xfrm>
          <a:noFill/>
          <a:ln w="38100">
            <a:solidFill>
              <a:schemeClr val="bg2"/>
            </a:solidFill>
            <a:miter lim="800000"/>
            <a:headEnd/>
            <a:tailEnd/>
          </a:ln>
        </p:spPr>
      </p:pic>
      <p:sp>
        <p:nvSpPr>
          <p:cNvPr id="236548" name="Text Box 4">
            <a:extLst>
              <a:ext uri="{FF2B5EF4-FFF2-40B4-BE49-F238E27FC236}">
                <a16:creationId xmlns:a16="http://schemas.microsoft.com/office/drawing/2014/main" id="{E39CF70A-1DB5-489F-96D1-01B00823085E}"/>
              </a:ext>
            </a:extLst>
          </p:cNvPr>
          <p:cNvSpPr txBox="1">
            <a:spLocks noChangeArrowheads="1"/>
          </p:cNvSpPr>
          <p:nvPr/>
        </p:nvSpPr>
        <p:spPr bwMode="auto">
          <a:xfrm>
            <a:off x="109538" y="2532063"/>
            <a:ext cx="3854450" cy="396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It is </a:t>
            </a:r>
            <a:r>
              <a:rPr lang="en-GB" altLang="en-US" sz="1700" dirty="0">
                <a:solidFill>
                  <a:srgbClr val="FF66CC"/>
                </a:solidFill>
                <a:effectLst>
                  <a:outerShdw blurRad="38100" dist="38100" dir="2700000" algn="tl">
                    <a:srgbClr val="000000"/>
                  </a:outerShdw>
                </a:effectLst>
                <a:latin typeface="Arial" panose="020B0604020202020204" pitchFamily="34" charset="0"/>
              </a:rPr>
              <a:t>always possible to align the coordinate frame</a:t>
            </a:r>
            <a:r>
              <a:rPr lang="en-GB" altLang="en-US" sz="1700" dirty="0">
                <a:effectLst>
                  <a:outerShdw blurRad="38100" dist="38100" dir="2700000" algn="tl">
                    <a:srgbClr val="000000"/>
                  </a:outerShdw>
                </a:effectLst>
                <a:latin typeface="Arial" panose="020B0604020202020204" pitchFamily="34" charset="0"/>
              </a:rPr>
              <a:t> such that all the shear stresses are zero – this corresponds with alignment parallel to the axes of the stress ellipsoid</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only non-zero terms in the stress matrix are then the three normal stresses</a:t>
            </a:r>
            <a:endParaRPr lang="en-GB" altLang="en-US" sz="1700" dirty="0">
              <a:solidFill>
                <a:srgbClr val="FF66CC"/>
              </a:solidFill>
              <a:effectLst>
                <a:outerShdw blurRad="38100" dist="38100" dir="2700000" algn="tl">
                  <a:srgbClr val="000000"/>
                </a:outerShdw>
              </a:effectLst>
              <a:latin typeface="Arial" panose="020B0604020202020204" pitchFamily="34" charset="0"/>
            </a:endParaRP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These normal stresses are the three </a:t>
            </a:r>
            <a:r>
              <a:rPr lang="en-GB" altLang="en-US" sz="1700" dirty="0">
                <a:solidFill>
                  <a:srgbClr val="FF6600"/>
                </a:solidFill>
                <a:effectLst>
                  <a:outerShdw blurRad="38100" dist="38100" dir="2700000" algn="tl">
                    <a:srgbClr val="000000"/>
                  </a:outerShdw>
                </a:effectLst>
                <a:latin typeface="Arial" panose="020B0604020202020204" pitchFamily="34" charset="0"/>
              </a:rPr>
              <a:t>principal stresses</a:t>
            </a:r>
          </a:p>
          <a:p>
            <a:pPr>
              <a:lnSpc>
                <a:spcPct val="120000"/>
              </a:lnSpc>
              <a:spcBef>
                <a:spcPct val="25000"/>
              </a:spcBef>
              <a:buClr>
                <a:schemeClr val="tx1"/>
              </a:buClr>
            </a:pPr>
            <a:r>
              <a:rPr lang="en-GB" altLang="en-US" sz="1700" dirty="0">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1</a:t>
            </a:r>
            <a:r>
              <a:rPr lang="en-GB" altLang="en-US" sz="1700" dirty="0">
                <a:solidFill>
                  <a:srgbClr val="FFFF00"/>
                </a:solidFill>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11</a:t>
            </a:r>
            <a:r>
              <a:rPr lang="en-GB" altLang="en-US" sz="1700" dirty="0">
                <a:solidFill>
                  <a:srgbClr val="FFFF00"/>
                </a:solidFill>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2</a:t>
            </a:r>
            <a:r>
              <a:rPr lang="en-GB" altLang="en-US" sz="1700" dirty="0">
                <a:solidFill>
                  <a:srgbClr val="FFFF00"/>
                </a:solidFill>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22</a:t>
            </a:r>
            <a:r>
              <a:rPr lang="en-GB" altLang="en-US" sz="1700" dirty="0">
                <a:solidFill>
                  <a:srgbClr val="FFFF00"/>
                </a:solidFill>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3</a:t>
            </a:r>
            <a:r>
              <a:rPr lang="en-GB" altLang="en-US" sz="1700" dirty="0">
                <a:solidFill>
                  <a:srgbClr val="FFFF00"/>
                </a:solidFill>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33</a:t>
            </a:r>
            <a:endParaRPr lang="en-GB" altLang="en-US" sz="1700" dirty="0">
              <a:solidFill>
                <a:srgbClr val="FFFF00"/>
              </a:solidFill>
              <a:effectLst/>
              <a:latin typeface="Arial" panose="020B0604020202020204" pitchFamily="34" charset="0"/>
            </a:endParaRPr>
          </a:p>
        </p:txBody>
      </p:sp>
      <p:sp>
        <p:nvSpPr>
          <p:cNvPr id="236556" name="Text Box 12">
            <a:extLst>
              <a:ext uri="{FF2B5EF4-FFF2-40B4-BE49-F238E27FC236}">
                <a16:creationId xmlns:a16="http://schemas.microsoft.com/office/drawing/2014/main" id="{ECE367D8-FB2D-44E4-9149-AEAC41043589}"/>
              </a:ext>
            </a:extLst>
          </p:cNvPr>
          <p:cNvSpPr txBox="1">
            <a:spLocks noChangeArrowheads="1"/>
          </p:cNvSpPr>
          <p:nvPr/>
        </p:nvSpPr>
        <p:spPr bwMode="auto">
          <a:xfrm>
            <a:off x="119063" y="773113"/>
            <a:ext cx="8869362"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Stress is an example of a </a:t>
            </a:r>
            <a:r>
              <a:rPr lang="en-GB" altLang="en-US" sz="1700" dirty="0">
                <a:solidFill>
                  <a:srgbClr val="FF6600"/>
                </a:solidFill>
                <a:effectLst>
                  <a:outerShdw blurRad="38100" dist="38100" dir="2700000" algn="tl">
                    <a:srgbClr val="000000"/>
                  </a:outerShdw>
                </a:effectLst>
                <a:latin typeface="Arial" panose="020B0604020202020204" pitchFamily="34" charset="0"/>
              </a:rPr>
              <a:t>tensor quantity</a:t>
            </a:r>
            <a:r>
              <a:rPr lang="en-GB" altLang="en-US" sz="1700" dirty="0">
                <a:effectLst>
                  <a:outerShdw blurRad="38100" dist="38100" dir="2700000" algn="tl">
                    <a:srgbClr val="000000"/>
                  </a:outerShdw>
                </a:effectLst>
                <a:latin typeface="Arial" panose="020B0604020202020204" pitchFamily="34" charset="0"/>
              </a:rPr>
              <a:t>. The individual components are defined in a coordinate frame that has a particular orientation; if that frame is rotated the values of the components change. However, they change in accordance with a specific </a:t>
            </a:r>
            <a:r>
              <a:rPr lang="en-GB" altLang="en-US" sz="1700" dirty="0">
                <a:solidFill>
                  <a:srgbClr val="FF66CC"/>
                </a:solidFill>
                <a:effectLst>
                  <a:outerShdw blurRad="38100" dist="38100" dir="2700000" algn="tl">
                    <a:srgbClr val="000000"/>
                  </a:outerShdw>
                </a:effectLst>
                <a:latin typeface="Arial" panose="020B0604020202020204" pitchFamily="34" charset="0"/>
              </a:rPr>
              <a:t>transformation equation</a:t>
            </a:r>
            <a:r>
              <a:rPr lang="en-GB" altLang="en-US" sz="1700" dirty="0">
                <a:effectLst>
                  <a:outerShdw blurRad="38100" dist="38100" dir="2700000" algn="tl">
                    <a:srgbClr val="000000"/>
                  </a:outerShdw>
                </a:effectLst>
                <a:latin typeface="Arial" panose="020B0604020202020204" pitchFamily="34" charset="0"/>
              </a:rPr>
              <a:t>, and so if the values are known in any one coordinate frame, they can be calculated in any other</a:t>
            </a:r>
          </a:p>
        </p:txBody>
      </p:sp>
      <p:pic>
        <p:nvPicPr>
          <p:cNvPr id="236560" name="Picture 16">
            <a:extLst>
              <a:ext uri="{FF2B5EF4-FFF2-40B4-BE49-F238E27FC236}">
                <a16:creationId xmlns:a16="http://schemas.microsoft.com/office/drawing/2014/main" id="{89078B7D-955E-4657-8B11-7784D98AA69C}"/>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a:xfrm>
            <a:off x="4699000" y="5024438"/>
            <a:ext cx="3602038" cy="1308100"/>
          </a:xfrm>
          <a:noFill/>
          <a:ln w="38100" cap="flat">
            <a:solidFill>
              <a:schemeClr val="bg2"/>
            </a:solidFill>
            <a:miter lim="800000"/>
            <a:headEnd/>
            <a:tailEnd/>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39389A64-2FFD-4EDC-B522-2B36FE3C56B9}"/>
              </a:ext>
            </a:extLst>
          </p:cNvPr>
          <p:cNvSpPr>
            <a:spLocks noGrp="1" noChangeArrowheads="1"/>
          </p:cNvSpPr>
          <p:nvPr>
            <p:ph type="title"/>
          </p:nvPr>
        </p:nvSpPr>
        <p:spPr>
          <a:noFill/>
        </p:spPr>
        <p:txBody>
          <a:bodyPr/>
          <a:lstStyle/>
          <a:p>
            <a:r>
              <a:rPr lang="en-GB" altLang="en-US">
                <a:effectLst/>
              </a:rPr>
              <a:t>Mohr circle representation of stress (3D)</a:t>
            </a:r>
          </a:p>
        </p:txBody>
      </p:sp>
      <p:sp>
        <p:nvSpPr>
          <p:cNvPr id="250883" name="Text Box 3">
            <a:extLst>
              <a:ext uri="{FF2B5EF4-FFF2-40B4-BE49-F238E27FC236}">
                <a16:creationId xmlns:a16="http://schemas.microsoft.com/office/drawing/2014/main" id="{03835E9A-E00E-49A9-9719-124FCE89420D}"/>
              </a:ext>
            </a:extLst>
          </p:cNvPr>
          <p:cNvSpPr txBox="1">
            <a:spLocks noChangeArrowheads="1"/>
          </p:cNvSpPr>
          <p:nvPr/>
        </p:nvSpPr>
        <p:spPr bwMode="auto">
          <a:xfrm>
            <a:off x="119063" y="785813"/>
            <a:ext cx="890587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CC"/>
                </a:solidFill>
                <a:effectLst>
                  <a:outerShdw blurRad="38100" dist="38100" dir="2700000" algn="tl">
                    <a:srgbClr val="000000"/>
                  </a:outerShdw>
                </a:effectLst>
                <a:latin typeface="Arial" panose="020B0604020202020204" pitchFamily="34" charset="0"/>
              </a:rPr>
              <a:t>3D stress states</a:t>
            </a:r>
            <a:r>
              <a:rPr lang="en-GB" altLang="en-US" sz="1700" dirty="0">
                <a:effectLst>
                  <a:outerShdw blurRad="38100" dist="38100" dir="2700000" algn="tl">
                    <a:srgbClr val="000000"/>
                  </a:outerShdw>
                </a:effectLst>
                <a:latin typeface="Arial" panose="020B0604020202020204" pitchFamily="34" charset="0"/>
              </a:rPr>
              <a:t> may be shown on a Mohr diagram as a set of nested circles. This is helpful for illustrating particular stress states but when calculating the stress components on differently oriented planes it is simpler to use the stress transformation equation </a:t>
            </a:r>
          </a:p>
        </p:txBody>
      </p:sp>
      <p:pic>
        <p:nvPicPr>
          <p:cNvPr id="250889" name="Picture 9">
            <a:extLst>
              <a:ext uri="{FF2B5EF4-FFF2-40B4-BE49-F238E27FC236}">
                <a16:creationId xmlns:a16="http://schemas.microsoft.com/office/drawing/2014/main" id="{C624B162-0EDD-4049-A4D6-BB5BFEFE4D7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73088" y="2014538"/>
            <a:ext cx="6623050" cy="4595812"/>
          </a:xfrm>
          <a:noFill/>
          <a:ln w="38100" cap="flat">
            <a:solidFill>
              <a:schemeClr val="bg2"/>
            </a:solidFill>
            <a:miter lim="800000"/>
            <a:headEnd/>
            <a:tailEnd/>
          </a:ln>
        </p:spPr>
      </p:pic>
      <p:sp>
        <p:nvSpPr>
          <p:cNvPr id="250891" name="Text Box 11">
            <a:extLst>
              <a:ext uri="{FF2B5EF4-FFF2-40B4-BE49-F238E27FC236}">
                <a16:creationId xmlns:a16="http://schemas.microsoft.com/office/drawing/2014/main" id="{B38F86FB-1440-4D4B-AB73-7D3CED605D69}"/>
              </a:ext>
            </a:extLst>
          </p:cNvPr>
          <p:cNvSpPr txBox="1">
            <a:spLocks noChangeArrowheads="1"/>
          </p:cNvSpPr>
          <p:nvPr/>
        </p:nvSpPr>
        <p:spPr bwMode="auto">
          <a:xfrm>
            <a:off x="7367588" y="1993900"/>
            <a:ext cx="1563687" cy="275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3d Mohr diagram for a plane, </a:t>
            </a:r>
            <a:r>
              <a:rPr lang="en-GB" altLang="en-US" sz="1400" b="1" dirty="0">
                <a:solidFill>
                  <a:srgbClr val="FFFF00"/>
                </a:solidFill>
                <a:effectLst>
                  <a:outerShdw blurRad="38100" dist="38100" dir="2700000" algn="tl">
                    <a:srgbClr val="000000"/>
                  </a:outerShdw>
                </a:effectLst>
                <a:latin typeface="Arial" panose="020B0604020202020204" pitchFamily="34" charset="0"/>
              </a:rPr>
              <a:t>P</a:t>
            </a:r>
            <a:r>
              <a:rPr lang="en-GB" altLang="en-US" sz="1400" dirty="0">
                <a:solidFill>
                  <a:srgbClr val="FFFF00"/>
                </a:solidFill>
                <a:effectLst>
                  <a:outerShdw blurRad="38100" dist="38100" dir="2700000" algn="tl">
                    <a:srgbClr val="000000"/>
                  </a:outerShdw>
                </a:effectLst>
                <a:latin typeface="Arial" panose="020B0604020202020204" pitchFamily="34" charset="0"/>
              </a:rPr>
              <a:t>, with pole oriented at</a:t>
            </a:r>
          </a:p>
          <a:p>
            <a:pPr>
              <a:lnSpc>
                <a:spcPct val="120000"/>
              </a:lnSpc>
              <a:spcBef>
                <a:spcPct val="25000"/>
              </a:spcBef>
            </a:pP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400" dirty="0">
                <a:solidFill>
                  <a:srgbClr val="FFFF00"/>
                </a:solidFill>
                <a:effectLst>
                  <a:outerShdw blurRad="38100" dist="38100" dir="2700000" algn="tl">
                    <a:srgbClr val="000000"/>
                  </a:outerShdw>
                </a:effectLst>
                <a:latin typeface="Arial" panose="020B0604020202020204" pitchFamily="34" charset="0"/>
              </a:rPr>
              <a:t> = 59.5°</a:t>
            </a:r>
          </a:p>
          <a:p>
            <a:pPr>
              <a:lnSpc>
                <a:spcPct val="120000"/>
              </a:lnSpc>
              <a:spcBef>
                <a:spcPct val="0"/>
              </a:spcBef>
            </a:pP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ϕ</a:t>
            </a:r>
            <a:r>
              <a:rPr lang="en-GB" altLang="en-US" sz="1400" dirty="0">
                <a:solidFill>
                  <a:srgbClr val="FFFF00"/>
                </a:solidFill>
                <a:effectLst>
                  <a:outerShdw blurRad="38100" dist="38100" dir="2700000" algn="tl">
                    <a:srgbClr val="000000"/>
                  </a:outerShdw>
                </a:effectLst>
                <a:latin typeface="Arial" panose="020B0604020202020204" pitchFamily="34" charset="0"/>
              </a:rPr>
              <a:t> = 55°</a:t>
            </a:r>
          </a:p>
          <a:p>
            <a:pPr>
              <a:lnSpc>
                <a:spcPct val="120000"/>
              </a:lnSpc>
              <a:spcBef>
                <a:spcPct val="0"/>
              </a:spcBef>
              <a:spcAft>
                <a:spcPct val="25000"/>
              </a:spcAft>
            </a:pP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ψ</a:t>
            </a:r>
            <a:r>
              <a:rPr lang="en-GB" altLang="en-US" sz="1400" dirty="0">
                <a:solidFill>
                  <a:srgbClr val="FFFF00"/>
                </a:solidFill>
                <a:effectLst>
                  <a:outerShdw blurRad="38100" dist="38100" dir="2700000" algn="tl">
                    <a:srgbClr val="000000"/>
                  </a:outerShdw>
                </a:effectLst>
                <a:latin typeface="Arial" panose="020B0604020202020204" pitchFamily="34" charset="0"/>
              </a:rPr>
              <a:t> = 50°</a:t>
            </a:r>
          </a:p>
          <a:p>
            <a:pPr>
              <a:lnSpc>
                <a:spcPct val="120000"/>
              </a:lnSpc>
              <a:spcBef>
                <a:spcPct val="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to the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400" dirty="0">
                <a:solidFill>
                  <a:srgbClr val="FFFF00"/>
                </a:solidFill>
                <a:effectLst>
                  <a:outerShdw blurRad="38100" dist="38100" dir="2700000" algn="tl">
                    <a:srgbClr val="000000"/>
                  </a:outerShdw>
                </a:effectLst>
                <a:latin typeface="Arial" panose="020B0604020202020204" pitchFamily="34" charset="0"/>
              </a:rPr>
              <a:t>,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400" dirty="0">
                <a:solidFill>
                  <a:srgbClr val="FFFF00"/>
                </a:solidFill>
                <a:effectLst>
                  <a:outerShdw blurRad="38100" dist="38100" dir="2700000" algn="tl">
                    <a:srgbClr val="000000"/>
                  </a:outerShdw>
                </a:effectLst>
                <a:latin typeface="Arial" panose="020B0604020202020204" pitchFamily="34" charset="0"/>
              </a:rPr>
              <a:t>, and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400" dirty="0">
                <a:solidFill>
                  <a:srgbClr val="FFFF00"/>
                </a:solidFill>
                <a:effectLst>
                  <a:outerShdw blurRad="38100" dist="38100" dir="2700000" algn="tl">
                    <a:srgbClr val="000000"/>
                  </a:outerShdw>
                </a:effectLst>
                <a:latin typeface="Arial" panose="020B0604020202020204" pitchFamily="34" charset="0"/>
              </a:rPr>
              <a:t> axes respectively</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B7B444F7-A3C2-4BCD-A127-C2C4AD027F96}"/>
              </a:ext>
            </a:extLst>
          </p:cNvPr>
          <p:cNvSpPr>
            <a:spLocks noGrp="1" noChangeArrowheads="1"/>
          </p:cNvSpPr>
          <p:nvPr>
            <p:ph type="title"/>
          </p:nvPr>
        </p:nvSpPr>
        <p:spPr>
          <a:noFill/>
        </p:spPr>
        <p:txBody>
          <a:bodyPr/>
          <a:lstStyle/>
          <a:p>
            <a:r>
              <a:rPr lang="en-GB" altLang="en-US">
                <a:effectLst/>
              </a:rPr>
              <a:t>Mean stress, deviatoric stress</a:t>
            </a:r>
          </a:p>
        </p:txBody>
      </p:sp>
      <p:sp>
        <p:nvSpPr>
          <p:cNvPr id="238595" name="Text Box 3">
            <a:extLst>
              <a:ext uri="{FF2B5EF4-FFF2-40B4-BE49-F238E27FC236}">
                <a16:creationId xmlns:a16="http://schemas.microsoft.com/office/drawing/2014/main" id="{203DA132-77FC-42DA-9223-221AD29DEFE0}"/>
              </a:ext>
            </a:extLst>
          </p:cNvPr>
          <p:cNvSpPr txBox="1">
            <a:spLocks noChangeArrowheads="1"/>
          </p:cNvSpPr>
          <p:nvPr/>
        </p:nvSpPr>
        <p:spPr bwMode="auto">
          <a:xfrm>
            <a:off x="112713" y="776288"/>
            <a:ext cx="8897937"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Any stress tensor can be split into two matrices in which the first represents the </a:t>
            </a:r>
            <a:r>
              <a:rPr lang="en-GB" altLang="en-US" sz="1700" dirty="0">
                <a:solidFill>
                  <a:srgbClr val="FF6600"/>
                </a:solidFill>
                <a:effectLst/>
                <a:latin typeface="Arial" panose="020B0604020202020204" pitchFamily="34" charset="0"/>
              </a:rPr>
              <a:t>mean stress</a:t>
            </a:r>
            <a:r>
              <a:rPr lang="en-GB" altLang="en-US" sz="1700" dirty="0">
                <a:effectLst/>
                <a:latin typeface="Arial" panose="020B0604020202020204" pitchFamily="34" charset="0"/>
              </a:rPr>
              <a:t> and the second the </a:t>
            </a:r>
            <a:r>
              <a:rPr lang="en-GB" altLang="en-US" sz="1700" dirty="0">
                <a:solidFill>
                  <a:srgbClr val="FF6600"/>
                </a:solidFill>
                <a:effectLst/>
                <a:latin typeface="Arial" panose="020B0604020202020204" pitchFamily="34" charset="0"/>
              </a:rPr>
              <a:t>deviatoric stress</a:t>
            </a:r>
            <a:endParaRPr lang="en-GB" altLang="en-US" sz="1700" dirty="0">
              <a:solidFill>
                <a:srgbClr val="FF6600"/>
              </a:solidFill>
              <a:effectLst>
                <a:outerShdw blurRad="38100" dist="38100" dir="2700000" algn="tl">
                  <a:srgbClr val="000000"/>
                </a:outerShdw>
              </a:effectLst>
              <a:latin typeface="Arial" panose="020B0604020202020204" pitchFamily="34" charset="0"/>
            </a:endParaRPr>
          </a:p>
        </p:txBody>
      </p:sp>
      <p:pic>
        <p:nvPicPr>
          <p:cNvPr id="238599" name="Picture 7">
            <a:extLst>
              <a:ext uri="{FF2B5EF4-FFF2-40B4-BE49-F238E27FC236}">
                <a16:creationId xmlns:a16="http://schemas.microsoft.com/office/drawing/2014/main" id="{9E29127A-A02B-48DA-9470-460FD93BD98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43000" y="1665288"/>
            <a:ext cx="7059613" cy="1692275"/>
          </a:xfrm>
          <a:noFill/>
          <a:ln w="38100" cap="flat">
            <a:solidFill>
              <a:schemeClr val="bg2"/>
            </a:solidFill>
            <a:miter lim="800000"/>
            <a:headEnd/>
            <a:tailEnd/>
          </a:ln>
        </p:spPr>
      </p:pic>
      <p:sp>
        <p:nvSpPr>
          <p:cNvPr id="238601" name="Text Box 9">
            <a:extLst>
              <a:ext uri="{FF2B5EF4-FFF2-40B4-BE49-F238E27FC236}">
                <a16:creationId xmlns:a16="http://schemas.microsoft.com/office/drawing/2014/main" id="{BB9A041D-2B81-4D75-8601-B3E41BA49BCF}"/>
              </a:ext>
            </a:extLst>
          </p:cNvPr>
          <p:cNvSpPr txBox="1">
            <a:spLocks noChangeArrowheads="1"/>
          </p:cNvSpPr>
          <p:nvPr/>
        </p:nvSpPr>
        <p:spPr bwMode="auto">
          <a:xfrm>
            <a:off x="146050" y="3494088"/>
            <a:ext cx="8659813"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pPr>
            <a:r>
              <a:rPr lang="en-GB" altLang="en-US" sz="1700" dirty="0">
                <a:effectLst>
                  <a:outerShdw blurRad="38100" dist="38100" dir="2700000" algn="tl">
                    <a:srgbClr val="000000"/>
                  </a:outerShdw>
                </a:effectLst>
                <a:latin typeface="Arial" panose="020B0604020202020204" pitchFamily="34" charset="0"/>
              </a:rPr>
              <a:t>	where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i="1" baseline="-25000" dirty="0">
                <a:effectLst>
                  <a:outerShdw blurRad="38100" dist="38100" dir="2700000" algn="tl">
                    <a:srgbClr val="000000"/>
                  </a:outerShdw>
                </a:effectLst>
                <a:latin typeface="Arial" panose="020B0604020202020204" pitchFamily="34" charset="0"/>
              </a:rPr>
              <a:t>m</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11</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22</a:t>
            </a:r>
            <a:r>
              <a:rPr lang="en-GB" altLang="en-US" sz="1700" dirty="0">
                <a:effectLst>
                  <a:outerShdw blurRad="38100" dist="38100" dir="2700000" algn="tl">
                    <a:srgbClr val="000000"/>
                  </a:outerShdw>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33</a:t>
            </a:r>
            <a:r>
              <a:rPr lang="en-GB" altLang="en-US" sz="1700" dirty="0">
                <a:effectLst>
                  <a:outerShdw blurRad="38100" dist="38100" dir="2700000" algn="tl">
                    <a:srgbClr val="000000"/>
                  </a:outerShdw>
                </a:effectLst>
                <a:latin typeface="Arial" panose="020B0604020202020204" pitchFamily="34" charset="0"/>
              </a:rPr>
              <a:t>) / 3</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mean stress cause</a:t>
            </a:r>
            <a:r>
              <a:rPr lang="en-GB" altLang="en-US" sz="1700" spc="150" dirty="0">
                <a:effectLst>
                  <a:outerShdw blurRad="38100" dist="38100" dir="2700000" algn="tl">
                    <a:srgbClr val="000000"/>
                  </a:outerShdw>
                </a:effectLst>
                <a:latin typeface="Arial" panose="020B0604020202020204" pitchFamily="34" charset="0"/>
              </a:rPr>
              <a:t>s/</a:t>
            </a:r>
            <a:r>
              <a:rPr lang="en-GB" altLang="en-US" sz="1700" dirty="0">
                <a:effectLst>
                  <a:outerShdw blurRad="38100" dist="38100" dir="2700000" algn="tl">
                    <a:srgbClr val="000000"/>
                  </a:outerShdw>
                </a:effectLst>
                <a:latin typeface="Arial" panose="020B0604020202020204" pitchFamily="34" charset="0"/>
              </a:rPr>
              <a:t>arises from </a:t>
            </a:r>
            <a:r>
              <a:rPr lang="en-GB" altLang="en-US" sz="1700" dirty="0">
                <a:solidFill>
                  <a:srgbClr val="FF66CC"/>
                </a:solidFill>
                <a:effectLst>
                  <a:outerShdw blurRad="38100" dist="38100" dir="2700000" algn="tl">
                    <a:srgbClr val="000000"/>
                  </a:outerShdw>
                </a:effectLst>
                <a:latin typeface="Arial" panose="020B0604020202020204" pitchFamily="34" charset="0"/>
              </a:rPr>
              <a:t>dilation (volume change)</a:t>
            </a:r>
            <a:r>
              <a:rPr lang="en-GB" altLang="en-US" sz="1700" dirty="0">
                <a:effectLst>
                  <a:outerShdw blurRad="38100" dist="38100" dir="2700000" algn="tl">
                    <a:srgbClr val="000000"/>
                  </a:outerShdw>
                </a:effectLst>
                <a:latin typeface="Arial" panose="020B0604020202020204" pitchFamily="34" charset="0"/>
              </a:rPr>
              <a:t> while the deviatoric stress cause</a:t>
            </a:r>
            <a:r>
              <a:rPr lang="en-GB" altLang="en-US" sz="1700" spc="150" dirty="0">
                <a:effectLst>
                  <a:outerShdw blurRad="38100" dist="38100" dir="2700000" algn="tl">
                    <a:srgbClr val="000000"/>
                  </a:outerShdw>
                </a:effectLst>
                <a:latin typeface="Arial" panose="020B0604020202020204" pitchFamily="34" charset="0"/>
              </a:rPr>
              <a:t>s/</a:t>
            </a:r>
            <a:r>
              <a:rPr lang="en-GB" altLang="en-US" sz="1700" dirty="0">
                <a:effectLst>
                  <a:outerShdw blurRad="38100" dist="38100" dir="2700000" algn="tl">
                    <a:srgbClr val="000000"/>
                  </a:outerShdw>
                </a:effectLst>
                <a:latin typeface="Arial" panose="020B0604020202020204" pitchFamily="34" charset="0"/>
              </a:rPr>
              <a:t>arises from </a:t>
            </a:r>
            <a:r>
              <a:rPr lang="en-GB" altLang="en-US" sz="1700" dirty="0">
                <a:solidFill>
                  <a:srgbClr val="FF66CC"/>
                </a:solidFill>
                <a:effectLst>
                  <a:outerShdw blurRad="38100" dist="38100" dir="2700000" algn="tl">
                    <a:srgbClr val="000000"/>
                  </a:outerShdw>
                </a:effectLst>
                <a:latin typeface="Arial" panose="020B0604020202020204" pitchFamily="34" charset="0"/>
              </a:rPr>
              <a:t>distortion (shape change)</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mn-lt"/>
              </a:rPr>
              <a:t>In the lithosphere the mean stress is generally similar in magnitude to the </a:t>
            </a:r>
            <a:r>
              <a:rPr lang="en-GB" altLang="en-US" sz="1700" dirty="0">
                <a:solidFill>
                  <a:srgbClr val="FF6600"/>
                </a:solidFill>
                <a:effectLst>
                  <a:outerShdw blurRad="38100" dist="38100" dir="2700000" algn="tl">
                    <a:srgbClr val="000000"/>
                  </a:outerShdw>
                </a:effectLst>
                <a:latin typeface="+mn-lt"/>
              </a:rPr>
              <a:t>confining pressure</a:t>
            </a:r>
            <a:r>
              <a:rPr lang="en-GB" altLang="en-US" sz="1700" dirty="0">
                <a:effectLst>
                  <a:outerShdw blurRad="38100" dist="38100" dir="2700000" algn="tl">
                    <a:srgbClr val="000000"/>
                  </a:outerShdw>
                </a:effectLst>
                <a:latin typeface="+mn-lt"/>
              </a:rPr>
              <a:t> (which is controlled by burial depth and the density of the overlying rock column). It is usually considerably </a:t>
            </a:r>
            <a:r>
              <a:rPr lang="en-GB" altLang="en-US" sz="1700" dirty="0">
                <a:solidFill>
                  <a:srgbClr val="FF66CC"/>
                </a:solidFill>
                <a:effectLst>
                  <a:outerShdw blurRad="38100" dist="38100" dir="2700000" algn="tl">
                    <a:srgbClr val="000000"/>
                  </a:outerShdw>
                </a:effectLst>
                <a:latin typeface="+mn-lt"/>
              </a:rPr>
              <a:t>greater than the deviatoric stress</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mn-lt"/>
              </a:rPr>
              <a:t>Nevertheless, it is the deviatoric stress that is of primary interest when considering how geological structures form</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3A61CB19-F055-47A0-826A-DF08DC6654C4}"/>
              </a:ext>
            </a:extLst>
          </p:cNvPr>
          <p:cNvSpPr>
            <a:spLocks noGrp="1" noChangeArrowheads="1"/>
          </p:cNvSpPr>
          <p:nvPr>
            <p:ph type="title"/>
          </p:nvPr>
        </p:nvSpPr>
        <p:spPr>
          <a:noFill/>
        </p:spPr>
        <p:txBody>
          <a:bodyPr/>
          <a:lstStyle/>
          <a:p>
            <a:r>
              <a:rPr lang="en-GB" altLang="en-US">
                <a:effectLst/>
              </a:rPr>
              <a:t>Hydrostatic stress, effective stress</a:t>
            </a:r>
          </a:p>
        </p:txBody>
      </p:sp>
      <p:sp>
        <p:nvSpPr>
          <p:cNvPr id="252931" name="Text Box 3">
            <a:extLst>
              <a:ext uri="{FF2B5EF4-FFF2-40B4-BE49-F238E27FC236}">
                <a16:creationId xmlns:a16="http://schemas.microsoft.com/office/drawing/2014/main" id="{AE3B803A-E06D-4894-B26C-47ECB34BE22A}"/>
              </a:ext>
            </a:extLst>
          </p:cNvPr>
          <p:cNvSpPr txBox="1">
            <a:spLocks noChangeArrowheads="1"/>
          </p:cNvSpPr>
          <p:nvPr/>
        </p:nvSpPr>
        <p:spPr bwMode="auto">
          <a:xfrm>
            <a:off x="112713" y="833438"/>
            <a:ext cx="8897937" cy="190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If there is </a:t>
            </a:r>
            <a:r>
              <a:rPr lang="en-GB" altLang="en-US" sz="1700" dirty="0">
                <a:solidFill>
                  <a:srgbClr val="FF66CC"/>
                </a:solidFill>
                <a:effectLst/>
                <a:latin typeface="Arial" panose="020B0604020202020204" pitchFamily="34" charset="0"/>
              </a:rPr>
              <a:t>no deviatoric stress</a:t>
            </a:r>
            <a:r>
              <a:rPr lang="en-GB" altLang="en-US" sz="1700" dirty="0">
                <a:effectLst/>
                <a:latin typeface="Arial" panose="020B0604020202020204" pitchFamily="34" charset="0"/>
              </a:rPr>
              <a:t> (all terms in the deviatoric stress matrix are zero) then it follows that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1</a:t>
            </a:r>
            <a:r>
              <a:rPr lang="en-GB" altLang="en-US" sz="1700" dirty="0">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2</a:t>
            </a:r>
            <a:r>
              <a:rPr lang="en-GB" altLang="en-US" sz="1700" dirty="0">
                <a:effectLst/>
                <a:latin typeface="Arial" panose="020B0604020202020204" pitchFamily="34" charset="0"/>
              </a:rPr>
              <a:t> =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3</a:t>
            </a:r>
            <a:r>
              <a:rPr lang="en-GB" altLang="en-US" sz="1700" dirty="0">
                <a:effectLst/>
                <a:latin typeface="Arial" panose="020B0604020202020204" pitchFamily="34" charset="0"/>
              </a:rPr>
              <a:t> and the stress ellipsoid is a sphere. This condition is described as </a:t>
            </a:r>
            <a:r>
              <a:rPr lang="en-GB" altLang="en-US" sz="1700" dirty="0">
                <a:solidFill>
                  <a:srgbClr val="FF6600"/>
                </a:solidFill>
                <a:effectLst/>
                <a:latin typeface="Arial" panose="020B0604020202020204" pitchFamily="34" charset="0"/>
              </a:rPr>
              <a:t>isostatic (or hydrostatic or lithostatic) stress</a:t>
            </a:r>
            <a:endParaRPr lang="en-GB" altLang="en-US" sz="1700" dirty="0">
              <a:effectLst/>
              <a:latin typeface="Arial" panose="020B0604020202020204" pitchFamily="34" charset="0"/>
            </a:endParaRPr>
          </a:p>
          <a:p>
            <a:pPr>
              <a:lnSpc>
                <a:spcPct val="120000"/>
              </a:lnSpc>
              <a:spcBef>
                <a:spcPct val="100000"/>
              </a:spcBef>
              <a:buClr>
                <a:schemeClr val="folHlink"/>
              </a:buClr>
              <a:buSzPct val="100000"/>
              <a:buFont typeface="Times" panose="02020603050405020304" pitchFamily="18" charset="0"/>
              <a:buChar char="•"/>
            </a:pPr>
            <a:r>
              <a:rPr lang="en-GB" altLang="en-US" sz="1700" dirty="0">
                <a:solidFill>
                  <a:srgbClr val="FF6600"/>
                </a:solidFill>
                <a:effectLst/>
                <a:latin typeface="Arial" panose="020B0604020202020204" pitchFamily="34" charset="0"/>
              </a:rPr>
              <a:t>Pore fluid pressure</a:t>
            </a:r>
            <a:r>
              <a:rPr lang="en-GB" altLang="en-US" sz="1700" dirty="0">
                <a:effectLst/>
                <a:latin typeface="Arial" panose="020B0604020202020204" pitchFamily="34" charset="0"/>
              </a:rPr>
              <a:t> acts against the normal stresses whilst leaving the shear stresses unaffected. Hence it becomes convenient to define </a:t>
            </a:r>
            <a:r>
              <a:rPr lang="en-GB" altLang="en-US" sz="1700" dirty="0">
                <a:solidFill>
                  <a:srgbClr val="FF6600"/>
                </a:solidFill>
                <a:effectLst/>
                <a:latin typeface="Arial" panose="020B0604020202020204" pitchFamily="34" charset="0"/>
              </a:rPr>
              <a:t>effective stress</a:t>
            </a:r>
            <a:r>
              <a:rPr lang="en-GB" altLang="en-US" sz="1700" dirty="0">
                <a:effectLst/>
                <a:latin typeface="Arial" panose="020B0604020202020204" pitchFamily="34" charset="0"/>
              </a:rPr>
              <a:t> as</a:t>
            </a:r>
            <a:endParaRPr lang="en-GB" altLang="en-US" sz="1700" dirty="0">
              <a:solidFill>
                <a:srgbClr val="FF6600"/>
              </a:solidFill>
              <a:effectLst>
                <a:outerShdw blurRad="38100" dist="38100" dir="2700000" algn="tl">
                  <a:srgbClr val="000000"/>
                </a:outerShdw>
              </a:effectLst>
              <a:latin typeface="Arial" panose="020B0604020202020204" pitchFamily="34" charset="0"/>
            </a:endParaRPr>
          </a:p>
        </p:txBody>
      </p:sp>
      <p:sp>
        <p:nvSpPr>
          <p:cNvPr id="252933" name="Text Box 5">
            <a:extLst>
              <a:ext uri="{FF2B5EF4-FFF2-40B4-BE49-F238E27FC236}">
                <a16:creationId xmlns:a16="http://schemas.microsoft.com/office/drawing/2014/main" id="{8D88C9EE-CA8D-4E1A-A316-58562495B4FE}"/>
              </a:ext>
            </a:extLst>
          </p:cNvPr>
          <p:cNvSpPr txBox="1">
            <a:spLocks noChangeArrowheads="1"/>
          </p:cNvSpPr>
          <p:nvPr/>
        </p:nvSpPr>
        <p:spPr bwMode="auto">
          <a:xfrm>
            <a:off x="111125" y="5076825"/>
            <a:ext cx="8659813"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On a Mohr diagram, </a:t>
            </a:r>
            <a:r>
              <a:rPr lang="en-GB" altLang="en-US" sz="1700" dirty="0">
                <a:solidFill>
                  <a:srgbClr val="FF66CC"/>
                </a:solidFill>
                <a:effectLst>
                  <a:outerShdw blurRad="38100" dist="38100" dir="2700000" algn="tl">
                    <a:srgbClr val="000000"/>
                  </a:outerShdw>
                </a:effectLst>
                <a:latin typeface="Arial" panose="020B0604020202020204" pitchFamily="34" charset="0"/>
              </a:rPr>
              <a:t>the effect of pore fluid pressure</a:t>
            </a:r>
            <a:r>
              <a:rPr lang="en-GB" altLang="en-US" sz="1700" dirty="0">
                <a:effectLst>
                  <a:outerShdw blurRad="38100" dist="38100" dir="2700000" algn="tl">
                    <a:srgbClr val="000000"/>
                  </a:outerShdw>
                </a:effectLst>
                <a:latin typeface="Arial" panose="020B0604020202020204" pitchFamily="34" charset="0"/>
              </a:rPr>
              <a:t> is to shift the Mohr circle to the left without changing its diameter. The significance of this will be explored in the next two classes</a:t>
            </a:r>
          </a:p>
        </p:txBody>
      </p:sp>
      <p:pic>
        <p:nvPicPr>
          <p:cNvPr id="252935" name="Picture 7">
            <a:extLst>
              <a:ext uri="{FF2B5EF4-FFF2-40B4-BE49-F238E27FC236}">
                <a16:creationId xmlns:a16="http://schemas.microsoft.com/office/drawing/2014/main" id="{61EBEC6D-D3D4-42B4-B5FA-52BA1140980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11213" y="2974975"/>
            <a:ext cx="7199312" cy="1725613"/>
          </a:xfrm>
          <a:noFill/>
          <a:ln w="38100" cap="flat">
            <a:solidFill>
              <a:schemeClr val="bg2"/>
            </a:solidFill>
            <a:miter lim="800000"/>
            <a:headEnd/>
            <a:tailEnd/>
          </a:ln>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a:extLst>
              <a:ext uri="{FF2B5EF4-FFF2-40B4-BE49-F238E27FC236}">
                <a16:creationId xmlns:a16="http://schemas.microsoft.com/office/drawing/2014/main" id="{391742C1-84A4-460B-BD5F-8124740702FD}"/>
              </a:ext>
            </a:extLst>
          </p:cNvPr>
          <p:cNvSpPr>
            <a:spLocks noGrp="1" noChangeArrowheads="1"/>
          </p:cNvSpPr>
          <p:nvPr>
            <p:ph type="title"/>
          </p:nvPr>
        </p:nvSpPr>
        <p:spPr>
          <a:noFill/>
        </p:spPr>
        <p:txBody>
          <a:bodyPr/>
          <a:lstStyle/>
          <a:p>
            <a:r>
              <a:rPr lang="en-GB" altLang="en-US">
                <a:effectLst/>
              </a:rPr>
              <a:t>Special states of stress</a:t>
            </a:r>
          </a:p>
        </p:txBody>
      </p:sp>
      <p:sp>
        <p:nvSpPr>
          <p:cNvPr id="254979" name="Text Box 3">
            <a:extLst>
              <a:ext uri="{FF2B5EF4-FFF2-40B4-BE49-F238E27FC236}">
                <a16:creationId xmlns:a16="http://schemas.microsoft.com/office/drawing/2014/main" id="{414160FA-8863-4C18-A4B2-5161485EA4C9}"/>
              </a:ext>
            </a:extLst>
          </p:cNvPr>
          <p:cNvSpPr txBox="1">
            <a:spLocks noChangeArrowheads="1"/>
          </p:cNvSpPr>
          <p:nvPr/>
        </p:nvSpPr>
        <p:spPr bwMode="auto">
          <a:xfrm>
            <a:off x="1331913" y="1144588"/>
            <a:ext cx="7170737"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None/>
            </a:pPr>
            <a:r>
              <a:rPr lang="en-GB" altLang="en-US" sz="1700" i="1" dirty="0">
                <a:solidFill>
                  <a:srgbClr val="FFFF00"/>
                </a:solidFill>
                <a:effectLst>
                  <a:outerShdw blurRad="38100" dist="38100" dir="2700000" algn="tl">
                    <a:srgbClr val="000000"/>
                  </a:outerShdw>
                </a:effectLst>
                <a:latin typeface="Symbol" panose="05050102010706020507" pitchFamily="18" charset="2"/>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&gt;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&gt;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&gt;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&gt;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 = 0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&gt;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 = 0</a:t>
            </a:r>
          </a:p>
        </p:txBody>
      </p:sp>
      <p:sp>
        <p:nvSpPr>
          <p:cNvPr id="254986" name="Text Box 10">
            <a:extLst>
              <a:ext uri="{FF2B5EF4-FFF2-40B4-BE49-F238E27FC236}">
                <a16:creationId xmlns:a16="http://schemas.microsoft.com/office/drawing/2014/main" id="{66FD5D83-F122-4375-A86C-544FF688A1E6}"/>
              </a:ext>
            </a:extLst>
          </p:cNvPr>
          <p:cNvSpPr txBox="1">
            <a:spLocks noChangeArrowheads="1"/>
          </p:cNvSpPr>
          <p:nvPr/>
        </p:nvSpPr>
        <p:spPr bwMode="auto">
          <a:xfrm>
            <a:off x="784225" y="5840413"/>
            <a:ext cx="7847013"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None/>
            </a:pPr>
            <a:r>
              <a:rPr lang="en-GB" altLang="en-US" sz="1700" dirty="0">
                <a:solidFill>
                  <a:srgbClr val="FFFF00"/>
                </a:solidFill>
                <a:effectLst>
                  <a:outerShdw blurRad="38100" dist="38100" dir="2700000" algn="tl">
                    <a:srgbClr val="000000"/>
                  </a:outerShdw>
                </a:effectLst>
                <a:latin typeface="Arial" panose="020B0604020202020204" pitchFamily="34" charset="0"/>
              </a:rPr>
              <a:t> 0 =</a:t>
            </a:r>
            <a:r>
              <a:rPr lang="en-GB" altLang="en-US" sz="1700" i="1" dirty="0">
                <a:solidFill>
                  <a:srgbClr val="FFFF00"/>
                </a:solidFill>
                <a:effectLst>
                  <a:outerShdw blurRad="38100" dist="38100" dir="2700000" algn="tl">
                    <a:srgbClr val="000000"/>
                  </a:outerShdw>
                </a:effectLst>
                <a:latin typeface="Symbol" panose="05050102010706020507" pitchFamily="18" charset="2"/>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&gt;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&gt;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 0 &gt;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n-GB" altLang="en-US" sz="1700" i="1" dirty="0">
                <a:solidFill>
                  <a:srgbClr val="FFFF00"/>
                </a:solidFill>
                <a:effectLst>
                  <a:outerShdw blurRad="38100" dist="38100" dir="2700000" algn="tl">
                    <a:srgbClr val="000000"/>
                  </a:outerShdw>
                </a:effectLst>
                <a:latin typeface="Arial" panose="020B0604020202020204" pitchFamily="34" charset="0"/>
              </a:rPr>
              <a:t>p</a:t>
            </a:r>
            <a:endParaRPr lang="en-GB" altLang="en-US" sz="1700" dirty="0">
              <a:solidFill>
                <a:srgbClr val="FFFF00"/>
              </a:solidFill>
              <a:effectLst>
                <a:outerShdw blurRad="38100" dist="38100" dir="2700000" algn="tl">
                  <a:srgbClr val="000000"/>
                </a:outerShdw>
              </a:effectLst>
              <a:latin typeface="Arial" panose="020B0604020202020204" pitchFamily="34" charset="0"/>
            </a:endParaRPr>
          </a:p>
        </p:txBody>
      </p:sp>
      <p:grpSp>
        <p:nvGrpSpPr>
          <p:cNvPr id="255000" name="Group 24">
            <a:extLst>
              <a:ext uri="{FF2B5EF4-FFF2-40B4-BE49-F238E27FC236}">
                <a16:creationId xmlns:a16="http://schemas.microsoft.com/office/drawing/2014/main" id="{E4648F89-5BC9-405F-AF2E-9CC49E1CFE7A}"/>
              </a:ext>
            </a:extLst>
          </p:cNvPr>
          <p:cNvGrpSpPr>
            <a:grpSpLocks/>
          </p:cNvGrpSpPr>
          <p:nvPr/>
        </p:nvGrpSpPr>
        <p:grpSpPr bwMode="auto">
          <a:xfrm>
            <a:off x="449263" y="1652588"/>
            <a:ext cx="8294687" cy="4132262"/>
            <a:chOff x="283" y="1041"/>
            <a:chExt cx="5225" cy="2603"/>
          </a:xfrm>
        </p:grpSpPr>
        <p:grpSp>
          <p:nvGrpSpPr>
            <p:cNvPr id="254987" name="Group 11">
              <a:extLst>
                <a:ext uri="{FF2B5EF4-FFF2-40B4-BE49-F238E27FC236}">
                  <a16:creationId xmlns:a16="http://schemas.microsoft.com/office/drawing/2014/main" id="{080BDE58-CFA1-4975-A35E-A0BBBBEEBE07}"/>
                </a:ext>
              </a:extLst>
            </p:cNvPr>
            <p:cNvGrpSpPr>
              <a:grpSpLocks/>
            </p:cNvGrpSpPr>
            <p:nvPr/>
          </p:nvGrpSpPr>
          <p:grpSpPr bwMode="auto">
            <a:xfrm>
              <a:off x="283" y="1041"/>
              <a:ext cx="5225" cy="2603"/>
              <a:chOff x="363" y="1174"/>
              <a:chExt cx="4949" cy="2442"/>
            </a:xfrm>
          </p:grpSpPr>
          <p:sp>
            <p:nvSpPr>
              <p:cNvPr id="254985" name="Rectangle 9">
                <a:extLst>
                  <a:ext uri="{FF2B5EF4-FFF2-40B4-BE49-F238E27FC236}">
                    <a16:creationId xmlns:a16="http://schemas.microsoft.com/office/drawing/2014/main" id="{3F985265-6609-43DB-9860-4C0729EACFB3}"/>
                  </a:ext>
                </a:extLst>
              </p:cNvPr>
              <p:cNvSpPr>
                <a:spLocks noChangeArrowheads="1"/>
              </p:cNvSpPr>
              <p:nvPr/>
            </p:nvSpPr>
            <p:spPr bwMode="auto">
              <a:xfrm>
                <a:off x="363" y="1174"/>
                <a:ext cx="4949" cy="244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54983" name="Picture 2" descr="GR07.jpg">
                <a:extLst>
                  <a:ext uri="{FF2B5EF4-FFF2-40B4-BE49-F238E27FC236}">
                    <a16:creationId xmlns:a16="http://schemas.microsoft.com/office/drawing/2014/main" id="{6BAAFB19-C4FD-442A-8B91-AA51FFB87513}"/>
                  </a:ext>
                </a:extLst>
              </p:cNvPr>
              <p:cNvPicPr>
                <a:picLocks noChangeAspect="1"/>
              </p:cNvPicPr>
              <p:nvPr/>
            </p:nvPicPr>
            <p:blipFill>
              <a:blip r:embed="rId3">
                <a:lum bright="-10000" contrast="20000"/>
                <a:extLst>
                  <a:ext uri="{28A0092B-C50C-407E-A947-70E740481C1C}">
                    <a14:useLocalDpi xmlns:a14="http://schemas.microsoft.com/office/drawing/2010/main" val="0"/>
                  </a:ext>
                </a:extLst>
              </a:blip>
              <a:srcRect/>
              <a:stretch>
                <a:fillRect/>
              </a:stretch>
            </p:blipFill>
            <p:spPr bwMode="auto">
              <a:xfrm>
                <a:off x="414" y="1232"/>
                <a:ext cx="4814" cy="2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54988" name="Rectangle 12">
              <a:extLst>
                <a:ext uri="{FF2B5EF4-FFF2-40B4-BE49-F238E27FC236}">
                  <a16:creationId xmlns:a16="http://schemas.microsoft.com/office/drawing/2014/main" id="{531D3DA5-DBA1-4A58-9C59-98D20A8716F1}"/>
                </a:ext>
              </a:extLst>
            </p:cNvPr>
            <p:cNvSpPr>
              <a:spLocks noChangeArrowheads="1"/>
            </p:cNvSpPr>
            <p:nvPr/>
          </p:nvSpPr>
          <p:spPr bwMode="auto">
            <a:xfrm>
              <a:off x="681" y="1083"/>
              <a:ext cx="108" cy="8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89" name="Rectangle 13">
              <a:extLst>
                <a:ext uri="{FF2B5EF4-FFF2-40B4-BE49-F238E27FC236}">
                  <a16:creationId xmlns:a16="http://schemas.microsoft.com/office/drawing/2014/main" id="{D5385E04-5CCC-4F12-9493-7AED00580AD6}"/>
                </a:ext>
              </a:extLst>
            </p:cNvPr>
            <p:cNvSpPr>
              <a:spLocks noChangeArrowheads="1"/>
            </p:cNvSpPr>
            <p:nvPr/>
          </p:nvSpPr>
          <p:spPr bwMode="auto">
            <a:xfrm>
              <a:off x="2529" y="1089"/>
              <a:ext cx="108" cy="8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0" name="Rectangle 14">
              <a:extLst>
                <a:ext uri="{FF2B5EF4-FFF2-40B4-BE49-F238E27FC236}">
                  <a16:creationId xmlns:a16="http://schemas.microsoft.com/office/drawing/2014/main" id="{18F0D02E-7471-4484-A3F3-D0D6FC4D4514}"/>
                </a:ext>
              </a:extLst>
            </p:cNvPr>
            <p:cNvSpPr>
              <a:spLocks noChangeArrowheads="1"/>
            </p:cNvSpPr>
            <p:nvPr/>
          </p:nvSpPr>
          <p:spPr bwMode="auto">
            <a:xfrm>
              <a:off x="4125" y="1080"/>
              <a:ext cx="111" cy="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1" name="Rectangle 15">
              <a:extLst>
                <a:ext uri="{FF2B5EF4-FFF2-40B4-BE49-F238E27FC236}">
                  <a16:creationId xmlns:a16="http://schemas.microsoft.com/office/drawing/2014/main" id="{F9DEAF83-DDAB-42C7-A0FB-BA16F078495D}"/>
                </a:ext>
              </a:extLst>
            </p:cNvPr>
            <p:cNvSpPr>
              <a:spLocks noChangeArrowheads="1"/>
            </p:cNvSpPr>
            <p:nvPr/>
          </p:nvSpPr>
          <p:spPr bwMode="auto">
            <a:xfrm>
              <a:off x="2534" y="2402"/>
              <a:ext cx="114" cy="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2" name="Rectangle 16">
              <a:extLst>
                <a:ext uri="{FF2B5EF4-FFF2-40B4-BE49-F238E27FC236}">
                  <a16:creationId xmlns:a16="http://schemas.microsoft.com/office/drawing/2014/main" id="{6A03C4C7-7F01-4610-B66F-6A4E482406FF}"/>
                </a:ext>
              </a:extLst>
            </p:cNvPr>
            <p:cNvSpPr>
              <a:spLocks noChangeArrowheads="1"/>
            </p:cNvSpPr>
            <p:nvPr/>
          </p:nvSpPr>
          <p:spPr bwMode="auto">
            <a:xfrm>
              <a:off x="4112" y="2398"/>
              <a:ext cx="124"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3" name="Rectangle 17">
              <a:extLst>
                <a:ext uri="{FF2B5EF4-FFF2-40B4-BE49-F238E27FC236}">
                  <a16:creationId xmlns:a16="http://schemas.microsoft.com/office/drawing/2014/main" id="{972F6EA8-3DE4-4206-A472-BE145FD3AC93}"/>
                </a:ext>
              </a:extLst>
            </p:cNvPr>
            <p:cNvSpPr>
              <a:spLocks noChangeArrowheads="1"/>
            </p:cNvSpPr>
            <p:nvPr/>
          </p:nvSpPr>
          <p:spPr bwMode="auto">
            <a:xfrm>
              <a:off x="686" y="2404"/>
              <a:ext cx="110" cy="8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4994" name="Text Box 18">
              <a:extLst>
                <a:ext uri="{FF2B5EF4-FFF2-40B4-BE49-F238E27FC236}">
                  <a16:creationId xmlns:a16="http://schemas.microsoft.com/office/drawing/2014/main" id="{E26BABF2-D262-4193-A2CF-0F4C72F001BB}"/>
                </a:ext>
              </a:extLst>
            </p:cNvPr>
            <p:cNvSpPr txBox="1">
              <a:spLocks noChangeArrowheads="1"/>
            </p:cNvSpPr>
            <p:nvPr/>
          </p:nvSpPr>
          <p:spPr bwMode="auto">
            <a:xfrm>
              <a:off x="573" y="2379"/>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i="1">
                  <a:solidFill>
                    <a:schemeClr val="bg2"/>
                  </a:solidFill>
                  <a:effectLst/>
                  <a:latin typeface="Symbol" panose="05050102010706020507" pitchFamily="18" charset="2"/>
                </a:rPr>
                <a:t>t</a:t>
              </a:r>
            </a:p>
          </p:txBody>
        </p:sp>
        <p:sp>
          <p:nvSpPr>
            <p:cNvPr id="254995" name="Text Box 19">
              <a:extLst>
                <a:ext uri="{FF2B5EF4-FFF2-40B4-BE49-F238E27FC236}">
                  <a16:creationId xmlns:a16="http://schemas.microsoft.com/office/drawing/2014/main" id="{DBF175B8-4EB3-4FA1-86B3-1BD9EE88314D}"/>
                </a:ext>
              </a:extLst>
            </p:cNvPr>
            <p:cNvSpPr txBox="1">
              <a:spLocks noChangeArrowheads="1"/>
            </p:cNvSpPr>
            <p:nvPr/>
          </p:nvSpPr>
          <p:spPr bwMode="auto">
            <a:xfrm>
              <a:off x="2391" y="2379"/>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i="1">
                  <a:solidFill>
                    <a:schemeClr val="bg2"/>
                  </a:solidFill>
                  <a:effectLst/>
                  <a:latin typeface="Symbol" panose="05050102010706020507" pitchFamily="18" charset="2"/>
                </a:rPr>
                <a:t>t</a:t>
              </a:r>
            </a:p>
          </p:txBody>
        </p:sp>
        <p:sp>
          <p:nvSpPr>
            <p:cNvPr id="254996" name="Text Box 20">
              <a:extLst>
                <a:ext uri="{FF2B5EF4-FFF2-40B4-BE49-F238E27FC236}">
                  <a16:creationId xmlns:a16="http://schemas.microsoft.com/office/drawing/2014/main" id="{DDB2D3B0-0315-4454-B0CD-8D1AEB47D397}"/>
                </a:ext>
              </a:extLst>
            </p:cNvPr>
            <p:cNvSpPr txBox="1">
              <a:spLocks noChangeArrowheads="1"/>
            </p:cNvSpPr>
            <p:nvPr/>
          </p:nvSpPr>
          <p:spPr bwMode="auto">
            <a:xfrm>
              <a:off x="3997" y="2379"/>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i="1">
                  <a:solidFill>
                    <a:schemeClr val="bg2"/>
                  </a:solidFill>
                  <a:effectLst/>
                  <a:latin typeface="Symbol" panose="05050102010706020507" pitchFamily="18" charset="2"/>
                </a:rPr>
                <a:t>t</a:t>
              </a:r>
            </a:p>
          </p:txBody>
        </p:sp>
        <p:sp>
          <p:nvSpPr>
            <p:cNvPr id="254997" name="Text Box 21">
              <a:extLst>
                <a:ext uri="{FF2B5EF4-FFF2-40B4-BE49-F238E27FC236}">
                  <a16:creationId xmlns:a16="http://schemas.microsoft.com/office/drawing/2014/main" id="{30F6AA3E-1073-4075-B287-A6E766EEA68B}"/>
                </a:ext>
              </a:extLst>
            </p:cNvPr>
            <p:cNvSpPr txBox="1">
              <a:spLocks noChangeArrowheads="1"/>
            </p:cNvSpPr>
            <p:nvPr/>
          </p:nvSpPr>
          <p:spPr bwMode="auto">
            <a:xfrm>
              <a:off x="573" y="1064"/>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i="1">
                  <a:solidFill>
                    <a:schemeClr val="bg2"/>
                  </a:solidFill>
                  <a:effectLst/>
                  <a:latin typeface="Symbol" panose="05050102010706020507" pitchFamily="18" charset="2"/>
                </a:rPr>
                <a:t>t</a:t>
              </a:r>
            </a:p>
          </p:txBody>
        </p:sp>
        <p:sp>
          <p:nvSpPr>
            <p:cNvPr id="254998" name="Text Box 22">
              <a:extLst>
                <a:ext uri="{FF2B5EF4-FFF2-40B4-BE49-F238E27FC236}">
                  <a16:creationId xmlns:a16="http://schemas.microsoft.com/office/drawing/2014/main" id="{112D71D9-DEFA-43E5-A145-3C83EE43ABF0}"/>
                </a:ext>
              </a:extLst>
            </p:cNvPr>
            <p:cNvSpPr txBox="1">
              <a:spLocks noChangeArrowheads="1"/>
            </p:cNvSpPr>
            <p:nvPr/>
          </p:nvSpPr>
          <p:spPr bwMode="auto">
            <a:xfrm>
              <a:off x="2391" y="1064"/>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i="1">
                  <a:solidFill>
                    <a:schemeClr val="bg2"/>
                  </a:solidFill>
                  <a:effectLst/>
                  <a:latin typeface="Symbol" panose="05050102010706020507" pitchFamily="18" charset="2"/>
                </a:rPr>
                <a:t>t</a:t>
              </a:r>
            </a:p>
          </p:txBody>
        </p:sp>
        <p:sp>
          <p:nvSpPr>
            <p:cNvPr id="254999" name="Text Box 23">
              <a:extLst>
                <a:ext uri="{FF2B5EF4-FFF2-40B4-BE49-F238E27FC236}">
                  <a16:creationId xmlns:a16="http://schemas.microsoft.com/office/drawing/2014/main" id="{2A3BCB27-193D-417B-8DF3-088A8421155E}"/>
                </a:ext>
              </a:extLst>
            </p:cNvPr>
            <p:cNvSpPr txBox="1">
              <a:spLocks noChangeArrowheads="1"/>
            </p:cNvSpPr>
            <p:nvPr/>
          </p:nvSpPr>
          <p:spPr bwMode="auto">
            <a:xfrm>
              <a:off x="3997" y="1064"/>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i="1">
                  <a:solidFill>
                    <a:schemeClr val="bg2"/>
                  </a:solidFill>
                  <a:effectLst/>
                  <a:latin typeface="Symbol" panose="05050102010706020507" pitchFamily="18" charset="2"/>
                </a:rPr>
                <a:t>t</a:t>
              </a:r>
            </a:p>
          </p:txBody>
        </p:sp>
      </p:gr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650AD36B-C432-4AB3-BAAC-8A5EED812AED}"/>
              </a:ext>
            </a:extLst>
          </p:cNvPr>
          <p:cNvSpPr>
            <a:spLocks noGrp="1" noChangeArrowheads="1"/>
          </p:cNvSpPr>
          <p:nvPr>
            <p:ph type="ctrTitle" idx="4294967295"/>
          </p:nvPr>
        </p:nvSpPr>
        <p:spPr bwMode="black">
          <a:xfrm>
            <a:off x="239713" y="1595438"/>
            <a:ext cx="8705850" cy="19558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Measuring stress</a:t>
            </a:r>
            <a:endParaRPr lang="en-US" altLang="en-US">
              <a:solidFill>
                <a:srgbClr val="FF6600"/>
              </a:solidFill>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a:extLst>
              <a:ext uri="{FF2B5EF4-FFF2-40B4-BE49-F238E27FC236}">
                <a16:creationId xmlns:a16="http://schemas.microsoft.com/office/drawing/2014/main" id="{ED77D79E-EBD3-49D9-B96E-F8FE30FC5706}"/>
              </a:ext>
            </a:extLst>
          </p:cNvPr>
          <p:cNvSpPr>
            <a:spLocks noGrp="1" noChangeArrowheads="1"/>
          </p:cNvSpPr>
          <p:nvPr>
            <p:ph type="title"/>
          </p:nvPr>
        </p:nvSpPr>
        <p:spPr>
          <a:noFill/>
        </p:spPr>
        <p:txBody>
          <a:bodyPr/>
          <a:lstStyle/>
          <a:p>
            <a:r>
              <a:rPr lang="en-GB" altLang="en-US">
                <a:effectLst/>
              </a:rPr>
              <a:t>Stress measurements</a:t>
            </a:r>
          </a:p>
        </p:txBody>
      </p:sp>
      <p:sp>
        <p:nvSpPr>
          <p:cNvPr id="259075" name="Text Box 3">
            <a:extLst>
              <a:ext uri="{FF2B5EF4-FFF2-40B4-BE49-F238E27FC236}">
                <a16:creationId xmlns:a16="http://schemas.microsoft.com/office/drawing/2014/main" id="{1C58E41B-A069-486C-95D5-00DCFB57580D}"/>
              </a:ext>
            </a:extLst>
          </p:cNvPr>
          <p:cNvSpPr txBox="1">
            <a:spLocks noChangeArrowheads="1"/>
          </p:cNvSpPr>
          <p:nvPr/>
        </p:nvSpPr>
        <p:spPr bwMode="auto">
          <a:xfrm>
            <a:off x="112713" y="833438"/>
            <a:ext cx="8897937" cy="549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63023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Knowledge of the state of stress in the Earth is important for, </a:t>
            </a:r>
            <a:r>
              <a:rPr lang="en-GB" altLang="en-US" sz="1700" i="1" dirty="0">
                <a:effectLst/>
                <a:latin typeface="Arial" panose="020B0604020202020204" pitchFamily="34" charset="0"/>
              </a:rPr>
              <a:t>e.g</a:t>
            </a:r>
            <a:r>
              <a:rPr lang="en-GB" altLang="en-US" sz="1700" dirty="0">
                <a:effectLst/>
                <a:latin typeface="Arial" panose="020B0604020202020204" pitchFamily="34" charset="0"/>
              </a:rPr>
              <a:t>.,:</a:t>
            </a:r>
          </a:p>
          <a:p>
            <a:pPr lvl="1">
              <a:lnSpc>
                <a:spcPct val="120000"/>
              </a:lnSpc>
              <a:spcBef>
                <a:spcPct val="75000"/>
              </a:spcBef>
              <a:buClr>
                <a:schemeClr val="folHlink"/>
              </a:buClr>
              <a:buSzPct val="100000"/>
              <a:buFont typeface="Times" panose="02020603050405020304" pitchFamily="18" charset="0"/>
              <a:buAutoNum type="arabicPeriod"/>
            </a:pPr>
            <a:r>
              <a:rPr lang="en-GB" altLang="en-US" sz="1700" dirty="0">
                <a:effectLst/>
                <a:latin typeface="Arial" panose="020B0604020202020204" pitchFamily="34" charset="0"/>
              </a:rPr>
              <a:t>Safe </a:t>
            </a:r>
            <a:r>
              <a:rPr lang="en-GB" altLang="en-US" sz="1700" dirty="0">
                <a:solidFill>
                  <a:srgbClr val="FF66CC"/>
                </a:solidFill>
                <a:effectLst/>
                <a:latin typeface="Arial" panose="020B0604020202020204" pitchFamily="34" charset="0"/>
              </a:rPr>
              <a:t>design of constructions</a:t>
            </a:r>
            <a:r>
              <a:rPr lang="en-GB" altLang="en-US" sz="1700" dirty="0">
                <a:effectLst/>
                <a:latin typeface="Arial" panose="020B0604020202020204" pitchFamily="34" charset="0"/>
              </a:rPr>
              <a:t> including tunnels, quarries, dams</a:t>
            </a:r>
          </a:p>
          <a:p>
            <a:pPr lvl="1">
              <a:lnSpc>
                <a:spcPct val="120000"/>
              </a:lnSpc>
              <a:spcBef>
                <a:spcPct val="75000"/>
              </a:spcBef>
              <a:buClr>
                <a:schemeClr val="folHlink"/>
              </a:buClr>
              <a:buSzPct val="100000"/>
              <a:buFont typeface="Times" panose="02020603050405020304" pitchFamily="18" charset="0"/>
              <a:buAutoNum type="arabicPeriod"/>
            </a:pPr>
            <a:r>
              <a:rPr lang="en-GB" altLang="en-US" sz="1700" dirty="0">
                <a:effectLst/>
                <a:latin typeface="Arial" panose="020B0604020202020204" pitchFamily="34" charset="0"/>
              </a:rPr>
              <a:t>Enhancing </a:t>
            </a:r>
            <a:r>
              <a:rPr lang="en-GB" altLang="en-US" sz="1700" dirty="0">
                <a:solidFill>
                  <a:srgbClr val="FF66CC"/>
                </a:solidFill>
                <a:effectLst/>
                <a:latin typeface="Arial" panose="020B0604020202020204" pitchFamily="34" charset="0"/>
              </a:rPr>
              <a:t>borehole stability</a:t>
            </a:r>
            <a:r>
              <a:rPr lang="en-GB" altLang="en-US" sz="1700" dirty="0">
                <a:effectLst/>
                <a:latin typeface="Arial" panose="020B0604020202020204" pitchFamily="34" charset="0"/>
              </a:rPr>
              <a:t> and providing better controls on </a:t>
            </a:r>
            <a:r>
              <a:rPr lang="en-GB" altLang="en-US" sz="1700" dirty="0">
                <a:solidFill>
                  <a:srgbClr val="FF66CC"/>
                </a:solidFill>
                <a:effectLst/>
                <a:latin typeface="Arial" panose="020B0604020202020204" pitchFamily="34" charset="0"/>
              </a:rPr>
              <a:t>drill-head steering</a:t>
            </a:r>
            <a:r>
              <a:rPr lang="en-GB" altLang="en-US" sz="1700" dirty="0">
                <a:effectLst/>
                <a:latin typeface="Arial" panose="020B0604020202020204" pitchFamily="34" charset="0"/>
              </a:rPr>
              <a:t> during well drilling</a:t>
            </a:r>
          </a:p>
          <a:p>
            <a:pPr lvl="1">
              <a:lnSpc>
                <a:spcPct val="120000"/>
              </a:lnSpc>
              <a:spcBef>
                <a:spcPct val="75000"/>
              </a:spcBef>
              <a:buClr>
                <a:schemeClr val="folHlink"/>
              </a:buClr>
              <a:buSzPct val="100000"/>
              <a:buFont typeface="Times" panose="02020603050405020304" pitchFamily="18" charset="0"/>
              <a:buAutoNum type="arabicPeriod"/>
            </a:pPr>
            <a:r>
              <a:rPr lang="en-GB" altLang="en-US" sz="1700" dirty="0">
                <a:solidFill>
                  <a:srgbClr val="FF66CC"/>
                </a:solidFill>
                <a:effectLst/>
                <a:latin typeface="Arial" panose="020B0604020202020204" pitchFamily="34" charset="0"/>
              </a:rPr>
              <a:t>Controlled fracture</a:t>
            </a:r>
            <a:r>
              <a:rPr lang="en-GB" altLang="en-US" sz="1700" dirty="0">
                <a:effectLst/>
                <a:latin typeface="Arial" panose="020B0604020202020204" pitchFamily="34" charset="0"/>
              </a:rPr>
              <a:t> of rocks at depth to enhance oi</a:t>
            </a:r>
            <a:r>
              <a:rPr lang="en-GB" altLang="en-US" sz="1700" spc="300" dirty="0">
                <a:effectLst/>
                <a:latin typeface="Arial" panose="020B0604020202020204" pitchFamily="34" charset="0"/>
              </a:rPr>
              <a:t>l/</a:t>
            </a:r>
            <a:r>
              <a:rPr lang="en-GB" altLang="en-US" sz="1700" dirty="0">
                <a:effectLst/>
                <a:latin typeface="Arial" panose="020B0604020202020204" pitchFamily="34" charset="0"/>
              </a:rPr>
              <a:t>gas and geothermal energy production</a:t>
            </a:r>
          </a:p>
          <a:p>
            <a:pPr lvl="1">
              <a:lnSpc>
                <a:spcPct val="120000"/>
              </a:lnSpc>
              <a:spcBef>
                <a:spcPct val="75000"/>
              </a:spcBef>
              <a:buClr>
                <a:schemeClr val="folHlink"/>
              </a:buClr>
              <a:buSzPct val="100000"/>
              <a:buFont typeface="Times" panose="02020603050405020304" pitchFamily="18" charset="0"/>
              <a:buAutoNum type="arabicPeriod"/>
            </a:pPr>
            <a:r>
              <a:rPr lang="en-GB" altLang="en-US" sz="1700" dirty="0">
                <a:effectLst/>
                <a:latin typeface="Arial" panose="020B0604020202020204" pitchFamily="34" charset="0"/>
              </a:rPr>
              <a:t>Improving our understanding of where and when natural hazards such as </a:t>
            </a:r>
            <a:r>
              <a:rPr lang="en-GB" altLang="en-US" sz="1700" dirty="0">
                <a:solidFill>
                  <a:srgbClr val="FF66CC"/>
                </a:solidFill>
                <a:effectLst/>
                <a:latin typeface="Arial" panose="020B0604020202020204" pitchFamily="34" charset="0"/>
              </a:rPr>
              <a:t>earthquakes</a:t>
            </a:r>
            <a:r>
              <a:rPr lang="en-GB" altLang="en-US" sz="1700" dirty="0">
                <a:effectLst/>
                <a:latin typeface="Arial" panose="020B0604020202020204" pitchFamily="34" charset="0"/>
              </a:rPr>
              <a:t> will occur</a:t>
            </a:r>
          </a:p>
          <a:p>
            <a:pPr lvl="1">
              <a:lnSpc>
                <a:spcPct val="120000"/>
              </a:lnSpc>
              <a:spcBef>
                <a:spcPct val="75000"/>
              </a:spcBef>
              <a:buClr>
                <a:schemeClr val="folHlink"/>
              </a:buClr>
              <a:buSzPct val="100000"/>
              <a:buFont typeface="Times" panose="02020603050405020304" pitchFamily="18" charset="0"/>
              <a:buAutoNum type="arabicPeriod"/>
            </a:pPr>
            <a:r>
              <a:rPr lang="en-GB" altLang="en-US" sz="1700" dirty="0">
                <a:effectLst/>
                <a:latin typeface="Arial" panose="020B0604020202020204" pitchFamily="34" charset="0"/>
              </a:rPr>
              <a:t>At a fundamental level, improving our understanding of </a:t>
            </a:r>
            <a:r>
              <a:rPr lang="en-GB" altLang="en-US" sz="1700" dirty="0">
                <a:solidFill>
                  <a:srgbClr val="FF66CC"/>
                </a:solidFill>
                <a:effectLst/>
                <a:latin typeface="Arial" panose="020B0604020202020204" pitchFamily="34" charset="0"/>
              </a:rPr>
              <a:t>how plate tectonics works</a:t>
            </a:r>
          </a:p>
          <a:p>
            <a:pPr>
              <a:lnSpc>
                <a:spcPct val="120000"/>
              </a:lnSpc>
              <a:spcBef>
                <a:spcPct val="150000"/>
              </a:spcBef>
              <a:buClr>
                <a:schemeClr val="folHlink"/>
              </a:buClr>
              <a:buSzPct val="100000"/>
              <a:buFont typeface="Times" panose="02020603050405020304" pitchFamily="18" charset="0"/>
              <a:buChar char="•"/>
            </a:pPr>
            <a:r>
              <a:rPr lang="en-GB" altLang="en-US" sz="1700" dirty="0">
                <a:effectLst>
                  <a:outerShdw blurRad="38100" dist="38100" dir="2700000" algn="tl">
                    <a:srgbClr val="000000"/>
                  </a:outerShdw>
                </a:effectLst>
                <a:latin typeface="Arial" panose="020B0604020202020204" pitchFamily="34" charset="0"/>
              </a:rPr>
              <a:t>Many of the methods that we use to </a:t>
            </a:r>
            <a:r>
              <a:rPr lang="en-GB" altLang="en-US" sz="1700" dirty="0">
                <a:solidFill>
                  <a:srgbClr val="FF6600"/>
                </a:solidFill>
                <a:effectLst>
                  <a:outerShdw blurRad="38100" dist="38100" dir="2700000" algn="tl">
                    <a:srgbClr val="000000"/>
                  </a:outerShdw>
                </a:effectLst>
                <a:latin typeface="Arial" panose="020B0604020202020204" pitchFamily="34" charset="0"/>
              </a:rPr>
              <a:t>estimate </a:t>
            </a:r>
            <a:r>
              <a:rPr lang="en-GB" altLang="en-US" sz="1700" dirty="0">
                <a:solidFill>
                  <a:srgbClr val="FFFF00"/>
                </a:solidFill>
                <a:effectLst>
                  <a:outerShdw blurRad="38100" dist="38100" dir="2700000" algn="tl">
                    <a:srgbClr val="000000"/>
                  </a:outerShdw>
                </a:effectLst>
                <a:latin typeface="Arial" panose="020B0604020202020204" pitchFamily="34" charset="0"/>
              </a:rPr>
              <a:t>present-day</a:t>
            </a:r>
            <a:r>
              <a:rPr lang="en-GB" altLang="en-US" sz="1700" dirty="0">
                <a:solidFill>
                  <a:srgbClr val="FF6600"/>
                </a:solidFill>
                <a:effectLst>
                  <a:outerShdw blurRad="38100" dist="38100" dir="2700000" algn="tl">
                    <a:srgbClr val="000000"/>
                  </a:outerShdw>
                </a:effectLst>
                <a:latin typeface="Arial" panose="020B0604020202020204" pitchFamily="34" charset="0"/>
              </a:rPr>
              <a:t> levels of stress</a:t>
            </a:r>
            <a:r>
              <a:rPr lang="en-GB" altLang="en-US" sz="1700" dirty="0">
                <a:effectLst>
                  <a:outerShdw blurRad="38100" dist="38100" dir="2700000" algn="tl">
                    <a:srgbClr val="000000"/>
                  </a:outerShdw>
                </a:effectLst>
                <a:latin typeface="Arial" panose="020B0604020202020204" pitchFamily="34" charset="0"/>
              </a:rPr>
              <a:t> in the Earth have been developed in the engineering, mining, and energy industries, but methods have also been developed by geologists for estimating </a:t>
            </a:r>
            <a:r>
              <a:rPr lang="en-GB" altLang="en-US" sz="1700" dirty="0" err="1">
                <a:solidFill>
                  <a:srgbClr val="FFFF00"/>
                </a:solidFill>
                <a:effectLst>
                  <a:outerShdw blurRad="38100" dist="38100" dir="2700000" algn="tl">
                    <a:srgbClr val="000000"/>
                  </a:outerShdw>
                </a:effectLst>
                <a:latin typeface="Arial" panose="020B0604020202020204" pitchFamily="34" charset="0"/>
              </a:rPr>
              <a:t>palaeostress</a:t>
            </a:r>
            <a:r>
              <a:rPr lang="en-GB" altLang="en-US" sz="1700" dirty="0">
                <a:effectLst>
                  <a:outerShdw blurRad="38100" dist="38100" dir="2700000" algn="tl">
                    <a:srgbClr val="000000"/>
                  </a:outerShdw>
                </a:effectLst>
                <a:latin typeface="Arial" panose="020B0604020202020204" pitchFamily="34" charset="0"/>
              </a:rPr>
              <a:t> from the microstructures of rocks that have been deformed and then exhumed at the surface</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80" name="Rectangle 12">
            <a:extLst>
              <a:ext uri="{FF2B5EF4-FFF2-40B4-BE49-F238E27FC236}">
                <a16:creationId xmlns:a16="http://schemas.microsoft.com/office/drawing/2014/main" id="{EB29BC17-41EC-44BC-B606-180629524F84}"/>
              </a:ext>
            </a:extLst>
          </p:cNvPr>
          <p:cNvSpPr>
            <a:spLocks noChangeArrowheads="1"/>
          </p:cNvSpPr>
          <p:nvPr/>
        </p:nvSpPr>
        <p:spPr bwMode="auto">
          <a:xfrm>
            <a:off x="2578100" y="4689475"/>
            <a:ext cx="6310313" cy="182880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3170" name="Rectangle 2">
            <a:extLst>
              <a:ext uri="{FF2B5EF4-FFF2-40B4-BE49-F238E27FC236}">
                <a16:creationId xmlns:a16="http://schemas.microsoft.com/office/drawing/2014/main" id="{27938375-A1B0-49A2-A64C-D2A91CBBA37B}"/>
              </a:ext>
            </a:extLst>
          </p:cNvPr>
          <p:cNvSpPr>
            <a:spLocks noGrp="1" noChangeArrowheads="1"/>
          </p:cNvSpPr>
          <p:nvPr>
            <p:ph type="title"/>
          </p:nvPr>
        </p:nvSpPr>
        <p:spPr>
          <a:noFill/>
        </p:spPr>
        <p:txBody>
          <a:bodyPr/>
          <a:lstStyle/>
          <a:p>
            <a:r>
              <a:rPr lang="en-GB" altLang="en-US">
                <a:effectLst/>
              </a:rPr>
              <a:t>Stress measurements: borehole breakouts</a:t>
            </a:r>
          </a:p>
        </p:txBody>
      </p:sp>
      <p:sp>
        <p:nvSpPr>
          <p:cNvPr id="263171" name="Text Box 3">
            <a:extLst>
              <a:ext uri="{FF2B5EF4-FFF2-40B4-BE49-F238E27FC236}">
                <a16:creationId xmlns:a16="http://schemas.microsoft.com/office/drawing/2014/main" id="{EE4C71CE-B6E2-47E5-8B6F-6A2833289373}"/>
              </a:ext>
            </a:extLst>
          </p:cNvPr>
          <p:cNvSpPr txBox="1">
            <a:spLocks noChangeArrowheads="1"/>
          </p:cNvSpPr>
          <p:nvPr/>
        </p:nvSpPr>
        <p:spPr bwMode="auto">
          <a:xfrm>
            <a:off x="112713" y="833438"/>
            <a:ext cx="5165725"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63023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dirty="0">
                <a:solidFill>
                  <a:srgbClr val="FF6600"/>
                </a:solidFill>
                <a:effectLst/>
                <a:latin typeface="Arial" panose="020B0604020202020204" pitchFamily="34" charset="0"/>
              </a:rPr>
              <a:t>Borehole breakouts</a:t>
            </a:r>
            <a:r>
              <a:rPr lang="en-GB" altLang="en-US" sz="1700" dirty="0">
                <a:effectLst/>
                <a:latin typeface="Arial" panose="020B0604020202020204" pitchFamily="34" charset="0"/>
              </a:rPr>
              <a:t> are zones of failure in the wall of a borehole – these give the borehole an irregular, typically elongate, shape</a:t>
            </a:r>
          </a:p>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 </a:t>
            </a:r>
            <a:r>
              <a:rPr lang="en-GB" altLang="en-US" sz="1700" dirty="0">
                <a:solidFill>
                  <a:srgbClr val="FF66CC"/>
                </a:solidFill>
                <a:effectLst/>
                <a:latin typeface="Arial" panose="020B0604020202020204" pitchFamily="34" charset="0"/>
              </a:rPr>
              <a:t>spalling of fragments</a:t>
            </a:r>
            <a:r>
              <a:rPr lang="en-GB" altLang="en-US" sz="1700" dirty="0">
                <a:effectLst/>
                <a:latin typeface="Arial" panose="020B0604020202020204" pitchFamily="34" charset="0"/>
              </a:rPr>
              <a:t> occurs preferentially parallel to the minimum horizontal stress (</a:t>
            </a:r>
            <a:r>
              <a:rPr lang="el-GR" altLang="en-US" sz="1700" i="1" spc="200" dirty="0">
                <a:solidFill>
                  <a:srgbClr val="FFFF00"/>
                </a:solidFill>
                <a:effectLst/>
                <a:latin typeface="Cambria Math" panose="02040503050406030204" pitchFamily="18" charset="0"/>
                <a:ea typeface="Cambria Math" panose="02040503050406030204" pitchFamily="18" charset="0"/>
              </a:rPr>
              <a:t>σ</a:t>
            </a:r>
            <a:r>
              <a:rPr lang="en-GB" altLang="en-US" sz="1700" spc="300" baseline="-25000" dirty="0">
                <a:solidFill>
                  <a:srgbClr val="FFFF00"/>
                </a:solidFill>
                <a:effectLst/>
                <a:latin typeface="Arial" panose="020B0604020202020204" pitchFamily="34" charset="0"/>
              </a:rPr>
              <a:t>h</a:t>
            </a:r>
            <a:r>
              <a:rPr lang="en-GB" altLang="en-US" sz="1700" dirty="0">
                <a:effectLst/>
                <a:latin typeface="Arial" panose="020B0604020202020204" pitchFamily="34" charset="0"/>
              </a:rPr>
              <a:t>), orthogonal to the maximum horizontal stress (</a:t>
            </a:r>
            <a:r>
              <a:rPr lang="el-GR" altLang="en-US" sz="1700" i="1" spc="200" dirty="0">
                <a:solidFill>
                  <a:srgbClr val="FFFF00"/>
                </a:solidFill>
                <a:effectLst/>
                <a:latin typeface="Cambria Math" panose="02040503050406030204" pitchFamily="18" charset="0"/>
                <a:ea typeface="Cambria Math" panose="02040503050406030204" pitchFamily="18" charset="0"/>
              </a:rPr>
              <a:t>σ</a:t>
            </a:r>
            <a:r>
              <a:rPr lang="en-GB" altLang="en-US" sz="1700" spc="300" baseline="-25000" dirty="0">
                <a:solidFill>
                  <a:srgbClr val="FFFF00"/>
                </a:solidFill>
                <a:effectLst/>
                <a:latin typeface="Arial" panose="020B0604020202020204" pitchFamily="34" charset="0"/>
              </a:rPr>
              <a:t>H</a:t>
            </a:r>
            <a:r>
              <a:rPr lang="en-GB" altLang="en-US" sz="1700" dirty="0">
                <a:effectLst/>
                <a:latin typeface="Arial" panose="020B0604020202020204" pitchFamily="34" charset="0"/>
              </a:rPr>
              <a:t>)</a:t>
            </a:r>
          </a:p>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 shape and orientation of the hole is assessed using a </a:t>
            </a:r>
            <a:r>
              <a:rPr lang="en-GB" altLang="en-US" sz="1700" dirty="0" err="1">
                <a:effectLst/>
                <a:latin typeface="Arial" panose="020B0604020202020204" pitchFamily="34" charset="0"/>
              </a:rPr>
              <a:t>dipmeter</a:t>
            </a:r>
            <a:r>
              <a:rPr lang="en-GB" altLang="en-US" sz="1700" dirty="0">
                <a:effectLst/>
                <a:latin typeface="Arial" panose="020B0604020202020204" pitchFamily="34" charset="0"/>
              </a:rPr>
              <a:t> and a well imaging tool which has arms that can be pressed outwards against the walls as the tool is moved along the borehole</a:t>
            </a:r>
            <a:endParaRPr lang="en-GB" altLang="en-US" sz="1700" dirty="0">
              <a:effectLst>
                <a:outerShdw blurRad="38100" dist="38100" dir="2700000" algn="tl">
                  <a:srgbClr val="000000"/>
                </a:outerShdw>
              </a:effectLst>
              <a:latin typeface="Arial" panose="020B0604020202020204" pitchFamily="34" charset="0"/>
            </a:endParaRPr>
          </a:p>
        </p:txBody>
      </p:sp>
      <p:grpSp>
        <p:nvGrpSpPr>
          <p:cNvPr id="263176" name="Group 8">
            <a:extLst>
              <a:ext uri="{FF2B5EF4-FFF2-40B4-BE49-F238E27FC236}">
                <a16:creationId xmlns:a16="http://schemas.microsoft.com/office/drawing/2014/main" id="{F27AF65D-5E9F-46EE-947B-E5B587F5E404}"/>
              </a:ext>
            </a:extLst>
          </p:cNvPr>
          <p:cNvGrpSpPr>
            <a:grpSpLocks/>
          </p:cNvGrpSpPr>
          <p:nvPr/>
        </p:nvGrpSpPr>
        <p:grpSpPr bwMode="auto">
          <a:xfrm>
            <a:off x="5572125" y="969963"/>
            <a:ext cx="3313113" cy="2932112"/>
            <a:chOff x="3441" y="572"/>
            <a:chExt cx="2194" cy="1768"/>
          </a:xfrm>
        </p:grpSpPr>
        <p:sp>
          <p:nvSpPr>
            <p:cNvPr id="263174" name="Rectangle 6">
              <a:extLst>
                <a:ext uri="{FF2B5EF4-FFF2-40B4-BE49-F238E27FC236}">
                  <a16:creationId xmlns:a16="http://schemas.microsoft.com/office/drawing/2014/main" id="{6CD14A7A-B6DF-4776-8362-46F797204324}"/>
                </a:ext>
              </a:extLst>
            </p:cNvPr>
            <p:cNvSpPr>
              <a:spLocks noChangeArrowheads="1"/>
            </p:cNvSpPr>
            <p:nvPr/>
          </p:nvSpPr>
          <p:spPr bwMode="auto">
            <a:xfrm>
              <a:off x="3441" y="572"/>
              <a:ext cx="2194" cy="176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63172" name="Picture 2" descr="GR01.jpg">
              <a:extLst>
                <a:ext uri="{FF2B5EF4-FFF2-40B4-BE49-F238E27FC236}">
                  <a16:creationId xmlns:a16="http://schemas.microsoft.com/office/drawing/2014/main" id="{FAD2311C-3D35-4760-9C60-6463FCCEA0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22" y="637"/>
              <a:ext cx="2036" cy="16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63177" name="Picture 2" descr="GR02.jpg">
            <a:extLst>
              <a:ext uri="{FF2B5EF4-FFF2-40B4-BE49-F238E27FC236}">
                <a16:creationId xmlns:a16="http://schemas.microsoft.com/office/drawing/2014/main" id="{A1F0CBD4-3709-4BA6-8CC0-07140F2F3312}"/>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2668588" y="4764088"/>
            <a:ext cx="6148387" cy="1681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3179" name="Text Box 11">
            <a:extLst>
              <a:ext uri="{FF2B5EF4-FFF2-40B4-BE49-F238E27FC236}">
                <a16:creationId xmlns:a16="http://schemas.microsoft.com/office/drawing/2014/main" id="{2E36927A-DAC8-4C9C-BF29-E6F5713415A7}"/>
              </a:ext>
            </a:extLst>
          </p:cNvPr>
          <p:cNvSpPr txBox="1">
            <a:spLocks noChangeArrowheads="1"/>
          </p:cNvSpPr>
          <p:nvPr/>
        </p:nvSpPr>
        <p:spPr bwMode="auto">
          <a:xfrm>
            <a:off x="119063" y="4606925"/>
            <a:ext cx="2212975"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shape of holes drilled for </a:t>
            </a:r>
            <a:r>
              <a:rPr lang="en-GB" altLang="en-US" sz="1700">
                <a:solidFill>
                  <a:srgbClr val="FF6600"/>
                </a:solidFill>
                <a:effectLst>
                  <a:outerShdw blurRad="38100" dist="38100" dir="2700000" algn="tl">
                    <a:srgbClr val="000000"/>
                  </a:outerShdw>
                </a:effectLst>
                <a:latin typeface="Arial" panose="020B0604020202020204" pitchFamily="34" charset="0"/>
              </a:rPr>
              <a:t>road or tunnel blasting</a:t>
            </a:r>
            <a:r>
              <a:rPr lang="en-GB" altLang="en-US" sz="1700">
                <a:effectLst>
                  <a:outerShdw blurRad="38100" dist="38100" dir="2700000" algn="tl">
                    <a:srgbClr val="000000"/>
                  </a:outerShdw>
                </a:effectLst>
                <a:latin typeface="Arial" panose="020B0604020202020204" pitchFamily="34" charset="0"/>
              </a:rPr>
              <a:t> may also be used in this way, albeit less reliably</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3" name="Rectangle 3">
            <a:extLst>
              <a:ext uri="{FF2B5EF4-FFF2-40B4-BE49-F238E27FC236}">
                <a16:creationId xmlns:a16="http://schemas.microsoft.com/office/drawing/2014/main" id="{A5D11DCD-E75C-4F43-8630-14014A9FEC12}"/>
              </a:ext>
            </a:extLst>
          </p:cNvPr>
          <p:cNvSpPr>
            <a:spLocks noGrp="1" noChangeArrowheads="1"/>
          </p:cNvSpPr>
          <p:nvPr>
            <p:ph type="title"/>
          </p:nvPr>
        </p:nvSpPr>
        <p:spPr>
          <a:noFill/>
        </p:spPr>
        <p:txBody>
          <a:bodyPr/>
          <a:lstStyle/>
          <a:p>
            <a:r>
              <a:rPr lang="en-GB" altLang="en-US">
                <a:effectLst/>
              </a:rPr>
              <a:t>Stress measurements: overcoring</a:t>
            </a:r>
          </a:p>
        </p:txBody>
      </p:sp>
      <p:sp>
        <p:nvSpPr>
          <p:cNvPr id="266244" name="Text Box 4">
            <a:extLst>
              <a:ext uri="{FF2B5EF4-FFF2-40B4-BE49-F238E27FC236}">
                <a16:creationId xmlns:a16="http://schemas.microsoft.com/office/drawing/2014/main" id="{3A37E1C0-303F-48C7-B201-0995F590CDC6}"/>
              </a:ext>
            </a:extLst>
          </p:cNvPr>
          <p:cNvSpPr txBox="1">
            <a:spLocks noChangeArrowheads="1"/>
          </p:cNvSpPr>
          <p:nvPr/>
        </p:nvSpPr>
        <p:spPr bwMode="auto">
          <a:xfrm>
            <a:off x="112713" y="833438"/>
            <a:ext cx="3386137"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63023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a:solidFill>
                  <a:srgbClr val="FF6600"/>
                </a:solidFill>
                <a:effectLst/>
                <a:latin typeface="Arial" panose="020B0604020202020204" pitchFamily="34" charset="0"/>
              </a:rPr>
              <a:t>Overcoring</a:t>
            </a:r>
            <a:r>
              <a:rPr lang="en-GB" altLang="en-US" sz="1700">
                <a:effectLst/>
                <a:latin typeface="Arial" panose="020B0604020202020204" pitchFamily="34" charset="0"/>
              </a:rPr>
              <a:t> is a strain relaxation method</a:t>
            </a:r>
          </a:p>
        </p:txBody>
      </p:sp>
      <p:pic>
        <p:nvPicPr>
          <p:cNvPr id="266251" name="Picture 11" descr="04a">
            <a:extLst>
              <a:ext uri="{FF2B5EF4-FFF2-40B4-BE49-F238E27FC236}">
                <a16:creationId xmlns:a16="http://schemas.microsoft.com/office/drawing/2014/main" id="{6B2DEF1F-0B3C-46A6-AF07-CA970493E2A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763963" y="989013"/>
            <a:ext cx="5137150" cy="32400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253" name="Text Box 13">
            <a:extLst>
              <a:ext uri="{FF2B5EF4-FFF2-40B4-BE49-F238E27FC236}">
                <a16:creationId xmlns:a16="http://schemas.microsoft.com/office/drawing/2014/main" id="{03D19727-1AEB-4FCA-A061-3E13E648B05D}"/>
              </a:ext>
            </a:extLst>
          </p:cNvPr>
          <p:cNvSpPr txBox="1">
            <a:spLocks noChangeArrowheads="1"/>
          </p:cNvSpPr>
          <p:nvPr/>
        </p:nvSpPr>
        <p:spPr bwMode="auto">
          <a:xfrm>
            <a:off x="3695700" y="4664075"/>
            <a:ext cx="5270500" cy="184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A similar approach may be taken by extracting a core of rock and </a:t>
            </a:r>
            <a:r>
              <a:rPr lang="en-GB" altLang="en-US" sz="1700" dirty="0">
                <a:solidFill>
                  <a:srgbClr val="FF66CC"/>
                </a:solidFill>
                <a:effectLst>
                  <a:outerShdw blurRad="38100" dist="38100" dir="2700000" algn="tl">
                    <a:srgbClr val="000000"/>
                  </a:outerShdw>
                </a:effectLst>
                <a:latin typeface="Arial" panose="020B0604020202020204" pitchFamily="34" charset="0"/>
              </a:rPr>
              <a:t>measuring its expansion</a:t>
            </a:r>
            <a:r>
              <a:rPr lang="en-GB" altLang="en-US" sz="1700" dirty="0">
                <a:effectLst>
                  <a:outerShdw blurRad="38100" dist="38100" dir="2700000" algn="tl">
                    <a:srgbClr val="000000"/>
                  </a:outerShdw>
                </a:effectLst>
                <a:latin typeface="Arial" panose="020B0604020202020204" pitchFamily="34" charset="0"/>
              </a:rPr>
              <a:t> once it is freed from the constraints of the surrounding rock</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Such techniques are limited to depths of a few </a:t>
            </a:r>
            <a:r>
              <a:rPr lang="en-GB" altLang="en-US" sz="1700" dirty="0">
                <a:solidFill>
                  <a:srgbClr val="FF66CC"/>
                </a:solidFill>
                <a:effectLst>
                  <a:outerShdw blurRad="38100" dist="38100" dir="2700000" algn="tl">
                    <a:srgbClr val="000000"/>
                  </a:outerShdw>
                </a:effectLst>
                <a:latin typeface="Arial" panose="020B0604020202020204" pitchFamily="34" charset="0"/>
              </a:rPr>
              <a:t>10s metres</a:t>
            </a:r>
            <a:r>
              <a:rPr lang="en-GB" altLang="en-US" sz="1700" dirty="0">
                <a:effectLst>
                  <a:outerShdw blurRad="38100" dist="38100" dir="2700000" algn="tl">
                    <a:srgbClr val="000000"/>
                  </a:outerShdw>
                </a:effectLst>
                <a:latin typeface="Arial" panose="020B0604020202020204" pitchFamily="34" charset="0"/>
              </a:rPr>
              <a:t> and are commonly used in tunnels</a:t>
            </a:r>
          </a:p>
        </p:txBody>
      </p:sp>
      <p:sp>
        <p:nvSpPr>
          <p:cNvPr id="266254" name="Text Box 14">
            <a:extLst>
              <a:ext uri="{FF2B5EF4-FFF2-40B4-BE49-F238E27FC236}">
                <a16:creationId xmlns:a16="http://schemas.microsoft.com/office/drawing/2014/main" id="{FDF316D6-F037-4F22-8947-6AF7CCC06023}"/>
              </a:ext>
            </a:extLst>
          </p:cNvPr>
          <p:cNvSpPr txBox="1">
            <a:spLocks noChangeArrowheads="1"/>
          </p:cNvSpPr>
          <p:nvPr/>
        </p:nvSpPr>
        <p:spPr bwMode="auto">
          <a:xfrm>
            <a:off x="307975" y="1612900"/>
            <a:ext cx="3173413" cy="491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5113" indent="-265113">
              <a:defRPr sz="1600">
                <a:solidFill>
                  <a:schemeClr val="tx1"/>
                </a:solidFill>
                <a:latin typeface="Helvetica" panose="020B0604020202020204" pitchFamily="34" charset="0"/>
              </a:defRPr>
            </a:lvl1pPr>
            <a:lvl2pPr marL="71278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A hole is drilled in the rock and strain gauges attached to the surface of the hole</a:t>
            </a:r>
          </a:p>
          <a:p>
            <a:pPr>
              <a:lnSpc>
                <a:spcPct val="120000"/>
              </a:lnSpc>
              <a:spcBef>
                <a:spcPct val="7500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An annulus is then drilled around the hole to leave a hollow cylinder of rock on which the stress from the surrounding rock has been released</a:t>
            </a:r>
          </a:p>
          <a:p>
            <a:pPr>
              <a:lnSpc>
                <a:spcPct val="120000"/>
              </a:lnSpc>
              <a:spcBef>
                <a:spcPct val="7500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The </a:t>
            </a:r>
            <a:r>
              <a:rPr lang="en-GB" altLang="en-US" sz="1400" dirty="0">
                <a:solidFill>
                  <a:srgbClr val="FF66CC"/>
                </a:solidFill>
                <a:effectLst/>
                <a:latin typeface="Arial" panose="020B0604020202020204" pitchFamily="34" charset="0"/>
              </a:rPr>
              <a:t>release of stress causes elastic deformation of the cylinder</a:t>
            </a:r>
            <a:r>
              <a:rPr lang="en-GB" altLang="en-US" sz="1400" dirty="0">
                <a:effectLst/>
                <a:latin typeface="Arial" panose="020B0604020202020204" pitchFamily="34" charset="0"/>
              </a:rPr>
              <a:t> so that its dimensions and its initially circular cross section change</a:t>
            </a:r>
          </a:p>
          <a:p>
            <a:pPr>
              <a:lnSpc>
                <a:spcPct val="120000"/>
              </a:lnSpc>
              <a:spcBef>
                <a:spcPct val="7500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The stress can be calculated from these changes provided that the elastic properties of the rock are known</a:t>
            </a:r>
            <a:endParaRPr lang="en-GB" altLang="en-US" sz="1400" dirty="0">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a:extLst>
              <a:ext uri="{FF2B5EF4-FFF2-40B4-BE49-F238E27FC236}">
                <a16:creationId xmlns:a16="http://schemas.microsoft.com/office/drawing/2014/main" id="{C913872F-4582-4C30-AA43-33447C6B8439}"/>
              </a:ext>
            </a:extLst>
          </p:cNvPr>
          <p:cNvSpPr>
            <a:spLocks noGrp="1" noChangeArrowheads="1"/>
          </p:cNvSpPr>
          <p:nvPr>
            <p:ph type="title"/>
          </p:nvPr>
        </p:nvSpPr>
        <p:spPr>
          <a:noFill/>
        </p:spPr>
        <p:txBody>
          <a:bodyPr/>
          <a:lstStyle/>
          <a:p>
            <a:r>
              <a:rPr lang="en-GB" altLang="en-US">
                <a:effectLst/>
              </a:rPr>
              <a:t>Stress measurements: hydraulic fracturing</a:t>
            </a:r>
          </a:p>
        </p:txBody>
      </p:sp>
      <p:sp>
        <p:nvSpPr>
          <p:cNvPr id="269315" name="Text Box 3">
            <a:extLst>
              <a:ext uri="{FF2B5EF4-FFF2-40B4-BE49-F238E27FC236}">
                <a16:creationId xmlns:a16="http://schemas.microsoft.com/office/drawing/2014/main" id="{1CEECE0D-4D8A-4D56-8474-380DBA7BF6F6}"/>
              </a:ext>
            </a:extLst>
          </p:cNvPr>
          <p:cNvSpPr txBox="1">
            <a:spLocks noChangeArrowheads="1"/>
          </p:cNvSpPr>
          <p:nvPr/>
        </p:nvSpPr>
        <p:spPr bwMode="auto">
          <a:xfrm>
            <a:off x="112713" y="833438"/>
            <a:ext cx="4265612"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63023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a:solidFill>
                  <a:srgbClr val="FF6600"/>
                </a:solidFill>
                <a:effectLst/>
                <a:latin typeface="Arial" panose="020B0604020202020204" pitchFamily="34" charset="0"/>
              </a:rPr>
              <a:t>Hydrofracking</a:t>
            </a:r>
            <a:r>
              <a:rPr lang="en-GB" altLang="en-US" sz="1700">
                <a:effectLst/>
                <a:latin typeface="Arial" panose="020B0604020202020204" pitchFamily="34" charset="0"/>
              </a:rPr>
              <a:t> is a technique for establishing the orientation and magnitude of the principal stresses</a:t>
            </a:r>
          </a:p>
        </p:txBody>
      </p:sp>
      <p:grpSp>
        <p:nvGrpSpPr>
          <p:cNvPr id="269322" name="Group 10">
            <a:extLst>
              <a:ext uri="{FF2B5EF4-FFF2-40B4-BE49-F238E27FC236}">
                <a16:creationId xmlns:a16="http://schemas.microsoft.com/office/drawing/2014/main" id="{D5CC719F-210B-4600-B860-6127216384DA}"/>
              </a:ext>
            </a:extLst>
          </p:cNvPr>
          <p:cNvGrpSpPr>
            <a:grpSpLocks/>
          </p:cNvGrpSpPr>
          <p:nvPr/>
        </p:nvGrpSpPr>
        <p:grpSpPr bwMode="auto">
          <a:xfrm>
            <a:off x="4457700" y="969963"/>
            <a:ext cx="4494213" cy="4887912"/>
            <a:chOff x="1935" y="1279"/>
            <a:chExt cx="1959" cy="2131"/>
          </a:xfrm>
        </p:grpSpPr>
        <p:sp>
          <p:nvSpPr>
            <p:cNvPr id="269321" name="Rectangle 9">
              <a:extLst>
                <a:ext uri="{FF2B5EF4-FFF2-40B4-BE49-F238E27FC236}">
                  <a16:creationId xmlns:a16="http://schemas.microsoft.com/office/drawing/2014/main" id="{9D85A6B5-153A-4E1A-A8F1-35C24E1D1D1D}"/>
                </a:ext>
              </a:extLst>
            </p:cNvPr>
            <p:cNvSpPr>
              <a:spLocks noChangeArrowheads="1"/>
            </p:cNvSpPr>
            <p:nvPr/>
          </p:nvSpPr>
          <p:spPr bwMode="auto">
            <a:xfrm>
              <a:off x="1935" y="1279"/>
              <a:ext cx="1959" cy="2131"/>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69319" name="Picture 7" descr="04b">
              <a:extLst>
                <a:ext uri="{FF2B5EF4-FFF2-40B4-BE49-F238E27FC236}">
                  <a16:creationId xmlns:a16="http://schemas.microsoft.com/office/drawing/2014/main" id="{208CB48A-1C8E-47EE-82E0-E46568A8B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5" y="1322"/>
              <a:ext cx="1874" cy="19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69323" name="Text Box 11">
            <a:extLst>
              <a:ext uri="{FF2B5EF4-FFF2-40B4-BE49-F238E27FC236}">
                <a16:creationId xmlns:a16="http://schemas.microsoft.com/office/drawing/2014/main" id="{C4444E2C-5623-4143-9B51-BB5ED79DE145}"/>
              </a:ext>
            </a:extLst>
          </p:cNvPr>
          <p:cNvSpPr txBox="1">
            <a:spLocks noChangeArrowheads="1"/>
          </p:cNvSpPr>
          <p:nvPr/>
        </p:nvSpPr>
        <p:spPr bwMode="auto">
          <a:xfrm>
            <a:off x="327025" y="1917700"/>
            <a:ext cx="3702050" cy="466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5113" indent="-265113">
              <a:defRPr sz="1600">
                <a:solidFill>
                  <a:schemeClr val="tx1"/>
                </a:solidFill>
                <a:latin typeface="Helvetica" panose="020B0604020202020204" pitchFamily="34" charset="0"/>
              </a:defRPr>
            </a:lvl1pPr>
            <a:lvl2pPr marL="71278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A section of borehole is sealed off with two inflatable rubber packers and fluid is pumped in to increase the fluid pressure between these two seals </a:t>
            </a:r>
          </a:p>
          <a:p>
            <a:pPr>
              <a:lnSpc>
                <a:spcPct val="120000"/>
              </a:lnSpc>
              <a:spcBef>
                <a:spcPct val="7500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At some</a:t>
            </a:r>
            <a:r>
              <a:rPr lang="en-GB" altLang="en-US" sz="1400" dirty="0">
                <a:solidFill>
                  <a:srgbClr val="FF66CC"/>
                </a:solidFill>
                <a:effectLst/>
                <a:latin typeface="Arial" panose="020B0604020202020204" pitchFamily="34" charset="0"/>
              </a:rPr>
              <a:t> critical pressure, an extension fracture forms</a:t>
            </a:r>
            <a:r>
              <a:rPr lang="en-GB" altLang="en-US" sz="1400" dirty="0">
                <a:effectLst/>
                <a:latin typeface="Arial" panose="020B0604020202020204" pitchFamily="34" charset="0"/>
              </a:rPr>
              <a:t>, and at that moment the fluid pumping system is stopped</a:t>
            </a:r>
          </a:p>
          <a:p>
            <a:pPr>
              <a:lnSpc>
                <a:spcPct val="120000"/>
              </a:lnSpc>
              <a:spcBef>
                <a:spcPct val="7500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The fluid pressure then drops as the fluid flows into the crack until a pressure is reached that is </a:t>
            </a:r>
            <a:r>
              <a:rPr lang="en-GB" altLang="en-US" sz="1400" dirty="0">
                <a:solidFill>
                  <a:srgbClr val="FF66CC"/>
                </a:solidFill>
                <a:effectLst/>
                <a:latin typeface="Arial" panose="020B0604020202020204" pitchFamily="34" charset="0"/>
              </a:rPr>
              <a:t>just sufficient to keep the crack open</a:t>
            </a:r>
          </a:p>
          <a:p>
            <a:pPr>
              <a:lnSpc>
                <a:spcPct val="120000"/>
              </a:lnSpc>
              <a:spcBef>
                <a:spcPct val="7500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This latter pressure is taken as </a:t>
            </a:r>
            <a:r>
              <a:rPr lang="en-GB" altLang="en-US" sz="1400" i="1" dirty="0" err="1">
                <a:effectLst/>
                <a:latin typeface="Symbol" panose="05050102010706020507" pitchFamily="18" charset="2"/>
              </a:rPr>
              <a:t>s</a:t>
            </a:r>
            <a:r>
              <a:rPr lang="en-GB" altLang="en-US" sz="1400" baseline="-25000" dirty="0" err="1">
                <a:effectLst/>
                <a:latin typeface="Arial" panose="020B0604020202020204" pitchFamily="34" charset="0"/>
              </a:rPr>
              <a:t>h</a:t>
            </a:r>
            <a:r>
              <a:rPr lang="en-GB" altLang="en-US" sz="1400" dirty="0">
                <a:effectLst/>
                <a:latin typeface="Arial" panose="020B0604020202020204" pitchFamily="34" charset="0"/>
              </a:rPr>
              <a:t>, and from this, together with knowledge of the tensile strength of the rock and the critical pressure at which the fracture formed, it is possible to calculate </a:t>
            </a:r>
            <a:r>
              <a:rPr lang="en-GB" altLang="en-US" sz="1400" i="1" dirty="0" err="1">
                <a:effectLst/>
                <a:latin typeface="Symbol" panose="05050102010706020507" pitchFamily="18" charset="2"/>
              </a:rPr>
              <a:t>s</a:t>
            </a:r>
            <a:r>
              <a:rPr lang="en-GB" altLang="en-US" sz="1400" baseline="-25000" dirty="0" err="1">
                <a:effectLst/>
                <a:latin typeface="Arial" panose="020B0604020202020204" pitchFamily="34" charset="0"/>
              </a:rPr>
              <a:t>H</a:t>
            </a:r>
            <a:endParaRPr lang="en-GB" altLang="en-US" sz="1400" baseline="-25000" dirty="0">
              <a:effectLst>
                <a:outerShdw blurRad="38100" dist="38100" dir="2700000" algn="tl">
                  <a:srgbClr val="000000"/>
                </a:outerShdw>
              </a:effectLst>
              <a:latin typeface="Arial" panose="020B0604020202020204" pitchFamily="34" charset="0"/>
            </a:endParaRPr>
          </a:p>
        </p:txBody>
      </p:sp>
      <p:sp>
        <p:nvSpPr>
          <p:cNvPr id="269324" name="Text Box 12">
            <a:extLst>
              <a:ext uri="{FF2B5EF4-FFF2-40B4-BE49-F238E27FC236}">
                <a16:creationId xmlns:a16="http://schemas.microsoft.com/office/drawing/2014/main" id="{67EA307A-3DD6-42A5-B39A-67F60CF978F8}"/>
              </a:ext>
            </a:extLst>
          </p:cNvPr>
          <p:cNvSpPr txBox="1">
            <a:spLocks noChangeArrowheads="1"/>
          </p:cNvSpPr>
          <p:nvPr/>
        </p:nvSpPr>
        <p:spPr bwMode="auto">
          <a:xfrm>
            <a:off x="4391025" y="5999163"/>
            <a:ext cx="4541838"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5113" indent="-265113">
              <a:defRPr sz="1600">
                <a:solidFill>
                  <a:schemeClr val="tx1"/>
                </a:solidFill>
                <a:latin typeface="Helvetica" panose="020B0604020202020204" pitchFamily="34" charset="0"/>
              </a:defRPr>
            </a:lvl1pPr>
            <a:lvl2pPr marL="71278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The </a:t>
            </a:r>
            <a:r>
              <a:rPr lang="en-GB" altLang="en-US" sz="1400" dirty="0">
                <a:solidFill>
                  <a:srgbClr val="FF66CC"/>
                </a:solidFill>
                <a:effectLst/>
                <a:latin typeface="Arial" panose="020B0604020202020204" pitchFamily="34" charset="0"/>
              </a:rPr>
              <a:t>fractures form parallel to </a:t>
            </a:r>
            <a:r>
              <a:rPr lang="el-GR" altLang="en-US" sz="1400" i="1" dirty="0">
                <a:solidFill>
                  <a:srgbClr val="FF66CC"/>
                </a:solidFill>
                <a:effectLst/>
                <a:latin typeface="Cambria Math" panose="02040503050406030204" pitchFamily="18" charset="0"/>
                <a:ea typeface="Cambria Math" panose="02040503050406030204" pitchFamily="18" charset="0"/>
              </a:rPr>
              <a:t>σ</a:t>
            </a:r>
            <a:r>
              <a:rPr lang="en-GB" altLang="en-US" sz="1400" baseline="-25000" dirty="0">
                <a:solidFill>
                  <a:srgbClr val="FF66CC"/>
                </a:solidFill>
                <a:effectLst/>
                <a:latin typeface="Arial" panose="020B0604020202020204" pitchFamily="34" charset="0"/>
              </a:rPr>
              <a:t>H</a:t>
            </a:r>
            <a:r>
              <a:rPr lang="en-GB" altLang="en-US" sz="1400" dirty="0">
                <a:effectLst/>
                <a:latin typeface="Arial" panose="020B0604020202020204" pitchFamily="34" charset="0"/>
              </a:rPr>
              <a:t> and so this allows the orientation of </a:t>
            </a:r>
            <a:r>
              <a:rPr lang="el-GR" altLang="en-US" sz="1400" i="1" dirty="0">
                <a:effectLst/>
                <a:latin typeface="Cambria Math" panose="02040503050406030204" pitchFamily="18" charset="0"/>
                <a:ea typeface="Cambria Math" panose="02040503050406030204" pitchFamily="18" charset="0"/>
              </a:rPr>
              <a:t>σ</a:t>
            </a:r>
            <a:r>
              <a:rPr lang="en-GB" altLang="en-US" sz="1400" baseline="-25000" dirty="0">
                <a:effectLst/>
                <a:latin typeface="Arial" panose="020B0604020202020204" pitchFamily="34" charset="0"/>
              </a:rPr>
              <a:t>H</a:t>
            </a:r>
            <a:r>
              <a:rPr lang="en-GB" altLang="en-US" sz="1400" dirty="0">
                <a:effectLst/>
                <a:latin typeface="Arial" panose="020B0604020202020204" pitchFamily="34" charset="0"/>
              </a:rPr>
              <a:t> to be determined</a:t>
            </a:r>
            <a:endParaRPr lang="en-GB" altLang="en-US" sz="1400" baseline="-25000" dirty="0">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a:extLst>
              <a:ext uri="{FF2B5EF4-FFF2-40B4-BE49-F238E27FC236}">
                <a16:creationId xmlns:a16="http://schemas.microsoft.com/office/drawing/2014/main" id="{14E51BB7-6C66-4968-8FCB-8478FBC09233}"/>
              </a:ext>
            </a:extLst>
          </p:cNvPr>
          <p:cNvSpPr>
            <a:spLocks noGrp="1" noChangeArrowheads="1"/>
          </p:cNvSpPr>
          <p:nvPr>
            <p:ph type="title"/>
          </p:nvPr>
        </p:nvSpPr>
        <p:spPr>
          <a:noFill/>
        </p:spPr>
        <p:txBody>
          <a:bodyPr/>
          <a:lstStyle/>
          <a:p>
            <a:r>
              <a:rPr lang="en-GB" altLang="en-US">
                <a:effectLst/>
              </a:rPr>
              <a:t>Estimating stress from earthquakes and faults</a:t>
            </a:r>
          </a:p>
        </p:txBody>
      </p:sp>
      <p:sp>
        <p:nvSpPr>
          <p:cNvPr id="271363" name="Text Box 3">
            <a:extLst>
              <a:ext uri="{FF2B5EF4-FFF2-40B4-BE49-F238E27FC236}">
                <a16:creationId xmlns:a16="http://schemas.microsoft.com/office/drawing/2014/main" id="{89642FF1-ACD0-4579-8DAF-831EAA159B5B}"/>
              </a:ext>
            </a:extLst>
          </p:cNvPr>
          <p:cNvSpPr txBox="1">
            <a:spLocks noChangeArrowheads="1"/>
          </p:cNvSpPr>
          <p:nvPr/>
        </p:nvSpPr>
        <p:spPr bwMode="auto">
          <a:xfrm>
            <a:off x="112713" y="776288"/>
            <a:ext cx="8904287" cy="271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63023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 </a:t>
            </a:r>
            <a:r>
              <a:rPr lang="en-GB" altLang="en-US" sz="1700" dirty="0">
                <a:solidFill>
                  <a:srgbClr val="FF66CC"/>
                </a:solidFill>
                <a:effectLst/>
                <a:latin typeface="Arial" panose="020B0604020202020204" pitchFamily="34" charset="0"/>
              </a:rPr>
              <a:t>orientation</a:t>
            </a:r>
            <a:r>
              <a:rPr lang="en-GB" altLang="en-US" sz="1700" dirty="0">
                <a:effectLst/>
                <a:latin typeface="Arial" panose="020B0604020202020204" pitchFamily="34" charset="0"/>
              </a:rPr>
              <a:t> of the principal stresses and their </a:t>
            </a:r>
            <a:r>
              <a:rPr lang="en-GB" altLang="en-US" sz="1700" dirty="0">
                <a:solidFill>
                  <a:srgbClr val="FF66CC"/>
                </a:solidFill>
                <a:effectLst/>
                <a:latin typeface="Arial" panose="020B0604020202020204" pitchFamily="34" charset="0"/>
              </a:rPr>
              <a:t>relative magnitude</a:t>
            </a:r>
            <a:r>
              <a:rPr lang="en-GB" altLang="en-US" sz="1700" dirty="0">
                <a:effectLst/>
                <a:latin typeface="Arial" panose="020B0604020202020204" pitchFamily="34" charset="0"/>
              </a:rPr>
              <a:t> as expressed by the stress ratio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Φ</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effectLst/>
                <a:latin typeface="Arial" panose="020B0604020202020204" pitchFamily="34" charset="0"/>
              </a:rPr>
              <a:t>may be estimated from</a:t>
            </a:r>
          </a:p>
          <a:p>
            <a:pPr>
              <a:lnSpc>
                <a:spcPct val="120000"/>
              </a:lnSpc>
              <a:spcBef>
                <a:spcPct val="0"/>
              </a:spcBef>
              <a:buClr>
                <a:schemeClr val="folHlink"/>
              </a:buClr>
              <a:buSzPct val="100000"/>
              <a:buFont typeface="Times" panose="02020603050405020304" pitchFamily="18" charset="0"/>
              <a:buNone/>
            </a:pPr>
            <a:r>
              <a:rPr lang="en-GB" altLang="en-US" sz="1700" dirty="0">
                <a:effectLst/>
                <a:latin typeface="Arial" panose="020B0604020202020204" pitchFamily="34" charset="0"/>
              </a:rPr>
              <a:t>	(a) </a:t>
            </a:r>
            <a:r>
              <a:rPr lang="en-GB" altLang="en-US" sz="1700" dirty="0">
                <a:solidFill>
                  <a:srgbClr val="FF6600"/>
                </a:solidFill>
                <a:effectLst/>
                <a:latin typeface="Arial" panose="020B0604020202020204" pitchFamily="34" charset="0"/>
              </a:rPr>
              <a:t>earthquake first motion </a:t>
            </a:r>
            <a:r>
              <a:rPr lang="en-GB" altLang="en-US" sz="1700" dirty="0">
                <a:effectLst/>
                <a:latin typeface="Arial" panose="020B0604020202020204" pitchFamily="34" charset="0"/>
              </a:rPr>
              <a:t>studies, or </a:t>
            </a:r>
          </a:p>
          <a:p>
            <a:pPr>
              <a:lnSpc>
                <a:spcPct val="120000"/>
              </a:lnSpc>
              <a:spcBef>
                <a:spcPct val="0"/>
              </a:spcBef>
              <a:buClr>
                <a:schemeClr val="folHlink"/>
              </a:buClr>
              <a:buSzPct val="100000"/>
              <a:buFont typeface="Times" panose="02020603050405020304" pitchFamily="18" charset="0"/>
              <a:buNone/>
            </a:pPr>
            <a:r>
              <a:rPr lang="en-GB" altLang="en-US" sz="1700" dirty="0">
                <a:effectLst/>
                <a:latin typeface="Arial" panose="020B0604020202020204" pitchFamily="34" charset="0"/>
              </a:rPr>
              <a:t>	(b) </a:t>
            </a:r>
            <a:r>
              <a:rPr lang="en-GB" altLang="en-US" sz="1700" dirty="0">
                <a:solidFill>
                  <a:srgbClr val="FF6600"/>
                </a:solidFill>
                <a:effectLst/>
                <a:latin typeface="Arial" panose="020B0604020202020204" pitchFamily="34" charset="0"/>
              </a:rPr>
              <a:t>fault plane and slip vector orientation</a:t>
            </a:r>
            <a:r>
              <a:rPr lang="en-GB" altLang="en-US" sz="1700" dirty="0">
                <a:effectLst/>
                <a:latin typeface="Arial" panose="020B0604020202020204" pitchFamily="34" charset="0"/>
              </a:rPr>
              <a:t> measurements</a:t>
            </a:r>
          </a:p>
          <a:p>
            <a:pPr>
              <a:lnSpc>
                <a:spcPct val="120000"/>
              </a:lnSpc>
              <a:spcBef>
                <a:spcPct val="0"/>
              </a:spcBef>
              <a:buClr>
                <a:schemeClr val="folHlink"/>
              </a:buClr>
              <a:buSzPct val="100000"/>
              <a:buFont typeface="Times" panose="02020603050405020304" pitchFamily="18" charset="0"/>
              <a:buNone/>
            </a:pPr>
            <a:r>
              <a:rPr lang="en-GB" altLang="en-US" sz="1700" dirty="0">
                <a:effectLst/>
                <a:latin typeface="Arial" panose="020B0604020202020204" pitchFamily="34" charset="0"/>
              </a:rPr>
              <a:t>	In each case, information from several differently oriented faults is needed to constrain the analysis</a:t>
            </a:r>
          </a:p>
          <a:p>
            <a:pPr>
              <a:lnSpc>
                <a:spcPct val="120000"/>
              </a:lnSpc>
              <a:spcBef>
                <a:spcPct val="5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I</a:t>
            </a:r>
            <a:r>
              <a:rPr lang="en-GB" altLang="en-US" sz="1700" dirty="0">
                <a:effectLst>
                  <a:outerShdw blurRad="38100" dist="38100" dir="2700000" algn="tl">
                    <a:srgbClr val="000000"/>
                  </a:outerShdw>
                </a:effectLst>
                <a:latin typeface="Arial" panose="020B0604020202020204" pitchFamily="34" charset="0"/>
              </a:rPr>
              <a:t>f </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rPr>
              <a:t> and </a:t>
            </a:r>
            <a:r>
              <a:rPr lang="en-GB" altLang="en-US" sz="1700" dirty="0">
                <a:solidFill>
                  <a:srgbClr val="FFFF00"/>
                </a:solidFill>
                <a:effectLst>
                  <a:outerShdw blurRad="38100" dist="38100" dir="2700000" algn="tl">
                    <a:srgbClr val="000000"/>
                  </a:outerShdw>
                </a:effectLst>
                <a:latin typeface="Arial" panose="020B0604020202020204" pitchFamily="34" charset="0"/>
              </a:rPr>
              <a:t>one of the principal stresses</a:t>
            </a:r>
            <a:r>
              <a:rPr lang="en-GB" altLang="en-US" sz="1700" dirty="0">
                <a:effectLst>
                  <a:outerShdw blurRad="38100" dist="38100" dir="2700000" algn="tl">
                    <a:srgbClr val="000000"/>
                  </a:outerShdw>
                </a:effectLst>
                <a:latin typeface="Arial" panose="020B0604020202020204" pitchFamily="34" charset="0"/>
              </a:rPr>
              <a:t> (usually the vertical stress) can also be determined, then using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Φ</a:t>
            </a:r>
            <a:r>
              <a:rPr lang="en-GB" altLang="en-US" sz="1700" dirty="0">
                <a:effectLst>
                  <a:outerShdw blurRad="38100" dist="38100" dir="2700000" algn="tl">
                    <a:srgbClr val="000000"/>
                  </a:outerShdw>
                </a:effectLst>
                <a:latin typeface="Arial" panose="020B0604020202020204" pitchFamily="34" charset="0"/>
              </a:rPr>
              <a:t>  the magnitudes of all the principal stresses may be obtained</a:t>
            </a:r>
          </a:p>
        </p:txBody>
      </p:sp>
      <p:pic>
        <p:nvPicPr>
          <p:cNvPr id="271367" name="Picture 2" descr="GR05.jpg">
            <a:extLst>
              <a:ext uri="{FF2B5EF4-FFF2-40B4-BE49-F238E27FC236}">
                <a16:creationId xmlns:a16="http://schemas.microsoft.com/office/drawing/2014/main" id="{165DEC1B-E3B5-4B48-A192-5F6F18E5A2FF}"/>
              </a:ext>
            </a:extLst>
          </p:cNvPr>
          <p:cNvPicPr>
            <a:picLocks noGrp="1" noChangeAspect="1"/>
          </p:cNvPicPr>
          <p:nvPr>
            <p:ph idx="1"/>
          </p:nvPr>
        </p:nvPicPr>
        <p:blipFill>
          <a:blip r:embed="rId3">
            <a:lum bright="-6000"/>
            <a:extLst>
              <a:ext uri="{28A0092B-C50C-407E-A947-70E740481C1C}">
                <a14:useLocalDpi xmlns:a14="http://schemas.microsoft.com/office/drawing/2010/main" val="0"/>
              </a:ext>
            </a:extLst>
          </a:blip>
          <a:srcRect/>
          <a:stretch>
            <a:fillRect/>
          </a:stretch>
        </p:blipFill>
        <p:spPr>
          <a:xfrm>
            <a:off x="4559300" y="3787775"/>
            <a:ext cx="4341813" cy="28082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1369" name="Text Box 9">
            <a:extLst>
              <a:ext uri="{FF2B5EF4-FFF2-40B4-BE49-F238E27FC236}">
                <a16:creationId xmlns:a16="http://schemas.microsoft.com/office/drawing/2014/main" id="{577CF324-9CAA-4BBA-8E61-A0AE7C67BB95}"/>
              </a:ext>
            </a:extLst>
          </p:cNvPr>
          <p:cNvSpPr txBox="1">
            <a:spLocks noChangeArrowheads="1"/>
          </p:cNvSpPr>
          <p:nvPr/>
        </p:nvSpPr>
        <p:spPr bwMode="auto">
          <a:xfrm>
            <a:off x="109538" y="3629025"/>
            <a:ext cx="4243387" cy="302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orientation and spatial distribution of </a:t>
            </a:r>
            <a:r>
              <a:rPr lang="en-GB" altLang="en-US" sz="1700" dirty="0" err="1">
                <a:solidFill>
                  <a:srgbClr val="FF6600"/>
                </a:solidFill>
                <a:effectLst>
                  <a:outerShdw blurRad="38100" dist="38100" dir="2700000" algn="tl">
                    <a:srgbClr val="000000"/>
                  </a:outerShdw>
                </a:effectLst>
                <a:latin typeface="Arial" panose="020B0604020202020204" pitchFamily="34" charset="0"/>
              </a:rPr>
              <a:t>stylolites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00"/>
                </a:solidFill>
                <a:effectLst>
                  <a:outerShdw blurRad="38100" dist="38100" dir="2700000" algn="tl">
                    <a:srgbClr val="000000"/>
                  </a:outerShdw>
                </a:effectLst>
                <a:latin typeface="Arial" panose="020B0604020202020204" pitchFamily="34" charset="0"/>
              </a:rPr>
              <a:t>vein systems</a:t>
            </a:r>
            <a:r>
              <a:rPr lang="en-GB" altLang="en-US" sz="1700" dirty="0">
                <a:effectLst>
                  <a:outerShdw blurRad="38100" dist="38100" dir="2700000" algn="tl">
                    <a:srgbClr val="000000"/>
                  </a:outerShdw>
                </a:effectLst>
                <a:latin typeface="Arial" panose="020B0604020202020204" pitchFamily="34" charset="0"/>
              </a:rPr>
              <a:t>, and </a:t>
            </a:r>
            <a:r>
              <a:rPr lang="en-GB" altLang="en-US" sz="1700" dirty="0">
                <a:solidFill>
                  <a:srgbClr val="FF6600"/>
                </a:solidFill>
                <a:effectLst>
                  <a:outerShdw blurRad="38100" dist="38100" dir="2700000" algn="tl">
                    <a:srgbClr val="000000"/>
                  </a:outerShdw>
                </a:effectLst>
                <a:latin typeface="Arial" panose="020B0604020202020204" pitchFamily="34" charset="0"/>
              </a:rPr>
              <a:t>conjugate fractures</a:t>
            </a:r>
            <a:r>
              <a:rPr lang="en-GB" altLang="en-US" sz="1700" dirty="0">
                <a:effectLst>
                  <a:outerShdw blurRad="38100" dist="38100" dir="2700000" algn="tl">
                    <a:srgbClr val="000000"/>
                  </a:outerShdw>
                </a:effectLst>
                <a:latin typeface="Arial" panose="020B0604020202020204" pitchFamily="34" charset="0"/>
              </a:rPr>
              <a:t> may all be used to estimate the </a:t>
            </a:r>
            <a:r>
              <a:rPr lang="en-GB" altLang="en-US" sz="1700" dirty="0">
                <a:solidFill>
                  <a:srgbClr val="FF66CC"/>
                </a:solidFill>
                <a:effectLst>
                  <a:outerShdw blurRad="38100" dist="38100" dir="2700000" algn="tl">
                    <a:srgbClr val="000000"/>
                  </a:outerShdw>
                </a:effectLst>
                <a:latin typeface="Arial" panose="020B0604020202020204" pitchFamily="34" charset="0"/>
              </a:rPr>
              <a:t>orientation of the principal stresses</a:t>
            </a:r>
            <a:r>
              <a:rPr lang="en-GB" altLang="en-US" sz="1700" dirty="0">
                <a:effectLst>
                  <a:outerShdw blurRad="38100" dist="38100" dir="2700000" algn="tl">
                    <a:srgbClr val="000000"/>
                  </a:outerShdw>
                </a:effectLst>
                <a:latin typeface="Arial" panose="020B0604020202020204" pitchFamily="34" charset="0"/>
              </a:rPr>
              <a:t>, both in currently active tectonic settings at the Earth’s surface, and within the geological record</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analysis of these features forms the core material of the next two classes</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E655C715-BFE7-4DBD-8DDB-95FEA7CF70AC}"/>
              </a:ext>
            </a:extLst>
          </p:cNvPr>
          <p:cNvSpPr>
            <a:spLocks noGrp="1" noChangeArrowheads="1"/>
          </p:cNvSpPr>
          <p:nvPr>
            <p:ph type="title"/>
          </p:nvPr>
        </p:nvSpPr>
        <p:spPr>
          <a:noFill/>
        </p:spPr>
        <p:txBody>
          <a:bodyPr/>
          <a:lstStyle/>
          <a:p>
            <a:r>
              <a:rPr lang="en-GB" altLang="en-US">
                <a:effectLst/>
              </a:rPr>
              <a:t>Palaeostress techniques: stress orientations</a:t>
            </a:r>
          </a:p>
        </p:txBody>
      </p:sp>
      <p:pic>
        <p:nvPicPr>
          <p:cNvPr id="273415" name="Picture 7" descr="05a-lamellae">
            <a:extLst>
              <a:ext uri="{FF2B5EF4-FFF2-40B4-BE49-F238E27FC236}">
                <a16:creationId xmlns:a16="http://schemas.microsoft.com/office/drawing/2014/main" id="{3C7560E8-8F8B-4B1D-81EB-A45F3F2A4D05}"/>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87325" y="2598738"/>
            <a:ext cx="4589463" cy="33686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3411" name="Text Box 3">
            <a:extLst>
              <a:ext uri="{FF2B5EF4-FFF2-40B4-BE49-F238E27FC236}">
                <a16:creationId xmlns:a16="http://schemas.microsoft.com/office/drawing/2014/main" id="{58692C54-B489-4E42-AEFC-52241D225F20}"/>
              </a:ext>
            </a:extLst>
          </p:cNvPr>
          <p:cNvSpPr txBox="1">
            <a:spLocks noChangeArrowheads="1"/>
          </p:cNvSpPr>
          <p:nvPr/>
        </p:nvSpPr>
        <p:spPr bwMode="auto">
          <a:xfrm>
            <a:off x="112713" y="811213"/>
            <a:ext cx="4845050"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63023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50000"/>
              </a:spcBef>
              <a:buClr>
                <a:schemeClr val="folHlink"/>
              </a:buClr>
              <a:buSzPct val="100000"/>
              <a:buFont typeface="Times" panose="02020603050405020304" pitchFamily="18" charset="0"/>
              <a:buChar char="•"/>
            </a:pPr>
            <a:r>
              <a:rPr lang="en-GB" altLang="en-US" sz="1700">
                <a:solidFill>
                  <a:srgbClr val="FF6600"/>
                </a:solidFill>
                <a:effectLst/>
                <a:latin typeface="Arial" panose="020B0604020202020204" pitchFamily="34" charset="0"/>
              </a:rPr>
              <a:t>Principal stress orientations</a:t>
            </a:r>
            <a:r>
              <a:rPr lang="en-GB" altLang="en-US" sz="1700">
                <a:effectLst/>
                <a:latin typeface="Arial" panose="020B0604020202020204" pitchFamily="34" charset="0"/>
              </a:rPr>
              <a:t> may be estimated from:</a:t>
            </a:r>
          </a:p>
          <a:p>
            <a:pPr lvl="1">
              <a:lnSpc>
                <a:spcPct val="120000"/>
              </a:lnSpc>
              <a:spcBef>
                <a:spcPct val="30000"/>
              </a:spcBef>
              <a:buClr>
                <a:schemeClr val="folHlink"/>
              </a:buClr>
              <a:buSzPct val="100000"/>
              <a:buFont typeface="Times" panose="02020603050405020304" pitchFamily="18" charset="0"/>
              <a:buAutoNum type="arabicPeriod"/>
            </a:pPr>
            <a:r>
              <a:rPr lang="en-GB" altLang="en-US" sz="1700">
                <a:effectLst>
                  <a:outerShdw blurRad="38100" dist="38100" dir="2700000" algn="tl">
                    <a:srgbClr val="000000"/>
                  </a:outerShdw>
                </a:effectLst>
                <a:latin typeface="Arial" panose="020B0604020202020204" pitchFamily="34" charset="0"/>
              </a:rPr>
              <a:t>The orientations of</a:t>
            </a:r>
            <a:r>
              <a:rPr lang="en-GB" altLang="en-US" sz="1700">
                <a:solidFill>
                  <a:srgbClr val="FF66CC"/>
                </a:solidFill>
                <a:effectLst>
                  <a:outerShdw blurRad="38100" dist="38100" dir="2700000" algn="tl">
                    <a:srgbClr val="000000"/>
                  </a:outerShdw>
                </a:effectLst>
                <a:latin typeface="Arial" panose="020B0604020202020204" pitchFamily="34" charset="0"/>
              </a:rPr>
              <a:t> mechanical twins</a:t>
            </a:r>
          </a:p>
          <a:p>
            <a:pPr lvl="1">
              <a:lnSpc>
                <a:spcPct val="120000"/>
              </a:lnSpc>
              <a:spcBef>
                <a:spcPct val="30000"/>
              </a:spcBef>
              <a:buClr>
                <a:schemeClr val="folHlink"/>
              </a:buClr>
              <a:buSzPct val="100000"/>
              <a:buFont typeface="Times" panose="02020603050405020304" pitchFamily="18" charset="0"/>
              <a:buAutoNum type="arabicPeriod"/>
            </a:pPr>
            <a:r>
              <a:rPr lang="en-GB" altLang="en-US" sz="1700">
                <a:effectLst>
                  <a:outerShdw blurRad="38100" dist="38100" dir="2700000" algn="tl">
                    <a:srgbClr val="000000"/>
                  </a:outerShdw>
                </a:effectLst>
                <a:latin typeface="Arial" panose="020B0604020202020204" pitchFamily="34" charset="0"/>
              </a:rPr>
              <a:t>The orientations of </a:t>
            </a:r>
            <a:r>
              <a:rPr lang="en-GB" altLang="en-US" sz="1700">
                <a:solidFill>
                  <a:srgbClr val="FF66CC"/>
                </a:solidFill>
                <a:effectLst>
                  <a:outerShdw blurRad="38100" dist="38100" dir="2700000" algn="tl">
                    <a:srgbClr val="000000"/>
                  </a:outerShdw>
                </a:effectLst>
                <a:latin typeface="Arial" panose="020B0604020202020204" pitchFamily="34" charset="0"/>
              </a:rPr>
              <a:t>deformation lamellae</a:t>
            </a:r>
            <a:endParaRPr lang="en-GB" altLang="en-US" sz="1700">
              <a:effectLst>
                <a:outerShdw blurRad="38100" dist="38100" dir="2700000" algn="tl">
                  <a:srgbClr val="000000"/>
                </a:outerShdw>
              </a:effectLst>
              <a:latin typeface="Arial" panose="020B0604020202020204" pitchFamily="34" charset="0"/>
            </a:endParaRPr>
          </a:p>
        </p:txBody>
      </p:sp>
      <p:sp>
        <p:nvSpPr>
          <p:cNvPr id="273419" name="Text Box 11">
            <a:extLst>
              <a:ext uri="{FF2B5EF4-FFF2-40B4-BE49-F238E27FC236}">
                <a16:creationId xmlns:a16="http://schemas.microsoft.com/office/drawing/2014/main" id="{B660F803-A3C2-4D16-B4D3-5B1A5F6C90EA}"/>
              </a:ext>
            </a:extLst>
          </p:cNvPr>
          <p:cNvSpPr txBox="1">
            <a:spLocks noChangeArrowheads="1"/>
          </p:cNvSpPr>
          <p:nvPr/>
        </p:nvSpPr>
        <p:spPr bwMode="auto">
          <a:xfrm>
            <a:off x="207963" y="6067425"/>
            <a:ext cx="2451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Quartz deformation lamellae</a:t>
            </a:r>
          </a:p>
        </p:txBody>
      </p:sp>
      <p:pic>
        <p:nvPicPr>
          <p:cNvPr id="273420" name="Picture 12" descr="P531450">
            <a:extLst>
              <a:ext uri="{FF2B5EF4-FFF2-40B4-BE49-F238E27FC236}">
                <a16:creationId xmlns:a16="http://schemas.microsoft.com/office/drawing/2014/main" id="{8FCCCCFA-17B8-4365-9AE3-A2259EAEA2D0}"/>
              </a:ext>
            </a:extLst>
          </p:cNvPr>
          <p:cNvPicPr>
            <a:picLocks noChangeAspect="1" noChangeArrowheads="1"/>
          </p:cNvPicPr>
          <p:nvPr/>
        </p:nvPicPr>
        <p:blipFill>
          <a:blip r:embed="rId4">
            <a:lum contrast="20000"/>
            <a:extLst>
              <a:ext uri="{28A0092B-C50C-407E-A947-70E740481C1C}">
                <a14:useLocalDpi xmlns:a14="http://schemas.microsoft.com/office/drawing/2010/main" val="0"/>
              </a:ext>
            </a:extLst>
          </a:blip>
          <a:srcRect/>
          <a:stretch>
            <a:fillRect/>
          </a:stretch>
        </p:blipFill>
        <p:spPr bwMode="auto">
          <a:xfrm>
            <a:off x="5043488" y="877888"/>
            <a:ext cx="3905250" cy="57959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73423" name="Text Box 15">
            <a:extLst>
              <a:ext uri="{FF2B5EF4-FFF2-40B4-BE49-F238E27FC236}">
                <a16:creationId xmlns:a16="http://schemas.microsoft.com/office/drawing/2014/main" id="{04C2A9B0-5631-494B-8015-77735434D495}"/>
              </a:ext>
            </a:extLst>
          </p:cNvPr>
          <p:cNvSpPr txBox="1">
            <a:spLocks noChangeArrowheads="1"/>
          </p:cNvSpPr>
          <p:nvPr/>
        </p:nvSpPr>
        <p:spPr bwMode="auto">
          <a:xfrm>
            <a:off x="3760788" y="6388100"/>
            <a:ext cx="11969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Calcite twins</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a:extLst>
              <a:ext uri="{FF2B5EF4-FFF2-40B4-BE49-F238E27FC236}">
                <a16:creationId xmlns:a16="http://schemas.microsoft.com/office/drawing/2014/main" id="{4D137A48-39D0-44FF-BD16-C8878220EAEB}"/>
              </a:ext>
            </a:extLst>
          </p:cNvPr>
          <p:cNvSpPr>
            <a:spLocks noGrp="1" noChangeArrowheads="1"/>
          </p:cNvSpPr>
          <p:nvPr>
            <p:ph type="title"/>
          </p:nvPr>
        </p:nvSpPr>
        <p:spPr>
          <a:noFill/>
        </p:spPr>
        <p:txBody>
          <a:bodyPr/>
          <a:lstStyle/>
          <a:p>
            <a:r>
              <a:rPr lang="en-GB" altLang="en-US">
                <a:effectLst/>
              </a:rPr>
              <a:t>Palaeostress techniques: stress magnitudes</a:t>
            </a:r>
          </a:p>
        </p:txBody>
      </p:sp>
      <p:pic>
        <p:nvPicPr>
          <p:cNvPr id="311300" name="Picture 4" descr="05d">
            <a:extLst>
              <a:ext uri="{FF2B5EF4-FFF2-40B4-BE49-F238E27FC236}">
                <a16:creationId xmlns:a16="http://schemas.microsoft.com/office/drawing/2014/main" id="{7209A309-E0A8-4F57-BDC4-9CFDEFEF3923}"/>
              </a:ext>
            </a:extLst>
          </p:cNvPr>
          <p:cNvPicPr>
            <a:picLocks noGrp="1" noChangeAspect="1" noChangeArrowheads="1"/>
          </p:cNvPicPr>
          <p:nvPr>
            <p:ph sz="half" idx="1"/>
          </p:nvPr>
        </p:nvPicPr>
        <p:blipFill>
          <a:blip r:embed="rId3">
            <a:lum bright="-4000"/>
            <a:extLst>
              <a:ext uri="{28A0092B-C50C-407E-A947-70E740481C1C}">
                <a14:useLocalDpi xmlns:a14="http://schemas.microsoft.com/office/drawing/2010/main" val="0"/>
              </a:ext>
            </a:extLst>
          </a:blip>
          <a:srcRect/>
          <a:stretch>
            <a:fillRect/>
          </a:stretch>
        </p:blipFill>
        <p:spPr>
          <a:xfrm>
            <a:off x="604838" y="3787775"/>
            <a:ext cx="3667125" cy="24907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1299" name="Text Box 3">
            <a:extLst>
              <a:ext uri="{FF2B5EF4-FFF2-40B4-BE49-F238E27FC236}">
                <a16:creationId xmlns:a16="http://schemas.microsoft.com/office/drawing/2014/main" id="{3F6DE252-4C6B-4CA9-8B4F-5BCCB6018088}"/>
              </a:ext>
            </a:extLst>
          </p:cNvPr>
          <p:cNvSpPr txBox="1">
            <a:spLocks noChangeArrowheads="1"/>
          </p:cNvSpPr>
          <p:nvPr/>
        </p:nvSpPr>
        <p:spPr bwMode="auto">
          <a:xfrm>
            <a:off x="112713" y="833438"/>
            <a:ext cx="8853487" cy="277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630238" indent="-268288">
              <a:defRPr sz="1600">
                <a:solidFill>
                  <a:schemeClr val="tx1"/>
                </a:solidFill>
                <a:latin typeface="Helvetica" panose="020B0604020202020204" pitchFamily="34" charset="0"/>
              </a:defRPr>
            </a:lvl2pPr>
            <a:lvl3pPr marL="1289050" indent="-304800">
              <a:defRPr sz="1600">
                <a:solidFill>
                  <a:schemeClr val="tx1"/>
                </a:solidFill>
                <a:latin typeface="Helvetica" panose="020B0604020202020204" pitchFamily="34" charset="0"/>
              </a:defRPr>
            </a:lvl3pPr>
            <a:lvl4pPr marL="1773238" indent="-304800">
              <a:defRPr sz="1600">
                <a:solidFill>
                  <a:schemeClr val="tx1"/>
                </a:solidFill>
                <a:latin typeface="Helvetica" panose="020B0604020202020204" pitchFamily="34" charset="0"/>
              </a:defRPr>
            </a:lvl4pPr>
            <a:lvl5pPr marL="2257425" indent="-304800">
              <a:defRPr sz="1600">
                <a:solidFill>
                  <a:schemeClr val="tx1"/>
                </a:solidFill>
                <a:latin typeface="Helvetica" panose="020B0604020202020204" pitchFamily="34" charset="0"/>
              </a:defRPr>
            </a:lvl5pPr>
            <a:lvl6pPr marL="27146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718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290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862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50000"/>
              </a:spcBef>
              <a:buClr>
                <a:schemeClr val="folHlink"/>
              </a:buClr>
              <a:buSzPct val="100000"/>
              <a:buFont typeface="Times" panose="02020603050405020304" pitchFamily="18" charset="0"/>
              <a:buChar char="•"/>
            </a:pPr>
            <a:r>
              <a:rPr lang="en-GB" altLang="en-US" sz="1700" dirty="0">
                <a:effectLst>
                  <a:outerShdw blurRad="38100" dist="38100" dir="2700000" algn="tl">
                    <a:srgbClr val="000000"/>
                  </a:outerShdw>
                </a:effectLst>
                <a:latin typeface="Arial" panose="020B0604020202020204" pitchFamily="34" charset="0"/>
              </a:rPr>
              <a:t>As </a:t>
            </a:r>
            <a:r>
              <a:rPr lang="en-GB" altLang="en-US" sz="1700" dirty="0">
                <a:solidFill>
                  <a:srgbClr val="FF6600"/>
                </a:solidFill>
                <a:effectLst>
                  <a:outerShdw blurRad="38100" dist="38100" dir="2700000" algn="tl">
                    <a:srgbClr val="000000"/>
                  </a:outerShdw>
                </a:effectLst>
                <a:latin typeface="Arial" panose="020B0604020202020204" pitchFamily="34" charset="0"/>
              </a:rPr>
              <a:t>principal stress magnitude</a:t>
            </a:r>
            <a:r>
              <a:rPr lang="en-GB" altLang="en-US" sz="1700" dirty="0">
                <a:effectLst>
                  <a:outerShdw blurRad="38100" dist="38100" dir="2700000" algn="tl">
                    <a:srgbClr val="000000"/>
                  </a:outerShdw>
                </a:effectLst>
                <a:latin typeface="Arial" panose="020B0604020202020204" pitchFamily="34" charset="0"/>
              </a:rPr>
              <a:t> increases:</a:t>
            </a:r>
          </a:p>
          <a:p>
            <a:pPr>
              <a:lnSpc>
                <a:spcPct val="120000"/>
              </a:lnSpc>
              <a:spcBef>
                <a:spcPct val="50000"/>
              </a:spcBef>
              <a:buClr>
                <a:schemeClr val="folHlink"/>
              </a:buClr>
              <a:buSzPct val="100000"/>
              <a:buFont typeface="Times" panose="02020603050405020304" pitchFamily="18" charset="0"/>
              <a:buNone/>
            </a:pPr>
            <a:r>
              <a:rPr lang="en-GB" altLang="en-US" sz="1700" dirty="0">
                <a:effectLst>
                  <a:outerShdw blurRad="38100" dist="38100" dir="2700000" algn="tl">
                    <a:srgbClr val="000000"/>
                  </a:outerShdw>
                </a:effectLst>
                <a:latin typeface="Arial" panose="020B0604020202020204" pitchFamily="34" charset="0"/>
              </a:rPr>
              <a:t>	increased </a:t>
            </a:r>
            <a:r>
              <a:rPr lang="en-GB" altLang="en-US" sz="1700" dirty="0">
                <a:solidFill>
                  <a:srgbClr val="FF66CC"/>
                </a:solidFill>
                <a:effectLst>
                  <a:outerShdw blurRad="38100" dist="38100" dir="2700000" algn="tl">
                    <a:srgbClr val="000000"/>
                  </a:outerShdw>
                </a:effectLst>
                <a:latin typeface="Arial" panose="020B0604020202020204" pitchFamily="34" charset="0"/>
              </a:rPr>
              <a:t>incidence of</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calcite twinning</a:t>
            </a:r>
          </a:p>
          <a:p>
            <a:pPr>
              <a:lnSpc>
                <a:spcPct val="120000"/>
              </a:lnSpc>
              <a:buClr>
                <a:schemeClr val="folHlink"/>
              </a:buClr>
              <a:buSzPct val="100000"/>
              <a:buFont typeface="Times" panose="02020603050405020304" pitchFamily="18" charset="0"/>
              <a:buNone/>
            </a:pPr>
            <a:r>
              <a:rPr lang="en-GB" altLang="en-US" sz="1700" dirty="0">
                <a:effectLst>
                  <a:outerShdw blurRad="38100" dist="38100" dir="2700000" algn="tl">
                    <a:srgbClr val="000000"/>
                  </a:outerShdw>
                </a:effectLst>
                <a:latin typeface="Arial" panose="020B0604020202020204" pitchFamily="34" charset="0"/>
              </a:rPr>
              <a:t>	increased </a:t>
            </a:r>
            <a:r>
              <a:rPr lang="en-GB" altLang="en-US" sz="1700" dirty="0">
                <a:solidFill>
                  <a:srgbClr val="FF66CC"/>
                </a:solidFill>
                <a:effectLst>
                  <a:outerShdw blurRad="38100" dist="38100" dir="2700000" algn="tl">
                    <a:srgbClr val="000000"/>
                  </a:outerShdw>
                </a:effectLst>
                <a:latin typeface="Arial" panose="020B0604020202020204" pitchFamily="34" charset="0"/>
              </a:rPr>
              <a:t>dislocation density</a:t>
            </a:r>
          </a:p>
          <a:p>
            <a:pPr>
              <a:lnSpc>
                <a:spcPct val="120000"/>
              </a:lnSpc>
              <a:buClr>
                <a:schemeClr val="folHlink"/>
              </a:buClr>
              <a:buSzPct val="100000"/>
              <a:buFont typeface="Times" panose="02020603050405020304" pitchFamily="18" charset="0"/>
              <a:buNone/>
            </a:pPr>
            <a:r>
              <a:rPr lang="en-GB" altLang="en-US" sz="1700" dirty="0">
                <a:effectLst>
                  <a:outerShdw blurRad="38100" dist="38100" dir="2700000" algn="tl">
                    <a:srgbClr val="000000"/>
                  </a:outerShdw>
                </a:effectLst>
                <a:latin typeface="Arial" panose="020B0604020202020204" pitchFamily="34" charset="0"/>
              </a:rPr>
              <a:t>	decreased </a:t>
            </a:r>
            <a:r>
              <a:rPr lang="en-GB" altLang="en-US" sz="1700" dirty="0" err="1">
                <a:solidFill>
                  <a:srgbClr val="FF66CC"/>
                </a:solidFill>
                <a:effectLst>
                  <a:outerShdw blurRad="38100" dist="38100" dir="2700000" algn="tl">
                    <a:srgbClr val="000000"/>
                  </a:outerShdw>
                </a:effectLst>
                <a:latin typeface="Arial" panose="020B0604020202020204" pitchFamily="34" charset="0"/>
              </a:rPr>
              <a:t>subgrain</a:t>
            </a:r>
            <a:r>
              <a:rPr lang="en-GB" altLang="en-US" sz="1700" dirty="0">
                <a:solidFill>
                  <a:srgbClr val="FF66CC"/>
                </a:solidFill>
                <a:effectLst>
                  <a:outerShdw blurRad="38100" dist="38100" dir="2700000" algn="tl">
                    <a:srgbClr val="000000"/>
                  </a:outerShdw>
                </a:effectLst>
                <a:latin typeface="Arial" panose="020B0604020202020204" pitchFamily="34" charset="0"/>
              </a:rPr>
              <a:t> diameter</a:t>
            </a:r>
          </a:p>
          <a:p>
            <a:pPr>
              <a:lnSpc>
                <a:spcPct val="120000"/>
              </a:lnSpc>
              <a:buClr>
                <a:schemeClr val="folHlink"/>
              </a:buClr>
              <a:buSzPct val="100000"/>
              <a:buFont typeface="Times" panose="02020603050405020304" pitchFamily="18" charset="0"/>
              <a:buNone/>
            </a:pPr>
            <a:r>
              <a:rPr lang="en-GB" altLang="en-US" sz="1700" dirty="0">
                <a:effectLst>
                  <a:outerShdw blurRad="38100" dist="38100" dir="2700000" algn="tl">
                    <a:srgbClr val="000000"/>
                  </a:outerShdw>
                </a:effectLst>
                <a:latin typeface="Arial" panose="020B0604020202020204" pitchFamily="34" charset="0"/>
              </a:rPr>
              <a:t>	</a:t>
            </a:r>
            <a:r>
              <a:rPr lang="en-GB" altLang="en-US" sz="1700" dirty="0" err="1">
                <a:effectLst>
                  <a:outerShdw blurRad="38100" dist="38100" dir="2700000" algn="tl">
                    <a:srgbClr val="000000"/>
                  </a:outerShdw>
                </a:effectLst>
                <a:latin typeface="Arial" panose="020B0604020202020204" pitchFamily="34" charset="0"/>
              </a:rPr>
              <a:t>decr</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dynamically recrystallized grain size</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85000"/>
              </a:spcBef>
              <a:buClr>
                <a:schemeClr val="folHlink"/>
              </a:buClr>
              <a:buSzPct val="100000"/>
              <a:buFont typeface="Times" panose="02020603050405020304" pitchFamily="18" charset="0"/>
              <a:buNone/>
            </a:pPr>
            <a:r>
              <a:rPr lang="en-GB" altLang="en-US" sz="1700" dirty="0">
                <a:effectLst>
                  <a:outerShdw blurRad="38100" dist="38100" dir="2700000" algn="tl">
                    <a:srgbClr val="000000"/>
                  </a:outerShdw>
                </a:effectLst>
                <a:latin typeface="Arial" panose="020B0604020202020204" pitchFamily="34" charset="0"/>
              </a:rPr>
              <a:t>	Some of these </a:t>
            </a:r>
            <a:r>
              <a:rPr lang="en-GB" altLang="en-US" sz="1700" dirty="0">
                <a:solidFill>
                  <a:srgbClr val="FF6600"/>
                </a:solidFill>
                <a:effectLst>
                  <a:outerShdw blurRad="38100" dist="38100" dir="2700000" algn="tl">
                    <a:srgbClr val="000000"/>
                  </a:outerShdw>
                </a:effectLst>
                <a:latin typeface="Arial" panose="020B0604020202020204" pitchFamily="34" charset="0"/>
              </a:rPr>
              <a:t>piezometers</a:t>
            </a:r>
            <a:r>
              <a:rPr lang="en-GB" altLang="en-US" sz="1700" dirty="0">
                <a:effectLst>
                  <a:outerShdw blurRad="38100" dist="38100" dir="2700000" algn="tl">
                    <a:srgbClr val="000000"/>
                  </a:outerShdw>
                </a:effectLst>
                <a:latin typeface="Arial" panose="020B0604020202020204" pitchFamily="34" charset="0"/>
              </a:rPr>
              <a:t> have a strong theoretical foundation and are not merely empirical calibrations from laboratory deformation experiments</a:t>
            </a:r>
          </a:p>
        </p:txBody>
      </p:sp>
      <p:pic>
        <p:nvPicPr>
          <p:cNvPr id="311304" name="Picture 8" descr="05c">
            <a:extLst>
              <a:ext uri="{FF2B5EF4-FFF2-40B4-BE49-F238E27FC236}">
                <a16:creationId xmlns:a16="http://schemas.microsoft.com/office/drawing/2014/main" id="{9836FABC-1C2B-4A3E-ACB1-0783842B1163}"/>
              </a:ext>
            </a:extLst>
          </p:cNvPr>
          <p:cNvPicPr>
            <a:picLocks noGrp="1" noChangeAspect="1" noChangeArrowheads="1"/>
          </p:cNvPicPr>
          <p:nvPr>
            <p:ph sz="quarter" idx="3"/>
          </p:nvPr>
        </p:nvPicPr>
        <p:blipFill>
          <a:blip r:embed="rId4">
            <a:lum bright="-10000"/>
            <a:extLst>
              <a:ext uri="{28A0092B-C50C-407E-A947-70E740481C1C}">
                <a14:useLocalDpi xmlns:a14="http://schemas.microsoft.com/office/drawing/2010/main" val="0"/>
              </a:ext>
            </a:extLst>
          </a:blip>
          <a:srcRect/>
          <a:stretch>
            <a:fillRect/>
          </a:stretch>
        </p:blipFill>
        <p:spPr>
          <a:xfrm>
            <a:off x="4811713" y="3787775"/>
            <a:ext cx="3721100" cy="25146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1312" name="Text Box 16">
            <a:extLst>
              <a:ext uri="{FF2B5EF4-FFF2-40B4-BE49-F238E27FC236}">
                <a16:creationId xmlns:a16="http://schemas.microsoft.com/office/drawing/2014/main" id="{01ACA9C3-E190-477E-BFDB-8B427C6636B7}"/>
              </a:ext>
            </a:extLst>
          </p:cNvPr>
          <p:cNvSpPr txBox="1">
            <a:spLocks noChangeArrowheads="1"/>
          </p:cNvSpPr>
          <p:nvPr/>
        </p:nvSpPr>
        <p:spPr bwMode="auto">
          <a:xfrm>
            <a:off x="971550" y="6372225"/>
            <a:ext cx="75866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FF00"/>
                </a:solidFill>
                <a:effectLst>
                  <a:outerShdw blurRad="38100" dist="38100" dir="2700000" algn="tl">
                    <a:srgbClr val="000000"/>
                  </a:outerShdw>
                </a:effectLst>
              </a:rPr>
              <a:t>        </a:t>
            </a:r>
            <a:r>
              <a:rPr lang="en-GB" altLang="en-US" sz="1400">
                <a:solidFill>
                  <a:srgbClr val="FFFF00"/>
                </a:solidFill>
                <a:effectLst>
                  <a:outerShdw blurRad="38100" dist="38100" dir="2700000" algn="tl">
                    <a:srgbClr val="000000"/>
                  </a:outerShdw>
                </a:effectLst>
                <a:latin typeface="Arial" panose="020B0604020202020204" pitchFamily="34" charset="0"/>
              </a:rPr>
              <a:t>dislocations in quartz		               dynamically recrystallized quartz</a:t>
            </a:r>
          </a:p>
        </p:txBody>
      </p:sp>
      <p:pic>
        <p:nvPicPr>
          <p:cNvPr id="311313" name="Picture 17" descr="05e">
            <a:extLst>
              <a:ext uri="{FF2B5EF4-FFF2-40B4-BE49-F238E27FC236}">
                <a16:creationId xmlns:a16="http://schemas.microsoft.com/office/drawing/2014/main" id="{2A7CBA77-F617-4DB9-AB9B-5DADEDB825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8188" y="889000"/>
            <a:ext cx="4446587" cy="19034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11311" name="Text Box 15">
            <a:extLst>
              <a:ext uri="{FF2B5EF4-FFF2-40B4-BE49-F238E27FC236}">
                <a16:creationId xmlns:a16="http://schemas.microsoft.com/office/drawing/2014/main" id="{DDBC6DA8-F782-47C0-9AD2-28491EF72AA6}"/>
              </a:ext>
            </a:extLst>
          </p:cNvPr>
          <p:cNvSpPr txBox="1">
            <a:spLocks noChangeArrowheads="1"/>
          </p:cNvSpPr>
          <p:nvPr/>
        </p:nvSpPr>
        <p:spPr bwMode="auto">
          <a:xfrm rot="-5400000">
            <a:off x="4220369" y="1518444"/>
            <a:ext cx="8302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dirty="0">
                <a:solidFill>
                  <a:schemeClr val="bg2"/>
                </a:solidFill>
                <a:effectLst/>
                <a:latin typeface="Arial" panose="020B0604020202020204" pitchFamily="34" charset="0"/>
              </a:rPr>
              <a:t>(</a:t>
            </a:r>
            <a:r>
              <a:rPr lang="el-GR" altLang="en-US" sz="1000" i="1" dirty="0">
                <a:solidFill>
                  <a:schemeClr val="bg2"/>
                </a:solidFill>
                <a:effectLst/>
                <a:latin typeface="Cambria Math" panose="02040503050406030204" pitchFamily="18" charset="0"/>
                <a:ea typeface="Cambria Math" panose="02040503050406030204" pitchFamily="18" charset="0"/>
              </a:rPr>
              <a:t>σ</a:t>
            </a:r>
            <a:r>
              <a:rPr lang="en-GB" altLang="en-US" sz="1000" baseline="-25000" dirty="0">
                <a:solidFill>
                  <a:schemeClr val="bg2"/>
                </a:solidFill>
                <a:effectLst/>
                <a:latin typeface="Arial" panose="020B0604020202020204" pitchFamily="34" charset="0"/>
              </a:rPr>
              <a:t>1</a:t>
            </a:r>
            <a:r>
              <a:rPr lang="en-GB" altLang="en-US" sz="1000" dirty="0">
                <a:solidFill>
                  <a:schemeClr val="bg2"/>
                </a:solidFill>
                <a:effectLst/>
                <a:latin typeface="Arial" panose="020B0604020202020204" pitchFamily="34" charset="0"/>
              </a:rPr>
              <a:t>-</a:t>
            </a:r>
            <a:r>
              <a:rPr lang="el-GR" altLang="en-US" sz="1000" i="1" dirty="0">
                <a:solidFill>
                  <a:schemeClr val="bg2"/>
                </a:solidFill>
                <a:effectLst/>
                <a:latin typeface="Cambria Math" panose="02040503050406030204" pitchFamily="18" charset="0"/>
                <a:ea typeface="Cambria Math" panose="02040503050406030204" pitchFamily="18" charset="0"/>
              </a:rPr>
              <a:t>σ</a:t>
            </a:r>
            <a:r>
              <a:rPr lang="en-GB" altLang="en-US" sz="1000" baseline="-25000" dirty="0">
                <a:solidFill>
                  <a:schemeClr val="bg2"/>
                </a:solidFill>
                <a:effectLst/>
                <a:latin typeface="Arial" panose="020B0604020202020204" pitchFamily="34" charset="0"/>
              </a:rPr>
              <a:t>3</a:t>
            </a:r>
            <a:r>
              <a:rPr lang="en-GB" altLang="en-US" sz="1000" baseline="-25000" dirty="0">
                <a:solidFill>
                  <a:schemeClr val="bg2"/>
                </a:solidFill>
                <a:effectLst/>
              </a:rPr>
              <a:t> </a:t>
            </a:r>
            <a:r>
              <a:rPr lang="en-GB" altLang="en-US" sz="1000" dirty="0">
                <a:solidFill>
                  <a:schemeClr val="bg2"/>
                </a:solidFill>
                <a:effectLst/>
                <a:latin typeface="Arial" panose="020B0604020202020204" pitchFamily="34" charset="0"/>
              </a:rPr>
              <a:t>) / </a:t>
            </a:r>
            <a:r>
              <a:rPr lang="en-GB" altLang="en-US" sz="1000" i="1" dirty="0">
                <a:solidFill>
                  <a:schemeClr val="bg2"/>
                </a:solidFill>
                <a:effectLst/>
                <a:latin typeface="Arial" panose="020B0604020202020204" pitchFamily="34" charset="0"/>
              </a:rPr>
              <a:t>G</a:t>
            </a:r>
          </a:p>
        </p:txBody>
      </p:sp>
      <p:sp>
        <p:nvSpPr>
          <p:cNvPr id="311310" name="Text Box 14">
            <a:extLst>
              <a:ext uri="{FF2B5EF4-FFF2-40B4-BE49-F238E27FC236}">
                <a16:creationId xmlns:a16="http://schemas.microsoft.com/office/drawing/2014/main" id="{409E8CEF-4EB8-4733-BAB1-FD4B807026B7}"/>
              </a:ext>
            </a:extLst>
          </p:cNvPr>
          <p:cNvSpPr txBox="1">
            <a:spLocks noChangeArrowheads="1"/>
          </p:cNvSpPr>
          <p:nvPr/>
        </p:nvSpPr>
        <p:spPr bwMode="auto">
          <a:xfrm rot="-5400000">
            <a:off x="6497638" y="1525587"/>
            <a:ext cx="8763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i="1">
                <a:solidFill>
                  <a:schemeClr val="bg2"/>
                </a:solidFill>
                <a:effectLst/>
                <a:latin typeface="Symbol" panose="05050102010706020507" pitchFamily="18" charset="2"/>
              </a:rPr>
              <a:t>s</a:t>
            </a:r>
            <a:r>
              <a:rPr lang="en-GB" altLang="en-US" sz="1000" baseline="-25000">
                <a:solidFill>
                  <a:schemeClr val="bg2"/>
                </a:solidFill>
                <a:effectLst/>
                <a:latin typeface="Arial" panose="020B0604020202020204" pitchFamily="34" charset="0"/>
              </a:rPr>
              <a:t>1</a:t>
            </a:r>
            <a:r>
              <a:rPr lang="en-GB" altLang="en-US" sz="1000">
                <a:solidFill>
                  <a:schemeClr val="bg2"/>
                </a:solidFill>
                <a:effectLst/>
                <a:latin typeface="Arial" panose="020B0604020202020204" pitchFamily="34" charset="0"/>
              </a:rPr>
              <a:t>-</a:t>
            </a:r>
            <a:r>
              <a:rPr lang="en-GB" altLang="en-US" sz="1000" i="1">
                <a:solidFill>
                  <a:schemeClr val="bg2"/>
                </a:solidFill>
                <a:effectLst/>
                <a:latin typeface="Symbol" panose="05050102010706020507" pitchFamily="18" charset="2"/>
              </a:rPr>
              <a:t>s</a:t>
            </a:r>
            <a:r>
              <a:rPr lang="en-GB" altLang="en-US" sz="1000" baseline="-25000">
                <a:solidFill>
                  <a:schemeClr val="bg2"/>
                </a:solidFill>
                <a:effectLst/>
                <a:latin typeface="Arial" panose="020B0604020202020204" pitchFamily="34" charset="0"/>
              </a:rPr>
              <a:t>3 </a:t>
            </a:r>
            <a:r>
              <a:rPr lang="en-GB" altLang="en-US" sz="1000">
                <a:solidFill>
                  <a:schemeClr val="bg2"/>
                </a:solidFill>
                <a:effectLst/>
                <a:latin typeface="Arial" panose="020B0604020202020204" pitchFamily="34" charset="0"/>
              </a:rPr>
              <a:t>(MPa)</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D6C18FE1-BD57-41EF-81E4-834D0B5E6F9A}"/>
              </a:ext>
            </a:extLst>
          </p:cNvPr>
          <p:cNvSpPr>
            <a:spLocks noGrp="1" noChangeArrowheads="1"/>
          </p:cNvSpPr>
          <p:nvPr>
            <p:ph type="ctrTitle" idx="4294967295"/>
          </p:nvPr>
        </p:nvSpPr>
        <p:spPr bwMode="black">
          <a:xfrm>
            <a:off x="239713" y="1595438"/>
            <a:ext cx="8705850" cy="19558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The state of stress in the lithosphere</a:t>
            </a:r>
            <a:endParaRPr lang="en-US" altLang="en-US">
              <a:solidFill>
                <a:srgbClr val="FF6600"/>
              </a:solidFill>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a:extLst>
              <a:ext uri="{FF2B5EF4-FFF2-40B4-BE49-F238E27FC236}">
                <a16:creationId xmlns:a16="http://schemas.microsoft.com/office/drawing/2014/main" id="{076F8ED7-982F-4381-B5C0-D6E0D1319B00}"/>
              </a:ext>
            </a:extLst>
          </p:cNvPr>
          <p:cNvSpPr>
            <a:spLocks noGrp="1" noChangeArrowheads="1"/>
          </p:cNvSpPr>
          <p:nvPr>
            <p:ph type="title"/>
          </p:nvPr>
        </p:nvSpPr>
        <p:spPr>
          <a:noFill/>
        </p:spPr>
        <p:txBody>
          <a:bodyPr/>
          <a:lstStyle/>
          <a:p>
            <a:r>
              <a:rPr lang="en-GB" altLang="en-US">
                <a:effectLst/>
              </a:rPr>
              <a:t>One principal stress is vertical</a:t>
            </a:r>
          </a:p>
        </p:txBody>
      </p:sp>
      <p:pic>
        <p:nvPicPr>
          <p:cNvPr id="279557" name="Picture 5" descr="05a1">
            <a:extLst>
              <a:ext uri="{FF2B5EF4-FFF2-40B4-BE49-F238E27FC236}">
                <a16:creationId xmlns:a16="http://schemas.microsoft.com/office/drawing/2014/main" id="{14BA3A3A-3E43-488F-9F9F-792472EE01B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3952875" y="2500313"/>
            <a:ext cx="2054225" cy="23034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9555" name="Text Box 3">
            <a:extLst>
              <a:ext uri="{FF2B5EF4-FFF2-40B4-BE49-F238E27FC236}">
                <a16:creationId xmlns:a16="http://schemas.microsoft.com/office/drawing/2014/main" id="{2FA0EB96-4B52-4D03-8972-34CB7C733C19}"/>
              </a:ext>
            </a:extLst>
          </p:cNvPr>
          <p:cNvSpPr txBox="1">
            <a:spLocks noChangeArrowheads="1"/>
          </p:cNvSpPr>
          <p:nvPr/>
        </p:nvSpPr>
        <p:spPr bwMode="auto">
          <a:xfrm>
            <a:off x="112713" y="833438"/>
            <a:ext cx="889793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Rocks at the Earth’s surface are in contact with air or water, neither of which can sustain a shear stress. Hence there is </a:t>
            </a:r>
            <a:r>
              <a:rPr lang="en-GB" altLang="en-US" sz="1700" dirty="0">
                <a:solidFill>
                  <a:srgbClr val="FF66CC"/>
                </a:solidFill>
                <a:effectLst/>
                <a:latin typeface="Arial" panose="020B0604020202020204" pitchFamily="34" charset="0"/>
              </a:rPr>
              <a:t>no shear stress at the Earth’s surface</a:t>
            </a:r>
            <a:r>
              <a:rPr lang="en-GB" altLang="en-US" sz="1700" dirty="0">
                <a:effectLst/>
                <a:latin typeface="Arial" panose="020B0604020202020204" pitchFamily="34" charset="0"/>
              </a:rPr>
              <a:t> and so one of the principal stresses at the Earth’s surface </a:t>
            </a:r>
            <a:r>
              <a:rPr lang="en-GB" altLang="en-US" sz="1700" dirty="0">
                <a:solidFill>
                  <a:srgbClr val="FF6600"/>
                </a:solidFill>
                <a:effectLst/>
                <a:latin typeface="Arial" panose="020B0604020202020204" pitchFamily="34" charset="0"/>
              </a:rPr>
              <a:t>must be vertical</a:t>
            </a:r>
            <a:r>
              <a:rPr lang="en-GB" altLang="en-US" sz="1700" dirty="0">
                <a:effectLst/>
                <a:latin typeface="Arial" panose="020B0604020202020204" pitchFamily="34" charset="0"/>
              </a:rPr>
              <a:t> and the other two horizontal</a:t>
            </a:r>
          </a:p>
          <a:p>
            <a:pPr>
              <a:lnSpc>
                <a:spcPct val="120000"/>
              </a:lnSpc>
              <a:spcBef>
                <a:spcPts val="12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Existing data suggests that this is a good approximation throughout the </a:t>
            </a:r>
            <a:r>
              <a:rPr lang="en-GB" altLang="en-US" sz="1700" dirty="0">
                <a:solidFill>
                  <a:srgbClr val="FF66CC"/>
                </a:solidFill>
                <a:effectLst/>
                <a:latin typeface="Arial" panose="020B0604020202020204" pitchFamily="34" charset="0"/>
              </a:rPr>
              <a:t>upper crust</a:t>
            </a:r>
            <a:r>
              <a:rPr lang="en-GB" altLang="en-US" sz="1700" dirty="0">
                <a:effectLst/>
                <a:latin typeface="Arial" panose="020B0604020202020204" pitchFamily="34" charset="0"/>
              </a:rPr>
              <a:t> (that is, to a depth of 1</a:t>
            </a:r>
            <a:r>
              <a:rPr lang="en-GB" altLang="en-US" sz="1700" spc="200" dirty="0">
                <a:effectLst/>
                <a:latin typeface="Arial" panose="020B0604020202020204" pitchFamily="34" charset="0"/>
              </a:rPr>
              <a:t>5-</a:t>
            </a:r>
            <a:r>
              <a:rPr lang="en-GB" altLang="en-US" sz="1700" dirty="0">
                <a:effectLst/>
                <a:latin typeface="Arial" panose="020B0604020202020204" pitchFamily="34" charset="0"/>
              </a:rPr>
              <a:t>20 km)</a:t>
            </a:r>
          </a:p>
        </p:txBody>
      </p:sp>
      <p:sp>
        <p:nvSpPr>
          <p:cNvPr id="279556" name="Text Box 4">
            <a:extLst>
              <a:ext uri="{FF2B5EF4-FFF2-40B4-BE49-F238E27FC236}">
                <a16:creationId xmlns:a16="http://schemas.microsoft.com/office/drawing/2014/main" id="{E055B33A-DE73-4FCE-8CBE-EA0CFE929462}"/>
              </a:ext>
            </a:extLst>
          </p:cNvPr>
          <p:cNvSpPr txBox="1">
            <a:spLocks noChangeArrowheads="1"/>
          </p:cNvSpPr>
          <p:nvPr/>
        </p:nvSpPr>
        <p:spPr bwMode="auto">
          <a:xfrm>
            <a:off x="100012" y="2691888"/>
            <a:ext cx="3668713" cy="3882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tabLst>
                <a:tab pos="182563" algn="l"/>
              </a:tabLst>
              <a:defRPr sz="1600">
                <a:solidFill>
                  <a:schemeClr val="tx1"/>
                </a:solidFill>
                <a:latin typeface="Helvetica" panose="020B0604020202020204" pitchFamily="34" charset="0"/>
              </a:defRPr>
            </a:lvl1pPr>
            <a:lvl2pPr>
              <a:tabLst>
                <a:tab pos="182563" algn="l"/>
              </a:tabLst>
              <a:defRPr sz="1600">
                <a:solidFill>
                  <a:schemeClr val="tx1"/>
                </a:solidFill>
                <a:latin typeface="Helvetica" panose="020B0604020202020204" pitchFamily="34" charset="0"/>
              </a:defRPr>
            </a:lvl2pPr>
            <a:lvl3pPr>
              <a:tabLst>
                <a:tab pos="182563" algn="l"/>
              </a:tabLst>
              <a:defRPr sz="1600">
                <a:solidFill>
                  <a:schemeClr val="tx1"/>
                </a:solidFill>
                <a:latin typeface="Helvetica" panose="020B0604020202020204" pitchFamily="34" charset="0"/>
              </a:defRPr>
            </a:lvl3pPr>
            <a:lvl4pPr>
              <a:tabLst>
                <a:tab pos="182563" algn="l"/>
              </a:tabLst>
              <a:defRPr sz="1600">
                <a:solidFill>
                  <a:schemeClr val="tx1"/>
                </a:solidFill>
                <a:latin typeface="Helvetica" panose="020B0604020202020204" pitchFamily="34" charset="0"/>
              </a:defRPr>
            </a:lvl4pPr>
            <a:lvl5pPr>
              <a:tabLst>
                <a:tab pos="182563" algn="l"/>
              </a:tabLst>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9pPr>
          </a:lstStyle>
          <a:p>
            <a:pPr>
              <a:lnSpc>
                <a:spcPct val="120000"/>
              </a:lnSpc>
              <a:buClr>
                <a:schemeClr val="tx1"/>
              </a:buClr>
              <a:buFontTx/>
              <a:buChar char="•"/>
            </a:pPr>
            <a:r>
              <a:rPr lang="en-GB" altLang="en-US" sz="1700" dirty="0">
                <a:effectLst/>
                <a:latin typeface="Arial" panose="020B0604020202020204" pitchFamily="34" charset="0"/>
              </a:rPr>
              <a:t>The vertical stress is usually set equal to the </a:t>
            </a:r>
            <a:r>
              <a:rPr lang="en-GB" altLang="en-US" sz="1700" dirty="0">
                <a:solidFill>
                  <a:srgbClr val="FF66CC"/>
                </a:solidFill>
                <a:effectLst/>
                <a:latin typeface="Arial" panose="020B0604020202020204" pitchFamily="34" charset="0"/>
              </a:rPr>
              <a:t>overburden</a:t>
            </a:r>
            <a:r>
              <a:rPr lang="en-GB" altLang="en-US" sz="1700" dirty="0">
                <a:effectLst/>
                <a:latin typeface="Arial" panose="020B0604020202020204" pitchFamily="34" charset="0"/>
              </a:rPr>
              <a:t> given by</a:t>
            </a:r>
          </a:p>
          <a:p>
            <a:pPr>
              <a:lnSpc>
                <a:spcPct val="120000"/>
              </a:lnSpc>
              <a:spcBef>
                <a:spcPts val="600"/>
              </a:spcBef>
              <a:spcAft>
                <a:spcPts val="600"/>
              </a:spcAft>
              <a:buClr>
                <a:schemeClr val="tx1"/>
              </a:buClr>
            </a:pPr>
            <a:r>
              <a:rPr lang="en-GB" altLang="en-US" sz="1700" i="1"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v</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roc</a:t>
            </a:r>
            <a:r>
              <a:rPr lang="en-GB" altLang="en-US" sz="1700" i="1" spc="400" baseline="-25000" dirty="0" err="1">
                <a:solidFill>
                  <a:srgbClr val="FFFF00"/>
                </a:solidFill>
                <a:effectLst>
                  <a:outerShdw blurRad="38100" dist="38100" dir="2700000" algn="tl">
                    <a:srgbClr val="000000"/>
                  </a:outerShdw>
                </a:effectLst>
                <a:latin typeface="Arial" panose="020B0604020202020204" pitchFamily="34" charset="0"/>
              </a:rPr>
              <a:t>k</a:t>
            </a:r>
            <a:r>
              <a:rPr lang="en-GB" altLang="en-US" sz="1700" i="1" spc="300" dirty="0" err="1">
                <a:solidFill>
                  <a:srgbClr val="FFFF00"/>
                </a:solidFill>
                <a:effectLst>
                  <a:outerShdw blurRad="38100" dist="38100" dir="2700000" algn="tl">
                    <a:srgbClr val="000000"/>
                  </a:outerShdw>
                </a:effectLst>
                <a:latin typeface="Arial" panose="020B0604020202020204" pitchFamily="34" charset="0"/>
              </a:rPr>
              <a:t>g</a:t>
            </a:r>
            <a:r>
              <a:rPr lang="en-GB" altLang="en-US" sz="1700" i="1" dirty="0" err="1">
                <a:solidFill>
                  <a:srgbClr val="FFFF00"/>
                </a:solidFill>
                <a:effectLst>
                  <a:outerShdw blurRad="38100" dist="38100" dir="2700000" algn="tl">
                    <a:srgbClr val="000000"/>
                  </a:outerShdw>
                </a:effectLst>
                <a:latin typeface="Arial" panose="020B0604020202020204" pitchFamily="34" charset="0"/>
              </a:rPr>
              <a:t>z</a:t>
            </a:r>
            <a:endParaRPr lang="en-GB" altLang="en-US" sz="1700" i="1" dirty="0">
              <a:solidFill>
                <a:srgbClr val="FFFF00"/>
              </a:solidFill>
              <a:effectLst>
                <a:outerShdw blurRad="38100" dist="38100" dir="2700000" algn="tl">
                  <a:srgbClr val="000000"/>
                </a:outerShdw>
              </a:effectLst>
              <a:latin typeface="Arial" panose="020B0604020202020204" pitchFamily="34" charset="0"/>
            </a:endParaRPr>
          </a:p>
          <a:p>
            <a:pPr>
              <a:lnSpc>
                <a:spcPct val="120000"/>
              </a:lnSpc>
              <a:spcBef>
                <a:spcPts val="0"/>
              </a:spcBef>
              <a:buClr>
                <a:schemeClr val="tx1"/>
              </a:buClr>
            </a:pPr>
            <a:r>
              <a:rPr lang="en-GB" altLang="en-US" sz="1700" i="1"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where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sz="1700" i="1" baseline="-25000" dirty="0">
                <a:solidFill>
                  <a:srgbClr val="FFFF00"/>
                </a:solidFill>
                <a:effectLst>
                  <a:outerShdw blurRad="38100" dist="38100" dir="2700000" algn="tl">
                    <a:srgbClr val="000000"/>
                  </a:outerShdw>
                </a:effectLst>
                <a:latin typeface="Arial" panose="020B0604020202020204" pitchFamily="34" charset="0"/>
              </a:rPr>
              <a:t>rock</a:t>
            </a:r>
            <a:r>
              <a:rPr lang="en-GB" altLang="en-US" sz="1700" dirty="0">
                <a:effectLst>
                  <a:outerShdw blurRad="38100" dist="38100" dir="2700000" algn="tl">
                    <a:srgbClr val="000000"/>
                  </a:outerShdw>
                </a:effectLst>
                <a:latin typeface="Arial" panose="020B0604020202020204" pitchFamily="34" charset="0"/>
              </a:rPr>
              <a:t> is the average density of the rock column to a depth of </a:t>
            </a:r>
            <a:r>
              <a:rPr lang="en-GB" altLang="en-US" sz="1700" i="1" dirty="0">
                <a:solidFill>
                  <a:srgbClr val="FFFF00"/>
                </a:solidFill>
                <a:effectLst>
                  <a:outerShdw blurRad="38100" dist="38100" dir="2700000" algn="tl">
                    <a:srgbClr val="000000"/>
                  </a:outerShdw>
                </a:effectLst>
                <a:latin typeface="Arial" panose="020B0604020202020204" pitchFamily="34" charset="0"/>
              </a:rPr>
              <a:t>z</a:t>
            </a:r>
            <a:r>
              <a:rPr lang="en-GB" altLang="en-US" sz="1700" i="1"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below the surface, and </a:t>
            </a:r>
            <a:r>
              <a:rPr lang="en-GB" altLang="en-US" sz="1700" i="1" dirty="0">
                <a:solidFill>
                  <a:srgbClr val="FFFF00"/>
                </a:solidFill>
                <a:effectLst>
                  <a:outerShdw blurRad="38100" dist="38100" dir="2700000" algn="tl">
                    <a:srgbClr val="000000"/>
                  </a:outerShdw>
                </a:effectLst>
                <a:latin typeface="Arial" panose="020B0604020202020204" pitchFamily="34" charset="0"/>
              </a:rPr>
              <a:t>g</a:t>
            </a:r>
            <a:r>
              <a:rPr lang="en-GB" altLang="en-US" sz="1700" dirty="0">
                <a:effectLst>
                  <a:outerShdw blurRad="38100" dist="38100" dir="2700000" algn="tl">
                    <a:srgbClr val="000000"/>
                  </a:outerShdw>
                </a:effectLst>
                <a:latin typeface="Arial" panose="020B0604020202020204" pitchFamily="34" charset="0"/>
              </a:rPr>
              <a:t> is the acceleration due to gravity</a:t>
            </a:r>
          </a:p>
          <a:p>
            <a:pPr>
              <a:lnSpc>
                <a:spcPct val="120000"/>
              </a:lnSpc>
              <a:spcBef>
                <a:spcPts val="12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the continents </a:t>
            </a:r>
            <a:r>
              <a:rPr lang="el-GR" altLang="en-US" sz="1700" i="1" dirty="0">
                <a:solidFill>
                  <a:srgbClr val="FF66CC"/>
                </a:solidFill>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sz="1700" i="1" baseline="-25000" dirty="0">
                <a:solidFill>
                  <a:srgbClr val="FF66CC"/>
                </a:solidFill>
                <a:effectLst>
                  <a:outerShdw blurRad="38100" dist="38100" dir="2700000" algn="tl">
                    <a:srgbClr val="000000"/>
                  </a:outerShdw>
                </a:effectLst>
                <a:latin typeface="Arial" panose="020B0604020202020204" pitchFamily="34" charset="0"/>
              </a:rPr>
              <a:t>rock</a:t>
            </a:r>
            <a:r>
              <a:rPr lang="en-GB" altLang="en-US" sz="1700" dirty="0">
                <a:solidFill>
                  <a:srgbClr val="FF66CC"/>
                </a:solidFill>
                <a:effectLst>
                  <a:outerShdw blurRad="38100" dist="38100" dir="2700000" algn="tl">
                    <a:srgbClr val="000000"/>
                  </a:outerShdw>
                </a:effectLst>
                <a:latin typeface="Arial" panose="020B0604020202020204" pitchFamily="34" charset="0"/>
              </a:rPr>
              <a:t> </a:t>
            </a:r>
            <a:r>
              <a:rPr lang="en-GB" altLang="en-US" sz="1700" spc="300" dirty="0">
                <a:solidFill>
                  <a:srgbClr val="FF66CC"/>
                </a:solidFill>
                <a:effectLst>
                  <a:outerShdw blurRad="38100" dist="38100" dir="2700000" algn="tl">
                    <a:srgbClr val="000000"/>
                  </a:outerShdw>
                </a:effectLst>
                <a:latin typeface="Arial" panose="020B0604020202020204" pitchFamily="34" charset="0"/>
              </a:rPr>
              <a:t>~</a:t>
            </a:r>
            <a:r>
              <a:rPr lang="en-GB" altLang="en-US" sz="1700" dirty="0">
                <a:solidFill>
                  <a:srgbClr val="FF66CC"/>
                </a:solidFill>
                <a:effectLst>
                  <a:outerShdw blurRad="38100" dist="38100" dir="2700000" algn="tl">
                    <a:srgbClr val="000000"/>
                  </a:outerShdw>
                </a:effectLst>
                <a:latin typeface="Arial" panose="020B0604020202020204" pitchFamily="34" charset="0"/>
              </a:rPr>
              <a:t>2.7 </a:t>
            </a:r>
            <a:r>
              <a:rPr lang="en-GB" altLang="en-US" sz="1700" spc="100" dirty="0">
                <a:solidFill>
                  <a:srgbClr val="FF66CC"/>
                </a:solidFill>
                <a:effectLst>
                  <a:outerShdw blurRad="38100" dist="38100" dir="2700000" algn="tl">
                    <a:srgbClr val="000000"/>
                  </a:outerShdw>
                </a:effectLst>
                <a:latin typeface="Arial" panose="020B0604020202020204" pitchFamily="34" charset="0"/>
              </a:rPr>
              <a:t>g/</a:t>
            </a:r>
            <a:r>
              <a:rPr lang="en-GB" altLang="en-US" sz="1700" dirty="0">
                <a:solidFill>
                  <a:srgbClr val="FF66CC"/>
                </a:solidFill>
                <a:effectLst>
                  <a:outerShdw blurRad="38100" dist="38100" dir="2700000" algn="tl">
                    <a:srgbClr val="000000"/>
                  </a:outerShdw>
                </a:effectLst>
                <a:latin typeface="Arial" panose="020B0604020202020204" pitchFamily="34" charset="0"/>
              </a:rPr>
              <a:t>cm</a:t>
            </a:r>
            <a:r>
              <a:rPr lang="en-GB" altLang="en-US" sz="1700" baseline="30000" dirty="0">
                <a:solidFill>
                  <a:srgbClr val="FF66CC"/>
                </a:solidFill>
                <a:effectLst>
                  <a:outerShdw blurRad="38100" dist="38100" dir="2700000" algn="tl">
                    <a:srgbClr val="000000"/>
                  </a:outerShdw>
                </a:effectLst>
                <a:latin typeface="Arial" panose="020B0604020202020204" pitchFamily="34" charset="0"/>
              </a:rPr>
              <a:t>3</a:t>
            </a:r>
            <a:r>
              <a:rPr lang="en-GB" altLang="en-US" sz="1700" dirty="0">
                <a:effectLst>
                  <a:outerShdw blurRad="38100" dist="38100" dir="2700000" algn="tl">
                    <a:srgbClr val="000000"/>
                  </a:outerShdw>
                </a:effectLst>
                <a:latin typeface="Arial" panose="020B0604020202020204" pitchFamily="34" charset="0"/>
              </a:rPr>
              <a:t>, which gives a vertical stress gradient of </a:t>
            </a:r>
            <a:r>
              <a:rPr lang="en-GB" altLang="en-US" sz="1700" dirty="0">
                <a:solidFill>
                  <a:srgbClr val="FF66CC"/>
                </a:solidFill>
                <a:effectLst>
                  <a:outerShdw blurRad="38100" dist="38100" dir="2700000" algn="tl">
                    <a:srgbClr val="000000"/>
                  </a:outerShdw>
                </a:effectLst>
                <a:latin typeface="Arial" panose="020B0604020202020204" pitchFamily="34" charset="0"/>
              </a:rPr>
              <a:t>26.5 MP</a:t>
            </a:r>
            <a:r>
              <a:rPr lang="en-GB" altLang="en-US" sz="1700" spc="100" dirty="0">
                <a:solidFill>
                  <a:srgbClr val="FF66CC"/>
                </a:solidFill>
                <a:effectLst>
                  <a:outerShdw blurRad="38100" dist="38100" dir="2700000" algn="tl">
                    <a:srgbClr val="000000"/>
                  </a:outerShdw>
                </a:effectLst>
                <a:latin typeface="Arial" panose="020B0604020202020204" pitchFamily="34" charset="0"/>
              </a:rPr>
              <a:t>a/</a:t>
            </a:r>
            <a:r>
              <a:rPr lang="en-GB" altLang="en-US" sz="1700" dirty="0">
                <a:solidFill>
                  <a:srgbClr val="FF66CC"/>
                </a:solidFill>
                <a:effectLst>
                  <a:outerShdw blurRad="38100" dist="38100" dir="2700000" algn="tl">
                    <a:srgbClr val="000000"/>
                  </a:outerShdw>
                </a:effectLst>
                <a:latin typeface="Arial" panose="020B0604020202020204" pitchFamily="34" charset="0"/>
              </a:rPr>
              <a:t>km</a:t>
            </a:r>
            <a:r>
              <a:rPr lang="en-GB" altLang="en-US" sz="1700" dirty="0">
                <a:effectLst>
                  <a:outerShdw blurRad="38100" dist="38100" dir="2700000" algn="tl">
                    <a:srgbClr val="000000"/>
                  </a:outerShdw>
                </a:effectLst>
                <a:latin typeface="Arial" panose="020B0604020202020204" pitchFamily="34" charset="0"/>
              </a:rPr>
              <a:t>. This fits existing data well</a:t>
            </a:r>
          </a:p>
        </p:txBody>
      </p:sp>
      <p:sp>
        <p:nvSpPr>
          <p:cNvPr id="279566" name="Rectangle 14">
            <a:extLst>
              <a:ext uri="{FF2B5EF4-FFF2-40B4-BE49-F238E27FC236}">
                <a16:creationId xmlns:a16="http://schemas.microsoft.com/office/drawing/2014/main" id="{61F61856-C716-4D0E-BF25-44F2098E6CCD}"/>
              </a:ext>
            </a:extLst>
          </p:cNvPr>
          <p:cNvSpPr>
            <a:spLocks noChangeArrowheads="1"/>
          </p:cNvSpPr>
          <p:nvPr/>
        </p:nvSpPr>
        <p:spPr bwMode="auto">
          <a:xfrm>
            <a:off x="6191250" y="2471738"/>
            <a:ext cx="2797175" cy="414496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79559" name="Picture 2" descr="GR06.jpg">
            <a:extLst>
              <a:ext uri="{FF2B5EF4-FFF2-40B4-BE49-F238E27FC236}">
                <a16:creationId xmlns:a16="http://schemas.microsoft.com/office/drawing/2014/main" id="{56E726C2-D147-468D-BB0B-376A54C3EA56}"/>
              </a:ext>
            </a:extLst>
          </p:cNvPr>
          <p:cNvPicPr>
            <a:picLocks noGrp="1" noChangeAspect="1"/>
          </p:cNvPicPr>
          <p:nvPr>
            <p:ph sz="half" idx="2"/>
          </p:nvPr>
        </p:nvPicPr>
        <p:blipFill>
          <a:blip r:embed="rId4">
            <a:lum bright="-10000" contrast="20000"/>
            <a:extLst>
              <a:ext uri="{28A0092B-C50C-407E-A947-70E740481C1C}">
                <a14:useLocalDpi xmlns:a14="http://schemas.microsoft.com/office/drawing/2010/main" val="0"/>
              </a:ext>
            </a:extLst>
          </a:blip>
          <a:srcRect/>
          <a:stretch>
            <a:fillRect/>
          </a:stretch>
        </p:blipFill>
        <p:spPr>
          <a:xfrm>
            <a:off x="6234113" y="2538413"/>
            <a:ext cx="2697162" cy="4022725"/>
          </a:xfrm>
          <a:solidFill>
            <a:schemeClr val="folHlink"/>
          </a:solidFill>
          <a:ln/>
          <a:extLst>
            <a:ext uri="{91240B29-F687-4F45-9708-019B960494DF}">
              <a14:hiddenLine xmlns:a14="http://schemas.microsoft.com/office/drawing/2010/main" w="38100"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9561" name="Rectangle 9">
            <a:extLst>
              <a:ext uri="{FF2B5EF4-FFF2-40B4-BE49-F238E27FC236}">
                <a16:creationId xmlns:a16="http://schemas.microsoft.com/office/drawing/2014/main" id="{A0107148-716C-40A9-9B22-90BEBB8ABFD1}"/>
              </a:ext>
            </a:extLst>
          </p:cNvPr>
          <p:cNvSpPr>
            <a:spLocks noChangeArrowheads="1"/>
          </p:cNvSpPr>
          <p:nvPr/>
        </p:nvSpPr>
        <p:spPr bwMode="auto">
          <a:xfrm>
            <a:off x="8840788" y="2952750"/>
            <a:ext cx="92075" cy="115888"/>
          </a:xfrm>
          <a:prstGeom prst="rect">
            <a:avLst/>
          </a:prstGeom>
          <a:solidFill>
            <a:schemeClr val="folHlink"/>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9564" name="Rectangle 12">
            <a:extLst>
              <a:ext uri="{FF2B5EF4-FFF2-40B4-BE49-F238E27FC236}">
                <a16:creationId xmlns:a16="http://schemas.microsoft.com/office/drawing/2014/main" id="{8D409A4F-01F2-49D1-B02B-21F8C224253F}"/>
              </a:ext>
            </a:extLst>
          </p:cNvPr>
          <p:cNvSpPr>
            <a:spLocks noChangeArrowheads="1"/>
          </p:cNvSpPr>
          <p:nvPr/>
        </p:nvSpPr>
        <p:spPr bwMode="auto">
          <a:xfrm>
            <a:off x="8847138" y="4797425"/>
            <a:ext cx="95250" cy="1238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9565" name="Rectangle 13">
            <a:extLst>
              <a:ext uri="{FF2B5EF4-FFF2-40B4-BE49-F238E27FC236}">
                <a16:creationId xmlns:a16="http://schemas.microsoft.com/office/drawing/2014/main" id="{2D7D274E-FB88-46E6-8BC6-44DA2C611986}"/>
              </a:ext>
            </a:extLst>
          </p:cNvPr>
          <p:cNvSpPr>
            <a:spLocks noChangeArrowheads="1"/>
          </p:cNvSpPr>
          <p:nvPr/>
        </p:nvSpPr>
        <p:spPr bwMode="auto">
          <a:xfrm>
            <a:off x="8821738" y="5661025"/>
            <a:ext cx="120650" cy="8001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9568" name="Text Box 16">
            <a:extLst>
              <a:ext uri="{FF2B5EF4-FFF2-40B4-BE49-F238E27FC236}">
                <a16:creationId xmlns:a16="http://schemas.microsoft.com/office/drawing/2014/main" id="{00036AA0-6CE6-4B53-916A-9931E2494E91}"/>
              </a:ext>
            </a:extLst>
          </p:cNvPr>
          <p:cNvSpPr txBox="1">
            <a:spLocks noChangeArrowheads="1"/>
          </p:cNvSpPr>
          <p:nvPr/>
        </p:nvSpPr>
        <p:spPr bwMode="auto">
          <a:xfrm>
            <a:off x="3841750" y="4856163"/>
            <a:ext cx="2330450" cy="188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Stereogram of the principal stresses in southern Africa. The data are clustered in the centre and spread around the rim </a:t>
            </a:r>
            <a:r>
              <a:rPr lang="en-GB" altLang="en-US" sz="1400"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 one principal stress is vertical, the other two horizontal</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4737627C-F728-4FC2-9C04-F7689FB3F3E8}"/>
              </a:ext>
            </a:extLst>
          </p:cNvPr>
          <p:cNvSpPr>
            <a:spLocks noGrp="1" noChangeArrowheads="1"/>
          </p:cNvSpPr>
          <p:nvPr>
            <p:ph type="title"/>
          </p:nvPr>
        </p:nvSpPr>
        <p:spPr>
          <a:noFill/>
        </p:spPr>
        <p:txBody>
          <a:bodyPr/>
          <a:lstStyle/>
          <a:p>
            <a:r>
              <a:rPr lang="en-GB" altLang="en-US">
                <a:effectLst/>
              </a:rPr>
              <a:t>Depth variation of pore fluid pressure </a:t>
            </a:r>
          </a:p>
        </p:txBody>
      </p:sp>
      <p:sp>
        <p:nvSpPr>
          <p:cNvPr id="277513" name="Text Box 9">
            <a:extLst>
              <a:ext uri="{FF2B5EF4-FFF2-40B4-BE49-F238E27FC236}">
                <a16:creationId xmlns:a16="http://schemas.microsoft.com/office/drawing/2014/main" id="{23754712-B444-4F1F-BF89-E70DB7ED43C6}"/>
              </a:ext>
            </a:extLst>
          </p:cNvPr>
          <p:cNvSpPr txBox="1">
            <a:spLocks noChangeArrowheads="1"/>
          </p:cNvSpPr>
          <p:nvPr/>
        </p:nvSpPr>
        <p:spPr bwMode="auto">
          <a:xfrm>
            <a:off x="119063" y="750188"/>
            <a:ext cx="5141706" cy="5841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tabLst>
                <a:tab pos="182563" algn="l"/>
              </a:tabLst>
              <a:defRPr sz="1600">
                <a:solidFill>
                  <a:schemeClr val="tx1"/>
                </a:solidFill>
                <a:latin typeface="Helvetica" panose="020B0604020202020204" pitchFamily="34" charset="0"/>
              </a:defRPr>
            </a:lvl1pPr>
            <a:lvl2pPr>
              <a:tabLst>
                <a:tab pos="182563" algn="l"/>
              </a:tabLst>
              <a:defRPr sz="1600">
                <a:solidFill>
                  <a:schemeClr val="tx1"/>
                </a:solidFill>
                <a:latin typeface="Helvetica" panose="020B0604020202020204" pitchFamily="34" charset="0"/>
              </a:defRPr>
            </a:lvl2pPr>
            <a:lvl3pPr>
              <a:tabLst>
                <a:tab pos="182563" algn="l"/>
              </a:tabLst>
              <a:defRPr sz="1600">
                <a:solidFill>
                  <a:schemeClr val="tx1"/>
                </a:solidFill>
                <a:latin typeface="Helvetica" panose="020B0604020202020204" pitchFamily="34" charset="0"/>
              </a:defRPr>
            </a:lvl3pPr>
            <a:lvl4pPr>
              <a:tabLst>
                <a:tab pos="182563" algn="l"/>
              </a:tabLst>
              <a:defRPr sz="1600">
                <a:solidFill>
                  <a:schemeClr val="tx1"/>
                </a:solidFill>
                <a:latin typeface="Helvetica" panose="020B0604020202020204" pitchFamily="34" charset="0"/>
              </a:defRPr>
            </a:lvl4pPr>
            <a:lvl5pPr>
              <a:tabLst>
                <a:tab pos="182563" algn="l"/>
              </a:tabLst>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tabLst>
                <a:tab pos="182563" algn="l"/>
              </a:tabLst>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Assuming that pores are interconnected all the way to the surface, the </a:t>
            </a:r>
            <a:r>
              <a:rPr lang="en-GB" altLang="en-US" sz="1700" dirty="0">
                <a:solidFill>
                  <a:srgbClr val="FF66CC"/>
                </a:solidFill>
                <a:effectLst>
                  <a:outerShdw blurRad="38100" dist="38100" dir="2700000" algn="tl">
                    <a:srgbClr val="000000"/>
                  </a:outerShdw>
                </a:effectLst>
                <a:latin typeface="Arial" panose="020B0604020202020204" pitchFamily="34" charset="0"/>
              </a:rPr>
              <a:t>depth variation of pore fluid pressure</a:t>
            </a:r>
            <a:r>
              <a:rPr lang="en-GB" altLang="en-US" sz="1700" dirty="0">
                <a:effectLst>
                  <a:outerShdw blurRad="38100" dist="38100" dir="2700000" algn="tl">
                    <a:srgbClr val="000000"/>
                  </a:outerShdw>
                </a:effectLst>
                <a:latin typeface="Arial" panose="020B0604020202020204" pitchFamily="34" charset="0"/>
              </a:rPr>
              <a:t> is</a:t>
            </a:r>
          </a:p>
          <a:p>
            <a:r>
              <a:rPr lang="en-GB" altLang="en-US" sz="1700" i="1" dirty="0">
                <a:solidFill>
                  <a:srgbClr val="FFFF00"/>
                </a:solidFill>
                <a:effectLst>
                  <a:outerShdw blurRad="38100" dist="38100" dir="2700000" algn="tl">
                    <a:srgbClr val="000000"/>
                  </a:outerShdw>
                </a:effectLst>
              </a:rPr>
              <a:t>	                  </a:t>
            </a:r>
            <a:r>
              <a:rPr lang="en-GB" altLang="en-US" sz="1700" i="1" dirty="0" err="1">
                <a:solidFill>
                  <a:srgbClr val="FFFF00"/>
                </a:solidFill>
                <a:effectLst>
                  <a:outerShdw blurRad="38100" dist="38100" dir="2700000" algn="tl">
                    <a:srgbClr val="000000"/>
                  </a:outerShdw>
                </a:effectLst>
                <a:latin typeface="Arial" panose="020B0604020202020204" pitchFamily="34" charset="0"/>
              </a:rPr>
              <a:t>p</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fluid</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sz="1700" i="1" baseline="-25000" dirty="0">
                <a:solidFill>
                  <a:srgbClr val="FFFF00"/>
                </a:solidFill>
                <a:effectLst>
                  <a:outerShdw blurRad="38100" dist="38100" dir="2700000" algn="tl">
                    <a:srgbClr val="000000"/>
                  </a:outerShdw>
                </a:effectLst>
                <a:latin typeface="Arial" panose="020B0604020202020204" pitchFamily="34" charset="0"/>
              </a:rPr>
              <a:t>fluid</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sz="1700" i="1" dirty="0">
                <a:solidFill>
                  <a:srgbClr val="FFFF00"/>
                </a:solidFill>
                <a:effectLst>
                  <a:outerShdw blurRad="38100" dist="38100" dir="2700000" algn="tl">
                    <a:srgbClr val="000000"/>
                  </a:outerShdw>
                </a:effectLst>
                <a:latin typeface="Arial" panose="020B0604020202020204" pitchFamily="34" charset="0"/>
              </a:rPr>
              <a:t>g</a:t>
            </a:r>
            <a:r>
              <a:rPr lang="en-GB" altLang="en-US" sz="800" i="1" dirty="0">
                <a:solidFill>
                  <a:srgbClr val="FFFF00"/>
                </a:solidFill>
                <a:effectLst>
                  <a:outerShdw blurRad="38100" dist="38100" dir="2700000" algn="tl">
                    <a:srgbClr val="000000"/>
                  </a:outerShdw>
                </a:effectLst>
                <a:latin typeface="Arial" panose="020B0604020202020204" pitchFamily="34" charset="0"/>
              </a:rPr>
              <a:t> </a:t>
            </a:r>
            <a:r>
              <a:rPr lang="en-GB" altLang="en-US" sz="1700" i="1" dirty="0">
                <a:solidFill>
                  <a:srgbClr val="FFFF00"/>
                </a:solidFill>
                <a:effectLst>
                  <a:outerShdw blurRad="38100" dist="38100" dir="2700000" algn="tl">
                    <a:srgbClr val="000000"/>
                  </a:outerShdw>
                </a:effectLst>
                <a:latin typeface="Arial" panose="020B0604020202020204" pitchFamily="34" charset="0"/>
              </a:rPr>
              <a:t>z   ~   g</a:t>
            </a:r>
            <a:r>
              <a:rPr lang="en-GB" altLang="en-US" sz="800" i="1" dirty="0">
                <a:solidFill>
                  <a:srgbClr val="FFFF00"/>
                </a:solidFill>
                <a:effectLst>
                  <a:outerShdw blurRad="38100" dist="38100" dir="2700000" algn="tl">
                    <a:srgbClr val="000000"/>
                  </a:outerShdw>
                </a:effectLst>
                <a:latin typeface="Arial" panose="020B0604020202020204" pitchFamily="34" charset="0"/>
              </a:rPr>
              <a:t> </a:t>
            </a:r>
            <a:r>
              <a:rPr lang="en-GB" altLang="en-US" sz="1700" i="1" dirty="0">
                <a:solidFill>
                  <a:srgbClr val="FFFF00"/>
                </a:solidFill>
                <a:effectLst>
                  <a:outerShdw blurRad="38100" dist="38100" dir="2700000" algn="tl">
                    <a:srgbClr val="000000"/>
                  </a:outerShdw>
                </a:effectLst>
                <a:latin typeface="Arial" panose="020B0604020202020204" pitchFamily="34" charset="0"/>
              </a:rPr>
              <a:t>z</a:t>
            </a:r>
          </a:p>
          <a:p>
            <a:pPr>
              <a:spcBef>
                <a:spcPct val="50000"/>
              </a:spcBef>
            </a:pPr>
            <a:r>
              <a:rPr lang="en-GB" altLang="en-US" sz="1700" i="1"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where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sz="1700" i="1" baseline="-25000" dirty="0">
                <a:solidFill>
                  <a:srgbClr val="FFFF00"/>
                </a:solidFill>
                <a:effectLst>
                  <a:outerShdw blurRad="38100" dist="38100" dir="2700000" algn="tl">
                    <a:srgbClr val="000000"/>
                  </a:outerShdw>
                </a:effectLst>
                <a:latin typeface="Arial" panose="020B0604020202020204" pitchFamily="34" charset="0"/>
              </a:rPr>
              <a:t>fluid</a:t>
            </a:r>
            <a:r>
              <a:rPr lang="en-GB" altLang="en-US" sz="1700" dirty="0">
                <a:effectLst>
                  <a:outerShdw blurRad="38100" dist="38100" dir="2700000" algn="tl">
                    <a:srgbClr val="000000"/>
                  </a:outerShdw>
                </a:effectLst>
                <a:latin typeface="Arial" panose="020B0604020202020204" pitchFamily="34" charset="0"/>
              </a:rPr>
              <a:t> is the pore fluid density (~</a:t>
            </a:r>
            <a:r>
              <a:rPr lang="en-GB" altLang="en-US" sz="8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1 </a:t>
            </a:r>
            <a:r>
              <a:rPr lang="en-GB" altLang="en-US" sz="1700" spc="100" dirty="0">
                <a:effectLst>
                  <a:outerShdw blurRad="38100" dist="38100" dir="2700000" algn="tl">
                    <a:srgbClr val="000000"/>
                  </a:outerShdw>
                </a:effectLst>
                <a:latin typeface="Arial" panose="020B0604020202020204" pitchFamily="34" charset="0"/>
              </a:rPr>
              <a:t>g/</a:t>
            </a:r>
            <a:r>
              <a:rPr lang="en-GB" altLang="en-US" sz="1700" dirty="0">
                <a:effectLst>
                  <a:outerShdw blurRad="38100" dist="38100" dir="2700000" algn="tl">
                    <a:srgbClr val="000000"/>
                  </a:outerShdw>
                </a:effectLst>
                <a:latin typeface="Arial" panose="020B0604020202020204" pitchFamily="34" charset="0"/>
              </a:rPr>
              <a:t>cm</a:t>
            </a:r>
            <a:r>
              <a:rPr lang="en-GB" altLang="en-US" sz="1700" baseline="30000" dirty="0">
                <a:effectLst>
                  <a:outerShdw blurRad="38100" dist="38100" dir="2700000" algn="tl">
                    <a:srgbClr val="000000"/>
                  </a:outerShdw>
                </a:effectLst>
                <a:latin typeface="Arial" panose="020B0604020202020204" pitchFamily="34" charset="0"/>
              </a:rPr>
              <a:t>3</a:t>
            </a:r>
            <a:r>
              <a:rPr lang="en-GB" altLang="en-US" sz="1700" dirty="0">
                <a:effectLst>
                  <a:outerShdw blurRad="38100" dist="38100" dir="2700000" algn="tl">
                    <a:srgbClr val="000000"/>
                  </a:outerShdw>
                </a:effectLst>
                <a:latin typeface="Arial" panose="020B0604020202020204" pitchFamily="34" charset="0"/>
              </a:rPr>
              <a:t>)</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If the pores are not interconnected (</a:t>
            </a:r>
            <a:r>
              <a:rPr lang="en-GB" altLang="en-US" sz="1700" i="1" dirty="0">
                <a:effectLst>
                  <a:outerShdw blurRad="38100" dist="38100" dir="2700000" algn="tl">
                    <a:srgbClr val="000000"/>
                  </a:outerShdw>
                </a:effectLst>
                <a:latin typeface="Arial" panose="020B0604020202020204" pitchFamily="34" charset="0"/>
              </a:rPr>
              <a:t>e.g.</a:t>
            </a:r>
            <a:r>
              <a:rPr lang="en-GB" altLang="en-US" sz="1700" dirty="0">
                <a:effectLst>
                  <a:outerShdw blurRad="38100" dist="38100" dir="2700000" algn="tl">
                    <a:srgbClr val="000000"/>
                  </a:outerShdw>
                </a:effectLst>
                <a:latin typeface="Arial" panose="020B0604020202020204" pitchFamily="34" charset="0"/>
              </a:rPr>
              <a:t>, a porous sandstone between compacted mudstones), then the pore fluids may be </a:t>
            </a:r>
            <a:r>
              <a:rPr lang="en-GB" altLang="en-US" sz="1700" dirty="0">
                <a:solidFill>
                  <a:srgbClr val="FF6600"/>
                </a:solidFill>
                <a:effectLst>
                  <a:outerShdw blurRad="38100" dist="38100" dir="2700000" algn="tl">
                    <a:srgbClr val="000000"/>
                  </a:outerShdw>
                </a:effectLst>
                <a:latin typeface="Arial" panose="020B0604020202020204" pitchFamily="34" charset="0"/>
              </a:rPr>
              <a:t>over-pressured</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such cases, pore fluid pressure varies </a:t>
            </a:r>
            <a:r>
              <a:rPr lang="en-GB" altLang="en-US" sz="1700" dirty="0">
                <a:solidFill>
                  <a:srgbClr val="FF66CC"/>
                </a:solidFill>
                <a:effectLst>
                  <a:outerShdw blurRad="38100" dist="38100" dir="2700000" algn="tl">
                    <a:srgbClr val="000000"/>
                  </a:outerShdw>
                </a:effectLst>
                <a:latin typeface="Arial" panose="020B0604020202020204" pitchFamily="34" charset="0"/>
              </a:rPr>
              <a:t>between hydrostatic </a:t>
            </a:r>
            <a:r>
              <a:rPr lang="en-GB" altLang="en-US" sz="1700" dirty="0">
                <a:effectLst>
                  <a:outerShdw blurRad="38100" dist="38100" dir="2700000" algn="tl">
                    <a:srgbClr val="000000"/>
                  </a:outerShdw>
                </a:effectLst>
                <a:latin typeface="Arial" panose="020B0604020202020204" pitchFamily="34" charset="0"/>
              </a:rPr>
              <a:t>(above formula) </a:t>
            </a:r>
            <a:r>
              <a:rPr lang="en-GB" altLang="en-US" sz="1700" dirty="0">
                <a:solidFill>
                  <a:srgbClr val="FF66CC"/>
                </a:solidFill>
                <a:effectLst>
                  <a:outerShdw blurRad="38100" dist="38100" dir="2700000" algn="tl">
                    <a:srgbClr val="000000"/>
                  </a:outerShdw>
                </a:effectLst>
                <a:latin typeface="Arial" panose="020B0604020202020204" pitchFamily="34" charset="0"/>
              </a:rPr>
              <a:t>and lithostatic </a:t>
            </a:r>
            <a:r>
              <a:rPr lang="en-GB" altLang="en-US" sz="1700" dirty="0">
                <a:effectLst>
                  <a:outerShdw blurRad="38100" dist="38100" dir="2700000" algn="tl">
                    <a:srgbClr val="000000"/>
                  </a:outerShdw>
                </a:effectLst>
                <a:latin typeface="Arial" panose="020B0604020202020204" pitchFamily="34" charset="0"/>
              </a:rPr>
              <a:t>(formula on previous slide) but it cannot be much greater than lithostatic</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pore pressure parameter</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λ</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n-GB" altLang="en-US" sz="1700" i="1" dirty="0" err="1">
                <a:solidFill>
                  <a:srgbClr val="FFFF00"/>
                </a:solidFill>
                <a:effectLst>
                  <a:outerShdw blurRad="38100" dist="38100" dir="2700000" algn="tl">
                    <a:srgbClr val="000000"/>
                  </a:outerShdw>
                </a:effectLst>
                <a:latin typeface="Arial" panose="020B0604020202020204" pitchFamily="34" charset="0"/>
              </a:rPr>
              <a:t>p</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flui</a:t>
            </a:r>
            <a:r>
              <a:rPr lang="en-GB" altLang="en-US" sz="1700" i="1" spc="500" baseline="-25000" dirty="0" err="1">
                <a:solidFill>
                  <a:srgbClr val="FFFF00"/>
                </a:solidFill>
                <a:effectLst>
                  <a:outerShdw blurRad="38100" dist="38100" dir="2700000" algn="tl">
                    <a:srgbClr val="000000"/>
                  </a:outerShdw>
                </a:effectLst>
                <a:latin typeface="Arial" panose="020B0604020202020204" pitchFamily="34" charset="0"/>
              </a:rPr>
              <a:t>d</a:t>
            </a:r>
            <a:r>
              <a:rPr lang="en-GB" altLang="en-US" sz="1700" spc="150" dirty="0">
                <a:solidFill>
                  <a:srgbClr val="FFFF00"/>
                </a:solidFill>
                <a:effectLst>
                  <a:outerShdw blurRad="38100" dist="38100" dir="2700000" algn="tl">
                    <a:srgbClr val="000000"/>
                  </a:outerShdw>
                </a:effectLst>
                <a:latin typeface="Arial" panose="020B0604020202020204" pitchFamily="34" charset="0"/>
              </a:rPr>
              <a:t>/</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v</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For pore fluids connected up to the surface</a:t>
            </a:r>
          </a:p>
          <a:p>
            <a:pPr>
              <a:lnSpc>
                <a:spcPct val="120000"/>
              </a:lnSpc>
              <a:spcBef>
                <a:spcPts val="600"/>
              </a:spcBef>
              <a:spcAft>
                <a:spcPts val="600"/>
              </a:spcAft>
              <a:buClr>
                <a:schemeClr val="tx1"/>
              </a:buClr>
            </a:pP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λ</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n-GB" altLang="en-US" sz="1700" i="1" dirty="0" err="1">
                <a:solidFill>
                  <a:srgbClr val="FFFF00"/>
                </a:solidFill>
                <a:effectLst>
                  <a:outerShdw blurRad="38100" dist="38100" dir="2700000" algn="tl">
                    <a:srgbClr val="000000"/>
                  </a:outerShdw>
                </a:effectLst>
                <a:latin typeface="Arial" panose="020B0604020202020204" pitchFamily="34" charset="0"/>
              </a:rPr>
              <a:t>p</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flui</a:t>
            </a:r>
            <a:r>
              <a:rPr lang="en-GB" altLang="en-US" sz="1700" i="1" spc="500" baseline="-25000" dirty="0" err="1">
                <a:solidFill>
                  <a:srgbClr val="FFFF00"/>
                </a:solidFill>
                <a:effectLst>
                  <a:outerShdw blurRad="38100" dist="38100" dir="2700000" algn="tl">
                    <a:srgbClr val="000000"/>
                  </a:outerShdw>
                </a:effectLst>
                <a:latin typeface="Arial" panose="020B0604020202020204" pitchFamily="34" charset="0"/>
              </a:rPr>
              <a:t>d</a:t>
            </a:r>
            <a:r>
              <a:rPr lang="en-GB" altLang="en-US" sz="1700" spc="150" dirty="0">
                <a:solidFill>
                  <a:srgbClr val="FFFF00"/>
                </a:solidFill>
                <a:effectLst>
                  <a:outerShdw blurRad="38100" dist="38100" dir="2700000" algn="tl">
                    <a:srgbClr val="000000"/>
                  </a:outerShdw>
                </a:effectLst>
                <a:latin typeface="Arial" panose="020B0604020202020204" pitchFamily="34" charset="0"/>
              </a:rPr>
              <a:t>/</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v</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sz="1700" i="1" baseline="-25000" dirty="0">
                <a:solidFill>
                  <a:srgbClr val="FFFF00"/>
                </a:solidFill>
                <a:effectLst>
                  <a:outerShdw blurRad="38100" dist="38100" dir="2700000" algn="tl">
                    <a:srgbClr val="000000"/>
                  </a:outerShdw>
                </a:effectLst>
                <a:latin typeface="Arial" panose="020B0604020202020204" pitchFamily="34" charset="0"/>
              </a:rPr>
              <a:t>flui</a:t>
            </a:r>
            <a:r>
              <a:rPr lang="en-GB" altLang="en-US" sz="1700" i="1" spc="600" baseline="-25000" dirty="0">
                <a:solidFill>
                  <a:srgbClr val="FFFF00"/>
                </a:solidFill>
                <a:effectLst>
                  <a:outerShdw blurRad="38100" dist="38100" dir="2700000" algn="tl">
                    <a:srgbClr val="000000"/>
                  </a:outerShdw>
                </a:effectLst>
                <a:latin typeface="Arial" panose="020B0604020202020204" pitchFamily="34" charset="0"/>
              </a:rPr>
              <a:t>d</a:t>
            </a:r>
            <a:r>
              <a:rPr lang="en-GB" altLang="en-US" sz="1700" spc="150" dirty="0">
                <a:solidFill>
                  <a:srgbClr val="FFFF00"/>
                </a:solidFill>
                <a:effectLst>
                  <a:outerShdw blurRad="38100" dist="38100" dir="2700000" algn="tl">
                    <a:srgbClr val="000000"/>
                  </a:outerShdw>
                </a:effectLst>
                <a:latin typeface="Arial" panose="020B0604020202020204" pitchFamily="34" charset="0"/>
              </a:rPr>
              <a:t>/</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sz="1700" i="1" baseline="-25000" dirty="0">
                <a:solidFill>
                  <a:srgbClr val="FFFF00"/>
                </a:solidFill>
                <a:effectLst>
                  <a:outerShdw blurRad="38100" dist="38100" dir="2700000" algn="tl">
                    <a:srgbClr val="000000"/>
                  </a:outerShdw>
                </a:effectLst>
                <a:latin typeface="Arial" panose="020B0604020202020204" pitchFamily="34" charset="0"/>
                <a:ea typeface="Cambria Math" panose="02040503050406030204" pitchFamily="18" charset="0"/>
              </a:rPr>
              <a:t>rock</a:t>
            </a:r>
            <a:r>
              <a:rPr lang="en-GB" altLang="en-US" sz="1700" dirty="0">
                <a:solidFill>
                  <a:srgbClr val="FFFF00"/>
                </a:solidFill>
                <a:effectLst>
                  <a:outerShdw blurRad="38100" dist="38100" dir="2700000" algn="tl">
                    <a:srgbClr val="000000"/>
                  </a:outerShdw>
                </a:effectLst>
                <a:latin typeface="Arial" panose="020B0604020202020204" pitchFamily="34" charset="0"/>
              </a:rPr>
              <a:t>   ~   0.4</a:t>
            </a:r>
          </a:p>
          <a:p>
            <a:pPr>
              <a:lnSpc>
                <a:spcPct val="120000"/>
              </a:lnSpc>
              <a:spcBef>
                <a:spcPts val="0"/>
              </a:spcBef>
              <a:buClr>
                <a:schemeClr val="tx1"/>
              </a:buClr>
            </a:pPr>
            <a:r>
              <a:rPr lang="en-GB" altLang="en-US" sz="1700" dirty="0">
                <a:effectLst>
                  <a:outerShdw blurRad="38100" dist="38100" dir="2700000" algn="tl">
                    <a:srgbClr val="000000"/>
                  </a:outerShdw>
                </a:effectLst>
                <a:latin typeface="Arial" panose="020B0604020202020204" pitchFamily="34" charset="0"/>
              </a:rPr>
              <a:t>	so that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λ</a:t>
            </a:r>
            <a:r>
              <a:rPr lang="en-GB" altLang="en-US" sz="1700" i="1" dirty="0">
                <a:effectLst>
                  <a:outerShdw blurRad="38100" dist="38100" dir="2700000" algn="tl">
                    <a:srgbClr val="000000"/>
                  </a:outerShdw>
                </a:effectLst>
                <a:latin typeface="Symbol" panose="05050102010706020507" pitchFamily="18" charset="2"/>
              </a:rPr>
              <a:t>  </a:t>
            </a:r>
            <a:r>
              <a:rPr lang="en-GB" altLang="en-US" sz="1700" dirty="0">
                <a:effectLst>
                  <a:outerShdw blurRad="38100" dist="38100" dir="2700000" algn="tl">
                    <a:srgbClr val="000000"/>
                  </a:outerShdw>
                </a:effectLst>
                <a:latin typeface="Arial" panose="020B0604020202020204" pitchFamily="34" charset="0"/>
              </a:rPr>
              <a:t>&gt; 0.4 is a measure of over-pressure</a:t>
            </a:r>
          </a:p>
        </p:txBody>
      </p:sp>
      <p:sp>
        <p:nvSpPr>
          <p:cNvPr id="277514" name="Text Box 10">
            <a:extLst>
              <a:ext uri="{FF2B5EF4-FFF2-40B4-BE49-F238E27FC236}">
                <a16:creationId xmlns:a16="http://schemas.microsoft.com/office/drawing/2014/main" id="{F2049EDE-EB1D-4EE1-B230-749A7F42DB9C}"/>
              </a:ext>
            </a:extLst>
          </p:cNvPr>
          <p:cNvSpPr txBox="1">
            <a:spLocks noChangeArrowheads="1"/>
          </p:cNvSpPr>
          <p:nvPr/>
        </p:nvSpPr>
        <p:spPr bwMode="auto">
          <a:xfrm>
            <a:off x="5792788" y="5849938"/>
            <a:ext cx="2730500" cy="56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Blue data – vertical stress</a:t>
            </a:r>
          </a:p>
          <a:p>
            <a:pPr>
              <a:lnSpc>
                <a:spcPct val="120000"/>
              </a:lnSpc>
              <a:spcBef>
                <a:spcPct val="0"/>
              </a:spcBef>
            </a:pPr>
            <a:r>
              <a:rPr lang="en-GB" altLang="en-US" sz="1400">
                <a:solidFill>
                  <a:srgbClr val="FFFF00"/>
                </a:solidFill>
                <a:effectLst>
                  <a:outerShdw blurRad="38100" dist="38100" dir="2700000" algn="tl">
                    <a:srgbClr val="000000"/>
                  </a:outerShdw>
                </a:effectLst>
                <a:latin typeface="Arial" panose="020B0604020202020204" pitchFamily="34" charset="0"/>
              </a:rPr>
              <a:t>Red data – pore fluid pressures</a:t>
            </a:r>
          </a:p>
        </p:txBody>
      </p:sp>
      <p:grpSp>
        <p:nvGrpSpPr>
          <p:cNvPr id="277519" name="Group 15">
            <a:extLst>
              <a:ext uri="{FF2B5EF4-FFF2-40B4-BE49-F238E27FC236}">
                <a16:creationId xmlns:a16="http://schemas.microsoft.com/office/drawing/2014/main" id="{4EE845A7-9DD4-4AA7-A314-7FDDF25907A5}"/>
              </a:ext>
            </a:extLst>
          </p:cNvPr>
          <p:cNvGrpSpPr>
            <a:grpSpLocks/>
          </p:cNvGrpSpPr>
          <p:nvPr/>
        </p:nvGrpSpPr>
        <p:grpSpPr bwMode="auto">
          <a:xfrm>
            <a:off x="5627688" y="935038"/>
            <a:ext cx="3144837" cy="4772025"/>
            <a:chOff x="3834" y="1111"/>
            <a:chExt cx="1364" cy="2070"/>
          </a:xfrm>
        </p:grpSpPr>
        <p:sp>
          <p:nvSpPr>
            <p:cNvPr id="277509" name="Rectangle 5">
              <a:extLst>
                <a:ext uri="{FF2B5EF4-FFF2-40B4-BE49-F238E27FC236}">
                  <a16:creationId xmlns:a16="http://schemas.microsoft.com/office/drawing/2014/main" id="{097951BC-2F78-421A-9022-AA7F310EB76A}"/>
                </a:ext>
              </a:extLst>
            </p:cNvPr>
            <p:cNvSpPr>
              <a:spLocks noChangeArrowheads="1"/>
            </p:cNvSpPr>
            <p:nvPr/>
          </p:nvSpPr>
          <p:spPr bwMode="auto">
            <a:xfrm>
              <a:off x="3834" y="1111"/>
              <a:ext cx="1364" cy="207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77510" name="Picture 2" descr="GR06.jpg">
              <a:extLst>
                <a:ext uri="{FF2B5EF4-FFF2-40B4-BE49-F238E27FC236}">
                  <a16:creationId xmlns:a16="http://schemas.microsoft.com/office/drawing/2014/main" id="{247417A4-E93D-4009-92DF-DE6CAF8F9DFC}"/>
                </a:ext>
              </a:extLst>
            </p:cNvPr>
            <p:cNvPicPr>
              <a:picLocks noChangeAspect="1"/>
            </p:cNvPicPr>
            <p:nvPr/>
          </p:nvPicPr>
          <p:blipFill>
            <a:blip r:embed="rId3">
              <a:lum bright="-10000" contrast="20000"/>
              <a:extLst>
                <a:ext uri="{28A0092B-C50C-407E-A947-70E740481C1C}">
                  <a14:useLocalDpi xmlns:a14="http://schemas.microsoft.com/office/drawing/2010/main" val="0"/>
                </a:ext>
              </a:extLst>
            </a:blip>
            <a:srcRect/>
            <a:stretch>
              <a:fillRect/>
            </a:stretch>
          </p:blipFill>
          <p:spPr bwMode="auto">
            <a:xfrm>
              <a:off x="3866" y="1140"/>
              <a:ext cx="1292" cy="19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7512" name="Rectangle 8">
              <a:extLst>
                <a:ext uri="{FF2B5EF4-FFF2-40B4-BE49-F238E27FC236}">
                  <a16:creationId xmlns:a16="http://schemas.microsoft.com/office/drawing/2014/main" id="{DEECEDEF-8451-432C-806A-3CD3967D9DA4}"/>
                </a:ext>
              </a:extLst>
            </p:cNvPr>
            <p:cNvSpPr>
              <a:spLocks noChangeArrowheads="1"/>
            </p:cNvSpPr>
            <p:nvPr/>
          </p:nvSpPr>
          <p:spPr bwMode="auto">
            <a:xfrm>
              <a:off x="3877" y="1124"/>
              <a:ext cx="125" cy="7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7515" name="Rectangle 11">
              <a:extLst>
                <a:ext uri="{FF2B5EF4-FFF2-40B4-BE49-F238E27FC236}">
                  <a16:creationId xmlns:a16="http://schemas.microsoft.com/office/drawing/2014/main" id="{53756270-08BE-46EF-B5F0-FCAB24BEA7F2}"/>
                </a:ext>
              </a:extLst>
            </p:cNvPr>
            <p:cNvSpPr>
              <a:spLocks noChangeArrowheads="1"/>
            </p:cNvSpPr>
            <p:nvPr/>
          </p:nvSpPr>
          <p:spPr bwMode="auto">
            <a:xfrm>
              <a:off x="3855" y="1382"/>
              <a:ext cx="186" cy="5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7516" name="Rectangle 12">
              <a:extLst>
                <a:ext uri="{FF2B5EF4-FFF2-40B4-BE49-F238E27FC236}">
                  <a16:creationId xmlns:a16="http://schemas.microsoft.com/office/drawing/2014/main" id="{CB8E07D6-C6C7-4737-ACA3-E47BFC6B6B03}"/>
                </a:ext>
              </a:extLst>
            </p:cNvPr>
            <p:cNvSpPr>
              <a:spLocks noChangeArrowheads="1"/>
            </p:cNvSpPr>
            <p:nvPr/>
          </p:nvSpPr>
          <p:spPr bwMode="auto">
            <a:xfrm>
              <a:off x="3911" y="1728"/>
              <a:ext cx="154" cy="54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7517" name="Rectangle 13">
              <a:extLst>
                <a:ext uri="{FF2B5EF4-FFF2-40B4-BE49-F238E27FC236}">
                  <a16:creationId xmlns:a16="http://schemas.microsoft.com/office/drawing/2014/main" id="{3DF67301-9BC8-4B7E-B84F-5F40F71A760D}"/>
                </a:ext>
              </a:extLst>
            </p:cNvPr>
            <p:cNvSpPr>
              <a:spLocks noChangeArrowheads="1"/>
            </p:cNvSpPr>
            <p:nvPr/>
          </p:nvSpPr>
          <p:spPr bwMode="auto">
            <a:xfrm>
              <a:off x="3857" y="2332"/>
              <a:ext cx="104" cy="52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6C4B94B9-C002-4D80-86D3-312999A76BF2}"/>
              </a:ext>
            </a:extLst>
          </p:cNvPr>
          <p:cNvSpPr>
            <a:spLocks noGrp="1" noChangeArrowheads="1"/>
          </p:cNvSpPr>
          <p:nvPr>
            <p:ph type="title"/>
          </p:nvPr>
        </p:nvSpPr>
        <p:spPr>
          <a:noFill/>
        </p:spPr>
        <p:txBody>
          <a:bodyPr/>
          <a:lstStyle/>
          <a:p>
            <a:r>
              <a:rPr lang="en-GB" altLang="en-US">
                <a:effectLst/>
              </a:rPr>
              <a:t>Horizontal stresses: uniaxial strain reference state</a:t>
            </a:r>
          </a:p>
        </p:txBody>
      </p:sp>
      <p:sp>
        <p:nvSpPr>
          <p:cNvPr id="261123" name="Text Box 3">
            <a:extLst>
              <a:ext uri="{FF2B5EF4-FFF2-40B4-BE49-F238E27FC236}">
                <a16:creationId xmlns:a16="http://schemas.microsoft.com/office/drawing/2014/main" id="{4A6C9F94-9B36-4758-89FC-3668164C65A9}"/>
              </a:ext>
            </a:extLst>
          </p:cNvPr>
          <p:cNvSpPr txBox="1">
            <a:spLocks noChangeArrowheads="1"/>
          </p:cNvSpPr>
          <p:nvPr/>
        </p:nvSpPr>
        <p:spPr bwMode="auto">
          <a:xfrm>
            <a:off x="3222625" y="833438"/>
            <a:ext cx="5788025" cy="3658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Consider a case where there is burial with </a:t>
            </a:r>
            <a:r>
              <a:rPr lang="en-GB" altLang="en-US" sz="1700" dirty="0">
                <a:solidFill>
                  <a:srgbClr val="FF6600"/>
                </a:solidFill>
                <a:effectLst/>
                <a:latin typeface="Arial" panose="020B0604020202020204" pitchFamily="34" charset="0"/>
              </a:rPr>
              <a:t>no lateral strain</a:t>
            </a:r>
            <a:r>
              <a:rPr lang="en-GB" altLang="en-US" sz="1700" dirty="0">
                <a:effectLst/>
                <a:latin typeface="Arial" panose="020B0604020202020204" pitchFamily="34" charset="0"/>
              </a:rPr>
              <a:t> because the rocks to either side do not allow it (</a:t>
            </a:r>
            <a:r>
              <a:rPr lang="en-GB" altLang="en-US" sz="1700" i="1" dirty="0">
                <a:effectLst/>
                <a:latin typeface="Arial" panose="020B0604020202020204" pitchFamily="34" charset="0"/>
              </a:rPr>
              <a:t>e.g.</a:t>
            </a:r>
            <a:r>
              <a:rPr lang="en-GB" altLang="en-US" sz="1700" dirty="0">
                <a:effectLst/>
                <a:latin typeface="Arial" panose="020B0604020202020204" pitchFamily="34" charset="0"/>
              </a:rPr>
              <a:t>, </a:t>
            </a:r>
            <a:r>
              <a:rPr lang="en-GB" altLang="en-US" sz="1700" dirty="0">
                <a:solidFill>
                  <a:srgbClr val="FF66CC"/>
                </a:solidFill>
                <a:effectLst/>
                <a:latin typeface="Arial" panose="020B0604020202020204" pitchFamily="34" charset="0"/>
              </a:rPr>
              <a:t>burial in a sedimentary basin</a:t>
            </a:r>
            <a:r>
              <a:rPr lang="en-GB" altLang="en-US" sz="1700" dirty="0">
                <a:effectLst/>
                <a:latin typeface="Arial" panose="020B0604020202020204" pitchFamily="34" charset="0"/>
              </a:rPr>
              <a:t>)</a:t>
            </a:r>
          </a:p>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 vertical stress (=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1</a:t>
            </a:r>
            <a:r>
              <a:rPr lang="en-GB" altLang="en-US" sz="1700" dirty="0">
                <a:effectLst/>
                <a:latin typeface="Arial" panose="020B0604020202020204" pitchFamily="34" charset="0"/>
              </a:rPr>
              <a:t>) is given by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v</a:t>
            </a:r>
            <a:r>
              <a:rPr lang="en-GB" altLang="en-US" sz="1700" dirty="0">
                <a:solidFill>
                  <a:srgbClr val="FFFF00"/>
                </a:solidFill>
                <a:effectLst/>
                <a:latin typeface="Arial" panose="020B0604020202020204" pitchFamily="34" charset="0"/>
              </a:rPr>
              <a:t> = </a:t>
            </a:r>
            <a:r>
              <a:rPr lang="el-GR" altLang="en-US" sz="1700" i="1" dirty="0">
                <a:solidFill>
                  <a:srgbClr val="FFFF00"/>
                </a:solidFill>
                <a:effectLst/>
                <a:latin typeface="Cambria Math" panose="02040503050406030204" pitchFamily="18" charset="0"/>
                <a:ea typeface="Cambria Math" panose="02040503050406030204" pitchFamily="18" charset="0"/>
              </a:rPr>
              <a:t>ρ</a:t>
            </a:r>
            <a:r>
              <a:rPr lang="en-GB" altLang="en-US" sz="1700" i="1" baseline="-25000" dirty="0">
                <a:solidFill>
                  <a:srgbClr val="FFFF00"/>
                </a:solidFill>
                <a:effectLst/>
                <a:latin typeface="Arial" panose="020B0604020202020204" pitchFamily="34" charset="0"/>
              </a:rPr>
              <a:t>rock</a:t>
            </a:r>
            <a:r>
              <a:rPr lang="en-GB" altLang="en-US" sz="1700" baseline="-25000" dirty="0">
                <a:solidFill>
                  <a:srgbClr val="FFFF00"/>
                </a:solidFill>
                <a:effectLst/>
                <a:latin typeface="Arial" panose="020B0604020202020204" pitchFamily="34" charset="0"/>
              </a:rPr>
              <a:t> </a:t>
            </a:r>
            <a:r>
              <a:rPr lang="en-GB" altLang="en-US" sz="1700" i="1" dirty="0">
                <a:solidFill>
                  <a:srgbClr val="FFFF00"/>
                </a:solidFill>
                <a:effectLst/>
                <a:latin typeface="Arial" panose="020B0604020202020204" pitchFamily="34" charset="0"/>
              </a:rPr>
              <a:t>g</a:t>
            </a:r>
            <a:r>
              <a:rPr lang="en-GB" altLang="en-US" sz="800" i="1" dirty="0">
                <a:solidFill>
                  <a:srgbClr val="FFFF00"/>
                </a:solidFill>
                <a:effectLst/>
                <a:latin typeface="Arial" panose="020B0604020202020204" pitchFamily="34" charset="0"/>
              </a:rPr>
              <a:t> </a:t>
            </a:r>
            <a:r>
              <a:rPr lang="en-GB" altLang="en-US" sz="1700" i="1" dirty="0">
                <a:solidFill>
                  <a:srgbClr val="FFFF00"/>
                </a:solidFill>
                <a:effectLst/>
                <a:latin typeface="Arial" panose="020B0604020202020204" pitchFamily="34" charset="0"/>
              </a:rPr>
              <a:t>z</a:t>
            </a:r>
            <a:r>
              <a:rPr lang="en-GB" altLang="en-US" sz="1700" dirty="0">
                <a:effectLst/>
                <a:latin typeface="Arial" panose="020B0604020202020204" pitchFamily="34" charset="0"/>
              </a:rPr>
              <a:t>  and the horizontal stress,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H</a:t>
            </a:r>
            <a:r>
              <a:rPr lang="en-GB" altLang="en-US" sz="1700" dirty="0">
                <a:effectLst/>
                <a:latin typeface="Arial" panose="020B0604020202020204" pitchFamily="34" charset="0"/>
              </a:rPr>
              <a:t> =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h</a:t>
            </a:r>
            <a:r>
              <a:rPr lang="en-GB" altLang="en-US" sz="1700" dirty="0">
                <a:effectLst/>
                <a:latin typeface="Arial" panose="020B0604020202020204" pitchFamily="34" charset="0"/>
              </a:rPr>
              <a:t> (=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2</a:t>
            </a:r>
            <a:r>
              <a:rPr lang="en-GB" altLang="en-US" sz="1700" dirty="0">
                <a:effectLst/>
              </a:rPr>
              <a:t> </a:t>
            </a:r>
            <a:r>
              <a:rPr lang="en-GB" altLang="en-US" sz="1700" dirty="0">
                <a:effectLst/>
                <a:latin typeface="Arial" panose="020B0604020202020204" pitchFamily="34" charset="0"/>
              </a:rPr>
              <a:t>and</a:t>
            </a:r>
            <a:r>
              <a:rPr lang="en-GB" altLang="en-US" sz="1700" dirty="0">
                <a:effectLst/>
              </a:rPr>
              <a:t>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3</a:t>
            </a:r>
            <a:r>
              <a:rPr lang="en-GB" altLang="en-US" sz="1700" dirty="0">
                <a:effectLst/>
                <a:latin typeface="Arial" panose="020B0604020202020204" pitchFamily="34" charset="0"/>
              </a:rPr>
              <a:t> respectively), by</a:t>
            </a:r>
          </a:p>
          <a:p>
            <a:pPr>
              <a:lnSpc>
                <a:spcPct val="120000"/>
              </a:lnSpc>
              <a:spcBef>
                <a:spcPts val="600"/>
              </a:spcBef>
              <a:spcAft>
                <a:spcPts val="600"/>
              </a:spcAft>
              <a:buClr>
                <a:schemeClr val="folHlink"/>
              </a:buClr>
              <a:buSzPct val="100000"/>
              <a:buFont typeface="Times" panose="02020603050405020304" pitchFamily="18" charset="0"/>
              <a:buNone/>
            </a:pPr>
            <a:r>
              <a:rPr lang="en-GB" altLang="en-US" sz="1700" dirty="0">
                <a:effectLst/>
                <a:latin typeface="Symbol" panose="05050102010706020507" pitchFamily="18" charset="2"/>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H</a:t>
            </a:r>
            <a:r>
              <a:rPr lang="en-GB" altLang="en-US" sz="1700" dirty="0">
                <a:solidFill>
                  <a:srgbClr val="FFFF00"/>
                </a:solidFill>
                <a:effectLst/>
                <a:latin typeface="Arial" panose="020B0604020202020204" pitchFamily="34" charset="0"/>
              </a:rPr>
              <a:t>   =   [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dirty="0">
                <a:solidFill>
                  <a:srgbClr val="FFFF00"/>
                </a:solidFill>
                <a:effectLst/>
                <a:latin typeface="Arial" panose="020B0604020202020204" pitchFamily="34" charset="0"/>
              </a:rPr>
              <a:t> / (1 -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i="1" dirty="0">
                <a:solidFill>
                  <a:srgbClr val="FFFF00"/>
                </a:solidFill>
                <a:effectLst/>
                <a:latin typeface="Symbol" panose="05050102010706020507" pitchFamily="18" charset="2"/>
              </a:rPr>
              <a:t> </a:t>
            </a:r>
            <a:r>
              <a:rPr lang="en-GB" altLang="en-US" sz="1700" dirty="0">
                <a:solidFill>
                  <a:srgbClr val="FFFF00"/>
                </a:solidFill>
                <a:effectLst/>
                <a:latin typeface="Arial" panose="020B0604020202020204" pitchFamily="34" charset="0"/>
              </a:rPr>
              <a:t>) ] </a:t>
            </a:r>
            <a:r>
              <a:rPr lang="en-GB" altLang="en-US" sz="1700" i="1" dirty="0" err="1">
                <a:solidFill>
                  <a:srgbClr val="FFFF00"/>
                </a:solidFill>
                <a:effectLst/>
                <a:latin typeface="Symbol" panose="05050102010706020507" pitchFamily="18" charset="2"/>
              </a:rPr>
              <a:t>s</a:t>
            </a:r>
            <a:r>
              <a:rPr lang="en-GB" altLang="en-US" sz="1700" baseline="-25000" dirty="0" err="1">
                <a:solidFill>
                  <a:srgbClr val="FFFF00"/>
                </a:solidFill>
                <a:effectLst/>
                <a:latin typeface="Arial" panose="020B0604020202020204" pitchFamily="34" charset="0"/>
              </a:rPr>
              <a:t>v</a:t>
            </a:r>
            <a:r>
              <a:rPr lang="en-GB" altLang="en-US" sz="1700" dirty="0">
                <a:solidFill>
                  <a:srgbClr val="FFFF00"/>
                </a:solidFill>
                <a:effectLst/>
                <a:latin typeface="Arial" panose="020B0604020202020204" pitchFamily="34" charset="0"/>
              </a:rPr>
              <a:t>   =   [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dirty="0">
                <a:solidFill>
                  <a:srgbClr val="FFFF00"/>
                </a:solidFill>
                <a:effectLst/>
                <a:latin typeface="Arial" panose="020B0604020202020204" pitchFamily="34" charset="0"/>
              </a:rPr>
              <a:t> / (1 -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i="1" dirty="0">
                <a:solidFill>
                  <a:srgbClr val="FFFF00"/>
                </a:solidFill>
                <a:effectLst/>
                <a:latin typeface="Symbol" panose="05050102010706020507" pitchFamily="18" charset="2"/>
              </a:rPr>
              <a:t> </a:t>
            </a:r>
            <a:r>
              <a:rPr lang="en-GB" altLang="en-US" sz="1700" dirty="0">
                <a:solidFill>
                  <a:srgbClr val="FFFF00"/>
                </a:solidFill>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latin typeface="Cambria Math" panose="02040503050406030204" pitchFamily="18" charset="0"/>
                <a:ea typeface="Cambria Math" panose="02040503050406030204" pitchFamily="18" charset="0"/>
              </a:rPr>
              <a:t>ρ</a:t>
            </a:r>
            <a:r>
              <a:rPr lang="en-GB" altLang="en-US" sz="1700" i="1" baseline="-25000" dirty="0">
                <a:solidFill>
                  <a:srgbClr val="FFFF00"/>
                </a:solidFill>
                <a:effectLst>
                  <a:outerShdw blurRad="38100" dist="38100" dir="2700000" algn="tl">
                    <a:srgbClr val="000000"/>
                  </a:outerShdw>
                </a:effectLst>
                <a:latin typeface="Arial" panose="020B0604020202020204" pitchFamily="34" charset="0"/>
              </a:rPr>
              <a:t>rock</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 </a:t>
            </a:r>
            <a:r>
              <a:rPr lang="en-GB" altLang="en-US" sz="1700" i="1" dirty="0">
                <a:solidFill>
                  <a:srgbClr val="FFFF00"/>
                </a:solidFill>
                <a:effectLst>
                  <a:outerShdw blurRad="38100" dist="38100" dir="2700000" algn="tl">
                    <a:srgbClr val="000000"/>
                  </a:outerShdw>
                </a:effectLst>
                <a:latin typeface="Arial" panose="020B0604020202020204" pitchFamily="34" charset="0"/>
              </a:rPr>
              <a:t>g</a:t>
            </a:r>
            <a:r>
              <a:rPr lang="en-GB" altLang="en-US" sz="800" i="1" dirty="0">
                <a:solidFill>
                  <a:srgbClr val="FFFF00"/>
                </a:solidFill>
                <a:effectLst>
                  <a:outerShdw blurRad="38100" dist="38100" dir="2700000" algn="tl">
                    <a:srgbClr val="000000"/>
                  </a:outerShdw>
                </a:effectLst>
                <a:latin typeface="Arial" panose="020B0604020202020204" pitchFamily="34" charset="0"/>
              </a:rPr>
              <a:t> </a:t>
            </a:r>
            <a:r>
              <a:rPr lang="en-GB" altLang="en-US" sz="1700" i="1" dirty="0">
                <a:solidFill>
                  <a:srgbClr val="FFFF00"/>
                </a:solidFill>
                <a:effectLst>
                  <a:outerShdw blurRad="38100" dist="38100" dir="2700000" algn="tl">
                    <a:srgbClr val="000000"/>
                  </a:outerShdw>
                </a:effectLst>
                <a:latin typeface="Arial" panose="020B0604020202020204" pitchFamily="34" charset="0"/>
              </a:rPr>
              <a:t>z</a:t>
            </a:r>
          </a:p>
          <a:p>
            <a:pPr>
              <a:lnSpc>
                <a:spcPct val="120000"/>
              </a:lnSpc>
              <a:spcBef>
                <a:spcPts val="600"/>
              </a:spcBef>
              <a:buClr>
                <a:schemeClr val="folHlink"/>
              </a:buClr>
              <a:buSzPct val="100000"/>
              <a:buFont typeface="Times" panose="02020603050405020304" pitchFamily="18" charset="0"/>
              <a:buNone/>
            </a:pPr>
            <a:r>
              <a:rPr lang="en-GB" altLang="en-US" sz="1700" dirty="0">
                <a:effectLst>
                  <a:outerShdw blurRad="38100" dist="38100" dir="2700000" algn="tl">
                    <a:srgbClr val="000000"/>
                  </a:outerShdw>
                </a:effectLst>
                <a:latin typeface="Arial" panose="020B0604020202020204" pitchFamily="34" charset="0"/>
              </a:rPr>
              <a:t>	where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ν</a:t>
            </a:r>
            <a:r>
              <a:rPr lang="en-GB" altLang="en-US" sz="1700" dirty="0">
                <a:effectLst>
                  <a:outerShdw blurRad="38100" dist="38100" dir="2700000" algn="tl">
                    <a:srgbClr val="000000"/>
                  </a:outerShdw>
                </a:effectLst>
                <a:latin typeface="Arial" panose="020B0604020202020204" pitchFamily="34" charset="0"/>
              </a:rPr>
              <a:t>  is Poisson’s ratio. For rocks 0.25 &gt;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ν</a:t>
            </a:r>
            <a:r>
              <a:rPr lang="en-GB" altLang="en-US" sz="1700" dirty="0">
                <a:effectLst>
                  <a:outerShdw blurRad="38100" dist="38100" dir="2700000" algn="tl">
                    <a:srgbClr val="000000"/>
                  </a:outerShdw>
                </a:effectLst>
                <a:latin typeface="Arial" panose="020B0604020202020204" pitchFamily="34" charset="0"/>
              </a:rPr>
              <a:t>  &gt; 0.33 and so the </a:t>
            </a:r>
            <a:r>
              <a:rPr lang="en-GB" altLang="en-US" sz="1700" dirty="0">
                <a:solidFill>
                  <a:srgbClr val="FF66CC"/>
                </a:solidFill>
                <a:effectLst>
                  <a:outerShdw blurRad="38100" dist="38100" dir="2700000" algn="tl">
                    <a:srgbClr val="000000"/>
                  </a:outerShdw>
                </a:effectLst>
                <a:latin typeface="Arial" panose="020B0604020202020204" pitchFamily="34" charset="0"/>
              </a:rPr>
              <a:t>horizontal stress is expected to be about one half to one third of the vertical stress</a:t>
            </a:r>
          </a:p>
        </p:txBody>
      </p:sp>
      <p:grpSp>
        <p:nvGrpSpPr>
          <p:cNvPr id="261135" name="Group 15">
            <a:extLst>
              <a:ext uri="{FF2B5EF4-FFF2-40B4-BE49-F238E27FC236}">
                <a16:creationId xmlns:a16="http://schemas.microsoft.com/office/drawing/2014/main" id="{7EE840A1-C171-4192-8936-763AADB97480}"/>
              </a:ext>
            </a:extLst>
          </p:cNvPr>
          <p:cNvGrpSpPr>
            <a:grpSpLocks/>
          </p:cNvGrpSpPr>
          <p:nvPr/>
        </p:nvGrpSpPr>
        <p:grpSpPr bwMode="auto">
          <a:xfrm>
            <a:off x="357188" y="930275"/>
            <a:ext cx="2474912" cy="3344863"/>
            <a:chOff x="104" y="542"/>
            <a:chExt cx="1624" cy="2142"/>
          </a:xfrm>
        </p:grpSpPr>
        <p:sp>
          <p:nvSpPr>
            <p:cNvPr id="261134" name="Rectangle 14">
              <a:extLst>
                <a:ext uri="{FF2B5EF4-FFF2-40B4-BE49-F238E27FC236}">
                  <a16:creationId xmlns:a16="http://schemas.microsoft.com/office/drawing/2014/main" id="{5E746570-9C75-4130-AB64-6D789CC087D7}"/>
                </a:ext>
              </a:extLst>
            </p:cNvPr>
            <p:cNvSpPr>
              <a:spLocks noChangeArrowheads="1"/>
            </p:cNvSpPr>
            <p:nvPr/>
          </p:nvSpPr>
          <p:spPr bwMode="auto">
            <a:xfrm>
              <a:off x="104" y="542"/>
              <a:ext cx="1624" cy="214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61132" name="Picture 2" descr="GR07.jpg">
              <a:extLst>
                <a:ext uri="{FF2B5EF4-FFF2-40B4-BE49-F238E27FC236}">
                  <a16:creationId xmlns:a16="http://schemas.microsoft.com/office/drawing/2014/main" id="{67A9CEE3-9F83-45B1-A031-C10E2BF5CC0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8" y="592"/>
              <a:ext cx="1523" cy="20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61136" name="Text Box 16">
            <a:extLst>
              <a:ext uri="{FF2B5EF4-FFF2-40B4-BE49-F238E27FC236}">
                <a16:creationId xmlns:a16="http://schemas.microsoft.com/office/drawing/2014/main" id="{51EC6F6E-7D73-4313-80BE-E3EEFE34E356}"/>
              </a:ext>
            </a:extLst>
          </p:cNvPr>
          <p:cNvSpPr txBox="1">
            <a:spLocks noChangeArrowheads="1"/>
          </p:cNvSpPr>
          <p:nvPr/>
        </p:nvSpPr>
        <p:spPr bwMode="auto">
          <a:xfrm>
            <a:off x="155575" y="4648075"/>
            <a:ext cx="877887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CC"/>
                </a:solidFill>
                <a:effectLst>
                  <a:outerShdw blurRad="38100" dist="38100" dir="2700000" algn="tl">
                    <a:srgbClr val="000000"/>
                  </a:outerShdw>
                </a:effectLst>
                <a:latin typeface="Arial" panose="020B0604020202020204" pitchFamily="34" charset="0"/>
              </a:rPr>
              <a:t>change in horizontal stress during burial and uplift</a:t>
            </a:r>
            <a:r>
              <a:rPr lang="en-GB" altLang="en-US" sz="1700" dirty="0">
                <a:effectLst>
                  <a:outerShdw blurRad="38100" dist="38100" dir="2700000" algn="tl">
                    <a:srgbClr val="000000"/>
                  </a:outerShdw>
                </a:effectLst>
                <a:latin typeface="Arial" panose="020B0604020202020204" pitchFamily="34" charset="0"/>
              </a:rPr>
              <a:t> for this uniaxial strain model is</a:t>
            </a:r>
          </a:p>
          <a:p>
            <a:pPr>
              <a:lnSpc>
                <a:spcPct val="120000"/>
              </a:lnSpc>
              <a:spcBef>
                <a:spcPct val="75000"/>
              </a:spcBef>
              <a:buClr>
                <a:schemeClr val="tx1"/>
              </a:buClr>
            </a:pP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n-GB" altLang="en-US" sz="1700" i="1" spc="150"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sym typeface="Symbol" panose="05050102010706020507" pitchFamily="18" charset="2"/>
              </a:rPr>
              <a:t></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H</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n-GB" altLang="en-US" sz="1700" dirty="0">
                <a:solidFill>
                  <a:srgbClr val="FFFF00"/>
                </a:solidFill>
                <a:effectLst/>
              </a:rPr>
              <a:t>[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dirty="0">
                <a:solidFill>
                  <a:srgbClr val="FFFF00"/>
                </a:solidFill>
                <a:effectLst/>
              </a:rPr>
              <a:t> / (1 -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i="1" dirty="0">
                <a:solidFill>
                  <a:srgbClr val="FFFF00"/>
                </a:solidFill>
                <a:effectLst/>
              </a:rPr>
              <a:t> </a:t>
            </a:r>
            <a:r>
              <a:rPr lang="en-GB" altLang="en-US" sz="1700" dirty="0">
                <a:solidFill>
                  <a:srgbClr val="FFFF00"/>
                </a:solidFill>
                <a:effectLst/>
              </a:rPr>
              <a:t>) ] </a:t>
            </a:r>
            <a:r>
              <a:rPr lang="en-GB" altLang="en-US" sz="1700" i="1" spc="150"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sym typeface="Symbol" panose="05050102010706020507" pitchFamily="18" charset="2"/>
              </a:rPr>
              <a:t></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v</a:t>
            </a:r>
            <a:r>
              <a:rPr lang="en-GB" altLang="en-US" sz="1700" dirty="0">
                <a:solidFill>
                  <a:srgbClr val="FFFF00"/>
                </a:solidFill>
                <a:effectLst>
                  <a:outerShdw blurRad="38100" dist="38100" dir="2700000" algn="tl">
                    <a:srgbClr val="000000"/>
                  </a:outerShdw>
                </a:effectLst>
              </a:rPr>
              <a:t>  +  </a:t>
            </a:r>
            <a:r>
              <a:rPr lang="en-GB" altLang="en-US" sz="1700" dirty="0">
                <a:solidFill>
                  <a:srgbClr val="FFFF00"/>
                </a:solidFill>
                <a:effectLst/>
              </a:rPr>
              <a:t>[ </a:t>
            </a:r>
            <a:r>
              <a:rPr lang="en-GB" altLang="en-US" sz="1700" i="1" dirty="0">
                <a:solidFill>
                  <a:srgbClr val="FFFF00"/>
                </a:solidFill>
                <a:effectLst/>
              </a:rPr>
              <a:t>E</a:t>
            </a:r>
            <a:r>
              <a:rPr lang="en-GB" altLang="en-US" sz="1700" dirty="0">
                <a:solidFill>
                  <a:srgbClr val="FFFF00"/>
                </a:solidFill>
                <a:effectLst/>
              </a:rPr>
              <a:t> / (1 -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i="1" dirty="0">
                <a:solidFill>
                  <a:srgbClr val="FFFF00"/>
                </a:solidFill>
                <a:effectLst/>
              </a:rPr>
              <a:t> </a:t>
            </a:r>
            <a:r>
              <a:rPr lang="en-GB" altLang="en-US" sz="1700" dirty="0">
                <a:solidFill>
                  <a:srgbClr val="FFFF00"/>
                </a:solidFill>
                <a:effectLst/>
              </a:rPr>
              <a:t>) ]</a:t>
            </a:r>
            <a:r>
              <a:rPr lang="en-GB" altLang="en-US" sz="800" dirty="0">
                <a:solidFill>
                  <a:srgbClr val="FFFF00"/>
                </a:solidFill>
                <a:effectLst/>
                <a:latin typeface="Arial" panose="020B0604020202020204" pitchFamily="34" charset="0"/>
              </a:rPr>
              <a:t> </a:t>
            </a:r>
            <a:r>
              <a:rPr lang="el-GR" altLang="en-US" sz="1700" i="1" dirty="0">
                <a:solidFill>
                  <a:srgbClr val="FFFF00"/>
                </a:solidFill>
                <a:effectLst/>
                <a:latin typeface="Cambria Math" panose="02040503050406030204" pitchFamily="18" charset="0"/>
                <a:ea typeface="Cambria Math" panose="02040503050406030204" pitchFamily="18" charset="0"/>
              </a:rPr>
              <a:t>α</a:t>
            </a:r>
            <a:r>
              <a:rPr lang="en-GB" altLang="en-US" sz="800" i="1" dirty="0">
                <a:solidFill>
                  <a:srgbClr val="FFFF00"/>
                </a:solidFill>
                <a:effectLst/>
                <a:latin typeface="Symbol" panose="05050102010706020507" pitchFamily="18" charset="2"/>
              </a:rPr>
              <a:t> </a:t>
            </a:r>
            <a:r>
              <a:rPr lang="en-GB"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sym typeface="Symbol" panose="05050102010706020507" pitchFamily="18" charset="2"/>
              </a:rPr>
              <a:t></a:t>
            </a:r>
            <a:r>
              <a:rPr lang="en-GB" altLang="en-US" sz="1700" i="1" dirty="0">
                <a:solidFill>
                  <a:srgbClr val="FFFF00"/>
                </a:solidFill>
                <a:effectLst/>
              </a:rPr>
              <a:t>T</a:t>
            </a:r>
            <a:endParaRPr lang="en-GB" altLang="en-US" sz="1700" i="1" dirty="0">
              <a:solidFill>
                <a:srgbClr val="FFFF00"/>
              </a:solidFill>
              <a:effectLst>
                <a:outerShdw blurRad="38100" dist="38100" dir="2700000" algn="tl">
                  <a:srgbClr val="000000"/>
                </a:outerShdw>
              </a:effectLst>
            </a:endParaRPr>
          </a:p>
          <a:p>
            <a:pPr>
              <a:lnSpc>
                <a:spcPct val="120000"/>
              </a:lnSpc>
              <a:spcBef>
                <a:spcPct val="75000"/>
              </a:spcBef>
              <a:buClr>
                <a:schemeClr val="tx1"/>
              </a:buClr>
            </a:pPr>
            <a:r>
              <a:rPr lang="en-GB" altLang="en-US" sz="1700" dirty="0">
                <a:effectLst>
                  <a:outerShdw blurRad="38100" dist="38100" dir="2700000" algn="tl">
                    <a:srgbClr val="000000"/>
                  </a:outerShdw>
                </a:effectLst>
                <a:latin typeface="Arial" panose="020B0604020202020204" pitchFamily="34" charset="0"/>
              </a:rPr>
              <a:t>	where the effect of temperature changes (</a:t>
            </a:r>
            <a:r>
              <a:rPr lang="en-GB"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sym typeface="Symbol" panose="05050102010706020507" pitchFamily="18" charset="2"/>
              </a:rPr>
              <a:t></a:t>
            </a:r>
            <a:r>
              <a:rPr lang="en-GB" altLang="en-US" sz="1700" i="1" dirty="0">
                <a:effectLst>
                  <a:outerShdw blurRad="38100" dist="38100" dir="2700000" algn="tl">
                    <a:srgbClr val="000000"/>
                  </a:outerShdw>
                </a:effectLst>
                <a:latin typeface="Arial" panose="020B0604020202020204" pitchFamily="34" charset="0"/>
              </a:rPr>
              <a:t>T</a:t>
            </a:r>
            <a:r>
              <a:rPr lang="en-GB" altLang="en-US" sz="800" i="1"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 has been included  (</a:t>
            </a:r>
            <a:r>
              <a:rPr lang="en-GB" altLang="en-US" sz="1700" i="1" dirty="0">
                <a:effectLst>
                  <a:outerShdw blurRad="38100" dist="38100" dir="2700000" algn="tl">
                    <a:srgbClr val="000000"/>
                  </a:outerShdw>
                </a:effectLst>
                <a:latin typeface="Arial" panose="020B0604020202020204" pitchFamily="34" charset="0"/>
              </a:rPr>
              <a:t>E</a:t>
            </a:r>
            <a:r>
              <a:rPr lang="en-GB" altLang="en-US" sz="1700" dirty="0">
                <a:effectLst>
                  <a:outerShdw blurRad="38100" dist="38100" dir="2700000" algn="tl">
                    <a:srgbClr val="000000"/>
                  </a:outerShdw>
                </a:effectLst>
                <a:latin typeface="Arial" panose="020B0604020202020204" pitchFamily="34" charset="0"/>
              </a:rPr>
              <a:t> = Young’s modulus; </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α</a:t>
            </a:r>
            <a:r>
              <a:rPr lang="en-GB" altLang="en-US" sz="1700" dirty="0">
                <a:effectLst>
                  <a:outerShdw blurRad="38100" dist="38100" dir="2700000" algn="tl">
                    <a:srgbClr val="000000"/>
                  </a:outerShdw>
                </a:effectLst>
                <a:latin typeface="Arial" panose="020B0604020202020204" pitchFamily="34" charset="0"/>
              </a:rPr>
              <a:t> = thermal expansion coefficient)</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a:extLst>
              <a:ext uri="{FF2B5EF4-FFF2-40B4-BE49-F238E27FC236}">
                <a16:creationId xmlns:a16="http://schemas.microsoft.com/office/drawing/2014/main" id="{3F7B883B-926E-4EC9-AEEA-17EFB04646A5}"/>
              </a:ext>
            </a:extLst>
          </p:cNvPr>
          <p:cNvSpPr>
            <a:spLocks noGrp="1" noChangeArrowheads="1"/>
          </p:cNvSpPr>
          <p:nvPr>
            <p:ph type="title"/>
          </p:nvPr>
        </p:nvSpPr>
        <p:spPr>
          <a:noFill/>
        </p:spPr>
        <p:txBody>
          <a:bodyPr/>
          <a:lstStyle/>
          <a:p>
            <a:r>
              <a:rPr lang="en-GB" altLang="en-US">
                <a:effectLst/>
              </a:rPr>
              <a:t>Horizontal stresses: uniaxial strain reference state  2</a:t>
            </a:r>
          </a:p>
        </p:txBody>
      </p:sp>
      <p:pic>
        <p:nvPicPr>
          <p:cNvPr id="283656" name="Picture 2" descr="GR10.jpg">
            <a:extLst>
              <a:ext uri="{FF2B5EF4-FFF2-40B4-BE49-F238E27FC236}">
                <a16:creationId xmlns:a16="http://schemas.microsoft.com/office/drawing/2014/main" id="{7DCA6CEE-9334-4DBE-80F8-D0986CFE7F87}"/>
              </a:ext>
            </a:extLst>
          </p:cNvPr>
          <p:cNvPicPr>
            <a:picLocks noGrp="1" noChangeAspect="1"/>
          </p:cNvPicPr>
          <p:nvPr>
            <p:ph sz="half" idx="2"/>
          </p:nvPr>
        </p:nvPicPr>
        <p:blipFill>
          <a:blip r:embed="rId3">
            <a:lum bright="-6000" contrast="20000"/>
            <a:extLst>
              <a:ext uri="{28A0092B-C50C-407E-A947-70E740481C1C}">
                <a14:useLocalDpi xmlns:a14="http://schemas.microsoft.com/office/drawing/2010/main" val="0"/>
              </a:ext>
            </a:extLst>
          </a:blip>
          <a:srcRect/>
          <a:stretch>
            <a:fillRect/>
          </a:stretch>
        </p:blipFill>
        <p:spPr>
          <a:xfrm>
            <a:off x="223838" y="2865593"/>
            <a:ext cx="2867025" cy="27527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3659" name="Text Box 11">
            <a:extLst>
              <a:ext uri="{FF2B5EF4-FFF2-40B4-BE49-F238E27FC236}">
                <a16:creationId xmlns:a16="http://schemas.microsoft.com/office/drawing/2014/main" id="{AE733270-97CC-4C28-B4FE-3D8A97CBEB72}"/>
              </a:ext>
            </a:extLst>
          </p:cNvPr>
          <p:cNvSpPr txBox="1">
            <a:spLocks noChangeArrowheads="1"/>
          </p:cNvSpPr>
          <p:nvPr/>
        </p:nvSpPr>
        <p:spPr bwMode="auto">
          <a:xfrm>
            <a:off x="428125" y="5752374"/>
            <a:ext cx="2754457"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Right: fracture sets in sandstone units but not within mudstone interbeds – </a:t>
            </a:r>
            <a:r>
              <a:rPr lang="en-GB" altLang="en-US" sz="1400" dirty="0" err="1">
                <a:solidFill>
                  <a:srgbClr val="FFFF00"/>
                </a:solidFill>
                <a:effectLst>
                  <a:outerShdw blurRad="38100" dist="38100" dir="2700000" algn="tl">
                    <a:srgbClr val="000000"/>
                  </a:outerShdw>
                </a:effectLst>
                <a:latin typeface="Arial" panose="020B0604020202020204" pitchFamily="34" charset="0"/>
              </a:rPr>
              <a:t>Amroth</a:t>
            </a:r>
            <a:endParaRPr lang="en-GB" altLang="en-US" sz="1400" dirty="0">
              <a:solidFill>
                <a:srgbClr val="FFFF00"/>
              </a:solidFill>
              <a:effectLst>
                <a:outerShdw blurRad="38100" dist="38100" dir="2700000" algn="tl">
                  <a:srgbClr val="000000"/>
                </a:outerShdw>
              </a:effectLst>
              <a:latin typeface="Arial" panose="020B0604020202020204" pitchFamily="34" charset="0"/>
            </a:endParaRPr>
          </a:p>
        </p:txBody>
      </p:sp>
      <p:sp>
        <p:nvSpPr>
          <p:cNvPr id="283660" name="Text Box 12">
            <a:extLst>
              <a:ext uri="{FF2B5EF4-FFF2-40B4-BE49-F238E27FC236}">
                <a16:creationId xmlns:a16="http://schemas.microsoft.com/office/drawing/2014/main" id="{755843F7-723B-4B3D-BDDB-A4D081CFAAD6}"/>
              </a:ext>
            </a:extLst>
          </p:cNvPr>
          <p:cNvSpPr txBox="1">
            <a:spLocks noChangeArrowheads="1"/>
          </p:cNvSpPr>
          <p:nvPr/>
        </p:nvSpPr>
        <p:spPr bwMode="auto">
          <a:xfrm>
            <a:off x="136525" y="793688"/>
            <a:ext cx="8858250" cy="1923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Depending upon their </a:t>
            </a:r>
            <a:r>
              <a:rPr lang="el-GR" altLang="en-US" sz="1700" i="1" dirty="0">
                <a:solidFill>
                  <a:srgbClr val="FF66CC"/>
                </a:solidFill>
                <a:effectLst>
                  <a:outerShdw blurRad="38100" dist="38100" dir="2700000" algn="tl">
                    <a:srgbClr val="000000"/>
                  </a:outerShdw>
                </a:effectLst>
                <a:latin typeface="Cambria Math" panose="02040503050406030204" pitchFamily="18" charset="0"/>
                <a:ea typeface="Cambria Math" panose="02040503050406030204" pitchFamily="18" charset="0"/>
              </a:rPr>
              <a:t>ν</a:t>
            </a:r>
            <a:r>
              <a:rPr lang="en-GB" altLang="en-US" sz="1700" dirty="0">
                <a:solidFill>
                  <a:srgbClr val="FF66CC"/>
                </a:solidFill>
                <a:effectLst>
                  <a:outerShdw blurRad="38100" dist="38100" dir="2700000" algn="tl">
                    <a:srgbClr val="000000"/>
                  </a:outerShdw>
                </a:effectLst>
                <a:latin typeface="Arial" panose="020B0604020202020204" pitchFamily="34" charset="0"/>
              </a:rPr>
              <a:t>, </a:t>
            </a:r>
            <a:r>
              <a:rPr lang="en-GB" altLang="en-US" sz="1700" i="1" dirty="0">
                <a:solidFill>
                  <a:srgbClr val="FF66CC"/>
                </a:solidFill>
                <a:effectLst>
                  <a:outerShdw blurRad="38100" dist="38100" dir="2700000" algn="tl">
                    <a:srgbClr val="000000"/>
                  </a:outerShdw>
                </a:effectLst>
                <a:latin typeface="Arial" panose="020B0604020202020204" pitchFamily="34" charset="0"/>
              </a:rPr>
              <a:t>E</a:t>
            </a:r>
            <a:r>
              <a:rPr lang="en-GB" altLang="en-US" sz="1700" dirty="0">
                <a:solidFill>
                  <a:srgbClr val="FF66CC"/>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and</a:t>
            </a:r>
            <a:r>
              <a:rPr lang="en-GB" altLang="en-US" sz="1700" dirty="0">
                <a:solidFill>
                  <a:srgbClr val="FF66CC"/>
                </a:solidFill>
                <a:effectLst>
                  <a:outerShdw blurRad="38100" dist="38100" dir="2700000" algn="tl">
                    <a:srgbClr val="000000"/>
                  </a:outerShdw>
                </a:effectLst>
                <a:latin typeface="Arial" panose="020B0604020202020204" pitchFamily="34" charset="0"/>
              </a:rPr>
              <a:t> </a:t>
            </a:r>
            <a:r>
              <a:rPr lang="el-GR" altLang="en-US" sz="1700" i="1" dirty="0">
                <a:solidFill>
                  <a:srgbClr val="FF66CC"/>
                </a:solidFill>
                <a:effectLst>
                  <a:outerShdw blurRad="38100" dist="38100" dir="2700000" algn="tl">
                    <a:srgbClr val="000000"/>
                  </a:outerShdw>
                </a:effectLst>
                <a:latin typeface="Cambria Math" panose="02040503050406030204" pitchFamily="18" charset="0"/>
                <a:ea typeface="Cambria Math" panose="02040503050406030204" pitchFamily="18" charset="0"/>
              </a:rPr>
              <a:t>α</a:t>
            </a:r>
            <a:r>
              <a:rPr lang="en-GB" altLang="en-US" sz="1700" dirty="0">
                <a:effectLst>
                  <a:outerShdw blurRad="38100" dist="38100" dir="2700000" algn="tl">
                    <a:srgbClr val="000000"/>
                  </a:outerShdw>
                </a:effectLst>
                <a:latin typeface="Arial" panose="020B0604020202020204" pitchFamily="34" charset="0"/>
              </a:rPr>
              <a:t>, adjacent lithologies will have </a:t>
            </a:r>
            <a:r>
              <a:rPr lang="en-GB" altLang="en-US" sz="1700" dirty="0">
                <a:solidFill>
                  <a:srgbClr val="FF66CC"/>
                </a:solidFill>
                <a:effectLst>
                  <a:outerShdw blurRad="38100" dist="38100" dir="2700000" algn="tl">
                    <a:srgbClr val="000000"/>
                  </a:outerShdw>
                </a:effectLst>
                <a:latin typeface="Arial" panose="020B0604020202020204" pitchFamily="34" charset="0"/>
              </a:rPr>
              <a:t>different stress histories</a:t>
            </a:r>
          </a:p>
          <a:p>
            <a:pPr marL="285750" indent="-285750">
              <a:lnSpc>
                <a:spcPct val="120000"/>
              </a:lnSpc>
              <a:spcBef>
                <a:spcPct val="50000"/>
              </a:spcBef>
              <a:buClr>
                <a:schemeClr val="tx1"/>
              </a:buClr>
              <a:buFont typeface="Symbol" panose="05050102010706020507" pitchFamily="18" charset="2"/>
              <a:buChar char=" "/>
            </a:pPr>
            <a:r>
              <a:rPr lang="en-GB"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H</a:t>
            </a:r>
            <a:r>
              <a:rPr lang="en-GB" altLang="en-US" sz="1700" dirty="0">
                <a:solidFill>
                  <a:srgbClr val="FFFF00"/>
                </a:solidFill>
                <a:effectLst/>
                <a:latin typeface="Arial" panose="020B0604020202020204" pitchFamily="34" charset="0"/>
              </a:rPr>
              <a:t>   =   [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dirty="0">
                <a:solidFill>
                  <a:srgbClr val="FFFF00"/>
                </a:solidFill>
                <a:effectLst/>
                <a:latin typeface="Arial" panose="020B0604020202020204" pitchFamily="34" charset="0"/>
              </a:rPr>
              <a:t> / (1 -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i="1" dirty="0">
                <a:solidFill>
                  <a:srgbClr val="FFFF00"/>
                </a:solidFill>
                <a:effectLst/>
                <a:latin typeface="Symbol" panose="05050102010706020507" pitchFamily="18" charset="2"/>
              </a:rPr>
              <a:t> </a:t>
            </a:r>
            <a:r>
              <a:rPr lang="en-GB" altLang="en-US" sz="1700" dirty="0">
                <a:solidFill>
                  <a:srgbClr val="FFFF00"/>
                </a:solidFill>
                <a:effectLst/>
                <a:latin typeface="Arial" panose="020B0604020202020204" pitchFamily="34" charset="0"/>
              </a:rPr>
              <a:t>) ] </a:t>
            </a:r>
            <a:r>
              <a:rPr lang="en-GB" altLang="en-US" sz="1700" i="1" dirty="0" err="1">
                <a:solidFill>
                  <a:srgbClr val="FFFF00"/>
                </a:solidFill>
                <a:effectLst/>
                <a:latin typeface="Symbol" panose="05050102010706020507" pitchFamily="18" charset="2"/>
              </a:rPr>
              <a:t>s</a:t>
            </a:r>
            <a:r>
              <a:rPr lang="en-GB" altLang="en-US" sz="1700" baseline="-25000" dirty="0" err="1">
                <a:solidFill>
                  <a:srgbClr val="FFFF00"/>
                </a:solidFill>
                <a:effectLst/>
                <a:latin typeface="Arial" panose="020B0604020202020204" pitchFamily="34" charset="0"/>
              </a:rPr>
              <a:t>v</a:t>
            </a:r>
            <a:endParaRPr lang="en-GB" altLang="en-US" sz="1700" baseline="-25000" dirty="0">
              <a:solidFill>
                <a:srgbClr val="FFFF00"/>
              </a:solidFill>
              <a:effectLst/>
              <a:latin typeface="Arial" panose="020B0604020202020204" pitchFamily="34" charset="0"/>
            </a:endParaRPr>
          </a:p>
          <a:p>
            <a:pPr marL="285750" indent="-285750">
              <a:lnSpc>
                <a:spcPct val="120000"/>
              </a:lnSpc>
              <a:spcBef>
                <a:spcPct val="50000"/>
              </a:spcBef>
              <a:buClr>
                <a:schemeClr val="tx1"/>
              </a:buClr>
              <a:buFont typeface="Arial" panose="020B0604020202020204" pitchFamily="34" charset="0"/>
              <a:buChar char="•"/>
            </a:pPr>
            <a:r>
              <a:rPr lang="en-GB" altLang="en-US" sz="1700" dirty="0">
                <a:effectLst>
                  <a:outerShdw blurRad="38100" dist="38100" dir="2700000" algn="tl">
                    <a:srgbClr val="000000"/>
                  </a:outerShdw>
                </a:effectLst>
                <a:latin typeface="Arial" panose="020B0604020202020204" pitchFamily="34" charset="0"/>
              </a:rPr>
              <a:t>If during burial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i="1" baseline="-25000" dirty="0">
                <a:solidFill>
                  <a:srgbClr val="FFFF00"/>
                </a:solidFill>
                <a:effectLst/>
                <a:latin typeface="Arial" panose="020B0604020202020204" pitchFamily="34" charset="0"/>
                <a:ea typeface="Cambria Math" panose="02040503050406030204" pitchFamily="18" charset="0"/>
              </a:rPr>
              <a:t>sands </a:t>
            </a:r>
            <a:r>
              <a:rPr lang="en-GB" altLang="en-US" sz="1700" dirty="0">
                <a:solidFill>
                  <a:srgbClr val="FFFF00"/>
                </a:solidFill>
                <a:effectLst/>
                <a:latin typeface="Arial" panose="020B0604020202020204" pitchFamily="34" charset="0"/>
                <a:ea typeface="Cambria Math" panose="02040503050406030204" pitchFamily="18" charset="0"/>
              </a:rPr>
              <a:t>= 0.25 </a:t>
            </a:r>
            <a:r>
              <a:rPr lang="en-GB" altLang="en-US" sz="1700" dirty="0">
                <a:effectLst/>
                <a:latin typeface="Arial" panose="020B0604020202020204" pitchFamily="34" charset="0"/>
                <a:ea typeface="Cambria Math" panose="02040503050406030204" pitchFamily="18" charset="0"/>
              </a:rPr>
              <a:t>and</a:t>
            </a:r>
            <a:r>
              <a:rPr lang="en-GB" altLang="en-US" sz="1700" dirty="0">
                <a:solidFill>
                  <a:srgbClr val="FFFF00"/>
                </a:solidFill>
                <a:effectLst/>
                <a:latin typeface="Arial" panose="020B0604020202020204" pitchFamily="34" charset="0"/>
                <a:ea typeface="Cambria Math" panose="02040503050406030204" pitchFamily="18" charset="0"/>
              </a:rPr>
              <a:t>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i="1" baseline="-25000" dirty="0">
                <a:solidFill>
                  <a:srgbClr val="FFFF00"/>
                </a:solidFill>
                <a:effectLst/>
                <a:latin typeface="Arial" panose="020B0604020202020204" pitchFamily="34" charset="0"/>
                <a:ea typeface="Cambria Math" panose="02040503050406030204" pitchFamily="18" charset="0"/>
              </a:rPr>
              <a:t>muds </a:t>
            </a:r>
            <a:r>
              <a:rPr lang="en-GB" altLang="en-US" sz="1700" dirty="0">
                <a:solidFill>
                  <a:srgbClr val="FFFF00"/>
                </a:solidFill>
                <a:effectLst/>
                <a:latin typeface="Arial" panose="020B0604020202020204" pitchFamily="34" charset="0"/>
                <a:ea typeface="Cambria Math" panose="02040503050406030204" pitchFamily="18" charset="0"/>
              </a:rPr>
              <a:t>= 0.40</a:t>
            </a:r>
            <a:r>
              <a:rPr lang="en-GB" altLang="en-US" sz="1700" dirty="0">
                <a:effectLst/>
                <a:latin typeface="Arial" panose="020B0604020202020204" pitchFamily="34" charset="0"/>
                <a:ea typeface="Cambria Math" panose="02040503050406030204" pitchFamily="18" charset="0"/>
              </a:rPr>
              <a:t> then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H, sands</a:t>
            </a:r>
            <a:r>
              <a:rPr lang="en-GB" altLang="en-US" sz="1700" dirty="0">
                <a:solidFill>
                  <a:srgbClr val="FFFF00"/>
                </a:solidFill>
                <a:effectLst/>
                <a:latin typeface="Arial" panose="020B0604020202020204" pitchFamily="34" charset="0"/>
              </a:rPr>
              <a:t>  = 0.5</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latin typeface="Arial" panose="020B0604020202020204" pitchFamily="34" charset="0"/>
              </a:rPr>
              <a:t>H, muds </a:t>
            </a:r>
            <a:r>
              <a:rPr lang="en-GB" altLang="en-US" sz="1700" dirty="0">
                <a:effectLst/>
                <a:latin typeface="Arial" panose="020B0604020202020204" pitchFamily="34" charset="0"/>
              </a:rPr>
              <a:t>; if after lithification at depth both lithologies have </a:t>
            </a:r>
            <a:r>
              <a:rPr lang="el-GR" altLang="en-US" sz="1700" i="1" dirty="0">
                <a:solidFill>
                  <a:srgbClr val="FFFF00"/>
                </a:solidFill>
                <a:effectLst/>
                <a:latin typeface="Cambria Math" panose="02040503050406030204" pitchFamily="18" charset="0"/>
                <a:ea typeface="Cambria Math" panose="02040503050406030204" pitchFamily="18" charset="0"/>
              </a:rPr>
              <a:t>ν</a:t>
            </a:r>
            <a:r>
              <a:rPr lang="en-GB" altLang="en-US" sz="1700" i="1" dirty="0">
                <a:solidFill>
                  <a:srgbClr val="FFFF00"/>
                </a:solidFill>
                <a:effectLst/>
                <a:latin typeface="Cambria Math" panose="02040503050406030204" pitchFamily="18" charset="0"/>
                <a:ea typeface="Cambria Math" panose="02040503050406030204" pitchFamily="18" charset="0"/>
              </a:rPr>
              <a:t>  </a:t>
            </a:r>
            <a:r>
              <a:rPr lang="el-GR" altLang="en-US" sz="1700" dirty="0">
                <a:solidFill>
                  <a:srgbClr val="FFFF00"/>
                </a:solidFill>
                <a:effectLst/>
                <a:latin typeface="Arial" panose="020B0604020202020204" pitchFamily="34" charset="0"/>
                <a:ea typeface="Cambria Math" panose="02040503050406030204" pitchFamily="18" charset="0"/>
                <a:cs typeface="Arial" panose="020B0604020202020204" pitchFamily="34" charset="0"/>
              </a:rPr>
              <a:t>~</a:t>
            </a:r>
            <a:r>
              <a:rPr lang="en-GB" altLang="en-US" sz="1700" dirty="0">
                <a:solidFill>
                  <a:srgbClr val="FFFF00"/>
                </a:solidFill>
                <a:effectLst/>
                <a:latin typeface="Arial" panose="020B0604020202020204" pitchFamily="34" charset="0"/>
                <a:ea typeface="Cambria Math" panose="02040503050406030204" pitchFamily="18" charset="0"/>
                <a:cs typeface="Arial" panose="020B0604020202020204" pitchFamily="34" charset="0"/>
              </a:rPr>
              <a:t> 0.3</a:t>
            </a:r>
            <a:r>
              <a:rPr lang="en-GB" altLang="en-US" sz="1700" dirty="0">
                <a:effectLst/>
                <a:latin typeface="Arial" panose="020B0604020202020204" pitchFamily="34" charset="0"/>
                <a:ea typeface="Cambria Math" panose="02040503050406030204" pitchFamily="18" charset="0"/>
                <a:cs typeface="Arial" panose="020B0604020202020204" pitchFamily="34" charset="0"/>
              </a:rPr>
              <a:t>, then when they are brought back to the surface, the sandstones will be in tension and the mudstones in compression</a:t>
            </a:r>
            <a:endParaRPr lang="en-GB" altLang="en-US" sz="1700" dirty="0">
              <a:effectLst>
                <a:outerShdw blurRad="38100" dist="38100" dir="2700000" algn="tl">
                  <a:srgbClr val="000000"/>
                </a:outerShdw>
              </a:effectLst>
              <a:latin typeface="Arial" panose="020B0604020202020204" pitchFamily="34" charset="0"/>
            </a:endParaRPr>
          </a:p>
        </p:txBody>
      </p:sp>
      <p:pic>
        <p:nvPicPr>
          <p:cNvPr id="283662" name="Picture 14" descr="06c-Amroth">
            <a:extLst>
              <a:ext uri="{FF2B5EF4-FFF2-40B4-BE49-F238E27FC236}">
                <a16:creationId xmlns:a16="http://schemas.microsoft.com/office/drawing/2014/main" id="{4273F3B3-0502-4755-9AE3-3BF1E088A5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5650" y="2865593"/>
            <a:ext cx="5599113" cy="37242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a:extLst>
              <a:ext uri="{FF2B5EF4-FFF2-40B4-BE49-F238E27FC236}">
                <a16:creationId xmlns:a16="http://schemas.microsoft.com/office/drawing/2014/main" id="{AA365948-E9C2-4430-80A4-6C2AD80A5FAA}"/>
              </a:ext>
            </a:extLst>
          </p:cNvPr>
          <p:cNvSpPr>
            <a:spLocks noGrp="1" noChangeArrowheads="1"/>
          </p:cNvSpPr>
          <p:nvPr>
            <p:ph type="title"/>
          </p:nvPr>
        </p:nvSpPr>
        <p:spPr>
          <a:noFill/>
        </p:spPr>
        <p:txBody>
          <a:bodyPr/>
          <a:lstStyle/>
          <a:p>
            <a:r>
              <a:rPr lang="en-GB" altLang="en-US">
                <a:effectLst/>
              </a:rPr>
              <a:t>Constant remote horizontal stresses</a:t>
            </a:r>
          </a:p>
        </p:txBody>
      </p:sp>
      <p:sp>
        <p:nvSpPr>
          <p:cNvPr id="285703" name="Text Box 7">
            <a:extLst>
              <a:ext uri="{FF2B5EF4-FFF2-40B4-BE49-F238E27FC236}">
                <a16:creationId xmlns:a16="http://schemas.microsoft.com/office/drawing/2014/main" id="{4B53D0EE-6BC5-4220-8AA4-5091F64E4D8B}"/>
              </a:ext>
            </a:extLst>
          </p:cNvPr>
          <p:cNvSpPr txBox="1">
            <a:spLocks noChangeArrowheads="1"/>
          </p:cNvSpPr>
          <p:nvPr/>
        </p:nvSpPr>
        <p:spPr bwMode="auto">
          <a:xfrm>
            <a:off x="111125" y="766763"/>
            <a:ext cx="4271963" cy="208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Consider an </a:t>
            </a:r>
            <a:r>
              <a:rPr lang="en-GB" altLang="en-US" sz="1700" dirty="0" err="1">
                <a:solidFill>
                  <a:srgbClr val="FF66CC"/>
                </a:solidFill>
                <a:effectLst>
                  <a:outerShdw blurRad="38100" dist="38100" dir="2700000" algn="tl">
                    <a:srgbClr val="000000"/>
                  </a:outerShdw>
                </a:effectLst>
                <a:latin typeface="Arial" panose="020B0604020202020204" pitchFamily="34" charset="0"/>
              </a:rPr>
              <a:t>isostatically</a:t>
            </a:r>
            <a:r>
              <a:rPr lang="en-GB" altLang="en-US" sz="1700" dirty="0">
                <a:solidFill>
                  <a:srgbClr val="FF66CC"/>
                </a:solidFill>
                <a:effectLst>
                  <a:outerShdw blurRad="38100" dist="38100" dir="2700000" algn="tl">
                    <a:srgbClr val="000000"/>
                  </a:outerShdw>
                </a:effectLst>
                <a:latin typeface="Arial" panose="020B0604020202020204" pitchFamily="34" charset="0"/>
              </a:rPr>
              <a:t> compensated lithosphere</a:t>
            </a:r>
            <a:r>
              <a:rPr lang="en-GB" altLang="en-US" sz="1700" dirty="0">
                <a:effectLst>
                  <a:outerShdw blurRad="38100" dist="38100" dir="2700000" algn="tl">
                    <a:srgbClr val="000000"/>
                  </a:outerShdw>
                </a:effectLst>
                <a:latin typeface="Arial" panose="020B0604020202020204" pitchFamily="34" charset="0"/>
              </a:rPr>
              <a:t> of thickness </a:t>
            </a:r>
            <a:r>
              <a:rPr lang="en-GB" altLang="en-US" sz="1700" i="1" dirty="0">
                <a:solidFill>
                  <a:srgbClr val="FFFF00"/>
                </a:solidFill>
                <a:effectLst>
                  <a:outerShdw blurRad="38100" dist="38100" dir="2700000" algn="tl">
                    <a:srgbClr val="000000"/>
                  </a:outerShdw>
                </a:effectLst>
                <a:latin typeface="Arial" panose="020B0604020202020204" pitchFamily="34" charset="0"/>
              </a:rPr>
              <a:t>z</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Below this depth the mantle behaves like a fluid, that is, </a:t>
            </a:r>
            <a:r>
              <a:rPr lang="el-GR" altLang="en-US" sz="1700" i="1" spc="150" dirty="0">
                <a:solidFill>
                  <a:srgbClr val="FFFF00"/>
                </a:solidFill>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H</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spc="150" dirty="0">
                <a:solidFill>
                  <a:srgbClr val="FFFF00"/>
                </a:solidFill>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h</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spc="150" dirty="0">
                <a:solidFill>
                  <a:srgbClr val="FFFF00"/>
                </a:solidFill>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v</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If we </a:t>
            </a:r>
            <a:r>
              <a:rPr lang="en-GB" altLang="en-US" sz="1700" dirty="0">
                <a:solidFill>
                  <a:srgbClr val="FF6600"/>
                </a:solidFill>
                <a:effectLst>
                  <a:outerShdw blurRad="38100" dist="38100" dir="2700000" algn="tl">
                    <a:srgbClr val="000000"/>
                  </a:outerShdw>
                </a:effectLst>
                <a:latin typeface="Arial" panose="020B0604020202020204" pitchFamily="34" charset="0"/>
              </a:rPr>
              <a:t>change the thickness of the lithosphere</a:t>
            </a:r>
            <a:r>
              <a:rPr lang="en-GB" altLang="en-US" sz="1700" dirty="0">
                <a:effectLst>
                  <a:outerShdw blurRad="38100" dist="38100" dir="2700000" algn="tl">
                    <a:srgbClr val="000000"/>
                  </a:outerShdw>
                </a:effectLst>
                <a:latin typeface="Arial" panose="020B0604020202020204" pitchFamily="34" charset="0"/>
              </a:rPr>
              <a:t> by </a:t>
            </a:r>
            <a:r>
              <a:rPr lang="en-GB" altLang="en-US" sz="1700" dirty="0">
                <a:solidFill>
                  <a:srgbClr val="FF66CC"/>
                </a:solidFill>
                <a:effectLst>
                  <a:outerShdw blurRad="38100" dist="38100" dir="2700000" algn="tl">
                    <a:srgbClr val="000000"/>
                  </a:outerShdw>
                </a:effectLst>
                <a:latin typeface="Arial" panose="020B0604020202020204" pitchFamily="34" charset="0"/>
              </a:rPr>
              <a:t>erosion</a:t>
            </a:r>
            <a:r>
              <a:rPr lang="en-GB" altLang="en-US" sz="1700" dirty="0">
                <a:effectLst>
                  <a:outerShdw blurRad="38100" dist="38100" dir="2700000" algn="tl">
                    <a:srgbClr val="000000"/>
                  </a:outerShdw>
                </a:effectLst>
                <a:latin typeface="Arial" panose="020B0604020202020204" pitchFamily="34" charset="0"/>
              </a:rPr>
              <a:t> (thinning) or</a:t>
            </a:r>
          </a:p>
        </p:txBody>
      </p:sp>
      <p:pic>
        <p:nvPicPr>
          <p:cNvPr id="285712" name="Picture 16">
            <a:extLst>
              <a:ext uri="{FF2B5EF4-FFF2-40B4-BE49-F238E27FC236}">
                <a16:creationId xmlns:a16="http://schemas.microsoft.com/office/drawing/2014/main" id="{EF55D929-2EFC-4259-ABD6-4552FF07F5A1}"/>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717800" y="4733925"/>
            <a:ext cx="6213475" cy="1135063"/>
          </a:xfrm>
          <a:noFill/>
          <a:ln w="38100" cap="flat">
            <a:solidFill>
              <a:schemeClr val="bg2"/>
            </a:solidFill>
            <a:miter lim="800000"/>
            <a:headEnd/>
            <a:tailEnd/>
          </a:ln>
        </p:spPr>
      </p:pic>
      <p:sp>
        <p:nvSpPr>
          <p:cNvPr id="285707" name="Text Box 11">
            <a:extLst>
              <a:ext uri="{FF2B5EF4-FFF2-40B4-BE49-F238E27FC236}">
                <a16:creationId xmlns:a16="http://schemas.microsoft.com/office/drawing/2014/main" id="{C52418EB-3196-4B17-8A9D-2A963BAFC496}"/>
              </a:ext>
            </a:extLst>
          </p:cNvPr>
          <p:cNvSpPr txBox="1">
            <a:spLocks noChangeArrowheads="1"/>
          </p:cNvSpPr>
          <p:nvPr/>
        </p:nvSpPr>
        <p:spPr bwMode="auto">
          <a:xfrm>
            <a:off x="107950" y="2773363"/>
            <a:ext cx="892810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pPr>
            <a:r>
              <a:rPr lang="en-GB" altLang="en-US" sz="1700" dirty="0">
                <a:effectLst>
                  <a:outerShdw blurRad="38100" dist="38100" dir="2700000" algn="tl">
                    <a:srgbClr val="000000"/>
                  </a:outerShdw>
                </a:effectLst>
                <a:latin typeface="Arial" panose="020B0604020202020204" pitchFamily="34" charset="0"/>
              </a:rPr>
              <a:t>	by </a:t>
            </a:r>
            <a:r>
              <a:rPr lang="en-GB" altLang="en-US" sz="1700" dirty="0">
                <a:solidFill>
                  <a:srgbClr val="FF66CC"/>
                </a:solidFill>
                <a:effectLst>
                  <a:outerShdw blurRad="38100" dist="38100" dir="2700000" algn="tl">
                    <a:srgbClr val="000000"/>
                  </a:outerShdw>
                </a:effectLst>
                <a:latin typeface="Arial" panose="020B0604020202020204" pitchFamily="34" charset="0"/>
              </a:rPr>
              <a:t>sedimentation</a:t>
            </a:r>
            <a:r>
              <a:rPr lang="en-GB" altLang="en-US" sz="1700" dirty="0">
                <a:effectLst>
                  <a:outerShdw blurRad="38100" dist="38100" dir="2700000" algn="tl">
                    <a:srgbClr val="000000"/>
                  </a:outerShdw>
                </a:effectLst>
                <a:latin typeface="Arial" panose="020B0604020202020204" pitchFamily="34" charset="0"/>
              </a:rPr>
              <a:t> (thickening), isostatic readjustment raises the base of the lithosphere (erosion case) or lowers it (sedimentation case)</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If </a:t>
            </a:r>
            <a:r>
              <a:rPr lang="en-GB" altLang="en-US" sz="1700" dirty="0">
                <a:solidFill>
                  <a:srgbClr val="FF66CC"/>
                </a:solidFill>
                <a:effectLst>
                  <a:outerShdw blurRad="38100" dist="38100" dir="2700000" algn="tl">
                    <a:srgbClr val="000000"/>
                  </a:outerShdw>
                </a:effectLst>
                <a:latin typeface="Arial" panose="020B0604020202020204" pitchFamily="34" charset="0"/>
              </a:rPr>
              <a:t>at great distance the</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horizontal stress remains constant</a:t>
            </a:r>
            <a:r>
              <a:rPr lang="en-GB" altLang="en-US" sz="1700" dirty="0">
                <a:effectLst>
                  <a:outerShdw blurRad="38100" dist="38100" dir="2700000" algn="tl">
                    <a:srgbClr val="000000"/>
                  </a:outerShdw>
                </a:effectLst>
                <a:latin typeface="Arial" panose="020B0604020202020204" pitchFamily="34" charset="0"/>
              </a:rPr>
              <a:t>, then locally the horizontal stress must be greater in the thinner section of lithosphere than in the thicker section because the horizontal forces are being applied over a smaller area</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One may show that</a:t>
            </a:r>
          </a:p>
        </p:txBody>
      </p:sp>
      <p:sp>
        <p:nvSpPr>
          <p:cNvPr id="285711" name="Text Box 15">
            <a:extLst>
              <a:ext uri="{FF2B5EF4-FFF2-40B4-BE49-F238E27FC236}">
                <a16:creationId xmlns:a16="http://schemas.microsoft.com/office/drawing/2014/main" id="{3CD259B8-2744-4C13-B1EA-F4535F8D4C91}"/>
              </a:ext>
            </a:extLst>
          </p:cNvPr>
          <p:cNvSpPr txBox="1">
            <a:spLocks noChangeArrowheads="1"/>
          </p:cNvSpPr>
          <p:nvPr/>
        </p:nvSpPr>
        <p:spPr bwMode="auto">
          <a:xfrm>
            <a:off x="128588" y="6027738"/>
            <a:ext cx="8866187"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FontTx/>
              <a:buChar char="•"/>
            </a:pPr>
            <a:r>
              <a:rPr lang="en-GB" altLang="en-US" sz="1700">
                <a:solidFill>
                  <a:srgbClr val="FF6600"/>
                </a:solidFill>
                <a:effectLst>
                  <a:outerShdw blurRad="38100" dist="38100" dir="2700000" algn="tl">
                    <a:srgbClr val="000000"/>
                  </a:outerShdw>
                </a:effectLst>
                <a:latin typeface="Arial" panose="020B0604020202020204" pitchFamily="34" charset="0"/>
              </a:rPr>
              <a:t>This expression is the most realistic available for a lithosphere unaffected by tectonic forces</a:t>
            </a:r>
          </a:p>
        </p:txBody>
      </p:sp>
      <p:pic>
        <p:nvPicPr>
          <p:cNvPr id="285718" name="Picture 22" descr="Picture1">
            <a:extLst>
              <a:ext uri="{FF2B5EF4-FFF2-40B4-BE49-F238E27FC236}">
                <a16:creationId xmlns:a16="http://schemas.microsoft.com/office/drawing/2014/main" id="{9651E48D-CD41-4D0A-A29C-46DC5C91AE23}"/>
              </a:ext>
            </a:extLst>
          </p:cNvPr>
          <p:cNvPicPr>
            <a:picLocks noGrp="1" noChangeAspect="1" noChangeArrowheads="1"/>
          </p:cNvPicPr>
          <p:nvPr>
            <p:ph sz="quarter" idx="2"/>
          </p:nvPr>
        </p:nvPicPr>
        <p:blipFill>
          <a:blip r:embed="rId4">
            <a:lum bright="-10000" contrast="20000"/>
            <a:extLst>
              <a:ext uri="{28A0092B-C50C-407E-A947-70E740481C1C}">
                <a14:useLocalDpi xmlns:a14="http://schemas.microsoft.com/office/drawing/2010/main" val="0"/>
              </a:ext>
            </a:extLst>
          </a:blip>
          <a:srcRect/>
          <a:stretch>
            <a:fillRect/>
          </a:stretch>
        </p:blipFill>
        <p:spPr>
          <a:xfrm>
            <a:off x="4502150" y="925513"/>
            <a:ext cx="4405313" cy="17303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5720" name="Text Box 24">
            <a:extLst>
              <a:ext uri="{FF2B5EF4-FFF2-40B4-BE49-F238E27FC236}">
                <a16:creationId xmlns:a16="http://schemas.microsoft.com/office/drawing/2014/main" id="{851533EB-5D74-4560-89B5-67AE8960D4D7}"/>
              </a:ext>
            </a:extLst>
          </p:cNvPr>
          <p:cNvSpPr txBox="1">
            <a:spLocks noChangeArrowheads="1"/>
          </p:cNvSpPr>
          <p:nvPr/>
        </p:nvSpPr>
        <p:spPr bwMode="auto">
          <a:xfrm>
            <a:off x="317500" y="5211763"/>
            <a:ext cx="2289175"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l-GR" altLang="en-US" sz="1200" i="1" spc="150"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a:t></a:t>
            </a:r>
            <a:r>
              <a:rPr lang="en-GB" altLang="en-US" sz="1200" i="1" dirty="0">
                <a:solidFill>
                  <a:srgbClr val="FFFF00"/>
                </a:solidFill>
                <a:effectLst>
                  <a:outerShdw blurRad="38100" dist="38100" dir="2700000" algn="tl">
                    <a:srgbClr val="000000"/>
                  </a:outerShdw>
                </a:effectLst>
                <a:latin typeface="Arial" panose="020B0604020202020204" pitchFamily="34" charset="0"/>
              </a:rPr>
              <a:t>z</a:t>
            </a:r>
            <a:r>
              <a:rPr lang="en-GB" altLang="en-US" sz="1200" dirty="0">
                <a:solidFill>
                  <a:srgbClr val="FFFF00"/>
                </a:solidFill>
                <a:effectLst>
                  <a:outerShdw blurRad="38100" dist="38100" dir="2700000" algn="tl">
                    <a:srgbClr val="000000"/>
                  </a:outerShdw>
                </a:effectLst>
                <a:latin typeface="Arial" panose="020B0604020202020204" pitchFamily="34" charset="0"/>
              </a:rPr>
              <a:t> = change in thickness, thinning is -</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sz="1200" dirty="0" err="1">
                <a:solidFill>
                  <a:srgbClr val="FFFF00"/>
                </a:solidFill>
                <a:effectLst>
                  <a:outerShdw blurRad="38100" dist="38100" dir="2700000" algn="tl">
                    <a:srgbClr val="000000"/>
                  </a:outerShdw>
                </a:effectLst>
                <a:latin typeface="Arial" panose="020B0604020202020204" pitchFamily="34" charset="0"/>
              </a:rPr>
              <a:t>ve</a:t>
            </a:r>
            <a:r>
              <a:rPr lang="en-GB" altLang="en-US" sz="1200" dirty="0">
                <a:solidFill>
                  <a:srgbClr val="FFFF00"/>
                </a:solidFill>
                <a:effectLst>
                  <a:outerShdw blurRad="38100" dist="38100" dir="2700000" algn="tl">
                    <a:srgbClr val="000000"/>
                  </a:outerShdw>
                </a:effectLst>
                <a:latin typeface="Arial" panose="020B0604020202020204" pitchFamily="34" charset="0"/>
              </a:rPr>
              <a:t>; </a:t>
            </a:r>
            <a:r>
              <a:rPr lang="el-GR" altLang="en-US" sz="12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sz="1200" i="1" baseline="-25000" dirty="0">
                <a:solidFill>
                  <a:srgbClr val="FFFF00"/>
                </a:solidFill>
                <a:effectLst>
                  <a:outerShdw blurRad="38100" dist="38100" dir="2700000" algn="tl">
                    <a:srgbClr val="000000"/>
                  </a:outerShdw>
                </a:effectLst>
              </a:rPr>
              <a:t>c</a:t>
            </a:r>
            <a:r>
              <a:rPr lang="en-GB" altLang="en-US" sz="1200" dirty="0">
                <a:solidFill>
                  <a:srgbClr val="FFFF00"/>
                </a:solidFill>
                <a:effectLst>
                  <a:outerShdw blurRad="38100" dist="38100" dir="2700000" algn="tl">
                    <a:srgbClr val="000000"/>
                  </a:outerShdw>
                </a:effectLst>
              </a:rPr>
              <a:t> = lithosphere density; </a:t>
            </a:r>
            <a:r>
              <a:rPr lang="el-GR" altLang="en-US" sz="12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sz="1200" i="1" baseline="-25000" dirty="0">
                <a:solidFill>
                  <a:srgbClr val="FFFF00"/>
                </a:solidFill>
                <a:effectLst>
                  <a:outerShdw blurRad="38100" dist="38100" dir="2700000" algn="tl">
                    <a:srgbClr val="000000"/>
                  </a:outerShdw>
                </a:effectLst>
              </a:rPr>
              <a:t>m</a:t>
            </a:r>
            <a:r>
              <a:rPr lang="en-GB" altLang="en-US" sz="1200" dirty="0">
                <a:solidFill>
                  <a:srgbClr val="FFFF00"/>
                </a:solidFill>
                <a:effectLst>
                  <a:outerShdw blurRad="38100" dist="38100" dir="2700000" algn="tl">
                    <a:srgbClr val="000000"/>
                  </a:outerShdw>
                </a:effectLst>
              </a:rPr>
              <a:t> = mantle density</a:t>
            </a:r>
            <a:endParaRPr lang="en-GB" altLang="en-US" sz="1200" dirty="0">
              <a:solidFill>
                <a:srgbClr val="FFFF00"/>
              </a:solidFill>
              <a:effectLst>
                <a:outerShdw blurRad="38100" dist="38100" dir="2700000" algn="tl">
                  <a:srgbClr val="000000"/>
                </a:outerShdw>
              </a:effectLst>
              <a:latin typeface="Arial" panose="020B0604020202020204" pitchFamily="34" charset="0"/>
            </a:endParaRPr>
          </a:p>
        </p:txBody>
      </p:sp>
      <p:sp>
        <p:nvSpPr>
          <p:cNvPr id="285722" name="Text Box 26">
            <a:extLst>
              <a:ext uri="{FF2B5EF4-FFF2-40B4-BE49-F238E27FC236}">
                <a16:creationId xmlns:a16="http://schemas.microsoft.com/office/drawing/2014/main" id="{3B2B3526-F57E-4E05-B6B1-36E94E5A757C}"/>
              </a:ext>
            </a:extLst>
          </p:cNvPr>
          <p:cNvSpPr txBox="1">
            <a:spLocks noChangeArrowheads="1"/>
          </p:cNvSpPr>
          <p:nvPr/>
        </p:nvSpPr>
        <p:spPr bwMode="auto">
          <a:xfrm>
            <a:off x="2754313" y="5584825"/>
            <a:ext cx="28590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latin typeface="Arial" panose="020B0604020202020204" pitchFamily="34" charset="0"/>
              </a:rPr>
              <a:t>Difference in horizontal stress</a:t>
            </a:r>
          </a:p>
        </p:txBody>
      </p:sp>
      <p:sp>
        <p:nvSpPr>
          <p:cNvPr id="285723" name="Line 27">
            <a:extLst>
              <a:ext uri="{FF2B5EF4-FFF2-40B4-BE49-F238E27FC236}">
                <a16:creationId xmlns:a16="http://schemas.microsoft.com/office/drawing/2014/main" id="{AF4DBE74-3B56-4543-A948-02A157A70E13}"/>
              </a:ext>
            </a:extLst>
          </p:cNvPr>
          <p:cNvSpPr>
            <a:spLocks noChangeShapeType="1"/>
          </p:cNvSpPr>
          <p:nvPr/>
        </p:nvSpPr>
        <p:spPr bwMode="auto">
          <a:xfrm flipH="1" flipV="1">
            <a:off x="3168650" y="5446713"/>
            <a:ext cx="169863" cy="1809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a:extLst>
              <a:ext uri="{FF2B5EF4-FFF2-40B4-BE49-F238E27FC236}">
                <a16:creationId xmlns:a16="http://schemas.microsoft.com/office/drawing/2014/main" id="{E34D12F6-A63F-4041-A587-658FAFBBD65F}"/>
              </a:ext>
            </a:extLst>
          </p:cNvPr>
          <p:cNvSpPr>
            <a:spLocks noGrp="1" noChangeArrowheads="1"/>
          </p:cNvSpPr>
          <p:nvPr>
            <p:ph type="title" sz="quarter"/>
          </p:nvPr>
        </p:nvSpPr>
        <p:spPr>
          <a:noFill/>
        </p:spPr>
        <p:txBody>
          <a:bodyPr/>
          <a:lstStyle/>
          <a:p>
            <a:r>
              <a:rPr lang="en-GB" altLang="en-US" dirty="0">
                <a:effectLst/>
              </a:rPr>
              <a:t>Tectonic stresses</a:t>
            </a:r>
          </a:p>
        </p:txBody>
      </p:sp>
      <p:pic>
        <p:nvPicPr>
          <p:cNvPr id="321542" name="Picture 2" descr="GR12.jpg">
            <a:extLst>
              <a:ext uri="{FF2B5EF4-FFF2-40B4-BE49-F238E27FC236}">
                <a16:creationId xmlns:a16="http://schemas.microsoft.com/office/drawing/2014/main" id="{7223ABD3-26FB-46B4-901B-9F0C4E18C17C}"/>
              </a:ext>
            </a:extLst>
          </p:cNvPr>
          <p:cNvPicPr>
            <a:picLocks noGrp="1" noChangeAspect="1"/>
          </p:cNvPicPr>
          <p:nvPr>
            <p:ph sz="quarter" idx="1"/>
          </p:nvPr>
        </p:nvPicPr>
        <p:blipFill>
          <a:blip r:embed="rId3">
            <a:extLst>
              <a:ext uri="{28A0092B-C50C-407E-A947-70E740481C1C}">
                <a14:useLocalDpi xmlns:a14="http://schemas.microsoft.com/office/drawing/2010/main" val="0"/>
              </a:ext>
            </a:extLst>
          </a:blip>
          <a:srcRect l="33961" t="25383" r="36404" b="27353"/>
          <a:stretch>
            <a:fillRect/>
          </a:stretch>
        </p:blipFill>
        <p:spPr>
          <a:xfrm>
            <a:off x="3532188" y="5140325"/>
            <a:ext cx="1941512" cy="15716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321558" name="Group 22">
            <a:extLst>
              <a:ext uri="{FF2B5EF4-FFF2-40B4-BE49-F238E27FC236}">
                <a16:creationId xmlns:a16="http://schemas.microsoft.com/office/drawing/2014/main" id="{F16CB48F-223D-4FDD-BA3C-748A77205F30}"/>
              </a:ext>
            </a:extLst>
          </p:cNvPr>
          <p:cNvGrpSpPr>
            <a:grpSpLocks/>
          </p:cNvGrpSpPr>
          <p:nvPr/>
        </p:nvGrpSpPr>
        <p:grpSpPr bwMode="auto">
          <a:xfrm>
            <a:off x="671513" y="5140325"/>
            <a:ext cx="1893887" cy="1597025"/>
            <a:chOff x="423" y="3282"/>
            <a:chExt cx="1146" cy="966"/>
          </a:xfrm>
        </p:grpSpPr>
        <p:sp>
          <p:nvSpPr>
            <p:cNvPr id="321556" name="Rectangle 20">
              <a:extLst>
                <a:ext uri="{FF2B5EF4-FFF2-40B4-BE49-F238E27FC236}">
                  <a16:creationId xmlns:a16="http://schemas.microsoft.com/office/drawing/2014/main" id="{AEC5DE60-8910-4A4E-999E-163E34AB7B27}"/>
                </a:ext>
              </a:extLst>
            </p:cNvPr>
            <p:cNvSpPr>
              <a:spLocks noChangeArrowheads="1"/>
            </p:cNvSpPr>
            <p:nvPr/>
          </p:nvSpPr>
          <p:spPr bwMode="auto">
            <a:xfrm>
              <a:off x="423" y="3282"/>
              <a:ext cx="1146" cy="966"/>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21550" name="Picture 2" descr="GR12.jpg">
              <a:extLst>
                <a:ext uri="{FF2B5EF4-FFF2-40B4-BE49-F238E27FC236}">
                  <a16:creationId xmlns:a16="http://schemas.microsoft.com/office/drawing/2014/main" id="{1DBB0FC9-D877-40CD-AA4D-A6D1A911CF7A}"/>
                </a:ext>
              </a:extLst>
            </p:cNvPr>
            <p:cNvPicPr>
              <a:picLocks noChangeAspect="1"/>
            </p:cNvPicPr>
            <p:nvPr/>
          </p:nvPicPr>
          <p:blipFill>
            <a:blip r:embed="rId3">
              <a:extLst>
                <a:ext uri="{28A0092B-C50C-407E-A947-70E740481C1C}">
                  <a14:useLocalDpi xmlns:a14="http://schemas.microsoft.com/office/drawing/2010/main" val="0"/>
                </a:ext>
              </a:extLst>
            </a:blip>
            <a:srcRect r="66667" b="44420"/>
            <a:stretch>
              <a:fillRect/>
            </a:stretch>
          </p:blipFill>
          <p:spPr bwMode="auto">
            <a:xfrm>
              <a:off x="468" y="3319"/>
              <a:ext cx="1076" cy="9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21539" name="Text Box 3">
            <a:extLst>
              <a:ext uri="{FF2B5EF4-FFF2-40B4-BE49-F238E27FC236}">
                <a16:creationId xmlns:a16="http://schemas.microsoft.com/office/drawing/2014/main" id="{561A4D5F-5B2A-447A-BBA5-558978C32087}"/>
              </a:ext>
            </a:extLst>
          </p:cNvPr>
          <p:cNvSpPr txBox="1">
            <a:spLocks noChangeArrowheads="1"/>
          </p:cNvSpPr>
          <p:nvPr/>
        </p:nvSpPr>
        <p:spPr bwMode="auto">
          <a:xfrm>
            <a:off x="111125" y="769938"/>
            <a:ext cx="8964613" cy="1425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Deviations from the states of stress that we have discussed so far arise predominantly from </a:t>
            </a:r>
            <a:r>
              <a:rPr lang="en-GB" altLang="en-US" sz="1700" dirty="0">
                <a:solidFill>
                  <a:srgbClr val="FF66CC"/>
                </a:solidFill>
                <a:effectLst>
                  <a:outerShdw blurRad="38100" dist="38100" dir="2700000" algn="tl">
                    <a:srgbClr val="000000"/>
                  </a:outerShdw>
                </a:effectLst>
                <a:latin typeface="Arial" panose="020B0604020202020204" pitchFamily="34" charset="0"/>
              </a:rPr>
              <a:t>tectonic processes</a:t>
            </a:r>
          </a:p>
          <a:p>
            <a:pPr>
              <a:lnSpc>
                <a:spcPct val="120000"/>
              </a:lnSpc>
              <a:spcBef>
                <a:spcPts val="6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Tectonic stresses are classified into </a:t>
            </a:r>
            <a:r>
              <a:rPr lang="en-GB" altLang="en-US" sz="1700" dirty="0">
                <a:solidFill>
                  <a:srgbClr val="FF66CC"/>
                </a:solidFill>
                <a:effectLst>
                  <a:outerShdw blurRad="38100" dist="38100" dir="2700000" algn="tl">
                    <a:srgbClr val="000000"/>
                  </a:outerShdw>
                </a:effectLst>
                <a:latin typeface="Arial" panose="020B0604020202020204" pitchFamily="34" charset="0"/>
              </a:rPr>
              <a:t>three regimes</a:t>
            </a:r>
            <a:r>
              <a:rPr lang="en-GB" altLang="en-US" sz="1700" dirty="0">
                <a:effectLst>
                  <a:outerShdw blurRad="38100" dist="38100" dir="2700000" algn="tl">
                    <a:srgbClr val="000000"/>
                  </a:outerShdw>
                </a:effectLst>
                <a:latin typeface="Arial" panose="020B0604020202020204" pitchFamily="34" charset="0"/>
              </a:rPr>
              <a:t> depending</a:t>
            </a:r>
            <a:r>
              <a:rPr lang="en-GB" altLang="en-US" sz="1700" dirty="0">
                <a:solidFill>
                  <a:srgbClr val="FF66CC"/>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upon which of the three </a:t>
            </a:r>
            <a:r>
              <a:rPr lang="en-GB" altLang="en-US" sz="1700" dirty="0">
                <a:solidFill>
                  <a:srgbClr val="FF66CC"/>
                </a:solidFill>
                <a:effectLst>
                  <a:outerShdw blurRad="38100" dist="38100" dir="2700000" algn="tl">
                    <a:srgbClr val="000000"/>
                  </a:outerShdw>
                </a:effectLst>
                <a:latin typeface="Arial" panose="020B0604020202020204" pitchFamily="34" charset="0"/>
              </a:rPr>
              <a:t>principal stresses is vertical </a:t>
            </a:r>
            <a:r>
              <a:rPr lang="en-GB" altLang="en-US" sz="1700" dirty="0">
                <a:effectLst>
                  <a:outerShdw blurRad="38100" dist="38100" dir="2700000" algn="tl">
                    <a:srgbClr val="000000"/>
                  </a:outerShdw>
                </a:effectLst>
                <a:latin typeface="Arial" panose="020B0604020202020204" pitchFamily="34" charset="0"/>
              </a:rPr>
              <a:t>(</a:t>
            </a:r>
            <a:r>
              <a:rPr lang="en-GB" altLang="en-US" sz="1700" dirty="0" err="1">
                <a:solidFill>
                  <a:srgbClr val="FF6600"/>
                </a:solidFill>
                <a:effectLst>
                  <a:outerShdw blurRad="38100" dist="38100" dir="2700000" algn="tl">
                    <a:srgbClr val="000000"/>
                  </a:outerShdw>
                </a:effectLst>
                <a:latin typeface="Arial" panose="020B0604020202020204" pitchFamily="34" charset="0"/>
              </a:rPr>
              <a:t>Andersonian</a:t>
            </a:r>
            <a:r>
              <a:rPr lang="en-GB" altLang="en-US" sz="1700" dirty="0">
                <a:solidFill>
                  <a:srgbClr val="FF6600"/>
                </a:solidFill>
                <a:effectLst>
                  <a:outerShdw blurRad="38100" dist="38100" dir="2700000" algn="tl">
                    <a:srgbClr val="000000"/>
                  </a:outerShdw>
                </a:effectLst>
                <a:latin typeface="Arial" panose="020B0604020202020204" pitchFamily="34" charset="0"/>
              </a:rPr>
              <a:t> classification</a:t>
            </a:r>
            <a:r>
              <a:rPr lang="en-GB" altLang="en-US" sz="1700" dirty="0">
                <a:effectLst>
                  <a:outerShdw blurRad="38100" dist="38100" dir="2700000" algn="tl">
                    <a:srgbClr val="000000"/>
                  </a:outerShdw>
                </a:effectLst>
                <a:latin typeface="Arial" panose="020B0604020202020204" pitchFamily="34" charset="0"/>
              </a:rPr>
              <a:t>) </a:t>
            </a:r>
          </a:p>
        </p:txBody>
      </p:sp>
      <p:grpSp>
        <p:nvGrpSpPr>
          <p:cNvPr id="321559" name="Group 23">
            <a:extLst>
              <a:ext uri="{FF2B5EF4-FFF2-40B4-BE49-F238E27FC236}">
                <a16:creationId xmlns:a16="http://schemas.microsoft.com/office/drawing/2014/main" id="{D63F2212-5C77-4739-B888-3F19D6BD5C20}"/>
              </a:ext>
            </a:extLst>
          </p:cNvPr>
          <p:cNvGrpSpPr>
            <a:grpSpLocks/>
          </p:cNvGrpSpPr>
          <p:nvPr/>
        </p:nvGrpSpPr>
        <p:grpSpPr bwMode="auto">
          <a:xfrm>
            <a:off x="6538913" y="5140325"/>
            <a:ext cx="2044700" cy="1579563"/>
            <a:chOff x="4119" y="3294"/>
            <a:chExt cx="1215" cy="939"/>
          </a:xfrm>
        </p:grpSpPr>
        <p:sp>
          <p:nvSpPr>
            <p:cNvPr id="321557" name="Rectangle 21">
              <a:extLst>
                <a:ext uri="{FF2B5EF4-FFF2-40B4-BE49-F238E27FC236}">
                  <a16:creationId xmlns:a16="http://schemas.microsoft.com/office/drawing/2014/main" id="{456454A5-A586-4706-A023-5A59CE4DE5A5}"/>
                </a:ext>
              </a:extLst>
            </p:cNvPr>
            <p:cNvSpPr>
              <a:spLocks noChangeArrowheads="1"/>
            </p:cNvSpPr>
            <p:nvPr/>
          </p:nvSpPr>
          <p:spPr bwMode="auto">
            <a:xfrm>
              <a:off x="4119" y="3294"/>
              <a:ext cx="1215" cy="939"/>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21552" name="Picture 2" descr="GR12.jpg">
              <a:extLst>
                <a:ext uri="{FF2B5EF4-FFF2-40B4-BE49-F238E27FC236}">
                  <a16:creationId xmlns:a16="http://schemas.microsoft.com/office/drawing/2014/main" id="{FDC91C58-FD83-40DE-97D6-1255BBE2D93A}"/>
                </a:ext>
              </a:extLst>
            </p:cNvPr>
            <p:cNvPicPr>
              <a:picLocks noChangeAspect="1"/>
            </p:cNvPicPr>
            <p:nvPr/>
          </p:nvPicPr>
          <p:blipFill>
            <a:blip r:embed="rId3">
              <a:extLst>
                <a:ext uri="{28A0092B-C50C-407E-A947-70E740481C1C}">
                  <a14:useLocalDpi xmlns:a14="http://schemas.microsoft.com/office/drawing/2010/main" val="0"/>
                </a:ext>
              </a:extLst>
            </a:blip>
            <a:srcRect l="67407" t="1970" b="47922"/>
            <a:stretch>
              <a:fillRect/>
            </a:stretch>
          </p:blipFill>
          <p:spPr bwMode="auto">
            <a:xfrm>
              <a:off x="4139" y="3319"/>
              <a:ext cx="1149" cy="8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21554" name="Picture 18">
            <a:extLst>
              <a:ext uri="{FF2B5EF4-FFF2-40B4-BE49-F238E27FC236}">
                <a16:creationId xmlns:a16="http://schemas.microsoft.com/office/drawing/2014/main" id="{79524E22-7E84-4396-BA77-C2CE847EC8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264" y="2334252"/>
            <a:ext cx="8422285" cy="2656848"/>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D14CF591-ABFF-4A4E-BB71-30934A30FB95}"/>
              </a:ext>
            </a:extLst>
          </p:cNvPr>
          <p:cNvSpPr>
            <a:spLocks noGrp="1" noChangeArrowheads="1"/>
          </p:cNvSpPr>
          <p:nvPr>
            <p:ph type="title"/>
          </p:nvPr>
        </p:nvSpPr>
        <p:spPr>
          <a:noFill/>
        </p:spPr>
        <p:txBody>
          <a:bodyPr/>
          <a:lstStyle/>
          <a:p>
            <a:r>
              <a:rPr lang="en-GB" altLang="en-US">
                <a:effectLst/>
              </a:rPr>
              <a:t>Other sources of stress: stresses due to bending</a:t>
            </a:r>
          </a:p>
        </p:txBody>
      </p:sp>
      <p:sp>
        <p:nvSpPr>
          <p:cNvPr id="292867" name="Text Box 3">
            <a:extLst>
              <a:ext uri="{FF2B5EF4-FFF2-40B4-BE49-F238E27FC236}">
                <a16:creationId xmlns:a16="http://schemas.microsoft.com/office/drawing/2014/main" id="{6613F98D-817A-4939-B7E5-12C9D957227D}"/>
              </a:ext>
            </a:extLst>
          </p:cNvPr>
          <p:cNvSpPr txBox="1">
            <a:spLocks noChangeArrowheads="1"/>
          </p:cNvSpPr>
          <p:nvPr/>
        </p:nvSpPr>
        <p:spPr bwMode="auto">
          <a:xfrm>
            <a:off x="111125" y="814388"/>
            <a:ext cx="88900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Bending of the lithosphere generates stresses over distances comparable with the wavelength of the bending. </a:t>
            </a:r>
            <a:r>
              <a:rPr lang="en-GB" altLang="en-US" sz="1700">
                <a:solidFill>
                  <a:srgbClr val="FF66CC"/>
                </a:solidFill>
                <a:effectLst>
                  <a:outerShdw blurRad="38100" dist="38100" dir="2700000" algn="tl">
                    <a:srgbClr val="000000"/>
                  </a:outerShdw>
                </a:effectLst>
                <a:latin typeface="Arial" panose="020B0604020202020204" pitchFamily="34" charset="0"/>
              </a:rPr>
              <a:t>Plates bend</a:t>
            </a:r>
            <a:r>
              <a:rPr lang="en-GB" altLang="en-US" sz="1700">
                <a:effectLst>
                  <a:outerShdw blurRad="38100" dist="38100" dir="2700000" algn="tl">
                    <a:srgbClr val="000000"/>
                  </a:outerShdw>
                </a:effectLst>
                <a:latin typeface="Arial" panose="020B0604020202020204" pitchFamily="34" charset="0"/>
              </a:rPr>
              <a:t> . . .</a:t>
            </a:r>
          </a:p>
        </p:txBody>
      </p:sp>
      <p:sp>
        <p:nvSpPr>
          <p:cNvPr id="292868" name="Text Box 4">
            <a:extLst>
              <a:ext uri="{FF2B5EF4-FFF2-40B4-BE49-F238E27FC236}">
                <a16:creationId xmlns:a16="http://schemas.microsoft.com/office/drawing/2014/main" id="{378F6F0A-C72F-438B-B973-18D99DC57F33}"/>
              </a:ext>
            </a:extLst>
          </p:cNvPr>
          <p:cNvSpPr txBox="1">
            <a:spLocks noChangeArrowheads="1"/>
          </p:cNvSpPr>
          <p:nvPr/>
        </p:nvSpPr>
        <p:spPr bwMode="auto">
          <a:xfrm>
            <a:off x="109538" y="1600200"/>
            <a:ext cx="4873625" cy="385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5113" indent="-265113">
              <a:defRPr sz="1600">
                <a:solidFill>
                  <a:schemeClr val="tx1"/>
                </a:solidFill>
                <a:latin typeface="Helvetica" panose="020B0604020202020204" pitchFamily="34" charset="0"/>
              </a:defRPr>
            </a:lvl1pPr>
            <a:lvl2pPr marL="628650" indent="-184150">
              <a:defRPr sz="1600">
                <a:solidFill>
                  <a:schemeClr val="tx1"/>
                </a:solidFill>
                <a:latin typeface="Helvetica" panose="020B0604020202020204" pitchFamily="34" charset="0"/>
              </a:defRPr>
            </a:lvl2pPr>
            <a:lvl3pPr marL="1246188" indent="-304800">
              <a:defRPr sz="1600">
                <a:solidFill>
                  <a:schemeClr val="tx1"/>
                </a:solidFill>
                <a:latin typeface="Helvetica" panose="020B0604020202020204" pitchFamily="34" charset="0"/>
              </a:defRPr>
            </a:lvl3pPr>
            <a:lvl4pPr marL="1730375" indent="-304800">
              <a:defRPr sz="1600">
                <a:solidFill>
                  <a:schemeClr val="tx1"/>
                </a:solidFill>
                <a:latin typeface="Helvetica" panose="020B0604020202020204" pitchFamily="34" charset="0"/>
              </a:defRPr>
            </a:lvl4pPr>
            <a:lvl5pPr marL="2214563" indent="-304800">
              <a:defRPr sz="1600">
                <a:solidFill>
                  <a:schemeClr val="tx1"/>
                </a:solidFill>
                <a:latin typeface="Helvetica" panose="020B0604020202020204" pitchFamily="34" charset="0"/>
              </a:defRPr>
            </a:lvl5pPr>
            <a:lvl6pPr marL="26717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289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861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433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AutoNum type="arabicPeriod"/>
            </a:pPr>
            <a:r>
              <a:rPr lang="en-GB" altLang="en-US" sz="1700">
                <a:effectLst>
                  <a:outerShdw blurRad="38100" dist="38100" dir="2700000" algn="tl">
                    <a:srgbClr val="000000"/>
                  </a:outerShdw>
                </a:effectLst>
                <a:latin typeface="Arial" panose="020B0604020202020204" pitchFamily="34" charset="0"/>
              </a:rPr>
              <a:t>at </a:t>
            </a:r>
            <a:r>
              <a:rPr lang="en-GB" altLang="en-US" sz="1700">
                <a:solidFill>
                  <a:srgbClr val="FF6600"/>
                </a:solidFill>
                <a:effectLst>
                  <a:outerShdw blurRad="38100" dist="38100" dir="2700000" algn="tl">
                    <a:srgbClr val="000000"/>
                  </a:outerShdw>
                </a:effectLst>
                <a:latin typeface="Arial" panose="020B0604020202020204" pitchFamily="34" charset="0"/>
              </a:rPr>
              <a:t>subduction zones</a:t>
            </a:r>
            <a:r>
              <a:rPr lang="en-GB" altLang="en-US" sz="1700">
                <a:effectLst>
                  <a:outerShdw blurRad="38100" dist="38100" dir="2700000" algn="tl">
                    <a:srgbClr val="000000"/>
                  </a:outerShdw>
                </a:effectLst>
                <a:latin typeface="Arial" panose="020B0604020202020204" pitchFamily="34" charset="0"/>
              </a:rPr>
              <a:t> where they enter the trench</a:t>
            </a:r>
          </a:p>
          <a:p>
            <a:pPr>
              <a:lnSpc>
                <a:spcPct val="120000"/>
              </a:lnSpc>
              <a:spcBef>
                <a:spcPct val="75000"/>
              </a:spcBef>
              <a:buClr>
                <a:schemeClr val="tx1"/>
              </a:buClr>
              <a:buFontTx/>
              <a:buAutoNum type="arabicPeriod"/>
            </a:pPr>
            <a:r>
              <a:rPr lang="en-GB" altLang="en-US" sz="1700">
                <a:effectLst>
                  <a:outerShdw blurRad="38100" dist="38100" dir="2700000" algn="tl">
                    <a:srgbClr val="000000"/>
                  </a:outerShdw>
                </a:effectLst>
                <a:latin typeface="Arial" panose="020B0604020202020204" pitchFamily="34" charset="0"/>
              </a:rPr>
              <a:t>in response to </a:t>
            </a:r>
            <a:r>
              <a:rPr lang="en-GB" altLang="en-US" sz="1700">
                <a:solidFill>
                  <a:srgbClr val="FF6600"/>
                </a:solidFill>
                <a:effectLst>
                  <a:outerShdw blurRad="38100" dist="38100" dir="2700000" algn="tl">
                    <a:srgbClr val="000000"/>
                  </a:outerShdw>
                </a:effectLst>
                <a:latin typeface="Arial" panose="020B0604020202020204" pitchFamily="34" charset="0"/>
              </a:rPr>
              <a:t>surface loading</a:t>
            </a:r>
          </a:p>
          <a:p>
            <a:pPr lvl="1">
              <a:lnSpc>
                <a:spcPct val="120000"/>
              </a:lnSpc>
              <a:spcBef>
                <a:spcPct val="2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ice sheets</a:t>
            </a:r>
          </a:p>
          <a:p>
            <a:pPr lvl="1">
              <a:lnSpc>
                <a:spcPct val="120000"/>
              </a:lnSpc>
              <a:spcBef>
                <a:spcPct val="2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accumulations of volcanic rocks</a:t>
            </a:r>
          </a:p>
          <a:p>
            <a:pPr lvl="1">
              <a:lnSpc>
                <a:spcPct val="120000"/>
              </a:lnSpc>
              <a:spcBef>
                <a:spcPct val="2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sediment loading in sedimentary basins and unloading through erosion</a:t>
            </a:r>
          </a:p>
          <a:p>
            <a:pPr lvl="1">
              <a:lnSpc>
                <a:spcPct val="120000"/>
              </a:lnSpc>
              <a:spcBef>
                <a:spcPct val="2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thrust sheets</a:t>
            </a:r>
          </a:p>
          <a:p>
            <a:pPr>
              <a:lnSpc>
                <a:spcPct val="120000"/>
              </a:lnSpc>
              <a:spcBef>
                <a:spcPct val="75000"/>
              </a:spcBef>
              <a:buClr>
                <a:schemeClr val="tx1"/>
              </a:buClr>
              <a:buFontTx/>
              <a:buAutoNum type="arabicPeriod"/>
            </a:pPr>
            <a:r>
              <a:rPr lang="en-GB" altLang="en-US" sz="1700">
                <a:effectLst>
                  <a:outerShdw blurRad="38100" dist="38100" dir="2700000" algn="tl">
                    <a:srgbClr val="000000"/>
                  </a:outerShdw>
                </a:effectLst>
                <a:latin typeface="Arial" panose="020B0604020202020204" pitchFamily="34" charset="0"/>
              </a:rPr>
              <a:t>in response to </a:t>
            </a:r>
            <a:r>
              <a:rPr lang="en-GB" altLang="en-US" sz="1700">
                <a:solidFill>
                  <a:srgbClr val="FF6600"/>
                </a:solidFill>
                <a:effectLst>
                  <a:outerShdw blurRad="38100" dist="38100" dir="2700000" algn="tl">
                    <a:srgbClr val="000000"/>
                  </a:outerShdw>
                </a:effectLst>
                <a:latin typeface="Arial" panose="020B0604020202020204" pitchFamily="34" charset="0"/>
              </a:rPr>
              <a:t>movement across latitudes</a:t>
            </a:r>
            <a:r>
              <a:rPr lang="en-GB" altLang="en-US" sz="1700">
                <a:effectLst>
                  <a:outerShdw blurRad="38100" dist="38100" dir="2700000" algn="tl">
                    <a:srgbClr val="000000"/>
                  </a:outerShdw>
                </a:effectLst>
                <a:latin typeface="Arial" panose="020B0604020202020204" pitchFamily="34" charset="0"/>
              </a:rPr>
              <a:t> (because the Earth is not a perfect sphere)</a:t>
            </a:r>
          </a:p>
        </p:txBody>
      </p:sp>
      <p:sp>
        <p:nvSpPr>
          <p:cNvPr id="292871" name="Text Box 7">
            <a:extLst>
              <a:ext uri="{FF2B5EF4-FFF2-40B4-BE49-F238E27FC236}">
                <a16:creationId xmlns:a16="http://schemas.microsoft.com/office/drawing/2014/main" id="{297C405D-978A-4FD6-8EC4-F1216B91F303}"/>
              </a:ext>
            </a:extLst>
          </p:cNvPr>
          <p:cNvSpPr txBox="1">
            <a:spLocks noChangeArrowheads="1"/>
          </p:cNvSpPr>
          <p:nvPr/>
        </p:nvSpPr>
        <p:spPr bwMode="auto">
          <a:xfrm>
            <a:off x="127000" y="5688013"/>
            <a:ext cx="468312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3488" indent="-304800">
              <a:defRPr sz="1600">
                <a:solidFill>
                  <a:schemeClr val="tx1"/>
                </a:solidFill>
                <a:latin typeface="Helvetica" panose="020B0604020202020204" pitchFamily="34" charset="0"/>
              </a:defRPr>
            </a:lvl3pPr>
            <a:lvl4pPr marL="1717675" indent="-304800">
              <a:defRPr sz="1600">
                <a:solidFill>
                  <a:schemeClr val="tx1"/>
                </a:solidFill>
                <a:latin typeface="Helvetica" panose="020B0604020202020204" pitchFamily="34" charset="0"/>
              </a:defRPr>
            </a:lvl4pPr>
            <a:lvl5pPr marL="2201863" indent="-304800">
              <a:defRPr sz="1600">
                <a:solidFill>
                  <a:schemeClr val="tx1"/>
                </a:solidFill>
                <a:latin typeface="Helvetica" panose="020B0604020202020204" pitchFamily="34" charset="0"/>
              </a:defRPr>
            </a:lvl5pPr>
            <a:lvl6pPr marL="26590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62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34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306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solidFill>
                  <a:srgbClr val="FF66CC"/>
                </a:solidFill>
                <a:effectLst>
                  <a:outerShdw blurRad="38100" dist="38100" dir="2700000" algn="tl">
                    <a:srgbClr val="000000"/>
                  </a:outerShdw>
                </a:effectLst>
                <a:latin typeface="Arial" panose="020B0604020202020204" pitchFamily="34" charset="0"/>
              </a:rPr>
              <a:t>More locally,</a:t>
            </a:r>
            <a:r>
              <a:rPr lang="en-GB" altLang="en-US" sz="1700">
                <a:effectLst>
                  <a:outerShdw blurRad="38100" dist="38100" dir="2700000" algn="tl">
                    <a:srgbClr val="000000"/>
                  </a:outerShdw>
                </a:effectLst>
                <a:latin typeface="Arial" panose="020B0604020202020204" pitchFamily="34" charset="0"/>
              </a:rPr>
              <a:t> bending occurs adjacent to other structures such as faults and folds, and diapiric intrusions</a:t>
            </a:r>
          </a:p>
        </p:txBody>
      </p:sp>
      <p:pic>
        <p:nvPicPr>
          <p:cNvPr id="292869" name="Picture 5" descr="07a">
            <a:extLst>
              <a:ext uri="{FF2B5EF4-FFF2-40B4-BE49-F238E27FC236}">
                <a16:creationId xmlns:a16="http://schemas.microsoft.com/office/drawing/2014/main" id="{85E42E67-6CF6-416A-B5C1-1A3F0FC470E3}"/>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5057775" y="1371600"/>
            <a:ext cx="3673475" cy="1214438"/>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292877" name="Group 13">
            <a:extLst>
              <a:ext uri="{FF2B5EF4-FFF2-40B4-BE49-F238E27FC236}">
                <a16:creationId xmlns:a16="http://schemas.microsoft.com/office/drawing/2014/main" id="{34E23279-900C-402E-920D-13B58AA6EC5E}"/>
              </a:ext>
            </a:extLst>
          </p:cNvPr>
          <p:cNvGrpSpPr>
            <a:grpSpLocks/>
          </p:cNvGrpSpPr>
          <p:nvPr/>
        </p:nvGrpSpPr>
        <p:grpSpPr bwMode="auto">
          <a:xfrm>
            <a:off x="5595143" y="2757488"/>
            <a:ext cx="2598738" cy="3940175"/>
            <a:chOff x="3695" y="1737"/>
            <a:chExt cx="1498" cy="2378"/>
          </a:xfrm>
        </p:grpSpPr>
        <p:pic>
          <p:nvPicPr>
            <p:cNvPr id="292872" name="Picture 2" descr="GR25.jpg">
              <a:extLst>
                <a:ext uri="{FF2B5EF4-FFF2-40B4-BE49-F238E27FC236}">
                  <a16:creationId xmlns:a16="http://schemas.microsoft.com/office/drawing/2014/main" id="{48D648CB-3874-4428-84BF-7CC4F9E3BBF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95" y="1737"/>
              <a:ext cx="1498" cy="2378"/>
            </a:xfrm>
            <a:prstGeom prst="rect">
              <a:avLst/>
            </a:prstGeom>
            <a:noFill/>
            <a:ln w="38100" cmpd="sng">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2874" name="Rectangle 10">
              <a:extLst>
                <a:ext uri="{FF2B5EF4-FFF2-40B4-BE49-F238E27FC236}">
                  <a16:creationId xmlns:a16="http://schemas.microsoft.com/office/drawing/2014/main" id="{83BE3648-C449-461A-AEA4-B32FC8B15300}"/>
                </a:ext>
              </a:extLst>
            </p:cNvPr>
            <p:cNvSpPr>
              <a:spLocks noChangeArrowheads="1"/>
            </p:cNvSpPr>
            <p:nvPr/>
          </p:nvSpPr>
          <p:spPr bwMode="auto">
            <a:xfrm>
              <a:off x="3708" y="2208"/>
              <a:ext cx="74" cy="9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92875" name="Rectangle 11">
              <a:extLst>
                <a:ext uri="{FF2B5EF4-FFF2-40B4-BE49-F238E27FC236}">
                  <a16:creationId xmlns:a16="http://schemas.microsoft.com/office/drawing/2014/main" id="{A862C962-7781-4CAB-A534-4EA0E476A164}"/>
                </a:ext>
              </a:extLst>
            </p:cNvPr>
            <p:cNvSpPr>
              <a:spLocks noChangeArrowheads="1"/>
            </p:cNvSpPr>
            <p:nvPr/>
          </p:nvSpPr>
          <p:spPr bwMode="auto">
            <a:xfrm>
              <a:off x="3704" y="3180"/>
              <a:ext cx="94" cy="1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92876" name="Rectangle 12">
              <a:extLst>
                <a:ext uri="{FF2B5EF4-FFF2-40B4-BE49-F238E27FC236}">
                  <a16:creationId xmlns:a16="http://schemas.microsoft.com/office/drawing/2014/main" id="{DFB52618-ED25-4CAC-B5CD-2F64385B57EB}"/>
                </a:ext>
              </a:extLst>
            </p:cNvPr>
            <p:cNvSpPr>
              <a:spLocks noChangeArrowheads="1"/>
            </p:cNvSpPr>
            <p:nvPr/>
          </p:nvSpPr>
          <p:spPr bwMode="auto">
            <a:xfrm>
              <a:off x="3704" y="1744"/>
              <a:ext cx="92" cy="8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a:extLst>
              <a:ext uri="{FF2B5EF4-FFF2-40B4-BE49-F238E27FC236}">
                <a16:creationId xmlns:a16="http://schemas.microsoft.com/office/drawing/2014/main" id="{C3EC5CE5-AE20-49A2-A91B-99ACB0231343}"/>
              </a:ext>
            </a:extLst>
          </p:cNvPr>
          <p:cNvSpPr>
            <a:spLocks noGrp="1" noChangeArrowheads="1"/>
          </p:cNvSpPr>
          <p:nvPr>
            <p:ph type="title"/>
          </p:nvPr>
        </p:nvSpPr>
        <p:spPr>
          <a:noFill/>
        </p:spPr>
        <p:txBody>
          <a:bodyPr/>
          <a:lstStyle/>
          <a:p>
            <a:r>
              <a:rPr lang="en-GB" altLang="en-US">
                <a:effectLst/>
              </a:rPr>
              <a:t>Other sources of stress: residual stress</a:t>
            </a:r>
          </a:p>
        </p:txBody>
      </p:sp>
      <p:sp>
        <p:nvSpPr>
          <p:cNvPr id="295939" name="Text Box 3">
            <a:extLst>
              <a:ext uri="{FF2B5EF4-FFF2-40B4-BE49-F238E27FC236}">
                <a16:creationId xmlns:a16="http://schemas.microsoft.com/office/drawing/2014/main" id="{3570B626-35D3-4DB0-9D44-09578E728FA0}"/>
              </a:ext>
            </a:extLst>
          </p:cNvPr>
          <p:cNvSpPr txBox="1">
            <a:spLocks noChangeArrowheads="1"/>
          </p:cNvSpPr>
          <p:nvPr/>
        </p:nvSpPr>
        <p:spPr bwMode="auto">
          <a:xfrm>
            <a:off x="111125" y="814388"/>
            <a:ext cx="8890000" cy="278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71463" indent="-271463">
              <a:defRPr sz="1600">
                <a:solidFill>
                  <a:schemeClr val="tx1"/>
                </a:solidFill>
                <a:latin typeface="Helvetica" panose="020B0604020202020204" pitchFamily="34" charset="0"/>
              </a:defRPr>
            </a:lvl1pPr>
            <a:lvl2pPr marL="762000" indent="-311150">
              <a:defRPr sz="1600">
                <a:solidFill>
                  <a:schemeClr val="tx1"/>
                </a:solidFill>
                <a:latin typeface="Helvetica" panose="020B0604020202020204" pitchFamily="34" charset="0"/>
              </a:defRPr>
            </a:lvl2pPr>
            <a:lvl3pPr marL="1246188" indent="-304800">
              <a:defRPr sz="1600">
                <a:solidFill>
                  <a:schemeClr val="tx1"/>
                </a:solidFill>
                <a:latin typeface="Helvetica" panose="020B0604020202020204" pitchFamily="34" charset="0"/>
              </a:defRPr>
            </a:lvl3pPr>
            <a:lvl4pPr marL="1730375" indent="-304800">
              <a:defRPr sz="1600">
                <a:solidFill>
                  <a:schemeClr val="tx1"/>
                </a:solidFill>
                <a:latin typeface="Helvetica" panose="020B0604020202020204" pitchFamily="34" charset="0"/>
              </a:defRPr>
            </a:lvl4pPr>
            <a:lvl5pPr marL="2214563" indent="-304800">
              <a:defRPr sz="1600">
                <a:solidFill>
                  <a:schemeClr val="tx1"/>
                </a:solidFill>
                <a:latin typeface="Helvetica" panose="020B0604020202020204" pitchFamily="34" charset="0"/>
              </a:defRPr>
            </a:lvl5pPr>
            <a:lvl6pPr marL="26717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289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861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433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There are </a:t>
            </a:r>
            <a:r>
              <a:rPr lang="en-GB" altLang="en-US" sz="1700" dirty="0">
                <a:solidFill>
                  <a:srgbClr val="FF6600"/>
                </a:solidFill>
                <a:effectLst>
                  <a:outerShdw blurRad="38100" dist="38100" dir="2700000" algn="tl">
                    <a:srgbClr val="000000"/>
                  </a:outerShdw>
                </a:effectLst>
                <a:latin typeface="Arial" panose="020B0604020202020204" pitchFamily="34" charset="0"/>
              </a:rPr>
              <a:t>microscale</a:t>
            </a:r>
            <a:r>
              <a:rPr lang="en-GB" altLang="en-US" sz="1700" dirty="0">
                <a:effectLst>
                  <a:outerShdw blurRad="38100" dist="38100" dir="2700000" algn="tl">
                    <a:srgbClr val="000000"/>
                  </a:outerShdw>
                </a:effectLst>
                <a:latin typeface="Arial" panose="020B0604020202020204" pitchFamily="34" charset="0"/>
              </a:rPr>
              <a:t> ways in which stresses may be induced in rocks, including:</a:t>
            </a:r>
          </a:p>
          <a:p>
            <a:pPr>
              <a:lnSpc>
                <a:spcPct val="120000"/>
              </a:lnSpc>
              <a:spcBef>
                <a:spcPct val="50000"/>
              </a:spcBef>
              <a:buClr>
                <a:schemeClr val="tx1"/>
              </a:buClr>
              <a:buFontTx/>
              <a:buAutoNum type="arabicPeriod"/>
            </a:pPr>
            <a:r>
              <a:rPr lang="en-GB" altLang="en-US" sz="1700" dirty="0">
                <a:solidFill>
                  <a:srgbClr val="FF66CC"/>
                </a:solidFill>
                <a:effectLst>
                  <a:outerShdw blurRad="38100" dist="38100" dir="2700000" algn="tl">
                    <a:srgbClr val="000000"/>
                  </a:outerShdw>
                </a:effectLst>
                <a:latin typeface="Arial" panose="020B0604020202020204" pitchFamily="34" charset="0"/>
              </a:rPr>
              <a:t>Changes in temperature</a:t>
            </a:r>
            <a:r>
              <a:rPr lang="en-GB" altLang="en-US" sz="1700" dirty="0">
                <a:effectLst>
                  <a:outerShdw blurRad="38100" dist="38100" dir="2700000" algn="tl">
                    <a:srgbClr val="000000"/>
                  </a:outerShdw>
                </a:effectLst>
                <a:latin typeface="Arial" panose="020B0604020202020204" pitchFamily="34" charset="0"/>
              </a:rPr>
              <a:t>: differences in thermal expansion between two minerals in a rock induce thermal stresses during heating or cooling</a:t>
            </a:r>
          </a:p>
          <a:p>
            <a:pPr>
              <a:lnSpc>
                <a:spcPct val="120000"/>
              </a:lnSpc>
              <a:spcBef>
                <a:spcPct val="75000"/>
              </a:spcBef>
              <a:buClr>
                <a:schemeClr val="tx1"/>
              </a:buClr>
              <a:buFontTx/>
              <a:buAutoNum type="arabicPeriod"/>
            </a:pPr>
            <a:r>
              <a:rPr lang="en-GB" altLang="en-US" sz="1700" dirty="0">
                <a:solidFill>
                  <a:srgbClr val="FF66CC"/>
                </a:solidFill>
                <a:effectLst>
                  <a:outerShdw blurRad="38100" dist="38100" dir="2700000" algn="tl">
                    <a:srgbClr val="000000"/>
                  </a:outerShdw>
                </a:effectLst>
                <a:latin typeface="Arial" panose="020B0604020202020204" pitchFamily="34" charset="0"/>
              </a:rPr>
              <a:t>Changes in pressure</a:t>
            </a:r>
            <a:r>
              <a:rPr lang="en-GB" altLang="en-US" sz="1700" dirty="0">
                <a:effectLst>
                  <a:outerShdw blurRad="38100" dist="38100" dir="2700000" algn="tl">
                    <a:srgbClr val="000000"/>
                  </a:outerShdw>
                </a:effectLst>
                <a:latin typeface="Arial" panose="020B0604020202020204" pitchFamily="34" charset="0"/>
              </a:rPr>
              <a:t>: differences in compressibility between minerals induce stresses during pressurizatio</a:t>
            </a:r>
            <a:r>
              <a:rPr lang="en-GB" altLang="en-US" sz="1700" spc="300" dirty="0">
                <a:effectLst>
                  <a:outerShdw blurRad="38100" dist="38100" dir="2700000" algn="tl">
                    <a:srgbClr val="000000"/>
                  </a:outerShdw>
                </a:effectLst>
                <a:latin typeface="Arial" panose="020B0604020202020204" pitchFamily="34" charset="0"/>
              </a:rPr>
              <a:t>n/</a:t>
            </a:r>
            <a:r>
              <a:rPr lang="en-GB" altLang="en-US" sz="1700" dirty="0">
                <a:effectLst>
                  <a:outerShdw blurRad="38100" dist="38100" dir="2700000" algn="tl">
                    <a:srgbClr val="000000"/>
                  </a:outerShdw>
                </a:effectLst>
                <a:latin typeface="Arial" panose="020B0604020202020204" pitchFamily="34" charset="0"/>
              </a:rPr>
              <a:t>depressurization</a:t>
            </a:r>
          </a:p>
          <a:p>
            <a:pPr>
              <a:lnSpc>
                <a:spcPct val="120000"/>
              </a:lnSpc>
              <a:spcBef>
                <a:spcPct val="75000"/>
              </a:spcBef>
              <a:buClr>
                <a:schemeClr val="tx1"/>
              </a:buClr>
              <a:buFontTx/>
              <a:buAutoNum type="arabicPeriod"/>
            </a:pPr>
            <a:r>
              <a:rPr lang="en-GB" altLang="en-US" sz="1700" dirty="0">
                <a:effectLst>
                  <a:outerShdw blurRad="38100" dist="38100" dir="2700000" algn="tl">
                    <a:srgbClr val="000000"/>
                  </a:outerShdw>
                </a:effectLst>
                <a:latin typeface="Arial" panose="020B0604020202020204" pitchFamily="34" charset="0"/>
              </a:rPr>
              <a:t>Deformation itself generates </a:t>
            </a:r>
            <a:r>
              <a:rPr lang="en-GB" altLang="en-US" sz="1700" dirty="0">
                <a:solidFill>
                  <a:srgbClr val="FF66CC"/>
                </a:solidFill>
                <a:effectLst>
                  <a:outerShdw blurRad="38100" dist="38100" dir="2700000" algn="tl">
                    <a:srgbClr val="000000"/>
                  </a:outerShdw>
                </a:effectLst>
                <a:latin typeface="Arial" panose="020B0604020202020204" pitchFamily="34" charset="0"/>
              </a:rPr>
              <a:t>lattice defects</a:t>
            </a:r>
            <a:r>
              <a:rPr lang="en-GB" altLang="en-US" sz="1700" dirty="0">
                <a:effectLst>
                  <a:outerShdw blurRad="38100" dist="38100" dir="2700000" algn="tl">
                    <a:srgbClr val="000000"/>
                  </a:outerShdw>
                </a:effectLst>
                <a:latin typeface="Arial" panose="020B0604020202020204" pitchFamily="34" charset="0"/>
              </a:rPr>
              <a:t> (</a:t>
            </a:r>
            <a:r>
              <a:rPr lang="en-GB" altLang="en-US" sz="1700" i="1" dirty="0">
                <a:effectLst>
                  <a:outerShdw blurRad="38100" dist="38100" dir="2700000" algn="tl">
                    <a:srgbClr val="000000"/>
                  </a:outerShdw>
                </a:effectLst>
                <a:latin typeface="Arial" panose="020B0604020202020204" pitchFamily="34" charset="0"/>
              </a:rPr>
              <a:t>e.g.</a:t>
            </a:r>
            <a:r>
              <a:rPr lang="en-GB" altLang="en-US" sz="1700" dirty="0">
                <a:effectLst>
                  <a:outerShdw blurRad="38100" dist="38100" dir="2700000" algn="tl">
                    <a:srgbClr val="000000"/>
                  </a:outerShdw>
                </a:effectLst>
                <a:latin typeface="Arial" panose="020B0604020202020204" pitchFamily="34" charset="0"/>
              </a:rPr>
              <a:t>, dislocations) which induce stresses within the lattice that remain after the deformation has ceased </a:t>
            </a:r>
          </a:p>
        </p:txBody>
      </p:sp>
      <p:sp>
        <p:nvSpPr>
          <p:cNvPr id="295940" name="Text Box 4">
            <a:extLst>
              <a:ext uri="{FF2B5EF4-FFF2-40B4-BE49-F238E27FC236}">
                <a16:creationId xmlns:a16="http://schemas.microsoft.com/office/drawing/2014/main" id="{74FB5D2A-5533-4B9B-8AB3-7865B983CDB4}"/>
              </a:ext>
            </a:extLst>
          </p:cNvPr>
          <p:cNvSpPr txBox="1">
            <a:spLocks noChangeArrowheads="1"/>
          </p:cNvSpPr>
          <p:nvPr/>
        </p:nvSpPr>
        <p:spPr bwMode="auto">
          <a:xfrm>
            <a:off x="128588" y="5216525"/>
            <a:ext cx="4333875"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71463" indent="-2714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Stresses of these kind are stored within the rock as </a:t>
            </a:r>
            <a:r>
              <a:rPr lang="en-GB" altLang="en-US" sz="1700">
                <a:solidFill>
                  <a:srgbClr val="FF6600"/>
                </a:solidFill>
                <a:effectLst>
                  <a:outerShdw blurRad="38100" dist="38100" dir="2700000" algn="tl">
                    <a:srgbClr val="000000"/>
                  </a:outerShdw>
                </a:effectLst>
                <a:latin typeface="Arial" panose="020B0604020202020204" pitchFamily="34" charset="0"/>
              </a:rPr>
              <a:t>residual stresses</a:t>
            </a:r>
            <a:r>
              <a:rPr lang="en-GB" altLang="en-US" sz="1700">
                <a:effectLst>
                  <a:outerShdw blurRad="38100" dist="38100" dir="2700000" algn="tl">
                    <a:srgbClr val="000000"/>
                  </a:outerShdw>
                </a:effectLst>
                <a:latin typeface="Arial" panose="020B0604020202020204" pitchFamily="34" charset="0"/>
              </a:rPr>
              <a:t> that may be </a:t>
            </a:r>
            <a:r>
              <a:rPr lang="en-GB" altLang="en-US" sz="1700">
                <a:solidFill>
                  <a:srgbClr val="FF66CC"/>
                </a:solidFill>
                <a:effectLst>
                  <a:outerShdw blurRad="38100" dist="38100" dir="2700000" algn="tl">
                    <a:srgbClr val="000000"/>
                  </a:outerShdw>
                </a:effectLst>
                <a:latin typeface="Arial" panose="020B0604020202020204" pitchFamily="34" charset="0"/>
              </a:rPr>
              <a:t>relieved during uplift and erosion by fracturing</a:t>
            </a:r>
            <a:endParaRPr lang="en-GB" altLang="en-US" sz="1700">
              <a:effectLst>
                <a:outerShdw blurRad="38100" dist="38100" dir="2700000" algn="tl">
                  <a:srgbClr val="000000"/>
                </a:outerShdw>
              </a:effectLst>
              <a:latin typeface="Arial" panose="020B0604020202020204" pitchFamily="34" charset="0"/>
            </a:endParaRPr>
          </a:p>
        </p:txBody>
      </p:sp>
      <p:pic>
        <p:nvPicPr>
          <p:cNvPr id="295941" name="Picture 5" descr="07b">
            <a:extLst>
              <a:ext uri="{FF2B5EF4-FFF2-40B4-BE49-F238E27FC236}">
                <a16:creationId xmlns:a16="http://schemas.microsoft.com/office/drawing/2014/main" id="{2296E3ED-D7F0-4AED-A334-10F363C2831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843463" y="3840163"/>
            <a:ext cx="4102100" cy="27717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5944" name="Text Box 8">
            <a:extLst>
              <a:ext uri="{FF2B5EF4-FFF2-40B4-BE49-F238E27FC236}">
                <a16:creationId xmlns:a16="http://schemas.microsoft.com/office/drawing/2014/main" id="{09B93497-8A93-42DE-BD78-0531D80ECF2D}"/>
              </a:ext>
            </a:extLst>
          </p:cNvPr>
          <p:cNvSpPr txBox="1">
            <a:spLocks noChangeArrowheads="1"/>
          </p:cNvSpPr>
          <p:nvPr/>
        </p:nvSpPr>
        <p:spPr bwMode="auto">
          <a:xfrm>
            <a:off x="128588" y="3738563"/>
            <a:ext cx="4681537"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71463" indent="-271463">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9838" indent="-304800">
              <a:defRPr sz="1600">
                <a:solidFill>
                  <a:schemeClr val="tx1"/>
                </a:solidFill>
                <a:latin typeface="Helvetica" panose="020B0604020202020204" pitchFamily="34" charset="0"/>
              </a:defRPr>
            </a:lvl3pPr>
            <a:lvl4pPr marL="1724025" indent="-304800">
              <a:defRPr sz="1600">
                <a:solidFill>
                  <a:schemeClr val="tx1"/>
                </a:solidFill>
                <a:latin typeface="Helvetica" panose="020B0604020202020204" pitchFamily="34" charset="0"/>
              </a:defRPr>
            </a:lvl4pPr>
            <a:lvl5pPr marL="2208213" indent="-304800">
              <a:defRPr sz="1600">
                <a:solidFill>
                  <a:schemeClr val="tx1"/>
                </a:solidFill>
                <a:latin typeface="Helvetica" panose="020B0604020202020204" pitchFamily="34" charset="0"/>
              </a:defRPr>
            </a:lvl5pPr>
            <a:lvl6pPr marL="266541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2261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981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3701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AutoNum type="arabicPeriod" startAt="4"/>
            </a:pPr>
            <a:r>
              <a:rPr lang="en-GB" altLang="en-US" sz="1700">
                <a:solidFill>
                  <a:srgbClr val="FF66CC"/>
                </a:solidFill>
                <a:effectLst>
                  <a:outerShdw blurRad="38100" dist="38100" dir="2700000" algn="tl">
                    <a:srgbClr val="000000"/>
                  </a:outerShdw>
                </a:effectLst>
                <a:latin typeface="Arial" panose="020B0604020202020204" pitchFamily="34" charset="0"/>
              </a:rPr>
              <a:t>Crystallization of a melt</a:t>
            </a:r>
            <a:r>
              <a:rPr lang="en-GB" altLang="en-US" sz="1700">
                <a:effectLst>
                  <a:outerShdw blurRad="38100" dist="38100" dir="2700000" algn="tl">
                    <a:srgbClr val="000000"/>
                  </a:outerShdw>
                </a:effectLst>
                <a:latin typeface="Arial" panose="020B0604020202020204" pitchFamily="34" charset="0"/>
              </a:rPr>
              <a:t> sets up stresses</a:t>
            </a:r>
          </a:p>
          <a:p>
            <a:pPr>
              <a:lnSpc>
                <a:spcPct val="120000"/>
              </a:lnSpc>
              <a:spcBef>
                <a:spcPct val="75000"/>
              </a:spcBef>
              <a:buClr>
                <a:schemeClr val="tx1"/>
              </a:buClr>
              <a:buFontTx/>
              <a:buAutoNum type="arabicPeriod" startAt="4"/>
            </a:pPr>
            <a:r>
              <a:rPr lang="en-GB" altLang="en-US" sz="1700">
                <a:solidFill>
                  <a:srgbClr val="FF66CC"/>
                </a:solidFill>
                <a:effectLst>
                  <a:outerShdw blurRad="38100" dist="38100" dir="2700000" algn="tl">
                    <a:srgbClr val="000000"/>
                  </a:outerShdw>
                </a:effectLst>
                <a:latin typeface="Arial" panose="020B0604020202020204" pitchFamily="34" charset="0"/>
              </a:rPr>
              <a:t>Metamorphic reactions</a:t>
            </a:r>
            <a:r>
              <a:rPr lang="en-GB" altLang="en-US" sz="1700">
                <a:effectLst>
                  <a:outerShdw blurRad="38100" dist="38100" dir="2700000" algn="tl">
                    <a:srgbClr val="000000"/>
                  </a:outerShdw>
                </a:effectLst>
                <a:latin typeface="Arial" panose="020B0604020202020204" pitchFamily="34" charset="0"/>
              </a:rPr>
              <a:t> with a volume change induce stresses</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8" name="Rectangle 6">
            <a:extLst>
              <a:ext uri="{FF2B5EF4-FFF2-40B4-BE49-F238E27FC236}">
                <a16:creationId xmlns:a16="http://schemas.microsoft.com/office/drawing/2014/main" id="{F3A7E7C1-56B8-4873-835A-F295B75E6851}"/>
              </a:ext>
            </a:extLst>
          </p:cNvPr>
          <p:cNvSpPr>
            <a:spLocks noChangeArrowheads="1"/>
          </p:cNvSpPr>
          <p:nvPr/>
        </p:nvSpPr>
        <p:spPr bwMode="auto">
          <a:xfrm>
            <a:off x="465138" y="876300"/>
            <a:ext cx="8277225" cy="494506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0034" name="Rectangle 2">
            <a:extLst>
              <a:ext uri="{FF2B5EF4-FFF2-40B4-BE49-F238E27FC236}">
                <a16:creationId xmlns:a16="http://schemas.microsoft.com/office/drawing/2014/main" id="{4200ECFB-2FEF-4059-A029-E8F1CE3E1F39}"/>
              </a:ext>
            </a:extLst>
          </p:cNvPr>
          <p:cNvSpPr>
            <a:spLocks noGrp="1" noChangeArrowheads="1"/>
          </p:cNvSpPr>
          <p:nvPr>
            <p:ph type="title"/>
          </p:nvPr>
        </p:nvSpPr>
        <p:spPr>
          <a:noFill/>
        </p:spPr>
        <p:txBody>
          <a:bodyPr/>
          <a:lstStyle/>
          <a:p>
            <a:r>
              <a:rPr lang="en-GB" altLang="en-US">
                <a:effectLst/>
              </a:rPr>
              <a:t>World stress map</a:t>
            </a:r>
          </a:p>
        </p:txBody>
      </p:sp>
      <p:pic>
        <p:nvPicPr>
          <p:cNvPr id="300036" name="Picture 2" descr="GR13.jpg">
            <a:extLst>
              <a:ext uri="{FF2B5EF4-FFF2-40B4-BE49-F238E27FC236}">
                <a16:creationId xmlns:a16="http://schemas.microsoft.com/office/drawing/2014/main" id="{184FF310-4764-4CEB-AE22-CAFD6C7FD7B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619125" y="954088"/>
            <a:ext cx="8008938" cy="47386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0039" name="Text Box 7">
            <a:extLst>
              <a:ext uri="{FF2B5EF4-FFF2-40B4-BE49-F238E27FC236}">
                <a16:creationId xmlns:a16="http://schemas.microsoft.com/office/drawing/2014/main" id="{9A6AC6BE-C620-4EBD-84D6-5E5A690713EA}"/>
              </a:ext>
            </a:extLst>
          </p:cNvPr>
          <p:cNvSpPr txBox="1">
            <a:spLocks noChangeArrowheads="1"/>
          </p:cNvSpPr>
          <p:nvPr/>
        </p:nvSpPr>
        <p:spPr bwMode="auto">
          <a:xfrm>
            <a:off x="617538" y="5908675"/>
            <a:ext cx="81407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700">
                <a:effectLst>
                  <a:outerShdw blurRad="38100" dist="38100" dir="2700000" algn="tl">
                    <a:srgbClr val="000000"/>
                  </a:outerShdw>
                </a:effectLst>
                <a:latin typeface="Arial" panose="020B0604020202020204" pitchFamily="34" charset="0"/>
              </a:rPr>
              <a:t>Stress measurements from around the world have been evaluated, compiled and made available by the</a:t>
            </a:r>
            <a:r>
              <a:rPr lang="en-GB" altLang="en-US" sz="1700">
                <a:solidFill>
                  <a:srgbClr val="FF66CC"/>
                </a:solidFill>
                <a:effectLst>
                  <a:outerShdw blurRad="38100" dist="38100" dir="2700000" algn="tl">
                    <a:srgbClr val="000000"/>
                  </a:outerShdw>
                </a:effectLst>
                <a:latin typeface="Arial" panose="020B0604020202020204" pitchFamily="34" charset="0"/>
              </a:rPr>
              <a:t> </a:t>
            </a:r>
            <a:r>
              <a:rPr lang="en-GB" altLang="en-US" sz="1700">
                <a:solidFill>
                  <a:srgbClr val="FF6600"/>
                </a:solidFill>
                <a:effectLst>
                  <a:outerShdw blurRad="38100" dist="38100" dir="2700000" algn="tl">
                    <a:srgbClr val="000000"/>
                  </a:outerShdw>
                </a:effectLst>
                <a:latin typeface="Arial" panose="020B0604020202020204" pitchFamily="34" charset="0"/>
              </a:rPr>
              <a:t>World Stress Map</a:t>
            </a:r>
            <a:r>
              <a:rPr lang="en-GB" altLang="en-US" sz="1700">
                <a:solidFill>
                  <a:srgbClr val="FF66CC"/>
                </a:solidFill>
                <a:effectLst>
                  <a:outerShdw blurRad="38100" dist="38100" dir="2700000" algn="tl">
                    <a:srgbClr val="000000"/>
                  </a:outerShdw>
                </a:effectLst>
                <a:latin typeface="Arial" panose="020B0604020202020204" pitchFamily="34" charset="0"/>
              </a:rPr>
              <a:t> </a:t>
            </a:r>
            <a:r>
              <a:rPr lang="en-GB" altLang="en-US" sz="1700">
                <a:effectLst>
                  <a:outerShdw blurRad="38100" dist="38100" dir="2700000" algn="tl">
                    <a:srgbClr val="000000"/>
                  </a:outerShdw>
                </a:effectLst>
                <a:latin typeface="Arial" panose="020B0604020202020204" pitchFamily="34" charset="0"/>
              </a:rPr>
              <a:t>project</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6" name="Rectangle 6">
            <a:extLst>
              <a:ext uri="{FF2B5EF4-FFF2-40B4-BE49-F238E27FC236}">
                <a16:creationId xmlns:a16="http://schemas.microsoft.com/office/drawing/2014/main" id="{E111C680-1D07-464D-BF90-0CA3B5D4C5E6}"/>
              </a:ext>
            </a:extLst>
          </p:cNvPr>
          <p:cNvSpPr>
            <a:spLocks noChangeArrowheads="1"/>
          </p:cNvSpPr>
          <p:nvPr/>
        </p:nvSpPr>
        <p:spPr bwMode="auto">
          <a:xfrm>
            <a:off x="222250" y="1082675"/>
            <a:ext cx="8732838" cy="254317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2082" name="Rectangle 2">
            <a:extLst>
              <a:ext uri="{FF2B5EF4-FFF2-40B4-BE49-F238E27FC236}">
                <a16:creationId xmlns:a16="http://schemas.microsoft.com/office/drawing/2014/main" id="{7E04E0CB-517F-4901-9009-4CB510922D86}"/>
              </a:ext>
            </a:extLst>
          </p:cNvPr>
          <p:cNvSpPr>
            <a:spLocks noGrp="1" noChangeArrowheads="1"/>
          </p:cNvSpPr>
          <p:nvPr>
            <p:ph type="title"/>
          </p:nvPr>
        </p:nvSpPr>
        <p:spPr>
          <a:noFill/>
        </p:spPr>
        <p:txBody>
          <a:bodyPr/>
          <a:lstStyle/>
          <a:p>
            <a:r>
              <a:rPr lang="en-GB" altLang="en-US">
                <a:effectLst/>
              </a:rPr>
              <a:t>Stresses within a plate tectonic context</a:t>
            </a:r>
          </a:p>
        </p:txBody>
      </p:sp>
      <p:pic>
        <p:nvPicPr>
          <p:cNvPr id="302084" name="Picture 2" descr="GR14.jpg">
            <a:extLst>
              <a:ext uri="{FF2B5EF4-FFF2-40B4-BE49-F238E27FC236}">
                <a16:creationId xmlns:a16="http://schemas.microsoft.com/office/drawing/2014/main" id="{DFC96A8E-8E78-4747-B107-EC6CA0378CF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377825" y="1173163"/>
            <a:ext cx="8469313" cy="2298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2087" name="Text Box 7">
            <a:extLst>
              <a:ext uri="{FF2B5EF4-FFF2-40B4-BE49-F238E27FC236}">
                <a16:creationId xmlns:a16="http://schemas.microsoft.com/office/drawing/2014/main" id="{7B1DF507-5A83-42D2-AFEF-C9AD2B3B1E65}"/>
              </a:ext>
            </a:extLst>
          </p:cNvPr>
          <p:cNvSpPr txBox="1">
            <a:spLocks noChangeArrowheads="1"/>
          </p:cNvSpPr>
          <p:nvPr/>
        </p:nvSpPr>
        <p:spPr bwMode="auto">
          <a:xfrm>
            <a:off x="119063" y="3813175"/>
            <a:ext cx="8878887"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output from the World Stress Map may be readily correlated with the principal forces arising from plate tectonics, namely, </a:t>
            </a:r>
            <a:r>
              <a:rPr lang="en-GB" altLang="en-US" sz="1700">
                <a:solidFill>
                  <a:srgbClr val="FF6600"/>
                </a:solidFill>
                <a:effectLst>
                  <a:outerShdw blurRad="38100" dist="38100" dir="2700000" algn="tl">
                    <a:srgbClr val="000000"/>
                  </a:outerShdw>
                </a:effectLst>
                <a:latin typeface="Arial" panose="020B0604020202020204" pitchFamily="34" charset="0"/>
              </a:rPr>
              <a:t>slab pull</a:t>
            </a:r>
            <a:r>
              <a:rPr lang="en-GB" altLang="en-US" sz="1700">
                <a:effectLst>
                  <a:outerShdw blurRad="38100" dist="38100" dir="2700000" algn="tl">
                    <a:srgbClr val="000000"/>
                  </a:outerShdw>
                </a:effectLst>
                <a:latin typeface="Arial" panose="020B0604020202020204" pitchFamily="34" charset="0"/>
              </a:rPr>
              <a:t>, </a:t>
            </a:r>
            <a:r>
              <a:rPr lang="en-GB" altLang="en-US" sz="1700">
                <a:solidFill>
                  <a:srgbClr val="FF6600"/>
                </a:solidFill>
                <a:effectLst>
                  <a:outerShdw blurRad="38100" dist="38100" dir="2700000" algn="tl">
                    <a:srgbClr val="000000"/>
                  </a:outerShdw>
                </a:effectLst>
                <a:latin typeface="Arial" panose="020B0604020202020204" pitchFamily="34" charset="0"/>
              </a:rPr>
              <a:t>ridge push</a:t>
            </a:r>
            <a:r>
              <a:rPr lang="en-GB" altLang="en-US" sz="1700">
                <a:effectLst>
                  <a:outerShdw blurRad="38100" dist="38100" dir="2700000" algn="tl">
                    <a:srgbClr val="000000"/>
                  </a:outerShdw>
                </a:effectLst>
                <a:latin typeface="Arial" panose="020B0604020202020204" pitchFamily="34" charset="0"/>
              </a:rPr>
              <a:t>, </a:t>
            </a:r>
            <a:r>
              <a:rPr lang="en-GB" altLang="en-US" sz="1700">
                <a:solidFill>
                  <a:srgbClr val="FF6600"/>
                </a:solidFill>
                <a:effectLst>
                  <a:outerShdw blurRad="38100" dist="38100" dir="2700000" algn="tl">
                    <a:srgbClr val="000000"/>
                  </a:outerShdw>
                </a:effectLst>
                <a:latin typeface="Arial" panose="020B0604020202020204" pitchFamily="34" charset="0"/>
              </a:rPr>
              <a:t>collisional resistance</a:t>
            </a:r>
            <a:r>
              <a:rPr lang="en-GB" altLang="en-US" sz="1700">
                <a:effectLst>
                  <a:outerShdw blurRad="38100" dist="38100" dir="2700000" algn="tl">
                    <a:srgbClr val="000000"/>
                  </a:outerShdw>
                </a:effectLst>
                <a:latin typeface="Arial" panose="020B0604020202020204" pitchFamily="34" charset="0"/>
              </a:rPr>
              <a:t>, and </a:t>
            </a:r>
            <a:r>
              <a:rPr lang="en-GB" altLang="en-US" sz="1700">
                <a:solidFill>
                  <a:srgbClr val="FF6600"/>
                </a:solidFill>
                <a:effectLst>
                  <a:outerShdw blurRad="38100" dist="38100" dir="2700000" algn="tl">
                    <a:srgbClr val="000000"/>
                  </a:outerShdw>
                </a:effectLst>
                <a:latin typeface="Arial" panose="020B0604020202020204" pitchFamily="34" charset="0"/>
              </a:rPr>
              <a:t>basal drag</a:t>
            </a:r>
          </a:p>
          <a:p>
            <a:pPr>
              <a:lnSpc>
                <a:spcPct val="120000"/>
              </a:lnSpc>
              <a:spcBef>
                <a:spcPct val="7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These forces define a global stress pattern that is locally modified by gravity-controlled </a:t>
            </a:r>
            <a:r>
              <a:rPr lang="en-GB" altLang="en-US" sz="1700">
                <a:solidFill>
                  <a:srgbClr val="FF66CC"/>
                </a:solidFill>
                <a:effectLst>
                  <a:outerShdw blurRad="38100" dist="38100" dir="2700000" algn="tl">
                    <a:srgbClr val="000000"/>
                  </a:outerShdw>
                </a:effectLst>
                <a:latin typeface="Arial" panose="020B0604020202020204" pitchFamily="34" charset="0"/>
              </a:rPr>
              <a:t>second-order sources of stress</a:t>
            </a:r>
            <a:r>
              <a:rPr lang="en-GB" altLang="en-US" sz="1700">
                <a:effectLst>
                  <a:outerShdw blurRad="38100" dist="38100" dir="2700000" algn="tl">
                    <a:srgbClr val="000000"/>
                  </a:outerShdw>
                </a:effectLst>
                <a:latin typeface="Arial" panose="020B0604020202020204" pitchFamily="34" charset="0"/>
              </a:rPr>
              <a:t>, that is, stresses arising from the processes leading to bending that were identified on Slide 33</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5465" name="Picture 9">
            <a:extLst>
              <a:ext uri="{FF2B5EF4-FFF2-40B4-BE49-F238E27FC236}">
                <a16:creationId xmlns:a16="http://schemas.microsoft.com/office/drawing/2014/main" id="{44DAADAF-EBC4-4830-9913-FC1E632893B5}"/>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50813" y="2074863"/>
            <a:ext cx="4916487" cy="2146300"/>
          </a:xfrm>
          <a:noFill/>
          <a:ln w="38100" cap="flat">
            <a:solidFill>
              <a:schemeClr val="bg2"/>
            </a:solidFill>
            <a:miter lim="800000"/>
            <a:headEnd/>
            <a:tailEnd/>
          </a:ln>
        </p:spPr>
      </p:pic>
      <p:sp>
        <p:nvSpPr>
          <p:cNvPr id="275458" name="Rectangle 2">
            <a:extLst>
              <a:ext uri="{FF2B5EF4-FFF2-40B4-BE49-F238E27FC236}">
                <a16:creationId xmlns:a16="http://schemas.microsoft.com/office/drawing/2014/main" id="{04D5AD1B-338D-4307-BAB2-080B24F1CF09}"/>
              </a:ext>
            </a:extLst>
          </p:cNvPr>
          <p:cNvSpPr>
            <a:spLocks noGrp="1" noChangeArrowheads="1"/>
          </p:cNvSpPr>
          <p:nvPr>
            <p:ph type="title"/>
          </p:nvPr>
        </p:nvSpPr>
        <p:spPr>
          <a:noFill/>
        </p:spPr>
        <p:txBody>
          <a:bodyPr/>
          <a:lstStyle/>
          <a:p>
            <a:r>
              <a:rPr lang="en-GB" altLang="en-US">
                <a:effectLst/>
              </a:rPr>
              <a:t>A word on lithospheric strength</a:t>
            </a:r>
          </a:p>
        </p:txBody>
      </p:sp>
      <p:pic>
        <p:nvPicPr>
          <p:cNvPr id="275462" name="Picture 6">
            <a:extLst>
              <a:ext uri="{FF2B5EF4-FFF2-40B4-BE49-F238E27FC236}">
                <a16:creationId xmlns:a16="http://schemas.microsoft.com/office/drawing/2014/main" id="{AC7F8618-E320-4CF3-AE94-AF3CD1F3FB0A}"/>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3632200" y="3965575"/>
            <a:ext cx="5329238" cy="2673350"/>
          </a:xfrm>
          <a:noFill/>
          <a:ln w="38100" cap="flat">
            <a:solidFill>
              <a:schemeClr val="bg2"/>
            </a:solidFill>
            <a:miter lim="800000"/>
            <a:headEnd/>
            <a:tailEnd/>
          </a:ln>
        </p:spPr>
      </p:pic>
      <p:sp>
        <p:nvSpPr>
          <p:cNvPr id="275459" name="Text Box 3">
            <a:extLst>
              <a:ext uri="{FF2B5EF4-FFF2-40B4-BE49-F238E27FC236}">
                <a16:creationId xmlns:a16="http://schemas.microsoft.com/office/drawing/2014/main" id="{153EBC1F-07E4-4042-B695-A6C6BC16E108}"/>
              </a:ext>
            </a:extLst>
          </p:cNvPr>
          <p:cNvSpPr txBox="1">
            <a:spLocks noChangeArrowheads="1"/>
          </p:cNvSpPr>
          <p:nvPr/>
        </p:nvSpPr>
        <p:spPr bwMode="auto">
          <a:xfrm>
            <a:off x="112713" y="796925"/>
            <a:ext cx="8897937"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The stress at any given depth is commonly approximated as the strength of the rocks at that depth. This is given by </a:t>
            </a:r>
            <a:r>
              <a:rPr lang="en-GB" altLang="en-US" sz="1700">
                <a:solidFill>
                  <a:srgbClr val="FF6600"/>
                </a:solidFill>
                <a:effectLst/>
                <a:latin typeface="Arial" panose="020B0604020202020204" pitchFamily="34" charset="0"/>
              </a:rPr>
              <a:t>constitutive equations</a:t>
            </a:r>
            <a:r>
              <a:rPr lang="en-GB" altLang="en-US" sz="1700">
                <a:effectLst/>
                <a:latin typeface="Arial" panose="020B0604020202020204" pitchFamily="34" charset="0"/>
              </a:rPr>
              <a:t> that combine </a:t>
            </a:r>
            <a:r>
              <a:rPr lang="en-GB" altLang="en-US" sz="1700">
                <a:solidFill>
                  <a:srgbClr val="FF66CC"/>
                </a:solidFill>
                <a:effectLst/>
                <a:latin typeface="Arial" panose="020B0604020202020204" pitchFamily="34" charset="0"/>
              </a:rPr>
              <a:t>material specific parameters</a:t>
            </a:r>
            <a:r>
              <a:rPr lang="en-GB" altLang="en-US" sz="1700">
                <a:effectLst/>
                <a:latin typeface="Arial" panose="020B0604020202020204" pitchFamily="34" charset="0"/>
              </a:rPr>
              <a:t> with the important </a:t>
            </a:r>
            <a:r>
              <a:rPr lang="en-GB" altLang="en-US" sz="1700">
                <a:solidFill>
                  <a:srgbClr val="FF66CC"/>
                </a:solidFill>
                <a:effectLst/>
                <a:latin typeface="Arial" panose="020B0604020202020204" pitchFamily="34" charset="0"/>
              </a:rPr>
              <a:t>deformation variables</a:t>
            </a:r>
            <a:r>
              <a:rPr lang="en-GB" altLang="en-US" sz="1700">
                <a:effectLst/>
                <a:latin typeface="Arial" panose="020B0604020202020204" pitchFamily="34" charset="0"/>
              </a:rPr>
              <a:t> (temperature, stress, strain-rate)</a:t>
            </a:r>
            <a:endParaRPr lang="en-GB" altLang="en-US" sz="1700">
              <a:solidFill>
                <a:srgbClr val="FF6600"/>
              </a:solidFill>
              <a:effectLst>
                <a:outerShdw blurRad="38100" dist="38100" dir="2700000" algn="tl">
                  <a:srgbClr val="000000"/>
                </a:outerShdw>
              </a:effectLst>
              <a:latin typeface="Arial" panose="020B0604020202020204" pitchFamily="34" charset="0"/>
            </a:endParaRPr>
          </a:p>
        </p:txBody>
      </p:sp>
      <p:sp>
        <p:nvSpPr>
          <p:cNvPr id="275467" name="Text Box 11">
            <a:extLst>
              <a:ext uri="{FF2B5EF4-FFF2-40B4-BE49-F238E27FC236}">
                <a16:creationId xmlns:a16="http://schemas.microsoft.com/office/drawing/2014/main" id="{9D967935-F670-49CB-BDA5-DFA16B3C69D5}"/>
              </a:ext>
            </a:extLst>
          </p:cNvPr>
          <p:cNvSpPr txBox="1">
            <a:spLocks noChangeArrowheads="1"/>
          </p:cNvSpPr>
          <p:nvPr/>
        </p:nvSpPr>
        <p:spPr bwMode="auto">
          <a:xfrm>
            <a:off x="5722938" y="2438400"/>
            <a:ext cx="20399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cataclastic deformation</a:t>
            </a:r>
          </a:p>
        </p:txBody>
      </p:sp>
      <p:sp>
        <p:nvSpPr>
          <p:cNvPr id="275468" name="Text Box 12">
            <a:extLst>
              <a:ext uri="{FF2B5EF4-FFF2-40B4-BE49-F238E27FC236}">
                <a16:creationId xmlns:a16="http://schemas.microsoft.com/office/drawing/2014/main" id="{3F498085-18C9-455F-8A2E-B326ECA3F8E0}"/>
              </a:ext>
            </a:extLst>
          </p:cNvPr>
          <p:cNvSpPr txBox="1">
            <a:spLocks noChangeArrowheads="1"/>
          </p:cNvSpPr>
          <p:nvPr/>
        </p:nvSpPr>
        <p:spPr bwMode="auto">
          <a:xfrm>
            <a:off x="5834063" y="3295650"/>
            <a:ext cx="25463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Intracrystalline plasticity and diffusive mass transfer</a:t>
            </a:r>
          </a:p>
        </p:txBody>
      </p:sp>
      <p:sp>
        <p:nvSpPr>
          <p:cNvPr id="275469" name="Line 13">
            <a:extLst>
              <a:ext uri="{FF2B5EF4-FFF2-40B4-BE49-F238E27FC236}">
                <a16:creationId xmlns:a16="http://schemas.microsoft.com/office/drawing/2014/main" id="{673C06E0-AB56-4B02-9FD3-A5DA65CAD653}"/>
              </a:ext>
            </a:extLst>
          </p:cNvPr>
          <p:cNvSpPr>
            <a:spLocks noChangeShapeType="1"/>
          </p:cNvSpPr>
          <p:nvPr/>
        </p:nvSpPr>
        <p:spPr bwMode="auto">
          <a:xfrm flipH="1">
            <a:off x="5238750" y="2652713"/>
            <a:ext cx="466725" cy="147637"/>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5470" name="Text Box 14">
            <a:extLst>
              <a:ext uri="{FF2B5EF4-FFF2-40B4-BE49-F238E27FC236}">
                <a16:creationId xmlns:a16="http://schemas.microsoft.com/office/drawing/2014/main" id="{14AC44BF-B83F-4600-90FF-5E7C0C5439E3}"/>
              </a:ext>
            </a:extLst>
          </p:cNvPr>
          <p:cNvSpPr txBox="1">
            <a:spLocks noChangeArrowheads="1"/>
          </p:cNvSpPr>
          <p:nvPr/>
        </p:nvSpPr>
        <p:spPr bwMode="auto">
          <a:xfrm>
            <a:off x="558800" y="4754563"/>
            <a:ext cx="2478088"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Clr>
                <a:schemeClr val="tx1"/>
              </a:buClr>
            </a:pPr>
            <a:r>
              <a:rPr lang="en-GB" altLang="en-US" sz="1400" dirty="0">
                <a:solidFill>
                  <a:srgbClr val="FFFF00"/>
                </a:solidFill>
                <a:effectLst>
                  <a:outerShdw blurRad="38100" dist="38100" dir="2700000" algn="tl">
                    <a:srgbClr val="000000"/>
                  </a:outerShdw>
                </a:effectLst>
                <a:latin typeface="Arial" panose="020B0604020202020204" pitchFamily="34" charset="0"/>
              </a:rPr>
              <a:t>The four most widely used constitutive equations for specifying rock strength: at any depth, the one that gives the smallest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1 </a:t>
            </a:r>
            <a:r>
              <a:rPr lang="en-GB" altLang="en-US" sz="1400" dirty="0">
                <a:solidFill>
                  <a:srgbClr val="FFFF00"/>
                </a:solidFill>
                <a:effectLst>
                  <a:outerShdw blurRad="38100" dist="38100" dir="2700000" algn="tl">
                    <a:srgbClr val="000000"/>
                  </a:outerShdw>
                </a:effectLst>
                <a:latin typeface="Arial" panose="020B0604020202020204" pitchFamily="34" charset="0"/>
              </a:rPr>
              <a:t>-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400" dirty="0">
                <a:solidFill>
                  <a:srgbClr val="FFFF00"/>
                </a:solidFill>
                <a:effectLst>
                  <a:outerShdw blurRad="38100" dist="38100" dir="2700000" algn="tl">
                    <a:srgbClr val="000000"/>
                  </a:outerShdw>
                </a:effectLst>
                <a:latin typeface="Arial" panose="020B0604020202020204" pitchFamily="34" charset="0"/>
              </a:rPr>
              <a:t>) applies</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a:extLst>
              <a:ext uri="{FF2B5EF4-FFF2-40B4-BE49-F238E27FC236}">
                <a16:creationId xmlns:a16="http://schemas.microsoft.com/office/drawing/2014/main" id="{FCB6EDE8-D53F-463E-9CC2-486FDED4B0FD}"/>
              </a:ext>
            </a:extLst>
          </p:cNvPr>
          <p:cNvSpPr>
            <a:spLocks noGrp="1" noChangeArrowheads="1"/>
          </p:cNvSpPr>
          <p:nvPr>
            <p:ph type="title"/>
          </p:nvPr>
        </p:nvSpPr>
        <p:spPr>
          <a:noFill/>
        </p:spPr>
        <p:txBody>
          <a:bodyPr/>
          <a:lstStyle/>
          <a:p>
            <a:r>
              <a:rPr lang="en-GB" altLang="en-US">
                <a:effectLst/>
              </a:rPr>
              <a:t>A word on lithospheric strength  2</a:t>
            </a:r>
          </a:p>
        </p:txBody>
      </p:sp>
      <p:sp>
        <p:nvSpPr>
          <p:cNvPr id="308227" name="Text Box 3">
            <a:extLst>
              <a:ext uri="{FF2B5EF4-FFF2-40B4-BE49-F238E27FC236}">
                <a16:creationId xmlns:a16="http://schemas.microsoft.com/office/drawing/2014/main" id="{FF8F10F1-60EC-4E72-A634-35279D3D2F6C}"/>
              </a:ext>
            </a:extLst>
          </p:cNvPr>
          <p:cNvSpPr txBox="1">
            <a:spLocks noChangeArrowheads="1"/>
          </p:cNvSpPr>
          <p:nvPr/>
        </p:nvSpPr>
        <p:spPr bwMode="auto">
          <a:xfrm>
            <a:off x="112713" y="833438"/>
            <a:ext cx="2679700"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Plots of </a:t>
            </a:r>
            <a:r>
              <a:rPr lang="en-GB" altLang="en-US" sz="1700">
                <a:solidFill>
                  <a:srgbClr val="FF6600"/>
                </a:solidFill>
                <a:effectLst/>
                <a:latin typeface="Arial" panose="020B0604020202020204" pitchFamily="34" charset="0"/>
              </a:rPr>
              <a:t>strength vs. depth</a:t>
            </a:r>
            <a:r>
              <a:rPr lang="en-GB" altLang="en-US" sz="1700">
                <a:effectLst/>
                <a:latin typeface="Arial" panose="020B0604020202020204" pitchFamily="34" charset="0"/>
              </a:rPr>
              <a:t> are calculated for given </a:t>
            </a:r>
            <a:r>
              <a:rPr lang="en-GB" altLang="en-US" sz="1700">
                <a:solidFill>
                  <a:srgbClr val="FF66CC"/>
                </a:solidFill>
                <a:effectLst/>
                <a:latin typeface="Arial" panose="020B0604020202020204" pitchFamily="34" charset="0"/>
              </a:rPr>
              <a:t>strain-rate</a:t>
            </a:r>
            <a:r>
              <a:rPr lang="en-GB" altLang="en-US" sz="1700">
                <a:effectLst/>
                <a:latin typeface="Arial" panose="020B0604020202020204" pitchFamily="34" charset="0"/>
              </a:rPr>
              <a:t>, </a:t>
            </a:r>
            <a:r>
              <a:rPr lang="en-GB" altLang="en-US" sz="1700">
                <a:solidFill>
                  <a:srgbClr val="FF66CC"/>
                </a:solidFill>
                <a:effectLst/>
                <a:latin typeface="Arial" panose="020B0604020202020204" pitchFamily="34" charset="0"/>
              </a:rPr>
              <a:t>geothermal gradient</a:t>
            </a:r>
            <a:r>
              <a:rPr lang="en-GB" altLang="en-US" sz="1700">
                <a:effectLst/>
                <a:latin typeface="Arial" panose="020B0604020202020204" pitchFamily="34" charset="0"/>
              </a:rPr>
              <a:t>, and </a:t>
            </a:r>
            <a:r>
              <a:rPr lang="en-GB" altLang="en-US" sz="1700">
                <a:solidFill>
                  <a:srgbClr val="FF66CC"/>
                </a:solidFill>
                <a:effectLst/>
                <a:latin typeface="Arial" panose="020B0604020202020204" pitchFamily="34" charset="0"/>
              </a:rPr>
              <a:t>lithological stratification</a:t>
            </a:r>
            <a:endParaRPr lang="en-GB" altLang="en-US" sz="1700">
              <a:solidFill>
                <a:srgbClr val="FF66CC"/>
              </a:solidFill>
              <a:effectLst>
                <a:outerShdw blurRad="38100" dist="38100" dir="2700000" algn="tl">
                  <a:srgbClr val="000000"/>
                </a:outerShdw>
              </a:effectLst>
              <a:latin typeface="Arial" panose="020B0604020202020204" pitchFamily="34" charset="0"/>
            </a:endParaRPr>
          </a:p>
        </p:txBody>
      </p:sp>
      <p:grpSp>
        <p:nvGrpSpPr>
          <p:cNvPr id="308231" name="Group 7">
            <a:extLst>
              <a:ext uri="{FF2B5EF4-FFF2-40B4-BE49-F238E27FC236}">
                <a16:creationId xmlns:a16="http://schemas.microsoft.com/office/drawing/2014/main" id="{9600A43F-798D-4F1B-81E2-11834D5D848E}"/>
              </a:ext>
            </a:extLst>
          </p:cNvPr>
          <p:cNvGrpSpPr>
            <a:grpSpLocks/>
          </p:cNvGrpSpPr>
          <p:nvPr/>
        </p:nvGrpSpPr>
        <p:grpSpPr bwMode="auto">
          <a:xfrm>
            <a:off x="2943225" y="890588"/>
            <a:ext cx="5969000" cy="1981200"/>
            <a:chOff x="593" y="2655"/>
            <a:chExt cx="4741" cy="1573"/>
          </a:xfrm>
        </p:grpSpPr>
        <p:sp>
          <p:nvSpPr>
            <p:cNvPr id="308230" name="Rectangle 6">
              <a:extLst>
                <a:ext uri="{FF2B5EF4-FFF2-40B4-BE49-F238E27FC236}">
                  <a16:creationId xmlns:a16="http://schemas.microsoft.com/office/drawing/2014/main" id="{FDDD98B2-502E-48BD-9558-77F2F486E4DF}"/>
                </a:ext>
              </a:extLst>
            </p:cNvPr>
            <p:cNvSpPr>
              <a:spLocks noChangeArrowheads="1"/>
            </p:cNvSpPr>
            <p:nvPr/>
          </p:nvSpPr>
          <p:spPr bwMode="auto">
            <a:xfrm>
              <a:off x="593" y="2655"/>
              <a:ext cx="4741" cy="157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08228" name="Picture 4">
              <a:extLst>
                <a:ext uri="{FF2B5EF4-FFF2-40B4-BE49-F238E27FC236}">
                  <a16:creationId xmlns:a16="http://schemas.microsoft.com/office/drawing/2014/main" id="{8C21D4D5-6DD6-4E38-AF8B-9CA072A1E3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 y="2710"/>
              <a:ext cx="4647" cy="1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08232" name="Text Box 8">
            <a:extLst>
              <a:ext uri="{FF2B5EF4-FFF2-40B4-BE49-F238E27FC236}">
                <a16:creationId xmlns:a16="http://schemas.microsoft.com/office/drawing/2014/main" id="{5BFB0E7D-660E-4F3E-ABA7-9D48C53279AB}"/>
              </a:ext>
            </a:extLst>
          </p:cNvPr>
          <p:cNvSpPr txBox="1">
            <a:spLocks noChangeArrowheads="1"/>
          </p:cNvSpPr>
          <p:nvPr/>
        </p:nvSpPr>
        <p:spPr bwMode="auto">
          <a:xfrm>
            <a:off x="119063" y="2968625"/>
            <a:ext cx="884237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630238" indent="-268288">
              <a:defRPr sz="1600">
                <a:solidFill>
                  <a:schemeClr val="tx1"/>
                </a:solidFill>
                <a:latin typeface="Helvetica" panose="020B0604020202020204" pitchFamily="34" charset="0"/>
              </a:defRPr>
            </a:lvl2pPr>
            <a:lvl3pPr marL="1246188" indent="-304800">
              <a:defRPr sz="1600">
                <a:solidFill>
                  <a:schemeClr val="tx1"/>
                </a:solidFill>
                <a:latin typeface="Helvetica" panose="020B0604020202020204" pitchFamily="34" charset="0"/>
              </a:defRPr>
            </a:lvl3pPr>
            <a:lvl4pPr marL="1730375" indent="-304800">
              <a:defRPr sz="1600">
                <a:solidFill>
                  <a:schemeClr val="tx1"/>
                </a:solidFill>
                <a:latin typeface="Helvetica" panose="020B0604020202020204" pitchFamily="34" charset="0"/>
              </a:defRPr>
            </a:lvl4pPr>
            <a:lvl5pPr marL="2214563" indent="-304800">
              <a:defRPr sz="1600">
                <a:solidFill>
                  <a:schemeClr val="tx1"/>
                </a:solidFill>
                <a:latin typeface="Helvetica" panose="020B0604020202020204" pitchFamily="34" charset="0"/>
              </a:defRPr>
            </a:lvl5pPr>
            <a:lvl6pPr marL="26717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289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861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433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For a </a:t>
            </a:r>
            <a:r>
              <a:rPr lang="en-GB" altLang="en-US" sz="1700">
                <a:solidFill>
                  <a:srgbClr val="FF6600"/>
                </a:solidFill>
                <a:effectLst>
                  <a:outerShdw blurRad="38100" dist="38100" dir="2700000" algn="tl">
                    <a:srgbClr val="000000"/>
                  </a:outerShdw>
                </a:effectLst>
                <a:latin typeface="Arial" panose="020B0604020202020204" pitchFamily="34" charset="0"/>
              </a:rPr>
              <a:t>continental lithosphere</a:t>
            </a:r>
            <a:r>
              <a:rPr lang="en-GB" altLang="en-US" sz="1700">
                <a:effectLst>
                  <a:outerShdw blurRad="38100" dist="38100" dir="2700000" algn="tl">
                    <a:srgbClr val="000000"/>
                  </a:outerShdw>
                </a:effectLst>
                <a:latin typeface="Arial" panose="020B0604020202020204" pitchFamily="34" charset="0"/>
              </a:rPr>
              <a:t> (upper crust = quartz, lower crust = feldspar, upper mantle = olivine), various models of strength with depth are in wide currency:</a:t>
            </a:r>
          </a:p>
          <a:p>
            <a:pPr lvl="1">
              <a:lnSpc>
                <a:spcPct val="120000"/>
              </a:lnSpc>
              <a:spcBef>
                <a:spcPct val="50000"/>
              </a:spcBef>
              <a:buClr>
                <a:schemeClr val="tx1"/>
              </a:buClr>
              <a:buFontTx/>
              <a:buAutoNum type="arabicPeriod"/>
            </a:pPr>
            <a:r>
              <a:rPr lang="en-GB" altLang="en-US" sz="1700">
                <a:solidFill>
                  <a:srgbClr val="FF66CC"/>
                </a:solidFill>
                <a:effectLst>
                  <a:outerShdw blurRad="38100" dist="38100" dir="2700000" algn="tl">
                    <a:srgbClr val="000000"/>
                  </a:outerShdw>
                </a:effectLst>
                <a:latin typeface="Arial" panose="020B0604020202020204" pitchFamily="34" charset="0"/>
              </a:rPr>
              <a:t>‘Jelly sandwich’</a:t>
            </a:r>
            <a:r>
              <a:rPr lang="en-GB" altLang="en-US" sz="1700">
                <a:effectLst>
                  <a:outerShdw blurRad="38100" dist="38100" dir="2700000" algn="tl">
                    <a:srgbClr val="000000"/>
                  </a:outerShdw>
                </a:effectLst>
                <a:latin typeface="Arial" panose="020B0604020202020204" pitchFamily="34" charset="0"/>
              </a:rPr>
              <a:t>: weak lower crust between strong upper crust and upper mantle thought to apply to relatively cool geothermal gradients and a hydrated lower crust</a:t>
            </a:r>
          </a:p>
          <a:p>
            <a:pPr lvl="1">
              <a:lnSpc>
                <a:spcPct val="120000"/>
              </a:lnSpc>
              <a:spcBef>
                <a:spcPct val="50000"/>
              </a:spcBef>
              <a:buClr>
                <a:schemeClr val="tx1"/>
              </a:buClr>
              <a:buFontTx/>
              <a:buAutoNum type="arabicPeriod"/>
            </a:pPr>
            <a:r>
              <a:rPr lang="en-GB" altLang="en-US" sz="1700">
                <a:solidFill>
                  <a:srgbClr val="FF66CC"/>
                </a:solidFill>
                <a:effectLst>
                  <a:outerShdw blurRad="38100" dist="38100" dir="2700000" algn="tl">
                    <a:srgbClr val="000000"/>
                  </a:outerShdw>
                </a:effectLst>
                <a:latin typeface="Arial" panose="020B0604020202020204" pitchFamily="34" charset="0"/>
              </a:rPr>
              <a:t>‘Crème brûlée’</a:t>
            </a:r>
            <a:r>
              <a:rPr lang="en-GB" altLang="en-US" sz="1700">
                <a:effectLst>
                  <a:outerShdw blurRad="38100" dist="38100" dir="2700000" algn="tl">
                    <a:srgbClr val="000000"/>
                  </a:outerShdw>
                </a:effectLst>
                <a:latin typeface="Arial" panose="020B0604020202020204" pitchFamily="34" charset="0"/>
              </a:rPr>
              <a:t>: strong crust and weak mantle thought to apply to relatively high geothermal gradients and dehydrated lower crust</a:t>
            </a:r>
          </a:p>
          <a:p>
            <a:pPr lvl="1">
              <a:lnSpc>
                <a:spcPct val="120000"/>
              </a:lnSpc>
              <a:spcBef>
                <a:spcPct val="50000"/>
              </a:spcBef>
              <a:buClr>
                <a:schemeClr val="tx1"/>
              </a:buClr>
              <a:buFontTx/>
              <a:buAutoNum type="arabicPeriod"/>
            </a:pPr>
            <a:r>
              <a:rPr lang="en-GB" altLang="en-US" sz="1700">
                <a:effectLst>
                  <a:outerShdw blurRad="38100" dist="38100" dir="2700000" algn="tl">
                    <a:srgbClr val="000000"/>
                  </a:outerShdw>
                </a:effectLst>
                <a:latin typeface="Arial" panose="020B0604020202020204" pitchFamily="34" charset="0"/>
              </a:rPr>
              <a:t>A third </a:t>
            </a:r>
            <a:r>
              <a:rPr lang="en-GB" altLang="en-US" sz="1700">
                <a:solidFill>
                  <a:srgbClr val="FF66CC"/>
                </a:solidFill>
                <a:effectLst>
                  <a:outerShdw blurRad="38100" dist="38100" dir="2700000" algn="tl">
                    <a:srgbClr val="000000"/>
                  </a:outerShdw>
                </a:effectLst>
                <a:latin typeface="Arial" panose="020B0604020202020204" pitchFamily="34" charset="0"/>
              </a:rPr>
              <a:t>‘Banana split’</a:t>
            </a:r>
            <a:r>
              <a:rPr lang="en-GB" altLang="en-US" sz="1700">
                <a:effectLst>
                  <a:outerShdw blurRad="38100" dist="38100" dir="2700000" algn="tl">
                    <a:srgbClr val="000000"/>
                  </a:outerShdw>
                </a:effectLst>
                <a:latin typeface="Arial" panose="020B0604020202020204" pitchFamily="34" charset="0"/>
              </a:rPr>
              <a:t> model is applied to long established, major fault zones that extend to great depth</a:t>
            </a:r>
          </a:p>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a:t>
            </a:r>
            <a:r>
              <a:rPr lang="en-GB" altLang="en-US" sz="1700">
                <a:solidFill>
                  <a:srgbClr val="FF6600"/>
                </a:solidFill>
                <a:effectLst>
                  <a:outerShdw blurRad="38100" dist="38100" dir="2700000" algn="tl">
                    <a:srgbClr val="000000"/>
                  </a:outerShdw>
                </a:effectLst>
                <a:latin typeface="Arial" panose="020B0604020202020204" pitchFamily="34" charset="0"/>
              </a:rPr>
              <a:t>oceanic lithosphere</a:t>
            </a:r>
            <a:r>
              <a:rPr lang="en-GB" altLang="en-US" sz="1700">
                <a:effectLst>
                  <a:outerShdw blurRad="38100" dist="38100" dir="2700000" algn="tl">
                    <a:srgbClr val="000000"/>
                  </a:outerShdw>
                </a:effectLst>
                <a:latin typeface="Arial" panose="020B0604020202020204" pitchFamily="34" charset="0"/>
              </a:rPr>
              <a:t> with its thin doleritic crust overlying an olivine-dominated upper mantle, has a better understood strength vs. depth profile</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38D5DB03-65CA-4914-B28B-858120F4916B}"/>
              </a:ext>
            </a:extLst>
          </p:cNvPr>
          <p:cNvSpPr>
            <a:spLocks noGrp="1" noChangeArrowheads="1"/>
          </p:cNvSpPr>
          <p:nvPr>
            <p:ph type="title"/>
          </p:nvPr>
        </p:nvSpPr>
        <p:spPr>
          <a:noFill/>
        </p:spPr>
        <p:txBody>
          <a:bodyPr/>
          <a:lstStyle/>
          <a:p>
            <a:r>
              <a:rPr lang="en-GB" altLang="en-US">
                <a:effectLst/>
              </a:rPr>
              <a:t>Stress or strain?</a:t>
            </a:r>
          </a:p>
        </p:txBody>
      </p:sp>
      <p:sp>
        <p:nvSpPr>
          <p:cNvPr id="306179" name="Text Box 3">
            <a:extLst>
              <a:ext uri="{FF2B5EF4-FFF2-40B4-BE49-F238E27FC236}">
                <a16:creationId xmlns:a16="http://schemas.microsoft.com/office/drawing/2014/main" id="{B6F9D6A6-1F69-4362-BB70-511F3797FDC4}"/>
              </a:ext>
            </a:extLst>
          </p:cNvPr>
          <p:cNvSpPr txBox="1">
            <a:spLocks noChangeArrowheads="1"/>
          </p:cNvSpPr>
          <p:nvPr/>
        </p:nvSpPr>
        <p:spPr bwMode="auto">
          <a:xfrm>
            <a:off x="112713" y="833438"/>
            <a:ext cx="8897937"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539750" indent="-177800">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Throughout this presentation the material has been presented as if stress is the cause of deformation. This is not always appropriate</a:t>
            </a:r>
          </a:p>
          <a:p>
            <a:pPr>
              <a:lnSpc>
                <a:spcPct val="120000"/>
              </a:lnSpc>
              <a:spcBef>
                <a:spcPct val="15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 </a:t>
            </a:r>
            <a:r>
              <a:rPr lang="en-GB" altLang="en-US" sz="1700" dirty="0">
                <a:solidFill>
                  <a:srgbClr val="FF6600"/>
                </a:solidFill>
                <a:effectLst/>
                <a:latin typeface="Arial" panose="020B0604020202020204" pitchFamily="34" charset="0"/>
              </a:rPr>
              <a:t>cause of a mechanical process is determined by boundary conditions</a:t>
            </a:r>
            <a:r>
              <a:rPr lang="en-GB" altLang="en-US" sz="1700" dirty="0">
                <a:effectLst/>
                <a:latin typeface="Arial" panose="020B0604020202020204" pitchFamily="34" charset="0"/>
              </a:rPr>
              <a:t>, that is, by the conditions that are externally imposed on a body</a:t>
            </a:r>
          </a:p>
          <a:p>
            <a:pPr lvl="1">
              <a:lnSpc>
                <a:spcPct val="120000"/>
              </a:lnSpc>
              <a:spcBef>
                <a:spcPct val="75000"/>
              </a:spcBef>
              <a:buClr>
                <a:schemeClr val="folHlink"/>
              </a:buClr>
              <a:buSzPct val="100000"/>
              <a:buFont typeface="Times" panose="02020603050405020304" pitchFamily="18" charset="0"/>
              <a:buChar char="•"/>
            </a:pPr>
            <a:r>
              <a:rPr lang="en-GB" altLang="en-US" sz="1700" dirty="0">
                <a:solidFill>
                  <a:srgbClr val="FF66CC"/>
                </a:solidFill>
                <a:effectLst>
                  <a:outerShdw blurRad="38100" dist="38100" dir="2700000" algn="tl">
                    <a:srgbClr val="000000"/>
                  </a:outerShdw>
                </a:effectLst>
                <a:latin typeface="Arial" panose="020B0604020202020204" pitchFamily="34" charset="0"/>
              </a:rPr>
              <a:t>If stresses are imposed</a:t>
            </a:r>
            <a:r>
              <a:rPr lang="en-GB" altLang="en-US" sz="1700" dirty="0">
                <a:effectLst>
                  <a:outerShdw blurRad="38100" dist="38100" dir="2700000" algn="tl">
                    <a:srgbClr val="000000"/>
                  </a:outerShdw>
                </a:effectLst>
                <a:latin typeface="Arial" panose="020B0604020202020204" pitchFamily="34" charset="0"/>
              </a:rPr>
              <a:t> and maintained on the boundaries then stress is the cause of the deformation and strain is the response to it</a:t>
            </a:r>
          </a:p>
          <a:p>
            <a:pPr lvl="1">
              <a:lnSpc>
                <a:spcPct val="120000"/>
              </a:lnSpc>
              <a:spcBef>
                <a:spcPct val="75000"/>
              </a:spcBef>
              <a:buClr>
                <a:schemeClr val="folHlink"/>
              </a:buClr>
              <a:buSzPct val="100000"/>
              <a:buFont typeface="Times" panose="02020603050405020304" pitchFamily="18" charset="0"/>
              <a:buChar char="•"/>
            </a:pPr>
            <a:r>
              <a:rPr lang="en-GB" altLang="en-US" sz="1700" dirty="0">
                <a:solidFill>
                  <a:srgbClr val="FF66CC"/>
                </a:solidFill>
                <a:effectLst>
                  <a:outerShdw blurRad="38100" dist="38100" dir="2700000" algn="tl">
                    <a:srgbClr val="000000"/>
                  </a:outerShdw>
                </a:effectLst>
                <a:latin typeface="Arial" panose="020B0604020202020204" pitchFamily="34" charset="0"/>
              </a:rPr>
              <a:t>If, however, the boundaries are required to move</a:t>
            </a:r>
            <a:r>
              <a:rPr lang="en-GB" altLang="en-US" sz="1700" dirty="0">
                <a:effectLst>
                  <a:outerShdw blurRad="38100" dist="38100" dir="2700000" algn="tl">
                    <a:srgbClr val="000000"/>
                  </a:outerShdw>
                </a:effectLst>
                <a:latin typeface="Arial" panose="020B0604020202020204" pitchFamily="34" charset="0"/>
              </a:rPr>
              <a:t> by a prescribed amount or at a prescribed rate, then strain is the cause of the process and stresses develop in response to it (</a:t>
            </a:r>
            <a:r>
              <a:rPr lang="en-GB" altLang="en-US" sz="1700" i="1" dirty="0">
                <a:effectLst>
                  <a:outerShdw blurRad="38100" dist="38100" dir="2700000" algn="tl">
                    <a:srgbClr val="000000"/>
                  </a:outerShdw>
                </a:effectLst>
                <a:latin typeface="Arial" panose="020B0604020202020204" pitchFamily="34" charset="0"/>
              </a:rPr>
              <a:t>e.g.</a:t>
            </a:r>
            <a:r>
              <a:rPr lang="en-GB" altLang="en-US" sz="1700" dirty="0">
                <a:effectLst>
                  <a:outerShdw blurRad="38100" dist="38100" dir="2700000" algn="tl">
                    <a:srgbClr val="000000"/>
                  </a:outerShdw>
                </a:effectLst>
                <a:latin typeface="Arial" panose="020B0604020202020204" pitchFamily="34" charset="0"/>
              </a:rPr>
              <a:t>, the uniaxial strain reference state)</a:t>
            </a:r>
          </a:p>
          <a:p>
            <a:pPr>
              <a:lnSpc>
                <a:spcPct val="120000"/>
              </a:lnSpc>
              <a:spcBef>
                <a:spcPct val="150000"/>
              </a:spcBef>
              <a:buClr>
                <a:schemeClr val="folHlink"/>
              </a:buClr>
              <a:buSzPct val="100000"/>
              <a:buFont typeface="Times" panose="02020603050405020304" pitchFamily="18" charset="0"/>
              <a:buChar char="•"/>
            </a:pPr>
            <a:r>
              <a:rPr lang="en-GB" altLang="en-US" sz="1700" dirty="0">
                <a:effectLst>
                  <a:outerShdw blurRad="38100" dist="38100" dir="2700000" algn="tl">
                    <a:srgbClr val="000000"/>
                  </a:outerShdw>
                </a:effectLst>
                <a:latin typeface="Arial" panose="020B0604020202020204" pitchFamily="34" charset="0"/>
              </a:rPr>
              <a:t>Many of our measurements in structural geology are actually of </a:t>
            </a:r>
            <a:r>
              <a:rPr lang="en-GB" altLang="en-US" sz="1700" dirty="0">
                <a:solidFill>
                  <a:srgbClr val="FF66CC"/>
                </a:solidFill>
                <a:effectLst>
                  <a:outerShdw blurRad="38100" dist="38100" dir="2700000" algn="tl">
                    <a:srgbClr val="000000"/>
                  </a:outerShdw>
                </a:effectLst>
                <a:latin typeface="Arial" panose="020B0604020202020204" pitchFamily="34" charset="0"/>
              </a:rPr>
              <a:t>strain rather than stress</a:t>
            </a:r>
            <a:r>
              <a:rPr lang="en-GB" altLang="en-US" sz="1700" dirty="0">
                <a:effectLst>
                  <a:outerShdw blurRad="38100" dist="38100" dir="2700000" algn="tl">
                    <a:srgbClr val="000000"/>
                  </a:outerShdw>
                </a:effectLst>
                <a:latin typeface="Arial" panose="020B0604020202020204" pitchFamily="34" charset="0"/>
              </a:rPr>
              <a:t> and so care needs to be taken when inferring stresses from those data, particularly when the strains involved are finite rather than infinitesimal</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DCAAAE13-4374-4E5D-AADA-B66B37DF8101}"/>
              </a:ext>
            </a:extLst>
          </p:cNvPr>
          <p:cNvSpPr>
            <a:spLocks noGrp="1" noChangeArrowheads="1"/>
          </p:cNvSpPr>
          <p:nvPr>
            <p:ph type="title"/>
          </p:nvPr>
        </p:nvSpPr>
        <p:spPr>
          <a:noFill/>
        </p:spPr>
        <p:txBody>
          <a:bodyPr/>
          <a:lstStyle/>
          <a:p>
            <a:r>
              <a:rPr lang="en-GB" altLang="en-US">
                <a:effectLst/>
              </a:rPr>
              <a:t>Reading</a:t>
            </a:r>
          </a:p>
        </p:txBody>
      </p:sp>
      <p:sp>
        <p:nvSpPr>
          <p:cNvPr id="216067" name="Rectangle 3">
            <a:extLst>
              <a:ext uri="{FF2B5EF4-FFF2-40B4-BE49-F238E27FC236}">
                <a16:creationId xmlns:a16="http://schemas.microsoft.com/office/drawing/2014/main" id="{0FC32B1C-6B76-4CC6-8B05-724AF789A8FB}"/>
              </a:ext>
            </a:extLst>
          </p:cNvPr>
          <p:cNvSpPr>
            <a:spLocks noGrp="1" noChangeArrowheads="1"/>
          </p:cNvSpPr>
          <p:nvPr>
            <p:ph type="body" sz="half" idx="1"/>
          </p:nvPr>
        </p:nvSpPr>
        <p:spPr>
          <a:xfrm>
            <a:off x="169863" y="860425"/>
            <a:ext cx="8721725" cy="5791200"/>
          </a:xfrm>
          <a:noFill/>
        </p:spPr>
        <p:txBody>
          <a:bodyPr/>
          <a:lstStyle/>
          <a:p>
            <a:pPr marL="177800" indent="-177800">
              <a:lnSpc>
                <a:spcPct val="110000"/>
              </a:lnSpc>
            </a:pPr>
            <a:r>
              <a:rPr lang="en-GB" altLang="en-US" sz="1400" dirty="0">
                <a:effectLst/>
              </a:rPr>
              <a:t>Fossen H (2016) </a:t>
            </a:r>
            <a:r>
              <a:rPr lang="en-GB" altLang="en-US" sz="1400" i="1" dirty="0">
                <a:effectLst/>
              </a:rPr>
              <a:t>Structural Geology </a:t>
            </a:r>
            <a:r>
              <a:rPr lang="en-GB" altLang="en-US" sz="1400" dirty="0">
                <a:effectLst/>
              </a:rPr>
              <a:t>(2</a:t>
            </a:r>
            <a:r>
              <a:rPr lang="en-GB" altLang="en-US" sz="1400" baseline="30000" dirty="0">
                <a:effectLst/>
              </a:rPr>
              <a:t>nd</a:t>
            </a:r>
            <a:r>
              <a:rPr lang="en-GB" altLang="en-US" sz="1400" dirty="0">
                <a:effectLst/>
              </a:rPr>
              <a:t> edition).</a:t>
            </a:r>
            <a:r>
              <a:rPr lang="en-GB" altLang="en-US" sz="1400" i="1" dirty="0">
                <a:effectLst/>
              </a:rPr>
              <a:t> </a:t>
            </a:r>
            <a:r>
              <a:rPr lang="en-GB" altLang="en-US" sz="1400" dirty="0">
                <a:effectLst/>
              </a:rPr>
              <a:t>Cambridge University Press. </a:t>
            </a:r>
            <a:r>
              <a:rPr lang="en-GB" altLang="en-US" sz="1400" dirty="0">
                <a:solidFill>
                  <a:srgbClr val="FF66CC"/>
                </a:solidFill>
                <a:effectLst/>
              </a:rPr>
              <a:t>[Chapters 4, 5]</a:t>
            </a:r>
          </a:p>
          <a:p>
            <a:pPr marL="177800" indent="-177800">
              <a:lnSpc>
                <a:spcPct val="110000"/>
              </a:lnSpc>
            </a:pPr>
            <a:r>
              <a:rPr lang="en-GB" altLang="en-US" sz="1400" dirty="0">
                <a:effectLst/>
              </a:rPr>
              <a:t>Twiss RJ, </a:t>
            </a:r>
            <a:r>
              <a:rPr lang="en-GB" altLang="en-US" sz="1400" dirty="0" err="1">
                <a:effectLst/>
              </a:rPr>
              <a:t>Moores</a:t>
            </a:r>
            <a:r>
              <a:rPr lang="en-GB" altLang="en-US" sz="1400" dirty="0">
                <a:effectLst/>
              </a:rPr>
              <a:t> EM (2007) </a:t>
            </a:r>
            <a:r>
              <a:rPr lang="en-GB" altLang="en-US" sz="1400" i="1" dirty="0">
                <a:effectLst/>
              </a:rPr>
              <a:t>Structural Geology</a:t>
            </a:r>
            <a:r>
              <a:rPr lang="en-GB" altLang="en-US" sz="1400" dirty="0">
                <a:effectLst/>
              </a:rPr>
              <a:t> (2</a:t>
            </a:r>
            <a:r>
              <a:rPr lang="en-GB" altLang="en-US" sz="1400" baseline="30000" dirty="0">
                <a:effectLst/>
              </a:rPr>
              <a:t>nd</a:t>
            </a:r>
            <a:r>
              <a:rPr lang="en-GB" altLang="en-US" sz="1400" dirty="0">
                <a:effectLst/>
              </a:rPr>
              <a:t> edition). WH Freeman and Co. </a:t>
            </a:r>
            <a:r>
              <a:rPr lang="en-GB" altLang="en-US" sz="1400" dirty="0">
                <a:solidFill>
                  <a:srgbClr val="FF66CC"/>
                </a:solidFill>
                <a:effectLst/>
              </a:rPr>
              <a:t>[Chapters 7, 9]</a:t>
            </a:r>
          </a:p>
          <a:p>
            <a:pPr marL="177800" indent="-177800">
              <a:lnSpc>
                <a:spcPct val="110000"/>
              </a:lnSpc>
            </a:pPr>
            <a:r>
              <a:rPr lang="en-GB" altLang="en-US" sz="1400" dirty="0" err="1">
                <a:effectLst/>
              </a:rPr>
              <a:t>Gudmundsson</a:t>
            </a:r>
            <a:r>
              <a:rPr lang="en-GB" altLang="en-US" sz="1400" dirty="0">
                <a:effectLst/>
              </a:rPr>
              <a:t> A (2011) </a:t>
            </a:r>
            <a:r>
              <a:rPr lang="en-GB" altLang="en-US" sz="1400" i="1" dirty="0">
                <a:effectLst/>
              </a:rPr>
              <a:t>Rock Fractures in Geological Processes. </a:t>
            </a:r>
            <a:r>
              <a:rPr lang="en-GB" altLang="en-US" sz="1400" dirty="0">
                <a:effectLst/>
              </a:rPr>
              <a:t>Cambridge University Press. </a:t>
            </a:r>
            <a:r>
              <a:rPr lang="en-GB" altLang="en-US" sz="1400" dirty="0">
                <a:solidFill>
                  <a:srgbClr val="FF66CC"/>
                </a:solidFill>
                <a:effectLst/>
              </a:rPr>
              <a:t>[Chapter 2; some good worked examples involving the use of Mohr’s circles]</a:t>
            </a:r>
            <a:endParaRPr lang="en-GB" altLang="en-US" sz="1400" dirty="0">
              <a:effectLst/>
            </a:endParaRPr>
          </a:p>
          <a:p>
            <a:pPr marL="177800" indent="-177800">
              <a:lnSpc>
                <a:spcPct val="110000"/>
              </a:lnSpc>
              <a:spcBef>
                <a:spcPct val="200000"/>
              </a:spcBef>
              <a:buFont typeface="Times" panose="02020603050405020304" pitchFamily="18" charset="0"/>
              <a:buNone/>
            </a:pPr>
            <a:r>
              <a:rPr lang="en-GB" altLang="en-US" sz="1400" dirty="0">
                <a:solidFill>
                  <a:srgbClr val="FF6600"/>
                </a:solidFill>
                <a:effectLst/>
              </a:rPr>
              <a:t>Other excellent texts covering the same territory in different ways</a:t>
            </a:r>
          </a:p>
          <a:p>
            <a:pPr marL="177800" indent="-177800">
              <a:lnSpc>
                <a:spcPct val="110000"/>
              </a:lnSpc>
              <a:spcBef>
                <a:spcPct val="30000"/>
              </a:spcBef>
            </a:pPr>
            <a:r>
              <a:rPr lang="en-GB" altLang="en-US" sz="1400" dirty="0">
                <a:effectLst/>
              </a:rPr>
              <a:t>Turcotte DL, Schubert G (2002) </a:t>
            </a:r>
            <a:r>
              <a:rPr lang="en-GB" altLang="en-US" sz="1400" i="1" dirty="0">
                <a:effectLst/>
              </a:rPr>
              <a:t>Geodynamics</a:t>
            </a:r>
            <a:r>
              <a:rPr lang="en-GB" altLang="en-US" sz="1400" dirty="0">
                <a:effectLst/>
              </a:rPr>
              <a:t> (2</a:t>
            </a:r>
            <a:r>
              <a:rPr lang="en-GB" altLang="en-US" sz="1400" baseline="30000" dirty="0">
                <a:effectLst/>
              </a:rPr>
              <a:t>nd</a:t>
            </a:r>
            <a:r>
              <a:rPr lang="en-GB" altLang="en-US" sz="1400" dirty="0">
                <a:effectLst/>
              </a:rPr>
              <a:t> edition). Cambridge University Press. </a:t>
            </a:r>
            <a:r>
              <a:rPr lang="en-GB" altLang="en-US" sz="1400" dirty="0">
                <a:solidFill>
                  <a:srgbClr val="FF66CC"/>
                </a:solidFill>
                <a:effectLst/>
              </a:rPr>
              <a:t>[Chapter 2]</a:t>
            </a:r>
          </a:p>
          <a:p>
            <a:pPr marL="177800" indent="-177800">
              <a:lnSpc>
                <a:spcPct val="110000"/>
              </a:lnSpc>
            </a:pPr>
            <a:r>
              <a:rPr lang="en-GB" altLang="en-US" sz="1400" dirty="0">
                <a:effectLst/>
              </a:rPr>
              <a:t>Price NJ, Cosgrove JW (1990) </a:t>
            </a:r>
            <a:r>
              <a:rPr lang="en-GB" altLang="en-US" sz="1400" i="1" dirty="0">
                <a:effectLst/>
              </a:rPr>
              <a:t>Analysis of Geological Structures.</a:t>
            </a:r>
            <a:r>
              <a:rPr lang="en-GB" altLang="en-US" sz="1400" dirty="0">
                <a:effectLst/>
              </a:rPr>
              <a:t> Cambridge University Press. </a:t>
            </a:r>
            <a:r>
              <a:rPr lang="en-GB" altLang="en-US" sz="1400" dirty="0">
                <a:solidFill>
                  <a:srgbClr val="FF66CC"/>
                </a:solidFill>
                <a:effectLst/>
              </a:rPr>
              <a:t>[p.1-7]</a:t>
            </a:r>
          </a:p>
          <a:p>
            <a:pPr marL="177800" indent="-177800">
              <a:lnSpc>
                <a:spcPct val="110000"/>
              </a:lnSpc>
            </a:pPr>
            <a:r>
              <a:rPr lang="en-GB" altLang="en-US" sz="1400" dirty="0">
                <a:effectLst/>
              </a:rPr>
              <a:t>Ragan DM (2009) </a:t>
            </a:r>
            <a:r>
              <a:rPr lang="en-GB" altLang="en-US" sz="1400" i="1" dirty="0">
                <a:effectLst/>
              </a:rPr>
              <a:t>Structural Geology: An Introduction to Geometrical Techniques</a:t>
            </a:r>
            <a:r>
              <a:rPr lang="en-GB" altLang="en-US" sz="1400" dirty="0">
                <a:effectLst/>
              </a:rPr>
              <a:t> (4</a:t>
            </a:r>
            <a:r>
              <a:rPr lang="en-GB" altLang="en-US" sz="1400" baseline="30000" dirty="0">
                <a:effectLst/>
              </a:rPr>
              <a:t>th</a:t>
            </a:r>
            <a:r>
              <a:rPr lang="en-GB" altLang="en-US" sz="1400" dirty="0">
                <a:effectLst/>
              </a:rPr>
              <a:t> edition). Cambridge University Press. </a:t>
            </a:r>
            <a:r>
              <a:rPr lang="en-GB" altLang="en-US" sz="1400" dirty="0">
                <a:solidFill>
                  <a:srgbClr val="FF66CC"/>
                </a:solidFill>
                <a:effectLst/>
              </a:rPr>
              <a:t>[Chapter 9]</a:t>
            </a:r>
          </a:p>
          <a:p>
            <a:pPr marL="177800" indent="-177800">
              <a:lnSpc>
                <a:spcPct val="110000"/>
              </a:lnSpc>
            </a:pPr>
            <a:r>
              <a:rPr lang="en-GB" altLang="en-US" sz="1400" dirty="0">
                <a:effectLst/>
              </a:rPr>
              <a:t>Pollard DD, Fletcher RC (2005) </a:t>
            </a:r>
            <a:r>
              <a:rPr lang="en-GB" altLang="en-US" sz="1400" i="1" dirty="0">
                <a:effectLst/>
              </a:rPr>
              <a:t>Fundamentals of Structural Geology . </a:t>
            </a:r>
            <a:r>
              <a:rPr lang="en-GB" altLang="en-US" sz="1400" dirty="0">
                <a:effectLst/>
              </a:rPr>
              <a:t>Cambridge University Press. </a:t>
            </a:r>
            <a:r>
              <a:rPr lang="en-GB" altLang="en-US" sz="1400" dirty="0">
                <a:solidFill>
                  <a:srgbClr val="FF66CC"/>
                </a:solidFill>
                <a:effectLst/>
              </a:rPr>
              <a:t>[Chapter 6]</a:t>
            </a:r>
            <a:endParaRPr lang="en-GB" altLang="en-US" sz="1400" dirty="0">
              <a:effectLst/>
            </a:endParaRPr>
          </a:p>
          <a:p>
            <a:pPr marL="177800" indent="-177800">
              <a:lnSpc>
                <a:spcPct val="110000"/>
              </a:lnSpc>
            </a:pPr>
            <a:r>
              <a:rPr lang="en-GB" altLang="en-US" sz="1400" dirty="0" err="1">
                <a:effectLst/>
              </a:rPr>
              <a:t>Allmendinger</a:t>
            </a:r>
            <a:r>
              <a:rPr lang="en-GB" altLang="en-US" sz="1400" dirty="0">
                <a:effectLst/>
              </a:rPr>
              <a:t> RW, Cardozo N, Fisher DM (2012) </a:t>
            </a:r>
            <a:r>
              <a:rPr lang="en-GB" altLang="en-US" sz="1400" i="1" dirty="0">
                <a:effectLst/>
              </a:rPr>
              <a:t>Structural Geology Algorithms: Vectors and Tensors</a:t>
            </a:r>
            <a:r>
              <a:rPr lang="en-GB" altLang="en-US" sz="1400" dirty="0">
                <a:effectLst/>
              </a:rPr>
              <a:t>. Cambridge University Press. </a:t>
            </a:r>
            <a:r>
              <a:rPr lang="en-GB" altLang="en-US" sz="1400" dirty="0">
                <a:solidFill>
                  <a:srgbClr val="FF66CC"/>
                </a:solidFill>
                <a:effectLst/>
              </a:rPr>
              <a:t>[Chapter 6]</a:t>
            </a:r>
          </a:p>
          <a:p>
            <a:pPr marL="177800" indent="-177800">
              <a:lnSpc>
                <a:spcPct val="110000"/>
              </a:lnSpc>
            </a:pPr>
            <a:r>
              <a:rPr lang="en-GB" altLang="en-US" sz="1400" dirty="0">
                <a:effectLst/>
              </a:rPr>
              <a:t>Jaeger JC, Cook NGW, Zimmerman RW (2007) </a:t>
            </a:r>
            <a:r>
              <a:rPr lang="en-GB" altLang="en-US" sz="1400" i="1" dirty="0">
                <a:effectLst/>
              </a:rPr>
              <a:t>Fundamentals of Rock Mechanics</a:t>
            </a:r>
            <a:r>
              <a:rPr lang="en-GB" altLang="en-US" sz="1400" dirty="0">
                <a:effectLst/>
              </a:rPr>
              <a:t> (4</a:t>
            </a:r>
            <a:r>
              <a:rPr lang="en-GB" altLang="en-US" sz="1400" baseline="30000" dirty="0">
                <a:effectLst/>
              </a:rPr>
              <a:t>th</a:t>
            </a:r>
            <a:r>
              <a:rPr lang="en-GB" altLang="en-US" sz="1400" dirty="0">
                <a:effectLst/>
              </a:rPr>
              <a:t> edition). Blackwell Publishing. </a:t>
            </a:r>
            <a:r>
              <a:rPr lang="en-GB" altLang="en-US" sz="1400" dirty="0">
                <a:solidFill>
                  <a:srgbClr val="FF66CC"/>
                </a:solidFill>
                <a:effectLst/>
              </a:rPr>
              <a:t>[Chapter 2]</a:t>
            </a:r>
          </a:p>
        </p:txBody>
      </p:sp>
    </p:spTree>
  </p:cSld>
  <p:clrMapOvr>
    <a:masterClrMapping/>
  </p:clrMapOvr>
  <p:transition spd="slow"/>
</p:sld>
</file>

<file path=ppt/theme/theme1.xml><?xml version="1.0" encoding="utf-8"?>
<a:theme xmlns:a="http://schemas.openxmlformats.org/drawingml/2006/main" name="Basin Studies 200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PowerBook HD:Users:robgawth:Documents:Eudora Folder:Attachments Folder:Basin Studies 2002.pot</Template>
  <TotalTime>10637</TotalTime>
  <Words>11445</Words>
  <Application>Microsoft Office PowerPoint</Application>
  <PresentationFormat>On-screen Show (4:3)</PresentationFormat>
  <Paragraphs>406</Paragraphs>
  <Slides>40</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Cambria Math</vt:lpstr>
      <vt:lpstr>Helvetica</vt:lpstr>
      <vt:lpstr>Symbol</vt:lpstr>
      <vt:lpstr>Times</vt:lpstr>
      <vt:lpstr>Times New Roman</vt:lpstr>
      <vt:lpstr>Wingdings</vt:lpstr>
      <vt:lpstr>Basin Studies 2002</vt:lpstr>
      <vt:lpstr>EART 28202 :  Structural Geology    Class 5 :  Stress</vt:lpstr>
      <vt:lpstr>Force</vt:lpstr>
      <vt:lpstr>Traction</vt:lpstr>
      <vt:lpstr>The traction vector</vt:lpstr>
      <vt:lpstr>Sign conventions  ;  tractions → stresses</vt:lpstr>
      <vt:lpstr>Stress at a point in 2D</vt:lpstr>
      <vt:lpstr>The 2D stress matrix</vt:lpstr>
      <vt:lpstr>Principal stresses</vt:lpstr>
      <vt:lpstr>Mohr circle representation of stress (in 2D)</vt:lpstr>
      <vt:lpstr>Mohr circle representation of stress (2D alternative)</vt:lpstr>
      <vt:lpstr>Stress at a point in 3D</vt:lpstr>
      <vt:lpstr>Stress at a point (matrix form)</vt:lpstr>
      <vt:lpstr>Stress as a tensor</vt:lpstr>
      <vt:lpstr>Mohr circle representation of stress (3D)</vt:lpstr>
      <vt:lpstr>Mean stress, deviatoric stress</vt:lpstr>
      <vt:lpstr>Hydrostatic stress, effective stress</vt:lpstr>
      <vt:lpstr>Special states of stress</vt:lpstr>
      <vt:lpstr>  Measuring stress</vt:lpstr>
      <vt:lpstr>Stress measurements</vt:lpstr>
      <vt:lpstr>Stress measurements: borehole breakouts</vt:lpstr>
      <vt:lpstr>Stress measurements: overcoring</vt:lpstr>
      <vt:lpstr>Stress measurements: hydraulic fracturing</vt:lpstr>
      <vt:lpstr>Estimating stress from earthquakes and faults</vt:lpstr>
      <vt:lpstr>Palaeostress techniques: stress orientations</vt:lpstr>
      <vt:lpstr>Palaeostress techniques: stress magnitudes</vt:lpstr>
      <vt:lpstr>  The state of stress in the lithosphere</vt:lpstr>
      <vt:lpstr>One principal stress is vertical</vt:lpstr>
      <vt:lpstr>Depth variation of pore fluid pressure </vt:lpstr>
      <vt:lpstr>Horizontal stresses: uniaxial strain reference state</vt:lpstr>
      <vt:lpstr>Horizontal stresses: uniaxial strain reference state  2</vt:lpstr>
      <vt:lpstr>Constant remote horizontal stresses</vt:lpstr>
      <vt:lpstr>Tectonic stresses</vt:lpstr>
      <vt:lpstr>Other sources of stress: stresses due to bending</vt:lpstr>
      <vt:lpstr>Other sources of stress: residual stress</vt:lpstr>
      <vt:lpstr>World stress map</vt:lpstr>
      <vt:lpstr>Stresses within a plate tectonic context</vt:lpstr>
      <vt:lpstr>A word on lithospheric strength</vt:lpstr>
      <vt:lpstr>A word on lithospheric strength  2</vt:lpstr>
      <vt:lpstr>Stress or strain?</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467</cp:revision>
  <cp:lastPrinted>2002-03-22T07:32:28Z</cp:lastPrinted>
  <dcterms:created xsi:type="dcterms:W3CDTF">2002-10-21T14:42:49Z</dcterms:created>
  <dcterms:modified xsi:type="dcterms:W3CDTF">2026-03-04T09:34:52Z</dcterms:modified>
</cp:coreProperties>
</file>