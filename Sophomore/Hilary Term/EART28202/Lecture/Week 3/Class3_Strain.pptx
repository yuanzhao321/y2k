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47"/>
  </p:notesMasterIdLst>
  <p:handoutMasterIdLst>
    <p:handoutMasterId r:id="rId48"/>
  </p:handoutMasterIdLst>
  <p:sldIdLst>
    <p:sldId id="316" r:id="rId2"/>
    <p:sldId id="384" r:id="rId3"/>
    <p:sldId id="391" r:id="rId4"/>
    <p:sldId id="398" r:id="rId5"/>
    <p:sldId id="358" r:id="rId6"/>
    <p:sldId id="340" r:id="rId7"/>
    <p:sldId id="371" r:id="rId8"/>
    <p:sldId id="387" r:id="rId9"/>
    <p:sldId id="388" r:id="rId10"/>
    <p:sldId id="392" r:id="rId11"/>
    <p:sldId id="389" r:id="rId12"/>
    <p:sldId id="390" r:id="rId13"/>
    <p:sldId id="394" r:id="rId14"/>
    <p:sldId id="395" r:id="rId15"/>
    <p:sldId id="349" r:id="rId16"/>
    <p:sldId id="354" r:id="rId17"/>
    <p:sldId id="359" r:id="rId18"/>
    <p:sldId id="351" r:id="rId19"/>
    <p:sldId id="352" r:id="rId20"/>
    <p:sldId id="350" r:id="rId21"/>
    <p:sldId id="357" r:id="rId22"/>
    <p:sldId id="360" r:id="rId23"/>
    <p:sldId id="361" r:id="rId24"/>
    <p:sldId id="383" r:id="rId25"/>
    <p:sldId id="355" r:id="rId26"/>
    <p:sldId id="397" r:id="rId27"/>
    <p:sldId id="369" r:id="rId28"/>
    <p:sldId id="364" r:id="rId29"/>
    <p:sldId id="368" r:id="rId30"/>
    <p:sldId id="365" r:id="rId31"/>
    <p:sldId id="366" r:id="rId32"/>
    <p:sldId id="367" r:id="rId33"/>
    <p:sldId id="375" r:id="rId34"/>
    <p:sldId id="373" r:id="rId35"/>
    <p:sldId id="377" r:id="rId36"/>
    <p:sldId id="356" r:id="rId37"/>
    <p:sldId id="376" r:id="rId38"/>
    <p:sldId id="378" r:id="rId39"/>
    <p:sldId id="374" r:id="rId40"/>
    <p:sldId id="379" r:id="rId41"/>
    <p:sldId id="380" r:id="rId42"/>
    <p:sldId id="396" r:id="rId43"/>
    <p:sldId id="381" r:id="rId44"/>
    <p:sldId id="382" r:id="rId45"/>
    <p:sldId id="343" r:id="rId46"/>
  </p:sldIdLst>
  <p:sldSz cx="9144000" cy="6858000" type="screen4x3"/>
  <p:notesSz cx="6732588" cy="9855200"/>
  <p:defaultTextStyle>
    <a:defPPr>
      <a:defRPr lang="en-GB"/>
    </a:defPPr>
    <a:lvl1pPr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1pPr>
    <a:lvl2pPr marL="4572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2pPr>
    <a:lvl3pPr marL="9144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3pPr>
    <a:lvl4pPr marL="13716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4pPr>
    <a:lvl5pPr marL="18288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5pPr>
    <a:lvl6pPr marL="22860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6pPr>
    <a:lvl7pPr marL="27432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7pPr>
    <a:lvl8pPr marL="32004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8pPr>
    <a:lvl9pPr marL="36576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2914">
          <p15:clr>
            <a:srgbClr val="A4A3A4"/>
          </p15:clr>
        </p15:guide>
        <p15:guide id="2" pos="2880">
          <p15:clr>
            <a:srgbClr val="A4A3A4"/>
          </p15:clr>
        </p15:guide>
      </p15:sldGuideLst>
    </p:ext>
    <p:ext uri="{2D200454-40CA-4A62-9FC3-DE9A4176ACB9}">
      <p15:notesGuideLst xmlns:p15="http://schemas.microsoft.com/office/powerpoint/2012/main">
        <p15:guide id="1" orient="horz" pos="3104">
          <p15:clr>
            <a:srgbClr val="A4A3A4"/>
          </p15:clr>
        </p15:guide>
        <p15:guide id="2" pos="212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FF66CC"/>
    <a:srgbClr val="000000"/>
    <a:srgbClr val="FFFF00"/>
    <a:srgbClr val="FF0000"/>
    <a:srgbClr val="FF3300"/>
    <a:srgbClr val="D3D3FF"/>
    <a:srgbClr val="B7B7FF"/>
    <a:srgbClr val="A1A1FF"/>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55" autoAdjust="0"/>
    <p:restoredTop sz="76269" autoAdjust="0"/>
  </p:normalViewPr>
  <p:slideViewPr>
    <p:cSldViewPr snapToGrid="0">
      <p:cViewPr varScale="1">
        <p:scale>
          <a:sx n="84" d="100"/>
          <a:sy n="84" d="100"/>
        </p:scale>
        <p:origin x="2832" y="90"/>
      </p:cViewPr>
      <p:guideLst>
        <p:guide orient="horz" pos="2914"/>
        <p:guide pos="288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79" d="100"/>
          <a:sy n="79" d="100"/>
        </p:scale>
        <p:origin x="-3228" y="-102"/>
      </p:cViewPr>
      <p:guideLst>
        <p:guide orient="horz" pos="3104"/>
        <p:guide pos="212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slide" Target="slides/slide5.xml"/><Relationship Id="rId1" Type="http://schemas.openxmlformats.org/officeDocument/2006/relationships/slide" Target="slides/slide1.xml"/><Relationship Id="rId4"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89BB78C1-8183-4BAA-96A6-FA9F6DB86B57}"/>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87043" name="Rectangle 3">
            <a:extLst>
              <a:ext uri="{FF2B5EF4-FFF2-40B4-BE49-F238E27FC236}">
                <a16:creationId xmlns:a16="http://schemas.microsoft.com/office/drawing/2014/main" id="{7AE766A2-212E-4461-B22D-2852D3ACCC26}"/>
              </a:ext>
            </a:extLst>
          </p:cNvPr>
          <p:cNvSpPr>
            <a:spLocks noGrp="1" noChangeArrowheads="1"/>
          </p:cNvSpPr>
          <p:nvPr>
            <p:ph type="dt" sz="quarter"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smtClean="0">
                <a:effectLst/>
                <a:latin typeface="Arial" charset="0"/>
              </a:defRPr>
            </a:lvl1pPr>
          </a:lstStyle>
          <a:p>
            <a:pPr>
              <a:defRPr/>
            </a:pPr>
            <a:endParaRPr lang="en-GB"/>
          </a:p>
        </p:txBody>
      </p:sp>
      <p:sp>
        <p:nvSpPr>
          <p:cNvPr id="87044" name="Rectangle 4">
            <a:extLst>
              <a:ext uri="{FF2B5EF4-FFF2-40B4-BE49-F238E27FC236}">
                <a16:creationId xmlns:a16="http://schemas.microsoft.com/office/drawing/2014/main" id="{9D18FAA7-F324-4204-8752-BF5EE88F5319}"/>
              </a:ext>
            </a:extLst>
          </p:cNvPr>
          <p:cNvSpPr>
            <a:spLocks noGrp="1" noChangeArrowheads="1"/>
          </p:cNvSpPr>
          <p:nvPr>
            <p:ph type="ftr" sz="quarter" idx="2"/>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87045" name="Rectangle 5">
            <a:extLst>
              <a:ext uri="{FF2B5EF4-FFF2-40B4-BE49-F238E27FC236}">
                <a16:creationId xmlns:a16="http://schemas.microsoft.com/office/drawing/2014/main" id="{5A897C52-2F84-44B4-B7A5-6C24790BDF4E}"/>
              </a:ext>
            </a:extLst>
          </p:cNvPr>
          <p:cNvSpPr>
            <a:spLocks noGrp="1" noChangeArrowheads="1"/>
          </p:cNvSpPr>
          <p:nvPr>
            <p:ph type="sldNum" sz="quarter" idx="3"/>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a:effectLst/>
                <a:latin typeface="Arial" panose="020B0604020202020204" pitchFamily="34" charset="0"/>
              </a:defRPr>
            </a:lvl1pPr>
          </a:lstStyle>
          <a:p>
            <a:fld id="{D12C535A-1F34-4572-BF97-2FCBD1C7CDD1}"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F2C16E82-5EEA-45E6-AA92-DEEA48455D04}"/>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43011" name="Rectangle 3">
            <a:extLst>
              <a:ext uri="{FF2B5EF4-FFF2-40B4-BE49-F238E27FC236}">
                <a16:creationId xmlns:a16="http://schemas.microsoft.com/office/drawing/2014/main" id="{FC3F21D1-6AD2-4980-92A2-37C3F280C390}"/>
              </a:ext>
            </a:extLst>
          </p:cNvPr>
          <p:cNvSpPr>
            <a:spLocks noGrp="1" noChangeArrowheads="1"/>
          </p:cNvSpPr>
          <p:nvPr>
            <p:ph type="dt"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smtClean="0">
                <a:effectLst/>
                <a:latin typeface="Arial" charset="0"/>
              </a:defRPr>
            </a:lvl1pPr>
          </a:lstStyle>
          <a:p>
            <a:pPr>
              <a:defRPr/>
            </a:pPr>
            <a:endParaRPr lang="en-GB"/>
          </a:p>
        </p:txBody>
      </p:sp>
      <p:sp>
        <p:nvSpPr>
          <p:cNvPr id="40964" name="Rectangle 4">
            <a:extLst>
              <a:ext uri="{FF2B5EF4-FFF2-40B4-BE49-F238E27FC236}">
                <a16:creationId xmlns:a16="http://schemas.microsoft.com/office/drawing/2014/main" id="{45445C36-5A26-488D-8EE9-198BCC2BB3E2}"/>
              </a:ext>
            </a:extLst>
          </p:cNvPr>
          <p:cNvSpPr>
            <a:spLocks noGrp="1" noRot="1" noChangeAspect="1" noChangeArrowheads="1" noTextEdit="1"/>
          </p:cNvSpPr>
          <p:nvPr>
            <p:ph type="sldImg" idx="2"/>
          </p:nvPr>
        </p:nvSpPr>
        <p:spPr bwMode="auto">
          <a:xfrm>
            <a:off x="954088" y="758825"/>
            <a:ext cx="4864100" cy="36480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3" name="Rectangle 5">
            <a:extLst>
              <a:ext uri="{FF2B5EF4-FFF2-40B4-BE49-F238E27FC236}">
                <a16:creationId xmlns:a16="http://schemas.microsoft.com/office/drawing/2014/main" id="{0A9E59F8-976D-4B26-B996-B622F1532A35}"/>
              </a:ext>
            </a:extLst>
          </p:cNvPr>
          <p:cNvSpPr>
            <a:spLocks noGrp="1" noChangeArrowheads="1"/>
          </p:cNvSpPr>
          <p:nvPr>
            <p:ph type="body" sz="quarter" idx="3"/>
          </p:nvPr>
        </p:nvSpPr>
        <p:spPr bwMode="auto">
          <a:xfrm>
            <a:off x="912813" y="4711700"/>
            <a:ext cx="4945062"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3014" name="Rectangle 6">
            <a:extLst>
              <a:ext uri="{FF2B5EF4-FFF2-40B4-BE49-F238E27FC236}">
                <a16:creationId xmlns:a16="http://schemas.microsoft.com/office/drawing/2014/main" id="{A06F78FD-0E10-4AD6-B0FE-F92E28041EFD}"/>
              </a:ext>
            </a:extLst>
          </p:cNvPr>
          <p:cNvSpPr>
            <a:spLocks noGrp="1" noChangeArrowheads="1"/>
          </p:cNvSpPr>
          <p:nvPr>
            <p:ph type="ftr" sz="quarter" idx="4"/>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43015" name="Rectangle 7">
            <a:extLst>
              <a:ext uri="{FF2B5EF4-FFF2-40B4-BE49-F238E27FC236}">
                <a16:creationId xmlns:a16="http://schemas.microsoft.com/office/drawing/2014/main" id="{A199D9C4-36DC-4C22-989F-C3F3CD29C5BB}"/>
              </a:ext>
            </a:extLst>
          </p:cNvPr>
          <p:cNvSpPr>
            <a:spLocks noGrp="1" noChangeArrowheads="1"/>
          </p:cNvSpPr>
          <p:nvPr>
            <p:ph type="sldNum" sz="quarter" idx="5"/>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a:effectLst/>
                <a:latin typeface="Arial" panose="020B0604020202020204" pitchFamily="34" charset="0"/>
              </a:defRPr>
            </a:lvl1pPr>
          </a:lstStyle>
          <a:p>
            <a:fld id="{233CAEBA-0D15-4B91-8C56-9E7F62172B34}"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a:extLst>
              <a:ext uri="{FF2B5EF4-FFF2-40B4-BE49-F238E27FC236}">
                <a16:creationId xmlns:a16="http://schemas.microsoft.com/office/drawing/2014/main" id="{C6C1A484-2DC9-40A7-A483-55FE2FECE996}"/>
              </a:ext>
            </a:extLst>
          </p:cNvPr>
          <p:cNvSpPr>
            <a:spLocks noGrp="1" noRot="1" noChangeAspect="1" noChangeArrowheads="1" noTextEdit="1"/>
          </p:cNvSpPr>
          <p:nvPr>
            <p:ph type="sldImg"/>
          </p:nvPr>
        </p:nvSpPr>
        <p:spPr>
          <a:ln/>
        </p:spPr>
      </p:sp>
      <p:sp>
        <p:nvSpPr>
          <p:cNvPr id="304131" name="Rectangle 3">
            <a:extLst>
              <a:ext uri="{FF2B5EF4-FFF2-40B4-BE49-F238E27FC236}">
                <a16:creationId xmlns:a16="http://schemas.microsoft.com/office/drawing/2014/main" id="{F978D512-D6BC-478A-AA55-CDC048DC737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contents of this class and that describing stress (Class 5) are fundamental for taking a more quantitative approach to rock deformatio</a:t>
            </a:r>
            <a:r>
              <a:rPr lang="en-GB" altLang="en-US" sz="1000" spc="150" baseline="0" dirty="0"/>
              <a:t>n/</a:t>
            </a:r>
            <a:r>
              <a:rPr lang="en-GB" altLang="en-US" sz="1000" dirty="0"/>
              <a:t>structural geology. This is where mere description starts to turn into modelling (conceptual, analytical or numerical) and hence into the development of a deeper understanding of how rocks deform</a:t>
            </a:r>
          </a:p>
          <a:p>
            <a:pPr marL="108000" indent="-108000">
              <a:spcBef>
                <a:spcPts val="300"/>
              </a:spcBef>
              <a:buFont typeface="Arial" panose="020B0604020202020204" pitchFamily="34" charset="0"/>
              <a:buChar char="•"/>
            </a:pPr>
            <a:r>
              <a:rPr lang="en-GB" altLang="en-US" sz="1000" dirty="0"/>
              <a:t>In the notes panes to these slides there are numerous references (figure credits and further reading). If the reference is incomplete it refers to the references stated in the reading list on the last slide</a:t>
            </a:r>
          </a:p>
          <a:p>
            <a:pPr marL="108000" indent="-108000">
              <a:spcBef>
                <a:spcPts val="300"/>
              </a:spcBef>
              <a:buFont typeface="Arial" panose="020B0604020202020204" pitchFamily="34" charset="0"/>
              <a:buChar char="•"/>
            </a:pPr>
            <a:r>
              <a:rPr lang="en-GB" altLang="en-US" sz="1000" dirty="0"/>
              <a:t>With regard to figures in this PowerPoint file, many will be subject to copyright restrictions. I don’t care about you using any of the figures/photos that are mine (Steve Covey-Crump), although a credit would be nice, but take care to comply with copyright restrictions if you reuse any that are not</a:t>
            </a:r>
          </a:p>
          <a:p>
            <a:pPr>
              <a:spcBef>
                <a:spcPts val="300"/>
              </a:spcBef>
            </a:pPr>
            <a:endParaRPr lang="en-GB"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a:extLst>
              <a:ext uri="{FF2B5EF4-FFF2-40B4-BE49-F238E27FC236}">
                <a16:creationId xmlns:a16="http://schemas.microsoft.com/office/drawing/2014/main" id="{6F44A0A1-4D41-4A2D-8529-7AA7C5CF0F65}"/>
              </a:ext>
            </a:extLst>
          </p:cNvPr>
          <p:cNvSpPr>
            <a:spLocks noGrp="1" noRot="1" noChangeAspect="1" noChangeArrowheads="1" noTextEdit="1"/>
          </p:cNvSpPr>
          <p:nvPr>
            <p:ph type="sldImg"/>
          </p:nvPr>
        </p:nvSpPr>
        <p:spPr>
          <a:ln/>
        </p:spPr>
      </p:sp>
      <p:sp>
        <p:nvSpPr>
          <p:cNvPr id="335875" name="Rectangle 3">
            <a:extLst>
              <a:ext uri="{FF2B5EF4-FFF2-40B4-BE49-F238E27FC236}">
                <a16:creationId xmlns:a16="http://schemas.microsoft.com/office/drawing/2014/main" id="{30663097-4BF5-4F0F-8420-B5D1B098E5F1}"/>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The two photos on the left are from Rushton &amp; Smith, 1993, </a:t>
            </a:r>
            <a:r>
              <a:rPr lang="en-GB" altLang="en-US" sz="1000" i="1" dirty="0"/>
              <a:t>Palaeontology</a:t>
            </a:r>
            <a:r>
              <a:rPr lang="en-GB" altLang="en-US" sz="1000" dirty="0"/>
              <a:t> 36: 927-930 (Fig. 1), linked from https://www.palass.org/publications/palaeontology-journal/archive/36. The photo in the middle is of a specimen of </a:t>
            </a:r>
            <a:r>
              <a:rPr lang="en-GB" altLang="en-US" sz="1000" i="1" dirty="0"/>
              <a:t>Angelina </a:t>
            </a:r>
            <a:r>
              <a:rPr lang="en-GB" altLang="en-US" sz="1000" i="1" dirty="0" err="1"/>
              <a:t>sedgwickii</a:t>
            </a:r>
            <a:r>
              <a:rPr lang="en-GB" altLang="en-US" sz="1000" dirty="0"/>
              <a:t> that was advertised on the internet for sale. Deformed fossils of </a:t>
            </a:r>
            <a:r>
              <a:rPr lang="en-GB" altLang="en-US" sz="1000" i="1" dirty="0"/>
              <a:t>Angelina </a:t>
            </a:r>
            <a:r>
              <a:rPr lang="en-GB" altLang="en-US" sz="1000" i="1" dirty="0" err="1"/>
              <a:t>sedgwickii</a:t>
            </a:r>
            <a:r>
              <a:rPr lang="en-GB" altLang="en-US" sz="1000" dirty="0"/>
              <a:t> are well known from early Ordovician (Tremadocian) mudstones around Porthmadog, North Wales, particularly on the north-western slopes of Garth Hill. This fossil is only known in a deformed state and so has been the subject of numerous attempts to undeform it to reconstruct its original shape (see </a:t>
            </a:r>
            <a:r>
              <a:rPr lang="en-GB" altLang="en-US" sz="1000" dirty="0" err="1"/>
              <a:t>Fortey</a:t>
            </a:r>
            <a:r>
              <a:rPr lang="en-GB" altLang="en-US" sz="1000" dirty="0"/>
              <a:t> &amp; Owens, 1992, </a:t>
            </a:r>
            <a:r>
              <a:rPr lang="en-GB" altLang="en-US" sz="1000" i="1" dirty="0"/>
              <a:t>Geology Today</a:t>
            </a:r>
            <a:r>
              <a:rPr lang="en-GB" altLang="en-US" sz="1000" dirty="0"/>
              <a:t> 8: 219-221, </a:t>
            </a:r>
            <a:r>
              <a:rPr lang="en-GB" sz="1000" dirty="0"/>
              <a:t>https://doi.org/10.1111/j.1365-2451.1992.tb00459.x</a:t>
            </a:r>
            <a:r>
              <a:rPr lang="en-GB" altLang="en-US" sz="1000" dirty="0"/>
              <a:t>)</a:t>
            </a:r>
          </a:p>
          <a:p>
            <a:pPr marL="108000" indent="-108000">
              <a:spcBef>
                <a:spcPts val="300"/>
              </a:spcBef>
              <a:buFont typeface="Arial" panose="020B0604020202020204" pitchFamily="34" charset="0"/>
              <a:buChar char="•"/>
            </a:pPr>
            <a:r>
              <a:rPr lang="en-GB" altLang="en-US" sz="1000" dirty="0"/>
              <a:t>Photo right (from blogs.agu.org/</a:t>
            </a:r>
            <a:r>
              <a:rPr lang="en-GB" altLang="en-US" sz="1000" dirty="0" err="1"/>
              <a:t>mountainbeltway</a:t>
            </a:r>
            <a:r>
              <a:rPr lang="en-GB" altLang="en-US" sz="1000" dirty="0"/>
              <a:t>/2011/10/26/strained-</a:t>
            </a:r>
            <a:r>
              <a:rPr lang="en-GB" altLang="en-US" sz="1000" dirty="0" err="1"/>
              <a:t>timiskaming</a:t>
            </a:r>
            <a:r>
              <a:rPr lang="en-GB" altLang="en-US" sz="1000" dirty="0"/>
              <a:t>/): a deformed </a:t>
            </a:r>
            <a:r>
              <a:rPr lang="en-GB" altLang="en-US" sz="1000" dirty="0" err="1"/>
              <a:t>polymict</a:t>
            </a:r>
            <a:r>
              <a:rPr lang="en-GB" altLang="en-US" sz="1000" dirty="0"/>
              <a:t> conglomerate from the boundary between the Wabigoon and </a:t>
            </a:r>
            <a:r>
              <a:rPr lang="en-GB" altLang="en-US" sz="1000" dirty="0" err="1"/>
              <a:t>Quertico</a:t>
            </a:r>
            <a:r>
              <a:rPr lang="en-GB" altLang="en-US" sz="1000" dirty="0"/>
              <a:t> sub-provinces of the Superior Craton, Seine River, Ontario (on the Canada/U.S.A. border). The clasts have been flattened. A strain analysis of these conglomerates is presented by </a:t>
            </a:r>
            <a:r>
              <a:rPr lang="en-GB" altLang="en-US" sz="1000" dirty="0" err="1"/>
              <a:t>Czeck</a:t>
            </a:r>
            <a:r>
              <a:rPr lang="en-GB" altLang="en-US" sz="1000" dirty="0"/>
              <a:t> </a:t>
            </a:r>
            <a:r>
              <a:rPr lang="en-GB" altLang="en-US" sz="1000" i="1" dirty="0"/>
              <a:t>et al.</a:t>
            </a:r>
            <a:r>
              <a:rPr lang="en-GB" altLang="en-US" sz="1000" dirty="0"/>
              <a:t>, 2009, </a:t>
            </a:r>
            <a:r>
              <a:rPr lang="en-GB" altLang="en-US" sz="1000" i="1" dirty="0"/>
              <a:t>Journal of Structural Geology</a:t>
            </a:r>
            <a:r>
              <a:rPr lang="en-GB" altLang="en-US" sz="1000" dirty="0"/>
              <a:t> 31: 1365-1376, </a:t>
            </a:r>
            <a:r>
              <a:rPr lang="en-GB" sz="1000" dirty="0"/>
              <a:t>https://doi.org/10.1016/j.jsg.2009.08.004</a:t>
            </a:r>
            <a:r>
              <a:rPr lang="en-GB" altLang="en-US" sz="1000" dirty="0"/>
              <a:t>. From their analysis the authors were able to place constraints on the relative strengths of the different clast lithologies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a:extLst>
              <a:ext uri="{FF2B5EF4-FFF2-40B4-BE49-F238E27FC236}">
                <a16:creationId xmlns:a16="http://schemas.microsoft.com/office/drawing/2014/main" id="{2528DC42-D3DA-46C6-8BFC-D28A5099387E}"/>
              </a:ext>
            </a:extLst>
          </p:cNvPr>
          <p:cNvSpPr>
            <a:spLocks noGrp="1" noRot="1" noChangeAspect="1" noChangeArrowheads="1" noTextEdit="1"/>
          </p:cNvSpPr>
          <p:nvPr>
            <p:ph type="sldImg"/>
          </p:nvPr>
        </p:nvSpPr>
        <p:spPr>
          <a:ln/>
        </p:spPr>
      </p:sp>
      <p:sp>
        <p:nvSpPr>
          <p:cNvPr id="355331" name="Rectangle 3">
            <a:extLst>
              <a:ext uri="{FF2B5EF4-FFF2-40B4-BE49-F238E27FC236}">
                <a16:creationId xmlns:a16="http://schemas.microsoft.com/office/drawing/2014/main" id="{C25539F3-3075-465B-A4A3-8D50F17B0E0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In the engineering sciences an increase in length is defined as positive; in rock mechanics a decrease in length is defined as positive. This is because in engineering the consequences of tensile forces are usually more relevant (materials are much weaker when being pulled apart than when being compressed), whereas in rock mechanics rocks at depth are almost always in a state of compression (due to the weight of the overlying rock) and so shortening is usually more relevant; the different sign definition simply removes the excessive appearance of negative signs in the relevant mechanical equations. The equation for engineering strain on this slide follows the engineering convention (lengthening is +</a:t>
            </a:r>
            <a:r>
              <a:rPr lang="en-GB" altLang="en-US" sz="1000" dirty="0" err="1">
                <a:latin typeface="Times New Roman" panose="02020603050405020304" pitchFamily="18" charset="0"/>
                <a:cs typeface="Times New Roman" panose="02020603050405020304" pitchFamily="18" charset="0"/>
              </a:rPr>
              <a:t>ve</a:t>
            </a:r>
            <a:r>
              <a:rPr lang="en-GB" altLang="en-US" sz="1000" dirty="0">
                <a:latin typeface="Times New Roman" panose="02020603050405020304" pitchFamily="18" charset="0"/>
                <a:cs typeface="Times New Roman" panose="02020603050405020304" pitchFamily="18" charset="0"/>
              </a:rPr>
              <a:t>); in the rock mechanics convention we have instead  </a:t>
            </a:r>
            <a:r>
              <a:rPr lang="en-GB" altLang="en-US" sz="1000" i="1" dirty="0">
                <a:latin typeface="Times New Roman" panose="02020603050405020304" pitchFamily="18" charset="0"/>
                <a:cs typeface="Times New Roman" panose="02020603050405020304" pitchFamily="18" charset="0"/>
              </a:rPr>
              <a:t>e</a:t>
            </a:r>
            <a:r>
              <a:rPr lang="en-GB" altLang="en-US" sz="1000" dirty="0">
                <a:latin typeface="Times New Roman" panose="02020603050405020304" pitchFamily="18" charset="0"/>
                <a:cs typeface="Times New Roman" panose="02020603050405020304" pitchFamily="18" charset="0"/>
              </a:rPr>
              <a:t> = </a:t>
            </a:r>
            <a:r>
              <a:rPr lang="en-GB" altLang="en-US" sz="1000" i="1" spc="150" baseline="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L</a:t>
            </a:r>
            <a:r>
              <a:rPr lang="en-GB" altLang="en-US" sz="1000" dirty="0">
                <a:latin typeface="Times New Roman" panose="02020603050405020304" pitchFamily="18" charset="0"/>
                <a:cs typeface="Times New Roman" panose="02020603050405020304" pitchFamily="18" charset="0"/>
              </a:rPr>
              <a:t> / </a:t>
            </a:r>
            <a:r>
              <a:rPr lang="en-GB" altLang="en-US" sz="1000" i="1" dirty="0">
                <a:latin typeface="Times New Roman" panose="02020603050405020304" pitchFamily="18" charset="0"/>
                <a:cs typeface="Times New Roman" panose="02020603050405020304" pitchFamily="18" charset="0"/>
              </a:rPr>
              <a:t>L</a:t>
            </a:r>
            <a:r>
              <a:rPr lang="en-GB" altLang="en-US" sz="1000" baseline="-25000" dirty="0">
                <a:latin typeface="Times New Roman" panose="02020603050405020304" pitchFamily="18" charset="0"/>
                <a:cs typeface="Times New Roman" panose="02020603050405020304" pitchFamily="18" charset="0"/>
              </a:rPr>
              <a:t>0</a:t>
            </a:r>
            <a:r>
              <a:rPr lang="en-GB" altLang="en-US" sz="1000" dirty="0">
                <a:latin typeface="Times New Roman" panose="02020603050405020304" pitchFamily="18" charset="0"/>
                <a:cs typeface="Times New Roman" panose="02020603050405020304" pitchFamily="18" charset="0"/>
              </a:rPr>
              <a:t> =</a:t>
            </a:r>
            <a:r>
              <a:rPr lang="en-GB" altLang="en-US" sz="1000" spc="100" baseline="0" dirty="0">
                <a:latin typeface="Times New Roman" panose="02020603050405020304" pitchFamily="18" charset="0"/>
                <a:cs typeface="Times New Roman" panose="02020603050405020304" pitchFamily="18" charset="0"/>
              </a:rPr>
              <a:t> (</a:t>
            </a:r>
            <a:r>
              <a:rPr lang="en-GB" altLang="en-US" sz="1000" i="1" dirty="0">
                <a:latin typeface="Times New Roman" panose="02020603050405020304" pitchFamily="18" charset="0"/>
                <a:cs typeface="Times New Roman" panose="02020603050405020304" pitchFamily="18" charset="0"/>
              </a:rPr>
              <a:t>L</a:t>
            </a:r>
            <a:r>
              <a:rPr lang="en-GB" altLang="en-US" sz="1000" baseline="-25000" dirty="0">
                <a:latin typeface="Times New Roman" panose="02020603050405020304" pitchFamily="18" charset="0"/>
                <a:cs typeface="Times New Roman" panose="02020603050405020304" pitchFamily="18" charset="0"/>
              </a:rPr>
              <a:t>0</a:t>
            </a:r>
            <a:r>
              <a:rPr lang="en-GB" altLang="en-US" sz="1000" dirty="0">
                <a:latin typeface="Times New Roman" panose="02020603050405020304" pitchFamily="18" charset="0"/>
                <a:cs typeface="Times New Roman" panose="02020603050405020304" pitchFamily="18" charset="0"/>
              </a:rPr>
              <a:t> - </a:t>
            </a:r>
            <a:r>
              <a:rPr lang="en-GB" altLang="en-US" sz="1000" i="1" spc="100" baseline="0" dirty="0">
                <a:latin typeface="Times New Roman" panose="02020603050405020304" pitchFamily="18" charset="0"/>
                <a:cs typeface="Times New Roman" panose="02020603050405020304" pitchFamily="18" charset="0"/>
              </a:rPr>
              <a:t>L</a:t>
            </a:r>
            <a:r>
              <a:rPr lang="en-GB" altLang="en-US" sz="1000" dirty="0">
                <a:latin typeface="Times New Roman" panose="02020603050405020304" pitchFamily="18" charset="0"/>
                <a:cs typeface="Times New Roman" panose="02020603050405020304" pitchFamily="18" charset="0"/>
              </a:rPr>
              <a:t>) / </a:t>
            </a:r>
            <a:r>
              <a:rPr lang="en-GB" altLang="en-US" sz="1000" i="1" dirty="0">
                <a:latin typeface="Times New Roman" panose="02020603050405020304" pitchFamily="18" charset="0"/>
                <a:cs typeface="Times New Roman" panose="02020603050405020304" pitchFamily="18" charset="0"/>
              </a:rPr>
              <a:t>L</a:t>
            </a:r>
            <a:r>
              <a:rPr lang="en-GB" altLang="en-US" sz="1000" baseline="-25000" dirty="0">
                <a:latin typeface="Times New Roman" panose="02020603050405020304" pitchFamily="18" charset="0"/>
                <a:cs typeface="Times New Roman" panose="02020603050405020304" pitchFamily="18" charset="0"/>
              </a:rPr>
              <a:t>0</a:t>
            </a:r>
            <a:r>
              <a:rPr lang="en-GB" altLang="en-US" sz="1000" dirty="0">
                <a:latin typeface="Times New Roman" panose="02020603050405020304" pitchFamily="18" charset="0"/>
                <a:cs typeface="Times New Roman" panose="02020603050405020304" pitchFamily="18" charset="0"/>
              </a:rPr>
              <a:t> which is simply the negative of the engineering convention</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It is common practice to multiply strains by 100 to quote them as a percentage, </a:t>
            </a:r>
            <a:r>
              <a:rPr lang="en-GB" altLang="en-US" sz="1000" i="1" dirty="0">
                <a:latin typeface="Times New Roman" panose="02020603050405020304" pitchFamily="18" charset="0"/>
                <a:cs typeface="Times New Roman" panose="02020603050405020304" pitchFamily="18" charset="0"/>
              </a:rPr>
              <a:t>e.g.</a:t>
            </a:r>
            <a:r>
              <a:rPr lang="en-GB" altLang="en-US" sz="1000" dirty="0">
                <a:latin typeface="Times New Roman" panose="02020603050405020304" pitchFamily="18" charset="0"/>
                <a:cs typeface="Times New Roman" panose="02020603050405020304" pitchFamily="18" charset="0"/>
              </a:rPr>
              <a:t>, a strain of 0.001 = 0.1%</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When specified within a coordinate frame, linear strains should be accompanied by a subscript indicating the direction in which the strain is given, </a:t>
            </a:r>
            <a:r>
              <a:rPr lang="en-GB" altLang="en-US" sz="1000" i="1" dirty="0">
                <a:latin typeface="Times New Roman" panose="02020603050405020304" pitchFamily="18" charset="0"/>
                <a:cs typeface="Times New Roman" panose="02020603050405020304" pitchFamily="18" charset="0"/>
              </a:rPr>
              <a:t>e.g., </a:t>
            </a:r>
            <a:r>
              <a:rPr lang="en-GB" altLang="en-US" sz="1000" i="1" dirty="0" err="1">
                <a:latin typeface="Times New Roman" panose="02020603050405020304" pitchFamily="18" charset="0"/>
                <a:cs typeface="Times New Roman" panose="02020603050405020304" pitchFamily="18" charset="0"/>
              </a:rPr>
              <a:t>e</a:t>
            </a:r>
            <a:r>
              <a:rPr lang="en-GB" altLang="en-US" sz="1000" i="1" baseline="-25000" dirty="0" err="1">
                <a:latin typeface="Times New Roman" panose="02020603050405020304" pitchFamily="18" charset="0"/>
                <a:cs typeface="Times New Roman" panose="02020603050405020304" pitchFamily="18" charset="0"/>
              </a:rPr>
              <a:t>xx</a:t>
            </a:r>
            <a:r>
              <a:rPr lang="en-GB" altLang="en-US" sz="1000" i="0" baseline="0" dirty="0">
                <a:latin typeface="Times New Roman" panose="02020603050405020304" pitchFamily="18" charset="0"/>
                <a:cs typeface="Times New Roman" panose="02020603050405020304" pitchFamily="18" charset="0"/>
              </a:rPr>
              <a:t> is the strain parallel to the </a:t>
            </a:r>
            <a:r>
              <a:rPr lang="en-GB" altLang="en-US" sz="1000" i="1" baseline="0" dirty="0">
                <a:latin typeface="Times New Roman" panose="02020603050405020304" pitchFamily="18" charset="0"/>
                <a:cs typeface="Times New Roman" panose="02020603050405020304" pitchFamily="18" charset="0"/>
              </a:rPr>
              <a:t>x </a:t>
            </a:r>
            <a:r>
              <a:rPr lang="en-GB" altLang="en-US" sz="1000" i="0" baseline="0" dirty="0">
                <a:latin typeface="Times New Roman" panose="02020603050405020304" pitchFamily="18" charset="0"/>
                <a:cs typeface="Times New Roman" panose="02020603050405020304" pitchFamily="18" charset="0"/>
              </a:rPr>
              <a:t>axis,</a:t>
            </a:r>
            <a:r>
              <a:rPr lang="en-GB" altLang="en-US" sz="1000" i="1" dirty="0">
                <a:latin typeface="Times New Roman" panose="02020603050405020304" pitchFamily="18" charset="0"/>
                <a:cs typeface="Times New Roman" panose="02020603050405020304" pitchFamily="18" charset="0"/>
              </a:rPr>
              <a:t> </a:t>
            </a:r>
            <a:r>
              <a:rPr lang="en-GB" altLang="en-US" sz="1000" i="1" dirty="0" err="1">
                <a:latin typeface="Times New Roman" panose="02020603050405020304" pitchFamily="18" charset="0"/>
                <a:cs typeface="Times New Roman" panose="02020603050405020304" pitchFamily="18" charset="0"/>
              </a:rPr>
              <a:t>e</a:t>
            </a:r>
            <a:r>
              <a:rPr lang="en-GB" altLang="en-US" sz="1000" i="1" baseline="-25000" dirty="0" err="1">
                <a:latin typeface="Times New Roman" panose="02020603050405020304" pitchFamily="18" charset="0"/>
                <a:cs typeface="Times New Roman" panose="02020603050405020304" pitchFamily="18" charset="0"/>
              </a:rPr>
              <a:t>yy</a:t>
            </a:r>
            <a:r>
              <a:rPr lang="en-GB" altLang="en-US" sz="1000" i="0" baseline="0" dirty="0">
                <a:latin typeface="Times New Roman" panose="02020603050405020304" pitchFamily="18" charset="0"/>
                <a:cs typeface="Times New Roman" panose="02020603050405020304" pitchFamily="18" charset="0"/>
              </a:rPr>
              <a:t> is the strain parallel to the </a:t>
            </a:r>
            <a:r>
              <a:rPr lang="en-GB" altLang="en-US" sz="1000" i="1" baseline="0" dirty="0">
                <a:latin typeface="Times New Roman" panose="02020603050405020304" pitchFamily="18" charset="0"/>
                <a:cs typeface="Times New Roman" panose="02020603050405020304" pitchFamily="18" charset="0"/>
              </a:rPr>
              <a:t>y </a:t>
            </a:r>
            <a:r>
              <a:rPr lang="en-GB" altLang="en-US" sz="1000" i="0" baseline="0" dirty="0">
                <a:latin typeface="Times New Roman" panose="02020603050405020304" pitchFamily="18" charset="0"/>
                <a:cs typeface="Times New Roman" panose="02020603050405020304" pitchFamily="18" charset="0"/>
              </a:rPr>
              <a:t>axis, and</a:t>
            </a:r>
            <a:r>
              <a:rPr lang="en-GB" altLang="en-US" sz="1000" i="1" dirty="0">
                <a:latin typeface="Times New Roman" panose="02020603050405020304" pitchFamily="18" charset="0"/>
                <a:cs typeface="Times New Roman" panose="02020603050405020304" pitchFamily="18" charset="0"/>
              </a:rPr>
              <a:t> </a:t>
            </a:r>
            <a:r>
              <a:rPr lang="en-GB" altLang="en-US" sz="1000" i="1" dirty="0" err="1">
                <a:latin typeface="Times New Roman" panose="02020603050405020304" pitchFamily="18" charset="0"/>
                <a:cs typeface="Times New Roman" panose="02020603050405020304" pitchFamily="18" charset="0"/>
              </a:rPr>
              <a:t>e</a:t>
            </a:r>
            <a:r>
              <a:rPr lang="en-GB" altLang="en-US" sz="1000" i="1" baseline="-25000" dirty="0" err="1">
                <a:latin typeface="Times New Roman" panose="02020603050405020304" pitchFamily="18" charset="0"/>
                <a:cs typeface="Times New Roman" panose="02020603050405020304" pitchFamily="18" charset="0"/>
              </a:rPr>
              <a:t>zz</a:t>
            </a:r>
            <a:r>
              <a:rPr lang="en-GB" altLang="en-US" sz="1000" i="0" baseline="0" dirty="0">
                <a:latin typeface="Times New Roman" panose="02020603050405020304" pitchFamily="18" charset="0"/>
                <a:cs typeface="Times New Roman" panose="02020603050405020304" pitchFamily="18" charset="0"/>
              </a:rPr>
              <a:t> is the strain parallel to the </a:t>
            </a:r>
            <a:r>
              <a:rPr lang="en-GB" altLang="en-US" sz="1000" i="1" baseline="0" dirty="0">
                <a:latin typeface="Times New Roman" panose="02020603050405020304" pitchFamily="18" charset="0"/>
                <a:cs typeface="Times New Roman" panose="02020603050405020304" pitchFamily="18" charset="0"/>
              </a:rPr>
              <a:t>z </a:t>
            </a:r>
            <a:r>
              <a:rPr lang="en-GB" altLang="en-US" sz="1000" i="0" baseline="0" dirty="0">
                <a:latin typeface="Times New Roman" panose="02020603050405020304" pitchFamily="18" charset="0"/>
                <a:cs typeface="Times New Roman" panose="02020603050405020304" pitchFamily="18" charset="0"/>
              </a:rPr>
              <a:t>axis. The doubling of the subscript reflects the matrix notation used for specifying the state of strain at a point (see Slides 9-13)</a:t>
            </a:r>
            <a:endParaRPr lang="en-GB" altLang="en-US" sz="1000" i="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by Steve Covey-Crump</a:t>
            </a: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DAE052A5-D88D-491A-95DF-58E64AB00314}"/>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AB1FFFF4-7D4F-4E0E-B87B-FAEBD64FB09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Different people have used different sign conventions for shear strain; the one shown on this slide is now standard. To establish the sign, consider how the pole to the shear plane has rotated. On a 2d plot like that shown here, a clockwise rotation is negative. For those of you familiar with the right hand rule for working out the sign of a rotation, note that the sign convention given on this slide is consistent with that: using your right hand, put your thumb along the </a:t>
            </a:r>
            <a:r>
              <a:rPr lang="en-GB" altLang="en-US" sz="1000" i="1" dirty="0">
                <a:latin typeface="Times New Roman" panose="02020603050405020304" pitchFamily="18" charset="0"/>
                <a:cs typeface="Times New Roman" panose="02020603050405020304" pitchFamily="18" charset="0"/>
              </a:rPr>
              <a:t>x</a:t>
            </a:r>
            <a:r>
              <a:rPr lang="en-GB" altLang="en-US" sz="1000" i="0" dirty="0">
                <a:latin typeface="Times New Roman" panose="02020603050405020304" pitchFamily="18" charset="0"/>
                <a:cs typeface="Times New Roman" panose="02020603050405020304" pitchFamily="18" charset="0"/>
              </a:rPr>
              <a:t> axis and your first finger along the </a:t>
            </a:r>
            <a:r>
              <a:rPr lang="en-GB" altLang="en-US" sz="1000" i="1" dirty="0">
                <a:latin typeface="Times New Roman" panose="02020603050405020304" pitchFamily="18" charset="0"/>
                <a:cs typeface="Times New Roman" panose="02020603050405020304" pitchFamily="18" charset="0"/>
              </a:rPr>
              <a:t>y</a:t>
            </a:r>
            <a:r>
              <a:rPr lang="en-GB" altLang="en-US" sz="1000" i="0" dirty="0">
                <a:latin typeface="Times New Roman" panose="02020603050405020304" pitchFamily="18" charset="0"/>
                <a:cs typeface="Times New Roman" panose="02020603050405020304" pitchFamily="18" charset="0"/>
              </a:rPr>
              <a:t> axis; your second finger (</a:t>
            </a:r>
            <a:r>
              <a:rPr lang="en-GB" altLang="en-US" sz="1000" i="1" dirty="0">
                <a:latin typeface="Times New Roman" panose="02020603050405020304" pitchFamily="18" charset="0"/>
                <a:cs typeface="Times New Roman" panose="02020603050405020304" pitchFamily="18" charset="0"/>
              </a:rPr>
              <a:t>z</a:t>
            </a:r>
            <a:r>
              <a:rPr lang="en-GB" altLang="en-US" sz="1000" i="0" dirty="0">
                <a:latin typeface="Times New Roman" panose="02020603050405020304" pitchFamily="18" charset="0"/>
                <a:cs typeface="Times New Roman" panose="02020603050405020304" pitchFamily="18" charset="0"/>
              </a:rPr>
              <a:t> axis) is now pointing towards you; now put your thumb pointing along the </a:t>
            </a:r>
            <a:r>
              <a:rPr lang="en-GB" altLang="en-US" sz="1000" i="1" dirty="0">
                <a:latin typeface="Times New Roman" panose="02020603050405020304" pitchFamily="18" charset="0"/>
                <a:cs typeface="Times New Roman" panose="02020603050405020304" pitchFamily="18" charset="0"/>
              </a:rPr>
              <a:t>z</a:t>
            </a:r>
            <a:r>
              <a:rPr lang="en-GB" altLang="en-US" sz="1000" i="0" dirty="0">
                <a:latin typeface="Times New Roman" panose="02020603050405020304" pitchFamily="18" charset="0"/>
                <a:cs typeface="Times New Roman" panose="02020603050405020304" pitchFamily="18" charset="0"/>
              </a:rPr>
              <a:t> axis towards you and you will see that your fingers curl in an anticlockwise sense, that is, anticlockwise is +</a:t>
            </a:r>
            <a:r>
              <a:rPr lang="en-GB" altLang="en-US" sz="1000" i="0" dirty="0" err="1">
                <a:latin typeface="Times New Roman" panose="02020603050405020304" pitchFamily="18" charset="0"/>
                <a:cs typeface="Times New Roman" panose="02020603050405020304" pitchFamily="18" charset="0"/>
              </a:rPr>
              <a:t>ve</a:t>
            </a:r>
            <a:endParaRPr lang="en-GB" altLang="en-US" sz="100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Note that the definition of engineering shear strain follows naturally from elementary trigonometry:  tan </a:t>
            </a:r>
            <a:r>
              <a:rPr lang="el-GR" altLang="en-US" sz="1000" i="1" dirty="0">
                <a:latin typeface="Times New Roman" panose="02020603050405020304" pitchFamily="18" charset="0"/>
                <a:cs typeface="Times New Roman" panose="02020603050405020304" pitchFamily="18" charset="0"/>
              </a:rPr>
              <a:t>ψ</a:t>
            </a:r>
            <a:r>
              <a:rPr lang="en-GB" altLang="en-US" sz="1000" dirty="0">
                <a:latin typeface="Times New Roman" panose="02020603050405020304" pitchFamily="18" charset="0"/>
                <a:cs typeface="Times New Roman" panose="02020603050405020304" pitchFamily="18" charset="0"/>
              </a:rPr>
              <a:t>  = </a:t>
            </a:r>
            <a:r>
              <a:rPr lang="en-GB" altLang="en-US" sz="1000" i="1" spc="15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spc="150" baseline="0" dirty="0">
                <a:latin typeface="Times New Roman" panose="02020603050405020304" pitchFamily="18" charset="0"/>
                <a:cs typeface="Times New Roman" panose="02020603050405020304" pitchFamily="18" charset="0"/>
              </a:rPr>
              <a:t>x</a:t>
            </a:r>
            <a:r>
              <a:rPr lang="en-GB" altLang="en-US" sz="1000" spc="150" baseline="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y</a:t>
            </a:r>
            <a:r>
              <a:rPr lang="en-GB" altLang="en-US" sz="1000" dirty="0">
                <a:latin typeface="Times New Roman" panose="02020603050405020304" pitchFamily="18" charset="0"/>
                <a:cs typeface="Times New Roman" panose="02020603050405020304" pitchFamily="18" charset="0"/>
              </a:rPr>
              <a:t> = </a:t>
            </a:r>
            <a:r>
              <a:rPr lang="el-GR" altLang="en-US" sz="1000" i="1" dirty="0">
                <a:latin typeface="Times New Roman" panose="02020603050405020304" pitchFamily="18" charset="0"/>
                <a:ea typeface="Cambria Math" panose="02040503050406030204" pitchFamily="18" charset="0"/>
                <a:cs typeface="Times New Roman" panose="02020603050405020304" pitchFamily="18" charset="0"/>
              </a:rPr>
              <a:t>γ</a:t>
            </a:r>
            <a:endParaRPr lang="en-GB" altLang="en-US" sz="1000" i="1" dirty="0">
              <a:latin typeface="Times New Roman" panose="02020603050405020304" pitchFamily="18" charset="0"/>
              <a:cs typeface="Times New Roman" panose="02020603050405020304" pitchFamily="18" charset="0"/>
            </a:endParaRP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latin typeface="Times New Roman" panose="02020603050405020304" pitchFamily="18" charset="0"/>
                <a:cs typeface="Times New Roman" panose="02020603050405020304" pitchFamily="18" charset="0"/>
              </a:rPr>
              <a:t>Double subscripts are needed when specifying shear strain in a coordinate frame. These indicate (1) the orientation of the shear plane and (2) the direction of shear in that plane</a:t>
            </a:r>
            <a:endParaRPr lang="en-GB" altLang="en-US" sz="1000" i="1"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by Steve Covey-Crump</a:t>
            </a: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410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a:extLst>
              <a:ext uri="{FF2B5EF4-FFF2-40B4-BE49-F238E27FC236}">
                <a16:creationId xmlns:a16="http://schemas.microsoft.com/office/drawing/2014/main" id="{8BB4D50B-23EC-4C32-9418-A0DDA918253C}"/>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6A59D53D-4728-4C65-B765-1438464A591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Accompanying this PowerPoint presentation is a supporting document, </a:t>
            </a:r>
            <a:r>
              <a:rPr lang="en-GB" altLang="en-US" sz="1000" i="1" dirty="0"/>
              <a:t>StrainNote.pdf</a:t>
            </a:r>
            <a:r>
              <a:rPr lang="en-GB" altLang="en-US" sz="1000" dirty="0"/>
              <a:t>, that outlines key mathematical fundamentals in the theory of strain. You do </a:t>
            </a:r>
            <a:r>
              <a:rPr lang="en-GB" altLang="en-US" sz="1000" b="1" dirty="0"/>
              <a:t>NOT</a:t>
            </a:r>
            <a:r>
              <a:rPr lang="en-GB" altLang="en-US" sz="1000" dirty="0"/>
              <a:t> need to know the contents of this document for this course unit. However, anyone who takes up a career or further academic study in rock mechanics (</a:t>
            </a:r>
            <a:r>
              <a:rPr lang="en-GB" altLang="en-US" sz="1000" i="1" dirty="0"/>
              <a:t>e.g</a:t>
            </a:r>
            <a:r>
              <a:rPr lang="en-GB" altLang="en-US" sz="1000" dirty="0"/>
              <a:t>., in engineering geology or in many aspects of geophysics) will find that the contents of the document will become absolutely core to what they are doing</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a:extLst>
              <a:ext uri="{FF2B5EF4-FFF2-40B4-BE49-F238E27FC236}">
                <a16:creationId xmlns:a16="http://schemas.microsoft.com/office/drawing/2014/main" id="{0924B551-16CA-4768-A557-ADF7B251407A}"/>
              </a:ext>
            </a:extLst>
          </p:cNvPr>
          <p:cNvSpPr>
            <a:spLocks noGrp="1" noRot="1" noChangeAspect="1" noChangeArrowheads="1" noTextEdit="1"/>
          </p:cNvSpPr>
          <p:nvPr>
            <p:ph type="sldImg"/>
          </p:nvPr>
        </p:nvSpPr>
        <p:spPr>
          <a:ln/>
        </p:spPr>
      </p:sp>
      <p:sp>
        <p:nvSpPr>
          <p:cNvPr id="332803" name="Rectangle 3">
            <a:extLst>
              <a:ext uri="{FF2B5EF4-FFF2-40B4-BE49-F238E27FC236}">
                <a16:creationId xmlns:a16="http://schemas.microsoft.com/office/drawing/2014/main" id="{EEC3B754-DCA4-4A57-B0BD-8B2AB395C8D8}"/>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In structural geology, strain rather than displacement is of particular interest in because it is strain that leads to, or is the consequence of (depending upon how you look at it), internal forces (stresses) within a body</a:t>
            </a:r>
          </a:p>
          <a:p>
            <a:pPr marL="108000" indent="-108000">
              <a:spcBef>
                <a:spcPts val="300"/>
              </a:spcBef>
              <a:buFont typeface="Arial" panose="020B0604020202020204" pitchFamily="34" charset="0"/>
              <a:buChar char="•"/>
            </a:pPr>
            <a:r>
              <a:rPr lang="en-GB" altLang="en-US" sz="1000" dirty="0"/>
              <a:t>Photo (</a:t>
            </a:r>
            <a:r>
              <a:rPr lang="en-GB" altLang="en-US" sz="1000" dirty="0" err="1"/>
              <a:t>Gudmundsson</a:t>
            </a:r>
            <a:r>
              <a:rPr lang="en-GB" altLang="en-US" sz="1000" dirty="0"/>
              <a:t>, 2011, </a:t>
            </a:r>
            <a:r>
              <a:rPr lang="en-GB" altLang="en-US" sz="1000" i="1" dirty="0"/>
              <a:t>Rock Fractures in Geological Processes</a:t>
            </a:r>
            <a:r>
              <a:rPr lang="en-GB" altLang="en-US" sz="1000" dirty="0"/>
              <a:t>, p.65): slip on a reverse fault that ran underneath this house in Taiwan in 1999 produced deformation of the house that was primarily by rigid body rotation (see next slide for a definition of rigid body rotation). The lack of strain is a testament to the construction methods used when building the house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a:extLst>
              <a:ext uri="{FF2B5EF4-FFF2-40B4-BE49-F238E27FC236}">
                <a16:creationId xmlns:a16="http://schemas.microsoft.com/office/drawing/2014/main" id="{0BE2EB13-C2C6-47CF-85C7-EFE6C21608C1}"/>
              </a:ext>
            </a:extLst>
          </p:cNvPr>
          <p:cNvSpPr>
            <a:spLocks noGrp="1" noRot="1" noChangeAspect="1" noChangeArrowheads="1" noTextEdit="1"/>
          </p:cNvSpPr>
          <p:nvPr>
            <p:ph type="sldImg"/>
          </p:nvPr>
        </p:nvSpPr>
        <p:spPr>
          <a:ln/>
        </p:spPr>
      </p:sp>
      <p:sp>
        <p:nvSpPr>
          <p:cNvPr id="333827" name="Rectangle 3">
            <a:extLst>
              <a:ext uri="{FF2B5EF4-FFF2-40B4-BE49-F238E27FC236}">
                <a16:creationId xmlns:a16="http://schemas.microsoft.com/office/drawing/2014/main" id="{7F652244-4F98-44D0-87EA-98987E1ADC8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by Steve Covey-Crump. The displacement vectors (red arrows) connect the position of a particle before deformation with its position after deformation. An array of such vectors, defined for many particles within a body, is described as a </a:t>
            </a:r>
            <a:r>
              <a:rPr lang="en-GB" altLang="en-US" sz="1000" dirty="0">
                <a:solidFill>
                  <a:srgbClr val="FF6600"/>
                </a:solidFill>
              </a:rPr>
              <a:t>displacement field</a:t>
            </a:r>
          </a:p>
          <a:p>
            <a:pPr>
              <a:spcBef>
                <a:spcPts val="300"/>
              </a:spcBef>
            </a:pPr>
            <a:endParaRPr lang="en-GB"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a:extLst>
              <a:ext uri="{FF2B5EF4-FFF2-40B4-BE49-F238E27FC236}">
                <a16:creationId xmlns:a16="http://schemas.microsoft.com/office/drawing/2014/main" id="{A5B39538-1628-4957-8B8C-EA18D4484095}"/>
              </a:ext>
            </a:extLst>
          </p:cNvPr>
          <p:cNvSpPr>
            <a:spLocks noGrp="1" noRot="1" noChangeAspect="1" noChangeArrowheads="1" noTextEdit="1"/>
          </p:cNvSpPr>
          <p:nvPr>
            <p:ph type="sldImg"/>
          </p:nvPr>
        </p:nvSpPr>
        <p:spPr>
          <a:ln/>
        </p:spPr>
      </p:sp>
      <p:sp>
        <p:nvSpPr>
          <p:cNvPr id="339971" name="Rectangle 3">
            <a:extLst>
              <a:ext uri="{FF2B5EF4-FFF2-40B4-BE49-F238E27FC236}">
                <a16:creationId xmlns:a16="http://schemas.microsoft.com/office/drawing/2014/main" id="{E920A168-8769-4051-A07D-964752EE00F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Slides 8-13 provide a short introduction to the core concepts in the mathematical theory of strain. These are developed a little further in the supporting document, </a:t>
            </a:r>
            <a:r>
              <a:rPr lang="en-GB" altLang="en-US" sz="1000" i="1" dirty="0"/>
              <a:t>StrainNote.pdf</a:t>
            </a:r>
            <a:r>
              <a:rPr lang="en-GB" altLang="en-US" sz="1000" i="0" dirty="0"/>
              <a:t>. These slides are primarily here for those who are interested. As far as this course unit is concerned, all I would like you to take away from these six slides is (a) that the state of strain at a point is not a single number but rather is a matrix of 9 terms (in 3d) of which 6 are independent, and (b) that the linear (longitudinal) strains are the terms on the leading diagonal of this matrix while the (tensor) shear strains are the off-diagonal terms</a:t>
            </a:r>
          </a:p>
          <a:p>
            <a:pPr marL="108000" indent="-108000">
              <a:spcBef>
                <a:spcPts val="300"/>
              </a:spcBef>
              <a:buFont typeface="Arial" panose="020B0604020202020204" pitchFamily="34" charset="0"/>
              <a:buChar char="•"/>
            </a:pPr>
            <a:endParaRPr lang="en-GB" altLang="en-US" sz="1000" i="0" dirty="0"/>
          </a:p>
          <a:p>
            <a:pPr marL="108000" indent="-108000">
              <a:spcBef>
                <a:spcPts val="300"/>
              </a:spcBef>
              <a:buFont typeface="Arial" panose="020B0604020202020204" pitchFamily="34" charset="0"/>
              <a:buChar char="•"/>
            </a:pPr>
            <a:r>
              <a:rPr lang="en-GB" altLang="en-US" sz="1000" i="0" dirty="0"/>
              <a:t>Since only distortion and dilation produce strain, the mathematical treatment of strain begins with the steps needed to separate out the rigid translation and rigid rotation from the overall deformation. This is done by working with displacement gradients (see next slide)</a:t>
            </a:r>
          </a:p>
          <a:p>
            <a:pPr marL="108000" indent="-108000">
              <a:spcBef>
                <a:spcPts val="300"/>
              </a:spcBef>
              <a:buFont typeface="Arial" panose="020B0604020202020204" pitchFamily="34" charset="0"/>
              <a:buChar char="•"/>
            </a:pPr>
            <a:r>
              <a:rPr lang="en-GB" altLang="en-US" sz="1000" dirty="0"/>
              <a:t>In many of the slides discussing the underlying concepts of strain theory, we shall work in 2d. The extension to 3d is generally straightforward (see </a:t>
            </a:r>
            <a:r>
              <a:rPr lang="en-GB" altLang="en-US" sz="1000" i="1" dirty="0"/>
              <a:t>StrainNote.pdf</a:t>
            </a:r>
            <a:r>
              <a:rPr lang="en-GB" altLang="en-US" sz="1000" dirty="0"/>
              <a:t>)</a:t>
            </a:r>
          </a:p>
          <a:p>
            <a:pPr marL="108000" indent="-108000">
              <a:spcBef>
                <a:spcPts val="300"/>
              </a:spcBef>
              <a:buFont typeface="Arial" panose="020B0604020202020204" pitchFamily="34" charset="0"/>
              <a:buChar char="•"/>
            </a:pPr>
            <a:r>
              <a:rPr lang="en-GB" altLang="en-US" sz="1000" dirty="0"/>
              <a:t>I have written the two equations on the top left of this slide as a matrix equation in the top right diagram. Those of you who have met matrices before and know how to multiply and add matrices together will see at a glance that this is true. An appreciation of matrix algebra (how to add and multiply two matrices together and how to carry out various other operations) is fundamental for almost all rock mechanics calculations. Matrix algebra is very powerful. A proper introduction to the subject is beyond the remit of this course although it is not actually very difficult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a:extLst>
              <a:ext uri="{FF2B5EF4-FFF2-40B4-BE49-F238E27FC236}">
                <a16:creationId xmlns:a16="http://schemas.microsoft.com/office/drawing/2014/main" id="{43B4FF45-CF0B-4433-98BD-A872A1447A7C}"/>
              </a:ext>
            </a:extLst>
          </p:cNvPr>
          <p:cNvSpPr>
            <a:spLocks noGrp="1" noRot="1" noChangeAspect="1" noChangeArrowheads="1" noTextEdit="1"/>
          </p:cNvSpPr>
          <p:nvPr>
            <p:ph type="sldImg"/>
          </p:nvPr>
        </p:nvSpPr>
        <p:spPr>
          <a:ln/>
        </p:spPr>
      </p:sp>
      <p:sp>
        <p:nvSpPr>
          <p:cNvPr id="345091" name="Rectangle 3">
            <a:extLst>
              <a:ext uri="{FF2B5EF4-FFF2-40B4-BE49-F238E27FC236}">
                <a16:creationId xmlns:a16="http://schemas.microsoft.com/office/drawing/2014/main" id="{ED716DE0-6452-40D3-8ACF-6DD922D47B8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Note that the displacement gradient matrix can be specified with respect to the original particle positions (</a:t>
            </a:r>
            <a:r>
              <a:rPr lang="en-GB" altLang="en-US" sz="1000" dirty="0" err="1">
                <a:latin typeface="Times New Roman" panose="02020603050405020304" pitchFamily="18" charset="0"/>
                <a:cs typeface="Times New Roman" panose="02020603050405020304" pitchFamily="18" charset="0"/>
              </a:rPr>
              <a:t>Lagrangian</a:t>
            </a:r>
            <a:r>
              <a:rPr lang="en-GB" altLang="en-US" sz="1000" dirty="0">
                <a:latin typeface="Times New Roman" panose="02020603050405020304" pitchFamily="18" charset="0"/>
                <a:cs typeface="Times New Roman" panose="02020603050405020304" pitchFamily="18" charset="0"/>
              </a:rPr>
              <a:t> specification) or with respect to the deformed particle positions (Eulerian specification). If the displacements are small enough then the displacement gradients are the same whether they are calculated with respect to the original positions or with respect to the deformed positions. Treating the displacements as small enough for this to be true is described as the infinitesimal strain approximation. It leads to a great simplification of the mathematics and is valid for many rock mechanics problems of interest (</a:t>
            </a:r>
            <a:r>
              <a:rPr lang="en-GB" altLang="en-US" sz="1000" i="1" dirty="0">
                <a:latin typeface="Times New Roman" panose="02020603050405020304" pitchFamily="18" charset="0"/>
                <a:cs typeface="Times New Roman" panose="02020603050405020304" pitchFamily="18" charset="0"/>
              </a:rPr>
              <a:t>e.g.</a:t>
            </a:r>
            <a:r>
              <a:rPr lang="en-GB" altLang="en-US" sz="1000" dirty="0">
                <a:latin typeface="Times New Roman" panose="02020603050405020304" pitchFamily="18" charset="0"/>
                <a:cs typeface="Times New Roman" panose="02020603050405020304" pitchFamily="18" charset="0"/>
              </a:rPr>
              <a:t>, deformation around boreholes, deformation during the passage of a seismic wave)</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The use of bold text for </a:t>
            </a:r>
            <a:r>
              <a:rPr lang="en-GB" altLang="en-US" sz="1000" b="1" i="1" dirty="0">
                <a:latin typeface="Times New Roman" panose="02020603050405020304" pitchFamily="18" charset="0"/>
                <a:cs typeface="Times New Roman" panose="02020603050405020304" pitchFamily="18" charset="0"/>
              </a:rPr>
              <a:t>u</a:t>
            </a:r>
            <a:r>
              <a:rPr lang="en-GB" altLang="en-US" sz="1000" b="0" i="0" dirty="0">
                <a:latin typeface="Times New Roman" panose="02020603050405020304" pitchFamily="18" charset="0"/>
                <a:cs typeface="Times New Roman" panose="02020603050405020304" pitchFamily="18" charset="0"/>
              </a:rPr>
              <a:t> in the bottom diagram indicates a vector, here with components </a:t>
            </a:r>
            <a:r>
              <a:rPr lang="en-GB" altLang="en-US" sz="1000" b="0" i="1" dirty="0">
                <a:latin typeface="Times New Roman" panose="02020603050405020304" pitchFamily="18" charset="0"/>
                <a:cs typeface="Times New Roman" panose="02020603050405020304" pitchFamily="18" charset="0"/>
              </a:rPr>
              <a:t>u</a:t>
            </a:r>
            <a:r>
              <a:rPr lang="en-GB" altLang="en-US" sz="1000" b="0" i="0" dirty="0">
                <a:latin typeface="Times New Roman" panose="02020603050405020304" pitchFamily="18" charset="0"/>
                <a:cs typeface="Times New Roman" panose="02020603050405020304" pitchFamily="18" charset="0"/>
              </a:rPr>
              <a:t> parallel to the </a:t>
            </a:r>
            <a:r>
              <a:rPr lang="en-GB" altLang="en-US" sz="1000" b="0" i="1" dirty="0">
                <a:latin typeface="Times New Roman" panose="02020603050405020304" pitchFamily="18" charset="0"/>
                <a:cs typeface="Times New Roman" panose="02020603050405020304" pitchFamily="18" charset="0"/>
              </a:rPr>
              <a:t>x</a:t>
            </a:r>
            <a:r>
              <a:rPr lang="en-GB" altLang="en-US" sz="1000" b="0" i="0" dirty="0">
                <a:latin typeface="Times New Roman" panose="02020603050405020304" pitchFamily="18" charset="0"/>
                <a:cs typeface="Times New Roman" panose="02020603050405020304" pitchFamily="18" charset="0"/>
              </a:rPr>
              <a:t>-axis</a:t>
            </a:r>
            <a:r>
              <a:rPr lang="en-GB" altLang="en-US" sz="1000" dirty="0">
                <a:latin typeface="Times New Roman" panose="02020603050405020304" pitchFamily="18" charset="0"/>
                <a:cs typeface="Times New Roman" panose="02020603050405020304" pitchFamily="18" charset="0"/>
              </a:rPr>
              <a:t> and </a:t>
            </a:r>
            <a:r>
              <a:rPr lang="en-GB" altLang="en-US" sz="1000" i="1" dirty="0">
                <a:latin typeface="Times New Roman" panose="02020603050405020304" pitchFamily="18" charset="0"/>
                <a:cs typeface="Times New Roman" panose="02020603050405020304" pitchFamily="18" charset="0"/>
              </a:rPr>
              <a:t>v</a:t>
            </a:r>
            <a:r>
              <a:rPr lang="en-GB" altLang="en-US" sz="1000" i="0" dirty="0">
                <a:latin typeface="Times New Roman" panose="02020603050405020304" pitchFamily="18" charset="0"/>
                <a:cs typeface="Times New Roman" panose="02020603050405020304" pitchFamily="18" charset="0"/>
              </a:rPr>
              <a:t> parallel to the </a:t>
            </a:r>
            <a:r>
              <a:rPr lang="en-GB" altLang="en-US" sz="1000" i="1" dirty="0">
                <a:latin typeface="Times New Roman" panose="02020603050405020304" pitchFamily="18" charset="0"/>
                <a:cs typeface="Times New Roman" panose="02020603050405020304" pitchFamily="18" charset="0"/>
              </a:rPr>
              <a:t>y</a:t>
            </a:r>
            <a:r>
              <a:rPr lang="en-GB" altLang="en-US" sz="1000" i="0" dirty="0">
                <a:latin typeface="Times New Roman" panose="02020603050405020304" pitchFamily="18" charset="0"/>
                <a:cs typeface="Times New Roman" panose="02020603050405020304" pitchFamily="18" charset="0"/>
              </a:rPr>
              <a:t>-axis. The</a:t>
            </a:r>
            <a:r>
              <a:rPr lang="en-GB" altLang="en-US" sz="1000" dirty="0">
                <a:latin typeface="Times New Roman" panose="02020603050405020304" pitchFamily="18" charset="0"/>
                <a:cs typeface="Times New Roman" panose="02020603050405020304" pitchFamily="18" charset="0"/>
              </a:rPr>
              <a:t> upside-down triangle (</a:t>
            </a:r>
            <a:r>
              <a:rPr lang="en-GB" altLang="en-US" sz="1000" dirty="0">
                <a:latin typeface="Cambria Math" panose="02040503050406030204" pitchFamily="18" charset="0"/>
                <a:ea typeface="Cambria Math" panose="02040503050406030204" pitchFamily="18" charset="0"/>
                <a:cs typeface="MS Office Symbol Regular" panose="01000000000000000000" pitchFamily="2" charset="0"/>
              </a:rPr>
              <a:t>∇</a:t>
            </a:r>
            <a:r>
              <a:rPr lang="en-GB" altLang="en-US" sz="1000" dirty="0">
                <a:latin typeface="Times New Roman" panose="02020603050405020304" pitchFamily="18" charset="0"/>
                <a:ea typeface="Cambria Math" panose="02040503050406030204" pitchFamily="18" charset="0"/>
                <a:cs typeface="Times New Roman" panose="02020603050405020304" pitchFamily="18" charset="0"/>
              </a:rPr>
              <a:t>)</a:t>
            </a:r>
            <a:r>
              <a:rPr lang="en-GB" altLang="en-US" sz="1000" dirty="0">
                <a:latin typeface="Times New Roman" panose="02020603050405020304" pitchFamily="18" charset="0"/>
                <a:cs typeface="Times New Roman" panose="02020603050405020304" pitchFamily="18" charset="0"/>
              </a:rPr>
              <a:t> in the bottom diagram is known as the ‘</a:t>
            </a:r>
            <a:r>
              <a:rPr lang="en-GB" altLang="en-US" sz="1000" dirty="0" err="1">
                <a:latin typeface="Times New Roman" panose="02020603050405020304" pitchFamily="18" charset="0"/>
                <a:cs typeface="Times New Roman" panose="02020603050405020304" pitchFamily="18" charset="0"/>
              </a:rPr>
              <a:t>nabla</a:t>
            </a:r>
            <a:r>
              <a:rPr lang="en-GB" altLang="en-US" sz="1000" dirty="0">
                <a:latin typeface="Times New Roman" panose="02020603050405020304" pitchFamily="18" charset="0"/>
                <a:cs typeface="Times New Roman" panose="02020603050405020304" pitchFamily="18" charset="0"/>
              </a:rPr>
              <a:t> operator’ (or ‘del operator’) which simply tells the reader to take derivatives of the quantity on which it is acting (here the displacement vector, </a:t>
            </a:r>
            <a:r>
              <a:rPr lang="en-GB" altLang="en-US" sz="1000" b="1" i="1" dirty="0">
                <a:latin typeface="Times New Roman" panose="02020603050405020304" pitchFamily="18" charset="0"/>
                <a:cs typeface="Times New Roman" panose="02020603050405020304" pitchFamily="18" charset="0"/>
              </a:rPr>
              <a:t>u</a:t>
            </a:r>
            <a:r>
              <a:rPr lang="en-GB" altLang="en-US" sz="1000" b="0" i="0" dirty="0">
                <a:latin typeface="Times New Roman" panose="02020603050405020304" pitchFamily="18" charset="0"/>
                <a:cs typeface="Times New Roman" panose="02020603050405020304" pitchFamily="18" charset="0"/>
              </a:rPr>
              <a:t>). In this case </a:t>
            </a:r>
            <a:r>
              <a:rPr lang="en-GB" altLang="en-US" sz="1000" dirty="0">
                <a:latin typeface="Cambria Math" panose="02040503050406030204" pitchFamily="18" charset="0"/>
                <a:ea typeface="Cambria Math" panose="02040503050406030204" pitchFamily="18" charset="0"/>
                <a:cs typeface="MS Office Symbol Regular" panose="01000000000000000000" pitchFamily="2" charset="0"/>
              </a:rPr>
              <a:t>∇</a:t>
            </a:r>
            <a:r>
              <a:rPr lang="en-GB" altLang="en-US" sz="1000" b="1" i="1" dirty="0">
                <a:latin typeface="Times New Roman" panose="02020603050405020304" pitchFamily="18" charset="0"/>
                <a:cs typeface="Times New Roman" panose="02020603050405020304" pitchFamily="18" charset="0"/>
              </a:rPr>
              <a:t>u </a:t>
            </a:r>
            <a:r>
              <a:rPr lang="en-GB" altLang="en-US" sz="1000" b="0" i="0" dirty="0">
                <a:latin typeface="Times New Roman" panose="02020603050405020304" pitchFamily="18" charset="0"/>
                <a:cs typeface="Times New Roman" panose="02020603050405020304" pitchFamily="18" charset="0"/>
              </a:rPr>
              <a:t>is shorthand for the displacement gradient matrix shown in the top right diagram. The s</a:t>
            </a:r>
            <a:r>
              <a:rPr lang="en-GB" altLang="en-US" sz="1000" dirty="0">
                <a:latin typeface="Times New Roman" panose="02020603050405020304" pitchFamily="18" charset="0"/>
                <a:cs typeface="Times New Roman" panose="02020603050405020304" pitchFamily="18" charset="0"/>
              </a:rPr>
              <a:t>uperscript T in the matrix equation refers to the transpose of the matrix </a:t>
            </a:r>
            <a:r>
              <a:rPr lang="en-GB" altLang="en-US" sz="1000" dirty="0">
                <a:latin typeface="Cambria Math" panose="02040503050406030204" pitchFamily="18" charset="0"/>
                <a:ea typeface="Cambria Math" panose="02040503050406030204" pitchFamily="18" charset="0"/>
                <a:cs typeface="MS Office Symbol Regular" panose="01000000000000000000" pitchFamily="2" charset="0"/>
              </a:rPr>
              <a:t>∇</a:t>
            </a:r>
            <a:r>
              <a:rPr lang="en-GB" altLang="en-US" sz="1000" b="1" i="1" dirty="0">
                <a:latin typeface="Times New Roman" panose="02020603050405020304" pitchFamily="18" charset="0"/>
                <a:cs typeface="Times New Roman" panose="02020603050405020304" pitchFamily="18" charset="0"/>
              </a:rPr>
              <a:t>u</a:t>
            </a:r>
            <a:r>
              <a:rPr lang="en-GB" altLang="en-US" sz="1000" dirty="0">
                <a:latin typeface="Times New Roman" panose="02020603050405020304" pitchFamily="18" charset="0"/>
                <a:cs typeface="Times New Roman" panose="02020603050405020304" pitchFamily="18" charset="0"/>
              </a:rPr>
              <a:t>, that is, it is obtained by swapping the rows and columns of the matrix. The matrix equation shown in the bottom diagram looks horrible, but it is actually extremely simple once you have a familiarity with how to add matrices together</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The outcome of this slide: when we refer to strain, we are actually referring to the symmetric part of the displacement gradient matrix. To reiterate what was said on Slide 6: strain describes only the part of the deformation (albeit the interesting part) that is the result of (or the cause of) the distortion producing forces within the body</a:t>
            </a: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a:extLst>
              <a:ext uri="{FF2B5EF4-FFF2-40B4-BE49-F238E27FC236}">
                <a16:creationId xmlns:a16="http://schemas.microsoft.com/office/drawing/2014/main" id="{6FE5B95B-842F-41ED-A248-CFD0900650E8}"/>
              </a:ext>
            </a:extLst>
          </p:cNvPr>
          <p:cNvSpPr>
            <a:spLocks noGrp="1" noRot="1" noChangeAspect="1" noChangeArrowheads="1" noTextEdit="1"/>
          </p:cNvSpPr>
          <p:nvPr>
            <p:ph type="sldImg"/>
          </p:nvPr>
        </p:nvSpPr>
        <p:spPr>
          <a:ln/>
        </p:spPr>
      </p:sp>
      <p:sp>
        <p:nvSpPr>
          <p:cNvPr id="360451" name="Rectangle 3">
            <a:extLst>
              <a:ext uri="{FF2B5EF4-FFF2-40B4-BE49-F238E27FC236}">
                <a16:creationId xmlns:a16="http://schemas.microsoft.com/office/drawing/2014/main" id="{FE79FCD0-1274-435A-997C-8A66FC6F7344}"/>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This slide gives a simple worked example of what has been described on the previous two slides. If you are unfamiliar with matrices, don’t worry about it</a:t>
            </a:r>
          </a:p>
          <a:p>
            <a:pPr marL="108000" indent="-108000">
              <a:spcBef>
                <a:spcPts val="300"/>
              </a:spcBef>
              <a:buFont typeface="Arial" panose="020B0604020202020204" pitchFamily="34" charset="0"/>
              <a:buChar char="•"/>
            </a:pPr>
            <a:r>
              <a:rPr lang="en-GB" altLang="en-US" sz="1000" dirty="0"/>
              <a:t>Note that although in this example the displacement gradients in the </a:t>
            </a:r>
            <a:r>
              <a:rPr lang="en-GB" altLang="en-US" sz="1000" dirty="0" err="1"/>
              <a:t>Lagrangian</a:t>
            </a:r>
            <a:r>
              <a:rPr lang="en-GB" altLang="en-US" sz="1000" dirty="0"/>
              <a:t> and Eulerian descriptions are the same, this is not usually so unless (as indicated in the notes for the previous slide) the displacements are small (see the accompanying document, </a:t>
            </a:r>
            <a:r>
              <a:rPr lang="en-GB" altLang="en-US" sz="1000" i="1" dirty="0"/>
              <a:t>StrainNote.pdf</a:t>
            </a:r>
            <a:r>
              <a:rPr lang="en-GB" altLang="en-US" sz="1000" dirty="0"/>
              <a:t> – section on finite strain, one dimensional case). Note also that the rock mechanics convention of having shortening as positive requires the sign of the displacement vector to be defined as the negative of that defined by engineers (again see accompanying document)</a:t>
            </a:r>
          </a:p>
          <a:p>
            <a:pPr marL="108000" indent="-108000">
              <a:spcBef>
                <a:spcPts val="300"/>
              </a:spcBef>
              <a:buFont typeface="Arial" panose="020B0604020202020204" pitchFamily="34" charset="0"/>
              <a:buChar char="•"/>
            </a:pPr>
            <a:r>
              <a:rPr lang="en-GB" altLang="en-US" sz="1000" dirty="0"/>
              <a:t>Ramsay &amp; Huber (Sessions 1 and 4 and Appendices B and C) gives good coverage of transformations using the deformation gradient matrix</a:t>
            </a:r>
          </a:p>
          <a:p>
            <a:pPr marL="108000" indent="-108000">
              <a:spcBef>
                <a:spcPts val="300"/>
              </a:spcBef>
              <a:buFont typeface="Arial" panose="020B0604020202020204" pitchFamily="34" charset="0"/>
              <a:buChar char="•"/>
            </a:pPr>
            <a:r>
              <a:rPr lang="en-GB" altLang="en-US" sz="1000" dirty="0"/>
              <a:t>Figure by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a:extLst>
              <a:ext uri="{FF2B5EF4-FFF2-40B4-BE49-F238E27FC236}">
                <a16:creationId xmlns:a16="http://schemas.microsoft.com/office/drawing/2014/main" id="{B32493B0-A4D4-42D9-A224-1CA188CF5E1E}"/>
              </a:ext>
            </a:extLst>
          </p:cNvPr>
          <p:cNvSpPr>
            <a:spLocks noGrp="1" noRot="1" noChangeAspect="1" noChangeArrowheads="1" noTextEdit="1"/>
          </p:cNvSpPr>
          <p:nvPr>
            <p:ph type="sldImg"/>
          </p:nvPr>
        </p:nvSpPr>
        <p:spPr>
          <a:ln/>
        </p:spPr>
      </p:sp>
      <p:sp>
        <p:nvSpPr>
          <p:cNvPr id="349187" name="Rectangle 3">
            <a:extLst>
              <a:ext uri="{FF2B5EF4-FFF2-40B4-BE49-F238E27FC236}">
                <a16:creationId xmlns:a16="http://schemas.microsoft.com/office/drawing/2014/main" id="{3A79C2E3-6579-480F-8430-AA15247A008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The origin of the diagram (by Steve Covey-Crump) shown on this slide is explained in the document, </a:t>
            </a:r>
            <a:r>
              <a:rPr lang="en-GB" altLang="en-US" sz="1000" i="1" dirty="0">
                <a:latin typeface="Times New Roman" panose="02020603050405020304" pitchFamily="18" charset="0"/>
                <a:cs typeface="Times New Roman" panose="02020603050405020304" pitchFamily="18" charset="0"/>
              </a:rPr>
              <a:t>StrainNote.pdf</a:t>
            </a:r>
            <a:r>
              <a:rPr lang="en-GB" altLang="en-US" sz="1000" dirty="0">
                <a:latin typeface="Times New Roman" panose="02020603050405020304" pitchFamily="18" charset="0"/>
                <a:cs typeface="Times New Roman" panose="02020603050405020304" pitchFamily="18" charset="0"/>
              </a:rPr>
              <a:t>, that accompanies this PowerPoint presentation. The expressions for the strain components are only valid for infinitesimal strains. </a:t>
            </a:r>
            <a:r>
              <a:rPr lang="en-GB" altLang="en-US" sz="1000" i="1" dirty="0">
                <a:latin typeface="Times New Roman" panose="02020603050405020304" pitchFamily="18" charset="0"/>
                <a:cs typeface="Times New Roman" panose="02020603050405020304" pitchFamily="18" charset="0"/>
              </a:rPr>
              <a:t>StrainNote.pdf</a:t>
            </a:r>
            <a:r>
              <a:rPr lang="en-GB" altLang="en-US" sz="1000" dirty="0">
                <a:latin typeface="Times New Roman" panose="02020603050405020304" pitchFamily="18" charset="0"/>
                <a:cs typeface="Times New Roman" panose="02020603050405020304" pitchFamily="18" charset="0"/>
              </a:rPr>
              <a:t> outlines what is involved here, and what happens if the infinitesimal strain approximation is not used</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Clearly, </a:t>
            </a:r>
          </a:p>
          <a:p>
            <a:pPr marL="108000" indent="0">
              <a:spcBef>
                <a:spcPts val="300"/>
              </a:spcBef>
              <a:buFont typeface="Arial" panose="020B0604020202020204" pitchFamily="34" charset="0"/>
              <a:buNone/>
            </a:pPr>
            <a:r>
              <a:rPr lang="en-GB" altLang="en-US" sz="1000" dirty="0">
                <a:latin typeface="Times New Roman" panose="02020603050405020304" pitchFamily="18" charset="0"/>
                <a:cs typeface="Times New Roman" panose="02020603050405020304" pitchFamily="18" charset="0"/>
              </a:rPr>
              <a:t>	∂</a:t>
            </a:r>
            <a:r>
              <a:rPr lang="en-GB" altLang="en-US" sz="1000" i="1" dirty="0">
                <a:latin typeface="Times New Roman" panose="02020603050405020304" pitchFamily="18" charset="0"/>
                <a:cs typeface="Times New Roman" panose="02020603050405020304" pitchFamily="18" charset="0"/>
              </a:rPr>
              <a:t>u</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  =  </a:t>
            </a:r>
            <a:r>
              <a:rPr lang="en-GB" altLang="en-US" sz="1000" spc="100" baseline="0" dirty="0">
                <a:latin typeface="Times New Roman" panose="02020603050405020304" pitchFamily="18" charset="0"/>
                <a:cs typeface="Times New Roman" panose="02020603050405020304" pitchFamily="18" charset="0"/>
              </a:rPr>
              <a:t>[(</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u</a:t>
            </a:r>
            <a:r>
              <a:rPr lang="en-GB" altLang="en-US" sz="1000" dirty="0">
                <a:latin typeface="Times New Roman" panose="02020603050405020304" pitchFamily="18" charset="0"/>
                <a:cs typeface="Times New Roman" panose="02020603050405020304" pitchFamily="18" charset="0"/>
              </a:rPr>
              <a:t>/∂</a:t>
            </a:r>
            <a:r>
              <a:rPr lang="en-GB" altLang="en-US" sz="1000" i="1" spc="150" baseline="0"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x + </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x - </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spc="150" baseline="0"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 / </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x</a:t>
            </a:r>
          </a:p>
          <a:p>
            <a:pPr marL="108000" indent="0">
              <a:spcBef>
                <a:spcPts val="300"/>
              </a:spcBef>
              <a:buFont typeface="Arial" panose="020B0604020202020204" pitchFamily="34" charset="0"/>
              <a:buNone/>
            </a:pPr>
            <a:r>
              <a:rPr lang="en-GB" altLang="en-US" sz="1000" dirty="0">
                <a:latin typeface="Times New Roman" panose="02020603050405020304" pitchFamily="18" charset="0"/>
                <a:cs typeface="Times New Roman" panose="02020603050405020304" pitchFamily="18" charset="0"/>
              </a:rPr>
              <a:t>which from the diagram is</a:t>
            </a:r>
          </a:p>
          <a:p>
            <a:pPr marL="108000" indent="0">
              <a:spcBef>
                <a:spcPts val="300"/>
              </a:spcBef>
              <a:buFont typeface="Arial" panose="020B0604020202020204" pitchFamily="34" charset="0"/>
              <a:buNone/>
            </a:pPr>
            <a:r>
              <a:rPr lang="en-GB" altLang="en-US" sz="1000" dirty="0">
                <a:latin typeface="Times New Roman" panose="02020603050405020304" pitchFamily="18" charset="0"/>
                <a:cs typeface="Times New Roman" panose="02020603050405020304" pitchFamily="18" charset="0"/>
              </a:rPr>
              <a:t>	∂</a:t>
            </a:r>
            <a:r>
              <a:rPr lang="en-GB" altLang="en-US" sz="1000" i="1" dirty="0">
                <a:latin typeface="Times New Roman" panose="02020603050405020304" pitchFamily="18" charset="0"/>
                <a:cs typeface="Times New Roman" panose="02020603050405020304" pitchFamily="18" charset="0"/>
              </a:rPr>
              <a:t>u</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  =  </a:t>
            </a:r>
            <a:r>
              <a:rPr lang="en-GB" altLang="en-US" sz="1000" spc="150" baseline="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P</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Q</a:t>
            </a:r>
            <a:r>
              <a:rPr lang="en-GB" altLang="en-US" sz="1000" dirty="0">
                <a:latin typeface="Times New Roman" panose="02020603050405020304" pitchFamily="18" charset="0"/>
                <a:cs typeface="Times New Roman" panose="02020603050405020304" pitchFamily="18" charset="0"/>
              </a:rPr>
              <a:t>* - </a:t>
            </a:r>
            <a:r>
              <a:rPr lang="en-GB" altLang="en-US" sz="1000" i="1" dirty="0">
                <a:latin typeface="Times New Roman" panose="02020603050405020304" pitchFamily="18" charset="0"/>
                <a:cs typeface="Times New Roman" panose="02020603050405020304" pitchFamily="18" charset="0"/>
              </a:rPr>
              <a:t>P</a:t>
            </a:r>
            <a:r>
              <a:rPr lang="en-GB" altLang="en-US" sz="1000" i="1" spc="150" baseline="0" dirty="0">
                <a:latin typeface="Times New Roman" panose="02020603050405020304" pitchFamily="18" charset="0"/>
                <a:cs typeface="Times New Roman" panose="02020603050405020304" pitchFamily="18" charset="0"/>
              </a:rPr>
              <a:t>Q</a:t>
            </a:r>
            <a:r>
              <a:rPr lang="en-GB" altLang="en-US" sz="1000" dirty="0">
                <a:latin typeface="Times New Roman" panose="02020603050405020304" pitchFamily="18" charset="0"/>
                <a:cs typeface="Times New Roman" panose="02020603050405020304" pitchFamily="18" charset="0"/>
              </a:rPr>
              <a:t>] / </a:t>
            </a:r>
            <a:r>
              <a:rPr lang="en-GB" altLang="en-US" sz="1000" i="1" dirty="0">
                <a:latin typeface="Times New Roman" panose="02020603050405020304" pitchFamily="18" charset="0"/>
                <a:cs typeface="Times New Roman" panose="02020603050405020304" pitchFamily="18" charset="0"/>
              </a:rPr>
              <a:t>PQ</a:t>
            </a:r>
            <a:r>
              <a:rPr lang="en-GB" altLang="en-US" sz="1000" dirty="0">
                <a:latin typeface="Times New Roman" panose="02020603050405020304" pitchFamily="18" charset="0"/>
                <a:cs typeface="Times New Roman" panose="02020603050405020304" pitchFamily="18" charset="0"/>
              </a:rPr>
              <a:t>   =  </a:t>
            </a:r>
            <a:r>
              <a:rPr lang="en-GB" altLang="en-US" sz="1000" spc="150" baseline="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L</a:t>
            </a:r>
            <a:r>
              <a:rPr lang="en-GB" altLang="en-US" sz="1000" dirty="0">
                <a:latin typeface="Times New Roman" panose="02020603050405020304" pitchFamily="18" charset="0"/>
                <a:cs typeface="Times New Roman" panose="02020603050405020304" pitchFamily="18" charset="0"/>
              </a:rPr>
              <a:t> – </a:t>
            </a:r>
            <a:r>
              <a:rPr lang="en-GB" altLang="en-US" sz="1000" i="1" dirty="0">
                <a:latin typeface="Times New Roman" panose="02020603050405020304" pitchFamily="18" charset="0"/>
                <a:cs typeface="Times New Roman" panose="02020603050405020304" pitchFamily="18" charset="0"/>
              </a:rPr>
              <a:t>L</a:t>
            </a:r>
            <a:r>
              <a:rPr lang="en-GB" altLang="en-US" sz="1000" spc="150" baseline="-25000" dirty="0">
                <a:latin typeface="Times New Roman" panose="02020603050405020304" pitchFamily="18" charset="0"/>
                <a:cs typeface="Times New Roman" panose="02020603050405020304" pitchFamily="18" charset="0"/>
              </a:rPr>
              <a:t>0</a:t>
            </a:r>
            <a:r>
              <a:rPr lang="en-GB" altLang="en-US" sz="1000" dirty="0">
                <a:latin typeface="Times New Roman" panose="02020603050405020304" pitchFamily="18" charset="0"/>
                <a:cs typeface="Times New Roman" panose="02020603050405020304" pitchFamily="18" charset="0"/>
              </a:rPr>
              <a:t>) / </a:t>
            </a:r>
            <a:r>
              <a:rPr lang="en-GB" altLang="en-US" sz="1000" i="1" dirty="0">
                <a:latin typeface="Times New Roman" panose="02020603050405020304" pitchFamily="18" charset="0"/>
                <a:cs typeface="Times New Roman" panose="02020603050405020304" pitchFamily="18" charset="0"/>
              </a:rPr>
              <a:t>L</a:t>
            </a:r>
            <a:r>
              <a:rPr lang="en-GB" altLang="en-US" sz="1000" baseline="-25000" dirty="0">
                <a:latin typeface="Times New Roman" panose="02020603050405020304" pitchFamily="18" charset="0"/>
                <a:cs typeface="Times New Roman" panose="02020603050405020304" pitchFamily="18" charset="0"/>
              </a:rPr>
              <a:t>0</a:t>
            </a:r>
            <a:endParaRPr lang="en-GB" altLang="en-US" sz="1000" dirty="0">
              <a:latin typeface="Times New Roman" panose="02020603050405020304" pitchFamily="18" charset="0"/>
              <a:cs typeface="Times New Roman" panose="02020603050405020304" pitchFamily="18" charset="0"/>
            </a:endParaRPr>
          </a:p>
          <a:p>
            <a:pPr marL="108000" indent="0">
              <a:spcBef>
                <a:spcPts val="300"/>
              </a:spcBef>
              <a:buFont typeface="Arial" panose="020B0604020202020204" pitchFamily="34" charset="0"/>
              <a:buNone/>
            </a:pPr>
            <a:r>
              <a:rPr lang="en-GB" altLang="en-US" sz="1000" dirty="0">
                <a:latin typeface="Times New Roman" panose="02020603050405020304" pitchFamily="18" charset="0"/>
                <a:cs typeface="Times New Roman" panose="02020603050405020304" pitchFamily="18" charset="0"/>
              </a:rPr>
              <a:t>that is, change in length divided by original length, which equals engineering strain (see Slide 3) in the </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 direction</a:t>
            </a:r>
          </a:p>
          <a:p>
            <a:pPr>
              <a:spcBef>
                <a:spcPts val="300"/>
              </a:spcBef>
            </a:pPr>
            <a:endParaRPr lang="en-GB"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a:extLst>
              <a:ext uri="{FF2B5EF4-FFF2-40B4-BE49-F238E27FC236}">
                <a16:creationId xmlns:a16="http://schemas.microsoft.com/office/drawing/2014/main" id="{6675D1D2-9CEC-4BDF-BEF1-DFE831C8A7F4}"/>
              </a:ext>
            </a:extLst>
          </p:cNvPr>
          <p:cNvSpPr>
            <a:spLocks noGrp="1" noRot="1" noChangeAspect="1" noChangeArrowheads="1" noTextEdit="1"/>
          </p:cNvSpPr>
          <p:nvPr>
            <p:ph type="sldImg"/>
          </p:nvPr>
        </p:nvSpPr>
        <p:spPr>
          <a:ln/>
        </p:spPr>
      </p:sp>
      <p:sp>
        <p:nvSpPr>
          <p:cNvPr id="351235" name="Rectangle 3">
            <a:extLst>
              <a:ext uri="{FF2B5EF4-FFF2-40B4-BE49-F238E27FC236}">
                <a16:creationId xmlns:a16="http://schemas.microsoft.com/office/drawing/2014/main" id="{64B674B8-C88D-488C-A4F8-A34A639BB39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Again, the origin of the diagram (by Steve Covey-Crump) shown on this slide is explained in the document, </a:t>
            </a:r>
            <a:r>
              <a:rPr lang="en-GB" altLang="en-US" sz="1000" i="1" dirty="0">
                <a:latin typeface="Times New Roman" panose="02020603050405020304" pitchFamily="18" charset="0"/>
                <a:cs typeface="Times New Roman" panose="02020603050405020304" pitchFamily="18" charset="0"/>
              </a:rPr>
              <a:t>StrainNote.pdf</a:t>
            </a:r>
            <a:r>
              <a:rPr lang="en-GB" altLang="en-US" sz="1000" dirty="0">
                <a:latin typeface="Times New Roman" panose="02020603050405020304" pitchFamily="18" charset="0"/>
                <a:cs typeface="Times New Roman" panose="02020603050405020304" pitchFamily="18" charset="0"/>
              </a:rPr>
              <a:t>, that accompanies this PowerPoint presentation. As noted on the previous slide, the expressions for the strain components are only valid for infinitesimal strains</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Using basic trigonometry (tan </a:t>
            </a:r>
            <a:r>
              <a:rPr lang="el-GR" altLang="en-US" sz="1000" i="1" dirty="0">
                <a:latin typeface="Times New Roman" panose="02020603050405020304" pitchFamily="18" charset="0"/>
                <a:cs typeface="Times New Roman" panose="02020603050405020304" pitchFamily="18" charset="0"/>
              </a:rPr>
              <a:t>ψ</a:t>
            </a:r>
            <a:r>
              <a:rPr lang="en-GB" altLang="en-US" sz="1000" dirty="0">
                <a:latin typeface="Times New Roman" panose="02020603050405020304" pitchFamily="18" charset="0"/>
                <a:cs typeface="Times New Roman" panose="02020603050405020304" pitchFamily="18" charset="0"/>
              </a:rPr>
              <a:t> = opposite / adjacent), if we look at the </a:t>
            </a:r>
            <a:r>
              <a:rPr lang="en-GB" altLang="en-US" sz="1000" i="1" dirty="0">
                <a:latin typeface="Times New Roman" panose="02020603050405020304" pitchFamily="18" charset="0"/>
                <a:cs typeface="Times New Roman" panose="02020603050405020304" pitchFamily="18" charset="0"/>
              </a:rPr>
              <a:t>P</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Q</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R</a:t>
            </a:r>
            <a:r>
              <a:rPr lang="en-GB" altLang="en-US" sz="1000" dirty="0">
                <a:latin typeface="Times New Roman" panose="02020603050405020304" pitchFamily="18" charset="0"/>
                <a:cs typeface="Times New Roman" panose="02020603050405020304" pitchFamily="18" charset="0"/>
              </a:rPr>
              <a:t>* part of the diagram we see</a:t>
            </a:r>
          </a:p>
          <a:p>
            <a:pPr marL="108000" indent="0">
              <a:spcBef>
                <a:spcPts val="300"/>
              </a:spcBef>
              <a:buFont typeface="Arial" panose="020B0604020202020204" pitchFamily="34" charset="0"/>
              <a:buNone/>
            </a:pPr>
            <a:r>
              <a:rPr lang="en-GB" altLang="en-US" sz="1000" dirty="0">
                <a:latin typeface="Times New Roman" panose="02020603050405020304" pitchFamily="18" charset="0"/>
                <a:cs typeface="Times New Roman" panose="02020603050405020304" pitchFamily="18" charset="0"/>
              </a:rPr>
              <a:t>	tan </a:t>
            </a:r>
            <a:r>
              <a:rPr lang="el-GR" altLang="en-US" sz="1000" i="1" dirty="0">
                <a:latin typeface="Times New Roman" panose="02020603050405020304" pitchFamily="18" charset="0"/>
                <a:cs typeface="Times New Roman" panose="02020603050405020304" pitchFamily="18" charset="0"/>
              </a:rPr>
              <a:t>α</a:t>
            </a:r>
            <a:r>
              <a:rPr lang="en-GB" altLang="en-US" sz="1000" dirty="0">
                <a:latin typeface="Times New Roman" panose="02020603050405020304" pitchFamily="18" charset="0"/>
                <a:cs typeface="Times New Roman" panose="02020603050405020304" pitchFamily="18" charset="0"/>
              </a:rPr>
              <a:t>  =  [ (∂</a:t>
            </a:r>
            <a:r>
              <a:rPr lang="en-GB" altLang="en-US" sz="1000" i="1" dirty="0">
                <a:latin typeface="Times New Roman" panose="02020603050405020304" pitchFamily="18" charset="0"/>
                <a:cs typeface="Times New Roman" panose="02020603050405020304" pitchFamily="18" charset="0"/>
              </a:rPr>
              <a:t>u</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y</a:t>
            </a:r>
            <a:r>
              <a:rPr lang="en-GB" altLang="en-US" sz="1000" dirty="0">
                <a:latin typeface="Times New Roman" panose="02020603050405020304" pitchFamily="18" charset="0"/>
                <a:cs typeface="Times New Roman" panose="02020603050405020304" pitchFamily="18" charset="0"/>
              </a:rPr>
              <a:t>)</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y </a:t>
            </a:r>
            <a:r>
              <a:rPr lang="en-GB" altLang="en-US" sz="1000" dirty="0">
                <a:latin typeface="Times New Roman" panose="02020603050405020304" pitchFamily="18" charset="0"/>
                <a:cs typeface="Times New Roman" panose="02020603050405020304" pitchFamily="18" charset="0"/>
              </a:rPr>
              <a:t>] / [</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y</a:t>
            </a:r>
            <a:r>
              <a:rPr lang="en-GB" altLang="en-US" sz="1000" dirty="0">
                <a:latin typeface="Times New Roman" panose="02020603050405020304" pitchFamily="18" charset="0"/>
                <a:cs typeface="Times New Roman" panose="02020603050405020304" pitchFamily="18" charset="0"/>
              </a:rPr>
              <a:t> + (∂</a:t>
            </a:r>
            <a:r>
              <a:rPr lang="en-GB" altLang="en-US" sz="1000" i="1" dirty="0">
                <a:latin typeface="Times New Roman" panose="02020603050405020304" pitchFamily="18" charset="0"/>
                <a:cs typeface="Times New Roman" panose="02020603050405020304" pitchFamily="18" charset="0"/>
              </a:rPr>
              <a:t>v</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y</a:t>
            </a:r>
            <a:r>
              <a:rPr lang="en-GB" altLang="en-US" sz="1000" dirty="0">
                <a:latin typeface="Times New Roman" panose="02020603050405020304" pitchFamily="18" charset="0"/>
                <a:cs typeface="Times New Roman" panose="02020603050405020304" pitchFamily="18" charset="0"/>
              </a:rPr>
              <a:t>)</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y</a:t>
            </a:r>
            <a:r>
              <a:rPr lang="en-GB" altLang="en-US" sz="1000" dirty="0">
                <a:latin typeface="Times New Roman" panose="02020603050405020304" pitchFamily="18" charset="0"/>
                <a:cs typeface="Times New Roman" panose="02020603050405020304" pitchFamily="18" charset="0"/>
              </a:rPr>
              <a:t>]  ≈  [ (∂</a:t>
            </a:r>
            <a:r>
              <a:rPr lang="en-GB" altLang="en-US" sz="1000" i="1" dirty="0">
                <a:latin typeface="Times New Roman" panose="02020603050405020304" pitchFamily="18" charset="0"/>
                <a:cs typeface="Times New Roman" panose="02020603050405020304" pitchFamily="18" charset="0"/>
              </a:rPr>
              <a:t>u</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y</a:t>
            </a:r>
            <a:r>
              <a:rPr lang="en-GB" altLang="en-US" sz="1000" dirty="0">
                <a:latin typeface="Times New Roman" panose="02020603050405020304" pitchFamily="18" charset="0"/>
                <a:cs typeface="Times New Roman" panose="02020603050405020304" pitchFamily="18" charset="0"/>
              </a:rPr>
              <a:t>)</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y </a:t>
            </a:r>
            <a:r>
              <a:rPr lang="en-GB" altLang="en-US" sz="1000" dirty="0">
                <a:latin typeface="Times New Roman" panose="02020603050405020304" pitchFamily="18" charset="0"/>
                <a:cs typeface="Times New Roman" panose="02020603050405020304" pitchFamily="18" charset="0"/>
              </a:rPr>
              <a:t>] / [</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y</a:t>
            </a:r>
            <a:r>
              <a:rPr lang="en-GB" altLang="en-US" sz="1000" dirty="0">
                <a:latin typeface="Times New Roman" panose="02020603050405020304" pitchFamily="18" charset="0"/>
                <a:cs typeface="Times New Roman" panose="02020603050405020304" pitchFamily="18" charset="0"/>
              </a:rPr>
              <a:t>] =  (∂</a:t>
            </a:r>
            <a:r>
              <a:rPr lang="en-GB" altLang="en-US" sz="1000" i="1" dirty="0">
                <a:latin typeface="Times New Roman" panose="02020603050405020304" pitchFamily="18" charset="0"/>
                <a:cs typeface="Times New Roman" panose="02020603050405020304" pitchFamily="18" charset="0"/>
              </a:rPr>
              <a:t>u</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y</a:t>
            </a:r>
            <a:r>
              <a:rPr lang="en-GB" altLang="en-US" sz="1000" dirty="0">
                <a:latin typeface="Times New Roman" panose="02020603050405020304" pitchFamily="18" charset="0"/>
                <a:cs typeface="Times New Roman" panose="02020603050405020304" pitchFamily="18" charset="0"/>
              </a:rPr>
              <a:t>)  where the approximation applies provided that  (∂</a:t>
            </a:r>
            <a:r>
              <a:rPr lang="en-GB" altLang="en-US" sz="1000" i="1" dirty="0">
                <a:latin typeface="Times New Roman" panose="02020603050405020304" pitchFamily="18" charset="0"/>
                <a:cs typeface="Times New Roman" panose="02020603050405020304" pitchFamily="18" charset="0"/>
              </a:rPr>
              <a:t>v</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y</a:t>
            </a:r>
            <a:r>
              <a:rPr lang="en-GB" altLang="en-US" sz="1000" dirty="0">
                <a:latin typeface="Times New Roman" panose="02020603050405020304" pitchFamily="18" charset="0"/>
                <a:cs typeface="Times New Roman" panose="02020603050405020304" pitchFamily="18" charset="0"/>
              </a:rPr>
              <a:t>) &lt;&lt; 1 so that </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y</a:t>
            </a:r>
            <a:r>
              <a:rPr lang="en-GB" altLang="en-US" sz="1000" dirty="0">
                <a:latin typeface="Times New Roman" panose="02020603050405020304" pitchFamily="18" charset="0"/>
                <a:cs typeface="Times New Roman" panose="02020603050405020304" pitchFamily="18" charset="0"/>
              </a:rPr>
              <a:t> &gt;&gt; (∂</a:t>
            </a:r>
            <a:r>
              <a:rPr lang="en-GB" altLang="en-US" sz="1000" i="1" dirty="0">
                <a:latin typeface="Times New Roman" panose="02020603050405020304" pitchFamily="18" charset="0"/>
                <a:cs typeface="Times New Roman" panose="02020603050405020304" pitchFamily="18" charset="0"/>
              </a:rPr>
              <a:t>v</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y</a:t>
            </a:r>
            <a:r>
              <a:rPr lang="en-GB" altLang="en-US" sz="1000" dirty="0">
                <a:latin typeface="Times New Roman" panose="02020603050405020304" pitchFamily="18" charset="0"/>
                <a:cs typeface="Times New Roman" panose="02020603050405020304" pitchFamily="18" charset="0"/>
              </a:rPr>
              <a:t>)</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y</a:t>
            </a:r>
            <a:endParaRPr lang="en-GB" altLang="en-US" sz="1000" dirty="0">
              <a:latin typeface="Times New Roman" panose="02020603050405020304" pitchFamily="18" charset="0"/>
              <a:cs typeface="Times New Roman" panose="02020603050405020304" pitchFamily="18" charset="0"/>
            </a:endParaRPr>
          </a:p>
          <a:p>
            <a:pPr marL="108000" indent="0">
              <a:spcBef>
                <a:spcPts val="300"/>
              </a:spcBef>
              <a:buFont typeface="Arial" panose="020B0604020202020204" pitchFamily="34" charset="0"/>
              <a:buNone/>
            </a:pPr>
            <a:r>
              <a:rPr lang="en-GB" altLang="en-US" sz="1000" dirty="0">
                <a:latin typeface="Times New Roman" panose="02020603050405020304" pitchFamily="18" charset="0"/>
                <a:cs typeface="Times New Roman" panose="02020603050405020304" pitchFamily="18" charset="0"/>
              </a:rPr>
              <a:t>	tan </a:t>
            </a:r>
            <a:r>
              <a:rPr lang="el-GR" altLang="en-US" sz="1000" i="1" dirty="0">
                <a:latin typeface="Times New Roman" panose="02020603050405020304" pitchFamily="18" charset="0"/>
                <a:cs typeface="Times New Roman" panose="02020603050405020304" pitchFamily="18" charset="0"/>
              </a:rPr>
              <a:t>β</a:t>
            </a:r>
            <a:r>
              <a:rPr lang="en-GB" altLang="en-US" sz="1000" dirty="0">
                <a:latin typeface="Times New Roman" panose="02020603050405020304" pitchFamily="18" charset="0"/>
                <a:cs typeface="Times New Roman" panose="02020603050405020304" pitchFamily="18" charset="0"/>
              </a:rPr>
              <a:t>  =  [ (∂</a:t>
            </a:r>
            <a:r>
              <a:rPr lang="en-GB" altLang="en-US" sz="1000" i="1" dirty="0">
                <a:latin typeface="Times New Roman" panose="02020603050405020304" pitchFamily="18" charset="0"/>
                <a:cs typeface="Times New Roman" panose="02020603050405020304" pitchFamily="18" charset="0"/>
              </a:rPr>
              <a:t>v</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x </a:t>
            </a:r>
            <a:r>
              <a:rPr lang="en-GB" altLang="en-US" sz="1000" dirty="0">
                <a:latin typeface="Times New Roman" panose="02020603050405020304" pitchFamily="18" charset="0"/>
                <a:cs typeface="Times New Roman" panose="02020603050405020304" pitchFamily="18" charset="0"/>
              </a:rPr>
              <a:t>] / [</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 + (∂</a:t>
            </a:r>
            <a:r>
              <a:rPr lang="en-GB" altLang="en-US" sz="1000" i="1" dirty="0">
                <a:latin typeface="Times New Roman" panose="02020603050405020304" pitchFamily="18" charset="0"/>
                <a:cs typeface="Times New Roman" panose="02020603050405020304" pitchFamily="18" charset="0"/>
              </a:rPr>
              <a:t>u</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  ≈  [ (∂</a:t>
            </a:r>
            <a:r>
              <a:rPr lang="en-GB" altLang="en-US" sz="1000" i="1" dirty="0">
                <a:latin typeface="Times New Roman" panose="02020603050405020304" pitchFamily="18" charset="0"/>
                <a:cs typeface="Times New Roman" panose="02020603050405020304" pitchFamily="18" charset="0"/>
              </a:rPr>
              <a:t>v</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x </a:t>
            </a:r>
            <a:r>
              <a:rPr lang="en-GB" altLang="en-US" sz="1000" dirty="0">
                <a:latin typeface="Times New Roman" panose="02020603050405020304" pitchFamily="18" charset="0"/>
                <a:cs typeface="Times New Roman" panose="02020603050405020304" pitchFamily="18" charset="0"/>
              </a:rPr>
              <a:t>] / [</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 = (∂</a:t>
            </a:r>
            <a:r>
              <a:rPr lang="en-GB" altLang="en-US" sz="1000" i="1" dirty="0">
                <a:latin typeface="Times New Roman" panose="02020603050405020304" pitchFamily="18" charset="0"/>
                <a:cs typeface="Times New Roman" panose="02020603050405020304" pitchFamily="18" charset="0"/>
              </a:rPr>
              <a:t>v</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 where the approximation applies provided that  (∂</a:t>
            </a:r>
            <a:r>
              <a:rPr lang="en-GB" altLang="en-US" sz="1000" i="1" dirty="0">
                <a:latin typeface="Times New Roman" panose="02020603050405020304" pitchFamily="18" charset="0"/>
                <a:cs typeface="Times New Roman" panose="02020603050405020304" pitchFamily="18" charset="0"/>
              </a:rPr>
              <a:t>u</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 &lt;&lt; 1 so that </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sym typeface="Symbol" panose="05050102010706020507" pitchFamily="18" charset="2"/>
              </a:rPr>
              <a:t>x</a:t>
            </a:r>
            <a:r>
              <a:rPr lang="en-GB" altLang="en-US" sz="1000" dirty="0">
                <a:latin typeface="Times New Roman" panose="02020603050405020304" pitchFamily="18" charset="0"/>
                <a:cs typeface="Times New Roman" panose="02020603050405020304" pitchFamily="18" charset="0"/>
              </a:rPr>
              <a:t> &gt;&gt; (∂</a:t>
            </a:r>
            <a:r>
              <a:rPr lang="en-GB" altLang="en-US" sz="1000" i="1" dirty="0">
                <a:latin typeface="Times New Roman" panose="02020603050405020304" pitchFamily="18" charset="0"/>
                <a:cs typeface="Times New Roman" panose="02020603050405020304" pitchFamily="18" charset="0"/>
              </a:rPr>
              <a:t>u</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a:t>
            </a:r>
            <a:r>
              <a:rPr lang="en-GB" altLang="en-US" sz="1000" i="1" spc="100" baseline="0" dirty="0">
                <a:latin typeface="Times New Roman" panose="020206030504050203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sym typeface="Symbol" panose="05050102010706020507" pitchFamily="18" charset="2"/>
              </a:rPr>
              <a:t>x</a:t>
            </a:r>
            <a:endParaRPr lang="en-GB" altLang="en-US" sz="1000" dirty="0">
              <a:latin typeface="Times New Roman" panose="02020603050405020304" pitchFamily="18" charset="0"/>
              <a:cs typeface="Times New Roman" panose="02020603050405020304" pitchFamily="18" charset="0"/>
            </a:endParaRPr>
          </a:p>
          <a:p>
            <a:pPr marL="108000" indent="0">
              <a:spcBef>
                <a:spcPts val="300"/>
              </a:spcBef>
              <a:buFont typeface="Arial" panose="020B0604020202020204" pitchFamily="34" charset="0"/>
              <a:buNone/>
            </a:pPr>
            <a:r>
              <a:rPr lang="en-GB" altLang="en-US" sz="1000" dirty="0">
                <a:latin typeface="Times New Roman" panose="02020603050405020304" pitchFamily="18" charset="0"/>
                <a:cs typeface="Times New Roman" panose="02020603050405020304" pitchFamily="18" charset="0"/>
              </a:rPr>
              <a:t>Hence</a:t>
            </a:r>
          </a:p>
          <a:p>
            <a:pPr marL="108000" indent="0">
              <a:spcBef>
                <a:spcPts val="300"/>
              </a:spcBef>
              <a:buFont typeface="Arial" panose="020B0604020202020204" pitchFamily="34" charset="0"/>
              <a:buNone/>
            </a:pPr>
            <a:r>
              <a:rPr lang="en-GB" altLang="en-US" sz="1000" dirty="0">
                <a:latin typeface="Times New Roman" panose="02020603050405020304" pitchFamily="18" charset="0"/>
                <a:cs typeface="Times New Roman" panose="02020603050405020304" pitchFamily="18" charset="0"/>
              </a:rPr>
              <a:t>	½ [(∂</a:t>
            </a:r>
            <a:r>
              <a:rPr lang="en-GB" altLang="en-US" sz="1000" i="1" dirty="0">
                <a:latin typeface="Times New Roman" panose="02020603050405020304" pitchFamily="18" charset="0"/>
                <a:cs typeface="Times New Roman" panose="02020603050405020304" pitchFamily="18" charset="0"/>
              </a:rPr>
              <a:t>u</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y</a:t>
            </a:r>
            <a:r>
              <a:rPr lang="en-GB" altLang="en-US" sz="1000" dirty="0">
                <a:latin typeface="Times New Roman" panose="02020603050405020304" pitchFamily="18" charset="0"/>
                <a:cs typeface="Times New Roman" panose="02020603050405020304" pitchFamily="18" charset="0"/>
              </a:rPr>
              <a:t>) + (∂</a:t>
            </a:r>
            <a:r>
              <a:rPr lang="en-GB" altLang="en-US" sz="1000" i="1" dirty="0">
                <a:latin typeface="Times New Roman" panose="02020603050405020304" pitchFamily="18" charset="0"/>
                <a:cs typeface="Times New Roman" panose="02020603050405020304" pitchFamily="18" charset="0"/>
              </a:rPr>
              <a:t>v</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x</a:t>
            </a:r>
            <a:r>
              <a:rPr lang="en-GB" altLang="en-US" sz="1000" dirty="0">
                <a:latin typeface="Times New Roman" panose="02020603050405020304" pitchFamily="18" charset="0"/>
                <a:cs typeface="Times New Roman" panose="02020603050405020304" pitchFamily="18" charset="0"/>
              </a:rPr>
              <a:t>)]  =  ½ [tan </a:t>
            </a:r>
            <a:r>
              <a:rPr lang="el-GR" altLang="en-US" sz="1000" i="1" dirty="0">
                <a:latin typeface="Times New Roman" panose="02020603050405020304" pitchFamily="18" charset="0"/>
                <a:cs typeface="Times New Roman" panose="02020603050405020304" pitchFamily="18" charset="0"/>
              </a:rPr>
              <a:t>α</a:t>
            </a:r>
            <a:r>
              <a:rPr lang="en-GB" altLang="en-US" sz="1000" dirty="0">
                <a:latin typeface="Times New Roman" panose="02020603050405020304" pitchFamily="18" charset="0"/>
                <a:cs typeface="Times New Roman" panose="02020603050405020304" pitchFamily="18" charset="0"/>
              </a:rPr>
              <a:t> + tan </a:t>
            </a:r>
            <a:r>
              <a:rPr lang="el-GR" altLang="en-US" sz="1000" i="1" dirty="0">
                <a:latin typeface="Times New Roman" panose="02020603050405020304" pitchFamily="18" charset="0"/>
                <a:cs typeface="Times New Roman" panose="02020603050405020304" pitchFamily="18" charset="0"/>
              </a:rPr>
              <a:t>β</a:t>
            </a:r>
            <a:r>
              <a:rPr lang="en-GB" altLang="en-US" sz="1000" i="1" dirty="0">
                <a:latin typeface="Times New Roman" panose="02020603050405020304" pitchFamily="18" charset="0"/>
                <a:cs typeface="Times New Roman" panose="02020603050405020304" pitchFamily="18" charset="0"/>
              </a:rPr>
              <a:t> </a:t>
            </a:r>
            <a:r>
              <a:rPr lang="en-GB" altLang="en-US" sz="1000" dirty="0">
                <a:latin typeface="Times New Roman" panose="02020603050405020304" pitchFamily="18" charset="0"/>
                <a:cs typeface="Times New Roman" panose="02020603050405020304" pitchFamily="18" charset="0"/>
              </a:rPr>
              <a:t>]</a:t>
            </a:r>
          </a:p>
          <a:p>
            <a:pPr marL="108000" indent="0">
              <a:spcBef>
                <a:spcPts val="300"/>
              </a:spcBef>
              <a:buFont typeface="Arial" panose="020B0604020202020204" pitchFamily="34" charset="0"/>
              <a:buNone/>
            </a:pPr>
            <a:r>
              <a:rPr lang="en-GB" altLang="en-US" sz="1000" dirty="0">
                <a:latin typeface="Times New Roman" panose="02020603050405020304" pitchFamily="18" charset="0"/>
                <a:cs typeface="Times New Roman" panose="02020603050405020304" pitchFamily="18" charset="0"/>
              </a:rPr>
              <a:t>Also</a:t>
            </a:r>
          </a:p>
          <a:p>
            <a:pPr marL="108000" indent="0">
              <a:spcBef>
                <a:spcPts val="300"/>
              </a:spcBef>
              <a:buFont typeface="Arial" panose="020B0604020202020204" pitchFamily="34" charset="0"/>
              <a:buNone/>
            </a:pPr>
            <a:r>
              <a:rPr lang="en-GB" altLang="en-US" sz="1000" dirty="0">
                <a:latin typeface="Times New Roman" panose="02020603050405020304" pitchFamily="18" charset="0"/>
                <a:cs typeface="Times New Roman" panose="02020603050405020304" pitchFamily="18" charset="0"/>
              </a:rPr>
              <a:t>	tan </a:t>
            </a:r>
            <a:r>
              <a:rPr lang="el-GR" altLang="en-US" sz="1000" i="1" dirty="0">
                <a:latin typeface="Times New Roman" panose="02020603050405020304" pitchFamily="18" charset="0"/>
                <a:cs typeface="Times New Roman" panose="02020603050405020304" pitchFamily="18" charset="0"/>
              </a:rPr>
              <a:t>α</a:t>
            </a:r>
            <a:r>
              <a:rPr lang="en-GB" altLang="en-US" sz="1000" dirty="0">
                <a:latin typeface="Times New Roman" panose="02020603050405020304" pitchFamily="18" charset="0"/>
                <a:cs typeface="Times New Roman" panose="02020603050405020304" pitchFamily="18" charset="0"/>
              </a:rPr>
              <a:t> + tan </a:t>
            </a:r>
            <a:r>
              <a:rPr lang="el-GR" altLang="en-US" sz="1000" i="1" dirty="0">
                <a:latin typeface="Times New Roman" panose="02020603050405020304" pitchFamily="18" charset="0"/>
                <a:cs typeface="Times New Roman" panose="02020603050405020304" pitchFamily="18" charset="0"/>
              </a:rPr>
              <a:t>β</a:t>
            </a:r>
            <a:r>
              <a:rPr lang="en-GB" altLang="en-US" sz="1000" dirty="0">
                <a:latin typeface="Times New Roman" panose="02020603050405020304" pitchFamily="18" charset="0"/>
                <a:cs typeface="Times New Roman" panose="02020603050405020304" pitchFamily="18" charset="0"/>
              </a:rPr>
              <a:t>  ≈  tan (</a:t>
            </a:r>
            <a:r>
              <a:rPr lang="el-GR" altLang="en-US" sz="1000" i="1" dirty="0">
                <a:latin typeface="Times New Roman" panose="02020603050405020304" pitchFamily="18" charset="0"/>
                <a:cs typeface="Times New Roman" panose="02020603050405020304" pitchFamily="18" charset="0"/>
              </a:rPr>
              <a:t>α</a:t>
            </a:r>
            <a:r>
              <a:rPr lang="en-GB" altLang="en-US" sz="1000" dirty="0">
                <a:latin typeface="Times New Roman" panose="02020603050405020304" pitchFamily="18" charset="0"/>
                <a:cs typeface="Times New Roman" panose="02020603050405020304" pitchFamily="18" charset="0"/>
              </a:rPr>
              <a:t>+</a:t>
            </a:r>
            <a:r>
              <a:rPr lang="el-GR" altLang="en-US" sz="1000" i="1" dirty="0">
                <a:latin typeface="Times New Roman" panose="02020603050405020304" pitchFamily="18" charset="0"/>
                <a:cs typeface="Times New Roman" panose="02020603050405020304" pitchFamily="18" charset="0"/>
              </a:rPr>
              <a:t>β</a:t>
            </a:r>
            <a:r>
              <a:rPr lang="en-GB" altLang="en-US" sz="1000" i="1" dirty="0">
                <a:latin typeface="Times New Roman" panose="02020603050405020304" pitchFamily="18" charset="0"/>
                <a:cs typeface="Times New Roman" panose="02020603050405020304" pitchFamily="18" charset="0"/>
              </a:rPr>
              <a:t> </a:t>
            </a:r>
            <a:r>
              <a:rPr lang="en-GB" altLang="en-US" sz="1000" dirty="0">
                <a:latin typeface="Times New Roman" panose="02020603050405020304" pitchFamily="18" charset="0"/>
                <a:cs typeface="Times New Roman" panose="02020603050405020304" pitchFamily="18" charset="0"/>
              </a:rPr>
              <a:t>)  provided </a:t>
            </a:r>
            <a:r>
              <a:rPr lang="el-GR" altLang="en-US" sz="1000" i="1" dirty="0">
                <a:latin typeface="Times New Roman" panose="02020603050405020304" pitchFamily="18" charset="0"/>
                <a:cs typeface="Times New Roman" panose="02020603050405020304" pitchFamily="18" charset="0"/>
              </a:rPr>
              <a:t>α</a:t>
            </a:r>
            <a:r>
              <a:rPr lang="en-GB" altLang="en-US" sz="1000" dirty="0">
                <a:latin typeface="Times New Roman" panose="02020603050405020304" pitchFamily="18" charset="0"/>
                <a:cs typeface="Times New Roman" panose="02020603050405020304" pitchFamily="18" charset="0"/>
              </a:rPr>
              <a:t> and </a:t>
            </a:r>
            <a:r>
              <a:rPr lang="el-GR" altLang="en-US" sz="1000" i="1" dirty="0">
                <a:latin typeface="Times New Roman" panose="02020603050405020304" pitchFamily="18" charset="0"/>
                <a:cs typeface="Times New Roman" panose="02020603050405020304" pitchFamily="18" charset="0"/>
              </a:rPr>
              <a:t>β</a:t>
            </a:r>
            <a:r>
              <a:rPr lang="en-GB" altLang="en-US" sz="1000" dirty="0">
                <a:latin typeface="Times New Roman" panose="02020603050405020304" pitchFamily="18" charset="0"/>
                <a:cs typeface="Times New Roman" panose="02020603050405020304" pitchFamily="18" charset="0"/>
              </a:rPr>
              <a:t> are small</a:t>
            </a:r>
          </a:p>
          <a:p>
            <a:pPr marL="108000" indent="0">
              <a:spcBef>
                <a:spcPts val="300"/>
              </a:spcBef>
              <a:buFont typeface="Arial" panose="020B0604020202020204" pitchFamily="34" charset="0"/>
              <a:buNone/>
            </a:pPr>
            <a:r>
              <a:rPr lang="en-GB" altLang="en-US" sz="1000" dirty="0">
                <a:latin typeface="Times New Roman" panose="02020603050405020304" pitchFamily="18" charset="0"/>
                <a:cs typeface="Times New Roman" panose="02020603050405020304" pitchFamily="18" charset="0"/>
              </a:rPr>
              <a:t>Hence</a:t>
            </a:r>
          </a:p>
          <a:p>
            <a:pPr marL="108000" indent="0">
              <a:spcBef>
                <a:spcPts val="300"/>
              </a:spcBef>
              <a:buFont typeface="Arial" panose="020B0604020202020204" pitchFamily="34" charset="0"/>
              <a:buNone/>
            </a:pPr>
            <a:r>
              <a:rPr lang="en-GB" altLang="en-US" sz="1000" dirty="0">
                <a:latin typeface="Times New Roman" panose="02020603050405020304" pitchFamily="18" charset="0"/>
                <a:cs typeface="Times New Roman" panose="02020603050405020304" pitchFamily="18" charset="0"/>
              </a:rPr>
              <a:t>	½ [tan </a:t>
            </a:r>
            <a:r>
              <a:rPr lang="el-GR" altLang="en-US" sz="1000" i="1" dirty="0">
                <a:latin typeface="Times New Roman" panose="02020603050405020304" pitchFamily="18" charset="0"/>
                <a:cs typeface="Times New Roman" panose="02020603050405020304" pitchFamily="18" charset="0"/>
              </a:rPr>
              <a:t>α</a:t>
            </a:r>
            <a:r>
              <a:rPr lang="en-GB" altLang="en-US" sz="1000" dirty="0">
                <a:latin typeface="Times New Roman" panose="02020603050405020304" pitchFamily="18" charset="0"/>
                <a:cs typeface="Times New Roman" panose="02020603050405020304" pitchFamily="18" charset="0"/>
              </a:rPr>
              <a:t> + tan </a:t>
            </a:r>
            <a:r>
              <a:rPr lang="el-GR" altLang="en-US" sz="1000" i="1" dirty="0">
                <a:latin typeface="Times New Roman" panose="02020603050405020304" pitchFamily="18" charset="0"/>
                <a:cs typeface="Times New Roman" panose="02020603050405020304" pitchFamily="18" charset="0"/>
              </a:rPr>
              <a:t>β</a:t>
            </a:r>
            <a:r>
              <a:rPr lang="en-GB" altLang="en-US" sz="1000" i="1" dirty="0">
                <a:latin typeface="Times New Roman" panose="02020603050405020304" pitchFamily="18" charset="0"/>
                <a:cs typeface="Times New Roman" panose="02020603050405020304" pitchFamily="18" charset="0"/>
              </a:rPr>
              <a:t> </a:t>
            </a:r>
            <a:r>
              <a:rPr lang="en-GB" altLang="en-US" sz="1000" dirty="0">
                <a:latin typeface="Times New Roman" panose="02020603050405020304" pitchFamily="18" charset="0"/>
                <a:cs typeface="Times New Roman" panose="02020603050405020304" pitchFamily="18" charset="0"/>
              </a:rPr>
              <a:t>]   ≈   ½ tan (</a:t>
            </a:r>
            <a:r>
              <a:rPr lang="el-GR" altLang="en-US" sz="1000" i="1" dirty="0">
                <a:latin typeface="Times New Roman" panose="02020603050405020304" pitchFamily="18" charset="0"/>
                <a:cs typeface="Times New Roman" panose="02020603050405020304" pitchFamily="18" charset="0"/>
              </a:rPr>
              <a:t>α</a:t>
            </a:r>
            <a:r>
              <a:rPr lang="en-GB" altLang="en-US" sz="1000" dirty="0">
                <a:latin typeface="Times New Roman" panose="02020603050405020304" pitchFamily="18" charset="0"/>
                <a:cs typeface="Times New Roman" panose="02020603050405020304" pitchFamily="18" charset="0"/>
              </a:rPr>
              <a:t>+</a:t>
            </a:r>
            <a:r>
              <a:rPr lang="el-GR" altLang="en-US" sz="1000" i="1" dirty="0">
                <a:latin typeface="Times New Roman" panose="02020603050405020304" pitchFamily="18" charset="0"/>
                <a:cs typeface="Times New Roman" panose="02020603050405020304" pitchFamily="18" charset="0"/>
              </a:rPr>
              <a:t>β</a:t>
            </a:r>
            <a:r>
              <a:rPr lang="en-GB" altLang="en-US" sz="1000" i="1" dirty="0">
                <a:latin typeface="Times New Roman" panose="02020603050405020304" pitchFamily="18" charset="0"/>
                <a:cs typeface="Times New Roman" panose="02020603050405020304" pitchFamily="18" charset="0"/>
              </a:rPr>
              <a:t> </a:t>
            </a:r>
            <a:r>
              <a:rPr lang="en-GB" altLang="en-US" sz="1000" dirty="0">
                <a:latin typeface="Times New Roman" panose="02020603050405020304" pitchFamily="18" charset="0"/>
                <a:cs typeface="Times New Roman" panose="02020603050405020304" pitchFamily="18" charset="0"/>
              </a:rPr>
              <a:t>)</a:t>
            </a:r>
          </a:p>
          <a:p>
            <a:pPr marL="108000" indent="0">
              <a:spcBef>
                <a:spcPts val="300"/>
              </a:spcBef>
              <a:buFont typeface="Arial" panose="020B0604020202020204" pitchFamily="34" charset="0"/>
              <a:buNone/>
            </a:pPr>
            <a:r>
              <a:rPr lang="en-GB" altLang="en-US" sz="1000" dirty="0">
                <a:latin typeface="Times New Roman" panose="02020603050405020304" pitchFamily="18" charset="0"/>
                <a:cs typeface="Times New Roman" panose="02020603050405020304" pitchFamily="18" charset="0"/>
              </a:rPr>
              <a:t>½ tan (</a:t>
            </a:r>
            <a:r>
              <a:rPr lang="el-GR" altLang="en-US" sz="1000" i="1" dirty="0">
                <a:latin typeface="Times New Roman" panose="02020603050405020304" pitchFamily="18" charset="0"/>
                <a:cs typeface="Times New Roman" panose="02020603050405020304" pitchFamily="18" charset="0"/>
              </a:rPr>
              <a:t>α</a:t>
            </a:r>
            <a:r>
              <a:rPr lang="en-GB" altLang="en-US" sz="1000" dirty="0">
                <a:latin typeface="Times New Roman" panose="02020603050405020304" pitchFamily="18" charset="0"/>
                <a:cs typeface="Times New Roman" panose="02020603050405020304" pitchFamily="18" charset="0"/>
              </a:rPr>
              <a:t>+</a:t>
            </a:r>
            <a:r>
              <a:rPr lang="el-GR" altLang="en-US" sz="1000" i="1" dirty="0">
                <a:latin typeface="Times New Roman" panose="02020603050405020304" pitchFamily="18" charset="0"/>
                <a:cs typeface="Times New Roman" panose="02020603050405020304" pitchFamily="18" charset="0"/>
              </a:rPr>
              <a:t>β</a:t>
            </a:r>
            <a:r>
              <a:rPr lang="en-GB" altLang="en-US" sz="1000" i="1" dirty="0">
                <a:latin typeface="Times New Roman" panose="02020603050405020304" pitchFamily="18" charset="0"/>
                <a:cs typeface="Times New Roman" panose="02020603050405020304" pitchFamily="18" charset="0"/>
              </a:rPr>
              <a:t> </a:t>
            </a:r>
            <a:r>
              <a:rPr lang="en-GB" altLang="en-US" sz="1000" dirty="0">
                <a:latin typeface="Times New Roman" panose="02020603050405020304" pitchFamily="18" charset="0"/>
                <a:cs typeface="Times New Roman" panose="02020603050405020304" pitchFamily="18" charset="0"/>
              </a:rPr>
              <a:t>) is half the change in angle between two lines that were originally orthogonal, and so it equals half the engineering shear strain</a:t>
            </a:r>
          </a:p>
          <a:p>
            <a:pPr marL="10800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a:extLst>
              <a:ext uri="{FF2B5EF4-FFF2-40B4-BE49-F238E27FC236}">
                <a16:creationId xmlns:a16="http://schemas.microsoft.com/office/drawing/2014/main" id="{F231B6C7-8D88-4BC2-8C39-6863FCF3DC50}"/>
              </a:ext>
            </a:extLst>
          </p:cNvPr>
          <p:cNvSpPr>
            <a:spLocks noGrp="1" noRot="1" noChangeAspect="1" noChangeArrowheads="1" noTextEdit="1"/>
          </p:cNvSpPr>
          <p:nvPr>
            <p:ph type="sldImg"/>
          </p:nvPr>
        </p:nvSpPr>
        <p:spPr>
          <a:ln/>
        </p:spPr>
      </p:sp>
      <p:sp>
        <p:nvSpPr>
          <p:cNvPr id="365571" name="Rectangle 3">
            <a:extLst>
              <a:ext uri="{FF2B5EF4-FFF2-40B4-BE49-F238E27FC236}">
                <a16:creationId xmlns:a16="http://schemas.microsoft.com/office/drawing/2014/main" id="{003E95FB-65D1-45D6-8888-670D6C6D999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Scalars (</a:t>
            </a:r>
            <a:r>
              <a:rPr lang="en-GB" altLang="en-US" sz="1000" i="1" dirty="0"/>
              <a:t>i.e.</a:t>
            </a:r>
            <a:r>
              <a:rPr lang="en-GB" altLang="en-US" sz="1000" i="0" dirty="0"/>
              <a:t>, physical quantities with magnitude only, </a:t>
            </a:r>
            <a:r>
              <a:rPr lang="en-GB" altLang="en-US" sz="1000" i="1" dirty="0"/>
              <a:t>e.g.</a:t>
            </a:r>
            <a:r>
              <a:rPr lang="en-GB" altLang="en-US" sz="1000" dirty="0"/>
              <a:t>,</a:t>
            </a:r>
            <a:r>
              <a:rPr lang="en-GB" altLang="en-US" sz="1000" i="1" dirty="0"/>
              <a:t> </a:t>
            </a:r>
            <a:r>
              <a:rPr lang="en-GB" altLang="en-US" sz="1000" dirty="0"/>
              <a:t>temperature) are 0th rank tensors since they require 3</a:t>
            </a:r>
            <a:r>
              <a:rPr lang="en-GB" altLang="en-US" sz="1000" baseline="30000" dirty="0"/>
              <a:t>0</a:t>
            </a:r>
            <a:r>
              <a:rPr lang="en-GB" altLang="en-US" sz="1000" dirty="0"/>
              <a:t> = 1 term to specify them; vectors (</a:t>
            </a:r>
            <a:r>
              <a:rPr lang="en-GB" altLang="en-US" sz="1000" i="1" dirty="0"/>
              <a:t>i.e.</a:t>
            </a:r>
            <a:r>
              <a:rPr lang="en-GB" altLang="en-US" sz="1000" i="0" dirty="0"/>
              <a:t>, physical quantities with magnitude and direction, </a:t>
            </a:r>
            <a:r>
              <a:rPr lang="en-GB" altLang="en-US" sz="1000" i="1" dirty="0"/>
              <a:t>e.g</a:t>
            </a:r>
            <a:r>
              <a:rPr lang="en-GB" altLang="en-US" sz="1000" dirty="0"/>
              <a:t>., force) are 1</a:t>
            </a:r>
            <a:r>
              <a:rPr lang="en-GB" altLang="en-US" sz="1000" baseline="30000" dirty="0"/>
              <a:t>st</a:t>
            </a:r>
            <a:r>
              <a:rPr lang="en-GB" altLang="en-US" sz="1000" dirty="0"/>
              <a:t> rank tensors since they require 3</a:t>
            </a:r>
            <a:r>
              <a:rPr lang="en-GB" altLang="en-US" sz="1000" baseline="30000" dirty="0"/>
              <a:t>1</a:t>
            </a:r>
            <a:r>
              <a:rPr lang="en-GB" altLang="en-US" sz="1000" dirty="0"/>
              <a:t> = 3 terms to specify them. Quantities like strain that relate two vectors (for strain that is the displacement vector and the position vector) are 2</a:t>
            </a:r>
            <a:r>
              <a:rPr lang="en-GB" altLang="en-US" sz="1000" baseline="30000" dirty="0"/>
              <a:t>nd</a:t>
            </a:r>
            <a:r>
              <a:rPr lang="en-GB" altLang="en-US" sz="1000" dirty="0"/>
              <a:t> rank tensors and require 3</a:t>
            </a:r>
            <a:r>
              <a:rPr lang="en-GB" altLang="en-US" sz="1000" baseline="30000" dirty="0"/>
              <a:t>2</a:t>
            </a:r>
            <a:r>
              <a:rPr lang="en-GB" altLang="en-US" sz="1000" dirty="0"/>
              <a:t> = 9 terms to specify them. Another 2</a:t>
            </a:r>
            <a:r>
              <a:rPr lang="en-GB" altLang="en-US" sz="1000" baseline="30000" dirty="0"/>
              <a:t>nd</a:t>
            </a:r>
            <a:r>
              <a:rPr lang="en-GB" altLang="en-US" sz="1000" dirty="0"/>
              <a:t> rank tensor that we will meet in Class 5 is stress (this relates force and the vector describing the size and orientation of the area over which it is acting). Quantities that relate a vector and a 2</a:t>
            </a:r>
            <a:r>
              <a:rPr lang="en-GB" altLang="en-US" sz="1000" baseline="30000" dirty="0"/>
              <a:t>nd</a:t>
            </a:r>
            <a:r>
              <a:rPr lang="en-GB" altLang="en-US" sz="1000" dirty="0"/>
              <a:t> rank tensor </a:t>
            </a:r>
            <a:r>
              <a:rPr lang="en-GB" altLang="en-US" sz="1000" i="1" dirty="0"/>
              <a:t>(e.g</a:t>
            </a:r>
            <a:r>
              <a:rPr lang="en-GB" altLang="en-US" sz="1000" dirty="0"/>
              <a:t>., piezoelectricity which relates stress and the electric dipole moment (polarization) vector or conversely, strain and electric field) are 3</a:t>
            </a:r>
            <a:r>
              <a:rPr lang="en-GB" altLang="en-US" sz="1000" baseline="30000" dirty="0"/>
              <a:t>rd</a:t>
            </a:r>
            <a:r>
              <a:rPr lang="en-GB" altLang="en-US" sz="1000" dirty="0"/>
              <a:t> rank tensors requiring 3</a:t>
            </a:r>
            <a:r>
              <a:rPr lang="en-GB" altLang="en-US" sz="1000" baseline="30000" dirty="0"/>
              <a:t>3</a:t>
            </a:r>
            <a:r>
              <a:rPr lang="en-GB" altLang="en-US" sz="1000" dirty="0"/>
              <a:t> = 27 terms to specify them, while quantities that relate two 2</a:t>
            </a:r>
            <a:r>
              <a:rPr lang="en-GB" altLang="en-US" sz="1000" baseline="30000" dirty="0"/>
              <a:t>nd</a:t>
            </a:r>
            <a:r>
              <a:rPr lang="en-GB" altLang="en-US" sz="1000" dirty="0"/>
              <a:t> rank tensors </a:t>
            </a:r>
            <a:r>
              <a:rPr lang="en-GB" altLang="en-US" sz="1000" i="1" dirty="0"/>
              <a:t>(e.g</a:t>
            </a:r>
            <a:r>
              <a:rPr lang="en-GB" altLang="en-US" sz="1000" dirty="0"/>
              <a:t>., elasticity, which relates stress and strain) are 4</a:t>
            </a:r>
            <a:r>
              <a:rPr lang="en-GB" altLang="en-US" sz="1000" baseline="30000" dirty="0"/>
              <a:t>th</a:t>
            </a:r>
            <a:r>
              <a:rPr lang="en-GB" altLang="en-US" sz="1000" dirty="0"/>
              <a:t> rank tensors requiring 3</a:t>
            </a:r>
            <a:r>
              <a:rPr lang="en-GB" altLang="en-US" sz="1000" baseline="30000" dirty="0"/>
              <a:t>4</a:t>
            </a:r>
            <a:r>
              <a:rPr lang="en-GB" altLang="en-US" sz="1000" dirty="0"/>
              <a:t> = 81 terms to specify them. In each case, in order to be a tensor, the components of the tensor must change as the orientation of the coordinate frame used to specify them is rotated, in a way that obeys a particular equation defined for tensors of its rank</a:t>
            </a:r>
          </a:p>
          <a:p>
            <a:pPr marL="108000" indent="-108000">
              <a:spcBef>
                <a:spcPts val="300"/>
              </a:spcBef>
              <a:buFont typeface="Arial" panose="020B0604020202020204" pitchFamily="34" charset="0"/>
              <a:buChar char="•"/>
            </a:pPr>
            <a:r>
              <a:rPr lang="en-GB" altLang="en-US" sz="1000" dirty="0"/>
              <a:t>Note that given the state of strain at a point in one coordinate frame, the state of strain in a coordinate frame of different orientation may be calculated using the 2</a:t>
            </a:r>
            <a:r>
              <a:rPr lang="en-GB" altLang="en-US" sz="1000" baseline="30000" dirty="0"/>
              <a:t>nd</a:t>
            </a:r>
            <a:r>
              <a:rPr lang="en-GB" altLang="en-US" sz="1000" dirty="0"/>
              <a:t> rank tensor transformation equation</a:t>
            </a:r>
          </a:p>
          <a:p>
            <a:pPr marL="108000" indent="-108000">
              <a:spcBef>
                <a:spcPts val="300"/>
              </a:spcBef>
              <a:buFont typeface="Arial" panose="020B0604020202020204" pitchFamily="34" charset="0"/>
              <a:buChar char="•"/>
            </a:pPr>
            <a:r>
              <a:rPr lang="en-GB" altLang="en-US" sz="1000" dirty="0"/>
              <a:t>The classic text describing tensors is Nye, 1985, </a:t>
            </a:r>
            <a:r>
              <a:rPr lang="en-GB" altLang="en-US" sz="1000" i="1" dirty="0"/>
              <a:t>Physical Properties of Crystals: Their Representation by Tensors and Matrices</a:t>
            </a:r>
            <a:r>
              <a:rPr lang="en-GB" altLang="en-US" sz="1000" dirty="0"/>
              <a:t> (paperback edition), Oxford University Press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a:extLst>
              <a:ext uri="{FF2B5EF4-FFF2-40B4-BE49-F238E27FC236}">
                <a16:creationId xmlns:a16="http://schemas.microsoft.com/office/drawing/2014/main" id="{94B8B323-9728-47D5-97BB-AA4694F078D7}"/>
              </a:ext>
            </a:extLst>
          </p:cNvPr>
          <p:cNvSpPr>
            <a:spLocks noGrp="1" noRot="1" noChangeAspect="1" noChangeArrowheads="1" noTextEdit="1"/>
          </p:cNvSpPr>
          <p:nvPr>
            <p:ph type="sldImg"/>
          </p:nvPr>
        </p:nvSpPr>
        <p:spPr>
          <a:ln/>
        </p:spPr>
      </p:sp>
      <p:sp>
        <p:nvSpPr>
          <p:cNvPr id="368643" name="Rectangle 3">
            <a:extLst>
              <a:ext uri="{FF2B5EF4-FFF2-40B4-BE49-F238E27FC236}">
                <a16:creationId xmlns:a16="http://schemas.microsoft.com/office/drawing/2014/main" id="{9C492A2A-8751-4FA6-828F-9BF03E760D8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dashed circle (omitted from the right-hand figure) is the undeformed circle, and it has a radius of 1; the ellipse is what that circle turns into after deformation. We could think about this in an alternative way – the ellipse describes how the value of </a:t>
            </a:r>
            <a:r>
              <a:rPr lang="en-GB" altLang="en-US" sz="1000" spc="100" baseline="0" dirty="0"/>
              <a:t>(</a:t>
            </a:r>
            <a:r>
              <a:rPr lang="en-GB" altLang="en-US" sz="1000" dirty="0"/>
              <a:t>1+</a:t>
            </a:r>
            <a:r>
              <a:rPr lang="en-GB" altLang="en-US" sz="1000" i="1" dirty="0"/>
              <a:t>e</a:t>
            </a:r>
            <a:r>
              <a:rPr lang="en-GB" altLang="en-US" sz="1000" i="1" baseline="-25000" dirty="0"/>
              <a:t>x</a:t>
            </a:r>
            <a:r>
              <a:rPr lang="en-GB" altLang="en-US" sz="1000" i="1" spc="150" baseline="-25000" dirty="0"/>
              <a:t>x</a:t>
            </a:r>
            <a:r>
              <a:rPr lang="en-GB" altLang="en-US" sz="1000" dirty="0"/>
              <a:t>)</a:t>
            </a:r>
            <a:r>
              <a:rPr lang="en-GB" altLang="en-US" sz="1000" i="1" dirty="0"/>
              <a:t> </a:t>
            </a:r>
            <a:r>
              <a:rPr lang="en-GB" altLang="en-US" sz="1000" dirty="0"/>
              <a:t>changes as the coordinate frame is rotated</a:t>
            </a:r>
          </a:p>
          <a:p>
            <a:pPr marL="108000" indent="-108000">
              <a:spcBef>
                <a:spcPts val="300"/>
              </a:spcBef>
              <a:buFont typeface="Arial" panose="020B0604020202020204" pitchFamily="34" charset="0"/>
              <a:buChar char="•"/>
            </a:pPr>
            <a:r>
              <a:rPr lang="en-GB" altLang="en-US" sz="1000" b="1" dirty="0"/>
              <a:t>Note the spelling of ‘principal’</a:t>
            </a:r>
            <a:r>
              <a:rPr lang="en-GB" altLang="en-US" sz="1000" dirty="0"/>
              <a:t>. </a:t>
            </a:r>
          </a:p>
          <a:p>
            <a:pPr marL="108000" indent="-108000">
              <a:spcBef>
                <a:spcPts val="300"/>
              </a:spcBef>
              <a:buFont typeface="Arial" panose="020B0604020202020204" pitchFamily="34" charset="0"/>
              <a:buChar char="•"/>
            </a:pPr>
            <a:r>
              <a:rPr lang="en-GB" altLang="en-US" sz="1000" dirty="0"/>
              <a:t>If the </a:t>
            </a:r>
            <a:r>
              <a:rPr lang="en-GB" altLang="en-US" sz="1000" spc="150" baseline="0" dirty="0"/>
              <a:t>(</a:t>
            </a:r>
            <a:r>
              <a:rPr lang="en-GB" altLang="en-US" sz="1000" i="1" spc="150" baseline="0" dirty="0" err="1"/>
              <a:t>x</a:t>
            </a:r>
            <a:r>
              <a:rPr lang="en-GB" altLang="en-US" sz="1000" spc="150" baseline="0" dirty="0" err="1"/>
              <a:t>,</a:t>
            </a:r>
            <a:r>
              <a:rPr lang="en-GB" altLang="en-US" sz="1000" i="1" spc="150" baseline="0" dirty="0" err="1"/>
              <a:t>y</a:t>
            </a:r>
            <a:r>
              <a:rPr lang="en-GB" altLang="en-US" sz="1000" dirty="0"/>
              <a:t>) coordinate frame is aligned with the principal strains (the axes of the ellipse) then all the off-diagonal terms in the strain matrix are zero (the shear strains are zero) and the values of terms on the leading diagonal of the matrix are </a:t>
            </a:r>
            <a:r>
              <a:rPr lang="en-GB" altLang="en-US" sz="1000" i="1" dirty="0"/>
              <a:t>e</a:t>
            </a:r>
            <a:r>
              <a:rPr lang="en-GB" altLang="en-US" sz="1000" baseline="-25000" dirty="0"/>
              <a:t>1</a:t>
            </a:r>
            <a:r>
              <a:rPr lang="en-GB" altLang="en-US" sz="1000" dirty="0"/>
              <a:t> and </a:t>
            </a:r>
            <a:r>
              <a:rPr lang="en-GB" altLang="en-US" sz="1000" i="1" dirty="0"/>
              <a:t>e</a:t>
            </a:r>
            <a:r>
              <a:rPr lang="en-GB" altLang="en-US" sz="1000" baseline="-25000" dirty="0"/>
              <a:t>2</a:t>
            </a:r>
            <a:r>
              <a:rPr lang="en-GB" altLang="en-US" sz="1000" dirty="0"/>
              <a:t>. Those of you with some knowledge of matrix algebra may therefore appreciate that the principal strains are the eigenvalues of the strain matrix and the directions of the principal strains are the eigenvectors of the strain matrix</a:t>
            </a:r>
          </a:p>
          <a:p>
            <a:pPr marL="108000" indent="-108000">
              <a:spcBef>
                <a:spcPts val="300"/>
              </a:spcBef>
              <a:buFont typeface="Arial" panose="020B0604020202020204" pitchFamily="34" charset="0"/>
              <a:buChar char="•"/>
            </a:pPr>
            <a:r>
              <a:rPr lang="en-GB" altLang="en-US" sz="1000" dirty="0"/>
              <a:t>Figures by Steve Covey-Crump, top figure based on Twiss &amp; </a:t>
            </a:r>
            <a:r>
              <a:rPr lang="en-GB" altLang="en-US" sz="1000" dirty="0" err="1"/>
              <a:t>Moores</a:t>
            </a:r>
            <a:r>
              <a:rPr lang="en-GB" altLang="en-US" sz="1000" dirty="0"/>
              <a:t>, p.325</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A1CFD47F-6B69-4339-AF81-6844AF785BF6}"/>
              </a:ext>
            </a:extLst>
          </p:cNvPr>
          <p:cNvSpPr>
            <a:spLocks noGrp="1" noRot="1" noChangeAspect="1" noChangeArrowheads="1" noTextEdit="1"/>
          </p:cNvSpPr>
          <p:nvPr>
            <p:ph type="sldImg"/>
          </p:nvPr>
        </p:nvSpPr>
        <p:spPr>
          <a:ln/>
        </p:spPr>
      </p:sp>
      <p:sp>
        <p:nvSpPr>
          <p:cNvPr id="231427" name="Rectangle 3">
            <a:extLst>
              <a:ext uri="{FF2B5EF4-FFF2-40B4-BE49-F238E27FC236}">
                <a16:creationId xmlns:a16="http://schemas.microsoft.com/office/drawing/2014/main" id="{63B74E97-C3C7-4860-8BF0-387A00BC789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significance of working with ratios of the principal strains will be explored in Exercise 1 of the practical</a:t>
            </a:r>
          </a:p>
          <a:p>
            <a:pPr marL="108000" indent="-108000">
              <a:spcBef>
                <a:spcPts val="300"/>
              </a:spcBef>
              <a:buFont typeface="Arial" panose="020B0604020202020204" pitchFamily="34" charset="0"/>
              <a:buChar char="•"/>
            </a:pPr>
            <a:r>
              <a:rPr lang="en-GB" altLang="en-US" sz="1000" dirty="0"/>
              <a:t>Figure from Fossen, p.34</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a:extLst>
              <a:ext uri="{FF2B5EF4-FFF2-40B4-BE49-F238E27FC236}">
                <a16:creationId xmlns:a16="http://schemas.microsoft.com/office/drawing/2014/main" id="{E5C3D7F3-5C4D-4FBC-A44B-AF349B127D9B}"/>
              </a:ext>
            </a:extLst>
          </p:cNvPr>
          <p:cNvSpPr>
            <a:spLocks noGrp="1" noRot="1" noChangeAspect="1" noChangeArrowheads="1" noTextEdit="1"/>
          </p:cNvSpPr>
          <p:nvPr>
            <p:ph type="sldImg"/>
          </p:nvPr>
        </p:nvSpPr>
        <p:spPr>
          <a:ln/>
        </p:spPr>
      </p:sp>
      <p:sp>
        <p:nvSpPr>
          <p:cNvPr id="246787" name="Rectangle 3">
            <a:extLst>
              <a:ext uri="{FF2B5EF4-FFF2-40B4-BE49-F238E27FC236}">
                <a16:creationId xmlns:a16="http://schemas.microsoft.com/office/drawing/2014/main" id="{31950AB0-4085-400B-A8BE-AE621E252E0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In simple shear an initial square or rectangle is transformed into a parallelogram; in pure shear an initial square or rectangle is transformed into a rectangle of different aspect ratio. One might think that pure shear and simple shear are too simplistic to be of much interest in real deformation, but field observations suggest that situations where these idealizations may be applied are actually very common</a:t>
            </a:r>
          </a:p>
          <a:p>
            <a:pPr marL="108000" indent="-108000">
              <a:spcBef>
                <a:spcPts val="300"/>
              </a:spcBef>
              <a:buFont typeface="Arial" panose="020B0604020202020204" pitchFamily="34" charset="0"/>
              <a:buChar char="•"/>
            </a:pPr>
            <a:r>
              <a:rPr lang="en-GB" altLang="en-US" sz="1000" dirty="0"/>
              <a:t>Strictly speaking, coaxial and irrotational are not synonymous: rotationa</a:t>
            </a:r>
            <a:r>
              <a:rPr lang="en-GB" altLang="en-US" sz="1000" spc="150" baseline="0" dirty="0"/>
              <a:t>l/</a:t>
            </a:r>
            <a:r>
              <a:rPr lang="en-GB" altLang="en-US" sz="1000" dirty="0"/>
              <a:t>irrotational refers to whether the finite principal strain axes change orientation with respect to some coordinate frame; a coaxial deformation is one in which the finite principal strain axes are parallel to those of the incremental strain ellipsoid (see Slide 21)</a:t>
            </a:r>
          </a:p>
          <a:p>
            <a:pPr marL="108000" indent="-108000">
              <a:spcBef>
                <a:spcPts val="300"/>
              </a:spcBef>
              <a:buFont typeface="Arial" panose="020B0604020202020204" pitchFamily="34" charset="0"/>
              <a:buChar char="•"/>
            </a:pPr>
            <a:r>
              <a:rPr lang="en-GB" altLang="en-US" sz="1000" dirty="0"/>
              <a:t>Figure from Fossen, p.32</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a:extLst>
              <a:ext uri="{FF2B5EF4-FFF2-40B4-BE49-F238E27FC236}">
                <a16:creationId xmlns:a16="http://schemas.microsoft.com/office/drawing/2014/main" id="{4F44708A-2BD4-4642-88C2-0AF143A3CE07}"/>
              </a:ext>
            </a:extLst>
          </p:cNvPr>
          <p:cNvSpPr>
            <a:spLocks noGrp="1" noRot="1" noChangeAspect="1" noChangeArrowheads="1" noTextEdit="1"/>
          </p:cNvSpPr>
          <p:nvPr>
            <p:ph type="sldImg"/>
          </p:nvPr>
        </p:nvSpPr>
        <p:spPr>
          <a:ln/>
        </p:spPr>
      </p:sp>
      <p:sp>
        <p:nvSpPr>
          <p:cNvPr id="261123" name="Rectangle 3">
            <a:extLst>
              <a:ext uri="{FF2B5EF4-FFF2-40B4-BE49-F238E27FC236}">
                <a16:creationId xmlns:a16="http://schemas.microsoft.com/office/drawing/2014/main" id="{B1BE1B6C-CF31-450A-BFE8-D8B3245030F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We shall return to the plane strain, simple shear case next week – it is an important starting point for considering strain in shear zones</a:t>
            </a:r>
          </a:p>
          <a:p>
            <a:pPr marL="108000" indent="-108000">
              <a:spcBef>
                <a:spcPts val="300"/>
              </a:spcBef>
              <a:buFont typeface="Arial" panose="020B0604020202020204" pitchFamily="34" charset="0"/>
              <a:buChar char="•"/>
            </a:pPr>
            <a:r>
              <a:rPr lang="en-GB" altLang="en-US" sz="1000" dirty="0"/>
              <a:t>Figure top right from Fossen, p.34</a:t>
            </a:r>
          </a:p>
          <a:p>
            <a:pPr marL="108000" indent="-108000">
              <a:spcBef>
                <a:spcPts val="300"/>
              </a:spcBef>
              <a:buFont typeface="Arial" panose="020B0604020202020204" pitchFamily="34" charset="0"/>
              <a:buChar char="•"/>
            </a:pPr>
            <a:r>
              <a:rPr lang="en-GB" altLang="en-US" sz="1000" dirty="0"/>
              <a:t>Figure bottom left from Fossen, p.39</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a:extLst>
              <a:ext uri="{FF2B5EF4-FFF2-40B4-BE49-F238E27FC236}">
                <a16:creationId xmlns:a16="http://schemas.microsoft.com/office/drawing/2014/main" id="{BC1B60B6-ADA9-412D-B3AC-F124A0E79C20}"/>
              </a:ext>
            </a:extLst>
          </p:cNvPr>
          <p:cNvSpPr>
            <a:spLocks noGrp="1" noRot="1" noChangeAspect="1" noChangeArrowheads="1" noTextEdit="1"/>
          </p:cNvSpPr>
          <p:nvPr>
            <p:ph type="sldImg"/>
          </p:nvPr>
        </p:nvSpPr>
        <p:spPr>
          <a:ln/>
        </p:spPr>
      </p:sp>
      <p:sp>
        <p:nvSpPr>
          <p:cNvPr id="237571" name="Rectangle 3">
            <a:extLst>
              <a:ext uri="{FF2B5EF4-FFF2-40B4-BE49-F238E27FC236}">
                <a16:creationId xmlns:a16="http://schemas.microsoft.com/office/drawing/2014/main" id="{FA29BBF3-298D-42E6-A1B1-8793A3B07B5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Fossen, p.35) showing a Flinn diagram with some data plotted on it (grey circles)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a:extLst>
              <a:ext uri="{FF2B5EF4-FFF2-40B4-BE49-F238E27FC236}">
                <a16:creationId xmlns:a16="http://schemas.microsoft.com/office/drawing/2014/main" id="{29527677-693B-4DE7-9D18-A067309FB28E}"/>
              </a:ext>
            </a:extLst>
          </p:cNvPr>
          <p:cNvSpPr>
            <a:spLocks noGrp="1" noRot="1" noChangeAspect="1" noChangeArrowheads="1" noTextEdit="1"/>
          </p:cNvSpPr>
          <p:nvPr>
            <p:ph type="sldImg"/>
          </p:nvPr>
        </p:nvSpPr>
        <p:spPr>
          <a:ln/>
        </p:spPr>
      </p:sp>
      <p:sp>
        <p:nvSpPr>
          <p:cNvPr id="242691" name="Rectangle 3">
            <a:extLst>
              <a:ext uri="{FF2B5EF4-FFF2-40B4-BE49-F238E27FC236}">
                <a16:creationId xmlns:a16="http://schemas.microsoft.com/office/drawing/2014/main" id="{6559F983-EF54-4F44-8304-AE26D4D53996}"/>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Figure (from Fossen, p.35) showing the same data that were plotted on the Flinn diagram on the previous slide, but this time plotted on a </a:t>
            </a:r>
            <a:r>
              <a:rPr lang="en-GB" altLang="en-US" sz="1000" dirty="0" err="1"/>
              <a:t>Hsü</a:t>
            </a:r>
            <a:r>
              <a:rPr lang="en-GB" altLang="en-US" sz="1000" dirty="0"/>
              <a:t> diagram</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a:extLst>
              <a:ext uri="{FF2B5EF4-FFF2-40B4-BE49-F238E27FC236}">
                <a16:creationId xmlns:a16="http://schemas.microsoft.com/office/drawing/2014/main" id="{52EC320A-2D6A-47DA-B8B0-3B63476B9C59}"/>
              </a:ext>
            </a:extLst>
          </p:cNvPr>
          <p:cNvSpPr>
            <a:spLocks noGrp="1" noRot="1" noChangeAspect="1" noChangeArrowheads="1" noTextEdit="1"/>
          </p:cNvSpPr>
          <p:nvPr>
            <p:ph type="sldImg"/>
          </p:nvPr>
        </p:nvSpPr>
        <p:spPr>
          <a:ln/>
        </p:spPr>
      </p:sp>
      <p:sp>
        <p:nvSpPr>
          <p:cNvPr id="233475" name="Rectangle 3">
            <a:extLst>
              <a:ext uri="{FF2B5EF4-FFF2-40B4-BE49-F238E27FC236}">
                <a16:creationId xmlns:a16="http://schemas.microsoft.com/office/drawing/2014/main" id="{D608473B-4CB1-4E14-9EB3-50B85A7DE7B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In the figure showing homogeneous strain, note that the small square is strained into a parallelogram in exactly the same way as all the other squares, and in exactly the same way as the whole square itself. In the figure showing inhomogeneous strain, the small black square is sufficiently small for its strain to be approximately homogeneous (straight lines remain straight, </a:t>
            </a:r>
            <a:r>
              <a:rPr lang="en-GB" altLang="en-US" sz="1000" i="1" dirty="0"/>
              <a:t>etc</a:t>
            </a:r>
            <a:r>
              <a:rPr lang="en-GB" altLang="en-US" sz="1000" dirty="0"/>
              <a:t>.) but this strain is not the same as the strain of the other elements or of the whole square</a:t>
            </a:r>
          </a:p>
          <a:p>
            <a:pPr marL="108000" indent="-108000">
              <a:spcBef>
                <a:spcPts val="300"/>
              </a:spcBef>
              <a:buFont typeface="Arial" panose="020B0604020202020204" pitchFamily="34" charset="0"/>
              <a:buChar char="•"/>
            </a:pPr>
            <a:r>
              <a:rPr lang="en-GB" altLang="en-US" sz="1000" dirty="0"/>
              <a:t>Figure from Twiss &amp; </a:t>
            </a:r>
            <a:r>
              <a:rPr lang="en-GB" altLang="en-US" sz="1000" dirty="0" err="1"/>
              <a:t>Moores</a:t>
            </a:r>
            <a:r>
              <a:rPr lang="en-GB" altLang="en-US" sz="1000" dirty="0"/>
              <a:t>, 1</a:t>
            </a:r>
            <a:r>
              <a:rPr lang="en-GB" altLang="en-US" sz="1000" baseline="30000" dirty="0"/>
              <a:t>st</a:t>
            </a:r>
            <a:r>
              <a:rPr lang="en-GB" altLang="en-US" sz="1000" dirty="0"/>
              <a:t> edition</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a:extLst>
              <a:ext uri="{FF2B5EF4-FFF2-40B4-BE49-F238E27FC236}">
                <a16:creationId xmlns:a16="http://schemas.microsoft.com/office/drawing/2014/main" id="{54FCECF2-8BB0-40BF-B4BE-5C264AEB8706}"/>
              </a:ext>
            </a:extLst>
          </p:cNvPr>
          <p:cNvSpPr>
            <a:spLocks noGrp="1" noRot="1" noChangeAspect="1" noChangeArrowheads="1" noTextEdit="1"/>
          </p:cNvSpPr>
          <p:nvPr>
            <p:ph type="sldImg"/>
          </p:nvPr>
        </p:nvSpPr>
        <p:spPr>
          <a:ln/>
        </p:spPr>
      </p:sp>
      <p:sp>
        <p:nvSpPr>
          <p:cNvPr id="253955" name="Rectangle 3">
            <a:extLst>
              <a:ext uri="{FF2B5EF4-FFF2-40B4-BE49-F238E27FC236}">
                <a16:creationId xmlns:a16="http://schemas.microsoft.com/office/drawing/2014/main" id="{67CBA23D-6248-4247-AC56-8C6780B330A0}"/>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incremental strain ellipse is the same in each increment because the displacement changes between any two stages are constant</a:t>
            </a:r>
          </a:p>
          <a:p>
            <a:pPr marL="108000" indent="-108000">
              <a:spcBef>
                <a:spcPts val="300"/>
              </a:spcBef>
              <a:buFont typeface="Arial" panose="020B0604020202020204" pitchFamily="34" charset="0"/>
              <a:buChar char="•"/>
            </a:pPr>
            <a:r>
              <a:rPr lang="en-GB" altLang="en-US" sz="1000" dirty="0"/>
              <a:t>Figures from Ramsay &amp; Huber, p.218 and 219</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a:extLst>
              <a:ext uri="{FF2B5EF4-FFF2-40B4-BE49-F238E27FC236}">
                <a16:creationId xmlns:a16="http://schemas.microsoft.com/office/drawing/2014/main" id="{AA924A34-141E-4E72-82FA-AEE98CAC9B2C}"/>
              </a:ext>
            </a:extLst>
          </p:cNvPr>
          <p:cNvSpPr>
            <a:spLocks noGrp="1" noRot="1" noChangeAspect="1" noChangeArrowheads="1" noTextEdit="1"/>
          </p:cNvSpPr>
          <p:nvPr>
            <p:ph type="sldImg"/>
          </p:nvPr>
        </p:nvSpPr>
        <p:spPr>
          <a:ln/>
        </p:spPr>
      </p:sp>
      <p:sp>
        <p:nvSpPr>
          <p:cNvPr id="265219" name="Rectangle 3">
            <a:extLst>
              <a:ext uri="{FF2B5EF4-FFF2-40B4-BE49-F238E27FC236}">
                <a16:creationId xmlns:a16="http://schemas.microsoft.com/office/drawing/2014/main" id="{5EB340F2-39BF-43B1-A091-9447633B1D7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Twiss &amp; </a:t>
            </a:r>
            <a:r>
              <a:rPr lang="en-GB" altLang="en-US" sz="1000" dirty="0" err="1"/>
              <a:t>Moores</a:t>
            </a:r>
            <a:r>
              <a:rPr lang="en-GB" altLang="en-US" sz="1000" dirty="0"/>
              <a:t>, p.337</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a:extLst>
              <a:ext uri="{FF2B5EF4-FFF2-40B4-BE49-F238E27FC236}">
                <a16:creationId xmlns:a16="http://schemas.microsoft.com/office/drawing/2014/main" id="{45A294FE-7520-4B9C-9B58-0F76B43F8064}"/>
              </a:ext>
            </a:extLst>
          </p:cNvPr>
          <p:cNvSpPr>
            <a:spLocks noGrp="1" noRot="1" noChangeAspect="1" noChangeArrowheads="1" noTextEdit="1"/>
          </p:cNvSpPr>
          <p:nvPr>
            <p:ph type="sldImg"/>
          </p:nvPr>
        </p:nvSpPr>
        <p:spPr>
          <a:ln/>
        </p:spPr>
      </p:sp>
      <p:sp>
        <p:nvSpPr>
          <p:cNvPr id="268291" name="Rectangle 3">
            <a:extLst>
              <a:ext uri="{FF2B5EF4-FFF2-40B4-BE49-F238E27FC236}">
                <a16:creationId xmlns:a16="http://schemas.microsoft.com/office/drawing/2014/main" id="{7DFD6529-417B-4817-A6C6-A31AAC01847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Figures from Twiss &amp; </a:t>
            </a:r>
            <a:r>
              <a:rPr lang="en-GB" altLang="en-US" sz="1000" dirty="0" err="1"/>
              <a:t>Moores</a:t>
            </a:r>
            <a:r>
              <a:rPr lang="en-GB" altLang="en-US" sz="1000" dirty="0"/>
              <a:t>, p.338</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233CAEBA-0D15-4B91-8C56-9E7F62172B34}" type="slidenum">
              <a:rPr lang="en-GB" altLang="en-US" smtClean="0"/>
              <a:pPr/>
              <a:t>24</a:t>
            </a:fld>
            <a:endParaRPr lang="en-GB" altLang="en-US"/>
          </a:p>
        </p:txBody>
      </p:sp>
    </p:spTree>
    <p:extLst>
      <p:ext uri="{BB962C8B-B14F-4D97-AF65-F5344CB8AC3E}">
        <p14:creationId xmlns:p14="http://schemas.microsoft.com/office/powerpoint/2010/main" val="11925058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a:extLst>
              <a:ext uri="{FF2B5EF4-FFF2-40B4-BE49-F238E27FC236}">
                <a16:creationId xmlns:a16="http://schemas.microsoft.com/office/drawing/2014/main" id="{2C3314F0-A613-4C96-9D1B-4AD8AB75A931}"/>
              </a:ext>
            </a:extLst>
          </p:cNvPr>
          <p:cNvSpPr>
            <a:spLocks noGrp="1" noRot="1" noChangeAspect="1" noChangeArrowheads="1" noTextEdit="1"/>
          </p:cNvSpPr>
          <p:nvPr>
            <p:ph type="sldImg"/>
          </p:nvPr>
        </p:nvSpPr>
        <p:spPr>
          <a:ln/>
        </p:spPr>
      </p:sp>
      <p:sp>
        <p:nvSpPr>
          <p:cNvPr id="249859" name="Rectangle 3">
            <a:extLst>
              <a:ext uri="{FF2B5EF4-FFF2-40B4-BE49-F238E27FC236}">
                <a16:creationId xmlns:a16="http://schemas.microsoft.com/office/drawing/2014/main" id="{F6FEB0FE-CCA7-4F4A-83BC-81EA38E1480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Recall that the state of strain in 3d is specified by nine numbers but because the strain matrix is symmetrical, three of the shear strains are equal to three other shear strains and so there are only six independent numbers – three longitudinal strains and three shear strains (see Slide 13). If we choose our coordinate frame to be aligned with the directions of the principal strains, then all the shear strains are zero in that frame and so to specify the state of strain we only need to find the magnitude of the three principal strains (see Slides 14-15) . If we have the three principal strains, then it is possible to calculate all the strain components in any other direction using the 2</a:t>
            </a:r>
            <a:r>
              <a:rPr lang="en-GB" altLang="en-US" sz="1000" baseline="30000" dirty="0"/>
              <a:t>nd</a:t>
            </a:r>
            <a:r>
              <a:rPr lang="en-GB" altLang="en-US" sz="1000" dirty="0"/>
              <a:t> rank tensor transformation equation</a:t>
            </a:r>
          </a:p>
          <a:p>
            <a:pPr marL="108000" indent="-108000">
              <a:spcBef>
                <a:spcPts val="300"/>
              </a:spcBef>
              <a:buFont typeface="Arial" panose="020B0604020202020204" pitchFamily="34" charset="0"/>
              <a:buChar char="•"/>
            </a:pPr>
            <a:r>
              <a:rPr lang="en-GB" altLang="en-US" sz="1000" dirty="0"/>
              <a:t>It follows that, when measuring strain in the field it is </a:t>
            </a:r>
            <a:r>
              <a:rPr lang="en-GB" altLang="en-US" sz="1000" b="1" i="1" dirty="0"/>
              <a:t>super-important</a:t>
            </a:r>
            <a:r>
              <a:rPr lang="en-GB" altLang="en-US" sz="1000" dirty="0"/>
              <a:t> to measure the orientation of cleavage (strike/dip) and any stretching lineation (plunge/plunge direction) if present. These establish a reference frame within which your strain measurement results can be interpreted</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a:extLst>
              <a:ext uri="{FF2B5EF4-FFF2-40B4-BE49-F238E27FC236}">
                <a16:creationId xmlns:a16="http://schemas.microsoft.com/office/drawing/2014/main" id="{5CF64979-9B2B-4CF0-BDF8-97CC053700C9}"/>
              </a:ext>
            </a:extLst>
          </p:cNvPr>
          <p:cNvSpPr>
            <a:spLocks noGrp="1" noRot="1" noChangeAspect="1" noChangeArrowheads="1" noTextEdit="1"/>
          </p:cNvSpPr>
          <p:nvPr>
            <p:ph type="sldImg"/>
          </p:nvPr>
        </p:nvSpPr>
        <p:spPr>
          <a:ln/>
        </p:spPr>
      </p:sp>
      <p:sp>
        <p:nvSpPr>
          <p:cNvPr id="273411" name="Rectangle 3">
            <a:extLst>
              <a:ext uri="{FF2B5EF4-FFF2-40B4-BE49-F238E27FC236}">
                <a16:creationId xmlns:a16="http://schemas.microsoft.com/office/drawing/2014/main" id="{101F5904-35B1-483B-BEAF-B9B4AAF27C0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left (Steve Covey-Crump): reduction spots on the bedding surface of a red mudstone, </a:t>
            </a:r>
            <a:r>
              <a:rPr lang="en-GB" altLang="en-US" sz="1000" dirty="0" err="1"/>
              <a:t>Brachina</a:t>
            </a:r>
            <a:r>
              <a:rPr lang="en-GB" altLang="en-US" sz="1000" dirty="0"/>
              <a:t> Gorge, Australia.</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For an analysis of reduction spots in the Cambrian slates of North Wales, see Tullis &amp; Wood, 1975, </a:t>
            </a:r>
            <a:r>
              <a:rPr lang="en-GB" altLang="en-US" sz="1000" i="1" dirty="0"/>
              <a:t>Geological Society of America Bulletin</a:t>
            </a:r>
            <a:r>
              <a:rPr lang="en-GB" altLang="en-US" sz="1000" dirty="0"/>
              <a:t> 86: 632-638, </a:t>
            </a:r>
            <a:r>
              <a:rPr lang="en-GB" sz="1000" dirty="0"/>
              <a:t>https://doi.org/10.1130/0016-7606(1975)86&lt;632:COFSFB&gt;2.0.CO;2</a:t>
            </a:r>
            <a:r>
              <a:rPr lang="en-GB" altLang="en-US" sz="1000" dirty="0"/>
              <a:t>, and the references by Wood cited within that paper. However, for a claim that the reduction spots in these slates are not actually strain markers, see Nakamura &amp; </a:t>
            </a:r>
            <a:r>
              <a:rPr lang="en-GB" altLang="en-US" sz="1000" dirty="0" err="1"/>
              <a:t>Borradaile</a:t>
            </a:r>
            <a:r>
              <a:rPr lang="en-GB" altLang="en-US" sz="1000" dirty="0"/>
              <a:t>, 2001, </a:t>
            </a:r>
            <a:r>
              <a:rPr lang="en-GB" altLang="en-US" sz="1000" i="1" dirty="0"/>
              <a:t>Tectonophysics</a:t>
            </a:r>
            <a:r>
              <a:rPr lang="en-GB" altLang="en-US" sz="1000" dirty="0"/>
              <a:t> 340: 133-139, </a:t>
            </a:r>
            <a:r>
              <a:rPr lang="en-GB" sz="1000" dirty="0"/>
              <a:t>https://doi.org/10.1016/S0040-1951(01)00143-3</a:t>
            </a:r>
          </a:p>
          <a:p>
            <a:pPr marL="0" indent="0">
              <a:spcBef>
                <a:spcPts val="300"/>
              </a:spcBef>
              <a:buFont typeface="Arial" panose="020B0604020202020204" pitchFamily="34" charset="0"/>
              <a:buNone/>
            </a:pPr>
            <a:endParaRPr lang="en-GB" altLang="en-US" sz="1000" dirty="0"/>
          </a:p>
          <a:p>
            <a:pPr marL="108000" indent="-108000">
              <a:spcBef>
                <a:spcPts val="300"/>
              </a:spcBef>
              <a:buFont typeface="Arial" panose="020B0604020202020204" pitchFamily="34" charset="0"/>
              <a:buChar char="•"/>
            </a:pPr>
            <a:r>
              <a:rPr lang="en-GB" altLang="en-US" sz="1000" dirty="0"/>
              <a:t>Photo right (Steve Covey-Crump): </a:t>
            </a:r>
            <a:r>
              <a:rPr lang="en-GB" altLang="en-US" sz="1000" i="1" dirty="0" err="1"/>
              <a:t>Skolithos</a:t>
            </a:r>
            <a:r>
              <a:rPr lang="en-GB" altLang="en-US" sz="1000" dirty="0"/>
              <a:t> burrows on a bedding surface, </a:t>
            </a:r>
            <a:r>
              <a:rPr lang="en-GB" altLang="en-US" sz="1000" dirty="0" err="1"/>
              <a:t>Oliana</a:t>
            </a:r>
            <a:r>
              <a:rPr lang="en-GB" altLang="en-US" sz="1000" dirty="0"/>
              <a:t> (see Question 5.1 in Ramsay &amp; Huber, p.73ff, for a worked analysis of such data)</a:t>
            </a:r>
          </a:p>
          <a:p>
            <a:pPr marL="108000" indent="-108000">
              <a:spcBef>
                <a:spcPts val="300"/>
              </a:spcBef>
              <a:buFont typeface="Arial" panose="020B0604020202020204" pitchFamily="34" charset="0"/>
              <a:buChar char="•"/>
            </a:pPr>
            <a:r>
              <a:rPr lang="en-GB" altLang="en-US" sz="1000" dirty="0"/>
              <a:t>As well as providing information about the strain in the bedding plane, </a:t>
            </a:r>
            <a:r>
              <a:rPr lang="en-GB" altLang="en-US" sz="1000" i="1" dirty="0" err="1"/>
              <a:t>Skolithos</a:t>
            </a:r>
            <a:r>
              <a:rPr lang="en-GB" altLang="en-US" sz="1000" dirty="0"/>
              <a:t> burrows provide information about angular shear (with bedding as the shear plane) if they observed on planes perpendicular to bedding because their pre-deformation angle with bedding on these planes is ~ 90°. For examples of analyses of this kind, see</a:t>
            </a:r>
          </a:p>
          <a:p>
            <a:pPr marL="252000" indent="-144000">
              <a:spcBef>
                <a:spcPts val="300"/>
              </a:spcBef>
              <a:buFont typeface="Times New Roman" panose="02020603050405020304" pitchFamily="18" charset="0"/>
              <a:buChar char="‒"/>
            </a:pPr>
            <a:r>
              <a:rPr lang="en-GB" altLang="en-US" sz="1000" dirty="0"/>
              <a:t>McLeish, 1971, </a:t>
            </a:r>
            <a:r>
              <a:rPr lang="en-GB" altLang="en-US" sz="1000" i="1" dirty="0"/>
              <a:t>Tectonophysics </a:t>
            </a:r>
            <a:r>
              <a:rPr lang="en-GB" altLang="en-US" sz="1000" dirty="0"/>
              <a:t>12: 469-503, </a:t>
            </a:r>
            <a:r>
              <a:rPr lang="en-GB" sz="1000" dirty="0"/>
              <a:t>https://doi.org/10.1016/0040-1951(71)90046-1</a:t>
            </a:r>
            <a:endParaRPr lang="en-GB" altLang="en-US" sz="1000" dirty="0"/>
          </a:p>
          <a:p>
            <a:pPr marL="252000" indent="-144000">
              <a:spcBef>
                <a:spcPts val="300"/>
              </a:spcBef>
              <a:buFont typeface="Times New Roman" panose="02020603050405020304" pitchFamily="18" charset="0"/>
              <a:buChar char="‒"/>
            </a:pPr>
            <a:r>
              <a:rPr lang="en-GB" altLang="en-US" sz="1000" dirty="0"/>
              <a:t>Wilkinson </a:t>
            </a:r>
            <a:r>
              <a:rPr lang="en-GB" altLang="en-US" sz="1000" i="1" dirty="0"/>
              <a:t>et al</a:t>
            </a:r>
            <a:r>
              <a:rPr lang="en-GB" altLang="en-US" sz="1000" dirty="0"/>
              <a:t>., 1975, </a:t>
            </a:r>
            <a:r>
              <a:rPr lang="en-GB" altLang="en-US" sz="1000" i="1" dirty="0"/>
              <a:t>Tectonophysics </a:t>
            </a:r>
            <a:r>
              <a:rPr lang="en-GB" altLang="en-US" sz="1000" dirty="0"/>
              <a:t>28: 143-157, </a:t>
            </a:r>
            <a:r>
              <a:rPr lang="en-GB" sz="1000" dirty="0"/>
              <a:t>https://doi.org/10.1016/0040-1951(75)90033-5</a:t>
            </a:r>
            <a:endParaRPr lang="en-GB" altLang="en-US" sz="1000" dirty="0"/>
          </a:p>
          <a:p>
            <a:pPr marL="252000" indent="-144000">
              <a:spcBef>
                <a:spcPts val="300"/>
              </a:spcBef>
              <a:buFont typeface="Times New Roman" panose="02020603050405020304" pitchFamily="18" charset="0"/>
              <a:buChar char="‒"/>
            </a:pPr>
            <a:r>
              <a:rPr lang="en-GB" altLang="en-US" sz="1000" dirty="0" err="1"/>
              <a:t>Paulis</a:t>
            </a:r>
            <a:r>
              <a:rPr lang="en-GB" altLang="en-US" sz="1000" dirty="0"/>
              <a:t>, 1976, </a:t>
            </a:r>
            <a:r>
              <a:rPr lang="en-GB" altLang="en-US" sz="1000" i="1" dirty="0"/>
              <a:t>Tectonophysics</a:t>
            </a:r>
            <a:r>
              <a:rPr lang="en-GB" altLang="en-US" sz="1000" dirty="0"/>
              <a:t> 34: T29-T36, </a:t>
            </a:r>
            <a:r>
              <a:rPr lang="en-GB" sz="1000" dirty="0"/>
              <a:t>https://doi.org/10.1016/0040-1951(76)90091-3</a:t>
            </a:r>
            <a:endParaRPr lang="en-GB" altLang="en-US" sz="1000" dirty="0"/>
          </a:p>
          <a:p>
            <a:pPr marL="252000" indent="-144000">
              <a:spcBef>
                <a:spcPts val="300"/>
              </a:spcBef>
              <a:buFont typeface="Times New Roman" panose="02020603050405020304" pitchFamily="18" charset="0"/>
              <a:buChar char="‒"/>
            </a:pPr>
            <a:r>
              <a:rPr lang="en-GB" altLang="en-US" sz="1000" dirty="0"/>
              <a:t>Allison, 1979, </a:t>
            </a:r>
            <a:r>
              <a:rPr lang="en-GB" altLang="en-US" sz="1000" i="1" dirty="0"/>
              <a:t>Scottish Journal of Geology</a:t>
            </a:r>
            <a:r>
              <a:rPr lang="en-GB" altLang="en-US" sz="1000" dirty="0"/>
              <a:t> 15: 263-269, </a:t>
            </a:r>
            <a:r>
              <a:rPr lang="en-GB" sz="1000" dirty="0"/>
              <a:t>https://doi.org/10.1144/sjg15040263</a:t>
            </a:r>
            <a:endParaRPr lang="en-GB" altLang="en-US" sz="1000" dirty="0"/>
          </a:p>
          <a:p>
            <a:pPr marL="252000" indent="-144000">
              <a:spcBef>
                <a:spcPts val="300"/>
              </a:spcBef>
              <a:buFont typeface="Times New Roman" panose="02020603050405020304" pitchFamily="18" charset="0"/>
              <a:buChar char="‒"/>
            </a:pPr>
            <a:r>
              <a:rPr lang="en-GB" altLang="en-US" sz="1000" dirty="0"/>
              <a:t>Coward &amp; Kim, 1981, </a:t>
            </a:r>
            <a:r>
              <a:rPr lang="en-GB" altLang="en-US" sz="1000" i="1" dirty="0"/>
              <a:t>Geological Society, London, Special Publication</a:t>
            </a:r>
            <a:r>
              <a:rPr lang="en-GB" altLang="en-US" sz="1000" dirty="0"/>
              <a:t> 9: 275-292, </a:t>
            </a:r>
            <a:r>
              <a:rPr lang="en-GB" sz="1000" dirty="0"/>
              <a:t>https://doi.org/10.1144/GSL.SP.1981.009.01.25</a:t>
            </a:r>
            <a:endParaRPr lang="en-GB" altLang="en-US" sz="1000" dirty="0"/>
          </a:p>
          <a:p>
            <a:pPr marL="252000" indent="-144000">
              <a:spcBef>
                <a:spcPts val="300"/>
              </a:spcBef>
              <a:buFont typeface="Times New Roman" panose="02020603050405020304" pitchFamily="18" charset="0"/>
              <a:buChar char="‒"/>
            </a:pPr>
            <a:r>
              <a:rPr lang="en-GB" altLang="en-US" sz="1000" dirty="0"/>
              <a:t>Fischer &amp; Coward, 1982, </a:t>
            </a:r>
            <a:r>
              <a:rPr lang="en-GB" altLang="en-US" sz="1000" i="1" dirty="0"/>
              <a:t>Tectonophysics</a:t>
            </a:r>
            <a:r>
              <a:rPr lang="en-GB" altLang="en-US" sz="1000" dirty="0"/>
              <a:t> 88: 291-312, </a:t>
            </a:r>
            <a:r>
              <a:rPr lang="en-GB" sz="1000" dirty="0"/>
              <a:t>https://doi.org/10.1016/0040-1951(82)90241-4</a:t>
            </a:r>
            <a:endParaRPr lang="en-GB" altLang="en-US" sz="1000" dirty="0"/>
          </a:p>
          <a:p>
            <a:pPr marL="252000" indent="-144000">
              <a:spcBef>
                <a:spcPts val="300"/>
              </a:spcBef>
              <a:buFont typeface="Times New Roman" panose="02020603050405020304" pitchFamily="18" charset="0"/>
              <a:buChar char="‒"/>
            </a:pPr>
            <a:r>
              <a:rPr lang="en-GB" altLang="en-US" sz="1000" dirty="0"/>
              <a:t>Dias &amp; Ribeiro, 1991, </a:t>
            </a:r>
            <a:r>
              <a:rPr lang="en-GB" altLang="en-US" sz="1000" i="1" dirty="0"/>
              <a:t>Tectonophysics</a:t>
            </a:r>
            <a:r>
              <a:rPr lang="en-GB" altLang="en-US" sz="1000" dirty="0"/>
              <a:t> 191: 389-397, </a:t>
            </a:r>
            <a:r>
              <a:rPr lang="en-GB" sz="1000" dirty="0"/>
              <a:t>https://doi.org/10.1016/0040-1951(91)90069-5</a:t>
            </a:r>
            <a:endParaRPr lang="en-GB" altLang="en-US" sz="1000" dirty="0"/>
          </a:p>
          <a:p>
            <a:pPr marL="108000" indent="-108000">
              <a:spcBef>
                <a:spcPts val="300"/>
              </a:spcBef>
              <a:buFont typeface="Arial" panose="020B0604020202020204" pitchFamily="34" charset="0"/>
              <a:buChar char="•"/>
            </a:pPr>
            <a:r>
              <a:rPr lang="en-GB" altLang="en-US" sz="1000" dirty="0"/>
              <a:t>For a similar analysis using </a:t>
            </a:r>
            <a:r>
              <a:rPr lang="en-GB" altLang="en-US" sz="1000" i="1" dirty="0" err="1"/>
              <a:t>Beaconites</a:t>
            </a:r>
            <a:r>
              <a:rPr lang="en-GB" altLang="en-US" sz="1000" dirty="0"/>
              <a:t> burrows see O’Sullivan </a:t>
            </a:r>
            <a:r>
              <a:rPr lang="en-GB" altLang="en-US" sz="1000" i="1" dirty="0"/>
              <a:t>et al.</a:t>
            </a:r>
            <a:r>
              <a:rPr lang="en-GB" altLang="en-US" sz="1000" dirty="0"/>
              <a:t>, 1986, </a:t>
            </a:r>
            <a:r>
              <a:rPr lang="en-GB" altLang="en-US" sz="1000" i="1" dirty="0"/>
              <a:t>Journal of the Geological Society, London</a:t>
            </a:r>
            <a:r>
              <a:rPr lang="en-GB" altLang="en-US" sz="1000" dirty="0"/>
              <a:t> 143: 897-906, </a:t>
            </a:r>
            <a:r>
              <a:rPr lang="en-GB" sz="1000" dirty="0"/>
              <a:t>https://doi.org/10.1144/gsjgs.143.6.0897</a:t>
            </a:r>
            <a:endParaRPr lang="en-GB" altLang="en-US" sz="1000" dirty="0"/>
          </a:p>
          <a:p>
            <a:pPr marL="0" indent="0">
              <a:spcBef>
                <a:spcPts val="300"/>
              </a:spcBef>
              <a:buFont typeface="Arial" panose="020B0604020202020204" pitchFamily="34" charset="0"/>
              <a:buNone/>
            </a:pPr>
            <a:endParaRPr lang="en-GB" altLang="en-US" sz="1000" dirty="0"/>
          </a:p>
        </p:txBody>
      </p:sp>
    </p:spTree>
    <p:extLst>
      <p:ext uri="{BB962C8B-B14F-4D97-AF65-F5344CB8AC3E}">
        <p14:creationId xmlns:p14="http://schemas.microsoft.com/office/powerpoint/2010/main" val="32709828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a:extLst>
              <a:ext uri="{FF2B5EF4-FFF2-40B4-BE49-F238E27FC236}">
                <a16:creationId xmlns:a16="http://schemas.microsoft.com/office/drawing/2014/main" id="{CA70ED39-9573-440A-8236-1995860886D6}"/>
              </a:ext>
            </a:extLst>
          </p:cNvPr>
          <p:cNvSpPr>
            <a:spLocks noGrp="1" noRot="1" noChangeAspect="1" noChangeArrowheads="1" noTextEdit="1"/>
          </p:cNvSpPr>
          <p:nvPr>
            <p:ph type="sldImg"/>
          </p:nvPr>
        </p:nvSpPr>
        <p:spPr>
          <a:ln/>
        </p:spPr>
      </p:sp>
      <p:sp>
        <p:nvSpPr>
          <p:cNvPr id="287747" name="Rectangle 3">
            <a:extLst>
              <a:ext uri="{FF2B5EF4-FFF2-40B4-BE49-F238E27FC236}">
                <a16:creationId xmlns:a16="http://schemas.microsoft.com/office/drawing/2014/main" id="{3D289EEF-9518-443F-9130-A46B88FB60D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Some important contributions to the Fry method are:</a:t>
            </a:r>
          </a:p>
          <a:p>
            <a:pPr marL="252000" indent="-144000">
              <a:spcBef>
                <a:spcPts val="300"/>
              </a:spcBef>
              <a:buFont typeface="Times New Roman" panose="02020603050405020304" pitchFamily="18" charset="0"/>
              <a:buChar char="‒"/>
            </a:pPr>
            <a:r>
              <a:rPr lang="en-GB" altLang="en-US" sz="1000" dirty="0" err="1"/>
              <a:t>Erslev</a:t>
            </a:r>
            <a:r>
              <a:rPr lang="en-GB" altLang="en-US" sz="1000" dirty="0"/>
              <a:t>, 1988, </a:t>
            </a:r>
            <a:r>
              <a:rPr lang="en-GB" altLang="en-US" sz="1000" i="1" dirty="0"/>
              <a:t>Journal of Structural Geology</a:t>
            </a:r>
            <a:r>
              <a:rPr lang="en-GB" altLang="en-US" sz="1000" dirty="0"/>
              <a:t> 10: 201-209, </a:t>
            </a:r>
            <a:r>
              <a:rPr lang="en-GB" sz="1000" dirty="0"/>
              <a:t>https://doi.org/10.1016/0191-8141(88)90117-4</a:t>
            </a:r>
            <a:endParaRPr lang="en-GB" altLang="en-US" sz="1000" dirty="0"/>
          </a:p>
          <a:p>
            <a:pPr marL="252000" indent="-144000">
              <a:spcBef>
                <a:spcPts val="300"/>
              </a:spcBef>
              <a:buFont typeface="Times New Roman" panose="02020603050405020304" pitchFamily="18" charset="0"/>
              <a:buChar char="‒"/>
            </a:pPr>
            <a:r>
              <a:rPr lang="en-GB" altLang="en-US" sz="1000" dirty="0" err="1"/>
              <a:t>Erslev</a:t>
            </a:r>
            <a:r>
              <a:rPr lang="en-GB" altLang="en-US" sz="1000" dirty="0"/>
              <a:t> &amp; Ge, 1990, </a:t>
            </a:r>
            <a:r>
              <a:rPr lang="en-GB" altLang="en-US" sz="1000" i="1" dirty="0"/>
              <a:t>Journal of Structural Geology</a:t>
            </a:r>
            <a:r>
              <a:rPr lang="en-GB" altLang="en-US" sz="1000" dirty="0"/>
              <a:t> 12: 1047-1059, </a:t>
            </a:r>
            <a:r>
              <a:rPr lang="en-GB" sz="1000" dirty="0"/>
              <a:t>https://doi.org/10.1016/0191-8141(90)90100-D</a:t>
            </a:r>
            <a:endParaRPr lang="en-GB" altLang="en-US" sz="1000" dirty="0"/>
          </a:p>
          <a:p>
            <a:pPr marL="252000" indent="-144000">
              <a:spcBef>
                <a:spcPts val="300"/>
              </a:spcBef>
              <a:buFont typeface="Times New Roman" panose="02020603050405020304" pitchFamily="18" charset="0"/>
              <a:buChar char="‒"/>
            </a:pPr>
            <a:r>
              <a:rPr lang="en-GB" altLang="en-US" sz="1000" dirty="0"/>
              <a:t>Shan &amp; Xiao, 2011, </a:t>
            </a:r>
            <a:r>
              <a:rPr lang="en-GB" altLang="en-US" sz="1000" i="1" dirty="0"/>
              <a:t>Journal of Structural Geology</a:t>
            </a:r>
            <a:r>
              <a:rPr lang="en-GB" altLang="en-US" sz="1000" dirty="0"/>
              <a:t> 33: 1000-1009, </a:t>
            </a:r>
            <a:r>
              <a:rPr lang="en-GB" sz="1000" dirty="0"/>
              <a:t>https://doi.org/10.1016/j.jsg.2011.02.004</a:t>
            </a:r>
            <a:endParaRPr lang="en-GB" altLang="en-US" sz="1000" dirty="0"/>
          </a:p>
          <a:p>
            <a:pPr marL="252000" indent="-144000">
              <a:spcBef>
                <a:spcPts val="300"/>
              </a:spcBef>
              <a:buFont typeface="Times New Roman" panose="02020603050405020304" pitchFamily="18" charset="0"/>
              <a:buChar char="‒"/>
            </a:pPr>
            <a:r>
              <a:rPr lang="en-GB" altLang="en-US" sz="1000" dirty="0"/>
              <a:t>Kumar </a:t>
            </a:r>
            <a:r>
              <a:rPr lang="en-GB" altLang="en-US" sz="1000" i="1" dirty="0"/>
              <a:t>et al</a:t>
            </a:r>
            <a:r>
              <a:rPr lang="en-GB" altLang="en-US" sz="1000" dirty="0"/>
              <a:t>., 2014, </a:t>
            </a:r>
            <a:r>
              <a:rPr lang="en-GB" altLang="en-US" sz="1000" i="1" dirty="0"/>
              <a:t>Journal of Structural Geology</a:t>
            </a:r>
            <a:r>
              <a:rPr lang="en-GB" altLang="en-US" sz="1000" dirty="0"/>
              <a:t> 63: 76-90, </a:t>
            </a:r>
            <a:r>
              <a:rPr lang="en-GB" sz="1000" dirty="0"/>
              <a:t>https://doi.org/10.1016/j.jsg.2014.03.002</a:t>
            </a:r>
            <a:endParaRPr lang="en-GB" altLang="en-US" sz="1000" dirty="0"/>
          </a:p>
          <a:p>
            <a:pPr marL="108000" indent="-108000">
              <a:spcBef>
                <a:spcPts val="300"/>
              </a:spcBef>
              <a:buFont typeface="Arial" panose="020B0604020202020204" pitchFamily="34" charset="0"/>
              <a:buChar char="•"/>
            </a:pPr>
            <a:r>
              <a:rPr lang="en-GB" altLang="en-US" sz="1000" dirty="0"/>
              <a:t>Links to software for applying it are given in </a:t>
            </a:r>
            <a:r>
              <a:rPr lang="en-GB" altLang="en-US" sz="1000" dirty="0" err="1"/>
              <a:t>Roday</a:t>
            </a:r>
            <a:r>
              <a:rPr lang="en-GB" altLang="en-US" sz="1000" dirty="0"/>
              <a:t> </a:t>
            </a:r>
            <a:r>
              <a:rPr lang="en-GB" altLang="en-US" sz="1000" i="1" dirty="0"/>
              <a:t>et al.</a:t>
            </a:r>
            <a:r>
              <a:rPr lang="en-GB" altLang="en-US" sz="1000" dirty="0"/>
              <a:t>, 2010, </a:t>
            </a:r>
            <a:r>
              <a:rPr lang="en-GB" altLang="en-US" sz="1000" i="1" dirty="0"/>
              <a:t>Journal of the Geological Society of India</a:t>
            </a:r>
            <a:r>
              <a:rPr lang="en-GB" altLang="en-US" sz="1000" dirty="0"/>
              <a:t> 76: 151-154, </a:t>
            </a:r>
            <a:r>
              <a:rPr lang="en-GB" sz="1000" dirty="0"/>
              <a:t>https://doi.org/10.1007/s12594-010-0090-0</a:t>
            </a:r>
            <a:r>
              <a:rPr lang="en-GB" altLang="en-US" sz="1000" dirty="0"/>
              <a:t>. See also Ramsay &amp; Huber, Session 7</a:t>
            </a:r>
          </a:p>
          <a:p>
            <a:pPr marL="0" indent="0">
              <a:spcBef>
                <a:spcPts val="300"/>
              </a:spcBef>
              <a:buFont typeface="Arial" panose="020B0604020202020204" pitchFamily="34" charset="0"/>
              <a:buNone/>
            </a:pPr>
            <a:endParaRPr lang="en-GB" altLang="en-US" sz="1000" dirty="0"/>
          </a:p>
          <a:p>
            <a:pPr marL="108000" indent="-108000">
              <a:spcBef>
                <a:spcPts val="300"/>
              </a:spcBef>
              <a:buFont typeface="Arial" panose="020B0604020202020204" pitchFamily="34" charset="0"/>
              <a:buChar char="•"/>
            </a:pPr>
            <a:r>
              <a:rPr lang="en-GB" altLang="en-US" sz="1000" dirty="0"/>
              <a:t>Figure left comes from Fossen, p.67, although it ultimately derives from Ramsay &amp; Huber, p.113</a:t>
            </a:r>
          </a:p>
          <a:p>
            <a:pPr marL="108000" indent="-108000">
              <a:spcBef>
                <a:spcPts val="300"/>
              </a:spcBef>
              <a:buFont typeface="Arial" panose="020B0604020202020204" pitchFamily="34" charset="0"/>
              <a:buChar char="•"/>
            </a:pPr>
            <a:r>
              <a:rPr lang="en-GB" altLang="en-US" sz="1000" dirty="0"/>
              <a:t>Set of three figures right from Twiss &amp; </a:t>
            </a:r>
            <a:r>
              <a:rPr lang="en-GB" altLang="en-US" sz="1000" dirty="0" err="1"/>
              <a:t>Moores</a:t>
            </a:r>
            <a:r>
              <a:rPr lang="en-GB" altLang="en-US" sz="1000" dirty="0"/>
              <a:t>, p.454</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a:extLst>
              <a:ext uri="{FF2B5EF4-FFF2-40B4-BE49-F238E27FC236}">
                <a16:creationId xmlns:a16="http://schemas.microsoft.com/office/drawing/2014/main" id="{090FE878-6DB0-4343-BE6C-0D49BB0E273B}"/>
              </a:ext>
            </a:extLst>
          </p:cNvPr>
          <p:cNvSpPr>
            <a:spLocks noGrp="1" noRot="1" noChangeAspect="1" noChangeArrowheads="1" noTextEdit="1"/>
          </p:cNvSpPr>
          <p:nvPr>
            <p:ph type="sldImg"/>
          </p:nvPr>
        </p:nvSpPr>
        <p:spPr>
          <a:ln/>
        </p:spPr>
      </p:sp>
      <p:sp>
        <p:nvSpPr>
          <p:cNvPr id="275459" name="Rectangle 3">
            <a:extLst>
              <a:ext uri="{FF2B5EF4-FFF2-40B4-BE49-F238E27FC236}">
                <a16:creationId xmlns:a16="http://schemas.microsoft.com/office/drawing/2014/main" id="{0CB82090-4B21-4A33-8A96-EF9D79FFE08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left (Steve Covey-Crump): a deformed conglomerate in the </a:t>
            </a:r>
            <a:r>
              <a:rPr lang="en-GB" altLang="en-US" sz="1000" dirty="0" err="1"/>
              <a:t>Onich</a:t>
            </a:r>
            <a:r>
              <a:rPr lang="en-GB" altLang="en-US" sz="1000" dirty="0"/>
              <a:t> shore section, near Fort William, Scotland</a:t>
            </a:r>
          </a:p>
          <a:p>
            <a:pPr marL="108000" indent="-108000">
              <a:spcBef>
                <a:spcPts val="300"/>
              </a:spcBef>
              <a:buFont typeface="Arial" panose="020B0604020202020204" pitchFamily="34" charset="0"/>
              <a:buChar char="•"/>
            </a:pPr>
            <a:r>
              <a:rPr lang="en-GB" altLang="en-US" sz="1000" dirty="0"/>
              <a:t>Photo right (from Fossen, p.68): the </a:t>
            </a:r>
            <a:r>
              <a:rPr lang="en-GB" altLang="en-US" sz="1000" dirty="0" err="1"/>
              <a:t>Bygdin</a:t>
            </a:r>
            <a:r>
              <a:rPr lang="en-GB" altLang="en-US" sz="1000" dirty="0"/>
              <a:t> conglomerate (Norway) which was the subject of a landmark strain analysis in the 1960s (Hossack, 1968, </a:t>
            </a:r>
            <a:r>
              <a:rPr lang="en-GB" altLang="en-US" sz="1000" i="1" dirty="0"/>
              <a:t>Tectonophysics</a:t>
            </a:r>
            <a:r>
              <a:rPr lang="en-GB" altLang="en-US" sz="1000" dirty="0"/>
              <a:t> 5: 315-339, </a:t>
            </a:r>
            <a:r>
              <a:rPr lang="en-GB" sz="1000" dirty="0"/>
              <a:t>https://doi.org/10.1016/0040-1951(68)90035-8</a:t>
            </a:r>
            <a:r>
              <a:rPr lang="en-GB" altLang="en-US" sz="1000" dirty="0"/>
              <a:t>)</a:t>
            </a:r>
          </a:p>
          <a:p>
            <a:pPr marL="108000" indent="-108000">
              <a:spcBef>
                <a:spcPts val="300"/>
              </a:spcBef>
              <a:buFont typeface="Arial" panose="020B0604020202020204" pitchFamily="34" charset="0"/>
              <a:buChar char="•"/>
            </a:pPr>
            <a:r>
              <a:rPr lang="en-GB" altLang="en-US" sz="1000" dirty="0"/>
              <a:t>In both of these photos, the pencil is approximately in the orientation of the stretching lineation (direction X of the strain ellipsoid). Remember that this direction should be measured in the field together with the best estimate of the XY plane (here the plane of flattening of the pebbles)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a:extLst>
              <a:ext uri="{FF2B5EF4-FFF2-40B4-BE49-F238E27FC236}">
                <a16:creationId xmlns:a16="http://schemas.microsoft.com/office/drawing/2014/main" id="{EAD316D1-BD9E-45BD-A4EE-61FF9708D3D0}"/>
              </a:ext>
            </a:extLst>
          </p:cNvPr>
          <p:cNvSpPr>
            <a:spLocks noGrp="1" noRot="1" noChangeAspect="1" noChangeArrowheads="1" noTextEdit="1"/>
          </p:cNvSpPr>
          <p:nvPr>
            <p:ph type="sldImg"/>
          </p:nvPr>
        </p:nvSpPr>
        <p:spPr>
          <a:ln/>
        </p:spPr>
      </p:sp>
      <p:sp>
        <p:nvSpPr>
          <p:cNvPr id="284675" name="Rectangle 3">
            <a:extLst>
              <a:ext uri="{FF2B5EF4-FFF2-40B4-BE49-F238E27FC236}">
                <a16:creationId xmlns:a16="http://schemas.microsoft.com/office/drawing/2014/main" id="{0E02F4A0-9951-40AB-A522-BAF3E46F900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All </a:t>
            </a:r>
            <a:r>
              <a:rPr lang="en-GB" altLang="en-US" sz="1000" i="1" dirty="0">
                <a:latin typeface="Times New Roman" panose="02020603050405020304" pitchFamily="18" charset="0"/>
                <a:cs typeface="Times New Roman" panose="02020603050405020304" pitchFamily="18" charset="0"/>
              </a:rPr>
              <a:t>R</a:t>
            </a:r>
            <a:r>
              <a:rPr lang="en-GB" altLang="en-US" sz="1000" dirty="0">
                <a:latin typeface="Times New Roman" panose="02020603050405020304" pitchFamily="18" charset="0"/>
                <a:cs typeface="Times New Roman" panose="02020603050405020304" pitchFamily="18" charset="0"/>
              </a:rPr>
              <a:t> are long/short axis ratios. Conglomerate clasts often have a preferred orientation (</a:t>
            </a:r>
            <a:r>
              <a:rPr lang="en-GB" altLang="en-US" sz="1000" i="1" dirty="0">
                <a:latin typeface="Times New Roman" panose="02020603050405020304" pitchFamily="18" charset="0"/>
                <a:cs typeface="Times New Roman" panose="02020603050405020304" pitchFamily="18" charset="0"/>
              </a:rPr>
              <a:t>e.g</a:t>
            </a:r>
            <a:r>
              <a:rPr lang="en-GB" altLang="en-US" sz="1000" dirty="0">
                <a:latin typeface="Times New Roman" panose="02020603050405020304" pitchFamily="18" charset="0"/>
                <a:cs typeface="Times New Roman" panose="02020603050405020304" pitchFamily="18" charset="0"/>
              </a:rPr>
              <a:t>., through imbrication) but there are usually enough anomalously oriented clasts to allow the technique to be applied</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The </a:t>
            </a:r>
            <a:r>
              <a:rPr lang="en-GB" altLang="en-US" sz="1000" i="1" dirty="0">
                <a:latin typeface="Times New Roman" panose="02020603050405020304" pitchFamily="18" charset="0"/>
                <a:cs typeface="Times New Roman" panose="02020603050405020304" pitchFamily="18" charset="0"/>
              </a:rPr>
              <a:t>R</a:t>
            </a:r>
            <a:r>
              <a:rPr lang="en-GB" altLang="en-US" sz="1000" i="1" spc="250" baseline="-25000" dirty="0">
                <a:latin typeface="Times New Roman" panose="02020603050405020304" pitchFamily="18" charset="0"/>
                <a:cs typeface="Times New Roman" panose="02020603050405020304" pitchFamily="18" charset="0"/>
              </a:rPr>
              <a:t>f</a:t>
            </a:r>
            <a:r>
              <a:rPr lang="en-GB" altLang="en-US" sz="1000" spc="100" baseline="0" dirty="0">
                <a:latin typeface="Times New Roman" panose="02020603050405020304" pitchFamily="18" charset="0"/>
                <a:cs typeface="Times New Roman" panose="02020603050405020304" pitchFamily="18" charset="0"/>
              </a:rPr>
              <a:t>/</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ϕ</a:t>
            </a:r>
            <a:r>
              <a:rPr lang="en-GB" altLang="en-US" sz="1000" dirty="0">
                <a:latin typeface="Times New Roman" panose="02020603050405020304" pitchFamily="18" charset="0"/>
                <a:cs typeface="Times New Roman" panose="02020603050405020304" pitchFamily="18" charset="0"/>
              </a:rPr>
              <a:t> technique is outlined in a short book by Lisle, 1985, </a:t>
            </a:r>
            <a:r>
              <a:rPr lang="en-GB" altLang="en-US" sz="1000" i="1" dirty="0">
                <a:latin typeface="Times New Roman" panose="02020603050405020304" pitchFamily="18" charset="0"/>
                <a:cs typeface="Times New Roman" panose="02020603050405020304" pitchFamily="18" charset="0"/>
              </a:rPr>
              <a:t>Geological Strain Analysis: A Manual for the R</a:t>
            </a:r>
            <a:r>
              <a:rPr lang="en-GB" altLang="en-US" sz="1000" i="1" spc="250" baseline="-25000" dirty="0">
                <a:latin typeface="Times New Roman" panose="02020603050405020304" pitchFamily="18" charset="0"/>
                <a:cs typeface="Times New Roman" panose="02020603050405020304" pitchFamily="18" charset="0"/>
              </a:rPr>
              <a:t>f</a:t>
            </a:r>
            <a:r>
              <a:rPr lang="en-GB" altLang="en-US" sz="1000" spc="100" baseline="0" dirty="0">
                <a:latin typeface="Times New Roman" panose="02020603050405020304" pitchFamily="18" charset="0"/>
                <a:cs typeface="Times New Roman" panose="02020603050405020304" pitchFamily="18" charset="0"/>
              </a:rPr>
              <a:t>/</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ϕ</a:t>
            </a:r>
            <a:r>
              <a:rPr lang="en-GB" altLang="en-US" sz="1000" i="1" dirty="0">
                <a:latin typeface="Times New Roman" panose="02020603050405020304" pitchFamily="18" charset="0"/>
                <a:cs typeface="Times New Roman" panose="02020603050405020304" pitchFamily="18" charset="0"/>
              </a:rPr>
              <a:t> Technique</a:t>
            </a:r>
            <a:r>
              <a:rPr lang="en-GB" altLang="en-US" sz="1000" dirty="0">
                <a:latin typeface="Times New Roman" panose="02020603050405020304" pitchFamily="18" charset="0"/>
                <a:cs typeface="Times New Roman" panose="02020603050405020304" pitchFamily="18" charset="0"/>
              </a:rPr>
              <a:t>, Pergamon Press. An Excel spreadsheet approach for implementing the technique is described by Chew, 2003, </a:t>
            </a:r>
            <a:r>
              <a:rPr lang="en-GB" altLang="en-US" sz="1000" i="1" dirty="0">
                <a:latin typeface="Times New Roman" panose="02020603050405020304" pitchFamily="18" charset="0"/>
                <a:cs typeface="Times New Roman" panose="02020603050405020304" pitchFamily="18" charset="0"/>
              </a:rPr>
              <a:t>Computers &amp; Geosciences</a:t>
            </a:r>
            <a:r>
              <a:rPr lang="en-GB" altLang="en-US" sz="1000" dirty="0">
                <a:latin typeface="Times New Roman" panose="02020603050405020304" pitchFamily="18" charset="0"/>
                <a:cs typeface="Times New Roman" panose="02020603050405020304" pitchFamily="18" charset="0"/>
              </a:rPr>
              <a:t> 29: 795-799, </a:t>
            </a:r>
            <a:r>
              <a:rPr lang="en-GB" sz="1000" dirty="0"/>
              <a:t>https://doi.org/10.1016/S0098-3004(03)00027-X</a:t>
            </a:r>
            <a:r>
              <a:rPr lang="en-GB" altLang="en-US" sz="1000" dirty="0">
                <a:latin typeface="Times New Roman" panose="02020603050405020304" pitchFamily="18" charset="0"/>
                <a:cs typeface="Times New Roman" panose="02020603050405020304" pitchFamily="18" charset="0"/>
              </a:rPr>
              <a:t>. See also Ramsay &amp; Huber, Session 5</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from Fossen, p.64</a:t>
            </a: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a:extLst>
              <a:ext uri="{FF2B5EF4-FFF2-40B4-BE49-F238E27FC236}">
                <a16:creationId xmlns:a16="http://schemas.microsoft.com/office/drawing/2014/main" id="{4325D933-9D01-424F-8941-7F33FD11BA8B}"/>
              </a:ext>
            </a:extLst>
          </p:cNvPr>
          <p:cNvSpPr>
            <a:spLocks noGrp="1" noRot="1" noChangeAspect="1" noChangeArrowheads="1" noTextEdit="1"/>
          </p:cNvSpPr>
          <p:nvPr>
            <p:ph type="sldImg"/>
          </p:nvPr>
        </p:nvSpPr>
        <p:spPr>
          <a:ln/>
        </p:spPr>
      </p:sp>
      <p:sp>
        <p:nvSpPr>
          <p:cNvPr id="277507" name="Rectangle 3">
            <a:extLst>
              <a:ext uri="{FF2B5EF4-FFF2-40B4-BE49-F238E27FC236}">
                <a16:creationId xmlns:a16="http://schemas.microsoft.com/office/drawing/2014/main" id="{201B1476-9D1A-4F09-8249-E3FBAEA0998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(Fossen, p.60) of fractured and extended belemnites in Jurassic limestones in the Swiss Alps. Note that the rotation of the upper belemnite is a rigid body rotation and so should not be used to infer angular shear</a:t>
            </a:r>
          </a:p>
          <a:p>
            <a:pPr marL="108000" indent="-108000">
              <a:spcBef>
                <a:spcPts val="300"/>
              </a:spcBef>
              <a:buFont typeface="Arial" panose="020B0604020202020204" pitchFamily="34" charset="0"/>
              <a:buChar char="•"/>
            </a:pPr>
            <a:r>
              <a:rPr lang="en-GB" altLang="en-US" sz="1000" dirty="0"/>
              <a:t>Although calculating strains by adding together the length of fragments in the direction of interest seems straightforward, there are different strategies for doing this (see Ragan, p.321-324)</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a:extLst>
              <a:ext uri="{FF2B5EF4-FFF2-40B4-BE49-F238E27FC236}">
                <a16:creationId xmlns:a16="http://schemas.microsoft.com/office/drawing/2014/main" id="{BBB6D7A6-90E0-4F26-9493-D0CAEF4EB990}"/>
              </a:ext>
            </a:extLst>
          </p:cNvPr>
          <p:cNvSpPr>
            <a:spLocks noGrp="1" noRot="1" noChangeAspect="1" noChangeArrowheads="1" noTextEdit="1"/>
          </p:cNvSpPr>
          <p:nvPr>
            <p:ph type="sldImg"/>
          </p:nvPr>
        </p:nvSpPr>
        <p:spPr>
          <a:ln/>
        </p:spPr>
      </p:sp>
      <p:sp>
        <p:nvSpPr>
          <p:cNvPr id="279555" name="Rectangle 3">
            <a:extLst>
              <a:ext uri="{FF2B5EF4-FFF2-40B4-BE49-F238E27FC236}">
                <a16:creationId xmlns:a16="http://schemas.microsoft.com/office/drawing/2014/main" id="{11A7671E-382B-46F6-AFFA-07FC1E2B942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bottom left by Steve Covey-Crump based on a trilobite (</a:t>
            </a:r>
            <a:r>
              <a:rPr lang="en-GB" altLang="en-US" sz="1000" i="1" dirty="0" err="1"/>
              <a:t>Bathyuriscus</a:t>
            </a:r>
            <a:r>
              <a:rPr lang="en-GB" altLang="en-US" sz="1000" dirty="0"/>
              <a:t>) drawn in Ramsay &amp; Huber, p.131. Note that the angular shear is clockwise, that is, it is negative</a:t>
            </a:r>
          </a:p>
          <a:p>
            <a:pPr marL="108000" indent="-108000">
              <a:spcBef>
                <a:spcPts val="300"/>
              </a:spcBef>
              <a:buFont typeface="Arial" panose="020B0604020202020204" pitchFamily="34" charset="0"/>
              <a:buChar char="•"/>
            </a:pPr>
            <a:r>
              <a:rPr lang="en-GB" altLang="en-US" sz="1000" dirty="0"/>
              <a:t>Figure top right (https://projects.exeter.ac.uk/geomincentre/gallery/2-16.htm): specimen of the brachiopod, </a:t>
            </a:r>
            <a:r>
              <a:rPr lang="en-GB" altLang="en-US" sz="1000" i="1" dirty="0" err="1"/>
              <a:t>Cyrtospirifer</a:t>
            </a:r>
            <a:r>
              <a:rPr lang="en-GB" altLang="en-US" sz="1000" i="1" dirty="0"/>
              <a:t> </a:t>
            </a:r>
            <a:r>
              <a:rPr lang="en-GB" altLang="en-US" sz="1000" i="1" dirty="0" err="1"/>
              <a:t>verneuili</a:t>
            </a:r>
            <a:r>
              <a:rPr lang="en-GB" altLang="en-US" sz="1000" dirty="0"/>
              <a:t>, from the </a:t>
            </a:r>
            <a:r>
              <a:rPr lang="en-GB" altLang="en-US" sz="1000" dirty="0" err="1"/>
              <a:t>Delabole</a:t>
            </a:r>
            <a:r>
              <a:rPr lang="en-GB" altLang="en-US" sz="1000" dirty="0"/>
              <a:t> Slate of Late Devonian age, </a:t>
            </a:r>
            <a:r>
              <a:rPr lang="en-GB" altLang="en-US" sz="1000" dirty="0" err="1"/>
              <a:t>Delabole</a:t>
            </a:r>
            <a:r>
              <a:rPr lang="en-GB" altLang="en-US" sz="1000" dirty="0"/>
              <a:t> Quarry, Cornwall. The quarrymen thought that these fossils looked like butterflies and so they became known informally as the </a:t>
            </a:r>
            <a:r>
              <a:rPr lang="en-GB" altLang="en-US" sz="1000" dirty="0" err="1"/>
              <a:t>Delabole</a:t>
            </a:r>
            <a:r>
              <a:rPr lang="en-GB" altLang="en-US" sz="1000" dirty="0"/>
              <a:t> butterfly. Many, like this one, are strained. Again, note that the angular shear is clockwise, that is, it is negative</a:t>
            </a:r>
          </a:p>
          <a:p>
            <a:pPr marL="108000" indent="-108000">
              <a:spcBef>
                <a:spcPts val="300"/>
              </a:spcBef>
              <a:buFont typeface="Arial" panose="020B0604020202020204" pitchFamily="34" charset="0"/>
              <a:buChar char="•"/>
            </a:pPr>
            <a:r>
              <a:rPr lang="en-GB" altLang="en-US" sz="1000" dirty="0"/>
              <a:t>Figure bottom right from Ramsay &amp; Huber, p.143</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a:extLst>
              <a:ext uri="{FF2B5EF4-FFF2-40B4-BE49-F238E27FC236}">
                <a16:creationId xmlns:a16="http://schemas.microsoft.com/office/drawing/2014/main" id="{BC34AC4B-BF04-4FBE-8C56-90749A6F6237}"/>
              </a:ext>
            </a:extLst>
          </p:cNvPr>
          <p:cNvSpPr>
            <a:spLocks noGrp="1" noRot="1" noChangeAspect="1" noChangeArrowheads="1" noTextEdit="1"/>
          </p:cNvSpPr>
          <p:nvPr>
            <p:ph type="sldImg"/>
          </p:nvPr>
        </p:nvSpPr>
        <p:spPr>
          <a:ln/>
        </p:spPr>
      </p:sp>
      <p:sp>
        <p:nvSpPr>
          <p:cNvPr id="281603" name="Rectangle 3">
            <a:extLst>
              <a:ext uri="{FF2B5EF4-FFF2-40B4-BE49-F238E27FC236}">
                <a16:creationId xmlns:a16="http://schemas.microsoft.com/office/drawing/2014/main" id="{EACB6953-F512-43C0-A19C-43C8D3EC050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Ragan, p.313-328, is a particularly helpful account of the use of the Mohr circle construction in strain analysis, but Ramsay &amp; Huber, Sessions 6 and 8, is also good. </a:t>
            </a:r>
            <a:r>
              <a:rPr lang="en-GB" altLang="en-US" sz="1000" i="1" dirty="0"/>
              <a:t>MohrStrain.pdf</a:t>
            </a:r>
            <a:r>
              <a:rPr lang="en-GB" altLang="en-US" sz="1000" dirty="0"/>
              <a:t> accompanying this PowerPoint presentation provides worked examples of the use of the Mohr circle for strain for all the commonly encountered situations</a:t>
            </a:r>
          </a:p>
          <a:p>
            <a:pPr marL="108000" indent="-108000">
              <a:spcBef>
                <a:spcPts val="300"/>
              </a:spcBef>
              <a:buFont typeface="Arial" panose="020B0604020202020204" pitchFamily="34" charset="0"/>
              <a:buChar char="•"/>
            </a:pPr>
            <a:r>
              <a:rPr lang="en-GB" altLang="en-US" sz="1000" dirty="0"/>
              <a:t>We will revisit the Mohr circle construction in simpler form when we consider stress (Class 5)</a:t>
            </a:r>
          </a:p>
          <a:p>
            <a:pPr marL="108000" indent="-108000">
              <a:spcBef>
                <a:spcPts val="300"/>
              </a:spcBef>
              <a:buFont typeface="Arial" panose="020B0604020202020204" pitchFamily="34" charset="0"/>
              <a:buChar char="•"/>
            </a:pPr>
            <a:r>
              <a:rPr lang="en-GB" altLang="en-US" sz="1000" dirty="0"/>
              <a:t>Figure by Steve Covey-Crump based on Ragan, p.314 and p.315</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233CAEBA-0D15-4B91-8C56-9E7F62172B34}" type="slidenum">
              <a:rPr lang="en-GB" altLang="en-US" smtClean="0"/>
              <a:pPr/>
              <a:t>33</a:t>
            </a:fld>
            <a:endParaRPr lang="en-GB" altLang="en-US"/>
          </a:p>
        </p:txBody>
      </p:sp>
    </p:spTree>
    <p:extLst>
      <p:ext uri="{BB962C8B-B14F-4D97-AF65-F5344CB8AC3E}">
        <p14:creationId xmlns:p14="http://schemas.microsoft.com/office/powerpoint/2010/main" val="36736074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a:extLst>
              <a:ext uri="{FF2B5EF4-FFF2-40B4-BE49-F238E27FC236}">
                <a16:creationId xmlns:a16="http://schemas.microsoft.com/office/drawing/2014/main" id="{8EF2FE6B-C47D-43E8-856A-AEB9254BB12D}"/>
              </a:ext>
            </a:extLst>
          </p:cNvPr>
          <p:cNvSpPr>
            <a:spLocks noGrp="1" noRot="1" noChangeAspect="1" noChangeArrowheads="1" noTextEdit="1"/>
          </p:cNvSpPr>
          <p:nvPr>
            <p:ph type="sldImg"/>
          </p:nvPr>
        </p:nvSpPr>
        <p:spPr>
          <a:ln/>
        </p:spPr>
      </p:sp>
      <p:sp>
        <p:nvSpPr>
          <p:cNvPr id="303107" name="Rectangle 3">
            <a:extLst>
              <a:ext uri="{FF2B5EF4-FFF2-40B4-BE49-F238E27FC236}">
                <a16:creationId xmlns:a16="http://schemas.microsoft.com/office/drawing/2014/main" id="{F07572FF-E26B-4080-9B3E-49AC668A65B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Lapilli are originally spherical masses of </a:t>
            </a:r>
            <a:r>
              <a:rPr lang="en-GB" altLang="en-US" sz="1000" dirty="0" err="1"/>
              <a:t>tuffaceous</a:t>
            </a:r>
            <a:r>
              <a:rPr lang="en-GB" altLang="en-US" sz="1000" dirty="0"/>
              <a:t> material within a matrix of identical tuff. They are thought to form around water droplets as rain falls through an erupting cloud of ash</a:t>
            </a:r>
          </a:p>
          <a:p>
            <a:pPr marL="108000" indent="-108000">
              <a:spcBef>
                <a:spcPts val="300"/>
              </a:spcBef>
              <a:buFont typeface="Arial" panose="020B0604020202020204" pitchFamily="34" charset="0"/>
              <a:buChar char="•"/>
            </a:pPr>
            <a:r>
              <a:rPr lang="en-GB" altLang="en-US" sz="1000" dirty="0"/>
              <a:t>Figures from Price &amp; Cosgrove, p.17,18</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a:extLst>
              <a:ext uri="{FF2B5EF4-FFF2-40B4-BE49-F238E27FC236}">
                <a16:creationId xmlns:a16="http://schemas.microsoft.com/office/drawing/2014/main" id="{F4CEE93C-947D-4A54-AE89-D02FDB48C27D}"/>
              </a:ext>
            </a:extLst>
          </p:cNvPr>
          <p:cNvSpPr>
            <a:spLocks noGrp="1" noRot="1" noChangeAspect="1" noChangeArrowheads="1" noTextEdit="1"/>
          </p:cNvSpPr>
          <p:nvPr>
            <p:ph type="sldImg"/>
          </p:nvPr>
        </p:nvSpPr>
        <p:spPr>
          <a:ln/>
        </p:spPr>
      </p:sp>
      <p:sp>
        <p:nvSpPr>
          <p:cNvPr id="314371" name="Rectangle 3">
            <a:extLst>
              <a:ext uri="{FF2B5EF4-FFF2-40B4-BE49-F238E27FC236}">
                <a16:creationId xmlns:a16="http://schemas.microsoft.com/office/drawing/2014/main" id="{311DEC51-2D57-4F89-B53E-2CC33B77646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right from Fossen, p.285</a:t>
            </a:r>
          </a:p>
          <a:p>
            <a:pPr marL="108000" indent="-108000">
              <a:spcBef>
                <a:spcPts val="300"/>
              </a:spcBef>
              <a:buFont typeface="Arial" panose="020B0604020202020204" pitchFamily="34" charset="0"/>
              <a:buChar char="•"/>
            </a:pPr>
            <a:r>
              <a:rPr lang="en-GB" altLang="en-US" sz="1000" dirty="0"/>
              <a:t>Photo left (Steve Covey-Crump): a deformed conglomerate from New England, eastern USA (L-</a:t>
            </a:r>
            <a:r>
              <a:rPr lang="en-GB" altLang="en-US" sz="1000" dirty="0" err="1"/>
              <a:t>tectonite</a:t>
            </a:r>
            <a:r>
              <a:rPr lang="en-GB" altLang="en-US" sz="1000" dirty="0"/>
              <a:t>)</a:t>
            </a:r>
          </a:p>
          <a:p>
            <a:pPr marL="108000" indent="-108000">
              <a:spcBef>
                <a:spcPts val="300"/>
              </a:spcBef>
              <a:buFont typeface="Arial" panose="020B0604020202020204" pitchFamily="34" charset="0"/>
              <a:buChar char="•"/>
            </a:pPr>
            <a:r>
              <a:rPr lang="en-GB" altLang="en-US" sz="1000" dirty="0"/>
              <a:t>Photo right (Steve Covey-Crump): flattened pillow lavas from Tintagel, Cornwall (S-</a:t>
            </a:r>
            <a:r>
              <a:rPr lang="en-GB" altLang="en-US" sz="1000" dirty="0" err="1"/>
              <a:t>tectonite</a:t>
            </a:r>
            <a:r>
              <a:rPr lang="en-GB" altLang="en-US" sz="1000" dirty="0"/>
              <a:t>). Identifying the flattened pillow lavas as an S-tectonite is actually pushing the point – we can’t see the third dimension, and the scale of the fabric is rather too large for the ‘tectonite’ terminology</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a:extLst>
              <a:ext uri="{FF2B5EF4-FFF2-40B4-BE49-F238E27FC236}">
                <a16:creationId xmlns:a16="http://schemas.microsoft.com/office/drawing/2014/main" id="{BA9C9DC0-FB3D-49AD-B12D-190B5524508E}"/>
              </a:ext>
            </a:extLst>
          </p:cNvPr>
          <p:cNvSpPr>
            <a:spLocks noGrp="1" noRot="1" noChangeAspect="1" noChangeArrowheads="1" noTextEdit="1"/>
          </p:cNvSpPr>
          <p:nvPr>
            <p:ph type="sldImg"/>
          </p:nvPr>
        </p:nvSpPr>
        <p:spPr>
          <a:ln/>
        </p:spPr>
      </p:sp>
      <p:sp>
        <p:nvSpPr>
          <p:cNvPr id="251907" name="Rectangle 3">
            <a:extLst>
              <a:ext uri="{FF2B5EF4-FFF2-40B4-BE49-F238E27FC236}">
                <a16:creationId xmlns:a16="http://schemas.microsoft.com/office/drawing/2014/main" id="{88A8E081-A5B4-4F83-A611-F6EA68F44B24}"/>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Volume loss in the Z-direction may occur through pressure solution (see Optional PowerPoint presentation)</a:t>
            </a:r>
          </a:p>
          <a:p>
            <a:pPr marL="108000" indent="-108000">
              <a:spcBef>
                <a:spcPts val="300"/>
              </a:spcBef>
              <a:buFont typeface="Arial" panose="020B0604020202020204" pitchFamily="34" charset="0"/>
              <a:buChar char="•"/>
            </a:pPr>
            <a:r>
              <a:rPr lang="en-GB" altLang="en-US" sz="1000" dirty="0" err="1"/>
              <a:t>Passchier</a:t>
            </a:r>
            <a:r>
              <a:rPr lang="en-GB" altLang="en-US" sz="1000" dirty="0"/>
              <a:t> &amp; </a:t>
            </a:r>
            <a:r>
              <a:rPr lang="en-GB" altLang="en-US" sz="1000" dirty="0" err="1"/>
              <a:t>Trouw</a:t>
            </a:r>
            <a:r>
              <a:rPr lang="en-GB" altLang="en-US" sz="1000" dirty="0"/>
              <a:t>, 2005, </a:t>
            </a:r>
            <a:r>
              <a:rPr lang="en-GB" altLang="en-US" sz="1000" i="1" dirty="0" err="1"/>
              <a:t>Microtectonics</a:t>
            </a:r>
            <a:r>
              <a:rPr lang="en-GB" altLang="en-US" sz="1000" i="1" dirty="0"/>
              <a:t> </a:t>
            </a:r>
            <a:r>
              <a:rPr lang="en-GB" altLang="en-US" sz="1000" dirty="0"/>
              <a:t>(2</a:t>
            </a:r>
            <a:r>
              <a:rPr lang="en-GB" altLang="en-US" sz="1000" baseline="30000" dirty="0"/>
              <a:t>nd</a:t>
            </a:r>
            <a:r>
              <a:rPr lang="en-GB" altLang="en-US" sz="1000" dirty="0"/>
              <a:t> edition), p.94-95, offer some cautionary words about equating cleavage with the XY plane. Note that crenulation cleavages do not represent the XY plane for the total strain in the rock since they are formed well after deformation has begun</a:t>
            </a:r>
          </a:p>
          <a:p>
            <a:pPr marL="108000" indent="-108000">
              <a:spcBef>
                <a:spcPts val="300"/>
              </a:spcBef>
              <a:buFont typeface="Arial" panose="020B0604020202020204" pitchFamily="34" charset="0"/>
              <a:buChar char="•"/>
            </a:pPr>
            <a:r>
              <a:rPr lang="en-GB" altLang="en-US" sz="1000" dirty="0"/>
              <a:t>Figure left from Fossen, p.295</a:t>
            </a:r>
          </a:p>
          <a:p>
            <a:pPr marL="108000" indent="-108000">
              <a:spcBef>
                <a:spcPts val="300"/>
              </a:spcBef>
              <a:buFont typeface="Arial" panose="020B0604020202020204" pitchFamily="34" charset="0"/>
              <a:buChar char="•"/>
            </a:pPr>
            <a:r>
              <a:rPr lang="en-GB" altLang="en-US" sz="1000" dirty="0"/>
              <a:t>Figure right by Steve Covey-Crump modified from an original by Ernie Rutter</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a:extLst>
              <a:ext uri="{FF2B5EF4-FFF2-40B4-BE49-F238E27FC236}">
                <a16:creationId xmlns:a16="http://schemas.microsoft.com/office/drawing/2014/main" id="{66B0A55E-4E8A-40C7-B102-5B265AF34434}"/>
              </a:ext>
            </a:extLst>
          </p:cNvPr>
          <p:cNvSpPr>
            <a:spLocks noGrp="1" noRot="1" noChangeAspect="1" noChangeArrowheads="1" noTextEdit="1"/>
          </p:cNvSpPr>
          <p:nvPr>
            <p:ph type="sldImg"/>
          </p:nvPr>
        </p:nvSpPr>
        <p:spPr>
          <a:ln/>
        </p:spPr>
      </p:sp>
      <p:sp>
        <p:nvSpPr>
          <p:cNvPr id="311299" name="Rectangle 3">
            <a:extLst>
              <a:ext uri="{FF2B5EF4-FFF2-40B4-BE49-F238E27FC236}">
                <a16:creationId xmlns:a16="http://schemas.microsoft.com/office/drawing/2014/main" id="{21E15DFF-596E-4259-99E5-94378EA06E1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Note that in the TLS folds, strain is at a maximum in the hinge and a minimum at the inflection point (although the figure on the slide doesn’t capture this because it doesn’t reach the inflection point), whereas in the other two folding mechanisms the reverse is the case. In TLS folds the strain is contractional on the inner arc, extensional on the outer arc, and between these two states is a surface of zero strain described as the neutral surface</a:t>
            </a:r>
          </a:p>
          <a:p>
            <a:pPr marL="108000" indent="-108000">
              <a:spcBef>
                <a:spcPts val="300"/>
              </a:spcBef>
              <a:buFont typeface="Arial" panose="020B0604020202020204" pitchFamily="34" charset="0"/>
              <a:buChar char="•"/>
            </a:pPr>
            <a:r>
              <a:rPr lang="en-GB" altLang="en-US" sz="1000" dirty="0"/>
              <a:t>Figure top from Ramsay &amp; Huber, 1987, </a:t>
            </a:r>
            <a:r>
              <a:rPr lang="en-GB" altLang="en-US" sz="1000" i="1" dirty="0"/>
              <a:t>Techniques of Modern Structural Geology. Volume 2: Folds and Fractures</a:t>
            </a:r>
            <a:r>
              <a:rPr lang="en-GB" altLang="en-US" sz="1000" dirty="0"/>
              <a:t>, Academic Press, p.458</a:t>
            </a:r>
          </a:p>
          <a:p>
            <a:pPr marL="108000" indent="-108000">
              <a:spcBef>
                <a:spcPts val="300"/>
              </a:spcBef>
              <a:buFont typeface="Arial" panose="020B0604020202020204" pitchFamily="34" charset="0"/>
              <a:buChar char="•"/>
            </a:pPr>
            <a:r>
              <a:rPr lang="en-GB" altLang="en-US" sz="1000" dirty="0"/>
              <a:t>Figure bottom left from Ramsay &amp; Huber, 1987, </a:t>
            </a:r>
            <a:r>
              <a:rPr lang="en-GB" altLang="en-US" sz="1000" i="1" dirty="0"/>
              <a:t>Techniques of Modern Structural Geology. Volume 2: Folds and Fractures</a:t>
            </a:r>
            <a:r>
              <a:rPr lang="en-GB" altLang="en-US" sz="1000" dirty="0"/>
              <a:t>, Academic Press, p.447</a:t>
            </a:r>
          </a:p>
          <a:p>
            <a:pPr marL="108000" indent="-108000">
              <a:spcBef>
                <a:spcPts val="300"/>
              </a:spcBef>
              <a:buFont typeface="Arial" panose="020B0604020202020204" pitchFamily="34" charset="0"/>
              <a:buChar char="•"/>
            </a:pPr>
            <a:r>
              <a:rPr lang="en-GB" altLang="en-US" sz="1000" dirty="0"/>
              <a:t>Figure bottom right from Twiss &amp; </a:t>
            </a:r>
            <a:r>
              <a:rPr lang="en-GB" altLang="en-US" sz="1000" dirty="0" err="1"/>
              <a:t>Moores</a:t>
            </a:r>
            <a:r>
              <a:rPr lang="en-GB" altLang="en-US" sz="1000" dirty="0"/>
              <a:t>, p.371</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a:extLst>
              <a:ext uri="{FF2B5EF4-FFF2-40B4-BE49-F238E27FC236}">
                <a16:creationId xmlns:a16="http://schemas.microsoft.com/office/drawing/2014/main" id="{4835ED46-7047-4250-B945-49227DDA5471}"/>
              </a:ext>
            </a:extLst>
          </p:cNvPr>
          <p:cNvSpPr>
            <a:spLocks noGrp="1" noRot="1" noChangeAspect="1" noChangeArrowheads="1" noTextEdit="1"/>
          </p:cNvSpPr>
          <p:nvPr>
            <p:ph type="sldImg"/>
          </p:nvPr>
        </p:nvSpPr>
        <p:spPr>
          <a:ln/>
        </p:spPr>
      </p:sp>
      <p:sp>
        <p:nvSpPr>
          <p:cNvPr id="317443" name="Rectangle 3">
            <a:extLst>
              <a:ext uri="{FF2B5EF4-FFF2-40B4-BE49-F238E27FC236}">
                <a16:creationId xmlns:a16="http://schemas.microsoft.com/office/drawing/2014/main" id="{2C286444-4B1F-4C1D-8944-F4C8CC101AF4}"/>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Recall from the </a:t>
            </a:r>
            <a:r>
              <a:rPr lang="en-GB" altLang="en-US" sz="1000"/>
              <a:t>last class </a:t>
            </a:r>
            <a:r>
              <a:rPr lang="en-GB" altLang="en-US" sz="1000" dirty="0"/>
              <a:t>(Class 2), outer arc stretching is characteristic of folds formed by tangential longitudinal strain (see previous slide)</a:t>
            </a:r>
          </a:p>
          <a:p>
            <a:pPr marL="108000" indent="-108000">
              <a:spcBef>
                <a:spcPts val="300"/>
              </a:spcBef>
              <a:buFont typeface="Arial" panose="020B0604020202020204" pitchFamily="34" charset="0"/>
              <a:buChar char="•"/>
            </a:pPr>
            <a:r>
              <a:rPr lang="en-GB" altLang="en-US" sz="1000" dirty="0"/>
              <a:t>Figures from Fossen, p.292</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id="{C4F2E101-0351-4212-96F8-7F5DB2662DAB}"/>
              </a:ext>
            </a:extLst>
          </p:cNvPr>
          <p:cNvSpPr>
            <a:spLocks noGrp="1" noRot="1" noChangeAspect="1" noChangeArrowheads="1" noTextEdit="1"/>
          </p:cNvSpPr>
          <p:nvPr>
            <p:ph type="sldImg"/>
          </p:nvPr>
        </p:nvSpPr>
        <p:spPr>
          <a:ln/>
        </p:spPr>
      </p:sp>
      <p:sp>
        <p:nvSpPr>
          <p:cNvPr id="307203" name="Rectangle 3">
            <a:extLst>
              <a:ext uri="{FF2B5EF4-FFF2-40B4-BE49-F238E27FC236}">
                <a16:creationId xmlns:a16="http://schemas.microsoft.com/office/drawing/2014/main" id="{B3E2AF97-8447-4544-B506-5237E617D3E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left (from Fossen, p.293): cleavage refraction caused by local shear in the incompetent layers. Note that the cleavage starts forming before the initiation of buckling. (For many years, Manchester students have carried out summer fieldwork at </a:t>
            </a:r>
            <a:r>
              <a:rPr lang="en-GB" altLang="en-US" sz="1000" dirty="0" err="1"/>
              <a:t>Oliana</a:t>
            </a:r>
            <a:r>
              <a:rPr lang="en-GB" altLang="en-US" sz="1000" dirty="0"/>
              <a:t>, NE Spain – the scenario depicted in this figure is one that applies for the folding there in the rare localities where one can see cleavage.)</a:t>
            </a:r>
          </a:p>
          <a:p>
            <a:pPr marL="108000" indent="-108000">
              <a:spcBef>
                <a:spcPts val="300"/>
              </a:spcBef>
              <a:buFont typeface="Arial" panose="020B0604020202020204" pitchFamily="34" charset="0"/>
              <a:buChar char="•"/>
            </a:pPr>
            <a:r>
              <a:rPr lang="en-GB" altLang="en-US" sz="1000" dirty="0"/>
              <a:t>Figure top right (from Ramsay &amp; Huber, p.184): the inferred variation in strain ellipse across a massive (left) and a graded (right) bed</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Figure bottom right (from Fossen, p.293). An example of how this “shared ellipse” feature can be used to good effect when analysing the strain within some folded interbeds around the </a:t>
            </a:r>
            <a:r>
              <a:rPr lang="en-GB" altLang="en-US" sz="1000" dirty="0" err="1"/>
              <a:t>Rhoscolyn</a:t>
            </a:r>
            <a:r>
              <a:rPr lang="en-GB" altLang="en-US" sz="1000" dirty="0"/>
              <a:t> </a:t>
            </a:r>
            <a:r>
              <a:rPr lang="en-GB" altLang="en-US" sz="1000" dirty="0" err="1"/>
              <a:t>antiform</a:t>
            </a:r>
            <a:r>
              <a:rPr lang="en-GB" altLang="en-US" sz="1000" dirty="0"/>
              <a:t>, Anglesey, North Wales, is given by </a:t>
            </a:r>
            <a:r>
              <a:rPr lang="en-GB" altLang="en-US" sz="1000" dirty="0" err="1"/>
              <a:t>Hassani</a:t>
            </a:r>
            <a:r>
              <a:rPr lang="en-GB" altLang="en-US" sz="1000" dirty="0"/>
              <a:t> </a:t>
            </a:r>
            <a:r>
              <a:rPr lang="en-GB" altLang="en-US" sz="1000" i="1" dirty="0"/>
              <a:t>et al.</a:t>
            </a:r>
            <a:r>
              <a:rPr lang="en-GB" altLang="en-US" sz="1000" dirty="0"/>
              <a:t>, 2004, </a:t>
            </a:r>
            <a:r>
              <a:rPr lang="en-GB" altLang="en-US" sz="1000" i="1" dirty="0"/>
              <a:t>Geological Journal</a:t>
            </a:r>
            <a:r>
              <a:rPr lang="en-GB" altLang="en-US" sz="1000" dirty="0"/>
              <a:t> 39: 141-156, </a:t>
            </a:r>
            <a:r>
              <a:rPr lang="en-GB" sz="1000" dirty="0"/>
              <a:t>https://doi.org/10.1002/gj.949</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a:extLst>
              <a:ext uri="{FF2B5EF4-FFF2-40B4-BE49-F238E27FC236}">
                <a16:creationId xmlns:a16="http://schemas.microsoft.com/office/drawing/2014/main" id="{98224AB3-688E-4156-95F2-B6C1D01D8581}"/>
              </a:ext>
            </a:extLst>
          </p:cNvPr>
          <p:cNvSpPr>
            <a:spLocks noGrp="1" noRot="1" noChangeAspect="1" noChangeArrowheads="1" noTextEdit="1"/>
          </p:cNvSpPr>
          <p:nvPr>
            <p:ph type="sldImg"/>
          </p:nvPr>
        </p:nvSpPr>
        <p:spPr>
          <a:ln/>
        </p:spPr>
      </p:sp>
      <p:sp>
        <p:nvSpPr>
          <p:cNvPr id="320515" name="Rectangle 3">
            <a:extLst>
              <a:ext uri="{FF2B5EF4-FFF2-40B4-BE49-F238E27FC236}">
                <a16:creationId xmlns:a16="http://schemas.microsoft.com/office/drawing/2014/main" id="{59FD0093-C7AA-4555-B9B9-3747C8148FBA}"/>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an account of the analysis of xenolith shapes from the </a:t>
            </a:r>
            <a:r>
              <a:rPr lang="en-GB" altLang="en-US" sz="1000" dirty="0" err="1"/>
              <a:t>Chindamora</a:t>
            </a:r>
            <a:r>
              <a:rPr lang="en-GB" altLang="en-US" sz="1000" dirty="0"/>
              <a:t> batholith, see Ramsay, 1989, </a:t>
            </a:r>
            <a:r>
              <a:rPr lang="en-GB" altLang="en-US" sz="1000" i="1" dirty="0"/>
              <a:t>Journal of Structural Geology</a:t>
            </a:r>
            <a:r>
              <a:rPr lang="en-GB" altLang="en-US" sz="1000" dirty="0"/>
              <a:t> 11: 191-210, </a:t>
            </a:r>
            <a:r>
              <a:rPr lang="en-GB" sz="1000" dirty="0"/>
              <a:t>https://doi.org/10.1016/0191-8141(89)90043-6</a:t>
            </a:r>
            <a:endParaRPr lang="en-GB" altLang="en-US" sz="1000" dirty="0"/>
          </a:p>
          <a:p>
            <a:pPr marL="108000" indent="-108000">
              <a:spcBef>
                <a:spcPts val="300"/>
              </a:spcBef>
              <a:buFont typeface="Arial" panose="020B0604020202020204" pitchFamily="34" charset="0"/>
              <a:buChar char="•"/>
            </a:pPr>
            <a:r>
              <a:rPr lang="en-GB" altLang="en-US" sz="1000" dirty="0"/>
              <a:t>Figure from Ramsay &amp; Huber, p.204</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a:extLst>
              <a:ext uri="{FF2B5EF4-FFF2-40B4-BE49-F238E27FC236}">
                <a16:creationId xmlns:a16="http://schemas.microsoft.com/office/drawing/2014/main" id="{6018A92E-4287-4D79-9019-DDDC1E5CF31D}"/>
              </a:ext>
            </a:extLst>
          </p:cNvPr>
          <p:cNvSpPr>
            <a:spLocks noGrp="1" noRot="1" noChangeAspect="1" noChangeArrowheads="1" noTextEdit="1"/>
          </p:cNvSpPr>
          <p:nvPr>
            <p:ph type="sldImg"/>
          </p:nvPr>
        </p:nvSpPr>
        <p:spPr>
          <a:ln/>
        </p:spPr>
      </p:sp>
      <p:sp>
        <p:nvSpPr>
          <p:cNvPr id="323587" name="Rectangle 3">
            <a:extLst>
              <a:ext uri="{FF2B5EF4-FFF2-40B4-BE49-F238E27FC236}">
                <a16:creationId xmlns:a16="http://schemas.microsoft.com/office/drawing/2014/main" id="{DC71A217-0145-48DF-BE05-F7D08C164270}"/>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Ramsay &amp; Huber, p.205</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A landmark early study of strain variation around folds which is depicted in similar form to that shown on this slide was by </a:t>
            </a:r>
            <a:r>
              <a:rPr lang="en-GB" altLang="en-US" sz="1000" dirty="0" err="1"/>
              <a:t>Cloos</a:t>
            </a:r>
            <a:r>
              <a:rPr lang="en-GB" altLang="en-US" sz="1000" dirty="0"/>
              <a:t>, 1947, </a:t>
            </a:r>
            <a:r>
              <a:rPr lang="en-GB" altLang="en-US" sz="1000" i="1" dirty="0"/>
              <a:t>Geological Society of America Bulletin</a:t>
            </a:r>
            <a:r>
              <a:rPr lang="en-GB" altLang="en-US" sz="1000" dirty="0"/>
              <a:t> 58: 843-918, </a:t>
            </a:r>
            <a:r>
              <a:rPr lang="en-GB" sz="1000" dirty="0"/>
              <a:t>https://doi.org/10.1130/0016-7606(1947)58[843:ODITSM]2.0.CO;2</a:t>
            </a:r>
            <a:r>
              <a:rPr lang="en-GB" altLang="en-US" sz="1000" dirty="0"/>
              <a:t>. That study determined strain from deformed ooids in limestones around the South Mountain </a:t>
            </a:r>
            <a:r>
              <a:rPr lang="en-GB" altLang="en-US" sz="1000" dirty="0" err="1"/>
              <a:t>Antiform</a:t>
            </a:r>
            <a:r>
              <a:rPr lang="en-GB" altLang="en-US" sz="1000" dirty="0"/>
              <a:t>, Maryland, U.S.A.</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a:extLst>
              <a:ext uri="{FF2B5EF4-FFF2-40B4-BE49-F238E27FC236}">
                <a16:creationId xmlns:a16="http://schemas.microsoft.com/office/drawing/2014/main" id="{4311AE9B-85C4-4152-9F6D-E4AB5A3194BB}"/>
              </a:ext>
            </a:extLst>
          </p:cNvPr>
          <p:cNvSpPr>
            <a:spLocks noGrp="1" noRot="1" noChangeAspect="1" noChangeArrowheads="1" noTextEdit="1"/>
          </p:cNvSpPr>
          <p:nvPr>
            <p:ph type="sldImg"/>
          </p:nvPr>
        </p:nvSpPr>
        <p:spPr>
          <a:ln/>
        </p:spPr>
      </p:sp>
      <p:sp>
        <p:nvSpPr>
          <p:cNvPr id="371715" name="Rectangle 3">
            <a:extLst>
              <a:ext uri="{FF2B5EF4-FFF2-40B4-BE49-F238E27FC236}">
                <a16:creationId xmlns:a16="http://schemas.microsoft.com/office/drawing/2014/main" id="{430D9855-796A-4EF4-9823-2123279A0CA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Gray, 1995, </a:t>
            </a:r>
            <a:r>
              <a:rPr lang="en-GB" altLang="en-US" sz="1000" i="1" dirty="0"/>
              <a:t>Journal of Structural Geology</a:t>
            </a:r>
            <a:r>
              <a:rPr lang="en-GB" altLang="en-US" sz="1000" dirty="0"/>
              <a:t> 17: 1637-1654, </a:t>
            </a:r>
            <a:r>
              <a:rPr lang="en-GB" sz="1000" dirty="0"/>
              <a:t>https://doi.org/10.1016/0191-8141(95)00068-O</a:t>
            </a:r>
            <a:r>
              <a:rPr lang="en-GB" altLang="en-US" sz="1000" dirty="0"/>
              <a:t>. In Class 4 we will consider zones of localized deformation (shear zones) like this</a:t>
            </a:r>
          </a:p>
          <a:p>
            <a:pPr marL="108000" indent="-108000">
              <a:spcBef>
                <a:spcPts val="300"/>
              </a:spcBef>
              <a:buFont typeface="Arial" panose="020B0604020202020204" pitchFamily="34" charset="0"/>
              <a:buChar char="•"/>
            </a:pPr>
            <a:r>
              <a:rPr lang="en-GB" altLang="en-US" sz="1000" dirty="0"/>
              <a:t>An example of how measurements showing the variation in strain within a fold and thrust belt may be analysed is given by Coward &amp; Potts, 1983, </a:t>
            </a:r>
            <a:r>
              <a:rPr lang="en-GB" altLang="en-US" sz="1000" i="1" dirty="0"/>
              <a:t>Journal of Structural Geology</a:t>
            </a:r>
            <a:r>
              <a:rPr lang="en-GB" altLang="en-US" sz="1000" dirty="0"/>
              <a:t> 5: 383-399, </a:t>
            </a:r>
            <a:r>
              <a:rPr lang="en-GB" sz="1000" dirty="0"/>
              <a:t>https://doi.org/10.1016/0191-8141(83)90025-1</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a:extLst>
              <a:ext uri="{FF2B5EF4-FFF2-40B4-BE49-F238E27FC236}">
                <a16:creationId xmlns:a16="http://schemas.microsoft.com/office/drawing/2014/main" id="{4C717E49-EE56-418E-931A-2C89DDC7B251}"/>
              </a:ext>
            </a:extLst>
          </p:cNvPr>
          <p:cNvSpPr>
            <a:spLocks noGrp="1" noRot="1" noChangeAspect="1" noChangeArrowheads="1" noTextEdit="1"/>
          </p:cNvSpPr>
          <p:nvPr>
            <p:ph type="sldImg"/>
          </p:nvPr>
        </p:nvSpPr>
        <p:spPr>
          <a:ln/>
        </p:spPr>
      </p:sp>
      <p:sp>
        <p:nvSpPr>
          <p:cNvPr id="325635" name="Rectangle 3">
            <a:extLst>
              <a:ext uri="{FF2B5EF4-FFF2-40B4-BE49-F238E27FC236}">
                <a16:creationId xmlns:a16="http://schemas.microsoft.com/office/drawing/2014/main" id="{D8967775-1375-4508-97A6-85DAD0CC89A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Strains on deforming surface features are commonly estimated by measuring the changing relative position of a set of marker points, </a:t>
            </a:r>
            <a:r>
              <a:rPr lang="en-GB" altLang="en-US" sz="1000" i="1" dirty="0"/>
              <a:t>e.g.</a:t>
            </a:r>
            <a:r>
              <a:rPr lang="en-GB" altLang="en-US" sz="1000" i="0" dirty="0"/>
              <a:t>, the changing relative position of a set of stakes on a glacier, of a set of survey stations on a creeping landslip, or of geodetic survey stations (GPS locations) across a region of a tectonic plate. There are various approaches to recovering the strain from the position measurements (for a recent approach and references to alternative strategies, see Robin, 2019, </a:t>
            </a:r>
            <a:r>
              <a:rPr lang="en-GB" altLang="en-US" sz="1000" i="1" dirty="0"/>
              <a:t>Journal of Structural Geology</a:t>
            </a:r>
            <a:r>
              <a:rPr lang="en-GB" altLang="en-US" sz="1000" i="0" dirty="0"/>
              <a:t> 124, 211-224, </a:t>
            </a:r>
            <a:r>
              <a:rPr lang="en-GB" sz="1000" dirty="0"/>
              <a:t>https://doi.org/10.1016/j.jsg.2018.12.011</a:t>
            </a:r>
            <a:r>
              <a:rPr lang="en-GB" altLang="en-US" sz="1000" i="0" dirty="0"/>
              <a:t>)</a:t>
            </a:r>
            <a:endParaRPr lang="en-GB" altLang="en-US" sz="1000" dirty="0"/>
          </a:p>
          <a:p>
            <a:pPr marL="108000" indent="-108000">
              <a:spcBef>
                <a:spcPts val="300"/>
              </a:spcBef>
              <a:buFont typeface="Arial" panose="020B0604020202020204" pitchFamily="34" charset="0"/>
              <a:buChar char="•"/>
            </a:pPr>
            <a:r>
              <a:rPr lang="en-GB" altLang="en-US" sz="1000" dirty="0"/>
              <a:t>Figure left from </a:t>
            </a:r>
            <a:r>
              <a:rPr lang="en-GB" altLang="en-US" sz="1000" dirty="0" err="1"/>
              <a:t>Hambrey</a:t>
            </a:r>
            <a:r>
              <a:rPr lang="en-GB" altLang="en-US" sz="1000" dirty="0"/>
              <a:t> </a:t>
            </a:r>
            <a:r>
              <a:rPr lang="en-GB" altLang="en-US" sz="1000" i="1" dirty="0"/>
              <a:t>et al.</a:t>
            </a:r>
            <a:r>
              <a:rPr lang="en-GB" altLang="en-US" sz="1000" dirty="0"/>
              <a:t>, 1980, </a:t>
            </a:r>
            <a:r>
              <a:rPr lang="en-GB" altLang="en-US" sz="1000" i="1" dirty="0"/>
              <a:t>Journal of Glaciology</a:t>
            </a:r>
            <a:r>
              <a:rPr lang="en-GB" altLang="en-US" sz="1000" dirty="0"/>
              <a:t> 25: 215-228, </a:t>
            </a:r>
            <a:r>
              <a:rPr lang="en-GB" sz="1000" dirty="0"/>
              <a:t>https://doi:10.3189/S0022143000010455</a:t>
            </a:r>
            <a:endParaRPr lang="en-GB" altLang="en-US" sz="1000" dirty="0"/>
          </a:p>
          <a:p>
            <a:pPr marL="108000" indent="-108000">
              <a:spcBef>
                <a:spcPts val="300"/>
              </a:spcBef>
              <a:buFont typeface="Arial" panose="020B0604020202020204" pitchFamily="34" charset="0"/>
              <a:buChar char="•"/>
            </a:pPr>
            <a:r>
              <a:rPr lang="en-GB" altLang="en-US" sz="1000" dirty="0"/>
              <a:t>Figure right from </a:t>
            </a:r>
            <a:r>
              <a:rPr lang="en-GB" altLang="en-US" sz="1000" dirty="0" err="1"/>
              <a:t>Hambrey</a:t>
            </a:r>
            <a:r>
              <a:rPr lang="en-GB" altLang="en-US" sz="1000" dirty="0"/>
              <a:t> </a:t>
            </a:r>
            <a:r>
              <a:rPr lang="en-GB" altLang="en-US" sz="1000" i="1" dirty="0"/>
              <a:t>et al.</a:t>
            </a:r>
            <a:r>
              <a:rPr lang="en-GB" altLang="en-US" sz="1000" dirty="0"/>
              <a:t>, 2005, </a:t>
            </a:r>
            <a:r>
              <a:rPr lang="en-GB" altLang="en-US" sz="1000" i="1" dirty="0"/>
              <a:t>Journal of Geophysical Research</a:t>
            </a:r>
            <a:r>
              <a:rPr lang="en-GB" altLang="en-US" sz="1000" dirty="0"/>
              <a:t> 110, article F01006, </a:t>
            </a:r>
            <a:r>
              <a:rPr lang="en-GB" sz="1000" dirty="0"/>
              <a:t>https://doi</a:t>
            </a:r>
            <a:r>
              <a:rPr lang="en-GB" sz="1000" dirty="0">
                <a:effectLst/>
                <a:latin typeface="Times New Roman" panose="02020603050405020304" pitchFamily="18" charset="0"/>
              </a:rPr>
              <a:t>:10.1029/2004JF000128</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a:extLst>
              <a:ext uri="{FF2B5EF4-FFF2-40B4-BE49-F238E27FC236}">
                <a16:creationId xmlns:a16="http://schemas.microsoft.com/office/drawing/2014/main" id="{129AFE23-B954-48F9-B714-47C91A904E01}"/>
              </a:ext>
            </a:extLst>
          </p:cNvPr>
          <p:cNvSpPr>
            <a:spLocks noGrp="1" noRot="1" noChangeAspect="1" noChangeArrowheads="1" noTextEdit="1"/>
          </p:cNvSpPr>
          <p:nvPr>
            <p:ph type="sldImg"/>
          </p:nvPr>
        </p:nvSpPr>
        <p:spPr>
          <a:ln/>
        </p:spPr>
      </p:sp>
      <p:sp>
        <p:nvSpPr>
          <p:cNvPr id="328707" name="Rectangle 3">
            <a:extLst>
              <a:ext uri="{FF2B5EF4-FFF2-40B4-BE49-F238E27FC236}">
                <a16:creationId xmlns:a16="http://schemas.microsoft.com/office/drawing/2014/main" id="{72987D4B-6AFA-4547-82FF-A6DA0BAC70A8}"/>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Mam Tor landslip at </a:t>
            </a:r>
            <a:r>
              <a:rPr lang="en-GB" altLang="en-US" sz="1000" dirty="0">
                <a:latin typeface="Times New Roman" panose="02020603050405020304" pitchFamily="18" charset="0"/>
                <a:cs typeface="Times New Roman" panose="02020603050405020304" pitchFamily="18" charset="0"/>
              </a:rPr>
              <a:t>Castleton, Derbyshire, is the subject of ongoing surveys by DEES (led and coordinated by Ernie Rutter). For an overview of this survey work set within the context of other landslips in the local area, see Green </a:t>
            </a:r>
            <a:r>
              <a:rPr lang="en-GB" altLang="en-US" sz="1000" i="1" dirty="0">
                <a:latin typeface="Times New Roman" panose="02020603050405020304" pitchFamily="18" charset="0"/>
                <a:cs typeface="Times New Roman" panose="02020603050405020304" pitchFamily="18" charset="0"/>
              </a:rPr>
              <a:t>et al.</a:t>
            </a:r>
            <a:r>
              <a:rPr lang="en-GB" altLang="en-US" sz="1000" i="0" dirty="0">
                <a:latin typeface="Times New Roman" panose="02020603050405020304" pitchFamily="18" charset="0"/>
                <a:cs typeface="Times New Roman" panose="02020603050405020304" pitchFamily="18" charset="0"/>
              </a:rPr>
              <a:t>, 2020, In: Goudie &amp; </a:t>
            </a:r>
            <a:r>
              <a:rPr lang="en-GB" altLang="en-US" sz="1000" i="0" dirty="0" err="1">
                <a:latin typeface="Times New Roman" panose="02020603050405020304" pitchFamily="18" charset="0"/>
                <a:cs typeface="Times New Roman" panose="02020603050405020304" pitchFamily="18" charset="0"/>
              </a:rPr>
              <a:t>Migoń</a:t>
            </a:r>
            <a:r>
              <a:rPr lang="en-GB" altLang="en-US" sz="1000" i="0" dirty="0">
                <a:latin typeface="Times New Roman" panose="02020603050405020304" pitchFamily="18" charset="0"/>
                <a:cs typeface="Times New Roman" panose="02020603050405020304" pitchFamily="18" charset="0"/>
              </a:rPr>
              <a:t>, </a:t>
            </a:r>
            <a:r>
              <a:rPr lang="en-GB" altLang="en-US" sz="1000" i="1" dirty="0">
                <a:latin typeface="Times New Roman" panose="02020603050405020304" pitchFamily="18" charset="0"/>
                <a:cs typeface="Times New Roman" panose="02020603050405020304" pitchFamily="18" charset="0"/>
              </a:rPr>
              <a:t>Landscapes and Landforms of England and Wales</a:t>
            </a:r>
            <a:r>
              <a:rPr lang="en-GB" altLang="en-US" sz="1000" i="0" dirty="0">
                <a:latin typeface="Times New Roman" panose="02020603050405020304" pitchFamily="18" charset="0"/>
                <a:cs typeface="Times New Roman" panose="02020603050405020304" pitchFamily="18" charset="0"/>
              </a:rPr>
              <a:t>, Chapter 24, </a:t>
            </a:r>
            <a:r>
              <a:rPr lang="en-GB" sz="1000" b="0" i="0" u="none" strike="noStrike" baseline="0" dirty="0">
                <a:solidFill>
                  <a:srgbClr val="0000FF"/>
                </a:solidFill>
                <a:latin typeface="Times New Roman" panose="02020603050405020304" pitchFamily="18" charset="0"/>
                <a:cs typeface="Times New Roman" panose="02020603050405020304" pitchFamily="18" charset="0"/>
              </a:rPr>
              <a:t>https://doi.org/10.1007/978-3-030-38957-4_24. </a:t>
            </a:r>
            <a:r>
              <a:rPr lang="en-GB" altLang="en-US" sz="1000" dirty="0">
                <a:latin typeface="Times New Roman" panose="02020603050405020304" pitchFamily="18" charset="0"/>
                <a:cs typeface="Times New Roman" panose="02020603050405020304" pitchFamily="18" charset="0"/>
              </a:rPr>
              <a:t>These surveys have established that over the last 200 years the landslip has been moving at an average rate of 26 c</a:t>
            </a:r>
            <a:r>
              <a:rPr lang="en-GB" altLang="en-US" sz="1000" spc="150" baseline="0" dirty="0">
                <a:latin typeface="Times New Roman" panose="02020603050405020304" pitchFamily="18" charset="0"/>
                <a:cs typeface="Times New Roman" panose="02020603050405020304" pitchFamily="18" charset="0"/>
              </a:rPr>
              <a:t>m</a:t>
            </a:r>
            <a:r>
              <a:rPr lang="en-GB" altLang="en-US" sz="1000" dirty="0">
                <a:latin typeface="Times New Roman" panose="02020603050405020304" pitchFamily="18" charset="0"/>
                <a:cs typeface="Times New Roman" panose="02020603050405020304" pitchFamily="18" charset="0"/>
              </a:rPr>
              <a:t>yr</a:t>
            </a:r>
            <a:r>
              <a:rPr lang="en-GB" altLang="en-US" sz="1000" baseline="30000" dirty="0">
                <a:latin typeface="Times New Roman" panose="02020603050405020304" pitchFamily="18" charset="0"/>
                <a:cs typeface="Times New Roman" panose="02020603050405020304" pitchFamily="18" charset="0"/>
              </a:rPr>
              <a:t>-1</a:t>
            </a:r>
            <a:r>
              <a:rPr lang="en-GB" altLang="en-US" sz="1000" baseline="0" dirty="0">
                <a:latin typeface="Times New Roman" panose="02020603050405020304" pitchFamily="18" charset="0"/>
                <a:cs typeface="Times New Roman" panose="02020603050405020304" pitchFamily="18" charset="0"/>
              </a:rPr>
              <a:t>. Over this time there have been periods of enhanced movement after prolonged heavy rainfall, particularly in the winter months when vegetation is not as effective at removing groundwater by evapotranspiration processes. The relative instability of the landslip compared with other landslips in the region is because ongoing slip prevents the development of a dendritic stream system that would otherwise </a:t>
            </a:r>
            <a:r>
              <a:rPr lang="en-GB" altLang="en-US" sz="1000" baseline="0" dirty="0"/>
              <a:t>drain water from the landslip</a:t>
            </a:r>
            <a:endParaRPr lang="en-GB" altLang="en-US" sz="1000" dirty="0"/>
          </a:p>
          <a:p>
            <a:pPr marL="108000" indent="-108000">
              <a:spcBef>
                <a:spcPts val="300"/>
              </a:spcBef>
              <a:buFont typeface="Arial" panose="020B0604020202020204" pitchFamily="34" charset="0"/>
              <a:buChar char="•"/>
            </a:pPr>
            <a:r>
              <a:rPr lang="en-GB" altLang="en-US" sz="1000" dirty="0"/>
              <a:t>Figure left (from Rutter </a:t>
            </a:r>
            <a:r>
              <a:rPr lang="en-GB" altLang="en-US" sz="1000" i="1" dirty="0"/>
              <a:t>et al.</a:t>
            </a:r>
            <a:r>
              <a:rPr lang="en-GB" altLang="en-US" sz="1000" dirty="0"/>
              <a:t>, 2003, </a:t>
            </a:r>
            <a:r>
              <a:rPr lang="en-GB" altLang="en-US" sz="1000" i="1" dirty="0"/>
              <a:t>Journal of the Geological Society, London</a:t>
            </a:r>
            <a:r>
              <a:rPr lang="en-GB" altLang="en-US" sz="1000" dirty="0"/>
              <a:t> 160: 735-744, </a:t>
            </a:r>
            <a:r>
              <a:rPr lang="en-GB" sz="1000" dirty="0"/>
              <a:t>https://doi.org/10.1144/0016-764903-002</a:t>
            </a:r>
            <a:r>
              <a:rPr lang="en-GB" altLang="en-US" sz="1000" dirty="0"/>
              <a:t>)</a:t>
            </a:r>
          </a:p>
          <a:p>
            <a:pPr marL="108000" indent="-108000">
              <a:spcBef>
                <a:spcPts val="300"/>
              </a:spcBef>
              <a:buFont typeface="Arial" panose="020B0604020202020204" pitchFamily="34" charset="0"/>
              <a:buChar char="•"/>
            </a:pPr>
            <a:r>
              <a:rPr lang="en-GB" altLang="en-US" sz="1000" dirty="0"/>
              <a:t>Figure right (from Rutter &amp; Green, 2011, </a:t>
            </a:r>
            <a:r>
              <a:rPr lang="en-GB" altLang="en-US" sz="1000" i="1" dirty="0"/>
              <a:t>Journal of the Geological Society, London</a:t>
            </a:r>
            <a:r>
              <a:rPr lang="en-GB" altLang="en-US" sz="1000" dirty="0"/>
              <a:t> 168: 359-372, </a:t>
            </a:r>
            <a:r>
              <a:rPr lang="en-GB" sz="1000" dirty="0"/>
              <a:t>https://doi.org/10.1144/0016-76492010-133</a:t>
            </a:r>
            <a:r>
              <a:rPr lang="en-GB" altLang="en-US" sz="1000" dirty="0"/>
              <a:t>): showing the measured surface displacement field of the landslip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233CAEBA-0D15-4B91-8C56-9E7F62172B34}" type="slidenum">
              <a:rPr lang="en-GB" altLang="en-US" smtClean="0"/>
              <a:pPr/>
              <a:t>45</a:t>
            </a:fld>
            <a:endParaRPr lang="en-GB" altLang="en-US"/>
          </a:p>
        </p:txBody>
      </p:sp>
    </p:spTree>
    <p:extLst>
      <p:ext uri="{BB962C8B-B14F-4D97-AF65-F5344CB8AC3E}">
        <p14:creationId xmlns:p14="http://schemas.microsoft.com/office/powerpoint/2010/main" val="1478409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292" name="Title"/>
          <p:cNvSpPr>
            <a:spLocks noGrp="1" noChangeArrowheads="1"/>
          </p:cNvSpPr>
          <p:nvPr>
            <p:ph type="ctrTitle"/>
          </p:nvPr>
        </p:nvSpPr>
        <p:spPr bwMode="black">
          <a:xfrm>
            <a:off x="566738" y="2647950"/>
            <a:ext cx="8123237" cy="6254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lvl1pPr algn="ctr">
              <a:defRPr sz="3500"/>
            </a:lvl1pPr>
          </a:lstStyle>
          <a:p>
            <a:pPr lvl="0"/>
            <a:r>
              <a:rPr lang="en-GB" noProof="0"/>
              <a:t>Click to edit Master title style</a:t>
            </a:r>
          </a:p>
        </p:txBody>
      </p:sp>
    </p:spTree>
    <p:extLst>
      <p:ext uri="{BB962C8B-B14F-4D97-AF65-F5344CB8AC3E}">
        <p14:creationId xmlns:p14="http://schemas.microsoft.com/office/powerpoint/2010/main" val="2412540981"/>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21767563"/>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15734354"/>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255588" y="917575"/>
            <a:ext cx="4291012"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76514923"/>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83733604"/>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9727274"/>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8332665"/>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51972316"/>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93962486"/>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2968952"/>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0375" y="93663"/>
            <a:ext cx="2184400" cy="65532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252413" y="93663"/>
            <a:ext cx="6405562"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26462526"/>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p:cNvSpPr>
            <a:spLocks noGrp="1"/>
          </p:cNvSpPr>
          <p:nvPr>
            <p:ph type="body"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57487324"/>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4FCB4-FC95-496B-AF10-B7816CB6A95E}"/>
              </a:ext>
            </a:extLst>
          </p:cNvPr>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41A606A-069F-4DD4-85DA-A6F11915E687}"/>
              </a:ext>
            </a:extLst>
          </p:cNvPr>
          <p:cNvSpPr>
            <a:spLocks noGrp="1"/>
          </p:cNvSpPr>
          <p:nvPr>
            <p:ph type="body" sz="half" idx="1"/>
          </p:nvPr>
        </p:nvSpPr>
        <p:spPr>
          <a:xfrm>
            <a:off x="255588" y="917575"/>
            <a:ext cx="4291012" cy="57292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B89DEC5-CAE4-42D3-A080-AEBE8D49D060}"/>
              </a:ext>
            </a:extLst>
          </p:cNvPr>
          <p:cNvSpPr>
            <a:spLocks noGrp="1"/>
          </p:cNvSpPr>
          <p:nvPr>
            <p:ph sz="quarter" idx="2"/>
          </p:nvPr>
        </p:nvSpPr>
        <p:spPr>
          <a:xfrm>
            <a:off x="4699000" y="917575"/>
            <a:ext cx="4291013" cy="2787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a:extLst>
              <a:ext uri="{FF2B5EF4-FFF2-40B4-BE49-F238E27FC236}">
                <a16:creationId xmlns:a16="http://schemas.microsoft.com/office/drawing/2014/main" id="{92D20CD9-5CAC-41DF-AC05-EB431FFB7FC4}"/>
              </a:ext>
            </a:extLst>
          </p:cNvPr>
          <p:cNvSpPr>
            <a:spLocks noGrp="1"/>
          </p:cNvSpPr>
          <p:nvPr>
            <p:ph sz="quarter" idx="3"/>
          </p:nvPr>
        </p:nvSpPr>
        <p:spPr>
          <a:xfrm>
            <a:off x="4699000" y="3857625"/>
            <a:ext cx="4291013" cy="27892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2564586"/>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4F30B97B-3B4D-4E6E-8FA0-BCCA7453DF27}"/>
              </a:ext>
            </a:extLst>
          </p:cNvPr>
          <p:cNvSpPr>
            <a:spLocks noGrp="1" noChangeArrowheads="1"/>
          </p:cNvSpPr>
          <p:nvPr>
            <p:ph type="title"/>
          </p:nvPr>
        </p:nvSpPr>
        <p:spPr bwMode="auto">
          <a:xfrm>
            <a:off x="252413" y="93663"/>
            <a:ext cx="8742362"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GB"/>
              <a:t>Click to edit Master title style</a:t>
            </a:r>
          </a:p>
        </p:txBody>
      </p:sp>
      <p:sp>
        <p:nvSpPr>
          <p:cNvPr id="11268" name="Rectangle 4">
            <a:extLst>
              <a:ext uri="{FF2B5EF4-FFF2-40B4-BE49-F238E27FC236}">
                <a16:creationId xmlns:a16="http://schemas.microsoft.com/office/drawing/2014/main" id="{83B04E6C-DB06-4114-89D8-E2C20423707A}"/>
              </a:ext>
            </a:extLst>
          </p:cNvPr>
          <p:cNvSpPr>
            <a:spLocks noGrp="1" noChangeArrowheads="1"/>
          </p:cNvSpPr>
          <p:nvPr>
            <p:ph type="body" idx="1"/>
          </p:nvPr>
        </p:nvSpPr>
        <p:spPr bwMode="auto">
          <a:xfrm>
            <a:off x="255588" y="917575"/>
            <a:ext cx="8734425" cy="572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288" name="Line 24">
            <a:extLst>
              <a:ext uri="{FF2B5EF4-FFF2-40B4-BE49-F238E27FC236}">
                <a16:creationId xmlns:a16="http://schemas.microsoft.com/office/drawing/2014/main" id="{E5B183F2-9CCA-4004-9188-0144C94AC29B}"/>
              </a:ext>
            </a:extLst>
          </p:cNvPr>
          <p:cNvSpPr>
            <a:spLocks noChangeShapeType="1"/>
          </p:cNvSpPr>
          <p:nvPr/>
        </p:nvSpPr>
        <p:spPr bwMode="auto">
          <a:xfrm>
            <a:off x="0" y="73501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 bg1="dk2" tx1="lt1" bg2="dk1" tx2="lt2" accent1="accent1" accent2="accent2" accent3="accent3" accent4="accent4" accent5="accent5" accent6="accent6" hlink="hlink" folHlink="folHlink"/>
  <p:sldLayoutIdLst>
    <p:sldLayoutId id="2147483677" r:id="rId1"/>
    <p:sldLayoutId id="2147483675" r:id="rId2"/>
    <p:sldLayoutId id="2147483674" r:id="rId3"/>
    <p:sldLayoutId id="2147483673" r:id="rId4"/>
    <p:sldLayoutId id="2147483672" r:id="rId5"/>
    <p:sldLayoutId id="2147483671" r:id="rId6"/>
    <p:sldLayoutId id="2147483670" r:id="rId7"/>
    <p:sldLayoutId id="2147483669" r:id="rId8"/>
    <p:sldLayoutId id="2147483668" r:id="rId9"/>
    <p:sldLayoutId id="2147483667" r:id="rId10"/>
    <p:sldLayoutId id="2147483666" r:id="rId11"/>
    <p:sldLayoutId id="2147483665" r:id="rId12"/>
    <p:sldLayoutId id="2147483676" r:id="rId13"/>
  </p:sldLayoutIdLst>
  <p:transition spd="slow"/>
  <p:txStyles>
    <p:titleStyle>
      <a:lvl1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2pPr>
      <a:lvl3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3pPr>
      <a:lvl4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4pPr>
      <a:lvl5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5pPr>
      <a:lvl6pPr marL="4572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6pPr>
      <a:lvl7pPr marL="9144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7pPr>
      <a:lvl8pPr marL="13716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8pPr>
      <a:lvl9pPr marL="18288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9pPr>
    </p:titleStyle>
    <p:bodyStyle>
      <a:lvl1pPr marL="288925" indent="-288925" algn="l" rtl="0" eaLnBrk="0" fontAlgn="base" hangingPunct="0">
        <a:lnSpc>
          <a:spcPct val="120000"/>
        </a:lnSpc>
        <a:spcBef>
          <a:spcPct val="100000"/>
        </a:spcBef>
        <a:spcAft>
          <a:spcPct val="0"/>
        </a:spcAft>
        <a:buClr>
          <a:schemeClr val="folHlink"/>
        </a:buClr>
        <a:buSzPct val="100000"/>
        <a:buFont typeface="Times" panose="02020603050405020304" pitchFamily="18" charset="0"/>
        <a:buChar char="•"/>
        <a:defRPr sz="2000">
          <a:solidFill>
            <a:schemeClr val="tx1"/>
          </a:solidFill>
          <a:effectLst>
            <a:outerShdw blurRad="38100" dist="38100" dir="2700000" algn="tl">
              <a:srgbClr val="000000"/>
            </a:outerShdw>
          </a:effectLst>
          <a:latin typeface="+mn-lt"/>
          <a:ea typeface="+mn-ea"/>
          <a:cs typeface="+mn-cs"/>
        </a:defRPr>
      </a:lvl1pPr>
      <a:lvl2pPr marL="762000" indent="-187325" algn="l" rtl="0" eaLnBrk="0" fontAlgn="base" hangingPunct="0">
        <a:lnSpc>
          <a:spcPct val="120000"/>
        </a:lnSpc>
        <a:spcBef>
          <a:spcPct val="50000"/>
        </a:spcBef>
        <a:spcAft>
          <a:spcPct val="0"/>
        </a:spcAft>
        <a:buClr>
          <a:schemeClr val="folHlink"/>
        </a:buClr>
        <a:buSzPct val="100000"/>
        <a:buFont typeface="Times" panose="02020603050405020304" pitchFamily="18" charset="0"/>
        <a:buChar char="•"/>
        <a:defRPr>
          <a:solidFill>
            <a:schemeClr val="tx1"/>
          </a:solidFill>
          <a:effectLst>
            <a:outerShdw blurRad="38100" dist="38100" dir="2700000" algn="tl">
              <a:srgbClr val="000000"/>
            </a:outerShdw>
          </a:effectLst>
          <a:latin typeface="+mn-lt"/>
        </a:defRPr>
      </a:lvl2pPr>
      <a:lvl3pPr marL="1235075" indent="-18415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3pPr>
      <a:lvl4pPr marL="1698625" indent="-22860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4pPr>
      <a:lvl5pPr marL="2117725" indent="-228600" algn="l" rtl="0" eaLnBrk="0" fontAlgn="base" hangingPunct="0">
        <a:spcBef>
          <a:spcPct val="25000"/>
        </a:spcBef>
        <a:spcAft>
          <a:spcPct val="0"/>
        </a:spcAft>
        <a:buClr>
          <a:schemeClr val="folHlink"/>
        </a:buClr>
        <a:buSzPct val="50000"/>
        <a:buFont typeface="Times" panose="02020603050405020304" pitchFamily="18" charset="0"/>
        <a:buChar char="•"/>
        <a:defRPr sz="1600">
          <a:solidFill>
            <a:schemeClr val="tx1"/>
          </a:solidFill>
          <a:effectLst>
            <a:outerShdw blurRad="38100" dist="38100" dir="2700000" algn="tl">
              <a:srgbClr val="000000"/>
            </a:outerShdw>
          </a:effectLst>
          <a:latin typeface="+mn-lt"/>
        </a:defRPr>
      </a:lvl5pPr>
      <a:lvl6pPr marL="25749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6pPr>
      <a:lvl7pPr marL="30321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7pPr>
      <a:lvl8pPr marL="34893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8pPr>
      <a:lvl9pPr marL="39465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24.jpeg"/></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28.jpeg"/></Relationships>
</file>

<file path=ppt/slides/_rels/slide2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31.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33.jpeg"/></Relationships>
</file>

<file path=ppt/slides/_rels/slide2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9.jpeg"/></Relationships>
</file>

<file path=ppt/slides/_rels/slide2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13.xml"/><Relationship Id="rId5" Type="http://schemas.openxmlformats.org/officeDocument/2006/relationships/image" Target="../media/image44.jpeg"/><Relationship Id="rId4" Type="http://schemas.openxmlformats.org/officeDocument/2006/relationships/image" Target="../media/image43.jpe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47.jpeg"/></Relationships>
</file>

<file path=ppt/slides/_rels/slide3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35.xml"/><Relationship Id="rId1" Type="http://schemas.openxmlformats.org/officeDocument/2006/relationships/slideLayout" Target="../slideLayouts/slideLayout13.xml"/><Relationship Id="rId5" Type="http://schemas.openxmlformats.org/officeDocument/2006/relationships/image" Target="../media/image50.jpeg"/><Relationship Id="rId4" Type="http://schemas.openxmlformats.org/officeDocument/2006/relationships/image" Target="../media/image49.jpeg"/></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52.jpeg"/></Relationships>
</file>

<file path=ppt/slides/_rels/slide3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37.xml"/><Relationship Id="rId1" Type="http://schemas.openxmlformats.org/officeDocument/2006/relationships/slideLayout" Target="../slideLayouts/slideLayout13.xml"/><Relationship Id="rId5" Type="http://schemas.openxmlformats.org/officeDocument/2006/relationships/image" Target="../media/image55.jpeg"/><Relationship Id="rId4" Type="http://schemas.openxmlformats.org/officeDocument/2006/relationships/image" Target="../media/image54.jpeg"/></Relationships>
</file>

<file path=ppt/slides/_rels/slide38.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38.xml"/><Relationship Id="rId1" Type="http://schemas.openxmlformats.org/officeDocument/2006/relationships/slideLayout" Target="../slideLayouts/slideLayout13.xml"/><Relationship Id="rId4" Type="http://schemas.openxmlformats.org/officeDocument/2006/relationships/image" Target="../media/image57.jpeg"/></Relationships>
</file>

<file path=ppt/slides/_rels/slide3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39.xml"/><Relationship Id="rId1" Type="http://schemas.openxmlformats.org/officeDocument/2006/relationships/slideLayout" Target="../slideLayouts/slideLayout13.xml"/><Relationship Id="rId5" Type="http://schemas.openxmlformats.org/officeDocument/2006/relationships/image" Target="../media/image60.jpeg"/><Relationship Id="rId4" Type="http://schemas.openxmlformats.org/officeDocument/2006/relationships/image" Target="../media/image59.jpeg"/></Relationships>
</file>

<file path=ppt/slides/_rels/slide4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65.jpeg"/></Relationships>
</file>

<file path=ppt/slides/_rels/slide4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4.xml"/><Relationship Id="rId1" Type="http://schemas.openxmlformats.org/officeDocument/2006/relationships/slideLayout" Target="../slideLayouts/slideLayout13.xml"/><Relationship Id="rId4" Type="http://schemas.openxmlformats.org/officeDocument/2006/relationships/image" Target="../media/image67.jpe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63106552-8E30-4E4B-8C5E-D8959F8B3C61}"/>
              </a:ext>
            </a:extLst>
          </p:cNvPr>
          <p:cNvSpPr>
            <a:spLocks noGrp="1" noChangeArrowheads="1"/>
          </p:cNvSpPr>
          <p:nvPr>
            <p:ph type="ctrTitle"/>
          </p:nvPr>
        </p:nvSpPr>
        <p:spPr>
          <a:xfrm>
            <a:off x="239713" y="967538"/>
            <a:ext cx="8705850" cy="3213187"/>
          </a:xfrm>
        </p:spPr>
        <p:txBody>
          <a:bodyPr/>
          <a:lstStyle/>
          <a:p>
            <a:pPr>
              <a:lnSpc>
                <a:spcPct val="120000"/>
              </a:lnSpc>
            </a:pPr>
            <a:r>
              <a:rPr lang="en-US" altLang="en-US" sz="3200" dirty="0"/>
              <a:t>EART 28202 :  Structural Geology</a:t>
            </a:r>
            <a:br>
              <a:rPr lang="en-US" altLang="en-US" sz="3200" dirty="0"/>
            </a:br>
            <a:br>
              <a:rPr lang="en-US" altLang="en-US" dirty="0"/>
            </a:br>
            <a:br>
              <a:rPr lang="en-US" altLang="en-US" dirty="0"/>
            </a:br>
            <a:br>
              <a:rPr lang="en-US" altLang="en-US" dirty="0"/>
            </a:br>
            <a:r>
              <a:rPr lang="en-US" altLang="en-US" sz="3200" dirty="0">
                <a:solidFill>
                  <a:srgbClr val="FF6600"/>
                </a:solidFill>
              </a:rPr>
              <a:t>Class 3 :  Strain</a:t>
            </a:r>
            <a:endParaRPr lang="en-US" altLang="en-US" sz="2600" dirty="0">
              <a:solidFill>
                <a:srgbClr val="FF6600"/>
              </a:solidFill>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a:extLst>
              <a:ext uri="{FF2B5EF4-FFF2-40B4-BE49-F238E27FC236}">
                <a16:creationId xmlns:a16="http://schemas.microsoft.com/office/drawing/2014/main" id="{39EE3197-37E1-4C89-B6E3-1FA9162A9BA7}"/>
              </a:ext>
            </a:extLst>
          </p:cNvPr>
          <p:cNvSpPr>
            <a:spLocks noGrp="1" noChangeArrowheads="1"/>
          </p:cNvSpPr>
          <p:nvPr>
            <p:ph type="title"/>
          </p:nvPr>
        </p:nvSpPr>
        <p:spPr>
          <a:noFill/>
        </p:spPr>
        <p:txBody>
          <a:bodyPr/>
          <a:lstStyle/>
          <a:p>
            <a:r>
              <a:rPr lang="en-GB" altLang="en-US">
                <a:effectLst/>
              </a:rPr>
              <a:t>Quantifying deformation</a:t>
            </a:r>
          </a:p>
        </p:txBody>
      </p:sp>
      <p:sp>
        <p:nvSpPr>
          <p:cNvPr id="330755" name="Rectangle 3">
            <a:extLst>
              <a:ext uri="{FF2B5EF4-FFF2-40B4-BE49-F238E27FC236}">
                <a16:creationId xmlns:a16="http://schemas.microsoft.com/office/drawing/2014/main" id="{B3079687-7766-4BB6-8DEE-96C25497DBBE}"/>
              </a:ext>
            </a:extLst>
          </p:cNvPr>
          <p:cNvSpPr>
            <a:spLocks noGrp="1" noChangeArrowheads="1"/>
          </p:cNvSpPr>
          <p:nvPr>
            <p:ph type="body" sz="half" idx="1"/>
          </p:nvPr>
        </p:nvSpPr>
        <p:spPr>
          <a:xfrm>
            <a:off x="95250" y="815975"/>
            <a:ext cx="5176838" cy="2136775"/>
          </a:xfrm>
          <a:noFill/>
        </p:spPr>
        <p:txBody>
          <a:bodyPr/>
          <a:lstStyle/>
          <a:p>
            <a:pPr marL="177800" indent="-177800">
              <a:spcBef>
                <a:spcPct val="75000"/>
              </a:spcBef>
            </a:pPr>
            <a:r>
              <a:rPr lang="en-GB" altLang="en-US" sz="1700" dirty="0">
                <a:effectLst/>
              </a:rPr>
              <a:t>To develop our understanding of the origin and significance of geological structures, we need to </a:t>
            </a:r>
            <a:r>
              <a:rPr lang="en-GB" altLang="en-US" sz="1700" dirty="0">
                <a:solidFill>
                  <a:srgbClr val="FF66CC"/>
                </a:solidFill>
                <a:effectLst/>
              </a:rPr>
              <a:t>quantify the deformation</a:t>
            </a:r>
            <a:r>
              <a:rPr lang="en-GB" altLang="en-US" sz="1700" dirty="0">
                <a:effectLst/>
              </a:rPr>
              <a:t> that they record</a:t>
            </a:r>
          </a:p>
          <a:p>
            <a:pPr marL="177800" indent="-177800">
              <a:spcBef>
                <a:spcPct val="50000"/>
              </a:spcBef>
            </a:pPr>
            <a:r>
              <a:rPr lang="en-GB" altLang="en-US" sz="1700" dirty="0">
                <a:effectLst/>
              </a:rPr>
              <a:t>This is achieved with the concept of </a:t>
            </a:r>
            <a:r>
              <a:rPr lang="en-GB" altLang="en-US" sz="1700" dirty="0">
                <a:solidFill>
                  <a:srgbClr val="FF6600"/>
                </a:solidFill>
                <a:effectLst/>
              </a:rPr>
              <a:t>strain </a:t>
            </a:r>
            <a:r>
              <a:rPr lang="en-GB" altLang="en-US" sz="1700" dirty="0">
                <a:effectLst/>
              </a:rPr>
              <a:t>– strain</a:t>
            </a:r>
            <a:r>
              <a:rPr lang="en-GB" altLang="en-US" sz="1700" dirty="0">
                <a:solidFill>
                  <a:srgbClr val="FF6600"/>
                </a:solidFill>
                <a:effectLst/>
              </a:rPr>
              <a:t> </a:t>
            </a:r>
            <a:r>
              <a:rPr lang="en-GB" altLang="en-US" sz="1700" dirty="0">
                <a:effectLst/>
              </a:rPr>
              <a:t>is a measure of the </a:t>
            </a:r>
            <a:r>
              <a:rPr lang="en-GB" altLang="en-US" sz="1700" dirty="0">
                <a:solidFill>
                  <a:srgbClr val="FF66CC"/>
                </a:solidFill>
                <a:effectLst/>
              </a:rPr>
              <a:t>change in size and shape</a:t>
            </a:r>
            <a:r>
              <a:rPr lang="en-GB" altLang="en-US" sz="1700" dirty="0">
                <a:effectLst/>
              </a:rPr>
              <a:t> that a body experiences during deformation</a:t>
            </a:r>
          </a:p>
        </p:txBody>
      </p:sp>
      <p:pic>
        <p:nvPicPr>
          <p:cNvPr id="330760" name="Picture 8">
            <a:extLst>
              <a:ext uri="{FF2B5EF4-FFF2-40B4-BE49-F238E27FC236}">
                <a16:creationId xmlns:a16="http://schemas.microsoft.com/office/drawing/2014/main" id="{E86DE744-625A-4B97-9336-6D39AFEDD5D8}"/>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l="50935" b="34111"/>
          <a:stretch>
            <a:fillRect/>
          </a:stretch>
        </p:blipFill>
        <p:spPr>
          <a:xfrm>
            <a:off x="1382713" y="3249613"/>
            <a:ext cx="1249362" cy="1836737"/>
          </a:xfrm>
          <a:noFill/>
          <a:ln w="38100" cap="flat">
            <a:solidFill>
              <a:schemeClr val="bg2"/>
            </a:solidFill>
            <a:miter lim="800000"/>
            <a:headEnd/>
            <a:tailEnd/>
          </a:ln>
        </p:spPr>
      </p:pic>
      <p:pic>
        <p:nvPicPr>
          <p:cNvPr id="330762" name="Picture 10" descr="conglom_superior_13">
            <a:extLst>
              <a:ext uri="{FF2B5EF4-FFF2-40B4-BE49-F238E27FC236}">
                <a16:creationId xmlns:a16="http://schemas.microsoft.com/office/drawing/2014/main" id="{4A1736A0-4039-46BB-B72B-0C0F5EFC4406}"/>
              </a:ext>
            </a:extLst>
          </p:cNvPr>
          <p:cNvPicPr>
            <a:picLocks noGrp="1" noChangeAspect="1" noChangeArrowheads="1"/>
          </p:cNvPicPr>
          <p:nvPr>
            <p:ph sz="quarter" idx="3"/>
          </p:nvPr>
        </p:nvPicPr>
        <p:blipFill>
          <a:blip r:embed="rId4">
            <a:lum bright="-6000" contrast="4000"/>
            <a:extLst>
              <a:ext uri="{28A0092B-C50C-407E-A947-70E740481C1C}">
                <a14:useLocalDpi xmlns:a14="http://schemas.microsoft.com/office/drawing/2010/main" val="0"/>
              </a:ext>
            </a:extLst>
          </a:blip>
          <a:srcRect/>
          <a:stretch>
            <a:fillRect/>
          </a:stretch>
        </p:blipFill>
        <p:spPr>
          <a:xfrm>
            <a:off x="5376863" y="955675"/>
            <a:ext cx="3633787" cy="484346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30764" name="Picture 12" descr="Angelina2a">
            <a:extLst>
              <a:ext uri="{FF2B5EF4-FFF2-40B4-BE49-F238E27FC236}">
                <a16:creationId xmlns:a16="http://schemas.microsoft.com/office/drawing/2014/main" id="{E63B7BFA-A4CD-4F07-B557-F963E43CDB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8450" y="3249613"/>
            <a:ext cx="2330450" cy="3255962"/>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330765" name="Picture 13">
            <a:extLst>
              <a:ext uri="{FF2B5EF4-FFF2-40B4-BE49-F238E27FC236}">
                <a16:creationId xmlns:a16="http://schemas.microsoft.com/office/drawing/2014/main" id="{FEE22280-439E-430E-A668-FB61CD4B17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60847" b="3018"/>
          <a:stretch>
            <a:fillRect/>
          </a:stretch>
        </p:blipFill>
        <p:spPr bwMode="auto">
          <a:xfrm>
            <a:off x="206375" y="3251200"/>
            <a:ext cx="996950" cy="2703513"/>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0766" name="Text Box 14">
            <a:extLst>
              <a:ext uri="{FF2B5EF4-FFF2-40B4-BE49-F238E27FC236}">
                <a16:creationId xmlns:a16="http://schemas.microsoft.com/office/drawing/2014/main" id="{E1E0AC2C-BB63-4FE0-B39C-E207153AA7E1}"/>
              </a:ext>
            </a:extLst>
          </p:cNvPr>
          <p:cNvSpPr txBox="1">
            <a:spLocks noChangeArrowheads="1"/>
          </p:cNvSpPr>
          <p:nvPr/>
        </p:nvSpPr>
        <p:spPr bwMode="auto">
          <a:xfrm>
            <a:off x="141288" y="6030913"/>
            <a:ext cx="25654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Deformed and restored fossils of </a:t>
            </a:r>
            <a:r>
              <a:rPr lang="en-GB" altLang="en-US" sz="1400" i="1">
                <a:solidFill>
                  <a:srgbClr val="FFFF00"/>
                </a:solidFill>
                <a:effectLst>
                  <a:outerShdw blurRad="38100" dist="38100" dir="2700000" algn="tl">
                    <a:srgbClr val="000000"/>
                  </a:outerShdw>
                </a:effectLst>
                <a:latin typeface="Arial" panose="020B0604020202020204" pitchFamily="34" charset="0"/>
              </a:rPr>
              <a:t>Angelina sedgwickii</a:t>
            </a:r>
            <a:endParaRPr lang="en-GB" altLang="en-US" sz="1400">
              <a:solidFill>
                <a:srgbClr val="FFFF00"/>
              </a:solidFill>
              <a:effectLst>
                <a:outerShdw blurRad="38100" dist="38100" dir="2700000" algn="tl">
                  <a:srgbClr val="000000"/>
                </a:outerShdw>
              </a:effectLst>
              <a:latin typeface="Arial" panose="020B0604020202020204" pitchFamily="34" charset="0"/>
            </a:endParaRPr>
          </a:p>
        </p:txBody>
      </p:sp>
      <p:pic>
        <p:nvPicPr>
          <p:cNvPr id="330768" name="Picture 16">
            <a:extLst>
              <a:ext uri="{FF2B5EF4-FFF2-40B4-BE49-F238E27FC236}">
                <a16:creationId xmlns:a16="http://schemas.microsoft.com/office/drawing/2014/main" id="{979EFED0-A868-4E64-8767-4D84721B3B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1800" y="5430838"/>
            <a:ext cx="611188" cy="523875"/>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0770" name="Line 18">
            <a:extLst>
              <a:ext uri="{FF2B5EF4-FFF2-40B4-BE49-F238E27FC236}">
                <a16:creationId xmlns:a16="http://schemas.microsoft.com/office/drawing/2014/main" id="{5E8F596A-B196-41BF-9DD7-94E897CD92EC}"/>
              </a:ext>
            </a:extLst>
          </p:cNvPr>
          <p:cNvSpPr>
            <a:spLocks noChangeShapeType="1"/>
          </p:cNvSpPr>
          <p:nvPr/>
        </p:nvSpPr>
        <p:spPr bwMode="auto">
          <a:xfrm flipH="1">
            <a:off x="1336675" y="5738813"/>
            <a:ext cx="261938"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30771" name="Line 19">
            <a:extLst>
              <a:ext uri="{FF2B5EF4-FFF2-40B4-BE49-F238E27FC236}">
                <a16:creationId xmlns:a16="http://schemas.microsoft.com/office/drawing/2014/main" id="{940E8CFC-F704-4209-B5FE-84D24BB06086}"/>
              </a:ext>
            </a:extLst>
          </p:cNvPr>
          <p:cNvSpPr>
            <a:spLocks noChangeShapeType="1"/>
          </p:cNvSpPr>
          <p:nvPr/>
        </p:nvSpPr>
        <p:spPr bwMode="auto">
          <a:xfrm flipV="1">
            <a:off x="2151063" y="5162550"/>
            <a:ext cx="0" cy="195263"/>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30772" name="Text Box 20">
            <a:extLst>
              <a:ext uri="{FF2B5EF4-FFF2-40B4-BE49-F238E27FC236}">
                <a16:creationId xmlns:a16="http://schemas.microsoft.com/office/drawing/2014/main" id="{4EEEC47B-838F-4CA5-B0E1-9B5342EE9BE3}"/>
              </a:ext>
            </a:extLst>
          </p:cNvPr>
          <p:cNvSpPr txBox="1">
            <a:spLocks noChangeArrowheads="1"/>
          </p:cNvSpPr>
          <p:nvPr/>
        </p:nvSpPr>
        <p:spPr bwMode="auto">
          <a:xfrm>
            <a:off x="5681663" y="5940425"/>
            <a:ext cx="3078162"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Deformed conglomerate – note the flattenin</a:t>
            </a:r>
            <a:r>
              <a:rPr lang="en-GB" altLang="en-US" sz="1400" spc="250" dirty="0">
                <a:solidFill>
                  <a:srgbClr val="FFFF00"/>
                </a:solidFill>
                <a:effectLst>
                  <a:outerShdw blurRad="38100" dist="38100" dir="2700000" algn="tl">
                    <a:srgbClr val="000000"/>
                  </a:outerShdw>
                </a:effectLst>
                <a:latin typeface="Arial" panose="020B0604020202020204" pitchFamily="34" charset="0"/>
              </a:rPr>
              <a:t>g/</a:t>
            </a:r>
            <a:r>
              <a:rPr lang="en-GB" altLang="en-US" sz="1400" dirty="0">
                <a:solidFill>
                  <a:srgbClr val="FFFF00"/>
                </a:solidFill>
                <a:effectLst>
                  <a:outerShdw blurRad="38100" dist="38100" dir="2700000" algn="tl">
                    <a:srgbClr val="000000"/>
                  </a:outerShdw>
                </a:effectLst>
                <a:latin typeface="Arial" panose="020B0604020202020204" pitchFamily="34" charset="0"/>
              </a:rPr>
              <a:t>elongation of the clasts</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a:extLst>
              <a:ext uri="{FF2B5EF4-FFF2-40B4-BE49-F238E27FC236}">
                <a16:creationId xmlns:a16="http://schemas.microsoft.com/office/drawing/2014/main" id="{59F847B7-F15F-4CDB-A2CE-18BF5222ED01}"/>
              </a:ext>
            </a:extLst>
          </p:cNvPr>
          <p:cNvSpPr>
            <a:spLocks noGrp="1" noChangeArrowheads="1"/>
          </p:cNvSpPr>
          <p:nvPr>
            <p:ph type="title"/>
          </p:nvPr>
        </p:nvSpPr>
        <p:spPr>
          <a:noFill/>
        </p:spPr>
        <p:txBody>
          <a:bodyPr/>
          <a:lstStyle/>
          <a:p>
            <a:r>
              <a:rPr lang="en-GB" altLang="en-US">
                <a:effectLst/>
              </a:rPr>
              <a:t>Changes in size  (measures of linear strain)</a:t>
            </a:r>
          </a:p>
        </p:txBody>
      </p:sp>
      <p:sp>
        <p:nvSpPr>
          <p:cNvPr id="354307" name="Rectangle 3">
            <a:extLst>
              <a:ext uri="{FF2B5EF4-FFF2-40B4-BE49-F238E27FC236}">
                <a16:creationId xmlns:a16="http://schemas.microsoft.com/office/drawing/2014/main" id="{A6CE13F4-E53E-4DA4-A116-79878A232751}"/>
              </a:ext>
            </a:extLst>
          </p:cNvPr>
          <p:cNvSpPr>
            <a:spLocks noGrp="1" noChangeArrowheads="1"/>
          </p:cNvSpPr>
          <p:nvPr>
            <p:ph type="body" sz="half" idx="1"/>
          </p:nvPr>
        </p:nvSpPr>
        <p:spPr>
          <a:xfrm>
            <a:off x="114300" y="781050"/>
            <a:ext cx="8875713" cy="1838325"/>
          </a:xfrm>
          <a:noFill/>
        </p:spPr>
        <p:txBody>
          <a:bodyPr/>
          <a:lstStyle/>
          <a:p>
            <a:pPr marL="182563" indent="-182563">
              <a:spcBef>
                <a:spcPct val="50000"/>
              </a:spcBef>
            </a:pPr>
            <a:r>
              <a:rPr lang="en-GB" altLang="en-US" sz="1700" dirty="0">
                <a:solidFill>
                  <a:srgbClr val="FF66CC"/>
                </a:solidFill>
                <a:effectLst/>
              </a:rPr>
              <a:t>Changes in size</a:t>
            </a:r>
            <a:r>
              <a:rPr lang="en-GB" altLang="en-US" sz="1700" dirty="0">
                <a:effectLst/>
              </a:rPr>
              <a:t> can be described as </a:t>
            </a:r>
            <a:r>
              <a:rPr lang="en-GB" altLang="en-US" sz="1700" dirty="0">
                <a:solidFill>
                  <a:srgbClr val="FF66CC"/>
                </a:solidFill>
                <a:effectLst/>
              </a:rPr>
              <a:t>changes in length</a:t>
            </a:r>
            <a:r>
              <a:rPr lang="en-GB" altLang="en-US" sz="1700" dirty="0">
                <a:effectLst/>
              </a:rPr>
              <a:t> measured parallel to a set of reference directions; a change in length parallel to a given direction is described as a </a:t>
            </a:r>
            <a:r>
              <a:rPr lang="en-GB" altLang="en-US" sz="1700" dirty="0">
                <a:solidFill>
                  <a:srgbClr val="FF6600"/>
                </a:solidFill>
                <a:effectLst/>
              </a:rPr>
              <a:t>linear strain </a:t>
            </a:r>
            <a:r>
              <a:rPr lang="en-GB" altLang="en-US" sz="1700" dirty="0">
                <a:effectLst/>
              </a:rPr>
              <a:t>(or sometimes as a </a:t>
            </a:r>
            <a:r>
              <a:rPr lang="en-GB" altLang="en-US" sz="1700" dirty="0">
                <a:solidFill>
                  <a:srgbClr val="FF6600"/>
                </a:solidFill>
                <a:effectLst/>
              </a:rPr>
              <a:t>longitudinal strain</a:t>
            </a:r>
            <a:r>
              <a:rPr lang="en-GB" altLang="en-US" sz="1700" dirty="0">
                <a:effectLst/>
              </a:rPr>
              <a:t>)</a:t>
            </a:r>
          </a:p>
          <a:p>
            <a:pPr marL="182563" indent="-182563">
              <a:spcBef>
                <a:spcPct val="50000"/>
              </a:spcBef>
            </a:pPr>
            <a:r>
              <a:rPr lang="en-GB" altLang="en-US" sz="1700" dirty="0">
                <a:effectLst/>
              </a:rPr>
              <a:t>Several different parameters are used to specify </a:t>
            </a:r>
            <a:r>
              <a:rPr lang="en-GB" altLang="en-US" sz="1700" dirty="0">
                <a:solidFill>
                  <a:srgbClr val="FF66CC"/>
                </a:solidFill>
                <a:effectLst/>
              </a:rPr>
              <a:t>linear strain</a:t>
            </a:r>
            <a:r>
              <a:rPr lang="en-GB" altLang="en-US" sz="1700" dirty="0">
                <a:effectLst/>
              </a:rPr>
              <a:t>, each of which has its own advantages in different applications:</a:t>
            </a:r>
          </a:p>
        </p:txBody>
      </p:sp>
      <p:sp>
        <p:nvSpPr>
          <p:cNvPr id="354313" name="Rectangle 9">
            <a:extLst>
              <a:ext uri="{FF2B5EF4-FFF2-40B4-BE49-F238E27FC236}">
                <a16:creationId xmlns:a16="http://schemas.microsoft.com/office/drawing/2014/main" id="{EA14458B-5227-44F4-AA44-47E0D71B29DC}"/>
              </a:ext>
            </a:extLst>
          </p:cNvPr>
          <p:cNvSpPr>
            <a:spLocks noChangeArrowheads="1"/>
          </p:cNvSpPr>
          <p:nvPr/>
        </p:nvSpPr>
        <p:spPr bwMode="auto">
          <a:xfrm>
            <a:off x="115888" y="2849563"/>
            <a:ext cx="6532562" cy="384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839788" indent="-30480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362075" indent="-3048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846263" indent="-3048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330450" indent="-3048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787650" indent="-3048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244850" indent="-3048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702050" indent="-3048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4159250" indent="-3048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75000"/>
              </a:spcBef>
              <a:buFont typeface="Wingdings" panose="05000000000000000000" pitchFamily="2" charset="2"/>
              <a:buAutoNum type="arabicPeriod"/>
            </a:pPr>
            <a:r>
              <a:rPr lang="en-GB" altLang="en-US" sz="1700" dirty="0">
                <a:solidFill>
                  <a:srgbClr val="FF6600"/>
                </a:solidFill>
                <a:effectLst/>
              </a:rPr>
              <a:t>Engineering strain </a:t>
            </a:r>
            <a:r>
              <a:rPr lang="en-GB" altLang="en-US" sz="1700" dirty="0">
                <a:effectLst/>
              </a:rPr>
              <a:t>(extension):   </a:t>
            </a:r>
            <a:r>
              <a:rPr lang="en-GB" altLang="en-US" sz="1700" i="1" dirty="0">
                <a:solidFill>
                  <a:srgbClr val="FFFF00"/>
                </a:solidFill>
                <a:effectLst/>
              </a:rPr>
              <a:t>e</a:t>
            </a:r>
            <a:r>
              <a:rPr lang="en-GB" altLang="en-US" sz="1700" dirty="0">
                <a:solidFill>
                  <a:srgbClr val="FFFF00"/>
                </a:solidFill>
                <a:effectLst/>
              </a:rPr>
              <a:t>  =  </a:t>
            </a:r>
            <a:r>
              <a:rPr lang="el-GR" altLang="en-US" sz="1700" i="1" spc="150" dirty="0">
                <a:solidFill>
                  <a:srgbClr val="FFFF00"/>
                </a:solidFill>
                <a:effectLst/>
                <a:latin typeface="Cambria Math" panose="02040503050406030204" pitchFamily="18" charset="0"/>
                <a:ea typeface="Cambria Math" panose="02040503050406030204" pitchFamily="18" charset="0"/>
              </a:rPr>
              <a:t>Δ</a:t>
            </a:r>
            <a:r>
              <a:rPr lang="en-GB" altLang="en-US" sz="1700" i="1" dirty="0">
                <a:solidFill>
                  <a:srgbClr val="FFFF00"/>
                </a:solidFill>
                <a:effectLst/>
              </a:rPr>
              <a:t>L</a:t>
            </a:r>
            <a:r>
              <a:rPr lang="en-GB" altLang="en-US" sz="8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i="1" dirty="0">
                <a:solidFill>
                  <a:srgbClr val="FFFF00"/>
                </a:solidFill>
                <a:effectLst/>
              </a:rPr>
              <a:t>L</a:t>
            </a:r>
            <a:r>
              <a:rPr lang="en-GB" altLang="en-US" sz="1700" baseline="-25000" dirty="0">
                <a:solidFill>
                  <a:srgbClr val="FFFF00"/>
                </a:solidFill>
                <a:effectLst/>
              </a:rPr>
              <a:t>0</a:t>
            </a:r>
            <a:r>
              <a:rPr lang="en-GB" altLang="en-US" sz="1700" dirty="0">
                <a:solidFill>
                  <a:srgbClr val="FFFF00"/>
                </a:solidFill>
                <a:effectLst/>
              </a:rPr>
              <a:t>  =  (</a:t>
            </a:r>
            <a:r>
              <a:rPr lang="en-GB" altLang="en-US" sz="800" dirty="0">
                <a:solidFill>
                  <a:srgbClr val="FFFF00"/>
                </a:solidFill>
                <a:effectLst/>
              </a:rPr>
              <a:t> </a:t>
            </a:r>
            <a:r>
              <a:rPr lang="en-GB" altLang="en-US" sz="1700" i="1" dirty="0">
                <a:solidFill>
                  <a:srgbClr val="FFFF00"/>
                </a:solidFill>
                <a:effectLst/>
              </a:rPr>
              <a:t>L</a:t>
            </a:r>
            <a:r>
              <a:rPr lang="en-GB" altLang="en-US" sz="1700" dirty="0">
                <a:solidFill>
                  <a:srgbClr val="FFFF00"/>
                </a:solidFill>
                <a:effectLst/>
              </a:rPr>
              <a:t> - </a:t>
            </a:r>
            <a:r>
              <a:rPr lang="en-GB" altLang="en-US" sz="1700" i="1" dirty="0">
                <a:solidFill>
                  <a:srgbClr val="FFFF00"/>
                </a:solidFill>
                <a:effectLst/>
              </a:rPr>
              <a:t>L</a:t>
            </a:r>
            <a:r>
              <a:rPr lang="en-GB" altLang="en-US" sz="1700" baseline="-25000" dirty="0">
                <a:solidFill>
                  <a:srgbClr val="FFFF00"/>
                </a:solidFill>
                <a:effectLst/>
              </a:rPr>
              <a:t>0</a:t>
            </a:r>
            <a:r>
              <a:rPr lang="en-GB" altLang="en-US" sz="800" baseline="-250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i="1" dirty="0">
                <a:solidFill>
                  <a:srgbClr val="FFFF00"/>
                </a:solidFill>
                <a:effectLst/>
              </a:rPr>
              <a:t>L</a:t>
            </a:r>
            <a:r>
              <a:rPr lang="en-GB" altLang="en-US" sz="1700" baseline="-25000" dirty="0">
                <a:solidFill>
                  <a:srgbClr val="FFFF00"/>
                </a:solidFill>
                <a:effectLst/>
              </a:rPr>
              <a:t>0</a:t>
            </a:r>
            <a:endParaRPr lang="en-GB" altLang="en-US" sz="1700" dirty="0">
              <a:solidFill>
                <a:srgbClr val="FFFF00"/>
              </a:solidFill>
              <a:effectLst/>
            </a:endParaRPr>
          </a:p>
          <a:p>
            <a:pPr>
              <a:spcBef>
                <a:spcPct val="25000"/>
              </a:spcBef>
              <a:buFont typeface="Times" panose="02020603050405020304" pitchFamily="18" charset="0"/>
              <a:buNone/>
            </a:pPr>
            <a:r>
              <a:rPr lang="en-GB" altLang="en-US" sz="1700" dirty="0">
                <a:effectLst/>
              </a:rPr>
              <a:t>	where </a:t>
            </a:r>
            <a:r>
              <a:rPr lang="en-GB" altLang="en-US" sz="1700" i="1" dirty="0">
                <a:effectLst/>
              </a:rPr>
              <a:t>L</a:t>
            </a:r>
            <a:r>
              <a:rPr lang="en-GB" altLang="en-US" sz="1700" dirty="0">
                <a:effectLst/>
              </a:rPr>
              <a:t> is the final length of the line, and </a:t>
            </a:r>
            <a:r>
              <a:rPr lang="en-GB" altLang="en-US" sz="1700" i="1" dirty="0">
                <a:effectLst/>
              </a:rPr>
              <a:t>L</a:t>
            </a:r>
            <a:r>
              <a:rPr lang="en-GB" altLang="en-US" sz="1700" baseline="-25000" dirty="0">
                <a:effectLst/>
              </a:rPr>
              <a:t>0</a:t>
            </a:r>
            <a:r>
              <a:rPr lang="en-GB" altLang="en-US" sz="1700" dirty="0">
                <a:effectLst/>
              </a:rPr>
              <a:t> is the starting length. It may be positive or negative depending upon whether the line has increased or decreased in length</a:t>
            </a:r>
          </a:p>
          <a:p>
            <a:pPr>
              <a:spcBef>
                <a:spcPct val="125000"/>
              </a:spcBef>
              <a:buFont typeface="Wingdings" panose="05000000000000000000" pitchFamily="2" charset="2"/>
              <a:buAutoNum type="arabicPeriod" startAt="2"/>
            </a:pPr>
            <a:r>
              <a:rPr lang="en-GB" altLang="en-US" sz="1700" dirty="0">
                <a:solidFill>
                  <a:srgbClr val="FF6600"/>
                </a:solidFill>
                <a:effectLst/>
              </a:rPr>
              <a:t>Stretch:   </a:t>
            </a:r>
            <a:r>
              <a:rPr lang="en-GB" altLang="en-US" sz="1700" i="1" dirty="0">
                <a:solidFill>
                  <a:srgbClr val="FFFF00"/>
                </a:solidFill>
                <a:effectLst/>
              </a:rPr>
              <a:t>s</a:t>
            </a:r>
            <a:r>
              <a:rPr lang="en-GB" altLang="en-US" sz="1700" dirty="0">
                <a:solidFill>
                  <a:srgbClr val="FFFF00"/>
                </a:solidFill>
                <a:effectLst/>
              </a:rPr>
              <a:t>  =  </a:t>
            </a:r>
            <a:r>
              <a:rPr lang="en-GB" altLang="en-US" sz="1700" i="1" dirty="0">
                <a:solidFill>
                  <a:srgbClr val="FFFF00"/>
                </a:solidFill>
                <a:effectLst/>
              </a:rPr>
              <a:t>L</a:t>
            </a:r>
            <a:r>
              <a:rPr lang="en-GB" altLang="en-US" sz="8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i="1" dirty="0">
                <a:solidFill>
                  <a:srgbClr val="FFFF00"/>
                </a:solidFill>
                <a:effectLst/>
              </a:rPr>
              <a:t>L</a:t>
            </a:r>
            <a:r>
              <a:rPr lang="en-GB" altLang="en-US" sz="1700" baseline="-25000" dirty="0">
                <a:solidFill>
                  <a:srgbClr val="FFFF00"/>
                </a:solidFill>
                <a:effectLst/>
              </a:rPr>
              <a:t>0</a:t>
            </a:r>
            <a:r>
              <a:rPr lang="en-GB" altLang="en-US" sz="1700" dirty="0">
                <a:solidFill>
                  <a:srgbClr val="FFFF00"/>
                </a:solidFill>
                <a:effectLst/>
              </a:rPr>
              <a:t>  =  (</a:t>
            </a:r>
            <a:r>
              <a:rPr lang="en-GB" altLang="en-US" sz="800" dirty="0">
                <a:solidFill>
                  <a:srgbClr val="FFFF00"/>
                </a:solidFill>
                <a:effectLst/>
              </a:rPr>
              <a:t> </a:t>
            </a:r>
            <a:r>
              <a:rPr lang="en-GB" altLang="en-US" sz="1700" dirty="0">
                <a:solidFill>
                  <a:srgbClr val="FFFF00"/>
                </a:solidFill>
                <a:effectLst/>
              </a:rPr>
              <a:t>1</a:t>
            </a:r>
            <a:r>
              <a:rPr lang="en-GB" altLang="en-US" sz="8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i="1" dirty="0">
                <a:solidFill>
                  <a:srgbClr val="FFFF00"/>
                </a:solidFill>
                <a:effectLst/>
              </a:rPr>
              <a:t>e</a:t>
            </a:r>
            <a:r>
              <a:rPr lang="en-GB" altLang="en-US" sz="800" i="1" dirty="0">
                <a:solidFill>
                  <a:srgbClr val="FFFF00"/>
                </a:solidFill>
                <a:effectLst/>
              </a:rPr>
              <a:t> </a:t>
            </a:r>
            <a:r>
              <a:rPr lang="en-GB" altLang="en-US" sz="1700" dirty="0">
                <a:solidFill>
                  <a:srgbClr val="FFFF00"/>
                </a:solidFill>
                <a:effectLst/>
              </a:rPr>
              <a:t>)</a:t>
            </a:r>
          </a:p>
          <a:p>
            <a:pPr>
              <a:spcBef>
                <a:spcPct val="125000"/>
              </a:spcBef>
              <a:buFont typeface="Wingdings" panose="05000000000000000000" pitchFamily="2" charset="2"/>
              <a:buAutoNum type="arabicPeriod" startAt="2"/>
            </a:pPr>
            <a:r>
              <a:rPr lang="en-GB" altLang="en-US" sz="1700" dirty="0">
                <a:solidFill>
                  <a:srgbClr val="FF6600"/>
                </a:solidFill>
                <a:effectLst/>
              </a:rPr>
              <a:t>Quadratic elongation:   </a:t>
            </a:r>
            <a:r>
              <a:rPr lang="el-GR" altLang="en-US" sz="1700" i="1" dirty="0">
                <a:solidFill>
                  <a:srgbClr val="FFFF00"/>
                </a:solidFill>
                <a:effectLst/>
                <a:latin typeface="Cambria Math" panose="02040503050406030204" pitchFamily="18" charset="0"/>
                <a:ea typeface="Cambria Math" panose="02040503050406030204" pitchFamily="18" charset="0"/>
              </a:rPr>
              <a:t>λ</a:t>
            </a:r>
            <a:r>
              <a:rPr lang="en-GB" altLang="en-US" sz="1700" dirty="0">
                <a:solidFill>
                  <a:srgbClr val="FFFF00"/>
                </a:solidFill>
                <a:effectLst/>
              </a:rPr>
              <a:t>  =  (</a:t>
            </a:r>
            <a:r>
              <a:rPr lang="en-GB" altLang="en-US" sz="800" dirty="0">
                <a:solidFill>
                  <a:srgbClr val="FFFF00"/>
                </a:solidFill>
                <a:effectLst/>
              </a:rPr>
              <a:t> </a:t>
            </a:r>
            <a:r>
              <a:rPr lang="en-GB" altLang="en-US" sz="1700" i="1" dirty="0">
                <a:solidFill>
                  <a:srgbClr val="FFFF00"/>
                </a:solidFill>
                <a:effectLst/>
              </a:rPr>
              <a:t>L</a:t>
            </a:r>
            <a:r>
              <a:rPr lang="en-GB" altLang="en-US" sz="8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i="1" dirty="0">
                <a:solidFill>
                  <a:srgbClr val="FFFF00"/>
                </a:solidFill>
                <a:effectLst/>
              </a:rPr>
              <a:t>L</a:t>
            </a:r>
            <a:r>
              <a:rPr lang="en-GB" altLang="en-US" sz="1700" baseline="-25000" dirty="0">
                <a:solidFill>
                  <a:srgbClr val="FFFF00"/>
                </a:solidFill>
                <a:effectLst/>
              </a:rPr>
              <a:t>0</a:t>
            </a:r>
            <a:r>
              <a:rPr lang="en-GB" altLang="en-US" sz="800" baseline="-250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baseline="30000" dirty="0">
                <a:solidFill>
                  <a:srgbClr val="FFFF00"/>
                </a:solidFill>
                <a:effectLst/>
              </a:rPr>
              <a:t>2</a:t>
            </a:r>
            <a:r>
              <a:rPr lang="en-GB" altLang="en-US" sz="1700" dirty="0">
                <a:solidFill>
                  <a:srgbClr val="FFFF00"/>
                </a:solidFill>
                <a:effectLst/>
              </a:rPr>
              <a:t>  =  (</a:t>
            </a:r>
            <a:r>
              <a:rPr lang="en-GB" altLang="en-US" sz="800" dirty="0">
                <a:solidFill>
                  <a:srgbClr val="FFFF00"/>
                </a:solidFill>
                <a:effectLst/>
              </a:rPr>
              <a:t> </a:t>
            </a:r>
            <a:r>
              <a:rPr lang="en-GB" altLang="en-US" sz="1700" dirty="0">
                <a:solidFill>
                  <a:srgbClr val="FFFF00"/>
                </a:solidFill>
                <a:effectLst/>
              </a:rPr>
              <a:t>1</a:t>
            </a:r>
            <a:r>
              <a:rPr lang="en-GB" altLang="en-US" sz="8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i="1" dirty="0">
                <a:solidFill>
                  <a:srgbClr val="FFFF00"/>
                </a:solidFill>
                <a:effectLst/>
              </a:rPr>
              <a:t>e</a:t>
            </a:r>
            <a:r>
              <a:rPr lang="en-GB" altLang="en-US" sz="800" i="1"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baseline="30000" dirty="0">
                <a:solidFill>
                  <a:srgbClr val="FFFF00"/>
                </a:solidFill>
                <a:effectLst/>
              </a:rPr>
              <a:t>2</a:t>
            </a:r>
          </a:p>
          <a:p>
            <a:pPr>
              <a:spcBef>
                <a:spcPct val="25000"/>
              </a:spcBef>
              <a:buFont typeface="Times" panose="02020603050405020304" pitchFamily="18" charset="0"/>
              <a:buNone/>
            </a:pPr>
            <a:r>
              <a:rPr lang="en-GB" altLang="en-US" sz="1700" dirty="0">
                <a:effectLst/>
              </a:rPr>
              <a:t>	Reciprocal quadratic elongation is also useful:   </a:t>
            </a:r>
            <a:r>
              <a:rPr lang="el-GR" altLang="en-US" sz="1700" i="1" dirty="0">
                <a:solidFill>
                  <a:srgbClr val="FFFF00"/>
                </a:solidFill>
                <a:effectLst/>
                <a:latin typeface="Cambria Math" panose="02040503050406030204" pitchFamily="18" charset="0"/>
                <a:ea typeface="Cambria Math" panose="02040503050406030204" pitchFamily="18" charset="0"/>
              </a:rPr>
              <a:t>λ</a:t>
            </a:r>
            <a:r>
              <a:rPr lang="en-GB" altLang="en-US" sz="800" i="1" dirty="0">
                <a:solidFill>
                  <a:srgbClr val="FFFF00"/>
                </a:solidFill>
                <a:effectLst/>
                <a:latin typeface="Cambria Math" panose="02040503050406030204" pitchFamily="18" charset="0"/>
                <a:ea typeface="Cambria Math" panose="02040503050406030204" pitchFamily="18" charset="0"/>
              </a:rPr>
              <a:t> </a:t>
            </a:r>
            <a:r>
              <a:rPr lang="en-GB" altLang="en-US" sz="1700" dirty="0">
                <a:solidFill>
                  <a:srgbClr val="FFFF00"/>
                </a:solidFill>
                <a:effectLst/>
              </a:rPr>
              <a:t>´ = 1</a:t>
            </a:r>
            <a:r>
              <a:rPr lang="en-GB" altLang="en-US" sz="8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l-GR" altLang="en-US" sz="1700" i="1" dirty="0">
                <a:solidFill>
                  <a:srgbClr val="FFFF00"/>
                </a:solidFill>
                <a:effectLst/>
                <a:latin typeface="Cambria Math" panose="02040503050406030204" pitchFamily="18" charset="0"/>
                <a:ea typeface="Cambria Math" panose="02040503050406030204" pitchFamily="18" charset="0"/>
              </a:rPr>
              <a:t>λ</a:t>
            </a:r>
            <a:endParaRPr lang="en-GB" altLang="en-US" sz="1700" i="1" dirty="0">
              <a:solidFill>
                <a:srgbClr val="FFFF00"/>
              </a:solidFill>
              <a:effectLst/>
              <a:latin typeface="Cambria Math" panose="02040503050406030204" pitchFamily="18" charset="0"/>
              <a:ea typeface="Cambria Math" panose="02040503050406030204" pitchFamily="18" charset="0"/>
            </a:endParaRPr>
          </a:p>
          <a:p>
            <a:pPr>
              <a:spcBef>
                <a:spcPct val="125000"/>
              </a:spcBef>
              <a:buFont typeface="Wingdings" panose="05000000000000000000" pitchFamily="2" charset="2"/>
              <a:buAutoNum type="arabicPeriod" startAt="4"/>
            </a:pPr>
            <a:r>
              <a:rPr lang="en-GB" altLang="en-US" sz="1700" dirty="0">
                <a:solidFill>
                  <a:srgbClr val="FF6600"/>
                </a:solidFill>
                <a:effectLst/>
              </a:rPr>
              <a:t>Logarithmic strain</a:t>
            </a:r>
            <a:r>
              <a:rPr lang="en-GB" altLang="en-US" sz="1700" dirty="0">
                <a:effectLst/>
              </a:rPr>
              <a:t> (natural strain):   </a:t>
            </a:r>
            <a:r>
              <a:rPr lang="el-GR" altLang="en-US" sz="1700" i="1" dirty="0">
                <a:solidFill>
                  <a:srgbClr val="FFFF00"/>
                </a:solidFill>
                <a:effectLst/>
                <a:latin typeface="Cambria Math" panose="02040503050406030204" pitchFamily="18" charset="0"/>
                <a:ea typeface="Cambria Math" panose="02040503050406030204" pitchFamily="18" charset="0"/>
              </a:rPr>
              <a:t>ε</a:t>
            </a:r>
            <a:r>
              <a:rPr lang="en-GB" altLang="en-US" sz="1700" dirty="0">
                <a:solidFill>
                  <a:srgbClr val="FFFF00"/>
                </a:solidFill>
                <a:effectLst/>
              </a:rPr>
              <a:t>  =  ln</a:t>
            </a:r>
            <a:r>
              <a:rPr lang="en-GB" altLang="en-US" sz="8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i="1" dirty="0">
                <a:solidFill>
                  <a:srgbClr val="FFFF00"/>
                </a:solidFill>
                <a:effectLst/>
              </a:rPr>
              <a:t>L</a:t>
            </a:r>
            <a:r>
              <a:rPr lang="en-GB" altLang="en-US" sz="8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i="1" dirty="0">
                <a:solidFill>
                  <a:srgbClr val="FFFF00"/>
                </a:solidFill>
                <a:effectLst/>
              </a:rPr>
              <a:t>L</a:t>
            </a:r>
            <a:r>
              <a:rPr lang="en-GB" altLang="en-US" sz="1700" baseline="-25000" dirty="0">
                <a:solidFill>
                  <a:srgbClr val="FFFF00"/>
                </a:solidFill>
                <a:effectLst/>
              </a:rPr>
              <a:t>0</a:t>
            </a:r>
            <a:r>
              <a:rPr lang="en-GB" altLang="en-US" sz="800" dirty="0">
                <a:solidFill>
                  <a:srgbClr val="FFFF00"/>
                </a:solidFill>
                <a:effectLst/>
              </a:rPr>
              <a:t> </a:t>
            </a:r>
            <a:r>
              <a:rPr lang="en-GB" altLang="en-US" sz="1700" dirty="0">
                <a:solidFill>
                  <a:srgbClr val="FFFF00"/>
                </a:solidFill>
                <a:effectLst/>
              </a:rPr>
              <a:t>)  =  ln</a:t>
            </a:r>
            <a:r>
              <a:rPr lang="en-GB" altLang="en-US" sz="8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dirty="0">
                <a:solidFill>
                  <a:srgbClr val="FFFF00"/>
                </a:solidFill>
                <a:effectLst/>
              </a:rPr>
              <a:t>1</a:t>
            </a:r>
            <a:r>
              <a:rPr lang="en-GB" altLang="en-US" sz="8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i="1" dirty="0">
                <a:solidFill>
                  <a:srgbClr val="FFFF00"/>
                </a:solidFill>
                <a:effectLst/>
              </a:rPr>
              <a:t>e</a:t>
            </a:r>
            <a:r>
              <a:rPr lang="en-GB" altLang="en-US" sz="800" i="1" dirty="0">
                <a:solidFill>
                  <a:srgbClr val="FFFF00"/>
                </a:solidFill>
                <a:effectLst/>
              </a:rPr>
              <a:t> </a:t>
            </a:r>
            <a:r>
              <a:rPr lang="en-GB" altLang="en-US" sz="1700" dirty="0">
                <a:solidFill>
                  <a:srgbClr val="FFFF00"/>
                </a:solidFill>
                <a:effectLst/>
              </a:rPr>
              <a:t>)</a:t>
            </a:r>
            <a:endParaRPr lang="en-GB" altLang="en-US" sz="1700" dirty="0">
              <a:effectLst/>
            </a:endParaRPr>
          </a:p>
        </p:txBody>
      </p:sp>
      <p:pic>
        <p:nvPicPr>
          <p:cNvPr id="354315" name="Picture 11">
            <a:extLst>
              <a:ext uri="{FF2B5EF4-FFF2-40B4-BE49-F238E27FC236}">
                <a16:creationId xmlns:a16="http://schemas.microsoft.com/office/drawing/2014/main" id="{E4D3DADF-8B31-41A1-A601-D159E917D60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745288" y="2627313"/>
            <a:ext cx="2159000" cy="3278187"/>
          </a:xfrm>
          <a:noFill/>
          <a:ln w="38100" cap="flat">
            <a:solidFill>
              <a:schemeClr val="bg2"/>
            </a:solidFill>
            <a:miter lim="800000"/>
            <a:headEnd/>
            <a:tailEnd/>
          </a:ln>
        </p:spPr>
      </p:pic>
      <p:sp>
        <p:nvSpPr>
          <p:cNvPr id="2" name="TextBox 1">
            <a:extLst>
              <a:ext uri="{FF2B5EF4-FFF2-40B4-BE49-F238E27FC236}">
                <a16:creationId xmlns:a16="http://schemas.microsoft.com/office/drawing/2014/main" id="{B69D3B39-7ABE-49BE-A204-DE0D1B9B1C51}"/>
              </a:ext>
            </a:extLst>
          </p:cNvPr>
          <p:cNvSpPr txBox="1"/>
          <p:nvPr/>
        </p:nvSpPr>
        <p:spPr>
          <a:xfrm>
            <a:off x="4621884" y="2377746"/>
            <a:ext cx="2074985" cy="307777"/>
          </a:xfrm>
          <a:prstGeom prst="rect">
            <a:avLst/>
          </a:prstGeom>
          <a:noFill/>
        </p:spPr>
        <p:txBody>
          <a:bodyPr wrap="square" rtlCol="0">
            <a:spAutoFit/>
          </a:bodyPr>
          <a:lstStyle/>
          <a:p>
            <a:r>
              <a:rPr lang="en-GB" sz="1400" dirty="0">
                <a:solidFill>
                  <a:srgbClr val="66FF33"/>
                </a:solidFill>
                <a:latin typeface="+mn-lt"/>
              </a:rPr>
              <a:t>Engineering convention</a:t>
            </a:r>
          </a:p>
        </p:txBody>
      </p:sp>
      <p:cxnSp>
        <p:nvCxnSpPr>
          <p:cNvPr id="6" name="Straight Arrow Connector 5">
            <a:extLst>
              <a:ext uri="{FF2B5EF4-FFF2-40B4-BE49-F238E27FC236}">
                <a16:creationId xmlns:a16="http://schemas.microsoft.com/office/drawing/2014/main" id="{377A617F-1617-4EFF-B07D-1C0C8C40FEA1}"/>
              </a:ext>
            </a:extLst>
          </p:cNvPr>
          <p:cNvCxnSpPr>
            <a:cxnSpLocks/>
          </p:cNvCxnSpPr>
          <p:nvPr/>
        </p:nvCxnSpPr>
        <p:spPr bwMode="auto">
          <a:xfrm flipH="1">
            <a:off x="5462955" y="2719388"/>
            <a:ext cx="85358" cy="177067"/>
          </a:xfrm>
          <a:prstGeom prst="straightConnector1">
            <a:avLst/>
          </a:prstGeom>
          <a:noFill/>
          <a:ln w="19050" cap="flat" cmpd="sng" algn="ctr">
            <a:solidFill>
              <a:srgbClr val="66FF33"/>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TextBox 2">
            <a:extLst>
              <a:ext uri="{FF2B5EF4-FFF2-40B4-BE49-F238E27FC236}">
                <a16:creationId xmlns:a16="http://schemas.microsoft.com/office/drawing/2014/main" id="{1F77DC99-FBCC-4A84-C7D1-EA7603E89B86}"/>
              </a:ext>
            </a:extLst>
          </p:cNvPr>
          <p:cNvSpPr txBox="1"/>
          <p:nvPr/>
        </p:nvSpPr>
        <p:spPr>
          <a:xfrm>
            <a:off x="6901402" y="6166627"/>
            <a:ext cx="1818849" cy="307777"/>
          </a:xfrm>
          <a:prstGeom prst="rect">
            <a:avLst/>
          </a:prstGeom>
          <a:noFill/>
        </p:spPr>
        <p:txBody>
          <a:bodyPr wrap="square" rtlCol="0">
            <a:spAutoFit/>
          </a:bodyPr>
          <a:lstStyle/>
          <a:p>
            <a:r>
              <a:rPr lang="en-GB" sz="1400" i="1" dirty="0" err="1">
                <a:solidFill>
                  <a:srgbClr val="66FF33"/>
                </a:solidFill>
                <a:latin typeface="+mn-lt"/>
              </a:rPr>
              <a:t>e</a:t>
            </a:r>
            <a:r>
              <a:rPr lang="en-GB" sz="1400" i="1" baseline="-25000" dirty="0" err="1">
                <a:solidFill>
                  <a:srgbClr val="66FF33"/>
                </a:solidFill>
                <a:latin typeface="+mn-lt"/>
              </a:rPr>
              <a:t>xx</a:t>
            </a:r>
            <a:r>
              <a:rPr lang="en-GB" sz="1400" dirty="0">
                <a:solidFill>
                  <a:srgbClr val="66FF33"/>
                </a:solidFill>
                <a:latin typeface="+mn-lt"/>
              </a:rPr>
              <a:t> = linear strain //</a:t>
            </a:r>
            <a:r>
              <a:rPr lang="en-GB" sz="1400" i="1" dirty="0">
                <a:solidFill>
                  <a:srgbClr val="66FF33"/>
                </a:solidFill>
                <a:latin typeface="+mn-lt"/>
              </a:rPr>
              <a:t>x</a:t>
            </a:r>
            <a:endParaRPr lang="en-GB" sz="1400" i="1" dirty="0"/>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B4FBE4E4-5739-41FE-80D2-AF166A7B3D58}"/>
              </a:ext>
            </a:extLst>
          </p:cNvPr>
          <p:cNvSpPr>
            <a:spLocks noGrp="1" noChangeArrowheads="1"/>
          </p:cNvSpPr>
          <p:nvPr>
            <p:ph type="title"/>
          </p:nvPr>
        </p:nvSpPr>
        <p:spPr>
          <a:noFill/>
        </p:spPr>
        <p:txBody>
          <a:bodyPr/>
          <a:lstStyle/>
          <a:p>
            <a:r>
              <a:rPr lang="en-GB" altLang="en-US">
                <a:effectLst/>
              </a:rPr>
              <a:t>Changes in shape  (measures of shear strain)</a:t>
            </a:r>
          </a:p>
        </p:txBody>
      </p:sp>
      <p:sp>
        <p:nvSpPr>
          <p:cNvPr id="226307" name="Rectangle 3">
            <a:extLst>
              <a:ext uri="{FF2B5EF4-FFF2-40B4-BE49-F238E27FC236}">
                <a16:creationId xmlns:a16="http://schemas.microsoft.com/office/drawing/2014/main" id="{A0342636-D897-4A5E-9053-7A9174A3E219}"/>
              </a:ext>
            </a:extLst>
          </p:cNvPr>
          <p:cNvSpPr>
            <a:spLocks noGrp="1" noChangeArrowheads="1"/>
          </p:cNvSpPr>
          <p:nvPr>
            <p:ph type="body" sz="half" idx="1"/>
          </p:nvPr>
        </p:nvSpPr>
        <p:spPr>
          <a:xfrm>
            <a:off x="130175" y="792163"/>
            <a:ext cx="8796338" cy="1676400"/>
          </a:xfrm>
          <a:noFill/>
        </p:spPr>
        <p:txBody>
          <a:bodyPr/>
          <a:lstStyle/>
          <a:p>
            <a:pPr marL="177800" indent="-177800">
              <a:spcBef>
                <a:spcPct val="75000"/>
              </a:spcBef>
            </a:pPr>
            <a:r>
              <a:rPr lang="en-GB" altLang="en-US" sz="1700" dirty="0">
                <a:solidFill>
                  <a:srgbClr val="FF66CC"/>
                </a:solidFill>
                <a:effectLst/>
              </a:rPr>
              <a:t>Changes in shape</a:t>
            </a:r>
            <a:r>
              <a:rPr lang="en-GB" altLang="en-US" sz="1700" dirty="0">
                <a:effectLst/>
              </a:rPr>
              <a:t> can be described as </a:t>
            </a:r>
            <a:r>
              <a:rPr lang="en-GB" altLang="en-US" sz="1700" dirty="0">
                <a:solidFill>
                  <a:srgbClr val="FF66CC"/>
                </a:solidFill>
                <a:effectLst/>
              </a:rPr>
              <a:t>changes in angle </a:t>
            </a:r>
            <a:r>
              <a:rPr lang="en-GB" altLang="en-US" sz="1700" dirty="0">
                <a:effectLst/>
              </a:rPr>
              <a:t>between two lines; the change in angle between two lines is described as a </a:t>
            </a:r>
            <a:r>
              <a:rPr lang="en-GB" altLang="en-US" sz="1700" dirty="0">
                <a:solidFill>
                  <a:srgbClr val="FF6600"/>
                </a:solidFill>
                <a:effectLst/>
              </a:rPr>
              <a:t>shear strain</a:t>
            </a:r>
          </a:p>
          <a:p>
            <a:pPr marL="177800" indent="-177800">
              <a:spcBef>
                <a:spcPct val="125000"/>
              </a:spcBef>
            </a:pPr>
            <a:r>
              <a:rPr lang="en-GB" altLang="en-US" sz="1700" dirty="0">
                <a:effectLst/>
              </a:rPr>
              <a:t>The change in angle between two lines that were originally perpendicular is known as the </a:t>
            </a:r>
            <a:r>
              <a:rPr lang="en-GB" altLang="en-US" sz="1700" dirty="0">
                <a:solidFill>
                  <a:srgbClr val="FF6600"/>
                </a:solidFill>
                <a:effectLst/>
              </a:rPr>
              <a:t>angular shear</a:t>
            </a:r>
            <a:r>
              <a:rPr lang="en-GB" altLang="en-US" sz="1700" dirty="0">
                <a:effectLst/>
              </a:rPr>
              <a:t>, </a:t>
            </a:r>
            <a:r>
              <a:rPr lang="el-GR" altLang="en-US" sz="1700" i="1" dirty="0">
                <a:solidFill>
                  <a:srgbClr val="FFFF00"/>
                </a:solidFill>
                <a:effectLst/>
                <a:latin typeface="Cambria Math" panose="02040503050406030204" pitchFamily="18" charset="0"/>
                <a:ea typeface="Cambria Math" panose="02040503050406030204" pitchFamily="18" charset="0"/>
              </a:rPr>
              <a:t>ψ</a:t>
            </a:r>
            <a:endParaRPr lang="en-GB" altLang="en-US" sz="1700" i="1" dirty="0">
              <a:solidFill>
                <a:srgbClr val="FFFF00"/>
              </a:solidFill>
              <a:effectLst/>
              <a:latin typeface="Cambria Math" panose="02040503050406030204" pitchFamily="18" charset="0"/>
              <a:ea typeface="Cambria Math" panose="02040503050406030204" pitchFamily="18" charset="0"/>
            </a:endParaRPr>
          </a:p>
        </p:txBody>
      </p:sp>
      <p:sp>
        <p:nvSpPr>
          <p:cNvPr id="226311" name="Text Box 7">
            <a:extLst>
              <a:ext uri="{FF2B5EF4-FFF2-40B4-BE49-F238E27FC236}">
                <a16:creationId xmlns:a16="http://schemas.microsoft.com/office/drawing/2014/main" id="{44D952C5-C9E4-4865-82CC-B24705804D97}"/>
              </a:ext>
            </a:extLst>
          </p:cNvPr>
          <p:cNvSpPr txBox="1">
            <a:spLocks noChangeArrowheads="1"/>
          </p:cNvSpPr>
          <p:nvPr/>
        </p:nvSpPr>
        <p:spPr bwMode="auto">
          <a:xfrm>
            <a:off x="125413" y="2386013"/>
            <a:ext cx="3919537" cy="2903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pPr>
            <a:r>
              <a:rPr lang="en-GB" altLang="en-US" sz="1700" dirty="0">
                <a:effectLst>
                  <a:outerShdw blurRad="38100" dist="38100" dir="2700000" algn="tl">
                    <a:srgbClr val="000000"/>
                  </a:outerShdw>
                </a:effectLst>
                <a:latin typeface="Arial" panose="020B0604020202020204" pitchFamily="34" charset="0"/>
              </a:rPr>
              <a:t>	Angular shear is </a:t>
            </a:r>
            <a:r>
              <a:rPr lang="en-GB" altLang="en-US" sz="1700" dirty="0">
                <a:solidFill>
                  <a:srgbClr val="FF66CC"/>
                </a:solidFill>
                <a:effectLst>
                  <a:outerShdw blurRad="38100" dist="38100" dir="2700000" algn="tl">
                    <a:srgbClr val="000000"/>
                  </a:outerShdw>
                </a:effectLst>
                <a:latin typeface="Arial" panose="020B0604020202020204" pitchFamily="34" charset="0"/>
              </a:rPr>
              <a:t>positive for an anticlockwise rotation</a:t>
            </a:r>
            <a:r>
              <a:rPr lang="en-GB" altLang="en-US" sz="1700" dirty="0">
                <a:effectLst>
                  <a:outerShdw blurRad="38100" dist="38100" dir="2700000" algn="tl">
                    <a:srgbClr val="000000"/>
                  </a:outerShdw>
                </a:effectLst>
                <a:latin typeface="Arial" panose="020B0604020202020204" pitchFamily="34" charset="0"/>
              </a:rPr>
              <a:t>, and negative for a clockwise rotation</a:t>
            </a:r>
          </a:p>
          <a:p>
            <a:pPr>
              <a:lnSpc>
                <a:spcPct val="120000"/>
              </a:lnSpc>
              <a:spcBef>
                <a:spcPct val="125000"/>
              </a:spcBef>
              <a:buClr>
                <a:schemeClr val="tx1"/>
              </a:buClr>
              <a:buFontTx/>
              <a:buChar char="•"/>
            </a:pPr>
            <a:r>
              <a:rPr lang="en-GB" altLang="en-US" sz="1700" dirty="0">
                <a:solidFill>
                  <a:srgbClr val="FF6600"/>
                </a:solidFill>
                <a:effectLst>
                  <a:outerShdw blurRad="38100" dist="38100" dir="2700000" algn="tl">
                    <a:srgbClr val="000000"/>
                  </a:outerShdw>
                </a:effectLst>
                <a:latin typeface="Arial" panose="020B0604020202020204" pitchFamily="34" charset="0"/>
              </a:rPr>
              <a:t>Engineering shear strain</a:t>
            </a:r>
          </a:p>
          <a:p>
            <a:pPr algn="ctr">
              <a:lnSpc>
                <a:spcPct val="120000"/>
              </a:lnSpc>
              <a:spcBef>
                <a:spcPts val="600"/>
              </a:spcBef>
              <a:buClr>
                <a:schemeClr val="folHlink"/>
              </a:buClr>
              <a:buSzPct val="100000"/>
              <a:buFont typeface="Times" panose="02020603050405020304" pitchFamily="18" charset="0"/>
              <a:buNone/>
            </a:pPr>
            <a:r>
              <a:rPr lang="el-GR" altLang="en-US" sz="1700" i="1" dirty="0">
                <a:solidFill>
                  <a:srgbClr val="FFFF00"/>
                </a:solidFill>
                <a:effectLst/>
                <a:latin typeface="Cambria Math" panose="02040503050406030204" pitchFamily="18" charset="0"/>
                <a:ea typeface="Cambria Math" panose="02040503050406030204" pitchFamily="18" charset="0"/>
              </a:rPr>
              <a:t>γ</a:t>
            </a:r>
            <a:r>
              <a:rPr lang="en-GB" altLang="en-US" dirty="0">
                <a:solidFill>
                  <a:srgbClr val="FFFF00"/>
                </a:solidFill>
                <a:effectLst/>
              </a:rPr>
              <a:t>   </a:t>
            </a:r>
            <a:r>
              <a:rPr lang="en-GB" altLang="en-US" sz="1700" dirty="0">
                <a:solidFill>
                  <a:srgbClr val="FFFF00"/>
                </a:solidFill>
                <a:effectLst/>
                <a:latin typeface="Arial" panose="020B0604020202020204" pitchFamily="34" charset="0"/>
              </a:rPr>
              <a:t>=   tan</a:t>
            </a:r>
            <a:r>
              <a:rPr lang="en-GB" altLang="en-US" dirty="0">
                <a:solidFill>
                  <a:srgbClr val="FFFF00"/>
                </a:solidFill>
                <a:effectLst/>
              </a:rPr>
              <a:t> </a:t>
            </a:r>
            <a:r>
              <a:rPr lang="el-GR" altLang="en-US" sz="1700" i="1" dirty="0">
                <a:solidFill>
                  <a:srgbClr val="FFFF00"/>
                </a:solidFill>
                <a:effectLst/>
                <a:latin typeface="Cambria Math" panose="02040503050406030204" pitchFamily="18" charset="0"/>
                <a:ea typeface="Cambria Math" panose="02040503050406030204" pitchFamily="18" charset="0"/>
              </a:rPr>
              <a:t>ψ</a:t>
            </a:r>
            <a:endParaRPr lang="en-GB" altLang="en-US" sz="1700" i="1" dirty="0">
              <a:solidFill>
                <a:srgbClr val="FFFF00"/>
              </a:solidFill>
              <a:effectLst/>
              <a:latin typeface="Cambria Math" panose="02040503050406030204" pitchFamily="18" charset="0"/>
              <a:ea typeface="Cambria Math" panose="02040503050406030204" pitchFamily="18" charset="0"/>
            </a:endParaRPr>
          </a:p>
          <a:p>
            <a:pPr>
              <a:lnSpc>
                <a:spcPct val="120000"/>
              </a:lnSpc>
              <a:spcBef>
                <a:spcPts val="600"/>
              </a:spcBef>
              <a:buClr>
                <a:schemeClr val="folHlink"/>
              </a:buClr>
              <a:buSzPct val="100000"/>
              <a:buFont typeface="Times" panose="02020603050405020304" pitchFamily="18" charset="0"/>
              <a:buNone/>
            </a:pPr>
            <a:r>
              <a:rPr lang="en-GB" altLang="en-US" sz="1700" dirty="0">
                <a:effectLst>
                  <a:outerShdw blurRad="38100" dist="38100" dir="2700000" algn="tl">
                    <a:srgbClr val="000000"/>
                  </a:outerShdw>
                </a:effectLst>
                <a:latin typeface="Arial" panose="020B0604020202020204" pitchFamily="34" charset="0"/>
              </a:rPr>
              <a:t>	Gamma prime is also useful:</a:t>
            </a:r>
          </a:p>
          <a:p>
            <a:pPr algn="ctr">
              <a:lnSpc>
                <a:spcPct val="120000"/>
              </a:lnSpc>
              <a:spcBef>
                <a:spcPts val="600"/>
              </a:spcBef>
            </a:pP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γ</a:t>
            </a:r>
            <a:r>
              <a:rPr lang="en-GB"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spc="500"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γ</a:t>
            </a:r>
            <a:r>
              <a:rPr lang="en-GB" altLang="en-US" sz="1700" spc="200" dirty="0">
                <a:solidFill>
                  <a:srgbClr val="FFFF00"/>
                </a:solidFill>
                <a:effectLst>
                  <a:outerShdw blurRad="38100" dist="38100" dir="2700000" algn="tl">
                    <a:srgbClr val="000000"/>
                  </a:outerShdw>
                </a:effectLst>
                <a:latin typeface="Arial" panose="020B0604020202020204" pitchFamily="34" charset="0"/>
              </a:rPr>
              <a:t>/</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λ</a:t>
            </a:r>
            <a:endParaRPr lang="en-GB"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endParaRPr>
          </a:p>
        </p:txBody>
      </p:sp>
      <p:sp>
        <p:nvSpPr>
          <p:cNvPr id="226331" name="Text Box 27">
            <a:extLst>
              <a:ext uri="{FF2B5EF4-FFF2-40B4-BE49-F238E27FC236}">
                <a16:creationId xmlns:a16="http://schemas.microsoft.com/office/drawing/2014/main" id="{26A90956-8B19-4A36-81AF-2B86A300F5E3}"/>
              </a:ext>
            </a:extLst>
          </p:cNvPr>
          <p:cNvSpPr txBox="1">
            <a:spLocks noChangeArrowheads="1"/>
          </p:cNvSpPr>
          <p:nvPr/>
        </p:nvSpPr>
        <p:spPr bwMode="auto">
          <a:xfrm>
            <a:off x="125413" y="5457825"/>
            <a:ext cx="3946525"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solidFill>
                  <a:srgbClr val="FF6600"/>
                </a:solidFill>
                <a:effectLst>
                  <a:outerShdw blurRad="38100" dist="38100" dir="2700000" algn="tl">
                    <a:srgbClr val="000000"/>
                  </a:outerShdw>
                </a:effectLst>
                <a:latin typeface="Arial" panose="020B0604020202020204" pitchFamily="34" charset="0"/>
              </a:rPr>
              <a:t>Tensor shear strain</a:t>
            </a:r>
            <a:r>
              <a:rPr lang="en-GB" altLang="en-US" sz="1700" dirty="0">
                <a:effectLst>
                  <a:outerShdw blurRad="38100" dist="38100" dir="2700000" algn="tl">
                    <a:srgbClr val="000000"/>
                  </a:outerShdw>
                </a:effectLst>
                <a:latin typeface="Arial" panose="020B0604020202020204" pitchFamily="34" charset="0"/>
              </a:rPr>
              <a:t> is one half the engineering shear strain</a:t>
            </a:r>
          </a:p>
          <a:p>
            <a:pPr algn="ctr">
              <a:lnSpc>
                <a:spcPct val="120000"/>
              </a:lnSpc>
              <a:spcBef>
                <a:spcPct val="0"/>
              </a:spcBef>
            </a:pPr>
            <a:r>
              <a:rPr lang="en-GB" altLang="en-US" sz="1700" i="1" dirty="0" err="1">
                <a:solidFill>
                  <a:srgbClr val="FFFF00"/>
                </a:solidFill>
                <a:effectLst>
                  <a:outerShdw blurRad="38100" dist="38100" dir="2700000" algn="tl">
                    <a:srgbClr val="000000"/>
                  </a:outerShdw>
                </a:effectLst>
                <a:latin typeface="Arial" panose="020B0604020202020204" pitchFamily="34" charset="0"/>
              </a:rPr>
              <a:t>e</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ij</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γ</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i</a:t>
            </a:r>
            <a:r>
              <a:rPr lang="en-GB" altLang="en-US" sz="1700" i="1" spc="500" baseline="-25000" dirty="0" err="1">
                <a:solidFill>
                  <a:srgbClr val="FFFF00"/>
                </a:solidFill>
                <a:effectLst>
                  <a:outerShdw blurRad="38100" dist="38100" dir="2700000" algn="tl">
                    <a:srgbClr val="000000"/>
                  </a:outerShdw>
                </a:effectLst>
                <a:latin typeface="Arial" panose="020B0604020202020204" pitchFamily="34" charset="0"/>
              </a:rPr>
              <a:t>j</a:t>
            </a:r>
            <a:r>
              <a:rPr lang="en-GB" altLang="en-US" sz="1700" spc="300" dirty="0">
                <a:solidFill>
                  <a:srgbClr val="FFFF00"/>
                </a:solidFill>
                <a:effectLst>
                  <a:outerShdw blurRad="38100" dist="38100" dir="2700000" algn="tl">
                    <a:srgbClr val="000000"/>
                  </a:outerShdw>
                </a:effectLst>
                <a:latin typeface="Arial" panose="020B0604020202020204" pitchFamily="34" charset="0"/>
              </a:rPr>
              <a:t>/</a:t>
            </a:r>
            <a:r>
              <a:rPr lang="en-GB" altLang="en-US" sz="1700" dirty="0">
                <a:solidFill>
                  <a:srgbClr val="FFFF00"/>
                </a:solidFill>
                <a:effectLst>
                  <a:outerShdw blurRad="38100" dist="38100" dir="2700000" algn="tl">
                    <a:srgbClr val="000000"/>
                  </a:outerShdw>
                </a:effectLst>
                <a:latin typeface="Arial" panose="020B0604020202020204" pitchFamily="34" charset="0"/>
              </a:rPr>
              <a:t>2    (</a:t>
            </a:r>
            <a:r>
              <a:rPr lang="en-GB" altLang="en-US" sz="800" dirty="0">
                <a:solidFill>
                  <a:srgbClr val="FFFF00"/>
                </a:solidFill>
                <a:effectLst>
                  <a:outerShdw blurRad="38100" dist="38100" dir="2700000" algn="tl">
                    <a:srgbClr val="000000"/>
                  </a:outerShdw>
                </a:effectLst>
                <a:latin typeface="Arial" panose="020B0604020202020204" pitchFamily="34" charset="0"/>
              </a:rPr>
              <a:t> </a:t>
            </a:r>
            <a:r>
              <a:rPr lang="en-GB" altLang="en-US" sz="1700" i="1" dirty="0" err="1">
                <a:solidFill>
                  <a:srgbClr val="FFFF00"/>
                </a:solidFill>
                <a:effectLst>
                  <a:outerShdw blurRad="38100" dist="38100" dir="2700000" algn="tl">
                    <a:srgbClr val="000000"/>
                  </a:outerShdw>
                </a:effectLst>
                <a:latin typeface="Arial" panose="020B0604020202020204" pitchFamily="34" charset="0"/>
              </a:rPr>
              <a:t>i</a:t>
            </a:r>
            <a:r>
              <a:rPr lang="en-GB" altLang="en-US" sz="1700" i="1" dirty="0">
                <a:solidFill>
                  <a:srgbClr val="FFFF00"/>
                </a:solidFill>
                <a:effectLst>
                  <a:outerShdw blurRad="38100" dist="38100" dir="2700000" algn="tl">
                    <a:srgbClr val="000000"/>
                  </a:outerShdw>
                </a:effectLst>
                <a:latin typeface="Arial" panose="020B0604020202020204" pitchFamily="34" charset="0"/>
              </a:rPr>
              <a:t> </a:t>
            </a:r>
            <a:r>
              <a:rPr lang="en-GB" altLang="en-US" sz="1700" i="1" dirty="0">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rPr>
              <a:t>≠ j</a:t>
            </a:r>
            <a:r>
              <a:rPr lang="en-GB" altLang="en-US" sz="800" i="1" dirty="0">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rPr>
              <a:t>)</a:t>
            </a:r>
          </a:p>
        </p:txBody>
      </p:sp>
      <p:pic>
        <p:nvPicPr>
          <p:cNvPr id="5" name="Picture 4">
            <a:extLst>
              <a:ext uri="{FF2B5EF4-FFF2-40B4-BE49-F238E27FC236}">
                <a16:creationId xmlns:a16="http://schemas.microsoft.com/office/drawing/2014/main" id="{19BE9C51-F7BC-4459-9C49-26915E8D178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121921" y="2386013"/>
            <a:ext cx="4727621" cy="3959243"/>
          </a:xfrm>
          <a:prstGeom prst="rect">
            <a:avLst/>
          </a:prstGeom>
          <a:ln w="38100">
            <a:solidFill>
              <a:srgbClr val="000000"/>
            </a:solidFill>
          </a:ln>
        </p:spPr>
      </p:pic>
    </p:spTree>
    <p:extLst>
      <p:ext uri="{BB962C8B-B14F-4D97-AF65-F5344CB8AC3E}">
        <p14:creationId xmlns:p14="http://schemas.microsoft.com/office/powerpoint/2010/main" val="1199965135"/>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C28F50C4-BD1F-4A59-B523-F50F04DFF124}"/>
              </a:ext>
            </a:extLst>
          </p:cNvPr>
          <p:cNvSpPr>
            <a:spLocks noGrp="1" noChangeArrowheads="1"/>
          </p:cNvSpPr>
          <p:nvPr>
            <p:ph type="ctrTitle" idx="4294967295"/>
          </p:nvPr>
        </p:nvSpPr>
        <p:spPr bwMode="black">
          <a:xfrm>
            <a:off x="239713" y="1011238"/>
            <a:ext cx="8705850" cy="3124200"/>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500"/>
            </a:br>
            <a:br>
              <a:rPr lang="en-US" altLang="en-US" sz="3500"/>
            </a:br>
            <a:r>
              <a:rPr lang="en-US" altLang="en-US" sz="3200">
                <a:solidFill>
                  <a:srgbClr val="FF6600"/>
                </a:solidFill>
              </a:rPr>
              <a:t>Putting matters</a:t>
            </a:r>
            <a:br>
              <a:rPr lang="en-US" altLang="en-US" sz="3200">
                <a:solidFill>
                  <a:srgbClr val="FF6600"/>
                </a:solidFill>
              </a:rPr>
            </a:br>
            <a:r>
              <a:rPr lang="en-US" altLang="en-US" sz="3200">
                <a:solidFill>
                  <a:srgbClr val="FF6600"/>
                </a:solidFill>
              </a:rPr>
              <a:t>on a</a:t>
            </a:r>
            <a:br>
              <a:rPr lang="en-US" altLang="en-US" sz="3200">
                <a:solidFill>
                  <a:srgbClr val="FF6600"/>
                </a:solidFill>
              </a:rPr>
            </a:br>
            <a:r>
              <a:rPr lang="en-US" altLang="en-US" sz="3200">
                <a:solidFill>
                  <a:srgbClr val="FF6600"/>
                </a:solidFill>
              </a:rPr>
              <a:t>more rigorous footing</a:t>
            </a:r>
            <a:endParaRPr lang="en-US" altLang="en-US">
              <a:solidFill>
                <a:srgbClr val="FF6600"/>
              </a:solidFill>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0FFD5D07-164A-4D03-9A3D-524E7C4F46E0}"/>
              </a:ext>
            </a:extLst>
          </p:cNvPr>
          <p:cNvSpPr>
            <a:spLocks noGrp="1" noChangeArrowheads="1"/>
          </p:cNvSpPr>
          <p:nvPr>
            <p:ph type="title"/>
          </p:nvPr>
        </p:nvSpPr>
        <p:spPr>
          <a:noFill/>
        </p:spPr>
        <p:txBody>
          <a:bodyPr/>
          <a:lstStyle/>
          <a:p>
            <a:r>
              <a:rPr lang="en-GB" altLang="en-US">
                <a:effectLst/>
              </a:rPr>
              <a:t>Displacement, strain, deformation</a:t>
            </a:r>
          </a:p>
        </p:txBody>
      </p:sp>
      <p:sp>
        <p:nvSpPr>
          <p:cNvPr id="100355" name="Rectangle 3">
            <a:extLst>
              <a:ext uri="{FF2B5EF4-FFF2-40B4-BE49-F238E27FC236}">
                <a16:creationId xmlns:a16="http://schemas.microsoft.com/office/drawing/2014/main" id="{5B35FA69-77D1-4190-89A4-6C3293490065}"/>
              </a:ext>
            </a:extLst>
          </p:cNvPr>
          <p:cNvSpPr>
            <a:spLocks noGrp="1" noChangeArrowheads="1"/>
          </p:cNvSpPr>
          <p:nvPr>
            <p:ph type="body" sz="half" idx="1"/>
          </p:nvPr>
        </p:nvSpPr>
        <p:spPr>
          <a:xfrm>
            <a:off x="114300" y="828675"/>
            <a:ext cx="8875713" cy="2735140"/>
          </a:xfrm>
          <a:noFill/>
        </p:spPr>
        <p:txBody>
          <a:bodyPr/>
          <a:lstStyle/>
          <a:p>
            <a:pPr marL="182563" indent="-182563">
              <a:spcBef>
                <a:spcPct val="75000"/>
              </a:spcBef>
            </a:pPr>
            <a:r>
              <a:rPr lang="en-GB" altLang="en-US" sz="1700" dirty="0">
                <a:solidFill>
                  <a:srgbClr val="FF66CC"/>
                </a:solidFill>
                <a:effectLst/>
              </a:rPr>
              <a:t>Quantifying deformation</a:t>
            </a:r>
            <a:r>
              <a:rPr lang="en-GB" altLang="en-US" sz="1700" dirty="0">
                <a:effectLst/>
              </a:rPr>
              <a:t> involves comparing the size, position, and orientation of some geological feature of interest in its </a:t>
            </a:r>
            <a:r>
              <a:rPr lang="en-GB" altLang="en-US" sz="1700" dirty="0">
                <a:solidFill>
                  <a:srgbClr val="FF66CC"/>
                </a:solidFill>
                <a:effectLst/>
              </a:rPr>
              <a:t>initial</a:t>
            </a:r>
            <a:r>
              <a:rPr lang="en-GB" altLang="en-US" sz="1700" dirty="0">
                <a:effectLst/>
              </a:rPr>
              <a:t> and </a:t>
            </a:r>
            <a:r>
              <a:rPr lang="en-GB" altLang="en-US" sz="1700" dirty="0">
                <a:solidFill>
                  <a:srgbClr val="FF66CC"/>
                </a:solidFill>
                <a:effectLst/>
              </a:rPr>
              <a:t>final states</a:t>
            </a:r>
            <a:r>
              <a:rPr lang="en-GB" altLang="en-US" sz="1700" dirty="0">
                <a:effectLst/>
              </a:rPr>
              <a:t>. In doing this, it is convenient to think of the feature as being made up of a </a:t>
            </a:r>
            <a:r>
              <a:rPr lang="en-GB" altLang="en-US" sz="1700" dirty="0">
                <a:solidFill>
                  <a:srgbClr val="FF66CC"/>
                </a:solidFill>
                <a:effectLst/>
              </a:rPr>
              <a:t>continuum of particles </a:t>
            </a:r>
            <a:r>
              <a:rPr lang="en-GB" altLang="en-US" sz="1700" dirty="0">
                <a:effectLst/>
              </a:rPr>
              <a:t>and to compare where each of these particles are in the initial and deformed state</a:t>
            </a:r>
          </a:p>
          <a:p>
            <a:pPr marL="182563" indent="-182563">
              <a:spcBef>
                <a:spcPct val="75000"/>
              </a:spcBef>
            </a:pPr>
            <a:r>
              <a:rPr lang="en-GB" altLang="en-US" sz="1700" dirty="0">
                <a:solidFill>
                  <a:srgbClr val="FF6600"/>
                </a:solidFill>
                <a:effectLst/>
              </a:rPr>
              <a:t>Displacement</a:t>
            </a:r>
            <a:r>
              <a:rPr lang="en-GB" altLang="en-US" sz="1700" dirty="0">
                <a:effectLst/>
              </a:rPr>
              <a:t> describes the </a:t>
            </a:r>
            <a:r>
              <a:rPr lang="en-GB" altLang="en-US" sz="1700" dirty="0">
                <a:solidFill>
                  <a:srgbClr val="FFFF00"/>
                </a:solidFill>
                <a:effectLst/>
              </a:rPr>
              <a:t>change in position of a given particle</a:t>
            </a:r>
          </a:p>
          <a:p>
            <a:pPr marL="182563" indent="-182563">
              <a:spcBef>
                <a:spcPct val="75000"/>
              </a:spcBef>
            </a:pPr>
            <a:r>
              <a:rPr lang="en-GB" altLang="en-US" sz="1700" dirty="0">
                <a:solidFill>
                  <a:srgbClr val="FF6600"/>
                </a:solidFill>
                <a:effectLst/>
              </a:rPr>
              <a:t>Strain</a:t>
            </a:r>
            <a:r>
              <a:rPr lang="en-GB" altLang="en-US" sz="1700" dirty="0">
                <a:effectLst/>
              </a:rPr>
              <a:t> describes the </a:t>
            </a:r>
            <a:r>
              <a:rPr lang="en-GB" altLang="en-US" sz="1700" b="1" i="1" dirty="0">
                <a:solidFill>
                  <a:srgbClr val="FFFF00"/>
                </a:solidFill>
                <a:effectLst/>
              </a:rPr>
              <a:t>relative</a:t>
            </a:r>
            <a:r>
              <a:rPr lang="en-GB" altLang="en-US" sz="1700" dirty="0">
                <a:solidFill>
                  <a:srgbClr val="FFFF00"/>
                </a:solidFill>
                <a:effectLst/>
              </a:rPr>
              <a:t> change in position of particles</a:t>
            </a:r>
            <a:r>
              <a:rPr lang="en-GB" altLang="en-US" sz="1700" dirty="0">
                <a:effectLst/>
              </a:rPr>
              <a:t> within the feature, that is, it describes the change in distances between those particles. When these are small, strain</a:t>
            </a:r>
          </a:p>
        </p:txBody>
      </p:sp>
      <p:pic>
        <p:nvPicPr>
          <p:cNvPr id="100357" name="Picture 5" descr="Fig">
            <a:extLst>
              <a:ext uri="{FF2B5EF4-FFF2-40B4-BE49-F238E27FC236}">
                <a16:creationId xmlns:a16="http://schemas.microsoft.com/office/drawing/2014/main" id="{CA688E64-67EA-4167-A5F8-C0B1D7077F9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378325" y="3681413"/>
            <a:ext cx="4476750" cy="29479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0359" name="Text Box 7">
            <a:extLst>
              <a:ext uri="{FF2B5EF4-FFF2-40B4-BE49-F238E27FC236}">
                <a16:creationId xmlns:a16="http://schemas.microsoft.com/office/drawing/2014/main" id="{B84496C0-36D8-4E6A-8830-A1329B0C54B4}"/>
              </a:ext>
            </a:extLst>
          </p:cNvPr>
          <p:cNvSpPr txBox="1">
            <a:spLocks noChangeArrowheads="1"/>
          </p:cNvSpPr>
          <p:nvPr/>
        </p:nvSpPr>
        <p:spPr bwMode="auto">
          <a:xfrm>
            <a:off x="114300" y="3424607"/>
            <a:ext cx="3878263" cy="2486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marL="183600" indent="0">
              <a:lnSpc>
                <a:spcPct val="120000"/>
              </a:lnSpc>
              <a:spcBef>
                <a:spcPct val="75000"/>
              </a:spcBef>
              <a:buClr>
                <a:schemeClr val="folHlink"/>
              </a:buClr>
              <a:buSzPct val="100000"/>
            </a:pPr>
            <a:r>
              <a:rPr lang="en-GB" altLang="en-US" sz="1700" dirty="0">
                <a:effectLst/>
                <a:latin typeface="Arial" panose="020B0604020202020204" pitchFamily="34" charset="0"/>
              </a:rPr>
              <a:t>is described as </a:t>
            </a:r>
            <a:r>
              <a:rPr lang="en-GB" altLang="en-US" sz="1700" dirty="0">
                <a:solidFill>
                  <a:srgbClr val="FF66CC"/>
                </a:solidFill>
                <a:effectLst/>
                <a:latin typeface="Arial" panose="020B0604020202020204" pitchFamily="34" charset="0"/>
              </a:rPr>
              <a:t>infinitesimal</a:t>
            </a:r>
            <a:r>
              <a:rPr lang="en-GB" altLang="en-US" sz="1700" dirty="0">
                <a:effectLst/>
                <a:latin typeface="Arial" panose="020B0604020202020204" pitchFamily="34" charset="0"/>
              </a:rPr>
              <a:t>; when these are large (measurable) strain is described as </a:t>
            </a:r>
            <a:r>
              <a:rPr lang="en-GB" altLang="en-US" sz="1700" dirty="0">
                <a:solidFill>
                  <a:srgbClr val="FF66CC"/>
                </a:solidFill>
                <a:effectLst/>
                <a:latin typeface="Arial" panose="020B0604020202020204" pitchFamily="34" charset="0"/>
              </a:rPr>
              <a:t>finite</a:t>
            </a:r>
          </a:p>
          <a:p>
            <a:pPr>
              <a:lnSpc>
                <a:spcPct val="120000"/>
              </a:lnSpc>
              <a:spcBef>
                <a:spcPct val="75000"/>
              </a:spcBef>
              <a:buClr>
                <a:schemeClr val="folHlink"/>
              </a:buClr>
              <a:buSzPct val="100000"/>
              <a:buFont typeface="Times" panose="02020603050405020304" pitchFamily="18" charset="0"/>
              <a:buChar char="•"/>
            </a:pPr>
            <a:r>
              <a:rPr lang="en-GB" altLang="en-US" sz="1700" dirty="0">
                <a:solidFill>
                  <a:srgbClr val="FF6600"/>
                </a:solidFill>
                <a:effectLst/>
                <a:latin typeface="Arial" panose="020B0604020202020204" pitchFamily="34" charset="0"/>
              </a:rPr>
              <a:t>Deformation</a:t>
            </a:r>
            <a:r>
              <a:rPr lang="en-GB" altLang="en-US" sz="1700" dirty="0">
                <a:effectLst/>
                <a:latin typeface="Arial" panose="020B0604020202020204" pitchFamily="34" charset="0"/>
              </a:rPr>
              <a:t> refers to </a:t>
            </a:r>
            <a:r>
              <a:rPr lang="en-GB" altLang="en-US" sz="1700" dirty="0">
                <a:solidFill>
                  <a:srgbClr val="FFFF00"/>
                </a:solidFill>
                <a:effectLst/>
                <a:latin typeface="Arial" panose="020B0604020202020204" pitchFamily="34" charset="0"/>
              </a:rPr>
              <a:t>displacement</a:t>
            </a:r>
            <a:r>
              <a:rPr lang="en-GB" altLang="en-US" sz="1700" dirty="0">
                <a:effectLst/>
                <a:latin typeface="Arial" panose="020B0604020202020204" pitchFamily="34" charset="0"/>
              </a:rPr>
              <a:t>; it may or may not involve strain, </a:t>
            </a:r>
            <a:r>
              <a:rPr lang="en-GB" altLang="en-US" sz="1700" i="1" dirty="0">
                <a:effectLst/>
                <a:latin typeface="Arial" panose="020B0604020202020204" pitchFamily="34" charset="0"/>
              </a:rPr>
              <a:t>e.g.</a:t>
            </a:r>
            <a:r>
              <a:rPr lang="en-GB" altLang="en-US" sz="1700" dirty="0">
                <a:effectLst/>
                <a:latin typeface="Arial" panose="020B0604020202020204" pitchFamily="34" charset="0"/>
              </a:rPr>
              <a:t>,</a:t>
            </a:r>
            <a:r>
              <a:rPr lang="en-GB" altLang="en-US" sz="1700" dirty="0">
                <a:solidFill>
                  <a:srgbClr val="FFFF00"/>
                </a:solidFill>
                <a:effectLst/>
                <a:latin typeface="Arial" panose="020B0604020202020204" pitchFamily="34" charset="0"/>
              </a:rPr>
              <a:t> </a:t>
            </a:r>
            <a:r>
              <a:rPr lang="en-GB" altLang="en-US" sz="1700" dirty="0">
                <a:effectLst/>
                <a:latin typeface="Arial" panose="020B0604020202020204" pitchFamily="34" charset="0"/>
              </a:rPr>
              <a:t>rigid displacement of a body is deformation, but it is not strain</a:t>
            </a:r>
          </a:p>
        </p:txBody>
      </p:sp>
      <p:sp>
        <p:nvSpPr>
          <p:cNvPr id="100360" name="Text Box 8">
            <a:extLst>
              <a:ext uri="{FF2B5EF4-FFF2-40B4-BE49-F238E27FC236}">
                <a16:creationId xmlns:a16="http://schemas.microsoft.com/office/drawing/2014/main" id="{6D0E639F-43C6-4BB8-B33A-0FB8FE135818}"/>
              </a:ext>
            </a:extLst>
          </p:cNvPr>
          <p:cNvSpPr txBox="1">
            <a:spLocks noChangeArrowheads="1"/>
          </p:cNvSpPr>
          <p:nvPr/>
        </p:nvSpPr>
        <p:spPr bwMode="auto">
          <a:xfrm>
            <a:off x="1362075" y="6323013"/>
            <a:ext cx="2949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Deformation without (mostly) strain</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a:extLst>
              <a:ext uri="{FF2B5EF4-FFF2-40B4-BE49-F238E27FC236}">
                <a16:creationId xmlns:a16="http://schemas.microsoft.com/office/drawing/2014/main" id="{67383F9F-C1EC-46BD-AF57-8167CC0F38EA}"/>
              </a:ext>
            </a:extLst>
          </p:cNvPr>
          <p:cNvSpPr>
            <a:spLocks noGrp="1" noChangeArrowheads="1"/>
          </p:cNvSpPr>
          <p:nvPr>
            <p:ph type="title"/>
          </p:nvPr>
        </p:nvSpPr>
        <p:spPr>
          <a:noFill/>
        </p:spPr>
        <p:txBody>
          <a:bodyPr/>
          <a:lstStyle/>
          <a:p>
            <a:r>
              <a:rPr lang="en-GB" altLang="en-US">
                <a:effectLst/>
              </a:rPr>
              <a:t>Displacement</a:t>
            </a:r>
          </a:p>
        </p:txBody>
      </p:sp>
      <p:sp>
        <p:nvSpPr>
          <p:cNvPr id="293891" name="Rectangle 3">
            <a:extLst>
              <a:ext uri="{FF2B5EF4-FFF2-40B4-BE49-F238E27FC236}">
                <a16:creationId xmlns:a16="http://schemas.microsoft.com/office/drawing/2014/main" id="{66BF0655-119C-4569-B3E3-834D3C93E38E}"/>
              </a:ext>
            </a:extLst>
          </p:cNvPr>
          <p:cNvSpPr>
            <a:spLocks noGrp="1" noChangeArrowheads="1"/>
          </p:cNvSpPr>
          <p:nvPr>
            <p:ph type="body" sz="half" idx="1"/>
          </p:nvPr>
        </p:nvSpPr>
        <p:spPr>
          <a:xfrm>
            <a:off x="114300" y="771525"/>
            <a:ext cx="5656263" cy="4773613"/>
          </a:xfrm>
          <a:noFill/>
        </p:spPr>
        <p:txBody>
          <a:bodyPr/>
          <a:lstStyle/>
          <a:p>
            <a:pPr marL="269875" indent="-269875">
              <a:spcBef>
                <a:spcPct val="50000"/>
              </a:spcBef>
              <a:buFont typeface="Times" panose="02020603050405020304" pitchFamily="18" charset="0"/>
              <a:buNone/>
            </a:pPr>
            <a:r>
              <a:rPr lang="en-GB" altLang="en-US" sz="1700" dirty="0">
                <a:effectLst/>
              </a:rPr>
              <a:t>There are four basic types of displacement:</a:t>
            </a:r>
            <a:endParaRPr lang="en-GB" altLang="en-US" sz="1700" dirty="0">
              <a:solidFill>
                <a:srgbClr val="FF66CC"/>
              </a:solidFill>
              <a:effectLst/>
            </a:endParaRPr>
          </a:p>
          <a:p>
            <a:pPr marL="269875" indent="-269875">
              <a:spcBef>
                <a:spcPct val="50000"/>
              </a:spcBef>
              <a:buFont typeface="Times" panose="02020603050405020304" pitchFamily="18" charset="0"/>
              <a:buAutoNum type="arabicPeriod"/>
            </a:pPr>
            <a:r>
              <a:rPr lang="en-GB" altLang="en-US" sz="1700" dirty="0">
                <a:solidFill>
                  <a:srgbClr val="FF6600"/>
                </a:solidFill>
                <a:effectLst/>
              </a:rPr>
              <a:t>Rigid body translation</a:t>
            </a:r>
            <a:r>
              <a:rPr lang="en-GB" altLang="en-US" sz="1700" dirty="0">
                <a:solidFill>
                  <a:srgbClr val="FF66CC"/>
                </a:solidFill>
                <a:effectLst/>
              </a:rPr>
              <a:t> </a:t>
            </a:r>
            <a:r>
              <a:rPr lang="en-GB" altLang="en-US" sz="1700" dirty="0">
                <a:effectLst/>
              </a:rPr>
              <a:t>– every particle in the body moves in the same direction and by the same distance</a:t>
            </a:r>
          </a:p>
          <a:p>
            <a:pPr marL="269875" indent="-269875">
              <a:spcBef>
                <a:spcPct val="50000"/>
              </a:spcBef>
              <a:buFont typeface="Times" panose="02020603050405020304" pitchFamily="18" charset="0"/>
              <a:buAutoNum type="arabicPeriod"/>
            </a:pPr>
            <a:r>
              <a:rPr lang="en-GB" altLang="en-US" sz="1700" dirty="0">
                <a:solidFill>
                  <a:srgbClr val="FF6600"/>
                </a:solidFill>
                <a:effectLst/>
              </a:rPr>
              <a:t>Rigid body rotation</a:t>
            </a:r>
            <a:r>
              <a:rPr lang="en-GB" altLang="en-US" sz="1700" dirty="0">
                <a:effectLst/>
              </a:rPr>
              <a:t> – uniform physical rotation of the body; the displacement vectors of the particles are not all the same (they depend upon the location of the particles relative to the axis of rotation) but the distance between particles remains unchanged </a:t>
            </a:r>
          </a:p>
          <a:p>
            <a:pPr marL="269875" indent="-269875">
              <a:spcBef>
                <a:spcPct val="50000"/>
              </a:spcBef>
              <a:buFont typeface="Times" panose="02020603050405020304" pitchFamily="18" charset="0"/>
              <a:buAutoNum type="arabicPeriod"/>
            </a:pPr>
            <a:r>
              <a:rPr lang="en-GB" altLang="en-US" sz="1700" dirty="0">
                <a:solidFill>
                  <a:srgbClr val="FF6600"/>
                </a:solidFill>
                <a:effectLst/>
              </a:rPr>
              <a:t>Distortion</a:t>
            </a:r>
            <a:r>
              <a:rPr lang="en-GB" altLang="en-US" sz="1700" dirty="0">
                <a:effectLst/>
              </a:rPr>
              <a:t> (shape change) – movement of particles so that they change position relative to each other; the displacement vectors are not all the same</a:t>
            </a:r>
          </a:p>
          <a:p>
            <a:pPr marL="269875" indent="-269875">
              <a:spcBef>
                <a:spcPct val="50000"/>
              </a:spcBef>
              <a:buFont typeface="Times" panose="02020603050405020304" pitchFamily="18" charset="0"/>
              <a:buAutoNum type="arabicPeriod"/>
            </a:pPr>
            <a:r>
              <a:rPr lang="en-GB" altLang="en-US" sz="1700" dirty="0">
                <a:solidFill>
                  <a:srgbClr val="FF6600"/>
                </a:solidFill>
                <a:effectLst/>
              </a:rPr>
              <a:t>Dilation</a:t>
            </a:r>
            <a:r>
              <a:rPr lang="en-GB" altLang="en-US" sz="1700" dirty="0">
                <a:effectLst/>
              </a:rPr>
              <a:t> (change in volume without change in shape)</a:t>
            </a:r>
          </a:p>
        </p:txBody>
      </p:sp>
      <p:sp>
        <p:nvSpPr>
          <p:cNvPr id="293899" name="Text Box 11">
            <a:extLst>
              <a:ext uri="{FF2B5EF4-FFF2-40B4-BE49-F238E27FC236}">
                <a16:creationId xmlns:a16="http://schemas.microsoft.com/office/drawing/2014/main" id="{C4112AD8-C8BE-4706-B437-5C93B38698D4}"/>
              </a:ext>
            </a:extLst>
          </p:cNvPr>
          <p:cNvSpPr txBox="1">
            <a:spLocks noChangeArrowheads="1"/>
          </p:cNvSpPr>
          <p:nvPr/>
        </p:nvSpPr>
        <p:spPr bwMode="auto">
          <a:xfrm>
            <a:off x="117475" y="5618163"/>
            <a:ext cx="5614988" cy="1034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It follows that while </a:t>
            </a:r>
            <a:r>
              <a:rPr lang="en-GB" altLang="en-US" sz="1700" i="1" dirty="0">
                <a:solidFill>
                  <a:srgbClr val="FF66CC"/>
                </a:solidFill>
                <a:effectLst>
                  <a:outerShdw blurRad="38100" dist="38100" dir="2700000" algn="tl">
                    <a:srgbClr val="000000"/>
                  </a:outerShdw>
                </a:effectLst>
                <a:latin typeface="Arial" panose="020B0604020202020204" pitchFamily="34" charset="0"/>
              </a:rPr>
              <a:t>deformation involves all four types of displacement</a:t>
            </a:r>
            <a:r>
              <a:rPr lang="en-GB" altLang="en-US" sz="1700" dirty="0">
                <a:effectLst>
                  <a:outerShdw blurRad="38100" dist="38100" dir="2700000" algn="tl">
                    <a:srgbClr val="000000"/>
                  </a:outerShdw>
                </a:effectLst>
                <a:latin typeface="Arial" panose="020B0604020202020204" pitchFamily="34" charset="0"/>
              </a:rPr>
              <a:t>, </a:t>
            </a:r>
            <a:r>
              <a:rPr lang="en-GB" altLang="en-US" sz="1700" i="1" dirty="0">
                <a:solidFill>
                  <a:srgbClr val="FFFF00"/>
                </a:solidFill>
                <a:effectLst>
                  <a:outerShdw blurRad="38100" dist="38100" dir="2700000" algn="tl">
                    <a:srgbClr val="000000"/>
                  </a:outerShdw>
                </a:effectLst>
                <a:latin typeface="Arial" panose="020B0604020202020204" pitchFamily="34" charset="0"/>
              </a:rPr>
              <a:t>only distortion and dilation produce strain </a:t>
            </a:r>
            <a:r>
              <a:rPr lang="en-GB" altLang="en-US" sz="1700" i="1" dirty="0">
                <a:solidFill>
                  <a:schemeClr val="tx2"/>
                </a:solidFill>
                <a:effectLst>
                  <a:outerShdw blurRad="38100" dist="38100" dir="2700000" algn="tl">
                    <a:srgbClr val="000000"/>
                  </a:outerShdw>
                </a:effectLst>
                <a:latin typeface="Arial" panose="020B0604020202020204" pitchFamily="34" charset="0"/>
              </a:rPr>
              <a:t>(i.e., change the distance between particles)</a:t>
            </a:r>
          </a:p>
        </p:txBody>
      </p:sp>
      <p:pic>
        <p:nvPicPr>
          <p:cNvPr id="293904" name="Picture 16">
            <a:extLst>
              <a:ext uri="{FF2B5EF4-FFF2-40B4-BE49-F238E27FC236}">
                <a16:creationId xmlns:a16="http://schemas.microsoft.com/office/drawing/2014/main" id="{5E29418E-F008-4465-8C1F-9012C2E6866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949950" y="917575"/>
            <a:ext cx="2967038" cy="5729288"/>
          </a:xfrm>
          <a:noFill/>
          <a:ln w="38100" cap="flat">
            <a:solidFill>
              <a:schemeClr val="bg2"/>
            </a:solidFill>
            <a:miter lim="800000"/>
            <a:headEnd/>
            <a:tailEnd/>
          </a:ln>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a:extLst>
              <a:ext uri="{FF2B5EF4-FFF2-40B4-BE49-F238E27FC236}">
                <a16:creationId xmlns:a16="http://schemas.microsoft.com/office/drawing/2014/main" id="{E9E1CCE5-1820-4627-BDDD-ABCEAA5DFFCD}"/>
              </a:ext>
            </a:extLst>
          </p:cNvPr>
          <p:cNvSpPr>
            <a:spLocks noGrp="1" noChangeArrowheads="1"/>
          </p:cNvSpPr>
          <p:nvPr>
            <p:ph type="title"/>
          </p:nvPr>
        </p:nvSpPr>
        <p:spPr>
          <a:noFill/>
        </p:spPr>
        <p:txBody>
          <a:bodyPr/>
          <a:lstStyle/>
          <a:p>
            <a:r>
              <a:rPr lang="en-GB" altLang="en-US">
                <a:effectLst/>
              </a:rPr>
              <a:t>Deformation gradient matrix</a:t>
            </a:r>
          </a:p>
        </p:txBody>
      </p:sp>
      <p:sp>
        <p:nvSpPr>
          <p:cNvPr id="338947" name="Rectangle 3">
            <a:extLst>
              <a:ext uri="{FF2B5EF4-FFF2-40B4-BE49-F238E27FC236}">
                <a16:creationId xmlns:a16="http://schemas.microsoft.com/office/drawing/2014/main" id="{373D26C4-8052-4A36-A14C-1D17E403CA00}"/>
              </a:ext>
            </a:extLst>
          </p:cNvPr>
          <p:cNvSpPr>
            <a:spLocks noGrp="1" noChangeArrowheads="1"/>
          </p:cNvSpPr>
          <p:nvPr>
            <p:ph type="body" sz="half" idx="1"/>
          </p:nvPr>
        </p:nvSpPr>
        <p:spPr>
          <a:xfrm>
            <a:off x="120650" y="868363"/>
            <a:ext cx="4830763" cy="5729287"/>
          </a:xfrm>
          <a:noFill/>
        </p:spPr>
        <p:txBody>
          <a:bodyPr/>
          <a:lstStyle/>
          <a:p>
            <a:pPr marL="182563" indent="-182563">
              <a:spcBef>
                <a:spcPct val="50000"/>
              </a:spcBef>
            </a:pPr>
            <a:r>
              <a:rPr lang="en-GB" altLang="en-US" sz="1700" dirty="0">
                <a:effectLst/>
              </a:rPr>
              <a:t>In 2d, if the </a:t>
            </a:r>
            <a:r>
              <a:rPr lang="en-GB" altLang="en-US" sz="1700" dirty="0">
                <a:solidFill>
                  <a:srgbClr val="FF66CC"/>
                </a:solidFill>
                <a:effectLst/>
              </a:rPr>
              <a:t>original position</a:t>
            </a:r>
            <a:r>
              <a:rPr lang="en-GB" altLang="en-US" sz="1700" dirty="0">
                <a:effectLst/>
              </a:rPr>
              <a:t> of a particle is denoted by (</a:t>
            </a:r>
            <a:r>
              <a:rPr lang="en-GB" altLang="en-US" sz="800" dirty="0">
                <a:effectLst/>
              </a:rPr>
              <a:t> </a:t>
            </a:r>
            <a:r>
              <a:rPr lang="en-GB" altLang="en-US" sz="1700" i="1" dirty="0">
                <a:effectLst/>
              </a:rPr>
              <a:t>x</a:t>
            </a:r>
            <a:r>
              <a:rPr lang="en-GB" altLang="en-US" sz="800" i="1" dirty="0">
                <a:effectLst/>
              </a:rPr>
              <a:t> </a:t>
            </a:r>
            <a:r>
              <a:rPr lang="en-GB" altLang="en-US" sz="1700" dirty="0">
                <a:effectLst/>
              </a:rPr>
              <a:t>,</a:t>
            </a:r>
            <a:r>
              <a:rPr lang="en-GB" altLang="en-US" sz="800" dirty="0">
                <a:effectLst/>
              </a:rPr>
              <a:t> </a:t>
            </a:r>
            <a:r>
              <a:rPr lang="en-GB" altLang="en-US" sz="1700" i="1" dirty="0">
                <a:effectLst/>
              </a:rPr>
              <a:t>y</a:t>
            </a:r>
            <a:r>
              <a:rPr lang="en-GB" altLang="en-US" sz="800" i="1" dirty="0">
                <a:effectLst/>
              </a:rPr>
              <a:t> </a:t>
            </a:r>
            <a:r>
              <a:rPr lang="en-GB" altLang="en-US" sz="1700" dirty="0">
                <a:effectLst/>
              </a:rPr>
              <a:t>) and the position </a:t>
            </a:r>
            <a:r>
              <a:rPr lang="en-GB" altLang="en-US" sz="1700" dirty="0">
                <a:solidFill>
                  <a:srgbClr val="FF66CC"/>
                </a:solidFill>
                <a:effectLst/>
              </a:rPr>
              <a:t>after deformation</a:t>
            </a:r>
            <a:r>
              <a:rPr lang="en-GB" altLang="en-US" sz="1700" dirty="0">
                <a:effectLst/>
              </a:rPr>
              <a:t> by (</a:t>
            </a:r>
            <a:r>
              <a:rPr lang="en-GB" altLang="en-US" sz="800" dirty="0">
                <a:effectLst/>
              </a:rPr>
              <a:t> </a:t>
            </a:r>
            <a:r>
              <a:rPr lang="en-GB" altLang="en-US" sz="1700" i="1" dirty="0">
                <a:effectLst/>
              </a:rPr>
              <a:t>x*</a:t>
            </a:r>
            <a:r>
              <a:rPr lang="en-GB" altLang="en-US" sz="800" i="1" dirty="0">
                <a:effectLst/>
              </a:rPr>
              <a:t> </a:t>
            </a:r>
            <a:r>
              <a:rPr lang="en-GB" altLang="en-US" sz="1700" dirty="0">
                <a:effectLst/>
              </a:rPr>
              <a:t>,</a:t>
            </a:r>
            <a:r>
              <a:rPr lang="en-GB" altLang="en-US" sz="800" dirty="0">
                <a:effectLst/>
              </a:rPr>
              <a:t> </a:t>
            </a:r>
            <a:r>
              <a:rPr lang="en-GB" altLang="en-US" sz="1700" i="1" dirty="0">
                <a:effectLst/>
              </a:rPr>
              <a:t>y*</a:t>
            </a:r>
            <a:r>
              <a:rPr lang="en-GB" altLang="en-US" sz="800" dirty="0">
                <a:effectLst/>
              </a:rPr>
              <a:t> </a:t>
            </a:r>
            <a:r>
              <a:rPr lang="en-GB" altLang="en-US" sz="1700" dirty="0">
                <a:effectLst/>
              </a:rPr>
              <a:t>), then we may write</a:t>
            </a:r>
          </a:p>
          <a:p>
            <a:pPr marL="182563" indent="-182563" algn="ctr">
              <a:spcBef>
                <a:spcPct val="75000"/>
              </a:spcBef>
              <a:buFont typeface="Times" panose="02020603050405020304" pitchFamily="18" charset="0"/>
              <a:buNone/>
            </a:pPr>
            <a:r>
              <a:rPr lang="en-GB" altLang="en-US" sz="1700" i="1" dirty="0">
                <a:effectLst/>
              </a:rPr>
              <a:t>x*</a:t>
            </a:r>
            <a:r>
              <a:rPr lang="en-GB" altLang="en-US" sz="1700" dirty="0">
                <a:effectLst/>
              </a:rPr>
              <a:t>   =   </a:t>
            </a:r>
            <a:r>
              <a:rPr lang="en-GB" altLang="en-US" sz="1700" i="1" dirty="0">
                <a:solidFill>
                  <a:srgbClr val="FFFF00"/>
                </a:solidFill>
                <a:effectLst/>
              </a:rPr>
              <a:t>D</a:t>
            </a:r>
            <a:r>
              <a:rPr lang="en-GB" altLang="en-US" sz="1700" baseline="-25000" dirty="0">
                <a:solidFill>
                  <a:srgbClr val="FFFF00"/>
                </a:solidFill>
                <a:effectLst/>
              </a:rPr>
              <a:t>11</a:t>
            </a:r>
            <a:r>
              <a:rPr lang="en-GB" altLang="en-US" sz="1700" dirty="0">
                <a:effectLst/>
              </a:rPr>
              <a:t> </a:t>
            </a:r>
            <a:r>
              <a:rPr lang="en-GB" altLang="en-US" sz="1700" i="1" dirty="0">
                <a:effectLst/>
              </a:rPr>
              <a:t>x</a:t>
            </a:r>
            <a:r>
              <a:rPr lang="en-GB" altLang="en-US" sz="1700" dirty="0">
                <a:effectLst/>
              </a:rPr>
              <a:t>  +  </a:t>
            </a:r>
            <a:r>
              <a:rPr lang="en-GB" altLang="en-US" sz="1700" i="1" dirty="0">
                <a:solidFill>
                  <a:srgbClr val="FFFF00"/>
                </a:solidFill>
                <a:effectLst/>
              </a:rPr>
              <a:t>D</a:t>
            </a:r>
            <a:r>
              <a:rPr lang="en-GB" altLang="en-US" sz="1700" baseline="-25000" dirty="0">
                <a:solidFill>
                  <a:srgbClr val="FFFF00"/>
                </a:solidFill>
                <a:effectLst/>
              </a:rPr>
              <a:t>12</a:t>
            </a:r>
            <a:r>
              <a:rPr lang="en-GB" altLang="en-US" sz="1700" dirty="0">
                <a:effectLst/>
              </a:rPr>
              <a:t> </a:t>
            </a:r>
            <a:r>
              <a:rPr lang="en-GB" altLang="en-US" sz="1700" i="1" dirty="0">
                <a:effectLst/>
              </a:rPr>
              <a:t>y</a:t>
            </a:r>
            <a:r>
              <a:rPr lang="en-GB" altLang="en-US" sz="1700" dirty="0">
                <a:effectLst/>
              </a:rPr>
              <a:t>  +  </a:t>
            </a:r>
            <a:r>
              <a:rPr lang="en-GB" altLang="en-US" sz="1700" i="1" dirty="0">
                <a:effectLst/>
              </a:rPr>
              <a:t>A</a:t>
            </a:r>
            <a:r>
              <a:rPr lang="en-GB" altLang="en-US" sz="1700" baseline="-25000" dirty="0">
                <a:effectLst/>
              </a:rPr>
              <a:t>1</a:t>
            </a:r>
            <a:endParaRPr lang="en-GB" altLang="en-US" sz="1700" i="1" dirty="0">
              <a:effectLst/>
            </a:endParaRPr>
          </a:p>
          <a:p>
            <a:pPr marL="182563" indent="-182563" algn="ctr">
              <a:spcBef>
                <a:spcPct val="25000"/>
              </a:spcBef>
              <a:buFont typeface="Times" panose="02020603050405020304" pitchFamily="18" charset="0"/>
              <a:buNone/>
            </a:pPr>
            <a:r>
              <a:rPr lang="en-GB" altLang="en-US" sz="1700" i="1" dirty="0">
                <a:effectLst/>
              </a:rPr>
              <a:t>y*</a:t>
            </a:r>
            <a:r>
              <a:rPr lang="en-GB" altLang="en-US" sz="1700" dirty="0">
                <a:effectLst/>
              </a:rPr>
              <a:t>   =   </a:t>
            </a:r>
            <a:r>
              <a:rPr lang="en-GB" altLang="en-US" sz="1700" i="1" dirty="0">
                <a:solidFill>
                  <a:srgbClr val="FFFF00"/>
                </a:solidFill>
                <a:effectLst/>
              </a:rPr>
              <a:t>D</a:t>
            </a:r>
            <a:r>
              <a:rPr lang="en-GB" altLang="en-US" sz="1700" baseline="-25000" dirty="0">
                <a:solidFill>
                  <a:srgbClr val="FFFF00"/>
                </a:solidFill>
                <a:effectLst/>
              </a:rPr>
              <a:t>21</a:t>
            </a:r>
            <a:r>
              <a:rPr lang="en-GB" altLang="en-US" sz="1700" dirty="0">
                <a:effectLst/>
              </a:rPr>
              <a:t> </a:t>
            </a:r>
            <a:r>
              <a:rPr lang="en-GB" altLang="en-US" sz="1700" i="1" dirty="0">
                <a:effectLst/>
              </a:rPr>
              <a:t>x</a:t>
            </a:r>
            <a:r>
              <a:rPr lang="en-GB" altLang="en-US" sz="1700" dirty="0">
                <a:effectLst/>
              </a:rPr>
              <a:t>  +  </a:t>
            </a:r>
            <a:r>
              <a:rPr lang="en-GB" altLang="en-US" sz="1700" i="1" dirty="0">
                <a:solidFill>
                  <a:srgbClr val="FFFF00"/>
                </a:solidFill>
                <a:effectLst/>
              </a:rPr>
              <a:t>D</a:t>
            </a:r>
            <a:r>
              <a:rPr lang="en-GB" altLang="en-US" sz="1700" baseline="-25000" dirty="0">
                <a:solidFill>
                  <a:srgbClr val="FFFF00"/>
                </a:solidFill>
                <a:effectLst/>
              </a:rPr>
              <a:t>22</a:t>
            </a:r>
            <a:r>
              <a:rPr lang="en-GB" altLang="en-US" sz="1700" dirty="0">
                <a:effectLst/>
              </a:rPr>
              <a:t> </a:t>
            </a:r>
            <a:r>
              <a:rPr lang="en-GB" altLang="en-US" sz="1700" i="1" dirty="0">
                <a:effectLst/>
              </a:rPr>
              <a:t>y</a:t>
            </a:r>
            <a:r>
              <a:rPr lang="en-GB" altLang="en-US" sz="1700" dirty="0">
                <a:effectLst/>
              </a:rPr>
              <a:t>  +  </a:t>
            </a:r>
            <a:r>
              <a:rPr lang="en-GB" altLang="en-US" sz="1700" i="1" dirty="0">
                <a:effectLst/>
              </a:rPr>
              <a:t>A</a:t>
            </a:r>
            <a:r>
              <a:rPr lang="en-GB" altLang="en-US" sz="1700" baseline="-25000" dirty="0">
                <a:effectLst/>
              </a:rPr>
              <a:t>2</a:t>
            </a:r>
            <a:endParaRPr lang="en-GB" altLang="en-US" sz="1700" i="1" dirty="0">
              <a:effectLst/>
            </a:endParaRPr>
          </a:p>
          <a:p>
            <a:pPr marL="182563" indent="-182563">
              <a:spcBef>
                <a:spcPct val="75000"/>
              </a:spcBef>
            </a:pPr>
            <a:r>
              <a:rPr lang="en-GB" altLang="en-US" sz="1700" dirty="0">
                <a:effectLst/>
              </a:rPr>
              <a:t>The </a:t>
            </a:r>
            <a:r>
              <a:rPr lang="en-GB" altLang="en-US" sz="1700" dirty="0">
                <a:solidFill>
                  <a:srgbClr val="FF6600"/>
                </a:solidFill>
                <a:effectLst/>
              </a:rPr>
              <a:t>deformation gradient matrix</a:t>
            </a:r>
            <a:r>
              <a:rPr lang="en-GB" altLang="en-US" sz="1700" dirty="0">
                <a:effectLst/>
              </a:rPr>
              <a:t> is here defined to give the deformed position using the original position (</a:t>
            </a:r>
            <a:r>
              <a:rPr lang="en-GB" altLang="en-US" sz="1700" dirty="0" err="1">
                <a:solidFill>
                  <a:srgbClr val="FF66CC"/>
                </a:solidFill>
                <a:effectLst/>
              </a:rPr>
              <a:t>Lagrangian</a:t>
            </a:r>
            <a:r>
              <a:rPr lang="en-GB" altLang="en-US" sz="1700" dirty="0">
                <a:solidFill>
                  <a:srgbClr val="FF66CC"/>
                </a:solidFill>
                <a:effectLst/>
              </a:rPr>
              <a:t> specification</a:t>
            </a:r>
            <a:r>
              <a:rPr lang="en-GB" altLang="en-US" sz="1700" dirty="0">
                <a:effectLst/>
              </a:rPr>
              <a:t>) but it may alternatively be defined to give the original position using the deformed position (</a:t>
            </a:r>
            <a:r>
              <a:rPr lang="en-GB" altLang="en-US" sz="1700" dirty="0">
                <a:solidFill>
                  <a:srgbClr val="FF66CC"/>
                </a:solidFill>
                <a:effectLst/>
              </a:rPr>
              <a:t>Eulerian specification</a:t>
            </a:r>
            <a:r>
              <a:rPr lang="en-GB" altLang="en-US" sz="1700" dirty="0">
                <a:effectLst/>
              </a:rPr>
              <a:t>)</a:t>
            </a:r>
          </a:p>
          <a:p>
            <a:pPr marL="182563" indent="-182563">
              <a:spcBef>
                <a:spcPct val="75000"/>
              </a:spcBef>
            </a:pPr>
            <a:r>
              <a:rPr lang="en-GB" altLang="en-US" sz="1700" dirty="0">
                <a:effectLst/>
              </a:rPr>
              <a:t>Note that by working with gradients, the effect of </a:t>
            </a:r>
            <a:r>
              <a:rPr lang="en-GB" altLang="en-US" sz="1700" dirty="0">
                <a:solidFill>
                  <a:srgbClr val="FF66CC"/>
                </a:solidFill>
                <a:effectLst/>
              </a:rPr>
              <a:t>rigid body translation is eliminated</a:t>
            </a:r>
            <a:r>
              <a:rPr lang="en-GB" altLang="en-US" sz="1700" dirty="0">
                <a:effectLst/>
              </a:rPr>
              <a:t> – it is generally not possible to determine the exact amount of rigid translation that a rock has experienced since its formation</a:t>
            </a:r>
          </a:p>
        </p:txBody>
      </p:sp>
      <p:pic>
        <p:nvPicPr>
          <p:cNvPr id="338956" name="Picture 12">
            <a:extLst>
              <a:ext uri="{FF2B5EF4-FFF2-40B4-BE49-F238E27FC236}">
                <a16:creationId xmlns:a16="http://schemas.microsoft.com/office/drawing/2014/main" id="{B438798D-CE29-4239-924E-04FFA43644C5}"/>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5129213" y="3857625"/>
            <a:ext cx="3698875" cy="2789238"/>
          </a:xfrm>
          <a:noFill/>
          <a:ln w="38100" cap="flat">
            <a:solidFill>
              <a:schemeClr val="bg2"/>
            </a:solidFill>
            <a:miter lim="800000"/>
            <a:headEnd/>
            <a:tailEnd/>
          </a:ln>
        </p:spPr>
      </p:pic>
      <p:pic>
        <p:nvPicPr>
          <p:cNvPr id="338959" name="Picture 15">
            <a:extLst>
              <a:ext uri="{FF2B5EF4-FFF2-40B4-BE49-F238E27FC236}">
                <a16:creationId xmlns:a16="http://schemas.microsoft.com/office/drawing/2014/main" id="{FEC7122A-C202-4A93-9F83-5E0808E9BCD8}"/>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5130800" y="917575"/>
            <a:ext cx="3695700" cy="2787650"/>
          </a:xfrm>
          <a:noFill/>
          <a:ln w="38100" cap="flat">
            <a:solidFill>
              <a:schemeClr val="bg2"/>
            </a:solidFill>
            <a:miter lim="800000"/>
            <a:headEnd/>
            <a:tailEnd/>
          </a:ln>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a:extLst>
              <a:ext uri="{FF2B5EF4-FFF2-40B4-BE49-F238E27FC236}">
                <a16:creationId xmlns:a16="http://schemas.microsoft.com/office/drawing/2014/main" id="{283CCBA2-0BA3-4450-BA6E-B442D637E14C}"/>
              </a:ext>
            </a:extLst>
          </p:cNvPr>
          <p:cNvSpPr>
            <a:spLocks noGrp="1" noChangeArrowheads="1"/>
          </p:cNvSpPr>
          <p:nvPr>
            <p:ph type="title"/>
          </p:nvPr>
        </p:nvSpPr>
        <p:spPr>
          <a:noFill/>
        </p:spPr>
        <p:txBody>
          <a:bodyPr/>
          <a:lstStyle/>
          <a:p>
            <a:r>
              <a:rPr lang="en-GB" altLang="en-US">
                <a:effectLst/>
              </a:rPr>
              <a:t>Displacement gradient matrix</a:t>
            </a:r>
          </a:p>
        </p:txBody>
      </p:sp>
      <p:sp>
        <p:nvSpPr>
          <p:cNvPr id="344067" name="Rectangle 3">
            <a:extLst>
              <a:ext uri="{FF2B5EF4-FFF2-40B4-BE49-F238E27FC236}">
                <a16:creationId xmlns:a16="http://schemas.microsoft.com/office/drawing/2014/main" id="{85227134-7BC8-422F-AAEE-37B1525673C3}"/>
              </a:ext>
            </a:extLst>
          </p:cNvPr>
          <p:cNvSpPr>
            <a:spLocks noGrp="1" noChangeArrowheads="1"/>
          </p:cNvSpPr>
          <p:nvPr>
            <p:ph type="body" sz="half" idx="1"/>
          </p:nvPr>
        </p:nvSpPr>
        <p:spPr>
          <a:xfrm>
            <a:off x="122238" y="763588"/>
            <a:ext cx="6581775" cy="3732212"/>
          </a:xfrm>
          <a:noFill/>
        </p:spPr>
        <p:txBody>
          <a:bodyPr/>
          <a:lstStyle/>
          <a:p>
            <a:pPr marL="182563" indent="-182563">
              <a:spcBef>
                <a:spcPct val="50000"/>
              </a:spcBef>
            </a:pPr>
            <a:r>
              <a:rPr lang="en-GB" altLang="en-US" sz="1700">
                <a:effectLst/>
              </a:rPr>
              <a:t>The </a:t>
            </a:r>
            <a:r>
              <a:rPr lang="en-GB" altLang="en-US" sz="1700">
                <a:solidFill>
                  <a:srgbClr val="FF66CC"/>
                </a:solidFill>
                <a:effectLst/>
              </a:rPr>
              <a:t>deformation gradient matrix</a:t>
            </a:r>
            <a:r>
              <a:rPr lang="en-GB" altLang="en-US" sz="1700">
                <a:effectLst/>
              </a:rPr>
              <a:t> includes </a:t>
            </a:r>
            <a:r>
              <a:rPr lang="en-GB" altLang="en-US" sz="1700">
                <a:solidFill>
                  <a:srgbClr val="FF66CC"/>
                </a:solidFill>
                <a:effectLst/>
              </a:rPr>
              <a:t>rigid body rotation</a:t>
            </a:r>
            <a:r>
              <a:rPr lang="en-GB" altLang="en-US" sz="1700">
                <a:effectLst/>
              </a:rPr>
              <a:t> which, like rigid translation, does not contribute to the internal deformation of the body</a:t>
            </a:r>
          </a:p>
          <a:p>
            <a:pPr marL="182563" indent="-182563">
              <a:spcBef>
                <a:spcPct val="75000"/>
              </a:spcBef>
            </a:pPr>
            <a:r>
              <a:rPr lang="en-GB" altLang="en-US" sz="1700">
                <a:effectLst/>
              </a:rPr>
              <a:t>To separate out the rigid rotation, we work with </a:t>
            </a:r>
            <a:r>
              <a:rPr lang="en-GB" altLang="en-US" sz="1700">
                <a:solidFill>
                  <a:srgbClr val="FF66CC"/>
                </a:solidFill>
                <a:effectLst/>
              </a:rPr>
              <a:t>displacements</a:t>
            </a:r>
            <a:r>
              <a:rPr lang="en-GB" altLang="en-US" sz="1700">
                <a:effectLst/>
              </a:rPr>
              <a:t>,</a:t>
            </a:r>
          </a:p>
          <a:p>
            <a:pPr marL="182563" indent="-182563" algn="ctr">
              <a:spcBef>
                <a:spcPct val="25000"/>
              </a:spcBef>
              <a:buFont typeface="Times" panose="02020603050405020304" pitchFamily="18" charset="0"/>
              <a:buNone/>
            </a:pPr>
            <a:r>
              <a:rPr lang="en-GB" altLang="en-US" sz="1700" i="1">
                <a:effectLst/>
              </a:rPr>
              <a:t>u</a:t>
            </a:r>
            <a:r>
              <a:rPr lang="en-GB" altLang="en-US" sz="1700">
                <a:effectLst/>
              </a:rPr>
              <a:t>   =   </a:t>
            </a:r>
            <a:r>
              <a:rPr lang="en-GB" altLang="en-US" sz="1700" i="1">
                <a:effectLst/>
              </a:rPr>
              <a:t>x*  -  x </a:t>
            </a:r>
            <a:r>
              <a:rPr lang="en-GB" altLang="en-US" sz="1700">
                <a:effectLst/>
              </a:rPr>
              <a:t>    ;     </a:t>
            </a:r>
            <a:r>
              <a:rPr lang="en-GB" altLang="en-US" sz="1700" i="1">
                <a:effectLst/>
              </a:rPr>
              <a:t>v</a:t>
            </a:r>
            <a:r>
              <a:rPr lang="en-GB" altLang="en-US" sz="1700">
                <a:effectLst/>
              </a:rPr>
              <a:t>   =   </a:t>
            </a:r>
            <a:r>
              <a:rPr lang="en-GB" altLang="en-US" sz="1700" i="1">
                <a:effectLst/>
              </a:rPr>
              <a:t>y*  -  y</a:t>
            </a:r>
            <a:endParaRPr lang="en-GB" altLang="en-US" sz="1700">
              <a:effectLst/>
            </a:endParaRPr>
          </a:p>
          <a:p>
            <a:pPr marL="182563" indent="-182563">
              <a:spcBef>
                <a:spcPct val="25000"/>
              </a:spcBef>
              <a:buFont typeface="Times" panose="02020603050405020304" pitchFamily="18" charset="0"/>
              <a:buNone/>
            </a:pPr>
            <a:r>
              <a:rPr lang="en-GB" altLang="en-US" sz="1700">
                <a:effectLst/>
              </a:rPr>
              <a:t>	and we examine how displacement varies in the neighbourhood of a point (</a:t>
            </a:r>
            <a:r>
              <a:rPr lang="en-GB" altLang="en-US" sz="1700" i="1">
                <a:effectLst/>
              </a:rPr>
              <a:t>i.e.</a:t>
            </a:r>
            <a:r>
              <a:rPr lang="en-GB" altLang="en-US" sz="1700">
                <a:effectLst/>
              </a:rPr>
              <a:t>, we examine the </a:t>
            </a:r>
            <a:r>
              <a:rPr lang="en-GB" altLang="en-US" sz="1700">
                <a:solidFill>
                  <a:srgbClr val="FF6600"/>
                </a:solidFill>
                <a:effectLst/>
              </a:rPr>
              <a:t>displacement gradients</a:t>
            </a:r>
            <a:r>
              <a:rPr lang="en-GB" altLang="en-US" sz="1700">
                <a:effectLst/>
              </a:rPr>
              <a:t>)</a:t>
            </a:r>
          </a:p>
          <a:p>
            <a:pPr marL="182563" indent="-182563">
              <a:spcBef>
                <a:spcPct val="75000"/>
              </a:spcBef>
            </a:pPr>
            <a:r>
              <a:rPr lang="en-GB" altLang="en-US" sz="1700">
                <a:effectLst/>
              </a:rPr>
              <a:t>We split the displacement gradient matrix into </a:t>
            </a:r>
            <a:r>
              <a:rPr lang="en-GB" altLang="en-US" sz="1700">
                <a:solidFill>
                  <a:srgbClr val="FF66CC"/>
                </a:solidFill>
                <a:effectLst/>
              </a:rPr>
              <a:t>symmetric</a:t>
            </a:r>
            <a:r>
              <a:rPr lang="en-GB" altLang="en-US" sz="1700">
                <a:effectLst/>
              </a:rPr>
              <a:t> and </a:t>
            </a:r>
            <a:r>
              <a:rPr lang="en-GB" altLang="en-US" sz="1700">
                <a:solidFill>
                  <a:srgbClr val="FF66CC"/>
                </a:solidFill>
                <a:effectLst/>
              </a:rPr>
              <a:t>antisymmetric</a:t>
            </a:r>
            <a:r>
              <a:rPr lang="en-GB" altLang="en-US" sz="1700">
                <a:effectLst/>
              </a:rPr>
              <a:t> parts; the former gives </a:t>
            </a:r>
            <a:r>
              <a:rPr lang="en-GB" altLang="en-US" sz="1700">
                <a:solidFill>
                  <a:srgbClr val="FF6600"/>
                </a:solidFill>
                <a:effectLst/>
              </a:rPr>
              <a:t>strain</a:t>
            </a:r>
            <a:r>
              <a:rPr lang="en-GB" altLang="en-US" sz="1700">
                <a:effectLst/>
              </a:rPr>
              <a:t> (distortion + dilation), and the latter the </a:t>
            </a:r>
            <a:r>
              <a:rPr lang="en-GB" altLang="en-US" sz="1700">
                <a:solidFill>
                  <a:srgbClr val="FF6600"/>
                </a:solidFill>
                <a:effectLst/>
              </a:rPr>
              <a:t>rotation</a:t>
            </a:r>
          </a:p>
        </p:txBody>
      </p:sp>
      <p:pic>
        <p:nvPicPr>
          <p:cNvPr id="344072" name="Picture 8">
            <a:extLst>
              <a:ext uri="{FF2B5EF4-FFF2-40B4-BE49-F238E27FC236}">
                <a16:creationId xmlns:a16="http://schemas.microsoft.com/office/drawing/2014/main" id="{FAC048EA-E4DC-40AE-9511-38142FF41DA9}"/>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900863" y="898525"/>
            <a:ext cx="2062162" cy="1670050"/>
          </a:xfrm>
          <a:noFill/>
          <a:ln w="38100" cap="flat">
            <a:solidFill>
              <a:schemeClr val="bg2"/>
            </a:solidFill>
            <a:miter lim="800000"/>
            <a:headEnd/>
            <a:tailEnd/>
          </a:ln>
        </p:spPr>
      </p:pic>
      <p:pic>
        <p:nvPicPr>
          <p:cNvPr id="344074" name="Picture 10">
            <a:extLst>
              <a:ext uri="{FF2B5EF4-FFF2-40B4-BE49-F238E27FC236}">
                <a16:creationId xmlns:a16="http://schemas.microsoft.com/office/drawing/2014/main" id="{EB2B9E34-D60F-4353-A4A2-509F417B7813}"/>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6905625" y="2762250"/>
            <a:ext cx="2039938" cy="1651000"/>
          </a:xfrm>
          <a:noFill/>
          <a:ln w="38100" cap="flat">
            <a:solidFill>
              <a:schemeClr val="bg2"/>
            </a:solidFill>
            <a:miter lim="800000"/>
            <a:headEnd/>
            <a:tailEnd/>
          </a:ln>
        </p:spPr>
      </p:pic>
      <p:pic>
        <p:nvPicPr>
          <p:cNvPr id="344078" name="Picture 14">
            <a:extLst>
              <a:ext uri="{FF2B5EF4-FFF2-40B4-BE49-F238E27FC236}">
                <a16:creationId xmlns:a16="http://schemas.microsoft.com/office/drawing/2014/main" id="{00390355-8723-4D74-9337-6151D8B488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725" y="4629150"/>
            <a:ext cx="7699375" cy="2081213"/>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a:extLst>
              <a:ext uri="{FF2B5EF4-FFF2-40B4-BE49-F238E27FC236}">
                <a16:creationId xmlns:a16="http://schemas.microsoft.com/office/drawing/2014/main" id="{C0B4868F-021E-42BD-A45E-C7A4490C26FA}"/>
              </a:ext>
            </a:extLst>
          </p:cNvPr>
          <p:cNvSpPr>
            <a:spLocks noGrp="1" noChangeArrowheads="1"/>
          </p:cNvSpPr>
          <p:nvPr>
            <p:ph type="title"/>
          </p:nvPr>
        </p:nvSpPr>
        <p:spPr>
          <a:noFill/>
        </p:spPr>
        <p:txBody>
          <a:bodyPr/>
          <a:lstStyle/>
          <a:p>
            <a:r>
              <a:rPr lang="en-GB" altLang="en-US">
                <a:effectLst/>
              </a:rPr>
              <a:t>Example:  simple shear</a:t>
            </a:r>
          </a:p>
        </p:txBody>
      </p:sp>
      <p:pic>
        <p:nvPicPr>
          <p:cNvPr id="359437" name="Picture 13">
            <a:extLst>
              <a:ext uri="{FF2B5EF4-FFF2-40B4-BE49-F238E27FC236}">
                <a16:creationId xmlns:a16="http://schemas.microsoft.com/office/drawing/2014/main" id="{B7E97D01-D08C-4B77-BC17-3E174CBDA6B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774700" y="917575"/>
            <a:ext cx="7694613" cy="5729288"/>
          </a:xfrm>
          <a:noFill/>
          <a:ln w="38100" cap="flat">
            <a:solidFill>
              <a:schemeClr val="bg2"/>
            </a:solidFill>
            <a:miter lim="800000"/>
            <a:headEnd/>
            <a:tailEnd/>
          </a:ln>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a:extLst>
              <a:ext uri="{FF2B5EF4-FFF2-40B4-BE49-F238E27FC236}">
                <a16:creationId xmlns:a16="http://schemas.microsoft.com/office/drawing/2014/main" id="{8A9ADC04-A9FD-44DC-B28E-6D3BA96B20E6}"/>
              </a:ext>
            </a:extLst>
          </p:cNvPr>
          <p:cNvSpPr>
            <a:spLocks noGrp="1" noChangeArrowheads="1"/>
          </p:cNvSpPr>
          <p:nvPr>
            <p:ph type="title"/>
          </p:nvPr>
        </p:nvSpPr>
        <p:spPr>
          <a:noFill/>
        </p:spPr>
        <p:txBody>
          <a:bodyPr/>
          <a:lstStyle/>
          <a:p>
            <a:r>
              <a:rPr lang="en-GB" altLang="en-US">
                <a:effectLst/>
              </a:rPr>
              <a:t>Longitudinal strains</a:t>
            </a:r>
          </a:p>
        </p:txBody>
      </p:sp>
      <p:sp>
        <p:nvSpPr>
          <p:cNvPr id="348163" name="Rectangle 3">
            <a:extLst>
              <a:ext uri="{FF2B5EF4-FFF2-40B4-BE49-F238E27FC236}">
                <a16:creationId xmlns:a16="http://schemas.microsoft.com/office/drawing/2014/main" id="{638AF302-97C1-4A95-823F-2B295BAC6DE7}"/>
              </a:ext>
            </a:extLst>
          </p:cNvPr>
          <p:cNvSpPr>
            <a:spLocks noGrp="1" noChangeArrowheads="1"/>
          </p:cNvSpPr>
          <p:nvPr>
            <p:ph type="body" sz="half" idx="1"/>
          </p:nvPr>
        </p:nvSpPr>
        <p:spPr>
          <a:xfrm>
            <a:off x="120650" y="782638"/>
            <a:ext cx="8907463" cy="1128712"/>
          </a:xfrm>
          <a:noFill/>
        </p:spPr>
        <p:txBody>
          <a:bodyPr/>
          <a:lstStyle/>
          <a:p>
            <a:pPr marL="182563" indent="-182563">
              <a:spcBef>
                <a:spcPct val="50000"/>
              </a:spcBef>
            </a:pPr>
            <a:r>
              <a:rPr lang="en-GB" altLang="en-US" sz="1700" dirty="0">
                <a:effectLst/>
              </a:rPr>
              <a:t>The physical meaning of the strain components on the </a:t>
            </a:r>
            <a:r>
              <a:rPr lang="en-GB" altLang="en-US" sz="1700" dirty="0">
                <a:solidFill>
                  <a:srgbClr val="FF66CC"/>
                </a:solidFill>
                <a:effectLst/>
              </a:rPr>
              <a:t>leading diagonal</a:t>
            </a:r>
            <a:r>
              <a:rPr lang="en-GB" altLang="en-US" sz="1700" dirty="0">
                <a:effectLst/>
              </a:rPr>
              <a:t> of the strain matrix can be examined by considering three points </a:t>
            </a:r>
            <a:r>
              <a:rPr lang="en-GB" altLang="en-US" sz="1700" i="1" dirty="0">
                <a:effectLst/>
              </a:rPr>
              <a:t>P</a:t>
            </a:r>
            <a:r>
              <a:rPr lang="en-GB" altLang="en-US" sz="1700" dirty="0">
                <a:effectLst/>
              </a:rPr>
              <a:t> at (</a:t>
            </a:r>
            <a:r>
              <a:rPr lang="en-GB" altLang="en-US" sz="800" dirty="0">
                <a:effectLst/>
              </a:rPr>
              <a:t> </a:t>
            </a:r>
            <a:r>
              <a:rPr lang="en-GB" altLang="en-US" sz="1700" i="1" dirty="0">
                <a:effectLst/>
              </a:rPr>
              <a:t>x</a:t>
            </a:r>
            <a:r>
              <a:rPr lang="en-GB" altLang="en-US" sz="800" i="1" dirty="0">
                <a:effectLst/>
              </a:rPr>
              <a:t> </a:t>
            </a:r>
            <a:r>
              <a:rPr lang="en-GB" altLang="en-US" sz="1700" dirty="0">
                <a:effectLst/>
              </a:rPr>
              <a:t>,</a:t>
            </a:r>
            <a:r>
              <a:rPr lang="en-GB" altLang="en-US" sz="800" dirty="0">
                <a:effectLst/>
              </a:rPr>
              <a:t> </a:t>
            </a:r>
            <a:r>
              <a:rPr lang="en-GB" altLang="en-US" sz="1700" i="1" dirty="0">
                <a:effectLst/>
              </a:rPr>
              <a:t>y</a:t>
            </a:r>
            <a:r>
              <a:rPr lang="en-GB" altLang="en-US" sz="800" i="1" dirty="0">
                <a:effectLst/>
              </a:rPr>
              <a:t> </a:t>
            </a:r>
            <a:r>
              <a:rPr lang="en-GB" altLang="en-US" sz="1700" dirty="0">
                <a:effectLst/>
              </a:rPr>
              <a:t>), </a:t>
            </a:r>
            <a:r>
              <a:rPr lang="en-GB" altLang="en-US" sz="1700" i="1" dirty="0">
                <a:effectLst/>
              </a:rPr>
              <a:t>Q </a:t>
            </a:r>
            <a:r>
              <a:rPr lang="en-GB" altLang="en-US" sz="1700" dirty="0">
                <a:effectLst/>
              </a:rPr>
              <a:t>at (</a:t>
            </a:r>
            <a:r>
              <a:rPr lang="en-GB" altLang="en-US" sz="800" dirty="0">
                <a:effectLst/>
              </a:rPr>
              <a:t> </a:t>
            </a:r>
            <a:r>
              <a:rPr lang="en-GB" altLang="en-US" sz="1700" i="1" dirty="0">
                <a:effectLst/>
              </a:rPr>
              <a:t>x</a:t>
            </a:r>
            <a:r>
              <a:rPr lang="en-GB" altLang="en-US" sz="1700" dirty="0">
                <a:effectLst/>
              </a:rPr>
              <a:t> +</a:t>
            </a:r>
            <a:r>
              <a:rPr lang="en-GB" altLang="en-US" sz="800" dirty="0">
                <a:effectLst/>
              </a:rPr>
              <a:t> </a:t>
            </a:r>
            <a:r>
              <a:rPr lang="el-GR" altLang="en-US" sz="1700" i="1" dirty="0">
                <a:effectLst/>
                <a:latin typeface="Cambria Math" panose="02040503050406030204" pitchFamily="18" charset="0"/>
                <a:ea typeface="Cambria Math" panose="02040503050406030204" pitchFamily="18" charset="0"/>
              </a:rPr>
              <a:t>Δ</a:t>
            </a:r>
            <a:r>
              <a:rPr lang="en-GB" altLang="en-US" sz="800" i="1" dirty="0">
                <a:effectLst/>
                <a:latin typeface="Symbol" panose="05050102010706020507" pitchFamily="18" charset="2"/>
              </a:rPr>
              <a:t> </a:t>
            </a:r>
            <a:r>
              <a:rPr lang="en-GB" altLang="en-US" sz="1700" i="1" dirty="0">
                <a:effectLst/>
              </a:rPr>
              <a:t>x</a:t>
            </a:r>
            <a:r>
              <a:rPr lang="en-GB" altLang="en-US" sz="800" i="1" dirty="0">
                <a:effectLst/>
              </a:rPr>
              <a:t> </a:t>
            </a:r>
            <a:r>
              <a:rPr lang="en-GB" altLang="en-US" sz="1700" dirty="0">
                <a:effectLst/>
              </a:rPr>
              <a:t>,</a:t>
            </a:r>
            <a:r>
              <a:rPr lang="en-GB" altLang="en-US" sz="800" dirty="0">
                <a:effectLst/>
              </a:rPr>
              <a:t> </a:t>
            </a:r>
            <a:r>
              <a:rPr lang="en-GB" altLang="en-US" sz="1700" i="1" dirty="0">
                <a:effectLst/>
              </a:rPr>
              <a:t>y</a:t>
            </a:r>
            <a:r>
              <a:rPr lang="en-GB" altLang="en-US" sz="800" i="1" dirty="0">
                <a:effectLst/>
              </a:rPr>
              <a:t> </a:t>
            </a:r>
            <a:r>
              <a:rPr lang="en-GB" altLang="en-US" sz="1700" dirty="0">
                <a:effectLst/>
              </a:rPr>
              <a:t>), and </a:t>
            </a:r>
            <a:r>
              <a:rPr lang="en-GB" altLang="en-US" sz="1700" i="1" dirty="0">
                <a:effectLst/>
              </a:rPr>
              <a:t>R </a:t>
            </a:r>
            <a:r>
              <a:rPr lang="en-GB" altLang="en-US" sz="1700" dirty="0">
                <a:effectLst/>
              </a:rPr>
              <a:t>at (</a:t>
            </a:r>
            <a:r>
              <a:rPr lang="en-GB" altLang="en-US" sz="800" dirty="0">
                <a:effectLst/>
              </a:rPr>
              <a:t> </a:t>
            </a:r>
            <a:r>
              <a:rPr lang="en-GB" altLang="en-US" sz="1700" i="1" dirty="0">
                <a:effectLst/>
              </a:rPr>
              <a:t>x</a:t>
            </a:r>
            <a:r>
              <a:rPr lang="en-GB" altLang="en-US" sz="800" i="1" dirty="0">
                <a:effectLst/>
              </a:rPr>
              <a:t> </a:t>
            </a:r>
            <a:r>
              <a:rPr lang="en-GB" altLang="en-US" sz="1700" dirty="0">
                <a:effectLst/>
              </a:rPr>
              <a:t>,</a:t>
            </a:r>
            <a:r>
              <a:rPr lang="en-GB" altLang="en-US" sz="800" dirty="0">
                <a:effectLst/>
              </a:rPr>
              <a:t> </a:t>
            </a:r>
            <a:r>
              <a:rPr lang="en-GB" altLang="en-US" sz="1700" i="1" dirty="0">
                <a:effectLst/>
              </a:rPr>
              <a:t>y +</a:t>
            </a:r>
            <a:r>
              <a:rPr lang="en-GB" altLang="en-US" sz="800" i="1" dirty="0">
                <a:effectLst/>
              </a:rPr>
              <a:t> </a:t>
            </a:r>
            <a:r>
              <a:rPr lang="el-GR" altLang="en-US" sz="1700" i="1" dirty="0">
                <a:effectLst/>
                <a:latin typeface="Cambria Math" panose="02040503050406030204" pitchFamily="18" charset="0"/>
                <a:ea typeface="Cambria Math" panose="02040503050406030204" pitchFamily="18" charset="0"/>
              </a:rPr>
              <a:t>Δ</a:t>
            </a:r>
            <a:r>
              <a:rPr lang="en-GB" altLang="en-US" sz="800" i="1" dirty="0">
                <a:effectLst/>
              </a:rPr>
              <a:t> </a:t>
            </a:r>
            <a:r>
              <a:rPr lang="en-GB" altLang="en-US" sz="1700" i="1" dirty="0">
                <a:effectLst/>
              </a:rPr>
              <a:t>y</a:t>
            </a:r>
            <a:r>
              <a:rPr lang="en-GB" altLang="en-US" sz="800" i="1" dirty="0">
                <a:effectLst/>
              </a:rPr>
              <a:t> </a:t>
            </a:r>
            <a:r>
              <a:rPr lang="en-GB" altLang="en-US" sz="1700" dirty="0">
                <a:effectLst/>
              </a:rPr>
              <a:t>), that are deformed without change in angle to new positions </a:t>
            </a:r>
            <a:r>
              <a:rPr lang="en-GB" altLang="en-US" sz="1700" i="1" dirty="0">
                <a:effectLst/>
              </a:rPr>
              <a:t>P*</a:t>
            </a:r>
            <a:r>
              <a:rPr lang="en-GB" altLang="en-US" sz="1700" dirty="0">
                <a:effectLst/>
              </a:rPr>
              <a:t>, </a:t>
            </a:r>
            <a:r>
              <a:rPr lang="en-GB" altLang="en-US" sz="1700" i="1" dirty="0">
                <a:effectLst/>
              </a:rPr>
              <a:t>Q*</a:t>
            </a:r>
            <a:r>
              <a:rPr lang="en-GB" altLang="en-US" sz="1700" dirty="0">
                <a:effectLst/>
              </a:rPr>
              <a:t>, </a:t>
            </a:r>
            <a:r>
              <a:rPr lang="en-GB" altLang="en-US" sz="1700" i="1" dirty="0">
                <a:effectLst/>
              </a:rPr>
              <a:t>R*</a:t>
            </a:r>
            <a:r>
              <a:rPr lang="en-GB" altLang="en-US" sz="1700" dirty="0">
                <a:effectLst/>
              </a:rPr>
              <a:t> </a:t>
            </a:r>
          </a:p>
        </p:txBody>
      </p:sp>
      <p:pic>
        <p:nvPicPr>
          <p:cNvPr id="348172" name="Picture 12">
            <a:extLst>
              <a:ext uri="{FF2B5EF4-FFF2-40B4-BE49-F238E27FC236}">
                <a16:creationId xmlns:a16="http://schemas.microsoft.com/office/drawing/2014/main" id="{99EB41D5-09C6-44C7-B282-583912E33936}"/>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398588" y="2006600"/>
            <a:ext cx="6580187" cy="4117975"/>
          </a:xfrm>
          <a:noFill/>
          <a:ln w="38100" cap="flat">
            <a:solidFill>
              <a:schemeClr val="bg2"/>
            </a:solidFill>
            <a:miter lim="800000"/>
            <a:headEnd/>
            <a:tailEnd/>
          </a:ln>
        </p:spPr>
      </p:pic>
      <p:sp>
        <p:nvSpPr>
          <p:cNvPr id="348174" name="Text Box 14">
            <a:extLst>
              <a:ext uri="{FF2B5EF4-FFF2-40B4-BE49-F238E27FC236}">
                <a16:creationId xmlns:a16="http://schemas.microsoft.com/office/drawing/2014/main" id="{5A42A8D6-9C49-46C8-9472-9A63D58BD05C}"/>
              </a:ext>
            </a:extLst>
          </p:cNvPr>
          <p:cNvSpPr txBox="1">
            <a:spLocks noChangeArrowheads="1"/>
          </p:cNvSpPr>
          <p:nvPr/>
        </p:nvSpPr>
        <p:spPr bwMode="auto">
          <a:xfrm>
            <a:off x="1665288" y="6323013"/>
            <a:ext cx="58039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buClr>
                <a:schemeClr val="tx1"/>
              </a:buClr>
              <a:buFontTx/>
              <a:buChar char="•"/>
            </a:pPr>
            <a:r>
              <a:rPr lang="en-GB" altLang="en-US" sz="1700" dirty="0">
                <a:solidFill>
                  <a:srgbClr val="FF6600"/>
                </a:solidFill>
                <a:effectLst>
                  <a:outerShdw blurRad="38100" dist="38100" dir="2700000" algn="tl">
                    <a:srgbClr val="000000"/>
                  </a:outerShdw>
                </a:effectLst>
                <a:latin typeface="Arial" panose="020B0604020202020204" pitchFamily="34" charset="0"/>
              </a:rPr>
              <a:t>Longitudinal strains </a:t>
            </a:r>
            <a:r>
              <a:rPr lang="en-GB" altLang="en-US" sz="1700" dirty="0">
                <a:effectLst>
                  <a:outerShdw blurRad="38100" dist="38100" dir="2700000" algn="tl">
                    <a:srgbClr val="000000"/>
                  </a:outerShdw>
                </a:effectLst>
                <a:latin typeface="Arial" panose="020B0604020202020204" pitchFamily="34" charset="0"/>
              </a:rPr>
              <a:t>are</a:t>
            </a:r>
            <a:r>
              <a:rPr lang="en-GB" altLang="en-US" sz="1700" dirty="0">
                <a:solidFill>
                  <a:srgbClr val="FF6600"/>
                </a:solidFill>
                <a:effectLst>
                  <a:outerShdw blurRad="38100" dist="38100" dir="2700000" algn="tl">
                    <a:srgbClr val="000000"/>
                  </a:outerShdw>
                </a:effectLst>
                <a:latin typeface="Arial" panose="020B0604020202020204" pitchFamily="34"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change in lengt</a:t>
            </a:r>
            <a:r>
              <a:rPr lang="en-GB" altLang="en-US" sz="1700" spc="300" dirty="0">
                <a:solidFill>
                  <a:srgbClr val="FFFF00"/>
                </a:solidFill>
                <a:effectLst>
                  <a:outerShdw blurRad="38100" dist="38100" dir="2700000" algn="tl">
                    <a:srgbClr val="000000"/>
                  </a:outerShdw>
                </a:effectLst>
                <a:latin typeface="Arial" panose="020B0604020202020204" pitchFamily="34" charset="0"/>
              </a:rPr>
              <a:t>h/</a:t>
            </a:r>
            <a:r>
              <a:rPr lang="en-GB" altLang="en-US" sz="1700" dirty="0">
                <a:solidFill>
                  <a:srgbClr val="FFFF00"/>
                </a:solidFill>
                <a:effectLst>
                  <a:outerShdw blurRad="38100" dist="38100" dir="2700000" algn="tl">
                    <a:srgbClr val="000000"/>
                  </a:outerShdw>
                </a:effectLst>
                <a:latin typeface="Arial" panose="020B0604020202020204" pitchFamily="34" charset="0"/>
              </a:rPr>
              <a:t>original length</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2">
            <a:extLst>
              <a:ext uri="{FF2B5EF4-FFF2-40B4-BE49-F238E27FC236}">
                <a16:creationId xmlns:a16="http://schemas.microsoft.com/office/drawing/2014/main" id="{DA787A5F-8A62-464A-A32C-E6E52A7BE8BA}"/>
              </a:ext>
            </a:extLst>
          </p:cNvPr>
          <p:cNvSpPr>
            <a:spLocks noGrp="1" noChangeArrowheads="1"/>
          </p:cNvSpPr>
          <p:nvPr>
            <p:ph type="title"/>
          </p:nvPr>
        </p:nvSpPr>
        <p:spPr>
          <a:noFill/>
        </p:spPr>
        <p:txBody>
          <a:bodyPr/>
          <a:lstStyle/>
          <a:p>
            <a:r>
              <a:rPr lang="en-GB" altLang="en-US">
                <a:effectLst/>
              </a:rPr>
              <a:t>Tensor shear strains</a:t>
            </a:r>
          </a:p>
        </p:txBody>
      </p:sp>
      <p:sp>
        <p:nvSpPr>
          <p:cNvPr id="350211" name="Rectangle 3">
            <a:extLst>
              <a:ext uri="{FF2B5EF4-FFF2-40B4-BE49-F238E27FC236}">
                <a16:creationId xmlns:a16="http://schemas.microsoft.com/office/drawing/2014/main" id="{28A8D9B7-37BE-4A05-A7A5-539240BEF47D}"/>
              </a:ext>
            </a:extLst>
          </p:cNvPr>
          <p:cNvSpPr>
            <a:spLocks noGrp="1" noChangeArrowheads="1"/>
          </p:cNvSpPr>
          <p:nvPr>
            <p:ph type="body" sz="half" idx="1"/>
          </p:nvPr>
        </p:nvSpPr>
        <p:spPr>
          <a:xfrm>
            <a:off x="139700" y="782638"/>
            <a:ext cx="8843963" cy="782637"/>
          </a:xfrm>
          <a:noFill/>
        </p:spPr>
        <p:txBody>
          <a:bodyPr/>
          <a:lstStyle/>
          <a:p>
            <a:pPr marL="182563" indent="-182563">
              <a:spcBef>
                <a:spcPct val="50000"/>
              </a:spcBef>
            </a:pPr>
            <a:r>
              <a:rPr lang="en-GB" altLang="en-US" sz="1700">
                <a:effectLst/>
              </a:rPr>
              <a:t>The physical meaning of the </a:t>
            </a:r>
            <a:r>
              <a:rPr lang="en-GB" altLang="en-US" sz="1700">
                <a:solidFill>
                  <a:srgbClr val="FF66CC"/>
                </a:solidFill>
                <a:effectLst/>
              </a:rPr>
              <a:t>off-diagonal terms</a:t>
            </a:r>
            <a:r>
              <a:rPr lang="en-GB" altLang="en-US" sz="1700">
                <a:effectLst/>
              </a:rPr>
              <a:t> in the strain matrix becomes apparent if we allow a change in angle between the lines </a:t>
            </a:r>
            <a:r>
              <a:rPr lang="en-GB" altLang="en-US" sz="1700" i="1">
                <a:effectLst/>
              </a:rPr>
              <a:t>PQ</a:t>
            </a:r>
            <a:r>
              <a:rPr lang="en-GB" altLang="en-US" sz="1700">
                <a:effectLst/>
              </a:rPr>
              <a:t> and </a:t>
            </a:r>
            <a:r>
              <a:rPr lang="en-GB" altLang="en-US" sz="1700" i="1">
                <a:effectLst/>
              </a:rPr>
              <a:t>PR</a:t>
            </a:r>
          </a:p>
        </p:txBody>
      </p:sp>
      <p:sp>
        <p:nvSpPr>
          <p:cNvPr id="350214" name="Text Box 6">
            <a:extLst>
              <a:ext uri="{FF2B5EF4-FFF2-40B4-BE49-F238E27FC236}">
                <a16:creationId xmlns:a16="http://schemas.microsoft.com/office/drawing/2014/main" id="{441AC3C8-7D1D-4D20-B866-9365EECE5B79}"/>
              </a:ext>
            </a:extLst>
          </p:cNvPr>
          <p:cNvSpPr txBox="1">
            <a:spLocks noChangeArrowheads="1"/>
          </p:cNvSpPr>
          <p:nvPr/>
        </p:nvSpPr>
        <p:spPr bwMode="auto">
          <a:xfrm>
            <a:off x="134938" y="1663700"/>
            <a:ext cx="2667000" cy="446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 off-diagonal terms are </a:t>
            </a:r>
            <a:r>
              <a:rPr lang="en-GB" altLang="en-US" sz="1700">
                <a:solidFill>
                  <a:srgbClr val="FFFF00"/>
                </a:solidFill>
                <a:effectLst>
                  <a:outerShdw blurRad="38100" dist="38100" dir="2700000" algn="tl">
                    <a:srgbClr val="000000"/>
                  </a:outerShdw>
                </a:effectLst>
                <a:latin typeface="Arial" panose="020B0604020202020204" pitchFamily="34" charset="0"/>
              </a:rPr>
              <a:t>half the tangent of the change in angle between two initially orthogonal lines</a:t>
            </a:r>
            <a:r>
              <a:rPr lang="en-GB" altLang="en-US" sz="1700">
                <a:effectLst>
                  <a:outerShdw blurRad="38100" dist="38100" dir="2700000" algn="tl">
                    <a:srgbClr val="000000"/>
                  </a:outerShdw>
                </a:effectLst>
                <a:latin typeface="Arial" panose="020B0604020202020204" pitchFamily="34" charset="0"/>
              </a:rPr>
              <a:t>, that is, they are the </a:t>
            </a:r>
            <a:r>
              <a:rPr lang="en-GB" altLang="en-US" sz="1700">
                <a:solidFill>
                  <a:srgbClr val="FF6600"/>
                </a:solidFill>
                <a:effectLst>
                  <a:outerShdw blurRad="38100" dist="38100" dir="2700000" algn="tl">
                    <a:srgbClr val="000000"/>
                  </a:outerShdw>
                </a:effectLst>
                <a:latin typeface="Arial" panose="020B0604020202020204" pitchFamily="34" charset="0"/>
              </a:rPr>
              <a:t>tensor shear strains</a:t>
            </a:r>
          </a:p>
          <a:p>
            <a:pPr>
              <a:lnSpc>
                <a:spcPct val="120000"/>
              </a:lnSpc>
              <a:spcBef>
                <a:spcPct val="10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Note that since the strain matrix is the </a:t>
            </a:r>
            <a:r>
              <a:rPr lang="en-GB" altLang="en-US" sz="1700">
                <a:solidFill>
                  <a:srgbClr val="FF66CC"/>
                </a:solidFill>
                <a:effectLst>
                  <a:outerShdw blurRad="38100" dist="38100" dir="2700000" algn="tl">
                    <a:srgbClr val="000000"/>
                  </a:outerShdw>
                </a:effectLst>
                <a:latin typeface="Arial" panose="020B0604020202020204" pitchFamily="34" charset="0"/>
              </a:rPr>
              <a:t>symmetric</a:t>
            </a:r>
            <a:r>
              <a:rPr lang="en-GB" altLang="en-US" sz="1700">
                <a:effectLst>
                  <a:outerShdw blurRad="38100" dist="38100" dir="2700000" algn="tl">
                    <a:srgbClr val="000000"/>
                  </a:outerShdw>
                </a:effectLst>
                <a:latin typeface="Arial" panose="020B0604020202020204" pitchFamily="34" charset="0"/>
              </a:rPr>
              <a:t> part of the displacement gradient matrix,</a:t>
            </a:r>
          </a:p>
          <a:p>
            <a:pPr algn="ctr">
              <a:lnSpc>
                <a:spcPct val="120000"/>
              </a:lnSpc>
              <a:spcBef>
                <a:spcPct val="25000"/>
              </a:spcBef>
              <a:buClr>
                <a:schemeClr val="tx1"/>
              </a:buClr>
            </a:pPr>
            <a:r>
              <a:rPr lang="en-GB" altLang="en-US" sz="1700" i="1">
                <a:effectLst>
                  <a:outerShdw blurRad="38100" dist="38100" dir="2700000" algn="tl">
                    <a:srgbClr val="000000"/>
                  </a:outerShdw>
                </a:effectLst>
                <a:latin typeface="Arial" panose="020B0604020202020204" pitchFamily="34" charset="0"/>
              </a:rPr>
              <a:t>e</a:t>
            </a:r>
            <a:r>
              <a:rPr lang="en-GB" altLang="en-US" sz="1700" i="1" baseline="-25000">
                <a:effectLst>
                  <a:outerShdw blurRad="38100" dist="38100" dir="2700000" algn="tl">
                    <a:srgbClr val="000000"/>
                  </a:outerShdw>
                </a:effectLst>
                <a:latin typeface="Arial" panose="020B0604020202020204" pitchFamily="34" charset="0"/>
              </a:rPr>
              <a:t>xy</a:t>
            </a:r>
            <a:r>
              <a:rPr lang="en-GB" altLang="en-US" sz="1700" i="1">
                <a:effectLst>
                  <a:outerShdw blurRad="38100" dist="38100" dir="2700000" algn="tl">
                    <a:srgbClr val="000000"/>
                  </a:outerShdw>
                </a:effectLst>
                <a:latin typeface="Arial" panose="020B0604020202020204" pitchFamily="34" charset="0"/>
              </a:rPr>
              <a:t>  =  e</a:t>
            </a:r>
            <a:r>
              <a:rPr lang="en-GB" altLang="en-US" sz="1700" i="1" baseline="-25000">
                <a:effectLst>
                  <a:outerShdw blurRad="38100" dist="38100" dir="2700000" algn="tl">
                    <a:srgbClr val="000000"/>
                  </a:outerShdw>
                </a:effectLst>
                <a:latin typeface="Arial" panose="020B0604020202020204" pitchFamily="34" charset="0"/>
              </a:rPr>
              <a:t>yx</a:t>
            </a:r>
            <a:endParaRPr lang="en-GB" altLang="en-US" sz="1700" i="1">
              <a:effectLst>
                <a:outerShdw blurRad="38100" dist="38100" dir="2700000" algn="tl">
                  <a:srgbClr val="000000"/>
                </a:outerShdw>
              </a:effectLst>
              <a:latin typeface="Arial" panose="020B0604020202020204" pitchFamily="34" charset="0"/>
            </a:endParaRPr>
          </a:p>
        </p:txBody>
      </p:sp>
      <p:pic>
        <p:nvPicPr>
          <p:cNvPr id="350217" name="Picture 9">
            <a:extLst>
              <a:ext uri="{FF2B5EF4-FFF2-40B4-BE49-F238E27FC236}">
                <a16:creationId xmlns:a16="http://schemas.microsoft.com/office/drawing/2014/main" id="{2103F652-1654-4AC3-B750-D38B767A508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052763" y="1827213"/>
            <a:ext cx="5853112" cy="4378325"/>
          </a:xfrm>
          <a:noFill/>
          <a:ln w="38100" cap="flat">
            <a:solidFill>
              <a:schemeClr val="bg2"/>
            </a:solidFill>
            <a:miter lim="800000"/>
            <a:headEnd/>
            <a:tailEnd/>
          </a:ln>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4559" name="Picture 15">
            <a:extLst>
              <a:ext uri="{FF2B5EF4-FFF2-40B4-BE49-F238E27FC236}">
                <a16:creationId xmlns:a16="http://schemas.microsoft.com/office/drawing/2014/main" id="{7E7EFFFE-3DDB-4DC7-9E0C-71EC1406AEA6}"/>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298450" y="4151313"/>
            <a:ext cx="7043738" cy="2525712"/>
          </a:xfrm>
          <a:noFill/>
          <a:ln w="38100" cap="flat">
            <a:solidFill>
              <a:schemeClr val="bg2"/>
            </a:solidFill>
            <a:miter lim="800000"/>
            <a:headEnd/>
            <a:tailEnd/>
          </a:ln>
        </p:spPr>
      </p:pic>
      <p:sp>
        <p:nvSpPr>
          <p:cNvPr id="364546" name="Rectangle 2">
            <a:extLst>
              <a:ext uri="{FF2B5EF4-FFF2-40B4-BE49-F238E27FC236}">
                <a16:creationId xmlns:a16="http://schemas.microsoft.com/office/drawing/2014/main" id="{D4CF2065-DD9E-4C81-9B66-DDE7948596EF}"/>
              </a:ext>
            </a:extLst>
          </p:cNvPr>
          <p:cNvSpPr>
            <a:spLocks noGrp="1" noChangeArrowheads="1"/>
          </p:cNvSpPr>
          <p:nvPr>
            <p:ph type="title"/>
          </p:nvPr>
        </p:nvSpPr>
        <p:spPr>
          <a:noFill/>
        </p:spPr>
        <p:txBody>
          <a:bodyPr/>
          <a:lstStyle/>
          <a:p>
            <a:r>
              <a:rPr lang="en-GB" altLang="en-US">
                <a:effectLst/>
              </a:rPr>
              <a:t>Strain as a 2</a:t>
            </a:r>
            <a:r>
              <a:rPr lang="en-GB" altLang="en-US" baseline="30000">
                <a:effectLst/>
              </a:rPr>
              <a:t>nd</a:t>
            </a:r>
            <a:r>
              <a:rPr lang="en-GB" altLang="en-US">
                <a:effectLst/>
              </a:rPr>
              <a:t> rank tensor</a:t>
            </a:r>
          </a:p>
        </p:txBody>
      </p:sp>
      <p:sp>
        <p:nvSpPr>
          <p:cNvPr id="364547" name="Rectangle 3">
            <a:extLst>
              <a:ext uri="{FF2B5EF4-FFF2-40B4-BE49-F238E27FC236}">
                <a16:creationId xmlns:a16="http://schemas.microsoft.com/office/drawing/2014/main" id="{358945F6-B3AB-43BF-A4B6-F176BE862B6B}"/>
              </a:ext>
            </a:extLst>
          </p:cNvPr>
          <p:cNvSpPr>
            <a:spLocks noGrp="1" noChangeArrowheads="1"/>
          </p:cNvSpPr>
          <p:nvPr>
            <p:ph type="body" sz="half" idx="1"/>
          </p:nvPr>
        </p:nvSpPr>
        <p:spPr>
          <a:xfrm>
            <a:off x="122238" y="754063"/>
            <a:ext cx="6089650" cy="2474912"/>
          </a:xfrm>
          <a:noFill/>
        </p:spPr>
        <p:txBody>
          <a:bodyPr/>
          <a:lstStyle/>
          <a:p>
            <a:pPr marL="182563" indent="-182563">
              <a:spcBef>
                <a:spcPct val="50000"/>
              </a:spcBef>
            </a:pPr>
            <a:r>
              <a:rPr lang="en-GB" altLang="en-US" sz="1700" dirty="0">
                <a:effectLst/>
              </a:rPr>
              <a:t>The </a:t>
            </a:r>
            <a:r>
              <a:rPr lang="en-GB" altLang="en-US" sz="1700" dirty="0">
                <a:solidFill>
                  <a:srgbClr val="FF66CC"/>
                </a:solidFill>
                <a:effectLst/>
              </a:rPr>
              <a:t>values of the components in the strain matrix</a:t>
            </a:r>
            <a:r>
              <a:rPr lang="en-GB" altLang="en-US" sz="1700" dirty="0">
                <a:effectLst/>
              </a:rPr>
              <a:t> change as the orientation of the coordinate frame is changed, but they do so in a very specific way, that is, they obey a particular </a:t>
            </a:r>
            <a:r>
              <a:rPr lang="en-GB" altLang="en-US" sz="1700" dirty="0">
                <a:solidFill>
                  <a:srgbClr val="FF66CC"/>
                </a:solidFill>
                <a:effectLst/>
              </a:rPr>
              <a:t>transformation equation</a:t>
            </a:r>
            <a:r>
              <a:rPr lang="en-GB" altLang="en-US" sz="1700" dirty="0">
                <a:effectLst/>
              </a:rPr>
              <a:t> that is used to define a class of physical quantities called </a:t>
            </a:r>
            <a:r>
              <a:rPr lang="en-GB" altLang="en-US" sz="1700" dirty="0">
                <a:solidFill>
                  <a:srgbClr val="FF6600"/>
                </a:solidFill>
                <a:effectLst/>
              </a:rPr>
              <a:t>2</a:t>
            </a:r>
            <a:r>
              <a:rPr lang="en-GB" altLang="en-US" sz="1700" baseline="30000" dirty="0">
                <a:solidFill>
                  <a:srgbClr val="FF6600"/>
                </a:solidFill>
                <a:effectLst/>
              </a:rPr>
              <a:t>nd</a:t>
            </a:r>
            <a:r>
              <a:rPr lang="en-GB" altLang="en-US" sz="1700" dirty="0">
                <a:solidFill>
                  <a:srgbClr val="FF6600"/>
                </a:solidFill>
                <a:effectLst/>
              </a:rPr>
              <a:t> rank tensors</a:t>
            </a:r>
          </a:p>
          <a:p>
            <a:pPr marL="182563" indent="-182563">
              <a:spcBef>
                <a:spcPct val="50000"/>
              </a:spcBef>
            </a:pPr>
            <a:r>
              <a:rPr lang="en-GB" altLang="en-US" sz="1700" dirty="0">
                <a:effectLst/>
              </a:rPr>
              <a:t>A </a:t>
            </a:r>
            <a:r>
              <a:rPr lang="en-GB" altLang="en-US" sz="1700" dirty="0">
                <a:solidFill>
                  <a:srgbClr val="FF66CC"/>
                </a:solidFill>
                <a:effectLst/>
              </a:rPr>
              <a:t>tensor</a:t>
            </a:r>
            <a:r>
              <a:rPr lang="en-GB" altLang="en-US" sz="1700" dirty="0">
                <a:effectLst/>
              </a:rPr>
              <a:t> is a mathematical quantity that describes the physical stat</a:t>
            </a:r>
            <a:r>
              <a:rPr lang="en-GB" altLang="en-US" sz="1700" spc="300" dirty="0">
                <a:effectLst/>
              </a:rPr>
              <a:t>e/</a:t>
            </a:r>
            <a:r>
              <a:rPr lang="en-GB" altLang="en-US" sz="1700" dirty="0">
                <a:effectLst/>
              </a:rPr>
              <a:t>properties of a material</a:t>
            </a:r>
            <a:endParaRPr lang="en-GB" altLang="en-US" sz="1700" i="1" dirty="0">
              <a:effectLst/>
            </a:endParaRPr>
          </a:p>
        </p:txBody>
      </p:sp>
      <p:pic>
        <p:nvPicPr>
          <p:cNvPr id="364551" name="Picture 7">
            <a:extLst>
              <a:ext uri="{FF2B5EF4-FFF2-40B4-BE49-F238E27FC236}">
                <a16:creationId xmlns:a16="http://schemas.microsoft.com/office/drawing/2014/main" id="{26CAB8C8-05F2-4996-BBF1-248ED7CAE40D}"/>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6219825" y="936625"/>
            <a:ext cx="2760663" cy="1941513"/>
          </a:xfrm>
          <a:noFill/>
          <a:ln w="38100" cap="flat">
            <a:solidFill>
              <a:schemeClr val="bg2"/>
            </a:solidFill>
            <a:miter lim="800000"/>
            <a:headEnd/>
            <a:tailEnd/>
          </a:ln>
        </p:spPr>
      </p:pic>
      <p:sp>
        <p:nvSpPr>
          <p:cNvPr id="364553" name="Text Box 9">
            <a:extLst>
              <a:ext uri="{FF2B5EF4-FFF2-40B4-BE49-F238E27FC236}">
                <a16:creationId xmlns:a16="http://schemas.microsoft.com/office/drawing/2014/main" id="{A1DB4EE4-A2C5-4403-AABB-EEE46B784276}"/>
              </a:ext>
            </a:extLst>
          </p:cNvPr>
          <p:cNvSpPr txBox="1">
            <a:spLocks noChangeArrowheads="1"/>
          </p:cNvSpPr>
          <p:nvPr/>
        </p:nvSpPr>
        <p:spPr bwMode="auto">
          <a:xfrm>
            <a:off x="125413" y="3225800"/>
            <a:ext cx="88550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Tensors are distinguished as being of </a:t>
            </a:r>
            <a:r>
              <a:rPr lang="en-GB" altLang="en-US" sz="1700">
                <a:solidFill>
                  <a:srgbClr val="FF66CC"/>
                </a:solidFill>
                <a:effectLst>
                  <a:outerShdw blurRad="38100" dist="38100" dir="2700000" algn="tl">
                    <a:srgbClr val="000000"/>
                  </a:outerShdw>
                </a:effectLst>
                <a:latin typeface="Arial" panose="020B0604020202020204" pitchFamily="34" charset="0"/>
              </a:rPr>
              <a:t>rank </a:t>
            </a:r>
            <a:r>
              <a:rPr lang="en-GB" altLang="en-US" sz="1700" i="1">
                <a:solidFill>
                  <a:srgbClr val="FF66CC"/>
                </a:solidFill>
                <a:effectLst>
                  <a:outerShdw blurRad="38100" dist="38100" dir="2700000" algn="tl">
                    <a:srgbClr val="000000"/>
                  </a:outerShdw>
                </a:effectLst>
                <a:latin typeface="Arial" panose="020B0604020202020204" pitchFamily="34" charset="0"/>
              </a:rPr>
              <a:t>n</a:t>
            </a:r>
            <a:r>
              <a:rPr lang="en-GB" altLang="en-US" sz="1700">
                <a:effectLst>
                  <a:outerShdw blurRad="38100" dist="38100" dir="2700000" algn="tl">
                    <a:srgbClr val="000000"/>
                  </a:outerShdw>
                </a:effectLst>
                <a:latin typeface="Arial" panose="020B0604020202020204" pitchFamily="34" charset="0"/>
              </a:rPr>
              <a:t> where 3</a:t>
            </a:r>
            <a:r>
              <a:rPr lang="en-GB" altLang="en-US" sz="1700" i="1" baseline="30000">
                <a:effectLst>
                  <a:outerShdw blurRad="38100" dist="38100" dir="2700000" algn="tl">
                    <a:srgbClr val="000000"/>
                  </a:outerShdw>
                </a:effectLst>
                <a:latin typeface="Arial" panose="020B0604020202020204" pitchFamily="34" charset="0"/>
              </a:rPr>
              <a:t>n</a:t>
            </a:r>
            <a:r>
              <a:rPr lang="en-GB" altLang="en-US" sz="1700">
                <a:effectLst>
                  <a:outerShdw blurRad="38100" dist="38100" dir="2700000" algn="tl">
                    <a:srgbClr val="000000"/>
                  </a:outerShdw>
                </a:effectLst>
                <a:latin typeface="Arial" panose="020B0604020202020204" pitchFamily="34" charset="0"/>
              </a:rPr>
              <a:t> is the number of terms required to specify them (in 3d); </a:t>
            </a:r>
            <a:r>
              <a:rPr lang="en-GB" altLang="en-US" sz="1700">
                <a:solidFill>
                  <a:srgbClr val="FF66CC"/>
                </a:solidFill>
                <a:effectLst>
                  <a:outerShdw blurRad="38100" dist="38100" dir="2700000" algn="tl">
                    <a:srgbClr val="000000"/>
                  </a:outerShdw>
                </a:effectLst>
                <a:latin typeface="Arial" panose="020B0604020202020204" pitchFamily="34" charset="0"/>
              </a:rPr>
              <a:t>in 3d the strain is a 3 x 3 matrix</a:t>
            </a:r>
            <a:r>
              <a:rPr lang="en-GB" altLang="en-US" sz="1700">
                <a:effectLst>
                  <a:outerShdw blurRad="38100" dist="38100" dir="2700000" algn="tl">
                    <a:srgbClr val="000000"/>
                  </a:outerShdw>
                </a:effectLst>
                <a:latin typeface="Arial" panose="020B0604020202020204" pitchFamily="34" charset="0"/>
              </a:rPr>
              <a:t> (9 components, </a:t>
            </a:r>
            <a:r>
              <a:rPr lang="en-GB" altLang="en-US" sz="1700" i="1">
                <a:effectLst>
                  <a:outerShdw blurRad="38100" dist="38100" dir="2700000" algn="tl">
                    <a:srgbClr val="000000"/>
                  </a:outerShdw>
                </a:effectLst>
                <a:latin typeface="Arial" panose="020B0604020202020204" pitchFamily="34" charset="0"/>
              </a:rPr>
              <a:t>n</a:t>
            </a:r>
            <a:r>
              <a:rPr lang="en-GB" altLang="en-US" sz="1700">
                <a:effectLst>
                  <a:outerShdw blurRad="38100" dist="38100" dir="2700000" algn="tl">
                    <a:srgbClr val="000000"/>
                  </a:outerShdw>
                </a:effectLst>
                <a:latin typeface="Arial" panose="020B0604020202020204" pitchFamily="34" charset="0"/>
              </a:rPr>
              <a:t> = 2)</a:t>
            </a:r>
          </a:p>
        </p:txBody>
      </p:sp>
      <p:sp>
        <p:nvSpPr>
          <p:cNvPr id="364555" name="Text Box 11">
            <a:extLst>
              <a:ext uri="{FF2B5EF4-FFF2-40B4-BE49-F238E27FC236}">
                <a16:creationId xmlns:a16="http://schemas.microsoft.com/office/drawing/2014/main" id="{7670B757-7CC7-4A2E-BB0D-D039BCEAF2A4}"/>
              </a:ext>
            </a:extLst>
          </p:cNvPr>
          <p:cNvSpPr txBox="1">
            <a:spLocks noChangeArrowheads="1"/>
          </p:cNvSpPr>
          <p:nvPr/>
        </p:nvSpPr>
        <p:spPr bwMode="auto">
          <a:xfrm>
            <a:off x="7440613" y="4294188"/>
            <a:ext cx="1463675"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a:spcBef>
                <a:spcPct val="50000"/>
              </a:spcBef>
            </a:pPr>
            <a:r>
              <a:rPr lang="en-GB" altLang="en-US" i="1">
                <a:effectLst>
                  <a:outerShdw blurRad="38100" dist="38100" dir="2700000" algn="tl">
                    <a:srgbClr val="000000"/>
                  </a:outerShdw>
                </a:effectLst>
                <a:latin typeface="Arial" panose="020B0604020202020204" pitchFamily="34" charset="0"/>
              </a:rPr>
              <a:t>e</a:t>
            </a:r>
            <a:r>
              <a:rPr lang="en-GB" altLang="en-US" baseline="-25000">
                <a:effectLst>
                  <a:outerShdw blurRad="38100" dist="38100" dir="2700000" algn="tl">
                    <a:srgbClr val="000000"/>
                  </a:outerShdw>
                </a:effectLst>
                <a:latin typeface="Arial" panose="020B0604020202020204" pitchFamily="34" charset="0"/>
              </a:rPr>
              <a:t>12</a:t>
            </a:r>
            <a:r>
              <a:rPr lang="en-GB" altLang="en-US">
                <a:effectLst>
                  <a:outerShdw blurRad="38100" dist="38100" dir="2700000" algn="tl">
                    <a:srgbClr val="000000"/>
                  </a:outerShdw>
                </a:effectLst>
                <a:latin typeface="Arial" panose="020B0604020202020204" pitchFamily="34" charset="0"/>
              </a:rPr>
              <a:t> = </a:t>
            </a:r>
            <a:r>
              <a:rPr lang="en-GB" altLang="en-US" i="1">
                <a:effectLst>
                  <a:outerShdw blurRad="38100" dist="38100" dir="2700000" algn="tl">
                    <a:srgbClr val="000000"/>
                  </a:outerShdw>
                </a:effectLst>
                <a:latin typeface="Arial" panose="020B0604020202020204" pitchFamily="34" charset="0"/>
              </a:rPr>
              <a:t>e</a:t>
            </a:r>
            <a:r>
              <a:rPr lang="en-GB" altLang="en-US" baseline="-25000">
                <a:effectLst>
                  <a:outerShdw blurRad="38100" dist="38100" dir="2700000" algn="tl">
                    <a:srgbClr val="000000"/>
                  </a:outerShdw>
                </a:effectLst>
                <a:latin typeface="Arial" panose="020B0604020202020204" pitchFamily="34" charset="0"/>
              </a:rPr>
              <a:t>21</a:t>
            </a:r>
          </a:p>
          <a:p>
            <a:pPr algn="ctr">
              <a:spcBef>
                <a:spcPct val="50000"/>
              </a:spcBef>
            </a:pPr>
            <a:r>
              <a:rPr lang="en-GB" altLang="en-US" i="1">
                <a:effectLst>
                  <a:outerShdw blurRad="38100" dist="38100" dir="2700000" algn="tl">
                    <a:srgbClr val="000000"/>
                  </a:outerShdw>
                </a:effectLst>
                <a:latin typeface="Arial" panose="020B0604020202020204" pitchFamily="34" charset="0"/>
              </a:rPr>
              <a:t>e</a:t>
            </a:r>
            <a:r>
              <a:rPr lang="en-GB" altLang="en-US" baseline="-25000">
                <a:effectLst>
                  <a:outerShdw blurRad="38100" dist="38100" dir="2700000" algn="tl">
                    <a:srgbClr val="000000"/>
                  </a:outerShdw>
                </a:effectLst>
                <a:latin typeface="Arial" panose="020B0604020202020204" pitchFamily="34" charset="0"/>
              </a:rPr>
              <a:t>13</a:t>
            </a:r>
            <a:r>
              <a:rPr lang="en-GB" altLang="en-US">
                <a:effectLst>
                  <a:outerShdw blurRad="38100" dist="38100" dir="2700000" algn="tl">
                    <a:srgbClr val="000000"/>
                  </a:outerShdw>
                </a:effectLst>
                <a:latin typeface="Arial" panose="020B0604020202020204" pitchFamily="34" charset="0"/>
              </a:rPr>
              <a:t> = </a:t>
            </a:r>
            <a:r>
              <a:rPr lang="en-GB" altLang="en-US" i="1">
                <a:effectLst>
                  <a:outerShdw blurRad="38100" dist="38100" dir="2700000" algn="tl">
                    <a:srgbClr val="000000"/>
                  </a:outerShdw>
                </a:effectLst>
                <a:latin typeface="Arial" panose="020B0604020202020204" pitchFamily="34" charset="0"/>
              </a:rPr>
              <a:t>e</a:t>
            </a:r>
            <a:r>
              <a:rPr lang="en-GB" altLang="en-US" baseline="-25000">
                <a:effectLst>
                  <a:outerShdw blurRad="38100" dist="38100" dir="2700000" algn="tl">
                    <a:srgbClr val="000000"/>
                  </a:outerShdw>
                </a:effectLst>
                <a:latin typeface="Arial" panose="020B0604020202020204" pitchFamily="34" charset="0"/>
              </a:rPr>
              <a:t>31</a:t>
            </a:r>
          </a:p>
          <a:p>
            <a:pPr algn="ctr">
              <a:spcBef>
                <a:spcPct val="50000"/>
              </a:spcBef>
            </a:pPr>
            <a:r>
              <a:rPr lang="en-GB" altLang="en-US" i="1">
                <a:effectLst>
                  <a:outerShdw blurRad="38100" dist="38100" dir="2700000" algn="tl">
                    <a:srgbClr val="000000"/>
                  </a:outerShdw>
                </a:effectLst>
                <a:latin typeface="Arial" panose="020B0604020202020204" pitchFamily="34" charset="0"/>
              </a:rPr>
              <a:t>e</a:t>
            </a:r>
            <a:r>
              <a:rPr lang="en-GB" altLang="en-US" baseline="-25000">
                <a:effectLst>
                  <a:outerShdw blurRad="38100" dist="38100" dir="2700000" algn="tl">
                    <a:srgbClr val="000000"/>
                  </a:outerShdw>
                </a:effectLst>
                <a:latin typeface="Arial" panose="020B0604020202020204" pitchFamily="34" charset="0"/>
              </a:rPr>
              <a:t>23</a:t>
            </a:r>
            <a:r>
              <a:rPr lang="en-GB" altLang="en-US">
                <a:effectLst>
                  <a:outerShdw blurRad="38100" dist="38100" dir="2700000" algn="tl">
                    <a:srgbClr val="000000"/>
                  </a:outerShdw>
                </a:effectLst>
                <a:latin typeface="Arial" panose="020B0604020202020204" pitchFamily="34" charset="0"/>
              </a:rPr>
              <a:t> = </a:t>
            </a:r>
            <a:r>
              <a:rPr lang="en-GB" altLang="en-US" i="1">
                <a:effectLst>
                  <a:outerShdw blurRad="38100" dist="38100" dir="2700000" algn="tl">
                    <a:srgbClr val="000000"/>
                  </a:outerShdw>
                </a:effectLst>
                <a:latin typeface="Arial" panose="020B0604020202020204" pitchFamily="34" charset="0"/>
              </a:rPr>
              <a:t>e</a:t>
            </a:r>
            <a:r>
              <a:rPr lang="en-GB" altLang="en-US" baseline="-25000">
                <a:effectLst>
                  <a:outerShdw blurRad="38100" dist="38100" dir="2700000" algn="tl">
                    <a:srgbClr val="000000"/>
                  </a:outerShdw>
                </a:effectLst>
                <a:latin typeface="Arial" panose="020B0604020202020204" pitchFamily="34" charset="0"/>
              </a:rPr>
              <a:t>32</a:t>
            </a:r>
          </a:p>
        </p:txBody>
      </p:sp>
      <p:sp>
        <p:nvSpPr>
          <p:cNvPr id="364556" name="Text Box 12">
            <a:extLst>
              <a:ext uri="{FF2B5EF4-FFF2-40B4-BE49-F238E27FC236}">
                <a16:creationId xmlns:a16="http://schemas.microsoft.com/office/drawing/2014/main" id="{1125F344-7BDD-41B9-AF90-54A4A5D0648C}"/>
              </a:ext>
            </a:extLst>
          </p:cNvPr>
          <p:cNvSpPr txBox="1">
            <a:spLocks noChangeArrowheads="1"/>
          </p:cNvSpPr>
          <p:nvPr/>
        </p:nvSpPr>
        <p:spPr bwMode="auto">
          <a:xfrm>
            <a:off x="7364413" y="5638800"/>
            <a:ext cx="1663700" cy="93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5000"/>
              </a:lnSpc>
              <a:spcBef>
                <a:spcPct val="50000"/>
              </a:spcBef>
            </a:pPr>
            <a:r>
              <a:rPr lang="en-GB" altLang="en-US" i="1">
                <a:solidFill>
                  <a:srgbClr val="FFFF00"/>
                </a:solidFill>
                <a:effectLst>
                  <a:outerShdw blurRad="38100" dist="38100" dir="2700000" algn="tl">
                    <a:srgbClr val="000000"/>
                  </a:outerShdw>
                </a:effectLst>
                <a:latin typeface="Arial" panose="020B0604020202020204" pitchFamily="34" charset="0"/>
              </a:rPr>
              <a:t>Strain at a point is not a single number</a:t>
            </a:r>
            <a:endParaRPr lang="en-GB" altLang="en-US">
              <a:solidFill>
                <a:srgbClr val="FFFF00"/>
              </a:solidFill>
              <a:effectLst>
                <a:outerShdw blurRad="38100" dist="38100" dir="2700000" algn="tl">
                  <a:srgbClr val="000000"/>
                </a:outerShdw>
              </a:effectLst>
              <a:latin typeface="Arial" panose="020B0604020202020204" pitchFamily="34" charset="0"/>
            </a:endParaRPr>
          </a:p>
        </p:txBody>
      </p:sp>
      <p:sp>
        <p:nvSpPr>
          <p:cNvPr id="364557" name="Text Box 13">
            <a:extLst>
              <a:ext uri="{FF2B5EF4-FFF2-40B4-BE49-F238E27FC236}">
                <a16:creationId xmlns:a16="http://schemas.microsoft.com/office/drawing/2014/main" id="{DDA8D8D4-4BBB-4746-AD53-4B0223AE13A5}"/>
              </a:ext>
            </a:extLst>
          </p:cNvPr>
          <p:cNvSpPr txBox="1">
            <a:spLocks noChangeArrowheads="1"/>
          </p:cNvSpPr>
          <p:nvPr/>
        </p:nvSpPr>
        <p:spPr bwMode="auto">
          <a:xfrm>
            <a:off x="500063" y="6065838"/>
            <a:ext cx="2039937"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200" i="1">
                <a:solidFill>
                  <a:srgbClr val="FF0000"/>
                </a:solidFill>
                <a:effectLst/>
                <a:latin typeface="Arial" panose="020B0604020202020204" pitchFamily="34" charset="0"/>
              </a:rPr>
              <a:t>x</a:t>
            </a:r>
            <a:r>
              <a:rPr lang="en-GB" altLang="en-US" sz="1200">
                <a:solidFill>
                  <a:srgbClr val="FF0000"/>
                </a:solidFill>
                <a:effectLst/>
                <a:latin typeface="Arial" panose="020B0604020202020204" pitchFamily="34" charset="0"/>
              </a:rPr>
              <a:t>,</a:t>
            </a:r>
            <a:r>
              <a:rPr lang="en-GB" altLang="en-US" sz="1200" i="1">
                <a:solidFill>
                  <a:srgbClr val="FF0000"/>
                </a:solidFill>
                <a:effectLst/>
                <a:latin typeface="Arial" panose="020B0604020202020204" pitchFamily="34" charset="0"/>
              </a:rPr>
              <a:t>y</a:t>
            </a:r>
            <a:r>
              <a:rPr lang="en-GB" altLang="en-US" sz="1200">
                <a:solidFill>
                  <a:srgbClr val="FF0000"/>
                </a:solidFill>
                <a:effectLst/>
                <a:latin typeface="Arial" panose="020B0604020202020204" pitchFamily="34" charset="0"/>
              </a:rPr>
              <a:t>,</a:t>
            </a:r>
            <a:r>
              <a:rPr lang="en-GB" altLang="en-US" sz="1200" i="1">
                <a:solidFill>
                  <a:srgbClr val="FF0000"/>
                </a:solidFill>
                <a:effectLst/>
                <a:latin typeface="Arial" panose="020B0604020202020204" pitchFamily="34" charset="0"/>
              </a:rPr>
              <a:t>z</a:t>
            </a:r>
            <a:r>
              <a:rPr lang="en-GB" altLang="en-US" sz="1200">
                <a:solidFill>
                  <a:srgbClr val="FF0000"/>
                </a:solidFill>
                <a:effectLst/>
                <a:latin typeface="Arial" panose="020B0604020202020204" pitchFamily="34" charset="0"/>
              </a:rPr>
              <a:t> labelling of axes replaced by </a:t>
            </a:r>
            <a:r>
              <a:rPr lang="en-GB" altLang="en-US" sz="1200" i="1">
                <a:solidFill>
                  <a:srgbClr val="FF0000"/>
                </a:solidFill>
                <a:effectLst/>
                <a:latin typeface="Arial" panose="020B0604020202020204" pitchFamily="34" charset="0"/>
              </a:rPr>
              <a:t>x</a:t>
            </a:r>
            <a:r>
              <a:rPr lang="en-GB" altLang="en-US" sz="1200" baseline="-25000">
                <a:solidFill>
                  <a:srgbClr val="FF0000"/>
                </a:solidFill>
                <a:effectLst/>
                <a:latin typeface="Arial" panose="020B0604020202020204" pitchFamily="34" charset="0"/>
              </a:rPr>
              <a:t>1</a:t>
            </a:r>
            <a:r>
              <a:rPr lang="en-GB" altLang="en-US" sz="1200">
                <a:solidFill>
                  <a:srgbClr val="FF0000"/>
                </a:solidFill>
                <a:effectLst/>
                <a:latin typeface="Arial" panose="020B0604020202020204" pitchFamily="34" charset="0"/>
              </a:rPr>
              <a:t>,</a:t>
            </a:r>
            <a:r>
              <a:rPr lang="en-GB" altLang="en-US" sz="1200" i="1">
                <a:solidFill>
                  <a:srgbClr val="FF0000"/>
                </a:solidFill>
                <a:effectLst/>
                <a:latin typeface="Arial" panose="020B0604020202020204" pitchFamily="34" charset="0"/>
              </a:rPr>
              <a:t>x</a:t>
            </a:r>
            <a:r>
              <a:rPr lang="en-GB" altLang="en-US" sz="1200" baseline="-25000">
                <a:solidFill>
                  <a:srgbClr val="FF0000"/>
                </a:solidFill>
                <a:effectLst/>
                <a:latin typeface="Arial" panose="020B0604020202020204" pitchFamily="34" charset="0"/>
              </a:rPr>
              <a:t>2</a:t>
            </a:r>
            <a:r>
              <a:rPr lang="en-GB" altLang="en-US" sz="1200">
                <a:solidFill>
                  <a:srgbClr val="FF0000"/>
                </a:solidFill>
                <a:effectLst/>
                <a:latin typeface="Arial" panose="020B0604020202020204" pitchFamily="34" charset="0"/>
              </a:rPr>
              <a:t>,</a:t>
            </a:r>
            <a:r>
              <a:rPr lang="en-GB" altLang="en-US" sz="1200" i="1">
                <a:solidFill>
                  <a:srgbClr val="FF0000"/>
                </a:solidFill>
                <a:effectLst/>
                <a:latin typeface="Arial" panose="020B0604020202020204" pitchFamily="34" charset="0"/>
              </a:rPr>
              <a:t>x</a:t>
            </a:r>
            <a:r>
              <a:rPr lang="en-GB" altLang="en-US" sz="1200" baseline="-25000">
                <a:solidFill>
                  <a:srgbClr val="FF0000"/>
                </a:solidFill>
                <a:effectLst/>
                <a:latin typeface="Arial" panose="020B0604020202020204" pitchFamily="34" charset="0"/>
              </a:rPr>
              <a:t>3</a:t>
            </a:r>
            <a:endParaRPr lang="en-GB" altLang="en-US" sz="1200" i="1">
              <a:solidFill>
                <a:srgbClr val="FF0000"/>
              </a:solidFill>
              <a:effectLst/>
              <a:latin typeface="Arial" panose="020B0604020202020204" pitchFamily="34" charset="0"/>
            </a:endParaRPr>
          </a:p>
        </p:txBody>
      </p:sp>
      <p:sp>
        <p:nvSpPr>
          <p:cNvPr id="364558" name="Text Box 14">
            <a:extLst>
              <a:ext uri="{FF2B5EF4-FFF2-40B4-BE49-F238E27FC236}">
                <a16:creationId xmlns:a16="http://schemas.microsoft.com/office/drawing/2014/main" id="{B1F7ED85-3876-4499-8EBA-9E6BE4BDF9E8}"/>
              </a:ext>
            </a:extLst>
          </p:cNvPr>
          <p:cNvSpPr txBox="1">
            <a:spLocks noChangeArrowheads="1"/>
          </p:cNvSpPr>
          <p:nvPr/>
        </p:nvSpPr>
        <p:spPr bwMode="auto">
          <a:xfrm>
            <a:off x="3219450" y="6346825"/>
            <a:ext cx="3454400"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200" i="1">
                <a:solidFill>
                  <a:srgbClr val="FF0000"/>
                </a:solidFill>
                <a:effectLst/>
                <a:latin typeface="Arial" panose="020B0604020202020204" pitchFamily="34" charset="0"/>
              </a:rPr>
              <a:t>Symmetric part of displacement gradient matrix</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AD3D8E58-5380-4F92-8A5F-52B326083F6A}"/>
              </a:ext>
            </a:extLst>
          </p:cNvPr>
          <p:cNvSpPr>
            <a:spLocks noGrp="1" noChangeArrowheads="1"/>
          </p:cNvSpPr>
          <p:nvPr>
            <p:ph type="title"/>
          </p:nvPr>
        </p:nvSpPr>
        <p:spPr>
          <a:noFill/>
        </p:spPr>
        <p:txBody>
          <a:bodyPr/>
          <a:lstStyle/>
          <a:p>
            <a:r>
              <a:rPr lang="en-GB" altLang="en-US" dirty="0">
                <a:effectLst/>
              </a:rPr>
              <a:t>The strain ellipse (2d)</a:t>
            </a:r>
          </a:p>
        </p:txBody>
      </p:sp>
      <p:sp>
        <p:nvSpPr>
          <p:cNvPr id="367619" name="Rectangle 3">
            <a:extLst>
              <a:ext uri="{FF2B5EF4-FFF2-40B4-BE49-F238E27FC236}">
                <a16:creationId xmlns:a16="http://schemas.microsoft.com/office/drawing/2014/main" id="{F8B81BF8-A16D-4B58-8A51-E01E081A63CD}"/>
              </a:ext>
            </a:extLst>
          </p:cNvPr>
          <p:cNvSpPr>
            <a:spLocks noGrp="1" noChangeArrowheads="1"/>
          </p:cNvSpPr>
          <p:nvPr>
            <p:ph type="body" sz="half" idx="1"/>
          </p:nvPr>
        </p:nvSpPr>
        <p:spPr>
          <a:xfrm>
            <a:off x="122238" y="773113"/>
            <a:ext cx="8870950" cy="1047750"/>
          </a:xfrm>
          <a:noFill/>
        </p:spPr>
        <p:txBody>
          <a:bodyPr/>
          <a:lstStyle/>
          <a:p>
            <a:pPr marL="177800" indent="-177800">
              <a:spcBef>
                <a:spcPct val="75000"/>
              </a:spcBef>
            </a:pPr>
            <a:r>
              <a:rPr lang="en-GB" altLang="en-US" sz="1700">
                <a:effectLst/>
              </a:rPr>
              <a:t>Strain in two dimensions is conveniently visualized using the </a:t>
            </a:r>
            <a:r>
              <a:rPr lang="en-GB" altLang="en-US" sz="1700">
                <a:solidFill>
                  <a:srgbClr val="FF6600"/>
                </a:solidFill>
                <a:effectLst/>
              </a:rPr>
              <a:t>strain ellipse</a:t>
            </a:r>
            <a:r>
              <a:rPr lang="en-GB" altLang="en-US" sz="1700">
                <a:effectLst/>
              </a:rPr>
              <a:t>. This ellipse represents the deformed shape of an initially circular marker, and illustrates how </a:t>
            </a:r>
            <a:r>
              <a:rPr lang="en-GB" altLang="en-US" sz="1700">
                <a:solidFill>
                  <a:srgbClr val="FF66CC"/>
                </a:solidFill>
                <a:effectLst/>
              </a:rPr>
              <a:t>linear strain and angular shear vary with direction</a:t>
            </a:r>
          </a:p>
        </p:txBody>
      </p:sp>
      <p:pic>
        <p:nvPicPr>
          <p:cNvPr id="367623" name="Picture 7">
            <a:extLst>
              <a:ext uri="{FF2B5EF4-FFF2-40B4-BE49-F238E27FC236}">
                <a16:creationId xmlns:a16="http://schemas.microsoft.com/office/drawing/2014/main" id="{F230CD21-70F5-4FCD-813E-22CBD951DD9A}"/>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1001713" y="1954213"/>
            <a:ext cx="7154862" cy="2617787"/>
          </a:xfrm>
          <a:noFill/>
          <a:ln w="38100" cap="flat">
            <a:solidFill>
              <a:schemeClr val="bg2"/>
            </a:solidFill>
            <a:miter lim="800000"/>
            <a:headEnd/>
            <a:tailEnd/>
          </a:ln>
        </p:spPr>
      </p:pic>
      <p:sp>
        <p:nvSpPr>
          <p:cNvPr id="367621" name="Text Box 5">
            <a:extLst>
              <a:ext uri="{FF2B5EF4-FFF2-40B4-BE49-F238E27FC236}">
                <a16:creationId xmlns:a16="http://schemas.microsoft.com/office/drawing/2014/main" id="{BBDD8AC2-8849-4C59-954D-9C537616E7E6}"/>
              </a:ext>
            </a:extLst>
          </p:cNvPr>
          <p:cNvSpPr txBox="1">
            <a:spLocks noChangeArrowheads="1"/>
          </p:cNvSpPr>
          <p:nvPr/>
        </p:nvSpPr>
        <p:spPr bwMode="auto">
          <a:xfrm>
            <a:off x="133349" y="4719638"/>
            <a:ext cx="4884127" cy="1975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There are two perpendicular directions (the major and minor axes of the ellipse) where the </a:t>
            </a:r>
            <a:r>
              <a:rPr lang="en-GB" altLang="en-US" sz="1700" dirty="0">
                <a:solidFill>
                  <a:srgbClr val="FF66CC"/>
                </a:solidFill>
                <a:effectLst>
                  <a:outerShdw blurRad="38100" dist="38100" dir="2700000" algn="tl">
                    <a:srgbClr val="000000"/>
                  </a:outerShdw>
                </a:effectLst>
                <a:latin typeface="Arial" panose="020B0604020202020204" pitchFamily="34" charset="0"/>
              </a:rPr>
              <a:t>extensions are at maximum and minimum values</a:t>
            </a:r>
            <a:r>
              <a:rPr lang="en-GB" altLang="en-US" sz="1700" dirty="0">
                <a:effectLst>
                  <a:outerShdw blurRad="38100" dist="38100" dir="2700000" algn="tl">
                    <a:srgbClr val="000000"/>
                  </a:outerShdw>
                </a:effectLst>
                <a:latin typeface="Arial" panose="020B0604020202020204" pitchFamily="34" charset="0"/>
              </a:rPr>
              <a:t> and the </a:t>
            </a:r>
            <a:r>
              <a:rPr lang="en-GB" altLang="en-US" sz="1700" dirty="0">
                <a:solidFill>
                  <a:srgbClr val="FF66CC"/>
                </a:solidFill>
                <a:effectLst>
                  <a:outerShdw blurRad="38100" dist="38100" dir="2700000" algn="tl">
                    <a:srgbClr val="000000"/>
                  </a:outerShdw>
                </a:effectLst>
                <a:latin typeface="Arial" panose="020B0604020202020204" pitchFamily="34" charset="0"/>
              </a:rPr>
              <a:t>angular shear is zero</a:t>
            </a:r>
            <a:r>
              <a:rPr lang="en-GB" altLang="en-US" sz="1700" dirty="0">
                <a:effectLst>
                  <a:outerShdw blurRad="38100" dist="38100" dir="2700000" algn="tl">
                    <a:srgbClr val="000000"/>
                  </a:outerShdw>
                </a:effectLst>
                <a:latin typeface="Arial" panose="020B0604020202020204" pitchFamily="34" charset="0"/>
              </a:rPr>
              <a:t>. These max and min values are termed the </a:t>
            </a:r>
            <a:r>
              <a:rPr lang="en-GB" altLang="en-US" sz="1700" dirty="0">
                <a:solidFill>
                  <a:srgbClr val="FF6600"/>
                </a:solidFill>
                <a:effectLst>
                  <a:outerShdw blurRad="38100" dist="38100" dir="2700000" algn="tl">
                    <a:srgbClr val="000000"/>
                  </a:outerShdw>
                </a:effectLst>
                <a:latin typeface="Arial" panose="020B0604020202020204" pitchFamily="34" charset="0"/>
              </a:rPr>
              <a:t>principal strains</a:t>
            </a:r>
            <a:r>
              <a:rPr lang="en-GB" altLang="en-US" sz="1700" dirty="0">
                <a:effectLst>
                  <a:outerShdw blurRad="38100" dist="38100" dir="2700000" algn="tl">
                    <a:srgbClr val="000000"/>
                  </a:outerShdw>
                </a:effectLst>
                <a:latin typeface="Arial" panose="020B0604020202020204" pitchFamily="34" charset="0"/>
              </a:rPr>
              <a:t>, </a:t>
            </a:r>
            <a:r>
              <a:rPr lang="en-GB" altLang="en-US" sz="1700" i="1" dirty="0">
                <a:effectLst>
                  <a:outerShdw blurRad="38100" dist="38100" dir="2700000" algn="tl">
                    <a:srgbClr val="000000"/>
                  </a:outerShdw>
                </a:effectLst>
                <a:latin typeface="Arial" panose="020B0604020202020204" pitchFamily="34" charset="0"/>
              </a:rPr>
              <a:t>e</a:t>
            </a:r>
            <a:r>
              <a:rPr lang="en-GB" altLang="en-US" sz="1700" baseline="-25000" dirty="0">
                <a:effectLst>
                  <a:outerShdw blurRad="38100" dist="38100" dir="2700000" algn="tl">
                    <a:srgbClr val="000000"/>
                  </a:outerShdw>
                </a:effectLst>
                <a:latin typeface="Arial" panose="020B0604020202020204" pitchFamily="34" charset="0"/>
              </a:rPr>
              <a:t>1</a:t>
            </a:r>
            <a:r>
              <a:rPr lang="en-GB" altLang="en-US" sz="1700" dirty="0">
                <a:effectLst>
                  <a:outerShdw blurRad="38100" dist="38100" dir="2700000" algn="tl">
                    <a:srgbClr val="000000"/>
                  </a:outerShdw>
                </a:effectLst>
                <a:latin typeface="Arial" panose="020B0604020202020204" pitchFamily="34" charset="0"/>
              </a:rPr>
              <a:t> and </a:t>
            </a:r>
            <a:r>
              <a:rPr lang="en-GB" altLang="en-US" sz="1700" i="1" dirty="0">
                <a:effectLst>
                  <a:outerShdw blurRad="38100" dist="38100" dir="2700000" algn="tl">
                    <a:srgbClr val="000000"/>
                  </a:outerShdw>
                </a:effectLst>
                <a:latin typeface="Arial" panose="020B0604020202020204" pitchFamily="34" charset="0"/>
              </a:rPr>
              <a:t>e</a:t>
            </a:r>
            <a:r>
              <a:rPr lang="en-GB" altLang="en-US" sz="1700" baseline="-25000" dirty="0">
                <a:effectLst>
                  <a:outerShdw blurRad="38100" dist="38100" dir="2700000" algn="tl">
                    <a:srgbClr val="000000"/>
                  </a:outerShdw>
                </a:effectLst>
                <a:latin typeface="Arial" panose="020B0604020202020204" pitchFamily="34" charset="0"/>
              </a:rPr>
              <a:t>2</a:t>
            </a:r>
            <a:r>
              <a:rPr lang="en-GB" altLang="en-US" sz="1700" dirty="0">
                <a:effectLst>
                  <a:outerShdw blurRad="38100" dist="38100" dir="2700000" algn="tl">
                    <a:srgbClr val="000000"/>
                  </a:outerShdw>
                </a:effectLst>
                <a:latin typeface="Arial" panose="020B0604020202020204" pitchFamily="34" charset="0"/>
              </a:rPr>
              <a:t> (where, by definition, </a:t>
            </a:r>
            <a:r>
              <a:rPr lang="en-GB" altLang="en-US" sz="1700" i="1" dirty="0">
                <a:effectLst>
                  <a:outerShdw blurRad="38100" dist="38100" dir="2700000" algn="tl">
                    <a:srgbClr val="000000"/>
                  </a:outerShdw>
                </a:effectLst>
                <a:latin typeface="Arial" panose="020B0604020202020204" pitchFamily="34" charset="0"/>
              </a:rPr>
              <a:t>e</a:t>
            </a:r>
            <a:r>
              <a:rPr lang="en-GB" altLang="en-US" sz="1700" baseline="-25000" dirty="0">
                <a:effectLst>
                  <a:outerShdw blurRad="38100" dist="38100" dir="2700000" algn="tl">
                    <a:srgbClr val="000000"/>
                  </a:outerShdw>
                </a:effectLst>
                <a:latin typeface="Arial" panose="020B0604020202020204" pitchFamily="34" charset="0"/>
              </a:rPr>
              <a:t>1</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Symbol" panose="05050102010706020507" pitchFamily="18" charset="2"/>
              </a:rPr>
              <a:t>³</a:t>
            </a:r>
            <a:r>
              <a:rPr lang="en-GB" altLang="en-US" sz="1700" dirty="0">
                <a:effectLst>
                  <a:outerShdw blurRad="38100" dist="38100" dir="2700000" algn="tl">
                    <a:srgbClr val="000000"/>
                  </a:outerShdw>
                </a:effectLst>
                <a:latin typeface="Arial" panose="020B0604020202020204" pitchFamily="34" charset="0"/>
              </a:rPr>
              <a:t> </a:t>
            </a:r>
            <a:r>
              <a:rPr lang="en-GB" altLang="en-US" sz="1700" i="1" dirty="0">
                <a:effectLst>
                  <a:outerShdw blurRad="38100" dist="38100" dir="2700000" algn="tl">
                    <a:srgbClr val="000000"/>
                  </a:outerShdw>
                </a:effectLst>
                <a:latin typeface="Arial" panose="020B0604020202020204" pitchFamily="34" charset="0"/>
              </a:rPr>
              <a:t>e</a:t>
            </a:r>
            <a:r>
              <a:rPr lang="en-GB" altLang="en-US" sz="1700" baseline="-25000" dirty="0">
                <a:effectLst>
                  <a:outerShdw blurRad="38100" dist="38100" dir="2700000" algn="tl">
                    <a:srgbClr val="000000"/>
                  </a:outerShdw>
                </a:effectLst>
                <a:latin typeface="Arial" panose="020B0604020202020204" pitchFamily="34" charset="0"/>
              </a:rPr>
              <a:t>2</a:t>
            </a:r>
            <a:r>
              <a:rPr lang="en-GB" altLang="en-US" sz="1700" dirty="0">
                <a:effectLst>
                  <a:outerShdw blurRad="38100" dist="38100" dir="2700000" algn="tl">
                    <a:srgbClr val="000000"/>
                  </a:outerShdw>
                </a:effectLst>
                <a:latin typeface="Arial" panose="020B0604020202020204" pitchFamily="34" charset="0"/>
              </a:rPr>
              <a:t>)</a:t>
            </a:r>
          </a:p>
        </p:txBody>
      </p:sp>
      <p:pic>
        <p:nvPicPr>
          <p:cNvPr id="367625" name="Picture 9">
            <a:extLst>
              <a:ext uri="{FF2B5EF4-FFF2-40B4-BE49-F238E27FC236}">
                <a16:creationId xmlns:a16="http://schemas.microsoft.com/office/drawing/2014/main" id="{A8678621-9C54-447D-8934-BBB3DCCFB86C}"/>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5124450" y="4879975"/>
            <a:ext cx="3767138" cy="1717675"/>
          </a:xfrm>
          <a:noFill/>
          <a:ln w="38100" cap="flat">
            <a:solidFill>
              <a:schemeClr val="bg2"/>
            </a:solidFill>
            <a:miter lim="800000"/>
            <a:headEnd/>
            <a:tailEnd/>
          </a:ln>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a:extLst>
              <a:ext uri="{FF2B5EF4-FFF2-40B4-BE49-F238E27FC236}">
                <a16:creationId xmlns:a16="http://schemas.microsoft.com/office/drawing/2014/main" id="{8C47BF82-48B9-4FD3-B897-E30CF9EC3E2C}"/>
              </a:ext>
            </a:extLst>
          </p:cNvPr>
          <p:cNvSpPr>
            <a:spLocks noGrp="1" noChangeArrowheads="1"/>
          </p:cNvSpPr>
          <p:nvPr>
            <p:ph type="title"/>
          </p:nvPr>
        </p:nvSpPr>
        <p:spPr>
          <a:noFill/>
        </p:spPr>
        <p:txBody>
          <a:bodyPr/>
          <a:lstStyle/>
          <a:p>
            <a:r>
              <a:rPr lang="en-GB" altLang="en-US" dirty="0">
                <a:effectLst/>
              </a:rPr>
              <a:t>The strain ellipsoid (3d)</a:t>
            </a:r>
          </a:p>
        </p:txBody>
      </p:sp>
      <p:sp>
        <p:nvSpPr>
          <p:cNvPr id="230403" name="Rectangle 3">
            <a:extLst>
              <a:ext uri="{FF2B5EF4-FFF2-40B4-BE49-F238E27FC236}">
                <a16:creationId xmlns:a16="http://schemas.microsoft.com/office/drawing/2014/main" id="{03FFFBD7-A3D9-417A-9764-1C1FA7928D85}"/>
              </a:ext>
            </a:extLst>
          </p:cNvPr>
          <p:cNvSpPr>
            <a:spLocks noGrp="1" noChangeArrowheads="1"/>
          </p:cNvSpPr>
          <p:nvPr>
            <p:ph type="body" sz="half" idx="1"/>
          </p:nvPr>
        </p:nvSpPr>
        <p:spPr>
          <a:xfrm>
            <a:off x="149225" y="825500"/>
            <a:ext cx="5116513" cy="2933700"/>
          </a:xfrm>
          <a:noFill/>
        </p:spPr>
        <p:txBody>
          <a:bodyPr/>
          <a:lstStyle/>
          <a:p>
            <a:pPr marL="177800" indent="-177800">
              <a:spcBef>
                <a:spcPct val="75000"/>
              </a:spcBef>
            </a:pPr>
            <a:r>
              <a:rPr lang="en-GB" altLang="en-US" sz="1700">
                <a:effectLst/>
              </a:rPr>
              <a:t>Extending the strain ellipse idea to 3d, we have the </a:t>
            </a:r>
            <a:r>
              <a:rPr lang="en-GB" altLang="en-US" sz="1700">
                <a:solidFill>
                  <a:srgbClr val="FF6600"/>
                </a:solidFill>
                <a:effectLst/>
              </a:rPr>
              <a:t>strain ellipsoid</a:t>
            </a:r>
            <a:r>
              <a:rPr lang="en-GB" altLang="en-US" sz="1700">
                <a:effectLst/>
              </a:rPr>
              <a:t>. This represents the deformed shape of an initially spherical object</a:t>
            </a:r>
          </a:p>
          <a:p>
            <a:pPr marL="177800" indent="-177800">
              <a:spcBef>
                <a:spcPct val="50000"/>
              </a:spcBef>
            </a:pPr>
            <a:r>
              <a:rPr lang="en-GB" altLang="en-US" sz="1700">
                <a:effectLst/>
              </a:rPr>
              <a:t>The three semi-axes of the ellipsoid are the </a:t>
            </a:r>
            <a:r>
              <a:rPr lang="en-GB" altLang="en-US" sz="1700">
                <a:solidFill>
                  <a:srgbClr val="FF6600"/>
                </a:solidFill>
                <a:effectLst/>
              </a:rPr>
              <a:t>three principal strains</a:t>
            </a:r>
            <a:r>
              <a:rPr lang="en-GB" altLang="en-US" sz="1700">
                <a:effectLst/>
              </a:rPr>
              <a:t>; these directions are commonly described as the X, Y, Z directions, and their magnitudes are</a:t>
            </a:r>
          </a:p>
          <a:p>
            <a:pPr marL="177800" indent="-177800" algn="ctr">
              <a:spcBef>
                <a:spcPct val="50000"/>
              </a:spcBef>
              <a:buFont typeface="Times" panose="02020603050405020304" pitchFamily="18" charset="0"/>
              <a:buNone/>
            </a:pPr>
            <a:r>
              <a:rPr lang="en-GB" altLang="en-US" sz="1700">
                <a:effectLst/>
              </a:rPr>
              <a:t>	</a:t>
            </a:r>
            <a:r>
              <a:rPr lang="en-GB" altLang="en-US" sz="1700">
                <a:solidFill>
                  <a:srgbClr val="FFFF00"/>
                </a:solidFill>
                <a:effectLst/>
              </a:rPr>
              <a:t>X = (</a:t>
            </a:r>
            <a:r>
              <a:rPr lang="en-GB" altLang="en-US" sz="600">
                <a:solidFill>
                  <a:srgbClr val="FFFF00"/>
                </a:solidFill>
                <a:effectLst/>
              </a:rPr>
              <a:t> </a:t>
            </a:r>
            <a:r>
              <a:rPr lang="en-GB" altLang="en-US" sz="1700">
                <a:solidFill>
                  <a:srgbClr val="FFFF00"/>
                </a:solidFill>
                <a:effectLst/>
              </a:rPr>
              <a:t>1</a:t>
            </a:r>
            <a:r>
              <a:rPr lang="en-GB" altLang="en-US" sz="600">
                <a:solidFill>
                  <a:srgbClr val="FFFF00"/>
                </a:solidFill>
                <a:effectLst/>
              </a:rPr>
              <a:t> </a:t>
            </a:r>
            <a:r>
              <a:rPr lang="en-GB" altLang="en-US" sz="1700">
                <a:solidFill>
                  <a:srgbClr val="FFFF00"/>
                </a:solidFill>
                <a:effectLst/>
              </a:rPr>
              <a:t>+</a:t>
            </a:r>
            <a:r>
              <a:rPr lang="en-GB" altLang="en-US" sz="800">
                <a:solidFill>
                  <a:srgbClr val="FFFF00"/>
                </a:solidFill>
                <a:effectLst/>
              </a:rPr>
              <a:t> </a:t>
            </a:r>
            <a:r>
              <a:rPr lang="en-GB" altLang="en-US" sz="1700" i="1">
                <a:solidFill>
                  <a:srgbClr val="FFFF00"/>
                </a:solidFill>
                <a:effectLst/>
              </a:rPr>
              <a:t>e</a:t>
            </a:r>
            <a:r>
              <a:rPr lang="en-GB" altLang="en-US" sz="1700" baseline="-25000">
                <a:solidFill>
                  <a:srgbClr val="FFFF00"/>
                </a:solidFill>
                <a:effectLst/>
              </a:rPr>
              <a:t>1</a:t>
            </a:r>
            <a:r>
              <a:rPr lang="en-GB" altLang="en-US" sz="800" baseline="-25000">
                <a:solidFill>
                  <a:srgbClr val="FFFF00"/>
                </a:solidFill>
                <a:effectLst/>
              </a:rPr>
              <a:t> </a:t>
            </a:r>
            <a:r>
              <a:rPr lang="en-GB" altLang="en-US" sz="1700">
                <a:solidFill>
                  <a:srgbClr val="FFFF00"/>
                </a:solidFill>
                <a:effectLst/>
              </a:rPr>
              <a:t>)   ;   Y = (</a:t>
            </a:r>
            <a:r>
              <a:rPr lang="en-GB" altLang="en-US" sz="600">
                <a:solidFill>
                  <a:srgbClr val="FFFF00"/>
                </a:solidFill>
                <a:effectLst/>
              </a:rPr>
              <a:t> </a:t>
            </a:r>
            <a:r>
              <a:rPr lang="en-GB" altLang="en-US" sz="1700">
                <a:solidFill>
                  <a:srgbClr val="FFFF00"/>
                </a:solidFill>
                <a:effectLst/>
              </a:rPr>
              <a:t>1</a:t>
            </a:r>
            <a:r>
              <a:rPr lang="en-GB" altLang="en-US" sz="600">
                <a:solidFill>
                  <a:srgbClr val="FFFF00"/>
                </a:solidFill>
                <a:effectLst/>
              </a:rPr>
              <a:t> </a:t>
            </a:r>
            <a:r>
              <a:rPr lang="en-GB" altLang="en-US" sz="1700">
                <a:solidFill>
                  <a:srgbClr val="FFFF00"/>
                </a:solidFill>
                <a:effectLst/>
              </a:rPr>
              <a:t>+</a:t>
            </a:r>
            <a:r>
              <a:rPr lang="en-GB" altLang="en-US" sz="800">
                <a:solidFill>
                  <a:srgbClr val="FFFF00"/>
                </a:solidFill>
                <a:effectLst/>
              </a:rPr>
              <a:t> </a:t>
            </a:r>
            <a:r>
              <a:rPr lang="en-GB" altLang="en-US" sz="1700" i="1">
                <a:solidFill>
                  <a:srgbClr val="FFFF00"/>
                </a:solidFill>
                <a:effectLst/>
              </a:rPr>
              <a:t>e</a:t>
            </a:r>
            <a:r>
              <a:rPr lang="en-GB" altLang="en-US" sz="1700" baseline="-25000">
                <a:solidFill>
                  <a:srgbClr val="FFFF00"/>
                </a:solidFill>
                <a:effectLst/>
              </a:rPr>
              <a:t>2</a:t>
            </a:r>
            <a:r>
              <a:rPr lang="en-GB" altLang="en-US" sz="800" baseline="-25000">
                <a:solidFill>
                  <a:srgbClr val="FFFF00"/>
                </a:solidFill>
                <a:effectLst/>
              </a:rPr>
              <a:t> </a:t>
            </a:r>
            <a:r>
              <a:rPr lang="en-GB" altLang="en-US" sz="1700">
                <a:solidFill>
                  <a:srgbClr val="FFFF00"/>
                </a:solidFill>
                <a:effectLst/>
              </a:rPr>
              <a:t>)   ;   Z = (</a:t>
            </a:r>
            <a:r>
              <a:rPr lang="en-GB" altLang="en-US" sz="600">
                <a:solidFill>
                  <a:srgbClr val="FFFF00"/>
                </a:solidFill>
                <a:effectLst/>
              </a:rPr>
              <a:t> </a:t>
            </a:r>
            <a:r>
              <a:rPr lang="en-GB" altLang="en-US" sz="1700">
                <a:solidFill>
                  <a:srgbClr val="FFFF00"/>
                </a:solidFill>
                <a:effectLst/>
              </a:rPr>
              <a:t>1</a:t>
            </a:r>
            <a:r>
              <a:rPr lang="en-GB" altLang="en-US" sz="600">
                <a:solidFill>
                  <a:srgbClr val="FFFF00"/>
                </a:solidFill>
                <a:effectLst/>
              </a:rPr>
              <a:t> </a:t>
            </a:r>
            <a:r>
              <a:rPr lang="en-GB" altLang="en-US" sz="1700">
                <a:solidFill>
                  <a:srgbClr val="FFFF00"/>
                </a:solidFill>
                <a:effectLst/>
              </a:rPr>
              <a:t>+</a:t>
            </a:r>
            <a:r>
              <a:rPr lang="en-GB" altLang="en-US" sz="800">
                <a:solidFill>
                  <a:srgbClr val="FFFF00"/>
                </a:solidFill>
                <a:effectLst/>
              </a:rPr>
              <a:t> </a:t>
            </a:r>
            <a:r>
              <a:rPr lang="en-GB" altLang="en-US" sz="1700" i="1">
                <a:solidFill>
                  <a:srgbClr val="FFFF00"/>
                </a:solidFill>
                <a:effectLst/>
              </a:rPr>
              <a:t>e</a:t>
            </a:r>
            <a:r>
              <a:rPr lang="en-GB" altLang="en-US" sz="1700" baseline="-25000">
                <a:solidFill>
                  <a:srgbClr val="FFFF00"/>
                </a:solidFill>
                <a:effectLst/>
              </a:rPr>
              <a:t>3</a:t>
            </a:r>
            <a:r>
              <a:rPr lang="en-GB" altLang="en-US" sz="800" baseline="-25000">
                <a:solidFill>
                  <a:srgbClr val="FFFF00"/>
                </a:solidFill>
                <a:effectLst/>
              </a:rPr>
              <a:t> </a:t>
            </a:r>
            <a:r>
              <a:rPr lang="en-GB" altLang="en-US" sz="1700">
                <a:solidFill>
                  <a:srgbClr val="FFFF00"/>
                </a:solidFill>
                <a:effectLst/>
              </a:rPr>
              <a:t>)</a:t>
            </a:r>
          </a:p>
        </p:txBody>
      </p:sp>
      <p:grpSp>
        <p:nvGrpSpPr>
          <p:cNvPr id="230421" name="Group 21">
            <a:extLst>
              <a:ext uri="{FF2B5EF4-FFF2-40B4-BE49-F238E27FC236}">
                <a16:creationId xmlns:a16="http://schemas.microsoft.com/office/drawing/2014/main" id="{A7CB13D1-2C02-42C1-82AC-E09A3A4D767C}"/>
              </a:ext>
            </a:extLst>
          </p:cNvPr>
          <p:cNvGrpSpPr>
            <a:grpSpLocks/>
          </p:cNvGrpSpPr>
          <p:nvPr/>
        </p:nvGrpSpPr>
        <p:grpSpPr bwMode="auto">
          <a:xfrm>
            <a:off x="5389563" y="1012825"/>
            <a:ext cx="3587750" cy="2501900"/>
            <a:chOff x="3378" y="643"/>
            <a:chExt cx="2131" cy="1442"/>
          </a:xfrm>
        </p:grpSpPr>
        <p:sp>
          <p:nvSpPr>
            <p:cNvPr id="230406" name="Rectangle 6">
              <a:extLst>
                <a:ext uri="{FF2B5EF4-FFF2-40B4-BE49-F238E27FC236}">
                  <a16:creationId xmlns:a16="http://schemas.microsoft.com/office/drawing/2014/main" id="{0A5FB6AD-B301-4C93-929D-95CE71559A88}"/>
                </a:ext>
              </a:extLst>
            </p:cNvPr>
            <p:cNvSpPr>
              <a:spLocks noChangeArrowheads="1"/>
            </p:cNvSpPr>
            <p:nvPr/>
          </p:nvSpPr>
          <p:spPr bwMode="auto">
            <a:xfrm>
              <a:off x="3378" y="643"/>
              <a:ext cx="2131" cy="1442"/>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30415" name="Picture 15">
              <a:extLst>
                <a:ext uri="{FF2B5EF4-FFF2-40B4-BE49-F238E27FC236}">
                  <a16:creationId xmlns:a16="http://schemas.microsoft.com/office/drawing/2014/main" id="{F80C504A-D40A-4A0A-A4F7-168009DF20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6" y="674"/>
              <a:ext cx="2061" cy="1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0407" name="Rectangle 7">
              <a:extLst>
                <a:ext uri="{FF2B5EF4-FFF2-40B4-BE49-F238E27FC236}">
                  <a16:creationId xmlns:a16="http://schemas.microsoft.com/office/drawing/2014/main" id="{8C1CC91B-D36E-4FB6-B205-A5FF161671EA}"/>
                </a:ext>
              </a:extLst>
            </p:cNvPr>
            <p:cNvSpPr>
              <a:spLocks noChangeArrowheads="1"/>
            </p:cNvSpPr>
            <p:nvPr/>
          </p:nvSpPr>
          <p:spPr bwMode="auto">
            <a:xfrm>
              <a:off x="3400" y="671"/>
              <a:ext cx="129" cy="14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0419" name="Rectangle 19">
              <a:extLst>
                <a:ext uri="{FF2B5EF4-FFF2-40B4-BE49-F238E27FC236}">
                  <a16:creationId xmlns:a16="http://schemas.microsoft.com/office/drawing/2014/main" id="{4FDF1B1F-180B-4464-ADF0-06A4BD6C548D}"/>
                </a:ext>
              </a:extLst>
            </p:cNvPr>
            <p:cNvSpPr>
              <a:spLocks noChangeArrowheads="1"/>
            </p:cNvSpPr>
            <p:nvPr/>
          </p:nvSpPr>
          <p:spPr bwMode="auto">
            <a:xfrm>
              <a:off x="4541" y="1890"/>
              <a:ext cx="594" cy="17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0420" name="Text Box 20">
              <a:extLst>
                <a:ext uri="{FF2B5EF4-FFF2-40B4-BE49-F238E27FC236}">
                  <a16:creationId xmlns:a16="http://schemas.microsoft.com/office/drawing/2014/main" id="{42674EA0-5747-4F37-9CF5-D7B7A4057722}"/>
                </a:ext>
              </a:extLst>
            </p:cNvPr>
            <p:cNvSpPr txBox="1">
              <a:spLocks noChangeArrowheads="1"/>
            </p:cNvSpPr>
            <p:nvPr/>
          </p:nvSpPr>
          <p:spPr bwMode="auto">
            <a:xfrm>
              <a:off x="4608" y="1818"/>
              <a:ext cx="670"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0000"/>
                  </a:solidFill>
                  <a:effectLst/>
                </a:rPr>
                <a:t>X </a:t>
              </a:r>
              <a:r>
                <a:rPr lang="en-GB" altLang="en-US">
                  <a:solidFill>
                    <a:srgbClr val="FF0000"/>
                  </a:solidFill>
                  <a:effectLst/>
                  <a:latin typeface="Symbol" panose="05050102010706020507" pitchFamily="18" charset="2"/>
                </a:rPr>
                <a:t>³</a:t>
              </a:r>
              <a:r>
                <a:rPr lang="en-GB" altLang="en-US">
                  <a:solidFill>
                    <a:srgbClr val="FF0000"/>
                  </a:solidFill>
                  <a:effectLst/>
                </a:rPr>
                <a:t> Y </a:t>
              </a:r>
              <a:r>
                <a:rPr lang="en-GB" altLang="en-US">
                  <a:solidFill>
                    <a:srgbClr val="FF0000"/>
                  </a:solidFill>
                  <a:effectLst/>
                  <a:latin typeface="Symbol" panose="05050102010706020507" pitchFamily="18" charset="2"/>
                </a:rPr>
                <a:t>³</a:t>
              </a:r>
              <a:r>
                <a:rPr lang="en-GB" altLang="en-US">
                  <a:solidFill>
                    <a:srgbClr val="FF0000"/>
                  </a:solidFill>
                  <a:effectLst/>
                </a:rPr>
                <a:t> Z</a:t>
              </a:r>
            </a:p>
          </p:txBody>
        </p:sp>
      </p:grpSp>
      <p:sp>
        <p:nvSpPr>
          <p:cNvPr id="230422" name="Text Box 22">
            <a:extLst>
              <a:ext uri="{FF2B5EF4-FFF2-40B4-BE49-F238E27FC236}">
                <a16:creationId xmlns:a16="http://schemas.microsoft.com/office/drawing/2014/main" id="{AF2AE0A5-AD1F-4186-A325-99E9887EB570}"/>
              </a:ext>
            </a:extLst>
          </p:cNvPr>
          <p:cNvSpPr txBox="1">
            <a:spLocks noChangeArrowheads="1"/>
          </p:cNvSpPr>
          <p:nvPr/>
        </p:nvSpPr>
        <p:spPr bwMode="auto">
          <a:xfrm>
            <a:off x="125413" y="3784600"/>
            <a:ext cx="8753475" cy="291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It is often convenient to work with the ratios of the principal strains</a:t>
            </a:r>
          </a:p>
          <a:p>
            <a:pPr algn="ctr">
              <a:lnSpc>
                <a:spcPct val="120000"/>
              </a:lnSpc>
              <a:spcBef>
                <a:spcPct val="50000"/>
              </a:spcBef>
              <a:buClr>
                <a:schemeClr val="tx1"/>
              </a:buClr>
            </a:pPr>
            <a:r>
              <a:rPr lang="en-GB" altLang="en-US" sz="1700">
                <a:solidFill>
                  <a:srgbClr val="FFFF00"/>
                </a:solidFill>
                <a:effectLst>
                  <a:outerShdw blurRad="38100" dist="38100" dir="2700000" algn="tl">
                    <a:srgbClr val="000000"/>
                  </a:outerShdw>
                </a:effectLst>
                <a:latin typeface="Arial" panose="020B0604020202020204" pitchFamily="34" charset="0"/>
              </a:rPr>
              <a:t>	</a:t>
            </a:r>
            <a:r>
              <a:rPr lang="en-GB" altLang="en-US" sz="1700" i="1">
                <a:solidFill>
                  <a:srgbClr val="FFFF00"/>
                </a:solidFill>
                <a:effectLst>
                  <a:outerShdw blurRad="38100" dist="38100" dir="2700000" algn="tl">
                    <a:srgbClr val="000000"/>
                  </a:outerShdw>
                </a:effectLst>
                <a:latin typeface="Arial" panose="020B0604020202020204" pitchFamily="34" charset="0"/>
              </a:rPr>
              <a:t>R</a:t>
            </a:r>
            <a:r>
              <a:rPr lang="en-GB" altLang="en-US" sz="1700" baseline="-25000">
                <a:solidFill>
                  <a:srgbClr val="FFFF00"/>
                </a:solidFill>
                <a:effectLst>
                  <a:outerShdw blurRad="38100" dist="38100" dir="2700000" algn="tl">
                    <a:srgbClr val="000000"/>
                  </a:outerShdw>
                </a:effectLst>
                <a:latin typeface="Arial" panose="020B0604020202020204" pitchFamily="34" charset="0"/>
              </a:rPr>
              <a:t>XY</a:t>
            </a:r>
            <a:r>
              <a:rPr lang="en-GB" altLang="en-US" sz="1700">
                <a:solidFill>
                  <a:srgbClr val="FFFF00"/>
                </a:solidFill>
                <a:effectLst>
                  <a:outerShdw blurRad="38100" dist="38100" dir="2700000" algn="tl">
                    <a:srgbClr val="000000"/>
                  </a:outerShdw>
                </a:effectLst>
                <a:latin typeface="Arial" panose="020B0604020202020204" pitchFamily="34" charset="0"/>
              </a:rPr>
              <a:t> = (</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1</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i="1">
                <a:solidFill>
                  <a:srgbClr val="FFFF00"/>
                </a:solidFill>
                <a:effectLst>
                  <a:outerShdw blurRad="38100" dist="38100" dir="2700000" algn="tl">
                    <a:srgbClr val="000000"/>
                  </a:outerShdw>
                </a:effectLst>
                <a:latin typeface="Arial" panose="020B0604020202020204" pitchFamily="34" charset="0"/>
              </a:rPr>
              <a:t>e</a:t>
            </a:r>
            <a:r>
              <a:rPr lang="en-GB" altLang="en-US" sz="1700" baseline="-25000">
                <a:solidFill>
                  <a:srgbClr val="FFFF00"/>
                </a:solidFill>
                <a:effectLst>
                  <a:outerShdw blurRad="38100" dist="38100" dir="2700000" algn="tl">
                    <a:srgbClr val="000000"/>
                  </a:outerShdw>
                </a:effectLst>
                <a:latin typeface="Arial" panose="020B0604020202020204" pitchFamily="34" charset="0"/>
              </a:rPr>
              <a:t>1</a:t>
            </a:r>
            <a:r>
              <a:rPr lang="en-GB" altLang="en-US" sz="800" baseline="-250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1</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i="1">
                <a:solidFill>
                  <a:srgbClr val="FFFF00"/>
                </a:solidFill>
                <a:effectLst>
                  <a:outerShdw blurRad="38100" dist="38100" dir="2700000" algn="tl">
                    <a:srgbClr val="000000"/>
                  </a:outerShdw>
                </a:effectLst>
                <a:latin typeface="Arial" panose="020B0604020202020204" pitchFamily="34" charset="0"/>
              </a:rPr>
              <a:t>e</a:t>
            </a:r>
            <a:r>
              <a:rPr lang="en-GB" altLang="en-US" sz="1700" baseline="-25000">
                <a:solidFill>
                  <a:srgbClr val="FFFF00"/>
                </a:solidFill>
                <a:effectLst>
                  <a:outerShdw blurRad="38100" dist="38100" dir="2700000" algn="tl">
                    <a:srgbClr val="000000"/>
                  </a:outerShdw>
                </a:effectLst>
                <a:latin typeface="Arial" panose="020B0604020202020204" pitchFamily="34" charset="0"/>
              </a:rPr>
              <a:t>2</a:t>
            </a:r>
            <a:r>
              <a:rPr lang="en-GB" altLang="en-US" sz="800" baseline="-250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     ;     </a:t>
            </a:r>
            <a:r>
              <a:rPr lang="en-GB" altLang="en-US" sz="1700" i="1">
                <a:solidFill>
                  <a:srgbClr val="FFFF00"/>
                </a:solidFill>
                <a:effectLst>
                  <a:outerShdw blurRad="38100" dist="38100" dir="2700000" algn="tl">
                    <a:srgbClr val="000000"/>
                  </a:outerShdw>
                </a:effectLst>
                <a:latin typeface="Arial" panose="020B0604020202020204" pitchFamily="34" charset="0"/>
              </a:rPr>
              <a:t>R</a:t>
            </a:r>
            <a:r>
              <a:rPr lang="en-GB" altLang="en-US" sz="1700" baseline="-25000">
                <a:solidFill>
                  <a:srgbClr val="FFFF00"/>
                </a:solidFill>
                <a:effectLst>
                  <a:outerShdw blurRad="38100" dist="38100" dir="2700000" algn="tl">
                    <a:srgbClr val="000000"/>
                  </a:outerShdw>
                </a:effectLst>
                <a:latin typeface="Arial" panose="020B0604020202020204" pitchFamily="34" charset="0"/>
              </a:rPr>
              <a:t>XZ</a:t>
            </a:r>
            <a:r>
              <a:rPr lang="en-GB" altLang="en-US" sz="1700">
                <a:solidFill>
                  <a:srgbClr val="FFFF00"/>
                </a:solidFill>
                <a:effectLst>
                  <a:outerShdw blurRad="38100" dist="38100" dir="2700000" algn="tl">
                    <a:srgbClr val="000000"/>
                  </a:outerShdw>
                </a:effectLst>
                <a:latin typeface="Arial" panose="020B0604020202020204" pitchFamily="34" charset="0"/>
              </a:rPr>
              <a:t> = (</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1</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i="1">
                <a:solidFill>
                  <a:srgbClr val="FFFF00"/>
                </a:solidFill>
                <a:effectLst>
                  <a:outerShdw blurRad="38100" dist="38100" dir="2700000" algn="tl">
                    <a:srgbClr val="000000"/>
                  </a:outerShdw>
                </a:effectLst>
                <a:latin typeface="Arial" panose="020B0604020202020204" pitchFamily="34" charset="0"/>
              </a:rPr>
              <a:t>e</a:t>
            </a:r>
            <a:r>
              <a:rPr lang="en-GB" altLang="en-US" sz="1700" baseline="-25000">
                <a:solidFill>
                  <a:srgbClr val="FFFF00"/>
                </a:solidFill>
                <a:effectLst>
                  <a:outerShdw blurRad="38100" dist="38100" dir="2700000" algn="tl">
                    <a:srgbClr val="000000"/>
                  </a:outerShdw>
                </a:effectLst>
                <a:latin typeface="Arial" panose="020B0604020202020204" pitchFamily="34" charset="0"/>
              </a:rPr>
              <a:t>1</a:t>
            </a:r>
            <a:r>
              <a:rPr lang="en-GB" altLang="en-US" sz="800" baseline="-250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9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1</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i="1">
                <a:solidFill>
                  <a:srgbClr val="FFFF00"/>
                </a:solidFill>
                <a:effectLst>
                  <a:outerShdw blurRad="38100" dist="38100" dir="2700000" algn="tl">
                    <a:srgbClr val="000000"/>
                  </a:outerShdw>
                </a:effectLst>
                <a:latin typeface="Arial" panose="020B0604020202020204" pitchFamily="34" charset="0"/>
              </a:rPr>
              <a:t>e</a:t>
            </a:r>
            <a:r>
              <a:rPr lang="en-GB" altLang="en-US" sz="1700" baseline="-25000">
                <a:solidFill>
                  <a:srgbClr val="FFFF00"/>
                </a:solidFill>
                <a:effectLst>
                  <a:outerShdw blurRad="38100" dist="38100" dir="2700000" algn="tl">
                    <a:srgbClr val="000000"/>
                  </a:outerShdw>
                </a:effectLst>
                <a:latin typeface="Arial" panose="020B0604020202020204" pitchFamily="34" charset="0"/>
              </a:rPr>
              <a:t>3</a:t>
            </a:r>
            <a:r>
              <a:rPr lang="en-GB" altLang="en-US" sz="800" baseline="-250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     ;     </a:t>
            </a:r>
            <a:r>
              <a:rPr lang="en-GB" altLang="en-US" sz="1700" i="1">
                <a:solidFill>
                  <a:srgbClr val="FFFF00"/>
                </a:solidFill>
                <a:effectLst>
                  <a:outerShdw blurRad="38100" dist="38100" dir="2700000" algn="tl">
                    <a:srgbClr val="000000"/>
                  </a:outerShdw>
                </a:effectLst>
                <a:latin typeface="Arial" panose="020B0604020202020204" pitchFamily="34" charset="0"/>
              </a:rPr>
              <a:t>R</a:t>
            </a:r>
            <a:r>
              <a:rPr lang="en-GB" altLang="en-US" sz="1700" baseline="-25000">
                <a:solidFill>
                  <a:srgbClr val="FFFF00"/>
                </a:solidFill>
                <a:effectLst>
                  <a:outerShdw blurRad="38100" dist="38100" dir="2700000" algn="tl">
                    <a:srgbClr val="000000"/>
                  </a:outerShdw>
                </a:effectLst>
                <a:latin typeface="Arial" panose="020B0604020202020204" pitchFamily="34" charset="0"/>
              </a:rPr>
              <a:t>YZ</a:t>
            </a:r>
            <a:r>
              <a:rPr lang="en-GB" altLang="en-US" sz="1700">
                <a:solidFill>
                  <a:srgbClr val="FFFF00"/>
                </a:solidFill>
                <a:effectLst>
                  <a:outerShdw blurRad="38100" dist="38100" dir="2700000" algn="tl">
                    <a:srgbClr val="000000"/>
                  </a:outerShdw>
                </a:effectLst>
                <a:latin typeface="Arial" panose="020B0604020202020204" pitchFamily="34" charset="0"/>
              </a:rPr>
              <a:t> = (</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1</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i="1">
                <a:solidFill>
                  <a:srgbClr val="FFFF00"/>
                </a:solidFill>
                <a:effectLst>
                  <a:outerShdw blurRad="38100" dist="38100" dir="2700000" algn="tl">
                    <a:srgbClr val="000000"/>
                  </a:outerShdw>
                </a:effectLst>
                <a:latin typeface="Arial" panose="020B0604020202020204" pitchFamily="34" charset="0"/>
              </a:rPr>
              <a:t>e</a:t>
            </a:r>
            <a:r>
              <a:rPr lang="en-GB" altLang="en-US" sz="1700" baseline="-25000">
                <a:solidFill>
                  <a:srgbClr val="FFFF00"/>
                </a:solidFill>
                <a:effectLst>
                  <a:outerShdw blurRad="38100" dist="38100" dir="2700000" algn="tl">
                    <a:srgbClr val="000000"/>
                  </a:outerShdw>
                </a:effectLst>
                <a:latin typeface="Arial" panose="020B0604020202020204" pitchFamily="34" charset="0"/>
              </a:rPr>
              <a:t>2</a:t>
            </a:r>
            <a:r>
              <a:rPr lang="en-GB" altLang="en-US" sz="800" baseline="-250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1</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i="1">
                <a:solidFill>
                  <a:srgbClr val="FFFF00"/>
                </a:solidFill>
                <a:effectLst>
                  <a:outerShdw blurRad="38100" dist="38100" dir="2700000" algn="tl">
                    <a:srgbClr val="000000"/>
                  </a:outerShdw>
                </a:effectLst>
                <a:latin typeface="Arial" panose="020B0604020202020204" pitchFamily="34" charset="0"/>
              </a:rPr>
              <a:t>e</a:t>
            </a:r>
            <a:r>
              <a:rPr lang="en-GB" altLang="en-US" sz="1700" baseline="-25000">
                <a:solidFill>
                  <a:srgbClr val="FFFF00"/>
                </a:solidFill>
                <a:effectLst>
                  <a:outerShdw blurRad="38100" dist="38100" dir="2700000" algn="tl">
                    <a:srgbClr val="000000"/>
                  </a:outerShdw>
                </a:effectLst>
                <a:latin typeface="Arial" panose="020B0604020202020204" pitchFamily="34" charset="0"/>
              </a:rPr>
              <a:t>3</a:t>
            </a:r>
            <a:r>
              <a:rPr lang="en-GB" altLang="en-US" sz="800" baseline="-250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1700">
                <a:effectLst>
                  <a:outerShdw blurRad="38100" dist="38100" dir="2700000" algn="tl">
                    <a:srgbClr val="000000"/>
                  </a:outerShdw>
                </a:effectLst>
                <a:latin typeface="Arial" panose="020B0604020202020204" pitchFamily="34" charset="0"/>
              </a:rPr>
              <a:t> </a:t>
            </a:r>
          </a:p>
          <a:p>
            <a:pPr>
              <a:lnSpc>
                <a:spcPct val="120000"/>
              </a:lnSpc>
              <a:spcBef>
                <a:spcPct val="75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 volumetric strain is</a:t>
            </a:r>
          </a:p>
          <a:p>
            <a:pPr>
              <a:lnSpc>
                <a:spcPct val="120000"/>
              </a:lnSpc>
              <a:spcBef>
                <a:spcPct val="50000"/>
              </a:spcBef>
              <a:buClr>
                <a:schemeClr val="tx1"/>
              </a:buClr>
            </a:pPr>
            <a:r>
              <a:rPr lang="en-GB" altLang="en-US" sz="1700">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i="1">
                <a:solidFill>
                  <a:srgbClr val="FFFF00"/>
                </a:solidFill>
                <a:effectLst>
                  <a:outerShdw blurRad="38100" dist="38100" dir="2700000" algn="tl">
                    <a:srgbClr val="000000"/>
                  </a:outerShdw>
                </a:effectLst>
                <a:latin typeface="Arial" panose="020B0604020202020204" pitchFamily="34" charset="0"/>
              </a:rPr>
              <a:t>V</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i="1">
                <a:solidFill>
                  <a:srgbClr val="FFFF00"/>
                </a:solidFill>
                <a:effectLst>
                  <a:outerShdw blurRad="38100" dist="38100" dir="2700000" algn="tl">
                    <a:srgbClr val="000000"/>
                  </a:outerShdw>
                </a:effectLst>
                <a:latin typeface="Arial" panose="020B0604020202020204" pitchFamily="34" charset="0"/>
              </a:rPr>
              <a:t>V</a:t>
            </a:r>
            <a:r>
              <a:rPr lang="en-GB" altLang="en-US" sz="1700" baseline="-25000">
                <a:solidFill>
                  <a:srgbClr val="FFFF00"/>
                </a:solidFill>
                <a:effectLst>
                  <a:outerShdw blurRad="38100" dist="38100" dir="2700000" algn="tl">
                    <a:srgbClr val="000000"/>
                  </a:outerShdw>
                </a:effectLst>
                <a:latin typeface="Arial" panose="020B0604020202020204" pitchFamily="34" charset="0"/>
              </a:rPr>
              <a:t>0</a:t>
            </a:r>
            <a:r>
              <a:rPr lang="en-GB" altLang="en-US" sz="800" baseline="-250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  =  (</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1</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i="1">
                <a:solidFill>
                  <a:srgbClr val="FFFF00"/>
                </a:solidFill>
                <a:effectLst>
                  <a:outerShdw blurRad="38100" dist="38100" dir="2700000" algn="tl">
                    <a:srgbClr val="000000"/>
                  </a:outerShdw>
                </a:effectLst>
                <a:latin typeface="Arial" panose="020B0604020202020204" pitchFamily="34" charset="0"/>
              </a:rPr>
              <a:t>e</a:t>
            </a:r>
            <a:r>
              <a:rPr lang="en-GB" altLang="en-US" sz="1700" baseline="-25000">
                <a:solidFill>
                  <a:srgbClr val="FFFF00"/>
                </a:solidFill>
                <a:effectLst>
                  <a:outerShdw blurRad="38100" dist="38100" dir="2700000" algn="tl">
                    <a:srgbClr val="000000"/>
                  </a:outerShdw>
                </a:effectLst>
                <a:latin typeface="Arial" panose="020B0604020202020204" pitchFamily="34" charset="0"/>
              </a:rPr>
              <a:t>V</a:t>
            </a:r>
            <a:r>
              <a:rPr lang="en-GB" altLang="en-US" sz="800" baseline="-250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  =  (</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1</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i="1">
                <a:solidFill>
                  <a:srgbClr val="FFFF00"/>
                </a:solidFill>
                <a:effectLst>
                  <a:outerShdw blurRad="38100" dist="38100" dir="2700000" algn="tl">
                    <a:srgbClr val="000000"/>
                  </a:outerShdw>
                </a:effectLst>
                <a:latin typeface="Arial" panose="020B0604020202020204" pitchFamily="34" charset="0"/>
              </a:rPr>
              <a:t>e</a:t>
            </a:r>
            <a:r>
              <a:rPr lang="en-GB" altLang="en-US" sz="1700" baseline="-25000">
                <a:solidFill>
                  <a:srgbClr val="FFFF00"/>
                </a:solidFill>
                <a:effectLst>
                  <a:outerShdw blurRad="38100" dist="38100" dir="2700000" algn="tl">
                    <a:srgbClr val="000000"/>
                  </a:outerShdw>
                </a:effectLst>
                <a:latin typeface="Arial" panose="020B0604020202020204" pitchFamily="34" charset="0"/>
              </a:rPr>
              <a:t>1</a:t>
            </a:r>
            <a:r>
              <a:rPr lang="en-GB" altLang="en-US" sz="800" baseline="-250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1</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i="1">
                <a:solidFill>
                  <a:srgbClr val="FFFF00"/>
                </a:solidFill>
                <a:effectLst>
                  <a:outerShdw blurRad="38100" dist="38100" dir="2700000" algn="tl">
                    <a:srgbClr val="000000"/>
                  </a:outerShdw>
                </a:effectLst>
                <a:latin typeface="Arial" panose="020B0604020202020204" pitchFamily="34" charset="0"/>
              </a:rPr>
              <a:t>e</a:t>
            </a:r>
            <a:r>
              <a:rPr lang="en-GB" altLang="en-US" sz="1700" baseline="-25000">
                <a:solidFill>
                  <a:srgbClr val="FFFF00"/>
                </a:solidFill>
                <a:effectLst>
                  <a:outerShdw blurRad="38100" dist="38100" dir="2700000" algn="tl">
                    <a:srgbClr val="000000"/>
                  </a:outerShdw>
                </a:effectLst>
                <a:latin typeface="Arial" panose="020B0604020202020204" pitchFamily="34" charset="0"/>
              </a:rPr>
              <a:t>2</a:t>
            </a:r>
            <a:r>
              <a:rPr lang="en-GB" altLang="en-US" sz="800" baseline="-250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1</a:t>
            </a:r>
            <a:r>
              <a:rPr lang="en-GB" altLang="en-US" sz="6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r>
              <a:rPr lang="en-GB" altLang="en-US" sz="800">
                <a:solidFill>
                  <a:srgbClr val="FFFF00"/>
                </a:solidFill>
                <a:effectLst>
                  <a:outerShdw blurRad="38100" dist="38100" dir="2700000" algn="tl">
                    <a:srgbClr val="000000"/>
                  </a:outerShdw>
                </a:effectLst>
                <a:latin typeface="Arial" panose="020B0604020202020204" pitchFamily="34" charset="0"/>
              </a:rPr>
              <a:t> </a:t>
            </a:r>
            <a:r>
              <a:rPr lang="en-GB" altLang="en-US" sz="1700" i="1">
                <a:solidFill>
                  <a:srgbClr val="FFFF00"/>
                </a:solidFill>
                <a:effectLst>
                  <a:outerShdw blurRad="38100" dist="38100" dir="2700000" algn="tl">
                    <a:srgbClr val="000000"/>
                  </a:outerShdw>
                </a:effectLst>
                <a:latin typeface="Arial" panose="020B0604020202020204" pitchFamily="34" charset="0"/>
              </a:rPr>
              <a:t>e</a:t>
            </a:r>
            <a:r>
              <a:rPr lang="en-GB" altLang="en-US" sz="1700" baseline="-25000">
                <a:solidFill>
                  <a:srgbClr val="FFFF00"/>
                </a:solidFill>
                <a:effectLst>
                  <a:outerShdw blurRad="38100" dist="38100" dir="2700000" algn="tl">
                    <a:srgbClr val="000000"/>
                  </a:outerShdw>
                </a:effectLst>
                <a:latin typeface="Arial" panose="020B0604020202020204" pitchFamily="34" charset="0"/>
              </a:rPr>
              <a:t>3</a:t>
            </a:r>
            <a:r>
              <a:rPr lang="en-GB" altLang="en-US" sz="800" baseline="-25000">
                <a:solidFill>
                  <a:srgbClr val="FFFF00"/>
                </a:solidFill>
                <a:effectLst>
                  <a:outerShdw blurRad="38100" dist="38100" dir="2700000" algn="tl">
                    <a:srgbClr val="000000"/>
                  </a:outerShdw>
                </a:effectLst>
                <a:latin typeface="Arial" panose="020B0604020202020204" pitchFamily="34" charset="0"/>
              </a:rPr>
              <a:t> </a:t>
            </a:r>
            <a:r>
              <a:rPr lang="en-GB" altLang="en-US" sz="1700">
                <a:solidFill>
                  <a:srgbClr val="FFFF00"/>
                </a:solidFill>
                <a:effectLst>
                  <a:outerShdw blurRad="38100" dist="38100" dir="2700000" algn="tl">
                    <a:srgbClr val="000000"/>
                  </a:outerShdw>
                </a:effectLst>
                <a:latin typeface="Arial" panose="020B0604020202020204" pitchFamily="34" charset="0"/>
              </a:rPr>
              <a:t>)</a:t>
            </a:r>
          </a:p>
          <a:p>
            <a:pPr>
              <a:lnSpc>
                <a:spcPct val="120000"/>
              </a:lnSpc>
              <a:spcBef>
                <a:spcPct val="75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 </a:t>
            </a:r>
            <a:r>
              <a:rPr lang="en-GB" altLang="en-US" sz="1700">
                <a:solidFill>
                  <a:srgbClr val="FF66CC"/>
                </a:solidFill>
                <a:effectLst>
                  <a:outerShdw blurRad="38100" dist="38100" dir="2700000" algn="tl">
                    <a:srgbClr val="000000"/>
                  </a:outerShdw>
                </a:effectLst>
                <a:latin typeface="Arial" panose="020B0604020202020204" pitchFamily="34" charset="0"/>
              </a:rPr>
              <a:t>three principal strain directions</a:t>
            </a:r>
            <a:r>
              <a:rPr lang="en-GB" altLang="en-US" sz="1700">
                <a:effectLst>
                  <a:outerShdw blurRad="38100" dist="38100" dir="2700000" algn="tl">
                    <a:srgbClr val="000000"/>
                  </a:outerShdw>
                </a:effectLst>
                <a:latin typeface="Arial" panose="020B0604020202020204" pitchFamily="34" charset="0"/>
              </a:rPr>
              <a:t> are orthogonal, and were also orthogonal in the undeformed state, that is, parallel to them the </a:t>
            </a:r>
            <a:r>
              <a:rPr lang="en-GB" altLang="en-US" sz="1700">
                <a:solidFill>
                  <a:srgbClr val="FF66CC"/>
                </a:solidFill>
                <a:effectLst>
                  <a:outerShdw blurRad="38100" dist="38100" dir="2700000" algn="tl">
                    <a:srgbClr val="000000"/>
                  </a:outerShdw>
                </a:effectLst>
                <a:latin typeface="Arial" panose="020B0604020202020204" pitchFamily="34" charset="0"/>
              </a:rPr>
              <a:t>shear strain is zero</a:t>
            </a:r>
            <a:r>
              <a:rPr lang="en-GB" altLang="en-US" sz="1700">
                <a:effectLst>
                  <a:outerShdw blurRad="38100" dist="38100" dir="2700000" algn="tl">
                    <a:srgbClr val="000000"/>
                  </a:outerShdw>
                </a:effectLst>
                <a:latin typeface="Arial" panose="020B0604020202020204" pitchFamily="34" charset="0"/>
              </a:rPr>
              <a:t>. They are the only directions in which this is true</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a:extLst>
              <a:ext uri="{FF2B5EF4-FFF2-40B4-BE49-F238E27FC236}">
                <a16:creationId xmlns:a16="http://schemas.microsoft.com/office/drawing/2014/main" id="{9096D3D9-0B82-44E1-A2CC-993BBBCB9A72}"/>
              </a:ext>
            </a:extLst>
          </p:cNvPr>
          <p:cNvSpPr>
            <a:spLocks noGrp="1" noChangeArrowheads="1"/>
          </p:cNvSpPr>
          <p:nvPr>
            <p:ph type="title"/>
          </p:nvPr>
        </p:nvSpPr>
        <p:spPr>
          <a:noFill/>
        </p:spPr>
        <p:txBody>
          <a:bodyPr/>
          <a:lstStyle/>
          <a:p>
            <a:r>
              <a:rPr lang="en-GB" altLang="en-US">
                <a:effectLst/>
              </a:rPr>
              <a:t>Some important reference states of strain (2d)</a:t>
            </a:r>
          </a:p>
        </p:txBody>
      </p:sp>
      <p:sp>
        <p:nvSpPr>
          <p:cNvPr id="245763" name="Rectangle 3">
            <a:extLst>
              <a:ext uri="{FF2B5EF4-FFF2-40B4-BE49-F238E27FC236}">
                <a16:creationId xmlns:a16="http://schemas.microsoft.com/office/drawing/2014/main" id="{A8AD77BF-908E-46A2-9D13-93C7BCE9B4C3}"/>
              </a:ext>
            </a:extLst>
          </p:cNvPr>
          <p:cNvSpPr>
            <a:spLocks noGrp="1" noChangeArrowheads="1"/>
          </p:cNvSpPr>
          <p:nvPr>
            <p:ph type="body" sz="half" idx="1"/>
          </p:nvPr>
        </p:nvSpPr>
        <p:spPr>
          <a:xfrm>
            <a:off x="122238" y="811213"/>
            <a:ext cx="8880475" cy="554037"/>
          </a:xfrm>
          <a:noFill/>
        </p:spPr>
        <p:txBody>
          <a:bodyPr/>
          <a:lstStyle/>
          <a:p>
            <a:pPr marL="177800" indent="-177800">
              <a:spcBef>
                <a:spcPct val="75000"/>
              </a:spcBef>
            </a:pPr>
            <a:r>
              <a:rPr lang="en-GB" altLang="en-US" sz="1700">
                <a:effectLst/>
              </a:rPr>
              <a:t>There are some simple </a:t>
            </a:r>
            <a:r>
              <a:rPr lang="en-GB" altLang="en-US" sz="1700">
                <a:solidFill>
                  <a:srgbClr val="FF66CC"/>
                </a:solidFill>
                <a:effectLst/>
              </a:rPr>
              <a:t>reference states of strain</a:t>
            </a:r>
            <a:r>
              <a:rPr lang="en-GB" altLang="en-US" sz="1700">
                <a:effectLst/>
              </a:rPr>
              <a:t> that it is important to be familiar with</a:t>
            </a:r>
          </a:p>
        </p:txBody>
      </p:sp>
      <p:grpSp>
        <p:nvGrpSpPr>
          <p:cNvPr id="245773" name="Group 13">
            <a:extLst>
              <a:ext uri="{FF2B5EF4-FFF2-40B4-BE49-F238E27FC236}">
                <a16:creationId xmlns:a16="http://schemas.microsoft.com/office/drawing/2014/main" id="{81FAA9F0-415E-406C-9D91-96C5C9E75486}"/>
              </a:ext>
            </a:extLst>
          </p:cNvPr>
          <p:cNvGrpSpPr>
            <a:grpSpLocks/>
          </p:cNvGrpSpPr>
          <p:nvPr/>
        </p:nvGrpSpPr>
        <p:grpSpPr bwMode="auto">
          <a:xfrm>
            <a:off x="4456113" y="1441450"/>
            <a:ext cx="4510087" cy="5051425"/>
            <a:chOff x="2807" y="908"/>
            <a:chExt cx="2841" cy="3182"/>
          </a:xfrm>
        </p:grpSpPr>
        <p:sp>
          <p:nvSpPr>
            <p:cNvPr id="245769" name="Rectangle 9">
              <a:extLst>
                <a:ext uri="{FF2B5EF4-FFF2-40B4-BE49-F238E27FC236}">
                  <a16:creationId xmlns:a16="http://schemas.microsoft.com/office/drawing/2014/main" id="{6AF363ED-A50F-4876-B4FF-3405BB073110}"/>
                </a:ext>
              </a:extLst>
            </p:cNvPr>
            <p:cNvSpPr>
              <a:spLocks noChangeArrowheads="1"/>
            </p:cNvSpPr>
            <p:nvPr/>
          </p:nvSpPr>
          <p:spPr bwMode="auto">
            <a:xfrm>
              <a:off x="2807" y="908"/>
              <a:ext cx="2841" cy="3182"/>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45764" name="Picture 2" descr="GR08.jpg">
              <a:extLst>
                <a:ext uri="{FF2B5EF4-FFF2-40B4-BE49-F238E27FC236}">
                  <a16:creationId xmlns:a16="http://schemas.microsoft.com/office/drawing/2014/main" id="{EB49BF35-57A8-4AA9-9E8F-2AB7AFDC64E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50" y="958"/>
              <a:ext cx="2747" cy="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766" name="Rectangle 6">
              <a:extLst>
                <a:ext uri="{FF2B5EF4-FFF2-40B4-BE49-F238E27FC236}">
                  <a16:creationId xmlns:a16="http://schemas.microsoft.com/office/drawing/2014/main" id="{0ADCF9FE-74AE-4CAB-B076-1DA58F5C0D80}"/>
                </a:ext>
              </a:extLst>
            </p:cNvPr>
            <p:cNvSpPr>
              <a:spLocks noChangeArrowheads="1"/>
            </p:cNvSpPr>
            <p:nvPr/>
          </p:nvSpPr>
          <p:spPr bwMode="auto">
            <a:xfrm>
              <a:off x="2849" y="2503"/>
              <a:ext cx="149" cy="161"/>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5767" name="Rectangle 7">
              <a:extLst>
                <a:ext uri="{FF2B5EF4-FFF2-40B4-BE49-F238E27FC236}">
                  <a16:creationId xmlns:a16="http://schemas.microsoft.com/office/drawing/2014/main" id="{DC624F2D-E669-4EBA-8096-6D155ADB1C6D}"/>
                </a:ext>
              </a:extLst>
            </p:cNvPr>
            <p:cNvSpPr>
              <a:spLocks noChangeArrowheads="1"/>
            </p:cNvSpPr>
            <p:nvPr/>
          </p:nvSpPr>
          <p:spPr bwMode="auto">
            <a:xfrm>
              <a:off x="3838" y="2955"/>
              <a:ext cx="474" cy="447"/>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5768" name="Rectangle 8">
              <a:extLst>
                <a:ext uri="{FF2B5EF4-FFF2-40B4-BE49-F238E27FC236}">
                  <a16:creationId xmlns:a16="http://schemas.microsoft.com/office/drawing/2014/main" id="{DC82E05E-0E83-47AD-B86A-5F7688F5DE5C}"/>
                </a:ext>
              </a:extLst>
            </p:cNvPr>
            <p:cNvSpPr>
              <a:spLocks noChangeArrowheads="1"/>
            </p:cNvSpPr>
            <p:nvPr/>
          </p:nvSpPr>
          <p:spPr bwMode="auto">
            <a:xfrm>
              <a:off x="4172" y="3932"/>
              <a:ext cx="173" cy="12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45772" name="Text Box 12">
            <a:extLst>
              <a:ext uri="{FF2B5EF4-FFF2-40B4-BE49-F238E27FC236}">
                <a16:creationId xmlns:a16="http://schemas.microsoft.com/office/drawing/2014/main" id="{3E23FC6F-7104-479F-8683-0BAD79C9D452}"/>
              </a:ext>
            </a:extLst>
          </p:cNvPr>
          <p:cNvSpPr txBox="1">
            <a:spLocks noChangeArrowheads="1"/>
          </p:cNvSpPr>
          <p:nvPr/>
        </p:nvSpPr>
        <p:spPr bwMode="auto">
          <a:xfrm>
            <a:off x="131763" y="1260475"/>
            <a:ext cx="4021137" cy="4900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Two end-member types of </a:t>
            </a:r>
            <a:r>
              <a:rPr lang="en-GB" altLang="en-US" sz="1700" dirty="0">
                <a:solidFill>
                  <a:srgbClr val="FF66CC"/>
                </a:solidFill>
                <a:effectLst>
                  <a:outerShdw blurRad="38100" dist="38100" dir="2700000" algn="tl">
                    <a:srgbClr val="000000"/>
                  </a:outerShdw>
                </a:effectLst>
                <a:latin typeface="Arial" panose="020B0604020202020204" pitchFamily="34" charset="0"/>
              </a:rPr>
              <a:t>constant area</a:t>
            </a:r>
            <a:r>
              <a:rPr lang="en-GB" altLang="en-US" sz="1700" dirty="0">
                <a:effectLst>
                  <a:outerShdw blurRad="38100" dist="38100" dir="2700000" algn="tl">
                    <a:srgbClr val="000000"/>
                  </a:outerShdw>
                </a:effectLst>
                <a:latin typeface="Arial" panose="020B0604020202020204" pitchFamily="34" charset="0"/>
              </a:rPr>
              <a:t>, two-dimensional strain are</a:t>
            </a:r>
          </a:p>
          <a:p>
            <a:pPr>
              <a:lnSpc>
                <a:spcPct val="120000"/>
              </a:lnSpc>
              <a:spcBef>
                <a:spcPct val="75000"/>
              </a:spcBef>
              <a:buClr>
                <a:schemeClr val="tx1"/>
              </a:buClr>
            </a:pP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00"/>
                </a:solidFill>
                <a:effectLst>
                  <a:outerShdw blurRad="38100" dist="38100" dir="2700000" algn="tl">
                    <a:srgbClr val="000000"/>
                  </a:outerShdw>
                </a:effectLst>
                <a:latin typeface="Arial" panose="020B0604020202020204" pitchFamily="34" charset="0"/>
              </a:rPr>
              <a:t>Simple shear</a:t>
            </a:r>
            <a:r>
              <a:rPr lang="en-GB" altLang="en-US" sz="1700" dirty="0">
                <a:effectLst>
                  <a:outerShdw blurRad="38100" dist="38100" dir="2700000" algn="tl">
                    <a:srgbClr val="000000"/>
                  </a:outerShdw>
                </a:effectLst>
                <a:latin typeface="Arial" panose="020B0604020202020204" pitchFamily="34" charset="0"/>
              </a:rPr>
              <a:t>: in which the 2d body is subjected to a uniform shear parallel to some given direction without area change; the principal axes of strain rotate during the deformation, and hence such deformation is described as </a:t>
            </a:r>
            <a:r>
              <a:rPr lang="en-GB" altLang="en-US" sz="1700" dirty="0">
                <a:solidFill>
                  <a:srgbClr val="FF66CC"/>
                </a:solidFill>
                <a:effectLst>
                  <a:outerShdw blurRad="38100" dist="38100" dir="2700000" algn="tl">
                    <a:srgbClr val="000000"/>
                  </a:outerShdw>
                </a:effectLst>
                <a:latin typeface="Arial" panose="020B0604020202020204" pitchFamily="34" charset="0"/>
              </a:rPr>
              <a:t>rotational</a:t>
            </a:r>
            <a:r>
              <a:rPr lang="en-GB" altLang="en-US" sz="1700" dirty="0">
                <a:effectLst>
                  <a:outerShdw blurRad="38100" dist="38100" dir="2700000" algn="tl">
                    <a:srgbClr val="000000"/>
                  </a:outerShdw>
                </a:effectLst>
                <a:latin typeface="Arial" panose="020B0604020202020204" pitchFamily="34" charset="0"/>
              </a:rPr>
              <a:t> and </a:t>
            </a:r>
            <a:r>
              <a:rPr lang="en-GB" altLang="en-US" sz="1700" dirty="0">
                <a:solidFill>
                  <a:srgbClr val="FF66CC"/>
                </a:solidFill>
                <a:effectLst>
                  <a:outerShdw blurRad="38100" dist="38100" dir="2700000" algn="tl">
                    <a:srgbClr val="000000"/>
                  </a:outerShdw>
                </a:effectLst>
                <a:latin typeface="Arial" panose="020B0604020202020204" pitchFamily="34" charset="0"/>
              </a:rPr>
              <a:t>non-coaxial</a:t>
            </a:r>
            <a:endParaRPr lang="en-GB" altLang="en-US" sz="1700" dirty="0">
              <a:effectLst>
                <a:outerShdw blurRad="38100" dist="38100" dir="2700000" algn="tl">
                  <a:srgbClr val="000000"/>
                </a:outerShdw>
              </a:effectLst>
              <a:latin typeface="Arial" panose="020B0604020202020204" pitchFamily="34" charset="0"/>
            </a:endParaRPr>
          </a:p>
          <a:p>
            <a:pPr>
              <a:lnSpc>
                <a:spcPct val="120000"/>
              </a:lnSpc>
              <a:spcBef>
                <a:spcPct val="100000"/>
              </a:spcBef>
              <a:buClr>
                <a:schemeClr val="tx1"/>
              </a:buClr>
            </a:pP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00"/>
                </a:solidFill>
                <a:effectLst>
                  <a:outerShdw blurRad="38100" dist="38100" dir="2700000" algn="tl">
                    <a:srgbClr val="000000"/>
                  </a:outerShdw>
                </a:effectLst>
                <a:latin typeface="Arial" panose="020B0604020202020204" pitchFamily="34" charset="0"/>
              </a:rPr>
              <a:t>Pure shear</a:t>
            </a:r>
            <a:r>
              <a:rPr lang="en-GB" altLang="en-US" sz="1700" dirty="0">
                <a:effectLst>
                  <a:outerShdw blurRad="38100" dist="38100" dir="2700000" algn="tl">
                    <a:srgbClr val="000000"/>
                  </a:outerShdw>
                </a:effectLst>
                <a:latin typeface="Arial" panose="020B0604020202020204" pitchFamily="34" charset="0"/>
              </a:rPr>
              <a:t>: extension or contraction involving no area change in which the principal axes of strain do not rotate; such deformation is described as </a:t>
            </a:r>
            <a:r>
              <a:rPr lang="en-GB" altLang="en-US" sz="1700" dirty="0">
                <a:solidFill>
                  <a:srgbClr val="FF66CC"/>
                </a:solidFill>
                <a:effectLst>
                  <a:outerShdw blurRad="38100" dist="38100" dir="2700000" algn="tl">
                    <a:srgbClr val="000000"/>
                  </a:outerShdw>
                </a:effectLst>
                <a:latin typeface="Arial" panose="020B0604020202020204" pitchFamily="34" charset="0"/>
              </a:rPr>
              <a:t>irrotational</a:t>
            </a:r>
            <a:r>
              <a:rPr lang="en-GB" altLang="en-US" sz="1700" dirty="0">
                <a:effectLst>
                  <a:outerShdw blurRad="38100" dist="38100" dir="2700000" algn="tl">
                    <a:srgbClr val="000000"/>
                  </a:outerShdw>
                </a:effectLst>
                <a:latin typeface="Arial" panose="020B0604020202020204" pitchFamily="34" charset="0"/>
              </a:rPr>
              <a:t> and </a:t>
            </a:r>
            <a:r>
              <a:rPr lang="en-GB" altLang="en-US" sz="1700" dirty="0">
                <a:solidFill>
                  <a:srgbClr val="FF66CC"/>
                </a:solidFill>
                <a:effectLst>
                  <a:outerShdw blurRad="38100" dist="38100" dir="2700000" algn="tl">
                    <a:srgbClr val="000000"/>
                  </a:outerShdw>
                </a:effectLst>
                <a:latin typeface="Arial" panose="020B0604020202020204" pitchFamily="34" charset="0"/>
              </a:rPr>
              <a:t>coaxial</a:t>
            </a: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115" name="Rectangle 19">
            <a:extLst>
              <a:ext uri="{FF2B5EF4-FFF2-40B4-BE49-F238E27FC236}">
                <a16:creationId xmlns:a16="http://schemas.microsoft.com/office/drawing/2014/main" id="{E6479317-59CB-4366-9A75-CDE924F2A177}"/>
              </a:ext>
            </a:extLst>
          </p:cNvPr>
          <p:cNvSpPr>
            <a:spLocks noChangeArrowheads="1"/>
          </p:cNvSpPr>
          <p:nvPr/>
        </p:nvSpPr>
        <p:spPr bwMode="auto">
          <a:xfrm>
            <a:off x="293688" y="4868863"/>
            <a:ext cx="3319462" cy="1757362"/>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0114" name="Rectangle 18">
            <a:extLst>
              <a:ext uri="{FF2B5EF4-FFF2-40B4-BE49-F238E27FC236}">
                <a16:creationId xmlns:a16="http://schemas.microsoft.com/office/drawing/2014/main" id="{866AAE9A-560F-4196-BF39-D209E15BA73D}"/>
              </a:ext>
            </a:extLst>
          </p:cNvPr>
          <p:cNvSpPr>
            <a:spLocks noChangeArrowheads="1"/>
          </p:cNvSpPr>
          <p:nvPr/>
        </p:nvSpPr>
        <p:spPr bwMode="auto">
          <a:xfrm>
            <a:off x="3756025" y="904875"/>
            <a:ext cx="5281613" cy="393382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0098" name="Rectangle 2">
            <a:extLst>
              <a:ext uri="{FF2B5EF4-FFF2-40B4-BE49-F238E27FC236}">
                <a16:creationId xmlns:a16="http://schemas.microsoft.com/office/drawing/2014/main" id="{69C4B261-5FBA-43D9-B727-8545B57D2670}"/>
              </a:ext>
            </a:extLst>
          </p:cNvPr>
          <p:cNvSpPr>
            <a:spLocks noGrp="1" noChangeArrowheads="1"/>
          </p:cNvSpPr>
          <p:nvPr>
            <p:ph type="title"/>
          </p:nvPr>
        </p:nvSpPr>
        <p:spPr>
          <a:noFill/>
        </p:spPr>
        <p:txBody>
          <a:bodyPr/>
          <a:lstStyle/>
          <a:p>
            <a:r>
              <a:rPr lang="en-GB" altLang="en-US">
                <a:effectLst/>
              </a:rPr>
              <a:t>Some important reference states of strain (3d)</a:t>
            </a:r>
          </a:p>
        </p:txBody>
      </p:sp>
      <p:sp>
        <p:nvSpPr>
          <p:cNvPr id="260099" name="Rectangle 3">
            <a:extLst>
              <a:ext uri="{FF2B5EF4-FFF2-40B4-BE49-F238E27FC236}">
                <a16:creationId xmlns:a16="http://schemas.microsoft.com/office/drawing/2014/main" id="{548E1CD4-842C-49EC-B8FF-379866143540}"/>
              </a:ext>
            </a:extLst>
          </p:cNvPr>
          <p:cNvSpPr>
            <a:spLocks noGrp="1" noChangeArrowheads="1"/>
          </p:cNvSpPr>
          <p:nvPr>
            <p:ph type="body" sz="half" idx="1"/>
          </p:nvPr>
        </p:nvSpPr>
        <p:spPr>
          <a:xfrm>
            <a:off x="123825" y="825500"/>
            <a:ext cx="3652838" cy="3851275"/>
          </a:xfrm>
          <a:noFill/>
        </p:spPr>
        <p:txBody>
          <a:bodyPr/>
          <a:lstStyle/>
          <a:p>
            <a:pPr marL="177800" indent="-177800">
              <a:spcBef>
                <a:spcPct val="75000"/>
              </a:spcBef>
            </a:pPr>
            <a:r>
              <a:rPr lang="en-GB" altLang="en-US" sz="1700">
                <a:solidFill>
                  <a:srgbClr val="FF6600"/>
                </a:solidFill>
                <a:effectLst/>
              </a:rPr>
              <a:t>Plane strain</a:t>
            </a:r>
            <a:r>
              <a:rPr lang="en-GB" altLang="en-US" sz="1700">
                <a:effectLst/>
              </a:rPr>
              <a:t> is when there is no stretching or shortening in one principal direction (Y direction); in such cases the strain can be regarded as two-dimensional</a:t>
            </a:r>
          </a:p>
          <a:p>
            <a:pPr marL="177800" indent="-177800"/>
            <a:r>
              <a:rPr lang="en-GB" altLang="en-US" sz="1700">
                <a:solidFill>
                  <a:srgbClr val="FF6600"/>
                </a:solidFill>
                <a:effectLst/>
              </a:rPr>
              <a:t>Axially symmetric extension or compression</a:t>
            </a:r>
            <a:r>
              <a:rPr lang="en-GB" altLang="en-US" sz="1700">
                <a:effectLst/>
              </a:rPr>
              <a:t> is an irrotational deformation in which the length changes along two principal directions (Y and Z or X and Y respectively) are equal</a:t>
            </a:r>
          </a:p>
        </p:txBody>
      </p:sp>
      <p:pic>
        <p:nvPicPr>
          <p:cNvPr id="260109" name="Picture 2" descr="GR17.jpg">
            <a:extLst>
              <a:ext uri="{FF2B5EF4-FFF2-40B4-BE49-F238E27FC236}">
                <a16:creationId xmlns:a16="http://schemas.microsoft.com/office/drawing/2014/main" id="{E005C30D-49BD-4E01-92F2-5DB0C45FB96D}"/>
              </a:ext>
            </a:extLst>
          </p:cNvPr>
          <p:cNvPicPr>
            <a:picLocks noGrp="1" noChangeAspect="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358775" y="4930775"/>
            <a:ext cx="3205163" cy="16319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0112" name="Picture 2" descr="GR12.jpg">
            <a:extLst>
              <a:ext uri="{FF2B5EF4-FFF2-40B4-BE49-F238E27FC236}">
                <a16:creationId xmlns:a16="http://schemas.microsoft.com/office/drawing/2014/main" id="{A4B59947-6329-4C27-8CC4-C064DF30E0A4}"/>
              </a:ext>
            </a:extLst>
          </p:cNvPr>
          <p:cNvPicPr>
            <a:picLocks noGrp="1" noChangeAspect="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3816350" y="960438"/>
            <a:ext cx="5160963" cy="37687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0116" name="Text Box 20">
            <a:extLst>
              <a:ext uri="{FF2B5EF4-FFF2-40B4-BE49-F238E27FC236}">
                <a16:creationId xmlns:a16="http://schemas.microsoft.com/office/drawing/2014/main" id="{CD896C6C-ED0E-483C-9ABF-103EDC9A45E8}"/>
              </a:ext>
            </a:extLst>
          </p:cNvPr>
          <p:cNvSpPr txBox="1">
            <a:spLocks noChangeArrowheads="1"/>
          </p:cNvSpPr>
          <p:nvPr/>
        </p:nvSpPr>
        <p:spPr bwMode="auto">
          <a:xfrm>
            <a:off x="3756025" y="5543550"/>
            <a:ext cx="5060950"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Example of plane strain, simple shear in which (at large strains) </a:t>
            </a:r>
            <a:r>
              <a:rPr lang="en-GB" altLang="en-US" sz="1400" i="1" dirty="0">
                <a:solidFill>
                  <a:srgbClr val="FF66CC"/>
                </a:solidFill>
                <a:effectLst>
                  <a:outerShdw blurRad="38100" dist="38100" dir="2700000" algn="tl">
                    <a:srgbClr val="000000"/>
                  </a:outerShdw>
                </a:effectLst>
                <a:latin typeface="Arial" panose="020B0604020202020204" pitchFamily="34" charset="0"/>
              </a:rPr>
              <a:t>X</a:t>
            </a:r>
            <a:r>
              <a:rPr lang="en-GB" altLang="en-US" sz="1400" dirty="0">
                <a:solidFill>
                  <a:srgbClr val="FFFF00"/>
                </a:solidFill>
                <a:effectLst>
                  <a:outerShdw blurRad="38100" dist="38100" dir="2700000" algn="tl">
                    <a:srgbClr val="000000"/>
                  </a:outerShdw>
                </a:effectLst>
                <a:latin typeface="Arial" panose="020B0604020202020204" pitchFamily="34" charset="0"/>
              </a:rPr>
              <a:t> is parallel to the shear direction, </a:t>
            </a:r>
            <a:r>
              <a:rPr lang="en-GB" altLang="en-US" sz="1400" i="1" dirty="0">
                <a:solidFill>
                  <a:srgbClr val="FF66CC"/>
                </a:solidFill>
                <a:effectLst>
                  <a:outerShdw blurRad="38100" dist="38100" dir="2700000" algn="tl">
                    <a:srgbClr val="000000"/>
                  </a:outerShdw>
                </a:effectLst>
                <a:latin typeface="Arial" panose="020B0604020202020204" pitchFamily="34" charset="0"/>
              </a:rPr>
              <a:t>Z</a:t>
            </a:r>
            <a:r>
              <a:rPr lang="en-GB" altLang="en-US" sz="1400" dirty="0">
                <a:solidFill>
                  <a:srgbClr val="FFFF00"/>
                </a:solidFill>
                <a:effectLst>
                  <a:outerShdw blurRad="38100" dist="38100" dir="2700000" algn="tl">
                    <a:srgbClr val="000000"/>
                  </a:outerShdw>
                </a:effectLst>
                <a:latin typeface="Arial" panose="020B0604020202020204" pitchFamily="34" charset="0"/>
              </a:rPr>
              <a:t> is normal to the shear plane, and </a:t>
            </a:r>
            <a:r>
              <a:rPr lang="en-GB" altLang="en-US" sz="1400" i="1" dirty="0">
                <a:solidFill>
                  <a:srgbClr val="FF66CC"/>
                </a:solidFill>
                <a:effectLst>
                  <a:outerShdw blurRad="38100" dist="38100" dir="2700000" algn="tl">
                    <a:srgbClr val="000000"/>
                  </a:outerShdw>
                </a:effectLst>
                <a:latin typeface="Arial" panose="020B0604020202020204" pitchFamily="34" charset="0"/>
              </a:rPr>
              <a:t>Y</a:t>
            </a:r>
            <a:r>
              <a:rPr lang="en-GB" altLang="en-US" sz="1400" dirty="0">
                <a:solidFill>
                  <a:srgbClr val="FFFF00"/>
                </a:solidFill>
                <a:effectLst>
                  <a:outerShdw blurRad="38100" dist="38100" dir="2700000" algn="tl">
                    <a:srgbClr val="000000"/>
                  </a:outerShdw>
                </a:effectLst>
                <a:latin typeface="Arial" panose="020B0604020202020204" pitchFamily="34" charset="0"/>
              </a:rPr>
              <a:t> lies in the shear plane at right angles to </a:t>
            </a:r>
            <a:r>
              <a:rPr lang="en-GB" altLang="en-US" sz="1400" i="1" dirty="0">
                <a:solidFill>
                  <a:srgbClr val="FFFF00"/>
                </a:solidFill>
                <a:effectLst>
                  <a:outerShdw blurRad="38100" dist="38100" dir="2700000" algn="tl">
                    <a:srgbClr val="000000"/>
                  </a:outerShdw>
                </a:effectLst>
                <a:latin typeface="Arial" panose="020B0604020202020204" pitchFamily="34" charset="0"/>
              </a:rPr>
              <a:t>X</a:t>
            </a:r>
            <a:r>
              <a:rPr lang="en-GB" altLang="en-US" sz="1400" dirty="0">
                <a:solidFill>
                  <a:srgbClr val="FFFF00"/>
                </a:solidFill>
                <a:effectLst>
                  <a:outerShdw blurRad="38100" dist="38100" dir="2700000" algn="tl">
                    <a:srgbClr val="000000"/>
                  </a:outerShdw>
                </a:effectLst>
                <a:latin typeface="Arial" panose="020B0604020202020204" pitchFamily="34" charset="0"/>
              </a:rPr>
              <a:t> and has no stretching or shortening along it</a:t>
            </a:r>
          </a:p>
        </p:txBody>
      </p:sp>
      <p:sp>
        <p:nvSpPr>
          <p:cNvPr id="260117" name="Line 21">
            <a:extLst>
              <a:ext uri="{FF2B5EF4-FFF2-40B4-BE49-F238E27FC236}">
                <a16:creationId xmlns:a16="http://schemas.microsoft.com/office/drawing/2014/main" id="{37B021DD-C730-41DF-BE32-974660BA7ACF}"/>
              </a:ext>
            </a:extLst>
          </p:cNvPr>
          <p:cNvSpPr>
            <a:spLocks noChangeShapeType="1"/>
          </p:cNvSpPr>
          <p:nvPr/>
        </p:nvSpPr>
        <p:spPr bwMode="auto">
          <a:xfrm flipV="1">
            <a:off x="2684463" y="6184900"/>
            <a:ext cx="628650" cy="239713"/>
          </a:xfrm>
          <a:prstGeom prst="line">
            <a:avLst/>
          </a:prstGeom>
          <a:noFill/>
          <a:ln w="1270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60118" name="Line 22">
            <a:extLst>
              <a:ext uri="{FF2B5EF4-FFF2-40B4-BE49-F238E27FC236}">
                <a16:creationId xmlns:a16="http://schemas.microsoft.com/office/drawing/2014/main" id="{5CA51BFC-4178-44D0-BD00-9E2656C175A3}"/>
              </a:ext>
            </a:extLst>
          </p:cNvPr>
          <p:cNvSpPr>
            <a:spLocks noChangeShapeType="1"/>
          </p:cNvSpPr>
          <p:nvPr/>
        </p:nvSpPr>
        <p:spPr bwMode="auto">
          <a:xfrm>
            <a:off x="2759075" y="6262688"/>
            <a:ext cx="488950" cy="85725"/>
          </a:xfrm>
          <a:prstGeom prst="line">
            <a:avLst/>
          </a:prstGeom>
          <a:noFill/>
          <a:ln w="1270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60119" name="Line 23">
            <a:extLst>
              <a:ext uri="{FF2B5EF4-FFF2-40B4-BE49-F238E27FC236}">
                <a16:creationId xmlns:a16="http://schemas.microsoft.com/office/drawing/2014/main" id="{74BF125F-DBFC-471B-9D7D-54EC10F9BBA3}"/>
              </a:ext>
            </a:extLst>
          </p:cNvPr>
          <p:cNvSpPr>
            <a:spLocks noChangeShapeType="1"/>
          </p:cNvSpPr>
          <p:nvPr/>
        </p:nvSpPr>
        <p:spPr bwMode="auto">
          <a:xfrm flipH="1">
            <a:off x="2994025" y="6148388"/>
            <a:ext cx="4763" cy="322262"/>
          </a:xfrm>
          <a:prstGeom prst="line">
            <a:avLst/>
          </a:prstGeom>
          <a:noFill/>
          <a:ln w="1270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60120" name="Text Box 24">
            <a:extLst>
              <a:ext uri="{FF2B5EF4-FFF2-40B4-BE49-F238E27FC236}">
                <a16:creationId xmlns:a16="http://schemas.microsoft.com/office/drawing/2014/main" id="{3166FE95-DDA8-4D50-B934-8C0690F91092}"/>
              </a:ext>
            </a:extLst>
          </p:cNvPr>
          <p:cNvSpPr txBox="1">
            <a:spLocks noChangeArrowheads="1"/>
          </p:cNvSpPr>
          <p:nvPr/>
        </p:nvSpPr>
        <p:spPr bwMode="auto">
          <a:xfrm>
            <a:off x="3271838" y="6029325"/>
            <a:ext cx="280987"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a:solidFill>
                  <a:srgbClr val="FF0000"/>
                </a:solidFill>
                <a:effectLst/>
                <a:latin typeface="Arial" panose="020B0604020202020204" pitchFamily="34" charset="0"/>
              </a:rPr>
              <a:t>X</a:t>
            </a:r>
          </a:p>
        </p:txBody>
      </p:sp>
      <p:sp>
        <p:nvSpPr>
          <p:cNvPr id="260121" name="Text Box 25">
            <a:extLst>
              <a:ext uri="{FF2B5EF4-FFF2-40B4-BE49-F238E27FC236}">
                <a16:creationId xmlns:a16="http://schemas.microsoft.com/office/drawing/2014/main" id="{DEF82F33-DF17-437C-8ACE-CE66A8C3EE52}"/>
              </a:ext>
            </a:extLst>
          </p:cNvPr>
          <p:cNvSpPr txBox="1">
            <a:spLocks noChangeArrowheads="1"/>
          </p:cNvSpPr>
          <p:nvPr/>
        </p:nvSpPr>
        <p:spPr bwMode="auto">
          <a:xfrm>
            <a:off x="3216275" y="6249988"/>
            <a:ext cx="28098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a:solidFill>
                  <a:srgbClr val="FF0000"/>
                </a:solidFill>
                <a:effectLst/>
                <a:latin typeface="Arial" panose="020B0604020202020204" pitchFamily="34" charset="0"/>
              </a:rPr>
              <a:t>Y</a:t>
            </a:r>
          </a:p>
        </p:txBody>
      </p:sp>
      <p:sp>
        <p:nvSpPr>
          <p:cNvPr id="260122" name="Text Box 26">
            <a:extLst>
              <a:ext uri="{FF2B5EF4-FFF2-40B4-BE49-F238E27FC236}">
                <a16:creationId xmlns:a16="http://schemas.microsoft.com/office/drawing/2014/main" id="{C01A24E8-873C-4F6C-A19E-72986DE75A77}"/>
              </a:ext>
            </a:extLst>
          </p:cNvPr>
          <p:cNvSpPr txBox="1">
            <a:spLocks noChangeArrowheads="1"/>
          </p:cNvSpPr>
          <p:nvPr/>
        </p:nvSpPr>
        <p:spPr bwMode="auto">
          <a:xfrm>
            <a:off x="2955925" y="6389688"/>
            <a:ext cx="28098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a:solidFill>
                  <a:srgbClr val="FF0000"/>
                </a:solidFill>
                <a:effectLst/>
                <a:latin typeface="Arial" panose="020B0604020202020204" pitchFamily="34" charset="0"/>
              </a:rPr>
              <a:t>Z</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a:extLst>
              <a:ext uri="{FF2B5EF4-FFF2-40B4-BE49-F238E27FC236}">
                <a16:creationId xmlns:a16="http://schemas.microsoft.com/office/drawing/2014/main" id="{C20AC297-0FAF-4D25-9BAE-4481E7A70CAC}"/>
              </a:ext>
            </a:extLst>
          </p:cNvPr>
          <p:cNvSpPr>
            <a:spLocks noGrp="1" noChangeArrowheads="1"/>
          </p:cNvSpPr>
          <p:nvPr>
            <p:ph type="title"/>
          </p:nvPr>
        </p:nvSpPr>
        <p:spPr>
          <a:noFill/>
        </p:spPr>
        <p:txBody>
          <a:bodyPr/>
          <a:lstStyle/>
          <a:p>
            <a:r>
              <a:rPr lang="en-GB" altLang="en-US">
                <a:effectLst/>
              </a:rPr>
              <a:t>The Flinn diagram</a:t>
            </a:r>
          </a:p>
        </p:txBody>
      </p:sp>
      <p:sp>
        <p:nvSpPr>
          <p:cNvPr id="236547" name="Rectangle 3">
            <a:extLst>
              <a:ext uri="{FF2B5EF4-FFF2-40B4-BE49-F238E27FC236}">
                <a16:creationId xmlns:a16="http://schemas.microsoft.com/office/drawing/2014/main" id="{CC58C05A-1F32-4EEE-91E7-51BD79317D46}"/>
              </a:ext>
            </a:extLst>
          </p:cNvPr>
          <p:cNvSpPr>
            <a:spLocks noGrp="1" noChangeArrowheads="1"/>
          </p:cNvSpPr>
          <p:nvPr>
            <p:ph type="body" sz="half" idx="1"/>
          </p:nvPr>
        </p:nvSpPr>
        <p:spPr>
          <a:xfrm>
            <a:off x="122238" y="811213"/>
            <a:ext cx="8880475" cy="838200"/>
          </a:xfrm>
          <a:noFill/>
        </p:spPr>
        <p:txBody>
          <a:bodyPr/>
          <a:lstStyle/>
          <a:p>
            <a:pPr marL="177800" indent="-177800">
              <a:spcBef>
                <a:spcPct val="75000"/>
              </a:spcBef>
            </a:pPr>
            <a:r>
              <a:rPr lang="en-GB" altLang="en-US" sz="1700">
                <a:effectLst/>
              </a:rPr>
              <a:t>The </a:t>
            </a:r>
            <a:r>
              <a:rPr lang="en-GB" altLang="en-US" sz="1700">
                <a:solidFill>
                  <a:srgbClr val="FF6600"/>
                </a:solidFill>
                <a:effectLst/>
              </a:rPr>
              <a:t>shape</a:t>
            </a:r>
            <a:r>
              <a:rPr lang="en-GB" altLang="en-US" sz="1700">
                <a:effectLst/>
              </a:rPr>
              <a:t> </a:t>
            </a:r>
            <a:r>
              <a:rPr lang="en-GB" altLang="en-US" sz="1700">
                <a:solidFill>
                  <a:srgbClr val="FF6600"/>
                </a:solidFill>
                <a:effectLst/>
              </a:rPr>
              <a:t>of the strain ellipsoid</a:t>
            </a:r>
            <a:r>
              <a:rPr lang="en-GB" altLang="en-US" sz="1700">
                <a:effectLst/>
              </a:rPr>
              <a:t> can be visualized by plotting </a:t>
            </a:r>
            <a:r>
              <a:rPr lang="en-GB" altLang="en-US" sz="1700" i="1">
                <a:solidFill>
                  <a:srgbClr val="FF66CC"/>
                </a:solidFill>
                <a:effectLst/>
              </a:rPr>
              <a:t>R</a:t>
            </a:r>
            <a:r>
              <a:rPr lang="en-GB" altLang="en-US" sz="1700" baseline="-25000">
                <a:solidFill>
                  <a:srgbClr val="FF66CC"/>
                </a:solidFill>
                <a:effectLst/>
              </a:rPr>
              <a:t>XY</a:t>
            </a:r>
            <a:r>
              <a:rPr lang="en-GB" altLang="en-US" sz="1700">
                <a:effectLst/>
              </a:rPr>
              <a:t> against </a:t>
            </a:r>
            <a:r>
              <a:rPr lang="en-GB" altLang="en-US" sz="1700" i="1">
                <a:solidFill>
                  <a:srgbClr val="FF66CC"/>
                </a:solidFill>
                <a:effectLst/>
              </a:rPr>
              <a:t>R</a:t>
            </a:r>
            <a:r>
              <a:rPr lang="en-GB" altLang="en-US" sz="1700" baseline="-25000">
                <a:solidFill>
                  <a:srgbClr val="FF66CC"/>
                </a:solidFill>
                <a:effectLst/>
              </a:rPr>
              <a:t>YZ</a:t>
            </a:r>
            <a:r>
              <a:rPr lang="en-GB" altLang="en-US" sz="1700">
                <a:effectLst/>
              </a:rPr>
              <a:t> (usually logarithms of these ratios are plotted). Such a diagram is called a </a:t>
            </a:r>
            <a:r>
              <a:rPr lang="en-GB" altLang="en-US" sz="1700">
                <a:solidFill>
                  <a:srgbClr val="FF6600"/>
                </a:solidFill>
                <a:effectLst/>
              </a:rPr>
              <a:t>Flinn diagram</a:t>
            </a:r>
          </a:p>
        </p:txBody>
      </p:sp>
      <p:sp>
        <p:nvSpPr>
          <p:cNvPr id="236552" name="Text Box 8">
            <a:extLst>
              <a:ext uri="{FF2B5EF4-FFF2-40B4-BE49-F238E27FC236}">
                <a16:creationId xmlns:a16="http://schemas.microsoft.com/office/drawing/2014/main" id="{283CC80B-F882-43D3-9FCB-927CD4085ACA}"/>
              </a:ext>
            </a:extLst>
          </p:cNvPr>
          <p:cNvSpPr txBox="1">
            <a:spLocks noChangeArrowheads="1"/>
          </p:cNvSpPr>
          <p:nvPr/>
        </p:nvSpPr>
        <p:spPr bwMode="auto">
          <a:xfrm>
            <a:off x="115888" y="1695450"/>
            <a:ext cx="3757612" cy="4654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A </a:t>
            </a:r>
            <a:r>
              <a:rPr lang="en-GB" altLang="en-US" sz="1700" dirty="0" err="1">
                <a:effectLst>
                  <a:outerShdw blurRad="38100" dist="38100" dir="2700000" algn="tl">
                    <a:srgbClr val="000000"/>
                  </a:outerShdw>
                </a:effectLst>
                <a:latin typeface="Arial" panose="020B0604020202020204" pitchFamily="34" charset="0"/>
              </a:rPr>
              <a:t>Flinn</a:t>
            </a:r>
            <a:r>
              <a:rPr lang="en-GB" altLang="en-US" sz="1700" dirty="0">
                <a:effectLst>
                  <a:outerShdw blurRad="38100" dist="38100" dir="2700000" algn="tl">
                    <a:srgbClr val="000000"/>
                  </a:outerShdw>
                </a:effectLst>
                <a:latin typeface="Arial" panose="020B0604020202020204" pitchFamily="34" charset="0"/>
              </a:rPr>
              <a:t> diagram separates strain ellipsoids that have </a:t>
            </a:r>
            <a:r>
              <a:rPr lang="en-GB" altLang="en-US" sz="1700" dirty="0">
                <a:solidFill>
                  <a:srgbClr val="FF6600"/>
                </a:solidFill>
                <a:effectLst>
                  <a:outerShdw blurRad="38100" dist="38100" dir="2700000" algn="tl">
                    <a:srgbClr val="000000"/>
                  </a:outerShdw>
                </a:effectLst>
                <a:latin typeface="Arial" panose="020B0604020202020204" pitchFamily="34" charset="0"/>
              </a:rPr>
              <a:t>prolate form</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rPr>
              <a:t>(cigar shapes)</a:t>
            </a:r>
            <a:r>
              <a:rPr lang="en-GB" altLang="en-US" sz="1700" dirty="0">
                <a:effectLst>
                  <a:outerShdw blurRad="38100" dist="38100" dir="2700000" algn="tl">
                    <a:srgbClr val="000000"/>
                  </a:outerShdw>
                </a:effectLst>
                <a:latin typeface="Arial" panose="020B0604020202020204" pitchFamily="34" charset="0"/>
              </a:rPr>
              <a:t> from ones that have </a:t>
            </a:r>
            <a:r>
              <a:rPr lang="en-GB" altLang="en-US" sz="1700" dirty="0">
                <a:solidFill>
                  <a:srgbClr val="FF6600"/>
                </a:solidFill>
                <a:effectLst>
                  <a:outerShdw blurRad="38100" dist="38100" dir="2700000" algn="tl">
                    <a:srgbClr val="000000"/>
                  </a:outerShdw>
                </a:effectLst>
                <a:latin typeface="Arial" panose="020B0604020202020204" pitchFamily="34" charset="0"/>
              </a:rPr>
              <a:t>oblate form</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rPr>
              <a:t>(pancake shapes)</a:t>
            </a:r>
            <a:r>
              <a:rPr lang="en-GB" altLang="en-US" sz="1700" dirty="0">
                <a:effectLst>
                  <a:outerShdw blurRad="38100" dist="38100" dir="2700000" algn="tl">
                    <a:srgbClr val="000000"/>
                  </a:outerShdw>
                </a:effectLst>
                <a:latin typeface="Arial" panose="020B0604020202020204" pitchFamily="34" charset="0"/>
              </a:rPr>
              <a:t>, that is, it separates deformations dominated by extension in one direction from ones dominated by flattening in one direction</a:t>
            </a:r>
          </a:p>
          <a:p>
            <a:pPr>
              <a:lnSpc>
                <a:spcPct val="120000"/>
              </a:lnSpc>
              <a:spcBef>
                <a:spcPct val="75000"/>
              </a:spcBef>
              <a:buClr>
                <a:schemeClr val="tx1"/>
              </a:buClr>
              <a:buFontTx/>
              <a:buChar char="•"/>
            </a:pPr>
            <a:r>
              <a:rPr lang="en-GB" altLang="en-US" sz="1700" dirty="0">
                <a:solidFill>
                  <a:srgbClr val="FF66CC"/>
                </a:solidFill>
                <a:effectLst>
                  <a:outerShdw blurRad="38100" dist="38100" dir="2700000" algn="tl">
                    <a:srgbClr val="000000"/>
                  </a:outerShdw>
                </a:effectLst>
                <a:latin typeface="Arial" panose="020B0604020202020204" pitchFamily="34" charset="0"/>
              </a:rPr>
              <a:t>Strain magnitude</a:t>
            </a:r>
            <a:r>
              <a:rPr lang="en-GB" altLang="en-US" sz="1700" dirty="0">
                <a:effectLst>
                  <a:outerShdw blurRad="38100" dist="38100" dir="2700000" algn="tl">
                    <a:srgbClr val="000000"/>
                  </a:outerShdw>
                </a:effectLst>
                <a:latin typeface="Arial" panose="020B0604020202020204" pitchFamily="34" charset="0"/>
              </a:rPr>
              <a:t> generally increases away from the origin, but it is not easy to compare strain magnitudes in the various parts of the diagram (the diagram is not designed for this)</a:t>
            </a:r>
          </a:p>
        </p:txBody>
      </p:sp>
      <p:grpSp>
        <p:nvGrpSpPr>
          <p:cNvPr id="236557" name="Group 13">
            <a:extLst>
              <a:ext uri="{FF2B5EF4-FFF2-40B4-BE49-F238E27FC236}">
                <a16:creationId xmlns:a16="http://schemas.microsoft.com/office/drawing/2014/main" id="{75C603AF-4B7F-4F9B-B0C9-0E846032367E}"/>
              </a:ext>
            </a:extLst>
          </p:cNvPr>
          <p:cNvGrpSpPr>
            <a:grpSpLocks/>
          </p:cNvGrpSpPr>
          <p:nvPr/>
        </p:nvGrpSpPr>
        <p:grpSpPr bwMode="auto">
          <a:xfrm>
            <a:off x="4057650" y="1728788"/>
            <a:ext cx="4918075" cy="4730750"/>
            <a:chOff x="2556" y="1089"/>
            <a:chExt cx="3098" cy="2980"/>
          </a:xfrm>
        </p:grpSpPr>
        <p:sp>
          <p:nvSpPr>
            <p:cNvPr id="236550" name="Rectangle 6">
              <a:extLst>
                <a:ext uri="{FF2B5EF4-FFF2-40B4-BE49-F238E27FC236}">
                  <a16:creationId xmlns:a16="http://schemas.microsoft.com/office/drawing/2014/main" id="{8F0905F3-3197-46C4-AD94-E0D2616D54BA}"/>
                </a:ext>
              </a:extLst>
            </p:cNvPr>
            <p:cNvSpPr>
              <a:spLocks noChangeArrowheads="1"/>
            </p:cNvSpPr>
            <p:nvPr/>
          </p:nvSpPr>
          <p:spPr bwMode="auto">
            <a:xfrm>
              <a:off x="2556" y="1089"/>
              <a:ext cx="3098" cy="298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36548" name="Picture 2" descr="GR14.jpg">
              <a:extLst>
                <a:ext uri="{FF2B5EF4-FFF2-40B4-BE49-F238E27FC236}">
                  <a16:creationId xmlns:a16="http://schemas.microsoft.com/office/drawing/2014/main" id="{6EE79F7C-CBCD-42B1-938F-8AA03409A217}"/>
                </a:ext>
              </a:extLst>
            </p:cNvPr>
            <p:cNvPicPr>
              <a:picLocks noChangeAspect="1"/>
            </p:cNvPicPr>
            <p:nvPr/>
          </p:nvPicPr>
          <p:blipFill>
            <a:blip r:embed="rId3">
              <a:extLst>
                <a:ext uri="{28A0092B-C50C-407E-A947-70E740481C1C}">
                  <a14:useLocalDpi xmlns:a14="http://schemas.microsoft.com/office/drawing/2010/main" val="0"/>
                </a:ext>
              </a:extLst>
            </a:blip>
            <a:srcRect l="4343" b="55002"/>
            <a:stretch>
              <a:fillRect/>
            </a:stretch>
          </p:blipFill>
          <p:spPr bwMode="auto">
            <a:xfrm>
              <a:off x="2635" y="1170"/>
              <a:ext cx="2940" cy="27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6553" name="Rectangle 9">
              <a:extLst>
                <a:ext uri="{FF2B5EF4-FFF2-40B4-BE49-F238E27FC236}">
                  <a16:creationId xmlns:a16="http://schemas.microsoft.com/office/drawing/2014/main" id="{9FC6EE85-08FC-4E1C-98C3-576CD833C17C}"/>
                </a:ext>
              </a:extLst>
            </p:cNvPr>
            <p:cNvSpPr>
              <a:spLocks noChangeArrowheads="1"/>
            </p:cNvSpPr>
            <p:nvPr/>
          </p:nvSpPr>
          <p:spPr bwMode="auto">
            <a:xfrm>
              <a:off x="2769" y="1366"/>
              <a:ext cx="324" cy="12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6554" name="Rectangle 10">
              <a:extLst>
                <a:ext uri="{FF2B5EF4-FFF2-40B4-BE49-F238E27FC236}">
                  <a16:creationId xmlns:a16="http://schemas.microsoft.com/office/drawing/2014/main" id="{64F37C50-B8D4-477A-8DE3-C4B89D165D0B}"/>
                </a:ext>
              </a:extLst>
            </p:cNvPr>
            <p:cNvSpPr>
              <a:spLocks noChangeArrowheads="1"/>
            </p:cNvSpPr>
            <p:nvPr/>
          </p:nvSpPr>
          <p:spPr bwMode="auto">
            <a:xfrm>
              <a:off x="4961" y="3490"/>
              <a:ext cx="308" cy="13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6555" name="Rectangle 11">
              <a:extLst>
                <a:ext uri="{FF2B5EF4-FFF2-40B4-BE49-F238E27FC236}">
                  <a16:creationId xmlns:a16="http://schemas.microsoft.com/office/drawing/2014/main" id="{CA4087B5-8DBA-4DD8-9555-FA572DF20DBE}"/>
                </a:ext>
              </a:extLst>
            </p:cNvPr>
            <p:cNvSpPr>
              <a:spLocks noChangeArrowheads="1"/>
            </p:cNvSpPr>
            <p:nvPr/>
          </p:nvSpPr>
          <p:spPr bwMode="auto">
            <a:xfrm>
              <a:off x="4786" y="1630"/>
              <a:ext cx="372" cy="15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a:extLst>
              <a:ext uri="{FF2B5EF4-FFF2-40B4-BE49-F238E27FC236}">
                <a16:creationId xmlns:a16="http://schemas.microsoft.com/office/drawing/2014/main" id="{46A6DC1E-03A7-4079-A2B7-2233A624D3E1}"/>
              </a:ext>
            </a:extLst>
          </p:cNvPr>
          <p:cNvSpPr>
            <a:spLocks noGrp="1" noChangeArrowheads="1"/>
          </p:cNvSpPr>
          <p:nvPr>
            <p:ph type="title"/>
          </p:nvPr>
        </p:nvSpPr>
        <p:spPr>
          <a:noFill/>
        </p:spPr>
        <p:txBody>
          <a:bodyPr/>
          <a:lstStyle/>
          <a:p>
            <a:r>
              <a:rPr lang="en-GB" altLang="en-US">
                <a:effectLst/>
              </a:rPr>
              <a:t>The Hsü diagram</a:t>
            </a:r>
          </a:p>
        </p:txBody>
      </p:sp>
      <p:sp>
        <p:nvSpPr>
          <p:cNvPr id="241667" name="Rectangle 3">
            <a:extLst>
              <a:ext uri="{FF2B5EF4-FFF2-40B4-BE49-F238E27FC236}">
                <a16:creationId xmlns:a16="http://schemas.microsoft.com/office/drawing/2014/main" id="{4A242E8E-38F3-436A-87D7-75D6242E8C6C}"/>
              </a:ext>
            </a:extLst>
          </p:cNvPr>
          <p:cNvSpPr>
            <a:spLocks noGrp="1" noChangeArrowheads="1"/>
          </p:cNvSpPr>
          <p:nvPr>
            <p:ph type="body" sz="half" idx="1"/>
          </p:nvPr>
        </p:nvSpPr>
        <p:spPr>
          <a:xfrm>
            <a:off x="122238" y="811213"/>
            <a:ext cx="8880475" cy="800100"/>
          </a:xfrm>
          <a:noFill/>
        </p:spPr>
        <p:txBody>
          <a:bodyPr/>
          <a:lstStyle/>
          <a:p>
            <a:pPr marL="177800" indent="-177800">
              <a:spcBef>
                <a:spcPct val="75000"/>
              </a:spcBef>
            </a:pPr>
            <a:r>
              <a:rPr lang="en-GB" altLang="en-US" sz="1700">
                <a:effectLst/>
              </a:rPr>
              <a:t>An alternative plot that allows strain magnitude to be shown, albeit in a way that takes some getting used to, is the </a:t>
            </a:r>
            <a:r>
              <a:rPr lang="en-GB" altLang="en-US" sz="1700">
                <a:solidFill>
                  <a:srgbClr val="FF6600"/>
                </a:solidFill>
                <a:effectLst/>
              </a:rPr>
              <a:t>Hsü diagram</a:t>
            </a:r>
          </a:p>
        </p:txBody>
      </p:sp>
      <p:sp>
        <p:nvSpPr>
          <p:cNvPr id="241675" name="Text Box 11">
            <a:extLst>
              <a:ext uri="{FF2B5EF4-FFF2-40B4-BE49-F238E27FC236}">
                <a16:creationId xmlns:a16="http://schemas.microsoft.com/office/drawing/2014/main" id="{1F6A09B6-1142-4D35-A405-AC5DCECCE8A4}"/>
              </a:ext>
            </a:extLst>
          </p:cNvPr>
          <p:cNvSpPr txBox="1">
            <a:spLocks noChangeArrowheads="1"/>
          </p:cNvSpPr>
          <p:nvPr/>
        </p:nvSpPr>
        <p:spPr bwMode="auto">
          <a:xfrm>
            <a:off x="106363" y="1784350"/>
            <a:ext cx="4602163" cy="4423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Strain magnitude is specified by the parameter</a:t>
            </a:r>
          </a:p>
          <a:p>
            <a:pPr>
              <a:spcBef>
                <a:spcPct val="50000"/>
              </a:spcBef>
              <a:buClr>
                <a:schemeClr val="tx1"/>
              </a:buClr>
            </a:pP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ε</a:t>
            </a:r>
            <a:r>
              <a:rPr lang="en-GB" altLang="en-US" sz="8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S</a:t>
            </a:r>
            <a:r>
              <a:rPr lang="en-GB" altLang="en-US" sz="1700" dirty="0">
                <a:solidFill>
                  <a:srgbClr val="FFFF00"/>
                </a:solidFill>
                <a:effectLst>
                  <a:outerShdw blurRad="38100" dist="38100" dir="2700000" algn="tl">
                    <a:srgbClr val="000000"/>
                  </a:outerShdw>
                </a:effectLst>
                <a:latin typeface="Arial" panose="020B0604020202020204" pitchFamily="34" charset="0"/>
              </a:rPr>
              <a:t>  =  3</a:t>
            </a:r>
            <a:r>
              <a:rPr lang="en-GB" altLang="en-US" sz="1700" baseline="30000" dirty="0">
                <a:solidFill>
                  <a:srgbClr val="FFFF00"/>
                </a:solidFill>
                <a:effectLst>
                  <a:outerShdw blurRad="38100" dist="38100" dir="2700000" algn="tl">
                    <a:srgbClr val="000000"/>
                  </a:outerShdw>
                </a:effectLst>
                <a:latin typeface="Arial" panose="020B0604020202020204" pitchFamily="34" charset="0"/>
              </a:rPr>
              <a:t>-½ </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ε</a:t>
            </a:r>
            <a:r>
              <a:rPr lang="el-GR" altLang="en-US" sz="8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 </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ε</a:t>
            </a:r>
            <a:r>
              <a:rPr lang="el-GR" altLang="en-US" sz="8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2</a:t>
            </a:r>
            <a:r>
              <a:rPr lang="en-GB" altLang="en-US" sz="1700" dirty="0">
                <a:solidFill>
                  <a:srgbClr val="FFFF00"/>
                </a:solidFill>
                <a:effectLst>
                  <a:outerShdw blurRad="38100" dist="38100" dir="2700000" algn="tl">
                    <a:srgbClr val="000000"/>
                  </a:outerShdw>
                </a:effectLst>
                <a:latin typeface="Arial" panose="020B0604020202020204" pitchFamily="34" charset="0"/>
              </a:rPr>
              <a:t>)</a:t>
            </a:r>
            <a:r>
              <a:rPr lang="en-GB" altLang="en-US" sz="600" dirty="0">
                <a:solidFill>
                  <a:srgbClr val="FFFF00"/>
                </a:solidFill>
                <a:effectLst>
                  <a:outerShdw blurRad="38100" dist="38100" dir="2700000" algn="tl">
                    <a:srgbClr val="000000"/>
                  </a:outerShdw>
                </a:effectLst>
                <a:latin typeface="Arial" panose="020B0604020202020204" pitchFamily="34" charset="0"/>
              </a:rPr>
              <a:t> </a:t>
            </a:r>
            <a:r>
              <a:rPr lang="en-GB" altLang="en-US" sz="1700" baseline="30000" dirty="0">
                <a:solidFill>
                  <a:srgbClr val="FFFF00"/>
                </a:solidFill>
                <a:effectLst>
                  <a:outerShdw blurRad="38100" dist="38100" dir="2700000" algn="tl">
                    <a:srgbClr val="000000"/>
                  </a:outerShdw>
                </a:effectLst>
                <a:latin typeface="Arial" panose="020B0604020202020204" pitchFamily="34" charset="0"/>
              </a:rPr>
              <a:t>2</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ε</a:t>
            </a:r>
            <a:r>
              <a:rPr lang="el-GR" altLang="en-US" sz="8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2 </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ε</a:t>
            </a:r>
            <a:r>
              <a:rPr lang="el-GR" altLang="en-US" sz="8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sz="1700" dirty="0">
                <a:solidFill>
                  <a:srgbClr val="FFFF00"/>
                </a:solidFill>
                <a:effectLst>
                  <a:outerShdw blurRad="38100" dist="38100" dir="2700000" algn="tl">
                    <a:srgbClr val="000000"/>
                  </a:outerShdw>
                </a:effectLst>
                <a:latin typeface="Arial" panose="020B0604020202020204" pitchFamily="34" charset="0"/>
              </a:rPr>
              <a:t>)</a:t>
            </a:r>
            <a:r>
              <a:rPr lang="en-GB" altLang="en-US" sz="600" dirty="0">
                <a:solidFill>
                  <a:srgbClr val="FFFF00"/>
                </a:solidFill>
                <a:effectLst>
                  <a:outerShdw blurRad="38100" dist="38100" dir="2700000" algn="tl">
                    <a:srgbClr val="000000"/>
                  </a:outerShdw>
                </a:effectLst>
                <a:latin typeface="Arial" panose="020B0604020202020204" pitchFamily="34" charset="0"/>
              </a:rPr>
              <a:t> </a:t>
            </a:r>
            <a:r>
              <a:rPr lang="en-GB" altLang="en-US" sz="1700" baseline="30000" dirty="0">
                <a:solidFill>
                  <a:srgbClr val="FFFF00"/>
                </a:solidFill>
                <a:effectLst>
                  <a:outerShdw blurRad="38100" dist="38100" dir="2700000" algn="tl">
                    <a:srgbClr val="000000"/>
                  </a:outerShdw>
                </a:effectLst>
                <a:latin typeface="Arial" panose="020B0604020202020204" pitchFamily="34" charset="0"/>
              </a:rPr>
              <a:t>2</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ε</a:t>
            </a:r>
            <a:r>
              <a:rPr lang="el-GR" altLang="en-US" sz="8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3 </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ε</a:t>
            </a:r>
            <a:r>
              <a:rPr lang="el-GR" altLang="en-US" sz="8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solidFill>
                  <a:srgbClr val="FFFF00"/>
                </a:solidFill>
                <a:effectLst>
                  <a:outerShdw blurRad="38100" dist="38100" dir="2700000" algn="tl">
                    <a:srgbClr val="000000"/>
                  </a:outerShdw>
                </a:effectLst>
                <a:latin typeface="Arial" panose="020B0604020202020204" pitchFamily="34" charset="0"/>
              </a:rPr>
              <a:t>)</a:t>
            </a:r>
            <a:r>
              <a:rPr lang="en-GB" altLang="en-US" sz="600" dirty="0">
                <a:solidFill>
                  <a:srgbClr val="FFFF00"/>
                </a:solidFill>
                <a:effectLst>
                  <a:outerShdw blurRad="38100" dist="38100" dir="2700000" algn="tl">
                    <a:srgbClr val="000000"/>
                  </a:outerShdw>
                </a:effectLst>
                <a:latin typeface="Arial" panose="020B0604020202020204" pitchFamily="34" charset="0"/>
              </a:rPr>
              <a:t> </a:t>
            </a:r>
            <a:r>
              <a:rPr lang="en-GB" altLang="en-US" sz="1700" baseline="30000" dirty="0">
                <a:solidFill>
                  <a:srgbClr val="FFFF00"/>
                </a:solidFill>
                <a:effectLst>
                  <a:outerShdw blurRad="38100" dist="38100" dir="2700000" algn="tl">
                    <a:srgbClr val="000000"/>
                  </a:outerShdw>
                </a:effectLst>
                <a:latin typeface="Arial" panose="020B0604020202020204" pitchFamily="34" charset="0"/>
              </a:rPr>
              <a:t>2 </a:t>
            </a:r>
            <a:r>
              <a:rPr lang="en-GB" altLang="en-US" sz="1700" dirty="0">
                <a:solidFill>
                  <a:srgbClr val="FFFF00"/>
                </a:solidFill>
                <a:effectLst>
                  <a:outerShdw blurRad="38100" dist="38100" dir="2700000" algn="tl">
                    <a:srgbClr val="000000"/>
                  </a:outerShdw>
                </a:effectLst>
                <a:latin typeface="Arial" panose="020B0604020202020204" pitchFamily="34" charset="0"/>
              </a:rPr>
              <a:t>]</a:t>
            </a:r>
            <a:r>
              <a:rPr lang="en-GB" altLang="en-US" sz="600" dirty="0">
                <a:solidFill>
                  <a:srgbClr val="FFFF00"/>
                </a:solidFill>
                <a:effectLst>
                  <a:outerShdw blurRad="38100" dist="38100" dir="2700000" algn="tl">
                    <a:srgbClr val="000000"/>
                  </a:outerShdw>
                </a:effectLst>
                <a:latin typeface="Arial" panose="020B0604020202020204" pitchFamily="34" charset="0"/>
              </a:rPr>
              <a:t> </a:t>
            </a:r>
            <a:r>
              <a:rPr lang="en-GB" altLang="en-US" sz="1700" baseline="30000" dirty="0">
                <a:solidFill>
                  <a:srgbClr val="FFFF00"/>
                </a:solidFill>
                <a:effectLst>
                  <a:outerShdw blurRad="38100" dist="38100" dir="2700000" algn="tl">
                    <a:srgbClr val="000000"/>
                  </a:outerShdw>
                </a:effectLst>
                <a:latin typeface="Arial" panose="020B0604020202020204" pitchFamily="34" charset="0"/>
              </a:rPr>
              <a:t>½</a:t>
            </a:r>
          </a:p>
          <a:p>
            <a:pPr>
              <a:lnSpc>
                <a:spcPct val="120000"/>
              </a:lnSpc>
              <a:spcBef>
                <a:spcPct val="25000"/>
              </a:spcBef>
              <a:buClr>
                <a:schemeClr val="tx1"/>
              </a:buClr>
            </a:pPr>
            <a:r>
              <a:rPr lang="en-GB" altLang="en-US" sz="1700" dirty="0">
                <a:effectLst>
                  <a:outerShdw blurRad="38100" dist="38100" dir="2700000" algn="tl">
                    <a:srgbClr val="000000"/>
                  </a:outerShdw>
                </a:effectLst>
                <a:latin typeface="Arial" panose="020B0604020202020204" pitchFamily="34" charset="0"/>
              </a:rPr>
              <a:t>	in which </a:t>
            </a:r>
            <a:r>
              <a:rPr lang="en-GB" altLang="en-US" sz="2000" i="1" dirty="0">
                <a:effectLst>
                  <a:outerShdw blurRad="38100" dist="38100" dir="2700000" algn="tl">
                    <a:srgbClr val="000000"/>
                  </a:outerShdw>
                </a:effectLst>
                <a:latin typeface="Symbol" panose="05050102010706020507" pitchFamily="18" charset="2"/>
              </a:rPr>
              <a:t>e</a:t>
            </a:r>
            <a:r>
              <a:rPr lang="en-GB" altLang="en-US" sz="1700" baseline="-25000" dirty="0">
                <a:effectLst>
                  <a:outerShdw blurRad="38100" dist="38100" dir="2700000" algn="tl">
                    <a:srgbClr val="000000"/>
                  </a:outerShdw>
                </a:effectLst>
                <a:latin typeface="Arial" panose="020B0604020202020204" pitchFamily="34" charset="0"/>
              </a:rPr>
              <a:t>1</a:t>
            </a:r>
            <a:r>
              <a:rPr lang="en-GB" altLang="en-US" sz="1700" dirty="0">
                <a:effectLst>
                  <a:outerShdw blurRad="38100" dist="38100" dir="2700000" algn="tl">
                    <a:srgbClr val="000000"/>
                  </a:outerShdw>
                </a:effectLst>
                <a:latin typeface="Arial" panose="020B0604020202020204" pitchFamily="34" charset="0"/>
              </a:rPr>
              <a:t>, </a:t>
            </a:r>
            <a:r>
              <a:rPr lang="en-GB" altLang="en-US" sz="2000" i="1" dirty="0">
                <a:effectLst>
                  <a:outerShdw blurRad="38100" dist="38100" dir="2700000" algn="tl">
                    <a:srgbClr val="000000"/>
                  </a:outerShdw>
                </a:effectLst>
                <a:latin typeface="Symbol" panose="05050102010706020507" pitchFamily="18" charset="2"/>
              </a:rPr>
              <a:t>e</a:t>
            </a:r>
            <a:r>
              <a:rPr lang="en-GB" altLang="en-US" sz="1700" baseline="-25000" dirty="0">
                <a:effectLst>
                  <a:outerShdw blurRad="38100" dist="38100" dir="2700000" algn="tl">
                    <a:srgbClr val="000000"/>
                  </a:outerShdw>
                </a:effectLst>
                <a:latin typeface="Arial" panose="020B0604020202020204" pitchFamily="34" charset="0"/>
              </a:rPr>
              <a:t>2</a:t>
            </a:r>
            <a:r>
              <a:rPr lang="en-GB" altLang="en-US" sz="1700" dirty="0">
                <a:effectLst>
                  <a:outerShdw blurRad="38100" dist="38100" dir="2700000" algn="tl">
                    <a:srgbClr val="000000"/>
                  </a:outerShdw>
                </a:effectLst>
                <a:latin typeface="Arial" panose="020B0604020202020204" pitchFamily="34" charset="0"/>
              </a:rPr>
              <a:t> and</a:t>
            </a:r>
            <a:r>
              <a:rPr lang="en-GB" altLang="en-US" sz="2000" dirty="0">
                <a:effectLst>
                  <a:outerShdw blurRad="38100" dist="38100" dir="2700000" algn="tl">
                    <a:srgbClr val="000000"/>
                  </a:outerShdw>
                </a:effectLst>
                <a:latin typeface="Arial" panose="020B0604020202020204" pitchFamily="34" charset="0"/>
              </a:rPr>
              <a:t> </a:t>
            </a:r>
            <a:r>
              <a:rPr lang="en-GB" altLang="en-US" sz="2000" i="1" dirty="0">
                <a:effectLst>
                  <a:outerShdw blurRad="38100" dist="38100" dir="2700000" algn="tl">
                    <a:srgbClr val="000000"/>
                  </a:outerShdw>
                </a:effectLst>
                <a:latin typeface="Symbol" panose="05050102010706020507" pitchFamily="18" charset="2"/>
              </a:rPr>
              <a:t>e</a:t>
            </a:r>
            <a:r>
              <a:rPr lang="en-GB" altLang="en-US" sz="1700" baseline="-25000" dirty="0">
                <a:effectLst>
                  <a:outerShdw blurRad="38100" dist="38100" dir="2700000" algn="tl">
                    <a:srgbClr val="000000"/>
                  </a:outerShdw>
                </a:effectLst>
                <a:latin typeface="Arial" panose="020B0604020202020204" pitchFamily="34" charset="0"/>
              </a:rPr>
              <a:t>3</a:t>
            </a:r>
            <a:r>
              <a:rPr lang="en-GB" altLang="en-US" sz="2000" dirty="0">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are the </a:t>
            </a:r>
            <a:r>
              <a:rPr lang="en-GB" altLang="en-US" sz="1700" dirty="0">
                <a:solidFill>
                  <a:srgbClr val="FF66CC"/>
                </a:solidFill>
                <a:effectLst>
                  <a:outerShdw blurRad="38100" dist="38100" dir="2700000" algn="tl">
                    <a:srgbClr val="000000"/>
                  </a:outerShdw>
                </a:effectLst>
                <a:latin typeface="Arial" panose="020B0604020202020204" pitchFamily="34" charset="0"/>
              </a:rPr>
              <a:t>logarithmic principal strains</a:t>
            </a:r>
            <a:r>
              <a:rPr lang="en-GB" altLang="en-US" sz="1700" dirty="0">
                <a:effectLst>
                  <a:outerShdw blurRad="38100" dist="38100" dir="2700000" algn="tl">
                    <a:srgbClr val="000000"/>
                  </a:outerShdw>
                </a:effectLst>
              </a:rPr>
              <a:t> </a:t>
            </a:r>
            <a:endParaRPr lang="en-GB" altLang="en-US" sz="1700" dirty="0">
              <a:effectLst>
                <a:outerShdw blurRad="38100" dist="38100" dir="2700000" algn="tl">
                  <a:srgbClr val="000000"/>
                </a:outerShdw>
              </a:effectLst>
              <a:latin typeface="Arial" panose="020B0604020202020204" pitchFamily="34" charset="0"/>
            </a:endParaRP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shape of the strain ellipsoid is specified using the so-called </a:t>
            </a:r>
            <a:r>
              <a:rPr lang="en-GB" altLang="en-US" sz="1700" dirty="0">
                <a:solidFill>
                  <a:srgbClr val="FF66CC"/>
                </a:solidFill>
                <a:effectLst>
                  <a:outerShdw blurRad="38100" dist="38100" dir="2700000" algn="tl">
                    <a:srgbClr val="000000"/>
                  </a:outerShdw>
                </a:effectLst>
                <a:latin typeface="Arial" panose="020B0604020202020204" pitchFamily="34" charset="0"/>
              </a:rPr>
              <a:t>Lode parameter</a:t>
            </a: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ν</a:t>
            </a:r>
            <a:r>
              <a:rPr lang="en-GB" altLang="en-US" sz="1700" i="1" dirty="0">
                <a:effectLst>
                  <a:outerShdw blurRad="38100" dist="38100" dir="2700000" algn="tl">
                    <a:srgbClr val="000000"/>
                  </a:outerShdw>
                </a:effectLst>
                <a:latin typeface="Symbol" panose="05050102010706020507" pitchFamily="18" charset="2"/>
              </a:rPr>
              <a:t> </a:t>
            </a:r>
            <a:r>
              <a:rPr lang="en-GB" altLang="en-US" sz="1700" dirty="0">
                <a:effectLst>
                  <a:outerShdw blurRad="38100" dist="38100" dir="2700000" algn="tl">
                    <a:srgbClr val="000000"/>
                  </a:outerShdw>
                </a:effectLst>
                <a:latin typeface="Arial" panose="020B0604020202020204" pitchFamily="34" charset="0"/>
              </a:rPr>
              <a:t>,</a:t>
            </a:r>
          </a:p>
          <a:p>
            <a:pPr>
              <a:lnSpc>
                <a:spcPct val="120000"/>
              </a:lnSpc>
              <a:spcBef>
                <a:spcPct val="50000"/>
              </a:spcBef>
              <a:buClr>
                <a:schemeClr val="tx1"/>
              </a:buClr>
            </a:pP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ν</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n-GB" altLang="en-US" sz="1700" spc="150" dirty="0">
                <a:solidFill>
                  <a:srgbClr val="FFFF00"/>
                </a:solidFill>
                <a:effectLst>
                  <a:outerShdw blurRad="38100" dist="38100" dir="2700000" algn="tl">
                    <a:srgbClr val="000000"/>
                  </a:outerShdw>
                </a:effectLst>
                <a:latin typeface="Arial" panose="020B0604020202020204" pitchFamily="34" charset="0"/>
              </a:rPr>
              <a:t>(</a:t>
            </a:r>
            <a:r>
              <a:rPr lang="en-GB" altLang="en-US" sz="1700" dirty="0">
                <a:solidFill>
                  <a:srgbClr val="FFFF00"/>
                </a:solidFill>
                <a:effectLst>
                  <a:outerShdw blurRad="38100" dist="38100" dir="2700000" algn="tl">
                    <a:srgbClr val="000000"/>
                  </a:outerShdw>
                </a:effectLst>
                <a:latin typeface="Arial" panose="020B0604020202020204" pitchFamily="34" charset="0"/>
              </a:rPr>
              <a:t>2</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ε</a:t>
            </a:r>
            <a:r>
              <a:rPr lang="en-GB" altLang="en-US" sz="8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2</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ε</a:t>
            </a:r>
            <a:r>
              <a:rPr lang="en-GB" altLang="en-US" sz="8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ε</a:t>
            </a:r>
            <a:r>
              <a:rPr lang="en-GB" altLang="en-US" sz="8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sz="1700" dirty="0">
                <a:solidFill>
                  <a:srgbClr val="FFFF00"/>
                </a:solidFill>
                <a:effectLst>
                  <a:outerShdw blurRad="38100" dist="38100" dir="2700000" algn="tl">
                    <a:srgbClr val="000000"/>
                  </a:outerShdw>
                </a:effectLst>
                <a:latin typeface="Arial" panose="020B0604020202020204" pitchFamily="34" charset="0"/>
              </a:rPr>
              <a:t>)</a:t>
            </a:r>
            <a:r>
              <a:rPr lang="en-GB" altLang="en-US" sz="800" dirty="0">
                <a:solidFill>
                  <a:srgbClr val="FFFF00"/>
                </a:solidFill>
                <a:effectLst>
                  <a:outerShdw blurRad="38100" dist="38100" dir="2700000" algn="tl">
                    <a:srgbClr val="000000"/>
                  </a:outerShdw>
                </a:effectLst>
                <a:latin typeface="Arial" panose="020B0604020202020204" pitchFamily="34"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a:t>
            </a:r>
            <a:r>
              <a:rPr lang="en-GB" altLang="en-US" sz="800" dirty="0">
                <a:solidFill>
                  <a:srgbClr val="FFFF00"/>
                </a:solidFill>
                <a:effectLst>
                  <a:outerShdw blurRad="38100" dist="38100" dir="2700000" algn="tl">
                    <a:srgbClr val="000000"/>
                  </a:outerShdw>
                </a:effectLst>
                <a:latin typeface="Arial" panose="020B0604020202020204" pitchFamily="34"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ε</a:t>
            </a:r>
            <a:r>
              <a:rPr lang="en-GB" altLang="en-US" sz="8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ε</a:t>
            </a:r>
            <a:r>
              <a:rPr lang="en-GB" altLang="en-US" sz="8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n-GB" altLang="en-US" sz="1700" spc="200"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sz="1700" dirty="0">
                <a:solidFill>
                  <a:srgbClr val="FFFF00"/>
                </a:solidFill>
                <a:effectLst>
                  <a:outerShdw blurRad="38100" dist="38100" dir="2700000" algn="tl">
                    <a:srgbClr val="000000"/>
                  </a:outerShdw>
                </a:effectLst>
                <a:latin typeface="Arial" panose="020B0604020202020204" pitchFamily="34" charset="0"/>
              </a:rPr>
              <a:t>)</a:t>
            </a:r>
          </a:p>
          <a:p>
            <a:pPr>
              <a:lnSpc>
                <a:spcPct val="120000"/>
              </a:lnSpc>
              <a:spcBef>
                <a:spcPct val="10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two parameters are presented on a radial plot with strain magnitude increasing away from the origin</a:t>
            </a:r>
          </a:p>
        </p:txBody>
      </p:sp>
      <p:grpSp>
        <p:nvGrpSpPr>
          <p:cNvPr id="241680" name="Group 16">
            <a:extLst>
              <a:ext uri="{FF2B5EF4-FFF2-40B4-BE49-F238E27FC236}">
                <a16:creationId xmlns:a16="http://schemas.microsoft.com/office/drawing/2014/main" id="{F897B1CC-9B96-42A8-93A8-465B964B64B4}"/>
              </a:ext>
            </a:extLst>
          </p:cNvPr>
          <p:cNvGrpSpPr>
            <a:grpSpLocks/>
          </p:cNvGrpSpPr>
          <p:nvPr/>
        </p:nvGrpSpPr>
        <p:grpSpPr bwMode="auto">
          <a:xfrm>
            <a:off x="4733925" y="1408113"/>
            <a:ext cx="4248150" cy="4803775"/>
            <a:chOff x="2982" y="887"/>
            <a:chExt cx="2676" cy="3026"/>
          </a:xfrm>
        </p:grpSpPr>
        <p:sp>
          <p:nvSpPr>
            <p:cNvPr id="241670" name="Rectangle 6">
              <a:extLst>
                <a:ext uri="{FF2B5EF4-FFF2-40B4-BE49-F238E27FC236}">
                  <a16:creationId xmlns:a16="http://schemas.microsoft.com/office/drawing/2014/main" id="{6BD090B5-F2DA-4D4B-9515-0E5B54EACFE7}"/>
                </a:ext>
              </a:extLst>
            </p:cNvPr>
            <p:cNvSpPr>
              <a:spLocks noChangeArrowheads="1"/>
            </p:cNvSpPr>
            <p:nvPr/>
          </p:nvSpPr>
          <p:spPr bwMode="auto">
            <a:xfrm>
              <a:off x="2982" y="887"/>
              <a:ext cx="2676" cy="3026"/>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41668" name="Picture 2" descr="GR14.jpg">
              <a:extLst>
                <a:ext uri="{FF2B5EF4-FFF2-40B4-BE49-F238E27FC236}">
                  <a16:creationId xmlns:a16="http://schemas.microsoft.com/office/drawing/2014/main" id="{25CB47AE-8311-4D61-964A-DF3B18CF1B34}"/>
                </a:ext>
              </a:extLst>
            </p:cNvPr>
            <p:cNvPicPr>
              <a:picLocks noChangeAspect="1"/>
            </p:cNvPicPr>
            <p:nvPr/>
          </p:nvPicPr>
          <p:blipFill>
            <a:blip r:embed="rId3">
              <a:extLst>
                <a:ext uri="{28A0092B-C50C-407E-A947-70E740481C1C}">
                  <a14:useLocalDpi xmlns:a14="http://schemas.microsoft.com/office/drawing/2010/main" val="0"/>
                </a:ext>
              </a:extLst>
            </a:blip>
            <a:srcRect t="47548"/>
            <a:stretch>
              <a:fillRect/>
            </a:stretch>
          </p:blipFill>
          <p:spPr bwMode="auto">
            <a:xfrm>
              <a:off x="3047" y="957"/>
              <a:ext cx="2530" cy="28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1671" name="Rectangle 7">
              <a:extLst>
                <a:ext uri="{FF2B5EF4-FFF2-40B4-BE49-F238E27FC236}">
                  <a16:creationId xmlns:a16="http://schemas.microsoft.com/office/drawing/2014/main" id="{8BB6341A-3E7E-46FE-B174-CD95BAE60D76}"/>
                </a:ext>
              </a:extLst>
            </p:cNvPr>
            <p:cNvSpPr>
              <a:spLocks noChangeArrowheads="1"/>
            </p:cNvSpPr>
            <p:nvPr/>
          </p:nvSpPr>
          <p:spPr bwMode="auto">
            <a:xfrm>
              <a:off x="3021" y="963"/>
              <a:ext cx="210" cy="237"/>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241678" name="Group 14">
              <a:extLst>
                <a:ext uri="{FF2B5EF4-FFF2-40B4-BE49-F238E27FC236}">
                  <a16:creationId xmlns:a16="http://schemas.microsoft.com/office/drawing/2014/main" id="{5740C500-0A62-4D55-9D16-6C1778A5A1FC}"/>
                </a:ext>
              </a:extLst>
            </p:cNvPr>
            <p:cNvGrpSpPr>
              <a:grpSpLocks/>
            </p:cNvGrpSpPr>
            <p:nvPr/>
          </p:nvGrpSpPr>
          <p:grpSpPr bwMode="auto">
            <a:xfrm>
              <a:off x="3277" y="2437"/>
              <a:ext cx="336" cy="428"/>
              <a:chOff x="3277" y="2437"/>
              <a:chExt cx="336" cy="428"/>
            </a:xfrm>
          </p:grpSpPr>
          <p:sp>
            <p:nvSpPr>
              <p:cNvPr id="241676" name="Rectangle 12">
                <a:extLst>
                  <a:ext uri="{FF2B5EF4-FFF2-40B4-BE49-F238E27FC236}">
                    <a16:creationId xmlns:a16="http://schemas.microsoft.com/office/drawing/2014/main" id="{1443F696-CB41-4B9C-B585-4342ED55A9FA}"/>
                  </a:ext>
                </a:extLst>
              </p:cNvPr>
              <p:cNvSpPr>
                <a:spLocks noChangeArrowheads="1"/>
              </p:cNvSpPr>
              <p:nvPr/>
            </p:nvSpPr>
            <p:spPr bwMode="auto">
              <a:xfrm>
                <a:off x="3277" y="2437"/>
                <a:ext cx="201" cy="17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1677" name="Text Box 13">
                <a:extLst>
                  <a:ext uri="{FF2B5EF4-FFF2-40B4-BE49-F238E27FC236}">
                    <a16:creationId xmlns:a16="http://schemas.microsoft.com/office/drawing/2014/main" id="{62C86E5C-97A1-4BF0-AF71-3EF875F2696A}"/>
                  </a:ext>
                </a:extLst>
              </p:cNvPr>
              <p:cNvSpPr txBox="1">
                <a:spLocks noChangeArrowheads="1"/>
              </p:cNvSpPr>
              <p:nvPr/>
            </p:nvSpPr>
            <p:spPr bwMode="auto">
              <a:xfrm>
                <a:off x="3278" y="2634"/>
                <a:ext cx="3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800" i="1">
                    <a:solidFill>
                      <a:schemeClr val="bg2"/>
                    </a:solidFill>
                    <a:effectLst/>
                    <a:latin typeface="Symbol" panose="05050102010706020507" pitchFamily="18" charset="2"/>
                  </a:rPr>
                  <a:t>e</a:t>
                </a:r>
                <a:r>
                  <a:rPr lang="en-GB" altLang="en-US" sz="1800" baseline="-25000">
                    <a:solidFill>
                      <a:schemeClr val="bg2"/>
                    </a:solidFill>
                    <a:effectLst/>
                  </a:rPr>
                  <a:t>s</a:t>
                </a:r>
              </a:p>
            </p:txBody>
          </p:sp>
        </p:grpSp>
      </p:gr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a:extLst>
              <a:ext uri="{FF2B5EF4-FFF2-40B4-BE49-F238E27FC236}">
                <a16:creationId xmlns:a16="http://schemas.microsoft.com/office/drawing/2014/main" id="{939825CA-8D30-443D-A723-C530E33A2072}"/>
              </a:ext>
            </a:extLst>
          </p:cNvPr>
          <p:cNvSpPr>
            <a:spLocks noGrp="1" noChangeArrowheads="1"/>
          </p:cNvSpPr>
          <p:nvPr>
            <p:ph type="title"/>
          </p:nvPr>
        </p:nvSpPr>
        <p:spPr>
          <a:noFill/>
        </p:spPr>
        <p:txBody>
          <a:bodyPr/>
          <a:lstStyle/>
          <a:p>
            <a:r>
              <a:rPr lang="en-GB" altLang="en-US">
                <a:effectLst/>
              </a:rPr>
              <a:t>Homogeneous and inhomogeneous strain</a:t>
            </a:r>
          </a:p>
        </p:txBody>
      </p:sp>
      <p:sp>
        <p:nvSpPr>
          <p:cNvPr id="232451" name="Rectangle 3">
            <a:extLst>
              <a:ext uri="{FF2B5EF4-FFF2-40B4-BE49-F238E27FC236}">
                <a16:creationId xmlns:a16="http://schemas.microsoft.com/office/drawing/2014/main" id="{E4073370-D021-4973-AED0-0606ECC7EF42}"/>
              </a:ext>
            </a:extLst>
          </p:cNvPr>
          <p:cNvSpPr>
            <a:spLocks noGrp="1" noChangeArrowheads="1"/>
          </p:cNvSpPr>
          <p:nvPr>
            <p:ph type="body" sz="half" idx="1"/>
          </p:nvPr>
        </p:nvSpPr>
        <p:spPr>
          <a:xfrm>
            <a:off x="114300" y="823913"/>
            <a:ext cx="4513263" cy="5927725"/>
          </a:xfrm>
          <a:noFill/>
        </p:spPr>
        <p:txBody>
          <a:bodyPr/>
          <a:lstStyle/>
          <a:p>
            <a:pPr marL="177800" indent="-177800">
              <a:spcBef>
                <a:spcPct val="75000"/>
              </a:spcBef>
            </a:pPr>
            <a:r>
              <a:rPr lang="en-GB" altLang="en-US" sz="1700" dirty="0">
                <a:effectLst/>
              </a:rPr>
              <a:t>Strain is </a:t>
            </a:r>
            <a:r>
              <a:rPr lang="en-GB" altLang="en-US" sz="1700" dirty="0">
                <a:solidFill>
                  <a:srgbClr val="FF6600"/>
                </a:solidFill>
                <a:effectLst/>
              </a:rPr>
              <a:t>homogeneous</a:t>
            </a:r>
            <a:r>
              <a:rPr lang="en-GB" altLang="en-US" sz="1700" dirty="0">
                <a:effectLst/>
              </a:rPr>
              <a:t> if changes in size and shape for each small part of a body are proportionately identical to that for the body as a whole. Planar surfaces </a:t>
            </a:r>
            <a:r>
              <a:rPr lang="en-GB" altLang="en-US" sz="1700" dirty="0">
                <a:solidFill>
                  <a:srgbClr val="FF66CC"/>
                </a:solidFill>
                <a:effectLst/>
              </a:rPr>
              <a:t>remain planar</a:t>
            </a:r>
            <a:r>
              <a:rPr lang="en-GB" altLang="en-US" sz="1700" dirty="0">
                <a:effectLst/>
              </a:rPr>
              <a:t>, straight lines </a:t>
            </a:r>
            <a:r>
              <a:rPr lang="en-GB" altLang="en-US" sz="1700" dirty="0">
                <a:solidFill>
                  <a:srgbClr val="FF66CC"/>
                </a:solidFill>
                <a:effectLst/>
              </a:rPr>
              <a:t>remain straight</a:t>
            </a:r>
            <a:r>
              <a:rPr lang="en-GB" altLang="en-US" sz="1700" dirty="0">
                <a:effectLst/>
              </a:rPr>
              <a:t> and parallel lines </a:t>
            </a:r>
            <a:r>
              <a:rPr lang="en-GB" altLang="en-US" sz="1700" dirty="0">
                <a:solidFill>
                  <a:srgbClr val="FF66CC"/>
                </a:solidFill>
                <a:effectLst/>
              </a:rPr>
              <a:t>remain parallel</a:t>
            </a:r>
          </a:p>
          <a:p>
            <a:pPr marL="177800" indent="-177800">
              <a:spcBef>
                <a:spcPct val="75000"/>
              </a:spcBef>
            </a:pPr>
            <a:r>
              <a:rPr lang="en-GB" altLang="en-US" sz="1700" dirty="0">
                <a:effectLst/>
              </a:rPr>
              <a:t>Strain is </a:t>
            </a:r>
            <a:r>
              <a:rPr lang="en-GB" altLang="en-US" sz="1700" dirty="0">
                <a:solidFill>
                  <a:srgbClr val="FF6600"/>
                </a:solidFill>
                <a:effectLst/>
              </a:rPr>
              <a:t>inhomogeneous</a:t>
            </a:r>
            <a:r>
              <a:rPr lang="en-GB" altLang="en-US" sz="1700" dirty="0">
                <a:effectLst/>
              </a:rPr>
              <a:t> if changes in size and shape vary from place to place within the body</a:t>
            </a:r>
          </a:p>
          <a:p>
            <a:pPr marL="177800" indent="-177800">
              <a:spcBef>
                <a:spcPct val="75000"/>
              </a:spcBef>
            </a:pPr>
            <a:r>
              <a:rPr lang="en-GB" altLang="en-US" sz="1700" dirty="0">
                <a:solidFill>
                  <a:srgbClr val="FF66CC"/>
                </a:solidFill>
                <a:effectLst/>
              </a:rPr>
              <a:t>The remarks so far in this presentation</a:t>
            </a:r>
            <a:r>
              <a:rPr lang="en-GB" altLang="en-US" sz="1700" dirty="0">
                <a:effectLst/>
              </a:rPr>
              <a:t> refer to homogeneous strain. Real strains are inhomogeneous (</a:t>
            </a:r>
            <a:r>
              <a:rPr lang="en-GB" altLang="en-US" sz="1700" i="1" dirty="0">
                <a:effectLst/>
              </a:rPr>
              <a:t>e.g</a:t>
            </a:r>
            <a:r>
              <a:rPr lang="en-GB" altLang="en-US" sz="1700" dirty="0">
                <a:effectLst/>
              </a:rPr>
              <a:t>., straight lines become curved during folding). However, </a:t>
            </a:r>
            <a:r>
              <a:rPr lang="en-GB" altLang="en-US" sz="1700" dirty="0" err="1">
                <a:effectLst/>
              </a:rPr>
              <a:t>inhomogeneously</a:t>
            </a:r>
            <a:r>
              <a:rPr lang="en-GB" altLang="en-US" sz="1700" dirty="0">
                <a:effectLst/>
              </a:rPr>
              <a:t> strained bodies can be analysed by </a:t>
            </a:r>
            <a:r>
              <a:rPr lang="en-GB" altLang="en-US" sz="1700" dirty="0">
                <a:solidFill>
                  <a:srgbClr val="FF66CC"/>
                </a:solidFill>
                <a:effectLst/>
              </a:rPr>
              <a:t>subdividing</a:t>
            </a:r>
            <a:r>
              <a:rPr lang="en-GB" altLang="en-US" sz="1700" dirty="0">
                <a:effectLst/>
              </a:rPr>
              <a:t> them into a collection of small, approximately homogeneously deformed, domains</a:t>
            </a:r>
          </a:p>
        </p:txBody>
      </p:sp>
      <p:grpSp>
        <p:nvGrpSpPr>
          <p:cNvPr id="232458" name="Group 10">
            <a:extLst>
              <a:ext uri="{FF2B5EF4-FFF2-40B4-BE49-F238E27FC236}">
                <a16:creationId xmlns:a16="http://schemas.microsoft.com/office/drawing/2014/main" id="{78B6D027-53D4-4D8A-B125-1FBA6CAB9815}"/>
              </a:ext>
            </a:extLst>
          </p:cNvPr>
          <p:cNvGrpSpPr>
            <a:grpSpLocks/>
          </p:cNvGrpSpPr>
          <p:nvPr/>
        </p:nvGrpSpPr>
        <p:grpSpPr bwMode="auto">
          <a:xfrm>
            <a:off x="4821238" y="984250"/>
            <a:ext cx="4146550" cy="4838700"/>
            <a:chOff x="3081" y="531"/>
            <a:chExt cx="2612" cy="3048"/>
          </a:xfrm>
        </p:grpSpPr>
        <p:sp>
          <p:nvSpPr>
            <p:cNvPr id="232457" name="Rectangle 9">
              <a:extLst>
                <a:ext uri="{FF2B5EF4-FFF2-40B4-BE49-F238E27FC236}">
                  <a16:creationId xmlns:a16="http://schemas.microsoft.com/office/drawing/2014/main" id="{4DE862B1-7E92-4F2F-82B2-10715CA2FEE3}"/>
                </a:ext>
              </a:extLst>
            </p:cNvPr>
            <p:cNvSpPr>
              <a:spLocks noChangeArrowheads="1"/>
            </p:cNvSpPr>
            <p:nvPr/>
          </p:nvSpPr>
          <p:spPr bwMode="auto">
            <a:xfrm>
              <a:off x="3081" y="531"/>
              <a:ext cx="2612" cy="304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32455" name="Picture 7" descr="05">
              <a:extLst>
                <a:ext uri="{FF2B5EF4-FFF2-40B4-BE49-F238E27FC236}">
                  <a16:creationId xmlns:a16="http://schemas.microsoft.com/office/drawing/2014/main" id="{914B7985-6FEF-4B59-9696-44C597C5EF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9" y="559"/>
              <a:ext cx="2550" cy="29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a:extLst>
              <a:ext uri="{FF2B5EF4-FFF2-40B4-BE49-F238E27FC236}">
                <a16:creationId xmlns:a16="http://schemas.microsoft.com/office/drawing/2014/main" id="{7087D4B9-AB4A-46E0-A8FF-A37B77BC6695}"/>
              </a:ext>
            </a:extLst>
          </p:cNvPr>
          <p:cNvSpPr>
            <a:spLocks noGrp="1" noChangeArrowheads="1"/>
          </p:cNvSpPr>
          <p:nvPr>
            <p:ph type="title"/>
          </p:nvPr>
        </p:nvSpPr>
        <p:spPr>
          <a:noFill/>
        </p:spPr>
        <p:txBody>
          <a:bodyPr/>
          <a:lstStyle/>
          <a:p>
            <a:r>
              <a:rPr lang="en-GB" altLang="en-US">
                <a:effectLst/>
              </a:rPr>
              <a:t>Progressive deformation  1</a:t>
            </a:r>
          </a:p>
        </p:txBody>
      </p:sp>
      <p:sp>
        <p:nvSpPr>
          <p:cNvPr id="252931" name="Rectangle 3">
            <a:extLst>
              <a:ext uri="{FF2B5EF4-FFF2-40B4-BE49-F238E27FC236}">
                <a16:creationId xmlns:a16="http://schemas.microsoft.com/office/drawing/2014/main" id="{0C6B3419-54CD-4AFB-B37D-CCC56D2F3F89}"/>
              </a:ext>
            </a:extLst>
          </p:cNvPr>
          <p:cNvSpPr>
            <a:spLocks noGrp="1" noChangeArrowheads="1"/>
          </p:cNvSpPr>
          <p:nvPr>
            <p:ph type="body" sz="half" idx="1"/>
          </p:nvPr>
        </p:nvSpPr>
        <p:spPr>
          <a:xfrm>
            <a:off x="166688" y="815975"/>
            <a:ext cx="8801100" cy="1868488"/>
          </a:xfrm>
          <a:noFill/>
        </p:spPr>
        <p:txBody>
          <a:bodyPr/>
          <a:lstStyle/>
          <a:p>
            <a:pPr marL="177800" indent="-177800">
              <a:spcBef>
                <a:spcPct val="75000"/>
              </a:spcBef>
            </a:pPr>
            <a:r>
              <a:rPr lang="en-GB" altLang="en-US" sz="1700">
                <a:effectLst/>
              </a:rPr>
              <a:t>Strain relates the undeformed to the deformed state but says nothing about the </a:t>
            </a:r>
            <a:r>
              <a:rPr lang="en-GB" altLang="en-US" sz="1700">
                <a:solidFill>
                  <a:srgbClr val="FF66CC"/>
                </a:solidFill>
                <a:effectLst/>
              </a:rPr>
              <a:t>deformation path</a:t>
            </a:r>
            <a:r>
              <a:rPr lang="en-GB" altLang="en-US" sz="1700">
                <a:effectLst/>
              </a:rPr>
              <a:t> between these two states</a:t>
            </a:r>
          </a:p>
          <a:p>
            <a:pPr marL="177800" indent="-177800">
              <a:spcBef>
                <a:spcPct val="50000"/>
              </a:spcBef>
            </a:pPr>
            <a:r>
              <a:rPr lang="en-GB" altLang="en-US" sz="1700">
                <a:effectLst/>
              </a:rPr>
              <a:t>The strain path, and its consequences for the structures that form, may be considered by splitting the deformation up into a series of small strain increments. The strain in each increment is described by the </a:t>
            </a:r>
            <a:r>
              <a:rPr lang="en-GB" altLang="en-US" sz="1700">
                <a:solidFill>
                  <a:srgbClr val="FF6600"/>
                </a:solidFill>
                <a:effectLst/>
              </a:rPr>
              <a:t>incremental strain ellipse</a:t>
            </a:r>
            <a:endParaRPr lang="en-GB" altLang="en-US" sz="1700">
              <a:effectLst/>
            </a:endParaRPr>
          </a:p>
        </p:txBody>
      </p:sp>
      <p:pic>
        <p:nvPicPr>
          <p:cNvPr id="252932" name="Picture 4" descr="06a">
            <a:extLst>
              <a:ext uri="{FF2B5EF4-FFF2-40B4-BE49-F238E27FC236}">
                <a16:creationId xmlns:a16="http://schemas.microsoft.com/office/drawing/2014/main" id="{33153358-7426-46DC-B440-263602CED38A}"/>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873125" y="2833688"/>
            <a:ext cx="3373438" cy="293846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52934" name="Picture 6" descr="6b">
            <a:extLst>
              <a:ext uri="{FF2B5EF4-FFF2-40B4-BE49-F238E27FC236}">
                <a16:creationId xmlns:a16="http://schemas.microsoft.com/office/drawing/2014/main" id="{D27394A5-F74F-413F-BB68-CBE791FD46EF}"/>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673600" y="2833688"/>
            <a:ext cx="3517900" cy="29464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2936" name="Text Box 8">
            <a:extLst>
              <a:ext uri="{FF2B5EF4-FFF2-40B4-BE49-F238E27FC236}">
                <a16:creationId xmlns:a16="http://schemas.microsoft.com/office/drawing/2014/main" id="{51BA3D18-DB39-4D5E-BAE8-EFC63C7FBDC3}"/>
              </a:ext>
            </a:extLst>
          </p:cNvPr>
          <p:cNvSpPr txBox="1">
            <a:spLocks noChangeArrowheads="1"/>
          </p:cNvSpPr>
          <p:nvPr/>
        </p:nvSpPr>
        <p:spPr bwMode="auto">
          <a:xfrm>
            <a:off x="328613" y="5911850"/>
            <a:ext cx="851693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Evolution of the finite strain ellipse during superposition of nine identical strain increments. The finite strain ellipse changes ellipticity and orientation; the incremental strain ellipse (given in step 1) is constant</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208" name="Text Box 16">
            <a:extLst>
              <a:ext uri="{FF2B5EF4-FFF2-40B4-BE49-F238E27FC236}">
                <a16:creationId xmlns:a16="http://schemas.microsoft.com/office/drawing/2014/main" id="{274DCE21-C392-48C7-885A-73DAC43B9270}"/>
              </a:ext>
            </a:extLst>
          </p:cNvPr>
          <p:cNvSpPr txBox="1">
            <a:spLocks noChangeArrowheads="1"/>
          </p:cNvSpPr>
          <p:nvPr/>
        </p:nvSpPr>
        <p:spPr bwMode="auto">
          <a:xfrm>
            <a:off x="4367213" y="3683000"/>
            <a:ext cx="4608512" cy="2706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04800" indent="-304800">
              <a:defRPr sz="1600">
                <a:solidFill>
                  <a:schemeClr val="tx1"/>
                </a:solidFill>
                <a:latin typeface="Helvetica" panose="020B0604020202020204" pitchFamily="34" charset="0"/>
              </a:defRPr>
            </a:lvl1pPr>
            <a:lvl2pPr marL="762000" indent="-304800">
              <a:defRPr sz="1600">
                <a:solidFill>
                  <a:schemeClr val="tx1"/>
                </a:solidFill>
                <a:latin typeface="Helvetica" panose="020B0604020202020204" pitchFamily="34" charset="0"/>
              </a:defRPr>
            </a:lvl2pPr>
            <a:lvl3pPr marL="1235075" indent="-304800">
              <a:defRPr sz="1600">
                <a:solidFill>
                  <a:schemeClr val="tx1"/>
                </a:solidFill>
                <a:latin typeface="Helvetica" panose="020B0604020202020204" pitchFamily="34" charset="0"/>
              </a:defRPr>
            </a:lvl3pPr>
            <a:lvl4pPr marL="1719263" indent="-304800">
              <a:defRPr sz="1600">
                <a:solidFill>
                  <a:schemeClr val="tx1"/>
                </a:solidFill>
                <a:latin typeface="Helvetica" panose="020B0604020202020204" pitchFamily="34" charset="0"/>
              </a:defRPr>
            </a:lvl4pPr>
            <a:lvl5pPr marL="2203450" indent="-304800">
              <a:defRPr sz="1600">
                <a:solidFill>
                  <a:schemeClr val="tx1"/>
                </a:solidFill>
                <a:latin typeface="Helvetica" panose="020B0604020202020204" pitchFamily="34" charset="0"/>
              </a:defRPr>
            </a:lvl5pPr>
            <a:lvl6pPr marL="266065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1785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57505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3225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buClr>
                <a:srgbClr val="FFFF00"/>
              </a:buClr>
              <a:buFontTx/>
              <a:buAutoNum type="arabicPeriod"/>
            </a:pPr>
            <a:r>
              <a:rPr lang="en-GB" altLang="en-US">
                <a:solidFill>
                  <a:srgbClr val="FFFF00"/>
                </a:solidFill>
                <a:effectLst>
                  <a:outerShdw blurRad="38100" dist="38100" dir="2700000" algn="tl">
                    <a:srgbClr val="000000"/>
                  </a:outerShdw>
                </a:effectLst>
                <a:latin typeface="Arial" panose="020B0604020202020204" pitchFamily="34" charset="0"/>
              </a:rPr>
              <a:t>Lines which have shortened and in the next increment are continuing to shorten (SS)</a:t>
            </a:r>
          </a:p>
          <a:p>
            <a:pPr>
              <a:lnSpc>
                <a:spcPct val="115000"/>
              </a:lnSpc>
              <a:spcBef>
                <a:spcPct val="50000"/>
              </a:spcBef>
              <a:buClr>
                <a:srgbClr val="FFFF00"/>
              </a:buClr>
              <a:buFontTx/>
              <a:buAutoNum type="arabicPeriod"/>
            </a:pPr>
            <a:r>
              <a:rPr lang="en-GB" altLang="en-US">
                <a:solidFill>
                  <a:srgbClr val="FFFF00"/>
                </a:solidFill>
                <a:effectLst>
                  <a:outerShdw blurRad="38100" dist="38100" dir="2700000" algn="tl">
                    <a:srgbClr val="000000"/>
                  </a:outerShdw>
                </a:effectLst>
                <a:latin typeface="Arial" panose="020B0604020202020204" pitchFamily="34" charset="0"/>
              </a:rPr>
              <a:t>Lines which have lengthened but in the next increment are shortening (LS)</a:t>
            </a:r>
          </a:p>
          <a:p>
            <a:pPr>
              <a:lnSpc>
                <a:spcPct val="115000"/>
              </a:lnSpc>
              <a:spcBef>
                <a:spcPct val="50000"/>
              </a:spcBef>
              <a:buClr>
                <a:srgbClr val="FFFF00"/>
              </a:buClr>
              <a:buFontTx/>
              <a:buAutoNum type="arabicPeriod"/>
            </a:pPr>
            <a:r>
              <a:rPr lang="en-GB" altLang="en-US">
                <a:solidFill>
                  <a:srgbClr val="FFFF00"/>
                </a:solidFill>
                <a:effectLst>
                  <a:outerShdw blurRad="38100" dist="38100" dir="2700000" algn="tl">
                    <a:srgbClr val="000000"/>
                  </a:outerShdw>
                </a:effectLst>
                <a:latin typeface="Arial" panose="020B0604020202020204" pitchFamily="34" charset="0"/>
              </a:rPr>
              <a:t>Lines which have lengthened and in the next increment are continuing to lengthen (LL)</a:t>
            </a:r>
          </a:p>
          <a:p>
            <a:pPr>
              <a:lnSpc>
                <a:spcPct val="115000"/>
              </a:lnSpc>
              <a:spcBef>
                <a:spcPct val="50000"/>
              </a:spcBef>
              <a:buClr>
                <a:srgbClr val="FFFF00"/>
              </a:buClr>
              <a:buFontTx/>
              <a:buAutoNum type="arabicPeriod"/>
            </a:pPr>
            <a:r>
              <a:rPr lang="en-GB" altLang="en-US">
                <a:solidFill>
                  <a:srgbClr val="FFFF00"/>
                </a:solidFill>
                <a:effectLst>
                  <a:outerShdw blurRad="38100" dist="38100" dir="2700000" algn="tl">
                    <a:srgbClr val="000000"/>
                  </a:outerShdw>
                </a:effectLst>
                <a:latin typeface="Arial" panose="020B0604020202020204" pitchFamily="34" charset="0"/>
              </a:rPr>
              <a:t>Lines which have shortened but in the next increment are lengthening (SL)</a:t>
            </a:r>
          </a:p>
        </p:txBody>
      </p:sp>
      <p:sp>
        <p:nvSpPr>
          <p:cNvPr id="264194" name="Rectangle 2">
            <a:extLst>
              <a:ext uri="{FF2B5EF4-FFF2-40B4-BE49-F238E27FC236}">
                <a16:creationId xmlns:a16="http://schemas.microsoft.com/office/drawing/2014/main" id="{C29BAD85-FB6C-46DE-B090-4F4FD69DB29F}"/>
              </a:ext>
            </a:extLst>
          </p:cNvPr>
          <p:cNvSpPr>
            <a:spLocks noGrp="1" noChangeArrowheads="1"/>
          </p:cNvSpPr>
          <p:nvPr>
            <p:ph type="title"/>
          </p:nvPr>
        </p:nvSpPr>
        <p:spPr>
          <a:noFill/>
        </p:spPr>
        <p:txBody>
          <a:bodyPr/>
          <a:lstStyle/>
          <a:p>
            <a:r>
              <a:rPr lang="en-GB" altLang="en-US">
                <a:effectLst/>
              </a:rPr>
              <a:t>Progressive deformation  2</a:t>
            </a:r>
          </a:p>
        </p:txBody>
      </p:sp>
      <p:sp>
        <p:nvSpPr>
          <p:cNvPr id="264195" name="Rectangle 3">
            <a:extLst>
              <a:ext uri="{FF2B5EF4-FFF2-40B4-BE49-F238E27FC236}">
                <a16:creationId xmlns:a16="http://schemas.microsoft.com/office/drawing/2014/main" id="{8271509C-9CB3-470C-B271-7C0777079B9D}"/>
              </a:ext>
            </a:extLst>
          </p:cNvPr>
          <p:cNvSpPr>
            <a:spLocks noGrp="1" noChangeArrowheads="1"/>
          </p:cNvSpPr>
          <p:nvPr>
            <p:ph type="body" sz="half" idx="1"/>
          </p:nvPr>
        </p:nvSpPr>
        <p:spPr>
          <a:xfrm>
            <a:off x="92574" y="846138"/>
            <a:ext cx="4036877" cy="5729287"/>
          </a:xfrm>
          <a:noFill/>
        </p:spPr>
        <p:txBody>
          <a:bodyPr/>
          <a:lstStyle/>
          <a:p>
            <a:pPr marL="177800" indent="-177800">
              <a:spcBef>
                <a:spcPct val="75000"/>
              </a:spcBef>
            </a:pPr>
            <a:r>
              <a:rPr lang="en-GB" altLang="en-US" sz="1700" dirty="0">
                <a:effectLst/>
              </a:rPr>
              <a:t>Since the </a:t>
            </a:r>
            <a:r>
              <a:rPr lang="en-GB" altLang="en-US" sz="1700" dirty="0">
                <a:solidFill>
                  <a:srgbClr val="FF66CC"/>
                </a:solidFill>
                <a:effectLst/>
              </a:rPr>
              <a:t>finite strain ellipse</a:t>
            </a:r>
            <a:r>
              <a:rPr lang="en-GB" altLang="en-US" sz="1700" dirty="0">
                <a:effectLst/>
              </a:rPr>
              <a:t> may change shape and orientation in a different way to that of the </a:t>
            </a:r>
            <a:r>
              <a:rPr lang="en-GB" altLang="en-US" sz="1700" dirty="0">
                <a:solidFill>
                  <a:srgbClr val="FF66CC"/>
                </a:solidFill>
                <a:effectLst/>
              </a:rPr>
              <a:t>incremental strain ellipse</a:t>
            </a:r>
            <a:r>
              <a:rPr lang="en-GB" altLang="en-US" sz="1700" dirty="0">
                <a:effectLst/>
              </a:rPr>
              <a:t>, it becomes interesting to consider the superposition of the two</a:t>
            </a:r>
          </a:p>
          <a:p>
            <a:pPr marL="177800" indent="-177800">
              <a:spcBef>
                <a:spcPct val="75000"/>
              </a:spcBef>
            </a:pPr>
            <a:r>
              <a:rPr lang="en-GB" altLang="en-US" sz="1700" dirty="0">
                <a:effectLst/>
              </a:rPr>
              <a:t>Each strain ellipse may be divided into four quadrants in which two lines of </a:t>
            </a:r>
            <a:r>
              <a:rPr lang="en-GB" altLang="en-US" sz="1700" dirty="0">
                <a:solidFill>
                  <a:srgbClr val="FF66CC"/>
                </a:solidFill>
                <a:effectLst/>
              </a:rPr>
              <a:t>no finite longitudinal strain</a:t>
            </a:r>
            <a:r>
              <a:rPr lang="en-GB" altLang="en-US" sz="1700" dirty="0">
                <a:effectLst/>
              </a:rPr>
              <a:t> separate sectors in which lines have been lengthened </a:t>
            </a:r>
            <a:r>
              <a:rPr lang="en-GB" altLang="en-US" sz="1700" spc="250" dirty="0">
                <a:effectLst/>
              </a:rPr>
              <a:t>(L</a:t>
            </a:r>
            <a:r>
              <a:rPr lang="en-GB" altLang="en-US" sz="1700" dirty="0">
                <a:effectLst/>
              </a:rPr>
              <a:t>) or shortened </a:t>
            </a:r>
            <a:r>
              <a:rPr lang="en-GB" altLang="en-US" sz="1700" spc="250" dirty="0">
                <a:effectLst/>
              </a:rPr>
              <a:t>(S</a:t>
            </a:r>
            <a:r>
              <a:rPr lang="en-GB" altLang="en-US" sz="1700" dirty="0">
                <a:effectLst/>
              </a:rPr>
              <a:t>)</a:t>
            </a:r>
          </a:p>
          <a:p>
            <a:pPr marL="177800" indent="-177800">
              <a:spcBef>
                <a:spcPct val="75000"/>
              </a:spcBef>
            </a:pPr>
            <a:r>
              <a:rPr lang="en-GB" altLang="en-US" sz="1700" dirty="0">
                <a:effectLst/>
              </a:rPr>
              <a:t>When the finite and incremental strain ellipses are combined, if they are in different orientations, eight sectors are now defined, representing four combinations of deformation circumstances</a:t>
            </a:r>
          </a:p>
        </p:txBody>
      </p:sp>
      <p:grpSp>
        <p:nvGrpSpPr>
          <p:cNvPr id="264209" name="Group 17">
            <a:extLst>
              <a:ext uri="{FF2B5EF4-FFF2-40B4-BE49-F238E27FC236}">
                <a16:creationId xmlns:a16="http://schemas.microsoft.com/office/drawing/2014/main" id="{7754DF68-8F0B-49FB-B5C3-0B13834EEB74}"/>
              </a:ext>
            </a:extLst>
          </p:cNvPr>
          <p:cNvGrpSpPr>
            <a:grpSpLocks/>
          </p:cNvGrpSpPr>
          <p:nvPr/>
        </p:nvGrpSpPr>
        <p:grpSpPr bwMode="auto">
          <a:xfrm>
            <a:off x="4260850" y="923925"/>
            <a:ext cx="4711700" cy="2557463"/>
            <a:chOff x="2684" y="582"/>
            <a:chExt cx="2968" cy="1611"/>
          </a:xfrm>
        </p:grpSpPr>
        <p:sp>
          <p:nvSpPr>
            <p:cNvPr id="264203" name="Rectangle 11">
              <a:extLst>
                <a:ext uri="{FF2B5EF4-FFF2-40B4-BE49-F238E27FC236}">
                  <a16:creationId xmlns:a16="http://schemas.microsoft.com/office/drawing/2014/main" id="{DCC8A136-0775-4467-BAD0-D4D16D548A63}"/>
                </a:ext>
              </a:extLst>
            </p:cNvPr>
            <p:cNvSpPr>
              <a:spLocks noChangeArrowheads="1"/>
            </p:cNvSpPr>
            <p:nvPr/>
          </p:nvSpPr>
          <p:spPr bwMode="auto">
            <a:xfrm>
              <a:off x="2684" y="582"/>
              <a:ext cx="2968" cy="1611"/>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64201" name="Picture 9" descr="6c">
              <a:extLst>
                <a:ext uri="{FF2B5EF4-FFF2-40B4-BE49-F238E27FC236}">
                  <a16:creationId xmlns:a16="http://schemas.microsoft.com/office/drawing/2014/main" id="{731A9C6D-013E-44C9-8883-952A1BDAEC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4" y="605"/>
              <a:ext cx="2930" cy="1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4204" name="Text Box 12">
              <a:extLst>
                <a:ext uri="{FF2B5EF4-FFF2-40B4-BE49-F238E27FC236}">
                  <a16:creationId xmlns:a16="http://schemas.microsoft.com/office/drawing/2014/main" id="{4E521956-59E4-4364-A1EC-0D342B50C9D1}"/>
                </a:ext>
              </a:extLst>
            </p:cNvPr>
            <p:cNvSpPr txBox="1">
              <a:spLocks noChangeArrowheads="1"/>
            </p:cNvSpPr>
            <p:nvPr/>
          </p:nvSpPr>
          <p:spPr bwMode="auto">
            <a:xfrm>
              <a:off x="2976" y="1953"/>
              <a:ext cx="4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chemeClr val="bg2"/>
                  </a:solidFill>
                  <a:effectLst/>
                  <a:latin typeface="Arial" panose="020B0604020202020204" pitchFamily="34" charset="0"/>
                </a:rPr>
                <a:t>Finite</a:t>
              </a:r>
            </a:p>
          </p:txBody>
        </p:sp>
        <p:sp>
          <p:nvSpPr>
            <p:cNvPr id="264205" name="Text Box 13">
              <a:extLst>
                <a:ext uri="{FF2B5EF4-FFF2-40B4-BE49-F238E27FC236}">
                  <a16:creationId xmlns:a16="http://schemas.microsoft.com/office/drawing/2014/main" id="{461DDB50-FA15-4C29-81B5-05F22F40AD6C}"/>
                </a:ext>
              </a:extLst>
            </p:cNvPr>
            <p:cNvSpPr txBox="1">
              <a:spLocks noChangeArrowheads="1"/>
            </p:cNvSpPr>
            <p:nvPr/>
          </p:nvSpPr>
          <p:spPr bwMode="auto">
            <a:xfrm>
              <a:off x="3757" y="1953"/>
              <a:ext cx="78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chemeClr val="bg2"/>
                  </a:solidFill>
                  <a:effectLst/>
                  <a:latin typeface="Arial" panose="020B0604020202020204" pitchFamily="34" charset="0"/>
                </a:rPr>
                <a:t>Incremental</a:t>
              </a:r>
            </a:p>
          </p:txBody>
        </p:sp>
        <p:sp>
          <p:nvSpPr>
            <p:cNvPr id="264206" name="Text Box 14">
              <a:extLst>
                <a:ext uri="{FF2B5EF4-FFF2-40B4-BE49-F238E27FC236}">
                  <a16:creationId xmlns:a16="http://schemas.microsoft.com/office/drawing/2014/main" id="{6DDD66A5-7C1D-44AB-9998-613AB650EF79}"/>
                </a:ext>
              </a:extLst>
            </p:cNvPr>
            <p:cNvSpPr txBox="1">
              <a:spLocks noChangeArrowheads="1"/>
            </p:cNvSpPr>
            <p:nvPr/>
          </p:nvSpPr>
          <p:spPr bwMode="auto">
            <a:xfrm>
              <a:off x="4712" y="1953"/>
              <a:ext cx="88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chemeClr val="bg2"/>
                  </a:solidFill>
                  <a:effectLst/>
                  <a:latin typeface="Arial" panose="020B0604020202020204" pitchFamily="34" charset="0"/>
                </a:rPr>
                <a:t>Superposition</a:t>
              </a:r>
            </a:p>
          </p:txBody>
        </p:sp>
      </p:grpSp>
      <p:sp>
        <p:nvSpPr>
          <p:cNvPr id="264211" name="Oval 19">
            <a:extLst>
              <a:ext uri="{FF2B5EF4-FFF2-40B4-BE49-F238E27FC236}">
                <a16:creationId xmlns:a16="http://schemas.microsoft.com/office/drawing/2014/main" id="{747BC779-2C21-4239-BD92-24D3B99A4506}"/>
              </a:ext>
            </a:extLst>
          </p:cNvPr>
          <p:cNvSpPr>
            <a:spLocks noChangeArrowheads="1"/>
          </p:cNvSpPr>
          <p:nvPr/>
        </p:nvSpPr>
        <p:spPr bwMode="auto">
          <a:xfrm>
            <a:off x="8237538" y="3999890"/>
            <a:ext cx="55562" cy="50800"/>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4212" name="Oval 20">
            <a:extLst>
              <a:ext uri="{FF2B5EF4-FFF2-40B4-BE49-F238E27FC236}">
                <a16:creationId xmlns:a16="http://schemas.microsoft.com/office/drawing/2014/main" id="{7762CF6A-2A13-4A36-A10F-88C18B60F2AA}"/>
              </a:ext>
            </a:extLst>
          </p:cNvPr>
          <p:cNvSpPr>
            <a:spLocks noChangeArrowheads="1"/>
          </p:cNvSpPr>
          <p:nvPr/>
        </p:nvSpPr>
        <p:spPr bwMode="auto">
          <a:xfrm>
            <a:off x="7283450" y="4677752"/>
            <a:ext cx="55563" cy="50800"/>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4213" name="Oval 21">
            <a:extLst>
              <a:ext uri="{FF2B5EF4-FFF2-40B4-BE49-F238E27FC236}">
                <a16:creationId xmlns:a16="http://schemas.microsoft.com/office/drawing/2014/main" id="{7287D397-2C9D-49E1-91B2-E1CB1CB64240}"/>
              </a:ext>
            </a:extLst>
          </p:cNvPr>
          <p:cNvSpPr>
            <a:spLocks noChangeArrowheads="1"/>
          </p:cNvSpPr>
          <p:nvPr/>
        </p:nvSpPr>
        <p:spPr bwMode="auto">
          <a:xfrm>
            <a:off x="8312150" y="5361354"/>
            <a:ext cx="55563" cy="50800"/>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4214" name="Oval 22">
            <a:extLst>
              <a:ext uri="{FF2B5EF4-FFF2-40B4-BE49-F238E27FC236}">
                <a16:creationId xmlns:a16="http://schemas.microsoft.com/office/drawing/2014/main" id="{3163B5D3-2895-4F13-8E26-19A156C46D0F}"/>
              </a:ext>
            </a:extLst>
          </p:cNvPr>
          <p:cNvSpPr>
            <a:spLocks noChangeArrowheads="1"/>
          </p:cNvSpPr>
          <p:nvPr/>
        </p:nvSpPr>
        <p:spPr bwMode="auto">
          <a:xfrm>
            <a:off x="7404100" y="6055092"/>
            <a:ext cx="55563" cy="50800"/>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EDC2D623-1541-4F7E-8977-6C30C03BB713}"/>
              </a:ext>
            </a:extLst>
          </p:cNvPr>
          <p:cNvSpPr>
            <a:spLocks noGrp="1" noChangeArrowheads="1"/>
          </p:cNvSpPr>
          <p:nvPr>
            <p:ph type="title"/>
          </p:nvPr>
        </p:nvSpPr>
        <p:spPr>
          <a:noFill/>
        </p:spPr>
        <p:txBody>
          <a:bodyPr/>
          <a:lstStyle/>
          <a:p>
            <a:r>
              <a:rPr lang="en-GB" altLang="en-US">
                <a:effectLst/>
              </a:rPr>
              <a:t>Progressive deformation  3</a:t>
            </a:r>
          </a:p>
        </p:txBody>
      </p:sp>
      <p:sp>
        <p:nvSpPr>
          <p:cNvPr id="267267" name="Rectangle 3">
            <a:extLst>
              <a:ext uri="{FF2B5EF4-FFF2-40B4-BE49-F238E27FC236}">
                <a16:creationId xmlns:a16="http://schemas.microsoft.com/office/drawing/2014/main" id="{77B423EA-5395-4493-BA90-E4E67284A1D3}"/>
              </a:ext>
            </a:extLst>
          </p:cNvPr>
          <p:cNvSpPr>
            <a:spLocks noGrp="1" noChangeArrowheads="1"/>
          </p:cNvSpPr>
          <p:nvPr>
            <p:ph type="body" sz="half" idx="1"/>
          </p:nvPr>
        </p:nvSpPr>
        <p:spPr>
          <a:xfrm>
            <a:off x="141288" y="863600"/>
            <a:ext cx="8855075" cy="1984375"/>
          </a:xfrm>
          <a:noFill/>
        </p:spPr>
        <p:txBody>
          <a:bodyPr/>
          <a:lstStyle/>
          <a:p>
            <a:pPr marL="177800" indent="-177800">
              <a:spcBef>
                <a:spcPct val="75000"/>
              </a:spcBef>
            </a:pPr>
            <a:r>
              <a:rPr lang="en-GB" altLang="en-US" sz="1700" dirty="0">
                <a:effectLst/>
              </a:rPr>
              <a:t>In principle, if </a:t>
            </a:r>
            <a:r>
              <a:rPr lang="en-GB" altLang="en-US" sz="1700" dirty="0">
                <a:solidFill>
                  <a:srgbClr val="FF66CC"/>
                </a:solidFill>
                <a:effectLst/>
              </a:rPr>
              <a:t>veins are intruded into a rock in a variety of orientations</a:t>
            </a:r>
            <a:r>
              <a:rPr lang="en-GB" altLang="en-US" sz="1700" dirty="0">
                <a:effectLst/>
              </a:rPr>
              <a:t>, some might be folded, some </a:t>
            </a:r>
            <a:r>
              <a:rPr lang="en-GB" altLang="en-US" sz="1700" dirty="0" err="1">
                <a:effectLst/>
              </a:rPr>
              <a:t>boudinaged</a:t>
            </a:r>
            <a:r>
              <a:rPr lang="en-GB" altLang="en-US" sz="1700" dirty="0">
                <a:effectLst/>
              </a:rPr>
              <a:t>, some be </a:t>
            </a:r>
            <a:r>
              <a:rPr lang="en-GB" altLang="en-US" sz="1700" dirty="0" err="1">
                <a:effectLst/>
              </a:rPr>
              <a:t>boudinaged</a:t>
            </a:r>
            <a:r>
              <a:rPr lang="en-GB" altLang="en-US" sz="1700" dirty="0">
                <a:effectLst/>
              </a:rPr>
              <a:t> folds, and some folded boudins</a:t>
            </a:r>
          </a:p>
          <a:p>
            <a:pPr marL="177800" indent="-177800">
              <a:spcBef>
                <a:spcPct val="75000"/>
              </a:spcBef>
            </a:pPr>
            <a:r>
              <a:rPr lang="en-GB" altLang="en-US" sz="1700" dirty="0">
                <a:effectLst/>
              </a:rPr>
              <a:t>Depending upon the geometry of the finite strain and incremental strain ellipses, which orientations of vein experience which of these scenarios differs. Hence something may be said about the strain path by examining the veins carefully</a:t>
            </a:r>
          </a:p>
        </p:txBody>
      </p:sp>
      <p:pic>
        <p:nvPicPr>
          <p:cNvPr id="267275" name="Picture 11" descr="6d">
            <a:extLst>
              <a:ext uri="{FF2B5EF4-FFF2-40B4-BE49-F238E27FC236}">
                <a16:creationId xmlns:a16="http://schemas.microsoft.com/office/drawing/2014/main" id="{390B3980-29A4-4230-9494-786DB99BDBFD}"/>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306388" y="2959100"/>
            <a:ext cx="3035300" cy="1663700"/>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7277" name="Picture 13" descr="6e">
            <a:extLst>
              <a:ext uri="{FF2B5EF4-FFF2-40B4-BE49-F238E27FC236}">
                <a16:creationId xmlns:a16="http://schemas.microsoft.com/office/drawing/2014/main" id="{D1F0FA39-78B8-4584-B9E5-7F3491FCC592}"/>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3595688" y="2959100"/>
            <a:ext cx="5256212" cy="1951038"/>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7279" name="Text Box 15">
            <a:extLst>
              <a:ext uri="{FF2B5EF4-FFF2-40B4-BE49-F238E27FC236}">
                <a16:creationId xmlns:a16="http://schemas.microsoft.com/office/drawing/2014/main" id="{E74D6DCE-F625-4B85-B51B-28ECB9E739A3}"/>
              </a:ext>
            </a:extLst>
          </p:cNvPr>
          <p:cNvSpPr txBox="1">
            <a:spLocks noChangeArrowheads="1"/>
          </p:cNvSpPr>
          <p:nvPr/>
        </p:nvSpPr>
        <p:spPr bwMode="auto">
          <a:xfrm>
            <a:off x="1274763" y="4764088"/>
            <a:ext cx="1079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6600"/>
                </a:solidFill>
                <a:effectLst>
                  <a:outerShdw blurRad="38100" dist="38100" dir="2700000" algn="tl">
                    <a:srgbClr val="000000"/>
                  </a:outerShdw>
                </a:effectLst>
                <a:latin typeface="Arial" panose="020B0604020202020204" pitchFamily="34" charset="0"/>
              </a:rPr>
              <a:t>Pure shear</a:t>
            </a:r>
          </a:p>
        </p:txBody>
      </p:sp>
      <p:sp>
        <p:nvSpPr>
          <p:cNvPr id="267280" name="Text Box 16">
            <a:extLst>
              <a:ext uri="{FF2B5EF4-FFF2-40B4-BE49-F238E27FC236}">
                <a16:creationId xmlns:a16="http://schemas.microsoft.com/office/drawing/2014/main" id="{E1095DD5-07BB-44C7-AF05-5C9AF4955EE4}"/>
              </a:ext>
            </a:extLst>
          </p:cNvPr>
          <p:cNvSpPr txBox="1">
            <a:spLocks noChangeArrowheads="1"/>
          </p:cNvSpPr>
          <p:nvPr/>
        </p:nvSpPr>
        <p:spPr bwMode="auto">
          <a:xfrm>
            <a:off x="3568700" y="4995863"/>
            <a:ext cx="53181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6600"/>
                </a:solidFill>
                <a:effectLst>
                  <a:outerShdw blurRad="38100" dist="38100" dir="2700000" algn="tl">
                    <a:srgbClr val="000000"/>
                  </a:outerShdw>
                </a:effectLst>
                <a:latin typeface="Arial" panose="020B0604020202020204" pitchFamily="34" charset="0"/>
              </a:rPr>
              <a:t>Simple shear</a:t>
            </a:r>
            <a:r>
              <a:rPr lang="en-GB" altLang="en-US" sz="1400">
                <a:solidFill>
                  <a:srgbClr val="FFFF00"/>
                </a:solidFill>
                <a:effectLst>
                  <a:outerShdw blurRad="38100" dist="38100" dir="2700000" algn="tl">
                    <a:srgbClr val="000000"/>
                  </a:outerShdw>
                </a:effectLst>
                <a:latin typeface="Arial" panose="020B0604020202020204" pitchFamily="34" charset="0"/>
              </a:rPr>
              <a:t> with the structures developed in differently oriented competent layers illustrated</a:t>
            </a:r>
          </a:p>
        </p:txBody>
      </p:sp>
      <p:sp>
        <p:nvSpPr>
          <p:cNvPr id="267281" name="Text Box 17">
            <a:extLst>
              <a:ext uri="{FF2B5EF4-FFF2-40B4-BE49-F238E27FC236}">
                <a16:creationId xmlns:a16="http://schemas.microsoft.com/office/drawing/2014/main" id="{3621B2D7-6733-4DFC-A9EB-C79AE7B87906}"/>
              </a:ext>
            </a:extLst>
          </p:cNvPr>
          <p:cNvSpPr txBox="1">
            <a:spLocks noChangeArrowheads="1"/>
          </p:cNvSpPr>
          <p:nvPr/>
        </p:nvSpPr>
        <p:spPr bwMode="auto">
          <a:xfrm>
            <a:off x="1309688" y="5911850"/>
            <a:ext cx="689133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Note the different symmetry of the predicted structures (orthorhombic for pure shear; monoclinic for simple shear)</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45C00905-50FF-4B62-ABCF-096DC36CE687}"/>
              </a:ext>
            </a:extLst>
          </p:cNvPr>
          <p:cNvSpPr>
            <a:spLocks noGrp="1" noChangeArrowheads="1"/>
          </p:cNvSpPr>
          <p:nvPr>
            <p:ph type="ctrTitle" idx="4294967295"/>
          </p:nvPr>
        </p:nvSpPr>
        <p:spPr bwMode="black">
          <a:xfrm>
            <a:off x="239713" y="1595438"/>
            <a:ext cx="8705850" cy="1955800"/>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500"/>
            </a:br>
            <a:br>
              <a:rPr lang="en-US" altLang="en-US" sz="3500"/>
            </a:br>
            <a:r>
              <a:rPr lang="en-US" altLang="en-US" sz="3200">
                <a:solidFill>
                  <a:srgbClr val="FF6600"/>
                </a:solidFill>
              </a:rPr>
              <a:t>Practical strain measurement</a:t>
            </a:r>
            <a:endParaRPr lang="en-US" altLang="en-US">
              <a:solidFill>
                <a:srgbClr val="FF6600"/>
              </a:solidFill>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a:extLst>
              <a:ext uri="{FF2B5EF4-FFF2-40B4-BE49-F238E27FC236}">
                <a16:creationId xmlns:a16="http://schemas.microsoft.com/office/drawing/2014/main" id="{23594CE5-7C4C-4309-8E21-D9088EFB127F}"/>
              </a:ext>
            </a:extLst>
          </p:cNvPr>
          <p:cNvSpPr>
            <a:spLocks noGrp="1" noChangeArrowheads="1"/>
          </p:cNvSpPr>
          <p:nvPr>
            <p:ph type="title"/>
          </p:nvPr>
        </p:nvSpPr>
        <p:spPr>
          <a:noFill/>
        </p:spPr>
        <p:txBody>
          <a:bodyPr/>
          <a:lstStyle/>
          <a:p>
            <a:r>
              <a:rPr lang="en-GB" altLang="en-US">
                <a:effectLst/>
              </a:rPr>
              <a:t>Practical strain measurement</a:t>
            </a:r>
          </a:p>
        </p:txBody>
      </p:sp>
      <p:sp>
        <p:nvSpPr>
          <p:cNvPr id="248835" name="Rectangle 3">
            <a:extLst>
              <a:ext uri="{FF2B5EF4-FFF2-40B4-BE49-F238E27FC236}">
                <a16:creationId xmlns:a16="http://schemas.microsoft.com/office/drawing/2014/main" id="{A0FD8AF0-BAD1-4BF0-9D6A-BF1572937681}"/>
              </a:ext>
            </a:extLst>
          </p:cNvPr>
          <p:cNvSpPr>
            <a:spLocks noGrp="1" noChangeArrowheads="1"/>
          </p:cNvSpPr>
          <p:nvPr>
            <p:ph type="body" sz="half" idx="1"/>
          </p:nvPr>
        </p:nvSpPr>
        <p:spPr>
          <a:xfrm>
            <a:off x="122238" y="782638"/>
            <a:ext cx="8880475" cy="5927725"/>
          </a:xfrm>
          <a:noFill/>
        </p:spPr>
        <p:txBody>
          <a:bodyPr/>
          <a:lstStyle/>
          <a:p>
            <a:pPr marL="177800" indent="-177800">
              <a:spcBef>
                <a:spcPct val="75000"/>
              </a:spcBef>
            </a:pPr>
            <a:r>
              <a:rPr lang="en-GB" altLang="en-US" sz="1700" dirty="0">
                <a:effectLst/>
              </a:rPr>
              <a:t>In principle, measuring strain requires us to determine all </a:t>
            </a:r>
            <a:r>
              <a:rPr lang="en-GB" altLang="en-US" sz="1700" dirty="0">
                <a:solidFill>
                  <a:srgbClr val="FF66CC"/>
                </a:solidFill>
                <a:effectLst/>
              </a:rPr>
              <a:t>six independent terms</a:t>
            </a:r>
            <a:r>
              <a:rPr lang="en-GB" altLang="en-US" sz="1700" dirty="0">
                <a:effectLst/>
              </a:rPr>
              <a:t> of the strain tensor. This task is simplified if we can carry out the measurements in the </a:t>
            </a:r>
            <a:r>
              <a:rPr lang="en-GB" altLang="en-US" sz="1700" dirty="0">
                <a:solidFill>
                  <a:srgbClr val="FF66CC"/>
                </a:solidFill>
                <a:effectLst/>
              </a:rPr>
              <a:t>directions of the three principal strains</a:t>
            </a:r>
            <a:r>
              <a:rPr lang="en-GB" altLang="en-US" sz="1700" dirty="0">
                <a:effectLst/>
              </a:rPr>
              <a:t> because then the shear strains are all zero. This requires us to have some understanding of how the orientations of the principal strains relate to fabrics such as </a:t>
            </a:r>
            <a:r>
              <a:rPr lang="en-GB" altLang="en-US" sz="1700" dirty="0">
                <a:solidFill>
                  <a:srgbClr val="FF6600"/>
                </a:solidFill>
                <a:effectLst/>
              </a:rPr>
              <a:t>cleavage</a:t>
            </a:r>
            <a:r>
              <a:rPr lang="en-GB" altLang="en-US" sz="1700" dirty="0">
                <a:effectLst/>
              </a:rPr>
              <a:t> and </a:t>
            </a:r>
            <a:r>
              <a:rPr lang="en-GB" altLang="en-US" sz="1700" dirty="0">
                <a:solidFill>
                  <a:srgbClr val="FF6600"/>
                </a:solidFill>
                <a:effectLst/>
              </a:rPr>
              <a:t>stretching </a:t>
            </a:r>
            <a:r>
              <a:rPr lang="en-GB" altLang="en-US" sz="1700" dirty="0" err="1">
                <a:solidFill>
                  <a:srgbClr val="FF6600"/>
                </a:solidFill>
                <a:effectLst/>
              </a:rPr>
              <a:t>lineations</a:t>
            </a:r>
            <a:endParaRPr lang="en-GB" altLang="en-US" sz="1700" dirty="0">
              <a:solidFill>
                <a:srgbClr val="FF6600"/>
              </a:solidFill>
              <a:effectLst/>
            </a:endParaRPr>
          </a:p>
          <a:p>
            <a:pPr marL="177800" indent="-177800"/>
            <a:r>
              <a:rPr lang="en-GB" altLang="en-US" sz="1700" dirty="0">
                <a:effectLst/>
              </a:rPr>
              <a:t>Most strain analysis is carried out in 2d on </a:t>
            </a:r>
            <a:r>
              <a:rPr lang="en-GB" altLang="en-US" sz="1700" dirty="0">
                <a:solidFill>
                  <a:srgbClr val="FF66CC"/>
                </a:solidFill>
                <a:effectLst/>
              </a:rPr>
              <a:t>planar sections</a:t>
            </a:r>
            <a:r>
              <a:rPr lang="en-GB" altLang="en-US" sz="1700" dirty="0">
                <a:effectLst/>
              </a:rPr>
              <a:t> through the strain ellipsoid – the results from differently oriented planes are then combined to give a 3d picture</a:t>
            </a:r>
          </a:p>
          <a:p>
            <a:pPr marL="177800" indent="-177800"/>
            <a:r>
              <a:rPr lang="en-GB" altLang="en-US" sz="1700" dirty="0">
                <a:effectLst/>
              </a:rPr>
              <a:t>2d strain analysis relies on the deformed rocks containing some object of </a:t>
            </a:r>
            <a:r>
              <a:rPr lang="en-GB" altLang="en-US" sz="1700" dirty="0">
                <a:solidFill>
                  <a:srgbClr val="FF66CC"/>
                </a:solidFill>
                <a:effectLst/>
              </a:rPr>
              <a:t>known original size or shape</a:t>
            </a:r>
            <a:r>
              <a:rPr lang="en-GB" altLang="en-US" sz="1700" dirty="0">
                <a:effectLst/>
              </a:rPr>
              <a:t>. The majority of these </a:t>
            </a:r>
            <a:r>
              <a:rPr lang="en-GB" altLang="en-US" sz="1700" dirty="0">
                <a:solidFill>
                  <a:srgbClr val="FF6600"/>
                </a:solidFill>
                <a:effectLst/>
              </a:rPr>
              <a:t>strain markers</a:t>
            </a:r>
            <a:r>
              <a:rPr lang="en-GB" altLang="en-US" sz="1700" dirty="0">
                <a:effectLst/>
              </a:rPr>
              <a:t> are one of the following:</a:t>
            </a:r>
          </a:p>
          <a:p>
            <a:pPr marL="630238" lvl="1" indent="-273050">
              <a:spcBef>
                <a:spcPct val="75000"/>
              </a:spcBef>
              <a:buClr>
                <a:srgbClr val="FFFF00"/>
              </a:buClr>
              <a:buFont typeface="Times" panose="02020603050405020304" pitchFamily="18" charset="0"/>
              <a:buAutoNum type="arabicPeriod"/>
            </a:pPr>
            <a:r>
              <a:rPr lang="en-GB" altLang="en-US" sz="1700" dirty="0">
                <a:solidFill>
                  <a:srgbClr val="FFFF00"/>
                </a:solidFill>
                <a:effectLst/>
              </a:rPr>
              <a:t>Objects that were initially circular (spherical in 3d)</a:t>
            </a:r>
          </a:p>
          <a:p>
            <a:pPr marL="630238" lvl="1" indent="-273050">
              <a:buClr>
                <a:srgbClr val="FFFF00"/>
              </a:buClr>
              <a:buFont typeface="Times" panose="02020603050405020304" pitchFamily="18" charset="0"/>
              <a:buAutoNum type="arabicPeriod"/>
            </a:pPr>
            <a:r>
              <a:rPr lang="en-GB" altLang="en-US" sz="1700" dirty="0">
                <a:solidFill>
                  <a:srgbClr val="FFFF00"/>
                </a:solidFill>
                <a:effectLst/>
              </a:rPr>
              <a:t>Objects that were originally elliptical (ellipsoidal in 3d)</a:t>
            </a:r>
          </a:p>
          <a:p>
            <a:pPr marL="630238" lvl="1" indent="-273050">
              <a:buClr>
                <a:srgbClr val="FFFF00"/>
              </a:buClr>
              <a:buFont typeface="Times" panose="02020603050405020304" pitchFamily="18" charset="0"/>
              <a:buAutoNum type="arabicPeriod"/>
            </a:pPr>
            <a:r>
              <a:rPr lang="en-GB" altLang="en-US" sz="1700" dirty="0">
                <a:solidFill>
                  <a:srgbClr val="FFFF00"/>
                </a:solidFill>
                <a:effectLst/>
              </a:rPr>
              <a:t>Objects of known original size (length)</a:t>
            </a:r>
          </a:p>
          <a:p>
            <a:pPr marL="630238" lvl="1" indent="-273050">
              <a:buClr>
                <a:srgbClr val="FFFF00"/>
              </a:buClr>
              <a:buFont typeface="Times" panose="02020603050405020304" pitchFamily="18" charset="0"/>
              <a:buAutoNum type="arabicPeriod"/>
            </a:pPr>
            <a:r>
              <a:rPr lang="en-GB" altLang="en-US" sz="1700" dirty="0">
                <a:solidFill>
                  <a:srgbClr val="FFFF00"/>
                </a:solidFill>
                <a:effectLst/>
              </a:rPr>
              <a:t>Objects that originally possessed bilateral symmetry</a:t>
            </a:r>
          </a:p>
          <a:p>
            <a:pPr marL="177800" indent="-177800"/>
            <a:r>
              <a:rPr lang="en-GB" altLang="en-US" sz="1700" dirty="0">
                <a:effectLst/>
              </a:rPr>
              <a:t>We will explore key techniques in the practical and so the subject is only outlined here</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BEF39C50-12C2-44A5-ADFF-90EA71DD45F5}"/>
              </a:ext>
            </a:extLst>
          </p:cNvPr>
          <p:cNvSpPr>
            <a:spLocks noGrp="1" noChangeArrowheads="1"/>
          </p:cNvSpPr>
          <p:nvPr>
            <p:ph type="title"/>
          </p:nvPr>
        </p:nvSpPr>
        <p:spPr>
          <a:noFill/>
        </p:spPr>
        <p:txBody>
          <a:bodyPr/>
          <a:lstStyle/>
          <a:p>
            <a:r>
              <a:rPr lang="en-GB" altLang="en-US">
                <a:effectLst/>
              </a:rPr>
              <a:t>Practical strain measurement  (circular markers)</a:t>
            </a:r>
          </a:p>
        </p:txBody>
      </p:sp>
      <p:sp>
        <p:nvSpPr>
          <p:cNvPr id="272387" name="Rectangle 3">
            <a:extLst>
              <a:ext uri="{FF2B5EF4-FFF2-40B4-BE49-F238E27FC236}">
                <a16:creationId xmlns:a16="http://schemas.microsoft.com/office/drawing/2014/main" id="{1297C211-33A9-4832-86E0-AA2BEDFF5D94}"/>
              </a:ext>
            </a:extLst>
          </p:cNvPr>
          <p:cNvSpPr>
            <a:spLocks noGrp="1" noChangeArrowheads="1"/>
          </p:cNvSpPr>
          <p:nvPr>
            <p:ph type="body" sz="half" idx="1"/>
          </p:nvPr>
        </p:nvSpPr>
        <p:spPr>
          <a:xfrm>
            <a:off x="114300" y="855663"/>
            <a:ext cx="8888413" cy="2957512"/>
          </a:xfrm>
          <a:noFill/>
        </p:spPr>
        <p:txBody>
          <a:bodyPr/>
          <a:lstStyle/>
          <a:p>
            <a:pPr marL="177800" indent="-177800">
              <a:spcBef>
                <a:spcPct val="50000"/>
              </a:spcBef>
            </a:pPr>
            <a:r>
              <a:rPr lang="en-GB" altLang="en-US" sz="1700">
                <a:effectLst/>
              </a:rPr>
              <a:t>Many objects are known to have </a:t>
            </a:r>
            <a:r>
              <a:rPr lang="en-GB" altLang="en-US" sz="1700">
                <a:solidFill>
                  <a:srgbClr val="FF66CC"/>
                </a:solidFill>
                <a:effectLst/>
              </a:rPr>
              <a:t>initially circular (spherical) shape</a:t>
            </a:r>
            <a:r>
              <a:rPr lang="en-GB" altLang="en-US" sz="1700">
                <a:effectLst/>
              </a:rPr>
              <a:t>. These make ideal strain markers because their deformed shape is the actual shape of the strain ellipse</a:t>
            </a:r>
          </a:p>
          <a:p>
            <a:pPr marL="177800" indent="-177800">
              <a:spcBef>
                <a:spcPct val="50000"/>
              </a:spcBef>
            </a:pPr>
            <a:r>
              <a:rPr lang="en-GB" altLang="en-US" sz="1700">
                <a:effectLst/>
              </a:rPr>
              <a:t>Such markers include </a:t>
            </a:r>
            <a:r>
              <a:rPr lang="en-GB" altLang="en-US" sz="1700">
                <a:solidFill>
                  <a:srgbClr val="FF6600"/>
                </a:solidFill>
                <a:effectLst/>
              </a:rPr>
              <a:t>reduction spots</a:t>
            </a:r>
            <a:r>
              <a:rPr lang="en-GB" altLang="en-US" sz="1700">
                <a:effectLst/>
              </a:rPr>
              <a:t> in mudstones and slates, </a:t>
            </a:r>
            <a:r>
              <a:rPr lang="en-GB" altLang="en-US" sz="1700">
                <a:solidFill>
                  <a:srgbClr val="FF6600"/>
                </a:solidFill>
                <a:effectLst/>
              </a:rPr>
              <a:t>ooids</a:t>
            </a:r>
            <a:r>
              <a:rPr lang="en-GB" altLang="en-US" sz="1700">
                <a:effectLst/>
              </a:rPr>
              <a:t> in limestones, </a:t>
            </a:r>
            <a:r>
              <a:rPr lang="en-GB" altLang="en-US" sz="1700">
                <a:solidFill>
                  <a:srgbClr val="FF6600"/>
                </a:solidFill>
                <a:effectLst/>
              </a:rPr>
              <a:t>vesicles</a:t>
            </a:r>
            <a:r>
              <a:rPr lang="en-GB" altLang="en-US" sz="1700">
                <a:effectLst/>
              </a:rPr>
              <a:t> in lavas, </a:t>
            </a:r>
            <a:r>
              <a:rPr lang="en-GB" altLang="en-US" sz="1700">
                <a:solidFill>
                  <a:srgbClr val="FF6600"/>
                </a:solidFill>
                <a:effectLst/>
              </a:rPr>
              <a:t>lapilli </a:t>
            </a:r>
            <a:r>
              <a:rPr lang="en-GB" altLang="en-US" sz="1700">
                <a:effectLst/>
              </a:rPr>
              <a:t>in tuffs, and bedding plane sections through </a:t>
            </a:r>
            <a:r>
              <a:rPr lang="en-GB" altLang="en-US" sz="1700" i="1">
                <a:solidFill>
                  <a:srgbClr val="FF6600"/>
                </a:solidFill>
                <a:effectLst/>
              </a:rPr>
              <a:t>Skolithos</a:t>
            </a:r>
            <a:r>
              <a:rPr lang="en-GB" altLang="en-US" sz="1700">
                <a:effectLst/>
              </a:rPr>
              <a:t> </a:t>
            </a:r>
            <a:r>
              <a:rPr lang="en-GB" altLang="en-US" sz="1700">
                <a:solidFill>
                  <a:srgbClr val="FF6600"/>
                </a:solidFill>
                <a:effectLst/>
              </a:rPr>
              <a:t>burrows</a:t>
            </a:r>
            <a:r>
              <a:rPr lang="en-GB" altLang="en-US" sz="1700">
                <a:effectLst/>
              </a:rPr>
              <a:t>. In addition, other objects such as </a:t>
            </a:r>
            <a:r>
              <a:rPr lang="en-GB" altLang="en-US" sz="1700">
                <a:solidFill>
                  <a:srgbClr val="FF6600"/>
                </a:solidFill>
                <a:effectLst/>
              </a:rPr>
              <a:t>pillow lavas</a:t>
            </a:r>
            <a:r>
              <a:rPr lang="en-GB" altLang="en-US" sz="1700">
                <a:effectLst/>
              </a:rPr>
              <a:t>, sections through </a:t>
            </a:r>
            <a:r>
              <a:rPr lang="en-GB" altLang="en-US" sz="1700">
                <a:solidFill>
                  <a:srgbClr val="FF6600"/>
                </a:solidFill>
                <a:effectLst/>
              </a:rPr>
              <a:t>columnar basalts</a:t>
            </a:r>
            <a:r>
              <a:rPr lang="en-GB" altLang="en-US" sz="1700">
                <a:effectLst/>
              </a:rPr>
              <a:t>, and a range of </a:t>
            </a:r>
            <a:r>
              <a:rPr lang="en-GB" altLang="en-US" sz="1700">
                <a:solidFill>
                  <a:srgbClr val="FF6600"/>
                </a:solidFill>
                <a:effectLst/>
              </a:rPr>
              <a:t>fossils</a:t>
            </a:r>
            <a:r>
              <a:rPr lang="en-GB" altLang="en-US" sz="1700">
                <a:effectLst/>
              </a:rPr>
              <a:t> may be approximated as initially equidimensional</a:t>
            </a:r>
          </a:p>
          <a:p>
            <a:pPr marL="177800" indent="-177800">
              <a:spcBef>
                <a:spcPct val="50000"/>
              </a:spcBef>
            </a:pPr>
            <a:r>
              <a:rPr lang="en-GB" altLang="en-US" sz="1700">
                <a:solidFill>
                  <a:srgbClr val="FF66CC"/>
                </a:solidFill>
                <a:effectLst/>
              </a:rPr>
              <a:t>Exercise 1</a:t>
            </a:r>
            <a:r>
              <a:rPr lang="en-GB" altLang="en-US" sz="1700">
                <a:effectLst/>
              </a:rPr>
              <a:t> of the practical takes you through the practicalities of using these markers in a strain analysis</a:t>
            </a:r>
          </a:p>
        </p:txBody>
      </p:sp>
      <p:sp>
        <p:nvSpPr>
          <p:cNvPr id="272395" name="Text Box 11">
            <a:extLst>
              <a:ext uri="{FF2B5EF4-FFF2-40B4-BE49-F238E27FC236}">
                <a16:creationId xmlns:a16="http://schemas.microsoft.com/office/drawing/2014/main" id="{407D2C33-2096-423E-B27B-8F3817C2AB92}"/>
              </a:ext>
            </a:extLst>
          </p:cNvPr>
          <p:cNvSpPr txBox="1">
            <a:spLocks noChangeArrowheads="1"/>
          </p:cNvSpPr>
          <p:nvPr/>
        </p:nvSpPr>
        <p:spPr bwMode="auto">
          <a:xfrm>
            <a:off x="214313" y="3963744"/>
            <a:ext cx="4297362"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Reduction spots (below); sections through </a:t>
            </a:r>
            <a:r>
              <a:rPr lang="en-GB" altLang="en-US" sz="1400" dirty="0" err="1">
                <a:solidFill>
                  <a:srgbClr val="FFFF00"/>
                </a:solidFill>
                <a:effectLst>
                  <a:outerShdw blurRad="38100" dist="38100" dir="2700000" algn="tl">
                    <a:srgbClr val="000000"/>
                  </a:outerShdw>
                </a:effectLst>
                <a:latin typeface="Arial" panose="020B0604020202020204" pitchFamily="34" charset="0"/>
              </a:rPr>
              <a:t>Skolithos</a:t>
            </a:r>
            <a:r>
              <a:rPr lang="en-GB" altLang="en-US" sz="1400" dirty="0">
                <a:solidFill>
                  <a:srgbClr val="FFFF00"/>
                </a:solidFill>
                <a:effectLst>
                  <a:outerShdw blurRad="38100" dist="38100" dir="2700000" algn="tl">
                    <a:srgbClr val="000000"/>
                  </a:outerShdw>
                </a:effectLst>
                <a:latin typeface="Arial" panose="020B0604020202020204" pitchFamily="34" charset="0"/>
              </a:rPr>
              <a:t> burrows (right)</a:t>
            </a:r>
          </a:p>
        </p:txBody>
      </p:sp>
      <p:pic>
        <p:nvPicPr>
          <p:cNvPr id="272396" name="Picture 12" descr="02-Wonoka">
            <a:extLst>
              <a:ext uri="{FF2B5EF4-FFF2-40B4-BE49-F238E27FC236}">
                <a16:creationId xmlns:a16="http://schemas.microsoft.com/office/drawing/2014/main" id="{8014559F-66F7-4EC9-83F6-AA7EFE328CA1}"/>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39713" y="4629150"/>
            <a:ext cx="4238625" cy="19954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 name="Picture 2">
            <a:extLst>
              <a:ext uri="{FF2B5EF4-FFF2-40B4-BE49-F238E27FC236}">
                <a16:creationId xmlns:a16="http://schemas.microsoft.com/office/drawing/2014/main" id="{CD56B3B8-36F6-4D95-87D4-F0805E0332B3}"/>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4705655" y="3598985"/>
            <a:ext cx="4203883" cy="3025652"/>
          </a:xfrm>
          <a:prstGeom prst="rect">
            <a:avLst/>
          </a:prstGeom>
          <a:ln w="38100">
            <a:solidFill>
              <a:srgbClr val="000000"/>
            </a:solidFill>
          </a:ln>
        </p:spPr>
      </p:pic>
    </p:spTree>
    <p:extLst>
      <p:ext uri="{BB962C8B-B14F-4D97-AF65-F5344CB8AC3E}">
        <p14:creationId xmlns:p14="http://schemas.microsoft.com/office/powerpoint/2010/main" val="1842769210"/>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a:extLst>
              <a:ext uri="{FF2B5EF4-FFF2-40B4-BE49-F238E27FC236}">
                <a16:creationId xmlns:a16="http://schemas.microsoft.com/office/drawing/2014/main" id="{053AB5F9-9B39-4DEC-9E7A-B4BB53488536}"/>
              </a:ext>
            </a:extLst>
          </p:cNvPr>
          <p:cNvSpPr>
            <a:spLocks noGrp="1" noChangeArrowheads="1"/>
          </p:cNvSpPr>
          <p:nvPr>
            <p:ph type="title"/>
          </p:nvPr>
        </p:nvSpPr>
        <p:spPr>
          <a:noFill/>
        </p:spPr>
        <p:txBody>
          <a:bodyPr/>
          <a:lstStyle/>
          <a:p>
            <a:r>
              <a:rPr lang="en-GB" altLang="en-US">
                <a:effectLst/>
              </a:rPr>
              <a:t>Practical strain measurement  (circular markers 2)</a:t>
            </a:r>
          </a:p>
        </p:txBody>
      </p:sp>
      <p:sp>
        <p:nvSpPr>
          <p:cNvPr id="286723" name="Rectangle 3">
            <a:extLst>
              <a:ext uri="{FF2B5EF4-FFF2-40B4-BE49-F238E27FC236}">
                <a16:creationId xmlns:a16="http://schemas.microsoft.com/office/drawing/2014/main" id="{FC1848D2-D9DD-4422-9DE4-B266E96AACF9}"/>
              </a:ext>
            </a:extLst>
          </p:cNvPr>
          <p:cNvSpPr>
            <a:spLocks noGrp="1" noChangeArrowheads="1"/>
          </p:cNvSpPr>
          <p:nvPr>
            <p:ph type="body" sz="half" idx="1"/>
          </p:nvPr>
        </p:nvSpPr>
        <p:spPr>
          <a:xfrm>
            <a:off x="136525" y="855663"/>
            <a:ext cx="8896350" cy="1743075"/>
          </a:xfrm>
          <a:noFill/>
        </p:spPr>
        <p:txBody>
          <a:bodyPr/>
          <a:lstStyle/>
          <a:p>
            <a:pPr marL="177800" indent="-177800">
              <a:spcBef>
                <a:spcPct val="50000"/>
              </a:spcBef>
            </a:pPr>
            <a:r>
              <a:rPr lang="en-GB" altLang="en-US" sz="1700" dirty="0">
                <a:effectLst/>
              </a:rPr>
              <a:t>If the clast</a:t>
            </a:r>
            <a:r>
              <a:rPr lang="en-GB" altLang="en-US" sz="1700" spc="300" dirty="0">
                <a:effectLst/>
              </a:rPr>
              <a:t>s/</a:t>
            </a:r>
            <a:r>
              <a:rPr lang="en-GB" altLang="en-US" sz="1700" dirty="0">
                <a:effectLst/>
              </a:rPr>
              <a:t>grains in a rock were </a:t>
            </a:r>
            <a:r>
              <a:rPr lang="en-GB" altLang="en-US" sz="1700" dirty="0">
                <a:solidFill>
                  <a:srgbClr val="FF66CC"/>
                </a:solidFill>
                <a:effectLst/>
              </a:rPr>
              <a:t>initially equidimensional</a:t>
            </a:r>
            <a:r>
              <a:rPr lang="en-GB" altLang="en-US" sz="1700" dirty="0">
                <a:effectLst/>
              </a:rPr>
              <a:t>, then the </a:t>
            </a:r>
            <a:r>
              <a:rPr lang="en-GB" altLang="en-US" sz="1700" dirty="0">
                <a:solidFill>
                  <a:srgbClr val="FF6600"/>
                </a:solidFill>
                <a:effectLst/>
              </a:rPr>
              <a:t>Fry method</a:t>
            </a:r>
            <a:r>
              <a:rPr lang="en-GB" altLang="en-US" sz="1700" dirty="0">
                <a:effectLst/>
              </a:rPr>
              <a:t> provides a rapid and very effective way of estimating the strain. </a:t>
            </a:r>
            <a:r>
              <a:rPr lang="en-GB" altLang="en-US" sz="1700" dirty="0">
                <a:solidFill>
                  <a:srgbClr val="FF66CC"/>
                </a:solidFill>
              </a:rPr>
              <a:t>Exercise 3</a:t>
            </a:r>
            <a:r>
              <a:rPr lang="en-GB" altLang="en-US" sz="1700" dirty="0"/>
              <a:t> of the practical will take you through an example of this technique using an </a:t>
            </a:r>
            <a:r>
              <a:rPr lang="en-GB" altLang="en-US" sz="1700" dirty="0" err="1"/>
              <a:t>oolitic</a:t>
            </a:r>
            <a:r>
              <a:rPr lang="en-GB" altLang="en-US" sz="1700" dirty="0"/>
              <a:t> limestone. The centres of originally equant grains in a monomineralic rock could be used equally well (as illustrated below right)</a:t>
            </a:r>
          </a:p>
        </p:txBody>
      </p:sp>
      <p:grpSp>
        <p:nvGrpSpPr>
          <p:cNvPr id="286735" name="Group 15">
            <a:extLst>
              <a:ext uri="{FF2B5EF4-FFF2-40B4-BE49-F238E27FC236}">
                <a16:creationId xmlns:a16="http://schemas.microsoft.com/office/drawing/2014/main" id="{CBD8FF9E-8D05-448B-A51A-2EE9387E370F}"/>
              </a:ext>
            </a:extLst>
          </p:cNvPr>
          <p:cNvGrpSpPr>
            <a:grpSpLocks/>
          </p:cNvGrpSpPr>
          <p:nvPr/>
        </p:nvGrpSpPr>
        <p:grpSpPr bwMode="auto">
          <a:xfrm>
            <a:off x="227013" y="2762250"/>
            <a:ext cx="5853112" cy="2119313"/>
            <a:chOff x="67" y="1806"/>
            <a:chExt cx="3669" cy="1264"/>
          </a:xfrm>
        </p:grpSpPr>
        <p:sp>
          <p:nvSpPr>
            <p:cNvPr id="286734" name="Rectangle 14">
              <a:extLst>
                <a:ext uri="{FF2B5EF4-FFF2-40B4-BE49-F238E27FC236}">
                  <a16:creationId xmlns:a16="http://schemas.microsoft.com/office/drawing/2014/main" id="{C3688E04-50F4-4D3E-B460-DEC1BE9427DB}"/>
                </a:ext>
              </a:extLst>
            </p:cNvPr>
            <p:cNvSpPr>
              <a:spLocks noChangeArrowheads="1"/>
            </p:cNvSpPr>
            <p:nvPr/>
          </p:nvSpPr>
          <p:spPr bwMode="auto">
            <a:xfrm>
              <a:off x="67" y="1806"/>
              <a:ext cx="3669" cy="1264"/>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86728" name="Picture 2" descr="GR08.jpg">
              <a:extLst>
                <a:ext uri="{FF2B5EF4-FFF2-40B4-BE49-F238E27FC236}">
                  <a16:creationId xmlns:a16="http://schemas.microsoft.com/office/drawing/2014/main" id="{47CA156D-5611-4CA3-B143-B9516307B79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5" y="1850"/>
              <a:ext cx="3597" cy="1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sng">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286730" name="Picture 10" descr="9c1-Fry">
            <a:extLst>
              <a:ext uri="{FF2B5EF4-FFF2-40B4-BE49-F238E27FC236}">
                <a16:creationId xmlns:a16="http://schemas.microsoft.com/office/drawing/2014/main" id="{68FA8232-9B18-4479-9686-0DDE94CE1ECB}"/>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6394450" y="2801938"/>
            <a:ext cx="2501900" cy="12795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86732" name="Picture 12" descr="9c2-Fry">
            <a:extLst>
              <a:ext uri="{FF2B5EF4-FFF2-40B4-BE49-F238E27FC236}">
                <a16:creationId xmlns:a16="http://schemas.microsoft.com/office/drawing/2014/main" id="{2B17A98F-E963-4E49-8EA7-C28B32C9CC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6663" y="4325938"/>
            <a:ext cx="1317625" cy="22526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86733" name="Picture 13" descr="9c3-Fry">
            <a:extLst>
              <a:ext uri="{FF2B5EF4-FFF2-40B4-BE49-F238E27FC236}">
                <a16:creationId xmlns:a16="http://schemas.microsoft.com/office/drawing/2014/main" id="{07C92907-A7CA-46BA-82C5-6C331821AB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29550" y="4322763"/>
            <a:ext cx="1144588" cy="226218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86738" name="Text Box 18">
            <a:extLst>
              <a:ext uri="{FF2B5EF4-FFF2-40B4-BE49-F238E27FC236}">
                <a16:creationId xmlns:a16="http://schemas.microsoft.com/office/drawing/2014/main" id="{DB86D853-D8B5-49F0-BB53-FBD3816DA898}"/>
              </a:ext>
            </a:extLst>
          </p:cNvPr>
          <p:cNvSpPr txBox="1">
            <a:spLocks noChangeArrowheads="1"/>
          </p:cNvSpPr>
          <p:nvPr/>
        </p:nvSpPr>
        <p:spPr bwMode="auto">
          <a:xfrm>
            <a:off x="146050" y="5167313"/>
            <a:ext cx="5775325"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folHlink"/>
              </a:buClr>
              <a:buSzPct val="100000"/>
              <a:buFont typeface="Times" panose="02020603050405020304" pitchFamily="18" charset="0"/>
              <a:buChar char="•"/>
            </a:pPr>
            <a:r>
              <a:rPr lang="en-GB" altLang="en-US" sz="1700" dirty="0">
                <a:effectLst>
                  <a:outerShdw blurRad="38100" dist="38100" dir="2700000" algn="tl">
                    <a:srgbClr val="000000"/>
                  </a:outerShdw>
                </a:effectLst>
                <a:latin typeface="Arial" panose="020B0604020202020204" pitchFamily="34" charset="0"/>
              </a:rPr>
              <a:t>The simple graphical form of the method requires that the grains </a:t>
            </a:r>
            <a:r>
              <a:rPr lang="en-GB" altLang="en-US" sz="1700" dirty="0">
                <a:solidFill>
                  <a:srgbClr val="FF66CC"/>
                </a:solidFill>
                <a:effectLst>
                  <a:outerShdw blurRad="38100" dist="38100" dir="2700000" algn="tl">
                    <a:srgbClr val="000000"/>
                  </a:outerShdw>
                </a:effectLst>
                <a:latin typeface="Arial" panose="020B0604020202020204" pitchFamily="34" charset="0"/>
              </a:rPr>
              <a:t>are not</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rPr>
              <a:t>clustered</a:t>
            </a:r>
            <a:r>
              <a:rPr lang="en-GB" altLang="en-US" sz="1700" dirty="0">
                <a:effectLst>
                  <a:outerShdw blurRad="38100" dist="38100" dir="2700000" algn="tl">
                    <a:srgbClr val="000000"/>
                  </a:outerShdw>
                </a:effectLst>
                <a:latin typeface="Arial" panose="020B0604020202020204" pitchFamily="34" charset="0"/>
              </a:rPr>
              <a:t> and that they are all of </a:t>
            </a:r>
            <a:r>
              <a:rPr lang="en-GB" altLang="en-US" sz="1700" dirty="0">
                <a:solidFill>
                  <a:srgbClr val="FF66CC"/>
                </a:solidFill>
                <a:effectLst>
                  <a:outerShdw blurRad="38100" dist="38100" dir="2700000" algn="tl">
                    <a:srgbClr val="000000"/>
                  </a:outerShdw>
                </a:effectLst>
                <a:latin typeface="Arial" panose="020B0604020202020204" pitchFamily="34" charset="0"/>
              </a:rPr>
              <a:t>similar size</a:t>
            </a:r>
            <a:r>
              <a:rPr lang="en-GB" altLang="en-US" sz="1700" dirty="0">
                <a:effectLst>
                  <a:outerShdw blurRad="38100" dist="38100" dir="2700000" algn="tl">
                    <a:srgbClr val="000000"/>
                  </a:outerShdw>
                </a:effectLst>
                <a:latin typeface="Arial" panose="020B0604020202020204" pitchFamily="34" charset="0"/>
              </a:rPr>
              <a:t>, but computer-based forms of the method allow these restrictions to be relaxed</a:t>
            </a: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a:extLst>
              <a:ext uri="{FF2B5EF4-FFF2-40B4-BE49-F238E27FC236}">
                <a16:creationId xmlns:a16="http://schemas.microsoft.com/office/drawing/2014/main" id="{A760C6CA-580E-47AD-A74F-D78EBF85F4F3}"/>
              </a:ext>
            </a:extLst>
          </p:cNvPr>
          <p:cNvSpPr>
            <a:spLocks noGrp="1" noChangeArrowheads="1"/>
          </p:cNvSpPr>
          <p:nvPr>
            <p:ph type="title"/>
          </p:nvPr>
        </p:nvSpPr>
        <p:spPr>
          <a:noFill/>
        </p:spPr>
        <p:txBody>
          <a:bodyPr/>
          <a:lstStyle/>
          <a:p>
            <a:r>
              <a:rPr lang="en-GB" altLang="en-US">
                <a:effectLst/>
              </a:rPr>
              <a:t>Practical strain measurement  (elliptical markers)</a:t>
            </a:r>
          </a:p>
        </p:txBody>
      </p:sp>
      <p:sp>
        <p:nvSpPr>
          <p:cNvPr id="274435" name="Rectangle 3">
            <a:extLst>
              <a:ext uri="{FF2B5EF4-FFF2-40B4-BE49-F238E27FC236}">
                <a16:creationId xmlns:a16="http://schemas.microsoft.com/office/drawing/2014/main" id="{2A3E2185-EE79-4C9D-8E07-622CBB70B111}"/>
              </a:ext>
            </a:extLst>
          </p:cNvPr>
          <p:cNvSpPr>
            <a:spLocks noGrp="1" noChangeArrowheads="1"/>
          </p:cNvSpPr>
          <p:nvPr>
            <p:ph type="body" sz="half" idx="1"/>
          </p:nvPr>
        </p:nvSpPr>
        <p:spPr>
          <a:xfrm>
            <a:off x="122238" y="811213"/>
            <a:ext cx="4913312" cy="2547937"/>
          </a:xfrm>
          <a:noFill/>
        </p:spPr>
        <p:txBody>
          <a:bodyPr/>
          <a:lstStyle/>
          <a:p>
            <a:pPr marL="177800" indent="-177800">
              <a:spcBef>
                <a:spcPct val="75000"/>
              </a:spcBef>
            </a:pPr>
            <a:r>
              <a:rPr lang="en-GB" altLang="en-US" sz="1700" dirty="0">
                <a:effectLst/>
              </a:rPr>
              <a:t>If a rock contains objects that were </a:t>
            </a:r>
            <a:r>
              <a:rPr lang="en-GB" altLang="en-US" sz="1700" dirty="0">
                <a:solidFill>
                  <a:srgbClr val="FF66CC"/>
                </a:solidFill>
                <a:effectLst/>
              </a:rPr>
              <a:t>initially ellipsoidal</a:t>
            </a:r>
            <a:r>
              <a:rPr lang="en-GB" altLang="en-US" sz="1700" dirty="0">
                <a:effectLst/>
              </a:rPr>
              <a:t> it is possible to separate the initial ellipticity from that imposed by the deformation and so estimate the strain</a:t>
            </a:r>
          </a:p>
          <a:p>
            <a:pPr marL="177800" indent="-177800">
              <a:spcBef>
                <a:spcPct val="75000"/>
              </a:spcBef>
            </a:pPr>
            <a:r>
              <a:rPr lang="en-GB" altLang="en-US" sz="1700" dirty="0">
                <a:effectLst/>
              </a:rPr>
              <a:t>The classic example of this kind comes from the analysis of the shapes of clasts within </a:t>
            </a:r>
            <a:r>
              <a:rPr lang="en-GB" altLang="en-US" sz="1700" dirty="0">
                <a:solidFill>
                  <a:srgbClr val="FF6600"/>
                </a:solidFill>
                <a:effectLst/>
              </a:rPr>
              <a:t>deformed conglomerates</a:t>
            </a:r>
          </a:p>
        </p:txBody>
      </p:sp>
      <p:pic>
        <p:nvPicPr>
          <p:cNvPr id="274438" name="Picture 6">
            <a:extLst>
              <a:ext uri="{FF2B5EF4-FFF2-40B4-BE49-F238E27FC236}">
                <a16:creationId xmlns:a16="http://schemas.microsoft.com/office/drawing/2014/main" id="{1DC7CA6E-80E5-4F20-9A42-6361D804B240}"/>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203825" y="933450"/>
            <a:ext cx="3759200" cy="5702300"/>
          </a:xfrm>
          <a:noFill/>
          <a:ln w="38100">
            <a:solidFill>
              <a:schemeClr val="bg2"/>
            </a:solidFill>
            <a:miter lim="800000"/>
            <a:headEnd/>
            <a:tailEnd/>
          </a:ln>
        </p:spPr>
      </p:pic>
      <p:pic>
        <p:nvPicPr>
          <p:cNvPr id="274445" name="Picture 13" descr="09b-Onich1">
            <a:extLst>
              <a:ext uri="{FF2B5EF4-FFF2-40B4-BE49-F238E27FC236}">
                <a16:creationId xmlns:a16="http://schemas.microsoft.com/office/drawing/2014/main" id="{578227F2-3677-43CA-9CEA-733786576C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325" y="3379788"/>
            <a:ext cx="4835525" cy="32559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a:extLst>
              <a:ext uri="{FF2B5EF4-FFF2-40B4-BE49-F238E27FC236}">
                <a16:creationId xmlns:a16="http://schemas.microsoft.com/office/drawing/2014/main" id="{E1AE9A55-6EDA-4AFF-8354-D523DC64DC6E}"/>
              </a:ext>
            </a:extLst>
          </p:cNvPr>
          <p:cNvSpPr>
            <a:spLocks noGrp="1" noChangeArrowheads="1"/>
          </p:cNvSpPr>
          <p:nvPr>
            <p:ph type="title"/>
          </p:nvPr>
        </p:nvSpPr>
        <p:spPr>
          <a:noFill/>
        </p:spPr>
        <p:txBody>
          <a:bodyPr/>
          <a:lstStyle/>
          <a:p>
            <a:r>
              <a:rPr lang="en-GB" altLang="en-US">
                <a:effectLst/>
              </a:rPr>
              <a:t>Practical strain measurement  (elliptical markers 2)</a:t>
            </a:r>
          </a:p>
        </p:txBody>
      </p:sp>
      <p:sp>
        <p:nvSpPr>
          <p:cNvPr id="283651" name="Rectangle 3">
            <a:extLst>
              <a:ext uri="{FF2B5EF4-FFF2-40B4-BE49-F238E27FC236}">
                <a16:creationId xmlns:a16="http://schemas.microsoft.com/office/drawing/2014/main" id="{5FA0D905-E50D-4653-AFB3-4D44CFE0549E}"/>
              </a:ext>
            </a:extLst>
          </p:cNvPr>
          <p:cNvSpPr>
            <a:spLocks noGrp="1" noChangeArrowheads="1"/>
          </p:cNvSpPr>
          <p:nvPr>
            <p:ph type="body" sz="half" idx="1"/>
          </p:nvPr>
        </p:nvSpPr>
        <p:spPr>
          <a:xfrm>
            <a:off x="122238" y="811213"/>
            <a:ext cx="8853487" cy="1670050"/>
          </a:xfrm>
          <a:noFill/>
        </p:spPr>
        <p:txBody>
          <a:bodyPr/>
          <a:lstStyle/>
          <a:p>
            <a:pPr marL="177800" indent="-177800">
              <a:spcBef>
                <a:spcPct val="75000"/>
              </a:spcBef>
            </a:pPr>
            <a:r>
              <a:rPr lang="en-GB" altLang="en-US" sz="1700" dirty="0">
                <a:effectLst/>
              </a:rPr>
              <a:t>The method used to analyse elliptical strain markers is the </a:t>
            </a:r>
            <a:r>
              <a:rPr lang="en-GB" altLang="en-US" sz="1700" i="1" dirty="0">
                <a:solidFill>
                  <a:srgbClr val="FF6600"/>
                </a:solidFill>
                <a:effectLst/>
              </a:rPr>
              <a:t>R</a:t>
            </a:r>
            <a:r>
              <a:rPr lang="en-GB" altLang="en-US" sz="1700" i="1" baseline="-25000" dirty="0">
                <a:solidFill>
                  <a:srgbClr val="FF6600"/>
                </a:solidFill>
                <a:effectLst/>
              </a:rPr>
              <a:t>f</a:t>
            </a:r>
            <a:r>
              <a:rPr lang="en-GB" altLang="en-US" sz="1700" dirty="0">
                <a:solidFill>
                  <a:srgbClr val="FF6600"/>
                </a:solidFill>
                <a:effectLst/>
              </a:rPr>
              <a:t> </a:t>
            </a:r>
            <a:r>
              <a:rPr lang="en-GB" altLang="en-US" sz="1700" spc="100" dirty="0">
                <a:solidFill>
                  <a:srgbClr val="FF6600"/>
                </a:solidFill>
                <a:effectLst/>
              </a:rPr>
              <a:t>/</a:t>
            </a:r>
            <a:r>
              <a:rPr lang="el-GR" altLang="en-US" sz="1700" i="1" dirty="0">
                <a:solidFill>
                  <a:srgbClr val="FF6600"/>
                </a:solidFill>
                <a:effectLst/>
                <a:latin typeface="Cambria Math" panose="02040503050406030204" pitchFamily="18" charset="0"/>
                <a:ea typeface="Cambria Math" panose="02040503050406030204" pitchFamily="18" charset="0"/>
              </a:rPr>
              <a:t>ϕ</a:t>
            </a:r>
            <a:r>
              <a:rPr lang="en-GB" altLang="en-US" sz="800" i="1" dirty="0">
                <a:solidFill>
                  <a:srgbClr val="FF6600"/>
                </a:solidFill>
                <a:effectLst/>
                <a:latin typeface="Symbol" panose="05050102010706020507" pitchFamily="18" charset="2"/>
              </a:rPr>
              <a:t> </a:t>
            </a:r>
            <a:r>
              <a:rPr lang="en-GB" altLang="en-US" sz="1700" dirty="0">
                <a:solidFill>
                  <a:srgbClr val="FF6600"/>
                </a:solidFill>
                <a:effectLst/>
              </a:rPr>
              <a:t>´</a:t>
            </a:r>
            <a:r>
              <a:rPr lang="en-GB" altLang="en-US" sz="1700" dirty="0">
                <a:effectLst/>
              </a:rPr>
              <a:t> </a:t>
            </a:r>
            <a:r>
              <a:rPr lang="en-GB" altLang="en-US" sz="1700" dirty="0">
                <a:solidFill>
                  <a:srgbClr val="FF6600"/>
                </a:solidFill>
                <a:effectLst/>
              </a:rPr>
              <a:t>method</a:t>
            </a:r>
            <a:r>
              <a:rPr lang="en-GB" altLang="en-US" sz="1700" dirty="0">
                <a:effectLst/>
              </a:rPr>
              <a:t>. In ideal form this requires that the elliptical markers all have the same initial ellipticity (</a:t>
            </a:r>
            <a:r>
              <a:rPr lang="en-GB" altLang="en-US" sz="800" dirty="0">
                <a:effectLst/>
              </a:rPr>
              <a:t> </a:t>
            </a:r>
            <a:r>
              <a:rPr lang="en-GB" altLang="en-US" sz="1700" i="1" dirty="0">
                <a:solidFill>
                  <a:srgbClr val="FFFF00"/>
                </a:solidFill>
                <a:effectLst/>
              </a:rPr>
              <a:t>R</a:t>
            </a:r>
            <a:r>
              <a:rPr lang="en-GB" altLang="en-US" sz="1700" i="1" baseline="-25000" dirty="0">
                <a:solidFill>
                  <a:srgbClr val="FFFF00"/>
                </a:solidFill>
                <a:effectLst/>
              </a:rPr>
              <a:t>i</a:t>
            </a:r>
            <a:r>
              <a:rPr lang="en-GB" altLang="en-US" sz="800" i="1" baseline="-25000" dirty="0">
                <a:solidFill>
                  <a:srgbClr val="FFFF00"/>
                </a:solidFill>
                <a:effectLst/>
              </a:rPr>
              <a:t> </a:t>
            </a:r>
            <a:r>
              <a:rPr lang="en-GB" altLang="en-US" sz="1700" dirty="0">
                <a:effectLst/>
              </a:rPr>
              <a:t>) and that there is initially a significant variation in the orientation of their long axes. The final (measured) ellipticity (</a:t>
            </a:r>
            <a:r>
              <a:rPr lang="en-GB" altLang="en-US" sz="800" dirty="0">
                <a:effectLst/>
              </a:rPr>
              <a:t> </a:t>
            </a:r>
            <a:r>
              <a:rPr lang="en-GB" altLang="en-US" sz="1700" i="1" dirty="0" err="1">
                <a:solidFill>
                  <a:srgbClr val="FFFF00"/>
                </a:solidFill>
                <a:effectLst/>
              </a:rPr>
              <a:t>R</a:t>
            </a:r>
            <a:r>
              <a:rPr lang="en-GB" altLang="en-US" sz="1700" i="1" baseline="-25000" dirty="0" err="1">
                <a:solidFill>
                  <a:srgbClr val="FFFF00"/>
                </a:solidFill>
                <a:effectLst/>
              </a:rPr>
              <a:t>f</a:t>
            </a:r>
            <a:r>
              <a:rPr lang="en-GB" altLang="en-US" sz="1700" i="1" baseline="-25000" dirty="0">
                <a:solidFill>
                  <a:srgbClr val="FFFF00"/>
                </a:solidFill>
                <a:effectLst/>
              </a:rPr>
              <a:t> </a:t>
            </a:r>
            <a:r>
              <a:rPr lang="en-GB" altLang="en-US" sz="1700" dirty="0">
                <a:effectLst/>
              </a:rPr>
              <a:t>) after the imposition of a known strain (</a:t>
            </a:r>
            <a:r>
              <a:rPr lang="en-GB" altLang="en-US" sz="800" dirty="0">
                <a:effectLst/>
              </a:rPr>
              <a:t> </a:t>
            </a:r>
            <a:r>
              <a:rPr lang="en-GB" altLang="en-US" sz="1700" i="1" dirty="0" err="1">
                <a:solidFill>
                  <a:srgbClr val="FFFF00"/>
                </a:solidFill>
                <a:effectLst/>
              </a:rPr>
              <a:t>R</a:t>
            </a:r>
            <a:r>
              <a:rPr lang="en-GB" altLang="en-US" sz="1700" i="1" baseline="-25000" dirty="0" err="1">
                <a:solidFill>
                  <a:srgbClr val="FFFF00"/>
                </a:solidFill>
                <a:effectLst/>
              </a:rPr>
              <a:t>s</a:t>
            </a:r>
            <a:r>
              <a:rPr lang="en-GB" altLang="en-US" sz="800" i="1" baseline="-25000" dirty="0">
                <a:solidFill>
                  <a:srgbClr val="FFFF00"/>
                </a:solidFill>
                <a:effectLst/>
              </a:rPr>
              <a:t> </a:t>
            </a:r>
            <a:r>
              <a:rPr lang="en-GB" altLang="en-US" sz="1700" dirty="0">
                <a:effectLst/>
              </a:rPr>
              <a:t>) can be theoretically predicted as a function of initial orientation (</a:t>
            </a:r>
            <a:r>
              <a:rPr lang="en-GB" altLang="en-US" sz="800" dirty="0">
                <a:effectLst/>
              </a:rPr>
              <a:t> </a:t>
            </a:r>
            <a:r>
              <a:rPr lang="el-GR" altLang="en-US" sz="1700" i="1" dirty="0">
                <a:solidFill>
                  <a:srgbClr val="FFFF00"/>
                </a:solidFill>
                <a:effectLst/>
                <a:latin typeface="Cambria Math" panose="02040503050406030204" pitchFamily="18" charset="0"/>
                <a:ea typeface="Cambria Math" panose="02040503050406030204" pitchFamily="18" charset="0"/>
              </a:rPr>
              <a:t>ϕ</a:t>
            </a:r>
            <a:r>
              <a:rPr lang="en-GB" altLang="en-US" sz="1200" i="1" dirty="0">
                <a:solidFill>
                  <a:srgbClr val="FFFF00"/>
                </a:solidFill>
                <a:effectLst/>
                <a:latin typeface="Symbol" panose="05050102010706020507" pitchFamily="18" charset="2"/>
              </a:rPr>
              <a:t> </a:t>
            </a:r>
            <a:r>
              <a:rPr lang="en-GB" altLang="en-US" sz="1700" dirty="0">
                <a:effectLst/>
              </a:rPr>
              <a:t>) and hence final orientation (</a:t>
            </a:r>
            <a:r>
              <a:rPr lang="en-GB" altLang="en-US" sz="800" dirty="0">
                <a:effectLst/>
              </a:rPr>
              <a:t> </a:t>
            </a:r>
            <a:r>
              <a:rPr lang="el-GR" altLang="en-US" sz="1700" i="1" dirty="0">
                <a:solidFill>
                  <a:srgbClr val="FFFF00"/>
                </a:solidFill>
                <a:effectLst/>
                <a:latin typeface="Cambria Math" panose="02040503050406030204" pitchFamily="18" charset="0"/>
                <a:ea typeface="Cambria Math" panose="02040503050406030204" pitchFamily="18" charset="0"/>
              </a:rPr>
              <a:t>ϕ</a:t>
            </a:r>
            <a:r>
              <a:rPr lang="en-GB" altLang="en-US" sz="1700" dirty="0">
                <a:solidFill>
                  <a:srgbClr val="FFFF00"/>
                </a:solidFill>
                <a:effectLst/>
              </a:rPr>
              <a:t>´</a:t>
            </a:r>
            <a:r>
              <a:rPr lang="en-GB" altLang="en-US" sz="800" dirty="0">
                <a:solidFill>
                  <a:srgbClr val="FFFF00"/>
                </a:solidFill>
                <a:effectLst/>
              </a:rPr>
              <a:t> </a:t>
            </a:r>
            <a:r>
              <a:rPr lang="en-GB" altLang="en-US" sz="1700" dirty="0">
                <a:effectLst/>
              </a:rPr>
              <a:t>)</a:t>
            </a:r>
            <a:endParaRPr lang="en-GB" altLang="en-US" sz="1700" dirty="0">
              <a:solidFill>
                <a:srgbClr val="FF6600"/>
              </a:solidFill>
              <a:effectLst/>
            </a:endParaRPr>
          </a:p>
        </p:txBody>
      </p:sp>
      <p:sp>
        <p:nvSpPr>
          <p:cNvPr id="283657" name="Text Box 9">
            <a:extLst>
              <a:ext uri="{FF2B5EF4-FFF2-40B4-BE49-F238E27FC236}">
                <a16:creationId xmlns:a16="http://schemas.microsoft.com/office/drawing/2014/main" id="{7ABC8A13-CBBB-4F5A-A69B-EFDE3420E586}"/>
              </a:ext>
            </a:extLst>
          </p:cNvPr>
          <p:cNvSpPr txBox="1">
            <a:spLocks noChangeArrowheads="1"/>
          </p:cNvSpPr>
          <p:nvPr/>
        </p:nvSpPr>
        <p:spPr bwMode="auto">
          <a:xfrm>
            <a:off x="106363" y="2582863"/>
            <a:ext cx="3587003" cy="4026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method requires the </a:t>
            </a:r>
            <a:r>
              <a:rPr lang="en-GB" altLang="en-US" sz="1700" dirty="0">
                <a:solidFill>
                  <a:srgbClr val="FF66CC"/>
                </a:solidFill>
                <a:effectLst>
                  <a:outerShdw blurRad="38100" dist="38100" dir="2700000" algn="tl">
                    <a:srgbClr val="000000"/>
                  </a:outerShdw>
                </a:effectLst>
                <a:latin typeface="Arial" panose="020B0604020202020204" pitchFamily="34" charset="0"/>
              </a:rPr>
              <a:t>measured </a:t>
            </a:r>
            <a:r>
              <a:rPr lang="en-GB" altLang="en-US" sz="1700" i="1" dirty="0" err="1">
                <a:solidFill>
                  <a:srgbClr val="FFFF00"/>
                </a:solidFill>
                <a:effectLst>
                  <a:outerShdw blurRad="38100" dist="38100" dir="2700000" algn="tl">
                    <a:srgbClr val="000000"/>
                  </a:outerShdw>
                </a:effectLst>
                <a:latin typeface="Arial" panose="020B0604020202020204" pitchFamily="34" charset="0"/>
              </a:rPr>
              <a:t>R</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f</a:t>
            </a:r>
            <a:r>
              <a:rPr lang="en-GB" altLang="en-US" sz="1700" dirty="0">
                <a:solidFill>
                  <a:srgbClr val="FF66CC"/>
                </a:solidFill>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to be plotted against </a:t>
            </a:r>
            <a:r>
              <a:rPr lang="en-GB" altLang="en-US" sz="1700" dirty="0">
                <a:solidFill>
                  <a:srgbClr val="FF66CC"/>
                </a:solidFill>
                <a:effectLst>
                  <a:outerShdw blurRad="38100" dist="38100" dir="2700000" algn="tl">
                    <a:srgbClr val="000000"/>
                  </a:outerShdw>
                </a:effectLst>
                <a:latin typeface="Arial" panose="020B0604020202020204" pitchFamily="34" charset="0"/>
              </a:rPr>
              <a:t>final orientation </a:t>
            </a:r>
            <a:r>
              <a:rPr lang="el-GR" altLang="en-US" sz="1700" i="1" dirty="0">
                <a:solidFill>
                  <a:srgbClr val="FFFF00"/>
                </a:solidFill>
                <a:effectLst/>
                <a:latin typeface="Cambria Math" panose="02040503050406030204" pitchFamily="18" charset="0"/>
                <a:ea typeface="Cambria Math" panose="02040503050406030204" pitchFamily="18" charset="0"/>
              </a:rPr>
              <a:t>ϕ</a:t>
            </a:r>
            <a:r>
              <a:rPr lang="en-GB" altLang="en-US" sz="1700" dirty="0">
                <a:solidFill>
                  <a:srgbClr val="FFFF00"/>
                </a:solidFill>
                <a:effectLst/>
              </a:rPr>
              <a:t>´</a:t>
            </a:r>
            <a:r>
              <a:rPr lang="en-GB" altLang="en-US" sz="1700" dirty="0">
                <a:effectLst>
                  <a:outerShdw blurRad="38100" dist="38100" dir="2700000" algn="tl">
                    <a:srgbClr val="000000"/>
                  </a:outerShdw>
                </a:effectLst>
                <a:latin typeface="Arial" panose="020B0604020202020204" pitchFamily="34" charset="0"/>
              </a:rPr>
              <a:t> and by then comparing the result with theoretical curves for different </a:t>
            </a:r>
            <a:r>
              <a:rPr lang="en-GB" altLang="en-US" sz="1700" i="1" dirty="0">
                <a:solidFill>
                  <a:srgbClr val="FFFF00"/>
                </a:solidFill>
                <a:effectLst>
                  <a:outerShdw blurRad="38100" dist="38100" dir="2700000" algn="tl">
                    <a:srgbClr val="000000"/>
                  </a:outerShdw>
                </a:effectLst>
                <a:latin typeface="Arial" panose="020B0604020202020204" pitchFamily="34" charset="0"/>
              </a:rPr>
              <a:t>R</a:t>
            </a:r>
            <a:r>
              <a:rPr lang="en-GB" altLang="en-US" sz="1700" i="1" baseline="-25000" dirty="0">
                <a:solidFill>
                  <a:srgbClr val="FFFF00"/>
                </a:solidFill>
                <a:effectLst>
                  <a:outerShdw blurRad="38100" dist="38100" dir="2700000" algn="tl">
                    <a:srgbClr val="000000"/>
                  </a:outerShdw>
                </a:effectLst>
                <a:latin typeface="Arial" panose="020B0604020202020204" pitchFamily="34" charset="0"/>
              </a:rPr>
              <a:t>i</a:t>
            </a:r>
            <a:r>
              <a:rPr lang="en-GB" altLang="en-US" sz="1700" dirty="0">
                <a:effectLst>
                  <a:outerShdw blurRad="38100" dist="38100" dir="2700000" algn="tl">
                    <a:srgbClr val="000000"/>
                  </a:outerShdw>
                </a:effectLst>
                <a:latin typeface="Arial" panose="020B0604020202020204" pitchFamily="34" charset="0"/>
              </a:rPr>
              <a:t> and </a:t>
            </a:r>
            <a:r>
              <a:rPr lang="en-GB" altLang="en-US" sz="1700" i="1" dirty="0" err="1">
                <a:solidFill>
                  <a:srgbClr val="FFFF00"/>
                </a:solidFill>
                <a:effectLst>
                  <a:outerShdw blurRad="38100" dist="38100" dir="2700000" algn="tl">
                    <a:srgbClr val="000000"/>
                  </a:outerShdw>
                </a:effectLst>
                <a:latin typeface="Arial" panose="020B0604020202020204" pitchFamily="34" charset="0"/>
              </a:rPr>
              <a:t>R</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s</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rPr>
              <a:t>Exercise 4</a:t>
            </a:r>
            <a:r>
              <a:rPr lang="en-GB" altLang="en-US" sz="1700" dirty="0">
                <a:effectLst>
                  <a:outerShdw blurRad="38100" dist="38100" dir="2700000" algn="tl">
                    <a:srgbClr val="000000"/>
                  </a:outerShdw>
                </a:effectLst>
                <a:latin typeface="Arial" panose="020B0604020202020204" pitchFamily="34" charset="0"/>
              </a:rPr>
              <a:t> of the practical takes you through the practicalities</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Strategies for coping with populations of strain markers that have a range of </a:t>
            </a:r>
            <a:r>
              <a:rPr lang="en-GB" altLang="en-US" sz="1700" dirty="0">
                <a:solidFill>
                  <a:srgbClr val="FF66CC"/>
                </a:solidFill>
                <a:effectLst>
                  <a:outerShdw blurRad="38100" dist="38100" dir="2700000" algn="tl">
                    <a:srgbClr val="000000"/>
                  </a:outerShdw>
                </a:effectLst>
                <a:latin typeface="Arial" panose="020B0604020202020204" pitchFamily="34" charset="0"/>
              </a:rPr>
              <a:t>initial ellipticities</a:t>
            </a:r>
            <a:r>
              <a:rPr lang="en-GB" altLang="en-US" sz="1700" dirty="0">
                <a:effectLst>
                  <a:outerShdw blurRad="38100" dist="38100" dir="2700000" algn="tl">
                    <a:srgbClr val="000000"/>
                  </a:outerShdw>
                </a:effectLst>
                <a:latin typeface="Arial" panose="020B0604020202020204" pitchFamily="34" charset="0"/>
              </a:rPr>
              <a:t> have been developed</a:t>
            </a:r>
          </a:p>
        </p:txBody>
      </p:sp>
      <p:grpSp>
        <p:nvGrpSpPr>
          <p:cNvPr id="283667" name="Group 19">
            <a:extLst>
              <a:ext uri="{FF2B5EF4-FFF2-40B4-BE49-F238E27FC236}">
                <a16:creationId xmlns:a16="http://schemas.microsoft.com/office/drawing/2014/main" id="{832EED4A-B9D0-4AD7-B22E-BA27C95A71D0}"/>
              </a:ext>
            </a:extLst>
          </p:cNvPr>
          <p:cNvGrpSpPr>
            <a:grpSpLocks/>
          </p:cNvGrpSpPr>
          <p:nvPr/>
        </p:nvGrpSpPr>
        <p:grpSpPr bwMode="auto">
          <a:xfrm>
            <a:off x="4003675" y="2555875"/>
            <a:ext cx="4906963" cy="4156075"/>
            <a:chOff x="2556" y="1577"/>
            <a:chExt cx="3131" cy="2668"/>
          </a:xfrm>
        </p:grpSpPr>
        <p:sp>
          <p:nvSpPr>
            <p:cNvPr id="283663" name="Rectangle 15">
              <a:extLst>
                <a:ext uri="{FF2B5EF4-FFF2-40B4-BE49-F238E27FC236}">
                  <a16:creationId xmlns:a16="http://schemas.microsoft.com/office/drawing/2014/main" id="{DF4A96D4-2335-4453-9AE8-3EBB63FF3F55}"/>
                </a:ext>
              </a:extLst>
            </p:cNvPr>
            <p:cNvSpPr>
              <a:spLocks noChangeArrowheads="1"/>
            </p:cNvSpPr>
            <p:nvPr/>
          </p:nvSpPr>
          <p:spPr bwMode="auto">
            <a:xfrm>
              <a:off x="2556" y="1577"/>
              <a:ext cx="3131" cy="266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83655" name="Picture 2" descr="GR06.jpg">
              <a:extLst>
                <a:ext uri="{FF2B5EF4-FFF2-40B4-BE49-F238E27FC236}">
                  <a16:creationId xmlns:a16="http://schemas.microsoft.com/office/drawing/2014/main" id="{912A9848-2C68-446A-93AE-A257AB25CCB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94" y="1618"/>
              <a:ext cx="3058" cy="26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3658" name="Rectangle 10">
              <a:extLst>
                <a:ext uri="{FF2B5EF4-FFF2-40B4-BE49-F238E27FC236}">
                  <a16:creationId xmlns:a16="http://schemas.microsoft.com/office/drawing/2014/main" id="{7350CF9B-FD79-41FF-B126-540781ABCCF5}"/>
                </a:ext>
              </a:extLst>
            </p:cNvPr>
            <p:cNvSpPr>
              <a:spLocks noChangeArrowheads="1"/>
            </p:cNvSpPr>
            <p:nvPr/>
          </p:nvSpPr>
          <p:spPr bwMode="auto">
            <a:xfrm>
              <a:off x="2712" y="2282"/>
              <a:ext cx="470" cy="374"/>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3659" name="Rectangle 11">
              <a:extLst>
                <a:ext uri="{FF2B5EF4-FFF2-40B4-BE49-F238E27FC236}">
                  <a16:creationId xmlns:a16="http://schemas.microsoft.com/office/drawing/2014/main" id="{0C442202-803F-457F-898A-5C0BA9E0B8D5}"/>
                </a:ext>
              </a:extLst>
            </p:cNvPr>
            <p:cNvSpPr>
              <a:spLocks noChangeArrowheads="1"/>
            </p:cNvSpPr>
            <p:nvPr/>
          </p:nvSpPr>
          <p:spPr bwMode="auto">
            <a:xfrm>
              <a:off x="2701" y="3193"/>
              <a:ext cx="531" cy="37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3660" name="Text Box 12">
              <a:extLst>
                <a:ext uri="{FF2B5EF4-FFF2-40B4-BE49-F238E27FC236}">
                  <a16:creationId xmlns:a16="http://schemas.microsoft.com/office/drawing/2014/main" id="{B9E2B3A3-3467-41A0-B9CA-C7EAB140F179}"/>
                </a:ext>
              </a:extLst>
            </p:cNvPr>
            <p:cNvSpPr txBox="1">
              <a:spLocks noChangeArrowheads="1"/>
            </p:cNvSpPr>
            <p:nvPr/>
          </p:nvSpPr>
          <p:spPr bwMode="auto">
            <a:xfrm>
              <a:off x="2758" y="2293"/>
              <a:ext cx="468" cy="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0000"/>
                  </a:solidFill>
                  <a:effectLst/>
                </a:rPr>
                <a:t>initial</a:t>
              </a:r>
            </a:p>
          </p:txBody>
        </p:sp>
        <p:sp>
          <p:nvSpPr>
            <p:cNvPr id="283661" name="Text Box 13">
              <a:extLst>
                <a:ext uri="{FF2B5EF4-FFF2-40B4-BE49-F238E27FC236}">
                  <a16:creationId xmlns:a16="http://schemas.microsoft.com/office/drawing/2014/main" id="{8E3CA2DA-1355-4B6D-A547-6C8612B53ADF}"/>
                </a:ext>
              </a:extLst>
            </p:cNvPr>
            <p:cNvSpPr txBox="1">
              <a:spLocks noChangeArrowheads="1"/>
            </p:cNvSpPr>
            <p:nvPr/>
          </p:nvSpPr>
          <p:spPr bwMode="auto">
            <a:xfrm>
              <a:off x="2626" y="3152"/>
              <a:ext cx="804" cy="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0000"/>
                  </a:solidFill>
                  <a:effectLst/>
                </a:rPr>
                <a:t>small strain</a:t>
              </a:r>
            </a:p>
          </p:txBody>
        </p:sp>
        <p:sp>
          <p:nvSpPr>
            <p:cNvPr id="283662" name="Text Box 14">
              <a:extLst>
                <a:ext uri="{FF2B5EF4-FFF2-40B4-BE49-F238E27FC236}">
                  <a16:creationId xmlns:a16="http://schemas.microsoft.com/office/drawing/2014/main" id="{C6F9B7FC-DC78-4E52-B7E2-D39A34AB3456}"/>
                </a:ext>
              </a:extLst>
            </p:cNvPr>
            <p:cNvSpPr txBox="1">
              <a:spLocks noChangeArrowheads="1"/>
            </p:cNvSpPr>
            <p:nvPr/>
          </p:nvSpPr>
          <p:spPr bwMode="auto">
            <a:xfrm>
              <a:off x="2639" y="3991"/>
              <a:ext cx="1016" cy="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0000"/>
                  </a:solidFill>
                  <a:effectLst/>
                </a:rPr>
                <a:t>larger strain</a:t>
              </a:r>
            </a:p>
          </p:txBody>
        </p:sp>
      </p:gr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a:extLst>
              <a:ext uri="{FF2B5EF4-FFF2-40B4-BE49-F238E27FC236}">
                <a16:creationId xmlns:a16="http://schemas.microsoft.com/office/drawing/2014/main" id="{6DE21BD6-C926-4577-88BA-18D25E10E161}"/>
              </a:ext>
            </a:extLst>
          </p:cNvPr>
          <p:cNvSpPr>
            <a:spLocks noGrp="1" noChangeArrowheads="1"/>
          </p:cNvSpPr>
          <p:nvPr>
            <p:ph type="title"/>
          </p:nvPr>
        </p:nvSpPr>
        <p:spPr>
          <a:noFill/>
        </p:spPr>
        <p:txBody>
          <a:bodyPr/>
          <a:lstStyle/>
          <a:p>
            <a:r>
              <a:rPr lang="en-GB" altLang="en-US">
                <a:effectLst/>
              </a:rPr>
              <a:t>Practical strain measurement  (known length)</a:t>
            </a:r>
          </a:p>
        </p:txBody>
      </p:sp>
      <p:sp>
        <p:nvSpPr>
          <p:cNvPr id="276483" name="Rectangle 3">
            <a:extLst>
              <a:ext uri="{FF2B5EF4-FFF2-40B4-BE49-F238E27FC236}">
                <a16:creationId xmlns:a16="http://schemas.microsoft.com/office/drawing/2014/main" id="{7B89C9B5-F2E6-4CC1-B4ED-9E518F3A5990}"/>
              </a:ext>
            </a:extLst>
          </p:cNvPr>
          <p:cNvSpPr>
            <a:spLocks noGrp="1" noChangeArrowheads="1"/>
          </p:cNvSpPr>
          <p:nvPr>
            <p:ph type="body" sz="half" idx="1"/>
          </p:nvPr>
        </p:nvSpPr>
        <p:spPr>
          <a:xfrm>
            <a:off x="122238" y="811213"/>
            <a:ext cx="8880475" cy="1778000"/>
          </a:xfrm>
          <a:noFill/>
        </p:spPr>
        <p:txBody>
          <a:bodyPr/>
          <a:lstStyle/>
          <a:p>
            <a:pPr marL="177800" indent="-177800">
              <a:spcBef>
                <a:spcPct val="75000"/>
              </a:spcBef>
            </a:pPr>
            <a:r>
              <a:rPr lang="en-GB" altLang="en-US" sz="1700">
                <a:effectLst/>
              </a:rPr>
              <a:t>The strain markers described so far </a:t>
            </a:r>
            <a:r>
              <a:rPr lang="en-GB" altLang="en-US" sz="1700">
                <a:solidFill>
                  <a:srgbClr val="FF6600"/>
                </a:solidFill>
                <a:effectLst/>
              </a:rPr>
              <a:t>deform with the rock</a:t>
            </a:r>
            <a:r>
              <a:rPr lang="en-GB" altLang="en-US" sz="1700">
                <a:effectLst/>
              </a:rPr>
              <a:t> as a whole (or are assumed to). However, other markers may deform by </a:t>
            </a:r>
            <a:r>
              <a:rPr lang="en-GB" altLang="en-US" sz="1700">
                <a:solidFill>
                  <a:srgbClr val="FF66CC"/>
                </a:solidFill>
                <a:effectLst/>
              </a:rPr>
              <a:t>brittle fragmentation</a:t>
            </a:r>
            <a:r>
              <a:rPr lang="en-GB" altLang="en-US" sz="1700">
                <a:effectLst/>
              </a:rPr>
              <a:t> without any change in length within the fragments. By adding together the lengths of the fragments in the direction of interest, </a:t>
            </a:r>
            <a:r>
              <a:rPr lang="en-GB" altLang="en-US" sz="1700" i="1">
                <a:solidFill>
                  <a:srgbClr val="FFFF00"/>
                </a:solidFill>
                <a:effectLst/>
              </a:rPr>
              <a:t>L</a:t>
            </a:r>
            <a:r>
              <a:rPr lang="en-GB" altLang="en-US" sz="1700" baseline="-25000">
                <a:solidFill>
                  <a:srgbClr val="FFFF00"/>
                </a:solidFill>
                <a:effectLst/>
              </a:rPr>
              <a:t>0</a:t>
            </a:r>
            <a:r>
              <a:rPr lang="en-GB" altLang="en-US" sz="1700">
                <a:effectLst/>
              </a:rPr>
              <a:t> may be found, and compared with the deformed length, </a:t>
            </a:r>
            <a:r>
              <a:rPr lang="en-GB" altLang="en-US" sz="1700" i="1">
                <a:solidFill>
                  <a:srgbClr val="FFFF00"/>
                </a:solidFill>
                <a:effectLst/>
              </a:rPr>
              <a:t>L</a:t>
            </a:r>
            <a:r>
              <a:rPr lang="en-GB" altLang="en-US" sz="1700">
                <a:effectLst/>
              </a:rPr>
              <a:t>, measured from the rock</a:t>
            </a:r>
          </a:p>
        </p:txBody>
      </p:sp>
      <p:pic>
        <p:nvPicPr>
          <p:cNvPr id="276486" name="Picture 3" descr="GR01.jpg">
            <a:extLst>
              <a:ext uri="{FF2B5EF4-FFF2-40B4-BE49-F238E27FC236}">
                <a16:creationId xmlns:a16="http://schemas.microsoft.com/office/drawing/2014/main" id="{2DC687F2-CB80-4D12-9332-27A316E7588B}"/>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024313" y="2382838"/>
            <a:ext cx="4921250" cy="3082925"/>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488" name="Text Box 8">
            <a:extLst>
              <a:ext uri="{FF2B5EF4-FFF2-40B4-BE49-F238E27FC236}">
                <a16:creationId xmlns:a16="http://schemas.microsoft.com/office/drawing/2014/main" id="{1899C887-0537-46F0-9C82-0ED342FBFB50}"/>
              </a:ext>
            </a:extLst>
          </p:cNvPr>
          <p:cNvSpPr txBox="1">
            <a:spLocks noChangeArrowheads="1"/>
          </p:cNvSpPr>
          <p:nvPr/>
        </p:nvSpPr>
        <p:spPr bwMode="auto">
          <a:xfrm>
            <a:off x="106363" y="2566988"/>
            <a:ext cx="3827462" cy="390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6700" indent="-266700">
              <a:defRPr sz="1600">
                <a:solidFill>
                  <a:schemeClr val="tx1"/>
                </a:solidFill>
                <a:latin typeface="Helvetica" panose="020B0604020202020204" pitchFamily="34" charset="0"/>
              </a:defRPr>
            </a:lvl1pPr>
            <a:lvl2pPr marL="762000" indent="-304800">
              <a:defRPr sz="1600">
                <a:solidFill>
                  <a:schemeClr val="tx1"/>
                </a:solidFill>
                <a:latin typeface="Helvetica" panose="020B0604020202020204" pitchFamily="34" charset="0"/>
              </a:defRPr>
            </a:lvl2pPr>
            <a:lvl3pPr marL="1235075" indent="-304800">
              <a:defRPr sz="1600">
                <a:solidFill>
                  <a:schemeClr val="tx1"/>
                </a:solidFill>
                <a:latin typeface="Helvetica" panose="020B0604020202020204" pitchFamily="34" charset="0"/>
              </a:defRPr>
            </a:lvl3pPr>
            <a:lvl4pPr marL="1719263" indent="-304800">
              <a:defRPr sz="1600">
                <a:solidFill>
                  <a:schemeClr val="tx1"/>
                </a:solidFill>
                <a:latin typeface="Helvetica" panose="020B0604020202020204" pitchFamily="34" charset="0"/>
              </a:defRPr>
            </a:lvl4pPr>
            <a:lvl5pPr marL="2203450" indent="-304800">
              <a:defRPr sz="1600">
                <a:solidFill>
                  <a:schemeClr val="tx1"/>
                </a:solidFill>
                <a:latin typeface="Helvetica" panose="020B0604020202020204" pitchFamily="34" charset="0"/>
              </a:defRPr>
            </a:lvl5pPr>
            <a:lvl6pPr marL="266065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1785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57505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3225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AutoNum type="arabicPeriod"/>
            </a:pPr>
            <a:r>
              <a:rPr lang="en-GB" altLang="en-US" sz="1700">
                <a:solidFill>
                  <a:srgbClr val="FF66CC"/>
                </a:solidFill>
                <a:effectLst/>
                <a:latin typeface="Arial" panose="020B0604020202020204" pitchFamily="34" charset="0"/>
              </a:rPr>
              <a:t>Linear markers that are much more competent</a:t>
            </a:r>
            <a:r>
              <a:rPr lang="en-GB" altLang="en-US" sz="1700">
                <a:effectLst/>
                <a:latin typeface="Arial" panose="020B0604020202020204" pitchFamily="34" charset="0"/>
              </a:rPr>
              <a:t> than the matrix, </a:t>
            </a:r>
            <a:r>
              <a:rPr lang="en-GB" altLang="en-US" sz="1700" i="1">
                <a:effectLst/>
                <a:latin typeface="Arial" panose="020B0604020202020204" pitchFamily="34" charset="0"/>
              </a:rPr>
              <a:t>e.g</a:t>
            </a:r>
            <a:r>
              <a:rPr lang="en-GB" altLang="en-US" sz="1700">
                <a:effectLst/>
                <a:latin typeface="Arial" panose="020B0604020202020204" pitchFamily="34" charset="0"/>
              </a:rPr>
              <a:t>., belemnites or acicular needles of some strong mineral phase (</a:t>
            </a:r>
            <a:r>
              <a:rPr lang="en-GB" altLang="en-US" sz="1700" i="1">
                <a:effectLst/>
                <a:latin typeface="Arial" panose="020B0604020202020204" pitchFamily="34" charset="0"/>
              </a:rPr>
              <a:t>e.g.</a:t>
            </a:r>
            <a:r>
              <a:rPr lang="en-GB" altLang="en-US" sz="1700">
                <a:effectLst/>
                <a:latin typeface="Arial" panose="020B0604020202020204" pitchFamily="34" charset="0"/>
              </a:rPr>
              <a:t>, rutile in quartz)</a:t>
            </a:r>
            <a:endParaRPr lang="en-GB" altLang="en-US" sz="1700" i="1">
              <a:effectLst/>
              <a:latin typeface="Arial" panose="020B0604020202020204" pitchFamily="34" charset="0"/>
            </a:endParaRPr>
          </a:p>
          <a:p>
            <a:pPr>
              <a:lnSpc>
                <a:spcPct val="120000"/>
              </a:lnSpc>
              <a:spcBef>
                <a:spcPct val="75000"/>
              </a:spcBef>
              <a:buClr>
                <a:schemeClr val="folHlink"/>
              </a:buClr>
              <a:buSzPct val="100000"/>
              <a:buFont typeface="Times" panose="02020603050405020304" pitchFamily="18" charset="0"/>
              <a:buAutoNum type="arabicPeriod"/>
            </a:pPr>
            <a:r>
              <a:rPr lang="en-GB" altLang="en-US" sz="1700">
                <a:solidFill>
                  <a:srgbClr val="FF66CC"/>
                </a:solidFill>
                <a:effectLst/>
                <a:latin typeface="Arial" panose="020B0604020202020204" pitchFamily="34" charset="0"/>
              </a:rPr>
              <a:t>Linear markers that are easily disaggregated</a:t>
            </a:r>
            <a:r>
              <a:rPr lang="en-GB" altLang="en-US" sz="1700" i="1">
                <a:effectLst/>
                <a:latin typeface="Arial" panose="020B0604020202020204" pitchFamily="34" charset="0"/>
              </a:rPr>
              <a:t> </a:t>
            </a:r>
            <a:r>
              <a:rPr lang="en-GB" altLang="en-US" sz="1700">
                <a:effectLst/>
                <a:latin typeface="Arial" panose="020B0604020202020204" pitchFamily="34" charset="0"/>
              </a:rPr>
              <a:t>(</a:t>
            </a:r>
            <a:r>
              <a:rPr lang="en-GB" altLang="en-US" sz="1700" i="1">
                <a:effectLst/>
                <a:latin typeface="Arial" panose="020B0604020202020204" pitchFamily="34" charset="0"/>
              </a:rPr>
              <a:t>e.g.</a:t>
            </a:r>
            <a:r>
              <a:rPr lang="en-GB" altLang="en-US" sz="1700">
                <a:effectLst/>
                <a:latin typeface="Arial" panose="020B0604020202020204" pitchFamily="34" charset="0"/>
              </a:rPr>
              <a:t>,</a:t>
            </a:r>
            <a:r>
              <a:rPr lang="en-GB" altLang="en-US" sz="1700" i="1">
                <a:effectLst/>
                <a:latin typeface="Arial" panose="020B0604020202020204" pitchFamily="34" charset="0"/>
              </a:rPr>
              <a:t> </a:t>
            </a:r>
            <a:r>
              <a:rPr lang="en-GB" altLang="en-US" sz="1700">
                <a:effectLst/>
                <a:latin typeface="Arial" panose="020B0604020202020204" pitchFamily="34" charset="0"/>
              </a:rPr>
              <a:t>crinoid stems)</a:t>
            </a:r>
          </a:p>
          <a:p>
            <a:pPr>
              <a:lnSpc>
                <a:spcPct val="120000"/>
              </a:lnSpc>
              <a:spcBef>
                <a:spcPct val="75000"/>
              </a:spcBef>
              <a:buClr>
                <a:schemeClr val="folHlink"/>
              </a:buClr>
              <a:buSzPct val="100000"/>
              <a:buFont typeface="Times" panose="02020603050405020304" pitchFamily="18" charset="0"/>
              <a:buAutoNum type="arabicPeriod"/>
            </a:pPr>
            <a:r>
              <a:rPr lang="en-GB" altLang="en-US" sz="1700">
                <a:solidFill>
                  <a:srgbClr val="FF66CC"/>
                </a:solidFill>
                <a:effectLst/>
                <a:latin typeface="Arial" panose="020B0604020202020204" pitchFamily="34" charset="0"/>
              </a:rPr>
              <a:t>Fossils with some characteristic dimension</a:t>
            </a:r>
            <a:r>
              <a:rPr lang="en-GB" altLang="en-US" sz="1700">
                <a:effectLst/>
                <a:latin typeface="Arial" panose="020B0604020202020204" pitchFamily="34" charset="0"/>
              </a:rPr>
              <a:t> (</a:t>
            </a:r>
            <a:r>
              <a:rPr lang="en-GB" altLang="en-US" sz="1700" i="1">
                <a:effectLst/>
                <a:latin typeface="Arial" panose="020B0604020202020204" pitchFamily="34" charset="0"/>
              </a:rPr>
              <a:t>e.g.</a:t>
            </a:r>
            <a:r>
              <a:rPr lang="en-GB" altLang="en-US" sz="1700">
                <a:effectLst/>
                <a:latin typeface="Arial" panose="020B0604020202020204" pitchFamily="34" charset="0"/>
              </a:rPr>
              <a:t>, spacing of thecae in some species of undeformed graptolites)</a:t>
            </a:r>
            <a:endParaRPr lang="en-GB" altLang="en-US" sz="1700">
              <a:effectLst>
                <a:outerShdw blurRad="38100" dist="38100" dir="2700000" algn="tl">
                  <a:srgbClr val="000000"/>
                </a:outerShdw>
              </a:effectLst>
              <a:latin typeface="Arial" panose="020B0604020202020204" pitchFamily="34" charset="0"/>
            </a:endParaRPr>
          </a:p>
        </p:txBody>
      </p:sp>
      <p:sp>
        <p:nvSpPr>
          <p:cNvPr id="276489" name="Text Box 9">
            <a:extLst>
              <a:ext uri="{FF2B5EF4-FFF2-40B4-BE49-F238E27FC236}">
                <a16:creationId xmlns:a16="http://schemas.microsoft.com/office/drawing/2014/main" id="{8D16D71E-ED49-4636-B3EA-3CA876A1B07F}"/>
              </a:ext>
            </a:extLst>
          </p:cNvPr>
          <p:cNvSpPr txBox="1">
            <a:spLocks noChangeArrowheads="1"/>
          </p:cNvSpPr>
          <p:nvPr/>
        </p:nvSpPr>
        <p:spPr bwMode="auto">
          <a:xfrm>
            <a:off x="4062413" y="5529263"/>
            <a:ext cx="4927600"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Two elongated belemnites: the lower one must be close to the maximum extension direction; the fragments in the upper one have been rotated within an overall dextral shear strain field</a:t>
            </a:r>
          </a:p>
        </p:txBody>
      </p:sp>
      <p:sp>
        <p:nvSpPr>
          <p:cNvPr id="276490" name="Line 10">
            <a:extLst>
              <a:ext uri="{FF2B5EF4-FFF2-40B4-BE49-F238E27FC236}">
                <a16:creationId xmlns:a16="http://schemas.microsoft.com/office/drawing/2014/main" id="{5AAFBF1E-1CEF-49BB-8E46-0959A8E5E0FE}"/>
              </a:ext>
            </a:extLst>
          </p:cNvPr>
          <p:cNvSpPr>
            <a:spLocks noChangeShapeType="1"/>
          </p:cNvSpPr>
          <p:nvPr/>
        </p:nvSpPr>
        <p:spPr bwMode="auto">
          <a:xfrm flipH="1">
            <a:off x="5811838" y="4635500"/>
            <a:ext cx="325437" cy="23177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491" name="Line 11">
            <a:extLst>
              <a:ext uri="{FF2B5EF4-FFF2-40B4-BE49-F238E27FC236}">
                <a16:creationId xmlns:a16="http://schemas.microsoft.com/office/drawing/2014/main" id="{EE22C952-33CA-4043-9F90-3B7A93AD5E6E}"/>
              </a:ext>
            </a:extLst>
          </p:cNvPr>
          <p:cNvSpPr>
            <a:spLocks noChangeShapeType="1"/>
          </p:cNvSpPr>
          <p:nvPr/>
        </p:nvSpPr>
        <p:spPr bwMode="auto">
          <a:xfrm rot="10800000" flipH="1">
            <a:off x="6267450" y="4314825"/>
            <a:ext cx="325438" cy="23177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492" name="Freeform 12">
            <a:extLst>
              <a:ext uri="{FF2B5EF4-FFF2-40B4-BE49-F238E27FC236}">
                <a16:creationId xmlns:a16="http://schemas.microsoft.com/office/drawing/2014/main" id="{0A0960E2-D7B5-41DD-BE2D-E05562590D32}"/>
              </a:ext>
            </a:extLst>
          </p:cNvPr>
          <p:cNvSpPr>
            <a:spLocks/>
          </p:cNvSpPr>
          <p:nvPr/>
        </p:nvSpPr>
        <p:spPr bwMode="auto">
          <a:xfrm rot="9955744" flipV="1">
            <a:off x="7000754" y="2816294"/>
            <a:ext cx="430212" cy="95250"/>
          </a:xfrm>
          <a:custGeom>
            <a:avLst/>
            <a:gdLst>
              <a:gd name="T0" fmla="*/ 271 w 271"/>
              <a:gd name="T1" fmla="*/ 34 h 60"/>
              <a:gd name="T2" fmla="*/ 0 w 271"/>
              <a:gd name="T3" fmla="*/ 60 h 60"/>
              <a:gd name="T4" fmla="*/ 79 w 271"/>
              <a:gd name="T5" fmla="*/ 0 h 60"/>
            </a:gdLst>
            <a:ahLst/>
            <a:cxnLst>
              <a:cxn ang="0">
                <a:pos x="T0" y="T1"/>
              </a:cxn>
              <a:cxn ang="0">
                <a:pos x="T2" y="T3"/>
              </a:cxn>
              <a:cxn ang="0">
                <a:pos x="T4" y="T5"/>
              </a:cxn>
            </a:cxnLst>
            <a:rect l="0" t="0" r="r" b="b"/>
            <a:pathLst>
              <a:path w="271" h="60">
                <a:moveTo>
                  <a:pt x="271" y="34"/>
                </a:moveTo>
                <a:lnTo>
                  <a:pt x="0" y="60"/>
                </a:lnTo>
                <a:lnTo>
                  <a:pt x="79"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a:extLst>
              <a:ext uri="{FF2B5EF4-FFF2-40B4-BE49-F238E27FC236}">
                <a16:creationId xmlns:a16="http://schemas.microsoft.com/office/drawing/2014/main" id="{DCD039C8-8C49-4E0E-A84E-CD4D4F0B65CD}"/>
              </a:ext>
            </a:extLst>
          </p:cNvPr>
          <p:cNvSpPr>
            <a:spLocks noGrp="1" noChangeArrowheads="1"/>
          </p:cNvSpPr>
          <p:nvPr>
            <p:ph type="title"/>
          </p:nvPr>
        </p:nvSpPr>
        <p:spPr>
          <a:noFill/>
        </p:spPr>
        <p:txBody>
          <a:bodyPr/>
          <a:lstStyle/>
          <a:p>
            <a:r>
              <a:rPr lang="en-GB" altLang="en-US">
                <a:effectLst/>
              </a:rPr>
              <a:t>Practical strain measurement  (bilateral symmetry)</a:t>
            </a:r>
          </a:p>
        </p:txBody>
      </p:sp>
      <p:sp>
        <p:nvSpPr>
          <p:cNvPr id="278531" name="Rectangle 3">
            <a:extLst>
              <a:ext uri="{FF2B5EF4-FFF2-40B4-BE49-F238E27FC236}">
                <a16:creationId xmlns:a16="http://schemas.microsoft.com/office/drawing/2014/main" id="{D1E4B328-6988-4FD4-91F2-A5849384484C}"/>
              </a:ext>
            </a:extLst>
          </p:cNvPr>
          <p:cNvSpPr>
            <a:spLocks noGrp="1" noChangeArrowheads="1"/>
          </p:cNvSpPr>
          <p:nvPr>
            <p:ph type="body" sz="half" idx="1"/>
          </p:nvPr>
        </p:nvSpPr>
        <p:spPr>
          <a:xfrm>
            <a:off x="146050" y="774700"/>
            <a:ext cx="4248150" cy="2693988"/>
          </a:xfrm>
          <a:noFill/>
        </p:spPr>
        <p:txBody>
          <a:bodyPr/>
          <a:lstStyle/>
          <a:p>
            <a:pPr marL="177800" indent="-177800">
              <a:spcBef>
                <a:spcPct val="75000"/>
              </a:spcBef>
            </a:pPr>
            <a:r>
              <a:rPr lang="en-GB" altLang="en-US" sz="1700">
                <a:effectLst/>
              </a:rPr>
              <a:t>Many fossils have features that were </a:t>
            </a:r>
            <a:r>
              <a:rPr lang="en-GB" altLang="en-US" sz="1700">
                <a:solidFill>
                  <a:srgbClr val="FF66CC"/>
                </a:solidFill>
                <a:effectLst/>
              </a:rPr>
              <a:t>initially perpendicular</a:t>
            </a:r>
            <a:r>
              <a:rPr lang="en-GB" altLang="en-US" sz="1700">
                <a:effectLst/>
              </a:rPr>
              <a:t> (it may require imagination to identify these). These can be used to determine angular shear. In principle, measurement of angular shear in two different directions is enough to establish the ratio of the principal strains</a:t>
            </a:r>
          </a:p>
        </p:txBody>
      </p:sp>
      <p:pic>
        <p:nvPicPr>
          <p:cNvPr id="278534" name="Picture 6">
            <a:extLst>
              <a:ext uri="{FF2B5EF4-FFF2-40B4-BE49-F238E27FC236}">
                <a16:creationId xmlns:a16="http://schemas.microsoft.com/office/drawing/2014/main" id="{0C11A019-85BD-47D1-8FF3-88694988A405}"/>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41300" y="3576638"/>
            <a:ext cx="4098925" cy="2882900"/>
          </a:xfrm>
          <a:noFill/>
          <a:ln w="38100" cap="flat">
            <a:solidFill>
              <a:schemeClr val="bg2"/>
            </a:solidFill>
            <a:miter lim="800000"/>
            <a:headEnd/>
            <a:tailEnd/>
          </a:ln>
        </p:spPr>
      </p:pic>
      <p:sp>
        <p:nvSpPr>
          <p:cNvPr id="278538" name="Text Box 10">
            <a:extLst>
              <a:ext uri="{FF2B5EF4-FFF2-40B4-BE49-F238E27FC236}">
                <a16:creationId xmlns:a16="http://schemas.microsoft.com/office/drawing/2014/main" id="{B50312C7-822C-447A-BBCA-4E62ED7F4223}"/>
              </a:ext>
            </a:extLst>
          </p:cNvPr>
          <p:cNvSpPr txBox="1">
            <a:spLocks noChangeArrowheads="1"/>
          </p:cNvSpPr>
          <p:nvPr/>
        </p:nvSpPr>
        <p:spPr bwMode="auto">
          <a:xfrm>
            <a:off x="4567238" y="3362325"/>
            <a:ext cx="1604962" cy="327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In the strained brachiopods (right), the hinge line and plane of symmetry are still orthogonal in shells A and B after deformation. Hence these lines in A and B must be parallel to the principal strain directions</a:t>
            </a:r>
          </a:p>
        </p:txBody>
      </p:sp>
      <p:grpSp>
        <p:nvGrpSpPr>
          <p:cNvPr id="278548" name="Group 20">
            <a:extLst>
              <a:ext uri="{FF2B5EF4-FFF2-40B4-BE49-F238E27FC236}">
                <a16:creationId xmlns:a16="http://schemas.microsoft.com/office/drawing/2014/main" id="{9EDF550D-00A3-46F1-84D1-E0D5D733A24E}"/>
              </a:ext>
            </a:extLst>
          </p:cNvPr>
          <p:cNvGrpSpPr>
            <a:grpSpLocks/>
          </p:cNvGrpSpPr>
          <p:nvPr/>
        </p:nvGrpSpPr>
        <p:grpSpPr bwMode="auto">
          <a:xfrm>
            <a:off x="6300788" y="3444875"/>
            <a:ext cx="2644775" cy="3162300"/>
            <a:chOff x="3444" y="1581"/>
            <a:chExt cx="2188" cy="2629"/>
          </a:xfrm>
        </p:grpSpPr>
        <p:pic>
          <p:nvPicPr>
            <p:cNvPr id="278536" name="Picture 8" descr="11b">
              <a:extLst>
                <a:ext uri="{FF2B5EF4-FFF2-40B4-BE49-F238E27FC236}">
                  <a16:creationId xmlns:a16="http://schemas.microsoft.com/office/drawing/2014/main" id="{089ED8A9-4CCB-4597-BB93-A0BAECFBB0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4" y="1581"/>
              <a:ext cx="2188" cy="2629"/>
            </a:xfrm>
            <a:prstGeom prst="rect">
              <a:avLst/>
            </a:prstGeom>
            <a:noFill/>
            <a:ln w="38100" cmpd="sng">
              <a:solidFill>
                <a:schemeClr val="bg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8539" name="Line 11">
              <a:extLst>
                <a:ext uri="{FF2B5EF4-FFF2-40B4-BE49-F238E27FC236}">
                  <a16:creationId xmlns:a16="http://schemas.microsoft.com/office/drawing/2014/main" id="{BC31D255-723E-476C-B99E-2401FCB2A94D}"/>
                </a:ext>
              </a:extLst>
            </p:cNvPr>
            <p:cNvSpPr>
              <a:spLocks noChangeShapeType="1"/>
            </p:cNvSpPr>
            <p:nvPr/>
          </p:nvSpPr>
          <p:spPr bwMode="auto">
            <a:xfrm>
              <a:off x="5290" y="3389"/>
              <a:ext cx="118" cy="442"/>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8541" name="Line 13">
              <a:extLst>
                <a:ext uri="{FF2B5EF4-FFF2-40B4-BE49-F238E27FC236}">
                  <a16:creationId xmlns:a16="http://schemas.microsoft.com/office/drawing/2014/main" id="{C5329DAC-592D-41FE-9C4B-2D4CB089FA03}"/>
                </a:ext>
              </a:extLst>
            </p:cNvPr>
            <p:cNvSpPr>
              <a:spLocks noChangeShapeType="1"/>
            </p:cNvSpPr>
            <p:nvPr/>
          </p:nvSpPr>
          <p:spPr bwMode="auto">
            <a:xfrm flipH="1">
              <a:off x="5352" y="3294"/>
              <a:ext cx="96" cy="33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8542" name="Line 14">
              <a:extLst>
                <a:ext uri="{FF2B5EF4-FFF2-40B4-BE49-F238E27FC236}">
                  <a16:creationId xmlns:a16="http://schemas.microsoft.com/office/drawing/2014/main" id="{F66B2846-FAFB-4E6E-B402-F3A8526B8769}"/>
                </a:ext>
              </a:extLst>
            </p:cNvPr>
            <p:cNvSpPr>
              <a:spLocks noChangeShapeType="1"/>
            </p:cNvSpPr>
            <p:nvPr/>
          </p:nvSpPr>
          <p:spPr bwMode="auto">
            <a:xfrm flipH="1">
              <a:off x="5055" y="3396"/>
              <a:ext cx="105" cy="42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8543" name="Line 15">
              <a:extLst>
                <a:ext uri="{FF2B5EF4-FFF2-40B4-BE49-F238E27FC236}">
                  <a16:creationId xmlns:a16="http://schemas.microsoft.com/office/drawing/2014/main" id="{16EECD24-1801-486D-8C59-E77CCB88DF6D}"/>
                </a:ext>
              </a:extLst>
            </p:cNvPr>
            <p:cNvSpPr>
              <a:spLocks noChangeShapeType="1"/>
            </p:cNvSpPr>
            <p:nvPr/>
          </p:nvSpPr>
          <p:spPr bwMode="auto">
            <a:xfrm>
              <a:off x="5025" y="3270"/>
              <a:ext cx="78" cy="34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8544" name="Line 16">
              <a:extLst>
                <a:ext uri="{FF2B5EF4-FFF2-40B4-BE49-F238E27FC236}">
                  <a16:creationId xmlns:a16="http://schemas.microsoft.com/office/drawing/2014/main" id="{81B8EEBE-BC61-4485-87F4-75B4596E5977}"/>
                </a:ext>
              </a:extLst>
            </p:cNvPr>
            <p:cNvSpPr>
              <a:spLocks noChangeShapeType="1"/>
            </p:cNvSpPr>
            <p:nvPr/>
          </p:nvSpPr>
          <p:spPr bwMode="auto">
            <a:xfrm>
              <a:off x="5007" y="2391"/>
              <a:ext cx="165"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8545" name="Line 17">
              <a:extLst>
                <a:ext uri="{FF2B5EF4-FFF2-40B4-BE49-F238E27FC236}">
                  <a16:creationId xmlns:a16="http://schemas.microsoft.com/office/drawing/2014/main" id="{3A95AEAA-43FF-450B-842D-69B8E3644D4B}"/>
                </a:ext>
              </a:extLst>
            </p:cNvPr>
            <p:cNvSpPr>
              <a:spLocks noChangeShapeType="1"/>
            </p:cNvSpPr>
            <p:nvPr/>
          </p:nvSpPr>
          <p:spPr bwMode="auto">
            <a:xfrm>
              <a:off x="5100" y="1980"/>
              <a:ext cx="0" cy="40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8546" name="Line 18">
              <a:extLst>
                <a:ext uri="{FF2B5EF4-FFF2-40B4-BE49-F238E27FC236}">
                  <a16:creationId xmlns:a16="http://schemas.microsoft.com/office/drawing/2014/main" id="{8CAC55A5-D3AA-4E93-B751-95F13D419CD9}"/>
                </a:ext>
              </a:extLst>
            </p:cNvPr>
            <p:cNvSpPr>
              <a:spLocks noChangeShapeType="1"/>
            </p:cNvSpPr>
            <p:nvPr/>
          </p:nvSpPr>
          <p:spPr bwMode="auto">
            <a:xfrm>
              <a:off x="5343" y="2160"/>
              <a:ext cx="0" cy="453"/>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8547" name="Line 19">
              <a:extLst>
                <a:ext uri="{FF2B5EF4-FFF2-40B4-BE49-F238E27FC236}">
                  <a16:creationId xmlns:a16="http://schemas.microsoft.com/office/drawing/2014/main" id="{7C61FE7B-3EB7-48AB-AFCA-C94FB004299A}"/>
                </a:ext>
              </a:extLst>
            </p:cNvPr>
            <p:cNvSpPr>
              <a:spLocks noChangeShapeType="1"/>
            </p:cNvSpPr>
            <p:nvPr/>
          </p:nvSpPr>
          <p:spPr bwMode="auto">
            <a:xfrm flipH="1">
              <a:off x="5343" y="2391"/>
              <a:ext cx="96"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pic>
        <p:nvPicPr>
          <p:cNvPr id="278549" name="Picture 21" descr="Delabole1">
            <a:extLst>
              <a:ext uri="{FF2B5EF4-FFF2-40B4-BE49-F238E27FC236}">
                <a16:creationId xmlns:a16="http://schemas.microsoft.com/office/drawing/2014/main" id="{B1899104-451A-49D5-8295-3B80207F9E5A}"/>
              </a:ext>
            </a:extLst>
          </p:cNvPr>
          <p:cNvPicPr>
            <a:picLocks noChangeAspect="1" noChangeArrowheads="1"/>
          </p:cNvPicPr>
          <p:nvPr/>
        </p:nvPicPr>
        <p:blipFill>
          <a:blip r:embed="rId5">
            <a:lum bright="-6000"/>
            <a:extLst>
              <a:ext uri="{28A0092B-C50C-407E-A947-70E740481C1C}">
                <a14:useLocalDpi xmlns:a14="http://schemas.microsoft.com/office/drawing/2010/main" val="0"/>
              </a:ext>
            </a:extLst>
          </a:blip>
          <a:srcRect/>
          <a:stretch>
            <a:fillRect/>
          </a:stretch>
        </p:blipFill>
        <p:spPr bwMode="auto">
          <a:xfrm>
            <a:off x="4711700" y="974725"/>
            <a:ext cx="4181475" cy="2165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78550" name="Line 22">
            <a:extLst>
              <a:ext uri="{FF2B5EF4-FFF2-40B4-BE49-F238E27FC236}">
                <a16:creationId xmlns:a16="http://schemas.microsoft.com/office/drawing/2014/main" id="{35A197DD-7AA2-41E8-9CB8-CDB8C800B13C}"/>
              </a:ext>
            </a:extLst>
          </p:cNvPr>
          <p:cNvSpPr>
            <a:spLocks noChangeShapeType="1"/>
          </p:cNvSpPr>
          <p:nvPr/>
        </p:nvSpPr>
        <p:spPr bwMode="auto">
          <a:xfrm>
            <a:off x="6588125" y="1131888"/>
            <a:ext cx="1085850" cy="5715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8551" name="Line 23">
            <a:extLst>
              <a:ext uri="{FF2B5EF4-FFF2-40B4-BE49-F238E27FC236}">
                <a16:creationId xmlns:a16="http://schemas.microsoft.com/office/drawing/2014/main" id="{6B8389FC-210F-444D-B8B8-8080E3546AD7}"/>
              </a:ext>
            </a:extLst>
          </p:cNvPr>
          <p:cNvSpPr>
            <a:spLocks noChangeShapeType="1"/>
          </p:cNvSpPr>
          <p:nvPr/>
        </p:nvSpPr>
        <p:spPr bwMode="auto">
          <a:xfrm flipH="1">
            <a:off x="7010400" y="1162050"/>
            <a:ext cx="134938" cy="36988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8552" name="Line 24">
            <a:extLst>
              <a:ext uri="{FF2B5EF4-FFF2-40B4-BE49-F238E27FC236}">
                <a16:creationId xmlns:a16="http://schemas.microsoft.com/office/drawing/2014/main" id="{BDE1AB99-54F9-49AB-B8DE-44C8B02349D3}"/>
              </a:ext>
            </a:extLst>
          </p:cNvPr>
          <p:cNvSpPr>
            <a:spLocks noChangeShapeType="1"/>
          </p:cNvSpPr>
          <p:nvPr/>
        </p:nvSpPr>
        <p:spPr bwMode="auto">
          <a:xfrm rot="5400000">
            <a:off x="6934201" y="1357312"/>
            <a:ext cx="406400" cy="22225"/>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8553" name="Line 25">
            <a:extLst>
              <a:ext uri="{FF2B5EF4-FFF2-40B4-BE49-F238E27FC236}">
                <a16:creationId xmlns:a16="http://schemas.microsoft.com/office/drawing/2014/main" id="{D86FE79D-CFFF-4C38-A3D9-6CB0E895FA5D}"/>
              </a:ext>
            </a:extLst>
          </p:cNvPr>
          <p:cNvSpPr>
            <a:spLocks noChangeShapeType="1"/>
          </p:cNvSpPr>
          <p:nvPr/>
        </p:nvSpPr>
        <p:spPr bwMode="auto">
          <a:xfrm flipH="1" flipV="1">
            <a:off x="6958013" y="1597025"/>
            <a:ext cx="146050" cy="49213"/>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8554" name="Text Box 26">
            <a:extLst>
              <a:ext uri="{FF2B5EF4-FFF2-40B4-BE49-F238E27FC236}">
                <a16:creationId xmlns:a16="http://schemas.microsoft.com/office/drawing/2014/main" id="{A7584EBD-EE27-4581-A6DB-8097AF2B63CA}"/>
              </a:ext>
            </a:extLst>
          </p:cNvPr>
          <p:cNvSpPr txBox="1">
            <a:spLocks noChangeArrowheads="1"/>
          </p:cNvSpPr>
          <p:nvPr/>
        </p:nvSpPr>
        <p:spPr bwMode="auto">
          <a:xfrm>
            <a:off x="6662738" y="1322388"/>
            <a:ext cx="3635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b="1" i="1">
                <a:solidFill>
                  <a:srgbClr val="FF0000"/>
                </a:solidFill>
                <a:effectLst/>
                <a:latin typeface="Symbol" panose="05050102010706020507" pitchFamily="18" charset="2"/>
              </a:rPr>
              <a:t>y</a:t>
            </a:r>
          </a:p>
        </p:txBody>
      </p:sp>
      <p:sp>
        <p:nvSpPr>
          <p:cNvPr id="278556" name="Text Box 28">
            <a:extLst>
              <a:ext uri="{FF2B5EF4-FFF2-40B4-BE49-F238E27FC236}">
                <a16:creationId xmlns:a16="http://schemas.microsoft.com/office/drawing/2014/main" id="{364CAD2F-6229-43D3-8B43-93F20B4EF305}"/>
              </a:ext>
            </a:extLst>
          </p:cNvPr>
          <p:cNvSpPr txBox="1">
            <a:spLocks noChangeArrowheads="1"/>
          </p:cNvSpPr>
          <p:nvPr/>
        </p:nvSpPr>
        <p:spPr bwMode="auto">
          <a:xfrm>
            <a:off x="7261225" y="2825750"/>
            <a:ext cx="15986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latin typeface="Arial" panose="020B0604020202020204" pitchFamily="34" charset="0"/>
              </a:rPr>
              <a:t>Delabole butterfly</a:t>
            </a: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a:extLst>
              <a:ext uri="{FF2B5EF4-FFF2-40B4-BE49-F238E27FC236}">
                <a16:creationId xmlns:a16="http://schemas.microsoft.com/office/drawing/2014/main" id="{0F8A8150-78FB-442F-B04B-9CF0F3596B05}"/>
              </a:ext>
            </a:extLst>
          </p:cNvPr>
          <p:cNvSpPr>
            <a:spLocks noGrp="1" noChangeArrowheads="1"/>
          </p:cNvSpPr>
          <p:nvPr>
            <p:ph type="title"/>
          </p:nvPr>
        </p:nvSpPr>
        <p:spPr>
          <a:noFill/>
        </p:spPr>
        <p:txBody>
          <a:bodyPr/>
          <a:lstStyle/>
          <a:p>
            <a:r>
              <a:rPr lang="en-GB" altLang="en-US">
                <a:effectLst/>
              </a:rPr>
              <a:t>Practical strain measurement  (Mohr circle)</a:t>
            </a:r>
          </a:p>
        </p:txBody>
      </p:sp>
      <p:sp>
        <p:nvSpPr>
          <p:cNvPr id="280579" name="Rectangle 3">
            <a:extLst>
              <a:ext uri="{FF2B5EF4-FFF2-40B4-BE49-F238E27FC236}">
                <a16:creationId xmlns:a16="http://schemas.microsoft.com/office/drawing/2014/main" id="{6E371355-E38A-4560-AA2C-13490ADDD058}"/>
              </a:ext>
            </a:extLst>
          </p:cNvPr>
          <p:cNvSpPr>
            <a:spLocks noGrp="1" noChangeArrowheads="1"/>
          </p:cNvSpPr>
          <p:nvPr>
            <p:ph type="body" sz="half" idx="1"/>
          </p:nvPr>
        </p:nvSpPr>
        <p:spPr>
          <a:xfrm>
            <a:off x="122238" y="811213"/>
            <a:ext cx="8775700" cy="2736850"/>
          </a:xfrm>
          <a:noFill/>
        </p:spPr>
        <p:txBody>
          <a:bodyPr/>
          <a:lstStyle/>
          <a:p>
            <a:pPr marL="177800" indent="-177800">
              <a:spcBef>
                <a:spcPct val="75000"/>
              </a:spcBef>
            </a:pPr>
            <a:r>
              <a:rPr lang="en-GB" altLang="en-US" sz="1700" dirty="0">
                <a:effectLst/>
              </a:rPr>
              <a:t>Practical strain analysis using changes in line length and/or changes in angle is most conveniently carried out graphically using the </a:t>
            </a:r>
            <a:r>
              <a:rPr lang="en-GB" altLang="en-US" sz="1700" dirty="0">
                <a:solidFill>
                  <a:srgbClr val="FF6600"/>
                </a:solidFill>
                <a:effectLst/>
              </a:rPr>
              <a:t>Mohr construction</a:t>
            </a:r>
            <a:endParaRPr lang="en-GB" altLang="en-US" sz="1700" dirty="0">
              <a:effectLst/>
            </a:endParaRPr>
          </a:p>
          <a:p>
            <a:pPr marL="177800" indent="-177800">
              <a:spcBef>
                <a:spcPct val="75000"/>
              </a:spcBef>
            </a:pPr>
            <a:r>
              <a:rPr lang="en-GB" altLang="en-US" sz="1700" dirty="0">
                <a:effectLst/>
              </a:rPr>
              <a:t>The strain parameters, </a:t>
            </a:r>
            <a:r>
              <a:rPr lang="en-GB" altLang="en-US" sz="1700" dirty="0">
                <a:solidFill>
                  <a:srgbClr val="FF66CC"/>
                </a:solidFill>
                <a:effectLst/>
              </a:rPr>
              <a:t>reciprocal quadratic elongation</a:t>
            </a:r>
            <a:r>
              <a:rPr lang="en-GB" altLang="en-US" sz="1700" dirty="0">
                <a:effectLst/>
              </a:rPr>
              <a:t>, </a:t>
            </a:r>
            <a:r>
              <a:rPr lang="el-GR" altLang="en-US" sz="1700" i="1" dirty="0">
                <a:solidFill>
                  <a:srgbClr val="FFFF00"/>
                </a:solidFill>
                <a:effectLst/>
                <a:latin typeface="Cambria Math" panose="02040503050406030204" pitchFamily="18" charset="0"/>
                <a:ea typeface="Cambria Math" panose="02040503050406030204" pitchFamily="18" charset="0"/>
              </a:rPr>
              <a:t>λ</a:t>
            </a:r>
            <a:r>
              <a:rPr lang="en-GB" altLang="en-US" sz="800" i="1" dirty="0">
                <a:solidFill>
                  <a:srgbClr val="FFFF00"/>
                </a:solidFill>
                <a:effectLst/>
                <a:latin typeface="Cambria Math" panose="02040503050406030204" pitchFamily="18" charset="0"/>
                <a:ea typeface="Cambria Math" panose="02040503050406030204" pitchFamily="18" charset="0"/>
              </a:rPr>
              <a:t> </a:t>
            </a:r>
            <a:r>
              <a:rPr lang="en-GB" altLang="en-US" sz="1700" dirty="0">
                <a:solidFill>
                  <a:srgbClr val="FFFF00"/>
                </a:solidFill>
                <a:effectLst/>
              </a:rPr>
              <a:t>´ = 1</a:t>
            </a:r>
            <a:r>
              <a:rPr lang="en-GB" altLang="en-US" sz="8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dirty="0">
                <a:solidFill>
                  <a:srgbClr val="FFFF00"/>
                </a:solidFill>
                <a:effectLst/>
              </a:rPr>
              <a:t>(</a:t>
            </a:r>
            <a:r>
              <a:rPr lang="en-GB" altLang="en-US" sz="600" dirty="0">
                <a:solidFill>
                  <a:srgbClr val="FFFF00"/>
                </a:solidFill>
                <a:effectLst/>
              </a:rPr>
              <a:t> </a:t>
            </a:r>
            <a:r>
              <a:rPr lang="en-GB" altLang="en-US" sz="1700" dirty="0">
                <a:solidFill>
                  <a:srgbClr val="FFFF00"/>
                </a:solidFill>
                <a:effectLst/>
              </a:rPr>
              <a:t>1</a:t>
            </a:r>
            <a:r>
              <a:rPr lang="en-GB" altLang="en-US" sz="600" dirty="0">
                <a:solidFill>
                  <a:srgbClr val="FFFF00"/>
                </a:solidFill>
                <a:effectLst/>
              </a:rPr>
              <a:t> </a:t>
            </a:r>
            <a:r>
              <a:rPr lang="en-GB" altLang="en-US" sz="1700" i="1" dirty="0">
                <a:solidFill>
                  <a:srgbClr val="FFFF00"/>
                </a:solidFill>
                <a:effectLst/>
              </a:rPr>
              <a:t>+</a:t>
            </a:r>
            <a:r>
              <a:rPr lang="en-GB" altLang="en-US" sz="800" i="1" dirty="0">
                <a:solidFill>
                  <a:srgbClr val="FFFF00"/>
                </a:solidFill>
                <a:effectLst/>
              </a:rPr>
              <a:t> </a:t>
            </a:r>
            <a:r>
              <a:rPr lang="en-GB" altLang="en-US" sz="1700" i="1" dirty="0">
                <a:solidFill>
                  <a:srgbClr val="FFFF00"/>
                </a:solidFill>
                <a:effectLst/>
              </a:rPr>
              <a:t>e</a:t>
            </a:r>
            <a:r>
              <a:rPr lang="en-GB" altLang="en-US" sz="800" i="1"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baseline="30000" dirty="0">
                <a:solidFill>
                  <a:srgbClr val="FFFF00"/>
                </a:solidFill>
                <a:effectLst/>
              </a:rPr>
              <a:t>2</a:t>
            </a:r>
            <a:r>
              <a:rPr lang="en-GB" altLang="en-US" sz="1700" dirty="0">
                <a:effectLst/>
              </a:rPr>
              <a:t>, and </a:t>
            </a:r>
            <a:r>
              <a:rPr lang="en-GB" altLang="en-US" sz="1700" dirty="0">
                <a:solidFill>
                  <a:srgbClr val="FF66CC"/>
                </a:solidFill>
                <a:effectLst/>
              </a:rPr>
              <a:t>gamma prime</a:t>
            </a:r>
            <a:r>
              <a:rPr lang="en-GB" altLang="en-US" sz="1700" dirty="0">
                <a:effectLst/>
              </a:rPr>
              <a:t>, </a:t>
            </a:r>
            <a:r>
              <a:rPr lang="el-GR" altLang="en-US" sz="1700" i="1" dirty="0">
                <a:solidFill>
                  <a:srgbClr val="FFFF00"/>
                </a:solidFill>
                <a:effectLst/>
                <a:latin typeface="Cambria Math" panose="02040503050406030204" pitchFamily="18" charset="0"/>
                <a:ea typeface="Cambria Math" panose="02040503050406030204" pitchFamily="18" charset="0"/>
              </a:rPr>
              <a:t>γ</a:t>
            </a:r>
            <a:r>
              <a:rPr lang="en-GB" altLang="en-US" sz="1700" i="1" dirty="0">
                <a:solidFill>
                  <a:srgbClr val="FFFF00"/>
                </a:solidFill>
                <a:effectLst/>
                <a:latin typeface="Symbol" panose="05050102010706020507" pitchFamily="18" charset="2"/>
              </a:rPr>
              <a:t> </a:t>
            </a:r>
            <a:r>
              <a:rPr lang="en-GB" altLang="en-US" sz="1700" dirty="0">
                <a:solidFill>
                  <a:srgbClr val="FFFF00"/>
                </a:solidFill>
                <a:effectLst/>
              </a:rPr>
              <a:t>´ = </a:t>
            </a:r>
            <a:r>
              <a:rPr lang="el-GR" altLang="en-US" sz="1700" i="1" dirty="0">
                <a:solidFill>
                  <a:srgbClr val="FFFF00"/>
                </a:solidFill>
                <a:effectLst/>
                <a:latin typeface="Cambria Math" panose="02040503050406030204" pitchFamily="18" charset="0"/>
                <a:ea typeface="Cambria Math" panose="02040503050406030204" pitchFamily="18" charset="0"/>
              </a:rPr>
              <a:t>γ</a:t>
            </a:r>
            <a:r>
              <a:rPr lang="en-GB" altLang="en-US" sz="1700" i="1" dirty="0">
                <a:solidFill>
                  <a:srgbClr val="FFFF00"/>
                </a:solidFill>
                <a:effectLst/>
                <a:latin typeface="Symbol" panose="05050102010706020507" pitchFamily="18" charset="2"/>
                <a:ea typeface="Cambria Math" panose="02040503050406030204" pitchFamily="18" charset="0"/>
              </a:rPr>
              <a:t> </a:t>
            </a:r>
            <a:r>
              <a:rPr lang="en-GB" altLang="en-US" sz="1700" dirty="0">
                <a:solidFill>
                  <a:srgbClr val="FFFF00"/>
                </a:solidFill>
                <a:effectLst/>
              </a:rPr>
              <a:t>/</a:t>
            </a:r>
            <a:r>
              <a:rPr lang="en-GB" altLang="en-US" sz="800" dirty="0">
                <a:solidFill>
                  <a:srgbClr val="FFFF00"/>
                </a:solidFill>
                <a:effectLst/>
              </a:rPr>
              <a:t> </a:t>
            </a:r>
            <a:r>
              <a:rPr lang="en-GB" altLang="en-US" sz="1700" dirty="0">
                <a:solidFill>
                  <a:srgbClr val="FFFF00"/>
                </a:solidFill>
                <a:effectLst/>
              </a:rPr>
              <a:t>(</a:t>
            </a:r>
            <a:r>
              <a:rPr lang="en-GB" altLang="en-US" sz="600" dirty="0">
                <a:solidFill>
                  <a:srgbClr val="FFFF00"/>
                </a:solidFill>
                <a:effectLst/>
              </a:rPr>
              <a:t> </a:t>
            </a:r>
            <a:r>
              <a:rPr lang="en-GB" altLang="en-US" sz="1700" dirty="0">
                <a:solidFill>
                  <a:srgbClr val="FFFF00"/>
                </a:solidFill>
                <a:effectLst/>
              </a:rPr>
              <a:t>1</a:t>
            </a:r>
            <a:r>
              <a:rPr lang="en-GB" altLang="en-US" sz="6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i="1" dirty="0">
                <a:solidFill>
                  <a:srgbClr val="FFFF00"/>
                </a:solidFill>
                <a:effectLst/>
              </a:rPr>
              <a:t>e</a:t>
            </a:r>
            <a:r>
              <a:rPr lang="en-GB" altLang="en-US" sz="800" i="1"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n-GB" altLang="en-US" sz="1700" baseline="30000" dirty="0">
                <a:solidFill>
                  <a:srgbClr val="FFFF00"/>
                </a:solidFill>
                <a:effectLst/>
              </a:rPr>
              <a:t>2</a:t>
            </a:r>
            <a:r>
              <a:rPr lang="en-GB" altLang="en-US" sz="1700" dirty="0">
                <a:effectLst/>
              </a:rPr>
              <a:t>, may be written in the same form as the parametric equations of a circle. This circle gives the state of strain for any line inclined at angle </a:t>
            </a:r>
            <a:r>
              <a:rPr lang="el-GR" altLang="en-US" sz="1700" i="1" dirty="0">
                <a:solidFill>
                  <a:srgbClr val="FFFF00"/>
                </a:solidFill>
                <a:effectLst/>
                <a:latin typeface="Cambria Math" panose="02040503050406030204" pitchFamily="18" charset="0"/>
                <a:ea typeface="Cambria Math" panose="02040503050406030204" pitchFamily="18" charset="0"/>
              </a:rPr>
              <a:t>ϕ</a:t>
            </a:r>
            <a:r>
              <a:rPr lang="en-GB" altLang="en-US" sz="800" i="1" dirty="0">
                <a:solidFill>
                  <a:srgbClr val="FFFF00"/>
                </a:solidFill>
                <a:effectLst/>
                <a:latin typeface="Symbol" panose="05050102010706020507" pitchFamily="18" charset="2"/>
              </a:rPr>
              <a:t> </a:t>
            </a:r>
            <a:r>
              <a:rPr lang="en-GB" altLang="en-US" sz="1700" dirty="0">
                <a:solidFill>
                  <a:srgbClr val="FFFF00"/>
                </a:solidFill>
                <a:effectLst/>
              </a:rPr>
              <a:t>´</a:t>
            </a:r>
            <a:r>
              <a:rPr lang="en-GB" altLang="en-US" sz="1700" dirty="0">
                <a:effectLst/>
              </a:rPr>
              <a:t> to the maximum extension direction </a:t>
            </a:r>
            <a:r>
              <a:rPr lang="el-GR" altLang="en-US" sz="1700" i="1" dirty="0">
                <a:solidFill>
                  <a:srgbClr val="FFFF00"/>
                </a:solidFill>
                <a:effectLst/>
                <a:latin typeface="Cambria Math" panose="02040503050406030204" pitchFamily="18" charset="0"/>
                <a:ea typeface="Cambria Math" panose="02040503050406030204" pitchFamily="18" charset="0"/>
              </a:rPr>
              <a:t>λ</a:t>
            </a:r>
            <a:r>
              <a:rPr lang="en-GB" altLang="en-US" sz="800" i="1" dirty="0">
                <a:solidFill>
                  <a:srgbClr val="FFFF00"/>
                </a:solidFill>
                <a:effectLst/>
                <a:latin typeface="Symbol" panose="05050102010706020507" pitchFamily="18" charset="2"/>
              </a:rPr>
              <a:t> </a:t>
            </a:r>
            <a:r>
              <a:rPr lang="en-GB" altLang="en-US" sz="1700" baseline="-25000" dirty="0">
                <a:solidFill>
                  <a:srgbClr val="FFFF00"/>
                </a:solidFill>
                <a:effectLst/>
              </a:rPr>
              <a:t>1</a:t>
            </a:r>
            <a:r>
              <a:rPr lang="en-GB" altLang="en-US" sz="1700" dirty="0">
                <a:solidFill>
                  <a:srgbClr val="FFFF00"/>
                </a:solidFill>
                <a:effectLst/>
              </a:rPr>
              <a:t>´</a:t>
            </a:r>
            <a:r>
              <a:rPr lang="en-GB" altLang="en-US" sz="1700" dirty="0">
                <a:effectLst/>
              </a:rPr>
              <a:t> in a plane</a:t>
            </a:r>
          </a:p>
          <a:p>
            <a:pPr marL="177800" indent="-177800">
              <a:spcBef>
                <a:spcPct val="75000"/>
              </a:spcBef>
            </a:pPr>
            <a:r>
              <a:rPr lang="en-GB" altLang="en-US" sz="1700" dirty="0">
                <a:effectLst/>
              </a:rPr>
              <a:t>The usefulness of this construction will be explored in </a:t>
            </a:r>
            <a:r>
              <a:rPr lang="en-GB" altLang="en-US" sz="1700" dirty="0">
                <a:solidFill>
                  <a:srgbClr val="FF66CC"/>
                </a:solidFill>
                <a:effectLst/>
              </a:rPr>
              <a:t>Exercise 2</a:t>
            </a:r>
            <a:r>
              <a:rPr lang="en-GB" altLang="en-US" sz="1700" dirty="0">
                <a:effectLst/>
              </a:rPr>
              <a:t> of the Practical</a:t>
            </a:r>
          </a:p>
        </p:txBody>
      </p:sp>
      <p:pic>
        <p:nvPicPr>
          <p:cNvPr id="280580" name="Picture 4">
            <a:extLst>
              <a:ext uri="{FF2B5EF4-FFF2-40B4-BE49-F238E27FC236}">
                <a16:creationId xmlns:a16="http://schemas.microsoft.com/office/drawing/2014/main" id="{65A3D8AA-E348-4F23-B06E-B3ED7ED456A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69875" y="3700463"/>
            <a:ext cx="4291013" cy="2989262"/>
          </a:xfrm>
          <a:noFill/>
          <a:ln w="38100" cap="flat">
            <a:solidFill>
              <a:schemeClr val="bg2"/>
            </a:solidFill>
            <a:miter lim="800000"/>
            <a:headEnd/>
            <a:tailEnd/>
          </a:ln>
        </p:spPr>
      </p:pic>
      <p:sp>
        <p:nvSpPr>
          <p:cNvPr id="280582" name="Text Box 6">
            <a:extLst>
              <a:ext uri="{FF2B5EF4-FFF2-40B4-BE49-F238E27FC236}">
                <a16:creationId xmlns:a16="http://schemas.microsoft.com/office/drawing/2014/main" id="{D1FD44B8-149D-4A11-9121-D1722A8C37B2}"/>
              </a:ext>
            </a:extLst>
          </p:cNvPr>
          <p:cNvSpPr txBox="1">
            <a:spLocks noChangeArrowheads="1"/>
          </p:cNvSpPr>
          <p:nvPr/>
        </p:nvSpPr>
        <p:spPr bwMode="auto">
          <a:xfrm>
            <a:off x="4732338" y="4173538"/>
            <a:ext cx="4117975" cy="220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75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Mohr construction illustrated for a line oriented at angle </a:t>
            </a: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ϕ</a:t>
            </a:r>
            <a:r>
              <a:rPr lang="en-GB" altLang="en-US" sz="800" i="1" dirty="0">
                <a:solidFill>
                  <a:srgbClr val="FFFF00"/>
                </a:solidFill>
                <a:effectLst>
                  <a:outerShdw blurRad="38100" dist="38100" dir="2700000" algn="tl">
                    <a:srgbClr val="000000"/>
                  </a:outerShdw>
                </a:effectLst>
                <a:latin typeface="Symbol" panose="05050102010706020507" pitchFamily="18" charset="2"/>
              </a:rPr>
              <a:t> </a:t>
            </a:r>
            <a:r>
              <a:rPr lang="en-GB" altLang="en-US" sz="1400" dirty="0">
                <a:solidFill>
                  <a:srgbClr val="FFFF00"/>
                </a:solidFill>
                <a:effectLst>
                  <a:outerShdw blurRad="38100" dist="38100" dir="2700000" algn="tl">
                    <a:srgbClr val="000000"/>
                  </a:outerShdw>
                </a:effectLst>
                <a:latin typeface="Arial" panose="020B0604020202020204" pitchFamily="34" charset="0"/>
              </a:rPr>
              <a:t>´ to the maximum extension direction</a:t>
            </a:r>
            <a:r>
              <a:rPr lang="en-GB" altLang="en-US" sz="1400" i="1" dirty="0">
                <a:solidFill>
                  <a:srgbClr val="FFFF00"/>
                </a:solidFill>
                <a:effectLst>
                  <a:outerShdw blurRad="38100" dist="38100" dir="2700000" algn="tl">
                    <a:srgbClr val="000000"/>
                  </a:outerShdw>
                </a:effectLst>
                <a:latin typeface="Symbol" panose="05050102010706020507" pitchFamily="18" charset="2"/>
              </a:rPr>
              <a:t>, </a:t>
            </a: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λ</a:t>
            </a:r>
            <a:r>
              <a:rPr lang="en-GB" altLang="en-US" sz="14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400" dirty="0">
                <a:solidFill>
                  <a:srgbClr val="FFFF00"/>
                </a:solidFill>
                <a:effectLst>
                  <a:outerShdw blurRad="38100" dist="38100" dir="2700000" algn="tl">
                    <a:srgbClr val="000000"/>
                  </a:outerShdw>
                </a:effectLst>
                <a:latin typeface="Arial" panose="020B0604020202020204" pitchFamily="34" charset="0"/>
              </a:rPr>
              <a:t>´. The line is represented by point P; the angular shear is given by the angle </a:t>
            </a: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ψ</a:t>
            </a:r>
            <a:r>
              <a:rPr lang="en-GB" altLang="en-US" sz="1400" dirty="0">
                <a:solidFill>
                  <a:srgbClr val="FFFF00"/>
                </a:solidFill>
                <a:effectLst>
                  <a:outerShdw blurRad="38100" dist="38100" dir="2700000" algn="tl">
                    <a:srgbClr val="000000"/>
                  </a:outerShdw>
                </a:effectLst>
                <a:latin typeface="Arial" panose="020B0604020202020204" pitchFamily="34" charset="0"/>
              </a:rPr>
              <a:t>, and the extension may be obtained by reading off the </a:t>
            </a: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λ</a:t>
            </a:r>
            <a:r>
              <a:rPr lang="en-GB" altLang="en-US" sz="1400" dirty="0">
                <a:solidFill>
                  <a:srgbClr val="FFFF00"/>
                </a:solidFill>
                <a:effectLst>
                  <a:outerShdw blurRad="38100" dist="38100" dir="2700000" algn="tl">
                    <a:srgbClr val="000000"/>
                  </a:outerShdw>
                </a:effectLst>
                <a:latin typeface="Arial" panose="020B0604020202020204" pitchFamily="34" charset="0"/>
              </a:rPr>
              <a:t>´ axis</a:t>
            </a:r>
          </a:p>
          <a:p>
            <a:pPr>
              <a:lnSpc>
                <a:spcPct val="115000"/>
              </a:lnSpc>
              <a:spcBef>
                <a:spcPct val="75000"/>
              </a:spcBef>
            </a:pPr>
            <a:r>
              <a:rPr lang="en-GB" altLang="en-US" sz="1400" dirty="0">
                <a:effectLst>
                  <a:outerShdw blurRad="38100" dist="38100" dir="2700000" algn="tl">
                    <a:srgbClr val="000000"/>
                  </a:outerShdw>
                </a:effectLst>
                <a:latin typeface="Arial" panose="020B0604020202020204" pitchFamily="34" charset="0"/>
              </a:rPr>
              <a:t>Note that the clockwise up convention is relatively new – Ramsay and Huber use the opposite convention</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AF39044A-C00A-4858-9BDB-85EF13347C46}"/>
              </a:ext>
            </a:extLst>
          </p:cNvPr>
          <p:cNvSpPr>
            <a:spLocks noGrp="1" noChangeArrowheads="1"/>
          </p:cNvSpPr>
          <p:nvPr>
            <p:ph type="ctrTitle" idx="4294967295"/>
          </p:nvPr>
        </p:nvSpPr>
        <p:spPr bwMode="black">
          <a:xfrm>
            <a:off x="239713" y="1595438"/>
            <a:ext cx="8705850" cy="1955800"/>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500"/>
            </a:br>
            <a:br>
              <a:rPr lang="en-US" altLang="en-US" sz="3500"/>
            </a:br>
            <a:r>
              <a:rPr lang="en-US" altLang="en-US" sz="3200">
                <a:solidFill>
                  <a:srgbClr val="FF6600"/>
                </a:solidFill>
              </a:rPr>
              <a:t>Comments and strain in real structures</a:t>
            </a:r>
            <a:endParaRPr lang="en-US" altLang="en-US">
              <a:solidFill>
                <a:srgbClr val="FF6600"/>
              </a:solidFill>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a:extLst>
              <a:ext uri="{FF2B5EF4-FFF2-40B4-BE49-F238E27FC236}">
                <a16:creationId xmlns:a16="http://schemas.microsoft.com/office/drawing/2014/main" id="{D64A33BB-607F-422C-8D7F-7EB2A05A66B5}"/>
              </a:ext>
            </a:extLst>
          </p:cNvPr>
          <p:cNvSpPr>
            <a:spLocks noGrp="1" noChangeArrowheads="1"/>
          </p:cNvSpPr>
          <p:nvPr>
            <p:ph type="title"/>
          </p:nvPr>
        </p:nvSpPr>
        <p:spPr>
          <a:noFill/>
        </p:spPr>
        <p:txBody>
          <a:bodyPr/>
          <a:lstStyle/>
          <a:p>
            <a:r>
              <a:rPr lang="en-GB" altLang="en-US">
                <a:effectLst/>
              </a:rPr>
              <a:t>Comments on strain measurement</a:t>
            </a:r>
          </a:p>
        </p:txBody>
      </p:sp>
      <p:sp>
        <p:nvSpPr>
          <p:cNvPr id="302083" name="Rectangle 3">
            <a:extLst>
              <a:ext uri="{FF2B5EF4-FFF2-40B4-BE49-F238E27FC236}">
                <a16:creationId xmlns:a16="http://schemas.microsoft.com/office/drawing/2014/main" id="{3FB1803D-4B75-4A36-B00B-378F0362DF04}"/>
              </a:ext>
            </a:extLst>
          </p:cNvPr>
          <p:cNvSpPr>
            <a:spLocks noGrp="1" noChangeArrowheads="1"/>
          </p:cNvSpPr>
          <p:nvPr>
            <p:ph type="body" sz="half" idx="1"/>
          </p:nvPr>
        </p:nvSpPr>
        <p:spPr>
          <a:xfrm>
            <a:off x="114300" y="828675"/>
            <a:ext cx="8872538" cy="2452688"/>
          </a:xfrm>
          <a:noFill/>
        </p:spPr>
        <p:txBody>
          <a:bodyPr/>
          <a:lstStyle/>
          <a:p>
            <a:pPr marL="177800" indent="-177800">
              <a:spcBef>
                <a:spcPct val="75000"/>
              </a:spcBef>
            </a:pPr>
            <a:r>
              <a:rPr lang="en-GB" altLang="en-US" sz="1700" dirty="0">
                <a:effectLst/>
              </a:rPr>
              <a:t>The strain values obtained using the preceding techniques </a:t>
            </a:r>
            <a:r>
              <a:rPr lang="en-GB" altLang="en-US" sz="1700" dirty="0">
                <a:solidFill>
                  <a:srgbClr val="FF66CC"/>
                </a:solidFill>
                <a:effectLst/>
              </a:rPr>
              <a:t>indicate the strain state of the markers</a:t>
            </a:r>
            <a:r>
              <a:rPr lang="en-GB" altLang="en-US" sz="1700" dirty="0">
                <a:effectLst/>
              </a:rPr>
              <a:t>. If there are differences between the mechanical properties of strain marker and its host matrix, care is needed when interpreting the strain results</a:t>
            </a:r>
          </a:p>
          <a:p>
            <a:pPr marL="177800" indent="-177800">
              <a:spcBef>
                <a:spcPct val="50000"/>
              </a:spcBef>
            </a:pPr>
            <a:r>
              <a:rPr lang="en-GB" altLang="en-US" sz="1700" dirty="0">
                <a:effectLst/>
              </a:rPr>
              <a:t>Some markers (</a:t>
            </a:r>
            <a:r>
              <a:rPr lang="en-GB" altLang="en-US" sz="1700" i="1" dirty="0">
                <a:effectLst/>
              </a:rPr>
              <a:t>e.g.</a:t>
            </a:r>
            <a:r>
              <a:rPr lang="en-GB" altLang="en-US" sz="1700" dirty="0">
                <a:effectLst/>
              </a:rPr>
              <a:t>, reduction spots, lapilli) have very similar mechanical properties to their host rock; others (</a:t>
            </a:r>
            <a:r>
              <a:rPr lang="en-GB" altLang="en-US" sz="1700" i="1" dirty="0">
                <a:effectLst/>
              </a:rPr>
              <a:t>e.g.</a:t>
            </a:r>
            <a:r>
              <a:rPr lang="en-GB" altLang="en-US" sz="1700" dirty="0">
                <a:effectLst/>
              </a:rPr>
              <a:t>, pebbles within a conglomerate) do not. In such circumstances </a:t>
            </a:r>
            <a:r>
              <a:rPr lang="en-GB" altLang="en-US" sz="1700" dirty="0">
                <a:solidFill>
                  <a:srgbClr val="FF66CC"/>
                </a:solidFill>
                <a:effectLst/>
              </a:rPr>
              <a:t>analysis of fabrics such as cleavage</a:t>
            </a:r>
            <a:r>
              <a:rPr lang="en-GB" altLang="en-US" sz="1700" dirty="0">
                <a:effectLst/>
              </a:rPr>
              <a:t> provide an indication of any microscale variations in strain</a:t>
            </a:r>
          </a:p>
        </p:txBody>
      </p:sp>
      <p:pic>
        <p:nvPicPr>
          <p:cNvPr id="302087" name="Picture 7" descr="12a">
            <a:extLst>
              <a:ext uri="{FF2B5EF4-FFF2-40B4-BE49-F238E27FC236}">
                <a16:creationId xmlns:a16="http://schemas.microsoft.com/office/drawing/2014/main" id="{1BE4B06F-7002-489C-86A1-5D27EA5F899F}"/>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740025" y="3473450"/>
            <a:ext cx="3054350" cy="15843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02089" name="Picture 9" descr="12b">
            <a:extLst>
              <a:ext uri="{FF2B5EF4-FFF2-40B4-BE49-F238E27FC236}">
                <a16:creationId xmlns:a16="http://schemas.microsoft.com/office/drawing/2014/main" id="{3DE58EC1-5BB8-4305-94D5-631BB6EC92AE}"/>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5948363" y="3473450"/>
            <a:ext cx="3005137" cy="158273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2091" name="Text Box 11">
            <a:extLst>
              <a:ext uri="{FF2B5EF4-FFF2-40B4-BE49-F238E27FC236}">
                <a16:creationId xmlns:a16="http://schemas.microsoft.com/office/drawing/2014/main" id="{EDFFA837-A19F-4DD0-A6A0-164F7CC97AA0}"/>
              </a:ext>
            </a:extLst>
          </p:cNvPr>
          <p:cNvSpPr txBox="1">
            <a:spLocks noChangeArrowheads="1"/>
          </p:cNvSpPr>
          <p:nvPr/>
        </p:nvSpPr>
        <p:spPr bwMode="auto">
          <a:xfrm>
            <a:off x="106363" y="5753099"/>
            <a:ext cx="8912225" cy="691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On a field scale, it is necessary to establish whether a strain measurement has regional significance or whether it is </a:t>
            </a:r>
            <a:r>
              <a:rPr lang="en-GB" altLang="en-US" sz="1700" dirty="0">
                <a:solidFill>
                  <a:srgbClr val="FF66CC"/>
                </a:solidFill>
                <a:effectLst/>
                <a:latin typeface="Arial" panose="020B0604020202020204" pitchFamily="34" charset="0"/>
              </a:rPr>
              <a:t>related only to some local structure</a:t>
            </a:r>
            <a:endParaRPr lang="en-GB" altLang="en-US" sz="1700" dirty="0">
              <a:effectLst>
                <a:outerShdw blurRad="38100" dist="38100" dir="2700000" algn="tl">
                  <a:srgbClr val="000000"/>
                </a:outerShdw>
              </a:effectLst>
              <a:latin typeface="Arial" panose="020B0604020202020204" pitchFamily="34" charset="0"/>
            </a:endParaRPr>
          </a:p>
        </p:txBody>
      </p:sp>
      <p:sp>
        <p:nvSpPr>
          <p:cNvPr id="302092" name="Text Box 12">
            <a:extLst>
              <a:ext uri="{FF2B5EF4-FFF2-40B4-BE49-F238E27FC236}">
                <a16:creationId xmlns:a16="http://schemas.microsoft.com/office/drawing/2014/main" id="{B1BD7A09-B266-44DF-BE1F-F301313D9E3C}"/>
              </a:ext>
            </a:extLst>
          </p:cNvPr>
          <p:cNvSpPr txBox="1">
            <a:spLocks noChangeArrowheads="1"/>
          </p:cNvSpPr>
          <p:nvPr/>
        </p:nvSpPr>
        <p:spPr bwMode="auto">
          <a:xfrm>
            <a:off x="301625" y="5095875"/>
            <a:ext cx="57737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that the strain in the lapilli-rich layer is the same as in the adjacent tuff</a:t>
            </a:r>
          </a:p>
        </p:txBody>
      </p:sp>
      <p:sp>
        <p:nvSpPr>
          <p:cNvPr id="302093" name="Text Box 13">
            <a:extLst>
              <a:ext uri="{FF2B5EF4-FFF2-40B4-BE49-F238E27FC236}">
                <a16:creationId xmlns:a16="http://schemas.microsoft.com/office/drawing/2014/main" id="{6B7C0713-EFCB-4FC5-8183-825A27074652}"/>
              </a:ext>
            </a:extLst>
          </p:cNvPr>
          <p:cNvSpPr txBox="1">
            <a:spLocks noChangeArrowheads="1"/>
          </p:cNvSpPr>
          <p:nvPr/>
        </p:nvSpPr>
        <p:spPr bwMode="auto">
          <a:xfrm>
            <a:off x="301625" y="3362325"/>
            <a:ext cx="2405063" cy="180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Polymict conglomerate (left) and lapilli tuff (right). The irregularity of the cleavage planes in the conglomerate points to local variations in strain; the lack of cleavage refraction in the tuff shows</a:t>
            </a: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a:extLst>
              <a:ext uri="{FF2B5EF4-FFF2-40B4-BE49-F238E27FC236}">
                <a16:creationId xmlns:a16="http://schemas.microsoft.com/office/drawing/2014/main" id="{7D7FA7EB-0B88-4C9F-9C2A-A65C91059481}"/>
              </a:ext>
            </a:extLst>
          </p:cNvPr>
          <p:cNvSpPr>
            <a:spLocks noGrp="1" noChangeArrowheads="1"/>
          </p:cNvSpPr>
          <p:nvPr>
            <p:ph type="title"/>
          </p:nvPr>
        </p:nvSpPr>
        <p:spPr>
          <a:noFill/>
        </p:spPr>
        <p:txBody>
          <a:bodyPr/>
          <a:lstStyle/>
          <a:p>
            <a:r>
              <a:rPr lang="en-GB" altLang="en-US" dirty="0">
                <a:effectLst/>
              </a:rPr>
              <a:t>Fabrics and the shape of the strain ellipsoid</a:t>
            </a:r>
          </a:p>
        </p:txBody>
      </p:sp>
      <p:sp>
        <p:nvSpPr>
          <p:cNvPr id="313347" name="Rectangle 3">
            <a:extLst>
              <a:ext uri="{FF2B5EF4-FFF2-40B4-BE49-F238E27FC236}">
                <a16:creationId xmlns:a16="http://schemas.microsoft.com/office/drawing/2014/main" id="{DA34C148-5F96-4E43-A2F6-D01C05A29CEC}"/>
              </a:ext>
            </a:extLst>
          </p:cNvPr>
          <p:cNvSpPr>
            <a:spLocks noGrp="1" noChangeArrowheads="1"/>
          </p:cNvSpPr>
          <p:nvPr>
            <p:ph type="body" sz="half" idx="1"/>
          </p:nvPr>
        </p:nvSpPr>
        <p:spPr>
          <a:xfrm>
            <a:off x="112713" y="809625"/>
            <a:ext cx="5826125" cy="2322513"/>
          </a:xfrm>
          <a:noFill/>
        </p:spPr>
        <p:txBody>
          <a:bodyPr/>
          <a:lstStyle/>
          <a:p>
            <a:pPr marL="177800" indent="-177800">
              <a:spcBef>
                <a:spcPct val="75000"/>
              </a:spcBef>
            </a:pPr>
            <a:r>
              <a:rPr lang="en-GB" altLang="en-US" sz="1700">
                <a:effectLst/>
              </a:rPr>
              <a:t>In moderate to high grade deformed metamorphic rocks, the nature of the </a:t>
            </a:r>
            <a:r>
              <a:rPr lang="en-GB" altLang="en-US" sz="1700">
                <a:solidFill>
                  <a:srgbClr val="FF66CC"/>
                </a:solidFill>
                <a:effectLst/>
              </a:rPr>
              <a:t>fabric</a:t>
            </a:r>
            <a:r>
              <a:rPr lang="en-GB" altLang="en-US" sz="1700">
                <a:effectLst/>
              </a:rPr>
              <a:t> provides the most immediate impression of the geometry of the strain ellipsoid. If linear elements dominate (prolate ellipsoid) the rock is described as an </a:t>
            </a:r>
            <a:r>
              <a:rPr lang="en-GB" altLang="en-US" sz="1700">
                <a:solidFill>
                  <a:srgbClr val="FF6600"/>
                </a:solidFill>
                <a:effectLst/>
              </a:rPr>
              <a:t>L-tectonite</a:t>
            </a:r>
            <a:r>
              <a:rPr lang="en-GB" altLang="en-US" sz="1700">
                <a:effectLst/>
              </a:rPr>
              <a:t>; if planar elements dominate (oblate ellipsoid) it is an </a:t>
            </a:r>
            <a:r>
              <a:rPr lang="en-GB" altLang="en-US" sz="1700">
                <a:solidFill>
                  <a:srgbClr val="FF6600"/>
                </a:solidFill>
                <a:effectLst/>
              </a:rPr>
              <a:t>S-tectonite</a:t>
            </a:r>
            <a:r>
              <a:rPr lang="en-GB" altLang="en-US" sz="1700">
                <a:effectLst/>
              </a:rPr>
              <a:t>. Those with both a strong foliation and a strong lineation are </a:t>
            </a:r>
            <a:r>
              <a:rPr lang="en-GB" altLang="en-US" sz="1700">
                <a:solidFill>
                  <a:srgbClr val="FF6600"/>
                </a:solidFill>
                <a:effectLst/>
              </a:rPr>
              <a:t>LS-tectonites</a:t>
            </a:r>
            <a:endParaRPr lang="en-GB" altLang="en-US" sz="1700">
              <a:effectLst/>
            </a:endParaRPr>
          </a:p>
        </p:txBody>
      </p:sp>
      <p:grpSp>
        <p:nvGrpSpPr>
          <p:cNvPr id="313351" name="Group 7">
            <a:extLst>
              <a:ext uri="{FF2B5EF4-FFF2-40B4-BE49-F238E27FC236}">
                <a16:creationId xmlns:a16="http://schemas.microsoft.com/office/drawing/2014/main" id="{8DBDAC8B-8441-422D-8351-EA603CFF1388}"/>
              </a:ext>
            </a:extLst>
          </p:cNvPr>
          <p:cNvGrpSpPr>
            <a:grpSpLocks/>
          </p:cNvGrpSpPr>
          <p:nvPr/>
        </p:nvGrpSpPr>
        <p:grpSpPr bwMode="auto">
          <a:xfrm>
            <a:off x="6145213" y="889000"/>
            <a:ext cx="2805112" cy="2401888"/>
            <a:chOff x="3987" y="582"/>
            <a:chExt cx="1527" cy="1370"/>
          </a:xfrm>
        </p:grpSpPr>
        <p:sp>
          <p:nvSpPr>
            <p:cNvPr id="313350" name="Rectangle 6">
              <a:extLst>
                <a:ext uri="{FF2B5EF4-FFF2-40B4-BE49-F238E27FC236}">
                  <a16:creationId xmlns:a16="http://schemas.microsoft.com/office/drawing/2014/main" id="{959E0928-0320-4E32-9BB8-C351176B471A}"/>
                </a:ext>
              </a:extLst>
            </p:cNvPr>
            <p:cNvSpPr>
              <a:spLocks noChangeArrowheads="1"/>
            </p:cNvSpPr>
            <p:nvPr/>
          </p:nvSpPr>
          <p:spPr bwMode="auto">
            <a:xfrm>
              <a:off x="3987" y="582"/>
              <a:ext cx="1527" cy="1370"/>
            </a:xfrm>
            <a:prstGeom prst="rect">
              <a:avLst/>
            </a:prstGeom>
            <a:solidFill>
              <a:schemeClr val="tx1"/>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13348" name="Picture 2" descr="GR01.jpg">
              <a:extLst>
                <a:ext uri="{FF2B5EF4-FFF2-40B4-BE49-F238E27FC236}">
                  <a16:creationId xmlns:a16="http://schemas.microsoft.com/office/drawing/2014/main" id="{F9BB93BB-CD89-44A6-A14E-550FB7B4760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27" y="636"/>
              <a:ext cx="1443" cy="1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313355" name="Text Box 11">
            <a:extLst>
              <a:ext uri="{FF2B5EF4-FFF2-40B4-BE49-F238E27FC236}">
                <a16:creationId xmlns:a16="http://schemas.microsoft.com/office/drawing/2014/main" id="{F1C3EBB2-B12B-4FA0-8C39-C5B72C21FFB7}"/>
              </a:ext>
            </a:extLst>
          </p:cNvPr>
          <p:cNvSpPr txBox="1">
            <a:spLocks noChangeArrowheads="1"/>
          </p:cNvSpPr>
          <p:nvPr/>
        </p:nvSpPr>
        <p:spPr bwMode="auto">
          <a:xfrm>
            <a:off x="933450" y="6346825"/>
            <a:ext cx="35147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L-tectonite (cigar-shaped pebbles)</a:t>
            </a:r>
          </a:p>
        </p:txBody>
      </p:sp>
      <p:sp>
        <p:nvSpPr>
          <p:cNvPr id="313356" name="Text Box 12">
            <a:extLst>
              <a:ext uri="{FF2B5EF4-FFF2-40B4-BE49-F238E27FC236}">
                <a16:creationId xmlns:a16="http://schemas.microsoft.com/office/drawing/2014/main" id="{E49B7C7A-572F-4F26-A055-1D302794EC48}"/>
              </a:ext>
            </a:extLst>
          </p:cNvPr>
          <p:cNvSpPr txBox="1">
            <a:spLocks noChangeArrowheads="1"/>
          </p:cNvSpPr>
          <p:nvPr/>
        </p:nvSpPr>
        <p:spPr bwMode="auto">
          <a:xfrm>
            <a:off x="5272088" y="6357938"/>
            <a:ext cx="35147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“S-tectonite” (flattened pillow lavas)</a:t>
            </a:r>
          </a:p>
        </p:txBody>
      </p:sp>
      <p:pic>
        <p:nvPicPr>
          <p:cNvPr id="313359" name="Picture 15" descr="15a-NewEngland">
            <a:extLst>
              <a:ext uri="{FF2B5EF4-FFF2-40B4-BE49-F238E27FC236}">
                <a16:creationId xmlns:a16="http://schemas.microsoft.com/office/drawing/2014/main" id="{51A7AAC3-758F-4404-9FCE-D6A659E5D915}"/>
              </a:ext>
            </a:extLst>
          </p:cNvPr>
          <p:cNvPicPr>
            <a:picLocks noGrp="1" noChangeAspect="1" noChangeArrowheads="1"/>
          </p:cNvPicPr>
          <p:nvPr>
            <p:ph sz="quarter" idx="3"/>
          </p:nvPr>
        </p:nvPicPr>
        <p:blipFill>
          <a:blip r:embed="rId4">
            <a:lum bright="4000" contrast="4000"/>
            <a:extLst>
              <a:ext uri="{28A0092B-C50C-407E-A947-70E740481C1C}">
                <a14:useLocalDpi xmlns:a14="http://schemas.microsoft.com/office/drawing/2010/main" val="0"/>
              </a:ext>
            </a:extLst>
          </a:blip>
          <a:srcRect/>
          <a:stretch>
            <a:fillRect/>
          </a:stretch>
        </p:blipFill>
        <p:spPr>
          <a:xfrm>
            <a:off x="254000" y="3357563"/>
            <a:ext cx="4313238" cy="289401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13361" name="Picture 17" descr="15b-Tintagel">
            <a:extLst>
              <a:ext uri="{FF2B5EF4-FFF2-40B4-BE49-F238E27FC236}">
                <a16:creationId xmlns:a16="http://schemas.microsoft.com/office/drawing/2014/main" id="{307528C8-6E47-4A5B-A8F6-01F392A59B38}"/>
              </a:ext>
            </a:extLst>
          </p:cNvPr>
          <p:cNvPicPr>
            <a:picLocks noChangeAspect="1" noChangeArrowheads="1"/>
          </p:cNvPicPr>
          <p:nvPr/>
        </p:nvPicPr>
        <p:blipFill>
          <a:blip r:embed="rId5">
            <a:lum bright="4000"/>
            <a:extLst>
              <a:ext uri="{28A0092B-C50C-407E-A947-70E740481C1C}">
                <a14:useLocalDpi xmlns:a14="http://schemas.microsoft.com/office/drawing/2010/main" val="0"/>
              </a:ext>
            </a:extLst>
          </a:blip>
          <a:srcRect/>
          <a:stretch>
            <a:fillRect/>
          </a:stretch>
        </p:blipFill>
        <p:spPr bwMode="auto">
          <a:xfrm>
            <a:off x="4830763" y="3471863"/>
            <a:ext cx="4090987" cy="27797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a:extLst>
              <a:ext uri="{FF2B5EF4-FFF2-40B4-BE49-F238E27FC236}">
                <a16:creationId xmlns:a16="http://schemas.microsoft.com/office/drawing/2014/main" id="{84CA5D36-EEA8-4A93-BA09-3D84D6F5869B}"/>
              </a:ext>
            </a:extLst>
          </p:cNvPr>
          <p:cNvSpPr>
            <a:spLocks noGrp="1" noChangeArrowheads="1"/>
          </p:cNvSpPr>
          <p:nvPr>
            <p:ph type="title"/>
          </p:nvPr>
        </p:nvSpPr>
        <p:spPr>
          <a:noFill/>
        </p:spPr>
        <p:txBody>
          <a:bodyPr/>
          <a:lstStyle/>
          <a:p>
            <a:r>
              <a:rPr lang="en-GB" altLang="en-US" dirty="0">
                <a:effectLst/>
              </a:rPr>
              <a:t>Cleavage = XY plane of the strain ellipsoid</a:t>
            </a:r>
          </a:p>
        </p:txBody>
      </p:sp>
      <p:sp>
        <p:nvSpPr>
          <p:cNvPr id="250883" name="Rectangle 3">
            <a:extLst>
              <a:ext uri="{FF2B5EF4-FFF2-40B4-BE49-F238E27FC236}">
                <a16:creationId xmlns:a16="http://schemas.microsoft.com/office/drawing/2014/main" id="{4805FF0F-AE4C-4572-B7E6-DC5508119863}"/>
              </a:ext>
            </a:extLst>
          </p:cNvPr>
          <p:cNvSpPr>
            <a:spLocks noGrp="1" noChangeArrowheads="1"/>
          </p:cNvSpPr>
          <p:nvPr>
            <p:ph type="body" sz="half" idx="1"/>
          </p:nvPr>
        </p:nvSpPr>
        <p:spPr>
          <a:xfrm>
            <a:off x="122238" y="769938"/>
            <a:ext cx="8764587" cy="731837"/>
          </a:xfrm>
          <a:noFill/>
        </p:spPr>
        <p:txBody>
          <a:bodyPr/>
          <a:lstStyle/>
          <a:p>
            <a:pPr marL="177800" indent="-177800">
              <a:spcBef>
                <a:spcPct val="75000"/>
              </a:spcBef>
            </a:pPr>
            <a:r>
              <a:rPr lang="en-GB" altLang="en-US" sz="1700">
                <a:effectLst/>
              </a:rPr>
              <a:t>Cleavage in deformed rocks is generally assumed to represent the </a:t>
            </a:r>
            <a:r>
              <a:rPr lang="en-GB" altLang="en-US" sz="1700">
                <a:solidFill>
                  <a:srgbClr val="FF6600"/>
                </a:solidFill>
                <a:effectLst/>
              </a:rPr>
              <a:t>XY plane</a:t>
            </a:r>
            <a:r>
              <a:rPr lang="en-GB" altLang="en-US" sz="1700">
                <a:effectLst/>
              </a:rPr>
              <a:t> (principal flattening plane)</a:t>
            </a:r>
          </a:p>
        </p:txBody>
      </p:sp>
      <p:pic>
        <p:nvPicPr>
          <p:cNvPr id="250884" name="Picture 4">
            <a:extLst>
              <a:ext uri="{FF2B5EF4-FFF2-40B4-BE49-F238E27FC236}">
                <a16:creationId xmlns:a16="http://schemas.microsoft.com/office/drawing/2014/main" id="{8933CFEF-DF23-497D-AE22-009C72E1EE89}"/>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851400" y="1306513"/>
            <a:ext cx="4079875" cy="4478337"/>
          </a:xfrm>
          <a:noFill/>
          <a:ln w="38100" cap="flat">
            <a:solidFill>
              <a:schemeClr val="bg2"/>
            </a:solidFill>
            <a:miter lim="800000"/>
            <a:headEnd/>
            <a:tailEnd/>
          </a:ln>
        </p:spPr>
      </p:pic>
      <p:sp>
        <p:nvSpPr>
          <p:cNvPr id="250886" name="Text Box 6">
            <a:extLst>
              <a:ext uri="{FF2B5EF4-FFF2-40B4-BE49-F238E27FC236}">
                <a16:creationId xmlns:a16="http://schemas.microsoft.com/office/drawing/2014/main" id="{08E35943-F53E-45C8-BB2D-AE25640370A3}"/>
              </a:ext>
            </a:extLst>
          </p:cNvPr>
          <p:cNvSpPr txBox="1">
            <a:spLocks noChangeArrowheads="1"/>
          </p:cNvSpPr>
          <p:nvPr/>
        </p:nvSpPr>
        <p:spPr bwMode="auto">
          <a:xfrm>
            <a:off x="125413" y="1555750"/>
            <a:ext cx="4686300" cy="246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a:solidFill>
                  <a:srgbClr val="FF66CC"/>
                </a:solidFill>
                <a:effectLst/>
                <a:latin typeface="Arial" panose="020B0604020202020204" pitchFamily="34" charset="0"/>
              </a:rPr>
              <a:t>Shortening in the Z direction</a:t>
            </a:r>
            <a:r>
              <a:rPr lang="en-GB" altLang="en-US" sz="1700">
                <a:effectLst/>
                <a:latin typeface="Arial" panose="020B0604020202020204" pitchFamily="34" charset="0"/>
              </a:rPr>
              <a:t> (the normal to the XY plane) may or may not be compensated by extension within the plane of cleavage – if it is not then volume loss in this direction is implied</a:t>
            </a:r>
          </a:p>
          <a:p>
            <a:pPr>
              <a:lnSpc>
                <a:spcPct val="120000"/>
              </a:lnSpc>
              <a:spcBef>
                <a:spcPct val="75000"/>
              </a:spcBef>
              <a:buClr>
                <a:schemeClr val="folHlink"/>
              </a:buClr>
              <a:buSzPct val="100000"/>
              <a:buFont typeface="Times" panose="02020603050405020304" pitchFamily="18" charset="0"/>
              <a:buChar char="•"/>
            </a:pPr>
            <a:r>
              <a:rPr lang="en-GB" altLang="en-US" sz="1700">
                <a:solidFill>
                  <a:srgbClr val="FF66CC"/>
                </a:solidFill>
                <a:effectLst/>
                <a:latin typeface="Arial" panose="020B0604020202020204" pitchFamily="34" charset="0"/>
              </a:rPr>
              <a:t>Within shear zones</a:t>
            </a:r>
            <a:r>
              <a:rPr lang="en-GB" altLang="en-US" sz="1700">
                <a:effectLst/>
                <a:latin typeface="Arial" panose="020B0604020202020204" pitchFamily="34" charset="0"/>
              </a:rPr>
              <a:t>, cleavage tracks the XY plane across the shear zone (Class 4)</a:t>
            </a:r>
          </a:p>
        </p:txBody>
      </p:sp>
      <p:pic>
        <p:nvPicPr>
          <p:cNvPr id="250887" name="Picture 2" descr="GR19.jpg">
            <a:extLst>
              <a:ext uri="{FF2B5EF4-FFF2-40B4-BE49-F238E27FC236}">
                <a16:creationId xmlns:a16="http://schemas.microsoft.com/office/drawing/2014/main" id="{AFF42078-83BC-4E01-993E-94DE31CE19E0}"/>
              </a:ext>
            </a:extLst>
          </p:cNvPr>
          <p:cNvPicPr>
            <a:picLocks noGrp="1" noChangeAspect="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569913" y="4214813"/>
            <a:ext cx="3451225" cy="15652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0890" name="Text Box 10">
            <a:extLst>
              <a:ext uri="{FF2B5EF4-FFF2-40B4-BE49-F238E27FC236}">
                <a16:creationId xmlns:a16="http://schemas.microsoft.com/office/drawing/2014/main" id="{B39870C1-5B19-4C9C-8B50-B1F587D057A4}"/>
              </a:ext>
            </a:extLst>
          </p:cNvPr>
          <p:cNvSpPr txBox="1">
            <a:spLocks noChangeArrowheads="1"/>
          </p:cNvSpPr>
          <p:nvPr/>
        </p:nvSpPr>
        <p:spPr bwMode="auto">
          <a:xfrm>
            <a:off x="120650" y="5929313"/>
            <a:ext cx="8897938"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a:effectLst/>
                <a:latin typeface="Arial" panose="020B0604020202020204" pitchFamily="34" charset="0"/>
              </a:rPr>
              <a:t>However, cleavage formed as </a:t>
            </a:r>
            <a:r>
              <a:rPr lang="en-GB" altLang="en-US" sz="1700">
                <a:solidFill>
                  <a:srgbClr val="FF66CC"/>
                </a:solidFill>
                <a:effectLst/>
                <a:latin typeface="Arial" panose="020B0604020202020204" pitchFamily="34" charset="0"/>
              </a:rPr>
              <a:t>shear bands</a:t>
            </a:r>
            <a:r>
              <a:rPr lang="en-GB" altLang="en-US" sz="1700">
                <a:effectLst/>
                <a:latin typeface="Arial" panose="020B0604020202020204" pitchFamily="34" charset="0"/>
              </a:rPr>
              <a:t> (</a:t>
            </a:r>
            <a:r>
              <a:rPr lang="en-GB" altLang="en-US" sz="1700" i="1">
                <a:effectLst/>
                <a:latin typeface="Arial" panose="020B0604020202020204" pitchFamily="34" charset="0"/>
              </a:rPr>
              <a:t>e.g.</a:t>
            </a:r>
            <a:r>
              <a:rPr lang="en-GB" altLang="en-US" sz="1700">
                <a:effectLst/>
                <a:latin typeface="Arial" panose="020B0604020202020204" pitchFamily="34" charset="0"/>
              </a:rPr>
              <a:t>, within shear zones, as in the figure above left) does not directly relate to the strain ellipsoid; nor does </a:t>
            </a:r>
            <a:r>
              <a:rPr lang="en-GB" altLang="en-US" sz="1700">
                <a:solidFill>
                  <a:srgbClr val="FF66CC"/>
                </a:solidFill>
                <a:effectLst/>
                <a:latin typeface="Arial" panose="020B0604020202020204" pitchFamily="34" charset="0"/>
              </a:rPr>
              <a:t>crenulation cleavage</a:t>
            </a:r>
            <a:endParaRPr lang="en-GB" altLang="en-US" sz="1700">
              <a:solidFill>
                <a:srgbClr val="FF66CC"/>
              </a:solidFill>
              <a:effectLst>
                <a:outerShdw blurRad="38100" dist="38100" dir="2700000" algn="tl">
                  <a:srgbClr val="000000"/>
                </a:outerShdw>
              </a:effectLst>
              <a:latin typeface="Arial" panose="020B0604020202020204" pitchFamily="34" charset="0"/>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a:extLst>
              <a:ext uri="{FF2B5EF4-FFF2-40B4-BE49-F238E27FC236}">
                <a16:creationId xmlns:a16="http://schemas.microsoft.com/office/drawing/2014/main" id="{E82E1082-ABA3-42AD-A938-6D6FF829DE24}"/>
              </a:ext>
            </a:extLst>
          </p:cNvPr>
          <p:cNvSpPr>
            <a:spLocks noGrp="1" noChangeArrowheads="1"/>
          </p:cNvSpPr>
          <p:nvPr>
            <p:ph type="title"/>
          </p:nvPr>
        </p:nvSpPr>
        <p:spPr>
          <a:noFill/>
        </p:spPr>
        <p:txBody>
          <a:bodyPr/>
          <a:lstStyle/>
          <a:p>
            <a:r>
              <a:rPr lang="en-GB" altLang="en-US" dirty="0">
                <a:effectLst/>
              </a:rPr>
              <a:t>Strain variation across folds</a:t>
            </a:r>
          </a:p>
        </p:txBody>
      </p:sp>
      <p:sp>
        <p:nvSpPr>
          <p:cNvPr id="310275" name="Rectangle 3">
            <a:extLst>
              <a:ext uri="{FF2B5EF4-FFF2-40B4-BE49-F238E27FC236}">
                <a16:creationId xmlns:a16="http://schemas.microsoft.com/office/drawing/2014/main" id="{1006486F-4D71-46E7-AAF7-76BCFC550721}"/>
              </a:ext>
            </a:extLst>
          </p:cNvPr>
          <p:cNvSpPr>
            <a:spLocks noGrp="1" noChangeArrowheads="1"/>
          </p:cNvSpPr>
          <p:nvPr>
            <p:ph type="body" sz="half" idx="1"/>
          </p:nvPr>
        </p:nvSpPr>
        <p:spPr>
          <a:xfrm>
            <a:off x="122238" y="817563"/>
            <a:ext cx="4836624" cy="2532062"/>
          </a:xfrm>
          <a:noFill/>
        </p:spPr>
        <p:txBody>
          <a:bodyPr/>
          <a:lstStyle/>
          <a:p>
            <a:pPr marL="177800" indent="-177800">
              <a:spcBef>
                <a:spcPct val="75000"/>
              </a:spcBef>
            </a:pPr>
            <a:r>
              <a:rPr lang="en-GB" altLang="en-US" sz="1700" dirty="0">
                <a:effectLst/>
              </a:rPr>
              <a:t>The different </a:t>
            </a:r>
            <a:r>
              <a:rPr lang="en-GB" altLang="en-US" sz="1700" dirty="0">
                <a:solidFill>
                  <a:srgbClr val="FF6600"/>
                </a:solidFill>
                <a:effectLst/>
              </a:rPr>
              <a:t>folding mechanisms</a:t>
            </a:r>
            <a:r>
              <a:rPr lang="en-GB" altLang="en-US" sz="1700" dirty="0">
                <a:effectLst/>
              </a:rPr>
              <a:t> lead to different patterns of strain variation within the profile plane</a:t>
            </a:r>
          </a:p>
          <a:p>
            <a:pPr marL="177800" indent="-177800">
              <a:spcBef>
                <a:spcPct val="75000"/>
              </a:spcBef>
            </a:pPr>
            <a:r>
              <a:rPr lang="en-GB" altLang="en-US" sz="1700" dirty="0">
                <a:effectLst/>
              </a:rPr>
              <a:t>Variations of these patterns occur depending (a) upon the extent of </a:t>
            </a:r>
            <a:r>
              <a:rPr lang="en-GB" altLang="en-US" sz="1700" dirty="0">
                <a:solidFill>
                  <a:srgbClr val="FF66CC"/>
                </a:solidFill>
                <a:effectLst/>
              </a:rPr>
              <a:t>layer-parallel shortening</a:t>
            </a:r>
            <a:r>
              <a:rPr lang="en-GB" altLang="en-US" sz="1700" dirty="0">
                <a:effectLst/>
              </a:rPr>
              <a:t> before initiation of the fold, and (b) upon the nature of </a:t>
            </a:r>
            <a:r>
              <a:rPr lang="en-GB" altLang="en-US" sz="1700" dirty="0">
                <a:solidFill>
                  <a:srgbClr val="FF66CC"/>
                </a:solidFill>
                <a:effectLst/>
              </a:rPr>
              <a:t>post-buckle flattening</a:t>
            </a:r>
          </a:p>
        </p:txBody>
      </p:sp>
      <p:pic>
        <p:nvPicPr>
          <p:cNvPr id="310276" name="Picture 4" descr="16a">
            <a:extLst>
              <a:ext uri="{FF2B5EF4-FFF2-40B4-BE49-F238E27FC236}">
                <a16:creationId xmlns:a16="http://schemas.microsoft.com/office/drawing/2014/main" id="{42DF75DE-94BB-40B9-A1DB-2A9C34423E69}"/>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3059113" y="3810000"/>
            <a:ext cx="3003550" cy="24892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10280" name="Picture 8" descr="16c">
            <a:extLst>
              <a:ext uri="{FF2B5EF4-FFF2-40B4-BE49-F238E27FC236}">
                <a16:creationId xmlns:a16="http://schemas.microsoft.com/office/drawing/2014/main" id="{60C5FEAD-0D45-43D4-9996-2554E3DE1F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2550" y="3802063"/>
            <a:ext cx="2508250" cy="24749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310284" name="Group 12">
            <a:extLst>
              <a:ext uri="{FF2B5EF4-FFF2-40B4-BE49-F238E27FC236}">
                <a16:creationId xmlns:a16="http://schemas.microsoft.com/office/drawing/2014/main" id="{34203ADB-1EE6-4337-AB5A-A9060CA8BD62}"/>
              </a:ext>
            </a:extLst>
          </p:cNvPr>
          <p:cNvGrpSpPr>
            <a:grpSpLocks/>
          </p:cNvGrpSpPr>
          <p:nvPr/>
        </p:nvGrpSpPr>
        <p:grpSpPr bwMode="auto">
          <a:xfrm>
            <a:off x="5121275" y="931863"/>
            <a:ext cx="3817938" cy="2201862"/>
            <a:chOff x="3232" y="654"/>
            <a:chExt cx="2405" cy="1387"/>
          </a:xfrm>
        </p:grpSpPr>
        <p:sp>
          <p:nvSpPr>
            <p:cNvPr id="310283" name="Rectangle 11">
              <a:extLst>
                <a:ext uri="{FF2B5EF4-FFF2-40B4-BE49-F238E27FC236}">
                  <a16:creationId xmlns:a16="http://schemas.microsoft.com/office/drawing/2014/main" id="{B742BA22-432B-47B5-AD0D-7316A4FA3EF0}"/>
                </a:ext>
              </a:extLst>
            </p:cNvPr>
            <p:cNvSpPr>
              <a:spLocks noChangeArrowheads="1"/>
            </p:cNvSpPr>
            <p:nvPr/>
          </p:nvSpPr>
          <p:spPr bwMode="auto">
            <a:xfrm>
              <a:off x="3232" y="654"/>
              <a:ext cx="2405" cy="1387"/>
            </a:xfrm>
            <a:prstGeom prst="rect">
              <a:avLst/>
            </a:prstGeom>
            <a:solidFill>
              <a:schemeClr val="tx1"/>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10278" name="Picture 6" descr="16b">
              <a:extLst>
                <a:ext uri="{FF2B5EF4-FFF2-40B4-BE49-F238E27FC236}">
                  <a16:creationId xmlns:a16="http://schemas.microsoft.com/office/drawing/2014/main" id="{9E61739B-BFCA-4F57-A94E-99236E9747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9" y="682"/>
              <a:ext cx="2329" cy="1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sng">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0281" name="Text Box 9">
              <a:extLst>
                <a:ext uri="{FF2B5EF4-FFF2-40B4-BE49-F238E27FC236}">
                  <a16:creationId xmlns:a16="http://schemas.microsoft.com/office/drawing/2014/main" id="{E24309D7-AA2B-48E8-97F1-B48C7E6075AD}"/>
                </a:ext>
              </a:extLst>
            </p:cNvPr>
            <p:cNvSpPr txBox="1">
              <a:spLocks noChangeArrowheads="1"/>
            </p:cNvSpPr>
            <p:nvPr/>
          </p:nvSpPr>
          <p:spPr bwMode="auto">
            <a:xfrm>
              <a:off x="3237" y="1842"/>
              <a:ext cx="861"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300">
                  <a:solidFill>
                    <a:srgbClr val="FF0000"/>
                  </a:solidFill>
                  <a:effectLst/>
                  <a:latin typeface="Arial" panose="020B0604020202020204" pitchFamily="34" charset="0"/>
                </a:rPr>
                <a:t>neutral surface</a:t>
              </a:r>
            </a:p>
          </p:txBody>
        </p:sp>
        <p:sp>
          <p:nvSpPr>
            <p:cNvPr id="310282" name="Line 10">
              <a:extLst>
                <a:ext uri="{FF2B5EF4-FFF2-40B4-BE49-F238E27FC236}">
                  <a16:creationId xmlns:a16="http://schemas.microsoft.com/office/drawing/2014/main" id="{03DC5F96-3D06-4B32-88D2-883B74E14B78}"/>
                </a:ext>
              </a:extLst>
            </p:cNvPr>
            <p:cNvSpPr>
              <a:spLocks noChangeShapeType="1"/>
            </p:cNvSpPr>
            <p:nvPr/>
          </p:nvSpPr>
          <p:spPr bwMode="auto">
            <a:xfrm flipV="1">
              <a:off x="3551" y="1689"/>
              <a:ext cx="40" cy="157"/>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310285" name="Text Box 13">
            <a:extLst>
              <a:ext uri="{FF2B5EF4-FFF2-40B4-BE49-F238E27FC236}">
                <a16:creationId xmlns:a16="http://schemas.microsoft.com/office/drawing/2014/main" id="{CA6FD88E-B13F-4D82-8066-1160137CC080}"/>
              </a:ext>
            </a:extLst>
          </p:cNvPr>
          <p:cNvSpPr txBox="1">
            <a:spLocks noChangeArrowheads="1"/>
          </p:cNvSpPr>
          <p:nvPr/>
        </p:nvSpPr>
        <p:spPr bwMode="auto">
          <a:xfrm>
            <a:off x="5680075" y="3179763"/>
            <a:ext cx="25812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Tangential Longitudinal Strain</a:t>
            </a:r>
          </a:p>
        </p:txBody>
      </p:sp>
      <p:sp>
        <p:nvSpPr>
          <p:cNvPr id="310286" name="Text Box 14">
            <a:extLst>
              <a:ext uri="{FF2B5EF4-FFF2-40B4-BE49-F238E27FC236}">
                <a16:creationId xmlns:a16="http://schemas.microsoft.com/office/drawing/2014/main" id="{7166B758-3A94-475D-B970-B617FC8B82AD}"/>
              </a:ext>
            </a:extLst>
          </p:cNvPr>
          <p:cNvSpPr txBox="1">
            <a:spLocks noChangeArrowheads="1"/>
          </p:cNvSpPr>
          <p:nvPr/>
        </p:nvSpPr>
        <p:spPr bwMode="auto">
          <a:xfrm>
            <a:off x="6977063" y="6369050"/>
            <a:ext cx="1250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Shear folding</a:t>
            </a:r>
          </a:p>
        </p:txBody>
      </p:sp>
      <p:sp>
        <p:nvSpPr>
          <p:cNvPr id="310287" name="Text Box 15">
            <a:extLst>
              <a:ext uri="{FF2B5EF4-FFF2-40B4-BE49-F238E27FC236}">
                <a16:creationId xmlns:a16="http://schemas.microsoft.com/office/drawing/2014/main" id="{D1B3D6A9-95A5-4873-9044-333B0F85C2FF}"/>
              </a:ext>
            </a:extLst>
          </p:cNvPr>
          <p:cNvSpPr txBox="1">
            <a:spLocks noChangeArrowheads="1"/>
          </p:cNvSpPr>
          <p:nvPr/>
        </p:nvSpPr>
        <p:spPr bwMode="auto">
          <a:xfrm>
            <a:off x="3916363" y="6389688"/>
            <a:ext cx="1250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Flexural flow</a:t>
            </a:r>
          </a:p>
        </p:txBody>
      </p:sp>
      <p:sp>
        <p:nvSpPr>
          <p:cNvPr id="310288" name="Text Box 16">
            <a:extLst>
              <a:ext uri="{FF2B5EF4-FFF2-40B4-BE49-F238E27FC236}">
                <a16:creationId xmlns:a16="http://schemas.microsoft.com/office/drawing/2014/main" id="{1BD0F021-5A6C-45E3-9DE9-41C4270033E2}"/>
              </a:ext>
            </a:extLst>
          </p:cNvPr>
          <p:cNvSpPr txBox="1">
            <a:spLocks noChangeArrowheads="1"/>
          </p:cNvSpPr>
          <p:nvPr/>
        </p:nvSpPr>
        <p:spPr bwMode="auto">
          <a:xfrm>
            <a:off x="117475" y="3417888"/>
            <a:ext cx="2671763" cy="320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These are </a:t>
            </a:r>
            <a:r>
              <a:rPr lang="en-GB" altLang="en-US" sz="1700">
                <a:solidFill>
                  <a:srgbClr val="FF66CC"/>
                </a:solidFill>
                <a:effectLst>
                  <a:outerShdw blurRad="38100" dist="38100" dir="2700000" algn="tl">
                    <a:srgbClr val="000000"/>
                  </a:outerShdw>
                </a:effectLst>
                <a:latin typeface="Arial" panose="020B0604020202020204" pitchFamily="34" charset="0"/>
              </a:rPr>
              <a:t>plane strain</a:t>
            </a:r>
            <a:r>
              <a:rPr lang="en-GB" altLang="en-US" sz="1700">
                <a:effectLst>
                  <a:outerShdw blurRad="38100" dist="38100" dir="2700000" algn="tl">
                    <a:srgbClr val="000000"/>
                  </a:outerShdw>
                </a:effectLst>
                <a:latin typeface="Arial" panose="020B0604020202020204" pitchFamily="34" charset="0"/>
              </a:rPr>
              <a:t> models in which Y is parallel to the fold axis and XZ is the profile plane. In </a:t>
            </a:r>
            <a:r>
              <a:rPr lang="en-GB" altLang="en-US" sz="1700">
                <a:solidFill>
                  <a:srgbClr val="FF66CC"/>
                </a:solidFill>
                <a:effectLst>
                  <a:outerShdw blurRad="38100" dist="38100" dir="2700000" algn="tl">
                    <a:srgbClr val="000000"/>
                  </a:outerShdw>
                </a:effectLst>
                <a:latin typeface="Arial" panose="020B0604020202020204" pitchFamily="34" charset="0"/>
              </a:rPr>
              <a:t>shear folding</a:t>
            </a:r>
            <a:r>
              <a:rPr lang="en-GB" altLang="en-US" sz="1700">
                <a:effectLst>
                  <a:outerShdw blurRad="38100" dist="38100" dir="2700000" algn="tl">
                    <a:srgbClr val="000000"/>
                  </a:outerShdw>
                </a:effectLst>
                <a:latin typeface="Arial" panose="020B0604020202020204" pitchFamily="34" charset="0"/>
              </a:rPr>
              <a:t>, Y is not generally parallel to the fold axis, and X and Z do not generally lie in the profile plane</a:t>
            </a: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a:extLst>
              <a:ext uri="{FF2B5EF4-FFF2-40B4-BE49-F238E27FC236}">
                <a16:creationId xmlns:a16="http://schemas.microsoft.com/office/drawing/2014/main" id="{1887CFBF-129C-4624-A61F-9E7F1A4CF838}"/>
              </a:ext>
            </a:extLst>
          </p:cNvPr>
          <p:cNvSpPr>
            <a:spLocks noGrp="1" noChangeArrowheads="1"/>
          </p:cNvSpPr>
          <p:nvPr>
            <p:ph type="title"/>
          </p:nvPr>
        </p:nvSpPr>
        <p:spPr>
          <a:noFill/>
        </p:spPr>
        <p:txBody>
          <a:bodyPr/>
          <a:lstStyle/>
          <a:p>
            <a:r>
              <a:rPr lang="en-GB" altLang="en-US" dirty="0">
                <a:effectLst/>
              </a:rPr>
              <a:t>Strain around fold hinges</a:t>
            </a:r>
          </a:p>
        </p:txBody>
      </p:sp>
      <p:sp>
        <p:nvSpPr>
          <p:cNvPr id="316419" name="Rectangle 3">
            <a:extLst>
              <a:ext uri="{FF2B5EF4-FFF2-40B4-BE49-F238E27FC236}">
                <a16:creationId xmlns:a16="http://schemas.microsoft.com/office/drawing/2014/main" id="{5D304A53-306E-48C2-A602-FFF45AC645B8}"/>
              </a:ext>
            </a:extLst>
          </p:cNvPr>
          <p:cNvSpPr>
            <a:spLocks noGrp="1" noChangeArrowheads="1"/>
          </p:cNvSpPr>
          <p:nvPr>
            <p:ph type="body" sz="half" idx="1"/>
          </p:nvPr>
        </p:nvSpPr>
        <p:spPr>
          <a:xfrm>
            <a:off x="120650" y="809127"/>
            <a:ext cx="8890000" cy="1130300"/>
          </a:xfrm>
          <a:noFill/>
        </p:spPr>
        <p:txBody>
          <a:bodyPr/>
          <a:lstStyle/>
          <a:p>
            <a:pPr marL="177800" indent="-177800">
              <a:spcBef>
                <a:spcPct val="50000"/>
              </a:spcBef>
              <a:buClr>
                <a:schemeClr val="tx1"/>
              </a:buClr>
              <a:buSzTx/>
              <a:buFontTx/>
              <a:buChar char="•"/>
            </a:pPr>
            <a:r>
              <a:rPr lang="en-GB" altLang="en-US" sz="1700" dirty="0"/>
              <a:t>Cleavage can also show a variety of patterns in the </a:t>
            </a:r>
            <a:r>
              <a:rPr lang="en-GB" altLang="en-US" sz="1700" dirty="0">
                <a:solidFill>
                  <a:srgbClr val="FF6600"/>
                </a:solidFill>
              </a:rPr>
              <a:t>hinge zone</a:t>
            </a:r>
            <a:r>
              <a:rPr lang="en-GB" altLang="en-US" sz="1700" dirty="0"/>
              <a:t> of folded interbeds, in part reflecting the amount of </a:t>
            </a:r>
            <a:r>
              <a:rPr lang="en-GB" altLang="en-US" sz="1700" dirty="0">
                <a:solidFill>
                  <a:srgbClr val="FF66CC"/>
                </a:solidFill>
              </a:rPr>
              <a:t>layer-parallel shortening prior</a:t>
            </a:r>
            <a:r>
              <a:rPr lang="en-GB" altLang="en-US" sz="1700" dirty="0"/>
              <a:t> to the initiation of folding (when cleavage starts to form)</a:t>
            </a:r>
            <a:endParaRPr lang="en-GB" altLang="en-US" sz="1700" dirty="0">
              <a:effectLst/>
            </a:endParaRPr>
          </a:p>
        </p:txBody>
      </p:sp>
      <p:grpSp>
        <p:nvGrpSpPr>
          <p:cNvPr id="316424" name="Group 8">
            <a:extLst>
              <a:ext uri="{FF2B5EF4-FFF2-40B4-BE49-F238E27FC236}">
                <a16:creationId xmlns:a16="http://schemas.microsoft.com/office/drawing/2014/main" id="{FB330050-F816-4BA3-8EC5-B996FF9AF2E5}"/>
              </a:ext>
            </a:extLst>
          </p:cNvPr>
          <p:cNvGrpSpPr>
            <a:grpSpLocks/>
          </p:cNvGrpSpPr>
          <p:nvPr/>
        </p:nvGrpSpPr>
        <p:grpSpPr bwMode="auto">
          <a:xfrm>
            <a:off x="247650" y="2041525"/>
            <a:ext cx="4875213" cy="2928938"/>
            <a:chOff x="313" y="2265"/>
            <a:chExt cx="1986" cy="1247"/>
          </a:xfrm>
        </p:grpSpPr>
        <p:sp>
          <p:nvSpPr>
            <p:cNvPr id="316425" name="Rectangle 9">
              <a:extLst>
                <a:ext uri="{FF2B5EF4-FFF2-40B4-BE49-F238E27FC236}">
                  <a16:creationId xmlns:a16="http://schemas.microsoft.com/office/drawing/2014/main" id="{A6BA0B64-9FF4-49A4-8D1D-81E2763D8DC6}"/>
                </a:ext>
              </a:extLst>
            </p:cNvPr>
            <p:cNvSpPr>
              <a:spLocks noChangeArrowheads="1"/>
            </p:cNvSpPr>
            <p:nvPr/>
          </p:nvSpPr>
          <p:spPr bwMode="auto">
            <a:xfrm>
              <a:off x="313" y="2265"/>
              <a:ext cx="1986" cy="1247"/>
            </a:xfrm>
            <a:prstGeom prst="rect">
              <a:avLst/>
            </a:prstGeom>
            <a:solidFill>
              <a:schemeClr val="tx1"/>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16426" name="Picture 2" descr="GR13.jpg">
              <a:extLst>
                <a:ext uri="{FF2B5EF4-FFF2-40B4-BE49-F238E27FC236}">
                  <a16:creationId xmlns:a16="http://schemas.microsoft.com/office/drawing/2014/main" id="{48E08F97-11BD-404B-8E09-978C476B3B2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2" y="2312"/>
              <a:ext cx="1893" cy="1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316431" name="Group 15">
            <a:extLst>
              <a:ext uri="{FF2B5EF4-FFF2-40B4-BE49-F238E27FC236}">
                <a16:creationId xmlns:a16="http://schemas.microsoft.com/office/drawing/2014/main" id="{4737AA15-2FFE-48AD-87F7-089283B227EE}"/>
              </a:ext>
            </a:extLst>
          </p:cNvPr>
          <p:cNvGrpSpPr>
            <a:grpSpLocks/>
          </p:cNvGrpSpPr>
          <p:nvPr/>
        </p:nvGrpSpPr>
        <p:grpSpPr bwMode="auto">
          <a:xfrm>
            <a:off x="5256213" y="2041525"/>
            <a:ext cx="3719512" cy="2919413"/>
            <a:chOff x="3411" y="1046"/>
            <a:chExt cx="2159" cy="1677"/>
          </a:xfrm>
        </p:grpSpPr>
        <p:sp>
          <p:nvSpPr>
            <p:cNvPr id="316430" name="Rectangle 14">
              <a:extLst>
                <a:ext uri="{FF2B5EF4-FFF2-40B4-BE49-F238E27FC236}">
                  <a16:creationId xmlns:a16="http://schemas.microsoft.com/office/drawing/2014/main" id="{4E144A90-499E-49F3-993E-CFFC50CAB62A}"/>
                </a:ext>
              </a:extLst>
            </p:cNvPr>
            <p:cNvSpPr>
              <a:spLocks noChangeArrowheads="1"/>
            </p:cNvSpPr>
            <p:nvPr/>
          </p:nvSpPr>
          <p:spPr bwMode="auto">
            <a:xfrm>
              <a:off x="3411" y="1046"/>
              <a:ext cx="2159" cy="1677"/>
            </a:xfrm>
            <a:prstGeom prst="rect">
              <a:avLst/>
            </a:prstGeom>
            <a:solidFill>
              <a:schemeClr val="tx1"/>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16428" name="Picture 2" descr="GR12.jpg">
              <a:extLst>
                <a:ext uri="{FF2B5EF4-FFF2-40B4-BE49-F238E27FC236}">
                  <a16:creationId xmlns:a16="http://schemas.microsoft.com/office/drawing/2014/main" id="{F8D60812-2549-46FD-9715-A86C50B80C3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469" y="1084"/>
              <a:ext cx="2046" cy="1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316432" name="Rectangle 16">
            <a:extLst>
              <a:ext uri="{FF2B5EF4-FFF2-40B4-BE49-F238E27FC236}">
                <a16:creationId xmlns:a16="http://schemas.microsoft.com/office/drawing/2014/main" id="{BD79CE97-212A-4DD1-B764-ADE2A82170EC}"/>
              </a:ext>
            </a:extLst>
          </p:cNvPr>
          <p:cNvSpPr>
            <a:spLocks noChangeArrowheads="1"/>
          </p:cNvSpPr>
          <p:nvPr/>
        </p:nvSpPr>
        <p:spPr bwMode="auto">
          <a:xfrm>
            <a:off x="115888" y="5202238"/>
            <a:ext cx="8890000" cy="144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630238" indent="-2730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362075" indent="-3048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846263" indent="-3048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330450" indent="-3048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787650" indent="-3048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244850" indent="-3048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702050" indent="-3048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4159250" indent="-3048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50000"/>
              </a:spcBef>
              <a:buClr>
                <a:schemeClr val="tx1"/>
              </a:buClr>
              <a:buSzTx/>
              <a:buFontTx/>
              <a:buChar char="•"/>
            </a:pPr>
            <a:r>
              <a:rPr lang="en-GB" altLang="en-US" sz="1700" dirty="0">
                <a:effectLst>
                  <a:outerShdw blurRad="38100" dist="38100" dir="2700000" algn="tl">
                    <a:srgbClr val="000000"/>
                  </a:outerShdw>
                </a:effectLst>
              </a:rPr>
              <a:t>The formation of </a:t>
            </a:r>
            <a:r>
              <a:rPr lang="en-GB" altLang="en-US" sz="1700" dirty="0">
                <a:solidFill>
                  <a:srgbClr val="FF66CC"/>
                </a:solidFill>
                <a:effectLst>
                  <a:outerShdw blurRad="38100" dist="38100" dir="2700000" algn="tl">
                    <a:srgbClr val="000000"/>
                  </a:outerShdw>
                </a:effectLst>
              </a:rPr>
              <a:t>neutral points</a:t>
            </a:r>
            <a:r>
              <a:rPr lang="en-GB" altLang="en-US" sz="1700" dirty="0">
                <a:effectLst>
                  <a:outerShdw blurRad="38100" dist="38100" dir="2700000" algn="tl">
                    <a:srgbClr val="000000"/>
                  </a:outerShdw>
                </a:effectLst>
              </a:rPr>
              <a:t> (areas of no cleavage), reflects variations in the </a:t>
            </a:r>
            <a:r>
              <a:rPr lang="en-GB" altLang="en-US" sz="1700" dirty="0">
                <a:solidFill>
                  <a:srgbClr val="FF66CC"/>
                </a:solidFill>
                <a:effectLst>
                  <a:outerShdw blurRad="38100" dist="38100" dir="2700000" algn="tl">
                    <a:srgbClr val="000000"/>
                  </a:outerShdw>
                </a:effectLst>
              </a:rPr>
              <a:t>local </a:t>
            </a:r>
            <a:r>
              <a:rPr lang="en-GB" altLang="en-US" sz="1700" dirty="0">
                <a:effectLst>
                  <a:outerShdw blurRad="38100" dist="38100" dir="2700000" algn="tl">
                    <a:srgbClr val="000000"/>
                  </a:outerShdw>
                </a:effectLst>
              </a:rPr>
              <a:t>orientation of the XY plane – the layer-parallel cleavage below the neutral point in the incompetent unit (units shaded black and pale blue in the two figures) reflects outer arc stretching (tangential longitudinal strain folding) in the underlying more competent unit</a:t>
            </a:r>
            <a:endParaRPr lang="en-GB" altLang="en-US" sz="1700" dirty="0">
              <a:effectLst/>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a:extLst>
              <a:ext uri="{FF2B5EF4-FFF2-40B4-BE49-F238E27FC236}">
                <a16:creationId xmlns:a16="http://schemas.microsoft.com/office/drawing/2014/main" id="{3A9AB658-263E-4214-83EE-2EA2568D0D58}"/>
              </a:ext>
            </a:extLst>
          </p:cNvPr>
          <p:cNvSpPr>
            <a:spLocks noGrp="1" noChangeArrowheads="1"/>
          </p:cNvSpPr>
          <p:nvPr>
            <p:ph type="title"/>
          </p:nvPr>
        </p:nvSpPr>
        <p:spPr>
          <a:noFill/>
        </p:spPr>
        <p:txBody>
          <a:bodyPr/>
          <a:lstStyle/>
          <a:p>
            <a:r>
              <a:rPr lang="en-GB" altLang="en-US">
                <a:effectLst/>
              </a:rPr>
              <a:t>Cleavage refraction and strain</a:t>
            </a:r>
          </a:p>
        </p:txBody>
      </p:sp>
      <p:sp>
        <p:nvSpPr>
          <p:cNvPr id="306179" name="Rectangle 3">
            <a:extLst>
              <a:ext uri="{FF2B5EF4-FFF2-40B4-BE49-F238E27FC236}">
                <a16:creationId xmlns:a16="http://schemas.microsoft.com/office/drawing/2014/main" id="{544668B0-1E5D-4D1E-8594-2A0268AC00FE}"/>
              </a:ext>
            </a:extLst>
          </p:cNvPr>
          <p:cNvSpPr>
            <a:spLocks noGrp="1" noChangeArrowheads="1"/>
          </p:cNvSpPr>
          <p:nvPr>
            <p:ph type="body" sz="half" idx="1"/>
          </p:nvPr>
        </p:nvSpPr>
        <p:spPr>
          <a:xfrm>
            <a:off x="130175" y="798513"/>
            <a:ext cx="8890000" cy="1111250"/>
          </a:xfrm>
          <a:noFill/>
        </p:spPr>
        <p:txBody>
          <a:bodyPr/>
          <a:lstStyle/>
          <a:p>
            <a:pPr marL="177800" indent="-177800">
              <a:spcBef>
                <a:spcPct val="75000"/>
              </a:spcBef>
            </a:pPr>
            <a:r>
              <a:rPr lang="en-GB" altLang="en-US" sz="1700">
                <a:effectLst/>
              </a:rPr>
              <a:t>We noted in Class 1 that as cleavage passes between more competent and less competent layers it changes in orientation (</a:t>
            </a:r>
            <a:r>
              <a:rPr lang="en-GB" altLang="en-US" sz="1700">
                <a:solidFill>
                  <a:srgbClr val="FF6600"/>
                </a:solidFill>
                <a:effectLst/>
              </a:rPr>
              <a:t>cleavage refraction</a:t>
            </a:r>
            <a:r>
              <a:rPr lang="en-GB" altLang="en-US" sz="1700">
                <a:effectLst/>
              </a:rPr>
              <a:t>). This reflects a difference </a:t>
            </a:r>
            <a:r>
              <a:rPr lang="en-GB" altLang="en-US" sz="1700"/>
              <a:t>in shear strain between the layers, and hence in the </a:t>
            </a:r>
            <a:r>
              <a:rPr lang="en-GB" altLang="en-US" sz="1700">
                <a:solidFill>
                  <a:srgbClr val="FF66CC"/>
                </a:solidFill>
              </a:rPr>
              <a:t>local orientation of the XY plane</a:t>
            </a:r>
            <a:endParaRPr lang="en-GB" altLang="en-US" sz="1700">
              <a:solidFill>
                <a:srgbClr val="FF66CC"/>
              </a:solidFill>
              <a:effectLst/>
            </a:endParaRPr>
          </a:p>
        </p:txBody>
      </p:sp>
      <p:grpSp>
        <p:nvGrpSpPr>
          <p:cNvPr id="306183" name="Group 7">
            <a:extLst>
              <a:ext uri="{FF2B5EF4-FFF2-40B4-BE49-F238E27FC236}">
                <a16:creationId xmlns:a16="http://schemas.microsoft.com/office/drawing/2014/main" id="{471F4C90-71CF-490D-9ED9-50324DA11F2A}"/>
              </a:ext>
            </a:extLst>
          </p:cNvPr>
          <p:cNvGrpSpPr>
            <a:grpSpLocks/>
          </p:cNvGrpSpPr>
          <p:nvPr/>
        </p:nvGrpSpPr>
        <p:grpSpPr bwMode="auto">
          <a:xfrm>
            <a:off x="5380038" y="4135438"/>
            <a:ext cx="3028950" cy="2532062"/>
            <a:chOff x="3327" y="1538"/>
            <a:chExt cx="1963" cy="1694"/>
          </a:xfrm>
        </p:grpSpPr>
        <p:sp>
          <p:nvSpPr>
            <p:cNvPr id="306182" name="Rectangle 6">
              <a:extLst>
                <a:ext uri="{FF2B5EF4-FFF2-40B4-BE49-F238E27FC236}">
                  <a16:creationId xmlns:a16="http://schemas.microsoft.com/office/drawing/2014/main" id="{07290B66-C647-4998-875C-AFC24D3B7346}"/>
                </a:ext>
              </a:extLst>
            </p:cNvPr>
            <p:cNvSpPr>
              <a:spLocks noChangeArrowheads="1"/>
            </p:cNvSpPr>
            <p:nvPr/>
          </p:nvSpPr>
          <p:spPr bwMode="auto">
            <a:xfrm>
              <a:off x="3327" y="1538"/>
              <a:ext cx="1963" cy="1694"/>
            </a:xfrm>
            <a:prstGeom prst="rect">
              <a:avLst/>
            </a:prstGeom>
            <a:solidFill>
              <a:schemeClr val="tx1"/>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06180" name="Picture 2" descr="GR15.jpg">
              <a:extLst>
                <a:ext uri="{FF2B5EF4-FFF2-40B4-BE49-F238E27FC236}">
                  <a16:creationId xmlns:a16="http://schemas.microsoft.com/office/drawing/2014/main" id="{D1B5396C-5FDD-4FAB-B914-FF116F938B2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62" y="1563"/>
              <a:ext cx="1898" cy="16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306190" name="Picture 14" descr="14">
            <a:extLst>
              <a:ext uri="{FF2B5EF4-FFF2-40B4-BE49-F238E27FC236}">
                <a16:creationId xmlns:a16="http://schemas.microsoft.com/office/drawing/2014/main" id="{FE57A52A-73B2-44CC-B008-EA9E28CCFAA7}"/>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322763" y="2016125"/>
            <a:ext cx="4581525" cy="191293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306194" name="Group 18">
            <a:extLst>
              <a:ext uri="{FF2B5EF4-FFF2-40B4-BE49-F238E27FC236}">
                <a16:creationId xmlns:a16="http://schemas.microsoft.com/office/drawing/2014/main" id="{22DB66BC-315E-4D6B-9743-227511496734}"/>
              </a:ext>
            </a:extLst>
          </p:cNvPr>
          <p:cNvGrpSpPr>
            <a:grpSpLocks/>
          </p:cNvGrpSpPr>
          <p:nvPr/>
        </p:nvGrpSpPr>
        <p:grpSpPr bwMode="auto">
          <a:xfrm>
            <a:off x="338138" y="1984375"/>
            <a:ext cx="3673475" cy="3389313"/>
            <a:chOff x="436" y="2102"/>
            <a:chExt cx="2253" cy="2141"/>
          </a:xfrm>
        </p:grpSpPr>
        <p:sp>
          <p:nvSpPr>
            <p:cNvPr id="306193" name="Rectangle 17">
              <a:extLst>
                <a:ext uri="{FF2B5EF4-FFF2-40B4-BE49-F238E27FC236}">
                  <a16:creationId xmlns:a16="http://schemas.microsoft.com/office/drawing/2014/main" id="{35E126C3-FCDA-424C-B891-33757617CEF3}"/>
                </a:ext>
              </a:extLst>
            </p:cNvPr>
            <p:cNvSpPr>
              <a:spLocks noChangeArrowheads="1"/>
            </p:cNvSpPr>
            <p:nvPr/>
          </p:nvSpPr>
          <p:spPr bwMode="auto">
            <a:xfrm>
              <a:off x="436" y="2102"/>
              <a:ext cx="2253" cy="2141"/>
            </a:xfrm>
            <a:prstGeom prst="rect">
              <a:avLst/>
            </a:prstGeom>
            <a:solidFill>
              <a:schemeClr val="tx1"/>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06192" name="Picture 2" descr="GR14.jpg">
              <a:extLst>
                <a:ext uri="{FF2B5EF4-FFF2-40B4-BE49-F238E27FC236}">
                  <a16:creationId xmlns:a16="http://schemas.microsoft.com/office/drawing/2014/main" id="{81A86B6B-515A-48FC-9325-475F07EBB28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0" y="2149"/>
              <a:ext cx="2174" cy="2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6195" name="Text Box 19">
            <a:extLst>
              <a:ext uri="{FF2B5EF4-FFF2-40B4-BE49-F238E27FC236}">
                <a16:creationId xmlns:a16="http://schemas.microsoft.com/office/drawing/2014/main" id="{9DF6AA40-9FEB-49F0-A225-E3C78648C9A4}"/>
              </a:ext>
            </a:extLst>
          </p:cNvPr>
          <p:cNvSpPr txBox="1">
            <a:spLocks noChangeArrowheads="1"/>
          </p:cNvSpPr>
          <p:nvPr/>
        </p:nvSpPr>
        <p:spPr bwMode="auto">
          <a:xfrm>
            <a:off x="444500" y="5570538"/>
            <a:ext cx="4652963"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At the interface between the layers, provided there is no slip on the interface, the strain ellipse is </a:t>
            </a:r>
            <a:r>
              <a:rPr lang="en-GB" altLang="en-US" sz="1700">
                <a:solidFill>
                  <a:srgbClr val="FF66CC"/>
                </a:solidFill>
                <a:effectLst>
                  <a:outerShdw blurRad="38100" dist="38100" dir="2700000" algn="tl">
                    <a:srgbClr val="000000"/>
                  </a:outerShdw>
                </a:effectLst>
                <a:latin typeface="Arial" panose="020B0604020202020204" pitchFamily="34" charset="0"/>
              </a:rPr>
              <a:t>shared</a:t>
            </a:r>
            <a:r>
              <a:rPr lang="en-GB" altLang="en-US" sz="1700">
                <a:effectLst>
                  <a:outerShdw blurRad="38100" dist="38100" dir="2700000" algn="tl">
                    <a:srgbClr val="000000"/>
                  </a:outerShdw>
                </a:effectLst>
                <a:latin typeface="Arial" panose="020B0604020202020204" pitchFamily="34" charset="0"/>
              </a:rPr>
              <a:t> by the two layers</a:t>
            </a: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9504" name="Picture 16" descr="17a">
            <a:extLst>
              <a:ext uri="{FF2B5EF4-FFF2-40B4-BE49-F238E27FC236}">
                <a16:creationId xmlns:a16="http://schemas.microsoft.com/office/drawing/2014/main" id="{B6D5AB2F-FA68-4352-ABC7-A9E32C99DC9B}"/>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95275" y="1709738"/>
            <a:ext cx="6675438" cy="482441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9508" name="Rectangle 20">
            <a:extLst>
              <a:ext uri="{FF2B5EF4-FFF2-40B4-BE49-F238E27FC236}">
                <a16:creationId xmlns:a16="http://schemas.microsoft.com/office/drawing/2014/main" id="{971CFF26-098F-4C82-8C8F-23F9D421813E}"/>
              </a:ext>
            </a:extLst>
          </p:cNvPr>
          <p:cNvSpPr>
            <a:spLocks noChangeArrowheads="1"/>
          </p:cNvSpPr>
          <p:nvPr/>
        </p:nvSpPr>
        <p:spPr bwMode="auto">
          <a:xfrm>
            <a:off x="425450" y="1865313"/>
            <a:ext cx="2060575" cy="407987"/>
          </a:xfrm>
          <a:prstGeom prst="rect">
            <a:avLst/>
          </a:prstGeom>
          <a:solidFill>
            <a:schemeClr val="tx1"/>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19490" name="Rectangle 2">
            <a:extLst>
              <a:ext uri="{FF2B5EF4-FFF2-40B4-BE49-F238E27FC236}">
                <a16:creationId xmlns:a16="http://schemas.microsoft.com/office/drawing/2014/main" id="{BB257752-E6ED-4F0B-AB92-941032A93BDB}"/>
              </a:ext>
            </a:extLst>
          </p:cNvPr>
          <p:cNvSpPr>
            <a:spLocks noGrp="1" noChangeArrowheads="1"/>
          </p:cNvSpPr>
          <p:nvPr>
            <p:ph type="title"/>
          </p:nvPr>
        </p:nvSpPr>
        <p:spPr>
          <a:noFill/>
        </p:spPr>
        <p:txBody>
          <a:bodyPr/>
          <a:lstStyle/>
          <a:p>
            <a:r>
              <a:rPr lang="en-GB" altLang="en-US">
                <a:effectLst/>
              </a:rPr>
              <a:t>Regional strains  (plutons)</a:t>
            </a:r>
          </a:p>
        </p:txBody>
      </p:sp>
      <p:sp>
        <p:nvSpPr>
          <p:cNvPr id="319491" name="Rectangle 3">
            <a:extLst>
              <a:ext uri="{FF2B5EF4-FFF2-40B4-BE49-F238E27FC236}">
                <a16:creationId xmlns:a16="http://schemas.microsoft.com/office/drawing/2014/main" id="{ECE18822-39D0-452F-A349-442167B872A8}"/>
              </a:ext>
            </a:extLst>
          </p:cNvPr>
          <p:cNvSpPr>
            <a:spLocks noGrp="1" noChangeArrowheads="1"/>
          </p:cNvSpPr>
          <p:nvPr>
            <p:ph type="body" sz="half" idx="1"/>
          </p:nvPr>
        </p:nvSpPr>
        <p:spPr>
          <a:xfrm>
            <a:off x="114300" y="819150"/>
            <a:ext cx="8818563" cy="803275"/>
          </a:xfrm>
          <a:noFill/>
        </p:spPr>
        <p:txBody>
          <a:bodyPr/>
          <a:lstStyle/>
          <a:p>
            <a:pPr marL="177800" indent="-177800">
              <a:spcBef>
                <a:spcPct val="75000"/>
              </a:spcBef>
            </a:pPr>
            <a:r>
              <a:rPr lang="en-GB" altLang="en-US" sz="1700">
                <a:effectLst/>
              </a:rPr>
              <a:t>Perhaps the most intuitive way of showing regional strain data is as </a:t>
            </a:r>
            <a:r>
              <a:rPr lang="en-GB" altLang="en-US" sz="1700">
                <a:solidFill>
                  <a:srgbClr val="FF66CC"/>
                </a:solidFill>
                <a:effectLst/>
              </a:rPr>
              <a:t>strain ellipse maps</a:t>
            </a:r>
            <a:r>
              <a:rPr lang="en-GB" altLang="en-US" sz="1700">
                <a:effectLst/>
              </a:rPr>
              <a:t>. This works well when the strain ellipsoid has axial symmetry</a:t>
            </a:r>
          </a:p>
        </p:txBody>
      </p:sp>
      <p:sp>
        <p:nvSpPr>
          <p:cNvPr id="319506" name="Text Box 18">
            <a:extLst>
              <a:ext uri="{FF2B5EF4-FFF2-40B4-BE49-F238E27FC236}">
                <a16:creationId xmlns:a16="http://schemas.microsoft.com/office/drawing/2014/main" id="{58C4825A-2D49-43B3-AE97-67648F1FF19A}"/>
              </a:ext>
            </a:extLst>
          </p:cNvPr>
          <p:cNvSpPr txBox="1">
            <a:spLocks noChangeArrowheads="1"/>
          </p:cNvSpPr>
          <p:nvPr/>
        </p:nvSpPr>
        <p:spPr bwMode="auto">
          <a:xfrm>
            <a:off x="7180263" y="1581150"/>
            <a:ext cx="1835150" cy="318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Strain state in the Chindamora granitic batholith, Zimbabwe, as obtained from the shapes of xenoliths.</a:t>
            </a:r>
          </a:p>
          <a:p>
            <a:pPr>
              <a:lnSpc>
                <a:spcPct val="115000"/>
              </a:lnSpc>
              <a:spcBef>
                <a:spcPct val="75000"/>
              </a:spcBef>
            </a:pPr>
            <a:r>
              <a:rPr lang="en-GB" altLang="en-US" sz="1400">
                <a:solidFill>
                  <a:srgbClr val="FFFF00"/>
                </a:solidFill>
                <a:effectLst>
                  <a:outerShdw blurRad="38100" dist="38100" dir="2700000" algn="tl">
                    <a:srgbClr val="000000"/>
                  </a:outerShdw>
                </a:effectLst>
                <a:latin typeface="Arial" panose="020B0604020202020204" pitchFamily="34" charset="0"/>
              </a:rPr>
              <a:t>These were used to deduce a model for the balloon-like magmatic inflation of the igneous body during its emplacement</a:t>
            </a:r>
          </a:p>
        </p:txBody>
      </p:sp>
      <p:sp>
        <p:nvSpPr>
          <p:cNvPr id="319507" name="Text Box 19">
            <a:extLst>
              <a:ext uri="{FF2B5EF4-FFF2-40B4-BE49-F238E27FC236}">
                <a16:creationId xmlns:a16="http://schemas.microsoft.com/office/drawing/2014/main" id="{1A59B2C8-07FA-442D-B3F5-327E0EB54005}"/>
              </a:ext>
            </a:extLst>
          </p:cNvPr>
          <p:cNvSpPr txBox="1">
            <a:spLocks noChangeArrowheads="1"/>
          </p:cNvSpPr>
          <p:nvPr/>
        </p:nvSpPr>
        <p:spPr bwMode="auto">
          <a:xfrm>
            <a:off x="390525" y="1908175"/>
            <a:ext cx="2174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0000"/>
                </a:solidFill>
                <a:effectLst/>
                <a:latin typeface="Arial" panose="020B0604020202020204" pitchFamily="34" charset="0"/>
              </a:rPr>
              <a:t>XZ=YZ strain ellipses</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4" name="Rectangle 4">
            <a:extLst>
              <a:ext uri="{FF2B5EF4-FFF2-40B4-BE49-F238E27FC236}">
                <a16:creationId xmlns:a16="http://schemas.microsoft.com/office/drawing/2014/main" id="{52A1A9F7-55AC-44C4-923B-5EC9ED373104}"/>
              </a:ext>
            </a:extLst>
          </p:cNvPr>
          <p:cNvSpPr>
            <a:spLocks noGrp="1" noChangeArrowheads="1"/>
          </p:cNvSpPr>
          <p:nvPr>
            <p:ph type="title"/>
          </p:nvPr>
        </p:nvSpPr>
        <p:spPr>
          <a:noFill/>
        </p:spPr>
        <p:txBody>
          <a:bodyPr/>
          <a:lstStyle/>
          <a:p>
            <a:r>
              <a:rPr lang="en-GB" altLang="en-US">
                <a:effectLst/>
              </a:rPr>
              <a:t>Regional strains  (folds)</a:t>
            </a:r>
          </a:p>
        </p:txBody>
      </p:sp>
      <p:sp>
        <p:nvSpPr>
          <p:cNvPr id="322565" name="Rectangle 5">
            <a:extLst>
              <a:ext uri="{FF2B5EF4-FFF2-40B4-BE49-F238E27FC236}">
                <a16:creationId xmlns:a16="http://schemas.microsoft.com/office/drawing/2014/main" id="{C77E0D04-BA49-4361-B461-01E6AD9C4327}"/>
              </a:ext>
            </a:extLst>
          </p:cNvPr>
          <p:cNvSpPr>
            <a:spLocks noGrp="1" noChangeArrowheads="1"/>
          </p:cNvSpPr>
          <p:nvPr>
            <p:ph type="body" sz="half" idx="1"/>
          </p:nvPr>
        </p:nvSpPr>
        <p:spPr>
          <a:xfrm>
            <a:off x="114300" y="819150"/>
            <a:ext cx="8818563" cy="509588"/>
          </a:xfrm>
          <a:noFill/>
        </p:spPr>
        <p:txBody>
          <a:bodyPr/>
          <a:lstStyle/>
          <a:p>
            <a:pPr marL="177800" indent="-177800">
              <a:spcBef>
                <a:spcPct val="75000"/>
              </a:spcBef>
            </a:pPr>
            <a:r>
              <a:rPr lang="en-GB" altLang="en-US" sz="1700">
                <a:effectLst/>
              </a:rPr>
              <a:t>These can also be shown on cross sections . . . </a:t>
            </a:r>
          </a:p>
        </p:txBody>
      </p:sp>
      <p:sp>
        <p:nvSpPr>
          <p:cNvPr id="322566" name="Text Box 6">
            <a:extLst>
              <a:ext uri="{FF2B5EF4-FFF2-40B4-BE49-F238E27FC236}">
                <a16:creationId xmlns:a16="http://schemas.microsoft.com/office/drawing/2014/main" id="{3CE7D98C-F1EE-4765-8FB2-AB4A0698DC2B}"/>
              </a:ext>
            </a:extLst>
          </p:cNvPr>
          <p:cNvSpPr txBox="1">
            <a:spLocks noChangeArrowheads="1"/>
          </p:cNvSpPr>
          <p:nvPr/>
        </p:nvSpPr>
        <p:spPr bwMode="auto">
          <a:xfrm>
            <a:off x="773113" y="6200775"/>
            <a:ext cx="7494587"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Strains shown on a profile plane section of the West Helvetic nappe pile, Valais, Switzerland</a:t>
            </a:r>
          </a:p>
        </p:txBody>
      </p:sp>
      <p:pic>
        <p:nvPicPr>
          <p:cNvPr id="322569" name="Picture 9" descr="17b">
            <a:extLst>
              <a:ext uri="{FF2B5EF4-FFF2-40B4-BE49-F238E27FC236}">
                <a16:creationId xmlns:a16="http://schemas.microsoft.com/office/drawing/2014/main" id="{C28DA2A1-92EE-4BCA-BB76-855593F7F14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82588" y="1366838"/>
            <a:ext cx="8251825" cy="47180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22572" name="Rectangle 12">
            <a:extLst>
              <a:ext uri="{FF2B5EF4-FFF2-40B4-BE49-F238E27FC236}">
                <a16:creationId xmlns:a16="http://schemas.microsoft.com/office/drawing/2014/main" id="{82E71B3F-3EAD-408A-AF12-7306DFEA2DE2}"/>
              </a:ext>
            </a:extLst>
          </p:cNvPr>
          <p:cNvSpPr>
            <a:spLocks noChangeArrowheads="1"/>
          </p:cNvSpPr>
          <p:nvPr/>
        </p:nvSpPr>
        <p:spPr bwMode="auto">
          <a:xfrm>
            <a:off x="566738" y="1492250"/>
            <a:ext cx="1697037" cy="407988"/>
          </a:xfrm>
          <a:prstGeom prst="rect">
            <a:avLst/>
          </a:prstGeom>
          <a:solidFill>
            <a:schemeClr val="tx1"/>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2573" name="Text Box 13">
            <a:extLst>
              <a:ext uri="{FF2B5EF4-FFF2-40B4-BE49-F238E27FC236}">
                <a16:creationId xmlns:a16="http://schemas.microsoft.com/office/drawing/2014/main" id="{CC004DAC-5132-407C-85ED-5D39486C7294}"/>
              </a:ext>
            </a:extLst>
          </p:cNvPr>
          <p:cNvSpPr txBox="1">
            <a:spLocks noChangeArrowheads="1"/>
          </p:cNvSpPr>
          <p:nvPr/>
        </p:nvSpPr>
        <p:spPr bwMode="auto">
          <a:xfrm>
            <a:off x="531813" y="1535113"/>
            <a:ext cx="17383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0000"/>
                </a:solidFill>
                <a:effectLst/>
                <a:latin typeface="Arial" panose="020B0604020202020204" pitchFamily="34" charset="0"/>
              </a:rPr>
              <a:t>XZ strain ellipses</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a:extLst>
              <a:ext uri="{FF2B5EF4-FFF2-40B4-BE49-F238E27FC236}">
                <a16:creationId xmlns:a16="http://schemas.microsoft.com/office/drawing/2014/main" id="{70CCA2B9-A843-421D-B265-D668905843FA}"/>
              </a:ext>
            </a:extLst>
          </p:cNvPr>
          <p:cNvSpPr>
            <a:spLocks noGrp="1" noChangeArrowheads="1"/>
          </p:cNvSpPr>
          <p:nvPr>
            <p:ph type="title"/>
          </p:nvPr>
        </p:nvSpPr>
        <p:spPr>
          <a:noFill/>
        </p:spPr>
        <p:txBody>
          <a:bodyPr/>
          <a:lstStyle/>
          <a:p>
            <a:r>
              <a:rPr lang="en-GB" altLang="en-US">
                <a:effectLst/>
              </a:rPr>
              <a:t>Regional strains  (folds)</a:t>
            </a:r>
          </a:p>
        </p:txBody>
      </p:sp>
      <p:sp>
        <p:nvSpPr>
          <p:cNvPr id="370692" name="Text Box 4">
            <a:extLst>
              <a:ext uri="{FF2B5EF4-FFF2-40B4-BE49-F238E27FC236}">
                <a16:creationId xmlns:a16="http://schemas.microsoft.com/office/drawing/2014/main" id="{0213D143-8420-4DC0-8B36-E96EFC7941F0}"/>
              </a:ext>
            </a:extLst>
          </p:cNvPr>
          <p:cNvSpPr txBox="1">
            <a:spLocks noChangeArrowheads="1"/>
          </p:cNvSpPr>
          <p:nvPr/>
        </p:nvSpPr>
        <p:spPr bwMode="auto">
          <a:xfrm>
            <a:off x="658813" y="6021388"/>
            <a:ext cx="794543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Strains depicted on a section across Central Victoria, Australia. Note the intensification of strain in the Mount Useful Fault Zone, and also how strain intensity is picked up by fold interlimb angle</a:t>
            </a:r>
          </a:p>
        </p:txBody>
      </p:sp>
      <p:pic>
        <p:nvPicPr>
          <p:cNvPr id="370698" name="Picture 10" descr="StrainSect">
            <a:extLst>
              <a:ext uri="{FF2B5EF4-FFF2-40B4-BE49-F238E27FC236}">
                <a16:creationId xmlns:a16="http://schemas.microsoft.com/office/drawing/2014/main" id="{9D5AC12C-C47E-4B88-B177-3455A81E3A3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08013" y="890588"/>
            <a:ext cx="7985125" cy="50546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0700" name="Rectangle 12">
            <a:extLst>
              <a:ext uri="{FF2B5EF4-FFF2-40B4-BE49-F238E27FC236}">
                <a16:creationId xmlns:a16="http://schemas.microsoft.com/office/drawing/2014/main" id="{D38EBA3F-D0BF-4A59-938A-151B99C56A12}"/>
              </a:ext>
            </a:extLst>
          </p:cNvPr>
          <p:cNvSpPr>
            <a:spLocks noChangeArrowheads="1"/>
          </p:cNvSpPr>
          <p:nvPr/>
        </p:nvSpPr>
        <p:spPr bwMode="auto">
          <a:xfrm>
            <a:off x="798513" y="935038"/>
            <a:ext cx="263525" cy="188912"/>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0701" name="Rectangle 13">
            <a:extLst>
              <a:ext uri="{FF2B5EF4-FFF2-40B4-BE49-F238E27FC236}">
                <a16:creationId xmlns:a16="http://schemas.microsoft.com/office/drawing/2014/main" id="{0842E02D-686E-47A7-B28D-5EA8108D9235}"/>
              </a:ext>
            </a:extLst>
          </p:cNvPr>
          <p:cNvSpPr>
            <a:spLocks noChangeArrowheads="1"/>
          </p:cNvSpPr>
          <p:nvPr/>
        </p:nvSpPr>
        <p:spPr bwMode="auto">
          <a:xfrm>
            <a:off x="714375" y="2543175"/>
            <a:ext cx="263525" cy="27305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0702" name="Rectangle 14">
            <a:extLst>
              <a:ext uri="{FF2B5EF4-FFF2-40B4-BE49-F238E27FC236}">
                <a16:creationId xmlns:a16="http://schemas.microsoft.com/office/drawing/2014/main" id="{B09E7B9C-E6F6-4D2F-B267-2C966D12C964}"/>
              </a:ext>
            </a:extLst>
          </p:cNvPr>
          <p:cNvSpPr>
            <a:spLocks noChangeArrowheads="1"/>
          </p:cNvSpPr>
          <p:nvPr/>
        </p:nvSpPr>
        <p:spPr bwMode="auto">
          <a:xfrm>
            <a:off x="725488" y="4740275"/>
            <a:ext cx="284162" cy="325438"/>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a:extLst>
              <a:ext uri="{FF2B5EF4-FFF2-40B4-BE49-F238E27FC236}">
                <a16:creationId xmlns:a16="http://schemas.microsoft.com/office/drawing/2014/main" id="{6AB055AF-90E3-41E8-B366-295A33888864}"/>
              </a:ext>
            </a:extLst>
          </p:cNvPr>
          <p:cNvSpPr>
            <a:spLocks noGrp="1" noChangeArrowheads="1"/>
          </p:cNvSpPr>
          <p:nvPr>
            <p:ph type="title"/>
          </p:nvPr>
        </p:nvSpPr>
        <p:spPr>
          <a:noFill/>
        </p:spPr>
        <p:txBody>
          <a:bodyPr/>
          <a:lstStyle/>
          <a:p>
            <a:r>
              <a:rPr lang="en-GB" altLang="en-US">
                <a:effectLst/>
              </a:rPr>
              <a:t>Regional strains  (glaciers)</a:t>
            </a:r>
          </a:p>
        </p:txBody>
      </p:sp>
      <p:sp>
        <p:nvSpPr>
          <p:cNvPr id="324611" name="Rectangle 3">
            <a:extLst>
              <a:ext uri="{FF2B5EF4-FFF2-40B4-BE49-F238E27FC236}">
                <a16:creationId xmlns:a16="http://schemas.microsoft.com/office/drawing/2014/main" id="{5C0A100C-5967-4584-8710-D64B5DF5913F}"/>
              </a:ext>
            </a:extLst>
          </p:cNvPr>
          <p:cNvSpPr>
            <a:spLocks noGrp="1" noChangeArrowheads="1"/>
          </p:cNvSpPr>
          <p:nvPr>
            <p:ph type="body" sz="half" idx="1"/>
          </p:nvPr>
        </p:nvSpPr>
        <p:spPr>
          <a:xfrm>
            <a:off x="123825" y="811213"/>
            <a:ext cx="4291013" cy="1201737"/>
          </a:xfrm>
          <a:noFill/>
        </p:spPr>
        <p:txBody>
          <a:bodyPr/>
          <a:lstStyle/>
          <a:p>
            <a:pPr marL="177800" indent="-177800">
              <a:spcBef>
                <a:spcPct val="75000"/>
              </a:spcBef>
              <a:buFont typeface="Times" panose="02020603050405020304" pitchFamily="18" charset="0"/>
              <a:buNone/>
            </a:pPr>
            <a:r>
              <a:rPr lang="en-GB" altLang="en-US" sz="1700">
                <a:effectLst/>
              </a:rPr>
              <a:t>	. . . and can also be used to depict strains in deforming features at the surface such as glaciers . . .</a:t>
            </a:r>
          </a:p>
        </p:txBody>
      </p:sp>
      <p:pic>
        <p:nvPicPr>
          <p:cNvPr id="324617" name="Picture 9">
            <a:extLst>
              <a:ext uri="{FF2B5EF4-FFF2-40B4-BE49-F238E27FC236}">
                <a16:creationId xmlns:a16="http://schemas.microsoft.com/office/drawing/2014/main" id="{8444220B-40BC-401E-87A8-CB1AC1072115}"/>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881563" y="881063"/>
            <a:ext cx="4119562" cy="5749925"/>
          </a:xfrm>
          <a:noFill/>
          <a:ln w="38100" cap="flat">
            <a:solidFill>
              <a:schemeClr val="bg2"/>
            </a:solidFill>
            <a:miter lim="800000"/>
            <a:headEnd/>
            <a:tailEnd/>
          </a:ln>
        </p:spPr>
      </p:pic>
      <p:sp>
        <p:nvSpPr>
          <p:cNvPr id="324612" name="Text Box 4">
            <a:extLst>
              <a:ext uri="{FF2B5EF4-FFF2-40B4-BE49-F238E27FC236}">
                <a16:creationId xmlns:a16="http://schemas.microsoft.com/office/drawing/2014/main" id="{538207A9-8158-4976-B108-F73921D49368}"/>
              </a:ext>
            </a:extLst>
          </p:cNvPr>
          <p:cNvSpPr txBox="1">
            <a:spLocks noChangeArrowheads="1"/>
          </p:cNvSpPr>
          <p:nvPr/>
        </p:nvSpPr>
        <p:spPr bwMode="auto">
          <a:xfrm>
            <a:off x="1408113" y="5280025"/>
            <a:ext cx="3341687"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Strains on the surface of a valley glacier (</a:t>
            </a:r>
            <a:r>
              <a:rPr lang="en-GB" altLang="en-US" sz="1400" dirty="0" err="1">
                <a:solidFill>
                  <a:srgbClr val="FFFF00"/>
                </a:solidFill>
                <a:effectLst>
                  <a:outerShdw blurRad="38100" dist="38100" dir="2700000" algn="tl">
                    <a:srgbClr val="000000"/>
                  </a:outerShdw>
                </a:effectLst>
                <a:latin typeface="Arial" panose="020B0604020202020204" pitchFamily="34" charset="0"/>
              </a:rPr>
              <a:t>Midre</a:t>
            </a:r>
            <a:r>
              <a:rPr lang="en-GB" altLang="en-US" sz="1400" dirty="0">
                <a:solidFill>
                  <a:srgbClr val="FFFF00"/>
                </a:solidFill>
                <a:effectLst>
                  <a:outerShdw blurRad="38100" dist="38100" dir="2700000" algn="tl">
                    <a:srgbClr val="000000"/>
                  </a:outerShdw>
                </a:effectLst>
                <a:latin typeface="Arial" panose="020B0604020202020204" pitchFamily="34" charset="0"/>
              </a:rPr>
              <a:t> </a:t>
            </a:r>
            <a:r>
              <a:rPr lang="en-GB" altLang="en-US" sz="1400" dirty="0" err="1">
                <a:solidFill>
                  <a:srgbClr val="FFFF00"/>
                </a:solidFill>
                <a:effectLst>
                  <a:outerShdw blurRad="38100" dist="38100" dir="2700000" algn="tl">
                    <a:srgbClr val="000000"/>
                  </a:outerShdw>
                </a:effectLst>
                <a:latin typeface="Arial" panose="020B0604020202020204" pitchFamily="34" charset="0"/>
              </a:rPr>
              <a:t>Lovénbreen</a:t>
            </a:r>
            <a:r>
              <a:rPr lang="en-GB" altLang="en-US" sz="1400" dirty="0">
                <a:solidFill>
                  <a:srgbClr val="FFFF00"/>
                </a:solidFill>
                <a:effectLst>
                  <a:outerShdw blurRad="38100" dist="38100" dir="2700000" algn="tl">
                    <a:srgbClr val="000000"/>
                  </a:outerShdw>
                </a:effectLst>
                <a:latin typeface="Arial" panose="020B0604020202020204" pitchFamily="34" charset="0"/>
              </a:rPr>
              <a:t>, Svalbard). These are actually the results of a numerical modelling experiment that aimed to describe the flow of this glacier</a:t>
            </a:r>
          </a:p>
        </p:txBody>
      </p:sp>
      <p:pic>
        <p:nvPicPr>
          <p:cNvPr id="324622" name="Picture 14" descr="17c">
            <a:extLst>
              <a:ext uri="{FF2B5EF4-FFF2-40B4-BE49-F238E27FC236}">
                <a16:creationId xmlns:a16="http://schemas.microsoft.com/office/drawing/2014/main" id="{13B18AB8-BF50-4E75-9E49-1C020A499EAB}"/>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188913" y="1947863"/>
            <a:ext cx="4441825" cy="2058987"/>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24624" name="Text Box 16">
            <a:extLst>
              <a:ext uri="{FF2B5EF4-FFF2-40B4-BE49-F238E27FC236}">
                <a16:creationId xmlns:a16="http://schemas.microsoft.com/office/drawing/2014/main" id="{6EFE9AEE-AA28-486E-AA7D-A07720FFE3CA}"/>
              </a:ext>
            </a:extLst>
          </p:cNvPr>
          <p:cNvSpPr txBox="1">
            <a:spLocks noChangeArrowheads="1"/>
          </p:cNvSpPr>
          <p:nvPr/>
        </p:nvSpPr>
        <p:spPr bwMode="auto">
          <a:xfrm>
            <a:off x="122238" y="4073525"/>
            <a:ext cx="397033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Strains on the surface of a valley glacier (Griesgletscher, Switzerland)</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a:extLst>
              <a:ext uri="{FF2B5EF4-FFF2-40B4-BE49-F238E27FC236}">
                <a16:creationId xmlns:a16="http://schemas.microsoft.com/office/drawing/2014/main" id="{5B311EC0-1193-4982-A54F-A1EA076CECBB}"/>
              </a:ext>
            </a:extLst>
          </p:cNvPr>
          <p:cNvSpPr>
            <a:spLocks noGrp="1" noChangeArrowheads="1"/>
          </p:cNvSpPr>
          <p:nvPr>
            <p:ph type="title"/>
          </p:nvPr>
        </p:nvSpPr>
        <p:spPr>
          <a:noFill/>
        </p:spPr>
        <p:txBody>
          <a:bodyPr/>
          <a:lstStyle/>
          <a:p>
            <a:r>
              <a:rPr lang="en-GB" altLang="en-US">
                <a:effectLst/>
              </a:rPr>
              <a:t>Regional strains  (landslips)</a:t>
            </a:r>
          </a:p>
        </p:txBody>
      </p:sp>
      <p:sp>
        <p:nvSpPr>
          <p:cNvPr id="327683" name="Rectangle 3">
            <a:extLst>
              <a:ext uri="{FF2B5EF4-FFF2-40B4-BE49-F238E27FC236}">
                <a16:creationId xmlns:a16="http://schemas.microsoft.com/office/drawing/2014/main" id="{5EF3421C-773E-4872-BC17-6C8C9C9BD687}"/>
              </a:ext>
            </a:extLst>
          </p:cNvPr>
          <p:cNvSpPr>
            <a:spLocks noGrp="1" noChangeArrowheads="1"/>
          </p:cNvSpPr>
          <p:nvPr>
            <p:ph type="body" sz="half" idx="1"/>
          </p:nvPr>
        </p:nvSpPr>
        <p:spPr>
          <a:xfrm>
            <a:off x="4768850" y="822325"/>
            <a:ext cx="3155950" cy="581025"/>
          </a:xfrm>
          <a:noFill/>
        </p:spPr>
        <p:txBody>
          <a:bodyPr/>
          <a:lstStyle/>
          <a:p>
            <a:pPr marL="177800" indent="-177800">
              <a:spcBef>
                <a:spcPct val="75000"/>
              </a:spcBef>
              <a:buFont typeface="Times" panose="02020603050405020304" pitchFamily="18" charset="0"/>
              <a:buNone/>
            </a:pPr>
            <a:r>
              <a:rPr lang="en-GB" altLang="en-US" sz="1700">
                <a:effectLst/>
              </a:rPr>
              <a:t>	. . . or creeping landslips</a:t>
            </a:r>
          </a:p>
        </p:txBody>
      </p:sp>
      <p:sp>
        <p:nvSpPr>
          <p:cNvPr id="327685" name="Text Box 5">
            <a:extLst>
              <a:ext uri="{FF2B5EF4-FFF2-40B4-BE49-F238E27FC236}">
                <a16:creationId xmlns:a16="http://schemas.microsoft.com/office/drawing/2014/main" id="{1B634F74-00F1-46C1-9AF0-744FC055B089}"/>
              </a:ext>
            </a:extLst>
          </p:cNvPr>
          <p:cNvSpPr txBox="1">
            <a:spLocks noChangeArrowheads="1"/>
          </p:cNvSpPr>
          <p:nvPr/>
        </p:nvSpPr>
        <p:spPr bwMode="auto">
          <a:xfrm>
            <a:off x="425450" y="5861050"/>
            <a:ext cx="326548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Surface displacements of the Mam Tor landslip over the period 199</a:t>
            </a:r>
            <a:r>
              <a:rPr lang="en-GB" altLang="en-US" sz="1400" spc="150" dirty="0">
                <a:solidFill>
                  <a:srgbClr val="FFFF00"/>
                </a:solidFill>
                <a:effectLst>
                  <a:outerShdw blurRad="38100" dist="38100" dir="2700000" algn="tl">
                    <a:srgbClr val="000000"/>
                  </a:outerShdw>
                </a:effectLst>
                <a:latin typeface="Arial" panose="020B0604020202020204" pitchFamily="34" charset="0"/>
              </a:rPr>
              <a:t>6-</a:t>
            </a:r>
            <a:r>
              <a:rPr lang="en-GB" altLang="en-US" sz="1400" dirty="0">
                <a:solidFill>
                  <a:srgbClr val="FFFF00"/>
                </a:solidFill>
                <a:effectLst>
                  <a:outerShdw blurRad="38100" dist="38100" dir="2700000" algn="tl">
                    <a:srgbClr val="000000"/>
                  </a:outerShdw>
                </a:effectLst>
                <a:latin typeface="Arial" panose="020B0604020202020204" pitchFamily="34" charset="0"/>
              </a:rPr>
              <a:t>2009</a:t>
            </a:r>
          </a:p>
        </p:txBody>
      </p:sp>
      <p:pic>
        <p:nvPicPr>
          <p:cNvPr id="327688" name="Picture 8">
            <a:extLst>
              <a:ext uri="{FF2B5EF4-FFF2-40B4-BE49-F238E27FC236}">
                <a16:creationId xmlns:a16="http://schemas.microsoft.com/office/drawing/2014/main" id="{3597FB85-CB9F-4BB7-A3EC-88D05B783778}"/>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152400" y="906463"/>
            <a:ext cx="4378325" cy="3514725"/>
          </a:xfrm>
          <a:noFill/>
          <a:ln w="38100" cap="flat">
            <a:solidFill>
              <a:schemeClr val="bg2"/>
            </a:solidFill>
            <a:miter lim="800000"/>
            <a:headEnd/>
            <a:tailEnd/>
          </a:ln>
        </p:spPr>
      </p:pic>
      <p:sp>
        <p:nvSpPr>
          <p:cNvPr id="327691" name="Text Box 11">
            <a:extLst>
              <a:ext uri="{FF2B5EF4-FFF2-40B4-BE49-F238E27FC236}">
                <a16:creationId xmlns:a16="http://schemas.microsoft.com/office/drawing/2014/main" id="{2B03E11B-B4F2-4A6C-997B-D8449A44545A}"/>
              </a:ext>
            </a:extLst>
          </p:cNvPr>
          <p:cNvSpPr txBox="1">
            <a:spLocks noChangeArrowheads="1"/>
          </p:cNvSpPr>
          <p:nvPr/>
        </p:nvSpPr>
        <p:spPr bwMode="auto">
          <a:xfrm>
            <a:off x="4664075" y="1849438"/>
            <a:ext cx="4313238"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Surface strains of the Mam Tor landslip over the period 199</a:t>
            </a:r>
            <a:r>
              <a:rPr lang="en-GB" altLang="en-US" sz="1400" spc="150" dirty="0">
                <a:solidFill>
                  <a:srgbClr val="FFFF00"/>
                </a:solidFill>
                <a:effectLst>
                  <a:outerShdw blurRad="38100" dist="38100" dir="2700000" algn="tl">
                    <a:srgbClr val="000000"/>
                  </a:outerShdw>
                </a:effectLst>
                <a:latin typeface="Arial" panose="020B0604020202020204" pitchFamily="34" charset="0"/>
              </a:rPr>
              <a:t>6-</a:t>
            </a:r>
            <a:r>
              <a:rPr lang="en-GB" altLang="en-US" sz="1400" dirty="0">
                <a:solidFill>
                  <a:srgbClr val="FFFF00"/>
                </a:solidFill>
                <a:effectLst>
                  <a:outerShdw blurRad="38100" dist="38100" dir="2700000" algn="tl">
                    <a:srgbClr val="000000"/>
                  </a:outerShdw>
                </a:effectLst>
                <a:latin typeface="Arial" panose="020B0604020202020204" pitchFamily="34" charset="0"/>
              </a:rPr>
              <a:t>2002. Red lines show the axes of the strain ellipse; blue lines are strain trajectories (lines drawn parallel to the principal strains)</a:t>
            </a:r>
          </a:p>
        </p:txBody>
      </p:sp>
      <p:pic>
        <p:nvPicPr>
          <p:cNvPr id="327693" name="Picture 13" descr="17d2">
            <a:extLst>
              <a:ext uri="{FF2B5EF4-FFF2-40B4-BE49-F238E27FC236}">
                <a16:creationId xmlns:a16="http://schemas.microsoft.com/office/drawing/2014/main" id="{2038AA1D-EA62-459B-A9A4-8EDFF95424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1738" y="3629025"/>
            <a:ext cx="5213350" cy="30353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a:extLst>
              <a:ext uri="{FF2B5EF4-FFF2-40B4-BE49-F238E27FC236}">
                <a16:creationId xmlns:a16="http://schemas.microsoft.com/office/drawing/2014/main" id="{ADD34053-C36F-44A8-B54D-C85BD7CA1491}"/>
              </a:ext>
            </a:extLst>
          </p:cNvPr>
          <p:cNvSpPr>
            <a:spLocks noGrp="1" noChangeArrowheads="1"/>
          </p:cNvSpPr>
          <p:nvPr>
            <p:ph type="title"/>
          </p:nvPr>
        </p:nvSpPr>
        <p:spPr>
          <a:noFill/>
        </p:spPr>
        <p:txBody>
          <a:bodyPr/>
          <a:lstStyle/>
          <a:p>
            <a:r>
              <a:rPr lang="en-GB" altLang="en-US">
                <a:effectLst/>
              </a:rPr>
              <a:t>Reading</a:t>
            </a:r>
          </a:p>
        </p:txBody>
      </p:sp>
      <p:sp>
        <p:nvSpPr>
          <p:cNvPr id="217091" name="Rectangle 3">
            <a:extLst>
              <a:ext uri="{FF2B5EF4-FFF2-40B4-BE49-F238E27FC236}">
                <a16:creationId xmlns:a16="http://schemas.microsoft.com/office/drawing/2014/main" id="{DA175AE6-F3F4-4935-9718-8A6CE67C9EC2}"/>
              </a:ext>
            </a:extLst>
          </p:cNvPr>
          <p:cNvSpPr>
            <a:spLocks noGrp="1" noChangeArrowheads="1"/>
          </p:cNvSpPr>
          <p:nvPr>
            <p:ph type="body" sz="half" idx="1"/>
          </p:nvPr>
        </p:nvSpPr>
        <p:spPr>
          <a:xfrm>
            <a:off x="255588" y="917575"/>
            <a:ext cx="8721725" cy="5791200"/>
          </a:xfrm>
          <a:noFill/>
        </p:spPr>
        <p:txBody>
          <a:bodyPr/>
          <a:lstStyle/>
          <a:p>
            <a:pPr marL="177800" indent="-177800"/>
            <a:r>
              <a:rPr lang="en-GB" altLang="en-US" sz="1400">
                <a:effectLst/>
              </a:rPr>
              <a:t>Fossen H (2016) </a:t>
            </a:r>
            <a:r>
              <a:rPr lang="en-GB" altLang="en-US" sz="1400" i="1">
                <a:effectLst/>
              </a:rPr>
              <a:t>Structural Geology </a:t>
            </a:r>
            <a:r>
              <a:rPr lang="en-GB" altLang="en-US" sz="1400">
                <a:effectLst/>
              </a:rPr>
              <a:t>(2</a:t>
            </a:r>
            <a:r>
              <a:rPr lang="en-GB" altLang="en-US" sz="1400" baseline="30000">
                <a:effectLst/>
              </a:rPr>
              <a:t>nd</a:t>
            </a:r>
            <a:r>
              <a:rPr lang="en-GB" altLang="en-US" sz="1400">
                <a:effectLst/>
              </a:rPr>
              <a:t> edition).</a:t>
            </a:r>
            <a:r>
              <a:rPr lang="en-GB" altLang="en-US" sz="1400" i="1">
                <a:effectLst/>
              </a:rPr>
              <a:t> </a:t>
            </a:r>
            <a:r>
              <a:rPr lang="en-GB" altLang="en-US" sz="1400">
                <a:effectLst/>
              </a:rPr>
              <a:t>Cambridge University Press. </a:t>
            </a:r>
            <a:r>
              <a:rPr lang="en-GB" altLang="en-US" sz="1400">
                <a:solidFill>
                  <a:srgbClr val="FF66CC"/>
                </a:solidFill>
                <a:effectLst/>
              </a:rPr>
              <a:t>[Chapters 2, 3]</a:t>
            </a:r>
          </a:p>
          <a:p>
            <a:pPr marL="177800" indent="-177800"/>
            <a:r>
              <a:rPr lang="en-GB" altLang="en-US" sz="1400">
                <a:effectLst/>
              </a:rPr>
              <a:t>Twiss RJ, Moores EM (2007) </a:t>
            </a:r>
            <a:r>
              <a:rPr lang="en-GB" altLang="en-US" sz="1400" i="1">
                <a:effectLst/>
              </a:rPr>
              <a:t>Structural Geology</a:t>
            </a:r>
            <a:r>
              <a:rPr lang="en-GB" altLang="en-US" sz="1400">
                <a:effectLst/>
              </a:rPr>
              <a:t> (2</a:t>
            </a:r>
            <a:r>
              <a:rPr lang="en-GB" altLang="en-US" sz="1400" baseline="30000">
                <a:effectLst/>
              </a:rPr>
              <a:t>nd</a:t>
            </a:r>
            <a:r>
              <a:rPr lang="en-GB" altLang="en-US" sz="1400">
                <a:effectLst/>
              </a:rPr>
              <a:t> edition). WH Freeman and Co. </a:t>
            </a:r>
            <a:r>
              <a:rPr lang="en-GB" altLang="en-US" sz="1400">
                <a:solidFill>
                  <a:srgbClr val="FF66CC"/>
                </a:solidFill>
                <a:effectLst/>
              </a:rPr>
              <a:t>[Chapters 12, 15]</a:t>
            </a:r>
          </a:p>
          <a:p>
            <a:pPr marL="177800" indent="-177800"/>
            <a:r>
              <a:rPr lang="en-GB" altLang="en-US" sz="1400">
                <a:effectLst/>
              </a:rPr>
              <a:t>Price NJ, Cosgrove JW (1990) </a:t>
            </a:r>
            <a:r>
              <a:rPr lang="en-GB" altLang="en-US" sz="1400" i="1">
                <a:effectLst/>
              </a:rPr>
              <a:t>Analysis of Geological Structures.</a:t>
            </a:r>
            <a:r>
              <a:rPr lang="en-GB" altLang="en-US" sz="1400">
                <a:effectLst/>
              </a:rPr>
              <a:t> Cambridge University Press. </a:t>
            </a:r>
            <a:r>
              <a:rPr lang="en-GB" altLang="en-US" sz="1400">
                <a:solidFill>
                  <a:srgbClr val="FF66CC"/>
                </a:solidFill>
                <a:effectLst/>
              </a:rPr>
              <a:t>[p.7-18; helpful summary]</a:t>
            </a:r>
          </a:p>
          <a:p>
            <a:pPr marL="177800" indent="-177800"/>
            <a:r>
              <a:rPr lang="en-GB" altLang="en-US" sz="1400">
                <a:effectLst/>
              </a:rPr>
              <a:t>Ramsay JG, Huber MI (1983) </a:t>
            </a:r>
            <a:r>
              <a:rPr lang="en-GB" altLang="en-US" sz="1400" i="1">
                <a:effectLst/>
              </a:rPr>
              <a:t>Techniques of Modern Structural Geology. Volume 1: Strain Analysis.</a:t>
            </a:r>
            <a:r>
              <a:rPr lang="en-GB" altLang="en-US" sz="1400">
                <a:effectLst/>
              </a:rPr>
              <a:t> Academic Press. </a:t>
            </a:r>
            <a:r>
              <a:rPr lang="en-GB" altLang="en-US" sz="1400">
                <a:solidFill>
                  <a:srgbClr val="FF66CC"/>
                </a:solidFill>
                <a:effectLst/>
              </a:rPr>
              <a:t>[Whole book – fantastic reference compendium of techniques]</a:t>
            </a:r>
          </a:p>
          <a:p>
            <a:pPr marL="177800" indent="-177800"/>
            <a:r>
              <a:rPr lang="en-GB" altLang="en-US" sz="1400">
                <a:effectLst/>
              </a:rPr>
              <a:t>Ragan DM (2009) </a:t>
            </a:r>
            <a:r>
              <a:rPr lang="en-GB" altLang="en-US" sz="1400" i="1">
                <a:effectLst/>
              </a:rPr>
              <a:t>Structural Geology: An Introduction to Geometrical Techniques</a:t>
            </a:r>
            <a:r>
              <a:rPr lang="en-GB" altLang="en-US" sz="1400">
                <a:effectLst/>
              </a:rPr>
              <a:t> (4</a:t>
            </a:r>
            <a:r>
              <a:rPr lang="en-GB" altLang="en-US" sz="1400" baseline="30000">
                <a:effectLst/>
              </a:rPr>
              <a:t>th</a:t>
            </a:r>
            <a:r>
              <a:rPr lang="en-GB" altLang="en-US" sz="1400">
                <a:effectLst/>
              </a:rPr>
              <a:t> edition). Cambridge University Press. </a:t>
            </a:r>
            <a:r>
              <a:rPr lang="en-GB" altLang="en-US" sz="1400">
                <a:solidFill>
                  <a:srgbClr val="FF66CC"/>
                </a:solidFill>
                <a:effectLst/>
              </a:rPr>
              <a:t>[Chapters 11, 12, 13; Chapter 12 is very good on practical strain measurement]</a:t>
            </a:r>
          </a:p>
          <a:p>
            <a:pPr marL="177800" indent="-177800">
              <a:buFont typeface="Times" panose="02020603050405020304" pitchFamily="18" charset="0"/>
              <a:buNone/>
            </a:pPr>
            <a:endParaRPr lang="en-GB" altLang="en-US" sz="1400">
              <a:solidFill>
                <a:srgbClr val="FF66CC"/>
              </a:solidFill>
              <a:effectLst/>
            </a:endParaRPr>
          </a:p>
          <a:p>
            <a:pPr marL="177800" indent="-177800">
              <a:buFont typeface="Times" panose="02020603050405020304" pitchFamily="18" charset="0"/>
              <a:buNone/>
            </a:pPr>
            <a:r>
              <a:rPr lang="en-GB" altLang="en-US" sz="1400">
                <a:effectLst/>
              </a:rPr>
              <a:t>For those looking for a more rigorous mathematical treatment</a:t>
            </a:r>
          </a:p>
          <a:p>
            <a:pPr marL="177800" indent="-177800"/>
            <a:r>
              <a:rPr lang="en-GB" altLang="en-US" sz="1400">
                <a:effectLst/>
              </a:rPr>
              <a:t>Allmendinger RW, Cardozo N, Fisher DM (2012) </a:t>
            </a:r>
            <a:r>
              <a:rPr lang="en-GB" altLang="en-US" sz="1400" i="1">
                <a:effectLst/>
              </a:rPr>
              <a:t>Structural Geology Algorithms: Vectors and Tensors</a:t>
            </a:r>
            <a:r>
              <a:rPr lang="en-GB" altLang="en-US" sz="1400">
                <a:effectLst/>
              </a:rPr>
              <a:t>. Cambridge University Press. </a:t>
            </a:r>
            <a:r>
              <a:rPr lang="en-GB" altLang="en-US" sz="1400">
                <a:solidFill>
                  <a:srgbClr val="FF66CC"/>
                </a:solidFill>
                <a:effectLst/>
              </a:rPr>
              <a:t>[Chapters 7, 8, 9, 10]</a:t>
            </a:r>
          </a:p>
          <a:p>
            <a:pPr marL="177800" indent="-177800"/>
            <a:r>
              <a:rPr lang="en-GB" altLang="en-US" sz="1400">
                <a:effectLst/>
              </a:rPr>
              <a:t>Jaegar JC, Cook NGW, Zimmerman RW (2007) </a:t>
            </a:r>
            <a:r>
              <a:rPr lang="en-GB" altLang="en-US" sz="1400" i="1">
                <a:effectLst/>
              </a:rPr>
              <a:t>Fundamentals of Rock Mechanics</a:t>
            </a:r>
            <a:r>
              <a:rPr lang="en-GB" altLang="en-US" sz="1400">
                <a:effectLst/>
              </a:rPr>
              <a:t> (4</a:t>
            </a:r>
            <a:r>
              <a:rPr lang="en-GB" altLang="en-US" sz="1400" baseline="30000">
                <a:effectLst/>
              </a:rPr>
              <a:t>th</a:t>
            </a:r>
            <a:r>
              <a:rPr lang="en-GB" altLang="en-US" sz="1400">
                <a:effectLst/>
              </a:rPr>
              <a:t> edition). Blackwell Publishing. </a:t>
            </a:r>
            <a:r>
              <a:rPr lang="en-GB" altLang="en-US" sz="1400">
                <a:solidFill>
                  <a:srgbClr val="FF66CC"/>
                </a:solidFill>
                <a:effectLst/>
              </a:rPr>
              <a:t>[Chapter 2]</a:t>
            </a:r>
          </a:p>
        </p:txBody>
      </p:sp>
    </p:spTree>
  </p:cSld>
  <p:clrMapOvr>
    <a:masterClrMapping/>
  </p:clrMapOvr>
  <p:transition spd="slow"/>
</p:sld>
</file>

<file path=ppt/theme/theme1.xml><?xml version="1.0" encoding="utf-8"?>
<a:theme xmlns:a="http://schemas.openxmlformats.org/drawingml/2006/main" name="Basin Studies 2002">
  <a:themeElements>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fontScheme name="Basin Studies 200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lnDef>
  </a:objectDefaults>
  <a:extraClrSchemeLst>
    <a:extraClrScheme>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clrMap bg1="dk2" tx1="lt1" bg2="dk1" tx2="lt2" accent1="accent1" accent2="accent2" accent3="accent3" accent4="accent4" accent5="accent5" accent6="accent6" hlink="hlink" folHlink="folHlink"/>
    </a:extraClrScheme>
    <a:extraClrScheme>
      <a:clrScheme name="Basin Studies 2002 2">
        <a:dk1>
          <a:srgbClr val="000066"/>
        </a:dk1>
        <a:lt1>
          <a:srgbClr val="FFFFFF"/>
        </a:lt1>
        <a:dk2>
          <a:srgbClr val="000066"/>
        </a:dk2>
        <a:lt2>
          <a:srgbClr val="000037"/>
        </a:lt2>
        <a:accent1>
          <a:srgbClr val="D5790C"/>
        </a:accent1>
        <a:accent2>
          <a:srgbClr val="D5790C"/>
        </a:accent2>
        <a:accent3>
          <a:srgbClr val="FFFFFF"/>
        </a:accent3>
        <a:accent4>
          <a:srgbClr val="000056"/>
        </a:accent4>
        <a:accent5>
          <a:srgbClr val="E7BEAA"/>
        </a:accent5>
        <a:accent6>
          <a:srgbClr val="C16D0A"/>
        </a:accent6>
        <a:hlink>
          <a:srgbClr val="5858A2"/>
        </a:hlink>
        <a:folHlink>
          <a:srgbClr val="FFFFFF"/>
        </a:folHlink>
      </a:clrScheme>
      <a:clrMap bg1="lt1" tx1="dk1" bg2="lt2" tx2="dk2" accent1="accent1" accent2="accent2" accent3="accent3" accent4="accent4" accent5="accent5" accent6="accent6" hlink="hlink" folHlink="folHlink"/>
    </a:extraClrScheme>
    <a:extraClrScheme>
      <a:clrScheme name="Basin Studies 200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11213</TotalTime>
  <Words>10616</Words>
  <Application>Microsoft Office PowerPoint</Application>
  <PresentationFormat>On-screen Show (4:3)</PresentationFormat>
  <Paragraphs>380</Paragraphs>
  <Slides>45</Slides>
  <Notes>45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Cambria Math</vt:lpstr>
      <vt:lpstr>Helvetica</vt:lpstr>
      <vt:lpstr>Symbol</vt:lpstr>
      <vt:lpstr>Times</vt:lpstr>
      <vt:lpstr>Times New Roman</vt:lpstr>
      <vt:lpstr>Wingdings</vt:lpstr>
      <vt:lpstr>Basin Studies 2002</vt:lpstr>
      <vt:lpstr>EART 28202 :  Structural Geology    Class 3 :  Strain</vt:lpstr>
      <vt:lpstr>Quantifying deformation</vt:lpstr>
      <vt:lpstr>Changes in size  (measures of linear strain)</vt:lpstr>
      <vt:lpstr>Changes in shape  (measures of shear strain)</vt:lpstr>
      <vt:lpstr>  Putting matters on a more rigorous footing</vt:lpstr>
      <vt:lpstr>Displacement, strain, deformation</vt:lpstr>
      <vt:lpstr>Displacement</vt:lpstr>
      <vt:lpstr>Deformation gradient matrix</vt:lpstr>
      <vt:lpstr>Displacement gradient matrix</vt:lpstr>
      <vt:lpstr>Example:  simple shear</vt:lpstr>
      <vt:lpstr>Longitudinal strains</vt:lpstr>
      <vt:lpstr>Tensor shear strains</vt:lpstr>
      <vt:lpstr>Strain as a 2nd rank tensor</vt:lpstr>
      <vt:lpstr>The strain ellipse (2d)</vt:lpstr>
      <vt:lpstr>The strain ellipsoid (3d)</vt:lpstr>
      <vt:lpstr>Some important reference states of strain (2d)</vt:lpstr>
      <vt:lpstr>Some important reference states of strain (3d)</vt:lpstr>
      <vt:lpstr>The Flinn diagram</vt:lpstr>
      <vt:lpstr>The Hsü diagram</vt:lpstr>
      <vt:lpstr>Homogeneous and inhomogeneous strain</vt:lpstr>
      <vt:lpstr>Progressive deformation  1</vt:lpstr>
      <vt:lpstr>Progressive deformation  2</vt:lpstr>
      <vt:lpstr>Progressive deformation  3</vt:lpstr>
      <vt:lpstr>  Practical strain measurement</vt:lpstr>
      <vt:lpstr>Practical strain measurement</vt:lpstr>
      <vt:lpstr>Practical strain measurement  (circular markers)</vt:lpstr>
      <vt:lpstr>Practical strain measurement  (circular markers 2)</vt:lpstr>
      <vt:lpstr>Practical strain measurement  (elliptical markers)</vt:lpstr>
      <vt:lpstr>Practical strain measurement  (elliptical markers 2)</vt:lpstr>
      <vt:lpstr>Practical strain measurement  (known length)</vt:lpstr>
      <vt:lpstr>Practical strain measurement  (bilateral symmetry)</vt:lpstr>
      <vt:lpstr>Practical strain measurement  (Mohr circle)</vt:lpstr>
      <vt:lpstr>  Comments and strain in real structures</vt:lpstr>
      <vt:lpstr>Comments on strain measurement</vt:lpstr>
      <vt:lpstr>Fabrics and the shape of the strain ellipsoid</vt:lpstr>
      <vt:lpstr>Cleavage = XY plane of the strain ellipsoid</vt:lpstr>
      <vt:lpstr>Strain variation across folds</vt:lpstr>
      <vt:lpstr>Strain around fold hinges</vt:lpstr>
      <vt:lpstr>Cleavage refraction and strain</vt:lpstr>
      <vt:lpstr>Regional strains  (plutons)</vt:lpstr>
      <vt:lpstr>Regional strains  (folds)</vt:lpstr>
      <vt:lpstr>Regional strains  (folds)</vt:lpstr>
      <vt:lpstr>Regional strains  (glaciers)</vt:lpstr>
      <vt:lpstr>Regional strains  (landslips)</vt:lpstr>
      <vt:lpstr>Reading</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GY2141 Lecture 10</dc:subject>
  <dc:creator>Steve Covey-Crump</dc:creator>
  <cp:lastModifiedBy>Stephen Covey-crump</cp:lastModifiedBy>
  <cp:revision>431</cp:revision>
  <cp:lastPrinted>2002-03-22T07:32:28Z</cp:lastPrinted>
  <dcterms:created xsi:type="dcterms:W3CDTF">2002-10-21T14:42:49Z</dcterms:created>
  <dcterms:modified xsi:type="dcterms:W3CDTF">2026-02-19T12:40:09Z</dcterms:modified>
</cp:coreProperties>
</file>