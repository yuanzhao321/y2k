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2.xml" ContentType="application/vnd.openxmlformats-officedocument.presentationml.tags+xml"/>
  <Override PartName="/ppt/notesSlides/notesSlide38.xml" ContentType="application/vnd.openxmlformats-officedocument.presentationml.notesSlide+xml"/>
  <Override PartName="/ppt/tags/tag3.xml" ContentType="application/vnd.openxmlformats-officedocument.presentationml.tags+xml"/>
  <Override PartName="/ppt/notesSlides/notesSlide39.xml" ContentType="application/vnd.openxmlformats-officedocument.presentationml.notesSlide+xml"/>
  <Override PartName="/ppt/tags/tag4.xml" ContentType="application/vnd.openxmlformats-officedocument.presentationml.tags+xml"/>
  <Override PartName="/ppt/notesSlides/notesSlide40.xml" ContentType="application/vnd.openxmlformats-officedocument.presentationml.notesSlide+xml"/>
  <Override PartName="/ppt/tags/tag5.xml" ContentType="application/vnd.openxmlformats-officedocument.presentationml.tags+xml"/>
  <Override PartName="/ppt/notesSlides/notesSlide41.xml" ContentType="application/vnd.openxmlformats-officedocument.presentationml.notesSlide+xml"/>
  <Override PartName="/ppt/tags/tag6.xml" ContentType="application/vnd.openxmlformats-officedocument.presentationml.tags+xml"/>
  <Override PartName="/ppt/notesSlides/notesSlide42.xml" ContentType="application/vnd.openxmlformats-officedocument.presentationml.notesSlide+xml"/>
  <Override PartName="/ppt/tags/tag7.xml" ContentType="application/vnd.openxmlformats-officedocument.presentationml.tags+xml"/>
  <Override PartName="/ppt/notesSlides/notesSlide43.xml" ContentType="application/vnd.openxmlformats-officedocument.presentationml.notesSlide+xml"/>
  <Override PartName="/ppt/tags/tag8.xml" ContentType="application/vnd.openxmlformats-officedocument.presentationml.tags+xml"/>
  <Override PartName="/ppt/notesSlides/notesSlide44.xml" ContentType="application/vnd.openxmlformats-officedocument.presentationml.notesSlide+xml"/>
  <Override PartName="/ppt/tags/tag9.xml" ContentType="application/vnd.openxmlformats-officedocument.presentationml.tags+xml"/>
  <Override PartName="/ppt/notesSlides/notesSlide45.xml" ContentType="application/vnd.openxmlformats-officedocument.presentationml.notesSlide+xml"/>
  <Override PartName="/ppt/tags/tag10.xml" ContentType="application/vnd.openxmlformats-officedocument.presentationml.tags+xml"/>
  <Override PartName="/ppt/notesSlides/notesSlide46.xml" ContentType="application/vnd.openxmlformats-officedocument.presentationml.notesSlide+xml"/>
  <Override PartName="/ppt/tags/tag11.xml" ContentType="application/vnd.openxmlformats-officedocument.presentationml.tags+xml"/>
  <Override PartName="/ppt/notesSlides/notesSlide47.xml" ContentType="application/vnd.openxmlformats-officedocument.presentationml.notesSlide+xml"/>
  <Override PartName="/ppt/tags/tag12.xml" ContentType="application/vnd.openxmlformats-officedocument.presentationml.tags+xml"/>
  <Override PartName="/ppt/notesSlides/notesSlide48.xml" ContentType="application/vnd.openxmlformats-officedocument.presentationml.notesSlide+xml"/>
  <Override PartName="/ppt/tags/tag13.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6" r:id="rId1"/>
    <p:sldMasterId id="2147483688" r:id="rId2"/>
    <p:sldMasterId id="2147483702" r:id="rId3"/>
    <p:sldMasterId id="2147483716" r:id="rId4"/>
  </p:sldMasterIdLst>
  <p:notesMasterIdLst>
    <p:notesMasterId r:id="rId63"/>
  </p:notesMasterIdLst>
  <p:handoutMasterIdLst>
    <p:handoutMasterId r:id="rId64"/>
  </p:handoutMasterIdLst>
  <p:sldIdLst>
    <p:sldId id="257" r:id="rId5"/>
    <p:sldId id="602" r:id="rId6"/>
    <p:sldId id="258" r:id="rId7"/>
    <p:sldId id="1345" r:id="rId8"/>
    <p:sldId id="1348" r:id="rId9"/>
    <p:sldId id="1346" r:id="rId10"/>
    <p:sldId id="822" r:id="rId11"/>
    <p:sldId id="1305" r:id="rId12"/>
    <p:sldId id="1427" r:id="rId13"/>
    <p:sldId id="1425" r:id="rId14"/>
    <p:sldId id="1426"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1429" r:id="rId36"/>
    <p:sldId id="1430" r:id="rId37"/>
    <p:sldId id="1431" r:id="rId38"/>
    <p:sldId id="1432" r:id="rId39"/>
    <p:sldId id="1433" r:id="rId40"/>
    <p:sldId id="808" r:id="rId41"/>
    <p:sldId id="814" r:id="rId42"/>
    <p:sldId id="815" r:id="rId43"/>
    <p:sldId id="1306" r:id="rId44"/>
    <p:sldId id="1349" r:id="rId45"/>
    <p:sldId id="1351" r:id="rId46"/>
    <p:sldId id="1353" r:id="rId47"/>
    <p:sldId id="809" r:id="rId48"/>
    <p:sldId id="1354" r:id="rId49"/>
    <p:sldId id="1359" r:id="rId50"/>
    <p:sldId id="1358" r:id="rId51"/>
    <p:sldId id="1357" r:id="rId52"/>
    <p:sldId id="811" r:id="rId53"/>
    <p:sldId id="1428" r:id="rId54"/>
    <p:sldId id="1416" r:id="rId55"/>
    <p:sldId id="1392" r:id="rId56"/>
    <p:sldId id="1360" r:id="rId57"/>
    <p:sldId id="1361" r:id="rId58"/>
    <p:sldId id="1229" r:id="rId59"/>
    <p:sldId id="1418" r:id="rId60"/>
    <p:sldId id="1420" r:id="rId61"/>
    <p:sldId id="1422" r:id="rId6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7D3C0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574"/>
    <p:restoredTop sz="96301"/>
  </p:normalViewPr>
  <p:slideViewPr>
    <p:cSldViewPr>
      <p:cViewPr>
        <p:scale>
          <a:sx n="95" d="100"/>
          <a:sy n="95" d="100"/>
        </p:scale>
        <p:origin x="2856" y="880"/>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1901A9-5BB7-4B9E-AC18-BD98F6260AB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38E4AC5-4FFA-4D6F-9E43-6A92C666DEF3}">
      <dgm:prSet/>
      <dgm:spPr/>
      <dgm:t>
        <a:bodyPr/>
        <a:lstStyle/>
        <a:p>
          <a:r>
            <a:rPr lang="en-US" b="0" i="0" dirty="0">
              <a:latin typeface="Calibri" panose="020F0502020204030204" pitchFamily="34" charset="0"/>
              <a:cs typeface="Calibri" panose="020F0502020204030204" pitchFamily="34" charset="0"/>
            </a:rPr>
            <a:t>In order to deliver on the commitment the UK made by signing the Paris Agreement, the UK has legislated for a net zero emissions target by 2050</a:t>
          </a:r>
          <a:endParaRPr lang="en-US" dirty="0">
            <a:latin typeface="Calibri" panose="020F0502020204030204" pitchFamily="34" charset="0"/>
            <a:cs typeface="Calibri" panose="020F0502020204030204" pitchFamily="34" charset="0"/>
          </a:endParaRPr>
        </a:p>
      </dgm:t>
    </dgm:pt>
    <dgm:pt modelId="{CBAC7280-78ED-4C60-B923-63F242253660}" type="parTrans" cxnId="{11506A07-BB95-4776-ADFA-BEE57D259524}">
      <dgm:prSet/>
      <dgm:spPr/>
      <dgm:t>
        <a:bodyPr/>
        <a:lstStyle/>
        <a:p>
          <a:endParaRPr lang="en-US">
            <a:latin typeface="Calibri" panose="020F0502020204030204" pitchFamily="34" charset="0"/>
            <a:cs typeface="Calibri" panose="020F0502020204030204" pitchFamily="34" charset="0"/>
          </a:endParaRPr>
        </a:p>
      </dgm:t>
    </dgm:pt>
    <dgm:pt modelId="{394516A6-EC62-4DB7-B969-E41606E48197}" type="sibTrans" cxnId="{11506A07-BB95-4776-ADFA-BEE57D259524}">
      <dgm:prSet/>
      <dgm:spPr/>
      <dgm:t>
        <a:bodyPr/>
        <a:lstStyle/>
        <a:p>
          <a:endParaRPr lang="en-US">
            <a:latin typeface="Calibri" panose="020F0502020204030204" pitchFamily="34" charset="0"/>
            <a:cs typeface="Calibri" panose="020F0502020204030204" pitchFamily="34" charset="0"/>
          </a:endParaRPr>
        </a:p>
      </dgm:t>
    </dgm:pt>
    <dgm:pt modelId="{F0218E05-9A0A-4D7A-BB5D-5E16C96B4DFD}">
      <dgm:prSet/>
      <dgm:spPr/>
      <dgm:t>
        <a:bodyPr/>
        <a:lstStyle/>
        <a:p>
          <a:r>
            <a:rPr lang="en-US" dirty="0">
              <a:latin typeface="Calibri" panose="020F0502020204030204" pitchFamily="34" charset="0"/>
              <a:cs typeface="Calibri" panose="020F0502020204030204" pitchFamily="34" charset="0"/>
            </a:rPr>
            <a:t>T</a:t>
          </a:r>
          <a:r>
            <a:rPr lang="en-US" b="0" i="0" dirty="0">
              <a:latin typeface="Calibri" panose="020F0502020204030204" pitchFamily="34" charset="0"/>
              <a:cs typeface="Calibri" panose="020F0502020204030204" pitchFamily="34" charset="0"/>
            </a:rPr>
            <a:t>he UK Committee on Climate Change (</a:t>
          </a:r>
          <a:r>
            <a:rPr lang="en-US" dirty="0">
              <a:latin typeface="Calibri" panose="020F0502020204030204" pitchFamily="34" charset="0"/>
              <a:cs typeface="Calibri" panose="020F0502020204030204" pitchFamily="34" charset="0"/>
            </a:rPr>
            <a:t>CCC</a:t>
          </a:r>
          <a:r>
            <a:rPr lang="en-US" b="0" i="0" dirty="0">
              <a:latin typeface="Calibri" panose="020F0502020204030204" pitchFamily="34" charset="0"/>
              <a:cs typeface="Calibri" panose="020F0502020204030204" pitchFamily="34" charset="0"/>
            </a:rPr>
            <a:t>), have made it clear that </a:t>
          </a:r>
          <a:r>
            <a:rPr lang="en-US" dirty="0">
              <a:latin typeface="Calibri" panose="020F0502020204030204" pitchFamily="34" charset="0"/>
              <a:cs typeface="Calibri" panose="020F0502020204030204" pitchFamily="34" charset="0"/>
            </a:rPr>
            <a:t>GGRs</a:t>
          </a:r>
          <a:r>
            <a:rPr lang="en-US" b="0" i="0" dirty="0">
              <a:latin typeface="Calibri" panose="020F0502020204030204" pitchFamily="34" charset="0"/>
              <a:cs typeface="Calibri" panose="020F0502020204030204" pitchFamily="34" charset="0"/>
            </a:rPr>
            <a:t> will be essential to </a:t>
          </a:r>
          <a:r>
            <a:rPr lang="en-US" b="0" i="0" dirty="0" err="1">
              <a:latin typeface="Calibri" panose="020F0502020204030204" pitchFamily="34" charset="0"/>
              <a:cs typeface="Calibri" panose="020F0502020204030204" pitchFamily="34" charset="0"/>
            </a:rPr>
            <a:t>realising</a:t>
          </a:r>
          <a:r>
            <a:rPr lang="en-US" b="0" i="0" dirty="0">
              <a:latin typeface="Calibri" panose="020F0502020204030204" pitchFamily="34" charset="0"/>
              <a:cs typeface="Calibri" panose="020F0502020204030204" pitchFamily="34" charset="0"/>
            </a:rPr>
            <a:t> this target, to offset remaining emissions in the sectors where it is most difficult to cut them.</a:t>
          </a:r>
          <a:endParaRPr lang="en-US" dirty="0">
            <a:latin typeface="Calibri" panose="020F0502020204030204" pitchFamily="34" charset="0"/>
            <a:cs typeface="Calibri" panose="020F0502020204030204" pitchFamily="34" charset="0"/>
          </a:endParaRPr>
        </a:p>
      </dgm:t>
    </dgm:pt>
    <dgm:pt modelId="{60D29B5D-2E75-4288-B8FC-755A447909DE}" type="parTrans" cxnId="{2990279C-8352-4832-B873-F353870C337C}">
      <dgm:prSet/>
      <dgm:spPr/>
      <dgm:t>
        <a:bodyPr/>
        <a:lstStyle/>
        <a:p>
          <a:endParaRPr lang="en-US">
            <a:latin typeface="Calibri" panose="020F0502020204030204" pitchFamily="34" charset="0"/>
            <a:cs typeface="Calibri" panose="020F0502020204030204" pitchFamily="34" charset="0"/>
          </a:endParaRPr>
        </a:p>
      </dgm:t>
    </dgm:pt>
    <dgm:pt modelId="{924A15CF-CAA5-4DB6-819F-35DABA87BB23}" type="sibTrans" cxnId="{2990279C-8352-4832-B873-F353870C337C}">
      <dgm:prSet/>
      <dgm:spPr/>
      <dgm:t>
        <a:bodyPr/>
        <a:lstStyle/>
        <a:p>
          <a:endParaRPr lang="en-US">
            <a:latin typeface="Calibri" panose="020F0502020204030204" pitchFamily="34" charset="0"/>
            <a:cs typeface="Calibri" panose="020F0502020204030204" pitchFamily="34" charset="0"/>
          </a:endParaRPr>
        </a:p>
      </dgm:t>
    </dgm:pt>
    <dgm:pt modelId="{E57EEEEF-884E-CF4B-8D70-888DBFB2DB1C}" type="pres">
      <dgm:prSet presAssocID="{D11901A9-5BB7-4B9E-AC18-BD98F6260ABD}" presName="linear" presStyleCnt="0">
        <dgm:presLayoutVars>
          <dgm:animLvl val="lvl"/>
          <dgm:resizeHandles val="exact"/>
        </dgm:presLayoutVars>
      </dgm:prSet>
      <dgm:spPr/>
    </dgm:pt>
    <dgm:pt modelId="{DFEDFDDA-39D3-A240-B86F-86CA6389A7B8}" type="pres">
      <dgm:prSet presAssocID="{F38E4AC5-4FFA-4D6F-9E43-6A92C666DEF3}" presName="parentText" presStyleLbl="node1" presStyleIdx="0" presStyleCnt="2" custLinFactNeighborX="-844" custLinFactNeighborY="86989">
        <dgm:presLayoutVars>
          <dgm:chMax val="0"/>
          <dgm:bulletEnabled val="1"/>
        </dgm:presLayoutVars>
      </dgm:prSet>
      <dgm:spPr/>
    </dgm:pt>
    <dgm:pt modelId="{D647FF90-2B27-F447-A6DF-539FBD956E0A}" type="pres">
      <dgm:prSet presAssocID="{394516A6-EC62-4DB7-B969-E41606E48197}" presName="spacer" presStyleCnt="0"/>
      <dgm:spPr/>
    </dgm:pt>
    <dgm:pt modelId="{275F366D-F5AB-9240-A558-40B77946699A}" type="pres">
      <dgm:prSet presAssocID="{F0218E05-9A0A-4D7A-BB5D-5E16C96B4DFD}" presName="parentText" presStyleLbl="node1" presStyleIdx="1" presStyleCnt="2">
        <dgm:presLayoutVars>
          <dgm:chMax val="0"/>
          <dgm:bulletEnabled val="1"/>
        </dgm:presLayoutVars>
      </dgm:prSet>
      <dgm:spPr/>
    </dgm:pt>
  </dgm:ptLst>
  <dgm:cxnLst>
    <dgm:cxn modelId="{11506A07-BB95-4776-ADFA-BEE57D259524}" srcId="{D11901A9-5BB7-4B9E-AC18-BD98F6260ABD}" destId="{F38E4AC5-4FFA-4D6F-9E43-6A92C666DEF3}" srcOrd="0" destOrd="0" parTransId="{CBAC7280-78ED-4C60-B923-63F242253660}" sibTransId="{394516A6-EC62-4DB7-B969-E41606E48197}"/>
    <dgm:cxn modelId="{A70C7E0F-178D-E148-B260-04B4307AA237}" type="presOf" srcId="{D11901A9-5BB7-4B9E-AC18-BD98F6260ABD}" destId="{E57EEEEF-884E-CF4B-8D70-888DBFB2DB1C}" srcOrd="0" destOrd="0" presId="urn:microsoft.com/office/officeart/2005/8/layout/vList2"/>
    <dgm:cxn modelId="{C835FE87-99A3-0049-872C-7BB030ED2634}" type="presOf" srcId="{F0218E05-9A0A-4D7A-BB5D-5E16C96B4DFD}" destId="{275F366D-F5AB-9240-A558-40B77946699A}" srcOrd="0" destOrd="0" presId="urn:microsoft.com/office/officeart/2005/8/layout/vList2"/>
    <dgm:cxn modelId="{9EDC328D-030A-A946-8DCE-8373BCACD6CA}" type="presOf" srcId="{F38E4AC5-4FFA-4D6F-9E43-6A92C666DEF3}" destId="{DFEDFDDA-39D3-A240-B86F-86CA6389A7B8}" srcOrd="0" destOrd="0" presId="urn:microsoft.com/office/officeart/2005/8/layout/vList2"/>
    <dgm:cxn modelId="{2990279C-8352-4832-B873-F353870C337C}" srcId="{D11901A9-5BB7-4B9E-AC18-BD98F6260ABD}" destId="{F0218E05-9A0A-4D7A-BB5D-5E16C96B4DFD}" srcOrd="1" destOrd="0" parTransId="{60D29B5D-2E75-4288-B8FC-755A447909DE}" sibTransId="{924A15CF-CAA5-4DB6-819F-35DABA87BB23}"/>
    <dgm:cxn modelId="{7C7C6924-2CE3-D14B-8D2C-07E8AFCD61C2}" type="presParOf" srcId="{E57EEEEF-884E-CF4B-8D70-888DBFB2DB1C}" destId="{DFEDFDDA-39D3-A240-B86F-86CA6389A7B8}" srcOrd="0" destOrd="0" presId="urn:microsoft.com/office/officeart/2005/8/layout/vList2"/>
    <dgm:cxn modelId="{5BB56548-389A-154A-90B2-81B92BB54380}" type="presParOf" srcId="{E57EEEEF-884E-CF4B-8D70-888DBFB2DB1C}" destId="{D647FF90-2B27-F447-A6DF-539FBD956E0A}" srcOrd="1" destOrd="0" presId="urn:microsoft.com/office/officeart/2005/8/layout/vList2"/>
    <dgm:cxn modelId="{49F5BABC-9181-114D-AD7C-781BFE9D09C7}" type="presParOf" srcId="{E57EEEEF-884E-CF4B-8D70-888DBFB2DB1C}" destId="{275F366D-F5AB-9240-A558-40B77946699A}" srcOrd="2"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2359C2-2C8E-4E6C-A0D7-EA31982294E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8A0B997-EA22-4D06-9243-88DBC488A8A6}">
      <dgm:prSet custT="1"/>
      <dgm:spPr/>
      <dgm:t>
        <a:bodyPr/>
        <a:lstStyle/>
        <a:p>
          <a:r>
            <a:rPr lang="en-GB" sz="1800" dirty="0">
              <a:latin typeface="Calibri" panose="020F0502020204030204" pitchFamily="34" charset="0"/>
              <a:cs typeface="Calibri" panose="020F0502020204030204" pitchFamily="34" charset="0"/>
            </a:rPr>
            <a:t>Afforestation Bioenergy with carbon capture</a:t>
          </a:r>
          <a:endParaRPr lang="en-US" sz="1800" dirty="0">
            <a:latin typeface="Calibri" panose="020F0502020204030204" pitchFamily="34" charset="0"/>
            <a:cs typeface="Calibri" panose="020F0502020204030204" pitchFamily="34" charset="0"/>
          </a:endParaRPr>
        </a:p>
      </dgm:t>
    </dgm:pt>
    <dgm:pt modelId="{3C41AFAF-0A5C-4E61-BAB2-BF054E558AA1}" type="parTrans" cxnId="{7EF7B60A-57DE-4587-9F1C-401AB9851FEC}">
      <dgm:prSet/>
      <dgm:spPr/>
      <dgm:t>
        <a:bodyPr/>
        <a:lstStyle/>
        <a:p>
          <a:endParaRPr lang="en-US"/>
        </a:p>
      </dgm:t>
    </dgm:pt>
    <dgm:pt modelId="{E4737F13-3C02-42A4-8F42-910450CA1D34}" type="sibTrans" cxnId="{7EF7B60A-57DE-4587-9F1C-401AB9851FEC}">
      <dgm:prSet/>
      <dgm:spPr/>
      <dgm:t>
        <a:bodyPr/>
        <a:lstStyle/>
        <a:p>
          <a:endParaRPr lang="en-US"/>
        </a:p>
      </dgm:t>
    </dgm:pt>
    <dgm:pt modelId="{CADC97B1-AA2D-4C0F-863A-35ADF50A64D9}">
      <dgm:prSet custT="1"/>
      <dgm:spPr/>
      <dgm:t>
        <a:bodyPr/>
        <a:lstStyle/>
        <a:p>
          <a:r>
            <a:rPr lang="en-GB" sz="1800" dirty="0">
              <a:latin typeface="Calibri" panose="020F0502020204030204" pitchFamily="34" charset="0"/>
              <a:cs typeface="Calibri" panose="020F0502020204030204" pitchFamily="34" charset="0"/>
            </a:rPr>
            <a:t>Biochar production and burial</a:t>
          </a:r>
          <a:endParaRPr lang="en-US" sz="1800" dirty="0">
            <a:latin typeface="Calibri" panose="020F0502020204030204" pitchFamily="34" charset="0"/>
            <a:cs typeface="Calibri" panose="020F0502020204030204" pitchFamily="34" charset="0"/>
          </a:endParaRPr>
        </a:p>
      </dgm:t>
    </dgm:pt>
    <dgm:pt modelId="{FDCE9270-499D-4D52-948E-479DC6613065}" type="parTrans" cxnId="{A74391F7-0947-468D-81EE-3C1D8CCF4C26}">
      <dgm:prSet/>
      <dgm:spPr/>
      <dgm:t>
        <a:bodyPr/>
        <a:lstStyle/>
        <a:p>
          <a:endParaRPr lang="en-US"/>
        </a:p>
      </dgm:t>
    </dgm:pt>
    <dgm:pt modelId="{E087335D-967F-4A97-BD4E-7FA3AA360A73}" type="sibTrans" cxnId="{A74391F7-0947-468D-81EE-3C1D8CCF4C26}">
      <dgm:prSet/>
      <dgm:spPr/>
      <dgm:t>
        <a:bodyPr/>
        <a:lstStyle/>
        <a:p>
          <a:endParaRPr lang="en-US"/>
        </a:p>
      </dgm:t>
    </dgm:pt>
    <dgm:pt modelId="{3FB5082D-2208-4228-BA17-C13217C05237}">
      <dgm:prSet custT="1"/>
      <dgm:spPr/>
      <dgm:t>
        <a:bodyPr/>
        <a:lstStyle/>
        <a:p>
          <a:r>
            <a:rPr lang="en-GB" sz="1800">
              <a:latin typeface="Calibri" panose="020F0502020204030204" pitchFamily="34" charset="0"/>
              <a:cs typeface="Calibri" panose="020F0502020204030204" pitchFamily="34" charset="0"/>
            </a:rPr>
            <a:t>Soil carbon enrichment</a:t>
          </a:r>
          <a:endParaRPr lang="en-US" sz="1800">
            <a:latin typeface="Calibri" panose="020F0502020204030204" pitchFamily="34" charset="0"/>
            <a:cs typeface="Calibri" panose="020F0502020204030204" pitchFamily="34" charset="0"/>
          </a:endParaRPr>
        </a:p>
      </dgm:t>
    </dgm:pt>
    <dgm:pt modelId="{746D224E-75DE-4E08-854A-FD89E8447AED}" type="parTrans" cxnId="{5BE77792-D413-4F5A-B58D-63EE3156EFB0}">
      <dgm:prSet/>
      <dgm:spPr/>
      <dgm:t>
        <a:bodyPr/>
        <a:lstStyle/>
        <a:p>
          <a:endParaRPr lang="en-US"/>
        </a:p>
      </dgm:t>
    </dgm:pt>
    <dgm:pt modelId="{7CEE8444-F4C4-4712-B79A-9538E7F258D9}" type="sibTrans" cxnId="{5BE77792-D413-4F5A-B58D-63EE3156EFB0}">
      <dgm:prSet/>
      <dgm:spPr/>
      <dgm:t>
        <a:bodyPr/>
        <a:lstStyle/>
        <a:p>
          <a:endParaRPr lang="en-US"/>
        </a:p>
      </dgm:t>
    </dgm:pt>
    <dgm:pt modelId="{B0FA9CC7-22A0-4332-84D5-27B1598C8FDB}">
      <dgm:prSet custT="1"/>
      <dgm:spPr/>
      <dgm:t>
        <a:bodyPr/>
        <a:lstStyle/>
        <a:p>
          <a:r>
            <a:rPr lang="en-GB" sz="1800">
              <a:latin typeface="Calibri" panose="020F0502020204030204" pitchFamily="34" charset="0"/>
              <a:cs typeface="Calibri" panose="020F0502020204030204" pitchFamily="34" charset="0"/>
            </a:rPr>
            <a:t>Ocean iron fertilisation (OIF)</a:t>
          </a:r>
          <a:endParaRPr lang="en-US" sz="1800">
            <a:latin typeface="Calibri" panose="020F0502020204030204" pitchFamily="34" charset="0"/>
            <a:cs typeface="Calibri" panose="020F0502020204030204" pitchFamily="34" charset="0"/>
          </a:endParaRPr>
        </a:p>
      </dgm:t>
    </dgm:pt>
    <dgm:pt modelId="{EB3F2326-41E3-43B2-8F16-05ED6A81CE56}" type="parTrans" cxnId="{39BFF88C-19F2-4515-910A-36F8D69BDD07}">
      <dgm:prSet/>
      <dgm:spPr/>
      <dgm:t>
        <a:bodyPr/>
        <a:lstStyle/>
        <a:p>
          <a:endParaRPr lang="en-US"/>
        </a:p>
      </dgm:t>
    </dgm:pt>
    <dgm:pt modelId="{650D0227-7619-4E3C-AE6E-CF2AA6930C6B}" type="sibTrans" cxnId="{39BFF88C-19F2-4515-910A-36F8D69BDD07}">
      <dgm:prSet/>
      <dgm:spPr/>
      <dgm:t>
        <a:bodyPr/>
        <a:lstStyle/>
        <a:p>
          <a:endParaRPr lang="en-US"/>
        </a:p>
      </dgm:t>
    </dgm:pt>
    <dgm:pt modelId="{61A15497-CA56-4178-A941-E86C27BC69A0}">
      <dgm:prSet custT="1"/>
      <dgm:spPr/>
      <dgm:t>
        <a:bodyPr/>
        <a:lstStyle/>
        <a:p>
          <a:r>
            <a:rPr lang="en-GB" sz="1800">
              <a:latin typeface="Calibri" panose="020F0502020204030204" pitchFamily="34" charset="0"/>
              <a:cs typeface="Calibri" panose="020F0502020204030204" pitchFamily="34" charset="0"/>
            </a:rPr>
            <a:t>Enhanced weathering and ocean alkalinisation</a:t>
          </a:r>
          <a:endParaRPr lang="en-US" sz="1800">
            <a:latin typeface="Calibri" panose="020F0502020204030204" pitchFamily="34" charset="0"/>
            <a:cs typeface="Calibri" panose="020F0502020204030204" pitchFamily="34" charset="0"/>
          </a:endParaRPr>
        </a:p>
      </dgm:t>
    </dgm:pt>
    <dgm:pt modelId="{BD831A7D-D294-4615-9341-36B006DE827F}" type="parTrans" cxnId="{421D306C-178F-42B3-9755-057FE5C1EED3}">
      <dgm:prSet/>
      <dgm:spPr/>
      <dgm:t>
        <a:bodyPr/>
        <a:lstStyle/>
        <a:p>
          <a:endParaRPr lang="en-US"/>
        </a:p>
      </dgm:t>
    </dgm:pt>
    <dgm:pt modelId="{902CE454-942A-4135-915F-4550C6ED50AA}" type="sibTrans" cxnId="{421D306C-178F-42B3-9755-057FE5C1EED3}">
      <dgm:prSet/>
      <dgm:spPr/>
      <dgm:t>
        <a:bodyPr/>
        <a:lstStyle/>
        <a:p>
          <a:endParaRPr lang="en-US"/>
        </a:p>
      </dgm:t>
    </dgm:pt>
    <dgm:pt modelId="{14ACF912-573C-434B-BB1A-45C1FE1E2E64}">
      <dgm:prSet custT="1"/>
      <dgm:spPr/>
      <dgm:t>
        <a:bodyPr/>
        <a:lstStyle/>
        <a:p>
          <a:r>
            <a:rPr lang="en-GB" sz="1800">
              <a:latin typeface="Calibri" panose="020F0502020204030204" pitchFamily="34" charset="0"/>
              <a:cs typeface="Calibri" panose="020F0502020204030204" pitchFamily="34" charset="0"/>
            </a:rPr>
            <a:t>Space mirrors</a:t>
          </a:r>
          <a:endParaRPr lang="en-US" sz="1800">
            <a:latin typeface="Calibri" panose="020F0502020204030204" pitchFamily="34" charset="0"/>
            <a:cs typeface="Calibri" panose="020F0502020204030204" pitchFamily="34" charset="0"/>
          </a:endParaRPr>
        </a:p>
      </dgm:t>
    </dgm:pt>
    <dgm:pt modelId="{6481129F-AA1E-4D1D-98D0-BFF8FB0375DD}" type="parTrans" cxnId="{33A94E38-974C-4C87-B94B-B0253A3C4BCE}">
      <dgm:prSet/>
      <dgm:spPr/>
      <dgm:t>
        <a:bodyPr/>
        <a:lstStyle/>
        <a:p>
          <a:endParaRPr lang="en-US"/>
        </a:p>
      </dgm:t>
    </dgm:pt>
    <dgm:pt modelId="{3AF45D6F-7B6A-4DE0-8576-0FA9C3F41AF9}" type="sibTrans" cxnId="{33A94E38-974C-4C87-B94B-B0253A3C4BCE}">
      <dgm:prSet/>
      <dgm:spPr/>
      <dgm:t>
        <a:bodyPr/>
        <a:lstStyle/>
        <a:p>
          <a:endParaRPr lang="en-US"/>
        </a:p>
      </dgm:t>
    </dgm:pt>
    <dgm:pt modelId="{DC40A65E-A227-49A0-B5BA-A599B418D7EC}">
      <dgm:prSet custT="1"/>
      <dgm:spPr/>
      <dgm:t>
        <a:bodyPr/>
        <a:lstStyle/>
        <a:p>
          <a:r>
            <a:rPr lang="en-GB" sz="1800">
              <a:latin typeface="Calibri" panose="020F0502020204030204" pitchFamily="34" charset="0"/>
              <a:cs typeface="Calibri" panose="020F0502020204030204" pitchFamily="34" charset="0"/>
            </a:rPr>
            <a:t>Stratospheric aerosol injection (SAI)</a:t>
          </a:r>
          <a:endParaRPr lang="en-US" sz="1800">
            <a:latin typeface="Calibri" panose="020F0502020204030204" pitchFamily="34" charset="0"/>
            <a:cs typeface="Calibri" panose="020F0502020204030204" pitchFamily="34" charset="0"/>
          </a:endParaRPr>
        </a:p>
      </dgm:t>
    </dgm:pt>
    <dgm:pt modelId="{E7C27E20-41C8-4D76-8461-A7E2D4B25204}" type="parTrans" cxnId="{CEC92701-A111-4E7E-9261-8F7A31EA5EC4}">
      <dgm:prSet/>
      <dgm:spPr/>
      <dgm:t>
        <a:bodyPr/>
        <a:lstStyle/>
        <a:p>
          <a:endParaRPr lang="en-US"/>
        </a:p>
      </dgm:t>
    </dgm:pt>
    <dgm:pt modelId="{76B787F0-7BAE-4BE2-A19D-6C720CE382C1}" type="sibTrans" cxnId="{CEC92701-A111-4E7E-9261-8F7A31EA5EC4}">
      <dgm:prSet/>
      <dgm:spPr/>
      <dgm:t>
        <a:bodyPr/>
        <a:lstStyle/>
        <a:p>
          <a:endParaRPr lang="en-US"/>
        </a:p>
      </dgm:t>
    </dgm:pt>
    <dgm:pt modelId="{6B2BE5D4-509F-4F69-9837-7BE88548C706}">
      <dgm:prSet custT="1"/>
      <dgm:spPr/>
      <dgm:t>
        <a:bodyPr/>
        <a:lstStyle/>
        <a:p>
          <a:r>
            <a:rPr lang="en-GB" sz="1800" dirty="0">
              <a:latin typeface="Calibri" panose="020F0502020204030204" pitchFamily="34" charset="0"/>
              <a:cs typeface="Calibri" panose="020F0502020204030204" pitchFamily="34" charset="0"/>
            </a:rPr>
            <a:t>Cirrus cloud thinning (CCT)</a:t>
          </a:r>
          <a:endParaRPr lang="en-US" sz="1800" dirty="0">
            <a:latin typeface="Calibri" panose="020F0502020204030204" pitchFamily="34" charset="0"/>
            <a:cs typeface="Calibri" panose="020F0502020204030204" pitchFamily="34" charset="0"/>
          </a:endParaRPr>
        </a:p>
      </dgm:t>
    </dgm:pt>
    <dgm:pt modelId="{D3E07075-AB05-4F35-92D0-AEFE8C97D6BF}" type="parTrans" cxnId="{436A8CAC-B8FC-4130-9BE8-1C864DAE4F00}">
      <dgm:prSet/>
      <dgm:spPr/>
      <dgm:t>
        <a:bodyPr/>
        <a:lstStyle/>
        <a:p>
          <a:endParaRPr lang="en-US"/>
        </a:p>
      </dgm:t>
    </dgm:pt>
    <dgm:pt modelId="{F2B2144B-F940-4E9A-BD8C-DB5D19984B02}" type="sibTrans" cxnId="{436A8CAC-B8FC-4130-9BE8-1C864DAE4F00}">
      <dgm:prSet/>
      <dgm:spPr/>
      <dgm:t>
        <a:bodyPr/>
        <a:lstStyle/>
        <a:p>
          <a:endParaRPr lang="en-US"/>
        </a:p>
      </dgm:t>
    </dgm:pt>
    <dgm:pt modelId="{D5108C88-4B78-43B4-A499-E5B8476CFBED}">
      <dgm:prSet custT="1"/>
      <dgm:spPr/>
      <dgm:t>
        <a:bodyPr/>
        <a:lstStyle/>
        <a:p>
          <a:r>
            <a:rPr lang="en-GB" sz="1800">
              <a:latin typeface="Calibri" panose="020F0502020204030204" pitchFamily="34" charset="0"/>
              <a:cs typeface="Calibri" panose="020F0502020204030204" pitchFamily="34" charset="0"/>
            </a:rPr>
            <a:t>Marine sky brightening (MSB)</a:t>
          </a:r>
          <a:endParaRPr lang="en-US" sz="1800">
            <a:latin typeface="Calibri" panose="020F0502020204030204" pitchFamily="34" charset="0"/>
            <a:cs typeface="Calibri" panose="020F0502020204030204" pitchFamily="34" charset="0"/>
          </a:endParaRPr>
        </a:p>
      </dgm:t>
    </dgm:pt>
    <dgm:pt modelId="{39D24531-0018-4B8D-B0A5-6E8DF6BE6123}" type="parTrans" cxnId="{C4E56F24-998B-4F64-BBCE-3F2ED49AE908}">
      <dgm:prSet/>
      <dgm:spPr/>
      <dgm:t>
        <a:bodyPr/>
        <a:lstStyle/>
        <a:p>
          <a:endParaRPr lang="en-US"/>
        </a:p>
      </dgm:t>
    </dgm:pt>
    <dgm:pt modelId="{555225F0-12C4-4DFC-A7F9-485082373C50}" type="sibTrans" cxnId="{C4E56F24-998B-4F64-BBCE-3F2ED49AE908}">
      <dgm:prSet/>
      <dgm:spPr/>
      <dgm:t>
        <a:bodyPr/>
        <a:lstStyle/>
        <a:p>
          <a:endParaRPr lang="en-US"/>
        </a:p>
      </dgm:t>
    </dgm:pt>
    <dgm:pt modelId="{10EA037C-FA74-4004-BCCF-05A473A7CBA9}">
      <dgm:prSet custT="1"/>
      <dgm:spPr/>
      <dgm:t>
        <a:bodyPr/>
        <a:lstStyle/>
        <a:p>
          <a:r>
            <a:rPr lang="en-GB" sz="1800">
              <a:latin typeface="Calibri" panose="020F0502020204030204" pitchFamily="34" charset="0"/>
              <a:cs typeface="Calibri" panose="020F0502020204030204" pitchFamily="34" charset="0"/>
            </a:rPr>
            <a:t>Surface-based brightening</a:t>
          </a:r>
          <a:endParaRPr lang="en-US" sz="1800">
            <a:latin typeface="Calibri" panose="020F0502020204030204" pitchFamily="34" charset="0"/>
            <a:cs typeface="Calibri" panose="020F0502020204030204" pitchFamily="34" charset="0"/>
          </a:endParaRPr>
        </a:p>
      </dgm:t>
    </dgm:pt>
    <dgm:pt modelId="{FE6598F0-0DEB-424B-80AA-337530DDD82A}" type="parTrans" cxnId="{31ABFF58-5B9D-400D-9C94-C96F3B733E01}">
      <dgm:prSet/>
      <dgm:spPr/>
      <dgm:t>
        <a:bodyPr/>
        <a:lstStyle/>
        <a:p>
          <a:endParaRPr lang="en-US"/>
        </a:p>
      </dgm:t>
    </dgm:pt>
    <dgm:pt modelId="{79636DFA-2680-4728-B2C3-ABD9B8208E6C}" type="sibTrans" cxnId="{31ABFF58-5B9D-400D-9C94-C96F3B733E01}">
      <dgm:prSet/>
      <dgm:spPr/>
      <dgm:t>
        <a:bodyPr/>
        <a:lstStyle/>
        <a:p>
          <a:endParaRPr lang="en-US"/>
        </a:p>
      </dgm:t>
    </dgm:pt>
    <dgm:pt modelId="{8EC489F2-FA17-4DD2-8737-93F0989C52DD}">
      <dgm:prSet custT="1"/>
      <dgm:spPr/>
      <dgm:t>
        <a:bodyPr/>
        <a:lstStyle/>
        <a:p>
          <a:r>
            <a:rPr lang="en-GB" sz="1800" dirty="0">
              <a:latin typeface="Calibri" panose="020F0502020204030204" pitchFamily="34" charset="0"/>
              <a:cs typeface="Calibri" panose="020F0502020204030204" pitchFamily="34" charset="0"/>
            </a:rPr>
            <a:t>Direct air CO</a:t>
          </a:r>
          <a:r>
            <a:rPr lang="en-GB" sz="1800" baseline="-25000" dirty="0">
              <a:latin typeface="Calibri" panose="020F0502020204030204" pitchFamily="34" charset="0"/>
              <a:cs typeface="Calibri" panose="020F0502020204030204" pitchFamily="34" charset="0"/>
            </a:rPr>
            <a:t>2</a:t>
          </a:r>
          <a:r>
            <a:rPr lang="en-GB" sz="1800" dirty="0">
              <a:latin typeface="Calibri" panose="020F0502020204030204" pitchFamily="34" charset="0"/>
              <a:cs typeface="Calibri" panose="020F0502020204030204" pitchFamily="34" charset="0"/>
            </a:rPr>
            <a:t> capture and storage (DACCS)</a:t>
          </a:r>
          <a:endParaRPr lang="en-US" sz="1800" dirty="0">
            <a:latin typeface="Calibri" panose="020F0502020204030204" pitchFamily="34" charset="0"/>
            <a:cs typeface="Calibri" panose="020F0502020204030204" pitchFamily="34" charset="0"/>
          </a:endParaRPr>
        </a:p>
      </dgm:t>
    </dgm:pt>
    <dgm:pt modelId="{60B44878-6139-48A4-B06A-57401FDFE6D0}" type="parTrans" cxnId="{ADD62C9D-8AA4-444B-B58D-36290AE78C39}">
      <dgm:prSet/>
      <dgm:spPr/>
      <dgm:t>
        <a:bodyPr/>
        <a:lstStyle/>
        <a:p>
          <a:endParaRPr lang="en-US"/>
        </a:p>
      </dgm:t>
    </dgm:pt>
    <dgm:pt modelId="{F6814E1A-A58E-456F-9090-80C96C07259C}" type="sibTrans" cxnId="{ADD62C9D-8AA4-444B-B58D-36290AE78C39}">
      <dgm:prSet/>
      <dgm:spPr/>
      <dgm:t>
        <a:bodyPr/>
        <a:lstStyle/>
        <a:p>
          <a:endParaRPr lang="en-US"/>
        </a:p>
      </dgm:t>
    </dgm:pt>
    <dgm:pt modelId="{0F54446D-05E4-AC41-BD73-89E5A142A083}" type="pres">
      <dgm:prSet presAssocID="{382359C2-2C8E-4E6C-A0D7-EA31982294E9}" presName="linear" presStyleCnt="0">
        <dgm:presLayoutVars>
          <dgm:animLvl val="lvl"/>
          <dgm:resizeHandles val="exact"/>
        </dgm:presLayoutVars>
      </dgm:prSet>
      <dgm:spPr/>
    </dgm:pt>
    <dgm:pt modelId="{28BC2CF5-4431-854D-9B99-4EE4BA7F36FB}" type="pres">
      <dgm:prSet presAssocID="{28A0B997-EA22-4D06-9243-88DBC488A8A6}" presName="parentText" presStyleLbl="node1" presStyleIdx="0" presStyleCnt="11">
        <dgm:presLayoutVars>
          <dgm:chMax val="0"/>
          <dgm:bulletEnabled val="1"/>
        </dgm:presLayoutVars>
      </dgm:prSet>
      <dgm:spPr/>
    </dgm:pt>
    <dgm:pt modelId="{C8873F53-0DFF-6D42-8B4B-5A7842C57EF5}" type="pres">
      <dgm:prSet presAssocID="{E4737F13-3C02-42A4-8F42-910450CA1D34}" presName="spacer" presStyleCnt="0"/>
      <dgm:spPr/>
    </dgm:pt>
    <dgm:pt modelId="{B177CE35-0A26-0641-A178-B56A1F71B06B}" type="pres">
      <dgm:prSet presAssocID="{CADC97B1-AA2D-4C0F-863A-35ADF50A64D9}" presName="parentText" presStyleLbl="node1" presStyleIdx="1" presStyleCnt="11">
        <dgm:presLayoutVars>
          <dgm:chMax val="0"/>
          <dgm:bulletEnabled val="1"/>
        </dgm:presLayoutVars>
      </dgm:prSet>
      <dgm:spPr/>
    </dgm:pt>
    <dgm:pt modelId="{85D9DE11-2A8B-C24A-BB63-27F905A13928}" type="pres">
      <dgm:prSet presAssocID="{E087335D-967F-4A97-BD4E-7FA3AA360A73}" presName="spacer" presStyleCnt="0"/>
      <dgm:spPr/>
    </dgm:pt>
    <dgm:pt modelId="{C8776740-D162-D142-93E1-D3BAD8C0F46C}" type="pres">
      <dgm:prSet presAssocID="{3FB5082D-2208-4228-BA17-C13217C05237}" presName="parentText" presStyleLbl="node1" presStyleIdx="2" presStyleCnt="11">
        <dgm:presLayoutVars>
          <dgm:chMax val="0"/>
          <dgm:bulletEnabled val="1"/>
        </dgm:presLayoutVars>
      </dgm:prSet>
      <dgm:spPr/>
    </dgm:pt>
    <dgm:pt modelId="{CDB80D1E-6678-0746-9169-20EBD853B931}" type="pres">
      <dgm:prSet presAssocID="{7CEE8444-F4C4-4712-B79A-9538E7F258D9}" presName="spacer" presStyleCnt="0"/>
      <dgm:spPr/>
    </dgm:pt>
    <dgm:pt modelId="{39F089F5-1E66-C043-8489-FE21C41EB8D3}" type="pres">
      <dgm:prSet presAssocID="{B0FA9CC7-22A0-4332-84D5-27B1598C8FDB}" presName="parentText" presStyleLbl="node1" presStyleIdx="3" presStyleCnt="11">
        <dgm:presLayoutVars>
          <dgm:chMax val="0"/>
          <dgm:bulletEnabled val="1"/>
        </dgm:presLayoutVars>
      </dgm:prSet>
      <dgm:spPr/>
    </dgm:pt>
    <dgm:pt modelId="{D7C62D56-76EF-A64F-8559-6230D126BC3A}" type="pres">
      <dgm:prSet presAssocID="{650D0227-7619-4E3C-AE6E-CF2AA6930C6B}" presName="spacer" presStyleCnt="0"/>
      <dgm:spPr/>
    </dgm:pt>
    <dgm:pt modelId="{D691D4BC-BBAD-E441-AE7B-7EA0C413FB24}" type="pres">
      <dgm:prSet presAssocID="{61A15497-CA56-4178-A941-E86C27BC69A0}" presName="parentText" presStyleLbl="node1" presStyleIdx="4" presStyleCnt="11">
        <dgm:presLayoutVars>
          <dgm:chMax val="0"/>
          <dgm:bulletEnabled val="1"/>
        </dgm:presLayoutVars>
      </dgm:prSet>
      <dgm:spPr/>
    </dgm:pt>
    <dgm:pt modelId="{F27CE331-4C81-3546-8D70-DBEAB102BC12}" type="pres">
      <dgm:prSet presAssocID="{902CE454-942A-4135-915F-4550C6ED50AA}" presName="spacer" presStyleCnt="0"/>
      <dgm:spPr/>
    </dgm:pt>
    <dgm:pt modelId="{05C1D751-0CFA-4A4A-82FB-CEBFAE2ED32E}" type="pres">
      <dgm:prSet presAssocID="{14ACF912-573C-434B-BB1A-45C1FE1E2E64}" presName="parentText" presStyleLbl="node1" presStyleIdx="5" presStyleCnt="11">
        <dgm:presLayoutVars>
          <dgm:chMax val="0"/>
          <dgm:bulletEnabled val="1"/>
        </dgm:presLayoutVars>
      </dgm:prSet>
      <dgm:spPr/>
    </dgm:pt>
    <dgm:pt modelId="{2984403B-919E-A146-9A55-333E84C86647}" type="pres">
      <dgm:prSet presAssocID="{3AF45D6F-7B6A-4DE0-8576-0FA9C3F41AF9}" presName="spacer" presStyleCnt="0"/>
      <dgm:spPr/>
    </dgm:pt>
    <dgm:pt modelId="{91E193AC-07C5-9242-867F-B235046CFD45}" type="pres">
      <dgm:prSet presAssocID="{DC40A65E-A227-49A0-B5BA-A599B418D7EC}" presName="parentText" presStyleLbl="node1" presStyleIdx="6" presStyleCnt="11">
        <dgm:presLayoutVars>
          <dgm:chMax val="0"/>
          <dgm:bulletEnabled val="1"/>
        </dgm:presLayoutVars>
      </dgm:prSet>
      <dgm:spPr/>
    </dgm:pt>
    <dgm:pt modelId="{0244AF61-E53D-0447-B95E-0741AAA4AB29}" type="pres">
      <dgm:prSet presAssocID="{76B787F0-7BAE-4BE2-A19D-6C720CE382C1}" presName="spacer" presStyleCnt="0"/>
      <dgm:spPr/>
    </dgm:pt>
    <dgm:pt modelId="{96EEEC37-5BC4-F348-A8B2-8F898E6FA1E1}" type="pres">
      <dgm:prSet presAssocID="{6B2BE5D4-509F-4F69-9837-7BE88548C706}" presName="parentText" presStyleLbl="node1" presStyleIdx="7" presStyleCnt="11">
        <dgm:presLayoutVars>
          <dgm:chMax val="0"/>
          <dgm:bulletEnabled val="1"/>
        </dgm:presLayoutVars>
      </dgm:prSet>
      <dgm:spPr/>
    </dgm:pt>
    <dgm:pt modelId="{BDAC1E64-614A-1E4F-A90C-EA0BD6131230}" type="pres">
      <dgm:prSet presAssocID="{F2B2144B-F940-4E9A-BD8C-DB5D19984B02}" presName="spacer" presStyleCnt="0"/>
      <dgm:spPr/>
    </dgm:pt>
    <dgm:pt modelId="{CAFC33B2-7FA5-5B48-8197-D6BA1EC7A44C}" type="pres">
      <dgm:prSet presAssocID="{D5108C88-4B78-43B4-A499-E5B8476CFBED}" presName="parentText" presStyleLbl="node1" presStyleIdx="8" presStyleCnt="11">
        <dgm:presLayoutVars>
          <dgm:chMax val="0"/>
          <dgm:bulletEnabled val="1"/>
        </dgm:presLayoutVars>
      </dgm:prSet>
      <dgm:spPr/>
    </dgm:pt>
    <dgm:pt modelId="{6E8DD522-F155-1A45-978B-9FE1B47778F8}" type="pres">
      <dgm:prSet presAssocID="{555225F0-12C4-4DFC-A7F9-485082373C50}" presName="spacer" presStyleCnt="0"/>
      <dgm:spPr/>
    </dgm:pt>
    <dgm:pt modelId="{E5E86166-C416-B84D-8767-63154A5E6A03}" type="pres">
      <dgm:prSet presAssocID="{10EA037C-FA74-4004-BCCF-05A473A7CBA9}" presName="parentText" presStyleLbl="node1" presStyleIdx="9" presStyleCnt="11">
        <dgm:presLayoutVars>
          <dgm:chMax val="0"/>
          <dgm:bulletEnabled val="1"/>
        </dgm:presLayoutVars>
      </dgm:prSet>
      <dgm:spPr/>
    </dgm:pt>
    <dgm:pt modelId="{A3577242-26B8-7945-8EAC-3A7ED076DB2A}" type="pres">
      <dgm:prSet presAssocID="{79636DFA-2680-4728-B2C3-ABD9B8208E6C}" presName="spacer" presStyleCnt="0"/>
      <dgm:spPr/>
    </dgm:pt>
    <dgm:pt modelId="{AD545E1F-AA3C-5B49-BEDC-1F0D3A401CE8}" type="pres">
      <dgm:prSet presAssocID="{8EC489F2-FA17-4DD2-8737-93F0989C52DD}" presName="parentText" presStyleLbl="node1" presStyleIdx="10" presStyleCnt="11">
        <dgm:presLayoutVars>
          <dgm:chMax val="0"/>
          <dgm:bulletEnabled val="1"/>
        </dgm:presLayoutVars>
      </dgm:prSet>
      <dgm:spPr/>
    </dgm:pt>
  </dgm:ptLst>
  <dgm:cxnLst>
    <dgm:cxn modelId="{CEC92701-A111-4E7E-9261-8F7A31EA5EC4}" srcId="{382359C2-2C8E-4E6C-A0D7-EA31982294E9}" destId="{DC40A65E-A227-49A0-B5BA-A599B418D7EC}" srcOrd="6" destOrd="0" parTransId="{E7C27E20-41C8-4D76-8461-A7E2D4B25204}" sibTransId="{76B787F0-7BAE-4BE2-A19D-6C720CE382C1}"/>
    <dgm:cxn modelId="{7EF7B60A-57DE-4587-9F1C-401AB9851FEC}" srcId="{382359C2-2C8E-4E6C-A0D7-EA31982294E9}" destId="{28A0B997-EA22-4D06-9243-88DBC488A8A6}" srcOrd="0" destOrd="0" parTransId="{3C41AFAF-0A5C-4E61-BAB2-BF054E558AA1}" sibTransId="{E4737F13-3C02-42A4-8F42-910450CA1D34}"/>
    <dgm:cxn modelId="{C4E56F24-998B-4F64-BBCE-3F2ED49AE908}" srcId="{382359C2-2C8E-4E6C-A0D7-EA31982294E9}" destId="{D5108C88-4B78-43B4-A499-E5B8476CFBED}" srcOrd="8" destOrd="0" parTransId="{39D24531-0018-4B8D-B0A5-6E8DF6BE6123}" sibTransId="{555225F0-12C4-4DFC-A7F9-485082373C50}"/>
    <dgm:cxn modelId="{6CA2F524-1707-E240-AECE-AF0CD4F6088F}" type="presOf" srcId="{8EC489F2-FA17-4DD2-8737-93F0989C52DD}" destId="{AD545E1F-AA3C-5B49-BEDC-1F0D3A401CE8}" srcOrd="0" destOrd="0" presId="urn:microsoft.com/office/officeart/2005/8/layout/vList2"/>
    <dgm:cxn modelId="{33A94E38-974C-4C87-B94B-B0253A3C4BCE}" srcId="{382359C2-2C8E-4E6C-A0D7-EA31982294E9}" destId="{14ACF912-573C-434B-BB1A-45C1FE1E2E64}" srcOrd="5" destOrd="0" parTransId="{6481129F-AA1E-4D1D-98D0-BFF8FB0375DD}" sibTransId="{3AF45D6F-7B6A-4DE0-8576-0FA9C3F41AF9}"/>
    <dgm:cxn modelId="{E4A01645-EE0F-0946-BF2B-8D5513F57323}" type="presOf" srcId="{10EA037C-FA74-4004-BCCF-05A473A7CBA9}" destId="{E5E86166-C416-B84D-8767-63154A5E6A03}" srcOrd="0" destOrd="0" presId="urn:microsoft.com/office/officeart/2005/8/layout/vList2"/>
    <dgm:cxn modelId="{31ABFF58-5B9D-400D-9C94-C96F3B733E01}" srcId="{382359C2-2C8E-4E6C-A0D7-EA31982294E9}" destId="{10EA037C-FA74-4004-BCCF-05A473A7CBA9}" srcOrd="9" destOrd="0" parTransId="{FE6598F0-0DEB-424B-80AA-337530DDD82A}" sibTransId="{79636DFA-2680-4728-B2C3-ABD9B8208E6C}"/>
    <dgm:cxn modelId="{421D306C-178F-42B3-9755-057FE5C1EED3}" srcId="{382359C2-2C8E-4E6C-A0D7-EA31982294E9}" destId="{61A15497-CA56-4178-A941-E86C27BC69A0}" srcOrd="4" destOrd="0" parTransId="{BD831A7D-D294-4615-9341-36B006DE827F}" sibTransId="{902CE454-942A-4135-915F-4550C6ED50AA}"/>
    <dgm:cxn modelId="{40910278-7C98-BA4A-A704-5176E7CD10E4}" type="presOf" srcId="{DC40A65E-A227-49A0-B5BA-A599B418D7EC}" destId="{91E193AC-07C5-9242-867F-B235046CFD45}" srcOrd="0" destOrd="0" presId="urn:microsoft.com/office/officeart/2005/8/layout/vList2"/>
    <dgm:cxn modelId="{9065A17A-E628-9447-98C1-3683C387B574}" type="presOf" srcId="{CADC97B1-AA2D-4C0F-863A-35ADF50A64D9}" destId="{B177CE35-0A26-0641-A178-B56A1F71B06B}" srcOrd="0" destOrd="0" presId="urn:microsoft.com/office/officeart/2005/8/layout/vList2"/>
    <dgm:cxn modelId="{F87AD787-F18A-9846-B365-333E8ECDD1D5}" type="presOf" srcId="{D5108C88-4B78-43B4-A499-E5B8476CFBED}" destId="{CAFC33B2-7FA5-5B48-8197-D6BA1EC7A44C}" srcOrd="0" destOrd="0" presId="urn:microsoft.com/office/officeart/2005/8/layout/vList2"/>
    <dgm:cxn modelId="{A75E448C-299A-614F-999A-1AF148CE6AE5}" type="presOf" srcId="{B0FA9CC7-22A0-4332-84D5-27B1598C8FDB}" destId="{39F089F5-1E66-C043-8489-FE21C41EB8D3}" srcOrd="0" destOrd="0" presId="urn:microsoft.com/office/officeart/2005/8/layout/vList2"/>
    <dgm:cxn modelId="{39BFF88C-19F2-4515-910A-36F8D69BDD07}" srcId="{382359C2-2C8E-4E6C-A0D7-EA31982294E9}" destId="{B0FA9CC7-22A0-4332-84D5-27B1598C8FDB}" srcOrd="3" destOrd="0" parTransId="{EB3F2326-41E3-43B2-8F16-05ED6A81CE56}" sibTransId="{650D0227-7619-4E3C-AE6E-CF2AA6930C6B}"/>
    <dgm:cxn modelId="{3DC84D8F-B48E-D143-B929-8AA43CA70681}" type="presOf" srcId="{382359C2-2C8E-4E6C-A0D7-EA31982294E9}" destId="{0F54446D-05E4-AC41-BD73-89E5A142A083}" srcOrd="0" destOrd="0" presId="urn:microsoft.com/office/officeart/2005/8/layout/vList2"/>
    <dgm:cxn modelId="{5BE77792-D413-4F5A-B58D-63EE3156EFB0}" srcId="{382359C2-2C8E-4E6C-A0D7-EA31982294E9}" destId="{3FB5082D-2208-4228-BA17-C13217C05237}" srcOrd="2" destOrd="0" parTransId="{746D224E-75DE-4E08-854A-FD89E8447AED}" sibTransId="{7CEE8444-F4C4-4712-B79A-9538E7F258D9}"/>
    <dgm:cxn modelId="{ADD62C9D-8AA4-444B-B58D-36290AE78C39}" srcId="{382359C2-2C8E-4E6C-A0D7-EA31982294E9}" destId="{8EC489F2-FA17-4DD2-8737-93F0989C52DD}" srcOrd="10" destOrd="0" parTransId="{60B44878-6139-48A4-B06A-57401FDFE6D0}" sibTransId="{F6814E1A-A58E-456F-9090-80C96C07259C}"/>
    <dgm:cxn modelId="{436A8CAC-B8FC-4130-9BE8-1C864DAE4F00}" srcId="{382359C2-2C8E-4E6C-A0D7-EA31982294E9}" destId="{6B2BE5D4-509F-4F69-9837-7BE88548C706}" srcOrd="7" destOrd="0" parTransId="{D3E07075-AB05-4F35-92D0-AEFE8C97D6BF}" sibTransId="{F2B2144B-F940-4E9A-BD8C-DB5D19984B02}"/>
    <dgm:cxn modelId="{1D5F56AE-867C-3549-9D18-5DCF36369B4C}" type="presOf" srcId="{61A15497-CA56-4178-A941-E86C27BC69A0}" destId="{D691D4BC-BBAD-E441-AE7B-7EA0C413FB24}" srcOrd="0" destOrd="0" presId="urn:microsoft.com/office/officeart/2005/8/layout/vList2"/>
    <dgm:cxn modelId="{F2FA21B5-FB7C-EB40-BCB7-0B2C2944CC42}" type="presOf" srcId="{6B2BE5D4-509F-4F69-9837-7BE88548C706}" destId="{96EEEC37-5BC4-F348-A8B2-8F898E6FA1E1}" srcOrd="0" destOrd="0" presId="urn:microsoft.com/office/officeart/2005/8/layout/vList2"/>
    <dgm:cxn modelId="{70517BC0-6F6C-9C4E-89ED-9E96951381D9}" type="presOf" srcId="{28A0B997-EA22-4D06-9243-88DBC488A8A6}" destId="{28BC2CF5-4431-854D-9B99-4EE4BA7F36FB}" srcOrd="0" destOrd="0" presId="urn:microsoft.com/office/officeart/2005/8/layout/vList2"/>
    <dgm:cxn modelId="{5D81EFDF-88DE-FB42-BE94-9FEB284D3253}" type="presOf" srcId="{14ACF912-573C-434B-BB1A-45C1FE1E2E64}" destId="{05C1D751-0CFA-4A4A-82FB-CEBFAE2ED32E}" srcOrd="0" destOrd="0" presId="urn:microsoft.com/office/officeart/2005/8/layout/vList2"/>
    <dgm:cxn modelId="{36D58EEE-3586-F34C-A3B4-34041D159EB4}" type="presOf" srcId="{3FB5082D-2208-4228-BA17-C13217C05237}" destId="{C8776740-D162-D142-93E1-D3BAD8C0F46C}" srcOrd="0" destOrd="0" presId="urn:microsoft.com/office/officeart/2005/8/layout/vList2"/>
    <dgm:cxn modelId="{A74391F7-0947-468D-81EE-3C1D8CCF4C26}" srcId="{382359C2-2C8E-4E6C-A0D7-EA31982294E9}" destId="{CADC97B1-AA2D-4C0F-863A-35ADF50A64D9}" srcOrd="1" destOrd="0" parTransId="{FDCE9270-499D-4D52-948E-479DC6613065}" sibTransId="{E087335D-967F-4A97-BD4E-7FA3AA360A73}"/>
    <dgm:cxn modelId="{5CC960CA-D9DC-CB4E-A346-2909A0F419A8}" type="presParOf" srcId="{0F54446D-05E4-AC41-BD73-89E5A142A083}" destId="{28BC2CF5-4431-854D-9B99-4EE4BA7F36FB}" srcOrd="0" destOrd="0" presId="urn:microsoft.com/office/officeart/2005/8/layout/vList2"/>
    <dgm:cxn modelId="{F25222D7-DFBD-8A4A-94FA-07B36A4B3B7F}" type="presParOf" srcId="{0F54446D-05E4-AC41-BD73-89E5A142A083}" destId="{C8873F53-0DFF-6D42-8B4B-5A7842C57EF5}" srcOrd="1" destOrd="0" presId="urn:microsoft.com/office/officeart/2005/8/layout/vList2"/>
    <dgm:cxn modelId="{8B1DDF68-DA77-3E4F-9276-20DE22720B57}" type="presParOf" srcId="{0F54446D-05E4-AC41-BD73-89E5A142A083}" destId="{B177CE35-0A26-0641-A178-B56A1F71B06B}" srcOrd="2" destOrd="0" presId="urn:microsoft.com/office/officeart/2005/8/layout/vList2"/>
    <dgm:cxn modelId="{A745ABBE-E2D1-FF48-B421-32131EF669D5}" type="presParOf" srcId="{0F54446D-05E4-AC41-BD73-89E5A142A083}" destId="{85D9DE11-2A8B-C24A-BB63-27F905A13928}" srcOrd="3" destOrd="0" presId="urn:microsoft.com/office/officeart/2005/8/layout/vList2"/>
    <dgm:cxn modelId="{191A36CC-9E80-B044-8921-CB14D72DCB75}" type="presParOf" srcId="{0F54446D-05E4-AC41-BD73-89E5A142A083}" destId="{C8776740-D162-D142-93E1-D3BAD8C0F46C}" srcOrd="4" destOrd="0" presId="urn:microsoft.com/office/officeart/2005/8/layout/vList2"/>
    <dgm:cxn modelId="{971E0522-6BBA-4546-9F85-65E57D590E58}" type="presParOf" srcId="{0F54446D-05E4-AC41-BD73-89E5A142A083}" destId="{CDB80D1E-6678-0746-9169-20EBD853B931}" srcOrd="5" destOrd="0" presId="urn:microsoft.com/office/officeart/2005/8/layout/vList2"/>
    <dgm:cxn modelId="{13A846C8-A304-AA4D-AE0E-ADC92E0F9AAF}" type="presParOf" srcId="{0F54446D-05E4-AC41-BD73-89E5A142A083}" destId="{39F089F5-1E66-C043-8489-FE21C41EB8D3}" srcOrd="6" destOrd="0" presId="urn:microsoft.com/office/officeart/2005/8/layout/vList2"/>
    <dgm:cxn modelId="{AB5254FC-2310-8343-99C5-CDC81B7949B9}" type="presParOf" srcId="{0F54446D-05E4-AC41-BD73-89E5A142A083}" destId="{D7C62D56-76EF-A64F-8559-6230D126BC3A}" srcOrd="7" destOrd="0" presId="urn:microsoft.com/office/officeart/2005/8/layout/vList2"/>
    <dgm:cxn modelId="{F6558C75-1C3F-5E40-8A92-BC2CAED05575}" type="presParOf" srcId="{0F54446D-05E4-AC41-BD73-89E5A142A083}" destId="{D691D4BC-BBAD-E441-AE7B-7EA0C413FB24}" srcOrd="8" destOrd="0" presId="urn:microsoft.com/office/officeart/2005/8/layout/vList2"/>
    <dgm:cxn modelId="{7C871AAC-843D-294B-9599-EBDA9C559D0D}" type="presParOf" srcId="{0F54446D-05E4-AC41-BD73-89E5A142A083}" destId="{F27CE331-4C81-3546-8D70-DBEAB102BC12}" srcOrd="9" destOrd="0" presId="urn:microsoft.com/office/officeart/2005/8/layout/vList2"/>
    <dgm:cxn modelId="{0DE06647-786E-5344-967D-53000B8F2430}" type="presParOf" srcId="{0F54446D-05E4-AC41-BD73-89E5A142A083}" destId="{05C1D751-0CFA-4A4A-82FB-CEBFAE2ED32E}" srcOrd="10" destOrd="0" presId="urn:microsoft.com/office/officeart/2005/8/layout/vList2"/>
    <dgm:cxn modelId="{C7A92C7B-7192-B54F-858E-2AD5A5869704}" type="presParOf" srcId="{0F54446D-05E4-AC41-BD73-89E5A142A083}" destId="{2984403B-919E-A146-9A55-333E84C86647}" srcOrd="11" destOrd="0" presId="urn:microsoft.com/office/officeart/2005/8/layout/vList2"/>
    <dgm:cxn modelId="{4C7AB3AE-8ACC-9441-A233-1804966F0322}" type="presParOf" srcId="{0F54446D-05E4-AC41-BD73-89E5A142A083}" destId="{91E193AC-07C5-9242-867F-B235046CFD45}" srcOrd="12" destOrd="0" presId="urn:microsoft.com/office/officeart/2005/8/layout/vList2"/>
    <dgm:cxn modelId="{5AECC492-987E-0E48-AFA1-498A5008944D}" type="presParOf" srcId="{0F54446D-05E4-AC41-BD73-89E5A142A083}" destId="{0244AF61-E53D-0447-B95E-0741AAA4AB29}" srcOrd="13" destOrd="0" presId="urn:microsoft.com/office/officeart/2005/8/layout/vList2"/>
    <dgm:cxn modelId="{9D56A2C0-EC92-AA4F-BAD0-914B8CD9616B}" type="presParOf" srcId="{0F54446D-05E4-AC41-BD73-89E5A142A083}" destId="{96EEEC37-5BC4-F348-A8B2-8F898E6FA1E1}" srcOrd="14" destOrd="0" presId="urn:microsoft.com/office/officeart/2005/8/layout/vList2"/>
    <dgm:cxn modelId="{F8ED4171-C89F-124D-BD4C-B3E2DD1A5D7B}" type="presParOf" srcId="{0F54446D-05E4-AC41-BD73-89E5A142A083}" destId="{BDAC1E64-614A-1E4F-A90C-EA0BD6131230}" srcOrd="15" destOrd="0" presId="urn:microsoft.com/office/officeart/2005/8/layout/vList2"/>
    <dgm:cxn modelId="{169937F2-6530-F647-9673-C39A9C0B8D91}" type="presParOf" srcId="{0F54446D-05E4-AC41-BD73-89E5A142A083}" destId="{CAFC33B2-7FA5-5B48-8197-D6BA1EC7A44C}" srcOrd="16" destOrd="0" presId="urn:microsoft.com/office/officeart/2005/8/layout/vList2"/>
    <dgm:cxn modelId="{EAB35B6E-BCBC-6248-B903-32F35596DF74}" type="presParOf" srcId="{0F54446D-05E4-AC41-BD73-89E5A142A083}" destId="{6E8DD522-F155-1A45-978B-9FE1B47778F8}" srcOrd="17" destOrd="0" presId="urn:microsoft.com/office/officeart/2005/8/layout/vList2"/>
    <dgm:cxn modelId="{5FABEFB5-B906-3542-8A0D-D64D6BDBCF88}" type="presParOf" srcId="{0F54446D-05E4-AC41-BD73-89E5A142A083}" destId="{E5E86166-C416-B84D-8767-63154A5E6A03}" srcOrd="18" destOrd="0" presId="urn:microsoft.com/office/officeart/2005/8/layout/vList2"/>
    <dgm:cxn modelId="{4CFCEA54-32A4-DF46-BE53-DF8222C16CCD}" type="presParOf" srcId="{0F54446D-05E4-AC41-BD73-89E5A142A083}" destId="{A3577242-26B8-7945-8EAC-3A7ED076DB2A}" srcOrd="19" destOrd="0" presId="urn:microsoft.com/office/officeart/2005/8/layout/vList2"/>
    <dgm:cxn modelId="{61DE79A1-2C73-3A4C-A576-C880AFBA235C}" type="presParOf" srcId="{0F54446D-05E4-AC41-BD73-89E5A142A083}" destId="{AD545E1F-AA3C-5B49-BEDC-1F0D3A401CE8}" srcOrd="20"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EDFDDA-39D3-A240-B86F-86CA6389A7B8}">
      <dsp:nvSpPr>
        <dsp:cNvPr id="0" name=""/>
        <dsp:cNvSpPr/>
      </dsp:nvSpPr>
      <dsp:spPr>
        <a:xfrm>
          <a:off x="0" y="150038"/>
          <a:ext cx="4871515" cy="182662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dirty="0">
              <a:latin typeface="Calibri" panose="020F0502020204030204" pitchFamily="34" charset="0"/>
              <a:cs typeface="Calibri" panose="020F0502020204030204" pitchFamily="34" charset="0"/>
            </a:rPr>
            <a:t>In order to deliver on the commitment the UK made by signing the Paris Agreement, the UK has legislated for a net zero emissions target by 2050</a:t>
          </a:r>
          <a:endParaRPr lang="en-US" sz="2100" kern="1200" dirty="0">
            <a:latin typeface="Calibri" panose="020F0502020204030204" pitchFamily="34" charset="0"/>
            <a:cs typeface="Calibri" panose="020F0502020204030204" pitchFamily="34" charset="0"/>
          </a:endParaRPr>
        </a:p>
      </dsp:txBody>
      <dsp:txXfrm>
        <a:off x="89168" y="239206"/>
        <a:ext cx="4693179" cy="1648289"/>
      </dsp:txXfrm>
    </dsp:sp>
    <dsp:sp modelId="{275F366D-F5AB-9240-A558-40B77946699A}">
      <dsp:nvSpPr>
        <dsp:cNvPr id="0" name=""/>
        <dsp:cNvSpPr/>
      </dsp:nvSpPr>
      <dsp:spPr>
        <a:xfrm>
          <a:off x="0" y="1984533"/>
          <a:ext cx="4871515" cy="182662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latin typeface="Calibri" panose="020F0502020204030204" pitchFamily="34" charset="0"/>
              <a:cs typeface="Calibri" panose="020F0502020204030204" pitchFamily="34" charset="0"/>
            </a:rPr>
            <a:t>T</a:t>
          </a:r>
          <a:r>
            <a:rPr lang="en-US" sz="2100" b="0" i="0" kern="1200" dirty="0">
              <a:latin typeface="Calibri" panose="020F0502020204030204" pitchFamily="34" charset="0"/>
              <a:cs typeface="Calibri" panose="020F0502020204030204" pitchFamily="34" charset="0"/>
            </a:rPr>
            <a:t>he UK Committee on Climate Change (</a:t>
          </a:r>
          <a:r>
            <a:rPr lang="en-US" sz="2100" kern="1200" dirty="0">
              <a:latin typeface="Calibri" panose="020F0502020204030204" pitchFamily="34" charset="0"/>
              <a:cs typeface="Calibri" panose="020F0502020204030204" pitchFamily="34" charset="0"/>
            </a:rPr>
            <a:t>CCC</a:t>
          </a:r>
          <a:r>
            <a:rPr lang="en-US" sz="2100" b="0" i="0" kern="1200" dirty="0">
              <a:latin typeface="Calibri" panose="020F0502020204030204" pitchFamily="34" charset="0"/>
              <a:cs typeface="Calibri" panose="020F0502020204030204" pitchFamily="34" charset="0"/>
            </a:rPr>
            <a:t>), have made it clear that </a:t>
          </a:r>
          <a:r>
            <a:rPr lang="en-US" sz="2100" kern="1200" dirty="0">
              <a:latin typeface="Calibri" panose="020F0502020204030204" pitchFamily="34" charset="0"/>
              <a:cs typeface="Calibri" panose="020F0502020204030204" pitchFamily="34" charset="0"/>
            </a:rPr>
            <a:t>GGRs</a:t>
          </a:r>
          <a:r>
            <a:rPr lang="en-US" sz="2100" b="0" i="0" kern="1200" dirty="0">
              <a:latin typeface="Calibri" panose="020F0502020204030204" pitchFamily="34" charset="0"/>
              <a:cs typeface="Calibri" panose="020F0502020204030204" pitchFamily="34" charset="0"/>
            </a:rPr>
            <a:t> will be essential to </a:t>
          </a:r>
          <a:r>
            <a:rPr lang="en-US" sz="2100" b="0" i="0" kern="1200" dirty="0" err="1">
              <a:latin typeface="Calibri" panose="020F0502020204030204" pitchFamily="34" charset="0"/>
              <a:cs typeface="Calibri" panose="020F0502020204030204" pitchFamily="34" charset="0"/>
            </a:rPr>
            <a:t>realising</a:t>
          </a:r>
          <a:r>
            <a:rPr lang="en-US" sz="2100" b="0" i="0" kern="1200" dirty="0">
              <a:latin typeface="Calibri" panose="020F0502020204030204" pitchFamily="34" charset="0"/>
              <a:cs typeface="Calibri" panose="020F0502020204030204" pitchFamily="34" charset="0"/>
            </a:rPr>
            <a:t> this target, to offset remaining emissions in the sectors where it is most difficult to cut them.</a:t>
          </a:r>
          <a:endParaRPr lang="en-US" sz="2100" kern="1200" dirty="0">
            <a:latin typeface="Calibri" panose="020F0502020204030204" pitchFamily="34" charset="0"/>
            <a:cs typeface="Calibri" panose="020F0502020204030204" pitchFamily="34" charset="0"/>
          </a:endParaRPr>
        </a:p>
      </dsp:txBody>
      <dsp:txXfrm>
        <a:off x="89168" y="2073701"/>
        <a:ext cx="4693179" cy="16482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BC2CF5-4431-854D-9B99-4EE4BA7F36FB}">
      <dsp:nvSpPr>
        <dsp:cNvPr id="0" name=""/>
        <dsp:cNvSpPr/>
      </dsp:nvSpPr>
      <dsp:spPr>
        <a:xfrm>
          <a:off x="0" y="1775"/>
          <a:ext cx="4522348" cy="41345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latin typeface="Calibri" panose="020F0502020204030204" pitchFamily="34" charset="0"/>
              <a:cs typeface="Calibri" panose="020F0502020204030204" pitchFamily="34" charset="0"/>
            </a:rPr>
            <a:t>Afforestation Bioenergy with carbon capture</a:t>
          </a:r>
          <a:endParaRPr lang="en-US" sz="1800" kern="1200" dirty="0">
            <a:latin typeface="Calibri" panose="020F0502020204030204" pitchFamily="34" charset="0"/>
            <a:cs typeface="Calibri" panose="020F0502020204030204" pitchFamily="34" charset="0"/>
          </a:endParaRPr>
        </a:p>
      </dsp:txBody>
      <dsp:txXfrm>
        <a:off x="20183" y="21958"/>
        <a:ext cx="4481982" cy="373087"/>
      </dsp:txXfrm>
    </dsp:sp>
    <dsp:sp modelId="{B177CE35-0A26-0641-A178-B56A1F71B06B}">
      <dsp:nvSpPr>
        <dsp:cNvPr id="0" name=""/>
        <dsp:cNvSpPr/>
      </dsp:nvSpPr>
      <dsp:spPr>
        <a:xfrm>
          <a:off x="0" y="428982"/>
          <a:ext cx="4522348" cy="41345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latin typeface="Calibri" panose="020F0502020204030204" pitchFamily="34" charset="0"/>
              <a:cs typeface="Calibri" panose="020F0502020204030204" pitchFamily="34" charset="0"/>
            </a:rPr>
            <a:t>Biochar production and burial</a:t>
          </a:r>
          <a:endParaRPr lang="en-US" sz="1800" kern="1200" dirty="0">
            <a:latin typeface="Calibri" panose="020F0502020204030204" pitchFamily="34" charset="0"/>
            <a:cs typeface="Calibri" panose="020F0502020204030204" pitchFamily="34" charset="0"/>
          </a:endParaRPr>
        </a:p>
      </dsp:txBody>
      <dsp:txXfrm>
        <a:off x="20183" y="449165"/>
        <a:ext cx="4481982" cy="373087"/>
      </dsp:txXfrm>
    </dsp:sp>
    <dsp:sp modelId="{C8776740-D162-D142-93E1-D3BAD8C0F46C}">
      <dsp:nvSpPr>
        <dsp:cNvPr id="0" name=""/>
        <dsp:cNvSpPr/>
      </dsp:nvSpPr>
      <dsp:spPr>
        <a:xfrm>
          <a:off x="0" y="856188"/>
          <a:ext cx="4522348" cy="41345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latin typeface="Calibri" panose="020F0502020204030204" pitchFamily="34" charset="0"/>
              <a:cs typeface="Calibri" panose="020F0502020204030204" pitchFamily="34" charset="0"/>
            </a:rPr>
            <a:t>Soil carbon enrichment</a:t>
          </a:r>
          <a:endParaRPr lang="en-US" sz="1800" kern="1200">
            <a:latin typeface="Calibri" panose="020F0502020204030204" pitchFamily="34" charset="0"/>
            <a:cs typeface="Calibri" panose="020F0502020204030204" pitchFamily="34" charset="0"/>
          </a:endParaRPr>
        </a:p>
      </dsp:txBody>
      <dsp:txXfrm>
        <a:off x="20183" y="876371"/>
        <a:ext cx="4481982" cy="373087"/>
      </dsp:txXfrm>
    </dsp:sp>
    <dsp:sp modelId="{39F089F5-1E66-C043-8489-FE21C41EB8D3}">
      <dsp:nvSpPr>
        <dsp:cNvPr id="0" name=""/>
        <dsp:cNvSpPr/>
      </dsp:nvSpPr>
      <dsp:spPr>
        <a:xfrm>
          <a:off x="0" y="1283394"/>
          <a:ext cx="4522348" cy="41345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latin typeface="Calibri" panose="020F0502020204030204" pitchFamily="34" charset="0"/>
              <a:cs typeface="Calibri" panose="020F0502020204030204" pitchFamily="34" charset="0"/>
            </a:rPr>
            <a:t>Ocean iron fertilisation (OIF)</a:t>
          </a:r>
          <a:endParaRPr lang="en-US" sz="1800" kern="1200">
            <a:latin typeface="Calibri" panose="020F0502020204030204" pitchFamily="34" charset="0"/>
            <a:cs typeface="Calibri" panose="020F0502020204030204" pitchFamily="34" charset="0"/>
          </a:endParaRPr>
        </a:p>
      </dsp:txBody>
      <dsp:txXfrm>
        <a:off x="20183" y="1303577"/>
        <a:ext cx="4481982" cy="373087"/>
      </dsp:txXfrm>
    </dsp:sp>
    <dsp:sp modelId="{D691D4BC-BBAD-E441-AE7B-7EA0C413FB24}">
      <dsp:nvSpPr>
        <dsp:cNvPr id="0" name=""/>
        <dsp:cNvSpPr/>
      </dsp:nvSpPr>
      <dsp:spPr>
        <a:xfrm>
          <a:off x="0" y="1710601"/>
          <a:ext cx="4522348" cy="41345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latin typeface="Calibri" panose="020F0502020204030204" pitchFamily="34" charset="0"/>
              <a:cs typeface="Calibri" panose="020F0502020204030204" pitchFamily="34" charset="0"/>
            </a:rPr>
            <a:t>Enhanced weathering and ocean alkalinisation</a:t>
          </a:r>
          <a:endParaRPr lang="en-US" sz="1800" kern="1200">
            <a:latin typeface="Calibri" panose="020F0502020204030204" pitchFamily="34" charset="0"/>
            <a:cs typeface="Calibri" panose="020F0502020204030204" pitchFamily="34" charset="0"/>
          </a:endParaRPr>
        </a:p>
      </dsp:txBody>
      <dsp:txXfrm>
        <a:off x="20183" y="1730784"/>
        <a:ext cx="4481982" cy="373087"/>
      </dsp:txXfrm>
    </dsp:sp>
    <dsp:sp modelId="{05C1D751-0CFA-4A4A-82FB-CEBFAE2ED32E}">
      <dsp:nvSpPr>
        <dsp:cNvPr id="0" name=""/>
        <dsp:cNvSpPr/>
      </dsp:nvSpPr>
      <dsp:spPr>
        <a:xfrm>
          <a:off x="0" y="2137807"/>
          <a:ext cx="4522348" cy="41345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latin typeface="Calibri" panose="020F0502020204030204" pitchFamily="34" charset="0"/>
              <a:cs typeface="Calibri" panose="020F0502020204030204" pitchFamily="34" charset="0"/>
            </a:rPr>
            <a:t>Space mirrors</a:t>
          </a:r>
          <a:endParaRPr lang="en-US" sz="1800" kern="1200">
            <a:latin typeface="Calibri" panose="020F0502020204030204" pitchFamily="34" charset="0"/>
            <a:cs typeface="Calibri" panose="020F0502020204030204" pitchFamily="34" charset="0"/>
          </a:endParaRPr>
        </a:p>
      </dsp:txBody>
      <dsp:txXfrm>
        <a:off x="20183" y="2157990"/>
        <a:ext cx="4481982" cy="373087"/>
      </dsp:txXfrm>
    </dsp:sp>
    <dsp:sp modelId="{91E193AC-07C5-9242-867F-B235046CFD45}">
      <dsp:nvSpPr>
        <dsp:cNvPr id="0" name=""/>
        <dsp:cNvSpPr/>
      </dsp:nvSpPr>
      <dsp:spPr>
        <a:xfrm>
          <a:off x="0" y="2565014"/>
          <a:ext cx="4522348" cy="41345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latin typeface="Calibri" panose="020F0502020204030204" pitchFamily="34" charset="0"/>
              <a:cs typeface="Calibri" panose="020F0502020204030204" pitchFamily="34" charset="0"/>
            </a:rPr>
            <a:t>Stratospheric aerosol injection (SAI)</a:t>
          </a:r>
          <a:endParaRPr lang="en-US" sz="1800" kern="1200">
            <a:latin typeface="Calibri" panose="020F0502020204030204" pitchFamily="34" charset="0"/>
            <a:cs typeface="Calibri" panose="020F0502020204030204" pitchFamily="34" charset="0"/>
          </a:endParaRPr>
        </a:p>
      </dsp:txBody>
      <dsp:txXfrm>
        <a:off x="20183" y="2585197"/>
        <a:ext cx="4481982" cy="373087"/>
      </dsp:txXfrm>
    </dsp:sp>
    <dsp:sp modelId="{96EEEC37-5BC4-F348-A8B2-8F898E6FA1E1}">
      <dsp:nvSpPr>
        <dsp:cNvPr id="0" name=""/>
        <dsp:cNvSpPr/>
      </dsp:nvSpPr>
      <dsp:spPr>
        <a:xfrm>
          <a:off x="0" y="2992220"/>
          <a:ext cx="4522348" cy="41345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latin typeface="Calibri" panose="020F0502020204030204" pitchFamily="34" charset="0"/>
              <a:cs typeface="Calibri" panose="020F0502020204030204" pitchFamily="34" charset="0"/>
            </a:rPr>
            <a:t>Cirrus cloud thinning (CCT)</a:t>
          </a:r>
          <a:endParaRPr lang="en-US" sz="1800" kern="1200" dirty="0">
            <a:latin typeface="Calibri" panose="020F0502020204030204" pitchFamily="34" charset="0"/>
            <a:cs typeface="Calibri" panose="020F0502020204030204" pitchFamily="34" charset="0"/>
          </a:endParaRPr>
        </a:p>
      </dsp:txBody>
      <dsp:txXfrm>
        <a:off x="20183" y="3012403"/>
        <a:ext cx="4481982" cy="373087"/>
      </dsp:txXfrm>
    </dsp:sp>
    <dsp:sp modelId="{CAFC33B2-7FA5-5B48-8197-D6BA1EC7A44C}">
      <dsp:nvSpPr>
        <dsp:cNvPr id="0" name=""/>
        <dsp:cNvSpPr/>
      </dsp:nvSpPr>
      <dsp:spPr>
        <a:xfrm>
          <a:off x="0" y="3419427"/>
          <a:ext cx="4522348" cy="41345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latin typeface="Calibri" panose="020F0502020204030204" pitchFamily="34" charset="0"/>
              <a:cs typeface="Calibri" panose="020F0502020204030204" pitchFamily="34" charset="0"/>
            </a:rPr>
            <a:t>Marine sky brightening (MSB)</a:t>
          </a:r>
          <a:endParaRPr lang="en-US" sz="1800" kern="1200">
            <a:latin typeface="Calibri" panose="020F0502020204030204" pitchFamily="34" charset="0"/>
            <a:cs typeface="Calibri" panose="020F0502020204030204" pitchFamily="34" charset="0"/>
          </a:endParaRPr>
        </a:p>
      </dsp:txBody>
      <dsp:txXfrm>
        <a:off x="20183" y="3439610"/>
        <a:ext cx="4481982" cy="373087"/>
      </dsp:txXfrm>
    </dsp:sp>
    <dsp:sp modelId="{E5E86166-C416-B84D-8767-63154A5E6A03}">
      <dsp:nvSpPr>
        <dsp:cNvPr id="0" name=""/>
        <dsp:cNvSpPr/>
      </dsp:nvSpPr>
      <dsp:spPr>
        <a:xfrm>
          <a:off x="0" y="3846633"/>
          <a:ext cx="4522348" cy="41345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latin typeface="Calibri" panose="020F0502020204030204" pitchFamily="34" charset="0"/>
              <a:cs typeface="Calibri" panose="020F0502020204030204" pitchFamily="34" charset="0"/>
            </a:rPr>
            <a:t>Surface-based brightening</a:t>
          </a:r>
          <a:endParaRPr lang="en-US" sz="1800" kern="1200">
            <a:latin typeface="Calibri" panose="020F0502020204030204" pitchFamily="34" charset="0"/>
            <a:cs typeface="Calibri" panose="020F0502020204030204" pitchFamily="34" charset="0"/>
          </a:endParaRPr>
        </a:p>
      </dsp:txBody>
      <dsp:txXfrm>
        <a:off x="20183" y="3866816"/>
        <a:ext cx="4481982" cy="373087"/>
      </dsp:txXfrm>
    </dsp:sp>
    <dsp:sp modelId="{AD545E1F-AA3C-5B49-BEDC-1F0D3A401CE8}">
      <dsp:nvSpPr>
        <dsp:cNvPr id="0" name=""/>
        <dsp:cNvSpPr/>
      </dsp:nvSpPr>
      <dsp:spPr>
        <a:xfrm>
          <a:off x="0" y="4273840"/>
          <a:ext cx="4522348" cy="41345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latin typeface="Calibri" panose="020F0502020204030204" pitchFamily="34" charset="0"/>
              <a:cs typeface="Calibri" panose="020F0502020204030204" pitchFamily="34" charset="0"/>
            </a:rPr>
            <a:t>Direct air CO</a:t>
          </a:r>
          <a:r>
            <a:rPr lang="en-GB" sz="1800" kern="1200" baseline="-25000" dirty="0">
              <a:latin typeface="Calibri" panose="020F0502020204030204" pitchFamily="34" charset="0"/>
              <a:cs typeface="Calibri" panose="020F0502020204030204" pitchFamily="34" charset="0"/>
            </a:rPr>
            <a:t>2</a:t>
          </a:r>
          <a:r>
            <a:rPr lang="en-GB" sz="1800" kern="1200" dirty="0">
              <a:latin typeface="Calibri" panose="020F0502020204030204" pitchFamily="34" charset="0"/>
              <a:cs typeface="Calibri" panose="020F0502020204030204" pitchFamily="34" charset="0"/>
            </a:rPr>
            <a:t> capture and storage (DACCS)</a:t>
          </a:r>
          <a:endParaRPr lang="en-US" sz="1800" kern="1200" dirty="0">
            <a:latin typeface="Calibri" panose="020F0502020204030204" pitchFamily="34" charset="0"/>
            <a:cs typeface="Calibri" panose="020F0502020204030204" pitchFamily="34" charset="0"/>
          </a:endParaRPr>
        </a:p>
      </dsp:txBody>
      <dsp:txXfrm>
        <a:off x="20183" y="4294023"/>
        <a:ext cx="4481982" cy="37308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DC3A1E59-FC68-8182-9326-1A8B19B022A8}"/>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Arial" charset="0"/>
                <a:cs typeface="Arial" charset="0"/>
              </a:defRPr>
            </a:lvl1pPr>
          </a:lstStyle>
          <a:p>
            <a:pPr>
              <a:defRPr/>
            </a:pPr>
            <a:endParaRPr lang="en-US"/>
          </a:p>
        </p:txBody>
      </p:sp>
      <p:sp>
        <p:nvSpPr>
          <p:cNvPr id="72707" name="Rectangle 3">
            <a:extLst>
              <a:ext uri="{FF2B5EF4-FFF2-40B4-BE49-F238E27FC236}">
                <a16:creationId xmlns:a16="http://schemas.microsoft.com/office/drawing/2014/main" id="{9A822786-B715-44CA-0A4B-9CDC484C09F6}"/>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Arial" charset="0"/>
                <a:cs typeface="Arial" charset="0"/>
              </a:defRPr>
            </a:lvl1pPr>
          </a:lstStyle>
          <a:p>
            <a:pPr>
              <a:defRPr/>
            </a:pPr>
            <a:endParaRPr lang="en-US"/>
          </a:p>
        </p:txBody>
      </p:sp>
      <p:sp>
        <p:nvSpPr>
          <p:cNvPr id="72708" name="Rectangle 4">
            <a:extLst>
              <a:ext uri="{FF2B5EF4-FFF2-40B4-BE49-F238E27FC236}">
                <a16:creationId xmlns:a16="http://schemas.microsoft.com/office/drawing/2014/main" id="{6EBF77E7-49E0-9B25-CB2E-B11731A0F293}"/>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Arial" charset="0"/>
                <a:cs typeface="Arial" charset="0"/>
              </a:defRPr>
            </a:lvl1pPr>
          </a:lstStyle>
          <a:p>
            <a:pPr>
              <a:defRPr/>
            </a:pPr>
            <a:endParaRPr lang="en-US"/>
          </a:p>
        </p:txBody>
      </p:sp>
      <p:sp>
        <p:nvSpPr>
          <p:cNvPr id="72709" name="Rectangle 5">
            <a:extLst>
              <a:ext uri="{FF2B5EF4-FFF2-40B4-BE49-F238E27FC236}">
                <a16:creationId xmlns:a16="http://schemas.microsoft.com/office/drawing/2014/main" id="{224CDEE6-180E-2F25-9216-BDD58A599D43}"/>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B4E2D4F9-3838-F541-9414-920067AF9B76}"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C6826FCE-D9DC-CD25-C8FA-FEE3BEEA1966}"/>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Arial" charset="0"/>
                <a:cs typeface="Arial" charset="0"/>
              </a:defRPr>
            </a:lvl1pPr>
          </a:lstStyle>
          <a:p>
            <a:pPr>
              <a:defRPr/>
            </a:pPr>
            <a:endParaRPr lang="en-US"/>
          </a:p>
        </p:txBody>
      </p:sp>
      <p:sp>
        <p:nvSpPr>
          <p:cNvPr id="11267" name="Rectangle 3">
            <a:extLst>
              <a:ext uri="{FF2B5EF4-FFF2-40B4-BE49-F238E27FC236}">
                <a16:creationId xmlns:a16="http://schemas.microsoft.com/office/drawing/2014/main" id="{084DE568-6AC0-AADD-34E6-45A03FCF2767}"/>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Arial" charset="0"/>
                <a:cs typeface="Arial" charset="0"/>
              </a:defRPr>
            </a:lvl1pPr>
          </a:lstStyle>
          <a:p>
            <a:pPr>
              <a:defRPr/>
            </a:pPr>
            <a:endParaRPr lang="en-US"/>
          </a:p>
        </p:txBody>
      </p:sp>
      <p:sp>
        <p:nvSpPr>
          <p:cNvPr id="15364" name="Rectangle 4">
            <a:extLst>
              <a:ext uri="{FF2B5EF4-FFF2-40B4-BE49-F238E27FC236}">
                <a16:creationId xmlns:a16="http://schemas.microsoft.com/office/drawing/2014/main" id="{ADD33F7E-A996-106D-670E-8FCC9DB9F6F7}"/>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a:extLst>
              <a:ext uri="{FF2B5EF4-FFF2-40B4-BE49-F238E27FC236}">
                <a16:creationId xmlns:a16="http://schemas.microsoft.com/office/drawing/2014/main" id="{F4574F0B-7796-8223-298C-86F42070159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a:extLst>
              <a:ext uri="{FF2B5EF4-FFF2-40B4-BE49-F238E27FC236}">
                <a16:creationId xmlns:a16="http://schemas.microsoft.com/office/drawing/2014/main" id="{8020E217-F1D8-9C67-876D-F1FC54FCD76A}"/>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Arial" charset="0"/>
                <a:cs typeface="Arial" charset="0"/>
              </a:defRPr>
            </a:lvl1pPr>
          </a:lstStyle>
          <a:p>
            <a:pPr>
              <a:defRPr/>
            </a:pPr>
            <a:endParaRPr lang="en-US"/>
          </a:p>
        </p:txBody>
      </p:sp>
      <p:sp>
        <p:nvSpPr>
          <p:cNvPr id="11271" name="Rectangle 7">
            <a:extLst>
              <a:ext uri="{FF2B5EF4-FFF2-40B4-BE49-F238E27FC236}">
                <a16:creationId xmlns:a16="http://schemas.microsoft.com/office/drawing/2014/main" id="{2F1A472E-3C7C-A71B-940B-58764F44DC8D}"/>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E40F24B-5F1B-CA4E-9B5E-D0AD9655A5A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Arial" charset="0"/>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Arial" charset="0"/>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Arial" charset="0"/>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Arial" charset="0"/>
        <a:cs typeface="Arial"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DM Sans"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533320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4231491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5442743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7D0DF-9FB6-DCB5-EDC6-D31724AE88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82A454-1A4E-707E-C36D-B82265C1F4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C31353-66A6-3FD1-B0B1-68F5BCD9DE2A}"/>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559D7B-3281-69FD-E16F-DAE2F14A97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635532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504E5-8089-F3C7-0E47-5FB089F7CA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06234E-342A-4B86-E541-20ADF5A20D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D9AD9E-5D97-1A93-9C3A-2470E9BF4AF2}"/>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3EDF87F7-85E2-EF40-16B9-DFFDAFA5D0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2909654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2646817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5F615-36C3-9827-F090-410B392AB2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084793-01D5-B455-0B90-6BAA3F3175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1B315E-1DF4-AB10-CD85-44D81E8F8D7A}"/>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09EF36B-1AC2-2523-9739-5A5B1A7F2C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9731984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AF074-EA4E-AD10-8CC5-56B1453595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388AA1-2028-E6D0-6BD7-AA26A7F2E1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C1C065-2E2C-3A0B-93F8-E888276697F4}"/>
              </a:ext>
            </a:extLst>
          </p:cNvPr>
          <p:cNvSpPr>
            <a:spLocks noGrp="1"/>
          </p:cNvSpPr>
          <p:nvPr>
            <p:ph type="body" idx="1"/>
          </p:nvPr>
        </p:nvSpPr>
        <p:spPr/>
        <p:txBody>
          <a:bodyPr/>
          <a:lstStyle/>
          <a:p>
            <a:endParaRPr lang="en-GB" dirty="0">
              <a:latin typeface="DM Sans" pitchFamily="2" charset="0"/>
            </a:endParaRPr>
          </a:p>
        </p:txBody>
      </p:sp>
      <p:sp>
        <p:nvSpPr>
          <p:cNvPr id="4" name="Slide Number Placeholder 3">
            <a:extLst>
              <a:ext uri="{FF2B5EF4-FFF2-40B4-BE49-F238E27FC236}">
                <a16:creationId xmlns:a16="http://schemas.microsoft.com/office/drawing/2014/main" id="{16EA9EDD-3346-70F6-FAB0-8E6F92EF29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0219561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B5601DCA-DEE1-7120-7CF0-6C74E190C699}"/>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5DE5CE-58B2-7B42-9C1C-A35DBA962B1E}"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673" name="Text Box 1">
            <a:extLst>
              <a:ext uri="{FF2B5EF4-FFF2-40B4-BE49-F238E27FC236}">
                <a16:creationId xmlns:a16="http://schemas.microsoft.com/office/drawing/2014/main" id="{B307081A-925A-E757-27A0-554397BDE612}"/>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8674" name="Text Box 2">
            <a:extLst>
              <a:ext uri="{FF2B5EF4-FFF2-40B4-BE49-F238E27FC236}">
                <a16:creationId xmlns:a16="http://schemas.microsoft.com/office/drawing/2014/main" id="{F54C90E3-1388-5575-6142-7097341F8B70}"/>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F978F2EB-3C0A-84F8-ADC2-07A5D26BBB38}"/>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5EC23D-5214-8440-905A-8726C679D317}"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697" name="Text Box 1">
            <a:extLst>
              <a:ext uri="{FF2B5EF4-FFF2-40B4-BE49-F238E27FC236}">
                <a16:creationId xmlns:a16="http://schemas.microsoft.com/office/drawing/2014/main" id="{913C1E75-4F02-6FA1-15D4-7C14A1A0B99C}"/>
              </a:ext>
            </a:extLst>
          </p:cNvPr>
          <p:cNvSpPr txBox="1">
            <a:spLocks noGrp="1" noRot="1" noChangeAspect="1" noChangeArrowheads="1"/>
          </p:cNvSpPr>
          <p:nvPr>
            <p:ph type="sldImg"/>
          </p:nvPr>
        </p:nvSpPr>
        <p:spPr bwMode="auto">
          <a:xfrm>
            <a:off x="215900" y="812800"/>
            <a:ext cx="7127875"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9698" name="Text Box 2">
            <a:extLst>
              <a:ext uri="{FF2B5EF4-FFF2-40B4-BE49-F238E27FC236}">
                <a16:creationId xmlns:a16="http://schemas.microsoft.com/office/drawing/2014/main" id="{0D8BF1BD-6349-D6CE-5723-8A2029175B56}"/>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83DC447F-5E11-1AE6-5DE0-67BB7EA54023}"/>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BE01B48-FAAA-6F4B-8575-965313D104A6}"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721" name="Text Box 1">
            <a:extLst>
              <a:ext uri="{FF2B5EF4-FFF2-40B4-BE49-F238E27FC236}">
                <a16:creationId xmlns:a16="http://schemas.microsoft.com/office/drawing/2014/main" id="{49C4E360-0FC1-EA9D-91DF-D7680F6DBE49}"/>
              </a:ext>
            </a:extLst>
          </p:cNvPr>
          <p:cNvSpPr txBox="1">
            <a:spLocks noGrp="1" noRot="1" noChangeAspect="1" noChangeArrowheads="1"/>
          </p:cNvSpPr>
          <p:nvPr>
            <p:ph type="sldImg"/>
          </p:nvPr>
        </p:nvSpPr>
        <p:spPr bwMode="auto">
          <a:xfrm>
            <a:off x="215900" y="812800"/>
            <a:ext cx="7127875"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2" name="Text Box 2">
            <a:extLst>
              <a:ext uri="{FF2B5EF4-FFF2-40B4-BE49-F238E27FC236}">
                <a16:creationId xmlns:a16="http://schemas.microsoft.com/office/drawing/2014/main" id="{2942B302-5AEB-0DB8-0751-E5E6D263466D}"/>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E5528CAC-5A8E-3C29-E38D-BC277F59A3A1}"/>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4DE2A1-DFF6-9948-B5A6-9E8A1DEB31AA}"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1745" name="Text Box 1">
            <a:extLst>
              <a:ext uri="{FF2B5EF4-FFF2-40B4-BE49-F238E27FC236}">
                <a16:creationId xmlns:a16="http://schemas.microsoft.com/office/drawing/2014/main" id="{E51FE0AA-4B56-2CA5-12E6-8CC5E08F6840}"/>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6" name="Text Box 2">
            <a:extLst>
              <a:ext uri="{FF2B5EF4-FFF2-40B4-BE49-F238E27FC236}">
                <a16:creationId xmlns:a16="http://schemas.microsoft.com/office/drawing/2014/main" id="{300F375A-A0BF-D4C8-3633-83868DE649AA}"/>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AD1D5BEC-BE4A-6E02-3DE2-A28246437D36}"/>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4FA099E-0593-7047-A869-324554C353BA}"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2769" name="Text Box 1">
            <a:extLst>
              <a:ext uri="{FF2B5EF4-FFF2-40B4-BE49-F238E27FC236}">
                <a16:creationId xmlns:a16="http://schemas.microsoft.com/office/drawing/2014/main" id="{3EF0471F-310C-1A4B-0105-01EF4DB5DD6F}"/>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2770" name="Text Box 2">
            <a:extLst>
              <a:ext uri="{FF2B5EF4-FFF2-40B4-BE49-F238E27FC236}">
                <a16:creationId xmlns:a16="http://schemas.microsoft.com/office/drawing/2014/main" id="{59F04B82-17B8-B742-510F-47872E4FE107}"/>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A4FEE2DB-FAB0-54D2-C531-F945AAB277C4}"/>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C6E58C-5E2F-FF4A-96ED-DEBD0FB9D39C}"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3793" name="Text Box 1">
            <a:extLst>
              <a:ext uri="{FF2B5EF4-FFF2-40B4-BE49-F238E27FC236}">
                <a16:creationId xmlns:a16="http://schemas.microsoft.com/office/drawing/2014/main" id="{9DD70A9E-53C5-1906-217E-421850138581}"/>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794" name="Text Box 2">
            <a:extLst>
              <a:ext uri="{FF2B5EF4-FFF2-40B4-BE49-F238E27FC236}">
                <a16:creationId xmlns:a16="http://schemas.microsoft.com/office/drawing/2014/main" id="{4DE5D803-EC44-3E8C-EB47-C00964BC0688}"/>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6C64302E-411E-5695-88A8-DBFC1D0863B6}"/>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F57D1E-DCB4-0942-9985-875E2DDC941D}"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4817" name="Text Box 1">
            <a:extLst>
              <a:ext uri="{FF2B5EF4-FFF2-40B4-BE49-F238E27FC236}">
                <a16:creationId xmlns:a16="http://schemas.microsoft.com/office/drawing/2014/main" id="{3D9EA5D5-4CC7-C6AB-5E6E-1B1D32DD36A2}"/>
              </a:ext>
            </a:extLst>
          </p:cNvPr>
          <p:cNvSpPr txBox="1">
            <a:spLocks noGrp="1" noRot="1" noChangeAspect="1" noChangeArrowheads="1"/>
          </p:cNvSpPr>
          <p:nvPr>
            <p:ph type="sldImg"/>
          </p:nvPr>
        </p:nvSpPr>
        <p:spPr bwMode="auto">
          <a:xfrm>
            <a:off x="215900" y="812800"/>
            <a:ext cx="7127875"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818" name="Text Box 2">
            <a:extLst>
              <a:ext uri="{FF2B5EF4-FFF2-40B4-BE49-F238E27FC236}">
                <a16:creationId xmlns:a16="http://schemas.microsoft.com/office/drawing/2014/main" id="{BCB58778-590E-5A01-0C39-81F3ADDEB007}"/>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22B94B23-3A31-4D86-42B6-6BC2F0B73AAD}"/>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7CA8BC-5B28-D144-B2B0-476F87AF2815}"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5841" name="Text Box 1">
            <a:extLst>
              <a:ext uri="{FF2B5EF4-FFF2-40B4-BE49-F238E27FC236}">
                <a16:creationId xmlns:a16="http://schemas.microsoft.com/office/drawing/2014/main" id="{7CAE056A-F1AC-63FE-6807-92B05E776BC4}"/>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842" name="Text Box 2">
            <a:extLst>
              <a:ext uri="{FF2B5EF4-FFF2-40B4-BE49-F238E27FC236}">
                <a16:creationId xmlns:a16="http://schemas.microsoft.com/office/drawing/2014/main" id="{AFE5E057-43B1-AEC7-CC66-CCB04F5314C0}"/>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94CBAF4B-9B86-7B20-F4F9-892F83AE1B41}"/>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A7299C-BF7D-AC44-96E7-A155DCAF777E}"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6865" name="Text Box 1">
            <a:extLst>
              <a:ext uri="{FF2B5EF4-FFF2-40B4-BE49-F238E27FC236}">
                <a16:creationId xmlns:a16="http://schemas.microsoft.com/office/drawing/2014/main" id="{1562503F-5247-B965-9222-506BBEAA771D}"/>
              </a:ext>
            </a:extLst>
          </p:cNvPr>
          <p:cNvSpPr txBox="1">
            <a:spLocks noGrp="1" noRot="1" noChangeAspect="1" noChangeArrowheads="1"/>
          </p:cNvSpPr>
          <p:nvPr>
            <p:ph type="sldImg"/>
          </p:nvPr>
        </p:nvSpPr>
        <p:spPr bwMode="auto">
          <a:xfrm>
            <a:off x="215900" y="812800"/>
            <a:ext cx="7127875"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6" name="Text Box 2">
            <a:extLst>
              <a:ext uri="{FF2B5EF4-FFF2-40B4-BE49-F238E27FC236}">
                <a16:creationId xmlns:a16="http://schemas.microsoft.com/office/drawing/2014/main" id="{777043CC-2F59-A891-90E4-BD45F6789AD0}"/>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3FC3CAB3-3736-52DE-20BA-3E367D0B1A38}"/>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E78227-B90F-4244-923D-01B60734BDEF}"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7889" name="Text Box 1">
            <a:extLst>
              <a:ext uri="{FF2B5EF4-FFF2-40B4-BE49-F238E27FC236}">
                <a16:creationId xmlns:a16="http://schemas.microsoft.com/office/drawing/2014/main" id="{728533EA-4E7A-4DA0-2DC7-DE341C3EDD5D}"/>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890" name="Text Box 2">
            <a:extLst>
              <a:ext uri="{FF2B5EF4-FFF2-40B4-BE49-F238E27FC236}">
                <a16:creationId xmlns:a16="http://schemas.microsoft.com/office/drawing/2014/main" id="{9FE267B7-35D6-0361-3FA2-E1D30E02AE51}"/>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47CAE776-88F6-16D9-AAC3-951CA0CF105A}"/>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401B9-8296-A847-8988-16894DB88C0E}"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8913" name="Text Box 1">
            <a:extLst>
              <a:ext uri="{FF2B5EF4-FFF2-40B4-BE49-F238E27FC236}">
                <a16:creationId xmlns:a16="http://schemas.microsoft.com/office/drawing/2014/main" id="{F71DDEF8-082C-5CFD-D1C8-899C75D7936A}"/>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914" name="Text Box 2">
            <a:extLst>
              <a:ext uri="{FF2B5EF4-FFF2-40B4-BE49-F238E27FC236}">
                <a16:creationId xmlns:a16="http://schemas.microsoft.com/office/drawing/2014/main" id="{D3ED762C-2AAF-2FDC-E639-4260404F1764}"/>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49E0D44B-9543-70F4-DDD2-9E927EEC3A1F}"/>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E87010-27CF-3A42-A053-C8AFA0A02FFA}"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9937" name="Text Box 1">
            <a:extLst>
              <a:ext uri="{FF2B5EF4-FFF2-40B4-BE49-F238E27FC236}">
                <a16:creationId xmlns:a16="http://schemas.microsoft.com/office/drawing/2014/main" id="{9A98D64F-FAA4-9713-8794-8727144295BC}"/>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938" name="Text Box 2">
            <a:extLst>
              <a:ext uri="{FF2B5EF4-FFF2-40B4-BE49-F238E27FC236}">
                <a16:creationId xmlns:a16="http://schemas.microsoft.com/office/drawing/2014/main" id="{2C27D25E-2EB7-04D5-4980-69D43DD900B4}"/>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8A463686-7A54-A1E3-6BD3-D2DA3E47990C}"/>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97B705-7FEB-6B46-A179-9E2EACE5C4F5}"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0961" name="Text Box 1">
            <a:extLst>
              <a:ext uri="{FF2B5EF4-FFF2-40B4-BE49-F238E27FC236}">
                <a16:creationId xmlns:a16="http://schemas.microsoft.com/office/drawing/2014/main" id="{4C49E392-0F81-D026-3A66-6986CA111DCC}"/>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0962" name="Text Box 2">
            <a:extLst>
              <a:ext uri="{FF2B5EF4-FFF2-40B4-BE49-F238E27FC236}">
                <a16:creationId xmlns:a16="http://schemas.microsoft.com/office/drawing/2014/main" id="{0DDAA5D5-67FD-3571-5625-3EF2C7177825}"/>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F179A355-D54A-5527-C18C-E1469F0DA70A}"/>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14B9A52-4599-1640-820C-F003ADB987F8}"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1985" name="Text Box 1">
            <a:extLst>
              <a:ext uri="{FF2B5EF4-FFF2-40B4-BE49-F238E27FC236}">
                <a16:creationId xmlns:a16="http://schemas.microsoft.com/office/drawing/2014/main" id="{1DAA5B15-DD9C-D379-9832-A444719A454D}"/>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986" name="Text Box 2">
            <a:extLst>
              <a:ext uri="{FF2B5EF4-FFF2-40B4-BE49-F238E27FC236}">
                <a16:creationId xmlns:a16="http://schemas.microsoft.com/office/drawing/2014/main" id="{0D40CF6A-A666-2E5B-4451-5948845130C8}"/>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EDEA2A56-C210-9E4E-FE23-48C52B6BDD13}"/>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AB2E139-9EA5-834E-B32F-ACC11FF9BD0E}"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3009" name="Text Box 1">
            <a:extLst>
              <a:ext uri="{FF2B5EF4-FFF2-40B4-BE49-F238E27FC236}">
                <a16:creationId xmlns:a16="http://schemas.microsoft.com/office/drawing/2014/main" id="{A065C6EA-1D8D-0B48-67D7-73A37C86FA47}"/>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3010" name="Text Box 2">
            <a:extLst>
              <a:ext uri="{FF2B5EF4-FFF2-40B4-BE49-F238E27FC236}">
                <a16:creationId xmlns:a16="http://schemas.microsoft.com/office/drawing/2014/main" id="{4614E70A-748A-8DBC-6E32-B126C27120BD}"/>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97AEB8D6-63E8-269E-AEF2-B6EC24CB761C}"/>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77E78D-4C96-FD47-8B1A-5825E741EAFC}"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4033" name="Text Box 1">
            <a:extLst>
              <a:ext uri="{FF2B5EF4-FFF2-40B4-BE49-F238E27FC236}">
                <a16:creationId xmlns:a16="http://schemas.microsoft.com/office/drawing/2014/main" id="{F7F212E5-A813-57B6-0718-B47215DBA55E}"/>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4034" name="Text Box 2">
            <a:extLst>
              <a:ext uri="{FF2B5EF4-FFF2-40B4-BE49-F238E27FC236}">
                <a16:creationId xmlns:a16="http://schemas.microsoft.com/office/drawing/2014/main" id="{C242E033-8318-84F7-9570-286E0FB2A0BC}"/>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32296830-B57A-A25D-6AEB-601BB70340E0}"/>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E3A6DA4-88AD-2848-81AB-FE1E4C91329A}"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5057" name="Text Box 1">
            <a:extLst>
              <a:ext uri="{FF2B5EF4-FFF2-40B4-BE49-F238E27FC236}">
                <a16:creationId xmlns:a16="http://schemas.microsoft.com/office/drawing/2014/main" id="{37CB15C6-D174-6E61-D2B0-668DA7E65B9A}"/>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5058" name="Text Box 2">
            <a:extLst>
              <a:ext uri="{FF2B5EF4-FFF2-40B4-BE49-F238E27FC236}">
                <a16:creationId xmlns:a16="http://schemas.microsoft.com/office/drawing/2014/main" id="{3667B1D9-B944-D792-EB4A-C0D86CA2320B}"/>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0502AAF9-ACE8-9B49-C19D-CFFA91C560CE}"/>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62DB79-4554-1B4E-AD61-0A301204C161}"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6081" name="Text Box 1">
            <a:extLst>
              <a:ext uri="{FF2B5EF4-FFF2-40B4-BE49-F238E27FC236}">
                <a16:creationId xmlns:a16="http://schemas.microsoft.com/office/drawing/2014/main" id="{0659B8BD-E321-3059-D81F-ED3EBB7BB18C}"/>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6082" name="Text Box 2">
            <a:extLst>
              <a:ext uri="{FF2B5EF4-FFF2-40B4-BE49-F238E27FC236}">
                <a16:creationId xmlns:a16="http://schemas.microsoft.com/office/drawing/2014/main" id="{1452B149-5DA1-1A9D-481F-79B4C0314C82}"/>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3C95582C-9E75-0BC8-4CBC-C4E7297ACE83}"/>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F7228D-C1CC-1E49-916C-B94D35198A27}"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7105" name="Text Box 1">
            <a:extLst>
              <a:ext uri="{FF2B5EF4-FFF2-40B4-BE49-F238E27FC236}">
                <a16:creationId xmlns:a16="http://schemas.microsoft.com/office/drawing/2014/main" id="{A45AC750-321F-1001-A80F-AA33BB65E3C8}"/>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7106" name="Text Box 2">
            <a:extLst>
              <a:ext uri="{FF2B5EF4-FFF2-40B4-BE49-F238E27FC236}">
                <a16:creationId xmlns:a16="http://schemas.microsoft.com/office/drawing/2014/main" id="{FF20F2A2-6E94-5C44-28CC-15DE54B70D2D}"/>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AA3D6A70-9F17-7111-CACB-F2D4EB1FA941}"/>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3CA96A-0441-7246-80DC-1C44F5F59C37}"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8129" name="Text Box 1">
            <a:extLst>
              <a:ext uri="{FF2B5EF4-FFF2-40B4-BE49-F238E27FC236}">
                <a16:creationId xmlns:a16="http://schemas.microsoft.com/office/drawing/2014/main" id="{E1045294-43AB-E83C-EF15-B2FCF5646247}"/>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0" name="Text Box 2">
            <a:extLst>
              <a:ext uri="{FF2B5EF4-FFF2-40B4-BE49-F238E27FC236}">
                <a16:creationId xmlns:a16="http://schemas.microsoft.com/office/drawing/2014/main" id="{AE6D35F6-C8EA-11DE-CA6F-1994893D6DDC}"/>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3D00B5AB-5578-C399-4163-AAC294306C70}"/>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68C965-7AFC-264A-A7EE-73C51DFD54BE}"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9153" name="Text Box 1">
            <a:extLst>
              <a:ext uri="{FF2B5EF4-FFF2-40B4-BE49-F238E27FC236}">
                <a16:creationId xmlns:a16="http://schemas.microsoft.com/office/drawing/2014/main" id="{DF8CCB5B-6411-A1A9-C2FE-73A33F91F266}"/>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9154" name="Text Box 2">
            <a:extLst>
              <a:ext uri="{FF2B5EF4-FFF2-40B4-BE49-F238E27FC236}">
                <a16:creationId xmlns:a16="http://schemas.microsoft.com/office/drawing/2014/main" id="{09F8FB83-2280-BBD7-1B70-EF2C4048B059}"/>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A8F5E725-5869-869D-603D-91039F725C83}"/>
              </a:ext>
            </a:extLst>
          </p:cNvPr>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DCB17B-EED9-CD48-82F9-845A8F133B7F}" type="slidenum">
              <a:rPr kumimoji="0" lang="en-GB" alt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alt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0177" name="Text Box 1">
            <a:extLst>
              <a:ext uri="{FF2B5EF4-FFF2-40B4-BE49-F238E27FC236}">
                <a16:creationId xmlns:a16="http://schemas.microsoft.com/office/drawing/2014/main" id="{FD656415-02B2-9022-5DDF-AC593CA74695}"/>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0178" name="Text Box 2">
            <a:extLst>
              <a:ext uri="{FF2B5EF4-FFF2-40B4-BE49-F238E27FC236}">
                <a16:creationId xmlns:a16="http://schemas.microsoft.com/office/drawing/2014/main" id="{71DA9A7A-A282-08CE-B043-619C6CD6A6BD}"/>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2E4FC-52A5-34E5-0C20-E2895E45A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2A200F-7650-5F53-BE5A-2C9CF0007E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637D9-B9F4-6253-5B1F-00F26E8FEC1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15209F3-15DC-95F8-20AA-2AAD5A301F1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2480231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2F6C9-23BD-4C35-C362-1074A4CE57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9CE80-5D5A-458F-5E3E-A47B8BF635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288074-68C6-474D-31B5-EAC4B39CF8F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B91BC6D-6DD8-6950-2F10-33105ADD62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589558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1590E-91BA-10F7-1D5B-9AB978DC06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F2858C-7342-63B6-FB32-655A1BCE11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9E4C25-6FE1-78B1-5461-8D09A8AD3BD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26E1A6A-8B4C-F11F-EE82-35470D0D62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5253264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4F6E8-76BD-D6D2-D5DE-4E2BF96EEA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36BB33-8DD4-6FB2-EB30-096368926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5B7A39-9564-519B-E045-0CEA026033C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7119C1C-C6A3-8D4F-A757-24FAC1C494C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0134031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337CE-C6DD-2307-5E3F-5C8697064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46253A-E028-C431-29AB-80032DA9B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4A6178-40A6-EDAB-261E-74275D1001E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F16371B-9946-B615-49C4-269788A25EE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2879517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6552779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24387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4592994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A3F0F-94DF-CCBE-0F0C-F45C849A5C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F32D12-0F63-A7CC-0261-16DA6362EF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7D3AEF-F3E2-3BE7-D93A-0F8884297CDE}"/>
              </a:ext>
            </a:extLst>
          </p:cNvPr>
          <p:cNvSpPr>
            <a:spLocks noGrp="1"/>
          </p:cNvSpPr>
          <p:nvPr>
            <p:ph type="body" idx="1"/>
          </p:nvPr>
        </p:nvSpPr>
        <p:spPr/>
        <p:txBody>
          <a:bodyPr/>
          <a:lstStyle/>
          <a:p>
            <a:r>
              <a:rPr lang="en-US" dirty="0"/>
              <a:t>The first method I want to</a:t>
            </a:r>
            <a:r>
              <a:rPr lang="en-US" baseline="0" dirty="0"/>
              <a:t> talk about is growing forests and woodlands. This is perhaps the simplest of the removal methods. </a:t>
            </a:r>
          </a:p>
          <a:p>
            <a:endParaRPr lang="en-US" baseline="0" dirty="0"/>
          </a:p>
          <a:p>
            <a:r>
              <a:rPr lang="en-US" baseline="0" dirty="0"/>
              <a:t>When trees grow they naturally absorb carbon dioxide from the atmosphere. </a:t>
            </a:r>
          </a:p>
          <a:p>
            <a:pPr marL="171450" indent="-171450">
              <a:buFontTx/>
              <a:buChar char="-"/>
            </a:pPr>
            <a:r>
              <a:rPr lang="en-US" baseline="0" dirty="0"/>
              <a:t>It takes a forest about 10 years to ramp up to absorbing the maximum amount of carbon it can </a:t>
            </a:r>
          </a:p>
          <a:p>
            <a:pPr marL="171450" indent="-171450">
              <a:buFontTx/>
              <a:buChar char="-"/>
            </a:pPr>
            <a:r>
              <a:rPr lang="en-US" baseline="0" dirty="0"/>
              <a:t>And after 20-100 years the forest reaches what we call maturity, and the amount of carbon it can absorb starts to slow down</a:t>
            </a:r>
          </a:p>
          <a:p>
            <a:pPr marL="171450" indent="-171450">
              <a:buFontTx/>
              <a:buChar char="-"/>
            </a:pPr>
            <a:endParaRPr lang="en-US" baseline="0" dirty="0"/>
          </a:p>
          <a:p>
            <a:pPr marL="0" indent="0">
              <a:buFontTx/>
              <a:buNone/>
            </a:pPr>
            <a:r>
              <a:rPr lang="en-US" baseline="0" dirty="0"/>
              <a:t>We can grow more forests and woodlands – and we can manage our forests better. </a:t>
            </a:r>
          </a:p>
          <a:p>
            <a:pPr marL="0" indent="0">
              <a:buFontTx/>
              <a:buNone/>
            </a:pPr>
            <a:r>
              <a:rPr lang="en-US" baseline="0" dirty="0"/>
              <a:t>e.g. there are ways to remove some tree growth to make room for other trees to grow more successfully. This allows you to increase the overall amount of carbon that can be stored in that forest </a:t>
            </a:r>
          </a:p>
          <a:p>
            <a:endParaRPr lang="en-GB" dirty="0">
              <a:cs typeface="DM Sans"/>
            </a:endParaRPr>
          </a:p>
        </p:txBody>
      </p:sp>
      <p:sp>
        <p:nvSpPr>
          <p:cNvPr id="4" name="Slide Number Placeholder 3">
            <a:extLst>
              <a:ext uri="{FF2B5EF4-FFF2-40B4-BE49-F238E27FC236}">
                <a16:creationId xmlns:a16="http://schemas.microsoft.com/office/drawing/2014/main" id="{7F62EBBA-4DC5-A9C5-3A31-190756FE8A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0207350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61EDA-D734-90FA-C6EB-3864EDD82C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0A5652-FEA9-D365-3A7E-5EDBCB14AC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3BC579-362C-5738-E7DD-0D5569B41F82}"/>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6D92A1CE-FC29-2178-E898-858853B72B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177434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63D64-47A2-92C2-530C-B4DC66F358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9795E-3055-478B-E561-6C407ED2D6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E1D486-690D-5FA4-4841-30E09908D870}"/>
              </a:ext>
            </a:extLst>
          </p:cNvPr>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The second method I want to</a:t>
            </a:r>
            <a:r>
              <a:rPr lang="en-US" baseline="0" dirty="0"/>
              <a:t> talk about is peatlands and wetlands. Like forests this is another natural way of doing greenhouse gas removals. </a:t>
            </a:r>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Peatlands and wetlands are the damp, wet natural habits that we find all around the UK. These habits naturally absorb a lot of carbon. But if they dry out then they release that carbon back into the atmosphere. </a:t>
            </a:r>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What that means is that if we want to use these habitats as a way of removing greenhouse gases from the atmosphere then we need to keep them wet. Often that means restoring these peatlands and wetlands because agricultural practices have deliberately dried them out over time to create farmland. </a:t>
            </a:r>
          </a:p>
          <a:p>
            <a:endParaRPr lang="en-GB" dirty="0">
              <a:cs typeface="DM Sans"/>
            </a:endParaRPr>
          </a:p>
        </p:txBody>
      </p:sp>
      <p:sp>
        <p:nvSpPr>
          <p:cNvPr id="4" name="Slide Number Placeholder 3">
            <a:extLst>
              <a:ext uri="{FF2B5EF4-FFF2-40B4-BE49-F238E27FC236}">
                <a16:creationId xmlns:a16="http://schemas.microsoft.com/office/drawing/2014/main" id="{FDC4E9F3-7752-DE47-1D30-BBE2A3F68C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7777206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EDBB8-A7BF-6B85-F8AF-E696A94A6A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669F92-AC65-67BA-254A-75ABFB9AFF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3F4FF-397F-716A-968B-CE4B3FE9C389}"/>
              </a:ext>
            </a:extLst>
          </p:cNvPr>
          <p:cNvSpPr>
            <a:spLocks noGrp="1"/>
          </p:cNvSpPr>
          <p:nvPr>
            <p:ph type="body" idx="1"/>
          </p:nvPr>
        </p:nvSpPr>
        <p:spPr/>
        <p:txBody>
          <a:bodyPr/>
          <a:lstStyle/>
          <a:p>
            <a:r>
              <a:rPr lang="en-US" dirty="0"/>
              <a:t>The next method</a:t>
            </a:r>
            <a:r>
              <a:rPr lang="en-US" baseline="0" dirty="0"/>
              <a:t> I’m going to talk about is enhancing the storage of carbon in the soil. </a:t>
            </a:r>
          </a:p>
          <a:p>
            <a:endParaRPr lang="en-US" baseline="0" dirty="0"/>
          </a:p>
          <a:p>
            <a:r>
              <a:rPr lang="en-US" baseline="0" dirty="0"/>
              <a:t>Again, like with forests, peatlands and wetlands, the soil naturally stores carbon. </a:t>
            </a:r>
          </a:p>
          <a:p>
            <a:endParaRPr lang="en-US" baseline="0" dirty="0"/>
          </a:p>
          <a:p>
            <a:r>
              <a:rPr lang="en-US" baseline="0" dirty="0"/>
              <a:t>How much carbon the soil can store is affected by:</a:t>
            </a:r>
          </a:p>
          <a:p>
            <a:pPr marL="171450" indent="-171450">
              <a:buFontTx/>
              <a:buChar char="-"/>
            </a:pPr>
            <a:r>
              <a:rPr lang="en-US" baseline="0" dirty="0"/>
              <a:t>How often we disturb the soil (e.g. how often we plough it with machines)</a:t>
            </a:r>
          </a:p>
          <a:p>
            <a:pPr marL="171450" indent="-171450">
              <a:buFontTx/>
              <a:buChar char="-"/>
            </a:pPr>
            <a:r>
              <a:rPr lang="en-US" baseline="0" dirty="0"/>
              <a:t>How much organic material is in the soil. Organic material is things that were living, like plants, that are now dead. So those of you who have gardens may have a compost heap where you put garden waste (hedge trimmings </a:t>
            </a:r>
            <a:r>
              <a:rPr lang="en-US" baseline="0" dirty="0" err="1"/>
              <a:t>etc</a:t>
            </a:r>
            <a:r>
              <a:rPr lang="en-US" baseline="0" dirty="0"/>
              <a:t>). You let that decay a bit and then you dig that back into the soil. That’s organic material. </a:t>
            </a:r>
          </a:p>
          <a:p>
            <a:pPr marL="171450" indent="-171450">
              <a:buFontTx/>
              <a:buChar char="-"/>
            </a:pPr>
            <a:endParaRPr lang="en-US" baseline="0" dirty="0"/>
          </a:p>
          <a:p>
            <a:pPr marL="0" indent="0">
              <a:buFontTx/>
              <a:buNone/>
            </a:pPr>
            <a:r>
              <a:rPr lang="en-US" baseline="0" dirty="0"/>
              <a:t>If we want the soil to be able to store more carbon, we need to disturb it less and it ensure it has more organic materials in it. This is really about changing farming practices:</a:t>
            </a:r>
          </a:p>
          <a:p>
            <a:pPr marL="171450" indent="-171450">
              <a:buFontTx/>
              <a:buChar char="-"/>
            </a:pPr>
            <a:r>
              <a:rPr lang="en-US" baseline="0" dirty="0"/>
              <a:t>Changing ways that crops are grown </a:t>
            </a:r>
          </a:p>
          <a:p>
            <a:pPr marL="171450" indent="-171450">
              <a:buFontTx/>
              <a:buChar char="-"/>
            </a:pPr>
            <a:r>
              <a:rPr lang="en-US" baseline="0" dirty="0"/>
              <a:t>Reducing how often we plough the soil with machines </a:t>
            </a:r>
          </a:p>
          <a:p>
            <a:pPr marL="171450" indent="-171450">
              <a:buFontTx/>
              <a:buChar char="-"/>
            </a:pPr>
            <a:r>
              <a:rPr lang="en-US" baseline="0" dirty="0"/>
              <a:t>Using natural fertilizers rather than artificial ones </a:t>
            </a:r>
          </a:p>
          <a:p>
            <a:endParaRPr lang="en-US" baseline="0" dirty="0"/>
          </a:p>
          <a:p>
            <a:r>
              <a:rPr lang="en-US" baseline="0" dirty="0"/>
              <a:t>Moving on to slide 7</a:t>
            </a:r>
          </a:p>
          <a:p>
            <a:endParaRPr lang="en-US" baseline="0" dirty="0"/>
          </a:p>
          <a:p>
            <a:endParaRPr lang="en-GB" dirty="0">
              <a:cs typeface="DM Sans"/>
            </a:endParaRPr>
          </a:p>
          <a:p>
            <a:endParaRPr lang="en-GB" dirty="0">
              <a:cs typeface="DM Sans"/>
            </a:endParaRPr>
          </a:p>
        </p:txBody>
      </p:sp>
      <p:sp>
        <p:nvSpPr>
          <p:cNvPr id="4" name="Slide Number Placeholder 3">
            <a:extLst>
              <a:ext uri="{FF2B5EF4-FFF2-40B4-BE49-F238E27FC236}">
                <a16:creationId xmlns:a16="http://schemas.microsoft.com/office/drawing/2014/main" id="{0B6D5801-162C-5191-1A33-FE0C0ACFFA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8800348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7830437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B617B-7CCE-FB9F-E837-1E2F89FA3B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B3C8D6-5C9E-6548-392C-12F70DB929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04E3C9-ED5B-DB92-2A7D-6BD63E5AC22E}"/>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06155438-FA28-1AA0-284C-6274B5DCAE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5224360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97258-8727-AC99-8ED5-D17ECDCE6E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663365-6759-0CFE-7B61-20B80FE2AA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B35DC8-97BE-741D-48D1-3CD235C2766A}"/>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03C7DEF0-76F5-9BB0-F299-CE225CEF27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9087950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FA2EA-9166-686A-E45C-D7BE7C7197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2A4E82-74F1-8830-D20F-E1097AECAE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44B2F1-C539-FA09-98C7-96CA1481C41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A95070FE-1D44-2651-AF56-9AECABC5D8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9882174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AA061-60AB-39FD-6FC0-139DB4E5AB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A5F5E-2CA5-2498-C67C-E2AC997A0B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F47208-DD69-C971-2D68-817095F43BB8}"/>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B3DF4FB6-3880-49B3-C4BA-2604D957C9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5412452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6675128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DDE4D-8B19-C784-84A5-78313D3B01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91D369-6702-4041-713B-9EF47CCB8D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FBA9C-6B71-E521-3EAC-2C0FE6197FEE}"/>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90EC608F-06C3-6E69-3251-2AE011C93F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556635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B213C-69AB-0E3B-CDC1-87C64A3F683B}"/>
            </a:ext>
          </a:extLst>
        </p:cNvPr>
        <p:cNvGrpSpPr/>
        <p:nvPr/>
      </p:nvGrpSpPr>
      <p:grpSpPr>
        <a:xfrm>
          <a:off x="0" y="0"/>
          <a:ext cx="0" cy="0"/>
          <a:chOff x="0" y="0"/>
          <a:chExt cx="0" cy="0"/>
        </a:xfrm>
      </p:grpSpPr>
      <p:sp>
        <p:nvSpPr>
          <p:cNvPr id="65537" name="Rectangle 7">
            <a:extLst>
              <a:ext uri="{FF2B5EF4-FFF2-40B4-BE49-F238E27FC236}">
                <a16:creationId xmlns:a16="http://schemas.microsoft.com/office/drawing/2014/main" id="{D9FBE0F3-77DF-AC07-7C18-8C4C8CFF8D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E9A0C49-509C-5F46-9879-66CBB1041243}" type="slidenum">
              <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51</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65538" name="Rectangle 2">
            <a:extLst>
              <a:ext uri="{FF2B5EF4-FFF2-40B4-BE49-F238E27FC236}">
                <a16:creationId xmlns:a16="http://schemas.microsoft.com/office/drawing/2014/main" id="{213D749D-FAC8-D4BF-7337-C8672E9A81A9}"/>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096C1E67-7BBA-85C9-3257-3766CFF05F84}"/>
              </a:ext>
            </a:extLst>
          </p:cNvPr>
          <p:cNvSpPr>
            <a:spLocks noGrp="1" noChangeArrowheads="1"/>
          </p:cNvSpPr>
          <p:nvPr>
            <p:ph type="body" idx="1"/>
          </p:nvPr>
        </p:nvSpPr>
        <p:spPr>
          <a:xfrm>
            <a:off x="730250" y="4560888"/>
            <a:ext cx="585470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endParaRPr lang="en-GB" altLang="en-US" sz="1200" dirty="0">
              <a:latin typeface="Times New Roman" panose="02020603050405020304" pitchFamily="18" charset="0"/>
            </a:endParaRPr>
          </a:p>
        </p:txBody>
      </p:sp>
    </p:spTree>
    <p:extLst>
      <p:ext uri="{BB962C8B-B14F-4D97-AF65-F5344CB8AC3E}">
        <p14:creationId xmlns:p14="http://schemas.microsoft.com/office/powerpoint/2010/main" val="353825218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6FB5A-E1A9-FC8A-2118-5C6A8C5E0047}"/>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F3AB7384-3B4A-A0CE-77FA-AB7D4BE8991C}"/>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9E752A68-FF6F-8FC5-D52D-C41CABC398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8FDC3139-D055-4EE5-BA8D-9C72836D53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9B20F9-B0C9-4C43-AA44-6686FCE3390A}" type="slidenum">
              <a:rPr kumimoji="0" lang="en-GB"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8958402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31E4D-2DAB-4871-92D0-23CCBE3216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0D023-2691-83E4-AF0A-2EFCE909D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BC22AD-45AE-AD2B-52FF-51C3BEDF0B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Post-training evaluation survey</a:t>
            </a:r>
          </a:p>
          <a:p>
            <a:endParaRPr lang="en-GB" dirty="0"/>
          </a:p>
        </p:txBody>
      </p:sp>
      <p:sp>
        <p:nvSpPr>
          <p:cNvPr id="4" name="Slide Number Placeholder 3">
            <a:extLst>
              <a:ext uri="{FF2B5EF4-FFF2-40B4-BE49-F238E27FC236}">
                <a16:creationId xmlns:a16="http://schemas.microsoft.com/office/drawing/2014/main" id="{0AADD95E-C9D2-C4A8-A40B-7103171A9CF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85118640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7200707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A4E1C-9AD2-87F5-C0C6-BA7C222C60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3EC61B-071B-C379-F2C1-5DCBD23DD0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C4FF92-DE46-6AC9-9100-452E3594941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F3A29A5-A20A-2BBD-9F63-0B8B4C2566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18158899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702BB-BBC1-20AD-B89C-3A667F43F7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DD6EA-E2F7-CA60-46CA-69B77FC12C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BC9D01-8EEE-AEAB-DB54-B2288803CCB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1A1B217-CD14-8005-BE5B-E2B5FD36CB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8034758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32DC6-6F1C-D5D9-AC97-BB36BAE1F0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3FDBFE-CB7F-DFE9-B8E5-FD7267E8D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F2796-42A7-DAB2-914C-9D247206236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1B1B01D-0E54-6FCE-9EEC-5AD9DC2707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7502383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71777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15154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63283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33815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38785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52930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2942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64919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73683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67324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846116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781713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76325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064121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02555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419661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97639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602919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456784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610970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777832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805942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609600" y="1600201"/>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CA130A59-24D6-BF44-B4BD-970B6853F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2DA918-BA26-C842-8E1E-1ED32CE274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F81648-DEEE-D640-983E-74FC943C9CDF}"/>
              </a:ext>
            </a:extLst>
          </p:cNvPr>
          <p:cNvSpPr>
            <a:spLocks noGrp="1" noChangeArrowheads="1"/>
          </p:cNvSpPr>
          <p:nvPr>
            <p:ph type="sldNum" sz="quarter" idx="12"/>
          </p:nvPr>
        </p:nvSpPr>
        <p:spPr>
          <a:ln/>
        </p:spPr>
        <p:txBody>
          <a:bodyPr/>
          <a:lstStyle>
            <a:lvl1pPr>
              <a:defRPr/>
            </a:lvl1pPr>
          </a:lstStyle>
          <a:p>
            <a:fld id="{7F318B0F-B1AF-594B-AA89-D1C92B2445CC}" type="slidenum">
              <a:rPr lang="en-US" altLang="en-US"/>
              <a:pPr/>
              <a:t>‹#›</a:t>
            </a:fld>
            <a:endParaRPr lang="en-US" altLang="en-US"/>
          </a:p>
        </p:txBody>
      </p:sp>
    </p:spTree>
    <p:extLst>
      <p:ext uri="{BB962C8B-B14F-4D97-AF65-F5344CB8AC3E}">
        <p14:creationId xmlns:p14="http://schemas.microsoft.com/office/powerpoint/2010/main" val="313343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8"/>
            <a:ext cx="10972800" cy="58515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Rectangle 4">
            <a:extLst>
              <a:ext uri="{FF2B5EF4-FFF2-40B4-BE49-F238E27FC236}">
                <a16:creationId xmlns:a16="http://schemas.microsoft.com/office/drawing/2014/main" id="{A78232EC-B2A8-C143-ACB0-89F0E5D889B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E5602903-C5EA-6C4C-B5F2-B86D2D565E1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BF1A0A5-AD10-2340-BC89-9D16FDAD00D9}"/>
              </a:ext>
            </a:extLst>
          </p:cNvPr>
          <p:cNvSpPr>
            <a:spLocks noGrp="1" noChangeArrowheads="1"/>
          </p:cNvSpPr>
          <p:nvPr>
            <p:ph type="sldNum" sz="quarter" idx="12"/>
          </p:nvPr>
        </p:nvSpPr>
        <p:spPr>
          <a:ln/>
        </p:spPr>
        <p:txBody>
          <a:bodyPr/>
          <a:lstStyle>
            <a:lvl1pPr>
              <a:defRPr/>
            </a:lvl1pPr>
          </a:lstStyle>
          <a:p>
            <a:fld id="{96A68D32-FF93-834A-B58C-1FA432242830}" type="slidenum">
              <a:rPr lang="en-US" altLang="en-US"/>
              <a:pPr/>
              <a:t>‹#›</a:t>
            </a:fld>
            <a:endParaRPr lang="en-US" altLang="en-US"/>
          </a:p>
        </p:txBody>
      </p:sp>
    </p:spTree>
    <p:extLst>
      <p:ext uri="{BB962C8B-B14F-4D97-AF65-F5344CB8AC3E}">
        <p14:creationId xmlns:p14="http://schemas.microsoft.com/office/powerpoint/2010/main" val="40118355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228635" indent="0" algn="ctr">
              <a:buNone/>
              <a:defRPr>
                <a:solidFill>
                  <a:schemeClr val="tx1">
                    <a:tint val="75000"/>
                  </a:schemeClr>
                </a:solidFill>
              </a:defRPr>
            </a:lvl2pPr>
            <a:lvl3pPr marL="457269" indent="0" algn="ctr">
              <a:buNone/>
              <a:defRPr>
                <a:solidFill>
                  <a:schemeClr val="tx1">
                    <a:tint val="75000"/>
                  </a:schemeClr>
                </a:solidFill>
              </a:defRPr>
            </a:lvl3pPr>
            <a:lvl4pPr marL="685904" indent="0" algn="ctr">
              <a:buNone/>
              <a:defRPr>
                <a:solidFill>
                  <a:schemeClr val="tx1">
                    <a:tint val="75000"/>
                  </a:schemeClr>
                </a:solidFill>
              </a:defRPr>
            </a:lvl4pPr>
            <a:lvl5pPr marL="914538" indent="0" algn="ctr">
              <a:buNone/>
              <a:defRPr>
                <a:solidFill>
                  <a:schemeClr val="tx1">
                    <a:tint val="75000"/>
                  </a:schemeClr>
                </a:solidFill>
              </a:defRPr>
            </a:lvl5pPr>
            <a:lvl6pPr marL="1143171" indent="0" algn="ctr">
              <a:buNone/>
              <a:defRPr>
                <a:solidFill>
                  <a:schemeClr val="tx1">
                    <a:tint val="75000"/>
                  </a:schemeClr>
                </a:solidFill>
              </a:defRPr>
            </a:lvl6pPr>
            <a:lvl7pPr marL="1371806" indent="0" algn="ctr">
              <a:buNone/>
              <a:defRPr>
                <a:solidFill>
                  <a:schemeClr val="tx1">
                    <a:tint val="75000"/>
                  </a:schemeClr>
                </a:solidFill>
              </a:defRPr>
            </a:lvl7pPr>
            <a:lvl8pPr marL="1600440" indent="0" algn="ctr">
              <a:buNone/>
              <a:defRPr>
                <a:solidFill>
                  <a:schemeClr val="tx1">
                    <a:tint val="75000"/>
                  </a:schemeClr>
                </a:solidFill>
              </a:defRPr>
            </a:lvl8pPr>
            <a:lvl9pPr marL="182907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783100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490362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3" y="2937934"/>
            <a:ext cx="5181600" cy="908050"/>
          </a:xfrm>
        </p:spPr>
        <p:txBody>
          <a:bodyPr anchor="t"/>
          <a:lstStyle>
            <a:lvl1pPr algn="l">
              <a:defRPr sz="2000" b="1" cap="all"/>
            </a:lvl1pPr>
          </a:lstStyle>
          <a:p>
            <a:r>
              <a:rPr lang="en-US"/>
              <a:t>Click to edit Master title style</a:t>
            </a:r>
          </a:p>
        </p:txBody>
      </p:sp>
      <p:sp>
        <p:nvSpPr>
          <p:cNvPr id="3" name="Text Placeholder 2"/>
          <p:cNvSpPr>
            <a:spLocks noGrp="1"/>
          </p:cNvSpPr>
          <p:nvPr>
            <p:ph type="body" idx="1"/>
          </p:nvPr>
        </p:nvSpPr>
        <p:spPr>
          <a:xfrm>
            <a:off x="481543" y="1937809"/>
            <a:ext cx="5181600" cy="1000125"/>
          </a:xfrm>
        </p:spPr>
        <p:txBody>
          <a:bodyPr anchor="b"/>
          <a:lstStyle>
            <a:lvl1pPr marL="0" indent="0">
              <a:buNone/>
              <a:defRPr sz="1000">
                <a:solidFill>
                  <a:schemeClr val="tx1">
                    <a:tint val="75000"/>
                  </a:schemeClr>
                </a:solidFill>
              </a:defRPr>
            </a:lvl1pPr>
            <a:lvl2pPr marL="228635" indent="0">
              <a:buNone/>
              <a:defRPr sz="900">
                <a:solidFill>
                  <a:schemeClr val="tx1">
                    <a:tint val="75000"/>
                  </a:schemeClr>
                </a:solidFill>
              </a:defRPr>
            </a:lvl2pPr>
            <a:lvl3pPr marL="457269" indent="0">
              <a:buNone/>
              <a:defRPr sz="800">
                <a:solidFill>
                  <a:schemeClr val="tx1">
                    <a:tint val="75000"/>
                  </a:schemeClr>
                </a:solidFill>
              </a:defRPr>
            </a:lvl3pPr>
            <a:lvl4pPr marL="685904" indent="0">
              <a:buNone/>
              <a:defRPr sz="700">
                <a:solidFill>
                  <a:schemeClr val="tx1">
                    <a:tint val="75000"/>
                  </a:schemeClr>
                </a:solidFill>
              </a:defRPr>
            </a:lvl4pPr>
            <a:lvl5pPr marL="914538" indent="0">
              <a:buNone/>
              <a:defRPr sz="700">
                <a:solidFill>
                  <a:schemeClr val="tx1">
                    <a:tint val="75000"/>
                  </a:schemeClr>
                </a:solidFill>
              </a:defRPr>
            </a:lvl5pPr>
            <a:lvl6pPr marL="1143171" indent="0">
              <a:buNone/>
              <a:defRPr sz="700">
                <a:solidFill>
                  <a:schemeClr val="tx1">
                    <a:tint val="75000"/>
                  </a:schemeClr>
                </a:solidFill>
              </a:defRPr>
            </a:lvl6pPr>
            <a:lvl7pPr marL="1371806" indent="0">
              <a:buNone/>
              <a:defRPr sz="700">
                <a:solidFill>
                  <a:schemeClr val="tx1">
                    <a:tint val="75000"/>
                  </a:schemeClr>
                </a:solidFill>
              </a:defRPr>
            </a:lvl7pPr>
            <a:lvl8pPr marL="1600440" indent="0">
              <a:buNone/>
              <a:defRPr sz="700">
                <a:solidFill>
                  <a:schemeClr val="tx1">
                    <a:tint val="75000"/>
                  </a:schemeClr>
                </a:solidFill>
              </a:defRPr>
            </a:lvl8pPr>
            <a:lvl9pPr marL="1829075" indent="0">
              <a:buNone/>
              <a:defRPr sz="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666609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2"/>
            <a:ext cx="26924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2"/>
            <a:ext cx="26924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268163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3" y="1023409"/>
            <a:ext cx="2693459" cy="426508"/>
          </a:xfrm>
        </p:spPr>
        <p:txBody>
          <a:bodyPr anchor="b"/>
          <a:lstStyle>
            <a:lvl1pPr marL="0" indent="0">
              <a:buNone/>
              <a:defRPr sz="1200" b="1"/>
            </a:lvl1pPr>
            <a:lvl2pPr marL="228635" indent="0">
              <a:buNone/>
              <a:defRPr sz="1000" b="1"/>
            </a:lvl2pPr>
            <a:lvl3pPr marL="457269" indent="0">
              <a:buNone/>
              <a:defRPr sz="900" b="1"/>
            </a:lvl3pPr>
            <a:lvl4pPr marL="685904" indent="0">
              <a:buNone/>
              <a:defRPr sz="800" b="1"/>
            </a:lvl4pPr>
            <a:lvl5pPr marL="914538" indent="0">
              <a:buNone/>
              <a:defRPr sz="800" b="1"/>
            </a:lvl5pPr>
            <a:lvl6pPr marL="1143171" indent="0">
              <a:buNone/>
              <a:defRPr sz="800" b="1"/>
            </a:lvl6pPr>
            <a:lvl7pPr marL="1371806" indent="0">
              <a:buNone/>
              <a:defRPr sz="800" b="1"/>
            </a:lvl7pPr>
            <a:lvl8pPr marL="1600440" indent="0">
              <a:buNone/>
              <a:defRPr sz="800" b="1"/>
            </a:lvl8pPr>
            <a:lvl9pPr marL="1829075" indent="0">
              <a:buNone/>
              <a:defRPr sz="800" b="1"/>
            </a:lvl9pPr>
          </a:lstStyle>
          <a:p>
            <a:pPr lvl="0"/>
            <a:r>
              <a:rPr lang="en-US"/>
              <a:t>Click to edit Master text styles</a:t>
            </a:r>
          </a:p>
        </p:txBody>
      </p:sp>
      <p:sp>
        <p:nvSpPr>
          <p:cNvPr id="4" name="Content Placeholder 3"/>
          <p:cNvSpPr>
            <a:spLocks noGrp="1"/>
          </p:cNvSpPr>
          <p:nvPr>
            <p:ph sz="half" idx="2"/>
          </p:nvPr>
        </p:nvSpPr>
        <p:spPr>
          <a:xfrm>
            <a:off x="304803" y="1449917"/>
            <a:ext cx="2693459"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6" y="1023409"/>
            <a:ext cx="2694517" cy="426508"/>
          </a:xfrm>
        </p:spPr>
        <p:txBody>
          <a:bodyPr anchor="b"/>
          <a:lstStyle>
            <a:lvl1pPr marL="0" indent="0">
              <a:buNone/>
              <a:defRPr sz="1200" b="1"/>
            </a:lvl1pPr>
            <a:lvl2pPr marL="228635" indent="0">
              <a:buNone/>
              <a:defRPr sz="1000" b="1"/>
            </a:lvl2pPr>
            <a:lvl3pPr marL="457269" indent="0">
              <a:buNone/>
              <a:defRPr sz="900" b="1"/>
            </a:lvl3pPr>
            <a:lvl4pPr marL="685904" indent="0">
              <a:buNone/>
              <a:defRPr sz="800" b="1"/>
            </a:lvl4pPr>
            <a:lvl5pPr marL="914538" indent="0">
              <a:buNone/>
              <a:defRPr sz="800" b="1"/>
            </a:lvl5pPr>
            <a:lvl6pPr marL="1143171" indent="0">
              <a:buNone/>
              <a:defRPr sz="800" b="1"/>
            </a:lvl6pPr>
            <a:lvl7pPr marL="1371806" indent="0">
              <a:buNone/>
              <a:defRPr sz="800" b="1"/>
            </a:lvl7pPr>
            <a:lvl8pPr marL="1600440" indent="0">
              <a:buNone/>
              <a:defRPr sz="800" b="1"/>
            </a:lvl8pPr>
            <a:lvl9pPr marL="1829075" indent="0">
              <a:buNone/>
              <a:defRPr sz="800" b="1"/>
            </a:lvl9pPr>
          </a:lstStyle>
          <a:p>
            <a:pPr lvl="0"/>
            <a:r>
              <a:rPr lang="en-US"/>
              <a:t>Click to edit Master text styles</a:t>
            </a:r>
          </a:p>
        </p:txBody>
      </p:sp>
      <p:sp>
        <p:nvSpPr>
          <p:cNvPr id="6" name="Content Placeholder 5"/>
          <p:cNvSpPr>
            <a:spLocks noGrp="1"/>
          </p:cNvSpPr>
          <p:nvPr>
            <p:ph sz="quarter" idx="4"/>
          </p:nvPr>
        </p:nvSpPr>
        <p:spPr>
          <a:xfrm>
            <a:off x="3096686" y="1449917"/>
            <a:ext cx="2694517"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972065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946455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982964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3" y="182033"/>
            <a:ext cx="2005543" cy="774700"/>
          </a:xfrm>
        </p:spPr>
        <p:txBody>
          <a:bodyPr anchor="b"/>
          <a:lstStyle>
            <a:lvl1pPr algn="l">
              <a:defRPr sz="1000" b="1"/>
            </a:lvl1pPr>
          </a:lstStyle>
          <a:p>
            <a:r>
              <a:rPr lang="en-US"/>
              <a:t>Click to edit Master title style</a:t>
            </a:r>
          </a:p>
        </p:txBody>
      </p:sp>
      <p:sp>
        <p:nvSpPr>
          <p:cNvPr id="3" name="Content Placeholder 2"/>
          <p:cNvSpPr>
            <a:spLocks noGrp="1"/>
          </p:cNvSpPr>
          <p:nvPr>
            <p:ph idx="1"/>
          </p:nvPr>
        </p:nvSpPr>
        <p:spPr>
          <a:xfrm>
            <a:off x="2383371" y="182038"/>
            <a:ext cx="3407833" cy="390207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3" y="956736"/>
            <a:ext cx="2005543" cy="3127375"/>
          </a:xfrm>
        </p:spPr>
        <p:txBody>
          <a:bodyPr/>
          <a:lstStyle>
            <a:lvl1pPr marL="0" indent="0">
              <a:buNone/>
              <a:defRPr sz="700"/>
            </a:lvl1pPr>
            <a:lvl2pPr marL="228635" indent="0">
              <a:buNone/>
              <a:defRPr sz="600"/>
            </a:lvl2pPr>
            <a:lvl3pPr marL="457269" indent="0">
              <a:buNone/>
              <a:defRPr sz="500"/>
            </a:lvl3pPr>
            <a:lvl4pPr marL="685904" indent="0">
              <a:buNone/>
              <a:defRPr sz="450"/>
            </a:lvl4pPr>
            <a:lvl5pPr marL="914538" indent="0">
              <a:buNone/>
              <a:defRPr sz="450"/>
            </a:lvl5pPr>
            <a:lvl6pPr marL="1143171" indent="0">
              <a:buNone/>
              <a:defRPr sz="450"/>
            </a:lvl6pPr>
            <a:lvl7pPr marL="1371806" indent="0">
              <a:buNone/>
              <a:defRPr sz="450"/>
            </a:lvl7pPr>
            <a:lvl8pPr marL="1600440" indent="0">
              <a:buNone/>
              <a:defRPr sz="450"/>
            </a:lvl8pPr>
            <a:lvl9pPr marL="1829075"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003819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4"/>
            <a:ext cx="3657600" cy="377825"/>
          </a:xfrm>
        </p:spPr>
        <p:txBody>
          <a:bodyPr anchor="b"/>
          <a:lstStyle>
            <a:lvl1pPr algn="l">
              <a:defRPr sz="1000"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1600"/>
            </a:lvl1pPr>
            <a:lvl2pPr marL="228635" indent="0">
              <a:buNone/>
              <a:defRPr sz="1400"/>
            </a:lvl2pPr>
            <a:lvl3pPr marL="457269" indent="0">
              <a:buNone/>
              <a:defRPr sz="1200"/>
            </a:lvl3pPr>
            <a:lvl4pPr marL="685904" indent="0">
              <a:buNone/>
              <a:defRPr sz="1000"/>
            </a:lvl4pPr>
            <a:lvl5pPr marL="914538" indent="0">
              <a:buNone/>
              <a:defRPr sz="1000"/>
            </a:lvl5pPr>
            <a:lvl6pPr marL="1143171" indent="0">
              <a:buNone/>
              <a:defRPr sz="1000"/>
            </a:lvl6pPr>
            <a:lvl7pPr marL="1371806" indent="0">
              <a:buNone/>
              <a:defRPr sz="1000"/>
            </a:lvl7pPr>
            <a:lvl8pPr marL="1600440" indent="0">
              <a:buNone/>
              <a:defRPr sz="1000"/>
            </a:lvl8pPr>
            <a:lvl9pPr marL="1829075" indent="0">
              <a:buNone/>
              <a:defRPr sz="1000"/>
            </a:lvl9pPr>
          </a:lstStyle>
          <a:p>
            <a:endParaRPr lang="en-US"/>
          </a:p>
        </p:txBody>
      </p:sp>
      <p:sp>
        <p:nvSpPr>
          <p:cNvPr id="4" name="Text Placeholder 3"/>
          <p:cNvSpPr>
            <a:spLocks noGrp="1"/>
          </p:cNvSpPr>
          <p:nvPr>
            <p:ph type="body" sz="half" idx="2"/>
          </p:nvPr>
        </p:nvSpPr>
        <p:spPr>
          <a:xfrm>
            <a:off x="1194859" y="3578229"/>
            <a:ext cx="3657600" cy="536575"/>
          </a:xfrm>
        </p:spPr>
        <p:txBody>
          <a:bodyPr/>
          <a:lstStyle>
            <a:lvl1pPr marL="0" indent="0">
              <a:buNone/>
              <a:defRPr sz="700"/>
            </a:lvl1pPr>
            <a:lvl2pPr marL="228635" indent="0">
              <a:buNone/>
              <a:defRPr sz="600"/>
            </a:lvl2pPr>
            <a:lvl3pPr marL="457269" indent="0">
              <a:buNone/>
              <a:defRPr sz="500"/>
            </a:lvl3pPr>
            <a:lvl4pPr marL="685904" indent="0">
              <a:buNone/>
              <a:defRPr sz="450"/>
            </a:lvl4pPr>
            <a:lvl5pPr marL="914538" indent="0">
              <a:buNone/>
              <a:defRPr sz="450"/>
            </a:lvl5pPr>
            <a:lvl6pPr marL="1143171" indent="0">
              <a:buNone/>
              <a:defRPr sz="450"/>
            </a:lvl6pPr>
            <a:lvl7pPr marL="1371806" indent="0">
              <a:buNone/>
              <a:defRPr sz="450"/>
            </a:lvl7pPr>
            <a:lvl8pPr marL="1600440" indent="0">
              <a:buNone/>
              <a:defRPr sz="450"/>
            </a:lvl8pPr>
            <a:lvl9pPr marL="1829075"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441417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748049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114715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609600" y="1600205"/>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5"/>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CA130A59-24D6-BF44-B4BD-970B6853F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2DA918-BA26-C842-8E1E-1ED32CE274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F81648-DEEE-D640-983E-74FC943C9CDF}"/>
              </a:ext>
            </a:extLst>
          </p:cNvPr>
          <p:cNvSpPr>
            <a:spLocks noGrp="1" noChangeArrowheads="1"/>
          </p:cNvSpPr>
          <p:nvPr>
            <p:ph type="sldNum" sz="quarter" idx="12"/>
          </p:nvPr>
        </p:nvSpPr>
        <p:spPr>
          <a:ln/>
        </p:spPr>
        <p:txBody>
          <a:bodyPr/>
          <a:lstStyle>
            <a:lvl1pPr>
              <a:defRPr/>
            </a:lvl1pPr>
          </a:lstStyle>
          <a:p>
            <a:fld id="{7F318B0F-B1AF-594B-AA89-D1C92B2445CC}" type="slidenum">
              <a:rPr lang="en-US" altLang="en-US"/>
              <a:pPr/>
              <a:t>‹#›</a:t>
            </a:fld>
            <a:endParaRPr lang="en-US" altLang="en-US"/>
          </a:p>
        </p:txBody>
      </p:sp>
    </p:spTree>
    <p:extLst>
      <p:ext uri="{BB962C8B-B14F-4D97-AF65-F5344CB8AC3E}">
        <p14:creationId xmlns:p14="http://schemas.microsoft.com/office/powerpoint/2010/main" val="30502324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Rectangle 4">
            <a:extLst>
              <a:ext uri="{FF2B5EF4-FFF2-40B4-BE49-F238E27FC236}">
                <a16:creationId xmlns:a16="http://schemas.microsoft.com/office/drawing/2014/main" id="{A78232EC-B2A8-C143-ACB0-89F0E5D889B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E5602903-C5EA-6C4C-B5F2-B86D2D565E1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BF1A0A5-AD10-2340-BC89-9D16FDAD00D9}"/>
              </a:ext>
            </a:extLst>
          </p:cNvPr>
          <p:cNvSpPr>
            <a:spLocks noGrp="1" noChangeArrowheads="1"/>
          </p:cNvSpPr>
          <p:nvPr>
            <p:ph type="sldNum" sz="quarter" idx="12"/>
          </p:nvPr>
        </p:nvSpPr>
        <p:spPr>
          <a:ln/>
        </p:spPr>
        <p:txBody>
          <a:bodyPr/>
          <a:lstStyle>
            <a:lvl1pPr>
              <a:defRPr/>
            </a:lvl1pPr>
          </a:lstStyle>
          <a:p>
            <a:fld id="{96A68D32-FF93-834A-B58C-1FA432242830}" type="slidenum">
              <a:rPr lang="en-US" altLang="en-US"/>
              <a:pPr/>
              <a:t>‹#›</a:t>
            </a:fld>
            <a:endParaRPr lang="en-US" altLang="en-US"/>
          </a:p>
        </p:txBody>
      </p:sp>
    </p:spTree>
    <p:extLst>
      <p:ext uri="{BB962C8B-B14F-4D97-AF65-F5344CB8AC3E}">
        <p14:creationId xmlns:p14="http://schemas.microsoft.com/office/powerpoint/2010/main" val="350258341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310E1-3A67-D180-D9F3-E1004DFEF0A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06609E4-E9DC-2858-15EF-343D106D2F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5E4C307-EDC9-1FEC-3893-D8FFC57CC8C2}"/>
              </a:ext>
            </a:extLst>
          </p:cNvPr>
          <p:cNvSpPr>
            <a:spLocks noGrp="1"/>
          </p:cNvSpPr>
          <p:nvPr>
            <p:ph type="dt" sz="half" idx="10"/>
          </p:nvPr>
        </p:nvSpPr>
        <p:spPr/>
        <p:txBody>
          <a:bodyPr/>
          <a:lstStyle/>
          <a:p>
            <a:fld id="{E5A1849F-D95A-DD49-842A-596B3B71D718}" type="datetimeFigureOut">
              <a:rPr lang="en-US" smtClean="0"/>
              <a:t>4/28/26</a:t>
            </a:fld>
            <a:endParaRPr lang="en-US"/>
          </a:p>
        </p:txBody>
      </p:sp>
      <p:sp>
        <p:nvSpPr>
          <p:cNvPr id="5" name="Footer Placeholder 4">
            <a:extLst>
              <a:ext uri="{FF2B5EF4-FFF2-40B4-BE49-F238E27FC236}">
                <a16:creationId xmlns:a16="http://schemas.microsoft.com/office/drawing/2014/main" id="{20D6671F-2B93-7E40-CC57-4A791EAD7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C01001-EE3B-B7B0-EBD2-0D7A5F2E8D14}"/>
              </a:ext>
            </a:extLst>
          </p:cNvPr>
          <p:cNvSpPr>
            <a:spLocks noGrp="1"/>
          </p:cNvSpPr>
          <p:nvPr>
            <p:ph type="sldNum" sz="quarter" idx="12"/>
          </p:nvPr>
        </p:nvSpPr>
        <p:spPr/>
        <p:txBody>
          <a:bodyPr/>
          <a:lstStyle/>
          <a:p>
            <a:fld id="{2C8CE5D0-07F7-E54A-9164-FD23225DBD43}" type="slidenum">
              <a:rPr lang="en-US" smtClean="0"/>
              <a:t>‹#›</a:t>
            </a:fld>
            <a:endParaRPr lang="en-US"/>
          </a:p>
        </p:txBody>
      </p:sp>
    </p:spTree>
    <p:extLst>
      <p:ext uri="{BB962C8B-B14F-4D97-AF65-F5344CB8AC3E}">
        <p14:creationId xmlns:p14="http://schemas.microsoft.com/office/powerpoint/2010/main" val="18158031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ACB98-5A46-AA90-E264-6930BBD22E1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DD71C71-8ABC-93C6-8FAE-2F4183F522E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B1CCC37-B887-A76C-7320-08D7A8D5DAC8}"/>
              </a:ext>
            </a:extLst>
          </p:cNvPr>
          <p:cNvSpPr>
            <a:spLocks noGrp="1"/>
          </p:cNvSpPr>
          <p:nvPr>
            <p:ph type="dt" sz="half" idx="10"/>
          </p:nvPr>
        </p:nvSpPr>
        <p:spPr/>
        <p:txBody>
          <a:bodyPr/>
          <a:lstStyle/>
          <a:p>
            <a:fld id="{E5A1849F-D95A-DD49-842A-596B3B71D718}" type="datetimeFigureOut">
              <a:rPr lang="en-US" smtClean="0"/>
              <a:t>4/28/26</a:t>
            </a:fld>
            <a:endParaRPr lang="en-US"/>
          </a:p>
        </p:txBody>
      </p:sp>
      <p:sp>
        <p:nvSpPr>
          <p:cNvPr id="5" name="Footer Placeholder 4">
            <a:extLst>
              <a:ext uri="{FF2B5EF4-FFF2-40B4-BE49-F238E27FC236}">
                <a16:creationId xmlns:a16="http://schemas.microsoft.com/office/drawing/2014/main" id="{B79EE035-4AF7-DA6C-2529-C5AAE14262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4F73A3-5E69-558B-36FF-4ED291C77DB5}"/>
              </a:ext>
            </a:extLst>
          </p:cNvPr>
          <p:cNvSpPr>
            <a:spLocks noGrp="1"/>
          </p:cNvSpPr>
          <p:nvPr>
            <p:ph type="sldNum" sz="quarter" idx="12"/>
          </p:nvPr>
        </p:nvSpPr>
        <p:spPr/>
        <p:txBody>
          <a:bodyPr/>
          <a:lstStyle/>
          <a:p>
            <a:fld id="{2C8CE5D0-07F7-E54A-9164-FD23225DBD43}" type="slidenum">
              <a:rPr lang="en-US" smtClean="0"/>
              <a:t>‹#›</a:t>
            </a:fld>
            <a:endParaRPr lang="en-US"/>
          </a:p>
        </p:txBody>
      </p:sp>
    </p:spTree>
    <p:extLst>
      <p:ext uri="{BB962C8B-B14F-4D97-AF65-F5344CB8AC3E}">
        <p14:creationId xmlns:p14="http://schemas.microsoft.com/office/powerpoint/2010/main" val="39645697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9370B-BB1F-2F0F-A8DE-FEC15DE14E9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116201A-26E7-34A7-90AE-AD41E487ADF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5965640-D798-76C2-A94B-3A96FDEE0A69}"/>
              </a:ext>
            </a:extLst>
          </p:cNvPr>
          <p:cNvSpPr>
            <a:spLocks noGrp="1"/>
          </p:cNvSpPr>
          <p:nvPr>
            <p:ph type="dt" sz="half" idx="10"/>
          </p:nvPr>
        </p:nvSpPr>
        <p:spPr/>
        <p:txBody>
          <a:bodyPr/>
          <a:lstStyle/>
          <a:p>
            <a:fld id="{E5A1849F-D95A-DD49-842A-596B3B71D718}" type="datetimeFigureOut">
              <a:rPr lang="en-US" smtClean="0"/>
              <a:t>4/28/26</a:t>
            </a:fld>
            <a:endParaRPr lang="en-US"/>
          </a:p>
        </p:txBody>
      </p:sp>
      <p:sp>
        <p:nvSpPr>
          <p:cNvPr id="5" name="Footer Placeholder 4">
            <a:extLst>
              <a:ext uri="{FF2B5EF4-FFF2-40B4-BE49-F238E27FC236}">
                <a16:creationId xmlns:a16="http://schemas.microsoft.com/office/drawing/2014/main" id="{35B70FAE-B78B-F502-D5E5-C9333E94C9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133C6B-E489-BD22-A4F5-D79D5D930AA3}"/>
              </a:ext>
            </a:extLst>
          </p:cNvPr>
          <p:cNvSpPr>
            <a:spLocks noGrp="1"/>
          </p:cNvSpPr>
          <p:nvPr>
            <p:ph type="sldNum" sz="quarter" idx="12"/>
          </p:nvPr>
        </p:nvSpPr>
        <p:spPr/>
        <p:txBody>
          <a:bodyPr/>
          <a:lstStyle/>
          <a:p>
            <a:fld id="{2C8CE5D0-07F7-E54A-9164-FD23225DBD43}" type="slidenum">
              <a:rPr lang="en-US" smtClean="0"/>
              <a:t>‹#›</a:t>
            </a:fld>
            <a:endParaRPr lang="en-US"/>
          </a:p>
        </p:txBody>
      </p:sp>
    </p:spTree>
    <p:extLst>
      <p:ext uri="{BB962C8B-B14F-4D97-AF65-F5344CB8AC3E}">
        <p14:creationId xmlns:p14="http://schemas.microsoft.com/office/powerpoint/2010/main" val="356962624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37AE-D96A-F515-4FFF-3B752367D26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16DF887-34C0-C7B4-768B-5F2D6FD933C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AF9D5AE-2E76-3A2C-D7DC-127AA2E8935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DC3B5AA-B20B-A317-636B-4A85EE0A8175}"/>
              </a:ext>
            </a:extLst>
          </p:cNvPr>
          <p:cNvSpPr>
            <a:spLocks noGrp="1"/>
          </p:cNvSpPr>
          <p:nvPr>
            <p:ph type="dt" sz="half" idx="10"/>
          </p:nvPr>
        </p:nvSpPr>
        <p:spPr/>
        <p:txBody>
          <a:bodyPr/>
          <a:lstStyle/>
          <a:p>
            <a:fld id="{E5A1849F-D95A-DD49-842A-596B3B71D718}" type="datetimeFigureOut">
              <a:rPr lang="en-US" smtClean="0"/>
              <a:t>4/28/26</a:t>
            </a:fld>
            <a:endParaRPr lang="en-US"/>
          </a:p>
        </p:txBody>
      </p:sp>
      <p:sp>
        <p:nvSpPr>
          <p:cNvPr id="6" name="Footer Placeholder 5">
            <a:extLst>
              <a:ext uri="{FF2B5EF4-FFF2-40B4-BE49-F238E27FC236}">
                <a16:creationId xmlns:a16="http://schemas.microsoft.com/office/drawing/2014/main" id="{9B2937E0-7C88-BF3A-DAC7-DBA8B682E1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B13D0B-02B0-3542-6405-B6B3EB64BF7C}"/>
              </a:ext>
            </a:extLst>
          </p:cNvPr>
          <p:cNvSpPr>
            <a:spLocks noGrp="1"/>
          </p:cNvSpPr>
          <p:nvPr>
            <p:ph type="sldNum" sz="quarter" idx="12"/>
          </p:nvPr>
        </p:nvSpPr>
        <p:spPr/>
        <p:txBody>
          <a:bodyPr/>
          <a:lstStyle/>
          <a:p>
            <a:fld id="{2C8CE5D0-07F7-E54A-9164-FD23225DBD43}" type="slidenum">
              <a:rPr lang="en-US" smtClean="0"/>
              <a:t>‹#›</a:t>
            </a:fld>
            <a:endParaRPr lang="en-US"/>
          </a:p>
        </p:txBody>
      </p:sp>
    </p:spTree>
    <p:extLst>
      <p:ext uri="{BB962C8B-B14F-4D97-AF65-F5344CB8AC3E}">
        <p14:creationId xmlns:p14="http://schemas.microsoft.com/office/powerpoint/2010/main" val="109902339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F883C-0D8D-39B2-6F62-67485D2A5ED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3B3D9E3-934F-3828-B1C0-7F76BB9DF1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7242501-8215-10DF-98A9-4C98037E717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AF5147A-B000-4B01-692A-2FB8B6DA6A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193A237-56B7-0B5A-B468-B8A443D1336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FDCCE33-4323-927F-0AF1-1FBD89AFA212}"/>
              </a:ext>
            </a:extLst>
          </p:cNvPr>
          <p:cNvSpPr>
            <a:spLocks noGrp="1"/>
          </p:cNvSpPr>
          <p:nvPr>
            <p:ph type="dt" sz="half" idx="10"/>
          </p:nvPr>
        </p:nvSpPr>
        <p:spPr/>
        <p:txBody>
          <a:bodyPr/>
          <a:lstStyle/>
          <a:p>
            <a:fld id="{E5A1849F-D95A-DD49-842A-596B3B71D718}" type="datetimeFigureOut">
              <a:rPr lang="en-US" smtClean="0"/>
              <a:t>4/28/26</a:t>
            </a:fld>
            <a:endParaRPr lang="en-US"/>
          </a:p>
        </p:txBody>
      </p:sp>
      <p:sp>
        <p:nvSpPr>
          <p:cNvPr id="8" name="Footer Placeholder 7">
            <a:extLst>
              <a:ext uri="{FF2B5EF4-FFF2-40B4-BE49-F238E27FC236}">
                <a16:creationId xmlns:a16="http://schemas.microsoft.com/office/drawing/2014/main" id="{A02B0F5B-CF02-A554-1258-621DD47F78C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A9E525-9A8A-D04F-5AEB-270A424A3261}"/>
              </a:ext>
            </a:extLst>
          </p:cNvPr>
          <p:cNvSpPr>
            <a:spLocks noGrp="1"/>
          </p:cNvSpPr>
          <p:nvPr>
            <p:ph type="sldNum" sz="quarter" idx="12"/>
          </p:nvPr>
        </p:nvSpPr>
        <p:spPr/>
        <p:txBody>
          <a:bodyPr/>
          <a:lstStyle/>
          <a:p>
            <a:fld id="{2C8CE5D0-07F7-E54A-9164-FD23225DBD43}" type="slidenum">
              <a:rPr lang="en-US" smtClean="0"/>
              <a:t>‹#›</a:t>
            </a:fld>
            <a:endParaRPr lang="en-US"/>
          </a:p>
        </p:txBody>
      </p:sp>
    </p:spTree>
    <p:extLst>
      <p:ext uri="{BB962C8B-B14F-4D97-AF65-F5344CB8AC3E}">
        <p14:creationId xmlns:p14="http://schemas.microsoft.com/office/powerpoint/2010/main" val="17762207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E7122-95D1-25C2-C504-0B18EA7E1BB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3295379-06A0-FE46-944D-CFBC4AE232FC}"/>
              </a:ext>
            </a:extLst>
          </p:cNvPr>
          <p:cNvSpPr>
            <a:spLocks noGrp="1"/>
          </p:cNvSpPr>
          <p:nvPr>
            <p:ph type="dt" sz="half" idx="10"/>
          </p:nvPr>
        </p:nvSpPr>
        <p:spPr/>
        <p:txBody>
          <a:bodyPr/>
          <a:lstStyle/>
          <a:p>
            <a:fld id="{E5A1849F-D95A-DD49-842A-596B3B71D718}" type="datetimeFigureOut">
              <a:rPr lang="en-US" smtClean="0"/>
              <a:t>4/28/26</a:t>
            </a:fld>
            <a:endParaRPr lang="en-US"/>
          </a:p>
        </p:txBody>
      </p:sp>
      <p:sp>
        <p:nvSpPr>
          <p:cNvPr id="4" name="Footer Placeholder 3">
            <a:extLst>
              <a:ext uri="{FF2B5EF4-FFF2-40B4-BE49-F238E27FC236}">
                <a16:creationId xmlns:a16="http://schemas.microsoft.com/office/drawing/2014/main" id="{FDE96094-1AAD-991B-6184-319E4E8D107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BC443A-9CA6-CA36-3B9C-EC9E66173121}"/>
              </a:ext>
            </a:extLst>
          </p:cNvPr>
          <p:cNvSpPr>
            <a:spLocks noGrp="1"/>
          </p:cNvSpPr>
          <p:nvPr>
            <p:ph type="sldNum" sz="quarter" idx="12"/>
          </p:nvPr>
        </p:nvSpPr>
        <p:spPr/>
        <p:txBody>
          <a:bodyPr/>
          <a:lstStyle/>
          <a:p>
            <a:fld id="{2C8CE5D0-07F7-E54A-9164-FD23225DBD43}" type="slidenum">
              <a:rPr lang="en-US" smtClean="0"/>
              <a:t>‹#›</a:t>
            </a:fld>
            <a:endParaRPr lang="en-US"/>
          </a:p>
        </p:txBody>
      </p:sp>
    </p:spTree>
    <p:extLst>
      <p:ext uri="{BB962C8B-B14F-4D97-AF65-F5344CB8AC3E}">
        <p14:creationId xmlns:p14="http://schemas.microsoft.com/office/powerpoint/2010/main" val="155070450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64F856-0E3A-3E42-F1EA-79B44C02C514}"/>
              </a:ext>
            </a:extLst>
          </p:cNvPr>
          <p:cNvSpPr>
            <a:spLocks noGrp="1"/>
          </p:cNvSpPr>
          <p:nvPr>
            <p:ph type="dt" sz="half" idx="10"/>
          </p:nvPr>
        </p:nvSpPr>
        <p:spPr/>
        <p:txBody>
          <a:bodyPr/>
          <a:lstStyle/>
          <a:p>
            <a:fld id="{E5A1849F-D95A-DD49-842A-596B3B71D718}" type="datetimeFigureOut">
              <a:rPr lang="en-US" smtClean="0"/>
              <a:t>4/28/26</a:t>
            </a:fld>
            <a:endParaRPr lang="en-US"/>
          </a:p>
        </p:txBody>
      </p:sp>
      <p:sp>
        <p:nvSpPr>
          <p:cNvPr id="3" name="Footer Placeholder 2">
            <a:extLst>
              <a:ext uri="{FF2B5EF4-FFF2-40B4-BE49-F238E27FC236}">
                <a16:creationId xmlns:a16="http://schemas.microsoft.com/office/drawing/2014/main" id="{F14B5CA6-F66A-C08C-780F-514154E367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D652C5-6FB8-D6F6-65F5-1661FD93208A}"/>
              </a:ext>
            </a:extLst>
          </p:cNvPr>
          <p:cNvSpPr>
            <a:spLocks noGrp="1"/>
          </p:cNvSpPr>
          <p:nvPr>
            <p:ph type="sldNum" sz="quarter" idx="12"/>
          </p:nvPr>
        </p:nvSpPr>
        <p:spPr/>
        <p:txBody>
          <a:bodyPr/>
          <a:lstStyle/>
          <a:p>
            <a:fld id="{2C8CE5D0-07F7-E54A-9164-FD23225DBD43}" type="slidenum">
              <a:rPr lang="en-US" smtClean="0"/>
              <a:t>‹#›</a:t>
            </a:fld>
            <a:endParaRPr lang="en-US"/>
          </a:p>
        </p:txBody>
      </p:sp>
    </p:spTree>
    <p:extLst>
      <p:ext uri="{BB962C8B-B14F-4D97-AF65-F5344CB8AC3E}">
        <p14:creationId xmlns:p14="http://schemas.microsoft.com/office/powerpoint/2010/main" val="20994385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6CB9F-CE79-B840-9F6A-FBF424E82B5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D76BA45-13E6-C4A3-BD0D-EBFDC38D25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F158F73-8E25-7AC6-47D3-86DFC427CA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F96C897-EB98-A8BF-15BB-C9072CFC0C5B}"/>
              </a:ext>
            </a:extLst>
          </p:cNvPr>
          <p:cNvSpPr>
            <a:spLocks noGrp="1"/>
          </p:cNvSpPr>
          <p:nvPr>
            <p:ph type="dt" sz="half" idx="10"/>
          </p:nvPr>
        </p:nvSpPr>
        <p:spPr/>
        <p:txBody>
          <a:bodyPr/>
          <a:lstStyle/>
          <a:p>
            <a:fld id="{E5A1849F-D95A-DD49-842A-596B3B71D718}" type="datetimeFigureOut">
              <a:rPr lang="en-US" smtClean="0"/>
              <a:t>4/28/26</a:t>
            </a:fld>
            <a:endParaRPr lang="en-US"/>
          </a:p>
        </p:txBody>
      </p:sp>
      <p:sp>
        <p:nvSpPr>
          <p:cNvPr id="6" name="Footer Placeholder 5">
            <a:extLst>
              <a:ext uri="{FF2B5EF4-FFF2-40B4-BE49-F238E27FC236}">
                <a16:creationId xmlns:a16="http://schemas.microsoft.com/office/drawing/2014/main" id="{9956C365-837F-D23C-2858-A03899845B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518FCB-24D6-66F6-FC2B-BAB8259F0390}"/>
              </a:ext>
            </a:extLst>
          </p:cNvPr>
          <p:cNvSpPr>
            <a:spLocks noGrp="1"/>
          </p:cNvSpPr>
          <p:nvPr>
            <p:ph type="sldNum" sz="quarter" idx="12"/>
          </p:nvPr>
        </p:nvSpPr>
        <p:spPr/>
        <p:txBody>
          <a:bodyPr/>
          <a:lstStyle/>
          <a:p>
            <a:fld id="{2C8CE5D0-07F7-E54A-9164-FD23225DBD43}" type="slidenum">
              <a:rPr lang="en-US" smtClean="0"/>
              <a:t>‹#›</a:t>
            </a:fld>
            <a:endParaRPr lang="en-US"/>
          </a:p>
        </p:txBody>
      </p:sp>
    </p:spTree>
    <p:extLst>
      <p:ext uri="{BB962C8B-B14F-4D97-AF65-F5344CB8AC3E}">
        <p14:creationId xmlns:p14="http://schemas.microsoft.com/office/powerpoint/2010/main" val="112906938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B5C0A-A1F9-37B1-C414-89AF7DBCF8C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F69900D-0F54-525C-41A4-D894434D06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C524CDA-6407-1E47-2E58-D480D5EE9F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607B071-46FC-84E3-99BD-E5FEBECC82D7}"/>
              </a:ext>
            </a:extLst>
          </p:cNvPr>
          <p:cNvSpPr>
            <a:spLocks noGrp="1"/>
          </p:cNvSpPr>
          <p:nvPr>
            <p:ph type="dt" sz="half" idx="10"/>
          </p:nvPr>
        </p:nvSpPr>
        <p:spPr/>
        <p:txBody>
          <a:bodyPr/>
          <a:lstStyle/>
          <a:p>
            <a:fld id="{E5A1849F-D95A-DD49-842A-596B3B71D718}" type="datetimeFigureOut">
              <a:rPr lang="en-US" smtClean="0"/>
              <a:t>4/28/26</a:t>
            </a:fld>
            <a:endParaRPr lang="en-US"/>
          </a:p>
        </p:txBody>
      </p:sp>
      <p:sp>
        <p:nvSpPr>
          <p:cNvPr id="6" name="Footer Placeholder 5">
            <a:extLst>
              <a:ext uri="{FF2B5EF4-FFF2-40B4-BE49-F238E27FC236}">
                <a16:creationId xmlns:a16="http://schemas.microsoft.com/office/drawing/2014/main" id="{8B92216A-600B-3C25-CB11-9CFAF4EA8D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FDCAF3-3A46-A042-264D-426E03009B58}"/>
              </a:ext>
            </a:extLst>
          </p:cNvPr>
          <p:cNvSpPr>
            <a:spLocks noGrp="1"/>
          </p:cNvSpPr>
          <p:nvPr>
            <p:ph type="sldNum" sz="quarter" idx="12"/>
          </p:nvPr>
        </p:nvSpPr>
        <p:spPr/>
        <p:txBody>
          <a:bodyPr/>
          <a:lstStyle/>
          <a:p>
            <a:fld id="{2C8CE5D0-07F7-E54A-9164-FD23225DBD43}" type="slidenum">
              <a:rPr lang="en-US" smtClean="0"/>
              <a:t>‹#›</a:t>
            </a:fld>
            <a:endParaRPr lang="en-US"/>
          </a:p>
        </p:txBody>
      </p:sp>
    </p:spTree>
    <p:extLst>
      <p:ext uri="{BB962C8B-B14F-4D97-AF65-F5344CB8AC3E}">
        <p14:creationId xmlns:p14="http://schemas.microsoft.com/office/powerpoint/2010/main" val="6058032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1A755-0B2C-8CC2-11AB-E20E5AF687A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135340E-4182-67FA-AB2D-03CEBF546B2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18C93E3-1CD4-C4A5-FB5B-7E07FC6BD587}"/>
              </a:ext>
            </a:extLst>
          </p:cNvPr>
          <p:cNvSpPr>
            <a:spLocks noGrp="1"/>
          </p:cNvSpPr>
          <p:nvPr>
            <p:ph type="dt" sz="half" idx="10"/>
          </p:nvPr>
        </p:nvSpPr>
        <p:spPr/>
        <p:txBody>
          <a:bodyPr/>
          <a:lstStyle/>
          <a:p>
            <a:fld id="{E5A1849F-D95A-DD49-842A-596B3B71D718}" type="datetimeFigureOut">
              <a:rPr lang="en-US" smtClean="0"/>
              <a:t>4/28/26</a:t>
            </a:fld>
            <a:endParaRPr lang="en-US"/>
          </a:p>
        </p:txBody>
      </p:sp>
      <p:sp>
        <p:nvSpPr>
          <p:cNvPr id="5" name="Footer Placeholder 4">
            <a:extLst>
              <a:ext uri="{FF2B5EF4-FFF2-40B4-BE49-F238E27FC236}">
                <a16:creationId xmlns:a16="http://schemas.microsoft.com/office/drawing/2014/main" id="{2BDCD997-3429-33FD-DEAC-1ED1969B5C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F95972-C3B9-8832-0179-E684990EB3EC}"/>
              </a:ext>
            </a:extLst>
          </p:cNvPr>
          <p:cNvSpPr>
            <a:spLocks noGrp="1"/>
          </p:cNvSpPr>
          <p:nvPr>
            <p:ph type="sldNum" sz="quarter" idx="12"/>
          </p:nvPr>
        </p:nvSpPr>
        <p:spPr/>
        <p:txBody>
          <a:bodyPr/>
          <a:lstStyle/>
          <a:p>
            <a:fld id="{2C8CE5D0-07F7-E54A-9164-FD23225DBD43}" type="slidenum">
              <a:rPr lang="en-US" smtClean="0"/>
              <a:t>‹#›</a:t>
            </a:fld>
            <a:endParaRPr lang="en-US"/>
          </a:p>
        </p:txBody>
      </p:sp>
    </p:spTree>
    <p:extLst>
      <p:ext uri="{BB962C8B-B14F-4D97-AF65-F5344CB8AC3E}">
        <p14:creationId xmlns:p14="http://schemas.microsoft.com/office/powerpoint/2010/main" val="169280132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EFC7DD-A29B-F033-82A6-68888B36D64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62594A8-32B6-DD29-97F8-6B68444C286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FBFAEF0-32E8-ECFE-8473-5FC6A908D715}"/>
              </a:ext>
            </a:extLst>
          </p:cNvPr>
          <p:cNvSpPr>
            <a:spLocks noGrp="1"/>
          </p:cNvSpPr>
          <p:nvPr>
            <p:ph type="dt" sz="half" idx="10"/>
          </p:nvPr>
        </p:nvSpPr>
        <p:spPr/>
        <p:txBody>
          <a:bodyPr/>
          <a:lstStyle/>
          <a:p>
            <a:fld id="{E5A1849F-D95A-DD49-842A-596B3B71D718}" type="datetimeFigureOut">
              <a:rPr lang="en-US" smtClean="0"/>
              <a:t>4/28/26</a:t>
            </a:fld>
            <a:endParaRPr lang="en-US"/>
          </a:p>
        </p:txBody>
      </p:sp>
      <p:sp>
        <p:nvSpPr>
          <p:cNvPr id="5" name="Footer Placeholder 4">
            <a:extLst>
              <a:ext uri="{FF2B5EF4-FFF2-40B4-BE49-F238E27FC236}">
                <a16:creationId xmlns:a16="http://schemas.microsoft.com/office/drawing/2014/main" id="{23BD55DD-ACBB-6D48-0D9B-03EA87151A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8E56D4-9740-A14B-50A7-122C1CFA2DBF}"/>
              </a:ext>
            </a:extLst>
          </p:cNvPr>
          <p:cNvSpPr>
            <a:spLocks noGrp="1"/>
          </p:cNvSpPr>
          <p:nvPr>
            <p:ph type="sldNum" sz="quarter" idx="12"/>
          </p:nvPr>
        </p:nvSpPr>
        <p:spPr/>
        <p:txBody>
          <a:bodyPr/>
          <a:lstStyle/>
          <a:p>
            <a:fld id="{2C8CE5D0-07F7-E54A-9164-FD23225DBD43}" type="slidenum">
              <a:rPr lang="en-US" smtClean="0"/>
              <a:t>‹#›</a:t>
            </a:fld>
            <a:endParaRPr lang="en-US"/>
          </a:p>
        </p:txBody>
      </p:sp>
    </p:spTree>
    <p:extLst>
      <p:ext uri="{BB962C8B-B14F-4D97-AF65-F5344CB8AC3E}">
        <p14:creationId xmlns:p14="http://schemas.microsoft.com/office/powerpoint/2010/main" val="1505666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1.jpe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image" Target="../media/image1.jpeg"/><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latin typeface="DM Sans" pitchFamily="2" charset="0"/>
              </a:defRPr>
            </a:lvl1pPr>
          </a:lstStyle>
          <a:p>
            <a:fld id="{1D8BD707-D9CF-40AE-B4C6-C98DA3205C09}" type="datetimeFigureOut">
              <a:rPr lang="en-US" smtClean="0"/>
              <a:pPr/>
              <a:t>4/28/26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874762075"/>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ctr" defTabSz="609630" rtl="0" eaLnBrk="1" latinLnBrk="0" hangingPunct="1">
        <a:spcBef>
          <a:spcPct val="0"/>
        </a:spcBef>
        <a:buNone/>
        <a:defRPr sz="2933" kern="1200">
          <a:solidFill>
            <a:schemeClr val="tx1"/>
          </a:solidFill>
          <a:latin typeface="DM Sans" pitchFamily="2" charset="0"/>
          <a:ea typeface="+mj-ea"/>
          <a:cs typeface="+mj-cs"/>
        </a:defRPr>
      </a:lvl1pPr>
    </p:titleStyle>
    <p:body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latin typeface="DM Sans" pitchFamily="2" charset="0"/>
              </a:defRPr>
            </a:lvl1pPr>
          </a:lstStyle>
          <a:p>
            <a:fld id="{1D8BD707-D9CF-40AE-B4C6-C98DA3205C09}" type="datetimeFigureOut">
              <a:rPr lang="en-US" smtClean="0"/>
              <a:pPr/>
              <a:t>4/28/26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23563488"/>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Lst>
  <p:txStyles>
    <p:titleStyle>
      <a:lvl1pPr algn="ctr" defTabSz="609630" rtl="0" eaLnBrk="1" latinLnBrk="0" hangingPunct="1">
        <a:spcBef>
          <a:spcPct val="0"/>
        </a:spcBef>
        <a:buNone/>
        <a:defRPr sz="2933" kern="1200">
          <a:solidFill>
            <a:schemeClr val="tx1"/>
          </a:solidFill>
          <a:latin typeface="DM Sans" pitchFamily="2" charset="0"/>
          <a:ea typeface="+mj-ea"/>
          <a:cs typeface="+mj-cs"/>
        </a:defRPr>
      </a:lvl1pPr>
    </p:titleStyle>
    <p:body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2"/>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71"/>
            <a:ext cx="1422400" cy="243417"/>
          </a:xfrm>
          <a:prstGeom prst="rect">
            <a:avLst/>
          </a:prstGeom>
        </p:spPr>
        <p:txBody>
          <a:bodyPr vert="horz" lIns="91440" tIns="45720" rIns="91440" bIns="45720" rtlCol="0" anchor="ctr"/>
          <a:lstStyle>
            <a:lvl1pPr algn="l">
              <a:defRPr sz="600">
                <a:solidFill>
                  <a:schemeClr val="tx1">
                    <a:tint val="75000"/>
                  </a:schemeClr>
                </a:solidFill>
                <a:latin typeface="DM Sans" pitchFamily="2" charset="0"/>
              </a:defRPr>
            </a:lvl1pPr>
          </a:lstStyle>
          <a:p>
            <a:fld id="{1D8BD707-D9CF-40AE-B4C6-C98DA3205C09}" type="datetimeFigureOut">
              <a:rPr lang="en-US" smtClean="0"/>
              <a:pPr/>
              <a:t>4/28/26</a:t>
            </a:fld>
            <a:endParaRPr lang="en-US"/>
          </a:p>
        </p:txBody>
      </p:sp>
      <p:sp>
        <p:nvSpPr>
          <p:cNvPr id="5" name="Footer Placeholder 4"/>
          <p:cNvSpPr>
            <a:spLocks noGrp="1"/>
          </p:cNvSpPr>
          <p:nvPr>
            <p:ph type="ftr" sz="quarter" idx="3"/>
          </p:nvPr>
        </p:nvSpPr>
        <p:spPr>
          <a:xfrm>
            <a:off x="2082800" y="4237571"/>
            <a:ext cx="1930400" cy="243417"/>
          </a:xfrm>
          <a:prstGeom prst="rect">
            <a:avLst/>
          </a:prstGeom>
        </p:spPr>
        <p:txBody>
          <a:bodyPr vert="horz" lIns="91440" tIns="45720" rIns="91440" bIns="45720" rtlCol="0" anchor="ctr"/>
          <a:lstStyle>
            <a:lvl1pPr algn="ctr">
              <a:defRPr sz="6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71"/>
            <a:ext cx="1422400" cy="243417"/>
          </a:xfrm>
          <a:prstGeom prst="rect">
            <a:avLst/>
          </a:prstGeom>
        </p:spPr>
        <p:txBody>
          <a:bodyPr vert="horz" lIns="91440" tIns="45720" rIns="91440" bIns="45720" rtlCol="0" anchor="ctr"/>
          <a:lstStyle>
            <a:lvl1pPr algn="r">
              <a:defRPr sz="6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775190764"/>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txStyles>
    <p:titleStyle>
      <a:lvl1pPr algn="ctr" defTabSz="457269" rtl="0" eaLnBrk="1" latinLnBrk="0" hangingPunct="1">
        <a:spcBef>
          <a:spcPct val="0"/>
        </a:spcBef>
        <a:buNone/>
        <a:defRPr sz="2200" kern="1200">
          <a:solidFill>
            <a:schemeClr val="tx1"/>
          </a:solidFill>
          <a:latin typeface="DM Sans" pitchFamily="2" charset="0"/>
          <a:ea typeface="+mj-ea"/>
          <a:cs typeface="+mj-cs"/>
        </a:defRPr>
      </a:lvl1pPr>
    </p:titleStyle>
    <p:bodyStyle>
      <a:lvl1pPr marL="171476" indent="-171476" algn="l" defTabSz="457269"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1pPr>
      <a:lvl2pPr marL="371532" indent="-142897" algn="l" defTabSz="457269" rtl="0" eaLnBrk="1" latinLnBrk="0" hangingPunct="1">
        <a:spcBef>
          <a:spcPct val="20000"/>
        </a:spcBef>
        <a:buFont typeface="DM Sans" pitchFamily="34" charset="0"/>
        <a:buChar char="–"/>
        <a:defRPr sz="1400" kern="1200">
          <a:solidFill>
            <a:schemeClr val="tx1"/>
          </a:solidFill>
          <a:latin typeface="DM Sans" pitchFamily="2" charset="0"/>
          <a:ea typeface="+mn-ea"/>
          <a:cs typeface="+mn-cs"/>
        </a:defRPr>
      </a:lvl2pPr>
      <a:lvl3pPr marL="571587" indent="-114318" algn="l" defTabSz="457269" rtl="0" eaLnBrk="1" latinLnBrk="0" hangingPunct="1">
        <a:spcBef>
          <a:spcPct val="20000"/>
        </a:spcBef>
        <a:buFont typeface="DM Sans" pitchFamily="34" charset="0"/>
        <a:buChar char="•"/>
        <a:defRPr sz="1200" kern="1200">
          <a:solidFill>
            <a:schemeClr val="tx1"/>
          </a:solidFill>
          <a:latin typeface="DM Sans" pitchFamily="2" charset="0"/>
          <a:ea typeface="+mn-ea"/>
          <a:cs typeface="+mn-cs"/>
        </a:defRPr>
      </a:lvl3pPr>
      <a:lvl4pPr marL="800220" indent="-114318" algn="l" defTabSz="457269" rtl="0" eaLnBrk="1" latinLnBrk="0" hangingPunct="1">
        <a:spcBef>
          <a:spcPct val="20000"/>
        </a:spcBef>
        <a:buFont typeface="DM Sans" pitchFamily="34" charset="0"/>
        <a:buChar char="–"/>
        <a:defRPr sz="1000" kern="1200">
          <a:solidFill>
            <a:schemeClr val="tx1"/>
          </a:solidFill>
          <a:latin typeface="DM Sans" pitchFamily="2" charset="0"/>
          <a:ea typeface="+mn-ea"/>
          <a:cs typeface="+mn-cs"/>
        </a:defRPr>
      </a:lvl4pPr>
      <a:lvl5pPr marL="1028855" indent="-114318" algn="l" defTabSz="457269" rtl="0" eaLnBrk="1" latinLnBrk="0" hangingPunct="1">
        <a:spcBef>
          <a:spcPct val="20000"/>
        </a:spcBef>
        <a:buFont typeface="DM Sans" pitchFamily="34" charset="0"/>
        <a:buChar char="»"/>
        <a:defRPr sz="1000" kern="1200">
          <a:solidFill>
            <a:schemeClr val="tx1"/>
          </a:solidFill>
          <a:latin typeface="DM Sans" pitchFamily="2" charset="0"/>
          <a:ea typeface="+mn-ea"/>
          <a:cs typeface="+mn-cs"/>
        </a:defRPr>
      </a:lvl5pPr>
      <a:lvl6pPr marL="1257489" indent="-114318" algn="l" defTabSz="457269" rtl="0" eaLnBrk="1" latinLnBrk="0" hangingPunct="1">
        <a:spcBef>
          <a:spcPct val="20000"/>
        </a:spcBef>
        <a:buFont typeface="DM Sans" pitchFamily="34" charset="0"/>
        <a:buChar char="•"/>
        <a:defRPr sz="1000" kern="1200">
          <a:solidFill>
            <a:schemeClr val="tx1"/>
          </a:solidFill>
          <a:latin typeface="+mn-lt"/>
          <a:ea typeface="+mn-ea"/>
          <a:cs typeface="+mn-cs"/>
        </a:defRPr>
      </a:lvl6pPr>
      <a:lvl7pPr marL="1486122" indent="-114318" algn="l" defTabSz="457269" rtl="0" eaLnBrk="1" latinLnBrk="0" hangingPunct="1">
        <a:spcBef>
          <a:spcPct val="20000"/>
        </a:spcBef>
        <a:buFont typeface="DM Sans" pitchFamily="34" charset="0"/>
        <a:buChar char="•"/>
        <a:defRPr sz="1000" kern="1200">
          <a:solidFill>
            <a:schemeClr val="tx1"/>
          </a:solidFill>
          <a:latin typeface="+mn-lt"/>
          <a:ea typeface="+mn-ea"/>
          <a:cs typeface="+mn-cs"/>
        </a:defRPr>
      </a:lvl7pPr>
      <a:lvl8pPr marL="1714758" indent="-114318" algn="l" defTabSz="457269" rtl="0" eaLnBrk="1" latinLnBrk="0" hangingPunct="1">
        <a:spcBef>
          <a:spcPct val="20000"/>
        </a:spcBef>
        <a:buFont typeface="DM Sans" pitchFamily="34" charset="0"/>
        <a:buChar char="•"/>
        <a:defRPr sz="1000" kern="1200">
          <a:solidFill>
            <a:schemeClr val="tx1"/>
          </a:solidFill>
          <a:latin typeface="+mn-lt"/>
          <a:ea typeface="+mn-ea"/>
          <a:cs typeface="+mn-cs"/>
        </a:defRPr>
      </a:lvl8pPr>
      <a:lvl9pPr marL="1943392" indent="-114318" algn="l" defTabSz="457269" rtl="0" eaLnBrk="1" latinLnBrk="0" hangingPunct="1">
        <a:spcBef>
          <a:spcPct val="20000"/>
        </a:spcBef>
        <a:buFont typeface="DM Sans" pitchFamily="34" charset="0"/>
        <a:buChar char="•"/>
        <a:defRPr sz="1000" kern="1200">
          <a:solidFill>
            <a:schemeClr val="tx1"/>
          </a:solidFill>
          <a:latin typeface="+mn-lt"/>
          <a:ea typeface="+mn-ea"/>
          <a:cs typeface="+mn-cs"/>
        </a:defRPr>
      </a:lvl9pPr>
    </p:bodyStyle>
    <p:otherStyle>
      <a:defPPr>
        <a:defRPr lang="en-US"/>
      </a:defPPr>
      <a:lvl1pPr marL="0" algn="l" defTabSz="457269" rtl="0" eaLnBrk="1" latinLnBrk="0" hangingPunct="1">
        <a:defRPr sz="900" kern="1200">
          <a:solidFill>
            <a:schemeClr val="tx1"/>
          </a:solidFill>
          <a:latin typeface="+mn-lt"/>
          <a:ea typeface="+mn-ea"/>
          <a:cs typeface="+mn-cs"/>
        </a:defRPr>
      </a:lvl1pPr>
      <a:lvl2pPr marL="228635" algn="l" defTabSz="457269" rtl="0" eaLnBrk="1" latinLnBrk="0" hangingPunct="1">
        <a:defRPr sz="900" kern="1200">
          <a:solidFill>
            <a:schemeClr val="tx1"/>
          </a:solidFill>
          <a:latin typeface="+mn-lt"/>
          <a:ea typeface="+mn-ea"/>
          <a:cs typeface="+mn-cs"/>
        </a:defRPr>
      </a:lvl2pPr>
      <a:lvl3pPr marL="457269" algn="l" defTabSz="457269" rtl="0" eaLnBrk="1" latinLnBrk="0" hangingPunct="1">
        <a:defRPr sz="900" kern="1200">
          <a:solidFill>
            <a:schemeClr val="tx1"/>
          </a:solidFill>
          <a:latin typeface="+mn-lt"/>
          <a:ea typeface="+mn-ea"/>
          <a:cs typeface="+mn-cs"/>
        </a:defRPr>
      </a:lvl3pPr>
      <a:lvl4pPr marL="685904" algn="l" defTabSz="457269" rtl="0" eaLnBrk="1" latinLnBrk="0" hangingPunct="1">
        <a:defRPr sz="900" kern="1200">
          <a:solidFill>
            <a:schemeClr val="tx1"/>
          </a:solidFill>
          <a:latin typeface="+mn-lt"/>
          <a:ea typeface="+mn-ea"/>
          <a:cs typeface="+mn-cs"/>
        </a:defRPr>
      </a:lvl4pPr>
      <a:lvl5pPr marL="914538" algn="l" defTabSz="457269" rtl="0" eaLnBrk="1" latinLnBrk="0" hangingPunct="1">
        <a:defRPr sz="900" kern="1200">
          <a:solidFill>
            <a:schemeClr val="tx1"/>
          </a:solidFill>
          <a:latin typeface="+mn-lt"/>
          <a:ea typeface="+mn-ea"/>
          <a:cs typeface="+mn-cs"/>
        </a:defRPr>
      </a:lvl5pPr>
      <a:lvl6pPr marL="1143171" algn="l" defTabSz="457269" rtl="0" eaLnBrk="1" latinLnBrk="0" hangingPunct="1">
        <a:defRPr sz="900" kern="1200">
          <a:solidFill>
            <a:schemeClr val="tx1"/>
          </a:solidFill>
          <a:latin typeface="+mn-lt"/>
          <a:ea typeface="+mn-ea"/>
          <a:cs typeface="+mn-cs"/>
        </a:defRPr>
      </a:lvl6pPr>
      <a:lvl7pPr marL="1371806" algn="l" defTabSz="457269" rtl="0" eaLnBrk="1" latinLnBrk="0" hangingPunct="1">
        <a:defRPr sz="900" kern="1200">
          <a:solidFill>
            <a:schemeClr val="tx1"/>
          </a:solidFill>
          <a:latin typeface="+mn-lt"/>
          <a:ea typeface="+mn-ea"/>
          <a:cs typeface="+mn-cs"/>
        </a:defRPr>
      </a:lvl7pPr>
      <a:lvl8pPr marL="1600440" algn="l" defTabSz="457269" rtl="0" eaLnBrk="1" latinLnBrk="0" hangingPunct="1">
        <a:defRPr sz="900" kern="1200">
          <a:solidFill>
            <a:schemeClr val="tx1"/>
          </a:solidFill>
          <a:latin typeface="+mn-lt"/>
          <a:ea typeface="+mn-ea"/>
          <a:cs typeface="+mn-cs"/>
        </a:defRPr>
      </a:lvl8pPr>
      <a:lvl9pPr marL="1829075" algn="l" defTabSz="457269" rtl="0" eaLnBrk="1" latinLnBrk="0" hangingPunct="1">
        <a:defRPr sz="9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2649E7-6465-4133-450B-B59E8D52B2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C8D5E7F-56AB-855F-F1FB-C3622C2780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C632158-A82F-9934-D536-9EBA6EBA32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A1849F-D95A-DD49-842A-596B3B71D718}" type="datetimeFigureOut">
              <a:rPr lang="en-US" smtClean="0"/>
              <a:t>4/28/26</a:t>
            </a:fld>
            <a:endParaRPr lang="en-US"/>
          </a:p>
        </p:txBody>
      </p:sp>
      <p:sp>
        <p:nvSpPr>
          <p:cNvPr id="5" name="Footer Placeholder 4">
            <a:extLst>
              <a:ext uri="{FF2B5EF4-FFF2-40B4-BE49-F238E27FC236}">
                <a16:creationId xmlns:a16="http://schemas.microsoft.com/office/drawing/2014/main" id="{073B5E59-7D95-E2C0-549E-C42C4B3669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4E2A8D5-74BA-EA21-0405-B23CF93213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8CE5D0-07F7-E54A-9164-FD23225DBD43}" type="slidenum">
              <a:rPr lang="en-US" smtClean="0"/>
              <a:t>‹#›</a:t>
            </a:fld>
            <a:endParaRPr lang="en-US"/>
          </a:p>
        </p:txBody>
      </p:sp>
    </p:spTree>
    <p:extLst>
      <p:ext uri="{BB962C8B-B14F-4D97-AF65-F5344CB8AC3E}">
        <p14:creationId xmlns:p14="http://schemas.microsoft.com/office/powerpoint/2010/main" val="398681830"/>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1.jpeg"/><Relationship Id="rId7" Type="http://schemas.openxmlformats.org/officeDocument/2006/relationships/diagramLayout" Target="../diagrams/layout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Data" Target="../diagrams/data1.xml"/><Relationship Id="rId5" Type="http://schemas.openxmlformats.org/officeDocument/2006/relationships/image" Target="../media/image8.png"/><Relationship Id="rId10" Type="http://schemas.microsoft.com/office/2007/relationships/diagramDrawing" Target="../diagrams/drawing1.xml"/><Relationship Id="rId4" Type="http://schemas.openxmlformats.org/officeDocument/2006/relationships/image" Target="../media/image3.png"/><Relationship Id="rId9" Type="http://schemas.openxmlformats.org/officeDocument/2006/relationships/diagramColors" Target="../diagrams/colors1.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image" Target="../media/image11.jpg"/><Relationship Id="rId4"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9.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4.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39.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9.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9.xml"/><Relationship Id="rId5" Type="http://schemas.openxmlformats.org/officeDocument/2006/relationships/image" Target="../media/image3.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39.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39.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39.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39.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39.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39.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39.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39.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39.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44.xml"/><Relationship Id="rId6" Type="http://schemas.openxmlformats.org/officeDocument/2006/relationships/image" Target="../media/image30.png"/><Relationship Id="rId5" Type="http://schemas.openxmlformats.org/officeDocument/2006/relationships/image" Target="../media/image27.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39.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39.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39.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39.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44.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44.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44.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44.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44.xml"/></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tags" Target="../tags/tag2.xml"/><Relationship Id="rId5" Type="http://schemas.openxmlformats.org/officeDocument/2006/relationships/image" Target="../media/image3.png"/><Relationship Id="rId4" Type="http://schemas.openxmlformats.org/officeDocument/2006/relationships/image" Target="../media/image1.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tags" Target="../tags/tag3.xml"/><Relationship Id="rId6" Type="http://schemas.openxmlformats.org/officeDocument/2006/relationships/image" Target="../media/image34.png"/><Relationship Id="rId5" Type="http://schemas.openxmlformats.org/officeDocument/2006/relationships/image" Target="../media/image3.png"/><Relationship Id="rId4" Type="http://schemas.openxmlformats.org/officeDocument/2006/relationships/image" Target="../media/image1.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tags" Target="../tags/tag4.xml"/><Relationship Id="rId6" Type="http://schemas.openxmlformats.org/officeDocument/2006/relationships/image" Target="../media/image34.png"/><Relationship Id="rId5" Type="http://schemas.openxmlformats.org/officeDocument/2006/relationships/image" Target="../media/image3.png"/><Relationship Id="rId4" Type="http://schemas.openxmlformats.org/officeDocument/2006/relationships/image" Target="../media/image1.jpe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tags" Target="../tags/tag5.xml"/><Relationship Id="rId6" Type="http://schemas.openxmlformats.org/officeDocument/2006/relationships/image" Target="../media/image35.png"/><Relationship Id="rId5" Type="http://schemas.openxmlformats.org/officeDocument/2006/relationships/image" Target="../media/image3.png"/><Relationship Id="rId4" Type="http://schemas.openxmlformats.org/officeDocument/2006/relationships/image" Target="../media/image1.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7.xml"/><Relationship Id="rId1" Type="http://schemas.openxmlformats.org/officeDocument/2006/relationships/tags" Target="../tags/tag6.xml"/><Relationship Id="rId6" Type="http://schemas.openxmlformats.org/officeDocument/2006/relationships/image" Target="../media/image36.png"/><Relationship Id="rId5" Type="http://schemas.openxmlformats.org/officeDocument/2006/relationships/image" Target="../media/image3.png"/><Relationship Id="rId4" Type="http://schemas.openxmlformats.org/officeDocument/2006/relationships/image" Target="../media/image1.jpeg"/></Relationships>
</file>

<file path=ppt/slides/_rels/slide44.xml.rels><?xml version="1.0" encoding="UTF-8" standalone="yes"?>
<Relationships xmlns="http://schemas.openxmlformats.org/package/2006/relationships"><Relationship Id="rId8" Type="http://schemas.openxmlformats.org/officeDocument/2006/relationships/image" Target="../media/image39.emf"/><Relationship Id="rId3" Type="http://schemas.openxmlformats.org/officeDocument/2006/relationships/notesSlide" Target="../notesSlides/notesSlide43.xml"/><Relationship Id="rId7" Type="http://schemas.openxmlformats.org/officeDocument/2006/relationships/image" Target="../media/image38.emf"/><Relationship Id="rId2" Type="http://schemas.openxmlformats.org/officeDocument/2006/relationships/slideLayout" Target="../slideLayouts/slideLayout7.xml"/><Relationship Id="rId1" Type="http://schemas.openxmlformats.org/officeDocument/2006/relationships/tags" Target="../tags/tag7.xml"/><Relationship Id="rId6" Type="http://schemas.openxmlformats.org/officeDocument/2006/relationships/image" Target="../media/image37.emf"/><Relationship Id="rId5" Type="http://schemas.openxmlformats.org/officeDocument/2006/relationships/image" Target="../media/image3.png"/><Relationship Id="rId4" Type="http://schemas.openxmlformats.org/officeDocument/2006/relationships/image" Target="../media/image1.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tags" Target="../tags/tag8.xml"/><Relationship Id="rId6" Type="http://schemas.openxmlformats.org/officeDocument/2006/relationships/image" Target="../media/image40.png"/><Relationship Id="rId5" Type="http://schemas.openxmlformats.org/officeDocument/2006/relationships/image" Target="../media/image3.png"/><Relationship Id="rId4" Type="http://schemas.openxmlformats.org/officeDocument/2006/relationships/image" Target="../media/image1.jpe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tags" Target="../tags/tag9.xml"/><Relationship Id="rId6" Type="http://schemas.openxmlformats.org/officeDocument/2006/relationships/image" Target="../media/image41.emf"/><Relationship Id="rId5" Type="http://schemas.openxmlformats.org/officeDocument/2006/relationships/image" Target="../media/image3.png"/><Relationship Id="rId4" Type="http://schemas.openxmlformats.org/officeDocument/2006/relationships/image" Target="../media/image1.jpe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tags" Target="../tags/tag10.xml"/><Relationship Id="rId6" Type="http://schemas.openxmlformats.org/officeDocument/2006/relationships/image" Target="../media/image40.png"/><Relationship Id="rId5" Type="http://schemas.openxmlformats.org/officeDocument/2006/relationships/image" Target="../media/image3.png"/><Relationship Id="rId4" Type="http://schemas.openxmlformats.org/officeDocument/2006/relationships/image" Target="../media/image1.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7.xml"/><Relationship Id="rId1" Type="http://schemas.openxmlformats.org/officeDocument/2006/relationships/tags" Target="../tags/tag11.xml"/><Relationship Id="rId6" Type="http://schemas.openxmlformats.org/officeDocument/2006/relationships/image" Target="../media/image42.png"/><Relationship Id="rId5" Type="http://schemas.openxmlformats.org/officeDocument/2006/relationships/image" Target="../media/image3.png"/><Relationship Id="rId4" Type="http://schemas.openxmlformats.org/officeDocument/2006/relationships/image" Target="../media/image1.jpe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7.xml"/><Relationship Id="rId1" Type="http://schemas.openxmlformats.org/officeDocument/2006/relationships/tags" Target="../tags/tag12.xml"/><Relationship Id="rId6" Type="http://schemas.openxmlformats.org/officeDocument/2006/relationships/image" Target="../media/image43.emf"/><Relationship Id="rId5" Type="http://schemas.openxmlformats.org/officeDocument/2006/relationships/image" Target="../media/image3.png"/><Relationship Id="rId4" Type="http://schemas.openxmlformats.org/officeDocument/2006/relationships/image" Target="../media/image1.jpe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7.xml"/><Relationship Id="rId1" Type="http://schemas.openxmlformats.org/officeDocument/2006/relationships/tags" Target="../tags/tag13.xml"/><Relationship Id="rId6" Type="http://schemas.openxmlformats.org/officeDocument/2006/relationships/image" Target="../media/image43.emf"/><Relationship Id="rId5" Type="http://schemas.openxmlformats.org/officeDocument/2006/relationships/image" Target="../media/image3.png"/><Relationship Id="rId4" Type="http://schemas.openxmlformats.org/officeDocument/2006/relationships/image" Target="../media/image1.jpeg"/></Relationships>
</file>

<file path=ppt/slides/_rels/slide51.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3.png"/><Relationship Id="rId7" Type="http://schemas.openxmlformats.org/officeDocument/2006/relationships/diagramQuickStyle" Target="../diagrams/quickStyle2.xml"/><Relationship Id="rId2" Type="http://schemas.openxmlformats.org/officeDocument/2006/relationships/notesSlide" Target="../notesSlides/notesSlide50.xml"/><Relationship Id="rId1" Type="http://schemas.openxmlformats.org/officeDocument/2006/relationships/slideLayout" Target="../slideLayouts/slideLayout18.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44.png"/><Relationship Id="rId9" Type="http://schemas.microsoft.com/office/2007/relationships/diagramDrawing" Target="../diagrams/drawing2.xml"/></Relationships>
</file>

<file path=ppt/slides/_rels/slide5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51.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7.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31.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31.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31.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Freeform 13"/>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pPr>
            <a:endParaRPr lang="en-GB" sz="1200">
              <a:solidFill>
                <a:prstClr val="black"/>
              </a:solidFill>
              <a:latin typeface="DM Sans" pitchFamily="2" charset="0"/>
              <a:ea typeface="+mn-ea"/>
            </a:endParaRPr>
          </a:p>
        </p:txBody>
      </p:sp>
      <p:sp>
        <p:nvSpPr>
          <p:cNvPr id="2" name="TextBox 14">
            <a:extLst>
              <a:ext uri="{FF2B5EF4-FFF2-40B4-BE49-F238E27FC236}">
                <a16:creationId xmlns:a16="http://schemas.microsoft.com/office/drawing/2014/main" id="{F0DA2D17-C40D-DA25-624F-1D8A297B593A}"/>
              </a:ext>
            </a:extLst>
          </p:cNvPr>
          <p:cNvSpPr txBox="1"/>
          <p:nvPr/>
        </p:nvSpPr>
        <p:spPr>
          <a:xfrm>
            <a:off x="879648" y="2803905"/>
            <a:ext cx="9842923" cy="2769861"/>
          </a:xfrm>
          <a:prstGeom prst="rect">
            <a:avLst/>
          </a:prstGeom>
        </p:spPr>
        <p:txBody>
          <a:bodyPr wrap="square" lIns="0" tIns="0" rIns="0" bIns="0" rtlCol="0" anchor="t">
            <a:spAutoFit/>
          </a:bodyPr>
          <a:lstStyle/>
          <a:p>
            <a:pPr defTabSz="609630" eaLnBrk="1" fontAlgn="auto" hangingPunct="1">
              <a:lnSpc>
                <a:spcPts val="7333"/>
              </a:lnSpc>
              <a:spcBef>
                <a:spcPts val="0"/>
              </a:spcBef>
              <a:spcAft>
                <a:spcPts val="0"/>
              </a:spcAft>
            </a:pPr>
            <a:r>
              <a:rPr lang="en-GB" altLang="en-US" sz="5334" b="1" dirty="0">
                <a:solidFill>
                  <a:prstClr val="white"/>
                </a:solidFill>
                <a:latin typeface="DM Sans"/>
                <a:ea typeface="+mn-ea"/>
              </a:rPr>
              <a:t>Climate Engineering</a:t>
            </a:r>
          </a:p>
          <a:p>
            <a:pPr defTabSz="609630" eaLnBrk="1" fontAlgn="auto" hangingPunct="1">
              <a:lnSpc>
                <a:spcPts val="7333"/>
              </a:lnSpc>
              <a:spcBef>
                <a:spcPts val="0"/>
              </a:spcBef>
              <a:spcAft>
                <a:spcPts val="0"/>
              </a:spcAft>
            </a:pPr>
            <a:br>
              <a:rPr lang="en-GB" altLang="en-US" sz="5334" b="1" dirty="0">
                <a:solidFill>
                  <a:prstClr val="white"/>
                </a:solidFill>
                <a:latin typeface="DM Sans"/>
                <a:ea typeface="+mn-ea"/>
              </a:rPr>
            </a:br>
            <a:endParaRPr lang="en-US" sz="5334" b="1" dirty="0">
              <a:solidFill>
                <a:prstClr val="white"/>
              </a:solidFill>
              <a:latin typeface="DM Sans" pitchFamily="2" charset="0"/>
              <a:ea typeface="+mn-ea"/>
            </a:endParaRPr>
          </a:p>
        </p:txBody>
      </p:sp>
      <p:sp>
        <p:nvSpPr>
          <p:cNvPr id="3" name="TextBox 14">
            <a:extLst>
              <a:ext uri="{FF2B5EF4-FFF2-40B4-BE49-F238E27FC236}">
                <a16:creationId xmlns:a16="http://schemas.microsoft.com/office/drawing/2014/main" id="{4E4EAF08-B290-2C6A-BBCC-3221855F907B}"/>
              </a:ext>
            </a:extLst>
          </p:cNvPr>
          <p:cNvSpPr txBox="1"/>
          <p:nvPr/>
        </p:nvSpPr>
        <p:spPr>
          <a:xfrm>
            <a:off x="914400" y="4170916"/>
            <a:ext cx="6524978" cy="1716367"/>
          </a:xfrm>
          <a:prstGeom prst="rect">
            <a:avLst/>
          </a:prstGeom>
        </p:spPr>
        <p:txBody>
          <a:bodyPr wrap="square" lIns="0" tIns="0" rIns="0" bIns="0" rtlCol="0" anchor="t">
            <a:spAutoFit/>
          </a:bodyPr>
          <a:lstStyle/>
          <a:p>
            <a:pPr defTabSz="609630" eaLnBrk="1" fontAlgn="auto" hangingPunct="1">
              <a:lnSpc>
                <a:spcPts val="7333"/>
              </a:lnSpc>
              <a:spcBef>
                <a:spcPts val="0"/>
              </a:spcBef>
              <a:spcAft>
                <a:spcPts val="0"/>
              </a:spcAft>
            </a:pPr>
            <a:r>
              <a:rPr lang="en-US" sz="2133" b="1" dirty="0">
                <a:solidFill>
                  <a:srgbClr val="FAB700"/>
                </a:solidFill>
                <a:latin typeface="DM Sans" pitchFamily="2" charset="0"/>
                <a:ea typeface="+mn-ea"/>
              </a:rPr>
              <a:t>Week 10 - Global Climate Change EART21202 </a:t>
            </a:r>
          </a:p>
          <a:p>
            <a:pPr defTabSz="609630" eaLnBrk="1" fontAlgn="auto" hangingPunct="1">
              <a:lnSpc>
                <a:spcPts val="7333"/>
              </a:lnSpc>
              <a:spcBef>
                <a:spcPts val="0"/>
              </a:spcBef>
              <a:spcAft>
                <a:spcPts val="0"/>
              </a:spcAft>
            </a:pPr>
            <a:r>
              <a:rPr lang="en-US" sz="2133" b="1" dirty="0">
                <a:solidFill>
                  <a:srgbClr val="FAB700"/>
                </a:solidFill>
                <a:latin typeface="DM Sans" pitchFamily="2" charset="0"/>
                <a:ea typeface="+mn-ea"/>
              </a:rPr>
              <a:t>Dr Thomas Bannan and Dr Jessica Girdwood </a:t>
            </a:r>
          </a:p>
        </p:txBody>
      </p:sp>
    </p:spTree>
  </p:cSld>
  <p:clrMapOvr>
    <a:masterClrMapping/>
  </p:clrMapOvr>
  <mc:AlternateContent xmlns:mc="http://schemas.openxmlformats.org/markup-compatibility/2006" xmlns:p14="http://schemas.microsoft.com/office/powerpoint/2010/main">
    <mc:Choice Requires="p14">
      <p:transition spd="slow" p14:dur="2000" advTm="48833"/>
    </mc:Choice>
    <mc:Fallback xmlns="">
      <p:transition spd="slow" advTm="4883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9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FB782D3E-A7C2-D4CE-6000-D69ABF52E0A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EE16A5-7C45-015F-8A98-91B324DAAE94}"/>
              </a:ext>
            </a:extLst>
          </p:cNvPr>
          <p:cNvSpPr/>
          <p:nvPr/>
        </p:nvSpPr>
        <p:spPr>
          <a:xfrm>
            <a:off x="9431867" y="371989"/>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6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5" name="TextBox 14">
            <a:extLst>
              <a:ext uri="{FF2B5EF4-FFF2-40B4-BE49-F238E27FC236}">
                <a16:creationId xmlns:a16="http://schemas.microsoft.com/office/drawing/2014/main" id="{CDF94BBB-12EF-E975-6BC5-CB4840BAD385}"/>
              </a:ext>
            </a:extLst>
          </p:cNvPr>
          <p:cNvSpPr txBox="1"/>
          <p:nvPr/>
        </p:nvSpPr>
        <p:spPr>
          <a:xfrm>
            <a:off x="389465" y="684092"/>
            <a:ext cx="7336552" cy="589905"/>
          </a:xfrm>
          <a:prstGeom prst="rect">
            <a:avLst/>
          </a:prstGeom>
        </p:spPr>
        <p:txBody>
          <a:bodyPr wrap="square" lIns="0" tIns="0" rIns="0" bIns="0" rtlCol="0" anchor="t">
            <a:spAutoFit/>
          </a:bodyPr>
          <a:lstStyle/>
          <a:p>
            <a:pPr defTabSz="609660" eaLnBrk="1" fontAlgn="auto" hangingPunct="1">
              <a:lnSpc>
                <a:spcPts val="4574"/>
              </a:lnSpc>
              <a:spcBef>
                <a:spcPts val="0"/>
              </a:spcBef>
              <a:spcAft>
                <a:spcPts val="0"/>
              </a:spcAft>
              <a:defRPr/>
            </a:pPr>
            <a:r>
              <a:rPr lang="en-US" sz="4000" i="1" spc="-275" dirty="0">
                <a:solidFill>
                  <a:srgbClr val="46245A"/>
                </a:solidFill>
                <a:latin typeface="DM Sans Bold"/>
                <a:ea typeface="+mn-ea"/>
              </a:rPr>
              <a:t>Global Climate Change - 2026</a:t>
            </a:r>
          </a:p>
        </p:txBody>
      </p:sp>
      <p:sp>
        <p:nvSpPr>
          <p:cNvPr id="2" name="TextBox 1">
            <a:extLst>
              <a:ext uri="{FF2B5EF4-FFF2-40B4-BE49-F238E27FC236}">
                <a16:creationId xmlns:a16="http://schemas.microsoft.com/office/drawing/2014/main" id="{80BD60C8-019A-F807-75A8-73ADCA403375}"/>
              </a:ext>
            </a:extLst>
          </p:cNvPr>
          <p:cNvSpPr txBox="1"/>
          <p:nvPr/>
        </p:nvSpPr>
        <p:spPr>
          <a:xfrm>
            <a:off x="389466" y="1461970"/>
            <a:ext cx="11387489" cy="4893647"/>
          </a:xfrm>
          <a:prstGeom prst="rect">
            <a:avLst/>
          </a:prstGeom>
          <a:noFill/>
        </p:spPr>
        <p:txBody>
          <a:bodyPr wrap="square">
            <a:spAutoFit/>
          </a:bodyPr>
          <a:lstStyle/>
          <a:p>
            <a:pPr defTabSz="406460" eaLnBrk="1" fontAlgn="auto" hangingPunct="1">
              <a:spcBef>
                <a:spcPts val="0"/>
              </a:spcBef>
              <a:spcAft>
                <a:spcPts val="0"/>
              </a:spcAft>
              <a:defRPr/>
            </a:pP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Week 1 – </a:t>
            </a:r>
            <a:r>
              <a:rPr lang="en-GB" sz="2400" dirty="0">
                <a:solidFill>
                  <a:schemeClr val="bg1">
                    <a:lumMod val="65000"/>
                  </a:schemeClr>
                </a:solidFill>
                <a:latin typeface="Calibri" panose="020F0502020204030204" pitchFamily="34" charset="0"/>
                <a:ea typeface="+mn-ea"/>
                <a:cs typeface="Calibri" panose="020F0502020204030204" pitchFamily="34" charset="0"/>
              </a:rPr>
              <a:t>Introduction to climate change and its impacts </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(5</a:t>
            </a:r>
            <a:r>
              <a:rPr lang="en-GB" sz="2400" kern="100" baseline="300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Feb)</a:t>
            </a:r>
          </a:p>
          <a:p>
            <a:pPr defTabSz="406460" eaLnBrk="1" fontAlgn="auto" hangingPunct="1">
              <a:spcBef>
                <a:spcPts val="0"/>
              </a:spcBef>
              <a:spcAft>
                <a:spcPts val="0"/>
              </a:spcAft>
              <a:defRPr/>
            </a:pP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Week 2 – </a:t>
            </a:r>
            <a:r>
              <a:rPr lang="en-GB" sz="2400" dirty="0">
                <a:solidFill>
                  <a:schemeClr val="bg1">
                    <a:lumMod val="65000"/>
                  </a:schemeClr>
                </a:solidFill>
                <a:latin typeface="Calibri" panose="020F0502020204030204" pitchFamily="34" charset="0"/>
                <a:ea typeface="+mn-ea"/>
                <a:cs typeface="Calibri" panose="020F0502020204030204" pitchFamily="34" charset="0"/>
              </a:rPr>
              <a:t>Natural climate variability</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(12</a:t>
            </a:r>
            <a:r>
              <a:rPr lang="en-GB" sz="2400" kern="100" baseline="300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Feb)</a:t>
            </a:r>
            <a:endParaRPr lang="en-GB" sz="2400" dirty="0">
              <a:solidFill>
                <a:schemeClr val="bg1">
                  <a:lumMod val="65000"/>
                </a:schemeClr>
              </a:solidFill>
              <a:latin typeface="Calibri" panose="020F0502020204030204" pitchFamily="34" charset="0"/>
              <a:ea typeface="+mn-ea"/>
              <a:cs typeface="Calibri" panose="020F0502020204030204" pitchFamily="34" charset="0"/>
            </a:endParaRPr>
          </a:p>
          <a:p>
            <a:pPr defTabSz="406460" eaLnBrk="1" fontAlgn="auto" hangingPunct="1">
              <a:spcBef>
                <a:spcPts val="0"/>
              </a:spcBef>
              <a:spcAft>
                <a:spcPts val="0"/>
              </a:spcAft>
              <a:defRPr/>
            </a:pP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Week 3 – </a:t>
            </a:r>
            <a:r>
              <a:rPr lang="en-GB" sz="2400" dirty="0">
                <a:solidFill>
                  <a:schemeClr val="bg1">
                    <a:lumMod val="65000"/>
                  </a:schemeClr>
                </a:solidFill>
                <a:latin typeface="Calibri" panose="020F0502020204030204" pitchFamily="34" charset="0"/>
                <a:ea typeface="+mn-ea"/>
                <a:cs typeface="Calibri" panose="020F0502020204030204" pitchFamily="34" charset="0"/>
              </a:rPr>
              <a:t>Radiation Law/Greenhouse Effect/Radiative forcing/feedbacks</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(19</a:t>
            </a:r>
            <a:r>
              <a:rPr lang="en-GB" sz="2400" kern="100" baseline="300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Feb)</a:t>
            </a:r>
            <a:endParaRPr lang="en-GB" sz="2400" dirty="0">
              <a:solidFill>
                <a:schemeClr val="bg1">
                  <a:lumMod val="65000"/>
                </a:schemeClr>
              </a:solidFill>
              <a:latin typeface="Calibri" panose="020F0502020204030204" pitchFamily="34" charset="0"/>
              <a:ea typeface="+mn-ea"/>
              <a:cs typeface="Calibri" panose="020F0502020204030204" pitchFamily="34" charset="0"/>
            </a:endParaRPr>
          </a:p>
          <a:p>
            <a:pPr defTabSz="406460" eaLnBrk="1" fontAlgn="auto" hangingPunct="1">
              <a:spcBef>
                <a:spcPts val="0"/>
              </a:spcBef>
              <a:spcAft>
                <a:spcPts val="0"/>
              </a:spcAft>
              <a:defRPr/>
            </a:pP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Week 4 – A</a:t>
            </a:r>
            <a:r>
              <a:rPr lang="en-GB" sz="2400" dirty="0">
                <a:solidFill>
                  <a:schemeClr val="bg1">
                    <a:lumMod val="65000"/>
                  </a:schemeClr>
                </a:solidFill>
                <a:latin typeface="Calibri" panose="020F0502020204030204" pitchFamily="34" charset="0"/>
                <a:ea typeface="+mn-ea"/>
                <a:cs typeface="Calibri" panose="020F0502020204030204" pitchFamily="34" charset="0"/>
              </a:rPr>
              <a:t>nthropogenic impacts </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(26</a:t>
            </a:r>
            <a:r>
              <a:rPr lang="en-GB" sz="2400" kern="100" baseline="300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Feb)</a:t>
            </a:r>
          </a:p>
          <a:p>
            <a:pPr defTabSz="406460" eaLnBrk="1" fontAlgn="auto" hangingPunct="1">
              <a:spcBef>
                <a:spcPts val="0"/>
              </a:spcBef>
              <a:spcAft>
                <a:spcPts val="0"/>
              </a:spcAft>
              <a:defRPr/>
            </a:pP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Week 5 – </a:t>
            </a:r>
            <a:r>
              <a:rPr lang="en-GB" sz="2400" dirty="0">
                <a:solidFill>
                  <a:schemeClr val="bg1">
                    <a:lumMod val="65000"/>
                  </a:schemeClr>
                </a:solidFill>
                <a:latin typeface="Calibri" panose="020F0502020204030204" pitchFamily="34" charset="0"/>
                <a:ea typeface="+mn-ea"/>
                <a:cs typeface="Calibri" panose="020F0502020204030204" pitchFamily="34" charset="0"/>
              </a:rPr>
              <a:t>The Evidence Base for Climate Change </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(5</a:t>
            </a:r>
            <a:r>
              <a:rPr lang="en-GB" sz="2400" kern="100" baseline="300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March)</a:t>
            </a:r>
          </a:p>
          <a:p>
            <a:pPr defTabSz="406460" eaLnBrk="1" fontAlgn="auto" hangingPunct="1">
              <a:spcBef>
                <a:spcPts val="0"/>
              </a:spcBef>
              <a:spcAft>
                <a:spcPts val="0"/>
              </a:spcAft>
              <a:defRPr/>
            </a:pP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Week 6 – Mid Unit Test (10</a:t>
            </a:r>
            <a:r>
              <a:rPr lang="en-GB" sz="2400" kern="100" baseline="300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March) </a:t>
            </a:r>
          </a:p>
          <a:p>
            <a:pPr defTabSz="609660" eaLnBrk="1" fontAlgn="auto" hangingPunct="1">
              <a:spcBef>
                <a:spcPts val="0"/>
              </a:spcBef>
              <a:spcAft>
                <a:spcPts val="0"/>
              </a:spcAft>
              <a:defRPr/>
            </a:pP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Week 7 – </a:t>
            </a:r>
            <a:r>
              <a:rPr lang="en-GB" sz="2400" dirty="0">
                <a:solidFill>
                  <a:schemeClr val="bg1">
                    <a:lumMod val="65000"/>
                  </a:schemeClr>
                </a:solidFill>
                <a:latin typeface="Calibri" panose="020F0502020204030204" pitchFamily="34" charset="0"/>
                <a:ea typeface="+mn-ea"/>
                <a:cs typeface="Calibri" panose="020F0502020204030204" pitchFamily="34" charset="0"/>
              </a:rPr>
              <a:t>Climate Models  </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(19</a:t>
            </a:r>
            <a:r>
              <a:rPr lang="en-GB" sz="2400" kern="100" baseline="300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March)</a:t>
            </a:r>
          </a:p>
          <a:p>
            <a:pPr defTabSz="609660" eaLnBrk="1" fontAlgn="auto" hangingPunct="1">
              <a:spcBef>
                <a:spcPts val="0"/>
              </a:spcBef>
              <a:spcAft>
                <a:spcPts val="0"/>
              </a:spcAft>
              <a:defRPr/>
            </a:pP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Week 8 – Climate C</a:t>
            </a:r>
            <a:r>
              <a:rPr lang="en-GB" sz="2400" dirty="0">
                <a:solidFill>
                  <a:schemeClr val="bg1">
                    <a:lumMod val="65000"/>
                  </a:schemeClr>
                </a:solidFill>
                <a:latin typeface="Calibri" panose="020F0502020204030204" pitchFamily="34" charset="0"/>
                <a:ea typeface="+mn-ea"/>
                <a:cs typeface="Calibri" panose="020F0502020204030204" pitchFamily="34" charset="0"/>
              </a:rPr>
              <a:t>hange Adaptation </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(26</a:t>
            </a:r>
            <a:r>
              <a:rPr lang="en-GB" sz="2400" kern="100" baseline="300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March)</a:t>
            </a:r>
          </a:p>
          <a:p>
            <a:pPr defTabSz="609660" eaLnBrk="1" fontAlgn="auto" hangingPunct="1">
              <a:spcBef>
                <a:spcPts val="0"/>
              </a:spcBef>
              <a:spcAft>
                <a:spcPts val="0"/>
              </a:spcAft>
              <a:defRPr/>
            </a:pP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Week 9 – </a:t>
            </a:r>
            <a:r>
              <a:rPr lang="en-GB" sz="2400" dirty="0">
                <a:solidFill>
                  <a:schemeClr val="bg1">
                    <a:lumMod val="65000"/>
                  </a:schemeClr>
                </a:solidFill>
                <a:latin typeface="Calibri" panose="020F0502020204030204" pitchFamily="34" charset="0"/>
                <a:ea typeface="+mn-ea"/>
                <a:cs typeface="Calibri" panose="020F0502020204030204" pitchFamily="34" charset="0"/>
              </a:rPr>
              <a:t>Climate Change Mitigation </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t>
            </a:r>
            <a:r>
              <a:rPr lang="en-GB" sz="2400" i="1"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23</a:t>
            </a:r>
            <a:r>
              <a:rPr lang="en-GB" sz="2400" i="1" kern="100" baseline="300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rd</a:t>
            </a:r>
            <a:r>
              <a:rPr lang="en-GB" sz="2400" i="1"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April)</a:t>
            </a:r>
          </a:p>
          <a:p>
            <a:pPr defTabSz="609660" eaLnBrk="1" fontAlgn="auto" hangingPunct="1">
              <a:spcBef>
                <a:spcPts val="0"/>
              </a:spcBef>
              <a:spcAft>
                <a:spcPts val="0"/>
              </a:spcAft>
              <a:defRPr/>
            </a:pPr>
            <a:endParaRPr lang="en-GB" sz="2400" b="1" kern="1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lvl="0" defTabSz="609660" eaLnBrk="1" fontAlgn="auto" hangingPunct="1">
              <a:spcBef>
                <a:spcPts val="0"/>
              </a:spcBef>
              <a:spcAft>
                <a:spcPts val="0"/>
              </a:spcAft>
              <a:defRPr/>
            </a:pPr>
            <a:r>
              <a:rPr lang="en-GB" sz="2400" b="1" kern="100" dirty="0">
                <a:solidFill>
                  <a:srgbClr val="FF0000"/>
                </a:solidFill>
                <a:latin typeface="Calibri" panose="020F0502020204030204" pitchFamily="34" charset="0"/>
                <a:ea typeface="Calibri" panose="020F0502020204030204" pitchFamily="34" charset="0"/>
                <a:cs typeface="Calibri" panose="020F0502020204030204" pitchFamily="34" charset="0"/>
              </a:rPr>
              <a:t>Week 10 – </a:t>
            </a:r>
            <a:r>
              <a:rPr lang="en-GB" sz="2400" b="1" dirty="0">
                <a:solidFill>
                  <a:srgbClr val="FF0000"/>
                </a:solidFill>
                <a:latin typeface="Calibri" panose="020F0502020204030204" pitchFamily="34" charset="0"/>
                <a:ea typeface="+mn-ea"/>
                <a:cs typeface="Calibri" panose="020F0502020204030204" pitchFamily="34" charset="0"/>
              </a:rPr>
              <a:t>Climate Engineering </a:t>
            </a:r>
            <a:r>
              <a:rPr lang="en-GB" sz="2400" b="1" i="1" kern="100" dirty="0">
                <a:solidFill>
                  <a:srgbClr val="FF0000"/>
                </a:solidFill>
                <a:latin typeface="Calibri" panose="020F0502020204030204" pitchFamily="34" charset="0"/>
                <a:ea typeface="Calibri" panose="020F0502020204030204" pitchFamily="34" charset="0"/>
                <a:cs typeface="Calibri" panose="020F0502020204030204" pitchFamily="34" charset="0"/>
              </a:rPr>
              <a:t>(30</a:t>
            </a:r>
            <a:r>
              <a:rPr lang="en-GB" sz="2400" b="1" i="1" kern="100" baseline="30000" dirty="0">
                <a:solidFill>
                  <a:srgbClr val="FF0000"/>
                </a:solidFill>
                <a:latin typeface="Calibri" panose="020F0502020204030204" pitchFamily="34" charset="0"/>
                <a:ea typeface="Calibri" panose="020F0502020204030204" pitchFamily="34" charset="0"/>
                <a:cs typeface="Calibri" panose="020F0502020204030204" pitchFamily="34" charset="0"/>
              </a:rPr>
              <a:t>th</a:t>
            </a:r>
            <a:r>
              <a:rPr lang="en-GB" sz="2400" b="1" i="1" kern="100" dirty="0">
                <a:solidFill>
                  <a:srgbClr val="FF0000"/>
                </a:solidFill>
                <a:latin typeface="Calibri" panose="020F0502020204030204" pitchFamily="34" charset="0"/>
                <a:ea typeface="Calibri" panose="020F0502020204030204" pitchFamily="34" charset="0"/>
                <a:cs typeface="Calibri" panose="020F0502020204030204" pitchFamily="34" charset="0"/>
              </a:rPr>
              <a:t> April)</a:t>
            </a:r>
          </a:p>
          <a:p>
            <a:pPr defTabSz="609660" eaLnBrk="1" fontAlgn="auto" hangingPunct="1">
              <a:spcBef>
                <a:spcPts val="0"/>
              </a:spcBef>
              <a:spcAft>
                <a:spcPts val="0"/>
              </a:spcAft>
              <a:defRPr/>
            </a:pPr>
            <a:r>
              <a:rPr lang="en-GB" sz="2400" kern="100" dirty="0">
                <a:solidFill>
                  <a:srgbClr val="1F497D">
                    <a:lumMod val="60000"/>
                    <a:lumOff val="40000"/>
                  </a:srgbClr>
                </a:solidFill>
                <a:latin typeface="Calibri" panose="020F0502020204030204" pitchFamily="34" charset="0"/>
                <a:ea typeface="Calibri" panose="020F0502020204030204" pitchFamily="34" charset="0"/>
                <a:cs typeface="Calibri" panose="020F0502020204030204" pitchFamily="34" charset="0"/>
              </a:rPr>
              <a:t>Week 11 – Revision Lecture (7</a:t>
            </a:r>
            <a:r>
              <a:rPr lang="en-GB" sz="2400" kern="100" baseline="30000" dirty="0">
                <a:solidFill>
                  <a:srgbClr val="1F497D">
                    <a:lumMod val="60000"/>
                    <a:lumOff val="40000"/>
                  </a:srgbClr>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srgbClr val="1F497D">
                    <a:lumMod val="60000"/>
                    <a:lumOff val="40000"/>
                  </a:srgbClr>
                </a:solidFill>
                <a:latin typeface="Calibri" panose="020F0502020204030204" pitchFamily="34" charset="0"/>
                <a:ea typeface="Calibri" panose="020F0502020204030204" pitchFamily="34" charset="0"/>
                <a:cs typeface="Calibri" panose="020F0502020204030204" pitchFamily="34" charset="0"/>
              </a:rPr>
              <a:t> May)</a:t>
            </a:r>
          </a:p>
          <a:p>
            <a:pPr defTabSz="609660" eaLnBrk="1" fontAlgn="auto" hangingPunct="1">
              <a:spcBef>
                <a:spcPts val="0"/>
              </a:spcBef>
              <a:spcAft>
                <a:spcPts val="0"/>
              </a:spcAft>
              <a:defRPr/>
            </a:pPr>
            <a:r>
              <a:rPr lang="en-GB" sz="2400" kern="100" dirty="0">
                <a:solidFill>
                  <a:srgbClr val="1F497D">
                    <a:lumMod val="60000"/>
                    <a:lumOff val="40000"/>
                  </a:srgbClr>
                </a:solidFill>
                <a:latin typeface="Calibri" panose="020F0502020204030204" pitchFamily="34" charset="0"/>
                <a:ea typeface="Calibri" panose="020F0502020204030204" pitchFamily="34" charset="0"/>
                <a:cs typeface="Calibri" panose="020F0502020204030204" pitchFamily="34" charset="0"/>
              </a:rPr>
              <a:t>Exam - 18 May 2026, 9:45-11:15</a:t>
            </a:r>
          </a:p>
        </p:txBody>
      </p:sp>
      <p:pic>
        <p:nvPicPr>
          <p:cNvPr id="6" name="Picture 5" descr="A qr code with a black and white background&#10;&#10;AI-generated content may be incorrect.">
            <a:extLst>
              <a:ext uri="{FF2B5EF4-FFF2-40B4-BE49-F238E27FC236}">
                <a16:creationId xmlns:a16="http://schemas.microsoft.com/office/drawing/2014/main" id="{112BB3D5-FC58-710F-489D-C975E1C5EDA4}"/>
              </a:ext>
            </a:extLst>
          </p:cNvPr>
          <p:cNvPicPr>
            <a:picLocks noChangeAspect="1"/>
          </p:cNvPicPr>
          <p:nvPr/>
        </p:nvPicPr>
        <p:blipFill>
          <a:blip r:embed="rId5"/>
          <a:stretch>
            <a:fillRect/>
          </a:stretch>
        </p:blipFill>
        <p:spPr>
          <a:xfrm>
            <a:off x="9051133" y="3429001"/>
            <a:ext cx="2801007" cy="2801007"/>
          </a:xfrm>
          <a:prstGeom prst="rect">
            <a:avLst/>
          </a:prstGeom>
        </p:spPr>
      </p:pic>
      <p:sp>
        <p:nvSpPr>
          <p:cNvPr id="7" name="TextBox 6">
            <a:extLst>
              <a:ext uri="{FF2B5EF4-FFF2-40B4-BE49-F238E27FC236}">
                <a16:creationId xmlns:a16="http://schemas.microsoft.com/office/drawing/2014/main" id="{F327CCA7-4299-796F-6F60-9D7FE40386D5}"/>
              </a:ext>
            </a:extLst>
          </p:cNvPr>
          <p:cNvSpPr txBox="1"/>
          <p:nvPr/>
        </p:nvSpPr>
        <p:spPr>
          <a:xfrm>
            <a:off x="9051134" y="6411310"/>
            <a:ext cx="280100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defTabSz="914446" eaLnBrk="1" fontAlgn="auto" hangingPunct="1">
              <a:spcBef>
                <a:spcPts val="0"/>
              </a:spcBef>
              <a:spcAft>
                <a:spcPts val="0"/>
              </a:spcAft>
              <a:defRPr/>
            </a:pPr>
            <a:r>
              <a:rPr lang="en-US" dirty="0">
                <a:solidFill>
                  <a:prstClr val="black"/>
                </a:solidFill>
                <a:latin typeface="DM Sans"/>
              </a:rPr>
              <a:t>Comments/Questions</a:t>
            </a:r>
          </a:p>
        </p:txBody>
      </p:sp>
    </p:spTree>
    <p:extLst>
      <p:ext uri="{BB962C8B-B14F-4D97-AF65-F5344CB8AC3E}">
        <p14:creationId xmlns:p14="http://schemas.microsoft.com/office/powerpoint/2010/main" val="1796596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4" name="TextBox 14"/>
          <p:cNvSpPr txBox="1"/>
          <p:nvPr/>
        </p:nvSpPr>
        <p:spPr>
          <a:xfrm>
            <a:off x="660400" y="1447800"/>
            <a:ext cx="5329537" cy="589905"/>
          </a:xfrm>
          <a:prstGeom prst="rect">
            <a:avLst/>
          </a:prstGeom>
        </p:spPr>
        <p:txBody>
          <a:bodyPr lIns="0" tIns="0" rIns="0" bIns="0" rtlCol="0" anchor="t">
            <a:spAutoFit/>
          </a:bodyPr>
          <a:lstStyle/>
          <a:p>
            <a:pPr defTabSz="609630" eaLnBrk="1" fontAlgn="auto" hangingPunct="1">
              <a:lnSpc>
                <a:spcPts val="4573"/>
              </a:lnSpc>
              <a:spcBef>
                <a:spcPts val="0"/>
              </a:spcBef>
              <a:spcAft>
                <a:spcPts val="0"/>
              </a:spcAft>
            </a:pPr>
            <a:r>
              <a:rPr lang="en-US" sz="4000" spc="-275" dirty="0">
                <a:solidFill>
                  <a:srgbClr val="46245A"/>
                </a:solidFill>
                <a:latin typeface="DM Sans Bold"/>
                <a:ea typeface="+mn-ea"/>
              </a:rPr>
              <a:t>Today’s session</a:t>
            </a:r>
          </a:p>
        </p:txBody>
      </p:sp>
      <p:sp>
        <p:nvSpPr>
          <p:cNvPr id="3" name="Freeform 13">
            <a:extLst>
              <a:ext uri="{FF2B5EF4-FFF2-40B4-BE49-F238E27FC236}">
                <a16:creationId xmlns:a16="http://schemas.microsoft.com/office/drawing/2014/main" id="{110E8D5E-37F5-D004-AA80-8A76901C57F9}"/>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pPr>
            <a:endParaRPr lang="en-GB" sz="1200">
              <a:solidFill>
                <a:prstClr val="black"/>
              </a:solidFill>
              <a:latin typeface="DM Sans" pitchFamily="2" charset="0"/>
              <a:ea typeface="+mn-ea"/>
            </a:endParaRPr>
          </a:p>
        </p:txBody>
      </p:sp>
      <p:sp>
        <p:nvSpPr>
          <p:cNvPr id="2" name="TextBox 15">
            <a:extLst>
              <a:ext uri="{FF2B5EF4-FFF2-40B4-BE49-F238E27FC236}">
                <a16:creationId xmlns:a16="http://schemas.microsoft.com/office/drawing/2014/main" id="{C15804F0-50F1-A4A4-E19C-D472744C65F8}"/>
              </a:ext>
            </a:extLst>
          </p:cNvPr>
          <p:cNvSpPr txBox="1"/>
          <p:nvPr/>
        </p:nvSpPr>
        <p:spPr>
          <a:xfrm>
            <a:off x="549349" y="3056861"/>
            <a:ext cx="6170428" cy="2491964"/>
          </a:xfrm>
          <a:prstGeom prst="rect">
            <a:avLst/>
          </a:prstGeom>
        </p:spPr>
        <p:txBody>
          <a:bodyPr wrap="square" lIns="0" tIns="0" rIns="0" bIns="0" rtlCol="0" anchor="t">
            <a:spAutoFit/>
          </a:bodyPr>
          <a:lstStyle/>
          <a:p>
            <a:pPr marL="179502" lvl="1" defTabSz="609630" eaLnBrk="1" fontAlgn="auto" hangingPunct="1">
              <a:lnSpc>
                <a:spcPts val="3333"/>
              </a:lnSpc>
              <a:spcBef>
                <a:spcPts val="0"/>
              </a:spcBef>
              <a:spcAft>
                <a:spcPts val="0"/>
              </a:spcAft>
            </a:pPr>
            <a:r>
              <a:rPr lang="en-US" sz="1600" b="1" spc="33" dirty="0">
                <a:solidFill>
                  <a:srgbClr val="FAB700"/>
                </a:solidFill>
                <a:latin typeface="DM Sans"/>
                <a:ea typeface="+mn-ea"/>
              </a:rPr>
              <a:t>Part 1:  </a:t>
            </a:r>
            <a:r>
              <a:rPr lang="en-US" sz="1600" b="1" spc="33" dirty="0">
                <a:solidFill>
                  <a:srgbClr val="FFFFFF"/>
                </a:solidFill>
                <a:latin typeface="DM Sans"/>
                <a:ea typeface="+mn-ea"/>
              </a:rPr>
              <a:t>Impacts of climate change (10 mins)</a:t>
            </a:r>
          </a:p>
          <a:p>
            <a:pPr marL="179502" lvl="1" defTabSz="609630" eaLnBrk="1" fontAlgn="auto" hangingPunct="1">
              <a:lnSpc>
                <a:spcPts val="3333"/>
              </a:lnSpc>
              <a:spcBef>
                <a:spcPts val="0"/>
              </a:spcBef>
              <a:spcAft>
                <a:spcPts val="0"/>
              </a:spcAft>
            </a:pPr>
            <a:r>
              <a:rPr lang="en-US" sz="1600" b="1" spc="33" dirty="0">
                <a:solidFill>
                  <a:srgbClr val="FAB700"/>
                </a:solidFill>
                <a:latin typeface="DM Sans"/>
                <a:ea typeface="+mn-ea"/>
              </a:rPr>
              <a:t>Part 2: </a:t>
            </a:r>
            <a:r>
              <a:rPr lang="en-US" sz="1600" b="1" spc="33" dirty="0">
                <a:solidFill>
                  <a:srgbClr val="FFFFFF"/>
                </a:solidFill>
                <a:latin typeface="DM Sans"/>
                <a:ea typeface="+mn-ea"/>
              </a:rPr>
              <a:t>Decisions on climate change (20 mins)</a:t>
            </a:r>
          </a:p>
          <a:p>
            <a:pPr marL="179502" lvl="1" defTabSz="609630" eaLnBrk="1" fontAlgn="auto" hangingPunct="1">
              <a:lnSpc>
                <a:spcPts val="3333"/>
              </a:lnSpc>
              <a:spcBef>
                <a:spcPts val="0"/>
              </a:spcBef>
              <a:spcAft>
                <a:spcPts val="0"/>
              </a:spcAft>
            </a:pPr>
            <a:r>
              <a:rPr lang="en-US" sz="1600" b="1" spc="33" dirty="0">
                <a:solidFill>
                  <a:srgbClr val="FAB700"/>
                </a:solidFill>
                <a:latin typeface="DM Sans"/>
                <a:ea typeface="+mn-ea"/>
              </a:rPr>
              <a:t>Part 3: </a:t>
            </a:r>
            <a:r>
              <a:rPr lang="en-US" sz="1600" b="1" spc="33" dirty="0">
                <a:solidFill>
                  <a:srgbClr val="FFFFFF"/>
                </a:solidFill>
                <a:latin typeface="DM Sans"/>
                <a:ea typeface="+mn-ea"/>
              </a:rPr>
              <a:t>Mitigation Strategies (10 mins)</a:t>
            </a:r>
          </a:p>
          <a:p>
            <a:pPr marL="179502" lvl="1" defTabSz="609630" eaLnBrk="1" fontAlgn="auto" hangingPunct="1">
              <a:lnSpc>
                <a:spcPts val="3333"/>
              </a:lnSpc>
              <a:spcBef>
                <a:spcPts val="0"/>
              </a:spcBef>
              <a:spcAft>
                <a:spcPts val="0"/>
              </a:spcAft>
            </a:pPr>
            <a:r>
              <a:rPr lang="en-US" sz="1600" b="1" spc="33" dirty="0">
                <a:solidFill>
                  <a:srgbClr val="FAB700"/>
                </a:solidFill>
                <a:latin typeface="DM Sans"/>
                <a:ea typeface="+mn-ea"/>
              </a:rPr>
              <a:t>Part 4: </a:t>
            </a:r>
            <a:r>
              <a:rPr lang="en-US" sz="1600" b="1" spc="33" dirty="0">
                <a:solidFill>
                  <a:srgbClr val="FFFFFF"/>
                </a:solidFill>
                <a:latin typeface="DM Sans"/>
                <a:ea typeface="+mn-ea"/>
              </a:rPr>
              <a:t>Workshop (50 mins)</a:t>
            </a:r>
          </a:p>
          <a:p>
            <a:pPr marL="179502" lvl="1" defTabSz="609630" eaLnBrk="1" fontAlgn="auto" hangingPunct="1">
              <a:lnSpc>
                <a:spcPts val="3333"/>
              </a:lnSpc>
              <a:spcBef>
                <a:spcPts val="0"/>
              </a:spcBef>
              <a:spcAft>
                <a:spcPts val="0"/>
              </a:spcAft>
            </a:pPr>
            <a:endParaRPr lang="en-US" sz="1600" b="1" spc="33" dirty="0">
              <a:solidFill>
                <a:srgbClr val="FFFFFF"/>
              </a:solidFill>
              <a:latin typeface="DM Sans"/>
              <a:ea typeface="+mn-ea"/>
            </a:endParaRPr>
          </a:p>
          <a:p>
            <a:pPr marL="179502" lvl="1" defTabSz="609630" eaLnBrk="1" fontAlgn="auto" hangingPunct="1">
              <a:lnSpc>
                <a:spcPts val="3333"/>
              </a:lnSpc>
              <a:spcBef>
                <a:spcPts val="0"/>
              </a:spcBef>
              <a:spcAft>
                <a:spcPts val="0"/>
              </a:spcAft>
            </a:pPr>
            <a:endParaRPr lang="en-US" sz="1600" b="1" spc="33" dirty="0">
              <a:solidFill>
                <a:srgbClr val="FFFFFF"/>
              </a:solidFill>
              <a:latin typeface="DM Sans"/>
              <a:ea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advTm="52419"/>
    </mc:Choice>
    <mc:Fallback xmlns="">
      <p:transition spd="slow" advTm="5241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9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9B693CE2-191B-CF17-DBCC-B40B5BC806CD}"/>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1F2A7427-2BC8-A348-9560-329FBA186A28}"/>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pic>
        <p:nvPicPr>
          <p:cNvPr id="4" name="Picture 3">
            <a:extLst>
              <a:ext uri="{FF2B5EF4-FFF2-40B4-BE49-F238E27FC236}">
                <a16:creationId xmlns:a16="http://schemas.microsoft.com/office/drawing/2014/main" id="{FDE1E93D-55DA-0A65-6BFB-F6C46CE0E2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644" y="247211"/>
            <a:ext cx="5164667" cy="6087533"/>
          </a:xfrm>
          <a:prstGeom prst="rect">
            <a:avLst/>
          </a:prstGeom>
        </p:spPr>
      </p:pic>
      <p:pic>
        <p:nvPicPr>
          <p:cNvPr id="2" name="Picture 1" descr="A qr code with a black and white background&#10;&#10;AI-generated content may be incorrect.">
            <a:extLst>
              <a:ext uri="{FF2B5EF4-FFF2-40B4-BE49-F238E27FC236}">
                <a16:creationId xmlns:a16="http://schemas.microsoft.com/office/drawing/2014/main" id="{ADC64021-C09B-40D4-D265-B4E946E7D8D4}"/>
              </a:ext>
            </a:extLst>
          </p:cNvPr>
          <p:cNvPicPr>
            <a:picLocks noChangeAspect="1"/>
          </p:cNvPicPr>
          <p:nvPr/>
        </p:nvPicPr>
        <p:blipFill>
          <a:blip r:embed="rId5"/>
          <a:stretch>
            <a:fillRect/>
          </a:stretch>
        </p:blipFill>
        <p:spPr>
          <a:xfrm>
            <a:off x="6901793" y="2966064"/>
            <a:ext cx="2801007" cy="2801007"/>
          </a:xfrm>
          <a:prstGeom prst="rect">
            <a:avLst/>
          </a:prstGeom>
        </p:spPr>
      </p:pic>
      <p:sp>
        <p:nvSpPr>
          <p:cNvPr id="5" name="TextBox 4">
            <a:extLst>
              <a:ext uri="{FF2B5EF4-FFF2-40B4-BE49-F238E27FC236}">
                <a16:creationId xmlns:a16="http://schemas.microsoft.com/office/drawing/2014/main" id="{F652C4D3-A287-8752-D8A9-561E667C9FB0}"/>
              </a:ext>
            </a:extLst>
          </p:cNvPr>
          <p:cNvSpPr txBox="1"/>
          <p:nvPr/>
        </p:nvSpPr>
        <p:spPr>
          <a:xfrm>
            <a:off x="6901794" y="5948373"/>
            <a:ext cx="280100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defTabSz="914446" eaLnBrk="1" fontAlgn="auto" hangingPunct="1">
              <a:spcBef>
                <a:spcPts val="0"/>
              </a:spcBef>
              <a:spcAft>
                <a:spcPts val="0"/>
              </a:spcAft>
              <a:defRPr/>
            </a:pPr>
            <a:r>
              <a:rPr lang="en-US" dirty="0">
                <a:solidFill>
                  <a:prstClr val="black"/>
                </a:solidFill>
                <a:latin typeface="DM Sans"/>
              </a:rPr>
              <a:t>Comments/Questions</a:t>
            </a:r>
          </a:p>
        </p:txBody>
      </p:sp>
    </p:spTree>
    <p:extLst>
      <p:ext uri="{BB962C8B-B14F-4D97-AF65-F5344CB8AC3E}">
        <p14:creationId xmlns:p14="http://schemas.microsoft.com/office/powerpoint/2010/main" val="744325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0571923-5F98-7332-144E-9831EFAC82FC}"/>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6843EB19-9432-B8FF-3771-3879D9EBFE54}"/>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pic>
        <p:nvPicPr>
          <p:cNvPr id="5" name="Picture 4">
            <a:extLst>
              <a:ext uri="{FF2B5EF4-FFF2-40B4-BE49-F238E27FC236}">
                <a16:creationId xmlns:a16="http://schemas.microsoft.com/office/drawing/2014/main" id="{748303FD-785A-31CE-0D33-E1FE19F12B93}"/>
              </a:ext>
            </a:extLst>
          </p:cNvPr>
          <p:cNvPicPr>
            <a:picLocks noChangeAspect="1"/>
          </p:cNvPicPr>
          <p:nvPr/>
        </p:nvPicPr>
        <p:blipFill>
          <a:blip r:embed="rId5"/>
          <a:srcRect t="633" r="-2" b="-2"/>
          <a:stretch>
            <a:fillRect/>
          </a:stretch>
        </p:blipFill>
        <p:spPr>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p:spPr>
      </p:pic>
      <p:graphicFrame>
        <p:nvGraphicFramePr>
          <p:cNvPr id="12" name="TextBox 6">
            <a:extLst>
              <a:ext uri="{FF2B5EF4-FFF2-40B4-BE49-F238E27FC236}">
                <a16:creationId xmlns:a16="http://schemas.microsoft.com/office/drawing/2014/main" id="{CD644E3D-5350-E4F4-376A-1FE41150FDE8}"/>
              </a:ext>
            </a:extLst>
          </p:cNvPr>
          <p:cNvGraphicFramePr/>
          <p:nvPr>
            <p:extLst>
              <p:ext uri="{D42A27DB-BD31-4B8C-83A1-F6EECF244321}">
                <p14:modId xmlns:p14="http://schemas.microsoft.com/office/powerpoint/2010/main" val="889434900"/>
              </p:ext>
            </p:extLst>
          </p:nvPr>
        </p:nvGraphicFramePr>
        <p:xfrm>
          <a:off x="6870826" y="1844824"/>
          <a:ext cx="4871515" cy="390858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632545094"/>
      </p:ext>
    </p:extLst>
  </p:cSld>
  <p:clrMapOvr>
    <a:masterClrMapping/>
  </p:clrMapOvr>
  <mc:AlternateContent xmlns:mc="http://schemas.openxmlformats.org/markup-compatibility/2006" xmlns:p14="http://schemas.microsoft.com/office/powerpoint/2010/main">
    <mc:Choice Requires="p14">
      <p:transition spd="slow" p14:dur="2000" advTm="139624"/>
    </mc:Choice>
    <mc:Fallback xmlns="">
      <p:transition spd="slow" advTm="13962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9149E44-A3FC-4CDE-69DD-E520FBC10358}"/>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D585FB5-56A3-A11D-6B8E-400AD5140AD2}"/>
              </a:ext>
            </a:extLst>
          </p:cNvPr>
          <p:cNvPicPr>
            <a:picLocks noChangeAspect="1"/>
          </p:cNvPicPr>
          <p:nvPr/>
        </p:nvPicPr>
        <p:blipFill>
          <a:blip r:embed="rId3">
            <a:alphaModFix amt="50000"/>
          </a:blip>
          <a:srcRect t="25000"/>
          <a:stretch>
            <a:fillRect/>
          </a:stretch>
        </p:blipFill>
        <p:spPr>
          <a:xfrm>
            <a:off x="20" y="1"/>
            <a:ext cx="12191980" cy="6857999"/>
          </a:xfrm>
          <a:prstGeom prst="rect">
            <a:avLst/>
          </a:prstGeom>
        </p:spPr>
      </p:pic>
      <p:sp>
        <p:nvSpPr>
          <p:cNvPr id="2" name="TextBox 5">
            <a:extLst>
              <a:ext uri="{FF2B5EF4-FFF2-40B4-BE49-F238E27FC236}">
                <a16:creationId xmlns:a16="http://schemas.microsoft.com/office/drawing/2014/main" id="{3654EF43-142E-DEEA-F73D-85F5D75C3810}"/>
              </a:ext>
            </a:extLst>
          </p:cNvPr>
          <p:cNvSpPr txBox="1"/>
          <p:nvPr/>
        </p:nvSpPr>
        <p:spPr>
          <a:xfrm>
            <a:off x="1524000" y="1122362"/>
            <a:ext cx="9144000" cy="2900518"/>
          </a:xfrm>
          <a:prstGeom prst="rect">
            <a:avLst/>
          </a:prstGeom>
        </p:spPr>
        <p:txBody>
          <a:bodyPr vert="horz" lIns="91440" tIns="45720" rIns="91440" bIns="45720" rtlCol="0" anchor="b">
            <a:normAutofit/>
          </a:bodyPr>
          <a:lstStyle/>
          <a:p>
            <a:pPr algn="ctr" eaLnBrk="1" fontAlgn="auto" hangingPunct="1">
              <a:lnSpc>
                <a:spcPct val="90000"/>
              </a:lnSpc>
              <a:spcAft>
                <a:spcPts val="600"/>
              </a:spcAft>
              <a:defRPr/>
            </a:pPr>
            <a:r>
              <a:rPr lang="en-US" sz="6000" b="1" i="1">
                <a:solidFill>
                  <a:srgbClr val="FFFFFF"/>
                </a:solidFill>
                <a:latin typeface="+mj-lt"/>
                <a:ea typeface="+mj-ea"/>
                <a:cs typeface="+mj-cs"/>
              </a:rPr>
              <a:t>What can we do?</a:t>
            </a:r>
            <a:endParaRPr lang="en-US" sz="6000" i="1">
              <a:solidFill>
                <a:srgbClr val="FFFFFF"/>
              </a:solidFill>
              <a:latin typeface="+mj-lt"/>
              <a:ea typeface="+mj-ea"/>
              <a:cs typeface="+mj-cs"/>
            </a:endParaRPr>
          </a:p>
        </p:txBody>
      </p:sp>
    </p:spTree>
    <p:extLst>
      <p:ext uri="{BB962C8B-B14F-4D97-AF65-F5344CB8AC3E}">
        <p14:creationId xmlns:p14="http://schemas.microsoft.com/office/powerpoint/2010/main" val="24059270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39624"/>
    </mc:Choice>
    <mc:Fallback xmlns="">
      <p:transition spd="slow" advTm="13962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762000" y="1089044"/>
            <a:ext cx="9231783" cy="569580"/>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733" b="1" i="1" dirty="0">
                <a:solidFill>
                  <a:srgbClr val="46245A"/>
                </a:solidFill>
                <a:latin typeface="DM Sans" pitchFamily="2" charset="0"/>
                <a:ea typeface="+mn-ea"/>
              </a:rPr>
              <a:t>What can we do?</a:t>
            </a:r>
            <a:endParaRPr lang="en-US" sz="3733" i="1" dirty="0">
              <a:solidFill>
                <a:srgbClr val="46245A"/>
              </a:solidFill>
              <a:latin typeface="DM Sans" pitchFamily="2" charset="0"/>
              <a:ea typeface="+mn-ea"/>
            </a:endParaRPr>
          </a:p>
        </p:txBody>
      </p:sp>
      <p:sp>
        <p:nvSpPr>
          <p:cNvPr id="3" name="Content Placeholder 2">
            <a:extLst>
              <a:ext uri="{FF2B5EF4-FFF2-40B4-BE49-F238E27FC236}">
                <a16:creationId xmlns:a16="http://schemas.microsoft.com/office/drawing/2014/main" id="{7C368D6C-F9C4-59FA-AD50-DE8DA0972EE6}"/>
              </a:ext>
            </a:extLst>
          </p:cNvPr>
          <p:cNvSpPr txBox="1">
            <a:spLocks/>
          </p:cNvSpPr>
          <p:nvPr/>
        </p:nvSpPr>
        <p:spPr>
          <a:xfrm>
            <a:off x="6248403" y="2381054"/>
            <a:ext cx="5731563" cy="5493151"/>
          </a:xfrm>
          <a:prstGeom prst="rect">
            <a:avLst/>
          </a:prstGeom>
        </p:spPr>
        <p:txBody>
          <a:bodyPr>
            <a:normAutofit/>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0" indent="0" defTabSz="609630" fontAlgn="auto">
              <a:spcAft>
                <a:spcPts val="0"/>
              </a:spcAft>
              <a:buNone/>
              <a:defRPr/>
            </a:pPr>
            <a:r>
              <a:rPr lang="en-GB" sz="1333" b="1" dirty="0">
                <a:solidFill>
                  <a:prstClr val="black"/>
                </a:solidFill>
                <a:latin typeface="DM Sans"/>
              </a:rPr>
              <a:t>Adaptation:</a:t>
            </a:r>
            <a:r>
              <a:rPr lang="en-GB" sz="1333" dirty="0">
                <a:solidFill>
                  <a:prstClr val="black"/>
                </a:solidFill>
                <a:latin typeface="DM Sans"/>
              </a:rPr>
              <a:t> adapting to life in a changing climate.</a:t>
            </a:r>
          </a:p>
          <a:p>
            <a:pPr marL="0" indent="0" defTabSz="609630" fontAlgn="auto">
              <a:spcAft>
                <a:spcPts val="0"/>
              </a:spcAft>
              <a:buNone/>
              <a:defRPr/>
            </a:pPr>
            <a:endParaRPr lang="en-GB" sz="1333" b="1" dirty="0">
              <a:solidFill>
                <a:srgbClr val="2B2B2B"/>
              </a:solidFill>
              <a:latin typeface="DM Sans"/>
            </a:endParaRPr>
          </a:p>
          <a:p>
            <a:pPr marL="0" indent="0" defTabSz="609630" fontAlgn="auto">
              <a:spcAft>
                <a:spcPts val="0"/>
              </a:spcAft>
              <a:buNone/>
              <a:defRPr/>
            </a:pPr>
            <a:r>
              <a:rPr lang="en-GB" sz="1333" dirty="0">
                <a:solidFill>
                  <a:srgbClr val="2B2B2B"/>
                </a:solidFill>
                <a:latin typeface="DM Sans"/>
              </a:rPr>
              <a:t>The goal is to reduce our risks from the harmful effects of climate change </a:t>
            </a:r>
          </a:p>
          <a:p>
            <a:pPr marL="0" indent="0" defTabSz="609630" fontAlgn="auto">
              <a:spcAft>
                <a:spcPts val="0"/>
              </a:spcAft>
              <a:buNone/>
              <a:defRPr/>
            </a:pPr>
            <a:r>
              <a:rPr lang="en-GB" sz="1333" dirty="0">
                <a:solidFill>
                  <a:srgbClr val="2B2B2B"/>
                </a:solidFill>
                <a:latin typeface="DM Sans"/>
              </a:rPr>
              <a:t>It also includes making the most of any potential beneficial opportunities associated with climate change (for example, longer growing seasons or increased yields in some regions).</a:t>
            </a:r>
            <a:endParaRPr lang="en-GB" sz="1333" dirty="0">
              <a:solidFill>
                <a:prstClr val="black"/>
              </a:solidFill>
              <a:latin typeface="DM Sans"/>
            </a:endParaRPr>
          </a:p>
          <a:p>
            <a:pPr marL="228611" indent="-228611" defTabSz="609630" fontAlgn="auto">
              <a:spcAft>
                <a:spcPts val="0"/>
              </a:spcAft>
              <a:defRPr/>
            </a:pPr>
            <a:endParaRPr lang="en-GB" sz="1333" dirty="0">
              <a:solidFill>
                <a:prstClr val="black"/>
              </a:solidFill>
              <a:latin typeface="DM Sans"/>
            </a:endParaRPr>
          </a:p>
          <a:p>
            <a:pPr marL="0" indent="0" defTabSz="609630" fontAlgn="auto">
              <a:spcAft>
                <a:spcPts val="0"/>
              </a:spcAft>
              <a:buNone/>
              <a:defRPr/>
            </a:pPr>
            <a:r>
              <a:rPr lang="en-GB" sz="1333" b="1" dirty="0">
                <a:solidFill>
                  <a:prstClr val="black"/>
                </a:solidFill>
                <a:latin typeface="DM Sans"/>
              </a:rPr>
              <a:t>Mitigation:</a:t>
            </a:r>
            <a:r>
              <a:rPr lang="en-GB" sz="1333" dirty="0">
                <a:solidFill>
                  <a:prstClr val="black"/>
                </a:solidFill>
                <a:latin typeface="DM Sans"/>
              </a:rPr>
              <a:t> reducing climate change.</a:t>
            </a:r>
          </a:p>
          <a:p>
            <a:pPr marL="228611" indent="-228611" defTabSz="609630" fontAlgn="auto">
              <a:spcAft>
                <a:spcPts val="0"/>
              </a:spcAft>
              <a:defRPr/>
            </a:pPr>
            <a:endParaRPr lang="en-GB" sz="1333" dirty="0">
              <a:solidFill>
                <a:prstClr val="black"/>
              </a:solidFill>
              <a:latin typeface="DM Sans"/>
            </a:endParaRPr>
          </a:p>
          <a:p>
            <a:pPr marL="0" indent="0" defTabSz="609630" fontAlgn="auto">
              <a:spcAft>
                <a:spcPts val="0"/>
              </a:spcAft>
              <a:buNone/>
              <a:defRPr/>
            </a:pPr>
            <a:r>
              <a:rPr lang="en-GB" sz="1333" b="1" dirty="0">
                <a:solidFill>
                  <a:prstClr val="black"/>
                </a:solidFill>
                <a:latin typeface="DM Sans"/>
              </a:rPr>
              <a:t>involves reducing the flow of greenhouse gases into the atmosphere</a:t>
            </a:r>
            <a:r>
              <a:rPr lang="en-GB" sz="1333" dirty="0">
                <a:solidFill>
                  <a:prstClr val="black"/>
                </a:solidFill>
                <a:latin typeface="DM Sans"/>
              </a:rPr>
              <a:t>, either by reducing sources of these gases (for example, the burning of fossil fuels for electricity, heat, or transport) or enhancing the “sinks” that accumulate and store these gases (such as the oceans, forests, and soil). </a:t>
            </a:r>
          </a:p>
        </p:txBody>
      </p:sp>
      <p:pic>
        <p:nvPicPr>
          <p:cNvPr id="4" name="Picture 3" descr="A planet earth with smoke coming out of the top of a factory&#10;&#10;Description automatically generated">
            <a:extLst>
              <a:ext uri="{FF2B5EF4-FFF2-40B4-BE49-F238E27FC236}">
                <a16:creationId xmlns:a16="http://schemas.microsoft.com/office/drawing/2014/main" id="{F3EF454D-8A0B-D9D7-3721-331064DBEA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1999" y="2164501"/>
            <a:ext cx="5181600" cy="3799840"/>
          </a:xfrm>
          <a:prstGeom prst="rect">
            <a:avLst/>
          </a:prstGeom>
        </p:spPr>
      </p:pic>
      <p:sp>
        <p:nvSpPr>
          <p:cNvPr id="6" name="TextBox 5">
            <a:extLst>
              <a:ext uri="{FF2B5EF4-FFF2-40B4-BE49-F238E27FC236}">
                <a16:creationId xmlns:a16="http://schemas.microsoft.com/office/drawing/2014/main" id="{3E83AF9A-52E8-ACA7-540F-AC0138C2CCB5}"/>
              </a:ext>
            </a:extLst>
          </p:cNvPr>
          <p:cNvSpPr txBox="1"/>
          <p:nvPr/>
        </p:nvSpPr>
        <p:spPr>
          <a:xfrm>
            <a:off x="687755" y="1733613"/>
            <a:ext cx="10269415" cy="297454"/>
          </a:xfrm>
          <a:prstGeom prst="rect">
            <a:avLst/>
          </a:prstGeom>
          <a:noFill/>
        </p:spPr>
        <p:txBody>
          <a:bodyPr wrap="square">
            <a:spAutoFit/>
          </a:bodyPr>
          <a:lstStyle/>
          <a:p>
            <a:pPr defTabSz="609630" eaLnBrk="1" fontAlgn="auto" hangingPunct="1">
              <a:spcBef>
                <a:spcPts val="0"/>
              </a:spcBef>
              <a:spcAft>
                <a:spcPts val="0"/>
              </a:spcAft>
              <a:defRPr/>
            </a:pPr>
            <a:r>
              <a:rPr lang="en-GB" sz="1333" dirty="0">
                <a:solidFill>
                  <a:srgbClr val="2B2B2B"/>
                </a:solidFill>
                <a:latin typeface="DM Sans"/>
                <a:ea typeface="+mn-ea"/>
              </a:rPr>
              <a:t>We are already committed to some level of climate change, responding to climate change involves a two-pronged approach: </a:t>
            </a:r>
          </a:p>
        </p:txBody>
      </p:sp>
    </p:spTree>
    <p:extLst>
      <p:ext uri="{BB962C8B-B14F-4D97-AF65-F5344CB8AC3E}">
        <p14:creationId xmlns:p14="http://schemas.microsoft.com/office/powerpoint/2010/main" val="4055362553"/>
      </p:ext>
    </p:extLst>
  </p:cSld>
  <p:clrMapOvr>
    <a:masterClrMapping/>
  </p:clrMapOvr>
  <mc:AlternateContent xmlns:mc="http://schemas.openxmlformats.org/markup-compatibility/2006" xmlns:p14="http://schemas.microsoft.com/office/powerpoint/2010/main">
    <mc:Choice Requires="p14">
      <p:transition spd="slow" p14:dur="2000" advTm="139624"/>
    </mc:Choice>
    <mc:Fallback xmlns="">
      <p:transition spd="slow" advTm="13962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42B8EF57-5BEB-2D18-721F-8D74AE754DA5}"/>
            </a:ext>
          </a:extLst>
        </p:cNvPr>
        <p:cNvGrpSpPr/>
        <p:nvPr/>
      </p:nvGrpSpPr>
      <p:grpSpPr>
        <a:xfrm>
          <a:off x="0" y="0"/>
          <a:ext cx="0" cy="0"/>
          <a:chOff x="0" y="0"/>
          <a:chExt cx="0" cy="0"/>
        </a:xfrm>
      </p:grpSpPr>
      <p:sp>
        <p:nvSpPr>
          <p:cNvPr id="8" name="Rectangle 1">
            <a:extLst>
              <a:ext uri="{FF2B5EF4-FFF2-40B4-BE49-F238E27FC236}">
                <a16:creationId xmlns:a16="http://schemas.microsoft.com/office/drawing/2014/main" id="{34320890-DB06-03D0-A516-D4969603BCDA}"/>
              </a:ext>
            </a:extLst>
          </p:cNvPr>
          <p:cNvSpPr>
            <a:spLocks noChangeArrowheads="1"/>
          </p:cNvSpPr>
          <p:nvPr/>
        </p:nvSpPr>
        <p:spPr bwMode="auto">
          <a:xfrm>
            <a:off x="587914" y="1813563"/>
            <a:ext cx="7596318" cy="4251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952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B0C0C"/>
                </a:solidFill>
                <a:effectLst/>
                <a:latin typeface="Calibri" panose="020F0502020204030204" pitchFamily="34" charset="0"/>
                <a:cs typeface="Calibri" panose="020F0502020204030204" pitchFamily="34" charset="0"/>
              </a:rPr>
              <a:t>Greenhouse Gas Removal (GGR) and Solar Radiation Management (SRM) are terms describing a range of technologies that aim to counteract human-caused climate change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rgbClr val="0B0C0C"/>
                </a:solidFill>
                <a:latin typeface="Calibri" panose="020F0502020204030204" pitchFamily="34" charset="0"/>
                <a:cs typeface="Calibri" panose="020F0502020204030204" pitchFamily="34" charset="0"/>
              </a:rPr>
              <a:t>This is done through </a:t>
            </a:r>
            <a:r>
              <a:rPr kumimoji="0" lang="en-US" altLang="en-US" b="0" i="0" u="none" strike="noStrike" cap="none" normalizeH="0" baseline="0" dirty="0">
                <a:ln>
                  <a:noFill/>
                </a:ln>
                <a:solidFill>
                  <a:srgbClr val="0B0C0C"/>
                </a:solidFill>
                <a:effectLst/>
                <a:latin typeface="Calibri" panose="020F0502020204030204" pitchFamily="34" charset="0"/>
                <a:cs typeface="Calibri" panose="020F0502020204030204" pitchFamily="34" charset="0"/>
              </a:rPr>
              <a:t>deliberate large-scale intervention in the Earth’s natural systems.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B0C0C"/>
                </a:solidFill>
                <a:effectLst/>
                <a:latin typeface="Calibri" panose="020F0502020204030204" pitchFamily="34" charset="0"/>
                <a:cs typeface="Calibri" panose="020F0502020204030204" pitchFamily="34" charset="0"/>
              </a:rPr>
              <a:t>They are sometimes referred to as ‘geo-engineering’ or ‘climate engineering’.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B0C0C"/>
                </a:solidFill>
                <a:effectLst/>
                <a:latin typeface="Calibri" panose="020F0502020204030204" pitchFamily="34" charset="0"/>
                <a:cs typeface="Calibri" panose="020F0502020204030204" pitchFamily="34" charset="0"/>
              </a:rPr>
              <a:t>GGR technologies actively remove greenhouse gases from the atmosphere.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B0C0C"/>
                </a:solidFill>
                <a:effectLst/>
                <a:latin typeface="Calibri" panose="020F0502020204030204" pitchFamily="34" charset="0"/>
                <a:cs typeface="Calibri" panose="020F0502020204030204" pitchFamily="34" charset="0"/>
              </a:rPr>
              <a:t>Those that specifically remove carbon dioxide (CO2) from the atmosphere are also known as Carbon Dioxide Removal (CDR) technologies.</a:t>
            </a:r>
            <a:endParaRPr kumimoji="0" lang="en-US" altLang="en-US"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B0C0C"/>
              </a:solidFill>
              <a:effectLst/>
              <a:latin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B0C0C"/>
                </a:solidFill>
                <a:effectLst/>
                <a:latin typeface="Calibri" panose="020F0502020204030204" pitchFamily="34" charset="0"/>
                <a:cs typeface="Calibri" panose="020F0502020204030204" pitchFamily="34" charset="0"/>
              </a:rPr>
              <a:t>SRM technologies reflect some of the Sun’s energy that reaches Earth back into space.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B0C0C"/>
                </a:solidFill>
                <a:effectLst/>
                <a:latin typeface="Calibri" panose="020F0502020204030204" pitchFamily="34" charset="0"/>
                <a:cs typeface="Calibri" panose="020F0502020204030204" pitchFamily="34" charset="0"/>
              </a:rPr>
              <a:t>While these would be likely to reduce the Earth’s temperature, they would not reverse ocean acidification (unlike GGRs).</a:t>
            </a:r>
            <a:endParaRPr kumimoji="0" lang="en-US" altLang="en-US"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9" name="TextBox 5">
            <a:extLst>
              <a:ext uri="{FF2B5EF4-FFF2-40B4-BE49-F238E27FC236}">
                <a16:creationId xmlns:a16="http://schemas.microsoft.com/office/drawing/2014/main" id="{E14775E6-8C2E-878B-83B0-F6FF53BFC8FE}"/>
              </a:ext>
            </a:extLst>
          </p:cNvPr>
          <p:cNvSpPr txBox="1"/>
          <p:nvPr/>
        </p:nvSpPr>
        <p:spPr>
          <a:xfrm>
            <a:off x="623392" y="908720"/>
            <a:ext cx="9231783" cy="577081"/>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733" b="1" i="1" dirty="0">
                <a:solidFill>
                  <a:srgbClr val="46245A"/>
                </a:solidFill>
                <a:latin typeface="DM Sans" pitchFamily="2" charset="0"/>
                <a:ea typeface="+mn-ea"/>
              </a:rPr>
              <a:t>Climate Engineering</a:t>
            </a:r>
            <a:endParaRPr lang="en-US" sz="3733" i="1" dirty="0">
              <a:solidFill>
                <a:srgbClr val="46245A"/>
              </a:solidFill>
              <a:latin typeface="DM Sans" pitchFamily="2" charset="0"/>
              <a:ea typeface="+mn-ea"/>
            </a:endParaRPr>
          </a:p>
        </p:txBody>
      </p:sp>
      <p:pic>
        <p:nvPicPr>
          <p:cNvPr id="4" name="Picture 3">
            <a:extLst>
              <a:ext uri="{FF2B5EF4-FFF2-40B4-BE49-F238E27FC236}">
                <a16:creationId xmlns:a16="http://schemas.microsoft.com/office/drawing/2014/main" id="{0A50D1A3-F40C-9D1B-3430-8EDD532CDB8D}"/>
              </a:ext>
            </a:extLst>
          </p:cNvPr>
          <p:cNvPicPr>
            <a:picLocks noChangeAspect="1"/>
          </p:cNvPicPr>
          <p:nvPr/>
        </p:nvPicPr>
        <p:blipFill>
          <a:blip r:embed="rId5"/>
          <a:srcRect l="31138" t="1" r="37047" b="1"/>
          <a:stretch>
            <a:fillRect/>
          </a:stretch>
        </p:blipFill>
        <p:spPr>
          <a:xfrm>
            <a:off x="8328249" y="6932"/>
            <a:ext cx="3863752" cy="6858002"/>
          </a:xfrm>
          <a:custGeom>
            <a:avLst/>
            <a:gdLst/>
            <a:ahLst/>
            <a:cxnLst/>
            <a:rect l="l" t="t" r="r" b="b"/>
            <a:pathLst>
              <a:path w="4543953" h="6858002">
                <a:moveTo>
                  <a:pt x="248638" y="6438981"/>
                </a:moveTo>
                <a:cubicBezTo>
                  <a:pt x="258140" y="6444077"/>
                  <a:pt x="265617" y="6451650"/>
                  <a:pt x="268569" y="6463841"/>
                </a:cubicBezTo>
                <a:lnTo>
                  <a:pt x="268572" y="6463849"/>
                </a:lnTo>
                <a:lnTo>
                  <a:pt x="279556" y="6508052"/>
                </a:lnTo>
                <a:lnTo>
                  <a:pt x="282367" y="6513012"/>
                </a:lnTo>
                <a:lnTo>
                  <a:pt x="284834" y="6521804"/>
                </a:lnTo>
                <a:lnTo>
                  <a:pt x="301172" y="6546195"/>
                </a:lnTo>
                <a:lnTo>
                  <a:pt x="301172" y="6546194"/>
                </a:lnTo>
                <a:lnTo>
                  <a:pt x="282367" y="6513012"/>
                </a:lnTo>
                <a:lnTo>
                  <a:pt x="268572" y="6463849"/>
                </a:lnTo>
                <a:lnTo>
                  <a:pt x="268569" y="6463840"/>
                </a:lnTo>
                <a:close/>
                <a:moveTo>
                  <a:pt x="332842" y="2836172"/>
                </a:moveTo>
                <a:lnTo>
                  <a:pt x="332842" y="2836173"/>
                </a:lnTo>
                <a:cubicBezTo>
                  <a:pt x="336914" y="2839983"/>
                  <a:pt x="340200" y="2844317"/>
                  <a:pt x="341533" y="2848794"/>
                </a:cubicBezTo>
                <a:cubicBezTo>
                  <a:pt x="348200" y="2870416"/>
                  <a:pt x="356392" y="2892181"/>
                  <a:pt x="361441" y="2914328"/>
                </a:cubicBezTo>
                <a:lnTo>
                  <a:pt x="366072" y="2947863"/>
                </a:lnTo>
                <a:lnTo>
                  <a:pt x="362488" y="2982148"/>
                </a:lnTo>
                <a:cubicBezTo>
                  <a:pt x="354392" y="3014153"/>
                  <a:pt x="350582" y="3045777"/>
                  <a:pt x="350796" y="3077401"/>
                </a:cubicBezTo>
                <a:lnTo>
                  <a:pt x="350796" y="3077402"/>
                </a:lnTo>
                <a:lnTo>
                  <a:pt x="350796" y="3077402"/>
                </a:lnTo>
                <a:cubicBezTo>
                  <a:pt x="351010" y="3109026"/>
                  <a:pt x="355249" y="3140650"/>
                  <a:pt x="363250" y="3172655"/>
                </a:cubicBezTo>
                <a:cubicBezTo>
                  <a:pt x="389159" y="3276481"/>
                  <a:pt x="416591" y="3380306"/>
                  <a:pt x="410877" y="3489468"/>
                </a:cubicBezTo>
                <a:cubicBezTo>
                  <a:pt x="409925" y="3507564"/>
                  <a:pt x="421546" y="3529091"/>
                  <a:pt x="432976" y="3544714"/>
                </a:cubicBezTo>
                <a:cubicBezTo>
                  <a:pt x="438406" y="3552191"/>
                  <a:pt x="442585" y="3557716"/>
                  <a:pt x="445520" y="3562321"/>
                </a:cubicBezTo>
                <a:lnTo>
                  <a:pt x="450598" y="3574408"/>
                </a:lnTo>
                <a:lnTo>
                  <a:pt x="448246" y="3587174"/>
                </a:lnTo>
                <a:cubicBezTo>
                  <a:pt x="446228" y="3592232"/>
                  <a:pt x="442978" y="3598435"/>
                  <a:pt x="438500" y="3606817"/>
                </a:cubicBezTo>
                <a:cubicBezTo>
                  <a:pt x="434118" y="3614819"/>
                  <a:pt x="431452" y="3624725"/>
                  <a:pt x="424974" y="3630632"/>
                </a:cubicBezTo>
                <a:cubicBezTo>
                  <a:pt x="408496" y="3645682"/>
                  <a:pt x="402257" y="3662494"/>
                  <a:pt x="400733" y="3680163"/>
                </a:cubicBezTo>
                <a:lnTo>
                  <a:pt x="400733" y="3680164"/>
                </a:lnTo>
                <a:lnTo>
                  <a:pt x="400733" y="3680164"/>
                </a:lnTo>
                <a:lnTo>
                  <a:pt x="404781" y="3734838"/>
                </a:lnTo>
                <a:lnTo>
                  <a:pt x="404399" y="3754652"/>
                </a:lnTo>
                <a:cubicBezTo>
                  <a:pt x="398399" y="3767130"/>
                  <a:pt x="396447" y="3778655"/>
                  <a:pt x="398042" y="3789776"/>
                </a:cubicBezTo>
                <a:lnTo>
                  <a:pt x="398042" y="3789776"/>
                </a:lnTo>
                <a:lnTo>
                  <a:pt x="398042" y="3789777"/>
                </a:lnTo>
                <a:cubicBezTo>
                  <a:pt x="399638" y="3800897"/>
                  <a:pt x="404781" y="3811614"/>
                  <a:pt x="412973" y="3822473"/>
                </a:cubicBezTo>
                <a:lnTo>
                  <a:pt x="427308" y="3852620"/>
                </a:lnTo>
                <a:lnTo>
                  <a:pt x="426528" y="3868764"/>
                </a:lnTo>
                <a:cubicBezTo>
                  <a:pt x="425070" y="3874229"/>
                  <a:pt x="422307" y="3879766"/>
                  <a:pt x="417925" y="3885338"/>
                </a:cubicBezTo>
                <a:cubicBezTo>
                  <a:pt x="398494" y="3910104"/>
                  <a:pt x="388302" y="3935727"/>
                  <a:pt x="386040" y="3962159"/>
                </a:cubicBezTo>
                <a:lnTo>
                  <a:pt x="386040" y="3962160"/>
                </a:lnTo>
                <a:lnTo>
                  <a:pt x="386040" y="3962160"/>
                </a:lnTo>
                <a:cubicBezTo>
                  <a:pt x="383778" y="3988593"/>
                  <a:pt x="389446" y="4015835"/>
                  <a:pt x="401733" y="4043840"/>
                </a:cubicBezTo>
                <a:lnTo>
                  <a:pt x="416855" y="4103826"/>
                </a:lnTo>
                <a:lnTo>
                  <a:pt x="414887" y="4134256"/>
                </a:lnTo>
                <a:cubicBezTo>
                  <a:pt x="413045" y="4144498"/>
                  <a:pt x="409973" y="4154857"/>
                  <a:pt x="405543" y="4165383"/>
                </a:cubicBezTo>
                <a:cubicBezTo>
                  <a:pt x="402114" y="4173480"/>
                  <a:pt x="401543" y="4182767"/>
                  <a:pt x="401638" y="4192387"/>
                </a:cubicBezTo>
                <a:lnTo>
                  <a:pt x="401638" y="4192388"/>
                </a:lnTo>
                <a:lnTo>
                  <a:pt x="401638" y="4192388"/>
                </a:lnTo>
                <a:lnTo>
                  <a:pt x="401733" y="4221391"/>
                </a:lnTo>
                <a:lnTo>
                  <a:pt x="396017" y="4253014"/>
                </a:lnTo>
                <a:cubicBezTo>
                  <a:pt x="383824" y="4277401"/>
                  <a:pt x="368204" y="4300070"/>
                  <a:pt x="356201" y="4324645"/>
                </a:cubicBezTo>
                <a:cubicBezTo>
                  <a:pt x="350487" y="4336457"/>
                  <a:pt x="347439" y="4350554"/>
                  <a:pt x="347247" y="4363890"/>
                </a:cubicBezTo>
                <a:lnTo>
                  <a:pt x="347247" y="4363891"/>
                </a:lnTo>
                <a:lnTo>
                  <a:pt x="347247" y="4363891"/>
                </a:lnTo>
                <a:cubicBezTo>
                  <a:pt x="346295" y="4403326"/>
                  <a:pt x="346295" y="4442762"/>
                  <a:pt x="348009" y="4482005"/>
                </a:cubicBezTo>
                <a:cubicBezTo>
                  <a:pt x="350677" y="4546777"/>
                  <a:pt x="351249" y="4612501"/>
                  <a:pt x="408019" y="4659175"/>
                </a:cubicBezTo>
                <a:cubicBezTo>
                  <a:pt x="412591" y="4662987"/>
                  <a:pt x="415259" y="4671177"/>
                  <a:pt x="416021" y="4677656"/>
                </a:cubicBezTo>
                <a:cubicBezTo>
                  <a:pt x="419640" y="4707565"/>
                  <a:pt x="420022" y="4738236"/>
                  <a:pt x="425928" y="4767765"/>
                </a:cubicBezTo>
                <a:lnTo>
                  <a:pt x="427237" y="4800483"/>
                </a:lnTo>
                <a:lnTo>
                  <a:pt x="412401" y="4828916"/>
                </a:lnTo>
                <a:cubicBezTo>
                  <a:pt x="395828" y="4846490"/>
                  <a:pt x="384397" y="4866958"/>
                  <a:pt x="382691" y="4889275"/>
                </a:cubicBezTo>
                <a:lnTo>
                  <a:pt x="382691" y="4889275"/>
                </a:lnTo>
                <a:lnTo>
                  <a:pt x="382691" y="4889276"/>
                </a:lnTo>
                <a:cubicBezTo>
                  <a:pt x="382122" y="4896714"/>
                  <a:pt x="382634" y="4904358"/>
                  <a:pt x="384396" y="4912169"/>
                </a:cubicBezTo>
                <a:lnTo>
                  <a:pt x="385799" y="4933805"/>
                </a:lnTo>
                <a:lnTo>
                  <a:pt x="381039" y="4952673"/>
                </a:lnTo>
                <a:cubicBezTo>
                  <a:pt x="376253" y="4964604"/>
                  <a:pt x="368680" y="4975511"/>
                  <a:pt x="360964" y="4987037"/>
                </a:cubicBezTo>
                <a:cubicBezTo>
                  <a:pt x="349725" y="5003801"/>
                  <a:pt x="335627" y="5022852"/>
                  <a:pt x="334485" y="5041521"/>
                </a:cubicBezTo>
                <a:cubicBezTo>
                  <a:pt x="332628" y="5073241"/>
                  <a:pt x="310088" y="5101639"/>
                  <a:pt x="308337" y="5133224"/>
                </a:cubicBezTo>
                <a:lnTo>
                  <a:pt x="308337" y="5133225"/>
                </a:lnTo>
                <a:lnTo>
                  <a:pt x="308337" y="5133225"/>
                </a:lnTo>
                <a:lnTo>
                  <a:pt x="315052" y="5166114"/>
                </a:lnTo>
                <a:lnTo>
                  <a:pt x="314362" y="5172090"/>
                </a:lnTo>
                <a:cubicBezTo>
                  <a:pt x="313481" y="5174400"/>
                  <a:pt x="312290" y="5176876"/>
                  <a:pt x="311814" y="5179067"/>
                </a:cubicBezTo>
                <a:lnTo>
                  <a:pt x="311814" y="5179068"/>
                </a:lnTo>
                <a:lnTo>
                  <a:pt x="311814" y="5179068"/>
                </a:lnTo>
                <a:cubicBezTo>
                  <a:pt x="304574" y="5214122"/>
                  <a:pt x="311624" y="5247079"/>
                  <a:pt x="335437" y="5272797"/>
                </a:cubicBezTo>
                <a:cubicBezTo>
                  <a:pt x="350964" y="5289657"/>
                  <a:pt x="359489" y="5307422"/>
                  <a:pt x="362870" y="5326163"/>
                </a:cubicBezTo>
                <a:lnTo>
                  <a:pt x="364317" y="5355014"/>
                </a:lnTo>
                <a:lnTo>
                  <a:pt x="359440" y="5385384"/>
                </a:lnTo>
                <a:cubicBezTo>
                  <a:pt x="356201" y="5398721"/>
                  <a:pt x="353915" y="5412057"/>
                  <a:pt x="351249" y="5425582"/>
                </a:cubicBezTo>
                <a:cubicBezTo>
                  <a:pt x="347439" y="5443870"/>
                  <a:pt x="343437" y="5462351"/>
                  <a:pt x="339627" y="5480637"/>
                </a:cubicBezTo>
                <a:cubicBezTo>
                  <a:pt x="337722" y="5489497"/>
                  <a:pt x="335151" y="5498832"/>
                  <a:pt x="335103" y="5507667"/>
                </a:cubicBezTo>
                <a:lnTo>
                  <a:pt x="335103" y="5507668"/>
                </a:lnTo>
                <a:lnTo>
                  <a:pt x="335103" y="5507668"/>
                </a:lnTo>
                <a:cubicBezTo>
                  <a:pt x="335056" y="5516503"/>
                  <a:pt x="337532" y="5524837"/>
                  <a:pt x="345723" y="5531694"/>
                </a:cubicBezTo>
                <a:lnTo>
                  <a:pt x="355869" y="5547578"/>
                </a:lnTo>
                <a:lnTo>
                  <a:pt x="346295" y="5562746"/>
                </a:lnTo>
                <a:cubicBezTo>
                  <a:pt x="303622" y="5600467"/>
                  <a:pt x="276951" y="5646189"/>
                  <a:pt x="275047" y="5704483"/>
                </a:cubicBezTo>
                <a:cubicBezTo>
                  <a:pt x="274665" y="5716485"/>
                  <a:pt x="271999" y="5728678"/>
                  <a:pt x="269141" y="5740488"/>
                </a:cubicBezTo>
                <a:cubicBezTo>
                  <a:pt x="267426" y="5747728"/>
                  <a:pt x="265520" y="5756493"/>
                  <a:pt x="260376" y="5760873"/>
                </a:cubicBezTo>
                <a:cubicBezTo>
                  <a:pt x="221133" y="5794974"/>
                  <a:pt x="193890" y="5837457"/>
                  <a:pt x="171981" y="5883751"/>
                </a:cubicBezTo>
                <a:cubicBezTo>
                  <a:pt x="164171" y="5900323"/>
                  <a:pt x="156361" y="5918042"/>
                  <a:pt x="154075" y="5935949"/>
                </a:cubicBezTo>
                <a:lnTo>
                  <a:pt x="154075" y="5935950"/>
                </a:lnTo>
                <a:lnTo>
                  <a:pt x="154075" y="5935950"/>
                </a:lnTo>
                <a:cubicBezTo>
                  <a:pt x="151789" y="5954618"/>
                  <a:pt x="155599" y="5974241"/>
                  <a:pt x="157695" y="5993292"/>
                </a:cubicBezTo>
                <a:cubicBezTo>
                  <a:pt x="158837" y="6004532"/>
                  <a:pt x="158647" y="6017486"/>
                  <a:pt x="164171" y="6026441"/>
                </a:cubicBezTo>
                <a:cubicBezTo>
                  <a:pt x="181508" y="6054826"/>
                  <a:pt x="200176" y="6082259"/>
                  <a:pt x="220371" y="6108739"/>
                </a:cubicBezTo>
                <a:lnTo>
                  <a:pt x="234064" y="6133315"/>
                </a:lnTo>
                <a:lnTo>
                  <a:pt x="230364" y="6143190"/>
                </a:lnTo>
                <a:cubicBezTo>
                  <a:pt x="227813" y="6146732"/>
                  <a:pt x="223895" y="6150697"/>
                  <a:pt x="218465" y="6155602"/>
                </a:cubicBezTo>
                <a:cubicBezTo>
                  <a:pt x="196176" y="6175797"/>
                  <a:pt x="184556" y="6200944"/>
                  <a:pt x="179794" y="6228756"/>
                </a:cubicBezTo>
                <a:cubicBezTo>
                  <a:pt x="172363" y="6272764"/>
                  <a:pt x="166077" y="6317151"/>
                  <a:pt x="162457" y="6361539"/>
                </a:cubicBezTo>
                <a:lnTo>
                  <a:pt x="162457" y="6361540"/>
                </a:lnTo>
                <a:lnTo>
                  <a:pt x="162457" y="6361540"/>
                </a:lnTo>
                <a:lnTo>
                  <a:pt x="162684" y="6365557"/>
                </a:lnTo>
                <a:lnTo>
                  <a:pt x="163946" y="6387910"/>
                </a:lnTo>
                <a:lnTo>
                  <a:pt x="166047" y="6392243"/>
                </a:lnTo>
                <a:lnTo>
                  <a:pt x="173364" y="6407333"/>
                </a:lnTo>
                <a:lnTo>
                  <a:pt x="173364" y="6407332"/>
                </a:lnTo>
                <a:lnTo>
                  <a:pt x="166047" y="6392243"/>
                </a:lnTo>
                <a:lnTo>
                  <a:pt x="163946" y="6387910"/>
                </a:lnTo>
                <a:lnTo>
                  <a:pt x="162684" y="6365557"/>
                </a:lnTo>
                <a:lnTo>
                  <a:pt x="162457" y="6361540"/>
                </a:lnTo>
                <a:lnTo>
                  <a:pt x="179794" y="6228757"/>
                </a:lnTo>
                <a:cubicBezTo>
                  <a:pt x="184556" y="6200945"/>
                  <a:pt x="196176" y="6175798"/>
                  <a:pt x="218465" y="6155603"/>
                </a:cubicBezTo>
                <a:cubicBezTo>
                  <a:pt x="229325" y="6145793"/>
                  <a:pt x="234135" y="6139745"/>
                  <a:pt x="234064" y="6133315"/>
                </a:cubicBezTo>
                <a:lnTo>
                  <a:pt x="234064" y="6133315"/>
                </a:lnTo>
                <a:lnTo>
                  <a:pt x="234064" y="6133314"/>
                </a:lnTo>
                <a:cubicBezTo>
                  <a:pt x="233993" y="6126884"/>
                  <a:pt x="229039" y="6120074"/>
                  <a:pt x="220371" y="6108738"/>
                </a:cubicBezTo>
                <a:cubicBezTo>
                  <a:pt x="200176" y="6082258"/>
                  <a:pt x="181508" y="6054825"/>
                  <a:pt x="164171" y="6026440"/>
                </a:cubicBezTo>
                <a:cubicBezTo>
                  <a:pt x="158647" y="6017485"/>
                  <a:pt x="158837" y="6004531"/>
                  <a:pt x="157695" y="5993291"/>
                </a:cubicBezTo>
                <a:cubicBezTo>
                  <a:pt x="156647" y="5983766"/>
                  <a:pt x="155171" y="5974097"/>
                  <a:pt x="154242" y="5964477"/>
                </a:cubicBezTo>
                <a:lnTo>
                  <a:pt x="154075" y="5935950"/>
                </a:lnTo>
                <a:lnTo>
                  <a:pt x="160957" y="5909351"/>
                </a:lnTo>
                <a:cubicBezTo>
                  <a:pt x="164171" y="5900611"/>
                  <a:pt x="168076" y="5892038"/>
                  <a:pt x="171981" y="5883752"/>
                </a:cubicBezTo>
                <a:cubicBezTo>
                  <a:pt x="193890" y="5837458"/>
                  <a:pt x="221133" y="5794975"/>
                  <a:pt x="260376" y="5760874"/>
                </a:cubicBezTo>
                <a:cubicBezTo>
                  <a:pt x="265520" y="5756494"/>
                  <a:pt x="267426" y="5747729"/>
                  <a:pt x="269141" y="5740489"/>
                </a:cubicBezTo>
                <a:cubicBezTo>
                  <a:pt x="271999" y="5728679"/>
                  <a:pt x="274665" y="5716486"/>
                  <a:pt x="275047" y="5704484"/>
                </a:cubicBezTo>
                <a:cubicBezTo>
                  <a:pt x="276951" y="5646190"/>
                  <a:pt x="303622" y="5600468"/>
                  <a:pt x="346295" y="5562747"/>
                </a:cubicBezTo>
                <a:cubicBezTo>
                  <a:pt x="352392" y="5557318"/>
                  <a:pt x="355774" y="5552508"/>
                  <a:pt x="355869" y="5547579"/>
                </a:cubicBezTo>
                <a:lnTo>
                  <a:pt x="355869" y="5547578"/>
                </a:lnTo>
                <a:lnTo>
                  <a:pt x="355869" y="5547578"/>
                </a:lnTo>
                <a:cubicBezTo>
                  <a:pt x="355964" y="5542649"/>
                  <a:pt x="352773" y="5537600"/>
                  <a:pt x="345723" y="5531693"/>
                </a:cubicBezTo>
                <a:cubicBezTo>
                  <a:pt x="341628" y="5528265"/>
                  <a:pt x="338961" y="5524467"/>
                  <a:pt x="337324" y="5520422"/>
                </a:cubicBezTo>
                <a:lnTo>
                  <a:pt x="335103" y="5507668"/>
                </a:lnTo>
                <a:lnTo>
                  <a:pt x="339627" y="5480638"/>
                </a:lnTo>
                <a:cubicBezTo>
                  <a:pt x="343437" y="5462352"/>
                  <a:pt x="347439" y="5443871"/>
                  <a:pt x="351249" y="5425583"/>
                </a:cubicBezTo>
                <a:cubicBezTo>
                  <a:pt x="353915" y="5412058"/>
                  <a:pt x="356201" y="5398722"/>
                  <a:pt x="359440" y="5385385"/>
                </a:cubicBezTo>
                <a:cubicBezTo>
                  <a:pt x="361965" y="5375003"/>
                  <a:pt x="363668" y="5364883"/>
                  <a:pt x="364317" y="5355015"/>
                </a:cubicBezTo>
                <a:lnTo>
                  <a:pt x="364317" y="5355014"/>
                </a:lnTo>
                <a:lnTo>
                  <a:pt x="364317" y="5355014"/>
                </a:lnTo>
                <a:cubicBezTo>
                  <a:pt x="366264" y="5325412"/>
                  <a:pt x="358727" y="5298086"/>
                  <a:pt x="335437" y="5272796"/>
                </a:cubicBezTo>
                <a:cubicBezTo>
                  <a:pt x="323531" y="5259937"/>
                  <a:pt x="315815" y="5245269"/>
                  <a:pt x="311981" y="5229433"/>
                </a:cubicBezTo>
                <a:lnTo>
                  <a:pt x="311814" y="5179068"/>
                </a:lnTo>
                <a:lnTo>
                  <a:pt x="314362" y="5172091"/>
                </a:lnTo>
                <a:cubicBezTo>
                  <a:pt x="315243" y="5169781"/>
                  <a:pt x="315814" y="5167638"/>
                  <a:pt x="315052" y="5166114"/>
                </a:cubicBezTo>
                <a:lnTo>
                  <a:pt x="315052" y="5166114"/>
                </a:lnTo>
                <a:lnTo>
                  <a:pt x="315052" y="5166113"/>
                </a:lnTo>
                <a:lnTo>
                  <a:pt x="308337" y="5133225"/>
                </a:lnTo>
                <a:lnTo>
                  <a:pt x="315482" y="5102461"/>
                </a:lnTo>
                <a:cubicBezTo>
                  <a:pt x="322817" y="5082339"/>
                  <a:pt x="333247" y="5062669"/>
                  <a:pt x="334485" y="5041522"/>
                </a:cubicBezTo>
                <a:cubicBezTo>
                  <a:pt x="335627" y="5022853"/>
                  <a:pt x="349725" y="5003802"/>
                  <a:pt x="360964" y="4987038"/>
                </a:cubicBezTo>
                <a:cubicBezTo>
                  <a:pt x="372538" y="4969748"/>
                  <a:pt x="383790" y="4953853"/>
                  <a:pt x="385799" y="4933805"/>
                </a:cubicBezTo>
                <a:lnTo>
                  <a:pt x="385799" y="4933805"/>
                </a:lnTo>
                <a:lnTo>
                  <a:pt x="385799" y="4933805"/>
                </a:lnTo>
                <a:cubicBezTo>
                  <a:pt x="386468" y="4927122"/>
                  <a:pt x="386111" y="4919979"/>
                  <a:pt x="384396" y="4912168"/>
                </a:cubicBezTo>
                <a:lnTo>
                  <a:pt x="382691" y="4889275"/>
                </a:lnTo>
                <a:lnTo>
                  <a:pt x="387469" y="4867614"/>
                </a:lnTo>
                <a:cubicBezTo>
                  <a:pt x="392589" y="4853636"/>
                  <a:pt x="401352" y="4840633"/>
                  <a:pt x="412401" y="4828917"/>
                </a:cubicBezTo>
                <a:cubicBezTo>
                  <a:pt x="420784" y="4819964"/>
                  <a:pt x="425356" y="4810581"/>
                  <a:pt x="427237" y="4800484"/>
                </a:cubicBezTo>
                <a:lnTo>
                  <a:pt x="427237" y="4800483"/>
                </a:lnTo>
                <a:lnTo>
                  <a:pt x="427237" y="4800483"/>
                </a:lnTo>
                <a:cubicBezTo>
                  <a:pt x="429119" y="4790386"/>
                  <a:pt x="428309" y="4779575"/>
                  <a:pt x="425928" y="4767764"/>
                </a:cubicBezTo>
                <a:cubicBezTo>
                  <a:pt x="420022" y="4738235"/>
                  <a:pt x="419640" y="4707564"/>
                  <a:pt x="416021" y="4677655"/>
                </a:cubicBezTo>
                <a:cubicBezTo>
                  <a:pt x="415259" y="4671176"/>
                  <a:pt x="412591" y="4662986"/>
                  <a:pt x="408019" y="4659174"/>
                </a:cubicBezTo>
                <a:cubicBezTo>
                  <a:pt x="351249" y="4612500"/>
                  <a:pt x="350677" y="4546776"/>
                  <a:pt x="348009" y="4482004"/>
                </a:cubicBezTo>
                <a:lnTo>
                  <a:pt x="347247" y="4363891"/>
                </a:lnTo>
                <a:lnTo>
                  <a:pt x="356201" y="4324646"/>
                </a:lnTo>
                <a:cubicBezTo>
                  <a:pt x="368204" y="4300071"/>
                  <a:pt x="383824" y="4277402"/>
                  <a:pt x="396017" y="4253015"/>
                </a:cubicBezTo>
                <a:cubicBezTo>
                  <a:pt x="400781" y="4243873"/>
                  <a:pt x="400971" y="4232061"/>
                  <a:pt x="401733" y="4221392"/>
                </a:cubicBezTo>
                <a:lnTo>
                  <a:pt x="401733" y="4221391"/>
                </a:lnTo>
                <a:lnTo>
                  <a:pt x="401733" y="4221391"/>
                </a:lnTo>
                <a:lnTo>
                  <a:pt x="401638" y="4192388"/>
                </a:lnTo>
                <a:lnTo>
                  <a:pt x="405543" y="4165384"/>
                </a:lnTo>
                <a:cubicBezTo>
                  <a:pt x="414402" y="4144333"/>
                  <a:pt x="417831" y="4123948"/>
                  <a:pt x="416855" y="4103826"/>
                </a:cubicBezTo>
                <a:lnTo>
                  <a:pt x="416855" y="4103826"/>
                </a:lnTo>
                <a:lnTo>
                  <a:pt x="416855" y="4103825"/>
                </a:lnTo>
                <a:cubicBezTo>
                  <a:pt x="415879" y="4083702"/>
                  <a:pt x="410497" y="4063842"/>
                  <a:pt x="401733" y="4043839"/>
                </a:cubicBezTo>
                <a:cubicBezTo>
                  <a:pt x="395590" y="4029837"/>
                  <a:pt x="391101" y="4016025"/>
                  <a:pt x="388431" y="4002410"/>
                </a:cubicBezTo>
                <a:lnTo>
                  <a:pt x="386040" y="3962160"/>
                </a:lnTo>
                <a:lnTo>
                  <a:pt x="395544" y="3923125"/>
                </a:lnTo>
                <a:cubicBezTo>
                  <a:pt x="400804" y="3910319"/>
                  <a:pt x="408210" y="3897722"/>
                  <a:pt x="417925" y="3885339"/>
                </a:cubicBezTo>
                <a:cubicBezTo>
                  <a:pt x="426689" y="3874195"/>
                  <a:pt x="428975" y="3863193"/>
                  <a:pt x="427308" y="3852620"/>
                </a:cubicBezTo>
                <a:lnTo>
                  <a:pt x="427308" y="3852620"/>
                </a:lnTo>
                <a:lnTo>
                  <a:pt x="427308" y="3852619"/>
                </a:lnTo>
                <a:cubicBezTo>
                  <a:pt x="425642" y="3842046"/>
                  <a:pt x="420022" y="3831902"/>
                  <a:pt x="412973" y="3822472"/>
                </a:cubicBezTo>
                <a:lnTo>
                  <a:pt x="398042" y="3789776"/>
                </a:lnTo>
                <a:lnTo>
                  <a:pt x="404399" y="3754653"/>
                </a:lnTo>
                <a:cubicBezTo>
                  <a:pt x="407067" y="3749126"/>
                  <a:pt x="405733" y="3741316"/>
                  <a:pt x="404781" y="3734838"/>
                </a:cubicBezTo>
                <a:lnTo>
                  <a:pt x="404781" y="3734838"/>
                </a:lnTo>
                <a:lnTo>
                  <a:pt x="404781" y="3734837"/>
                </a:lnTo>
                <a:lnTo>
                  <a:pt x="400733" y="3680164"/>
                </a:lnTo>
                <a:lnTo>
                  <a:pt x="407246" y="3654416"/>
                </a:lnTo>
                <a:cubicBezTo>
                  <a:pt x="411056" y="3646123"/>
                  <a:pt x="416735" y="3638158"/>
                  <a:pt x="424974" y="3630633"/>
                </a:cubicBezTo>
                <a:cubicBezTo>
                  <a:pt x="431452" y="3624726"/>
                  <a:pt x="434118" y="3614820"/>
                  <a:pt x="438500" y="3606818"/>
                </a:cubicBezTo>
                <a:cubicBezTo>
                  <a:pt x="447455" y="3590054"/>
                  <a:pt x="451503" y="3582005"/>
                  <a:pt x="450598" y="3574409"/>
                </a:cubicBezTo>
                <a:lnTo>
                  <a:pt x="450598" y="3574408"/>
                </a:lnTo>
                <a:lnTo>
                  <a:pt x="450598" y="3574408"/>
                </a:lnTo>
                <a:cubicBezTo>
                  <a:pt x="449693" y="3566811"/>
                  <a:pt x="443835" y="3559668"/>
                  <a:pt x="432976" y="3544713"/>
                </a:cubicBezTo>
                <a:cubicBezTo>
                  <a:pt x="421546" y="3529090"/>
                  <a:pt x="409925" y="3507563"/>
                  <a:pt x="410877" y="3489467"/>
                </a:cubicBezTo>
                <a:cubicBezTo>
                  <a:pt x="416591" y="3380305"/>
                  <a:pt x="389159" y="3276480"/>
                  <a:pt x="363250" y="3172654"/>
                </a:cubicBezTo>
                <a:lnTo>
                  <a:pt x="350796" y="3077402"/>
                </a:lnTo>
                <a:lnTo>
                  <a:pt x="362488" y="2982149"/>
                </a:lnTo>
                <a:cubicBezTo>
                  <a:pt x="365441" y="2970576"/>
                  <a:pt x="366442" y="2959157"/>
                  <a:pt x="366072" y="2947863"/>
                </a:cubicBezTo>
                <a:lnTo>
                  <a:pt x="366072" y="2947863"/>
                </a:lnTo>
                <a:lnTo>
                  <a:pt x="366072" y="2947862"/>
                </a:lnTo>
                <a:cubicBezTo>
                  <a:pt x="364965" y="2913982"/>
                  <a:pt x="351534" y="2881226"/>
                  <a:pt x="341533" y="2848793"/>
                </a:cubicBezTo>
                <a:close/>
                <a:moveTo>
                  <a:pt x="817328" y="1508458"/>
                </a:moveTo>
                <a:lnTo>
                  <a:pt x="845421" y="1596213"/>
                </a:lnTo>
                <a:cubicBezTo>
                  <a:pt x="847898" y="1604978"/>
                  <a:pt x="846373" y="1615836"/>
                  <a:pt x="843517" y="1624980"/>
                </a:cubicBezTo>
                <a:cubicBezTo>
                  <a:pt x="833801" y="1656223"/>
                  <a:pt x="809415" y="1676036"/>
                  <a:pt x="786935" y="1697753"/>
                </a:cubicBezTo>
                <a:cubicBezTo>
                  <a:pt x="777029" y="1707279"/>
                  <a:pt x="769981" y="1720423"/>
                  <a:pt x="764267" y="1733188"/>
                </a:cubicBezTo>
                <a:cubicBezTo>
                  <a:pt x="749595" y="1766335"/>
                  <a:pt x="736452" y="1800246"/>
                  <a:pt x="722546" y="1833775"/>
                </a:cubicBezTo>
                <a:cubicBezTo>
                  <a:pt x="721212" y="1837013"/>
                  <a:pt x="717783" y="1839679"/>
                  <a:pt x="714925" y="1842158"/>
                </a:cubicBezTo>
                <a:cubicBezTo>
                  <a:pt x="684824" y="1866922"/>
                  <a:pt x="654535" y="1891497"/>
                  <a:pt x="624434" y="1916454"/>
                </a:cubicBezTo>
                <a:cubicBezTo>
                  <a:pt x="618720" y="1921216"/>
                  <a:pt x="614528" y="1928076"/>
                  <a:pt x="609004" y="1933219"/>
                </a:cubicBezTo>
                <a:cubicBezTo>
                  <a:pt x="601384" y="1940459"/>
                  <a:pt x="594143" y="1949603"/>
                  <a:pt x="584999" y="1953413"/>
                </a:cubicBezTo>
                <a:cubicBezTo>
                  <a:pt x="556234" y="1965224"/>
                  <a:pt x="543850" y="1987894"/>
                  <a:pt x="538516" y="2016469"/>
                </a:cubicBezTo>
                <a:cubicBezTo>
                  <a:pt x="533563" y="2042570"/>
                  <a:pt x="529371" y="2068669"/>
                  <a:pt x="523657" y="2094578"/>
                </a:cubicBezTo>
                <a:cubicBezTo>
                  <a:pt x="516799" y="2126201"/>
                  <a:pt x="509369" y="2157636"/>
                  <a:pt x="500986" y="2188879"/>
                </a:cubicBezTo>
                <a:cubicBezTo>
                  <a:pt x="497366" y="2202404"/>
                  <a:pt x="493176" y="2216692"/>
                  <a:pt x="485746" y="2228314"/>
                </a:cubicBezTo>
                <a:cubicBezTo>
                  <a:pt x="465171" y="2260890"/>
                  <a:pt x="451265" y="2295753"/>
                  <a:pt x="456789" y="2334044"/>
                </a:cubicBezTo>
                <a:cubicBezTo>
                  <a:pt x="461171" y="2364715"/>
                  <a:pt x="449931" y="2390434"/>
                  <a:pt x="432404" y="2409485"/>
                </a:cubicBezTo>
                <a:cubicBezTo>
                  <a:pt x="416497" y="2426822"/>
                  <a:pt x="410353" y="2444777"/>
                  <a:pt x="409472" y="2463017"/>
                </a:cubicBezTo>
                <a:lnTo>
                  <a:pt x="409472" y="2463018"/>
                </a:lnTo>
                <a:lnTo>
                  <a:pt x="409472" y="2463018"/>
                </a:lnTo>
                <a:cubicBezTo>
                  <a:pt x="408591" y="2481259"/>
                  <a:pt x="412972" y="2499786"/>
                  <a:pt x="418115" y="2518265"/>
                </a:cubicBezTo>
                <a:lnTo>
                  <a:pt x="421759" y="2545007"/>
                </a:lnTo>
                <a:lnTo>
                  <a:pt x="417545" y="2571034"/>
                </a:lnTo>
                <a:cubicBezTo>
                  <a:pt x="405543" y="2612945"/>
                  <a:pt x="372966" y="2640950"/>
                  <a:pt x="344391" y="2668001"/>
                </a:cubicBezTo>
                <a:cubicBezTo>
                  <a:pt x="320006" y="2691054"/>
                  <a:pt x="306290" y="2716963"/>
                  <a:pt x="296001" y="2745348"/>
                </a:cubicBezTo>
                <a:lnTo>
                  <a:pt x="296001" y="2745352"/>
                </a:lnTo>
                <a:lnTo>
                  <a:pt x="289670" y="2770758"/>
                </a:lnTo>
                <a:lnTo>
                  <a:pt x="290080" y="2778006"/>
                </a:lnTo>
                <a:lnTo>
                  <a:pt x="289301" y="2782305"/>
                </a:lnTo>
                <a:lnTo>
                  <a:pt x="290501" y="2785440"/>
                </a:lnTo>
                <a:lnTo>
                  <a:pt x="290929" y="2793023"/>
                </a:lnTo>
                <a:lnTo>
                  <a:pt x="300579" y="2811780"/>
                </a:lnTo>
                <a:lnTo>
                  <a:pt x="300582" y="2811787"/>
                </a:lnTo>
                <a:lnTo>
                  <a:pt x="300583" y="2811787"/>
                </a:lnTo>
                <a:lnTo>
                  <a:pt x="300579" y="2811780"/>
                </a:lnTo>
                <a:lnTo>
                  <a:pt x="290501" y="2785440"/>
                </a:lnTo>
                <a:lnTo>
                  <a:pt x="290080" y="2778006"/>
                </a:lnTo>
                <a:lnTo>
                  <a:pt x="296001" y="2745352"/>
                </a:lnTo>
                <a:lnTo>
                  <a:pt x="296001" y="2745349"/>
                </a:lnTo>
                <a:cubicBezTo>
                  <a:pt x="306290" y="2716964"/>
                  <a:pt x="320006" y="2691055"/>
                  <a:pt x="344391" y="2668002"/>
                </a:cubicBezTo>
                <a:cubicBezTo>
                  <a:pt x="372966" y="2640951"/>
                  <a:pt x="405543" y="2612946"/>
                  <a:pt x="417545" y="2571035"/>
                </a:cubicBezTo>
                <a:cubicBezTo>
                  <a:pt x="420117" y="2561986"/>
                  <a:pt x="421593" y="2553556"/>
                  <a:pt x="421760" y="2545007"/>
                </a:cubicBezTo>
                <a:lnTo>
                  <a:pt x="421759" y="2545007"/>
                </a:lnTo>
                <a:lnTo>
                  <a:pt x="421760" y="2545006"/>
                </a:lnTo>
                <a:cubicBezTo>
                  <a:pt x="421926" y="2536457"/>
                  <a:pt x="420783" y="2527790"/>
                  <a:pt x="418115" y="2518264"/>
                </a:cubicBezTo>
                <a:cubicBezTo>
                  <a:pt x="415544" y="2509025"/>
                  <a:pt x="413163" y="2499773"/>
                  <a:pt x="411535" y="2490551"/>
                </a:cubicBezTo>
                <a:lnTo>
                  <a:pt x="409472" y="2463018"/>
                </a:lnTo>
                <a:lnTo>
                  <a:pt x="415303" y="2435913"/>
                </a:lnTo>
                <a:cubicBezTo>
                  <a:pt x="418938" y="2426977"/>
                  <a:pt x="424451" y="2418154"/>
                  <a:pt x="432404" y="2409486"/>
                </a:cubicBezTo>
                <a:cubicBezTo>
                  <a:pt x="449931" y="2390435"/>
                  <a:pt x="461171" y="2364716"/>
                  <a:pt x="456789" y="2334045"/>
                </a:cubicBezTo>
                <a:cubicBezTo>
                  <a:pt x="451265" y="2295754"/>
                  <a:pt x="465171" y="2260891"/>
                  <a:pt x="485746" y="2228315"/>
                </a:cubicBezTo>
                <a:cubicBezTo>
                  <a:pt x="493176" y="2216693"/>
                  <a:pt x="497366" y="2202405"/>
                  <a:pt x="500986" y="2188880"/>
                </a:cubicBezTo>
                <a:cubicBezTo>
                  <a:pt x="509369" y="2157637"/>
                  <a:pt x="516799" y="2126202"/>
                  <a:pt x="523657" y="2094579"/>
                </a:cubicBezTo>
                <a:cubicBezTo>
                  <a:pt x="529371" y="2068670"/>
                  <a:pt x="533563" y="2042571"/>
                  <a:pt x="538516" y="2016470"/>
                </a:cubicBezTo>
                <a:cubicBezTo>
                  <a:pt x="543850" y="1987895"/>
                  <a:pt x="556234" y="1965225"/>
                  <a:pt x="584999" y="1953414"/>
                </a:cubicBezTo>
                <a:cubicBezTo>
                  <a:pt x="594143" y="1949604"/>
                  <a:pt x="601384" y="1940460"/>
                  <a:pt x="609004" y="1933220"/>
                </a:cubicBezTo>
                <a:cubicBezTo>
                  <a:pt x="614528" y="1928077"/>
                  <a:pt x="618720" y="1921217"/>
                  <a:pt x="624434" y="1916455"/>
                </a:cubicBezTo>
                <a:cubicBezTo>
                  <a:pt x="654535" y="1891498"/>
                  <a:pt x="684824" y="1866923"/>
                  <a:pt x="714925" y="1842159"/>
                </a:cubicBezTo>
                <a:cubicBezTo>
                  <a:pt x="717783" y="1839680"/>
                  <a:pt x="721212" y="1837014"/>
                  <a:pt x="722546" y="1833776"/>
                </a:cubicBezTo>
                <a:cubicBezTo>
                  <a:pt x="736452" y="1800247"/>
                  <a:pt x="749596" y="1766336"/>
                  <a:pt x="764267" y="1733189"/>
                </a:cubicBezTo>
                <a:cubicBezTo>
                  <a:pt x="769981" y="1720424"/>
                  <a:pt x="777029" y="1707280"/>
                  <a:pt x="786936" y="1697754"/>
                </a:cubicBezTo>
                <a:cubicBezTo>
                  <a:pt x="809416" y="1676037"/>
                  <a:pt x="833801" y="1656224"/>
                  <a:pt x="843517" y="1624981"/>
                </a:cubicBezTo>
                <a:cubicBezTo>
                  <a:pt x="846374" y="1615837"/>
                  <a:pt x="847899" y="1604979"/>
                  <a:pt x="845422" y="1596214"/>
                </a:cubicBezTo>
                <a:close/>
                <a:moveTo>
                  <a:pt x="792926" y="1453958"/>
                </a:moveTo>
                <a:lnTo>
                  <a:pt x="798723" y="1459073"/>
                </a:lnTo>
                <a:lnTo>
                  <a:pt x="807941" y="1481572"/>
                </a:lnTo>
                <a:lnTo>
                  <a:pt x="798724" y="1459074"/>
                </a:lnTo>
                <a:lnTo>
                  <a:pt x="798723" y="1459073"/>
                </a:lnTo>
                <a:lnTo>
                  <a:pt x="798723" y="1459073"/>
                </a:lnTo>
                <a:close/>
                <a:moveTo>
                  <a:pt x="779530" y="1268758"/>
                </a:moveTo>
                <a:lnTo>
                  <a:pt x="774363" y="1286069"/>
                </a:lnTo>
                <a:cubicBezTo>
                  <a:pt x="759789" y="1306930"/>
                  <a:pt x="753550" y="1328552"/>
                  <a:pt x="752025" y="1350627"/>
                </a:cubicBezTo>
                <a:lnTo>
                  <a:pt x="757620" y="1413840"/>
                </a:lnTo>
                <a:lnTo>
                  <a:pt x="752026" y="1350628"/>
                </a:lnTo>
                <a:cubicBezTo>
                  <a:pt x="753550" y="1328553"/>
                  <a:pt x="759790" y="1306930"/>
                  <a:pt x="774363" y="1286070"/>
                </a:cubicBezTo>
                <a:cubicBezTo>
                  <a:pt x="777506" y="1281689"/>
                  <a:pt x="779078" y="1275402"/>
                  <a:pt x="779530" y="1268758"/>
                </a:cubicBezTo>
                <a:close/>
                <a:moveTo>
                  <a:pt x="837801" y="773035"/>
                </a:moveTo>
                <a:lnTo>
                  <a:pt x="829801" y="854379"/>
                </a:lnTo>
                <a:cubicBezTo>
                  <a:pt x="827515" y="878956"/>
                  <a:pt x="826753" y="903722"/>
                  <a:pt x="798747" y="915343"/>
                </a:cubicBezTo>
                <a:cubicBezTo>
                  <a:pt x="794365" y="917059"/>
                  <a:pt x="791127" y="922773"/>
                  <a:pt x="788269" y="927155"/>
                </a:cubicBezTo>
                <a:cubicBezTo>
                  <a:pt x="744261" y="994785"/>
                  <a:pt x="745405" y="1030980"/>
                  <a:pt x="791889" y="1097087"/>
                </a:cubicBezTo>
                <a:cubicBezTo>
                  <a:pt x="796651" y="1103945"/>
                  <a:pt x="800081" y="1118613"/>
                  <a:pt x="796271" y="1123185"/>
                </a:cubicBezTo>
                <a:cubicBezTo>
                  <a:pt x="780459" y="1142617"/>
                  <a:pt x="773411" y="1162954"/>
                  <a:pt x="771553" y="1184029"/>
                </a:cubicBezTo>
                <a:cubicBezTo>
                  <a:pt x="773411" y="1162954"/>
                  <a:pt x="780460" y="1142618"/>
                  <a:pt x="796272" y="1123186"/>
                </a:cubicBezTo>
                <a:cubicBezTo>
                  <a:pt x="800082" y="1118614"/>
                  <a:pt x="796652" y="1103946"/>
                  <a:pt x="791890" y="1097088"/>
                </a:cubicBezTo>
                <a:cubicBezTo>
                  <a:pt x="745406" y="1030981"/>
                  <a:pt x="744262" y="994786"/>
                  <a:pt x="788270" y="927156"/>
                </a:cubicBezTo>
                <a:cubicBezTo>
                  <a:pt x="791128" y="922774"/>
                  <a:pt x="794366" y="917060"/>
                  <a:pt x="798748" y="915344"/>
                </a:cubicBezTo>
                <a:cubicBezTo>
                  <a:pt x="826753" y="903723"/>
                  <a:pt x="827515" y="878957"/>
                  <a:pt x="829801" y="854380"/>
                </a:cubicBezTo>
                <a:cubicBezTo>
                  <a:pt x="832277" y="827330"/>
                  <a:pt x="835515" y="800277"/>
                  <a:pt x="837801" y="773036"/>
                </a:cubicBezTo>
                <a:close/>
                <a:moveTo>
                  <a:pt x="782400" y="517851"/>
                </a:moveTo>
                <a:lnTo>
                  <a:pt x="791317" y="556047"/>
                </a:lnTo>
                <a:cubicBezTo>
                  <a:pt x="793413" y="564048"/>
                  <a:pt x="798937" y="572622"/>
                  <a:pt x="797795" y="580050"/>
                </a:cubicBezTo>
                <a:cubicBezTo>
                  <a:pt x="794461" y="601578"/>
                  <a:pt x="796890" y="622201"/>
                  <a:pt x="801176" y="642537"/>
                </a:cubicBezTo>
                <a:lnTo>
                  <a:pt x="813700" y="694928"/>
                </a:lnTo>
                <a:lnTo>
                  <a:pt x="801177" y="642538"/>
                </a:lnTo>
                <a:cubicBezTo>
                  <a:pt x="796891" y="622201"/>
                  <a:pt x="794462" y="601579"/>
                  <a:pt x="797796" y="580051"/>
                </a:cubicBezTo>
                <a:cubicBezTo>
                  <a:pt x="798938" y="572623"/>
                  <a:pt x="793414" y="564049"/>
                  <a:pt x="791318" y="556048"/>
                </a:cubicBezTo>
                <a:close/>
                <a:moveTo>
                  <a:pt x="769105" y="298169"/>
                </a:moveTo>
                <a:lnTo>
                  <a:pt x="783887" y="313533"/>
                </a:lnTo>
                <a:lnTo>
                  <a:pt x="786245" y="324058"/>
                </a:lnTo>
                <a:cubicBezTo>
                  <a:pt x="786031" y="328964"/>
                  <a:pt x="785126" y="334584"/>
                  <a:pt x="784459" y="338870"/>
                </a:cubicBezTo>
                <a:cubicBezTo>
                  <a:pt x="781601" y="357921"/>
                  <a:pt x="774363" y="376781"/>
                  <a:pt x="774553" y="395640"/>
                </a:cubicBezTo>
                <a:lnTo>
                  <a:pt x="778363" y="367328"/>
                </a:lnTo>
                <a:cubicBezTo>
                  <a:pt x="780506" y="357874"/>
                  <a:pt x="783031" y="348396"/>
                  <a:pt x="784460" y="338871"/>
                </a:cubicBezTo>
                <a:cubicBezTo>
                  <a:pt x="785794" y="330299"/>
                  <a:pt x="788080" y="316390"/>
                  <a:pt x="783888" y="313534"/>
                </a:cubicBezTo>
                <a:lnTo>
                  <a:pt x="783887" y="313533"/>
                </a:lnTo>
                <a:lnTo>
                  <a:pt x="783887" y="313533"/>
                </a:lnTo>
                <a:close/>
                <a:moveTo>
                  <a:pt x="761560" y="281568"/>
                </a:moveTo>
                <a:lnTo>
                  <a:pt x="766454" y="295415"/>
                </a:lnTo>
                <a:lnTo>
                  <a:pt x="766455" y="295415"/>
                </a:lnTo>
                <a:close/>
                <a:moveTo>
                  <a:pt x="774880" y="24486"/>
                </a:moveTo>
                <a:lnTo>
                  <a:pt x="777142" y="74129"/>
                </a:lnTo>
                <a:cubicBezTo>
                  <a:pt x="775758" y="100174"/>
                  <a:pt x="771253" y="125876"/>
                  <a:pt x="767023" y="151569"/>
                </a:cubicBezTo>
                <a:lnTo>
                  <a:pt x="766824" y="153388"/>
                </a:lnTo>
                <a:lnTo>
                  <a:pt x="763010" y="177271"/>
                </a:lnTo>
                <a:lnTo>
                  <a:pt x="758551" y="228944"/>
                </a:lnTo>
                <a:lnTo>
                  <a:pt x="758551" y="228948"/>
                </a:lnTo>
                <a:lnTo>
                  <a:pt x="758551" y="228949"/>
                </a:lnTo>
                <a:lnTo>
                  <a:pt x="758551" y="228944"/>
                </a:lnTo>
                <a:lnTo>
                  <a:pt x="766824" y="153388"/>
                </a:lnTo>
                <a:lnTo>
                  <a:pt x="771220" y="125861"/>
                </a:lnTo>
                <a:cubicBezTo>
                  <a:pt x="773910" y="108703"/>
                  <a:pt x="776220" y="91492"/>
                  <a:pt x="777143" y="74129"/>
                </a:cubicBezTo>
                <a:close/>
                <a:moveTo>
                  <a:pt x="313353" y="0"/>
                </a:moveTo>
                <a:lnTo>
                  <a:pt x="777461" y="0"/>
                </a:lnTo>
                <a:lnTo>
                  <a:pt x="774743" y="21486"/>
                </a:lnTo>
                <a:lnTo>
                  <a:pt x="777461" y="1"/>
                </a:lnTo>
                <a:lnTo>
                  <a:pt x="4543953" y="2"/>
                </a:lnTo>
                <a:lnTo>
                  <a:pt x="4543953" y="6858002"/>
                </a:lnTo>
                <a:lnTo>
                  <a:pt x="284400" y="6858002"/>
                </a:lnTo>
                <a:lnTo>
                  <a:pt x="284400" y="6858001"/>
                </a:lnTo>
                <a:lnTo>
                  <a:pt x="284400" y="6858001"/>
                </a:lnTo>
                <a:lnTo>
                  <a:pt x="278237" y="6812064"/>
                </a:lnTo>
                <a:lnTo>
                  <a:pt x="283011" y="6776800"/>
                </a:lnTo>
                <a:cubicBezTo>
                  <a:pt x="286107" y="6765164"/>
                  <a:pt x="290857" y="6753698"/>
                  <a:pt x="297715" y="6742553"/>
                </a:cubicBezTo>
                <a:cubicBezTo>
                  <a:pt x="306003" y="6729219"/>
                  <a:pt x="311147" y="6716169"/>
                  <a:pt x="311551" y="6702977"/>
                </a:cubicBezTo>
                <a:lnTo>
                  <a:pt x="311551" y="6702976"/>
                </a:lnTo>
                <a:lnTo>
                  <a:pt x="311551" y="6702976"/>
                </a:lnTo>
                <a:cubicBezTo>
                  <a:pt x="311956" y="6689783"/>
                  <a:pt x="307622" y="6676448"/>
                  <a:pt x="296953" y="6662541"/>
                </a:cubicBezTo>
                <a:cubicBezTo>
                  <a:pt x="293286" y="6657825"/>
                  <a:pt x="290989" y="6651967"/>
                  <a:pt x="289870" y="6645552"/>
                </a:cubicBezTo>
                <a:lnTo>
                  <a:pt x="289858" y="6625225"/>
                </a:lnTo>
                <a:lnTo>
                  <a:pt x="306480" y="6588626"/>
                </a:lnTo>
                <a:cubicBezTo>
                  <a:pt x="312576" y="6582147"/>
                  <a:pt x="318672" y="6575479"/>
                  <a:pt x="328959" y="6564621"/>
                </a:cubicBezTo>
                <a:lnTo>
                  <a:pt x="328959" y="6564620"/>
                </a:lnTo>
                <a:lnTo>
                  <a:pt x="306480" y="6588625"/>
                </a:lnTo>
                <a:cubicBezTo>
                  <a:pt x="298003" y="6597578"/>
                  <a:pt x="291954" y="6611342"/>
                  <a:pt x="289858" y="6625224"/>
                </a:cubicBezTo>
                <a:lnTo>
                  <a:pt x="289858" y="6625225"/>
                </a:lnTo>
                <a:lnTo>
                  <a:pt x="289858" y="6625225"/>
                </a:lnTo>
                <a:cubicBezTo>
                  <a:pt x="287762" y="6639108"/>
                  <a:pt x="289619" y="6653111"/>
                  <a:pt x="296953" y="6662542"/>
                </a:cubicBezTo>
                <a:cubicBezTo>
                  <a:pt x="302288" y="6669496"/>
                  <a:pt x="306038" y="6676306"/>
                  <a:pt x="308405" y="6683027"/>
                </a:cubicBezTo>
                <a:lnTo>
                  <a:pt x="311551" y="6702976"/>
                </a:lnTo>
                <a:lnTo>
                  <a:pt x="297715" y="6742552"/>
                </a:lnTo>
                <a:cubicBezTo>
                  <a:pt x="283999" y="6764841"/>
                  <a:pt x="278713" y="6788417"/>
                  <a:pt x="278237" y="6812063"/>
                </a:cubicBezTo>
                <a:lnTo>
                  <a:pt x="278237" y="6812064"/>
                </a:lnTo>
                <a:lnTo>
                  <a:pt x="278237" y="6812064"/>
                </a:lnTo>
                <a:lnTo>
                  <a:pt x="284400" y="6858001"/>
                </a:lnTo>
                <a:lnTo>
                  <a:pt x="112147" y="6858001"/>
                </a:lnTo>
                <a:lnTo>
                  <a:pt x="102447" y="6815516"/>
                </a:lnTo>
                <a:cubicBezTo>
                  <a:pt x="96923" y="6793035"/>
                  <a:pt x="87016" y="6771319"/>
                  <a:pt x="83396" y="6748458"/>
                </a:cubicBezTo>
                <a:cubicBezTo>
                  <a:pt x="74824" y="6694164"/>
                  <a:pt x="68728" y="6639488"/>
                  <a:pt x="61870" y="6584812"/>
                </a:cubicBezTo>
                <a:cubicBezTo>
                  <a:pt x="54821" y="6528424"/>
                  <a:pt x="47391" y="6472225"/>
                  <a:pt x="41105" y="6415833"/>
                </a:cubicBezTo>
                <a:cubicBezTo>
                  <a:pt x="37865" y="6384972"/>
                  <a:pt x="37295" y="6353919"/>
                  <a:pt x="34247" y="6323058"/>
                </a:cubicBezTo>
                <a:cubicBezTo>
                  <a:pt x="31579" y="6296005"/>
                  <a:pt x="26626" y="6269144"/>
                  <a:pt x="23386" y="6242093"/>
                </a:cubicBezTo>
                <a:cubicBezTo>
                  <a:pt x="20720" y="6218660"/>
                  <a:pt x="19196" y="6195037"/>
                  <a:pt x="16528" y="6171605"/>
                </a:cubicBezTo>
                <a:cubicBezTo>
                  <a:pt x="12148" y="6134075"/>
                  <a:pt x="7194" y="6096736"/>
                  <a:pt x="2622" y="6059397"/>
                </a:cubicBezTo>
                <a:lnTo>
                  <a:pt x="0" y="6041769"/>
                </a:lnTo>
                <a:lnTo>
                  <a:pt x="0" y="6000937"/>
                </a:lnTo>
                <a:lnTo>
                  <a:pt x="3670" y="5957595"/>
                </a:lnTo>
                <a:lnTo>
                  <a:pt x="0" y="5912511"/>
                </a:lnTo>
                <a:lnTo>
                  <a:pt x="0" y="5886401"/>
                </a:lnTo>
                <a:lnTo>
                  <a:pt x="1098" y="5864318"/>
                </a:lnTo>
                <a:cubicBezTo>
                  <a:pt x="7576" y="5839361"/>
                  <a:pt x="16720" y="5815169"/>
                  <a:pt x="24720" y="5790592"/>
                </a:cubicBezTo>
                <a:cubicBezTo>
                  <a:pt x="25672" y="5787924"/>
                  <a:pt x="25864" y="5784686"/>
                  <a:pt x="26434" y="5781830"/>
                </a:cubicBezTo>
                <a:cubicBezTo>
                  <a:pt x="29675" y="5765635"/>
                  <a:pt x="32913" y="5749634"/>
                  <a:pt x="35771" y="5733440"/>
                </a:cubicBezTo>
                <a:cubicBezTo>
                  <a:pt x="37295" y="5724678"/>
                  <a:pt x="37485" y="5715723"/>
                  <a:pt x="38819" y="5706959"/>
                </a:cubicBezTo>
                <a:cubicBezTo>
                  <a:pt x="44153" y="5673050"/>
                  <a:pt x="35199" y="5635711"/>
                  <a:pt x="58250" y="5606372"/>
                </a:cubicBezTo>
                <a:cubicBezTo>
                  <a:pt x="73110" y="5587321"/>
                  <a:pt x="69680" y="5568842"/>
                  <a:pt x="67394" y="5548460"/>
                </a:cubicBezTo>
                <a:cubicBezTo>
                  <a:pt x="65680" y="5533027"/>
                  <a:pt x="66252" y="5517215"/>
                  <a:pt x="66060" y="5501594"/>
                </a:cubicBezTo>
                <a:cubicBezTo>
                  <a:pt x="65490" y="5474161"/>
                  <a:pt x="65298" y="5446728"/>
                  <a:pt x="64346" y="5419295"/>
                </a:cubicBezTo>
                <a:cubicBezTo>
                  <a:pt x="63966" y="5410531"/>
                  <a:pt x="59202" y="5401579"/>
                  <a:pt x="59964" y="5393005"/>
                </a:cubicBezTo>
                <a:cubicBezTo>
                  <a:pt x="63584" y="5353379"/>
                  <a:pt x="69300" y="5313754"/>
                  <a:pt x="72538" y="5274129"/>
                </a:cubicBezTo>
                <a:cubicBezTo>
                  <a:pt x="74442" y="5251650"/>
                  <a:pt x="70824" y="5228597"/>
                  <a:pt x="73490" y="5206308"/>
                </a:cubicBezTo>
                <a:cubicBezTo>
                  <a:pt x="76538" y="5180591"/>
                  <a:pt x="84348" y="5155445"/>
                  <a:pt x="89113" y="5129916"/>
                </a:cubicBezTo>
                <a:cubicBezTo>
                  <a:pt x="90445" y="5122867"/>
                  <a:pt x="88731" y="5115057"/>
                  <a:pt x="88351" y="5107627"/>
                </a:cubicBezTo>
                <a:cubicBezTo>
                  <a:pt x="87968" y="5099245"/>
                  <a:pt x="87206" y="5091052"/>
                  <a:pt x="87016" y="5082670"/>
                </a:cubicBezTo>
                <a:cubicBezTo>
                  <a:pt x="86634" y="5057141"/>
                  <a:pt x="87206" y="5031614"/>
                  <a:pt x="85872" y="5006086"/>
                </a:cubicBezTo>
                <a:cubicBezTo>
                  <a:pt x="85110" y="4990465"/>
                  <a:pt x="77300" y="4974082"/>
                  <a:pt x="80158" y="4959602"/>
                </a:cubicBezTo>
                <a:cubicBezTo>
                  <a:pt x="85682" y="4930075"/>
                  <a:pt x="73300" y="4900546"/>
                  <a:pt x="83586" y="4871019"/>
                </a:cubicBezTo>
                <a:cubicBezTo>
                  <a:pt x="86634" y="4861873"/>
                  <a:pt x="79014" y="4849300"/>
                  <a:pt x="78634" y="4838250"/>
                </a:cubicBezTo>
                <a:cubicBezTo>
                  <a:pt x="77682" y="4810627"/>
                  <a:pt x="77872" y="4783004"/>
                  <a:pt x="78062" y="4755381"/>
                </a:cubicBezTo>
                <a:cubicBezTo>
                  <a:pt x="78252" y="4730614"/>
                  <a:pt x="75586" y="4704895"/>
                  <a:pt x="80920" y="4681083"/>
                </a:cubicBezTo>
                <a:cubicBezTo>
                  <a:pt x="86634" y="4656126"/>
                  <a:pt x="85872" y="4633647"/>
                  <a:pt x="79396" y="4609452"/>
                </a:cubicBezTo>
                <a:cubicBezTo>
                  <a:pt x="75014" y="4592878"/>
                  <a:pt x="74442" y="4575351"/>
                  <a:pt x="73110" y="4558207"/>
                </a:cubicBezTo>
                <a:cubicBezTo>
                  <a:pt x="71586" y="4539728"/>
                  <a:pt x="75586" y="4519343"/>
                  <a:pt x="69300" y="4502579"/>
                </a:cubicBezTo>
                <a:cubicBezTo>
                  <a:pt x="50629" y="4452665"/>
                  <a:pt x="46629" y="4401419"/>
                  <a:pt x="46629" y="4349222"/>
                </a:cubicBezTo>
                <a:cubicBezTo>
                  <a:pt x="46629" y="4339695"/>
                  <a:pt x="49295" y="4329979"/>
                  <a:pt x="52153" y="4320837"/>
                </a:cubicBezTo>
                <a:cubicBezTo>
                  <a:pt x="69300" y="4267493"/>
                  <a:pt x="67776" y="4213961"/>
                  <a:pt x="57297" y="4159667"/>
                </a:cubicBezTo>
                <a:cubicBezTo>
                  <a:pt x="55011" y="4148427"/>
                  <a:pt x="54629" y="4135854"/>
                  <a:pt x="56915" y="4124614"/>
                </a:cubicBezTo>
                <a:cubicBezTo>
                  <a:pt x="63584" y="4092989"/>
                  <a:pt x="74634" y="4062318"/>
                  <a:pt x="79396" y="4030503"/>
                </a:cubicBezTo>
                <a:cubicBezTo>
                  <a:pt x="87206" y="3977925"/>
                  <a:pt x="60918" y="3932394"/>
                  <a:pt x="43771" y="3885338"/>
                </a:cubicBezTo>
                <a:cubicBezTo>
                  <a:pt x="31627" y="3851761"/>
                  <a:pt x="8016" y="3821935"/>
                  <a:pt x="426" y="3786777"/>
                </a:cubicBezTo>
                <a:lnTo>
                  <a:pt x="0" y="3773897"/>
                </a:lnTo>
                <a:lnTo>
                  <a:pt x="0" y="3393882"/>
                </a:lnTo>
                <a:lnTo>
                  <a:pt x="11838" y="3359516"/>
                </a:lnTo>
                <a:cubicBezTo>
                  <a:pt x="14434" y="3346205"/>
                  <a:pt x="14910" y="3332774"/>
                  <a:pt x="12910" y="3318771"/>
                </a:cubicBezTo>
                <a:cubicBezTo>
                  <a:pt x="12243" y="3314104"/>
                  <a:pt x="9909" y="3308770"/>
                  <a:pt x="6718" y="3304079"/>
                </a:cubicBezTo>
                <a:lnTo>
                  <a:pt x="0" y="3297657"/>
                </a:lnTo>
                <a:lnTo>
                  <a:pt x="0" y="3207867"/>
                </a:lnTo>
                <a:lnTo>
                  <a:pt x="15553" y="3186771"/>
                </a:lnTo>
                <a:cubicBezTo>
                  <a:pt x="28483" y="3162329"/>
                  <a:pt x="30484" y="3134647"/>
                  <a:pt x="36341" y="3107500"/>
                </a:cubicBezTo>
                <a:cubicBezTo>
                  <a:pt x="41105" y="3085403"/>
                  <a:pt x="41295" y="3064827"/>
                  <a:pt x="38057" y="3042728"/>
                </a:cubicBezTo>
                <a:cubicBezTo>
                  <a:pt x="30817" y="2994722"/>
                  <a:pt x="41105" y="2948047"/>
                  <a:pt x="54249" y="2901943"/>
                </a:cubicBezTo>
                <a:cubicBezTo>
                  <a:pt x="63012" y="2871462"/>
                  <a:pt x="68346" y="2840219"/>
                  <a:pt x="77300" y="2809930"/>
                </a:cubicBezTo>
                <a:cubicBezTo>
                  <a:pt x="84158" y="2787259"/>
                  <a:pt x="92351" y="2764590"/>
                  <a:pt x="103399" y="2743826"/>
                </a:cubicBezTo>
                <a:cubicBezTo>
                  <a:pt x="119594" y="2713723"/>
                  <a:pt x="143978" y="2687436"/>
                  <a:pt x="137500" y="2649143"/>
                </a:cubicBezTo>
                <a:cubicBezTo>
                  <a:pt x="131786" y="2615421"/>
                  <a:pt x="143786" y="2584942"/>
                  <a:pt x="155217" y="2554079"/>
                </a:cubicBezTo>
                <a:cubicBezTo>
                  <a:pt x="163599" y="2531409"/>
                  <a:pt x="172173" y="2508742"/>
                  <a:pt x="177507" y="2485307"/>
                </a:cubicBezTo>
                <a:cubicBezTo>
                  <a:pt x="183794" y="2457492"/>
                  <a:pt x="181126" y="2426059"/>
                  <a:pt x="192748" y="2401292"/>
                </a:cubicBezTo>
                <a:cubicBezTo>
                  <a:pt x="204940" y="2375383"/>
                  <a:pt x="196748" y="2353859"/>
                  <a:pt x="193318" y="2330806"/>
                </a:cubicBezTo>
                <a:cubicBezTo>
                  <a:pt x="187984" y="2294039"/>
                  <a:pt x="178077" y="2257459"/>
                  <a:pt x="190652" y="2220312"/>
                </a:cubicBezTo>
                <a:cubicBezTo>
                  <a:pt x="205892" y="2175163"/>
                  <a:pt x="222275" y="2130393"/>
                  <a:pt x="236753" y="2085054"/>
                </a:cubicBezTo>
                <a:cubicBezTo>
                  <a:pt x="242280" y="2067525"/>
                  <a:pt x="244566" y="2048668"/>
                  <a:pt x="247042" y="2030378"/>
                </a:cubicBezTo>
                <a:cubicBezTo>
                  <a:pt x="249138" y="2013043"/>
                  <a:pt x="243804" y="1992279"/>
                  <a:pt x="251804" y="1978940"/>
                </a:cubicBezTo>
                <a:cubicBezTo>
                  <a:pt x="272379" y="1944649"/>
                  <a:pt x="282475" y="1909408"/>
                  <a:pt x="282475" y="1869780"/>
                </a:cubicBezTo>
                <a:cubicBezTo>
                  <a:pt x="282475" y="1854920"/>
                  <a:pt x="291049" y="1840441"/>
                  <a:pt x="292573" y="1825393"/>
                </a:cubicBezTo>
                <a:cubicBezTo>
                  <a:pt x="294477" y="1804816"/>
                  <a:pt x="299622" y="1781194"/>
                  <a:pt x="292381" y="1763287"/>
                </a:cubicBezTo>
                <a:cubicBezTo>
                  <a:pt x="275237" y="1721185"/>
                  <a:pt x="289525" y="1687086"/>
                  <a:pt x="306480" y="1650317"/>
                </a:cubicBezTo>
                <a:cubicBezTo>
                  <a:pt x="323244" y="1614120"/>
                  <a:pt x="336579" y="1576019"/>
                  <a:pt x="347629" y="1537537"/>
                </a:cubicBezTo>
                <a:cubicBezTo>
                  <a:pt x="351629" y="1523059"/>
                  <a:pt x="344961" y="1505724"/>
                  <a:pt x="343629" y="1489720"/>
                </a:cubicBezTo>
                <a:cubicBezTo>
                  <a:pt x="343247" y="1484004"/>
                  <a:pt x="342675" y="1477717"/>
                  <a:pt x="344581" y="1472575"/>
                </a:cubicBezTo>
                <a:cubicBezTo>
                  <a:pt x="362870" y="1422854"/>
                  <a:pt x="376776" y="1372368"/>
                  <a:pt x="367252" y="1318456"/>
                </a:cubicBezTo>
                <a:cubicBezTo>
                  <a:pt x="366298" y="1313504"/>
                  <a:pt x="368394" y="1307978"/>
                  <a:pt x="369728" y="1303024"/>
                </a:cubicBezTo>
                <a:cubicBezTo>
                  <a:pt x="376586" y="1278829"/>
                  <a:pt x="387444" y="1255206"/>
                  <a:pt x="389921" y="1230633"/>
                </a:cubicBezTo>
                <a:cubicBezTo>
                  <a:pt x="396017" y="1170051"/>
                  <a:pt x="398495" y="1109091"/>
                  <a:pt x="402495" y="1048125"/>
                </a:cubicBezTo>
                <a:cubicBezTo>
                  <a:pt x="402685" y="1044315"/>
                  <a:pt x="402685" y="1040315"/>
                  <a:pt x="404019" y="1036887"/>
                </a:cubicBezTo>
                <a:cubicBezTo>
                  <a:pt x="412211" y="1014406"/>
                  <a:pt x="409543" y="994785"/>
                  <a:pt x="393923" y="975733"/>
                </a:cubicBezTo>
                <a:cubicBezTo>
                  <a:pt x="387064" y="967350"/>
                  <a:pt x="383444" y="955920"/>
                  <a:pt x="379634" y="945444"/>
                </a:cubicBezTo>
                <a:cubicBezTo>
                  <a:pt x="373918" y="930011"/>
                  <a:pt x="368394" y="914200"/>
                  <a:pt x="364774" y="898198"/>
                </a:cubicBezTo>
                <a:cubicBezTo>
                  <a:pt x="361346" y="882384"/>
                  <a:pt x="356583" y="865430"/>
                  <a:pt x="359250" y="850189"/>
                </a:cubicBezTo>
                <a:cubicBezTo>
                  <a:pt x="364012" y="822756"/>
                  <a:pt x="374680" y="796655"/>
                  <a:pt x="381730" y="769605"/>
                </a:cubicBezTo>
                <a:cubicBezTo>
                  <a:pt x="384206" y="760270"/>
                  <a:pt x="383824" y="749982"/>
                  <a:pt x="384016" y="740268"/>
                </a:cubicBezTo>
                <a:cubicBezTo>
                  <a:pt x="384586" y="717977"/>
                  <a:pt x="379062" y="695116"/>
                  <a:pt x="394875" y="674923"/>
                </a:cubicBezTo>
                <a:cubicBezTo>
                  <a:pt x="409733" y="656255"/>
                  <a:pt x="405353" y="637392"/>
                  <a:pt x="394113" y="617772"/>
                </a:cubicBezTo>
                <a:cubicBezTo>
                  <a:pt x="386110" y="603673"/>
                  <a:pt x="379824" y="587672"/>
                  <a:pt x="376776" y="571860"/>
                </a:cubicBezTo>
                <a:cubicBezTo>
                  <a:pt x="372586" y="550141"/>
                  <a:pt x="370870" y="528615"/>
                  <a:pt x="373348" y="505182"/>
                </a:cubicBezTo>
                <a:cubicBezTo>
                  <a:pt x="375062" y="488607"/>
                  <a:pt x="375824" y="475081"/>
                  <a:pt x="385920" y="462126"/>
                </a:cubicBezTo>
                <a:cubicBezTo>
                  <a:pt x="387444" y="460032"/>
                  <a:pt x="387826" y="456222"/>
                  <a:pt x="387634" y="453364"/>
                </a:cubicBezTo>
                <a:cubicBezTo>
                  <a:pt x="384396" y="415835"/>
                  <a:pt x="386110" y="378686"/>
                  <a:pt x="388399" y="340774"/>
                </a:cubicBezTo>
                <a:cubicBezTo>
                  <a:pt x="391445" y="292579"/>
                  <a:pt x="382492" y="241901"/>
                  <a:pt x="350487" y="200182"/>
                </a:cubicBezTo>
                <a:cubicBezTo>
                  <a:pt x="345723" y="194085"/>
                  <a:pt x="343629" y="184941"/>
                  <a:pt x="342485" y="176939"/>
                </a:cubicBezTo>
                <a:cubicBezTo>
                  <a:pt x="337533" y="139219"/>
                  <a:pt x="334103" y="101308"/>
                  <a:pt x="328579" y="63587"/>
                </a:cubicBezTo>
                <a:cubicBezTo>
                  <a:pt x="325530" y="43012"/>
                  <a:pt x="322862" y="21486"/>
                  <a:pt x="314480" y="2817"/>
                </a:cubicBezTo>
                <a:close/>
              </a:path>
            </a:pathLst>
          </a:custGeom>
          <a:effectLst>
            <a:outerShdw blurRad="381000" dist="152400" dir="10800000" algn="r" rotWithShape="0">
              <a:prstClr val="black">
                <a:alpha val="10000"/>
              </a:prstClr>
            </a:outerShdw>
          </a:effectLst>
        </p:spPr>
      </p:pic>
      <p:sp>
        <p:nvSpPr>
          <p:cNvPr id="5" name="Freeform 13">
            <a:extLst>
              <a:ext uri="{FF2B5EF4-FFF2-40B4-BE49-F238E27FC236}">
                <a16:creationId xmlns:a16="http://schemas.microsoft.com/office/drawing/2014/main" id="{C3F0FC6C-514D-B69E-4FE8-D56CF762C096}"/>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6"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Tree>
    <p:custDataLst>
      <p:tags r:id="rId1"/>
    </p:custDataLst>
    <p:extLst>
      <p:ext uri="{BB962C8B-B14F-4D97-AF65-F5344CB8AC3E}">
        <p14:creationId xmlns:p14="http://schemas.microsoft.com/office/powerpoint/2010/main" val="1504586811"/>
      </p:ext>
    </p:extLst>
  </p:cSld>
  <p:clrMapOvr>
    <a:masterClrMapping/>
  </p:clrMapOvr>
  <mc:AlternateContent xmlns:mc="http://schemas.openxmlformats.org/markup-compatibility/2006" xmlns:p14="http://schemas.microsoft.com/office/powerpoint/2010/main">
    <mc:Choice Requires="p14">
      <p:transition spd="slow" p14:dur="2000" advTm="114190"/>
    </mc:Choice>
    <mc:Fallback xmlns="">
      <p:transition spd="slow" advTm="11419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CB00719F-0E8D-9584-44B7-1BDFD162F19A}"/>
            </a:ext>
          </a:extLst>
        </p:cNvPr>
        <p:cNvGrpSpPr/>
        <p:nvPr/>
      </p:nvGrpSpPr>
      <p:grpSpPr>
        <a:xfrm>
          <a:off x="0" y="0"/>
          <a:ext cx="0" cy="0"/>
          <a:chOff x="0" y="0"/>
          <a:chExt cx="0" cy="0"/>
        </a:xfrm>
      </p:grpSpPr>
      <p:sp>
        <p:nvSpPr>
          <p:cNvPr id="13" name="Freeform 13">
            <a:extLst>
              <a:ext uri="{FF2B5EF4-FFF2-40B4-BE49-F238E27FC236}">
                <a16:creationId xmlns:a16="http://schemas.microsoft.com/office/drawing/2014/main" id="{99FC612B-732C-266B-829E-337C2E004576}"/>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2" name="TextBox 14">
            <a:extLst>
              <a:ext uri="{FF2B5EF4-FFF2-40B4-BE49-F238E27FC236}">
                <a16:creationId xmlns:a16="http://schemas.microsoft.com/office/drawing/2014/main" id="{0BB086BE-A282-7109-1929-8072C0D903BC}"/>
              </a:ext>
            </a:extLst>
          </p:cNvPr>
          <p:cNvSpPr txBox="1"/>
          <p:nvPr/>
        </p:nvSpPr>
        <p:spPr>
          <a:xfrm>
            <a:off x="879648" y="2803905"/>
            <a:ext cx="9842923" cy="4642168"/>
          </a:xfrm>
          <a:prstGeom prst="rect">
            <a:avLst/>
          </a:prstGeom>
        </p:spPr>
        <p:txBody>
          <a:bodyPr wrap="square" lIns="0" tIns="0" rIns="0" bIns="0" rtlCol="0" anchor="t">
            <a:spAutoFit/>
          </a:bodyPr>
          <a:lstStyle/>
          <a:p>
            <a:pPr defTabSz="609630" eaLnBrk="1" fontAlgn="auto" hangingPunct="1">
              <a:lnSpc>
                <a:spcPts val="7333"/>
              </a:lnSpc>
              <a:spcBef>
                <a:spcPts val="0"/>
              </a:spcBef>
              <a:spcAft>
                <a:spcPts val="0"/>
              </a:spcAft>
            </a:pPr>
            <a:r>
              <a:rPr kumimoji="0" lang="en-GB" altLang="en-US" sz="5334" b="1" i="0" u="none" strike="noStrike" kern="1200" cap="none" spc="0" normalizeH="0" baseline="0" noProof="0" dirty="0">
                <a:ln>
                  <a:noFill/>
                </a:ln>
                <a:solidFill>
                  <a:prstClr val="white"/>
                </a:solidFill>
                <a:effectLst/>
                <a:uLnTx/>
                <a:uFillTx/>
                <a:latin typeface="DM Sans"/>
                <a:ea typeface="ＭＳ Ｐゴシック" panose="020B0600070205080204" pitchFamily="34" charset="-128"/>
                <a:cs typeface="+mn-cs"/>
              </a:rPr>
              <a:t>Solar Radiation Modification!</a:t>
            </a:r>
            <a:br>
              <a:rPr kumimoji="0" lang="en-GB" altLang="en-US" sz="5334" b="1" i="0" u="none" strike="noStrike" kern="1200" cap="none" spc="0" normalizeH="0" baseline="0" noProof="0" dirty="0">
                <a:ln>
                  <a:noFill/>
                </a:ln>
                <a:solidFill>
                  <a:prstClr val="white"/>
                </a:solidFill>
                <a:effectLst/>
                <a:uLnTx/>
                <a:uFillTx/>
                <a:latin typeface="DM Sans"/>
                <a:ea typeface="ＭＳ Ｐゴシック" panose="020B0600070205080204" pitchFamily="34" charset="-128"/>
                <a:cs typeface="+mn-cs"/>
              </a:rPr>
            </a:br>
            <a:br>
              <a:rPr kumimoji="0" lang="en-GB" altLang="en-US" sz="5334" b="1" i="0" u="none" strike="noStrike" kern="1200" cap="none" spc="0" normalizeH="0" baseline="0" noProof="0" dirty="0">
                <a:ln>
                  <a:noFill/>
                </a:ln>
                <a:solidFill>
                  <a:prstClr val="white"/>
                </a:solidFill>
                <a:effectLst/>
                <a:uLnTx/>
                <a:uFillTx/>
                <a:latin typeface="DM Sans"/>
                <a:ea typeface="ＭＳ Ｐゴシック" panose="020B0600070205080204" pitchFamily="34" charset="-128"/>
                <a:cs typeface="+mn-cs"/>
              </a:rPr>
            </a:br>
            <a:endParaRPr kumimoji="0" lang="en-GB" altLang="en-US" sz="5334" b="1" i="0" u="none" strike="noStrike" kern="1200" cap="none" spc="0" normalizeH="0" baseline="0" noProof="0" dirty="0">
              <a:ln>
                <a:noFill/>
              </a:ln>
              <a:solidFill>
                <a:prstClr val="white"/>
              </a:solidFill>
              <a:effectLst/>
              <a:uLnTx/>
              <a:uFillTx/>
              <a:latin typeface="DM Sans"/>
              <a:ea typeface="ＭＳ Ｐゴシック" panose="020B0600070205080204" pitchFamily="34" charset="-128"/>
              <a:cs typeface="+mn-cs"/>
            </a:endParaRPr>
          </a:p>
          <a:p>
            <a:pPr marL="0" marR="0" lvl="0" indent="0" algn="l" defTabSz="609630" rtl="0" eaLnBrk="1" fontAlgn="auto" latinLnBrk="0" hangingPunct="1">
              <a:lnSpc>
                <a:spcPts val="7333"/>
              </a:lnSpc>
              <a:spcBef>
                <a:spcPts val="0"/>
              </a:spcBef>
              <a:spcAft>
                <a:spcPts val="0"/>
              </a:spcAft>
              <a:buClrTx/>
              <a:buSzTx/>
              <a:buFontTx/>
              <a:buNone/>
              <a:tabLst/>
              <a:defRPr/>
            </a:pPr>
            <a:br>
              <a:rPr kumimoji="0" lang="en-GB" altLang="en-US" sz="5334" b="1" i="0" u="none" strike="noStrike" kern="1200" cap="none" spc="0" normalizeH="0" baseline="0" noProof="0" dirty="0">
                <a:ln>
                  <a:noFill/>
                </a:ln>
                <a:solidFill>
                  <a:prstClr val="white"/>
                </a:solidFill>
                <a:effectLst/>
                <a:uLnTx/>
                <a:uFillTx/>
                <a:latin typeface="DM Sans"/>
                <a:ea typeface="ＭＳ Ｐゴシック" panose="020B0600070205080204" pitchFamily="34" charset="-128"/>
                <a:cs typeface="+mn-cs"/>
              </a:rPr>
            </a:br>
            <a:endParaRPr kumimoji="0" lang="en-US" sz="5334" b="1" i="0" u="none" strike="noStrike" kern="1200" cap="none" spc="0" normalizeH="0" baseline="0" noProof="0" dirty="0">
              <a:ln>
                <a:noFill/>
              </a:ln>
              <a:solidFill>
                <a:prstClr val="white"/>
              </a:solidFill>
              <a:effectLst/>
              <a:uLnTx/>
              <a:uFillTx/>
              <a:latin typeface="DM Sans" pitchFamily="2" charset="0"/>
              <a:ea typeface="ＭＳ Ｐゴシック" panose="020B0600070205080204" pitchFamily="34" charset="-128"/>
              <a:cs typeface="+mn-cs"/>
            </a:endParaRPr>
          </a:p>
        </p:txBody>
      </p:sp>
      <p:sp>
        <p:nvSpPr>
          <p:cNvPr id="3" name="TextBox 14">
            <a:extLst>
              <a:ext uri="{FF2B5EF4-FFF2-40B4-BE49-F238E27FC236}">
                <a16:creationId xmlns:a16="http://schemas.microsoft.com/office/drawing/2014/main" id="{60207A0F-F1FB-657A-B875-3C92877B1836}"/>
              </a:ext>
            </a:extLst>
          </p:cNvPr>
          <p:cNvSpPr txBox="1"/>
          <p:nvPr/>
        </p:nvSpPr>
        <p:spPr>
          <a:xfrm>
            <a:off x="914400" y="4170916"/>
            <a:ext cx="6524978" cy="1716367"/>
          </a:xfrm>
          <a:prstGeom prst="rect">
            <a:avLst/>
          </a:prstGeom>
        </p:spPr>
        <p:txBody>
          <a:bodyPr wrap="square" lIns="0" tIns="0" rIns="0" bIns="0" rtlCol="0" anchor="t">
            <a:spAutoFit/>
          </a:bodyPr>
          <a:lstStyle/>
          <a:p>
            <a:pPr marL="0" marR="0" lvl="0" indent="0" algn="l" defTabSz="609630" rtl="0" eaLnBrk="1" fontAlgn="auto" latinLnBrk="0" hangingPunct="1">
              <a:lnSpc>
                <a:spcPts val="7333"/>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AB700"/>
                </a:solidFill>
                <a:effectLst/>
                <a:uLnTx/>
                <a:uFillTx/>
                <a:latin typeface="DM Sans" pitchFamily="2" charset="0"/>
                <a:ea typeface="ＭＳ Ｐゴシック" panose="020B0600070205080204" pitchFamily="34" charset="-128"/>
                <a:cs typeface="+mn-cs"/>
              </a:rPr>
              <a:t>Week 10 - Global Climate Change EART21202 </a:t>
            </a:r>
          </a:p>
          <a:p>
            <a:pPr marL="0" marR="0" lvl="0" indent="0" algn="l" defTabSz="609630" rtl="0" eaLnBrk="1" fontAlgn="auto" latinLnBrk="0" hangingPunct="1">
              <a:lnSpc>
                <a:spcPts val="7333"/>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AB700"/>
                </a:solidFill>
                <a:effectLst/>
                <a:uLnTx/>
                <a:uFillTx/>
                <a:latin typeface="DM Sans" pitchFamily="2" charset="0"/>
                <a:ea typeface="ＭＳ Ｐゴシック" panose="020B0600070205080204" pitchFamily="34" charset="-128"/>
                <a:cs typeface="+mn-cs"/>
              </a:rPr>
              <a:t>Dr Thomas Bannan and Dr Jessica Girdwood </a:t>
            </a:r>
          </a:p>
        </p:txBody>
      </p:sp>
    </p:spTree>
    <p:extLst>
      <p:ext uri="{BB962C8B-B14F-4D97-AF65-F5344CB8AC3E}">
        <p14:creationId xmlns:p14="http://schemas.microsoft.com/office/powerpoint/2010/main" val="3094176677"/>
      </p:ext>
    </p:extLst>
  </p:cSld>
  <p:clrMapOvr>
    <a:masterClrMapping/>
  </p:clrMapOvr>
  <mc:AlternateContent xmlns:mc="http://schemas.openxmlformats.org/markup-compatibility/2006" xmlns:p14="http://schemas.microsoft.com/office/powerpoint/2010/main">
    <mc:Choice Requires="p14">
      <p:transition spd="slow" p14:dur="2000" advTm="48833"/>
    </mc:Choice>
    <mc:Fallback xmlns="">
      <p:transition spd="slow" advTm="4883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5BAFEBAD-E4F4-D12E-7F82-FC0C06C04C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 y="1722180"/>
            <a:ext cx="12189654" cy="45694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TextBox 5">
            <a:extLst>
              <a:ext uri="{FF2B5EF4-FFF2-40B4-BE49-F238E27FC236}">
                <a16:creationId xmlns:a16="http://schemas.microsoft.com/office/drawing/2014/main" id="{0A42016D-42E8-4D2A-F030-01B0FB739A43}"/>
              </a:ext>
            </a:extLst>
          </p:cNvPr>
          <p:cNvSpPr txBox="1"/>
          <p:nvPr/>
        </p:nvSpPr>
        <p:spPr>
          <a:xfrm>
            <a:off x="767408" y="836712"/>
            <a:ext cx="9231783" cy="569580"/>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733" b="1" i="1" dirty="0">
                <a:solidFill>
                  <a:srgbClr val="46245A"/>
                </a:solidFill>
                <a:latin typeface="DM Sans" pitchFamily="2" charset="0"/>
                <a:ea typeface="+mn-ea"/>
              </a:rPr>
              <a:t>Runaway Climate Change</a:t>
            </a:r>
            <a:endParaRPr lang="en-US" sz="3733" i="1" dirty="0">
              <a:solidFill>
                <a:srgbClr val="46245A"/>
              </a:solidFill>
              <a:latin typeface="DM Sans" pitchFamily="2" charset="0"/>
              <a:ea typeface="+mn-ea"/>
            </a:endParaRPr>
          </a:p>
        </p:txBody>
      </p:sp>
      <p:sp>
        <p:nvSpPr>
          <p:cNvPr id="3" name="Freeform 13">
            <a:extLst>
              <a:ext uri="{FF2B5EF4-FFF2-40B4-BE49-F238E27FC236}">
                <a16:creationId xmlns:a16="http://schemas.microsoft.com/office/drawing/2014/main" id="{BF2918B5-E87A-B912-5E76-2C26A1B8E881}"/>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1" name="Group 1">
            <a:extLst>
              <a:ext uri="{FF2B5EF4-FFF2-40B4-BE49-F238E27FC236}">
                <a16:creationId xmlns:a16="http://schemas.microsoft.com/office/drawing/2014/main" id="{927061AF-77E1-03A8-60B0-97648659DE97}"/>
              </a:ext>
            </a:extLst>
          </p:cNvPr>
          <p:cNvGrpSpPr>
            <a:grpSpLocks/>
          </p:cNvGrpSpPr>
          <p:nvPr/>
        </p:nvGrpSpPr>
        <p:grpSpPr bwMode="auto">
          <a:xfrm>
            <a:off x="436040" y="216953"/>
            <a:ext cx="5441090" cy="4352487"/>
            <a:chOff x="227" y="113"/>
            <a:chExt cx="2834" cy="2267"/>
          </a:xfrm>
        </p:grpSpPr>
        <p:sp>
          <p:nvSpPr>
            <p:cNvPr id="5122" name="AutoShape 2">
              <a:extLst>
                <a:ext uri="{FF2B5EF4-FFF2-40B4-BE49-F238E27FC236}">
                  <a16:creationId xmlns:a16="http://schemas.microsoft.com/office/drawing/2014/main" id="{D709913C-7A3E-E04F-0D01-CF04F9E88D15}"/>
                </a:ext>
              </a:extLst>
            </p:cNvPr>
            <p:cNvSpPr>
              <a:spLocks noChangeArrowheads="1"/>
            </p:cNvSpPr>
            <p:nvPr/>
          </p:nvSpPr>
          <p:spPr bwMode="auto">
            <a:xfrm>
              <a:off x="227" y="113"/>
              <a:ext cx="2834" cy="2267"/>
            </a:xfrm>
            <a:prstGeom prst="roundRect">
              <a:avLst>
                <a:gd name="adj" fmla="val 16667"/>
              </a:avLst>
            </a:prstGeom>
            <a:solidFill>
              <a:srgbClr val="FFFFF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5123" name="Picture 3">
              <a:extLst>
                <a:ext uri="{FF2B5EF4-FFF2-40B4-BE49-F238E27FC236}">
                  <a16:creationId xmlns:a16="http://schemas.microsoft.com/office/drawing/2014/main" id="{34156EFD-B401-C435-0D00-6C1E796377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 y="114"/>
              <a:ext cx="2676" cy="21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5124" name="Text Box 4">
            <a:extLst>
              <a:ext uri="{FF2B5EF4-FFF2-40B4-BE49-F238E27FC236}">
                <a16:creationId xmlns:a16="http://schemas.microsoft.com/office/drawing/2014/main" id="{E392F7F4-4D6E-F7BB-AE98-E95A6699C2D9}"/>
              </a:ext>
            </a:extLst>
          </p:cNvPr>
          <p:cNvSpPr txBox="1">
            <a:spLocks noChangeArrowheads="1"/>
          </p:cNvSpPr>
          <p:nvPr/>
        </p:nvSpPr>
        <p:spPr bwMode="auto">
          <a:xfrm>
            <a:off x="217168" y="4653136"/>
            <a:ext cx="5659962" cy="17413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431800" indent="-32385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1pPr>
            <a:lvl2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2pPr>
            <a:lvl3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3pPr>
            <a:lvl4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4pPr>
            <a:lvl5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5pPr>
            <a:lvl6pPr marL="25146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6pPr>
            <a:lvl7pPr marL="29718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7pPr>
            <a:lvl8pPr marL="34290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8pPr>
            <a:lvl9pPr marL="38862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9pPr>
          </a:lstStyle>
          <a:p>
            <a:pPr marL="431800" marR="0" lvl="0" indent="-323850" algn="l" defTabSz="914400" rtl="0" eaLnBrk="1" fontAlgn="auto" latinLnBrk="0" hangingPunct="1">
              <a:lnSpc>
                <a:spcPct val="116000"/>
              </a:lnSpc>
              <a:spcBef>
                <a:spcPts val="1723"/>
              </a:spcBef>
              <a:spcAft>
                <a:spcPts val="0"/>
              </a:spcAft>
              <a:buClr>
                <a:srgbClr val="FFFFFF"/>
              </a:buClr>
              <a:buSzPct val="45000"/>
              <a:buFont typeface="Wingdings" pitchFamily="2" charset="2"/>
              <a:buChar char=""/>
              <a:tabLst>
                <a:tab pos="449263" algn="l"/>
                <a:tab pos="898525" algn="l"/>
                <a:tab pos="1347788" algn="l"/>
                <a:tab pos="1797050" algn="l"/>
                <a:tab pos="2246313" algn="l"/>
                <a:tab pos="2695575" algn="l"/>
                <a:tab pos="3144838" algn="l"/>
                <a:tab pos="3594100" algn="l"/>
                <a:tab pos="4043363" algn="l"/>
                <a:tab pos="4492625" algn="l"/>
              </a:tabLst>
              <a:defRPr/>
            </a:pPr>
            <a:r>
              <a:rPr kumimoji="0" lang="en-GB" alt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Some EM radiation is reflected by the earth (albedo).</a:t>
            </a:r>
          </a:p>
          <a:p>
            <a:pPr marL="431800" marR="0" lvl="0" indent="-323850" algn="l" defTabSz="914400" rtl="0" eaLnBrk="1" fontAlgn="auto" latinLnBrk="0" hangingPunct="1">
              <a:lnSpc>
                <a:spcPct val="116000"/>
              </a:lnSpc>
              <a:spcBef>
                <a:spcPts val="1723"/>
              </a:spcBef>
              <a:spcAft>
                <a:spcPts val="0"/>
              </a:spcAft>
              <a:buClr>
                <a:srgbClr val="FFFFFF"/>
              </a:buClr>
              <a:buSzPct val="45000"/>
              <a:buFont typeface="Wingdings" pitchFamily="2" charset="2"/>
              <a:buChar char=""/>
              <a:tabLst>
                <a:tab pos="449263" algn="l"/>
                <a:tab pos="898525" algn="l"/>
                <a:tab pos="1347788" algn="l"/>
                <a:tab pos="1797050" algn="l"/>
                <a:tab pos="2246313" algn="l"/>
                <a:tab pos="2695575" algn="l"/>
                <a:tab pos="3144838" algn="l"/>
                <a:tab pos="3594100" algn="l"/>
                <a:tab pos="4043363" algn="l"/>
                <a:tab pos="4492625" algn="l"/>
              </a:tabLst>
              <a:defRPr/>
            </a:pPr>
            <a:r>
              <a:rPr kumimoji="0" lang="en-GB" alt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Some EM radiation is absorbed by the earth.</a:t>
            </a:r>
          </a:p>
        </p:txBody>
      </p:sp>
      <p:sp>
        <p:nvSpPr>
          <p:cNvPr id="5125" name="Text Box 5">
            <a:extLst>
              <a:ext uri="{FF2B5EF4-FFF2-40B4-BE49-F238E27FC236}">
                <a16:creationId xmlns:a16="http://schemas.microsoft.com/office/drawing/2014/main" id="{035FDD5B-B632-135A-5FE9-C36456DF6771}"/>
              </a:ext>
            </a:extLst>
          </p:cNvPr>
          <p:cNvSpPr txBox="1">
            <a:spLocks noChangeArrowheads="1"/>
          </p:cNvSpPr>
          <p:nvPr/>
        </p:nvSpPr>
        <p:spPr bwMode="auto">
          <a:xfrm>
            <a:off x="6083211" y="4653136"/>
            <a:ext cx="5659962" cy="17413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431800" indent="-32385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1pPr>
            <a:lvl2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2pPr>
            <a:lvl3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3pPr>
            <a:lvl4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4pPr>
            <a:lvl5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5pPr>
            <a:lvl6pPr marL="25146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6pPr>
            <a:lvl7pPr marL="29718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7pPr>
            <a:lvl8pPr marL="34290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8pPr>
            <a:lvl9pPr marL="38862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9pPr>
          </a:lstStyle>
          <a:p>
            <a:pPr marL="431800" marR="0" lvl="0" indent="-323850" algn="l" defTabSz="914400" rtl="0" eaLnBrk="1" fontAlgn="auto" latinLnBrk="0" hangingPunct="1">
              <a:lnSpc>
                <a:spcPct val="116000"/>
              </a:lnSpc>
              <a:spcBef>
                <a:spcPts val="1723"/>
              </a:spcBef>
              <a:spcAft>
                <a:spcPts val="0"/>
              </a:spcAft>
              <a:buClr>
                <a:srgbClr val="FFFFFF"/>
              </a:buClr>
              <a:buSzPct val="45000"/>
              <a:buFont typeface="Wingdings" pitchFamily="2" charset="2"/>
              <a:buChar char=""/>
              <a:tabLst>
                <a:tab pos="449263" algn="l"/>
                <a:tab pos="898525" algn="l"/>
                <a:tab pos="1347788" algn="l"/>
                <a:tab pos="1797050" algn="l"/>
                <a:tab pos="2246313" algn="l"/>
                <a:tab pos="2695575" algn="l"/>
                <a:tab pos="3144838" algn="l"/>
                <a:tab pos="3594100" algn="l"/>
                <a:tab pos="4043363" algn="l"/>
                <a:tab pos="4492625" algn="l"/>
              </a:tabLst>
              <a:defRPr/>
            </a:pPr>
            <a:r>
              <a:rPr kumimoji="0" lang="en-GB" alt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The radiation which is absorbed by the earth is re-transmitted as </a:t>
            </a:r>
            <a:r>
              <a:rPr kumimoji="0" lang="en-GB" altLang="en-US" sz="2400" b="1" i="1"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black-body radiation</a:t>
            </a:r>
            <a:r>
              <a:rPr kumimoji="0" lang="en-GB" alt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t>
            </a:r>
          </a:p>
        </p:txBody>
      </p:sp>
      <p:pic>
        <p:nvPicPr>
          <p:cNvPr id="5126" name="Picture 6">
            <a:extLst>
              <a:ext uri="{FF2B5EF4-FFF2-40B4-BE49-F238E27FC236}">
                <a16:creationId xmlns:a16="http://schemas.microsoft.com/office/drawing/2014/main" id="{0E32B547-EBDE-3038-5EBE-4A44440780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0151" y="299510"/>
            <a:ext cx="5373891" cy="4052979"/>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5" name="Picture 1">
            <a:extLst>
              <a:ext uri="{FF2B5EF4-FFF2-40B4-BE49-F238E27FC236}">
                <a16:creationId xmlns:a16="http://schemas.microsoft.com/office/drawing/2014/main" id="{C55936CC-F7B7-7A17-698A-2C9A890CF5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9776" y="439664"/>
            <a:ext cx="7184389" cy="60861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146" name="Rectangle 2">
            <a:extLst>
              <a:ext uri="{FF2B5EF4-FFF2-40B4-BE49-F238E27FC236}">
                <a16:creationId xmlns:a16="http://schemas.microsoft.com/office/drawing/2014/main" id="{E103E2FF-9093-8B51-256A-E196EE203A9F}"/>
              </a:ext>
            </a:extLst>
          </p:cNvPr>
          <p:cNvSpPr>
            <a:spLocks noGrp="1" noChangeArrowheads="1"/>
          </p:cNvSpPr>
          <p:nvPr>
            <p:ph type="body"/>
          </p:nvPr>
        </p:nvSpPr>
        <p:spPr>
          <a:xfrm>
            <a:off x="171877" y="653496"/>
            <a:ext cx="3701630" cy="6095786"/>
          </a:xfrm>
          <a:ln/>
        </p:spPr>
        <p:txBody>
          <a:bodyPr anchor="t">
            <a:noAutofit/>
          </a:bodyPr>
          <a:lstStyle/>
          <a:p>
            <a:pPr marL="130555">
              <a:spcBef>
                <a:spcPts val="1723"/>
              </a:spcBef>
              <a:buClr>
                <a:srgbClr val="FFFFFF"/>
              </a:buClr>
              <a:buSzPct val="45000"/>
              <a:tabLst>
                <a:tab pos="543339" algn="l"/>
                <a:tab pos="1086676" algn="l"/>
                <a:tab pos="1630015" algn="l"/>
                <a:tab pos="2173352" algn="l"/>
                <a:tab pos="2716691" algn="l"/>
                <a:tab pos="3260028" algn="l"/>
              </a:tabLst>
            </a:pPr>
            <a:r>
              <a:rPr lang="en-GB" altLang="en-US" sz="2400" dirty="0">
                <a:latin typeface="Calibri" panose="020F0502020204030204" pitchFamily="34" charset="0"/>
                <a:cs typeface="Calibri" panose="020F0502020204030204" pitchFamily="34" charset="0"/>
              </a:rPr>
              <a:t>From the IPCC AR6 WG1 report.</a:t>
            </a:r>
          </a:p>
          <a:p>
            <a:pPr marL="130555">
              <a:spcBef>
                <a:spcPts val="1723"/>
              </a:spcBef>
              <a:buClr>
                <a:srgbClr val="FFFFFF"/>
              </a:buClr>
              <a:buSzPct val="45000"/>
              <a:tabLst>
                <a:tab pos="543339" algn="l"/>
                <a:tab pos="1086676" algn="l"/>
                <a:tab pos="1630015" algn="l"/>
                <a:tab pos="2173352" algn="l"/>
                <a:tab pos="2716691" algn="l"/>
                <a:tab pos="3260028" algn="l"/>
              </a:tabLst>
            </a:pPr>
            <a:r>
              <a:rPr lang="en-GB" altLang="en-US" sz="2400" dirty="0">
                <a:latin typeface="Calibri" panose="020F0502020204030204" pitchFamily="34" charset="0"/>
                <a:cs typeface="Calibri" panose="020F0502020204030204" pitchFamily="34" charset="0"/>
              </a:rPr>
              <a:t>Effective radiative forcing is how much heating or cooling power an atmospheric constituent has.</a:t>
            </a:r>
          </a:p>
          <a:p>
            <a:pPr marL="130555">
              <a:spcBef>
                <a:spcPts val="1723"/>
              </a:spcBef>
              <a:buClr>
                <a:srgbClr val="FFFFFF"/>
              </a:buClr>
              <a:buSzPct val="45000"/>
              <a:tabLst>
                <a:tab pos="543339" algn="l"/>
                <a:tab pos="1086676" algn="l"/>
                <a:tab pos="1630015" algn="l"/>
                <a:tab pos="2173352" algn="l"/>
                <a:tab pos="2716691" algn="l"/>
                <a:tab pos="3260028" algn="l"/>
              </a:tabLst>
            </a:pPr>
            <a:r>
              <a:rPr lang="en-GB" altLang="en-US" sz="2400" dirty="0">
                <a:latin typeface="Calibri" panose="020F0502020204030204" pitchFamily="34" charset="0"/>
                <a:cs typeface="Calibri" panose="020F0502020204030204" pitchFamily="34" charset="0"/>
              </a:rPr>
              <a:t>Negative means it cools, positive means it heats.</a:t>
            </a:r>
          </a:p>
          <a:p>
            <a:pPr marL="130555">
              <a:spcBef>
                <a:spcPts val="1723"/>
              </a:spcBef>
              <a:buClr>
                <a:srgbClr val="FFFFFF"/>
              </a:buClr>
              <a:buSzPct val="45000"/>
              <a:tabLst>
                <a:tab pos="543339" algn="l"/>
                <a:tab pos="1086676" algn="l"/>
                <a:tab pos="1630015" algn="l"/>
                <a:tab pos="2173352" algn="l"/>
                <a:tab pos="2716691" algn="l"/>
                <a:tab pos="3260028" algn="l"/>
              </a:tabLst>
            </a:pPr>
            <a:r>
              <a:rPr lang="en-GB" altLang="en-US" sz="2400" dirty="0">
                <a:latin typeface="Calibri" panose="020F0502020204030204" pitchFamily="34" charset="0"/>
                <a:cs typeface="Calibri" panose="020F0502020204030204" pitchFamily="34" charset="0"/>
              </a:rPr>
              <a:t>Colour of the bars </a:t>
            </a:r>
            <a:r>
              <a:rPr lang="en-GB" altLang="en-US" sz="2400" dirty="0" err="1">
                <a:latin typeface="Calibri" panose="020F0502020204030204" pitchFamily="34" charset="0"/>
                <a:cs typeface="Calibri" panose="020F0502020204030204" pitchFamily="34" charset="0"/>
              </a:rPr>
              <a:t>coresponds</a:t>
            </a:r>
            <a:r>
              <a:rPr lang="en-GB" altLang="en-US" sz="2400" dirty="0">
                <a:latin typeface="Calibri" panose="020F0502020204030204" pitchFamily="34" charset="0"/>
                <a:cs typeface="Calibri" panose="020F0502020204030204" pitchFamily="34" charset="0"/>
              </a:rPr>
              <a:t> to a constituents interaction with something, described in the key!</a:t>
            </a:r>
          </a:p>
        </p:txBody>
      </p:sp>
      <p:pic>
        <p:nvPicPr>
          <p:cNvPr id="6147" name="Picture 3">
            <a:extLst>
              <a:ext uri="{FF2B5EF4-FFF2-40B4-BE49-F238E27FC236}">
                <a16:creationId xmlns:a16="http://schemas.microsoft.com/office/drawing/2014/main" id="{C23EBD4B-943B-6A5B-DF75-1442989696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81169" y="3482758"/>
            <a:ext cx="2774304" cy="326580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05E2283-739D-7B04-558F-67A66CD5C969}"/>
              </a:ext>
            </a:extLst>
          </p:cNvPr>
          <p:cNvSpPr>
            <a:spLocks noGrp="1" noChangeArrowheads="1"/>
          </p:cNvSpPr>
          <p:nvPr>
            <p:ph type="body" idx="1"/>
          </p:nvPr>
        </p:nvSpPr>
        <p:spPr>
          <a:xfrm>
            <a:off x="609625" y="1844824"/>
            <a:ext cx="5414367" cy="4752528"/>
          </a:xfrm>
          <a:ln/>
        </p:spPr>
        <p:txBody>
          <a:bodyPr>
            <a:normAutofit/>
          </a:bodyPr>
          <a:lstStyle/>
          <a:p>
            <a:pPr marL="130555" indent="0">
              <a:buClr>
                <a:srgbClr val="FFFFFF"/>
              </a:buClr>
              <a:buSzPct val="45000"/>
              <a:buNone/>
              <a:tabLst>
                <a:tab pos="543339" algn="l"/>
                <a:tab pos="1086676" algn="l"/>
                <a:tab pos="1630015" algn="l"/>
                <a:tab pos="2173352" algn="l"/>
                <a:tab pos="2716691" algn="l"/>
                <a:tab pos="3260028" algn="l"/>
                <a:tab pos="3803367" algn="l"/>
                <a:tab pos="4346705" algn="l"/>
              </a:tabLst>
            </a:pPr>
            <a:r>
              <a:rPr lang="en-GB" altLang="en-US" sz="2400" dirty="0">
                <a:latin typeface="Calibri" panose="020F0502020204030204" pitchFamily="34" charset="0"/>
                <a:cs typeface="Calibri" panose="020F0502020204030204" pitchFamily="34" charset="0"/>
              </a:rPr>
              <a:t>As EM radiation passes though the atmosphere, some is </a:t>
            </a:r>
            <a:r>
              <a:rPr lang="en-GB" altLang="en-US" sz="2400" b="1" i="1" dirty="0">
                <a:latin typeface="Calibri" panose="020F0502020204030204" pitchFamily="34" charset="0"/>
                <a:cs typeface="Calibri" panose="020F0502020204030204" pitchFamily="34" charset="0"/>
              </a:rPr>
              <a:t>absorbed</a:t>
            </a:r>
            <a:r>
              <a:rPr lang="en-GB" altLang="en-US" sz="2400" dirty="0">
                <a:latin typeface="Calibri" panose="020F0502020204030204" pitchFamily="34" charset="0"/>
                <a:cs typeface="Calibri" panose="020F0502020204030204" pitchFamily="34" charset="0"/>
              </a:rPr>
              <a:t>, and some is </a:t>
            </a:r>
            <a:r>
              <a:rPr lang="en-GB" altLang="en-US" sz="2400" b="1" i="1" dirty="0">
                <a:latin typeface="Calibri" panose="020F0502020204030204" pitchFamily="34" charset="0"/>
                <a:cs typeface="Calibri" panose="020F0502020204030204" pitchFamily="34" charset="0"/>
              </a:rPr>
              <a:t>scattered.</a:t>
            </a:r>
          </a:p>
          <a:p>
            <a:pPr marL="130555" indent="0">
              <a:buClr>
                <a:srgbClr val="FFFFFF"/>
              </a:buClr>
              <a:buSzPct val="45000"/>
              <a:buNone/>
              <a:tabLst>
                <a:tab pos="543339" algn="l"/>
                <a:tab pos="1086676" algn="l"/>
                <a:tab pos="1630015" algn="l"/>
                <a:tab pos="2173352" algn="l"/>
                <a:tab pos="2716691" algn="l"/>
                <a:tab pos="3260028" algn="l"/>
                <a:tab pos="3803367" algn="l"/>
                <a:tab pos="4346705" algn="l"/>
              </a:tabLst>
            </a:pPr>
            <a:r>
              <a:rPr lang="en-GB" altLang="en-US" sz="2400" dirty="0">
                <a:latin typeface="Calibri" panose="020F0502020204030204" pitchFamily="34" charset="0"/>
                <a:cs typeface="Calibri" panose="020F0502020204030204" pitchFamily="34" charset="0"/>
              </a:rPr>
              <a:t>Scattering is when the light is redirected by reflection, refraction, and diffraction!</a:t>
            </a:r>
          </a:p>
          <a:p>
            <a:pPr marL="130555" indent="0">
              <a:buClr>
                <a:srgbClr val="FFFFFF"/>
              </a:buClr>
              <a:buSzPct val="45000"/>
              <a:buNone/>
              <a:tabLst>
                <a:tab pos="543339" algn="l"/>
                <a:tab pos="1086676" algn="l"/>
                <a:tab pos="1630015" algn="l"/>
                <a:tab pos="2173352" algn="l"/>
                <a:tab pos="2716691" algn="l"/>
                <a:tab pos="3260028" algn="l"/>
                <a:tab pos="3803367" algn="l"/>
                <a:tab pos="4346705" algn="l"/>
              </a:tabLst>
            </a:pPr>
            <a:r>
              <a:rPr lang="en-GB" altLang="en-US" sz="2400" dirty="0">
                <a:latin typeface="Calibri" panose="020F0502020204030204" pitchFamily="34" charset="0"/>
                <a:cs typeface="Calibri" panose="020F0502020204030204" pitchFamily="34" charset="0"/>
              </a:rPr>
              <a:t>There is no change in wavelength with (elastic) scattering, but it can affect radiative forcing by redirecting radiation (think reflecting back into space).</a:t>
            </a:r>
          </a:p>
          <a:p>
            <a:pPr marL="130555" indent="0">
              <a:buClr>
                <a:srgbClr val="FFFFFF"/>
              </a:buClr>
              <a:buSzPct val="45000"/>
              <a:buNone/>
              <a:tabLst>
                <a:tab pos="543339" algn="l"/>
                <a:tab pos="1086676" algn="l"/>
                <a:tab pos="1630015" algn="l"/>
                <a:tab pos="2173352" algn="l"/>
                <a:tab pos="2716691" algn="l"/>
                <a:tab pos="3260028" algn="l"/>
                <a:tab pos="3803367" algn="l"/>
                <a:tab pos="4346705" algn="l"/>
              </a:tabLst>
            </a:pPr>
            <a:r>
              <a:rPr lang="en-GB" altLang="en-US" sz="2400" dirty="0">
                <a:latin typeface="Calibri" panose="020F0502020204030204" pitchFamily="34" charset="0"/>
                <a:cs typeface="Calibri" panose="020F0502020204030204" pitchFamily="34" charset="0"/>
              </a:rPr>
              <a:t>Extinction is the sum of scattering and </a:t>
            </a:r>
            <a:r>
              <a:rPr lang="en-GB" altLang="en-US" sz="2400" dirty="0" err="1">
                <a:latin typeface="Calibri" panose="020F0502020204030204" pitchFamily="34" charset="0"/>
                <a:cs typeface="Calibri" panose="020F0502020204030204" pitchFamily="34" charset="0"/>
              </a:rPr>
              <a:t>absorbtion</a:t>
            </a:r>
            <a:r>
              <a:rPr lang="en-GB" altLang="en-US" sz="2400" dirty="0">
                <a:latin typeface="Calibri" panose="020F0502020204030204" pitchFamily="34" charset="0"/>
                <a:cs typeface="Calibri" panose="020F0502020204030204" pitchFamily="34" charset="0"/>
              </a:rPr>
              <a:t>.</a:t>
            </a:r>
          </a:p>
        </p:txBody>
      </p:sp>
      <p:pic>
        <p:nvPicPr>
          <p:cNvPr id="7171" name="Picture 3">
            <a:extLst>
              <a:ext uri="{FF2B5EF4-FFF2-40B4-BE49-F238E27FC236}">
                <a16:creationId xmlns:a16="http://schemas.microsoft.com/office/drawing/2014/main" id="{8D168621-8A4D-67D0-52EA-E1CAA92B57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2303" y="1628800"/>
            <a:ext cx="5915378" cy="4819879"/>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TextBox 5">
            <a:extLst>
              <a:ext uri="{FF2B5EF4-FFF2-40B4-BE49-F238E27FC236}">
                <a16:creationId xmlns:a16="http://schemas.microsoft.com/office/drawing/2014/main" id="{22444919-7899-CFFD-A23D-05DB14FF4731}"/>
              </a:ext>
            </a:extLst>
          </p:cNvPr>
          <p:cNvSpPr txBox="1"/>
          <p:nvPr/>
        </p:nvSpPr>
        <p:spPr>
          <a:xfrm>
            <a:off x="767408" y="836712"/>
            <a:ext cx="9231783" cy="569580"/>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733" b="1" i="1" dirty="0">
                <a:solidFill>
                  <a:srgbClr val="46245A"/>
                </a:solidFill>
                <a:latin typeface="DM Sans" pitchFamily="2" charset="0"/>
                <a:ea typeface="+mn-ea"/>
              </a:rPr>
              <a:t>Scattering, </a:t>
            </a:r>
            <a:r>
              <a:rPr lang="en-US" sz="3733" b="1" i="1" dirty="0" err="1">
                <a:solidFill>
                  <a:srgbClr val="46245A"/>
                </a:solidFill>
                <a:latin typeface="DM Sans" pitchFamily="2" charset="0"/>
                <a:ea typeface="+mn-ea"/>
              </a:rPr>
              <a:t>Absorbtion</a:t>
            </a:r>
            <a:r>
              <a:rPr lang="en-US" sz="3733" b="1" i="1" dirty="0">
                <a:solidFill>
                  <a:srgbClr val="46245A"/>
                </a:solidFill>
                <a:latin typeface="DM Sans" pitchFamily="2" charset="0"/>
                <a:ea typeface="+mn-ea"/>
              </a:rPr>
              <a:t>, and Extinction</a:t>
            </a:r>
            <a:endParaRPr lang="en-US" sz="3733" i="1" dirty="0">
              <a:solidFill>
                <a:srgbClr val="46245A"/>
              </a:solidFill>
              <a:latin typeface="DM Sans" pitchFamily="2" charset="0"/>
              <a:ea typeface="+mn-ea"/>
            </a:endParaRPr>
          </a:p>
        </p:txBody>
      </p:sp>
      <p:sp>
        <p:nvSpPr>
          <p:cNvPr id="3" name="Freeform 13">
            <a:extLst>
              <a:ext uri="{FF2B5EF4-FFF2-40B4-BE49-F238E27FC236}">
                <a16:creationId xmlns:a16="http://schemas.microsoft.com/office/drawing/2014/main" id="{59F397D2-B97A-0DBF-D2E2-8C754CEDF43D}"/>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a:extLst>
              <a:ext uri="{FF2B5EF4-FFF2-40B4-BE49-F238E27FC236}">
                <a16:creationId xmlns:a16="http://schemas.microsoft.com/office/drawing/2014/main" id="{93AA80E1-8256-258A-6285-B9613386087C}"/>
              </a:ext>
            </a:extLst>
          </p:cNvPr>
          <p:cNvSpPr>
            <a:spLocks noGrp="1" noChangeArrowheads="1"/>
          </p:cNvSpPr>
          <p:nvPr>
            <p:ph type="body"/>
          </p:nvPr>
        </p:nvSpPr>
        <p:spPr>
          <a:xfrm>
            <a:off x="218126" y="4005064"/>
            <a:ext cx="11755748" cy="3323404"/>
          </a:xfrm>
          <a:ln/>
        </p:spPr>
        <p:txBody>
          <a:bodyPr anchor="t">
            <a:normAutofit/>
          </a:bodyPr>
          <a:lstStyle/>
          <a:p>
            <a:pPr marL="130555">
              <a:spcBef>
                <a:spcPts val="1723"/>
              </a:spcBef>
              <a:buClr>
                <a:srgbClr val="FFFFFF"/>
              </a:buClr>
              <a:buSzPct val="45000"/>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 pos="11410100" algn="l"/>
              </a:tabLst>
            </a:pPr>
            <a:r>
              <a:rPr lang="en-GB" altLang="en-US" sz="3200" dirty="0"/>
              <a:t>Aerosols and clouds will (</a:t>
            </a:r>
            <a:r>
              <a:rPr lang="en-GB" altLang="en-US" sz="3200" i="1" dirty="0"/>
              <a:t>generally</a:t>
            </a:r>
            <a:r>
              <a:rPr lang="en-GB" altLang="en-US" sz="3200" dirty="0"/>
              <a:t>) cool the planet.</a:t>
            </a:r>
          </a:p>
          <a:p>
            <a:pPr marL="130555">
              <a:spcBef>
                <a:spcPts val="1723"/>
              </a:spcBef>
              <a:buClr>
                <a:srgbClr val="FFFFFF"/>
              </a:buClr>
              <a:buSzPct val="45000"/>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 pos="11410100" algn="l"/>
              </a:tabLst>
            </a:pPr>
            <a:r>
              <a:rPr lang="en-GB" altLang="en-US" sz="3200" dirty="0"/>
              <a:t>Aerosols will scatter radiation back into space, which is a property called albedo.</a:t>
            </a:r>
          </a:p>
          <a:p>
            <a:pPr marL="130555">
              <a:spcBef>
                <a:spcPts val="1723"/>
              </a:spcBef>
              <a:buClr>
                <a:srgbClr val="FFFFFF"/>
              </a:buClr>
              <a:buSzPct val="45000"/>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 pos="11410100" algn="l"/>
              </a:tabLst>
            </a:pPr>
            <a:r>
              <a:rPr lang="en-GB" altLang="en-US" sz="3200" dirty="0"/>
              <a:t>Aerosols can also interact with clouds to make them more reflective...</a:t>
            </a:r>
          </a:p>
        </p:txBody>
      </p:sp>
      <p:pic>
        <p:nvPicPr>
          <p:cNvPr id="8194" name="Picture 2">
            <a:extLst>
              <a:ext uri="{FF2B5EF4-FFF2-40B4-BE49-F238E27FC236}">
                <a16:creationId xmlns:a16="http://schemas.microsoft.com/office/drawing/2014/main" id="{9CAD2B82-17B7-88BF-5F0A-1877F3902B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8794" y="1646184"/>
            <a:ext cx="6404896" cy="1405391"/>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8195" name="Picture 3">
            <a:extLst>
              <a:ext uri="{FF2B5EF4-FFF2-40B4-BE49-F238E27FC236}">
                <a16:creationId xmlns:a16="http://schemas.microsoft.com/office/drawing/2014/main" id="{FF7F29F8-5992-337F-712E-F37CE7A8CAC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396" t="45492" r="31819" b="404"/>
          <a:stretch>
            <a:fillRect/>
          </a:stretch>
        </p:blipFill>
        <p:spPr bwMode="auto">
          <a:xfrm>
            <a:off x="479375" y="836712"/>
            <a:ext cx="5002247" cy="3024336"/>
          </a:xfrm>
          <a:prstGeom prst="rect">
            <a:avLst/>
          </a:prstGeom>
          <a:noFill/>
          <a:ln>
            <a:noFill/>
          </a:ln>
          <a:effectLst/>
          <a:extLst>
            <a:ext uri="{909E8E84-426E-40DD-AFC4-6F175D3DCCD1}">
              <a14:hiddenFill xmlns:a14="http://schemas.microsoft.com/office/drawing/2010/main">
                <a:blipFill dpi="0" rotWithShape="0">
                  <a:blip/>
                  <a:srcRect t="45491" r="31819"/>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Freeform 13">
            <a:extLst>
              <a:ext uri="{FF2B5EF4-FFF2-40B4-BE49-F238E27FC236}">
                <a16:creationId xmlns:a16="http://schemas.microsoft.com/office/drawing/2014/main" id="{2C6622F9-FCAB-FF76-5F95-56BA0D50EE30}"/>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1">
            <a:extLst>
              <a:ext uri="{FF2B5EF4-FFF2-40B4-BE49-F238E27FC236}">
                <a16:creationId xmlns:a16="http://schemas.microsoft.com/office/drawing/2014/main" id="{2953EC8C-00B7-6094-D3DD-7823C5EF8541}"/>
              </a:ext>
            </a:extLst>
          </p:cNvPr>
          <p:cNvSpPr>
            <a:spLocks noGrp="1" noChangeArrowheads="1"/>
          </p:cNvSpPr>
          <p:nvPr>
            <p:ph type="body"/>
          </p:nvPr>
        </p:nvSpPr>
        <p:spPr>
          <a:xfrm>
            <a:off x="418965" y="1340768"/>
            <a:ext cx="5443009" cy="5283655"/>
          </a:xfrm>
          <a:ln/>
        </p:spPr>
        <p:txBody>
          <a:bodyPr anchor="t">
            <a:normAutofit/>
          </a:bodyPr>
          <a:lstStyle/>
          <a:p>
            <a:pPr marL="130555" algn="l">
              <a:spcBef>
                <a:spcPts val="1723"/>
              </a:spcBef>
              <a:buClr>
                <a:srgbClr val="FFFFFF"/>
              </a:buClr>
              <a:buSzPct val="45000"/>
              <a:tabLst>
                <a:tab pos="543339" algn="l"/>
                <a:tab pos="1086676" algn="l"/>
                <a:tab pos="1630015" algn="l"/>
                <a:tab pos="2173352" algn="l"/>
                <a:tab pos="2716691" algn="l"/>
                <a:tab pos="3260028" algn="l"/>
                <a:tab pos="3803367" algn="l"/>
                <a:tab pos="4346705" algn="l"/>
                <a:tab pos="4890043" algn="l"/>
                <a:tab pos="5433381" algn="l"/>
              </a:tabLst>
            </a:pPr>
            <a:r>
              <a:rPr lang="en-GB" altLang="en-US" sz="2800" dirty="0">
                <a:latin typeface="Calibri" panose="020F0502020204030204" pitchFamily="34" charset="0"/>
                <a:cs typeface="Calibri" panose="020F0502020204030204" pitchFamily="34" charset="0"/>
              </a:rPr>
              <a:t>Aerosol acts as a condensation nuclei for droplets.</a:t>
            </a:r>
          </a:p>
          <a:p>
            <a:pPr marL="130555" algn="l">
              <a:spcBef>
                <a:spcPts val="1723"/>
              </a:spcBef>
              <a:buClr>
                <a:srgbClr val="FFFFFF"/>
              </a:buClr>
              <a:buSzPct val="45000"/>
              <a:tabLst>
                <a:tab pos="543339" algn="l"/>
                <a:tab pos="1086676" algn="l"/>
                <a:tab pos="1630015" algn="l"/>
                <a:tab pos="2173352" algn="l"/>
                <a:tab pos="2716691" algn="l"/>
                <a:tab pos="3260028" algn="l"/>
                <a:tab pos="3803367" algn="l"/>
                <a:tab pos="4346705" algn="l"/>
                <a:tab pos="4890043" algn="l"/>
                <a:tab pos="5433381" algn="l"/>
              </a:tabLst>
            </a:pPr>
            <a:r>
              <a:rPr lang="en-GB" altLang="en-US" sz="2800" dirty="0">
                <a:latin typeface="Calibri" panose="020F0502020204030204" pitchFamily="34" charset="0"/>
                <a:cs typeface="Calibri" panose="020F0502020204030204" pitchFamily="34" charset="0"/>
              </a:rPr>
              <a:t>Clouds are made of droplets and ice crystals of varying sizes.</a:t>
            </a:r>
          </a:p>
          <a:p>
            <a:pPr marL="130555" algn="l">
              <a:spcBef>
                <a:spcPts val="1723"/>
              </a:spcBef>
              <a:buClr>
                <a:srgbClr val="FFFFFF"/>
              </a:buClr>
              <a:buSzPct val="45000"/>
              <a:tabLst>
                <a:tab pos="543339" algn="l"/>
                <a:tab pos="1086676" algn="l"/>
                <a:tab pos="1630015" algn="l"/>
                <a:tab pos="2173352" algn="l"/>
                <a:tab pos="2716691" algn="l"/>
                <a:tab pos="3260028" algn="l"/>
                <a:tab pos="3803367" algn="l"/>
                <a:tab pos="4346705" algn="l"/>
                <a:tab pos="4890043" algn="l"/>
                <a:tab pos="5433381" algn="l"/>
              </a:tabLst>
            </a:pPr>
            <a:r>
              <a:rPr lang="en-GB" altLang="en-US" sz="2800" dirty="0">
                <a:latin typeface="Calibri" panose="020F0502020204030204" pitchFamily="34" charset="0"/>
                <a:cs typeface="Calibri" panose="020F0502020204030204" pitchFamily="34" charset="0"/>
              </a:rPr>
              <a:t>All cloud particles will scatter light in different ways, depending on their size.</a:t>
            </a:r>
          </a:p>
          <a:p>
            <a:pPr marL="130555" algn="l">
              <a:spcBef>
                <a:spcPts val="1723"/>
              </a:spcBef>
              <a:buClr>
                <a:srgbClr val="FFFFFF"/>
              </a:buClr>
              <a:buSzPct val="45000"/>
              <a:tabLst>
                <a:tab pos="543339" algn="l"/>
                <a:tab pos="1086676" algn="l"/>
                <a:tab pos="1630015" algn="l"/>
                <a:tab pos="2173352" algn="l"/>
                <a:tab pos="2716691" algn="l"/>
                <a:tab pos="3260028" algn="l"/>
                <a:tab pos="3803367" algn="l"/>
                <a:tab pos="4346705" algn="l"/>
                <a:tab pos="4890043" algn="l"/>
                <a:tab pos="5433381" algn="l"/>
              </a:tabLst>
            </a:pPr>
            <a:r>
              <a:rPr lang="en-GB" altLang="en-US" sz="2800" dirty="0">
                <a:latin typeface="Calibri" panose="020F0502020204030204" pitchFamily="34" charset="0"/>
                <a:cs typeface="Calibri" panose="020F0502020204030204" pitchFamily="34" charset="0"/>
              </a:rPr>
              <a:t>The size of cloud droplets will change depending on how many cloud condensation nuclei there are.</a:t>
            </a:r>
          </a:p>
        </p:txBody>
      </p:sp>
      <p:pic>
        <p:nvPicPr>
          <p:cNvPr id="9218" name="Picture 2">
            <a:extLst>
              <a:ext uri="{FF2B5EF4-FFF2-40B4-BE49-F238E27FC236}">
                <a16:creationId xmlns:a16="http://schemas.microsoft.com/office/drawing/2014/main" id="{593D06CC-4269-7C40-3510-0862B3566C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1974" y="1141655"/>
            <a:ext cx="6114985" cy="51377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Freeform 13">
            <a:extLst>
              <a:ext uri="{FF2B5EF4-FFF2-40B4-BE49-F238E27FC236}">
                <a16:creationId xmlns:a16="http://schemas.microsoft.com/office/drawing/2014/main" id="{C0E19265-BF7E-C5CE-5306-99C8759BF294}"/>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
            <a:extLst>
              <a:ext uri="{FF2B5EF4-FFF2-40B4-BE49-F238E27FC236}">
                <a16:creationId xmlns:a16="http://schemas.microsoft.com/office/drawing/2014/main" id="{68A3388E-76B3-5326-F6FA-A23F6BD3EF46}"/>
              </a:ext>
            </a:extLst>
          </p:cNvPr>
          <p:cNvSpPr>
            <a:spLocks noGrp="1" noChangeArrowheads="1"/>
          </p:cNvSpPr>
          <p:nvPr>
            <p:ph type="body"/>
          </p:nvPr>
        </p:nvSpPr>
        <p:spPr>
          <a:xfrm>
            <a:off x="566595" y="5398851"/>
            <a:ext cx="11189368" cy="1126493"/>
          </a:xfrm>
          <a:ln/>
        </p:spPr>
        <p:txBody>
          <a:bodyPr anchor="t">
            <a:normAutofit fontScale="92500" lnSpcReduction="10000"/>
          </a:bodyPr>
          <a:lstStyle/>
          <a:p>
            <a:pPr marL="130555" algn="l">
              <a:spcBef>
                <a:spcPts val="1723"/>
              </a:spcBef>
              <a:buClr>
                <a:srgbClr val="FFFFFF"/>
              </a:buClr>
              <a:buSzPct val="45000"/>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sz="2400" dirty="0">
                <a:latin typeface="Calibri" panose="020F0502020204030204" pitchFamily="34" charset="0"/>
                <a:cs typeface="Calibri" panose="020F0502020204030204" pitchFamily="34" charset="0"/>
              </a:rPr>
              <a:t>Small particles will scatter in all directions, large particles will preferentially forward scatter (transmit).</a:t>
            </a:r>
          </a:p>
          <a:p>
            <a:pPr marL="130555" algn="l">
              <a:spcBef>
                <a:spcPts val="1723"/>
              </a:spcBef>
              <a:buClr>
                <a:srgbClr val="FFFFFF"/>
              </a:buClr>
              <a:buSzPct val="45000"/>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sz="2400" dirty="0">
                <a:latin typeface="Calibri" panose="020F0502020204030204" pitchFamily="34" charset="0"/>
                <a:cs typeface="Calibri" panose="020F0502020204030204" pitchFamily="34" charset="0"/>
              </a:rPr>
              <a:t>For further reading, look at how it differs with wavelength!</a:t>
            </a:r>
          </a:p>
        </p:txBody>
      </p:sp>
      <p:pic>
        <p:nvPicPr>
          <p:cNvPr id="10242" name="Picture 2">
            <a:extLst>
              <a:ext uri="{FF2B5EF4-FFF2-40B4-BE49-F238E27FC236}">
                <a16:creationId xmlns:a16="http://schemas.microsoft.com/office/drawing/2014/main" id="{23BD497C-FAB0-A4CA-C692-F72C4CD964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49352"/>
          <a:stretch>
            <a:fillRect/>
          </a:stretch>
        </p:blipFill>
        <p:spPr bwMode="auto">
          <a:xfrm>
            <a:off x="3603698" y="217721"/>
            <a:ext cx="5224137" cy="5143499"/>
          </a:xfrm>
          <a:prstGeom prst="rect">
            <a:avLst/>
          </a:prstGeom>
          <a:noFill/>
          <a:ln>
            <a:noFill/>
          </a:ln>
          <a:effectLst/>
          <a:extLst>
            <a:ext uri="{909E8E84-426E-40DD-AFC4-6F175D3DCCD1}">
              <a14:hiddenFill xmlns:a14="http://schemas.microsoft.com/office/drawing/2010/main">
                <a:blipFill dpi="0" rotWithShape="0">
                  <a:blip/>
                  <a:srcRect r="49352"/>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43" name="Text Box 3">
            <a:extLst>
              <a:ext uri="{FF2B5EF4-FFF2-40B4-BE49-F238E27FC236}">
                <a16:creationId xmlns:a16="http://schemas.microsoft.com/office/drawing/2014/main" id="{8AF55464-A952-BE19-BA5C-7B05934039E3}"/>
              </a:ext>
            </a:extLst>
          </p:cNvPr>
          <p:cNvSpPr txBox="1">
            <a:spLocks noChangeArrowheads="1"/>
          </p:cNvSpPr>
          <p:nvPr/>
        </p:nvSpPr>
        <p:spPr bwMode="auto">
          <a:xfrm>
            <a:off x="619016" y="836130"/>
            <a:ext cx="2829981" cy="28299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847" tIns="54423" rIns="108847" bIns="54423"/>
          <a:lstStyle>
            <a:lvl1pPr>
              <a:tabLst>
                <a:tab pos="449263" algn="l"/>
                <a:tab pos="898525" algn="l"/>
                <a:tab pos="1347788" algn="l"/>
                <a:tab pos="1797050" algn="l"/>
                <a:tab pos="2246313" algn="l"/>
              </a:tabLst>
              <a:defRPr>
                <a:solidFill>
                  <a:srgbClr val="000000"/>
                </a:solidFill>
                <a:latin typeface="Nimbus Roman" pitchFamily="16" charset="0"/>
                <a:ea typeface="Nimbus Sans" charset="0"/>
                <a:cs typeface="Nimbus Sans" charset="0"/>
              </a:defRPr>
            </a:lvl1pPr>
            <a:lvl2pPr>
              <a:tabLst>
                <a:tab pos="449263" algn="l"/>
                <a:tab pos="898525" algn="l"/>
                <a:tab pos="1347788" algn="l"/>
                <a:tab pos="1797050" algn="l"/>
                <a:tab pos="2246313" algn="l"/>
              </a:tabLst>
              <a:defRPr>
                <a:solidFill>
                  <a:srgbClr val="000000"/>
                </a:solidFill>
                <a:latin typeface="Nimbus Roman" pitchFamily="16" charset="0"/>
                <a:ea typeface="Nimbus Sans" charset="0"/>
                <a:cs typeface="Nimbus Sans" charset="0"/>
              </a:defRPr>
            </a:lvl2pPr>
            <a:lvl3pPr>
              <a:tabLst>
                <a:tab pos="449263" algn="l"/>
                <a:tab pos="898525" algn="l"/>
                <a:tab pos="1347788" algn="l"/>
                <a:tab pos="1797050" algn="l"/>
                <a:tab pos="2246313" algn="l"/>
              </a:tabLst>
              <a:defRPr>
                <a:solidFill>
                  <a:srgbClr val="000000"/>
                </a:solidFill>
                <a:latin typeface="Nimbus Roman" pitchFamily="16" charset="0"/>
                <a:ea typeface="Nimbus Sans" charset="0"/>
                <a:cs typeface="Nimbus Sans" charset="0"/>
              </a:defRPr>
            </a:lvl3pPr>
            <a:lvl4pPr>
              <a:tabLst>
                <a:tab pos="449263" algn="l"/>
                <a:tab pos="898525" algn="l"/>
                <a:tab pos="1347788" algn="l"/>
                <a:tab pos="1797050" algn="l"/>
                <a:tab pos="2246313" algn="l"/>
              </a:tabLst>
              <a:defRPr>
                <a:solidFill>
                  <a:srgbClr val="000000"/>
                </a:solidFill>
                <a:latin typeface="Nimbus Roman" pitchFamily="16" charset="0"/>
                <a:ea typeface="Nimbus Sans" charset="0"/>
                <a:cs typeface="Nimbus Sans" charset="0"/>
              </a:defRPr>
            </a:lvl4pPr>
            <a:lvl5pPr>
              <a:tabLst>
                <a:tab pos="449263" algn="l"/>
                <a:tab pos="898525" algn="l"/>
                <a:tab pos="1347788" algn="l"/>
                <a:tab pos="1797050" algn="l"/>
                <a:tab pos="2246313" algn="l"/>
              </a:tabLst>
              <a:defRPr>
                <a:solidFill>
                  <a:srgbClr val="000000"/>
                </a:solidFill>
                <a:latin typeface="Nimbus Roman" pitchFamily="16" charset="0"/>
                <a:ea typeface="Nimbus Sans" charset="0"/>
                <a:cs typeface="Nimbus Sans" charset="0"/>
              </a:defRPr>
            </a:lvl5pPr>
            <a:lvl6pPr marL="25146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a:solidFill>
                  <a:srgbClr val="000000"/>
                </a:solidFill>
                <a:latin typeface="Nimbus Roman" pitchFamily="16" charset="0"/>
                <a:ea typeface="Nimbus Sans" charset="0"/>
                <a:cs typeface="Nimbus Sans" charset="0"/>
              </a:defRPr>
            </a:lvl6pPr>
            <a:lvl7pPr marL="29718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a:solidFill>
                  <a:srgbClr val="000000"/>
                </a:solidFill>
                <a:latin typeface="Nimbus Roman" pitchFamily="16" charset="0"/>
                <a:ea typeface="Nimbus Sans" charset="0"/>
                <a:cs typeface="Nimbus Sans" charset="0"/>
              </a:defRPr>
            </a:lvl7pPr>
            <a:lvl8pPr marL="34290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a:solidFill>
                  <a:srgbClr val="000000"/>
                </a:solidFill>
                <a:latin typeface="Nimbus Roman" pitchFamily="16" charset="0"/>
                <a:ea typeface="Nimbus Sans" charset="0"/>
                <a:cs typeface="Nimbus Sans" charset="0"/>
              </a:defRPr>
            </a:lvl8pPr>
            <a:lvl9pPr marL="38862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a:solidFill>
                  <a:srgbClr val="000000"/>
                </a:solidFill>
                <a:latin typeface="Nimbus Roman" pitchFamily="16" charset="0"/>
                <a:ea typeface="Nimbus Sans" charset="0"/>
                <a:cs typeface="Nimbus Sans" charset="0"/>
              </a:defRPr>
            </a:lvl9pPr>
          </a:lstStyle>
          <a:p>
            <a:pPr marL="0" marR="0" lvl="0" indent="0" algn="l" defTabSz="914400" rtl="0" eaLnBrk="1" fontAlgn="auto" latinLnBrk="0" hangingPunct="1">
              <a:lnSpc>
                <a:spcPct val="116000"/>
              </a:lnSpc>
              <a:spcBef>
                <a:spcPts val="0"/>
              </a:spcBef>
              <a:spcAft>
                <a:spcPts val="0"/>
              </a:spcAft>
              <a:buClrTx/>
              <a:buSzTx/>
              <a:buFontTx/>
              <a:buNone/>
              <a:tabLst>
                <a:tab pos="449263" algn="l"/>
                <a:tab pos="898525" algn="l"/>
                <a:tab pos="1347788" algn="l"/>
                <a:tab pos="1797050" algn="l"/>
                <a:tab pos="2246313" algn="l"/>
              </a:tabLst>
              <a:defRPr/>
            </a:pPr>
            <a:r>
              <a:rPr kumimoji="0" lang="en-GB" altLang="en-US" sz="1330" b="0" i="0" u="none" strike="noStrike" kern="1200" cap="none" spc="0" normalizeH="0" baseline="0" noProof="0" dirty="0">
                <a:ln>
                  <a:noFill/>
                </a:ln>
                <a:solidFill>
                  <a:schemeClr val="tx1"/>
                </a:solidFill>
                <a:effectLst/>
                <a:uLnTx/>
                <a:uFillTx/>
                <a:latin typeface="Comic Sans MS" panose="030F0902030302020204" pitchFamily="66" charset="0"/>
              </a:rPr>
              <a:t>Genc, Sinan &amp; </a:t>
            </a:r>
            <a:r>
              <a:rPr kumimoji="0" lang="en-GB" altLang="en-US" sz="1330" b="0" i="0" u="none" strike="noStrike" kern="1200" cap="none" spc="0" normalizeH="0" baseline="0" noProof="0" dirty="0" err="1">
                <a:ln>
                  <a:noFill/>
                </a:ln>
                <a:solidFill>
                  <a:schemeClr val="tx1"/>
                </a:solidFill>
                <a:effectLst/>
                <a:uLnTx/>
                <a:uFillTx/>
                <a:latin typeface="Comic Sans MS" panose="030F0902030302020204" pitchFamily="66" charset="0"/>
              </a:rPr>
              <a:t>Icoz</a:t>
            </a:r>
            <a:r>
              <a:rPr kumimoji="0" lang="en-GB" altLang="en-US" sz="1330" b="0" i="0" u="none" strike="noStrike" kern="1200" cap="none" spc="0" normalizeH="0" baseline="0" noProof="0" dirty="0">
                <a:ln>
                  <a:noFill/>
                </a:ln>
                <a:solidFill>
                  <a:schemeClr val="tx1"/>
                </a:solidFill>
                <a:effectLst/>
                <a:uLnTx/>
                <a:uFillTx/>
                <a:latin typeface="Comic Sans MS" panose="030F0902030302020204" pitchFamily="66" charset="0"/>
              </a:rPr>
              <a:t>, Kutay &amp; Erdem, Talha. (2023). Numerical analysis and experimental verification of optical scattering from microplastics. Royal Society Open Science. 10. 10.1098/rsos.230586. ------------------&gt;</a:t>
            </a:r>
          </a:p>
        </p:txBody>
      </p:sp>
      <p:grpSp>
        <p:nvGrpSpPr>
          <p:cNvPr id="10244" name="Group 4">
            <a:extLst>
              <a:ext uri="{FF2B5EF4-FFF2-40B4-BE49-F238E27FC236}">
                <a16:creationId xmlns:a16="http://schemas.microsoft.com/office/drawing/2014/main" id="{47D0953F-B4BA-CDD4-A4D5-FFBAA6D87254}"/>
              </a:ext>
            </a:extLst>
          </p:cNvPr>
          <p:cNvGrpSpPr>
            <a:grpSpLocks/>
          </p:cNvGrpSpPr>
          <p:nvPr/>
        </p:nvGrpSpPr>
        <p:grpSpPr bwMode="auto">
          <a:xfrm>
            <a:off x="9589832" y="464624"/>
            <a:ext cx="1956412" cy="4438885"/>
            <a:chOff x="5216" y="68"/>
            <a:chExt cx="1019" cy="2312"/>
          </a:xfrm>
        </p:grpSpPr>
        <p:sp>
          <p:nvSpPr>
            <p:cNvPr id="10245" name="Oval 5">
              <a:extLst>
                <a:ext uri="{FF2B5EF4-FFF2-40B4-BE49-F238E27FC236}">
                  <a16:creationId xmlns:a16="http://schemas.microsoft.com/office/drawing/2014/main" id="{D917C0C0-2019-49FD-485F-0ABBE8A980FA}"/>
                </a:ext>
              </a:extLst>
            </p:cNvPr>
            <p:cNvSpPr>
              <a:spLocks noChangeArrowheads="1"/>
            </p:cNvSpPr>
            <p:nvPr/>
          </p:nvSpPr>
          <p:spPr bwMode="auto">
            <a:xfrm>
              <a:off x="5535" y="1353"/>
              <a:ext cx="382" cy="362"/>
            </a:xfrm>
            <a:prstGeom prst="ellipse">
              <a:avLst/>
            </a:prstGeom>
            <a:solidFill>
              <a:srgbClr val="8D1D75"/>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0246" name="Line 6">
              <a:extLst>
                <a:ext uri="{FF2B5EF4-FFF2-40B4-BE49-F238E27FC236}">
                  <a16:creationId xmlns:a16="http://schemas.microsoft.com/office/drawing/2014/main" id="{A01390D4-6C41-5E1C-6B15-E638F4B1C985}"/>
                </a:ext>
              </a:extLst>
            </p:cNvPr>
            <p:cNvSpPr>
              <a:spLocks noChangeShapeType="1"/>
            </p:cNvSpPr>
            <p:nvPr/>
          </p:nvSpPr>
          <p:spPr bwMode="auto">
            <a:xfrm>
              <a:off x="5726" y="68"/>
              <a:ext cx="0" cy="951"/>
            </a:xfrm>
            <a:prstGeom prst="line">
              <a:avLst/>
            </a:prstGeom>
            <a:noFill/>
            <a:ln w="360000" cap="flat">
              <a:solidFill>
                <a:srgbClr val="3465A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0247" name="Line 7">
              <a:extLst>
                <a:ext uri="{FF2B5EF4-FFF2-40B4-BE49-F238E27FC236}">
                  <a16:creationId xmlns:a16="http://schemas.microsoft.com/office/drawing/2014/main" id="{7F3C7F97-6C04-F497-D593-F36D322C968C}"/>
                </a:ext>
              </a:extLst>
            </p:cNvPr>
            <p:cNvSpPr>
              <a:spLocks noChangeShapeType="1"/>
            </p:cNvSpPr>
            <p:nvPr/>
          </p:nvSpPr>
          <p:spPr bwMode="auto">
            <a:xfrm>
              <a:off x="5726" y="1777"/>
              <a:ext cx="0" cy="604"/>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0248" name="Line 8">
              <a:extLst>
                <a:ext uri="{FF2B5EF4-FFF2-40B4-BE49-F238E27FC236}">
                  <a16:creationId xmlns:a16="http://schemas.microsoft.com/office/drawing/2014/main" id="{7C435439-74F6-7449-DD0D-3E6A8135501D}"/>
                </a:ext>
              </a:extLst>
            </p:cNvPr>
            <p:cNvSpPr>
              <a:spLocks noChangeShapeType="1"/>
            </p:cNvSpPr>
            <p:nvPr/>
          </p:nvSpPr>
          <p:spPr bwMode="auto">
            <a:xfrm flipH="1">
              <a:off x="5409" y="1716"/>
              <a:ext cx="190" cy="302"/>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0249" name="Line 9">
              <a:extLst>
                <a:ext uri="{FF2B5EF4-FFF2-40B4-BE49-F238E27FC236}">
                  <a16:creationId xmlns:a16="http://schemas.microsoft.com/office/drawing/2014/main" id="{D8DF01EE-D425-2C7C-1B01-E87DEDFA2C1C}"/>
                </a:ext>
              </a:extLst>
            </p:cNvPr>
            <p:cNvSpPr>
              <a:spLocks noChangeShapeType="1"/>
            </p:cNvSpPr>
            <p:nvPr/>
          </p:nvSpPr>
          <p:spPr bwMode="auto">
            <a:xfrm>
              <a:off x="5854" y="1716"/>
              <a:ext cx="190" cy="302"/>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0250" name="Line 10">
              <a:extLst>
                <a:ext uri="{FF2B5EF4-FFF2-40B4-BE49-F238E27FC236}">
                  <a16:creationId xmlns:a16="http://schemas.microsoft.com/office/drawing/2014/main" id="{E50414BA-0641-ACC5-9808-83FED3E324AD}"/>
                </a:ext>
              </a:extLst>
            </p:cNvPr>
            <p:cNvSpPr>
              <a:spLocks noChangeShapeType="1"/>
            </p:cNvSpPr>
            <p:nvPr/>
          </p:nvSpPr>
          <p:spPr bwMode="auto">
            <a:xfrm>
              <a:off x="5981" y="1534"/>
              <a:ext cx="254" cy="0"/>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0251" name="Line 11">
              <a:extLst>
                <a:ext uri="{FF2B5EF4-FFF2-40B4-BE49-F238E27FC236}">
                  <a16:creationId xmlns:a16="http://schemas.microsoft.com/office/drawing/2014/main" id="{EE36F218-D9B4-BC42-261D-5435906BCE89}"/>
                </a:ext>
              </a:extLst>
            </p:cNvPr>
            <p:cNvSpPr>
              <a:spLocks noChangeShapeType="1"/>
            </p:cNvSpPr>
            <p:nvPr/>
          </p:nvSpPr>
          <p:spPr bwMode="auto">
            <a:xfrm flipH="1">
              <a:off x="5217" y="1534"/>
              <a:ext cx="254" cy="0"/>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0252" name="Line 12">
              <a:extLst>
                <a:ext uri="{FF2B5EF4-FFF2-40B4-BE49-F238E27FC236}">
                  <a16:creationId xmlns:a16="http://schemas.microsoft.com/office/drawing/2014/main" id="{63EB1244-09B2-F94A-E011-8434A8BF2163}"/>
                </a:ext>
              </a:extLst>
            </p:cNvPr>
            <p:cNvSpPr>
              <a:spLocks noChangeShapeType="1"/>
            </p:cNvSpPr>
            <p:nvPr/>
          </p:nvSpPr>
          <p:spPr bwMode="auto">
            <a:xfrm flipH="1" flipV="1">
              <a:off x="5409" y="1233"/>
              <a:ext cx="126" cy="120"/>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0253" name="Line 13">
              <a:extLst>
                <a:ext uri="{FF2B5EF4-FFF2-40B4-BE49-F238E27FC236}">
                  <a16:creationId xmlns:a16="http://schemas.microsoft.com/office/drawing/2014/main" id="{393EB6FF-8AA5-D42C-8587-935FD5872F9B}"/>
                </a:ext>
              </a:extLst>
            </p:cNvPr>
            <p:cNvSpPr>
              <a:spLocks noChangeShapeType="1"/>
            </p:cNvSpPr>
            <p:nvPr/>
          </p:nvSpPr>
          <p:spPr bwMode="auto">
            <a:xfrm flipV="1">
              <a:off x="5917" y="1233"/>
              <a:ext cx="126" cy="120"/>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0254" name="Line 14">
              <a:extLst>
                <a:ext uri="{FF2B5EF4-FFF2-40B4-BE49-F238E27FC236}">
                  <a16:creationId xmlns:a16="http://schemas.microsoft.com/office/drawing/2014/main" id="{E5F5B05F-30AB-348A-A315-F91F138B7C67}"/>
                </a:ext>
              </a:extLst>
            </p:cNvPr>
            <p:cNvSpPr>
              <a:spLocks noChangeShapeType="1"/>
            </p:cNvSpPr>
            <p:nvPr/>
          </p:nvSpPr>
          <p:spPr bwMode="auto">
            <a:xfrm flipV="1">
              <a:off x="5726" y="1052"/>
              <a:ext cx="0" cy="241"/>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10255" name="Text Box 15">
            <a:extLst>
              <a:ext uri="{FF2B5EF4-FFF2-40B4-BE49-F238E27FC236}">
                <a16:creationId xmlns:a16="http://schemas.microsoft.com/office/drawing/2014/main" id="{4C5C38E2-C397-1788-B90D-110984ABF80A}"/>
              </a:ext>
            </a:extLst>
          </p:cNvPr>
          <p:cNvSpPr txBox="1">
            <a:spLocks noChangeArrowheads="1"/>
          </p:cNvSpPr>
          <p:nvPr/>
        </p:nvSpPr>
        <p:spPr bwMode="auto">
          <a:xfrm>
            <a:off x="10025657" y="4995666"/>
            <a:ext cx="1088601" cy="345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847" tIns="54423" rIns="108847" bIns="54423"/>
          <a:lstStyle>
            <a:lvl1pPr>
              <a:tabLst>
                <a:tab pos="449263" algn="l"/>
                <a:tab pos="898525" algn="l"/>
              </a:tabLst>
              <a:defRPr>
                <a:solidFill>
                  <a:srgbClr val="000000"/>
                </a:solidFill>
                <a:latin typeface="Nimbus Roman" pitchFamily="16" charset="0"/>
                <a:ea typeface="Nimbus Sans" charset="0"/>
                <a:cs typeface="Nimbus Sans" charset="0"/>
              </a:defRPr>
            </a:lvl1pPr>
            <a:lvl2pPr>
              <a:tabLst>
                <a:tab pos="449263" algn="l"/>
                <a:tab pos="898525" algn="l"/>
              </a:tabLst>
              <a:defRPr>
                <a:solidFill>
                  <a:srgbClr val="000000"/>
                </a:solidFill>
                <a:latin typeface="Nimbus Roman" pitchFamily="16" charset="0"/>
                <a:ea typeface="Nimbus Sans" charset="0"/>
                <a:cs typeface="Nimbus Sans" charset="0"/>
              </a:defRPr>
            </a:lvl2pPr>
            <a:lvl3pPr>
              <a:tabLst>
                <a:tab pos="449263" algn="l"/>
                <a:tab pos="898525" algn="l"/>
              </a:tabLst>
              <a:defRPr>
                <a:solidFill>
                  <a:srgbClr val="000000"/>
                </a:solidFill>
                <a:latin typeface="Nimbus Roman" pitchFamily="16" charset="0"/>
                <a:ea typeface="Nimbus Sans" charset="0"/>
                <a:cs typeface="Nimbus Sans" charset="0"/>
              </a:defRPr>
            </a:lvl3pPr>
            <a:lvl4pPr>
              <a:tabLst>
                <a:tab pos="449263" algn="l"/>
                <a:tab pos="898525" algn="l"/>
              </a:tabLst>
              <a:defRPr>
                <a:solidFill>
                  <a:srgbClr val="000000"/>
                </a:solidFill>
                <a:latin typeface="Nimbus Roman" pitchFamily="16" charset="0"/>
                <a:ea typeface="Nimbus Sans" charset="0"/>
                <a:cs typeface="Nimbus Sans" charset="0"/>
              </a:defRPr>
            </a:lvl4pPr>
            <a:lvl5pPr>
              <a:tabLst>
                <a:tab pos="449263" algn="l"/>
                <a:tab pos="898525" algn="l"/>
              </a:tabLst>
              <a:defRPr>
                <a:solidFill>
                  <a:srgbClr val="000000"/>
                </a:solidFill>
                <a:latin typeface="Nimbus Roman" pitchFamily="16" charset="0"/>
                <a:ea typeface="Nimbus Sans" charset="0"/>
                <a:cs typeface="Nimbus Sans" charset="0"/>
              </a:defRPr>
            </a:lvl5pPr>
            <a:lvl6pPr marL="25146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Lst>
              <a:defRPr>
                <a:solidFill>
                  <a:srgbClr val="000000"/>
                </a:solidFill>
                <a:latin typeface="Nimbus Roman" pitchFamily="16" charset="0"/>
                <a:ea typeface="Nimbus Sans" charset="0"/>
                <a:cs typeface="Nimbus Sans" charset="0"/>
              </a:defRPr>
            </a:lvl6pPr>
            <a:lvl7pPr marL="29718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Lst>
              <a:defRPr>
                <a:solidFill>
                  <a:srgbClr val="000000"/>
                </a:solidFill>
                <a:latin typeface="Nimbus Roman" pitchFamily="16" charset="0"/>
                <a:ea typeface="Nimbus Sans" charset="0"/>
                <a:cs typeface="Nimbus Sans" charset="0"/>
              </a:defRPr>
            </a:lvl7pPr>
            <a:lvl8pPr marL="34290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Lst>
              <a:defRPr>
                <a:solidFill>
                  <a:srgbClr val="000000"/>
                </a:solidFill>
                <a:latin typeface="Nimbus Roman" pitchFamily="16" charset="0"/>
                <a:ea typeface="Nimbus Sans" charset="0"/>
                <a:cs typeface="Nimbus Sans" charset="0"/>
              </a:defRPr>
            </a:lvl8pPr>
            <a:lvl9pPr marL="38862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Lst>
              <a:defRPr>
                <a:solidFill>
                  <a:srgbClr val="000000"/>
                </a:solidFill>
                <a:latin typeface="Nimbus Roman" pitchFamily="16" charset="0"/>
                <a:ea typeface="Nimbus Sans" charset="0"/>
                <a:cs typeface="Nimbus Sans" charset="0"/>
              </a:defRPr>
            </a:lvl9pPr>
          </a:lstStyle>
          <a:p>
            <a:pPr marL="0" marR="0" lvl="0" indent="0" algn="l" defTabSz="914400" rtl="0" eaLnBrk="1" fontAlgn="auto" latinLnBrk="0" hangingPunct="1">
              <a:lnSpc>
                <a:spcPct val="116000"/>
              </a:lnSpc>
              <a:spcBef>
                <a:spcPts val="0"/>
              </a:spcBef>
              <a:spcAft>
                <a:spcPts val="0"/>
              </a:spcAft>
              <a:buClrTx/>
              <a:buSzTx/>
              <a:buFontTx/>
              <a:buNone/>
              <a:tabLst>
                <a:tab pos="449263" algn="l"/>
                <a:tab pos="898525" algn="l"/>
              </a:tabLst>
              <a:defRPr/>
            </a:pPr>
            <a:r>
              <a:rPr kumimoji="0" lang="en-GB" altLang="en-US" sz="1330" b="0" i="0" u="none" strike="noStrike" kern="1200" cap="none" spc="0" normalizeH="0" baseline="0" noProof="0">
                <a:ln>
                  <a:noFill/>
                </a:ln>
                <a:solidFill>
                  <a:srgbClr val="FFFFFF"/>
                </a:solidFill>
                <a:effectLst/>
                <a:uLnTx/>
                <a:uFillTx/>
                <a:latin typeface="Comic Sans MS" panose="030F0902030302020204" pitchFamily="66" charset="0"/>
              </a:rPr>
              <a:t>0 degrees</a:t>
            </a:r>
          </a:p>
        </p:txBody>
      </p:sp>
      <p:sp>
        <p:nvSpPr>
          <p:cNvPr id="10256" name="Text Box 16">
            <a:extLst>
              <a:ext uri="{FF2B5EF4-FFF2-40B4-BE49-F238E27FC236}">
                <a16:creationId xmlns:a16="http://schemas.microsoft.com/office/drawing/2014/main" id="{6BFB3AD0-CEEE-F359-66D5-4546231FC6E8}"/>
              </a:ext>
            </a:extLst>
          </p:cNvPr>
          <p:cNvSpPr txBox="1">
            <a:spLocks noChangeArrowheads="1"/>
          </p:cNvSpPr>
          <p:nvPr/>
        </p:nvSpPr>
        <p:spPr bwMode="auto">
          <a:xfrm>
            <a:off x="8925982" y="2684067"/>
            <a:ext cx="1305554" cy="5817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847" tIns="54423" rIns="108847" bIns="54423"/>
          <a:lstStyle>
            <a:lvl1pPr>
              <a:tabLst>
                <a:tab pos="449263" algn="l"/>
                <a:tab pos="898525" algn="l"/>
              </a:tabLst>
              <a:defRPr>
                <a:solidFill>
                  <a:srgbClr val="000000"/>
                </a:solidFill>
                <a:latin typeface="Nimbus Roman" pitchFamily="16" charset="0"/>
                <a:ea typeface="Nimbus Sans" charset="0"/>
                <a:cs typeface="Nimbus Sans" charset="0"/>
              </a:defRPr>
            </a:lvl1pPr>
            <a:lvl2pPr>
              <a:tabLst>
                <a:tab pos="449263" algn="l"/>
                <a:tab pos="898525" algn="l"/>
              </a:tabLst>
              <a:defRPr>
                <a:solidFill>
                  <a:srgbClr val="000000"/>
                </a:solidFill>
                <a:latin typeface="Nimbus Roman" pitchFamily="16" charset="0"/>
                <a:ea typeface="Nimbus Sans" charset="0"/>
                <a:cs typeface="Nimbus Sans" charset="0"/>
              </a:defRPr>
            </a:lvl2pPr>
            <a:lvl3pPr>
              <a:tabLst>
                <a:tab pos="449263" algn="l"/>
                <a:tab pos="898525" algn="l"/>
              </a:tabLst>
              <a:defRPr>
                <a:solidFill>
                  <a:srgbClr val="000000"/>
                </a:solidFill>
                <a:latin typeface="Nimbus Roman" pitchFamily="16" charset="0"/>
                <a:ea typeface="Nimbus Sans" charset="0"/>
                <a:cs typeface="Nimbus Sans" charset="0"/>
              </a:defRPr>
            </a:lvl3pPr>
            <a:lvl4pPr>
              <a:tabLst>
                <a:tab pos="449263" algn="l"/>
                <a:tab pos="898525" algn="l"/>
              </a:tabLst>
              <a:defRPr>
                <a:solidFill>
                  <a:srgbClr val="000000"/>
                </a:solidFill>
                <a:latin typeface="Nimbus Roman" pitchFamily="16" charset="0"/>
                <a:ea typeface="Nimbus Sans" charset="0"/>
                <a:cs typeface="Nimbus Sans" charset="0"/>
              </a:defRPr>
            </a:lvl4pPr>
            <a:lvl5pPr>
              <a:tabLst>
                <a:tab pos="449263" algn="l"/>
                <a:tab pos="898525" algn="l"/>
              </a:tabLst>
              <a:defRPr>
                <a:solidFill>
                  <a:srgbClr val="000000"/>
                </a:solidFill>
                <a:latin typeface="Nimbus Roman" pitchFamily="16" charset="0"/>
                <a:ea typeface="Nimbus Sans" charset="0"/>
                <a:cs typeface="Nimbus Sans" charset="0"/>
              </a:defRPr>
            </a:lvl5pPr>
            <a:lvl6pPr marL="25146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Lst>
              <a:defRPr>
                <a:solidFill>
                  <a:srgbClr val="000000"/>
                </a:solidFill>
                <a:latin typeface="Nimbus Roman" pitchFamily="16" charset="0"/>
                <a:ea typeface="Nimbus Sans" charset="0"/>
                <a:cs typeface="Nimbus Sans" charset="0"/>
              </a:defRPr>
            </a:lvl6pPr>
            <a:lvl7pPr marL="29718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Lst>
              <a:defRPr>
                <a:solidFill>
                  <a:srgbClr val="000000"/>
                </a:solidFill>
                <a:latin typeface="Nimbus Roman" pitchFamily="16" charset="0"/>
                <a:ea typeface="Nimbus Sans" charset="0"/>
                <a:cs typeface="Nimbus Sans" charset="0"/>
              </a:defRPr>
            </a:lvl7pPr>
            <a:lvl8pPr marL="34290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Lst>
              <a:defRPr>
                <a:solidFill>
                  <a:srgbClr val="000000"/>
                </a:solidFill>
                <a:latin typeface="Nimbus Roman" pitchFamily="16" charset="0"/>
                <a:ea typeface="Nimbus Sans" charset="0"/>
                <a:cs typeface="Nimbus Sans" charset="0"/>
              </a:defRPr>
            </a:lvl8pPr>
            <a:lvl9pPr marL="38862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Lst>
              <a:defRPr>
                <a:solidFill>
                  <a:srgbClr val="000000"/>
                </a:solidFill>
                <a:latin typeface="Nimbus Roman" pitchFamily="16" charset="0"/>
                <a:ea typeface="Nimbus Sans" charset="0"/>
                <a:cs typeface="Nimbus Sans" charset="0"/>
              </a:defRPr>
            </a:lvl9pPr>
          </a:lstStyle>
          <a:p>
            <a:pPr marL="0" marR="0" lvl="0" indent="0" algn="l" defTabSz="914400" rtl="0" eaLnBrk="1" fontAlgn="auto" latinLnBrk="0" hangingPunct="1">
              <a:lnSpc>
                <a:spcPct val="116000"/>
              </a:lnSpc>
              <a:spcBef>
                <a:spcPts val="0"/>
              </a:spcBef>
              <a:spcAft>
                <a:spcPts val="0"/>
              </a:spcAft>
              <a:buClrTx/>
              <a:buSzTx/>
              <a:buFontTx/>
              <a:buNone/>
              <a:tabLst>
                <a:tab pos="449263" algn="l"/>
                <a:tab pos="898525" algn="l"/>
              </a:tabLst>
              <a:defRPr/>
            </a:pPr>
            <a:r>
              <a:rPr kumimoji="0" lang="en-GB" altLang="en-US" sz="1330" b="0" i="0" u="none" strike="noStrike" kern="1200" cap="none" spc="0" normalizeH="0" baseline="0" noProof="0">
                <a:ln>
                  <a:noFill/>
                </a:ln>
                <a:solidFill>
                  <a:srgbClr val="FFFFFF"/>
                </a:solidFill>
                <a:effectLst/>
                <a:uLnTx/>
                <a:uFillTx/>
                <a:latin typeface="Comic Sans MS" panose="030F0902030302020204" pitchFamily="66" charset="0"/>
              </a:rPr>
              <a:t>90 degrees</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1">
            <a:extLst>
              <a:ext uri="{FF2B5EF4-FFF2-40B4-BE49-F238E27FC236}">
                <a16:creationId xmlns:a16="http://schemas.microsoft.com/office/drawing/2014/main" id="{83768525-BC44-04BF-88F7-ABFF17D8FADF}"/>
              </a:ext>
            </a:extLst>
          </p:cNvPr>
          <p:cNvSpPr>
            <a:spLocks noGrp="1" noChangeArrowheads="1"/>
          </p:cNvSpPr>
          <p:nvPr>
            <p:ph type="body"/>
          </p:nvPr>
        </p:nvSpPr>
        <p:spPr>
          <a:xfrm>
            <a:off x="4456" y="700449"/>
            <a:ext cx="5876915" cy="1009885"/>
          </a:xfrm>
          <a:ln/>
        </p:spPr>
        <p:txBody>
          <a:bodyPr anchor="t">
            <a:normAutofit lnSpcReduction="10000"/>
          </a:bodyPr>
          <a:lstStyle/>
          <a:p>
            <a:pPr marL="522219" indent="-391664">
              <a:spcBef>
                <a:spcPts val="1723"/>
              </a:spcBef>
              <a:buClr>
                <a:srgbClr val="FFFFFF"/>
              </a:buClr>
              <a:buSzPct val="45000"/>
              <a:tabLst>
                <a:tab pos="543339" algn="l"/>
                <a:tab pos="1086676" algn="l"/>
                <a:tab pos="1630015" algn="l"/>
                <a:tab pos="2173352" algn="l"/>
                <a:tab pos="2716691" algn="l"/>
                <a:tab pos="3260028" algn="l"/>
                <a:tab pos="3803367" algn="l"/>
                <a:tab pos="4346705" algn="l"/>
                <a:tab pos="4890043" algn="l"/>
                <a:tab pos="5433381" algn="l"/>
              </a:tabLst>
            </a:pPr>
            <a:r>
              <a:rPr lang="en-GB" altLang="en-US" sz="2400" dirty="0">
                <a:latin typeface="Calibri" panose="020F0502020204030204" pitchFamily="34" charset="0"/>
                <a:cs typeface="Calibri" panose="020F0502020204030204" pitchFamily="34" charset="0"/>
              </a:rPr>
              <a:t>The bright cloud with small droplets will reflect more EM radiation back into space than it transmits.</a:t>
            </a:r>
          </a:p>
        </p:txBody>
      </p:sp>
      <p:sp>
        <p:nvSpPr>
          <p:cNvPr id="11266" name="Freeform 2">
            <a:extLst>
              <a:ext uri="{FF2B5EF4-FFF2-40B4-BE49-F238E27FC236}">
                <a16:creationId xmlns:a16="http://schemas.microsoft.com/office/drawing/2014/main" id="{016AE940-DE6C-E8F0-4786-EC27A4BD7727}"/>
              </a:ext>
            </a:extLst>
          </p:cNvPr>
          <p:cNvSpPr>
            <a:spLocks noChangeArrowheads="1"/>
          </p:cNvSpPr>
          <p:nvPr/>
        </p:nvSpPr>
        <p:spPr bwMode="auto">
          <a:xfrm>
            <a:off x="7837380" y="3046934"/>
            <a:ext cx="3265806" cy="2394156"/>
          </a:xfrm>
          <a:custGeom>
            <a:avLst/>
            <a:gdLst>
              <a:gd name="T0" fmla="*/ 1930 w 21600"/>
              <a:gd name="T1" fmla="*/ 7160 h 21600"/>
              <a:gd name="T2" fmla="*/ 5270 w 21600"/>
              <a:gd name="T3" fmla="*/ 1970 h 21600"/>
              <a:gd name="T4" fmla="*/ 6970 w 21600"/>
              <a:gd name="T5" fmla="*/ 2600 h 21600"/>
              <a:gd name="T6" fmla="*/ 9340 w 21600"/>
              <a:gd name="T7" fmla="*/ 650 h 21600"/>
              <a:gd name="T8" fmla="*/ 11210 w 21600"/>
              <a:gd name="T9" fmla="*/ 1700 h 21600"/>
              <a:gd name="T10" fmla="*/ 13150 w 21600"/>
              <a:gd name="T11" fmla="*/ 0 h 21600"/>
              <a:gd name="T12" fmla="*/ 14870 w 21600"/>
              <a:gd name="T13" fmla="*/ 1160 h 21600"/>
              <a:gd name="T14" fmla="*/ 16740 w 21600"/>
              <a:gd name="T15" fmla="*/ 0 h 21600"/>
              <a:gd name="T16" fmla="*/ 19110 w 21600"/>
              <a:gd name="T17" fmla="*/ 2710 h 21600"/>
              <a:gd name="T18" fmla="*/ 21060 w 21600"/>
              <a:gd name="T19" fmla="*/ 6220 h 21600"/>
              <a:gd name="T20" fmla="*/ 20830 w 21600"/>
              <a:gd name="T21" fmla="*/ 7660 h 21600"/>
              <a:gd name="T22" fmla="*/ 21600 w 21600"/>
              <a:gd name="T23" fmla="*/ 10460 h 21600"/>
              <a:gd name="T24" fmla="*/ 18650 w 21600"/>
              <a:gd name="T25" fmla="*/ 15010 h 21600"/>
              <a:gd name="T26" fmla="*/ 15770 w 21600"/>
              <a:gd name="T27" fmla="*/ 18920 h 21600"/>
              <a:gd name="T28" fmla="*/ 14240 w 21600"/>
              <a:gd name="T29" fmla="*/ 18310 h 21600"/>
              <a:gd name="T30" fmla="*/ 11000 w 21600"/>
              <a:gd name="T31" fmla="*/ 21600 h 21600"/>
              <a:gd name="T32" fmla="*/ 8210 w 21600"/>
              <a:gd name="T33" fmla="*/ 19510 h 21600"/>
              <a:gd name="T34" fmla="*/ 6240 w 21600"/>
              <a:gd name="T35" fmla="*/ 20290 h 21600"/>
              <a:gd name="T36" fmla="*/ 2900 w 21600"/>
              <a:gd name="T37" fmla="*/ 17640 h 21600"/>
              <a:gd name="T38" fmla="*/ 480 w 21600"/>
              <a:gd name="T39" fmla="*/ 14660 h 21600"/>
              <a:gd name="T40" fmla="*/ 1070 w 21600"/>
              <a:gd name="T41" fmla="*/ 12640 h 21600"/>
              <a:gd name="T42" fmla="*/ 0 w 21600"/>
              <a:gd name="T43" fmla="*/ 10120 h 21600"/>
              <a:gd name="T44" fmla="*/ 1930 w 21600"/>
              <a:gd name="T45" fmla="*/ 7160 h 21600"/>
              <a:gd name="T46" fmla="*/ 1930 w 21600"/>
              <a:gd name="T47" fmla="*/ 7160 h 21600"/>
              <a:gd name="T48" fmla="*/ 2090 w 21600"/>
              <a:gd name="T49" fmla="*/ 7920 h 21600"/>
              <a:gd name="T50" fmla="*/ 6970 w 21600"/>
              <a:gd name="T51" fmla="*/ 2600 h 21600"/>
              <a:gd name="T52" fmla="*/ 7670 w 21600"/>
              <a:gd name="T53" fmla="*/ 3310 h 21600"/>
              <a:gd name="T54" fmla="*/ 11210 w 21600"/>
              <a:gd name="T55" fmla="*/ 1700 h 21600"/>
              <a:gd name="T56" fmla="*/ 11030 w 21600"/>
              <a:gd name="T57" fmla="*/ 2400 h 21600"/>
              <a:gd name="T58" fmla="*/ 14870 w 21600"/>
              <a:gd name="T59" fmla="*/ 1160 h 21600"/>
              <a:gd name="T60" fmla="*/ 14540 w 21600"/>
              <a:gd name="T61" fmla="*/ 2010 h 21600"/>
              <a:gd name="T62" fmla="*/ 19110 w 21600"/>
              <a:gd name="T63" fmla="*/ 2710 h 21600"/>
              <a:gd name="T64" fmla="*/ 19190 w 21600"/>
              <a:gd name="T65" fmla="*/ 3380 h 21600"/>
              <a:gd name="T66" fmla="*/ 20830 w 21600"/>
              <a:gd name="T67" fmla="*/ 7660 h 21600"/>
              <a:gd name="T68" fmla="*/ 20110 w 21600"/>
              <a:gd name="T69" fmla="*/ 8990 h 21600"/>
              <a:gd name="T70" fmla="*/ 18660 w 21600"/>
              <a:gd name="T71" fmla="*/ 15010 h 21600"/>
              <a:gd name="T72" fmla="*/ 17000 w 21600"/>
              <a:gd name="T73" fmla="*/ 11450 h 21600"/>
              <a:gd name="T74" fmla="*/ 14240 w 21600"/>
              <a:gd name="T75" fmla="*/ 18310 h 21600"/>
              <a:gd name="T76" fmla="*/ 14370 w 21600"/>
              <a:gd name="T77" fmla="*/ 17360 h 21600"/>
              <a:gd name="T78" fmla="*/ 8220 w 21600"/>
              <a:gd name="T79" fmla="*/ 19510 h 21600"/>
              <a:gd name="T80" fmla="*/ 7860 w 21600"/>
              <a:gd name="T81" fmla="*/ 18640 h 21600"/>
              <a:gd name="T82" fmla="*/ 2900 w 21600"/>
              <a:gd name="T83" fmla="*/ 17640 h 21600"/>
              <a:gd name="T84" fmla="*/ 3460 w 21600"/>
              <a:gd name="T85" fmla="*/ 17450 h 21600"/>
              <a:gd name="T86" fmla="*/ 1070 w 21600"/>
              <a:gd name="T87" fmla="*/ 12640 h 21600"/>
              <a:gd name="T88" fmla="*/ 2330 w 21600"/>
              <a:gd name="T89" fmla="*/ 13040 h 21600"/>
              <a:gd name="T90" fmla="*/ 3000 w 21600"/>
              <a:gd name="T91" fmla="*/ 3320 h 21600"/>
              <a:gd name="T92" fmla="*/ 17110 w 21600"/>
              <a:gd name="T93" fmla="*/ 1733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T90" t="T91" r="T92" b="T93"/>
            <a:pathLst>
              <a:path w="21600" h="21600">
                <a:moveTo>
                  <a:pt x="1930" y="7160"/>
                </a:moveTo>
                <a:cubicBezTo>
                  <a:pt x="1530" y="4490"/>
                  <a:pt x="3400" y="1970"/>
                  <a:pt x="5270" y="1970"/>
                </a:cubicBezTo>
                <a:cubicBezTo>
                  <a:pt x="5860" y="1950"/>
                  <a:pt x="6470" y="2210"/>
                  <a:pt x="6970" y="2600"/>
                </a:cubicBezTo>
                <a:cubicBezTo>
                  <a:pt x="7450" y="1390"/>
                  <a:pt x="8340" y="650"/>
                  <a:pt x="9340" y="650"/>
                </a:cubicBezTo>
                <a:cubicBezTo>
                  <a:pt x="10004" y="690"/>
                  <a:pt x="10710" y="1050"/>
                  <a:pt x="11210" y="1700"/>
                </a:cubicBezTo>
                <a:cubicBezTo>
                  <a:pt x="11570" y="630"/>
                  <a:pt x="12330" y="0"/>
                  <a:pt x="13150" y="0"/>
                </a:cubicBezTo>
                <a:cubicBezTo>
                  <a:pt x="13840" y="0"/>
                  <a:pt x="14470" y="460"/>
                  <a:pt x="14870" y="1160"/>
                </a:cubicBezTo>
                <a:cubicBezTo>
                  <a:pt x="15330" y="440"/>
                  <a:pt x="16020" y="0"/>
                  <a:pt x="16740" y="0"/>
                </a:cubicBezTo>
                <a:cubicBezTo>
                  <a:pt x="17910" y="0"/>
                  <a:pt x="18900" y="1130"/>
                  <a:pt x="19110" y="2710"/>
                </a:cubicBezTo>
                <a:cubicBezTo>
                  <a:pt x="20240" y="3150"/>
                  <a:pt x="21060" y="4580"/>
                  <a:pt x="21060" y="6220"/>
                </a:cubicBezTo>
                <a:cubicBezTo>
                  <a:pt x="21060" y="6720"/>
                  <a:pt x="21000" y="7200"/>
                  <a:pt x="20830" y="7660"/>
                </a:cubicBezTo>
                <a:cubicBezTo>
                  <a:pt x="21310" y="8460"/>
                  <a:pt x="21600" y="9450"/>
                  <a:pt x="21600" y="10460"/>
                </a:cubicBezTo>
                <a:cubicBezTo>
                  <a:pt x="21600" y="12750"/>
                  <a:pt x="20310" y="14680"/>
                  <a:pt x="18650" y="15010"/>
                </a:cubicBezTo>
                <a:cubicBezTo>
                  <a:pt x="18650" y="17200"/>
                  <a:pt x="17370" y="18920"/>
                  <a:pt x="15770" y="18920"/>
                </a:cubicBezTo>
                <a:cubicBezTo>
                  <a:pt x="15220" y="18920"/>
                  <a:pt x="14700" y="18710"/>
                  <a:pt x="14240" y="18310"/>
                </a:cubicBezTo>
                <a:cubicBezTo>
                  <a:pt x="13820" y="20240"/>
                  <a:pt x="12490" y="21600"/>
                  <a:pt x="11000" y="21600"/>
                </a:cubicBezTo>
                <a:cubicBezTo>
                  <a:pt x="9890" y="21600"/>
                  <a:pt x="8840" y="20790"/>
                  <a:pt x="8210" y="19510"/>
                </a:cubicBezTo>
                <a:cubicBezTo>
                  <a:pt x="7620" y="20000"/>
                  <a:pt x="7930" y="20290"/>
                  <a:pt x="6240" y="20290"/>
                </a:cubicBezTo>
                <a:cubicBezTo>
                  <a:pt x="4850" y="20290"/>
                  <a:pt x="3570" y="19280"/>
                  <a:pt x="2900" y="17640"/>
                </a:cubicBezTo>
                <a:cubicBezTo>
                  <a:pt x="1300" y="17600"/>
                  <a:pt x="480" y="16300"/>
                  <a:pt x="480" y="14660"/>
                </a:cubicBezTo>
                <a:cubicBezTo>
                  <a:pt x="480" y="13900"/>
                  <a:pt x="690" y="13210"/>
                  <a:pt x="1070" y="12640"/>
                </a:cubicBezTo>
                <a:cubicBezTo>
                  <a:pt x="380" y="12160"/>
                  <a:pt x="0" y="11210"/>
                  <a:pt x="0" y="10120"/>
                </a:cubicBezTo>
                <a:cubicBezTo>
                  <a:pt x="0" y="8590"/>
                  <a:pt x="840" y="7330"/>
                  <a:pt x="1930" y="7160"/>
                </a:cubicBezTo>
                <a:close/>
              </a:path>
              <a:path w="21600" h="21600" fill="none">
                <a:moveTo>
                  <a:pt x="1930" y="7160"/>
                </a:moveTo>
                <a:cubicBezTo>
                  <a:pt x="1950" y="7410"/>
                  <a:pt x="2040" y="7690"/>
                  <a:pt x="2090" y="7920"/>
                </a:cubicBezTo>
              </a:path>
              <a:path w="21600" h="21600" fill="none">
                <a:moveTo>
                  <a:pt x="6970" y="2600"/>
                </a:moveTo>
                <a:cubicBezTo>
                  <a:pt x="7200" y="2790"/>
                  <a:pt x="7480" y="3050"/>
                  <a:pt x="7670" y="3310"/>
                </a:cubicBezTo>
              </a:path>
              <a:path w="21600" h="21600" fill="none">
                <a:moveTo>
                  <a:pt x="11210" y="1700"/>
                </a:moveTo>
                <a:cubicBezTo>
                  <a:pt x="11130" y="1910"/>
                  <a:pt x="11080" y="2160"/>
                  <a:pt x="11030" y="2400"/>
                </a:cubicBezTo>
              </a:path>
              <a:path w="21600" h="21600" fill="none">
                <a:moveTo>
                  <a:pt x="14870" y="1160"/>
                </a:moveTo>
                <a:cubicBezTo>
                  <a:pt x="14720" y="1400"/>
                  <a:pt x="14640" y="1720"/>
                  <a:pt x="14540" y="2010"/>
                </a:cubicBezTo>
              </a:path>
              <a:path w="21600" h="21600" fill="none">
                <a:moveTo>
                  <a:pt x="19110" y="2710"/>
                </a:moveTo>
                <a:cubicBezTo>
                  <a:pt x="19130" y="2890"/>
                  <a:pt x="19230" y="3290"/>
                  <a:pt x="19190" y="3380"/>
                </a:cubicBezTo>
              </a:path>
              <a:path w="21600" h="21600" fill="none">
                <a:moveTo>
                  <a:pt x="20830" y="7660"/>
                </a:moveTo>
                <a:cubicBezTo>
                  <a:pt x="20660" y="8170"/>
                  <a:pt x="20430" y="8620"/>
                  <a:pt x="20110" y="8990"/>
                </a:cubicBezTo>
              </a:path>
              <a:path w="21600" h="21600" fill="none">
                <a:moveTo>
                  <a:pt x="18660" y="15010"/>
                </a:moveTo>
                <a:cubicBezTo>
                  <a:pt x="18740" y="14200"/>
                  <a:pt x="18280" y="12200"/>
                  <a:pt x="17000" y="11450"/>
                </a:cubicBezTo>
              </a:path>
              <a:path w="21600" h="21600" fill="none">
                <a:moveTo>
                  <a:pt x="14240" y="18310"/>
                </a:moveTo>
                <a:cubicBezTo>
                  <a:pt x="14320" y="17980"/>
                  <a:pt x="14350" y="17680"/>
                  <a:pt x="14370" y="17360"/>
                </a:cubicBezTo>
              </a:path>
              <a:path w="21600" h="21600" fill="none">
                <a:moveTo>
                  <a:pt x="8220" y="19510"/>
                </a:moveTo>
                <a:cubicBezTo>
                  <a:pt x="8060" y="19250"/>
                  <a:pt x="7960" y="18950"/>
                  <a:pt x="7860" y="18640"/>
                </a:cubicBezTo>
              </a:path>
              <a:path w="21600" h="21600" fill="none">
                <a:moveTo>
                  <a:pt x="2900" y="17640"/>
                </a:moveTo>
                <a:cubicBezTo>
                  <a:pt x="3090" y="17600"/>
                  <a:pt x="3280" y="17540"/>
                  <a:pt x="3460" y="17450"/>
                </a:cubicBezTo>
              </a:path>
              <a:path w="21600" h="21600" fill="none">
                <a:moveTo>
                  <a:pt x="1070" y="12640"/>
                </a:moveTo>
                <a:cubicBezTo>
                  <a:pt x="1400" y="12900"/>
                  <a:pt x="1780" y="13130"/>
                  <a:pt x="2330" y="13040"/>
                </a:cubicBezTo>
              </a:path>
            </a:pathLst>
          </a:custGeom>
          <a:solidFill>
            <a:srgbClr val="666666"/>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267" name="AutoShape 3">
            <a:extLst>
              <a:ext uri="{FF2B5EF4-FFF2-40B4-BE49-F238E27FC236}">
                <a16:creationId xmlns:a16="http://schemas.microsoft.com/office/drawing/2014/main" id="{BA084D4F-43FC-A5DA-9B1F-7632F4B8E28A}"/>
              </a:ext>
            </a:extLst>
          </p:cNvPr>
          <p:cNvSpPr>
            <a:spLocks noChangeArrowheads="1"/>
          </p:cNvSpPr>
          <p:nvPr/>
        </p:nvSpPr>
        <p:spPr bwMode="auto">
          <a:xfrm rot="18540000">
            <a:off x="10178738" y="2247282"/>
            <a:ext cx="1921853" cy="599019"/>
          </a:xfrm>
          <a:prstGeom prst="leftArrow">
            <a:avLst>
              <a:gd name="adj1" fmla="val 50000"/>
              <a:gd name="adj2" fmla="val 80208"/>
            </a:avLst>
          </a:prstGeom>
          <a:solidFill>
            <a:srgbClr val="FFFF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268" name="AutoShape 4">
            <a:extLst>
              <a:ext uri="{FF2B5EF4-FFF2-40B4-BE49-F238E27FC236}">
                <a16:creationId xmlns:a16="http://schemas.microsoft.com/office/drawing/2014/main" id="{81B7294F-A155-E388-50CC-BC60DC24649F}"/>
              </a:ext>
            </a:extLst>
          </p:cNvPr>
          <p:cNvSpPr>
            <a:spLocks noChangeArrowheads="1"/>
          </p:cNvSpPr>
          <p:nvPr/>
        </p:nvSpPr>
        <p:spPr bwMode="auto">
          <a:xfrm rot="18420000" flipH="1">
            <a:off x="10135942" y="2837335"/>
            <a:ext cx="560620" cy="215032"/>
          </a:xfrm>
          <a:prstGeom prst="leftArrow">
            <a:avLst>
              <a:gd name="adj1" fmla="val 50000"/>
              <a:gd name="adj2" fmla="val 65179"/>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269" name="AutoShape 5">
            <a:extLst>
              <a:ext uri="{FF2B5EF4-FFF2-40B4-BE49-F238E27FC236}">
                <a16:creationId xmlns:a16="http://schemas.microsoft.com/office/drawing/2014/main" id="{3122FBFA-E1C7-D891-646A-28D46EA6E9D2}"/>
              </a:ext>
            </a:extLst>
          </p:cNvPr>
          <p:cNvSpPr>
            <a:spLocks noChangeArrowheads="1"/>
          </p:cNvSpPr>
          <p:nvPr/>
        </p:nvSpPr>
        <p:spPr bwMode="auto">
          <a:xfrm rot="18540000">
            <a:off x="8253046" y="5451650"/>
            <a:ext cx="1159639" cy="504942"/>
          </a:xfrm>
          <a:prstGeom prst="leftArrow">
            <a:avLst>
              <a:gd name="adj1" fmla="val 50000"/>
              <a:gd name="adj2" fmla="val 57415"/>
            </a:avLst>
          </a:prstGeom>
          <a:solidFill>
            <a:srgbClr val="2A6099"/>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270" name="Freeform 6">
            <a:extLst>
              <a:ext uri="{FF2B5EF4-FFF2-40B4-BE49-F238E27FC236}">
                <a16:creationId xmlns:a16="http://schemas.microsoft.com/office/drawing/2014/main" id="{2A9D5027-EE4B-3CF1-9CF0-90943838C88E}"/>
              </a:ext>
            </a:extLst>
          </p:cNvPr>
          <p:cNvSpPr>
            <a:spLocks noChangeArrowheads="1"/>
          </p:cNvSpPr>
          <p:nvPr/>
        </p:nvSpPr>
        <p:spPr bwMode="auto">
          <a:xfrm>
            <a:off x="436040" y="3275406"/>
            <a:ext cx="3265805" cy="2394157"/>
          </a:xfrm>
          <a:custGeom>
            <a:avLst/>
            <a:gdLst>
              <a:gd name="T0" fmla="*/ 1930 w 21600"/>
              <a:gd name="T1" fmla="*/ 7160 h 21600"/>
              <a:gd name="T2" fmla="*/ 5270 w 21600"/>
              <a:gd name="T3" fmla="*/ 1970 h 21600"/>
              <a:gd name="T4" fmla="*/ 6970 w 21600"/>
              <a:gd name="T5" fmla="*/ 2600 h 21600"/>
              <a:gd name="T6" fmla="*/ 9340 w 21600"/>
              <a:gd name="T7" fmla="*/ 650 h 21600"/>
              <a:gd name="T8" fmla="*/ 11210 w 21600"/>
              <a:gd name="T9" fmla="*/ 1700 h 21600"/>
              <a:gd name="T10" fmla="*/ 13150 w 21600"/>
              <a:gd name="T11" fmla="*/ 0 h 21600"/>
              <a:gd name="T12" fmla="*/ 14870 w 21600"/>
              <a:gd name="T13" fmla="*/ 1160 h 21600"/>
              <a:gd name="T14" fmla="*/ 16740 w 21600"/>
              <a:gd name="T15" fmla="*/ 0 h 21600"/>
              <a:gd name="T16" fmla="*/ 19110 w 21600"/>
              <a:gd name="T17" fmla="*/ 2710 h 21600"/>
              <a:gd name="T18" fmla="*/ 21060 w 21600"/>
              <a:gd name="T19" fmla="*/ 6220 h 21600"/>
              <a:gd name="T20" fmla="*/ 20830 w 21600"/>
              <a:gd name="T21" fmla="*/ 7660 h 21600"/>
              <a:gd name="T22" fmla="*/ 21600 w 21600"/>
              <a:gd name="T23" fmla="*/ 10460 h 21600"/>
              <a:gd name="T24" fmla="*/ 18650 w 21600"/>
              <a:gd name="T25" fmla="*/ 15010 h 21600"/>
              <a:gd name="T26" fmla="*/ 15770 w 21600"/>
              <a:gd name="T27" fmla="*/ 18920 h 21600"/>
              <a:gd name="T28" fmla="*/ 14240 w 21600"/>
              <a:gd name="T29" fmla="*/ 18310 h 21600"/>
              <a:gd name="T30" fmla="*/ 11000 w 21600"/>
              <a:gd name="T31" fmla="*/ 21600 h 21600"/>
              <a:gd name="T32" fmla="*/ 8210 w 21600"/>
              <a:gd name="T33" fmla="*/ 19510 h 21600"/>
              <a:gd name="T34" fmla="*/ 6240 w 21600"/>
              <a:gd name="T35" fmla="*/ 20290 h 21600"/>
              <a:gd name="T36" fmla="*/ 2900 w 21600"/>
              <a:gd name="T37" fmla="*/ 17640 h 21600"/>
              <a:gd name="T38" fmla="*/ 480 w 21600"/>
              <a:gd name="T39" fmla="*/ 14660 h 21600"/>
              <a:gd name="T40" fmla="*/ 1070 w 21600"/>
              <a:gd name="T41" fmla="*/ 12640 h 21600"/>
              <a:gd name="T42" fmla="*/ 0 w 21600"/>
              <a:gd name="T43" fmla="*/ 10120 h 21600"/>
              <a:gd name="T44" fmla="*/ 1930 w 21600"/>
              <a:gd name="T45" fmla="*/ 7160 h 21600"/>
              <a:gd name="T46" fmla="*/ 1930 w 21600"/>
              <a:gd name="T47" fmla="*/ 7160 h 21600"/>
              <a:gd name="T48" fmla="*/ 2090 w 21600"/>
              <a:gd name="T49" fmla="*/ 7920 h 21600"/>
              <a:gd name="T50" fmla="*/ 6970 w 21600"/>
              <a:gd name="T51" fmla="*/ 2600 h 21600"/>
              <a:gd name="T52" fmla="*/ 7670 w 21600"/>
              <a:gd name="T53" fmla="*/ 3310 h 21600"/>
              <a:gd name="T54" fmla="*/ 11210 w 21600"/>
              <a:gd name="T55" fmla="*/ 1700 h 21600"/>
              <a:gd name="T56" fmla="*/ 11030 w 21600"/>
              <a:gd name="T57" fmla="*/ 2400 h 21600"/>
              <a:gd name="T58" fmla="*/ 14870 w 21600"/>
              <a:gd name="T59" fmla="*/ 1160 h 21600"/>
              <a:gd name="T60" fmla="*/ 14540 w 21600"/>
              <a:gd name="T61" fmla="*/ 2010 h 21600"/>
              <a:gd name="T62" fmla="*/ 19110 w 21600"/>
              <a:gd name="T63" fmla="*/ 2710 h 21600"/>
              <a:gd name="T64" fmla="*/ 19190 w 21600"/>
              <a:gd name="T65" fmla="*/ 3380 h 21600"/>
              <a:gd name="T66" fmla="*/ 20830 w 21600"/>
              <a:gd name="T67" fmla="*/ 7660 h 21600"/>
              <a:gd name="T68" fmla="*/ 20110 w 21600"/>
              <a:gd name="T69" fmla="*/ 8990 h 21600"/>
              <a:gd name="T70" fmla="*/ 18660 w 21600"/>
              <a:gd name="T71" fmla="*/ 15010 h 21600"/>
              <a:gd name="T72" fmla="*/ 17000 w 21600"/>
              <a:gd name="T73" fmla="*/ 11450 h 21600"/>
              <a:gd name="T74" fmla="*/ 14240 w 21600"/>
              <a:gd name="T75" fmla="*/ 18310 h 21600"/>
              <a:gd name="T76" fmla="*/ 14370 w 21600"/>
              <a:gd name="T77" fmla="*/ 17360 h 21600"/>
              <a:gd name="T78" fmla="*/ 8220 w 21600"/>
              <a:gd name="T79" fmla="*/ 19510 h 21600"/>
              <a:gd name="T80" fmla="*/ 7860 w 21600"/>
              <a:gd name="T81" fmla="*/ 18640 h 21600"/>
              <a:gd name="T82" fmla="*/ 2900 w 21600"/>
              <a:gd name="T83" fmla="*/ 17640 h 21600"/>
              <a:gd name="T84" fmla="*/ 3460 w 21600"/>
              <a:gd name="T85" fmla="*/ 17450 h 21600"/>
              <a:gd name="T86" fmla="*/ 1070 w 21600"/>
              <a:gd name="T87" fmla="*/ 12640 h 21600"/>
              <a:gd name="T88" fmla="*/ 2330 w 21600"/>
              <a:gd name="T89" fmla="*/ 13040 h 21600"/>
              <a:gd name="T90" fmla="*/ 3000 w 21600"/>
              <a:gd name="T91" fmla="*/ 3320 h 21600"/>
              <a:gd name="T92" fmla="*/ 17110 w 21600"/>
              <a:gd name="T93" fmla="*/ 1733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T90" t="T91" r="T92" b="T93"/>
            <a:pathLst>
              <a:path w="21600" h="21600">
                <a:moveTo>
                  <a:pt x="1930" y="7160"/>
                </a:moveTo>
                <a:cubicBezTo>
                  <a:pt x="1530" y="4490"/>
                  <a:pt x="3400" y="1970"/>
                  <a:pt x="5270" y="1970"/>
                </a:cubicBezTo>
                <a:cubicBezTo>
                  <a:pt x="5860" y="1950"/>
                  <a:pt x="6470" y="2210"/>
                  <a:pt x="6970" y="2600"/>
                </a:cubicBezTo>
                <a:cubicBezTo>
                  <a:pt x="7450" y="1390"/>
                  <a:pt x="8340" y="650"/>
                  <a:pt x="9340" y="650"/>
                </a:cubicBezTo>
                <a:cubicBezTo>
                  <a:pt x="10004" y="690"/>
                  <a:pt x="10710" y="1050"/>
                  <a:pt x="11210" y="1700"/>
                </a:cubicBezTo>
                <a:cubicBezTo>
                  <a:pt x="11570" y="630"/>
                  <a:pt x="12330" y="0"/>
                  <a:pt x="13150" y="0"/>
                </a:cubicBezTo>
                <a:cubicBezTo>
                  <a:pt x="13840" y="0"/>
                  <a:pt x="14470" y="460"/>
                  <a:pt x="14870" y="1160"/>
                </a:cubicBezTo>
                <a:cubicBezTo>
                  <a:pt x="15330" y="440"/>
                  <a:pt x="16020" y="0"/>
                  <a:pt x="16740" y="0"/>
                </a:cubicBezTo>
                <a:cubicBezTo>
                  <a:pt x="17910" y="0"/>
                  <a:pt x="18900" y="1130"/>
                  <a:pt x="19110" y="2710"/>
                </a:cubicBezTo>
                <a:cubicBezTo>
                  <a:pt x="20240" y="3150"/>
                  <a:pt x="21060" y="4580"/>
                  <a:pt x="21060" y="6220"/>
                </a:cubicBezTo>
                <a:cubicBezTo>
                  <a:pt x="21060" y="6720"/>
                  <a:pt x="21000" y="7200"/>
                  <a:pt x="20830" y="7660"/>
                </a:cubicBezTo>
                <a:cubicBezTo>
                  <a:pt x="21310" y="8460"/>
                  <a:pt x="21600" y="9450"/>
                  <a:pt x="21600" y="10460"/>
                </a:cubicBezTo>
                <a:cubicBezTo>
                  <a:pt x="21600" y="12750"/>
                  <a:pt x="20310" y="14680"/>
                  <a:pt x="18650" y="15010"/>
                </a:cubicBezTo>
                <a:cubicBezTo>
                  <a:pt x="18650" y="17200"/>
                  <a:pt x="17370" y="18920"/>
                  <a:pt x="15770" y="18920"/>
                </a:cubicBezTo>
                <a:cubicBezTo>
                  <a:pt x="15220" y="18920"/>
                  <a:pt x="14700" y="18710"/>
                  <a:pt x="14240" y="18310"/>
                </a:cubicBezTo>
                <a:cubicBezTo>
                  <a:pt x="13820" y="20240"/>
                  <a:pt x="12490" y="21600"/>
                  <a:pt x="11000" y="21600"/>
                </a:cubicBezTo>
                <a:cubicBezTo>
                  <a:pt x="9890" y="21600"/>
                  <a:pt x="8840" y="20790"/>
                  <a:pt x="8210" y="19510"/>
                </a:cubicBezTo>
                <a:cubicBezTo>
                  <a:pt x="7620" y="20000"/>
                  <a:pt x="7930" y="20290"/>
                  <a:pt x="6240" y="20290"/>
                </a:cubicBezTo>
                <a:cubicBezTo>
                  <a:pt x="4850" y="20290"/>
                  <a:pt x="3570" y="19280"/>
                  <a:pt x="2900" y="17640"/>
                </a:cubicBezTo>
                <a:cubicBezTo>
                  <a:pt x="1300" y="17600"/>
                  <a:pt x="480" y="16300"/>
                  <a:pt x="480" y="14660"/>
                </a:cubicBezTo>
                <a:cubicBezTo>
                  <a:pt x="480" y="13900"/>
                  <a:pt x="690" y="13210"/>
                  <a:pt x="1070" y="12640"/>
                </a:cubicBezTo>
                <a:cubicBezTo>
                  <a:pt x="380" y="12160"/>
                  <a:pt x="0" y="11210"/>
                  <a:pt x="0" y="10120"/>
                </a:cubicBezTo>
                <a:cubicBezTo>
                  <a:pt x="0" y="8590"/>
                  <a:pt x="840" y="7330"/>
                  <a:pt x="1930" y="7160"/>
                </a:cubicBezTo>
                <a:close/>
              </a:path>
              <a:path w="21600" h="21600" fill="none">
                <a:moveTo>
                  <a:pt x="1930" y="7160"/>
                </a:moveTo>
                <a:cubicBezTo>
                  <a:pt x="1950" y="7410"/>
                  <a:pt x="2040" y="7690"/>
                  <a:pt x="2090" y="7920"/>
                </a:cubicBezTo>
              </a:path>
              <a:path w="21600" h="21600" fill="none">
                <a:moveTo>
                  <a:pt x="6970" y="2600"/>
                </a:moveTo>
                <a:cubicBezTo>
                  <a:pt x="7200" y="2790"/>
                  <a:pt x="7480" y="3050"/>
                  <a:pt x="7670" y="3310"/>
                </a:cubicBezTo>
              </a:path>
              <a:path w="21600" h="21600" fill="none">
                <a:moveTo>
                  <a:pt x="11210" y="1700"/>
                </a:moveTo>
                <a:cubicBezTo>
                  <a:pt x="11130" y="1910"/>
                  <a:pt x="11080" y="2160"/>
                  <a:pt x="11030" y="2400"/>
                </a:cubicBezTo>
              </a:path>
              <a:path w="21600" h="21600" fill="none">
                <a:moveTo>
                  <a:pt x="14870" y="1160"/>
                </a:moveTo>
                <a:cubicBezTo>
                  <a:pt x="14720" y="1400"/>
                  <a:pt x="14640" y="1720"/>
                  <a:pt x="14540" y="2010"/>
                </a:cubicBezTo>
              </a:path>
              <a:path w="21600" h="21600" fill="none">
                <a:moveTo>
                  <a:pt x="19110" y="2710"/>
                </a:moveTo>
                <a:cubicBezTo>
                  <a:pt x="19130" y="2890"/>
                  <a:pt x="19230" y="3290"/>
                  <a:pt x="19190" y="3380"/>
                </a:cubicBezTo>
              </a:path>
              <a:path w="21600" h="21600" fill="none">
                <a:moveTo>
                  <a:pt x="20830" y="7660"/>
                </a:moveTo>
                <a:cubicBezTo>
                  <a:pt x="20660" y="8170"/>
                  <a:pt x="20430" y="8620"/>
                  <a:pt x="20110" y="8990"/>
                </a:cubicBezTo>
              </a:path>
              <a:path w="21600" h="21600" fill="none">
                <a:moveTo>
                  <a:pt x="18660" y="15010"/>
                </a:moveTo>
                <a:cubicBezTo>
                  <a:pt x="18740" y="14200"/>
                  <a:pt x="18280" y="12200"/>
                  <a:pt x="17000" y="11450"/>
                </a:cubicBezTo>
              </a:path>
              <a:path w="21600" h="21600" fill="none">
                <a:moveTo>
                  <a:pt x="14240" y="18310"/>
                </a:moveTo>
                <a:cubicBezTo>
                  <a:pt x="14320" y="17980"/>
                  <a:pt x="14350" y="17680"/>
                  <a:pt x="14370" y="17360"/>
                </a:cubicBezTo>
              </a:path>
              <a:path w="21600" h="21600" fill="none">
                <a:moveTo>
                  <a:pt x="8220" y="19510"/>
                </a:moveTo>
                <a:cubicBezTo>
                  <a:pt x="8060" y="19250"/>
                  <a:pt x="7960" y="18950"/>
                  <a:pt x="7860" y="18640"/>
                </a:cubicBezTo>
              </a:path>
              <a:path w="21600" h="21600" fill="none">
                <a:moveTo>
                  <a:pt x="2900" y="17640"/>
                </a:moveTo>
                <a:cubicBezTo>
                  <a:pt x="3090" y="17600"/>
                  <a:pt x="3280" y="17540"/>
                  <a:pt x="3460" y="17450"/>
                </a:cubicBezTo>
              </a:path>
              <a:path w="21600" h="21600" fill="none">
                <a:moveTo>
                  <a:pt x="1070" y="12640"/>
                </a:moveTo>
                <a:cubicBezTo>
                  <a:pt x="1400" y="12900"/>
                  <a:pt x="1780" y="13130"/>
                  <a:pt x="2330" y="13040"/>
                </a:cubicBezTo>
              </a:path>
            </a:pathLst>
          </a:custGeom>
          <a:solidFill>
            <a:srgbClr val="EEEEEE"/>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271" name="AutoShape 7">
            <a:extLst>
              <a:ext uri="{FF2B5EF4-FFF2-40B4-BE49-F238E27FC236}">
                <a16:creationId xmlns:a16="http://schemas.microsoft.com/office/drawing/2014/main" id="{78E5CC90-AA38-59D9-3391-15FA3625CE6A}"/>
              </a:ext>
            </a:extLst>
          </p:cNvPr>
          <p:cNvSpPr>
            <a:spLocks noChangeArrowheads="1"/>
          </p:cNvSpPr>
          <p:nvPr/>
        </p:nvSpPr>
        <p:spPr bwMode="auto">
          <a:xfrm rot="18540000">
            <a:off x="2777398" y="2475754"/>
            <a:ext cx="1921852" cy="599019"/>
          </a:xfrm>
          <a:prstGeom prst="leftArrow">
            <a:avLst>
              <a:gd name="adj1" fmla="val 50000"/>
              <a:gd name="adj2" fmla="val 80208"/>
            </a:avLst>
          </a:prstGeom>
          <a:solidFill>
            <a:srgbClr val="FFFF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272" name="AutoShape 8">
            <a:extLst>
              <a:ext uri="{FF2B5EF4-FFF2-40B4-BE49-F238E27FC236}">
                <a16:creationId xmlns:a16="http://schemas.microsoft.com/office/drawing/2014/main" id="{0A747289-0FC1-2DA5-CE65-A4330B44EF4B}"/>
              </a:ext>
            </a:extLst>
          </p:cNvPr>
          <p:cNvSpPr>
            <a:spLocks noChangeArrowheads="1"/>
          </p:cNvSpPr>
          <p:nvPr/>
        </p:nvSpPr>
        <p:spPr bwMode="auto">
          <a:xfrm rot="18420000" flipH="1">
            <a:off x="2412052" y="2413030"/>
            <a:ext cx="1524427" cy="552941"/>
          </a:xfrm>
          <a:prstGeom prst="leftArrow">
            <a:avLst>
              <a:gd name="adj1" fmla="val 50000"/>
              <a:gd name="adj2" fmla="val 68924"/>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273" name="AutoShape 9">
            <a:extLst>
              <a:ext uri="{FF2B5EF4-FFF2-40B4-BE49-F238E27FC236}">
                <a16:creationId xmlns:a16="http://schemas.microsoft.com/office/drawing/2014/main" id="{A8969D62-C355-BA50-9114-E7F5581C9A2B}"/>
              </a:ext>
            </a:extLst>
          </p:cNvPr>
          <p:cNvSpPr>
            <a:spLocks noChangeArrowheads="1"/>
          </p:cNvSpPr>
          <p:nvPr/>
        </p:nvSpPr>
        <p:spPr bwMode="auto">
          <a:xfrm rot="18540000">
            <a:off x="1195373" y="5764599"/>
            <a:ext cx="737254" cy="320628"/>
          </a:xfrm>
          <a:prstGeom prst="leftArrow">
            <a:avLst>
              <a:gd name="adj1" fmla="val 50000"/>
              <a:gd name="adj2" fmla="val 57485"/>
            </a:avLst>
          </a:prstGeom>
          <a:solidFill>
            <a:srgbClr val="2A6099"/>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274" name="Text Box 10">
            <a:extLst>
              <a:ext uri="{FF2B5EF4-FFF2-40B4-BE49-F238E27FC236}">
                <a16:creationId xmlns:a16="http://schemas.microsoft.com/office/drawing/2014/main" id="{8E9596AD-F5B3-5742-7B97-91875425C34B}"/>
              </a:ext>
            </a:extLst>
          </p:cNvPr>
          <p:cNvSpPr txBox="1">
            <a:spLocks noChangeArrowheads="1"/>
          </p:cNvSpPr>
          <p:nvPr/>
        </p:nvSpPr>
        <p:spPr bwMode="auto">
          <a:xfrm>
            <a:off x="6058160" y="1372211"/>
            <a:ext cx="5876914" cy="10098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431800" indent="-32385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1pPr>
            <a:lvl2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2pPr>
            <a:lvl3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3pPr>
            <a:lvl4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4pPr>
            <a:lvl5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5pPr>
            <a:lvl6pPr marL="25146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6pPr>
            <a:lvl7pPr marL="29718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7pPr>
            <a:lvl8pPr marL="34290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8pPr>
            <a:lvl9pPr marL="38862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9pPr>
          </a:lstStyle>
          <a:p>
            <a:pPr marL="431800" marR="0" lvl="0" indent="-323850" defTabSz="914400" rtl="0" eaLnBrk="1" fontAlgn="auto" latinLnBrk="0" hangingPunct="1">
              <a:lnSpc>
                <a:spcPct val="116000"/>
              </a:lnSpc>
              <a:spcBef>
                <a:spcPts val="1723"/>
              </a:spcBef>
              <a:spcAft>
                <a:spcPts val="0"/>
              </a:spcAft>
              <a:buClr>
                <a:srgbClr val="FFFFFF"/>
              </a:buClr>
              <a:buSzPct val="45000"/>
              <a:buFontTx/>
              <a:buNone/>
              <a:tabLst>
                <a:tab pos="449263" algn="l"/>
                <a:tab pos="898525" algn="l"/>
                <a:tab pos="1347788" algn="l"/>
                <a:tab pos="1797050" algn="l"/>
                <a:tab pos="2246313" algn="l"/>
                <a:tab pos="2695575" algn="l"/>
                <a:tab pos="3144838" algn="l"/>
                <a:tab pos="3594100" algn="l"/>
                <a:tab pos="4043363" algn="l"/>
                <a:tab pos="4492625" algn="l"/>
              </a:tabLst>
              <a:defRPr/>
            </a:pPr>
            <a:r>
              <a:rPr kumimoji="0" lang="en-GB" alt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The darker cloud with larger droplets will transmit and absorb more </a:t>
            </a:r>
            <a:r>
              <a:rPr kumimoji="0" lang="en-GB" altLang="en-US" sz="2400" b="0" i="0" u="none" strike="noStrike" kern="120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radiaiton</a:t>
            </a:r>
            <a:r>
              <a:rPr kumimoji="0" lang="en-GB" alt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than it reflects back into space.</a:t>
            </a:r>
          </a:p>
        </p:txBody>
      </p:sp>
      <p:sp>
        <p:nvSpPr>
          <p:cNvPr id="2" name="Freeform 13">
            <a:extLst>
              <a:ext uri="{FF2B5EF4-FFF2-40B4-BE49-F238E27FC236}">
                <a16:creationId xmlns:a16="http://schemas.microsoft.com/office/drawing/2014/main" id="{FFCB077D-6844-AD22-B414-1571F9856D14}"/>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89" name="Group 1">
            <a:extLst>
              <a:ext uri="{FF2B5EF4-FFF2-40B4-BE49-F238E27FC236}">
                <a16:creationId xmlns:a16="http://schemas.microsoft.com/office/drawing/2014/main" id="{15181CDB-5E19-3F04-2D9B-2E98B9F0325D}"/>
              </a:ext>
            </a:extLst>
          </p:cNvPr>
          <p:cNvGrpSpPr>
            <a:grpSpLocks/>
          </p:cNvGrpSpPr>
          <p:nvPr/>
        </p:nvGrpSpPr>
        <p:grpSpPr bwMode="auto">
          <a:xfrm>
            <a:off x="217167" y="109437"/>
            <a:ext cx="3480838" cy="6637207"/>
            <a:chOff x="113" y="57"/>
            <a:chExt cx="1813" cy="3457"/>
          </a:xfrm>
        </p:grpSpPr>
        <p:sp>
          <p:nvSpPr>
            <p:cNvPr id="12290" name="Oval 2">
              <a:extLst>
                <a:ext uri="{FF2B5EF4-FFF2-40B4-BE49-F238E27FC236}">
                  <a16:creationId xmlns:a16="http://schemas.microsoft.com/office/drawing/2014/main" id="{AB033EE7-2DF3-B660-5A8C-9F788F5555F7}"/>
                </a:ext>
              </a:extLst>
            </p:cNvPr>
            <p:cNvSpPr>
              <a:spLocks noChangeArrowheads="1"/>
            </p:cNvSpPr>
            <p:nvPr/>
          </p:nvSpPr>
          <p:spPr bwMode="auto">
            <a:xfrm>
              <a:off x="680" y="1555"/>
              <a:ext cx="679" cy="691"/>
            </a:xfrm>
            <a:prstGeom prst="ellipse">
              <a:avLst/>
            </a:prstGeom>
            <a:solidFill>
              <a:srgbClr val="8D1D75"/>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291" name="Line 3">
              <a:extLst>
                <a:ext uri="{FF2B5EF4-FFF2-40B4-BE49-F238E27FC236}">
                  <a16:creationId xmlns:a16="http://schemas.microsoft.com/office/drawing/2014/main" id="{FDA4A8F1-6E0A-65B5-9E13-B669B0B216BB}"/>
                </a:ext>
              </a:extLst>
            </p:cNvPr>
            <p:cNvSpPr>
              <a:spLocks noChangeShapeType="1"/>
            </p:cNvSpPr>
            <p:nvPr/>
          </p:nvSpPr>
          <p:spPr bwMode="auto">
            <a:xfrm>
              <a:off x="1020" y="57"/>
              <a:ext cx="0" cy="1382"/>
            </a:xfrm>
            <a:prstGeom prst="line">
              <a:avLst/>
            </a:prstGeom>
            <a:noFill/>
            <a:ln w="360000" cap="flat">
              <a:solidFill>
                <a:srgbClr val="3465A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292" name="Line 4">
              <a:extLst>
                <a:ext uri="{FF2B5EF4-FFF2-40B4-BE49-F238E27FC236}">
                  <a16:creationId xmlns:a16="http://schemas.microsoft.com/office/drawing/2014/main" id="{FA98EB46-E78A-8365-FC01-C04A1B177B7C}"/>
                </a:ext>
              </a:extLst>
            </p:cNvPr>
            <p:cNvSpPr>
              <a:spLocks noChangeShapeType="1"/>
            </p:cNvSpPr>
            <p:nvPr/>
          </p:nvSpPr>
          <p:spPr bwMode="auto">
            <a:xfrm>
              <a:off x="1020" y="2362"/>
              <a:ext cx="0" cy="1152"/>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293" name="Line 5">
              <a:extLst>
                <a:ext uri="{FF2B5EF4-FFF2-40B4-BE49-F238E27FC236}">
                  <a16:creationId xmlns:a16="http://schemas.microsoft.com/office/drawing/2014/main" id="{A2025D1F-0A00-19F7-2A11-5DA98D0DDD59}"/>
                </a:ext>
              </a:extLst>
            </p:cNvPr>
            <p:cNvSpPr>
              <a:spLocks noChangeShapeType="1"/>
            </p:cNvSpPr>
            <p:nvPr/>
          </p:nvSpPr>
          <p:spPr bwMode="auto">
            <a:xfrm flipH="1">
              <a:off x="455" y="2247"/>
              <a:ext cx="339" cy="575"/>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294" name="Line 6">
              <a:extLst>
                <a:ext uri="{FF2B5EF4-FFF2-40B4-BE49-F238E27FC236}">
                  <a16:creationId xmlns:a16="http://schemas.microsoft.com/office/drawing/2014/main" id="{7B9E538A-6A81-A7AC-6465-4B86063640D5}"/>
                </a:ext>
              </a:extLst>
            </p:cNvPr>
            <p:cNvSpPr>
              <a:spLocks noChangeShapeType="1"/>
            </p:cNvSpPr>
            <p:nvPr/>
          </p:nvSpPr>
          <p:spPr bwMode="auto">
            <a:xfrm>
              <a:off x="1247" y="2247"/>
              <a:ext cx="339" cy="575"/>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295" name="Line 7">
              <a:extLst>
                <a:ext uri="{FF2B5EF4-FFF2-40B4-BE49-F238E27FC236}">
                  <a16:creationId xmlns:a16="http://schemas.microsoft.com/office/drawing/2014/main" id="{781A5B9D-5B85-CDB2-18F3-074422925E58}"/>
                </a:ext>
              </a:extLst>
            </p:cNvPr>
            <p:cNvSpPr>
              <a:spLocks noChangeShapeType="1"/>
            </p:cNvSpPr>
            <p:nvPr/>
          </p:nvSpPr>
          <p:spPr bwMode="auto">
            <a:xfrm>
              <a:off x="1474" y="1901"/>
              <a:ext cx="453" cy="0"/>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296" name="Line 8">
              <a:extLst>
                <a:ext uri="{FF2B5EF4-FFF2-40B4-BE49-F238E27FC236}">
                  <a16:creationId xmlns:a16="http://schemas.microsoft.com/office/drawing/2014/main" id="{C00D3962-414B-262F-2305-55F9F2A7284C}"/>
                </a:ext>
              </a:extLst>
            </p:cNvPr>
            <p:cNvSpPr>
              <a:spLocks noChangeShapeType="1"/>
            </p:cNvSpPr>
            <p:nvPr/>
          </p:nvSpPr>
          <p:spPr bwMode="auto">
            <a:xfrm flipH="1">
              <a:off x="114" y="1901"/>
              <a:ext cx="453" cy="0"/>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297" name="Line 9">
              <a:extLst>
                <a:ext uri="{FF2B5EF4-FFF2-40B4-BE49-F238E27FC236}">
                  <a16:creationId xmlns:a16="http://schemas.microsoft.com/office/drawing/2014/main" id="{8B77A900-765C-D9CC-0475-1A23241BDBD4}"/>
                </a:ext>
              </a:extLst>
            </p:cNvPr>
            <p:cNvSpPr>
              <a:spLocks noChangeShapeType="1"/>
            </p:cNvSpPr>
            <p:nvPr/>
          </p:nvSpPr>
          <p:spPr bwMode="auto">
            <a:xfrm flipH="1" flipV="1">
              <a:off x="454" y="1325"/>
              <a:ext cx="226" cy="230"/>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298" name="Line 10">
              <a:extLst>
                <a:ext uri="{FF2B5EF4-FFF2-40B4-BE49-F238E27FC236}">
                  <a16:creationId xmlns:a16="http://schemas.microsoft.com/office/drawing/2014/main" id="{ED2E8EED-F70E-A67B-D22B-50A1E89F0759}"/>
                </a:ext>
              </a:extLst>
            </p:cNvPr>
            <p:cNvSpPr>
              <a:spLocks noChangeShapeType="1"/>
            </p:cNvSpPr>
            <p:nvPr/>
          </p:nvSpPr>
          <p:spPr bwMode="auto">
            <a:xfrm flipV="1">
              <a:off x="1361" y="1325"/>
              <a:ext cx="226" cy="230"/>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299" name="Line 11">
              <a:extLst>
                <a:ext uri="{FF2B5EF4-FFF2-40B4-BE49-F238E27FC236}">
                  <a16:creationId xmlns:a16="http://schemas.microsoft.com/office/drawing/2014/main" id="{86DCF118-1BAE-E416-7E91-CE7964F1B243}"/>
                </a:ext>
              </a:extLst>
            </p:cNvPr>
            <p:cNvSpPr>
              <a:spLocks noChangeShapeType="1"/>
            </p:cNvSpPr>
            <p:nvPr/>
          </p:nvSpPr>
          <p:spPr bwMode="auto">
            <a:xfrm flipV="1">
              <a:off x="1020" y="980"/>
              <a:ext cx="0" cy="460"/>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2300" name="Group 12">
            <a:extLst>
              <a:ext uri="{FF2B5EF4-FFF2-40B4-BE49-F238E27FC236}">
                <a16:creationId xmlns:a16="http://schemas.microsoft.com/office/drawing/2014/main" id="{709C9D03-C734-6DC4-76A6-5C9EFD697801}"/>
              </a:ext>
            </a:extLst>
          </p:cNvPr>
          <p:cNvGrpSpPr>
            <a:grpSpLocks/>
          </p:cNvGrpSpPr>
          <p:nvPr/>
        </p:nvGrpSpPr>
        <p:grpSpPr bwMode="auto">
          <a:xfrm>
            <a:off x="9361806" y="2046648"/>
            <a:ext cx="2611109" cy="4569440"/>
            <a:chOff x="4876" y="1066"/>
            <a:chExt cx="1360" cy="2380"/>
          </a:xfrm>
        </p:grpSpPr>
        <p:sp>
          <p:nvSpPr>
            <p:cNvPr id="12301" name="Oval 13">
              <a:extLst>
                <a:ext uri="{FF2B5EF4-FFF2-40B4-BE49-F238E27FC236}">
                  <a16:creationId xmlns:a16="http://schemas.microsoft.com/office/drawing/2014/main" id="{80163A43-83AF-59DF-33CF-F9B05FFF6D45}"/>
                </a:ext>
              </a:extLst>
            </p:cNvPr>
            <p:cNvSpPr>
              <a:spLocks noChangeArrowheads="1"/>
            </p:cNvSpPr>
            <p:nvPr/>
          </p:nvSpPr>
          <p:spPr bwMode="auto">
            <a:xfrm>
              <a:off x="5443" y="2540"/>
              <a:ext cx="226" cy="226"/>
            </a:xfrm>
            <a:prstGeom prst="ellipse">
              <a:avLst/>
            </a:prstGeom>
            <a:solidFill>
              <a:srgbClr val="FF0000"/>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02" name="Line 14">
              <a:extLst>
                <a:ext uri="{FF2B5EF4-FFF2-40B4-BE49-F238E27FC236}">
                  <a16:creationId xmlns:a16="http://schemas.microsoft.com/office/drawing/2014/main" id="{6549BEEF-C034-847D-5E30-243015DEF8AE}"/>
                </a:ext>
              </a:extLst>
            </p:cNvPr>
            <p:cNvSpPr>
              <a:spLocks noChangeShapeType="1"/>
            </p:cNvSpPr>
            <p:nvPr/>
          </p:nvSpPr>
          <p:spPr bwMode="auto">
            <a:xfrm>
              <a:off x="5556" y="1066"/>
              <a:ext cx="0" cy="1360"/>
            </a:xfrm>
            <a:prstGeom prst="line">
              <a:avLst/>
            </a:prstGeom>
            <a:noFill/>
            <a:ln w="360000" cap="flat">
              <a:solidFill>
                <a:srgbClr val="3465A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03" name="Line 15">
              <a:extLst>
                <a:ext uri="{FF2B5EF4-FFF2-40B4-BE49-F238E27FC236}">
                  <a16:creationId xmlns:a16="http://schemas.microsoft.com/office/drawing/2014/main" id="{6CAF404F-54A7-8098-9695-037F448C8D11}"/>
                </a:ext>
              </a:extLst>
            </p:cNvPr>
            <p:cNvSpPr>
              <a:spLocks noChangeShapeType="1"/>
            </p:cNvSpPr>
            <p:nvPr/>
          </p:nvSpPr>
          <p:spPr bwMode="auto">
            <a:xfrm>
              <a:off x="5783" y="2653"/>
              <a:ext cx="453" cy="0"/>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04" name="Line 16">
              <a:extLst>
                <a:ext uri="{FF2B5EF4-FFF2-40B4-BE49-F238E27FC236}">
                  <a16:creationId xmlns:a16="http://schemas.microsoft.com/office/drawing/2014/main" id="{D424F314-0F36-D3EA-24F1-7082C3A7190B}"/>
                </a:ext>
              </a:extLst>
            </p:cNvPr>
            <p:cNvSpPr>
              <a:spLocks noChangeShapeType="1"/>
            </p:cNvSpPr>
            <p:nvPr/>
          </p:nvSpPr>
          <p:spPr bwMode="auto">
            <a:xfrm>
              <a:off x="5737" y="2812"/>
              <a:ext cx="339" cy="339"/>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05" name="Line 17">
              <a:extLst>
                <a:ext uri="{FF2B5EF4-FFF2-40B4-BE49-F238E27FC236}">
                  <a16:creationId xmlns:a16="http://schemas.microsoft.com/office/drawing/2014/main" id="{24727596-4CCD-80E2-DC54-BD9C88F9F0F1}"/>
                </a:ext>
              </a:extLst>
            </p:cNvPr>
            <p:cNvSpPr>
              <a:spLocks noChangeShapeType="1"/>
            </p:cNvSpPr>
            <p:nvPr/>
          </p:nvSpPr>
          <p:spPr bwMode="auto">
            <a:xfrm>
              <a:off x="5556" y="2880"/>
              <a:ext cx="0" cy="566"/>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06" name="Line 18">
              <a:extLst>
                <a:ext uri="{FF2B5EF4-FFF2-40B4-BE49-F238E27FC236}">
                  <a16:creationId xmlns:a16="http://schemas.microsoft.com/office/drawing/2014/main" id="{614BA760-2A53-5313-D24D-0BF6489F14FC}"/>
                </a:ext>
              </a:extLst>
            </p:cNvPr>
            <p:cNvSpPr>
              <a:spLocks noChangeShapeType="1"/>
            </p:cNvSpPr>
            <p:nvPr/>
          </p:nvSpPr>
          <p:spPr bwMode="auto">
            <a:xfrm flipH="1">
              <a:off x="4990" y="2880"/>
              <a:ext cx="339" cy="339"/>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07" name="Line 19">
              <a:extLst>
                <a:ext uri="{FF2B5EF4-FFF2-40B4-BE49-F238E27FC236}">
                  <a16:creationId xmlns:a16="http://schemas.microsoft.com/office/drawing/2014/main" id="{6A6A6C5D-0B52-A901-0BC7-FF0335FBD9C9}"/>
                </a:ext>
              </a:extLst>
            </p:cNvPr>
            <p:cNvSpPr>
              <a:spLocks noChangeShapeType="1"/>
            </p:cNvSpPr>
            <p:nvPr/>
          </p:nvSpPr>
          <p:spPr bwMode="auto">
            <a:xfrm flipH="1">
              <a:off x="4876" y="2653"/>
              <a:ext cx="453" cy="0"/>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08" name="Line 20">
              <a:extLst>
                <a:ext uri="{FF2B5EF4-FFF2-40B4-BE49-F238E27FC236}">
                  <a16:creationId xmlns:a16="http://schemas.microsoft.com/office/drawing/2014/main" id="{61B5EFAC-FA13-2E9D-A874-C0C7F2412F60}"/>
                </a:ext>
              </a:extLst>
            </p:cNvPr>
            <p:cNvSpPr>
              <a:spLocks noChangeShapeType="1"/>
            </p:cNvSpPr>
            <p:nvPr/>
          </p:nvSpPr>
          <p:spPr bwMode="auto">
            <a:xfrm flipV="1">
              <a:off x="5669" y="2201"/>
              <a:ext cx="339" cy="339"/>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09" name="Line 21">
              <a:extLst>
                <a:ext uri="{FF2B5EF4-FFF2-40B4-BE49-F238E27FC236}">
                  <a16:creationId xmlns:a16="http://schemas.microsoft.com/office/drawing/2014/main" id="{6003E331-1820-3EBB-52F9-E9844937034B}"/>
                </a:ext>
              </a:extLst>
            </p:cNvPr>
            <p:cNvSpPr>
              <a:spLocks noChangeShapeType="1"/>
            </p:cNvSpPr>
            <p:nvPr/>
          </p:nvSpPr>
          <p:spPr bwMode="auto">
            <a:xfrm flipH="1" flipV="1">
              <a:off x="5035" y="2133"/>
              <a:ext cx="339" cy="339"/>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10" name="Line 22">
              <a:extLst>
                <a:ext uri="{FF2B5EF4-FFF2-40B4-BE49-F238E27FC236}">
                  <a16:creationId xmlns:a16="http://schemas.microsoft.com/office/drawing/2014/main" id="{FBCA50F5-8ECF-95DA-2632-CFF14CB06266}"/>
                </a:ext>
              </a:extLst>
            </p:cNvPr>
            <p:cNvSpPr>
              <a:spLocks noChangeShapeType="1"/>
            </p:cNvSpPr>
            <p:nvPr/>
          </p:nvSpPr>
          <p:spPr bwMode="auto">
            <a:xfrm flipV="1">
              <a:off x="5556" y="1860"/>
              <a:ext cx="0" cy="566"/>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2311" name="Group 23">
            <a:extLst>
              <a:ext uri="{FF2B5EF4-FFF2-40B4-BE49-F238E27FC236}">
                <a16:creationId xmlns:a16="http://schemas.microsoft.com/office/drawing/2014/main" id="{71FF194F-B037-A916-327E-6D05A24656AB}"/>
              </a:ext>
            </a:extLst>
          </p:cNvPr>
          <p:cNvGrpSpPr>
            <a:grpSpLocks/>
          </p:cNvGrpSpPr>
          <p:nvPr/>
        </p:nvGrpSpPr>
        <p:grpSpPr bwMode="auto">
          <a:xfrm>
            <a:off x="3918797" y="2100407"/>
            <a:ext cx="2611109" cy="4646237"/>
            <a:chOff x="2041" y="1094"/>
            <a:chExt cx="1360" cy="2420"/>
          </a:xfrm>
        </p:grpSpPr>
        <p:sp>
          <p:nvSpPr>
            <p:cNvPr id="12312" name="Oval 24">
              <a:extLst>
                <a:ext uri="{FF2B5EF4-FFF2-40B4-BE49-F238E27FC236}">
                  <a16:creationId xmlns:a16="http://schemas.microsoft.com/office/drawing/2014/main" id="{1172A86B-34E3-9625-3DD9-8942BE22B5EF}"/>
                </a:ext>
              </a:extLst>
            </p:cNvPr>
            <p:cNvSpPr>
              <a:spLocks noChangeArrowheads="1"/>
            </p:cNvSpPr>
            <p:nvPr/>
          </p:nvSpPr>
          <p:spPr bwMode="auto">
            <a:xfrm>
              <a:off x="2608" y="2593"/>
              <a:ext cx="226" cy="230"/>
            </a:xfrm>
            <a:prstGeom prst="ellipse">
              <a:avLst/>
            </a:prstGeom>
            <a:solidFill>
              <a:srgbClr val="FF0000"/>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13" name="Line 25">
              <a:extLst>
                <a:ext uri="{FF2B5EF4-FFF2-40B4-BE49-F238E27FC236}">
                  <a16:creationId xmlns:a16="http://schemas.microsoft.com/office/drawing/2014/main" id="{4AB37480-4D93-B5AD-F37D-39038A7B2E81}"/>
                </a:ext>
              </a:extLst>
            </p:cNvPr>
            <p:cNvSpPr>
              <a:spLocks noChangeShapeType="1"/>
            </p:cNvSpPr>
            <p:nvPr/>
          </p:nvSpPr>
          <p:spPr bwMode="auto">
            <a:xfrm>
              <a:off x="2721" y="1094"/>
              <a:ext cx="0" cy="1382"/>
            </a:xfrm>
            <a:prstGeom prst="line">
              <a:avLst/>
            </a:prstGeom>
            <a:noFill/>
            <a:ln w="360000" cap="flat">
              <a:solidFill>
                <a:srgbClr val="3465A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14" name="Line 26">
              <a:extLst>
                <a:ext uri="{FF2B5EF4-FFF2-40B4-BE49-F238E27FC236}">
                  <a16:creationId xmlns:a16="http://schemas.microsoft.com/office/drawing/2014/main" id="{96A3BF39-FB8D-7756-77E1-EEC76BAEB81E}"/>
                </a:ext>
              </a:extLst>
            </p:cNvPr>
            <p:cNvSpPr>
              <a:spLocks noChangeShapeType="1"/>
            </p:cNvSpPr>
            <p:nvPr/>
          </p:nvSpPr>
          <p:spPr bwMode="auto">
            <a:xfrm>
              <a:off x="2948" y="2708"/>
              <a:ext cx="453" cy="0"/>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15" name="Line 27">
              <a:extLst>
                <a:ext uri="{FF2B5EF4-FFF2-40B4-BE49-F238E27FC236}">
                  <a16:creationId xmlns:a16="http://schemas.microsoft.com/office/drawing/2014/main" id="{A5EC09D0-7CF4-845B-8426-2C5966AE59BF}"/>
                </a:ext>
              </a:extLst>
            </p:cNvPr>
            <p:cNvSpPr>
              <a:spLocks noChangeShapeType="1"/>
            </p:cNvSpPr>
            <p:nvPr/>
          </p:nvSpPr>
          <p:spPr bwMode="auto">
            <a:xfrm>
              <a:off x="2903" y="2869"/>
              <a:ext cx="339" cy="345"/>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16" name="Line 28">
              <a:extLst>
                <a:ext uri="{FF2B5EF4-FFF2-40B4-BE49-F238E27FC236}">
                  <a16:creationId xmlns:a16="http://schemas.microsoft.com/office/drawing/2014/main" id="{F02ED7FF-961A-7CB1-9430-2A757DA3216E}"/>
                </a:ext>
              </a:extLst>
            </p:cNvPr>
            <p:cNvSpPr>
              <a:spLocks noChangeShapeType="1"/>
            </p:cNvSpPr>
            <p:nvPr/>
          </p:nvSpPr>
          <p:spPr bwMode="auto">
            <a:xfrm>
              <a:off x="2721" y="2939"/>
              <a:ext cx="0" cy="575"/>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17" name="Line 29">
              <a:extLst>
                <a:ext uri="{FF2B5EF4-FFF2-40B4-BE49-F238E27FC236}">
                  <a16:creationId xmlns:a16="http://schemas.microsoft.com/office/drawing/2014/main" id="{97B926A5-DC84-478B-BA98-767758E31F65}"/>
                </a:ext>
              </a:extLst>
            </p:cNvPr>
            <p:cNvSpPr>
              <a:spLocks noChangeShapeType="1"/>
            </p:cNvSpPr>
            <p:nvPr/>
          </p:nvSpPr>
          <p:spPr bwMode="auto">
            <a:xfrm flipH="1">
              <a:off x="2155" y="2939"/>
              <a:ext cx="339" cy="345"/>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18" name="Line 30">
              <a:extLst>
                <a:ext uri="{FF2B5EF4-FFF2-40B4-BE49-F238E27FC236}">
                  <a16:creationId xmlns:a16="http://schemas.microsoft.com/office/drawing/2014/main" id="{088A3B5C-5F40-CB13-C05A-8C4DBDF9F664}"/>
                </a:ext>
              </a:extLst>
            </p:cNvPr>
            <p:cNvSpPr>
              <a:spLocks noChangeShapeType="1"/>
            </p:cNvSpPr>
            <p:nvPr/>
          </p:nvSpPr>
          <p:spPr bwMode="auto">
            <a:xfrm flipH="1">
              <a:off x="2041" y="2708"/>
              <a:ext cx="453" cy="0"/>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19" name="Line 31">
              <a:extLst>
                <a:ext uri="{FF2B5EF4-FFF2-40B4-BE49-F238E27FC236}">
                  <a16:creationId xmlns:a16="http://schemas.microsoft.com/office/drawing/2014/main" id="{36000EF4-D28A-1E41-92EA-4B2C0E286486}"/>
                </a:ext>
              </a:extLst>
            </p:cNvPr>
            <p:cNvSpPr>
              <a:spLocks noChangeShapeType="1"/>
            </p:cNvSpPr>
            <p:nvPr/>
          </p:nvSpPr>
          <p:spPr bwMode="auto">
            <a:xfrm flipV="1">
              <a:off x="2835" y="2248"/>
              <a:ext cx="339" cy="345"/>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20" name="Line 32">
              <a:extLst>
                <a:ext uri="{FF2B5EF4-FFF2-40B4-BE49-F238E27FC236}">
                  <a16:creationId xmlns:a16="http://schemas.microsoft.com/office/drawing/2014/main" id="{C14B74AC-98F7-BA56-B4C3-A350C5815580}"/>
                </a:ext>
              </a:extLst>
            </p:cNvPr>
            <p:cNvSpPr>
              <a:spLocks noChangeShapeType="1"/>
            </p:cNvSpPr>
            <p:nvPr/>
          </p:nvSpPr>
          <p:spPr bwMode="auto">
            <a:xfrm flipH="1" flipV="1">
              <a:off x="2201" y="2179"/>
              <a:ext cx="339" cy="345"/>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21" name="Line 33">
              <a:extLst>
                <a:ext uri="{FF2B5EF4-FFF2-40B4-BE49-F238E27FC236}">
                  <a16:creationId xmlns:a16="http://schemas.microsoft.com/office/drawing/2014/main" id="{48749663-CB95-2688-2E04-3BC577EB77FB}"/>
                </a:ext>
              </a:extLst>
            </p:cNvPr>
            <p:cNvSpPr>
              <a:spLocks noChangeShapeType="1"/>
            </p:cNvSpPr>
            <p:nvPr/>
          </p:nvSpPr>
          <p:spPr bwMode="auto">
            <a:xfrm flipV="1">
              <a:off x="2721" y="1902"/>
              <a:ext cx="0" cy="575"/>
            </a:xfrm>
            <a:prstGeom prst="line">
              <a:avLst/>
            </a:prstGeom>
            <a:noFill/>
            <a:ln w="36000" cap="flat">
              <a:solidFill>
                <a:srgbClr val="FFFF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pic>
        <p:nvPicPr>
          <p:cNvPr id="12322" name="Picture 34">
            <a:extLst>
              <a:ext uri="{FF2B5EF4-FFF2-40B4-BE49-F238E27FC236}">
                <a16:creationId xmlns:a16="http://schemas.microsoft.com/office/drawing/2014/main" id="{41D8DFDA-4F6C-2A79-62E9-BC19D267C3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6891" y="0"/>
            <a:ext cx="6404896" cy="1405391"/>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323" name="Oval 35">
            <a:extLst>
              <a:ext uri="{FF2B5EF4-FFF2-40B4-BE49-F238E27FC236}">
                <a16:creationId xmlns:a16="http://schemas.microsoft.com/office/drawing/2014/main" id="{C0F8EC28-8EFC-059E-BD31-81D08DC10DFC}"/>
              </a:ext>
            </a:extLst>
          </p:cNvPr>
          <p:cNvSpPr>
            <a:spLocks noChangeArrowheads="1"/>
          </p:cNvSpPr>
          <p:nvPr/>
        </p:nvSpPr>
        <p:spPr bwMode="auto">
          <a:xfrm>
            <a:off x="9793793" y="222713"/>
            <a:ext cx="871649" cy="1088603"/>
          </a:xfrm>
          <a:prstGeom prst="ellipse">
            <a:avLst/>
          </a:prstGeom>
          <a:noFill/>
          <a:ln w="72000" cap="flat">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24" name="Oval 36">
            <a:extLst>
              <a:ext uri="{FF2B5EF4-FFF2-40B4-BE49-F238E27FC236}">
                <a16:creationId xmlns:a16="http://schemas.microsoft.com/office/drawing/2014/main" id="{06836572-A090-DB23-A5B6-3580F9E98986}"/>
              </a:ext>
            </a:extLst>
          </p:cNvPr>
          <p:cNvSpPr>
            <a:spLocks noChangeArrowheads="1"/>
          </p:cNvSpPr>
          <p:nvPr/>
        </p:nvSpPr>
        <p:spPr bwMode="auto">
          <a:xfrm>
            <a:off x="7620428" y="0"/>
            <a:ext cx="2394156" cy="1524427"/>
          </a:xfrm>
          <a:prstGeom prst="ellipse">
            <a:avLst/>
          </a:prstGeom>
          <a:noFill/>
          <a:ln w="72000" cap="flat">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25" name="Freeform 37">
            <a:extLst>
              <a:ext uri="{FF2B5EF4-FFF2-40B4-BE49-F238E27FC236}">
                <a16:creationId xmlns:a16="http://schemas.microsoft.com/office/drawing/2014/main" id="{4A14501D-9DD4-8435-9802-5FC54D015BC1}"/>
              </a:ext>
            </a:extLst>
          </p:cNvPr>
          <p:cNvSpPr>
            <a:spLocks noChangeArrowheads="1"/>
          </p:cNvSpPr>
          <p:nvPr/>
        </p:nvSpPr>
        <p:spPr bwMode="auto">
          <a:xfrm>
            <a:off x="7620429" y="1405391"/>
            <a:ext cx="1919" cy="5460289"/>
          </a:xfrm>
          <a:custGeom>
            <a:avLst/>
            <a:gdLst>
              <a:gd name="T0" fmla="*/ 0 w 1"/>
              <a:gd name="T1" fmla="*/ 0 h 12541"/>
              <a:gd name="T2" fmla="*/ 0 w 1"/>
              <a:gd name="T3" fmla="*/ 12273 h 12541"/>
            </a:gdLst>
            <a:ahLst/>
            <a:cxnLst>
              <a:cxn ang="0">
                <a:pos x="T0" y="T1"/>
              </a:cxn>
              <a:cxn ang="0">
                <a:pos x="T2" y="T3"/>
              </a:cxn>
            </a:cxnLst>
            <a:rect l="0" t="0" r="r" b="b"/>
            <a:pathLst>
              <a:path w="1" h="12541">
                <a:moveTo>
                  <a:pt x="0" y="0"/>
                </a:moveTo>
                <a:cubicBezTo>
                  <a:pt x="0" y="12540"/>
                  <a:pt x="0" y="12273"/>
                  <a:pt x="0" y="12273"/>
                </a:cubicBezTo>
              </a:path>
            </a:pathLst>
          </a:custGeom>
          <a:noFill/>
          <a:ln w="144000" cap="rnd">
            <a:solidFill>
              <a:srgbClr val="FFFFFF"/>
            </a:solidFill>
            <a:prstDash val="lg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26" name="AutoShape 38">
            <a:extLst>
              <a:ext uri="{FF2B5EF4-FFF2-40B4-BE49-F238E27FC236}">
                <a16:creationId xmlns:a16="http://schemas.microsoft.com/office/drawing/2014/main" id="{EE758787-7A6E-681B-78B4-3FE48E2DBEB5}"/>
              </a:ext>
            </a:extLst>
          </p:cNvPr>
          <p:cNvSpPr>
            <a:spLocks noChangeArrowheads="1"/>
          </p:cNvSpPr>
          <p:nvPr/>
        </p:nvSpPr>
        <p:spPr bwMode="auto">
          <a:xfrm rot="5400000">
            <a:off x="9730435" y="595180"/>
            <a:ext cx="1741378" cy="1868094"/>
          </a:xfrm>
          <a:custGeom>
            <a:avLst/>
            <a:gdLst>
              <a:gd name="G0" fmla="+- 11796480 0 0"/>
              <a:gd name="G1" fmla="+- -6106954 0 0"/>
              <a:gd name="G2" fmla="+- 7531 0 0"/>
              <a:gd name="G3" fmla="+- 10800 7531 0"/>
              <a:gd name="G4" fmla="sin 10800 11796480"/>
              <a:gd name="G5" fmla="cos 10800 11796480"/>
              <a:gd name="G6" fmla="sin 10800 -6106954"/>
              <a:gd name="G7" fmla="cos 10800 -6106954"/>
              <a:gd name="G8" fmla="+- G4 10800 0"/>
              <a:gd name="G9" fmla="+- G5 10800 0"/>
              <a:gd name="G10" fmla="+- G6 10800 0"/>
              <a:gd name="G11" fmla="+- G7 10800 0"/>
              <a:gd name="G12" fmla="sin G3 11796480"/>
              <a:gd name="G13" fmla="cos G3 11796480"/>
              <a:gd name="G14" fmla="sin G3 -6106954"/>
              <a:gd name="G15" fmla="cos G3 -6106954"/>
              <a:gd name="G16" fmla="+- G12 10800 0"/>
              <a:gd name="G17" fmla="+- G13 10800 0"/>
              <a:gd name="G18" fmla="+- G14 10800 0"/>
              <a:gd name="G19" fmla="+- G15 10800 0"/>
              <a:gd name="G20" fmla="+- 21600 0 G3"/>
              <a:gd name="G21" fmla="sin 13500 -6106954"/>
              <a:gd name="G22" fmla="cos 13500 -6106954"/>
              <a:gd name="G23" fmla="+- G21 10800 0"/>
              <a:gd name="G24" fmla="+- G22 10800 0"/>
              <a:gd name="G25" fmla="+- 7531 0 2700"/>
              <a:gd name="G26" fmla="sin G25 -6106954"/>
              <a:gd name="G27" fmla="cos G25 -6106954"/>
              <a:gd name="G28" fmla="+- G26 10800 0"/>
              <a:gd name="G29" fmla="+- G27 10800 0"/>
              <a:gd name="G30" fmla="+- -6106954 45 0"/>
              <a:gd name="G31" fmla="*/ 1 48365 11520"/>
              <a:gd name="G32" fmla="*/ G30 G31 1"/>
              <a:gd name="G33" fmla="*/ G32 1 180"/>
              <a:gd name="G34" fmla="+- G29 0 G24"/>
              <a:gd name="G35" fmla="+- G29 0 G24"/>
              <a:gd name="G36" fmla="*/ G34 G35 1"/>
              <a:gd name="G37" fmla="+- G28 0 G23"/>
              <a:gd name="G38" fmla="+- G28 0 G23"/>
              <a:gd name="G39" fmla="*/ G37 G38 1"/>
              <a:gd name="G40" fmla="+- G36 G39 0"/>
              <a:gd name="G41" fmla="sqrt G40"/>
              <a:gd name="G42" fmla="*/ 1 38877 51712"/>
              <a:gd name="G43" fmla="*/ G42 G41 1"/>
              <a:gd name="G44" fmla="sin G43 G33"/>
              <a:gd name="G45" fmla="cos G43 G33"/>
              <a:gd name="G46" fmla="+- G28 G44 0"/>
              <a:gd name="G47" fmla="+- G29 G45 0"/>
              <a:gd name="T0" fmla="*/ -314 w 21600"/>
              <a:gd name="T1" fmla="*/ 8663 h 21600"/>
              <a:gd name="T2" fmla="*/ 0 w 21600"/>
              <a:gd name="T3" fmla="*/ 0 h 21600"/>
              <a:gd name="T4" fmla="*/ 5662 w 21600"/>
              <a:gd name="T5" fmla="*/ 19194 h 21600"/>
              <a:gd name="T6" fmla="*/ -7531 w 21600"/>
              <a:gd name="T7" fmla="*/ -7503 h 21600"/>
              <a:gd name="T8" fmla="*/ 10050 w 21600"/>
              <a:gd name="T9" fmla="*/ 4831 h 21600"/>
              <a:gd name="T10" fmla="*/ -1019 w 21600"/>
              <a:gd name="T11" fmla="*/ 10800 h 21600"/>
              <a:gd name="T12" fmla="*/ 0 w 21600"/>
              <a:gd name="T13" fmla="*/ 0 h 21600"/>
              <a:gd name="T14" fmla="*/ 21600 w 21600"/>
              <a:gd name="T15" fmla="*/ 21600 h 21600"/>
            </a:gdLst>
            <a:ahLst/>
            <a:cxnLst>
              <a:cxn ang="0">
                <a:pos x="T0" y="T1"/>
              </a:cxn>
              <a:cxn ang="0">
                <a:pos x="T2" y="T3"/>
              </a:cxn>
              <a:cxn ang="0">
                <a:pos x="T4" y="T5"/>
              </a:cxn>
              <a:cxn ang="0">
                <a:pos x="T6" y="T7"/>
              </a:cxn>
              <a:cxn ang="0">
                <a:pos x="T8" y="T9"/>
              </a:cxn>
              <a:cxn ang="0">
                <a:pos x="T10" y="T11"/>
              </a:cxn>
            </a:cxnLst>
            <a:rect l="T12" t="T13" r="T14" b="T15"/>
            <a:pathLst>
              <a:path w="21600" h="21600">
                <a:moveTo>
                  <a:pt x="10381" y="3280"/>
                </a:moveTo>
                <a:cubicBezTo>
                  <a:pt x="6390" y="3502"/>
                  <a:pt x="3269" y="6803"/>
                  <a:pt x="3269" y="10799"/>
                </a:cubicBezTo>
                <a:lnTo>
                  <a:pt x="0" y="10800"/>
                </a:lnTo>
                <a:cubicBezTo>
                  <a:pt x="0" y="5068"/>
                  <a:pt x="4477" y="335"/>
                  <a:pt x="10200" y="16"/>
                </a:cubicBezTo>
                <a:lnTo>
                  <a:pt x="10050" y="-2680"/>
                </a:lnTo>
                <a:lnTo>
                  <a:pt x="19194" y="5662"/>
                </a:lnTo>
                <a:lnTo>
                  <a:pt x="10531" y="5976"/>
                </a:lnTo>
                <a:close/>
              </a:path>
            </a:pathLst>
          </a:custGeom>
          <a:solidFill>
            <a:srgbClr val="729FC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27" name="AutoShape 39">
            <a:extLst>
              <a:ext uri="{FF2B5EF4-FFF2-40B4-BE49-F238E27FC236}">
                <a16:creationId xmlns:a16="http://schemas.microsoft.com/office/drawing/2014/main" id="{391688A1-4D34-C5AC-5A18-6F3180E97062}"/>
              </a:ext>
            </a:extLst>
          </p:cNvPr>
          <p:cNvSpPr>
            <a:spLocks noChangeArrowheads="1"/>
          </p:cNvSpPr>
          <p:nvPr/>
        </p:nvSpPr>
        <p:spPr bwMode="auto">
          <a:xfrm rot="16200000" flipH="1">
            <a:off x="6575024" y="615339"/>
            <a:ext cx="2104246" cy="2186803"/>
          </a:xfrm>
          <a:custGeom>
            <a:avLst/>
            <a:gdLst>
              <a:gd name="G0" fmla="+- 11796480 0 0"/>
              <a:gd name="G1" fmla="+- -6106954 0 0"/>
              <a:gd name="G2" fmla="+- 7531 0 0"/>
              <a:gd name="G3" fmla="+- 10800 7531 0"/>
              <a:gd name="G4" fmla="sin 10800 11796480"/>
              <a:gd name="G5" fmla="cos 10800 11796480"/>
              <a:gd name="G6" fmla="sin 10800 -6106954"/>
              <a:gd name="G7" fmla="cos 10800 -6106954"/>
              <a:gd name="G8" fmla="+- G4 10800 0"/>
              <a:gd name="G9" fmla="+- G5 10800 0"/>
              <a:gd name="G10" fmla="+- G6 10800 0"/>
              <a:gd name="G11" fmla="+- G7 10800 0"/>
              <a:gd name="G12" fmla="sin G3 11796480"/>
              <a:gd name="G13" fmla="cos G3 11796480"/>
              <a:gd name="G14" fmla="sin G3 -6106954"/>
              <a:gd name="G15" fmla="cos G3 -6106954"/>
              <a:gd name="G16" fmla="+- G12 10800 0"/>
              <a:gd name="G17" fmla="+- G13 10800 0"/>
              <a:gd name="G18" fmla="+- G14 10800 0"/>
              <a:gd name="G19" fmla="+- G15 10800 0"/>
              <a:gd name="G20" fmla="+- 21600 0 G3"/>
              <a:gd name="G21" fmla="sin 13500 -6106954"/>
              <a:gd name="G22" fmla="cos 13500 -6106954"/>
              <a:gd name="G23" fmla="+- G21 10800 0"/>
              <a:gd name="G24" fmla="+- G22 10800 0"/>
              <a:gd name="G25" fmla="+- 7531 0 2700"/>
              <a:gd name="G26" fmla="sin G25 -6106954"/>
              <a:gd name="G27" fmla="cos G25 -6106954"/>
              <a:gd name="G28" fmla="+- G26 10800 0"/>
              <a:gd name="G29" fmla="+- G27 10800 0"/>
              <a:gd name="G30" fmla="+- -6106954 45 0"/>
              <a:gd name="G31" fmla="*/ 1 48365 11520"/>
              <a:gd name="G32" fmla="*/ G30 G31 1"/>
              <a:gd name="G33" fmla="*/ G32 1 180"/>
              <a:gd name="G34" fmla="+- G29 0 G24"/>
              <a:gd name="G35" fmla="+- G29 0 G24"/>
              <a:gd name="G36" fmla="*/ G34 G35 1"/>
              <a:gd name="G37" fmla="+- G28 0 G23"/>
              <a:gd name="G38" fmla="+- G28 0 G23"/>
              <a:gd name="G39" fmla="*/ G37 G38 1"/>
              <a:gd name="G40" fmla="+- G36 G39 0"/>
              <a:gd name="G41" fmla="sqrt G40"/>
              <a:gd name="G42" fmla="*/ 1 38877 51712"/>
              <a:gd name="G43" fmla="*/ G42 G41 1"/>
              <a:gd name="G44" fmla="sin G43 G33"/>
              <a:gd name="G45" fmla="cos G43 G33"/>
              <a:gd name="G46" fmla="+- G28 G44 0"/>
              <a:gd name="G47" fmla="+- G29 G45 0"/>
              <a:gd name="T0" fmla="*/ -314 w 21600"/>
              <a:gd name="T1" fmla="*/ 8663 h 21600"/>
              <a:gd name="T2" fmla="*/ 0 w 21600"/>
              <a:gd name="T3" fmla="*/ 0 h 21600"/>
              <a:gd name="T4" fmla="*/ 5662 w 21600"/>
              <a:gd name="T5" fmla="*/ 19194 h 21600"/>
              <a:gd name="T6" fmla="*/ -7531 w 21600"/>
              <a:gd name="T7" fmla="*/ -7503 h 21600"/>
              <a:gd name="T8" fmla="*/ 10050 w 21600"/>
              <a:gd name="T9" fmla="*/ 4831 h 21600"/>
              <a:gd name="T10" fmla="*/ -1019 w 21600"/>
              <a:gd name="T11" fmla="*/ 10800 h 21600"/>
              <a:gd name="T12" fmla="*/ 0 w 21600"/>
              <a:gd name="T13" fmla="*/ 0 h 21600"/>
              <a:gd name="T14" fmla="*/ 21600 w 21600"/>
              <a:gd name="T15" fmla="*/ 21600 h 21600"/>
            </a:gdLst>
            <a:ahLst/>
            <a:cxnLst>
              <a:cxn ang="0">
                <a:pos x="T0" y="T1"/>
              </a:cxn>
              <a:cxn ang="0">
                <a:pos x="T2" y="T3"/>
              </a:cxn>
              <a:cxn ang="0">
                <a:pos x="T4" y="T5"/>
              </a:cxn>
              <a:cxn ang="0">
                <a:pos x="T6" y="T7"/>
              </a:cxn>
              <a:cxn ang="0">
                <a:pos x="T8" y="T9"/>
              </a:cxn>
              <a:cxn ang="0">
                <a:pos x="T10" y="T11"/>
              </a:cxn>
            </a:cxnLst>
            <a:rect l="T12" t="T13" r="T14" b="T15"/>
            <a:pathLst>
              <a:path w="21600" h="21600">
                <a:moveTo>
                  <a:pt x="10381" y="3280"/>
                </a:moveTo>
                <a:cubicBezTo>
                  <a:pt x="6390" y="3502"/>
                  <a:pt x="3269" y="6803"/>
                  <a:pt x="3269" y="10799"/>
                </a:cubicBezTo>
                <a:lnTo>
                  <a:pt x="0" y="10800"/>
                </a:lnTo>
                <a:cubicBezTo>
                  <a:pt x="0" y="5068"/>
                  <a:pt x="4477" y="335"/>
                  <a:pt x="10200" y="16"/>
                </a:cubicBezTo>
                <a:lnTo>
                  <a:pt x="10050" y="-2680"/>
                </a:lnTo>
                <a:lnTo>
                  <a:pt x="19194" y="5662"/>
                </a:lnTo>
                <a:lnTo>
                  <a:pt x="10531" y="5976"/>
                </a:lnTo>
                <a:close/>
              </a:path>
            </a:pathLst>
          </a:custGeom>
          <a:solidFill>
            <a:srgbClr val="729FC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01AEA462-C79E-D8D2-9BFA-9F7333C9B2F7}"/>
              </a:ext>
            </a:extLst>
          </p:cNvPr>
          <p:cNvSpPr>
            <a:spLocks noGrp="1" noChangeArrowheads="1"/>
          </p:cNvSpPr>
          <p:nvPr>
            <p:ph type="body" idx="1"/>
          </p:nvPr>
        </p:nvSpPr>
        <p:spPr>
          <a:xfrm>
            <a:off x="191344" y="4797152"/>
            <a:ext cx="10970496" cy="2177204"/>
          </a:xfrm>
          <a:ln/>
        </p:spPr>
        <p:txBody>
          <a:bodyPr/>
          <a:lstStyle/>
          <a:p>
            <a:pPr marL="522219" indent="-391664">
              <a:buClr>
                <a:srgbClr val="FFFFFF"/>
              </a:buClr>
              <a:buSzPct val="45000"/>
              <a:buFont typeface="Wingdings" pitchFamily="2" charset="2"/>
              <a:buChar char=""/>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dirty="0"/>
              <a:t>Seed new clouds to reflect more sunlight!</a:t>
            </a:r>
          </a:p>
          <a:p>
            <a:pPr marL="522219" indent="-391664">
              <a:buClr>
                <a:srgbClr val="FFFFFF"/>
              </a:buClr>
              <a:buSzPct val="45000"/>
              <a:buFont typeface="Wingdings" pitchFamily="2" charset="2"/>
              <a:buChar char=""/>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dirty="0"/>
              <a:t>Turn darker clouds into brighter clouds by decreasing the size of the droplets!</a:t>
            </a:r>
          </a:p>
          <a:p>
            <a:pPr marL="522219" indent="-391664">
              <a:buClr>
                <a:srgbClr val="FFFFFF"/>
              </a:buClr>
              <a:buSzPct val="45000"/>
              <a:buNone/>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endParaRPr lang="en-GB" altLang="en-US" dirty="0"/>
          </a:p>
        </p:txBody>
      </p:sp>
      <p:sp>
        <p:nvSpPr>
          <p:cNvPr id="13315" name="Freeform 3">
            <a:extLst>
              <a:ext uri="{FF2B5EF4-FFF2-40B4-BE49-F238E27FC236}">
                <a16:creationId xmlns:a16="http://schemas.microsoft.com/office/drawing/2014/main" id="{006A6EDF-3A56-22FC-600D-665C3BE1C827}"/>
              </a:ext>
            </a:extLst>
          </p:cNvPr>
          <p:cNvSpPr>
            <a:spLocks noChangeArrowheads="1"/>
          </p:cNvSpPr>
          <p:nvPr/>
        </p:nvSpPr>
        <p:spPr bwMode="auto">
          <a:xfrm>
            <a:off x="652991" y="2114963"/>
            <a:ext cx="3265806" cy="2394157"/>
          </a:xfrm>
          <a:custGeom>
            <a:avLst/>
            <a:gdLst>
              <a:gd name="T0" fmla="*/ 1930 w 21600"/>
              <a:gd name="T1" fmla="*/ 7160 h 21600"/>
              <a:gd name="T2" fmla="*/ 5270 w 21600"/>
              <a:gd name="T3" fmla="*/ 1970 h 21600"/>
              <a:gd name="T4" fmla="*/ 6970 w 21600"/>
              <a:gd name="T5" fmla="*/ 2600 h 21600"/>
              <a:gd name="T6" fmla="*/ 9340 w 21600"/>
              <a:gd name="T7" fmla="*/ 650 h 21600"/>
              <a:gd name="T8" fmla="*/ 11210 w 21600"/>
              <a:gd name="T9" fmla="*/ 1700 h 21600"/>
              <a:gd name="T10" fmla="*/ 13150 w 21600"/>
              <a:gd name="T11" fmla="*/ 0 h 21600"/>
              <a:gd name="T12" fmla="*/ 14870 w 21600"/>
              <a:gd name="T13" fmla="*/ 1160 h 21600"/>
              <a:gd name="T14" fmla="*/ 16740 w 21600"/>
              <a:gd name="T15" fmla="*/ 0 h 21600"/>
              <a:gd name="T16" fmla="*/ 19110 w 21600"/>
              <a:gd name="T17" fmla="*/ 2710 h 21600"/>
              <a:gd name="T18" fmla="*/ 21060 w 21600"/>
              <a:gd name="T19" fmla="*/ 6220 h 21600"/>
              <a:gd name="T20" fmla="*/ 20830 w 21600"/>
              <a:gd name="T21" fmla="*/ 7660 h 21600"/>
              <a:gd name="T22" fmla="*/ 21600 w 21600"/>
              <a:gd name="T23" fmla="*/ 10460 h 21600"/>
              <a:gd name="T24" fmla="*/ 18650 w 21600"/>
              <a:gd name="T25" fmla="*/ 15010 h 21600"/>
              <a:gd name="T26" fmla="*/ 15770 w 21600"/>
              <a:gd name="T27" fmla="*/ 18920 h 21600"/>
              <a:gd name="T28" fmla="*/ 14240 w 21600"/>
              <a:gd name="T29" fmla="*/ 18310 h 21600"/>
              <a:gd name="T30" fmla="*/ 11000 w 21600"/>
              <a:gd name="T31" fmla="*/ 21600 h 21600"/>
              <a:gd name="T32" fmla="*/ 8210 w 21600"/>
              <a:gd name="T33" fmla="*/ 19510 h 21600"/>
              <a:gd name="T34" fmla="*/ 6240 w 21600"/>
              <a:gd name="T35" fmla="*/ 20290 h 21600"/>
              <a:gd name="T36" fmla="*/ 2900 w 21600"/>
              <a:gd name="T37" fmla="*/ 17640 h 21600"/>
              <a:gd name="T38" fmla="*/ 480 w 21600"/>
              <a:gd name="T39" fmla="*/ 14660 h 21600"/>
              <a:gd name="T40" fmla="*/ 1070 w 21600"/>
              <a:gd name="T41" fmla="*/ 12640 h 21600"/>
              <a:gd name="T42" fmla="*/ 0 w 21600"/>
              <a:gd name="T43" fmla="*/ 10120 h 21600"/>
              <a:gd name="T44" fmla="*/ 1930 w 21600"/>
              <a:gd name="T45" fmla="*/ 7160 h 21600"/>
              <a:gd name="T46" fmla="*/ 1930 w 21600"/>
              <a:gd name="T47" fmla="*/ 7160 h 21600"/>
              <a:gd name="T48" fmla="*/ 2090 w 21600"/>
              <a:gd name="T49" fmla="*/ 7920 h 21600"/>
              <a:gd name="T50" fmla="*/ 6970 w 21600"/>
              <a:gd name="T51" fmla="*/ 2600 h 21600"/>
              <a:gd name="T52" fmla="*/ 7670 w 21600"/>
              <a:gd name="T53" fmla="*/ 3310 h 21600"/>
              <a:gd name="T54" fmla="*/ 11210 w 21600"/>
              <a:gd name="T55" fmla="*/ 1700 h 21600"/>
              <a:gd name="T56" fmla="*/ 11030 w 21600"/>
              <a:gd name="T57" fmla="*/ 2400 h 21600"/>
              <a:gd name="T58" fmla="*/ 14870 w 21600"/>
              <a:gd name="T59" fmla="*/ 1160 h 21600"/>
              <a:gd name="T60" fmla="*/ 14540 w 21600"/>
              <a:gd name="T61" fmla="*/ 2010 h 21600"/>
              <a:gd name="T62" fmla="*/ 19110 w 21600"/>
              <a:gd name="T63" fmla="*/ 2710 h 21600"/>
              <a:gd name="T64" fmla="*/ 19190 w 21600"/>
              <a:gd name="T65" fmla="*/ 3380 h 21600"/>
              <a:gd name="T66" fmla="*/ 20830 w 21600"/>
              <a:gd name="T67" fmla="*/ 7660 h 21600"/>
              <a:gd name="T68" fmla="*/ 20110 w 21600"/>
              <a:gd name="T69" fmla="*/ 8990 h 21600"/>
              <a:gd name="T70" fmla="*/ 18660 w 21600"/>
              <a:gd name="T71" fmla="*/ 15010 h 21600"/>
              <a:gd name="T72" fmla="*/ 17000 w 21600"/>
              <a:gd name="T73" fmla="*/ 11450 h 21600"/>
              <a:gd name="T74" fmla="*/ 14240 w 21600"/>
              <a:gd name="T75" fmla="*/ 18310 h 21600"/>
              <a:gd name="T76" fmla="*/ 14370 w 21600"/>
              <a:gd name="T77" fmla="*/ 17360 h 21600"/>
              <a:gd name="T78" fmla="*/ 8220 w 21600"/>
              <a:gd name="T79" fmla="*/ 19510 h 21600"/>
              <a:gd name="T80" fmla="*/ 7860 w 21600"/>
              <a:gd name="T81" fmla="*/ 18640 h 21600"/>
              <a:gd name="T82" fmla="*/ 2900 w 21600"/>
              <a:gd name="T83" fmla="*/ 17640 h 21600"/>
              <a:gd name="T84" fmla="*/ 3460 w 21600"/>
              <a:gd name="T85" fmla="*/ 17450 h 21600"/>
              <a:gd name="T86" fmla="*/ 1070 w 21600"/>
              <a:gd name="T87" fmla="*/ 12640 h 21600"/>
              <a:gd name="T88" fmla="*/ 2330 w 21600"/>
              <a:gd name="T89" fmla="*/ 13040 h 21600"/>
              <a:gd name="T90" fmla="*/ 3000 w 21600"/>
              <a:gd name="T91" fmla="*/ 3320 h 21600"/>
              <a:gd name="T92" fmla="*/ 17110 w 21600"/>
              <a:gd name="T93" fmla="*/ 1733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T90" t="T91" r="T92" b="T93"/>
            <a:pathLst>
              <a:path w="21600" h="21600">
                <a:moveTo>
                  <a:pt x="1930" y="7160"/>
                </a:moveTo>
                <a:cubicBezTo>
                  <a:pt x="1530" y="4490"/>
                  <a:pt x="3400" y="1970"/>
                  <a:pt x="5270" y="1970"/>
                </a:cubicBezTo>
                <a:cubicBezTo>
                  <a:pt x="5860" y="1950"/>
                  <a:pt x="6470" y="2210"/>
                  <a:pt x="6970" y="2600"/>
                </a:cubicBezTo>
                <a:cubicBezTo>
                  <a:pt x="7450" y="1390"/>
                  <a:pt x="8340" y="650"/>
                  <a:pt x="9340" y="650"/>
                </a:cubicBezTo>
                <a:cubicBezTo>
                  <a:pt x="10004" y="690"/>
                  <a:pt x="10710" y="1050"/>
                  <a:pt x="11210" y="1700"/>
                </a:cubicBezTo>
                <a:cubicBezTo>
                  <a:pt x="11570" y="630"/>
                  <a:pt x="12330" y="0"/>
                  <a:pt x="13150" y="0"/>
                </a:cubicBezTo>
                <a:cubicBezTo>
                  <a:pt x="13840" y="0"/>
                  <a:pt x="14470" y="460"/>
                  <a:pt x="14870" y="1160"/>
                </a:cubicBezTo>
                <a:cubicBezTo>
                  <a:pt x="15330" y="440"/>
                  <a:pt x="16020" y="0"/>
                  <a:pt x="16740" y="0"/>
                </a:cubicBezTo>
                <a:cubicBezTo>
                  <a:pt x="17910" y="0"/>
                  <a:pt x="18900" y="1130"/>
                  <a:pt x="19110" y="2710"/>
                </a:cubicBezTo>
                <a:cubicBezTo>
                  <a:pt x="20240" y="3150"/>
                  <a:pt x="21060" y="4580"/>
                  <a:pt x="21060" y="6220"/>
                </a:cubicBezTo>
                <a:cubicBezTo>
                  <a:pt x="21060" y="6720"/>
                  <a:pt x="21000" y="7200"/>
                  <a:pt x="20830" y="7660"/>
                </a:cubicBezTo>
                <a:cubicBezTo>
                  <a:pt x="21310" y="8460"/>
                  <a:pt x="21600" y="9450"/>
                  <a:pt x="21600" y="10460"/>
                </a:cubicBezTo>
                <a:cubicBezTo>
                  <a:pt x="21600" y="12750"/>
                  <a:pt x="20310" y="14680"/>
                  <a:pt x="18650" y="15010"/>
                </a:cubicBezTo>
                <a:cubicBezTo>
                  <a:pt x="18650" y="17200"/>
                  <a:pt x="17370" y="18920"/>
                  <a:pt x="15770" y="18920"/>
                </a:cubicBezTo>
                <a:cubicBezTo>
                  <a:pt x="15220" y="18920"/>
                  <a:pt x="14700" y="18710"/>
                  <a:pt x="14240" y="18310"/>
                </a:cubicBezTo>
                <a:cubicBezTo>
                  <a:pt x="13820" y="20240"/>
                  <a:pt x="12490" y="21600"/>
                  <a:pt x="11000" y="21600"/>
                </a:cubicBezTo>
                <a:cubicBezTo>
                  <a:pt x="9890" y="21600"/>
                  <a:pt x="8840" y="20790"/>
                  <a:pt x="8210" y="19510"/>
                </a:cubicBezTo>
                <a:cubicBezTo>
                  <a:pt x="7620" y="20000"/>
                  <a:pt x="7930" y="20290"/>
                  <a:pt x="6240" y="20290"/>
                </a:cubicBezTo>
                <a:cubicBezTo>
                  <a:pt x="4850" y="20290"/>
                  <a:pt x="3570" y="19280"/>
                  <a:pt x="2900" y="17640"/>
                </a:cubicBezTo>
                <a:cubicBezTo>
                  <a:pt x="1300" y="17600"/>
                  <a:pt x="480" y="16300"/>
                  <a:pt x="480" y="14660"/>
                </a:cubicBezTo>
                <a:cubicBezTo>
                  <a:pt x="480" y="13900"/>
                  <a:pt x="690" y="13210"/>
                  <a:pt x="1070" y="12640"/>
                </a:cubicBezTo>
                <a:cubicBezTo>
                  <a:pt x="380" y="12160"/>
                  <a:pt x="0" y="11210"/>
                  <a:pt x="0" y="10120"/>
                </a:cubicBezTo>
                <a:cubicBezTo>
                  <a:pt x="0" y="8590"/>
                  <a:pt x="840" y="7330"/>
                  <a:pt x="1930" y="7160"/>
                </a:cubicBezTo>
                <a:close/>
              </a:path>
              <a:path w="21600" h="21600" fill="none">
                <a:moveTo>
                  <a:pt x="1930" y="7160"/>
                </a:moveTo>
                <a:cubicBezTo>
                  <a:pt x="1950" y="7410"/>
                  <a:pt x="2040" y="7690"/>
                  <a:pt x="2090" y="7920"/>
                </a:cubicBezTo>
              </a:path>
              <a:path w="21600" h="21600" fill="none">
                <a:moveTo>
                  <a:pt x="6970" y="2600"/>
                </a:moveTo>
                <a:cubicBezTo>
                  <a:pt x="7200" y="2790"/>
                  <a:pt x="7480" y="3050"/>
                  <a:pt x="7670" y="3310"/>
                </a:cubicBezTo>
              </a:path>
              <a:path w="21600" h="21600" fill="none">
                <a:moveTo>
                  <a:pt x="11210" y="1700"/>
                </a:moveTo>
                <a:cubicBezTo>
                  <a:pt x="11130" y="1910"/>
                  <a:pt x="11080" y="2160"/>
                  <a:pt x="11030" y="2400"/>
                </a:cubicBezTo>
              </a:path>
              <a:path w="21600" h="21600" fill="none">
                <a:moveTo>
                  <a:pt x="14870" y="1160"/>
                </a:moveTo>
                <a:cubicBezTo>
                  <a:pt x="14720" y="1400"/>
                  <a:pt x="14640" y="1720"/>
                  <a:pt x="14540" y="2010"/>
                </a:cubicBezTo>
              </a:path>
              <a:path w="21600" h="21600" fill="none">
                <a:moveTo>
                  <a:pt x="19110" y="2710"/>
                </a:moveTo>
                <a:cubicBezTo>
                  <a:pt x="19130" y="2890"/>
                  <a:pt x="19230" y="3290"/>
                  <a:pt x="19190" y="3380"/>
                </a:cubicBezTo>
              </a:path>
              <a:path w="21600" h="21600" fill="none">
                <a:moveTo>
                  <a:pt x="20830" y="7660"/>
                </a:moveTo>
                <a:cubicBezTo>
                  <a:pt x="20660" y="8170"/>
                  <a:pt x="20430" y="8620"/>
                  <a:pt x="20110" y="8990"/>
                </a:cubicBezTo>
              </a:path>
              <a:path w="21600" h="21600" fill="none">
                <a:moveTo>
                  <a:pt x="18660" y="15010"/>
                </a:moveTo>
                <a:cubicBezTo>
                  <a:pt x="18740" y="14200"/>
                  <a:pt x="18280" y="12200"/>
                  <a:pt x="17000" y="11450"/>
                </a:cubicBezTo>
              </a:path>
              <a:path w="21600" h="21600" fill="none">
                <a:moveTo>
                  <a:pt x="14240" y="18310"/>
                </a:moveTo>
                <a:cubicBezTo>
                  <a:pt x="14320" y="17980"/>
                  <a:pt x="14350" y="17680"/>
                  <a:pt x="14370" y="17360"/>
                </a:cubicBezTo>
              </a:path>
              <a:path w="21600" h="21600" fill="none">
                <a:moveTo>
                  <a:pt x="8220" y="19510"/>
                </a:moveTo>
                <a:cubicBezTo>
                  <a:pt x="8060" y="19250"/>
                  <a:pt x="7960" y="18950"/>
                  <a:pt x="7860" y="18640"/>
                </a:cubicBezTo>
              </a:path>
              <a:path w="21600" h="21600" fill="none">
                <a:moveTo>
                  <a:pt x="2900" y="17640"/>
                </a:moveTo>
                <a:cubicBezTo>
                  <a:pt x="3090" y="17600"/>
                  <a:pt x="3280" y="17540"/>
                  <a:pt x="3460" y="17450"/>
                </a:cubicBezTo>
              </a:path>
              <a:path w="21600" h="21600" fill="none">
                <a:moveTo>
                  <a:pt x="1070" y="12640"/>
                </a:moveTo>
                <a:cubicBezTo>
                  <a:pt x="1400" y="12900"/>
                  <a:pt x="1780" y="13130"/>
                  <a:pt x="2330" y="13040"/>
                </a:cubicBezTo>
              </a:path>
            </a:pathLst>
          </a:custGeom>
          <a:solidFill>
            <a:srgbClr val="666666"/>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316" name="Freeform 4">
            <a:extLst>
              <a:ext uri="{FF2B5EF4-FFF2-40B4-BE49-F238E27FC236}">
                <a16:creationId xmlns:a16="http://schemas.microsoft.com/office/drawing/2014/main" id="{9ECA598A-8AB7-AF87-255F-32521427E672}"/>
              </a:ext>
            </a:extLst>
          </p:cNvPr>
          <p:cNvSpPr>
            <a:spLocks noChangeArrowheads="1"/>
          </p:cNvSpPr>
          <p:nvPr/>
        </p:nvSpPr>
        <p:spPr bwMode="auto">
          <a:xfrm>
            <a:off x="8054333" y="2114963"/>
            <a:ext cx="3265805" cy="2394157"/>
          </a:xfrm>
          <a:custGeom>
            <a:avLst/>
            <a:gdLst>
              <a:gd name="T0" fmla="*/ 1930 w 21600"/>
              <a:gd name="T1" fmla="*/ 7160 h 21600"/>
              <a:gd name="T2" fmla="*/ 5270 w 21600"/>
              <a:gd name="T3" fmla="*/ 1970 h 21600"/>
              <a:gd name="T4" fmla="*/ 6970 w 21600"/>
              <a:gd name="T5" fmla="*/ 2600 h 21600"/>
              <a:gd name="T6" fmla="*/ 9340 w 21600"/>
              <a:gd name="T7" fmla="*/ 650 h 21600"/>
              <a:gd name="T8" fmla="*/ 11210 w 21600"/>
              <a:gd name="T9" fmla="*/ 1700 h 21600"/>
              <a:gd name="T10" fmla="*/ 13150 w 21600"/>
              <a:gd name="T11" fmla="*/ 0 h 21600"/>
              <a:gd name="T12" fmla="*/ 14870 w 21600"/>
              <a:gd name="T13" fmla="*/ 1160 h 21600"/>
              <a:gd name="T14" fmla="*/ 16740 w 21600"/>
              <a:gd name="T15" fmla="*/ 0 h 21600"/>
              <a:gd name="T16" fmla="*/ 19110 w 21600"/>
              <a:gd name="T17" fmla="*/ 2710 h 21600"/>
              <a:gd name="T18" fmla="*/ 21060 w 21600"/>
              <a:gd name="T19" fmla="*/ 6220 h 21600"/>
              <a:gd name="T20" fmla="*/ 20830 w 21600"/>
              <a:gd name="T21" fmla="*/ 7660 h 21600"/>
              <a:gd name="T22" fmla="*/ 21600 w 21600"/>
              <a:gd name="T23" fmla="*/ 10460 h 21600"/>
              <a:gd name="T24" fmla="*/ 18650 w 21600"/>
              <a:gd name="T25" fmla="*/ 15010 h 21600"/>
              <a:gd name="T26" fmla="*/ 15770 w 21600"/>
              <a:gd name="T27" fmla="*/ 18920 h 21600"/>
              <a:gd name="T28" fmla="*/ 14240 w 21600"/>
              <a:gd name="T29" fmla="*/ 18310 h 21600"/>
              <a:gd name="T30" fmla="*/ 11000 w 21600"/>
              <a:gd name="T31" fmla="*/ 21600 h 21600"/>
              <a:gd name="T32" fmla="*/ 8210 w 21600"/>
              <a:gd name="T33" fmla="*/ 19510 h 21600"/>
              <a:gd name="T34" fmla="*/ 6240 w 21600"/>
              <a:gd name="T35" fmla="*/ 20290 h 21600"/>
              <a:gd name="T36" fmla="*/ 2900 w 21600"/>
              <a:gd name="T37" fmla="*/ 17640 h 21600"/>
              <a:gd name="T38" fmla="*/ 480 w 21600"/>
              <a:gd name="T39" fmla="*/ 14660 h 21600"/>
              <a:gd name="T40" fmla="*/ 1070 w 21600"/>
              <a:gd name="T41" fmla="*/ 12640 h 21600"/>
              <a:gd name="T42" fmla="*/ 0 w 21600"/>
              <a:gd name="T43" fmla="*/ 10120 h 21600"/>
              <a:gd name="T44" fmla="*/ 1930 w 21600"/>
              <a:gd name="T45" fmla="*/ 7160 h 21600"/>
              <a:gd name="T46" fmla="*/ 1930 w 21600"/>
              <a:gd name="T47" fmla="*/ 7160 h 21600"/>
              <a:gd name="T48" fmla="*/ 2090 w 21600"/>
              <a:gd name="T49" fmla="*/ 7920 h 21600"/>
              <a:gd name="T50" fmla="*/ 6970 w 21600"/>
              <a:gd name="T51" fmla="*/ 2600 h 21600"/>
              <a:gd name="T52" fmla="*/ 7670 w 21600"/>
              <a:gd name="T53" fmla="*/ 3310 h 21600"/>
              <a:gd name="T54" fmla="*/ 11210 w 21600"/>
              <a:gd name="T55" fmla="*/ 1700 h 21600"/>
              <a:gd name="T56" fmla="*/ 11030 w 21600"/>
              <a:gd name="T57" fmla="*/ 2400 h 21600"/>
              <a:gd name="T58" fmla="*/ 14870 w 21600"/>
              <a:gd name="T59" fmla="*/ 1160 h 21600"/>
              <a:gd name="T60" fmla="*/ 14540 w 21600"/>
              <a:gd name="T61" fmla="*/ 2010 h 21600"/>
              <a:gd name="T62" fmla="*/ 19110 w 21600"/>
              <a:gd name="T63" fmla="*/ 2710 h 21600"/>
              <a:gd name="T64" fmla="*/ 19190 w 21600"/>
              <a:gd name="T65" fmla="*/ 3380 h 21600"/>
              <a:gd name="T66" fmla="*/ 20830 w 21600"/>
              <a:gd name="T67" fmla="*/ 7660 h 21600"/>
              <a:gd name="T68" fmla="*/ 20110 w 21600"/>
              <a:gd name="T69" fmla="*/ 8990 h 21600"/>
              <a:gd name="T70" fmla="*/ 18660 w 21600"/>
              <a:gd name="T71" fmla="*/ 15010 h 21600"/>
              <a:gd name="T72" fmla="*/ 17000 w 21600"/>
              <a:gd name="T73" fmla="*/ 11450 h 21600"/>
              <a:gd name="T74" fmla="*/ 14240 w 21600"/>
              <a:gd name="T75" fmla="*/ 18310 h 21600"/>
              <a:gd name="T76" fmla="*/ 14370 w 21600"/>
              <a:gd name="T77" fmla="*/ 17360 h 21600"/>
              <a:gd name="T78" fmla="*/ 8220 w 21600"/>
              <a:gd name="T79" fmla="*/ 19510 h 21600"/>
              <a:gd name="T80" fmla="*/ 7860 w 21600"/>
              <a:gd name="T81" fmla="*/ 18640 h 21600"/>
              <a:gd name="T82" fmla="*/ 2900 w 21600"/>
              <a:gd name="T83" fmla="*/ 17640 h 21600"/>
              <a:gd name="T84" fmla="*/ 3460 w 21600"/>
              <a:gd name="T85" fmla="*/ 17450 h 21600"/>
              <a:gd name="T86" fmla="*/ 1070 w 21600"/>
              <a:gd name="T87" fmla="*/ 12640 h 21600"/>
              <a:gd name="T88" fmla="*/ 2330 w 21600"/>
              <a:gd name="T89" fmla="*/ 13040 h 21600"/>
              <a:gd name="T90" fmla="*/ 3000 w 21600"/>
              <a:gd name="T91" fmla="*/ 3320 h 21600"/>
              <a:gd name="T92" fmla="*/ 17110 w 21600"/>
              <a:gd name="T93" fmla="*/ 1733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T90" t="T91" r="T92" b="T93"/>
            <a:pathLst>
              <a:path w="21600" h="21600">
                <a:moveTo>
                  <a:pt x="1930" y="7160"/>
                </a:moveTo>
                <a:cubicBezTo>
                  <a:pt x="1530" y="4490"/>
                  <a:pt x="3400" y="1970"/>
                  <a:pt x="5270" y="1970"/>
                </a:cubicBezTo>
                <a:cubicBezTo>
                  <a:pt x="5860" y="1950"/>
                  <a:pt x="6470" y="2210"/>
                  <a:pt x="6970" y="2600"/>
                </a:cubicBezTo>
                <a:cubicBezTo>
                  <a:pt x="7450" y="1390"/>
                  <a:pt x="8340" y="650"/>
                  <a:pt x="9340" y="650"/>
                </a:cubicBezTo>
                <a:cubicBezTo>
                  <a:pt x="10004" y="690"/>
                  <a:pt x="10710" y="1050"/>
                  <a:pt x="11210" y="1700"/>
                </a:cubicBezTo>
                <a:cubicBezTo>
                  <a:pt x="11570" y="630"/>
                  <a:pt x="12330" y="0"/>
                  <a:pt x="13150" y="0"/>
                </a:cubicBezTo>
                <a:cubicBezTo>
                  <a:pt x="13840" y="0"/>
                  <a:pt x="14470" y="460"/>
                  <a:pt x="14870" y="1160"/>
                </a:cubicBezTo>
                <a:cubicBezTo>
                  <a:pt x="15330" y="440"/>
                  <a:pt x="16020" y="0"/>
                  <a:pt x="16740" y="0"/>
                </a:cubicBezTo>
                <a:cubicBezTo>
                  <a:pt x="17910" y="0"/>
                  <a:pt x="18900" y="1130"/>
                  <a:pt x="19110" y="2710"/>
                </a:cubicBezTo>
                <a:cubicBezTo>
                  <a:pt x="20240" y="3150"/>
                  <a:pt x="21060" y="4580"/>
                  <a:pt x="21060" y="6220"/>
                </a:cubicBezTo>
                <a:cubicBezTo>
                  <a:pt x="21060" y="6720"/>
                  <a:pt x="21000" y="7200"/>
                  <a:pt x="20830" y="7660"/>
                </a:cubicBezTo>
                <a:cubicBezTo>
                  <a:pt x="21310" y="8460"/>
                  <a:pt x="21600" y="9450"/>
                  <a:pt x="21600" y="10460"/>
                </a:cubicBezTo>
                <a:cubicBezTo>
                  <a:pt x="21600" y="12750"/>
                  <a:pt x="20310" y="14680"/>
                  <a:pt x="18650" y="15010"/>
                </a:cubicBezTo>
                <a:cubicBezTo>
                  <a:pt x="18650" y="17200"/>
                  <a:pt x="17370" y="18920"/>
                  <a:pt x="15770" y="18920"/>
                </a:cubicBezTo>
                <a:cubicBezTo>
                  <a:pt x="15220" y="18920"/>
                  <a:pt x="14700" y="18710"/>
                  <a:pt x="14240" y="18310"/>
                </a:cubicBezTo>
                <a:cubicBezTo>
                  <a:pt x="13820" y="20240"/>
                  <a:pt x="12490" y="21600"/>
                  <a:pt x="11000" y="21600"/>
                </a:cubicBezTo>
                <a:cubicBezTo>
                  <a:pt x="9890" y="21600"/>
                  <a:pt x="8840" y="20790"/>
                  <a:pt x="8210" y="19510"/>
                </a:cubicBezTo>
                <a:cubicBezTo>
                  <a:pt x="7620" y="20000"/>
                  <a:pt x="7930" y="20290"/>
                  <a:pt x="6240" y="20290"/>
                </a:cubicBezTo>
                <a:cubicBezTo>
                  <a:pt x="4850" y="20290"/>
                  <a:pt x="3570" y="19280"/>
                  <a:pt x="2900" y="17640"/>
                </a:cubicBezTo>
                <a:cubicBezTo>
                  <a:pt x="1300" y="17600"/>
                  <a:pt x="480" y="16300"/>
                  <a:pt x="480" y="14660"/>
                </a:cubicBezTo>
                <a:cubicBezTo>
                  <a:pt x="480" y="13900"/>
                  <a:pt x="690" y="13210"/>
                  <a:pt x="1070" y="12640"/>
                </a:cubicBezTo>
                <a:cubicBezTo>
                  <a:pt x="380" y="12160"/>
                  <a:pt x="0" y="11210"/>
                  <a:pt x="0" y="10120"/>
                </a:cubicBezTo>
                <a:cubicBezTo>
                  <a:pt x="0" y="8590"/>
                  <a:pt x="840" y="7330"/>
                  <a:pt x="1930" y="7160"/>
                </a:cubicBezTo>
                <a:close/>
              </a:path>
              <a:path w="21600" h="21600" fill="none">
                <a:moveTo>
                  <a:pt x="1930" y="7160"/>
                </a:moveTo>
                <a:cubicBezTo>
                  <a:pt x="1950" y="7410"/>
                  <a:pt x="2040" y="7690"/>
                  <a:pt x="2090" y="7920"/>
                </a:cubicBezTo>
              </a:path>
              <a:path w="21600" h="21600" fill="none">
                <a:moveTo>
                  <a:pt x="6970" y="2600"/>
                </a:moveTo>
                <a:cubicBezTo>
                  <a:pt x="7200" y="2790"/>
                  <a:pt x="7480" y="3050"/>
                  <a:pt x="7670" y="3310"/>
                </a:cubicBezTo>
              </a:path>
              <a:path w="21600" h="21600" fill="none">
                <a:moveTo>
                  <a:pt x="11210" y="1700"/>
                </a:moveTo>
                <a:cubicBezTo>
                  <a:pt x="11130" y="1910"/>
                  <a:pt x="11080" y="2160"/>
                  <a:pt x="11030" y="2400"/>
                </a:cubicBezTo>
              </a:path>
              <a:path w="21600" h="21600" fill="none">
                <a:moveTo>
                  <a:pt x="14870" y="1160"/>
                </a:moveTo>
                <a:cubicBezTo>
                  <a:pt x="14720" y="1400"/>
                  <a:pt x="14640" y="1720"/>
                  <a:pt x="14540" y="2010"/>
                </a:cubicBezTo>
              </a:path>
              <a:path w="21600" h="21600" fill="none">
                <a:moveTo>
                  <a:pt x="19110" y="2710"/>
                </a:moveTo>
                <a:cubicBezTo>
                  <a:pt x="19130" y="2890"/>
                  <a:pt x="19230" y="3290"/>
                  <a:pt x="19190" y="3380"/>
                </a:cubicBezTo>
              </a:path>
              <a:path w="21600" h="21600" fill="none">
                <a:moveTo>
                  <a:pt x="20830" y="7660"/>
                </a:moveTo>
                <a:cubicBezTo>
                  <a:pt x="20660" y="8170"/>
                  <a:pt x="20430" y="8620"/>
                  <a:pt x="20110" y="8990"/>
                </a:cubicBezTo>
              </a:path>
              <a:path w="21600" h="21600" fill="none">
                <a:moveTo>
                  <a:pt x="18660" y="15010"/>
                </a:moveTo>
                <a:cubicBezTo>
                  <a:pt x="18740" y="14200"/>
                  <a:pt x="18280" y="12200"/>
                  <a:pt x="17000" y="11450"/>
                </a:cubicBezTo>
              </a:path>
              <a:path w="21600" h="21600" fill="none">
                <a:moveTo>
                  <a:pt x="14240" y="18310"/>
                </a:moveTo>
                <a:cubicBezTo>
                  <a:pt x="14320" y="17980"/>
                  <a:pt x="14350" y="17680"/>
                  <a:pt x="14370" y="17360"/>
                </a:cubicBezTo>
              </a:path>
              <a:path w="21600" h="21600" fill="none">
                <a:moveTo>
                  <a:pt x="8220" y="19510"/>
                </a:moveTo>
                <a:cubicBezTo>
                  <a:pt x="8060" y="19250"/>
                  <a:pt x="7960" y="18950"/>
                  <a:pt x="7860" y="18640"/>
                </a:cubicBezTo>
              </a:path>
              <a:path w="21600" h="21600" fill="none">
                <a:moveTo>
                  <a:pt x="2900" y="17640"/>
                </a:moveTo>
                <a:cubicBezTo>
                  <a:pt x="3090" y="17600"/>
                  <a:pt x="3280" y="17540"/>
                  <a:pt x="3460" y="17450"/>
                </a:cubicBezTo>
              </a:path>
              <a:path w="21600" h="21600" fill="none">
                <a:moveTo>
                  <a:pt x="1070" y="12640"/>
                </a:moveTo>
                <a:cubicBezTo>
                  <a:pt x="1400" y="12900"/>
                  <a:pt x="1780" y="13130"/>
                  <a:pt x="2330" y="13040"/>
                </a:cubicBezTo>
              </a:path>
            </a:pathLst>
          </a:custGeom>
          <a:solidFill>
            <a:srgbClr val="EEEEEE"/>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317" name="AutoShape 5">
            <a:extLst>
              <a:ext uri="{FF2B5EF4-FFF2-40B4-BE49-F238E27FC236}">
                <a16:creationId xmlns:a16="http://schemas.microsoft.com/office/drawing/2014/main" id="{DAD2C747-5068-8C69-70AB-7F0669B7487A}"/>
              </a:ext>
            </a:extLst>
          </p:cNvPr>
          <p:cNvSpPr>
            <a:spLocks noChangeArrowheads="1"/>
          </p:cNvSpPr>
          <p:nvPr/>
        </p:nvSpPr>
        <p:spPr bwMode="auto">
          <a:xfrm>
            <a:off x="4441019" y="2769660"/>
            <a:ext cx="3046933" cy="1088601"/>
          </a:xfrm>
          <a:prstGeom prst="rightArrow">
            <a:avLst>
              <a:gd name="adj1" fmla="val 50000"/>
              <a:gd name="adj2" fmla="val 69974"/>
            </a:avLst>
          </a:prstGeom>
          <a:solidFill>
            <a:srgbClr val="729FC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13318" name="Picture 6">
            <a:extLst>
              <a:ext uri="{FF2B5EF4-FFF2-40B4-BE49-F238E27FC236}">
                <a16:creationId xmlns:a16="http://schemas.microsoft.com/office/drawing/2014/main" id="{7EBB9E9A-70E7-B2C0-D658-CE4CB5444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8000" y="216954"/>
            <a:ext cx="3356043" cy="80253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3319" name="Oval 7">
            <a:extLst>
              <a:ext uri="{FF2B5EF4-FFF2-40B4-BE49-F238E27FC236}">
                <a16:creationId xmlns:a16="http://schemas.microsoft.com/office/drawing/2014/main" id="{BA65472B-4945-3708-3406-F44B1896B27F}"/>
              </a:ext>
            </a:extLst>
          </p:cNvPr>
          <p:cNvSpPr>
            <a:spLocks noChangeArrowheads="1"/>
          </p:cNvSpPr>
          <p:nvPr/>
        </p:nvSpPr>
        <p:spPr bwMode="auto">
          <a:xfrm>
            <a:off x="9359888" y="216954"/>
            <a:ext cx="1255636" cy="871649"/>
          </a:xfrm>
          <a:prstGeom prst="ellipse">
            <a:avLst/>
          </a:prstGeom>
          <a:noFill/>
          <a:ln w="72000" cap="flat">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 name="TextBox 5">
            <a:extLst>
              <a:ext uri="{FF2B5EF4-FFF2-40B4-BE49-F238E27FC236}">
                <a16:creationId xmlns:a16="http://schemas.microsoft.com/office/drawing/2014/main" id="{1A1F121E-F0F2-6352-394C-39E840196F68}"/>
              </a:ext>
            </a:extLst>
          </p:cNvPr>
          <p:cNvSpPr txBox="1"/>
          <p:nvPr/>
        </p:nvSpPr>
        <p:spPr>
          <a:xfrm>
            <a:off x="767408" y="836712"/>
            <a:ext cx="9231783" cy="569580"/>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733" b="1" i="1" dirty="0">
                <a:solidFill>
                  <a:srgbClr val="46245A"/>
                </a:solidFill>
                <a:latin typeface="DM Sans" pitchFamily="2" charset="0"/>
                <a:ea typeface="+mn-ea"/>
              </a:rPr>
              <a:t>Exploiting the Cloud Interaction</a:t>
            </a:r>
            <a:endParaRPr lang="en-US" sz="3733" i="1" dirty="0">
              <a:solidFill>
                <a:srgbClr val="46245A"/>
              </a:solidFill>
              <a:latin typeface="DM Sans" pitchFamily="2" charset="0"/>
              <a:ea typeface="+mn-ea"/>
            </a:endParaRPr>
          </a:p>
        </p:txBody>
      </p:sp>
      <p:sp>
        <p:nvSpPr>
          <p:cNvPr id="7" name="Freeform 13">
            <a:extLst>
              <a:ext uri="{FF2B5EF4-FFF2-40B4-BE49-F238E27FC236}">
                <a16:creationId xmlns:a16="http://schemas.microsoft.com/office/drawing/2014/main" id="{6D83C291-3E19-99E9-3F8E-6325B12B7A22}"/>
              </a:ext>
            </a:extLst>
          </p:cNvPr>
          <p:cNvSpPr/>
          <p:nvPr/>
        </p:nvSpPr>
        <p:spPr>
          <a:xfrm>
            <a:off x="9999191" y="5885754"/>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Oval 1">
            <a:extLst>
              <a:ext uri="{FF2B5EF4-FFF2-40B4-BE49-F238E27FC236}">
                <a16:creationId xmlns:a16="http://schemas.microsoft.com/office/drawing/2014/main" id="{BBA10A33-1C70-C215-2BC1-F916F62B4A5C}"/>
              </a:ext>
            </a:extLst>
          </p:cNvPr>
          <p:cNvSpPr>
            <a:spLocks noChangeArrowheads="1"/>
          </p:cNvSpPr>
          <p:nvPr/>
        </p:nvSpPr>
        <p:spPr bwMode="auto">
          <a:xfrm>
            <a:off x="7620428" y="2829981"/>
            <a:ext cx="1088601" cy="1088603"/>
          </a:xfrm>
          <a:prstGeom prst="ellipse">
            <a:avLst/>
          </a:prstGeom>
          <a:solidFill>
            <a:srgbClr val="3A1A0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338" name="Rectangle 2">
            <a:extLst>
              <a:ext uri="{FF2B5EF4-FFF2-40B4-BE49-F238E27FC236}">
                <a16:creationId xmlns:a16="http://schemas.microsoft.com/office/drawing/2014/main" id="{9CC9D0C1-0460-692F-CF91-F680E863D43B}"/>
              </a:ext>
            </a:extLst>
          </p:cNvPr>
          <p:cNvSpPr>
            <a:spLocks noGrp="1" noChangeArrowheads="1"/>
          </p:cNvSpPr>
          <p:nvPr>
            <p:ph type="body"/>
          </p:nvPr>
        </p:nvSpPr>
        <p:spPr>
          <a:xfrm>
            <a:off x="281457" y="1083810"/>
            <a:ext cx="4179693" cy="6095786"/>
          </a:xfrm>
          <a:ln/>
        </p:spPr>
        <p:txBody>
          <a:bodyPr anchor="t">
            <a:normAutofit fontScale="70000" lnSpcReduction="20000"/>
          </a:bodyPr>
          <a:lstStyle/>
          <a:p>
            <a:pPr marL="522219" indent="-391664" algn="l">
              <a:spcBef>
                <a:spcPts val="1723"/>
              </a:spcBef>
              <a:buClr>
                <a:srgbClr val="FFFFFF"/>
              </a:buClr>
              <a:buSzPct val="45000"/>
              <a:buFont typeface="Wingdings" pitchFamily="2" charset="2"/>
              <a:buChar char=""/>
              <a:tabLst>
                <a:tab pos="543339" algn="l"/>
                <a:tab pos="1086676" algn="l"/>
                <a:tab pos="1630015" algn="l"/>
                <a:tab pos="2173352" algn="l"/>
                <a:tab pos="2716691" algn="l"/>
                <a:tab pos="3260028" algn="l"/>
                <a:tab pos="3803367" algn="l"/>
              </a:tabLst>
            </a:pPr>
            <a:r>
              <a:rPr lang="en-GB" altLang="en-US" sz="3870" dirty="0">
                <a:latin typeface="Calibri" panose="020F0502020204030204" pitchFamily="34" charset="0"/>
                <a:cs typeface="Calibri" panose="020F0502020204030204" pitchFamily="34" charset="0"/>
              </a:rPr>
              <a:t>Cloud droplets form on condensation nuclei</a:t>
            </a:r>
          </a:p>
          <a:p>
            <a:pPr marL="522219" indent="-391664" algn="l">
              <a:spcBef>
                <a:spcPts val="1723"/>
              </a:spcBef>
              <a:buClr>
                <a:srgbClr val="FFFFFF"/>
              </a:buClr>
              <a:buSzPct val="45000"/>
              <a:buFont typeface="Wingdings" pitchFamily="2" charset="2"/>
              <a:buChar char=""/>
              <a:tabLst>
                <a:tab pos="543339" algn="l"/>
                <a:tab pos="1086676" algn="l"/>
                <a:tab pos="1630015" algn="l"/>
                <a:tab pos="2173352" algn="l"/>
                <a:tab pos="2716691" algn="l"/>
                <a:tab pos="3260028" algn="l"/>
                <a:tab pos="3803367" algn="l"/>
              </a:tabLst>
            </a:pPr>
            <a:r>
              <a:rPr lang="en-GB" altLang="en-US" sz="3870" dirty="0">
                <a:latin typeface="Calibri" panose="020F0502020204030204" pitchFamily="34" charset="0"/>
                <a:cs typeface="Calibri" panose="020F0502020204030204" pitchFamily="34" charset="0"/>
              </a:rPr>
              <a:t>If a parcel of air is super-saturated, then water molecules will start to condense on any surface within that area.</a:t>
            </a:r>
          </a:p>
          <a:p>
            <a:pPr marL="522219" indent="-391664" algn="l">
              <a:spcBef>
                <a:spcPts val="1723"/>
              </a:spcBef>
              <a:buClr>
                <a:srgbClr val="FFFFFF"/>
              </a:buClr>
              <a:buSzPct val="45000"/>
              <a:buFont typeface="Wingdings" pitchFamily="2" charset="2"/>
              <a:buChar char=""/>
              <a:tabLst>
                <a:tab pos="543339" algn="l"/>
                <a:tab pos="1086676" algn="l"/>
                <a:tab pos="1630015" algn="l"/>
                <a:tab pos="2173352" algn="l"/>
                <a:tab pos="2716691" algn="l"/>
                <a:tab pos="3260028" algn="l"/>
                <a:tab pos="3803367" algn="l"/>
              </a:tabLst>
            </a:pPr>
            <a:r>
              <a:rPr lang="en-GB" altLang="en-US" sz="3870" dirty="0">
                <a:latin typeface="Calibri" panose="020F0502020204030204" pitchFamily="34" charset="0"/>
                <a:cs typeface="Calibri" panose="020F0502020204030204" pitchFamily="34" charset="0"/>
              </a:rPr>
              <a:t>If there is a nucleus for this water vapour, a cloud droplet is formed.</a:t>
            </a:r>
          </a:p>
          <a:p>
            <a:pPr marL="522219" indent="-391664" algn="l">
              <a:spcBef>
                <a:spcPts val="1723"/>
              </a:spcBef>
              <a:buClr>
                <a:srgbClr val="FFFFFF"/>
              </a:buClr>
              <a:buSzPct val="45000"/>
              <a:buFont typeface="Wingdings" pitchFamily="2" charset="2"/>
              <a:buChar char=""/>
              <a:tabLst>
                <a:tab pos="543339" algn="l"/>
                <a:tab pos="1086676" algn="l"/>
                <a:tab pos="1630015" algn="l"/>
                <a:tab pos="2173352" algn="l"/>
                <a:tab pos="2716691" algn="l"/>
                <a:tab pos="3260028" algn="l"/>
                <a:tab pos="3803367" algn="l"/>
              </a:tabLst>
            </a:pPr>
            <a:r>
              <a:rPr lang="en-GB" altLang="en-US" sz="3870" dirty="0">
                <a:latin typeface="Calibri" panose="020F0502020204030204" pitchFamily="34" charset="0"/>
                <a:cs typeface="Calibri" panose="020F0502020204030204" pitchFamily="34" charset="0"/>
              </a:rPr>
              <a:t>If there is a limit of nuclei, then water vapour will condense on existing water droplets</a:t>
            </a:r>
          </a:p>
        </p:txBody>
      </p:sp>
      <p:sp>
        <p:nvSpPr>
          <p:cNvPr id="14339" name="Freeform 3">
            <a:extLst>
              <a:ext uri="{FF2B5EF4-FFF2-40B4-BE49-F238E27FC236}">
                <a16:creationId xmlns:a16="http://schemas.microsoft.com/office/drawing/2014/main" id="{E06460EC-8F47-7826-B359-46DB237BEE3C}"/>
              </a:ext>
            </a:extLst>
          </p:cNvPr>
          <p:cNvSpPr>
            <a:spLocks noChangeArrowheads="1"/>
          </p:cNvSpPr>
          <p:nvPr/>
        </p:nvSpPr>
        <p:spPr bwMode="auto">
          <a:xfrm>
            <a:off x="4571575" y="652777"/>
            <a:ext cx="7184389" cy="5659962"/>
          </a:xfrm>
          <a:custGeom>
            <a:avLst/>
            <a:gdLst>
              <a:gd name="T0" fmla="*/ 1930 w 21600"/>
              <a:gd name="T1" fmla="*/ 7160 h 21600"/>
              <a:gd name="T2" fmla="*/ 5270 w 21600"/>
              <a:gd name="T3" fmla="*/ 1970 h 21600"/>
              <a:gd name="T4" fmla="*/ 6970 w 21600"/>
              <a:gd name="T5" fmla="*/ 2600 h 21600"/>
              <a:gd name="T6" fmla="*/ 9340 w 21600"/>
              <a:gd name="T7" fmla="*/ 650 h 21600"/>
              <a:gd name="T8" fmla="*/ 11210 w 21600"/>
              <a:gd name="T9" fmla="*/ 1700 h 21600"/>
              <a:gd name="T10" fmla="*/ 13150 w 21600"/>
              <a:gd name="T11" fmla="*/ 0 h 21600"/>
              <a:gd name="T12" fmla="*/ 14870 w 21600"/>
              <a:gd name="T13" fmla="*/ 1160 h 21600"/>
              <a:gd name="T14" fmla="*/ 16740 w 21600"/>
              <a:gd name="T15" fmla="*/ 0 h 21600"/>
              <a:gd name="T16" fmla="*/ 19110 w 21600"/>
              <a:gd name="T17" fmla="*/ 2710 h 21600"/>
              <a:gd name="T18" fmla="*/ 21060 w 21600"/>
              <a:gd name="T19" fmla="*/ 6220 h 21600"/>
              <a:gd name="T20" fmla="*/ 20830 w 21600"/>
              <a:gd name="T21" fmla="*/ 7660 h 21600"/>
              <a:gd name="T22" fmla="*/ 21600 w 21600"/>
              <a:gd name="T23" fmla="*/ 10460 h 21600"/>
              <a:gd name="T24" fmla="*/ 18650 w 21600"/>
              <a:gd name="T25" fmla="*/ 15010 h 21600"/>
              <a:gd name="T26" fmla="*/ 15770 w 21600"/>
              <a:gd name="T27" fmla="*/ 18920 h 21600"/>
              <a:gd name="T28" fmla="*/ 14240 w 21600"/>
              <a:gd name="T29" fmla="*/ 18310 h 21600"/>
              <a:gd name="T30" fmla="*/ 11000 w 21600"/>
              <a:gd name="T31" fmla="*/ 21600 h 21600"/>
              <a:gd name="T32" fmla="*/ 8210 w 21600"/>
              <a:gd name="T33" fmla="*/ 19510 h 21600"/>
              <a:gd name="T34" fmla="*/ 6240 w 21600"/>
              <a:gd name="T35" fmla="*/ 20290 h 21600"/>
              <a:gd name="T36" fmla="*/ 2900 w 21600"/>
              <a:gd name="T37" fmla="*/ 17640 h 21600"/>
              <a:gd name="T38" fmla="*/ 480 w 21600"/>
              <a:gd name="T39" fmla="*/ 14660 h 21600"/>
              <a:gd name="T40" fmla="*/ 1070 w 21600"/>
              <a:gd name="T41" fmla="*/ 12640 h 21600"/>
              <a:gd name="T42" fmla="*/ 0 w 21600"/>
              <a:gd name="T43" fmla="*/ 10120 h 21600"/>
              <a:gd name="T44" fmla="*/ 1930 w 21600"/>
              <a:gd name="T45" fmla="*/ 7160 h 21600"/>
              <a:gd name="T46" fmla="*/ 1930 w 21600"/>
              <a:gd name="T47" fmla="*/ 7160 h 21600"/>
              <a:gd name="T48" fmla="*/ 2090 w 21600"/>
              <a:gd name="T49" fmla="*/ 7920 h 21600"/>
              <a:gd name="T50" fmla="*/ 6970 w 21600"/>
              <a:gd name="T51" fmla="*/ 2600 h 21600"/>
              <a:gd name="T52" fmla="*/ 7670 w 21600"/>
              <a:gd name="T53" fmla="*/ 3310 h 21600"/>
              <a:gd name="T54" fmla="*/ 11210 w 21600"/>
              <a:gd name="T55" fmla="*/ 1700 h 21600"/>
              <a:gd name="T56" fmla="*/ 11030 w 21600"/>
              <a:gd name="T57" fmla="*/ 2400 h 21600"/>
              <a:gd name="T58" fmla="*/ 14870 w 21600"/>
              <a:gd name="T59" fmla="*/ 1160 h 21600"/>
              <a:gd name="T60" fmla="*/ 14540 w 21600"/>
              <a:gd name="T61" fmla="*/ 2010 h 21600"/>
              <a:gd name="T62" fmla="*/ 19110 w 21600"/>
              <a:gd name="T63" fmla="*/ 2710 h 21600"/>
              <a:gd name="T64" fmla="*/ 19190 w 21600"/>
              <a:gd name="T65" fmla="*/ 3380 h 21600"/>
              <a:gd name="T66" fmla="*/ 20830 w 21600"/>
              <a:gd name="T67" fmla="*/ 7660 h 21600"/>
              <a:gd name="T68" fmla="*/ 20110 w 21600"/>
              <a:gd name="T69" fmla="*/ 8990 h 21600"/>
              <a:gd name="T70" fmla="*/ 18660 w 21600"/>
              <a:gd name="T71" fmla="*/ 15010 h 21600"/>
              <a:gd name="T72" fmla="*/ 17000 w 21600"/>
              <a:gd name="T73" fmla="*/ 11450 h 21600"/>
              <a:gd name="T74" fmla="*/ 14240 w 21600"/>
              <a:gd name="T75" fmla="*/ 18310 h 21600"/>
              <a:gd name="T76" fmla="*/ 14370 w 21600"/>
              <a:gd name="T77" fmla="*/ 17360 h 21600"/>
              <a:gd name="T78" fmla="*/ 8220 w 21600"/>
              <a:gd name="T79" fmla="*/ 19510 h 21600"/>
              <a:gd name="T80" fmla="*/ 7860 w 21600"/>
              <a:gd name="T81" fmla="*/ 18640 h 21600"/>
              <a:gd name="T82" fmla="*/ 2900 w 21600"/>
              <a:gd name="T83" fmla="*/ 17640 h 21600"/>
              <a:gd name="T84" fmla="*/ 3460 w 21600"/>
              <a:gd name="T85" fmla="*/ 17450 h 21600"/>
              <a:gd name="T86" fmla="*/ 1070 w 21600"/>
              <a:gd name="T87" fmla="*/ 12640 h 21600"/>
              <a:gd name="T88" fmla="*/ 2330 w 21600"/>
              <a:gd name="T89" fmla="*/ 13040 h 21600"/>
              <a:gd name="T90" fmla="*/ 3000 w 21600"/>
              <a:gd name="T91" fmla="*/ 3320 h 21600"/>
              <a:gd name="T92" fmla="*/ 17110 w 21600"/>
              <a:gd name="T93" fmla="*/ 1733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T90" t="T91" r="T92" b="T93"/>
            <a:pathLst>
              <a:path w="21600" h="21600">
                <a:moveTo>
                  <a:pt x="1930" y="7160"/>
                </a:moveTo>
                <a:cubicBezTo>
                  <a:pt x="1530" y="4490"/>
                  <a:pt x="3400" y="1970"/>
                  <a:pt x="5270" y="1970"/>
                </a:cubicBezTo>
                <a:cubicBezTo>
                  <a:pt x="5860" y="1950"/>
                  <a:pt x="6470" y="2210"/>
                  <a:pt x="6970" y="2600"/>
                </a:cubicBezTo>
                <a:cubicBezTo>
                  <a:pt x="7450" y="1390"/>
                  <a:pt x="8340" y="650"/>
                  <a:pt x="9340" y="650"/>
                </a:cubicBezTo>
                <a:cubicBezTo>
                  <a:pt x="10004" y="690"/>
                  <a:pt x="10710" y="1050"/>
                  <a:pt x="11210" y="1700"/>
                </a:cubicBezTo>
                <a:cubicBezTo>
                  <a:pt x="11570" y="630"/>
                  <a:pt x="12330" y="0"/>
                  <a:pt x="13150" y="0"/>
                </a:cubicBezTo>
                <a:cubicBezTo>
                  <a:pt x="13840" y="0"/>
                  <a:pt x="14470" y="460"/>
                  <a:pt x="14870" y="1160"/>
                </a:cubicBezTo>
                <a:cubicBezTo>
                  <a:pt x="15330" y="440"/>
                  <a:pt x="16020" y="0"/>
                  <a:pt x="16740" y="0"/>
                </a:cubicBezTo>
                <a:cubicBezTo>
                  <a:pt x="17910" y="0"/>
                  <a:pt x="18900" y="1130"/>
                  <a:pt x="19110" y="2710"/>
                </a:cubicBezTo>
                <a:cubicBezTo>
                  <a:pt x="20240" y="3150"/>
                  <a:pt x="21060" y="4580"/>
                  <a:pt x="21060" y="6220"/>
                </a:cubicBezTo>
                <a:cubicBezTo>
                  <a:pt x="21060" y="6720"/>
                  <a:pt x="21000" y="7200"/>
                  <a:pt x="20830" y="7660"/>
                </a:cubicBezTo>
                <a:cubicBezTo>
                  <a:pt x="21310" y="8460"/>
                  <a:pt x="21600" y="9450"/>
                  <a:pt x="21600" y="10460"/>
                </a:cubicBezTo>
                <a:cubicBezTo>
                  <a:pt x="21600" y="12750"/>
                  <a:pt x="20310" y="14680"/>
                  <a:pt x="18650" y="15010"/>
                </a:cubicBezTo>
                <a:cubicBezTo>
                  <a:pt x="18650" y="17200"/>
                  <a:pt x="17370" y="18920"/>
                  <a:pt x="15770" y="18920"/>
                </a:cubicBezTo>
                <a:cubicBezTo>
                  <a:pt x="15220" y="18920"/>
                  <a:pt x="14700" y="18710"/>
                  <a:pt x="14240" y="18310"/>
                </a:cubicBezTo>
                <a:cubicBezTo>
                  <a:pt x="13820" y="20240"/>
                  <a:pt x="12490" y="21600"/>
                  <a:pt x="11000" y="21600"/>
                </a:cubicBezTo>
                <a:cubicBezTo>
                  <a:pt x="9890" y="21600"/>
                  <a:pt x="8840" y="20790"/>
                  <a:pt x="8210" y="19510"/>
                </a:cubicBezTo>
                <a:cubicBezTo>
                  <a:pt x="7620" y="20000"/>
                  <a:pt x="7930" y="20290"/>
                  <a:pt x="6240" y="20290"/>
                </a:cubicBezTo>
                <a:cubicBezTo>
                  <a:pt x="4850" y="20290"/>
                  <a:pt x="3570" y="19280"/>
                  <a:pt x="2900" y="17640"/>
                </a:cubicBezTo>
                <a:cubicBezTo>
                  <a:pt x="1300" y="17600"/>
                  <a:pt x="480" y="16300"/>
                  <a:pt x="480" y="14660"/>
                </a:cubicBezTo>
                <a:cubicBezTo>
                  <a:pt x="480" y="13900"/>
                  <a:pt x="690" y="13210"/>
                  <a:pt x="1070" y="12640"/>
                </a:cubicBezTo>
                <a:cubicBezTo>
                  <a:pt x="380" y="12160"/>
                  <a:pt x="0" y="11210"/>
                  <a:pt x="0" y="10120"/>
                </a:cubicBezTo>
                <a:cubicBezTo>
                  <a:pt x="0" y="8590"/>
                  <a:pt x="840" y="7330"/>
                  <a:pt x="1930" y="7160"/>
                </a:cubicBezTo>
                <a:close/>
              </a:path>
              <a:path w="21600" h="21600" fill="none">
                <a:moveTo>
                  <a:pt x="1930" y="7160"/>
                </a:moveTo>
                <a:cubicBezTo>
                  <a:pt x="1950" y="7410"/>
                  <a:pt x="2040" y="7690"/>
                  <a:pt x="2090" y="7920"/>
                </a:cubicBezTo>
              </a:path>
              <a:path w="21600" h="21600" fill="none">
                <a:moveTo>
                  <a:pt x="6970" y="2600"/>
                </a:moveTo>
                <a:cubicBezTo>
                  <a:pt x="7200" y="2790"/>
                  <a:pt x="7480" y="3050"/>
                  <a:pt x="7670" y="3310"/>
                </a:cubicBezTo>
              </a:path>
              <a:path w="21600" h="21600" fill="none">
                <a:moveTo>
                  <a:pt x="11210" y="1700"/>
                </a:moveTo>
                <a:cubicBezTo>
                  <a:pt x="11130" y="1910"/>
                  <a:pt x="11080" y="2160"/>
                  <a:pt x="11030" y="2400"/>
                </a:cubicBezTo>
              </a:path>
              <a:path w="21600" h="21600" fill="none">
                <a:moveTo>
                  <a:pt x="14870" y="1160"/>
                </a:moveTo>
                <a:cubicBezTo>
                  <a:pt x="14720" y="1400"/>
                  <a:pt x="14640" y="1720"/>
                  <a:pt x="14540" y="2010"/>
                </a:cubicBezTo>
              </a:path>
              <a:path w="21600" h="21600" fill="none">
                <a:moveTo>
                  <a:pt x="19110" y="2710"/>
                </a:moveTo>
                <a:cubicBezTo>
                  <a:pt x="19130" y="2890"/>
                  <a:pt x="19230" y="3290"/>
                  <a:pt x="19190" y="3380"/>
                </a:cubicBezTo>
              </a:path>
              <a:path w="21600" h="21600" fill="none">
                <a:moveTo>
                  <a:pt x="20830" y="7660"/>
                </a:moveTo>
                <a:cubicBezTo>
                  <a:pt x="20660" y="8170"/>
                  <a:pt x="20430" y="8620"/>
                  <a:pt x="20110" y="8990"/>
                </a:cubicBezTo>
              </a:path>
              <a:path w="21600" h="21600" fill="none">
                <a:moveTo>
                  <a:pt x="18660" y="15010"/>
                </a:moveTo>
                <a:cubicBezTo>
                  <a:pt x="18740" y="14200"/>
                  <a:pt x="18280" y="12200"/>
                  <a:pt x="17000" y="11450"/>
                </a:cubicBezTo>
              </a:path>
              <a:path w="21600" h="21600" fill="none">
                <a:moveTo>
                  <a:pt x="14240" y="18310"/>
                </a:moveTo>
                <a:cubicBezTo>
                  <a:pt x="14320" y="17980"/>
                  <a:pt x="14350" y="17680"/>
                  <a:pt x="14370" y="17360"/>
                </a:cubicBezTo>
              </a:path>
              <a:path w="21600" h="21600" fill="none">
                <a:moveTo>
                  <a:pt x="8220" y="19510"/>
                </a:moveTo>
                <a:cubicBezTo>
                  <a:pt x="8060" y="19250"/>
                  <a:pt x="7960" y="18950"/>
                  <a:pt x="7860" y="18640"/>
                </a:cubicBezTo>
              </a:path>
              <a:path w="21600" h="21600" fill="none">
                <a:moveTo>
                  <a:pt x="2900" y="17640"/>
                </a:moveTo>
                <a:cubicBezTo>
                  <a:pt x="3090" y="17600"/>
                  <a:pt x="3280" y="17540"/>
                  <a:pt x="3460" y="17450"/>
                </a:cubicBezTo>
              </a:path>
              <a:path w="21600" h="21600" fill="none">
                <a:moveTo>
                  <a:pt x="1070" y="12640"/>
                </a:moveTo>
                <a:cubicBezTo>
                  <a:pt x="1400" y="12900"/>
                  <a:pt x="1780" y="13130"/>
                  <a:pt x="2330" y="13040"/>
                </a:cubicBezTo>
              </a:path>
            </a:pathLst>
          </a:custGeom>
          <a:noFill/>
          <a:ln w="108000" cap="flat">
            <a:solidFill>
              <a:srgbClr val="FFFF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grpSp>
        <p:nvGrpSpPr>
          <p:cNvPr id="14340" name="Group 4">
            <a:extLst>
              <a:ext uri="{FF2B5EF4-FFF2-40B4-BE49-F238E27FC236}">
                <a16:creationId xmlns:a16="http://schemas.microsoft.com/office/drawing/2014/main" id="{7F9B1688-234A-3397-101A-A02D515FE6F4}"/>
              </a:ext>
            </a:extLst>
          </p:cNvPr>
          <p:cNvGrpSpPr>
            <a:grpSpLocks/>
          </p:cNvGrpSpPr>
          <p:nvPr/>
        </p:nvGrpSpPr>
        <p:grpSpPr bwMode="auto">
          <a:xfrm>
            <a:off x="9578759" y="2394157"/>
            <a:ext cx="650857" cy="650857"/>
            <a:chOff x="4989" y="1247"/>
            <a:chExt cx="339" cy="339"/>
          </a:xfrm>
        </p:grpSpPr>
        <p:sp>
          <p:nvSpPr>
            <p:cNvPr id="14341" name="Oval 5">
              <a:extLst>
                <a:ext uri="{FF2B5EF4-FFF2-40B4-BE49-F238E27FC236}">
                  <a16:creationId xmlns:a16="http://schemas.microsoft.com/office/drawing/2014/main" id="{5CAC243D-237D-3F48-9B90-AB077588F9C2}"/>
                </a:ext>
              </a:extLst>
            </p:cNvPr>
            <p:cNvSpPr>
              <a:spLocks noChangeArrowheads="1"/>
            </p:cNvSpPr>
            <p:nvPr/>
          </p:nvSpPr>
          <p:spPr bwMode="auto">
            <a:xfrm>
              <a:off x="5216" y="1247"/>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342" name="Oval 6">
              <a:extLst>
                <a:ext uri="{FF2B5EF4-FFF2-40B4-BE49-F238E27FC236}">
                  <a16:creationId xmlns:a16="http://schemas.microsoft.com/office/drawing/2014/main" id="{ED2073E8-E88E-1D47-9FD2-9361475131CE}"/>
                </a:ext>
              </a:extLst>
            </p:cNvPr>
            <p:cNvSpPr>
              <a:spLocks noChangeArrowheads="1"/>
            </p:cNvSpPr>
            <p:nvPr/>
          </p:nvSpPr>
          <p:spPr bwMode="auto">
            <a:xfrm>
              <a:off x="4989" y="1474"/>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343" name="Oval 7">
              <a:extLst>
                <a:ext uri="{FF2B5EF4-FFF2-40B4-BE49-F238E27FC236}">
                  <a16:creationId xmlns:a16="http://schemas.microsoft.com/office/drawing/2014/main" id="{C57B341E-ECF2-6910-E56F-CFC4A74FDAAC}"/>
                </a:ext>
              </a:extLst>
            </p:cNvPr>
            <p:cNvSpPr>
              <a:spLocks noChangeArrowheads="1"/>
            </p:cNvSpPr>
            <p:nvPr/>
          </p:nvSpPr>
          <p:spPr bwMode="auto">
            <a:xfrm>
              <a:off x="4989" y="1247"/>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grpSp>
      <p:grpSp>
        <p:nvGrpSpPr>
          <p:cNvPr id="14344" name="Group 8">
            <a:extLst>
              <a:ext uri="{FF2B5EF4-FFF2-40B4-BE49-F238E27FC236}">
                <a16:creationId xmlns:a16="http://schemas.microsoft.com/office/drawing/2014/main" id="{DAB18477-26C4-DBF6-E617-A3524269745C}"/>
              </a:ext>
            </a:extLst>
          </p:cNvPr>
          <p:cNvGrpSpPr>
            <a:grpSpLocks/>
          </p:cNvGrpSpPr>
          <p:nvPr/>
        </p:nvGrpSpPr>
        <p:grpSpPr bwMode="auto">
          <a:xfrm>
            <a:off x="6710380" y="2411436"/>
            <a:ext cx="729574" cy="673897"/>
            <a:chOff x="3495" y="1256"/>
            <a:chExt cx="380" cy="351"/>
          </a:xfrm>
        </p:grpSpPr>
        <p:sp>
          <p:nvSpPr>
            <p:cNvPr id="14345" name="Oval 9">
              <a:extLst>
                <a:ext uri="{FF2B5EF4-FFF2-40B4-BE49-F238E27FC236}">
                  <a16:creationId xmlns:a16="http://schemas.microsoft.com/office/drawing/2014/main" id="{C1A471B0-7345-C7E7-89F9-E6F9D9F0A75D}"/>
                </a:ext>
              </a:extLst>
            </p:cNvPr>
            <p:cNvSpPr>
              <a:spLocks noChangeArrowheads="1"/>
            </p:cNvSpPr>
            <p:nvPr/>
          </p:nvSpPr>
          <p:spPr bwMode="auto">
            <a:xfrm rot="15780000">
              <a:off x="3502" y="1264"/>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346" name="Oval 10">
              <a:extLst>
                <a:ext uri="{FF2B5EF4-FFF2-40B4-BE49-F238E27FC236}">
                  <a16:creationId xmlns:a16="http://schemas.microsoft.com/office/drawing/2014/main" id="{B047EE8B-312B-41AA-F519-0CDA2CBF575B}"/>
                </a:ext>
              </a:extLst>
            </p:cNvPr>
            <p:cNvSpPr>
              <a:spLocks noChangeArrowheads="1"/>
            </p:cNvSpPr>
            <p:nvPr/>
          </p:nvSpPr>
          <p:spPr bwMode="auto">
            <a:xfrm rot="15780000">
              <a:off x="3756" y="1460"/>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347" name="Oval 11">
              <a:extLst>
                <a:ext uri="{FF2B5EF4-FFF2-40B4-BE49-F238E27FC236}">
                  <a16:creationId xmlns:a16="http://schemas.microsoft.com/office/drawing/2014/main" id="{92C1E72F-3D2E-5F2B-E05F-45A78E3D74F4}"/>
                </a:ext>
              </a:extLst>
            </p:cNvPr>
            <p:cNvSpPr>
              <a:spLocks noChangeArrowheads="1"/>
            </p:cNvSpPr>
            <p:nvPr/>
          </p:nvSpPr>
          <p:spPr bwMode="auto">
            <a:xfrm rot="15780000">
              <a:off x="3523" y="1368"/>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grpSp>
      <p:grpSp>
        <p:nvGrpSpPr>
          <p:cNvPr id="14348" name="Group 12">
            <a:extLst>
              <a:ext uri="{FF2B5EF4-FFF2-40B4-BE49-F238E27FC236}">
                <a16:creationId xmlns:a16="http://schemas.microsoft.com/office/drawing/2014/main" id="{26E30CA6-2CE9-2C32-573C-0F7B44593034}"/>
              </a:ext>
            </a:extLst>
          </p:cNvPr>
          <p:cNvGrpSpPr>
            <a:grpSpLocks/>
          </p:cNvGrpSpPr>
          <p:nvPr/>
        </p:nvGrpSpPr>
        <p:grpSpPr bwMode="auto">
          <a:xfrm>
            <a:off x="7568590" y="3501958"/>
            <a:ext cx="919648" cy="633578"/>
            <a:chOff x="3942" y="1824"/>
            <a:chExt cx="479" cy="330"/>
          </a:xfrm>
        </p:grpSpPr>
        <p:sp>
          <p:nvSpPr>
            <p:cNvPr id="14349" name="Oval 13">
              <a:extLst>
                <a:ext uri="{FF2B5EF4-FFF2-40B4-BE49-F238E27FC236}">
                  <a16:creationId xmlns:a16="http://schemas.microsoft.com/office/drawing/2014/main" id="{0268CF47-DD9A-3DE5-9E77-07E8B19E5569}"/>
                </a:ext>
              </a:extLst>
            </p:cNvPr>
            <p:cNvSpPr>
              <a:spLocks noChangeArrowheads="1"/>
            </p:cNvSpPr>
            <p:nvPr/>
          </p:nvSpPr>
          <p:spPr bwMode="auto">
            <a:xfrm rot="2940000">
              <a:off x="4286" y="2017"/>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350" name="Oval 14">
              <a:extLst>
                <a:ext uri="{FF2B5EF4-FFF2-40B4-BE49-F238E27FC236}">
                  <a16:creationId xmlns:a16="http://schemas.microsoft.com/office/drawing/2014/main" id="{01651164-3C83-5237-EFE7-5BBDC2F670CF}"/>
                </a:ext>
              </a:extLst>
            </p:cNvPr>
            <p:cNvSpPr>
              <a:spLocks noChangeArrowheads="1"/>
            </p:cNvSpPr>
            <p:nvPr/>
          </p:nvSpPr>
          <p:spPr bwMode="auto">
            <a:xfrm rot="2940000">
              <a:off x="3966" y="1996"/>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351" name="Oval 15">
              <a:extLst>
                <a:ext uri="{FF2B5EF4-FFF2-40B4-BE49-F238E27FC236}">
                  <a16:creationId xmlns:a16="http://schemas.microsoft.com/office/drawing/2014/main" id="{945986A9-B90A-ACF2-BE91-F377A4F43183}"/>
                </a:ext>
              </a:extLst>
            </p:cNvPr>
            <p:cNvSpPr>
              <a:spLocks noChangeArrowheads="1"/>
            </p:cNvSpPr>
            <p:nvPr/>
          </p:nvSpPr>
          <p:spPr bwMode="auto">
            <a:xfrm rot="2940000">
              <a:off x="4074" y="1870"/>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grpSp>
      <p:grpSp>
        <p:nvGrpSpPr>
          <p:cNvPr id="14352" name="Group 16">
            <a:extLst>
              <a:ext uri="{FF2B5EF4-FFF2-40B4-BE49-F238E27FC236}">
                <a16:creationId xmlns:a16="http://schemas.microsoft.com/office/drawing/2014/main" id="{D4B802B2-B788-9682-77A7-EE7EDCD19067}"/>
              </a:ext>
            </a:extLst>
          </p:cNvPr>
          <p:cNvGrpSpPr>
            <a:grpSpLocks/>
          </p:cNvGrpSpPr>
          <p:nvPr/>
        </p:nvGrpSpPr>
        <p:grpSpPr bwMode="auto">
          <a:xfrm>
            <a:off x="7351637" y="1760580"/>
            <a:ext cx="919647" cy="633578"/>
            <a:chOff x="3829" y="917"/>
            <a:chExt cx="479" cy="330"/>
          </a:xfrm>
        </p:grpSpPr>
        <p:sp>
          <p:nvSpPr>
            <p:cNvPr id="14353" name="Oval 17">
              <a:extLst>
                <a:ext uri="{FF2B5EF4-FFF2-40B4-BE49-F238E27FC236}">
                  <a16:creationId xmlns:a16="http://schemas.microsoft.com/office/drawing/2014/main" id="{1F116F98-F14C-6283-3DEC-0B182661FE36}"/>
                </a:ext>
              </a:extLst>
            </p:cNvPr>
            <p:cNvSpPr>
              <a:spLocks noChangeArrowheads="1"/>
            </p:cNvSpPr>
            <p:nvPr/>
          </p:nvSpPr>
          <p:spPr bwMode="auto">
            <a:xfrm rot="2940000">
              <a:off x="4173" y="1110"/>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354" name="Oval 18">
              <a:extLst>
                <a:ext uri="{FF2B5EF4-FFF2-40B4-BE49-F238E27FC236}">
                  <a16:creationId xmlns:a16="http://schemas.microsoft.com/office/drawing/2014/main" id="{0DB48754-A308-CE2D-183E-3A2A2E0808AF}"/>
                </a:ext>
              </a:extLst>
            </p:cNvPr>
            <p:cNvSpPr>
              <a:spLocks noChangeArrowheads="1"/>
            </p:cNvSpPr>
            <p:nvPr/>
          </p:nvSpPr>
          <p:spPr bwMode="auto">
            <a:xfrm rot="2940000">
              <a:off x="3853" y="1089"/>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355" name="Oval 19">
              <a:extLst>
                <a:ext uri="{FF2B5EF4-FFF2-40B4-BE49-F238E27FC236}">
                  <a16:creationId xmlns:a16="http://schemas.microsoft.com/office/drawing/2014/main" id="{CAE4BB12-2436-EE12-0A8F-E562C48BA893}"/>
                </a:ext>
              </a:extLst>
            </p:cNvPr>
            <p:cNvSpPr>
              <a:spLocks noChangeArrowheads="1"/>
            </p:cNvSpPr>
            <p:nvPr/>
          </p:nvSpPr>
          <p:spPr bwMode="auto">
            <a:xfrm rot="2940000">
              <a:off x="3961" y="963"/>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grpSp>
      <p:grpSp>
        <p:nvGrpSpPr>
          <p:cNvPr id="14356" name="Group 20">
            <a:extLst>
              <a:ext uri="{FF2B5EF4-FFF2-40B4-BE49-F238E27FC236}">
                <a16:creationId xmlns:a16="http://schemas.microsoft.com/office/drawing/2014/main" id="{A8D1E29B-C038-C2F7-7BE3-967538103A87}"/>
              </a:ext>
            </a:extLst>
          </p:cNvPr>
          <p:cNvGrpSpPr>
            <a:grpSpLocks/>
          </p:cNvGrpSpPr>
          <p:nvPr/>
        </p:nvGrpSpPr>
        <p:grpSpPr bwMode="auto">
          <a:xfrm>
            <a:off x="8490157" y="3444360"/>
            <a:ext cx="662377" cy="689256"/>
            <a:chOff x="4422" y="1794"/>
            <a:chExt cx="345" cy="359"/>
          </a:xfrm>
        </p:grpSpPr>
        <p:sp>
          <p:nvSpPr>
            <p:cNvPr id="14357" name="Oval 21">
              <a:extLst>
                <a:ext uri="{FF2B5EF4-FFF2-40B4-BE49-F238E27FC236}">
                  <a16:creationId xmlns:a16="http://schemas.microsoft.com/office/drawing/2014/main" id="{68773B42-7978-8192-2A48-2849615713A2}"/>
                </a:ext>
              </a:extLst>
            </p:cNvPr>
            <p:cNvSpPr>
              <a:spLocks noChangeArrowheads="1"/>
            </p:cNvSpPr>
            <p:nvPr/>
          </p:nvSpPr>
          <p:spPr bwMode="auto">
            <a:xfrm rot="21360000">
              <a:off x="4651" y="1798"/>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358" name="Oval 22">
              <a:extLst>
                <a:ext uri="{FF2B5EF4-FFF2-40B4-BE49-F238E27FC236}">
                  <a16:creationId xmlns:a16="http://schemas.microsoft.com/office/drawing/2014/main" id="{C2754BB5-BF72-8E57-A096-D7FCC9519922}"/>
                </a:ext>
              </a:extLst>
            </p:cNvPr>
            <p:cNvSpPr>
              <a:spLocks noChangeArrowheads="1"/>
            </p:cNvSpPr>
            <p:nvPr/>
          </p:nvSpPr>
          <p:spPr bwMode="auto">
            <a:xfrm rot="21360000">
              <a:off x="4439" y="2038"/>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359" name="Oval 23">
              <a:extLst>
                <a:ext uri="{FF2B5EF4-FFF2-40B4-BE49-F238E27FC236}">
                  <a16:creationId xmlns:a16="http://schemas.microsoft.com/office/drawing/2014/main" id="{5B42F1C8-7468-EB47-20FF-36C0134174F1}"/>
                </a:ext>
              </a:extLst>
            </p:cNvPr>
            <p:cNvSpPr>
              <a:spLocks noChangeArrowheads="1"/>
            </p:cNvSpPr>
            <p:nvPr/>
          </p:nvSpPr>
          <p:spPr bwMode="auto">
            <a:xfrm rot="21360000">
              <a:off x="4428" y="1808"/>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grpSp>
      <p:sp>
        <p:nvSpPr>
          <p:cNvPr id="14360" name="Line 24">
            <a:extLst>
              <a:ext uri="{FF2B5EF4-FFF2-40B4-BE49-F238E27FC236}">
                <a16:creationId xmlns:a16="http://schemas.microsoft.com/office/drawing/2014/main" id="{DEE8CB0D-351F-FA34-6043-641E9961AFFC}"/>
              </a:ext>
            </a:extLst>
          </p:cNvPr>
          <p:cNvSpPr>
            <a:spLocks noChangeShapeType="1"/>
          </p:cNvSpPr>
          <p:nvPr/>
        </p:nvSpPr>
        <p:spPr bwMode="auto">
          <a:xfrm>
            <a:off x="7868099" y="2263601"/>
            <a:ext cx="216953" cy="652777"/>
          </a:xfrm>
          <a:prstGeom prst="line">
            <a:avLst/>
          </a:prstGeom>
          <a:noFill/>
          <a:ln w="72000" cap="flat">
            <a:solidFill>
              <a:srgbClr val="3465A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361" name="Line 25">
            <a:extLst>
              <a:ext uri="{FF2B5EF4-FFF2-40B4-BE49-F238E27FC236}">
                <a16:creationId xmlns:a16="http://schemas.microsoft.com/office/drawing/2014/main" id="{73EF76F4-359A-D841-015D-DB8D9FE837A0}"/>
              </a:ext>
            </a:extLst>
          </p:cNvPr>
          <p:cNvSpPr>
            <a:spLocks noChangeShapeType="1"/>
          </p:cNvSpPr>
          <p:nvPr/>
        </p:nvSpPr>
        <p:spPr bwMode="auto">
          <a:xfrm>
            <a:off x="7184603" y="3046934"/>
            <a:ext cx="435825" cy="216952"/>
          </a:xfrm>
          <a:prstGeom prst="line">
            <a:avLst/>
          </a:prstGeom>
          <a:noFill/>
          <a:ln w="72000" cap="flat">
            <a:solidFill>
              <a:srgbClr val="3465A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362" name="Line 26">
            <a:extLst>
              <a:ext uri="{FF2B5EF4-FFF2-40B4-BE49-F238E27FC236}">
                <a16:creationId xmlns:a16="http://schemas.microsoft.com/office/drawing/2014/main" id="{76062343-C134-27ED-F7E4-6AF333068B65}"/>
              </a:ext>
            </a:extLst>
          </p:cNvPr>
          <p:cNvSpPr>
            <a:spLocks noChangeShapeType="1"/>
          </p:cNvSpPr>
          <p:nvPr/>
        </p:nvSpPr>
        <p:spPr bwMode="auto">
          <a:xfrm flipH="1">
            <a:off x="8709030" y="2829982"/>
            <a:ext cx="871649" cy="435825"/>
          </a:xfrm>
          <a:prstGeom prst="line">
            <a:avLst/>
          </a:prstGeom>
          <a:noFill/>
          <a:ln w="72000" cap="flat">
            <a:solidFill>
              <a:srgbClr val="3465A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363" name="Line 27">
            <a:extLst>
              <a:ext uri="{FF2B5EF4-FFF2-40B4-BE49-F238E27FC236}">
                <a16:creationId xmlns:a16="http://schemas.microsoft.com/office/drawing/2014/main" id="{76C1B001-86DE-4693-2E6D-37EE6FF697AC}"/>
              </a:ext>
            </a:extLst>
          </p:cNvPr>
          <p:cNvSpPr>
            <a:spLocks noChangeShapeType="1"/>
          </p:cNvSpPr>
          <p:nvPr/>
        </p:nvSpPr>
        <p:spPr bwMode="auto">
          <a:xfrm>
            <a:off x="6531825" y="871650"/>
            <a:ext cx="216953" cy="1524427"/>
          </a:xfrm>
          <a:prstGeom prst="line">
            <a:avLst/>
          </a:prstGeom>
          <a:noFill/>
          <a:ln w="9525" cap="flat">
            <a:solidFill>
              <a:srgbClr val="FF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364" name="Line 28">
            <a:extLst>
              <a:ext uri="{FF2B5EF4-FFF2-40B4-BE49-F238E27FC236}">
                <a16:creationId xmlns:a16="http://schemas.microsoft.com/office/drawing/2014/main" id="{746085B3-6B0D-BAC7-ECC9-573A0A790D42}"/>
              </a:ext>
            </a:extLst>
          </p:cNvPr>
          <p:cNvSpPr>
            <a:spLocks noChangeShapeType="1"/>
          </p:cNvSpPr>
          <p:nvPr/>
        </p:nvSpPr>
        <p:spPr bwMode="auto">
          <a:xfrm>
            <a:off x="6449522" y="888403"/>
            <a:ext cx="1088603" cy="1088603"/>
          </a:xfrm>
          <a:prstGeom prst="line">
            <a:avLst/>
          </a:prstGeom>
          <a:noFill/>
          <a:ln w="9525" cap="flat">
            <a:solidFill>
              <a:srgbClr val="FF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365" name="Line 29">
            <a:extLst>
              <a:ext uri="{FF2B5EF4-FFF2-40B4-BE49-F238E27FC236}">
                <a16:creationId xmlns:a16="http://schemas.microsoft.com/office/drawing/2014/main" id="{604D23FE-A20F-6EC0-834F-F51344D829D8}"/>
              </a:ext>
            </a:extLst>
          </p:cNvPr>
          <p:cNvSpPr>
            <a:spLocks noChangeShapeType="1"/>
          </p:cNvSpPr>
          <p:nvPr/>
        </p:nvSpPr>
        <p:spPr bwMode="auto">
          <a:xfrm flipV="1">
            <a:off x="6965731" y="3267726"/>
            <a:ext cx="1088603" cy="1305554"/>
          </a:xfrm>
          <a:prstGeom prst="line">
            <a:avLst/>
          </a:prstGeom>
          <a:noFill/>
          <a:ln w="9525" cap="flat">
            <a:solidFill>
              <a:srgbClr val="FF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366" name="Text Box 30">
            <a:extLst>
              <a:ext uri="{FF2B5EF4-FFF2-40B4-BE49-F238E27FC236}">
                <a16:creationId xmlns:a16="http://schemas.microsoft.com/office/drawing/2014/main" id="{B0789EE5-34DC-F9E2-46FD-51D84E6A45C9}"/>
              </a:ext>
            </a:extLst>
          </p:cNvPr>
          <p:cNvSpPr txBox="1">
            <a:spLocks noChangeArrowheads="1"/>
          </p:cNvSpPr>
          <p:nvPr/>
        </p:nvSpPr>
        <p:spPr bwMode="auto">
          <a:xfrm>
            <a:off x="5551699" y="968080"/>
            <a:ext cx="2394157" cy="4646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431800" indent="-323850">
              <a:tabLst>
                <a:tab pos="449263" algn="l"/>
                <a:tab pos="898525" algn="l"/>
                <a:tab pos="1347788" algn="l"/>
                <a:tab pos="1797050" algn="l"/>
              </a:tabLst>
              <a:defRPr>
                <a:solidFill>
                  <a:srgbClr val="000000"/>
                </a:solidFill>
                <a:latin typeface="Nimbus Roman" pitchFamily="16" charset="0"/>
                <a:ea typeface="Nimbus Sans" charset="0"/>
                <a:cs typeface="Nimbus Sans" charset="0"/>
              </a:defRPr>
            </a:lvl1pPr>
            <a:lvl2pPr>
              <a:tabLst>
                <a:tab pos="449263" algn="l"/>
                <a:tab pos="898525" algn="l"/>
                <a:tab pos="1347788" algn="l"/>
                <a:tab pos="1797050" algn="l"/>
              </a:tabLst>
              <a:defRPr>
                <a:solidFill>
                  <a:srgbClr val="000000"/>
                </a:solidFill>
                <a:latin typeface="Nimbus Roman" pitchFamily="16" charset="0"/>
                <a:ea typeface="Nimbus Sans" charset="0"/>
                <a:cs typeface="Nimbus Sans" charset="0"/>
              </a:defRPr>
            </a:lvl2pPr>
            <a:lvl3pPr>
              <a:tabLst>
                <a:tab pos="449263" algn="l"/>
                <a:tab pos="898525" algn="l"/>
                <a:tab pos="1347788" algn="l"/>
                <a:tab pos="1797050" algn="l"/>
              </a:tabLst>
              <a:defRPr>
                <a:solidFill>
                  <a:srgbClr val="000000"/>
                </a:solidFill>
                <a:latin typeface="Nimbus Roman" pitchFamily="16" charset="0"/>
                <a:ea typeface="Nimbus Sans" charset="0"/>
                <a:cs typeface="Nimbus Sans" charset="0"/>
              </a:defRPr>
            </a:lvl3pPr>
            <a:lvl4pPr>
              <a:tabLst>
                <a:tab pos="449263" algn="l"/>
                <a:tab pos="898525" algn="l"/>
                <a:tab pos="1347788" algn="l"/>
                <a:tab pos="1797050" algn="l"/>
              </a:tabLst>
              <a:defRPr>
                <a:solidFill>
                  <a:srgbClr val="000000"/>
                </a:solidFill>
                <a:latin typeface="Nimbus Roman" pitchFamily="16" charset="0"/>
                <a:ea typeface="Nimbus Sans" charset="0"/>
                <a:cs typeface="Nimbus Sans" charset="0"/>
              </a:defRPr>
            </a:lvl4pPr>
            <a:lvl5pPr>
              <a:tabLst>
                <a:tab pos="449263" algn="l"/>
                <a:tab pos="898525" algn="l"/>
                <a:tab pos="1347788" algn="l"/>
                <a:tab pos="1797050" algn="l"/>
              </a:tabLst>
              <a:defRPr>
                <a:solidFill>
                  <a:srgbClr val="000000"/>
                </a:solidFill>
                <a:latin typeface="Nimbus Roman" pitchFamily="16" charset="0"/>
                <a:ea typeface="Nimbus Sans" charset="0"/>
                <a:cs typeface="Nimbus Sans" charset="0"/>
              </a:defRPr>
            </a:lvl5pPr>
            <a:lvl6pPr marL="25146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Nimbus Roman" pitchFamily="16" charset="0"/>
                <a:ea typeface="Nimbus Sans" charset="0"/>
                <a:cs typeface="Nimbus Sans" charset="0"/>
              </a:defRPr>
            </a:lvl6pPr>
            <a:lvl7pPr marL="29718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Nimbus Roman" pitchFamily="16" charset="0"/>
                <a:ea typeface="Nimbus Sans" charset="0"/>
                <a:cs typeface="Nimbus Sans" charset="0"/>
              </a:defRPr>
            </a:lvl7pPr>
            <a:lvl8pPr marL="34290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Nimbus Roman" pitchFamily="16" charset="0"/>
                <a:ea typeface="Nimbus Sans" charset="0"/>
                <a:cs typeface="Nimbus Sans" charset="0"/>
              </a:defRPr>
            </a:lvl8pPr>
            <a:lvl9pPr marL="38862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Nimbus Roman" pitchFamily="16" charset="0"/>
                <a:ea typeface="Nimbus Sans" charset="0"/>
                <a:cs typeface="Nimbus Sans" charset="0"/>
              </a:defRPr>
            </a:lvl9pPr>
          </a:lstStyle>
          <a:p>
            <a:pPr marL="431800" marR="0" lvl="0" indent="-323850" algn="l" defTabSz="914400" rtl="0" eaLnBrk="1" fontAlgn="auto" latinLnBrk="0" hangingPunct="1">
              <a:lnSpc>
                <a:spcPct val="116000"/>
              </a:lnSpc>
              <a:spcBef>
                <a:spcPts val="1723"/>
              </a:spcBef>
              <a:spcAft>
                <a:spcPts val="0"/>
              </a:spcAft>
              <a:buClr>
                <a:srgbClr val="FFFFFF"/>
              </a:buClr>
              <a:buSzPct val="45000"/>
              <a:buFontTx/>
              <a:buNone/>
              <a:tabLst>
                <a:tab pos="449263" algn="l"/>
                <a:tab pos="898525" algn="l"/>
                <a:tab pos="1347788" algn="l"/>
                <a:tab pos="1797050" algn="l"/>
              </a:tabLst>
              <a:defRPr/>
            </a:pPr>
            <a:r>
              <a:rPr kumimoji="0" lang="en-GB" altLang="en-US" sz="3200" b="0" i="0" u="none" strike="noStrike" kern="1200" cap="none" spc="0" normalizeH="0" baseline="0" noProof="0" dirty="0">
                <a:ln>
                  <a:noFill/>
                </a:ln>
                <a:solidFill>
                  <a:schemeClr val="tx1"/>
                </a:solidFill>
                <a:effectLst/>
                <a:uLnTx/>
                <a:uFillTx/>
                <a:latin typeface="Comic Sans MS" panose="030F0902030302020204" pitchFamily="66" charset="0"/>
              </a:rPr>
              <a:t>Water Vapour</a:t>
            </a:r>
          </a:p>
        </p:txBody>
      </p:sp>
      <p:sp>
        <p:nvSpPr>
          <p:cNvPr id="14367" name="Text Box 31">
            <a:extLst>
              <a:ext uri="{FF2B5EF4-FFF2-40B4-BE49-F238E27FC236}">
                <a16:creationId xmlns:a16="http://schemas.microsoft.com/office/drawing/2014/main" id="{714E1F19-ED5A-DF0F-C008-376788AD92E7}"/>
              </a:ext>
            </a:extLst>
          </p:cNvPr>
          <p:cNvSpPr txBox="1">
            <a:spLocks noChangeArrowheads="1"/>
          </p:cNvSpPr>
          <p:nvPr/>
        </p:nvSpPr>
        <p:spPr bwMode="auto">
          <a:xfrm>
            <a:off x="5590801" y="3705452"/>
            <a:ext cx="2860231" cy="652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431800" indent="-323850">
              <a:tabLst>
                <a:tab pos="449263" algn="l"/>
                <a:tab pos="898525" algn="l"/>
                <a:tab pos="1347788" algn="l"/>
                <a:tab pos="1797050" algn="l"/>
                <a:tab pos="2246313" algn="l"/>
                <a:tab pos="2695575" algn="l"/>
              </a:tabLst>
              <a:defRPr>
                <a:solidFill>
                  <a:srgbClr val="000000"/>
                </a:solidFill>
                <a:latin typeface="Nimbus Roman" pitchFamily="16" charset="0"/>
                <a:ea typeface="Nimbus Sans" charset="0"/>
                <a:cs typeface="Nimbus Sans" charset="0"/>
              </a:defRPr>
            </a:lvl1pPr>
            <a:lvl2pPr>
              <a:tabLst>
                <a:tab pos="449263" algn="l"/>
                <a:tab pos="898525" algn="l"/>
                <a:tab pos="1347788" algn="l"/>
                <a:tab pos="1797050" algn="l"/>
                <a:tab pos="2246313" algn="l"/>
                <a:tab pos="2695575" algn="l"/>
              </a:tabLst>
              <a:defRPr>
                <a:solidFill>
                  <a:srgbClr val="000000"/>
                </a:solidFill>
                <a:latin typeface="Nimbus Roman" pitchFamily="16" charset="0"/>
                <a:ea typeface="Nimbus Sans" charset="0"/>
                <a:cs typeface="Nimbus Sans" charset="0"/>
              </a:defRPr>
            </a:lvl2pPr>
            <a:lvl3pPr>
              <a:tabLst>
                <a:tab pos="449263" algn="l"/>
                <a:tab pos="898525" algn="l"/>
                <a:tab pos="1347788" algn="l"/>
                <a:tab pos="1797050" algn="l"/>
                <a:tab pos="2246313" algn="l"/>
                <a:tab pos="2695575" algn="l"/>
              </a:tabLst>
              <a:defRPr>
                <a:solidFill>
                  <a:srgbClr val="000000"/>
                </a:solidFill>
                <a:latin typeface="Nimbus Roman" pitchFamily="16" charset="0"/>
                <a:ea typeface="Nimbus Sans" charset="0"/>
                <a:cs typeface="Nimbus Sans" charset="0"/>
              </a:defRPr>
            </a:lvl3pPr>
            <a:lvl4pPr>
              <a:tabLst>
                <a:tab pos="449263" algn="l"/>
                <a:tab pos="898525" algn="l"/>
                <a:tab pos="1347788" algn="l"/>
                <a:tab pos="1797050" algn="l"/>
                <a:tab pos="2246313" algn="l"/>
                <a:tab pos="2695575" algn="l"/>
              </a:tabLst>
              <a:defRPr>
                <a:solidFill>
                  <a:srgbClr val="000000"/>
                </a:solidFill>
                <a:latin typeface="Nimbus Roman" pitchFamily="16" charset="0"/>
                <a:ea typeface="Nimbus Sans" charset="0"/>
                <a:cs typeface="Nimbus Sans" charset="0"/>
              </a:defRPr>
            </a:lvl4pPr>
            <a:lvl5pPr>
              <a:tabLst>
                <a:tab pos="449263" algn="l"/>
                <a:tab pos="898525" algn="l"/>
                <a:tab pos="1347788" algn="l"/>
                <a:tab pos="1797050" algn="l"/>
                <a:tab pos="2246313" algn="l"/>
                <a:tab pos="2695575" algn="l"/>
              </a:tabLst>
              <a:defRPr>
                <a:solidFill>
                  <a:srgbClr val="000000"/>
                </a:solidFill>
                <a:latin typeface="Nimbus Roman" pitchFamily="16" charset="0"/>
                <a:ea typeface="Nimbus Sans" charset="0"/>
                <a:cs typeface="Nimbus Sans" charset="0"/>
              </a:defRPr>
            </a:lvl5pPr>
            <a:lvl6pPr marL="25146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a:solidFill>
                  <a:srgbClr val="000000"/>
                </a:solidFill>
                <a:latin typeface="Nimbus Roman" pitchFamily="16" charset="0"/>
                <a:ea typeface="Nimbus Sans" charset="0"/>
                <a:cs typeface="Nimbus Sans" charset="0"/>
              </a:defRPr>
            </a:lvl6pPr>
            <a:lvl7pPr marL="29718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a:solidFill>
                  <a:srgbClr val="000000"/>
                </a:solidFill>
                <a:latin typeface="Nimbus Roman" pitchFamily="16" charset="0"/>
                <a:ea typeface="Nimbus Sans" charset="0"/>
                <a:cs typeface="Nimbus Sans" charset="0"/>
              </a:defRPr>
            </a:lvl7pPr>
            <a:lvl8pPr marL="34290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a:solidFill>
                  <a:srgbClr val="000000"/>
                </a:solidFill>
                <a:latin typeface="Nimbus Roman" pitchFamily="16" charset="0"/>
                <a:ea typeface="Nimbus Sans" charset="0"/>
                <a:cs typeface="Nimbus Sans" charset="0"/>
              </a:defRPr>
            </a:lvl8pPr>
            <a:lvl9pPr marL="38862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a:solidFill>
                  <a:srgbClr val="000000"/>
                </a:solidFill>
                <a:latin typeface="Nimbus Roman" pitchFamily="16" charset="0"/>
                <a:ea typeface="Nimbus Sans" charset="0"/>
                <a:cs typeface="Nimbus Sans" charset="0"/>
              </a:defRPr>
            </a:lvl9pPr>
          </a:lstStyle>
          <a:p>
            <a:pPr marL="431800" marR="0" lvl="0" indent="-323850" algn="l" defTabSz="914400" rtl="0" eaLnBrk="1" fontAlgn="auto" latinLnBrk="0" hangingPunct="1">
              <a:lnSpc>
                <a:spcPct val="116000"/>
              </a:lnSpc>
              <a:spcBef>
                <a:spcPts val="1723"/>
              </a:spcBef>
              <a:spcAft>
                <a:spcPts val="0"/>
              </a:spcAft>
              <a:buClr>
                <a:srgbClr val="FFFFFF"/>
              </a:buClr>
              <a:buSzPct val="45000"/>
              <a:buFontTx/>
              <a:buNone/>
              <a:tabLst>
                <a:tab pos="449263" algn="l"/>
                <a:tab pos="898525" algn="l"/>
                <a:tab pos="1347788" algn="l"/>
                <a:tab pos="1797050" algn="l"/>
                <a:tab pos="2246313" algn="l"/>
                <a:tab pos="2695575" algn="l"/>
              </a:tabLst>
              <a:defRPr/>
            </a:pPr>
            <a:r>
              <a:rPr kumimoji="0" lang="en-GB" altLang="en-US" sz="3200" b="0" i="0" u="none" strike="noStrike" kern="1200" cap="none" spc="0" normalizeH="0" baseline="0" noProof="0" dirty="0">
                <a:ln>
                  <a:noFill/>
                </a:ln>
                <a:solidFill>
                  <a:schemeClr val="tx1"/>
                </a:solidFill>
                <a:effectLst/>
                <a:uLnTx/>
                <a:uFillTx/>
                <a:latin typeface="Comic Sans MS" panose="030F0902030302020204" pitchFamily="66" charset="0"/>
              </a:rPr>
              <a:t>Aerosol particle as condensation nuclei</a:t>
            </a:r>
          </a:p>
        </p:txBody>
      </p:sp>
      <p:sp>
        <p:nvSpPr>
          <p:cNvPr id="2" name="Freeform 13">
            <a:extLst>
              <a:ext uri="{FF2B5EF4-FFF2-40B4-BE49-F238E27FC236}">
                <a16:creationId xmlns:a16="http://schemas.microsoft.com/office/drawing/2014/main" id="{CAE167EA-8D7B-280E-3A51-60E6A740387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a:extLst>
              <a:ext uri="{FF2B5EF4-FFF2-40B4-BE49-F238E27FC236}">
                <a16:creationId xmlns:a16="http://schemas.microsoft.com/office/drawing/2014/main" id="{ACEAC6DA-6F2E-737F-17B9-629EF1D8B1A9}"/>
              </a:ext>
            </a:extLst>
          </p:cNvPr>
          <p:cNvSpPr>
            <a:spLocks noGrp="1" noChangeArrowheads="1"/>
          </p:cNvSpPr>
          <p:nvPr>
            <p:ph type="body"/>
          </p:nvPr>
        </p:nvSpPr>
        <p:spPr>
          <a:xfrm>
            <a:off x="-47104" y="4365104"/>
            <a:ext cx="6095787" cy="2177204"/>
          </a:xfrm>
          <a:ln/>
        </p:spPr>
        <p:txBody>
          <a:bodyPr anchor="t">
            <a:normAutofit lnSpcReduction="10000"/>
          </a:bodyPr>
          <a:lstStyle/>
          <a:p>
            <a:pPr marL="522219" indent="-391664" algn="l">
              <a:spcBef>
                <a:spcPts val="1723"/>
              </a:spcBef>
              <a:buClr>
                <a:srgbClr val="FFFFFF"/>
              </a:buClr>
              <a:buSzPct val="45000"/>
              <a:buFont typeface="Wingdings" pitchFamily="2" charset="2"/>
              <a:buChar char=""/>
              <a:tabLst>
                <a:tab pos="543339" algn="l"/>
                <a:tab pos="1086676" algn="l"/>
                <a:tab pos="1630015" algn="l"/>
                <a:tab pos="2173352" algn="l"/>
                <a:tab pos="2716691" algn="l"/>
                <a:tab pos="3260028" algn="l"/>
                <a:tab pos="3803367" algn="l"/>
                <a:tab pos="4346705" algn="l"/>
                <a:tab pos="4890043" algn="l"/>
                <a:tab pos="5433381" algn="l"/>
                <a:tab pos="5976719" algn="l"/>
              </a:tabLst>
            </a:pPr>
            <a:r>
              <a:rPr lang="en-GB" altLang="en-US" sz="2400" dirty="0">
                <a:latin typeface="Calibri" panose="020F0502020204030204" pitchFamily="34" charset="0"/>
                <a:cs typeface="Calibri" panose="020F0502020204030204" pitchFamily="34" charset="0"/>
              </a:rPr>
              <a:t>Small number of nuclei means all the water vapour is concentrated on a small number of particles.</a:t>
            </a:r>
          </a:p>
          <a:p>
            <a:pPr marL="522219" indent="-391664" algn="l">
              <a:spcBef>
                <a:spcPts val="1723"/>
              </a:spcBef>
              <a:buClr>
                <a:srgbClr val="FFFFFF"/>
              </a:buClr>
              <a:buSzPct val="45000"/>
              <a:buFont typeface="Wingdings" pitchFamily="2" charset="2"/>
              <a:buChar char=""/>
              <a:tabLst>
                <a:tab pos="543339" algn="l"/>
                <a:tab pos="1086676" algn="l"/>
                <a:tab pos="1630015" algn="l"/>
                <a:tab pos="2173352" algn="l"/>
                <a:tab pos="2716691" algn="l"/>
                <a:tab pos="3260028" algn="l"/>
                <a:tab pos="3803367" algn="l"/>
                <a:tab pos="4346705" algn="l"/>
                <a:tab pos="4890043" algn="l"/>
                <a:tab pos="5433381" algn="l"/>
                <a:tab pos="5976719" algn="l"/>
              </a:tabLst>
            </a:pPr>
            <a:r>
              <a:rPr lang="en-GB" altLang="en-US" sz="2400" dirty="0">
                <a:latin typeface="Calibri" panose="020F0502020204030204" pitchFamily="34" charset="0"/>
                <a:cs typeface="Calibri" panose="020F0502020204030204" pitchFamily="34" charset="0"/>
              </a:rPr>
              <a:t>Leads to a smaller number of bigger drops, which causes more transmission and absorption of light.</a:t>
            </a:r>
          </a:p>
        </p:txBody>
      </p:sp>
      <p:grpSp>
        <p:nvGrpSpPr>
          <p:cNvPr id="15362" name="Group 2">
            <a:extLst>
              <a:ext uri="{FF2B5EF4-FFF2-40B4-BE49-F238E27FC236}">
                <a16:creationId xmlns:a16="http://schemas.microsoft.com/office/drawing/2014/main" id="{2BA94737-2EF1-7AB3-ABD1-AB8C4F3FBAD6}"/>
              </a:ext>
            </a:extLst>
          </p:cNvPr>
          <p:cNvGrpSpPr>
            <a:grpSpLocks/>
          </p:cNvGrpSpPr>
          <p:nvPr/>
        </p:nvGrpSpPr>
        <p:grpSpPr bwMode="auto">
          <a:xfrm>
            <a:off x="3266020" y="1881535"/>
            <a:ext cx="729574" cy="673897"/>
            <a:chOff x="1701" y="980"/>
            <a:chExt cx="380" cy="351"/>
          </a:xfrm>
        </p:grpSpPr>
        <p:sp>
          <p:nvSpPr>
            <p:cNvPr id="15363" name="Oval 3">
              <a:extLst>
                <a:ext uri="{FF2B5EF4-FFF2-40B4-BE49-F238E27FC236}">
                  <a16:creationId xmlns:a16="http://schemas.microsoft.com/office/drawing/2014/main" id="{F60237A1-AD99-061A-CBBC-2DEFCAE92156}"/>
                </a:ext>
              </a:extLst>
            </p:cNvPr>
            <p:cNvSpPr>
              <a:spLocks noChangeArrowheads="1"/>
            </p:cNvSpPr>
            <p:nvPr/>
          </p:nvSpPr>
          <p:spPr bwMode="auto">
            <a:xfrm rot="15780000">
              <a:off x="1708" y="988"/>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364" name="Oval 4">
              <a:extLst>
                <a:ext uri="{FF2B5EF4-FFF2-40B4-BE49-F238E27FC236}">
                  <a16:creationId xmlns:a16="http://schemas.microsoft.com/office/drawing/2014/main" id="{8F3EF29B-BEE0-7090-6074-5E168020E958}"/>
                </a:ext>
              </a:extLst>
            </p:cNvPr>
            <p:cNvSpPr>
              <a:spLocks noChangeArrowheads="1"/>
            </p:cNvSpPr>
            <p:nvPr/>
          </p:nvSpPr>
          <p:spPr bwMode="auto">
            <a:xfrm rot="15780000">
              <a:off x="1962" y="1184"/>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365" name="Oval 5">
              <a:extLst>
                <a:ext uri="{FF2B5EF4-FFF2-40B4-BE49-F238E27FC236}">
                  <a16:creationId xmlns:a16="http://schemas.microsoft.com/office/drawing/2014/main" id="{518A770D-5CF3-EB58-73F9-2143EF48BA15}"/>
                </a:ext>
              </a:extLst>
            </p:cNvPr>
            <p:cNvSpPr>
              <a:spLocks noChangeArrowheads="1"/>
            </p:cNvSpPr>
            <p:nvPr/>
          </p:nvSpPr>
          <p:spPr bwMode="auto">
            <a:xfrm rot="15780000">
              <a:off x="1729" y="1092"/>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366" name="Group 6">
            <a:extLst>
              <a:ext uri="{FF2B5EF4-FFF2-40B4-BE49-F238E27FC236}">
                <a16:creationId xmlns:a16="http://schemas.microsoft.com/office/drawing/2014/main" id="{8E1F7AAC-DE20-9786-524E-6ACCCEFBEA45}"/>
              </a:ext>
            </a:extLst>
          </p:cNvPr>
          <p:cNvGrpSpPr>
            <a:grpSpLocks/>
          </p:cNvGrpSpPr>
          <p:nvPr/>
        </p:nvGrpSpPr>
        <p:grpSpPr bwMode="auto">
          <a:xfrm>
            <a:off x="2494208" y="1964093"/>
            <a:ext cx="756454" cy="679656"/>
            <a:chOff x="1299" y="1023"/>
            <a:chExt cx="394" cy="354"/>
          </a:xfrm>
        </p:grpSpPr>
        <p:sp>
          <p:nvSpPr>
            <p:cNvPr id="15367" name="Oval 7">
              <a:extLst>
                <a:ext uri="{FF2B5EF4-FFF2-40B4-BE49-F238E27FC236}">
                  <a16:creationId xmlns:a16="http://schemas.microsoft.com/office/drawing/2014/main" id="{AC9701EA-D1F8-996A-1E41-6CCBE03CE928}"/>
                </a:ext>
              </a:extLst>
            </p:cNvPr>
            <p:cNvSpPr>
              <a:spLocks noChangeArrowheads="1"/>
            </p:cNvSpPr>
            <p:nvPr/>
          </p:nvSpPr>
          <p:spPr bwMode="auto">
            <a:xfrm rot="11400000">
              <a:off x="1310" y="1216"/>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368" name="Oval 8">
              <a:extLst>
                <a:ext uri="{FF2B5EF4-FFF2-40B4-BE49-F238E27FC236}">
                  <a16:creationId xmlns:a16="http://schemas.microsoft.com/office/drawing/2014/main" id="{A3AC2659-52A5-122A-6938-9D3BDAA56F1E}"/>
                </a:ext>
              </a:extLst>
            </p:cNvPr>
            <p:cNvSpPr>
              <a:spLocks noChangeArrowheads="1"/>
            </p:cNvSpPr>
            <p:nvPr/>
          </p:nvSpPr>
          <p:spPr bwMode="auto">
            <a:xfrm rot="11400000">
              <a:off x="1573" y="1033"/>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369" name="Oval 9">
              <a:extLst>
                <a:ext uri="{FF2B5EF4-FFF2-40B4-BE49-F238E27FC236}">
                  <a16:creationId xmlns:a16="http://schemas.microsoft.com/office/drawing/2014/main" id="{0AC2F6E8-E994-D051-80EE-1EDD768DCB12}"/>
                </a:ext>
              </a:extLst>
            </p:cNvPr>
            <p:cNvSpPr>
              <a:spLocks noChangeArrowheads="1"/>
            </p:cNvSpPr>
            <p:nvPr/>
          </p:nvSpPr>
          <p:spPr bwMode="auto">
            <a:xfrm rot="11400000">
              <a:off x="1430" y="1133"/>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370" name="Group 10">
            <a:extLst>
              <a:ext uri="{FF2B5EF4-FFF2-40B4-BE49-F238E27FC236}">
                <a16:creationId xmlns:a16="http://schemas.microsoft.com/office/drawing/2014/main" id="{E399F859-A23B-DA17-BCE0-1157E7EE292E}"/>
              </a:ext>
            </a:extLst>
          </p:cNvPr>
          <p:cNvGrpSpPr>
            <a:grpSpLocks/>
          </p:cNvGrpSpPr>
          <p:nvPr/>
        </p:nvGrpSpPr>
        <p:grpSpPr bwMode="auto">
          <a:xfrm>
            <a:off x="2089101" y="1958331"/>
            <a:ext cx="687336" cy="823652"/>
            <a:chOff x="1088" y="1020"/>
            <a:chExt cx="358" cy="429"/>
          </a:xfrm>
        </p:grpSpPr>
        <p:sp>
          <p:nvSpPr>
            <p:cNvPr id="15371" name="Oval 11">
              <a:extLst>
                <a:ext uri="{FF2B5EF4-FFF2-40B4-BE49-F238E27FC236}">
                  <a16:creationId xmlns:a16="http://schemas.microsoft.com/office/drawing/2014/main" id="{6D3BDA51-7592-0135-3012-4EEBEC3FDBA2}"/>
                </a:ext>
              </a:extLst>
            </p:cNvPr>
            <p:cNvSpPr>
              <a:spLocks noChangeArrowheads="1"/>
            </p:cNvSpPr>
            <p:nvPr/>
          </p:nvSpPr>
          <p:spPr bwMode="auto">
            <a:xfrm rot="9720000">
              <a:off x="1105" y="1323"/>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372" name="Oval 12">
              <a:extLst>
                <a:ext uri="{FF2B5EF4-FFF2-40B4-BE49-F238E27FC236}">
                  <a16:creationId xmlns:a16="http://schemas.microsoft.com/office/drawing/2014/main" id="{57133A5B-BD17-B0B9-4885-80506E3093F8}"/>
                </a:ext>
              </a:extLst>
            </p:cNvPr>
            <p:cNvSpPr>
              <a:spLocks noChangeArrowheads="1"/>
            </p:cNvSpPr>
            <p:nvPr/>
          </p:nvSpPr>
          <p:spPr bwMode="auto">
            <a:xfrm rot="9720000">
              <a:off x="1249" y="1036"/>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373" name="Oval 13">
              <a:extLst>
                <a:ext uri="{FF2B5EF4-FFF2-40B4-BE49-F238E27FC236}">
                  <a16:creationId xmlns:a16="http://schemas.microsoft.com/office/drawing/2014/main" id="{D5FF0D73-85C9-9719-C000-3D54D4286527}"/>
                </a:ext>
              </a:extLst>
            </p:cNvPr>
            <p:cNvSpPr>
              <a:spLocks noChangeArrowheads="1"/>
            </p:cNvSpPr>
            <p:nvPr/>
          </p:nvSpPr>
          <p:spPr bwMode="auto">
            <a:xfrm rot="9720000">
              <a:off x="1191" y="1159"/>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374" name="Group 14">
            <a:extLst>
              <a:ext uri="{FF2B5EF4-FFF2-40B4-BE49-F238E27FC236}">
                <a16:creationId xmlns:a16="http://schemas.microsoft.com/office/drawing/2014/main" id="{9A51C365-A222-23A1-A0B1-EB982C8ACE13}"/>
              </a:ext>
            </a:extLst>
          </p:cNvPr>
          <p:cNvGrpSpPr>
            <a:grpSpLocks/>
          </p:cNvGrpSpPr>
          <p:nvPr/>
        </p:nvGrpSpPr>
        <p:grpSpPr bwMode="auto">
          <a:xfrm>
            <a:off x="2751478" y="1449550"/>
            <a:ext cx="729574" cy="673896"/>
            <a:chOff x="1433" y="755"/>
            <a:chExt cx="380" cy="351"/>
          </a:xfrm>
        </p:grpSpPr>
        <p:sp>
          <p:nvSpPr>
            <p:cNvPr id="15375" name="Oval 15">
              <a:extLst>
                <a:ext uri="{FF2B5EF4-FFF2-40B4-BE49-F238E27FC236}">
                  <a16:creationId xmlns:a16="http://schemas.microsoft.com/office/drawing/2014/main" id="{6E8507FB-C00A-5887-EC54-B29B1CCFCC78}"/>
                </a:ext>
              </a:extLst>
            </p:cNvPr>
            <p:cNvSpPr>
              <a:spLocks noChangeArrowheads="1"/>
            </p:cNvSpPr>
            <p:nvPr/>
          </p:nvSpPr>
          <p:spPr bwMode="auto">
            <a:xfrm rot="15780000">
              <a:off x="1441" y="763"/>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376" name="Oval 16">
              <a:extLst>
                <a:ext uri="{FF2B5EF4-FFF2-40B4-BE49-F238E27FC236}">
                  <a16:creationId xmlns:a16="http://schemas.microsoft.com/office/drawing/2014/main" id="{938024DF-D6B9-F75A-695E-BA8AFBAF5B14}"/>
                </a:ext>
              </a:extLst>
            </p:cNvPr>
            <p:cNvSpPr>
              <a:spLocks noChangeArrowheads="1"/>
            </p:cNvSpPr>
            <p:nvPr/>
          </p:nvSpPr>
          <p:spPr bwMode="auto">
            <a:xfrm rot="15780000">
              <a:off x="1695" y="959"/>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377" name="Oval 17">
              <a:extLst>
                <a:ext uri="{FF2B5EF4-FFF2-40B4-BE49-F238E27FC236}">
                  <a16:creationId xmlns:a16="http://schemas.microsoft.com/office/drawing/2014/main" id="{DC28D850-7257-F532-FEBD-A9ED8531F044}"/>
                </a:ext>
              </a:extLst>
            </p:cNvPr>
            <p:cNvSpPr>
              <a:spLocks noChangeArrowheads="1"/>
            </p:cNvSpPr>
            <p:nvPr/>
          </p:nvSpPr>
          <p:spPr bwMode="auto">
            <a:xfrm rot="15780000">
              <a:off x="1462" y="867"/>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378" name="Group 18">
            <a:extLst>
              <a:ext uri="{FF2B5EF4-FFF2-40B4-BE49-F238E27FC236}">
                <a16:creationId xmlns:a16="http://schemas.microsoft.com/office/drawing/2014/main" id="{EA3D9ADB-C2EF-A936-EC5C-868F03C5F30E}"/>
              </a:ext>
            </a:extLst>
          </p:cNvPr>
          <p:cNvGrpSpPr>
            <a:grpSpLocks/>
          </p:cNvGrpSpPr>
          <p:nvPr/>
        </p:nvGrpSpPr>
        <p:grpSpPr bwMode="auto">
          <a:xfrm>
            <a:off x="2227336" y="2716705"/>
            <a:ext cx="867810" cy="681576"/>
            <a:chOff x="1160" y="1415"/>
            <a:chExt cx="452" cy="355"/>
          </a:xfrm>
        </p:grpSpPr>
        <p:sp>
          <p:nvSpPr>
            <p:cNvPr id="15379" name="Oval 19">
              <a:extLst>
                <a:ext uri="{FF2B5EF4-FFF2-40B4-BE49-F238E27FC236}">
                  <a16:creationId xmlns:a16="http://schemas.microsoft.com/office/drawing/2014/main" id="{AE080A60-A1BF-DDD6-2008-DCF59811A923}"/>
                </a:ext>
              </a:extLst>
            </p:cNvPr>
            <p:cNvSpPr>
              <a:spLocks noChangeArrowheads="1"/>
            </p:cNvSpPr>
            <p:nvPr/>
          </p:nvSpPr>
          <p:spPr bwMode="auto">
            <a:xfrm rot="3900000">
              <a:off x="1482" y="1637"/>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380" name="Oval 20">
              <a:extLst>
                <a:ext uri="{FF2B5EF4-FFF2-40B4-BE49-F238E27FC236}">
                  <a16:creationId xmlns:a16="http://schemas.microsoft.com/office/drawing/2014/main" id="{A3BAFDD9-4CD9-79A7-E0D3-26053F71707E}"/>
                </a:ext>
              </a:extLst>
            </p:cNvPr>
            <p:cNvSpPr>
              <a:spLocks noChangeArrowheads="1"/>
            </p:cNvSpPr>
            <p:nvPr/>
          </p:nvSpPr>
          <p:spPr bwMode="auto">
            <a:xfrm rot="3900000">
              <a:off x="1180" y="1529"/>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381" name="Oval 21">
              <a:extLst>
                <a:ext uri="{FF2B5EF4-FFF2-40B4-BE49-F238E27FC236}">
                  <a16:creationId xmlns:a16="http://schemas.microsoft.com/office/drawing/2014/main" id="{557F55F9-C993-27ED-9EC1-59090F7114B6}"/>
                </a:ext>
              </a:extLst>
            </p:cNvPr>
            <p:cNvSpPr>
              <a:spLocks noChangeArrowheads="1"/>
            </p:cNvSpPr>
            <p:nvPr/>
          </p:nvSpPr>
          <p:spPr bwMode="auto">
            <a:xfrm rot="3900000">
              <a:off x="1301" y="1452"/>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382" name="Group 22">
            <a:extLst>
              <a:ext uri="{FF2B5EF4-FFF2-40B4-BE49-F238E27FC236}">
                <a16:creationId xmlns:a16="http://schemas.microsoft.com/office/drawing/2014/main" id="{7A948672-6C26-D79B-D46E-C7BBD9664831}"/>
              </a:ext>
            </a:extLst>
          </p:cNvPr>
          <p:cNvGrpSpPr>
            <a:grpSpLocks/>
          </p:cNvGrpSpPr>
          <p:nvPr/>
        </p:nvGrpSpPr>
        <p:grpSpPr bwMode="auto">
          <a:xfrm>
            <a:off x="2277254" y="1455309"/>
            <a:ext cx="652777" cy="654698"/>
            <a:chOff x="1186" y="758"/>
            <a:chExt cx="340" cy="341"/>
          </a:xfrm>
        </p:grpSpPr>
        <p:sp>
          <p:nvSpPr>
            <p:cNvPr id="15383" name="Oval 23">
              <a:extLst>
                <a:ext uri="{FF2B5EF4-FFF2-40B4-BE49-F238E27FC236}">
                  <a16:creationId xmlns:a16="http://schemas.microsoft.com/office/drawing/2014/main" id="{5C956352-6ED3-C341-7F5F-272D7928AC8D}"/>
                </a:ext>
              </a:extLst>
            </p:cNvPr>
            <p:cNvSpPr>
              <a:spLocks noChangeArrowheads="1"/>
            </p:cNvSpPr>
            <p:nvPr/>
          </p:nvSpPr>
          <p:spPr bwMode="auto">
            <a:xfrm rot="10800000">
              <a:off x="1186" y="987"/>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384" name="Oval 24">
              <a:extLst>
                <a:ext uri="{FF2B5EF4-FFF2-40B4-BE49-F238E27FC236}">
                  <a16:creationId xmlns:a16="http://schemas.microsoft.com/office/drawing/2014/main" id="{07A209A4-D336-FA1A-CB95-7C14CAE05B47}"/>
                </a:ext>
              </a:extLst>
            </p:cNvPr>
            <p:cNvSpPr>
              <a:spLocks noChangeArrowheads="1"/>
            </p:cNvSpPr>
            <p:nvPr/>
          </p:nvSpPr>
          <p:spPr bwMode="auto">
            <a:xfrm rot="10800000">
              <a:off x="1412" y="760"/>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385" name="Oval 25">
              <a:extLst>
                <a:ext uri="{FF2B5EF4-FFF2-40B4-BE49-F238E27FC236}">
                  <a16:creationId xmlns:a16="http://schemas.microsoft.com/office/drawing/2014/main" id="{233F53FD-3FA6-215A-739F-12B369C8B63F}"/>
                </a:ext>
              </a:extLst>
            </p:cNvPr>
            <p:cNvSpPr>
              <a:spLocks noChangeArrowheads="1"/>
            </p:cNvSpPr>
            <p:nvPr/>
          </p:nvSpPr>
          <p:spPr bwMode="auto">
            <a:xfrm rot="10800000">
              <a:off x="1299" y="872"/>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386" name="Group 26">
            <a:extLst>
              <a:ext uri="{FF2B5EF4-FFF2-40B4-BE49-F238E27FC236}">
                <a16:creationId xmlns:a16="http://schemas.microsoft.com/office/drawing/2014/main" id="{CD8EDF75-DA09-E346-5C8A-966A0AD07B24}"/>
              </a:ext>
            </a:extLst>
          </p:cNvPr>
          <p:cNvGrpSpPr>
            <a:grpSpLocks/>
          </p:cNvGrpSpPr>
          <p:nvPr/>
        </p:nvGrpSpPr>
        <p:grpSpPr bwMode="auto">
          <a:xfrm>
            <a:off x="3047148" y="2313520"/>
            <a:ext cx="729574" cy="673896"/>
            <a:chOff x="1587" y="1205"/>
            <a:chExt cx="380" cy="351"/>
          </a:xfrm>
        </p:grpSpPr>
        <p:sp>
          <p:nvSpPr>
            <p:cNvPr id="15387" name="Oval 27">
              <a:extLst>
                <a:ext uri="{FF2B5EF4-FFF2-40B4-BE49-F238E27FC236}">
                  <a16:creationId xmlns:a16="http://schemas.microsoft.com/office/drawing/2014/main" id="{0E89A64E-85CC-AD8B-30DA-3B22D7F8AFC1}"/>
                </a:ext>
              </a:extLst>
            </p:cNvPr>
            <p:cNvSpPr>
              <a:spLocks noChangeArrowheads="1"/>
            </p:cNvSpPr>
            <p:nvPr/>
          </p:nvSpPr>
          <p:spPr bwMode="auto">
            <a:xfrm rot="15780000">
              <a:off x="1595" y="1213"/>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388" name="Oval 28">
              <a:extLst>
                <a:ext uri="{FF2B5EF4-FFF2-40B4-BE49-F238E27FC236}">
                  <a16:creationId xmlns:a16="http://schemas.microsoft.com/office/drawing/2014/main" id="{4BDDFD8F-55F6-EFC3-6828-A26062F1FDAF}"/>
                </a:ext>
              </a:extLst>
            </p:cNvPr>
            <p:cNvSpPr>
              <a:spLocks noChangeArrowheads="1"/>
            </p:cNvSpPr>
            <p:nvPr/>
          </p:nvSpPr>
          <p:spPr bwMode="auto">
            <a:xfrm rot="15780000">
              <a:off x="1849" y="1409"/>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389" name="Oval 29">
              <a:extLst>
                <a:ext uri="{FF2B5EF4-FFF2-40B4-BE49-F238E27FC236}">
                  <a16:creationId xmlns:a16="http://schemas.microsoft.com/office/drawing/2014/main" id="{5EFB200D-8867-E9BF-A788-A7DEB7789354}"/>
                </a:ext>
              </a:extLst>
            </p:cNvPr>
            <p:cNvSpPr>
              <a:spLocks noChangeArrowheads="1"/>
            </p:cNvSpPr>
            <p:nvPr/>
          </p:nvSpPr>
          <p:spPr bwMode="auto">
            <a:xfrm rot="15780000">
              <a:off x="1616" y="1317"/>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390" name="Group 30">
            <a:extLst>
              <a:ext uri="{FF2B5EF4-FFF2-40B4-BE49-F238E27FC236}">
                <a16:creationId xmlns:a16="http://schemas.microsoft.com/office/drawing/2014/main" id="{B5653F4B-9158-CE1A-1147-F349732ED2FE}"/>
              </a:ext>
            </a:extLst>
          </p:cNvPr>
          <p:cNvGrpSpPr>
            <a:grpSpLocks/>
          </p:cNvGrpSpPr>
          <p:nvPr/>
        </p:nvGrpSpPr>
        <p:grpSpPr bwMode="auto">
          <a:xfrm>
            <a:off x="2786037" y="2632229"/>
            <a:ext cx="840931" cy="685415"/>
            <a:chOff x="1451" y="1371"/>
            <a:chExt cx="438" cy="357"/>
          </a:xfrm>
        </p:grpSpPr>
        <p:sp>
          <p:nvSpPr>
            <p:cNvPr id="15391" name="Oval 31">
              <a:extLst>
                <a:ext uri="{FF2B5EF4-FFF2-40B4-BE49-F238E27FC236}">
                  <a16:creationId xmlns:a16="http://schemas.microsoft.com/office/drawing/2014/main" id="{F849AB80-C60A-FAE1-4223-A7DC8F87A6D0}"/>
                </a:ext>
              </a:extLst>
            </p:cNvPr>
            <p:cNvSpPr>
              <a:spLocks noChangeArrowheads="1"/>
            </p:cNvSpPr>
            <p:nvPr/>
          </p:nvSpPr>
          <p:spPr bwMode="auto">
            <a:xfrm rot="1260000">
              <a:off x="1760" y="1468"/>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392" name="Oval 32">
              <a:extLst>
                <a:ext uri="{FF2B5EF4-FFF2-40B4-BE49-F238E27FC236}">
                  <a16:creationId xmlns:a16="http://schemas.microsoft.com/office/drawing/2014/main" id="{68B0BF50-C81B-E973-14CB-4B78B49EC3EC}"/>
                </a:ext>
              </a:extLst>
            </p:cNvPr>
            <p:cNvSpPr>
              <a:spLocks noChangeArrowheads="1"/>
            </p:cNvSpPr>
            <p:nvPr/>
          </p:nvSpPr>
          <p:spPr bwMode="auto">
            <a:xfrm rot="1260000">
              <a:off x="1467" y="1599"/>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393" name="Oval 33">
              <a:extLst>
                <a:ext uri="{FF2B5EF4-FFF2-40B4-BE49-F238E27FC236}">
                  <a16:creationId xmlns:a16="http://schemas.microsoft.com/office/drawing/2014/main" id="{7FB1A4AA-C099-59FE-1AD9-1F5795769DE8}"/>
                </a:ext>
              </a:extLst>
            </p:cNvPr>
            <p:cNvSpPr>
              <a:spLocks noChangeArrowheads="1"/>
            </p:cNvSpPr>
            <p:nvPr/>
          </p:nvSpPr>
          <p:spPr bwMode="auto">
            <a:xfrm rot="1260000">
              <a:off x="1525" y="1404"/>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394" name="Group 34">
            <a:extLst>
              <a:ext uri="{FF2B5EF4-FFF2-40B4-BE49-F238E27FC236}">
                <a16:creationId xmlns:a16="http://schemas.microsoft.com/office/drawing/2014/main" id="{6A179A34-949C-E09C-D71A-96D1FAAD5EB3}"/>
              </a:ext>
            </a:extLst>
          </p:cNvPr>
          <p:cNvGrpSpPr>
            <a:grpSpLocks/>
          </p:cNvGrpSpPr>
          <p:nvPr/>
        </p:nvGrpSpPr>
        <p:grpSpPr bwMode="auto">
          <a:xfrm>
            <a:off x="3404256" y="1451470"/>
            <a:ext cx="729574" cy="673897"/>
            <a:chOff x="1773" y="756"/>
            <a:chExt cx="380" cy="351"/>
          </a:xfrm>
        </p:grpSpPr>
        <p:sp>
          <p:nvSpPr>
            <p:cNvPr id="15395" name="Oval 35">
              <a:extLst>
                <a:ext uri="{FF2B5EF4-FFF2-40B4-BE49-F238E27FC236}">
                  <a16:creationId xmlns:a16="http://schemas.microsoft.com/office/drawing/2014/main" id="{C8BD4970-E719-A9E4-B0AE-EBDA0CBCC350}"/>
                </a:ext>
              </a:extLst>
            </p:cNvPr>
            <p:cNvSpPr>
              <a:spLocks noChangeArrowheads="1"/>
            </p:cNvSpPr>
            <p:nvPr/>
          </p:nvSpPr>
          <p:spPr bwMode="auto">
            <a:xfrm rot="15780000">
              <a:off x="1781" y="764"/>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396" name="Oval 36">
              <a:extLst>
                <a:ext uri="{FF2B5EF4-FFF2-40B4-BE49-F238E27FC236}">
                  <a16:creationId xmlns:a16="http://schemas.microsoft.com/office/drawing/2014/main" id="{035B6C22-8AD4-83A4-6BCF-58B0531D606A}"/>
                </a:ext>
              </a:extLst>
            </p:cNvPr>
            <p:cNvSpPr>
              <a:spLocks noChangeArrowheads="1"/>
            </p:cNvSpPr>
            <p:nvPr/>
          </p:nvSpPr>
          <p:spPr bwMode="auto">
            <a:xfrm rot="15780000">
              <a:off x="2035" y="960"/>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397" name="Oval 37">
              <a:extLst>
                <a:ext uri="{FF2B5EF4-FFF2-40B4-BE49-F238E27FC236}">
                  <a16:creationId xmlns:a16="http://schemas.microsoft.com/office/drawing/2014/main" id="{1403CDD0-C149-A3BC-D245-05057C443FBA}"/>
                </a:ext>
              </a:extLst>
            </p:cNvPr>
            <p:cNvSpPr>
              <a:spLocks noChangeArrowheads="1"/>
            </p:cNvSpPr>
            <p:nvPr/>
          </p:nvSpPr>
          <p:spPr bwMode="auto">
            <a:xfrm rot="15780000">
              <a:off x="1802" y="867"/>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398" name="Group 38">
            <a:extLst>
              <a:ext uri="{FF2B5EF4-FFF2-40B4-BE49-F238E27FC236}">
                <a16:creationId xmlns:a16="http://schemas.microsoft.com/office/drawing/2014/main" id="{AF5F493B-548A-8EF6-F94D-E84A8C71D52B}"/>
              </a:ext>
            </a:extLst>
          </p:cNvPr>
          <p:cNvGrpSpPr>
            <a:grpSpLocks/>
          </p:cNvGrpSpPr>
          <p:nvPr/>
        </p:nvGrpSpPr>
        <p:grpSpPr bwMode="auto">
          <a:xfrm>
            <a:off x="1910548" y="2234802"/>
            <a:ext cx="729574" cy="673897"/>
            <a:chOff x="995" y="1164"/>
            <a:chExt cx="380" cy="351"/>
          </a:xfrm>
        </p:grpSpPr>
        <p:sp>
          <p:nvSpPr>
            <p:cNvPr id="15399" name="Oval 39">
              <a:extLst>
                <a:ext uri="{FF2B5EF4-FFF2-40B4-BE49-F238E27FC236}">
                  <a16:creationId xmlns:a16="http://schemas.microsoft.com/office/drawing/2014/main" id="{91538AB3-7041-DB10-79D0-33C598E1A487}"/>
                </a:ext>
              </a:extLst>
            </p:cNvPr>
            <p:cNvSpPr>
              <a:spLocks noChangeArrowheads="1"/>
            </p:cNvSpPr>
            <p:nvPr/>
          </p:nvSpPr>
          <p:spPr bwMode="auto">
            <a:xfrm rot="15780000">
              <a:off x="1002" y="1172"/>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00" name="Oval 40">
              <a:extLst>
                <a:ext uri="{FF2B5EF4-FFF2-40B4-BE49-F238E27FC236}">
                  <a16:creationId xmlns:a16="http://schemas.microsoft.com/office/drawing/2014/main" id="{FC0583C3-AF7C-9CDF-F06F-915F201B82A7}"/>
                </a:ext>
              </a:extLst>
            </p:cNvPr>
            <p:cNvSpPr>
              <a:spLocks noChangeArrowheads="1"/>
            </p:cNvSpPr>
            <p:nvPr/>
          </p:nvSpPr>
          <p:spPr bwMode="auto">
            <a:xfrm rot="15780000">
              <a:off x="1256" y="1368"/>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01" name="Oval 41">
              <a:extLst>
                <a:ext uri="{FF2B5EF4-FFF2-40B4-BE49-F238E27FC236}">
                  <a16:creationId xmlns:a16="http://schemas.microsoft.com/office/drawing/2014/main" id="{01942F95-844F-867B-DF4E-DEED917B196D}"/>
                </a:ext>
              </a:extLst>
            </p:cNvPr>
            <p:cNvSpPr>
              <a:spLocks noChangeArrowheads="1"/>
            </p:cNvSpPr>
            <p:nvPr/>
          </p:nvSpPr>
          <p:spPr bwMode="auto">
            <a:xfrm rot="15780000">
              <a:off x="1023" y="1276"/>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02" name="Group 42">
            <a:extLst>
              <a:ext uri="{FF2B5EF4-FFF2-40B4-BE49-F238E27FC236}">
                <a16:creationId xmlns:a16="http://schemas.microsoft.com/office/drawing/2014/main" id="{B044A4A0-AEE1-8002-1F98-C111AFF7819A}"/>
              </a:ext>
            </a:extLst>
          </p:cNvPr>
          <p:cNvGrpSpPr>
            <a:grpSpLocks/>
          </p:cNvGrpSpPr>
          <p:nvPr/>
        </p:nvGrpSpPr>
        <p:grpSpPr bwMode="auto">
          <a:xfrm>
            <a:off x="3482972" y="984926"/>
            <a:ext cx="729574" cy="673896"/>
            <a:chOff x="1814" y="513"/>
            <a:chExt cx="380" cy="351"/>
          </a:xfrm>
        </p:grpSpPr>
        <p:sp>
          <p:nvSpPr>
            <p:cNvPr id="15403" name="Oval 43">
              <a:extLst>
                <a:ext uri="{FF2B5EF4-FFF2-40B4-BE49-F238E27FC236}">
                  <a16:creationId xmlns:a16="http://schemas.microsoft.com/office/drawing/2014/main" id="{278B6498-CB0D-0A80-204E-A5D6692CD572}"/>
                </a:ext>
              </a:extLst>
            </p:cNvPr>
            <p:cNvSpPr>
              <a:spLocks noChangeArrowheads="1"/>
            </p:cNvSpPr>
            <p:nvPr/>
          </p:nvSpPr>
          <p:spPr bwMode="auto">
            <a:xfrm rot="15780000">
              <a:off x="1822" y="521"/>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04" name="Oval 44">
              <a:extLst>
                <a:ext uri="{FF2B5EF4-FFF2-40B4-BE49-F238E27FC236}">
                  <a16:creationId xmlns:a16="http://schemas.microsoft.com/office/drawing/2014/main" id="{4B524AD7-3FD3-6A2E-7395-383CFB8F9C49}"/>
                </a:ext>
              </a:extLst>
            </p:cNvPr>
            <p:cNvSpPr>
              <a:spLocks noChangeArrowheads="1"/>
            </p:cNvSpPr>
            <p:nvPr/>
          </p:nvSpPr>
          <p:spPr bwMode="auto">
            <a:xfrm rot="15780000">
              <a:off x="2076" y="717"/>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05" name="Oval 45">
              <a:extLst>
                <a:ext uri="{FF2B5EF4-FFF2-40B4-BE49-F238E27FC236}">
                  <a16:creationId xmlns:a16="http://schemas.microsoft.com/office/drawing/2014/main" id="{437FEE2C-922E-9C81-21D9-EAFF661252BC}"/>
                </a:ext>
              </a:extLst>
            </p:cNvPr>
            <p:cNvSpPr>
              <a:spLocks noChangeArrowheads="1"/>
            </p:cNvSpPr>
            <p:nvPr/>
          </p:nvSpPr>
          <p:spPr bwMode="auto">
            <a:xfrm rot="15780000">
              <a:off x="1843" y="625"/>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06" name="Group 46">
            <a:extLst>
              <a:ext uri="{FF2B5EF4-FFF2-40B4-BE49-F238E27FC236}">
                <a16:creationId xmlns:a16="http://schemas.microsoft.com/office/drawing/2014/main" id="{9CEDA44C-C24A-5EC7-FF69-9FB625154EE2}"/>
              </a:ext>
            </a:extLst>
          </p:cNvPr>
          <p:cNvGrpSpPr>
            <a:grpSpLocks/>
          </p:cNvGrpSpPr>
          <p:nvPr/>
        </p:nvGrpSpPr>
        <p:grpSpPr bwMode="auto">
          <a:xfrm>
            <a:off x="3004910" y="2722465"/>
            <a:ext cx="729574" cy="673897"/>
            <a:chOff x="1565" y="1418"/>
            <a:chExt cx="380" cy="351"/>
          </a:xfrm>
        </p:grpSpPr>
        <p:sp>
          <p:nvSpPr>
            <p:cNvPr id="15407" name="Oval 47">
              <a:extLst>
                <a:ext uri="{FF2B5EF4-FFF2-40B4-BE49-F238E27FC236}">
                  <a16:creationId xmlns:a16="http://schemas.microsoft.com/office/drawing/2014/main" id="{7C81E0B3-6BE9-5523-2512-B1F9E2D99B5D}"/>
                </a:ext>
              </a:extLst>
            </p:cNvPr>
            <p:cNvSpPr>
              <a:spLocks noChangeArrowheads="1"/>
            </p:cNvSpPr>
            <p:nvPr/>
          </p:nvSpPr>
          <p:spPr bwMode="auto">
            <a:xfrm rot="15780000">
              <a:off x="1572" y="1426"/>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08" name="Oval 48">
              <a:extLst>
                <a:ext uri="{FF2B5EF4-FFF2-40B4-BE49-F238E27FC236}">
                  <a16:creationId xmlns:a16="http://schemas.microsoft.com/office/drawing/2014/main" id="{CACCEB74-7124-F9C6-55E6-5D255DE85483}"/>
                </a:ext>
              </a:extLst>
            </p:cNvPr>
            <p:cNvSpPr>
              <a:spLocks noChangeArrowheads="1"/>
            </p:cNvSpPr>
            <p:nvPr/>
          </p:nvSpPr>
          <p:spPr bwMode="auto">
            <a:xfrm rot="15780000">
              <a:off x="1826" y="1622"/>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09" name="Oval 49">
              <a:extLst>
                <a:ext uri="{FF2B5EF4-FFF2-40B4-BE49-F238E27FC236}">
                  <a16:creationId xmlns:a16="http://schemas.microsoft.com/office/drawing/2014/main" id="{BB27259A-40D5-3EF5-F90A-393066AB9E04}"/>
                </a:ext>
              </a:extLst>
            </p:cNvPr>
            <p:cNvSpPr>
              <a:spLocks noChangeArrowheads="1"/>
            </p:cNvSpPr>
            <p:nvPr/>
          </p:nvSpPr>
          <p:spPr bwMode="auto">
            <a:xfrm rot="15780000">
              <a:off x="1593" y="1530"/>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10" name="Group 50">
            <a:extLst>
              <a:ext uri="{FF2B5EF4-FFF2-40B4-BE49-F238E27FC236}">
                <a16:creationId xmlns:a16="http://schemas.microsoft.com/office/drawing/2014/main" id="{B3017921-7FEB-AAEB-48D2-17CBA6B2F300}"/>
              </a:ext>
            </a:extLst>
          </p:cNvPr>
          <p:cNvGrpSpPr>
            <a:grpSpLocks/>
          </p:cNvGrpSpPr>
          <p:nvPr/>
        </p:nvGrpSpPr>
        <p:grpSpPr bwMode="auto">
          <a:xfrm>
            <a:off x="1831830" y="1741380"/>
            <a:ext cx="729574" cy="673896"/>
            <a:chOff x="954" y="907"/>
            <a:chExt cx="380" cy="351"/>
          </a:xfrm>
        </p:grpSpPr>
        <p:sp>
          <p:nvSpPr>
            <p:cNvPr id="15411" name="Oval 51">
              <a:extLst>
                <a:ext uri="{FF2B5EF4-FFF2-40B4-BE49-F238E27FC236}">
                  <a16:creationId xmlns:a16="http://schemas.microsoft.com/office/drawing/2014/main" id="{4C0A81A3-93F6-6F44-FDD5-E6B6AA70B7C8}"/>
                </a:ext>
              </a:extLst>
            </p:cNvPr>
            <p:cNvSpPr>
              <a:spLocks noChangeArrowheads="1"/>
            </p:cNvSpPr>
            <p:nvPr/>
          </p:nvSpPr>
          <p:spPr bwMode="auto">
            <a:xfrm rot="15780000">
              <a:off x="962" y="915"/>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12" name="Oval 52">
              <a:extLst>
                <a:ext uri="{FF2B5EF4-FFF2-40B4-BE49-F238E27FC236}">
                  <a16:creationId xmlns:a16="http://schemas.microsoft.com/office/drawing/2014/main" id="{E62A2F31-1C5E-978F-35EA-D4694D814EA2}"/>
                </a:ext>
              </a:extLst>
            </p:cNvPr>
            <p:cNvSpPr>
              <a:spLocks noChangeArrowheads="1"/>
            </p:cNvSpPr>
            <p:nvPr/>
          </p:nvSpPr>
          <p:spPr bwMode="auto">
            <a:xfrm rot="15780000">
              <a:off x="1216" y="1111"/>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13" name="Oval 53">
              <a:extLst>
                <a:ext uri="{FF2B5EF4-FFF2-40B4-BE49-F238E27FC236}">
                  <a16:creationId xmlns:a16="http://schemas.microsoft.com/office/drawing/2014/main" id="{10FACC0B-3228-BF62-414F-FB13C3102D26}"/>
                </a:ext>
              </a:extLst>
            </p:cNvPr>
            <p:cNvSpPr>
              <a:spLocks noChangeArrowheads="1"/>
            </p:cNvSpPr>
            <p:nvPr/>
          </p:nvSpPr>
          <p:spPr bwMode="auto">
            <a:xfrm rot="15780000">
              <a:off x="983" y="1019"/>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14" name="Group 54">
            <a:extLst>
              <a:ext uri="{FF2B5EF4-FFF2-40B4-BE49-F238E27FC236}">
                <a16:creationId xmlns:a16="http://schemas.microsoft.com/office/drawing/2014/main" id="{CEE0B74C-D6CB-8D9B-20A5-A8B87FB7A220}"/>
              </a:ext>
            </a:extLst>
          </p:cNvPr>
          <p:cNvGrpSpPr>
            <a:grpSpLocks/>
          </p:cNvGrpSpPr>
          <p:nvPr/>
        </p:nvGrpSpPr>
        <p:grpSpPr bwMode="auto">
          <a:xfrm>
            <a:off x="2916593" y="871650"/>
            <a:ext cx="729574" cy="673897"/>
            <a:chOff x="1519" y="454"/>
            <a:chExt cx="380" cy="351"/>
          </a:xfrm>
        </p:grpSpPr>
        <p:sp>
          <p:nvSpPr>
            <p:cNvPr id="15415" name="Oval 55">
              <a:extLst>
                <a:ext uri="{FF2B5EF4-FFF2-40B4-BE49-F238E27FC236}">
                  <a16:creationId xmlns:a16="http://schemas.microsoft.com/office/drawing/2014/main" id="{63A3EFB4-4E39-2260-3CB6-C86EDF399EA9}"/>
                </a:ext>
              </a:extLst>
            </p:cNvPr>
            <p:cNvSpPr>
              <a:spLocks noChangeArrowheads="1"/>
            </p:cNvSpPr>
            <p:nvPr/>
          </p:nvSpPr>
          <p:spPr bwMode="auto">
            <a:xfrm rot="15780000">
              <a:off x="1527" y="462"/>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16" name="Oval 56">
              <a:extLst>
                <a:ext uri="{FF2B5EF4-FFF2-40B4-BE49-F238E27FC236}">
                  <a16:creationId xmlns:a16="http://schemas.microsoft.com/office/drawing/2014/main" id="{14501DD9-004F-9728-71AD-403B8A60C25D}"/>
                </a:ext>
              </a:extLst>
            </p:cNvPr>
            <p:cNvSpPr>
              <a:spLocks noChangeArrowheads="1"/>
            </p:cNvSpPr>
            <p:nvPr/>
          </p:nvSpPr>
          <p:spPr bwMode="auto">
            <a:xfrm rot="15780000">
              <a:off x="1781" y="657"/>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17" name="Oval 57">
              <a:extLst>
                <a:ext uri="{FF2B5EF4-FFF2-40B4-BE49-F238E27FC236}">
                  <a16:creationId xmlns:a16="http://schemas.microsoft.com/office/drawing/2014/main" id="{EF6DE016-6296-13DB-5D23-A6043E05E4EB}"/>
                </a:ext>
              </a:extLst>
            </p:cNvPr>
            <p:cNvSpPr>
              <a:spLocks noChangeArrowheads="1"/>
            </p:cNvSpPr>
            <p:nvPr/>
          </p:nvSpPr>
          <p:spPr bwMode="auto">
            <a:xfrm rot="15780000">
              <a:off x="1548" y="565"/>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18" name="Group 58">
            <a:extLst>
              <a:ext uri="{FF2B5EF4-FFF2-40B4-BE49-F238E27FC236}">
                <a16:creationId xmlns:a16="http://schemas.microsoft.com/office/drawing/2014/main" id="{3938BDBF-14FE-0F90-65E4-8813D14B23DD}"/>
              </a:ext>
            </a:extLst>
          </p:cNvPr>
          <p:cNvGrpSpPr>
            <a:grpSpLocks/>
          </p:cNvGrpSpPr>
          <p:nvPr/>
        </p:nvGrpSpPr>
        <p:grpSpPr bwMode="auto">
          <a:xfrm>
            <a:off x="2048783" y="1284436"/>
            <a:ext cx="729574" cy="673896"/>
            <a:chOff x="1067" y="669"/>
            <a:chExt cx="380" cy="351"/>
          </a:xfrm>
        </p:grpSpPr>
        <p:sp>
          <p:nvSpPr>
            <p:cNvPr id="15419" name="Oval 59">
              <a:extLst>
                <a:ext uri="{FF2B5EF4-FFF2-40B4-BE49-F238E27FC236}">
                  <a16:creationId xmlns:a16="http://schemas.microsoft.com/office/drawing/2014/main" id="{48DCF1C1-6F17-8634-6C22-187C327E5C8A}"/>
                </a:ext>
              </a:extLst>
            </p:cNvPr>
            <p:cNvSpPr>
              <a:spLocks noChangeArrowheads="1"/>
            </p:cNvSpPr>
            <p:nvPr/>
          </p:nvSpPr>
          <p:spPr bwMode="auto">
            <a:xfrm rot="15780000">
              <a:off x="1074" y="677"/>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20" name="Oval 60">
              <a:extLst>
                <a:ext uri="{FF2B5EF4-FFF2-40B4-BE49-F238E27FC236}">
                  <a16:creationId xmlns:a16="http://schemas.microsoft.com/office/drawing/2014/main" id="{0DDDA3DD-C708-A3D0-F864-7E67809B5F93}"/>
                </a:ext>
              </a:extLst>
            </p:cNvPr>
            <p:cNvSpPr>
              <a:spLocks noChangeArrowheads="1"/>
            </p:cNvSpPr>
            <p:nvPr/>
          </p:nvSpPr>
          <p:spPr bwMode="auto">
            <a:xfrm rot="15780000">
              <a:off x="1328" y="873"/>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21" name="Oval 61">
              <a:extLst>
                <a:ext uri="{FF2B5EF4-FFF2-40B4-BE49-F238E27FC236}">
                  <a16:creationId xmlns:a16="http://schemas.microsoft.com/office/drawing/2014/main" id="{E8135C41-9D9D-BE3B-998C-239DD753344B}"/>
                </a:ext>
              </a:extLst>
            </p:cNvPr>
            <p:cNvSpPr>
              <a:spLocks noChangeArrowheads="1"/>
            </p:cNvSpPr>
            <p:nvPr/>
          </p:nvSpPr>
          <p:spPr bwMode="auto">
            <a:xfrm rot="15780000">
              <a:off x="1096" y="780"/>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22" name="Group 62">
            <a:extLst>
              <a:ext uri="{FF2B5EF4-FFF2-40B4-BE49-F238E27FC236}">
                <a16:creationId xmlns:a16="http://schemas.microsoft.com/office/drawing/2014/main" id="{2683913C-658E-4644-2BCD-1D06DFC255FB}"/>
              </a:ext>
            </a:extLst>
          </p:cNvPr>
          <p:cNvGrpSpPr>
            <a:grpSpLocks/>
          </p:cNvGrpSpPr>
          <p:nvPr/>
        </p:nvGrpSpPr>
        <p:grpSpPr bwMode="auto">
          <a:xfrm>
            <a:off x="3623128" y="2014010"/>
            <a:ext cx="729574" cy="673896"/>
            <a:chOff x="1887" y="1049"/>
            <a:chExt cx="380" cy="351"/>
          </a:xfrm>
        </p:grpSpPr>
        <p:sp>
          <p:nvSpPr>
            <p:cNvPr id="15423" name="Oval 63">
              <a:extLst>
                <a:ext uri="{FF2B5EF4-FFF2-40B4-BE49-F238E27FC236}">
                  <a16:creationId xmlns:a16="http://schemas.microsoft.com/office/drawing/2014/main" id="{165C7563-1F06-5AEA-BBC3-E9A993C08170}"/>
                </a:ext>
              </a:extLst>
            </p:cNvPr>
            <p:cNvSpPr>
              <a:spLocks noChangeArrowheads="1"/>
            </p:cNvSpPr>
            <p:nvPr/>
          </p:nvSpPr>
          <p:spPr bwMode="auto">
            <a:xfrm rot="15780000">
              <a:off x="1894" y="1057"/>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24" name="Oval 64">
              <a:extLst>
                <a:ext uri="{FF2B5EF4-FFF2-40B4-BE49-F238E27FC236}">
                  <a16:creationId xmlns:a16="http://schemas.microsoft.com/office/drawing/2014/main" id="{4AC97A83-4992-845B-F81B-15443E2B968B}"/>
                </a:ext>
              </a:extLst>
            </p:cNvPr>
            <p:cNvSpPr>
              <a:spLocks noChangeArrowheads="1"/>
            </p:cNvSpPr>
            <p:nvPr/>
          </p:nvSpPr>
          <p:spPr bwMode="auto">
            <a:xfrm rot="15780000">
              <a:off x="2148" y="1253"/>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25" name="Oval 65">
              <a:extLst>
                <a:ext uri="{FF2B5EF4-FFF2-40B4-BE49-F238E27FC236}">
                  <a16:creationId xmlns:a16="http://schemas.microsoft.com/office/drawing/2014/main" id="{B0964CC9-0A7A-0577-170A-446B82AAD36A}"/>
                </a:ext>
              </a:extLst>
            </p:cNvPr>
            <p:cNvSpPr>
              <a:spLocks noChangeArrowheads="1"/>
            </p:cNvSpPr>
            <p:nvPr/>
          </p:nvSpPr>
          <p:spPr bwMode="auto">
            <a:xfrm rot="15780000">
              <a:off x="1915" y="1161"/>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26" name="Group 66">
            <a:extLst>
              <a:ext uri="{FF2B5EF4-FFF2-40B4-BE49-F238E27FC236}">
                <a16:creationId xmlns:a16="http://schemas.microsoft.com/office/drawing/2014/main" id="{20EFCED3-DB78-579E-61A6-64D936C3018F}"/>
              </a:ext>
            </a:extLst>
          </p:cNvPr>
          <p:cNvGrpSpPr>
            <a:grpSpLocks/>
          </p:cNvGrpSpPr>
          <p:nvPr/>
        </p:nvGrpSpPr>
        <p:grpSpPr bwMode="auto">
          <a:xfrm>
            <a:off x="2830195" y="1284436"/>
            <a:ext cx="729574" cy="673896"/>
            <a:chOff x="1474" y="669"/>
            <a:chExt cx="380" cy="351"/>
          </a:xfrm>
        </p:grpSpPr>
        <p:sp>
          <p:nvSpPr>
            <p:cNvPr id="15427" name="Oval 67">
              <a:extLst>
                <a:ext uri="{FF2B5EF4-FFF2-40B4-BE49-F238E27FC236}">
                  <a16:creationId xmlns:a16="http://schemas.microsoft.com/office/drawing/2014/main" id="{8324BBB9-E472-3A75-7F3F-C6B33DCE0814}"/>
                </a:ext>
              </a:extLst>
            </p:cNvPr>
            <p:cNvSpPr>
              <a:spLocks noChangeArrowheads="1"/>
            </p:cNvSpPr>
            <p:nvPr/>
          </p:nvSpPr>
          <p:spPr bwMode="auto">
            <a:xfrm rot="15780000">
              <a:off x="1482" y="677"/>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28" name="Oval 68">
              <a:extLst>
                <a:ext uri="{FF2B5EF4-FFF2-40B4-BE49-F238E27FC236}">
                  <a16:creationId xmlns:a16="http://schemas.microsoft.com/office/drawing/2014/main" id="{CD5138CB-8B79-2163-8436-DC0A1C6D389D}"/>
                </a:ext>
              </a:extLst>
            </p:cNvPr>
            <p:cNvSpPr>
              <a:spLocks noChangeArrowheads="1"/>
            </p:cNvSpPr>
            <p:nvPr/>
          </p:nvSpPr>
          <p:spPr bwMode="auto">
            <a:xfrm rot="15780000">
              <a:off x="1736" y="873"/>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29" name="Oval 69">
              <a:extLst>
                <a:ext uri="{FF2B5EF4-FFF2-40B4-BE49-F238E27FC236}">
                  <a16:creationId xmlns:a16="http://schemas.microsoft.com/office/drawing/2014/main" id="{AF604FCE-0416-089E-35DA-0AB9F660973E}"/>
                </a:ext>
              </a:extLst>
            </p:cNvPr>
            <p:cNvSpPr>
              <a:spLocks noChangeArrowheads="1"/>
            </p:cNvSpPr>
            <p:nvPr/>
          </p:nvSpPr>
          <p:spPr bwMode="auto">
            <a:xfrm rot="15780000">
              <a:off x="1503" y="780"/>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30" name="Group 70">
            <a:extLst>
              <a:ext uri="{FF2B5EF4-FFF2-40B4-BE49-F238E27FC236}">
                <a16:creationId xmlns:a16="http://schemas.microsoft.com/office/drawing/2014/main" id="{561AC13E-B06D-5E06-388A-BD0963FD3393}"/>
              </a:ext>
            </a:extLst>
          </p:cNvPr>
          <p:cNvGrpSpPr>
            <a:grpSpLocks/>
          </p:cNvGrpSpPr>
          <p:nvPr/>
        </p:nvGrpSpPr>
        <p:grpSpPr bwMode="auto">
          <a:xfrm>
            <a:off x="1190572" y="1827777"/>
            <a:ext cx="867810" cy="681577"/>
            <a:chOff x="620" y="952"/>
            <a:chExt cx="452" cy="355"/>
          </a:xfrm>
        </p:grpSpPr>
        <p:sp>
          <p:nvSpPr>
            <p:cNvPr id="15431" name="Oval 71">
              <a:extLst>
                <a:ext uri="{FF2B5EF4-FFF2-40B4-BE49-F238E27FC236}">
                  <a16:creationId xmlns:a16="http://schemas.microsoft.com/office/drawing/2014/main" id="{131E2A1E-AE55-B525-6C92-CEA53EE4C048}"/>
                </a:ext>
              </a:extLst>
            </p:cNvPr>
            <p:cNvSpPr>
              <a:spLocks noChangeArrowheads="1"/>
            </p:cNvSpPr>
            <p:nvPr/>
          </p:nvSpPr>
          <p:spPr bwMode="auto">
            <a:xfrm rot="3900000">
              <a:off x="942" y="1174"/>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32" name="Oval 72">
              <a:extLst>
                <a:ext uri="{FF2B5EF4-FFF2-40B4-BE49-F238E27FC236}">
                  <a16:creationId xmlns:a16="http://schemas.microsoft.com/office/drawing/2014/main" id="{D0C7D726-2672-8754-55BD-881639CCCB74}"/>
                </a:ext>
              </a:extLst>
            </p:cNvPr>
            <p:cNvSpPr>
              <a:spLocks noChangeArrowheads="1"/>
            </p:cNvSpPr>
            <p:nvPr/>
          </p:nvSpPr>
          <p:spPr bwMode="auto">
            <a:xfrm rot="3900000">
              <a:off x="640" y="1066"/>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33" name="Oval 73">
              <a:extLst>
                <a:ext uri="{FF2B5EF4-FFF2-40B4-BE49-F238E27FC236}">
                  <a16:creationId xmlns:a16="http://schemas.microsoft.com/office/drawing/2014/main" id="{0B8151A5-00E9-0217-4EE1-097A1B84CEF3}"/>
                </a:ext>
              </a:extLst>
            </p:cNvPr>
            <p:cNvSpPr>
              <a:spLocks noChangeArrowheads="1"/>
            </p:cNvSpPr>
            <p:nvPr/>
          </p:nvSpPr>
          <p:spPr bwMode="auto">
            <a:xfrm rot="3900000">
              <a:off x="761" y="989"/>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34" name="Group 74">
            <a:extLst>
              <a:ext uri="{FF2B5EF4-FFF2-40B4-BE49-F238E27FC236}">
                <a16:creationId xmlns:a16="http://schemas.microsoft.com/office/drawing/2014/main" id="{894AC591-8B8D-292C-561C-AE9D99A07D40}"/>
              </a:ext>
            </a:extLst>
          </p:cNvPr>
          <p:cNvGrpSpPr>
            <a:grpSpLocks/>
          </p:cNvGrpSpPr>
          <p:nvPr/>
        </p:nvGrpSpPr>
        <p:grpSpPr bwMode="auto">
          <a:xfrm>
            <a:off x="2177418" y="956127"/>
            <a:ext cx="867810" cy="681577"/>
            <a:chOff x="1134" y="498"/>
            <a:chExt cx="452" cy="355"/>
          </a:xfrm>
        </p:grpSpPr>
        <p:sp>
          <p:nvSpPr>
            <p:cNvPr id="15435" name="Oval 75">
              <a:extLst>
                <a:ext uri="{FF2B5EF4-FFF2-40B4-BE49-F238E27FC236}">
                  <a16:creationId xmlns:a16="http://schemas.microsoft.com/office/drawing/2014/main" id="{FE0FD279-4E40-60C1-1CDD-6C4F33D4D987}"/>
                </a:ext>
              </a:extLst>
            </p:cNvPr>
            <p:cNvSpPr>
              <a:spLocks noChangeArrowheads="1"/>
            </p:cNvSpPr>
            <p:nvPr/>
          </p:nvSpPr>
          <p:spPr bwMode="auto">
            <a:xfrm rot="3900000">
              <a:off x="1455" y="720"/>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36" name="Oval 76">
              <a:extLst>
                <a:ext uri="{FF2B5EF4-FFF2-40B4-BE49-F238E27FC236}">
                  <a16:creationId xmlns:a16="http://schemas.microsoft.com/office/drawing/2014/main" id="{9B8B7E22-6367-6B1F-3331-8FEA8730C127}"/>
                </a:ext>
              </a:extLst>
            </p:cNvPr>
            <p:cNvSpPr>
              <a:spLocks noChangeArrowheads="1"/>
            </p:cNvSpPr>
            <p:nvPr/>
          </p:nvSpPr>
          <p:spPr bwMode="auto">
            <a:xfrm rot="3900000">
              <a:off x="1153" y="612"/>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37" name="Oval 77">
              <a:extLst>
                <a:ext uri="{FF2B5EF4-FFF2-40B4-BE49-F238E27FC236}">
                  <a16:creationId xmlns:a16="http://schemas.microsoft.com/office/drawing/2014/main" id="{54466D69-064C-55F9-2A45-0FF7008B22F4}"/>
                </a:ext>
              </a:extLst>
            </p:cNvPr>
            <p:cNvSpPr>
              <a:spLocks noChangeArrowheads="1"/>
            </p:cNvSpPr>
            <p:nvPr/>
          </p:nvSpPr>
          <p:spPr bwMode="auto">
            <a:xfrm rot="3900000">
              <a:off x="1274" y="535"/>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38" name="Group 78">
            <a:extLst>
              <a:ext uri="{FF2B5EF4-FFF2-40B4-BE49-F238E27FC236}">
                <a16:creationId xmlns:a16="http://schemas.microsoft.com/office/drawing/2014/main" id="{A2FD74B0-8791-2F22-047C-2B39261799D3}"/>
              </a:ext>
            </a:extLst>
          </p:cNvPr>
          <p:cNvGrpSpPr>
            <a:grpSpLocks/>
          </p:cNvGrpSpPr>
          <p:nvPr/>
        </p:nvGrpSpPr>
        <p:grpSpPr bwMode="auto">
          <a:xfrm>
            <a:off x="1284649" y="2365358"/>
            <a:ext cx="867810" cy="681577"/>
            <a:chOff x="669" y="1232"/>
            <a:chExt cx="452" cy="355"/>
          </a:xfrm>
        </p:grpSpPr>
        <p:sp>
          <p:nvSpPr>
            <p:cNvPr id="15439" name="Oval 79">
              <a:extLst>
                <a:ext uri="{FF2B5EF4-FFF2-40B4-BE49-F238E27FC236}">
                  <a16:creationId xmlns:a16="http://schemas.microsoft.com/office/drawing/2014/main" id="{B4F0D991-94EB-C5C6-7FDA-2BED0AE0054F}"/>
                </a:ext>
              </a:extLst>
            </p:cNvPr>
            <p:cNvSpPr>
              <a:spLocks noChangeArrowheads="1"/>
            </p:cNvSpPr>
            <p:nvPr/>
          </p:nvSpPr>
          <p:spPr bwMode="auto">
            <a:xfrm rot="3900000">
              <a:off x="990" y="1454"/>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40" name="Oval 80">
              <a:extLst>
                <a:ext uri="{FF2B5EF4-FFF2-40B4-BE49-F238E27FC236}">
                  <a16:creationId xmlns:a16="http://schemas.microsoft.com/office/drawing/2014/main" id="{CDA17445-5D7F-1077-F0F2-DE01F249BAB8}"/>
                </a:ext>
              </a:extLst>
            </p:cNvPr>
            <p:cNvSpPr>
              <a:spLocks noChangeArrowheads="1"/>
            </p:cNvSpPr>
            <p:nvPr/>
          </p:nvSpPr>
          <p:spPr bwMode="auto">
            <a:xfrm rot="3900000">
              <a:off x="688" y="1347"/>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41" name="Oval 81">
              <a:extLst>
                <a:ext uri="{FF2B5EF4-FFF2-40B4-BE49-F238E27FC236}">
                  <a16:creationId xmlns:a16="http://schemas.microsoft.com/office/drawing/2014/main" id="{437D7BA5-D823-FF5D-4064-FE19CEEDC2FA}"/>
                </a:ext>
              </a:extLst>
            </p:cNvPr>
            <p:cNvSpPr>
              <a:spLocks noChangeArrowheads="1"/>
            </p:cNvSpPr>
            <p:nvPr/>
          </p:nvSpPr>
          <p:spPr bwMode="auto">
            <a:xfrm rot="3900000">
              <a:off x="809" y="1269"/>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42" name="Group 82">
            <a:extLst>
              <a:ext uri="{FF2B5EF4-FFF2-40B4-BE49-F238E27FC236}">
                <a16:creationId xmlns:a16="http://schemas.microsoft.com/office/drawing/2014/main" id="{1A3512B9-0E13-F8B6-C3AA-4597900F33DF}"/>
              </a:ext>
            </a:extLst>
          </p:cNvPr>
          <p:cNvGrpSpPr>
            <a:grpSpLocks/>
          </p:cNvGrpSpPr>
          <p:nvPr/>
        </p:nvGrpSpPr>
        <p:grpSpPr bwMode="auto">
          <a:xfrm>
            <a:off x="2830195" y="3235087"/>
            <a:ext cx="867810" cy="681576"/>
            <a:chOff x="1474" y="1685"/>
            <a:chExt cx="452" cy="355"/>
          </a:xfrm>
        </p:grpSpPr>
        <p:sp>
          <p:nvSpPr>
            <p:cNvPr id="15443" name="Oval 83">
              <a:extLst>
                <a:ext uri="{FF2B5EF4-FFF2-40B4-BE49-F238E27FC236}">
                  <a16:creationId xmlns:a16="http://schemas.microsoft.com/office/drawing/2014/main" id="{1A2B7992-C2A5-A047-D928-63AB95093A6D}"/>
                </a:ext>
              </a:extLst>
            </p:cNvPr>
            <p:cNvSpPr>
              <a:spLocks noChangeArrowheads="1"/>
            </p:cNvSpPr>
            <p:nvPr/>
          </p:nvSpPr>
          <p:spPr bwMode="auto">
            <a:xfrm rot="3900000">
              <a:off x="1796" y="1908"/>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44" name="Oval 84">
              <a:extLst>
                <a:ext uri="{FF2B5EF4-FFF2-40B4-BE49-F238E27FC236}">
                  <a16:creationId xmlns:a16="http://schemas.microsoft.com/office/drawing/2014/main" id="{94784F64-F3B8-779B-A311-559B6BE13FC8}"/>
                </a:ext>
              </a:extLst>
            </p:cNvPr>
            <p:cNvSpPr>
              <a:spLocks noChangeArrowheads="1"/>
            </p:cNvSpPr>
            <p:nvPr/>
          </p:nvSpPr>
          <p:spPr bwMode="auto">
            <a:xfrm rot="3900000">
              <a:off x="1494" y="1800"/>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45" name="Oval 85">
              <a:extLst>
                <a:ext uri="{FF2B5EF4-FFF2-40B4-BE49-F238E27FC236}">
                  <a16:creationId xmlns:a16="http://schemas.microsoft.com/office/drawing/2014/main" id="{D206D1E6-4118-5C09-36EF-0B326BCCEFC1}"/>
                </a:ext>
              </a:extLst>
            </p:cNvPr>
            <p:cNvSpPr>
              <a:spLocks noChangeArrowheads="1"/>
            </p:cNvSpPr>
            <p:nvPr/>
          </p:nvSpPr>
          <p:spPr bwMode="auto">
            <a:xfrm rot="3900000">
              <a:off x="1615" y="1722"/>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46" name="Group 86">
            <a:extLst>
              <a:ext uri="{FF2B5EF4-FFF2-40B4-BE49-F238E27FC236}">
                <a16:creationId xmlns:a16="http://schemas.microsoft.com/office/drawing/2014/main" id="{53AD4894-8202-B1B8-89F4-3B2F19AABB28}"/>
              </a:ext>
            </a:extLst>
          </p:cNvPr>
          <p:cNvGrpSpPr>
            <a:grpSpLocks/>
          </p:cNvGrpSpPr>
          <p:nvPr/>
        </p:nvGrpSpPr>
        <p:grpSpPr bwMode="auto">
          <a:xfrm>
            <a:off x="2135179" y="3046934"/>
            <a:ext cx="867810" cy="681576"/>
            <a:chOff x="1112" y="1587"/>
            <a:chExt cx="452" cy="355"/>
          </a:xfrm>
        </p:grpSpPr>
        <p:sp>
          <p:nvSpPr>
            <p:cNvPr id="15447" name="Oval 87">
              <a:extLst>
                <a:ext uri="{FF2B5EF4-FFF2-40B4-BE49-F238E27FC236}">
                  <a16:creationId xmlns:a16="http://schemas.microsoft.com/office/drawing/2014/main" id="{1511F934-2EC0-D6A3-4161-7D0FFC87F414}"/>
                </a:ext>
              </a:extLst>
            </p:cNvPr>
            <p:cNvSpPr>
              <a:spLocks noChangeArrowheads="1"/>
            </p:cNvSpPr>
            <p:nvPr/>
          </p:nvSpPr>
          <p:spPr bwMode="auto">
            <a:xfrm rot="3900000">
              <a:off x="1433" y="1810"/>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48" name="Oval 88">
              <a:extLst>
                <a:ext uri="{FF2B5EF4-FFF2-40B4-BE49-F238E27FC236}">
                  <a16:creationId xmlns:a16="http://schemas.microsoft.com/office/drawing/2014/main" id="{70ACDAAF-6F35-F47F-E782-80CB701FEE73}"/>
                </a:ext>
              </a:extLst>
            </p:cNvPr>
            <p:cNvSpPr>
              <a:spLocks noChangeArrowheads="1"/>
            </p:cNvSpPr>
            <p:nvPr/>
          </p:nvSpPr>
          <p:spPr bwMode="auto">
            <a:xfrm rot="3900000">
              <a:off x="1131" y="1702"/>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49" name="Oval 89">
              <a:extLst>
                <a:ext uri="{FF2B5EF4-FFF2-40B4-BE49-F238E27FC236}">
                  <a16:creationId xmlns:a16="http://schemas.microsoft.com/office/drawing/2014/main" id="{55C4AD5D-4C90-BA7B-5E95-2D7BAA7B6614}"/>
                </a:ext>
              </a:extLst>
            </p:cNvPr>
            <p:cNvSpPr>
              <a:spLocks noChangeArrowheads="1"/>
            </p:cNvSpPr>
            <p:nvPr/>
          </p:nvSpPr>
          <p:spPr bwMode="auto">
            <a:xfrm rot="3900000">
              <a:off x="1252" y="1624"/>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50" name="Group 90">
            <a:extLst>
              <a:ext uri="{FF2B5EF4-FFF2-40B4-BE49-F238E27FC236}">
                <a16:creationId xmlns:a16="http://schemas.microsoft.com/office/drawing/2014/main" id="{2C62E7A5-4470-41A7-8A58-CEEA0635707D}"/>
              </a:ext>
            </a:extLst>
          </p:cNvPr>
          <p:cNvGrpSpPr>
            <a:grpSpLocks/>
          </p:cNvGrpSpPr>
          <p:nvPr/>
        </p:nvGrpSpPr>
        <p:grpSpPr bwMode="auto">
          <a:xfrm>
            <a:off x="1528480" y="2801182"/>
            <a:ext cx="867810" cy="681576"/>
            <a:chOff x="796" y="1459"/>
            <a:chExt cx="452" cy="355"/>
          </a:xfrm>
        </p:grpSpPr>
        <p:sp>
          <p:nvSpPr>
            <p:cNvPr id="15451" name="Oval 91">
              <a:extLst>
                <a:ext uri="{FF2B5EF4-FFF2-40B4-BE49-F238E27FC236}">
                  <a16:creationId xmlns:a16="http://schemas.microsoft.com/office/drawing/2014/main" id="{AB443A65-E82A-0607-D476-33D2AAFDEAC7}"/>
                </a:ext>
              </a:extLst>
            </p:cNvPr>
            <p:cNvSpPr>
              <a:spLocks noChangeArrowheads="1"/>
            </p:cNvSpPr>
            <p:nvPr/>
          </p:nvSpPr>
          <p:spPr bwMode="auto">
            <a:xfrm rot="3900000">
              <a:off x="1117" y="1681"/>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52" name="Oval 92">
              <a:extLst>
                <a:ext uri="{FF2B5EF4-FFF2-40B4-BE49-F238E27FC236}">
                  <a16:creationId xmlns:a16="http://schemas.microsoft.com/office/drawing/2014/main" id="{25185822-57B9-89BD-F97C-29130E2FF768}"/>
                </a:ext>
              </a:extLst>
            </p:cNvPr>
            <p:cNvSpPr>
              <a:spLocks noChangeArrowheads="1"/>
            </p:cNvSpPr>
            <p:nvPr/>
          </p:nvSpPr>
          <p:spPr bwMode="auto">
            <a:xfrm rot="3900000">
              <a:off x="815" y="1573"/>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53" name="Oval 93">
              <a:extLst>
                <a:ext uri="{FF2B5EF4-FFF2-40B4-BE49-F238E27FC236}">
                  <a16:creationId xmlns:a16="http://schemas.microsoft.com/office/drawing/2014/main" id="{EE3A454D-13E6-47FD-D41D-75A65593CBFF}"/>
                </a:ext>
              </a:extLst>
            </p:cNvPr>
            <p:cNvSpPr>
              <a:spLocks noChangeArrowheads="1"/>
            </p:cNvSpPr>
            <p:nvPr/>
          </p:nvSpPr>
          <p:spPr bwMode="auto">
            <a:xfrm rot="3900000">
              <a:off x="936" y="1496"/>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54" name="Group 94">
            <a:extLst>
              <a:ext uri="{FF2B5EF4-FFF2-40B4-BE49-F238E27FC236}">
                <a16:creationId xmlns:a16="http://schemas.microsoft.com/office/drawing/2014/main" id="{97D53CD2-2F5C-5556-1F36-C152F3621480}"/>
              </a:ext>
            </a:extLst>
          </p:cNvPr>
          <p:cNvGrpSpPr>
            <a:grpSpLocks/>
          </p:cNvGrpSpPr>
          <p:nvPr/>
        </p:nvGrpSpPr>
        <p:grpSpPr bwMode="auto">
          <a:xfrm>
            <a:off x="3294818" y="2501673"/>
            <a:ext cx="867810" cy="681576"/>
            <a:chOff x="1716" y="1303"/>
            <a:chExt cx="452" cy="355"/>
          </a:xfrm>
        </p:grpSpPr>
        <p:sp>
          <p:nvSpPr>
            <p:cNvPr id="15455" name="Oval 95">
              <a:extLst>
                <a:ext uri="{FF2B5EF4-FFF2-40B4-BE49-F238E27FC236}">
                  <a16:creationId xmlns:a16="http://schemas.microsoft.com/office/drawing/2014/main" id="{8EF4EDE9-1478-956A-401E-36702F6B0028}"/>
                </a:ext>
              </a:extLst>
            </p:cNvPr>
            <p:cNvSpPr>
              <a:spLocks noChangeArrowheads="1"/>
            </p:cNvSpPr>
            <p:nvPr/>
          </p:nvSpPr>
          <p:spPr bwMode="auto">
            <a:xfrm rot="3900000">
              <a:off x="2037" y="1525"/>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56" name="Oval 96">
              <a:extLst>
                <a:ext uri="{FF2B5EF4-FFF2-40B4-BE49-F238E27FC236}">
                  <a16:creationId xmlns:a16="http://schemas.microsoft.com/office/drawing/2014/main" id="{5BFDC0A3-2783-6864-0D0B-A9B8BCFF468E}"/>
                </a:ext>
              </a:extLst>
            </p:cNvPr>
            <p:cNvSpPr>
              <a:spLocks noChangeArrowheads="1"/>
            </p:cNvSpPr>
            <p:nvPr/>
          </p:nvSpPr>
          <p:spPr bwMode="auto">
            <a:xfrm rot="3900000">
              <a:off x="1735" y="1418"/>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57" name="Oval 97">
              <a:extLst>
                <a:ext uri="{FF2B5EF4-FFF2-40B4-BE49-F238E27FC236}">
                  <a16:creationId xmlns:a16="http://schemas.microsoft.com/office/drawing/2014/main" id="{5AE8BCDD-7EB1-804A-334A-EB967A6C75C4}"/>
                </a:ext>
              </a:extLst>
            </p:cNvPr>
            <p:cNvSpPr>
              <a:spLocks noChangeArrowheads="1"/>
            </p:cNvSpPr>
            <p:nvPr/>
          </p:nvSpPr>
          <p:spPr bwMode="auto">
            <a:xfrm rot="3900000">
              <a:off x="1856" y="1340"/>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58" name="Group 98">
            <a:extLst>
              <a:ext uri="{FF2B5EF4-FFF2-40B4-BE49-F238E27FC236}">
                <a16:creationId xmlns:a16="http://schemas.microsoft.com/office/drawing/2014/main" id="{AEA934D6-9764-F99C-E752-98AFD817CEB3}"/>
              </a:ext>
            </a:extLst>
          </p:cNvPr>
          <p:cNvGrpSpPr>
            <a:grpSpLocks/>
          </p:cNvGrpSpPr>
          <p:nvPr/>
        </p:nvGrpSpPr>
        <p:grpSpPr bwMode="auto">
          <a:xfrm>
            <a:off x="1422885" y="1330514"/>
            <a:ext cx="867810" cy="681576"/>
            <a:chOff x="741" y="693"/>
            <a:chExt cx="452" cy="355"/>
          </a:xfrm>
        </p:grpSpPr>
        <p:sp>
          <p:nvSpPr>
            <p:cNvPr id="15459" name="Oval 99">
              <a:extLst>
                <a:ext uri="{FF2B5EF4-FFF2-40B4-BE49-F238E27FC236}">
                  <a16:creationId xmlns:a16="http://schemas.microsoft.com/office/drawing/2014/main" id="{31F367E4-C97F-7EB2-9AB5-79F54286BD7A}"/>
                </a:ext>
              </a:extLst>
            </p:cNvPr>
            <p:cNvSpPr>
              <a:spLocks noChangeArrowheads="1"/>
            </p:cNvSpPr>
            <p:nvPr/>
          </p:nvSpPr>
          <p:spPr bwMode="auto">
            <a:xfrm rot="3900000">
              <a:off x="1062" y="915"/>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60" name="Oval 100">
              <a:extLst>
                <a:ext uri="{FF2B5EF4-FFF2-40B4-BE49-F238E27FC236}">
                  <a16:creationId xmlns:a16="http://schemas.microsoft.com/office/drawing/2014/main" id="{8B47334F-65F6-1F2E-4DD6-AA6C3FE71180}"/>
                </a:ext>
              </a:extLst>
            </p:cNvPr>
            <p:cNvSpPr>
              <a:spLocks noChangeArrowheads="1"/>
            </p:cNvSpPr>
            <p:nvPr/>
          </p:nvSpPr>
          <p:spPr bwMode="auto">
            <a:xfrm rot="3900000">
              <a:off x="760" y="808"/>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61" name="Oval 101">
              <a:extLst>
                <a:ext uri="{FF2B5EF4-FFF2-40B4-BE49-F238E27FC236}">
                  <a16:creationId xmlns:a16="http://schemas.microsoft.com/office/drawing/2014/main" id="{2B59EA32-528D-7734-857E-FC29526B6855}"/>
                </a:ext>
              </a:extLst>
            </p:cNvPr>
            <p:cNvSpPr>
              <a:spLocks noChangeArrowheads="1"/>
            </p:cNvSpPr>
            <p:nvPr/>
          </p:nvSpPr>
          <p:spPr bwMode="auto">
            <a:xfrm rot="3900000">
              <a:off x="881" y="730"/>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15462" name="Oval 102">
            <a:extLst>
              <a:ext uri="{FF2B5EF4-FFF2-40B4-BE49-F238E27FC236}">
                <a16:creationId xmlns:a16="http://schemas.microsoft.com/office/drawing/2014/main" id="{A8B489FE-AF73-BE4F-DBED-8CC51E01B2EC}"/>
              </a:ext>
            </a:extLst>
          </p:cNvPr>
          <p:cNvSpPr>
            <a:spLocks noChangeArrowheads="1"/>
          </p:cNvSpPr>
          <p:nvPr/>
        </p:nvSpPr>
        <p:spPr bwMode="auto">
          <a:xfrm>
            <a:off x="2394371" y="1958332"/>
            <a:ext cx="1088601" cy="1088603"/>
          </a:xfrm>
          <a:prstGeom prst="ellipse">
            <a:avLst/>
          </a:prstGeom>
          <a:solidFill>
            <a:srgbClr val="3A1A0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63" name="Oval 103">
            <a:extLst>
              <a:ext uri="{FF2B5EF4-FFF2-40B4-BE49-F238E27FC236}">
                <a16:creationId xmlns:a16="http://schemas.microsoft.com/office/drawing/2014/main" id="{83456E01-721A-E101-D000-32F25AE2B4E7}"/>
              </a:ext>
            </a:extLst>
          </p:cNvPr>
          <p:cNvSpPr>
            <a:spLocks noChangeArrowheads="1"/>
          </p:cNvSpPr>
          <p:nvPr/>
        </p:nvSpPr>
        <p:spPr bwMode="auto">
          <a:xfrm>
            <a:off x="8420543" y="1076704"/>
            <a:ext cx="1088601" cy="1088603"/>
          </a:xfrm>
          <a:prstGeom prst="ellipse">
            <a:avLst/>
          </a:prstGeom>
          <a:solidFill>
            <a:srgbClr val="3A1A0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nvGrpSpPr>
          <p:cNvPr id="15464" name="Group 104">
            <a:extLst>
              <a:ext uri="{FF2B5EF4-FFF2-40B4-BE49-F238E27FC236}">
                <a16:creationId xmlns:a16="http://schemas.microsoft.com/office/drawing/2014/main" id="{EA0AD267-978A-4A17-1CFC-88AEC350A437}"/>
              </a:ext>
            </a:extLst>
          </p:cNvPr>
          <p:cNvGrpSpPr>
            <a:grpSpLocks/>
          </p:cNvGrpSpPr>
          <p:nvPr/>
        </p:nvGrpSpPr>
        <p:grpSpPr bwMode="auto">
          <a:xfrm>
            <a:off x="8994603" y="836712"/>
            <a:ext cx="729574" cy="673896"/>
            <a:chOff x="5140" y="107"/>
            <a:chExt cx="380" cy="351"/>
          </a:xfrm>
        </p:grpSpPr>
        <p:sp>
          <p:nvSpPr>
            <p:cNvPr id="15465" name="Oval 105">
              <a:extLst>
                <a:ext uri="{FF2B5EF4-FFF2-40B4-BE49-F238E27FC236}">
                  <a16:creationId xmlns:a16="http://schemas.microsoft.com/office/drawing/2014/main" id="{6CF81BCD-7B5F-9F1C-5BA8-F414810AD067}"/>
                </a:ext>
              </a:extLst>
            </p:cNvPr>
            <p:cNvSpPr>
              <a:spLocks noChangeArrowheads="1"/>
            </p:cNvSpPr>
            <p:nvPr/>
          </p:nvSpPr>
          <p:spPr bwMode="auto">
            <a:xfrm rot="15780000">
              <a:off x="5148" y="115"/>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66" name="Oval 106">
              <a:extLst>
                <a:ext uri="{FF2B5EF4-FFF2-40B4-BE49-F238E27FC236}">
                  <a16:creationId xmlns:a16="http://schemas.microsoft.com/office/drawing/2014/main" id="{5134EF4A-2C1F-2015-E57E-6E97EBF1D3AB}"/>
                </a:ext>
              </a:extLst>
            </p:cNvPr>
            <p:cNvSpPr>
              <a:spLocks noChangeArrowheads="1"/>
            </p:cNvSpPr>
            <p:nvPr/>
          </p:nvSpPr>
          <p:spPr bwMode="auto">
            <a:xfrm rot="15780000">
              <a:off x="5402" y="311"/>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67" name="Oval 107">
              <a:extLst>
                <a:ext uri="{FF2B5EF4-FFF2-40B4-BE49-F238E27FC236}">
                  <a16:creationId xmlns:a16="http://schemas.microsoft.com/office/drawing/2014/main" id="{F526F550-07E6-7C16-F360-AD7E7CE4C322}"/>
                </a:ext>
              </a:extLst>
            </p:cNvPr>
            <p:cNvSpPr>
              <a:spLocks noChangeArrowheads="1"/>
            </p:cNvSpPr>
            <p:nvPr/>
          </p:nvSpPr>
          <p:spPr bwMode="auto">
            <a:xfrm rot="15780000">
              <a:off x="5169" y="219"/>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68" name="Group 108">
            <a:extLst>
              <a:ext uri="{FF2B5EF4-FFF2-40B4-BE49-F238E27FC236}">
                <a16:creationId xmlns:a16="http://schemas.microsoft.com/office/drawing/2014/main" id="{60E48E97-628D-CD77-8C40-430AEBB8F152}"/>
              </a:ext>
            </a:extLst>
          </p:cNvPr>
          <p:cNvGrpSpPr>
            <a:grpSpLocks/>
          </p:cNvGrpSpPr>
          <p:nvPr/>
        </p:nvGrpSpPr>
        <p:grpSpPr bwMode="auto">
          <a:xfrm>
            <a:off x="8147913" y="1034465"/>
            <a:ext cx="670056" cy="714215"/>
            <a:chOff x="4699" y="210"/>
            <a:chExt cx="349" cy="372"/>
          </a:xfrm>
        </p:grpSpPr>
        <p:sp>
          <p:nvSpPr>
            <p:cNvPr id="15469" name="Oval 109">
              <a:extLst>
                <a:ext uri="{FF2B5EF4-FFF2-40B4-BE49-F238E27FC236}">
                  <a16:creationId xmlns:a16="http://schemas.microsoft.com/office/drawing/2014/main" id="{D9E15187-8E71-973B-40BD-31155053F2D7}"/>
                </a:ext>
              </a:extLst>
            </p:cNvPr>
            <p:cNvSpPr>
              <a:spLocks noChangeArrowheads="1"/>
            </p:cNvSpPr>
            <p:nvPr/>
          </p:nvSpPr>
          <p:spPr bwMode="auto">
            <a:xfrm rot="10440000">
              <a:off x="4706" y="465"/>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70" name="Oval 110">
              <a:extLst>
                <a:ext uri="{FF2B5EF4-FFF2-40B4-BE49-F238E27FC236}">
                  <a16:creationId xmlns:a16="http://schemas.microsoft.com/office/drawing/2014/main" id="{AE85AC11-6692-0666-1839-CA3D97FE8E94}"/>
                </a:ext>
              </a:extLst>
            </p:cNvPr>
            <p:cNvSpPr>
              <a:spLocks noChangeArrowheads="1"/>
            </p:cNvSpPr>
            <p:nvPr/>
          </p:nvSpPr>
          <p:spPr bwMode="auto">
            <a:xfrm rot="10440000">
              <a:off x="4908" y="216"/>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71" name="Oval 111">
              <a:extLst>
                <a:ext uri="{FF2B5EF4-FFF2-40B4-BE49-F238E27FC236}">
                  <a16:creationId xmlns:a16="http://schemas.microsoft.com/office/drawing/2014/main" id="{D72ECE8D-B0D4-A60F-729E-2F405D756DE9}"/>
                </a:ext>
              </a:extLst>
            </p:cNvPr>
            <p:cNvSpPr>
              <a:spLocks noChangeArrowheads="1"/>
            </p:cNvSpPr>
            <p:nvPr/>
          </p:nvSpPr>
          <p:spPr bwMode="auto">
            <a:xfrm rot="10440000">
              <a:off x="4811" y="334"/>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72" name="Group 112">
            <a:extLst>
              <a:ext uri="{FF2B5EF4-FFF2-40B4-BE49-F238E27FC236}">
                <a16:creationId xmlns:a16="http://schemas.microsoft.com/office/drawing/2014/main" id="{AF8F71AC-387D-64BB-0482-2D276FFD810D}"/>
              </a:ext>
            </a:extLst>
          </p:cNvPr>
          <p:cNvGrpSpPr>
            <a:grpSpLocks/>
          </p:cNvGrpSpPr>
          <p:nvPr/>
        </p:nvGrpSpPr>
        <p:grpSpPr bwMode="auto">
          <a:xfrm>
            <a:off x="8666295" y="1727562"/>
            <a:ext cx="687336" cy="815971"/>
            <a:chOff x="4969" y="571"/>
            <a:chExt cx="358" cy="425"/>
          </a:xfrm>
        </p:grpSpPr>
        <p:sp>
          <p:nvSpPr>
            <p:cNvPr id="15473" name="Oval 113">
              <a:extLst>
                <a:ext uri="{FF2B5EF4-FFF2-40B4-BE49-F238E27FC236}">
                  <a16:creationId xmlns:a16="http://schemas.microsoft.com/office/drawing/2014/main" id="{36A7319B-04F1-D763-B5F2-1B38B485C7F2}"/>
                </a:ext>
              </a:extLst>
            </p:cNvPr>
            <p:cNvSpPr>
              <a:spLocks noChangeArrowheads="1"/>
            </p:cNvSpPr>
            <p:nvPr/>
          </p:nvSpPr>
          <p:spPr bwMode="auto">
            <a:xfrm rot="6420000">
              <a:off x="5133" y="870"/>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74" name="Oval 114">
              <a:extLst>
                <a:ext uri="{FF2B5EF4-FFF2-40B4-BE49-F238E27FC236}">
                  <a16:creationId xmlns:a16="http://schemas.microsoft.com/office/drawing/2014/main" id="{E8754B8B-7BE2-7000-698B-EAB30E65777B}"/>
                </a:ext>
              </a:extLst>
            </p:cNvPr>
            <p:cNvSpPr>
              <a:spLocks noChangeArrowheads="1"/>
            </p:cNvSpPr>
            <p:nvPr/>
          </p:nvSpPr>
          <p:spPr bwMode="auto">
            <a:xfrm rot="6420000">
              <a:off x="4985" y="586"/>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75" name="Oval 115">
              <a:extLst>
                <a:ext uri="{FF2B5EF4-FFF2-40B4-BE49-F238E27FC236}">
                  <a16:creationId xmlns:a16="http://schemas.microsoft.com/office/drawing/2014/main" id="{6546ED4F-2D52-F35A-B96E-F45907B7BB51}"/>
                </a:ext>
              </a:extLst>
            </p:cNvPr>
            <p:cNvSpPr>
              <a:spLocks noChangeArrowheads="1"/>
            </p:cNvSpPr>
            <p:nvPr/>
          </p:nvSpPr>
          <p:spPr bwMode="auto">
            <a:xfrm rot="6420000">
              <a:off x="5073" y="634"/>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15476" name="Oval 116">
            <a:extLst>
              <a:ext uri="{FF2B5EF4-FFF2-40B4-BE49-F238E27FC236}">
                <a16:creationId xmlns:a16="http://schemas.microsoft.com/office/drawing/2014/main" id="{100A2792-162B-ED46-98A7-B422926153F5}"/>
              </a:ext>
            </a:extLst>
          </p:cNvPr>
          <p:cNvSpPr>
            <a:spLocks noChangeArrowheads="1"/>
          </p:cNvSpPr>
          <p:nvPr/>
        </p:nvSpPr>
        <p:spPr bwMode="auto">
          <a:xfrm>
            <a:off x="9650767" y="2565333"/>
            <a:ext cx="1088603" cy="1088601"/>
          </a:xfrm>
          <a:prstGeom prst="ellipse">
            <a:avLst/>
          </a:prstGeom>
          <a:solidFill>
            <a:srgbClr val="3A1A0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nvGrpSpPr>
          <p:cNvPr id="15477" name="Group 117">
            <a:extLst>
              <a:ext uri="{FF2B5EF4-FFF2-40B4-BE49-F238E27FC236}">
                <a16:creationId xmlns:a16="http://schemas.microsoft.com/office/drawing/2014/main" id="{728D4BCB-99D0-1758-32D0-7A62C4E2114F}"/>
              </a:ext>
            </a:extLst>
          </p:cNvPr>
          <p:cNvGrpSpPr>
            <a:grpSpLocks/>
          </p:cNvGrpSpPr>
          <p:nvPr/>
        </p:nvGrpSpPr>
        <p:grpSpPr bwMode="auto">
          <a:xfrm>
            <a:off x="10224827" y="2325341"/>
            <a:ext cx="729574" cy="673897"/>
            <a:chOff x="5515" y="1134"/>
            <a:chExt cx="380" cy="351"/>
          </a:xfrm>
        </p:grpSpPr>
        <p:sp>
          <p:nvSpPr>
            <p:cNvPr id="15478" name="Oval 118">
              <a:extLst>
                <a:ext uri="{FF2B5EF4-FFF2-40B4-BE49-F238E27FC236}">
                  <a16:creationId xmlns:a16="http://schemas.microsoft.com/office/drawing/2014/main" id="{F04EA64B-C8AB-9BC0-3FE7-FE6A0CF4BDEB}"/>
                </a:ext>
              </a:extLst>
            </p:cNvPr>
            <p:cNvSpPr>
              <a:spLocks noChangeArrowheads="1"/>
            </p:cNvSpPr>
            <p:nvPr/>
          </p:nvSpPr>
          <p:spPr bwMode="auto">
            <a:xfrm rot="15780000">
              <a:off x="5523" y="1142"/>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79" name="Oval 119">
              <a:extLst>
                <a:ext uri="{FF2B5EF4-FFF2-40B4-BE49-F238E27FC236}">
                  <a16:creationId xmlns:a16="http://schemas.microsoft.com/office/drawing/2014/main" id="{D3F2AC9E-7DB5-AEC7-F93F-679733A66EBD}"/>
                </a:ext>
              </a:extLst>
            </p:cNvPr>
            <p:cNvSpPr>
              <a:spLocks noChangeArrowheads="1"/>
            </p:cNvSpPr>
            <p:nvPr/>
          </p:nvSpPr>
          <p:spPr bwMode="auto">
            <a:xfrm rot="15780000">
              <a:off x="5777" y="1338"/>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80" name="Oval 120">
              <a:extLst>
                <a:ext uri="{FF2B5EF4-FFF2-40B4-BE49-F238E27FC236}">
                  <a16:creationId xmlns:a16="http://schemas.microsoft.com/office/drawing/2014/main" id="{A5D87EC5-D1AF-63D2-5356-318EDE53D4E7}"/>
                </a:ext>
              </a:extLst>
            </p:cNvPr>
            <p:cNvSpPr>
              <a:spLocks noChangeArrowheads="1"/>
            </p:cNvSpPr>
            <p:nvPr/>
          </p:nvSpPr>
          <p:spPr bwMode="auto">
            <a:xfrm rot="15780000">
              <a:off x="5544" y="1246"/>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81" name="Group 121">
            <a:extLst>
              <a:ext uri="{FF2B5EF4-FFF2-40B4-BE49-F238E27FC236}">
                <a16:creationId xmlns:a16="http://schemas.microsoft.com/office/drawing/2014/main" id="{25DD92AB-6818-A3FF-1E65-79C87B0EFE6A}"/>
              </a:ext>
            </a:extLst>
          </p:cNvPr>
          <p:cNvGrpSpPr>
            <a:grpSpLocks/>
          </p:cNvGrpSpPr>
          <p:nvPr/>
        </p:nvGrpSpPr>
        <p:grpSpPr bwMode="auto">
          <a:xfrm>
            <a:off x="9378136" y="2521174"/>
            <a:ext cx="670057" cy="714215"/>
            <a:chOff x="5074" y="1236"/>
            <a:chExt cx="349" cy="372"/>
          </a:xfrm>
        </p:grpSpPr>
        <p:sp>
          <p:nvSpPr>
            <p:cNvPr id="15482" name="Oval 122">
              <a:extLst>
                <a:ext uri="{FF2B5EF4-FFF2-40B4-BE49-F238E27FC236}">
                  <a16:creationId xmlns:a16="http://schemas.microsoft.com/office/drawing/2014/main" id="{0CC2F5D1-0838-7F4A-4DFA-F4FF7A0110F5}"/>
                </a:ext>
              </a:extLst>
            </p:cNvPr>
            <p:cNvSpPr>
              <a:spLocks noChangeArrowheads="1"/>
            </p:cNvSpPr>
            <p:nvPr/>
          </p:nvSpPr>
          <p:spPr bwMode="auto">
            <a:xfrm rot="10440000">
              <a:off x="5081" y="1492"/>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83" name="Oval 123">
              <a:extLst>
                <a:ext uri="{FF2B5EF4-FFF2-40B4-BE49-F238E27FC236}">
                  <a16:creationId xmlns:a16="http://schemas.microsoft.com/office/drawing/2014/main" id="{6A699E7C-3CE8-628D-94FB-6AD312D7F55E}"/>
                </a:ext>
              </a:extLst>
            </p:cNvPr>
            <p:cNvSpPr>
              <a:spLocks noChangeArrowheads="1"/>
            </p:cNvSpPr>
            <p:nvPr/>
          </p:nvSpPr>
          <p:spPr bwMode="auto">
            <a:xfrm rot="10440000">
              <a:off x="5283" y="1243"/>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84" name="Oval 124">
              <a:extLst>
                <a:ext uri="{FF2B5EF4-FFF2-40B4-BE49-F238E27FC236}">
                  <a16:creationId xmlns:a16="http://schemas.microsoft.com/office/drawing/2014/main" id="{F7570386-70E6-3431-1106-6BD822EA9952}"/>
                </a:ext>
              </a:extLst>
            </p:cNvPr>
            <p:cNvSpPr>
              <a:spLocks noChangeArrowheads="1"/>
            </p:cNvSpPr>
            <p:nvPr/>
          </p:nvSpPr>
          <p:spPr bwMode="auto">
            <a:xfrm rot="10440000">
              <a:off x="5186" y="1360"/>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85" name="Group 125">
            <a:extLst>
              <a:ext uri="{FF2B5EF4-FFF2-40B4-BE49-F238E27FC236}">
                <a16:creationId xmlns:a16="http://schemas.microsoft.com/office/drawing/2014/main" id="{2968B13F-8A7C-6EBD-D96C-C103124AFE9E}"/>
              </a:ext>
            </a:extLst>
          </p:cNvPr>
          <p:cNvGrpSpPr>
            <a:grpSpLocks/>
          </p:cNvGrpSpPr>
          <p:nvPr/>
        </p:nvGrpSpPr>
        <p:grpSpPr bwMode="auto">
          <a:xfrm>
            <a:off x="9898439" y="3214271"/>
            <a:ext cx="687336" cy="815971"/>
            <a:chOff x="5345" y="1597"/>
            <a:chExt cx="358" cy="425"/>
          </a:xfrm>
        </p:grpSpPr>
        <p:sp>
          <p:nvSpPr>
            <p:cNvPr id="15486" name="Oval 126">
              <a:extLst>
                <a:ext uri="{FF2B5EF4-FFF2-40B4-BE49-F238E27FC236}">
                  <a16:creationId xmlns:a16="http://schemas.microsoft.com/office/drawing/2014/main" id="{0D9A3740-A1C5-0FE8-42A8-8EF8BE211FD6}"/>
                </a:ext>
              </a:extLst>
            </p:cNvPr>
            <p:cNvSpPr>
              <a:spLocks noChangeArrowheads="1"/>
            </p:cNvSpPr>
            <p:nvPr/>
          </p:nvSpPr>
          <p:spPr bwMode="auto">
            <a:xfrm rot="6420000">
              <a:off x="5508" y="1897"/>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87" name="Oval 127">
              <a:extLst>
                <a:ext uri="{FF2B5EF4-FFF2-40B4-BE49-F238E27FC236}">
                  <a16:creationId xmlns:a16="http://schemas.microsoft.com/office/drawing/2014/main" id="{FFA098F1-18D6-7036-07BA-B5C7ABF53F3D}"/>
                </a:ext>
              </a:extLst>
            </p:cNvPr>
            <p:cNvSpPr>
              <a:spLocks noChangeArrowheads="1"/>
            </p:cNvSpPr>
            <p:nvPr/>
          </p:nvSpPr>
          <p:spPr bwMode="auto">
            <a:xfrm rot="6420000">
              <a:off x="5360" y="1612"/>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88" name="Oval 128">
              <a:extLst>
                <a:ext uri="{FF2B5EF4-FFF2-40B4-BE49-F238E27FC236}">
                  <a16:creationId xmlns:a16="http://schemas.microsoft.com/office/drawing/2014/main" id="{EF472B1E-CC27-CCC4-13E5-BB7BAFB8C693}"/>
                </a:ext>
              </a:extLst>
            </p:cNvPr>
            <p:cNvSpPr>
              <a:spLocks noChangeArrowheads="1"/>
            </p:cNvSpPr>
            <p:nvPr/>
          </p:nvSpPr>
          <p:spPr bwMode="auto">
            <a:xfrm rot="6420000">
              <a:off x="5448" y="1661"/>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15489" name="Oval 129">
            <a:extLst>
              <a:ext uri="{FF2B5EF4-FFF2-40B4-BE49-F238E27FC236}">
                <a16:creationId xmlns:a16="http://schemas.microsoft.com/office/drawing/2014/main" id="{AB3171B6-0DED-9FC6-1F9A-B7305882EB91}"/>
              </a:ext>
            </a:extLst>
          </p:cNvPr>
          <p:cNvSpPr>
            <a:spLocks noChangeArrowheads="1"/>
          </p:cNvSpPr>
          <p:nvPr/>
        </p:nvSpPr>
        <p:spPr bwMode="auto">
          <a:xfrm>
            <a:off x="7527321" y="2814924"/>
            <a:ext cx="1088603" cy="1088601"/>
          </a:xfrm>
          <a:prstGeom prst="ellipse">
            <a:avLst/>
          </a:prstGeom>
          <a:solidFill>
            <a:srgbClr val="3A1A0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nvGrpSpPr>
          <p:cNvPr id="15490" name="Group 130">
            <a:extLst>
              <a:ext uri="{FF2B5EF4-FFF2-40B4-BE49-F238E27FC236}">
                <a16:creationId xmlns:a16="http://schemas.microsoft.com/office/drawing/2014/main" id="{9BF6DCB5-A608-EA40-0A90-3193615F5C91}"/>
              </a:ext>
            </a:extLst>
          </p:cNvPr>
          <p:cNvGrpSpPr>
            <a:grpSpLocks/>
          </p:cNvGrpSpPr>
          <p:nvPr/>
        </p:nvGrpSpPr>
        <p:grpSpPr bwMode="auto">
          <a:xfrm>
            <a:off x="8101382" y="2574933"/>
            <a:ext cx="729574" cy="673897"/>
            <a:chOff x="4409" y="1264"/>
            <a:chExt cx="380" cy="351"/>
          </a:xfrm>
        </p:grpSpPr>
        <p:sp>
          <p:nvSpPr>
            <p:cNvPr id="15491" name="Oval 131">
              <a:extLst>
                <a:ext uri="{FF2B5EF4-FFF2-40B4-BE49-F238E27FC236}">
                  <a16:creationId xmlns:a16="http://schemas.microsoft.com/office/drawing/2014/main" id="{48F79CCC-EDE7-1B8B-57AA-512D5D6EE8A0}"/>
                </a:ext>
              </a:extLst>
            </p:cNvPr>
            <p:cNvSpPr>
              <a:spLocks noChangeArrowheads="1"/>
            </p:cNvSpPr>
            <p:nvPr/>
          </p:nvSpPr>
          <p:spPr bwMode="auto">
            <a:xfrm rot="15780000">
              <a:off x="4417" y="1272"/>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92" name="Oval 132">
              <a:extLst>
                <a:ext uri="{FF2B5EF4-FFF2-40B4-BE49-F238E27FC236}">
                  <a16:creationId xmlns:a16="http://schemas.microsoft.com/office/drawing/2014/main" id="{B4AC2916-AED9-016A-6E88-547C788D3BB0}"/>
                </a:ext>
              </a:extLst>
            </p:cNvPr>
            <p:cNvSpPr>
              <a:spLocks noChangeArrowheads="1"/>
            </p:cNvSpPr>
            <p:nvPr/>
          </p:nvSpPr>
          <p:spPr bwMode="auto">
            <a:xfrm rot="15780000">
              <a:off x="4671" y="1468"/>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93" name="Oval 133">
              <a:extLst>
                <a:ext uri="{FF2B5EF4-FFF2-40B4-BE49-F238E27FC236}">
                  <a16:creationId xmlns:a16="http://schemas.microsoft.com/office/drawing/2014/main" id="{0516CCEB-119A-90A9-044D-C8892EF65A96}"/>
                </a:ext>
              </a:extLst>
            </p:cNvPr>
            <p:cNvSpPr>
              <a:spLocks noChangeArrowheads="1"/>
            </p:cNvSpPr>
            <p:nvPr/>
          </p:nvSpPr>
          <p:spPr bwMode="auto">
            <a:xfrm rot="15780000">
              <a:off x="4438" y="1376"/>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94" name="Group 134">
            <a:extLst>
              <a:ext uri="{FF2B5EF4-FFF2-40B4-BE49-F238E27FC236}">
                <a16:creationId xmlns:a16="http://schemas.microsoft.com/office/drawing/2014/main" id="{7CA3B958-BD15-BFE0-8D1E-8F1271C5A798}"/>
              </a:ext>
            </a:extLst>
          </p:cNvPr>
          <p:cNvGrpSpPr>
            <a:grpSpLocks/>
          </p:cNvGrpSpPr>
          <p:nvPr/>
        </p:nvGrpSpPr>
        <p:grpSpPr bwMode="auto">
          <a:xfrm>
            <a:off x="7256611" y="2772686"/>
            <a:ext cx="670056" cy="714215"/>
            <a:chOff x="3969" y="1367"/>
            <a:chExt cx="349" cy="372"/>
          </a:xfrm>
        </p:grpSpPr>
        <p:sp>
          <p:nvSpPr>
            <p:cNvPr id="15495" name="Oval 135">
              <a:extLst>
                <a:ext uri="{FF2B5EF4-FFF2-40B4-BE49-F238E27FC236}">
                  <a16:creationId xmlns:a16="http://schemas.microsoft.com/office/drawing/2014/main" id="{5B16B7E3-985B-DE8C-E94E-2FCACF5E4567}"/>
                </a:ext>
              </a:extLst>
            </p:cNvPr>
            <p:cNvSpPr>
              <a:spLocks noChangeArrowheads="1"/>
            </p:cNvSpPr>
            <p:nvPr/>
          </p:nvSpPr>
          <p:spPr bwMode="auto">
            <a:xfrm rot="10440000">
              <a:off x="3975" y="1622"/>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96" name="Oval 136">
              <a:extLst>
                <a:ext uri="{FF2B5EF4-FFF2-40B4-BE49-F238E27FC236}">
                  <a16:creationId xmlns:a16="http://schemas.microsoft.com/office/drawing/2014/main" id="{F81DAD40-B418-0CC5-0DAB-388AFF60EAC1}"/>
                </a:ext>
              </a:extLst>
            </p:cNvPr>
            <p:cNvSpPr>
              <a:spLocks noChangeArrowheads="1"/>
            </p:cNvSpPr>
            <p:nvPr/>
          </p:nvSpPr>
          <p:spPr bwMode="auto">
            <a:xfrm rot="10440000">
              <a:off x="4177" y="1373"/>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97" name="Oval 137">
              <a:extLst>
                <a:ext uri="{FF2B5EF4-FFF2-40B4-BE49-F238E27FC236}">
                  <a16:creationId xmlns:a16="http://schemas.microsoft.com/office/drawing/2014/main" id="{1109866D-06BC-5F47-12CB-69905B95D7E2}"/>
                </a:ext>
              </a:extLst>
            </p:cNvPr>
            <p:cNvSpPr>
              <a:spLocks noChangeArrowheads="1"/>
            </p:cNvSpPr>
            <p:nvPr/>
          </p:nvSpPr>
          <p:spPr bwMode="auto">
            <a:xfrm rot="10440000">
              <a:off x="4080" y="1491"/>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498" name="Group 138">
            <a:extLst>
              <a:ext uri="{FF2B5EF4-FFF2-40B4-BE49-F238E27FC236}">
                <a16:creationId xmlns:a16="http://schemas.microsoft.com/office/drawing/2014/main" id="{413DAB1C-A79D-EABE-ADFC-8FE24E7168D3}"/>
              </a:ext>
            </a:extLst>
          </p:cNvPr>
          <p:cNvGrpSpPr>
            <a:grpSpLocks/>
          </p:cNvGrpSpPr>
          <p:nvPr/>
        </p:nvGrpSpPr>
        <p:grpSpPr bwMode="auto">
          <a:xfrm>
            <a:off x="7774993" y="3465781"/>
            <a:ext cx="687336" cy="815972"/>
            <a:chOff x="4239" y="1728"/>
            <a:chExt cx="358" cy="425"/>
          </a:xfrm>
        </p:grpSpPr>
        <p:sp>
          <p:nvSpPr>
            <p:cNvPr id="15499" name="Oval 139">
              <a:extLst>
                <a:ext uri="{FF2B5EF4-FFF2-40B4-BE49-F238E27FC236}">
                  <a16:creationId xmlns:a16="http://schemas.microsoft.com/office/drawing/2014/main" id="{67C5A3A6-2F84-2873-FC82-4A15A9C20231}"/>
                </a:ext>
              </a:extLst>
            </p:cNvPr>
            <p:cNvSpPr>
              <a:spLocks noChangeArrowheads="1"/>
            </p:cNvSpPr>
            <p:nvPr/>
          </p:nvSpPr>
          <p:spPr bwMode="auto">
            <a:xfrm rot="6420000">
              <a:off x="4402" y="2027"/>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500" name="Oval 140">
              <a:extLst>
                <a:ext uri="{FF2B5EF4-FFF2-40B4-BE49-F238E27FC236}">
                  <a16:creationId xmlns:a16="http://schemas.microsoft.com/office/drawing/2014/main" id="{84C06CE9-055C-1A2B-32BA-696C4015D79A}"/>
                </a:ext>
              </a:extLst>
            </p:cNvPr>
            <p:cNvSpPr>
              <a:spLocks noChangeArrowheads="1"/>
            </p:cNvSpPr>
            <p:nvPr/>
          </p:nvSpPr>
          <p:spPr bwMode="auto">
            <a:xfrm rot="6420000">
              <a:off x="4254" y="1743"/>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501" name="Oval 141">
              <a:extLst>
                <a:ext uri="{FF2B5EF4-FFF2-40B4-BE49-F238E27FC236}">
                  <a16:creationId xmlns:a16="http://schemas.microsoft.com/office/drawing/2014/main" id="{B1346D9F-4656-C5BC-5980-E4DE93E2834C}"/>
                </a:ext>
              </a:extLst>
            </p:cNvPr>
            <p:cNvSpPr>
              <a:spLocks noChangeArrowheads="1"/>
            </p:cNvSpPr>
            <p:nvPr/>
          </p:nvSpPr>
          <p:spPr bwMode="auto">
            <a:xfrm rot="6420000">
              <a:off x="4342" y="1791"/>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15502" name="Oval 142">
            <a:extLst>
              <a:ext uri="{FF2B5EF4-FFF2-40B4-BE49-F238E27FC236}">
                <a16:creationId xmlns:a16="http://schemas.microsoft.com/office/drawing/2014/main" id="{A45B9E6C-3073-6669-69D2-8B0D71973E41}"/>
              </a:ext>
            </a:extLst>
          </p:cNvPr>
          <p:cNvSpPr>
            <a:spLocks noChangeArrowheads="1"/>
          </p:cNvSpPr>
          <p:nvPr/>
        </p:nvSpPr>
        <p:spPr bwMode="auto">
          <a:xfrm>
            <a:off x="6438720" y="1257859"/>
            <a:ext cx="1088601" cy="1088603"/>
          </a:xfrm>
          <a:prstGeom prst="ellipse">
            <a:avLst/>
          </a:prstGeom>
          <a:solidFill>
            <a:srgbClr val="3A1A0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nvGrpSpPr>
          <p:cNvPr id="15503" name="Group 143">
            <a:extLst>
              <a:ext uri="{FF2B5EF4-FFF2-40B4-BE49-F238E27FC236}">
                <a16:creationId xmlns:a16="http://schemas.microsoft.com/office/drawing/2014/main" id="{EF432FD9-E677-B07A-2627-D1C62C2C6073}"/>
              </a:ext>
            </a:extLst>
          </p:cNvPr>
          <p:cNvGrpSpPr>
            <a:grpSpLocks/>
          </p:cNvGrpSpPr>
          <p:nvPr/>
        </p:nvGrpSpPr>
        <p:grpSpPr bwMode="auto">
          <a:xfrm>
            <a:off x="7012779" y="1019787"/>
            <a:ext cx="729574" cy="673897"/>
            <a:chOff x="3842" y="454"/>
            <a:chExt cx="380" cy="351"/>
          </a:xfrm>
        </p:grpSpPr>
        <p:sp>
          <p:nvSpPr>
            <p:cNvPr id="15504" name="Oval 144">
              <a:extLst>
                <a:ext uri="{FF2B5EF4-FFF2-40B4-BE49-F238E27FC236}">
                  <a16:creationId xmlns:a16="http://schemas.microsoft.com/office/drawing/2014/main" id="{9276B79D-5B2B-D498-7C66-678EFBCF5AAD}"/>
                </a:ext>
              </a:extLst>
            </p:cNvPr>
            <p:cNvSpPr>
              <a:spLocks noChangeArrowheads="1"/>
            </p:cNvSpPr>
            <p:nvPr/>
          </p:nvSpPr>
          <p:spPr bwMode="auto">
            <a:xfrm rot="15780000">
              <a:off x="3850" y="462"/>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505" name="Oval 145">
              <a:extLst>
                <a:ext uri="{FF2B5EF4-FFF2-40B4-BE49-F238E27FC236}">
                  <a16:creationId xmlns:a16="http://schemas.microsoft.com/office/drawing/2014/main" id="{98F66AC8-2802-609B-7173-AD07A8DDBB62}"/>
                </a:ext>
              </a:extLst>
            </p:cNvPr>
            <p:cNvSpPr>
              <a:spLocks noChangeArrowheads="1"/>
            </p:cNvSpPr>
            <p:nvPr/>
          </p:nvSpPr>
          <p:spPr bwMode="auto">
            <a:xfrm rot="15780000">
              <a:off x="4104" y="657"/>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506" name="Oval 146">
              <a:extLst>
                <a:ext uri="{FF2B5EF4-FFF2-40B4-BE49-F238E27FC236}">
                  <a16:creationId xmlns:a16="http://schemas.microsoft.com/office/drawing/2014/main" id="{B0933D0F-F0BD-7B43-D6BB-40DBEB3B2B19}"/>
                </a:ext>
              </a:extLst>
            </p:cNvPr>
            <p:cNvSpPr>
              <a:spLocks noChangeArrowheads="1"/>
            </p:cNvSpPr>
            <p:nvPr/>
          </p:nvSpPr>
          <p:spPr bwMode="auto">
            <a:xfrm rot="15780000">
              <a:off x="3871" y="565"/>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507" name="Group 147">
            <a:extLst>
              <a:ext uri="{FF2B5EF4-FFF2-40B4-BE49-F238E27FC236}">
                <a16:creationId xmlns:a16="http://schemas.microsoft.com/office/drawing/2014/main" id="{9619B831-0C36-0147-07F0-6F40F8CCCF36}"/>
              </a:ext>
            </a:extLst>
          </p:cNvPr>
          <p:cNvGrpSpPr>
            <a:grpSpLocks/>
          </p:cNvGrpSpPr>
          <p:nvPr/>
        </p:nvGrpSpPr>
        <p:grpSpPr bwMode="auto">
          <a:xfrm>
            <a:off x="6168008" y="1215620"/>
            <a:ext cx="670057" cy="714215"/>
            <a:chOff x="3402" y="556"/>
            <a:chExt cx="349" cy="372"/>
          </a:xfrm>
        </p:grpSpPr>
        <p:sp>
          <p:nvSpPr>
            <p:cNvPr id="15508" name="Oval 148">
              <a:extLst>
                <a:ext uri="{FF2B5EF4-FFF2-40B4-BE49-F238E27FC236}">
                  <a16:creationId xmlns:a16="http://schemas.microsoft.com/office/drawing/2014/main" id="{ED426291-CF95-5076-556C-46ABE7209BF6}"/>
                </a:ext>
              </a:extLst>
            </p:cNvPr>
            <p:cNvSpPr>
              <a:spLocks noChangeArrowheads="1"/>
            </p:cNvSpPr>
            <p:nvPr/>
          </p:nvSpPr>
          <p:spPr bwMode="auto">
            <a:xfrm rot="10440000">
              <a:off x="3408" y="811"/>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509" name="Oval 149">
              <a:extLst>
                <a:ext uri="{FF2B5EF4-FFF2-40B4-BE49-F238E27FC236}">
                  <a16:creationId xmlns:a16="http://schemas.microsoft.com/office/drawing/2014/main" id="{282DFB77-AFE1-09A4-9A7C-51AB723486EA}"/>
                </a:ext>
              </a:extLst>
            </p:cNvPr>
            <p:cNvSpPr>
              <a:spLocks noChangeArrowheads="1"/>
            </p:cNvSpPr>
            <p:nvPr/>
          </p:nvSpPr>
          <p:spPr bwMode="auto">
            <a:xfrm rot="10440000">
              <a:off x="3610" y="562"/>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510" name="Oval 150">
              <a:extLst>
                <a:ext uri="{FF2B5EF4-FFF2-40B4-BE49-F238E27FC236}">
                  <a16:creationId xmlns:a16="http://schemas.microsoft.com/office/drawing/2014/main" id="{861D4930-B386-8C18-068F-F2971C19E552}"/>
                </a:ext>
              </a:extLst>
            </p:cNvPr>
            <p:cNvSpPr>
              <a:spLocks noChangeArrowheads="1"/>
            </p:cNvSpPr>
            <p:nvPr/>
          </p:nvSpPr>
          <p:spPr bwMode="auto">
            <a:xfrm rot="10440000">
              <a:off x="3513" y="680"/>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511" name="Group 151">
            <a:extLst>
              <a:ext uri="{FF2B5EF4-FFF2-40B4-BE49-F238E27FC236}">
                <a16:creationId xmlns:a16="http://schemas.microsoft.com/office/drawing/2014/main" id="{E51ADDCD-9BA2-C5A6-F15E-B81BC91E8B9D}"/>
              </a:ext>
            </a:extLst>
          </p:cNvPr>
          <p:cNvGrpSpPr>
            <a:grpSpLocks/>
          </p:cNvGrpSpPr>
          <p:nvPr/>
        </p:nvGrpSpPr>
        <p:grpSpPr bwMode="auto">
          <a:xfrm>
            <a:off x="6686391" y="1908717"/>
            <a:ext cx="687336" cy="815971"/>
            <a:chOff x="3672" y="917"/>
            <a:chExt cx="358" cy="425"/>
          </a:xfrm>
        </p:grpSpPr>
        <p:sp>
          <p:nvSpPr>
            <p:cNvPr id="15512" name="Oval 152">
              <a:extLst>
                <a:ext uri="{FF2B5EF4-FFF2-40B4-BE49-F238E27FC236}">
                  <a16:creationId xmlns:a16="http://schemas.microsoft.com/office/drawing/2014/main" id="{B05C5B3C-FC1C-4E6C-5926-562B2CCEAB99}"/>
                </a:ext>
              </a:extLst>
            </p:cNvPr>
            <p:cNvSpPr>
              <a:spLocks noChangeArrowheads="1"/>
            </p:cNvSpPr>
            <p:nvPr/>
          </p:nvSpPr>
          <p:spPr bwMode="auto">
            <a:xfrm rot="6420000">
              <a:off x="3835" y="1216"/>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513" name="Oval 153">
              <a:extLst>
                <a:ext uri="{FF2B5EF4-FFF2-40B4-BE49-F238E27FC236}">
                  <a16:creationId xmlns:a16="http://schemas.microsoft.com/office/drawing/2014/main" id="{CE9E35CF-01D5-28D0-5023-EC55845F6212}"/>
                </a:ext>
              </a:extLst>
            </p:cNvPr>
            <p:cNvSpPr>
              <a:spLocks noChangeArrowheads="1"/>
            </p:cNvSpPr>
            <p:nvPr/>
          </p:nvSpPr>
          <p:spPr bwMode="auto">
            <a:xfrm rot="6420000">
              <a:off x="3687" y="932"/>
              <a:ext cx="112" cy="112"/>
            </a:xfrm>
            <a:prstGeom prst="ellipse">
              <a:avLst/>
            </a:prstGeom>
            <a:solidFill>
              <a:srgbClr val="729FC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514" name="Oval 154">
              <a:extLst>
                <a:ext uri="{FF2B5EF4-FFF2-40B4-BE49-F238E27FC236}">
                  <a16:creationId xmlns:a16="http://schemas.microsoft.com/office/drawing/2014/main" id="{7312C908-D947-1ABC-469D-340154C50A15}"/>
                </a:ext>
              </a:extLst>
            </p:cNvPr>
            <p:cNvSpPr>
              <a:spLocks noChangeArrowheads="1"/>
            </p:cNvSpPr>
            <p:nvPr/>
          </p:nvSpPr>
          <p:spPr bwMode="auto">
            <a:xfrm rot="6420000">
              <a:off x="3775" y="980"/>
              <a:ext cx="226" cy="226"/>
            </a:xfrm>
            <a:prstGeom prst="ellipse">
              <a:avLst/>
            </a:prstGeom>
            <a:solidFill>
              <a:srgbClr val="FF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15515" name="Freeform 155">
            <a:extLst>
              <a:ext uri="{FF2B5EF4-FFF2-40B4-BE49-F238E27FC236}">
                <a16:creationId xmlns:a16="http://schemas.microsoft.com/office/drawing/2014/main" id="{F916EEA1-89D0-75EA-A606-C0752AE801E9}"/>
              </a:ext>
            </a:extLst>
          </p:cNvPr>
          <p:cNvSpPr>
            <a:spLocks noChangeArrowheads="1"/>
          </p:cNvSpPr>
          <p:nvPr/>
        </p:nvSpPr>
        <p:spPr bwMode="auto">
          <a:xfrm>
            <a:off x="6096002" y="97917"/>
            <a:ext cx="1919" cy="6794642"/>
          </a:xfrm>
          <a:custGeom>
            <a:avLst/>
            <a:gdLst>
              <a:gd name="T0" fmla="*/ 0 w 1"/>
              <a:gd name="T1" fmla="*/ 0 h 15606"/>
              <a:gd name="T2" fmla="*/ 0 w 1"/>
              <a:gd name="T3" fmla="*/ 15273 h 15606"/>
            </a:gdLst>
            <a:ahLst/>
            <a:cxnLst>
              <a:cxn ang="0">
                <a:pos x="T0" y="T1"/>
              </a:cxn>
              <a:cxn ang="0">
                <a:pos x="T2" y="T3"/>
              </a:cxn>
            </a:cxnLst>
            <a:rect l="0" t="0" r="r" b="b"/>
            <a:pathLst>
              <a:path w="1" h="15606">
                <a:moveTo>
                  <a:pt x="0" y="0"/>
                </a:moveTo>
                <a:cubicBezTo>
                  <a:pt x="0" y="15605"/>
                  <a:pt x="0" y="15273"/>
                  <a:pt x="0" y="15273"/>
                </a:cubicBezTo>
              </a:path>
            </a:pathLst>
          </a:custGeom>
          <a:noFill/>
          <a:ln w="144000" cap="rnd">
            <a:solidFill>
              <a:srgbClr val="FFFFFF"/>
            </a:solidFill>
            <a:prstDash val="lg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516" name="Text Box 156">
            <a:extLst>
              <a:ext uri="{FF2B5EF4-FFF2-40B4-BE49-F238E27FC236}">
                <a16:creationId xmlns:a16="http://schemas.microsoft.com/office/drawing/2014/main" id="{D70B831F-ACAA-A4A3-6121-04413F6A5F3D}"/>
              </a:ext>
            </a:extLst>
          </p:cNvPr>
          <p:cNvSpPr txBox="1">
            <a:spLocks noChangeArrowheads="1"/>
          </p:cNvSpPr>
          <p:nvPr/>
        </p:nvSpPr>
        <p:spPr bwMode="auto">
          <a:xfrm>
            <a:off x="6001365" y="4206852"/>
            <a:ext cx="6182184" cy="17413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431800" indent="-323850">
              <a:tabLst>
                <a:tab pos="449263" algn="l"/>
                <a:tab pos="898525" algn="l"/>
                <a:tab pos="1347788" algn="l"/>
                <a:tab pos="1797050" algn="l"/>
                <a:tab pos="2246313" algn="l"/>
                <a:tab pos="2695575" algn="l"/>
                <a:tab pos="3144838" algn="l"/>
                <a:tab pos="3594100" algn="l"/>
                <a:tab pos="4043363" algn="l"/>
                <a:tab pos="4492625" algn="l"/>
                <a:tab pos="4941888" algn="l"/>
              </a:tabLst>
              <a:defRPr>
                <a:solidFill>
                  <a:srgbClr val="000000"/>
                </a:solidFill>
                <a:latin typeface="Nimbus Roman" pitchFamily="16" charset="0"/>
                <a:ea typeface="Nimbus Sans" charset="0"/>
                <a:cs typeface="Nimbus Sans"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Lst>
              <a:defRPr>
                <a:solidFill>
                  <a:srgbClr val="000000"/>
                </a:solidFill>
                <a:latin typeface="Nimbus Roman" pitchFamily="16" charset="0"/>
                <a:ea typeface="Nimbus Sans" charset="0"/>
                <a:cs typeface="Nimbus Sans"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Lst>
              <a:defRPr>
                <a:solidFill>
                  <a:srgbClr val="000000"/>
                </a:solidFill>
                <a:latin typeface="Nimbus Roman" pitchFamily="16" charset="0"/>
                <a:ea typeface="Nimbus Sans" charset="0"/>
                <a:cs typeface="Nimbus Sans"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Lst>
              <a:defRPr>
                <a:solidFill>
                  <a:srgbClr val="000000"/>
                </a:solidFill>
                <a:latin typeface="Nimbus Roman" pitchFamily="16" charset="0"/>
                <a:ea typeface="Nimbus Sans" charset="0"/>
                <a:cs typeface="Nimbus Sans"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Lst>
              <a:defRPr>
                <a:solidFill>
                  <a:srgbClr val="000000"/>
                </a:solidFill>
                <a:latin typeface="Nimbus Roman" pitchFamily="16" charset="0"/>
                <a:ea typeface="Nimbus Sans" charset="0"/>
                <a:cs typeface="Nimbus Sans" charset="0"/>
              </a:defRPr>
            </a:lvl5pPr>
            <a:lvl6pPr marL="25146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Lst>
              <a:defRPr>
                <a:solidFill>
                  <a:srgbClr val="000000"/>
                </a:solidFill>
                <a:latin typeface="Nimbus Roman" pitchFamily="16" charset="0"/>
                <a:ea typeface="Nimbus Sans" charset="0"/>
                <a:cs typeface="Nimbus Sans" charset="0"/>
              </a:defRPr>
            </a:lvl6pPr>
            <a:lvl7pPr marL="29718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Lst>
              <a:defRPr>
                <a:solidFill>
                  <a:srgbClr val="000000"/>
                </a:solidFill>
                <a:latin typeface="Nimbus Roman" pitchFamily="16" charset="0"/>
                <a:ea typeface="Nimbus Sans" charset="0"/>
                <a:cs typeface="Nimbus Sans" charset="0"/>
              </a:defRPr>
            </a:lvl7pPr>
            <a:lvl8pPr marL="34290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Lst>
              <a:defRPr>
                <a:solidFill>
                  <a:srgbClr val="000000"/>
                </a:solidFill>
                <a:latin typeface="Nimbus Roman" pitchFamily="16" charset="0"/>
                <a:ea typeface="Nimbus Sans" charset="0"/>
                <a:cs typeface="Nimbus Sans" charset="0"/>
              </a:defRPr>
            </a:lvl8pPr>
            <a:lvl9pPr marL="38862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Lst>
              <a:defRPr>
                <a:solidFill>
                  <a:srgbClr val="000000"/>
                </a:solidFill>
                <a:latin typeface="Nimbus Roman" pitchFamily="16" charset="0"/>
                <a:ea typeface="Nimbus Sans" charset="0"/>
                <a:cs typeface="Nimbus Sans" charset="0"/>
              </a:defRPr>
            </a:lvl9pPr>
          </a:lstStyle>
          <a:p>
            <a:pPr marL="431800" marR="0" lvl="0" indent="-323850" algn="l" defTabSz="914400" rtl="0" eaLnBrk="1" fontAlgn="auto" latinLnBrk="0" hangingPunct="1">
              <a:lnSpc>
                <a:spcPct val="116000"/>
              </a:lnSpc>
              <a:spcBef>
                <a:spcPts val="1723"/>
              </a:spcBef>
              <a:spcAft>
                <a:spcPts val="0"/>
              </a:spcAft>
              <a:buClr>
                <a:srgbClr val="FFFFFF"/>
              </a:buClr>
              <a:buSzPct val="45000"/>
              <a:buFont typeface="Wingdings" pitchFamily="2" charset="2"/>
              <a:buChar char=""/>
              <a:tabLst>
                <a:tab pos="449263" algn="l"/>
                <a:tab pos="898525" algn="l"/>
                <a:tab pos="1347788" algn="l"/>
                <a:tab pos="1797050" algn="l"/>
                <a:tab pos="2246313" algn="l"/>
                <a:tab pos="2695575" algn="l"/>
                <a:tab pos="3144838" algn="l"/>
                <a:tab pos="3594100" algn="l"/>
                <a:tab pos="4043363" algn="l"/>
                <a:tab pos="4492625" algn="l"/>
                <a:tab pos="4941888" algn="l"/>
              </a:tabLst>
              <a:defRPr/>
            </a:pPr>
            <a:r>
              <a:rPr kumimoji="0" lang="en-GB" alt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Large number of nuclei means the water vapour is more spread out, which leads to a large number of smaller droplets.</a:t>
            </a:r>
          </a:p>
          <a:p>
            <a:pPr marL="431800" marR="0" lvl="0" indent="-323850" algn="l" defTabSz="914400" rtl="0" eaLnBrk="1" fontAlgn="auto" latinLnBrk="0" hangingPunct="1">
              <a:lnSpc>
                <a:spcPct val="116000"/>
              </a:lnSpc>
              <a:spcBef>
                <a:spcPts val="1723"/>
              </a:spcBef>
              <a:spcAft>
                <a:spcPts val="0"/>
              </a:spcAft>
              <a:buClr>
                <a:srgbClr val="FFFFFF"/>
              </a:buClr>
              <a:buSzPct val="45000"/>
              <a:buFont typeface="Wingdings" pitchFamily="2" charset="2"/>
              <a:buChar char=""/>
              <a:tabLst>
                <a:tab pos="449263" algn="l"/>
                <a:tab pos="898525" algn="l"/>
                <a:tab pos="1347788" algn="l"/>
                <a:tab pos="1797050" algn="l"/>
                <a:tab pos="2246313" algn="l"/>
                <a:tab pos="2695575" algn="l"/>
                <a:tab pos="3144838" algn="l"/>
                <a:tab pos="3594100" algn="l"/>
                <a:tab pos="4043363" algn="l"/>
                <a:tab pos="4492625" algn="l"/>
                <a:tab pos="4941888" algn="l"/>
              </a:tabLst>
              <a:defRPr/>
            </a:pPr>
            <a:r>
              <a:rPr kumimoji="0" lang="en-GB" alt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Leads to more reflection of light, as discussed earlier.</a:t>
            </a:r>
          </a:p>
        </p:txBody>
      </p:sp>
      <p:sp>
        <p:nvSpPr>
          <p:cNvPr id="2" name="Freeform 13">
            <a:extLst>
              <a:ext uri="{FF2B5EF4-FFF2-40B4-BE49-F238E27FC236}">
                <a16:creationId xmlns:a16="http://schemas.microsoft.com/office/drawing/2014/main" id="{E212747F-C975-24EC-7E18-5195198AAEEE}"/>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a:extLst>
              <a:ext uri="{FF2B5EF4-FFF2-40B4-BE49-F238E27FC236}">
                <a16:creationId xmlns:a16="http://schemas.microsoft.com/office/drawing/2014/main" id="{7A7BE96C-8DF5-1AF7-08CF-2D55586C4BBA}"/>
              </a:ext>
            </a:extLst>
          </p:cNvPr>
          <p:cNvSpPr>
            <a:spLocks noGrp="1" noChangeArrowheads="1"/>
          </p:cNvSpPr>
          <p:nvPr>
            <p:ph type="body"/>
          </p:nvPr>
        </p:nvSpPr>
        <p:spPr>
          <a:xfrm>
            <a:off x="347235" y="1486228"/>
            <a:ext cx="8140515" cy="4957268"/>
          </a:xfrm>
          <a:ln/>
        </p:spPr>
        <p:txBody>
          <a:bodyPr anchor="t">
            <a:noAutofit/>
          </a:bodyPr>
          <a:lstStyle/>
          <a:p>
            <a:pPr marL="130555" algn="l">
              <a:spcBef>
                <a:spcPts val="1723"/>
              </a:spcBef>
              <a:buClr>
                <a:srgbClr val="FFFFFF"/>
              </a:buClr>
              <a:buSzPct val="45000"/>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Lst>
            </a:pPr>
            <a:r>
              <a:rPr lang="en-GB" altLang="en-US" sz="2200" dirty="0">
                <a:latin typeface="Calibri" panose="020F0502020204030204" pitchFamily="34" charset="0"/>
                <a:cs typeface="Calibri" panose="020F0502020204030204" pitchFamily="34" charset="0"/>
              </a:rPr>
              <a:t>Marine cloud brightening (MCB) exploits this interaction of EM theory with cloud physics in order to modulate the brightness of clouds.</a:t>
            </a:r>
          </a:p>
          <a:p>
            <a:pPr marL="130555" algn="l">
              <a:spcBef>
                <a:spcPts val="1723"/>
              </a:spcBef>
              <a:buClr>
                <a:srgbClr val="FFFFFF"/>
              </a:buClr>
              <a:buSzPct val="45000"/>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Lst>
            </a:pPr>
            <a:r>
              <a:rPr lang="en-GB" altLang="en-US" sz="2200" dirty="0">
                <a:latin typeface="Calibri" panose="020F0502020204030204" pitchFamily="34" charset="0"/>
                <a:cs typeface="Calibri" panose="020F0502020204030204" pitchFamily="34" charset="0"/>
              </a:rPr>
              <a:t>John Latham et al (formerly part of UMIST, merged with UoM) originally proposed this in 1990.</a:t>
            </a:r>
          </a:p>
          <a:p>
            <a:pPr marL="130555" algn="l">
              <a:spcBef>
                <a:spcPts val="1723"/>
              </a:spcBef>
              <a:buClr>
                <a:srgbClr val="FFFFFF"/>
              </a:buClr>
              <a:buSzPct val="45000"/>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Lst>
            </a:pPr>
            <a:r>
              <a:rPr lang="en-GB" altLang="en-US" sz="2200" dirty="0">
                <a:latin typeface="Calibri" panose="020F0502020204030204" pitchFamily="34" charset="0"/>
                <a:cs typeface="Calibri" panose="020F0502020204030204" pitchFamily="34" charset="0"/>
              </a:rPr>
              <a:t>Picture to the right is from his original paper and is an artistic impression of the concept.</a:t>
            </a:r>
          </a:p>
          <a:p>
            <a:pPr marL="130555" algn="l">
              <a:spcBef>
                <a:spcPts val="1723"/>
              </a:spcBef>
              <a:buClr>
                <a:srgbClr val="FFFFFF"/>
              </a:buClr>
              <a:buSzPct val="45000"/>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Lst>
            </a:pPr>
            <a:r>
              <a:rPr lang="en-GB" altLang="en-US" sz="2200" dirty="0">
                <a:latin typeface="Calibri" panose="020F0502020204030204" pitchFamily="34" charset="0"/>
                <a:cs typeface="Calibri" panose="020F0502020204030204" pitchFamily="34" charset="0"/>
              </a:rPr>
              <a:t>The idea is to seed new clouds over the ocean, and increase the </a:t>
            </a:r>
            <a:r>
              <a:rPr lang="en-GB" altLang="en-US" sz="2200" dirty="0" err="1">
                <a:latin typeface="Calibri" panose="020F0502020204030204" pitchFamily="34" charset="0"/>
                <a:cs typeface="Calibri" panose="020F0502020204030204" pitchFamily="34" charset="0"/>
              </a:rPr>
              <a:t>bightness</a:t>
            </a:r>
            <a:r>
              <a:rPr lang="en-GB" altLang="en-US" sz="2200" dirty="0">
                <a:latin typeface="Calibri" panose="020F0502020204030204" pitchFamily="34" charset="0"/>
                <a:cs typeface="Calibri" panose="020F0502020204030204" pitchFamily="34" charset="0"/>
              </a:rPr>
              <a:t> of existing ones.</a:t>
            </a:r>
          </a:p>
          <a:p>
            <a:pPr marL="130555" algn="l">
              <a:spcBef>
                <a:spcPts val="1723"/>
              </a:spcBef>
              <a:buClr>
                <a:srgbClr val="FFFFFF"/>
              </a:buClr>
              <a:buSzPct val="45000"/>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Lst>
            </a:pPr>
            <a:r>
              <a:rPr lang="en-GB" altLang="en-US" sz="2200" dirty="0">
                <a:latin typeface="Calibri" panose="020F0502020204030204" pitchFamily="34" charset="0"/>
                <a:cs typeface="Calibri" panose="020F0502020204030204" pitchFamily="34" charset="0"/>
              </a:rPr>
              <a:t>This is done over the ocean because there is lots of water vapour, and marine stratocumulus clouds often contain large droplets with low number concentration. There is also a good source of aerosol in the form of sea salt spray!</a:t>
            </a:r>
          </a:p>
        </p:txBody>
      </p:sp>
      <p:pic>
        <p:nvPicPr>
          <p:cNvPr id="16386" name="Picture 2">
            <a:extLst>
              <a:ext uri="{FF2B5EF4-FFF2-40B4-BE49-F238E27FC236}">
                <a16:creationId xmlns:a16="http://schemas.microsoft.com/office/drawing/2014/main" id="{94F779B6-52E0-3554-8205-B9450021ED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1106" y="1340768"/>
            <a:ext cx="3617153" cy="495726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TextBox 5">
            <a:extLst>
              <a:ext uri="{FF2B5EF4-FFF2-40B4-BE49-F238E27FC236}">
                <a16:creationId xmlns:a16="http://schemas.microsoft.com/office/drawing/2014/main" id="{01264729-E113-7010-2EFD-4A99AF557C05}"/>
              </a:ext>
            </a:extLst>
          </p:cNvPr>
          <p:cNvSpPr txBox="1"/>
          <p:nvPr/>
        </p:nvSpPr>
        <p:spPr>
          <a:xfrm>
            <a:off x="551384" y="652778"/>
            <a:ext cx="9231783" cy="569580"/>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733" b="1" i="1" dirty="0">
                <a:solidFill>
                  <a:srgbClr val="46245A"/>
                </a:solidFill>
                <a:latin typeface="DM Sans" pitchFamily="2" charset="0"/>
                <a:ea typeface="+mn-ea"/>
              </a:rPr>
              <a:t>Marine Cloud Brightening</a:t>
            </a:r>
            <a:endParaRPr lang="en-US" sz="3733" i="1" dirty="0">
              <a:solidFill>
                <a:srgbClr val="46245A"/>
              </a:solidFill>
              <a:latin typeface="DM Sans" pitchFamily="2" charset="0"/>
              <a:ea typeface="+mn-ea"/>
            </a:endParaRPr>
          </a:p>
        </p:txBody>
      </p:sp>
      <p:sp>
        <p:nvSpPr>
          <p:cNvPr id="3" name="Freeform 13">
            <a:extLst>
              <a:ext uri="{FF2B5EF4-FFF2-40B4-BE49-F238E27FC236}">
                <a16:creationId xmlns:a16="http://schemas.microsoft.com/office/drawing/2014/main" id="{56ED3457-7B9C-1BCF-0543-1F42E0EA7FD6}"/>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364968FE-D448-8E1F-20D8-D78E8B10F230}"/>
              </a:ext>
            </a:extLst>
          </p:cNvPr>
          <p:cNvSpPr>
            <a:spLocks noGrp="1" noChangeArrowheads="1"/>
          </p:cNvSpPr>
          <p:nvPr>
            <p:ph type="body" idx="1"/>
          </p:nvPr>
        </p:nvSpPr>
        <p:spPr>
          <a:xfrm>
            <a:off x="407368" y="1772816"/>
            <a:ext cx="10970496" cy="4824536"/>
          </a:xfrm>
          <a:ln/>
        </p:spPr>
        <p:txBody>
          <a:bodyPr>
            <a:normAutofit/>
          </a:bodyPr>
          <a:lstStyle/>
          <a:p>
            <a:pPr marL="130555" indent="0">
              <a:buClr>
                <a:srgbClr val="FFFFFF"/>
              </a:buClr>
              <a:buSzPct val="45000"/>
              <a:buNone/>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sz="2200" dirty="0">
                <a:latin typeface="Calibri" panose="020F0502020204030204" pitchFamily="34" charset="0"/>
                <a:cs typeface="Calibri" panose="020F0502020204030204" pitchFamily="34" charset="0"/>
              </a:rPr>
              <a:t>The potential consequences of MCB are mostly generally that of [SRM] geoengineering generally as opposed to physical and scientific constraints with the methodology. This is because small scale testing can be conducted and quickly stopped if there are issues.</a:t>
            </a:r>
          </a:p>
          <a:p>
            <a:pPr marL="130555" indent="0">
              <a:buClr>
                <a:srgbClr val="FFFFFF"/>
              </a:buClr>
              <a:buSzPct val="45000"/>
              <a:buNone/>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sz="2200" dirty="0">
                <a:latin typeface="Calibri" panose="020F0502020204030204" pitchFamily="34" charset="0"/>
                <a:cs typeface="Calibri" panose="020F0502020204030204" pitchFamily="34" charset="0"/>
              </a:rPr>
              <a:t>There are issues surrounding the social perception of geoengineering generally.</a:t>
            </a:r>
          </a:p>
          <a:p>
            <a:pPr marL="130555" indent="0">
              <a:buClr>
                <a:srgbClr val="FFFFFF"/>
              </a:buClr>
              <a:buSzPct val="45000"/>
              <a:buNone/>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sz="2200" dirty="0">
                <a:latin typeface="Calibri" panose="020F0502020204030204" pitchFamily="34" charset="0"/>
                <a:cs typeface="Calibri" panose="020F0502020204030204" pitchFamily="34" charset="0"/>
              </a:rPr>
              <a:t>Modifying the clouds in this way leads to lower precipitation rates, because clouds need the larger droplets to trigger rain. This is less of an issue over the ocean but worth keeping in mind for later!</a:t>
            </a:r>
          </a:p>
          <a:p>
            <a:pPr marL="130555" indent="0">
              <a:buClr>
                <a:srgbClr val="FFFFFF"/>
              </a:buClr>
              <a:buSzPct val="45000"/>
              <a:buNone/>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sz="2200" dirty="0">
                <a:latin typeface="Calibri" panose="020F0502020204030204" pitchFamily="34" charset="0"/>
                <a:cs typeface="Calibri" panose="020F0502020204030204" pitchFamily="34" charset="0"/>
              </a:rPr>
              <a:t>It is also possible that MCB could be used as an excuse to continue greenhouse gas pollution, and enhance a </a:t>
            </a:r>
            <a:r>
              <a:rPr lang="en-GB" altLang="en-US" sz="2200" dirty="0" err="1">
                <a:latin typeface="Calibri" panose="020F0502020204030204" pitchFamily="34" charset="0"/>
                <a:cs typeface="Calibri" panose="020F0502020204030204" pitchFamily="34" charset="0"/>
              </a:rPr>
              <a:t>relliance</a:t>
            </a:r>
            <a:r>
              <a:rPr lang="en-GB" altLang="en-US" sz="2200" dirty="0">
                <a:latin typeface="Calibri" panose="020F0502020204030204" pitchFamily="34" charset="0"/>
                <a:cs typeface="Calibri" panose="020F0502020204030204" pitchFamily="34" charset="0"/>
              </a:rPr>
              <a:t> on the technology.</a:t>
            </a:r>
          </a:p>
          <a:p>
            <a:pPr marL="130555" indent="0">
              <a:buClr>
                <a:srgbClr val="FFFFFF"/>
              </a:buClr>
              <a:buSzPct val="45000"/>
              <a:buNone/>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sz="2200" dirty="0">
                <a:latin typeface="Calibri" panose="020F0502020204030204" pitchFamily="34" charset="0"/>
                <a:cs typeface="Calibri" panose="020F0502020204030204" pitchFamily="34" charset="0"/>
              </a:rPr>
              <a:t>Should MCB be stopped for any reason, the step change in radiative forcing would be huge and immediate, and likely not give ecosystems any chance for change.</a:t>
            </a:r>
          </a:p>
          <a:p>
            <a:pPr marL="130555" indent="0">
              <a:buClr>
                <a:srgbClr val="FFFFFF"/>
              </a:buClr>
              <a:buSzPct val="45000"/>
              <a:buNone/>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sz="2200" dirty="0">
                <a:latin typeface="Calibri" panose="020F0502020204030204" pitchFamily="34" charset="0"/>
                <a:cs typeface="Calibri" panose="020F0502020204030204" pitchFamily="34" charset="0"/>
              </a:rPr>
              <a:t>It should be stressed that a reduction in radiative forcing is not exactly equal to a reduction in greenhouse gas </a:t>
            </a:r>
            <a:r>
              <a:rPr lang="en-GB" altLang="en-US" sz="2200" dirty="0" err="1">
                <a:latin typeface="Calibri" panose="020F0502020204030204" pitchFamily="34" charset="0"/>
                <a:cs typeface="Calibri" panose="020F0502020204030204" pitchFamily="34" charset="0"/>
              </a:rPr>
              <a:t>emmissions</a:t>
            </a:r>
            <a:r>
              <a:rPr lang="en-GB" altLang="en-US" sz="2200" dirty="0">
                <a:latin typeface="Calibri" panose="020F0502020204030204" pitchFamily="34" charset="0"/>
                <a:cs typeface="Calibri" panose="020F0502020204030204" pitchFamily="34" charset="0"/>
              </a:rPr>
              <a:t>, </a:t>
            </a:r>
            <a:r>
              <a:rPr lang="en-GB" altLang="en-US" sz="2200" dirty="0" err="1">
                <a:latin typeface="Calibri" panose="020F0502020204030204" pitchFamily="34" charset="0"/>
                <a:cs typeface="Calibri" panose="020F0502020204030204" pitchFamily="34" charset="0"/>
              </a:rPr>
              <a:t>mearly</a:t>
            </a:r>
            <a:r>
              <a:rPr lang="en-GB" altLang="en-US" sz="2200" dirty="0">
                <a:latin typeface="Calibri" panose="020F0502020204030204" pitchFamily="34" charset="0"/>
                <a:cs typeface="Calibri" panose="020F0502020204030204" pitchFamily="34" charset="0"/>
              </a:rPr>
              <a:t> a mitigation thereof. </a:t>
            </a:r>
          </a:p>
        </p:txBody>
      </p:sp>
      <p:sp>
        <p:nvSpPr>
          <p:cNvPr id="2" name="TextBox 5">
            <a:extLst>
              <a:ext uri="{FF2B5EF4-FFF2-40B4-BE49-F238E27FC236}">
                <a16:creationId xmlns:a16="http://schemas.microsoft.com/office/drawing/2014/main" id="{2AAAE6BE-45C3-AED0-0424-2207F087744A}"/>
              </a:ext>
            </a:extLst>
          </p:cNvPr>
          <p:cNvSpPr txBox="1"/>
          <p:nvPr/>
        </p:nvSpPr>
        <p:spPr>
          <a:xfrm>
            <a:off x="593135" y="935009"/>
            <a:ext cx="9231783" cy="569580"/>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733" b="1" i="1" dirty="0">
                <a:solidFill>
                  <a:srgbClr val="46245A"/>
                </a:solidFill>
                <a:latin typeface="DM Sans" pitchFamily="2" charset="0"/>
                <a:ea typeface="+mn-ea"/>
              </a:rPr>
              <a:t>Unforeseen Consequences #1!</a:t>
            </a:r>
            <a:endParaRPr lang="en-US" sz="3733" i="1" dirty="0">
              <a:solidFill>
                <a:srgbClr val="46245A"/>
              </a:solidFill>
              <a:latin typeface="DM Sans" pitchFamily="2" charset="0"/>
              <a:ea typeface="+mn-ea"/>
            </a:endParaRPr>
          </a:p>
        </p:txBody>
      </p:sp>
      <p:sp>
        <p:nvSpPr>
          <p:cNvPr id="3" name="Freeform 13">
            <a:extLst>
              <a:ext uri="{FF2B5EF4-FFF2-40B4-BE49-F238E27FC236}">
                <a16:creationId xmlns:a16="http://schemas.microsoft.com/office/drawing/2014/main" id="{816C25EB-B0B0-2396-C270-3147A2D8E0F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a:extLst>
              <a:ext uri="{FF2B5EF4-FFF2-40B4-BE49-F238E27FC236}">
                <a16:creationId xmlns:a16="http://schemas.microsoft.com/office/drawing/2014/main" id="{D4F2FD16-CAAE-E1AC-5DE6-2586086A03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8779" y="5120462"/>
            <a:ext cx="5433410" cy="153018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8435" name="Picture 3">
            <a:extLst>
              <a:ext uri="{FF2B5EF4-FFF2-40B4-BE49-F238E27FC236}">
                <a16:creationId xmlns:a16="http://schemas.microsoft.com/office/drawing/2014/main" id="{667FC682-B563-A91B-CF56-B02EA73CB1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8134" y="3594908"/>
            <a:ext cx="5322054" cy="132859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8436" name="Picture 4">
            <a:extLst>
              <a:ext uri="{FF2B5EF4-FFF2-40B4-BE49-F238E27FC236}">
                <a16:creationId xmlns:a16="http://schemas.microsoft.com/office/drawing/2014/main" id="{83AB7DF4-D0A6-FB63-74E7-379DCE8756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8134" y="651547"/>
            <a:ext cx="5322054" cy="282520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437" name="Text Box 5">
            <a:extLst>
              <a:ext uri="{FF2B5EF4-FFF2-40B4-BE49-F238E27FC236}">
                <a16:creationId xmlns:a16="http://schemas.microsoft.com/office/drawing/2014/main" id="{ED34FCB2-F51E-0D9F-0F95-47BA203C4D38}"/>
              </a:ext>
            </a:extLst>
          </p:cNvPr>
          <p:cNvSpPr txBox="1">
            <a:spLocks noChangeArrowheads="1"/>
          </p:cNvSpPr>
          <p:nvPr/>
        </p:nvSpPr>
        <p:spPr bwMode="auto">
          <a:xfrm>
            <a:off x="216523" y="1628800"/>
            <a:ext cx="6311525" cy="4788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431800" indent="-323850">
              <a:tabLst>
                <a:tab pos="449263" algn="l"/>
                <a:tab pos="898525" algn="l"/>
                <a:tab pos="1347788" algn="l"/>
                <a:tab pos="1797050" algn="l"/>
                <a:tab pos="2246313" algn="l"/>
                <a:tab pos="2695575" algn="l"/>
                <a:tab pos="3144838" algn="l"/>
                <a:tab pos="3594100" algn="l"/>
                <a:tab pos="4043363" algn="l"/>
                <a:tab pos="4492625" algn="l"/>
                <a:tab pos="4941888" algn="l"/>
                <a:tab pos="5391150" algn="l"/>
              </a:tabLst>
              <a:defRPr>
                <a:solidFill>
                  <a:srgbClr val="000000"/>
                </a:solidFill>
                <a:latin typeface="Nimbus Roman" pitchFamily="16" charset="0"/>
                <a:ea typeface="Nimbus Sans" charset="0"/>
                <a:cs typeface="Nimbus Sans"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Lst>
              <a:defRPr>
                <a:solidFill>
                  <a:srgbClr val="000000"/>
                </a:solidFill>
                <a:latin typeface="Nimbus Roman" pitchFamily="16" charset="0"/>
                <a:ea typeface="Nimbus Sans" charset="0"/>
                <a:cs typeface="Nimbus Sans"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Lst>
              <a:defRPr>
                <a:solidFill>
                  <a:srgbClr val="000000"/>
                </a:solidFill>
                <a:latin typeface="Nimbus Roman" pitchFamily="16" charset="0"/>
                <a:ea typeface="Nimbus Sans" charset="0"/>
                <a:cs typeface="Nimbus Sans"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Lst>
              <a:defRPr>
                <a:solidFill>
                  <a:srgbClr val="000000"/>
                </a:solidFill>
                <a:latin typeface="Nimbus Roman" pitchFamily="16" charset="0"/>
                <a:ea typeface="Nimbus Sans" charset="0"/>
                <a:cs typeface="Nimbus Sans"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Lst>
              <a:defRPr>
                <a:solidFill>
                  <a:srgbClr val="000000"/>
                </a:solidFill>
                <a:latin typeface="Nimbus Roman" pitchFamily="16" charset="0"/>
                <a:ea typeface="Nimbus Sans" charset="0"/>
                <a:cs typeface="Nimbus Sans" charset="0"/>
              </a:defRPr>
            </a:lvl5pPr>
            <a:lvl6pPr marL="25146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Lst>
              <a:defRPr>
                <a:solidFill>
                  <a:srgbClr val="000000"/>
                </a:solidFill>
                <a:latin typeface="Nimbus Roman" pitchFamily="16" charset="0"/>
                <a:ea typeface="Nimbus Sans" charset="0"/>
                <a:cs typeface="Nimbus Sans" charset="0"/>
              </a:defRPr>
            </a:lvl6pPr>
            <a:lvl7pPr marL="29718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Lst>
              <a:defRPr>
                <a:solidFill>
                  <a:srgbClr val="000000"/>
                </a:solidFill>
                <a:latin typeface="Nimbus Roman" pitchFamily="16" charset="0"/>
                <a:ea typeface="Nimbus Sans" charset="0"/>
                <a:cs typeface="Nimbus Sans" charset="0"/>
              </a:defRPr>
            </a:lvl7pPr>
            <a:lvl8pPr marL="34290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Lst>
              <a:defRPr>
                <a:solidFill>
                  <a:srgbClr val="000000"/>
                </a:solidFill>
                <a:latin typeface="Nimbus Roman" pitchFamily="16" charset="0"/>
                <a:ea typeface="Nimbus Sans" charset="0"/>
                <a:cs typeface="Nimbus Sans" charset="0"/>
              </a:defRPr>
            </a:lvl8pPr>
            <a:lvl9pPr marL="38862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Lst>
              <a:defRPr>
                <a:solidFill>
                  <a:srgbClr val="000000"/>
                </a:solidFill>
                <a:latin typeface="Nimbus Roman" pitchFamily="16" charset="0"/>
                <a:ea typeface="Nimbus Sans" charset="0"/>
                <a:cs typeface="Nimbus Sans" charset="0"/>
              </a:defRPr>
            </a:lvl9pPr>
          </a:lstStyle>
          <a:p>
            <a:pPr marL="431800" marR="0" lvl="0" indent="-323850" algn="l" defTabSz="914400" rtl="0" eaLnBrk="1" fontAlgn="auto" latinLnBrk="0" hangingPunct="1">
              <a:lnSpc>
                <a:spcPct val="116000"/>
              </a:lnSpc>
              <a:spcBef>
                <a:spcPts val="1723"/>
              </a:spcBef>
              <a:spcAft>
                <a:spcPts val="0"/>
              </a:spcAft>
              <a:buClr>
                <a:srgbClr val="FFFFFF"/>
              </a:buClr>
              <a:buSzPct val="45000"/>
              <a:buFont typeface="Wingdings" pitchFamily="2"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Lst>
              <a:defRPr/>
            </a:pPr>
            <a:r>
              <a:rPr kumimoji="0" lang="en-GB" altLang="en-US"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In 2020, fuel regulations abruptly reduced the emission of </a:t>
            </a:r>
            <a:r>
              <a:rPr kumimoji="0" lang="en-GB" altLang="en-US" b="0" i="0" u="none" strike="noStrike" kern="120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sulfur</a:t>
            </a:r>
            <a:r>
              <a:rPr kumimoji="0" lang="en-GB" altLang="en-US"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dioxide from international shipping by about 80%.</a:t>
            </a:r>
          </a:p>
          <a:p>
            <a:pPr marL="431800" marR="0" lvl="0" indent="-323850" algn="l" defTabSz="914400" rtl="0" eaLnBrk="1" fontAlgn="auto" latinLnBrk="0" hangingPunct="1">
              <a:lnSpc>
                <a:spcPct val="116000"/>
              </a:lnSpc>
              <a:spcBef>
                <a:spcPts val="1723"/>
              </a:spcBef>
              <a:spcAft>
                <a:spcPts val="0"/>
              </a:spcAft>
              <a:buClr>
                <a:srgbClr val="FFFFFF"/>
              </a:buClr>
              <a:buSzPct val="45000"/>
              <a:buFont typeface="Wingdings" pitchFamily="2"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Lst>
              <a:defRPr/>
            </a:pPr>
            <a:r>
              <a:rPr kumimoji="0" lang="en-GB" altLang="en-US"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These regulations were put in place because sulphur </a:t>
            </a:r>
            <a:r>
              <a:rPr kumimoji="0" lang="en-GB" altLang="en-US" b="0" i="0" u="none" strike="noStrike" kern="120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emmissions</a:t>
            </a:r>
            <a:r>
              <a:rPr kumimoji="0" lang="en-GB" altLang="en-US"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are the cause of a large number of deaths per year.</a:t>
            </a:r>
          </a:p>
          <a:p>
            <a:pPr marL="431800" marR="0" lvl="0" indent="-323850" algn="l" defTabSz="914400" rtl="0" eaLnBrk="1" fontAlgn="auto" latinLnBrk="0" hangingPunct="1">
              <a:lnSpc>
                <a:spcPct val="116000"/>
              </a:lnSpc>
              <a:spcBef>
                <a:spcPts val="1723"/>
              </a:spcBef>
              <a:spcAft>
                <a:spcPts val="0"/>
              </a:spcAft>
              <a:buClr>
                <a:srgbClr val="FFFFFF"/>
              </a:buClr>
              <a:buSzPct val="45000"/>
              <a:buFont typeface="Wingdings" pitchFamily="2"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Lst>
              <a:defRPr/>
            </a:pPr>
            <a:r>
              <a:rPr kumimoji="0" lang="en-GB" altLang="en-US"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This </a:t>
            </a:r>
            <a:r>
              <a:rPr kumimoji="0" lang="en-GB" altLang="en-US" b="1"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reversed</a:t>
            </a:r>
            <a:r>
              <a:rPr kumimoji="0" lang="en-GB" altLang="en-US"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an accidental SRM </a:t>
            </a:r>
            <a:r>
              <a:rPr kumimoji="0" lang="en-GB" altLang="en-US" b="0" i="0" u="none" strike="noStrike" kern="120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geoeingineering</a:t>
            </a:r>
            <a:r>
              <a:rPr kumimoji="0" lang="en-GB" altLang="en-US"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effect.</a:t>
            </a:r>
          </a:p>
          <a:p>
            <a:pPr marL="431800" marR="0" lvl="0" indent="-323850" algn="l" defTabSz="914400" rtl="0" eaLnBrk="1" fontAlgn="auto" latinLnBrk="0" hangingPunct="1">
              <a:lnSpc>
                <a:spcPct val="116000"/>
              </a:lnSpc>
              <a:spcBef>
                <a:spcPts val="1723"/>
              </a:spcBef>
              <a:spcAft>
                <a:spcPts val="0"/>
              </a:spcAft>
              <a:buClr>
                <a:srgbClr val="FFFFFF"/>
              </a:buClr>
              <a:buSzPct val="45000"/>
              <a:buFont typeface="Wingdings" pitchFamily="2"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Lst>
              <a:defRPr/>
            </a:pPr>
            <a:r>
              <a:rPr kumimoji="0" lang="en-GB" altLang="en-US"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The result of this is a net radiative forcing impact of about +0.2W/m2 (Yuan et al 2024).</a:t>
            </a:r>
          </a:p>
          <a:p>
            <a:pPr marL="431800" marR="0" lvl="0" indent="-323850" algn="l" defTabSz="914400" rtl="0" eaLnBrk="1" fontAlgn="auto" latinLnBrk="0" hangingPunct="1">
              <a:lnSpc>
                <a:spcPct val="116000"/>
              </a:lnSpc>
              <a:spcBef>
                <a:spcPts val="1723"/>
              </a:spcBef>
              <a:spcAft>
                <a:spcPts val="0"/>
              </a:spcAft>
              <a:buClr>
                <a:srgbClr val="FFFFFF"/>
              </a:buClr>
              <a:buSzPct val="45000"/>
              <a:buFont typeface="Wingdings" pitchFamily="2"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Lst>
              <a:defRPr/>
            </a:pPr>
            <a:r>
              <a:rPr kumimoji="0" lang="en-GB" altLang="en-US"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There are other reasons why you would want to ban sulphur </a:t>
            </a:r>
            <a:r>
              <a:rPr kumimoji="0" lang="en-GB" altLang="en-US" b="0" i="0" u="none" strike="noStrike" kern="120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emmissions</a:t>
            </a:r>
            <a:r>
              <a:rPr kumimoji="0" lang="en-GB" altLang="en-US"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(human health impact).</a:t>
            </a:r>
          </a:p>
        </p:txBody>
      </p:sp>
      <p:pic>
        <p:nvPicPr>
          <p:cNvPr id="18438" name="Picture 6">
            <a:extLst>
              <a:ext uri="{FF2B5EF4-FFF2-40B4-BE49-F238E27FC236}">
                <a16:creationId xmlns:a16="http://schemas.microsoft.com/office/drawing/2014/main" id="{3DF40DEA-7580-2978-6841-8D66C3A39A5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2990" y="5661248"/>
            <a:ext cx="4571361" cy="63165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TextBox 5">
            <a:extLst>
              <a:ext uri="{FF2B5EF4-FFF2-40B4-BE49-F238E27FC236}">
                <a16:creationId xmlns:a16="http://schemas.microsoft.com/office/drawing/2014/main" id="{B69C11B7-7E97-F440-0892-A33C005D8A3C}"/>
              </a:ext>
            </a:extLst>
          </p:cNvPr>
          <p:cNvSpPr txBox="1"/>
          <p:nvPr/>
        </p:nvSpPr>
        <p:spPr>
          <a:xfrm>
            <a:off x="608459" y="744591"/>
            <a:ext cx="9231783" cy="550087"/>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200" b="1" i="1" dirty="0">
                <a:solidFill>
                  <a:srgbClr val="46245A"/>
                </a:solidFill>
                <a:latin typeface="DM Sans" pitchFamily="2" charset="0"/>
                <a:ea typeface="+mn-ea"/>
              </a:rPr>
              <a:t>Case Study: Global Shipping</a:t>
            </a:r>
            <a:endParaRPr lang="en-US" sz="3200" i="1" dirty="0">
              <a:solidFill>
                <a:srgbClr val="46245A"/>
              </a:solidFill>
              <a:latin typeface="DM Sans" pitchFamily="2" charset="0"/>
              <a:ea typeface="+mn-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a:extLst>
              <a:ext uri="{FF2B5EF4-FFF2-40B4-BE49-F238E27FC236}">
                <a16:creationId xmlns:a16="http://schemas.microsoft.com/office/drawing/2014/main" id="{AE7668EB-63FD-77FD-422E-C31F1A4EF95E}"/>
              </a:ext>
            </a:extLst>
          </p:cNvPr>
          <p:cNvSpPr txBox="1">
            <a:spLocks noChangeArrowheads="1"/>
          </p:cNvSpPr>
          <p:nvPr/>
        </p:nvSpPr>
        <p:spPr bwMode="auto">
          <a:xfrm>
            <a:off x="599710" y="1700808"/>
            <a:ext cx="5280266" cy="5312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431800" indent="-32385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1pPr>
            <a:lvl2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2pPr>
            <a:lvl3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3pPr>
            <a:lvl4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4pPr>
            <a:lvl5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5pPr>
            <a:lvl6pPr marL="25146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6pPr>
            <a:lvl7pPr marL="29718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7pPr>
            <a:lvl8pPr marL="34290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8pPr>
            <a:lvl9pPr marL="38862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9pPr>
          </a:lstStyle>
          <a:p>
            <a:pPr marL="107950" marR="0" lvl="0" indent="0" algn="l" defTabSz="914400" rtl="0" eaLnBrk="1" fontAlgn="auto" latinLnBrk="0" hangingPunct="1">
              <a:lnSpc>
                <a:spcPct val="116000"/>
              </a:lnSpc>
              <a:spcBef>
                <a:spcPts val="1723"/>
              </a:spcBef>
              <a:spcAft>
                <a:spcPts val="0"/>
              </a:spcAft>
              <a:buClr>
                <a:srgbClr val="FFFFFF"/>
              </a:buClr>
              <a:buSzPct val="45000"/>
              <a:tabLst>
                <a:tab pos="449263" algn="l"/>
                <a:tab pos="898525" algn="l"/>
                <a:tab pos="1347788" algn="l"/>
                <a:tab pos="1797050" algn="l"/>
                <a:tab pos="2246313" algn="l"/>
                <a:tab pos="2695575" algn="l"/>
                <a:tab pos="3144838" algn="l"/>
                <a:tab pos="3594100" algn="l"/>
                <a:tab pos="4043363" algn="l"/>
                <a:tab pos="4492625" algn="l"/>
              </a:tabLst>
              <a:defRPr/>
            </a:pPr>
            <a:r>
              <a:rPr kumimoji="0" lang="en-GB" altLang="en-US" sz="20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Southern Cross university in Australia have deployed MCB at a small scale to specifically protect the great barrier reef from coral bleaching.</a:t>
            </a:r>
          </a:p>
          <a:p>
            <a:pPr marL="107950" marR="0" lvl="0" indent="0" algn="l" defTabSz="914400" rtl="0" eaLnBrk="1" fontAlgn="auto" latinLnBrk="0" hangingPunct="1">
              <a:lnSpc>
                <a:spcPct val="116000"/>
              </a:lnSpc>
              <a:spcBef>
                <a:spcPts val="1723"/>
              </a:spcBef>
              <a:spcAft>
                <a:spcPts val="0"/>
              </a:spcAft>
              <a:buClr>
                <a:srgbClr val="FFFFFF"/>
              </a:buClr>
              <a:buSzPct val="45000"/>
              <a:tabLst>
                <a:tab pos="449263" algn="l"/>
                <a:tab pos="898525" algn="l"/>
                <a:tab pos="1347788" algn="l"/>
                <a:tab pos="1797050" algn="l"/>
                <a:tab pos="2246313" algn="l"/>
                <a:tab pos="2695575" algn="l"/>
                <a:tab pos="3144838" algn="l"/>
                <a:tab pos="3594100" algn="l"/>
                <a:tab pos="4043363" algn="l"/>
                <a:tab pos="4492625" algn="l"/>
              </a:tabLst>
              <a:defRPr/>
            </a:pPr>
            <a:r>
              <a:rPr kumimoji="0" lang="en-GB" altLang="en-US" sz="20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The left image is from https://</a:t>
            </a:r>
            <a:r>
              <a:rPr kumimoji="0" lang="en-GB" altLang="en-US" sz="2000" b="0" i="0" u="none" strike="noStrike" kern="120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www.scu.edu.au</a:t>
            </a:r>
            <a:r>
              <a:rPr kumimoji="0" lang="en-GB" altLang="en-US" sz="20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/news/2023/cloud-brightening-reduces-coral-bleaching/ and shows a test of a spray system.</a:t>
            </a:r>
          </a:p>
          <a:p>
            <a:pPr marL="107950" marR="0" lvl="0" indent="0" algn="l" defTabSz="914400" rtl="0" eaLnBrk="1" fontAlgn="auto" latinLnBrk="0" hangingPunct="1">
              <a:lnSpc>
                <a:spcPct val="116000"/>
              </a:lnSpc>
              <a:spcBef>
                <a:spcPts val="1723"/>
              </a:spcBef>
              <a:spcAft>
                <a:spcPts val="0"/>
              </a:spcAft>
              <a:buClr>
                <a:srgbClr val="FFFFFF"/>
              </a:buClr>
              <a:buSzPct val="45000"/>
              <a:tabLst>
                <a:tab pos="449263" algn="l"/>
                <a:tab pos="898525" algn="l"/>
                <a:tab pos="1347788" algn="l"/>
                <a:tab pos="1797050" algn="l"/>
                <a:tab pos="2246313" algn="l"/>
                <a:tab pos="2695575" algn="l"/>
                <a:tab pos="3144838" algn="l"/>
                <a:tab pos="3594100" algn="l"/>
                <a:tab pos="4043363" algn="l"/>
                <a:tab pos="4492625" algn="l"/>
              </a:tabLst>
              <a:defRPr/>
            </a:pPr>
            <a:r>
              <a:rPr kumimoji="0" lang="en-GB" altLang="en-US" sz="20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This is an example of an effective deployment of the technology to solve one specific problem over a small scale.</a:t>
            </a:r>
          </a:p>
        </p:txBody>
      </p:sp>
      <p:pic>
        <p:nvPicPr>
          <p:cNvPr id="19459" name="Picture 3">
            <a:extLst>
              <a:ext uri="{FF2B5EF4-FFF2-40B4-BE49-F238E27FC236}">
                <a16:creationId xmlns:a16="http://schemas.microsoft.com/office/drawing/2014/main" id="{C67EBC4E-59FA-8180-0B40-A944A3625E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657" y="1556792"/>
            <a:ext cx="5480633" cy="41104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9460" name="Picture 4">
            <a:extLst>
              <a:ext uri="{FF2B5EF4-FFF2-40B4-BE49-F238E27FC236}">
                <a16:creationId xmlns:a16="http://schemas.microsoft.com/office/drawing/2014/main" id="{831A4E06-3BD3-4A4F-CEC4-8A6EFC342B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0878" y="5826052"/>
            <a:ext cx="5480633" cy="59622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TextBox 5">
            <a:extLst>
              <a:ext uri="{FF2B5EF4-FFF2-40B4-BE49-F238E27FC236}">
                <a16:creationId xmlns:a16="http://schemas.microsoft.com/office/drawing/2014/main" id="{3C7B4773-B035-F98B-2BB5-F49C50B5DE20}"/>
              </a:ext>
            </a:extLst>
          </p:cNvPr>
          <p:cNvSpPr txBox="1"/>
          <p:nvPr/>
        </p:nvSpPr>
        <p:spPr>
          <a:xfrm>
            <a:off x="608834" y="692696"/>
            <a:ext cx="9231783" cy="550087"/>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200" b="1" i="1" dirty="0">
                <a:solidFill>
                  <a:srgbClr val="46245A"/>
                </a:solidFill>
                <a:latin typeface="DM Sans" pitchFamily="2" charset="0"/>
                <a:ea typeface="+mn-ea"/>
              </a:rPr>
              <a:t>Case Study: Great Barrier Reef Protection</a:t>
            </a:r>
            <a:endParaRPr lang="en-US" sz="3200" i="1" dirty="0">
              <a:solidFill>
                <a:srgbClr val="46245A"/>
              </a:solidFill>
              <a:latin typeface="DM Sans" pitchFamily="2" charset="0"/>
              <a:ea typeface="+mn-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a:extLst>
              <a:ext uri="{FF2B5EF4-FFF2-40B4-BE49-F238E27FC236}">
                <a16:creationId xmlns:a16="http://schemas.microsoft.com/office/drawing/2014/main" id="{485C1725-C2F3-5886-7986-C262602C555F}"/>
              </a:ext>
            </a:extLst>
          </p:cNvPr>
          <p:cNvSpPr txBox="1">
            <a:spLocks noChangeArrowheads="1"/>
          </p:cNvSpPr>
          <p:nvPr/>
        </p:nvSpPr>
        <p:spPr bwMode="auto">
          <a:xfrm>
            <a:off x="218126" y="1699247"/>
            <a:ext cx="11755748" cy="4320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431800" indent="-3238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Lst>
              <a:defRPr>
                <a:solidFill>
                  <a:srgbClr val="000000"/>
                </a:solidFill>
                <a:latin typeface="Nimbus Roman" pitchFamily="16" charset="0"/>
                <a:ea typeface="Nimbus Sans" charset="0"/>
                <a:cs typeface="Nimbus Sans" charset="0"/>
              </a:defRPr>
            </a:lvl1pPr>
            <a:lvl2pPr marL="863600" indent="-3238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Lst>
              <a:defRPr>
                <a:solidFill>
                  <a:srgbClr val="000000"/>
                </a:solidFill>
                <a:latin typeface="Nimbus Roman" pitchFamily="16" charset="0"/>
                <a:ea typeface="Nimbus Sans" charset="0"/>
                <a:cs typeface="Nimbus Sans"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Lst>
              <a:defRPr>
                <a:solidFill>
                  <a:srgbClr val="000000"/>
                </a:solidFill>
                <a:latin typeface="Nimbus Roman" pitchFamily="16" charset="0"/>
                <a:ea typeface="Nimbus Sans" charset="0"/>
                <a:cs typeface="Nimbus Sans"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Lst>
              <a:defRPr>
                <a:solidFill>
                  <a:srgbClr val="000000"/>
                </a:solidFill>
                <a:latin typeface="Nimbus Roman" pitchFamily="16" charset="0"/>
                <a:ea typeface="Nimbus Sans" charset="0"/>
                <a:cs typeface="Nimbus Sans"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Lst>
              <a:defRPr>
                <a:solidFill>
                  <a:srgbClr val="000000"/>
                </a:solidFill>
                <a:latin typeface="Nimbus Roman" pitchFamily="16" charset="0"/>
                <a:ea typeface="Nimbus Sans" charset="0"/>
                <a:cs typeface="Nimbus Sans" charset="0"/>
              </a:defRPr>
            </a:lvl5pPr>
            <a:lvl6pPr marL="25146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Lst>
              <a:defRPr>
                <a:solidFill>
                  <a:srgbClr val="000000"/>
                </a:solidFill>
                <a:latin typeface="Nimbus Roman" pitchFamily="16" charset="0"/>
                <a:ea typeface="Nimbus Sans" charset="0"/>
                <a:cs typeface="Nimbus Sans" charset="0"/>
              </a:defRPr>
            </a:lvl6pPr>
            <a:lvl7pPr marL="29718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Lst>
              <a:defRPr>
                <a:solidFill>
                  <a:srgbClr val="000000"/>
                </a:solidFill>
                <a:latin typeface="Nimbus Roman" pitchFamily="16" charset="0"/>
                <a:ea typeface="Nimbus Sans" charset="0"/>
                <a:cs typeface="Nimbus Sans" charset="0"/>
              </a:defRPr>
            </a:lvl7pPr>
            <a:lvl8pPr marL="34290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Lst>
              <a:defRPr>
                <a:solidFill>
                  <a:srgbClr val="000000"/>
                </a:solidFill>
                <a:latin typeface="Nimbus Roman" pitchFamily="16" charset="0"/>
                <a:ea typeface="Nimbus Sans" charset="0"/>
                <a:cs typeface="Nimbus Sans" charset="0"/>
              </a:defRPr>
            </a:lvl8pPr>
            <a:lvl9pPr marL="38862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Lst>
              <a:defRPr>
                <a:solidFill>
                  <a:srgbClr val="000000"/>
                </a:solidFill>
                <a:latin typeface="Nimbus Roman" pitchFamily="16" charset="0"/>
                <a:ea typeface="Nimbus Sans" charset="0"/>
                <a:cs typeface="Nimbus Sans" charset="0"/>
              </a:defRPr>
            </a:lvl9pPr>
          </a:lstStyle>
          <a:p>
            <a:pPr marL="431800" marR="0" lvl="0" indent="-323850" algn="l" defTabSz="914400" rtl="0" eaLnBrk="1" fontAlgn="auto" latinLnBrk="0" hangingPunct="1">
              <a:lnSpc>
                <a:spcPct val="116000"/>
              </a:lnSpc>
              <a:spcBef>
                <a:spcPts val="1723"/>
              </a:spcBef>
              <a:spcAft>
                <a:spcPts val="0"/>
              </a:spcAft>
              <a:buClr>
                <a:srgbClr val="FFFFFF"/>
              </a:buClr>
              <a:buSzPct val="45000"/>
              <a:buFont typeface="Wingdings" pitchFamily="2"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Lst>
              <a:defRPr/>
            </a:pPr>
            <a:r>
              <a:rPr kumimoji="0" lang="en-GB" altLang="en-US" sz="20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This is a project I am involved with at the CAS group at the UoM.</a:t>
            </a:r>
          </a:p>
          <a:p>
            <a:pPr marL="431800" marR="0" lvl="0" indent="-323850" algn="l" defTabSz="914400" rtl="0" eaLnBrk="1" fontAlgn="auto" latinLnBrk="0" hangingPunct="1">
              <a:lnSpc>
                <a:spcPct val="116000"/>
              </a:lnSpc>
              <a:spcBef>
                <a:spcPts val="1723"/>
              </a:spcBef>
              <a:spcAft>
                <a:spcPts val="0"/>
              </a:spcAft>
              <a:buClr>
                <a:srgbClr val="FFFFFF"/>
              </a:buClr>
              <a:buSzPct val="45000"/>
              <a:buFont typeface="Wingdings" pitchFamily="2"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Lst>
              <a:defRPr/>
            </a:pPr>
            <a:r>
              <a:rPr kumimoji="0" lang="en-GB" altLang="en-US" sz="20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It seeks to better understand Marine Cloud Brightening and better inform its impacts and efficacy</a:t>
            </a:r>
          </a:p>
          <a:p>
            <a:pPr marL="431800" marR="0" lvl="0" indent="-323850" algn="l" defTabSz="914400" rtl="0" eaLnBrk="1" fontAlgn="auto" latinLnBrk="0" hangingPunct="1">
              <a:lnSpc>
                <a:spcPct val="116000"/>
              </a:lnSpc>
              <a:spcBef>
                <a:spcPts val="1723"/>
              </a:spcBef>
              <a:spcAft>
                <a:spcPts val="0"/>
              </a:spcAft>
              <a:buClr>
                <a:srgbClr val="FFFFFF"/>
              </a:buClr>
              <a:buSzPct val="45000"/>
              <a:buFont typeface="Wingdings" pitchFamily="2"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Lst>
              <a:defRPr/>
            </a:pPr>
            <a:r>
              <a:rPr kumimoji="0" lang="en-GB" altLang="en-US" sz="20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The timeline of the project is:</a:t>
            </a:r>
          </a:p>
          <a:p>
            <a:pPr marL="863600" marR="0" lvl="1" indent="-323850" algn="l" defTabSz="914400" rtl="0" eaLnBrk="1" fontAlgn="auto" latinLnBrk="0" hangingPunct="1">
              <a:lnSpc>
                <a:spcPct val="116000"/>
              </a:lnSpc>
              <a:spcBef>
                <a:spcPts val="1376"/>
              </a:spcBef>
              <a:spcAft>
                <a:spcPts val="0"/>
              </a:spcAft>
              <a:buClr>
                <a:srgbClr val="FFFFFF"/>
              </a:buClr>
              <a:buSzTx/>
              <a:buFont typeface="OpenSymbol" charset="0"/>
              <a:buAutoNum type="arabicParen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Lst>
              <a:defRPr/>
            </a:pPr>
            <a:r>
              <a:rPr kumimoji="0" lang="en-GB" altLang="en-US"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A study in the cloud chamber at the UoM</a:t>
            </a:r>
          </a:p>
          <a:p>
            <a:pPr marL="863600" marR="0" lvl="1" indent="-323850" algn="l" defTabSz="914400" rtl="0" eaLnBrk="1" fontAlgn="auto" latinLnBrk="0" hangingPunct="1">
              <a:lnSpc>
                <a:spcPct val="116000"/>
              </a:lnSpc>
              <a:spcBef>
                <a:spcPts val="1376"/>
              </a:spcBef>
              <a:spcAft>
                <a:spcPts val="0"/>
              </a:spcAft>
              <a:buClr>
                <a:srgbClr val="FFFFFF"/>
              </a:buClr>
              <a:buSzTx/>
              <a:buFont typeface="OpenSymbol" charset="0"/>
              <a:buAutoNum type="arabicParen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Lst>
              <a:defRPr/>
            </a:pPr>
            <a:r>
              <a:rPr kumimoji="0" lang="en-GB" altLang="en-US"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A model based approach looking at how clouds adapt to aerosol perturbations.</a:t>
            </a:r>
          </a:p>
          <a:p>
            <a:pPr marL="863600" marR="0" lvl="1" indent="-323850" algn="l" defTabSz="914400" rtl="0" eaLnBrk="1" fontAlgn="auto" latinLnBrk="0" hangingPunct="1">
              <a:lnSpc>
                <a:spcPct val="116000"/>
              </a:lnSpc>
              <a:spcBef>
                <a:spcPts val="1376"/>
              </a:spcBef>
              <a:spcAft>
                <a:spcPts val="0"/>
              </a:spcAft>
              <a:buClr>
                <a:srgbClr val="FFFFFF"/>
              </a:buClr>
              <a:buSzTx/>
              <a:buFont typeface="OpenSymbol" charset="0"/>
              <a:buAutoNum type="arabicParen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Lst>
              <a:defRPr/>
            </a:pPr>
            <a:r>
              <a:rPr kumimoji="0" lang="en-GB" altLang="en-US"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A social science study of how people will react to MCB, and how public perception of such experiments can be improved</a:t>
            </a:r>
          </a:p>
          <a:p>
            <a:pPr marL="863600" marR="0" lvl="1" indent="-323850" algn="l" defTabSz="914400" rtl="0" eaLnBrk="1" fontAlgn="auto" latinLnBrk="0" hangingPunct="1">
              <a:lnSpc>
                <a:spcPct val="116000"/>
              </a:lnSpc>
              <a:spcBef>
                <a:spcPts val="1376"/>
              </a:spcBef>
              <a:spcAft>
                <a:spcPts val="0"/>
              </a:spcAft>
              <a:buClr>
                <a:srgbClr val="FFFFFF"/>
              </a:buClr>
              <a:buSzTx/>
              <a:buFont typeface="OpenSymbol" charset="0"/>
              <a:buAutoNum type="arabicParen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Lst>
              <a:defRPr/>
            </a:pPr>
            <a:r>
              <a:rPr kumimoji="0" lang="en-GB" altLang="en-US"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An indoor test of MCB</a:t>
            </a:r>
          </a:p>
          <a:p>
            <a:pPr marL="863600" marR="0" lvl="1" indent="-323850" algn="l" defTabSz="914400" rtl="0" eaLnBrk="1" fontAlgn="auto" latinLnBrk="0" hangingPunct="1">
              <a:lnSpc>
                <a:spcPct val="116000"/>
              </a:lnSpc>
              <a:spcBef>
                <a:spcPts val="1376"/>
              </a:spcBef>
              <a:spcAft>
                <a:spcPts val="0"/>
              </a:spcAft>
              <a:buClr>
                <a:srgbClr val="FFFFFF"/>
              </a:buClr>
              <a:buSzTx/>
              <a:buFont typeface="OpenSymbol" charset="0"/>
              <a:buAutoNum type="arabicParen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Lst>
              <a:defRPr/>
            </a:pPr>
            <a:r>
              <a:rPr kumimoji="0" lang="en-GB" altLang="en-US"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An outdoor deployment of MCB to test it at small scales.</a:t>
            </a:r>
          </a:p>
        </p:txBody>
      </p:sp>
      <p:sp>
        <p:nvSpPr>
          <p:cNvPr id="2" name="Freeform 13">
            <a:extLst>
              <a:ext uri="{FF2B5EF4-FFF2-40B4-BE49-F238E27FC236}">
                <a16:creationId xmlns:a16="http://schemas.microsoft.com/office/drawing/2014/main" id="{B9B5E944-14FA-38B9-C0EB-DA331868A105}"/>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3" name="TextBox 5">
            <a:extLst>
              <a:ext uri="{FF2B5EF4-FFF2-40B4-BE49-F238E27FC236}">
                <a16:creationId xmlns:a16="http://schemas.microsoft.com/office/drawing/2014/main" id="{23CE9458-4242-9C9B-CB5E-3A72F086614E}"/>
              </a:ext>
            </a:extLst>
          </p:cNvPr>
          <p:cNvSpPr txBox="1"/>
          <p:nvPr/>
        </p:nvSpPr>
        <p:spPr>
          <a:xfrm>
            <a:off x="608834" y="837672"/>
            <a:ext cx="9231783" cy="550087"/>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200" b="1" i="1" dirty="0">
                <a:solidFill>
                  <a:srgbClr val="46245A"/>
                </a:solidFill>
                <a:latin typeface="DM Sans" pitchFamily="2" charset="0"/>
                <a:ea typeface="+mn-ea"/>
              </a:rPr>
              <a:t>Case Study: REFLECT project at UoM</a:t>
            </a:r>
            <a:endParaRPr lang="en-US" sz="3200" i="1" dirty="0">
              <a:solidFill>
                <a:srgbClr val="46245A"/>
              </a:solidFill>
              <a:latin typeface="DM Sans" pitchFamily="2" charset="0"/>
              <a:ea typeface="+mn-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Picture 1">
            <a:extLst>
              <a:ext uri="{FF2B5EF4-FFF2-40B4-BE49-F238E27FC236}">
                <a16:creationId xmlns:a16="http://schemas.microsoft.com/office/drawing/2014/main" id="{BEB25397-EF3E-B9FA-108B-F45C64646C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384" y="2523179"/>
            <a:ext cx="10441160" cy="141193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1506" name="Picture 2">
            <a:extLst>
              <a:ext uri="{FF2B5EF4-FFF2-40B4-BE49-F238E27FC236}">
                <a16:creationId xmlns:a16="http://schemas.microsoft.com/office/drawing/2014/main" id="{9F53F062-0D95-7A7D-01B6-C113525ED8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384" y="1260869"/>
            <a:ext cx="10441160" cy="1146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1507" name="Picture 3">
            <a:extLst>
              <a:ext uri="{FF2B5EF4-FFF2-40B4-BE49-F238E27FC236}">
                <a16:creationId xmlns:a16="http://schemas.microsoft.com/office/drawing/2014/main" id="{2E4174F5-CE60-FF44-DEB4-B0592E5942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0614" y="4069861"/>
            <a:ext cx="10461930" cy="11389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1508" name="Picture 4">
            <a:extLst>
              <a:ext uri="{FF2B5EF4-FFF2-40B4-BE49-F238E27FC236}">
                <a16:creationId xmlns:a16="http://schemas.microsoft.com/office/drawing/2014/main" id="{D930B733-1E05-45A2-77C7-F84C5B1F0A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0614" y="5322317"/>
            <a:ext cx="10482700" cy="1131019"/>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Freeform 13">
            <a:extLst>
              <a:ext uri="{FF2B5EF4-FFF2-40B4-BE49-F238E27FC236}">
                <a16:creationId xmlns:a16="http://schemas.microsoft.com/office/drawing/2014/main" id="{C4EC7A5A-D90E-4986-6D65-1E5571309028}"/>
              </a:ext>
            </a:extLst>
          </p:cNvPr>
          <p:cNvSpPr/>
          <p:nvPr/>
        </p:nvSpPr>
        <p:spPr>
          <a:xfrm>
            <a:off x="9993543" y="97610"/>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7"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a:extLst>
              <a:ext uri="{FF2B5EF4-FFF2-40B4-BE49-F238E27FC236}">
                <a16:creationId xmlns:a16="http://schemas.microsoft.com/office/drawing/2014/main" id="{E6FFD95D-F021-13BF-C6F0-8279C2460D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7380" y="216954"/>
            <a:ext cx="3968502" cy="871649"/>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531" name="Oval 3">
            <a:extLst>
              <a:ext uri="{FF2B5EF4-FFF2-40B4-BE49-F238E27FC236}">
                <a16:creationId xmlns:a16="http://schemas.microsoft.com/office/drawing/2014/main" id="{87BB958F-4D13-D81A-E91B-E01F332E5C1B}"/>
              </a:ext>
            </a:extLst>
          </p:cNvPr>
          <p:cNvSpPr>
            <a:spLocks noChangeArrowheads="1"/>
          </p:cNvSpPr>
          <p:nvPr/>
        </p:nvSpPr>
        <p:spPr bwMode="auto">
          <a:xfrm>
            <a:off x="10319854" y="355188"/>
            <a:ext cx="539501" cy="673896"/>
          </a:xfrm>
          <a:prstGeom prst="ellipse">
            <a:avLst/>
          </a:prstGeom>
          <a:noFill/>
          <a:ln w="72000" cap="flat">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2532" name="Text Box 4">
            <a:extLst>
              <a:ext uri="{FF2B5EF4-FFF2-40B4-BE49-F238E27FC236}">
                <a16:creationId xmlns:a16="http://schemas.microsoft.com/office/drawing/2014/main" id="{63FB3272-86C3-86C3-286D-D5D578E6F093}"/>
              </a:ext>
            </a:extLst>
          </p:cNvPr>
          <p:cNvSpPr txBox="1">
            <a:spLocks noChangeArrowheads="1"/>
          </p:cNvSpPr>
          <p:nvPr/>
        </p:nvSpPr>
        <p:spPr bwMode="auto">
          <a:xfrm>
            <a:off x="198831" y="2274861"/>
            <a:ext cx="10970496" cy="4354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431800" indent="-3238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Nimbus Roman" pitchFamily="16" charset="0"/>
                <a:ea typeface="Nimbus Sans" charset="0"/>
                <a:cs typeface="Nimbus Sans"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Nimbus Roman" pitchFamily="16" charset="0"/>
                <a:ea typeface="Nimbus Sans" charset="0"/>
                <a:cs typeface="Nimbus Sans"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Nimbus Roman" pitchFamily="16" charset="0"/>
                <a:ea typeface="Nimbus Sans" charset="0"/>
                <a:cs typeface="Nimbus Sans"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Nimbus Roman" pitchFamily="16" charset="0"/>
                <a:ea typeface="Nimbus Sans" charset="0"/>
                <a:cs typeface="Nimbus Sans"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Nimbus Roman" pitchFamily="16" charset="0"/>
                <a:ea typeface="Nimbus Sans" charset="0"/>
                <a:cs typeface="Nimbus Sans" charset="0"/>
              </a:defRPr>
            </a:lvl5pPr>
            <a:lvl6pPr marL="25146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Nimbus Roman" pitchFamily="16" charset="0"/>
                <a:ea typeface="Nimbus Sans" charset="0"/>
                <a:cs typeface="Nimbus Sans" charset="0"/>
              </a:defRPr>
            </a:lvl6pPr>
            <a:lvl7pPr marL="29718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Nimbus Roman" pitchFamily="16" charset="0"/>
                <a:ea typeface="Nimbus Sans" charset="0"/>
                <a:cs typeface="Nimbus Sans" charset="0"/>
              </a:defRPr>
            </a:lvl7pPr>
            <a:lvl8pPr marL="34290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Nimbus Roman" pitchFamily="16" charset="0"/>
                <a:ea typeface="Nimbus Sans" charset="0"/>
                <a:cs typeface="Nimbus Sans" charset="0"/>
              </a:defRPr>
            </a:lvl8pPr>
            <a:lvl9pPr marL="38862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Nimbus Roman" pitchFamily="16" charset="0"/>
                <a:ea typeface="Nimbus Sans" charset="0"/>
                <a:cs typeface="Nimbus Sans" charset="0"/>
              </a:defRPr>
            </a:lvl9pPr>
          </a:lstStyle>
          <a:p>
            <a:pPr marL="431800" marR="0" lvl="0" indent="-323850" algn="l" defTabSz="914400" rtl="0" eaLnBrk="1" fontAlgn="auto" latinLnBrk="0" hangingPunct="1">
              <a:lnSpc>
                <a:spcPct val="116000"/>
              </a:lnSpc>
              <a:spcBef>
                <a:spcPts val="1723"/>
              </a:spcBef>
              <a:spcAft>
                <a:spcPts val="0"/>
              </a:spcAft>
              <a:buClr>
                <a:srgbClr val="FFFFFF"/>
              </a:buClr>
              <a:buSzPct val="45000"/>
              <a:buFont typeface="Wingdings" pitchFamily="2"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pPr>
            <a:r>
              <a:rPr kumimoji="0" lang="en-GB" altLang="en-US" sz="32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Aerosol will directly scatter </a:t>
            </a:r>
            <a:r>
              <a:rPr kumimoji="0" lang="en-GB" altLang="en-US" sz="3200" b="0" i="0" u="none" strike="noStrike" kern="120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electromatnetic</a:t>
            </a:r>
            <a:r>
              <a:rPr kumimoji="0" lang="en-GB" altLang="en-US" sz="32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radiation.</a:t>
            </a:r>
          </a:p>
          <a:p>
            <a:pPr marL="431800" marR="0" lvl="0" indent="-323850" algn="l" defTabSz="914400" rtl="0" eaLnBrk="1" fontAlgn="auto" latinLnBrk="0" hangingPunct="1">
              <a:lnSpc>
                <a:spcPct val="116000"/>
              </a:lnSpc>
              <a:spcBef>
                <a:spcPts val="1723"/>
              </a:spcBef>
              <a:spcAft>
                <a:spcPts val="0"/>
              </a:spcAft>
              <a:buClr>
                <a:srgbClr val="FFFFFF"/>
              </a:buClr>
              <a:buSzPct val="45000"/>
              <a:buFont typeface="Wingdings" pitchFamily="2"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pPr>
            <a:r>
              <a:rPr kumimoji="0" lang="en-GB" altLang="en-US" sz="32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Some of the (downwelling) scattered light gets reflected back into space.</a:t>
            </a:r>
          </a:p>
          <a:p>
            <a:pPr marL="431800" marR="0" lvl="0" indent="-323850" algn="l" defTabSz="914400" rtl="0" eaLnBrk="1" fontAlgn="auto" latinLnBrk="0" hangingPunct="1">
              <a:lnSpc>
                <a:spcPct val="116000"/>
              </a:lnSpc>
              <a:spcBef>
                <a:spcPts val="1723"/>
              </a:spcBef>
              <a:spcAft>
                <a:spcPts val="0"/>
              </a:spcAft>
              <a:buClr>
                <a:srgbClr val="FFFFFF"/>
              </a:buClr>
              <a:buSzPct val="45000"/>
              <a:buFont typeface="Wingdings" pitchFamily="2"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pPr>
            <a:r>
              <a:rPr kumimoji="0" lang="en-GB" altLang="en-US" sz="32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This is what’s called the </a:t>
            </a:r>
            <a:r>
              <a:rPr kumimoji="0" lang="en-GB" altLang="en-US" sz="3200" b="0" i="1"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direct effect</a:t>
            </a:r>
            <a:r>
              <a:rPr kumimoji="0" lang="en-GB" altLang="en-US" sz="32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of aerosol radiative forcing.</a:t>
            </a:r>
          </a:p>
        </p:txBody>
      </p:sp>
      <p:sp>
        <p:nvSpPr>
          <p:cNvPr id="2" name="TextBox 5">
            <a:extLst>
              <a:ext uri="{FF2B5EF4-FFF2-40B4-BE49-F238E27FC236}">
                <a16:creationId xmlns:a16="http://schemas.microsoft.com/office/drawing/2014/main" id="{0A4BEC77-B205-076B-D75A-8A0D0026E77D}"/>
              </a:ext>
            </a:extLst>
          </p:cNvPr>
          <p:cNvSpPr txBox="1"/>
          <p:nvPr/>
        </p:nvSpPr>
        <p:spPr>
          <a:xfrm>
            <a:off x="610753" y="1091597"/>
            <a:ext cx="9231783" cy="555921"/>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200" b="1" i="1" dirty="0">
                <a:solidFill>
                  <a:srgbClr val="46245A"/>
                </a:solidFill>
                <a:latin typeface="DM Sans" pitchFamily="2" charset="0"/>
                <a:ea typeface="+mn-ea"/>
              </a:rPr>
              <a:t>Exploiting the (direct) Aerosol Interaction</a:t>
            </a:r>
            <a:endParaRPr lang="en-US" sz="3200" i="1" dirty="0">
              <a:solidFill>
                <a:srgbClr val="46245A"/>
              </a:solidFill>
              <a:latin typeface="DM Sans" pitchFamily="2" charset="0"/>
              <a:ea typeface="+mn-ea"/>
            </a:endParaRPr>
          </a:p>
        </p:txBody>
      </p:sp>
      <p:sp>
        <p:nvSpPr>
          <p:cNvPr id="5" name="Freeform 13">
            <a:extLst>
              <a:ext uri="{FF2B5EF4-FFF2-40B4-BE49-F238E27FC236}">
                <a16:creationId xmlns:a16="http://schemas.microsoft.com/office/drawing/2014/main" id="{B70C0768-2B4B-CB52-3339-D1CA9A1E90D8}"/>
              </a:ext>
            </a:extLst>
          </p:cNvPr>
          <p:cNvSpPr/>
          <p:nvPr/>
        </p:nvSpPr>
        <p:spPr>
          <a:xfrm>
            <a:off x="9953628" y="5733357"/>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a:extLst>
              <a:ext uri="{FF2B5EF4-FFF2-40B4-BE49-F238E27FC236}">
                <a16:creationId xmlns:a16="http://schemas.microsoft.com/office/drawing/2014/main" id="{D437C70E-471F-8883-E360-96A6D941A056}"/>
              </a:ext>
            </a:extLst>
          </p:cNvPr>
          <p:cNvSpPr>
            <a:spLocks noGrp="1" noChangeArrowheads="1"/>
          </p:cNvSpPr>
          <p:nvPr>
            <p:ph type="body"/>
          </p:nvPr>
        </p:nvSpPr>
        <p:spPr>
          <a:xfrm>
            <a:off x="199646" y="1556792"/>
            <a:ext cx="5485247" cy="6531611"/>
          </a:xfrm>
          <a:ln/>
        </p:spPr>
        <p:txBody>
          <a:bodyPr anchor="t">
            <a:normAutofit/>
          </a:bodyPr>
          <a:lstStyle/>
          <a:p>
            <a:pPr marL="522219" indent="-391664" algn="l">
              <a:spcBef>
                <a:spcPts val="1723"/>
              </a:spcBef>
              <a:buClr>
                <a:srgbClr val="FFFFFF"/>
              </a:buClr>
              <a:buSzPct val="45000"/>
              <a:buFont typeface="Wingdings" pitchFamily="2" charset="2"/>
              <a:buChar char=""/>
              <a:tabLst>
                <a:tab pos="543339" algn="l"/>
                <a:tab pos="1086676" algn="l"/>
                <a:tab pos="1630015" algn="l"/>
                <a:tab pos="2173352" algn="l"/>
                <a:tab pos="2716691" algn="l"/>
                <a:tab pos="3260028" algn="l"/>
                <a:tab pos="3803367" algn="l"/>
                <a:tab pos="4346705" algn="l"/>
                <a:tab pos="4890043" algn="l"/>
                <a:tab pos="5433381" algn="l"/>
              </a:tabLst>
            </a:pPr>
            <a:r>
              <a:rPr lang="en-GB" altLang="en-US" sz="2800" dirty="0"/>
              <a:t>The stratosphere is the region of the atmosphere above the troposphere.</a:t>
            </a:r>
          </a:p>
          <a:p>
            <a:pPr marL="522219" indent="-391664" algn="l">
              <a:spcBef>
                <a:spcPts val="1723"/>
              </a:spcBef>
              <a:buClr>
                <a:srgbClr val="FFFFFF"/>
              </a:buClr>
              <a:buSzPct val="45000"/>
              <a:buFont typeface="Wingdings" pitchFamily="2" charset="2"/>
              <a:buChar char=""/>
              <a:tabLst>
                <a:tab pos="543339" algn="l"/>
                <a:tab pos="1086676" algn="l"/>
                <a:tab pos="1630015" algn="l"/>
                <a:tab pos="2173352" algn="l"/>
                <a:tab pos="2716691" algn="l"/>
                <a:tab pos="3260028" algn="l"/>
                <a:tab pos="3803367" algn="l"/>
                <a:tab pos="4346705" algn="l"/>
                <a:tab pos="4890043" algn="l"/>
                <a:tab pos="5433381" algn="l"/>
              </a:tabLst>
            </a:pPr>
            <a:r>
              <a:rPr lang="en-GB" altLang="en-US" sz="2800" dirty="0"/>
              <a:t>Due to the absorption of </a:t>
            </a:r>
            <a:r>
              <a:rPr lang="en-GB" altLang="en-US" sz="2800" dirty="0" err="1"/>
              <a:t>em</a:t>
            </a:r>
            <a:r>
              <a:rPr lang="en-GB" altLang="en-US" sz="2800" dirty="0"/>
              <a:t> radiation by Ozone, the temperature of the stratosphere increases with altitude.</a:t>
            </a:r>
          </a:p>
          <a:p>
            <a:pPr marL="522219" indent="-391664" algn="l">
              <a:spcBef>
                <a:spcPts val="1723"/>
              </a:spcBef>
              <a:buClr>
                <a:srgbClr val="FFFFFF"/>
              </a:buClr>
              <a:buSzPct val="45000"/>
              <a:buFont typeface="Wingdings" pitchFamily="2" charset="2"/>
              <a:buChar char=""/>
              <a:tabLst>
                <a:tab pos="543339" algn="l"/>
                <a:tab pos="1086676" algn="l"/>
                <a:tab pos="1630015" algn="l"/>
                <a:tab pos="2173352" algn="l"/>
                <a:tab pos="2716691" algn="l"/>
                <a:tab pos="3260028" algn="l"/>
                <a:tab pos="3803367" algn="l"/>
                <a:tab pos="4346705" algn="l"/>
                <a:tab pos="4890043" algn="l"/>
                <a:tab pos="5433381" algn="l"/>
              </a:tabLst>
            </a:pPr>
            <a:r>
              <a:rPr lang="en-GB" altLang="en-US" sz="2800" dirty="0"/>
              <a:t>Inversions will keep aerosol suspended within them since the cold air cannot rise and disperse the aerosol.</a:t>
            </a:r>
          </a:p>
        </p:txBody>
      </p:sp>
      <p:sp>
        <p:nvSpPr>
          <p:cNvPr id="23554" name="Text Box 2">
            <a:extLst>
              <a:ext uri="{FF2B5EF4-FFF2-40B4-BE49-F238E27FC236}">
                <a16:creationId xmlns:a16="http://schemas.microsoft.com/office/drawing/2014/main" id="{8E3036BF-2236-B370-C0FF-21F5F7D605CC}"/>
              </a:ext>
            </a:extLst>
          </p:cNvPr>
          <p:cNvSpPr txBox="1">
            <a:spLocks noChangeArrowheads="1"/>
          </p:cNvSpPr>
          <p:nvPr/>
        </p:nvSpPr>
        <p:spPr bwMode="auto">
          <a:xfrm>
            <a:off x="6312954" y="4661597"/>
            <a:ext cx="5443010" cy="16511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8847" tIns="54423" rIns="108847" bIns="54423"/>
          <a:lstStyle>
            <a:lvl1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1pPr>
            <a:lvl2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2pPr>
            <a:lvl3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3pPr>
            <a:lvl4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4pPr>
            <a:lvl5pPr>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5pPr>
            <a:lvl6pPr marL="25146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6pPr>
            <a:lvl7pPr marL="29718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7pPr>
            <a:lvl8pPr marL="34290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8pPr>
            <a:lvl9pPr marL="3886200" indent="-228600" defTabSz="449263" fontAlgn="base" hangingPunct="0">
              <a:lnSpc>
                <a:spcPct val="8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Nimbus Roman" pitchFamily="16" charset="0"/>
                <a:ea typeface="Nimbus Sans" charset="0"/>
                <a:cs typeface="Nimbus Sans" charset="0"/>
              </a:defRPr>
            </a:lvl9pPr>
          </a:lstStyle>
          <a:p>
            <a:pPr marL="0" marR="0" lvl="0" indent="0" algn="l" defTabSz="914400" rtl="0" eaLnBrk="1" fontAlgn="auto" latinLnBrk="0" hangingPunct="1">
              <a:lnSpc>
                <a:spcPct val="116000"/>
              </a:lnSpc>
              <a:spcBef>
                <a:spcPts val="0"/>
              </a:spcBef>
              <a:spcAft>
                <a:spcPts val="0"/>
              </a:spcAft>
              <a:buClrTx/>
              <a:buSzTx/>
              <a:buFontTx/>
              <a:buNone/>
              <a:tabLst>
                <a:tab pos="449263" algn="l"/>
                <a:tab pos="898525" algn="l"/>
                <a:tab pos="1347788" algn="l"/>
                <a:tab pos="1797050" algn="l"/>
                <a:tab pos="2246313" algn="l"/>
                <a:tab pos="2695575" algn="l"/>
                <a:tab pos="3144838" algn="l"/>
                <a:tab pos="3594100" algn="l"/>
                <a:tab pos="4043363" algn="l"/>
                <a:tab pos="4492625" algn="l"/>
              </a:tabLst>
              <a:defRPr/>
            </a:pPr>
            <a:r>
              <a:rPr kumimoji="0" lang="en-GB" altLang="en-US" sz="1800" b="0" i="0" u="none" strike="noStrike" kern="1200" cap="none" spc="0" normalizeH="0" baseline="0" noProof="0">
                <a:ln>
                  <a:noFill/>
                </a:ln>
                <a:solidFill>
                  <a:srgbClr val="FFFFFF"/>
                </a:solidFill>
                <a:effectLst/>
                <a:uLnTx/>
                <a:uFillTx/>
                <a:latin typeface="Comic Sans MS" panose="030F0902030302020204" pitchFamily="66" charset="0"/>
              </a:rPr>
              <a:t>Image from https://www.eoas.ubc.ca/courses/atsc113/snow/met_concepts/06-met_concepts/06c-inversions/</a:t>
            </a:r>
          </a:p>
        </p:txBody>
      </p:sp>
      <p:pic>
        <p:nvPicPr>
          <p:cNvPr id="23555" name="Picture 3">
            <a:extLst>
              <a:ext uri="{FF2B5EF4-FFF2-40B4-BE49-F238E27FC236}">
                <a16:creationId xmlns:a16="http://schemas.microsoft.com/office/drawing/2014/main" id="{26B46EA2-A948-2CAA-8FD0-2B62CF71C5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0083" y="1663611"/>
            <a:ext cx="4247542" cy="4640871"/>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Freeform 13">
            <a:extLst>
              <a:ext uri="{FF2B5EF4-FFF2-40B4-BE49-F238E27FC236}">
                <a16:creationId xmlns:a16="http://schemas.microsoft.com/office/drawing/2014/main" id="{CCFCB122-8116-A8BD-F66E-7B5F0670FD1E}"/>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
            <a:extLst>
              <a:ext uri="{FF2B5EF4-FFF2-40B4-BE49-F238E27FC236}">
                <a16:creationId xmlns:a16="http://schemas.microsoft.com/office/drawing/2014/main" id="{4820BD7B-89E3-5A57-2AB2-003A7B08562C}"/>
              </a:ext>
            </a:extLst>
          </p:cNvPr>
          <p:cNvSpPr>
            <a:spLocks noGrp="1" noChangeArrowheads="1"/>
          </p:cNvSpPr>
          <p:nvPr>
            <p:ph type="body"/>
          </p:nvPr>
        </p:nvSpPr>
        <p:spPr>
          <a:xfrm>
            <a:off x="479376" y="908720"/>
            <a:ext cx="10970496" cy="4195054"/>
          </a:xfrm>
          <a:ln/>
        </p:spPr>
        <p:txBody>
          <a:bodyPr anchor="t">
            <a:normAutofit/>
          </a:bodyPr>
          <a:lstStyle/>
          <a:p>
            <a:pPr marL="130555" algn="l">
              <a:spcBef>
                <a:spcPts val="1723"/>
              </a:spcBef>
              <a:buClr>
                <a:srgbClr val="FFFFFF"/>
              </a:buClr>
              <a:buSzPct val="45000"/>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sz="2400" dirty="0">
                <a:latin typeface="Calibri" panose="020F0502020204030204" pitchFamily="34" charset="0"/>
                <a:cs typeface="Calibri" panose="020F0502020204030204" pitchFamily="34" charset="0"/>
              </a:rPr>
              <a:t>Stratospheric aerosol injection (SAI) is a proposed method whereby aerosol (usually SO2) is dispersed into the stratosphere above the stratospheric inversion.</a:t>
            </a:r>
          </a:p>
          <a:p>
            <a:pPr marL="130555" algn="l">
              <a:spcBef>
                <a:spcPts val="1723"/>
              </a:spcBef>
              <a:buClr>
                <a:srgbClr val="FFFFFF"/>
              </a:buClr>
              <a:buSzPct val="45000"/>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sz="2400" dirty="0">
                <a:latin typeface="Calibri" panose="020F0502020204030204" pitchFamily="34" charset="0"/>
                <a:cs typeface="Calibri" panose="020F0502020204030204" pitchFamily="34" charset="0"/>
              </a:rPr>
              <a:t>The origins of SAI are debated but the earliest solid reference is P.J. </a:t>
            </a:r>
            <a:r>
              <a:rPr lang="en-GB" altLang="en-US" sz="2400" dirty="0" err="1">
                <a:latin typeface="Calibri" panose="020F0502020204030204" pitchFamily="34" charset="0"/>
                <a:cs typeface="Calibri" panose="020F0502020204030204" pitchFamily="34" charset="0"/>
              </a:rPr>
              <a:t>Crutzen</a:t>
            </a:r>
            <a:r>
              <a:rPr lang="en-GB" altLang="en-US" sz="2400" dirty="0">
                <a:latin typeface="Calibri" panose="020F0502020204030204" pitchFamily="34" charset="0"/>
                <a:cs typeface="Calibri" panose="020F0502020204030204" pitchFamily="34" charset="0"/>
              </a:rPr>
              <a:t> in 2006 https://</a:t>
            </a:r>
            <a:r>
              <a:rPr lang="en-GB" altLang="en-US" sz="2400" dirty="0" err="1">
                <a:latin typeface="Calibri" panose="020F0502020204030204" pitchFamily="34" charset="0"/>
                <a:cs typeface="Calibri" panose="020F0502020204030204" pitchFamily="34" charset="0"/>
              </a:rPr>
              <a:t>link.springer.com</a:t>
            </a:r>
            <a:r>
              <a:rPr lang="en-GB" altLang="en-US" sz="2400" dirty="0">
                <a:latin typeface="Calibri" panose="020F0502020204030204" pitchFamily="34" charset="0"/>
                <a:cs typeface="Calibri" panose="020F0502020204030204" pitchFamily="34" charset="0"/>
              </a:rPr>
              <a:t>/article/10.1007/s10584-006-9101-y where it was postulated as a worst-case scenario if GHGs cannot be controlled.</a:t>
            </a:r>
          </a:p>
          <a:p>
            <a:pPr marL="130555" algn="l">
              <a:spcBef>
                <a:spcPts val="1723"/>
              </a:spcBef>
              <a:buClr>
                <a:srgbClr val="FFFFFF"/>
              </a:buClr>
              <a:buSzPct val="45000"/>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sz="2400" dirty="0">
                <a:latin typeface="Calibri" panose="020F0502020204030204" pitchFamily="34" charset="0"/>
                <a:cs typeface="Calibri" panose="020F0502020204030204" pitchFamily="34" charset="0"/>
              </a:rPr>
              <a:t>The stratospheric inversion keeps the aerosol suspended within it, keeping the cost of SAI very low.</a:t>
            </a:r>
          </a:p>
          <a:p>
            <a:pPr marL="130555" algn="l">
              <a:spcBef>
                <a:spcPts val="1723"/>
              </a:spcBef>
              <a:buClr>
                <a:srgbClr val="FFFFFF"/>
              </a:buClr>
              <a:buSzPct val="45000"/>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sz="2400" dirty="0">
                <a:latin typeface="Calibri" panose="020F0502020204030204" pitchFamily="34" charset="0"/>
                <a:cs typeface="Calibri" panose="020F0502020204030204" pitchFamily="34" charset="0"/>
              </a:rPr>
              <a:t>Compared to MCB, this is far less of an engineering challenge.</a:t>
            </a:r>
          </a:p>
        </p:txBody>
      </p:sp>
      <p:pic>
        <p:nvPicPr>
          <p:cNvPr id="24578" name="Picture 2">
            <a:extLst>
              <a:ext uri="{FF2B5EF4-FFF2-40B4-BE49-F238E27FC236}">
                <a16:creationId xmlns:a16="http://schemas.microsoft.com/office/drawing/2014/main" id="{7AF21100-DED7-3B93-9D88-1CD3C75645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128" y="4437112"/>
            <a:ext cx="6095786" cy="211576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206CE24-1F5C-B6EA-C09C-25F7367DA7CE}"/>
              </a:ext>
            </a:extLst>
          </p:cNvPr>
          <p:cNvSpPr>
            <a:spLocks noGrp="1" noChangeArrowheads="1"/>
          </p:cNvSpPr>
          <p:nvPr>
            <p:ph type="body" idx="1"/>
          </p:nvPr>
        </p:nvSpPr>
        <p:spPr>
          <a:xfrm>
            <a:off x="407368" y="1700808"/>
            <a:ext cx="11521280" cy="5659962"/>
          </a:xfrm>
          <a:ln/>
        </p:spPr>
        <p:txBody>
          <a:bodyPr>
            <a:normAutofit/>
          </a:bodyPr>
          <a:lstStyle/>
          <a:p>
            <a:pPr marL="130555" indent="0" algn="just">
              <a:buClr>
                <a:srgbClr val="FFFFFF"/>
              </a:buClr>
              <a:buSzPct val="45000"/>
              <a:buNone/>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sz="2200" dirty="0"/>
              <a:t>Unlike with MCB, a lot of the issues with SAI are scientific in nature, in addition to the general issues with [SRM] geoengineering.</a:t>
            </a:r>
          </a:p>
          <a:p>
            <a:pPr marL="130555" indent="0" algn="just">
              <a:buClr>
                <a:srgbClr val="FFFFFF"/>
              </a:buClr>
              <a:buSzPct val="45000"/>
              <a:buNone/>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sz="2200" dirty="0"/>
              <a:t>SO2 will react with Ozone in the stratosphere and destroy it, potentially leading to a larger hole in the Ozone layer.</a:t>
            </a:r>
          </a:p>
          <a:p>
            <a:pPr marL="130555" indent="0" algn="just">
              <a:buClr>
                <a:srgbClr val="FFFFFF"/>
              </a:buClr>
              <a:buSzPct val="45000"/>
              <a:buNone/>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sz="2200" dirty="0"/>
              <a:t>The SO2 aerosol will eventually descend from the stratosphere, causing huge human health impact.</a:t>
            </a:r>
          </a:p>
          <a:p>
            <a:pPr marL="130555" indent="0" algn="just">
              <a:buClr>
                <a:srgbClr val="FFFFFF"/>
              </a:buClr>
              <a:buSzPct val="45000"/>
              <a:buNone/>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sz="2200" dirty="0"/>
              <a:t>SO2 will also interact with clouds and have a brightening effect and resultant rainfall </a:t>
            </a:r>
            <a:r>
              <a:rPr lang="en-GB" altLang="en-US" sz="2200" dirty="0" err="1"/>
              <a:t>reducation</a:t>
            </a:r>
            <a:r>
              <a:rPr lang="en-GB" altLang="en-US" sz="2200" dirty="0"/>
              <a:t>, however this rainfall reduction might not be limited to over the ocean.</a:t>
            </a:r>
          </a:p>
          <a:p>
            <a:pPr marL="130555" indent="0" algn="just">
              <a:buClr>
                <a:srgbClr val="FFFFFF"/>
              </a:buClr>
              <a:buSzPct val="45000"/>
              <a:buNone/>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sz="2200" dirty="0"/>
              <a:t>Aerosol in the stratosphere could nucleate ice, which would have the opposite effect since ice clouds have positive radiative forcing.</a:t>
            </a:r>
          </a:p>
          <a:p>
            <a:pPr marL="130555" indent="0" algn="just">
              <a:buClr>
                <a:srgbClr val="FFFFFF"/>
              </a:buClr>
              <a:buSzPct val="45000"/>
              <a:buNone/>
              <a:tabLst>
                <a:tab pos="543339" algn="l"/>
                <a:tab pos="1086676" algn="l"/>
                <a:tab pos="1630015" algn="l"/>
                <a:tab pos="2173352" algn="l"/>
                <a:tab pos="2716691" algn="l"/>
                <a:tab pos="3260028" algn="l"/>
                <a:tab pos="3803367" algn="l"/>
                <a:tab pos="4346705" algn="l"/>
                <a:tab pos="4890043" algn="l"/>
                <a:tab pos="5433381" algn="l"/>
                <a:tab pos="5976719" algn="l"/>
                <a:tab pos="6520057" algn="l"/>
                <a:tab pos="7063395" algn="l"/>
                <a:tab pos="7606733" algn="l"/>
                <a:tab pos="8150072" algn="l"/>
                <a:tab pos="8693409" algn="l"/>
                <a:tab pos="9236748" algn="l"/>
                <a:tab pos="9780085" algn="l"/>
                <a:tab pos="10323424" algn="l"/>
                <a:tab pos="10866761" algn="l"/>
              </a:tabLst>
            </a:pPr>
            <a:r>
              <a:rPr lang="en-GB" altLang="en-US" sz="2200" dirty="0"/>
              <a:t>Aerosol above the stratospheric inversion takes a long time (approximately 5 years) to return to the surface, complicating small scale tests and limiting them to lab and model based studies.</a:t>
            </a:r>
          </a:p>
        </p:txBody>
      </p:sp>
      <p:sp>
        <p:nvSpPr>
          <p:cNvPr id="2" name="Freeform 13">
            <a:extLst>
              <a:ext uri="{FF2B5EF4-FFF2-40B4-BE49-F238E27FC236}">
                <a16:creationId xmlns:a16="http://schemas.microsoft.com/office/drawing/2014/main" id="{54699B5A-F37A-C177-A46F-5DE5F150902D}"/>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5">
            <a:extLst>
              <a:ext uri="{FF2B5EF4-FFF2-40B4-BE49-F238E27FC236}">
                <a16:creationId xmlns:a16="http://schemas.microsoft.com/office/drawing/2014/main" id="{CB71E862-9450-7DED-8197-F01D3B694816}"/>
              </a:ext>
            </a:extLst>
          </p:cNvPr>
          <p:cNvSpPr txBox="1"/>
          <p:nvPr/>
        </p:nvSpPr>
        <p:spPr>
          <a:xfrm>
            <a:off x="593135" y="935009"/>
            <a:ext cx="9231783" cy="569580"/>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733" b="1" i="1" dirty="0">
                <a:solidFill>
                  <a:srgbClr val="46245A"/>
                </a:solidFill>
                <a:latin typeface="DM Sans" pitchFamily="2" charset="0"/>
                <a:ea typeface="+mn-ea"/>
              </a:rPr>
              <a:t>Unforeseen Consequences #2!</a:t>
            </a:r>
            <a:endParaRPr lang="en-US" sz="3733" i="1" dirty="0">
              <a:solidFill>
                <a:srgbClr val="46245A"/>
              </a:solidFill>
              <a:latin typeface="DM Sans" pitchFamily="2" charset="0"/>
              <a:ea typeface="+mn-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52C47-0CB3-3287-05D9-246235C957B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2EE27FCE-9935-97D1-13D0-CF3055B380C0}"/>
              </a:ext>
            </a:extLst>
          </p:cNvPr>
          <p:cNvSpPr/>
          <p:nvPr/>
        </p:nvSpPr>
        <p:spPr>
          <a:xfrm>
            <a:off x="9431868" y="371990"/>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90" eaLnBrk="1" fontAlgn="auto" hangingPunct="1">
              <a:spcBef>
                <a:spcPts val="0"/>
              </a:spcBef>
              <a:spcAft>
                <a:spcPts val="0"/>
              </a:spcAft>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CACE4BB3-19FA-68E4-8084-39067730FFC4}"/>
              </a:ext>
            </a:extLst>
          </p:cNvPr>
          <p:cNvSpPr txBox="1"/>
          <p:nvPr/>
        </p:nvSpPr>
        <p:spPr>
          <a:xfrm>
            <a:off x="389465" y="684092"/>
            <a:ext cx="7336552" cy="589905"/>
          </a:xfrm>
          <a:prstGeom prst="rect">
            <a:avLst/>
          </a:prstGeom>
        </p:spPr>
        <p:txBody>
          <a:bodyPr wrap="square" lIns="0" tIns="0" rIns="0" bIns="0" rtlCol="0" anchor="t">
            <a:spAutoFit/>
          </a:bodyPr>
          <a:lstStyle/>
          <a:p>
            <a:pPr defTabSz="609690" eaLnBrk="1" fontAlgn="auto" hangingPunct="1">
              <a:lnSpc>
                <a:spcPts val="4574"/>
              </a:lnSpc>
              <a:spcBef>
                <a:spcPts val="0"/>
              </a:spcBef>
              <a:spcAft>
                <a:spcPts val="0"/>
              </a:spcAft>
              <a:defRPr/>
            </a:pPr>
            <a:r>
              <a:rPr lang="en-US" sz="4000" i="1" spc="-275" dirty="0">
                <a:solidFill>
                  <a:srgbClr val="46245A"/>
                </a:solidFill>
                <a:latin typeface="DM Sans Bold"/>
              </a:rPr>
              <a:t>Q1. </a:t>
            </a:r>
          </a:p>
        </p:txBody>
      </p:sp>
      <p:sp>
        <p:nvSpPr>
          <p:cNvPr id="2" name="TextBox 1">
            <a:extLst>
              <a:ext uri="{FF2B5EF4-FFF2-40B4-BE49-F238E27FC236}">
                <a16:creationId xmlns:a16="http://schemas.microsoft.com/office/drawing/2014/main" id="{3DD6EC25-9D43-B774-7F07-1C4121BDAAAB}"/>
              </a:ext>
            </a:extLst>
          </p:cNvPr>
          <p:cNvSpPr txBox="1"/>
          <p:nvPr/>
        </p:nvSpPr>
        <p:spPr>
          <a:xfrm>
            <a:off x="389466" y="1423804"/>
            <a:ext cx="9048046" cy="666977"/>
          </a:xfrm>
          <a:prstGeom prst="rect">
            <a:avLst/>
          </a:prstGeom>
          <a:noFill/>
        </p:spPr>
        <p:txBody>
          <a:bodyPr wrap="square">
            <a:spAutoFit/>
          </a:bodyPr>
          <a:lstStyle/>
          <a:p>
            <a:pPr defTabSz="609660" eaLnBrk="1" fontAlgn="auto" hangingPunct="1">
              <a:spcBef>
                <a:spcPts val="0"/>
              </a:spcBef>
              <a:spcAft>
                <a:spcPts val="0"/>
              </a:spcAft>
              <a:defRPr/>
            </a:pPr>
            <a:r>
              <a:rPr lang="en-GB" sz="1867" b="1" dirty="0">
                <a:solidFill>
                  <a:prstClr val="black"/>
                </a:solidFill>
                <a:latin typeface="DM Sans"/>
                <a:ea typeface="+mn-ea"/>
              </a:rPr>
              <a:t>How can we modify clouds to cool the planet?</a:t>
            </a:r>
          </a:p>
          <a:p>
            <a:pPr defTabSz="609660" eaLnBrk="1" fontAlgn="auto" hangingPunct="1">
              <a:spcBef>
                <a:spcPts val="0"/>
              </a:spcBef>
              <a:spcAft>
                <a:spcPts val="0"/>
              </a:spcAft>
              <a:defRPr/>
            </a:pPr>
            <a:endParaRPr lang="en-GB" sz="1867" b="1" dirty="0">
              <a:solidFill>
                <a:prstClr val="black"/>
              </a:solidFill>
              <a:latin typeface="DM Sans"/>
              <a:ea typeface="+mn-ea"/>
            </a:endParaRPr>
          </a:p>
        </p:txBody>
      </p:sp>
    </p:spTree>
    <p:extLst>
      <p:ext uri="{BB962C8B-B14F-4D97-AF65-F5344CB8AC3E}">
        <p14:creationId xmlns:p14="http://schemas.microsoft.com/office/powerpoint/2010/main" val="17694692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E4BA2-7572-30C6-1654-E5F6A5F035B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AC00BFE3-541E-0651-89AB-4C20217B58D2}"/>
              </a:ext>
            </a:extLst>
          </p:cNvPr>
          <p:cNvSpPr/>
          <p:nvPr/>
        </p:nvSpPr>
        <p:spPr>
          <a:xfrm>
            <a:off x="9431868" y="371990"/>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90" eaLnBrk="1" fontAlgn="auto" hangingPunct="1">
              <a:spcBef>
                <a:spcPts val="0"/>
              </a:spcBef>
              <a:spcAft>
                <a:spcPts val="0"/>
              </a:spcAft>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5135078D-12CF-3963-9C26-C1EEC1BBEE2D}"/>
              </a:ext>
            </a:extLst>
          </p:cNvPr>
          <p:cNvSpPr txBox="1"/>
          <p:nvPr/>
        </p:nvSpPr>
        <p:spPr>
          <a:xfrm>
            <a:off x="389465" y="684092"/>
            <a:ext cx="7336552" cy="589905"/>
          </a:xfrm>
          <a:prstGeom prst="rect">
            <a:avLst/>
          </a:prstGeom>
        </p:spPr>
        <p:txBody>
          <a:bodyPr wrap="square" lIns="0" tIns="0" rIns="0" bIns="0" rtlCol="0" anchor="t">
            <a:spAutoFit/>
          </a:bodyPr>
          <a:lstStyle/>
          <a:p>
            <a:pPr defTabSz="609690" eaLnBrk="1" fontAlgn="auto" hangingPunct="1">
              <a:lnSpc>
                <a:spcPts val="4574"/>
              </a:lnSpc>
              <a:spcBef>
                <a:spcPts val="0"/>
              </a:spcBef>
              <a:spcAft>
                <a:spcPts val="0"/>
              </a:spcAft>
              <a:defRPr/>
            </a:pPr>
            <a:r>
              <a:rPr lang="en-US" sz="4000" i="1" spc="-275" dirty="0">
                <a:solidFill>
                  <a:srgbClr val="46245A"/>
                </a:solidFill>
                <a:latin typeface="DM Sans Bold"/>
              </a:rPr>
              <a:t>Q2. </a:t>
            </a:r>
          </a:p>
        </p:txBody>
      </p:sp>
      <p:sp>
        <p:nvSpPr>
          <p:cNvPr id="2" name="TextBox 1">
            <a:extLst>
              <a:ext uri="{FF2B5EF4-FFF2-40B4-BE49-F238E27FC236}">
                <a16:creationId xmlns:a16="http://schemas.microsoft.com/office/drawing/2014/main" id="{8439266F-70F5-182A-8D2E-F96B04778E75}"/>
              </a:ext>
            </a:extLst>
          </p:cNvPr>
          <p:cNvSpPr txBox="1"/>
          <p:nvPr/>
        </p:nvSpPr>
        <p:spPr>
          <a:xfrm>
            <a:off x="389466" y="1423804"/>
            <a:ext cx="9048046" cy="954300"/>
          </a:xfrm>
          <a:prstGeom prst="rect">
            <a:avLst/>
          </a:prstGeom>
          <a:noFill/>
        </p:spPr>
        <p:txBody>
          <a:bodyPr wrap="square">
            <a:spAutoFit/>
          </a:bodyPr>
          <a:lstStyle/>
          <a:p>
            <a:pPr defTabSz="609660" eaLnBrk="1" fontAlgn="auto" hangingPunct="1">
              <a:spcBef>
                <a:spcPts val="0"/>
              </a:spcBef>
              <a:spcAft>
                <a:spcPts val="0"/>
              </a:spcAft>
              <a:defRPr/>
            </a:pPr>
            <a:r>
              <a:rPr lang="en-GB" sz="1867" b="1" dirty="0">
                <a:solidFill>
                  <a:prstClr val="black"/>
                </a:solidFill>
                <a:latin typeface="DM Sans"/>
                <a:ea typeface="+mn-ea"/>
              </a:rPr>
              <a:t>How can we use aerosol to cool the planet?</a:t>
            </a:r>
          </a:p>
          <a:p>
            <a:pPr defTabSz="609660" eaLnBrk="1" fontAlgn="auto" hangingPunct="1">
              <a:spcBef>
                <a:spcPts val="0"/>
              </a:spcBef>
              <a:spcAft>
                <a:spcPts val="0"/>
              </a:spcAft>
              <a:defRPr/>
            </a:pPr>
            <a:endParaRPr lang="en-GB" sz="1867" b="1" dirty="0">
              <a:solidFill>
                <a:prstClr val="black"/>
              </a:solidFill>
              <a:latin typeface="DM Sans"/>
              <a:ea typeface="+mn-ea"/>
            </a:endParaRPr>
          </a:p>
          <a:p>
            <a:pPr defTabSz="609660" eaLnBrk="1" fontAlgn="auto" hangingPunct="1">
              <a:spcBef>
                <a:spcPts val="0"/>
              </a:spcBef>
              <a:spcAft>
                <a:spcPts val="0"/>
              </a:spcAft>
              <a:defRPr/>
            </a:pPr>
            <a:endParaRPr lang="en-GB" sz="1867" b="1" dirty="0">
              <a:solidFill>
                <a:prstClr val="black"/>
              </a:solidFill>
              <a:latin typeface="DM Sans"/>
              <a:ea typeface="+mn-ea"/>
            </a:endParaRPr>
          </a:p>
        </p:txBody>
      </p:sp>
    </p:spTree>
    <p:extLst>
      <p:ext uri="{BB962C8B-B14F-4D97-AF65-F5344CB8AC3E}">
        <p14:creationId xmlns:p14="http://schemas.microsoft.com/office/powerpoint/2010/main" val="17033060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DDE87-953D-D899-73C2-FDC34EB7439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3CC71DAB-E047-6337-7438-B397112F6B6A}"/>
              </a:ext>
            </a:extLst>
          </p:cNvPr>
          <p:cNvSpPr/>
          <p:nvPr/>
        </p:nvSpPr>
        <p:spPr>
          <a:xfrm>
            <a:off x="9431868" y="371990"/>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90" eaLnBrk="1" fontAlgn="auto" hangingPunct="1">
              <a:spcBef>
                <a:spcPts val="0"/>
              </a:spcBef>
              <a:spcAft>
                <a:spcPts val="0"/>
              </a:spcAft>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082A15B8-3EF0-EF91-661D-2018DA86A836}"/>
              </a:ext>
            </a:extLst>
          </p:cNvPr>
          <p:cNvSpPr txBox="1"/>
          <p:nvPr/>
        </p:nvSpPr>
        <p:spPr>
          <a:xfrm>
            <a:off x="389465" y="684092"/>
            <a:ext cx="7336552" cy="589905"/>
          </a:xfrm>
          <a:prstGeom prst="rect">
            <a:avLst/>
          </a:prstGeom>
        </p:spPr>
        <p:txBody>
          <a:bodyPr wrap="square" lIns="0" tIns="0" rIns="0" bIns="0" rtlCol="0" anchor="t">
            <a:spAutoFit/>
          </a:bodyPr>
          <a:lstStyle/>
          <a:p>
            <a:pPr defTabSz="609690" eaLnBrk="1" fontAlgn="auto" hangingPunct="1">
              <a:lnSpc>
                <a:spcPts val="4574"/>
              </a:lnSpc>
              <a:spcBef>
                <a:spcPts val="0"/>
              </a:spcBef>
              <a:spcAft>
                <a:spcPts val="0"/>
              </a:spcAft>
              <a:defRPr/>
            </a:pPr>
            <a:r>
              <a:rPr lang="en-US" sz="4000" i="1" spc="-275" dirty="0">
                <a:solidFill>
                  <a:srgbClr val="46245A"/>
                </a:solidFill>
                <a:latin typeface="DM Sans Bold"/>
              </a:rPr>
              <a:t>Q3. </a:t>
            </a:r>
          </a:p>
        </p:txBody>
      </p:sp>
      <p:sp>
        <p:nvSpPr>
          <p:cNvPr id="2" name="TextBox 1">
            <a:extLst>
              <a:ext uri="{FF2B5EF4-FFF2-40B4-BE49-F238E27FC236}">
                <a16:creationId xmlns:a16="http://schemas.microsoft.com/office/drawing/2014/main" id="{45A59AAA-BEAC-2382-0B88-20C699162707}"/>
              </a:ext>
            </a:extLst>
          </p:cNvPr>
          <p:cNvSpPr txBox="1"/>
          <p:nvPr/>
        </p:nvSpPr>
        <p:spPr>
          <a:xfrm>
            <a:off x="389466" y="1423804"/>
            <a:ext cx="9048046" cy="1528945"/>
          </a:xfrm>
          <a:prstGeom prst="rect">
            <a:avLst/>
          </a:prstGeom>
          <a:noFill/>
        </p:spPr>
        <p:txBody>
          <a:bodyPr wrap="square">
            <a:spAutoFit/>
          </a:bodyPr>
          <a:lstStyle/>
          <a:p>
            <a:pPr defTabSz="609660" eaLnBrk="1" fontAlgn="auto" hangingPunct="1">
              <a:spcBef>
                <a:spcPts val="0"/>
              </a:spcBef>
              <a:spcAft>
                <a:spcPts val="0"/>
              </a:spcAft>
              <a:defRPr/>
            </a:pPr>
            <a:r>
              <a:rPr lang="en-GB" sz="1867" b="1" dirty="0">
                <a:solidFill>
                  <a:prstClr val="black"/>
                </a:solidFill>
                <a:latin typeface="DM Sans"/>
                <a:ea typeface="+mn-ea"/>
              </a:rPr>
              <a:t>What are some downsides of geoengineering? Both generally and specific to the two techniques.</a:t>
            </a:r>
          </a:p>
          <a:p>
            <a:pPr defTabSz="609660" eaLnBrk="1" fontAlgn="auto" hangingPunct="1">
              <a:spcBef>
                <a:spcPts val="0"/>
              </a:spcBef>
              <a:spcAft>
                <a:spcPts val="0"/>
              </a:spcAft>
              <a:defRPr/>
            </a:pPr>
            <a:endParaRPr lang="en-GB" sz="1867" b="1" dirty="0">
              <a:solidFill>
                <a:prstClr val="black"/>
              </a:solidFill>
              <a:latin typeface="DM Sans"/>
              <a:ea typeface="+mn-ea"/>
            </a:endParaRPr>
          </a:p>
          <a:p>
            <a:pPr defTabSz="609660" eaLnBrk="1" fontAlgn="auto" hangingPunct="1">
              <a:spcBef>
                <a:spcPts val="0"/>
              </a:spcBef>
              <a:spcAft>
                <a:spcPts val="0"/>
              </a:spcAft>
              <a:defRPr/>
            </a:pPr>
            <a:endParaRPr lang="en-GB" sz="1867" b="1" dirty="0">
              <a:solidFill>
                <a:prstClr val="black"/>
              </a:solidFill>
              <a:latin typeface="DM Sans"/>
              <a:ea typeface="+mn-ea"/>
            </a:endParaRPr>
          </a:p>
          <a:p>
            <a:pPr defTabSz="609660" eaLnBrk="1" fontAlgn="auto" hangingPunct="1">
              <a:spcBef>
                <a:spcPts val="0"/>
              </a:spcBef>
              <a:spcAft>
                <a:spcPts val="0"/>
              </a:spcAft>
              <a:defRPr/>
            </a:pPr>
            <a:endParaRPr lang="en-GB" sz="1867" b="1" dirty="0">
              <a:solidFill>
                <a:prstClr val="black"/>
              </a:solidFill>
              <a:latin typeface="DM Sans"/>
              <a:ea typeface="+mn-ea"/>
            </a:endParaRPr>
          </a:p>
        </p:txBody>
      </p:sp>
    </p:spTree>
    <p:extLst>
      <p:ext uri="{BB962C8B-B14F-4D97-AF65-F5344CB8AC3E}">
        <p14:creationId xmlns:p14="http://schemas.microsoft.com/office/powerpoint/2010/main" val="5954831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1790B-B648-733E-F777-2C309039BF8F}"/>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AFFF3A70-5797-0B86-55A1-70BF92512825}"/>
              </a:ext>
            </a:extLst>
          </p:cNvPr>
          <p:cNvSpPr/>
          <p:nvPr/>
        </p:nvSpPr>
        <p:spPr>
          <a:xfrm>
            <a:off x="9431868" y="371990"/>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90" eaLnBrk="1" fontAlgn="auto" hangingPunct="1">
              <a:spcBef>
                <a:spcPts val="0"/>
              </a:spcBef>
              <a:spcAft>
                <a:spcPts val="0"/>
              </a:spcAft>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6C129104-0E16-BB0D-DB7D-DC90AC542176}"/>
              </a:ext>
            </a:extLst>
          </p:cNvPr>
          <p:cNvSpPr txBox="1"/>
          <p:nvPr/>
        </p:nvSpPr>
        <p:spPr>
          <a:xfrm>
            <a:off x="389465" y="684092"/>
            <a:ext cx="7336552" cy="589905"/>
          </a:xfrm>
          <a:prstGeom prst="rect">
            <a:avLst/>
          </a:prstGeom>
        </p:spPr>
        <p:txBody>
          <a:bodyPr wrap="square" lIns="0" tIns="0" rIns="0" bIns="0" rtlCol="0" anchor="t">
            <a:spAutoFit/>
          </a:bodyPr>
          <a:lstStyle/>
          <a:p>
            <a:pPr defTabSz="609690" eaLnBrk="1" fontAlgn="auto" hangingPunct="1">
              <a:lnSpc>
                <a:spcPts val="4574"/>
              </a:lnSpc>
              <a:spcBef>
                <a:spcPts val="0"/>
              </a:spcBef>
              <a:spcAft>
                <a:spcPts val="0"/>
              </a:spcAft>
              <a:defRPr/>
            </a:pPr>
            <a:r>
              <a:rPr lang="en-US" sz="4000" i="1" spc="-275" dirty="0">
                <a:solidFill>
                  <a:srgbClr val="46245A"/>
                </a:solidFill>
                <a:latin typeface="DM Sans Bold"/>
              </a:rPr>
              <a:t>Q4. </a:t>
            </a:r>
          </a:p>
        </p:txBody>
      </p:sp>
      <p:sp>
        <p:nvSpPr>
          <p:cNvPr id="2" name="TextBox 1">
            <a:extLst>
              <a:ext uri="{FF2B5EF4-FFF2-40B4-BE49-F238E27FC236}">
                <a16:creationId xmlns:a16="http://schemas.microsoft.com/office/drawing/2014/main" id="{D2F93359-EF1C-4A47-CB0B-9FD61EEAA973}"/>
              </a:ext>
            </a:extLst>
          </p:cNvPr>
          <p:cNvSpPr txBox="1"/>
          <p:nvPr/>
        </p:nvSpPr>
        <p:spPr>
          <a:xfrm>
            <a:off x="389466" y="1423804"/>
            <a:ext cx="9048046" cy="1241622"/>
          </a:xfrm>
          <a:prstGeom prst="rect">
            <a:avLst/>
          </a:prstGeom>
          <a:noFill/>
        </p:spPr>
        <p:txBody>
          <a:bodyPr wrap="square">
            <a:spAutoFit/>
          </a:bodyPr>
          <a:lstStyle/>
          <a:p>
            <a:pPr defTabSz="609660" eaLnBrk="1" fontAlgn="auto" hangingPunct="1">
              <a:spcBef>
                <a:spcPts val="0"/>
              </a:spcBef>
              <a:spcAft>
                <a:spcPts val="0"/>
              </a:spcAft>
              <a:defRPr/>
            </a:pPr>
            <a:r>
              <a:rPr lang="en-GB" sz="1867" b="1" dirty="0">
                <a:solidFill>
                  <a:prstClr val="black"/>
                </a:solidFill>
                <a:latin typeface="DM Sans"/>
                <a:ea typeface="+mn-ea"/>
              </a:rPr>
              <a:t>How can we mitigate the downsides of geoengineering?</a:t>
            </a:r>
          </a:p>
          <a:p>
            <a:pPr defTabSz="609660" eaLnBrk="1" fontAlgn="auto" hangingPunct="1">
              <a:spcBef>
                <a:spcPts val="0"/>
              </a:spcBef>
              <a:spcAft>
                <a:spcPts val="0"/>
              </a:spcAft>
              <a:defRPr/>
            </a:pPr>
            <a:endParaRPr lang="en-GB" sz="1867" b="1" dirty="0">
              <a:solidFill>
                <a:prstClr val="black"/>
              </a:solidFill>
              <a:latin typeface="DM Sans"/>
              <a:ea typeface="+mn-ea"/>
            </a:endParaRPr>
          </a:p>
          <a:p>
            <a:pPr defTabSz="609660" eaLnBrk="1" fontAlgn="auto" hangingPunct="1">
              <a:spcBef>
                <a:spcPts val="0"/>
              </a:spcBef>
              <a:spcAft>
                <a:spcPts val="0"/>
              </a:spcAft>
              <a:defRPr/>
            </a:pPr>
            <a:endParaRPr lang="en-GB" sz="1867" b="1" dirty="0">
              <a:solidFill>
                <a:prstClr val="black"/>
              </a:solidFill>
              <a:latin typeface="DM Sans"/>
              <a:ea typeface="+mn-ea"/>
            </a:endParaRPr>
          </a:p>
          <a:p>
            <a:pPr defTabSz="609660" eaLnBrk="1" fontAlgn="auto" hangingPunct="1">
              <a:spcBef>
                <a:spcPts val="0"/>
              </a:spcBef>
              <a:spcAft>
                <a:spcPts val="0"/>
              </a:spcAft>
              <a:defRPr/>
            </a:pPr>
            <a:endParaRPr lang="en-GB" sz="1867" b="1" dirty="0">
              <a:solidFill>
                <a:prstClr val="black"/>
              </a:solidFill>
              <a:latin typeface="DM Sans"/>
              <a:ea typeface="+mn-ea"/>
            </a:endParaRPr>
          </a:p>
        </p:txBody>
      </p:sp>
    </p:spTree>
    <p:extLst>
      <p:ext uri="{BB962C8B-B14F-4D97-AF65-F5344CB8AC3E}">
        <p14:creationId xmlns:p14="http://schemas.microsoft.com/office/powerpoint/2010/main" val="1105962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3DF03-A7C8-B3FA-69A4-D5B67A97D2BD}"/>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8B08E4EF-28A2-6FCE-CBC4-454ED662DB5D}"/>
              </a:ext>
            </a:extLst>
          </p:cNvPr>
          <p:cNvSpPr/>
          <p:nvPr/>
        </p:nvSpPr>
        <p:spPr>
          <a:xfrm>
            <a:off x="9431868" y="371990"/>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90" eaLnBrk="1" fontAlgn="auto" hangingPunct="1">
              <a:spcBef>
                <a:spcPts val="0"/>
              </a:spcBef>
              <a:spcAft>
                <a:spcPts val="0"/>
              </a:spcAft>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1E2E76BF-A015-98DF-3CAA-3611B13A6D15}"/>
              </a:ext>
            </a:extLst>
          </p:cNvPr>
          <p:cNvSpPr txBox="1"/>
          <p:nvPr/>
        </p:nvSpPr>
        <p:spPr>
          <a:xfrm>
            <a:off x="389465" y="684092"/>
            <a:ext cx="7336552" cy="589905"/>
          </a:xfrm>
          <a:prstGeom prst="rect">
            <a:avLst/>
          </a:prstGeom>
        </p:spPr>
        <p:txBody>
          <a:bodyPr wrap="square" lIns="0" tIns="0" rIns="0" bIns="0" rtlCol="0" anchor="t">
            <a:spAutoFit/>
          </a:bodyPr>
          <a:lstStyle/>
          <a:p>
            <a:pPr defTabSz="609690" eaLnBrk="1" fontAlgn="auto" hangingPunct="1">
              <a:lnSpc>
                <a:spcPts val="4574"/>
              </a:lnSpc>
              <a:spcBef>
                <a:spcPts val="0"/>
              </a:spcBef>
              <a:spcAft>
                <a:spcPts val="0"/>
              </a:spcAft>
              <a:defRPr/>
            </a:pPr>
            <a:r>
              <a:rPr lang="en-US" sz="4000" i="1" spc="-275" dirty="0">
                <a:solidFill>
                  <a:srgbClr val="46245A"/>
                </a:solidFill>
                <a:latin typeface="DM Sans Bold"/>
              </a:rPr>
              <a:t>Q5. </a:t>
            </a:r>
          </a:p>
        </p:txBody>
      </p:sp>
      <p:sp>
        <p:nvSpPr>
          <p:cNvPr id="2" name="TextBox 1">
            <a:extLst>
              <a:ext uri="{FF2B5EF4-FFF2-40B4-BE49-F238E27FC236}">
                <a16:creationId xmlns:a16="http://schemas.microsoft.com/office/drawing/2014/main" id="{DD5DD7B7-A886-9F82-1B76-F58D8D547A03}"/>
              </a:ext>
            </a:extLst>
          </p:cNvPr>
          <p:cNvSpPr txBox="1"/>
          <p:nvPr/>
        </p:nvSpPr>
        <p:spPr>
          <a:xfrm>
            <a:off x="389466" y="1423804"/>
            <a:ext cx="9048046" cy="1241622"/>
          </a:xfrm>
          <a:prstGeom prst="rect">
            <a:avLst/>
          </a:prstGeom>
          <a:noFill/>
        </p:spPr>
        <p:txBody>
          <a:bodyPr wrap="square">
            <a:spAutoFit/>
          </a:bodyPr>
          <a:lstStyle/>
          <a:p>
            <a:pPr defTabSz="609660" eaLnBrk="1" fontAlgn="auto" hangingPunct="1">
              <a:spcBef>
                <a:spcPts val="0"/>
              </a:spcBef>
              <a:spcAft>
                <a:spcPts val="0"/>
              </a:spcAft>
              <a:defRPr/>
            </a:pPr>
            <a:r>
              <a:rPr lang="en-GB" sz="1867" b="1" dirty="0">
                <a:solidFill>
                  <a:prstClr val="black"/>
                </a:solidFill>
                <a:latin typeface="DM Sans"/>
                <a:ea typeface="+mn-ea"/>
              </a:rPr>
              <a:t>What social and societal factors need to be considered for geoengineering?</a:t>
            </a:r>
          </a:p>
          <a:p>
            <a:pPr defTabSz="609660" eaLnBrk="1" fontAlgn="auto" hangingPunct="1">
              <a:spcBef>
                <a:spcPts val="0"/>
              </a:spcBef>
              <a:spcAft>
                <a:spcPts val="0"/>
              </a:spcAft>
              <a:defRPr/>
            </a:pPr>
            <a:endParaRPr lang="en-GB" sz="1867" b="1" dirty="0">
              <a:solidFill>
                <a:prstClr val="black"/>
              </a:solidFill>
              <a:latin typeface="DM Sans"/>
              <a:ea typeface="+mn-ea"/>
            </a:endParaRPr>
          </a:p>
          <a:p>
            <a:pPr defTabSz="609660" eaLnBrk="1" fontAlgn="auto" hangingPunct="1">
              <a:spcBef>
                <a:spcPts val="0"/>
              </a:spcBef>
              <a:spcAft>
                <a:spcPts val="0"/>
              </a:spcAft>
              <a:defRPr/>
            </a:pPr>
            <a:endParaRPr lang="en-GB" sz="1867" b="1" dirty="0">
              <a:solidFill>
                <a:prstClr val="black"/>
              </a:solidFill>
              <a:latin typeface="DM Sans"/>
              <a:ea typeface="+mn-ea"/>
            </a:endParaRPr>
          </a:p>
          <a:p>
            <a:pPr defTabSz="609660" eaLnBrk="1" fontAlgn="auto" hangingPunct="1">
              <a:spcBef>
                <a:spcPts val="0"/>
              </a:spcBef>
              <a:spcAft>
                <a:spcPts val="0"/>
              </a:spcAft>
              <a:defRPr/>
            </a:pPr>
            <a:endParaRPr lang="en-GB" sz="1867" b="1" dirty="0">
              <a:solidFill>
                <a:prstClr val="black"/>
              </a:solidFill>
              <a:latin typeface="DM Sans"/>
              <a:ea typeface="+mn-ea"/>
            </a:endParaRPr>
          </a:p>
        </p:txBody>
      </p:sp>
    </p:spTree>
    <p:extLst>
      <p:ext uri="{BB962C8B-B14F-4D97-AF65-F5344CB8AC3E}">
        <p14:creationId xmlns:p14="http://schemas.microsoft.com/office/powerpoint/2010/main" val="28187312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762000" y="1089044"/>
            <a:ext cx="9231783" cy="564706"/>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600" b="1" dirty="0">
                <a:solidFill>
                  <a:srgbClr val="46245A"/>
                </a:solidFill>
                <a:latin typeface="DM Sans" pitchFamily="2" charset="0"/>
                <a:ea typeface="+mn-ea"/>
              </a:rPr>
              <a:t>How do we reduce emissions?</a:t>
            </a:r>
            <a:endParaRPr lang="en-US" sz="3600" dirty="0">
              <a:solidFill>
                <a:srgbClr val="46245A"/>
              </a:solidFill>
              <a:latin typeface="DM Sans" pitchFamily="2" charset="0"/>
              <a:ea typeface="+mn-ea"/>
            </a:endParaRPr>
          </a:p>
        </p:txBody>
      </p:sp>
      <p:sp>
        <p:nvSpPr>
          <p:cNvPr id="4" name="Rectangle 2">
            <a:extLst>
              <a:ext uri="{FF2B5EF4-FFF2-40B4-BE49-F238E27FC236}">
                <a16:creationId xmlns:a16="http://schemas.microsoft.com/office/drawing/2014/main" id="{C7A7FD86-AF1F-30A9-3A7C-682F8710EF04}"/>
              </a:ext>
            </a:extLst>
          </p:cNvPr>
          <p:cNvSpPr txBox="1">
            <a:spLocks noChangeArrowheads="1"/>
          </p:cNvSpPr>
          <p:nvPr/>
        </p:nvSpPr>
        <p:spPr>
          <a:xfrm>
            <a:off x="781749" y="2040275"/>
            <a:ext cx="10710035" cy="4241705"/>
          </a:xfrm>
          <a:prstGeom prst="rect">
            <a:avLst/>
          </a:prstGeom>
        </p:spPr>
        <p:txBody>
          <a:bodyPr>
            <a:normAutofit/>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228611" indent="-228611" defTabSz="783771" fontAlgn="auto">
              <a:spcAft>
                <a:spcPts val="0"/>
              </a:spcAft>
              <a:defRPr/>
            </a:pPr>
            <a:r>
              <a:rPr lang="en-GB" sz="2600" dirty="0">
                <a:solidFill>
                  <a:prstClr val="black"/>
                </a:solidFill>
              </a:rPr>
              <a:t>Reduce demand for energy</a:t>
            </a:r>
          </a:p>
          <a:p>
            <a:pPr marL="228611" indent="-228611" defTabSz="783771" fontAlgn="auto">
              <a:spcAft>
                <a:spcPts val="0"/>
              </a:spcAft>
              <a:defRPr/>
            </a:pPr>
            <a:r>
              <a:rPr lang="en-GB" sz="2600" dirty="0">
                <a:solidFill>
                  <a:prstClr val="black"/>
                </a:solidFill>
              </a:rPr>
              <a:t>Reduce carbon emissions associated with existing demand</a:t>
            </a:r>
          </a:p>
          <a:p>
            <a:pPr marL="228611" indent="-228611" defTabSz="783771" fontAlgn="auto">
              <a:spcAft>
                <a:spcPts val="0"/>
              </a:spcAft>
              <a:defRPr/>
            </a:pPr>
            <a:r>
              <a:rPr lang="en-GB" sz="2600" b="1" dirty="0">
                <a:solidFill>
                  <a:srgbClr val="FF0000"/>
                </a:solidFill>
              </a:rPr>
              <a:t>Negative emission technologies</a:t>
            </a:r>
          </a:p>
          <a:p>
            <a:pPr marL="495325" lvl="1" indent="-190510" defTabSz="783771" fontAlgn="auto">
              <a:spcAft>
                <a:spcPts val="0"/>
              </a:spcAft>
            </a:pPr>
            <a:r>
              <a:rPr lang="en-GB" sz="2133" dirty="0">
                <a:solidFill>
                  <a:prstClr val="black"/>
                </a:solidFill>
              </a:rPr>
              <a:t>Increased land uptake of carbon</a:t>
            </a:r>
          </a:p>
          <a:p>
            <a:pPr marL="495325" lvl="1" indent="-190510" defTabSz="783771" fontAlgn="auto">
              <a:spcAft>
                <a:spcPts val="0"/>
              </a:spcAft>
            </a:pPr>
            <a:r>
              <a:rPr lang="en-GB" sz="2133" dirty="0">
                <a:solidFill>
                  <a:prstClr val="black"/>
                </a:solidFill>
              </a:rPr>
              <a:t>Bioenergy with CCS</a:t>
            </a:r>
          </a:p>
          <a:p>
            <a:pPr marL="495325" lvl="1" indent="-190510" defTabSz="783771" fontAlgn="auto">
              <a:spcAft>
                <a:spcPts val="0"/>
              </a:spcAft>
            </a:pPr>
            <a:r>
              <a:rPr lang="en-GB" sz="2133" dirty="0">
                <a:solidFill>
                  <a:prstClr val="black"/>
                </a:solidFill>
              </a:rPr>
              <a:t>Increased ocean uptake of carbon</a:t>
            </a:r>
          </a:p>
          <a:p>
            <a:pPr marL="495325" lvl="1" indent="-190510" defTabSz="783771" fontAlgn="auto">
              <a:spcAft>
                <a:spcPts val="0"/>
              </a:spcAft>
            </a:pPr>
            <a:r>
              <a:rPr lang="en-GB" sz="2133" dirty="0">
                <a:solidFill>
                  <a:prstClr val="black"/>
                </a:solidFill>
              </a:rPr>
              <a:t>Direct air capture and storage</a:t>
            </a:r>
          </a:p>
          <a:p>
            <a:pPr marL="495325" lvl="1" indent="-190510" defTabSz="783771" fontAlgn="auto">
              <a:spcAft>
                <a:spcPts val="0"/>
              </a:spcAft>
            </a:pPr>
            <a:r>
              <a:rPr lang="en-GB" sz="2133" dirty="0">
                <a:solidFill>
                  <a:prstClr val="black"/>
                </a:solidFill>
              </a:rPr>
              <a:t>Storing carbon in the built environment</a:t>
            </a:r>
          </a:p>
          <a:p>
            <a:pPr marL="228611" indent="-228611" defTabSz="783771" fontAlgn="auto">
              <a:spcAft>
                <a:spcPts val="0"/>
              </a:spcAft>
              <a:defRPr/>
            </a:pPr>
            <a:endParaRPr lang="en-GB" sz="2600" b="1" dirty="0">
              <a:solidFill>
                <a:srgbClr val="FF0000"/>
              </a:solidFill>
            </a:endParaRPr>
          </a:p>
        </p:txBody>
      </p:sp>
    </p:spTree>
    <p:extLst>
      <p:ext uri="{BB962C8B-B14F-4D97-AF65-F5344CB8AC3E}">
        <p14:creationId xmlns:p14="http://schemas.microsoft.com/office/powerpoint/2010/main" val="3958918356"/>
      </p:ext>
    </p:extLst>
  </p:cSld>
  <p:clrMapOvr>
    <a:masterClrMapping/>
  </p:clrMapOvr>
  <mc:AlternateContent xmlns:mc="http://schemas.openxmlformats.org/markup-compatibility/2006" xmlns:p14="http://schemas.microsoft.com/office/powerpoint/2010/main">
    <mc:Choice Requires="p14">
      <p:transition spd="slow" p14:dur="2000" advTm="16308"/>
    </mc:Choice>
    <mc:Fallback xmlns="">
      <p:transition spd="slow" advTm="16308"/>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695400" y="822992"/>
            <a:ext cx="9231783" cy="550087"/>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200" b="1" dirty="0">
                <a:solidFill>
                  <a:srgbClr val="46245A"/>
                </a:solidFill>
                <a:latin typeface="DM Sans" pitchFamily="2" charset="0"/>
                <a:ea typeface="+mn-ea"/>
              </a:rPr>
              <a:t>Role of NET’s in Mitigation Policy </a:t>
            </a:r>
            <a:endParaRPr lang="en-US" sz="3200" dirty="0">
              <a:solidFill>
                <a:srgbClr val="46245A"/>
              </a:solidFill>
              <a:latin typeface="DM Sans" pitchFamily="2" charset="0"/>
              <a:ea typeface="+mn-ea"/>
            </a:endParaRPr>
          </a:p>
        </p:txBody>
      </p:sp>
      <p:pic>
        <p:nvPicPr>
          <p:cNvPr id="4" name="Picture 3">
            <a:extLst>
              <a:ext uri="{FF2B5EF4-FFF2-40B4-BE49-F238E27FC236}">
                <a16:creationId xmlns:a16="http://schemas.microsoft.com/office/drawing/2014/main" id="{DA4DA6CE-9CAF-2F1D-1833-02345729A5B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79376" y="1556792"/>
            <a:ext cx="7488832" cy="4992554"/>
          </a:xfrm>
          <a:prstGeom prst="rect">
            <a:avLst/>
          </a:prstGeom>
        </p:spPr>
      </p:pic>
    </p:spTree>
    <p:extLst>
      <p:ext uri="{BB962C8B-B14F-4D97-AF65-F5344CB8AC3E}">
        <p14:creationId xmlns:p14="http://schemas.microsoft.com/office/powerpoint/2010/main" val="174681532"/>
      </p:ext>
    </p:extLst>
  </p:cSld>
  <p:clrMapOvr>
    <a:masterClrMapping/>
  </p:clrMapOvr>
  <mc:AlternateContent xmlns:mc="http://schemas.openxmlformats.org/markup-compatibility/2006" xmlns:p14="http://schemas.microsoft.com/office/powerpoint/2010/main">
    <mc:Choice Requires="p14">
      <p:transition spd="slow" p14:dur="2000" advTm="12052"/>
    </mc:Choice>
    <mc:Fallback xmlns="">
      <p:transition spd="slow" advTm="12052"/>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651054" y="908090"/>
            <a:ext cx="9231783" cy="550087"/>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200" b="1" dirty="0">
                <a:solidFill>
                  <a:srgbClr val="46245A"/>
                </a:solidFill>
                <a:latin typeface="DM Sans" pitchFamily="2" charset="0"/>
                <a:ea typeface="+mn-ea"/>
              </a:rPr>
              <a:t>Role of NET’s in Mitigation Policy </a:t>
            </a:r>
            <a:endParaRPr lang="en-US" sz="3200" dirty="0">
              <a:solidFill>
                <a:srgbClr val="46245A"/>
              </a:solidFill>
              <a:latin typeface="DM Sans" pitchFamily="2" charset="0"/>
              <a:ea typeface="+mn-ea"/>
            </a:endParaRPr>
          </a:p>
        </p:txBody>
      </p:sp>
      <p:sp>
        <p:nvSpPr>
          <p:cNvPr id="3" name="TextBox 2">
            <a:extLst>
              <a:ext uri="{FF2B5EF4-FFF2-40B4-BE49-F238E27FC236}">
                <a16:creationId xmlns:a16="http://schemas.microsoft.com/office/drawing/2014/main" id="{ED7EB188-9720-A376-4F93-58A0E7ADB2C1}"/>
              </a:ext>
            </a:extLst>
          </p:cNvPr>
          <p:cNvSpPr txBox="1"/>
          <p:nvPr/>
        </p:nvSpPr>
        <p:spPr>
          <a:xfrm>
            <a:off x="651054" y="1810099"/>
            <a:ext cx="10989561" cy="4216539"/>
          </a:xfrm>
          <a:prstGeom prst="rect">
            <a:avLst/>
          </a:prstGeom>
          <a:noFill/>
        </p:spPr>
        <p:txBody>
          <a:bodyPr wrap="square" rtlCol="0">
            <a:spAutoFit/>
          </a:bodyPr>
          <a:lstStyle/>
          <a:p>
            <a:pPr defTabSz="609630" eaLnBrk="1" fontAlgn="auto" hangingPunct="1">
              <a:spcBef>
                <a:spcPts val="0"/>
              </a:spcBef>
              <a:spcAft>
                <a:spcPts val="0"/>
              </a:spcAft>
            </a:pPr>
            <a:r>
              <a:rPr lang="en-GB" sz="2400" dirty="0">
                <a:solidFill>
                  <a:prstClr val="black"/>
                </a:solidFill>
                <a:latin typeface="Calibri" panose="020F0502020204030204" pitchFamily="34" charset="0"/>
                <a:ea typeface="+mn-ea"/>
                <a:cs typeface="Calibri" panose="020F0502020204030204" pitchFamily="34" charset="0"/>
              </a:rPr>
              <a:t>Need for NETs to:</a:t>
            </a:r>
          </a:p>
          <a:p>
            <a:pPr marL="285764" indent="-285764" defTabSz="609630" eaLnBrk="1" fontAlgn="auto" hangingPunct="1">
              <a:spcBef>
                <a:spcPts val="0"/>
              </a:spcBef>
              <a:spcAft>
                <a:spcPts val="0"/>
              </a:spcAft>
              <a:buFont typeface="Arial" panose="020B0604020202020204" pitchFamily="34" charset="0"/>
              <a:buChar char="•"/>
            </a:pPr>
            <a:r>
              <a:rPr lang="en-GB" sz="2400" dirty="0">
                <a:solidFill>
                  <a:prstClr val="black"/>
                </a:solidFill>
                <a:latin typeface="Calibri" panose="020F0502020204030204" pitchFamily="34" charset="0"/>
                <a:ea typeface="+mn-ea"/>
                <a:cs typeface="Calibri" panose="020F0502020204030204" pitchFamily="34" charset="0"/>
              </a:rPr>
              <a:t>Offset emissions that cannot be reduced to zero.</a:t>
            </a:r>
          </a:p>
          <a:p>
            <a:pPr marL="285764" indent="-285764" defTabSz="609630" eaLnBrk="1" fontAlgn="auto" hangingPunct="1">
              <a:spcBef>
                <a:spcPts val="0"/>
              </a:spcBef>
              <a:spcAft>
                <a:spcPts val="0"/>
              </a:spcAft>
              <a:buFont typeface="Arial" panose="020B0604020202020204" pitchFamily="34" charset="0"/>
              <a:buChar char="•"/>
            </a:pPr>
            <a:r>
              <a:rPr lang="en-GB" sz="2400" dirty="0">
                <a:solidFill>
                  <a:prstClr val="black"/>
                </a:solidFill>
                <a:latin typeface="Calibri" panose="020F0502020204030204" pitchFamily="34" charset="0"/>
                <a:ea typeface="+mn-ea"/>
                <a:cs typeface="Calibri" panose="020F0502020204030204" pitchFamily="34" charset="0"/>
              </a:rPr>
              <a:t>Undo the effects of past emissions.</a:t>
            </a:r>
          </a:p>
          <a:p>
            <a:pPr marL="285764" indent="-285764" defTabSz="609630" eaLnBrk="1" fontAlgn="auto" hangingPunct="1">
              <a:spcBef>
                <a:spcPts val="0"/>
              </a:spcBef>
              <a:spcAft>
                <a:spcPts val="0"/>
              </a:spcAft>
              <a:buFont typeface="Arial" panose="020B0604020202020204" pitchFamily="34" charset="0"/>
              <a:buChar char="•"/>
            </a:pPr>
            <a:endParaRPr lang="en-GB" sz="2400" dirty="0">
              <a:solidFill>
                <a:prstClr val="black"/>
              </a:solidFill>
              <a:latin typeface="Calibri" panose="020F0502020204030204" pitchFamily="34" charset="0"/>
              <a:ea typeface="+mn-ea"/>
              <a:cs typeface="Calibri" panose="020F0502020204030204" pitchFamily="34" charset="0"/>
            </a:endParaRPr>
          </a:p>
          <a:p>
            <a:pPr defTabSz="609630" eaLnBrk="1" fontAlgn="auto" hangingPunct="1">
              <a:spcBef>
                <a:spcPts val="0"/>
              </a:spcBef>
              <a:spcAft>
                <a:spcPts val="0"/>
              </a:spcAft>
            </a:pPr>
            <a:r>
              <a:rPr lang="en-GB" sz="2400" b="1" dirty="0">
                <a:solidFill>
                  <a:prstClr val="black"/>
                </a:solidFill>
                <a:latin typeface="Calibri" panose="020F0502020204030204" pitchFamily="34" charset="0"/>
                <a:ea typeface="+mn-ea"/>
                <a:cs typeface="Calibri" panose="020F0502020204030204" pitchFamily="34" charset="0"/>
              </a:rPr>
              <a:t>But there are huge risks in thinking they are the solution:</a:t>
            </a:r>
          </a:p>
          <a:p>
            <a:pPr marL="285764" indent="-285764" defTabSz="609630" eaLnBrk="1" fontAlgn="auto" hangingPunct="1">
              <a:spcBef>
                <a:spcPts val="0"/>
              </a:spcBef>
              <a:spcAft>
                <a:spcPts val="0"/>
              </a:spcAft>
              <a:buFont typeface="Arial" panose="020B0604020202020204" pitchFamily="34" charset="0"/>
              <a:buChar char="•"/>
            </a:pPr>
            <a:r>
              <a:rPr lang="en-GB" sz="2400" dirty="0">
                <a:solidFill>
                  <a:prstClr val="black"/>
                </a:solidFill>
                <a:latin typeface="Calibri" panose="020F0502020204030204" pitchFamily="34" charset="0"/>
                <a:ea typeface="+mn-ea"/>
                <a:cs typeface="Calibri" panose="020F0502020204030204" pitchFamily="34" charset="0"/>
              </a:rPr>
              <a:t>Never implemented at scale.</a:t>
            </a:r>
          </a:p>
          <a:p>
            <a:pPr marL="285764" indent="-285764" defTabSz="609630" eaLnBrk="1" fontAlgn="auto" hangingPunct="1">
              <a:spcBef>
                <a:spcPts val="0"/>
              </a:spcBef>
              <a:spcAft>
                <a:spcPts val="0"/>
              </a:spcAft>
              <a:buFont typeface="Arial" panose="020B0604020202020204" pitchFamily="34" charset="0"/>
              <a:buChar char="•"/>
            </a:pPr>
            <a:r>
              <a:rPr lang="en-GB" sz="2400" dirty="0">
                <a:solidFill>
                  <a:prstClr val="black"/>
                </a:solidFill>
                <a:latin typeface="Calibri" panose="020F0502020204030204" pitchFamily="34" charset="0"/>
                <a:ea typeface="+mn-ea"/>
                <a:cs typeface="Calibri" panose="020F0502020204030204" pitchFamily="34" charset="0"/>
              </a:rPr>
              <a:t>Research or deployment of NETs can delay or deter action to reduce GHG emissions.</a:t>
            </a:r>
          </a:p>
          <a:p>
            <a:pPr marL="285764" indent="-285764" defTabSz="609630" eaLnBrk="1" fontAlgn="auto" hangingPunct="1">
              <a:spcBef>
                <a:spcPts val="0"/>
              </a:spcBef>
              <a:spcAft>
                <a:spcPts val="0"/>
              </a:spcAft>
              <a:buFont typeface="Arial" panose="020B0604020202020204" pitchFamily="34" charset="0"/>
              <a:buChar char="•"/>
            </a:pPr>
            <a:r>
              <a:rPr lang="en-GB" sz="2400" dirty="0">
                <a:solidFill>
                  <a:prstClr val="black"/>
                </a:solidFill>
                <a:latin typeface="Calibri" panose="020F0502020204030204" pitchFamily="34" charset="0"/>
                <a:ea typeface="+mn-ea"/>
                <a:cs typeface="Calibri" panose="020F0502020204030204" pitchFamily="34" charset="0"/>
              </a:rPr>
              <a:t>Use of ‘net zero’ as a target often hides excessive reliance on NETs.</a:t>
            </a:r>
          </a:p>
          <a:p>
            <a:pPr defTabSz="609630" eaLnBrk="1" fontAlgn="auto" hangingPunct="1">
              <a:spcBef>
                <a:spcPts val="0"/>
              </a:spcBef>
              <a:spcAft>
                <a:spcPts val="0"/>
              </a:spcAft>
            </a:pPr>
            <a:endParaRPr lang="en-GB" sz="2400" dirty="0">
              <a:solidFill>
                <a:prstClr val="black"/>
              </a:solidFill>
              <a:latin typeface="Calibri" panose="020F0502020204030204" pitchFamily="34" charset="0"/>
              <a:ea typeface="+mn-ea"/>
              <a:cs typeface="Calibri" panose="020F0502020204030204" pitchFamily="34" charset="0"/>
            </a:endParaRPr>
          </a:p>
          <a:p>
            <a:pPr defTabSz="609630" eaLnBrk="1" fontAlgn="auto" hangingPunct="1">
              <a:spcBef>
                <a:spcPts val="0"/>
              </a:spcBef>
              <a:spcAft>
                <a:spcPts val="0"/>
              </a:spcAft>
            </a:pPr>
            <a:r>
              <a:rPr lang="en-GB" sz="2600" dirty="0">
                <a:solidFill>
                  <a:prstClr val="black"/>
                </a:solidFill>
                <a:latin typeface="Calibri" panose="020F0502020204030204" pitchFamily="34" charset="0"/>
                <a:ea typeface="+mn-ea"/>
                <a:cs typeface="Calibri" panose="020F0502020204030204" pitchFamily="34" charset="0"/>
              </a:rPr>
              <a:t>Promises of future carbon removal later </a:t>
            </a:r>
            <a:r>
              <a:rPr lang="en-GB" sz="2600" b="1" dirty="0">
                <a:solidFill>
                  <a:prstClr val="black"/>
                </a:solidFill>
                <a:latin typeface="Calibri" panose="020F0502020204030204" pitchFamily="34" charset="0"/>
                <a:ea typeface="+mn-ea"/>
                <a:cs typeface="Calibri" panose="020F0502020204030204" pitchFamily="34" charset="0"/>
              </a:rPr>
              <a:t>instead of </a:t>
            </a:r>
            <a:r>
              <a:rPr lang="en-GB" sz="2600" dirty="0">
                <a:solidFill>
                  <a:prstClr val="black"/>
                </a:solidFill>
                <a:latin typeface="Calibri" panose="020F0502020204030204" pitchFamily="34" charset="0"/>
                <a:ea typeface="+mn-ea"/>
                <a:cs typeface="Calibri" panose="020F0502020204030204" pitchFamily="34" charset="0"/>
              </a:rPr>
              <a:t>reducing emissions now are essentially a huge gamble with future generations paying the cost</a:t>
            </a:r>
          </a:p>
        </p:txBody>
      </p:sp>
    </p:spTree>
    <p:custDataLst>
      <p:tags r:id="rId1"/>
    </p:custDataLst>
    <p:extLst>
      <p:ext uri="{BB962C8B-B14F-4D97-AF65-F5344CB8AC3E}">
        <p14:creationId xmlns:p14="http://schemas.microsoft.com/office/powerpoint/2010/main" val="3466397925"/>
      </p:ext>
    </p:extLst>
  </p:cSld>
  <p:clrMapOvr>
    <a:masterClrMapping/>
  </p:clrMapOvr>
  <mc:AlternateContent xmlns:mc="http://schemas.openxmlformats.org/markup-compatibility/2006" xmlns:p14="http://schemas.microsoft.com/office/powerpoint/2010/main">
    <mc:Choice Requires="p14">
      <p:transition spd="slow" p14:dur="2000" advTm="94298"/>
    </mc:Choice>
    <mc:Fallback xmlns="">
      <p:transition spd="slow" advTm="9429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2BA2A1E2-A210-BF57-7BAD-08A5127BA32A}"/>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E4DCACF-F94D-F08C-3CD7-E0081D43110A}"/>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3" name="Title 1">
            <a:extLst>
              <a:ext uri="{FF2B5EF4-FFF2-40B4-BE49-F238E27FC236}">
                <a16:creationId xmlns:a16="http://schemas.microsoft.com/office/drawing/2014/main" id="{003350FA-FD6C-F6B5-6520-98D293A25FBD}"/>
              </a:ext>
            </a:extLst>
          </p:cNvPr>
          <p:cNvSpPr txBox="1">
            <a:spLocks/>
          </p:cNvSpPr>
          <p:nvPr/>
        </p:nvSpPr>
        <p:spPr>
          <a:xfrm>
            <a:off x="31440" y="0"/>
            <a:ext cx="10177131" cy="1213968"/>
          </a:xfrm>
          <a:prstGeom prst="rect">
            <a:avLst/>
          </a:prstGeom>
        </p:spPr>
        <p:txBody>
          <a:bodyPr>
            <a:noAutofit/>
          </a:bodyPr>
          <a:lstStyle>
            <a:lvl1pPr algn="ctr" defTabSz="609630" rtl="0" eaLnBrk="1" latinLnBrk="0" hangingPunct="1">
              <a:spcBef>
                <a:spcPct val="0"/>
              </a:spcBef>
              <a:buNone/>
              <a:defRPr sz="2933" kern="1200">
                <a:solidFill>
                  <a:schemeClr val="tx1"/>
                </a:solidFill>
                <a:latin typeface="DM Sans" pitchFamily="2" charset="0"/>
                <a:ea typeface="+mj-ea"/>
                <a:cs typeface="+mj-cs"/>
              </a:defRPr>
            </a:lvl1pPr>
          </a:lstStyle>
          <a:p>
            <a:pPr algn="r" fontAlgn="auto">
              <a:spcAft>
                <a:spcPts val="0"/>
              </a:spcAft>
            </a:pPr>
            <a:endParaRPr lang="en-GB" sz="4267" dirty="0"/>
          </a:p>
        </p:txBody>
      </p:sp>
      <p:pic>
        <p:nvPicPr>
          <p:cNvPr id="4" name="Picture 3">
            <a:extLst>
              <a:ext uri="{FF2B5EF4-FFF2-40B4-BE49-F238E27FC236}">
                <a16:creationId xmlns:a16="http://schemas.microsoft.com/office/drawing/2014/main" id="{440C4397-2EE2-D4AF-E5E7-1B41A58F8ECC}"/>
              </a:ext>
            </a:extLst>
          </p:cNvPr>
          <p:cNvPicPr>
            <a:picLocks noChangeAspect="1"/>
          </p:cNvPicPr>
          <p:nvPr/>
        </p:nvPicPr>
        <p:blipFill rotWithShape="1">
          <a:blip r:embed="rId6"/>
          <a:srcRect l="388"/>
          <a:stretch/>
        </p:blipFill>
        <p:spPr>
          <a:xfrm>
            <a:off x="0" y="1273997"/>
            <a:ext cx="12192000" cy="5032400"/>
          </a:xfrm>
          <a:prstGeom prst="rect">
            <a:avLst/>
          </a:prstGeom>
        </p:spPr>
      </p:pic>
      <p:sp>
        <p:nvSpPr>
          <p:cNvPr id="8" name="TextBox 5">
            <a:extLst>
              <a:ext uri="{FF2B5EF4-FFF2-40B4-BE49-F238E27FC236}">
                <a16:creationId xmlns:a16="http://schemas.microsoft.com/office/drawing/2014/main" id="{4EF4DC9B-32FB-2EE2-FBFF-A709A1CBB5BB}"/>
              </a:ext>
            </a:extLst>
          </p:cNvPr>
          <p:cNvSpPr txBox="1"/>
          <p:nvPr/>
        </p:nvSpPr>
        <p:spPr>
          <a:xfrm>
            <a:off x="767408" y="935374"/>
            <a:ext cx="9231783" cy="569580"/>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733" b="1" i="1" dirty="0">
                <a:solidFill>
                  <a:srgbClr val="46245A"/>
                </a:solidFill>
                <a:latin typeface="DM Sans" pitchFamily="2" charset="0"/>
                <a:ea typeface="+mn-ea"/>
              </a:rPr>
              <a:t>Forests and better management</a:t>
            </a:r>
          </a:p>
        </p:txBody>
      </p:sp>
    </p:spTree>
    <p:custDataLst>
      <p:tags r:id="rId1"/>
    </p:custDataLst>
    <p:extLst>
      <p:ext uri="{BB962C8B-B14F-4D97-AF65-F5344CB8AC3E}">
        <p14:creationId xmlns:p14="http://schemas.microsoft.com/office/powerpoint/2010/main" val="1544442043"/>
      </p:ext>
    </p:extLst>
  </p:cSld>
  <p:clrMapOvr>
    <a:masterClrMapping/>
  </p:clrMapOvr>
  <mc:AlternateContent xmlns:mc="http://schemas.openxmlformats.org/markup-compatibility/2006" xmlns:p14="http://schemas.microsoft.com/office/powerpoint/2010/main">
    <mc:Choice Requires="p14">
      <p:transition spd="slow" p14:dur="2000" advTm="114190"/>
    </mc:Choice>
    <mc:Fallback xmlns="">
      <p:transition spd="slow" advTm="11419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87824899-E807-00B6-CCB2-0E0A52A8F570}"/>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4D25A440-442B-58FD-455C-780C3F5EF0B5}"/>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3" name="Title 1">
            <a:extLst>
              <a:ext uri="{FF2B5EF4-FFF2-40B4-BE49-F238E27FC236}">
                <a16:creationId xmlns:a16="http://schemas.microsoft.com/office/drawing/2014/main" id="{92003418-739A-7588-FFA9-9FD50DD039DB}"/>
              </a:ext>
            </a:extLst>
          </p:cNvPr>
          <p:cNvSpPr txBox="1">
            <a:spLocks/>
          </p:cNvSpPr>
          <p:nvPr/>
        </p:nvSpPr>
        <p:spPr>
          <a:xfrm>
            <a:off x="31440" y="0"/>
            <a:ext cx="10177131" cy="1213968"/>
          </a:xfrm>
          <a:prstGeom prst="rect">
            <a:avLst/>
          </a:prstGeom>
        </p:spPr>
        <p:txBody>
          <a:bodyPr>
            <a:noAutofit/>
          </a:bodyPr>
          <a:lstStyle>
            <a:lvl1pPr algn="ctr" defTabSz="609630" rtl="0" eaLnBrk="1" latinLnBrk="0" hangingPunct="1">
              <a:spcBef>
                <a:spcPct val="0"/>
              </a:spcBef>
              <a:buNone/>
              <a:defRPr sz="2933" kern="1200">
                <a:solidFill>
                  <a:schemeClr val="tx1"/>
                </a:solidFill>
                <a:latin typeface="DM Sans" pitchFamily="2" charset="0"/>
                <a:ea typeface="+mj-ea"/>
                <a:cs typeface="+mj-cs"/>
              </a:defRPr>
            </a:lvl1pPr>
          </a:lstStyle>
          <a:p>
            <a:pPr algn="r" fontAlgn="auto">
              <a:spcAft>
                <a:spcPts val="0"/>
              </a:spcAft>
            </a:pPr>
            <a:endParaRPr lang="en-GB" sz="4267" dirty="0"/>
          </a:p>
        </p:txBody>
      </p:sp>
      <p:pic>
        <p:nvPicPr>
          <p:cNvPr id="4" name="Picture 3">
            <a:extLst>
              <a:ext uri="{FF2B5EF4-FFF2-40B4-BE49-F238E27FC236}">
                <a16:creationId xmlns:a16="http://schemas.microsoft.com/office/drawing/2014/main" id="{47E4D8C8-4B17-4D9B-3FAD-62424FC63E24}"/>
              </a:ext>
            </a:extLst>
          </p:cNvPr>
          <p:cNvPicPr>
            <a:picLocks noChangeAspect="1"/>
          </p:cNvPicPr>
          <p:nvPr/>
        </p:nvPicPr>
        <p:blipFill rotWithShape="1">
          <a:blip r:embed="rId6"/>
          <a:srcRect l="388"/>
          <a:stretch/>
        </p:blipFill>
        <p:spPr>
          <a:xfrm>
            <a:off x="5918743" y="4034351"/>
            <a:ext cx="6273257" cy="2589365"/>
          </a:xfrm>
          <a:prstGeom prst="rect">
            <a:avLst/>
          </a:prstGeom>
        </p:spPr>
      </p:pic>
      <p:sp>
        <p:nvSpPr>
          <p:cNvPr id="8" name="TextBox 5">
            <a:extLst>
              <a:ext uri="{FF2B5EF4-FFF2-40B4-BE49-F238E27FC236}">
                <a16:creationId xmlns:a16="http://schemas.microsoft.com/office/drawing/2014/main" id="{3E97DC38-D5E5-F062-76BB-70246BE8CA48}"/>
              </a:ext>
            </a:extLst>
          </p:cNvPr>
          <p:cNvSpPr txBox="1"/>
          <p:nvPr/>
        </p:nvSpPr>
        <p:spPr>
          <a:xfrm>
            <a:off x="767408" y="935374"/>
            <a:ext cx="9231783" cy="569580"/>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733" b="1" i="1" dirty="0">
                <a:solidFill>
                  <a:srgbClr val="46245A"/>
                </a:solidFill>
                <a:latin typeface="DM Sans" pitchFamily="2" charset="0"/>
                <a:ea typeface="+mn-ea"/>
              </a:rPr>
              <a:t>Forests and better management</a:t>
            </a:r>
          </a:p>
        </p:txBody>
      </p:sp>
      <p:graphicFrame>
        <p:nvGraphicFramePr>
          <p:cNvPr id="2" name="Table 1">
            <a:extLst>
              <a:ext uri="{FF2B5EF4-FFF2-40B4-BE49-F238E27FC236}">
                <a16:creationId xmlns:a16="http://schemas.microsoft.com/office/drawing/2014/main" id="{BD4C0EE1-5B22-4443-5059-C78792656ABC}"/>
              </a:ext>
            </a:extLst>
          </p:cNvPr>
          <p:cNvGraphicFramePr>
            <a:graphicFrameLocks noGrp="1"/>
          </p:cNvGraphicFramePr>
          <p:nvPr>
            <p:extLst>
              <p:ext uri="{D42A27DB-BD31-4B8C-83A1-F6EECF244321}">
                <p14:modId xmlns:p14="http://schemas.microsoft.com/office/powerpoint/2010/main" val="1972469313"/>
              </p:ext>
            </p:extLst>
          </p:nvPr>
        </p:nvGraphicFramePr>
        <p:xfrm>
          <a:off x="764694" y="1783363"/>
          <a:ext cx="6768752" cy="2832324"/>
        </p:xfrm>
        <a:graphic>
          <a:graphicData uri="http://schemas.openxmlformats.org/drawingml/2006/table">
            <a:tbl>
              <a:tblPr firstRow="1" bandRow="1">
                <a:tableStyleId>{5C22544A-7EE6-4342-B048-85BDC9FD1C3A}</a:tableStyleId>
              </a:tblPr>
              <a:tblGrid>
                <a:gridCol w="3384376">
                  <a:extLst>
                    <a:ext uri="{9D8B030D-6E8A-4147-A177-3AD203B41FA5}">
                      <a16:colId xmlns:a16="http://schemas.microsoft.com/office/drawing/2014/main" val="20000"/>
                    </a:ext>
                  </a:extLst>
                </a:gridCol>
                <a:gridCol w="3384376">
                  <a:extLst>
                    <a:ext uri="{9D8B030D-6E8A-4147-A177-3AD203B41FA5}">
                      <a16:colId xmlns:a16="http://schemas.microsoft.com/office/drawing/2014/main" val="20001"/>
                    </a:ext>
                  </a:extLst>
                </a:gridCol>
              </a:tblGrid>
              <a:tr h="447209">
                <a:tc>
                  <a:txBody>
                    <a:bodyPr/>
                    <a:lstStyle/>
                    <a:p>
                      <a:pPr algn="l"/>
                      <a:r>
                        <a:rPr lang="en-GB" sz="2000" dirty="0">
                          <a:latin typeface="Calibri" panose="020F0502020204030204" pitchFamily="34" charset="0"/>
                          <a:cs typeface="Calibri" panose="020F0502020204030204" pitchFamily="34" charset="0"/>
                        </a:rPr>
                        <a:t>Potential advantages</a:t>
                      </a:r>
                    </a:p>
                  </a:txBody>
                  <a:tcPr marL="121920" marR="121920" marT="60960" marB="60960" anchor="ctr">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lnTlToBr w="12700" cmpd="sng">
                      <a:noFill/>
                      <a:prstDash val="solid"/>
                    </a:lnTlToBr>
                    <a:lnBlToTr w="12700" cmpd="sng">
                      <a:noFill/>
                      <a:prstDash val="solid"/>
                    </a:lnBlToTr>
                    <a:solidFill>
                      <a:srgbClr val="0085CA"/>
                    </a:solidFill>
                  </a:tcPr>
                </a:tc>
                <a:tc>
                  <a:txBody>
                    <a:bodyPr/>
                    <a:lstStyle/>
                    <a:p>
                      <a:pPr algn="l"/>
                      <a:r>
                        <a:rPr lang="en-GB" sz="2000" dirty="0">
                          <a:latin typeface="Calibri" panose="020F0502020204030204" pitchFamily="34" charset="0"/>
                          <a:cs typeface="Calibri" panose="020F0502020204030204" pitchFamily="34" charset="0"/>
                        </a:rPr>
                        <a:t>Potential disadvantages</a:t>
                      </a:r>
                      <a:r>
                        <a:rPr lang="en-GB" sz="2000" baseline="0" dirty="0">
                          <a:latin typeface="Calibri" panose="020F0502020204030204" pitchFamily="34" charset="0"/>
                          <a:cs typeface="Calibri" panose="020F0502020204030204" pitchFamily="34" charset="0"/>
                        </a:rPr>
                        <a:t> </a:t>
                      </a:r>
                      <a:endParaRPr lang="en-GB" sz="2000" dirty="0">
                        <a:latin typeface="Calibri" panose="020F0502020204030204" pitchFamily="34" charset="0"/>
                        <a:cs typeface="Calibri" panose="020F0502020204030204" pitchFamily="34" charset="0"/>
                      </a:endParaRPr>
                    </a:p>
                  </a:txBody>
                  <a:tcPr marL="121920" marR="121920" marT="60960" marB="60960" anchor="ctr">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lnTlToBr w="12700" cmpd="sng">
                      <a:noFill/>
                      <a:prstDash val="solid"/>
                    </a:lnTlToBr>
                    <a:lnBlToTr w="12700" cmpd="sng">
                      <a:noFill/>
                      <a:prstDash val="solid"/>
                    </a:lnBlToTr>
                    <a:solidFill>
                      <a:srgbClr val="0085CA"/>
                    </a:solidFill>
                  </a:tcPr>
                </a:tc>
                <a:extLst>
                  <a:ext uri="{0D108BD9-81ED-4DB2-BD59-A6C34878D82A}">
                    <a16:rowId xmlns:a16="http://schemas.microsoft.com/office/drawing/2014/main" val="10000"/>
                  </a:ext>
                </a:extLst>
              </a:tr>
              <a:tr h="2385115">
                <a:tc>
                  <a:txBody>
                    <a:bodyPr/>
                    <a:lstStyle/>
                    <a:p>
                      <a:pPr marL="285750" indent="-285750">
                        <a:spcAft>
                          <a:spcPts val="600"/>
                        </a:spcAft>
                        <a:buFont typeface="Arial"/>
                        <a:buChar char="•"/>
                      </a:pPr>
                      <a:r>
                        <a:rPr lang="en-GB" sz="2000" dirty="0">
                          <a:solidFill>
                            <a:schemeClr val="tx1"/>
                          </a:solidFill>
                          <a:latin typeface="Calibri" panose="020F0502020204030204" pitchFamily="34" charset="0"/>
                          <a:cs typeface="Calibri" panose="020F0502020204030204" pitchFamily="34" charset="0"/>
                        </a:rPr>
                        <a:t>Costs are relatively low</a:t>
                      </a:r>
                    </a:p>
                    <a:p>
                      <a:pPr marL="285750" indent="-285750">
                        <a:spcAft>
                          <a:spcPts val="600"/>
                        </a:spcAft>
                        <a:buFont typeface="Arial"/>
                        <a:buChar char="•"/>
                      </a:pPr>
                      <a:r>
                        <a:rPr lang="en-GB" sz="2000" dirty="0">
                          <a:solidFill>
                            <a:schemeClr val="tx1"/>
                          </a:solidFill>
                          <a:latin typeface="Calibri" panose="020F0502020204030204" pitchFamily="34" charset="0"/>
                          <a:cs typeface="Calibri" panose="020F0502020204030204" pitchFamily="34" charset="0"/>
                        </a:rPr>
                        <a:t>Potential to store carbon is well known and understood </a:t>
                      </a:r>
                    </a:p>
                    <a:p>
                      <a:pPr marL="285750" indent="-285750">
                        <a:spcAft>
                          <a:spcPts val="600"/>
                        </a:spcAft>
                        <a:buFont typeface="Arial"/>
                        <a:buChar char="•"/>
                      </a:pPr>
                      <a:r>
                        <a:rPr lang="en-GB" sz="2000" dirty="0">
                          <a:solidFill>
                            <a:schemeClr val="tx1"/>
                          </a:solidFill>
                          <a:latin typeface="Calibri" panose="020F0502020204030204" pitchFamily="34" charset="0"/>
                          <a:cs typeface="Calibri" panose="020F0502020204030204" pitchFamily="34" charset="0"/>
                        </a:rPr>
                        <a:t>Could store significant amount of carbon dioxide</a:t>
                      </a:r>
                    </a:p>
                  </a:txBody>
                  <a:tcPr marL="121920" marR="121920" marT="60960" marB="60960">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solidFill>
                      <a:srgbClr val="E5E2E1"/>
                    </a:solidFill>
                  </a:tcPr>
                </a:tc>
                <a:tc>
                  <a:txBody>
                    <a:bodyPr/>
                    <a:lstStyle/>
                    <a:p>
                      <a:pPr marL="285750" indent="-285750">
                        <a:spcAft>
                          <a:spcPts val="600"/>
                        </a:spcAft>
                        <a:buFont typeface="Arial"/>
                        <a:buChar char="•"/>
                      </a:pPr>
                      <a:r>
                        <a:rPr lang="en-GB" sz="2000" dirty="0">
                          <a:solidFill>
                            <a:schemeClr val="tx1"/>
                          </a:solidFill>
                          <a:latin typeface="Calibri" panose="020F0502020204030204" pitchFamily="34" charset="0"/>
                          <a:cs typeface="Calibri" panose="020F0502020204030204" pitchFamily="34" charset="0"/>
                        </a:rPr>
                        <a:t>It takes time for trees to mature (</a:t>
                      </a:r>
                      <a:r>
                        <a:rPr lang="en-GB" sz="2000" baseline="0" dirty="0">
                          <a:solidFill>
                            <a:schemeClr val="tx1"/>
                          </a:solidFill>
                          <a:latin typeface="Calibri" panose="020F0502020204030204" pitchFamily="34" charset="0"/>
                          <a:cs typeface="Calibri" panose="020F0502020204030204" pitchFamily="34" charset="0"/>
                        </a:rPr>
                        <a:t>at least 10 years)</a:t>
                      </a:r>
                    </a:p>
                    <a:p>
                      <a:pPr marL="285750" indent="-285750">
                        <a:spcAft>
                          <a:spcPts val="600"/>
                        </a:spcAft>
                        <a:buFont typeface="Arial"/>
                        <a:buChar char="•"/>
                      </a:pPr>
                      <a:r>
                        <a:rPr lang="en-GB" sz="2000" baseline="0" dirty="0">
                          <a:solidFill>
                            <a:schemeClr val="tx1"/>
                          </a:solidFill>
                          <a:latin typeface="Calibri" panose="020F0502020204030204" pitchFamily="34" charset="0"/>
                          <a:cs typeface="Calibri" panose="020F0502020204030204" pitchFamily="34" charset="0"/>
                        </a:rPr>
                        <a:t>Uses land that could be used for other activities</a:t>
                      </a:r>
                    </a:p>
                    <a:p>
                      <a:pPr marL="285750" indent="-285750">
                        <a:spcAft>
                          <a:spcPts val="600"/>
                        </a:spcAft>
                        <a:buFont typeface="Arial"/>
                        <a:buChar char="•"/>
                      </a:pPr>
                      <a:r>
                        <a:rPr lang="en-GB" sz="2000" baseline="0" dirty="0">
                          <a:solidFill>
                            <a:schemeClr val="tx1"/>
                          </a:solidFill>
                          <a:latin typeface="Calibri" panose="020F0502020204030204" pitchFamily="34" charset="0"/>
                          <a:cs typeface="Calibri" panose="020F0502020204030204" pitchFamily="34" charset="0"/>
                        </a:rPr>
                        <a:t>Could have a negative impact on biodiversity</a:t>
                      </a:r>
                    </a:p>
                  </a:txBody>
                  <a:tcPr marL="121920" marR="121920" marT="60960" marB="60960">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solidFill>
                      <a:srgbClr val="E5E2E1"/>
                    </a:solidFill>
                  </a:tcP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768995699"/>
      </p:ext>
    </p:extLst>
  </p:cSld>
  <p:clrMapOvr>
    <a:masterClrMapping/>
  </p:clrMapOvr>
  <mc:AlternateContent xmlns:mc="http://schemas.openxmlformats.org/markup-compatibility/2006" xmlns:p14="http://schemas.microsoft.com/office/powerpoint/2010/main">
    <mc:Choice Requires="p14">
      <p:transition spd="slow" p14:dur="2000" advTm="114190"/>
    </mc:Choice>
    <mc:Fallback xmlns="">
      <p:transition spd="slow" advTm="11419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BAA0BC33-284C-DEE3-5038-869F6BE4B007}"/>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1D6C7287-8B96-5D55-C6BD-BDBC72015AC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3" name="Title 1">
            <a:extLst>
              <a:ext uri="{FF2B5EF4-FFF2-40B4-BE49-F238E27FC236}">
                <a16:creationId xmlns:a16="http://schemas.microsoft.com/office/drawing/2014/main" id="{807FBCC7-1178-AFCF-6783-4A7C8AB21F92}"/>
              </a:ext>
            </a:extLst>
          </p:cNvPr>
          <p:cNvSpPr txBox="1">
            <a:spLocks/>
          </p:cNvSpPr>
          <p:nvPr/>
        </p:nvSpPr>
        <p:spPr>
          <a:xfrm>
            <a:off x="31440" y="0"/>
            <a:ext cx="10177131" cy="1213968"/>
          </a:xfrm>
          <a:prstGeom prst="rect">
            <a:avLst/>
          </a:prstGeom>
        </p:spPr>
        <p:txBody>
          <a:bodyPr>
            <a:noAutofit/>
          </a:bodyPr>
          <a:lstStyle>
            <a:lvl1pPr algn="ctr" defTabSz="609630" rtl="0" eaLnBrk="1" latinLnBrk="0" hangingPunct="1">
              <a:spcBef>
                <a:spcPct val="0"/>
              </a:spcBef>
              <a:buNone/>
              <a:defRPr sz="2933" kern="1200">
                <a:solidFill>
                  <a:schemeClr val="tx1"/>
                </a:solidFill>
                <a:latin typeface="DM Sans" pitchFamily="2" charset="0"/>
                <a:ea typeface="+mj-ea"/>
                <a:cs typeface="+mj-cs"/>
              </a:defRPr>
            </a:lvl1pPr>
          </a:lstStyle>
          <a:p>
            <a:pPr algn="r" fontAlgn="auto">
              <a:spcAft>
                <a:spcPts val="0"/>
              </a:spcAft>
            </a:pPr>
            <a:endParaRPr lang="en-GB" sz="4267" dirty="0"/>
          </a:p>
        </p:txBody>
      </p:sp>
      <p:pic>
        <p:nvPicPr>
          <p:cNvPr id="5" name="Picture 4">
            <a:extLst>
              <a:ext uri="{FF2B5EF4-FFF2-40B4-BE49-F238E27FC236}">
                <a16:creationId xmlns:a16="http://schemas.microsoft.com/office/drawing/2014/main" id="{1E64BA5A-10B9-E81E-2538-EEF17BEC7458}"/>
              </a:ext>
            </a:extLst>
          </p:cNvPr>
          <p:cNvPicPr>
            <a:picLocks noChangeAspect="1"/>
          </p:cNvPicPr>
          <p:nvPr/>
        </p:nvPicPr>
        <p:blipFill>
          <a:blip r:embed="rId6"/>
          <a:srcRect r="3754"/>
          <a:stretch>
            <a:fillRect/>
          </a:stretch>
        </p:blipFill>
        <p:spPr>
          <a:xfrm>
            <a:off x="0" y="1546986"/>
            <a:ext cx="12216680" cy="5410406"/>
          </a:xfrm>
          <a:prstGeom prst="rect">
            <a:avLst/>
          </a:prstGeom>
        </p:spPr>
      </p:pic>
      <p:sp>
        <p:nvSpPr>
          <p:cNvPr id="6" name="TextBox 5">
            <a:extLst>
              <a:ext uri="{FF2B5EF4-FFF2-40B4-BE49-F238E27FC236}">
                <a16:creationId xmlns:a16="http://schemas.microsoft.com/office/drawing/2014/main" id="{88961E8E-AD4B-9D07-A3AE-1D3D10EE0527}"/>
              </a:ext>
            </a:extLst>
          </p:cNvPr>
          <p:cNvSpPr txBox="1"/>
          <p:nvPr/>
        </p:nvSpPr>
        <p:spPr>
          <a:xfrm>
            <a:off x="767408" y="935374"/>
            <a:ext cx="9231783" cy="569580"/>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733" b="1" i="1" dirty="0">
                <a:solidFill>
                  <a:srgbClr val="46245A"/>
                </a:solidFill>
                <a:latin typeface="DM Sans" pitchFamily="2" charset="0"/>
                <a:ea typeface="+mn-ea"/>
              </a:rPr>
              <a:t>Peatlands and wetlands</a:t>
            </a:r>
          </a:p>
        </p:txBody>
      </p:sp>
      <p:graphicFrame>
        <p:nvGraphicFramePr>
          <p:cNvPr id="2" name="Table 1">
            <a:extLst>
              <a:ext uri="{FF2B5EF4-FFF2-40B4-BE49-F238E27FC236}">
                <a16:creationId xmlns:a16="http://schemas.microsoft.com/office/drawing/2014/main" id="{1482C831-0E01-CD73-87E0-D011120D5A9C}"/>
              </a:ext>
            </a:extLst>
          </p:cNvPr>
          <p:cNvGraphicFramePr>
            <a:graphicFrameLocks noGrp="1"/>
          </p:cNvGraphicFramePr>
          <p:nvPr>
            <p:extLst>
              <p:ext uri="{D42A27DB-BD31-4B8C-83A1-F6EECF244321}">
                <p14:modId xmlns:p14="http://schemas.microsoft.com/office/powerpoint/2010/main" val="1048249994"/>
              </p:ext>
            </p:extLst>
          </p:nvPr>
        </p:nvGraphicFramePr>
        <p:xfrm>
          <a:off x="191344" y="2036717"/>
          <a:ext cx="6380246" cy="2784566"/>
        </p:xfrm>
        <a:graphic>
          <a:graphicData uri="http://schemas.openxmlformats.org/drawingml/2006/table">
            <a:tbl>
              <a:tblPr firstRow="1" bandRow="1">
                <a:tableStyleId>{5C22544A-7EE6-4342-B048-85BDC9FD1C3A}</a:tableStyleId>
              </a:tblPr>
              <a:tblGrid>
                <a:gridCol w="3190123">
                  <a:extLst>
                    <a:ext uri="{9D8B030D-6E8A-4147-A177-3AD203B41FA5}">
                      <a16:colId xmlns:a16="http://schemas.microsoft.com/office/drawing/2014/main" val="20000"/>
                    </a:ext>
                  </a:extLst>
                </a:gridCol>
                <a:gridCol w="3190123">
                  <a:extLst>
                    <a:ext uri="{9D8B030D-6E8A-4147-A177-3AD203B41FA5}">
                      <a16:colId xmlns:a16="http://schemas.microsoft.com/office/drawing/2014/main" val="20001"/>
                    </a:ext>
                  </a:extLst>
                </a:gridCol>
              </a:tblGrid>
              <a:tr h="323975">
                <a:tc>
                  <a:txBody>
                    <a:bodyPr/>
                    <a:lstStyle/>
                    <a:p>
                      <a:pPr algn="l"/>
                      <a:r>
                        <a:rPr lang="en-GB" sz="1800" dirty="0">
                          <a:latin typeface="Calibri" panose="020F0502020204030204" pitchFamily="34" charset="0"/>
                          <a:cs typeface="Calibri" panose="020F0502020204030204" pitchFamily="34" charset="0"/>
                        </a:rPr>
                        <a:t>Potential advantages</a:t>
                      </a:r>
                    </a:p>
                  </a:txBody>
                  <a:tcPr marL="121920" marR="121920" marT="60960" marB="60960" anchor="ctr">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lnTlToBr w="12700" cmpd="sng">
                      <a:noFill/>
                      <a:prstDash val="solid"/>
                    </a:lnTlToBr>
                    <a:lnBlToTr w="12700" cmpd="sng">
                      <a:noFill/>
                      <a:prstDash val="solid"/>
                    </a:lnBlToTr>
                    <a:solidFill>
                      <a:srgbClr val="0085CA"/>
                    </a:solidFill>
                  </a:tcPr>
                </a:tc>
                <a:tc>
                  <a:txBody>
                    <a:bodyPr/>
                    <a:lstStyle/>
                    <a:p>
                      <a:pPr algn="l"/>
                      <a:r>
                        <a:rPr lang="en-GB" sz="1800" dirty="0">
                          <a:latin typeface="Calibri" panose="020F0502020204030204" pitchFamily="34" charset="0"/>
                          <a:cs typeface="Calibri" panose="020F0502020204030204" pitchFamily="34" charset="0"/>
                        </a:rPr>
                        <a:t>Potential disadvantages</a:t>
                      </a:r>
                      <a:r>
                        <a:rPr lang="en-GB" sz="1800" baseline="0" dirty="0">
                          <a:latin typeface="Calibri" panose="020F0502020204030204" pitchFamily="34" charset="0"/>
                          <a:cs typeface="Calibri" panose="020F0502020204030204" pitchFamily="34" charset="0"/>
                        </a:rPr>
                        <a:t> </a:t>
                      </a:r>
                      <a:endParaRPr lang="en-GB" sz="1800" dirty="0">
                        <a:latin typeface="Calibri" panose="020F0502020204030204" pitchFamily="34" charset="0"/>
                        <a:cs typeface="Calibri" panose="020F0502020204030204" pitchFamily="34" charset="0"/>
                      </a:endParaRPr>
                    </a:p>
                  </a:txBody>
                  <a:tcPr marL="121920" marR="121920" marT="60960" marB="60960" anchor="ctr">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lnTlToBr w="12700" cmpd="sng">
                      <a:noFill/>
                      <a:prstDash val="solid"/>
                    </a:lnTlToBr>
                    <a:lnBlToTr w="12700" cmpd="sng">
                      <a:noFill/>
                      <a:prstDash val="solid"/>
                    </a:lnBlToTr>
                    <a:solidFill>
                      <a:srgbClr val="0085CA"/>
                    </a:solidFill>
                  </a:tcPr>
                </a:tc>
                <a:extLst>
                  <a:ext uri="{0D108BD9-81ED-4DB2-BD59-A6C34878D82A}">
                    <a16:rowId xmlns:a16="http://schemas.microsoft.com/office/drawing/2014/main" val="10000"/>
                  </a:ext>
                </a:extLst>
              </a:tr>
              <a:tr h="2388326">
                <a:tc>
                  <a:txBody>
                    <a:bodyPr/>
                    <a:lstStyle/>
                    <a:p>
                      <a:pPr marL="171450" indent="-171450">
                        <a:spcAft>
                          <a:spcPts val="600"/>
                        </a:spcAft>
                        <a:buFont typeface="Arial"/>
                        <a:buChar char="•"/>
                      </a:pPr>
                      <a:r>
                        <a:rPr lang="en-GB" sz="1800" dirty="0">
                          <a:solidFill>
                            <a:schemeClr val="tx1"/>
                          </a:solidFill>
                          <a:latin typeface="Calibri" panose="020F0502020204030204" pitchFamily="34" charset="0"/>
                          <a:cs typeface="Calibri" panose="020F0502020204030204" pitchFamily="34" charset="0"/>
                        </a:rPr>
                        <a:t>We</a:t>
                      </a:r>
                      <a:r>
                        <a:rPr lang="en-GB" sz="1800" baseline="0" dirty="0">
                          <a:solidFill>
                            <a:schemeClr val="tx1"/>
                          </a:solidFill>
                          <a:latin typeface="Calibri" panose="020F0502020204030204" pitchFamily="34" charset="0"/>
                          <a:cs typeface="Calibri" panose="020F0502020204030204" pitchFamily="34" charset="0"/>
                        </a:rPr>
                        <a:t> know how to restore peatlands and wetlands </a:t>
                      </a:r>
                    </a:p>
                    <a:p>
                      <a:pPr marL="171450" indent="-171450">
                        <a:spcAft>
                          <a:spcPts val="600"/>
                        </a:spcAft>
                        <a:buFont typeface="Arial"/>
                        <a:buChar char="•"/>
                      </a:pPr>
                      <a:r>
                        <a:rPr lang="en-GB" sz="1800" baseline="0" dirty="0">
                          <a:solidFill>
                            <a:schemeClr val="tx1"/>
                          </a:solidFill>
                          <a:latin typeface="Calibri" panose="020F0502020204030204" pitchFamily="34" charset="0"/>
                          <a:cs typeface="Calibri" panose="020F0502020204030204" pitchFamily="34" charset="0"/>
                        </a:rPr>
                        <a:t>A quick way to store carbon at relatively low cost </a:t>
                      </a:r>
                    </a:p>
                    <a:p>
                      <a:pPr marL="171450" indent="-171450">
                        <a:spcAft>
                          <a:spcPts val="600"/>
                        </a:spcAft>
                        <a:buFont typeface="Arial"/>
                        <a:buChar char="•"/>
                      </a:pPr>
                      <a:r>
                        <a:rPr lang="en-GB" sz="1800" baseline="0" dirty="0">
                          <a:solidFill>
                            <a:schemeClr val="tx1"/>
                          </a:solidFill>
                          <a:latin typeface="Calibri" panose="020F0502020204030204" pitchFamily="34" charset="0"/>
                          <a:cs typeface="Calibri" panose="020F0502020204030204" pitchFamily="34" charset="0"/>
                        </a:rPr>
                        <a:t>Could have other economic environmental benefits</a:t>
                      </a:r>
                    </a:p>
                  </a:txBody>
                  <a:tcPr marL="121920" marR="121920" marT="60960" marB="60960">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solidFill>
                      <a:srgbClr val="E5E2E1"/>
                    </a:solidFill>
                  </a:tcPr>
                </a:tc>
                <a:tc>
                  <a:txBody>
                    <a:bodyPr/>
                    <a:lstStyle/>
                    <a:p>
                      <a:pPr marL="171450" indent="-171450">
                        <a:spcAft>
                          <a:spcPts val="600"/>
                        </a:spcAft>
                        <a:buFont typeface="Arial"/>
                        <a:buChar char="•"/>
                      </a:pPr>
                      <a:r>
                        <a:rPr lang="en-GB" sz="1800" dirty="0">
                          <a:solidFill>
                            <a:schemeClr val="tx1"/>
                          </a:solidFill>
                          <a:latin typeface="Calibri" panose="020F0502020204030204" pitchFamily="34" charset="0"/>
                          <a:cs typeface="Calibri" panose="020F0502020204030204" pitchFamily="34" charset="0"/>
                        </a:rPr>
                        <a:t>Understand</a:t>
                      </a:r>
                      <a:r>
                        <a:rPr lang="en-GB" sz="1800" baseline="0" dirty="0">
                          <a:solidFill>
                            <a:schemeClr val="tx1"/>
                          </a:solidFill>
                          <a:latin typeface="Calibri" panose="020F0502020204030204" pitchFamily="34" charset="0"/>
                          <a:cs typeface="Calibri" panose="020F0502020204030204" pitchFamily="34" charset="0"/>
                        </a:rPr>
                        <a:t> less about the science of storing carbon in these places for a long time </a:t>
                      </a:r>
                    </a:p>
                    <a:p>
                      <a:pPr marL="171450" marR="0" indent="-171450" algn="l" defTabSz="914400" rtl="0" eaLnBrk="1" fontAlgn="auto" latinLnBrk="0" hangingPunct="1">
                        <a:lnSpc>
                          <a:spcPct val="100000"/>
                        </a:lnSpc>
                        <a:spcBef>
                          <a:spcPts val="0"/>
                        </a:spcBef>
                        <a:spcAft>
                          <a:spcPts val="600"/>
                        </a:spcAft>
                        <a:buClrTx/>
                        <a:buSzTx/>
                        <a:buFont typeface="Arial"/>
                        <a:buChar char="•"/>
                        <a:tabLst/>
                        <a:defRPr/>
                      </a:pPr>
                      <a:r>
                        <a:rPr lang="en-GB" sz="1800" baseline="0" dirty="0">
                          <a:solidFill>
                            <a:schemeClr val="tx1"/>
                          </a:solidFill>
                          <a:latin typeface="Calibri" panose="020F0502020204030204" pitchFamily="34" charset="0"/>
                          <a:cs typeface="Calibri" panose="020F0502020204030204" pitchFamily="34" charset="0"/>
                        </a:rPr>
                        <a:t>Uses land that could be used for something else </a:t>
                      </a:r>
                    </a:p>
                    <a:p>
                      <a:pPr marL="171450" marR="0" indent="-171450" algn="l" defTabSz="914400" rtl="0" eaLnBrk="1" fontAlgn="auto" latinLnBrk="0" hangingPunct="1">
                        <a:lnSpc>
                          <a:spcPct val="100000"/>
                        </a:lnSpc>
                        <a:spcBef>
                          <a:spcPts val="0"/>
                        </a:spcBef>
                        <a:spcAft>
                          <a:spcPts val="600"/>
                        </a:spcAft>
                        <a:buClrTx/>
                        <a:buSzTx/>
                        <a:buFont typeface="Arial"/>
                        <a:buChar char="•"/>
                        <a:tabLst/>
                        <a:defRPr/>
                      </a:pPr>
                      <a:r>
                        <a:rPr lang="en-GB" sz="1800" baseline="0" dirty="0">
                          <a:solidFill>
                            <a:schemeClr val="tx1"/>
                          </a:solidFill>
                          <a:latin typeface="Calibri" panose="020F0502020204030204" pitchFamily="34" charset="0"/>
                          <a:cs typeface="Calibri" panose="020F0502020204030204" pitchFamily="34" charset="0"/>
                        </a:rPr>
                        <a:t>Limited potential: only some areas of the UK are suitable </a:t>
                      </a:r>
                    </a:p>
                  </a:txBody>
                  <a:tcPr marL="121920" marR="121920" marT="60960" marB="60960">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solidFill>
                      <a:srgbClr val="E5E2E1"/>
                    </a:solidFill>
                  </a:tcP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583268256"/>
      </p:ext>
    </p:extLst>
  </p:cSld>
  <p:clrMapOvr>
    <a:masterClrMapping/>
  </p:clrMapOvr>
  <mc:AlternateContent xmlns:mc="http://schemas.openxmlformats.org/markup-compatibility/2006" xmlns:p14="http://schemas.microsoft.com/office/powerpoint/2010/main">
    <mc:Choice Requires="p14">
      <p:transition spd="slow" p14:dur="2000" advTm="114190"/>
    </mc:Choice>
    <mc:Fallback xmlns="">
      <p:transition spd="slow" advTm="1141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D553B1A9-0EF2-651B-E667-C3A2C7A6587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8A79320C-2ABA-31F2-A245-BDFBF6E97341}"/>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3" name="Title 1">
            <a:extLst>
              <a:ext uri="{FF2B5EF4-FFF2-40B4-BE49-F238E27FC236}">
                <a16:creationId xmlns:a16="http://schemas.microsoft.com/office/drawing/2014/main" id="{79944564-7819-F1A4-BD3B-C89F9D973938}"/>
              </a:ext>
            </a:extLst>
          </p:cNvPr>
          <p:cNvSpPr txBox="1">
            <a:spLocks/>
          </p:cNvSpPr>
          <p:nvPr/>
        </p:nvSpPr>
        <p:spPr>
          <a:xfrm>
            <a:off x="31440" y="0"/>
            <a:ext cx="10177131" cy="1213968"/>
          </a:xfrm>
          <a:prstGeom prst="rect">
            <a:avLst/>
          </a:prstGeom>
        </p:spPr>
        <p:txBody>
          <a:bodyPr>
            <a:noAutofit/>
          </a:bodyPr>
          <a:lstStyle>
            <a:lvl1pPr algn="ctr" defTabSz="609630" rtl="0" eaLnBrk="1" latinLnBrk="0" hangingPunct="1">
              <a:spcBef>
                <a:spcPct val="0"/>
              </a:spcBef>
              <a:buNone/>
              <a:defRPr sz="2933" kern="1200">
                <a:solidFill>
                  <a:schemeClr val="tx1"/>
                </a:solidFill>
                <a:latin typeface="DM Sans" pitchFamily="2" charset="0"/>
                <a:ea typeface="+mj-ea"/>
                <a:cs typeface="+mj-cs"/>
              </a:defRPr>
            </a:lvl1pPr>
          </a:lstStyle>
          <a:p>
            <a:pPr algn="r" fontAlgn="auto">
              <a:spcAft>
                <a:spcPts val="0"/>
              </a:spcAft>
            </a:pPr>
            <a:endParaRPr lang="en-GB" sz="4267" dirty="0"/>
          </a:p>
        </p:txBody>
      </p:sp>
      <p:sp>
        <p:nvSpPr>
          <p:cNvPr id="6" name="TextBox 5">
            <a:extLst>
              <a:ext uri="{FF2B5EF4-FFF2-40B4-BE49-F238E27FC236}">
                <a16:creationId xmlns:a16="http://schemas.microsoft.com/office/drawing/2014/main" id="{9A6152D6-78C6-8C11-0365-6E7837DE1487}"/>
              </a:ext>
            </a:extLst>
          </p:cNvPr>
          <p:cNvSpPr txBox="1"/>
          <p:nvPr/>
        </p:nvSpPr>
        <p:spPr>
          <a:xfrm>
            <a:off x="767408" y="935374"/>
            <a:ext cx="9231783" cy="569580"/>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600" b="1" i="1" dirty="0">
                <a:solidFill>
                  <a:srgbClr val="46245A"/>
                </a:solidFill>
                <a:latin typeface="DM Sans" pitchFamily="2" charset="0"/>
                <a:ea typeface="+mn-ea"/>
              </a:rPr>
              <a:t>Enhancing the storage of carbon in soil</a:t>
            </a:r>
          </a:p>
        </p:txBody>
      </p:sp>
      <p:pic>
        <p:nvPicPr>
          <p:cNvPr id="4" name="Picture 3">
            <a:extLst>
              <a:ext uri="{FF2B5EF4-FFF2-40B4-BE49-F238E27FC236}">
                <a16:creationId xmlns:a16="http://schemas.microsoft.com/office/drawing/2014/main" id="{856EE658-CC80-B472-9DAD-CF160B13455F}"/>
              </a:ext>
            </a:extLst>
          </p:cNvPr>
          <p:cNvPicPr>
            <a:picLocks noChangeAspect="1"/>
          </p:cNvPicPr>
          <p:nvPr/>
        </p:nvPicPr>
        <p:blipFill>
          <a:blip r:embed="rId6"/>
          <a:stretch>
            <a:fillRect/>
          </a:stretch>
        </p:blipFill>
        <p:spPr>
          <a:xfrm>
            <a:off x="0" y="1764778"/>
            <a:ext cx="12192000" cy="5093222"/>
          </a:xfrm>
          <a:prstGeom prst="rect">
            <a:avLst/>
          </a:prstGeom>
        </p:spPr>
      </p:pic>
      <p:graphicFrame>
        <p:nvGraphicFramePr>
          <p:cNvPr id="7" name="Table 6">
            <a:extLst>
              <a:ext uri="{FF2B5EF4-FFF2-40B4-BE49-F238E27FC236}">
                <a16:creationId xmlns:a16="http://schemas.microsoft.com/office/drawing/2014/main" id="{3A5D11C4-00E9-3637-CA8A-78A28E7711D0}"/>
              </a:ext>
            </a:extLst>
          </p:cNvPr>
          <p:cNvGraphicFramePr>
            <a:graphicFrameLocks noGrp="1"/>
          </p:cNvGraphicFramePr>
          <p:nvPr/>
        </p:nvGraphicFramePr>
        <p:xfrm>
          <a:off x="4367807" y="1585956"/>
          <a:ext cx="7374534" cy="2316480"/>
        </p:xfrm>
        <a:graphic>
          <a:graphicData uri="http://schemas.openxmlformats.org/drawingml/2006/table">
            <a:tbl>
              <a:tblPr firstRow="1" bandRow="1">
                <a:tableStyleId>{5C22544A-7EE6-4342-B048-85BDC9FD1C3A}</a:tableStyleId>
              </a:tblPr>
              <a:tblGrid>
                <a:gridCol w="3687267">
                  <a:extLst>
                    <a:ext uri="{9D8B030D-6E8A-4147-A177-3AD203B41FA5}">
                      <a16:colId xmlns:a16="http://schemas.microsoft.com/office/drawing/2014/main" val="20000"/>
                    </a:ext>
                  </a:extLst>
                </a:gridCol>
                <a:gridCol w="3687267">
                  <a:extLst>
                    <a:ext uri="{9D8B030D-6E8A-4147-A177-3AD203B41FA5}">
                      <a16:colId xmlns:a16="http://schemas.microsoft.com/office/drawing/2014/main" val="20001"/>
                    </a:ext>
                  </a:extLst>
                </a:gridCol>
              </a:tblGrid>
              <a:tr h="299349">
                <a:tc>
                  <a:txBody>
                    <a:bodyPr/>
                    <a:lstStyle/>
                    <a:p>
                      <a:pPr algn="l"/>
                      <a:r>
                        <a:rPr lang="en-GB" sz="1800" dirty="0">
                          <a:latin typeface="Calibri" panose="020F0502020204030204" pitchFamily="34" charset="0"/>
                          <a:cs typeface="Calibri" panose="020F0502020204030204" pitchFamily="34" charset="0"/>
                        </a:rPr>
                        <a:t>Potential advantages</a:t>
                      </a:r>
                    </a:p>
                  </a:txBody>
                  <a:tcPr marL="121920" marR="121920" marT="60960" marB="60960" anchor="ctr">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lnTlToBr w="12700" cmpd="sng">
                      <a:noFill/>
                      <a:prstDash val="solid"/>
                    </a:lnTlToBr>
                    <a:lnBlToTr w="12700" cmpd="sng">
                      <a:noFill/>
                      <a:prstDash val="solid"/>
                    </a:lnBlToTr>
                    <a:solidFill>
                      <a:srgbClr val="0085CA"/>
                    </a:solidFill>
                  </a:tcPr>
                </a:tc>
                <a:tc>
                  <a:txBody>
                    <a:bodyPr/>
                    <a:lstStyle/>
                    <a:p>
                      <a:pPr algn="l"/>
                      <a:r>
                        <a:rPr lang="en-GB" sz="1800" dirty="0">
                          <a:latin typeface="Calibri" panose="020F0502020204030204" pitchFamily="34" charset="0"/>
                          <a:cs typeface="Calibri" panose="020F0502020204030204" pitchFamily="34" charset="0"/>
                        </a:rPr>
                        <a:t>Potential disadvantages</a:t>
                      </a:r>
                      <a:r>
                        <a:rPr lang="en-GB" sz="1800" baseline="0" dirty="0">
                          <a:latin typeface="Calibri" panose="020F0502020204030204" pitchFamily="34" charset="0"/>
                          <a:cs typeface="Calibri" panose="020F0502020204030204" pitchFamily="34" charset="0"/>
                        </a:rPr>
                        <a:t> </a:t>
                      </a:r>
                      <a:endParaRPr lang="en-GB" sz="1800" dirty="0">
                        <a:latin typeface="Calibri" panose="020F0502020204030204" pitchFamily="34" charset="0"/>
                        <a:cs typeface="Calibri" panose="020F0502020204030204" pitchFamily="34" charset="0"/>
                      </a:endParaRPr>
                    </a:p>
                  </a:txBody>
                  <a:tcPr marL="121920" marR="121920" marT="60960" marB="60960" anchor="ctr">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lnTlToBr w="12700" cmpd="sng">
                      <a:noFill/>
                      <a:prstDash val="solid"/>
                    </a:lnTlToBr>
                    <a:lnBlToTr w="12700" cmpd="sng">
                      <a:noFill/>
                      <a:prstDash val="solid"/>
                    </a:lnBlToTr>
                    <a:solidFill>
                      <a:srgbClr val="0085CA"/>
                    </a:solidFill>
                  </a:tcPr>
                </a:tc>
                <a:extLst>
                  <a:ext uri="{0D108BD9-81ED-4DB2-BD59-A6C34878D82A}">
                    <a16:rowId xmlns:a16="http://schemas.microsoft.com/office/drawing/2014/main" val="10000"/>
                  </a:ext>
                </a:extLst>
              </a:tr>
              <a:tr h="1793722">
                <a:tc>
                  <a:txBody>
                    <a:bodyPr/>
                    <a:lstStyle/>
                    <a:p>
                      <a:pPr marL="285750" indent="-285750">
                        <a:spcAft>
                          <a:spcPts val="600"/>
                        </a:spcAft>
                        <a:buFont typeface="Arial"/>
                        <a:buChar char="•"/>
                      </a:pPr>
                      <a:r>
                        <a:rPr lang="en-GB" sz="1800" dirty="0">
                          <a:solidFill>
                            <a:schemeClr val="tx1"/>
                          </a:solidFill>
                          <a:latin typeface="Calibri" panose="020F0502020204030204" pitchFamily="34" charset="0"/>
                          <a:cs typeface="Calibri" panose="020F0502020204030204" pitchFamily="34" charset="0"/>
                        </a:rPr>
                        <a:t>Well-understood method that can be implemented now</a:t>
                      </a:r>
                    </a:p>
                    <a:p>
                      <a:pPr marL="285750" indent="-285750">
                        <a:spcAft>
                          <a:spcPts val="600"/>
                        </a:spcAft>
                        <a:buFont typeface="Arial"/>
                        <a:buChar char="•"/>
                      </a:pPr>
                      <a:r>
                        <a:rPr lang="en-GB" sz="1800" dirty="0">
                          <a:solidFill>
                            <a:schemeClr val="tx1"/>
                          </a:solidFill>
                          <a:latin typeface="Calibri" panose="020F0502020204030204" pitchFamily="34" charset="0"/>
                          <a:cs typeface="Calibri" panose="020F0502020204030204" pitchFamily="34" charset="0"/>
                        </a:rPr>
                        <a:t>Could have a low cost</a:t>
                      </a:r>
                    </a:p>
                    <a:p>
                      <a:pPr marL="285750" indent="-285750">
                        <a:spcAft>
                          <a:spcPts val="600"/>
                        </a:spcAft>
                        <a:buFont typeface="Arial"/>
                        <a:buChar char="•"/>
                      </a:pPr>
                      <a:r>
                        <a:rPr lang="en-GB" sz="1800" dirty="0">
                          <a:solidFill>
                            <a:schemeClr val="tx1"/>
                          </a:solidFill>
                          <a:latin typeface="Calibri" panose="020F0502020204030204" pitchFamily="34" charset="0"/>
                          <a:cs typeface="Calibri" panose="020F0502020204030204" pitchFamily="34" charset="0"/>
                        </a:rPr>
                        <a:t>Could have other economic and environmental benefits </a:t>
                      </a:r>
                    </a:p>
                  </a:txBody>
                  <a:tcPr marL="121920" marR="121920" marT="60960" marB="60960">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solidFill>
                      <a:srgbClr val="E5E2E1"/>
                    </a:solidFill>
                  </a:tcPr>
                </a:tc>
                <a:tc>
                  <a:txBody>
                    <a:bodyPr/>
                    <a:lstStyle/>
                    <a:p>
                      <a:pPr marL="285750" indent="-285750">
                        <a:spcAft>
                          <a:spcPts val="600"/>
                        </a:spcAft>
                        <a:buFont typeface="Arial"/>
                        <a:buChar char="•"/>
                      </a:pPr>
                      <a:r>
                        <a:rPr lang="en-GB" sz="1800" dirty="0">
                          <a:solidFill>
                            <a:schemeClr val="tx1"/>
                          </a:solidFill>
                          <a:latin typeface="Calibri" panose="020F0502020204030204" pitchFamily="34" charset="0"/>
                          <a:cs typeface="Calibri" panose="020F0502020204030204" pitchFamily="34" charset="0"/>
                        </a:rPr>
                        <a:t>Requires changes</a:t>
                      </a:r>
                      <a:r>
                        <a:rPr lang="en-GB" sz="1800" baseline="0" dirty="0">
                          <a:solidFill>
                            <a:schemeClr val="tx1"/>
                          </a:solidFill>
                          <a:latin typeface="Calibri" panose="020F0502020204030204" pitchFamily="34" charset="0"/>
                          <a:cs typeface="Calibri" panose="020F0502020204030204" pitchFamily="34" charset="0"/>
                        </a:rPr>
                        <a:t> to modern farming practices </a:t>
                      </a:r>
                    </a:p>
                    <a:p>
                      <a:pPr marL="285750" indent="-285750">
                        <a:spcAft>
                          <a:spcPts val="600"/>
                        </a:spcAft>
                        <a:buFont typeface="Arial"/>
                        <a:buChar char="•"/>
                      </a:pPr>
                      <a:r>
                        <a:rPr lang="en-GB" sz="1800" baseline="0" dirty="0">
                          <a:solidFill>
                            <a:schemeClr val="tx1"/>
                          </a:solidFill>
                          <a:latin typeface="Calibri" panose="020F0502020204030204" pitchFamily="34" charset="0"/>
                          <a:cs typeface="Calibri" panose="020F0502020204030204" pitchFamily="34" charset="0"/>
                        </a:rPr>
                        <a:t>Farmers may need financial support from government</a:t>
                      </a:r>
                    </a:p>
                    <a:p>
                      <a:pPr marL="285750" indent="-285750">
                        <a:spcAft>
                          <a:spcPts val="600"/>
                        </a:spcAft>
                        <a:buFont typeface="Arial"/>
                        <a:buChar char="•"/>
                      </a:pPr>
                      <a:r>
                        <a:rPr lang="en-GB" sz="1800" baseline="0" dirty="0">
                          <a:solidFill>
                            <a:schemeClr val="tx1"/>
                          </a:solidFill>
                          <a:latin typeface="Calibri" panose="020F0502020204030204" pitchFamily="34" charset="0"/>
                          <a:cs typeface="Calibri" panose="020F0502020204030204" pitchFamily="34" charset="0"/>
                        </a:rPr>
                        <a:t>Could reduce amount of food that can be produced</a:t>
                      </a:r>
                    </a:p>
                  </a:txBody>
                  <a:tcPr marL="121920" marR="121920" marT="60960" marB="60960">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solidFill>
                      <a:srgbClr val="E5E2E1"/>
                    </a:solidFill>
                  </a:tcP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320177408"/>
      </p:ext>
    </p:extLst>
  </p:cSld>
  <p:clrMapOvr>
    <a:masterClrMapping/>
  </p:clrMapOvr>
  <mc:AlternateContent xmlns:mc="http://schemas.openxmlformats.org/markup-compatibility/2006" xmlns:p14="http://schemas.microsoft.com/office/powerpoint/2010/main">
    <mc:Choice Requires="p14">
      <p:transition spd="slow" p14:dur="2000" advTm="114190"/>
    </mc:Choice>
    <mc:Fallback xmlns="">
      <p:transition spd="slow" advTm="1141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623392" y="569216"/>
            <a:ext cx="9231783" cy="540276"/>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2933" b="1" dirty="0">
                <a:solidFill>
                  <a:srgbClr val="46245A"/>
                </a:solidFill>
                <a:latin typeface="DM Sans" pitchFamily="2" charset="0"/>
                <a:ea typeface="+mn-ea"/>
              </a:rPr>
              <a:t>Increasing Land Uptake of Carbon</a:t>
            </a:r>
            <a:endParaRPr lang="en-US" sz="2933" dirty="0">
              <a:solidFill>
                <a:srgbClr val="46245A"/>
              </a:solidFill>
              <a:latin typeface="DM Sans" pitchFamily="2" charset="0"/>
              <a:ea typeface="+mn-ea"/>
            </a:endParaRPr>
          </a:p>
        </p:txBody>
      </p:sp>
      <p:pic>
        <p:nvPicPr>
          <p:cNvPr id="3" name="Picture 2">
            <a:extLst>
              <a:ext uri="{FF2B5EF4-FFF2-40B4-BE49-F238E27FC236}">
                <a16:creationId xmlns:a16="http://schemas.microsoft.com/office/drawing/2014/main" id="{E5FC5A0D-5EA8-9C43-5605-4F95A6F5C54F}"/>
              </a:ext>
            </a:extLst>
          </p:cNvPr>
          <p:cNvPicPr>
            <a:picLocks noChangeAspect="1"/>
          </p:cNvPicPr>
          <p:nvPr/>
        </p:nvPicPr>
        <p:blipFill>
          <a:blip r:embed="rId6"/>
          <a:stretch>
            <a:fillRect/>
          </a:stretch>
        </p:blipFill>
        <p:spPr>
          <a:xfrm>
            <a:off x="522220" y="4731311"/>
            <a:ext cx="4217810" cy="1806819"/>
          </a:xfrm>
          <a:prstGeom prst="rect">
            <a:avLst/>
          </a:prstGeom>
        </p:spPr>
      </p:pic>
      <p:sp>
        <p:nvSpPr>
          <p:cNvPr id="5" name="TextBox 4">
            <a:extLst>
              <a:ext uri="{FF2B5EF4-FFF2-40B4-BE49-F238E27FC236}">
                <a16:creationId xmlns:a16="http://schemas.microsoft.com/office/drawing/2014/main" id="{3192D742-A674-DC7E-5178-B0FDD70F4831}"/>
              </a:ext>
            </a:extLst>
          </p:cNvPr>
          <p:cNvSpPr txBox="1"/>
          <p:nvPr/>
        </p:nvSpPr>
        <p:spPr>
          <a:xfrm>
            <a:off x="5807968" y="1654925"/>
            <a:ext cx="4537347" cy="1754326"/>
          </a:xfrm>
          <a:prstGeom prst="rect">
            <a:avLst/>
          </a:prstGeom>
          <a:noFill/>
        </p:spPr>
        <p:txBody>
          <a:bodyPr wrap="square" rtlCol="0">
            <a:spAutoFit/>
          </a:bodyPr>
          <a:lstStyle/>
          <a:p>
            <a:pPr marL="285764" indent="-285764" defTabSz="609630" eaLnBrk="1" fontAlgn="auto" hangingPunct="1">
              <a:spcBef>
                <a:spcPts val="0"/>
              </a:spcBef>
              <a:spcAft>
                <a:spcPts val="0"/>
              </a:spcAft>
              <a:buFont typeface="Arial" panose="020B0604020202020204" pitchFamily="34" charset="0"/>
              <a:buChar char="•"/>
            </a:pPr>
            <a:r>
              <a:rPr lang="en-GB" dirty="0">
                <a:solidFill>
                  <a:prstClr val="black"/>
                </a:solidFill>
                <a:latin typeface="Calibri" panose="020F0502020204030204" pitchFamily="34" charset="0"/>
                <a:ea typeface="+mn-ea"/>
                <a:cs typeface="Calibri" panose="020F0502020204030204" pitchFamily="34" charset="0"/>
              </a:rPr>
              <a:t>Afforestation and reforestation</a:t>
            </a:r>
          </a:p>
          <a:p>
            <a:pPr defTabSz="609630" eaLnBrk="1" fontAlgn="auto" hangingPunct="1">
              <a:spcBef>
                <a:spcPts val="0"/>
              </a:spcBef>
              <a:spcAft>
                <a:spcPts val="0"/>
              </a:spcAft>
            </a:pPr>
            <a:r>
              <a:rPr lang="en-GB" dirty="0">
                <a:solidFill>
                  <a:srgbClr val="00B050"/>
                </a:solidFill>
                <a:latin typeface="Calibri" panose="020F0502020204030204" pitchFamily="34" charset="0"/>
                <a:ea typeface="+mn-ea"/>
                <a:cs typeface="Calibri" panose="020F0502020204030204" pitchFamily="34" charset="0"/>
                <a:sym typeface="Wingdings" panose="05000000000000000000" pitchFamily="2" charset="2"/>
              </a:rPr>
              <a:t> Improved soil quality</a:t>
            </a:r>
          </a:p>
          <a:p>
            <a:pPr marL="285764" indent="-285764" defTabSz="609630" eaLnBrk="1" fontAlgn="auto" hangingPunct="1">
              <a:spcBef>
                <a:spcPts val="0"/>
              </a:spcBef>
              <a:spcAft>
                <a:spcPts val="0"/>
              </a:spcAft>
              <a:buFont typeface="Wingdings" panose="05000000000000000000" pitchFamily="2" charset="2"/>
              <a:buChar char="û"/>
            </a:pPr>
            <a:r>
              <a:rPr lang="en-GB" dirty="0">
                <a:solidFill>
                  <a:srgbClr val="FF0000"/>
                </a:solidFill>
                <a:latin typeface="Calibri" panose="020F0502020204030204" pitchFamily="34" charset="0"/>
                <a:ea typeface="+mn-ea"/>
                <a:cs typeface="Calibri" panose="020F0502020204030204" pitchFamily="34" charset="0"/>
                <a:sym typeface="Wingdings" panose="05000000000000000000" pitchFamily="2" charset="2"/>
              </a:rPr>
              <a:t>Land availability</a:t>
            </a:r>
          </a:p>
          <a:p>
            <a:pPr marL="285764" indent="-285764" defTabSz="609630" eaLnBrk="1" fontAlgn="auto" hangingPunct="1">
              <a:spcBef>
                <a:spcPts val="0"/>
              </a:spcBef>
              <a:spcAft>
                <a:spcPts val="0"/>
              </a:spcAft>
              <a:buFont typeface="Wingdings" panose="05000000000000000000" pitchFamily="2" charset="2"/>
              <a:buChar char="û"/>
            </a:pPr>
            <a:r>
              <a:rPr lang="en-GB" dirty="0">
                <a:solidFill>
                  <a:srgbClr val="FF0000"/>
                </a:solidFill>
                <a:latin typeface="Calibri" panose="020F0502020204030204" pitchFamily="34" charset="0"/>
                <a:ea typeface="+mn-ea"/>
                <a:cs typeface="Calibri" panose="020F0502020204030204" pitchFamily="34" charset="0"/>
                <a:sym typeface="Wingdings" panose="05000000000000000000" pitchFamily="2" charset="2"/>
              </a:rPr>
              <a:t>Biodiversity loss</a:t>
            </a:r>
          </a:p>
          <a:p>
            <a:pPr marL="285764" indent="-285764" defTabSz="609630" eaLnBrk="1" fontAlgn="auto" hangingPunct="1">
              <a:spcBef>
                <a:spcPts val="0"/>
              </a:spcBef>
              <a:spcAft>
                <a:spcPts val="0"/>
              </a:spcAft>
              <a:buFont typeface="Arial" panose="020B0604020202020204" pitchFamily="34" charset="0"/>
              <a:buChar char="•"/>
            </a:pPr>
            <a:endParaRPr lang="en-GB" dirty="0">
              <a:solidFill>
                <a:prstClr val="black"/>
              </a:solidFill>
              <a:latin typeface="Calibri" panose="020F0502020204030204" pitchFamily="34" charset="0"/>
              <a:ea typeface="+mn-ea"/>
              <a:cs typeface="Calibri" panose="020F0502020204030204" pitchFamily="34" charset="0"/>
            </a:endParaRPr>
          </a:p>
          <a:p>
            <a:pPr defTabSz="609630" eaLnBrk="1" fontAlgn="auto" hangingPunct="1">
              <a:spcBef>
                <a:spcPts val="0"/>
              </a:spcBef>
              <a:spcAft>
                <a:spcPts val="0"/>
              </a:spcAft>
            </a:pPr>
            <a:endParaRPr lang="en-GB" dirty="0">
              <a:solidFill>
                <a:prstClr val="black"/>
              </a:solidFill>
              <a:latin typeface="Calibri" panose="020F0502020204030204" pitchFamily="34" charset="0"/>
              <a:ea typeface="+mn-ea"/>
              <a:cs typeface="Calibri" panose="020F0502020204030204" pitchFamily="34" charset="0"/>
            </a:endParaRPr>
          </a:p>
        </p:txBody>
      </p:sp>
      <p:pic>
        <p:nvPicPr>
          <p:cNvPr id="6" name="Picture 5">
            <a:extLst>
              <a:ext uri="{FF2B5EF4-FFF2-40B4-BE49-F238E27FC236}">
                <a16:creationId xmlns:a16="http://schemas.microsoft.com/office/drawing/2014/main" id="{19CB6B5A-67D2-A5CD-AD65-50E77BEDC046}"/>
              </a:ext>
            </a:extLst>
          </p:cNvPr>
          <p:cNvPicPr>
            <a:picLocks noChangeAspect="1"/>
          </p:cNvPicPr>
          <p:nvPr/>
        </p:nvPicPr>
        <p:blipFill>
          <a:blip r:embed="rId7"/>
          <a:stretch>
            <a:fillRect/>
          </a:stretch>
        </p:blipFill>
        <p:spPr>
          <a:xfrm>
            <a:off x="435885" y="1203450"/>
            <a:ext cx="4374112" cy="1775513"/>
          </a:xfrm>
          <a:prstGeom prst="rect">
            <a:avLst/>
          </a:prstGeom>
        </p:spPr>
      </p:pic>
      <p:pic>
        <p:nvPicPr>
          <p:cNvPr id="7" name="Picture 6">
            <a:extLst>
              <a:ext uri="{FF2B5EF4-FFF2-40B4-BE49-F238E27FC236}">
                <a16:creationId xmlns:a16="http://schemas.microsoft.com/office/drawing/2014/main" id="{953AC044-D179-0E10-4AFD-BE5C91B1DFF8}"/>
              </a:ext>
            </a:extLst>
          </p:cNvPr>
          <p:cNvPicPr>
            <a:picLocks noChangeAspect="1"/>
          </p:cNvPicPr>
          <p:nvPr/>
        </p:nvPicPr>
        <p:blipFill>
          <a:blip r:embed="rId8"/>
          <a:stretch>
            <a:fillRect/>
          </a:stretch>
        </p:blipFill>
        <p:spPr>
          <a:xfrm>
            <a:off x="522220" y="3024116"/>
            <a:ext cx="4217810" cy="1754326"/>
          </a:xfrm>
          <a:prstGeom prst="rect">
            <a:avLst/>
          </a:prstGeom>
        </p:spPr>
      </p:pic>
      <p:sp>
        <p:nvSpPr>
          <p:cNvPr id="4" name="TextBox 3">
            <a:extLst>
              <a:ext uri="{FF2B5EF4-FFF2-40B4-BE49-F238E27FC236}">
                <a16:creationId xmlns:a16="http://schemas.microsoft.com/office/drawing/2014/main" id="{3D680A1B-08F4-32F2-FBEA-99A6A89AD7DD}"/>
              </a:ext>
            </a:extLst>
          </p:cNvPr>
          <p:cNvSpPr txBox="1"/>
          <p:nvPr/>
        </p:nvSpPr>
        <p:spPr>
          <a:xfrm>
            <a:off x="5807968" y="1231798"/>
            <a:ext cx="5791200" cy="369332"/>
          </a:xfrm>
          <a:prstGeom prst="rect">
            <a:avLst/>
          </a:prstGeom>
          <a:noFill/>
        </p:spPr>
        <p:txBody>
          <a:bodyPr wrap="square" rtlCol="0">
            <a:spAutoFit/>
          </a:bodyPr>
          <a:lstStyle/>
          <a:p>
            <a:pPr defTabSz="609630" eaLnBrk="1" fontAlgn="auto" hangingPunct="1">
              <a:spcBef>
                <a:spcPts val="0"/>
              </a:spcBef>
              <a:spcAft>
                <a:spcPts val="0"/>
              </a:spcAft>
            </a:pPr>
            <a:r>
              <a:rPr lang="en-US" dirty="0">
                <a:solidFill>
                  <a:prstClr val="black"/>
                </a:solidFill>
                <a:latin typeface="Calibri" panose="020F0502020204030204" pitchFamily="34" charset="0"/>
                <a:ea typeface="+mn-ea"/>
                <a:cs typeface="Calibri" panose="020F0502020204030204" pitchFamily="34" charset="0"/>
              </a:rPr>
              <a:t>The land surface uptakes carbon in many ways </a:t>
            </a:r>
          </a:p>
        </p:txBody>
      </p:sp>
      <p:sp>
        <p:nvSpPr>
          <p:cNvPr id="9" name="TextBox 8">
            <a:extLst>
              <a:ext uri="{FF2B5EF4-FFF2-40B4-BE49-F238E27FC236}">
                <a16:creationId xmlns:a16="http://schemas.microsoft.com/office/drawing/2014/main" id="{92CFCA1E-F1F1-75AE-F4ED-14A8C2CC2C2D}"/>
              </a:ext>
            </a:extLst>
          </p:cNvPr>
          <p:cNvSpPr txBox="1"/>
          <p:nvPr/>
        </p:nvSpPr>
        <p:spPr>
          <a:xfrm>
            <a:off x="5813775" y="3530982"/>
            <a:ext cx="6447294" cy="1200329"/>
          </a:xfrm>
          <a:prstGeom prst="rect">
            <a:avLst/>
          </a:prstGeom>
          <a:noFill/>
        </p:spPr>
        <p:txBody>
          <a:bodyPr wrap="square">
            <a:spAutoFit/>
          </a:bodyPr>
          <a:lstStyle/>
          <a:p>
            <a:pPr marL="285764" indent="-285764" defTabSz="609630" eaLnBrk="1" fontAlgn="auto" hangingPunct="1">
              <a:spcBef>
                <a:spcPts val="0"/>
              </a:spcBef>
              <a:spcAft>
                <a:spcPts val="0"/>
              </a:spcAft>
              <a:buFont typeface="Arial" panose="020B0604020202020204" pitchFamily="34" charset="0"/>
              <a:buChar char="•"/>
            </a:pPr>
            <a:r>
              <a:rPr lang="en-GB" dirty="0">
                <a:solidFill>
                  <a:prstClr val="black"/>
                </a:solidFill>
                <a:latin typeface="Calibri" panose="020F0502020204030204" pitchFamily="34" charset="0"/>
                <a:ea typeface="+mn-ea"/>
                <a:cs typeface="Calibri" panose="020F0502020204030204" pitchFamily="34" charset="0"/>
              </a:rPr>
              <a:t>Wetland and peatland restoration (high carbon density)</a:t>
            </a:r>
          </a:p>
          <a:p>
            <a:pPr defTabSz="609630" eaLnBrk="1" fontAlgn="auto" hangingPunct="1">
              <a:spcBef>
                <a:spcPts val="0"/>
              </a:spcBef>
              <a:spcAft>
                <a:spcPts val="0"/>
              </a:spcAft>
            </a:pPr>
            <a:r>
              <a:rPr lang="en-GB" dirty="0">
                <a:solidFill>
                  <a:srgbClr val="00B050"/>
                </a:solidFill>
                <a:latin typeface="Calibri" panose="020F0502020204030204" pitchFamily="34" charset="0"/>
                <a:ea typeface="+mn-ea"/>
                <a:cs typeface="Calibri" panose="020F0502020204030204" pitchFamily="34" charset="0"/>
                <a:sym typeface="Wingdings" panose="05000000000000000000" pitchFamily="2" charset="2"/>
              </a:rPr>
              <a:t> Benefits water quality, flood protection, biodiversity</a:t>
            </a:r>
            <a:endParaRPr lang="en-GB" dirty="0">
              <a:solidFill>
                <a:prstClr val="black"/>
              </a:solidFill>
              <a:latin typeface="Calibri" panose="020F0502020204030204" pitchFamily="34" charset="0"/>
              <a:ea typeface="+mn-ea"/>
              <a:cs typeface="Calibri" panose="020F0502020204030204" pitchFamily="34" charset="0"/>
            </a:endParaRPr>
          </a:p>
          <a:p>
            <a:pPr defTabSz="609630" eaLnBrk="1" fontAlgn="auto" hangingPunct="1">
              <a:spcBef>
                <a:spcPts val="0"/>
              </a:spcBef>
              <a:spcAft>
                <a:spcPts val="0"/>
              </a:spcAft>
            </a:pPr>
            <a:r>
              <a:rPr lang="en-GB" dirty="0">
                <a:solidFill>
                  <a:srgbClr val="FF0000"/>
                </a:solidFill>
                <a:latin typeface="Calibri" panose="020F0502020204030204" pitchFamily="34" charset="0"/>
                <a:ea typeface="+mn-ea"/>
                <a:cs typeface="Calibri" panose="020F0502020204030204" pitchFamily="34" charset="0"/>
                <a:sym typeface="Wingdings" panose="05000000000000000000" pitchFamily="2" charset="2"/>
              </a:rPr>
              <a:t> Potential methane source</a:t>
            </a:r>
          </a:p>
          <a:p>
            <a:pPr defTabSz="609630" eaLnBrk="1" fontAlgn="auto" hangingPunct="1">
              <a:spcBef>
                <a:spcPts val="0"/>
              </a:spcBef>
              <a:spcAft>
                <a:spcPts val="0"/>
              </a:spcAft>
            </a:pPr>
            <a:endParaRPr lang="en-GB" dirty="0">
              <a:solidFill>
                <a:prstClr val="black"/>
              </a:solidFill>
              <a:latin typeface="Calibri" panose="020F0502020204030204" pitchFamily="34" charset="0"/>
              <a:ea typeface="+mn-ea"/>
              <a:cs typeface="Calibri" panose="020F0502020204030204" pitchFamily="34" charset="0"/>
            </a:endParaRPr>
          </a:p>
        </p:txBody>
      </p:sp>
      <p:sp>
        <p:nvSpPr>
          <p:cNvPr id="12" name="TextBox 11">
            <a:extLst>
              <a:ext uri="{FF2B5EF4-FFF2-40B4-BE49-F238E27FC236}">
                <a16:creationId xmlns:a16="http://schemas.microsoft.com/office/drawing/2014/main" id="{D53B6F87-A9DB-C478-F367-CB549A73F0F6}"/>
              </a:ext>
            </a:extLst>
          </p:cNvPr>
          <p:cNvSpPr txBox="1"/>
          <p:nvPr/>
        </p:nvSpPr>
        <p:spPr>
          <a:xfrm>
            <a:off x="5813775" y="5398446"/>
            <a:ext cx="6447294" cy="923330"/>
          </a:xfrm>
          <a:prstGeom prst="rect">
            <a:avLst/>
          </a:prstGeom>
          <a:noFill/>
        </p:spPr>
        <p:txBody>
          <a:bodyPr wrap="square">
            <a:spAutoFit/>
          </a:bodyPr>
          <a:lstStyle/>
          <a:p>
            <a:pPr marL="285764" indent="-285764" defTabSz="609630" eaLnBrk="1" fontAlgn="auto" hangingPunct="1">
              <a:spcBef>
                <a:spcPts val="0"/>
              </a:spcBef>
              <a:spcAft>
                <a:spcPts val="0"/>
              </a:spcAft>
              <a:buFont typeface="Arial" panose="020B0604020202020204" pitchFamily="34" charset="0"/>
              <a:buChar char="•"/>
            </a:pPr>
            <a:r>
              <a:rPr lang="en-GB" dirty="0">
                <a:solidFill>
                  <a:prstClr val="black"/>
                </a:solidFill>
                <a:latin typeface="Calibri" panose="020F0502020204030204" pitchFamily="34" charset="0"/>
                <a:ea typeface="+mn-ea"/>
                <a:cs typeface="Calibri" panose="020F0502020204030204" pitchFamily="34" charset="0"/>
              </a:rPr>
              <a:t>Soil carbon sequestration</a:t>
            </a:r>
          </a:p>
          <a:p>
            <a:pPr marL="285764" indent="-285764" defTabSz="609630" eaLnBrk="1" fontAlgn="auto" hangingPunct="1">
              <a:spcBef>
                <a:spcPts val="0"/>
              </a:spcBef>
              <a:spcAft>
                <a:spcPts val="0"/>
              </a:spcAft>
              <a:buFont typeface="Wingdings" panose="05000000000000000000" pitchFamily="2" charset="2"/>
              <a:buChar char="ü"/>
            </a:pPr>
            <a:r>
              <a:rPr lang="en-GB" dirty="0">
                <a:solidFill>
                  <a:srgbClr val="00B050"/>
                </a:solidFill>
                <a:latin typeface="Calibri" panose="020F0502020204030204" pitchFamily="34" charset="0"/>
                <a:ea typeface="+mn-ea"/>
                <a:cs typeface="Calibri" panose="020F0502020204030204" pitchFamily="34" charset="0"/>
                <a:sym typeface="Wingdings" panose="05000000000000000000" pitchFamily="2" charset="2"/>
              </a:rPr>
              <a:t>Improved crop yields and soil fertility</a:t>
            </a:r>
          </a:p>
          <a:p>
            <a:pPr defTabSz="609630" eaLnBrk="1" fontAlgn="auto" hangingPunct="1">
              <a:spcBef>
                <a:spcPts val="0"/>
              </a:spcBef>
              <a:spcAft>
                <a:spcPts val="0"/>
              </a:spcAft>
            </a:pPr>
            <a:r>
              <a:rPr lang="en-GB" dirty="0">
                <a:solidFill>
                  <a:srgbClr val="FF0000"/>
                </a:solidFill>
                <a:latin typeface="Calibri" panose="020F0502020204030204" pitchFamily="34" charset="0"/>
                <a:ea typeface="+mn-ea"/>
                <a:cs typeface="Calibri" panose="020F0502020204030204" pitchFamily="34" charset="0"/>
                <a:sym typeface="Wingdings" panose="05000000000000000000" pitchFamily="2" charset="2"/>
              </a:rPr>
              <a:t> Nitrous oxide release</a:t>
            </a:r>
            <a:endParaRPr lang="en-GB" dirty="0">
              <a:solidFill>
                <a:prstClr val="black"/>
              </a:solidFill>
              <a:latin typeface="Calibri" panose="020F0502020204030204" pitchFamily="34" charset="0"/>
              <a:ea typeface="+mn-ea"/>
              <a:cs typeface="Calibri" panose="020F0502020204030204" pitchFamily="34" charset="0"/>
            </a:endParaRPr>
          </a:p>
        </p:txBody>
      </p:sp>
    </p:spTree>
    <p:custDataLst>
      <p:tags r:id="rId1"/>
    </p:custDataLst>
    <p:extLst>
      <p:ext uri="{BB962C8B-B14F-4D97-AF65-F5344CB8AC3E}">
        <p14:creationId xmlns:p14="http://schemas.microsoft.com/office/powerpoint/2010/main" val="3277515531"/>
      </p:ext>
    </p:extLst>
  </p:cSld>
  <p:clrMapOvr>
    <a:masterClrMapping/>
  </p:clrMapOvr>
  <mc:AlternateContent xmlns:mc="http://schemas.openxmlformats.org/markup-compatibility/2006" xmlns:p14="http://schemas.microsoft.com/office/powerpoint/2010/main">
    <mc:Choice Requires="p14">
      <p:transition spd="slow" p14:dur="2000" advTm="114190"/>
    </mc:Choice>
    <mc:Fallback xmlns="">
      <p:transition spd="slow" advTm="1141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EC12B33C-838C-B3B1-E28F-94DE776885FA}"/>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BE6852F2-0C40-F683-D497-AE8F64B2F1BF}"/>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3" name="Title 1">
            <a:extLst>
              <a:ext uri="{FF2B5EF4-FFF2-40B4-BE49-F238E27FC236}">
                <a16:creationId xmlns:a16="http://schemas.microsoft.com/office/drawing/2014/main" id="{C8FD90EA-5198-EFA9-089F-0197CEC50FAF}"/>
              </a:ext>
            </a:extLst>
          </p:cNvPr>
          <p:cNvSpPr txBox="1">
            <a:spLocks/>
          </p:cNvSpPr>
          <p:nvPr/>
        </p:nvSpPr>
        <p:spPr>
          <a:xfrm>
            <a:off x="31440" y="0"/>
            <a:ext cx="10177131" cy="1213968"/>
          </a:xfrm>
          <a:prstGeom prst="rect">
            <a:avLst/>
          </a:prstGeom>
        </p:spPr>
        <p:txBody>
          <a:bodyPr>
            <a:noAutofit/>
          </a:bodyPr>
          <a:lstStyle>
            <a:lvl1pPr algn="ctr" defTabSz="609630" rtl="0" eaLnBrk="1" latinLnBrk="0" hangingPunct="1">
              <a:spcBef>
                <a:spcPct val="0"/>
              </a:spcBef>
              <a:buNone/>
              <a:defRPr sz="2933" kern="1200">
                <a:solidFill>
                  <a:schemeClr val="tx1"/>
                </a:solidFill>
                <a:latin typeface="DM Sans" pitchFamily="2" charset="0"/>
                <a:ea typeface="+mj-ea"/>
                <a:cs typeface="+mj-cs"/>
              </a:defRPr>
            </a:lvl1pPr>
          </a:lstStyle>
          <a:p>
            <a:pPr algn="r" fontAlgn="auto">
              <a:spcAft>
                <a:spcPts val="0"/>
              </a:spcAft>
            </a:pPr>
            <a:endParaRPr lang="en-GB" sz="4267" dirty="0"/>
          </a:p>
        </p:txBody>
      </p:sp>
      <p:pic>
        <p:nvPicPr>
          <p:cNvPr id="2" name="Picture 1">
            <a:extLst>
              <a:ext uri="{FF2B5EF4-FFF2-40B4-BE49-F238E27FC236}">
                <a16:creationId xmlns:a16="http://schemas.microsoft.com/office/drawing/2014/main" id="{1BCFB70C-3AEE-AA5A-B92C-3393F9C03D2E}"/>
              </a:ext>
            </a:extLst>
          </p:cNvPr>
          <p:cNvPicPr>
            <a:picLocks noChangeAspect="1"/>
          </p:cNvPicPr>
          <p:nvPr/>
        </p:nvPicPr>
        <p:blipFill>
          <a:blip r:embed="rId6"/>
          <a:stretch>
            <a:fillRect/>
          </a:stretch>
        </p:blipFill>
        <p:spPr>
          <a:xfrm>
            <a:off x="0" y="1647135"/>
            <a:ext cx="12192000" cy="4763008"/>
          </a:xfrm>
          <a:prstGeom prst="rect">
            <a:avLst/>
          </a:prstGeom>
        </p:spPr>
      </p:pic>
      <p:sp>
        <p:nvSpPr>
          <p:cNvPr id="5" name="TextBox 4">
            <a:extLst>
              <a:ext uri="{FF2B5EF4-FFF2-40B4-BE49-F238E27FC236}">
                <a16:creationId xmlns:a16="http://schemas.microsoft.com/office/drawing/2014/main" id="{B3BA18C0-5EAB-A391-E711-E93C684B3F40}"/>
              </a:ext>
            </a:extLst>
          </p:cNvPr>
          <p:cNvSpPr txBox="1"/>
          <p:nvPr/>
        </p:nvSpPr>
        <p:spPr>
          <a:xfrm>
            <a:off x="767408" y="935374"/>
            <a:ext cx="9231783" cy="550087"/>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200" b="1" i="1" dirty="0">
                <a:solidFill>
                  <a:srgbClr val="46245A"/>
                </a:solidFill>
                <a:latin typeface="DM Sans" pitchFamily="2" charset="0"/>
                <a:ea typeface="+mn-ea"/>
              </a:rPr>
              <a:t>Bioenergy with carbon capture and storage</a:t>
            </a:r>
          </a:p>
        </p:txBody>
      </p:sp>
    </p:spTree>
    <p:custDataLst>
      <p:tags r:id="rId1"/>
    </p:custDataLst>
    <p:extLst>
      <p:ext uri="{BB962C8B-B14F-4D97-AF65-F5344CB8AC3E}">
        <p14:creationId xmlns:p14="http://schemas.microsoft.com/office/powerpoint/2010/main" val="3706262873"/>
      </p:ext>
    </p:extLst>
  </p:cSld>
  <p:clrMapOvr>
    <a:masterClrMapping/>
  </p:clrMapOvr>
  <mc:AlternateContent xmlns:mc="http://schemas.openxmlformats.org/markup-compatibility/2006" xmlns:p14="http://schemas.microsoft.com/office/powerpoint/2010/main">
    <mc:Choice Requires="p14">
      <p:transition spd="slow" p14:dur="2000" advTm="114190"/>
    </mc:Choice>
    <mc:Fallback xmlns="">
      <p:transition spd="slow" advTm="11419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532B2E8D-7710-D818-ADD1-FB3846BBC4A0}"/>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F248D3DE-19EC-3EA8-39BB-0428D3DDE1F8}"/>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3" name="Title 1">
            <a:extLst>
              <a:ext uri="{FF2B5EF4-FFF2-40B4-BE49-F238E27FC236}">
                <a16:creationId xmlns:a16="http://schemas.microsoft.com/office/drawing/2014/main" id="{B4C53C96-FD20-B62A-EFE2-D063C309E0A9}"/>
              </a:ext>
            </a:extLst>
          </p:cNvPr>
          <p:cNvSpPr txBox="1">
            <a:spLocks/>
          </p:cNvSpPr>
          <p:nvPr/>
        </p:nvSpPr>
        <p:spPr>
          <a:xfrm>
            <a:off x="31440" y="0"/>
            <a:ext cx="10177131" cy="1213968"/>
          </a:xfrm>
          <a:prstGeom prst="rect">
            <a:avLst/>
          </a:prstGeom>
        </p:spPr>
        <p:txBody>
          <a:bodyPr>
            <a:noAutofit/>
          </a:bodyPr>
          <a:lstStyle>
            <a:lvl1pPr algn="ctr" defTabSz="609630" rtl="0" eaLnBrk="1" latinLnBrk="0" hangingPunct="1">
              <a:spcBef>
                <a:spcPct val="0"/>
              </a:spcBef>
              <a:buNone/>
              <a:defRPr sz="2933" kern="1200">
                <a:solidFill>
                  <a:schemeClr val="tx1"/>
                </a:solidFill>
                <a:latin typeface="DM Sans" pitchFamily="2" charset="0"/>
                <a:ea typeface="+mj-ea"/>
                <a:cs typeface="+mj-cs"/>
              </a:defRPr>
            </a:lvl1pPr>
          </a:lstStyle>
          <a:p>
            <a:pPr algn="r" fontAlgn="auto">
              <a:spcAft>
                <a:spcPts val="0"/>
              </a:spcAft>
            </a:pPr>
            <a:endParaRPr lang="en-GB" sz="4267" dirty="0"/>
          </a:p>
        </p:txBody>
      </p:sp>
      <p:sp>
        <p:nvSpPr>
          <p:cNvPr id="5" name="TextBox 4">
            <a:extLst>
              <a:ext uri="{FF2B5EF4-FFF2-40B4-BE49-F238E27FC236}">
                <a16:creationId xmlns:a16="http://schemas.microsoft.com/office/drawing/2014/main" id="{9A1DD944-2429-3903-15BE-F7CFFDE727BF}"/>
              </a:ext>
            </a:extLst>
          </p:cNvPr>
          <p:cNvSpPr txBox="1"/>
          <p:nvPr/>
        </p:nvSpPr>
        <p:spPr>
          <a:xfrm>
            <a:off x="767408" y="935374"/>
            <a:ext cx="9231783" cy="550087"/>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200" b="1" i="1" dirty="0">
                <a:solidFill>
                  <a:srgbClr val="46245A"/>
                </a:solidFill>
                <a:latin typeface="DM Sans" pitchFamily="2" charset="0"/>
                <a:ea typeface="+mn-ea"/>
              </a:rPr>
              <a:t>Bioenergy with carbon capture and storage</a:t>
            </a:r>
          </a:p>
        </p:txBody>
      </p:sp>
      <p:pic>
        <p:nvPicPr>
          <p:cNvPr id="4" name="Picture 3">
            <a:extLst>
              <a:ext uri="{FF2B5EF4-FFF2-40B4-BE49-F238E27FC236}">
                <a16:creationId xmlns:a16="http://schemas.microsoft.com/office/drawing/2014/main" id="{7417F641-6E9A-9468-39CC-FD8E76F8A04A}"/>
              </a:ext>
            </a:extLst>
          </p:cNvPr>
          <p:cNvPicPr>
            <a:picLocks noChangeAspect="1"/>
          </p:cNvPicPr>
          <p:nvPr/>
        </p:nvPicPr>
        <p:blipFill>
          <a:blip r:embed="rId6"/>
          <a:srcRect l="2166" t="4634" r="1965" b="5004"/>
          <a:stretch>
            <a:fillRect/>
          </a:stretch>
        </p:blipFill>
        <p:spPr>
          <a:xfrm>
            <a:off x="-3285" y="1844824"/>
            <a:ext cx="12219965" cy="4597640"/>
          </a:xfrm>
          <a:prstGeom prst="rect">
            <a:avLst/>
          </a:prstGeom>
        </p:spPr>
      </p:pic>
    </p:spTree>
    <p:custDataLst>
      <p:tags r:id="rId1"/>
    </p:custDataLst>
    <p:extLst>
      <p:ext uri="{BB962C8B-B14F-4D97-AF65-F5344CB8AC3E}">
        <p14:creationId xmlns:p14="http://schemas.microsoft.com/office/powerpoint/2010/main" val="3203488351"/>
      </p:ext>
    </p:extLst>
  </p:cSld>
  <p:clrMapOvr>
    <a:masterClrMapping/>
  </p:clrMapOvr>
  <mc:AlternateContent xmlns:mc="http://schemas.openxmlformats.org/markup-compatibility/2006" xmlns:p14="http://schemas.microsoft.com/office/powerpoint/2010/main">
    <mc:Choice Requires="p14">
      <p:transition spd="slow" p14:dur="2000" advTm="114190"/>
    </mc:Choice>
    <mc:Fallback xmlns="">
      <p:transition spd="slow" advTm="11419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6E1FDA70-60F4-B9B5-FF5D-FF5B7692B5BC}"/>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31EC5A3E-D0C8-0D2F-CA17-2CC97DC19EF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3" name="Title 1">
            <a:extLst>
              <a:ext uri="{FF2B5EF4-FFF2-40B4-BE49-F238E27FC236}">
                <a16:creationId xmlns:a16="http://schemas.microsoft.com/office/drawing/2014/main" id="{D5522652-5547-A579-A8E0-886D3D0E9591}"/>
              </a:ext>
            </a:extLst>
          </p:cNvPr>
          <p:cNvSpPr txBox="1">
            <a:spLocks/>
          </p:cNvSpPr>
          <p:nvPr/>
        </p:nvSpPr>
        <p:spPr>
          <a:xfrm>
            <a:off x="31440" y="0"/>
            <a:ext cx="10177131" cy="1213968"/>
          </a:xfrm>
          <a:prstGeom prst="rect">
            <a:avLst/>
          </a:prstGeom>
        </p:spPr>
        <p:txBody>
          <a:bodyPr>
            <a:noAutofit/>
          </a:bodyPr>
          <a:lstStyle>
            <a:lvl1pPr algn="ctr" defTabSz="609630" rtl="0" eaLnBrk="1" latinLnBrk="0" hangingPunct="1">
              <a:spcBef>
                <a:spcPct val="0"/>
              </a:spcBef>
              <a:buNone/>
              <a:defRPr sz="2933" kern="1200">
                <a:solidFill>
                  <a:schemeClr val="tx1"/>
                </a:solidFill>
                <a:latin typeface="DM Sans" pitchFamily="2" charset="0"/>
                <a:ea typeface="+mj-ea"/>
                <a:cs typeface="+mj-cs"/>
              </a:defRPr>
            </a:lvl1pPr>
          </a:lstStyle>
          <a:p>
            <a:pPr algn="r" fontAlgn="auto">
              <a:spcAft>
                <a:spcPts val="0"/>
              </a:spcAft>
            </a:pPr>
            <a:endParaRPr lang="en-GB" sz="4267" dirty="0"/>
          </a:p>
        </p:txBody>
      </p:sp>
      <p:sp>
        <p:nvSpPr>
          <p:cNvPr id="6" name="TextBox 5">
            <a:extLst>
              <a:ext uri="{FF2B5EF4-FFF2-40B4-BE49-F238E27FC236}">
                <a16:creationId xmlns:a16="http://schemas.microsoft.com/office/drawing/2014/main" id="{E8A95A62-62D2-5B16-AA0B-9419CDEB24E8}"/>
              </a:ext>
            </a:extLst>
          </p:cNvPr>
          <p:cNvSpPr txBox="1"/>
          <p:nvPr/>
        </p:nvSpPr>
        <p:spPr>
          <a:xfrm>
            <a:off x="767408" y="935374"/>
            <a:ext cx="9231783" cy="550087"/>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200" b="1" i="1" dirty="0">
                <a:solidFill>
                  <a:srgbClr val="46245A"/>
                </a:solidFill>
                <a:latin typeface="DM Sans" pitchFamily="2" charset="0"/>
                <a:ea typeface="+mn-ea"/>
              </a:rPr>
              <a:t>Bioenergy with carbon capture and storage</a:t>
            </a:r>
          </a:p>
        </p:txBody>
      </p:sp>
      <p:pic>
        <p:nvPicPr>
          <p:cNvPr id="2" name="Picture 1">
            <a:extLst>
              <a:ext uri="{FF2B5EF4-FFF2-40B4-BE49-F238E27FC236}">
                <a16:creationId xmlns:a16="http://schemas.microsoft.com/office/drawing/2014/main" id="{1D9915CE-FBE0-8E32-43F8-7FB0682C30C0}"/>
              </a:ext>
            </a:extLst>
          </p:cNvPr>
          <p:cNvPicPr>
            <a:picLocks noChangeAspect="1"/>
          </p:cNvPicPr>
          <p:nvPr/>
        </p:nvPicPr>
        <p:blipFill>
          <a:blip r:embed="rId6"/>
          <a:stretch>
            <a:fillRect/>
          </a:stretch>
        </p:blipFill>
        <p:spPr>
          <a:xfrm>
            <a:off x="0" y="3970136"/>
            <a:ext cx="7392144" cy="2887864"/>
          </a:xfrm>
          <a:prstGeom prst="rect">
            <a:avLst/>
          </a:prstGeom>
        </p:spPr>
      </p:pic>
      <p:graphicFrame>
        <p:nvGraphicFramePr>
          <p:cNvPr id="4" name="Table 3">
            <a:extLst>
              <a:ext uri="{FF2B5EF4-FFF2-40B4-BE49-F238E27FC236}">
                <a16:creationId xmlns:a16="http://schemas.microsoft.com/office/drawing/2014/main" id="{8317723D-4DDB-C2B8-D05D-4E3DA8C41E28}"/>
              </a:ext>
            </a:extLst>
          </p:cNvPr>
          <p:cNvGraphicFramePr>
            <a:graphicFrameLocks noGrp="1"/>
          </p:cNvGraphicFramePr>
          <p:nvPr>
            <p:extLst>
              <p:ext uri="{D42A27DB-BD31-4B8C-83A1-F6EECF244321}">
                <p14:modId xmlns:p14="http://schemas.microsoft.com/office/powerpoint/2010/main" val="1660900939"/>
              </p:ext>
            </p:extLst>
          </p:nvPr>
        </p:nvGraphicFramePr>
        <p:xfrm>
          <a:off x="2855639" y="1762884"/>
          <a:ext cx="8886702" cy="2658207"/>
        </p:xfrm>
        <a:graphic>
          <a:graphicData uri="http://schemas.openxmlformats.org/drawingml/2006/table">
            <a:tbl>
              <a:tblPr firstRow="1" bandRow="1">
                <a:tableStyleId>{5C22544A-7EE6-4342-B048-85BDC9FD1C3A}</a:tableStyleId>
              </a:tblPr>
              <a:tblGrid>
                <a:gridCol w="4443351">
                  <a:extLst>
                    <a:ext uri="{9D8B030D-6E8A-4147-A177-3AD203B41FA5}">
                      <a16:colId xmlns:a16="http://schemas.microsoft.com/office/drawing/2014/main" val="20000"/>
                    </a:ext>
                  </a:extLst>
                </a:gridCol>
                <a:gridCol w="4443351">
                  <a:extLst>
                    <a:ext uri="{9D8B030D-6E8A-4147-A177-3AD203B41FA5}">
                      <a16:colId xmlns:a16="http://schemas.microsoft.com/office/drawing/2014/main" val="20001"/>
                    </a:ext>
                  </a:extLst>
                </a:gridCol>
              </a:tblGrid>
              <a:tr h="341609">
                <a:tc>
                  <a:txBody>
                    <a:bodyPr/>
                    <a:lstStyle/>
                    <a:p>
                      <a:pPr algn="l"/>
                      <a:r>
                        <a:rPr lang="en-GB" sz="2000" dirty="0">
                          <a:latin typeface="Calibri" panose="020F0502020204030204" pitchFamily="34" charset="0"/>
                          <a:cs typeface="Calibri" panose="020F0502020204030204" pitchFamily="34" charset="0"/>
                        </a:rPr>
                        <a:t>Potential advantages</a:t>
                      </a:r>
                    </a:p>
                  </a:txBody>
                  <a:tcPr anchor="ctr">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lnTlToBr w="12700" cmpd="sng">
                      <a:noFill/>
                      <a:prstDash val="solid"/>
                    </a:lnTlToBr>
                    <a:lnBlToTr w="12700" cmpd="sng">
                      <a:noFill/>
                      <a:prstDash val="solid"/>
                    </a:lnBlToTr>
                    <a:solidFill>
                      <a:srgbClr val="0085CA"/>
                    </a:solidFill>
                  </a:tcPr>
                </a:tc>
                <a:tc>
                  <a:txBody>
                    <a:bodyPr/>
                    <a:lstStyle/>
                    <a:p>
                      <a:pPr algn="l"/>
                      <a:r>
                        <a:rPr lang="en-GB" sz="2000" dirty="0">
                          <a:latin typeface="Calibri" panose="020F0502020204030204" pitchFamily="34" charset="0"/>
                          <a:cs typeface="Calibri" panose="020F0502020204030204" pitchFamily="34" charset="0"/>
                        </a:rPr>
                        <a:t>Potential disadvantages</a:t>
                      </a:r>
                      <a:r>
                        <a:rPr lang="en-GB" sz="2000" baseline="0" dirty="0">
                          <a:latin typeface="Calibri" panose="020F0502020204030204" pitchFamily="34" charset="0"/>
                          <a:cs typeface="Calibri" panose="020F0502020204030204" pitchFamily="34" charset="0"/>
                        </a:rPr>
                        <a:t> </a:t>
                      </a:r>
                      <a:endParaRPr lang="en-GB" sz="2000" dirty="0">
                        <a:latin typeface="Calibri" panose="020F0502020204030204" pitchFamily="34" charset="0"/>
                        <a:cs typeface="Calibri" panose="020F0502020204030204" pitchFamily="34" charset="0"/>
                      </a:endParaRPr>
                    </a:p>
                  </a:txBody>
                  <a:tcPr anchor="ctr">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lnTlToBr w="12700" cmpd="sng">
                      <a:noFill/>
                      <a:prstDash val="solid"/>
                    </a:lnTlToBr>
                    <a:lnBlToTr w="12700" cmpd="sng">
                      <a:noFill/>
                      <a:prstDash val="solid"/>
                    </a:lnBlToTr>
                    <a:solidFill>
                      <a:srgbClr val="0085CA"/>
                    </a:solidFill>
                  </a:tcPr>
                </a:tc>
                <a:extLst>
                  <a:ext uri="{0D108BD9-81ED-4DB2-BD59-A6C34878D82A}">
                    <a16:rowId xmlns:a16="http://schemas.microsoft.com/office/drawing/2014/main" val="10000"/>
                  </a:ext>
                </a:extLst>
              </a:tr>
              <a:tr h="2261967">
                <a:tc>
                  <a:txBody>
                    <a:bodyPr/>
                    <a:lstStyle/>
                    <a:p>
                      <a:pPr marL="285750" indent="-285750">
                        <a:spcAft>
                          <a:spcPts val="600"/>
                        </a:spcAft>
                        <a:buFont typeface="Arial"/>
                        <a:buChar char="•"/>
                      </a:pPr>
                      <a:r>
                        <a:rPr lang="en-GB" sz="2000" dirty="0">
                          <a:solidFill>
                            <a:schemeClr val="tx1"/>
                          </a:solidFill>
                          <a:latin typeface="Calibri" panose="020F0502020204030204" pitchFamily="34" charset="0"/>
                          <a:cs typeface="Calibri" panose="020F0502020204030204" pitchFamily="34" charset="0"/>
                        </a:rPr>
                        <a:t>Could capture and store a significant amount of carbon dioxide emissions </a:t>
                      </a:r>
                    </a:p>
                    <a:p>
                      <a:pPr marL="285750" indent="-285750">
                        <a:spcAft>
                          <a:spcPts val="600"/>
                        </a:spcAft>
                        <a:buFont typeface="Arial"/>
                        <a:buChar char="•"/>
                      </a:pPr>
                      <a:r>
                        <a:rPr lang="en-GB" sz="2000" dirty="0">
                          <a:solidFill>
                            <a:schemeClr val="tx1"/>
                          </a:solidFill>
                          <a:latin typeface="Calibri" panose="020F0502020204030204" pitchFamily="34" charset="0"/>
                          <a:cs typeface="Calibri" panose="020F0502020204030204" pitchFamily="34" charset="0"/>
                        </a:rPr>
                        <a:t>Combines technologies that are well understood</a:t>
                      </a:r>
                    </a:p>
                    <a:p>
                      <a:pPr marL="285750" indent="-285750">
                        <a:spcAft>
                          <a:spcPts val="600"/>
                        </a:spcAft>
                        <a:buFont typeface="Arial"/>
                        <a:buChar char="•"/>
                      </a:pPr>
                      <a:r>
                        <a:rPr lang="en-GB" sz="2000" dirty="0">
                          <a:solidFill>
                            <a:schemeClr val="tx1"/>
                          </a:solidFill>
                          <a:latin typeface="Calibri" panose="020F0502020204030204" pitchFamily="34" charset="0"/>
                          <a:cs typeface="Calibri" panose="020F0502020204030204" pitchFamily="34" charset="0"/>
                        </a:rPr>
                        <a:t>Lots of storage space in the UK (e.g. oil and gas fields)</a:t>
                      </a:r>
                    </a:p>
                  </a:txBody>
                  <a:tcPr>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solidFill>
                      <a:srgbClr val="E5E2E1"/>
                    </a:solidFill>
                  </a:tcPr>
                </a:tc>
                <a:tc>
                  <a:txBody>
                    <a:bodyPr/>
                    <a:lstStyle/>
                    <a:p>
                      <a:pPr marL="285750" indent="-285750">
                        <a:spcAft>
                          <a:spcPts val="600"/>
                        </a:spcAft>
                        <a:buFont typeface="Arial"/>
                        <a:buChar char="•"/>
                      </a:pPr>
                      <a:r>
                        <a:rPr lang="en-GB" sz="2000" dirty="0">
                          <a:solidFill>
                            <a:schemeClr val="tx1"/>
                          </a:solidFill>
                          <a:latin typeface="Calibri" panose="020F0502020204030204" pitchFamily="34" charset="0"/>
                          <a:cs typeface="Calibri" panose="020F0502020204030204" pitchFamily="34" charset="0"/>
                        </a:rPr>
                        <a:t>Likely to have high costs, at least initially</a:t>
                      </a:r>
                    </a:p>
                    <a:p>
                      <a:pPr marL="285750" indent="-285750">
                        <a:spcAft>
                          <a:spcPts val="600"/>
                        </a:spcAft>
                        <a:buFont typeface="Arial"/>
                        <a:buChar char="•"/>
                      </a:pPr>
                      <a:r>
                        <a:rPr lang="en-GB" sz="2000" baseline="0" dirty="0">
                          <a:solidFill>
                            <a:schemeClr val="tx1"/>
                          </a:solidFill>
                          <a:latin typeface="Calibri" panose="020F0502020204030204" pitchFamily="34" charset="0"/>
                          <a:cs typeface="Calibri" panose="020F0502020204030204" pitchFamily="34" charset="0"/>
                        </a:rPr>
                        <a:t>Uses land that could be used for other activities</a:t>
                      </a:r>
                    </a:p>
                    <a:p>
                      <a:pPr marL="285750" indent="-285750">
                        <a:spcAft>
                          <a:spcPts val="600"/>
                        </a:spcAft>
                        <a:buFont typeface="Arial"/>
                        <a:buChar char="•"/>
                      </a:pPr>
                      <a:r>
                        <a:rPr lang="en-GB" sz="2000" baseline="0" dirty="0">
                          <a:solidFill>
                            <a:schemeClr val="tx1"/>
                          </a:solidFill>
                          <a:latin typeface="Calibri" panose="020F0502020204030204" pitchFamily="34" charset="0"/>
                          <a:cs typeface="Calibri" panose="020F0502020204030204" pitchFamily="34" charset="0"/>
                        </a:rPr>
                        <a:t>Need to ensure that carbon dioxide storage is secure</a:t>
                      </a:r>
                    </a:p>
                  </a:txBody>
                  <a:tcPr>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solidFill>
                      <a:srgbClr val="E5E2E1"/>
                    </a:solidFill>
                  </a:tcP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2533555386"/>
      </p:ext>
    </p:extLst>
  </p:cSld>
  <p:clrMapOvr>
    <a:masterClrMapping/>
  </p:clrMapOvr>
  <mc:AlternateContent xmlns:mc="http://schemas.openxmlformats.org/markup-compatibility/2006" xmlns:p14="http://schemas.microsoft.com/office/powerpoint/2010/main">
    <mc:Choice Requires="p14">
      <p:transition spd="slow" p14:dur="2000" advTm="114190"/>
    </mc:Choice>
    <mc:Fallback xmlns="">
      <p:transition spd="slow" advTm="11419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2B090118-8459-9BDB-0046-8D3F8C744ACC}"/>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5234328-D1C2-4BE2-167B-90430B78147A}"/>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3" name="Title 1">
            <a:extLst>
              <a:ext uri="{FF2B5EF4-FFF2-40B4-BE49-F238E27FC236}">
                <a16:creationId xmlns:a16="http://schemas.microsoft.com/office/drawing/2014/main" id="{6CD7C49A-AE7D-9AC9-53EB-7C54EE96B2CA}"/>
              </a:ext>
            </a:extLst>
          </p:cNvPr>
          <p:cNvSpPr txBox="1">
            <a:spLocks/>
          </p:cNvSpPr>
          <p:nvPr/>
        </p:nvSpPr>
        <p:spPr>
          <a:xfrm>
            <a:off x="31440" y="0"/>
            <a:ext cx="10177131" cy="1213968"/>
          </a:xfrm>
          <a:prstGeom prst="rect">
            <a:avLst/>
          </a:prstGeom>
        </p:spPr>
        <p:txBody>
          <a:bodyPr>
            <a:noAutofit/>
          </a:bodyPr>
          <a:lstStyle>
            <a:lvl1pPr algn="ctr" defTabSz="609630" rtl="0" eaLnBrk="1" latinLnBrk="0" hangingPunct="1">
              <a:spcBef>
                <a:spcPct val="0"/>
              </a:spcBef>
              <a:buNone/>
              <a:defRPr sz="2933" kern="1200">
                <a:solidFill>
                  <a:schemeClr val="tx1"/>
                </a:solidFill>
                <a:latin typeface="DM Sans" pitchFamily="2" charset="0"/>
                <a:ea typeface="+mj-ea"/>
                <a:cs typeface="+mj-cs"/>
              </a:defRPr>
            </a:lvl1pPr>
          </a:lstStyle>
          <a:p>
            <a:pPr algn="r" fontAlgn="auto">
              <a:spcAft>
                <a:spcPts val="0"/>
              </a:spcAft>
            </a:pPr>
            <a:endParaRPr lang="en-GB" sz="4267" dirty="0"/>
          </a:p>
        </p:txBody>
      </p:sp>
      <p:sp>
        <p:nvSpPr>
          <p:cNvPr id="6" name="TextBox 5">
            <a:extLst>
              <a:ext uri="{FF2B5EF4-FFF2-40B4-BE49-F238E27FC236}">
                <a16:creationId xmlns:a16="http://schemas.microsoft.com/office/drawing/2014/main" id="{BAC1A4F4-8878-427F-77A3-94A94CDCDE90}"/>
              </a:ext>
            </a:extLst>
          </p:cNvPr>
          <p:cNvSpPr txBox="1"/>
          <p:nvPr/>
        </p:nvSpPr>
        <p:spPr>
          <a:xfrm>
            <a:off x="767408" y="935374"/>
            <a:ext cx="9231783" cy="564706"/>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600" b="1" i="1" dirty="0">
                <a:solidFill>
                  <a:srgbClr val="46245A"/>
                </a:solidFill>
                <a:latin typeface="DM Sans" pitchFamily="2" charset="0"/>
                <a:ea typeface="+mn-ea"/>
              </a:rPr>
              <a:t>Direct air capture and carbon storage</a:t>
            </a:r>
          </a:p>
        </p:txBody>
      </p:sp>
      <p:pic>
        <p:nvPicPr>
          <p:cNvPr id="5" name="Picture 4">
            <a:extLst>
              <a:ext uri="{FF2B5EF4-FFF2-40B4-BE49-F238E27FC236}">
                <a16:creationId xmlns:a16="http://schemas.microsoft.com/office/drawing/2014/main" id="{890D4F39-8140-CD4B-5738-CB6EBF3F8E68}"/>
              </a:ext>
            </a:extLst>
          </p:cNvPr>
          <p:cNvPicPr>
            <a:picLocks noChangeAspect="1"/>
          </p:cNvPicPr>
          <p:nvPr/>
        </p:nvPicPr>
        <p:blipFill>
          <a:blip r:embed="rId6"/>
          <a:stretch>
            <a:fillRect/>
          </a:stretch>
        </p:blipFill>
        <p:spPr>
          <a:xfrm>
            <a:off x="0" y="3072406"/>
            <a:ext cx="9624392" cy="3785594"/>
          </a:xfrm>
          <a:prstGeom prst="rect">
            <a:avLst/>
          </a:prstGeom>
        </p:spPr>
      </p:pic>
      <p:graphicFrame>
        <p:nvGraphicFramePr>
          <p:cNvPr id="2" name="Table 1">
            <a:extLst>
              <a:ext uri="{FF2B5EF4-FFF2-40B4-BE49-F238E27FC236}">
                <a16:creationId xmlns:a16="http://schemas.microsoft.com/office/drawing/2014/main" id="{20BA6DF6-F0F6-A817-423C-2DA449BB4574}"/>
              </a:ext>
            </a:extLst>
          </p:cNvPr>
          <p:cNvGraphicFramePr>
            <a:graphicFrameLocks noGrp="1"/>
          </p:cNvGraphicFramePr>
          <p:nvPr>
            <p:extLst>
              <p:ext uri="{D42A27DB-BD31-4B8C-83A1-F6EECF244321}">
                <p14:modId xmlns:p14="http://schemas.microsoft.com/office/powerpoint/2010/main" val="2541247106"/>
              </p:ext>
            </p:extLst>
          </p:nvPr>
        </p:nvGraphicFramePr>
        <p:xfrm>
          <a:off x="3431704" y="1645985"/>
          <a:ext cx="8194236" cy="2533837"/>
        </p:xfrm>
        <a:graphic>
          <a:graphicData uri="http://schemas.openxmlformats.org/drawingml/2006/table">
            <a:tbl>
              <a:tblPr firstRow="1" bandRow="1">
                <a:tableStyleId>{5C22544A-7EE6-4342-B048-85BDC9FD1C3A}</a:tableStyleId>
              </a:tblPr>
              <a:tblGrid>
                <a:gridCol w="4097118">
                  <a:extLst>
                    <a:ext uri="{9D8B030D-6E8A-4147-A177-3AD203B41FA5}">
                      <a16:colId xmlns:a16="http://schemas.microsoft.com/office/drawing/2014/main" val="20000"/>
                    </a:ext>
                  </a:extLst>
                </a:gridCol>
                <a:gridCol w="4097118">
                  <a:extLst>
                    <a:ext uri="{9D8B030D-6E8A-4147-A177-3AD203B41FA5}">
                      <a16:colId xmlns:a16="http://schemas.microsoft.com/office/drawing/2014/main" val="20001"/>
                    </a:ext>
                  </a:extLst>
                </a:gridCol>
              </a:tblGrid>
              <a:tr h="365498">
                <a:tc>
                  <a:txBody>
                    <a:bodyPr/>
                    <a:lstStyle/>
                    <a:p>
                      <a:pPr algn="l"/>
                      <a:r>
                        <a:rPr lang="en-GB" sz="1800" dirty="0">
                          <a:latin typeface="Calibri" panose="020F0502020204030204" pitchFamily="34" charset="0"/>
                          <a:cs typeface="Calibri" panose="020F0502020204030204" pitchFamily="34" charset="0"/>
                        </a:rPr>
                        <a:t>Potential advantages</a:t>
                      </a:r>
                    </a:p>
                  </a:txBody>
                  <a:tcPr marL="121920" marR="121920" marT="60960" marB="60960" anchor="ctr">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lnTlToBr w="12700" cmpd="sng">
                      <a:noFill/>
                      <a:prstDash val="solid"/>
                    </a:lnTlToBr>
                    <a:lnBlToTr w="12700" cmpd="sng">
                      <a:noFill/>
                      <a:prstDash val="solid"/>
                    </a:lnBlToTr>
                    <a:solidFill>
                      <a:srgbClr val="0085CA"/>
                    </a:solidFill>
                  </a:tcPr>
                </a:tc>
                <a:tc>
                  <a:txBody>
                    <a:bodyPr/>
                    <a:lstStyle/>
                    <a:p>
                      <a:pPr algn="l"/>
                      <a:r>
                        <a:rPr lang="en-GB" sz="1800" dirty="0">
                          <a:latin typeface="Calibri" panose="020F0502020204030204" pitchFamily="34" charset="0"/>
                          <a:cs typeface="Calibri" panose="020F0502020204030204" pitchFamily="34" charset="0"/>
                        </a:rPr>
                        <a:t>Potential disadvantages</a:t>
                      </a:r>
                      <a:r>
                        <a:rPr lang="en-GB" sz="1800" baseline="0" dirty="0">
                          <a:latin typeface="Calibri" panose="020F0502020204030204" pitchFamily="34" charset="0"/>
                          <a:cs typeface="Calibri" panose="020F0502020204030204" pitchFamily="34" charset="0"/>
                        </a:rPr>
                        <a:t> </a:t>
                      </a:r>
                      <a:endParaRPr lang="en-GB" sz="1800" dirty="0">
                        <a:latin typeface="Calibri" panose="020F0502020204030204" pitchFamily="34" charset="0"/>
                        <a:cs typeface="Calibri" panose="020F0502020204030204" pitchFamily="34" charset="0"/>
                      </a:endParaRPr>
                    </a:p>
                  </a:txBody>
                  <a:tcPr marL="121920" marR="121920" marT="60960" marB="60960" anchor="ctr">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lnTlToBr w="12700" cmpd="sng">
                      <a:noFill/>
                      <a:prstDash val="solid"/>
                    </a:lnTlToBr>
                    <a:lnBlToTr w="12700" cmpd="sng">
                      <a:noFill/>
                      <a:prstDash val="solid"/>
                    </a:lnBlToTr>
                    <a:solidFill>
                      <a:srgbClr val="0085CA"/>
                    </a:solidFill>
                  </a:tcPr>
                </a:tc>
                <a:extLst>
                  <a:ext uri="{0D108BD9-81ED-4DB2-BD59-A6C34878D82A}">
                    <a16:rowId xmlns:a16="http://schemas.microsoft.com/office/drawing/2014/main" val="10000"/>
                  </a:ext>
                </a:extLst>
              </a:tr>
              <a:tr h="2137597">
                <a:tc>
                  <a:txBody>
                    <a:bodyPr/>
                    <a:lstStyle/>
                    <a:p>
                      <a:pPr marL="285750" indent="-285750">
                        <a:spcAft>
                          <a:spcPts val="600"/>
                        </a:spcAft>
                        <a:buFont typeface="Arial"/>
                        <a:buChar char="•"/>
                      </a:pPr>
                      <a:r>
                        <a:rPr lang="en-GB" sz="1800" dirty="0">
                          <a:solidFill>
                            <a:schemeClr val="tx1"/>
                          </a:solidFill>
                          <a:latin typeface="Calibri" panose="020F0502020204030204" pitchFamily="34" charset="0"/>
                          <a:cs typeface="Calibri" panose="020F0502020204030204" pitchFamily="34" charset="0"/>
                        </a:rPr>
                        <a:t>Could capture and store a significant amount of carbon dioxide emissions </a:t>
                      </a:r>
                    </a:p>
                    <a:p>
                      <a:pPr marL="285750" marR="0" lvl="0" indent="-285750" algn="l" defTabSz="914400" rtl="0" eaLnBrk="1" fontAlgn="auto" latinLnBrk="0" hangingPunct="1">
                        <a:lnSpc>
                          <a:spcPct val="100000"/>
                        </a:lnSpc>
                        <a:spcBef>
                          <a:spcPts val="0"/>
                        </a:spcBef>
                        <a:spcAft>
                          <a:spcPts val="600"/>
                        </a:spcAft>
                        <a:buClrTx/>
                        <a:buSzTx/>
                        <a:buFont typeface="Arial"/>
                        <a:buChar char="•"/>
                        <a:tabLst/>
                        <a:defRPr/>
                      </a:pPr>
                      <a:r>
                        <a:rPr lang="en-GB" sz="1800" dirty="0">
                          <a:solidFill>
                            <a:schemeClr val="tx1"/>
                          </a:solidFill>
                          <a:latin typeface="Calibri" panose="020F0502020204030204" pitchFamily="34" charset="0"/>
                          <a:cs typeface="Calibri" panose="020F0502020204030204" pitchFamily="34" charset="0"/>
                        </a:rPr>
                        <a:t>Lots of storage space in the UK (e.g. oil and gas fields)</a:t>
                      </a:r>
                    </a:p>
                    <a:p>
                      <a:pPr marL="285750" indent="-285750">
                        <a:spcAft>
                          <a:spcPts val="600"/>
                        </a:spcAft>
                        <a:buFont typeface="Arial"/>
                        <a:buChar char="•"/>
                      </a:pPr>
                      <a:r>
                        <a:rPr lang="en-GB" sz="1800" dirty="0">
                          <a:solidFill>
                            <a:schemeClr val="tx1"/>
                          </a:solidFill>
                          <a:latin typeface="Calibri" panose="020F0502020204030204" pitchFamily="34" charset="0"/>
                          <a:cs typeface="Calibri" panose="020F0502020204030204" pitchFamily="34" charset="0"/>
                        </a:rPr>
                        <a:t>A variety of technical options are being developed</a:t>
                      </a:r>
                    </a:p>
                  </a:txBody>
                  <a:tcPr marL="121920" marR="121920" marT="60960" marB="60960">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solidFill>
                      <a:srgbClr val="E5E2E1"/>
                    </a:solidFill>
                  </a:tcPr>
                </a:tc>
                <a:tc>
                  <a:txBody>
                    <a:bodyPr/>
                    <a:lstStyle/>
                    <a:p>
                      <a:pPr marL="285750" indent="-285750">
                        <a:spcAft>
                          <a:spcPts val="600"/>
                        </a:spcAft>
                        <a:buFont typeface="Arial"/>
                        <a:buChar char="•"/>
                      </a:pPr>
                      <a:r>
                        <a:rPr lang="en-GB" sz="1800" dirty="0">
                          <a:solidFill>
                            <a:schemeClr val="tx1"/>
                          </a:solidFill>
                          <a:latin typeface="Calibri" panose="020F0502020204030204" pitchFamily="34" charset="0"/>
                          <a:cs typeface="Calibri" panose="020F0502020204030204" pitchFamily="34" charset="0"/>
                        </a:rPr>
                        <a:t>Technologies are</a:t>
                      </a:r>
                      <a:r>
                        <a:rPr lang="en-GB" sz="1800" baseline="0" dirty="0">
                          <a:solidFill>
                            <a:schemeClr val="tx1"/>
                          </a:solidFill>
                          <a:latin typeface="Calibri" panose="020F0502020204030204" pitchFamily="34" charset="0"/>
                          <a:cs typeface="Calibri" panose="020F0502020204030204" pitchFamily="34" charset="0"/>
                        </a:rPr>
                        <a:t> very new and experimental </a:t>
                      </a:r>
                    </a:p>
                    <a:p>
                      <a:pPr marL="285750" indent="-285750">
                        <a:spcAft>
                          <a:spcPts val="600"/>
                        </a:spcAft>
                        <a:buFont typeface="Arial"/>
                        <a:buChar char="•"/>
                      </a:pPr>
                      <a:r>
                        <a:rPr lang="en-GB" sz="1800" baseline="0" dirty="0">
                          <a:solidFill>
                            <a:schemeClr val="tx1"/>
                          </a:solidFill>
                          <a:latin typeface="Calibri" panose="020F0502020204030204" pitchFamily="34" charset="0"/>
                          <a:cs typeface="Calibri" panose="020F0502020204030204" pitchFamily="34" charset="0"/>
                        </a:rPr>
                        <a:t>Could require a large amount of low carbon electricity</a:t>
                      </a:r>
                    </a:p>
                    <a:p>
                      <a:pPr marL="285750" indent="-285750">
                        <a:spcAft>
                          <a:spcPts val="600"/>
                        </a:spcAft>
                        <a:buFont typeface="Arial"/>
                        <a:buChar char="•"/>
                      </a:pPr>
                      <a:r>
                        <a:rPr lang="en-GB" sz="1800" baseline="0" dirty="0">
                          <a:solidFill>
                            <a:schemeClr val="tx1"/>
                          </a:solidFill>
                          <a:latin typeface="Calibri" panose="020F0502020204030204" pitchFamily="34" charset="0"/>
                          <a:cs typeface="Calibri" panose="020F0502020204030204" pitchFamily="34" charset="0"/>
                        </a:rPr>
                        <a:t>Current costs are very high, though they could fall as technology improves</a:t>
                      </a:r>
                    </a:p>
                  </a:txBody>
                  <a:tcPr marL="121920" marR="121920" marT="60960" marB="60960">
                    <a:lnL w="12700" cap="flat" cmpd="sng" algn="ctr">
                      <a:solidFill>
                        <a:srgbClr val="0085CA"/>
                      </a:solidFill>
                      <a:prstDash val="solid"/>
                      <a:round/>
                      <a:headEnd type="none" w="med" len="med"/>
                      <a:tailEnd type="none" w="med" len="med"/>
                    </a:lnL>
                    <a:lnR w="12700" cap="flat" cmpd="sng" algn="ctr">
                      <a:solidFill>
                        <a:srgbClr val="0085CA"/>
                      </a:solidFill>
                      <a:prstDash val="solid"/>
                      <a:round/>
                      <a:headEnd type="none" w="med" len="med"/>
                      <a:tailEnd type="none" w="med" len="med"/>
                    </a:lnR>
                    <a:lnT w="12700" cap="flat" cmpd="sng" algn="ctr">
                      <a:solidFill>
                        <a:srgbClr val="0085CA"/>
                      </a:solidFill>
                      <a:prstDash val="solid"/>
                      <a:round/>
                      <a:headEnd type="none" w="med" len="med"/>
                      <a:tailEnd type="none" w="med" len="med"/>
                    </a:lnT>
                    <a:lnB w="12700" cap="flat" cmpd="sng" algn="ctr">
                      <a:solidFill>
                        <a:srgbClr val="0085CA"/>
                      </a:solidFill>
                      <a:prstDash val="solid"/>
                      <a:round/>
                      <a:headEnd type="none" w="med" len="med"/>
                      <a:tailEnd type="none" w="med" len="med"/>
                    </a:lnB>
                    <a:solidFill>
                      <a:srgbClr val="E5E2E1"/>
                    </a:solidFill>
                  </a:tcP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1354950508"/>
      </p:ext>
    </p:extLst>
  </p:cSld>
  <p:clrMapOvr>
    <a:masterClrMapping/>
  </p:clrMapOvr>
  <mc:AlternateContent xmlns:mc="http://schemas.openxmlformats.org/markup-compatibility/2006" xmlns:p14="http://schemas.microsoft.com/office/powerpoint/2010/main">
    <mc:Choice Requires="p14">
      <p:transition spd="slow" p14:dur="2000" advTm="114190"/>
    </mc:Choice>
    <mc:Fallback xmlns="">
      <p:transition spd="slow" advTm="1141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762000" y="1089044"/>
            <a:ext cx="9231783" cy="564706"/>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600" b="1" i="1" dirty="0">
                <a:solidFill>
                  <a:srgbClr val="46245A"/>
                </a:solidFill>
                <a:latin typeface="DM Sans" pitchFamily="2" charset="0"/>
                <a:ea typeface="+mn-ea"/>
              </a:rPr>
              <a:t>Increasing Ocean Uptake of Carbon</a:t>
            </a:r>
          </a:p>
        </p:txBody>
      </p:sp>
      <p:pic>
        <p:nvPicPr>
          <p:cNvPr id="3" name="Picture 2">
            <a:extLst>
              <a:ext uri="{FF2B5EF4-FFF2-40B4-BE49-F238E27FC236}">
                <a16:creationId xmlns:a16="http://schemas.microsoft.com/office/drawing/2014/main" id="{3906FE5C-F208-D7B0-2638-66BDE9CDD93D}"/>
              </a:ext>
            </a:extLst>
          </p:cNvPr>
          <p:cNvPicPr>
            <a:picLocks noChangeAspect="1"/>
          </p:cNvPicPr>
          <p:nvPr/>
        </p:nvPicPr>
        <p:blipFill>
          <a:blip r:embed="rId6"/>
          <a:stretch>
            <a:fillRect/>
          </a:stretch>
        </p:blipFill>
        <p:spPr>
          <a:xfrm>
            <a:off x="551384" y="1991053"/>
            <a:ext cx="10332637" cy="4164109"/>
          </a:xfrm>
          <a:prstGeom prst="rect">
            <a:avLst/>
          </a:prstGeom>
        </p:spPr>
      </p:pic>
      <p:sp>
        <p:nvSpPr>
          <p:cNvPr id="6" name="TextBox 5">
            <a:extLst>
              <a:ext uri="{FF2B5EF4-FFF2-40B4-BE49-F238E27FC236}">
                <a16:creationId xmlns:a16="http://schemas.microsoft.com/office/drawing/2014/main" id="{84ED5710-A5B6-6958-59C3-59A31B5AE906}"/>
              </a:ext>
            </a:extLst>
          </p:cNvPr>
          <p:cNvSpPr txBox="1"/>
          <p:nvPr/>
        </p:nvSpPr>
        <p:spPr>
          <a:xfrm>
            <a:off x="8297563" y="1857179"/>
            <a:ext cx="3894437" cy="3139321"/>
          </a:xfrm>
          <a:prstGeom prst="rect">
            <a:avLst/>
          </a:prstGeom>
          <a:noFill/>
        </p:spPr>
        <p:txBody>
          <a:bodyPr wrap="square" rtlCol="0">
            <a:spAutoFit/>
          </a:bodyPr>
          <a:lstStyle/>
          <a:p>
            <a:pPr defTabSz="609630" eaLnBrk="1" fontAlgn="auto" hangingPunct="1">
              <a:spcBef>
                <a:spcPts val="0"/>
              </a:spcBef>
              <a:spcAft>
                <a:spcPts val="0"/>
              </a:spcAft>
            </a:pPr>
            <a:endParaRPr lang="en-GB" dirty="0">
              <a:solidFill>
                <a:srgbClr val="00B050"/>
              </a:solidFill>
              <a:latin typeface="DM Sans"/>
              <a:ea typeface="+mn-ea"/>
              <a:sym typeface="Wingdings" panose="05000000000000000000" pitchFamily="2" charset="2"/>
            </a:endParaRPr>
          </a:p>
          <a:p>
            <a:pPr defTabSz="609630" eaLnBrk="1" fontAlgn="auto" hangingPunct="1">
              <a:spcBef>
                <a:spcPts val="0"/>
              </a:spcBef>
              <a:spcAft>
                <a:spcPts val="0"/>
              </a:spcAft>
            </a:pPr>
            <a:r>
              <a:rPr lang="en-GB" dirty="0">
                <a:solidFill>
                  <a:prstClr val="black"/>
                </a:solidFill>
                <a:latin typeface="DM Sans"/>
                <a:ea typeface="+mn-ea"/>
              </a:rPr>
              <a:t>Ocean fertilization</a:t>
            </a:r>
          </a:p>
          <a:p>
            <a:pPr marL="285764" indent="-285764" defTabSz="609630" eaLnBrk="1" fontAlgn="auto" hangingPunct="1">
              <a:spcBef>
                <a:spcPts val="0"/>
              </a:spcBef>
              <a:spcAft>
                <a:spcPts val="0"/>
              </a:spcAft>
              <a:buFont typeface="Wingdings" panose="05000000000000000000" pitchFamily="2" charset="2"/>
              <a:buChar char="ü"/>
            </a:pPr>
            <a:r>
              <a:rPr lang="en-GB" dirty="0">
                <a:solidFill>
                  <a:srgbClr val="00B050"/>
                </a:solidFill>
                <a:latin typeface="DM Sans"/>
                <a:ea typeface="+mn-ea"/>
                <a:sym typeface="Wingdings" panose="05000000000000000000" pitchFamily="2" charset="2"/>
              </a:rPr>
              <a:t>Simple technology and not particularly costly</a:t>
            </a:r>
          </a:p>
          <a:p>
            <a:pPr marL="285764" indent="-285764" defTabSz="609630" eaLnBrk="1" fontAlgn="auto" hangingPunct="1">
              <a:spcBef>
                <a:spcPts val="0"/>
              </a:spcBef>
              <a:spcAft>
                <a:spcPts val="0"/>
              </a:spcAft>
              <a:buFont typeface="Wingdings" panose="05000000000000000000" pitchFamily="2" charset="2"/>
              <a:buChar char="û"/>
            </a:pPr>
            <a:r>
              <a:rPr lang="en-GB" dirty="0">
                <a:solidFill>
                  <a:srgbClr val="FF0000"/>
                </a:solidFill>
                <a:latin typeface="DM Sans"/>
                <a:ea typeface="+mn-ea"/>
                <a:sym typeface="Wingdings" panose="05000000000000000000" pitchFamily="2" charset="2"/>
              </a:rPr>
              <a:t>Unknown impacts on fisheries or marine ecosystems</a:t>
            </a:r>
          </a:p>
          <a:p>
            <a:pPr marL="285764" indent="-285764" defTabSz="609630" eaLnBrk="1" fontAlgn="auto" hangingPunct="1">
              <a:spcBef>
                <a:spcPts val="0"/>
              </a:spcBef>
              <a:spcAft>
                <a:spcPts val="0"/>
              </a:spcAft>
              <a:buFont typeface="Wingdings" panose="05000000000000000000" pitchFamily="2" charset="2"/>
              <a:buChar char="û"/>
            </a:pPr>
            <a:r>
              <a:rPr lang="en-GB" dirty="0">
                <a:solidFill>
                  <a:srgbClr val="FF0000"/>
                </a:solidFill>
                <a:latin typeface="DM Sans"/>
                <a:ea typeface="+mn-ea"/>
                <a:sym typeface="Wingdings" panose="05000000000000000000" pitchFamily="2" charset="2"/>
              </a:rPr>
              <a:t>Some algal blooms can be toxic to humans.</a:t>
            </a:r>
          </a:p>
          <a:p>
            <a:pPr marL="285764" indent="-285764" defTabSz="609630" eaLnBrk="1" fontAlgn="auto" hangingPunct="1">
              <a:spcBef>
                <a:spcPts val="0"/>
              </a:spcBef>
              <a:spcAft>
                <a:spcPts val="0"/>
              </a:spcAft>
              <a:buFont typeface="Wingdings" panose="05000000000000000000" pitchFamily="2" charset="2"/>
              <a:buChar char="û"/>
            </a:pPr>
            <a:r>
              <a:rPr lang="en-GB" dirty="0">
                <a:solidFill>
                  <a:srgbClr val="FF0000"/>
                </a:solidFill>
                <a:latin typeface="DM Sans"/>
                <a:sym typeface="Wingdings" panose="05000000000000000000" pitchFamily="2" charset="2"/>
              </a:rPr>
              <a:t>Potentially high energy cost of producing the minerals</a:t>
            </a:r>
            <a:endParaRPr lang="en-GB" dirty="0">
              <a:solidFill>
                <a:srgbClr val="FF0000"/>
              </a:solidFill>
              <a:latin typeface="DM Sans"/>
              <a:ea typeface="+mn-ea"/>
              <a:sym typeface="Wingdings" panose="05000000000000000000" pitchFamily="2" charset="2"/>
            </a:endParaRPr>
          </a:p>
          <a:p>
            <a:pPr defTabSz="609630" eaLnBrk="1" fontAlgn="auto" hangingPunct="1">
              <a:spcBef>
                <a:spcPts val="0"/>
              </a:spcBef>
              <a:spcAft>
                <a:spcPts val="0"/>
              </a:spcAft>
            </a:pPr>
            <a:endParaRPr lang="en-GB" dirty="0">
              <a:solidFill>
                <a:prstClr val="black"/>
              </a:solidFill>
              <a:latin typeface="DM Sans"/>
              <a:ea typeface="+mn-ea"/>
            </a:endParaRPr>
          </a:p>
        </p:txBody>
      </p:sp>
    </p:spTree>
    <p:custDataLst>
      <p:tags r:id="rId1"/>
    </p:custDataLst>
    <p:extLst>
      <p:ext uri="{BB962C8B-B14F-4D97-AF65-F5344CB8AC3E}">
        <p14:creationId xmlns:p14="http://schemas.microsoft.com/office/powerpoint/2010/main" val="1976302990"/>
      </p:ext>
    </p:extLst>
  </p:cSld>
  <p:clrMapOvr>
    <a:masterClrMapping/>
  </p:clrMapOvr>
  <mc:AlternateContent xmlns:mc="http://schemas.openxmlformats.org/markup-compatibility/2006" xmlns:p14="http://schemas.microsoft.com/office/powerpoint/2010/main">
    <mc:Choice Requires="p14">
      <p:transition spd="slow" p14:dur="2000" advTm="127725"/>
    </mc:Choice>
    <mc:Fallback xmlns="">
      <p:transition spd="slow" advTm="12772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2482DE8F-F5D2-D489-2848-AB82D083072F}"/>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C6474385-0597-5FA6-B424-632C02EAA3C0}"/>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2" name="TextBox 5">
            <a:extLst>
              <a:ext uri="{FF2B5EF4-FFF2-40B4-BE49-F238E27FC236}">
                <a16:creationId xmlns:a16="http://schemas.microsoft.com/office/drawing/2014/main" id="{8BBA9707-3DEF-07C2-C71F-F83DEEE2D67C}"/>
              </a:ext>
            </a:extLst>
          </p:cNvPr>
          <p:cNvSpPr txBox="1"/>
          <p:nvPr/>
        </p:nvSpPr>
        <p:spPr>
          <a:xfrm>
            <a:off x="762000" y="1089044"/>
            <a:ext cx="9231783" cy="564706"/>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3600" b="1" i="1" dirty="0">
                <a:solidFill>
                  <a:srgbClr val="46245A"/>
                </a:solidFill>
                <a:latin typeface="DM Sans" pitchFamily="2" charset="0"/>
                <a:ea typeface="+mn-ea"/>
              </a:rPr>
              <a:t>Increasing Ocean Uptake of Carbon</a:t>
            </a:r>
          </a:p>
        </p:txBody>
      </p:sp>
      <p:pic>
        <p:nvPicPr>
          <p:cNvPr id="3" name="Picture 2">
            <a:extLst>
              <a:ext uri="{FF2B5EF4-FFF2-40B4-BE49-F238E27FC236}">
                <a16:creationId xmlns:a16="http://schemas.microsoft.com/office/drawing/2014/main" id="{2B653855-A565-3AE2-880E-EB95D2899E0E}"/>
              </a:ext>
            </a:extLst>
          </p:cNvPr>
          <p:cNvPicPr>
            <a:picLocks noChangeAspect="1"/>
          </p:cNvPicPr>
          <p:nvPr/>
        </p:nvPicPr>
        <p:blipFill>
          <a:blip r:embed="rId6"/>
          <a:stretch>
            <a:fillRect/>
          </a:stretch>
        </p:blipFill>
        <p:spPr>
          <a:xfrm>
            <a:off x="623392" y="2351672"/>
            <a:ext cx="7098792" cy="2860852"/>
          </a:xfrm>
          <a:prstGeom prst="rect">
            <a:avLst/>
          </a:prstGeom>
        </p:spPr>
      </p:pic>
      <p:sp>
        <p:nvSpPr>
          <p:cNvPr id="6" name="TextBox 5">
            <a:extLst>
              <a:ext uri="{FF2B5EF4-FFF2-40B4-BE49-F238E27FC236}">
                <a16:creationId xmlns:a16="http://schemas.microsoft.com/office/drawing/2014/main" id="{2375F6D1-3463-DAEA-CC11-E91C8E3BDD6E}"/>
              </a:ext>
            </a:extLst>
          </p:cNvPr>
          <p:cNvSpPr txBox="1"/>
          <p:nvPr/>
        </p:nvSpPr>
        <p:spPr>
          <a:xfrm>
            <a:off x="7855375" y="2233895"/>
            <a:ext cx="3894437" cy="3139321"/>
          </a:xfrm>
          <a:prstGeom prst="rect">
            <a:avLst/>
          </a:prstGeom>
          <a:noFill/>
        </p:spPr>
        <p:txBody>
          <a:bodyPr wrap="square" rtlCol="0">
            <a:spAutoFit/>
          </a:bodyPr>
          <a:lstStyle/>
          <a:p>
            <a:pPr defTabSz="609630" eaLnBrk="1" fontAlgn="auto" hangingPunct="1">
              <a:spcBef>
                <a:spcPts val="0"/>
              </a:spcBef>
              <a:spcAft>
                <a:spcPts val="0"/>
              </a:spcAft>
            </a:pPr>
            <a:endParaRPr lang="en-GB" dirty="0">
              <a:solidFill>
                <a:srgbClr val="00B050"/>
              </a:solidFill>
              <a:latin typeface="DM Sans"/>
              <a:ea typeface="+mn-ea"/>
              <a:sym typeface="Wingdings" panose="05000000000000000000" pitchFamily="2" charset="2"/>
            </a:endParaRPr>
          </a:p>
          <a:p>
            <a:pPr defTabSz="609630" eaLnBrk="1" fontAlgn="auto" hangingPunct="1">
              <a:spcBef>
                <a:spcPts val="0"/>
              </a:spcBef>
              <a:spcAft>
                <a:spcPts val="0"/>
              </a:spcAft>
            </a:pPr>
            <a:r>
              <a:rPr lang="en-GB" dirty="0">
                <a:solidFill>
                  <a:prstClr val="black"/>
                </a:solidFill>
                <a:latin typeface="DM Sans"/>
                <a:ea typeface="+mn-ea"/>
              </a:rPr>
              <a:t>Ocean fertilization</a:t>
            </a:r>
          </a:p>
          <a:p>
            <a:pPr marL="285764" indent="-285764" defTabSz="609630" eaLnBrk="1" fontAlgn="auto" hangingPunct="1">
              <a:spcBef>
                <a:spcPts val="0"/>
              </a:spcBef>
              <a:spcAft>
                <a:spcPts val="0"/>
              </a:spcAft>
              <a:buFont typeface="Wingdings" panose="05000000000000000000" pitchFamily="2" charset="2"/>
              <a:buChar char="ü"/>
            </a:pPr>
            <a:r>
              <a:rPr lang="en-GB" dirty="0">
                <a:solidFill>
                  <a:srgbClr val="00B050"/>
                </a:solidFill>
                <a:latin typeface="DM Sans"/>
                <a:ea typeface="+mn-ea"/>
                <a:sym typeface="Wingdings" panose="05000000000000000000" pitchFamily="2" charset="2"/>
              </a:rPr>
              <a:t>Simple technology and not particularly costly</a:t>
            </a:r>
          </a:p>
          <a:p>
            <a:pPr marL="285764" indent="-285764" defTabSz="609630" eaLnBrk="1" fontAlgn="auto" hangingPunct="1">
              <a:spcBef>
                <a:spcPts val="0"/>
              </a:spcBef>
              <a:spcAft>
                <a:spcPts val="0"/>
              </a:spcAft>
              <a:buFont typeface="Wingdings" panose="05000000000000000000" pitchFamily="2" charset="2"/>
              <a:buChar char="û"/>
            </a:pPr>
            <a:r>
              <a:rPr lang="en-GB" dirty="0">
                <a:solidFill>
                  <a:srgbClr val="FF0000"/>
                </a:solidFill>
                <a:latin typeface="DM Sans"/>
                <a:ea typeface="+mn-ea"/>
                <a:sym typeface="Wingdings" panose="05000000000000000000" pitchFamily="2" charset="2"/>
              </a:rPr>
              <a:t>Unknown impacts on fisheries or marine ecosystems</a:t>
            </a:r>
          </a:p>
          <a:p>
            <a:pPr marL="285764" indent="-285764" defTabSz="609630" eaLnBrk="1" fontAlgn="auto" hangingPunct="1">
              <a:spcBef>
                <a:spcPts val="0"/>
              </a:spcBef>
              <a:spcAft>
                <a:spcPts val="0"/>
              </a:spcAft>
              <a:buFont typeface="Wingdings" panose="05000000000000000000" pitchFamily="2" charset="2"/>
              <a:buChar char="û"/>
            </a:pPr>
            <a:r>
              <a:rPr lang="en-GB" dirty="0">
                <a:solidFill>
                  <a:srgbClr val="FF0000"/>
                </a:solidFill>
                <a:latin typeface="DM Sans"/>
                <a:ea typeface="+mn-ea"/>
                <a:sym typeface="Wingdings" panose="05000000000000000000" pitchFamily="2" charset="2"/>
              </a:rPr>
              <a:t>Some algal blooms can be toxic to humans.</a:t>
            </a:r>
          </a:p>
          <a:p>
            <a:pPr marL="285764" indent="-285764" defTabSz="609630" eaLnBrk="1" fontAlgn="auto" hangingPunct="1">
              <a:spcBef>
                <a:spcPts val="0"/>
              </a:spcBef>
              <a:spcAft>
                <a:spcPts val="0"/>
              </a:spcAft>
              <a:buFont typeface="Wingdings" panose="05000000000000000000" pitchFamily="2" charset="2"/>
              <a:buChar char="û"/>
            </a:pPr>
            <a:r>
              <a:rPr lang="en-GB" dirty="0">
                <a:solidFill>
                  <a:srgbClr val="FF0000"/>
                </a:solidFill>
                <a:latin typeface="DM Sans"/>
                <a:sym typeface="Wingdings" panose="05000000000000000000" pitchFamily="2" charset="2"/>
              </a:rPr>
              <a:t>Potentially high energy cost of producing the minerals</a:t>
            </a:r>
            <a:endParaRPr lang="en-GB" dirty="0">
              <a:solidFill>
                <a:srgbClr val="FF0000"/>
              </a:solidFill>
              <a:latin typeface="DM Sans"/>
              <a:ea typeface="+mn-ea"/>
              <a:sym typeface="Wingdings" panose="05000000000000000000" pitchFamily="2" charset="2"/>
            </a:endParaRPr>
          </a:p>
          <a:p>
            <a:pPr defTabSz="609630" eaLnBrk="1" fontAlgn="auto" hangingPunct="1">
              <a:spcBef>
                <a:spcPts val="0"/>
              </a:spcBef>
              <a:spcAft>
                <a:spcPts val="0"/>
              </a:spcAft>
            </a:pPr>
            <a:endParaRPr lang="en-GB" dirty="0">
              <a:solidFill>
                <a:prstClr val="black"/>
              </a:solidFill>
              <a:latin typeface="DM Sans"/>
              <a:ea typeface="+mn-ea"/>
            </a:endParaRPr>
          </a:p>
        </p:txBody>
      </p:sp>
    </p:spTree>
    <p:custDataLst>
      <p:tags r:id="rId1"/>
    </p:custDataLst>
    <p:extLst>
      <p:ext uri="{BB962C8B-B14F-4D97-AF65-F5344CB8AC3E}">
        <p14:creationId xmlns:p14="http://schemas.microsoft.com/office/powerpoint/2010/main" val="3585969349"/>
      </p:ext>
    </p:extLst>
  </p:cSld>
  <p:clrMapOvr>
    <a:masterClrMapping/>
  </p:clrMapOvr>
  <mc:AlternateContent xmlns:mc="http://schemas.openxmlformats.org/markup-compatibility/2006">
    <mc:Choice xmlns:p14="http://schemas.microsoft.com/office/powerpoint/2010/main" Requires="p14">
      <p:transition spd="slow" p14:dur="2000" advTm="127725"/>
    </mc:Choice>
    <mc:Fallback>
      <p:transition spd="slow" advTm="12772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A443D-8183-0D34-7B60-4F4FD69A1542}"/>
            </a:ext>
          </a:extLst>
        </p:cNvPr>
        <p:cNvGrpSpPr/>
        <p:nvPr/>
      </p:nvGrpSpPr>
      <p:grpSpPr>
        <a:xfrm>
          <a:off x="0" y="0"/>
          <a:ext cx="0" cy="0"/>
          <a:chOff x="0" y="0"/>
          <a:chExt cx="0" cy="0"/>
        </a:xfrm>
      </p:grpSpPr>
      <p:sp>
        <p:nvSpPr>
          <p:cNvPr id="7" name="Freeform 13">
            <a:extLst>
              <a:ext uri="{FF2B5EF4-FFF2-40B4-BE49-F238E27FC236}">
                <a16:creationId xmlns:a16="http://schemas.microsoft.com/office/drawing/2014/main" id="{ED7BB8E6-D635-2433-75AC-38813C4B842E}"/>
              </a:ext>
            </a:extLst>
          </p:cNvPr>
          <p:cNvSpPr/>
          <p:nvPr/>
        </p:nvSpPr>
        <p:spPr>
          <a:xfrm>
            <a:off x="9702801" y="371989"/>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60" eaLnBrk="1" fontAlgn="auto" hangingPunct="1">
              <a:spcBef>
                <a:spcPts val="0"/>
              </a:spcBef>
              <a:spcAft>
                <a:spcPts val="0"/>
              </a:spcAft>
              <a:defRPr/>
            </a:pPr>
            <a:endParaRPr lang="en-GB" sz="1200">
              <a:solidFill>
                <a:prstClr val="black"/>
              </a:solidFill>
              <a:latin typeface="DM Sans" pitchFamily="2" charset="0"/>
              <a:ea typeface="MS PGothic" panose="020B0600070205080204" pitchFamily="34" charset="-128"/>
            </a:endParaRPr>
          </a:p>
        </p:txBody>
      </p:sp>
      <p:sp>
        <p:nvSpPr>
          <p:cNvPr id="3" name="TextBox 14">
            <a:extLst>
              <a:ext uri="{FF2B5EF4-FFF2-40B4-BE49-F238E27FC236}">
                <a16:creationId xmlns:a16="http://schemas.microsoft.com/office/drawing/2014/main" id="{2992C45F-F615-9B62-8842-65DFD765A85C}"/>
              </a:ext>
            </a:extLst>
          </p:cNvPr>
          <p:cNvSpPr txBox="1"/>
          <p:nvPr/>
        </p:nvSpPr>
        <p:spPr>
          <a:xfrm>
            <a:off x="544953" y="840082"/>
            <a:ext cx="10497991" cy="564322"/>
          </a:xfrm>
          <a:prstGeom prst="rect">
            <a:avLst/>
          </a:prstGeom>
        </p:spPr>
        <p:txBody>
          <a:bodyPr wrap="square" lIns="0" tIns="0" rIns="0" bIns="0" rtlCol="0" anchor="t">
            <a:spAutoFit/>
          </a:bodyPr>
          <a:lstStyle/>
          <a:p>
            <a:pPr defTabSz="609660" eaLnBrk="1" fontAlgn="auto" hangingPunct="1">
              <a:lnSpc>
                <a:spcPts val="4574"/>
              </a:lnSpc>
              <a:spcBef>
                <a:spcPts val="0"/>
              </a:spcBef>
              <a:spcAft>
                <a:spcPts val="0"/>
              </a:spcAft>
              <a:defRPr/>
            </a:pPr>
            <a:r>
              <a:rPr lang="en-US" sz="3600" b="1" i="1" spc="-275" dirty="0">
                <a:solidFill>
                  <a:srgbClr val="46245A"/>
                </a:solidFill>
                <a:latin typeface="DM Sans Bold"/>
                <a:ea typeface="MS PGothic" panose="020B0600070205080204" pitchFamily="34" charset="-128"/>
              </a:rPr>
              <a:t>Example NET</a:t>
            </a:r>
          </a:p>
        </p:txBody>
      </p:sp>
      <p:pic>
        <p:nvPicPr>
          <p:cNvPr id="6" name="Picture 5">
            <a:extLst>
              <a:ext uri="{FF2B5EF4-FFF2-40B4-BE49-F238E27FC236}">
                <a16:creationId xmlns:a16="http://schemas.microsoft.com/office/drawing/2014/main" id="{6B25DF1A-FFF9-BC17-8625-203A67593228}"/>
              </a:ext>
            </a:extLst>
          </p:cNvPr>
          <p:cNvPicPr>
            <a:picLocks noChangeAspect="1"/>
          </p:cNvPicPr>
          <p:nvPr/>
        </p:nvPicPr>
        <p:blipFill>
          <a:blip r:embed="rId4"/>
          <a:stretch>
            <a:fillRect/>
          </a:stretch>
        </p:blipFill>
        <p:spPr>
          <a:xfrm>
            <a:off x="5232400" y="1650187"/>
            <a:ext cx="6414648" cy="4689070"/>
          </a:xfrm>
          <a:prstGeom prst="rect">
            <a:avLst/>
          </a:prstGeom>
        </p:spPr>
      </p:pic>
      <p:graphicFrame>
        <p:nvGraphicFramePr>
          <p:cNvPr id="9" name="TextBox 4">
            <a:extLst>
              <a:ext uri="{FF2B5EF4-FFF2-40B4-BE49-F238E27FC236}">
                <a16:creationId xmlns:a16="http://schemas.microsoft.com/office/drawing/2014/main" id="{856C8011-7F39-1E72-DC1E-1BADEC9608E5}"/>
              </a:ext>
            </a:extLst>
          </p:cNvPr>
          <p:cNvGraphicFramePr/>
          <p:nvPr>
            <p:extLst>
              <p:ext uri="{D42A27DB-BD31-4B8C-83A1-F6EECF244321}">
                <p14:modId xmlns:p14="http://schemas.microsoft.com/office/powerpoint/2010/main" val="734970586"/>
              </p:ext>
            </p:extLst>
          </p:nvPr>
        </p:nvGraphicFramePr>
        <p:xfrm>
          <a:off x="544952" y="1650188"/>
          <a:ext cx="4522348" cy="468906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8" name="TextBox 7">
            <a:extLst>
              <a:ext uri="{FF2B5EF4-FFF2-40B4-BE49-F238E27FC236}">
                <a16:creationId xmlns:a16="http://schemas.microsoft.com/office/drawing/2014/main" id="{A23A94AD-C8AC-5E26-5687-1D448B15E429}"/>
              </a:ext>
            </a:extLst>
          </p:cNvPr>
          <p:cNvSpPr txBox="1"/>
          <p:nvPr/>
        </p:nvSpPr>
        <p:spPr>
          <a:xfrm>
            <a:off x="8348133" y="6575016"/>
            <a:ext cx="3657600" cy="276999"/>
          </a:xfrm>
          <a:prstGeom prst="rect">
            <a:avLst/>
          </a:prstGeom>
          <a:noFill/>
        </p:spPr>
        <p:txBody>
          <a:bodyPr wrap="square" rtlCol="0">
            <a:spAutoFit/>
          </a:bodyPr>
          <a:lstStyle/>
          <a:p>
            <a:pPr defTabSz="609630" eaLnBrk="1" fontAlgn="auto" hangingPunct="1">
              <a:spcBef>
                <a:spcPts val="0"/>
              </a:spcBef>
              <a:spcAft>
                <a:spcPts val="0"/>
              </a:spcAft>
              <a:defRPr/>
            </a:pPr>
            <a:r>
              <a:rPr lang="en-US" sz="1200" dirty="0">
                <a:solidFill>
                  <a:prstClr val="black"/>
                </a:solidFill>
                <a:latin typeface="DM Sans"/>
                <a:ea typeface="+mn-ea"/>
              </a:rPr>
              <a:t>Lawrence et al., 2018, Nature Communications</a:t>
            </a:r>
          </a:p>
        </p:txBody>
      </p:sp>
    </p:spTree>
    <p:extLst>
      <p:ext uri="{BB962C8B-B14F-4D97-AF65-F5344CB8AC3E}">
        <p14:creationId xmlns:p14="http://schemas.microsoft.com/office/powerpoint/2010/main" val="23949144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1291E-B584-FD23-5409-AD4E8DF9D15D}"/>
            </a:ext>
          </a:extLst>
        </p:cNvPr>
        <p:cNvGrpSpPr/>
        <p:nvPr/>
      </p:nvGrpSpPr>
      <p:grpSpPr>
        <a:xfrm>
          <a:off x="0" y="0"/>
          <a:ext cx="0" cy="0"/>
          <a:chOff x="0" y="0"/>
          <a:chExt cx="0" cy="0"/>
        </a:xfrm>
      </p:grpSpPr>
      <p:sp>
        <p:nvSpPr>
          <p:cNvPr id="3" name="TextBox 14">
            <a:extLst>
              <a:ext uri="{FF2B5EF4-FFF2-40B4-BE49-F238E27FC236}">
                <a16:creationId xmlns:a16="http://schemas.microsoft.com/office/drawing/2014/main" id="{AF68D400-DEB6-92F7-3EDB-5A9701421D5E}"/>
              </a:ext>
            </a:extLst>
          </p:cNvPr>
          <p:cNvSpPr txBox="1"/>
          <p:nvPr/>
        </p:nvSpPr>
        <p:spPr>
          <a:xfrm>
            <a:off x="389465" y="684091"/>
            <a:ext cx="7336552" cy="574324"/>
          </a:xfrm>
          <a:prstGeom prst="rect">
            <a:avLst/>
          </a:prstGeom>
        </p:spPr>
        <p:txBody>
          <a:bodyPr wrap="square" lIns="0" tIns="0" rIns="0" bIns="0" rtlCol="0" anchor="t">
            <a:spAutoFit/>
          </a:bodyPr>
          <a:lstStyle/>
          <a:p>
            <a:pPr defTabSz="609660" eaLnBrk="1" fontAlgn="auto" hangingPunct="1">
              <a:lnSpc>
                <a:spcPts val="4574"/>
              </a:lnSpc>
              <a:spcBef>
                <a:spcPts val="0"/>
              </a:spcBef>
              <a:spcAft>
                <a:spcPts val="0"/>
              </a:spcAft>
              <a:defRPr/>
            </a:pPr>
            <a:r>
              <a:rPr lang="en-US" sz="3600" i="1" spc="-275" dirty="0">
                <a:solidFill>
                  <a:srgbClr val="46245A"/>
                </a:solidFill>
                <a:latin typeface="DM Sans Bold"/>
              </a:rPr>
              <a:t>Lecture Summary</a:t>
            </a:r>
          </a:p>
        </p:txBody>
      </p:sp>
      <p:pic>
        <p:nvPicPr>
          <p:cNvPr id="10" name="Picture 2" descr="Places of Climate Change">
            <a:extLst>
              <a:ext uri="{FF2B5EF4-FFF2-40B4-BE49-F238E27FC236}">
                <a16:creationId xmlns:a16="http://schemas.microsoft.com/office/drawing/2014/main" id="{C0628126-DB9E-9414-769A-F262ECA340E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490" r="45547"/>
          <a:stretch>
            <a:fillRect/>
          </a:stretch>
        </p:blipFill>
        <p:spPr bwMode="auto">
          <a:xfrm>
            <a:off x="7563550" y="0"/>
            <a:ext cx="462845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11" name="Freeform 13">
            <a:extLst>
              <a:ext uri="{FF2B5EF4-FFF2-40B4-BE49-F238E27FC236}">
                <a16:creationId xmlns:a16="http://schemas.microsoft.com/office/drawing/2014/main" id="{2F94EEC3-9338-4679-F02E-0F944C2AB3BA}"/>
              </a:ext>
            </a:extLst>
          </p:cNvPr>
          <p:cNvSpPr/>
          <p:nvPr/>
        </p:nvSpPr>
        <p:spPr>
          <a:xfrm>
            <a:off x="9702801" y="371989"/>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60" eaLnBrk="1" fontAlgn="auto" hangingPunct="1">
              <a:spcBef>
                <a:spcPts val="0"/>
              </a:spcBef>
              <a:spcAft>
                <a:spcPts val="0"/>
              </a:spcAft>
              <a:defRPr/>
            </a:pPr>
            <a:endParaRPr lang="en-GB" sz="1200">
              <a:solidFill>
                <a:prstClr val="black"/>
              </a:solidFill>
              <a:latin typeface="DM Sans" pitchFamily="2" charset="0"/>
              <a:ea typeface="MS PGothic" panose="020B0600070205080204" pitchFamily="34" charset="-128"/>
            </a:endParaRPr>
          </a:p>
        </p:txBody>
      </p:sp>
      <p:sp>
        <p:nvSpPr>
          <p:cNvPr id="4" name="TextBox 3">
            <a:extLst>
              <a:ext uri="{FF2B5EF4-FFF2-40B4-BE49-F238E27FC236}">
                <a16:creationId xmlns:a16="http://schemas.microsoft.com/office/drawing/2014/main" id="{E70AA273-C7C1-A010-4271-E171ED172E87}"/>
              </a:ext>
            </a:extLst>
          </p:cNvPr>
          <p:cNvSpPr txBox="1"/>
          <p:nvPr/>
        </p:nvSpPr>
        <p:spPr>
          <a:xfrm>
            <a:off x="389465" y="1436940"/>
            <a:ext cx="7074687" cy="5242525"/>
          </a:xfrm>
          <a:prstGeom prst="rect">
            <a:avLst/>
          </a:prstGeom>
          <a:noFill/>
        </p:spPr>
        <p:txBody>
          <a:bodyPr wrap="square">
            <a:spAutoFit/>
          </a:bodyPr>
          <a:lstStyle/>
          <a:p>
            <a:r>
              <a:rPr lang="en-GB" sz="2000" dirty="0">
                <a:latin typeface="Calibri" panose="020F0502020204030204" pitchFamily="34" charset="0"/>
                <a:cs typeface="Calibri" panose="020F0502020204030204" pitchFamily="34" charset="0"/>
              </a:rPr>
              <a:t>Climate engineering involves large-scale interventions to counter climate change.</a:t>
            </a:r>
          </a:p>
          <a:p>
            <a:r>
              <a:rPr lang="en-GB" sz="2000" dirty="0">
                <a:latin typeface="Calibri" panose="020F0502020204030204" pitchFamily="34" charset="0"/>
                <a:cs typeface="Calibri" panose="020F0502020204030204" pitchFamily="34" charset="0"/>
              </a:rPr>
              <a:t>Two main approaches:</a:t>
            </a:r>
          </a:p>
          <a:p>
            <a:pPr marL="342900" indent="-342900">
              <a:buFont typeface="Arial" panose="020B0604020202020204" pitchFamily="34" charset="0"/>
              <a:buChar char="•"/>
            </a:pPr>
            <a:r>
              <a:rPr lang="en-GB" sz="2000" dirty="0">
                <a:latin typeface="Calibri" panose="020F0502020204030204" pitchFamily="34" charset="0"/>
                <a:cs typeface="Calibri" panose="020F0502020204030204" pitchFamily="34" charset="0"/>
              </a:rPr>
              <a:t>GGR/CDR: removes CO₂ (addresses root cause)</a:t>
            </a:r>
          </a:p>
          <a:p>
            <a:pPr marL="342900" indent="-342900">
              <a:buFont typeface="Arial" panose="020B0604020202020204" pitchFamily="34" charset="0"/>
              <a:buChar char="•"/>
            </a:pPr>
            <a:r>
              <a:rPr lang="en-GB" sz="2000" dirty="0">
                <a:latin typeface="Calibri" panose="020F0502020204030204" pitchFamily="34" charset="0"/>
                <a:cs typeface="Calibri" panose="020F0502020204030204" pitchFamily="34" charset="0"/>
              </a:rPr>
              <a:t>SRM: reflects sunlight to cool the planet (does not reduce CO₂)</a:t>
            </a: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Techniques like MCB and SAI can lower temperatures by increasing albedo, but come with major uncertainties.</a:t>
            </a:r>
          </a:p>
          <a:p>
            <a:r>
              <a:rPr lang="en-GB" sz="2000" dirty="0">
                <a:latin typeface="Calibri" panose="020F0502020204030204" pitchFamily="34" charset="0"/>
                <a:cs typeface="Calibri" panose="020F0502020204030204" pitchFamily="34" charset="0"/>
              </a:rPr>
              <a:t>Key issues:</a:t>
            </a:r>
          </a:p>
          <a:p>
            <a:pPr marL="342900" indent="-342900">
              <a:buFont typeface="Arial" panose="020B0604020202020204" pitchFamily="34" charset="0"/>
              <a:buChar char="•"/>
            </a:pPr>
            <a:r>
              <a:rPr lang="en-GB" sz="2000" dirty="0">
                <a:latin typeface="Calibri" panose="020F0502020204030204" pitchFamily="34" charset="0"/>
                <a:cs typeface="Calibri" panose="020F0502020204030204" pitchFamily="34" charset="0"/>
              </a:rPr>
              <a:t>Environmental risks </a:t>
            </a:r>
          </a:p>
          <a:p>
            <a:pPr marL="342900" indent="-342900">
              <a:buFont typeface="Arial" panose="020B0604020202020204" pitchFamily="34" charset="0"/>
              <a:buChar char="•"/>
            </a:pPr>
            <a:r>
              <a:rPr lang="en-GB" sz="2000" dirty="0">
                <a:latin typeface="Calibri" panose="020F0502020204030204" pitchFamily="34" charset="0"/>
                <a:cs typeface="Calibri" panose="020F0502020204030204" pitchFamily="34" charset="0"/>
              </a:rPr>
              <a:t>Termination shock</a:t>
            </a:r>
          </a:p>
          <a:p>
            <a:pPr marL="342900" indent="-342900">
              <a:buFont typeface="Arial" panose="020B0604020202020204" pitchFamily="34" charset="0"/>
              <a:buChar char="•"/>
            </a:pPr>
            <a:r>
              <a:rPr lang="en-GB" sz="2000" dirty="0">
                <a:latin typeface="Calibri" panose="020F0502020204030204" pitchFamily="34" charset="0"/>
                <a:cs typeface="Calibri" panose="020F0502020204030204" pitchFamily="34" charset="0"/>
              </a:rPr>
              <a:t>Ethical and governance challenges</a:t>
            </a:r>
          </a:p>
          <a:p>
            <a:r>
              <a:rPr lang="en-GB" sz="2000" dirty="0">
                <a:latin typeface="Calibri" panose="020F0502020204030204" pitchFamily="34" charset="0"/>
                <a:cs typeface="Calibri" panose="020F0502020204030204" pitchFamily="34" charset="0"/>
              </a:rPr>
              <a:t>Climate engineering may help limit warming, but cannot replace emissions reductions.</a:t>
            </a:r>
          </a:p>
          <a:p>
            <a:r>
              <a:rPr lang="en-GB" sz="2000" dirty="0">
                <a:latin typeface="Calibri" panose="020F0502020204030204" pitchFamily="34" charset="0"/>
                <a:cs typeface="Calibri" panose="020F0502020204030204" pitchFamily="34" charset="0"/>
              </a:rPr>
              <a:t>Mitigation must remain the priority, with climate engineering only as a potential supplement.</a:t>
            </a:r>
          </a:p>
          <a:p>
            <a:pPr defTabSz="609630" eaLnBrk="1" fontAlgn="auto" hangingPunct="1">
              <a:spcBef>
                <a:spcPts val="0"/>
              </a:spcBef>
              <a:spcAft>
                <a:spcPts val="0"/>
              </a:spcAft>
              <a:defRPr/>
            </a:pPr>
            <a:endParaRPr lang="en-GB" sz="1467" dirty="0">
              <a:solidFill>
                <a:prstClr val="black"/>
              </a:solidFill>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38700898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D4ED785F-CE62-82CB-F996-0E665B36E0E7}"/>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02AC8828-C975-6D5D-820F-78E1B8CC22FE}"/>
              </a:ext>
            </a:extLst>
          </p:cNvPr>
          <p:cNvSpPr/>
          <p:nvPr/>
        </p:nvSpPr>
        <p:spPr>
          <a:xfrm>
            <a:off x="1404145" y="2649151"/>
            <a:ext cx="3526648" cy="1559697"/>
          </a:xfrm>
          <a:custGeom>
            <a:avLst/>
            <a:gdLst/>
            <a:ahLst/>
            <a:cxnLst/>
            <a:rect l="l" t="t" r="r" b="b"/>
            <a:pathLst>
              <a:path w="6608213" h="2922551">
                <a:moveTo>
                  <a:pt x="0" y="0"/>
                </a:moveTo>
                <a:lnTo>
                  <a:pt x="6608212" y="0"/>
                </a:lnTo>
                <a:lnTo>
                  <a:pt x="6608212" y="2922552"/>
                </a:lnTo>
                <a:lnTo>
                  <a:pt x="0" y="2922552"/>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11" name="TextBox 11">
            <a:extLst>
              <a:ext uri="{FF2B5EF4-FFF2-40B4-BE49-F238E27FC236}">
                <a16:creationId xmlns:a16="http://schemas.microsoft.com/office/drawing/2014/main" id="{4C3DE186-561B-2390-96D5-63833B499408}"/>
              </a:ext>
            </a:extLst>
          </p:cNvPr>
          <p:cNvSpPr txBox="1"/>
          <p:nvPr/>
        </p:nvSpPr>
        <p:spPr>
          <a:xfrm>
            <a:off x="6899030" y="3116500"/>
            <a:ext cx="4544029" cy="613373"/>
          </a:xfrm>
          <a:prstGeom prst="rect">
            <a:avLst/>
          </a:prstGeom>
        </p:spPr>
        <p:txBody>
          <a:bodyPr wrap="square" lIns="0" tIns="0" rIns="0" bIns="0" rtlCol="0" anchor="t">
            <a:spAutoFit/>
          </a:bodyPr>
          <a:lstStyle/>
          <a:p>
            <a:pPr defTabSz="609630" eaLnBrk="1" fontAlgn="auto" hangingPunct="1">
              <a:lnSpc>
                <a:spcPts val="4480"/>
              </a:lnSpc>
              <a:spcBef>
                <a:spcPts val="0"/>
              </a:spcBef>
              <a:spcAft>
                <a:spcPts val="0"/>
              </a:spcAft>
              <a:defRPr/>
            </a:pPr>
            <a:r>
              <a:rPr lang="en-US" sz="5334">
                <a:solidFill>
                  <a:srgbClr val="F8F8F8"/>
                </a:solidFill>
                <a:latin typeface="DM Sans Bold"/>
                <a:ea typeface="+mn-ea"/>
              </a:rPr>
              <a:t>Thank you</a:t>
            </a:r>
          </a:p>
        </p:txBody>
      </p:sp>
      <p:sp>
        <p:nvSpPr>
          <p:cNvPr id="2" name="TextBox 15">
            <a:extLst>
              <a:ext uri="{FF2B5EF4-FFF2-40B4-BE49-F238E27FC236}">
                <a16:creationId xmlns:a16="http://schemas.microsoft.com/office/drawing/2014/main" id="{7FEBE903-FCF1-495E-DB96-B5A94CA829B0}"/>
              </a:ext>
            </a:extLst>
          </p:cNvPr>
          <p:cNvSpPr txBox="1"/>
          <p:nvPr/>
        </p:nvSpPr>
        <p:spPr>
          <a:xfrm>
            <a:off x="4111256" y="5764263"/>
            <a:ext cx="7501923" cy="414922"/>
          </a:xfrm>
          <a:prstGeom prst="rect">
            <a:avLst/>
          </a:prstGeom>
        </p:spPr>
        <p:txBody>
          <a:bodyPr wrap="square" lIns="0" tIns="0" rIns="0" bIns="0" rtlCol="0" anchor="t">
            <a:spAutoFit/>
          </a:bodyPr>
          <a:lstStyle/>
          <a:p>
            <a:pPr defTabSz="609630" eaLnBrk="1" fontAlgn="auto" hangingPunct="1">
              <a:lnSpc>
                <a:spcPts val="3360"/>
              </a:lnSpc>
              <a:spcBef>
                <a:spcPts val="0"/>
              </a:spcBef>
              <a:spcAft>
                <a:spcPts val="0"/>
              </a:spcAft>
              <a:defRPr/>
            </a:pPr>
            <a:r>
              <a:rPr lang="en-US" sz="2400" b="1" spc="319" dirty="0" err="1">
                <a:solidFill>
                  <a:srgbClr val="FAB700"/>
                </a:solidFill>
                <a:latin typeface="DM Sans"/>
                <a:ea typeface="+mn-ea"/>
              </a:rPr>
              <a:t>Thomas.Bannan@Manchester.ac.uk</a:t>
            </a:r>
            <a:endParaRPr lang="en-US" sz="2400" b="1" spc="319" dirty="0">
              <a:solidFill>
                <a:srgbClr val="FAB700"/>
              </a:solidFill>
              <a:latin typeface="DM Sans"/>
              <a:ea typeface="+mn-ea"/>
            </a:endParaRPr>
          </a:p>
        </p:txBody>
      </p:sp>
    </p:spTree>
    <p:extLst>
      <p:ext uri="{BB962C8B-B14F-4D97-AF65-F5344CB8AC3E}">
        <p14:creationId xmlns:p14="http://schemas.microsoft.com/office/powerpoint/2010/main" val="42373032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9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7AD12E42-E4A2-1EE8-A860-073E6452529D}"/>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0132E64F-CBF8-D5BD-C7F4-3916E4B9F73E}"/>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pic>
        <p:nvPicPr>
          <p:cNvPr id="4" name="Picture 3">
            <a:extLst>
              <a:ext uri="{FF2B5EF4-FFF2-40B4-BE49-F238E27FC236}">
                <a16:creationId xmlns:a16="http://schemas.microsoft.com/office/drawing/2014/main" id="{B2BBA17B-441E-8A12-479E-8916052A44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644" y="247211"/>
            <a:ext cx="5164667" cy="6087533"/>
          </a:xfrm>
          <a:prstGeom prst="rect">
            <a:avLst/>
          </a:prstGeom>
        </p:spPr>
      </p:pic>
      <p:pic>
        <p:nvPicPr>
          <p:cNvPr id="2" name="Picture 1" descr="A qr code with a black and white background&#10;&#10;AI-generated content may be incorrect.">
            <a:extLst>
              <a:ext uri="{FF2B5EF4-FFF2-40B4-BE49-F238E27FC236}">
                <a16:creationId xmlns:a16="http://schemas.microsoft.com/office/drawing/2014/main" id="{4B7930C4-1D32-251F-42B2-8DF1F7E683B0}"/>
              </a:ext>
            </a:extLst>
          </p:cNvPr>
          <p:cNvPicPr>
            <a:picLocks noChangeAspect="1"/>
          </p:cNvPicPr>
          <p:nvPr/>
        </p:nvPicPr>
        <p:blipFill>
          <a:blip r:embed="rId5"/>
          <a:stretch>
            <a:fillRect/>
          </a:stretch>
        </p:blipFill>
        <p:spPr>
          <a:xfrm>
            <a:off x="6901793" y="2966064"/>
            <a:ext cx="2801007" cy="2801007"/>
          </a:xfrm>
          <a:prstGeom prst="rect">
            <a:avLst/>
          </a:prstGeom>
        </p:spPr>
      </p:pic>
      <p:sp>
        <p:nvSpPr>
          <p:cNvPr id="5" name="TextBox 4">
            <a:extLst>
              <a:ext uri="{FF2B5EF4-FFF2-40B4-BE49-F238E27FC236}">
                <a16:creationId xmlns:a16="http://schemas.microsoft.com/office/drawing/2014/main" id="{54C70231-0BC0-4D29-6472-8BDB4DD9A916}"/>
              </a:ext>
            </a:extLst>
          </p:cNvPr>
          <p:cNvSpPr txBox="1"/>
          <p:nvPr/>
        </p:nvSpPr>
        <p:spPr>
          <a:xfrm>
            <a:off x="6901794" y="5948373"/>
            <a:ext cx="280100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DM Sans"/>
                <a:ea typeface="+mn-ea"/>
                <a:cs typeface="+mn-cs"/>
              </a:rPr>
              <a:t>Comments/Questions</a:t>
            </a:r>
          </a:p>
        </p:txBody>
      </p:sp>
    </p:spTree>
    <p:extLst>
      <p:ext uri="{BB962C8B-B14F-4D97-AF65-F5344CB8AC3E}">
        <p14:creationId xmlns:p14="http://schemas.microsoft.com/office/powerpoint/2010/main" val="31147991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82D3E-A7C2-D4CE-6000-D69ABF52E0A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EE16A5-7C45-015F-8A98-91B324DAAE94}"/>
              </a:ext>
            </a:extLst>
          </p:cNvPr>
          <p:cNvSpPr/>
          <p:nvPr/>
        </p:nvSpPr>
        <p:spPr>
          <a:xfrm>
            <a:off x="9431868" y="371990"/>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90" eaLnBrk="1" fontAlgn="auto" hangingPunct="1">
              <a:spcBef>
                <a:spcPts val="0"/>
              </a:spcBef>
              <a:spcAft>
                <a:spcPts val="0"/>
              </a:spcAft>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CDF94BBB-12EF-E975-6BC5-CB4840BAD385}"/>
              </a:ext>
            </a:extLst>
          </p:cNvPr>
          <p:cNvSpPr txBox="1"/>
          <p:nvPr/>
        </p:nvSpPr>
        <p:spPr>
          <a:xfrm>
            <a:off x="389465" y="684092"/>
            <a:ext cx="7336552" cy="589905"/>
          </a:xfrm>
          <a:prstGeom prst="rect">
            <a:avLst/>
          </a:prstGeom>
        </p:spPr>
        <p:txBody>
          <a:bodyPr wrap="square" lIns="0" tIns="0" rIns="0" bIns="0" rtlCol="0" anchor="t">
            <a:spAutoFit/>
          </a:bodyPr>
          <a:lstStyle/>
          <a:p>
            <a:pPr defTabSz="609690" eaLnBrk="1" fontAlgn="auto" hangingPunct="1">
              <a:lnSpc>
                <a:spcPts val="4574"/>
              </a:lnSpc>
              <a:spcBef>
                <a:spcPts val="0"/>
              </a:spcBef>
              <a:spcAft>
                <a:spcPts val="0"/>
              </a:spcAft>
              <a:defRPr/>
            </a:pPr>
            <a:r>
              <a:rPr lang="en-US" sz="4000" i="1" spc="-275" dirty="0">
                <a:solidFill>
                  <a:srgbClr val="46245A"/>
                </a:solidFill>
                <a:latin typeface="DM Sans Bold"/>
              </a:rPr>
              <a:t>Q1. </a:t>
            </a:r>
          </a:p>
        </p:txBody>
      </p:sp>
      <p:sp>
        <p:nvSpPr>
          <p:cNvPr id="2" name="TextBox 1">
            <a:extLst>
              <a:ext uri="{FF2B5EF4-FFF2-40B4-BE49-F238E27FC236}">
                <a16:creationId xmlns:a16="http://schemas.microsoft.com/office/drawing/2014/main" id="{B6B4BD0F-8FE4-63C8-843F-CA220171C15F}"/>
              </a:ext>
            </a:extLst>
          </p:cNvPr>
          <p:cNvSpPr txBox="1"/>
          <p:nvPr/>
        </p:nvSpPr>
        <p:spPr>
          <a:xfrm>
            <a:off x="389466" y="1423804"/>
            <a:ext cx="9048046" cy="666977"/>
          </a:xfrm>
          <a:prstGeom prst="rect">
            <a:avLst/>
          </a:prstGeom>
          <a:noFill/>
        </p:spPr>
        <p:txBody>
          <a:bodyPr wrap="square">
            <a:spAutoFit/>
          </a:bodyPr>
          <a:lstStyle/>
          <a:p>
            <a:pPr defTabSz="609660" eaLnBrk="1" fontAlgn="auto" hangingPunct="1">
              <a:spcBef>
                <a:spcPts val="0"/>
              </a:spcBef>
              <a:spcAft>
                <a:spcPts val="0"/>
              </a:spcAft>
              <a:defRPr/>
            </a:pPr>
            <a:r>
              <a:rPr lang="en-GB" sz="1867" b="1" dirty="0">
                <a:solidFill>
                  <a:prstClr val="black"/>
                </a:solidFill>
                <a:latin typeface="DM Sans"/>
                <a:ea typeface="+mn-ea"/>
              </a:rPr>
              <a:t>Is it more effective to prioritise immediate emissions reductions or invest heavily in future technologies like carbon removal? Why?</a:t>
            </a:r>
          </a:p>
        </p:txBody>
      </p:sp>
    </p:spTree>
    <p:extLst>
      <p:ext uri="{BB962C8B-B14F-4D97-AF65-F5344CB8AC3E}">
        <p14:creationId xmlns:p14="http://schemas.microsoft.com/office/powerpoint/2010/main" val="23963186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F6A2A-A4A0-48BE-8735-B77FDB7C4302}"/>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8B30B3C3-C88A-B136-42CA-F2B6976833F4}"/>
              </a:ext>
            </a:extLst>
          </p:cNvPr>
          <p:cNvSpPr/>
          <p:nvPr/>
        </p:nvSpPr>
        <p:spPr>
          <a:xfrm>
            <a:off x="9431868" y="371990"/>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90" eaLnBrk="1" fontAlgn="auto" hangingPunct="1">
              <a:spcBef>
                <a:spcPts val="0"/>
              </a:spcBef>
              <a:spcAft>
                <a:spcPts val="0"/>
              </a:spcAft>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76D94655-D898-3857-2AC2-28028180AEB2}"/>
              </a:ext>
            </a:extLst>
          </p:cNvPr>
          <p:cNvSpPr txBox="1"/>
          <p:nvPr/>
        </p:nvSpPr>
        <p:spPr>
          <a:xfrm>
            <a:off x="389465" y="684092"/>
            <a:ext cx="7336552" cy="589905"/>
          </a:xfrm>
          <a:prstGeom prst="rect">
            <a:avLst/>
          </a:prstGeom>
        </p:spPr>
        <p:txBody>
          <a:bodyPr wrap="square" lIns="0" tIns="0" rIns="0" bIns="0" rtlCol="0" anchor="t">
            <a:spAutoFit/>
          </a:bodyPr>
          <a:lstStyle/>
          <a:p>
            <a:pPr defTabSz="609690" eaLnBrk="1" fontAlgn="auto" hangingPunct="1">
              <a:lnSpc>
                <a:spcPts val="4574"/>
              </a:lnSpc>
              <a:spcBef>
                <a:spcPts val="0"/>
              </a:spcBef>
              <a:spcAft>
                <a:spcPts val="0"/>
              </a:spcAft>
              <a:defRPr/>
            </a:pPr>
            <a:r>
              <a:rPr lang="en-US" sz="4000" i="1" spc="-275" dirty="0">
                <a:solidFill>
                  <a:srgbClr val="46245A"/>
                </a:solidFill>
                <a:latin typeface="DM Sans Bold"/>
              </a:rPr>
              <a:t>Q2. </a:t>
            </a:r>
          </a:p>
        </p:txBody>
      </p:sp>
      <p:sp>
        <p:nvSpPr>
          <p:cNvPr id="2" name="TextBox 1">
            <a:extLst>
              <a:ext uri="{FF2B5EF4-FFF2-40B4-BE49-F238E27FC236}">
                <a16:creationId xmlns:a16="http://schemas.microsoft.com/office/drawing/2014/main" id="{12D36842-FDC6-A0B3-5017-C432AE5E5127}"/>
              </a:ext>
            </a:extLst>
          </p:cNvPr>
          <p:cNvSpPr txBox="1"/>
          <p:nvPr/>
        </p:nvSpPr>
        <p:spPr>
          <a:xfrm>
            <a:off x="389466" y="1423804"/>
            <a:ext cx="9048046" cy="954300"/>
          </a:xfrm>
          <a:prstGeom prst="rect">
            <a:avLst/>
          </a:prstGeom>
          <a:noFill/>
        </p:spPr>
        <p:txBody>
          <a:bodyPr wrap="square">
            <a:spAutoFit/>
          </a:bodyPr>
          <a:lstStyle/>
          <a:p>
            <a:pPr defTabSz="609660" eaLnBrk="1" fontAlgn="auto" hangingPunct="1">
              <a:spcBef>
                <a:spcPts val="0"/>
              </a:spcBef>
              <a:spcAft>
                <a:spcPts val="0"/>
              </a:spcAft>
              <a:defRPr/>
            </a:pPr>
            <a:r>
              <a:rPr lang="en-GB" sz="1867" b="1" dirty="0">
                <a:solidFill>
                  <a:prstClr val="black"/>
                </a:solidFill>
                <a:latin typeface="DM Sans"/>
                <a:ea typeface="+mn-ea"/>
              </a:rPr>
              <a:t>Should Solar Radiation Management (SRM) technologies be researched or deployed, even though they do not address root causes like CO₂ emissions or ocean acidification?</a:t>
            </a:r>
          </a:p>
        </p:txBody>
      </p:sp>
    </p:spTree>
    <p:extLst>
      <p:ext uri="{BB962C8B-B14F-4D97-AF65-F5344CB8AC3E}">
        <p14:creationId xmlns:p14="http://schemas.microsoft.com/office/powerpoint/2010/main" val="15408656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F25B6-21A3-7BEB-2E83-FBE31CE6E2B4}"/>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C51AE0FD-6198-EEAB-1951-3C5A131307B9}"/>
              </a:ext>
            </a:extLst>
          </p:cNvPr>
          <p:cNvSpPr/>
          <p:nvPr/>
        </p:nvSpPr>
        <p:spPr>
          <a:xfrm>
            <a:off x="9431868" y="371990"/>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90" eaLnBrk="1" fontAlgn="auto" hangingPunct="1">
              <a:spcBef>
                <a:spcPts val="0"/>
              </a:spcBef>
              <a:spcAft>
                <a:spcPts val="0"/>
              </a:spcAft>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607014E2-3975-AE5B-A4AD-0BBBCEB72305}"/>
              </a:ext>
            </a:extLst>
          </p:cNvPr>
          <p:cNvSpPr txBox="1"/>
          <p:nvPr/>
        </p:nvSpPr>
        <p:spPr>
          <a:xfrm>
            <a:off x="389465" y="684092"/>
            <a:ext cx="7336552" cy="589905"/>
          </a:xfrm>
          <a:prstGeom prst="rect">
            <a:avLst/>
          </a:prstGeom>
        </p:spPr>
        <p:txBody>
          <a:bodyPr wrap="square" lIns="0" tIns="0" rIns="0" bIns="0" rtlCol="0" anchor="t">
            <a:spAutoFit/>
          </a:bodyPr>
          <a:lstStyle/>
          <a:p>
            <a:pPr defTabSz="609690" eaLnBrk="1" fontAlgn="auto" hangingPunct="1">
              <a:lnSpc>
                <a:spcPts val="4574"/>
              </a:lnSpc>
              <a:spcBef>
                <a:spcPts val="0"/>
              </a:spcBef>
              <a:spcAft>
                <a:spcPts val="0"/>
              </a:spcAft>
              <a:defRPr/>
            </a:pPr>
            <a:r>
              <a:rPr lang="en-US" sz="4000" i="1" spc="-275" dirty="0">
                <a:solidFill>
                  <a:srgbClr val="46245A"/>
                </a:solidFill>
                <a:latin typeface="DM Sans Bold"/>
              </a:rPr>
              <a:t>Q3. </a:t>
            </a:r>
          </a:p>
        </p:txBody>
      </p:sp>
      <p:sp>
        <p:nvSpPr>
          <p:cNvPr id="2" name="TextBox 1">
            <a:extLst>
              <a:ext uri="{FF2B5EF4-FFF2-40B4-BE49-F238E27FC236}">
                <a16:creationId xmlns:a16="http://schemas.microsoft.com/office/drawing/2014/main" id="{6E46D881-B46B-EC49-3FF8-BBFC0EB3E704}"/>
              </a:ext>
            </a:extLst>
          </p:cNvPr>
          <p:cNvSpPr txBox="1"/>
          <p:nvPr/>
        </p:nvSpPr>
        <p:spPr>
          <a:xfrm>
            <a:off x="389466" y="1423804"/>
            <a:ext cx="9048046" cy="666977"/>
          </a:xfrm>
          <a:prstGeom prst="rect">
            <a:avLst/>
          </a:prstGeom>
          <a:noFill/>
        </p:spPr>
        <p:txBody>
          <a:bodyPr wrap="square">
            <a:spAutoFit/>
          </a:bodyPr>
          <a:lstStyle/>
          <a:p>
            <a:pPr defTabSz="609660" eaLnBrk="1" fontAlgn="auto" hangingPunct="1">
              <a:spcBef>
                <a:spcPts val="0"/>
              </a:spcBef>
              <a:spcAft>
                <a:spcPts val="0"/>
              </a:spcAft>
              <a:defRPr/>
            </a:pPr>
            <a:r>
              <a:rPr lang="en-GB" sz="1867" b="1" dirty="0">
                <a:solidFill>
                  <a:prstClr val="black"/>
                </a:solidFill>
                <a:latin typeface="DM Sans"/>
                <a:ea typeface="+mn-ea"/>
              </a:rPr>
              <a:t>Which NETs (e.g. afforestation, BECCS, DACCS) do you think are most viable for large-scale deployment in the UK, and why?</a:t>
            </a:r>
          </a:p>
        </p:txBody>
      </p:sp>
    </p:spTree>
    <p:extLst>
      <p:ext uri="{BB962C8B-B14F-4D97-AF65-F5344CB8AC3E}">
        <p14:creationId xmlns:p14="http://schemas.microsoft.com/office/powerpoint/2010/main" val="2142768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A2D59-092B-B115-16D5-C8D34A7D789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AE6B65D3-C74D-58E3-71E1-547B6DBA45F6}"/>
              </a:ext>
            </a:extLst>
          </p:cNvPr>
          <p:cNvSpPr/>
          <p:nvPr/>
        </p:nvSpPr>
        <p:spPr>
          <a:xfrm>
            <a:off x="9431868" y="371990"/>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90" eaLnBrk="1" fontAlgn="auto" hangingPunct="1">
              <a:spcBef>
                <a:spcPts val="0"/>
              </a:spcBef>
              <a:spcAft>
                <a:spcPts val="0"/>
              </a:spcAft>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1D3A7E9F-BBF0-9200-0457-030B9B26F2DE}"/>
              </a:ext>
            </a:extLst>
          </p:cNvPr>
          <p:cNvSpPr txBox="1"/>
          <p:nvPr/>
        </p:nvSpPr>
        <p:spPr>
          <a:xfrm>
            <a:off x="389465" y="684092"/>
            <a:ext cx="7336552" cy="589905"/>
          </a:xfrm>
          <a:prstGeom prst="rect">
            <a:avLst/>
          </a:prstGeom>
        </p:spPr>
        <p:txBody>
          <a:bodyPr wrap="square" lIns="0" tIns="0" rIns="0" bIns="0" rtlCol="0" anchor="t">
            <a:spAutoFit/>
          </a:bodyPr>
          <a:lstStyle/>
          <a:p>
            <a:pPr defTabSz="609690" eaLnBrk="1" fontAlgn="auto" hangingPunct="1">
              <a:lnSpc>
                <a:spcPts val="4574"/>
              </a:lnSpc>
              <a:spcBef>
                <a:spcPts val="0"/>
              </a:spcBef>
              <a:spcAft>
                <a:spcPts val="0"/>
              </a:spcAft>
              <a:defRPr/>
            </a:pPr>
            <a:r>
              <a:rPr lang="en-US" sz="4000" i="1" spc="-275" dirty="0">
                <a:solidFill>
                  <a:srgbClr val="46245A"/>
                </a:solidFill>
                <a:latin typeface="DM Sans Bold"/>
              </a:rPr>
              <a:t>Q4. </a:t>
            </a:r>
          </a:p>
        </p:txBody>
      </p:sp>
      <p:sp>
        <p:nvSpPr>
          <p:cNvPr id="2" name="TextBox 1">
            <a:extLst>
              <a:ext uri="{FF2B5EF4-FFF2-40B4-BE49-F238E27FC236}">
                <a16:creationId xmlns:a16="http://schemas.microsoft.com/office/drawing/2014/main" id="{41F08688-2B28-C706-FDD3-BC5AE6F08C5D}"/>
              </a:ext>
            </a:extLst>
          </p:cNvPr>
          <p:cNvSpPr txBox="1"/>
          <p:nvPr/>
        </p:nvSpPr>
        <p:spPr>
          <a:xfrm>
            <a:off x="389466" y="1423804"/>
            <a:ext cx="9048046" cy="666977"/>
          </a:xfrm>
          <a:prstGeom prst="rect">
            <a:avLst/>
          </a:prstGeom>
          <a:noFill/>
        </p:spPr>
        <p:txBody>
          <a:bodyPr wrap="square">
            <a:spAutoFit/>
          </a:bodyPr>
          <a:lstStyle/>
          <a:p>
            <a:pPr defTabSz="609660" eaLnBrk="1" fontAlgn="auto" hangingPunct="1">
              <a:spcBef>
                <a:spcPts val="0"/>
              </a:spcBef>
              <a:spcAft>
                <a:spcPts val="0"/>
              </a:spcAft>
              <a:defRPr/>
            </a:pPr>
            <a:r>
              <a:rPr lang="en-GB" sz="1867" b="1" dirty="0">
                <a:solidFill>
                  <a:prstClr val="black"/>
                </a:solidFill>
                <a:latin typeface="DM Sans"/>
                <a:ea typeface="+mn-ea"/>
              </a:rPr>
              <a:t>Should governments invest heavily in NET development now, despite high costs and uncertainty, or wait until technologies mature?</a:t>
            </a:r>
          </a:p>
        </p:txBody>
      </p:sp>
    </p:spTree>
    <p:extLst>
      <p:ext uri="{BB962C8B-B14F-4D97-AF65-F5344CB8AC3E}">
        <p14:creationId xmlns:p14="http://schemas.microsoft.com/office/powerpoint/2010/main" val="39487855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8|7.3|1.5"/>
</p:tagLst>
</file>

<file path=ppt/tags/tag2.xml><?xml version="1.0" encoding="utf-8"?>
<p:tagLst xmlns:a="http://schemas.openxmlformats.org/drawingml/2006/main" xmlns:r="http://schemas.openxmlformats.org/officeDocument/2006/relationships" xmlns:p="http://schemas.openxmlformats.org/presentationml/2006/main">
  <p:tag name="TIMING" val="|3.4|0.4|0.6|0.4|0.5|0.2|0.2"/>
</p:tagLst>
</file>

<file path=ppt/tags/tag3.xml><?xml version="1.0" encoding="utf-8"?>
<p:tagLst xmlns:a="http://schemas.openxmlformats.org/drawingml/2006/main" xmlns:r="http://schemas.openxmlformats.org/officeDocument/2006/relationships" xmlns:p="http://schemas.openxmlformats.org/presentationml/2006/main">
  <p:tag name="TIMING" val="|0.8|7.3|1.5"/>
</p:tagLst>
</file>

<file path=ppt/tags/tag4.xml><?xml version="1.0" encoding="utf-8"?>
<p:tagLst xmlns:a="http://schemas.openxmlformats.org/drawingml/2006/main" xmlns:r="http://schemas.openxmlformats.org/officeDocument/2006/relationships" xmlns:p="http://schemas.openxmlformats.org/presentationml/2006/main">
  <p:tag name="TIMING" val="|0.8|7.3|1.5"/>
</p:tagLst>
</file>

<file path=ppt/tags/tag5.xml><?xml version="1.0" encoding="utf-8"?>
<p:tagLst xmlns:a="http://schemas.openxmlformats.org/drawingml/2006/main" xmlns:r="http://schemas.openxmlformats.org/officeDocument/2006/relationships" xmlns:p="http://schemas.openxmlformats.org/presentationml/2006/main">
  <p:tag name="TIMING" val="|0.8|7.3|1.5"/>
</p:tagLst>
</file>

<file path=ppt/tags/tag6.xml><?xml version="1.0" encoding="utf-8"?>
<p:tagLst xmlns:a="http://schemas.openxmlformats.org/drawingml/2006/main" xmlns:r="http://schemas.openxmlformats.org/officeDocument/2006/relationships" xmlns:p="http://schemas.openxmlformats.org/presentationml/2006/main">
  <p:tag name="TIMING" val="|0.8|7.3|1.5"/>
</p:tagLst>
</file>

<file path=ppt/tags/tag7.xml><?xml version="1.0" encoding="utf-8"?>
<p:tagLst xmlns:a="http://schemas.openxmlformats.org/drawingml/2006/main" xmlns:r="http://schemas.openxmlformats.org/officeDocument/2006/relationships" xmlns:p="http://schemas.openxmlformats.org/presentationml/2006/main">
  <p:tag name="TIMING" val="|0.8|7.3|1.5"/>
</p:tagLst>
</file>

<file path=ppt/tags/tag8.xml><?xml version="1.0" encoding="utf-8"?>
<p:tagLst xmlns:a="http://schemas.openxmlformats.org/drawingml/2006/main" xmlns:r="http://schemas.openxmlformats.org/officeDocument/2006/relationships" xmlns:p="http://schemas.openxmlformats.org/presentationml/2006/main">
  <p:tag name="TIMING" val="|0.8|7.3|1.5"/>
</p:tagLst>
</file>

<file path=ppt/tags/tag9.xml><?xml version="1.0" encoding="utf-8"?>
<p:tagLst xmlns:a="http://schemas.openxmlformats.org/drawingml/2006/main" xmlns:r="http://schemas.openxmlformats.org/officeDocument/2006/relationships" xmlns:p="http://schemas.openxmlformats.org/presentationml/2006/main">
  <p:tag name="TIMING" val="|0.8|7.3|1.5"/>
</p:tagLst>
</file>

<file path=ppt/tags/tag10.xml><?xml version="1.0" encoding="utf-8"?>
<p:tagLst xmlns:a="http://schemas.openxmlformats.org/drawingml/2006/main" xmlns:r="http://schemas.openxmlformats.org/officeDocument/2006/relationships" xmlns:p="http://schemas.openxmlformats.org/presentationml/2006/main">
  <p:tag name="TIMING" val="|0.8|7.3|1.5"/>
</p:tagLst>
</file>

<file path=ppt/tags/tag11.xml><?xml version="1.0" encoding="utf-8"?>
<p:tagLst xmlns:a="http://schemas.openxmlformats.org/drawingml/2006/main" xmlns:r="http://schemas.openxmlformats.org/officeDocument/2006/relationships" xmlns:p="http://schemas.openxmlformats.org/presentationml/2006/main">
  <p:tag name="TIMING" val="|0.8|7.3|1.5"/>
</p:tagLst>
</file>

<file path=ppt/tags/tag12.xml><?xml version="1.0" encoding="utf-8"?>
<p:tagLst xmlns:a="http://schemas.openxmlformats.org/drawingml/2006/main" xmlns:r="http://schemas.openxmlformats.org/officeDocument/2006/relationships" xmlns:p="http://schemas.openxmlformats.org/presentationml/2006/main">
  <p:tag name="TIMING" val="|0.9|72.5"/>
</p:tagLst>
</file>

<file path=ppt/tags/tag13.xml><?xml version="1.0" encoding="utf-8"?>
<p:tagLst xmlns:a="http://schemas.openxmlformats.org/drawingml/2006/main" xmlns:r="http://schemas.openxmlformats.org/officeDocument/2006/relationships" xmlns:p="http://schemas.openxmlformats.org/presentationml/2006/main">
  <p:tag name="TIMING" val="|0.9|72.5"/>
</p:tagLst>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32272</TotalTime>
  <Words>3530</Words>
  <Application>Microsoft Macintosh PowerPoint</Application>
  <PresentationFormat>Widescreen</PresentationFormat>
  <Paragraphs>373</Paragraphs>
  <Slides>58</Slides>
  <Notes>56</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58</vt:i4>
      </vt:variant>
    </vt:vector>
  </HeadingPairs>
  <TitlesOfParts>
    <vt:vector size="72" baseType="lpstr">
      <vt:lpstr>Aptos</vt:lpstr>
      <vt:lpstr>Aptos Display</vt:lpstr>
      <vt:lpstr>Arial</vt:lpstr>
      <vt:lpstr>Calibri</vt:lpstr>
      <vt:lpstr>Comic Sans MS</vt:lpstr>
      <vt:lpstr>DM Sans</vt:lpstr>
      <vt:lpstr>DM Sans Bold</vt:lpstr>
      <vt:lpstr>OpenSymbol</vt:lpstr>
      <vt:lpstr>Times New Roman</vt:lpstr>
      <vt:lpstr>Wingdings</vt:lpstr>
      <vt:lpstr>2_Office Theme</vt:lpstr>
      <vt:lpstr>1_Office Theme</vt:lpstr>
      <vt:lpstr>3_Office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atmospheric chemistry</dc:title>
  <dc:creator>Carl</dc:creator>
  <cp:lastModifiedBy>Thomas Bannan</cp:lastModifiedBy>
  <cp:revision>1090</cp:revision>
  <cp:lastPrinted>2017-02-02T18:19:14Z</cp:lastPrinted>
  <dcterms:created xsi:type="dcterms:W3CDTF">2010-02-19T09:40:45Z</dcterms:created>
  <dcterms:modified xsi:type="dcterms:W3CDTF">2026-04-28T20:05:21Z</dcterms:modified>
</cp:coreProperties>
</file>