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74" r:id="rId5"/>
  </p:sldMasterIdLst>
  <p:notesMasterIdLst>
    <p:notesMasterId r:id="rId63"/>
  </p:notesMasterIdLst>
  <p:sldIdLst>
    <p:sldId id="257" r:id="rId6"/>
    <p:sldId id="258" r:id="rId7"/>
    <p:sldId id="601" r:id="rId8"/>
    <p:sldId id="1336" r:id="rId9"/>
    <p:sldId id="602" r:id="rId10"/>
    <p:sldId id="1342" r:id="rId11"/>
    <p:sldId id="1318" r:id="rId12"/>
    <p:sldId id="1389" r:id="rId13"/>
    <p:sldId id="640" r:id="rId14"/>
    <p:sldId id="1329" r:id="rId15"/>
    <p:sldId id="1298" r:id="rId16"/>
    <p:sldId id="1285" r:id="rId17"/>
    <p:sldId id="1301" r:id="rId18"/>
    <p:sldId id="637" r:id="rId19"/>
    <p:sldId id="1321" r:id="rId20"/>
    <p:sldId id="1347" r:id="rId21"/>
    <p:sldId id="662" r:id="rId22"/>
    <p:sldId id="1306" r:id="rId23"/>
    <p:sldId id="1313" r:id="rId24"/>
    <p:sldId id="1316" r:id="rId25"/>
    <p:sldId id="1330" r:id="rId26"/>
    <p:sldId id="1332" r:id="rId27"/>
    <p:sldId id="1343" r:id="rId28"/>
    <p:sldId id="1312" r:id="rId29"/>
    <p:sldId id="639" r:id="rId30"/>
    <p:sldId id="868" r:id="rId31"/>
    <p:sldId id="829" r:id="rId32"/>
    <p:sldId id="1348" r:id="rId33"/>
    <p:sldId id="295" r:id="rId34"/>
    <p:sldId id="307" r:id="rId35"/>
    <p:sldId id="383" r:id="rId36"/>
    <p:sldId id="300" r:id="rId37"/>
    <p:sldId id="630" r:id="rId38"/>
    <p:sldId id="1309" r:id="rId39"/>
    <p:sldId id="286" r:id="rId40"/>
    <p:sldId id="825" r:id="rId41"/>
    <p:sldId id="1344" r:id="rId42"/>
    <p:sldId id="578" r:id="rId43"/>
    <p:sldId id="1333" r:id="rId44"/>
    <p:sldId id="481" r:id="rId45"/>
    <p:sldId id="843" r:id="rId46"/>
    <p:sldId id="828" r:id="rId47"/>
    <p:sldId id="1311" r:id="rId48"/>
    <p:sldId id="836" r:id="rId49"/>
    <p:sldId id="1334" r:id="rId50"/>
    <p:sldId id="838" r:id="rId51"/>
    <p:sldId id="835" r:id="rId52"/>
    <p:sldId id="1323" r:id="rId53"/>
    <p:sldId id="1284" r:id="rId54"/>
    <p:sldId id="1245" r:id="rId55"/>
    <p:sldId id="1345" r:id="rId56"/>
    <p:sldId id="1295" r:id="rId57"/>
    <p:sldId id="1341" r:id="rId58"/>
    <p:sldId id="511" r:id="rId59"/>
    <p:sldId id="1366" r:id="rId60"/>
    <p:sldId id="1327" r:id="rId61"/>
    <p:sldId id="529" r:id="rId62"/>
  </p:sldIdLst>
  <p:sldSz cx="18288000" cy="10287000"/>
  <p:notesSz cx="6858000" cy="9144000"/>
  <p:embeddedFontLst>
    <p:embeddedFont>
      <p:font typeface="ＭＳ Ｐゴシック" panose="020B0600070205080204" pitchFamily="34" charset="-128"/>
      <p:regular r:id="rId64"/>
    </p:embeddedFont>
    <p:embeddedFont>
      <p:font typeface="DM Sans" pitchFamily="2" charset="77"/>
      <p:regular r:id="rId65"/>
      <p:bold r:id="rId66"/>
      <p:italic r:id="rId67"/>
      <p:boldItalic r:id="rId68"/>
    </p:embeddedFont>
    <p:embeddedFont>
      <p:font typeface="DM Sans Bold" panose="020B0806030504020204" pitchFamily="34" charset="0"/>
      <p:regular r:id="rId69"/>
      <p:bold r:id="rId69"/>
      <p:italic r:id="rId69"/>
    </p:embeddedFont>
    <p:embeddedFont>
      <p:font typeface="Open Sans" panose="020B0606030504020204" pitchFamily="34" charset="0"/>
      <p:regular r:id="rId70"/>
      <p:bold r:id="rId71"/>
      <p:italic r:id="rId72"/>
      <p:boldItalic r:id="rId73"/>
    </p:embeddedFont>
    <p:embeddedFont>
      <p:font typeface="Tahoma" panose="020B0604030504040204" pitchFamily="34" charset="0"/>
      <p:regular r:id="rId74"/>
      <p:bold r:id="rId75"/>
    </p:embeddedFont>
    <p:embeddedFont>
      <p:font typeface="Verdana" panose="020B0604030504040204" pitchFamily="34" charset="0"/>
      <p:regular r:id="rId76"/>
      <p:bold r:id="rId77"/>
      <p:italic r:id="rId78"/>
      <p:boldItalic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B700"/>
    <a:srgbClr val="46245A"/>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8"/>
    <p:restoredTop sz="90979"/>
  </p:normalViewPr>
  <p:slideViewPr>
    <p:cSldViewPr snapToGrid="0">
      <p:cViewPr varScale="1">
        <p:scale>
          <a:sx n="106" d="100"/>
          <a:sy n="106" d="100"/>
        </p:scale>
        <p:origin x="240" y="8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11.fntdata"/><Relationship Id="rId79" Type="http://schemas.openxmlformats.org/officeDocument/2006/relationships/font" Target="fonts/font16.fntdata"/><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9.fntdata"/><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7.fntdata"/><Relationship Id="rId75" Type="http://schemas.openxmlformats.org/officeDocument/2006/relationships/font" Target="fonts/font12.fntdata"/><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3.fntdata"/><Relationship Id="rId7" Type="http://schemas.openxmlformats.org/officeDocument/2006/relationships/slide" Target="slides/slide2.xml"/><Relationship Id="rId71" Type="http://schemas.openxmlformats.org/officeDocument/2006/relationships/font" Target="fonts/font8.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3.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46B372-88ED-4487-9340-D8E8A74C336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4BFE2EA-ECA7-4159-9838-6407674DC117}">
      <dgm:prSet/>
      <dgm:spPr/>
      <dgm:t>
        <a:bodyPr/>
        <a:lstStyle/>
        <a:p>
          <a:r>
            <a:rPr lang="en-GB" b="0" i="0" dirty="0"/>
            <a:t>Increased trends in intensity and frequency of some climate and weather extremes have been detected over time spans during which about 0.5°C of global warming occurred</a:t>
          </a:r>
          <a:endParaRPr lang="en-US" b="0" dirty="0"/>
        </a:p>
      </dgm:t>
    </dgm:pt>
    <dgm:pt modelId="{D4855E06-4E88-441A-B98D-AA07538E54BB}" type="parTrans" cxnId="{4E279868-9578-4E0D-B5C0-89EBD6D27B50}">
      <dgm:prSet/>
      <dgm:spPr/>
      <dgm:t>
        <a:bodyPr/>
        <a:lstStyle/>
        <a:p>
          <a:endParaRPr lang="en-US"/>
        </a:p>
      </dgm:t>
    </dgm:pt>
    <dgm:pt modelId="{228FA577-D40D-4A10-953A-6EF31DC119BD}" type="sibTrans" cxnId="{4E279868-9578-4E0D-B5C0-89EBD6D27B50}">
      <dgm:prSet/>
      <dgm:spPr/>
      <dgm:t>
        <a:bodyPr/>
        <a:lstStyle/>
        <a:p>
          <a:endParaRPr lang="en-US"/>
        </a:p>
      </dgm:t>
    </dgm:pt>
    <dgm:pt modelId="{1D6789C6-CAB1-4B51-AC84-5B1F8603DBD4}">
      <dgm:prSet/>
      <dgm:spPr/>
      <dgm:t>
        <a:bodyPr/>
        <a:lstStyle/>
        <a:p>
          <a:r>
            <a:rPr lang="en-GB" b="0" i="0" dirty="0"/>
            <a:t>Climate models project robus</a:t>
          </a:r>
          <a:r>
            <a:rPr lang="en-GB" b="0" dirty="0"/>
            <a:t>t</a:t>
          </a:r>
          <a:r>
            <a:rPr lang="en-GB" b="0" i="0" dirty="0"/>
            <a:t> differences in regional climate between present-day and global warming up to 1.5°C</a:t>
          </a:r>
          <a:r>
            <a:rPr lang="en-GB" b="0" dirty="0"/>
            <a:t> </a:t>
          </a:r>
          <a:r>
            <a:rPr lang="en-GB" b="0" i="0" dirty="0"/>
            <a:t>and between 1.5°C and 2°C</a:t>
          </a:r>
          <a:endParaRPr lang="en-US" b="0" dirty="0"/>
        </a:p>
      </dgm:t>
    </dgm:pt>
    <dgm:pt modelId="{693BF231-5765-47CB-A0F8-B4D6C3C807F0}" type="parTrans" cxnId="{C7E89FD8-30DA-4BEE-B371-8393DE38D72B}">
      <dgm:prSet/>
      <dgm:spPr/>
      <dgm:t>
        <a:bodyPr/>
        <a:lstStyle/>
        <a:p>
          <a:endParaRPr lang="en-US"/>
        </a:p>
      </dgm:t>
    </dgm:pt>
    <dgm:pt modelId="{95925AE2-1870-4F9B-B2A8-00916683DB9F}" type="sibTrans" cxnId="{C7E89FD8-30DA-4BEE-B371-8393DE38D72B}">
      <dgm:prSet/>
      <dgm:spPr/>
      <dgm:t>
        <a:bodyPr/>
        <a:lstStyle/>
        <a:p>
          <a:endParaRPr lang="en-US"/>
        </a:p>
      </dgm:t>
    </dgm:pt>
    <dgm:pt modelId="{FD1E003A-AD7C-9C45-96E8-F054EC1DCAAD}" type="pres">
      <dgm:prSet presAssocID="{DC46B372-88ED-4487-9340-D8E8A74C3366}" presName="linear" presStyleCnt="0">
        <dgm:presLayoutVars>
          <dgm:animLvl val="lvl"/>
          <dgm:resizeHandles val="exact"/>
        </dgm:presLayoutVars>
      </dgm:prSet>
      <dgm:spPr/>
    </dgm:pt>
    <dgm:pt modelId="{F4C0B252-9B99-8E4A-B89C-C19DAB0C4DB7}" type="pres">
      <dgm:prSet presAssocID="{44BFE2EA-ECA7-4159-9838-6407674DC117}" presName="parentText" presStyleLbl="node1" presStyleIdx="0" presStyleCnt="2">
        <dgm:presLayoutVars>
          <dgm:chMax val="0"/>
          <dgm:bulletEnabled val="1"/>
        </dgm:presLayoutVars>
      </dgm:prSet>
      <dgm:spPr/>
    </dgm:pt>
    <dgm:pt modelId="{7E521F94-ED02-CC4B-A06B-64BE416410DA}" type="pres">
      <dgm:prSet presAssocID="{228FA577-D40D-4A10-953A-6EF31DC119BD}" presName="spacer" presStyleCnt="0"/>
      <dgm:spPr/>
    </dgm:pt>
    <dgm:pt modelId="{D77E4BB7-B779-AD47-A761-DCAEBA407AC4}" type="pres">
      <dgm:prSet presAssocID="{1D6789C6-CAB1-4B51-AC84-5B1F8603DBD4}" presName="parentText" presStyleLbl="node1" presStyleIdx="1" presStyleCnt="2">
        <dgm:presLayoutVars>
          <dgm:chMax val="0"/>
          <dgm:bulletEnabled val="1"/>
        </dgm:presLayoutVars>
      </dgm:prSet>
      <dgm:spPr/>
    </dgm:pt>
  </dgm:ptLst>
  <dgm:cxnLst>
    <dgm:cxn modelId="{D7627C5F-D440-934A-8213-2D4AE2929C25}" type="presOf" srcId="{DC46B372-88ED-4487-9340-D8E8A74C3366}" destId="{FD1E003A-AD7C-9C45-96E8-F054EC1DCAAD}" srcOrd="0" destOrd="0" presId="urn:microsoft.com/office/officeart/2005/8/layout/vList2"/>
    <dgm:cxn modelId="{4E279868-9578-4E0D-B5C0-89EBD6D27B50}" srcId="{DC46B372-88ED-4487-9340-D8E8A74C3366}" destId="{44BFE2EA-ECA7-4159-9838-6407674DC117}" srcOrd="0" destOrd="0" parTransId="{D4855E06-4E88-441A-B98D-AA07538E54BB}" sibTransId="{228FA577-D40D-4A10-953A-6EF31DC119BD}"/>
    <dgm:cxn modelId="{75AA2FBB-1EE1-BC49-954F-B8283EA8EEF3}" type="presOf" srcId="{44BFE2EA-ECA7-4159-9838-6407674DC117}" destId="{F4C0B252-9B99-8E4A-B89C-C19DAB0C4DB7}" srcOrd="0" destOrd="0" presId="urn:microsoft.com/office/officeart/2005/8/layout/vList2"/>
    <dgm:cxn modelId="{4D1FA2D6-38AC-6A40-8FA6-6D021F47DF96}" type="presOf" srcId="{1D6789C6-CAB1-4B51-AC84-5B1F8603DBD4}" destId="{D77E4BB7-B779-AD47-A761-DCAEBA407AC4}" srcOrd="0" destOrd="0" presId="urn:microsoft.com/office/officeart/2005/8/layout/vList2"/>
    <dgm:cxn modelId="{C7E89FD8-30DA-4BEE-B371-8393DE38D72B}" srcId="{DC46B372-88ED-4487-9340-D8E8A74C3366}" destId="{1D6789C6-CAB1-4B51-AC84-5B1F8603DBD4}" srcOrd="1" destOrd="0" parTransId="{693BF231-5765-47CB-A0F8-B4D6C3C807F0}" sibTransId="{95925AE2-1870-4F9B-B2A8-00916683DB9F}"/>
    <dgm:cxn modelId="{8D1B2ABA-7D78-DF4F-9FC4-E639D171AF81}" type="presParOf" srcId="{FD1E003A-AD7C-9C45-96E8-F054EC1DCAAD}" destId="{F4C0B252-9B99-8E4A-B89C-C19DAB0C4DB7}" srcOrd="0" destOrd="0" presId="urn:microsoft.com/office/officeart/2005/8/layout/vList2"/>
    <dgm:cxn modelId="{A0DA3364-E6B8-1A4A-8170-CC90A978DB19}" type="presParOf" srcId="{FD1E003A-AD7C-9C45-96E8-F054EC1DCAAD}" destId="{7E521F94-ED02-CC4B-A06B-64BE416410DA}" srcOrd="1" destOrd="0" presId="urn:microsoft.com/office/officeart/2005/8/layout/vList2"/>
    <dgm:cxn modelId="{267D3A57-8AE4-4245-AD09-A102A56016F1}" type="presParOf" srcId="{FD1E003A-AD7C-9C45-96E8-F054EC1DCAAD}" destId="{D77E4BB7-B779-AD47-A761-DCAEBA407AC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2359C2-2C8E-4E6C-A0D7-EA31982294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A0B997-EA22-4D06-9243-88DBC488A8A6}">
      <dgm:prSet custT="1"/>
      <dgm:spPr/>
      <dgm:t>
        <a:bodyPr/>
        <a:lstStyle/>
        <a:p>
          <a:r>
            <a:rPr lang="en-GB" sz="2400" dirty="0">
              <a:latin typeface="Calibri" panose="020F0502020204030204" pitchFamily="34" charset="0"/>
              <a:cs typeface="Calibri" panose="020F0502020204030204" pitchFamily="34" charset="0"/>
            </a:rPr>
            <a:t>Afforestation Bioenergy with carbon capture</a:t>
          </a:r>
          <a:endParaRPr lang="en-US" sz="2400" dirty="0">
            <a:latin typeface="Calibri" panose="020F0502020204030204" pitchFamily="34" charset="0"/>
            <a:cs typeface="Calibri" panose="020F0502020204030204" pitchFamily="34" charset="0"/>
          </a:endParaRPr>
        </a:p>
      </dgm:t>
    </dgm:pt>
    <dgm:pt modelId="{3C41AFAF-0A5C-4E61-BAB2-BF054E558AA1}" type="parTrans" cxnId="{7EF7B60A-57DE-4587-9F1C-401AB9851FEC}">
      <dgm:prSet/>
      <dgm:spPr/>
      <dgm:t>
        <a:bodyPr/>
        <a:lstStyle/>
        <a:p>
          <a:endParaRPr lang="en-US"/>
        </a:p>
      </dgm:t>
    </dgm:pt>
    <dgm:pt modelId="{E4737F13-3C02-42A4-8F42-910450CA1D34}" type="sibTrans" cxnId="{7EF7B60A-57DE-4587-9F1C-401AB9851FEC}">
      <dgm:prSet/>
      <dgm:spPr/>
      <dgm:t>
        <a:bodyPr/>
        <a:lstStyle/>
        <a:p>
          <a:endParaRPr lang="en-US"/>
        </a:p>
      </dgm:t>
    </dgm:pt>
    <dgm:pt modelId="{CADC97B1-AA2D-4C0F-863A-35ADF50A64D9}">
      <dgm:prSet custT="1"/>
      <dgm:spPr/>
      <dgm:t>
        <a:bodyPr/>
        <a:lstStyle/>
        <a:p>
          <a:r>
            <a:rPr lang="en-GB" sz="2400">
              <a:latin typeface="Calibri" panose="020F0502020204030204" pitchFamily="34" charset="0"/>
              <a:cs typeface="Calibri" panose="020F0502020204030204" pitchFamily="34" charset="0"/>
            </a:rPr>
            <a:t>Biochar production and burial</a:t>
          </a:r>
          <a:endParaRPr lang="en-US" sz="2400">
            <a:latin typeface="Calibri" panose="020F0502020204030204" pitchFamily="34" charset="0"/>
            <a:cs typeface="Calibri" panose="020F0502020204030204" pitchFamily="34" charset="0"/>
          </a:endParaRPr>
        </a:p>
      </dgm:t>
    </dgm:pt>
    <dgm:pt modelId="{FDCE9270-499D-4D52-948E-479DC6613065}" type="parTrans" cxnId="{A74391F7-0947-468D-81EE-3C1D8CCF4C26}">
      <dgm:prSet/>
      <dgm:spPr/>
      <dgm:t>
        <a:bodyPr/>
        <a:lstStyle/>
        <a:p>
          <a:endParaRPr lang="en-US"/>
        </a:p>
      </dgm:t>
    </dgm:pt>
    <dgm:pt modelId="{E087335D-967F-4A97-BD4E-7FA3AA360A73}" type="sibTrans" cxnId="{A74391F7-0947-468D-81EE-3C1D8CCF4C26}">
      <dgm:prSet/>
      <dgm:spPr/>
      <dgm:t>
        <a:bodyPr/>
        <a:lstStyle/>
        <a:p>
          <a:endParaRPr lang="en-US"/>
        </a:p>
      </dgm:t>
    </dgm:pt>
    <dgm:pt modelId="{3FB5082D-2208-4228-BA17-C13217C05237}">
      <dgm:prSet custT="1"/>
      <dgm:spPr/>
      <dgm:t>
        <a:bodyPr/>
        <a:lstStyle/>
        <a:p>
          <a:r>
            <a:rPr lang="en-GB" sz="2400">
              <a:latin typeface="Calibri" panose="020F0502020204030204" pitchFamily="34" charset="0"/>
              <a:cs typeface="Calibri" panose="020F0502020204030204" pitchFamily="34" charset="0"/>
            </a:rPr>
            <a:t>Soil carbon enrichment</a:t>
          </a:r>
          <a:endParaRPr lang="en-US" sz="2400">
            <a:latin typeface="Calibri" panose="020F0502020204030204" pitchFamily="34" charset="0"/>
            <a:cs typeface="Calibri" panose="020F0502020204030204" pitchFamily="34" charset="0"/>
          </a:endParaRPr>
        </a:p>
      </dgm:t>
    </dgm:pt>
    <dgm:pt modelId="{746D224E-75DE-4E08-854A-FD89E8447AED}" type="parTrans" cxnId="{5BE77792-D413-4F5A-B58D-63EE3156EFB0}">
      <dgm:prSet/>
      <dgm:spPr/>
      <dgm:t>
        <a:bodyPr/>
        <a:lstStyle/>
        <a:p>
          <a:endParaRPr lang="en-US"/>
        </a:p>
      </dgm:t>
    </dgm:pt>
    <dgm:pt modelId="{7CEE8444-F4C4-4712-B79A-9538E7F258D9}" type="sibTrans" cxnId="{5BE77792-D413-4F5A-B58D-63EE3156EFB0}">
      <dgm:prSet/>
      <dgm:spPr/>
      <dgm:t>
        <a:bodyPr/>
        <a:lstStyle/>
        <a:p>
          <a:endParaRPr lang="en-US"/>
        </a:p>
      </dgm:t>
    </dgm:pt>
    <dgm:pt modelId="{B0FA9CC7-22A0-4332-84D5-27B1598C8FDB}">
      <dgm:prSet custT="1"/>
      <dgm:spPr/>
      <dgm:t>
        <a:bodyPr/>
        <a:lstStyle/>
        <a:p>
          <a:r>
            <a:rPr lang="en-GB" sz="2400">
              <a:latin typeface="Calibri" panose="020F0502020204030204" pitchFamily="34" charset="0"/>
              <a:cs typeface="Calibri" panose="020F0502020204030204" pitchFamily="34" charset="0"/>
            </a:rPr>
            <a:t>Ocean iron fertilisation (OIF)</a:t>
          </a:r>
          <a:endParaRPr lang="en-US" sz="2400">
            <a:latin typeface="Calibri" panose="020F0502020204030204" pitchFamily="34" charset="0"/>
            <a:cs typeface="Calibri" panose="020F0502020204030204" pitchFamily="34" charset="0"/>
          </a:endParaRPr>
        </a:p>
      </dgm:t>
    </dgm:pt>
    <dgm:pt modelId="{EB3F2326-41E3-43B2-8F16-05ED6A81CE56}" type="parTrans" cxnId="{39BFF88C-19F2-4515-910A-36F8D69BDD07}">
      <dgm:prSet/>
      <dgm:spPr/>
      <dgm:t>
        <a:bodyPr/>
        <a:lstStyle/>
        <a:p>
          <a:endParaRPr lang="en-US"/>
        </a:p>
      </dgm:t>
    </dgm:pt>
    <dgm:pt modelId="{650D0227-7619-4E3C-AE6E-CF2AA6930C6B}" type="sibTrans" cxnId="{39BFF88C-19F2-4515-910A-36F8D69BDD07}">
      <dgm:prSet/>
      <dgm:spPr/>
      <dgm:t>
        <a:bodyPr/>
        <a:lstStyle/>
        <a:p>
          <a:endParaRPr lang="en-US"/>
        </a:p>
      </dgm:t>
    </dgm:pt>
    <dgm:pt modelId="{61A15497-CA56-4178-A941-E86C27BC69A0}">
      <dgm:prSet custT="1"/>
      <dgm:spPr/>
      <dgm:t>
        <a:bodyPr/>
        <a:lstStyle/>
        <a:p>
          <a:r>
            <a:rPr lang="en-GB" sz="2400">
              <a:latin typeface="Calibri" panose="020F0502020204030204" pitchFamily="34" charset="0"/>
              <a:cs typeface="Calibri" panose="020F0502020204030204" pitchFamily="34" charset="0"/>
            </a:rPr>
            <a:t>Enhanced weathering and ocean alkalinisation</a:t>
          </a:r>
          <a:endParaRPr lang="en-US" sz="2400">
            <a:latin typeface="Calibri" panose="020F0502020204030204" pitchFamily="34" charset="0"/>
            <a:cs typeface="Calibri" panose="020F0502020204030204" pitchFamily="34" charset="0"/>
          </a:endParaRPr>
        </a:p>
      </dgm:t>
    </dgm:pt>
    <dgm:pt modelId="{BD831A7D-D294-4615-9341-36B006DE827F}" type="parTrans" cxnId="{421D306C-178F-42B3-9755-057FE5C1EED3}">
      <dgm:prSet/>
      <dgm:spPr/>
      <dgm:t>
        <a:bodyPr/>
        <a:lstStyle/>
        <a:p>
          <a:endParaRPr lang="en-US"/>
        </a:p>
      </dgm:t>
    </dgm:pt>
    <dgm:pt modelId="{902CE454-942A-4135-915F-4550C6ED50AA}" type="sibTrans" cxnId="{421D306C-178F-42B3-9755-057FE5C1EED3}">
      <dgm:prSet/>
      <dgm:spPr/>
      <dgm:t>
        <a:bodyPr/>
        <a:lstStyle/>
        <a:p>
          <a:endParaRPr lang="en-US"/>
        </a:p>
      </dgm:t>
    </dgm:pt>
    <dgm:pt modelId="{14ACF912-573C-434B-BB1A-45C1FE1E2E64}">
      <dgm:prSet custT="1"/>
      <dgm:spPr/>
      <dgm:t>
        <a:bodyPr/>
        <a:lstStyle/>
        <a:p>
          <a:r>
            <a:rPr lang="en-GB" sz="2400">
              <a:latin typeface="Calibri" panose="020F0502020204030204" pitchFamily="34" charset="0"/>
              <a:cs typeface="Calibri" panose="020F0502020204030204" pitchFamily="34" charset="0"/>
            </a:rPr>
            <a:t>Space mirrors</a:t>
          </a:r>
          <a:endParaRPr lang="en-US" sz="2400">
            <a:latin typeface="Calibri" panose="020F0502020204030204" pitchFamily="34" charset="0"/>
            <a:cs typeface="Calibri" panose="020F0502020204030204" pitchFamily="34" charset="0"/>
          </a:endParaRPr>
        </a:p>
      </dgm:t>
    </dgm:pt>
    <dgm:pt modelId="{6481129F-AA1E-4D1D-98D0-BFF8FB0375DD}" type="parTrans" cxnId="{33A94E38-974C-4C87-B94B-B0253A3C4BCE}">
      <dgm:prSet/>
      <dgm:spPr/>
      <dgm:t>
        <a:bodyPr/>
        <a:lstStyle/>
        <a:p>
          <a:endParaRPr lang="en-US"/>
        </a:p>
      </dgm:t>
    </dgm:pt>
    <dgm:pt modelId="{3AF45D6F-7B6A-4DE0-8576-0FA9C3F41AF9}" type="sibTrans" cxnId="{33A94E38-974C-4C87-B94B-B0253A3C4BCE}">
      <dgm:prSet/>
      <dgm:spPr/>
      <dgm:t>
        <a:bodyPr/>
        <a:lstStyle/>
        <a:p>
          <a:endParaRPr lang="en-US"/>
        </a:p>
      </dgm:t>
    </dgm:pt>
    <dgm:pt modelId="{DC40A65E-A227-49A0-B5BA-A599B418D7EC}">
      <dgm:prSet custT="1"/>
      <dgm:spPr/>
      <dgm:t>
        <a:bodyPr/>
        <a:lstStyle/>
        <a:p>
          <a:r>
            <a:rPr lang="en-GB" sz="2400">
              <a:latin typeface="Calibri" panose="020F0502020204030204" pitchFamily="34" charset="0"/>
              <a:cs typeface="Calibri" panose="020F0502020204030204" pitchFamily="34" charset="0"/>
            </a:rPr>
            <a:t>Stratospheric aerosol injection (SAI)</a:t>
          </a:r>
          <a:endParaRPr lang="en-US" sz="2400">
            <a:latin typeface="Calibri" panose="020F0502020204030204" pitchFamily="34" charset="0"/>
            <a:cs typeface="Calibri" panose="020F0502020204030204" pitchFamily="34" charset="0"/>
          </a:endParaRPr>
        </a:p>
      </dgm:t>
    </dgm:pt>
    <dgm:pt modelId="{E7C27E20-41C8-4D76-8461-A7E2D4B25204}" type="parTrans" cxnId="{CEC92701-A111-4E7E-9261-8F7A31EA5EC4}">
      <dgm:prSet/>
      <dgm:spPr/>
      <dgm:t>
        <a:bodyPr/>
        <a:lstStyle/>
        <a:p>
          <a:endParaRPr lang="en-US"/>
        </a:p>
      </dgm:t>
    </dgm:pt>
    <dgm:pt modelId="{76B787F0-7BAE-4BE2-A19D-6C720CE382C1}" type="sibTrans" cxnId="{CEC92701-A111-4E7E-9261-8F7A31EA5EC4}">
      <dgm:prSet/>
      <dgm:spPr/>
      <dgm:t>
        <a:bodyPr/>
        <a:lstStyle/>
        <a:p>
          <a:endParaRPr lang="en-US"/>
        </a:p>
      </dgm:t>
    </dgm:pt>
    <dgm:pt modelId="{6B2BE5D4-509F-4F69-9837-7BE88548C706}">
      <dgm:prSet custT="1"/>
      <dgm:spPr/>
      <dgm:t>
        <a:bodyPr/>
        <a:lstStyle/>
        <a:p>
          <a:r>
            <a:rPr lang="en-GB" sz="2400" dirty="0">
              <a:latin typeface="Calibri" panose="020F0502020204030204" pitchFamily="34" charset="0"/>
              <a:cs typeface="Calibri" panose="020F0502020204030204" pitchFamily="34" charset="0"/>
            </a:rPr>
            <a:t>Cirrus cloud thinning (CCT)</a:t>
          </a:r>
          <a:endParaRPr lang="en-US" sz="2400" dirty="0">
            <a:latin typeface="Calibri" panose="020F0502020204030204" pitchFamily="34" charset="0"/>
            <a:cs typeface="Calibri" panose="020F0502020204030204" pitchFamily="34" charset="0"/>
          </a:endParaRPr>
        </a:p>
      </dgm:t>
    </dgm:pt>
    <dgm:pt modelId="{D3E07075-AB05-4F35-92D0-AEFE8C97D6BF}" type="parTrans" cxnId="{436A8CAC-B8FC-4130-9BE8-1C864DAE4F00}">
      <dgm:prSet/>
      <dgm:spPr/>
      <dgm:t>
        <a:bodyPr/>
        <a:lstStyle/>
        <a:p>
          <a:endParaRPr lang="en-US"/>
        </a:p>
      </dgm:t>
    </dgm:pt>
    <dgm:pt modelId="{F2B2144B-F940-4E9A-BD8C-DB5D19984B02}" type="sibTrans" cxnId="{436A8CAC-B8FC-4130-9BE8-1C864DAE4F00}">
      <dgm:prSet/>
      <dgm:spPr/>
      <dgm:t>
        <a:bodyPr/>
        <a:lstStyle/>
        <a:p>
          <a:endParaRPr lang="en-US"/>
        </a:p>
      </dgm:t>
    </dgm:pt>
    <dgm:pt modelId="{D5108C88-4B78-43B4-A499-E5B8476CFBED}">
      <dgm:prSet custT="1"/>
      <dgm:spPr/>
      <dgm:t>
        <a:bodyPr/>
        <a:lstStyle/>
        <a:p>
          <a:r>
            <a:rPr lang="en-GB" sz="2400">
              <a:latin typeface="Calibri" panose="020F0502020204030204" pitchFamily="34" charset="0"/>
              <a:cs typeface="Calibri" panose="020F0502020204030204" pitchFamily="34" charset="0"/>
            </a:rPr>
            <a:t>Marine sky brightening (MSB)</a:t>
          </a:r>
          <a:endParaRPr lang="en-US" sz="2400">
            <a:latin typeface="Calibri" panose="020F0502020204030204" pitchFamily="34" charset="0"/>
            <a:cs typeface="Calibri" panose="020F0502020204030204" pitchFamily="34" charset="0"/>
          </a:endParaRPr>
        </a:p>
      </dgm:t>
    </dgm:pt>
    <dgm:pt modelId="{39D24531-0018-4B8D-B0A5-6E8DF6BE6123}" type="parTrans" cxnId="{C4E56F24-998B-4F64-BBCE-3F2ED49AE908}">
      <dgm:prSet/>
      <dgm:spPr/>
      <dgm:t>
        <a:bodyPr/>
        <a:lstStyle/>
        <a:p>
          <a:endParaRPr lang="en-US"/>
        </a:p>
      </dgm:t>
    </dgm:pt>
    <dgm:pt modelId="{555225F0-12C4-4DFC-A7F9-485082373C50}" type="sibTrans" cxnId="{C4E56F24-998B-4F64-BBCE-3F2ED49AE908}">
      <dgm:prSet/>
      <dgm:spPr/>
      <dgm:t>
        <a:bodyPr/>
        <a:lstStyle/>
        <a:p>
          <a:endParaRPr lang="en-US"/>
        </a:p>
      </dgm:t>
    </dgm:pt>
    <dgm:pt modelId="{10EA037C-FA74-4004-BCCF-05A473A7CBA9}">
      <dgm:prSet custT="1"/>
      <dgm:spPr/>
      <dgm:t>
        <a:bodyPr/>
        <a:lstStyle/>
        <a:p>
          <a:r>
            <a:rPr lang="en-GB" sz="2400">
              <a:latin typeface="Calibri" panose="020F0502020204030204" pitchFamily="34" charset="0"/>
              <a:cs typeface="Calibri" panose="020F0502020204030204" pitchFamily="34" charset="0"/>
            </a:rPr>
            <a:t>Surface-based brightening</a:t>
          </a:r>
          <a:endParaRPr lang="en-US" sz="2400">
            <a:latin typeface="Calibri" panose="020F0502020204030204" pitchFamily="34" charset="0"/>
            <a:cs typeface="Calibri" panose="020F0502020204030204" pitchFamily="34" charset="0"/>
          </a:endParaRPr>
        </a:p>
      </dgm:t>
    </dgm:pt>
    <dgm:pt modelId="{FE6598F0-0DEB-424B-80AA-337530DDD82A}" type="parTrans" cxnId="{31ABFF58-5B9D-400D-9C94-C96F3B733E01}">
      <dgm:prSet/>
      <dgm:spPr/>
      <dgm:t>
        <a:bodyPr/>
        <a:lstStyle/>
        <a:p>
          <a:endParaRPr lang="en-US"/>
        </a:p>
      </dgm:t>
    </dgm:pt>
    <dgm:pt modelId="{79636DFA-2680-4728-B2C3-ABD9B8208E6C}" type="sibTrans" cxnId="{31ABFF58-5B9D-400D-9C94-C96F3B733E01}">
      <dgm:prSet/>
      <dgm:spPr/>
      <dgm:t>
        <a:bodyPr/>
        <a:lstStyle/>
        <a:p>
          <a:endParaRPr lang="en-US"/>
        </a:p>
      </dgm:t>
    </dgm:pt>
    <dgm:pt modelId="{8EC489F2-FA17-4DD2-8737-93F0989C52DD}">
      <dgm:prSet custT="1"/>
      <dgm:spPr/>
      <dgm:t>
        <a:bodyPr/>
        <a:lstStyle/>
        <a:p>
          <a:r>
            <a:rPr lang="en-GB" sz="2400" dirty="0">
              <a:latin typeface="Calibri" panose="020F0502020204030204" pitchFamily="34" charset="0"/>
              <a:cs typeface="Calibri" panose="020F0502020204030204" pitchFamily="34" charset="0"/>
            </a:rPr>
            <a:t>Direct air CO</a:t>
          </a:r>
          <a:r>
            <a:rPr lang="en-GB" sz="2400" baseline="-25000" dirty="0">
              <a:latin typeface="Calibri" panose="020F0502020204030204" pitchFamily="34" charset="0"/>
              <a:cs typeface="Calibri" panose="020F0502020204030204" pitchFamily="34" charset="0"/>
            </a:rPr>
            <a:t>2</a:t>
          </a:r>
          <a:r>
            <a:rPr lang="en-GB" sz="2400" dirty="0">
              <a:latin typeface="Calibri" panose="020F0502020204030204" pitchFamily="34" charset="0"/>
              <a:cs typeface="Calibri" panose="020F0502020204030204" pitchFamily="34" charset="0"/>
            </a:rPr>
            <a:t> capture and storage (DACCS)</a:t>
          </a:r>
          <a:endParaRPr lang="en-US" sz="2400" dirty="0">
            <a:latin typeface="Calibri" panose="020F0502020204030204" pitchFamily="34" charset="0"/>
            <a:cs typeface="Calibri" panose="020F0502020204030204" pitchFamily="34" charset="0"/>
          </a:endParaRPr>
        </a:p>
      </dgm:t>
    </dgm:pt>
    <dgm:pt modelId="{60B44878-6139-48A4-B06A-57401FDFE6D0}" type="parTrans" cxnId="{ADD62C9D-8AA4-444B-B58D-36290AE78C39}">
      <dgm:prSet/>
      <dgm:spPr/>
      <dgm:t>
        <a:bodyPr/>
        <a:lstStyle/>
        <a:p>
          <a:endParaRPr lang="en-US"/>
        </a:p>
      </dgm:t>
    </dgm:pt>
    <dgm:pt modelId="{F6814E1A-A58E-456F-9090-80C96C07259C}" type="sibTrans" cxnId="{ADD62C9D-8AA4-444B-B58D-36290AE78C39}">
      <dgm:prSet/>
      <dgm:spPr/>
      <dgm:t>
        <a:bodyPr/>
        <a:lstStyle/>
        <a:p>
          <a:endParaRPr lang="en-US"/>
        </a:p>
      </dgm:t>
    </dgm:pt>
    <dgm:pt modelId="{0F54446D-05E4-AC41-BD73-89E5A142A083}" type="pres">
      <dgm:prSet presAssocID="{382359C2-2C8E-4E6C-A0D7-EA31982294E9}" presName="linear" presStyleCnt="0">
        <dgm:presLayoutVars>
          <dgm:animLvl val="lvl"/>
          <dgm:resizeHandles val="exact"/>
        </dgm:presLayoutVars>
      </dgm:prSet>
      <dgm:spPr/>
    </dgm:pt>
    <dgm:pt modelId="{28BC2CF5-4431-854D-9B99-4EE4BA7F36FB}" type="pres">
      <dgm:prSet presAssocID="{28A0B997-EA22-4D06-9243-88DBC488A8A6}" presName="parentText" presStyleLbl="node1" presStyleIdx="0" presStyleCnt="11">
        <dgm:presLayoutVars>
          <dgm:chMax val="0"/>
          <dgm:bulletEnabled val="1"/>
        </dgm:presLayoutVars>
      </dgm:prSet>
      <dgm:spPr/>
    </dgm:pt>
    <dgm:pt modelId="{C8873F53-0DFF-6D42-8B4B-5A7842C57EF5}" type="pres">
      <dgm:prSet presAssocID="{E4737F13-3C02-42A4-8F42-910450CA1D34}" presName="spacer" presStyleCnt="0"/>
      <dgm:spPr/>
    </dgm:pt>
    <dgm:pt modelId="{B177CE35-0A26-0641-A178-B56A1F71B06B}" type="pres">
      <dgm:prSet presAssocID="{CADC97B1-AA2D-4C0F-863A-35ADF50A64D9}" presName="parentText" presStyleLbl="node1" presStyleIdx="1" presStyleCnt="11">
        <dgm:presLayoutVars>
          <dgm:chMax val="0"/>
          <dgm:bulletEnabled val="1"/>
        </dgm:presLayoutVars>
      </dgm:prSet>
      <dgm:spPr/>
    </dgm:pt>
    <dgm:pt modelId="{85D9DE11-2A8B-C24A-BB63-27F905A13928}" type="pres">
      <dgm:prSet presAssocID="{E087335D-967F-4A97-BD4E-7FA3AA360A73}" presName="spacer" presStyleCnt="0"/>
      <dgm:spPr/>
    </dgm:pt>
    <dgm:pt modelId="{C8776740-D162-D142-93E1-D3BAD8C0F46C}" type="pres">
      <dgm:prSet presAssocID="{3FB5082D-2208-4228-BA17-C13217C05237}" presName="parentText" presStyleLbl="node1" presStyleIdx="2" presStyleCnt="11">
        <dgm:presLayoutVars>
          <dgm:chMax val="0"/>
          <dgm:bulletEnabled val="1"/>
        </dgm:presLayoutVars>
      </dgm:prSet>
      <dgm:spPr/>
    </dgm:pt>
    <dgm:pt modelId="{CDB80D1E-6678-0746-9169-20EBD853B931}" type="pres">
      <dgm:prSet presAssocID="{7CEE8444-F4C4-4712-B79A-9538E7F258D9}" presName="spacer" presStyleCnt="0"/>
      <dgm:spPr/>
    </dgm:pt>
    <dgm:pt modelId="{39F089F5-1E66-C043-8489-FE21C41EB8D3}" type="pres">
      <dgm:prSet presAssocID="{B0FA9CC7-22A0-4332-84D5-27B1598C8FDB}" presName="parentText" presStyleLbl="node1" presStyleIdx="3" presStyleCnt="11">
        <dgm:presLayoutVars>
          <dgm:chMax val="0"/>
          <dgm:bulletEnabled val="1"/>
        </dgm:presLayoutVars>
      </dgm:prSet>
      <dgm:spPr/>
    </dgm:pt>
    <dgm:pt modelId="{D7C62D56-76EF-A64F-8559-6230D126BC3A}" type="pres">
      <dgm:prSet presAssocID="{650D0227-7619-4E3C-AE6E-CF2AA6930C6B}" presName="spacer" presStyleCnt="0"/>
      <dgm:spPr/>
    </dgm:pt>
    <dgm:pt modelId="{D691D4BC-BBAD-E441-AE7B-7EA0C413FB24}" type="pres">
      <dgm:prSet presAssocID="{61A15497-CA56-4178-A941-E86C27BC69A0}" presName="parentText" presStyleLbl="node1" presStyleIdx="4" presStyleCnt="11">
        <dgm:presLayoutVars>
          <dgm:chMax val="0"/>
          <dgm:bulletEnabled val="1"/>
        </dgm:presLayoutVars>
      </dgm:prSet>
      <dgm:spPr/>
    </dgm:pt>
    <dgm:pt modelId="{F27CE331-4C81-3546-8D70-DBEAB102BC12}" type="pres">
      <dgm:prSet presAssocID="{902CE454-942A-4135-915F-4550C6ED50AA}" presName="spacer" presStyleCnt="0"/>
      <dgm:spPr/>
    </dgm:pt>
    <dgm:pt modelId="{05C1D751-0CFA-4A4A-82FB-CEBFAE2ED32E}" type="pres">
      <dgm:prSet presAssocID="{14ACF912-573C-434B-BB1A-45C1FE1E2E64}" presName="parentText" presStyleLbl="node1" presStyleIdx="5" presStyleCnt="11">
        <dgm:presLayoutVars>
          <dgm:chMax val="0"/>
          <dgm:bulletEnabled val="1"/>
        </dgm:presLayoutVars>
      </dgm:prSet>
      <dgm:spPr/>
    </dgm:pt>
    <dgm:pt modelId="{2984403B-919E-A146-9A55-333E84C86647}" type="pres">
      <dgm:prSet presAssocID="{3AF45D6F-7B6A-4DE0-8576-0FA9C3F41AF9}" presName="spacer" presStyleCnt="0"/>
      <dgm:spPr/>
    </dgm:pt>
    <dgm:pt modelId="{91E193AC-07C5-9242-867F-B235046CFD45}" type="pres">
      <dgm:prSet presAssocID="{DC40A65E-A227-49A0-B5BA-A599B418D7EC}" presName="parentText" presStyleLbl="node1" presStyleIdx="6" presStyleCnt="11">
        <dgm:presLayoutVars>
          <dgm:chMax val="0"/>
          <dgm:bulletEnabled val="1"/>
        </dgm:presLayoutVars>
      </dgm:prSet>
      <dgm:spPr/>
    </dgm:pt>
    <dgm:pt modelId="{0244AF61-E53D-0447-B95E-0741AAA4AB29}" type="pres">
      <dgm:prSet presAssocID="{76B787F0-7BAE-4BE2-A19D-6C720CE382C1}" presName="spacer" presStyleCnt="0"/>
      <dgm:spPr/>
    </dgm:pt>
    <dgm:pt modelId="{96EEEC37-5BC4-F348-A8B2-8F898E6FA1E1}" type="pres">
      <dgm:prSet presAssocID="{6B2BE5D4-509F-4F69-9837-7BE88548C706}" presName="parentText" presStyleLbl="node1" presStyleIdx="7" presStyleCnt="11">
        <dgm:presLayoutVars>
          <dgm:chMax val="0"/>
          <dgm:bulletEnabled val="1"/>
        </dgm:presLayoutVars>
      </dgm:prSet>
      <dgm:spPr/>
    </dgm:pt>
    <dgm:pt modelId="{BDAC1E64-614A-1E4F-A90C-EA0BD6131230}" type="pres">
      <dgm:prSet presAssocID="{F2B2144B-F940-4E9A-BD8C-DB5D19984B02}" presName="spacer" presStyleCnt="0"/>
      <dgm:spPr/>
    </dgm:pt>
    <dgm:pt modelId="{CAFC33B2-7FA5-5B48-8197-D6BA1EC7A44C}" type="pres">
      <dgm:prSet presAssocID="{D5108C88-4B78-43B4-A499-E5B8476CFBED}" presName="parentText" presStyleLbl="node1" presStyleIdx="8" presStyleCnt="11">
        <dgm:presLayoutVars>
          <dgm:chMax val="0"/>
          <dgm:bulletEnabled val="1"/>
        </dgm:presLayoutVars>
      </dgm:prSet>
      <dgm:spPr/>
    </dgm:pt>
    <dgm:pt modelId="{6E8DD522-F155-1A45-978B-9FE1B47778F8}" type="pres">
      <dgm:prSet presAssocID="{555225F0-12C4-4DFC-A7F9-485082373C50}" presName="spacer" presStyleCnt="0"/>
      <dgm:spPr/>
    </dgm:pt>
    <dgm:pt modelId="{E5E86166-C416-B84D-8767-63154A5E6A03}" type="pres">
      <dgm:prSet presAssocID="{10EA037C-FA74-4004-BCCF-05A473A7CBA9}" presName="parentText" presStyleLbl="node1" presStyleIdx="9" presStyleCnt="11">
        <dgm:presLayoutVars>
          <dgm:chMax val="0"/>
          <dgm:bulletEnabled val="1"/>
        </dgm:presLayoutVars>
      </dgm:prSet>
      <dgm:spPr/>
    </dgm:pt>
    <dgm:pt modelId="{A3577242-26B8-7945-8EAC-3A7ED076DB2A}" type="pres">
      <dgm:prSet presAssocID="{79636DFA-2680-4728-B2C3-ABD9B8208E6C}" presName="spacer" presStyleCnt="0"/>
      <dgm:spPr/>
    </dgm:pt>
    <dgm:pt modelId="{AD545E1F-AA3C-5B49-BEDC-1F0D3A401CE8}" type="pres">
      <dgm:prSet presAssocID="{8EC489F2-FA17-4DD2-8737-93F0989C52DD}" presName="parentText" presStyleLbl="node1" presStyleIdx="10" presStyleCnt="11">
        <dgm:presLayoutVars>
          <dgm:chMax val="0"/>
          <dgm:bulletEnabled val="1"/>
        </dgm:presLayoutVars>
      </dgm:prSet>
      <dgm:spPr/>
    </dgm:pt>
  </dgm:ptLst>
  <dgm:cxnLst>
    <dgm:cxn modelId="{CEC92701-A111-4E7E-9261-8F7A31EA5EC4}" srcId="{382359C2-2C8E-4E6C-A0D7-EA31982294E9}" destId="{DC40A65E-A227-49A0-B5BA-A599B418D7EC}" srcOrd="6" destOrd="0" parTransId="{E7C27E20-41C8-4D76-8461-A7E2D4B25204}" sibTransId="{76B787F0-7BAE-4BE2-A19D-6C720CE382C1}"/>
    <dgm:cxn modelId="{7EF7B60A-57DE-4587-9F1C-401AB9851FEC}" srcId="{382359C2-2C8E-4E6C-A0D7-EA31982294E9}" destId="{28A0B997-EA22-4D06-9243-88DBC488A8A6}" srcOrd="0" destOrd="0" parTransId="{3C41AFAF-0A5C-4E61-BAB2-BF054E558AA1}" sibTransId="{E4737F13-3C02-42A4-8F42-910450CA1D34}"/>
    <dgm:cxn modelId="{C4E56F24-998B-4F64-BBCE-3F2ED49AE908}" srcId="{382359C2-2C8E-4E6C-A0D7-EA31982294E9}" destId="{D5108C88-4B78-43B4-A499-E5B8476CFBED}" srcOrd="8" destOrd="0" parTransId="{39D24531-0018-4B8D-B0A5-6E8DF6BE6123}" sibTransId="{555225F0-12C4-4DFC-A7F9-485082373C50}"/>
    <dgm:cxn modelId="{6CA2F524-1707-E240-AECE-AF0CD4F6088F}" type="presOf" srcId="{8EC489F2-FA17-4DD2-8737-93F0989C52DD}" destId="{AD545E1F-AA3C-5B49-BEDC-1F0D3A401CE8}" srcOrd="0" destOrd="0" presId="urn:microsoft.com/office/officeart/2005/8/layout/vList2"/>
    <dgm:cxn modelId="{33A94E38-974C-4C87-B94B-B0253A3C4BCE}" srcId="{382359C2-2C8E-4E6C-A0D7-EA31982294E9}" destId="{14ACF912-573C-434B-BB1A-45C1FE1E2E64}" srcOrd="5" destOrd="0" parTransId="{6481129F-AA1E-4D1D-98D0-BFF8FB0375DD}" sibTransId="{3AF45D6F-7B6A-4DE0-8576-0FA9C3F41AF9}"/>
    <dgm:cxn modelId="{E4A01645-EE0F-0946-BF2B-8D5513F57323}" type="presOf" srcId="{10EA037C-FA74-4004-BCCF-05A473A7CBA9}" destId="{E5E86166-C416-B84D-8767-63154A5E6A03}" srcOrd="0" destOrd="0" presId="urn:microsoft.com/office/officeart/2005/8/layout/vList2"/>
    <dgm:cxn modelId="{31ABFF58-5B9D-400D-9C94-C96F3B733E01}" srcId="{382359C2-2C8E-4E6C-A0D7-EA31982294E9}" destId="{10EA037C-FA74-4004-BCCF-05A473A7CBA9}" srcOrd="9" destOrd="0" parTransId="{FE6598F0-0DEB-424B-80AA-337530DDD82A}" sibTransId="{79636DFA-2680-4728-B2C3-ABD9B8208E6C}"/>
    <dgm:cxn modelId="{421D306C-178F-42B3-9755-057FE5C1EED3}" srcId="{382359C2-2C8E-4E6C-A0D7-EA31982294E9}" destId="{61A15497-CA56-4178-A941-E86C27BC69A0}" srcOrd="4" destOrd="0" parTransId="{BD831A7D-D294-4615-9341-36B006DE827F}" sibTransId="{902CE454-942A-4135-915F-4550C6ED50AA}"/>
    <dgm:cxn modelId="{40910278-7C98-BA4A-A704-5176E7CD10E4}" type="presOf" srcId="{DC40A65E-A227-49A0-B5BA-A599B418D7EC}" destId="{91E193AC-07C5-9242-867F-B235046CFD45}" srcOrd="0" destOrd="0" presId="urn:microsoft.com/office/officeart/2005/8/layout/vList2"/>
    <dgm:cxn modelId="{9065A17A-E628-9447-98C1-3683C387B574}" type="presOf" srcId="{CADC97B1-AA2D-4C0F-863A-35ADF50A64D9}" destId="{B177CE35-0A26-0641-A178-B56A1F71B06B}" srcOrd="0" destOrd="0" presId="urn:microsoft.com/office/officeart/2005/8/layout/vList2"/>
    <dgm:cxn modelId="{F87AD787-F18A-9846-B365-333E8ECDD1D5}" type="presOf" srcId="{D5108C88-4B78-43B4-A499-E5B8476CFBED}" destId="{CAFC33B2-7FA5-5B48-8197-D6BA1EC7A44C}" srcOrd="0" destOrd="0" presId="urn:microsoft.com/office/officeart/2005/8/layout/vList2"/>
    <dgm:cxn modelId="{A75E448C-299A-614F-999A-1AF148CE6AE5}" type="presOf" srcId="{B0FA9CC7-22A0-4332-84D5-27B1598C8FDB}" destId="{39F089F5-1E66-C043-8489-FE21C41EB8D3}" srcOrd="0" destOrd="0" presId="urn:microsoft.com/office/officeart/2005/8/layout/vList2"/>
    <dgm:cxn modelId="{39BFF88C-19F2-4515-910A-36F8D69BDD07}" srcId="{382359C2-2C8E-4E6C-A0D7-EA31982294E9}" destId="{B0FA9CC7-22A0-4332-84D5-27B1598C8FDB}" srcOrd="3" destOrd="0" parTransId="{EB3F2326-41E3-43B2-8F16-05ED6A81CE56}" sibTransId="{650D0227-7619-4E3C-AE6E-CF2AA6930C6B}"/>
    <dgm:cxn modelId="{3DC84D8F-B48E-D143-B929-8AA43CA70681}" type="presOf" srcId="{382359C2-2C8E-4E6C-A0D7-EA31982294E9}" destId="{0F54446D-05E4-AC41-BD73-89E5A142A083}" srcOrd="0" destOrd="0" presId="urn:microsoft.com/office/officeart/2005/8/layout/vList2"/>
    <dgm:cxn modelId="{5BE77792-D413-4F5A-B58D-63EE3156EFB0}" srcId="{382359C2-2C8E-4E6C-A0D7-EA31982294E9}" destId="{3FB5082D-2208-4228-BA17-C13217C05237}" srcOrd="2" destOrd="0" parTransId="{746D224E-75DE-4E08-854A-FD89E8447AED}" sibTransId="{7CEE8444-F4C4-4712-B79A-9538E7F258D9}"/>
    <dgm:cxn modelId="{ADD62C9D-8AA4-444B-B58D-36290AE78C39}" srcId="{382359C2-2C8E-4E6C-A0D7-EA31982294E9}" destId="{8EC489F2-FA17-4DD2-8737-93F0989C52DD}" srcOrd="10" destOrd="0" parTransId="{60B44878-6139-48A4-B06A-57401FDFE6D0}" sibTransId="{F6814E1A-A58E-456F-9090-80C96C07259C}"/>
    <dgm:cxn modelId="{436A8CAC-B8FC-4130-9BE8-1C864DAE4F00}" srcId="{382359C2-2C8E-4E6C-A0D7-EA31982294E9}" destId="{6B2BE5D4-509F-4F69-9837-7BE88548C706}" srcOrd="7" destOrd="0" parTransId="{D3E07075-AB05-4F35-92D0-AEFE8C97D6BF}" sibTransId="{F2B2144B-F940-4E9A-BD8C-DB5D19984B02}"/>
    <dgm:cxn modelId="{1D5F56AE-867C-3549-9D18-5DCF36369B4C}" type="presOf" srcId="{61A15497-CA56-4178-A941-E86C27BC69A0}" destId="{D691D4BC-BBAD-E441-AE7B-7EA0C413FB24}" srcOrd="0" destOrd="0" presId="urn:microsoft.com/office/officeart/2005/8/layout/vList2"/>
    <dgm:cxn modelId="{F2FA21B5-FB7C-EB40-BCB7-0B2C2944CC42}" type="presOf" srcId="{6B2BE5D4-509F-4F69-9837-7BE88548C706}" destId="{96EEEC37-5BC4-F348-A8B2-8F898E6FA1E1}" srcOrd="0" destOrd="0" presId="urn:microsoft.com/office/officeart/2005/8/layout/vList2"/>
    <dgm:cxn modelId="{70517BC0-6F6C-9C4E-89ED-9E96951381D9}" type="presOf" srcId="{28A0B997-EA22-4D06-9243-88DBC488A8A6}" destId="{28BC2CF5-4431-854D-9B99-4EE4BA7F36FB}" srcOrd="0" destOrd="0" presId="urn:microsoft.com/office/officeart/2005/8/layout/vList2"/>
    <dgm:cxn modelId="{5D81EFDF-88DE-FB42-BE94-9FEB284D3253}" type="presOf" srcId="{14ACF912-573C-434B-BB1A-45C1FE1E2E64}" destId="{05C1D751-0CFA-4A4A-82FB-CEBFAE2ED32E}" srcOrd="0" destOrd="0" presId="urn:microsoft.com/office/officeart/2005/8/layout/vList2"/>
    <dgm:cxn modelId="{36D58EEE-3586-F34C-A3B4-34041D159EB4}" type="presOf" srcId="{3FB5082D-2208-4228-BA17-C13217C05237}" destId="{C8776740-D162-D142-93E1-D3BAD8C0F46C}" srcOrd="0" destOrd="0" presId="urn:microsoft.com/office/officeart/2005/8/layout/vList2"/>
    <dgm:cxn modelId="{A74391F7-0947-468D-81EE-3C1D8CCF4C26}" srcId="{382359C2-2C8E-4E6C-A0D7-EA31982294E9}" destId="{CADC97B1-AA2D-4C0F-863A-35ADF50A64D9}" srcOrd="1" destOrd="0" parTransId="{FDCE9270-499D-4D52-948E-479DC6613065}" sibTransId="{E087335D-967F-4A97-BD4E-7FA3AA360A73}"/>
    <dgm:cxn modelId="{5CC960CA-D9DC-CB4E-A346-2909A0F419A8}" type="presParOf" srcId="{0F54446D-05E4-AC41-BD73-89E5A142A083}" destId="{28BC2CF5-4431-854D-9B99-4EE4BA7F36FB}" srcOrd="0" destOrd="0" presId="urn:microsoft.com/office/officeart/2005/8/layout/vList2"/>
    <dgm:cxn modelId="{F25222D7-DFBD-8A4A-94FA-07B36A4B3B7F}" type="presParOf" srcId="{0F54446D-05E4-AC41-BD73-89E5A142A083}" destId="{C8873F53-0DFF-6D42-8B4B-5A7842C57EF5}" srcOrd="1" destOrd="0" presId="urn:microsoft.com/office/officeart/2005/8/layout/vList2"/>
    <dgm:cxn modelId="{8B1DDF68-DA77-3E4F-9276-20DE22720B57}" type="presParOf" srcId="{0F54446D-05E4-AC41-BD73-89E5A142A083}" destId="{B177CE35-0A26-0641-A178-B56A1F71B06B}" srcOrd="2" destOrd="0" presId="urn:microsoft.com/office/officeart/2005/8/layout/vList2"/>
    <dgm:cxn modelId="{A745ABBE-E2D1-FF48-B421-32131EF669D5}" type="presParOf" srcId="{0F54446D-05E4-AC41-BD73-89E5A142A083}" destId="{85D9DE11-2A8B-C24A-BB63-27F905A13928}" srcOrd="3" destOrd="0" presId="urn:microsoft.com/office/officeart/2005/8/layout/vList2"/>
    <dgm:cxn modelId="{191A36CC-9E80-B044-8921-CB14D72DCB75}" type="presParOf" srcId="{0F54446D-05E4-AC41-BD73-89E5A142A083}" destId="{C8776740-D162-D142-93E1-D3BAD8C0F46C}" srcOrd="4" destOrd="0" presId="urn:microsoft.com/office/officeart/2005/8/layout/vList2"/>
    <dgm:cxn modelId="{971E0522-6BBA-4546-9F85-65E57D590E58}" type="presParOf" srcId="{0F54446D-05E4-AC41-BD73-89E5A142A083}" destId="{CDB80D1E-6678-0746-9169-20EBD853B931}" srcOrd="5" destOrd="0" presId="urn:microsoft.com/office/officeart/2005/8/layout/vList2"/>
    <dgm:cxn modelId="{13A846C8-A304-AA4D-AE0E-ADC92E0F9AAF}" type="presParOf" srcId="{0F54446D-05E4-AC41-BD73-89E5A142A083}" destId="{39F089F5-1E66-C043-8489-FE21C41EB8D3}" srcOrd="6" destOrd="0" presId="urn:microsoft.com/office/officeart/2005/8/layout/vList2"/>
    <dgm:cxn modelId="{AB5254FC-2310-8343-99C5-CDC81B7949B9}" type="presParOf" srcId="{0F54446D-05E4-AC41-BD73-89E5A142A083}" destId="{D7C62D56-76EF-A64F-8559-6230D126BC3A}" srcOrd="7" destOrd="0" presId="urn:microsoft.com/office/officeart/2005/8/layout/vList2"/>
    <dgm:cxn modelId="{F6558C75-1C3F-5E40-8A92-BC2CAED05575}" type="presParOf" srcId="{0F54446D-05E4-AC41-BD73-89E5A142A083}" destId="{D691D4BC-BBAD-E441-AE7B-7EA0C413FB24}" srcOrd="8" destOrd="0" presId="urn:microsoft.com/office/officeart/2005/8/layout/vList2"/>
    <dgm:cxn modelId="{7C871AAC-843D-294B-9599-EBDA9C559D0D}" type="presParOf" srcId="{0F54446D-05E4-AC41-BD73-89E5A142A083}" destId="{F27CE331-4C81-3546-8D70-DBEAB102BC12}" srcOrd="9" destOrd="0" presId="urn:microsoft.com/office/officeart/2005/8/layout/vList2"/>
    <dgm:cxn modelId="{0DE06647-786E-5344-967D-53000B8F2430}" type="presParOf" srcId="{0F54446D-05E4-AC41-BD73-89E5A142A083}" destId="{05C1D751-0CFA-4A4A-82FB-CEBFAE2ED32E}" srcOrd="10" destOrd="0" presId="urn:microsoft.com/office/officeart/2005/8/layout/vList2"/>
    <dgm:cxn modelId="{C7A92C7B-7192-B54F-858E-2AD5A5869704}" type="presParOf" srcId="{0F54446D-05E4-AC41-BD73-89E5A142A083}" destId="{2984403B-919E-A146-9A55-333E84C86647}" srcOrd="11" destOrd="0" presId="urn:microsoft.com/office/officeart/2005/8/layout/vList2"/>
    <dgm:cxn modelId="{4C7AB3AE-8ACC-9441-A233-1804966F0322}" type="presParOf" srcId="{0F54446D-05E4-AC41-BD73-89E5A142A083}" destId="{91E193AC-07C5-9242-867F-B235046CFD45}" srcOrd="12" destOrd="0" presId="urn:microsoft.com/office/officeart/2005/8/layout/vList2"/>
    <dgm:cxn modelId="{5AECC492-987E-0E48-AFA1-498A5008944D}" type="presParOf" srcId="{0F54446D-05E4-AC41-BD73-89E5A142A083}" destId="{0244AF61-E53D-0447-B95E-0741AAA4AB29}" srcOrd="13" destOrd="0" presId="urn:microsoft.com/office/officeart/2005/8/layout/vList2"/>
    <dgm:cxn modelId="{9D56A2C0-EC92-AA4F-BAD0-914B8CD9616B}" type="presParOf" srcId="{0F54446D-05E4-AC41-BD73-89E5A142A083}" destId="{96EEEC37-5BC4-F348-A8B2-8F898E6FA1E1}" srcOrd="14" destOrd="0" presId="urn:microsoft.com/office/officeart/2005/8/layout/vList2"/>
    <dgm:cxn modelId="{F8ED4171-C89F-124D-BD4C-B3E2DD1A5D7B}" type="presParOf" srcId="{0F54446D-05E4-AC41-BD73-89E5A142A083}" destId="{BDAC1E64-614A-1E4F-A90C-EA0BD6131230}" srcOrd="15" destOrd="0" presId="urn:microsoft.com/office/officeart/2005/8/layout/vList2"/>
    <dgm:cxn modelId="{169937F2-6530-F647-9673-C39A9C0B8D91}" type="presParOf" srcId="{0F54446D-05E4-AC41-BD73-89E5A142A083}" destId="{CAFC33B2-7FA5-5B48-8197-D6BA1EC7A44C}" srcOrd="16" destOrd="0" presId="urn:microsoft.com/office/officeart/2005/8/layout/vList2"/>
    <dgm:cxn modelId="{EAB35B6E-BCBC-6248-B903-32F35596DF74}" type="presParOf" srcId="{0F54446D-05E4-AC41-BD73-89E5A142A083}" destId="{6E8DD522-F155-1A45-978B-9FE1B47778F8}" srcOrd="17" destOrd="0" presId="urn:microsoft.com/office/officeart/2005/8/layout/vList2"/>
    <dgm:cxn modelId="{5FABEFB5-B906-3542-8A0D-D64D6BDBCF88}" type="presParOf" srcId="{0F54446D-05E4-AC41-BD73-89E5A142A083}" destId="{E5E86166-C416-B84D-8767-63154A5E6A03}" srcOrd="18" destOrd="0" presId="urn:microsoft.com/office/officeart/2005/8/layout/vList2"/>
    <dgm:cxn modelId="{4CFCEA54-32A4-DF46-BE53-DF8222C16CCD}" type="presParOf" srcId="{0F54446D-05E4-AC41-BD73-89E5A142A083}" destId="{A3577242-26B8-7945-8EAC-3A7ED076DB2A}" srcOrd="19" destOrd="0" presId="urn:microsoft.com/office/officeart/2005/8/layout/vList2"/>
    <dgm:cxn modelId="{61DE79A1-2C73-3A4C-A576-C880AFBA235C}" type="presParOf" srcId="{0F54446D-05E4-AC41-BD73-89E5A142A083}" destId="{AD545E1F-AA3C-5B49-BEDC-1F0D3A401CE8}" srcOrd="2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C0B252-9B99-8E4A-B89C-C19DAB0C4DB7}">
      <dsp:nvSpPr>
        <dsp:cNvPr id="0" name=""/>
        <dsp:cNvSpPr/>
      </dsp:nvSpPr>
      <dsp:spPr>
        <a:xfrm>
          <a:off x="0" y="220027"/>
          <a:ext cx="9144000" cy="23961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b="0" i="0" kern="1200" dirty="0"/>
            <a:t>Increased trends in intensity and frequency of some climate and weather extremes have been detected over time spans during which about 0.5°C of global warming occurred</a:t>
          </a:r>
          <a:endParaRPr lang="en-US" sz="3200" b="0" kern="1200" dirty="0"/>
        </a:p>
      </dsp:txBody>
      <dsp:txXfrm>
        <a:off x="116971" y="336998"/>
        <a:ext cx="8910058" cy="2162218"/>
      </dsp:txXfrm>
    </dsp:sp>
    <dsp:sp modelId="{D77E4BB7-B779-AD47-A761-DCAEBA407AC4}">
      <dsp:nvSpPr>
        <dsp:cNvPr id="0" name=""/>
        <dsp:cNvSpPr/>
      </dsp:nvSpPr>
      <dsp:spPr>
        <a:xfrm>
          <a:off x="0" y="2708347"/>
          <a:ext cx="9144000" cy="23961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b="0" i="0" kern="1200" dirty="0"/>
            <a:t>Climate models project robus</a:t>
          </a:r>
          <a:r>
            <a:rPr lang="en-GB" sz="3200" b="0" kern="1200" dirty="0"/>
            <a:t>t</a:t>
          </a:r>
          <a:r>
            <a:rPr lang="en-GB" sz="3200" b="0" i="0" kern="1200" dirty="0"/>
            <a:t> differences in regional climate between present-day and global warming up to 1.5°C</a:t>
          </a:r>
          <a:r>
            <a:rPr lang="en-GB" sz="3200" b="0" kern="1200" dirty="0"/>
            <a:t> </a:t>
          </a:r>
          <a:r>
            <a:rPr lang="en-GB" sz="3200" b="0" i="0" kern="1200" dirty="0"/>
            <a:t>and between 1.5°C and 2°C</a:t>
          </a:r>
          <a:endParaRPr lang="en-US" sz="3200" b="0" kern="1200" dirty="0"/>
        </a:p>
      </dsp:txBody>
      <dsp:txXfrm>
        <a:off x="116971" y="2825318"/>
        <a:ext cx="8910058" cy="21622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C2CF5-4431-854D-9B99-4EE4BA7F36FB}">
      <dsp:nvSpPr>
        <dsp:cNvPr id="0" name=""/>
        <dsp:cNvSpPr/>
      </dsp:nvSpPr>
      <dsp:spPr>
        <a:xfrm>
          <a:off x="0" y="51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Afforestation Bioenergy with carbon capture</a:t>
          </a:r>
          <a:endParaRPr lang="en-US" sz="2400" kern="1200" dirty="0">
            <a:latin typeface="Calibri" panose="020F0502020204030204" pitchFamily="34" charset="0"/>
            <a:cs typeface="Calibri" panose="020F0502020204030204" pitchFamily="34" charset="0"/>
          </a:endParaRPr>
        </a:p>
      </dsp:txBody>
      <dsp:txXfrm>
        <a:off x="28100" y="33282"/>
        <a:ext cx="6727322" cy="519439"/>
      </dsp:txXfrm>
    </dsp:sp>
    <dsp:sp modelId="{B177CE35-0A26-0641-A178-B56A1F71B06B}">
      <dsp:nvSpPr>
        <dsp:cNvPr id="0" name=""/>
        <dsp:cNvSpPr/>
      </dsp:nvSpPr>
      <dsp:spPr>
        <a:xfrm>
          <a:off x="0" y="6499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Biochar production and burial</a:t>
          </a:r>
          <a:endParaRPr lang="en-US" sz="2400" kern="1200">
            <a:latin typeface="Calibri" panose="020F0502020204030204" pitchFamily="34" charset="0"/>
            <a:cs typeface="Calibri" panose="020F0502020204030204" pitchFamily="34" charset="0"/>
          </a:endParaRPr>
        </a:p>
      </dsp:txBody>
      <dsp:txXfrm>
        <a:off x="28100" y="678042"/>
        <a:ext cx="6727322" cy="519439"/>
      </dsp:txXfrm>
    </dsp:sp>
    <dsp:sp modelId="{C8776740-D162-D142-93E1-D3BAD8C0F46C}">
      <dsp:nvSpPr>
        <dsp:cNvPr id="0" name=""/>
        <dsp:cNvSpPr/>
      </dsp:nvSpPr>
      <dsp:spPr>
        <a:xfrm>
          <a:off x="0" y="12947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Soil carbon enrichment</a:t>
          </a:r>
          <a:endParaRPr lang="en-US" sz="2400" kern="1200">
            <a:latin typeface="Calibri" panose="020F0502020204030204" pitchFamily="34" charset="0"/>
            <a:cs typeface="Calibri" panose="020F0502020204030204" pitchFamily="34" charset="0"/>
          </a:endParaRPr>
        </a:p>
      </dsp:txBody>
      <dsp:txXfrm>
        <a:off x="28100" y="1322802"/>
        <a:ext cx="6727322" cy="519439"/>
      </dsp:txXfrm>
    </dsp:sp>
    <dsp:sp modelId="{39F089F5-1E66-C043-8489-FE21C41EB8D3}">
      <dsp:nvSpPr>
        <dsp:cNvPr id="0" name=""/>
        <dsp:cNvSpPr/>
      </dsp:nvSpPr>
      <dsp:spPr>
        <a:xfrm>
          <a:off x="0" y="19394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Ocean iron fertilisation (OIF)</a:t>
          </a:r>
          <a:endParaRPr lang="en-US" sz="2400" kern="1200">
            <a:latin typeface="Calibri" panose="020F0502020204030204" pitchFamily="34" charset="0"/>
            <a:cs typeface="Calibri" panose="020F0502020204030204" pitchFamily="34" charset="0"/>
          </a:endParaRPr>
        </a:p>
      </dsp:txBody>
      <dsp:txXfrm>
        <a:off x="28100" y="1967562"/>
        <a:ext cx="6727322" cy="519439"/>
      </dsp:txXfrm>
    </dsp:sp>
    <dsp:sp modelId="{D691D4BC-BBAD-E441-AE7B-7EA0C413FB24}">
      <dsp:nvSpPr>
        <dsp:cNvPr id="0" name=""/>
        <dsp:cNvSpPr/>
      </dsp:nvSpPr>
      <dsp:spPr>
        <a:xfrm>
          <a:off x="0" y="258422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Enhanced weathering and ocean alkalinisation</a:t>
          </a:r>
          <a:endParaRPr lang="en-US" sz="2400" kern="1200">
            <a:latin typeface="Calibri" panose="020F0502020204030204" pitchFamily="34" charset="0"/>
            <a:cs typeface="Calibri" panose="020F0502020204030204" pitchFamily="34" charset="0"/>
          </a:endParaRPr>
        </a:p>
      </dsp:txBody>
      <dsp:txXfrm>
        <a:off x="28100" y="2612322"/>
        <a:ext cx="6727322" cy="519439"/>
      </dsp:txXfrm>
    </dsp:sp>
    <dsp:sp modelId="{05C1D751-0CFA-4A4A-82FB-CEBFAE2ED32E}">
      <dsp:nvSpPr>
        <dsp:cNvPr id="0" name=""/>
        <dsp:cNvSpPr/>
      </dsp:nvSpPr>
      <dsp:spPr>
        <a:xfrm>
          <a:off x="0" y="32289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Space mirrors</a:t>
          </a:r>
          <a:endParaRPr lang="en-US" sz="2400" kern="1200">
            <a:latin typeface="Calibri" panose="020F0502020204030204" pitchFamily="34" charset="0"/>
            <a:cs typeface="Calibri" panose="020F0502020204030204" pitchFamily="34" charset="0"/>
          </a:endParaRPr>
        </a:p>
      </dsp:txBody>
      <dsp:txXfrm>
        <a:off x="28100" y="3257082"/>
        <a:ext cx="6727322" cy="519439"/>
      </dsp:txXfrm>
    </dsp:sp>
    <dsp:sp modelId="{91E193AC-07C5-9242-867F-B235046CFD45}">
      <dsp:nvSpPr>
        <dsp:cNvPr id="0" name=""/>
        <dsp:cNvSpPr/>
      </dsp:nvSpPr>
      <dsp:spPr>
        <a:xfrm>
          <a:off x="0" y="38737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Stratospheric aerosol injection (SAI)</a:t>
          </a:r>
          <a:endParaRPr lang="en-US" sz="2400" kern="1200">
            <a:latin typeface="Calibri" panose="020F0502020204030204" pitchFamily="34" charset="0"/>
            <a:cs typeface="Calibri" panose="020F0502020204030204" pitchFamily="34" charset="0"/>
          </a:endParaRPr>
        </a:p>
      </dsp:txBody>
      <dsp:txXfrm>
        <a:off x="28100" y="3901842"/>
        <a:ext cx="6727322" cy="519439"/>
      </dsp:txXfrm>
    </dsp:sp>
    <dsp:sp modelId="{96EEEC37-5BC4-F348-A8B2-8F898E6FA1E1}">
      <dsp:nvSpPr>
        <dsp:cNvPr id="0" name=""/>
        <dsp:cNvSpPr/>
      </dsp:nvSpPr>
      <dsp:spPr>
        <a:xfrm>
          <a:off x="0" y="45185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Cirrus cloud thinning (CCT)</a:t>
          </a:r>
          <a:endParaRPr lang="en-US" sz="2400" kern="1200" dirty="0">
            <a:latin typeface="Calibri" panose="020F0502020204030204" pitchFamily="34" charset="0"/>
            <a:cs typeface="Calibri" panose="020F0502020204030204" pitchFamily="34" charset="0"/>
          </a:endParaRPr>
        </a:p>
      </dsp:txBody>
      <dsp:txXfrm>
        <a:off x="28100" y="4546602"/>
        <a:ext cx="6727322" cy="519439"/>
      </dsp:txXfrm>
    </dsp:sp>
    <dsp:sp modelId="{CAFC33B2-7FA5-5B48-8197-D6BA1EC7A44C}">
      <dsp:nvSpPr>
        <dsp:cNvPr id="0" name=""/>
        <dsp:cNvSpPr/>
      </dsp:nvSpPr>
      <dsp:spPr>
        <a:xfrm>
          <a:off x="0" y="51632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Marine sky brightening (MSB)</a:t>
          </a:r>
          <a:endParaRPr lang="en-US" sz="2400" kern="1200">
            <a:latin typeface="Calibri" panose="020F0502020204030204" pitchFamily="34" charset="0"/>
            <a:cs typeface="Calibri" panose="020F0502020204030204" pitchFamily="34" charset="0"/>
          </a:endParaRPr>
        </a:p>
      </dsp:txBody>
      <dsp:txXfrm>
        <a:off x="28100" y="5191362"/>
        <a:ext cx="6727322" cy="519439"/>
      </dsp:txXfrm>
    </dsp:sp>
    <dsp:sp modelId="{E5E86166-C416-B84D-8767-63154A5E6A03}">
      <dsp:nvSpPr>
        <dsp:cNvPr id="0" name=""/>
        <dsp:cNvSpPr/>
      </dsp:nvSpPr>
      <dsp:spPr>
        <a:xfrm>
          <a:off x="0" y="580802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Surface-based brightening</a:t>
          </a:r>
          <a:endParaRPr lang="en-US" sz="2400" kern="1200">
            <a:latin typeface="Calibri" panose="020F0502020204030204" pitchFamily="34" charset="0"/>
            <a:cs typeface="Calibri" panose="020F0502020204030204" pitchFamily="34" charset="0"/>
          </a:endParaRPr>
        </a:p>
      </dsp:txBody>
      <dsp:txXfrm>
        <a:off x="28100" y="5836121"/>
        <a:ext cx="6727322" cy="519439"/>
      </dsp:txXfrm>
    </dsp:sp>
    <dsp:sp modelId="{AD545E1F-AA3C-5B49-BEDC-1F0D3A401CE8}">
      <dsp:nvSpPr>
        <dsp:cNvPr id="0" name=""/>
        <dsp:cNvSpPr/>
      </dsp:nvSpPr>
      <dsp:spPr>
        <a:xfrm>
          <a:off x="0" y="645278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Direct air CO</a:t>
          </a:r>
          <a:r>
            <a:rPr lang="en-GB" sz="2400" kern="1200" baseline="-25000" dirty="0">
              <a:latin typeface="Calibri" panose="020F0502020204030204" pitchFamily="34" charset="0"/>
              <a:cs typeface="Calibri" panose="020F0502020204030204" pitchFamily="34" charset="0"/>
            </a:rPr>
            <a:t>2</a:t>
          </a:r>
          <a:r>
            <a:rPr lang="en-GB" sz="2400" kern="1200" dirty="0">
              <a:latin typeface="Calibri" panose="020F0502020204030204" pitchFamily="34" charset="0"/>
              <a:cs typeface="Calibri" panose="020F0502020204030204" pitchFamily="34" charset="0"/>
            </a:rPr>
            <a:t> capture and storage (DACCS)</a:t>
          </a:r>
          <a:endParaRPr lang="en-US" sz="2400" kern="1200" dirty="0">
            <a:latin typeface="Calibri" panose="020F0502020204030204" pitchFamily="34" charset="0"/>
            <a:cs typeface="Calibri" panose="020F0502020204030204" pitchFamily="34" charset="0"/>
          </a:endParaRPr>
        </a:p>
      </dsp:txBody>
      <dsp:txXfrm>
        <a:off x="28100" y="6480881"/>
        <a:ext cx="6727322"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03/02/2026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860214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8"/>
          <p:cNvSpPr>
            <a:spLocks noGrp="1" noChangeArrowheads="1"/>
          </p:cNvSpPr>
          <p:nvPr>
            <p:ph type="sldNum"/>
          </p:nvPr>
        </p:nvSpPr>
        <p:spPr>
          <a:ln/>
        </p:spPr>
        <p:txBody>
          <a:bodyPr/>
          <a:lstStyle/>
          <a:p>
            <a:fld id="{5FDC0BE5-8237-434B-AB26-F93C2EF449B3}" type="slidenum">
              <a:rPr lang="en-US" altLang="x-none"/>
              <a:pPr/>
              <a:t>4</a:t>
            </a:fld>
            <a:endParaRPr lang="en-US" altLang="x-none"/>
          </a:p>
        </p:txBody>
      </p:sp>
      <p:sp>
        <p:nvSpPr>
          <p:cNvPr id="6145" name="Text Box 1"/>
          <p:cNvSpPr txBox="1">
            <a:spLocks noGrp="1" noRot="1" noChangeAspect="1" noChangeArrowheads="1"/>
          </p:cNvSpPr>
          <p:nvPr>
            <p:ph type="sldImg"/>
          </p:nvPr>
        </p:nvSpPr>
        <p:spPr bwMode="auto">
          <a:xfrm>
            <a:off x="687388" y="1143000"/>
            <a:ext cx="5481637" cy="30845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6146" name="Text Box 2"/>
          <p:cNvSpPr txBox="1">
            <a:spLocks noGrp="1" noChangeArrowheads="1"/>
          </p:cNvSpPr>
          <p:nvPr>
            <p:ph type="body" idx="1"/>
          </p:nvPr>
        </p:nvSpPr>
        <p:spPr bwMode="auto">
          <a:xfrm>
            <a:off x="685800" y="4400550"/>
            <a:ext cx="5484813" cy="3598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076428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5410-BDA5-DA18-5D99-4A93B9150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74C34-DDD6-6CA0-D186-02C2F369A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B47C3-269D-2A1B-2F6B-0C9E9BE001F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D87C796-7952-2517-DB6F-001791448D82}"/>
              </a:ext>
            </a:extLst>
          </p:cNvPr>
          <p:cNvSpPr>
            <a:spLocks noGrp="1"/>
          </p:cNvSpPr>
          <p:nvPr>
            <p:ph type="sldNum" sz="quarter" idx="5"/>
          </p:nvPr>
        </p:nvSpPr>
        <p:spPr/>
        <p:txBody>
          <a:bodyPr/>
          <a:lstStyle/>
          <a:p>
            <a:fld id="{C6B3559C-4BE5-4262-A2E7-0EADDD5F845B}" type="slidenum">
              <a:rPr lang="en-GB" smtClean="0"/>
              <a:pPr/>
              <a:t>6</a:t>
            </a:fld>
            <a:endParaRPr lang="en-GB"/>
          </a:p>
        </p:txBody>
      </p:sp>
    </p:spTree>
    <p:extLst>
      <p:ext uri="{BB962C8B-B14F-4D97-AF65-F5344CB8AC3E}">
        <p14:creationId xmlns:p14="http://schemas.microsoft.com/office/powerpoint/2010/main" val="3648348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7C94D-028A-DC1F-F7BB-B4D9AA33F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FC628-F82E-D5FF-AF9C-750A1FF5E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9B914-3A63-D233-8BB5-04BB1A1FAD9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B26CFD5-40DB-6193-7FBE-93E0CCC236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109847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A0CA-2C8E-1555-2AB3-C6A7D797B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8EAFF-D604-5742-0F09-B7A3676AF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32F12-BA5D-8F98-02B2-5B71467828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9A45CC-2750-9A48-6716-7FA9A70225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889653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39F2-9928-CF0D-D3F5-7E7C4B8FF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3FE06-FC41-56C4-B17E-1FD424098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3CA81-D53D-79FD-3667-83E91A2374F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BD7723-4EF1-D022-6813-B9705C4B64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904347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F2B1-29D5-8D14-2C85-8B01588FFFAD}"/>
            </a:ext>
          </a:extLst>
        </p:cNvPr>
        <p:cNvGrpSpPr/>
        <p:nvPr/>
      </p:nvGrpSpPr>
      <p:grpSpPr>
        <a:xfrm>
          <a:off x="0" y="0"/>
          <a:ext cx="0" cy="0"/>
          <a:chOff x="0" y="0"/>
          <a:chExt cx="0" cy="0"/>
        </a:xfrm>
      </p:grpSpPr>
      <p:sp>
        <p:nvSpPr>
          <p:cNvPr id="36865" name="Rectangle 7">
            <a:extLst>
              <a:ext uri="{FF2B5EF4-FFF2-40B4-BE49-F238E27FC236}">
                <a16:creationId xmlns:a16="http://schemas.microsoft.com/office/drawing/2014/main" id="{B5FE0F42-5DC6-9841-7CB8-59DD21E050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5B8FE22E-F947-834F-B58B-62C037CE827B}" type="slidenum">
              <a:rPr kumimoji="0" lang="en-GB" altLang="en-US" sz="11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Calibri" panose="020F0502020204030204"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11</a:t>
            </a:fld>
            <a:endParaRPr kumimoji="0" lang="en-GB" altLang="en-US" sz="11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Calibri" panose="020F0502020204030204" pitchFamily="34" charset="0"/>
            </a:endParaRPr>
          </a:p>
        </p:txBody>
      </p:sp>
      <p:sp>
        <p:nvSpPr>
          <p:cNvPr id="36866" name="Rectangle 2">
            <a:extLst>
              <a:ext uri="{FF2B5EF4-FFF2-40B4-BE49-F238E27FC236}">
                <a16:creationId xmlns:a16="http://schemas.microsoft.com/office/drawing/2014/main" id="{29C41C7B-0695-E98A-2662-F04803F5357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B4724AF-4129-6D5E-A4BE-4782EAFEFB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Calibri" panose="020F0502020204030204" pitchFamily="34" charset="0"/>
            </a:endParaRPr>
          </a:p>
        </p:txBody>
      </p:sp>
    </p:spTree>
    <p:extLst>
      <p:ext uri="{BB962C8B-B14F-4D97-AF65-F5344CB8AC3E}">
        <p14:creationId xmlns:p14="http://schemas.microsoft.com/office/powerpoint/2010/main" val="888272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C17C-3868-46A2-5294-EC1A0A51C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A7F97-31DD-1039-7A0D-58A4B84B6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D5B39-8AB7-C8FA-9392-DB8C7DC537E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01E14D71-E4EF-A967-91D9-D648BD43B0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55048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43C0-A7AC-91BE-2AF8-5B47ACD5A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4B3E8-D345-649F-EA2F-BAAA6A8F9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A272F-1828-9009-A513-1324895469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B77E8-AF2A-BEBE-6552-332991520A97}"/>
              </a:ext>
            </a:extLst>
          </p:cNvPr>
          <p:cNvSpPr>
            <a:spLocks noGrp="1"/>
          </p:cNvSpPr>
          <p:nvPr>
            <p:ph type="sldNum" sz="quarter" idx="5"/>
          </p:nvPr>
        </p:nvSpPr>
        <p:spPr/>
        <p:txBody>
          <a:bodyPr/>
          <a:lstStyle/>
          <a:p>
            <a:fld id="{C6B3559C-4BE5-4262-A2E7-0EADDD5F845B}" type="slidenum">
              <a:rPr lang="en-GB" smtClean="0"/>
              <a:pPr/>
              <a:t>13</a:t>
            </a:fld>
            <a:endParaRPr lang="en-GB"/>
          </a:p>
        </p:txBody>
      </p:sp>
    </p:spTree>
    <p:extLst>
      <p:ext uri="{BB962C8B-B14F-4D97-AF65-F5344CB8AC3E}">
        <p14:creationId xmlns:p14="http://schemas.microsoft.com/office/powerpoint/2010/main" val="2359306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14</a:t>
            </a:fld>
            <a:endParaRPr lang="en-GB"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EA4C-28D1-8EF6-3E65-CDD14205B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B879-AC19-F865-2A0A-52ABE1186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570AE-715A-05BC-E06B-A42AC12EB5E1}"/>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5876FEED-E562-6B4E-8E47-28CD4592F64F}"/>
              </a:ext>
            </a:extLst>
          </p:cNvPr>
          <p:cNvSpPr>
            <a:spLocks noGrp="1"/>
          </p:cNvSpPr>
          <p:nvPr>
            <p:ph type="sldNum" sz="quarter" idx="5"/>
          </p:nvPr>
        </p:nvSpPr>
        <p:spPr/>
        <p:txBody>
          <a:bodyPr/>
          <a:lstStyle/>
          <a:p>
            <a:fld id="{C6B3559C-4BE5-4262-A2E7-0EADDD5F845B}" type="slidenum">
              <a:rPr lang="en-GB" smtClean="0"/>
              <a:t>15</a:t>
            </a:fld>
            <a:endParaRPr lang="en-GB"/>
          </a:p>
        </p:txBody>
      </p:sp>
    </p:spTree>
    <p:extLst>
      <p:ext uri="{BB962C8B-B14F-4D97-AF65-F5344CB8AC3E}">
        <p14:creationId xmlns:p14="http://schemas.microsoft.com/office/powerpoint/2010/main" val="3196569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C574-AB02-2F51-10C5-617D9D44F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98679-6B57-4D53-389D-EA2A02ADA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B5051-56D1-735D-FE20-AF3DB8F0D5D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65D7530-5066-8099-B716-193B03A48913}"/>
              </a:ext>
            </a:extLst>
          </p:cNvPr>
          <p:cNvSpPr>
            <a:spLocks noGrp="1"/>
          </p:cNvSpPr>
          <p:nvPr>
            <p:ph type="sldNum" sz="quarter" idx="5"/>
          </p:nvPr>
        </p:nvSpPr>
        <p:spPr/>
        <p:txBody>
          <a:bodyPr/>
          <a:lstStyle/>
          <a:p>
            <a:fld id="{C6B3559C-4BE5-4262-A2E7-0EADDD5F845B}" type="slidenum">
              <a:rPr lang="en-GB" smtClean="0"/>
              <a:t>16</a:t>
            </a:fld>
            <a:endParaRPr lang="en-GB"/>
          </a:p>
        </p:txBody>
      </p:sp>
    </p:spTree>
    <p:extLst>
      <p:ext uri="{BB962C8B-B14F-4D97-AF65-F5344CB8AC3E}">
        <p14:creationId xmlns:p14="http://schemas.microsoft.com/office/powerpoint/2010/main" val="2486787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17</a:t>
            </a:fld>
            <a:endParaRPr lang="en-GB"/>
          </a:p>
        </p:txBody>
      </p:sp>
    </p:spTree>
    <p:extLst>
      <p:ext uri="{BB962C8B-B14F-4D97-AF65-F5344CB8AC3E}">
        <p14:creationId xmlns:p14="http://schemas.microsoft.com/office/powerpoint/2010/main" val="3085702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87AB-967C-E1A1-DCBB-EB871EE40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752BE-AC33-25C5-66CF-C1976DFF6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C5329-8B64-51AB-7874-49FA1340F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8367D3-10CB-3E28-48F9-84423994B1E3}"/>
              </a:ext>
            </a:extLst>
          </p:cNvPr>
          <p:cNvSpPr>
            <a:spLocks noGrp="1"/>
          </p:cNvSpPr>
          <p:nvPr>
            <p:ph type="sldNum" sz="quarter" idx="5"/>
          </p:nvPr>
        </p:nvSpPr>
        <p:spPr/>
        <p:txBody>
          <a:bodyPr/>
          <a:lstStyle/>
          <a:p>
            <a:fld id="{C6B3559C-4BE5-4262-A2E7-0EADDD5F845B}" type="slidenum">
              <a:rPr lang="en-GB" smtClean="0"/>
              <a:pPr/>
              <a:t>18</a:t>
            </a:fld>
            <a:endParaRPr lang="en-GB"/>
          </a:p>
        </p:txBody>
      </p:sp>
    </p:spTree>
    <p:extLst>
      <p:ext uri="{BB962C8B-B14F-4D97-AF65-F5344CB8AC3E}">
        <p14:creationId xmlns:p14="http://schemas.microsoft.com/office/powerpoint/2010/main" val="798006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4EEC-452E-68DB-9010-A09E4B258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7EF6E-DE61-E7EC-6E79-A4DA87713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86C21-83FF-D7A6-F716-31A827E34C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74EE3D-BEE2-8342-5B96-AB7900D92E19}"/>
              </a:ext>
            </a:extLst>
          </p:cNvPr>
          <p:cNvSpPr>
            <a:spLocks noGrp="1"/>
          </p:cNvSpPr>
          <p:nvPr>
            <p:ph type="sldNum" sz="quarter" idx="5"/>
          </p:nvPr>
        </p:nvSpPr>
        <p:spPr/>
        <p:txBody>
          <a:bodyPr/>
          <a:lstStyle/>
          <a:p>
            <a:fld id="{C6B3559C-4BE5-4262-A2E7-0EADDD5F845B}" type="slidenum">
              <a:rPr lang="en-GB" smtClean="0"/>
              <a:pPr/>
              <a:t>21</a:t>
            </a:fld>
            <a:endParaRPr lang="en-GB"/>
          </a:p>
        </p:txBody>
      </p:sp>
    </p:spTree>
    <p:extLst>
      <p:ext uri="{BB962C8B-B14F-4D97-AF65-F5344CB8AC3E}">
        <p14:creationId xmlns:p14="http://schemas.microsoft.com/office/powerpoint/2010/main" val="894153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DC290-84A3-7CA9-E276-81058D7A1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738A-925A-F452-B152-B36B09B45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1A395-6BEB-ACCD-43E9-FF38637B77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03E03-6CBF-0569-0E8A-E042AF39F732}"/>
              </a:ext>
            </a:extLst>
          </p:cNvPr>
          <p:cNvSpPr>
            <a:spLocks noGrp="1"/>
          </p:cNvSpPr>
          <p:nvPr>
            <p:ph type="sldNum" sz="quarter" idx="5"/>
          </p:nvPr>
        </p:nvSpPr>
        <p:spPr/>
        <p:txBody>
          <a:bodyPr/>
          <a:lstStyle/>
          <a:p>
            <a:fld id="{C6B3559C-4BE5-4262-A2E7-0EADDD5F845B}" type="slidenum">
              <a:rPr lang="en-GB" smtClean="0"/>
              <a:pPr/>
              <a:t>22</a:t>
            </a:fld>
            <a:endParaRPr lang="en-GB"/>
          </a:p>
        </p:txBody>
      </p:sp>
    </p:spTree>
    <p:extLst>
      <p:ext uri="{BB962C8B-B14F-4D97-AF65-F5344CB8AC3E}">
        <p14:creationId xmlns:p14="http://schemas.microsoft.com/office/powerpoint/2010/main" val="3715660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B23C-5AB7-2923-0EFB-6E69EE7B3184}"/>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AA3EEE13-E039-24E3-B18F-7F4A2C2445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E9A0C49-509C-5F46-9879-66CBB1041243}" type="slidenum">
              <a:rPr lang="en-GB" altLang="en-US"/>
              <a:pPr>
                <a:spcBef>
                  <a:spcPct val="0"/>
                </a:spcBef>
              </a:pPr>
              <a:t>23</a:t>
            </a:fld>
            <a:endParaRPr lang="en-GB" altLang="en-US"/>
          </a:p>
        </p:txBody>
      </p:sp>
      <p:sp>
        <p:nvSpPr>
          <p:cNvPr id="65538" name="Rectangle 2">
            <a:extLst>
              <a:ext uri="{FF2B5EF4-FFF2-40B4-BE49-F238E27FC236}">
                <a16:creationId xmlns:a16="http://schemas.microsoft.com/office/drawing/2014/main" id="{7CACBC93-E816-3E96-A8EC-F92DED642B30}"/>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CD900CAB-83DF-3D10-C31E-EBA454F15AB9}"/>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29264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F025282-22C3-2B46-556C-DB87260E406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E32230E5-1466-0CE2-488D-84A72F0261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23556" name="Slide Number Placeholder 3">
            <a:extLst>
              <a:ext uri="{FF2B5EF4-FFF2-40B4-BE49-F238E27FC236}">
                <a16:creationId xmlns:a16="http://schemas.microsoft.com/office/drawing/2014/main" id="{CA4FF35E-B1AF-03AA-57C9-88A43EDEE8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2325E39-B761-B544-AFC2-61B84AF6C646}" type="slidenum">
              <a:rPr lang="en-GB" altLang="en-US" sz="1200" smtClean="0"/>
              <a:pPr/>
              <a:t>25</a:t>
            </a:fld>
            <a:endParaRPr lang="en-GB"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657ABDB-F2BB-4FEE-968F-3086E12F6AE0}" type="slidenum">
              <a:rPr lang="en-GB" smtClean="0"/>
              <a:t>26</a:t>
            </a:fld>
            <a:endParaRPr lang="en-GB"/>
          </a:p>
        </p:txBody>
      </p:sp>
    </p:spTree>
    <p:extLst>
      <p:ext uri="{BB962C8B-B14F-4D97-AF65-F5344CB8AC3E}">
        <p14:creationId xmlns:p14="http://schemas.microsoft.com/office/powerpoint/2010/main" val="28837012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27</a:t>
            </a:fld>
            <a:endParaRPr lang="en-GB"/>
          </a:p>
        </p:txBody>
      </p:sp>
    </p:spTree>
    <p:extLst>
      <p:ext uri="{BB962C8B-B14F-4D97-AF65-F5344CB8AC3E}">
        <p14:creationId xmlns:p14="http://schemas.microsoft.com/office/powerpoint/2010/main" val="2038100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28</a:t>
            </a:fld>
            <a:endParaRPr lang="en-GB"/>
          </a:p>
        </p:txBody>
      </p:sp>
    </p:spTree>
    <p:extLst>
      <p:ext uri="{BB962C8B-B14F-4D97-AF65-F5344CB8AC3E}">
        <p14:creationId xmlns:p14="http://schemas.microsoft.com/office/powerpoint/2010/main" val="344603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559C-4BE5-4262-A2E7-0EADDD5F845B}" type="slidenum">
              <a:rPr lang="en-GB" smtClean="0"/>
              <a:pPr/>
              <a:t>30</a:t>
            </a:fld>
            <a:endParaRPr lang="en-GB"/>
          </a:p>
        </p:txBody>
      </p:sp>
    </p:spTree>
    <p:extLst>
      <p:ext uri="{BB962C8B-B14F-4D97-AF65-F5344CB8AC3E}">
        <p14:creationId xmlns:p14="http://schemas.microsoft.com/office/powerpoint/2010/main" val="2270372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559C-4BE5-4262-A2E7-0EADDD5F845B}" type="slidenum">
              <a:rPr lang="en-GB" smtClean="0"/>
              <a:pPr/>
              <a:t>31</a:t>
            </a:fld>
            <a:endParaRPr lang="en-GB"/>
          </a:p>
        </p:txBody>
      </p:sp>
    </p:spTree>
    <p:extLst>
      <p:ext uri="{BB962C8B-B14F-4D97-AF65-F5344CB8AC3E}">
        <p14:creationId xmlns:p14="http://schemas.microsoft.com/office/powerpoint/2010/main" val="3504397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521F9593-74C3-B943-B184-1B020E270C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B840E5D-8386-534A-8225-A9B19EF48B69}" type="slidenum">
              <a:rPr lang="en-GB" altLang="en-US">
                <a:latin typeface="Calibri" panose="020F0502020204030204" pitchFamily="34" charset="0"/>
                <a:cs typeface="Calibri" panose="020F0502020204030204" pitchFamily="34" charset="0"/>
              </a:rPr>
              <a:pPr>
                <a:spcBef>
                  <a:spcPct val="0"/>
                </a:spcBef>
              </a:pPr>
              <a:t>32</a:t>
            </a:fld>
            <a:endParaRPr lang="en-GB" altLang="en-US" dirty="0">
              <a:latin typeface="Calibri" panose="020F0502020204030204" pitchFamily="34" charset="0"/>
              <a:cs typeface="Calibri" panose="020F0502020204030204" pitchFamily="34" charset="0"/>
            </a:endParaRPr>
          </a:p>
        </p:txBody>
      </p:sp>
      <p:sp>
        <p:nvSpPr>
          <p:cNvPr id="52226" name="Rectangle 2">
            <a:extLst>
              <a:ext uri="{FF2B5EF4-FFF2-40B4-BE49-F238E27FC236}">
                <a16:creationId xmlns:a16="http://schemas.microsoft.com/office/drawing/2014/main" id="{9DFE5668-A815-C147-86C2-DCE805406B81}"/>
              </a:ext>
            </a:extLst>
          </p:cNvPr>
          <p:cNvSpPr>
            <a:spLocks noGrp="1" noRot="1" noChangeAspect="1" noChangeArrowheads="1" noTextEdit="1"/>
          </p:cNvSpPr>
          <p:nvPr>
            <p:ph type="sldImg"/>
          </p:nvPr>
        </p:nvSpPr>
        <p:spPr>
          <a:xfrm>
            <a:off x="382588" y="685800"/>
            <a:ext cx="6096000" cy="3429000"/>
          </a:xfrm>
          <a:ln/>
        </p:spPr>
      </p:sp>
      <p:sp>
        <p:nvSpPr>
          <p:cNvPr id="52227" name="Rectangle 3">
            <a:extLst>
              <a:ext uri="{FF2B5EF4-FFF2-40B4-BE49-F238E27FC236}">
                <a16:creationId xmlns:a16="http://schemas.microsoft.com/office/drawing/2014/main" id="{EC464EA6-9AD3-CE48-91E5-147BD4367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Calibri" panose="020F0502020204030204" pitchFamily="34" charset="0"/>
              <a:ea typeface="ＭＳ Ｐゴシック" panose="020B0600070205080204" pitchFamily="34" charset="-128"/>
              <a:cs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936EB7FC-AE3A-4144-B5B8-5116239FCC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933C2EF-F916-5A49-97EE-6754A3C9E25B}" type="slidenum">
              <a:rPr lang="en-US" altLang="en-US">
                <a:latin typeface="Calibri" panose="020F0502020204030204" pitchFamily="34" charset="0"/>
                <a:cs typeface="Calibri" panose="020F0502020204030204" pitchFamily="34" charset="0"/>
              </a:rPr>
              <a:pPr>
                <a:spcBef>
                  <a:spcPct val="0"/>
                </a:spcBef>
              </a:pPr>
              <a:t>33</a:t>
            </a:fld>
            <a:endParaRPr lang="en-US" altLang="en-US" dirty="0">
              <a:latin typeface="Calibri" panose="020F0502020204030204" pitchFamily="34" charset="0"/>
              <a:cs typeface="Calibri" panose="020F0502020204030204" pitchFamily="34" charset="0"/>
            </a:endParaRPr>
          </a:p>
        </p:txBody>
      </p:sp>
      <p:sp>
        <p:nvSpPr>
          <p:cNvPr id="60418" name="Rectangle 2">
            <a:extLst>
              <a:ext uri="{FF2B5EF4-FFF2-40B4-BE49-F238E27FC236}">
                <a16:creationId xmlns:a16="http://schemas.microsoft.com/office/drawing/2014/main" id="{5F25D00D-7837-1A43-BB8F-C1C19DF48909}"/>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3DC7F63A-6218-3247-AACE-9CEDF5C9091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Calibri" panose="020F050202020403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F72F-62D8-9A35-83BB-5AE2A6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2638F-F494-8C6B-57FD-B6818DA11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D5688-A359-DDEB-54BD-C55EDA24A347}"/>
              </a:ext>
            </a:extLst>
          </p:cNvPr>
          <p:cNvSpPr>
            <a:spLocks noGrp="1"/>
          </p:cNvSpPr>
          <p:nvPr>
            <p:ph type="body" idx="1"/>
          </p:nvPr>
        </p:nvSpPr>
        <p:spPr/>
        <p:txBody>
          <a:bodyPr/>
          <a:lstStyle/>
          <a:p>
            <a:pPr>
              <a:defRPr/>
            </a:pPr>
            <a:endParaRPr lang="en-US" dirty="0"/>
          </a:p>
        </p:txBody>
      </p:sp>
      <p:sp>
        <p:nvSpPr>
          <p:cNvPr id="4" name="Slide Number Placeholder 3">
            <a:extLst>
              <a:ext uri="{FF2B5EF4-FFF2-40B4-BE49-F238E27FC236}">
                <a16:creationId xmlns:a16="http://schemas.microsoft.com/office/drawing/2014/main" id="{4B67C200-0656-53E4-94FC-871C72297898}"/>
              </a:ext>
            </a:extLst>
          </p:cNvPr>
          <p:cNvSpPr>
            <a:spLocks noGrp="1"/>
          </p:cNvSpPr>
          <p:nvPr>
            <p:ph type="sldNum" sz="quarter" idx="5"/>
          </p:nvPr>
        </p:nvSpPr>
        <p:spPr/>
        <p:txBody>
          <a:bodyPr/>
          <a:lstStyle/>
          <a:p>
            <a:fld id="{C6B3559C-4BE5-4262-A2E7-0EADDD5F845B}" type="slidenum">
              <a:rPr lang="en-GB" smtClean="0"/>
              <a:t>34</a:t>
            </a:fld>
            <a:endParaRPr lang="en-GB"/>
          </a:p>
        </p:txBody>
      </p:sp>
    </p:spTree>
    <p:extLst>
      <p:ext uri="{BB962C8B-B14F-4D97-AF65-F5344CB8AC3E}">
        <p14:creationId xmlns:p14="http://schemas.microsoft.com/office/powerpoint/2010/main" val="3322925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DM Sans" pitchFamily="2" charset="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35</a:t>
            </a:fld>
            <a:endParaRPr lang="en-GB"/>
          </a:p>
        </p:txBody>
      </p:sp>
    </p:spTree>
    <p:extLst>
      <p:ext uri="{BB962C8B-B14F-4D97-AF65-F5344CB8AC3E}">
        <p14:creationId xmlns:p14="http://schemas.microsoft.com/office/powerpoint/2010/main" val="3974408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825BAAB-177C-43DD-B62F-25E1F0371754}"/>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7F081FA6-3ADA-40FB-A2D4-D820BFA4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AAB8A0CE-8528-4C26-83CD-BD3A9085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36</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2592360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E677-594B-24BD-32D2-D099FB34C808}"/>
            </a:ext>
          </a:extLst>
        </p:cNvPr>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E1F389FE-97A2-8661-275C-AE0CFF68CCBA}"/>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42413283-B41C-4928-B2D7-B5EA4C9FB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E63745FC-9966-CB33-9967-AC9940552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37</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1692167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BD721-268D-4A44-D423-1242C70F7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C02E1-6461-FFD0-904F-8D4619626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B2D71-F3AE-F396-EECC-507303641925}"/>
              </a:ext>
            </a:extLst>
          </p:cNvPr>
          <p:cNvSpPr>
            <a:spLocks noGrp="1"/>
          </p:cNvSpPr>
          <p:nvPr>
            <p:ph type="body" idx="1"/>
          </p:nvPr>
        </p:nvSpPr>
        <p:spPr/>
        <p:txBody>
          <a:bodyPr/>
          <a:lstStyle/>
          <a:p>
            <a:pPr marL="228600" indent="-228600">
              <a:buAutoNum type="arabicPeriod"/>
            </a:pPr>
            <a:endParaRPr lang="en-GB" dirty="0">
              <a:cs typeface="DM Sans"/>
            </a:endParaRPr>
          </a:p>
        </p:txBody>
      </p:sp>
      <p:sp>
        <p:nvSpPr>
          <p:cNvPr id="4" name="Slide Number Placeholder 3">
            <a:extLst>
              <a:ext uri="{FF2B5EF4-FFF2-40B4-BE49-F238E27FC236}">
                <a16:creationId xmlns:a16="http://schemas.microsoft.com/office/drawing/2014/main" id="{4BB4A957-E061-9D0B-17AE-7CD9EDC7BCB2}"/>
              </a:ext>
            </a:extLst>
          </p:cNvPr>
          <p:cNvSpPr>
            <a:spLocks noGrp="1"/>
          </p:cNvSpPr>
          <p:nvPr>
            <p:ph type="sldNum" sz="quarter" idx="5"/>
          </p:nvPr>
        </p:nvSpPr>
        <p:spPr/>
        <p:txBody>
          <a:bodyPr/>
          <a:lstStyle/>
          <a:p>
            <a:fld id="{C6B3559C-4BE5-4262-A2E7-0EADDD5F845B}" type="slidenum">
              <a:rPr lang="en-GB" smtClean="0"/>
              <a:t>38</a:t>
            </a:fld>
            <a:endParaRPr lang="en-GB"/>
          </a:p>
        </p:txBody>
      </p:sp>
    </p:spTree>
    <p:extLst>
      <p:ext uri="{BB962C8B-B14F-4D97-AF65-F5344CB8AC3E}">
        <p14:creationId xmlns:p14="http://schemas.microsoft.com/office/powerpoint/2010/main" val="16542614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4CE6A-2A58-6EF1-DF86-B3BE49FB3BFE}"/>
            </a:ext>
          </a:extLst>
        </p:cNvPr>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51AFB4E2-A869-E703-F996-9CBA7245F152}"/>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06E0B4C8-8097-E366-820E-5144F01A0B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C3FD138E-541B-22C0-AB44-C475E2768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39</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18940975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825BAAB-177C-43DD-B62F-25E1F0371754}"/>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7F081FA6-3ADA-40FB-A2D4-D820BFA4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AAB8A0CE-8528-4C26-83CD-BD3A9085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42</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1805441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825BAAB-177C-43DD-B62F-25E1F0371754}"/>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7F081FA6-3ADA-40FB-A2D4-D820BFA4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AAB8A0CE-8528-4C26-83CD-BD3A9085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43</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31609199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825BAAB-177C-43DD-B62F-25E1F0371754}"/>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7F081FA6-3ADA-40FB-A2D4-D820BFA4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
        <p:nvSpPr>
          <p:cNvPr id="50180" name="Slide Number Placeholder 3">
            <a:extLst>
              <a:ext uri="{FF2B5EF4-FFF2-40B4-BE49-F238E27FC236}">
                <a16:creationId xmlns:a16="http://schemas.microsoft.com/office/drawing/2014/main" id="{AAB8A0CE-8528-4C26-83CD-BD3A9085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44</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3118567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3C7C-92FE-B22C-9DA5-740061F89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119CE-C957-989A-772C-B8F672AC6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BC681-F11F-71EA-3AC6-375C6A1DD44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25E53E-7E8C-D00A-9F17-D628DFBA1A72}"/>
              </a:ext>
            </a:extLst>
          </p:cNvPr>
          <p:cNvSpPr>
            <a:spLocks noGrp="1"/>
          </p:cNvSpPr>
          <p:nvPr>
            <p:ph type="sldNum" sz="quarter" idx="5"/>
          </p:nvPr>
        </p:nvSpPr>
        <p:spPr/>
        <p:txBody>
          <a:bodyPr/>
          <a:lstStyle/>
          <a:p>
            <a:fld id="{4657ABDB-F2BB-4FEE-968F-3086E12F6AE0}" type="slidenum">
              <a:rPr lang="en-GB" smtClean="0"/>
              <a:t>45</a:t>
            </a:fld>
            <a:endParaRPr lang="en-GB"/>
          </a:p>
        </p:txBody>
      </p:sp>
    </p:spTree>
    <p:extLst>
      <p:ext uri="{BB962C8B-B14F-4D97-AF65-F5344CB8AC3E}">
        <p14:creationId xmlns:p14="http://schemas.microsoft.com/office/powerpoint/2010/main" val="3855285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04E0BC3-EB42-4835-A336-60E1E4491F8A}" type="slidenum">
              <a:rPr lang="en-US" smtClean="0"/>
              <a:pPr/>
              <a:t>46</a:t>
            </a:fld>
            <a:endParaRPr lang="en-US"/>
          </a:p>
        </p:txBody>
      </p:sp>
      <p:sp>
        <p:nvSpPr>
          <p:cNvPr id="67587" name="Rectangle 2"/>
          <p:cNvSpPr>
            <a:spLocks noGrp="1" noRot="1" noChangeAspect="1" noChangeArrowheads="1" noTextEdit="1"/>
          </p:cNvSpPr>
          <p:nvPr>
            <p:ph type="sldImg"/>
          </p:nvPr>
        </p:nvSpPr>
        <p:spPr>
          <a:xfrm>
            <a:off x="458788" y="720725"/>
            <a:ext cx="6397625" cy="3598863"/>
          </a:xfrm>
          <a:ln/>
        </p:spPr>
      </p:sp>
      <p:sp>
        <p:nvSpPr>
          <p:cNvPr id="67588"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8853260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304E0BC3-EB42-4835-A336-60E1E4491F8A}" type="slidenum">
              <a:rPr lang="en-US" smtClean="0"/>
              <a:pPr/>
              <a:t>47</a:t>
            </a:fld>
            <a:endParaRPr lang="en-US"/>
          </a:p>
        </p:txBody>
      </p:sp>
      <p:sp>
        <p:nvSpPr>
          <p:cNvPr id="67587" name="Rectangle 2"/>
          <p:cNvSpPr>
            <a:spLocks noGrp="1" noRot="1" noChangeAspect="1" noChangeArrowheads="1" noTextEdit="1"/>
          </p:cNvSpPr>
          <p:nvPr>
            <p:ph type="sldImg"/>
          </p:nvPr>
        </p:nvSpPr>
        <p:spPr>
          <a:xfrm>
            <a:off x="458788" y="720725"/>
            <a:ext cx="6397625" cy="3598863"/>
          </a:xfrm>
          <a:ln/>
        </p:spPr>
      </p:sp>
      <p:sp>
        <p:nvSpPr>
          <p:cNvPr id="67588"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7088874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5D0C5-6BB2-F8B5-FF17-3FFDBC020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D7C3D-4445-558E-BDDD-20965D2D7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F08EC-77F4-8639-6985-83ADEC8363AD}"/>
              </a:ext>
            </a:extLst>
          </p:cNvPr>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A340BFA-7AA3-D763-876C-28F5BA4E3535}"/>
              </a:ext>
            </a:extLst>
          </p:cNvPr>
          <p:cNvSpPr>
            <a:spLocks noGrp="1"/>
          </p:cNvSpPr>
          <p:nvPr>
            <p:ph type="sldNum" sz="quarter" idx="5"/>
          </p:nvPr>
        </p:nvSpPr>
        <p:spPr/>
        <p:txBody>
          <a:bodyPr/>
          <a:lstStyle/>
          <a:p>
            <a:fld id="{4657ABDB-F2BB-4FEE-968F-3086E12F6AE0}" type="slidenum">
              <a:rPr lang="en-GB" smtClean="0"/>
              <a:t>48</a:t>
            </a:fld>
            <a:endParaRPr lang="en-GB"/>
          </a:p>
        </p:txBody>
      </p:sp>
    </p:spTree>
    <p:extLst>
      <p:ext uri="{BB962C8B-B14F-4D97-AF65-F5344CB8AC3E}">
        <p14:creationId xmlns:p14="http://schemas.microsoft.com/office/powerpoint/2010/main" val="1284083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202580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50</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18690349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1E19-2E49-293B-8C6E-AB9FF870BD94}"/>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7A0D2D2F-9F90-DB88-23E8-E2EB1927C0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51</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CD9A8C09-3D9E-0A8C-724D-A4F1138CC08D}"/>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16E5114B-5659-B8F0-1079-B4C477D1E3E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11565269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AEEAC-3B04-7203-8D94-251F1B66B0DB}"/>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6284AD52-E764-4E0D-47A5-0E00781288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E9A0C49-509C-5F46-9879-66CBB1041243}" type="slidenum">
              <a:rPr lang="en-GB" altLang="en-US"/>
              <a:pPr>
                <a:spcBef>
                  <a:spcPct val="0"/>
                </a:spcBef>
              </a:pPr>
              <a:t>52</a:t>
            </a:fld>
            <a:endParaRPr lang="en-GB" altLang="en-US"/>
          </a:p>
        </p:txBody>
      </p:sp>
      <p:sp>
        <p:nvSpPr>
          <p:cNvPr id="65538" name="Rectangle 2">
            <a:extLst>
              <a:ext uri="{FF2B5EF4-FFF2-40B4-BE49-F238E27FC236}">
                <a16:creationId xmlns:a16="http://schemas.microsoft.com/office/drawing/2014/main" id="{A3A4ABDC-1431-F93D-3E53-6EBCFD6372E3}"/>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12E94D2-CF0B-F1D9-02A8-2DC614EF8C99}"/>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534408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8FF-4352-4D4E-1B56-874640892884}"/>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7B7B1F-1476-921E-F125-65DB10359159}"/>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F3F293A1-E87D-13F5-B6D8-40EF629AA3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4B95AEEB-3A31-F7C2-6D0E-ABF50D24CB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9B20F9-B0C9-4C43-AA44-6686FCE3390A}" type="slidenum">
              <a:rPr lang="en-GB" altLang="en-US" sz="1200" smtClean="0"/>
              <a:pPr/>
              <a:t>53</a:t>
            </a:fld>
            <a:endParaRPr lang="en-GB" altLang="en-US" sz="1200"/>
          </a:p>
        </p:txBody>
      </p:sp>
    </p:spTree>
    <p:extLst>
      <p:ext uri="{BB962C8B-B14F-4D97-AF65-F5344CB8AC3E}">
        <p14:creationId xmlns:p14="http://schemas.microsoft.com/office/powerpoint/2010/main" val="14707151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8529-677C-C7CB-7969-1BC2AAD7D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9DCE7-6FFB-B799-CD17-70226423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F377F-7CF9-4B7C-3454-EEDCC5CCBDE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7C2368A-2688-3081-DC3D-6F84D781C59A}"/>
              </a:ext>
            </a:extLst>
          </p:cNvPr>
          <p:cNvSpPr>
            <a:spLocks noGrp="1"/>
          </p:cNvSpPr>
          <p:nvPr>
            <p:ph type="sldNum" sz="quarter" idx="5"/>
          </p:nvPr>
        </p:nvSpPr>
        <p:spPr/>
        <p:txBody>
          <a:bodyPr/>
          <a:lstStyle/>
          <a:p>
            <a:fld id="{C6B3559C-4BE5-4262-A2E7-0EADDD5F845B}" type="slidenum">
              <a:rPr lang="en-GB" smtClean="0"/>
              <a:t>54</a:t>
            </a:fld>
            <a:endParaRPr lang="en-GB"/>
          </a:p>
        </p:txBody>
      </p:sp>
    </p:spTree>
    <p:extLst>
      <p:ext uri="{BB962C8B-B14F-4D97-AF65-F5344CB8AC3E}">
        <p14:creationId xmlns:p14="http://schemas.microsoft.com/office/powerpoint/2010/main" val="31395276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B98DA-5710-9903-DCD6-3C369924F5B9}"/>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327D0CB-EBDB-86E7-87FE-286A0CCBACE1}"/>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ABBCF46-A34A-1339-7D54-53CDD2F2EC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2956BDA8-30D7-0BCB-84DF-5A84D76A31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altLang="en-US" sz="120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657953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E4D-2DAB-4871-92D0-23CCBE321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D023-2691-83E4-AF0A-2EFCE90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C22AD-45AE-AD2B-52FF-51C3BEDF0B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ADD95E-C9D2-C4A8-A40B-7103171A9C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5118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8288000" cy="6540191"/>
          </a:xfrm>
          <a:solidFill>
            <a:schemeClr val="bg1">
              <a:lumMod val="95000"/>
            </a:schemeClr>
          </a:solidFill>
          <a:effectLst/>
        </p:spPr>
        <p:txBody>
          <a:bodyPr>
            <a:normAutofit/>
          </a:bodyPr>
          <a:lstStyle>
            <a:lvl1pPr marL="0" indent="0">
              <a:buNone/>
              <a:defRPr sz="195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56652959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2816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3773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8131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4552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9655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18143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2966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0127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27973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2095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59304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4443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6" r:id="rId12"/>
    <p:sldLayoutId id="2147483687" r:id="rId13"/>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85042989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image" Target="../media/image9.jpeg"/><Relationship Id="rId7" Type="http://schemas.openxmlformats.org/officeDocument/2006/relationships/image" Target="../media/image13.emf"/><Relationship Id="rId12" Type="http://schemas.openxmlformats.org/officeDocument/2006/relationships/image" Target="../media/image6.jpeg"/><Relationship Id="rId2" Type="http://schemas.openxmlformats.org/officeDocument/2006/relationships/notesSlide" Target="../notesSlides/notesSlide4.xml"/><Relationship Id="rId16"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12.emf"/><Relationship Id="rId11" Type="http://schemas.openxmlformats.org/officeDocument/2006/relationships/image" Target="../media/image17.jpeg"/><Relationship Id="rId5" Type="http://schemas.openxmlformats.org/officeDocument/2006/relationships/image" Target="../media/image11.png"/><Relationship Id="rId15" Type="http://schemas.openxmlformats.org/officeDocument/2006/relationships/image" Target="../media/image19.pn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png"/><Relationship Id="rId1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2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20.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hyperlink" Target="https://www.ipcc.ch/"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8.jp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jpe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3.jpg"/></Relationships>
</file>

<file path=ppt/slides/_rels/slide2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46.jpeg"/><Relationship Id="rId4" Type="http://schemas.openxmlformats.org/officeDocument/2006/relationships/image" Target="../media/image45.jpg"/></Relationships>
</file>

<file path=ppt/slides/_rels/slide2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png"/><Relationship Id="rId4" Type="http://schemas.openxmlformats.org/officeDocument/2006/relationships/image" Target="../media/image49.jpeg"/></Relationships>
</file>

<file path=ppt/slides/_rels/slide30.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6.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png"/><Relationship Id="rId4" Type="http://schemas.openxmlformats.org/officeDocument/2006/relationships/image" Target="../media/image53.jpeg"/></Relationships>
</file>

<file path=ppt/slides/_rels/slide31.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57.jpeg"/><Relationship Id="rId7" Type="http://schemas.openxmlformats.org/officeDocument/2006/relationships/image" Target="../media/image61.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 Id="rId9" Type="http://schemas.openxmlformats.org/officeDocument/2006/relationships/image" Target="../media/image63.jpe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hyperlink" Target="http://downloads.climatescience.gov/sap/sap3-3/sap3-3-final-all.pdf"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7.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86.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88.gif"/><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91.png"/><Relationship Id="rId9" Type="http://schemas.microsoft.com/office/2007/relationships/diagramDrawing" Target="../diagrams/drawing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20.xml"/><Relationship Id="rId5" Type="http://schemas.openxmlformats.org/officeDocument/2006/relationships/image" Target="../media/image93.png"/><Relationship Id="rId4" Type="http://schemas.openxmlformats.org/officeDocument/2006/relationships/image" Target="../media/image92.png"/></Relationships>
</file>

<file path=ppt/slides/_rels/slide5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49.xml"/><Relationship Id="rId1" Type="http://schemas.openxmlformats.org/officeDocument/2006/relationships/slideLayout" Target="../slideLayouts/slideLayout20.xml"/><Relationship Id="rId4"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0" y="5143500"/>
            <a:ext cx="14764384" cy="1380378"/>
          </a:xfrm>
          <a:prstGeom prst="rect">
            <a:avLst/>
          </a:prstGeom>
        </p:spPr>
        <p:txBody>
          <a:bodyPr wrap="square" lIns="0" tIns="0" rIns="0" bIns="0" rtlCol="0" anchor="t">
            <a:spAutoFit/>
          </a:bodyPr>
          <a:lstStyle/>
          <a:p>
            <a:pPr marL="0" marR="0" lvl="0" indent="0" algn="l" defTabSz="914400" rtl="0" eaLnBrk="1" fontAlgn="auto" latinLnBrk="0" hangingPunct="1">
              <a:lnSpc>
                <a:spcPts val="10999"/>
              </a:lnSpc>
              <a:spcBef>
                <a:spcPts val="0"/>
              </a:spcBef>
              <a:spcAft>
                <a:spcPts val="0"/>
              </a:spcAft>
              <a:buClrTx/>
              <a:buSzTx/>
              <a:buFontTx/>
              <a:buNone/>
              <a:tabLst/>
              <a:defRPr/>
            </a:pPr>
            <a:r>
              <a:rPr kumimoji="0" lang="en-GB" altLang="en-US" sz="8800"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8799"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4"/>
            <a:ext cx="7772400" cy="2585901"/>
          </a:xfrm>
          <a:prstGeom prst="rect">
            <a:avLst/>
          </a:prstGeom>
        </p:spPr>
        <p:txBody>
          <a:bodyPr wrap="square" lIns="0" tIns="0" rIns="0" bIns="0" rtlCol="0" anchor="t">
            <a:spAutoFit/>
          </a:bodyPr>
          <a:lstStyle/>
          <a:p>
            <a:pPr marL="0" marR="0" lvl="0" indent="0" algn="l" defTabSz="914400" rtl="0" eaLnBrk="1" fontAlgn="auto" latinLnBrk="0" hangingPunct="1">
              <a:lnSpc>
                <a:spcPts val="10999"/>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n-ea"/>
                <a:cs typeface="+mn-cs"/>
              </a:rPr>
              <a:t>Week 1</a:t>
            </a:r>
          </a:p>
          <a:p>
            <a:pPr marL="0" marR="0" lvl="0" indent="0" algn="l" defTabSz="914400" rtl="0" eaLnBrk="1" fontAlgn="auto" latinLnBrk="0" hangingPunct="1">
              <a:lnSpc>
                <a:spcPts val="10999"/>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3200"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3200"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268361" y="8975011"/>
            <a:ext cx="90477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2400" b="0" i="0" u="none" strike="noStrike" kern="1200" cap="none" spc="0" normalizeH="0" baseline="0" noProof="0" dirty="0">
              <a:ln>
                <a:noFill/>
              </a:ln>
              <a:solidFill>
                <a:prstClr val="white"/>
              </a:solidFill>
              <a:effectLst/>
              <a:uLnTx/>
              <a:uFillTx/>
              <a:latin typeface="DM Sans"/>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990600" y="2171700"/>
            <a:ext cx="7994305" cy="919480"/>
          </a:xfrm>
          <a:prstGeom prst="rect">
            <a:avLst/>
          </a:prstGeom>
        </p:spPr>
        <p:txBody>
          <a:bodyPr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0" i="1" u="none" strike="noStrike" kern="1200" cap="none" spc="-412" normalizeH="0" baseline="0" noProof="0" dirty="0">
                <a:ln>
                  <a:noFill/>
                </a:ln>
                <a:solidFill>
                  <a:srgbClr val="46245A"/>
                </a:solidFill>
                <a:effectLst/>
                <a:uLnTx/>
                <a:uFillTx/>
                <a:latin typeface="DM Sans Bold"/>
                <a:ea typeface="+mn-ea"/>
                <a:cs typeface="+mn-cs"/>
              </a:rPr>
              <a:t>Today’s class</a:t>
            </a:r>
          </a:p>
        </p:txBody>
      </p:sp>
      <p:sp>
        <p:nvSpPr>
          <p:cNvPr id="3" name="Freeform 13">
            <a:extLst>
              <a:ext uri="{FF2B5EF4-FFF2-40B4-BE49-F238E27FC236}">
                <a16:creationId xmlns:a16="http://schemas.microsoft.com/office/drawing/2014/main" id="{110E8D5E-37F5-D004-AA80-8A76901C57F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5">
            <a:extLst>
              <a:ext uri="{FF2B5EF4-FFF2-40B4-BE49-F238E27FC236}">
                <a16:creationId xmlns:a16="http://schemas.microsoft.com/office/drawing/2014/main" id="{C66361C3-1D76-1661-44D6-DBA0EA683ABC}"/>
              </a:ext>
            </a:extLst>
          </p:cNvPr>
          <p:cNvSpPr txBox="1"/>
          <p:nvPr/>
        </p:nvSpPr>
        <p:spPr>
          <a:xfrm>
            <a:off x="990600" y="5143500"/>
            <a:ext cx="8491412" cy="2118465"/>
          </a:xfrm>
          <a:prstGeom prst="rect">
            <a:avLst/>
          </a:prstGeom>
        </p:spPr>
        <p:txBody>
          <a:bodyPr wrap="square" lIns="0" tIns="0" rIns="0" bIns="0" rtlCol="0" anchor="t">
            <a:spAutoFit/>
          </a:bodyPr>
          <a:lstStyle/>
          <a:p>
            <a:pPr marL="179502" lvl="1" defTabSz="609630" eaLnBrk="1" fontAlgn="auto" hangingPunct="1">
              <a:lnSpc>
                <a:spcPts val="3333"/>
              </a:lnSpc>
              <a:spcBef>
                <a:spcPts val="0"/>
              </a:spcBef>
              <a:spcAft>
                <a:spcPts val="0"/>
              </a:spcAft>
              <a:defRPr/>
            </a:pPr>
            <a:r>
              <a:rPr lang="en-US" sz="3200" b="1" spc="33" dirty="0">
                <a:solidFill>
                  <a:srgbClr val="FAB700"/>
                </a:solidFill>
                <a:latin typeface="Calibri" panose="020F0502020204030204" pitchFamily="34" charset="0"/>
                <a:cs typeface="Calibri" panose="020F0502020204030204" pitchFamily="34" charset="0"/>
              </a:rPr>
              <a:t>Part 1: </a:t>
            </a:r>
            <a:r>
              <a:rPr lang="en-US" sz="3200" b="1" spc="33" dirty="0">
                <a:solidFill>
                  <a:schemeClr val="bg1"/>
                </a:solidFill>
                <a:latin typeface="Calibri" panose="020F0502020204030204" pitchFamily="34" charset="0"/>
                <a:cs typeface="Calibri" panose="020F0502020204030204" pitchFamily="34" charset="0"/>
              </a:rPr>
              <a:t>Course details (10 mins)</a:t>
            </a:r>
          </a:p>
          <a:p>
            <a:pPr marL="179502" lvl="1" defTabSz="609630" eaLnBrk="1" fontAlgn="auto" hangingPunct="1">
              <a:lnSpc>
                <a:spcPts val="3333"/>
              </a:lnSpc>
              <a:spcBef>
                <a:spcPts val="0"/>
              </a:spcBef>
              <a:spcAft>
                <a:spcPts val="0"/>
              </a:spcAft>
              <a:defRPr/>
            </a:pPr>
            <a:endParaRPr lang="en-US" sz="3200" b="1" spc="33" dirty="0">
              <a:solidFill>
                <a:srgbClr val="FAB700"/>
              </a:solidFill>
              <a:latin typeface="Calibri" panose="020F0502020204030204" pitchFamily="34" charset="0"/>
              <a:cs typeface="Calibri" panose="020F0502020204030204" pitchFamily="34" charset="0"/>
            </a:endParaRPr>
          </a:p>
          <a:p>
            <a:pPr marL="179502" lvl="1" defTabSz="609630" eaLnBrk="1" fontAlgn="auto" hangingPunct="1">
              <a:lnSpc>
                <a:spcPts val="3333"/>
              </a:lnSpc>
              <a:spcBef>
                <a:spcPts val="0"/>
              </a:spcBef>
              <a:spcAft>
                <a:spcPts val="0"/>
              </a:spcAft>
              <a:defRPr/>
            </a:pPr>
            <a:r>
              <a:rPr lang="en-US" sz="3200" b="1" spc="33" dirty="0">
                <a:solidFill>
                  <a:srgbClr val="FAB700"/>
                </a:solidFill>
                <a:latin typeface="Calibri" panose="020F0502020204030204" pitchFamily="34" charset="0"/>
                <a:cs typeface="Calibri" panose="020F0502020204030204" pitchFamily="34" charset="0"/>
              </a:rPr>
              <a:t>Part 2: </a:t>
            </a:r>
            <a:r>
              <a:rPr lang="en-US" sz="3200" b="1" spc="33" dirty="0">
                <a:solidFill>
                  <a:srgbClr val="FFFFFF"/>
                </a:solidFill>
                <a:latin typeface="Calibri" panose="020F0502020204030204" pitchFamily="34" charset="0"/>
                <a:cs typeface="Calibri" panose="020F0502020204030204" pitchFamily="34" charset="0"/>
              </a:rPr>
              <a:t>Overview of key concepts (60 mins)</a:t>
            </a:r>
          </a:p>
          <a:p>
            <a:pPr marL="179502" lvl="1" defTabSz="609630" eaLnBrk="1" fontAlgn="auto" hangingPunct="1">
              <a:lnSpc>
                <a:spcPts val="3333"/>
              </a:lnSpc>
              <a:spcBef>
                <a:spcPts val="0"/>
              </a:spcBef>
              <a:spcAft>
                <a:spcPts val="0"/>
              </a:spcAft>
              <a:defRPr/>
            </a:pPr>
            <a:r>
              <a:rPr lang="en-US" sz="3200" b="1" spc="33" dirty="0">
                <a:solidFill>
                  <a:srgbClr val="FFFFFF"/>
                </a:solidFill>
                <a:latin typeface="Calibri" panose="020F0502020204030204" pitchFamily="34" charset="0"/>
                <a:cs typeface="Calibri" panose="020F0502020204030204" pitchFamily="34" charset="0"/>
              </a:rPr>
              <a:t> </a:t>
            </a:r>
          </a:p>
          <a:p>
            <a:pPr marL="179502" lvl="1" defTabSz="609630">
              <a:lnSpc>
                <a:spcPts val="3333"/>
              </a:lnSpc>
              <a:defRPr/>
            </a:pPr>
            <a:r>
              <a:rPr lang="en-US" sz="3200" b="1" spc="33" dirty="0">
                <a:solidFill>
                  <a:srgbClr val="FAB700"/>
                </a:solidFill>
                <a:latin typeface="Calibri" panose="020F0502020204030204" pitchFamily="34" charset="0"/>
                <a:cs typeface="Calibri" panose="020F0502020204030204" pitchFamily="34" charset="0"/>
              </a:rPr>
              <a:t>Part 3: </a:t>
            </a:r>
            <a:r>
              <a:rPr lang="en-US" sz="3200" b="1" spc="33" dirty="0">
                <a:solidFill>
                  <a:srgbClr val="FFFFFF"/>
                </a:solidFill>
                <a:latin typeface="Calibri" panose="020F0502020204030204" pitchFamily="34" charset="0"/>
                <a:cs typeface="Calibri" panose="020F0502020204030204" pitchFamily="34" charset="0"/>
              </a:rPr>
              <a:t>Q/A (10 mins)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798"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2171700"/>
            <a:ext cx="7994305" cy="919480"/>
          </a:xfrm>
          <a:prstGeom prst="rect">
            <a:avLst/>
          </a:prstGeom>
        </p:spPr>
        <p:txBody>
          <a:bodyPr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1" i="1" u="none" strike="noStrike" kern="1200" cap="none" spc="-412" normalizeH="0" baseline="0" noProof="0" dirty="0">
                <a:ln>
                  <a:noFill/>
                </a:ln>
                <a:solidFill>
                  <a:srgbClr val="46245A"/>
                </a:solidFill>
                <a:effectLst/>
                <a:uLnTx/>
                <a:uFillTx/>
                <a:latin typeface="DM Sans Bold"/>
                <a:ea typeface="+mn-ea"/>
                <a:cs typeface="+mn-cs"/>
              </a:rPr>
              <a:t>My Background</a:t>
            </a:r>
          </a:p>
        </p:txBody>
      </p:sp>
      <p:sp>
        <p:nvSpPr>
          <p:cNvPr id="6" name="TextBox 5">
            <a:extLst>
              <a:ext uri="{FF2B5EF4-FFF2-40B4-BE49-F238E27FC236}">
                <a16:creationId xmlns:a16="http://schemas.microsoft.com/office/drawing/2014/main" id="{F09A0A17-9C73-C1A1-0276-4D593CD0F60C}"/>
              </a:ext>
            </a:extLst>
          </p:cNvPr>
          <p:cNvSpPr txBox="1"/>
          <p:nvPr/>
        </p:nvSpPr>
        <p:spPr>
          <a:xfrm>
            <a:off x="584198" y="3633438"/>
            <a:ext cx="11321290"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2009 - 2012 Environmental Science at UoM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2010 – Completed this course, taught by Prof Carl Percival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2011 - 3rd Year dissertation with Carl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2012 - Started PhD with Carl in Atmospherics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2015 – 2023 Research Fellow </a:t>
            </a:r>
          </a:p>
        </p:txBody>
      </p:sp>
      <p:pic>
        <p:nvPicPr>
          <p:cNvPr id="8" name="Picture 7" descr="A group of men standing in front of a sign&#10;&#10;Description automatically generated">
            <a:extLst>
              <a:ext uri="{FF2B5EF4-FFF2-40B4-BE49-F238E27FC236}">
                <a16:creationId xmlns:a16="http://schemas.microsoft.com/office/drawing/2014/main" id="{A8F5D19E-3821-9B3C-84AE-87A4AF029539}"/>
              </a:ext>
            </a:extLst>
          </p:cNvPr>
          <p:cNvPicPr>
            <a:picLocks noChangeAspect="1"/>
          </p:cNvPicPr>
          <p:nvPr/>
        </p:nvPicPr>
        <p:blipFill rotWithShape="1">
          <a:blip r:embed="rId4">
            <a:extLst>
              <a:ext uri="{28A0092B-C50C-407E-A947-70E740481C1C}">
                <a14:useLocalDpi xmlns:a14="http://schemas.microsoft.com/office/drawing/2010/main" val="0"/>
              </a:ext>
            </a:extLst>
          </a:blip>
          <a:srcRect r="11365"/>
          <a:stretch/>
        </p:blipFill>
        <p:spPr>
          <a:xfrm>
            <a:off x="10816108" y="3261007"/>
            <a:ext cx="7178546" cy="6074288"/>
          </a:xfrm>
          <a:prstGeom prst="rect">
            <a:avLst/>
          </a:prstGeom>
        </p:spPr>
      </p:pic>
      <p:pic>
        <p:nvPicPr>
          <p:cNvPr id="10" name="Picture 2" descr="The FAAM BAE146 Aircraft.">
            <a:extLst>
              <a:ext uri="{FF2B5EF4-FFF2-40B4-BE49-F238E27FC236}">
                <a16:creationId xmlns:a16="http://schemas.microsoft.com/office/drawing/2014/main" id="{DC362AAE-772D-5D49-403F-6F63CB3B4F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06908" y="6862991"/>
            <a:ext cx="3708457" cy="24723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nask.man.ac.uk\home$\IMG_20161103_114710 %281%29.jpg">
            <a:extLst>
              <a:ext uri="{FF2B5EF4-FFF2-40B4-BE49-F238E27FC236}">
                <a16:creationId xmlns:a16="http://schemas.microsoft.com/office/drawing/2014/main" id="{BE2E9868-422A-4D10-8785-2DA647D95BE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48299" y="6862990"/>
            <a:ext cx="3274631" cy="24559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24E4536-4361-0F8A-91C5-6693CEFE7500}"/>
              </a:ext>
            </a:extLst>
          </p:cNvPr>
          <p:cNvPicPr>
            <a:picLocks noChangeAspect="1"/>
          </p:cNvPicPr>
          <p:nvPr/>
        </p:nvPicPr>
        <p:blipFill rotWithShape="1">
          <a:blip r:embed="rId7"/>
          <a:srcRect l="7321" r="13973"/>
          <a:stretch/>
        </p:blipFill>
        <p:spPr>
          <a:xfrm>
            <a:off x="715615" y="6887312"/>
            <a:ext cx="2778237" cy="2455976"/>
          </a:xfrm>
          <a:prstGeom prst="rect">
            <a:avLst/>
          </a:prstGeom>
        </p:spPr>
      </p:pic>
    </p:spTree>
    <p:extLst>
      <p:ext uri="{BB962C8B-B14F-4D97-AF65-F5344CB8AC3E}">
        <p14:creationId xmlns:p14="http://schemas.microsoft.com/office/powerpoint/2010/main" val="872765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reeform 248"/>
          <p:cNvSpPr>
            <a:spLocks noChangeArrowheads="1"/>
          </p:cNvSpPr>
          <p:nvPr/>
        </p:nvSpPr>
        <p:spPr bwMode="auto">
          <a:xfrm>
            <a:off x="11662950" y="6873791"/>
            <a:ext cx="368700" cy="917591"/>
          </a:xfrm>
          <a:custGeom>
            <a:avLst/>
            <a:gdLst>
              <a:gd name="T0" fmla="*/ 419 w 445"/>
              <a:gd name="T1" fmla="*/ 253 h 698"/>
              <a:gd name="T2" fmla="*/ 234 w 445"/>
              <a:gd name="T3" fmla="*/ 253 h 698"/>
              <a:gd name="T4" fmla="*/ 234 w 445"/>
              <a:gd name="T5" fmla="*/ 232 h 698"/>
              <a:gd name="T6" fmla="*/ 234 w 445"/>
              <a:gd name="T7" fmla="*/ 232 h 698"/>
              <a:gd name="T8" fmla="*/ 276 w 445"/>
              <a:gd name="T9" fmla="*/ 180 h 698"/>
              <a:gd name="T10" fmla="*/ 276 w 445"/>
              <a:gd name="T11" fmla="*/ 97 h 698"/>
              <a:gd name="T12" fmla="*/ 276 w 445"/>
              <a:gd name="T13" fmla="*/ 97 h 698"/>
              <a:gd name="T14" fmla="*/ 234 w 445"/>
              <a:gd name="T15" fmla="*/ 46 h 698"/>
              <a:gd name="T16" fmla="*/ 234 w 445"/>
              <a:gd name="T17" fmla="*/ 27 h 698"/>
              <a:gd name="T18" fmla="*/ 234 w 445"/>
              <a:gd name="T19" fmla="*/ 27 h 698"/>
              <a:gd name="T20" fmla="*/ 419 w 445"/>
              <a:gd name="T21" fmla="*/ 223 h 698"/>
              <a:gd name="T22" fmla="*/ 419 w 445"/>
              <a:gd name="T23" fmla="*/ 253 h 698"/>
              <a:gd name="T24" fmla="*/ 222 w 445"/>
              <a:gd name="T25" fmla="*/ 673 h 698"/>
              <a:gd name="T26" fmla="*/ 222 w 445"/>
              <a:gd name="T27" fmla="*/ 673 h 698"/>
              <a:gd name="T28" fmla="*/ 24 w 445"/>
              <a:gd name="T29" fmla="*/ 475 h 698"/>
              <a:gd name="T30" fmla="*/ 24 w 445"/>
              <a:gd name="T31" fmla="*/ 277 h 698"/>
              <a:gd name="T32" fmla="*/ 419 w 445"/>
              <a:gd name="T33" fmla="*/ 277 h 698"/>
              <a:gd name="T34" fmla="*/ 419 w 445"/>
              <a:gd name="T35" fmla="*/ 475 h 698"/>
              <a:gd name="T36" fmla="*/ 419 w 445"/>
              <a:gd name="T37" fmla="*/ 475 h 698"/>
              <a:gd name="T38" fmla="*/ 222 w 445"/>
              <a:gd name="T39" fmla="*/ 673 h 698"/>
              <a:gd name="T40" fmla="*/ 209 w 445"/>
              <a:gd name="T41" fmla="*/ 27 h 698"/>
              <a:gd name="T42" fmla="*/ 209 w 445"/>
              <a:gd name="T43" fmla="*/ 46 h 698"/>
              <a:gd name="T44" fmla="*/ 209 w 445"/>
              <a:gd name="T45" fmla="*/ 46 h 698"/>
              <a:gd name="T46" fmla="*/ 167 w 445"/>
              <a:gd name="T47" fmla="*/ 97 h 698"/>
              <a:gd name="T48" fmla="*/ 167 w 445"/>
              <a:gd name="T49" fmla="*/ 180 h 698"/>
              <a:gd name="T50" fmla="*/ 167 w 445"/>
              <a:gd name="T51" fmla="*/ 180 h 698"/>
              <a:gd name="T52" fmla="*/ 209 w 445"/>
              <a:gd name="T53" fmla="*/ 232 h 698"/>
              <a:gd name="T54" fmla="*/ 209 w 445"/>
              <a:gd name="T55" fmla="*/ 253 h 698"/>
              <a:gd name="T56" fmla="*/ 24 w 445"/>
              <a:gd name="T57" fmla="*/ 253 h 698"/>
              <a:gd name="T58" fmla="*/ 24 w 445"/>
              <a:gd name="T59" fmla="*/ 223 h 698"/>
              <a:gd name="T60" fmla="*/ 24 w 445"/>
              <a:gd name="T61" fmla="*/ 223 h 698"/>
              <a:gd name="T62" fmla="*/ 209 w 445"/>
              <a:gd name="T63" fmla="*/ 27 h 698"/>
              <a:gd name="T64" fmla="*/ 222 w 445"/>
              <a:gd name="T65" fmla="*/ 210 h 698"/>
              <a:gd name="T66" fmla="*/ 222 w 445"/>
              <a:gd name="T67" fmla="*/ 210 h 698"/>
              <a:gd name="T68" fmla="*/ 192 w 445"/>
              <a:gd name="T69" fmla="*/ 180 h 698"/>
              <a:gd name="T70" fmla="*/ 192 w 445"/>
              <a:gd name="T71" fmla="*/ 97 h 698"/>
              <a:gd name="T72" fmla="*/ 192 w 445"/>
              <a:gd name="T73" fmla="*/ 97 h 698"/>
              <a:gd name="T74" fmla="*/ 222 w 445"/>
              <a:gd name="T75" fmla="*/ 67 h 698"/>
              <a:gd name="T76" fmla="*/ 222 w 445"/>
              <a:gd name="T77" fmla="*/ 67 h 698"/>
              <a:gd name="T78" fmla="*/ 251 w 445"/>
              <a:gd name="T79" fmla="*/ 97 h 698"/>
              <a:gd name="T80" fmla="*/ 251 w 445"/>
              <a:gd name="T81" fmla="*/ 180 h 698"/>
              <a:gd name="T82" fmla="*/ 251 w 445"/>
              <a:gd name="T83" fmla="*/ 180 h 698"/>
              <a:gd name="T84" fmla="*/ 222 w 445"/>
              <a:gd name="T85" fmla="*/ 210 h 698"/>
              <a:gd name="T86" fmla="*/ 222 w 445"/>
              <a:gd name="T87" fmla="*/ 0 h 698"/>
              <a:gd name="T88" fmla="*/ 222 w 445"/>
              <a:gd name="T89" fmla="*/ 0 h 698"/>
              <a:gd name="T90" fmla="*/ 0 w 445"/>
              <a:gd name="T91" fmla="*/ 223 h 698"/>
              <a:gd name="T92" fmla="*/ 0 w 445"/>
              <a:gd name="T93" fmla="*/ 475 h 698"/>
              <a:gd name="T94" fmla="*/ 0 w 445"/>
              <a:gd name="T95" fmla="*/ 475 h 698"/>
              <a:gd name="T96" fmla="*/ 222 w 445"/>
              <a:gd name="T97" fmla="*/ 697 h 698"/>
              <a:gd name="T98" fmla="*/ 222 w 445"/>
              <a:gd name="T99" fmla="*/ 697 h 698"/>
              <a:gd name="T100" fmla="*/ 444 w 445"/>
              <a:gd name="T101" fmla="*/ 475 h 698"/>
              <a:gd name="T102" fmla="*/ 444 w 445"/>
              <a:gd name="T103" fmla="*/ 223 h 698"/>
              <a:gd name="T104" fmla="*/ 444 w 445"/>
              <a:gd name="T105" fmla="*/ 223 h 698"/>
              <a:gd name="T106" fmla="*/ 222 w 445"/>
              <a:gd name="T107" fmla="*/ 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698">
                <a:moveTo>
                  <a:pt x="419" y="253"/>
                </a:moveTo>
                <a:lnTo>
                  <a:pt x="234" y="253"/>
                </a:lnTo>
                <a:lnTo>
                  <a:pt x="234" y="232"/>
                </a:lnTo>
                <a:lnTo>
                  <a:pt x="234" y="232"/>
                </a:lnTo>
                <a:cubicBezTo>
                  <a:pt x="258" y="227"/>
                  <a:pt x="276" y="207"/>
                  <a:pt x="276" y="180"/>
                </a:cubicBezTo>
                <a:lnTo>
                  <a:pt x="276" y="97"/>
                </a:lnTo>
                <a:lnTo>
                  <a:pt x="276" y="97"/>
                </a:lnTo>
                <a:cubicBezTo>
                  <a:pt x="276" y="71"/>
                  <a:pt x="258" y="50"/>
                  <a:pt x="234" y="46"/>
                </a:cubicBezTo>
                <a:lnTo>
                  <a:pt x="234" y="27"/>
                </a:lnTo>
                <a:lnTo>
                  <a:pt x="234" y="27"/>
                </a:lnTo>
                <a:cubicBezTo>
                  <a:pt x="337" y="34"/>
                  <a:pt x="419" y="119"/>
                  <a:pt x="419" y="223"/>
                </a:cubicBezTo>
                <a:lnTo>
                  <a:pt x="419" y="253"/>
                </a:lnTo>
                <a:close/>
                <a:moveTo>
                  <a:pt x="222" y="673"/>
                </a:moveTo>
                <a:lnTo>
                  <a:pt x="222" y="673"/>
                </a:lnTo>
                <a:cubicBezTo>
                  <a:pt x="113" y="673"/>
                  <a:pt x="24" y="583"/>
                  <a:pt x="24" y="475"/>
                </a:cubicBezTo>
                <a:lnTo>
                  <a:pt x="24" y="277"/>
                </a:lnTo>
                <a:lnTo>
                  <a:pt x="419" y="277"/>
                </a:lnTo>
                <a:lnTo>
                  <a:pt x="419" y="475"/>
                </a:lnTo>
                <a:lnTo>
                  <a:pt x="419" y="475"/>
                </a:lnTo>
                <a:cubicBezTo>
                  <a:pt x="419" y="583"/>
                  <a:pt x="331" y="673"/>
                  <a:pt x="222" y="673"/>
                </a:cubicBezTo>
                <a:close/>
                <a:moveTo>
                  <a:pt x="209" y="27"/>
                </a:moveTo>
                <a:lnTo>
                  <a:pt x="209" y="46"/>
                </a:lnTo>
                <a:lnTo>
                  <a:pt x="209" y="46"/>
                </a:lnTo>
                <a:cubicBezTo>
                  <a:pt x="185" y="50"/>
                  <a:pt x="167" y="71"/>
                  <a:pt x="167" y="97"/>
                </a:cubicBezTo>
                <a:lnTo>
                  <a:pt x="167" y="180"/>
                </a:lnTo>
                <a:lnTo>
                  <a:pt x="167" y="180"/>
                </a:lnTo>
                <a:cubicBezTo>
                  <a:pt x="167" y="207"/>
                  <a:pt x="185" y="227"/>
                  <a:pt x="209" y="232"/>
                </a:cubicBezTo>
                <a:lnTo>
                  <a:pt x="209" y="253"/>
                </a:lnTo>
                <a:lnTo>
                  <a:pt x="24" y="253"/>
                </a:lnTo>
                <a:lnTo>
                  <a:pt x="24" y="223"/>
                </a:lnTo>
                <a:lnTo>
                  <a:pt x="24" y="223"/>
                </a:lnTo>
                <a:cubicBezTo>
                  <a:pt x="24" y="119"/>
                  <a:pt x="106" y="34"/>
                  <a:pt x="209" y="27"/>
                </a:cubicBezTo>
                <a:close/>
                <a:moveTo>
                  <a:pt x="222" y="210"/>
                </a:moveTo>
                <a:lnTo>
                  <a:pt x="222" y="210"/>
                </a:lnTo>
                <a:cubicBezTo>
                  <a:pt x="205" y="210"/>
                  <a:pt x="192" y="197"/>
                  <a:pt x="192" y="180"/>
                </a:cubicBezTo>
                <a:lnTo>
                  <a:pt x="192" y="97"/>
                </a:lnTo>
                <a:lnTo>
                  <a:pt x="192" y="97"/>
                </a:lnTo>
                <a:cubicBezTo>
                  <a:pt x="192" y="81"/>
                  <a:pt x="205" y="67"/>
                  <a:pt x="222" y="67"/>
                </a:cubicBezTo>
                <a:lnTo>
                  <a:pt x="222" y="67"/>
                </a:lnTo>
                <a:cubicBezTo>
                  <a:pt x="239" y="67"/>
                  <a:pt x="251" y="81"/>
                  <a:pt x="251" y="97"/>
                </a:cubicBezTo>
                <a:lnTo>
                  <a:pt x="251" y="180"/>
                </a:lnTo>
                <a:lnTo>
                  <a:pt x="251" y="180"/>
                </a:lnTo>
                <a:cubicBezTo>
                  <a:pt x="251" y="197"/>
                  <a:pt x="239" y="210"/>
                  <a:pt x="222" y="210"/>
                </a:cubicBezTo>
                <a:close/>
                <a:moveTo>
                  <a:pt x="222" y="0"/>
                </a:moveTo>
                <a:lnTo>
                  <a:pt x="222" y="0"/>
                </a:lnTo>
                <a:cubicBezTo>
                  <a:pt x="100" y="0"/>
                  <a:pt x="0" y="100"/>
                  <a:pt x="0" y="223"/>
                </a:cubicBezTo>
                <a:lnTo>
                  <a:pt x="0" y="475"/>
                </a:lnTo>
                <a:lnTo>
                  <a:pt x="0" y="475"/>
                </a:lnTo>
                <a:cubicBezTo>
                  <a:pt x="0" y="597"/>
                  <a:pt x="100" y="697"/>
                  <a:pt x="222" y="697"/>
                </a:cubicBezTo>
                <a:lnTo>
                  <a:pt x="222" y="697"/>
                </a:lnTo>
                <a:cubicBezTo>
                  <a:pt x="344" y="697"/>
                  <a:pt x="444" y="597"/>
                  <a:pt x="444" y="475"/>
                </a:cubicBezTo>
                <a:lnTo>
                  <a:pt x="444" y="223"/>
                </a:lnTo>
                <a:lnTo>
                  <a:pt x="444" y="223"/>
                </a:lnTo>
                <a:cubicBezTo>
                  <a:pt x="444" y="100"/>
                  <a:pt x="344" y="0"/>
                  <a:pt x="222" y="0"/>
                </a:cubicBezTo>
                <a:close/>
              </a:path>
            </a:pathLst>
          </a:custGeom>
          <a:solidFill>
            <a:schemeClr val="bg1"/>
          </a:solidFill>
          <a:ln>
            <a:noFill/>
          </a:ln>
          <a:effectLst/>
        </p:spPr>
        <p:txBody>
          <a:bodyPr wrap="none" anchor="ctr"/>
          <a:lstStyle/>
          <a:p>
            <a:endParaRPr lang="en-US" sz="3600" dirty="0">
              <a:latin typeface="Calibri" panose="020F0502020204030204" pitchFamily="34" charset="0"/>
            </a:endParaRPr>
          </a:p>
        </p:txBody>
      </p:sp>
      <p:grpSp>
        <p:nvGrpSpPr>
          <p:cNvPr id="53" name="Group 52"/>
          <p:cNvGrpSpPr/>
          <p:nvPr/>
        </p:nvGrpSpPr>
        <p:grpSpPr>
          <a:xfrm>
            <a:off x="15385297" y="6873791"/>
            <a:ext cx="554579" cy="882273"/>
            <a:chOff x="3661569" y="4579937"/>
            <a:chExt cx="250825" cy="250825"/>
          </a:xfrm>
          <a:solidFill>
            <a:schemeClr val="bg1"/>
          </a:solidFill>
        </p:grpSpPr>
        <p:sp>
          <p:nvSpPr>
            <p:cNvPr id="54" name="Freeform 245"/>
            <p:cNvSpPr>
              <a:spLocks noChangeArrowheads="1"/>
            </p:cNvSpPr>
            <p:nvPr/>
          </p:nvSpPr>
          <p:spPr bwMode="auto">
            <a:xfrm>
              <a:off x="3661569" y="4579937"/>
              <a:ext cx="250825" cy="250825"/>
            </a:xfrm>
            <a:custGeom>
              <a:avLst/>
              <a:gdLst>
                <a:gd name="T0" fmla="*/ 651 w 698"/>
                <a:gd name="T1" fmla="*/ 504 h 698"/>
                <a:gd name="T2" fmla="*/ 46 w 698"/>
                <a:gd name="T3" fmla="*/ 504 h 698"/>
                <a:gd name="T4" fmla="*/ 46 w 698"/>
                <a:gd name="T5" fmla="*/ 67 h 698"/>
                <a:gd name="T6" fmla="*/ 651 w 698"/>
                <a:gd name="T7" fmla="*/ 67 h 698"/>
                <a:gd name="T8" fmla="*/ 651 w 698"/>
                <a:gd name="T9" fmla="*/ 504 h 698"/>
                <a:gd name="T10" fmla="*/ 34 w 698"/>
                <a:gd name="T11" fmla="*/ 26 h 698"/>
                <a:gd name="T12" fmla="*/ 663 w 698"/>
                <a:gd name="T13" fmla="*/ 26 h 698"/>
                <a:gd name="T14" fmla="*/ 663 w 698"/>
                <a:gd name="T15" fmla="*/ 26 h 698"/>
                <a:gd name="T16" fmla="*/ 671 w 698"/>
                <a:gd name="T17" fmla="*/ 34 h 698"/>
                <a:gd name="T18" fmla="*/ 671 w 698"/>
                <a:gd name="T19" fmla="*/ 34 h 698"/>
                <a:gd name="T20" fmla="*/ 663 w 698"/>
                <a:gd name="T21" fmla="*/ 42 h 698"/>
                <a:gd name="T22" fmla="*/ 34 w 698"/>
                <a:gd name="T23" fmla="*/ 42 h 698"/>
                <a:gd name="T24" fmla="*/ 34 w 698"/>
                <a:gd name="T25" fmla="*/ 42 h 698"/>
                <a:gd name="T26" fmla="*/ 25 w 698"/>
                <a:gd name="T27" fmla="*/ 34 h 698"/>
                <a:gd name="T28" fmla="*/ 25 w 698"/>
                <a:gd name="T29" fmla="*/ 34 h 698"/>
                <a:gd name="T30" fmla="*/ 34 w 698"/>
                <a:gd name="T31" fmla="*/ 26 h 698"/>
                <a:gd name="T32" fmla="*/ 663 w 698"/>
                <a:gd name="T33" fmla="*/ 0 h 698"/>
                <a:gd name="T34" fmla="*/ 34 w 698"/>
                <a:gd name="T35" fmla="*/ 0 h 698"/>
                <a:gd name="T36" fmla="*/ 34 w 698"/>
                <a:gd name="T37" fmla="*/ 0 h 698"/>
                <a:gd name="T38" fmla="*/ 0 w 698"/>
                <a:gd name="T39" fmla="*/ 34 h 698"/>
                <a:gd name="T40" fmla="*/ 0 w 698"/>
                <a:gd name="T41" fmla="*/ 34 h 698"/>
                <a:gd name="T42" fmla="*/ 21 w 698"/>
                <a:gd name="T43" fmla="*/ 65 h 698"/>
                <a:gd name="T44" fmla="*/ 21 w 698"/>
                <a:gd name="T45" fmla="*/ 517 h 698"/>
                <a:gd name="T46" fmla="*/ 21 w 698"/>
                <a:gd name="T47" fmla="*/ 517 h 698"/>
                <a:gd name="T48" fmla="*/ 34 w 698"/>
                <a:gd name="T49" fmla="*/ 530 h 698"/>
                <a:gd name="T50" fmla="*/ 336 w 698"/>
                <a:gd name="T51" fmla="*/ 530 h 698"/>
                <a:gd name="T52" fmla="*/ 336 w 698"/>
                <a:gd name="T53" fmla="*/ 592 h 698"/>
                <a:gd name="T54" fmla="*/ 134 w 698"/>
                <a:gd name="T55" fmla="*/ 673 h 698"/>
                <a:gd name="T56" fmla="*/ 134 w 698"/>
                <a:gd name="T57" fmla="*/ 673 h 698"/>
                <a:gd name="T58" fmla="*/ 127 w 698"/>
                <a:gd name="T59" fmla="*/ 689 h 698"/>
                <a:gd name="T60" fmla="*/ 127 w 698"/>
                <a:gd name="T61" fmla="*/ 689 h 698"/>
                <a:gd name="T62" fmla="*/ 139 w 698"/>
                <a:gd name="T63" fmla="*/ 697 h 698"/>
                <a:gd name="T64" fmla="*/ 139 w 698"/>
                <a:gd name="T65" fmla="*/ 697 h 698"/>
                <a:gd name="T66" fmla="*/ 143 w 698"/>
                <a:gd name="T67" fmla="*/ 696 h 698"/>
                <a:gd name="T68" fmla="*/ 349 w 698"/>
                <a:gd name="T69" fmla="*/ 614 h 698"/>
                <a:gd name="T70" fmla="*/ 553 w 698"/>
                <a:gd name="T71" fmla="*/ 696 h 698"/>
                <a:gd name="T72" fmla="*/ 553 w 698"/>
                <a:gd name="T73" fmla="*/ 696 h 698"/>
                <a:gd name="T74" fmla="*/ 558 w 698"/>
                <a:gd name="T75" fmla="*/ 697 h 698"/>
                <a:gd name="T76" fmla="*/ 558 w 698"/>
                <a:gd name="T77" fmla="*/ 697 h 698"/>
                <a:gd name="T78" fmla="*/ 570 w 698"/>
                <a:gd name="T79" fmla="*/ 689 h 698"/>
                <a:gd name="T80" fmla="*/ 570 w 698"/>
                <a:gd name="T81" fmla="*/ 689 h 698"/>
                <a:gd name="T82" fmla="*/ 563 w 698"/>
                <a:gd name="T83" fmla="*/ 673 h 698"/>
                <a:gd name="T84" fmla="*/ 360 w 698"/>
                <a:gd name="T85" fmla="*/ 592 h 698"/>
                <a:gd name="T86" fmla="*/ 360 w 698"/>
                <a:gd name="T87" fmla="*/ 530 h 698"/>
                <a:gd name="T88" fmla="*/ 663 w 698"/>
                <a:gd name="T89" fmla="*/ 530 h 698"/>
                <a:gd name="T90" fmla="*/ 663 w 698"/>
                <a:gd name="T91" fmla="*/ 530 h 698"/>
                <a:gd name="T92" fmla="*/ 676 w 698"/>
                <a:gd name="T93" fmla="*/ 517 h 698"/>
                <a:gd name="T94" fmla="*/ 676 w 698"/>
                <a:gd name="T95" fmla="*/ 65 h 698"/>
                <a:gd name="T96" fmla="*/ 676 w 698"/>
                <a:gd name="T97" fmla="*/ 65 h 698"/>
                <a:gd name="T98" fmla="*/ 697 w 698"/>
                <a:gd name="T99" fmla="*/ 34 h 698"/>
                <a:gd name="T100" fmla="*/ 697 w 698"/>
                <a:gd name="T101" fmla="*/ 34 h 698"/>
                <a:gd name="T102" fmla="*/ 663 w 698"/>
                <a:gd name="T103" fmla="*/ 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8" h="698">
                  <a:moveTo>
                    <a:pt x="651" y="504"/>
                  </a:moveTo>
                  <a:lnTo>
                    <a:pt x="46" y="504"/>
                  </a:lnTo>
                  <a:lnTo>
                    <a:pt x="46" y="67"/>
                  </a:lnTo>
                  <a:lnTo>
                    <a:pt x="651" y="67"/>
                  </a:lnTo>
                  <a:lnTo>
                    <a:pt x="651" y="504"/>
                  </a:lnTo>
                  <a:close/>
                  <a:moveTo>
                    <a:pt x="34" y="26"/>
                  </a:moveTo>
                  <a:lnTo>
                    <a:pt x="663" y="26"/>
                  </a:lnTo>
                  <a:lnTo>
                    <a:pt x="663" y="26"/>
                  </a:lnTo>
                  <a:cubicBezTo>
                    <a:pt x="668" y="26"/>
                    <a:pt x="671" y="29"/>
                    <a:pt x="671" y="34"/>
                  </a:cubicBezTo>
                  <a:lnTo>
                    <a:pt x="671" y="34"/>
                  </a:lnTo>
                  <a:cubicBezTo>
                    <a:pt x="671" y="39"/>
                    <a:pt x="668" y="42"/>
                    <a:pt x="663" y="42"/>
                  </a:cubicBezTo>
                  <a:lnTo>
                    <a:pt x="34" y="42"/>
                  </a:lnTo>
                  <a:lnTo>
                    <a:pt x="34" y="42"/>
                  </a:lnTo>
                  <a:cubicBezTo>
                    <a:pt x="29" y="42"/>
                    <a:pt x="25" y="39"/>
                    <a:pt x="25" y="34"/>
                  </a:cubicBezTo>
                  <a:lnTo>
                    <a:pt x="25" y="34"/>
                  </a:lnTo>
                  <a:cubicBezTo>
                    <a:pt x="25" y="29"/>
                    <a:pt x="29" y="26"/>
                    <a:pt x="34" y="26"/>
                  </a:cubicBezTo>
                  <a:close/>
                  <a:moveTo>
                    <a:pt x="663" y="0"/>
                  </a:moveTo>
                  <a:lnTo>
                    <a:pt x="34" y="0"/>
                  </a:lnTo>
                  <a:lnTo>
                    <a:pt x="34" y="0"/>
                  </a:lnTo>
                  <a:cubicBezTo>
                    <a:pt x="15" y="0"/>
                    <a:pt x="0" y="15"/>
                    <a:pt x="0" y="34"/>
                  </a:cubicBezTo>
                  <a:lnTo>
                    <a:pt x="0" y="34"/>
                  </a:lnTo>
                  <a:cubicBezTo>
                    <a:pt x="0" y="48"/>
                    <a:pt x="8" y="60"/>
                    <a:pt x="21" y="65"/>
                  </a:cubicBezTo>
                  <a:lnTo>
                    <a:pt x="21" y="517"/>
                  </a:lnTo>
                  <a:lnTo>
                    <a:pt x="21" y="517"/>
                  </a:lnTo>
                  <a:cubicBezTo>
                    <a:pt x="21" y="524"/>
                    <a:pt x="27" y="530"/>
                    <a:pt x="34" y="530"/>
                  </a:cubicBezTo>
                  <a:lnTo>
                    <a:pt x="336" y="530"/>
                  </a:lnTo>
                  <a:lnTo>
                    <a:pt x="336" y="592"/>
                  </a:lnTo>
                  <a:lnTo>
                    <a:pt x="134" y="673"/>
                  </a:lnTo>
                  <a:lnTo>
                    <a:pt x="134" y="673"/>
                  </a:lnTo>
                  <a:cubicBezTo>
                    <a:pt x="128" y="675"/>
                    <a:pt x="124" y="683"/>
                    <a:pt x="127" y="689"/>
                  </a:cubicBezTo>
                  <a:lnTo>
                    <a:pt x="127" y="689"/>
                  </a:lnTo>
                  <a:cubicBezTo>
                    <a:pt x="129" y="694"/>
                    <a:pt x="134" y="697"/>
                    <a:pt x="139" y="697"/>
                  </a:cubicBezTo>
                  <a:lnTo>
                    <a:pt x="139" y="697"/>
                  </a:lnTo>
                  <a:cubicBezTo>
                    <a:pt x="140" y="697"/>
                    <a:pt x="141" y="697"/>
                    <a:pt x="143" y="696"/>
                  </a:cubicBezTo>
                  <a:lnTo>
                    <a:pt x="349" y="614"/>
                  </a:lnTo>
                  <a:lnTo>
                    <a:pt x="553" y="696"/>
                  </a:lnTo>
                  <a:lnTo>
                    <a:pt x="553" y="696"/>
                  </a:lnTo>
                  <a:cubicBezTo>
                    <a:pt x="555" y="697"/>
                    <a:pt x="557" y="697"/>
                    <a:pt x="558" y="697"/>
                  </a:cubicBezTo>
                  <a:lnTo>
                    <a:pt x="558" y="697"/>
                  </a:lnTo>
                  <a:cubicBezTo>
                    <a:pt x="563" y="697"/>
                    <a:pt x="568" y="694"/>
                    <a:pt x="570" y="689"/>
                  </a:cubicBezTo>
                  <a:lnTo>
                    <a:pt x="570" y="689"/>
                  </a:lnTo>
                  <a:cubicBezTo>
                    <a:pt x="573" y="683"/>
                    <a:pt x="569" y="675"/>
                    <a:pt x="563" y="673"/>
                  </a:cubicBezTo>
                  <a:lnTo>
                    <a:pt x="360" y="592"/>
                  </a:lnTo>
                  <a:lnTo>
                    <a:pt x="360" y="530"/>
                  </a:lnTo>
                  <a:lnTo>
                    <a:pt x="663" y="530"/>
                  </a:lnTo>
                  <a:lnTo>
                    <a:pt x="663" y="530"/>
                  </a:lnTo>
                  <a:cubicBezTo>
                    <a:pt x="670" y="530"/>
                    <a:pt x="676" y="524"/>
                    <a:pt x="676" y="517"/>
                  </a:cubicBezTo>
                  <a:lnTo>
                    <a:pt x="676" y="65"/>
                  </a:lnTo>
                  <a:lnTo>
                    <a:pt x="676" y="65"/>
                  </a:lnTo>
                  <a:cubicBezTo>
                    <a:pt x="688" y="60"/>
                    <a:pt x="697" y="48"/>
                    <a:pt x="697" y="34"/>
                  </a:cubicBezTo>
                  <a:lnTo>
                    <a:pt x="697" y="34"/>
                  </a:lnTo>
                  <a:cubicBezTo>
                    <a:pt x="697" y="15"/>
                    <a:pt x="681" y="0"/>
                    <a:pt x="663"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3600" dirty="0">
                <a:latin typeface="Calibri" panose="020F0502020204030204" pitchFamily="34" charset="0"/>
              </a:endParaRPr>
            </a:p>
          </p:txBody>
        </p:sp>
        <p:sp>
          <p:nvSpPr>
            <p:cNvPr id="55" name="Freeform 246"/>
            <p:cNvSpPr>
              <a:spLocks noChangeArrowheads="1"/>
            </p:cNvSpPr>
            <p:nvPr/>
          </p:nvSpPr>
          <p:spPr bwMode="auto">
            <a:xfrm>
              <a:off x="3736182" y="4632325"/>
              <a:ext cx="100012" cy="100012"/>
            </a:xfrm>
            <a:custGeom>
              <a:avLst/>
              <a:gdLst>
                <a:gd name="T0" fmla="*/ 126 w 278"/>
                <a:gd name="T1" fmla="*/ 27 h 278"/>
                <a:gd name="T2" fmla="*/ 126 w 278"/>
                <a:gd name="T3" fmla="*/ 152 h 278"/>
                <a:gd name="T4" fmla="*/ 250 w 278"/>
                <a:gd name="T5" fmla="*/ 152 h 278"/>
                <a:gd name="T6" fmla="*/ 250 w 278"/>
                <a:gd name="T7" fmla="*/ 152 h 278"/>
                <a:gd name="T8" fmla="*/ 138 w 278"/>
                <a:gd name="T9" fmla="*/ 252 h 278"/>
                <a:gd name="T10" fmla="*/ 138 w 278"/>
                <a:gd name="T11" fmla="*/ 252 h 278"/>
                <a:gd name="T12" fmla="*/ 25 w 278"/>
                <a:gd name="T13" fmla="*/ 139 h 278"/>
                <a:gd name="T14" fmla="*/ 25 w 278"/>
                <a:gd name="T15" fmla="*/ 139 h 278"/>
                <a:gd name="T16" fmla="*/ 126 w 278"/>
                <a:gd name="T17" fmla="*/ 27 h 278"/>
                <a:gd name="T18" fmla="*/ 250 w 278"/>
                <a:gd name="T19" fmla="*/ 126 h 278"/>
                <a:gd name="T20" fmla="*/ 150 w 278"/>
                <a:gd name="T21" fmla="*/ 126 h 278"/>
                <a:gd name="T22" fmla="*/ 150 w 278"/>
                <a:gd name="T23" fmla="*/ 27 h 278"/>
                <a:gd name="T24" fmla="*/ 150 w 278"/>
                <a:gd name="T25" fmla="*/ 27 h 278"/>
                <a:gd name="T26" fmla="*/ 250 w 278"/>
                <a:gd name="T27" fmla="*/ 126 h 278"/>
                <a:gd name="T28" fmla="*/ 138 w 278"/>
                <a:gd name="T29" fmla="*/ 277 h 278"/>
                <a:gd name="T30" fmla="*/ 138 w 278"/>
                <a:gd name="T31" fmla="*/ 277 h 278"/>
                <a:gd name="T32" fmla="*/ 277 w 278"/>
                <a:gd name="T33" fmla="*/ 139 h 278"/>
                <a:gd name="T34" fmla="*/ 277 w 278"/>
                <a:gd name="T35" fmla="*/ 139 h 278"/>
                <a:gd name="T36" fmla="*/ 138 w 278"/>
                <a:gd name="T37" fmla="*/ 0 h 278"/>
                <a:gd name="T38" fmla="*/ 138 w 278"/>
                <a:gd name="T39" fmla="*/ 0 h 278"/>
                <a:gd name="T40" fmla="*/ 0 w 278"/>
                <a:gd name="T41" fmla="*/ 139 h 278"/>
                <a:gd name="T42" fmla="*/ 0 w 278"/>
                <a:gd name="T43" fmla="*/ 139 h 278"/>
                <a:gd name="T44" fmla="*/ 138 w 278"/>
                <a:gd name="T45" fmla="*/ 27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8" h="278">
                  <a:moveTo>
                    <a:pt x="126" y="27"/>
                  </a:moveTo>
                  <a:lnTo>
                    <a:pt x="126" y="152"/>
                  </a:lnTo>
                  <a:lnTo>
                    <a:pt x="250" y="152"/>
                  </a:lnTo>
                  <a:lnTo>
                    <a:pt x="250" y="152"/>
                  </a:lnTo>
                  <a:cubicBezTo>
                    <a:pt x="244" y="208"/>
                    <a:pt x="197" y="252"/>
                    <a:pt x="138" y="252"/>
                  </a:cubicBezTo>
                  <a:lnTo>
                    <a:pt x="138" y="252"/>
                  </a:lnTo>
                  <a:cubicBezTo>
                    <a:pt x="76" y="252"/>
                    <a:pt x="25" y="202"/>
                    <a:pt x="25" y="139"/>
                  </a:cubicBezTo>
                  <a:lnTo>
                    <a:pt x="25" y="139"/>
                  </a:lnTo>
                  <a:cubicBezTo>
                    <a:pt x="25" y="80"/>
                    <a:pt x="70" y="33"/>
                    <a:pt x="126" y="27"/>
                  </a:cubicBezTo>
                  <a:close/>
                  <a:moveTo>
                    <a:pt x="250" y="126"/>
                  </a:moveTo>
                  <a:lnTo>
                    <a:pt x="150" y="126"/>
                  </a:lnTo>
                  <a:lnTo>
                    <a:pt x="150" y="27"/>
                  </a:lnTo>
                  <a:lnTo>
                    <a:pt x="150" y="27"/>
                  </a:lnTo>
                  <a:cubicBezTo>
                    <a:pt x="204" y="33"/>
                    <a:pt x="244" y="74"/>
                    <a:pt x="250" y="126"/>
                  </a:cubicBezTo>
                  <a:close/>
                  <a:moveTo>
                    <a:pt x="138" y="277"/>
                  </a:moveTo>
                  <a:lnTo>
                    <a:pt x="138" y="277"/>
                  </a:lnTo>
                  <a:cubicBezTo>
                    <a:pt x="215" y="277"/>
                    <a:pt x="277" y="216"/>
                    <a:pt x="277" y="139"/>
                  </a:cubicBezTo>
                  <a:lnTo>
                    <a:pt x="277" y="139"/>
                  </a:lnTo>
                  <a:cubicBezTo>
                    <a:pt x="277" y="63"/>
                    <a:pt x="215" y="0"/>
                    <a:pt x="138" y="0"/>
                  </a:cubicBezTo>
                  <a:lnTo>
                    <a:pt x="138" y="0"/>
                  </a:lnTo>
                  <a:cubicBezTo>
                    <a:pt x="62" y="0"/>
                    <a:pt x="0" y="63"/>
                    <a:pt x="0" y="139"/>
                  </a:cubicBezTo>
                  <a:lnTo>
                    <a:pt x="0" y="139"/>
                  </a:lnTo>
                  <a:cubicBezTo>
                    <a:pt x="0" y="216"/>
                    <a:pt x="62" y="277"/>
                    <a:pt x="138" y="27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3600" dirty="0">
                <a:latin typeface="Calibri" panose="020F0502020204030204" pitchFamily="34" charset="0"/>
              </a:endParaRPr>
            </a:p>
          </p:txBody>
        </p:sp>
      </p:grpSp>
      <p:sp>
        <p:nvSpPr>
          <p:cNvPr id="59" name="Freeform 60"/>
          <p:cNvSpPr>
            <a:spLocks noChangeArrowheads="1"/>
          </p:cNvSpPr>
          <p:nvPr/>
        </p:nvSpPr>
        <p:spPr bwMode="auto">
          <a:xfrm>
            <a:off x="3273948" y="7018567"/>
            <a:ext cx="619428" cy="625970"/>
          </a:xfrm>
          <a:custGeom>
            <a:avLst/>
            <a:gdLst>
              <a:gd name="T0" fmla="*/ 672 w 699"/>
              <a:gd name="T1" fmla="*/ 38 h 446"/>
              <a:gd name="T2" fmla="*/ 434 w 699"/>
              <a:gd name="T3" fmla="*/ 223 h 446"/>
              <a:gd name="T4" fmla="*/ 341 w 699"/>
              <a:gd name="T5" fmla="*/ 283 h 446"/>
              <a:gd name="T6" fmla="*/ 345 w 699"/>
              <a:gd name="T7" fmla="*/ 284 h 446"/>
              <a:gd name="T8" fmla="*/ 348 w 699"/>
              <a:gd name="T9" fmla="*/ 286 h 446"/>
              <a:gd name="T10" fmla="*/ 349 w 699"/>
              <a:gd name="T11" fmla="*/ 286 h 446"/>
              <a:gd name="T12" fmla="*/ 350 w 699"/>
              <a:gd name="T13" fmla="*/ 286 h 446"/>
              <a:gd name="T14" fmla="*/ 352 w 699"/>
              <a:gd name="T15" fmla="*/ 284 h 446"/>
              <a:gd name="T16" fmla="*/ 357 w 699"/>
              <a:gd name="T17" fmla="*/ 283 h 446"/>
              <a:gd name="T18" fmla="*/ 649 w 699"/>
              <a:gd name="T19" fmla="*/ 421 h 446"/>
              <a:gd name="T20" fmla="*/ 284 w 699"/>
              <a:gd name="T21" fmla="*/ 239 h 446"/>
              <a:gd name="T22" fmla="*/ 407 w 699"/>
              <a:gd name="T23" fmla="*/ 213 h 446"/>
              <a:gd name="T24" fmla="*/ 352 w 699"/>
              <a:gd name="T25" fmla="*/ 255 h 446"/>
              <a:gd name="T26" fmla="*/ 346 w 699"/>
              <a:gd name="T27" fmla="*/ 255 h 446"/>
              <a:gd name="T28" fmla="*/ 291 w 699"/>
              <a:gd name="T29" fmla="*/ 213 h 446"/>
              <a:gd name="T30" fmla="*/ 50 w 699"/>
              <a:gd name="T31" fmla="*/ 26 h 446"/>
              <a:gd name="T32" fmla="*/ 407 w 699"/>
              <a:gd name="T33" fmla="*/ 213 h 446"/>
              <a:gd name="T34" fmla="*/ 263 w 699"/>
              <a:gd name="T35" fmla="*/ 223 h 446"/>
              <a:gd name="T36" fmla="*/ 26 w 699"/>
              <a:gd name="T37" fmla="*/ 38 h 446"/>
              <a:gd name="T38" fmla="*/ 698 w 699"/>
              <a:gd name="T39" fmla="*/ 13 h 446"/>
              <a:gd name="T40" fmla="*/ 696 w 699"/>
              <a:gd name="T41" fmla="*/ 9 h 446"/>
              <a:gd name="T42" fmla="*/ 694 w 699"/>
              <a:gd name="T43" fmla="*/ 5 h 446"/>
              <a:gd name="T44" fmla="*/ 693 w 699"/>
              <a:gd name="T45" fmla="*/ 5 h 446"/>
              <a:gd name="T46" fmla="*/ 690 w 699"/>
              <a:gd name="T47" fmla="*/ 3 h 446"/>
              <a:gd name="T48" fmla="*/ 686 w 699"/>
              <a:gd name="T49" fmla="*/ 1 h 446"/>
              <a:gd name="T50" fmla="*/ 13 w 699"/>
              <a:gd name="T51" fmla="*/ 0 h 446"/>
              <a:gd name="T52" fmla="*/ 12 w 699"/>
              <a:gd name="T53" fmla="*/ 1 h 446"/>
              <a:gd name="T54" fmla="*/ 8 w 699"/>
              <a:gd name="T55" fmla="*/ 3 h 446"/>
              <a:gd name="T56" fmla="*/ 4 w 699"/>
              <a:gd name="T57" fmla="*/ 5 h 446"/>
              <a:gd name="T58" fmla="*/ 3 w 699"/>
              <a:gd name="T59" fmla="*/ 5 h 446"/>
              <a:gd name="T60" fmla="*/ 2 w 699"/>
              <a:gd name="T61" fmla="*/ 9 h 446"/>
              <a:gd name="T62" fmla="*/ 0 w 699"/>
              <a:gd name="T63" fmla="*/ 13 h 446"/>
              <a:gd name="T64" fmla="*/ 0 w 699"/>
              <a:gd name="T65" fmla="*/ 432 h 446"/>
              <a:gd name="T66" fmla="*/ 2 w 699"/>
              <a:gd name="T67" fmla="*/ 436 h 446"/>
              <a:gd name="T68" fmla="*/ 3 w 699"/>
              <a:gd name="T69" fmla="*/ 440 h 446"/>
              <a:gd name="T70" fmla="*/ 4 w 699"/>
              <a:gd name="T71" fmla="*/ 441 h 446"/>
              <a:gd name="T72" fmla="*/ 685 w 699"/>
              <a:gd name="T73" fmla="*/ 445 h 446"/>
              <a:gd name="T74" fmla="*/ 693 w 699"/>
              <a:gd name="T75" fmla="*/ 441 h 446"/>
              <a:gd name="T76" fmla="*/ 694 w 699"/>
              <a:gd name="T77" fmla="*/ 440 h 446"/>
              <a:gd name="T78" fmla="*/ 696 w 699"/>
              <a:gd name="T79" fmla="*/ 436 h 446"/>
              <a:gd name="T80" fmla="*/ 698 w 699"/>
              <a:gd name="T81" fmla="*/ 432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9" h="446">
                <a:moveTo>
                  <a:pt x="434" y="223"/>
                </a:moveTo>
                <a:lnTo>
                  <a:pt x="672" y="38"/>
                </a:lnTo>
                <a:lnTo>
                  <a:pt x="672" y="407"/>
                </a:lnTo>
                <a:lnTo>
                  <a:pt x="434" y="223"/>
                </a:lnTo>
                <a:close/>
                <a:moveTo>
                  <a:pt x="284" y="239"/>
                </a:moveTo>
                <a:lnTo>
                  <a:pt x="341" y="283"/>
                </a:lnTo>
                <a:lnTo>
                  <a:pt x="341" y="283"/>
                </a:lnTo>
                <a:cubicBezTo>
                  <a:pt x="342" y="284"/>
                  <a:pt x="345" y="284"/>
                  <a:pt x="345" y="284"/>
                </a:cubicBezTo>
                <a:lnTo>
                  <a:pt x="345" y="284"/>
                </a:lnTo>
                <a:cubicBezTo>
                  <a:pt x="346" y="284"/>
                  <a:pt x="347" y="286"/>
                  <a:pt x="348" y="286"/>
                </a:cubicBezTo>
                <a:lnTo>
                  <a:pt x="348" y="286"/>
                </a:lnTo>
                <a:cubicBezTo>
                  <a:pt x="348" y="286"/>
                  <a:pt x="348" y="286"/>
                  <a:pt x="349" y="286"/>
                </a:cubicBezTo>
                <a:lnTo>
                  <a:pt x="349" y="286"/>
                </a:lnTo>
                <a:cubicBezTo>
                  <a:pt x="349" y="286"/>
                  <a:pt x="349" y="286"/>
                  <a:pt x="350" y="286"/>
                </a:cubicBezTo>
                <a:lnTo>
                  <a:pt x="350" y="286"/>
                </a:lnTo>
                <a:cubicBezTo>
                  <a:pt x="350" y="286"/>
                  <a:pt x="351" y="284"/>
                  <a:pt x="352" y="284"/>
                </a:cubicBezTo>
                <a:lnTo>
                  <a:pt x="352" y="284"/>
                </a:lnTo>
                <a:cubicBezTo>
                  <a:pt x="354" y="284"/>
                  <a:pt x="355" y="284"/>
                  <a:pt x="357" y="283"/>
                </a:cubicBezTo>
                <a:lnTo>
                  <a:pt x="414" y="239"/>
                </a:lnTo>
                <a:lnTo>
                  <a:pt x="649" y="421"/>
                </a:lnTo>
                <a:lnTo>
                  <a:pt x="50" y="421"/>
                </a:lnTo>
                <a:lnTo>
                  <a:pt x="284" y="239"/>
                </a:lnTo>
                <a:close/>
                <a:moveTo>
                  <a:pt x="407" y="213"/>
                </a:moveTo>
                <a:lnTo>
                  <a:pt x="407" y="213"/>
                </a:lnTo>
                <a:cubicBezTo>
                  <a:pt x="406" y="213"/>
                  <a:pt x="406" y="213"/>
                  <a:pt x="406" y="213"/>
                </a:cubicBezTo>
                <a:lnTo>
                  <a:pt x="352" y="255"/>
                </a:lnTo>
                <a:lnTo>
                  <a:pt x="349" y="257"/>
                </a:lnTo>
                <a:lnTo>
                  <a:pt x="346" y="255"/>
                </a:lnTo>
                <a:lnTo>
                  <a:pt x="291" y="213"/>
                </a:lnTo>
                <a:lnTo>
                  <a:pt x="291" y="213"/>
                </a:lnTo>
                <a:lnTo>
                  <a:pt x="291" y="213"/>
                </a:lnTo>
                <a:lnTo>
                  <a:pt x="50" y="26"/>
                </a:lnTo>
                <a:lnTo>
                  <a:pt x="649" y="26"/>
                </a:lnTo>
                <a:lnTo>
                  <a:pt x="407" y="213"/>
                </a:lnTo>
                <a:close/>
                <a:moveTo>
                  <a:pt x="26" y="38"/>
                </a:moveTo>
                <a:lnTo>
                  <a:pt x="263" y="223"/>
                </a:lnTo>
                <a:lnTo>
                  <a:pt x="26" y="407"/>
                </a:lnTo>
                <a:lnTo>
                  <a:pt x="26" y="38"/>
                </a:lnTo>
                <a:close/>
                <a:moveTo>
                  <a:pt x="698" y="13"/>
                </a:moveTo>
                <a:lnTo>
                  <a:pt x="698" y="13"/>
                </a:lnTo>
                <a:cubicBezTo>
                  <a:pt x="698" y="12"/>
                  <a:pt x="697" y="11"/>
                  <a:pt x="696" y="9"/>
                </a:cubicBezTo>
                <a:lnTo>
                  <a:pt x="696" y="9"/>
                </a:lnTo>
                <a:cubicBezTo>
                  <a:pt x="696" y="8"/>
                  <a:pt x="696" y="7"/>
                  <a:pt x="694" y="5"/>
                </a:cubicBezTo>
                <a:lnTo>
                  <a:pt x="694" y="5"/>
                </a:lnTo>
                <a:lnTo>
                  <a:pt x="693" y="5"/>
                </a:lnTo>
                <a:lnTo>
                  <a:pt x="693" y="5"/>
                </a:lnTo>
                <a:cubicBezTo>
                  <a:pt x="692" y="4"/>
                  <a:pt x="692" y="3"/>
                  <a:pt x="690" y="3"/>
                </a:cubicBezTo>
                <a:lnTo>
                  <a:pt x="690" y="3"/>
                </a:lnTo>
                <a:cubicBezTo>
                  <a:pt x="689" y="2"/>
                  <a:pt x="687" y="1"/>
                  <a:pt x="686" y="1"/>
                </a:cubicBezTo>
                <a:lnTo>
                  <a:pt x="686" y="1"/>
                </a:lnTo>
                <a:cubicBezTo>
                  <a:pt x="685" y="1"/>
                  <a:pt x="685" y="0"/>
                  <a:pt x="685" y="0"/>
                </a:cubicBezTo>
                <a:lnTo>
                  <a:pt x="13" y="0"/>
                </a:lnTo>
                <a:lnTo>
                  <a:pt x="13" y="0"/>
                </a:lnTo>
                <a:cubicBezTo>
                  <a:pt x="13" y="0"/>
                  <a:pt x="13" y="1"/>
                  <a:pt x="12" y="1"/>
                </a:cubicBezTo>
                <a:lnTo>
                  <a:pt x="12" y="1"/>
                </a:lnTo>
                <a:cubicBezTo>
                  <a:pt x="11" y="1"/>
                  <a:pt x="10" y="2"/>
                  <a:pt x="8" y="3"/>
                </a:cubicBezTo>
                <a:lnTo>
                  <a:pt x="8" y="3"/>
                </a:lnTo>
                <a:cubicBezTo>
                  <a:pt x="7" y="3"/>
                  <a:pt x="5" y="4"/>
                  <a:pt x="4" y="5"/>
                </a:cubicBezTo>
                <a:lnTo>
                  <a:pt x="4" y="5"/>
                </a:lnTo>
                <a:lnTo>
                  <a:pt x="3" y="5"/>
                </a:lnTo>
                <a:lnTo>
                  <a:pt x="3" y="5"/>
                </a:lnTo>
                <a:cubicBezTo>
                  <a:pt x="2" y="7"/>
                  <a:pt x="3" y="8"/>
                  <a:pt x="2" y="9"/>
                </a:cubicBezTo>
                <a:lnTo>
                  <a:pt x="2" y="9"/>
                </a:lnTo>
                <a:cubicBezTo>
                  <a:pt x="2" y="11"/>
                  <a:pt x="0" y="12"/>
                  <a:pt x="0" y="13"/>
                </a:cubicBezTo>
                <a:lnTo>
                  <a:pt x="0" y="432"/>
                </a:lnTo>
                <a:lnTo>
                  <a:pt x="0" y="432"/>
                </a:lnTo>
                <a:cubicBezTo>
                  <a:pt x="0" y="434"/>
                  <a:pt x="2" y="435"/>
                  <a:pt x="2" y="436"/>
                </a:cubicBezTo>
                <a:lnTo>
                  <a:pt x="2" y="436"/>
                </a:lnTo>
                <a:cubicBezTo>
                  <a:pt x="3" y="438"/>
                  <a:pt x="2" y="439"/>
                  <a:pt x="3" y="440"/>
                </a:cubicBezTo>
                <a:lnTo>
                  <a:pt x="3" y="440"/>
                </a:lnTo>
                <a:cubicBezTo>
                  <a:pt x="3" y="440"/>
                  <a:pt x="4" y="440"/>
                  <a:pt x="4" y="441"/>
                </a:cubicBezTo>
                <a:lnTo>
                  <a:pt x="4" y="441"/>
                </a:lnTo>
                <a:cubicBezTo>
                  <a:pt x="6" y="443"/>
                  <a:pt x="9" y="445"/>
                  <a:pt x="13" y="445"/>
                </a:cubicBezTo>
                <a:lnTo>
                  <a:pt x="685" y="445"/>
                </a:lnTo>
                <a:lnTo>
                  <a:pt x="685" y="445"/>
                </a:lnTo>
                <a:cubicBezTo>
                  <a:pt x="689" y="445"/>
                  <a:pt x="692" y="443"/>
                  <a:pt x="693" y="441"/>
                </a:cubicBezTo>
                <a:lnTo>
                  <a:pt x="693" y="441"/>
                </a:lnTo>
                <a:cubicBezTo>
                  <a:pt x="694" y="440"/>
                  <a:pt x="694" y="440"/>
                  <a:pt x="694" y="440"/>
                </a:cubicBezTo>
                <a:lnTo>
                  <a:pt x="694" y="440"/>
                </a:lnTo>
                <a:cubicBezTo>
                  <a:pt x="696" y="439"/>
                  <a:pt x="696" y="438"/>
                  <a:pt x="696" y="436"/>
                </a:cubicBezTo>
                <a:lnTo>
                  <a:pt x="696" y="436"/>
                </a:lnTo>
                <a:cubicBezTo>
                  <a:pt x="697" y="435"/>
                  <a:pt x="698" y="434"/>
                  <a:pt x="698" y="432"/>
                </a:cubicBezTo>
                <a:lnTo>
                  <a:pt x="698" y="13"/>
                </a:lnTo>
                <a:close/>
              </a:path>
            </a:pathLst>
          </a:custGeom>
          <a:solidFill>
            <a:schemeClr val="bg1"/>
          </a:solidFill>
          <a:ln>
            <a:noFill/>
          </a:ln>
          <a:effectLst/>
        </p:spPr>
        <p:txBody>
          <a:bodyPr wrap="none" anchor="ctr"/>
          <a:lstStyle/>
          <a:p>
            <a:endParaRPr lang="en-US" sz="3600" dirty="0">
              <a:latin typeface="Calibri" panose="020F0502020204030204" pitchFamily="34" charset="0"/>
            </a:endParaRPr>
          </a:p>
        </p:txBody>
      </p:sp>
      <p:sp>
        <p:nvSpPr>
          <p:cNvPr id="67" name="TextBox 66"/>
          <p:cNvSpPr txBox="1"/>
          <p:nvPr/>
        </p:nvSpPr>
        <p:spPr>
          <a:xfrm>
            <a:off x="730935" y="7740922"/>
            <a:ext cx="1219035"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OSCA</a:t>
            </a:r>
          </a:p>
        </p:txBody>
      </p:sp>
      <p:sp>
        <p:nvSpPr>
          <p:cNvPr id="68" name="Subtitle 2"/>
          <p:cNvSpPr txBox="1">
            <a:spLocks/>
          </p:cNvSpPr>
          <p:nvPr/>
        </p:nvSpPr>
        <p:spPr>
          <a:xfrm>
            <a:off x="491087" y="8243312"/>
            <a:ext cx="1813121" cy="1665317"/>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a:t>Integrated Research Observation System for Clean Air</a:t>
            </a:r>
            <a:endParaRPr lang="en-US" sz="1650" dirty="0">
              <a:solidFill>
                <a:schemeClr val="tx1">
                  <a:lumMod val="65000"/>
                  <a:lumOff val="35000"/>
                </a:schemeClr>
              </a:solidFill>
              <a:latin typeface="Arial"/>
              <a:cs typeface="Arial"/>
            </a:endParaRPr>
          </a:p>
        </p:txBody>
      </p:sp>
      <p:pic>
        <p:nvPicPr>
          <p:cNvPr id="25" name="Picture 24">
            <a:extLst>
              <a:ext uri="{FF2B5EF4-FFF2-40B4-BE49-F238E27FC236}">
                <a16:creationId xmlns:a16="http://schemas.microsoft.com/office/drawing/2014/main" id="{03249CF1-6EA9-814F-9AF2-1035E46A72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455247" y="5342803"/>
            <a:ext cx="2181414" cy="2220797"/>
          </a:xfrm>
          <a:prstGeom prst="ellipse">
            <a:avLst/>
          </a:prstGeom>
        </p:spPr>
      </p:pic>
      <p:pic>
        <p:nvPicPr>
          <p:cNvPr id="26" name="Picture 6" descr="The Manchester Aerosol Chamber">
            <a:extLst>
              <a:ext uri="{FF2B5EF4-FFF2-40B4-BE49-F238E27FC236}">
                <a16:creationId xmlns:a16="http://schemas.microsoft.com/office/drawing/2014/main" id="{92F2D23D-65E2-4848-AD5C-31622F24E8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5444" y="5316519"/>
            <a:ext cx="2357733" cy="2182449"/>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F36B3B12-D9F3-D04C-BEC3-10ED349DF536}"/>
              </a:ext>
            </a:extLst>
          </p:cNvPr>
          <p:cNvPicPr>
            <a:picLocks noChangeAspect="1"/>
          </p:cNvPicPr>
          <p:nvPr/>
        </p:nvPicPr>
        <p:blipFill rotWithShape="1">
          <a:blip r:embed="rId5"/>
          <a:srcRect l="27708" t="21852" r="33750" b="29630"/>
          <a:stretch/>
        </p:blipFill>
        <p:spPr>
          <a:xfrm>
            <a:off x="5929886" y="5511037"/>
            <a:ext cx="2671113" cy="2207597"/>
          </a:xfrm>
          <a:prstGeom prst="rect">
            <a:avLst/>
          </a:prstGeom>
        </p:spPr>
      </p:pic>
      <p:grpSp>
        <p:nvGrpSpPr>
          <p:cNvPr id="29" name="Group 28">
            <a:extLst>
              <a:ext uri="{FF2B5EF4-FFF2-40B4-BE49-F238E27FC236}">
                <a16:creationId xmlns:a16="http://schemas.microsoft.com/office/drawing/2014/main" id="{D781BB0F-7151-A841-8726-A0DE77055F86}"/>
              </a:ext>
            </a:extLst>
          </p:cNvPr>
          <p:cNvGrpSpPr/>
          <p:nvPr/>
        </p:nvGrpSpPr>
        <p:grpSpPr>
          <a:xfrm>
            <a:off x="8914557" y="5316519"/>
            <a:ext cx="2340570" cy="2552073"/>
            <a:chOff x="8618746" y="2097614"/>
            <a:chExt cx="3080722" cy="6185057"/>
          </a:xfrm>
        </p:grpSpPr>
        <p:grpSp>
          <p:nvGrpSpPr>
            <p:cNvPr id="30" name="Group 29">
              <a:extLst>
                <a:ext uri="{FF2B5EF4-FFF2-40B4-BE49-F238E27FC236}">
                  <a16:creationId xmlns:a16="http://schemas.microsoft.com/office/drawing/2014/main" id="{BC9FC4B2-3DA3-104B-9737-37120E8E2E9E}"/>
                </a:ext>
              </a:extLst>
            </p:cNvPr>
            <p:cNvGrpSpPr/>
            <p:nvPr/>
          </p:nvGrpSpPr>
          <p:grpSpPr>
            <a:xfrm>
              <a:off x="8618746" y="5011588"/>
              <a:ext cx="3080722" cy="3271083"/>
              <a:chOff x="8618746" y="4681643"/>
              <a:chExt cx="3080722" cy="3271083"/>
            </a:xfrm>
          </p:grpSpPr>
          <p:pic>
            <p:nvPicPr>
              <p:cNvPr id="44" name="Picture 43">
                <a:extLst>
                  <a:ext uri="{FF2B5EF4-FFF2-40B4-BE49-F238E27FC236}">
                    <a16:creationId xmlns:a16="http://schemas.microsoft.com/office/drawing/2014/main" id="{6F7D3D3D-83E7-C240-A34B-A9604D737B87}"/>
                  </a:ext>
                </a:extLst>
              </p:cNvPr>
              <p:cNvPicPr>
                <a:picLocks noChangeAspect="1"/>
              </p:cNvPicPr>
              <p:nvPr/>
            </p:nvPicPr>
            <p:blipFill>
              <a:blip r:embed="rId6"/>
              <a:stretch>
                <a:fillRect/>
              </a:stretch>
            </p:blipFill>
            <p:spPr>
              <a:xfrm>
                <a:off x="8843207" y="4681643"/>
                <a:ext cx="2856261" cy="1507471"/>
              </a:xfrm>
              <a:prstGeom prst="rect">
                <a:avLst/>
              </a:prstGeom>
            </p:spPr>
          </p:pic>
          <p:sp>
            <p:nvSpPr>
              <p:cNvPr id="45" name="TextBox 44">
                <a:extLst>
                  <a:ext uri="{FF2B5EF4-FFF2-40B4-BE49-F238E27FC236}">
                    <a16:creationId xmlns:a16="http://schemas.microsoft.com/office/drawing/2014/main" id="{4BCB8AD3-83DB-D34F-A377-875D5AF12FF8}"/>
                  </a:ext>
                </a:extLst>
              </p:cNvPr>
              <p:cNvSpPr txBox="1"/>
              <p:nvPr/>
            </p:nvSpPr>
            <p:spPr>
              <a:xfrm>
                <a:off x="8618746" y="5714996"/>
                <a:ext cx="1188569" cy="2237730"/>
              </a:xfrm>
              <a:prstGeom prst="rect">
                <a:avLst/>
              </a:prstGeom>
              <a:noFill/>
            </p:spPr>
            <p:txBody>
              <a:bodyPr wrap="square" rtlCol="0">
                <a:spAutoFit/>
              </a:bodyPr>
              <a:lstStyle/>
              <a:p>
                <a:pPr algn="ctr"/>
                <a:r>
                  <a:rPr lang="en-US" dirty="0"/>
                  <a:t>respiratory tract</a:t>
                </a:r>
              </a:p>
            </p:txBody>
          </p:sp>
          <p:sp>
            <p:nvSpPr>
              <p:cNvPr id="46" name="TextBox 45">
                <a:extLst>
                  <a:ext uri="{FF2B5EF4-FFF2-40B4-BE49-F238E27FC236}">
                    <a16:creationId xmlns:a16="http://schemas.microsoft.com/office/drawing/2014/main" id="{0ED1D87C-9AC3-4647-88C7-43612707F20F}"/>
                  </a:ext>
                </a:extLst>
              </p:cNvPr>
              <p:cNvSpPr txBox="1"/>
              <p:nvPr/>
            </p:nvSpPr>
            <p:spPr>
              <a:xfrm>
                <a:off x="9720122" y="5686456"/>
                <a:ext cx="1044628" cy="895092"/>
              </a:xfrm>
              <a:prstGeom prst="rect">
                <a:avLst/>
              </a:prstGeom>
              <a:noFill/>
            </p:spPr>
            <p:txBody>
              <a:bodyPr wrap="square" rtlCol="0">
                <a:spAutoFit/>
              </a:bodyPr>
              <a:lstStyle/>
              <a:p>
                <a:pPr algn="ctr"/>
                <a:r>
                  <a:rPr lang="en-US" dirty="0"/>
                  <a:t>CNS</a:t>
                </a:r>
              </a:p>
            </p:txBody>
          </p:sp>
          <p:sp>
            <p:nvSpPr>
              <p:cNvPr id="47" name="TextBox 46">
                <a:extLst>
                  <a:ext uri="{FF2B5EF4-FFF2-40B4-BE49-F238E27FC236}">
                    <a16:creationId xmlns:a16="http://schemas.microsoft.com/office/drawing/2014/main" id="{AAAD0A33-0404-3E4A-8E64-C82FB1B5437C}"/>
                  </a:ext>
                </a:extLst>
              </p:cNvPr>
              <p:cNvSpPr txBox="1"/>
              <p:nvPr/>
            </p:nvSpPr>
            <p:spPr>
              <a:xfrm>
                <a:off x="10620210" y="5670136"/>
                <a:ext cx="1044628" cy="2237729"/>
              </a:xfrm>
              <a:prstGeom prst="rect">
                <a:avLst/>
              </a:prstGeom>
              <a:noFill/>
            </p:spPr>
            <p:txBody>
              <a:bodyPr wrap="square" rtlCol="0">
                <a:spAutoFit/>
              </a:bodyPr>
              <a:lstStyle/>
              <a:p>
                <a:pPr algn="ctr"/>
                <a:r>
                  <a:rPr lang="en-US" dirty="0"/>
                  <a:t>CV System</a:t>
                </a:r>
              </a:p>
            </p:txBody>
          </p:sp>
        </p:grpSp>
        <p:pic>
          <p:nvPicPr>
            <p:cNvPr id="33" name="Picture 32">
              <a:extLst>
                <a:ext uri="{FF2B5EF4-FFF2-40B4-BE49-F238E27FC236}">
                  <a16:creationId xmlns:a16="http://schemas.microsoft.com/office/drawing/2014/main" id="{A2C876E6-C2C8-6740-9F16-FC6944D9ACD4}"/>
                </a:ext>
              </a:extLst>
            </p:cNvPr>
            <p:cNvPicPr>
              <a:picLocks noChangeAspect="1"/>
            </p:cNvPicPr>
            <p:nvPr/>
          </p:nvPicPr>
          <p:blipFill>
            <a:blip r:embed="rId7"/>
            <a:stretch>
              <a:fillRect/>
            </a:stretch>
          </p:blipFill>
          <p:spPr>
            <a:xfrm>
              <a:off x="9484860" y="2097614"/>
              <a:ext cx="1798202" cy="2977823"/>
            </a:xfrm>
            <a:prstGeom prst="rect">
              <a:avLst/>
            </a:prstGeom>
          </p:spPr>
        </p:pic>
      </p:grpSp>
      <p:sp>
        <p:nvSpPr>
          <p:cNvPr id="49" name="TextBox 48">
            <a:extLst>
              <a:ext uri="{FF2B5EF4-FFF2-40B4-BE49-F238E27FC236}">
                <a16:creationId xmlns:a16="http://schemas.microsoft.com/office/drawing/2014/main" id="{A907C18C-1366-8D4B-B9DB-88A413F7A8AF}"/>
              </a:ext>
            </a:extLst>
          </p:cNvPr>
          <p:cNvSpPr txBox="1"/>
          <p:nvPr/>
        </p:nvSpPr>
        <p:spPr>
          <a:xfrm>
            <a:off x="3449146" y="7773835"/>
            <a:ext cx="1594478"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HIPTOX</a:t>
            </a:r>
          </a:p>
        </p:txBody>
      </p:sp>
      <p:sp>
        <p:nvSpPr>
          <p:cNvPr id="50" name="Subtitle 2">
            <a:extLst>
              <a:ext uri="{FF2B5EF4-FFF2-40B4-BE49-F238E27FC236}">
                <a16:creationId xmlns:a16="http://schemas.microsoft.com/office/drawing/2014/main" id="{BF964823-BA3B-7946-9509-335CADE38481}"/>
              </a:ext>
            </a:extLst>
          </p:cNvPr>
          <p:cNvSpPr txBox="1">
            <a:spLocks/>
          </p:cNvSpPr>
          <p:nvPr/>
        </p:nvSpPr>
        <p:spPr>
          <a:xfrm>
            <a:off x="2939392" y="8243312"/>
            <a:ext cx="2509838" cy="2022145"/>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a:t>Hazard Identification Platform to Assess the Health Impacts from Indoor and Outdoor Air Pollutant exposures </a:t>
            </a:r>
          </a:p>
          <a:p>
            <a:pPr>
              <a:defRPr/>
            </a:pPr>
            <a:endParaRPr lang="en-GB" sz="1650" dirty="0"/>
          </a:p>
        </p:txBody>
      </p:sp>
      <p:sp>
        <p:nvSpPr>
          <p:cNvPr id="51" name="TextBox 50">
            <a:extLst>
              <a:ext uri="{FF2B5EF4-FFF2-40B4-BE49-F238E27FC236}">
                <a16:creationId xmlns:a16="http://schemas.microsoft.com/office/drawing/2014/main" id="{3B43BE63-5DAF-634B-9F86-7F4E6A8751A1}"/>
              </a:ext>
            </a:extLst>
          </p:cNvPr>
          <p:cNvSpPr txBox="1"/>
          <p:nvPr/>
        </p:nvSpPr>
        <p:spPr>
          <a:xfrm>
            <a:off x="6167903" y="7773835"/>
            <a:ext cx="2026154"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Ingenious</a:t>
            </a:r>
          </a:p>
        </p:txBody>
      </p:sp>
      <p:sp>
        <p:nvSpPr>
          <p:cNvPr id="56" name="Subtitle 2">
            <a:extLst>
              <a:ext uri="{FF2B5EF4-FFF2-40B4-BE49-F238E27FC236}">
                <a16:creationId xmlns:a16="http://schemas.microsoft.com/office/drawing/2014/main" id="{88F0B34B-839B-1744-9447-946E237745B0}"/>
              </a:ext>
            </a:extLst>
          </p:cNvPr>
          <p:cNvSpPr txBox="1">
            <a:spLocks/>
          </p:cNvSpPr>
          <p:nvPr/>
        </p:nvSpPr>
        <p:spPr>
          <a:xfrm>
            <a:off x="6040989" y="8243312"/>
            <a:ext cx="2279979" cy="1666663"/>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err="1"/>
              <a:t>UnderstandING</a:t>
            </a:r>
            <a:r>
              <a:rPr lang="en-GB" sz="1650" dirty="0"/>
              <a:t> the </a:t>
            </a:r>
            <a:r>
              <a:rPr lang="en-GB" sz="1650" dirty="0" err="1"/>
              <a:t>sourcEs</a:t>
            </a:r>
            <a:r>
              <a:rPr lang="en-GB" sz="1650" dirty="0"/>
              <a:t>, </a:t>
            </a:r>
            <a:r>
              <a:rPr lang="en-GB" sz="1650" dirty="0" err="1"/>
              <a:t>traNsformations</a:t>
            </a:r>
            <a:r>
              <a:rPr lang="en-GB" sz="1650" dirty="0"/>
              <a:t> and fates of </a:t>
            </a:r>
            <a:r>
              <a:rPr lang="en-GB" sz="1650" dirty="0" err="1"/>
              <a:t>IndOor</a:t>
            </a:r>
            <a:r>
              <a:rPr lang="en-GB" sz="1650" dirty="0"/>
              <a:t> air </a:t>
            </a:r>
            <a:r>
              <a:rPr lang="en-GB" sz="1650" dirty="0" err="1"/>
              <a:t>pollUtantS</a:t>
            </a:r>
            <a:endParaRPr lang="en-GB" sz="1650" dirty="0"/>
          </a:p>
        </p:txBody>
      </p:sp>
      <p:sp>
        <p:nvSpPr>
          <p:cNvPr id="57" name="TextBox 56">
            <a:extLst>
              <a:ext uri="{FF2B5EF4-FFF2-40B4-BE49-F238E27FC236}">
                <a16:creationId xmlns:a16="http://schemas.microsoft.com/office/drawing/2014/main" id="{DA60B94D-4F62-7E47-AAD0-1B4C534766AC}"/>
              </a:ext>
            </a:extLst>
          </p:cNvPr>
          <p:cNvSpPr txBox="1"/>
          <p:nvPr/>
        </p:nvSpPr>
        <p:spPr>
          <a:xfrm>
            <a:off x="8929609" y="7814465"/>
            <a:ext cx="2394692"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RESPIRE</a:t>
            </a:r>
          </a:p>
        </p:txBody>
      </p:sp>
      <p:sp>
        <p:nvSpPr>
          <p:cNvPr id="58" name="Subtitle 2">
            <a:extLst>
              <a:ext uri="{FF2B5EF4-FFF2-40B4-BE49-F238E27FC236}">
                <a16:creationId xmlns:a16="http://schemas.microsoft.com/office/drawing/2014/main" id="{44F54978-C3C3-1241-8C0F-3E464066B7F2}"/>
              </a:ext>
            </a:extLst>
          </p:cNvPr>
          <p:cNvSpPr txBox="1">
            <a:spLocks/>
          </p:cNvSpPr>
          <p:nvPr/>
        </p:nvSpPr>
        <p:spPr>
          <a:xfrm>
            <a:off x="8875906" y="8182703"/>
            <a:ext cx="2556302" cy="1971361"/>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a:t>Relating Environment-use Scenarios in Pregnancy/Infanthood and Resulting airborne material Exposures to child health outcomes</a:t>
            </a:r>
          </a:p>
        </p:txBody>
      </p:sp>
      <p:pic>
        <p:nvPicPr>
          <p:cNvPr id="73" name="Picture 2" descr="https://generic.wordpress.soton.ac.uk/ukcleanair/wp-content/uploads/sites/421/2022/07/INGENIOUS_Logo_Extended-1024x744.png">
            <a:extLst>
              <a:ext uri="{FF2B5EF4-FFF2-40B4-BE49-F238E27FC236}">
                <a16:creationId xmlns:a16="http://schemas.microsoft.com/office/drawing/2014/main" id="{59ACD3F0-2343-E14C-AF8A-2CF604DD5D4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50087" y="5332805"/>
            <a:ext cx="1175444" cy="854034"/>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a:extLst>
              <a:ext uri="{FF2B5EF4-FFF2-40B4-BE49-F238E27FC236}">
                <a16:creationId xmlns:a16="http://schemas.microsoft.com/office/drawing/2014/main" id="{CE642EB6-D615-2946-BADF-69B93936969F}"/>
              </a:ext>
            </a:extLst>
          </p:cNvPr>
          <p:cNvPicPr>
            <a:picLocks noChangeAspect="1"/>
          </p:cNvPicPr>
          <p:nvPr/>
        </p:nvPicPr>
        <p:blipFill rotWithShape="1">
          <a:blip r:embed="rId9"/>
          <a:srcRect l="6270" r="6111"/>
          <a:stretch/>
        </p:blipFill>
        <p:spPr>
          <a:xfrm>
            <a:off x="8282130" y="5228011"/>
            <a:ext cx="1396257" cy="547280"/>
          </a:xfrm>
          <a:prstGeom prst="rect">
            <a:avLst/>
          </a:prstGeom>
        </p:spPr>
      </p:pic>
      <p:pic>
        <p:nvPicPr>
          <p:cNvPr id="34" name="Picture 8" descr="Barratt Z House &amp; Recoup WWHRS Pipe HEX - News - Recoup WWHRS">
            <a:extLst>
              <a:ext uri="{FF2B5EF4-FFF2-40B4-BE49-F238E27FC236}">
                <a16:creationId xmlns:a16="http://schemas.microsoft.com/office/drawing/2014/main" id="{A7D8F3B2-7FD2-3849-87B7-144BFC4A8E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60312" y="5386581"/>
            <a:ext cx="3125612" cy="2220336"/>
          </a:xfrm>
          <a:prstGeom prst="ellipse">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DA60B94D-4F62-7E47-AAD0-1B4C534766AC}"/>
              </a:ext>
            </a:extLst>
          </p:cNvPr>
          <p:cNvSpPr txBox="1"/>
          <p:nvPr/>
        </p:nvSpPr>
        <p:spPr>
          <a:xfrm>
            <a:off x="11848247" y="7773837"/>
            <a:ext cx="2394692"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Future Homes</a:t>
            </a:r>
          </a:p>
        </p:txBody>
      </p:sp>
      <p:sp>
        <p:nvSpPr>
          <p:cNvPr id="36" name="Subtitle 2">
            <a:extLst>
              <a:ext uri="{FF2B5EF4-FFF2-40B4-BE49-F238E27FC236}">
                <a16:creationId xmlns:a16="http://schemas.microsoft.com/office/drawing/2014/main" id="{44F54978-C3C3-1241-8C0F-3E464066B7F2}"/>
              </a:ext>
            </a:extLst>
          </p:cNvPr>
          <p:cNvSpPr txBox="1">
            <a:spLocks/>
          </p:cNvSpPr>
          <p:nvPr/>
        </p:nvSpPr>
        <p:spPr>
          <a:xfrm>
            <a:off x="11809858" y="8251024"/>
            <a:ext cx="2696249" cy="1057265"/>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a:t> Support for the delivery of net zero new and existing homes</a:t>
            </a:r>
          </a:p>
        </p:txBody>
      </p:sp>
      <p:sp>
        <p:nvSpPr>
          <p:cNvPr id="37" name="Freeform 248"/>
          <p:cNvSpPr>
            <a:spLocks noChangeArrowheads="1"/>
          </p:cNvSpPr>
          <p:nvPr/>
        </p:nvSpPr>
        <p:spPr bwMode="auto">
          <a:xfrm>
            <a:off x="15347279" y="6873791"/>
            <a:ext cx="368700" cy="917591"/>
          </a:xfrm>
          <a:custGeom>
            <a:avLst/>
            <a:gdLst>
              <a:gd name="T0" fmla="*/ 419 w 445"/>
              <a:gd name="T1" fmla="*/ 253 h 698"/>
              <a:gd name="T2" fmla="*/ 234 w 445"/>
              <a:gd name="T3" fmla="*/ 253 h 698"/>
              <a:gd name="T4" fmla="*/ 234 w 445"/>
              <a:gd name="T5" fmla="*/ 232 h 698"/>
              <a:gd name="T6" fmla="*/ 234 w 445"/>
              <a:gd name="T7" fmla="*/ 232 h 698"/>
              <a:gd name="T8" fmla="*/ 276 w 445"/>
              <a:gd name="T9" fmla="*/ 180 h 698"/>
              <a:gd name="T10" fmla="*/ 276 w 445"/>
              <a:gd name="T11" fmla="*/ 97 h 698"/>
              <a:gd name="T12" fmla="*/ 276 w 445"/>
              <a:gd name="T13" fmla="*/ 97 h 698"/>
              <a:gd name="T14" fmla="*/ 234 w 445"/>
              <a:gd name="T15" fmla="*/ 46 h 698"/>
              <a:gd name="T16" fmla="*/ 234 w 445"/>
              <a:gd name="T17" fmla="*/ 27 h 698"/>
              <a:gd name="T18" fmla="*/ 234 w 445"/>
              <a:gd name="T19" fmla="*/ 27 h 698"/>
              <a:gd name="T20" fmla="*/ 419 w 445"/>
              <a:gd name="T21" fmla="*/ 223 h 698"/>
              <a:gd name="T22" fmla="*/ 419 w 445"/>
              <a:gd name="T23" fmla="*/ 253 h 698"/>
              <a:gd name="T24" fmla="*/ 222 w 445"/>
              <a:gd name="T25" fmla="*/ 673 h 698"/>
              <a:gd name="T26" fmla="*/ 222 w 445"/>
              <a:gd name="T27" fmla="*/ 673 h 698"/>
              <a:gd name="T28" fmla="*/ 24 w 445"/>
              <a:gd name="T29" fmla="*/ 475 h 698"/>
              <a:gd name="T30" fmla="*/ 24 w 445"/>
              <a:gd name="T31" fmla="*/ 277 h 698"/>
              <a:gd name="T32" fmla="*/ 419 w 445"/>
              <a:gd name="T33" fmla="*/ 277 h 698"/>
              <a:gd name="T34" fmla="*/ 419 w 445"/>
              <a:gd name="T35" fmla="*/ 475 h 698"/>
              <a:gd name="T36" fmla="*/ 419 w 445"/>
              <a:gd name="T37" fmla="*/ 475 h 698"/>
              <a:gd name="T38" fmla="*/ 222 w 445"/>
              <a:gd name="T39" fmla="*/ 673 h 698"/>
              <a:gd name="T40" fmla="*/ 209 w 445"/>
              <a:gd name="T41" fmla="*/ 27 h 698"/>
              <a:gd name="T42" fmla="*/ 209 w 445"/>
              <a:gd name="T43" fmla="*/ 46 h 698"/>
              <a:gd name="T44" fmla="*/ 209 w 445"/>
              <a:gd name="T45" fmla="*/ 46 h 698"/>
              <a:gd name="T46" fmla="*/ 167 w 445"/>
              <a:gd name="T47" fmla="*/ 97 h 698"/>
              <a:gd name="T48" fmla="*/ 167 w 445"/>
              <a:gd name="T49" fmla="*/ 180 h 698"/>
              <a:gd name="T50" fmla="*/ 167 w 445"/>
              <a:gd name="T51" fmla="*/ 180 h 698"/>
              <a:gd name="T52" fmla="*/ 209 w 445"/>
              <a:gd name="T53" fmla="*/ 232 h 698"/>
              <a:gd name="T54" fmla="*/ 209 w 445"/>
              <a:gd name="T55" fmla="*/ 253 h 698"/>
              <a:gd name="T56" fmla="*/ 24 w 445"/>
              <a:gd name="T57" fmla="*/ 253 h 698"/>
              <a:gd name="T58" fmla="*/ 24 w 445"/>
              <a:gd name="T59" fmla="*/ 223 h 698"/>
              <a:gd name="T60" fmla="*/ 24 w 445"/>
              <a:gd name="T61" fmla="*/ 223 h 698"/>
              <a:gd name="T62" fmla="*/ 209 w 445"/>
              <a:gd name="T63" fmla="*/ 27 h 698"/>
              <a:gd name="T64" fmla="*/ 222 w 445"/>
              <a:gd name="T65" fmla="*/ 210 h 698"/>
              <a:gd name="T66" fmla="*/ 222 w 445"/>
              <a:gd name="T67" fmla="*/ 210 h 698"/>
              <a:gd name="T68" fmla="*/ 192 w 445"/>
              <a:gd name="T69" fmla="*/ 180 h 698"/>
              <a:gd name="T70" fmla="*/ 192 w 445"/>
              <a:gd name="T71" fmla="*/ 97 h 698"/>
              <a:gd name="T72" fmla="*/ 192 w 445"/>
              <a:gd name="T73" fmla="*/ 97 h 698"/>
              <a:gd name="T74" fmla="*/ 222 w 445"/>
              <a:gd name="T75" fmla="*/ 67 h 698"/>
              <a:gd name="T76" fmla="*/ 222 w 445"/>
              <a:gd name="T77" fmla="*/ 67 h 698"/>
              <a:gd name="T78" fmla="*/ 251 w 445"/>
              <a:gd name="T79" fmla="*/ 97 h 698"/>
              <a:gd name="T80" fmla="*/ 251 w 445"/>
              <a:gd name="T81" fmla="*/ 180 h 698"/>
              <a:gd name="T82" fmla="*/ 251 w 445"/>
              <a:gd name="T83" fmla="*/ 180 h 698"/>
              <a:gd name="T84" fmla="*/ 222 w 445"/>
              <a:gd name="T85" fmla="*/ 210 h 698"/>
              <a:gd name="T86" fmla="*/ 222 w 445"/>
              <a:gd name="T87" fmla="*/ 0 h 698"/>
              <a:gd name="T88" fmla="*/ 222 w 445"/>
              <a:gd name="T89" fmla="*/ 0 h 698"/>
              <a:gd name="T90" fmla="*/ 0 w 445"/>
              <a:gd name="T91" fmla="*/ 223 h 698"/>
              <a:gd name="T92" fmla="*/ 0 w 445"/>
              <a:gd name="T93" fmla="*/ 475 h 698"/>
              <a:gd name="T94" fmla="*/ 0 w 445"/>
              <a:gd name="T95" fmla="*/ 475 h 698"/>
              <a:gd name="T96" fmla="*/ 222 w 445"/>
              <a:gd name="T97" fmla="*/ 697 h 698"/>
              <a:gd name="T98" fmla="*/ 222 w 445"/>
              <a:gd name="T99" fmla="*/ 697 h 698"/>
              <a:gd name="T100" fmla="*/ 444 w 445"/>
              <a:gd name="T101" fmla="*/ 475 h 698"/>
              <a:gd name="T102" fmla="*/ 444 w 445"/>
              <a:gd name="T103" fmla="*/ 223 h 698"/>
              <a:gd name="T104" fmla="*/ 444 w 445"/>
              <a:gd name="T105" fmla="*/ 223 h 698"/>
              <a:gd name="T106" fmla="*/ 222 w 445"/>
              <a:gd name="T107" fmla="*/ 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698">
                <a:moveTo>
                  <a:pt x="419" y="253"/>
                </a:moveTo>
                <a:lnTo>
                  <a:pt x="234" y="253"/>
                </a:lnTo>
                <a:lnTo>
                  <a:pt x="234" y="232"/>
                </a:lnTo>
                <a:lnTo>
                  <a:pt x="234" y="232"/>
                </a:lnTo>
                <a:cubicBezTo>
                  <a:pt x="258" y="227"/>
                  <a:pt x="276" y="207"/>
                  <a:pt x="276" y="180"/>
                </a:cubicBezTo>
                <a:lnTo>
                  <a:pt x="276" y="97"/>
                </a:lnTo>
                <a:lnTo>
                  <a:pt x="276" y="97"/>
                </a:lnTo>
                <a:cubicBezTo>
                  <a:pt x="276" y="71"/>
                  <a:pt x="258" y="50"/>
                  <a:pt x="234" y="46"/>
                </a:cubicBezTo>
                <a:lnTo>
                  <a:pt x="234" y="27"/>
                </a:lnTo>
                <a:lnTo>
                  <a:pt x="234" y="27"/>
                </a:lnTo>
                <a:cubicBezTo>
                  <a:pt x="337" y="34"/>
                  <a:pt x="419" y="119"/>
                  <a:pt x="419" y="223"/>
                </a:cubicBezTo>
                <a:lnTo>
                  <a:pt x="419" y="253"/>
                </a:lnTo>
                <a:close/>
                <a:moveTo>
                  <a:pt x="222" y="673"/>
                </a:moveTo>
                <a:lnTo>
                  <a:pt x="222" y="673"/>
                </a:lnTo>
                <a:cubicBezTo>
                  <a:pt x="113" y="673"/>
                  <a:pt x="24" y="583"/>
                  <a:pt x="24" y="475"/>
                </a:cubicBezTo>
                <a:lnTo>
                  <a:pt x="24" y="277"/>
                </a:lnTo>
                <a:lnTo>
                  <a:pt x="419" y="277"/>
                </a:lnTo>
                <a:lnTo>
                  <a:pt x="419" y="475"/>
                </a:lnTo>
                <a:lnTo>
                  <a:pt x="419" y="475"/>
                </a:lnTo>
                <a:cubicBezTo>
                  <a:pt x="419" y="583"/>
                  <a:pt x="331" y="673"/>
                  <a:pt x="222" y="673"/>
                </a:cubicBezTo>
                <a:close/>
                <a:moveTo>
                  <a:pt x="209" y="27"/>
                </a:moveTo>
                <a:lnTo>
                  <a:pt x="209" y="46"/>
                </a:lnTo>
                <a:lnTo>
                  <a:pt x="209" y="46"/>
                </a:lnTo>
                <a:cubicBezTo>
                  <a:pt x="185" y="50"/>
                  <a:pt x="167" y="71"/>
                  <a:pt x="167" y="97"/>
                </a:cubicBezTo>
                <a:lnTo>
                  <a:pt x="167" y="180"/>
                </a:lnTo>
                <a:lnTo>
                  <a:pt x="167" y="180"/>
                </a:lnTo>
                <a:cubicBezTo>
                  <a:pt x="167" y="207"/>
                  <a:pt x="185" y="227"/>
                  <a:pt x="209" y="232"/>
                </a:cubicBezTo>
                <a:lnTo>
                  <a:pt x="209" y="253"/>
                </a:lnTo>
                <a:lnTo>
                  <a:pt x="24" y="253"/>
                </a:lnTo>
                <a:lnTo>
                  <a:pt x="24" y="223"/>
                </a:lnTo>
                <a:lnTo>
                  <a:pt x="24" y="223"/>
                </a:lnTo>
                <a:cubicBezTo>
                  <a:pt x="24" y="119"/>
                  <a:pt x="106" y="34"/>
                  <a:pt x="209" y="27"/>
                </a:cubicBezTo>
                <a:close/>
                <a:moveTo>
                  <a:pt x="222" y="210"/>
                </a:moveTo>
                <a:lnTo>
                  <a:pt x="222" y="210"/>
                </a:lnTo>
                <a:cubicBezTo>
                  <a:pt x="205" y="210"/>
                  <a:pt x="192" y="197"/>
                  <a:pt x="192" y="180"/>
                </a:cubicBezTo>
                <a:lnTo>
                  <a:pt x="192" y="97"/>
                </a:lnTo>
                <a:lnTo>
                  <a:pt x="192" y="97"/>
                </a:lnTo>
                <a:cubicBezTo>
                  <a:pt x="192" y="81"/>
                  <a:pt x="205" y="67"/>
                  <a:pt x="222" y="67"/>
                </a:cubicBezTo>
                <a:lnTo>
                  <a:pt x="222" y="67"/>
                </a:lnTo>
                <a:cubicBezTo>
                  <a:pt x="239" y="67"/>
                  <a:pt x="251" y="81"/>
                  <a:pt x="251" y="97"/>
                </a:cubicBezTo>
                <a:lnTo>
                  <a:pt x="251" y="180"/>
                </a:lnTo>
                <a:lnTo>
                  <a:pt x="251" y="180"/>
                </a:lnTo>
                <a:cubicBezTo>
                  <a:pt x="251" y="197"/>
                  <a:pt x="239" y="210"/>
                  <a:pt x="222" y="210"/>
                </a:cubicBezTo>
                <a:close/>
                <a:moveTo>
                  <a:pt x="222" y="0"/>
                </a:moveTo>
                <a:lnTo>
                  <a:pt x="222" y="0"/>
                </a:lnTo>
                <a:cubicBezTo>
                  <a:pt x="100" y="0"/>
                  <a:pt x="0" y="100"/>
                  <a:pt x="0" y="223"/>
                </a:cubicBezTo>
                <a:lnTo>
                  <a:pt x="0" y="475"/>
                </a:lnTo>
                <a:lnTo>
                  <a:pt x="0" y="475"/>
                </a:lnTo>
                <a:cubicBezTo>
                  <a:pt x="0" y="597"/>
                  <a:pt x="100" y="697"/>
                  <a:pt x="222" y="697"/>
                </a:cubicBezTo>
                <a:lnTo>
                  <a:pt x="222" y="697"/>
                </a:lnTo>
                <a:cubicBezTo>
                  <a:pt x="344" y="697"/>
                  <a:pt x="444" y="597"/>
                  <a:pt x="444" y="475"/>
                </a:cubicBezTo>
                <a:lnTo>
                  <a:pt x="444" y="223"/>
                </a:lnTo>
                <a:lnTo>
                  <a:pt x="444" y="223"/>
                </a:lnTo>
                <a:cubicBezTo>
                  <a:pt x="444" y="100"/>
                  <a:pt x="344" y="0"/>
                  <a:pt x="222" y="0"/>
                </a:cubicBezTo>
                <a:close/>
              </a:path>
            </a:pathLst>
          </a:custGeom>
          <a:solidFill>
            <a:schemeClr val="bg1"/>
          </a:solidFill>
          <a:ln>
            <a:noFill/>
          </a:ln>
          <a:effectLst/>
        </p:spPr>
        <p:txBody>
          <a:bodyPr wrap="none" anchor="ctr"/>
          <a:lstStyle/>
          <a:p>
            <a:endParaRPr lang="en-US" sz="3600" dirty="0">
              <a:latin typeface="Calibri" panose="020F0502020204030204" pitchFamily="34" charset="0"/>
            </a:endParaRPr>
          </a:p>
        </p:txBody>
      </p:sp>
      <p:sp>
        <p:nvSpPr>
          <p:cNvPr id="39" name="TextBox 38">
            <a:extLst>
              <a:ext uri="{FF2B5EF4-FFF2-40B4-BE49-F238E27FC236}">
                <a16:creationId xmlns:a16="http://schemas.microsoft.com/office/drawing/2014/main" id="{DA60B94D-4F62-7E47-AAD0-1B4C534766AC}"/>
              </a:ext>
            </a:extLst>
          </p:cNvPr>
          <p:cNvSpPr txBox="1"/>
          <p:nvPr/>
        </p:nvSpPr>
        <p:spPr>
          <a:xfrm>
            <a:off x="15196499" y="7740923"/>
            <a:ext cx="2394692" cy="415498"/>
          </a:xfrm>
          <a:prstGeom prst="rect">
            <a:avLst/>
          </a:prstGeom>
          <a:noFill/>
        </p:spPr>
        <p:txBody>
          <a:bodyPr wrap="square" rtlCol="0" anchor="ctr" anchorCtr="0">
            <a:spAutoFit/>
          </a:bodyPr>
          <a:lstStyle/>
          <a:p>
            <a:pPr algn="ctr"/>
            <a:r>
              <a:rPr lang="en-US" sz="2100" dirty="0">
                <a:solidFill>
                  <a:schemeClr val="tx2"/>
                </a:solidFill>
                <a:latin typeface="Calibri" panose="020F0502020204030204" pitchFamily="34" charset="0"/>
                <a:ea typeface="League Spartan" charset="0"/>
                <a:cs typeface="Calibri" panose="020F0502020204030204" pitchFamily="34" charset="0"/>
              </a:rPr>
              <a:t>CARES</a:t>
            </a:r>
          </a:p>
        </p:txBody>
      </p:sp>
      <p:sp>
        <p:nvSpPr>
          <p:cNvPr id="40" name="Subtitle 2">
            <a:extLst>
              <a:ext uri="{FF2B5EF4-FFF2-40B4-BE49-F238E27FC236}">
                <a16:creationId xmlns:a16="http://schemas.microsoft.com/office/drawing/2014/main" id="{44F54978-C3C3-1241-8C0F-3E464066B7F2}"/>
              </a:ext>
            </a:extLst>
          </p:cNvPr>
          <p:cNvSpPr txBox="1">
            <a:spLocks/>
          </p:cNvSpPr>
          <p:nvPr/>
        </p:nvSpPr>
        <p:spPr>
          <a:xfrm>
            <a:off x="14884391" y="8212418"/>
            <a:ext cx="3097772" cy="1361964"/>
          </a:xfrm>
          <a:prstGeom prst="rect">
            <a:avLst/>
          </a:prstGeom>
        </p:spPr>
        <p:txBody>
          <a:bodyPr vert="horz" wrap="square" lIns="163118" tIns="81560" rIns="163118" bIns="815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defRPr/>
            </a:pPr>
            <a:r>
              <a:rPr lang="en-GB" sz="1650" dirty="0"/>
              <a:t>Coordinated ship and aircraft CIMS measurements in the North Atlantic to better understand the sulphur cycle </a:t>
            </a:r>
          </a:p>
        </p:txBody>
      </p:sp>
      <p:pic>
        <p:nvPicPr>
          <p:cNvPr id="42" name="Picture 41" descr="\\nask.man.ac.uk\home$\Desktop\IMG_6061.JP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r="19038"/>
          <a:stretch/>
        </p:blipFill>
        <p:spPr bwMode="auto">
          <a:xfrm rot="5400000">
            <a:off x="727879" y="1761018"/>
            <a:ext cx="2486309" cy="307095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he FAAM BAE146 Aircraft."/>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530775" y="2053341"/>
            <a:ext cx="3759846" cy="25065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13"/>
          <a:srcRect l="39896" t="32963" r="37709" b="7407"/>
          <a:stretch/>
        </p:blipFill>
        <p:spPr>
          <a:xfrm>
            <a:off x="11492555" y="1938228"/>
            <a:ext cx="1824998" cy="2733252"/>
          </a:xfrm>
          <a:prstGeom prst="rect">
            <a:avLst/>
          </a:prstGeom>
        </p:spPr>
      </p:pic>
      <p:pic>
        <p:nvPicPr>
          <p:cNvPr id="61" name="Picture 3" descr="\\nask.man.ac.uk\home$\IMG_20161103_114710 %281%29.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365613" y="2049803"/>
            <a:ext cx="3346802" cy="25101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rotWithShape="1">
          <a:blip r:embed="rId15"/>
          <a:srcRect l="52795" t="50501" r="24946" b="17384"/>
          <a:stretch/>
        </p:blipFill>
        <p:spPr>
          <a:xfrm>
            <a:off x="15080372" y="5228010"/>
            <a:ext cx="2762397" cy="2372235"/>
          </a:xfrm>
          <a:prstGeom prst="ellipse">
            <a:avLst/>
          </a:prstGeom>
        </p:spPr>
      </p:pic>
      <p:pic>
        <p:nvPicPr>
          <p:cNvPr id="2" name="Picture 1" descr="A machine in a metal frame&#10;&#10;Description automatically generated with medium confidence">
            <a:extLst>
              <a:ext uri="{FF2B5EF4-FFF2-40B4-BE49-F238E27FC236}">
                <a16:creationId xmlns:a16="http://schemas.microsoft.com/office/drawing/2014/main" id="{69B777FE-8784-12BA-A7D2-062EAE9D3DD3}"/>
              </a:ext>
            </a:extLst>
          </p:cNvPr>
          <p:cNvPicPr>
            <a:picLocks noChangeAspect="1"/>
          </p:cNvPicPr>
          <p:nvPr/>
        </p:nvPicPr>
        <p:blipFill rotWithShape="1">
          <a:blip r:embed="rId16"/>
          <a:srcRect l="14250" t="3185" r="18135" b="2232"/>
          <a:stretch/>
        </p:blipFill>
        <p:spPr>
          <a:xfrm>
            <a:off x="13968492" y="1441689"/>
            <a:ext cx="3126273" cy="3385964"/>
          </a:xfrm>
          <a:prstGeom prst="rect">
            <a:avLst/>
          </a:prstGeom>
        </p:spPr>
      </p:pic>
      <p:sp>
        <p:nvSpPr>
          <p:cNvPr id="5" name="TextBox 14">
            <a:extLst>
              <a:ext uri="{FF2B5EF4-FFF2-40B4-BE49-F238E27FC236}">
                <a16:creationId xmlns:a16="http://schemas.microsoft.com/office/drawing/2014/main" id="{B2F966AB-551F-535A-324C-366413DAFAEF}"/>
              </a:ext>
            </a:extLst>
          </p:cNvPr>
          <p:cNvSpPr txBox="1"/>
          <p:nvPr/>
        </p:nvSpPr>
        <p:spPr>
          <a:xfrm>
            <a:off x="1002412" y="854509"/>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Some of my research…..</a:t>
            </a:r>
          </a:p>
        </p:txBody>
      </p:sp>
    </p:spTree>
    <p:extLst>
      <p:ext uri="{BB962C8B-B14F-4D97-AF65-F5344CB8AC3E}">
        <p14:creationId xmlns:p14="http://schemas.microsoft.com/office/powerpoint/2010/main" val="21593768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798"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7" y="1026136"/>
            <a:ext cx="11004828" cy="842410"/>
          </a:xfrm>
          <a:prstGeom prst="rect">
            <a:avLst/>
          </a:prstGeom>
        </p:spPr>
        <p:txBody>
          <a:bodyPr wrap="square"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lang="en-US" sz="5400" b="1" i="1" spc="-412" dirty="0">
                <a:solidFill>
                  <a:srgbClr val="46245A"/>
                </a:solidFill>
                <a:latin typeface="DM Sans Bold"/>
              </a:rPr>
              <a:t>Global Climate Change - 2026</a:t>
            </a:r>
            <a:endParaRPr kumimoji="0" lang="en-US" sz="5400" b="1" i="1" u="none" strike="noStrike" kern="1200" cap="none" spc="-412" normalizeH="0" baseline="0" noProof="0" dirty="0">
              <a:ln>
                <a:noFill/>
              </a:ln>
              <a:solidFill>
                <a:srgbClr val="46245A"/>
              </a:solidFill>
              <a:effectLst/>
              <a:uLnTx/>
              <a:uFillTx/>
              <a:latin typeface="DM Sans Bold"/>
              <a:ea typeface="+mn-ea"/>
              <a:cs typeface="+mn-cs"/>
            </a:endParaRPr>
          </a:p>
        </p:txBody>
      </p:sp>
      <p:sp>
        <p:nvSpPr>
          <p:cNvPr id="2" name="TextBox 1">
            <a:extLst>
              <a:ext uri="{FF2B5EF4-FFF2-40B4-BE49-F238E27FC236}">
                <a16:creationId xmlns:a16="http://schemas.microsoft.com/office/drawing/2014/main" id="{80BD60C8-019A-F807-75A8-73ADCA403375}"/>
              </a:ext>
            </a:extLst>
          </p:cNvPr>
          <p:cNvSpPr txBox="1"/>
          <p:nvPr/>
        </p:nvSpPr>
        <p:spPr>
          <a:xfrm>
            <a:off x="584197" y="2258079"/>
            <a:ext cx="17081233" cy="7294305"/>
          </a:xfrm>
          <a:prstGeom prst="rect">
            <a:avLst/>
          </a:prstGeom>
          <a:noFill/>
        </p:spPr>
        <p:txBody>
          <a:bodyPr wrap="square">
            <a:spAutoFit/>
          </a:bodyPr>
          <a:lstStyle/>
          <a:p>
            <a:pPr defTabSz="609630" eaLnBrk="1" fontAlgn="auto" hangingPunct="1">
              <a:spcBef>
                <a:spcPts val="0"/>
              </a:spcBef>
              <a:spcAft>
                <a:spcPts val="0"/>
              </a:spcAft>
              <a:defRPr/>
            </a:pPr>
            <a:r>
              <a:rPr lang="en-GB" sz="3600" kern="100" dirty="0">
                <a:latin typeface="Calibri" panose="020F0502020204030204" pitchFamily="34" charset="0"/>
                <a:ea typeface="Calibri" panose="020F0502020204030204" pitchFamily="34" charset="0"/>
                <a:cs typeface="Calibri" panose="020F0502020204030204" pitchFamily="34" charset="0"/>
              </a:rPr>
              <a:t>Week 1 – </a:t>
            </a:r>
            <a:r>
              <a:rPr lang="en-GB" sz="3600" u="none" strike="noStrike" dirty="0">
                <a:effectLst/>
                <a:latin typeface="Calibri" panose="020F0502020204030204" pitchFamily="34" charset="0"/>
                <a:cs typeface="Calibri" panose="020F0502020204030204" pitchFamily="34" charset="0"/>
              </a:rPr>
              <a:t>Introduction to climate change and its impacts </a:t>
            </a:r>
            <a:r>
              <a:rPr lang="en-GB" sz="3600" kern="100" dirty="0">
                <a:latin typeface="Calibri" panose="020F0502020204030204" pitchFamily="34" charset="0"/>
                <a:ea typeface="Calibri" panose="020F0502020204030204" pitchFamily="34" charset="0"/>
                <a:cs typeface="Calibri" panose="020F0502020204030204" pitchFamily="34" charset="0"/>
              </a:rPr>
              <a:t>(5</a:t>
            </a:r>
            <a:r>
              <a:rPr lang="en-GB" sz="3600" kern="100" baseline="30000" dirty="0">
                <a:latin typeface="Calibri" panose="020F0502020204030204" pitchFamily="34" charset="0"/>
                <a:ea typeface="Calibri" panose="020F0502020204030204" pitchFamily="34" charset="0"/>
                <a:cs typeface="Calibri" panose="020F0502020204030204" pitchFamily="34" charset="0"/>
              </a:rPr>
              <a:t>th</a:t>
            </a:r>
            <a:r>
              <a:rPr lang="en-GB" sz="3600" kern="100" dirty="0">
                <a:latin typeface="Calibri" panose="020F0502020204030204" pitchFamily="34" charset="0"/>
                <a:ea typeface="Calibri" panose="020F0502020204030204" pitchFamily="34" charset="0"/>
                <a:cs typeface="Calibri" panose="020F0502020204030204" pitchFamily="34" charset="0"/>
              </a:rPr>
              <a:t> Feb)</a:t>
            </a:r>
          </a:p>
          <a:p>
            <a:pPr defTabSz="609630">
              <a:defRPr/>
            </a:pPr>
            <a:r>
              <a:rPr lang="en-GB" sz="3600" kern="100" dirty="0">
                <a:latin typeface="Calibri" panose="020F0502020204030204" pitchFamily="34" charset="0"/>
                <a:ea typeface="Calibri" panose="020F0502020204030204" pitchFamily="34" charset="0"/>
                <a:cs typeface="Calibri" panose="020F0502020204030204" pitchFamily="34" charset="0"/>
              </a:rPr>
              <a:t>Week 2 – </a:t>
            </a:r>
            <a:r>
              <a:rPr lang="en-GB" sz="3600" dirty="0">
                <a:latin typeface="Calibri" panose="020F0502020204030204" pitchFamily="34" charset="0"/>
                <a:cs typeface="Calibri" panose="020F0502020204030204" pitchFamily="34" charset="0"/>
              </a:rPr>
              <a:t>Natural Climate Variability</a:t>
            </a: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36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Feb)</a:t>
            </a:r>
            <a:r>
              <a:rPr lang="en-GB" sz="3600" dirty="0">
                <a:latin typeface="Calibri" panose="020F0502020204030204" pitchFamily="34" charset="0"/>
                <a:cs typeface="Calibri" panose="020F0502020204030204" pitchFamily="34" charset="0"/>
              </a:rPr>
              <a:t> </a:t>
            </a:r>
          </a:p>
          <a:p>
            <a:pPr defTabSz="609630">
              <a:defRPr/>
            </a:pPr>
            <a:r>
              <a:rPr lang="en-GB" sz="3600" kern="100" dirty="0">
                <a:latin typeface="Calibri" panose="020F0502020204030204" pitchFamily="34" charset="0"/>
                <a:ea typeface="Calibri" panose="020F0502020204030204" pitchFamily="34" charset="0"/>
                <a:cs typeface="Calibri" panose="020F0502020204030204" pitchFamily="34" charset="0"/>
              </a:rPr>
              <a:t>Week 3 – </a:t>
            </a:r>
            <a:r>
              <a:rPr lang="en-GB" sz="3600" dirty="0">
                <a:solidFill>
                  <a:srgbClr val="212121"/>
                </a:solidFill>
                <a:latin typeface="Calibri" panose="020F0502020204030204" pitchFamily="34" charset="0"/>
                <a:cs typeface="Calibri" panose="020F0502020204030204" pitchFamily="34" charset="0"/>
              </a:rPr>
              <a:t>Radiation Law/Greenhouse Effect/Radiative forcing/feedbacks</a:t>
            </a:r>
            <a:r>
              <a:rPr lang="en-GB" sz="3600" kern="100" dirty="0">
                <a:latin typeface="Calibri" panose="020F0502020204030204" pitchFamily="34" charset="0"/>
                <a:ea typeface="Calibri" panose="020F0502020204030204" pitchFamily="34" charset="0"/>
                <a:cs typeface="Calibri" panose="020F0502020204030204" pitchFamily="34" charset="0"/>
              </a:rPr>
              <a:t> (19</a:t>
            </a:r>
            <a:r>
              <a:rPr lang="en-GB" sz="3600" kern="100" baseline="30000" dirty="0">
                <a:latin typeface="Calibri" panose="020F0502020204030204" pitchFamily="34" charset="0"/>
                <a:ea typeface="Calibri" panose="020F0502020204030204" pitchFamily="34" charset="0"/>
                <a:cs typeface="Calibri" panose="020F0502020204030204" pitchFamily="34" charset="0"/>
              </a:rPr>
              <a:t>th</a:t>
            </a:r>
            <a:r>
              <a:rPr lang="en-GB" sz="3600" kern="100" dirty="0">
                <a:latin typeface="Calibri" panose="020F0502020204030204" pitchFamily="34" charset="0"/>
                <a:ea typeface="Calibri" panose="020F0502020204030204" pitchFamily="34" charset="0"/>
                <a:cs typeface="Calibri" panose="020F0502020204030204" pitchFamily="34" charset="0"/>
              </a:rPr>
              <a:t> Feb)</a:t>
            </a:r>
          </a:p>
          <a:p>
            <a:pPr defTabSz="609630">
              <a:defRPr/>
            </a:pPr>
            <a:r>
              <a:rPr lang="en-GB" sz="3600" kern="1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Week 4 – A</a:t>
            </a:r>
            <a:r>
              <a:rPr lang="en-GB" sz="3600" dirty="0">
                <a:solidFill>
                  <a:schemeClr val="accent5">
                    <a:lumMod val="75000"/>
                  </a:schemeClr>
                </a:solidFill>
                <a:latin typeface="Calibri" panose="020F0502020204030204" pitchFamily="34" charset="0"/>
                <a:cs typeface="Calibri" panose="020F0502020204030204" pitchFamily="34" charset="0"/>
              </a:rPr>
              <a:t>nthropogenic impacts </a:t>
            </a:r>
            <a:r>
              <a:rPr lang="en-GB" sz="3600" kern="1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(26</a:t>
            </a:r>
            <a:r>
              <a:rPr lang="en-GB" sz="3600" kern="100" baseline="30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 Feb) </a:t>
            </a:r>
          </a:p>
          <a:p>
            <a:pPr defTabSz="609630">
              <a:defRPr/>
            </a:pPr>
            <a:r>
              <a:rPr lang="en-GB" sz="3600" kern="100" dirty="0">
                <a:latin typeface="Calibri" panose="020F0502020204030204" pitchFamily="34" charset="0"/>
                <a:ea typeface="Calibri" panose="020F0502020204030204" pitchFamily="34" charset="0"/>
                <a:cs typeface="Calibri" panose="020F0502020204030204" pitchFamily="34" charset="0"/>
              </a:rPr>
              <a:t>Week 5 – </a:t>
            </a:r>
            <a:r>
              <a:rPr lang="en-GB" sz="3600" dirty="0">
                <a:latin typeface="Calibri" panose="020F0502020204030204" pitchFamily="34" charset="0"/>
                <a:cs typeface="Calibri" panose="020F0502020204030204" pitchFamily="34" charset="0"/>
              </a:rPr>
              <a:t>The Evidence Base for Climate Change </a:t>
            </a:r>
            <a:r>
              <a:rPr lang="en-GB" sz="3600" kern="100" dirty="0">
                <a:latin typeface="Calibri" panose="020F0502020204030204" pitchFamily="34" charset="0"/>
                <a:ea typeface="Calibri" panose="020F0502020204030204" pitchFamily="34" charset="0"/>
                <a:cs typeface="Calibri" panose="020F0502020204030204" pitchFamily="34" charset="0"/>
              </a:rPr>
              <a:t>(5</a:t>
            </a:r>
            <a:r>
              <a:rPr lang="en-GB" sz="3600" kern="100" baseline="30000" dirty="0">
                <a:latin typeface="Calibri" panose="020F0502020204030204" pitchFamily="34" charset="0"/>
                <a:ea typeface="Calibri" panose="020F0502020204030204" pitchFamily="34" charset="0"/>
                <a:cs typeface="Calibri" panose="020F0502020204030204" pitchFamily="34" charset="0"/>
              </a:rPr>
              <a:t>th</a:t>
            </a:r>
            <a:r>
              <a:rPr lang="en-GB" sz="3600" kern="100" dirty="0">
                <a:latin typeface="Calibri" panose="020F0502020204030204" pitchFamily="34" charset="0"/>
                <a:ea typeface="Calibri" panose="020F0502020204030204" pitchFamily="34" charset="0"/>
                <a:cs typeface="Calibri" panose="020F0502020204030204" pitchFamily="34" charset="0"/>
              </a:rPr>
              <a:t> March)</a:t>
            </a:r>
          </a:p>
          <a:p>
            <a:pPr defTabSz="609630">
              <a:defRPr/>
            </a:pPr>
            <a:endPar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609630">
              <a:defRPr/>
            </a:pPr>
            <a:r>
              <a:rPr lang="en-GB" sz="3600" b="1" kern="100" dirty="0">
                <a:solidFill>
                  <a:schemeClr val="accent1"/>
                </a:solidFill>
                <a:latin typeface="Calibri" panose="020F0502020204030204" pitchFamily="34" charset="0"/>
                <a:ea typeface="Calibri" panose="020F0502020204030204" pitchFamily="34" charset="0"/>
                <a:cs typeface="Calibri" panose="020F0502020204030204" pitchFamily="34" charset="0"/>
              </a:rPr>
              <a:t>Week 6 – Mid Unit Test</a:t>
            </a:r>
            <a:r>
              <a:rPr lang="en-GB" sz="3600" kern="100" dirty="0">
                <a:latin typeface="Calibri" panose="020F0502020204030204" pitchFamily="34" charset="0"/>
                <a:ea typeface="Calibri" panose="020F0502020204030204" pitchFamily="34" charset="0"/>
                <a:cs typeface="Calibri" panose="020F0502020204030204" pitchFamily="34" charset="0"/>
              </a:rPr>
              <a:t> (10</a:t>
            </a:r>
            <a:r>
              <a:rPr lang="en-GB" sz="3600" kern="100" baseline="30000" dirty="0">
                <a:latin typeface="Calibri" panose="020F0502020204030204" pitchFamily="34" charset="0"/>
                <a:ea typeface="Calibri" panose="020F0502020204030204" pitchFamily="34" charset="0"/>
                <a:cs typeface="Calibri" panose="020F0502020204030204" pitchFamily="34" charset="0"/>
              </a:rPr>
              <a:t>th</a:t>
            </a:r>
            <a:r>
              <a:rPr lang="en-GB" sz="3600" kern="100" dirty="0">
                <a:latin typeface="Calibri" panose="020F0502020204030204" pitchFamily="34" charset="0"/>
                <a:ea typeface="Calibri" panose="020F0502020204030204" pitchFamily="34" charset="0"/>
                <a:cs typeface="Calibri" panose="020F0502020204030204" pitchFamily="34" charset="0"/>
              </a:rPr>
              <a:t> March) </a:t>
            </a:r>
          </a:p>
          <a:p>
            <a:pPr defTabSz="609630">
              <a:defRPr/>
            </a:pPr>
            <a:endParaRPr lang="en-GB" sz="3600" b="1" kern="1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defTabSz="609630">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3600" b="0" u="none" strike="noStrike" dirty="0">
                <a:solidFill>
                  <a:srgbClr val="212121"/>
                </a:solidFill>
                <a:effectLst/>
                <a:latin typeface="Calibri" panose="020F0502020204030204" pitchFamily="34" charset="0"/>
                <a:cs typeface="Calibri" panose="020F0502020204030204" pitchFamily="34" charset="0"/>
              </a:rPr>
              <a:t>Climate Models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(19</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 </a:t>
            </a:r>
          </a:p>
          <a:p>
            <a:pPr defTabSz="609630">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3600" dirty="0">
                <a:solidFill>
                  <a:srgbClr val="212121"/>
                </a:solidFill>
                <a:latin typeface="Calibri" panose="020F0502020204030204" pitchFamily="34" charset="0"/>
                <a:cs typeface="Calibri" panose="020F0502020204030204" pitchFamily="34" charset="0"/>
              </a:rPr>
              <a:t>change adaptation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(26</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 </a:t>
            </a:r>
          </a:p>
          <a:p>
            <a:pPr defTabSz="609630">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3600" dirty="0">
                <a:solidFill>
                  <a:srgbClr val="212121"/>
                </a:solidFill>
                <a:latin typeface="Calibri" panose="020F0502020204030204" pitchFamily="34" charset="0"/>
                <a:cs typeface="Calibri" panose="020F0502020204030204" pitchFamily="34" charset="0"/>
              </a:rPr>
              <a:t>Effects of Climate Change: Case Studies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(23</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rd</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3600" dirty="0">
                <a:solidFill>
                  <a:srgbClr val="212121"/>
                </a:solidFill>
                <a:latin typeface="Calibri" panose="020F0502020204030204" pitchFamily="34" charset="0"/>
                <a:cs typeface="Calibri" panose="020F0502020204030204" pitchFamily="34" charset="0"/>
              </a:rPr>
              <a:t>Climate change Mitigation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May)</a:t>
            </a:r>
          </a:p>
        </p:txBody>
      </p:sp>
      <p:pic>
        <p:nvPicPr>
          <p:cNvPr id="4" name="Picture 3" descr="A qr code with a black and white background&#10;&#10;AI-generated content may be incorrect.">
            <a:extLst>
              <a:ext uri="{FF2B5EF4-FFF2-40B4-BE49-F238E27FC236}">
                <a16:creationId xmlns:a16="http://schemas.microsoft.com/office/drawing/2014/main" id="{AC61CA34-5627-D881-C50C-3D81ED2CFEB4}"/>
              </a:ext>
            </a:extLst>
          </p:cNvPr>
          <p:cNvPicPr>
            <a:picLocks noChangeAspect="1"/>
          </p:cNvPicPr>
          <p:nvPr/>
        </p:nvPicPr>
        <p:blipFill>
          <a:blip r:embed="rId5"/>
          <a:stretch>
            <a:fillRect/>
          </a:stretch>
        </p:blipFill>
        <p:spPr>
          <a:xfrm>
            <a:off x="15251210" y="6751377"/>
            <a:ext cx="2801007" cy="2801007"/>
          </a:xfrm>
          <a:prstGeom prst="rect">
            <a:avLst/>
          </a:prstGeom>
        </p:spPr>
      </p:pic>
      <p:sp>
        <p:nvSpPr>
          <p:cNvPr id="6" name="TextBox 5">
            <a:extLst>
              <a:ext uri="{FF2B5EF4-FFF2-40B4-BE49-F238E27FC236}">
                <a16:creationId xmlns:a16="http://schemas.microsoft.com/office/drawing/2014/main" id="{BDC34069-3337-1A80-7932-1E75F9A15EC0}"/>
              </a:ext>
            </a:extLst>
          </p:cNvPr>
          <p:cNvSpPr txBox="1"/>
          <p:nvPr/>
        </p:nvSpPr>
        <p:spPr>
          <a:xfrm>
            <a:off x="15251211" y="9733687"/>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Comments/Questions</a:t>
            </a:r>
          </a:p>
        </p:txBody>
      </p:sp>
    </p:spTree>
    <p:extLst>
      <p:ext uri="{BB962C8B-B14F-4D97-AF65-F5344CB8AC3E}">
        <p14:creationId xmlns:p14="http://schemas.microsoft.com/office/powerpoint/2010/main" val="179659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67BD-6E27-748C-0BDF-B3BE877B7A4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73AFC71-B4C4-7E14-46F5-4519FB9AD23A}"/>
              </a:ext>
            </a:extLst>
          </p:cNvPr>
          <p:cNvSpPr/>
          <p:nvPr/>
        </p:nvSpPr>
        <p:spPr>
          <a:xfrm>
            <a:off x="14147798"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80ABBA4-F364-E5AA-51E2-ABC18ECFA57C}"/>
              </a:ext>
            </a:extLst>
          </p:cNvPr>
          <p:cNvSpPr txBox="1"/>
          <p:nvPr/>
        </p:nvSpPr>
        <p:spPr>
          <a:xfrm>
            <a:off x="584198" y="1451254"/>
            <a:ext cx="7994305" cy="919480"/>
          </a:xfrm>
          <a:prstGeom prst="rect">
            <a:avLst/>
          </a:prstGeom>
        </p:spPr>
        <p:txBody>
          <a:bodyPr lIns="0" tIns="0" rIns="0" bIns="0" rtlCol="0" anchor="t">
            <a:spAutoFit/>
          </a:bodyPr>
          <a:lstStyle/>
          <a:p>
            <a:pPr>
              <a:lnSpc>
                <a:spcPts val="6859"/>
              </a:lnSpc>
            </a:pPr>
            <a:r>
              <a:rPr lang="en-US" sz="6000" b="1" i="1" spc="-412" dirty="0">
                <a:solidFill>
                  <a:srgbClr val="46245A"/>
                </a:solidFill>
                <a:latin typeface="DM Sans Bold"/>
              </a:rPr>
              <a:t>Guest Lecturer </a:t>
            </a:r>
          </a:p>
        </p:txBody>
      </p:sp>
      <p:pic>
        <p:nvPicPr>
          <p:cNvPr id="7" name="Picture 6" descr="A close-up of a email&#10;&#10;AI-generated content may be incorrect.">
            <a:extLst>
              <a:ext uri="{FF2B5EF4-FFF2-40B4-BE49-F238E27FC236}">
                <a16:creationId xmlns:a16="http://schemas.microsoft.com/office/drawing/2014/main" id="{6610637D-A638-086E-4698-AAD9BFCFD777}"/>
              </a:ext>
            </a:extLst>
          </p:cNvPr>
          <p:cNvPicPr>
            <a:picLocks noChangeAspect="1"/>
          </p:cNvPicPr>
          <p:nvPr/>
        </p:nvPicPr>
        <p:blipFill>
          <a:blip r:embed="rId4">
            <a:extLst>
              <a:ext uri="{28A0092B-C50C-407E-A947-70E740481C1C}">
                <a14:useLocalDpi xmlns:a14="http://schemas.microsoft.com/office/drawing/2010/main" val="0"/>
              </a:ext>
            </a:extLst>
          </a:blip>
          <a:srcRect l="3209" b="69133"/>
          <a:stretch>
            <a:fillRect/>
          </a:stretch>
        </p:blipFill>
        <p:spPr>
          <a:xfrm>
            <a:off x="584197" y="2975065"/>
            <a:ext cx="15719449" cy="3273335"/>
          </a:xfrm>
          <a:prstGeom prst="rect">
            <a:avLst/>
          </a:prstGeom>
        </p:spPr>
      </p:pic>
      <p:sp>
        <p:nvSpPr>
          <p:cNvPr id="2" name="TextBox 1">
            <a:extLst>
              <a:ext uri="{FF2B5EF4-FFF2-40B4-BE49-F238E27FC236}">
                <a16:creationId xmlns:a16="http://schemas.microsoft.com/office/drawing/2014/main" id="{BAD1DB50-87BD-DBAA-A580-AAB47BE9816E}"/>
              </a:ext>
            </a:extLst>
          </p:cNvPr>
          <p:cNvSpPr txBox="1"/>
          <p:nvPr/>
        </p:nvSpPr>
        <p:spPr>
          <a:xfrm>
            <a:off x="16170510" y="9436631"/>
            <a:ext cx="3635392" cy="584775"/>
          </a:xfrm>
          <a:prstGeom prst="rect">
            <a:avLst/>
          </a:prstGeom>
          <a:noFill/>
        </p:spPr>
        <p:txBody>
          <a:bodyPr wrap="square" rtlCol="0">
            <a:spAutoFit/>
          </a:bodyPr>
          <a:lstStyle/>
          <a:p>
            <a:r>
              <a:rPr lang="en-US" sz="3200" b="1" dirty="0">
                <a:solidFill>
                  <a:srgbClr val="FF0000"/>
                </a:solidFill>
              </a:rPr>
              <a:t>WEEK 4</a:t>
            </a:r>
          </a:p>
        </p:txBody>
      </p:sp>
    </p:spTree>
    <p:extLst>
      <p:ext uri="{BB962C8B-B14F-4D97-AF65-F5344CB8AC3E}">
        <p14:creationId xmlns:p14="http://schemas.microsoft.com/office/powerpoint/2010/main" val="322494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5757659-9D01-B602-18EE-C79F2A17D59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F5811E2-DF91-B46C-3CDD-29130BDD3AC6}"/>
              </a:ext>
            </a:extLst>
          </p:cNvPr>
          <p:cNvSpPr/>
          <p:nvPr/>
        </p:nvSpPr>
        <p:spPr>
          <a:xfrm>
            <a:off x="14147798"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AE328C42-6640-1514-5546-687A5E1049E8}"/>
              </a:ext>
            </a:extLst>
          </p:cNvPr>
          <p:cNvSpPr txBox="1"/>
          <p:nvPr/>
        </p:nvSpPr>
        <p:spPr>
          <a:xfrm>
            <a:off x="584197" y="1026136"/>
            <a:ext cx="11004828" cy="884858"/>
          </a:xfrm>
          <a:prstGeom prst="rect">
            <a:avLst/>
          </a:prstGeom>
        </p:spPr>
        <p:txBody>
          <a:bodyPr wrap="square"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lang="en-US" sz="6000" b="1" i="1" spc="-412" dirty="0">
                <a:solidFill>
                  <a:srgbClr val="46245A"/>
                </a:solidFill>
                <a:latin typeface="DM Sans Bold"/>
              </a:rPr>
              <a:t>Global Climate Change</a:t>
            </a:r>
            <a:endParaRPr kumimoji="0" lang="en-US" sz="6000" b="1" i="1" u="none" strike="noStrike" kern="1200" cap="none" spc="-412" normalizeH="0" baseline="0" noProof="0" dirty="0">
              <a:ln>
                <a:noFill/>
              </a:ln>
              <a:solidFill>
                <a:srgbClr val="46245A"/>
              </a:solidFill>
              <a:effectLst/>
              <a:uLnTx/>
              <a:uFillTx/>
              <a:latin typeface="DM Sans Bold"/>
              <a:ea typeface="+mn-ea"/>
              <a:cs typeface="+mn-cs"/>
            </a:endParaRPr>
          </a:p>
        </p:txBody>
      </p:sp>
      <p:sp>
        <p:nvSpPr>
          <p:cNvPr id="4" name="TextBox 3">
            <a:extLst>
              <a:ext uri="{FF2B5EF4-FFF2-40B4-BE49-F238E27FC236}">
                <a16:creationId xmlns:a16="http://schemas.microsoft.com/office/drawing/2014/main" id="{32BE68BA-5F13-CE9B-5BDC-07FD1DDDA522}"/>
              </a:ext>
            </a:extLst>
          </p:cNvPr>
          <p:cNvSpPr txBox="1"/>
          <p:nvPr/>
        </p:nvSpPr>
        <p:spPr>
          <a:xfrm>
            <a:off x="584197" y="2658393"/>
            <a:ext cx="7917777" cy="769441"/>
          </a:xfrm>
          <a:prstGeom prst="rect">
            <a:avLst/>
          </a:prstGeom>
          <a:noFill/>
        </p:spPr>
        <p:txBody>
          <a:bodyPr wrap="square">
            <a:spAutoFit/>
          </a:bodyPr>
          <a:lstStyle/>
          <a:p>
            <a:pPr defTabSz="609630" eaLnBrk="1" fontAlgn="auto" hangingPunct="1">
              <a:spcBef>
                <a:spcPts val="0"/>
              </a:spcBef>
              <a:spcAft>
                <a:spcPts val="0"/>
              </a:spcAft>
              <a:defRPr/>
            </a:pPr>
            <a:r>
              <a:rPr lang="en-GB" sz="44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Assessment </a:t>
            </a:r>
          </a:p>
        </p:txBody>
      </p:sp>
      <p:sp>
        <p:nvSpPr>
          <p:cNvPr id="6" name="TextBox 5">
            <a:extLst>
              <a:ext uri="{FF2B5EF4-FFF2-40B4-BE49-F238E27FC236}">
                <a16:creationId xmlns:a16="http://schemas.microsoft.com/office/drawing/2014/main" id="{DC891FA4-B343-7D1B-F75B-9AE5B0182842}"/>
              </a:ext>
            </a:extLst>
          </p:cNvPr>
          <p:cNvSpPr txBox="1"/>
          <p:nvPr/>
        </p:nvSpPr>
        <p:spPr>
          <a:xfrm>
            <a:off x="584196" y="3989338"/>
            <a:ext cx="16622913" cy="4031873"/>
          </a:xfrm>
          <a:prstGeom prst="rect">
            <a:avLst/>
          </a:prstGeom>
          <a:noFill/>
        </p:spPr>
        <p:txBody>
          <a:bodyPr wrap="square">
            <a:spAutoFit/>
          </a:bodyPr>
          <a:lstStyle/>
          <a:p>
            <a:pPr algn="l"/>
            <a:r>
              <a:rPr lang="en-GB" sz="3200" i="0" u="none" strike="noStrike" dirty="0">
                <a:solidFill>
                  <a:srgbClr val="000000"/>
                </a:solidFill>
                <a:effectLst/>
                <a:latin typeface="Calibri" panose="020F0502020204030204" pitchFamily="34" charset="0"/>
                <a:cs typeface="Calibri" panose="020F0502020204030204" pitchFamily="34" charset="0"/>
              </a:rPr>
              <a:t>Mid-semester Canvas Test [30%] – 10</a:t>
            </a:r>
            <a:r>
              <a:rPr lang="en-GB" sz="3200" baseline="30000" dirty="0">
                <a:solidFill>
                  <a:srgbClr val="000000"/>
                </a:solidFill>
                <a:latin typeface="Calibri" panose="020F0502020204030204" pitchFamily="34" charset="0"/>
                <a:cs typeface="Calibri" panose="020F0502020204030204" pitchFamily="34" charset="0"/>
              </a:rPr>
              <a:t>th</a:t>
            </a:r>
            <a:r>
              <a:rPr lang="en-GB" sz="3200" i="0" u="none" strike="noStrike" dirty="0">
                <a:solidFill>
                  <a:srgbClr val="000000"/>
                </a:solidFill>
                <a:effectLst/>
                <a:latin typeface="Calibri" panose="020F0502020204030204" pitchFamily="34" charset="0"/>
                <a:cs typeface="Calibri" panose="020F0502020204030204" pitchFamily="34" charset="0"/>
              </a:rPr>
              <a:t> March 2 pm   </a:t>
            </a:r>
          </a:p>
          <a:p>
            <a:pPr algn="l"/>
            <a:endParaRPr lang="en-GB" sz="3200" i="0" u="none" strike="noStrike" dirty="0">
              <a:solidFill>
                <a:srgbClr val="000000"/>
              </a:solidFill>
              <a:effectLst/>
              <a:latin typeface="Calibri" panose="020F0502020204030204" pitchFamily="34" charset="0"/>
              <a:cs typeface="Calibri" panose="020F0502020204030204" pitchFamily="34" charset="0"/>
            </a:endParaRPr>
          </a:p>
          <a:p>
            <a:pPr algn="l"/>
            <a:r>
              <a:rPr lang="en-GB" sz="3200" i="0" u="none" strike="noStrike" dirty="0">
                <a:solidFill>
                  <a:srgbClr val="000000"/>
                </a:solidFill>
                <a:effectLst/>
                <a:latin typeface="Calibri" panose="020F0502020204030204" pitchFamily="34" charset="0"/>
                <a:cs typeface="Calibri" panose="020F0502020204030204" pitchFamily="34" charset="0"/>
              </a:rPr>
              <a:t>Summer Final Exam [70%]</a:t>
            </a:r>
          </a:p>
          <a:p>
            <a:pPr algn="l"/>
            <a:endParaRPr lang="en-GB" sz="3200" dirty="0">
              <a:solidFill>
                <a:srgbClr val="000000"/>
              </a:solidFill>
              <a:latin typeface="Calibri" panose="020F0502020204030204" pitchFamily="34" charset="0"/>
              <a:cs typeface="Calibri" panose="020F0502020204030204" pitchFamily="34" charset="0"/>
            </a:endParaRPr>
          </a:p>
          <a:p>
            <a:pPr algn="l"/>
            <a:endParaRPr lang="en-GB" sz="3200" i="0" u="none" strike="noStrike" dirty="0">
              <a:solidFill>
                <a:srgbClr val="000000"/>
              </a:solidFill>
              <a:effectLst/>
              <a:latin typeface="Calibri" panose="020F0502020204030204" pitchFamily="34" charset="0"/>
              <a:cs typeface="Calibri" panose="020F0502020204030204" pitchFamily="34" charset="0"/>
            </a:endParaRPr>
          </a:p>
          <a:p>
            <a:pPr algn="l"/>
            <a:endParaRPr lang="en-GB" sz="3200" dirty="0">
              <a:solidFill>
                <a:srgbClr val="000000"/>
              </a:solidFill>
              <a:latin typeface="Calibri" panose="020F0502020204030204" pitchFamily="34" charset="0"/>
              <a:cs typeface="Calibri" panose="020F0502020204030204" pitchFamily="34" charset="0"/>
            </a:endParaRPr>
          </a:p>
          <a:p>
            <a:pPr algn="l"/>
            <a:endParaRPr lang="en-GB" sz="3200" i="0" u="none" strike="noStrike" dirty="0">
              <a:solidFill>
                <a:srgbClr val="000000"/>
              </a:solidFill>
              <a:effectLst/>
              <a:latin typeface="Calibri" panose="020F0502020204030204" pitchFamily="34" charset="0"/>
              <a:cs typeface="Calibri" panose="020F0502020204030204" pitchFamily="34" charset="0"/>
            </a:endParaRPr>
          </a:p>
          <a:p>
            <a:pPr algn="l"/>
            <a:r>
              <a:rPr lang="en-GB" sz="3200" dirty="0">
                <a:solidFill>
                  <a:srgbClr val="000000"/>
                </a:solidFill>
                <a:latin typeface="Calibri" panose="020F0502020204030204" pitchFamily="34" charset="0"/>
                <a:cs typeface="Calibri" panose="020F0502020204030204" pitchFamily="34" charset="0"/>
              </a:rPr>
              <a:t>UC for this course – </a:t>
            </a:r>
            <a:r>
              <a:rPr lang="en-GB" sz="3200" dirty="0" err="1">
                <a:solidFill>
                  <a:srgbClr val="000000"/>
                </a:solidFill>
                <a:latin typeface="Calibri" panose="020F0502020204030204" pitchFamily="34" charset="0"/>
                <a:cs typeface="Calibri" panose="020F0502020204030204" pitchFamily="34" charset="0"/>
              </a:rPr>
              <a:t>Thomas.Bannan@manchester.ac.uk</a:t>
            </a:r>
            <a:endParaRPr lang="en-US" dirty="0"/>
          </a:p>
        </p:txBody>
      </p:sp>
      <p:sp>
        <p:nvSpPr>
          <p:cNvPr id="2" name="TextBox 1">
            <a:extLst>
              <a:ext uri="{FF2B5EF4-FFF2-40B4-BE49-F238E27FC236}">
                <a16:creationId xmlns:a16="http://schemas.microsoft.com/office/drawing/2014/main" id="{BD8152BF-F305-1E52-976E-0E48718359DD}"/>
              </a:ext>
            </a:extLst>
          </p:cNvPr>
          <p:cNvSpPr txBox="1"/>
          <p:nvPr/>
        </p:nvSpPr>
        <p:spPr>
          <a:xfrm>
            <a:off x="11025304" y="3989338"/>
            <a:ext cx="3635392" cy="584775"/>
          </a:xfrm>
          <a:prstGeom prst="rect">
            <a:avLst/>
          </a:prstGeom>
          <a:noFill/>
        </p:spPr>
        <p:txBody>
          <a:bodyPr wrap="square" rtlCol="0">
            <a:spAutoFit/>
          </a:bodyPr>
          <a:lstStyle/>
          <a:p>
            <a:r>
              <a:rPr lang="en-US" sz="3200" b="1" dirty="0">
                <a:solidFill>
                  <a:srgbClr val="FF0000"/>
                </a:solidFill>
              </a:rPr>
              <a:t>WEEK 6</a:t>
            </a:r>
          </a:p>
        </p:txBody>
      </p:sp>
    </p:spTree>
    <p:extLst>
      <p:ext uri="{BB962C8B-B14F-4D97-AF65-F5344CB8AC3E}">
        <p14:creationId xmlns:p14="http://schemas.microsoft.com/office/powerpoint/2010/main" val="332347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00230-18F1-3DC7-B994-AFD3CF086AF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5430BBC-8A9F-9E4A-2E6C-6CAB71DC0C20}"/>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5" name="TextBox 14">
            <a:extLst>
              <a:ext uri="{FF2B5EF4-FFF2-40B4-BE49-F238E27FC236}">
                <a16:creationId xmlns:a16="http://schemas.microsoft.com/office/drawing/2014/main" id="{3057E08F-50EB-6BD3-5534-4CA4B095E567}"/>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rPr>
              <a:t>Global Climate Change - 2026</a:t>
            </a:r>
          </a:p>
        </p:txBody>
      </p:sp>
      <p:sp>
        <p:nvSpPr>
          <p:cNvPr id="2" name="TextBox 1">
            <a:extLst>
              <a:ext uri="{FF2B5EF4-FFF2-40B4-BE49-F238E27FC236}">
                <a16:creationId xmlns:a16="http://schemas.microsoft.com/office/drawing/2014/main" id="{E88A36D4-ADBC-CD7C-7E1E-DEF082AF3D6D}"/>
              </a:ext>
            </a:extLst>
          </p:cNvPr>
          <p:cNvSpPr txBox="1"/>
          <p:nvPr/>
        </p:nvSpPr>
        <p:spPr>
          <a:xfrm>
            <a:off x="584198" y="2011356"/>
            <a:ext cx="17081234" cy="7848302"/>
          </a:xfrm>
          <a:prstGeom prst="rect">
            <a:avLst/>
          </a:prstGeom>
          <a:noFill/>
        </p:spPr>
        <p:txBody>
          <a:bodyPr wrap="square">
            <a:spAutoFit/>
          </a:bodyPr>
          <a:lstStyle/>
          <a:p>
            <a:pPr defTabSz="609660">
              <a:defRPr/>
            </a:pP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Week 6 – Mid Unit Test (10</a:t>
            </a:r>
            <a:r>
              <a:rPr lang="en-GB" sz="3600" b="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th</a:t>
            </a: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 March)</a:t>
            </a:r>
          </a:p>
          <a:p>
            <a:pPr defTabSz="609660">
              <a:defRPr/>
            </a:pPr>
            <a:endPar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defTabSz="1371600"/>
            <a:r>
              <a:rPr lang="en-GB" sz="2700" dirty="0">
                <a:solidFill>
                  <a:prstClr val="black"/>
                </a:solidFill>
                <a:latin typeface="Calibri" panose="020F0502020204030204" pitchFamily="34" charset="0"/>
                <a:cs typeface="Calibri" panose="020F0502020204030204" pitchFamily="34" charset="0"/>
              </a:rPr>
              <a:t>This assessment will test your understanding of weeks 1-5 of the Global Climate Change Course</a:t>
            </a:r>
          </a:p>
          <a:p>
            <a:pPr defTabSz="1371600"/>
            <a:endParaRPr lang="en-GB" sz="2700" dirty="0">
              <a:solidFill>
                <a:prstClr val="black"/>
              </a:solidFill>
              <a:latin typeface="Calibri" panose="020F0502020204030204" pitchFamily="34" charset="0"/>
              <a:cs typeface="Calibri" panose="020F0502020204030204" pitchFamily="34" charset="0"/>
            </a:endParaRPr>
          </a:p>
          <a:p>
            <a:pPr defTabSz="1371600"/>
            <a:r>
              <a:rPr lang="en-GB" sz="2700" dirty="0">
                <a:solidFill>
                  <a:prstClr val="black"/>
                </a:solidFill>
                <a:latin typeface="Calibri" panose="020F0502020204030204" pitchFamily="34" charset="0"/>
                <a:cs typeface="Calibri" panose="020F0502020204030204" pitchFamily="34" charset="0"/>
              </a:rPr>
              <a:t>The test must be completed and submitted in person under examination conditions. </a:t>
            </a:r>
          </a:p>
          <a:p>
            <a:pPr defTabSz="1371600">
              <a:defRPr/>
            </a:pPr>
            <a:r>
              <a:rPr lang="en-GB" sz="2700" b="1" dirty="0">
                <a:solidFill>
                  <a:prstClr val="black"/>
                </a:solidFill>
                <a:latin typeface="Calibri" panose="020F0502020204030204" pitchFamily="34" charset="0"/>
                <a:cs typeface="Calibri" panose="020F0502020204030204" pitchFamily="34" charset="0"/>
              </a:rPr>
              <a:t>When: </a:t>
            </a:r>
            <a:r>
              <a:rPr lang="en-GB" sz="2700" dirty="0">
                <a:solidFill>
                  <a:prstClr val="black"/>
                </a:solidFill>
                <a:latin typeface="Calibri" panose="020F0502020204030204" pitchFamily="34" charset="0"/>
                <a:cs typeface="Calibri" panose="020F0502020204030204" pitchFamily="34" charset="0"/>
              </a:rPr>
              <a:t>Monday 10th March, 14:00–15:00/15:30 </a:t>
            </a:r>
          </a:p>
          <a:p>
            <a:pPr defTabSz="1371600">
              <a:defRPr/>
            </a:pPr>
            <a:r>
              <a:rPr lang="en-GB" sz="2700" b="1" dirty="0">
                <a:solidFill>
                  <a:prstClr val="black"/>
                </a:solidFill>
                <a:latin typeface="Calibri" panose="020F0502020204030204" pitchFamily="34" charset="0"/>
                <a:cs typeface="Calibri" panose="020F0502020204030204" pitchFamily="34" charset="0"/>
              </a:rPr>
              <a:t>Where: </a:t>
            </a:r>
            <a:r>
              <a:rPr lang="en-GB" sz="2700" dirty="0">
                <a:solidFill>
                  <a:prstClr val="black"/>
                </a:solidFill>
                <a:latin typeface="Calibri" panose="020F0502020204030204" pitchFamily="34" charset="0"/>
                <a:cs typeface="Calibri" panose="020F0502020204030204" pitchFamily="34" charset="0"/>
              </a:rPr>
              <a:t>Room 6.004, Simon Building – Computer Cluster/DASS Students - Mansfield Cooper 2.01 - this can change!!</a:t>
            </a:r>
          </a:p>
          <a:p>
            <a:pPr defTabSz="1371600">
              <a:defRPr/>
            </a:pPr>
            <a:endParaRPr lang="en-GB" sz="2700" b="1" dirty="0">
              <a:solidFill>
                <a:srgbClr val="FF0000"/>
              </a:solidFill>
              <a:latin typeface="Calibri" panose="020F0502020204030204" pitchFamily="34" charset="0"/>
              <a:cs typeface="Calibri" panose="020F0502020204030204" pitchFamily="34" charset="0"/>
            </a:endParaRPr>
          </a:p>
          <a:p>
            <a:pPr defTabSz="1371600">
              <a:defRPr/>
            </a:pPr>
            <a:r>
              <a:rPr lang="en-GB" sz="2700" b="1" dirty="0">
                <a:solidFill>
                  <a:srgbClr val="FF0000"/>
                </a:solidFill>
                <a:latin typeface="Calibri" panose="020F0502020204030204" pitchFamily="34" charset="0"/>
                <a:cs typeface="Calibri" panose="020F0502020204030204" pitchFamily="34" charset="0"/>
              </a:rPr>
              <a:t>Please arrive 10–15 minutes early so you have time to log in to Canvas before the test begins.</a:t>
            </a:r>
          </a:p>
          <a:p>
            <a:pPr defTabSz="1371600"/>
            <a:endParaRPr lang="en-GB" sz="2700" dirty="0">
              <a:solidFill>
                <a:prstClr val="black"/>
              </a:solidFill>
              <a:latin typeface="Calibri" panose="020F0502020204030204" pitchFamily="34" charset="0"/>
              <a:cs typeface="Calibri" panose="020F0502020204030204" pitchFamily="34" charset="0"/>
            </a:endParaRPr>
          </a:p>
          <a:p>
            <a:pPr defTabSz="1371600"/>
            <a:r>
              <a:rPr lang="en-GB" sz="2700" dirty="0">
                <a:solidFill>
                  <a:prstClr val="black"/>
                </a:solidFill>
                <a:latin typeface="Calibri" panose="020F0502020204030204" pitchFamily="34" charset="0"/>
                <a:cs typeface="Calibri" panose="020F0502020204030204" pitchFamily="34" charset="0"/>
              </a:rPr>
              <a:t>The test comprises 25 multiple choice questions. </a:t>
            </a:r>
            <a:r>
              <a:rPr lang="en-GB" sz="2700" b="1" dirty="0">
                <a:solidFill>
                  <a:prstClr val="black"/>
                </a:solidFill>
                <a:latin typeface="Calibri" panose="020F0502020204030204" pitchFamily="34" charset="0"/>
                <a:cs typeface="Calibri" panose="020F0502020204030204" pitchFamily="34" charset="0"/>
              </a:rPr>
              <a:t>Only one submission is allowed per student</a:t>
            </a:r>
            <a:r>
              <a:rPr lang="en-GB" sz="2700" dirty="0">
                <a:solidFill>
                  <a:prstClr val="black"/>
                </a:solidFill>
                <a:latin typeface="Calibri" panose="020F0502020204030204" pitchFamily="34" charset="0"/>
                <a:cs typeface="Calibri" panose="020F0502020204030204" pitchFamily="34" charset="0"/>
              </a:rPr>
              <a:t> (multiple attempts are not allowed). Submit using the 'Submit' button, but only do this when you are ready to finish the test as you cannot make repeat submissions.</a:t>
            </a:r>
          </a:p>
          <a:p>
            <a:pPr defTabSz="1371600"/>
            <a:endParaRPr lang="en-GB" sz="2700" dirty="0">
              <a:solidFill>
                <a:prstClr val="black"/>
              </a:solidFill>
              <a:latin typeface="Calibri" panose="020F0502020204030204" pitchFamily="34" charset="0"/>
              <a:cs typeface="Calibri" panose="020F0502020204030204" pitchFamily="34" charset="0"/>
            </a:endParaRPr>
          </a:p>
          <a:p>
            <a:pPr defTabSz="1371600"/>
            <a:r>
              <a:rPr lang="en-GB" sz="2700" b="1" dirty="0">
                <a:solidFill>
                  <a:prstClr val="black"/>
                </a:solidFill>
                <a:latin typeface="Calibri" panose="020F0502020204030204" pitchFamily="34" charset="0"/>
                <a:cs typeface="Calibri" panose="020F0502020204030204" pitchFamily="34" charset="0"/>
              </a:rPr>
              <a:t>For questions that are multiple answers (rather than multiple choice): </a:t>
            </a:r>
            <a:r>
              <a:rPr lang="en-GB" sz="2700" dirty="0">
                <a:solidFill>
                  <a:prstClr val="black"/>
                </a:solidFill>
                <a:latin typeface="Calibri" panose="020F0502020204030204" pitchFamily="34" charset="0"/>
                <a:cs typeface="Calibri" panose="020F0502020204030204" pitchFamily="34" charset="0"/>
              </a:rPr>
              <a:t>Partial credit is calculated by dividing the total points possible by the number of correct answers for the question. This amount is awarded for each correct answer selected and deducted for each incorrect answer selected. No points are awarded or deducted for answers that are not selected. Zero is the lowest possible score. </a:t>
            </a:r>
            <a:endPar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392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5E92B58-D5BB-1372-0032-F1E2AB60037A}"/>
              </a:ext>
            </a:extLst>
          </p:cNvPr>
          <p:cNvSpPr txBox="1"/>
          <p:nvPr/>
        </p:nvSpPr>
        <p:spPr>
          <a:xfrm>
            <a:off x="1981200" y="4713895"/>
            <a:ext cx="4729588" cy="859210"/>
          </a:xfrm>
          <a:prstGeom prst="rect">
            <a:avLst/>
          </a:prstGeom>
        </p:spPr>
        <p:txBody>
          <a:bodyPr lIns="0" tIns="0" rIns="0" bIns="0" rtlCol="0" anchor="t">
            <a:spAutoFit/>
          </a:bodyPr>
          <a:lstStyle/>
          <a:p>
            <a:pPr marL="0" marR="0" lvl="0" indent="0" algn="l" defTabSz="914400" rtl="0" eaLnBrk="1" fontAlgn="auto" latinLnBrk="0" hangingPunct="1">
              <a:lnSpc>
                <a:spcPts val="672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46245A"/>
                </a:solidFill>
                <a:effectLst/>
                <a:uLnTx/>
                <a:uFillTx/>
                <a:latin typeface="DM Sans Bold"/>
                <a:ea typeface="+mn-ea"/>
                <a:cs typeface="+mn-cs"/>
              </a:rPr>
              <a:t>Feedback</a:t>
            </a:r>
          </a:p>
        </p:txBody>
      </p:sp>
      <p:sp>
        <p:nvSpPr>
          <p:cNvPr id="3" name="Freeform 13">
            <a:extLst>
              <a:ext uri="{FF2B5EF4-FFF2-40B4-BE49-F238E27FC236}">
                <a16:creationId xmlns:a16="http://schemas.microsoft.com/office/drawing/2014/main" id="{5BEE16A5-7C45-015F-8A98-91B324DAAE9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4" name="Picture 3" descr="A qr code with a black and white background&#10;&#10;AI-generated content may be incorrect.">
            <a:extLst>
              <a:ext uri="{FF2B5EF4-FFF2-40B4-BE49-F238E27FC236}">
                <a16:creationId xmlns:a16="http://schemas.microsoft.com/office/drawing/2014/main" id="{171A1761-B8B9-12F5-8A92-EE96E5836A84}"/>
              </a:ext>
            </a:extLst>
          </p:cNvPr>
          <p:cNvPicPr>
            <a:picLocks noChangeAspect="1"/>
          </p:cNvPicPr>
          <p:nvPr/>
        </p:nvPicPr>
        <p:blipFill>
          <a:blip r:embed="rId4"/>
          <a:stretch>
            <a:fillRect/>
          </a:stretch>
        </p:blipFill>
        <p:spPr>
          <a:xfrm>
            <a:off x="7857158" y="2453530"/>
            <a:ext cx="5379940" cy="5379940"/>
          </a:xfrm>
          <a:prstGeom prst="rect">
            <a:avLst/>
          </a:prstGeom>
        </p:spPr>
      </p:pic>
    </p:spTree>
    <p:extLst>
      <p:ext uri="{BB962C8B-B14F-4D97-AF65-F5344CB8AC3E}">
        <p14:creationId xmlns:p14="http://schemas.microsoft.com/office/powerpoint/2010/main" val="3900537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7FC70BA-B7CC-96D1-6B11-FBE072DCA1D2}"/>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EF034A4D-3F78-AEBD-2CBD-818BA2E176B9}"/>
              </a:ext>
            </a:extLst>
          </p:cNvPr>
          <p:cNvSpPr txBox="1"/>
          <p:nvPr/>
        </p:nvSpPr>
        <p:spPr>
          <a:xfrm>
            <a:off x="990600" y="2171700"/>
            <a:ext cx="7994305" cy="919480"/>
          </a:xfrm>
          <a:prstGeom prst="rect">
            <a:avLst/>
          </a:prstGeom>
        </p:spPr>
        <p:txBody>
          <a:bodyPr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0" i="1" u="none" strike="noStrike" kern="1200" cap="none" spc="-412" normalizeH="0" baseline="0" noProof="0" dirty="0">
                <a:ln>
                  <a:noFill/>
                </a:ln>
                <a:solidFill>
                  <a:srgbClr val="46245A"/>
                </a:solidFill>
                <a:effectLst/>
                <a:uLnTx/>
                <a:uFillTx/>
                <a:latin typeface="DM Sans Bold"/>
                <a:ea typeface="+mn-ea"/>
                <a:cs typeface="+mn-cs"/>
              </a:rPr>
              <a:t>General Class Structure </a:t>
            </a:r>
          </a:p>
        </p:txBody>
      </p:sp>
      <p:sp>
        <p:nvSpPr>
          <p:cNvPr id="3" name="Freeform 13">
            <a:extLst>
              <a:ext uri="{FF2B5EF4-FFF2-40B4-BE49-F238E27FC236}">
                <a16:creationId xmlns:a16="http://schemas.microsoft.com/office/drawing/2014/main" id="{2D75ACC3-B098-48E7-24D8-8C4E8C7176B5}"/>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5">
            <a:extLst>
              <a:ext uri="{FF2B5EF4-FFF2-40B4-BE49-F238E27FC236}">
                <a16:creationId xmlns:a16="http://schemas.microsoft.com/office/drawing/2014/main" id="{16C103FA-61C3-70E4-AF11-FCAB0D26E6C9}"/>
              </a:ext>
            </a:extLst>
          </p:cNvPr>
          <p:cNvSpPr txBox="1"/>
          <p:nvPr/>
        </p:nvSpPr>
        <p:spPr>
          <a:xfrm>
            <a:off x="990599" y="5143500"/>
            <a:ext cx="8782051" cy="2541658"/>
          </a:xfrm>
          <a:prstGeom prst="rect">
            <a:avLst/>
          </a:prstGeom>
        </p:spPr>
        <p:txBody>
          <a:bodyPr wrap="square" lIns="0" tIns="0" rIns="0" bIns="0" rtlCol="0" anchor="t">
            <a:spAutoFit/>
          </a:bodyPr>
          <a:lstStyle/>
          <a:p>
            <a:pPr marL="179502" lvl="1" defTabSz="609630">
              <a:lnSpc>
                <a:spcPts val="3333"/>
              </a:lnSpc>
              <a:defRPr/>
            </a:pPr>
            <a:r>
              <a:rPr lang="en-US" sz="3200" b="1" spc="33" dirty="0">
                <a:solidFill>
                  <a:srgbClr val="FAB700"/>
                </a:solidFill>
                <a:latin typeface="Calibri" panose="020F0502020204030204" pitchFamily="34" charset="0"/>
                <a:cs typeface="Calibri" panose="020F0502020204030204" pitchFamily="34" charset="0"/>
              </a:rPr>
              <a:t>Part 1: </a:t>
            </a:r>
            <a:r>
              <a:rPr lang="en-US" sz="3200" b="1" spc="33" dirty="0">
                <a:solidFill>
                  <a:srgbClr val="FFFFFF"/>
                </a:solidFill>
                <a:latin typeface="Calibri" panose="020F0502020204030204" pitchFamily="34" charset="0"/>
                <a:cs typeface="Calibri" panose="020F0502020204030204" pitchFamily="34" charset="0"/>
              </a:rPr>
              <a:t>Overview of key concepts (50 mins)</a:t>
            </a:r>
          </a:p>
          <a:p>
            <a:pPr marL="179502" lvl="1" defTabSz="609630" eaLnBrk="1" fontAlgn="auto" hangingPunct="1">
              <a:lnSpc>
                <a:spcPts val="3333"/>
              </a:lnSpc>
              <a:spcBef>
                <a:spcPts val="0"/>
              </a:spcBef>
              <a:spcAft>
                <a:spcPts val="0"/>
              </a:spcAft>
              <a:defRPr/>
            </a:pPr>
            <a:endParaRPr lang="en-US" sz="3200" b="1" spc="33" dirty="0">
              <a:solidFill>
                <a:srgbClr val="FAB700"/>
              </a:solidFill>
              <a:latin typeface="Calibri" panose="020F0502020204030204" pitchFamily="34" charset="0"/>
              <a:cs typeface="Calibri" panose="020F0502020204030204" pitchFamily="34" charset="0"/>
            </a:endParaRPr>
          </a:p>
          <a:p>
            <a:pPr marL="179502" lvl="1" defTabSz="609630" eaLnBrk="1" fontAlgn="auto" hangingPunct="1">
              <a:lnSpc>
                <a:spcPts val="3333"/>
              </a:lnSpc>
              <a:spcBef>
                <a:spcPts val="0"/>
              </a:spcBef>
              <a:spcAft>
                <a:spcPts val="0"/>
              </a:spcAft>
              <a:defRPr/>
            </a:pPr>
            <a:r>
              <a:rPr lang="en-US" sz="3200" b="1" spc="33" dirty="0">
                <a:solidFill>
                  <a:srgbClr val="FAB700"/>
                </a:solidFill>
                <a:latin typeface="Calibri" panose="020F0502020204030204" pitchFamily="34" charset="0"/>
                <a:cs typeface="Calibri" panose="020F0502020204030204" pitchFamily="34" charset="0"/>
              </a:rPr>
              <a:t>Part 2: </a:t>
            </a:r>
            <a:r>
              <a:rPr lang="en-US" sz="3200" b="1" spc="33" dirty="0">
                <a:solidFill>
                  <a:schemeClr val="bg1"/>
                </a:solidFill>
                <a:latin typeface="Calibri" panose="020F0502020204030204" pitchFamily="34" charset="0"/>
                <a:cs typeface="Calibri" panose="020F0502020204030204" pitchFamily="34" charset="0"/>
              </a:rPr>
              <a:t>Break and Q/A (10 mins) </a:t>
            </a:r>
          </a:p>
          <a:p>
            <a:pPr marL="179502" lvl="1" defTabSz="609630" eaLnBrk="1" fontAlgn="auto" hangingPunct="1">
              <a:lnSpc>
                <a:spcPts val="3333"/>
              </a:lnSpc>
              <a:spcBef>
                <a:spcPts val="0"/>
              </a:spcBef>
              <a:spcAft>
                <a:spcPts val="0"/>
              </a:spcAft>
              <a:defRPr/>
            </a:pPr>
            <a:endParaRPr lang="en-US" sz="3200" b="1" spc="33" dirty="0">
              <a:solidFill>
                <a:srgbClr val="FFFFFF"/>
              </a:solidFill>
              <a:latin typeface="Calibri" panose="020F0502020204030204" pitchFamily="34" charset="0"/>
              <a:cs typeface="Calibri" panose="020F0502020204030204" pitchFamily="34" charset="0"/>
            </a:endParaRPr>
          </a:p>
          <a:p>
            <a:pPr marL="179502" lvl="1" defTabSz="609630">
              <a:lnSpc>
                <a:spcPts val="3333"/>
              </a:lnSpc>
              <a:defRPr/>
            </a:pPr>
            <a:r>
              <a:rPr lang="en-US" sz="3200" b="1" spc="33" dirty="0">
                <a:solidFill>
                  <a:srgbClr val="FAB700"/>
                </a:solidFill>
                <a:latin typeface="Calibri" panose="020F0502020204030204" pitchFamily="34" charset="0"/>
                <a:cs typeface="Calibri" panose="020F0502020204030204" pitchFamily="34" charset="0"/>
              </a:rPr>
              <a:t>Part 3: </a:t>
            </a:r>
            <a:r>
              <a:rPr lang="en-US" sz="3200" b="1" spc="33" dirty="0">
                <a:solidFill>
                  <a:schemeClr val="bg1"/>
                </a:solidFill>
                <a:latin typeface="Calibri" panose="020F0502020204030204" pitchFamily="34" charset="0"/>
                <a:cs typeface="Calibri" panose="020F0502020204030204" pitchFamily="34" charset="0"/>
              </a:rPr>
              <a:t>Workshop with exam style questions</a:t>
            </a:r>
          </a:p>
          <a:p>
            <a:pPr marL="179502" lvl="1" defTabSz="609630">
              <a:lnSpc>
                <a:spcPts val="3333"/>
              </a:lnSpc>
              <a:defRPr/>
            </a:pPr>
            <a:r>
              <a:rPr lang="en-US" sz="3200" b="1" spc="33" dirty="0">
                <a:solidFill>
                  <a:schemeClr val="bg1"/>
                </a:solidFill>
                <a:latin typeface="Calibri" panose="020F0502020204030204" pitchFamily="34" charset="0"/>
                <a:cs typeface="Calibri" panose="020F0502020204030204" pitchFamily="34" charset="0"/>
              </a:rPr>
              <a:t>			(50 mins)</a:t>
            </a:r>
          </a:p>
        </p:txBody>
      </p:sp>
    </p:spTree>
    <p:extLst>
      <p:ext uri="{BB962C8B-B14F-4D97-AF65-F5344CB8AC3E}">
        <p14:creationId xmlns:p14="http://schemas.microsoft.com/office/powerpoint/2010/main" val="627937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C743-536F-968B-3602-69E2CF4C4B51}"/>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20D3193B-7EAD-4352-28CF-A8F40D8128F4}"/>
              </a:ext>
            </a:extLst>
          </p:cNvPr>
          <p:cNvSpPr txBox="1"/>
          <p:nvPr/>
        </p:nvSpPr>
        <p:spPr>
          <a:xfrm>
            <a:off x="751541" y="1070370"/>
            <a:ext cx="11004828" cy="884858"/>
          </a:xfrm>
          <a:prstGeom prst="rect">
            <a:avLst/>
          </a:prstGeom>
        </p:spPr>
        <p:txBody>
          <a:bodyPr wrap="square"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1" i="1" u="none" strike="noStrike" kern="1200" cap="none" spc="-412" normalizeH="0" baseline="0" noProof="0" dirty="0">
                <a:ln>
                  <a:noFill/>
                </a:ln>
                <a:solidFill>
                  <a:srgbClr val="46245A"/>
                </a:solidFill>
                <a:effectLst/>
                <a:uLnTx/>
                <a:uFillTx/>
                <a:latin typeface="DM Sans Bold"/>
                <a:ea typeface="+mn-ea"/>
                <a:cs typeface="+mn-cs"/>
              </a:rPr>
              <a:t>Lecture Structure</a:t>
            </a:r>
          </a:p>
        </p:txBody>
      </p:sp>
      <p:sp>
        <p:nvSpPr>
          <p:cNvPr id="3" name="Freeform 13">
            <a:extLst>
              <a:ext uri="{FF2B5EF4-FFF2-40B4-BE49-F238E27FC236}">
                <a16:creationId xmlns:a16="http://schemas.microsoft.com/office/drawing/2014/main" id="{EEDB5E45-1AB9-914B-7BB2-1574053E11A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5" name="Picture 4" descr="A screenshot of a computer&#10;&#10;AI-generated content may be incorrect.">
            <a:extLst>
              <a:ext uri="{FF2B5EF4-FFF2-40B4-BE49-F238E27FC236}">
                <a16:creationId xmlns:a16="http://schemas.microsoft.com/office/drawing/2014/main" id="{9EACDD0E-AC57-E2E5-DAEA-61C22C8279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7289" y="2744337"/>
            <a:ext cx="5848048" cy="6769976"/>
          </a:xfrm>
          <a:prstGeom prst="rect">
            <a:avLst/>
          </a:prstGeom>
        </p:spPr>
      </p:pic>
      <p:pic>
        <p:nvPicPr>
          <p:cNvPr id="7" name="Picture 6" descr="A screenshot of a web page&#10;&#10;AI-generated content may be incorrect.">
            <a:extLst>
              <a:ext uri="{FF2B5EF4-FFF2-40B4-BE49-F238E27FC236}">
                <a16:creationId xmlns:a16="http://schemas.microsoft.com/office/drawing/2014/main" id="{34C53A46-F25B-9B07-5C66-103BA5EE04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541" y="2695903"/>
            <a:ext cx="5848048" cy="6818410"/>
          </a:xfrm>
          <a:prstGeom prst="rect">
            <a:avLst/>
          </a:prstGeom>
        </p:spPr>
      </p:pic>
      <p:sp>
        <p:nvSpPr>
          <p:cNvPr id="8" name="TextBox 7">
            <a:extLst>
              <a:ext uri="{FF2B5EF4-FFF2-40B4-BE49-F238E27FC236}">
                <a16:creationId xmlns:a16="http://schemas.microsoft.com/office/drawing/2014/main" id="{806C290F-D362-28F3-BD49-9C4A1E0CAF48}"/>
              </a:ext>
            </a:extLst>
          </p:cNvPr>
          <p:cNvSpPr txBox="1"/>
          <p:nvPr/>
        </p:nvSpPr>
        <p:spPr>
          <a:xfrm>
            <a:off x="751541" y="2118951"/>
            <a:ext cx="63544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DM Sans"/>
                <a:ea typeface="+mn-ea"/>
                <a:cs typeface="+mn-cs"/>
              </a:rPr>
              <a:t>1 Hour Lecture </a:t>
            </a:r>
          </a:p>
        </p:txBody>
      </p:sp>
      <p:sp>
        <p:nvSpPr>
          <p:cNvPr id="9" name="TextBox 8">
            <a:extLst>
              <a:ext uri="{FF2B5EF4-FFF2-40B4-BE49-F238E27FC236}">
                <a16:creationId xmlns:a16="http://schemas.microsoft.com/office/drawing/2014/main" id="{1A8C22F0-A3CE-6602-7963-08FFE51C0CF0}"/>
              </a:ext>
            </a:extLst>
          </p:cNvPr>
          <p:cNvSpPr txBox="1"/>
          <p:nvPr/>
        </p:nvSpPr>
        <p:spPr>
          <a:xfrm>
            <a:off x="6797289" y="2118950"/>
            <a:ext cx="63544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DM Sans"/>
                <a:ea typeface="+mn-ea"/>
                <a:cs typeface="+mn-cs"/>
              </a:rPr>
              <a:t>1 Hour Workshop</a:t>
            </a:r>
          </a:p>
        </p:txBody>
      </p:sp>
      <p:sp>
        <p:nvSpPr>
          <p:cNvPr id="10" name="TextBox 9">
            <a:extLst>
              <a:ext uri="{FF2B5EF4-FFF2-40B4-BE49-F238E27FC236}">
                <a16:creationId xmlns:a16="http://schemas.microsoft.com/office/drawing/2014/main" id="{CABBD494-97C3-D45E-2D18-D6FF44529C5B}"/>
              </a:ext>
            </a:extLst>
          </p:cNvPr>
          <p:cNvSpPr txBox="1"/>
          <p:nvPr/>
        </p:nvSpPr>
        <p:spPr>
          <a:xfrm>
            <a:off x="12843037" y="2118950"/>
            <a:ext cx="63544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DM Sans"/>
                <a:ea typeface="+mn-ea"/>
                <a:cs typeface="+mn-cs"/>
              </a:rPr>
              <a:t>Canvas</a:t>
            </a:r>
          </a:p>
        </p:txBody>
      </p:sp>
      <p:pic>
        <p:nvPicPr>
          <p:cNvPr id="12" name="Picture 11" descr="A screenshot of a computer&#10;&#10;AI-generated content may be incorrect.">
            <a:extLst>
              <a:ext uri="{FF2B5EF4-FFF2-40B4-BE49-F238E27FC236}">
                <a16:creationId xmlns:a16="http://schemas.microsoft.com/office/drawing/2014/main" id="{39D62EE5-E6F0-E1E3-7905-6BFA63361B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47375" y="2744337"/>
            <a:ext cx="4255510" cy="6818410"/>
          </a:xfrm>
          <a:prstGeom prst="rect">
            <a:avLst/>
          </a:prstGeom>
        </p:spPr>
      </p:pic>
    </p:spTree>
    <p:extLst>
      <p:ext uri="{BB962C8B-B14F-4D97-AF65-F5344CB8AC3E}">
        <p14:creationId xmlns:p14="http://schemas.microsoft.com/office/powerpoint/2010/main" val="4117946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0CF4-42D4-023E-7617-7C4DA7A20B3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A72C7EF0-68D6-C059-F909-9FE4E6FF216C}"/>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8F64870A-65DE-FA8E-9F00-A91AA74AA89A}"/>
              </a:ext>
            </a:extLst>
          </p:cNvPr>
          <p:cNvSpPr txBox="1">
            <a:spLocks/>
          </p:cNvSpPr>
          <p:nvPr/>
        </p:nvSpPr>
        <p:spPr>
          <a:xfrm>
            <a:off x="1143000" y="3166209"/>
            <a:ext cx="15795171"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3DA3941B-54F2-BD42-F7E8-F3154A5CF13D}"/>
              </a:ext>
            </a:extLst>
          </p:cNvPr>
          <p:cNvSpPr txBox="1"/>
          <p:nvPr/>
        </p:nvSpPr>
        <p:spPr>
          <a:xfrm>
            <a:off x="817428" y="2808313"/>
            <a:ext cx="15402508" cy="5632311"/>
          </a:xfrm>
          <a:prstGeom prst="rect">
            <a:avLst/>
          </a:prstGeom>
          <a:noFill/>
        </p:spPr>
        <p:txBody>
          <a:bodyPr wrap="square">
            <a:spAutoFit/>
          </a:bodyPr>
          <a:lstStyle/>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Define greenhouse gases and explain their role in global warming.</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What are aerosols, and how do they influence the Earth's climate?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How does air pollution exacerbate the effects of climate change?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Explain the term "radiative forcing" and its relevance to climate science.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Describe how heatwaves influence the severity of air pollution.</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Using examples, explain the difference between short-lived and long-lived climate forcers.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Analyse the role of anthropogenic activities in increasing the frequency of extreme weather events.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Interpret a graph showing CO₂ concentrations over the past century and discuss its implications.</a:t>
            </a:r>
          </a:p>
          <a:p>
            <a:pPr marL="457200" indent="-457200">
              <a:buFont typeface="+mj-lt"/>
              <a:buAutoNum type="arabicPeriod"/>
            </a:pPr>
            <a:r>
              <a:rPr lang="en-GB" sz="2400" kern="100" dirty="0">
                <a:latin typeface="Calibri" panose="020F0502020204030204" pitchFamily="34" charset="0"/>
                <a:ea typeface="Aptos" panose="020B0004020202020204" pitchFamily="34" charset="0"/>
                <a:cs typeface="Calibri" panose="020F0502020204030204" pitchFamily="34" charset="0"/>
              </a:rPr>
              <a:t>I</a:t>
            </a:r>
            <a:r>
              <a:rPr lang="en-GB" sz="2400" kern="100" dirty="0">
                <a:effectLst/>
                <a:latin typeface="Calibri" panose="020F0502020204030204" pitchFamily="34" charset="0"/>
                <a:ea typeface="Aptos" panose="020B0004020202020204" pitchFamily="34" charset="0"/>
                <a:cs typeface="Calibri" panose="020F0502020204030204" pitchFamily="34" charset="0"/>
              </a:rPr>
              <a:t>dentify the main contributors to current warming trends.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If a country implements policies to reduce methane emissions, what immediate climate benefits might result?</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Propose a strategy to simultaneously improve air quality and combat climate change.</a:t>
            </a:r>
          </a:p>
          <a:p>
            <a:pPr marL="457200" indent="-457200">
              <a:buFont typeface="+mj-lt"/>
              <a:buAutoNum type="arabicPeriod"/>
            </a:pPr>
            <a:r>
              <a:rPr lang="en-GB" sz="2400" dirty="0">
                <a:latin typeface="Calibri" panose="020F0502020204030204" pitchFamily="34" charset="0"/>
                <a:cs typeface="Calibri" panose="020F0502020204030204" pitchFamily="34" charset="0"/>
              </a:rPr>
              <a:t>How do deforestation and land-use changes contribute to global climate change?</a:t>
            </a:r>
          </a:p>
          <a:p>
            <a:pPr marL="457200" indent="-457200">
              <a:buFont typeface="+mj-lt"/>
              <a:buAutoNum type="arabicPeriod"/>
            </a:pPr>
            <a:r>
              <a:rPr lang="en-GB" sz="2400" dirty="0">
                <a:latin typeface="Calibri" panose="020F0502020204030204" pitchFamily="34" charset="0"/>
                <a:cs typeface="Calibri" panose="020F0502020204030204" pitchFamily="34" charset="0"/>
              </a:rPr>
              <a:t>Describe the feedback mechanisms in the climate system, such as the ice-albedo effect and the water vapour feedback.</a:t>
            </a:r>
          </a:p>
          <a:p>
            <a:pPr marL="457200" indent="-457200">
              <a:buFont typeface="+mj-lt"/>
              <a:buAutoNum type="arabicPeriod"/>
            </a:pPr>
            <a:r>
              <a:rPr lang="en-GB" sz="2400" dirty="0">
                <a:latin typeface="Calibri" panose="020F0502020204030204" pitchFamily="34" charset="0"/>
                <a:cs typeface="Calibri" panose="020F0502020204030204" pitchFamily="34" charset="0"/>
              </a:rPr>
              <a:t>Discuss the significance of the 1.5°C and 2°C warming thresholds for global climate policy and impacts.</a:t>
            </a:r>
          </a:p>
          <a:p>
            <a:pPr marL="457200" indent="-457200">
              <a:buFont typeface="+mj-lt"/>
              <a:buAutoNum type="arabicPeriod"/>
            </a:pPr>
            <a:r>
              <a:rPr lang="en-GB" sz="2400" dirty="0">
                <a:latin typeface="Calibri" panose="020F0502020204030204" pitchFamily="34" charset="0"/>
                <a:cs typeface="Calibri" panose="020F0502020204030204" pitchFamily="34" charset="0"/>
              </a:rPr>
              <a:t>Examine how global climate models (GCMs) are used to project future climate scenarios and their limitations.</a:t>
            </a:r>
          </a:p>
        </p:txBody>
      </p:sp>
      <p:sp>
        <p:nvSpPr>
          <p:cNvPr id="6" name="TextBox 14">
            <a:extLst>
              <a:ext uri="{FF2B5EF4-FFF2-40B4-BE49-F238E27FC236}">
                <a16:creationId xmlns:a16="http://schemas.microsoft.com/office/drawing/2014/main" id="{C05EC830-A2D2-37B7-A598-0C953AA0B0EE}"/>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What could I ask you in an exam? - Example</a:t>
            </a:r>
          </a:p>
        </p:txBody>
      </p:sp>
    </p:spTree>
    <p:extLst>
      <p:ext uri="{BB962C8B-B14F-4D97-AF65-F5344CB8AC3E}">
        <p14:creationId xmlns:p14="http://schemas.microsoft.com/office/powerpoint/2010/main" val="121673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B4E09-3755-FF6A-C052-36E6B7D4B2F2}"/>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CD9068E8-EB2B-D73E-1C9D-7FCB571A60C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55079DCF-85CE-26E0-B38F-866D8F6E3C6A}"/>
              </a:ext>
            </a:extLst>
          </p:cNvPr>
          <p:cNvSpPr txBox="1"/>
          <p:nvPr/>
        </p:nvSpPr>
        <p:spPr>
          <a:xfrm>
            <a:off x="821322" y="8386014"/>
            <a:ext cx="8936440"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IPCC website: </a:t>
            </a:r>
            <a:r>
              <a:rPr lang="en-GB" sz="2800" dirty="0">
                <a:latin typeface="Calibri" panose="020F0502020204030204" pitchFamily="34" charset="0"/>
                <a:cs typeface="Calibri" panose="020F0502020204030204" pitchFamily="34" charset="0"/>
                <a:hlinkClick r:id="rId4"/>
              </a:rPr>
              <a:t>https://www.ipcc.ch</a:t>
            </a:r>
            <a:endParaRPr lang="en-GB" sz="2800" dirty="0">
              <a:latin typeface="Calibri" panose="020F0502020204030204" pitchFamily="34" charset="0"/>
              <a:cs typeface="Calibri" panose="020F0502020204030204" pitchFamily="34" charset="0"/>
            </a:endParaRPr>
          </a:p>
        </p:txBody>
      </p:sp>
      <p:pic>
        <p:nvPicPr>
          <p:cNvPr id="10" name="Picture 9" descr="A diagram of a report&#10;&#10;Description automatically generated">
            <a:extLst>
              <a:ext uri="{FF2B5EF4-FFF2-40B4-BE49-F238E27FC236}">
                <a16:creationId xmlns:a16="http://schemas.microsoft.com/office/drawing/2014/main" id="{653701D0-C997-E254-1FFF-1387283AD3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488" y="2753823"/>
            <a:ext cx="13879712" cy="5266416"/>
          </a:xfrm>
          <a:prstGeom prst="rect">
            <a:avLst/>
          </a:prstGeom>
        </p:spPr>
      </p:pic>
      <p:sp>
        <p:nvSpPr>
          <p:cNvPr id="3" name="TextBox 14">
            <a:extLst>
              <a:ext uri="{FF2B5EF4-FFF2-40B4-BE49-F238E27FC236}">
                <a16:creationId xmlns:a16="http://schemas.microsoft.com/office/drawing/2014/main" id="{6215B51D-A791-D751-B22B-29ABB3137FFC}"/>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Reading List </a:t>
            </a:r>
          </a:p>
        </p:txBody>
      </p:sp>
    </p:spTree>
    <p:extLst>
      <p:ext uri="{BB962C8B-B14F-4D97-AF65-F5344CB8AC3E}">
        <p14:creationId xmlns:p14="http://schemas.microsoft.com/office/powerpoint/2010/main" val="166557528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440805" y="4023689"/>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chemeClr val="bg1"/>
                </a:solidFill>
                <a:latin typeface="DM Sans Bold"/>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9" name="TextBox 8">
            <a:extLst>
              <a:ext uri="{FF2B5EF4-FFF2-40B4-BE49-F238E27FC236}">
                <a16:creationId xmlns:a16="http://schemas.microsoft.com/office/drawing/2014/main" id="{E775EBCF-A879-4E37-2F60-939EC82CC421}"/>
              </a:ext>
            </a:extLst>
          </p:cNvPr>
          <p:cNvSpPr txBox="1"/>
          <p:nvPr/>
        </p:nvSpPr>
        <p:spPr>
          <a:xfrm>
            <a:off x="440805" y="5437831"/>
            <a:ext cx="17281930" cy="4031873"/>
          </a:xfrm>
          <a:prstGeom prst="rect">
            <a:avLst/>
          </a:prstGeom>
          <a:noFill/>
        </p:spPr>
        <p:txBody>
          <a:bodyPr wrap="square">
            <a:spAutoFit/>
          </a:bodyPr>
          <a:lstStyle/>
          <a:p>
            <a:pPr marL="0" indent="0">
              <a:buNone/>
            </a:pPr>
            <a:r>
              <a:rPr lang="en-GB" sz="3200" dirty="0">
                <a:latin typeface="Calibri" panose="020F0502020204030204" pitchFamily="34" charset="0"/>
                <a:cs typeface="Calibri" panose="020F0502020204030204" pitchFamily="34" charset="0"/>
              </a:rPr>
              <a:t>By the end of the week you will be able to:</a:t>
            </a:r>
          </a:p>
          <a:p>
            <a:pPr marL="0" indent="0">
              <a:buNone/>
            </a:pPr>
            <a:endParaRPr lang="en-GB" sz="3200" dirty="0">
              <a:latin typeface="Calibri" panose="020F0502020204030204" pitchFamily="34" charset="0"/>
              <a:cs typeface="Calibri" panose="020F0502020204030204" pitchFamily="34" charset="0"/>
            </a:endParaRPr>
          </a:p>
          <a:p>
            <a:pPr marL="514350" indent="-514350" algn="l">
              <a:buFont typeface="+mj-lt"/>
              <a:buAutoNum type="arabicPeriod"/>
            </a:pPr>
            <a:r>
              <a:rPr lang="en-GB" sz="3200" b="1" i="0" u="none" strike="noStrike" dirty="0">
                <a:solidFill>
                  <a:srgbClr val="000000"/>
                </a:solidFill>
                <a:effectLst/>
                <a:latin typeface="Calibri" panose="020F0502020204030204" pitchFamily="34" charset="0"/>
                <a:cs typeface="Calibri" panose="020F0502020204030204" pitchFamily="34" charset="0"/>
              </a:rPr>
              <a:t>Understand Climate Change Basics:</a:t>
            </a:r>
            <a:r>
              <a:rPr lang="en-GB" sz="3200" b="0" i="0" u="none" strike="noStrike" dirty="0">
                <a:solidFill>
                  <a:srgbClr val="000000"/>
                </a:solidFill>
                <a:effectLst/>
                <a:latin typeface="Calibri" panose="020F0502020204030204" pitchFamily="34" charset="0"/>
                <a:cs typeface="Calibri" panose="020F0502020204030204" pitchFamily="34" charset="0"/>
              </a:rPr>
              <a:t> Define and explain the key components of climate change, including the role of greenhouse gases, aerosols, and human activities.</a:t>
            </a:r>
          </a:p>
          <a:p>
            <a:pPr marL="514350" indent="-514350" algn="l">
              <a:buFont typeface="+mj-lt"/>
              <a:buAutoNum type="arabicPeriod"/>
            </a:pPr>
            <a:r>
              <a:rPr lang="en-GB" sz="3200" b="1" i="0" u="none" strike="noStrike" dirty="0">
                <a:solidFill>
                  <a:srgbClr val="000000"/>
                </a:solidFill>
                <a:effectLst/>
                <a:latin typeface="Calibri" panose="020F0502020204030204" pitchFamily="34" charset="0"/>
                <a:cs typeface="Calibri" panose="020F0502020204030204" pitchFamily="34" charset="0"/>
              </a:rPr>
              <a:t>Climate Change Impacts:</a:t>
            </a:r>
            <a:r>
              <a:rPr lang="en-GB" sz="3200" b="0" i="0" u="none" strike="noStrike" dirty="0">
                <a:solidFill>
                  <a:srgbClr val="000000"/>
                </a:solidFill>
                <a:effectLst/>
                <a:latin typeface="Calibri" panose="020F0502020204030204" pitchFamily="34" charset="0"/>
                <a:cs typeface="Calibri" panose="020F0502020204030204" pitchFamily="34" charset="0"/>
              </a:rPr>
              <a:t> Analyse how changes in climate influence weather extremes, such as heatwaves, droughts, and heavy precipitation.</a:t>
            </a:r>
          </a:p>
          <a:p>
            <a:pPr marL="514350" indent="-514350" algn="l">
              <a:buFont typeface="+mj-lt"/>
              <a:buAutoNum type="arabicPeriod"/>
            </a:pPr>
            <a:r>
              <a:rPr lang="en-GB" sz="3200" b="1" i="0" u="none" strike="noStrike" dirty="0">
                <a:solidFill>
                  <a:srgbClr val="000000"/>
                </a:solidFill>
                <a:effectLst/>
                <a:latin typeface="Calibri" panose="020F0502020204030204" pitchFamily="34" charset="0"/>
                <a:cs typeface="Calibri" panose="020F0502020204030204" pitchFamily="34" charset="0"/>
              </a:rPr>
              <a:t>Air Quality and Climate Interaction:</a:t>
            </a:r>
            <a:r>
              <a:rPr lang="en-GB" sz="3200" b="0" i="0" u="none" strike="noStrike" dirty="0">
                <a:solidFill>
                  <a:srgbClr val="000000"/>
                </a:solidFill>
                <a:effectLst/>
                <a:latin typeface="Calibri" panose="020F0502020204030204" pitchFamily="34" charset="0"/>
                <a:cs typeface="Calibri" panose="020F0502020204030204" pitchFamily="34" charset="0"/>
              </a:rPr>
              <a:t> Evaluate the relationship between air pollution and global climate change, including their impacts on health and ecosystems.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2712-2BFD-F094-3997-ABC7F7B497C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6B10CC8F-0B06-64D4-218C-99318433CED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5" name="TextBox 4">
            <a:extLst>
              <a:ext uri="{FF2B5EF4-FFF2-40B4-BE49-F238E27FC236}">
                <a16:creationId xmlns:a16="http://schemas.microsoft.com/office/drawing/2014/main" id="{A28D4FED-132A-6C1A-8FB6-8F824F7ECAA4}"/>
              </a:ext>
            </a:extLst>
          </p:cNvPr>
          <p:cNvSpPr txBox="1"/>
          <p:nvPr/>
        </p:nvSpPr>
        <p:spPr>
          <a:xfrm>
            <a:off x="9144000" y="2423677"/>
            <a:ext cx="6289285" cy="6370975"/>
          </a:xfrm>
          <a:prstGeom prst="rect">
            <a:avLst/>
          </a:prstGeom>
          <a:noFill/>
        </p:spPr>
        <p:txBody>
          <a:bodyPr wrap="square">
            <a:spAutoFit/>
          </a:bodyPr>
          <a:lstStyle/>
          <a:p>
            <a:pPr defTabSz="609630">
              <a:defRPr/>
            </a:pPr>
            <a:r>
              <a:rPr lang="en-GB" sz="2400" kern="100" dirty="0">
                <a:latin typeface="Calibri" panose="020F0502020204030204" pitchFamily="34" charset="0"/>
                <a:ea typeface="Calibri" panose="020F0502020204030204" pitchFamily="34" charset="0"/>
                <a:cs typeface="Calibri" panose="020F0502020204030204" pitchFamily="34" charset="0"/>
              </a:rPr>
              <a:t>Week 1 – C</a:t>
            </a:r>
            <a:r>
              <a:rPr lang="en-GB" sz="2400" dirty="0">
                <a:latin typeface="Calibri" panose="020F0502020204030204" pitchFamily="34" charset="0"/>
                <a:cs typeface="Calibri" panose="020F0502020204030204" pitchFamily="34" charset="0"/>
              </a:rPr>
              <a:t>limate Change and its Impacts </a:t>
            </a:r>
          </a:p>
          <a:p>
            <a:pPr defTabSz="609630">
              <a:defRPr/>
            </a:pPr>
            <a:endParaRPr lang="en-GB" sz="2400" kern="100" dirty="0">
              <a:latin typeface="Calibri" panose="020F0502020204030204" pitchFamily="34" charset="0"/>
              <a:cs typeface="Calibri" panose="020F0502020204030204" pitchFamily="34" charset="0"/>
            </a:endParaRPr>
          </a:p>
          <a:p>
            <a:pPr defTabSz="609630">
              <a:defRPr/>
            </a:pPr>
            <a:r>
              <a:rPr lang="en-GB" sz="2400" kern="100" dirty="0">
                <a:latin typeface="Calibri" panose="020F0502020204030204" pitchFamily="34" charset="0"/>
                <a:ea typeface="Calibri" panose="020F0502020204030204" pitchFamily="34" charset="0"/>
                <a:cs typeface="Calibri" panose="020F0502020204030204" pitchFamily="34" charset="0"/>
              </a:rPr>
              <a:t>Week 2 – </a:t>
            </a:r>
            <a:r>
              <a:rPr lang="en-GB" sz="2400" dirty="0">
                <a:latin typeface="Calibri" panose="020F0502020204030204" pitchFamily="34" charset="0"/>
                <a:cs typeface="Calibri" panose="020F0502020204030204" pitchFamily="34" charset="0"/>
              </a:rPr>
              <a:t>Natural Climate Variability</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t>
            </a:r>
          </a:p>
          <a:p>
            <a:pPr defTabSz="609630">
              <a:defRPr/>
            </a:pPr>
            <a:endPar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609630">
              <a:defRPr/>
            </a:pPr>
            <a:r>
              <a:rPr lang="en-GB" sz="2400" kern="100" dirty="0">
                <a:latin typeface="Calibri" panose="020F0502020204030204" pitchFamily="34" charset="0"/>
                <a:ea typeface="Calibri" panose="020F0502020204030204" pitchFamily="34" charset="0"/>
                <a:cs typeface="Calibri" panose="020F0502020204030204" pitchFamily="34" charset="0"/>
              </a:rPr>
              <a:t>Week 3 – </a:t>
            </a:r>
            <a:r>
              <a:rPr lang="en-GB" sz="2400" dirty="0">
                <a:solidFill>
                  <a:srgbClr val="212121"/>
                </a:solidFill>
                <a:latin typeface="Calibri" panose="020F0502020204030204" pitchFamily="34" charset="0"/>
                <a:cs typeface="Calibri" panose="020F0502020204030204" pitchFamily="34" charset="0"/>
              </a:rPr>
              <a:t>Radiation Law/Greenhouse Effect</a:t>
            </a:r>
          </a:p>
          <a:p>
            <a:pPr defTabSz="609630">
              <a:defRPr/>
            </a:pPr>
            <a:endParaRPr lang="en-GB" sz="2400" dirty="0">
              <a:solidFill>
                <a:srgbClr val="212121"/>
              </a:solidFill>
              <a:latin typeface="Calibri" panose="020F0502020204030204" pitchFamily="34" charset="0"/>
              <a:cs typeface="Calibri" panose="020F0502020204030204" pitchFamily="34" charset="0"/>
            </a:endParaRPr>
          </a:p>
          <a:p>
            <a:pPr defTabSz="609630">
              <a:defRPr/>
            </a:pPr>
            <a:r>
              <a:rPr lang="en-GB" sz="2400" kern="100" dirty="0">
                <a:latin typeface="Calibri" panose="020F0502020204030204" pitchFamily="34" charset="0"/>
                <a:ea typeface="Calibri" panose="020F0502020204030204" pitchFamily="34" charset="0"/>
                <a:cs typeface="Calibri" panose="020F0502020204030204" pitchFamily="34" charset="0"/>
              </a:rPr>
              <a:t>Week 4 – </a:t>
            </a:r>
            <a:r>
              <a:rPr lang="en-GB" sz="2400" kern="100" dirty="0">
                <a:solidFill>
                  <a:srgbClr val="212121"/>
                </a:solidFill>
                <a:latin typeface="Calibri" panose="020F0502020204030204" pitchFamily="34" charset="0"/>
                <a:ea typeface="Calibri" panose="020F0502020204030204" pitchFamily="34" charset="0"/>
                <a:cs typeface="Calibri" panose="020F0502020204030204" pitchFamily="34" charset="0"/>
              </a:rPr>
              <a:t>A</a:t>
            </a:r>
            <a:r>
              <a:rPr lang="en-GB" sz="2400" dirty="0">
                <a:solidFill>
                  <a:srgbClr val="212121"/>
                </a:solidFill>
                <a:latin typeface="Calibri" panose="020F0502020204030204" pitchFamily="34" charset="0"/>
                <a:cs typeface="Calibri" panose="020F0502020204030204" pitchFamily="34" charset="0"/>
              </a:rPr>
              <a:t>nthropogenic Impacts </a:t>
            </a:r>
          </a:p>
          <a:p>
            <a:pPr defTabSz="609630">
              <a:defRPr/>
            </a:pPr>
            <a:endParaRPr lang="en-GB" sz="2400" dirty="0">
              <a:solidFill>
                <a:srgbClr val="212121"/>
              </a:solidFill>
              <a:latin typeface="Calibri" panose="020F0502020204030204" pitchFamily="34" charset="0"/>
              <a:cs typeface="Calibri" panose="020F0502020204030204" pitchFamily="34" charset="0"/>
            </a:endParaRPr>
          </a:p>
          <a:p>
            <a:pPr defTabSz="609630">
              <a:defRPr/>
            </a:pPr>
            <a:r>
              <a:rPr lang="en-GB" sz="2400" kern="100" dirty="0">
                <a:latin typeface="Calibri" panose="020F0502020204030204" pitchFamily="34" charset="0"/>
                <a:ea typeface="Calibri" panose="020F0502020204030204" pitchFamily="34" charset="0"/>
                <a:cs typeface="Calibri" panose="020F0502020204030204" pitchFamily="34" charset="0"/>
              </a:rPr>
              <a:t>Week 5 – </a:t>
            </a:r>
            <a:r>
              <a:rPr lang="en-GB" sz="2400" dirty="0">
                <a:latin typeface="Calibri" panose="020F0502020204030204" pitchFamily="34" charset="0"/>
                <a:cs typeface="Calibri" panose="020F0502020204030204" pitchFamily="34" charset="0"/>
              </a:rPr>
              <a:t>The Evidence Base </a:t>
            </a:r>
          </a:p>
          <a:p>
            <a:pPr defTabSz="609630">
              <a:defRPr/>
            </a:pPr>
            <a:endParaRPr lang="en-GB" sz="2400" dirty="0">
              <a:latin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2400" dirty="0">
                <a:solidFill>
                  <a:srgbClr val="212121"/>
                </a:solidFill>
                <a:latin typeface="Calibri" panose="020F0502020204030204" pitchFamily="34" charset="0"/>
                <a:cs typeface="Calibri" panose="020F0502020204030204" pitchFamily="34" charset="0"/>
              </a:rPr>
              <a:t>Climate Models  </a:t>
            </a:r>
          </a:p>
          <a:p>
            <a:pPr defTabSz="609630">
              <a:defRPr/>
            </a:pPr>
            <a:endParaRPr lang="en-GB" sz="2400" dirty="0">
              <a:solidFill>
                <a:srgbClr val="212121"/>
              </a:solidFill>
              <a:latin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2400" dirty="0">
                <a:solidFill>
                  <a:srgbClr val="212121"/>
                </a:solidFill>
                <a:latin typeface="Calibri" panose="020F0502020204030204" pitchFamily="34" charset="0"/>
                <a:cs typeface="Calibri" panose="020F0502020204030204" pitchFamily="34" charset="0"/>
              </a:rPr>
              <a:t>Change Adaptation </a:t>
            </a:r>
          </a:p>
          <a:p>
            <a:pPr defTabSz="609630">
              <a:defRPr/>
            </a:pPr>
            <a:endParaRPr lang="en-GB" sz="2400" dirty="0">
              <a:solidFill>
                <a:srgbClr val="212121"/>
              </a:solidFill>
              <a:latin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2400" dirty="0">
                <a:solidFill>
                  <a:srgbClr val="212121"/>
                </a:solidFill>
                <a:latin typeface="Calibri" panose="020F0502020204030204" pitchFamily="34" charset="0"/>
                <a:cs typeface="Calibri" panose="020F0502020204030204" pitchFamily="34" charset="0"/>
              </a:rPr>
              <a:t>Effects of Climate Change</a:t>
            </a:r>
          </a:p>
          <a:p>
            <a:pPr defTabSz="609630">
              <a:defRPr/>
            </a:pPr>
            <a:endParaRPr lang="en-GB" sz="2400" kern="100" dirty="0">
              <a:solidFill>
                <a:prstClr val="black"/>
              </a:solidFill>
              <a:latin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2400" dirty="0">
                <a:solidFill>
                  <a:srgbClr val="212121"/>
                </a:solidFill>
                <a:latin typeface="Calibri" panose="020F0502020204030204" pitchFamily="34" charset="0"/>
                <a:cs typeface="Calibri" panose="020F0502020204030204" pitchFamily="34" charset="0"/>
              </a:rPr>
              <a:t>Climate Change Mitigation </a:t>
            </a:r>
          </a:p>
        </p:txBody>
      </p:sp>
      <p:cxnSp>
        <p:nvCxnSpPr>
          <p:cNvPr id="6" name="Straight Arrow Connector 5">
            <a:extLst>
              <a:ext uri="{FF2B5EF4-FFF2-40B4-BE49-F238E27FC236}">
                <a16:creationId xmlns:a16="http://schemas.microsoft.com/office/drawing/2014/main" id="{F16271E1-4C5A-A66A-4AF9-CEB8B3B87DC7}"/>
              </a:ext>
            </a:extLst>
          </p:cNvPr>
          <p:cNvCxnSpPr>
            <a:cxnSpLocks/>
          </p:cNvCxnSpPr>
          <p:nvPr/>
        </p:nvCxnSpPr>
        <p:spPr>
          <a:xfrm>
            <a:off x="8534341" y="2423677"/>
            <a:ext cx="0" cy="6370975"/>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Picture 7">
            <a:extLst>
              <a:ext uri="{FF2B5EF4-FFF2-40B4-BE49-F238E27FC236}">
                <a16:creationId xmlns:a16="http://schemas.microsoft.com/office/drawing/2014/main" id="{5F7645AF-FAF5-DB1B-DD7F-022F5F1DB658}"/>
              </a:ext>
            </a:extLst>
          </p:cNvPr>
          <p:cNvPicPr>
            <a:picLocks noChangeAspect="1"/>
          </p:cNvPicPr>
          <p:nvPr/>
        </p:nvPicPr>
        <p:blipFill>
          <a:blip r:embed="rId4"/>
          <a:srcRect t="2327"/>
          <a:stretch>
            <a:fillRect/>
          </a:stretch>
        </p:blipFill>
        <p:spPr>
          <a:xfrm>
            <a:off x="1068545" y="797169"/>
            <a:ext cx="7231385" cy="8849324"/>
          </a:xfrm>
          <a:prstGeom prst="rect">
            <a:avLst/>
          </a:prstGeom>
        </p:spPr>
      </p:pic>
    </p:spTree>
    <p:extLst>
      <p:ext uri="{BB962C8B-B14F-4D97-AF65-F5344CB8AC3E}">
        <p14:creationId xmlns:p14="http://schemas.microsoft.com/office/powerpoint/2010/main" val="120502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68E4-8B12-A550-F773-D48C4B674AD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F4677C2-1511-CB06-D3F3-4ED19642810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8" name="Picture 7">
            <a:extLst>
              <a:ext uri="{FF2B5EF4-FFF2-40B4-BE49-F238E27FC236}">
                <a16:creationId xmlns:a16="http://schemas.microsoft.com/office/drawing/2014/main" id="{D0A89091-1907-04E9-6304-8B0B07A573DE}"/>
              </a:ext>
            </a:extLst>
          </p:cNvPr>
          <p:cNvPicPr>
            <a:picLocks noChangeAspect="1"/>
          </p:cNvPicPr>
          <p:nvPr/>
        </p:nvPicPr>
        <p:blipFill>
          <a:blip r:embed="rId4"/>
          <a:srcRect t="2327"/>
          <a:stretch>
            <a:fillRect/>
          </a:stretch>
        </p:blipFill>
        <p:spPr>
          <a:xfrm>
            <a:off x="1068545" y="797169"/>
            <a:ext cx="7231385" cy="8849324"/>
          </a:xfrm>
          <a:prstGeom prst="rect">
            <a:avLst/>
          </a:prstGeom>
        </p:spPr>
      </p:pic>
      <p:pic>
        <p:nvPicPr>
          <p:cNvPr id="2" name="Content Placeholder 4" descr="A diagram of a global warming&#10;&#10;Description automatically generated">
            <a:extLst>
              <a:ext uri="{FF2B5EF4-FFF2-40B4-BE49-F238E27FC236}">
                <a16:creationId xmlns:a16="http://schemas.microsoft.com/office/drawing/2014/main" id="{F6FA8825-BA82-EE87-84B0-C28C9BB46C41}"/>
              </a:ext>
            </a:extLst>
          </p:cNvPr>
          <p:cNvPicPr>
            <a:picLocks noChangeAspect="1"/>
          </p:cNvPicPr>
          <p:nvPr/>
        </p:nvPicPr>
        <p:blipFill rotWithShape="1">
          <a:blip r:embed="rId5"/>
          <a:srcRect l="59323" t="10268" r="1200" b="3603"/>
          <a:stretch>
            <a:fillRect/>
          </a:stretch>
        </p:blipFill>
        <p:spPr>
          <a:xfrm>
            <a:off x="8184334" y="2157046"/>
            <a:ext cx="6586332" cy="7112002"/>
          </a:xfrm>
          <a:prstGeom prst="rect">
            <a:avLst/>
          </a:prstGeom>
        </p:spPr>
      </p:pic>
    </p:spTree>
    <p:extLst>
      <p:ext uri="{BB962C8B-B14F-4D97-AF65-F5344CB8AC3E}">
        <p14:creationId xmlns:p14="http://schemas.microsoft.com/office/powerpoint/2010/main" val="155125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s_earth%20from%20space">
            <a:extLst>
              <a:ext uri="{FF2B5EF4-FFF2-40B4-BE49-F238E27FC236}">
                <a16:creationId xmlns:a16="http://schemas.microsoft.com/office/drawing/2014/main" id="{42528534-D14E-21F0-A4D9-71E9B8714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428" y="3126530"/>
            <a:ext cx="5353250" cy="535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13">
            <a:extLst>
              <a:ext uri="{FF2B5EF4-FFF2-40B4-BE49-F238E27FC236}">
                <a16:creationId xmlns:a16="http://schemas.microsoft.com/office/drawing/2014/main" id="{A69E7A04-F54E-5105-05F6-AE6E979CAB5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2" name="Picture 1" descr="A graph showing the growth of the stock market&#10;&#10;Description automatically generated">
            <a:extLst>
              <a:ext uri="{FF2B5EF4-FFF2-40B4-BE49-F238E27FC236}">
                <a16:creationId xmlns:a16="http://schemas.microsoft.com/office/drawing/2014/main" id="{EE9A539F-DEE9-BECF-5D79-646E7B291588}"/>
              </a:ext>
            </a:extLst>
          </p:cNvPr>
          <p:cNvPicPr>
            <a:picLocks noChangeAspect="1"/>
          </p:cNvPicPr>
          <p:nvPr/>
        </p:nvPicPr>
        <p:blipFill rotWithShape="1">
          <a:blip r:embed="rId5">
            <a:extLst>
              <a:ext uri="{28A0092B-C50C-407E-A947-70E740481C1C}">
                <a14:useLocalDpi xmlns:a14="http://schemas.microsoft.com/office/drawing/2010/main" val="0"/>
              </a:ext>
            </a:extLst>
          </a:blip>
          <a:srcRect l="5190" t="10621" r="6942"/>
          <a:stretch/>
        </p:blipFill>
        <p:spPr>
          <a:xfrm>
            <a:off x="6246441" y="3126530"/>
            <a:ext cx="11741765" cy="5650015"/>
          </a:xfrm>
          <a:prstGeom prst="rect">
            <a:avLst/>
          </a:prstGeom>
        </p:spPr>
      </p:pic>
      <p:sp>
        <p:nvSpPr>
          <p:cNvPr id="3" name="TextBox 14">
            <a:extLst>
              <a:ext uri="{FF2B5EF4-FFF2-40B4-BE49-F238E27FC236}">
                <a16:creationId xmlns:a16="http://schemas.microsoft.com/office/drawing/2014/main" id="{0DADF4FC-4380-4846-955A-568A4877E5AD}"/>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Natural Variability In Climate </a:t>
            </a:r>
          </a:p>
        </p:txBody>
      </p:sp>
      <p:sp>
        <p:nvSpPr>
          <p:cNvPr id="6" name="TextBox 5">
            <a:extLst>
              <a:ext uri="{FF2B5EF4-FFF2-40B4-BE49-F238E27FC236}">
                <a16:creationId xmlns:a16="http://schemas.microsoft.com/office/drawing/2014/main" id="{8348349F-9488-1FA0-7187-8DEC6A3C3099}"/>
              </a:ext>
            </a:extLst>
          </p:cNvPr>
          <p:cNvSpPr txBox="1"/>
          <p:nvPr/>
        </p:nvSpPr>
        <p:spPr>
          <a:xfrm>
            <a:off x="15187871" y="9559461"/>
            <a:ext cx="3635392" cy="584775"/>
          </a:xfrm>
          <a:prstGeom prst="rect">
            <a:avLst/>
          </a:prstGeom>
          <a:noFill/>
        </p:spPr>
        <p:txBody>
          <a:bodyPr wrap="square" rtlCol="0">
            <a:spAutoFit/>
          </a:bodyPr>
          <a:lstStyle/>
          <a:p>
            <a:r>
              <a:rPr lang="en-US" sz="3200" b="1" dirty="0">
                <a:solidFill>
                  <a:srgbClr val="FF0000"/>
                </a:solidFill>
              </a:rPr>
              <a:t>WEEK 2 and 5</a:t>
            </a:r>
          </a:p>
        </p:txBody>
      </p:sp>
    </p:spTree>
    <p:extLst>
      <p:ext uri="{BB962C8B-B14F-4D97-AF65-F5344CB8AC3E}">
        <p14:creationId xmlns:p14="http://schemas.microsoft.com/office/powerpoint/2010/main" val="95304705"/>
      </p:ext>
    </p:extLst>
  </p:cSld>
  <p:clrMapOvr>
    <a:masterClrMapping/>
  </p:clrMapOvr>
  <mc:AlternateContent xmlns:mc="http://schemas.openxmlformats.org/markup-compatibility/2006" xmlns:p14="http://schemas.microsoft.com/office/powerpoint/2010/main">
    <mc:Choice Requires="p14">
      <p:transition spd="slow" p14:dur="2000" advTm="9229"/>
    </mc:Choice>
    <mc:Fallback xmlns="">
      <p:transition spd="slow" advTm="92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3F53-CC1E-914C-A4C3-61045A62F582}"/>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1A215878-3CA7-1E69-15DC-EE0572A4223F}"/>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3" name="Picture 2" descr="A person walking on train tracks&#10;&#10;Description automatically generated">
            <a:extLst>
              <a:ext uri="{FF2B5EF4-FFF2-40B4-BE49-F238E27FC236}">
                <a16:creationId xmlns:a16="http://schemas.microsoft.com/office/drawing/2014/main" id="{9424D99B-7701-0659-2DDE-EE502B4D25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3890" y="2305938"/>
            <a:ext cx="8332315" cy="7367042"/>
          </a:xfrm>
          <a:prstGeom prst="rect">
            <a:avLst/>
          </a:prstGeom>
        </p:spPr>
      </p:pic>
      <p:sp>
        <p:nvSpPr>
          <p:cNvPr id="4" name="TextBox 14">
            <a:extLst>
              <a:ext uri="{FF2B5EF4-FFF2-40B4-BE49-F238E27FC236}">
                <a16:creationId xmlns:a16="http://schemas.microsoft.com/office/drawing/2014/main" id="{DB2127B2-AE7B-26F2-8F88-B0614AFB0EDF}"/>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IPCC Special Report </a:t>
            </a:r>
          </a:p>
        </p:txBody>
      </p:sp>
      <p:pic>
        <p:nvPicPr>
          <p:cNvPr id="5" name="Picture 4">
            <a:extLst>
              <a:ext uri="{FF2B5EF4-FFF2-40B4-BE49-F238E27FC236}">
                <a16:creationId xmlns:a16="http://schemas.microsoft.com/office/drawing/2014/main" id="{9A773EE1-E562-D698-66F1-78C91B755F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432" y="2443942"/>
            <a:ext cx="5402691" cy="7091034"/>
          </a:xfrm>
          <a:prstGeom prst="rect">
            <a:avLst/>
          </a:prstGeom>
        </p:spPr>
      </p:pic>
    </p:spTree>
    <p:extLst>
      <p:ext uri="{BB962C8B-B14F-4D97-AF65-F5344CB8AC3E}">
        <p14:creationId xmlns:p14="http://schemas.microsoft.com/office/powerpoint/2010/main" val="36146335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walking on train tracks&#10;&#10;Description automatically generated">
            <a:extLst>
              <a:ext uri="{FF2B5EF4-FFF2-40B4-BE49-F238E27FC236}">
                <a16:creationId xmlns:a16="http://schemas.microsoft.com/office/drawing/2014/main" id="{DD06BFCE-9AB6-D568-ECB6-8F589A84E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8663" y="2681422"/>
            <a:ext cx="6826067" cy="6035287"/>
          </a:xfrm>
          <a:prstGeom prst="rect">
            <a:avLst/>
          </a:prstGeom>
        </p:spPr>
      </p:pic>
      <p:graphicFrame>
        <p:nvGraphicFramePr>
          <p:cNvPr id="6" name="TextBox 6">
            <a:extLst>
              <a:ext uri="{FF2B5EF4-FFF2-40B4-BE49-F238E27FC236}">
                <a16:creationId xmlns:a16="http://schemas.microsoft.com/office/drawing/2014/main" id="{BBE66B04-8EB6-050F-A33E-E0FEBD14DDBA}"/>
              </a:ext>
            </a:extLst>
          </p:cNvPr>
          <p:cNvGraphicFramePr/>
          <p:nvPr/>
        </p:nvGraphicFramePr>
        <p:xfrm>
          <a:off x="944218" y="3108642"/>
          <a:ext cx="9144000" cy="53245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reeform 13">
            <a:extLst>
              <a:ext uri="{FF2B5EF4-FFF2-40B4-BE49-F238E27FC236}">
                <a16:creationId xmlns:a16="http://schemas.microsoft.com/office/drawing/2014/main" id="{ED4B9F3B-D3C9-11F1-CE53-72AD34BCB664}"/>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8"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AC44CA2A-008D-8577-7073-09271B871308}"/>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IPCC Special Report – why 1.5</a:t>
            </a:r>
            <a:r>
              <a:rPr lang="en-US" sz="4800" b="1" i="1" spc="-413" baseline="30000" dirty="0">
                <a:solidFill>
                  <a:srgbClr val="46245A"/>
                </a:solidFill>
                <a:latin typeface="DM Sans Bold"/>
                <a:ea typeface="MS PGothic" panose="020B0600070205080204" pitchFamily="34" charset="-128"/>
              </a:rPr>
              <a:t>o</a:t>
            </a:r>
            <a:r>
              <a:rPr lang="en-US" sz="4800" b="1" i="1" spc="-413" dirty="0">
                <a:solidFill>
                  <a:srgbClr val="46245A"/>
                </a:solidFill>
                <a:latin typeface="DM Sans Bold"/>
                <a:ea typeface="MS PGothic" panose="020B0600070205080204" pitchFamily="34" charset="-128"/>
              </a:rPr>
              <a:t>C</a:t>
            </a:r>
          </a:p>
        </p:txBody>
      </p:sp>
    </p:spTree>
    <p:extLst>
      <p:ext uri="{BB962C8B-B14F-4D97-AF65-F5344CB8AC3E}">
        <p14:creationId xmlns:p14="http://schemas.microsoft.com/office/powerpoint/2010/main" val="1971145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E7D3-E78D-9E1F-BB0F-D3F660B250B0}"/>
            </a:ext>
          </a:extLst>
        </p:cNvPr>
        <p:cNvGrpSpPr/>
        <p:nvPr/>
      </p:nvGrpSpPr>
      <p:grpSpPr>
        <a:xfrm>
          <a:off x="0" y="0"/>
          <a:ext cx="0" cy="0"/>
          <a:chOff x="0" y="0"/>
          <a:chExt cx="0" cy="0"/>
        </a:xfrm>
      </p:grpSpPr>
      <p:pic>
        <p:nvPicPr>
          <p:cNvPr id="3" name="Picture 2" descr="A graph showing the growth of the stock market&#10;&#10;Description automatically generated">
            <a:extLst>
              <a:ext uri="{FF2B5EF4-FFF2-40B4-BE49-F238E27FC236}">
                <a16:creationId xmlns:a16="http://schemas.microsoft.com/office/drawing/2014/main" id="{4425270E-145D-FDB4-8D2C-6C82DF478DFA}"/>
              </a:ext>
            </a:extLst>
          </p:cNvPr>
          <p:cNvPicPr>
            <a:picLocks noChangeAspect="1"/>
          </p:cNvPicPr>
          <p:nvPr/>
        </p:nvPicPr>
        <p:blipFill rotWithShape="1">
          <a:blip r:embed="rId2">
            <a:extLst>
              <a:ext uri="{28A0092B-C50C-407E-A947-70E740481C1C}">
                <a14:useLocalDpi xmlns:a14="http://schemas.microsoft.com/office/drawing/2010/main" val="0"/>
              </a:ext>
            </a:extLst>
          </a:blip>
          <a:srcRect l="5190" t="10621"/>
          <a:stretch/>
        </p:blipFill>
        <p:spPr>
          <a:xfrm>
            <a:off x="1143000" y="2890421"/>
            <a:ext cx="8586870" cy="3829356"/>
          </a:xfrm>
          <a:prstGeom prst="rect">
            <a:avLst/>
          </a:prstGeom>
        </p:spPr>
      </p:pic>
      <p:sp>
        <p:nvSpPr>
          <p:cNvPr id="7" name="TextBox 6">
            <a:extLst>
              <a:ext uri="{FF2B5EF4-FFF2-40B4-BE49-F238E27FC236}">
                <a16:creationId xmlns:a16="http://schemas.microsoft.com/office/drawing/2014/main" id="{0E460032-9DF3-1A79-D7DF-9AF546797DD3}"/>
              </a:ext>
            </a:extLst>
          </p:cNvPr>
          <p:cNvSpPr txBox="1"/>
          <p:nvPr/>
        </p:nvSpPr>
        <p:spPr>
          <a:xfrm>
            <a:off x="1143000" y="6871740"/>
            <a:ext cx="9601200" cy="2092881"/>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666666"/>
                </a:solidFill>
                <a:effectLst/>
                <a:uLnTx/>
                <a:uFillTx/>
                <a:latin typeface="DM Sans"/>
                <a:ea typeface="+mn-ea"/>
                <a:cs typeface="+mn-cs"/>
              </a:rPr>
              <a:t>Most recent ice age, 20,000 years ago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666666"/>
                </a:solidFill>
                <a:effectLst/>
                <a:uLnTx/>
                <a:uFillTx/>
                <a:latin typeface="DM Sans"/>
                <a:ea typeface="+mn-ea"/>
                <a:cs typeface="+mn-cs"/>
              </a:rPr>
              <a:t>On average about 5°C cooler than Earth is today. </a:t>
            </a:r>
            <a:endParaRPr lang="en-GB" sz="2600" dirty="0">
              <a:solidFill>
                <a:srgbClr val="666666"/>
              </a:solidFill>
              <a:latin typeface="DM San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666666"/>
                </a:solidFill>
                <a:effectLst/>
                <a:uLnTx/>
                <a:uFillTx/>
                <a:latin typeface="DM Sans"/>
                <a:ea typeface="+mn-ea"/>
                <a:cs typeface="+mn-cs"/>
              </a:rPr>
              <a:t>Canada and parts of northern Europe were completed covered with ice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dirty="0">
                <a:solidFill>
                  <a:srgbClr val="666666"/>
                </a:solidFill>
                <a:latin typeface="DM Sans"/>
              </a:rPr>
              <a:t>S</a:t>
            </a:r>
            <a:r>
              <a:rPr kumimoji="0" lang="en-GB" sz="2600" b="0" i="0" u="none" strike="noStrike" kern="1200" cap="none" spc="0" normalizeH="0" baseline="0" noProof="0" dirty="0" err="1">
                <a:ln>
                  <a:noFill/>
                </a:ln>
                <a:solidFill>
                  <a:srgbClr val="666666"/>
                </a:solidFill>
                <a:effectLst/>
                <a:uLnTx/>
                <a:uFillTx/>
                <a:latin typeface="DM Sans"/>
                <a:ea typeface="+mn-ea"/>
                <a:cs typeface="+mn-cs"/>
              </a:rPr>
              <a:t>ea</a:t>
            </a:r>
            <a:r>
              <a:rPr kumimoji="0" lang="en-GB" sz="2600" b="0" i="0" u="none" strike="noStrike" kern="1200" cap="none" spc="0" normalizeH="0" baseline="0" noProof="0" dirty="0">
                <a:ln>
                  <a:noFill/>
                </a:ln>
                <a:solidFill>
                  <a:srgbClr val="666666"/>
                </a:solidFill>
                <a:effectLst/>
                <a:uLnTx/>
                <a:uFillTx/>
                <a:latin typeface="DM Sans"/>
                <a:ea typeface="+mn-ea"/>
                <a:cs typeface="+mn-cs"/>
              </a:rPr>
              <a:t> levels were about 120 meters lower than today</a:t>
            </a:r>
            <a:endParaRPr kumimoji="0" lang="en-GB" altLang="en-US" sz="2600" b="0" i="0" u="none" strike="noStrike" kern="1200" cap="none" spc="0" normalizeH="0" baseline="0" noProof="0" dirty="0">
              <a:ln>
                <a:noFill/>
              </a:ln>
              <a:solidFill>
                <a:prstClr val="black"/>
              </a:solidFill>
              <a:effectLst/>
              <a:uLnTx/>
              <a:uFillTx/>
              <a:latin typeface="DM Sans"/>
              <a:ea typeface="+mn-ea"/>
              <a:cs typeface="+mn-cs"/>
            </a:endParaRPr>
          </a:p>
        </p:txBody>
      </p:sp>
      <p:pic>
        <p:nvPicPr>
          <p:cNvPr id="8" name="Picture 7" descr="https://www.ipcc.ch/site/assets/uploads/2018/02/WGII_AR5_BoxSPM-1Fig1-1024x449.jpg">
            <a:extLst>
              <a:ext uri="{FF2B5EF4-FFF2-40B4-BE49-F238E27FC236}">
                <a16:creationId xmlns:a16="http://schemas.microsoft.com/office/drawing/2014/main" id="{0521AD20-E40D-9E3D-77A6-E38DD09243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496" r="-482"/>
          <a:stretch/>
        </p:blipFill>
        <p:spPr bwMode="auto">
          <a:xfrm>
            <a:off x="10317144" y="2912778"/>
            <a:ext cx="7296368" cy="6667643"/>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13">
            <a:extLst>
              <a:ext uri="{FF2B5EF4-FFF2-40B4-BE49-F238E27FC236}">
                <a16:creationId xmlns:a16="http://schemas.microsoft.com/office/drawing/2014/main" id="{9220C278-ED3D-073A-7E7A-A53FE9D29B4F}"/>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5" name="TextBox 14">
            <a:extLst>
              <a:ext uri="{FF2B5EF4-FFF2-40B4-BE49-F238E27FC236}">
                <a16:creationId xmlns:a16="http://schemas.microsoft.com/office/drawing/2014/main" id="{D7F9EEAA-ED8E-2E6B-8ACF-08A6AC23B9A8}"/>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1.5</a:t>
            </a:r>
            <a:r>
              <a:rPr lang="en-US" sz="4800" b="1" i="1" spc="-413" baseline="30000" dirty="0">
                <a:solidFill>
                  <a:srgbClr val="46245A"/>
                </a:solidFill>
                <a:latin typeface="DM Sans Bold"/>
                <a:ea typeface="MS PGothic" panose="020B0600070205080204" pitchFamily="34" charset="-128"/>
              </a:rPr>
              <a:t>0</a:t>
            </a:r>
            <a:r>
              <a:rPr lang="en-US" sz="4800" b="1" i="1" spc="-413" dirty="0">
                <a:solidFill>
                  <a:srgbClr val="46245A"/>
                </a:solidFill>
                <a:latin typeface="DM Sans Bold"/>
                <a:ea typeface="MS PGothic" panose="020B0600070205080204" pitchFamily="34" charset="-128"/>
              </a:rPr>
              <a:t>C doesn’t sounds like much, but…</a:t>
            </a:r>
          </a:p>
        </p:txBody>
      </p:sp>
    </p:spTree>
    <p:extLst>
      <p:ext uri="{BB962C8B-B14F-4D97-AF65-F5344CB8AC3E}">
        <p14:creationId xmlns:p14="http://schemas.microsoft.com/office/powerpoint/2010/main" val="390853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948B3-9072-660A-5F9B-2FA2C9E6934E}"/>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37C54928-736E-E2B3-2963-1D367C70CA5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6" name="Picture 5" descr="A graph showing the growth of the company's growth&#10;&#10;Description automatically generated with medium confidence">
            <a:extLst>
              <a:ext uri="{FF2B5EF4-FFF2-40B4-BE49-F238E27FC236}">
                <a16:creationId xmlns:a16="http://schemas.microsoft.com/office/drawing/2014/main" id="{E1741AA8-C27F-4243-F86C-C44D991ED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6511" y="2395907"/>
            <a:ext cx="6703999" cy="4204447"/>
          </a:xfrm>
          <a:prstGeom prst="rect">
            <a:avLst/>
          </a:prstGeom>
        </p:spPr>
      </p:pic>
      <p:sp>
        <p:nvSpPr>
          <p:cNvPr id="11" name="TextBox 10">
            <a:extLst>
              <a:ext uri="{FF2B5EF4-FFF2-40B4-BE49-F238E27FC236}">
                <a16:creationId xmlns:a16="http://schemas.microsoft.com/office/drawing/2014/main" id="{2E5E6838-0BDF-7597-442E-5A636E92B66C}"/>
              </a:ext>
            </a:extLst>
          </p:cNvPr>
          <p:cNvSpPr txBox="1"/>
          <p:nvPr/>
        </p:nvSpPr>
        <p:spPr>
          <a:xfrm>
            <a:off x="9144000" y="6600354"/>
            <a:ext cx="8212272" cy="2554545"/>
          </a:xfrm>
          <a:prstGeom prst="rect">
            <a:avLst/>
          </a:prstGeom>
          <a:noFill/>
        </p:spPr>
        <p:txBody>
          <a:bodyPr wrap="square">
            <a:spAutoFit/>
          </a:bodyPr>
          <a:lstStyle/>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Climate change has led to longer wildfire seasons, increased frequency, and larger burned areas.</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Key drivers include warmer springs, longer summer dry seasons, drier soils, reduced snowpack, and earlier spring melting.</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Increased temperatures and prolonged droughts are expected to intensify wildfire risk in the future.</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Other contributing factors include land use, invasive species, and fire suppression practices.</a:t>
            </a:r>
          </a:p>
        </p:txBody>
      </p:sp>
      <p:pic>
        <p:nvPicPr>
          <p:cNvPr id="13" name="Picture 12" descr="A building on fire with a street sign&#10;&#10;Description automatically generated">
            <a:extLst>
              <a:ext uri="{FF2B5EF4-FFF2-40B4-BE49-F238E27FC236}">
                <a16:creationId xmlns:a16="http://schemas.microsoft.com/office/drawing/2014/main" id="{1C0C31B7-66E8-3388-C6FE-F520E67AC8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728" y="2703194"/>
            <a:ext cx="7772400" cy="6255398"/>
          </a:xfrm>
          <a:prstGeom prst="rect">
            <a:avLst/>
          </a:prstGeom>
        </p:spPr>
      </p:pic>
      <p:sp>
        <p:nvSpPr>
          <p:cNvPr id="15" name="TextBox 14">
            <a:extLst>
              <a:ext uri="{FF2B5EF4-FFF2-40B4-BE49-F238E27FC236}">
                <a16:creationId xmlns:a16="http://schemas.microsoft.com/office/drawing/2014/main" id="{6CF5D45C-EE99-4CC0-4744-B11113291D84}"/>
              </a:ext>
            </a:extLst>
          </p:cNvPr>
          <p:cNvSpPr txBox="1"/>
          <p:nvPr/>
        </p:nvSpPr>
        <p:spPr>
          <a:xfrm>
            <a:off x="16170510" y="9436631"/>
            <a:ext cx="3635392" cy="584775"/>
          </a:xfrm>
          <a:prstGeom prst="rect">
            <a:avLst/>
          </a:prstGeom>
          <a:noFill/>
        </p:spPr>
        <p:txBody>
          <a:bodyPr wrap="square" rtlCol="0">
            <a:spAutoFit/>
          </a:bodyPr>
          <a:lstStyle/>
          <a:p>
            <a:r>
              <a:rPr lang="en-US" sz="3200" b="1" dirty="0">
                <a:solidFill>
                  <a:srgbClr val="FF0000"/>
                </a:solidFill>
              </a:rPr>
              <a:t>WEEK 6</a:t>
            </a:r>
          </a:p>
        </p:txBody>
      </p:sp>
      <p:sp>
        <p:nvSpPr>
          <p:cNvPr id="3" name="TextBox 14">
            <a:extLst>
              <a:ext uri="{FF2B5EF4-FFF2-40B4-BE49-F238E27FC236}">
                <a16:creationId xmlns:a16="http://schemas.microsoft.com/office/drawing/2014/main" id="{AF6E4BA3-82A3-E9E0-39BD-72DB13FE94C0}"/>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1.5</a:t>
            </a:r>
            <a:r>
              <a:rPr lang="en-US" sz="4800" b="1" i="1" spc="-413" baseline="30000" dirty="0">
                <a:solidFill>
                  <a:srgbClr val="46245A"/>
                </a:solidFill>
                <a:latin typeface="DM Sans Bold"/>
                <a:ea typeface="MS PGothic" panose="020B0600070205080204" pitchFamily="34" charset="-128"/>
              </a:rPr>
              <a:t>0</a:t>
            </a:r>
            <a:r>
              <a:rPr lang="en-US" sz="4800" b="1" i="1" spc="-413" dirty="0">
                <a:solidFill>
                  <a:srgbClr val="46245A"/>
                </a:solidFill>
                <a:latin typeface="DM Sans Bold"/>
                <a:ea typeface="MS PGothic" panose="020B0600070205080204" pitchFamily="34" charset="-128"/>
              </a:rPr>
              <a:t>C doesn’t sounds like much, but…</a:t>
            </a:r>
          </a:p>
        </p:txBody>
      </p:sp>
    </p:spTree>
    <p:extLst>
      <p:ext uri="{BB962C8B-B14F-4D97-AF65-F5344CB8AC3E}">
        <p14:creationId xmlns:p14="http://schemas.microsoft.com/office/powerpoint/2010/main" val="285573700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2B9A-1A16-CE0C-432B-81CAF8554831}"/>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28C414B7-E485-84C1-07E0-F908FDBD362C}"/>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7" name="Picture 6" descr="A diagram of different types of air pollution&#10;&#10;Description automatically generated">
            <a:extLst>
              <a:ext uri="{FF2B5EF4-FFF2-40B4-BE49-F238E27FC236}">
                <a16:creationId xmlns:a16="http://schemas.microsoft.com/office/drawing/2014/main" id="{4474FBDE-DAE1-F075-29A9-1B4A8696F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2179216"/>
            <a:ext cx="10920663" cy="7280441"/>
          </a:xfrm>
          <a:prstGeom prst="rect">
            <a:avLst/>
          </a:prstGeom>
        </p:spPr>
      </p:pic>
      <p:sp>
        <p:nvSpPr>
          <p:cNvPr id="3" name="TextBox 2">
            <a:extLst>
              <a:ext uri="{FF2B5EF4-FFF2-40B4-BE49-F238E27FC236}">
                <a16:creationId xmlns:a16="http://schemas.microsoft.com/office/drawing/2014/main" id="{3020856F-F7D4-EE60-9D6B-D9571935B944}"/>
              </a:ext>
            </a:extLst>
          </p:cNvPr>
          <p:cNvSpPr txBox="1"/>
          <p:nvPr/>
        </p:nvSpPr>
        <p:spPr>
          <a:xfrm>
            <a:off x="11987019" y="2681421"/>
            <a:ext cx="5965724" cy="6924973"/>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We know that air quality is important </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We know that climate change is important</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We know that these are largely talked about separately</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There are significant benefits from tackling poor air quality and climate change in parallel </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Like carbon dioxide (CO</a:t>
            </a:r>
            <a:r>
              <a:rPr lang="en-GB" sz="2000" baseline="-25000" dirty="0">
                <a:latin typeface="Calibri" panose="020F0502020204030204" pitchFamily="34" charset="0"/>
                <a:cs typeface="Calibri" panose="020F0502020204030204" pitchFamily="34" charset="0"/>
              </a:rPr>
              <a:t>2</a:t>
            </a:r>
            <a:r>
              <a:rPr lang="en-GB" sz="2000" dirty="0">
                <a:latin typeface="Calibri" panose="020F0502020204030204" pitchFamily="34" charset="0"/>
                <a:cs typeface="Calibri" panose="020F0502020204030204" pitchFamily="34" charset="0"/>
              </a:rPr>
              <a:t>) and methane, air pollutants come from burning fossil fuels, whether from driving cars, generating electricity, or operating industrial plants. </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impacts of climate change exacerbate air pollution. For example, extreme heat increases the number of wildfires which, in turn, release more polluting gases and particulate matter into the atmosphere.</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Extreme heat can increase pollution levels and exacerbates the health effects of breathing polluted air. </a:t>
            </a:r>
            <a:endParaRPr lang="en-GB" sz="1200" dirty="0"/>
          </a:p>
          <a:p>
            <a:r>
              <a:rPr lang="en-GB" sz="1200" dirty="0"/>
              <a:t> </a:t>
            </a:r>
          </a:p>
        </p:txBody>
      </p:sp>
      <p:sp>
        <p:nvSpPr>
          <p:cNvPr id="4" name="TextBox 14">
            <a:extLst>
              <a:ext uri="{FF2B5EF4-FFF2-40B4-BE49-F238E27FC236}">
                <a16:creationId xmlns:a16="http://schemas.microsoft.com/office/drawing/2014/main" id="{CBA032A7-67C0-F10E-9AE2-B77E42258964}"/>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Climate Change Vs Air Quality  </a:t>
            </a:r>
          </a:p>
        </p:txBody>
      </p:sp>
      <p:sp>
        <p:nvSpPr>
          <p:cNvPr id="6" name="TextBox 5">
            <a:extLst>
              <a:ext uri="{FF2B5EF4-FFF2-40B4-BE49-F238E27FC236}">
                <a16:creationId xmlns:a16="http://schemas.microsoft.com/office/drawing/2014/main" id="{A0407FC3-07EE-050E-2282-2DDD2AC48F43}"/>
              </a:ext>
            </a:extLst>
          </p:cNvPr>
          <p:cNvSpPr txBox="1"/>
          <p:nvPr/>
        </p:nvSpPr>
        <p:spPr>
          <a:xfrm>
            <a:off x="16564415" y="9729019"/>
            <a:ext cx="9144000" cy="523220"/>
          </a:xfrm>
          <a:prstGeom prst="rect">
            <a:avLst/>
          </a:prstGeom>
          <a:noFill/>
        </p:spPr>
        <p:txBody>
          <a:bodyPr wrap="square">
            <a:spAutoFit/>
          </a:bodyPr>
          <a:lstStyle/>
          <a:p>
            <a:r>
              <a:rPr lang="en-US" sz="2800" b="1" dirty="0">
                <a:solidFill>
                  <a:srgbClr val="FF0000"/>
                </a:solidFill>
              </a:rPr>
              <a:t>WEEK 9 </a:t>
            </a:r>
            <a:endParaRPr lang="en-US" sz="2800" dirty="0"/>
          </a:p>
        </p:txBody>
      </p:sp>
    </p:spTree>
    <p:extLst>
      <p:ext uri="{BB962C8B-B14F-4D97-AF65-F5344CB8AC3E}">
        <p14:creationId xmlns:p14="http://schemas.microsoft.com/office/powerpoint/2010/main" val="11405017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77CE8-57FD-0E93-FF7B-629B71F3AFD9}"/>
            </a:ext>
          </a:extLst>
        </p:cNvPr>
        <p:cNvGrpSpPr/>
        <p:nvPr/>
      </p:nvGrpSpPr>
      <p:grpSpPr>
        <a:xfrm>
          <a:off x="0" y="0"/>
          <a:ext cx="0" cy="0"/>
          <a:chOff x="0" y="0"/>
          <a:chExt cx="0" cy="0"/>
        </a:xfrm>
      </p:grpSpPr>
      <p:sp>
        <p:nvSpPr>
          <p:cNvPr id="6" name="TextBox 14">
            <a:extLst>
              <a:ext uri="{FF2B5EF4-FFF2-40B4-BE49-F238E27FC236}">
                <a16:creationId xmlns:a16="http://schemas.microsoft.com/office/drawing/2014/main" id="{3BF0FDD4-7A97-F8BC-C034-E2A632A27BD5}"/>
              </a:ext>
            </a:extLst>
          </p:cNvPr>
          <p:cNvSpPr txBox="1"/>
          <p:nvPr/>
        </p:nvSpPr>
        <p:spPr>
          <a:xfrm>
            <a:off x="803652" y="1081000"/>
            <a:ext cx="15746987" cy="842410"/>
          </a:xfrm>
          <a:prstGeom prst="rect">
            <a:avLst/>
          </a:prstGeom>
        </p:spPr>
        <p:txBody>
          <a:bodyPr wrap="square"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5400" b="1" i="1" u="none" strike="noStrike" kern="1200" cap="none" spc="-412" normalizeH="0" baseline="0" noProof="0" dirty="0">
                <a:ln>
                  <a:noFill/>
                </a:ln>
                <a:solidFill>
                  <a:srgbClr val="46245A"/>
                </a:solidFill>
                <a:effectLst/>
                <a:uLnTx/>
                <a:uFillTx/>
                <a:latin typeface="DM Sans Bold"/>
                <a:ea typeface="+mn-ea"/>
                <a:cs typeface="+mn-cs"/>
              </a:rPr>
              <a:t>What are the key drivers of climate change? </a:t>
            </a:r>
          </a:p>
        </p:txBody>
      </p:sp>
      <p:sp>
        <p:nvSpPr>
          <p:cNvPr id="7" name="Freeform 13">
            <a:extLst>
              <a:ext uri="{FF2B5EF4-FFF2-40B4-BE49-F238E27FC236}">
                <a16:creationId xmlns:a16="http://schemas.microsoft.com/office/drawing/2014/main" id="{08A335C4-8A08-B349-0CAF-BEFA054AA07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2" name="Picture 10">
            <a:extLst>
              <a:ext uri="{FF2B5EF4-FFF2-40B4-BE49-F238E27FC236}">
                <a16:creationId xmlns:a16="http://schemas.microsoft.com/office/drawing/2014/main" id="{97032811-E1F6-C743-AD48-35D7E193D0D3}"/>
              </a:ext>
            </a:extLst>
          </p:cNvPr>
          <p:cNvPicPr>
            <a:picLocks noChangeAspect="1"/>
          </p:cNvPicPr>
          <p:nvPr/>
        </p:nvPicPr>
        <p:blipFill rotWithShape="1">
          <a:blip r:embed="rId4">
            <a:extLst>
              <a:ext uri="{28A0092B-C50C-407E-A947-70E740481C1C}">
                <a14:useLocalDpi xmlns:a14="http://schemas.microsoft.com/office/drawing/2010/main" val="0"/>
              </a:ext>
            </a:extLst>
          </a:blip>
          <a:srcRect t="5820" r="2281"/>
          <a:stretch>
            <a:fillRect/>
          </a:stretch>
        </p:blipFill>
        <p:spPr bwMode="auto">
          <a:xfrm>
            <a:off x="803652" y="1965858"/>
            <a:ext cx="11462689" cy="789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281E4FA-A209-7F52-5A23-B590A1F707DA}"/>
              </a:ext>
            </a:extLst>
          </p:cNvPr>
          <p:cNvSpPr txBox="1"/>
          <p:nvPr/>
        </p:nvSpPr>
        <p:spPr>
          <a:xfrm>
            <a:off x="15745549" y="9729019"/>
            <a:ext cx="2542451" cy="523220"/>
          </a:xfrm>
          <a:prstGeom prst="rect">
            <a:avLst/>
          </a:prstGeom>
          <a:noFill/>
        </p:spPr>
        <p:txBody>
          <a:bodyPr wrap="square">
            <a:spAutoFit/>
          </a:bodyPr>
          <a:lstStyle/>
          <a:p>
            <a:r>
              <a:rPr lang="en-US" sz="2800" b="1" dirty="0">
                <a:solidFill>
                  <a:srgbClr val="FF0000"/>
                </a:solidFill>
              </a:rPr>
              <a:t>WEEKS 2, 3, 4 </a:t>
            </a:r>
            <a:endParaRPr lang="en-US" sz="2800" dirty="0"/>
          </a:p>
        </p:txBody>
      </p:sp>
    </p:spTree>
    <p:extLst>
      <p:ext uri="{BB962C8B-B14F-4D97-AF65-F5344CB8AC3E}">
        <p14:creationId xmlns:p14="http://schemas.microsoft.com/office/powerpoint/2010/main" val="229578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A2B733-1711-16EC-EB79-628B402DAED3}"/>
              </a:ext>
            </a:extLst>
          </p:cNvPr>
          <p:cNvPicPr>
            <a:picLocks noChangeAspect="1"/>
          </p:cNvPicPr>
          <p:nvPr/>
        </p:nvPicPr>
        <p:blipFill>
          <a:blip r:embed="rId2"/>
          <a:stretch>
            <a:fillRect/>
          </a:stretch>
        </p:blipFill>
        <p:spPr>
          <a:xfrm>
            <a:off x="7414916" y="2267946"/>
            <a:ext cx="10055656" cy="7206553"/>
          </a:xfrm>
          <a:prstGeom prst="rect">
            <a:avLst/>
          </a:prstGeom>
        </p:spPr>
      </p:pic>
      <p:sp>
        <p:nvSpPr>
          <p:cNvPr id="5" name="Freeform 13">
            <a:extLst>
              <a:ext uri="{FF2B5EF4-FFF2-40B4-BE49-F238E27FC236}">
                <a16:creationId xmlns:a16="http://schemas.microsoft.com/office/drawing/2014/main" id="{C8AD0EC3-DDDA-D3D6-0AF7-9DE288789C2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6" name="TextBox 14">
            <a:extLst>
              <a:ext uri="{FF2B5EF4-FFF2-40B4-BE49-F238E27FC236}">
                <a16:creationId xmlns:a16="http://schemas.microsoft.com/office/drawing/2014/main" id="{0D6FDBD0-71F8-6A90-29B7-C57AD2D8ACC6}"/>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Energy in the Climate System</a:t>
            </a:r>
          </a:p>
        </p:txBody>
      </p:sp>
      <p:pic>
        <p:nvPicPr>
          <p:cNvPr id="2" name="Picture 10">
            <a:extLst>
              <a:ext uri="{FF2B5EF4-FFF2-40B4-BE49-F238E27FC236}">
                <a16:creationId xmlns:a16="http://schemas.microsoft.com/office/drawing/2014/main" id="{79E952D4-4A95-9561-61E0-A988590539AF}"/>
              </a:ext>
            </a:extLst>
          </p:cNvPr>
          <p:cNvPicPr>
            <a:picLocks noChangeAspect="1"/>
          </p:cNvPicPr>
          <p:nvPr/>
        </p:nvPicPr>
        <p:blipFill rotWithShape="1">
          <a:blip r:embed="rId4">
            <a:extLst>
              <a:ext uri="{28A0092B-C50C-407E-A947-70E740481C1C}">
                <a14:useLocalDpi xmlns:a14="http://schemas.microsoft.com/office/drawing/2010/main" val="0"/>
              </a:ext>
            </a:extLst>
          </a:blip>
          <a:srcRect t="5820" r="2281"/>
          <a:stretch>
            <a:fillRect/>
          </a:stretch>
        </p:blipFill>
        <p:spPr bwMode="auto">
          <a:xfrm>
            <a:off x="817428" y="3773303"/>
            <a:ext cx="6094169" cy="41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55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484ACDF-082E-70AC-B1FB-753FBD1D8BAC}"/>
              </a:ext>
            </a:extLst>
          </p:cNvPr>
          <p:cNvSpPr>
            <a:spLocks noChangeArrowheads="1"/>
          </p:cNvSpPr>
          <p:nvPr/>
        </p:nvSpPr>
        <p:spPr bwMode="auto">
          <a:xfrm>
            <a:off x="892722" y="2263027"/>
            <a:ext cx="12796838" cy="6486525"/>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3600">
              <a:latin typeface="Times New Roman" panose="02020603050405020304" pitchFamily="18" charset="0"/>
            </a:endParaRPr>
          </a:p>
        </p:txBody>
      </p:sp>
      <p:sp>
        <p:nvSpPr>
          <p:cNvPr id="139267" name="Rectangle 3">
            <a:extLst>
              <a:ext uri="{FF2B5EF4-FFF2-40B4-BE49-F238E27FC236}">
                <a16:creationId xmlns:a16="http://schemas.microsoft.com/office/drawing/2014/main" id="{366B3358-1FE0-FC8A-1CD4-7ED30A535C0E}"/>
              </a:ext>
            </a:extLst>
          </p:cNvPr>
          <p:cNvSpPr>
            <a:spLocks noChangeArrowheads="1"/>
          </p:cNvSpPr>
          <p:nvPr/>
        </p:nvSpPr>
        <p:spPr bwMode="auto">
          <a:xfrm>
            <a:off x="883197" y="5453903"/>
            <a:ext cx="12806363" cy="3417095"/>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3600">
              <a:latin typeface="Times New Roman" panose="02020603050405020304" pitchFamily="18" charset="0"/>
            </a:endParaRPr>
          </a:p>
        </p:txBody>
      </p:sp>
      <p:sp>
        <p:nvSpPr>
          <p:cNvPr id="139268" name="Freeform 4">
            <a:extLst>
              <a:ext uri="{FF2B5EF4-FFF2-40B4-BE49-F238E27FC236}">
                <a16:creationId xmlns:a16="http://schemas.microsoft.com/office/drawing/2014/main" id="{09C5AF88-B2DB-778E-7DD5-B8687F68542F}"/>
              </a:ext>
            </a:extLst>
          </p:cNvPr>
          <p:cNvSpPr>
            <a:spLocks/>
          </p:cNvSpPr>
          <p:nvPr/>
        </p:nvSpPr>
        <p:spPr bwMode="auto">
          <a:xfrm>
            <a:off x="871291" y="8523334"/>
            <a:ext cx="12801600" cy="120015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40F2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139269" name="Freeform 5">
            <a:extLst>
              <a:ext uri="{FF2B5EF4-FFF2-40B4-BE49-F238E27FC236}">
                <a16:creationId xmlns:a16="http://schemas.microsoft.com/office/drawing/2014/main" id="{48248460-AAFD-B3AB-29FA-AA7C1FF2028B}"/>
              </a:ext>
            </a:extLst>
          </p:cNvPr>
          <p:cNvSpPr>
            <a:spLocks/>
          </p:cNvSpPr>
          <p:nvPr/>
        </p:nvSpPr>
        <p:spPr bwMode="auto">
          <a:xfrm>
            <a:off x="871292" y="8528097"/>
            <a:ext cx="12803981" cy="1200150"/>
          </a:xfrm>
          <a:custGeom>
            <a:avLst/>
            <a:gdLst>
              <a:gd name="T0" fmla="*/ 2147483646 w 4189"/>
              <a:gd name="T1" fmla="*/ 2147483646 h 534"/>
              <a:gd name="T2" fmla="*/ 2147483646 w 4189"/>
              <a:gd name="T3" fmla="*/ 2147483646 h 534"/>
              <a:gd name="T4" fmla="*/ 0 w 4189"/>
              <a:gd name="T5" fmla="*/ 2147483646 h 534"/>
              <a:gd name="T6" fmla="*/ 0 w 4189"/>
              <a:gd name="T7" fmla="*/ 2147483646 h 534"/>
              <a:gd name="T8" fmla="*/ 0 w 4189"/>
              <a:gd name="T9" fmla="*/ 2147483646 h 534"/>
              <a:gd name="T10" fmla="*/ 2147483646 w 4189"/>
              <a:gd name="T11" fmla="*/ 2147483646 h 534"/>
              <a:gd name="T12" fmla="*/ 2147483646 w 4189"/>
              <a:gd name="T13" fmla="*/ 2147483646 h 534"/>
              <a:gd name="T14" fmla="*/ 2147483646 w 4189"/>
              <a:gd name="T15" fmla="*/ 2147483646 h 534"/>
              <a:gd name="T16" fmla="*/ 2147483646 w 4189"/>
              <a:gd name="T17" fmla="*/ 2147483646 h 534"/>
              <a:gd name="T18" fmla="*/ 2147483646 w 4189"/>
              <a:gd name="T19" fmla="*/ 2147483646 h 534"/>
              <a:gd name="T20" fmla="*/ 2147483646 w 4189"/>
              <a:gd name="T21" fmla="*/ 2147483646 h 534"/>
              <a:gd name="T22" fmla="*/ 2147483646 w 4189"/>
              <a:gd name="T23" fmla="*/ 2147483646 h 534"/>
              <a:gd name="T24" fmla="*/ 2147483646 w 4189"/>
              <a:gd name="T25" fmla="*/ 2147483646 h 534"/>
              <a:gd name="T26" fmla="*/ 2147483646 w 4189"/>
              <a:gd name="T27" fmla="*/ 2147483646 h 534"/>
              <a:gd name="T28" fmla="*/ 2147483646 w 4189"/>
              <a:gd name="T29" fmla="*/ 2147483646 h 534"/>
              <a:gd name="T30" fmla="*/ 2147483646 w 4189"/>
              <a:gd name="T31" fmla="*/ 2147483646 h 534"/>
              <a:gd name="T32" fmla="*/ 2147483646 w 4189"/>
              <a:gd name="T33" fmla="*/ 2147483646 h 534"/>
              <a:gd name="T34" fmla="*/ 2147483646 w 4189"/>
              <a:gd name="T35" fmla="*/ 2147483646 h 534"/>
              <a:gd name="T36" fmla="*/ 2147483646 w 4189"/>
              <a:gd name="T37" fmla="*/ 2147483646 h 534"/>
              <a:gd name="T38" fmla="*/ 2147483646 w 4189"/>
              <a:gd name="T39" fmla="*/ 0 h 534"/>
              <a:gd name="T40" fmla="*/ 2147483646 w 4189"/>
              <a:gd name="T41" fmla="*/ 0 h 534"/>
              <a:gd name="T42" fmla="*/ 2147483646 w 4189"/>
              <a:gd name="T43" fmla="*/ 0 h 534"/>
              <a:gd name="T44" fmla="*/ 2147483646 w 4189"/>
              <a:gd name="T45" fmla="*/ 2147483646 h 534"/>
              <a:gd name="T46" fmla="*/ 2147483646 w 4189"/>
              <a:gd name="T47" fmla="*/ 2147483646 h 534"/>
              <a:gd name="T48" fmla="*/ 2147483646 w 4189"/>
              <a:gd name="T49" fmla="*/ 2147483646 h 534"/>
              <a:gd name="T50" fmla="*/ 2147483646 w 4189"/>
              <a:gd name="T51" fmla="*/ 2147483646 h 534"/>
              <a:gd name="T52" fmla="*/ 2147483646 w 4189"/>
              <a:gd name="T53" fmla="*/ 2147483646 h 534"/>
              <a:gd name="T54" fmla="*/ 2147483646 w 4189"/>
              <a:gd name="T55" fmla="*/ 2147483646 h 534"/>
              <a:gd name="T56" fmla="*/ 2147483646 w 4189"/>
              <a:gd name="T57" fmla="*/ 2147483646 h 534"/>
              <a:gd name="T58" fmla="*/ 2147483646 w 4189"/>
              <a:gd name="T59" fmla="*/ 2147483646 h 534"/>
              <a:gd name="T60" fmla="*/ 2147483646 w 4189"/>
              <a:gd name="T61" fmla="*/ 2147483646 h 534"/>
              <a:gd name="T62" fmla="*/ 2147483646 w 4189"/>
              <a:gd name="T63" fmla="*/ 2147483646 h 534"/>
              <a:gd name="T64" fmla="*/ 2147483646 w 4189"/>
              <a:gd name="T65" fmla="*/ 2147483646 h 534"/>
              <a:gd name="T66" fmla="*/ 2147483646 w 4189"/>
              <a:gd name="T67" fmla="*/ 2147483646 h 534"/>
              <a:gd name="T68" fmla="*/ 2147483646 w 4189"/>
              <a:gd name="T69" fmla="*/ 2147483646 h 534"/>
              <a:gd name="T70" fmla="*/ 2147483646 w 4189"/>
              <a:gd name="T71" fmla="*/ 2147483646 h 534"/>
              <a:gd name="T72" fmla="*/ 2147483646 w 4189"/>
              <a:gd name="T73" fmla="*/ 2147483646 h 534"/>
              <a:gd name="T74" fmla="*/ 2147483646 w 4189"/>
              <a:gd name="T75" fmla="*/ 2147483646 h 5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89"/>
              <a:gd name="T115" fmla="*/ 0 h 534"/>
              <a:gd name="T116" fmla="*/ 4189 w 4189"/>
              <a:gd name="T117" fmla="*/ 534 h 5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89" h="534">
                <a:moveTo>
                  <a:pt x="4188" y="112"/>
                </a:moveTo>
                <a:lnTo>
                  <a:pt x="4188" y="533"/>
                </a:lnTo>
                <a:lnTo>
                  <a:pt x="0" y="533"/>
                </a:lnTo>
                <a:lnTo>
                  <a:pt x="0" y="112"/>
                </a:lnTo>
                <a:lnTo>
                  <a:pt x="0" y="97"/>
                </a:lnTo>
                <a:lnTo>
                  <a:pt x="108" y="86"/>
                </a:lnTo>
                <a:lnTo>
                  <a:pt x="219" y="75"/>
                </a:lnTo>
                <a:lnTo>
                  <a:pt x="334" y="65"/>
                </a:lnTo>
                <a:lnTo>
                  <a:pt x="453" y="56"/>
                </a:lnTo>
                <a:lnTo>
                  <a:pt x="574" y="48"/>
                </a:lnTo>
                <a:lnTo>
                  <a:pt x="699" y="40"/>
                </a:lnTo>
                <a:lnTo>
                  <a:pt x="826" y="32"/>
                </a:lnTo>
                <a:lnTo>
                  <a:pt x="956" y="25"/>
                </a:lnTo>
                <a:lnTo>
                  <a:pt x="1089" y="20"/>
                </a:lnTo>
                <a:lnTo>
                  <a:pt x="1222" y="15"/>
                </a:lnTo>
                <a:lnTo>
                  <a:pt x="1358" y="11"/>
                </a:lnTo>
                <a:lnTo>
                  <a:pt x="1496" y="7"/>
                </a:lnTo>
                <a:lnTo>
                  <a:pt x="1634" y="4"/>
                </a:lnTo>
                <a:lnTo>
                  <a:pt x="1774" y="2"/>
                </a:lnTo>
                <a:lnTo>
                  <a:pt x="1914" y="0"/>
                </a:lnTo>
                <a:lnTo>
                  <a:pt x="2055" y="0"/>
                </a:lnTo>
                <a:lnTo>
                  <a:pt x="2197" y="0"/>
                </a:lnTo>
                <a:lnTo>
                  <a:pt x="2338" y="1"/>
                </a:lnTo>
                <a:lnTo>
                  <a:pt x="2479" y="2"/>
                </a:lnTo>
                <a:lnTo>
                  <a:pt x="2620" y="5"/>
                </a:lnTo>
                <a:lnTo>
                  <a:pt x="2760" y="8"/>
                </a:lnTo>
                <a:lnTo>
                  <a:pt x="2899" y="12"/>
                </a:lnTo>
                <a:lnTo>
                  <a:pt x="3037" y="16"/>
                </a:lnTo>
                <a:lnTo>
                  <a:pt x="3174" y="22"/>
                </a:lnTo>
                <a:lnTo>
                  <a:pt x="3309" y="29"/>
                </a:lnTo>
                <a:lnTo>
                  <a:pt x="3442" y="36"/>
                </a:lnTo>
                <a:lnTo>
                  <a:pt x="3573" y="44"/>
                </a:lnTo>
                <a:lnTo>
                  <a:pt x="3702" y="53"/>
                </a:lnTo>
                <a:lnTo>
                  <a:pt x="3828" y="63"/>
                </a:lnTo>
                <a:lnTo>
                  <a:pt x="3951" y="73"/>
                </a:lnTo>
                <a:lnTo>
                  <a:pt x="4071" y="85"/>
                </a:lnTo>
                <a:lnTo>
                  <a:pt x="4188" y="97"/>
                </a:lnTo>
                <a:lnTo>
                  <a:pt x="4188" y="112"/>
                </a:lnTo>
              </a:path>
            </a:pathLst>
          </a:custGeom>
          <a:solidFill>
            <a:srgbClr val="FFCC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nvGrpSpPr>
          <p:cNvPr id="2" name="Group 6">
            <a:extLst>
              <a:ext uri="{FF2B5EF4-FFF2-40B4-BE49-F238E27FC236}">
                <a16:creationId xmlns:a16="http://schemas.microsoft.com/office/drawing/2014/main" id="{DA2A502F-8A38-3D1C-FB9F-F44917AD023F}"/>
              </a:ext>
            </a:extLst>
          </p:cNvPr>
          <p:cNvGrpSpPr>
            <a:grpSpLocks/>
          </p:cNvGrpSpPr>
          <p:nvPr/>
        </p:nvGrpSpPr>
        <p:grpSpPr bwMode="auto">
          <a:xfrm>
            <a:off x="5440909" y="4994322"/>
            <a:ext cx="1831182" cy="3569493"/>
            <a:chOff x="2679" y="1951"/>
            <a:chExt cx="952" cy="1748"/>
          </a:xfrm>
        </p:grpSpPr>
        <p:sp>
          <p:nvSpPr>
            <p:cNvPr id="22828" name="Freeform 7">
              <a:extLst>
                <a:ext uri="{FF2B5EF4-FFF2-40B4-BE49-F238E27FC236}">
                  <a16:creationId xmlns:a16="http://schemas.microsoft.com/office/drawing/2014/main" id="{74962F06-B94F-4A51-94FA-06844B4DF71C}"/>
                </a:ext>
              </a:extLst>
            </p:cNvPr>
            <p:cNvSpPr>
              <a:spLocks/>
            </p:cNvSpPr>
            <p:nvPr/>
          </p:nvSpPr>
          <p:spPr bwMode="auto">
            <a:xfrm>
              <a:off x="3500" y="2022"/>
              <a:ext cx="131" cy="77"/>
            </a:xfrm>
            <a:custGeom>
              <a:avLst/>
              <a:gdLst>
                <a:gd name="T0" fmla="*/ 2480706 w 80"/>
                <a:gd name="T1" fmla="*/ 918 h 68"/>
                <a:gd name="T2" fmla="*/ 2415525 w 80"/>
                <a:gd name="T3" fmla="*/ 734 h 68"/>
                <a:gd name="T4" fmla="*/ 2134954 w 80"/>
                <a:gd name="T5" fmla="*/ 610 h 68"/>
                <a:gd name="T6" fmla="*/ 1727965 w 80"/>
                <a:gd name="T7" fmla="*/ 493 h 68"/>
                <a:gd name="T8" fmla="*/ 1325320 w 80"/>
                <a:gd name="T9" fmla="*/ 384 h 68"/>
                <a:gd name="T10" fmla="*/ 880220 w 80"/>
                <a:gd name="T11" fmla="*/ 293 h 68"/>
                <a:gd name="T12" fmla="*/ 550133 w 80"/>
                <a:gd name="T13" fmla="*/ 186 h 68"/>
                <a:gd name="T14" fmla="*/ 402943 w 80"/>
                <a:gd name="T15" fmla="*/ 100 h 68"/>
                <a:gd name="T16" fmla="*/ 402943 w 80"/>
                <a:gd name="T17" fmla="*/ 88 h 68"/>
                <a:gd name="T18" fmla="*/ 34225 w 80"/>
                <a:gd name="T19" fmla="*/ 0 h 68"/>
                <a:gd name="T20" fmla="*/ 0 w 80"/>
                <a:gd name="T21" fmla="*/ 186 h 68"/>
                <a:gd name="T22" fmla="*/ 293974 w 80"/>
                <a:gd name="T23" fmla="*/ 332 h 68"/>
                <a:gd name="T24" fmla="*/ 695772 w 80"/>
                <a:gd name="T25" fmla="*/ 446 h 68"/>
                <a:gd name="T26" fmla="*/ 1090198 w 80"/>
                <a:gd name="T27" fmla="*/ 546 h 68"/>
                <a:gd name="T28" fmla="*/ 1538762 w 80"/>
                <a:gd name="T29" fmla="*/ 638 h 68"/>
                <a:gd name="T30" fmla="*/ 1865648 w 80"/>
                <a:gd name="T31" fmla="*/ 735 h 68"/>
                <a:gd name="T32" fmla="*/ 2045165 w 80"/>
                <a:gd name="T33" fmla="*/ 818 h 68"/>
                <a:gd name="T34" fmla="*/ 2079299 w 80"/>
                <a:gd name="T35" fmla="*/ 847 h 68"/>
                <a:gd name="T36" fmla="*/ 2480706 w 80"/>
                <a:gd name="T37" fmla="*/ 918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8"/>
                <a:gd name="T59" fmla="*/ 80 w 80"/>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8">
                  <a:moveTo>
                    <a:pt x="79" y="67"/>
                  </a:moveTo>
                  <a:lnTo>
                    <a:pt x="77" y="54"/>
                  </a:lnTo>
                  <a:lnTo>
                    <a:pt x="68" y="44"/>
                  </a:lnTo>
                  <a:lnTo>
                    <a:pt x="55" y="36"/>
                  </a:lnTo>
                  <a:lnTo>
                    <a:pt x="42" y="28"/>
                  </a:lnTo>
                  <a:lnTo>
                    <a:pt x="28" y="21"/>
                  </a:lnTo>
                  <a:lnTo>
                    <a:pt x="18" y="14"/>
                  </a:lnTo>
                  <a:lnTo>
                    <a:pt x="13" y="8"/>
                  </a:lnTo>
                  <a:lnTo>
                    <a:pt x="13" y="7"/>
                  </a:lnTo>
                  <a:lnTo>
                    <a:pt x="1" y="0"/>
                  </a:lnTo>
                  <a:lnTo>
                    <a:pt x="0" y="14"/>
                  </a:lnTo>
                  <a:lnTo>
                    <a:pt x="9" y="24"/>
                  </a:lnTo>
                  <a:lnTo>
                    <a:pt x="22" y="33"/>
                  </a:lnTo>
                  <a:lnTo>
                    <a:pt x="35" y="40"/>
                  </a:lnTo>
                  <a:lnTo>
                    <a:pt x="49" y="47"/>
                  </a:lnTo>
                  <a:lnTo>
                    <a:pt x="59" y="55"/>
                  </a:lnTo>
                  <a:lnTo>
                    <a:pt x="65" y="60"/>
                  </a:lnTo>
                  <a:lnTo>
                    <a:pt x="66" y="63"/>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9" name="Freeform 8">
              <a:extLst>
                <a:ext uri="{FF2B5EF4-FFF2-40B4-BE49-F238E27FC236}">
                  <a16:creationId xmlns:a16="http://schemas.microsoft.com/office/drawing/2014/main" id="{82223568-4647-45F2-1619-0220828B5BBE}"/>
                </a:ext>
              </a:extLst>
            </p:cNvPr>
            <p:cNvSpPr>
              <a:spLocks/>
            </p:cNvSpPr>
            <p:nvPr/>
          </p:nvSpPr>
          <p:spPr bwMode="auto">
            <a:xfrm>
              <a:off x="3456" y="2094"/>
              <a:ext cx="175" cy="21"/>
            </a:xfrm>
            <a:custGeom>
              <a:avLst/>
              <a:gdLst>
                <a:gd name="T0" fmla="*/ 563155 w 106"/>
                <a:gd name="T1" fmla="*/ 368 h 18"/>
                <a:gd name="T2" fmla="*/ 523912 w 106"/>
                <a:gd name="T3" fmla="*/ 426 h 18"/>
                <a:gd name="T4" fmla="*/ 563155 w 106"/>
                <a:gd name="T5" fmla="*/ 418 h 18"/>
                <a:gd name="T6" fmla="*/ 904506 w 106"/>
                <a:gd name="T7" fmla="*/ 358 h 18"/>
                <a:gd name="T8" fmla="*/ 1389091 w 106"/>
                <a:gd name="T9" fmla="*/ 368 h 18"/>
                <a:gd name="T10" fmla="*/ 1984779 w 106"/>
                <a:gd name="T11" fmla="*/ 368 h 18"/>
                <a:gd name="T12" fmla="*/ 2534104 w 106"/>
                <a:gd name="T13" fmla="*/ 418 h 18"/>
                <a:gd name="T14" fmla="*/ 3097518 w 106"/>
                <a:gd name="T15" fmla="*/ 418 h 18"/>
                <a:gd name="T16" fmla="*/ 3579389 w 106"/>
                <a:gd name="T17" fmla="*/ 315 h 18"/>
                <a:gd name="T18" fmla="*/ 3917132 w 106"/>
                <a:gd name="T19" fmla="*/ 55 h 18"/>
                <a:gd name="T20" fmla="*/ 3435385 w 106"/>
                <a:gd name="T21" fmla="*/ 0 h 18"/>
                <a:gd name="T22" fmla="*/ 3369257 w 106"/>
                <a:gd name="T23" fmla="*/ 1 h 18"/>
                <a:gd name="T24" fmla="*/ 3033331 w 106"/>
                <a:gd name="T25" fmla="*/ 55 h 18"/>
                <a:gd name="T26" fmla="*/ 2534104 w 106"/>
                <a:gd name="T27" fmla="*/ 2 h 18"/>
                <a:gd name="T28" fmla="*/ 1984779 w 106"/>
                <a:gd name="T29" fmla="*/ 2 h 18"/>
                <a:gd name="T30" fmla="*/ 1389091 w 106"/>
                <a:gd name="T31" fmla="*/ 1 h 18"/>
                <a:gd name="T32" fmla="*/ 864949 w 106"/>
                <a:gd name="T33" fmla="*/ 2 h 18"/>
                <a:gd name="T34" fmla="*/ 379656 w 106"/>
                <a:gd name="T35" fmla="*/ 55 h 18"/>
                <a:gd name="T36" fmla="*/ 39284 w 106"/>
                <a:gd name="T37" fmla="*/ 315 h 18"/>
                <a:gd name="T38" fmla="*/ 0 w 106"/>
                <a:gd name="T39" fmla="*/ 368 h 18"/>
                <a:gd name="T40" fmla="*/ 39284 w 106"/>
                <a:gd name="T41" fmla="*/ 315 h 18"/>
                <a:gd name="T42" fmla="*/ 0 w 106"/>
                <a:gd name="T43" fmla="*/ 358 h 18"/>
                <a:gd name="T44" fmla="*/ 0 w 106"/>
                <a:gd name="T45" fmla="*/ 368 h 18"/>
                <a:gd name="T46" fmla="*/ 563155 w 106"/>
                <a:gd name="T47" fmla="*/ 368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18"/>
                <a:gd name="T74" fmla="*/ 106 w 106"/>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18">
                  <a:moveTo>
                    <a:pt x="15" y="15"/>
                  </a:moveTo>
                  <a:lnTo>
                    <a:pt x="14" y="17"/>
                  </a:lnTo>
                  <a:lnTo>
                    <a:pt x="15" y="16"/>
                  </a:lnTo>
                  <a:lnTo>
                    <a:pt x="24" y="14"/>
                  </a:lnTo>
                  <a:lnTo>
                    <a:pt x="37" y="15"/>
                  </a:lnTo>
                  <a:lnTo>
                    <a:pt x="53" y="15"/>
                  </a:lnTo>
                  <a:lnTo>
                    <a:pt x="68" y="16"/>
                  </a:lnTo>
                  <a:lnTo>
                    <a:pt x="83" y="16"/>
                  </a:lnTo>
                  <a:lnTo>
                    <a:pt x="96" y="13"/>
                  </a:lnTo>
                  <a:lnTo>
                    <a:pt x="105" y="3"/>
                  </a:lnTo>
                  <a:lnTo>
                    <a:pt x="92" y="0"/>
                  </a:lnTo>
                  <a:lnTo>
                    <a:pt x="90" y="1"/>
                  </a:lnTo>
                  <a:lnTo>
                    <a:pt x="81" y="3"/>
                  </a:lnTo>
                  <a:lnTo>
                    <a:pt x="68" y="2"/>
                  </a:lnTo>
                  <a:lnTo>
                    <a:pt x="53" y="2"/>
                  </a:lnTo>
                  <a:lnTo>
                    <a:pt x="37" y="1"/>
                  </a:lnTo>
                  <a:lnTo>
                    <a:pt x="23" y="2"/>
                  </a:lnTo>
                  <a:lnTo>
                    <a:pt x="10" y="3"/>
                  </a:lnTo>
                  <a:lnTo>
                    <a:pt x="1" y="13"/>
                  </a:lnTo>
                  <a:lnTo>
                    <a:pt x="0" y="15"/>
                  </a:lnTo>
                  <a:lnTo>
                    <a:pt x="1" y="13"/>
                  </a:lnTo>
                  <a:lnTo>
                    <a:pt x="0" y="14"/>
                  </a:lnTo>
                  <a:lnTo>
                    <a:pt x="0" y="15"/>
                  </a:lnTo>
                  <a:lnTo>
                    <a:pt x="15" y="1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0" name="Freeform 9">
              <a:extLst>
                <a:ext uri="{FF2B5EF4-FFF2-40B4-BE49-F238E27FC236}">
                  <a16:creationId xmlns:a16="http://schemas.microsoft.com/office/drawing/2014/main" id="{71AE8AC4-7419-B3E7-1CFE-939C0E2FAFB4}"/>
                </a:ext>
              </a:extLst>
            </p:cNvPr>
            <p:cNvSpPr>
              <a:spLocks/>
            </p:cNvSpPr>
            <p:nvPr/>
          </p:nvSpPr>
          <p:spPr bwMode="auto">
            <a:xfrm>
              <a:off x="3456" y="2111"/>
              <a:ext cx="27" cy="6"/>
            </a:xfrm>
            <a:custGeom>
              <a:avLst/>
              <a:gdLst>
                <a:gd name="T0" fmla="*/ 824491 w 16"/>
                <a:gd name="T1" fmla="*/ 179 h 5"/>
                <a:gd name="T2" fmla="*/ 879388 w 16"/>
                <a:gd name="T3" fmla="*/ 2 h 5"/>
                <a:gd name="T4" fmla="*/ 879388 w 16"/>
                <a:gd name="T5" fmla="*/ 0 h 5"/>
                <a:gd name="T6" fmla="*/ 0 w 16"/>
                <a:gd name="T7" fmla="*/ 0 h 5"/>
                <a:gd name="T8" fmla="*/ 0 w 16"/>
                <a:gd name="T9" fmla="*/ 2 h 5"/>
                <a:gd name="T10" fmla="*/ 62006 w 16"/>
                <a:gd name="T11" fmla="*/ 0 h 5"/>
                <a:gd name="T12" fmla="*/ 824491 w 16"/>
                <a:gd name="T13" fmla="*/ 179 h 5"/>
                <a:gd name="T14" fmla="*/ 824491 w 16"/>
                <a:gd name="T15" fmla="*/ 149 h 5"/>
                <a:gd name="T16" fmla="*/ 879388 w 16"/>
                <a:gd name="T17" fmla="*/ 2 h 5"/>
                <a:gd name="T18" fmla="*/ 824491 w 16"/>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5"/>
                <a:gd name="T32" fmla="*/ 16 w 1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5">
                  <a:moveTo>
                    <a:pt x="14" y="4"/>
                  </a:moveTo>
                  <a:lnTo>
                    <a:pt x="15" y="2"/>
                  </a:lnTo>
                  <a:lnTo>
                    <a:pt x="15" y="0"/>
                  </a:lnTo>
                  <a:lnTo>
                    <a:pt x="0" y="0"/>
                  </a:lnTo>
                  <a:lnTo>
                    <a:pt x="0" y="2"/>
                  </a:lnTo>
                  <a:lnTo>
                    <a:pt x="1" y="0"/>
                  </a:lnTo>
                  <a:lnTo>
                    <a:pt x="14" y="4"/>
                  </a:lnTo>
                  <a:lnTo>
                    <a:pt x="14" y="3"/>
                  </a:lnTo>
                  <a:lnTo>
                    <a:pt x="15" y="2"/>
                  </a:lnTo>
                  <a:lnTo>
                    <a:pt x="1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1" name="Freeform 10">
              <a:extLst>
                <a:ext uri="{FF2B5EF4-FFF2-40B4-BE49-F238E27FC236}">
                  <a16:creationId xmlns:a16="http://schemas.microsoft.com/office/drawing/2014/main" id="{332420C2-E854-5F1B-25AD-08CA7E9FA32E}"/>
                </a:ext>
              </a:extLst>
            </p:cNvPr>
            <p:cNvSpPr>
              <a:spLocks/>
            </p:cNvSpPr>
            <p:nvPr/>
          </p:nvSpPr>
          <p:spPr bwMode="auto">
            <a:xfrm>
              <a:off x="3458" y="2111"/>
              <a:ext cx="132" cy="77"/>
            </a:xfrm>
            <a:custGeom>
              <a:avLst/>
              <a:gdLst>
                <a:gd name="T0" fmla="*/ 2918860 w 80"/>
                <a:gd name="T1" fmla="*/ 1675 h 66"/>
                <a:gd name="T2" fmla="*/ 2842721 w 80"/>
                <a:gd name="T3" fmla="*/ 1341 h 66"/>
                <a:gd name="T4" fmla="*/ 2480000 w 80"/>
                <a:gd name="T5" fmla="*/ 1104 h 66"/>
                <a:gd name="T6" fmla="*/ 2062134 w 80"/>
                <a:gd name="T7" fmla="*/ 921 h 66"/>
                <a:gd name="T8" fmla="*/ 1545345 w 80"/>
                <a:gd name="T9" fmla="*/ 762 h 66"/>
                <a:gd name="T10" fmla="*/ 1026680 w 80"/>
                <a:gd name="T11" fmla="*/ 569 h 66"/>
                <a:gd name="T12" fmla="*/ 692147 w 80"/>
                <a:gd name="T13" fmla="*/ 368 h 66"/>
                <a:gd name="T14" fmla="*/ 520035 w 80"/>
                <a:gd name="T15" fmla="*/ 225 h 66"/>
                <a:gd name="T16" fmla="*/ 477527 w 80"/>
                <a:gd name="T17" fmla="*/ 120 h 66"/>
                <a:gd name="T18" fmla="*/ 0 w 80"/>
                <a:gd name="T19" fmla="*/ 0 h 66"/>
                <a:gd name="T20" fmla="*/ 39046 w 80"/>
                <a:gd name="T21" fmla="*/ 358 h 66"/>
                <a:gd name="T22" fmla="*/ 338181 w 80"/>
                <a:gd name="T23" fmla="*/ 653 h 66"/>
                <a:gd name="T24" fmla="*/ 796859 w 80"/>
                <a:gd name="T25" fmla="*/ 844 h 66"/>
                <a:gd name="T26" fmla="*/ 1300068 w 80"/>
                <a:gd name="T27" fmla="*/ 1055 h 66"/>
                <a:gd name="T28" fmla="*/ 1816008 w 80"/>
                <a:gd name="T29" fmla="*/ 1231 h 66"/>
                <a:gd name="T30" fmla="*/ 2211957 w 80"/>
                <a:gd name="T31" fmla="*/ 1373 h 66"/>
                <a:gd name="T32" fmla="*/ 2399955 w 80"/>
                <a:gd name="T33" fmla="*/ 1496 h 66"/>
                <a:gd name="T34" fmla="*/ 2442464 w 80"/>
                <a:gd name="T35" fmla="*/ 1565 h 66"/>
                <a:gd name="T36" fmla="*/ 2918860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7" y="44"/>
                  </a:lnTo>
                  <a:lnTo>
                    <a:pt x="56" y="36"/>
                  </a:lnTo>
                  <a:lnTo>
                    <a:pt x="42" y="29"/>
                  </a:lnTo>
                  <a:lnTo>
                    <a:pt x="28" y="22"/>
                  </a:lnTo>
                  <a:lnTo>
                    <a:pt x="19" y="15"/>
                  </a:lnTo>
                  <a:lnTo>
                    <a:pt x="14" y="9"/>
                  </a:lnTo>
                  <a:lnTo>
                    <a:pt x="13" y="4"/>
                  </a:lnTo>
                  <a:lnTo>
                    <a:pt x="0" y="0"/>
                  </a:lnTo>
                  <a:lnTo>
                    <a:pt x="1" y="14"/>
                  </a:lnTo>
                  <a:lnTo>
                    <a:pt x="9" y="25"/>
                  </a:lnTo>
                  <a:lnTo>
                    <a:pt x="22" y="33"/>
                  </a:lnTo>
                  <a:lnTo>
                    <a:pt x="35" y="41"/>
                  </a:lnTo>
                  <a:lnTo>
                    <a:pt x="49" y="48"/>
                  </a:lnTo>
                  <a:lnTo>
                    <a:pt x="60" y="54"/>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2" name="Freeform 11">
              <a:extLst>
                <a:ext uri="{FF2B5EF4-FFF2-40B4-BE49-F238E27FC236}">
                  <a16:creationId xmlns:a16="http://schemas.microsoft.com/office/drawing/2014/main" id="{3C83ED63-9976-E892-9E6B-6AACACAAD254}"/>
                </a:ext>
              </a:extLst>
            </p:cNvPr>
            <p:cNvSpPr>
              <a:spLocks/>
            </p:cNvSpPr>
            <p:nvPr/>
          </p:nvSpPr>
          <p:spPr bwMode="auto">
            <a:xfrm>
              <a:off x="3412" y="2181"/>
              <a:ext cx="178" cy="30"/>
            </a:xfrm>
            <a:custGeom>
              <a:avLst/>
              <a:gdLst>
                <a:gd name="T0" fmla="*/ 467977 w 108"/>
                <a:gd name="T1" fmla="*/ 496 h 26"/>
                <a:gd name="T2" fmla="*/ 572069 w 108"/>
                <a:gd name="T3" fmla="*/ 430 h 26"/>
                <a:gd name="T4" fmla="*/ 904365 w 108"/>
                <a:gd name="T5" fmla="*/ 404 h 26"/>
                <a:gd name="T6" fmla="*/ 1377308 w 108"/>
                <a:gd name="T7" fmla="*/ 373 h 26"/>
                <a:gd name="T8" fmla="*/ 1950046 w 108"/>
                <a:gd name="T9" fmla="*/ 373 h 26"/>
                <a:gd name="T10" fmla="*/ 2520165 w 108"/>
                <a:gd name="T11" fmla="*/ 372 h 26"/>
                <a:gd name="T12" fmla="*/ 3106008 w 108"/>
                <a:gd name="T13" fmla="*/ 350 h 26"/>
                <a:gd name="T14" fmla="*/ 3543764 w 108"/>
                <a:gd name="T15" fmla="*/ 279 h 26"/>
                <a:gd name="T16" fmla="*/ 3851116 w 108"/>
                <a:gd name="T17" fmla="*/ 89 h 26"/>
                <a:gd name="T18" fmla="*/ 3382615 w 108"/>
                <a:gd name="T19" fmla="*/ 0 h 26"/>
                <a:gd name="T20" fmla="*/ 3279487 w 108"/>
                <a:gd name="T21" fmla="*/ 2 h 26"/>
                <a:gd name="T22" fmla="*/ 2995110 w 108"/>
                <a:gd name="T23" fmla="*/ 89 h 26"/>
                <a:gd name="T24" fmla="*/ 2520165 w 108"/>
                <a:gd name="T25" fmla="*/ 103 h 26"/>
                <a:gd name="T26" fmla="*/ 1950046 w 108"/>
                <a:gd name="T27" fmla="*/ 103 h 26"/>
                <a:gd name="T28" fmla="*/ 1377308 w 108"/>
                <a:gd name="T29" fmla="*/ 119 h 26"/>
                <a:gd name="T30" fmla="*/ 835670 w 108"/>
                <a:gd name="T31" fmla="*/ 137 h 26"/>
                <a:gd name="T32" fmla="*/ 347098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2"/>
                  </a:lnTo>
                  <a:lnTo>
                    <a:pt x="25" y="20"/>
                  </a:lnTo>
                  <a:lnTo>
                    <a:pt x="38" y="19"/>
                  </a:lnTo>
                  <a:lnTo>
                    <a:pt x="54" y="19"/>
                  </a:lnTo>
                  <a:lnTo>
                    <a:pt x="70" y="18"/>
                  </a:lnTo>
                  <a:lnTo>
                    <a:pt x="86" y="17"/>
                  </a:lnTo>
                  <a:lnTo>
                    <a:pt x="98" y="14"/>
                  </a:lnTo>
                  <a:lnTo>
                    <a:pt x="107" y="4"/>
                  </a:lnTo>
                  <a:lnTo>
                    <a:pt x="94" y="0"/>
                  </a:lnTo>
                  <a:lnTo>
                    <a:pt x="91" y="2"/>
                  </a:lnTo>
                  <a:lnTo>
                    <a:pt x="83" y="4"/>
                  </a:lnTo>
                  <a:lnTo>
                    <a:pt x="70" y="5"/>
                  </a:lnTo>
                  <a:lnTo>
                    <a:pt x="54" y="5"/>
                  </a:lnTo>
                  <a:lnTo>
                    <a:pt x="38" y="6"/>
                  </a:lnTo>
                  <a:lnTo>
                    <a:pt x="23" y="7"/>
                  </a:lnTo>
                  <a:lnTo>
                    <a:pt x="10"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3" name="Freeform 12">
              <a:extLst>
                <a:ext uri="{FF2B5EF4-FFF2-40B4-BE49-F238E27FC236}">
                  <a16:creationId xmlns:a16="http://schemas.microsoft.com/office/drawing/2014/main" id="{B7A78E5D-4E3F-AD4A-2F1E-AA9D490BB3CA}"/>
                </a:ext>
              </a:extLst>
            </p:cNvPr>
            <p:cNvSpPr>
              <a:spLocks/>
            </p:cNvSpPr>
            <p:nvPr/>
          </p:nvSpPr>
          <p:spPr bwMode="auto">
            <a:xfrm>
              <a:off x="3412" y="2206"/>
              <a:ext cx="131" cy="76"/>
            </a:xfrm>
            <a:custGeom>
              <a:avLst/>
              <a:gdLst>
                <a:gd name="T0" fmla="*/ 2480706 w 80"/>
                <a:gd name="T1" fmla="*/ 922 h 67"/>
                <a:gd name="T2" fmla="*/ 2480706 w 80"/>
                <a:gd name="T3" fmla="*/ 932 h 67"/>
                <a:gd name="T4" fmla="*/ 2415525 w 80"/>
                <a:gd name="T5" fmla="*/ 740 h 67"/>
                <a:gd name="T6" fmla="*/ 2134954 w 80"/>
                <a:gd name="T7" fmla="*/ 620 h 67"/>
                <a:gd name="T8" fmla="*/ 1769243 w 80"/>
                <a:gd name="T9" fmla="*/ 496 h 67"/>
                <a:gd name="T10" fmla="*/ 1346184 w 80"/>
                <a:gd name="T11" fmla="*/ 385 h 67"/>
                <a:gd name="T12" fmla="*/ 939702 w 80"/>
                <a:gd name="T13" fmla="*/ 270 h 67"/>
                <a:gd name="T14" fmla="*/ 603561 w 80"/>
                <a:gd name="T15" fmla="*/ 164 h 67"/>
                <a:gd name="T16" fmla="*/ 445495 w 80"/>
                <a:gd name="T17" fmla="*/ 78 h 67"/>
                <a:gd name="T18" fmla="*/ 402943 w 80"/>
                <a:gd name="T19" fmla="*/ 61 h 67"/>
                <a:gd name="T20" fmla="*/ 0 w 80"/>
                <a:gd name="T21" fmla="*/ 0 h 67"/>
                <a:gd name="T22" fmla="*/ 56043 w 80"/>
                <a:gd name="T23" fmla="*/ 185 h 67"/>
                <a:gd name="T24" fmla="*/ 306592 w 80"/>
                <a:gd name="T25" fmla="*/ 307 h 67"/>
                <a:gd name="T26" fmla="*/ 695772 w 80"/>
                <a:gd name="T27" fmla="*/ 437 h 67"/>
                <a:gd name="T28" fmla="*/ 1139327 w 80"/>
                <a:gd name="T29" fmla="*/ 557 h 67"/>
                <a:gd name="T30" fmla="*/ 1538762 w 80"/>
                <a:gd name="T31" fmla="*/ 652 h 67"/>
                <a:gd name="T32" fmla="*/ 1865648 w 80"/>
                <a:gd name="T33" fmla="*/ 740 h 67"/>
                <a:gd name="T34" fmla="*/ 2045165 w 80"/>
                <a:gd name="T35" fmla="*/ 836 h 67"/>
                <a:gd name="T36" fmla="*/ 2079299 w 80"/>
                <a:gd name="T37" fmla="*/ 839 h 67"/>
                <a:gd name="T38" fmla="*/ 2079299 w 80"/>
                <a:gd name="T39" fmla="*/ 841 h 67"/>
                <a:gd name="T40" fmla="*/ 2480706 w 80"/>
                <a:gd name="T41" fmla="*/ 922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5"/>
                  </a:moveTo>
                  <a:lnTo>
                    <a:pt x="79" y="66"/>
                  </a:lnTo>
                  <a:lnTo>
                    <a:pt x="77" y="53"/>
                  </a:lnTo>
                  <a:lnTo>
                    <a:pt x="68" y="43"/>
                  </a:lnTo>
                  <a:lnTo>
                    <a:pt x="56" y="35"/>
                  </a:lnTo>
                  <a:lnTo>
                    <a:pt x="43" y="27"/>
                  </a:lnTo>
                  <a:lnTo>
                    <a:pt x="30" y="19"/>
                  </a:lnTo>
                  <a:lnTo>
                    <a:pt x="19" y="12"/>
                  </a:lnTo>
                  <a:lnTo>
                    <a:pt x="14" y="6"/>
                  </a:lnTo>
                  <a:lnTo>
                    <a:pt x="13" y="4"/>
                  </a:lnTo>
                  <a:lnTo>
                    <a:pt x="0" y="0"/>
                  </a:lnTo>
                  <a:lnTo>
                    <a:pt x="2" y="13"/>
                  </a:lnTo>
                  <a:lnTo>
                    <a:pt x="10" y="23"/>
                  </a:lnTo>
                  <a:lnTo>
                    <a:pt x="22" y="31"/>
                  </a:lnTo>
                  <a:lnTo>
                    <a:pt x="36"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4" name="Freeform 13">
              <a:extLst>
                <a:ext uri="{FF2B5EF4-FFF2-40B4-BE49-F238E27FC236}">
                  <a16:creationId xmlns:a16="http://schemas.microsoft.com/office/drawing/2014/main" id="{DB357FFC-B3D3-454B-0A16-7A97EB2E0B63}"/>
                </a:ext>
              </a:extLst>
            </p:cNvPr>
            <p:cNvSpPr>
              <a:spLocks/>
            </p:cNvSpPr>
            <p:nvPr/>
          </p:nvSpPr>
          <p:spPr bwMode="auto">
            <a:xfrm>
              <a:off x="3370" y="2276"/>
              <a:ext cx="173" cy="24"/>
            </a:xfrm>
            <a:custGeom>
              <a:avLst/>
              <a:gdLst>
                <a:gd name="T0" fmla="*/ 417519 w 106"/>
                <a:gd name="T1" fmla="*/ 302 h 21"/>
                <a:gd name="T2" fmla="*/ 373313 w 106"/>
                <a:gd name="T3" fmla="*/ 326 h 21"/>
                <a:gd name="T4" fmla="*/ 430014 w 106"/>
                <a:gd name="T5" fmla="*/ 326 h 21"/>
                <a:gd name="T6" fmla="*/ 681423 w 106"/>
                <a:gd name="T7" fmla="*/ 302 h 21"/>
                <a:gd name="T8" fmla="*/ 1059028 w 106"/>
                <a:gd name="T9" fmla="*/ 302 h 21"/>
                <a:gd name="T10" fmla="*/ 1530828 w 106"/>
                <a:gd name="T11" fmla="*/ 302 h 21"/>
                <a:gd name="T12" fmla="*/ 1989524 w 106"/>
                <a:gd name="T13" fmla="*/ 302 h 21"/>
                <a:gd name="T14" fmla="*/ 2468792 w 106"/>
                <a:gd name="T15" fmla="*/ 278 h 21"/>
                <a:gd name="T16" fmla="*/ 2820902 w 106"/>
                <a:gd name="T17" fmla="*/ 213 h 21"/>
                <a:gd name="T18" fmla="*/ 3075039 w 106"/>
                <a:gd name="T19" fmla="*/ 3 h 21"/>
                <a:gd name="T20" fmla="*/ 2702097 w 106"/>
                <a:gd name="T21" fmla="*/ 0 h 21"/>
                <a:gd name="T22" fmla="*/ 2613447 w 106"/>
                <a:gd name="T23" fmla="*/ 1 h 21"/>
                <a:gd name="T24" fmla="*/ 2370041 w 106"/>
                <a:gd name="T25" fmla="*/ 73 h 21"/>
                <a:gd name="T26" fmla="*/ 1989524 w 106"/>
                <a:gd name="T27" fmla="*/ 73 h 21"/>
                <a:gd name="T28" fmla="*/ 1530828 w 106"/>
                <a:gd name="T29" fmla="*/ 73 h 21"/>
                <a:gd name="T30" fmla="*/ 1059028 w 106"/>
                <a:gd name="T31" fmla="*/ 73 h 21"/>
                <a:gd name="T32" fmla="*/ 648884 w 106"/>
                <a:gd name="T33" fmla="*/ 83 h 21"/>
                <a:gd name="T34" fmla="*/ 285758 w 106"/>
                <a:gd name="T35" fmla="*/ 109 h 21"/>
                <a:gd name="T36" fmla="*/ 0 w 106"/>
                <a:gd name="T37" fmla="*/ 264 h 21"/>
                <a:gd name="T38" fmla="*/ 0 w 106"/>
                <a:gd name="T39" fmla="*/ 302 h 21"/>
                <a:gd name="T40" fmla="*/ 0 w 106"/>
                <a:gd name="T41" fmla="*/ 264 h 21"/>
                <a:gd name="T42" fmla="*/ 0 w 106"/>
                <a:gd name="T43" fmla="*/ 302 h 21"/>
                <a:gd name="T44" fmla="*/ 417519 w 106"/>
                <a:gd name="T45" fmla="*/ 302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6"/>
                <a:gd name="T70" fmla="*/ 0 h 21"/>
                <a:gd name="T71" fmla="*/ 106 w 106"/>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6" h="21">
                  <a:moveTo>
                    <a:pt x="14" y="18"/>
                  </a:moveTo>
                  <a:lnTo>
                    <a:pt x="13" y="20"/>
                  </a:lnTo>
                  <a:lnTo>
                    <a:pt x="15" y="20"/>
                  </a:lnTo>
                  <a:lnTo>
                    <a:pt x="23" y="18"/>
                  </a:lnTo>
                  <a:lnTo>
                    <a:pt x="36" y="18"/>
                  </a:lnTo>
                  <a:lnTo>
                    <a:pt x="52" y="18"/>
                  </a:lnTo>
                  <a:lnTo>
                    <a:pt x="68" y="18"/>
                  </a:lnTo>
                  <a:lnTo>
                    <a:pt x="84" y="17"/>
                  </a:lnTo>
                  <a:lnTo>
                    <a:pt x="96" y="13"/>
                  </a:lnTo>
                  <a:lnTo>
                    <a:pt x="105" y="3"/>
                  </a:lnTo>
                  <a:lnTo>
                    <a:pt x="92" y="0"/>
                  </a:lnTo>
                  <a:lnTo>
                    <a:pt x="89" y="1"/>
                  </a:lnTo>
                  <a:lnTo>
                    <a:pt x="81" y="4"/>
                  </a:lnTo>
                  <a:lnTo>
                    <a:pt x="68" y="4"/>
                  </a:lnTo>
                  <a:lnTo>
                    <a:pt x="52" y="4"/>
                  </a:lnTo>
                  <a:lnTo>
                    <a:pt x="36" y="4"/>
                  </a:lnTo>
                  <a:lnTo>
                    <a:pt x="22" y="5"/>
                  </a:lnTo>
                  <a:lnTo>
                    <a:pt x="10" y="7"/>
                  </a:lnTo>
                  <a:lnTo>
                    <a:pt x="0" y="16"/>
                  </a:lnTo>
                  <a:lnTo>
                    <a:pt x="0" y="18"/>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5" name="Freeform 14">
              <a:extLst>
                <a:ext uri="{FF2B5EF4-FFF2-40B4-BE49-F238E27FC236}">
                  <a16:creationId xmlns:a16="http://schemas.microsoft.com/office/drawing/2014/main" id="{04A488AD-FF84-EDAA-E581-3E7AB3041722}"/>
                </a:ext>
              </a:extLst>
            </p:cNvPr>
            <p:cNvSpPr>
              <a:spLocks/>
            </p:cNvSpPr>
            <p:nvPr/>
          </p:nvSpPr>
          <p:spPr bwMode="auto">
            <a:xfrm>
              <a:off x="3370" y="2295"/>
              <a:ext cx="23" cy="7"/>
            </a:xfrm>
            <a:custGeom>
              <a:avLst/>
              <a:gdLst>
                <a:gd name="T0" fmla="*/ 105177 w 15"/>
                <a:gd name="T1" fmla="*/ 140 h 6"/>
                <a:gd name="T2" fmla="*/ 107243 w 15"/>
                <a:gd name="T3" fmla="*/ 2 h 6"/>
                <a:gd name="T4" fmla="*/ 0 w 15"/>
                <a:gd name="T5" fmla="*/ 2 h 6"/>
                <a:gd name="T6" fmla="*/ 0 w 15"/>
                <a:gd name="T7" fmla="*/ 0 h 6"/>
                <a:gd name="T8" fmla="*/ 105177 w 15"/>
                <a:gd name="T9" fmla="*/ 140 h 6"/>
                <a:gd name="T10" fmla="*/ 107243 w 15"/>
                <a:gd name="T11" fmla="*/ 120 h 6"/>
                <a:gd name="T12" fmla="*/ 107243 w 15"/>
                <a:gd name="T13" fmla="*/ 2 h 6"/>
                <a:gd name="T14" fmla="*/ 105177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6" name="Freeform 15">
              <a:extLst>
                <a:ext uri="{FF2B5EF4-FFF2-40B4-BE49-F238E27FC236}">
                  <a16:creationId xmlns:a16="http://schemas.microsoft.com/office/drawing/2014/main" id="{627E6C23-3436-D7F8-3456-AD3CBAC068D7}"/>
                </a:ext>
              </a:extLst>
            </p:cNvPr>
            <p:cNvSpPr>
              <a:spLocks/>
            </p:cNvSpPr>
            <p:nvPr/>
          </p:nvSpPr>
          <p:spPr bwMode="auto">
            <a:xfrm>
              <a:off x="3370" y="2295"/>
              <a:ext cx="127" cy="78"/>
            </a:xfrm>
            <a:custGeom>
              <a:avLst/>
              <a:gdLst>
                <a:gd name="T0" fmla="*/ 2148934 w 78"/>
                <a:gd name="T1" fmla="*/ 1621 h 67"/>
                <a:gd name="T2" fmla="*/ 2097509 w 78"/>
                <a:gd name="T3" fmla="*/ 1299 h 67"/>
                <a:gd name="T4" fmla="*/ 1863481 w 78"/>
                <a:gd name="T5" fmla="*/ 1056 h 67"/>
                <a:gd name="T6" fmla="*/ 1545582 w 78"/>
                <a:gd name="T7" fmla="*/ 845 h 67"/>
                <a:gd name="T8" fmla="*/ 1171616 w 78"/>
                <a:gd name="T9" fmla="*/ 637 h 67"/>
                <a:gd name="T10" fmla="*/ 842106 w 78"/>
                <a:gd name="T11" fmla="*/ 470 h 67"/>
                <a:gd name="T12" fmla="*/ 524450 w 78"/>
                <a:gd name="T13" fmla="*/ 261 h 67"/>
                <a:gd name="T14" fmla="*/ 391253 w 78"/>
                <a:gd name="T15" fmla="*/ 139 h 67"/>
                <a:gd name="T16" fmla="*/ 358067 w 78"/>
                <a:gd name="T17" fmla="*/ 119 h 67"/>
                <a:gd name="T18" fmla="*/ 0 w 78"/>
                <a:gd name="T19" fmla="*/ 0 h 67"/>
                <a:gd name="T20" fmla="*/ 50948 w 78"/>
                <a:gd name="T21" fmla="*/ 304 h 67"/>
                <a:gd name="T22" fmla="*/ 271430 w 78"/>
                <a:gd name="T23" fmla="*/ 547 h 67"/>
                <a:gd name="T24" fmla="*/ 620047 w 78"/>
                <a:gd name="T25" fmla="*/ 742 h 67"/>
                <a:gd name="T26" fmla="*/ 978183 w 78"/>
                <a:gd name="T27" fmla="*/ 910 h 67"/>
                <a:gd name="T28" fmla="*/ 1319818 w 78"/>
                <a:gd name="T29" fmla="*/ 1132 h 67"/>
                <a:gd name="T30" fmla="*/ 1607587 w 78"/>
                <a:gd name="T31" fmla="*/ 1299 h 67"/>
                <a:gd name="T32" fmla="*/ 1778832 w 78"/>
                <a:gd name="T33" fmla="*/ 1442 h 67"/>
                <a:gd name="T34" fmla="*/ 1778832 w 78"/>
                <a:gd name="T35" fmla="*/ 1512 h 67"/>
                <a:gd name="T36" fmla="*/ 2148934 w 78"/>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30" y="19"/>
                  </a:lnTo>
                  <a:lnTo>
                    <a:pt x="19" y="11"/>
                  </a:lnTo>
                  <a:lnTo>
                    <a:pt x="14" y="6"/>
                  </a:lnTo>
                  <a:lnTo>
                    <a:pt x="13" y="5"/>
                  </a:lnTo>
                  <a:lnTo>
                    <a:pt x="0" y="0"/>
                  </a:lnTo>
                  <a:lnTo>
                    <a:pt x="2" y="13"/>
                  </a:lnTo>
                  <a:lnTo>
                    <a:pt x="10" y="22"/>
                  </a:lnTo>
                  <a:lnTo>
                    <a:pt x="22" y="30"/>
                  </a:lnTo>
                  <a:lnTo>
                    <a:pt x="35" y="38"/>
                  </a:lnTo>
                  <a:lnTo>
                    <a:pt x="47" y="46"/>
                  </a:lnTo>
                  <a:lnTo>
                    <a:pt x="58" y="53"/>
                  </a:lnTo>
                  <a:lnTo>
                    <a:pt x="64"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7" name="Freeform 16">
              <a:extLst>
                <a:ext uri="{FF2B5EF4-FFF2-40B4-BE49-F238E27FC236}">
                  <a16:creationId xmlns:a16="http://schemas.microsoft.com/office/drawing/2014/main" id="{CBDEBC95-9B3F-0297-173C-54CB5789DEFA}"/>
                </a:ext>
              </a:extLst>
            </p:cNvPr>
            <p:cNvSpPr>
              <a:spLocks/>
            </p:cNvSpPr>
            <p:nvPr/>
          </p:nvSpPr>
          <p:spPr bwMode="auto">
            <a:xfrm>
              <a:off x="3321" y="2366"/>
              <a:ext cx="176" cy="29"/>
            </a:xfrm>
            <a:custGeom>
              <a:avLst/>
              <a:gdLst>
                <a:gd name="T0" fmla="*/ 448956 w 107"/>
                <a:gd name="T1" fmla="*/ 530 h 25"/>
                <a:gd name="T2" fmla="*/ 520021 w 107"/>
                <a:gd name="T3" fmla="*/ 516 h 25"/>
                <a:gd name="T4" fmla="*/ 806439 w 107"/>
                <a:gd name="T5" fmla="*/ 455 h 25"/>
                <a:gd name="T6" fmla="*/ 1274250 w 107"/>
                <a:gd name="T7" fmla="*/ 455 h 25"/>
                <a:gd name="T8" fmla="*/ 1803036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03036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3" y="20"/>
                  </a:lnTo>
                  <a:lnTo>
                    <a:pt x="37" y="20"/>
                  </a:lnTo>
                  <a:lnTo>
                    <a:pt x="52" y="20"/>
                  </a:lnTo>
                  <a:lnTo>
                    <a:pt x="69" y="18"/>
                  </a:lnTo>
                  <a:lnTo>
                    <a:pt x="84" y="18"/>
                  </a:lnTo>
                  <a:lnTo>
                    <a:pt x="97" y="14"/>
                  </a:lnTo>
                  <a:lnTo>
                    <a:pt x="106" y="4"/>
                  </a:lnTo>
                  <a:lnTo>
                    <a:pt x="93" y="0"/>
                  </a:lnTo>
                  <a:lnTo>
                    <a:pt x="90" y="2"/>
                  </a:lnTo>
                  <a:lnTo>
                    <a:pt x="81" y="5"/>
                  </a:lnTo>
                  <a:lnTo>
                    <a:pt x="69" y="5"/>
                  </a:lnTo>
                  <a:lnTo>
                    <a:pt x="52"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8" name="Freeform 17">
              <a:extLst>
                <a:ext uri="{FF2B5EF4-FFF2-40B4-BE49-F238E27FC236}">
                  <a16:creationId xmlns:a16="http://schemas.microsoft.com/office/drawing/2014/main" id="{3DA47E08-3CAD-60EC-FA6C-1979C5203C43}"/>
                </a:ext>
              </a:extLst>
            </p:cNvPr>
            <p:cNvSpPr>
              <a:spLocks/>
            </p:cNvSpPr>
            <p:nvPr/>
          </p:nvSpPr>
          <p:spPr bwMode="auto">
            <a:xfrm>
              <a:off x="3321" y="2390"/>
              <a:ext cx="133" cy="76"/>
            </a:xfrm>
            <a:custGeom>
              <a:avLst/>
              <a:gdLst>
                <a:gd name="T0" fmla="*/ 3407716 w 80"/>
                <a:gd name="T1" fmla="*/ 932 h 67"/>
                <a:gd name="T2" fmla="*/ 3335106 w 80"/>
                <a:gd name="T3" fmla="*/ 740 h 67"/>
                <a:gd name="T4" fmla="*/ 2945860 w 80"/>
                <a:gd name="T5" fmla="*/ 620 h 67"/>
                <a:gd name="T6" fmla="*/ 2476974 w 80"/>
                <a:gd name="T7" fmla="*/ 496 h 67"/>
                <a:gd name="T8" fmla="*/ 1845656 w 80"/>
                <a:gd name="T9" fmla="*/ 385 h 67"/>
                <a:gd name="T10" fmla="*/ 1296454 w 80"/>
                <a:gd name="T11" fmla="*/ 270 h 67"/>
                <a:gd name="T12" fmla="*/ 853740 w 80"/>
                <a:gd name="T13" fmla="*/ 164 h 67"/>
                <a:gd name="T14" fmla="*/ 596282 w 80"/>
                <a:gd name="T15" fmla="*/ 88 h 67"/>
                <a:gd name="T16" fmla="*/ 581923 w 80"/>
                <a:gd name="T17" fmla="*/ 61 h 67"/>
                <a:gd name="T18" fmla="*/ 0 w 80"/>
                <a:gd name="T19" fmla="*/ 0 h 67"/>
                <a:gd name="T20" fmla="*/ 76176 w 80"/>
                <a:gd name="T21" fmla="*/ 185 h 67"/>
                <a:gd name="T22" fmla="*/ 469066 w 80"/>
                <a:gd name="T23" fmla="*/ 306 h 67"/>
                <a:gd name="T24" fmla="*/ 967447 w 80"/>
                <a:gd name="T25" fmla="*/ 437 h 67"/>
                <a:gd name="T26" fmla="*/ 1608381 w 80"/>
                <a:gd name="T27" fmla="*/ 557 h 67"/>
                <a:gd name="T28" fmla="*/ 2103488 w 80"/>
                <a:gd name="T29" fmla="*/ 650 h 67"/>
                <a:gd name="T30" fmla="*/ 2553944 w 80"/>
                <a:gd name="T31" fmla="*/ 741 h 67"/>
                <a:gd name="T32" fmla="*/ 2812677 w 80"/>
                <a:gd name="T33" fmla="*/ 836 h 67"/>
                <a:gd name="T34" fmla="*/ 2862423 w 80"/>
                <a:gd name="T35" fmla="*/ 876 h 67"/>
                <a:gd name="T36" fmla="*/ 3407716 w 80"/>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7"/>
                <a:gd name="T59" fmla="*/ 80 w 80"/>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7">
                  <a:moveTo>
                    <a:pt x="79" y="66"/>
                  </a:moveTo>
                  <a:lnTo>
                    <a:pt x="77" y="53"/>
                  </a:lnTo>
                  <a:lnTo>
                    <a:pt x="68" y="43"/>
                  </a:lnTo>
                  <a:lnTo>
                    <a:pt x="57" y="35"/>
                  </a:lnTo>
                  <a:lnTo>
                    <a:pt x="43" y="27"/>
                  </a:lnTo>
                  <a:lnTo>
                    <a:pt x="30" y="19"/>
                  </a:lnTo>
                  <a:lnTo>
                    <a:pt x="20" y="12"/>
                  </a:lnTo>
                  <a:lnTo>
                    <a:pt x="14" y="7"/>
                  </a:lnTo>
                  <a:lnTo>
                    <a:pt x="13" y="4"/>
                  </a:lnTo>
                  <a:lnTo>
                    <a:pt x="0" y="0"/>
                  </a:lnTo>
                  <a:lnTo>
                    <a:pt x="2" y="13"/>
                  </a:lnTo>
                  <a:lnTo>
                    <a:pt x="11" y="22"/>
                  </a:lnTo>
                  <a:lnTo>
                    <a:pt x="22" y="31"/>
                  </a:lnTo>
                  <a:lnTo>
                    <a:pt x="37" y="39"/>
                  </a:lnTo>
                  <a:lnTo>
                    <a:pt x="49" y="46"/>
                  </a:lnTo>
                  <a:lnTo>
                    <a:pt x="59" y="54"/>
                  </a:lnTo>
                  <a:lnTo>
                    <a:pt x="65" y="59"/>
                  </a:lnTo>
                  <a:lnTo>
                    <a:pt x="66" y="62"/>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39" name="Freeform 18">
              <a:extLst>
                <a:ext uri="{FF2B5EF4-FFF2-40B4-BE49-F238E27FC236}">
                  <a16:creationId xmlns:a16="http://schemas.microsoft.com/office/drawing/2014/main" id="{5EE1CCFD-BD65-6E23-247E-5B9E6B07051E}"/>
                </a:ext>
              </a:extLst>
            </p:cNvPr>
            <p:cNvSpPr>
              <a:spLocks/>
            </p:cNvSpPr>
            <p:nvPr/>
          </p:nvSpPr>
          <p:spPr bwMode="auto">
            <a:xfrm>
              <a:off x="3275" y="2461"/>
              <a:ext cx="179" cy="76"/>
            </a:xfrm>
            <a:custGeom>
              <a:avLst/>
              <a:gdLst>
                <a:gd name="T0" fmla="*/ 0 w 108"/>
                <a:gd name="T1" fmla="*/ 492 h 66"/>
                <a:gd name="T2" fmla="*/ 556841 w 108"/>
                <a:gd name="T3" fmla="*/ 510 h 66"/>
                <a:gd name="T4" fmla="*/ 676721 w 108"/>
                <a:gd name="T5" fmla="*/ 492 h 66"/>
                <a:gd name="T6" fmla="*/ 1005330 w 108"/>
                <a:gd name="T7" fmla="*/ 427 h 66"/>
                <a:gd name="T8" fmla="*/ 1594666 w 108"/>
                <a:gd name="T9" fmla="*/ 415 h 66"/>
                <a:gd name="T10" fmla="*/ 2199267 w 108"/>
                <a:gd name="T11" fmla="*/ 383 h 66"/>
                <a:gd name="T12" fmla="*/ 2830250 w 108"/>
                <a:gd name="T13" fmla="*/ 371 h 66"/>
                <a:gd name="T14" fmla="*/ 3457649 w 108"/>
                <a:gd name="T15" fmla="*/ 360 h 66"/>
                <a:gd name="T16" fmla="*/ 3971546 w 108"/>
                <a:gd name="T17" fmla="*/ 272 h 66"/>
                <a:gd name="T18" fmla="*/ 4325681 w 108"/>
                <a:gd name="T19" fmla="*/ 89 h 66"/>
                <a:gd name="T20" fmla="*/ 3818552 w 108"/>
                <a:gd name="T21" fmla="*/ 0 h 66"/>
                <a:gd name="T22" fmla="*/ 3686323 w 108"/>
                <a:gd name="T23" fmla="*/ 3 h 66"/>
                <a:gd name="T24" fmla="*/ 3320183 w 108"/>
                <a:gd name="T25" fmla="*/ 102 h 66"/>
                <a:gd name="T26" fmla="*/ 2788180 w 108"/>
                <a:gd name="T27" fmla="*/ 117 h 66"/>
                <a:gd name="T28" fmla="*/ 2199267 w 108"/>
                <a:gd name="T29" fmla="*/ 135 h 66"/>
                <a:gd name="T30" fmla="*/ 1488305 w 108"/>
                <a:gd name="T31" fmla="*/ 155 h 66"/>
                <a:gd name="T32" fmla="*/ 881741 w 108"/>
                <a:gd name="T33" fmla="*/ 178 h 66"/>
                <a:gd name="T34" fmla="*/ 408301 w 108"/>
                <a:gd name="T35" fmla="*/ 251 h 66"/>
                <a:gd name="T36" fmla="*/ 42537 w 108"/>
                <a:gd name="T37" fmla="*/ 441 h 66"/>
                <a:gd name="T38" fmla="*/ 606568 w 108"/>
                <a:gd name="T39" fmla="*/ 492 h 66"/>
                <a:gd name="T40" fmla="*/ 0 w 108"/>
                <a:gd name="T41" fmla="*/ 492 h 66"/>
                <a:gd name="T42" fmla="*/ 0 w 108"/>
                <a:gd name="T43" fmla="*/ 1246 h 66"/>
                <a:gd name="T44" fmla="*/ 556841 w 108"/>
                <a:gd name="T45" fmla="*/ 510 h 66"/>
                <a:gd name="T46" fmla="*/ 0 w 108"/>
                <a:gd name="T47" fmla="*/ 492 h 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66"/>
                <a:gd name="T74" fmla="*/ 108 w 108"/>
                <a:gd name="T75" fmla="*/ 66 h 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66">
                  <a:moveTo>
                    <a:pt x="0" y="25"/>
                  </a:moveTo>
                  <a:lnTo>
                    <a:pt x="14" y="27"/>
                  </a:lnTo>
                  <a:lnTo>
                    <a:pt x="17" y="25"/>
                  </a:lnTo>
                  <a:lnTo>
                    <a:pt x="25" y="22"/>
                  </a:lnTo>
                  <a:lnTo>
                    <a:pt x="39" y="21"/>
                  </a:lnTo>
                  <a:lnTo>
                    <a:pt x="54" y="20"/>
                  </a:lnTo>
                  <a:lnTo>
                    <a:pt x="70" y="19"/>
                  </a:lnTo>
                  <a:lnTo>
                    <a:pt x="85" y="18"/>
                  </a:lnTo>
                  <a:lnTo>
                    <a:pt x="98" y="14"/>
                  </a:lnTo>
                  <a:lnTo>
                    <a:pt x="107" y="4"/>
                  </a:lnTo>
                  <a:lnTo>
                    <a:pt x="94" y="0"/>
                  </a:lnTo>
                  <a:lnTo>
                    <a:pt x="91" y="3"/>
                  </a:lnTo>
                  <a:lnTo>
                    <a:pt x="82" y="5"/>
                  </a:lnTo>
                  <a:lnTo>
                    <a:pt x="69" y="6"/>
                  </a:lnTo>
                  <a:lnTo>
                    <a:pt x="54" y="7"/>
                  </a:lnTo>
                  <a:lnTo>
                    <a:pt x="37" y="8"/>
                  </a:lnTo>
                  <a:lnTo>
                    <a:pt x="22" y="9"/>
                  </a:lnTo>
                  <a:lnTo>
                    <a:pt x="10" y="13"/>
                  </a:lnTo>
                  <a:lnTo>
                    <a:pt x="1" y="23"/>
                  </a:lnTo>
                  <a:lnTo>
                    <a:pt x="15" y="25"/>
                  </a:lnTo>
                  <a:lnTo>
                    <a:pt x="0" y="25"/>
                  </a:lnTo>
                  <a:lnTo>
                    <a:pt x="0" y="65"/>
                  </a:lnTo>
                  <a:lnTo>
                    <a:pt x="14" y="27"/>
                  </a:lnTo>
                  <a:lnTo>
                    <a:pt x="0"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0" name="Freeform 19">
              <a:extLst>
                <a:ext uri="{FF2B5EF4-FFF2-40B4-BE49-F238E27FC236}">
                  <a16:creationId xmlns:a16="http://schemas.microsoft.com/office/drawing/2014/main" id="{8799C46F-F443-DF76-25EF-CDFFC4478977}"/>
                </a:ext>
              </a:extLst>
            </p:cNvPr>
            <p:cNvSpPr>
              <a:spLocks/>
            </p:cNvSpPr>
            <p:nvPr/>
          </p:nvSpPr>
          <p:spPr bwMode="auto">
            <a:xfrm>
              <a:off x="3275" y="2444"/>
              <a:ext cx="25" cy="48"/>
            </a:xfrm>
            <a:custGeom>
              <a:avLst/>
              <a:gdLst>
                <a:gd name="T0" fmla="*/ 609953 w 15"/>
                <a:gd name="T1" fmla="*/ 691 h 42"/>
                <a:gd name="T2" fmla="*/ 0 w 15"/>
                <a:gd name="T3" fmla="*/ 637 h 42"/>
                <a:gd name="T4" fmla="*/ 0 w 15"/>
                <a:gd name="T5" fmla="*/ 671 h 42"/>
                <a:gd name="T6" fmla="*/ 621467 w 15"/>
                <a:gd name="T7" fmla="*/ 671 h 42"/>
                <a:gd name="T8" fmla="*/ 621467 w 15"/>
                <a:gd name="T9" fmla="*/ 637 h 42"/>
                <a:gd name="T10" fmla="*/ 0 w 15"/>
                <a:gd name="T11" fmla="*/ 606 h 42"/>
                <a:gd name="T12" fmla="*/ 621467 w 15"/>
                <a:gd name="T13" fmla="*/ 637 h 42"/>
                <a:gd name="T14" fmla="*/ 621467 w 15"/>
                <a:gd name="T15" fmla="*/ 0 h 42"/>
                <a:gd name="T16" fmla="*/ 0 w 15"/>
                <a:gd name="T17" fmla="*/ 606 h 42"/>
                <a:gd name="T18" fmla="*/ 609953 w 15"/>
                <a:gd name="T19" fmla="*/ 69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2"/>
                <a:gd name="T32" fmla="*/ 15 w 1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2">
                  <a:moveTo>
                    <a:pt x="13" y="41"/>
                  </a:moveTo>
                  <a:lnTo>
                    <a:pt x="0" y="39"/>
                  </a:lnTo>
                  <a:lnTo>
                    <a:pt x="0" y="40"/>
                  </a:lnTo>
                  <a:lnTo>
                    <a:pt x="14" y="40"/>
                  </a:lnTo>
                  <a:lnTo>
                    <a:pt x="14" y="39"/>
                  </a:lnTo>
                  <a:lnTo>
                    <a:pt x="0" y="37"/>
                  </a:lnTo>
                  <a:lnTo>
                    <a:pt x="14" y="39"/>
                  </a:lnTo>
                  <a:lnTo>
                    <a:pt x="14" y="0"/>
                  </a:lnTo>
                  <a:lnTo>
                    <a:pt x="0" y="37"/>
                  </a:lnTo>
                  <a:lnTo>
                    <a:pt x="13" y="4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1" name="Freeform 20">
              <a:extLst>
                <a:ext uri="{FF2B5EF4-FFF2-40B4-BE49-F238E27FC236}">
                  <a16:creationId xmlns:a16="http://schemas.microsoft.com/office/drawing/2014/main" id="{3B934EB7-C396-0006-5FD0-22F42A6E062D}"/>
                </a:ext>
              </a:extLst>
            </p:cNvPr>
            <p:cNvSpPr>
              <a:spLocks/>
            </p:cNvSpPr>
            <p:nvPr/>
          </p:nvSpPr>
          <p:spPr bwMode="auto">
            <a:xfrm>
              <a:off x="3278" y="2487"/>
              <a:ext cx="130" cy="75"/>
            </a:xfrm>
            <a:custGeom>
              <a:avLst/>
              <a:gdLst>
                <a:gd name="T0" fmla="*/ 2718437 w 79"/>
                <a:gd name="T1" fmla="*/ 955 h 66"/>
                <a:gd name="T2" fmla="*/ 2654305 w 79"/>
                <a:gd name="T3" fmla="*/ 768 h 66"/>
                <a:gd name="T4" fmla="*/ 2373138 w 79"/>
                <a:gd name="T5" fmla="*/ 648 h 66"/>
                <a:gd name="T6" fmla="*/ 1930358 w 79"/>
                <a:gd name="T7" fmla="*/ 509 h 66"/>
                <a:gd name="T8" fmla="*/ 1468965 w 79"/>
                <a:gd name="T9" fmla="*/ 394 h 66"/>
                <a:gd name="T10" fmla="*/ 1040012 w 79"/>
                <a:gd name="T11" fmla="*/ 302 h 66"/>
                <a:gd name="T12" fmla="*/ 656503 w 79"/>
                <a:gd name="T13" fmla="*/ 191 h 66"/>
                <a:gd name="T14" fmla="*/ 493266 w 79"/>
                <a:gd name="T15" fmla="*/ 88 h 66"/>
                <a:gd name="T16" fmla="*/ 451334 w 79"/>
                <a:gd name="T17" fmla="*/ 3 h 66"/>
                <a:gd name="T18" fmla="*/ 0 w 79"/>
                <a:gd name="T19" fmla="*/ 0 h 66"/>
                <a:gd name="T20" fmla="*/ 61551 w 79"/>
                <a:gd name="T21" fmla="*/ 191 h 66"/>
                <a:gd name="T22" fmla="*/ 339473 w 79"/>
                <a:gd name="T23" fmla="*/ 343 h 66"/>
                <a:gd name="T24" fmla="*/ 760939 w 79"/>
                <a:gd name="T25" fmla="*/ 448 h 66"/>
                <a:gd name="T26" fmla="*/ 1252178 w 79"/>
                <a:gd name="T27" fmla="*/ 572 h 66"/>
                <a:gd name="T28" fmla="*/ 1711412 w 79"/>
                <a:gd name="T29" fmla="*/ 665 h 66"/>
                <a:gd name="T30" fmla="*/ 2060546 w 79"/>
                <a:gd name="T31" fmla="*/ 768 h 66"/>
                <a:gd name="T32" fmla="*/ 2231208 w 79"/>
                <a:gd name="T33" fmla="*/ 859 h 66"/>
                <a:gd name="T34" fmla="*/ 2269433 w 79"/>
                <a:gd name="T35" fmla="*/ 891 h 66"/>
                <a:gd name="T36" fmla="*/ 2718437 w 79"/>
                <a:gd name="T37" fmla="*/ 95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20"/>
                  </a:lnTo>
                  <a:lnTo>
                    <a:pt x="19" y="13"/>
                  </a:lnTo>
                  <a:lnTo>
                    <a:pt x="14" y="6"/>
                  </a:lnTo>
                  <a:lnTo>
                    <a:pt x="13" y="3"/>
                  </a:lnTo>
                  <a:lnTo>
                    <a:pt x="0" y="0"/>
                  </a:lnTo>
                  <a:lnTo>
                    <a:pt x="2" y="13"/>
                  </a:lnTo>
                  <a:lnTo>
                    <a:pt x="10" y="23"/>
                  </a:lnTo>
                  <a:lnTo>
                    <a:pt x="22" y="31"/>
                  </a:lnTo>
                  <a:lnTo>
                    <a:pt x="36" y="39"/>
                  </a:lnTo>
                  <a:lnTo>
                    <a:pt x="49" y="46"/>
                  </a:lnTo>
                  <a:lnTo>
                    <a:pt x="59" y="53"/>
                  </a:lnTo>
                  <a:lnTo>
                    <a:pt x="64"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2" name="Freeform 21">
              <a:extLst>
                <a:ext uri="{FF2B5EF4-FFF2-40B4-BE49-F238E27FC236}">
                  <a16:creationId xmlns:a16="http://schemas.microsoft.com/office/drawing/2014/main" id="{22F227C4-3689-D475-BCD6-293D86C12F20}"/>
                </a:ext>
              </a:extLst>
            </p:cNvPr>
            <p:cNvSpPr>
              <a:spLocks/>
            </p:cNvSpPr>
            <p:nvPr/>
          </p:nvSpPr>
          <p:spPr bwMode="auto">
            <a:xfrm>
              <a:off x="3232" y="255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445 h 25"/>
                <a:gd name="T10" fmla="*/ 2374059 w 107"/>
                <a:gd name="T11" fmla="*/ 394 h 25"/>
                <a:gd name="T12" fmla="*/ 2899460 w 107"/>
                <a:gd name="T13" fmla="*/ 392 h 25"/>
                <a:gd name="T14" fmla="*/ 3324719 w 107"/>
                <a:gd name="T15" fmla="*/ 291 h 25"/>
                <a:gd name="T16" fmla="*/ 3649694 w 107"/>
                <a:gd name="T17" fmla="*/ 101 h 25"/>
                <a:gd name="T18" fmla="*/ 3223782 w 107"/>
                <a:gd name="T19" fmla="*/ 0 h 25"/>
                <a:gd name="T20" fmla="*/ 3107351 w 107"/>
                <a:gd name="T21" fmla="*/ 2 h 25"/>
                <a:gd name="T22" fmla="*/ 2833329 w 107"/>
                <a:gd name="T23" fmla="*/ 101 h 25"/>
                <a:gd name="T24" fmla="*/ 2374059 w 107"/>
                <a:gd name="T25" fmla="*/ 117 h 25"/>
                <a:gd name="T26" fmla="*/ 1829721 w 107"/>
                <a:gd name="T27" fmla="*/ 101 h 25"/>
                <a:gd name="T28" fmla="*/ 1274250 w 107"/>
                <a:gd name="T29" fmla="*/ 117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9"/>
                  </a:lnTo>
                  <a:lnTo>
                    <a:pt x="69" y="18"/>
                  </a:lnTo>
                  <a:lnTo>
                    <a:pt x="84" y="17"/>
                  </a:lnTo>
                  <a:lnTo>
                    <a:pt x="96" y="13"/>
                  </a:lnTo>
                  <a:lnTo>
                    <a:pt x="106" y="4"/>
                  </a:lnTo>
                  <a:lnTo>
                    <a:pt x="93" y="0"/>
                  </a:lnTo>
                  <a:lnTo>
                    <a:pt x="90" y="2"/>
                  </a:lnTo>
                  <a:lnTo>
                    <a:pt x="82" y="4"/>
                  </a:lnTo>
                  <a:lnTo>
                    <a:pt x="69" y="5"/>
                  </a:lnTo>
                  <a:lnTo>
                    <a:pt x="53" y="4"/>
                  </a:lnTo>
                  <a:lnTo>
                    <a:pt x="37"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3" name="Freeform 22">
              <a:extLst>
                <a:ext uri="{FF2B5EF4-FFF2-40B4-BE49-F238E27FC236}">
                  <a16:creationId xmlns:a16="http://schemas.microsoft.com/office/drawing/2014/main" id="{69CC7842-81B4-13C5-F7FC-5EA6BD217F63}"/>
                </a:ext>
              </a:extLst>
            </p:cNvPr>
            <p:cNvSpPr>
              <a:spLocks/>
            </p:cNvSpPr>
            <p:nvPr/>
          </p:nvSpPr>
          <p:spPr bwMode="auto">
            <a:xfrm>
              <a:off x="3232" y="2580"/>
              <a:ext cx="131" cy="78"/>
            </a:xfrm>
            <a:custGeom>
              <a:avLst/>
              <a:gdLst>
                <a:gd name="T0" fmla="*/ 2480706 w 80"/>
                <a:gd name="T1" fmla="*/ 1621 h 67"/>
                <a:gd name="T2" fmla="*/ 2480706 w 80"/>
                <a:gd name="T3" fmla="*/ 1587 h 67"/>
                <a:gd name="T4" fmla="*/ 2415525 w 80"/>
                <a:gd name="T5" fmla="*/ 1299 h 67"/>
                <a:gd name="T6" fmla="*/ 2134954 w 80"/>
                <a:gd name="T7" fmla="*/ 1056 h 67"/>
                <a:gd name="T8" fmla="*/ 1769243 w 80"/>
                <a:gd name="T9" fmla="*/ 864 h 67"/>
                <a:gd name="T10" fmla="*/ 1325320 w 80"/>
                <a:gd name="T11" fmla="*/ 672 h 67"/>
                <a:gd name="T12" fmla="*/ 939702 w 80"/>
                <a:gd name="T13" fmla="*/ 480 h 67"/>
                <a:gd name="T14" fmla="*/ 630154 w 80"/>
                <a:gd name="T15" fmla="*/ 304 h 67"/>
                <a:gd name="T16" fmla="*/ 445495 w 80"/>
                <a:gd name="T17" fmla="*/ 139 h 67"/>
                <a:gd name="T18" fmla="*/ 402943 w 80"/>
                <a:gd name="T19" fmla="*/ 102 h 67"/>
                <a:gd name="T20" fmla="*/ 0 w 80"/>
                <a:gd name="T21" fmla="*/ 0 h 67"/>
                <a:gd name="T22" fmla="*/ 56043 w 80"/>
                <a:gd name="T23" fmla="*/ 304 h 67"/>
                <a:gd name="T24" fmla="*/ 335959 w 80"/>
                <a:gd name="T25" fmla="*/ 559 h 67"/>
                <a:gd name="T26" fmla="*/ 695772 w 80"/>
                <a:gd name="T27" fmla="*/ 779 h 67"/>
                <a:gd name="T28" fmla="*/ 1139327 w 80"/>
                <a:gd name="T29" fmla="*/ 984 h 67"/>
                <a:gd name="T30" fmla="*/ 1571389 w 80"/>
                <a:gd name="T31" fmla="*/ 1146 h 67"/>
                <a:gd name="T32" fmla="*/ 1865648 w 80"/>
                <a:gd name="T33" fmla="*/ 1318 h 67"/>
                <a:gd name="T34" fmla="*/ 2045165 w 80"/>
                <a:gd name="T35" fmla="*/ 1442 h 67"/>
                <a:gd name="T36" fmla="*/ 2079299 w 80"/>
                <a:gd name="T37" fmla="*/ 1512 h 67"/>
                <a:gd name="T38" fmla="*/ 2079299 w 80"/>
                <a:gd name="T39" fmla="*/ 1501 h 67"/>
                <a:gd name="T40" fmla="*/ 2480706 w 80"/>
                <a:gd name="T41" fmla="*/ 1621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1" y="23"/>
                  </a:lnTo>
                  <a:lnTo>
                    <a:pt x="22" y="32"/>
                  </a:lnTo>
                  <a:lnTo>
                    <a:pt x="36" y="40"/>
                  </a:lnTo>
                  <a:lnTo>
                    <a:pt x="50"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4" name="Freeform 23">
              <a:extLst>
                <a:ext uri="{FF2B5EF4-FFF2-40B4-BE49-F238E27FC236}">
                  <a16:creationId xmlns:a16="http://schemas.microsoft.com/office/drawing/2014/main" id="{EFF37DBC-C013-AF25-A64B-8B4D65FBC966}"/>
                </a:ext>
              </a:extLst>
            </p:cNvPr>
            <p:cNvSpPr>
              <a:spLocks/>
            </p:cNvSpPr>
            <p:nvPr/>
          </p:nvSpPr>
          <p:spPr bwMode="auto">
            <a:xfrm>
              <a:off x="3187" y="2650"/>
              <a:ext cx="176" cy="25"/>
            </a:xfrm>
            <a:custGeom>
              <a:avLst/>
              <a:gdLst>
                <a:gd name="T0" fmla="*/ 490278 w 107"/>
                <a:gd name="T1" fmla="*/ 714 h 21"/>
                <a:gd name="T2" fmla="*/ 448956 w 107"/>
                <a:gd name="T3" fmla="*/ 813 h 21"/>
                <a:gd name="T4" fmla="*/ 520021 w 107"/>
                <a:gd name="T5" fmla="*/ 813 h 21"/>
                <a:gd name="T6" fmla="*/ 806439 w 107"/>
                <a:gd name="T7" fmla="*/ 714 h 21"/>
                <a:gd name="T8" fmla="*/ 1274250 w 107"/>
                <a:gd name="T9" fmla="*/ 714 h 21"/>
                <a:gd name="T10" fmla="*/ 1803036 w 107"/>
                <a:gd name="T11" fmla="*/ 727 h 21"/>
                <a:gd name="T12" fmla="*/ 2351955 w 107"/>
                <a:gd name="T13" fmla="*/ 714 h 21"/>
                <a:gd name="T14" fmla="*/ 2899460 w 107"/>
                <a:gd name="T15" fmla="*/ 683 h 21"/>
                <a:gd name="T16" fmla="*/ 3361858 w 107"/>
                <a:gd name="T17" fmla="*/ 574 h 21"/>
                <a:gd name="T18" fmla="*/ 3649694 w 107"/>
                <a:gd name="T19" fmla="*/ 202 h 21"/>
                <a:gd name="T20" fmla="*/ 3223782 w 107"/>
                <a:gd name="T21" fmla="*/ 0 h 21"/>
                <a:gd name="T22" fmla="*/ 3107351 w 107"/>
                <a:gd name="T23" fmla="*/ 143 h 21"/>
                <a:gd name="T24" fmla="*/ 2796262 w 107"/>
                <a:gd name="T25" fmla="*/ 170 h 21"/>
                <a:gd name="T26" fmla="*/ 2351955 w 107"/>
                <a:gd name="T27" fmla="*/ 240 h 21"/>
                <a:gd name="T28" fmla="*/ 1803036 w 107"/>
                <a:gd name="T29" fmla="*/ 202 h 21"/>
                <a:gd name="T30" fmla="*/ 1274250 w 107"/>
                <a:gd name="T31" fmla="*/ 170 h 21"/>
                <a:gd name="T32" fmla="*/ 755427 w 107"/>
                <a:gd name="T33" fmla="*/ 240 h 21"/>
                <a:gd name="T34" fmla="*/ 335377 w 107"/>
                <a:gd name="T35" fmla="*/ 340 h 21"/>
                <a:gd name="T36" fmla="*/ 37287 w 107"/>
                <a:gd name="T37" fmla="*/ 611 h 21"/>
                <a:gd name="T38" fmla="*/ 0 w 107"/>
                <a:gd name="T39" fmla="*/ 714 h 21"/>
                <a:gd name="T40" fmla="*/ 37287 w 107"/>
                <a:gd name="T41" fmla="*/ 611 h 21"/>
                <a:gd name="T42" fmla="*/ 0 w 107"/>
                <a:gd name="T43" fmla="*/ 611 h 21"/>
                <a:gd name="T44" fmla="*/ 0 w 107"/>
                <a:gd name="T45" fmla="*/ 714 h 21"/>
                <a:gd name="T46" fmla="*/ 490278 w 107"/>
                <a:gd name="T47" fmla="*/ 714 h 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7"/>
                <a:gd name="T73" fmla="*/ 0 h 21"/>
                <a:gd name="T74" fmla="*/ 107 w 107"/>
                <a:gd name="T75" fmla="*/ 21 h 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7" h="21">
                  <a:moveTo>
                    <a:pt x="14" y="18"/>
                  </a:moveTo>
                  <a:lnTo>
                    <a:pt x="13" y="20"/>
                  </a:lnTo>
                  <a:lnTo>
                    <a:pt x="15" y="20"/>
                  </a:lnTo>
                  <a:lnTo>
                    <a:pt x="23" y="18"/>
                  </a:lnTo>
                  <a:lnTo>
                    <a:pt x="37" y="18"/>
                  </a:lnTo>
                  <a:lnTo>
                    <a:pt x="52" y="19"/>
                  </a:lnTo>
                  <a:lnTo>
                    <a:pt x="68" y="18"/>
                  </a:lnTo>
                  <a:lnTo>
                    <a:pt x="84" y="17"/>
                  </a:lnTo>
                  <a:lnTo>
                    <a:pt x="97" y="14"/>
                  </a:lnTo>
                  <a:lnTo>
                    <a:pt x="106" y="5"/>
                  </a:lnTo>
                  <a:lnTo>
                    <a:pt x="93" y="0"/>
                  </a:lnTo>
                  <a:lnTo>
                    <a:pt x="90" y="3"/>
                  </a:lnTo>
                  <a:lnTo>
                    <a:pt x="81" y="4"/>
                  </a:lnTo>
                  <a:lnTo>
                    <a:pt x="68" y="6"/>
                  </a:lnTo>
                  <a:lnTo>
                    <a:pt x="52" y="5"/>
                  </a:lnTo>
                  <a:lnTo>
                    <a:pt x="37" y="4"/>
                  </a:lnTo>
                  <a:lnTo>
                    <a:pt x="22" y="6"/>
                  </a:lnTo>
                  <a:lnTo>
                    <a:pt x="10" y="8"/>
                  </a:lnTo>
                  <a:lnTo>
                    <a:pt x="1" y="16"/>
                  </a:lnTo>
                  <a:lnTo>
                    <a:pt x="0" y="18"/>
                  </a:lnTo>
                  <a:lnTo>
                    <a:pt x="1" y="16"/>
                  </a:lnTo>
                  <a:lnTo>
                    <a:pt x="0" y="16"/>
                  </a:lnTo>
                  <a:lnTo>
                    <a:pt x="0" y="18"/>
                  </a:lnTo>
                  <a:lnTo>
                    <a:pt x="14" y="1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5" name="Freeform 24">
              <a:extLst>
                <a:ext uri="{FF2B5EF4-FFF2-40B4-BE49-F238E27FC236}">
                  <a16:creationId xmlns:a16="http://schemas.microsoft.com/office/drawing/2014/main" id="{A14E6505-5503-57DA-4468-E1E346473540}"/>
                </a:ext>
              </a:extLst>
            </p:cNvPr>
            <p:cNvSpPr>
              <a:spLocks/>
            </p:cNvSpPr>
            <p:nvPr/>
          </p:nvSpPr>
          <p:spPr bwMode="auto">
            <a:xfrm>
              <a:off x="3187" y="2671"/>
              <a:ext cx="24" cy="6"/>
            </a:xfrm>
            <a:custGeom>
              <a:avLst/>
              <a:gdLst>
                <a:gd name="T0" fmla="*/ 255066 w 15"/>
                <a:gd name="T1" fmla="*/ 5 h 6"/>
                <a:gd name="T2" fmla="*/ 265134 w 15"/>
                <a:gd name="T3" fmla="*/ 2 h 6"/>
                <a:gd name="T4" fmla="*/ 265134 w 15"/>
                <a:gd name="T5" fmla="*/ 1 h 6"/>
                <a:gd name="T6" fmla="*/ 0 w 15"/>
                <a:gd name="T7" fmla="*/ 1 h 6"/>
                <a:gd name="T8" fmla="*/ 0 w 15"/>
                <a:gd name="T9" fmla="*/ 2 h 6"/>
                <a:gd name="T10" fmla="*/ 24325 w 15"/>
                <a:gd name="T11" fmla="*/ 0 h 6"/>
                <a:gd name="T12" fmla="*/ 255066 w 15"/>
                <a:gd name="T13" fmla="*/ 5 h 6"/>
                <a:gd name="T14" fmla="*/ 265134 w 15"/>
                <a:gd name="T15" fmla="*/ 4 h 6"/>
                <a:gd name="T16" fmla="*/ 265134 w 15"/>
                <a:gd name="T17" fmla="*/ 2 h 6"/>
                <a:gd name="T18" fmla="*/ 255066 w 15"/>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6"/>
                <a:gd name="T32" fmla="*/ 15 w 1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6">
                  <a:moveTo>
                    <a:pt x="13" y="5"/>
                  </a:moveTo>
                  <a:lnTo>
                    <a:pt x="14" y="2"/>
                  </a:lnTo>
                  <a:lnTo>
                    <a:pt x="14" y="1"/>
                  </a:lnTo>
                  <a:lnTo>
                    <a:pt x="0" y="1"/>
                  </a:lnTo>
                  <a:lnTo>
                    <a:pt x="0" y="2"/>
                  </a:lnTo>
                  <a:lnTo>
                    <a:pt x="1"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6" name="Freeform 25">
              <a:extLst>
                <a:ext uri="{FF2B5EF4-FFF2-40B4-BE49-F238E27FC236}">
                  <a16:creationId xmlns:a16="http://schemas.microsoft.com/office/drawing/2014/main" id="{BE32BA3E-8ED8-796A-6F2E-95EEA9820D9E}"/>
                </a:ext>
              </a:extLst>
            </p:cNvPr>
            <p:cNvSpPr>
              <a:spLocks/>
            </p:cNvSpPr>
            <p:nvPr/>
          </p:nvSpPr>
          <p:spPr bwMode="auto">
            <a:xfrm>
              <a:off x="3189" y="2671"/>
              <a:ext cx="128" cy="76"/>
            </a:xfrm>
            <a:custGeom>
              <a:avLst/>
              <a:gdLst>
                <a:gd name="T0" fmla="*/ 2532882 w 78"/>
                <a:gd name="T1" fmla="*/ 932 h 67"/>
                <a:gd name="T2" fmla="*/ 2464373 w 78"/>
                <a:gd name="T3" fmla="*/ 740 h 67"/>
                <a:gd name="T4" fmla="*/ 2209400 w 78"/>
                <a:gd name="T5" fmla="*/ 620 h 67"/>
                <a:gd name="T6" fmla="*/ 1812188 w 78"/>
                <a:gd name="T7" fmla="*/ 491 h 67"/>
                <a:gd name="T8" fmla="*/ 1380721 w 78"/>
                <a:gd name="T9" fmla="*/ 348 h 67"/>
                <a:gd name="T10" fmla="*/ 967606 w 78"/>
                <a:gd name="T11" fmla="*/ 270 h 67"/>
                <a:gd name="T12" fmla="*/ 625104 w 78"/>
                <a:gd name="T13" fmla="*/ 164 h 67"/>
                <a:gd name="T14" fmla="*/ 418066 w 78"/>
                <a:gd name="T15" fmla="*/ 78 h 67"/>
                <a:gd name="T16" fmla="*/ 405022 w 78"/>
                <a:gd name="T17" fmla="*/ 69 h 67"/>
                <a:gd name="T18" fmla="*/ 0 w 78"/>
                <a:gd name="T19" fmla="*/ 0 h 67"/>
                <a:gd name="T20" fmla="*/ 35129 w 78"/>
                <a:gd name="T21" fmla="*/ 185 h 67"/>
                <a:gd name="T22" fmla="*/ 323513 w 78"/>
                <a:gd name="T23" fmla="*/ 306 h 67"/>
                <a:gd name="T24" fmla="*/ 720891 w 78"/>
                <a:gd name="T25" fmla="*/ 433 h 67"/>
                <a:gd name="T26" fmla="*/ 1148299 w 78"/>
                <a:gd name="T27" fmla="*/ 547 h 67"/>
                <a:gd name="T28" fmla="*/ 1587866 w 78"/>
                <a:gd name="T29" fmla="*/ 650 h 67"/>
                <a:gd name="T30" fmla="*/ 1906471 w 78"/>
                <a:gd name="T31" fmla="*/ 740 h 67"/>
                <a:gd name="T32" fmla="*/ 2066934 w 78"/>
                <a:gd name="T33" fmla="*/ 839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5" y="53"/>
                  </a:lnTo>
                  <a:lnTo>
                    <a:pt x="67" y="43"/>
                  </a:lnTo>
                  <a:lnTo>
                    <a:pt x="55" y="34"/>
                  </a:lnTo>
                  <a:lnTo>
                    <a:pt x="42" y="26"/>
                  </a:lnTo>
                  <a:lnTo>
                    <a:pt x="29" y="19"/>
                  </a:lnTo>
                  <a:lnTo>
                    <a:pt x="19" y="12"/>
                  </a:lnTo>
                  <a:lnTo>
                    <a:pt x="13" y="6"/>
                  </a:lnTo>
                  <a:lnTo>
                    <a:pt x="12" y="5"/>
                  </a:lnTo>
                  <a:lnTo>
                    <a:pt x="0" y="0"/>
                  </a:lnTo>
                  <a:lnTo>
                    <a:pt x="1" y="13"/>
                  </a:lnTo>
                  <a:lnTo>
                    <a:pt x="10" y="22"/>
                  </a:lnTo>
                  <a:lnTo>
                    <a:pt x="22" y="30"/>
                  </a:lnTo>
                  <a:lnTo>
                    <a:pt x="35" y="38"/>
                  </a:lnTo>
                  <a:lnTo>
                    <a:pt x="48" y="46"/>
                  </a:lnTo>
                  <a:lnTo>
                    <a:pt x="58" y="53"/>
                  </a:lnTo>
                  <a:lnTo>
                    <a:pt x="63" y="60"/>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7" name="Freeform 26">
              <a:extLst>
                <a:ext uri="{FF2B5EF4-FFF2-40B4-BE49-F238E27FC236}">
                  <a16:creationId xmlns:a16="http://schemas.microsoft.com/office/drawing/2014/main" id="{925CF317-D5D9-0AA8-CDD1-7C9BFFA0E537}"/>
                </a:ext>
              </a:extLst>
            </p:cNvPr>
            <p:cNvSpPr>
              <a:spLocks/>
            </p:cNvSpPr>
            <p:nvPr/>
          </p:nvSpPr>
          <p:spPr bwMode="auto">
            <a:xfrm>
              <a:off x="3141" y="2742"/>
              <a:ext cx="176" cy="29"/>
            </a:xfrm>
            <a:custGeom>
              <a:avLst/>
              <a:gdLst>
                <a:gd name="T0" fmla="*/ 448956 w 107"/>
                <a:gd name="T1" fmla="*/ 530 h 25"/>
                <a:gd name="T2" fmla="*/ 520021 w 107"/>
                <a:gd name="T3" fmla="*/ 516 h 25"/>
                <a:gd name="T4" fmla="*/ 818282 w 107"/>
                <a:gd name="T5" fmla="*/ 455 h 25"/>
                <a:gd name="T6" fmla="*/ 1274250 w 107"/>
                <a:gd name="T7" fmla="*/ 445 h 25"/>
                <a:gd name="T8" fmla="*/ 1829721 w 107"/>
                <a:gd name="T9" fmla="*/ 445 h 25"/>
                <a:gd name="T10" fmla="*/ 2374059 w 107"/>
                <a:gd name="T11" fmla="*/ 445 h 25"/>
                <a:gd name="T12" fmla="*/ 2899460 w 107"/>
                <a:gd name="T13" fmla="*/ 392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36 h 25"/>
                <a:gd name="T26" fmla="*/ 1829721 w 107"/>
                <a:gd name="T27" fmla="*/ 117 h 25"/>
                <a:gd name="T28" fmla="*/ 1274250 w 107"/>
                <a:gd name="T29" fmla="*/ 136 h 25"/>
                <a:gd name="T30" fmla="*/ 738470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20"/>
                  </a:lnTo>
                  <a:lnTo>
                    <a:pt x="37" y="19"/>
                  </a:lnTo>
                  <a:lnTo>
                    <a:pt x="53" y="19"/>
                  </a:lnTo>
                  <a:lnTo>
                    <a:pt x="69" y="19"/>
                  </a:lnTo>
                  <a:lnTo>
                    <a:pt x="84" y="17"/>
                  </a:lnTo>
                  <a:lnTo>
                    <a:pt x="97" y="13"/>
                  </a:lnTo>
                  <a:lnTo>
                    <a:pt x="106" y="4"/>
                  </a:lnTo>
                  <a:lnTo>
                    <a:pt x="93" y="0"/>
                  </a:lnTo>
                  <a:lnTo>
                    <a:pt x="91" y="2"/>
                  </a:lnTo>
                  <a:lnTo>
                    <a:pt x="82" y="4"/>
                  </a:lnTo>
                  <a:lnTo>
                    <a:pt x="69" y="6"/>
                  </a:lnTo>
                  <a:lnTo>
                    <a:pt x="53" y="5"/>
                  </a:lnTo>
                  <a:lnTo>
                    <a:pt x="37" y="6"/>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8" name="Freeform 27">
              <a:extLst>
                <a:ext uri="{FF2B5EF4-FFF2-40B4-BE49-F238E27FC236}">
                  <a16:creationId xmlns:a16="http://schemas.microsoft.com/office/drawing/2014/main" id="{37032F86-F6EB-7106-58B5-23C3D996E336}"/>
                </a:ext>
              </a:extLst>
            </p:cNvPr>
            <p:cNvSpPr>
              <a:spLocks/>
            </p:cNvSpPr>
            <p:nvPr/>
          </p:nvSpPr>
          <p:spPr bwMode="auto">
            <a:xfrm>
              <a:off x="3141" y="2764"/>
              <a:ext cx="130" cy="77"/>
            </a:xfrm>
            <a:custGeom>
              <a:avLst/>
              <a:gdLst>
                <a:gd name="T0" fmla="*/ 2718437 w 79"/>
                <a:gd name="T1" fmla="*/ 1675 h 66"/>
                <a:gd name="T2" fmla="*/ 2654305 w 79"/>
                <a:gd name="T3" fmla="*/ 1341 h 66"/>
                <a:gd name="T4" fmla="*/ 2373138 w 79"/>
                <a:gd name="T5" fmla="*/ 1075 h 66"/>
                <a:gd name="T6" fmla="*/ 1939821 w 79"/>
                <a:gd name="T7" fmla="*/ 889 h 66"/>
                <a:gd name="T8" fmla="*/ 1512703 w 79"/>
                <a:gd name="T9" fmla="*/ 664 h 66"/>
                <a:gd name="T10" fmla="*/ 1017350 w 79"/>
                <a:gd name="T11" fmla="*/ 470 h 66"/>
                <a:gd name="T12" fmla="*/ 656503 w 79"/>
                <a:gd name="T13" fmla="*/ 307 h 66"/>
                <a:gd name="T14" fmla="*/ 451334 w 79"/>
                <a:gd name="T15" fmla="*/ 141 h 66"/>
                <a:gd name="T16" fmla="*/ 451334 w 79"/>
                <a:gd name="T17" fmla="*/ 120 h 66"/>
                <a:gd name="T18" fmla="*/ 0 w 79"/>
                <a:gd name="T19" fmla="*/ 0 h 66"/>
                <a:gd name="T20" fmla="*/ 61551 w 79"/>
                <a:gd name="T21" fmla="*/ 307 h 66"/>
                <a:gd name="T22" fmla="*/ 339473 w 79"/>
                <a:gd name="T23" fmla="*/ 569 h 66"/>
                <a:gd name="T24" fmla="*/ 811704 w 79"/>
                <a:gd name="T25" fmla="*/ 775 h 66"/>
                <a:gd name="T26" fmla="*/ 1252178 w 79"/>
                <a:gd name="T27" fmla="*/ 930 h 66"/>
                <a:gd name="T28" fmla="*/ 1674120 w 79"/>
                <a:gd name="T29" fmla="*/ 1149 h 66"/>
                <a:gd name="T30" fmla="*/ 2060546 w 79"/>
                <a:gd name="T31" fmla="*/ 1341 h 66"/>
                <a:gd name="T32" fmla="*/ 2269433 w 79"/>
                <a:gd name="T33" fmla="*/ 1477 h 66"/>
                <a:gd name="T34" fmla="*/ 2269433 w 79"/>
                <a:gd name="T35" fmla="*/ 1565 h 66"/>
                <a:gd name="T36" fmla="*/ 2718437 w 79"/>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2"/>
                  </a:lnTo>
                  <a:lnTo>
                    <a:pt x="56" y="34"/>
                  </a:lnTo>
                  <a:lnTo>
                    <a:pt x="43" y="26"/>
                  </a:lnTo>
                  <a:lnTo>
                    <a:pt x="29" y="18"/>
                  </a:lnTo>
                  <a:lnTo>
                    <a:pt x="19" y="12"/>
                  </a:lnTo>
                  <a:lnTo>
                    <a:pt x="13" y="6"/>
                  </a:lnTo>
                  <a:lnTo>
                    <a:pt x="13" y="4"/>
                  </a:lnTo>
                  <a:lnTo>
                    <a:pt x="0" y="0"/>
                  </a:lnTo>
                  <a:lnTo>
                    <a:pt x="2" y="12"/>
                  </a:lnTo>
                  <a:lnTo>
                    <a:pt x="10" y="22"/>
                  </a:lnTo>
                  <a:lnTo>
                    <a:pt x="23" y="30"/>
                  </a:lnTo>
                  <a:lnTo>
                    <a:pt x="36" y="37"/>
                  </a:lnTo>
                  <a:lnTo>
                    <a:pt x="48" y="45"/>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49" name="Freeform 28">
              <a:extLst>
                <a:ext uri="{FF2B5EF4-FFF2-40B4-BE49-F238E27FC236}">
                  <a16:creationId xmlns:a16="http://schemas.microsoft.com/office/drawing/2014/main" id="{97A42F4E-93F2-4BC9-4F36-BEF3F4A906F2}"/>
                </a:ext>
              </a:extLst>
            </p:cNvPr>
            <p:cNvSpPr>
              <a:spLocks/>
            </p:cNvSpPr>
            <p:nvPr/>
          </p:nvSpPr>
          <p:spPr bwMode="auto">
            <a:xfrm>
              <a:off x="3095" y="2835"/>
              <a:ext cx="176" cy="29"/>
            </a:xfrm>
            <a:custGeom>
              <a:avLst/>
              <a:gdLst>
                <a:gd name="T0" fmla="*/ 448956 w 107"/>
                <a:gd name="T1" fmla="*/ 254 h 26"/>
                <a:gd name="T2" fmla="*/ 520021 w 107"/>
                <a:gd name="T3" fmla="*/ 229 h 26"/>
                <a:gd name="T4" fmla="*/ 85536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56192 w 107"/>
                <a:gd name="T21" fmla="*/ 2 h 26"/>
                <a:gd name="T22" fmla="*/ 2833329 w 107"/>
                <a:gd name="T23" fmla="*/ 56 h 26"/>
                <a:gd name="T24" fmla="*/ 2374059 w 107"/>
                <a:gd name="T25" fmla="*/ 62 h 26"/>
                <a:gd name="T26" fmla="*/ 1829721 w 107"/>
                <a:gd name="T27" fmla="*/ 62 h 26"/>
                <a:gd name="T28" fmla="*/ 1274250 w 107"/>
                <a:gd name="T29" fmla="*/ 62 h 26"/>
                <a:gd name="T30" fmla="*/ 755427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5" y="21"/>
                  </a:lnTo>
                  <a:lnTo>
                    <a:pt x="37" y="19"/>
                  </a:lnTo>
                  <a:lnTo>
                    <a:pt x="53" y="20"/>
                  </a:lnTo>
                  <a:lnTo>
                    <a:pt x="69" y="19"/>
                  </a:lnTo>
                  <a:lnTo>
                    <a:pt x="84" y="18"/>
                  </a:lnTo>
                  <a:lnTo>
                    <a:pt x="97" y="14"/>
                  </a:lnTo>
                  <a:lnTo>
                    <a:pt x="106" y="4"/>
                  </a:lnTo>
                  <a:lnTo>
                    <a:pt x="93" y="0"/>
                  </a:lnTo>
                  <a:lnTo>
                    <a:pt x="91" y="2"/>
                  </a:lnTo>
                  <a:lnTo>
                    <a:pt x="82" y="5"/>
                  </a:lnTo>
                  <a:lnTo>
                    <a:pt x="69" y="6"/>
                  </a:lnTo>
                  <a:lnTo>
                    <a:pt x="53" y="6"/>
                  </a:lnTo>
                  <a:lnTo>
                    <a:pt x="37" y="6"/>
                  </a:lnTo>
                  <a:lnTo>
                    <a:pt x="22"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0" name="Freeform 29">
              <a:extLst>
                <a:ext uri="{FF2B5EF4-FFF2-40B4-BE49-F238E27FC236}">
                  <a16:creationId xmlns:a16="http://schemas.microsoft.com/office/drawing/2014/main" id="{8A81F6D0-386A-937A-066F-5A23D087237C}"/>
                </a:ext>
              </a:extLst>
            </p:cNvPr>
            <p:cNvSpPr>
              <a:spLocks/>
            </p:cNvSpPr>
            <p:nvPr/>
          </p:nvSpPr>
          <p:spPr bwMode="auto">
            <a:xfrm>
              <a:off x="3095" y="2859"/>
              <a:ext cx="132" cy="115"/>
            </a:xfrm>
            <a:custGeom>
              <a:avLst/>
              <a:gdLst>
                <a:gd name="T0" fmla="*/ 2480000 w 80"/>
                <a:gd name="T1" fmla="*/ 1061 h 100"/>
                <a:gd name="T2" fmla="*/ 2918860 w 80"/>
                <a:gd name="T3" fmla="*/ 1143 h 100"/>
                <a:gd name="T4" fmla="*/ 2882474 w 80"/>
                <a:gd name="T5" fmla="*/ 890 h 100"/>
                <a:gd name="T6" fmla="*/ 2549819 w 80"/>
                <a:gd name="T7" fmla="*/ 747 h 100"/>
                <a:gd name="T8" fmla="*/ 2062134 w 80"/>
                <a:gd name="T9" fmla="*/ 580 h 100"/>
                <a:gd name="T10" fmla="*/ 1584345 w 80"/>
                <a:gd name="T11" fmla="*/ 459 h 100"/>
                <a:gd name="T12" fmla="*/ 1100611 w 80"/>
                <a:gd name="T13" fmla="*/ 325 h 100"/>
                <a:gd name="T14" fmla="*/ 692147 w 80"/>
                <a:gd name="T15" fmla="*/ 214 h 100"/>
                <a:gd name="T16" fmla="*/ 477527 w 80"/>
                <a:gd name="T17" fmla="*/ 113 h 100"/>
                <a:gd name="T18" fmla="*/ 477527 w 80"/>
                <a:gd name="T19" fmla="*/ 85 h 100"/>
                <a:gd name="T20" fmla="*/ 0 w 80"/>
                <a:gd name="T21" fmla="*/ 0 h 100"/>
                <a:gd name="T22" fmla="*/ 64426 w 80"/>
                <a:gd name="T23" fmla="*/ 229 h 100"/>
                <a:gd name="T24" fmla="*/ 404265 w 80"/>
                <a:gd name="T25" fmla="*/ 399 h 100"/>
                <a:gd name="T26" fmla="*/ 858058 w 80"/>
                <a:gd name="T27" fmla="*/ 528 h 100"/>
                <a:gd name="T28" fmla="*/ 1373354 w 80"/>
                <a:gd name="T29" fmla="*/ 653 h 100"/>
                <a:gd name="T30" fmla="*/ 1832330 w 80"/>
                <a:gd name="T31" fmla="*/ 803 h 100"/>
                <a:gd name="T32" fmla="*/ 2211957 w 80"/>
                <a:gd name="T33" fmla="*/ 923 h 100"/>
                <a:gd name="T34" fmla="*/ 2442464 w 80"/>
                <a:gd name="T35" fmla="*/ 1023 h 100"/>
                <a:gd name="T36" fmla="*/ 2442464 w 80"/>
                <a:gd name="T37" fmla="*/ 1076 h 100"/>
                <a:gd name="T38" fmla="*/ 2882474 w 80"/>
                <a:gd name="T39" fmla="*/ 1176 h 100"/>
                <a:gd name="T40" fmla="*/ 2442464 w 80"/>
                <a:gd name="T41" fmla="*/ 1076 h 100"/>
                <a:gd name="T42" fmla="*/ 1922549 w 80"/>
                <a:gd name="T43" fmla="*/ 1879 h 100"/>
                <a:gd name="T44" fmla="*/ 2882474 w 80"/>
                <a:gd name="T45" fmla="*/ 1176 h 100"/>
                <a:gd name="T46" fmla="*/ 2480000 w 80"/>
                <a:gd name="T47" fmla="*/ 1061 h 1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100"/>
                <a:gd name="T74" fmla="*/ 80 w 80"/>
                <a:gd name="T75" fmla="*/ 100 h 10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100">
                  <a:moveTo>
                    <a:pt x="67" y="56"/>
                  </a:moveTo>
                  <a:lnTo>
                    <a:pt x="79" y="61"/>
                  </a:lnTo>
                  <a:lnTo>
                    <a:pt x="78" y="48"/>
                  </a:lnTo>
                  <a:lnTo>
                    <a:pt x="69" y="39"/>
                  </a:lnTo>
                  <a:lnTo>
                    <a:pt x="56" y="31"/>
                  </a:lnTo>
                  <a:lnTo>
                    <a:pt x="43" y="24"/>
                  </a:lnTo>
                  <a:lnTo>
                    <a:pt x="30" y="17"/>
                  </a:lnTo>
                  <a:lnTo>
                    <a:pt x="19" y="11"/>
                  </a:lnTo>
                  <a:lnTo>
                    <a:pt x="13" y="6"/>
                  </a:lnTo>
                  <a:lnTo>
                    <a:pt x="13" y="4"/>
                  </a:lnTo>
                  <a:lnTo>
                    <a:pt x="0" y="0"/>
                  </a:lnTo>
                  <a:lnTo>
                    <a:pt x="2" y="12"/>
                  </a:lnTo>
                  <a:lnTo>
                    <a:pt x="11" y="21"/>
                  </a:lnTo>
                  <a:lnTo>
                    <a:pt x="23" y="28"/>
                  </a:lnTo>
                  <a:lnTo>
                    <a:pt x="37" y="35"/>
                  </a:lnTo>
                  <a:lnTo>
                    <a:pt x="50" y="43"/>
                  </a:lnTo>
                  <a:lnTo>
                    <a:pt x="60" y="49"/>
                  </a:lnTo>
                  <a:lnTo>
                    <a:pt x="66" y="55"/>
                  </a:lnTo>
                  <a:lnTo>
                    <a:pt x="66" y="57"/>
                  </a:lnTo>
                  <a:lnTo>
                    <a:pt x="78" y="63"/>
                  </a:lnTo>
                  <a:lnTo>
                    <a:pt x="66" y="57"/>
                  </a:lnTo>
                  <a:lnTo>
                    <a:pt x="52" y="99"/>
                  </a:lnTo>
                  <a:lnTo>
                    <a:pt x="78" y="63"/>
                  </a:lnTo>
                  <a:lnTo>
                    <a:pt x="67" y="5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1" name="Freeform 30">
              <a:extLst>
                <a:ext uri="{FF2B5EF4-FFF2-40B4-BE49-F238E27FC236}">
                  <a16:creationId xmlns:a16="http://schemas.microsoft.com/office/drawing/2014/main" id="{C4D697C5-0821-30CD-FD3F-620F14E028B8}"/>
                </a:ext>
              </a:extLst>
            </p:cNvPr>
            <p:cNvSpPr>
              <a:spLocks/>
            </p:cNvSpPr>
            <p:nvPr/>
          </p:nvSpPr>
          <p:spPr bwMode="auto">
            <a:xfrm>
              <a:off x="3203" y="2884"/>
              <a:ext cx="42" cy="48"/>
            </a:xfrm>
            <a:custGeom>
              <a:avLst/>
              <a:gdLst>
                <a:gd name="T0" fmla="*/ 704740 w 25"/>
                <a:gd name="T1" fmla="*/ 396 h 43"/>
                <a:gd name="T2" fmla="*/ 52660 w 25"/>
                <a:gd name="T3" fmla="*/ 336 h 43"/>
                <a:gd name="T4" fmla="*/ 0 w 25"/>
                <a:gd name="T5" fmla="*/ 355 h 43"/>
                <a:gd name="T6" fmla="*/ 648168 w 25"/>
                <a:gd name="T7" fmla="*/ 419 h 43"/>
                <a:gd name="T8" fmla="*/ 704740 w 25"/>
                <a:gd name="T9" fmla="*/ 409 h 43"/>
                <a:gd name="T10" fmla="*/ 0 w 25"/>
                <a:gd name="T11" fmla="*/ 355 h 43"/>
                <a:gd name="T12" fmla="*/ 704740 w 25"/>
                <a:gd name="T13" fmla="*/ 396 h 43"/>
                <a:gd name="T14" fmla="*/ 1283958 w 25"/>
                <a:gd name="T15" fmla="*/ 0 h 43"/>
                <a:gd name="T16" fmla="*/ 52660 w 25"/>
                <a:gd name="T17" fmla="*/ 336 h 43"/>
                <a:gd name="T18" fmla="*/ 704740 w 25"/>
                <a:gd name="T19" fmla="*/ 396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43"/>
                <a:gd name="T32" fmla="*/ 25 w 25"/>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43">
                  <a:moveTo>
                    <a:pt x="13" y="39"/>
                  </a:moveTo>
                  <a:lnTo>
                    <a:pt x="1" y="34"/>
                  </a:lnTo>
                  <a:lnTo>
                    <a:pt x="0" y="35"/>
                  </a:lnTo>
                  <a:lnTo>
                    <a:pt x="12" y="42"/>
                  </a:lnTo>
                  <a:lnTo>
                    <a:pt x="13" y="40"/>
                  </a:lnTo>
                  <a:lnTo>
                    <a:pt x="0" y="35"/>
                  </a:lnTo>
                  <a:lnTo>
                    <a:pt x="13" y="39"/>
                  </a:lnTo>
                  <a:lnTo>
                    <a:pt x="24" y="0"/>
                  </a:lnTo>
                  <a:lnTo>
                    <a:pt x="1" y="34"/>
                  </a:lnTo>
                  <a:lnTo>
                    <a:pt x="13" y="3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2" name="Freeform 31">
              <a:extLst>
                <a:ext uri="{FF2B5EF4-FFF2-40B4-BE49-F238E27FC236}">
                  <a16:creationId xmlns:a16="http://schemas.microsoft.com/office/drawing/2014/main" id="{7DBFBF18-6559-1C19-C8FE-990F04984492}"/>
                </a:ext>
              </a:extLst>
            </p:cNvPr>
            <p:cNvSpPr>
              <a:spLocks/>
            </p:cNvSpPr>
            <p:nvPr/>
          </p:nvSpPr>
          <p:spPr bwMode="auto">
            <a:xfrm>
              <a:off x="3051" y="2923"/>
              <a:ext cx="176" cy="31"/>
            </a:xfrm>
            <a:custGeom>
              <a:avLst/>
              <a:gdLst>
                <a:gd name="T0" fmla="*/ 448956 w 107"/>
                <a:gd name="T1" fmla="*/ 1019 h 26"/>
                <a:gd name="T2" fmla="*/ 520021 w 107"/>
                <a:gd name="T3" fmla="*/ 1017 h 26"/>
                <a:gd name="T4" fmla="*/ 806439 w 107"/>
                <a:gd name="T5" fmla="*/ 867 h 26"/>
                <a:gd name="T6" fmla="*/ 1242572 w 107"/>
                <a:gd name="T7" fmla="*/ 906 h 26"/>
                <a:gd name="T8" fmla="*/ 1803036 w 107"/>
                <a:gd name="T9" fmla="*/ 906 h 26"/>
                <a:gd name="T10" fmla="*/ 2314237 w 107"/>
                <a:gd name="T11" fmla="*/ 1017 h 26"/>
                <a:gd name="T12" fmla="*/ 2876529 w 107"/>
                <a:gd name="T13" fmla="*/ 867 h 26"/>
                <a:gd name="T14" fmla="*/ 3361858 w 107"/>
                <a:gd name="T15" fmla="*/ 637 h 26"/>
                <a:gd name="T16" fmla="*/ 3649694 w 107"/>
                <a:gd name="T17" fmla="*/ 175 h 26"/>
                <a:gd name="T18" fmla="*/ 3223782 w 107"/>
                <a:gd name="T19" fmla="*/ 0 h 26"/>
                <a:gd name="T20" fmla="*/ 3069208 w 107"/>
                <a:gd name="T21" fmla="*/ 249 h 26"/>
                <a:gd name="T22" fmla="*/ 2774242 w 107"/>
                <a:gd name="T23" fmla="*/ 376 h 26"/>
                <a:gd name="T24" fmla="*/ 2314237 w 107"/>
                <a:gd name="T25" fmla="*/ 422 h 26"/>
                <a:gd name="T26" fmla="*/ 1803036 w 107"/>
                <a:gd name="T27" fmla="*/ 422 h 26"/>
                <a:gd name="T28" fmla="*/ 1242572 w 107"/>
                <a:gd name="T29" fmla="*/ 376 h 26"/>
                <a:gd name="T30" fmla="*/ 755427 w 107"/>
                <a:gd name="T31" fmla="*/ 376 h 26"/>
                <a:gd name="T32" fmla="*/ 316149 w 107"/>
                <a:gd name="T33" fmla="*/ 448 h 26"/>
                <a:gd name="T34" fmla="*/ 0 w 107"/>
                <a:gd name="T35" fmla="*/ 855 h 26"/>
                <a:gd name="T36" fmla="*/ 448956 w 107"/>
                <a:gd name="T37" fmla="*/ 101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4"/>
                  </a:lnTo>
                  <a:lnTo>
                    <a:pt x="23" y="22"/>
                  </a:lnTo>
                  <a:lnTo>
                    <a:pt x="36" y="23"/>
                  </a:lnTo>
                  <a:lnTo>
                    <a:pt x="52" y="23"/>
                  </a:lnTo>
                  <a:lnTo>
                    <a:pt x="67" y="24"/>
                  </a:lnTo>
                  <a:lnTo>
                    <a:pt x="83" y="22"/>
                  </a:lnTo>
                  <a:lnTo>
                    <a:pt x="97" y="16"/>
                  </a:lnTo>
                  <a:lnTo>
                    <a:pt x="106" y="4"/>
                  </a:lnTo>
                  <a:lnTo>
                    <a:pt x="93" y="0"/>
                  </a:lnTo>
                  <a:lnTo>
                    <a:pt x="89" y="6"/>
                  </a:lnTo>
                  <a:lnTo>
                    <a:pt x="80" y="9"/>
                  </a:lnTo>
                  <a:lnTo>
                    <a:pt x="67" y="10"/>
                  </a:lnTo>
                  <a:lnTo>
                    <a:pt x="52" y="10"/>
                  </a:lnTo>
                  <a:lnTo>
                    <a:pt x="36" y="9"/>
                  </a:lnTo>
                  <a:lnTo>
                    <a:pt x="22" y="9"/>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3" name="Freeform 32">
              <a:extLst>
                <a:ext uri="{FF2B5EF4-FFF2-40B4-BE49-F238E27FC236}">
                  <a16:creationId xmlns:a16="http://schemas.microsoft.com/office/drawing/2014/main" id="{79BE7FA7-B7E1-422D-BB5F-0218E5A318F0}"/>
                </a:ext>
              </a:extLst>
            </p:cNvPr>
            <p:cNvSpPr>
              <a:spLocks/>
            </p:cNvSpPr>
            <p:nvPr/>
          </p:nvSpPr>
          <p:spPr bwMode="auto">
            <a:xfrm>
              <a:off x="3051" y="2947"/>
              <a:ext cx="131" cy="77"/>
            </a:xfrm>
            <a:custGeom>
              <a:avLst/>
              <a:gdLst>
                <a:gd name="T0" fmla="*/ 2480706 w 80"/>
                <a:gd name="T1" fmla="*/ 1675 h 66"/>
                <a:gd name="T2" fmla="*/ 2415525 w 80"/>
                <a:gd name="T3" fmla="*/ 1341 h 66"/>
                <a:gd name="T4" fmla="*/ 2134954 w 80"/>
                <a:gd name="T5" fmla="*/ 1075 h 66"/>
                <a:gd name="T6" fmla="*/ 1785199 w 80"/>
                <a:gd name="T7" fmla="*/ 889 h 66"/>
                <a:gd name="T8" fmla="*/ 1346184 w 80"/>
                <a:gd name="T9" fmla="*/ 664 h 66"/>
                <a:gd name="T10" fmla="*/ 900843 w 80"/>
                <a:gd name="T11" fmla="*/ 470 h 66"/>
                <a:gd name="T12" fmla="*/ 630154 w 80"/>
                <a:gd name="T13" fmla="*/ 307 h 66"/>
                <a:gd name="T14" fmla="*/ 445495 w 80"/>
                <a:gd name="T15" fmla="*/ 141 h 66"/>
                <a:gd name="T16" fmla="*/ 402943 w 80"/>
                <a:gd name="T17" fmla="*/ 120 h 66"/>
                <a:gd name="T18" fmla="*/ 0 w 80"/>
                <a:gd name="T19" fmla="*/ 0 h 66"/>
                <a:gd name="T20" fmla="*/ 56043 w 80"/>
                <a:gd name="T21" fmla="*/ 307 h 66"/>
                <a:gd name="T22" fmla="*/ 335959 w 80"/>
                <a:gd name="T23" fmla="*/ 569 h 66"/>
                <a:gd name="T24" fmla="*/ 729498 w 80"/>
                <a:gd name="T25" fmla="*/ 775 h 66"/>
                <a:gd name="T26" fmla="*/ 1177164 w 80"/>
                <a:gd name="T27" fmla="*/ 970 h 66"/>
                <a:gd name="T28" fmla="*/ 1538762 w 80"/>
                <a:gd name="T29" fmla="*/ 1149 h 66"/>
                <a:gd name="T30" fmla="*/ 1865648 w 80"/>
                <a:gd name="T31" fmla="*/ 1344 h 66"/>
                <a:gd name="T32" fmla="*/ 2045165 w 80"/>
                <a:gd name="T33" fmla="*/ 1477 h 66"/>
                <a:gd name="T34" fmla="*/ 2079299 w 80"/>
                <a:gd name="T35" fmla="*/ 1565 h 66"/>
                <a:gd name="T36" fmla="*/ 248070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2"/>
                  </a:lnTo>
                  <a:lnTo>
                    <a:pt x="57" y="34"/>
                  </a:lnTo>
                  <a:lnTo>
                    <a:pt x="43" y="26"/>
                  </a:lnTo>
                  <a:lnTo>
                    <a:pt x="29" y="18"/>
                  </a:lnTo>
                  <a:lnTo>
                    <a:pt x="20" y="12"/>
                  </a:lnTo>
                  <a:lnTo>
                    <a:pt x="14" y="6"/>
                  </a:lnTo>
                  <a:lnTo>
                    <a:pt x="13" y="4"/>
                  </a:lnTo>
                  <a:lnTo>
                    <a:pt x="0" y="0"/>
                  </a:lnTo>
                  <a:lnTo>
                    <a:pt x="2" y="12"/>
                  </a:lnTo>
                  <a:lnTo>
                    <a:pt x="11" y="22"/>
                  </a:lnTo>
                  <a:lnTo>
                    <a:pt x="23" y="30"/>
                  </a:lnTo>
                  <a:lnTo>
                    <a:pt x="37" y="38"/>
                  </a:lnTo>
                  <a:lnTo>
                    <a:pt x="49" y="45"/>
                  </a:lnTo>
                  <a:lnTo>
                    <a:pt x="59" y="53"/>
                  </a:lnTo>
                  <a:lnTo>
                    <a:pt x="65" y="58"/>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4" name="Freeform 33">
              <a:extLst>
                <a:ext uri="{FF2B5EF4-FFF2-40B4-BE49-F238E27FC236}">
                  <a16:creationId xmlns:a16="http://schemas.microsoft.com/office/drawing/2014/main" id="{CA2EC73A-0BF7-9AD6-EFE9-0FD614EB7051}"/>
                </a:ext>
              </a:extLst>
            </p:cNvPr>
            <p:cNvSpPr>
              <a:spLocks/>
            </p:cNvSpPr>
            <p:nvPr/>
          </p:nvSpPr>
          <p:spPr bwMode="auto">
            <a:xfrm>
              <a:off x="3006" y="3018"/>
              <a:ext cx="176" cy="29"/>
            </a:xfrm>
            <a:custGeom>
              <a:avLst/>
              <a:gdLst>
                <a:gd name="T0" fmla="*/ 448956 w 107"/>
                <a:gd name="T1" fmla="*/ 254 h 26"/>
                <a:gd name="T2" fmla="*/ 520021 w 107"/>
                <a:gd name="T3" fmla="*/ 229 h 26"/>
                <a:gd name="T4" fmla="*/ 818282 w 107"/>
                <a:gd name="T5" fmla="*/ 205 h 26"/>
                <a:gd name="T6" fmla="*/ 1274250 w 107"/>
                <a:gd name="T7" fmla="*/ 184 h 26"/>
                <a:gd name="T8" fmla="*/ 1829721 w 107"/>
                <a:gd name="T9" fmla="*/ 204 h 26"/>
                <a:gd name="T10" fmla="*/ 2374059 w 107"/>
                <a:gd name="T11" fmla="*/ 184 h 26"/>
                <a:gd name="T12" fmla="*/ 2899460 w 107"/>
                <a:gd name="T13" fmla="*/ 183 h 26"/>
                <a:gd name="T14" fmla="*/ 3361858 w 107"/>
                <a:gd name="T15" fmla="*/ 147 h 26"/>
                <a:gd name="T16" fmla="*/ 3649694 w 107"/>
                <a:gd name="T17" fmla="*/ 4 h 26"/>
                <a:gd name="T18" fmla="*/ 3223782 w 107"/>
                <a:gd name="T19" fmla="*/ 0 h 26"/>
                <a:gd name="T20" fmla="*/ 3107351 w 107"/>
                <a:gd name="T21" fmla="*/ 3 h 26"/>
                <a:gd name="T22" fmla="*/ 2796262 w 107"/>
                <a:gd name="T23" fmla="*/ 56 h 26"/>
                <a:gd name="T24" fmla="*/ 2374059 w 107"/>
                <a:gd name="T25" fmla="*/ 62 h 26"/>
                <a:gd name="T26" fmla="*/ 1829721 w 107"/>
                <a:gd name="T27" fmla="*/ 62 h 26"/>
                <a:gd name="T28" fmla="*/ 1274250 w 107"/>
                <a:gd name="T29" fmla="*/ 62 h 26"/>
                <a:gd name="T30" fmla="*/ 738470 w 107"/>
                <a:gd name="T31" fmla="*/ 77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19"/>
                  </a:lnTo>
                  <a:lnTo>
                    <a:pt x="53" y="20"/>
                  </a:lnTo>
                  <a:lnTo>
                    <a:pt x="69" y="19"/>
                  </a:lnTo>
                  <a:lnTo>
                    <a:pt x="84" y="18"/>
                  </a:lnTo>
                  <a:lnTo>
                    <a:pt x="97" y="14"/>
                  </a:lnTo>
                  <a:lnTo>
                    <a:pt x="106" y="4"/>
                  </a:lnTo>
                  <a:lnTo>
                    <a:pt x="93" y="0"/>
                  </a:lnTo>
                  <a:lnTo>
                    <a:pt x="90" y="3"/>
                  </a:lnTo>
                  <a:lnTo>
                    <a:pt x="81" y="5"/>
                  </a:lnTo>
                  <a:lnTo>
                    <a:pt x="69" y="6"/>
                  </a:lnTo>
                  <a:lnTo>
                    <a:pt x="53" y="6"/>
                  </a:lnTo>
                  <a:lnTo>
                    <a:pt x="37" y="6"/>
                  </a:lnTo>
                  <a:lnTo>
                    <a:pt x="21" y="8"/>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5" name="Freeform 34">
              <a:extLst>
                <a:ext uri="{FF2B5EF4-FFF2-40B4-BE49-F238E27FC236}">
                  <a16:creationId xmlns:a16="http://schemas.microsoft.com/office/drawing/2014/main" id="{F6705F1A-CC0E-7678-6614-7ED047FACBA3}"/>
                </a:ext>
              </a:extLst>
            </p:cNvPr>
            <p:cNvSpPr>
              <a:spLocks/>
            </p:cNvSpPr>
            <p:nvPr/>
          </p:nvSpPr>
          <p:spPr bwMode="auto">
            <a:xfrm>
              <a:off x="3006" y="3042"/>
              <a:ext cx="133" cy="70"/>
            </a:xfrm>
            <a:custGeom>
              <a:avLst/>
              <a:gdLst>
                <a:gd name="T0" fmla="*/ 2656836 w 81"/>
                <a:gd name="T1" fmla="*/ 1053 h 61"/>
                <a:gd name="T2" fmla="*/ 2656836 w 81"/>
                <a:gd name="T3" fmla="*/ 1080 h 61"/>
                <a:gd name="T4" fmla="*/ 2558027 w 81"/>
                <a:gd name="T5" fmla="*/ 863 h 61"/>
                <a:gd name="T6" fmla="*/ 2272793 w 81"/>
                <a:gd name="T7" fmla="*/ 731 h 61"/>
                <a:gd name="T8" fmla="*/ 1864660 w 81"/>
                <a:gd name="T9" fmla="*/ 591 h 61"/>
                <a:gd name="T10" fmla="*/ 1443431 w 81"/>
                <a:gd name="T11" fmla="*/ 473 h 61"/>
                <a:gd name="T12" fmla="*/ 977473 w 81"/>
                <a:gd name="T13" fmla="*/ 341 h 61"/>
                <a:gd name="T14" fmla="*/ 633671 w 81"/>
                <a:gd name="T15" fmla="*/ 207 h 61"/>
                <a:gd name="T16" fmla="*/ 465961 w 81"/>
                <a:gd name="T17" fmla="*/ 104 h 61"/>
                <a:gd name="T18" fmla="*/ 421211 w 81"/>
                <a:gd name="T19" fmla="*/ 79 h 61"/>
                <a:gd name="T20" fmla="*/ 0 w 81"/>
                <a:gd name="T21" fmla="*/ 0 h 61"/>
                <a:gd name="T22" fmla="*/ 57947 w 81"/>
                <a:gd name="T23" fmla="*/ 216 h 61"/>
                <a:gd name="T24" fmla="*/ 326059 w 81"/>
                <a:gd name="T25" fmla="*/ 391 h 61"/>
                <a:gd name="T26" fmla="*/ 765096 w 81"/>
                <a:gd name="T27" fmla="*/ 543 h 61"/>
                <a:gd name="T28" fmla="*/ 1196621 w 81"/>
                <a:gd name="T29" fmla="*/ 650 h 61"/>
                <a:gd name="T30" fmla="*/ 1618073 w 81"/>
                <a:gd name="T31" fmla="*/ 820 h 61"/>
                <a:gd name="T32" fmla="*/ 2015988 w 81"/>
                <a:gd name="T33" fmla="*/ 930 h 61"/>
                <a:gd name="T34" fmla="*/ 2192131 w 81"/>
                <a:gd name="T35" fmla="*/ 990 h 61"/>
                <a:gd name="T36" fmla="*/ 2235597 w 81"/>
                <a:gd name="T37" fmla="*/ 990 h 61"/>
                <a:gd name="T38" fmla="*/ 2192131 w 81"/>
                <a:gd name="T39" fmla="*/ 1053 h 61"/>
                <a:gd name="T40" fmla="*/ 2235597 w 81"/>
                <a:gd name="T41" fmla="*/ 990 h 61"/>
                <a:gd name="T42" fmla="*/ 2192131 w 81"/>
                <a:gd name="T43" fmla="*/ 1025 h 61"/>
                <a:gd name="T44" fmla="*/ 2192131 w 81"/>
                <a:gd name="T45" fmla="*/ 1053 h 61"/>
                <a:gd name="T46" fmla="*/ 2656836 w 81"/>
                <a:gd name="T47" fmla="*/ 1053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
                <a:gd name="T73" fmla="*/ 0 h 61"/>
                <a:gd name="T74" fmla="*/ 81 w 81"/>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 h="61">
                  <a:moveTo>
                    <a:pt x="80" y="58"/>
                  </a:moveTo>
                  <a:lnTo>
                    <a:pt x="80" y="60"/>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6"/>
                  </a:lnTo>
                  <a:lnTo>
                    <a:pt x="67" y="56"/>
                  </a:lnTo>
                  <a:lnTo>
                    <a:pt x="66" y="58"/>
                  </a:lnTo>
                  <a:lnTo>
                    <a:pt x="67" y="56"/>
                  </a:lnTo>
                  <a:lnTo>
                    <a:pt x="66" y="57"/>
                  </a:lnTo>
                  <a:lnTo>
                    <a:pt x="66" y="58"/>
                  </a:lnTo>
                  <a:lnTo>
                    <a:pt x="80" y="5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6" name="Freeform 35">
              <a:extLst>
                <a:ext uri="{FF2B5EF4-FFF2-40B4-BE49-F238E27FC236}">
                  <a16:creationId xmlns:a16="http://schemas.microsoft.com/office/drawing/2014/main" id="{709A009D-9A34-D1E6-E92D-A065BAE3AB17}"/>
                </a:ext>
              </a:extLst>
            </p:cNvPr>
            <p:cNvSpPr>
              <a:spLocks/>
            </p:cNvSpPr>
            <p:nvPr/>
          </p:nvSpPr>
          <p:spPr bwMode="auto">
            <a:xfrm>
              <a:off x="3115" y="3107"/>
              <a:ext cx="24" cy="7"/>
            </a:xfrm>
            <a:custGeom>
              <a:avLst/>
              <a:gdLst>
                <a:gd name="T0" fmla="*/ 255066 w 15"/>
                <a:gd name="T1" fmla="*/ 140 h 6"/>
                <a:gd name="T2" fmla="*/ 265134 w 15"/>
                <a:gd name="T3" fmla="*/ 2 h 6"/>
                <a:gd name="T4" fmla="*/ 0 w 15"/>
                <a:gd name="T5" fmla="*/ 2 h 6"/>
                <a:gd name="T6" fmla="*/ 0 w 15"/>
                <a:gd name="T7" fmla="*/ 0 h 6"/>
                <a:gd name="T8" fmla="*/ 255066 w 15"/>
                <a:gd name="T9" fmla="*/ 140 h 6"/>
                <a:gd name="T10" fmla="*/ 265134 w 15"/>
                <a:gd name="T11" fmla="*/ 120 h 6"/>
                <a:gd name="T12" fmla="*/ 265134 w 15"/>
                <a:gd name="T13" fmla="*/ 2 h 6"/>
                <a:gd name="T14" fmla="*/ 255066 w 15"/>
                <a:gd name="T15" fmla="*/ 140 h 6"/>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6"/>
                <a:gd name="T26" fmla="*/ 15 w 1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6">
                  <a:moveTo>
                    <a:pt x="13" y="5"/>
                  </a:moveTo>
                  <a:lnTo>
                    <a:pt x="14" y="2"/>
                  </a:lnTo>
                  <a:lnTo>
                    <a:pt x="0" y="2"/>
                  </a:lnTo>
                  <a:lnTo>
                    <a:pt x="0" y="0"/>
                  </a:lnTo>
                  <a:lnTo>
                    <a:pt x="13" y="5"/>
                  </a:lnTo>
                  <a:lnTo>
                    <a:pt x="14" y="4"/>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7" name="Freeform 36">
              <a:extLst>
                <a:ext uri="{FF2B5EF4-FFF2-40B4-BE49-F238E27FC236}">
                  <a16:creationId xmlns:a16="http://schemas.microsoft.com/office/drawing/2014/main" id="{C32DB401-7AE5-BCCE-DDFB-E4B87CDFC810}"/>
                </a:ext>
              </a:extLst>
            </p:cNvPr>
            <p:cNvSpPr>
              <a:spLocks/>
            </p:cNvSpPr>
            <p:nvPr/>
          </p:nvSpPr>
          <p:spPr bwMode="auto">
            <a:xfrm>
              <a:off x="2963" y="3107"/>
              <a:ext cx="176" cy="32"/>
            </a:xfrm>
            <a:custGeom>
              <a:avLst/>
              <a:gdLst>
                <a:gd name="T0" fmla="*/ 448956 w 107"/>
                <a:gd name="T1" fmla="*/ 943 h 27"/>
                <a:gd name="T2" fmla="*/ 551648 w 107"/>
                <a:gd name="T3" fmla="*/ 828 h 27"/>
                <a:gd name="T4" fmla="*/ 818282 w 107"/>
                <a:gd name="T5" fmla="*/ 774 h 27"/>
                <a:gd name="T6" fmla="*/ 1326479 w 107"/>
                <a:gd name="T7" fmla="*/ 677 h 27"/>
                <a:gd name="T8" fmla="*/ 1829721 w 107"/>
                <a:gd name="T9" fmla="*/ 677 h 27"/>
                <a:gd name="T10" fmla="*/ 2417273 w 107"/>
                <a:gd name="T11" fmla="*/ 653 h 27"/>
                <a:gd name="T12" fmla="*/ 2899460 w 107"/>
                <a:gd name="T13" fmla="*/ 590 h 27"/>
                <a:gd name="T14" fmla="*/ 3361858 w 107"/>
                <a:gd name="T15" fmla="*/ 465 h 27"/>
                <a:gd name="T16" fmla="*/ 3649694 w 107"/>
                <a:gd name="T17" fmla="*/ 167 h 27"/>
                <a:gd name="T18" fmla="*/ 3223782 w 107"/>
                <a:gd name="T19" fmla="*/ 0 h 27"/>
                <a:gd name="T20" fmla="*/ 3107351 w 107"/>
                <a:gd name="T21" fmla="*/ 2 h 27"/>
                <a:gd name="T22" fmla="*/ 2833329 w 107"/>
                <a:gd name="T23" fmla="*/ 141 h 27"/>
                <a:gd name="T24" fmla="*/ 2374059 w 107"/>
                <a:gd name="T25" fmla="*/ 167 h 27"/>
                <a:gd name="T26" fmla="*/ 1829721 w 107"/>
                <a:gd name="T27" fmla="*/ 198 h 27"/>
                <a:gd name="T28" fmla="*/ 1242572 w 107"/>
                <a:gd name="T29" fmla="*/ 198 h 27"/>
                <a:gd name="T30" fmla="*/ 755427 w 107"/>
                <a:gd name="T31" fmla="*/ 279 h 27"/>
                <a:gd name="T32" fmla="*/ 316149 w 107"/>
                <a:gd name="T33" fmla="*/ 420 h 27"/>
                <a:gd name="T34" fmla="*/ 0 w 107"/>
                <a:gd name="T35" fmla="*/ 796 h 27"/>
                <a:gd name="T36" fmla="*/ 448956 w 107"/>
                <a:gd name="T37" fmla="*/ 94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7"/>
                <a:gd name="T59" fmla="*/ 107 w 107"/>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7">
                  <a:moveTo>
                    <a:pt x="13" y="26"/>
                  </a:moveTo>
                  <a:lnTo>
                    <a:pt x="16" y="24"/>
                  </a:lnTo>
                  <a:lnTo>
                    <a:pt x="24" y="21"/>
                  </a:lnTo>
                  <a:lnTo>
                    <a:pt x="38" y="19"/>
                  </a:lnTo>
                  <a:lnTo>
                    <a:pt x="53" y="19"/>
                  </a:lnTo>
                  <a:lnTo>
                    <a:pt x="70" y="18"/>
                  </a:lnTo>
                  <a:lnTo>
                    <a:pt x="84" y="17"/>
                  </a:lnTo>
                  <a:lnTo>
                    <a:pt x="97" y="13"/>
                  </a:lnTo>
                  <a:lnTo>
                    <a:pt x="106" y="5"/>
                  </a:lnTo>
                  <a:lnTo>
                    <a:pt x="93" y="0"/>
                  </a:lnTo>
                  <a:lnTo>
                    <a:pt x="90" y="2"/>
                  </a:lnTo>
                  <a:lnTo>
                    <a:pt x="82" y="4"/>
                  </a:lnTo>
                  <a:lnTo>
                    <a:pt x="69" y="5"/>
                  </a:lnTo>
                  <a:lnTo>
                    <a:pt x="53" y="6"/>
                  </a:lnTo>
                  <a:lnTo>
                    <a:pt x="36" y="6"/>
                  </a:lnTo>
                  <a:lnTo>
                    <a:pt x="22"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8" name="Freeform 37">
              <a:extLst>
                <a:ext uri="{FF2B5EF4-FFF2-40B4-BE49-F238E27FC236}">
                  <a16:creationId xmlns:a16="http://schemas.microsoft.com/office/drawing/2014/main" id="{7D06ADAF-3751-6BA4-14E5-8D2B887F4501}"/>
                </a:ext>
              </a:extLst>
            </p:cNvPr>
            <p:cNvSpPr>
              <a:spLocks/>
            </p:cNvSpPr>
            <p:nvPr/>
          </p:nvSpPr>
          <p:spPr bwMode="auto">
            <a:xfrm>
              <a:off x="2963" y="3133"/>
              <a:ext cx="132" cy="77"/>
            </a:xfrm>
            <a:custGeom>
              <a:avLst/>
              <a:gdLst>
                <a:gd name="T0" fmla="*/ 2918860 w 80"/>
                <a:gd name="T1" fmla="*/ 1224 h 67"/>
                <a:gd name="T2" fmla="*/ 2918860 w 80"/>
                <a:gd name="T3" fmla="*/ 1219 h 67"/>
                <a:gd name="T4" fmla="*/ 2842721 w 80"/>
                <a:gd name="T5" fmla="*/ 985 h 67"/>
                <a:gd name="T6" fmla="*/ 2506601 w 80"/>
                <a:gd name="T7" fmla="*/ 793 h 67"/>
                <a:gd name="T8" fmla="*/ 2062134 w 80"/>
                <a:gd name="T9" fmla="*/ 649 h 67"/>
                <a:gd name="T10" fmla="*/ 1545345 w 80"/>
                <a:gd name="T11" fmla="*/ 522 h 67"/>
                <a:gd name="T12" fmla="*/ 1100611 w 80"/>
                <a:gd name="T13" fmla="*/ 367 h 67"/>
                <a:gd name="T14" fmla="*/ 733570 w 80"/>
                <a:gd name="T15" fmla="*/ 242 h 67"/>
                <a:gd name="T16" fmla="*/ 520035 w 80"/>
                <a:gd name="T17" fmla="*/ 105 h 67"/>
                <a:gd name="T18" fmla="*/ 477527 w 80"/>
                <a:gd name="T19" fmla="*/ 79 h 67"/>
                <a:gd name="T20" fmla="*/ 0 w 80"/>
                <a:gd name="T21" fmla="*/ 0 h 67"/>
                <a:gd name="T22" fmla="*/ 64426 w 80"/>
                <a:gd name="T23" fmla="*/ 242 h 67"/>
                <a:gd name="T24" fmla="*/ 377109 w 80"/>
                <a:gd name="T25" fmla="*/ 422 h 67"/>
                <a:gd name="T26" fmla="*/ 796859 w 80"/>
                <a:gd name="T27" fmla="*/ 600 h 67"/>
                <a:gd name="T28" fmla="*/ 1314817 w 80"/>
                <a:gd name="T29" fmla="*/ 736 h 67"/>
                <a:gd name="T30" fmla="*/ 1816008 w 80"/>
                <a:gd name="T31" fmla="*/ 868 h 67"/>
                <a:gd name="T32" fmla="*/ 2169448 w 80"/>
                <a:gd name="T33" fmla="*/ 998 h 67"/>
                <a:gd name="T34" fmla="*/ 2399955 w 80"/>
                <a:gd name="T35" fmla="*/ 1117 h 67"/>
                <a:gd name="T36" fmla="*/ 2442464 w 80"/>
                <a:gd name="T37" fmla="*/ 1147 h 67"/>
                <a:gd name="T38" fmla="*/ 2442464 w 80"/>
                <a:gd name="T39" fmla="*/ 1132 h 67"/>
                <a:gd name="T40" fmla="*/ 2918860 w 80"/>
                <a:gd name="T41" fmla="*/ 1224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67"/>
                <a:gd name="T65" fmla="*/ 80 w 8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67">
                  <a:moveTo>
                    <a:pt x="79" y="66"/>
                  </a:moveTo>
                  <a:lnTo>
                    <a:pt x="79" y="65"/>
                  </a:lnTo>
                  <a:lnTo>
                    <a:pt x="77" y="53"/>
                  </a:lnTo>
                  <a:lnTo>
                    <a:pt x="68" y="43"/>
                  </a:lnTo>
                  <a:lnTo>
                    <a:pt x="56" y="35"/>
                  </a:lnTo>
                  <a:lnTo>
                    <a:pt x="42" y="28"/>
                  </a:lnTo>
                  <a:lnTo>
                    <a:pt x="30" y="20"/>
                  </a:lnTo>
                  <a:lnTo>
                    <a:pt x="20" y="13"/>
                  </a:lnTo>
                  <a:lnTo>
                    <a:pt x="14" y="6"/>
                  </a:lnTo>
                  <a:lnTo>
                    <a:pt x="13" y="4"/>
                  </a:lnTo>
                  <a:lnTo>
                    <a:pt x="0" y="0"/>
                  </a:lnTo>
                  <a:lnTo>
                    <a:pt x="2" y="13"/>
                  </a:lnTo>
                  <a:lnTo>
                    <a:pt x="10" y="23"/>
                  </a:lnTo>
                  <a:lnTo>
                    <a:pt x="22" y="32"/>
                  </a:lnTo>
                  <a:lnTo>
                    <a:pt x="36" y="39"/>
                  </a:lnTo>
                  <a:lnTo>
                    <a:pt x="49" y="47"/>
                  </a:lnTo>
                  <a:lnTo>
                    <a:pt x="59" y="54"/>
                  </a:lnTo>
                  <a:lnTo>
                    <a:pt x="65" y="60"/>
                  </a:lnTo>
                  <a:lnTo>
                    <a:pt x="66" y="62"/>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59" name="Freeform 38">
              <a:extLst>
                <a:ext uri="{FF2B5EF4-FFF2-40B4-BE49-F238E27FC236}">
                  <a16:creationId xmlns:a16="http://schemas.microsoft.com/office/drawing/2014/main" id="{7A9227FE-689C-420D-5C48-B555401225A8}"/>
                </a:ext>
              </a:extLst>
            </p:cNvPr>
            <p:cNvSpPr>
              <a:spLocks/>
            </p:cNvSpPr>
            <p:nvPr/>
          </p:nvSpPr>
          <p:spPr bwMode="auto">
            <a:xfrm>
              <a:off x="2917" y="3203"/>
              <a:ext cx="178" cy="29"/>
            </a:xfrm>
            <a:custGeom>
              <a:avLst/>
              <a:gdLst>
                <a:gd name="T0" fmla="*/ 467977 w 108"/>
                <a:gd name="T1" fmla="*/ 530 h 25"/>
                <a:gd name="T2" fmla="*/ 572069 w 108"/>
                <a:gd name="T3" fmla="*/ 516 h 25"/>
                <a:gd name="T4" fmla="*/ 904365 w 108"/>
                <a:gd name="T5" fmla="*/ 455 h 25"/>
                <a:gd name="T6" fmla="*/ 1340297 w 108"/>
                <a:gd name="T7" fmla="*/ 394 h 25"/>
                <a:gd name="T8" fmla="*/ 1899138 w 108"/>
                <a:gd name="T9" fmla="*/ 445 h 25"/>
                <a:gd name="T10" fmla="*/ 2520165 w 108"/>
                <a:gd name="T11" fmla="*/ 394 h 25"/>
                <a:gd name="T12" fmla="*/ 3068888 w 108"/>
                <a:gd name="T13" fmla="*/ 392 h 25"/>
                <a:gd name="T14" fmla="*/ 3543764 w 108"/>
                <a:gd name="T15" fmla="*/ 331 h 25"/>
                <a:gd name="T16" fmla="*/ 3851116 w 108"/>
                <a:gd name="T17" fmla="*/ 117 h 25"/>
                <a:gd name="T18" fmla="*/ 3382615 w 108"/>
                <a:gd name="T19" fmla="*/ 0 h 25"/>
                <a:gd name="T20" fmla="*/ 3279487 w 108"/>
                <a:gd name="T21" fmla="*/ 3 h 25"/>
                <a:gd name="T22" fmla="*/ 2963647 w 108"/>
                <a:gd name="T23" fmla="*/ 101 h 25"/>
                <a:gd name="T24" fmla="*/ 2520165 w 108"/>
                <a:gd name="T25" fmla="*/ 136 h 25"/>
                <a:gd name="T26" fmla="*/ 1899138 w 108"/>
                <a:gd name="T27" fmla="*/ 117 h 25"/>
                <a:gd name="T28" fmla="*/ 1340297 w 108"/>
                <a:gd name="T29" fmla="*/ 136 h 25"/>
                <a:gd name="T30" fmla="*/ 782669 w 108"/>
                <a:gd name="T31" fmla="*/ 158 h 25"/>
                <a:gd name="T32" fmla="*/ 332929 w 108"/>
                <a:gd name="T33" fmla="*/ 251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5" y="20"/>
                  </a:lnTo>
                  <a:lnTo>
                    <a:pt x="37" y="18"/>
                  </a:lnTo>
                  <a:lnTo>
                    <a:pt x="53" y="19"/>
                  </a:lnTo>
                  <a:lnTo>
                    <a:pt x="70" y="18"/>
                  </a:lnTo>
                  <a:lnTo>
                    <a:pt x="85" y="17"/>
                  </a:lnTo>
                  <a:lnTo>
                    <a:pt x="98" y="14"/>
                  </a:lnTo>
                  <a:lnTo>
                    <a:pt x="107" y="5"/>
                  </a:lnTo>
                  <a:lnTo>
                    <a:pt x="94" y="0"/>
                  </a:lnTo>
                  <a:lnTo>
                    <a:pt x="91" y="3"/>
                  </a:lnTo>
                  <a:lnTo>
                    <a:pt x="82" y="4"/>
                  </a:lnTo>
                  <a:lnTo>
                    <a:pt x="70" y="6"/>
                  </a:lnTo>
                  <a:lnTo>
                    <a:pt x="53" y="5"/>
                  </a:lnTo>
                  <a:lnTo>
                    <a:pt x="37" y="6"/>
                  </a:lnTo>
                  <a:lnTo>
                    <a:pt x="22" y="7"/>
                  </a:lnTo>
                  <a:lnTo>
                    <a:pt x="9" y="11"/>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0" name="Freeform 39">
              <a:extLst>
                <a:ext uri="{FF2B5EF4-FFF2-40B4-BE49-F238E27FC236}">
                  <a16:creationId xmlns:a16="http://schemas.microsoft.com/office/drawing/2014/main" id="{3DA6CCF8-78F7-26D4-591D-67E66AE2E5D7}"/>
                </a:ext>
              </a:extLst>
            </p:cNvPr>
            <p:cNvSpPr>
              <a:spLocks/>
            </p:cNvSpPr>
            <p:nvPr/>
          </p:nvSpPr>
          <p:spPr bwMode="auto">
            <a:xfrm>
              <a:off x="2917" y="3226"/>
              <a:ext cx="128" cy="79"/>
            </a:xfrm>
            <a:custGeom>
              <a:avLst/>
              <a:gdLst>
                <a:gd name="T0" fmla="*/ 2532882 w 78"/>
                <a:gd name="T1" fmla="*/ 1158 h 69"/>
                <a:gd name="T2" fmla="*/ 2532882 w 78"/>
                <a:gd name="T3" fmla="*/ 1161 h 69"/>
                <a:gd name="T4" fmla="*/ 2464373 w 78"/>
                <a:gd name="T5" fmla="*/ 950 h 69"/>
                <a:gd name="T6" fmla="*/ 2209400 w 78"/>
                <a:gd name="T7" fmla="*/ 787 h 69"/>
                <a:gd name="T8" fmla="*/ 1812188 w 78"/>
                <a:gd name="T9" fmla="*/ 633 h 69"/>
                <a:gd name="T10" fmla="*/ 1380721 w 78"/>
                <a:gd name="T11" fmla="*/ 490 h 69"/>
                <a:gd name="T12" fmla="*/ 967606 w 78"/>
                <a:gd name="T13" fmla="*/ 349 h 69"/>
                <a:gd name="T14" fmla="*/ 625104 w 78"/>
                <a:gd name="T15" fmla="*/ 218 h 69"/>
                <a:gd name="T16" fmla="*/ 461814 w 78"/>
                <a:gd name="T17" fmla="*/ 111 h 69"/>
                <a:gd name="T18" fmla="*/ 418066 w 78"/>
                <a:gd name="T19" fmla="*/ 74 h 69"/>
                <a:gd name="T20" fmla="*/ 0 w 78"/>
                <a:gd name="T21" fmla="*/ 0 h 69"/>
                <a:gd name="T22" fmla="*/ 57648 w 78"/>
                <a:gd name="T23" fmla="*/ 218 h 69"/>
                <a:gd name="T24" fmla="*/ 323513 w 78"/>
                <a:gd name="T25" fmla="*/ 405 h 69"/>
                <a:gd name="T26" fmla="*/ 720891 w 78"/>
                <a:gd name="T27" fmla="*/ 553 h 69"/>
                <a:gd name="T28" fmla="*/ 1148299 w 78"/>
                <a:gd name="T29" fmla="*/ 696 h 69"/>
                <a:gd name="T30" fmla="*/ 1587866 w 78"/>
                <a:gd name="T31" fmla="*/ 830 h 69"/>
                <a:gd name="T32" fmla="*/ 1906471 w 78"/>
                <a:gd name="T33" fmla="*/ 950 h 69"/>
                <a:gd name="T34" fmla="*/ 2066934 w 78"/>
                <a:gd name="T35" fmla="*/ 1045 h 69"/>
                <a:gd name="T36" fmla="*/ 2101908 w 78"/>
                <a:gd name="T37" fmla="*/ 1088 h 69"/>
                <a:gd name="T38" fmla="*/ 2532882 w 78"/>
                <a:gd name="T39" fmla="*/ 1158 h 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8"/>
                <a:gd name="T61" fmla="*/ 0 h 69"/>
                <a:gd name="T62" fmla="*/ 78 w 78"/>
                <a:gd name="T63" fmla="*/ 69 h 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8" h="69">
                  <a:moveTo>
                    <a:pt x="77" y="67"/>
                  </a:moveTo>
                  <a:lnTo>
                    <a:pt x="77" y="68"/>
                  </a:lnTo>
                  <a:lnTo>
                    <a:pt x="75" y="55"/>
                  </a:lnTo>
                  <a:lnTo>
                    <a:pt x="67" y="45"/>
                  </a:lnTo>
                  <a:lnTo>
                    <a:pt x="55" y="37"/>
                  </a:lnTo>
                  <a:lnTo>
                    <a:pt x="42" y="29"/>
                  </a:lnTo>
                  <a:lnTo>
                    <a:pt x="29" y="20"/>
                  </a:lnTo>
                  <a:lnTo>
                    <a:pt x="19" y="13"/>
                  </a:lnTo>
                  <a:lnTo>
                    <a:pt x="14" y="7"/>
                  </a:lnTo>
                  <a:lnTo>
                    <a:pt x="13" y="4"/>
                  </a:lnTo>
                  <a:lnTo>
                    <a:pt x="0" y="0"/>
                  </a:lnTo>
                  <a:lnTo>
                    <a:pt x="2" y="13"/>
                  </a:lnTo>
                  <a:lnTo>
                    <a:pt x="10" y="24"/>
                  </a:lnTo>
                  <a:lnTo>
                    <a:pt x="22" y="32"/>
                  </a:lnTo>
                  <a:lnTo>
                    <a:pt x="35" y="40"/>
                  </a:lnTo>
                  <a:lnTo>
                    <a:pt x="48" y="48"/>
                  </a:lnTo>
                  <a:lnTo>
                    <a:pt x="58" y="55"/>
                  </a:lnTo>
                  <a:lnTo>
                    <a:pt x="63" y="61"/>
                  </a:lnTo>
                  <a:lnTo>
                    <a:pt x="64" y="63"/>
                  </a:lnTo>
                  <a:lnTo>
                    <a:pt x="77"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1" name="Freeform 40">
              <a:extLst>
                <a:ext uri="{FF2B5EF4-FFF2-40B4-BE49-F238E27FC236}">
                  <a16:creationId xmlns:a16="http://schemas.microsoft.com/office/drawing/2014/main" id="{1CF6272D-37E3-911A-D832-16613DE8C055}"/>
                </a:ext>
              </a:extLst>
            </p:cNvPr>
            <p:cNvSpPr>
              <a:spLocks/>
            </p:cNvSpPr>
            <p:nvPr/>
          </p:nvSpPr>
          <p:spPr bwMode="auto">
            <a:xfrm>
              <a:off x="3022" y="3299"/>
              <a:ext cx="23" cy="5"/>
            </a:xfrm>
            <a:custGeom>
              <a:avLst/>
              <a:gdLst>
                <a:gd name="T0" fmla="*/ 439537 w 14"/>
                <a:gd name="T1" fmla="*/ 4 h 5"/>
                <a:gd name="T2" fmla="*/ 200264 w 14"/>
                <a:gd name="T3" fmla="*/ 2 h 5"/>
                <a:gd name="T4" fmla="*/ 0 w 14"/>
                <a:gd name="T5" fmla="*/ 0 h 5"/>
                <a:gd name="T6" fmla="*/ 439537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13" y="4"/>
                  </a:moveTo>
                  <a:lnTo>
                    <a:pt x="6" y="2"/>
                  </a:lnTo>
                  <a:lnTo>
                    <a:pt x="0" y="0"/>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2" name="Freeform 41">
              <a:extLst>
                <a:ext uri="{FF2B5EF4-FFF2-40B4-BE49-F238E27FC236}">
                  <a16:creationId xmlns:a16="http://schemas.microsoft.com/office/drawing/2014/main" id="{687759BB-AD43-E10B-9E32-97EB4DE8EF2C}"/>
                </a:ext>
              </a:extLst>
            </p:cNvPr>
            <p:cNvSpPr>
              <a:spLocks/>
            </p:cNvSpPr>
            <p:nvPr/>
          </p:nvSpPr>
          <p:spPr bwMode="auto">
            <a:xfrm>
              <a:off x="2869" y="3299"/>
              <a:ext cx="176" cy="29"/>
            </a:xfrm>
            <a:custGeom>
              <a:avLst/>
              <a:gdLst>
                <a:gd name="T0" fmla="*/ 448956 w 107"/>
                <a:gd name="T1" fmla="*/ 254 h 26"/>
                <a:gd name="T2" fmla="*/ 520021 w 107"/>
                <a:gd name="T3" fmla="*/ 229 h 26"/>
                <a:gd name="T4" fmla="*/ 818282 w 107"/>
                <a:gd name="T5" fmla="*/ 205 h 26"/>
                <a:gd name="T6" fmla="*/ 1274250 w 107"/>
                <a:gd name="T7" fmla="*/ 204 h 26"/>
                <a:gd name="T8" fmla="*/ 1829721 w 107"/>
                <a:gd name="T9" fmla="*/ 204 h 26"/>
                <a:gd name="T10" fmla="*/ 2374059 w 107"/>
                <a:gd name="T11" fmla="*/ 204 h 26"/>
                <a:gd name="T12" fmla="*/ 2899460 w 107"/>
                <a:gd name="T13" fmla="*/ 183 h 26"/>
                <a:gd name="T14" fmla="*/ 3361858 w 107"/>
                <a:gd name="T15" fmla="*/ 147 h 26"/>
                <a:gd name="T16" fmla="*/ 3649694 w 107"/>
                <a:gd name="T17" fmla="*/ 4 h 26"/>
                <a:gd name="T18" fmla="*/ 3223782 w 107"/>
                <a:gd name="T19" fmla="*/ 0 h 26"/>
                <a:gd name="T20" fmla="*/ 3107351 w 107"/>
                <a:gd name="T21" fmla="*/ 2 h 26"/>
                <a:gd name="T22" fmla="*/ 2796262 w 107"/>
                <a:gd name="T23" fmla="*/ 56 h 26"/>
                <a:gd name="T24" fmla="*/ 2374059 w 107"/>
                <a:gd name="T25" fmla="*/ 62 h 26"/>
                <a:gd name="T26" fmla="*/ 1829721 w 107"/>
                <a:gd name="T27" fmla="*/ 56 h 26"/>
                <a:gd name="T28" fmla="*/ 1274250 w 107"/>
                <a:gd name="T29" fmla="*/ 62 h 26"/>
                <a:gd name="T30" fmla="*/ 738470 w 107"/>
                <a:gd name="T31" fmla="*/ 69 h 26"/>
                <a:gd name="T32" fmla="*/ 316149 w 107"/>
                <a:gd name="T33" fmla="*/ 107 h 26"/>
                <a:gd name="T34" fmla="*/ 0 w 107"/>
                <a:gd name="T35" fmla="*/ 205 h 26"/>
                <a:gd name="T36" fmla="*/ 448956 w 107"/>
                <a:gd name="T37" fmla="*/ 254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5" y="23"/>
                  </a:lnTo>
                  <a:lnTo>
                    <a:pt x="24" y="21"/>
                  </a:lnTo>
                  <a:lnTo>
                    <a:pt x="37" y="20"/>
                  </a:lnTo>
                  <a:lnTo>
                    <a:pt x="53" y="20"/>
                  </a:lnTo>
                  <a:lnTo>
                    <a:pt x="69" y="20"/>
                  </a:lnTo>
                  <a:lnTo>
                    <a:pt x="84" y="18"/>
                  </a:lnTo>
                  <a:lnTo>
                    <a:pt x="97" y="14"/>
                  </a:lnTo>
                  <a:lnTo>
                    <a:pt x="106" y="4"/>
                  </a:lnTo>
                  <a:lnTo>
                    <a:pt x="93" y="0"/>
                  </a:lnTo>
                  <a:lnTo>
                    <a:pt x="90" y="2"/>
                  </a:lnTo>
                  <a:lnTo>
                    <a:pt x="81" y="5"/>
                  </a:lnTo>
                  <a:lnTo>
                    <a:pt x="69" y="6"/>
                  </a:lnTo>
                  <a:lnTo>
                    <a:pt x="53" y="5"/>
                  </a:lnTo>
                  <a:lnTo>
                    <a:pt x="37" y="6"/>
                  </a:lnTo>
                  <a:lnTo>
                    <a:pt x="21"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3" name="Freeform 42">
              <a:extLst>
                <a:ext uri="{FF2B5EF4-FFF2-40B4-BE49-F238E27FC236}">
                  <a16:creationId xmlns:a16="http://schemas.microsoft.com/office/drawing/2014/main" id="{5DAA1BA4-AE9B-93B5-B218-2D70E6BF0B59}"/>
                </a:ext>
              </a:extLst>
            </p:cNvPr>
            <p:cNvSpPr>
              <a:spLocks/>
            </p:cNvSpPr>
            <p:nvPr/>
          </p:nvSpPr>
          <p:spPr bwMode="auto">
            <a:xfrm>
              <a:off x="2869" y="3323"/>
              <a:ext cx="132" cy="76"/>
            </a:xfrm>
            <a:custGeom>
              <a:avLst/>
              <a:gdLst>
                <a:gd name="T0" fmla="*/ 2918860 w 80"/>
                <a:gd name="T1" fmla="*/ 1246 h 66"/>
                <a:gd name="T2" fmla="*/ 2842721 w 80"/>
                <a:gd name="T3" fmla="*/ 1001 h 66"/>
                <a:gd name="T4" fmla="*/ 2506601 w 80"/>
                <a:gd name="T5" fmla="*/ 839 h 66"/>
                <a:gd name="T6" fmla="*/ 2062134 w 80"/>
                <a:gd name="T7" fmla="*/ 656 h 66"/>
                <a:gd name="T8" fmla="*/ 1584345 w 80"/>
                <a:gd name="T9" fmla="*/ 508 h 66"/>
                <a:gd name="T10" fmla="*/ 1100611 w 80"/>
                <a:gd name="T11" fmla="*/ 371 h 66"/>
                <a:gd name="T12" fmla="*/ 692147 w 80"/>
                <a:gd name="T13" fmla="*/ 236 h 66"/>
                <a:gd name="T14" fmla="*/ 520035 w 80"/>
                <a:gd name="T15" fmla="*/ 117 h 66"/>
                <a:gd name="T16" fmla="*/ 477527 w 80"/>
                <a:gd name="T17" fmla="*/ 89 h 66"/>
                <a:gd name="T18" fmla="*/ 0 w 80"/>
                <a:gd name="T19" fmla="*/ 0 h 66"/>
                <a:gd name="T20" fmla="*/ 64426 w 80"/>
                <a:gd name="T21" fmla="*/ 251 h 66"/>
                <a:gd name="T22" fmla="*/ 377109 w 80"/>
                <a:gd name="T23" fmla="*/ 427 h 66"/>
                <a:gd name="T24" fmla="*/ 796859 w 80"/>
                <a:gd name="T25" fmla="*/ 585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8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4"/>
                  </a:lnTo>
                  <a:lnTo>
                    <a:pt x="43" y="26"/>
                  </a:lnTo>
                  <a:lnTo>
                    <a:pt x="30" y="19"/>
                  </a:lnTo>
                  <a:lnTo>
                    <a:pt x="19" y="12"/>
                  </a:lnTo>
                  <a:lnTo>
                    <a:pt x="14" y="6"/>
                  </a:lnTo>
                  <a:lnTo>
                    <a:pt x="13" y="4"/>
                  </a:lnTo>
                  <a:lnTo>
                    <a:pt x="0" y="0"/>
                  </a:lnTo>
                  <a:lnTo>
                    <a:pt x="2" y="13"/>
                  </a:lnTo>
                  <a:lnTo>
                    <a:pt x="10" y="22"/>
                  </a:lnTo>
                  <a:lnTo>
                    <a:pt x="22" y="30"/>
                  </a:lnTo>
                  <a:lnTo>
                    <a:pt x="36" y="38"/>
                  </a:lnTo>
                  <a:lnTo>
                    <a:pt x="49" y="46"/>
                  </a:lnTo>
                  <a:lnTo>
                    <a:pt x="59" y="53"/>
                  </a:lnTo>
                  <a:lnTo>
                    <a:pt x="65" y="59"/>
                  </a:lnTo>
                  <a:lnTo>
                    <a:pt x="66" y="62"/>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4" name="Freeform 43">
              <a:extLst>
                <a:ext uri="{FF2B5EF4-FFF2-40B4-BE49-F238E27FC236}">
                  <a16:creationId xmlns:a16="http://schemas.microsoft.com/office/drawing/2014/main" id="{D82FE190-36B5-DD6F-D218-A50413222D08}"/>
                </a:ext>
              </a:extLst>
            </p:cNvPr>
            <p:cNvSpPr>
              <a:spLocks/>
            </p:cNvSpPr>
            <p:nvPr/>
          </p:nvSpPr>
          <p:spPr bwMode="auto">
            <a:xfrm>
              <a:off x="2823" y="3393"/>
              <a:ext cx="178" cy="29"/>
            </a:xfrm>
            <a:custGeom>
              <a:avLst/>
              <a:gdLst>
                <a:gd name="T0" fmla="*/ 467977 w 108"/>
                <a:gd name="T1" fmla="*/ 530 h 25"/>
                <a:gd name="T2" fmla="*/ 572069 w 108"/>
                <a:gd name="T3" fmla="*/ 516 h 25"/>
                <a:gd name="T4" fmla="*/ 881942 w 108"/>
                <a:gd name="T5" fmla="*/ 455 h 25"/>
                <a:gd name="T6" fmla="*/ 1340297 w 108"/>
                <a:gd name="T7" fmla="*/ 394 h 25"/>
                <a:gd name="T8" fmla="*/ 1899138 w 108"/>
                <a:gd name="T9" fmla="*/ 445 h 25"/>
                <a:gd name="T10" fmla="*/ 2496818 w 108"/>
                <a:gd name="T11" fmla="*/ 394 h 25"/>
                <a:gd name="T12" fmla="*/ 3008657 w 108"/>
                <a:gd name="T13" fmla="*/ 392 h 25"/>
                <a:gd name="T14" fmla="*/ 3504021 w 108"/>
                <a:gd name="T15" fmla="*/ 291 h 25"/>
                <a:gd name="T16" fmla="*/ 3851116 w 108"/>
                <a:gd name="T17" fmla="*/ 3 h 25"/>
                <a:gd name="T18" fmla="*/ 3382615 w 108"/>
                <a:gd name="T19" fmla="*/ 0 h 25"/>
                <a:gd name="T20" fmla="*/ 3279487 w 108"/>
                <a:gd name="T21" fmla="*/ 2 h 25"/>
                <a:gd name="T22" fmla="*/ 2963647 w 108"/>
                <a:gd name="T23" fmla="*/ 101 h 25"/>
                <a:gd name="T24" fmla="*/ 2496818 w 108"/>
                <a:gd name="T25" fmla="*/ 117 h 25"/>
                <a:gd name="T26" fmla="*/ 1899138 w 108"/>
                <a:gd name="T27" fmla="*/ 117 h 25"/>
                <a:gd name="T28" fmla="*/ 1340297 w 108"/>
                <a:gd name="T29" fmla="*/ 117 h 25"/>
                <a:gd name="T30" fmla="*/ 771295 w 108"/>
                <a:gd name="T31" fmla="*/ 158 h 25"/>
                <a:gd name="T32" fmla="*/ 332929 w 108"/>
                <a:gd name="T33" fmla="*/ 246 h 25"/>
                <a:gd name="T34" fmla="*/ 0 w 108"/>
                <a:gd name="T35" fmla="*/ 455 h 25"/>
                <a:gd name="T36" fmla="*/ 467977 w 108"/>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5"/>
                <a:gd name="T59" fmla="*/ 108 w 108"/>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5">
                  <a:moveTo>
                    <a:pt x="13" y="24"/>
                  </a:moveTo>
                  <a:lnTo>
                    <a:pt x="16" y="22"/>
                  </a:lnTo>
                  <a:lnTo>
                    <a:pt x="24" y="20"/>
                  </a:lnTo>
                  <a:lnTo>
                    <a:pt x="37" y="18"/>
                  </a:lnTo>
                  <a:lnTo>
                    <a:pt x="53" y="19"/>
                  </a:lnTo>
                  <a:lnTo>
                    <a:pt x="69" y="18"/>
                  </a:lnTo>
                  <a:lnTo>
                    <a:pt x="84" y="17"/>
                  </a:lnTo>
                  <a:lnTo>
                    <a:pt x="97" y="13"/>
                  </a:lnTo>
                  <a:lnTo>
                    <a:pt x="107" y="3"/>
                  </a:lnTo>
                  <a:lnTo>
                    <a:pt x="94" y="0"/>
                  </a:lnTo>
                  <a:lnTo>
                    <a:pt x="91" y="2"/>
                  </a:lnTo>
                  <a:lnTo>
                    <a:pt x="82" y="4"/>
                  </a:lnTo>
                  <a:lnTo>
                    <a:pt x="69" y="5"/>
                  </a:lnTo>
                  <a:lnTo>
                    <a:pt x="53" y="5"/>
                  </a:lnTo>
                  <a:lnTo>
                    <a:pt x="37" y="5"/>
                  </a:lnTo>
                  <a:lnTo>
                    <a:pt x="21"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5" name="Freeform 44">
              <a:extLst>
                <a:ext uri="{FF2B5EF4-FFF2-40B4-BE49-F238E27FC236}">
                  <a16:creationId xmlns:a16="http://schemas.microsoft.com/office/drawing/2014/main" id="{3EAC85D3-6C21-A5A9-3F7A-7D5938A4A879}"/>
                </a:ext>
              </a:extLst>
            </p:cNvPr>
            <p:cNvSpPr>
              <a:spLocks/>
            </p:cNvSpPr>
            <p:nvPr/>
          </p:nvSpPr>
          <p:spPr bwMode="auto">
            <a:xfrm>
              <a:off x="2823" y="3416"/>
              <a:ext cx="136" cy="71"/>
            </a:xfrm>
            <a:custGeom>
              <a:avLst/>
              <a:gdLst>
                <a:gd name="T0" fmla="*/ 3316748 w 82"/>
                <a:gd name="T1" fmla="*/ 1017 h 62"/>
                <a:gd name="T2" fmla="*/ 3310262 w 82"/>
                <a:gd name="T3" fmla="*/ 1046 h 62"/>
                <a:gd name="T4" fmla="*/ 3175910 w 82"/>
                <a:gd name="T5" fmla="*/ 838 h 62"/>
                <a:gd name="T6" fmla="*/ 2793281 w 82"/>
                <a:gd name="T7" fmla="*/ 715 h 62"/>
                <a:gd name="T8" fmla="*/ 2301297 w 82"/>
                <a:gd name="T9" fmla="*/ 566 h 62"/>
                <a:gd name="T10" fmla="*/ 1767504 w 82"/>
                <a:gd name="T11" fmla="*/ 462 h 62"/>
                <a:gd name="T12" fmla="*/ 1203406 w 82"/>
                <a:gd name="T13" fmla="*/ 328 h 62"/>
                <a:gd name="T14" fmla="*/ 792167 w 82"/>
                <a:gd name="T15" fmla="*/ 190 h 62"/>
                <a:gd name="T16" fmla="*/ 563196 w 82"/>
                <a:gd name="T17" fmla="*/ 97 h 62"/>
                <a:gd name="T18" fmla="*/ 543340 w 82"/>
                <a:gd name="T19" fmla="*/ 74 h 62"/>
                <a:gd name="T20" fmla="*/ 0 w 82"/>
                <a:gd name="T21" fmla="*/ 0 h 62"/>
                <a:gd name="T22" fmla="*/ 71808 w 82"/>
                <a:gd name="T23" fmla="*/ 211 h 62"/>
                <a:gd name="T24" fmla="*/ 413734 w 82"/>
                <a:gd name="T25" fmla="*/ 376 h 62"/>
                <a:gd name="T26" fmla="*/ 934081 w 82"/>
                <a:gd name="T27" fmla="*/ 529 h 62"/>
                <a:gd name="T28" fmla="*/ 1494589 w 82"/>
                <a:gd name="T29" fmla="*/ 634 h 62"/>
                <a:gd name="T30" fmla="*/ 1999804 w 82"/>
                <a:gd name="T31" fmla="*/ 795 h 62"/>
                <a:gd name="T32" fmla="*/ 2478831 w 82"/>
                <a:gd name="T33" fmla="*/ 882 h 62"/>
                <a:gd name="T34" fmla="*/ 2707123 w 82"/>
                <a:gd name="T35" fmla="*/ 973 h 62"/>
                <a:gd name="T36" fmla="*/ 2751824 w 82"/>
                <a:gd name="T37" fmla="*/ 973 h 62"/>
                <a:gd name="T38" fmla="*/ 2707123 w 82"/>
                <a:gd name="T39" fmla="*/ 1017 h 62"/>
                <a:gd name="T40" fmla="*/ 2751824 w 82"/>
                <a:gd name="T41" fmla="*/ 973 h 62"/>
                <a:gd name="T42" fmla="*/ 2707123 w 82"/>
                <a:gd name="T43" fmla="*/ 1017 h 62"/>
                <a:gd name="T44" fmla="*/ 3316748 w 82"/>
                <a:gd name="T45" fmla="*/ 1017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62"/>
                <a:gd name="T71" fmla="*/ 82 w 82"/>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62">
                  <a:moveTo>
                    <a:pt x="81" y="59"/>
                  </a:moveTo>
                  <a:lnTo>
                    <a:pt x="80" y="61"/>
                  </a:lnTo>
                  <a:lnTo>
                    <a:pt x="77" y="49"/>
                  </a:lnTo>
                  <a:lnTo>
                    <a:pt x="68" y="41"/>
                  </a:lnTo>
                  <a:lnTo>
                    <a:pt x="56" y="33"/>
                  </a:lnTo>
                  <a:lnTo>
                    <a:pt x="43" y="26"/>
                  </a:lnTo>
                  <a:lnTo>
                    <a:pt x="29" y="19"/>
                  </a:lnTo>
                  <a:lnTo>
                    <a:pt x="19" y="11"/>
                  </a:lnTo>
                  <a:lnTo>
                    <a:pt x="14" y="6"/>
                  </a:lnTo>
                  <a:lnTo>
                    <a:pt x="13" y="4"/>
                  </a:lnTo>
                  <a:lnTo>
                    <a:pt x="0" y="0"/>
                  </a:lnTo>
                  <a:lnTo>
                    <a:pt x="2" y="12"/>
                  </a:lnTo>
                  <a:lnTo>
                    <a:pt x="10" y="22"/>
                  </a:lnTo>
                  <a:lnTo>
                    <a:pt x="23" y="30"/>
                  </a:lnTo>
                  <a:lnTo>
                    <a:pt x="36" y="37"/>
                  </a:lnTo>
                  <a:lnTo>
                    <a:pt x="49" y="45"/>
                  </a:lnTo>
                  <a:lnTo>
                    <a:pt x="60" y="51"/>
                  </a:lnTo>
                  <a:lnTo>
                    <a:pt x="66" y="57"/>
                  </a:lnTo>
                  <a:lnTo>
                    <a:pt x="67" y="57"/>
                  </a:lnTo>
                  <a:lnTo>
                    <a:pt x="66" y="59"/>
                  </a:lnTo>
                  <a:lnTo>
                    <a:pt x="67" y="57"/>
                  </a:lnTo>
                  <a:lnTo>
                    <a:pt x="66" y="59"/>
                  </a:lnTo>
                  <a:lnTo>
                    <a:pt x="81" y="5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6" name="Freeform 45">
              <a:extLst>
                <a:ext uri="{FF2B5EF4-FFF2-40B4-BE49-F238E27FC236}">
                  <a16:creationId xmlns:a16="http://schemas.microsoft.com/office/drawing/2014/main" id="{BD677B14-49A6-5165-5E35-0972AF4B69F4}"/>
                </a:ext>
              </a:extLst>
            </p:cNvPr>
            <p:cNvSpPr>
              <a:spLocks/>
            </p:cNvSpPr>
            <p:nvPr/>
          </p:nvSpPr>
          <p:spPr bwMode="auto">
            <a:xfrm>
              <a:off x="2932" y="3483"/>
              <a:ext cx="27" cy="6"/>
            </a:xfrm>
            <a:custGeom>
              <a:avLst/>
              <a:gdLst>
                <a:gd name="T0" fmla="*/ 824491 w 16"/>
                <a:gd name="T1" fmla="*/ 5 h 6"/>
                <a:gd name="T2" fmla="*/ 879388 w 16"/>
                <a:gd name="T3" fmla="*/ 3 h 6"/>
                <a:gd name="T4" fmla="*/ 879388 w 16"/>
                <a:gd name="T5" fmla="*/ 1 h 6"/>
                <a:gd name="T6" fmla="*/ 0 w 16"/>
                <a:gd name="T7" fmla="*/ 1 h 6"/>
                <a:gd name="T8" fmla="*/ 0 w 16"/>
                <a:gd name="T9" fmla="*/ 3 h 6"/>
                <a:gd name="T10" fmla="*/ 62006 w 16"/>
                <a:gd name="T11" fmla="*/ 0 h 6"/>
                <a:gd name="T12" fmla="*/ 824491 w 16"/>
                <a:gd name="T13" fmla="*/ 5 h 6"/>
                <a:gd name="T14" fmla="*/ 879388 w 16"/>
                <a:gd name="T15" fmla="*/ 4 h 6"/>
                <a:gd name="T16" fmla="*/ 879388 w 16"/>
                <a:gd name="T17" fmla="*/ 3 h 6"/>
                <a:gd name="T18" fmla="*/ 824491 w 16"/>
                <a:gd name="T19" fmla="*/ 5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6"/>
                <a:gd name="T32" fmla="*/ 16 w 1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6">
                  <a:moveTo>
                    <a:pt x="14" y="5"/>
                  </a:moveTo>
                  <a:lnTo>
                    <a:pt x="15" y="3"/>
                  </a:lnTo>
                  <a:lnTo>
                    <a:pt x="15" y="1"/>
                  </a:lnTo>
                  <a:lnTo>
                    <a:pt x="0" y="1"/>
                  </a:lnTo>
                  <a:lnTo>
                    <a:pt x="0" y="3"/>
                  </a:lnTo>
                  <a:lnTo>
                    <a:pt x="1" y="0"/>
                  </a:lnTo>
                  <a:lnTo>
                    <a:pt x="14" y="5"/>
                  </a:lnTo>
                  <a:lnTo>
                    <a:pt x="15" y="4"/>
                  </a:lnTo>
                  <a:lnTo>
                    <a:pt x="15" y="3"/>
                  </a:lnTo>
                  <a:lnTo>
                    <a:pt x="14"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7" name="Freeform 46">
              <a:extLst>
                <a:ext uri="{FF2B5EF4-FFF2-40B4-BE49-F238E27FC236}">
                  <a16:creationId xmlns:a16="http://schemas.microsoft.com/office/drawing/2014/main" id="{56B2D84C-3ADD-427F-4519-3C3F813FFC4C}"/>
                </a:ext>
              </a:extLst>
            </p:cNvPr>
            <p:cNvSpPr>
              <a:spLocks/>
            </p:cNvSpPr>
            <p:nvPr/>
          </p:nvSpPr>
          <p:spPr bwMode="auto">
            <a:xfrm>
              <a:off x="2783" y="3483"/>
              <a:ext cx="173" cy="31"/>
            </a:xfrm>
            <a:custGeom>
              <a:avLst/>
              <a:gdLst>
                <a:gd name="T0" fmla="*/ 373313 w 106"/>
                <a:gd name="T1" fmla="*/ 473 h 27"/>
                <a:gd name="T2" fmla="*/ 430014 w 106"/>
                <a:gd name="T3" fmla="*/ 412 h 27"/>
                <a:gd name="T4" fmla="*/ 701815 w 106"/>
                <a:gd name="T5" fmla="*/ 377 h 27"/>
                <a:gd name="T6" fmla="*/ 1079154 w 106"/>
                <a:gd name="T7" fmla="*/ 355 h 27"/>
                <a:gd name="T8" fmla="*/ 1530828 w 106"/>
                <a:gd name="T9" fmla="*/ 355 h 27"/>
                <a:gd name="T10" fmla="*/ 1989524 w 106"/>
                <a:gd name="T11" fmla="*/ 355 h 27"/>
                <a:gd name="T12" fmla="*/ 2421995 w 106"/>
                <a:gd name="T13" fmla="*/ 313 h 27"/>
                <a:gd name="T14" fmla="*/ 2820902 w 106"/>
                <a:gd name="T15" fmla="*/ 249 h 27"/>
                <a:gd name="T16" fmla="*/ 3075039 w 106"/>
                <a:gd name="T17" fmla="*/ 104 h 27"/>
                <a:gd name="T18" fmla="*/ 2702097 w 106"/>
                <a:gd name="T19" fmla="*/ 0 h 27"/>
                <a:gd name="T20" fmla="*/ 2613447 w 106"/>
                <a:gd name="T21" fmla="*/ 2 h 27"/>
                <a:gd name="T22" fmla="*/ 2370041 w 106"/>
                <a:gd name="T23" fmla="*/ 79 h 27"/>
                <a:gd name="T24" fmla="*/ 1989524 w 106"/>
                <a:gd name="T25" fmla="*/ 104 h 27"/>
                <a:gd name="T26" fmla="*/ 1530828 w 106"/>
                <a:gd name="T27" fmla="*/ 91 h 27"/>
                <a:gd name="T28" fmla="*/ 1059028 w 106"/>
                <a:gd name="T29" fmla="*/ 104 h 27"/>
                <a:gd name="T30" fmla="*/ 609275 w 106"/>
                <a:gd name="T31" fmla="*/ 137 h 27"/>
                <a:gd name="T32" fmla="*/ 263477 w 106"/>
                <a:gd name="T33" fmla="*/ 217 h 27"/>
                <a:gd name="T34" fmla="*/ 0 w 106"/>
                <a:gd name="T35" fmla="*/ 408 h 27"/>
                <a:gd name="T36" fmla="*/ 373313 w 106"/>
                <a:gd name="T37" fmla="*/ 47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7"/>
                <a:gd name="T59" fmla="*/ 106 w 106"/>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7">
                  <a:moveTo>
                    <a:pt x="13" y="26"/>
                  </a:moveTo>
                  <a:lnTo>
                    <a:pt x="15" y="23"/>
                  </a:lnTo>
                  <a:lnTo>
                    <a:pt x="24" y="21"/>
                  </a:lnTo>
                  <a:lnTo>
                    <a:pt x="37" y="19"/>
                  </a:lnTo>
                  <a:lnTo>
                    <a:pt x="52" y="19"/>
                  </a:lnTo>
                  <a:lnTo>
                    <a:pt x="68" y="19"/>
                  </a:lnTo>
                  <a:lnTo>
                    <a:pt x="83" y="17"/>
                  </a:lnTo>
                  <a:lnTo>
                    <a:pt x="96" y="14"/>
                  </a:lnTo>
                  <a:lnTo>
                    <a:pt x="105" y="6"/>
                  </a:lnTo>
                  <a:lnTo>
                    <a:pt x="92" y="0"/>
                  </a:lnTo>
                  <a:lnTo>
                    <a:pt x="89" y="2"/>
                  </a:lnTo>
                  <a:lnTo>
                    <a:pt x="81" y="4"/>
                  </a:lnTo>
                  <a:lnTo>
                    <a:pt x="68" y="6"/>
                  </a:lnTo>
                  <a:lnTo>
                    <a:pt x="52" y="5"/>
                  </a:lnTo>
                  <a:lnTo>
                    <a:pt x="36" y="6"/>
                  </a:lnTo>
                  <a:lnTo>
                    <a:pt x="21" y="8"/>
                  </a:lnTo>
                  <a:lnTo>
                    <a:pt x="9" y="12"/>
                  </a:lnTo>
                  <a:lnTo>
                    <a:pt x="0" y="22"/>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8" name="Freeform 47">
              <a:extLst>
                <a:ext uri="{FF2B5EF4-FFF2-40B4-BE49-F238E27FC236}">
                  <a16:creationId xmlns:a16="http://schemas.microsoft.com/office/drawing/2014/main" id="{0D105A23-3A71-6112-4040-559E61CA4655}"/>
                </a:ext>
              </a:extLst>
            </p:cNvPr>
            <p:cNvSpPr>
              <a:spLocks/>
            </p:cNvSpPr>
            <p:nvPr/>
          </p:nvSpPr>
          <p:spPr bwMode="auto">
            <a:xfrm>
              <a:off x="2783" y="350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10 h 66"/>
                <a:gd name="T10" fmla="*/ 1040012 w 79"/>
                <a:gd name="T11" fmla="*/ 371 h 66"/>
                <a:gd name="T12" fmla="*/ 656503 w 79"/>
                <a:gd name="T13" fmla="*/ 236 h 66"/>
                <a:gd name="T14" fmla="*/ 451334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587 h 66"/>
                <a:gd name="T26" fmla="*/ 1222168 w 79"/>
                <a:gd name="T27" fmla="*/ 755 h 66"/>
                <a:gd name="T28" fmla="*/ 1711412 w 79"/>
                <a:gd name="T29" fmla="*/ 896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7"/>
                  </a:lnTo>
                  <a:lnTo>
                    <a:pt x="30" y="19"/>
                  </a:lnTo>
                  <a:lnTo>
                    <a:pt x="19" y="12"/>
                  </a:lnTo>
                  <a:lnTo>
                    <a:pt x="13" y="6"/>
                  </a:lnTo>
                  <a:lnTo>
                    <a:pt x="13" y="4"/>
                  </a:lnTo>
                  <a:lnTo>
                    <a:pt x="0" y="0"/>
                  </a:lnTo>
                  <a:lnTo>
                    <a:pt x="2" y="13"/>
                  </a:lnTo>
                  <a:lnTo>
                    <a:pt x="10" y="23"/>
                  </a:lnTo>
                  <a:lnTo>
                    <a:pt x="22" y="31"/>
                  </a:lnTo>
                  <a:lnTo>
                    <a:pt x="35" y="39"/>
                  </a:lnTo>
                  <a:lnTo>
                    <a:pt x="49" y="47"/>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69" name="Freeform 48">
              <a:extLst>
                <a:ext uri="{FF2B5EF4-FFF2-40B4-BE49-F238E27FC236}">
                  <a16:creationId xmlns:a16="http://schemas.microsoft.com/office/drawing/2014/main" id="{86C6FEAF-0A4C-CD97-36B9-F023F1B07C68}"/>
                </a:ext>
              </a:extLst>
            </p:cNvPr>
            <p:cNvSpPr>
              <a:spLocks/>
            </p:cNvSpPr>
            <p:nvPr/>
          </p:nvSpPr>
          <p:spPr bwMode="auto">
            <a:xfrm>
              <a:off x="2737" y="3578"/>
              <a:ext cx="176" cy="29"/>
            </a:xfrm>
            <a:custGeom>
              <a:avLst/>
              <a:gdLst>
                <a:gd name="T0" fmla="*/ 448956 w 107"/>
                <a:gd name="T1" fmla="*/ 530 h 25"/>
                <a:gd name="T2" fmla="*/ 520021 w 107"/>
                <a:gd name="T3" fmla="*/ 516 h 25"/>
                <a:gd name="T4" fmla="*/ 818282 w 107"/>
                <a:gd name="T5" fmla="*/ 445 h 25"/>
                <a:gd name="T6" fmla="*/ 1274250 w 107"/>
                <a:gd name="T7" fmla="*/ 394 h 25"/>
                <a:gd name="T8" fmla="*/ 1829721 w 107"/>
                <a:gd name="T9" fmla="*/ 394 h 25"/>
                <a:gd name="T10" fmla="*/ 2374059 w 107"/>
                <a:gd name="T11" fmla="*/ 394 h 25"/>
                <a:gd name="T12" fmla="*/ 2937350 w 107"/>
                <a:gd name="T13" fmla="*/ 384 h 25"/>
                <a:gd name="T14" fmla="*/ 3361858 w 107"/>
                <a:gd name="T15" fmla="*/ 291 h 25"/>
                <a:gd name="T16" fmla="*/ 3649694 w 107"/>
                <a:gd name="T17" fmla="*/ 101 h 25"/>
                <a:gd name="T18" fmla="*/ 3223782 w 107"/>
                <a:gd name="T19" fmla="*/ 0 h 25"/>
                <a:gd name="T20" fmla="*/ 3156192 w 107"/>
                <a:gd name="T21" fmla="*/ 2 h 25"/>
                <a:gd name="T22" fmla="*/ 2833329 w 107"/>
                <a:gd name="T23" fmla="*/ 101 h 25"/>
                <a:gd name="T24" fmla="*/ 2374059 w 107"/>
                <a:gd name="T25" fmla="*/ 117 h 25"/>
                <a:gd name="T26" fmla="*/ 1829721 w 107"/>
                <a:gd name="T27" fmla="*/ 117 h 25"/>
                <a:gd name="T28" fmla="*/ 1274250 w 107"/>
                <a:gd name="T29" fmla="*/ 136 h 25"/>
                <a:gd name="T30" fmla="*/ 755427 w 107"/>
                <a:gd name="T31" fmla="*/ 136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5" y="22"/>
                  </a:lnTo>
                  <a:lnTo>
                    <a:pt x="24" y="19"/>
                  </a:lnTo>
                  <a:lnTo>
                    <a:pt x="37" y="18"/>
                  </a:lnTo>
                  <a:lnTo>
                    <a:pt x="53" y="18"/>
                  </a:lnTo>
                  <a:lnTo>
                    <a:pt x="69" y="18"/>
                  </a:lnTo>
                  <a:lnTo>
                    <a:pt x="85" y="16"/>
                  </a:lnTo>
                  <a:lnTo>
                    <a:pt x="97" y="13"/>
                  </a:lnTo>
                  <a:lnTo>
                    <a:pt x="106" y="4"/>
                  </a:lnTo>
                  <a:lnTo>
                    <a:pt x="93" y="0"/>
                  </a:lnTo>
                  <a:lnTo>
                    <a:pt x="91" y="2"/>
                  </a:lnTo>
                  <a:lnTo>
                    <a:pt x="82" y="4"/>
                  </a:lnTo>
                  <a:lnTo>
                    <a:pt x="69" y="5"/>
                  </a:lnTo>
                  <a:lnTo>
                    <a:pt x="53" y="5"/>
                  </a:lnTo>
                  <a:lnTo>
                    <a:pt x="37" y="6"/>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70" name="Freeform 49">
              <a:extLst>
                <a:ext uri="{FF2B5EF4-FFF2-40B4-BE49-F238E27FC236}">
                  <a16:creationId xmlns:a16="http://schemas.microsoft.com/office/drawing/2014/main" id="{9678836E-694A-6E0E-A5AE-2E1F3D865AC9}"/>
                </a:ext>
              </a:extLst>
            </p:cNvPr>
            <p:cNvSpPr>
              <a:spLocks/>
            </p:cNvSpPr>
            <p:nvPr/>
          </p:nvSpPr>
          <p:spPr bwMode="auto">
            <a:xfrm>
              <a:off x="2737" y="3602"/>
              <a:ext cx="131" cy="76"/>
            </a:xfrm>
            <a:custGeom>
              <a:avLst/>
              <a:gdLst>
                <a:gd name="T0" fmla="*/ 2480706 w 80"/>
                <a:gd name="T1" fmla="*/ 1246 h 66"/>
                <a:gd name="T2" fmla="*/ 2415525 w 80"/>
                <a:gd name="T3" fmla="*/ 1001 h 66"/>
                <a:gd name="T4" fmla="*/ 2134954 w 80"/>
                <a:gd name="T5" fmla="*/ 839 h 66"/>
                <a:gd name="T6" fmla="*/ 1785199 w 80"/>
                <a:gd name="T7" fmla="*/ 674 h 66"/>
                <a:gd name="T8" fmla="*/ 1346184 w 80"/>
                <a:gd name="T9" fmla="*/ 510 h 66"/>
                <a:gd name="T10" fmla="*/ 939702 w 80"/>
                <a:gd name="T11" fmla="*/ 371 h 66"/>
                <a:gd name="T12" fmla="*/ 630154 w 80"/>
                <a:gd name="T13" fmla="*/ 236 h 66"/>
                <a:gd name="T14" fmla="*/ 445495 w 80"/>
                <a:gd name="T15" fmla="*/ 117 h 66"/>
                <a:gd name="T16" fmla="*/ 402943 w 80"/>
                <a:gd name="T17" fmla="*/ 89 h 66"/>
                <a:gd name="T18" fmla="*/ 0 w 80"/>
                <a:gd name="T19" fmla="*/ 0 h 66"/>
                <a:gd name="T20" fmla="*/ 56043 w 80"/>
                <a:gd name="T21" fmla="*/ 251 h 66"/>
                <a:gd name="T22" fmla="*/ 335959 w 80"/>
                <a:gd name="T23" fmla="*/ 441 h 66"/>
                <a:gd name="T24" fmla="*/ 695772 w 80"/>
                <a:gd name="T25" fmla="*/ 587 h 66"/>
                <a:gd name="T26" fmla="*/ 1177164 w 80"/>
                <a:gd name="T27" fmla="*/ 755 h 66"/>
                <a:gd name="T28" fmla="*/ 1538762 w 80"/>
                <a:gd name="T29" fmla="*/ 896 h 66"/>
                <a:gd name="T30" fmla="*/ 1865648 w 80"/>
                <a:gd name="T31" fmla="*/ 1029 h 66"/>
                <a:gd name="T32" fmla="*/ 2045165 w 80"/>
                <a:gd name="T33" fmla="*/ 1148 h 66"/>
                <a:gd name="T34" fmla="*/ 2079299 w 80"/>
                <a:gd name="T35" fmla="*/ 1153 h 66"/>
                <a:gd name="T36" fmla="*/ 2079299 w 80"/>
                <a:gd name="T37" fmla="*/ 1185 h 66"/>
                <a:gd name="T38" fmla="*/ 2480706 w 80"/>
                <a:gd name="T39" fmla="*/ 1246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6"/>
                <a:gd name="T62" fmla="*/ 80 w 80"/>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6">
                  <a:moveTo>
                    <a:pt x="79" y="65"/>
                  </a:moveTo>
                  <a:lnTo>
                    <a:pt x="77" y="52"/>
                  </a:lnTo>
                  <a:lnTo>
                    <a:pt x="68" y="43"/>
                  </a:lnTo>
                  <a:lnTo>
                    <a:pt x="57" y="35"/>
                  </a:lnTo>
                  <a:lnTo>
                    <a:pt x="43" y="27"/>
                  </a:lnTo>
                  <a:lnTo>
                    <a:pt x="30" y="19"/>
                  </a:lnTo>
                  <a:lnTo>
                    <a:pt x="20" y="12"/>
                  </a:lnTo>
                  <a:lnTo>
                    <a:pt x="14" y="6"/>
                  </a:lnTo>
                  <a:lnTo>
                    <a:pt x="13" y="4"/>
                  </a:lnTo>
                  <a:lnTo>
                    <a:pt x="0" y="0"/>
                  </a:lnTo>
                  <a:lnTo>
                    <a:pt x="2" y="13"/>
                  </a:lnTo>
                  <a:lnTo>
                    <a:pt x="11" y="23"/>
                  </a:lnTo>
                  <a:lnTo>
                    <a:pt x="22" y="31"/>
                  </a:lnTo>
                  <a:lnTo>
                    <a:pt x="37" y="39"/>
                  </a:lnTo>
                  <a:lnTo>
                    <a:pt x="49" y="47"/>
                  </a:lnTo>
                  <a:lnTo>
                    <a:pt x="59" y="53"/>
                  </a:lnTo>
                  <a:lnTo>
                    <a:pt x="65" y="59"/>
                  </a:lnTo>
                  <a:lnTo>
                    <a:pt x="66" y="60"/>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71" name="Freeform 50">
              <a:extLst>
                <a:ext uri="{FF2B5EF4-FFF2-40B4-BE49-F238E27FC236}">
                  <a16:creationId xmlns:a16="http://schemas.microsoft.com/office/drawing/2014/main" id="{07DD40A8-E607-D3CF-19BD-D1BC8D955CF0}"/>
                </a:ext>
              </a:extLst>
            </p:cNvPr>
            <p:cNvSpPr>
              <a:spLocks/>
            </p:cNvSpPr>
            <p:nvPr/>
          </p:nvSpPr>
          <p:spPr bwMode="auto">
            <a:xfrm>
              <a:off x="2679" y="3672"/>
              <a:ext cx="189" cy="27"/>
            </a:xfrm>
            <a:custGeom>
              <a:avLst/>
              <a:gdLst>
                <a:gd name="T0" fmla="*/ 441678 w 115"/>
                <a:gd name="T1" fmla="*/ 639 h 23"/>
                <a:gd name="T2" fmla="*/ 511833 w 115"/>
                <a:gd name="T3" fmla="*/ 639 h 23"/>
                <a:gd name="T4" fmla="*/ 805456 w 115"/>
                <a:gd name="T5" fmla="*/ 593 h 23"/>
                <a:gd name="T6" fmla="*/ 1323749 w 115"/>
                <a:gd name="T7" fmla="*/ 544 h 23"/>
                <a:gd name="T8" fmla="*/ 1937644 w 115"/>
                <a:gd name="T9" fmla="*/ 544 h 23"/>
                <a:gd name="T10" fmla="*/ 2540566 w 115"/>
                <a:gd name="T11" fmla="*/ 514 h 23"/>
                <a:gd name="T12" fmla="*/ 3104818 w 115"/>
                <a:gd name="T13" fmla="*/ 505 h 23"/>
                <a:gd name="T14" fmla="*/ 3575474 w 115"/>
                <a:gd name="T15" fmla="*/ 373 h 23"/>
                <a:gd name="T16" fmla="*/ 3864861 w 115"/>
                <a:gd name="T17" fmla="*/ 122 h 23"/>
                <a:gd name="T18" fmla="*/ 3437182 w 115"/>
                <a:gd name="T19" fmla="*/ 0 h 23"/>
                <a:gd name="T20" fmla="*/ 3337567 w 115"/>
                <a:gd name="T21" fmla="*/ 2 h 23"/>
                <a:gd name="T22" fmla="*/ 2994209 w 115"/>
                <a:gd name="T23" fmla="*/ 122 h 23"/>
                <a:gd name="T24" fmla="*/ 2523166 w 115"/>
                <a:gd name="T25" fmla="*/ 168 h 23"/>
                <a:gd name="T26" fmla="*/ 1937644 w 115"/>
                <a:gd name="T27" fmla="*/ 168 h 23"/>
                <a:gd name="T28" fmla="*/ 1323749 w 115"/>
                <a:gd name="T29" fmla="*/ 168 h 23"/>
                <a:gd name="T30" fmla="*/ 782457 w 115"/>
                <a:gd name="T31" fmla="*/ 231 h 23"/>
                <a:gd name="T32" fmla="*/ 331274 w 115"/>
                <a:gd name="T33" fmla="*/ 286 h 23"/>
                <a:gd name="T34" fmla="*/ 0 w 115"/>
                <a:gd name="T35" fmla="*/ 514 h 23"/>
                <a:gd name="T36" fmla="*/ 441678 w 115"/>
                <a:gd name="T37" fmla="*/ 639 h 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23"/>
                <a:gd name="T59" fmla="*/ 115 w 115"/>
                <a:gd name="T60" fmla="*/ 23 h 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23">
                  <a:moveTo>
                    <a:pt x="13" y="22"/>
                  </a:moveTo>
                  <a:lnTo>
                    <a:pt x="15" y="22"/>
                  </a:lnTo>
                  <a:lnTo>
                    <a:pt x="24" y="20"/>
                  </a:lnTo>
                  <a:lnTo>
                    <a:pt x="39" y="19"/>
                  </a:lnTo>
                  <a:lnTo>
                    <a:pt x="57" y="19"/>
                  </a:lnTo>
                  <a:lnTo>
                    <a:pt x="75" y="18"/>
                  </a:lnTo>
                  <a:lnTo>
                    <a:pt x="91" y="17"/>
                  </a:lnTo>
                  <a:lnTo>
                    <a:pt x="105" y="13"/>
                  </a:lnTo>
                  <a:lnTo>
                    <a:pt x="114" y="4"/>
                  </a:lnTo>
                  <a:lnTo>
                    <a:pt x="101" y="0"/>
                  </a:lnTo>
                  <a:lnTo>
                    <a:pt x="98" y="2"/>
                  </a:lnTo>
                  <a:lnTo>
                    <a:pt x="88" y="4"/>
                  </a:lnTo>
                  <a:lnTo>
                    <a:pt x="74" y="6"/>
                  </a:lnTo>
                  <a:lnTo>
                    <a:pt x="57" y="6"/>
                  </a:lnTo>
                  <a:lnTo>
                    <a:pt x="39" y="6"/>
                  </a:lnTo>
                  <a:lnTo>
                    <a:pt x="23" y="8"/>
                  </a:lnTo>
                  <a:lnTo>
                    <a:pt x="10" y="10"/>
                  </a:lnTo>
                  <a:lnTo>
                    <a:pt x="0" y="18"/>
                  </a:lnTo>
                  <a:lnTo>
                    <a:pt x="13" y="2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72" name="Freeform 51">
              <a:extLst>
                <a:ext uri="{FF2B5EF4-FFF2-40B4-BE49-F238E27FC236}">
                  <a16:creationId xmlns:a16="http://schemas.microsoft.com/office/drawing/2014/main" id="{E2A09FD4-504E-6EDA-A194-B92DD5D71692}"/>
                </a:ext>
              </a:extLst>
            </p:cNvPr>
            <p:cNvSpPr>
              <a:spLocks/>
            </p:cNvSpPr>
            <p:nvPr/>
          </p:nvSpPr>
          <p:spPr bwMode="auto">
            <a:xfrm>
              <a:off x="3453" y="1951"/>
              <a:ext cx="133" cy="125"/>
            </a:xfrm>
            <a:custGeom>
              <a:avLst/>
              <a:gdLst>
                <a:gd name="T0" fmla="*/ 1361529 w 81"/>
                <a:gd name="T1" fmla="*/ 1662 h 108"/>
                <a:gd name="T2" fmla="*/ 0 w 81"/>
                <a:gd name="T3" fmla="*/ 1771 h 108"/>
                <a:gd name="T4" fmla="*/ 0 w 81"/>
                <a:gd name="T5" fmla="*/ 1755 h 108"/>
                <a:gd name="T6" fmla="*/ 1461685 w 81"/>
                <a:gd name="T7" fmla="*/ 926 h 108"/>
                <a:gd name="T8" fmla="*/ 1618073 w 81"/>
                <a:gd name="T9" fmla="*/ 815 h 108"/>
                <a:gd name="T10" fmla="*/ 1769539 w 81"/>
                <a:gd name="T11" fmla="*/ 691 h 108"/>
                <a:gd name="T12" fmla="*/ 1926232 w 81"/>
                <a:gd name="T13" fmla="*/ 594 h 108"/>
                <a:gd name="T14" fmla="*/ 2062763 w 81"/>
                <a:gd name="T15" fmla="*/ 466 h 108"/>
                <a:gd name="T16" fmla="*/ 2235597 w 81"/>
                <a:gd name="T17" fmla="*/ 348 h 108"/>
                <a:gd name="T18" fmla="*/ 2370078 w 81"/>
                <a:gd name="T19" fmla="*/ 247 h 108"/>
                <a:gd name="T20" fmla="*/ 2535189 w 81"/>
                <a:gd name="T21" fmla="*/ 108 h 108"/>
                <a:gd name="T22" fmla="*/ 2656836 w 81"/>
                <a:gd name="T23" fmla="*/ 0 h 108"/>
                <a:gd name="T24" fmla="*/ 2635349 w 81"/>
                <a:gd name="T25" fmla="*/ 145 h 108"/>
                <a:gd name="T26" fmla="*/ 2558027 w 81"/>
                <a:gd name="T27" fmla="*/ 286 h 108"/>
                <a:gd name="T28" fmla="*/ 2535189 w 81"/>
                <a:gd name="T29" fmla="*/ 443 h 108"/>
                <a:gd name="T30" fmla="*/ 2499894 w 81"/>
                <a:gd name="T31" fmla="*/ 561 h 108"/>
                <a:gd name="T32" fmla="*/ 2429082 w 81"/>
                <a:gd name="T33" fmla="*/ 704 h 108"/>
                <a:gd name="T34" fmla="*/ 2370078 w 81"/>
                <a:gd name="T35" fmla="*/ 853 h 108"/>
                <a:gd name="T36" fmla="*/ 2333873 w 81"/>
                <a:gd name="T37" fmla="*/ 987 h 108"/>
                <a:gd name="T38" fmla="*/ 2272793 w 81"/>
                <a:gd name="T39" fmla="*/ 1142 h 108"/>
                <a:gd name="T40" fmla="*/ 2177657 w 81"/>
                <a:gd name="T41" fmla="*/ 2279 h 108"/>
                <a:gd name="T42" fmla="*/ 2121517 w 81"/>
                <a:gd name="T43" fmla="*/ 2313 h 108"/>
                <a:gd name="T44" fmla="*/ 1361529 w 81"/>
                <a:gd name="T45" fmla="*/ 1662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1"/>
                <a:gd name="T70" fmla="*/ 0 h 108"/>
                <a:gd name="T71" fmla="*/ 81 w 81"/>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1" h="108">
                  <a:moveTo>
                    <a:pt x="41" y="78"/>
                  </a:moveTo>
                  <a:lnTo>
                    <a:pt x="0" y="82"/>
                  </a:lnTo>
                  <a:lnTo>
                    <a:pt x="0" y="81"/>
                  </a:lnTo>
                  <a:lnTo>
                    <a:pt x="44" y="43"/>
                  </a:lnTo>
                  <a:lnTo>
                    <a:pt x="49" y="38"/>
                  </a:lnTo>
                  <a:lnTo>
                    <a:pt x="53" y="32"/>
                  </a:lnTo>
                  <a:lnTo>
                    <a:pt x="58" y="27"/>
                  </a:lnTo>
                  <a:lnTo>
                    <a:pt x="62" y="22"/>
                  </a:lnTo>
                  <a:lnTo>
                    <a:pt x="67" y="16"/>
                  </a:lnTo>
                  <a:lnTo>
                    <a:pt x="71" y="11"/>
                  </a:lnTo>
                  <a:lnTo>
                    <a:pt x="76" y="5"/>
                  </a:lnTo>
                  <a:lnTo>
                    <a:pt x="80" y="0"/>
                  </a:lnTo>
                  <a:lnTo>
                    <a:pt x="79" y="7"/>
                  </a:lnTo>
                  <a:lnTo>
                    <a:pt x="77" y="13"/>
                  </a:lnTo>
                  <a:lnTo>
                    <a:pt x="76" y="20"/>
                  </a:lnTo>
                  <a:lnTo>
                    <a:pt x="75"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grpSp>
        <p:nvGrpSpPr>
          <p:cNvPr id="3" name="Group 52">
            <a:extLst>
              <a:ext uri="{FF2B5EF4-FFF2-40B4-BE49-F238E27FC236}">
                <a16:creationId xmlns:a16="http://schemas.microsoft.com/office/drawing/2014/main" id="{26D8D00E-DAE8-14B3-ABDF-A0289A2845FE}"/>
              </a:ext>
            </a:extLst>
          </p:cNvPr>
          <p:cNvGrpSpPr>
            <a:grpSpLocks/>
          </p:cNvGrpSpPr>
          <p:nvPr/>
        </p:nvGrpSpPr>
        <p:grpSpPr bwMode="auto">
          <a:xfrm>
            <a:off x="3645447" y="4041822"/>
            <a:ext cx="1859757" cy="4607718"/>
            <a:chOff x="1746" y="1484"/>
            <a:chExt cx="967" cy="2258"/>
          </a:xfrm>
        </p:grpSpPr>
        <p:sp>
          <p:nvSpPr>
            <p:cNvPr id="22772" name="Freeform 53">
              <a:extLst>
                <a:ext uri="{FF2B5EF4-FFF2-40B4-BE49-F238E27FC236}">
                  <a16:creationId xmlns:a16="http://schemas.microsoft.com/office/drawing/2014/main" id="{DDF579C8-7688-AB00-11BE-8BA871096CE4}"/>
                </a:ext>
              </a:extLst>
            </p:cNvPr>
            <p:cNvSpPr>
              <a:spLocks/>
            </p:cNvSpPr>
            <p:nvPr/>
          </p:nvSpPr>
          <p:spPr bwMode="auto">
            <a:xfrm>
              <a:off x="2621" y="3548"/>
              <a:ext cx="67" cy="90"/>
            </a:xfrm>
            <a:custGeom>
              <a:avLst/>
              <a:gdLst>
                <a:gd name="T0" fmla="*/ 815495 w 41"/>
                <a:gd name="T1" fmla="*/ 89 h 78"/>
                <a:gd name="T2" fmla="*/ 815495 w 41"/>
                <a:gd name="T3" fmla="*/ 119 h 78"/>
                <a:gd name="T4" fmla="*/ 753162 w 41"/>
                <a:gd name="T5" fmla="*/ 158 h 78"/>
                <a:gd name="T6" fmla="*/ 574165 w 41"/>
                <a:gd name="T7" fmla="*/ 228 h 78"/>
                <a:gd name="T8" fmla="*/ 326445 w 41"/>
                <a:gd name="T9" fmla="*/ 322 h 78"/>
                <a:gd name="T10" fmla="*/ 122244 w 41"/>
                <a:gd name="T11" fmla="*/ 496 h 78"/>
                <a:gd name="T12" fmla="*/ 0 w 41"/>
                <a:gd name="T13" fmla="*/ 762 h 78"/>
                <a:gd name="T14" fmla="*/ 88835 w 41"/>
                <a:gd name="T15" fmla="*/ 1101 h 78"/>
                <a:gd name="T16" fmla="*/ 387664 w 41"/>
                <a:gd name="T17" fmla="*/ 1555 h 78"/>
                <a:gd name="T18" fmla="*/ 726393 w 41"/>
                <a:gd name="T19" fmla="*/ 1409 h 78"/>
                <a:gd name="T20" fmla="*/ 478285 w 41"/>
                <a:gd name="T21" fmla="*/ 1014 h 78"/>
                <a:gd name="T22" fmla="*/ 427217 w 41"/>
                <a:gd name="T23" fmla="*/ 762 h 78"/>
                <a:gd name="T24" fmla="*/ 478285 w 41"/>
                <a:gd name="T25" fmla="*/ 621 h 78"/>
                <a:gd name="T26" fmla="*/ 608172 w 41"/>
                <a:gd name="T27" fmla="*/ 517 h 78"/>
                <a:gd name="T28" fmla="*/ 753162 w 41"/>
                <a:gd name="T29" fmla="*/ 466 h 78"/>
                <a:gd name="T30" fmla="*/ 993842 w 41"/>
                <a:gd name="T31" fmla="*/ 372 h 78"/>
                <a:gd name="T32" fmla="*/ 1195376 w 41"/>
                <a:gd name="T33" fmla="*/ 228 h 78"/>
                <a:gd name="T34" fmla="*/ 1195376 w 41"/>
                <a:gd name="T35" fmla="*/ 0 h 78"/>
                <a:gd name="T36" fmla="*/ 815495 w 41"/>
                <a:gd name="T37" fmla="*/ 89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78"/>
                <a:gd name="T59" fmla="*/ 41 w 41"/>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78">
                  <a:moveTo>
                    <a:pt x="27" y="4"/>
                  </a:moveTo>
                  <a:lnTo>
                    <a:pt x="27" y="6"/>
                  </a:lnTo>
                  <a:lnTo>
                    <a:pt x="25" y="8"/>
                  </a:lnTo>
                  <a:lnTo>
                    <a:pt x="19" y="11"/>
                  </a:lnTo>
                  <a:lnTo>
                    <a:pt x="11" y="16"/>
                  </a:lnTo>
                  <a:lnTo>
                    <a:pt x="4" y="25"/>
                  </a:lnTo>
                  <a:lnTo>
                    <a:pt x="0" y="38"/>
                  </a:lnTo>
                  <a:lnTo>
                    <a:pt x="3" y="55"/>
                  </a:lnTo>
                  <a:lnTo>
                    <a:pt x="13" y="77"/>
                  </a:lnTo>
                  <a:lnTo>
                    <a:pt x="24" y="70"/>
                  </a:lnTo>
                  <a:lnTo>
                    <a:pt x="16" y="51"/>
                  </a:lnTo>
                  <a:lnTo>
                    <a:pt x="14" y="38"/>
                  </a:lnTo>
                  <a:lnTo>
                    <a:pt x="16" y="31"/>
                  </a:lnTo>
                  <a:lnTo>
                    <a:pt x="20" y="26"/>
                  </a:lnTo>
                  <a:lnTo>
                    <a:pt x="25" y="23"/>
                  </a:lnTo>
                  <a:lnTo>
                    <a:pt x="33" y="18"/>
                  </a:lnTo>
                  <a:lnTo>
                    <a:pt x="40" y="11"/>
                  </a:lnTo>
                  <a:lnTo>
                    <a:pt x="40" y="0"/>
                  </a:lnTo>
                  <a:lnTo>
                    <a:pt x="2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3" name="Freeform 54">
              <a:extLst>
                <a:ext uri="{FF2B5EF4-FFF2-40B4-BE49-F238E27FC236}">
                  <a16:creationId xmlns:a16="http://schemas.microsoft.com/office/drawing/2014/main" id="{19121195-F1F5-7B72-CF6C-D5DD30451625}"/>
                </a:ext>
              </a:extLst>
            </p:cNvPr>
            <p:cNvSpPr>
              <a:spLocks/>
            </p:cNvSpPr>
            <p:nvPr/>
          </p:nvSpPr>
          <p:spPr bwMode="auto">
            <a:xfrm>
              <a:off x="2519" y="3524"/>
              <a:ext cx="169" cy="30"/>
            </a:xfrm>
            <a:custGeom>
              <a:avLst/>
              <a:gdLst>
                <a:gd name="T0" fmla="*/ 0 w 103"/>
                <a:gd name="T1" fmla="*/ 89 h 26"/>
                <a:gd name="T2" fmla="*/ 254227 w 103"/>
                <a:gd name="T3" fmla="*/ 263 h 26"/>
                <a:gd name="T4" fmla="*/ 684417 w 103"/>
                <a:gd name="T5" fmla="*/ 350 h 26"/>
                <a:gd name="T6" fmla="*/ 1180545 w 103"/>
                <a:gd name="T7" fmla="*/ 372 h 26"/>
                <a:gd name="T8" fmla="*/ 1679717 w 103"/>
                <a:gd name="T9" fmla="*/ 373 h 26"/>
                <a:gd name="T10" fmla="*/ 2154414 w 103"/>
                <a:gd name="T11" fmla="*/ 373 h 26"/>
                <a:gd name="T12" fmla="*/ 2563751 w 103"/>
                <a:gd name="T13" fmla="*/ 404 h 26"/>
                <a:gd name="T14" fmla="*/ 2816456 w 103"/>
                <a:gd name="T15" fmla="*/ 430 h 26"/>
                <a:gd name="T16" fmla="*/ 2923762 w 103"/>
                <a:gd name="T17" fmla="*/ 496 h 26"/>
                <a:gd name="T18" fmla="*/ 3341514 w 103"/>
                <a:gd name="T19" fmla="*/ 429 h 26"/>
                <a:gd name="T20" fmla="*/ 3082571 w 103"/>
                <a:gd name="T21" fmla="*/ 228 h 26"/>
                <a:gd name="T22" fmla="*/ 2656472 w 103"/>
                <a:gd name="T23" fmla="*/ 137 h 26"/>
                <a:gd name="T24" fmla="*/ 2154414 w 103"/>
                <a:gd name="T25" fmla="*/ 119 h 26"/>
                <a:gd name="T26" fmla="*/ 1679717 w 103"/>
                <a:gd name="T27" fmla="*/ 103 h 26"/>
                <a:gd name="T28" fmla="*/ 1180545 w 103"/>
                <a:gd name="T29" fmla="*/ 103 h 26"/>
                <a:gd name="T30" fmla="*/ 756475 w 103"/>
                <a:gd name="T31" fmla="*/ 89 h 26"/>
                <a:gd name="T32" fmla="*/ 496066 w 103"/>
                <a:gd name="T33" fmla="*/ 2 h 26"/>
                <a:gd name="T34" fmla="*/ 417130 w 103"/>
                <a:gd name="T35" fmla="*/ 0 h 26"/>
                <a:gd name="T36" fmla="*/ 0 w 103"/>
                <a:gd name="T37" fmla="*/ 89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3"/>
                <a:gd name="T58" fmla="*/ 0 h 26"/>
                <a:gd name="T59" fmla="*/ 103 w 103"/>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3" h="26">
                  <a:moveTo>
                    <a:pt x="0" y="4"/>
                  </a:moveTo>
                  <a:lnTo>
                    <a:pt x="8" y="13"/>
                  </a:lnTo>
                  <a:lnTo>
                    <a:pt x="21" y="17"/>
                  </a:lnTo>
                  <a:lnTo>
                    <a:pt x="36" y="18"/>
                  </a:lnTo>
                  <a:lnTo>
                    <a:pt x="51" y="19"/>
                  </a:lnTo>
                  <a:lnTo>
                    <a:pt x="66" y="19"/>
                  </a:lnTo>
                  <a:lnTo>
                    <a:pt x="78" y="20"/>
                  </a:lnTo>
                  <a:lnTo>
                    <a:pt x="86" y="22"/>
                  </a:lnTo>
                  <a:lnTo>
                    <a:pt x="89" y="25"/>
                  </a:lnTo>
                  <a:lnTo>
                    <a:pt x="102" y="21"/>
                  </a:lnTo>
                  <a:lnTo>
                    <a:pt x="94" y="11"/>
                  </a:lnTo>
                  <a:lnTo>
                    <a:pt x="81" y="7"/>
                  </a:lnTo>
                  <a:lnTo>
                    <a:pt x="66"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4" name="Freeform 55">
              <a:extLst>
                <a:ext uri="{FF2B5EF4-FFF2-40B4-BE49-F238E27FC236}">
                  <a16:creationId xmlns:a16="http://schemas.microsoft.com/office/drawing/2014/main" id="{6BADAD8C-4CE8-9547-9482-6EE600FEA7C6}"/>
                </a:ext>
              </a:extLst>
            </p:cNvPr>
            <p:cNvSpPr>
              <a:spLocks/>
            </p:cNvSpPr>
            <p:nvPr/>
          </p:nvSpPr>
          <p:spPr bwMode="auto">
            <a:xfrm>
              <a:off x="2519" y="3524"/>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5" name="Freeform 56">
              <a:extLst>
                <a:ext uri="{FF2B5EF4-FFF2-40B4-BE49-F238E27FC236}">
                  <a16:creationId xmlns:a16="http://schemas.microsoft.com/office/drawing/2014/main" id="{60DD33D3-5737-B25E-2902-D3E8882EF788}"/>
                </a:ext>
              </a:extLst>
            </p:cNvPr>
            <p:cNvSpPr>
              <a:spLocks/>
            </p:cNvSpPr>
            <p:nvPr/>
          </p:nvSpPr>
          <p:spPr bwMode="auto">
            <a:xfrm>
              <a:off x="2519" y="3457"/>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74812 w 84"/>
                <a:gd name="T23" fmla="*/ 808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1"/>
                  </a:lnTo>
                  <a:lnTo>
                    <a:pt x="12" y="39"/>
                  </a:lnTo>
                  <a:lnTo>
                    <a:pt x="2" y="49"/>
                  </a:lnTo>
                  <a:lnTo>
                    <a:pt x="0" y="62"/>
                  </a:lnTo>
                  <a:lnTo>
                    <a:pt x="13" y="58"/>
                  </a:lnTo>
                  <a:lnTo>
                    <a:pt x="14" y="55"/>
                  </a:lnTo>
                  <a:lnTo>
                    <a:pt x="20" y="49"/>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6" name="Freeform 57">
              <a:extLst>
                <a:ext uri="{FF2B5EF4-FFF2-40B4-BE49-F238E27FC236}">
                  <a16:creationId xmlns:a16="http://schemas.microsoft.com/office/drawing/2014/main" id="{416D4D56-721E-B875-ABC7-C5CF06C49AE2}"/>
                </a:ext>
              </a:extLst>
            </p:cNvPr>
            <p:cNvSpPr>
              <a:spLocks/>
            </p:cNvSpPr>
            <p:nvPr/>
          </p:nvSpPr>
          <p:spPr bwMode="auto">
            <a:xfrm>
              <a:off x="2483" y="3428"/>
              <a:ext cx="174" cy="34"/>
            </a:xfrm>
            <a:custGeom>
              <a:avLst/>
              <a:gdLst>
                <a:gd name="T0" fmla="*/ 0 w 106"/>
                <a:gd name="T1" fmla="*/ 61 h 30"/>
                <a:gd name="T2" fmla="*/ 306683 w 106"/>
                <a:gd name="T3" fmla="*/ 206 h 30"/>
                <a:gd name="T4" fmla="*/ 724886 w 106"/>
                <a:gd name="T5" fmla="*/ 239 h 30"/>
                <a:gd name="T6" fmla="*/ 1189907 w 106"/>
                <a:gd name="T7" fmla="*/ 271 h 30"/>
                <a:gd name="T8" fmla="*/ 1723619 w 106"/>
                <a:gd name="T9" fmla="*/ 299 h 30"/>
                <a:gd name="T10" fmla="*/ 2261872 w 106"/>
                <a:gd name="T11" fmla="*/ 299 h 30"/>
                <a:gd name="T12" fmla="*/ 2681420 w 106"/>
                <a:gd name="T13" fmla="*/ 338 h 30"/>
                <a:gd name="T14" fmla="*/ 2987436 w 106"/>
                <a:gd name="T15" fmla="*/ 383 h 30"/>
                <a:gd name="T16" fmla="*/ 3048815 w 106"/>
                <a:gd name="T17" fmla="*/ 394 h 30"/>
                <a:gd name="T18" fmla="*/ 3468237 w 106"/>
                <a:gd name="T19" fmla="*/ 339 h 30"/>
                <a:gd name="T20" fmla="*/ 3184802 w 106"/>
                <a:gd name="T21" fmla="*/ 206 h 30"/>
                <a:gd name="T22" fmla="*/ 2792912 w 106"/>
                <a:gd name="T23" fmla="*/ 145 h 30"/>
                <a:gd name="T24" fmla="*/ 2274976 w 106"/>
                <a:gd name="T25" fmla="*/ 113 h 30"/>
                <a:gd name="T26" fmla="*/ 1762354 w 106"/>
                <a:gd name="T27" fmla="*/ 113 h 30"/>
                <a:gd name="T28" fmla="*/ 1229571 w 106"/>
                <a:gd name="T29" fmla="*/ 88 h 30"/>
                <a:gd name="T30" fmla="*/ 784113 w 106"/>
                <a:gd name="T31" fmla="*/ 69 h 30"/>
                <a:gd name="T32" fmla="*/ 503423 w 106"/>
                <a:gd name="T33" fmla="*/ 3 h 30"/>
                <a:gd name="T34" fmla="*/ 419911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3"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7" name="Freeform 58">
              <a:extLst>
                <a:ext uri="{FF2B5EF4-FFF2-40B4-BE49-F238E27FC236}">
                  <a16:creationId xmlns:a16="http://schemas.microsoft.com/office/drawing/2014/main" id="{C146AADA-E364-E0BF-77B2-AECB7E36BA13}"/>
                </a:ext>
              </a:extLst>
            </p:cNvPr>
            <p:cNvSpPr>
              <a:spLocks/>
            </p:cNvSpPr>
            <p:nvPr/>
          </p:nvSpPr>
          <p:spPr bwMode="auto">
            <a:xfrm>
              <a:off x="2483" y="3361"/>
              <a:ext cx="137" cy="73"/>
            </a:xfrm>
            <a:custGeom>
              <a:avLst/>
              <a:gdLst>
                <a:gd name="T0" fmla="*/ 2566051 w 83"/>
                <a:gd name="T1" fmla="*/ 94 h 63"/>
                <a:gd name="T2" fmla="*/ 2519400 w 83"/>
                <a:gd name="T3" fmla="*/ 109 h 63"/>
                <a:gd name="T4" fmla="*/ 2289995 w 83"/>
                <a:gd name="T5" fmla="*/ 247 h 63"/>
                <a:gd name="T6" fmla="*/ 1894573 w 83"/>
                <a:gd name="T7" fmla="*/ 384 h 63"/>
                <a:gd name="T8" fmla="*/ 1385413 w 83"/>
                <a:gd name="T9" fmla="*/ 530 h 63"/>
                <a:gd name="T10" fmla="*/ 901473 w 83"/>
                <a:gd name="T11" fmla="*/ 711 h 63"/>
                <a:gd name="T12" fmla="*/ 416000 w 83"/>
                <a:gd name="T13" fmla="*/ 854 h 63"/>
                <a:gd name="T14" fmla="*/ 64690 w 83"/>
                <a:gd name="T15" fmla="*/ 1078 h 63"/>
                <a:gd name="T16" fmla="*/ 0 w 83"/>
                <a:gd name="T17" fmla="*/ 1362 h 63"/>
                <a:gd name="T18" fmla="*/ 480180 w 83"/>
                <a:gd name="T19" fmla="*/ 1283 h 63"/>
                <a:gd name="T20" fmla="*/ 480180 w 83"/>
                <a:gd name="T21" fmla="*/ 1241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4"/>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8" name="Freeform 59">
              <a:extLst>
                <a:ext uri="{FF2B5EF4-FFF2-40B4-BE49-F238E27FC236}">
                  <a16:creationId xmlns:a16="http://schemas.microsoft.com/office/drawing/2014/main" id="{06EAA677-6FF8-E6CD-42A5-79CD119EFCB4}"/>
                </a:ext>
              </a:extLst>
            </p:cNvPr>
            <p:cNvSpPr>
              <a:spLocks/>
            </p:cNvSpPr>
            <p:nvPr/>
          </p:nvSpPr>
          <p:spPr bwMode="auto">
            <a:xfrm>
              <a:off x="2448" y="3338"/>
              <a:ext cx="172" cy="30"/>
            </a:xfrm>
            <a:custGeom>
              <a:avLst/>
              <a:gdLst>
                <a:gd name="T0" fmla="*/ 0 w 104"/>
                <a:gd name="T1" fmla="*/ 119 h 26"/>
                <a:gd name="T2" fmla="*/ 0 w 104"/>
                <a:gd name="T3" fmla="*/ 103 h 26"/>
                <a:gd name="T4" fmla="*/ 310460 w 104"/>
                <a:gd name="T5" fmla="*/ 263 h 26"/>
                <a:gd name="T6" fmla="*/ 823227 w 104"/>
                <a:gd name="T7" fmla="*/ 350 h 26"/>
                <a:gd name="T8" fmla="*/ 1361491 w 104"/>
                <a:gd name="T9" fmla="*/ 350 h 26"/>
                <a:gd name="T10" fmla="*/ 1967544 w 104"/>
                <a:gd name="T11" fmla="*/ 372 h 26"/>
                <a:gd name="T12" fmla="*/ 2552581 w 104"/>
                <a:gd name="T13" fmla="*/ 373 h 26"/>
                <a:gd name="T14" fmla="*/ 3091373 w 104"/>
                <a:gd name="T15" fmla="*/ 404 h 26"/>
                <a:gd name="T16" fmla="*/ 3377511 w 104"/>
                <a:gd name="T17" fmla="*/ 466 h 26"/>
                <a:gd name="T18" fmla="*/ 3487763 w 104"/>
                <a:gd name="T19" fmla="*/ 496 h 26"/>
                <a:gd name="T20" fmla="*/ 3985470 w 104"/>
                <a:gd name="T21" fmla="*/ 429 h 26"/>
                <a:gd name="T22" fmla="*/ 3684152 w 104"/>
                <a:gd name="T23" fmla="*/ 242 h 26"/>
                <a:gd name="T24" fmla="*/ 3186115 w 104"/>
                <a:gd name="T25" fmla="*/ 137 h 26"/>
                <a:gd name="T26" fmla="*/ 2606496 w 104"/>
                <a:gd name="T27" fmla="*/ 119 h 26"/>
                <a:gd name="T28" fmla="*/ 1967544 w 104"/>
                <a:gd name="T29" fmla="*/ 103 h 26"/>
                <a:gd name="T30" fmla="*/ 1361491 w 104"/>
                <a:gd name="T31" fmla="*/ 89 h 26"/>
                <a:gd name="T32" fmla="*/ 849172 w 104"/>
                <a:gd name="T33" fmla="*/ 89 h 26"/>
                <a:gd name="T34" fmla="*/ 537993 w 104"/>
                <a:gd name="T35" fmla="*/ 2 h 26"/>
                <a:gd name="T36" fmla="*/ 513453 w 104"/>
                <a:gd name="T37" fmla="*/ 1 h 26"/>
                <a:gd name="T38" fmla="*/ 473197 w 104"/>
                <a:gd name="T39" fmla="*/ 0 h 26"/>
                <a:gd name="T40" fmla="*/ 513453 w 104"/>
                <a:gd name="T41" fmla="*/ 1 h 26"/>
                <a:gd name="T42" fmla="*/ 513453 w 104"/>
                <a:gd name="T43" fmla="*/ 0 h 26"/>
                <a:gd name="T44" fmla="*/ 473197 w 104"/>
                <a:gd name="T45" fmla="*/ 0 h 26"/>
                <a:gd name="T46" fmla="*/ 0 w 104"/>
                <a:gd name="T47" fmla="*/ 119 h 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4"/>
                <a:gd name="T73" fmla="*/ 0 h 26"/>
                <a:gd name="T74" fmla="*/ 104 w 104"/>
                <a:gd name="T75" fmla="*/ 26 h 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4" h="26">
                  <a:moveTo>
                    <a:pt x="0" y="6"/>
                  </a:moveTo>
                  <a:lnTo>
                    <a:pt x="0" y="5"/>
                  </a:lnTo>
                  <a:lnTo>
                    <a:pt x="8" y="13"/>
                  </a:lnTo>
                  <a:lnTo>
                    <a:pt x="21" y="17"/>
                  </a:lnTo>
                  <a:lnTo>
                    <a:pt x="35" y="17"/>
                  </a:lnTo>
                  <a:lnTo>
                    <a:pt x="51" y="18"/>
                  </a:lnTo>
                  <a:lnTo>
                    <a:pt x="66" y="19"/>
                  </a:lnTo>
                  <a:lnTo>
                    <a:pt x="80" y="20"/>
                  </a:lnTo>
                  <a:lnTo>
                    <a:pt x="87" y="23"/>
                  </a:lnTo>
                  <a:lnTo>
                    <a:pt x="90" y="25"/>
                  </a:lnTo>
                  <a:lnTo>
                    <a:pt x="103" y="21"/>
                  </a:lnTo>
                  <a:lnTo>
                    <a:pt x="95" y="12"/>
                  </a:lnTo>
                  <a:lnTo>
                    <a:pt x="82" y="7"/>
                  </a:lnTo>
                  <a:lnTo>
                    <a:pt x="67" y="6"/>
                  </a:lnTo>
                  <a:lnTo>
                    <a:pt x="51" y="5"/>
                  </a:lnTo>
                  <a:lnTo>
                    <a:pt x="35" y="4"/>
                  </a:lnTo>
                  <a:lnTo>
                    <a:pt x="22" y="4"/>
                  </a:lnTo>
                  <a:lnTo>
                    <a:pt x="14" y="2"/>
                  </a:lnTo>
                  <a:lnTo>
                    <a:pt x="13" y="1"/>
                  </a:lnTo>
                  <a:lnTo>
                    <a:pt x="12" y="0"/>
                  </a:lnTo>
                  <a:lnTo>
                    <a:pt x="13" y="1"/>
                  </a:lnTo>
                  <a:lnTo>
                    <a:pt x="13" y="0"/>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9" name="Freeform 60">
              <a:extLst>
                <a:ext uri="{FF2B5EF4-FFF2-40B4-BE49-F238E27FC236}">
                  <a16:creationId xmlns:a16="http://schemas.microsoft.com/office/drawing/2014/main" id="{B5AC1F87-DD95-DAF9-CBE2-BD0338CFC307}"/>
                </a:ext>
              </a:extLst>
            </p:cNvPr>
            <p:cNvSpPr>
              <a:spLocks/>
            </p:cNvSpPr>
            <p:nvPr/>
          </p:nvSpPr>
          <p:spPr bwMode="auto">
            <a:xfrm>
              <a:off x="2446" y="3335"/>
              <a:ext cx="24" cy="10"/>
            </a:xfrm>
            <a:custGeom>
              <a:avLst/>
              <a:gdLst>
                <a:gd name="T0" fmla="*/ 0 w 14"/>
                <a:gd name="T1" fmla="*/ 51 h 9"/>
                <a:gd name="T2" fmla="*/ 0 w 14"/>
                <a:gd name="T3" fmla="*/ 63 h 9"/>
                <a:gd name="T4" fmla="*/ 84792 w 14"/>
                <a:gd name="T5" fmla="*/ 70 h 9"/>
                <a:gd name="T6" fmla="*/ 1057803 w 14"/>
                <a:gd name="T7" fmla="*/ 1 h 9"/>
                <a:gd name="T8" fmla="*/ 1012678 w 14"/>
                <a:gd name="T9" fmla="*/ 0 h 9"/>
                <a:gd name="T10" fmla="*/ 1057803 w 14"/>
                <a:gd name="T11" fmla="*/ 1 h 9"/>
                <a:gd name="T12" fmla="*/ 0 w 14"/>
                <a:gd name="T13" fmla="*/ 51 h 9"/>
                <a:gd name="T14" fmla="*/ 0 w 14"/>
                <a:gd name="T15" fmla="*/ 57 h 9"/>
                <a:gd name="T16" fmla="*/ 0 w 14"/>
                <a:gd name="T17" fmla="*/ 63 h 9"/>
                <a:gd name="T18" fmla="*/ 0 w 14"/>
                <a:gd name="T19" fmla="*/ 51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0" name="Freeform 61">
              <a:extLst>
                <a:ext uri="{FF2B5EF4-FFF2-40B4-BE49-F238E27FC236}">
                  <a16:creationId xmlns:a16="http://schemas.microsoft.com/office/drawing/2014/main" id="{6E7A88F0-1EB3-372C-1AC5-2E1C8E591441}"/>
                </a:ext>
              </a:extLst>
            </p:cNvPr>
            <p:cNvSpPr>
              <a:spLocks/>
            </p:cNvSpPr>
            <p:nvPr/>
          </p:nvSpPr>
          <p:spPr bwMode="auto">
            <a:xfrm>
              <a:off x="2446" y="3270"/>
              <a:ext cx="136" cy="72"/>
            </a:xfrm>
            <a:custGeom>
              <a:avLst/>
              <a:gdLst>
                <a:gd name="T0" fmla="*/ 2793281 w 82"/>
                <a:gd name="T1" fmla="*/ 73 h 63"/>
                <a:gd name="T2" fmla="*/ 2751824 w 82"/>
                <a:gd name="T3" fmla="*/ 95 h 63"/>
                <a:gd name="T4" fmla="*/ 2517775 w 82"/>
                <a:gd name="T5" fmla="*/ 202 h 63"/>
                <a:gd name="T6" fmla="*/ 2110216 w 82"/>
                <a:gd name="T7" fmla="*/ 318 h 63"/>
                <a:gd name="T8" fmla="*/ 1518070 w 82"/>
                <a:gd name="T9" fmla="*/ 450 h 63"/>
                <a:gd name="T10" fmla="*/ 984142 w 82"/>
                <a:gd name="T11" fmla="*/ 557 h 63"/>
                <a:gd name="T12" fmla="*/ 452635 w 82"/>
                <a:gd name="T13" fmla="*/ 691 h 63"/>
                <a:gd name="T14" fmla="*/ 71808 w 82"/>
                <a:gd name="T15" fmla="*/ 808 h 63"/>
                <a:gd name="T16" fmla="*/ 0 w 82"/>
                <a:gd name="T17" fmla="*/ 1032 h 63"/>
                <a:gd name="T18" fmla="*/ 543340 w 82"/>
                <a:gd name="T19" fmla="*/ 951 h 63"/>
                <a:gd name="T20" fmla="*/ 563196 w 82"/>
                <a:gd name="T21" fmla="*/ 941 h 63"/>
                <a:gd name="T22" fmla="*/ 792167 w 82"/>
                <a:gd name="T23" fmla="*/ 832 h 63"/>
                <a:gd name="T24" fmla="*/ 1245083 w 82"/>
                <a:gd name="T25" fmla="*/ 728 h 63"/>
                <a:gd name="T26" fmla="*/ 1809896 w 82"/>
                <a:gd name="T27" fmla="*/ 619 h 63"/>
                <a:gd name="T28" fmla="*/ 2364446 w 82"/>
                <a:gd name="T29" fmla="*/ 514 h 63"/>
                <a:gd name="T30" fmla="*/ 2866162 w 82"/>
                <a:gd name="T31" fmla="*/ 373 h 63"/>
                <a:gd name="T32" fmla="*/ 3244615 w 82"/>
                <a:gd name="T33" fmla="*/ 213 h 63"/>
                <a:gd name="T34" fmla="*/ 3316748 w 82"/>
                <a:gd name="T35" fmla="*/ 0 h 63"/>
                <a:gd name="T36" fmla="*/ 2793281 w 82"/>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3"/>
                <a:gd name="T59" fmla="*/ 82 w 82"/>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3">
                  <a:moveTo>
                    <a:pt x="68" y="4"/>
                  </a:moveTo>
                  <a:lnTo>
                    <a:pt x="67" y="6"/>
                  </a:lnTo>
                  <a:lnTo>
                    <a:pt x="61" y="12"/>
                  </a:lnTo>
                  <a:lnTo>
                    <a:pt x="51" y="19"/>
                  </a:lnTo>
                  <a:lnTo>
                    <a:pt x="37" y="27"/>
                  </a:lnTo>
                  <a:lnTo>
                    <a:pt x="24" y="34"/>
                  </a:lnTo>
                  <a:lnTo>
                    <a:pt x="11" y="41"/>
                  </a:lnTo>
                  <a:lnTo>
                    <a:pt x="2" y="49"/>
                  </a:lnTo>
                  <a:lnTo>
                    <a:pt x="0" y="62"/>
                  </a:lnTo>
                  <a:lnTo>
                    <a:pt x="13" y="58"/>
                  </a:lnTo>
                  <a:lnTo>
                    <a:pt x="14" y="57"/>
                  </a:lnTo>
                  <a:lnTo>
                    <a:pt x="19" y="51"/>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1" name="Freeform 62">
              <a:extLst>
                <a:ext uri="{FF2B5EF4-FFF2-40B4-BE49-F238E27FC236}">
                  <a16:creationId xmlns:a16="http://schemas.microsoft.com/office/drawing/2014/main" id="{0F1F3F2E-F37F-919B-7D33-07906C302DD3}"/>
                </a:ext>
              </a:extLst>
            </p:cNvPr>
            <p:cNvSpPr>
              <a:spLocks/>
            </p:cNvSpPr>
            <p:nvPr/>
          </p:nvSpPr>
          <p:spPr bwMode="auto">
            <a:xfrm>
              <a:off x="2407" y="3241"/>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71 h 30"/>
                <a:gd name="T10" fmla="*/ 2508326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186 h 30"/>
                <a:gd name="T22" fmla="*/ 3097518 w 106"/>
                <a:gd name="T23" fmla="*/ 128 h 30"/>
                <a:gd name="T24" fmla="*/ 2534104 w 106"/>
                <a:gd name="T25" fmla="*/ 113 h 30"/>
                <a:gd name="T26" fmla="*/ 1984779 w 106"/>
                <a:gd name="T27" fmla="*/ 88 h 30"/>
                <a:gd name="T28" fmla="*/ 1389091 w 106"/>
                <a:gd name="T29" fmla="*/ 88 h 30"/>
                <a:gd name="T30" fmla="*/ 904506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0"/>
                  </a:lnTo>
                  <a:lnTo>
                    <a:pt x="67" y="22"/>
                  </a:lnTo>
                  <a:lnTo>
                    <a:pt x="81" y="23"/>
                  </a:lnTo>
                  <a:lnTo>
                    <a:pt x="89" y="26"/>
                  </a:lnTo>
                  <a:lnTo>
                    <a:pt x="92" y="29"/>
                  </a:lnTo>
                  <a:lnTo>
                    <a:pt x="105" y="25"/>
                  </a:lnTo>
                  <a:lnTo>
                    <a:pt x="97" y="14"/>
                  </a:lnTo>
                  <a:lnTo>
                    <a:pt x="83" y="10"/>
                  </a:lnTo>
                  <a:lnTo>
                    <a:pt x="68" y="9"/>
                  </a:lnTo>
                  <a:lnTo>
                    <a:pt x="53" y="7"/>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2" name="Freeform 63">
              <a:extLst>
                <a:ext uri="{FF2B5EF4-FFF2-40B4-BE49-F238E27FC236}">
                  <a16:creationId xmlns:a16="http://schemas.microsoft.com/office/drawing/2014/main" id="{72F16269-3827-BB83-B629-32003692ADBD}"/>
                </a:ext>
              </a:extLst>
            </p:cNvPr>
            <p:cNvSpPr>
              <a:spLocks/>
            </p:cNvSpPr>
            <p:nvPr/>
          </p:nvSpPr>
          <p:spPr bwMode="auto">
            <a:xfrm>
              <a:off x="2407" y="3175"/>
              <a:ext cx="137" cy="71"/>
            </a:xfrm>
            <a:custGeom>
              <a:avLst/>
              <a:gdLst>
                <a:gd name="T0" fmla="*/ 2566051 w 83"/>
                <a:gd name="T1" fmla="*/ 74 h 62"/>
                <a:gd name="T2" fmla="*/ 2519400 w 83"/>
                <a:gd name="T3" fmla="*/ 97 h 62"/>
                <a:gd name="T4" fmla="*/ 2349936 w 83"/>
                <a:gd name="T5" fmla="*/ 211 h 62"/>
                <a:gd name="T6" fmla="*/ 1933123 w 83"/>
                <a:gd name="T7" fmla="*/ 328 h 62"/>
                <a:gd name="T8" fmla="*/ 1423684 w 83"/>
                <a:gd name="T9" fmla="*/ 462 h 62"/>
                <a:gd name="T10" fmla="*/ 901473 w 83"/>
                <a:gd name="T11" fmla="*/ 554 h 62"/>
                <a:gd name="T12" fmla="*/ 446998 w 83"/>
                <a:gd name="T13" fmla="*/ 696 h 62"/>
                <a:gd name="T14" fmla="*/ 64690 w 83"/>
                <a:gd name="T15" fmla="*/ 831 h 62"/>
                <a:gd name="T16" fmla="*/ 0 w 83"/>
                <a:gd name="T17" fmla="*/ 1046 h 62"/>
                <a:gd name="T18" fmla="*/ 480180 w 83"/>
                <a:gd name="T19" fmla="*/ 973 h 62"/>
                <a:gd name="T20" fmla="*/ 522551 w 83"/>
                <a:gd name="T21" fmla="*/ 960 h 62"/>
                <a:gd name="T22" fmla="*/ 737816 w 83"/>
                <a:gd name="T23" fmla="*/ 850 h 62"/>
                <a:gd name="T24" fmla="*/ 1147807 w 83"/>
                <a:gd name="T25" fmla="*/ 742 h 62"/>
                <a:gd name="T26" fmla="*/ 1639289 w 83"/>
                <a:gd name="T27" fmla="*/ 634 h 62"/>
                <a:gd name="T28" fmla="*/ 2159391 w 83"/>
                <a:gd name="T29" fmla="*/ 529 h 62"/>
                <a:gd name="T30" fmla="*/ 2603804 w 83"/>
                <a:gd name="T31" fmla="*/ 403 h 62"/>
                <a:gd name="T32" fmla="*/ 2976645 w 83"/>
                <a:gd name="T33" fmla="*/ 218 h 62"/>
                <a:gd name="T34" fmla="*/ 3041930 w 83"/>
                <a:gd name="T35" fmla="*/ 0 h 62"/>
                <a:gd name="T36" fmla="*/ 256605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6"/>
                  </a:lnTo>
                  <a:lnTo>
                    <a:pt x="63" y="12"/>
                  </a:lnTo>
                  <a:lnTo>
                    <a:pt x="52" y="19"/>
                  </a:lnTo>
                  <a:lnTo>
                    <a:pt x="38" y="26"/>
                  </a:lnTo>
                  <a:lnTo>
                    <a:pt x="24" y="32"/>
                  </a:lnTo>
                  <a:lnTo>
                    <a:pt x="12" y="40"/>
                  </a:lnTo>
                  <a:lnTo>
                    <a:pt x="2" y="48"/>
                  </a:lnTo>
                  <a:lnTo>
                    <a:pt x="0" y="61"/>
                  </a:lnTo>
                  <a:lnTo>
                    <a:pt x="13" y="57"/>
                  </a:lnTo>
                  <a:lnTo>
                    <a:pt x="14" y="56"/>
                  </a:lnTo>
                  <a:lnTo>
                    <a:pt x="20" y="50"/>
                  </a:lnTo>
                  <a:lnTo>
                    <a:pt x="31" y="44"/>
                  </a:lnTo>
                  <a:lnTo>
                    <a:pt x="44" y="37"/>
                  </a:lnTo>
                  <a:lnTo>
                    <a:pt x="58" y="30"/>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3" name="Freeform 64">
              <a:extLst>
                <a:ext uri="{FF2B5EF4-FFF2-40B4-BE49-F238E27FC236}">
                  <a16:creationId xmlns:a16="http://schemas.microsoft.com/office/drawing/2014/main" id="{C22C2B0E-6B57-C049-BFE4-3A3525E6296A}"/>
                </a:ext>
              </a:extLst>
            </p:cNvPr>
            <p:cNvSpPr>
              <a:spLocks/>
            </p:cNvSpPr>
            <p:nvPr/>
          </p:nvSpPr>
          <p:spPr bwMode="auto">
            <a:xfrm>
              <a:off x="2372" y="3146"/>
              <a:ext cx="172" cy="35"/>
            </a:xfrm>
            <a:custGeom>
              <a:avLst/>
              <a:gdLst>
                <a:gd name="T0" fmla="*/ 0 w 105"/>
                <a:gd name="T1" fmla="*/ 120 h 30"/>
                <a:gd name="T2" fmla="*/ 247472 w 105"/>
                <a:gd name="T3" fmla="*/ 358 h 30"/>
                <a:gd name="T4" fmla="*/ 664056 w 105"/>
                <a:gd name="T5" fmla="*/ 480 h 30"/>
                <a:gd name="T6" fmla="*/ 1144996 w 105"/>
                <a:gd name="T7" fmla="*/ 501 h 30"/>
                <a:gd name="T8" fmla="*/ 1642575 w 105"/>
                <a:gd name="T9" fmla="*/ 501 h 30"/>
                <a:gd name="T10" fmla="*/ 2126746 w 105"/>
                <a:gd name="T11" fmla="*/ 560 h 30"/>
                <a:gd name="T12" fmla="*/ 2540392 w 105"/>
                <a:gd name="T13" fmla="*/ 585 h 30"/>
                <a:gd name="T14" fmla="*/ 2792890 w 105"/>
                <a:gd name="T15" fmla="*/ 664 h 30"/>
                <a:gd name="T16" fmla="*/ 2885372 w 105"/>
                <a:gd name="T17" fmla="*/ 762 h 30"/>
                <a:gd name="T18" fmla="*/ 3278466 w 105"/>
                <a:gd name="T19" fmla="*/ 653 h 30"/>
                <a:gd name="T20" fmla="*/ 3037405 w 105"/>
                <a:gd name="T21" fmla="*/ 411 h 30"/>
                <a:gd name="T22" fmla="*/ 2633720 w 105"/>
                <a:gd name="T23" fmla="*/ 263 h 30"/>
                <a:gd name="T24" fmla="*/ 2147610 w 105"/>
                <a:gd name="T25" fmla="*/ 222 h 30"/>
                <a:gd name="T26" fmla="*/ 1642575 w 105"/>
                <a:gd name="T27" fmla="*/ 190 h 30"/>
                <a:gd name="T28" fmla="*/ 1185358 w 105"/>
                <a:gd name="T29" fmla="*/ 190 h 30"/>
                <a:gd name="T30" fmla="*/ 737762 w 105"/>
                <a:gd name="T31" fmla="*/ 140 h 30"/>
                <a:gd name="T32" fmla="*/ 483836 w 105"/>
                <a:gd name="T33" fmla="*/ 2 h 30"/>
                <a:gd name="T34" fmla="*/ 405383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2" y="20"/>
                  </a:lnTo>
                  <a:lnTo>
                    <a:pt x="67" y="21"/>
                  </a:lnTo>
                  <a:lnTo>
                    <a:pt x="80" y="23"/>
                  </a:lnTo>
                  <a:lnTo>
                    <a:pt x="88" y="26"/>
                  </a:lnTo>
                  <a:lnTo>
                    <a:pt x="91" y="29"/>
                  </a:lnTo>
                  <a:lnTo>
                    <a:pt x="104" y="25"/>
                  </a:lnTo>
                  <a:lnTo>
                    <a:pt x="96" y="15"/>
                  </a:lnTo>
                  <a:lnTo>
                    <a:pt x="83" y="10"/>
                  </a:lnTo>
                  <a:lnTo>
                    <a:pt x="68" y="8"/>
                  </a:lnTo>
                  <a:lnTo>
                    <a:pt x="52"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4" name="Freeform 65">
              <a:extLst>
                <a:ext uri="{FF2B5EF4-FFF2-40B4-BE49-F238E27FC236}">
                  <a16:creationId xmlns:a16="http://schemas.microsoft.com/office/drawing/2014/main" id="{83C6A1B7-24E3-3B4A-76C3-9961D8FED5A0}"/>
                </a:ext>
              </a:extLst>
            </p:cNvPr>
            <p:cNvSpPr>
              <a:spLocks/>
            </p:cNvSpPr>
            <p:nvPr/>
          </p:nvSpPr>
          <p:spPr bwMode="auto">
            <a:xfrm>
              <a:off x="2372" y="3085"/>
              <a:ext cx="139" cy="68"/>
            </a:xfrm>
            <a:custGeom>
              <a:avLst/>
              <a:gdLst>
                <a:gd name="T0" fmla="*/ 2176640 w 85"/>
                <a:gd name="T1" fmla="*/ 158 h 59"/>
                <a:gd name="T2" fmla="*/ 2176640 w 85"/>
                <a:gd name="T3" fmla="*/ 119 h 59"/>
                <a:gd name="T4" fmla="*/ 2115439 w 85"/>
                <a:gd name="T5" fmla="*/ 137 h 59"/>
                <a:gd name="T6" fmla="*/ 1966865 w 85"/>
                <a:gd name="T7" fmla="*/ 242 h 59"/>
                <a:gd name="T8" fmla="*/ 1621167 w 85"/>
                <a:gd name="T9" fmla="*/ 339 h 59"/>
                <a:gd name="T10" fmla="*/ 1202759 w 85"/>
                <a:gd name="T11" fmla="*/ 451 h 59"/>
                <a:gd name="T12" fmla="*/ 769815 w 85"/>
                <a:gd name="T13" fmla="*/ 589 h 59"/>
                <a:gd name="T14" fmla="*/ 375593 w 85"/>
                <a:gd name="T15" fmla="*/ 690 h 59"/>
                <a:gd name="T16" fmla="*/ 54877 w 85"/>
                <a:gd name="T17" fmla="*/ 896 h 59"/>
                <a:gd name="T18" fmla="*/ 0 w 85"/>
                <a:gd name="T19" fmla="*/ 1156 h 59"/>
                <a:gd name="T20" fmla="*/ 392440 w 85"/>
                <a:gd name="T21" fmla="*/ 1056 h 59"/>
                <a:gd name="T22" fmla="*/ 432295 w 85"/>
                <a:gd name="T23" fmla="*/ 1033 h 59"/>
                <a:gd name="T24" fmla="*/ 580820 w 85"/>
                <a:gd name="T25" fmla="*/ 942 h 59"/>
                <a:gd name="T26" fmla="*/ 949812 w 85"/>
                <a:gd name="T27" fmla="*/ 795 h 59"/>
                <a:gd name="T28" fmla="*/ 1351688 w 85"/>
                <a:gd name="T29" fmla="*/ 690 h 59"/>
                <a:gd name="T30" fmla="*/ 1770119 w 85"/>
                <a:gd name="T31" fmla="*/ 569 h 59"/>
                <a:gd name="T32" fmla="*/ 2176640 w 85"/>
                <a:gd name="T33" fmla="*/ 451 h 59"/>
                <a:gd name="T34" fmla="*/ 2469536 w 85"/>
                <a:gd name="T35" fmla="*/ 294 h 59"/>
                <a:gd name="T36" fmla="*/ 2563417 w 85"/>
                <a:gd name="T37" fmla="*/ 2 h 59"/>
                <a:gd name="T38" fmla="*/ 2539975 w 85"/>
                <a:gd name="T39" fmla="*/ 0 h 59"/>
                <a:gd name="T40" fmla="*/ 2563417 w 85"/>
                <a:gd name="T41" fmla="*/ 2 h 59"/>
                <a:gd name="T42" fmla="*/ 2563417 w 85"/>
                <a:gd name="T43" fmla="*/ 1 h 59"/>
                <a:gd name="T44" fmla="*/ 2539975 w 85"/>
                <a:gd name="T45" fmla="*/ 0 h 59"/>
                <a:gd name="T46" fmla="*/ 2176640 w 85"/>
                <a:gd name="T47" fmla="*/ 158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59"/>
                <a:gd name="T74" fmla="*/ 85 w 85"/>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59">
                  <a:moveTo>
                    <a:pt x="71" y="8"/>
                  </a:moveTo>
                  <a:lnTo>
                    <a:pt x="71" y="6"/>
                  </a:lnTo>
                  <a:lnTo>
                    <a:pt x="69" y="7"/>
                  </a:lnTo>
                  <a:lnTo>
                    <a:pt x="64" y="12"/>
                  </a:lnTo>
                  <a:lnTo>
                    <a:pt x="53" y="17"/>
                  </a:lnTo>
                  <a:lnTo>
                    <a:pt x="39" y="23"/>
                  </a:lnTo>
                  <a:lnTo>
                    <a:pt x="25" y="30"/>
                  </a:lnTo>
                  <a:lnTo>
                    <a:pt x="12" y="36"/>
                  </a:lnTo>
                  <a:lnTo>
                    <a:pt x="2" y="45"/>
                  </a:lnTo>
                  <a:lnTo>
                    <a:pt x="0" y="58"/>
                  </a:lnTo>
                  <a:lnTo>
                    <a:pt x="13" y="54"/>
                  </a:lnTo>
                  <a:lnTo>
                    <a:pt x="14" y="52"/>
                  </a:lnTo>
                  <a:lnTo>
                    <a:pt x="19" y="48"/>
                  </a:lnTo>
                  <a:lnTo>
                    <a:pt x="31" y="41"/>
                  </a:lnTo>
                  <a:lnTo>
                    <a:pt x="44" y="36"/>
                  </a:lnTo>
                  <a:lnTo>
                    <a:pt x="58" y="29"/>
                  </a:lnTo>
                  <a:lnTo>
                    <a:pt x="71" y="23"/>
                  </a:lnTo>
                  <a:lnTo>
                    <a:pt x="81" y="15"/>
                  </a:lnTo>
                  <a:lnTo>
                    <a:pt x="84" y="2"/>
                  </a:lnTo>
                  <a:lnTo>
                    <a:pt x="83" y="0"/>
                  </a:lnTo>
                  <a:lnTo>
                    <a:pt x="84" y="2"/>
                  </a:lnTo>
                  <a:lnTo>
                    <a:pt x="84" y="1"/>
                  </a:lnTo>
                  <a:lnTo>
                    <a:pt x="83" y="0"/>
                  </a:lnTo>
                  <a:lnTo>
                    <a:pt x="71"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5" name="Freeform 66">
              <a:extLst>
                <a:ext uri="{FF2B5EF4-FFF2-40B4-BE49-F238E27FC236}">
                  <a16:creationId xmlns:a16="http://schemas.microsoft.com/office/drawing/2014/main" id="{4DDC162C-2294-739C-B3AE-214E44681995}"/>
                </a:ext>
              </a:extLst>
            </p:cNvPr>
            <p:cNvSpPr>
              <a:spLocks/>
            </p:cNvSpPr>
            <p:nvPr/>
          </p:nvSpPr>
          <p:spPr bwMode="auto">
            <a:xfrm>
              <a:off x="2485" y="3083"/>
              <a:ext cx="24" cy="12"/>
            </a:xfrm>
            <a:custGeom>
              <a:avLst/>
              <a:gdLst>
                <a:gd name="T0" fmla="*/ 0 w 15"/>
                <a:gd name="T1" fmla="*/ 41 h 11"/>
                <a:gd name="T2" fmla="*/ 24325 w 15"/>
                <a:gd name="T3" fmla="*/ 49 h 11"/>
                <a:gd name="T4" fmla="*/ 38920 w 15"/>
                <a:gd name="T5" fmla="*/ 58 h 11"/>
                <a:gd name="T6" fmla="*/ 265134 w 15"/>
                <a:gd name="T7" fmla="*/ 2 h 11"/>
                <a:gd name="T8" fmla="*/ 226910 w 15"/>
                <a:gd name="T9" fmla="*/ 0 h 11"/>
                <a:gd name="T10" fmla="*/ 255066 w 15"/>
                <a:gd name="T11" fmla="*/ 2 h 11"/>
                <a:gd name="T12" fmla="*/ 0 w 15"/>
                <a:gd name="T13" fmla="*/ 41 h 11"/>
                <a:gd name="T14" fmla="*/ 24325 w 15"/>
                <a:gd name="T15" fmla="*/ 49 h 11"/>
                <a:gd name="T16" fmla="*/ 0 w 15"/>
                <a:gd name="T17" fmla="*/ 41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1"/>
                <a:gd name="T29" fmla="*/ 15 w 1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1">
                  <a:moveTo>
                    <a:pt x="0" y="6"/>
                  </a:moveTo>
                  <a:lnTo>
                    <a:pt x="1" y="8"/>
                  </a:lnTo>
                  <a:lnTo>
                    <a:pt x="2" y="10"/>
                  </a:lnTo>
                  <a:lnTo>
                    <a:pt x="14" y="2"/>
                  </a:lnTo>
                  <a:lnTo>
                    <a:pt x="12" y="0"/>
                  </a:lnTo>
                  <a:lnTo>
                    <a:pt x="13" y="2"/>
                  </a:lnTo>
                  <a:lnTo>
                    <a:pt x="0" y="6"/>
                  </a:lnTo>
                  <a:lnTo>
                    <a:pt x="1" y="8"/>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6" name="Freeform 67">
              <a:extLst>
                <a:ext uri="{FF2B5EF4-FFF2-40B4-BE49-F238E27FC236}">
                  <a16:creationId xmlns:a16="http://schemas.microsoft.com/office/drawing/2014/main" id="{A6438FA6-D6DC-6002-7E96-BCA4D0D2E9ED}"/>
                </a:ext>
              </a:extLst>
            </p:cNvPr>
            <p:cNvSpPr>
              <a:spLocks/>
            </p:cNvSpPr>
            <p:nvPr/>
          </p:nvSpPr>
          <p:spPr bwMode="auto">
            <a:xfrm>
              <a:off x="2335" y="3056"/>
              <a:ext cx="172" cy="34"/>
            </a:xfrm>
            <a:custGeom>
              <a:avLst/>
              <a:gdLst>
                <a:gd name="T0" fmla="*/ 0 w 105"/>
                <a:gd name="T1" fmla="*/ 61 h 30"/>
                <a:gd name="T2" fmla="*/ 247472 w 105"/>
                <a:gd name="T3" fmla="*/ 186 h 30"/>
                <a:gd name="T4" fmla="*/ 664056 w 105"/>
                <a:gd name="T5" fmla="*/ 233 h 30"/>
                <a:gd name="T6" fmla="*/ 1144996 w 105"/>
                <a:gd name="T7" fmla="*/ 239 h 30"/>
                <a:gd name="T8" fmla="*/ 1629916 w 105"/>
                <a:gd name="T9" fmla="*/ 264 h 30"/>
                <a:gd name="T10" fmla="*/ 2126746 w 105"/>
                <a:gd name="T11" fmla="*/ 264 h 30"/>
                <a:gd name="T12" fmla="*/ 2497456 w 105"/>
                <a:gd name="T13" fmla="*/ 298 h 30"/>
                <a:gd name="T14" fmla="*/ 2792890 w 105"/>
                <a:gd name="T15" fmla="*/ 338 h 30"/>
                <a:gd name="T16" fmla="*/ 2885372 w 105"/>
                <a:gd name="T17" fmla="*/ 394 h 30"/>
                <a:gd name="T18" fmla="*/ 3278466 w 105"/>
                <a:gd name="T19" fmla="*/ 339 h 30"/>
                <a:gd name="T20" fmla="*/ 3037405 w 105"/>
                <a:gd name="T21" fmla="*/ 186 h 30"/>
                <a:gd name="T22" fmla="*/ 2633720 w 105"/>
                <a:gd name="T23" fmla="*/ 100 h 30"/>
                <a:gd name="T24" fmla="*/ 2147610 w 105"/>
                <a:gd name="T25" fmla="*/ 78 h 30"/>
                <a:gd name="T26" fmla="*/ 1629916 w 105"/>
                <a:gd name="T27" fmla="*/ 69 h 30"/>
                <a:gd name="T28" fmla="*/ 1144996 w 105"/>
                <a:gd name="T29" fmla="*/ 69 h 30"/>
                <a:gd name="T30" fmla="*/ 737762 w 105"/>
                <a:gd name="T31" fmla="*/ 61 h 30"/>
                <a:gd name="T32" fmla="*/ 483836 w 105"/>
                <a:gd name="T33" fmla="*/ 2 h 30"/>
                <a:gd name="T34" fmla="*/ 405383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7"/>
                  </a:lnTo>
                  <a:lnTo>
                    <a:pt x="36" y="18"/>
                  </a:lnTo>
                  <a:lnTo>
                    <a:pt x="51" y="19"/>
                  </a:lnTo>
                  <a:lnTo>
                    <a:pt x="67" y="19"/>
                  </a:lnTo>
                  <a:lnTo>
                    <a:pt x="79" y="21"/>
                  </a:lnTo>
                  <a:lnTo>
                    <a:pt x="88" y="24"/>
                  </a:lnTo>
                  <a:lnTo>
                    <a:pt x="91" y="29"/>
                  </a:lnTo>
                  <a:lnTo>
                    <a:pt x="104" y="25"/>
                  </a:lnTo>
                  <a:lnTo>
                    <a:pt x="96" y="14"/>
                  </a:lnTo>
                  <a:lnTo>
                    <a:pt x="83" y="8"/>
                  </a:lnTo>
                  <a:lnTo>
                    <a:pt x="68" y="6"/>
                  </a:lnTo>
                  <a:lnTo>
                    <a:pt x="51" y="5"/>
                  </a:lnTo>
                  <a:lnTo>
                    <a:pt x="36" y="5"/>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7" name="Freeform 68">
              <a:extLst>
                <a:ext uri="{FF2B5EF4-FFF2-40B4-BE49-F238E27FC236}">
                  <a16:creationId xmlns:a16="http://schemas.microsoft.com/office/drawing/2014/main" id="{3956D3B6-4609-0523-7190-A013D3AFAA6F}"/>
                </a:ext>
              </a:extLst>
            </p:cNvPr>
            <p:cNvSpPr>
              <a:spLocks/>
            </p:cNvSpPr>
            <p:nvPr/>
          </p:nvSpPr>
          <p:spPr bwMode="auto">
            <a:xfrm>
              <a:off x="2335" y="2990"/>
              <a:ext cx="136" cy="71"/>
            </a:xfrm>
            <a:custGeom>
              <a:avLst/>
              <a:gdLst>
                <a:gd name="T0" fmla="*/ 2195491 w 83"/>
                <a:gd name="T1" fmla="*/ 74 h 62"/>
                <a:gd name="T2" fmla="*/ 2195491 w 83"/>
                <a:gd name="T3" fmla="*/ 97 h 62"/>
                <a:gd name="T4" fmla="*/ 2008007 w 83"/>
                <a:gd name="T5" fmla="*/ 211 h 62"/>
                <a:gd name="T6" fmla="*/ 1654163 w 83"/>
                <a:gd name="T7" fmla="*/ 328 h 62"/>
                <a:gd name="T8" fmla="*/ 1212955 w 83"/>
                <a:gd name="T9" fmla="*/ 462 h 62"/>
                <a:gd name="T10" fmla="*/ 795492 w 83"/>
                <a:gd name="T11" fmla="*/ 554 h 62"/>
                <a:gd name="T12" fmla="*/ 389068 w 83"/>
                <a:gd name="T13" fmla="*/ 696 h 62"/>
                <a:gd name="T14" fmla="*/ 56548 w 83"/>
                <a:gd name="T15" fmla="*/ 831 h 62"/>
                <a:gd name="T16" fmla="*/ 0 w 83"/>
                <a:gd name="T17" fmla="*/ 1046 h 62"/>
                <a:gd name="T18" fmla="*/ 407626 w 83"/>
                <a:gd name="T19" fmla="*/ 973 h 62"/>
                <a:gd name="T20" fmla="*/ 451776 w 83"/>
                <a:gd name="T21" fmla="*/ 960 h 62"/>
                <a:gd name="T22" fmla="*/ 637509 w 83"/>
                <a:gd name="T23" fmla="*/ 850 h 62"/>
                <a:gd name="T24" fmla="*/ 998460 w 83"/>
                <a:gd name="T25" fmla="*/ 732 h 62"/>
                <a:gd name="T26" fmla="*/ 1434145 w 83"/>
                <a:gd name="T27" fmla="*/ 634 h 62"/>
                <a:gd name="T28" fmla="*/ 1855348 w 83"/>
                <a:gd name="T29" fmla="*/ 529 h 62"/>
                <a:gd name="T30" fmla="*/ 2257806 w 83"/>
                <a:gd name="T31" fmla="*/ 40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9" y="6"/>
                  </a:lnTo>
                  <a:lnTo>
                    <a:pt x="63" y="12"/>
                  </a:lnTo>
                  <a:lnTo>
                    <a:pt x="52" y="19"/>
                  </a:lnTo>
                  <a:lnTo>
                    <a:pt x="38" y="26"/>
                  </a:lnTo>
                  <a:lnTo>
                    <a:pt x="25" y="32"/>
                  </a:lnTo>
                  <a:lnTo>
                    <a:pt x="12" y="40"/>
                  </a:lnTo>
                  <a:lnTo>
                    <a:pt x="2" y="48"/>
                  </a:lnTo>
                  <a:lnTo>
                    <a:pt x="0" y="61"/>
                  </a:lnTo>
                  <a:lnTo>
                    <a:pt x="13" y="57"/>
                  </a:lnTo>
                  <a:lnTo>
                    <a:pt x="14" y="56"/>
                  </a:lnTo>
                  <a:lnTo>
                    <a:pt x="20" y="50"/>
                  </a:lnTo>
                  <a:lnTo>
                    <a:pt x="31" y="43"/>
                  </a:lnTo>
                  <a:lnTo>
                    <a:pt x="45" y="37"/>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8" name="Freeform 69">
              <a:extLst>
                <a:ext uri="{FF2B5EF4-FFF2-40B4-BE49-F238E27FC236}">
                  <a16:creationId xmlns:a16="http://schemas.microsoft.com/office/drawing/2014/main" id="{8F1F38BC-1B90-E9FD-DCA9-2F371DD9E5CE}"/>
                </a:ext>
              </a:extLst>
            </p:cNvPr>
            <p:cNvSpPr>
              <a:spLocks/>
            </p:cNvSpPr>
            <p:nvPr/>
          </p:nvSpPr>
          <p:spPr bwMode="auto">
            <a:xfrm>
              <a:off x="2297" y="2961"/>
              <a:ext cx="174" cy="33"/>
            </a:xfrm>
            <a:custGeom>
              <a:avLst/>
              <a:gdLst>
                <a:gd name="T0" fmla="*/ 0 w 106"/>
                <a:gd name="T1" fmla="*/ 68 h 29"/>
                <a:gd name="T2" fmla="*/ 255808 w 106"/>
                <a:gd name="T3" fmla="*/ 191 h 29"/>
                <a:gd name="T4" fmla="*/ 689288 w 106"/>
                <a:gd name="T5" fmla="*/ 247 h 29"/>
                <a:gd name="T6" fmla="*/ 1189907 w 106"/>
                <a:gd name="T7" fmla="*/ 281 h 29"/>
                <a:gd name="T8" fmla="*/ 1723619 w 106"/>
                <a:gd name="T9" fmla="*/ 306 h 29"/>
                <a:gd name="T10" fmla="*/ 2226709 w 106"/>
                <a:gd name="T11" fmla="*/ 306 h 29"/>
                <a:gd name="T12" fmla="*/ 2681420 w 106"/>
                <a:gd name="T13" fmla="*/ 320 h 29"/>
                <a:gd name="T14" fmla="*/ 2950607 w 106"/>
                <a:gd name="T15" fmla="*/ 396 h 29"/>
                <a:gd name="T16" fmla="*/ 3048815 w 106"/>
                <a:gd name="T17" fmla="*/ 414 h 29"/>
                <a:gd name="T18" fmla="*/ 3468237 w 106"/>
                <a:gd name="T19" fmla="*/ 360 h 29"/>
                <a:gd name="T20" fmla="*/ 3206268 w 106"/>
                <a:gd name="T21" fmla="*/ 207 h 29"/>
                <a:gd name="T22" fmla="*/ 2742357 w 106"/>
                <a:gd name="T23" fmla="*/ 130 h 29"/>
                <a:gd name="T24" fmla="*/ 2274976 w 106"/>
                <a:gd name="T25" fmla="*/ 100 h 29"/>
                <a:gd name="T26" fmla="*/ 1723619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2" y="20"/>
                  </a:lnTo>
                  <a:lnTo>
                    <a:pt x="67" y="20"/>
                  </a:lnTo>
                  <a:lnTo>
                    <a:pt x="81" y="22"/>
                  </a:lnTo>
                  <a:lnTo>
                    <a:pt x="89" y="26"/>
                  </a:lnTo>
                  <a:lnTo>
                    <a:pt x="92" y="28"/>
                  </a:lnTo>
                  <a:lnTo>
                    <a:pt x="105" y="24"/>
                  </a:lnTo>
                  <a:lnTo>
                    <a:pt x="97" y="14"/>
                  </a:lnTo>
                  <a:lnTo>
                    <a:pt x="83" y="9"/>
                  </a:lnTo>
                  <a:lnTo>
                    <a:pt x="69" y="7"/>
                  </a:lnTo>
                  <a:lnTo>
                    <a:pt x="52"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89" name="Freeform 70">
              <a:extLst>
                <a:ext uri="{FF2B5EF4-FFF2-40B4-BE49-F238E27FC236}">
                  <a16:creationId xmlns:a16="http://schemas.microsoft.com/office/drawing/2014/main" id="{FCB960E5-6CF2-DA61-108F-5E64288FAE56}"/>
                </a:ext>
              </a:extLst>
            </p:cNvPr>
            <p:cNvSpPr>
              <a:spLocks/>
            </p:cNvSpPr>
            <p:nvPr/>
          </p:nvSpPr>
          <p:spPr bwMode="auto">
            <a:xfrm>
              <a:off x="2297" y="2899"/>
              <a:ext cx="140" cy="69"/>
            </a:xfrm>
            <a:custGeom>
              <a:avLst/>
              <a:gdLst>
                <a:gd name="T0" fmla="*/ 2471399 w 85"/>
                <a:gd name="T1" fmla="*/ 2 h 59"/>
                <a:gd name="T2" fmla="*/ 2471399 w 85"/>
                <a:gd name="T3" fmla="*/ 120 h 59"/>
                <a:gd name="T4" fmla="*/ 2471399 w 85"/>
                <a:gd name="T5" fmla="*/ 103 h 59"/>
                <a:gd name="T6" fmla="*/ 2240237 w 85"/>
                <a:gd name="T7" fmla="*/ 225 h 59"/>
                <a:gd name="T8" fmla="*/ 1859732 w 85"/>
                <a:gd name="T9" fmla="*/ 421 h 59"/>
                <a:gd name="T10" fmla="*/ 1360144 w 85"/>
                <a:gd name="T11" fmla="*/ 575 h 59"/>
                <a:gd name="T12" fmla="*/ 869214 w 85"/>
                <a:gd name="T13" fmla="*/ 782 h 59"/>
                <a:gd name="T14" fmla="*/ 431225 w 85"/>
                <a:gd name="T15" fmla="*/ 934 h 59"/>
                <a:gd name="T16" fmla="*/ 62872 w 85"/>
                <a:gd name="T17" fmla="*/ 1221 h 59"/>
                <a:gd name="T18" fmla="*/ 0 w 85"/>
                <a:gd name="T19" fmla="*/ 1587 h 59"/>
                <a:gd name="T20" fmla="*/ 462695 w 85"/>
                <a:gd name="T21" fmla="*/ 1463 h 59"/>
                <a:gd name="T22" fmla="*/ 501380 w 85"/>
                <a:gd name="T23" fmla="*/ 1381 h 59"/>
                <a:gd name="T24" fmla="*/ 710253 w 85"/>
                <a:gd name="T25" fmla="*/ 1251 h 59"/>
                <a:gd name="T26" fmla="*/ 1097633 w 85"/>
                <a:gd name="T27" fmla="*/ 1070 h 59"/>
                <a:gd name="T28" fmla="*/ 1560340 w 85"/>
                <a:gd name="T29" fmla="*/ 915 h 59"/>
                <a:gd name="T30" fmla="*/ 2067388 w 85"/>
                <a:gd name="T31" fmla="*/ 683 h 59"/>
                <a:gd name="T32" fmla="*/ 2471399 w 85"/>
                <a:gd name="T33" fmla="*/ 530 h 59"/>
                <a:gd name="T34" fmla="*/ 2838541 w 85"/>
                <a:gd name="T35" fmla="*/ 312 h 59"/>
                <a:gd name="T36" fmla="*/ 2963864 w 85"/>
                <a:gd name="T37" fmla="*/ 0 h 59"/>
                <a:gd name="T38" fmla="*/ 2977662 w 85"/>
                <a:gd name="T39" fmla="*/ 2 h 59"/>
                <a:gd name="T40" fmla="*/ 2471399 w 85"/>
                <a:gd name="T41" fmla="*/ 2 h 59"/>
                <a:gd name="T42" fmla="*/ 2471399 w 85"/>
                <a:gd name="T43" fmla="*/ 120 h 59"/>
                <a:gd name="T44" fmla="*/ 2471399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70" y="3"/>
                  </a:lnTo>
                  <a:lnTo>
                    <a:pt x="63" y="8"/>
                  </a:lnTo>
                  <a:lnTo>
                    <a:pt x="52" y="15"/>
                  </a:lnTo>
                  <a:lnTo>
                    <a:pt x="38" y="21"/>
                  </a:lnTo>
                  <a:lnTo>
                    <a:pt x="24" y="28"/>
                  </a:lnTo>
                  <a:lnTo>
                    <a:pt x="12" y="35"/>
                  </a:lnTo>
                  <a:lnTo>
                    <a:pt x="2" y="45"/>
                  </a:lnTo>
                  <a:lnTo>
                    <a:pt x="0" y="58"/>
                  </a:lnTo>
                  <a:lnTo>
                    <a:pt x="13" y="54"/>
                  </a:lnTo>
                  <a:lnTo>
                    <a:pt x="14" y="52"/>
                  </a:lnTo>
                  <a:lnTo>
                    <a:pt x="20" y="46"/>
                  </a:lnTo>
                  <a:lnTo>
                    <a:pt x="31" y="39"/>
                  </a:lnTo>
                  <a:lnTo>
                    <a:pt x="44" y="33"/>
                  </a:lnTo>
                  <a:lnTo>
                    <a:pt x="58" y="26"/>
                  </a:lnTo>
                  <a:lnTo>
                    <a:pt x="70" y="20"/>
                  </a:lnTo>
                  <a:lnTo>
                    <a:pt x="80" y="12"/>
                  </a:lnTo>
                  <a:lnTo>
                    <a:pt x="83" y="0"/>
                  </a:lnTo>
                  <a:lnTo>
                    <a:pt x="84" y="2"/>
                  </a:lnTo>
                  <a:lnTo>
                    <a:pt x="70" y="2"/>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0" name="Freeform 71">
              <a:extLst>
                <a:ext uri="{FF2B5EF4-FFF2-40B4-BE49-F238E27FC236}">
                  <a16:creationId xmlns:a16="http://schemas.microsoft.com/office/drawing/2014/main" id="{364DC2E2-47C5-F70F-8037-476DFE071F35}"/>
                </a:ext>
              </a:extLst>
            </p:cNvPr>
            <p:cNvSpPr>
              <a:spLocks/>
            </p:cNvSpPr>
            <p:nvPr/>
          </p:nvSpPr>
          <p:spPr bwMode="auto">
            <a:xfrm>
              <a:off x="2412" y="2898"/>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1" name="Freeform 72">
              <a:extLst>
                <a:ext uri="{FF2B5EF4-FFF2-40B4-BE49-F238E27FC236}">
                  <a16:creationId xmlns:a16="http://schemas.microsoft.com/office/drawing/2014/main" id="{C6CE4D28-04F9-2390-CFD5-87B2A33400B8}"/>
                </a:ext>
              </a:extLst>
            </p:cNvPr>
            <p:cNvSpPr>
              <a:spLocks/>
            </p:cNvSpPr>
            <p:nvPr/>
          </p:nvSpPr>
          <p:spPr bwMode="auto">
            <a:xfrm>
              <a:off x="2264" y="2869"/>
              <a:ext cx="173" cy="35"/>
            </a:xfrm>
            <a:custGeom>
              <a:avLst/>
              <a:gdLst>
                <a:gd name="T0" fmla="*/ 0 w 105"/>
                <a:gd name="T1" fmla="*/ 60 h 31"/>
                <a:gd name="T2" fmla="*/ 282272 w 105"/>
                <a:gd name="T3" fmla="*/ 180 h 31"/>
                <a:gd name="T4" fmla="*/ 766270 w 105"/>
                <a:gd name="T5" fmla="*/ 236 h 31"/>
                <a:gd name="T6" fmla="*/ 1283006 w 105"/>
                <a:gd name="T7" fmla="*/ 289 h 31"/>
                <a:gd name="T8" fmla="*/ 1816719 w 105"/>
                <a:gd name="T9" fmla="*/ 292 h 31"/>
                <a:gd name="T10" fmla="*/ 2445765 w 105"/>
                <a:gd name="T11" fmla="*/ 300 h 31"/>
                <a:gd name="T12" fmla="*/ 2890764 w 105"/>
                <a:gd name="T13" fmla="*/ 330 h 31"/>
                <a:gd name="T14" fmla="*/ 3191916 w 105"/>
                <a:gd name="T15" fmla="*/ 373 h 31"/>
                <a:gd name="T16" fmla="*/ 3261172 w 105"/>
                <a:gd name="T17" fmla="*/ 383 h 31"/>
                <a:gd name="T18" fmla="*/ 3721278 w 105"/>
                <a:gd name="T19" fmla="*/ 330 h 31"/>
                <a:gd name="T20" fmla="*/ 3427301 w 105"/>
                <a:gd name="T21" fmla="*/ 209 h 31"/>
                <a:gd name="T22" fmla="*/ 2979100 w 105"/>
                <a:gd name="T23" fmla="*/ 164 h 31"/>
                <a:gd name="T24" fmla="*/ 2482473 w 105"/>
                <a:gd name="T25" fmla="*/ 141 h 31"/>
                <a:gd name="T26" fmla="*/ 1890361 w 105"/>
                <a:gd name="T27" fmla="*/ 125 h 31"/>
                <a:gd name="T28" fmla="*/ 1329942 w 105"/>
                <a:gd name="T29" fmla="*/ 111 h 31"/>
                <a:gd name="T30" fmla="*/ 900951 w 105"/>
                <a:gd name="T31" fmla="*/ 77 h 31"/>
                <a:gd name="T32" fmla="*/ 569066 w 105"/>
                <a:gd name="T33" fmla="*/ 3 h 31"/>
                <a:gd name="T34" fmla="*/ 465077 w 105"/>
                <a:gd name="T35" fmla="*/ 0 h 31"/>
                <a:gd name="T36" fmla="*/ 0 w 105"/>
                <a:gd name="T37" fmla="*/ 6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9"/>
                  </a:lnTo>
                  <a:lnTo>
                    <a:pt x="36" y="22"/>
                  </a:lnTo>
                  <a:lnTo>
                    <a:pt x="51" y="23"/>
                  </a:lnTo>
                  <a:lnTo>
                    <a:pt x="68" y="24"/>
                  </a:lnTo>
                  <a:lnTo>
                    <a:pt x="81" y="26"/>
                  </a:lnTo>
                  <a:lnTo>
                    <a:pt x="89" y="29"/>
                  </a:lnTo>
                  <a:lnTo>
                    <a:pt x="91" y="30"/>
                  </a:lnTo>
                  <a:lnTo>
                    <a:pt x="104" y="26"/>
                  </a:lnTo>
                  <a:lnTo>
                    <a:pt x="96" y="17"/>
                  </a:lnTo>
                  <a:lnTo>
                    <a:pt x="83" y="13"/>
                  </a:lnTo>
                  <a:lnTo>
                    <a:pt x="69" y="11"/>
                  </a:lnTo>
                  <a:lnTo>
                    <a:pt x="53" y="10"/>
                  </a:lnTo>
                  <a:lnTo>
                    <a:pt x="37" y="9"/>
                  </a:lnTo>
                  <a:lnTo>
                    <a:pt x="25"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2" name="Freeform 73">
              <a:extLst>
                <a:ext uri="{FF2B5EF4-FFF2-40B4-BE49-F238E27FC236}">
                  <a16:creationId xmlns:a16="http://schemas.microsoft.com/office/drawing/2014/main" id="{51FFE062-F187-8770-87C2-70DD6E3DBBA3}"/>
                </a:ext>
              </a:extLst>
            </p:cNvPr>
            <p:cNvSpPr>
              <a:spLocks/>
            </p:cNvSpPr>
            <p:nvPr/>
          </p:nvSpPr>
          <p:spPr bwMode="auto">
            <a:xfrm>
              <a:off x="2264" y="2803"/>
              <a:ext cx="136" cy="71"/>
            </a:xfrm>
            <a:custGeom>
              <a:avLst/>
              <a:gdLst>
                <a:gd name="T0" fmla="*/ 2195491 w 83"/>
                <a:gd name="T1" fmla="*/ 74 h 62"/>
                <a:gd name="T2" fmla="*/ 2160471 w 83"/>
                <a:gd name="T3" fmla="*/ 85 h 62"/>
                <a:gd name="T4" fmla="*/ 1987493 w 83"/>
                <a:gd name="T5" fmla="*/ 190 h 62"/>
                <a:gd name="T6" fmla="*/ 1636031 w 83"/>
                <a:gd name="T7" fmla="*/ 286 h 62"/>
                <a:gd name="T8" fmla="*/ 1212955 w 83"/>
                <a:gd name="T9" fmla="*/ 416 h 62"/>
                <a:gd name="T10" fmla="*/ 761179 w 83"/>
                <a:gd name="T11" fmla="*/ 545 h 62"/>
                <a:gd name="T12" fmla="*/ 389068 w 83"/>
                <a:gd name="T13" fmla="*/ 694 h 62"/>
                <a:gd name="T14" fmla="*/ 56548 w 83"/>
                <a:gd name="T15" fmla="*/ 838 h 62"/>
                <a:gd name="T16" fmla="*/ 0 w 83"/>
                <a:gd name="T17" fmla="*/ 1046 h 62"/>
                <a:gd name="T18" fmla="*/ 407626 w 83"/>
                <a:gd name="T19" fmla="*/ 1010 h 62"/>
                <a:gd name="T20" fmla="*/ 451776 w 83"/>
                <a:gd name="T21" fmla="*/ 952 h 62"/>
                <a:gd name="T22" fmla="*/ 609354 w 83"/>
                <a:gd name="T23" fmla="*/ 838 h 62"/>
                <a:gd name="T24" fmla="*/ 998460 w 83"/>
                <a:gd name="T25" fmla="*/ 732 h 62"/>
                <a:gd name="T26" fmla="*/ 1398653 w 83"/>
                <a:gd name="T27" fmla="*/ 624 h 62"/>
                <a:gd name="T28" fmla="*/ 1855348 w 83"/>
                <a:gd name="T29" fmla="*/ 494 h 62"/>
                <a:gd name="T30" fmla="*/ 2232686 w 83"/>
                <a:gd name="T31" fmla="*/ 363 h 62"/>
                <a:gd name="T32" fmla="*/ 2549956 w 83"/>
                <a:gd name="T33" fmla="*/ 218 h 62"/>
                <a:gd name="T34" fmla="*/ 2609697 w 83"/>
                <a:gd name="T35" fmla="*/ 0 h 62"/>
                <a:gd name="T36" fmla="*/ 2195491 w 83"/>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2" y="11"/>
                  </a:lnTo>
                  <a:lnTo>
                    <a:pt x="51" y="17"/>
                  </a:lnTo>
                  <a:lnTo>
                    <a:pt x="38" y="24"/>
                  </a:lnTo>
                  <a:lnTo>
                    <a:pt x="24" y="31"/>
                  </a:lnTo>
                  <a:lnTo>
                    <a:pt x="12" y="39"/>
                  </a:lnTo>
                  <a:lnTo>
                    <a:pt x="2" y="49"/>
                  </a:lnTo>
                  <a:lnTo>
                    <a:pt x="0" y="61"/>
                  </a:lnTo>
                  <a:lnTo>
                    <a:pt x="13" y="58"/>
                  </a:lnTo>
                  <a:lnTo>
                    <a:pt x="14" y="55"/>
                  </a:lnTo>
                  <a:lnTo>
                    <a:pt x="19" y="49"/>
                  </a:lnTo>
                  <a:lnTo>
                    <a:pt x="31"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3" name="Freeform 74">
              <a:extLst>
                <a:ext uri="{FF2B5EF4-FFF2-40B4-BE49-F238E27FC236}">
                  <a16:creationId xmlns:a16="http://schemas.microsoft.com/office/drawing/2014/main" id="{2BA7D606-BBC0-9B61-2076-D4C73CB6F898}"/>
                </a:ext>
              </a:extLst>
            </p:cNvPr>
            <p:cNvSpPr>
              <a:spLocks/>
            </p:cNvSpPr>
            <p:nvPr/>
          </p:nvSpPr>
          <p:spPr bwMode="auto">
            <a:xfrm>
              <a:off x="2226" y="2774"/>
              <a:ext cx="174" cy="33"/>
            </a:xfrm>
            <a:custGeom>
              <a:avLst/>
              <a:gdLst>
                <a:gd name="T0" fmla="*/ 0 w 106"/>
                <a:gd name="T1" fmla="*/ 68 h 29"/>
                <a:gd name="T2" fmla="*/ 306683 w 106"/>
                <a:gd name="T3" fmla="*/ 207 h 29"/>
                <a:gd name="T4" fmla="*/ 724886 w 106"/>
                <a:gd name="T5" fmla="*/ 269 h 29"/>
                <a:gd name="T6" fmla="*/ 1189907 w 106"/>
                <a:gd name="T7" fmla="*/ 306 h 29"/>
                <a:gd name="T8" fmla="*/ 1723619 w 106"/>
                <a:gd name="T9" fmla="*/ 316 h 29"/>
                <a:gd name="T10" fmla="*/ 2261872 w 106"/>
                <a:gd name="T11" fmla="*/ 320 h 29"/>
                <a:gd name="T12" fmla="*/ 2681420 w 106"/>
                <a:gd name="T13" fmla="*/ 360 h 29"/>
                <a:gd name="T14" fmla="*/ 2987436 w 106"/>
                <a:gd name="T15" fmla="*/ 396 h 29"/>
                <a:gd name="T16" fmla="*/ 3048815 w 106"/>
                <a:gd name="T17" fmla="*/ 414 h 29"/>
                <a:gd name="T18" fmla="*/ 3468237 w 106"/>
                <a:gd name="T19" fmla="*/ 360 h 29"/>
                <a:gd name="T20" fmla="*/ 3184802 w 106"/>
                <a:gd name="T21" fmla="*/ 217 h 29"/>
                <a:gd name="T22" fmla="*/ 2792912 w 106"/>
                <a:gd name="T23" fmla="*/ 168 h 29"/>
                <a:gd name="T24" fmla="*/ 2274976 w 106"/>
                <a:gd name="T25" fmla="*/ 130 h 29"/>
                <a:gd name="T26" fmla="*/ 1797496 w 106"/>
                <a:gd name="T27" fmla="*/ 114 h 29"/>
                <a:gd name="T28" fmla="*/ 1229571 w 106"/>
                <a:gd name="T29" fmla="*/ 100 h 29"/>
                <a:gd name="T30" fmla="*/ 784113 w 106"/>
                <a:gd name="T31" fmla="*/ 77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4"/>
                  </a:lnTo>
                  <a:lnTo>
                    <a:pt x="96" y="15"/>
                  </a:lnTo>
                  <a:lnTo>
                    <a:pt x="84" y="11"/>
                  </a:lnTo>
                  <a:lnTo>
                    <a:pt x="69" y="9"/>
                  </a:lnTo>
                  <a:lnTo>
                    <a:pt x="54"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4" name="Freeform 75">
              <a:extLst>
                <a:ext uri="{FF2B5EF4-FFF2-40B4-BE49-F238E27FC236}">
                  <a16:creationId xmlns:a16="http://schemas.microsoft.com/office/drawing/2014/main" id="{2401A57E-33C4-BD98-8DBD-4D977083AB44}"/>
                </a:ext>
              </a:extLst>
            </p:cNvPr>
            <p:cNvSpPr>
              <a:spLocks/>
            </p:cNvSpPr>
            <p:nvPr/>
          </p:nvSpPr>
          <p:spPr bwMode="auto">
            <a:xfrm>
              <a:off x="2226" y="2705"/>
              <a:ext cx="135" cy="74"/>
            </a:xfrm>
            <a:custGeom>
              <a:avLst/>
              <a:gdLst>
                <a:gd name="T0" fmla="*/ 2394339 w 82"/>
                <a:gd name="T1" fmla="*/ 69 h 65"/>
                <a:gd name="T2" fmla="*/ 2353109 w 82"/>
                <a:gd name="T3" fmla="*/ 79 h 65"/>
                <a:gd name="T4" fmla="*/ 2149498 w 82"/>
                <a:gd name="T5" fmla="*/ 171 h 65"/>
                <a:gd name="T6" fmla="*/ 1749470 w 82"/>
                <a:gd name="T7" fmla="*/ 253 h 65"/>
                <a:gd name="T8" fmla="*/ 1305621 w 82"/>
                <a:gd name="T9" fmla="*/ 373 h 65"/>
                <a:gd name="T10" fmla="*/ 859589 w 82"/>
                <a:gd name="T11" fmla="*/ 484 h 65"/>
                <a:gd name="T12" fmla="*/ 387796 w 82"/>
                <a:gd name="T13" fmla="*/ 609 h 65"/>
                <a:gd name="T14" fmla="*/ 61866 w 82"/>
                <a:gd name="T15" fmla="*/ 767 h 65"/>
                <a:gd name="T16" fmla="*/ 0 w 82"/>
                <a:gd name="T17" fmla="*/ 971 h 65"/>
                <a:gd name="T18" fmla="*/ 454501 w 82"/>
                <a:gd name="T19" fmla="*/ 899 h 65"/>
                <a:gd name="T20" fmla="*/ 498843 w 82"/>
                <a:gd name="T21" fmla="*/ 865 h 65"/>
                <a:gd name="T22" fmla="*/ 703836 w 82"/>
                <a:gd name="T23" fmla="*/ 767 h 65"/>
                <a:gd name="T24" fmla="*/ 1051098 w 82"/>
                <a:gd name="T25" fmla="*/ 668 h 65"/>
                <a:gd name="T26" fmla="*/ 1549621 w 82"/>
                <a:gd name="T27" fmla="*/ 551 h 65"/>
                <a:gd name="T28" fmla="*/ 2013884 w 82"/>
                <a:gd name="T29" fmla="*/ 446 h 65"/>
                <a:gd name="T30" fmla="*/ 2447031 w 82"/>
                <a:gd name="T31" fmla="*/ 319 h 65"/>
                <a:gd name="T32" fmla="*/ 2739716 w 82"/>
                <a:gd name="T33" fmla="*/ 195 h 65"/>
                <a:gd name="T34" fmla="*/ 2848938 w 82"/>
                <a:gd name="T35" fmla="*/ 0 h 65"/>
                <a:gd name="T36" fmla="*/ 2394339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7" y="5"/>
                  </a:lnTo>
                  <a:lnTo>
                    <a:pt x="61" y="11"/>
                  </a:lnTo>
                  <a:lnTo>
                    <a:pt x="50" y="17"/>
                  </a:lnTo>
                  <a:lnTo>
                    <a:pt x="37" y="25"/>
                  </a:lnTo>
                  <a:lnTo>
                    <a:pt x="24" y="32"/>
                  </a:lnTo>
                  <a:lnTo>
                    <a:pt x="11" y="40"/>
                  </a:lnTo>
                  <a:lnTo>
                    <a:pt x="2" y="51"/>
                  </a:lnTo>
                  <a:lnTo>
                    <a:pt x="0" y="64"/>
                  </a:lnTo>
                  <a:lnTo>
                    <a:pt x="13" y="60"/>
                  </a:lnTo>
                  <a:lnTo>
                    <a:pt x="14" y="57"/>
                  </a:lnTo>
                  <a:lnTo>
                    <a:pt x="20" y="51"/>
                  </a:lnTo>
                  <a:lnTo>
                    <a:pt x="30" y="44"/>
                  </a:lnTo>
                  <a:lnTo>
                    <a:pt x="44" y="36"/>
                  </a:lnTo>
                  <a:lnTo>
                    <a:pt x="57" y="29"/>
                  </a:lnTo>
                  <a:lnTo>
                    <a:pt x="69" y="21"/>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5" name="Freeform 76">
              <a:extLst>
                <a:ext uri="{FF2B5EF4-FFF2-40B4-BE49-F238E27FC236}">
                  <a16:creationId xmlns:a16="http://schemas.microsoft.com/office/drawing/2014/main" id="{EBB3058D-520A-6683-90ED-24DF6A629EA1}"/>
                </a:ext>
              </a:extLst>
            </p:cNvPr>
            <p:cNvSpPr>
              <a:spLocks/>
            </p:cNvSpPr>
            <p:nvPr/>
          </p:nvSpPr>
          <p:spPr bwMode="auto">
            <a:xfrm>
              <a:off x="2337" y="2705"/>
              <a:ext cx="24" cy="5"/>
            </a:xfrm>
            <a:custGeom>
              <a:avLst/>
              <a:gdLst>
                <a:gd name="T0" fmla="*/ 0 w 14"/>
                <a:gd name="T1" fmla="*/ 4 h 5"/>
                <a:gd name="T2" fmla="*/ 477204 w 14"/>
                <a:gd name="T3" fmla="*/ 2 h 5"/>
                <a:gd name="T4" fmla="*/ 1057803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6" name="Freeform 77">
              <a:extLst>
                <a:ext uri="{FF2B5EF4-FFF2-40B4-BE49-F238E27FC236}">
                  <a16:creationId xmlns:a16="http://schemas.microsoft.com/office/drawing/2014/main" id="{9AA28CC9-24AF-5C5D-DBDB-DA129E68F0E1}"/>
                </a:ext>
              </a:extLst>
            </p:cNvPr>
            <p:cNvSpPr>
              <a:spLocks/>
            </p:cNvSpPr>
            <p:nvPr/>
          </p:nvSpPr>
          <p:spPr bwMode="auto">
            <a:xfrm>
              <a:off x="2185" y="2676"/>
              <a:ext cx="176" cy="34"/>
            </a:xfrm>
            <a:custGeom>
              <a:avLst/>
              <a:gdLst>
                <a:gd name="T0" fmla="*/ 0 w 107"/>
                <a:gd name="T1" fmla="*/ 61 h 30"/>
                <a:gd name="T2" fmla="*/ 316149 w 107"/>
                <a:gd name="T3" fmla="*/ 186 h 30"/>
                <a:gd name="T4" fmla="*/ 755427 w 107"/>
                <a:gd name="T5" fmla="*/ 239 h 30"/>
                <a:gd name="T6" fmla="*/ 1242572 w 107"/>
                <a:gd name="T7" fmla="*/ 271 h 30"/>
                <a:gd name="T8" fmla="*/ 1829721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29721 w 107"/>
                <a:gd name="T27" fmla="*/ 88 h 30"/>
                <a:gd name="T28" fmla="*/ 1326479 w 107"/>
                <a:gd name="T29" fmla="*/ 8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9" y="14"/>
                  </a:lnTo>
                  <a:lnTo>
                    <a:pt x="22" y="18"/>
                  </a:lnTo>
                  <a:lnTo>
                    <a:pt x="36" y="20"/>
                  </a:lnTo>
                  <a:lnTo>
                    <a:pt x="53" y="20"/>
                  </a:lnTo>
                  <a:lnTo>
                    <a:pt x="68" y="21"/>
                  </a:lnTo>
                  <a:lnTo>
                    <a:pt x="82" y="23"/>
                  </a:lnTo>
                  <a:lnTo>
                    <a:pt x="90" y="26"/>
                  </a:lnTo>
                  <a:lnTo>
                    <a:pt x="93" y="29"/>
                  </a:lnTo>
                  <a:lnTo>
                    <a:pt x="106" y="25"/>
                  </a:lnTo>
                  <a:lnTo>
                    <a:pt x="98" y="14"/>
                  </a:lnTo>
                  <a:lnTo>
                    <a:pt x="84" y="10"/>
                  </a:lnTo>
                  <a:lnTo>
                    <a:pt x="69" y="8"/>
                  </a:lnTo>
                  <a:lnTo>
                    <a:pt x="53" y="7"/>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7" name="Freeform 78">
              <a:extLst>
                <a:ext uri="{FF2B5EF4-FFF2-40B4-BE49-F238E27FC236}">
                  <a16:creationId xmlns:a16="http://schemas.microsoft.com/office/drawing/2014/main" id="{4A9EBC76-EB1B-A32B-BB18-EAF8C033EF85}"/>
                </a:ext>
              </a:extLst>
            </p:cNvPr>
            <p:cNvSpPr>
              <a:spLocks/>
            </p:cNvSpPr>
            <p:nvPr/>
          </p:nvSpPr>
          <p:spPr bwMode="auto">
            <a:xfrm>
              <a:off x="2185" y="2609"/>
              <a:ext cx="138" cy="72"/>
            </a:xfrm>
            <a:custGeom>
              <a:avLst/>
              <a:gdLst>
                <a:gd name="T0" fmla="*/ 2353327 w 84"/>
                <a:gd name="T1" fmla="*/ 73 h 63"/>
                <a:gd name="T2" fmla="*/ 2325254 w 84"/>
                <a:gd name="T3" fmla="*/ 95 h 63"/>
                <a:gd name="T4" fmla="*/ 2114707 w 84"/>
                <a:gd name="T5" fmla="*/ 202 h 63"/>
                <a:gd name="T6" fmla="*/ 1748426 w 84"/>
                <a:gd name="T7" fmla="*/ 318 h 63"/>
                <a:gd name="T8" fmla="*/ 1275230 w 84"/>
                <a:gd name="T9" fmla="*/ 426 h 63"/>
                <a:gd name="T10" fmla="*/ 836973 w 84"/>
                <a:gd name="T11" fmla="*/ 542 h 63"/>
                <a:gd name="T12" fmla="*/ 410755 w 84"/>
                <a:gd name="T13" fmla="*/ 671 h 63"/>
                <a:gd name="T14" fmla="*/ 99128 w 84"/>
                <a:gd name="T15" fmla="*/ 808 h 63"/>
                <a:gd name="T16" fmla="*/ 0 w 84"/>
                <a:gd name="T17" fmla="*/ 1032 h 63"/>
                <a:gd name="T18" fmla="*/ 439537 w 84"/>
                <a:gd name="T19" fmla="*/ 951 h 63"/>
                <a:gd name="T20" fmla="*/ 472486 w 84"/>
                <a:gd name="T21" fmla="*/ 941 h 63"/>
                <a:gd name="T22" fmla="*/ 674812 w 84"/>
                <a:gd name="T23" fmla="*/ 823 h 63"/>
                <a:gd name="T24" fmla="*/ 1050389 w 84"/>
                <a:gd name="T25" fmla="*/ 728 h 63"/>
                <a:gd name="T26" fmla="*/ 1524090 w 84"/>
                <a:gd name="T27" fmla="*/ 606 h 63"/>
                <a:gd name="T28" fmla="*/ 1984371 w 84"/>
                <a:gd name="T29" fmla="*/ 487 h 63"/>
                <a:gd name="T30" fmla="*/ 2396631 w 84"/>
                <a:gd name="T31" fmla="*/ 363 h 63"/>
                <a:gd name="T32" fmla="*/ 2733325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6"/>
                  </a:lnTo>
                  <a:lnTo>
                    <a:pt x="63" y="12"/>
                  </a:lnTo>
                  <a:lnTo>
                    <a:pt x="52" y="19"/>
                  </a:lnTo>
                  <a:lnTo>
                    <a:pt x="38" y="26"/>
                  </a:lnTo>
                  <a:lnTo>
                    <a:pt x="25" y="33"/>
                  </a:lnTo>
                  <a:lnTo>
                    <a:pt x="12" y="40"/>
                  </a:lnTo>
                  <a:lnTo>
                    <a:pt x="3" y="49"/>
                  </a:lnTo>
                  <a:lnTo>
                    <a:pt x="0" y="62"/>
                  </a:lnTo>
                  <a:lnTo>
                    <a:pt x="13" y="58"/>
                  </a:lnTo>
                  <a:lnTo>
                    <a:pt x="14" y="57"/>
                  </a:lnTo>
                  <a:lnTo>
                    <a:pt x="20" y="50"/>
                  </a:lnTo>
                  <a:lnTo>
                    <a:pt x="31" y="45"/>
                  </a:lnTo>
                  <a:lnTo>
                    <a:pt x="45" y="37"/>
                  </a:lnTo>
                  <a:lnTo>
                    <a:pt x="59" y="30"/>
                  </a:lnTo>
                  <a:lnTo>
                    <a:pt x="71" y="22"/>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8" name="Freeform 79">
              <a:extLst>
                <a:ext uri="{FF2B5EF4-FFF2-40B4-BE49-F238E27FC236}">
                  <a16:creationId xmlns:a16="http://schemas.microsoft.com/office/drawing/2014/main" id="{05F08494-AB5C-E465-6517-51F00B250053}"/>
                </a:ext>
              </a:extLst>
            </p:cNvPr>
            <p:cNvSpPr>
              <a:spLocks/>
            </p:cNvSpPr>
            <p:nvPr/>
          </p:nvSpPr>
          <p:spPr bwMode="auto">
            <a:xfrm>
              <a:off x="2148" y="2580"/>
              <a:ext cx="175" cy="35"/>
            </a:xfrm>
            <a:custGeom>
              <a:avLst/>
              <a:gdLst>
                <a:gd name="T0" fmla="*/ 0 w 106"/>
                <a:gd name="T1" fmla="*/ 120 h 30"/>
                <a:gd name="T2" fmla="*/ 291842 w 106"/>
                <a:gd name="T3" fmla="*/ 358 h 30"/>
                <a:gd name="T4" fmla="*/ 795449 w 106"/>
                <a:gd name="T5" fmla="*/ 480 h 30"/>
                <a:gd name="T6" fmla="*/ 1328805 w 106"/>
                <a:gd name="T7" fmla="*/ 501 h 30"/>
                <a:gd name="T8" fmla="*/ 1899835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90 h 30"/>
                <a:gd name="T30" fmla="*/ 864949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1"/>
                  </a:lnTo>
                  <a:lnTo>
                    <a:pt x="81" y="23"/>
                  </a:lnTo>
                  <a:lnTo>
                    <a:pt x="89" y="26"/>
                  </a:lnTo>
                  <a:lnTo>
                    <a:pt x="92" y="29"/>
                  </a:lnTo>
                  <a:lnTo>
                    <a:pt x="105" y="25"/>
                  </a:lnTo>
                  <a:lnTo>
                    <a:pt x="97" y="14"/>
                  </a:lnTo>
                  <a:lnTo>
                    <a:pt x="83" y="10"/>
                  </a:lnTo>
                  <a:lnTo>
                    <a:pt x="69" y="8"/>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99" name="Freeform 80">
              <a:extLst>
                <a:ext uri="{FF2B5EF4-FFF2-40B4-BE49-F238E27FC236}">
                  <a16:creationId xmlns:a16="http://schemas.microsoft.com/office/drawing/2014/main" id="{0BF79670-AA66-3B39-BC13-2F10FD4E2BDE}"/>
                </a:ext>
              </a:extLst>
            </p:cNvPr>
            <p:cNvSpPr>
              <a:spLocks/>
            </p:cNvSpPr>
            <p:nvPr/>
          </p:nvSpPr>
          <p:spPr bwMode="auto">
            <a:xfrm>
              <a:off x="2148" y="2519"/>
              <a:ext cx="141" cy="68"/>
            </a:xfrm>
            <a:custGeom>
              <a:avLst/>
              <a:gdLst>
                <a:gd name="T0" fmla="*/ 2878991 w 85"/>
                <a:gd name="T1" fmla="*/ 2 h 59"/>
                <a:gd name="T2" fmla="*/ 2878991 w 85"/>
                <a:gd name="T3" fmla="*/ 89 h 59"/>
                <a:gd name="T4" fmla="*/ 2614160 w 85"/>
                <a:gd name="T5" fmla="*/ 182 h 59"/>
                <a:gd name="T6" fmla="*/ 2144595 w 85"/>
                <a:gd name="T7" fmla="*/ 294 h 59"/>
                <a:gd name="T8" fmla="*/ 1575912 w 85"/>
                <a:gd name="T9" fmla="*/ 428 h 59"/>
                <a:gd name="T10" fmla="*/ 986829 w 85"/>
                <a:gd name="T11" fmla="*/ 568 h 59"/>
                <a:gd name="T12" fmla="*/ 495429 w 85"/>
                <a:gd name="T13" fmla="*/ 690 h 59"/>
                <a:gd name="T14" fmla="*/ 71877 w 85"/>
                <a:gd name="T15" fmla="*/ 902 h 59"/>
                <a:gd name="T16" fmla="*/ 0 w 85"/>
                <a:gd name="T17" fmla="*/ 1156 h 59"/>
                <a:gd name="T18" fmla="*/ 544238 w 85"/>
                <a:gd name="T19" fmla="*/ 1056 h 59"/>
                <a:gd name="T20" fmla="*/ 572706 w 85"/>
                <a:gd name="T21" fmla="*/ 1033 h 59"/>
                <a:gd name="T22" fmla="*/ 794518 w 85"/>
                <a:gd name="T23" fmla="*/ 902 h 59"/>
                <a:gd name="T24" fmla="*/ 1275833 w 85"/>
                <a:gd name="T25" fmla="*/ 783 h 59"/>
                <a:gd name="T26" fmla="*/ 1814589 w 85"/>
                <a:gd name="T27" fmla="*/ 674 h 59"/>
                <a:gd name="T28" fmla="*/ 2390096 w 85"/>
                <a:gd name="T29" fmla="*/ 520 h 59"/>
                <a:gd name="T30" fmla="*/ 2938929 w 85"/>
                <a:gd name="T31" fmla="*/ 391 h 59"/>
                <a:gd name="T32" fmla="*/ 3319634 w 85"/>
                <a:gd name="T33" fmla="*/ 242 h 59"/>
                <a:gd name="T34" fmla="*/ 3434334 w 85"/>
                <a:gd name="T35" fmla="*/ 0 h 59"/>
                <a:gd name="T36" fmla="*/ 3461437 w 85"/>
                <a:gd name="T37" fmla="*/ 2 h 59"/>
                <a:gd name="T38" fmla="*/ 2878991 w 85"/>
                <a:gd name="T39" fmla="*/ 2 h 59"/>
                <a:gd name="T40" fmla="*/ 2878991 w 85"/>
                <a:gd name="T41" fmla="*/ 3 h 59"/>
                <a:gd name="T42" fmla="*/ 2878991 w 85"/>
                <a:gd name="T43" fmla="*/ 89 h 59"/>
                <a:gd name="T44" fmla="*/ 2878991 w 85"/>
                <a:gd name="T45" fmla="*/ 2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0" y="2"/>
                  </a:moveTo>
                  <a:lnTo>
                    <a:pt x="70" y="4"/>
                  </a:lnTo>
                  <a:lnTo>
                    <a:pt x="63" y="9"/>
                  </a:lnTo>
                  <a:lnTo>
                    <a:pt x="52" y="15"/>
                  </a:lnTo>
                  <a:lnTo>
                    <a:pt x="38" y="21"/>
                  </a:lnTo>
                  <a:lnTo>
                    <a:pt x="24" y="28"/>
                  </a:lnTo>
                  <a:lnTo>
                    <a:pt x="12" y="36"/>
                  </a:lnTo>
                  <a:lnTo>
                    <a:pt x="2" y="46"/>
                  </a:lnTo>
                  <a:lnTo>
                    <a:pt x="0" y="58"/>
                  </a:lnTo>
                  <a:lnTo>
                    <a:pt x="13" y="54"/>
                  </a:lnTo>
                  <a:lnTo>
                    <a:pt x="14" y="52"/>
                  </a:lnTo>
                  <a:lnTo>
                    <a:pt x="19" y="46"/>
                  </a:lnTo>
                  <a:lnTo>
                    <a:pt x="31" y="40"/>
                  </a:lnTo>
                  <a:lnTo>
                    <a:pt x="44" y="34"/>
                  </a:lnTo>
                  <a:lnTo>
                    <a:pt x="58" y="27"/>
                  </a:lnTo>
                  <a:lnTo>
                    <a:pt x="71" y="20"/>
                  </a:lnTo>
                  <a:lnTo>
                    <a:pt x="80" y="12"/>
                  </a:lnTo>
                  <a:lnTo>
                    <a:pt x="83" y="0"/>
                  </a:lnTo>
                  <a:lnTo>
                    <a:pt x="84" y="2"/>
                  </a:lnTo>
                  <a:lnTo>
                    <a:pt x="70" y="2"/>
                  </a:lnTo>
                  <a:lnTo>
                    <a:pt x="70" y="3"/>
                  </a:lnTo>
                  <a:lnTo>
                    <a:pt x="70" y="4"/>
                  </a:lnTo>
                  <a:lnTo>
                    <a:pt x="7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0" name="Freeform 81">
              <a:extLst>
                <a:ext uri="{FF2B5EF4-FFF2-40B4-BE49-F238E27FC236}">
                  <a16:creationId xmlns:a16="http://schemas.microsoft.com/office/drawing/2014/main" id="{F6A10286-DF25-28F5-F44D-1663EE5438FE}"/>
                </a:ext>
              </a:extLst>
            </p:cNvPr>
            <p:cNvSpPr>
              <a:spLocks/>
            </p:cNvSpPr>
            <p:nvPr/>
          </p:nvSpPr>
          <p:spPr bwMode="auto">
            <a:xfrm>
              <a:off x="2264" y="2517"/>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1" name="Freeform 82">
              <a:extLst>
                <a:ext uri="{FF2B5EF4-FFF2-40B4-BE49-F238E27FC236}">
                  <a16:creationId xmlns:a16="http://schemas.microsoft.com/office/drawing/2014/main" id="{B27FA6BE-7BB9-A1A1-14F3-BBC613497C0C}"/>
                </a:ext>
              </a:extLst>
            </p:cNvPr>
            <p:cNvSpPr>
              <a:spLocks/>
            </p:cNvSpPr>
            <p:nvPr/>
          </p:nvSpPr>
          <p:spPr bwMode="auto">
            <a:xfrm>
              <a:off x="2114" y="2489"/>
              <a:ext cx="173" cy="34"/>
            </a:xfrm>
            <a:custGeom>
              <a:avLst/>
              <a:gdLst>
                <a:gd name="T0" fmla="*/ 0 w 105"/>
                <a:gd name="T1" fmla="*/ 61 h 30"/>
                <a:gd name="T2" fmla="*/ 262886 w 105"/>
                <a:gd name="T3" fmla="*/ 186 h 30"/>
                <a:gd name="T4" fmla="*/ 766270 w 105"/>
                <a:gd name="T5" fmla="*/ 264 h 30"/>
                <a:gd name="T6" fmla="*/ 1262521 w 105"/>
                <a:gd name="T7" fmla="*/ 298 h 30"/>
                <a:gd name="T8" fmla="*/ 1816719 w 105"/>
                <a:gd name="T9" fmla="*/ 299 h 30"/>
                <a:gd name="T10" fmla="*/ 2385467 w 105"/>
                <a:gd name="T11" fmla="*/ 307 h 30"/>
                <a:gd name="T12" fmla="*/ 2865936 w 105"/>
                <a:gd name="T13" fmla="*/ 339 h 30"/>
                <a:gd name="T14" fmla="*/ 3191916 w 105"/>
                <a:gd name="T15" fmla="*/ 383 h 30"/>
                <a:gd name="T16" fmla="*/ 3261172 w 105"/>
                <a:gd name="T17" fmla="*/ 394 h 30"/>
                <a:gd name="T18" fmla="*/ 3721278 w 105"/>
                <a:gd name="T19" fmla="*/ 339 h 30"/>
                <a:gd name="T20" fmla="*/ 3420932 w 105"/>
                <a:gd name="T21" fmla="*/ 211 h 30"/>
                <a:gd name="T22" fmla="*/ 2979100 w 105"/>
                <a:gd name="T23" fmla="*/ 164 h 30"/>
                <a:gd name="T24" fmla="*/ 2482473 w 105"/>
                <a:gd name="T25" fmla="*/ 128 h 30"/>
                <a:gd name="T26" fmla="*/ 1875692 w 105"/>
                <a:gd name="T27" fmla="*/ 113 h 30"/>
                <a:gd name="T28" fmla="*/ 1329942 w 105"/>
                <a:gd name="T29" fmla="*/ 100 h 30"/>
                <a:gd name="T30" fmla="*/ 875703 w 105"/>
                <a:gd name="T31" fmla="*/ 78 h 30"/>
                <a:gd name="T32" fmla="*/ 546820 w 105"/>
                <a:gd name="T33" fmla="*/ 3 h 30"/>
                <a:gd name="T34" fmla="*/ 465077 w 105"/>
                <a:gd name="T35" fmla="*/ 0 h 30"/>
                <a:gd name="T36" fmla="*/ 0 w 105"/>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7" y="14"/>
                  </a:lnTo>
                  <a:lnTo>
                    <a:pt x="21" y="19"/>
                  </a:lnTo>
                  <a:lnTo>
                    <a:pt x="35" y="21"/>
                  </a:lnTo>
                  <a:lnTo>
                    <a:pt x="51" y="22"/>
                  </a:lnTo>
                  <a:lnTo>
                    <a:pt x="67" y="23"/>
                  </a:lnTo>
                  <a:lnTo>
                    <a:pt x="80" y="25"/>
                  </a:lnTo>
                  <a:lnTo>
                    <a:pt x="89" y="27"/>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2" name="Freeform 83">
              <a:extLst>
                <a:ext uri="{FF2B5EF4-FFF2-40B4-BE49-F238E27FC236}">
                  <a16:creationId xmlns:a16="http://schemas.microsoft.com/office/drawing/2014/main" id="{A1B16F47-D160-0063-5A6F-6CB130C3C9DC}"/>
                </a:ext>
              </a:extLst>
            </p:cNvPr>
            <p:cNvSpPr>
              <a:spLocks/>
            </p:cNvSpPr>
            <p:nvPr/>
          </p:nvSpPr>
          <p:spPr bwMode="auto">
            <a:xfrm>
              <a:off x="2114" y="2422"/>
              <a:ext cx="138" cy="72"/>
            </a:xfrm>
            <a:custGeom>
              <a:avLst/>
              <a:gdLst>
                <a:gd name="T0" fmla="*/ 2353327 w 84"/>
                <a:gd name="T1" fmla="*/ 73 h 63"/>
                <a:gd name="T2" fmla="*/ 2294899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476779 w 84"/>
                <a:gd name="T27" fmla="*/ 605 h 63"/>
                <a:gd name="T28" fmla="*/ 1948925 w 84"/>
                <a:gd name="T29" fmla="*/ 474 h 63"/>
                <a:gd name="T30" fmla="*/ 2353327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3" name="Freeform 84">
              <a:extLst>
                <a:ext uri="{FF2B5EF4-FFF2-40B4-BE49-F238E27FC236}">
                  <a16:creationId xmlns:a16="http://schemas.microsoft.com/office/drawing/2014/main" id="{38F1C16D-8F69-AF50-1BB9-7E3FB60C6033}"/>
                </a:ext>
              </a:extLst>
            </p:cNvPr>
            <p:cNvSpPr>
              <a:spLocks/>
            </p:cNvSpPr>
            <p:nvPr/>
          </p:nvSpPr>
          <p:spPr bwMode="auto">
            <a:xfrm>
              <a:off x="2079" y="2393"/>
              <a:ext cx="173" cy="35"/>
            </a:xfrm>
            <a:custGeom>
              <a:avLst/>
              <a:gdLst>
                <a:gd name="T0" fmla="*/ 0 w 106"/>
                <a:gd name="T1" fmla="*/ 120 h 30"/>
                <a:gd name="T2" fmla="*/ 228735 w 106"/>
                <a:gd name="T3" fmla="*/ 358 h 30"/>
                <a:gd name="T4" fmla="*/ 609275 w 106"/>
                <a:gd name="T5" fmla="*/ 480 h 30"/>
                <a:gd name="T6" fmla="*/ 1059028 w 106"/>
                <a:gd name="T7" fmla="*/ 501 h 30"/>
                <a:gd name="T8" fmla="*/ 1530828 w 106"/>
                <a:gd name="T9" fmla="*/ 560 h 30"/>
                <a:gd name="T10" fmla="*/ 1989524 w 106"/>
                <a:gd name="T11" fmla="*/ 569 h 30"/>
                <a:gd name="T12" fmla="*/ 2370041 w 106"/>
                <a:gd name="T13" fmla="*/ 639 h 30"/>
                <a:gd name="T14" fmla="*/ 2648708 w 106"/>
                <a:gd name="T15" fmla="*/ 683 h 30"/>
                <a:gd name="T16" fmla="*/ 2702097 w 106"/>
                <a:gd name="T17" fmla="*/ 762 h 30"/>
                <a:gd name="T18" fmla="*/ 3075039 w 106"/>
                <a:gd name="T19" fmla="*/ 653 h 30"/>
                <a:gd name="T20" fmla="*/ 2841860 w 106"/>
                <a:gd name="T21" fmla="*/ 411 h 30"/>
                <a:gd name="T22" fmla="*/ 2468792 w 106"/>
                <a:gd name="T23" fmla="*/ 302 h 30"/>
                <a:gd name="T24" fmla="*/ 2027495 w 106"/>
                <a:gd name="T25" fmla="*/ 259 h 30"/>
                <a:gd name="T26" fmla="*/ 1568018 w 106"/>
                <a:gd name="T27" fmla="*/ 222 h 30"/>
                <a:gd name="T28" fmla="*/ 1112134 w 106"/>
                <a:gd name="T29" fmla="*/ 190 h 30"/>
                <a:gd name="T30" fmla="*/ 701815 w 106"/>
                <a:gd name="T31" fmla="*/ 140 h 30"/>
                <a:gd name="T32" fmla="*/ 430014 w 106"/>
                <a:gd name="T33" fmla="*/ 103 h 30"/>
                <a:gd name="T34" fmla="*/ 373313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7" y="15"/>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4" name="Freeform 85">
              <a:extLst>
                <a:ext uri="{FF2B5EF4-FFF2-40B4-BE49-F238E27FC236}">
                  <a16:creationId xmlns:a16="http://schemas.microsoft.com/office/drawing/2014/main" id="{B7426B58-B249-3FBD-1661-E0D8DA5CDB3C}"/>
                </a:ext>
              </a:extLst>
            </p:cNvPr>
            <p:cNvSpPr>
              <a:spLocks/>
            </p:cNvSpPr>
            <p:nvPr/>
          </p:nvSpPr>
          <p:spPr bwMode="auto">
            <a:xfrm>
              <a:off x="2079" y="2326"/>
              <a:ext cx="136" cy="73"/>
            </a:xfrm>
            <a:custGeom>
              <a:avLst/>
              <a:gdLst>
                <a:gd name="T0" fmla="*/ 2195491 w 83"/>
                <a:gd name="T1" fmla="*/ 3 h 63"/>
                <a:gd name="T2" fmla="*/ 2160471 w 83"/>
                <a:gd name="T3" fmla="*/ 109 h 63"/>
                <a:gd name="T4" fmla="*/ 1987493 w 83"/>
                <a:gd name="T5" fmla="*/ 247 h 63"/>
                <a:gd name="T6" fmla="*/ 1636031 w 83"/>
                <a:gd name="T7" fmla="*/ 38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19" y="50"/>
                  </a:lnTo>
                  <a:lnTo>
                    <a:pt x="30" y="43"/>
                  </a:lnTo>
                  <a:lnTo>
                    <a:pt x="44" y="36"/>
                  </a:lnTo>
                  <a:lnTo>
                    <a:pt x="58" y="29"/>
                  </a:lnTo>
                  <a:lnTo>
                    <a:pt x="70" y="21"/>
                  </a:lnTo>
                  <a:lnTo>
                    <a:pt x="80" y="13"/>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5" name="Freeform 86">
              <a:extLst>
                <a:ext uri="{FF2B5EF4-FFF2-40B4-BE49-F238E27FC236}">
                  <a16:creationId xmlns:a16="http://schemas.microsoft.com/office/drawing/2014/main" id="{773C07FA-D34A-7D17-1384-943E09A66713}"/>
                </a:ext>
              </a:extLst>
            </p:cNvPr>
            <p:cNvSpPr>
              <a:spLocks/>
            </p:cNvSpPr>
            <p:nvPr/>
          </p:nvSpPr>
          <p:spPr bwMode="auto">
            <a:xfrm>
              <a:off x="2042" y="2241"/>
              <a:ext cx="173" cy="91"/>
            </a:xfrm>
            <a:custGeom>
              <a:avLst/>
              <a:gdLst>
                <a:gd name="T0" fmla="*/ 504969 w 105"/>
                <a:gd name="T1" fmla="*/ 1080 h 79"/>
                <a:gd name="T2" fmla="*/ 38304 w 105"/>
                <a:gd name="T3" fmla="*/ 1113 h 79"/>
                <a:gd name="T4" fmla="*/ 282272 w 105"/>
                <a:gd name="T5" fmla="*/ 1321 h 79"/>
                <a:gd name="T6" fmla="*/ 766270 w 105"/>
                <a:gd name="T7" fmla="*/ 1371 h 79"/>
                <a:gd name="T8" fmla="*/ 1329942 w 105"/>
                <a:gd name="T9" fmla="*/ 1433 h 79"/>
                <a:gd name="T10" fmla="*/ 1890361 w 105"/>
                <a:gd name="T11" fmla="*/ 1433 h 79"/>
                <a:gd name="T12" fmla="*/ 2445765 w 105"/>
                <a:gd name="T13" fmla="*/ 1433 h 79"/>
                <a:gd name="T14" fmla="*/ 2890764 w 105"/>
                <a:gd name="T15" fmla="*/ 1438 h 79"/>
                <a:gd name="T16" fmla="*/ 3191916 w 105"/>
                <a:gd name="T17" fmla="*/ 1477 h 79"/>
                <a:gd name="T18" fmla="*/ 3261172 w 105"/>
                <a:gd name="T19" fmla="*/ 1530 h 79"/>
                <a:gd name="T20" fmla="*/ 3721278 w 105"/>
                <a:gd name="T21" fmla="*/ 1438 h 79"/>
                <a:gd name="T22" fmla="*/ 3427301 w 105"/>
                <a:gd name="T23" fmla="*/ 1248 h 79"/>
                <a:gd name="T24" fmla="*/ 2979100 w 105"/>
                <a:gd name="T25" fmla="*/ 1189 h 79"/>
                <a:gd name="T26" fmla="*/ 2445765 w 105"/>
                <a:gd name="T27" fmla="*/ 1157 h 79"/>
                <a:gd name="T28" fmla="*/ 1890361 w 105"/>
                <a:gd name="T29" fmla="*/ 1153 h 79"/>
                <a:gd name="T30" fmla="*/ 1329942 w 105"/>
                <a:gd name="T31" fmla="*/ 1157 h 79"/>
                <a:gd name="T32" fmla="*/ 875703 w 105"/>
                <a:gd name="T33" fmla="*/ 1147 h 79"/>
                <a:gd name="T34" fmla="*/ 569066 w 105"/>
                <a:gd name="T35" fmla="*/ 1080 h 79"/>
                <a:gd name="T36" fmla="*/ 504969 w 105"/>
                <a:gd name="T37" fmla="*/ 1032 h 79"/>
                <a:gd name="T38" fmla="*/ 0 w 105"/>
                <a:gd name="T39" fmla="*/ 1080 h 79"/>
                <a:gd name="T40" fmla="*/ 504969 w 105"/>
                <a:gd name="T41" fmla="*/ 1032 h 79"/>
                <a:gd name="T42" fmla="*/ 0 w 105"/>
                <a:gd name="T43" fmla="*/ 0 h 79"/>
                <a:gd name="T44" fmla="*/ 0 w 105"/>
                <a:gd name="T45" fmla="*/ 1080 h 79"/>
                <a:gd name="T46" fmla="*/ 504969 w 105"/>
                <a:gd name="T47" fmla="*/ 1080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5"/>
                  </a:moveTo>
                  <a:lnTo>
                    <a:pt x="1" y="57"/>
                  </a:lnTo>
                  <a:lnTo>
                    <a:pt x="8" y="67"/>
                  </a:lnTo>
                  <a:lnTo>
                    <a:pt x="21" y="71"/>
                  </a:lnTo>
                  <a:lnTo>
                    <a:pt x="37" y="73"/>
                  </a:lnTo>
                  <a:lnTo>
                    <a:pt x="53" y="73"/>
                  </a:lnTo>
                  <a:lnTo>
                    <a:pt x="68" y="73"/>
                  </a:lnTo>
                  <a:lnTo>
                    <a:pt x="81" y="74"/>
                  </a:lnTo>
                  <a:lnTo>
                    <a:pt x="89" y="76"/>
                  </a:lnTo>
                  <a:lnTo>
                    <a:pt x="91" y="78"/>
                  </a:lnTo>
                  <a:lnTo>
                    <a:pt x="104" y="74"/>
                  </a:lnTo>
                  <a:lnTo>
                    <a:pt x="96" y="64"/>
                  </a:lnTo>
                  <a:lnTo>
                    <a:pt x="83" y="61"/>
                  </a:lnTo>
                  <a:lnTo>
                    <a:pt x="68" y="60"/>
                  </a:lnTo>
                  <a:lnTo>
                    <a:pt x="53" y="59"/>
                  </a:lnTo>
                  <a:lnTo>
                    <a:pt x="37" y="60"/>
                  </a:lnTo>
                  <a:lnTo>
                    <a:pt x="24" y="58"/>
                  </a:lnTo>
                  <a:lnTo>
                    <a:pt x="16" y="55"/>
                  </a:lnTo>
                  <a:lnTo>
                    <a:pt x="14" y="53"/>
                  </a:lnTo>
                  <a:lnTo>
                    <a:pt x="0" y="55"/>
                  </a:lnTo>
                  <a:lnTo>
                    <a:pt x="14" y="53"/>
                  </a:lnTo>
                  <a:lnTo>
                    <a:pt x="0" y="0"/>
                  </a:lnTo>
                  <a:lnTo>
                    <a:pt x="0" y="55"/>
                  </a:lnTo>
                  <a:lnTo>
                    <a:pt x="14" y="5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6" name="Freeform 87">
              <a:extLst>
                <a:ext uri="{FF2B5EF4-FFF2-40B4-BE49-F238E27FC236}">
                  <a16:creationId xmlns:a16="http://schemas.microsoft.com/office/drawing/2014/main" id="{92010B4B-1244-1CAD-47F7-86436288E25F}"/>
                </a:ext>
              </a:extLst>
            </p:cNvPr>
            <p:cNvSpPr>
              <a:spLocks/>
            </p:cNvSpPr>
            <p:nvPr/>
          </p:nvSpPr>
          <p:spPr bwMode="auto">
            <a:xfrm>
              <a:off x="2042" y="2304"/>
              <a:ext cx="26" cy="54"/>
            </a:xfrm>
            <a:custGeom>
              <a:avLst/>
              <a:gdLst>
                <a:gd name="T0" fmla="*/ 30347 w 16"/>
                <a:gd name="T1" fmla="*/ 79 h 47"/>
                <a:gd name="T2" fmla="*/ 392938 w 16"/>
                <a:gd name="T3" fmla="*/ 2 h 47"/>
                <a:gd name="T4" fmla="*/ 392938 w 16"/>
                <a:gd name="T5" fmla="*/ 1 h 47"/>
                <a:gd name="T6" fmla="*/ 0 w 16"/>
                <a:gd name="T7" fmla="*/ 1 h 47"/>
                <a:gd name="T8" fmla="*/ 0 w 16"/>
                <a:gd name="T9" fmla="*/ 2 h 47"/>
                <a:gd name="T10" fmla="*/ 373888 w 16"/>
                <a:gd name="T11" fmla="*/ 0 h 47"/>
                <a:gd name="T12" fmla="*/ 30347 w 16"/>
                <a:gd name="T13" fmla="*/ 79 h 47"/>
                <a:gd name="T14" fmla="*/ 392938 w 16"/>
                <a:gd name="T15" fmla="*/ 853 h 47"/>
                <a:gd name="T16" fmla="*/ 392938 w 16"/>
                <a:gd name="T17" fmla="*/ 2 h 47"/>
                <a:gd name="T18" fmla="*/ 30347 w 16"/>
                <a:gd name="T19" fmla="*/ 79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7"/>
                <a:gd name="T32" fmla="*/ 16 w 16"/>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7">
                  <a:moveTo>
                    <a:pt x="1" y="4"/>
                  </a:moveTo>
                  <a:lnTo>
                    <a:pt x="15" y="2"/>
                  </a:lnTo>
                  <a:lnTo>
                    <a:pt x="15" y="1"/>
                  </a:lnTo>
                  <a:lnTo>
                    <a:pt x="0" y="1"/>
                  </a:lnTo>
                  <a:lnTo>
                    <a:pt x="0" y="2"/>
                  </a:lnTo>
                  <a:lnTo>
                    <a:pt x="14" y="0"/>
                  </a:lnTo>
                  <a:lnTo>
                    <a:pt x="1" y="4"/>
                  </a:lnTo>
                  <a:lnTo>
                    <a:pt x="15" y="46"/>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7" name="Freeform 88">
              <a:extLst>
                <a:ext uri="{FF2B5EF4-FFF2-40B4-BE49-F238E27FC236}">
                  <a16:creationId xmlns:a16="http://schemas.microsoft.com/office/drawing/2014/main" id="{526B3520-CCE9-B4B5-B086-0C148E90CD4E}"/>
                </a:ext>
              </a:extLst>
            </p:cNvPr>
            <p:cNvSpPr>
              <a:spLocks/>
            </p:cNvSpPr>
            <p:nvPr/>
          </p:nvSpPr>
          <p:spPr bwMode="auto">
            <a:xfrm>
              <a:off x="2043" y="2235"/>
              <a:ext cx="137" cy="74"/>
            </a:xfrm>
            <a:custGeom>
              <a:avLst/>
              <a:gdLst>
                <a:gd name="T0" fmla="*/ 2566051 w 83"/>
                <a:gd name="T1" fmla="*/ 93 h 64"/>
                <a:gd name="T2" fmla="*/ 2566051 w 83"/>
                <a:gd name="T3" fmla="*/ 125 h 64"/>
                <a:gd name="T4" fmla="*/ 2349936 w 83"/>
                <a:gd name="T5" fmla="*/ 224 h 64"/>
                <a:gd name="T6" fmla="*/ 1894573 w 83"/>
                <a:gd name="T7" fmla="*/ 325 h 64"/>
                <a:gd name="T8" fmla="*/ 1385413 w 83"/>
                <a:gd name="T9" fmla="*/ 443 h 64"/>
                <a:gd name="T10" fmla="*/ 802089 w 83"/>
                <a:gd name="T11" fmla="*/ 592 h 64"/>
                <a:gd name="T12" fmla="*/ 339412 w 83"/>
                <a:gd name="T13" fmla="*/ 778 h 64"/>
                <a:gd name="T14" fmla="*/ 0 w 83"/>
                <a:gd name="T15" fmla="*/ 1015 h 64"/>
                <a:gd name="T16" fmla="*/ 0 w 83"/>
                <a:gd name="T17" fmla="*/ 1319 h 64"/>
                <a:gd name="T18" fmla="*/ 480180 w 83"/>
                <a:gd name="T19" fmla="*/ 1234 h 64"/>
                <a:gd name="T20" fmla="*/ 480180 w 83"/>
                <a:gd name="T21" fmla="*/ 1129 h 64"/>
                <a:gd name="T22" fmla="*/ 695387 w 83"/>
                <a:gd name="T23" fmla="*/ 977 h 64"/>
                <a:gd name="T24" fmla="*/ 1077345 w 83"/>
                <a:gd name="T25" fmla="*/ 844 h 64"/>
                <a:gd name="T26" fmla="*/ 1599909 w 83"/>
                <a:gd name="T27" fmla="*/ 716 h 64"/>
                <a:gd name="T28" fmla="*/ 2072477 w 83"/>
                <a:gd name="T29" fmla="*/ 582 h 64"/>
                <a:gd name="T30" fmla="*/ 2566051 w 83"/>
                <a:gd name="T31" fmla="*/ 44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6"/>
                  </a:lnTo>
                  <a:lnTo>
                    <a:pt x="63" y="10"/>
                  </a:lnTo>
                  <a:lnTo>
                    <a:pt x="51" y="15"/>
                  </a:lnTo>
                  <a:lnTo>
                    <a:pt x="37" y="21"/>
                  </a:lnTo>
                  <a:lnTo>
                    <a:pt x="22" y="28"/>
                  </a:lnTo>
                  <a:lnTo>
                    <a:pt x="9" y="36"/>
                  </a:lnTo>
                  <a:lnTo>
                    <a:pt x="0" y="48"/>
                  </a:lnTo>
                  <a:lnTo>
                    <a:pt x="0" y="63"/>
                  </a:lnTo>
                  <a:lnTo>
                    <a:pt x="13" y="59"/>
                  </a:lnTo>
                  <a:lnTo>
                    <a:pt x="13" y="53"/>
                  </a:lnTo>
                  <a:lnTo>
                    <a:pt x="19" y="47"/>
                  </a:lnTo>
                  <a:lnTo>
                    <a:pt x="29" y="40"/>
                  </a:lnTo>
                  <a:lnTo>
                    <a:pt x="43" y="34"/>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8" name="Freeform 89">
              <a:extLst>
                <a:ext uri="{FF2B5EF4-FFF2-40B4-BE49-F238E27FC236}">
                  <a16:creationId xmlns:a16="http://schemas.microsoft.com/office/drawing/2014/main" id="{812A9102-FEB8-E94A-5615-A2023686B982}"/>
                </a:ext>
              </a:extLst>
            </p:cNvPr>
            <p:cNvSpPr>
              <a:spLocks/>
            </p:cNvSpPr>
            <p:nvPr/>
          </p:nvSpPr>
          <p:spPr bwMode="auto">
            <a:xfrm>
              <a:off x="2005" y="2208"/>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1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5"/>
                  </a:lnTo>
                  <a:lnTo>
                    <a:pt x="84" y="11"/>
                  </a:lnTo>
                  <a:lnTo>
                    <a:pt x="69" y="9"/>
                  </a:lnTo>
                  <a:lnTo>
                    <a:pt x="53" y="8"/>
                  </a:lnTo>
                  <a:lnTo>
                    <a:pt x="38"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09" name="Freeform 90">
              <a:extLst>
                <a:ext uri="{FF2B5EF4-FFF2-40B4-BE49-F238E27FC236}">
                  <a16:creationId xmlns:a16="http://schemas.microsoft.com/office/drawing/2014/main" id="{DD343A07-6614-6F03-40C0-4DFE7A6E9CAB}"/>
                </a:ext>
              </a:extLst>
            </p:cNvPr>
            <p:cNvSpPr>
              <a:spLocks/>
            </p:cNvSpPr>
            <p:nvPr/>
          </p:nvSpPr>
          <p:spPr bwMode="auto">
            <a:xfrm>
              <a:off x="2005" y="2140"/>
              <a:ext cx="139" cy="72"/>
            </a:xfrm>
            <a:custGeom>
              <a:avLst/>
              <a:gdLst>
                <a:gd name="T0" fmla="*/ 2750315 w 84"/>
                <a:gd name="T1" fmla="*/ 73 h 63"/>
                <a:gd name="T2" fmla="*/ 2707808 w 84"/>
                <a:gd name="T3" fmla="*/ 83 h 63"/>
                <a:gd name="T4" fmla="*/ 2468110 w 84"/>
                <a:gd name="T5" fmla="*/ 186 h 63"/>
                <a:gd name="T6" fmla="*/ 2035863 w 84"/>
                <a:gd name="T7" fmla="*/ 278 h 63"/>
                <a:gd name="T8" fmla="*/ 1491520 w 84"/>
                <a:gd name="T9" fmla="*/ 415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47280 w 84"/>
                <a:gd name="T27" fmla="*/ 605 h 63"/>
                <a:gd name="T28" fmla="*/ 2275245 w 84"/>
                <a:gd name="T29" fmla="*/ 474 h 63"/>
                <a:gd name="T30" fmla="*/ 2779699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5"/>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0" name="Freeform 91">
              <a:extLst>
                <a:ext uri="{FF2B5EF4-FFF2-40B4-BE49-F238E27FC236}">
                  <a16:creationId xmlns:a16="http://schemas.microsoft.com/office/drawing/2014/main" id="{339AA2B1-9AA0-DF23-197B-058F8EBF7C7D}"/>
                </a:ext>
              </a:extLst>
            </p:cNvPr>
            <p:cNvSpPr>
              <a:spLocks/>
            </p:cNvSpPr>
            <p:nvPr/>
          </p:nvSpPr>
          <p:spPr bwMode="auto">
            <a:xfrm>
              <a:off x="1971" y="2113"/>
              <a:ext cx="173" cy="33"/>
            </a:xfrm>
            <a:custGeom>
              <a:avLst/>
              <a:gdLst>
                <a:gd name="T0" fmla="*/ 63110 w 105"/>
                <a:gd name="T1" fmla="*/ 288 h 28"/>
                <a:gd name="T2" fmla="*/ 0 w 105"/>
                <a:gd name="T3" fmla="*/ 207 h 28"/>
                <a:gd name="T4" fmla="*/ 282272 w 105"/>
                <a:gd name="T5" fmla="*/ 471 h 28"/>
                <a:gd name="T6" fmla="*/ 766270 w 105"/>
                <a:gd name="T7" fmla="*/ 555 h 28"/>
                <a:gd name="T8" fmla="*/ 1283006 w 105"/>
                <a:gd name="T9" fmla="*/ 608 h 28"/>
                <a:gd name="T10" fmla="*/ 1816719 w 105"/>
                <a:gd name="T11" fmla="*/ 639 h 28"/>
                <a:gd name="T12" fmla="*/ 2385467 w 105"/>
                <a:gd name="T13" fmla="*/ 639 h 28"/>
                <a:gd name="T14" fmla="*/ 2890764 w 105"/>
                <a:gd name="T15" fmla="*/ 717 h 28"/>
                <a:gd name="T16" fmla="*/ 3191916 w 105"/>
                <a:gd name="T17" fmla="*/ 771 h 28"/>
                <a:gd name="T18" fmla="*/ 3261172 w 105"/>
                <a:gd name="T19" fmla="*/ 853 h 28"/>
                <a:gd name="T20" fmla="*/ 3721278 w 105"/>
                <a:gd name="T21" fmla="*/ 724 h 28"/>
                <a:gd name="T22" fmla="*/ 3420932 w 105"/>
                <a:gd name="T23" fmla="*/ 400 h 28"/>
                <a:gd name="T24" fmla="*/ 2979100 w 105"/>
                <a:gd name="T25" fmla="*/ 288 h 28"/>
                <a:gd name="T26" fmla="*/ 2445765 w 105"/>
                <a:gd name="T27" fmla="*/ 207 h 28"/>
                <a:gd name="T28" fmla="*/ 1816719 w 105"/>
                <a:gd name="T29" fmla="*/ 207 h 28"/>
                <a:gd name="T30" fmla="*/ 1283006 w 105"/>
                <a:gd name="T31" fmla="*/ 176 h 28"/>
                <a:gd name="T32" fmla="*/ 778703 w 105"/>
                <a:gd name="T33" fmla="*/ 149 h 28"/>
                <a:gd name="T34" fmla="*/ 504969 w 105"/>
                <a:gd name="T35" fmla="*/ 107 h 28"/>
                <a:gd name="T36" fmla="*/ 465077 w 105"/>
                <a:gd name="T37" fmla="*/ 107 h 28"/>
                <a:gd name="T38" fmla="*/ 392270 w 105"/>
                <a:gd name="T39" fmla="*/ 0 h 28"/>
                <a:gd name="T40" fmla="*/ 465077 w 105"/>
                <a:gd name="T41" fmla="*/ 107 h 28"/>
                <a:gd name="T42" fmla="*/ 433136 w 105"/>
                <a:gd name="T43" fmla="*/ 1 h 28"/>
                <a:gd name="T44" fmla="*/ 392270 w 105"/>
                <a:gd name="T45" fmla="*/ 0 h 28"/>
                <a:gd name="T46" fmla="*/ 63110 w 105"/>
                <a:gd name="T47" fmla="*/ 288 h 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28"/>
                <a:gd name="T74" fmla="*/ 105 w 105"/>
                <a:gd name="T75" fmla="*/ 28 h 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28">
                  <a:moveTo>
                    <a:pt x="2" y="9"/>
                  </a:moveTo>
                  <a:lnTo>
                    <a:pt x="0" y="7"/>
                  </a:lnTo>
                  <a:lnTo>
                    <a:pt x="8" y="15"/>
                  </a:lnTo>
                  <a:lnTo>
                    <a:pt x="21" y="18"/>
                  </a:lnTo>
                  <a:lnTo>
                    <a:pt x="36" y="19"/>
                  </a:lnTo>
                  <a:lnTo>
                    <a:pt x="51" y="20"/>
                  </a:lnTo>
                  <a:lnTo>
                    <a:pt x="67" y="20"/>
                  </a:lnTo>
                  <a:lnTo>
                    <a:pt x="81" y="22"/>
                  </a:lnTo>
                  <a:lnTo>
                    <a:pt x="89" y="25"/>
                  </a:lnTo>
                  <a:lnTo>
                    <a:pt x="91" y="27"/>
                  </a:lnTo>
                  <a:lnTo>
                    <a:pt x="104" y="23"/>
                  </a:lnTo>
                  <a:lnTo>
                    <a:pt x="95" y="13"/>
                  </a:lnTo>
                  <a:lnTo>
                    <a:pt x="83" y="9"/>
                  </a:lnTo>
                  <a:lnTo>
                    <a:pt x="68" y="7"/>
                  </a:lnTo>
                  <a:lnTo>
                    <a:pt x="51" y="7"/>
                  </a:lnTo>
                  <a:lnTo>
                    <a:pt x="36" y="6"/>
                  </a:lnTo>
                  <a:lnTo>
                    <a:pt x="22" y="5"/>
                  </a:lnTo>
                  <a:lnTo>
                    <a:pt x="14" y="3"/>
                  </a:lnTo>
                  <a:lnTo>
                    <a:pt x="13" y="3"/>
                  </a:lnTo>
                  <a:lnTo>
                    <a:pt x="11" y="0"/>
                  </a:lnTo>
                  <a:lnTo>
                    <a:pt x="13" y="3"/>
                  </a:lnTo>
                  <a:lnTo>
                    <a:pt x="12" y="1"/>
                  </a:lnTo>
                  <a:lnTo>
                    <a:pt x="11" y="0"/>
                  </a:lnTo>
                  <a:lnTo>
                    <a:pt x="2"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1" name="Freeform 92">
              <a:extLst>
                <a:ext uri="{FF2B5EF4-FFF2-40B4-BE49-F238E27FC236}">
                  <a16:creationId xmlns:a16="http://schemas.microsoft.com/office/drawing/2014/main" id="{C6ADBE7F-1D62-B96E-80B8-00C0EF9FF3FC}"/>
                </a:ext>
              </a:extLst>
            </p:cNvPr>
            <p:cNvSpPr>
              <a:spLocks/>
            </p:cNvSpPr>
            <p:nvPr/>
          </p:nvSpPr>
          <p:spPr bwMode="auto">
            <a:xfrm>
              <a:off x="1971" y="2113"/>
              <a:ext cx="24" cy="12"/>
            </a:xfrm>
            <a:custGeom>
              <a:avLst/>
              <a:gdLst>
                <a:gd name="T0" fmla="*/ 0 w 14"/>
                <a:gd name="T1" fmla="*/ 258 h 10"/>
                <a:gd name="T2" fmla="*/ 145358 w 14"/>
                <a:gd name="T3" fmla="*/ 434 h 10"/>
                <a:gd name="T4" fmla="*/ 249185 w 14"/>
                <a:gd name="T5" fmla="*/ 434 h 10"/>
                <a:gd name="T6" fmla="*/ 1012678 w 14"/>
                <a:gd name="T7" fmla="*/ 1 h 10"/>
                <a:gd name="T8" fmla="*/ 935321 w 14"/>
                <a:gd name="T9" fmla="*/ 0 h 10"/>
                <a:gd name="T10" fmla="*/ 1057803 w 14"/>
                <a:gd name="T11" fmla="*/ 149 h 10"/>
                <a:gd name="T12" fmla="*/ 0 w 14"/>
                <a:gd name="T13" fmla="*/ 258 h 10"/>
                <a:gd name="T14" fmla="*/ 84792 w 14"/>
                <a:gd name="T15" fmla="*/ 310 h 10"/>
                <a:gd name="T16" fmla="*/ 145358 w 14"/>
                <a:gd name="T17" fmla="*/ 434 h 10"/>
                <a:gd name="T18" fmla="*/ 0 w 14"/>
                <a:gd name="T19" fmla="*/ 258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0"/>
                <a:gd name="T32" fmla="*/ 14 w 1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0">
                  <a:moveTo>
                    <a:pt x="0" y="6"/>
                  </a:moveTo>
                  <a:lnTo>
                    <a:pt x="2" y="9"/>
                  </a:lnTo>
                  <a:lnTo>
                    <a:pt x="3" y="9"/>
                  </a:lnTo>
                  <a:lnTo>
                    <a:pt x="12" y="1"/>
                  </a:lnTo>
                  <a:lnTo>
                    <a:pt x="11" y="0"/>
                  </a:lnTo>
                  <a:lnTo>
                    <a:pt x="13" y="3"/>
                  </a:lnTo>
                  <a:lnTo>
                    <a:pt x="0" y="6"/>
                  </a:lnTo>
                  <a:lnTo>
                    <a:pt x="1" y="7"/>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2" name="Freeform 93">
              <a:extLst>
                <a:ext uri="{FF2B5EF4-FFF2-40B4-BE49-F238E27FC236}">
                  <a16:creationId xmlns:a16="http://schemas.microsoft.com/office/drawing/2014/main" id="{6C94682C-6B88-6632-968A-2F67DD598AC5}"/>
                </a:ext>
              </a:extLst>
            </p:cNvPr>
            <p:cNvSpPr>
              <a:spLocks/>
            </p:cNvSpPr>
            <p:nvPr/>
          </p:nvSpPr>
          <p:spPr bwMode="auto">
            <a:xfrm>
              <a:off x="1971" y="2049"/>
              <a:ext cx="134" cy="73"/>
            </a:xfrm>
            <a:custGeom>
              <a:avLst/>
              <a:gdLst>
                <a:gd name="T0" fmla="*/ 2617430 w 81"/>
                <a:gd name="T1" fmla="*/ 3 h 63"/>
                <a:gd name="T2" fmla="*/ 2567830 w 81"/>
                <a:gd name="T3" fmla="*/ 126 h 63"/>
                <a:gd name="T4" fmla="*/ 2331846 w 81"/>
                <a:gd name="T5" fmla="*/ 263 h 63"/>
                <a:gd name="T6" fmla="*/ 1957614 w 81"/>
                <a:gd name="T7" fmla="*/ 409 h 63"/>
                <a:gd name="T8" fmla="*/ 1438593 w 81"/>
                <a:gd name="T9" fmla="*/ 594 h 63"/>
                <a:gd name="T10" fmla="*/ 938268 w 81"/>
                <a:gd name="T11" fmla="*/ 732 h 63"/>
                <a:gd name="T12" fmla="*/ 475903 w 81"/>
                <a:gd name="T13" fmla="*/ 924 h 63"/>
                <a:gd name="T14" fmla="*/ 113758 w 81"/>
                <a:gd name="T15" fmla="*/ 1078 h 63"/>
                <a:gd name="T16" fmla="*/ 0 w 81"/>
                <a:gd name="T17" fmla="*/ 1362 h 63"/>
                <a:gd name="T18" fmla="*/ 515040 w 81"/>
                <a:gd name="T19" fmla="*/ 1283 h 63"/>
                <a:gd name="T20" fmla="*/ 541520 w 81"/>
                <a:gd name="T21" fmla="*/ 1249 h 63"/>
                <a:gd name="T22" fmla="*/ 723636 w 81"/>
                <a:gd name="T23" fmla="*/ 1147 h 63"/>
                <a:gd name="T24" fmla="*/ 1197126 w 81"/>
                <a:gd name="T25" fmla="*/ 990 h 63"/>
                <a:gd name="T26" fmla="*/ 1669796 w 81"/>
                <a:gd name="T27" fmla="*/ 848 h 63"/>
                <a:gd name="T28" fmla="*/ 2221424 w 81"/>
                <a:gd name="T29" fmla="*/ 693 h 63"/>
                <a:gd name="T30" fmla="*/ 2697708 w 81"/>
                <a:gd name="T31" fmla="*/ 474 h 63"/>
                <a:gd name="T32" fmla="*/ 3029758 w 81"/>
                <a:gd name="T33" fmla="*/ 286 h 63"/>
                <a:gd name="T34" fmla="*/ 3108525 w 81"/>
                <a:gd name="T35" fmla="*/ 0 h 63"/>
                <a:gd name="T36" fmla="*/ 2617430 w 81"/>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3"/>
                <a:gd name="T59" fmla="*/ 81 w 81"/>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3">
                  <a:moveTo>
                    <a:pt x="67" y="3"/>
                  </a:moveTo>
                  <a:lnTo>
                    <a:pt x="66" y="6"/>
                  </a:lnTo>
                  <a:lnTo>
                    <a:pt x="60" y="12"/>
                  </a:lnTo>
                  <a:lnTo>
                    <a:pt x="50" y="19"/>
                  </a:lnTo>
                  <a:lnTo>
                    <a:pt x="37" y="26"/>
                  </a:lnTo>
                  <a:lnTo>
                    <a:pt x="24" y="33"/>
                  </a:lnTo>
                  <a:lnTo>
                    <a:pt x="12" y="41"/>
                  </a:lnTo>
                  <a:lnTo>
                    <a:pt x="3" y="49"/>
                  </a:lnTo>
                  <a:lnTo>
                    <a:pt x="0" y="62"/>
                  </a:lnTo>
                  <a:lnTo>
                    <a:pt x="13" y="58"/>
                  </a:lnTo>
                  <a:lnTo>
                    <a:pt x="14" y="57"/>
                  </a:lnTo>
                  <a:lnTo>
                    <a:pt x="19" y="52"/>
                  </a:lnTo>
                  <a:lnTo>
                    <a:pt x="31" y="45"/>
                  </a:lnTo>
                  <a:lnTo>
                    <a:pt x="43" y="38"/>
                  </a:lnTo>
                  <a:lnTo>
                    <a:pt x="57" y="31"/>
                  </a:lnTo>
                  <a:lnTo>
                    <a:pt x="69" y="22"/>
                  </a:lnTo>
                  <a:lnTo>
                    <a:pt x="78" y="13"/>
                  </a:lnTo>
                  <a:lnTo>
                    <a:pt x="80" y="0"/>
                  </a:lnTo>
                  <a:lnTo>
                    <a:pt x="67"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3" name="Freeform 94">
              <a:extLst>
                <a:ext uri="{FF2B5EF4-FFF2-40B4-BE49-F238E27FC236}">
                  <a16:creationId xmlns:a16="http://schemas.microsoft.com/office/drawing/2014/main" id="{5A3F3764-D594-3858-74F7-C70319358FD1}"/>
                </a:ext>
              </a:extLst>
            </p:cNvPr>
            <p:cNvSpPr>
              <a:spLocks/>
            </p:cNvSpPr>
            <p:nvPr/>
          </p:nvSpPr>
          <p:spPr bwMode="auto">
            <a:xfrm>
              <a:off x="1932" y="2020"/>
              <a:ext cx="173" cy="35"/>
            </a:xfrm>
            <a:custGeom>
              <a:avLst/>
              <a:gdLst>
                <a:gd name="T0" fmla="*/ 0 w 105"/>
                <a:gd name="T1" fmla="*/ 120 h 30"/>
                <a:gd name="T2" fmla="*/ 282272 w 105"/>
                <a:gd name="T3" fmla="*/ 358 h 30"/>
                <a:gd name="T4" fmla="*/ 766270 w 105"/>
                <a:gd name="T5" fmla="*/ 480 h 30"/>
                <a:gd name="T6" fmla="*/ 1283006 w 105"/>
                <a:gd name="T7" fmla="*/ 501 h 30"/>
                <a:gd name="T8" fmla="*/ 1816719 w 105"/>
                <a:gd name="T9" fmla="*/ 560 h 30"/>
                <a:gd name="T10" fmla="*/ 2385467 w 105"/>
                <a:gd name="T11" fmla="*/ 569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59 h 30"/>
                <a:gd name="T26" fmla="*/ 1875692 w 105"/>
                <a:gd name="T27" fmla="*/ 222 h 30"/>
                <a:gd name="T28" fmla="*/ 1329942 w 105"/>
                <a:gd name="T29" fmla="*/ 190 h 30"/>
                <a:gd name="T30" fmla="*/ 831997 w 105"/>
                <a:gd name="T31" fmla="*/ 14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8"/>
                  </a:lnTo>
                  <a:lnTo>
                    <a:pt x="36" y="20"/>
                  </a:lnTo>
                  <a:lnTo>
                    <a:pt x="51" y="21"/>
                  </a:lnTo>
                  <a:lnTo>
                    <a:pt x="67" y="22"/>
                  </a:lnTo>
                  <a:lnTo>
                    <a:pt x="80" y="23"/>
                  </a:lnTo>
                  <a:lnTo>
                    <a:pt x="88" y="26"/>
                  </a:lnTo>
                  <a:lnTo>
                    <a:pt x="91" y="29"/>
                  </a:lnTo>
                  <a:lnTo>
                    <a:pt x="104" y="25"/>
                  </a:lnTo>
                  <a:lnTo>
                    <a:pt x="96" y="15"/>
                  </a:lnTo>
                  <a:lnTo>
                    <a:pt x="83" y="10"/>
                  </a:lnTo>
                  <a:lnTo>
                    <a:pt x="68" y="9"/>
                  </a:lnTo>
                  <a:lnTo>
                    <a:pt x="52"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4" name="Freeform 95">
              <a:extLst>
                <a:ext uri="{FF2B5EF4-FFF2-40B4-BE49-F238E27FC236}">
                  <a16:creationId xmlns:a16="http://schemas.microsoft.com/office/drawing/2014/main" id="{48CF9ECD-9034-418A-B2CA-BDAF27DB69D2}"/>
                </a:ext>
              </a:extLst>
            </p:cNvPr>
            <p:cNvSpPr>
              <a:spLocks/>
            </p:cNvSpPr>
            <p:nvPr/>
          </p:nvSpPr>
          <p:spPr bwMode="auto">
            <a:xfrm>
              <a:off x="1932" y="1953"/>
              <a:ext cx="136" cy="73"/>
            </a:xfrm>
            <a:custGeom>
              <a:avLst/>
              <a:gdLst>
                <a:gd name="T0" fmla="*/ 2195491 w 83"/>
                <a:gd name="T1" fmla="*/ 94 h 63"/>
                <a:gd name="T2" fmla="*/ 2195491 w 83"/>
                <a:gd name="T3" fmla="*/ 126 h 63"/>
                <a:gd name="T4" fmla="*/ 2008007 w 83"/>
                <a:gd name="T5" fmla="*/ 263 h 63"/>
                <a:gd name="T6" fmla="*/ 1654163 w 83"/>
                <a:gd name="T7" fmla="*/ 409 h 63"/>
                <a:gd name="T8" fmla="*/ 1212955 w 83"/>
                <a:gd name="T9" fmla="*/ 594 h 63"/>
                <a:gd name="T10" fmla="*/ 795492 w 83"/>
                <a:gd name="T11" fmla="*/ 732 h 63"/>
                <a:gd name="T12" fmla="*/ 389068 w 83"/>
                <a:gd name="T13" fmla="*/ 860 h 63"/>
                <a:gd name="T14" fmla="*/ 92657 w 83"/>
                <a:gd name="T15" fmla="*/ 1078 h 63"/>
                <a:gd name="T16" fmla="*/ 0 w 83"/>
                <a:gd name="T17" fmla="*/ 1362 h 63"/>
                <a:gd name="T18" fmla="*/ 407626 w 83"/>
                <a:gd name="T19" fmla="*/ 1283 h 63"/>
                <a:gd name="T20" fmla="*/ 451776 w 83"/>
                <a:gd name="T21" fmla="*/ 1249 h 63"/>
                <a:gd name="T22" fmla="*/ 637509 w 83"/>
                <a:gd name="T23" fmla="*/ 1139 h 63"/>
                <a:gd name="T24" fmla="*/ 998460 w 83"/>
                <a:gd name="T25" fmla="*/ 990 h 63"/>
                <a:gd name="T26" fmla="*/ 1434145 w 83"/>
                <a:gd name="T27" fmla="*/ 848 h 63"/>
                <a:gd name="T28" fmla="*/ 1855348 w 83"/>
                <a:gd name="T29" fmla="*/ 688 h 63"/>
                <a:gd name="T30" fmla="*/ 2257806 w 83"/>
                <a:gd name="T31" fmla="*/ 516 h 63"/>
                <a:gd name="T32" fmla="*/ 2588608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3"/>
                  </a:lnTo>
                  <a:lnTo>
                    <a:pt x="12" y="40"/>
                  </a:lnTo>
                  <a:lnTo>
                    <a:pt x="3" y="49"/>
                  </a:lnTo>
                  <a:lnTo>
                    <a:pt x="0" y="62"/>
                  </a:lnTo>
                  <a:lnTo>
                    <a:pt x="13" y="58"/>
                  </a:lnTo>
                  <a:lnTo>
                    <a:pt x="14" y="57"/>
                  </a:lnTo>
                  <a:lnTo>
                    <a:pt x="20" y="51"/>
                  </a:lnTo>
                  <a:lnTo>
                    <a:pt x="31" y="45"/>
                  </a:lnTo>
                  <a:lnTo>
                    <a:pt x="45" y="38"/>
                  </a:lnTo>
                  <a:lnTo>
                    <a:pt x="58" y="30"/>
                  </a:lnTo>
                  <a:lnTo>
                    <a:pt x="71" y="23"/>
                  </a:lnTo>
                  <a:lnTo>
                    <a:pt x="81"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5" name="Freeform 96">
              <a:extLst>
                <a:ext uri="{FF2B5EF4-FFF2-40B4-BE49-F238E27FC236}">
                  <a16:creationId xmlns:a16="http://schemas.microsoft.com/office/drawing/2014/main" id="{03F5B178-DCA5-5B32-EE11-B9094B34AC70}"/>
                </a:ext>
              </a:extLst>
            </p:cNvPr>
            <p:cNvSpPr>
              <a:spLocks/>
            </p:cNvSpPr>
            <p:nvPr/>
          </p:nvSpPr>
          <p:spPr bwMode="auto">
            <a:xfrm>
              <a:off x="1891" y="1918"/>
              <a:ext cx="177" cy="42"/>
            </a:xfrm>
            <a:custGeom>
              <a:avLst/>
              <a:gdLst>
                <a:gd name="T0" fmla="*/ 297347 w 108"/>
                <a:gd name="T1" fmla="*/ 0 h 36"/>
                <a:gd name="T2" fmla="*/ 56629 w 108"/>
                <a:gd name="T3" fmla="*/ 231 h 36"/>
                <a:gd name="T4" fmla="*/ 355105 w 108"/>
                <a:gd name="T5" fmla="*/ 488 h 36"/>
                <a:gd name="T6" fmla="*/ 763839 w 108"/>
                <a:gd name="T7" fmla="*/ 580 h 36"/>
                <a:gd name="T8" fmla="*/ 1216593 w 108"/>
                <a:gd name="T9" fmla="*/ 621 h 36"/>
                <a:gd name="T10" fmla="*/ 1738474 w 108"/>
                <a:gd name="T11" fmla="*/ 664 h 36"/>
                <a:gd name="T12" fmla="*/ 2243232 w 108"/>
                <a:gd name="T13" fmla="*/ 677 h 36"/>
                <a:gd name="T14" fmla="*/ 2654780 w 108"/>
                <a:gd name="T15" fmla="*/ 762 h 36"/>
                <a:gd name="T16" fmla="*/ 2912671 w 108"/>
                <a:gd name="T17" fmla="*/ 797 h 36"/>
                <a:gd name="T18" fmla="*/ 3006856 w 108"/>
                <a:gd name="T19" fmla="*/ 904 h 36"/>
                <a:gd name="T20" fmla="*/ 3417618 w 108"/>
                <a:gd name="T21" fmla="*/ 790 h 36"/>
                <a:gd name="T22" fmla="*/ 3174761 w 108"/>
                <a:gd name="T23" fmla="*/ 548 h 36"/>
                <a:gd name="T24" fmla="*/ 2757663 w 108"/>
                <a:gd name="T25" fmla="*/ 418 h 36"/>
                <a:gd name="T26" fmla="*/ 2263832 w 108"/>
                <a:gd name="T27" fmla="*/ 358 h 36"/>
                <a:gd name="T28" fmla="*/ 1798415 w 108"/>
                <a:gd name="T29" fmla="*/ 315 h 36"/>
                <a:gd name="T30" fmla="*/ 1251847 w 108"/>
                <a:gd name="T31" fmla="*/ 270 h 36"/>
                <a:gd name="T32" fmla="*/ 835171 w 108"/>
                <a:gd name="T33" fmla="*/ 263 h 36"/>
                <a:gd name="T34" fmla="*/ 546453 w 108"/>
                <a:gd name="T35" fmla="*/ 190 h 36"/>
                <a:gd name="T36" fmla="*/ 487319 w 108"/>
                <a:gd name="T37" fmla="*/ 140 h 36"/>
                <a:gd name="T38" fmla="*/ 297347 w 108"/>
                <a:gd name="T39" fmla="*/ 358 h 36"/>
                <a:gd name="T40" fmla="*/ 297347 w 108"/>
                <a:gd name="T41" fmla="*/ 0 h 36"/>
                <a:gd name="T42" fmla="*/ 0 w 108"/>
                <a:gd name="T43" fmla="*/ 0 h 36"/>
                <a:gd name="T44" fmla="*/ 56629 w 108"/>
                <a:gd name="T45" fmla="*/ 231 h 36"/>
                <a:gd name="T46" fmla="*/ 297347 w 108"/>
                <a:gd name="T47" fmla="*/ 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6"/>
                <a:gd name="T74" fmla="*/ 108 w 108"/>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6">
                  <a:moveTo>
                    <a:pt x="9" y="0"/>
                  </a:moveTo>
                  <a:lnTo>
                    <a:pt x="2" y="9"/>
                  </a:lnTo>
                  <a:lnTo>
                    <a:pt x="11" y="19"/>
                  </a:lnTo>
                  <a:lnTo>
                    <a:pt x="24" y="23"/>
                  </a:lnTo>
                  <a:lnTo>
                    <a:pt x="38" y="24"/>
                  </a:lnTo>
                  <a:lnTo>
                    <a:pt x="54" y="26"/>
                  </a:lnTo>
                  <a:lnTo>
                    <a:pt x="70" y="27"/>
                  </a:lnTo>
                  <a:lnTo>
                    <a:pt x="83" y="29"/>
                  </a:lnTo>
                  <a:lnTo>
                    <a:pt x="91" y="32"/>
                  </a:lnTo>
                  <a:lnTo>
                    <a:pt x="94" y="35"/>
                  </a:lnTo>
                  <a:lnTo>
                    <a:pt x="107" y="31"/>
                  </a:lnTo>
                  <a:lnTo>
                    <a:pt x="99" y="21"/>
                  </a:lnTo>
                  <a:lnTo>
                    <a:pt x="86" y="16"/>
                  </a:lnTo>
                  <a:lnTo>
                    <a:pt x="71" y="14"/>
                  </a:lnTo>
                  <a:lnTo>
                    <a:pt x="56" y="13"/>
                  </a:lnTo>
                  <a:lnTo>
                    <a:pt x="39" y="11"/>
                  </a:lnTo>
                  <a:lnTo>
                    <a:pt x="26" y="10"/>
                  </a:lnTo>
                  <a:lnTo>
                    <a:pt x="17" y="7"/>
                  </a:lnTo>
                  <a:lnTo>
                    <a:pt x="15" y="5"/>
                  </a:lnTo>
                  <a:lnTo>
                    <a:pt x="9" y="14"/>
                  </a:lnTo>
                  <a:lnTo>
                    <a:pt x="9" y="0"/>
                  </a:lnTo>
                  <a:lnTo>
                    <a:pt x="0" y="0"/>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6" name="Freeform 97">
              <a:extLst>
                <a:ext uri="{FF2B5EF4-FFF2-40B4-BE49-F238E27FC236}">
                  <a16:creationId xmlns:a16="http://schemas.microsoft.com/office/drawing/2014/main" id="{23EBA5E7-3A82-B216-B009-02CDCBEC9996}"/>
                </a:ext>
              </a:extLst>
            </p:cNvPr>
            <p:cNvSpPr>
              <a:spLocks/>
            </p:cNvSpPr>
            <p:nvPr/>
          </p:nvSpPr>
          <p:spPr bwMode="auto">
            <a:xfrm>
              <a:off x="1896" y="1918"/>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2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3"/>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7" name="Freeform 98">
              <a:extLst>
                <a:ext uri="{FF2B5EF4-FFF2-40B4-BE49-F238E27FC236}">
                  <a16:creationId xmlns:a16="http://schemas.microsoft.com/office/drawing/2014/main" id="{26AE79D1-EA5C-6102-D2C7-C8D7E36D98D6}"/>
                </a:ext>
              </a:extLst>
            </p:cNvPr>
            <p:cNvSpPr>
              <a:spLocks/>
            </p:cNvSpPr>
            <p:nvPr/>
          </p:nvSpPr>
          <p:spPr bwMode="auto">
            <a:xfrm>
              <a:off x="1896" y="185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47807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8" name="Freeform 99">
              <a:extLst>
                <a:ext uri="{FF2B5EF4-FFF2-40B4-BE49-F238E27FC236}">
                  <a16:creationId xmlns:a16="http://schemas.microsoft.com/office/drawing/2014/main" id="{DE129A6F-8DA3-BFC6-4C3C-C6888E71FFBA}"/>
                </a:ext>
              </a:extLst>
            </p:cNvPr>
            <p:cNvSpPr>
              <a:spLocks/>
            </p:cNvSpPr>
            <p:nvPr/>
          </p:nvSpPr>
          <p:spPr bwMode="auto">
            <a:xfrm>
              <a:off x="1859" y="1828"/>
              <a:ext cx="174" cy="34"/>
            </a:xfrm>
            <a:custGeom>
              <a:avLst/>
              <a:gdLst>
                <a:gd name="T0" fmla="*/ 0 w 105"/>
                <a:gd name="T1" fmla="*/ 121 h 29"/>
                <a:gd name="T2" fmla="*/ 320394 w 105"/>
                <a:gd name="T3" fmla="*/ 375 h 29"/>
                <a:gd name="T4" fmla="*/ 851120 w 105"/>
                <a:gd name="T5" fmla="*/ 516 h 29"/>
                <a:gd name="T6" fmla="*/ 1458024 w 105"/>
                <a:gd name="T7" fmla="*/ 592 h 29"/>
                <a:gd name="T8" fmla="*/ 2105818 w 105"/>
                <a:gd name="T9" fmla="*/ 592 h 29"/>
                <a:gd name="T10" fmla="*/ 2706298 w 105"/>
                <a:gd name="T11" fmla="*/ 605 h 29"/>
                <a:gd name="T12" fmla="*/ 3269143 w 105"/>
                <a:gd name="T13" fmla="*/ 691 h 29"/>
                <a:gd name="T14" fmla="*/ 3587389 w 105"/>
                <a:gd name="T15" fmla="*/ 709 h 29"/>
                <a:gd name="T16" fmla="*/ 3677016 w 105"/>
                <a:gd name="T17" fmla="*/ 810 h 29"/>
                <a:gd name="T18" fmla="*/ 4192184 w 105"/>
                <a:gd name="T19" fmla="*/ 694 h 29"/>
                <a:gd name="T20" fmla="*/ 3873205 w 105"/>
                <a:gd name="T21" fmla="*/ 431 h 29"/>
                <a:gd name="T22" fmla="*/ 3382020 w 105"/>
                <a:gd name="T23" fmla="*/ 314 h 29"/>
                <a:gd name="T24" fmla="*/ 2780749 w 105"/>
                <a:gd name="T25" fmla="*/ 268 h 29"/>
                <a:gd name="T26" fmla="*/ 2105818 w 105"/>
                <a:gd name="T27" fmla="*/ 229 h 29"/>
                <a:gd name="T28" fmla="*/ 1485145 w 105"/>
                <a:gd name="T29" fmla="*/ 229 h 29"/>
                <a:gd name="T30" fmla="*/ 970032 w 105"/>
                <a:gd name="T31" fmla="*/ 166 h 29"/>
                <a:gd name="T32" fmla="*/ 605611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6"/>
                  </a:lnTo>
                  <a:lnTo>
                    <a:pt x="91" y="28"/>
                  </a:lnTo>
                  <a:lnTo>
                    <a:pt x="104" y="25"/>
                  </a:lnTo>
                  <a:lnTo>
                    <a:pt x="96" y="15"/>
                  </a:lnTo>
                  <a:lnTo>
                    <a:pt x="84" y="11"/>
                  </a:lnTo>
                  <a:lnTo>
                    <a:pt x="69" y="9"/>
                  </a:lnTo>
                  <a:lnTo>
                    <a:pt x="52" y="8"/>
                  </a:lnTo>
                  <a:lnTo>
                    <a:pt x="37" y="8"/>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19" name="Freeform 100">
              <a:extLst>
                <a:ext uri="{FF2B5EF4-FFF2-40B4-BE49-F238E27FC236}">
                  <a16:creationId xmlns:a16="http://schemas.microsoft.com/office/drawing/2014/main" id="{C066A1D5-E79C-5FED-3E8F-812053E1A020}"/>
                </a:ext>
              </a:extLst>
            </p:cNvPr>
            <p:cNvSpPr>
              <a:spLocks/>
            </p:cNvSpPr>
            <p:nvPr/>
          </p:nvSpPr>
          <p:spPr bwMode="auto">
            <a:xfrm>
              <a:off x="1859" y="1762"/>
              <a:ext cx="136" cy="71"/>
            </a:xfrm>
            <a:custGeom>
              <a:avLst/>
              <a:gdLst>
                <a:gd name="T0" fmla="*/ 2793281 w 82"/>
                <a:gd name="T1" fmla="*/ 3 h 62"/>
                <a:gd name="T2" fmla="*/ 2751824 w 82"/>
                <a:gd name="T3" fmla="*/ 85 h 62"/>
                <a:gd name="T4" fmla="*/ 2559870 w 82"/>
                <a:gd name="T5" fmla="*/ 190 h 62"/>
                <a:gd name="T6" fmla="*/ 2110216 w 82"/>
                <a:gd name="T7" fmla="*/ 286 h 62"/>
                <a:gd name="T8" fmla="*/ 1518070 w 82"/>
                <a:gd name="T9" fmla="*/ 416 h 62"/>
                <a:gd name="T10" fmla="*/ 984142 w 82"/>
                <a:gd name="T11" fmla="*/ 545 h 62"/>
                <a:gd name="T12" fmla="*/ 452635 w 82"/>
                <a:gd name="T13" fmla="*/ 648 h 62"/>
                <a:gd name="T14" fmla="*/ 71808 w 82"/>
                <a:gd name="T15" fmla="*/ 831 h 62"/>
                <a:gd name="T16" fmla="*/ 0 w 82"/>
                <a:gd name="T17" fmla="*/ 1046 h 62"/>
                <a:gd name="T18" fmla="*/ 543340 w 82"/>
                <a:gd name="T19" fmla="*/ 973 h 62"/>
                <a:gd name="T20" fmla="*/ 543340 w 82"/>
                <a:gd name="T21" fmla="*/ 952 h 62"/>
                <a:gd name="T22" fmla="*/ 792167 w 82"/>
                <a:gd name="T23" fmla="*/ 838 h 62"/>
                <a:gd name="T24" fmla="*/ 1245083 w 82"/>
                <a:gd name="T25" fmla="*/ 726 h 62"/>
                <a:gd name="T26" fmla="*/ 1767504 w 82"/>
                <a:gd name="T27" fmla="*/ 608 h 62"/>
                <a:gd name="T28" fmla="*/ 2364446 w 82"/>
                <a:gd name="T29" fmla="*/ 494 h 62"/>
                <a:gd name="T30" fmla="*/ 2821559 w 82"/>
                <a:gd name="T31" fmla="*/ 363 h 62"/>
                <a:gd name="T32" fmla="*/ 3244615 w 82"/>
                <a:gd name="T33" fmla="*/ 218 h 62"/>
                <a:gd name="T34" fmla="*/ 3316748 w 82"/>
                <a:gd name="T35" fmla="*/ 0 h 62"/>
                <a:gd name="T36" fmla="*/ 2793281 w 82"/>
                <a:gd name="T37" fmla="*/ 3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3"/>
                  </a:moveTo>
                  <a:lnTo>
                    <a:pt x="67" y="5"/>
                  </a:lnTo>
                  <a:lnTo>
                    <a:pt x="62" y="11"/>
                  </a:lnTo>
                  <a:lnTo>
                    <a:pt x="51" y="17"/>
                  </a:lnTo>
                  <a:lnTo>
                    <a:pt x="37" y="24"/>
                  </a:lnTo>
                  <a:lnTo>
                    <a:pt x="24" y="31"/>
                  </a:lnTo>
                  <a:lnTo>
                    <a:pt x="11" y="38"/>
                  </a:lnTo>
                  <a:lnTo>
                    <a:pt x="2" y="48"/>
                  </a:lnTo>
                  <a:lnTo>
                    <a:pt x="0" y="61"/>
                  </a:lnTo>
                  <a:lnTo>
                    <a:pt x="13" y="57"/>
                  </a:lnTo>
                  <a:lnTo>
                    <a:pt x="13" y="55"/>
                  </a:lnTo>
                  <a:lnTo>
                    <a:pt x="19" y="49"/>
                  </a:lnTo>
                  <a:lnTo>
                    <a:pt x="30" y="42"/>
                  </a:lnTo>
                  <a:lnTo>
                    <a:pt x="43" y="35"/>
                  </a:lnTo>
                  <a:lnTo>
                    <a:pt x="57" y="29"/>
                  </a:lnTo>
                  <a:lnTo>
                    <a:pt x="69" y="21"/>
                  </a:lnTo>
                  <a:lnTo>
                    <a:pt x="79" y="13"/>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0" name="Freeform 101">
              <a:extLst>
                <a:ext uri="{FF2B5EF4-FFF2-40B4-BE49-F238E27FC236}">
                  <a16:creationId xmlns:a16="http://schemas.microsoft.com/office/drawing/2014/main" id="{215BD8B4-6264-8E4A-B071-EFAB33E5E2ED}"/>
                </a:ext>
              </a:extLst>
            </p:cNvPr>
            <p:cNvSpPr>
              <a:spLocks/>
            </p:cNvSpPr>
            <p:nvPr/>
          </p:nvSpPr>
          <p:spPr bwMode="auto">
            <a:xfrm>
              <a:off x="1823" y="1738"/>
              <a:ext cx="172" cy="29"/>
            </a:xfrm>
            <a:custGeom>
              <a:avLst/>
              <a:gdLst>
                <a:gd name="T0" fmla="*/ 0 w 104"/>
                <a:gd name="T1" fmla="*/ 101 h 25"/>
                <a:gd name="T2" fmla="*/ 310460 w 104"/>
                <a:gd name="T3" fmla="*/ 291 h 25"/>
                <a:gd name="T4" fmla="*/ 823227 w 104"/>
                <a:gd name="T5" fmla="*/ 338 h 25"/>
                <a:gd name="T6" fmla="*/ 1404400 w 104"/>
                <a:gd name="T7" fmla="*/ 384 h 25"/>
                <a:gd name="T8" fmla="*/ 1967544 w 104"/>
                <a:gd name="T9" fmla="*/ 384 h 25"/>
                <a:gd name="T10" fmla="*/ 2552581 w 104"/>
                <a:gd name="T11" fmla="*/ 392 h 25"/>
                <a:gd name="T12" fmla="*/ 3091373 w 104"/>
                <a:gd name="T13" fmla="*/ 445 h 25"/>
                <a:gd name="T14" fmla="*/ 3421168 w 104"/>
                <a:gd name="T15" fmla="*/ 516 h 25"/>
                <a:gd name="T16" fmla="*/ 3487763 w 104"/>
                <a:gd name="T17" fmla="*/ 530 h 25"/>
                <a:gd name="T18" fmla="*/ 3985470 w 104"/>
                <a:gd name="T19" fmla="*/ 455 h 25"/>
                <a:gd name="T20" fmla="*/ 3684152 w 104"/>
                <a:gd name="T21" fmla="*/ 246 h 25"/>
                <a:gd name="T22" fmla="*/ 3186115 w 104"/>
                <a:gd name="T23" fmla="*/ 136 h 25"/>
                <a:gd name="T24" fmla="*/ 2606496 w 104"/>
                <a:gd name="T25" fmla="*/ 101 h 25"/>
                <a:gd name="T26" fmla="*/ 1967544 w 104"/>
                <a:gd name="T27" fmla="*/ 3 h 25"/>
                <a:gd name="T28" fmla="*/ 1404400 w 104"/>
                <a:gd name="T29" fmla="*/ 3 h 25"/>
                <a:gd name="T30" fmla="*/ 849172 w 104"/>
                <a:gd name="T31" fmla="*/ 2 h 25"/>
                <a:gd name="T32" fmla="*/ 513453 w 104"/>
                <a:gd name="T33" fmla="*/ 0 h 25"/>
                <a:gd name="T34" fmla="*/ 0 w 104"/>
                <a:gd name="T35" fmla="*/ 101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4"/>
                <a:gd name="T55" fmla="*/ 0 h 25"/>
                <a:gd name="T56" fmla="*/ 104 w 104"/>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4" h="25">
                  <a:moveTo>
                    <a:pt x="0" y="4"/>
                  </a:moveTo>
                  <a:lnTo>
                    <a:pt x="8" y="13"/>
                  </a:lnTo>
                  <a:lnTo>
                    <a:pt x="21" y="15"/>
                  </a:lnTo>
                  <a:lnTo>
                    <a:pt x="36" y="16"/>
                  </a:lnTo>
                  <a:lnTo>
                    <a:pt x="51" y="16"/>
                  </a:lnTo>
                  <a:lnTo>
                    <a:pt x="66" y="17"/>
                  </a:lnTo>
                  <a:lnTo>
                    <a:pt x="80" y="19"/>
                  </a:lnTo>
                  <a:lnTo>
                    <a:pt x="88" y="22"/>
                  </a:lnTo>
                  <a:lnTo>
                    <a:pt x="90" y="24"/>
                  </a:lnTo>
                  <a:lnTo>
                    <a:pt x="103" y="20"/>
                  </a:lnTo>
                  <a:lnTo>
                    <a:pt x="95" y="10"/>
                  </a:lnTo>
                  <a:lnTo>
                    <a:pt x="82" y="6"/>
                  </a:lnTo>
                  <a:lnTo>
                    <a:pt x="67" y="4"/>
                  </a:lnTo>
                  <a:lnTo>
                    <a:pt x="51" y="3"/>
                  </a:lnTo>
                  <a:lnTo>
                    <a:pt x="36" y="3"/>
                  </a:lnTo>
                  <a:lnTo>
                    <a:pt x="22"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1" name="Freeform 102">
              <a:extLst>
                <a:ext uri="{FF2B5EF4-FFF2-40B4-BE49-F238E27FC236}">
                  <a16:creationId xmlns:a16="http://schemas.microsoft.com/office/drawing/2014/main" id="{063A97B8-7BCF-5C44-172D-1F95CD4754C1}"/>
                </a:ext>
              </a:extLst>
            </p:cNvPr>
            <p:cNvSpPr>
              <a:spLocks/>
            </p:cNvSpPr>
            <p:nvPr/>
          </p:nvSpPr>
          <p:spPr bwMode="auto">
            <a:xfrm>
              <a:off x="1821" y="1736"/>
              <a:ext cx="25" cy="8"/>
            </a:xfrm>
            <a:custGeom>
              <a:avLst/>
              <a:gdLst>
                <a:gd name="T0" fmla="*/ 0 w 15"/>
                <a:gd name="T1" fmla="*/ 73 h 7"/>
                <a:gd name="T2" fmla="*/ 47430 w 15"/>
                <a:gd name="T3" fmla="*/ 95 h 7"/>
                <a:gd name="T4" fmla="*/ 621467 w 15"/>
                <a:gd name="T5" fmla="*/ 2 h 7"/>
                <a:gd name="T6" fmla="*/ 609953 w 15"/>
                <a:gd name="T7" fmla="*/ 0 h 7"/>
                <a:gd name="T8" fmla="*/ 0 w 15"/>
                <a:gd name="T9" fmla="*/ 73 h 7"/>
                <a:gd name="T10" fmla="*/ 0 60000 65536"/>
                <a:gd name="T11" fmla="*/ 0 60000 65536"/>
                <a:gd name="T12" fmla="*/ 0 60000 65536"/>
                <a:gd name="T13" fmla="*/ 0 60000 65536"/>
                <a:gd name="T14" fmla="*/ 0 60000 65536"/>
                <a:gd name="T15" fmla="*/ 0 w 15"/>
                <a:gd name="T16" fmla="*/ 0 h 7"/>
                <a:gd name="T17" fmla="*/ 15 w 15"/>
                <a:gd name="T18" fmla="*/ 7 h 7"/>
              </a:gdLst>
              <a:ahLst/>
              <a:cxnLst>
                <a:cxn ang="T10">
                  <a:pos x="T0" y="T1"/>
                </a:cxn>
                <a:cxn ang="T11">
                  <a:pos x="T2" y="T3"/>
                </a:cxn>
                <a:cxn ang="T12">
                  <a:pos x="T4" y="T5"/>
                </a:cxn>
                <a:cxn ang="T13">
                  <a:pos x="T6" y="T7"/>
                </a:cxn>
                <a:cxn ang="T14">
                  <a:pos x="T8" y="T9"/>
                </a:cxn>
              </a:cxnLst>
              <a:rect l="T15" t="T16" r="T17" b="T18"/>
              <a:pathLst>
                <a:path w="15" h="7">
                  <a:moveTo>
                    <a:pt x="0" y="4"/>
                  </a:moveTo>
                  <a:lnTo>
                    <a:pt x="1" y="6"/>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2" name="Freeform 103">
              <a:extLst>
                <a:ext uri="{FF2B5EF4-FFF2-40B4-BE49-F238E27FC236}">
                  <a16:creationId xmlns:a16="http://schemas.microsoft.com/office/drawing/2014/main" id="{225F3EB0-91E3-9137-2351-12F1B74B526F}"/>
                </a:ext>
              </a:extLst>
            </p:cNvPr>
            <p:cNvSpPr>
              <a:spLocks/>
            </p:cNvSpPr>
            <p:nvPr/>
          </p:nvSpPr>
          <p:spPr bwMode="auto">
            <a:xfrm>
              <a:off x="1821" y="1669"/>
              <a:ext cx="137" cy="73"/>
            </a:xfrm>
            <a:custGeom>
              <a:avLst/>
              <a:gdLst>
                <a:gd name="T0" fmla="*/ 2566051 w 83"/>
                <a:gd name="T1" fmla="*/ 94 h 63"/>
                <a:gd name="T2" fmla="*/ 2519400 w 83"/>
                <a:gd name="T3" fmla="*/ 146 h 63"/>
                <a:gd name="T4" fmla="*/ 2289995 w 83"/>
                <a:gd name="T5" fmla="*/ 263 h 63"/>
                <a:gd name="T6" fmla="*/ 1933123 w 83"/>
                <a:gd name="T7" fmla="*/ 409 h 63"/>
                <a:gd name="T8" fmla="*/ 1423684 w 83"/>
                <a:gd name="T9" fmla="*/ 594 h 63"/>
                <a:gd name="T10" fmla="*/ 901473 w 83"/>
                <a:gd name="T11" fmla="*/ 732 h 63"/>
                <a:gd name="T12" fmla="*/ 446998 w 83"/>
                <a:gd name="T13" fmla="*/ 924 h 63"/>
                <a:gd name="T14" fmla="*/ 106777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64712 w 83"/>
                <a:gd name="T27" fmla="*/ 848 h 63"/>
                <a:gd name="T28" fmla="*/ 2185282 w 83"/>
                <a:gd name="T29" fmla="*/ 693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9"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3" name="Freeform 104">
              <a:extLst>
                <a:ext uri="{FF2B5EF4-FFF2-40B4-BE49-F238E27FC236}">
                  <a16:creationId xmlns:a16="http://schemas.microsoft.com/office/drawing/2014/main" id="{3281C45D-2380-AE80-7C57-18708F53F594}"/>
                </a:ext>
              </a:extLst>
            </p:cNvPr>
            <p:cNvSpPr>
              <a:spLocks/>
            </p:cNvSpPr>
            <p:nvPr/>
          </p:nvSpPr>
          <p:spPr bwMode="auto">
            <a:xfrm>
              <a:off x="1783" y="1641"/>
              <a:ext cx="175" cy="35"/>
            </a:xfrm>
            <a:custGeom>
              <a:avLst/>
              <a:gdLst>
                <a:gd name="T0" fmla="*/ 0 w 106"/>
                <a:gd name="T1" fmla="*/ 120 h 30"/>
                <a:gd name="T2" fmla="*/ 341111 w 106"/>
                <a:gd name="T3" fmla="*/ 358 h 30"/>
                <a:gd name="T4" fmla="*/ 795449 w 106"/>
                <a:gd name="T5" fmla="*/ 429 h 30"/>
                <a:gd name="T6" fmla="*/ 1328805 w 106"/>
                <a:gd name="T7" fmla="*/ 488 h 30"/>
                <a:gd name="T8" fmla="*/ 1941196 w 106"/>
                <a:gd name="T9" fmla="*/ 501 h 30"/>
                <a:gd name="T10" fmla="*/ 2534104 w 106"/>
                <a:gd name="T11" fmla="*/ 560 h 30"/>
                <a:gd name="T12" fmla="*/ 3033331 w 106"/>
                <a:gd name="T13" fmla="*/ 585 h 30"/>
                <a:gd name="T14" fmla="*/ 3328313 w 106"/>
                <a:gd name="T15" fmla="*/ 664 h 30"/>
                <a:gd name="T16" fmla="*/ 3435385 w 106"/>
                <a:gd name="T17" fmla="*/ 762 h 30"/>
                <a:gd name="T18" fmla="*/ 3917132 w 106"/>
                <a:gd name="T19" fmla="*/ 653 h 30"/>
                <a:gd name="T20" fmla="*/ 3621810 w 106"/>
                <a:gd name="T21" fmla="*/ 358 h 30"/>
                <a:gd name="T22" fmla="*/ 3097518 w 106"/>
                <a:gd name="T23" fmla="*/ 263 h 30"/>
                <a:gd name="T24" fmla="*/ 2573651 w 106"/>
                <a:gd name="T25" fmla="*/ 222 h 30"/>
                <a:gd name="T26" fmla="*/ 1984779 w 106"/>
                <a:gd name="T27" fmla="*/ 190 h 30"/>
                <a:gd name="T28" fmla="*/ 1389091 w 106"/>
                <a:gd name="T29" fmla="*/ 163 h 30"/>
                <a:gd name="T30" fmla="*/ 904506 w 106"/>
                <a:gd name="T31" fmla="*/ 140 h 30"/>
                <a:gd name="T32" fmla="*/ 563155 w 106"/>
                <a:gd name="T33" fmla="*/ 2 h 30"/>
                <a:gd name="T34" fmla="*/ 481815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4"/>
                  </a:lnTo>
                  <a:lnTo>
                    <a:pt x="21" y="17"/>
                  </a:lnTo>
                  <a:lnTo>
                    <a:pt x="36" y="19"/>
                  </a:lnTo>
                  <a:lnTo>
                    <a:pt x="52" y="20"/>
                  </a:lnTo>
                  <a:lnTo>
                    <a:pt x="68" y="21"/>
                  </a:lnTo>
                  <a:lnTo>
                    <a:pt x="81" y="23"/>
                  </a:lnTo>
                  <a:lnTo>
                    <a:pt x="89" y="26"/>
                  </a:lnTo>
                  <a:lnTo>
                    <a:pt x="92" y="29"/>
                  </a:lnTo>
                  <a:lnTo>
                    <a:pt x="105" y="25"/>
                  </a:lnTo>
                  <a:lnTo>
                    <a:pt x="97" y="14"/>
                  </a:lnTo>
                  <a:lnTo>
                    <a:pt x="83" y="10"/>
                  </a:lnTo>
                  <a:lnTo>
                    <a:pt x="69" y="8"/>
                  </a:lnTo>
                  <a:lnTo>
                    <a:pt x="53" y="7"/>
                  </a:lnTo>
                  <a:lnTo>
                    <a:pt x="37"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4" name="Freeform 105">
              <a:extLst>
                <a:ext uri="{FF2B5EF4-FFF2-40B4-BE49-F238E27FC236}">
                  <a16:creationId xmlns:a16="http://schemas.microsoft.com/office/drawing/2014/main" id="{AC56BD77-E607-DD38-A2C6-DF7BCABF0B08}"/>
                </a:ext>
              </a:extLst>
            </p:cNvPr>
            <p:cNvSpPr>
              <a:spLocks/>
            </p:cNvSpPr>
            <p:nvPr/>
          </p:nvSpPr>
          <p:spPr bwMode="auto">
            <a:xfrm>
              <a:off x="1783" y="1574"/>
              <a:ext cx="137" cy="73"/>
            </a:xfrm>
            <a:custGeom>
              <a:avLst/>
              <a:gdLst>
                <a:gd name="T0" fmla="*/ 2566051 w 83"/>
                <a:gd name="T1" fmla="*/ 94 h 63"/>
                <a:gd name="T2" fmla="*/ 2519400 w 83"/>
                <a:gd name="T3" fmla="*/ 126 h 63"/>
                <a:gd name="T4" fmla="*/ 2289995 w 83"/>
                <a:gd name="T5" fmla="*/ 263 h 63"/>
                <a:gd name="T6" fmla="*/ 1894573 w 83"/>
                <a:gd name="T7" fmla="*/ 409 h 63"/>
                <a:gd name="T8" fmla="*/ 1385413 w 83"/>
                <a:gd name="T9" fmla="*/ 594 h 63"/>
                <a:gd name="T10" fmla="*/ 901473 w 83"/>
                <a:gd name="T11" fmla="*/ 732 h 63"/>
                <a:gd name="T12" fmla="*/ 416000 w 83"/>
                <a:gd name="T13" fmla="*/ 924 h 63"/>
                <a:gd name="T14" fmla="*/ 64690 w 83"/>
                <a:gd name="T15" fmla="*/ 1078 h 63"/>
                <a:gd name="T16" fmla="*/ 0 w 83"/>
                <a:gd name="T17" fmla="*/ 1362 h 63"/>
                <a:gd name="T18" fmla="*/ 480180 w 83"/>
                <a:gd name="T19" fmla="*/ 1283 h 63"/>
                <a:gd name="T20" fmla="*/ 480180 w 83"/>
                <a:gd name="T21" fmla="*/ 1249 h 63"/>
                <a:gd name="T22" fmla="*/ 695387 w 83"/>
                <a:gd name="T23" fmla="*/ 1139 h 63"/>
                <a:gd name="T24" fmla="*/ 1133388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6"/>
                  </a:lnTo>
                  <a:lnTo>
                    <a:pt x="62" y="12"/>
                  </a:lnTo>
                  <a:lnTo>
                    <a:pt x="51" y="19"/>
                  </a:lnTo>
                  <a:lnTo>
                    <a:pt x="37" y="26"/>
                  </a:lnTo>
                  <a:lnTo>
                    <a:pt x="24" y="33"/>
                  </a:lnTo>
                  <a:lnTo>
                    <a:pt x="11" y="41"/>
                  </a:lnTo>
                  <a:lnTo>
                    <a:pt x="2" y="49"/>
                  </a:lnTo>
                  <a:lnTo>
                    <a:pt x="0" y="62"/>
                  </a:lnTo>
                  <a:lnTo>
                    <a:pt x="13" y="58"/>
                  </a:lnTo>
                  <a:lnTo>
                    <a:pt x="13" y="57"/>
                  </a:lnTo>
                  <a:lnTo>
                    <a:pt x="19" y="51"/>
                  </a:lnTo>
                  <a:lnTo>
                    <a:pt x="30"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5" name="Freeform 106">
              <a:extLst>
                <a:ext uri="{FF2B5EF4-FFF2-40B4-BE49-F238E27FC236}">
                  <a16:creationId xmlns:a16="http://schemas.microsoft.com/office/drawing/2014/main" id="{3DC7CB0A-0FD3-605A-E8B1-19CF7895B265}"/>
                </a:ext>
              </a:extLst>
            </p:cNvPr>
            <p:cNvSpPr>
              <a:spLocks/>
            </p:cNvSpPr>
            <p:nvPr/>
          </p:nvSpPr>
          <p:spPr bwMode="auto">
            <a:xfrm>
              <a:off x="1746" y="1545"/>
              <a:ext cx="174" cy="35"/>
            </a:xfrm>
            <a:custGeom>
              <a:avLst/>
              <a:gdLst>
                <a:gd name="T0" fmla="*/ 0 w 106"/>
                <a:gd name="T1" fmla="*/ 120 h 30"/>
                <a:gd name="T2" fmla="*/ 255808 w 106"/>
                <a:gd name="T3" fmla="*/ 358 h 30"/>
                <a:gd name="T4" fmla="*/ 689288 w 106"/>
                <a:gd name="T5" fmla="*/ 480 h 30"/>
                <a:gd name="T6" fmla="*/ 1189907 w 106"/>
                <a:gd name="T7" fmla="*/ 501 h 30"/>
                <a:gd name="T8" fmla="*/ 1701429 w 106"/>
                <a:gd name="T9" fmla="*/ 501 h 30"/>
                <a:gd name="T10" fmla="*/ 2261872 w 106"/>
                <a:gd name="T11" fmla="*/ 569 h 30"/>
                <a:gd name="T12" fmla="*/ 2681420 w 106"/>
                <a:gd name="T13" fmla="*/ 585 h 30"/>
                <a:gd name="T14" fmla="*/ 2950607 w 106"/>
                <a:gd name="T15" fmla="*/ 664 h 30"/>
                <a:gd name="T16" fmla="*/ 3048815 w 106"/>
                <a:gd name="T17" fmla="*/ 762 h 30"/>
                <a:gd name="T18" fmla="*/ 3468237 w 106"/>
                <a:gd name="T19" fmla="*/ 653 h 30"/>
                <a:gd name="T20" fmla="*/ 3206268 w 106"/>
                <a:gd name="T21" fmla="*/ 411 h 30"/>
                <a:gd name="T22" fmla="*/ 2742357 w 106"/>
                <a:gd name="T23" fmla="*/ 263 h 30"/>
                <a:gd name="T24" fmla="*/ 2274976 w 106"/>
                <a:gd name="T25" fmla="*/ 259 h 30"/>
                <a:gd name="T26" fmla="*/ 1762354 w 106"/>
                <a:gd name="T27" fmla="*/ 190 h 30"/>
                <a:gd name="T28" fmla="*/ 1229571 w 106"/>
                <a:gd name="T29" fmla="*/ 190 h 30"/>
                <a:gd name="T30" fmla="*/ 761928 w 106"/>
                <a:gd name="T31" fmla="*/ 140 h 30"/>
                <a:gd name="T32" fmla="*/ 503423 w 106"/>
                <a:gd name="T33" fmla="*/ 2 h 30"/>
                <a:gd name="T34" fmla="*/ 419911 w 106"/>
                <a:gd name="T35" fmla="*/ 0 h 30"/>
                <a:gd name="T36" fmla="*/ 0 w 106"/>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0"/>
                  </a:lnTo>
                  <a:lnTo>
                    <a:pt x="68" y="22"/>
                  </a:lnTo>
                  <a:lnTo>
                    <a:pt x="81" y="23"/>
                  </a:lnTo>
                  <a:lnTo>
                    <a:pt x="89" y="26"/>
                  </a:lnTo>
                  <a:lnTo>
                    <a:pt x="92" y="29"/>
                  </a:lnTo>
                  <a:lnTo>
                    <a:pt x="105" y="25"/>
                  </a:lnTo>
                  <a:lnTo>
                    <a:pt x="97" y="15"/>
                  </a:lnTo>
                  <a:lnTo>
                    <a:pt x="83" y="10"/>
                  </a:lnTo>
                  <a:lnTo>
                    <a:pt x="69" y="9"/>
                  </a:lnTo>
                  <a:lnTo>
                    <a:pt x="53" y="7"/>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6" name="Freeform 107">
              <a:extLst>
                <a:ext uri="{FF2B5EF4-FFF2-40B4-BE49-F238E27FC236}">
                  <a16:creationId xmlns:a16="http://schemas.microsoft.com/office/drawing/2014/main" id="{7723C924-6970-6C58-35CC-7C8CEFBBEDEC}"/>
                </a:ext>
              </a:extLst>
            </p:cNvPr>
            <p:cNvSpPr>
              <a:spLocks/>
            </p:cNvSpPr>
            <p:nvPr/>
          </p:nvSpPr>
          <p:spPr bwMode="auto">
            <a:xfrm>
              <a:off x="1746" y="1484"/>
              <a:ext cx="138" cy="67"/>
            </a:xfrm>
            <a:custGeom>
              <a:avLst/>
              <a:gdLst>
                <a:gd name="T0" fmla="*/ 2353327 w 84"/>
                <a:gd name="T1" fmla="*/ 3 h 58"/>
                <a:gd name="T2" fmla="*/ 2325254 w 84"/>
                <a:gd name="T3" fmla="*/ 3 h 58"/>
                <a:gd name="T4" fmla="*/ 2114707 w 84"/>
                <a:gd name="T5" fmla="*/ 137 h 58"/>
                <a:gd name="T6" fmla="*/ 1748426 w 84"/>
                <a:gd name="T7" fmla="*/ 282 h 58"/>
                <a:gd name="T8" fmla="*/ 1244737 w 84"/>
                <a:gd name="T9" fmla="*/ 429 h 58"/>
                <a:gd name="T10" fmla="*/ 797119 w 84"/>
                <a:gd name="T11" fmla="*/ 573 h 58"/>
                <a:gd name="T12" fmla="*/ 368478 w 84"/>
                <a:gd name="T13" fmla="*/ 714 h 58"/>
                <a:gd name="T14" fmla="*/ 36728 w 84"/>
                <a:gd name="T15" fmla="*/ 917 h 58"/>
                <a:gd name="T16" fmla="*/ 0 w 84"/>
                <a:gd name="T17" fmla="*/ 1179 h 58"/>
                <a:gd name="T18" fmla="*/ 439537 w 84"/>
                <a:gd name="T19" fmla="*/ 1101 h 58"/>
                <a:gd name="T20" fmla="*/ 439537 w 84"/>
                <a:gd name="T21" fmla="*/ 1060 h 58"/>
                <a:gd name="T22" fmla="*/ 639367 w 84"/>
                <a:gd name="T23" fmla="*/ 953 h 58"/>
                <a:gd name="T24" fmla="*/ 994515 w 84"/>
                <a:gd name="T25" fmla="*/ 795 h 58"/>
                <a:gd name="T26" fmla="*/ 1476779 w 84"/>
                <a:gd name="T27" fmla="*/ 672 h 58"/>
                <a:gd name="T28" fmla="*/ 1948925 w 84"/>
                <a:gd name="T29" fmla="*/ 535 h 58"/>
                <a:gd name="T30" fmla="*/ 2353327 w 84"/>
                <a:gd name="T31" fmla="*/ 387 h 58"/>
                <a:gd name="T32" fmla="*/ 2676132 w 84"/>
                <a:gd name="T33" fmla="*/ 244 h 58"/>
                <a:gd name="T34" fmla="*/ 2779841 w 84"/>
                <a:gd name="T35" fmla="*/ 0 h 58"/>
                <a:gd name="T36" fmla="*/ 2353327 w 84"/>
                <a:gd name="T37" fmla="*/ 3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3"/>
                  </a:moveTo>
                  <a:lnTo>
                    <a:pt x="69" y="3"/>
                  </a:lnTo>
                  <a:lnTo>
                    <a:pt x="63" y="7"/>
                  </a:lnTo>
                  <a:lnTo>
                    <a:pt x="52" y="14"/>
                  </a:lnTo>
                  <a:lnTo>
                    <a:pt x="37" y="20"/>
                  </a:lnTo>
                  <a:lnTo>
                    <a:pt x="24" y="27"/>
                  </a:lnTo>
                  <a:lnTo>
                    <a:pt x="11" y="35"/>
                  </a:lnTo>
                  <a:lnTo>
                    <a:pt x="1" y="44"/>
                  </a:lnTo>
                  <a:lnTo>
                    <a:pt x="0" y="57"/>
                  </a:lnTo>
                  <a:lnTo>
                    <a:pt x="13" y="53"/>
                  </a:lnTo>
                  <a:lnTo>
                    <a:pt x="13" y="52"/>
                  </a:lnTo>
                  <a:lnTo>
                    <a:pt x="19" y="46"/>
                  </a:lnTo>
                  <a:lnTo>
                    <a:pt x="30" y="39"/>
                  </a:lnTo>
                  <a:lnTo>
                    <a:pt x="44" y="32"/>
                  </a:lnTo>
                  <a:lnTo>
                    <a:pt x="58" y="26"/>
                  </a:lnTo>
                  <a:lnTo>
                    <a:pt x="70" y="19"/>
                  </a:lnTo>
                  <a:lnTo>
                    <a:pt x="79" y="12"/>
                  </a:lnTo>
                  <a:lnTo>
                    <a:pt x="83" y="0"/>
                  </a:lnTo>
                  <a:lnTo>
                    <a:pt x="7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827" name="Freeform 108">
              <a:extLst>
                <a:ext uri="{FF2B5EF4-FFF2-40B4-BE49-F238E27FC236}">
                  <a16:creationId xmlns:a16="http://schemas.microsoft.com/office/drawing/2014/main" id="{CA3F1842-30DE-8C78-8426-DC6877352971}"/>
                </a:ext>
              </a:extLst>
            </p:cNvPr>
            <p:cNvSpPr>
              <a:spLocks/>
            </p:cNvSpPr>
            <p:nvPr/>
          </p:nvSpPr>
          <p:spPr bwMode="auto">
            <a:xfrm>
              <a:off x="2597" y="3600"/>
              <a:ext cx="116" cy="142"/>
            </a:xfrm>
            <a:custGeom>
              <a:avLst/>
              <a:gdLst>
                <a:gd name="T0" fmla="*/ 1607482 w 70"/>
                <a:gd name="T1" fmla="*/ 529 h 124"/>
                <a:gd name="T2" fmla="*/ 2755964 w 70"/>
                <a:gd name="T3" fmla="*/ 0 h 124"/>
                <a:gd name="T4" fmla="*/ 2780749 w 70"/>
                <a:gd name="T5" fmla="*/ 0 h 124"/>
                <a:gd name="T6" fmla="*/ 2529766 w 70"/>
                <a:gd name="T7" fmla="*/ 1074 h 124"/>
                <a:gd name="T8" fmla="*/ 2593430 w 70"/>
                <a:gd name="T9" fmla="*/ 1198 h 124"/>
                <a:gd name="T10" fmla="*/ 2593430 w 70"/>
                <a:gd name="T11" fmla="*/ 1328 h 124"/>
                <a:gd name="T12" fmla="*/ 2593430 w 70"/>
                <a:gd name="T13" fmla="*/ 1461 h 124"/>
                <a:gd name="T14" fmla="*/ 2636716 w 70"/>
                <a:gd name="T15" fmla="*/ 1614 h 124"/>
                <a:gd name="T16" fmla="*/ 2663827 w 70"/>
                <a:gd name="T17" fmla="*/ 1737 h 124"/>
                <a:gd name="T18" fmla="*/ 2663827 w 70"/>
                <a:gd name="T19" fmla="*/ 1873 h 124"/>
                <a:gd name="T20" fmla="*/ 2663827 w 70"/>
                <a:gd name="T21" fmla="*/ 1989 h 124"/>
                <a:gd name="T22" fmla="*/ 2706298 w 70"/>
                <a:gd name="T23" fmla="*/ 2116 h 124"/>
                <a:gd name="T24" fmla="*/ 2529766 w 70"/>
                <a:gd name="T25" fmla="*/ 2004 h 124"/>
                <a:gd name="T26" fmla="*/ 2416154 w 70"/>
                <a:gd name="T27" fmla="*/ 1891 h 124"/>
                <a:gd name="T28" fmla="*/ 2268645 w 70"/>
                <a:gd name="T29" fmla="*/ 1791 h 124"/>
                <a:gd name="T30" fmla="*/ 2150963 w 70"/>
                <a:gd name="T31" fmla="*/ 1651 h 124"/>
                <a:gd name="T32" fmla="*/ 1972759 w 70"/>
                <a:gd name="T33" fmla="*/ 1528 h 124"/>
                <a:gd name="T34" fmla="*/ 1820902 w 70"/>
                <a:gd name="T35" fmla="*/ 1439 h 124"/>
                <a:gd name="T36" fmla="*/ 1704144 w 70"/>
                <a:gd name="T37" fmla="*/ 1325 h 124"/>
                <a:gd name="T38" fmla="*/ 1526583 w 70"/>
                <a:gd name="T39" fmla="*/ 1193 h 124"/>
                <a:gd name="T40" fmla="*/ 0 w 70"/>
                <a:gd name="T41" fmla="*/ 363 h 124"/>
                <a:gd name="T42" fmla="*/ 0 w 70"/>
                <a:gd name="T43" fmla="*/ 328 h 124"/>
                <a:gd name="T44" fmla="*/ 1607482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0"/>
                  </a:lnTo>
                  <a:lnTo>
                    <a:pt x="63" y="62"/>
                  </a:lnTo>
                  <a:lnTo>
                    <a:pt x="64" y="70"/>
                  </a:lnTo>
                  <a:lnTo>
                    <a:pt x="64" y="77"/>
                  </a:lnTo>
                  <a:lnTo>
                    <a:pt x="64" y="85"/>
                  </a:lnTo>
                  <a:lnTo>
                    <a:pt x="65" y="93"/>
                  </a:lnTo>
                  <a:lnTo>
                    <a:pt x="66" y="100"/>
                  </a:lnTo>
                  <a:lnTo>
                    <a:pt x="66" y="108"/>
                  </a:lnTo>
                  <a:lnTo>
                    <a:pt x="66" y="115"/>
                  </a:lnTo>
                  <a:lnTo>
                    <a:pt x="67" y="123"/>
                  </a:lnTo>
                  <a:lnTo>
                    <a:pt x="63" y="117"/>
                  </a:lnTo>
                  <a:lnTo>
                    <a:pt x="60" y="110"/>
                  </a:lnTo>
                  <a:lnTo>
                    <a:pt x="56" y="103"/>
                  </a:lnTo>
                  <a:lnTo>
                    <a:pt x="53" y="96"/>
                  </a:lnTo>
                  <a:lnTo>
                    <a:pt x="49" y="89"/>
                  </a:lnTo>
                  <a:lnTo>
                    <a:pt x="45" y="83"/>
                  </a:lnTo>
                  <a:lnTo>
                    <a:pt x="42" y="76"/>
                  </a:lnTo>
                  <a:lnTo>
                    <a:pt x="38" y="69"/>
                  </a:lnTo>
                  <a:lnTo>
                    <a:pt x="0" y="21"/>
                  </a:lnTo>
                  <a:lnTo>
                    <a:pt x="0"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grpSp>
        <p:nvGrpSpPr>
          <p:cNvPr id="4" name="Group 109">
            <a:extLst>
              <a:ext uri="{FF2B5EF4-FFF2-40B4-BE49-F238E27FC236}">
                <a16:creationId xmlns:a16="http://schemas.microsoft.com/office/drawing/2014/main" id="{71C4C68D-6D72-5E57-4DA3-364C3EAC1C94}"/>
              </a:ext>
            </a:extLst>
          </p:cNvPr>
          <p:cNvGrpSpPr>
            <a:grpSpLocks/>
          </p:cNvGrpSpPr>
          <p:nvPr/>
        </p:nvGrpSpPr>
        <p:grpSpPr bwMode="auto">
          <a:xfrm>
            <a:off x="3247779" y="4001340"/>
            <a:ext cx="1831181" cy="4655345"/>
            <a:chOff x="1539" y="1464"/>
            <a:chExt cx="952" cy="2281"/>
          </a:xfrm>
        </p:grpSpPr>
        <p:sp>
          <p:nvSpPr>
            <p:cNvPr id="22716" name="Freeform 110">
              <a:extLst>
                <a:ext uri="{FF2B5EF4-FFF2-40B4-BE49-F238E27FC236}">
                  <a16:creationId xmlns:a16="http://schemas.microsoft.com/office/drawing/2014/main" id="{AAD9C2AB-17C7-5A69-501B-B06738092DB0}"/>
                </a:ext>
              </a:extLst>
            </p:cNvPr>
            <p:cNvSpPr>
              <a:spLocks/>
            </p:cNvSpPr>
            <p:nvPr/>
          </p:nvSpPr>
          <p:spPr bwMode="auto">
            <a:xfrm>
              <a:off x="2407" y="3534"/>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7" name="Freeform 111">
              <a:extLst>
                <a:ext uri="{FF2B5EF4-FFF2-40B4-BE49-F238E27FC236}">
                  <a16:creationId xmlns:a16="http://schemas.microsoft.com/office/drawing/2014/main" id="{AAC71DD8-B2DE-B237-CF4C-77DC4AE48AF3}"/>
                </a:ext>
              </a:extLst>
            </p:cNvPr>
            <p:cNvSpPr>
              <a:spLocks/>
            </p:cNvSpPr>
            <p:nvPr/>
          </p:nvSpPr>
          <p:spPr bwMode="auto">
            <a:xfrm>
              <a:off x="2311" y="3503"/>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8" name="Freeform 112">
              <a:extLst>
                <a:ext uri="{FF2B5EF4-FFF2-40B4-BE49-F238E27FC236}">
                  <a16:creationId xmlns:a16="http://schemas.microsoft.com/office/drawing/2014/main" id="{8148FBCA-B6C4-8A1C-E3B8-F2DF5F0E383B}"/>
                </a:ext>
              </a:extLst>
            </p:cNvPr>
            <p:cNvSpPr>
              <a:spLocks/>
            </p:cNvSpPr>
            <p:nvPr/>
          </p:nvSpPr>
          <p:spPr bwMode="auto">
            <a:xfrm>
              <a:off x="2311" y="3503"/>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9" name="Freeform 113">
              <a:extLst>
                <a:ext uri="{FF2B5EF4-FFF2-40B4-BE49-F238E27FC236}">
                  <a16:creationId xmlns:a16="http://schemas.microsoft.com/office/drawing/2014/main" id="{9ABDFAEE-4D54-4676-7639-A27E7BD3EB56}"/>
                </a:ext>
              </a:extLst>
            </p:cNvPr>
            <p:cNvSpPr>
              <a:spLocks/>
            </p:cNvSpPr>
            <p:nvPr/>
          </p:nvSpPr>
          <p:spPr bwMode="auto">
            <a:xfrm>
              <a:off x="2311" y="3437"/>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0" name="Freeform 114">
              <a:extLst>
                <a:ext uri="{FF2B5EF4-FFF2-40B4-BE49-F238E27FC236}">
                  <a16:creationId xmlns:a16="http://schemas.microsoft.com/office/drawing/2014/main" id="{E6B1A59D-0D17-2C2D-D226-1E2D1B0DCD9F}"/>
                </a:ext>
              </a:extLst>
            </p:cNvPr>
            <p:cNvSpPr>
              <a:spLocks/>
            </p:cNvSpPr>
            <p:nvPr/>
          </p:nvSpPr>
          <p:spPr bwMode="auto">
            <a:xfrm>
              <a:off x="2274" y="3408"/>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1" name="Freeform 115">
              <a:extLst>
                <a:ext uri="{FF2B5EF4-FFF2-40B4-BE49-F238E27FC236}">
                  <a16:creationId xmlns:a16="http://schemas.microsoft.com/office/drawing/2014/main" id="{73B4C844-25DD-6490-A51D-32EAE4C328F9}"/>
                </a:ext>
              </a:extLst>
            </p:cNvPr>
            <p:cNvSpPr>
              <a:spLocks/>
            </p:cNvSpPr>
            <p:nvPr/>
          </p:nvSpPr>
          <p:spPr bwMode="auto">
            <a:xfrm>
              <a:off x="2274" y="3341"/>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2" name="Freeform 116">
              <a:extLst>
                <a:ext uri="{FF2B5EF4-FFF2-40B4-BE49-F238E27FC236}">
                  <a16:creationId xmlns:a16="http://schemas.microsoft.com/office/drawing/2014/main" id="{BA3304CC-9347-B1BC-DD09-8BCB2FA7BC53}"/>
                </a:ext>
              </a:extLst>
            </p:cNvPr>
            <p:cNvSpPr>
              <a:spLocks/>
            </p:cNvSpPr>
            <p:nvPr/>
          </p:nvSpPr>
          <p:spPr bwMode="auto">
            <a:xfrm>
              <a:off x="2239" y="3318"/>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3" name="Freeform 117">
              <a:extLst>
                <a:ext uri="{FF2B5EF4-FFF2-40B4-BE49-F238E27FC236}">
                  <a16:creationId xmlns:a16="http://schemas.microsoft.com/office/drawing/2014/main" id="{27A7E990-7B5E-C997-6A44-CBEE431EADA0}"/>
                </a:ext>
              </a:extLst>
            </p:cNvPr>
            <p:cNvSpPr>
              <a:spLocks/>
            </p:cNvSpPr>
            <p:nvPr/>
          </p:nvSpPr>
          <p:spPr bwMode="auto">
            <a:xfrm>
              <a:off x="2239" y="3316"/>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4" name="Freeform 118">
              <a:extLst>
                <a:ext uri="{FF2B5EF4-FFF2-40B4-BE49-F238E27FC236}">
                  <a16:creationId xmlns:a16="http://schemas.microsoft.com/office/drawing/2014/main" id="{C12788B0-4976-A289-2777-973A4E768F26}"/>
                </a:ext>
              </a:extLst>
            </p:cNvPr>
            <p:cNvSpPr>
              <a:spLocks/>
            </p:cNvSpPr>
            <p:nvPr/>
          </p:nvSpPr>
          <p:spPr bwMode="auto">
            <a:xfrm>
              <a:off x="2239" y="3250"/>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5" name="Freeform 119">
              <a:extLst>
                <a:ext uri="{FF2B5EF4-FFF2-40B4-BE49-F238E27FC236}">
                  <a16:creationId xmlns:a16="http://schemas.microsoft.com/office/drawing/2014/main" id="{E5317C29-9AD5-A543-C186-8CDDCDABFA77}"/>
                </a:ext>
              </a:extLst>
            </p:cNvPr>
            <p:cNvSpPr>
              <a:spLocks/>
            </p:cNvSpPr>
            <p:nvPr/>
          </p:nvSpPr>
          <p:spPr bwMode="auto">
            <a:xfrm>
              <a:off x="2199" y="3221"/>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6" name="Freeform 120">
              <a:extLst>
                <a:ext uri="{FF2B5EF4-FFF2-40B4-BE49-F238E27FC236}">
                  <a16:creationId xmlns:a16="http://schemas.microsoft.com/office/drawing/2014/main" id="{3B2D8E44-D126-7738-D585-20A1D66DE99C}"/>
                </a:ext>
              </a:extLst>
            </p:cNvPr>
            <p:cNvSpPr>
              <a:spLocks/>
            </p:cNvSpPr>
            <p:nvPr/>
          </p:nvSpPr>
          <p:spPr bwMode="auto">
            <a:xfrm>
              <a:off x="2199" y="3154"/>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7" name="Freeform 121">
              <a:extLst>
                <a:ext uri="{FF2B5EF4-FFF2-40B4-BE49-F238E27FC236}">
                  <a16:creationId xmlns:a16="http://schemas.microsoft.com/office/drawing/2014/main" id="{FBC4B29F-8706-A7FF-E7DE-AF19EB23C2B1}"/>
                </a:ext>
              </a:extLst>
            </p:cNvPr>
            <p:cNvSpPr>
              <a:spLocks/>
            </p:cNvSpPr>
            <p:nvPr/>
          </p:nvSpPr>
          <p:spPr bwMode="auto">
            <a:xfrm>
              <a:off x="2161" y="3126"/>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8" name="Freeform 122">
              <a:extLst>
                <a:ext uri="{FF2B5EF4-FFF2-40B4-BE49-F238E27FC236}">
                  <a16:creationId xmlns:a16="http://schemas.microsoft.com/office/drawing/2014/main" id="{EC27AFBB-B5A4-A0C8-FCB7-3D17C91EDE44}"/>
                </a:ext>
              </a:extLst>
            </p:cNvPr>
            <p:cNvSpPr>
              <a:spLocks/>
            </p:cNvSpPr>
            <p:nvPr/>
          </p:nvSpPr>
          <p:spPr bwMode="auto">
            <a:xfrm>
              <a:off x="2161" y="3064"/>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29" name="Freeform 123">
              <a:extLst>
                <a:ext uri="{FF2B5EF4-FFF2-40B4-BE49-F238E27FC236}">
                  <a16:creationId xmlns:a16="http://schemas.microsoft.com/office/drawing/2014/main" id="{127B6812-7A64-E902-64A7-AF96B6ED061C}"/>
                </a:ext>
              </a:extLst>
            </p:cNvPr>
            <p:cNvSpPr>
              <a:spLocks/>
            </p:cNvSpPr>
            <p:nvPr/>
          </p:nvSpPr>
          <p:spPr bwMode="auto">
            <a:xfrm>
              <a:off x="2277" y="3062"/>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0" name="Freeform 124">
              <a:extLst>
                <a:ext uri="{FF2B5EF4-FFF2-40B4-BE49-F238E27FC236}">
                  <a16:creationId xmlns:a16="http://schemas.microsoft.com/office/drawing/2014/main" id="{4876CC28-7897-687A-5D26-5227D30DF386}"/>
                </a:ext>
              </a:extLst>
            </p:cNvPr>
            <p:cNvSpPr>
              <a:spLocks/>
            </p:cNvSpPr>
            <p:nvPr/>
          </p:nvSpPr>
          <p:spPr bwMode="auto">
            <a:xfrm>
              <a:off x="2127" y="3036"/>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1" name="Freeform 125">
              <a:extLst>
                <a:ext uri="{FF2B5EF4-FFF2-40B4-BE49-F238E27FC236}">
                  <a16:creationId xmlns:a16="http://schemas.microsoft.com/office/drawing/2014/main" id="{74D798D7-F7A1-D21C-23EE-937E7205FD97}"/>
                </a:ext>
              </a:extLst>
            </p:cNvPr>
            <p:cNvSpPr>
              <a:spLocks/>
            </p:cNvSpPr>
            <p:nvPr/>
          </p:nvSpPr>
          <p:spPr bwMode="auto">
            <a:xfrm>
              <a:off x="2127" y="2969"/>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2" name="Freeform 126">
              <a:extLst>
                <a:ext uri="{FF2B5EF4-FFF2-40B4-BE49-F238E27FC236}">
                  <a16:creationId xmlns:a16="http://schemas.microsoft.com/office/drawing/2014/main" id="{DE60DB74-CA44-DC8A-50CE-0F7F0E19BE78}"/>
                </a:ext>
              </a:extLst>
            </p:cNvPr>
            <p:cNvSpPr>
              <a:spLocks/>
            </p:cNvSpPr>
            <p:nvPr/>
          </p:nvSpPr>
          <p:spPr bwMode="auto">
            <a:xfrm>
              <a:off x="2089" y="2941"/>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3" name="Freeform 127">
              <a:extLst>
                <a:ext uri="{FF2B5EF4-FFF2-40B4-BE49-F238E27FC236}">
                  <a16:creationId xmlns:a16="http://schemas.microsoft.com/office/drawing/2014/main" id="{0DDF36F6-98FD-38C8-8BDB-B527FA9F2784}"/>
                </a:ext>
              </a:extLst>
            </p:cNvPr>
            <p:cNvSpPr>
              <a:spLocks/>
            </p:cNvSpPr>
            <p:nvPr/>
          </p:nvSpPr>
          <p:spPr bwMode="auto">
            <a:xfrm>
              <a:off x="2089" y="2876"/>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4" name="Freeform 128">
              <a:extLst>
                <a:ext uri="{FF2B5EF4-FFF2-40B4-BE49-F238E27FC236}">
                  <a16:creationId xmlns:a16="http://schemas.microsoft.com/office/drawing/2014/main" id="{59B34F05-24B8-8D49-BC69-9874CCED0E55}"/>
                </a:ext>
              </a:extLst>
            </p:cNvPr>
            <p:cNvSpPr>
              <a:spLocks/>
            </p:cNvSpPr>
            <p:nvPr/>
          </p:nvSpPr>
          <p:spPr bwMode="auto">
            <a:xfrm>
              <a:off x="2205" y="2875"/>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5" name="Freeform 129">
              <a:extLst>
                <a:ext uri="{FF2B5EF4-FFF2-40B4-BE49-F238E27FC236}">
                  <a16:creationId xmlns:a16="http://schemas.microsoft.com/office/drawing/2014/main" id="{95CA643D-79C4-BCD7-53F1-14DCDE36050A}"/>
                </a:ext>
              </a:extLst>
            </p:cNvPr>
            <p:cNvSpPr>
              <a:spLocks/>
            </p:cNvSpPr>
            <p:nvPr/>
          </p:nvSpPr>
          <p:spPr bwMode="auto">
            <a:xfrm>
              <a:off x="2056" y="2848"/>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6" name="Freeform 130">
              <a:extLst>
                <a:ext uri="{FF2B5EF4-FFF2-40B4-BE49-F238E27FC236}">
                  <a16:creationId xmlns:a16="http://schemas.microsoft.com/office/drawing/2014/main" id="{40B05F8D-8DC9-30DD-17E4-D56443D7E310}"/>
                </a:ext>
              </a:extLst>
            </p:cNvPr>
            <p:cNvSpPr>
              <a:spLocks/>
            </p:cNvSpPr>
            <p:nvPr/>
          </p:nvSpPr>
          <p:spPr bwMode="auto">
            <a:xfrm>
              <a:off x="2056" y="2780"/>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7" name="Freeform 131">
              <a:extLst>
                <a:ext uri="{FF2B5EF4-FFF2-40B4-BE49-F238E27FC236}">
                  <a16:creationId xmlns:a16="http://schemas.microsoft.com/office/drawing/2014/main" id="{EDCF3BD7-2C56-9F91-576A-4CB48623D5F2}"/>
                </a:ext>
              </a:extLst>
            </p:cNvPr>
            <p:cNvSpPr>
              <a:spLocks/>
            </p:cNvSpPr>
            <p:nvPr/>
          </p:nvSpPr>
          <p:spPr bwMode="auto">
            <a:xfrm>
              <a:off x="2020" y="2753"/>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8" name="Freeform 132">
              <a:extLst>
                <a:ext uri="{FF2B5EF4-FFF2-40B4-BE49-F238E27FC236}">
                  <a16:creationId xmlns:a16="http://schemas.microsoft.com/office/drawing/2014/main" id="{104F2166-F1DD-5657-DC2C-A64005229987}"/>
                </a:ext>
              </a:extLst>
            </p:cNvPr>
            <p:cNvSpPr>
              <a:spLocks/>
            </p:cNvSpPr>
            <p:nvPr/>
          </p:nvSpPr>
          <p:spPr bwMode="auto">
            <a:xfrm>
              <a:off x="2020" y="2685"/>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39" name="Freeform 133">
              <a:extLst>
                <a:ext uri="{FF2B5EF4-FFF2-40B4-BE49-F238E27FC236}">
                  <a16:creationId xmlns:a16="http://schemas.microsoft.com/office/drawing/2014/main" id="{B32CB4C7-CB68-0D4F-9BC5-E66413D2314F}"/>
                </a:ext>
              </a:extLst>
            </p:cNvPr>
            <p:cNvSpPr>
              <a:spLocks/>
            </p:cNvSpPr>
            <p:nvPr/>
          </p:nvSpPr>
          <p:spPr bwMode="auto">
            <a:xfrm>
              <a:off x="2131" y="2685"/>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0" name="Freeform 134">
              <a:extLst>
                <a:ext uri="{FF2B5EF4-FFF2-40B4-BE49-F238E27FC236}">
                  <a16:creationId xmlns:a16="http://schemas.microsoft.com/office/drawing/2014/main" id="{323B06C8-0307-4DAB-C636-860B9357F4EF}"/>
                </a:ext>
              </a:extLst>
            </p:cNvPr>
            <p:cNvSpPr>
              <a:spLocks/>
            </p:cNvSpPr>
            <p:nvPr/>
          </p:nvSpPr>
          <p:spPr bwMode="auto">
            <a:xfrm>
              <a:off x="1978" y="2656"/>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1" name="Freeform 135">
              <a:extLst>
                <a:ext uri="{FF2B5EF4-FFF2-40B4-BE49-F238E27FC236}">
                  <a16:creationId xmlns:a16="http://schemas.microsoft.com/office/drawing/2014/main" id="{20CDF951-B529-BC09-8193-95F4A2AA8B3D}"/>
                </a:ext>
              </a:extLst>
            </p:cNvPr>
            <p:cNvSpPr>
              <a:spLocks/>
            </p:cNvSpPr>
            <p:nvPr/>
          </p:nvSpPr>
          <p:spPr bwMode="auto">
            <a:xfrm>
              <a:off x="1978" y="2589"/>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2" name="Freeform 136">
              <a:extLst>
                <a:ext uri="{FF2B5EF4-FFF2-40B4-BE49-F238E27FC236}">
                  <a16:creationId xmlns:a16="http://schemas.microsoft.com/office/drawing/2014/main" id="{590FAF5C-2C77-BD3B-527E-E1638C0EC524}"/>
                </a:ext>
              </a:extLst>
            </p:cNvPr>
            <p:cNvSpPr>
              <a:spLocks/>
            </p:cNvSpPr>
            <p:nvPr/>
          </p:nvSpPr>
          <p:spPr bwMode="auto">
            <a:xfrm>
              <a:off x="1942" y="2561"/>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3" name="Freeform 137">
              <a:extLst>
                <a:ext uri="{FF2B5EF4-FFF2-40B4-BE49-F238E27FC236}">
                  <a16:creationId xmlns:a16="http://schemas.microsoft.com/office/drawing/2014/main" id="{1D022CDF-28CF-B39F-3BD6-1D401B1B3B80}"/>
                </a:ext>
              </a:extLst>
            </p:cNvPr>
            <p:cNvSpPr>
              <a:spLocks/>
            </p:cNvSpPr>
            <p:nvPr/>
          </p:nvSpPr>
          <p:spPr bwMode="auto">
            <a:xfrm>
              <a:off x="1942" y="2497"/>
              <a:ext cx="138" cy="69"/>
            </a:xfrm>
            <a:custGeom>
              <a:avLst/>
              <a:gdLst>
                <a:gd name="T0" fmla="*/ 2396631 w 84"/>
                <a:gd name="T1" fmla="*/ 113 h 60"/>
                <a:gd name="T2" fmla="*/ 2353327 w 84"/>
                <a:gd name="T3" fmla="*/ 98 h 60"/>
                <a:gd name="T4" fmla="*/ 2325254 w 84"/>
                <a:gd name="T5" fmla="*/ 85 h 60"/>
                <a:gd name="T6" fmla="*/ 2095021 w 84"/>
                <a:gd name="T7" fmla="*/ 199 h 60"/>
                <a:gd name="T8" fmla="*/ 1725639 w 84"/>
                <a:gd name="T9" fmla="*/ 302 h 60"/>
                <a:gd name="T10" fmla="*/ 1275230 w 84"/>
                <a:gd name="T11" fmla="*/ 430 h 60"/>
                <a:gd name="T12" fmla="*/ 797119 w 84"/>
                <a:gd name="T13" fmla="*/ 549 h 60"/>
                <a:gd name="T14" fmla="*/ 410755 w 84"/>
                <a:gd name="T15" fmla="*/ 698 h 60"/>
                <a:gd name="T16" fmla="*/ 60339 w 84"/>
                <a:gd name="T17" fmla="*/ 864 h 60"/>
                <a:gd name="T18" fmla="*/ 0 w 84"/>
                <a:gd name="T19" fmla="*/ 1122 h 60"/>
                <a:gd name="T20" fmla="*/ 439537 w 84"/>
                <a:gd name="T21" fmla="*/ 1023 h 60"/>
                <a:gd name="T22" fmla="*/ 472486 w 84"/>
                <a:gd name="T23" fmla="*/ 1014 h 60"/>
                <a:gd name="T24" fmla="*/ 674812 w 84"/>
                <a:gd name="T25" fmla="*/ 882 h 60"/>
                <a:gd name="T26" fmla="*/ 1050389 w 84"/>
                <a:gd name="T27" fmla="*/ 767 h 60"/>
                <a:gd name="T28" fmla="*/ 1476779 w 84"/>
                <a:gd name="T29" fmla="*/ 650 h 60"/>
                <a:gd name="T30" fmla="*/ 1948925 w 84"/>
                <a:gd name="T31" fmla="*/ 528 h 60"/>
                <a:gd name="T32" fmla="*/ 2353327 w 84"/>
                <a:gd name="T33" fmla="*/ 399 h 60"/>
                <a:gd name="T34" fmla="*/ 2684176 w 84"/>
                <a:gd name="T35" fmla="*/ 246 h 60"/>
                <a:gd name="T36" fmla="*/ 2779841 w 84"/>
                <a:gd name="T37" fmla="*/ 1 h 60"/>
                <a:gd name="T38" fmla="*/ 2776586 w 84"/>
                <a:gd name="T39" fmla="*/ 0 h 60"/>
                <a:gd name="T40" fmla="*/ 2779841 w 84"/>
                <a:gd name="T41" fmla="*/ 1 h 60"/>
                <a:gd name="T42" fmla="*/ 2779841 w 84"/>
                <a:gd name="T43" fmla="*/ 0 h 60"/>
                <a:gd name="T44" fmla="*/ 2776586 w 84"/>
                <a:gd name="T45" fmla="*/ 0 h 60"/>
                <a:gd name="T46" fmla="*/ 2396631 w 84"/>
                <a:gd name="T47" fmla="*/ 113 h 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60"/>
                <a:gd name="T74" fmla="*/ 84 w 84"/>
                <a:gd name="T75" fmla="*/ 60 h 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60">
                  <a:moveTo>
                    <a:pt x="71" y="6"/>
                  </a:moveTo>
                  <a:lnTo>
                    <a:pt x="70" y="5"/>
                  </a:lnTo>
                  <a:lnTo>
                    <a:pt x="69" y="4"/>
                  </a:lnTo>
                  <a:lnTo>
                    <a:pt x="62" y="10"/>
                  </a:lnTo>
                  <a:lnTo>
                    <a:pt x="51" y="16"/>
                  </a:lnTo>
                  <a:lnTo>
                    <a:pt x="38" y="23"/>
                  </a:lnTo>
                  <a:lnTo>
                    <a:pt x="24" y="29"/>
                  </a:lnTo>
                  <a:lnTo>
                    <a:pt x="12" y="37"/>
                  </a:lnTo>
                  <a:lnTo>
                    <a:pt x="2" y="46"/>
                  </a:lnTo>
                  <a:lnTo>
                    <a:pt x="0" y="59"/>
                  </a:lnTo>
                  <a:lnTo>
                    <a:pt x="13" y="55"/>
                  </a:lnTo>
                  <a:lnTo>
                    <a:pt x="14" y="54"/>
                  </a:lnTo>
                  <a:lnTo>
                    <a:pt x="20" y="47"/>
                  </a:lnTo>
                  <a:lnTo>
                    <a:pt x="31" y="41"/>
                  </a:lnTo>
                  <a:lnTo>
                    <a:pt x="44" y="34"/>
                  </a:lnTo>
                  <a:lnTo>
                    <a:pt x="58" y="28"/>
                  </a:lnTo>
                  <a:lnTo>
                    <a:pt x="70" y="21"/>
                  </a:lnTo>
                  <a:lnTo>
                    <a:pt x="80" y="13"/>
                  </a:lnTo>
                  <a:lnTo>
                    <a:pt x="83" y="1"/>
                  </a:lnTo>
                  <a:lnTo>
                    <a:pt x="82" y="0"/>
                  </a:lnTo>
                  <a:lnTo>
                    <a:pt x="83" y="1"/>
                  </a:lnTo>
                  <a:lnTo>
                    <a:pt x="83" y="0"/>
                  </a:lnTo>
                  <a:lnTo>
                    <a:pt x="82" y="0"/>
                  </a:lnTo>
                  <a:lnTo>
                    <a:pt x="71"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4" name="Freeform 138">
              <a:extLst>
                <a:ext uri="{FF2B5EF4-FFF2-40B4-BE49-F238E27FC236}">
                  <a16:creationId xmlns:a16="http://schemas.microsoft.com/office/drawing/2014/main" id="{AED54DC8-CB6D-7566-534D-E642E8C825A6}"/>
                </a:ext>
              </a:extLst>
            </p:cNvPr>
            <p:cNvSpPr>
              <a:spLocks/>
            </p:cNvSpPr>
            <p:nvPr/>
          </p:nvSpPr>
          <p:spPr bwMode="auto">
            <a:xfrm>
              <a:off x="2056" y="2495"/>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2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2"/>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5" name="Freeform 139">
              <a:extLst>
                <a:ext uri="{FF2B5EF4-FFF2-40B4-BE49-F238E27FC236}">
                  <a16:creationId xmlns:a16="http://schemas.microsoft.com/office/drawing/2014/main" id="{0FCC5396-D6D0-1511-2C21-A8DAB00BF8C5}"/>
                </a:ext>
              </a:extLst>
            </p:cNvPr>
            <p:cNvSpPr>
              <a:spLocks/>
            </p:cNvSpPr>
            <p:nvPr/>
          </p:nvSpPr>
          <p:spPr bwMode="auto">
            <a:xfrm>
              <a:off x="1907" y="2467"/>
              <a:ext cx="173" cy="36"/>
            </a:xfrm>
            <a:custGeom>
              <a:avLst/>
              <a:gdLst>
                <a:gd name="T0" fmla="*/ 0 w 105"/>
                <a:gd name="T1" fmla="*/ 179 h 30"/>
                <a:gd name="T2" fmla="*/ 282272 w 105"/>
                <a:gd name="T3" fmla="*/ 642 h 30"/>
                <a:gd name="T4" fmla="*/ 778703 w 105"/>
                <a:gd name="T5" fmla="*/ 900 h 30"/>
                <a:gd name="T6" fmla="*/ 1283006 w 105"/>
                <a:gd name="T7" fmla="*/ 953 h 30"/>
                <a:gd name="T8" fmla="*/ 1816719 w 105"/>
                <a:gd name="T9" fmla="*/ 984 h 30"/>
                <a:gd name="T10" fmla="*/ 2445765 w 105"/>
                <a:gd name="T11" fmla="*/ 1080 h 30"/>
                <a:gd name="T12" fmla="*/ 2890764 w 105"/>
                <a:gd name="T13" fmla="*/ 1144 h 30"/>
                <a:gd name="T14" fmla="*/ 3191916 w 105"/>
                <a:gd name="T15" fmla="*/ 1219 h 30"/>
                <a:gd name="T16" fmla="*/ 3261172 w 105"/>
                <a:gd name="T17" fmla="*/ 1331 h 30"/>
                <a:gd name="T18" fmla="*/ 3721278 w 105"/>
                <a:gd name="T19" fmla="*/ 1181 h 30"/>
                <a:gd name="T20" fmla="*/ 3427301 w 105"/>
                <a:gd name="T21" fmla="*/ 750 h 30"/>
                <a:gd name="T22" fmla="*/ 2993261 w 105"/>
                <a:gd name="T23" fmla="*/ 535 h 30"/>
                <a:gd name="T24" fmla="*/ 2482473 w 105"/>
                <a:gd name="T25" fmla="*/ 446 h 30"/>
                <a:gd name="T26" fmla="*/ 1890361 w 105"/>
                <a:gd name="T27" fmla="*/ 434 h 30"/>
                <a:gd name="T28" fmla="*/ 1329942 w 105"/>
                <a:gd name="T29" fmla="*/ 372 h 30"/>
                <a:gd name="T30" fmla="*/ 875703 w 105"/>
                <a:gd name="T31" fmla="*/ 258 h 30"/>
                <a:gd name="T32" fmla="*/ 569066 w 105"/>
                <a:gd name="T33" fmla="*/ 149 h 30"/>
                <a:gd name="T34" fmla="*/ 465077 w 105"/>
                <a:gd name="T35" fmla="*/ 0 h 30"/>
                <a:gd name="T36" fmla="*/ 0 w 105"/>
                <a:gd name="T37" fmla="*/ 17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2" y="19"/>
                  </a:lnTo>
                  <a:lnTo>
                    <a:pt x="36" y="21"/>
                  </a:lnTo>
                  <a:lnTo>
                    <a:pt x="51" y="22"/>
                  </a:lnTo>
                  <a:lnTo>
                    <a:pt x="68" y="23"/>
                  </a:lnTo>
                  <a:lnTo>
                    <a:pt x="81" y="25"/>
                  </a:lnTo>
                  <a:lnTo>
                    <a:pt x="89" y="27"/>
                  </a:lnTo>
                  <a:lnTo>
                    <a:pt x="91" y="29"/>
                  </a:lnTo>
                  <a:lnTo>
                    <a:pt x="104" y="26"/>
                  </a:lnTo>
                  <a:lnTo>
                    <a:pt x="96" y="16"/>
                  </a:lnTo>
                  <a:lnTo>
                    <a:pt x="84" y="12"/>
                  </a:lnTo>
                  <a:lnTo>
                    <a:pt x="69" y="10"/>
                  </a:lnTo>
                  <a:lnTo>
                    <a:pt x="53" y="9"/>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6" name="Freeform 140">
              <a:extLst>
                <a:ext uri="{FF2B5EF4-FFF2-40B4-BE49-F238E27FC236}">
                  <a16:creationId xmlns:a16="http://schemas.microsoft.com/office/drawing/2014/main" id="{8014F400-5220-4C08-123F-57D5BDAA4940}"/>
                </a:ext>
              </a:extLst>
            </p:cNvPr>
            <p:cNvSpPr>
              <a:spLocks/>
            </p:cNvSpPr>
            <p:nvPr/>
          </p:nvSpPr>
          <p:spPr bwMode="auto">
            <a:xfrm>
              <a:off x="1907" y="2401"/>
              <a:ext cx="139" cy="73"/>
            </a:xfrm>
            <a:custGeom>
              <a:avLst/>
              <a:gdLst>
                <a:gd name="T0" fmla="*/ 2750315 w 84"/>
                <a:gd name="T1" fmla="*/ 94 h 63"/>
                <a:gd name="T2" fmla="*/ 2674282 w 84"/>
                <a:gd name="T3" fmla="*/ 109 h 63"/>
                <a:gd name="T4" fmla="*/ 2468110 w 84"/>
                <a:gd name="T5" fmla="*/ 247 h 63"/>
                <a:gd name="T6" fmla="*/ 1992016 w 84"/>
                <a:gd name="T7" fmla="*/ 394 h 63"/>
                <a:gd name="T8" fmla="*/ 1491520 w 84"/>
                <a:gd name="T9" fmla="*/ 530 h 63"/>
                <a:gd name="T10" fmla="*/ 941823 w 84"/>
                <a:gd name="T11" fmla="*/ 693 h 63"/>
                <a:gd name="T12" fmla="*/ 477822 w 84"/>
                <a:gd name="T13" fmla="*/ 854 h 63"/>
                <a:gd name="T14" fmla="*/ 68952 w 84"/>
                <a:gd name="T15" fmla="*/ 1078 h 63"/>
                <a:gd name="T16" fmla="*/ 0 w 84"/>
                <a:gd name="T17" fmla="*/ 1362 h 63"/>
                <a:gd name="T18" fmla="*/ 516999 w 84"/>
                <a:gd name="T19" fmla="*/ 1283 h 63"/>
                <a:gd name="T20" fmla="*/ 544701 w 84"/>
                <a:gd name="T21" fmla="*/ 1219 h 63"/>
                <a:gd name="T22" fmla="*/ 790682 w 84"/>
                <a:gd name="T23" fmla="*/ 1107 h 63"/>
                <a:gd name="T24" fmla="*/ 1203808 w 84"/>
                <a:gd name="T25" fmla="*/ 955 h 63"/>
                <a:gd name="T26" fmla="*/ 1732518 w 84"/>
                <a:gd name="T27" fmla="*/ 803 h 63"/>
                <a:gd name="T28" fmla="*/ 2275245 w 84"/>
                <a:gd name="T29" fmla="*/ 636 h 63"/>
                <a:gd name="T30" fmla="*/ 2750315 w 84"/>
                <a:gd name="T31" fmla="*/ 474 h 63"/>
                <a:gd name="T32" fmla="*/ 3123646 w 84"/>
                <a:gd name="T33" fmla="*/ 286 h 63"/>
                <a:gd name="T34" fmla="*/ 3252527 w 84"/>
                <a:gd name="T35" fmla="*/ 0 h 63"/>
                <a:gd name="T36" fmla="*/ 2750315 w 84"/>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1" y="18"/>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7" name="Freeform 141">
              <a:extLst>
                <a:ext uri="{FF2B5EF4-FFF2-40B4-BE49-F238E27FC236}">
                  <a16:creationId xmlns:a16="http://schemas.microsoft.com/office/drawing/2014/main" id="{DAD81F6E-FA8E-9D1B-8F06-FB264960577C}"/>
                </a:ext>
              </a:extLst>
            </p:cNvPr>
            <p:cNvSpPr>
              <a:spLocks/>
            </p:cNvSpPr>
            <p:nvPr/>
          </p:nvSpPr>
          <p:spPr bwMode="auto">
            <a:xfrm>
              <a:off x="1871" y="2374"/>
              <a:ext cx="175" cy="33"/>
            </a:xfrm>
            <a:custGeom>
              <a:avLst/>
              <a:gdLst>
                <a:gd name="T0" fmla="*/ 0 w 106"/>
                <a:gd name="T1" fmla="*/ 68 h 29"/>
                <a:gd name="T2" fmla="*/ 291842 w 106"/>
                <a:gd name="T3" fmla="*/ 207 h 29"/>
                <a:gd name="T4" fmla="*/ 795449 w 106"/>
                <a:gd name="T5" fmla="*/ 269 h 29"/>
                <a:gd name="T6" fmla="*/ 1328805 w 106"/>
                <a:gd name="T7" fmla="*/ 306 h 29"/>
                <a:gd name="T8" fmla="*/ 1941196 w 106"/>
                <a:gd name="T9" fmla="*/ 316 h 29"/>
                <a:gd name="T10" fmla="*/ 2508326 w 106"/>
                <a:gd name="T11" fmla="*/ 320 h 29"/>
                <a:gd name="T12" fmla="*/ 3033331 w 106"/>
                <a:gd name="T13" fmla="*/ 360 h 29"/>
                <a:gd name="T14" fmla="*/ 3369257 w 106"/>
                <a:gd name="T15" fmla="*/ 396 h 29"/>
                <a:gd name="T16" fmla="*/ 3435385 w 106"/>
                <a:gd name="T17" fmla="*/ 414 h 29"/>
                <a:gd name="T18" fmla="*/ 3917132 w 106"/>
                <a:gd name="T19" fmla="*/ 360 h 29"/>
                <a:gd name="T20" fmla="*/ 3621810 w 106"/>
                <a:gd name="T21" fmla="*/ 207 h 29"/>
                <a:gd name="T22" fmla="*/ 3136520 w 106"/>
                <a:gd name="T23" fmla="*/ 168 h 29"/>
                <a:gd name="T24" fmla="*/ 2573651 w 106"/>
                <a:gd name="T25" fmla="*/ 130 h 29"/>
                <a:gd name="T26" fmla="*/ 1984779 w 106"/>
                <a:gd name="T27" fmla="*/ 114 h 29"/>
                <a:gd name="T28" fmla="*/ 1427982 w 106"/>
                <a:gd name="T29" fmla="*/ 100 h 29"/>
                <a:gd name="T30" fmla="*/ 904506 w 106"/>
                <a:gd name="T31" fmla="*/ 77 h 29"/>
                <a:gd name="T32" fmla="*/ 563155 w 106"/>
                <a:gd name="T33" fmla="*/ 3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8"/>
                  </a:lnTo>
                  <a:lnTo>
                    <a:pt x="36" y="20"/>
                  </a:lnTo>
                  <a:lnTo>
                    <a:pt x="52" y="21"/>
                  </a:lnTo>
                  <a:lnTo>
                    <a:pt x="67" y="22"/>
                  </a:lnTo>
                  <a:lnTo>
                    <a:pt x="81" y="24"/>
                  </a:lnTo>
                  <a:lnTo>
                    <a:pt x="90" y="26"/>
                  </a:lnTo>
                  <a:lnTo>
                    <a:pt x="92" y="28"/>
                  </a:lnTo>
                  <a:lnTo>
                    <a:pt x="105" y="24"/>
                  </a:lnTo>
                  <a:lnTo>
                    <a:pt x="97" y="14"/>
                  </a:lnTo>
                  <a:lnTo>
                    <a:pt x="84" y="11"/>
                  </a:lnTo>
                  <a:lnTo>
                    <a:pt x="69" y="9"/>
                  </a:lnTo>
                  <a:lnTo>
                    <a:pt x="53" y="8"/>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8" name="Freeform 142">
              <a:extLst>
                <a:ext uri="{FF2B5EF4-FFF2-40B4-BE49-F238E27FC236}">
                  <a16:creationId xmlns:a16="http://schemas.microsoft.com/office/drawing/2014/main" id="{34DEF24D-CC27-61BF-060E-6D61EB8E1011}"/>
                </a:ext>
              </a:extLst>
            </p:cNvPr>
            <p:cNvSpPr>
              <a:spLocks/>
            </p:cNvSpPr>
            <p:nvPr/>
          </p:nvSpPr>
          <p:spPr bwMode="auto">
            <a:xfrm>
              <a:off x="1871" y="2306"/>
              <a:ext cx="137" cy="73"/>
            </a:xfrm>
            <a:custGeom>
              <a:avLst/>
              <a:gdLst>
                <a:gd name="T0" fmla="*/ 2566051 w 83"/>
                <a:gd name="T1" fmla="*/ 73 h 64"/>
                <a:gd name="T2" fmla="*/ 2519400 w 83"/>
                <a:gd name="T3" fmla="*/ 83 h 64"/>
                <a:gd name="T4" fmla="*/ 2289995 w 83"/>
                <a:gd name="T5" fmla="*/ 183 h 64"/>
                <a:gd name="T6" fmla="*/ 1894573 w 83"/>
                <a:gd name="T7" fmla="*/ 285 h 64"/>
                <a:gd name="T8" fmla="*/ 1423684 w 83"/>
                <a:gd name="T9" fmla="*/ 402 h 64"/>
                <a:gd name="T10" fmla="*/ 901473 w 83"/>
                <a:gd name="T11" fmla="*/ 518 h 64"/>
                <a:gd name="T12" fmla="*/ 446998 w 83"/>
                <a:gd name="T13" fmla="*/ 627 h 64"/>
                <a:gd name="T14" fmla="*/ 64690 w 83"/>
                <a:gd name="T15" fmla="*/ 792 h 64"/>
                <a:gd name="T16" fmla="*/ 0 w 83"/>
                <a:gd name="T17" fmla="*/ 1000 h 64"/>
                <a:gd name="T18" fmla="*/ 480180 w 83"/>
                <a:gd name="T19" fmla="*/ 931 h 64"/>
                <a:gd name="T20" fmla="*/ 522551 w 83"/>
                <a:gd name="T21" fmla="*/ 887 h 64"/>
                <a:gd name="T22" fmla="*/ 695387 w 83"/>
                <a:gd name="T23" fmla="*/ 811 h 64"/>
                <a:gd name="T24" fmla="*/ 1133388 w 83"/>
                <a:gd name="T25" fmla="*/ 694 h 64"/>
                <a:gd name="T26" fmla="*/ 1639289 w 83"/>
                <a:gd name="T27" fmla="*/ 591 h 64"/>
                <a:gd name="T28" fmla="*/ 2159391 w 83"/>
                <a:gd name="T29" fmla="*/ 459 h 64"/>
                <a:gd name="T30" fmla="*/ 2603804 w 83"/>
                <a:gd name="T31" fmla="*/ 325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49" name="Freeform 143">
              <a:extLst>
                <a:ext uri="{FF2B5EF4-FFF2-40B4-BE49-F238E27FC236}">
                  <a16:creationId xmlns:a16="http://schemas.microsoft.com/office/drawing/2014/main" id="{88D63C75-7543-31E4-932F-844883F70920}"/>
                </a:ext>
              </a:extLst>
            </p:cNvPr>
            <p:cNvSpPr>
              <a:spLocks/>
            </p:cNvSpPr>
            <p:nvPr/>
          </p:nvSpPr>
          <p:spPr bwMode="auto">
            <a:xfrm>
              <a:off x="1834" y="2221"/>
              <a:ext cx="174" cy="90"/>
            </a:xfrm>
            <a:custGeom>
              <a:avLst/>
              <a:gdLst>
                <a:gd name="T0" fmla="*/ 555905 w 105"/>
                <a:gd name="T1" fmla="*/ 851 h 79"/>
                <a:gd name="T2" fmla="*/ 42486 w 105"/>
                <a:gd name="T3" fmla="*/ 864 h 79"/>
                <a:gd name="T4" fmla="*/ 320394 w 105"/>
                <a:gd name="T5" fmla="*/ 1020 h 79"/>
                <a:gd name="T6" fmla="*/ 851120 w 105"/>
                <a:gd name="T7" fmla="*/ 1104 h 79"/>
                <a:gd name="T8" fmla="*/ 1485145 w 105"/>
                <a:gd name="T9" fmla="*/ 1108 h 79"/>
                <a:gd name="T10" fmla="*/ 2150963 w 105"/>
                <a:gd name="T11" fmla="*/ 1121 h 79"/>
                <a:gd name="T12" fmla="*/ 2706298 w 105"/>
                <a:gd name="T13" fmla="*/ 1121 h 79"/>
                <a:gd name="T14" fmla="*/ 3269143 w 105"/>
                <a:gd name="T15" fmla="*/ 1135 h 79"/>
                <a:gd name="T16" fmla="*/ 3587389 w 105"/>
                <a:gd name="T17" fmla="*/ 1176 h 79"/>
                <a:gd name="T18" fmla="*/ 3677016 w 105"/>
                <a:gd name="T19" fmla="*/ 1204 h 79"/>
                <a:gd name="T20" fmla="*/ 4192184 w 105"/>
                <a:gd name="T21" fmla="*/ 1135 h 79"/>
                <a:gd name="T22" fmla="*/ 3825019 w 105"/>
                <a:gd name="T23" fmla="*/ 984 h 79"/>
                <a:gd name="T24" fmla="*/ 3367531 w 105"/>
                <a:gd name="T25" fmla="*/ 942 h 79"/>
                <a:gd name="T26" fmla="*/ 2755964 w 105"/>
                <a:gd name="T27" fmla="*/ 924 h 79"/>
                <a:gd name="T28" fmla="*/ 2150963 w 105"/>
                <a:gd name="T29" fmla="*/ 895 h 79"/>
                <a:gd name="T30" fmla="*/ 1485145 w 105"/>
                <a:gd name="T31" fmla="*/ 906 h 79"/>
                <a:gd name="T32" fmla="*/ 970032 w 105"/>
                <a:gd name="T33" fmla="*/ 895 h 79"/>
                <a:gd name="T34" fmla="*/ 663081 w 105"/>
                <a:gd name="T35" fmla="*/ 854 h 79"/>
                <a:gd name="T36" fmla="*/ 555905 w 105"/>
                <a:gd name="T37" fmla="*/ 795 h 79"/>
                <a:gd name="T38" fmla="*/ 0 w 105"/>
                <a:gd name="T39" fmla="*/ 851 h 79"/>
                <a:gd name="T40" fmla="*/ 555905 w 105"/>
                <a:gd name="T41" fmla="*/ 795 h 79"/>
                <a:gd name="T42" fmla="*/ 0 w 105"/>
                <a:gd name="T43" fmla="*/ 0 h 79"/>
                <a:gd name="T44" fmla="*/ 0 w 105"/>
                <a:gd name="T45" fmla="*/ 851 h 79"/>
                <a:gd name="T46" fmla="*/ 555905 w 105"/>
                <a:gd name="T47" fmla="*/ 851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1" y="56"/>
                  </a:lnTo>
                  <a:lnTo>
                    <a:pt x="8" y="66"/>
                  </a:lnTo>
                  <a:lnTo>
                    <a:pt x="21" y="71"/>
                  </a:lnTo>
                  <a:lnTo>
                    <a:pt x="37" y="72"/>
                  </a:lnTo>
                  <a:lnTo>
                    <a:pt x="53" y="73"/>
                  </a:lnTo>
                  <a:lnTo>
                    <a:pt x="67" y="73"/>
                  </a:lnTo>
                  <a:lnTo>
                    <a:pt x="81" y="74"/>
                  </a:lnTo>
                  <a:lnTo>
                    <a:pt x="89" y="76"/>
                  </a:lnTo>
                  <a:lnTo>
                    <a:pt x="91" y="78"/>
                  </a:lnTo>
                  <a:lnTo>
                    <a:pt x="104" y="74"/>
                  </a:lnTo>
                  <a:lnTo>
                    <a:pt x="95" y="64"/>
                  </a:lnTo>
                  <a:lnTo>
                    <a:pt x="83" y="61"/>
                  </a:lnTo>
                  <a:lnTo>
                    <a:pt x="68" y="60"/>
                  </a:lnTo>
                  <a:lnTo>
                    <a:pt x="53" y="58"/>
                  </a:lnTo>
                  <a:lnTo>
                    <a:pt x="37" y="59"/>
                  </a:lnTo>
                  <a:lnTo>
                    <a:pt x="24" y="58"/>
                  </a:lnTo>
                  <a:lnTo>
                    <a:pt x="16" y="55"/>
                  </a:lnTo>
                  <a:lnTo>
                    <a:pt x="14" y="52"/>
                  </a:lnTo>
                  <a:lnTo>
                    <a:pt x="0" y="54"/>
                  </a:lnTo>
                  <a:lnTo>
                    <a:pt x="14"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0" name="Freeform 144">
              <a:extLst>
                <a:ext uri="{FF2B5EF4-FFF2-40B4-BE49-F238E27FC236}">
                  <a16:creationId xmlns:a16="http://schemas.microsoft.com/office/drawing/2014/main" id="{FED31D8E-D232-AF26-9859-F4488799CC64}"/>
                </a:ext>
              </a:extLst>
            </p:cNvPr>
            <p:cNvSpPr>
              <a:spLocks/>
            </p:cNvSpPr>
            <p:nvPr/>
          </p:nvSpPr>
          <p:spPr bwMode="auto">
            <a:xfrm>
              <a:off x="1834" y="2281"/>
              <a:ext cx="27" cy="56"/>
            </a:xfrm>
            <a:custGeom>
              <a:avLst/>
              <a:gdLst>
                <a:gd name="T0" fmla="*/ 62006 w 16"/>
                <a:gd name="T1" fmla="*/ 120 h 48"/>
                <a:gd name="T2" fmla="*/ 879388 w 16"/>
                <a:gd name="T3" fmla="*/ 2 h 48"/>
                <a:gd name="T4" fmla="*/ 879388 w 16"/>
                <a:gd name="T5" fmla="*/ 1 h 48"/>
                <a:gd name="T6" fmla="*/ 0 w 16"/>
                <a:gd name="T7" fmla="*/ 1 h 48"/>
                <a:gd name="T8" fmla="*/ 0 w 16"/>
                <a:gd name="T9" fmla="*/ 2 h 48"/>
                <a:gd name="T10" fmla="*/ 824491 w 16"/>
                <a:gd name="T11" fmla="*/ 0 h 48"/>
                <a:gd name="T12" fmla="*/ 62006 w 16"/>
                <a:gd name="T13" fmla="*/ 120 h 48"/>
                <a:gd name="T14" fmla="*/ 879388 w 16"/>
                <a:gd name="T15" fmla="*/ 1210 h 48"/>
                <a:gd name="T16" fmla="*/ 879388 w 16"/>
                <a:gd name="T17" fmla="*/ 2 h 48"/>
                <a:gd name="T18" fmla="*/ 62006 w 16"/>
                <a:gd name="T19" fmla="*/ 12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48"/>
                <a:gd name="T32" fmla="*/ 16 w 1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48">
                  <a:moveTo>
                    <a:pt x="1" y="4"/>
                  </a:moveTo>
                  <a:lnTo>
                    <a:pt x="15" y="2"/>
                  </a:lnTo>
                  <a:lnTo>
                    <a:pt x="15" y="1"/>
                  </a:lnTo>
                  <a:lnTo>
                    <a:pt x="0" y="1"/>
                  </a:lnTo>
                  <a:lnTo>
                    <a:pt x="0" y="2"/>
                  </a:lnTo>
                  <a:lnTo>
                    <a:pt x="14" y="0"/>
                  </a:lnTo>
                  <a:lnTo>
                    <a:pt x="1" y="4"/>
                  </a:lnTo>
                  <a:lnTo>
                    <a:pt x="15" y="47"/>
                  </a:lnTo>
                  <a:lnTo>
                    <a:pt x="15" y="2"/>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1" name="Freeform 145">
              <a:extLst>
                <a:ext uri="{FF2B5EF4-FFF2-40B4-BE49-F238E27FC236}">
                  <a16:creationId xmlns:a16="http://schemas.microsoft.com/office/drawing/2014/main" id="{2C9AD1ED-2902-A507-A48A-233F678CA34C}"/>
                </a:ext>
              </a:extLst>
            </p:cNvPr>
            <p:cNvSpPr>
              <a:spLocks/>
            </p:cNvSpPr>
            <p:nvPr/>
          </p:nvSpPr>
          <p:spPr bwMode="auto">
            <a:xfrm>
              <a:off x="1836" y="2216"/>
              <a:ext cx="136" cy="72"/>
            </a:xfrm>
            <a:custGeom>
              <a:avLst/>
              <a:gdLst>
                <a:gd name="T0" fmla="*/ 2195491 w 83"/>
                <a:gd name="T1" fmla="*/ 101 h 62"/>
                <a:gd name="T2" fmla="*/ 2160471 w 83"/>
                <a:gd name="T3" fmla="*/ 117 h 62"/>
                <a:gd name="T4" fmla="*/ 2008007 w 83"/>
                <a:gd name="T5" fmla="*/ 213 h 62"/>
                <a:gd name="T6" fmla="*/ 1636031 w 83"/>
                <a:gd name="T7" fmla="*/ 333 h 62"/>
                <a:gd name="T8" fmla="*/ 1191799 w 83"/>
                <a:gd name="T9" fmla="*/ 459 h 62"/>
                <a:gd name="T10" fmla="*/ 705219 w 83"/>
                <a:gd name="T11" fmla="*/ 619 h 62"/>
                <a:gd name="T12" fmla="*/ 296288 w 83"/>
                <a:gd name="T13" fmla="*/ 816 h 62"/>
                <a:gd name="T14" fmla="*/ 0 w 83"/>
                <a:gd name="T15" fmla="*/ 1071 h 62"/>
                <a:gd name="T16" fmla="*/ 0 w 83"/>
                <a:gd name="T17" fmla="*/ 1410 h 62"/>
                <a:gd name="T18" fmla="*/ 407626 w 83"/>
                <a:gd name="T19" fmla="*/ 1308 h 62"/>
                <a:gd name="T20" fmla="*/ 407626 w 83"/>
                <a:gd name="T21" fmla="*/ 1168 h 62"/>
                <a:gd name="T22" fmla="*/ 570173 w 83"/>
                <a:gd name="T23" fmla="*/ 1029 h 62"/>
                <a:gd name="T24" fmla="*/ 934259 w 83"/>
                <a:gd name="T25" fmla="*/ 866 h 62"/>
                <a:gd name="T26" fmla="*/ 1362595 w 83"/>
                <a:gd name="T27" fmla="*/ 746 h 62"/>
                <a:gd name="T28" fmla="*/ 1793263 w 83"/>
                <a:gd name="T29" fmla="*/ 619 h 62"/>
                <a:gd name="T30" fmla="*/ 2195491 w 83"/>
                <a:gd name="T31" fmla="*/ 476 h 62"/>
                <a:gd name="T32" fmla="*/ 2508355 w 83"/>
                <a:gd name="T33" fmla="*/ 293 h 62"/>
                <a:gd name="T34" fmla="*/ 2609697 w 83"/>
                <a:gd name="T35" fmla="*/ 0 h 62"/>
                <a:gd name="T36" fmla="*/ 2195491 w 83"/>
                <a:gd name="T37" fmla="*/ 10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2"/>
                <a:gd name="T59" fmla="*/ 83 w 83"/>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2">
                  <a:moveTo>
                    <a:pt x="69" y="4"/>
                  </a:moveTo>
                  <a:lnTo>
                    <a:pt x="68" y="5"/>
                  </a:lnTo>
                  <a:lnTo>
                    <a:pt x="63" y="9"/>
                  </a:lnTo>
                  <a:lnTo>
                    <a:pt x="51" y="14"/>
                  </a:lnTo>
                  <a:lnTo>
                    <a:pt x="37" y="20"/>
                  </a:lnTo>
                  <a:lnTo>
                    <a:pt x="22" y="27"/>
                  </a:lnTo>
                  <a:lnTo>
                    <a:pt x="9" y="35"/>
                  </a:lnTo>
                  <a:lnTo>
                    <a:pt x="0" y="46"/>
                  </a:lnTo>
                  <a:lnTo>
                    <a:pt x="0" y="61"/>
                  </a:lnTo>
                  <a:lnTo>
                    <a:pt x="13" y="57"/>
                  </a:lnTo>
                  <a:lnTo>
                    <a:pt x="13" y="51"/>
                  </a:lnTo>
                  <a:lnTo>
                    <a:pt x="18" y="45"/>
                  </a:lnTo>
                  <a:lnTo>
                    <a:pt x="29" y="38"/>
                  </a:lnTo>
                  <a:lnTo>
                    <a:pt x="43" y="33"/>
                  </a:lnTo>
                  <a:lnTo>
                    <a:pt x="56" y="27"/>
                  </a:lnTo>
                  <a:lnTo>
                    <a:pt x="69"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2" name="Freeform 146">
              <a:extLst>
                <a:ext uri="{FF2B5EF4-FFF2-40B4-BE49-F238E27FC236}">
                  <a16:creationId xmlns:a16="http://schemas.microsoft.com/office/drawing/2014/main" id="{BDB2ED60-F7FD-3FFE-EC65-41581CCF2591}"/>
                </a:ext>
              </a:extLst>
            </p:cNvPr>
            <p:cNvSpPr>
              <a:spLocks/>
            </p:cNvSpPr>
            <p:nvPr/>
          </p:nvSpPr>
          <p:spPr bwMode="auto">
            <a:xfrm>
              <a:off x="1799" y="2188"/>
              <a:ext cx="173" cy="34"/>
            </a:xfrm>
            <a:custGeom>
              <a:avLst/>
              <a:gdLst>
                <a:gd name="T0" fmla="*/ 0 w 106"/>
                <a:gd name="T1" fmla="*/ 61 h 30"/>
                <a:gd name="T2" fmla="*/ 228735 w 106"/>
                <a:gd name="T3" fmla="*/ 206 h 30"/>
                <a:gd name="T4" fmla="*/ 609275 w 106"/>
                <a:gd name="T5" fmla="*/ 239 h 30"/>
                <a:gd name="T6" fmla="*/ 1059028 w 106"/>
                <a:gd name="T7" fmla="*/ 271 h 30"/>
                <a:gd name="T8" fmla="*/ 1530828 w 106"/>
                <a:gd name="T9" fmla="*/ 299 h 30"/>
                <a:gd name="T10" fmla="*/ 1964446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41860 w 106"/>
                <a:gd name="T21" fmla="*/ 206 h 30"/>
                <a:gd name="T22" fmla="*/ 2468792 w 106"/>
                <a:gd name="T23" fmla="*/ 145 h 30"/>
                <a:gd name="T24" fmla="*/ 2027495 w 106"/>
                <a:gd name="T25" fmla="*/ 113 h 30"/>
                <a:gd name="T26" fmla="*/ 1568018 w 106"/>
                <a:gd name="T27" fmla="*/ 113 h 30"/>
                <a:gd name="T28" fmla="*/ 111213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5"/>
                  </a:lnTo>
                  <a:lnTo>
                    <a:pt x="21" y="18"/>
                  </a:lnTo>
                  <a:lnTo>
                    <a:pt x="36" y="20"/>
                  </a:lnTo>
                  <a:lnTo>
                    <a:pt x="52" y="22"/>
                  </a:lnTo>
                  <a:lnTo>
                    <a:pt x="67" y="22"/>
                  </a:lnTo>
                  <a:lnTo>
                    <a:pt x="81" y="24"/>
                  </a:lnTo>
                  <a:lnTo>
                    <a:pt x="90" y="27"/>
                  </a:lnTo>
                  <a:lnTo>
                    <a:pt x="92" y="29"/>
                  </a:lnTo>
                  <a:lnTo>
                    <a:pt x="105" y="25"/>
                  </a:lnTo>
                  <a:lnTo>
                    <a:pt x="97" y="15"/>
                  </a:lnTo>
                  <a:lnTo>
                    <a:pt x="84" y="11"/>
                  </a:lnTo>
                  <a:lnTo>
                    <a:pt x="69" y="9"/>
                  </a:lnTo>
                  <a:lnTo>
                    <a:pt x="53" y="9"/>
                  </a:lnTo>
                  <a:lnTo>
                    <a:pt x="38"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3" name="Freeform 147">
              <a:extLst>
                <a:ext uri="{FF2B5EF4-FFF2-40B4-BE49-F238E27FC236}">
                  <a16:creationId xmlns:a16="http://schemas.microsoft.com/office/drawing/2014/main" id="{E930C983-B821-21AE-A7BA-A7664DFF7F14}"/>
                </a:ext>
              </a:extLst>
            </p:cNvPr>
            <p:cNvSpPr>
              <a:spLocks/>
            </p:cNvSpPr>
            <p:nvPr/>
          </p:nvSpPr>
          <p:spPr bwMode="auto">
            <a:xfrm>
              <a:off x="1799" y="2121"/>
              <a:ext cx="138" cy="72"/>
            </a:xfrm>
            <a:custGeom>
              <a:avLst/>
              <a:gdLst>
                <a:gd name="T0" fmla="*/ 2353327 w 84"/>
                <a:gd name="T1" fmla="*/ 73 h 63"/>
                <a:gd name="T2" fmla="*/ 2325254 w 84"/>
                <a:gd name="T3" fmla="*/ 83 h 63"/>
                <a:gd name="T4" fmla="*/ 2114707 w 84"/>
                <a:gd name="T5" fmla="*/ 186 h 63"/>
                <a:gd name="T6" fmla="*/ 1748426 w 84"/>
                <a:gd name="T7" fmla="*/ 278 h 63"/>
                <a:gd name="T8" fmla="*/ 1275230 w 84"/>
                <a:gd name="T9" fmla="*/ 394 h 63"/>
                <a:gd name="T10" fmla="*/ 797119 w 84"/>
                <a:gd name="T11" fmla="*/ 530 h 63"/>
                <a:gd name="T12" fmla="*/ 410755 w 84"/>
                <a:gd name="T13" fmla="*/ 637 h 63"/>
                <a:gd name="T14" fmla="*/ 60339 w 84"/>
                <a:gd name="T15" fmla="*/ 808 h 63"/>
                <a:gd name="T16" fmla="*/ 0 w 84"/>
                <a:gd name="T17" fmla="*/ 1032 h 63"/>
                <a:gd name="T18" fmla="*/ 439537 w 84"/>
                <a:gd name="T19" fmla="*/ 951 h 63"/>
                <a:gd name="T20" fmla="*/ 472486 w 84"/>
                <a:gd name="T21" fmla="*/ 923 h 63"/>
                <a:gd name="T22" fmla="*/ 674812 w 84"/>
                <a:gd name="T23" fmla="*/ 823 h 63"/>
                <a:gd name="T24" fmla="*/ 1050389 w 84"/>
                <a:gd name="T25" fmla="*/ 707 h 63"/>
                <a:gd name="T26" fmla="*/ 1524090 w 84"/>
                <a:gd name="T27" fmla="*/ 605 h 63"/>
                <a:gd name="T28" fmla="*/ 1948925 w 84"/>
                <a:gd name="T29" fmla="*/ 474 h 63"/>
                <a:gd name="T30" fmla="*/ 2396631 w 84"/>
                <a:gd name="T31" fmla="*/ 345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5" y="36"/>
                  </a:lnTo>
                  <a:lnTo>
                    <a:pt x="58" y="29"/>
                  </a:lnTo>
                  <a:lnTo>
                    <a:pt x="71"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4" name="Freeform 148">
              <a:extLst>
                <a:ext uri="{FF2B5EF4-FFF2-40B4-BE49-F238E27FC236}">
                  <a16:creationId xmlns:a16="http://schemas.microsoft.com/office/drawing/2014/main" id="{10F1E9A6-B694-EDCB-D1FD-FC54D73C3121}"/>
                </a:ext>
              </a:extLst>
            </p:cNvPr>
            <p:cNvSpPr>
              <a:spLocks/>
            </p:cNvSpPr>
            <p:nvPr/>
          </p:nvSpPr>
          <p:spPr bwMode="auto">
            <a:xfrm>
              <a:off x="1762" y="2096"/>
              <a:ext cx="175" cy="29"/>
            </a:xfrm>
            <a:custGeom>
              <a:avLst/>
              <a:gdLst>
                <a:gd name="T0" fmla="*/ 0 w 106"/>
                <a:gd name="T1" fmla="*/ 2 h 25"/>
                <a:gd name="T2" fmla="*/ 39284 w 106"/>
                <a:gd name="T3" fmla="*/ 101 h 25"/>
                <a:gd name="T4" fmla="*/ 379656 w 106"/>
                <a:gd name="T5" fmla="*/ 291 h 25"/>
                <a:gd name="T6" fmla="*/ 804876 w 106"/>
                <a:gd name="T7" fmla="*/ 338 h 25"/>
                <a:gd name="T8" fmla="*/ 1389091 w 106"/>
                <a:gd name="T9" fmla="*/ 384 h 25"/>
                <a:gd name="T10" fmla="*/ 1941196 w 106"/>
                <a:gd name="T11" fmla="*/ 392 h 25"/>
                <a:gd name="T12" fmla="*/ 2534104 w 106"/>
                <a:gd name="T13" fmla="*/ 392 h 25"/>
                <a:gd name="T14" fmla="*/ 3033331 w 106"/>
                <a:gd name="T15" fmla="*/ 394 h 25"/>
                <a:gd name="T16" fmla="*/ 3369257 w 106"/>
                <a:gd name="T17" fmla="*/ 516 h 25"/>
                <a:gd name="T18" fmla="*/ 3435385 w 106"/>
                <a:gd name="T19" fmla="*/ 530 h 25"/>
                <a:gd name="T20" fmla="*/ 3917132 w 106"/>
                <a:gd name="T21" fmla="*/ 455 h 25"/>
                <a:gd name="T22" fmla="*/ 3579389 w 106"/>
                <a:gd name="T23" fmla="*/ 246 h 25"/>
                <a:gd name="T24" fmla="*/ 3097518 w 106"/>
                <a:gd name="T25" fmla="*/ 136 h 25"/>
                <a:gd name="T26" fmla="*/ 2573651 w 106"/>
                <a:gd name="T27" fmla="*/ 101 h 25"/>
                <a:gd name="T28" fmla="*/ 1941196 w 106"/>
                <a:gd name="T29" fmla="*/ 101 h 25"/>
                <a:gd name="T30" fmla="*/ 1389091 w 106"/>
                <a:gd name="T31" fmla="*/ 3 h 25"/>
                <a:gd name="T32" fmla="*/ 904506 w 106"/>
                <a:gd name="T33" fmla="*/ 2 h 25"/>
                <a:gd name="T34" fmla="*/ 563155 w 106"/>
                <a:gd name="T35" fmla="*/ 0 h 25"/>
                <a:gd name="T36" fmla="*/ 523912 w 106"/>
                <a:gd name="T37" fmla="*/ 0 h 25"/>
                <a:gd name="T38" fmla="*/ 563155 w 106"/>
                <a:gd name="T39" fmla="*/ 2 h 25"/>
                <a:gd name="T40" fmla="*/ 0 w 106"/>
                <a:gd name="T41" fmla="*/ 2 h 25"/>
                <a:gd name="T42" fmla="*/ 39284 w 106"/>
                <a:gd name="T43" fmla="*/ 2 h 25"/>
                <a:gd name="T44" fmla="*/ 39284 w 106"/>
                <a:gd name="T45" fmla="*/ 101 h 25"/>
                <a:gd name="T46" fmla="*/ 0 w 106"/>
                <a:gd name="T47" fmla="*/ 2 h 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6"/>
                <a:gd name="T73" fmla="*/ 0 h 25"/>
                <a:gd name="T74" fmla="*/ 106 w 106"/>
                <a:gd name="T75" fmla="*/ 25 h 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6" h="25">
                  <a:moveTo>
                    <a:pt x="0" y="2"/>
                  </a:moveTo>
                  <a:lnTo>
                    <a:pt x="1" y="4"/>
                  </a:lnTo>
                  <a:lnTo>
                    <a:pt x="10" y="13"/>
                  </a:lnTo>
                  <a:lnTo>
                    <a:pt x="22" y="15"/>
                  </a:lnTo>
                  <a:lnTo>
                    <a:pt x="37" y="16"/>
                  </a:lnTo>
                  <a:lnTo>
                    <a:pt x="52" y="17"/>
                  </a:lnTo>
                  <a:lnTo>
                    <a:pt x="68" y="17"/>
                  </a:lnTo>
                  <a:lnTo>
                    <a:pt x="81" y="18"/>
                  </a:lnTo>
                  <a:lnTo>
                    <a:pt x="90" y="22"/>
                  </a:lnTo>
                  <a:lnTo>
                    <a:pt x="92" y="24"/>
                  </a:lnTo>
                  <a:lnTo>
                    <a:pt x="105" y="20"/>
                  </a:lnTo>
                  <a:lnTo>
                    <a:pt x="96" y="10"/>
                  </a:lnTo>
                  <a:lnTo>
                    <a:pt x="83" y="6"/>
                  </a:lnTo>
                  <a:lnTo>
                    <a:pt x="69" y="4"/>
                  </a:lnTo>
                  <a:lnTo>
                    <a:pt x="52" y="4"/>
                  </a:lnTo>
                  <a:lnTo>
                    <a:pt x="37" y="3"/>
                  </a:lnTo>
                  <a:lnTo>
                    <a:pt x="24" y="2"/>
                  </a:lnTo>
                  <a:lnTo>
                    <a:pt x="15" y="0"/>
                  </a:lnTo>
                  <a:lnTo>
                    <a:pt x="14" y="0"/>
                  </a:lnTo>
                  <a:lnTo>
                    <a:pt x="15" y="2"/>
                  </a:lnTo>
                  <a:lnTo>
                    <a:pt x="0" y="2"/>
                  </a:lnTo>
                  <a:lnTo>
                    <a:pt x="1" y="2"/>
                  </a:lnTo>
                  <a:lnTo>
                    <a:pt x="1" y="4"/>
                  </a:lnTo>
                  <a:lnTo>
                    <a:pt x="0"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5" name="Freeform 149">
              <a:extLst>
                <a:ext uri="{FF2B5EF4-FFF2-40B4-BE49-F238E27FC236}">
                  <a16:creationId xmlns:a16="http://schemas.microsoft.com/office/drawing/2014/main" id="{C8F8E28C-EAEB-DAE8-F0A6-F87DBC9F102E}"/>
                </a:ext>
              </a:extLst>
            </p:cNvPr>
            <p:cNvSpPr>
              <a:spLocks/>
            </p:cNvSpPr>
            <p:nvPr/>
          </p:nvSpPr>
          <p:spPr bwMode="auto">
            <a:xfrm>
              <a:off x="1762" y="2096"/>
              <a:ext cx="25" cy="6"/>
            </a:xfrm>
            <a:custGeom>
              <a:avLst/>
              <a:gdLst>
                <a:gd name="T0" fmla="*/ 0 w 15"/>
                <a:gd name="T1" fmla="*/ 179 h 5"/>
                <a:gd name="T2" fmla="*/ 0 w 15"/>
                <a:gd name="T3" fmla="*/ 2 h 5"/>
                <a:gd name="T4" fmla="*/ 0 w 15"/>
                <a:gd name="T5" fmla="*/ 149 h 5"/>
                <a:gd name="T6" fmla="*/ 621467 w 15"/>
                <a:gd name="T7" fmla="*/ 14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3"/>
                  </a:lnTo>
                  <a:lnTo>
                    <a:pt x="14" y="3"/>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6" name="Freeform 150">
              <a:extLst>
                <a:ext uri="{FF2B5EF4-FFF2-40B4-BE49-F238E27FC236}">
                  <a16:creationId xmlns:a16="http://schemas.microsoft.com/office/drawing/2014/main" id="{83D772D6-CBF4-56AD-654E-F517B8A02D0D}"/>
                </a:ext>
              </a:extLst>
            </p:cNvPr>
            <p:cNvSpPr>
              <a:spLocks/>
            </p:cNvSpPr>
            <p:nvPr/>
          </p:nvSpPr>
          <p:spPr bwMode="auto">
            <a:xfrm>
              <a:off x="1763" y="2028"/>
              <a:ext cx="134" cy="74"/>
            </a:xfrm>
            <a:custGeom>
              <a:avLst/>
              <a:gdLst>
                <a:gd name="T0" fmla="*/ 2617430 w 81"/>
                <a:gd name="T1" fmla="*/ 93 h 64"/>
                <a:gd name="T2" fmla="*/ 2567830 w 81"/>
                <a:gd name="T3" fmla="*/ 145 h 64"/>
                <a:gd name="T4" fmla="*/ 2331846 w 81"/>
                <a:gd name="T5" fmla="*/ 259 h 64"/>
                <a:gd name="T6" fmla="*/ 1957614 w 81"/>
                <a:gd name="T7" fmla="*/ 435 h 64"/>
                <a:gd name="T8" fmla="*/ 1438593 w 81"/>
                <a:gd name="T9" fmla="*/ 582 h 64"/>
                <a:gd name="T10" fmla="*/ 938268 w 81"/>
                <a:gd name="T11" fmla="*/ 716 h 64"/>
                <a:gd name="T12" fmla="*/ 475903 w 81"/>
                <a:gd name="T13" fmla="*/ 900 h 64"/>
                <a:gd name="T14" fmla="*/ 113758 w 81"/>
                <a:gd name="T15" fmla="*/ 1059 h 64"/>
                <a:gd name="T16" fmla="*/ 0 w 81"/>
                <a:gd name="T17" fmla="*/ 1319 h 64"/>
                <a:gd name="T18" fmla="*/ 515040 w 81"/>
                <a:gd name="T19" fmla="*/ 1234 h 64"/>
                <a:gd name="T20" fmla="*/ 541520 w 81"/>
                <a:gd name="T21" fmla="*/ 1224 h 64"/>
                <a:gd name="T22" fmla="*/ 723636 w 81"/>
                <a:gd name="T23" fmla="*/ 1129 h 64"/>
                <a:gd name="T24" fmla="*/ 1183334 w 81"/>
                <a:gd name="T25" fmla="*/ 976 h 64"/>
                <a:gd name="T26" fmla="*/ 1669796 w 81"/>
                <a:gd name="T27" fmla="*/ 828 h 64"/>
                <a:gd name="T28" fmla="*/ 2221424 w 81"/>
                <a:gd name="T29" fmla="*/ 673 h 64"/>
                <a:gd name="T30" fmla="*/ 2697708 w 81"/>
                <a:gd name="T31" fmla="*/ 503 h 64"/>
                <a:gd name="T32" fmla="*/ 3029758 w 81"/>
                <a:gd name="T33" fmla="*/ 281 h 64"/>
                <a:gd name="T34" fmla="*/ 3108525 w 81"/>
                <a:gd name="T35" fmla="*/ 0 h 64"/>
                <a:gd name="T36" fmla="*/ 2617430 w 81"/>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4"/>
                <a:gd name="T59" fmla="*/ 81 w 81"/>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4">
                  <a:moveTo>
                    <a:pt x="67" y="4"/>
                  </a:moveTo>
                  <a:lnTo>
                    <a:pt x="66" y="7"/>
                  </a:lnTo>
                  <a:lnTo>
                    <a:pt x="60" y="12"/>
                  </a:lnTo>
                  <a:lnTo>
                    <a:pt x="50" y="20"/>
                  </a:lnTo>
                  <a:lnTo>
                    <a:pt x="37" y="27"/>
                  </a:lnTo>
                  <a:lnTo>
                    <a:pt x="24" y="34"/>
                  </a:lnTo>
                  <a:lnTo>
                    <a:pt x="12" y="42"/>
                  </a:lnTo>
                  <a:lnTo>
                    <a:pt x="3" y="50"/>
                  </a:lnTo>
                  <a:lnTo>
                    <a:pt x="0" y="63"/>
                  </a:lnTo>
                  <a:lnTo>
                    <a:pt x="13" y="59"/>
                  </a:lnTo>
                  <a:lnTo>
                    <a:pt x="14" y="58"/>
                  </a:lnTo>
                  <a:lnTo>
                    <a:pt x="19" y="53"/>
                  </a:lnTo>
                  <a:lnTo>
                    <a:pt x="30" y="46"/>
                  </a:lnTo>
                  <a:lnTo>
                    <a:pt x="43" y="39"/>
                  </a:lnTo>
                  <a:lnTo>
                    <a:pt x="57" y="31"/>
                  </a:lnTo>
                  <a:lnTo>
                    <a:pt x="69"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7" name="Freeform 151">
              <a:extLst>
                <a:ext uri="{FF2B5EF4-FFF2-40B4-BE49-F238E27FC236}">
                  <a16:creationId xmlns:a16="http://schemas.microsoft.com/office/drawing/2014/main" id="{070FF81A-1878-6E8F-57EE-2462DD6AFB2B}"/>
                </a:ext>
              </a:extLst>
            </p:cNvPr>
            <p:cNvSpPr>
              <a:spLocks/>
            </p:cNvSpPr>
            <p:nvPr/>
          </p:nvSpPr>
          <p:spPr bwMode="auto">
            <a:xfrm>
              <a:off x="1724" y="1999"/>
              <a:ext cx="173" cy="35"/>
            </a:xfrm>
            <a:custGeom>
              <a:avLst/>
              <a:gdLst>
                <a:gd name="T0" fmla="*/ 0 w 105"/>
                <a:gd name="T1" fmla="*/ 120 h 30"/>
                <a:gd name="T2" fmla="*/ 282272 w 105"/>
                <a:gd name="T3" fmla="*/ 352 h 30"/>
                <a:gd name="T4" fmla="*/ 766270 w 105"/>
                <a:gd name="T5" fmla="*/ 429 h 30"/>
                <a:gd name="T6" fmla="*/ 1283006 w 105"/>
                <a:gd name="T7" fmla="*/ 488 h 30"/>
                <a:gd name="T8" fmla="*/ 1816719 w 105"/>
                <a:gd name="T9" fmla="*/ 501 h 30"/>
                <a:gd name="T10" fmla="*/ 2385467 w 105"/>
                <a:gd name="T11" fmla="*/ 560 h 30"/>
                <a:gd name="T12" fmla="*/ 2865936 w 105"/>
                <a:gd name="T13" fmla="*/ 585 h 30"/>
                <a:gd name="T14" fmla="*/ 3152065 w 105"/>
                <a:gd name="T15" fmla="*/ 664 h 30"/>
                <a:gd name="T16" fmla="*/ 3261172 w 105"/>
                <a:gd name="T17" fmla="*/ 762 h 30"/>
                <a:gd name="T18" fmla="*/ 3721278 w 105"/>
                <a:gd name="T19" fmla="*/ 653 h 30"/>
                <a:gd name="T20" fmla="*/ 3427301 w 105"/>
                <a:gd name="T21" fmla="*/ 411 h 30"/>
                <a:gd name="T22" fmla="*/ 2979100 w 105"/>
                <a:gd name="T23" fmla="*/ 263 h 30"/>
                <a:gd name="T24" fmla="*/ 2445765 w 105"/>
                <a:gd name="T25" fmla="*/ 222 h 30"/>
                <a:gd name="T26" fmla="*/ 1875692 w 105"/>
                <a:gd name="T27" fmla="*/ 190 h 30"/>
                <a:gd name="T28" fmla="*/ 1329942 w 105"/>
                <a:gd name="T29" fmla="*/ 163 h 30"/>
                <a:gd name="T30" fmla="*/ 831997 w 105"/>
                <a:gd name="T31" fmla="*/ 120 h 30"/>
                <a:gd name="T32" fmla="*/ 546820 w 105"/>
                <a:gd name="T33" fmla="*/ 2 h 30"/>
                <a:gd name="T34" fmla="*/ 465077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3"/>
                  </a:lnTo>
                  <a:lnTo>
                    <a:pt x="21" y="17"/>
                  </a:lnTo>
                  <a:lnTo>
                    <a:pt x="36" y="19"/>
                  </a:lnTo>
                  <a:lnTo>
                    <a:pt x="51" y="20"/>
                  </a:lnTo>
                  <a:lnTo>
                    <a:pt x="67" y="21"/>
                  </a:lnTo>
                  <a:lnTo>
                    <a:pt x="80" y="23"/>
                  </a:lnTo>
                  <a:lnTo>
                    <a:pt x="88" y="26"/>
                  </a:lnTo>
                  <a:lnTo>
                    <a:pt x="91" y="29"/>
                  </a:lnTo>
                  <a:lnTo>
                    <a:pt x="104" y="25"/>
                  </a:lnTo>
                  <a:lnTo>
                    <a:pt x="96" y="15"/>
                  </a:lnTo>
                  <a:lnTo>
                    <a:pt x="83" y="10"/>
                  </a:lnTo>
                  <a:lnTo>
                    <a:pt x="68"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8" name="Freeform 152">
              <a:extLst>
                <a:ext uri="{FF2B5EF4-FFF2-40B4-BE49-F238E27FC236}">
                  <a16:creationId xmlns:a16="http://schemas.microsoft.com/office/drawing/2014/main" id="{2012FA61-3B8B-544F-ED1A-28A52BB53D1A}"/>
                </a:ext>
              </a:extLst>
            </p:cNvPr>
            <p:cNvSpPr>
              <a:spLocks/>
            </p:cNvSpPr>
            <p:nvPr/>
          </p:nvSpPr>
          <p:spPr bwMode="auto">
            <a:xfrm>
              <a:off x="1724" y="1933"/>
              <a:ext cx="137" cy="73"/>
            </a:xfrm>
            <a:custGeom>
              <a:avLst/>
              <a:gdLst>
                <a:gd name="T0" fmla="*/ 2566051 w 83"/>
                <a:gd name="T1" fmla="*/ 94 h 63"/>
                <a:gd name="T2" fmla="*/ 2566051 w 83"/>
                <a:gd name="T3" fmla="*/ 126 h 63"/>
                <a:gd name="T4" fmla="*/ 2349936 w 83"/>
                <a:gd name="T5" fmla="*/ 263 h 63"/>
                <a:gd name="T6" fmla="*/ 1933123 w 83"/>
                <a:gd name="T7" fmla="*/ 409 h 63"/>
                <a:gd name="T8" fmla="*/ 1423684 w 83"/>
                <a:gd name="T9" fmla="*/ 594 h 63"/>
                <a:gd name="T10" fmla="*/ 924724 w 83"/>
                <a:gd name="T11" fmla="*/ 711 h 63"/>
                <a:gd name="T12" fmla="*/ 446998 w 83"/>
                <a:gd name="T13" fmla="*/ 860 h 63"/>
                <a:gd name="T14" fmla="*/ 106777 w 83"/>
                <a:gd name="T15" fmla="*/ 1078 h 63"/>
                <a:gd name="T16" fmla="*/ 0 w 83"/>
                <a:gd name="T17" fmla="*/ 1362 h 63"/>
                <a:gd name="T18" fmla="*/ 480180 w 83"/>
                <a:gd name="T19" fmla="*/ 1283 h 63"/>
                <a:gd name="T20" fmla="*/ 522551 w 83"/>
                <a:gd name="T21" fmla="*/ 1241 h 63"/>
                <a:gd name="T22" fmla="*/ 737816 w 83"/>
                <a:gd name="T23" fmla="*/ 1139 h 63"/>
                <a:gd name="T24" fmla="*/ 1147807 w 83"/>
                <a:gd name="T25" fmla="*/ 983 h 63"/>
                <a:gd name="T26" fmla="*/ 1664712 w 83"/>
                <a:gd name="T27" fmla="*/ 848 h 63"/>
                <a:gd name="T28" fmla="*/ 2159391 w 83"/>
                <a:gd name="T29" fmla="*/ 688 h 63"/>
                <a:gd name="T30" fmla="*/ 264081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9" y="6"/>
                  </a:lnTo>
                  <a:lnTo>
                    <a:pt x="63" y="12"/>
                  </a:lnTo>
                  <a:lnTo>
                    <a:pt x="52" y="19"/>
                  </a:lnTo>
                  <a:lnTo>
                    <a:pt x="38" y="26"/>
                  </a:lnTo>
                  <a:lnTo>
                    <a:pt x="25" y="32"/>
                  </a:lnTo>
                  <a:lnTo>
                    <a:pt x="12" y="40"/>
                  </a:lnTo>
                  <a:lnTo>
                    <a:pt x="3" y="49"/>
                  </a:lnTo>
                  <a:lnTo>
                    <a:pt x="0" y="62"/>
                  </a:lnTo>
                  <a:lnTo>
                    <a:pt x="13" y="58"/>
                  </a:lnTo>
                  <a:lnTo>
                    <a:pt x="14" y="56"/>
                  </a:lnTo>
                  <a:lnTo>
                    <a:pt x="20" y="51"/>
                  </a:lnTo>
                  <a:lnTo>
                    <a:pt x="31" y="44"/>
                  </a:lnTo>
                  <a:lnTo>
                    <a:pt x="45" y="38"/>
                  </a:lnTo>
                  <a:lnTo>
                    <a:pt x="58" y="30"/>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59" name="Freeform 153">
              <a:extLst>
                <a:ext uri="{FF2B5EF4-FFF2-40B4-BE49-F238E27FC236}">
                  <a16:creationId xmlns:a16="http://schemas.microsoft.com/office/drawing/2014/main" id="{4ECCBAFC-8343-E221-CF12-D574F21276C1}"/>
                </a:ext>
              </a:extLst>
            </p:cNvPr>
            <p:cNvSpPr>
              <a:spLocks/>
            </p:cNvSpPr>
            <p:nvPr/>
          </p:nvSpPr>
          <p:spPr bwMode="auto">
            <a:xfrm>
              <a:off x="1689" y="1903"/>
              <a:ext cx="172" cy="36"/>
            </a:xfrm>
            <a:custGeom>
              <a:avLst/>
              <a:gdLst>
                <a:gd name="T0" fmla="*/ 0 w 105"/>
                <a:gd name="T1" fmla="*/ 101 h 31"/>
                <a:gd name="T2" fmla="*/ 247472 w 105"/>
                <a:gd name="T3" fmla="*/ 333 h 31"/>
                <a:gd name="T4" fmla="*/ 664056 w 105"/>
                <a:gd name="T5" fmla="*/ 395 h 31"/>
                <a:gd name="T6" fmla="*/ 1144996 w 105"/>
                <a:gd name="T7" fmla="*/ 449 h 31"/>
                <a:gd name="T8" fmla="*/ 1629916 w 105"/>
                <a:gd name="T9" fmla="*/ 476 h 31"/>
                <a:gd name="T10" fmla="*/ 2126746 w 105"/>
                <a:gd name="T11" fmla="*/ 521 h 31"/>
                <a:gd name="T12" fmla="*/ 2540392 w 105"/>
                <a:gd name="T13" fmla="*/ 553 h 31"/>
                <a:gd name="T14" fmla="*/ 2792890 w 105"/>
                <a:gd name="T15" fmla="*/ 619 h 31"/>
                <a:gd name="T16" fmla="*/ 2885372 w 105"/>
                <a:gd name="T17" fmla="*/ 703 h 31"/>
                <a:gd name="T18" fmla="*/ 3278466 w 105"/>
                <a:gd name="T19" fmla="*/ 605 h 31"/>
                <a:gd name="T20" fmla="*/ 3037405 w 105"/>
                <a:gd name="T21" fmla="*/ 387 h 31"/>
                <a:gd name="T22" fmla="*/ 2633720 w 105"/>
                <a:gd name="T23" fmla="*/ 252 h 31"/>
                <a:gd name="T24" fmla="*/ 2147610 w 105"/>
                <a:gd name="T25" fmla="*/ 213 h 31"/>
                <a:gd name="T26" fmla="*/ 1642575 w 105"/>
                <a:gd name="T27" fmla="*/ 183 h 31"/>
                <a:gd name="T28" fmla="*/ 1185358 w 105"/>
                <a:gd name="T29" fmla="*/ 136 h 31"/>
                <a:gd name="T30" fmla="*/ 737762 w 105"/>
                <a:gd name="T31" fmla="*/ 101 h 31"/>
                <a:gd name="T32" fmla="*/ 483836 w 105"/>
                <a:gd name="T33" fmla="*/ 2 h 31"/>
                <a:gd name="T34" fmla="*/ 405383 w 105"/>
                <a:gd name="T35" fmla="*/ 0 h 31"/>
                <a:gd name="T36" fmla="*/ 0 w 105"/>
                <a:gd name="T37" fmla="*/ 101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1"/>
                <a:gd name="T59" fmla="*/ 105 w 105"/>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1">
                  <a:moveTo>
                    <a:pt x="0" y="4"/>
                  </a:moveTo>
                  <a:lnTo>
                    <a:pt x="8" y="14"/>
                  </a:lnTo>
                  <a:lnTo>
                    <a:pt x="21" y="17"/>
                  </a:lnTo>
                  <a:lnTo>
                    <a:pt x="36" y="19"/>
                  </a:lnTo>
                  <a:lnTo>
                    <a:pt x="51" y="21"/>
                  </a:lnTo>
                  <a:lnTo>
                    <a:pt x="67" y="22"/>
                  </a:lnTo>
                  <a:lnTo>
                    <a:pt x="80" y="24"/>
                  </a:lnTo>
                  <a:lnTo>
                    <a:pt x="88" y="27"/>
                  </a:lnTo>
                  <a:lnTo>
                    <a:pt x="91" y="30"/>
                  </a:lnTo>
                  <a:lnTo>
                    <a:pt x="104" y="26"/>
                  </a:lnTo>
                  <a:lnTo>
                    <a:pt x="96" y="16"/>
                  </a:lnTo>
                  <a:lnTo>
                    <a:pt x="83" y="11"/>
                  </a:lnTo>
                  <a:lnTo>
                    <a:pt x="68" y="9"/>
                  </a:lnTo>
                  <a:lnTo>
                    <a:pt x="52" y="8"/>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0" name="Freeform 154">
              <a:extLst>
                <a:ext uri="{FF2B5EF4-FFF2-40B4-BE49-F238E27FC236}">
                  <a16:creationId xmlns:a16="http://schemas.microsoft.com/office/drawing/2014/main" id="{520F6FEE-727C-B160-7BBF-795DB9DB5BDA}"/>
                </a:ext>
              </a:extLst>
            </p:cNvPr>
            <p:cNvSpPr>
              <a:spLocks/>
            </p:cNvSpPr>
            <p:nvPr/>
          </p:nvSpPr>
          <p:spPr bwMode="auto">
            <a:xfrm>
              <a:off x="1689" y="1903"/>
              <a:ext cx="22" cy="6"/>
            </a:xfrm>
            <a:custGeom>
              <a:avLst/>
              <a:gdLst>
                <a:gd name="T0" fmla="*/ 0 w 14"/>
                <a:gd name="T1" fmla="*/ 179 h 5"/>
                <a:gd name="T2" fmla="*/ 75491 w 14"/>
                <a:gd name="T3" fmla="*/ 2 h 5"/>
                <a:gd name="T4" fmla="*/ 167489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1" name="Freeform 155">
              <a:extLst>
                <a:ext uri="{FF2B5EF4-FFF2-40B4-BE49-F238E27FC236}">
                  <a16:creationId xmlns:a16="http://schemas.microsoft.com/office/drawing/2014/main" id="{0B39440A-6BB5-FA65-B2DC-D8DF16B4B5F8}"/>
                </a:ext>
              </a:extLst>
            </p:cNvPr>
            <p:cNvSpPr>
              <a:spLocks/>
            </p:cNvSpPr>
            <p:nvPr/>
          </p:nvSpPr>
          <p:spPr bwMode="auto">
            <a:xfrm>
              <a:off x="1689" y="1836"/>
              <a:ext cx="136" cy="73"/>
            </a:xfrm>
            <a:custGeom>
              <a:avLst/>
              <a:gdLst>
                <a:gd name="T0" fmla="*/ 2195491 w 83"/>
                <a:gd name="T1" fmla="*/ 94 h 63"/>
                <a:gd name="T2" fmla="*/ 2160471 w 83"/>
                <a:gd name="T3" fmla="*/ 109 h 63"/>
                <a:gd name="T4" fmla="*/ 1987493 w 83"/>
                <a:gd name="T5" fmla="*/ 247 h 63"/>
                <a:gd name="T6" fmla="*/ 1636031 w 83"/>
                <a:gd name="T7" fmla="*/ 394 h 63"/>
                <a:gd name="T8" fmla="*/ 1191799 w 83"/>
                <a:gd name="T9" fmla="*/ 549 h 63"/>
                <a:gd name="T10" fmla="*/ 761179 w 83"/>
                <a:gd name="T11" fmla="*/ 711 h 63"/>
                <a:gd name="T12" fmla="*/ 389068 w 83"/>
                <a:gd name="T13" fmla="*/ 860 h 63"/>
                <a:gd name="T14" fmla="*/ 56548 w 83"/>
                <a:gd name="T15" fmla="*/ 1078 h 63"/>
                <a:gd name="T16" fmla="*/ 0 w 83"/>
                <a:gd name="T17" fmla="*/ 1362 h 63"/>
                <a:gd name="T18" fmla="*/ 407626 w 83"/>
                <a:gd name="T19" fmla="*/ 1283 h 63"/>
                <a:gd name="T20" fmla="*/ 407626 w 83"/>
                <a:gd name="T21" fmla="*/ 1241 h 63"/>
                <a:gd name="T22" fmla="*/ 609354 w 83"/>
                <a:gd name="T23" fmla="*/ 1107 h 63"/>
                <a:gd name="T24" fmla="*/ 949754 w 83"/>
                <a:gd name="T25" fmla="*/ 955 h 63"/>
                <a:gd name="T26" fmla="*/ 1398653 w 83"/>
                <a:gd name="T27" fmla="*/ 803 h 63"/>
                <a:gd name="T28" fmla="*/ 1855348 w 83"/>
                <a:gd name="T29" fmla="*/ 636 h 63"/>
                <a:gd name="T30" fmla="*/ 2232686 w 83"/>
                <a:gd name="T31" fmla="*/ 457 h 63"/>
                <a:gd name="T32" fmla="*/ 2549956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7" y="25"/>
                  </a:lnTo>
                  <a:lnTo>
                    <a:pt x="24" y="32"/>
                  </a:lnTo>
                  <a:lnTo>
                    <a:pt x="12" y="40"/>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2" name="Freeform 156">
              <a:extLst>
                <a:ext uri="{FF2B5EF4-FFF2-40B4-BE49-F238E27FC236}">
                  <a16:creationId xmlns:a16="http://schemas.microsoft.com/office/drawing/2014/main" id="{18067189-04C1-2158-3B9E-E3F55DD3A506}"/>
                </a:ext>
              </a:extLst>
            </p:cNvPr>
            <p:cNvSpPr>
              <a:spLocks/>
            </p:cNvSpPr>
            <p:nvPr/>
          </p:nvSpPr>
          <p:spPr bwMode="auto">
            <a:xfrm>
              <a:off x="1650" y="1808"/>
              <a:ext cx="175" cy="34"/>
            </a:xfrm>
            <a:custGeom>
              <a:avLst/>
              <a:gdLst>
                <a:gd name="T0" fmla="*/ 0 w 106"/>
                <a:gd name="T1" fmla="*/ 61 h 30"/>
                <a:gd name="T2" fmla="*/ 341111 w 106"/>
                <a:gd name="T3" fmla="*/ 206 h 30"/>
                <a:gd name="T4" fmla="*/ 804876 w 106"/>
                <a:gd name="T5" fmla="*/ 239 h 30"/>
                <a:gd name="T6" fmla="*/ 1328805 w 106"/>
                <a:gd name="T7" fmla="*/ 271 h 30"/>
                <a:gd name="T8" fmla="*/ 1941196 w 106"/>
                <a:gd name="T9" fmla="*/ 299 h 30"/>
                <a:gd name="T10" fmla="*/ 2534104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2016007 w 106"/>
                <a:gd name="T27" fmla="*/ 113 h 30"/>
                <a:gd name="T28" fmla="*/ 1389091 w 106"/>
                <a:gd name="T29" fmla="*/ 88 h 30"/>
                <a:gd name="T30" fmla="*/ 904506 w 106"/>
                <a:gd name="T31" fmla="*/ 69 h 30"/>
                <a:gd name="T32" fmla="*/ 563155 w 106"/>
                <a:gd name="T33" fmla="*/ 3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9" y="15"/>
                  </a:lnTo>
                  <a:lnTo>
                    <a:pt x="22" y="18"/>
                  </a:lnTo>
                  <a:lnTo>
                    <a:pt x="36" y="20"/>
                  </a:lnTo>
                  <a:lnTo>
                    <a:pt x="52" y="22"/>
                  </a:lnTo>
                  <a:lnTo>
                    <a:pt x="68" y="22"/>
                  </a:lnTo>
                  <a:lnTo>
                    <a:pt x="81" y="24"/>
                  </a:lnTo>
                  <a:lnTo>
                    <a:pt x="90" y="27"/>
                  </a:lnTo>
                  <a:lnTo>
                    <a:pt x="92" y="29"/>
                  </a:lnTo>
                  <a:lnTo>
                    <a:pt x="105" y="25"/>
                  </a:lnTo>
                  <a:lnTo>
                    <a:pt x="96" y="15"/>
                  </a:lnTo>
                  <a:lnTo>
                    <a:pt x="84" y="11"/>
                  </a:lnTo>
                  <a:lnTo>
                    <a:pt x="69" y="9"/>
                  </a:lnTo>
                  <a:lnTo>
                    <a:pt x="54" y="9"/>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3" name="Freeform 157">
              <a:extLst>
                <a:ext uri="{FF2B5EF4-FFF2-40B4-BE49-F238E27FC236}">
                  <a16:creationId xmlns:a16="http://schemas.microsoft.com/office/drawing/2014/main" id="{F49FBA34-5D27-D4AF-389C-6D2B411B2F99}"/>
                </a:ext>
              </a:extLst>
            </p:cNvPr>
            <p:cNvSpPr>
              <a:spLocks/>
            </p:cNvSpPr>
            <p:nvPr/>
          </p:nvSpPr>
          <p:spPr bwMode="auto">
            <a:xfrm>
              <a:off x="1650" y="1741"/>
              <a:ext cx="137" cy="72"/>
            </a:xfrm>
            <a:custGeom>
              <a:avLst/>
              <a:gdLst>
                <a:gd name="T0" fmla="*/ 2566051 w 83"/>
                <a:gd name="T1" fmla="*/ 73 h 63"/>
                <a:gd name="T2" fmla="*/ 2519400 w 83"/>
                <a:gd name="T3" fmla="*/ 83 h 63"/>
                <a:gd name="T4" fmla="*/ 2289995 w 83"/>
                <a:gd name="T5" fmla="*/ 186 h 63"/>
                <a:gd name="T6" fmla="*/ 1894573 w 83"/>
                <a:gd name="T7" fmla="*/ 278 h 63"/>
                <a:gd name="T8" fmla="*/ 1385413 w 83"/>
                <a:gd name="T9" fmla="*/ 415 h 63"/>
                <a:gd name="T10" fmla="*/ 901473 w 83"/>
                <a:gd name="T11" fmla="*/ 530 h 63"/>
                <a:gd name="T12" fmla="*/ 416000 w 83"/>
                <a:gd name="T13" fmla="*/ 637 h 63"/>
                <a:gd name="T14" fmla="*/ 64690 w 83"/>
                <a:gd name="T15" fmla="*/ 808 h 63"/>
                <a:gd name="T16" fmla="*/ 0 w 83"/>
                <a:gd name="T17" fmla="*/ 1032 h 63"/>
                <a:gd name="T18" fmla="*/ 480180 w 83"/>
                <a:gd name="T19" fmla="*/ 951 h 63"/>
                <a:gd name="T20" fmla="*/ 480180 w 83"/>
                <a:gd name="T21" fmla="*/ 923 h 63"/>
                <a:gd name="T22" fmla="*/ 695387 w 83"/>
                <a:gd name="T23" fmla="*/ 823 h 63"/>
                <a:gd name="T24" fmla="*/ 1133388 w 83"/>
                <a:gd name="T25" fmla="*/ 707 h 63"/>
                <a:gd name="T26" fmla="*/ 1639289 w 83"/>
                <a:gd name="T27" fmla="*/ 605 h 63"/>
                <a:gd name="T28" fmla="*/ 2159391 w 83"/>
                <a:gd name="T29" fmla="*/ 474 h 63"/>
                <a:gd name="T30" fmla="*/ 2603804 w 83"/>
                <a:gd name="T31" fmla="*/ 345 h 63"/>
                <a:gd name="T32" fmla="*/ 2976645 w 83"/>
                <a:gd name="T33" fmla="*/ 213 h 63"/>
                <a:gd name="T34" fmla="*/ 3041930 w 83"/>
                <a:gd name="T35" fmla="*/ 0 h 63"/>
                <a:gd name="T36" fmla="*/ 256605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7"/>
                  </a:lnTo>
                  <a:lnTo>
                    <a:pt x="37" y="25"/>
                  </a:lnTo>
                  <a:lnTo>
                    <a:pt x="24" y="32"/>
                  </a:lnTo>
                  <a:lnTo>
                    <a:pt x="11" y="39"/>
                  </a:lnTo>
                  <a:lnTo>
                    <a:pt x="2" y="49"/>
                  </a:lnTo>
                  <a:lnTo>
                    <a:pt x="0" y="62"/>
                  </a:lnTo>
                  <a:lnTo>
                    <a:pt x="13" y="58"/>
                  </a:lnTo>
                  <a:lnTo>
                    <a:pt x="13" y="56"/>
                  </a:lnTo>
                  <a:lnTo>
                    <a:pt x="19" y="50"/>
                  </a:lnTo>
                  <a:lnTo>
                    <a:pt x="30" y="43"/>
                  </a:lnTo>
                  <a:lnTo>
                    <a:pt x="44" y="36"/>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4" name="Freeform 158">
              <a:extLst>
                <a:ext uri="{FF2B5EF4-FFF2-40B4-BE49-F238E27FC236}">
                  <a16:creationId xmlns:a16="http://schemas.microsoft.com/office/drawing/2014/main" id="{A3C33B1A-E737-74E5-F032-51EA86D31950}"/>
                </a:ext>
              </a:extLst>
            </p:cNvPr>
            <p:cNvSpPr>
              <a:spLocks/>
            </p:cNvSpPr>
            <p:nvPr/>
          </p:nvSpPr>
          <p:spPr bwMode="auto">
            <a:xfrm>
              <a:off x="1616" y="1715"/>
              <a:ext cx="171" cy="31"/>
            </a:xfrm>
            <a:custGeom>
              <a:avLst/>
              <a:gdLst>
                <a:gd name="T0" fmla="*/ 0 w 104"/>
                <a:gd name="T1" fmla="*/ 249 h 26"/>
                <a:gd name="T2" fmla="*/ 0 w 104"/>
                <a:gd name="T3" fmla="*/ 209 h 26"/>
                <a:gd name="T4" fmla="*/ 271714 w 104"/>
                <a:gd name="T5" fmla="*/ 600 h 26"/>
                <a:gd name="T6" fmla="*/ 734578 w 104"/>
                <a:gd name="T7" fmla="*/ 715 h 26"/>
                <a:gd name="T8" fmla="*/ 1223666 w 104"/>
                <a:gd name="T9" fmla="*/ 715 h 26"/>
                <a:gd name="T10" fmla="*/ 1748953 w 104"/>
                <a:gd name="T11" fmla="*/ 717 h 26"/>
                <a:gd name="T12" fmla="*/ 2266127 w 104"/>
                <a:gd name="T13" fmla="*/ 760 h 26"/>
                <a:gd name="T14" fmla="*/ 2754045 w 104"/>
                <a:gd name="T15" fmla="*/ 855 h 26"/>
                <a:gd name="T16" fmla="*/ 3016486 w 104"/>
                <a:gd name="T17" fmla="*/ 906 h 26"/>
                <a:gd name="T18" fmla="*/ 3087293 w 104"/>
                <a:gd name="T19" fmla="*/ 1019 h 26"/>
                <a:gd name="T20" fmla="*/ 3524433 w 104"/>
                <a:gd name="T21" fmla="*/ 855 h 26"/>
                <a:gd name="T22" fmla="*/ 3265324 w 104"/>
                <a:gd name="T23" fmla="*/ 503 h 26"/>
                <a:gd name="T24" fmla="*/ 2817034 w 104"/>
                <a:gd name="T25" fmla="*/ 354 h 26"/>
                <a:gd name="T26" fmla="*/ 2300055 w 104"/>
                <a:gd name="T27" fmla="*/ 249 h 26"/>
                <a:gd name="T28" fmla="*/ 1748953 w 104"/>
                <a:gd name="T29" fmla="*/ 209 h 26"/>
                <a:gd name="T30" fmla="*/ 1223666 w 104"/>
                <a:gd name="T31" fmla="*/ 175 h 26"/>
                <a:gd name="T32" fmla="*/ 744218 w 104"/>
                <a:gd name="T33" fmla="*/ 175 h 26"/>
                <a:gd name="T34" fmla="*/ 478846 w 104"/>
                <a:gd name="T35" fmla="*/ 2 h 26"/>
                <a:gd name="T36" fmla="*/ 446761 w 104"/>
                <a:gd name="T37" fmla="*/ 1 h 26"/>
                <a:gd name="T38" fmla="*/ 416512 w 104"/>
                <a:gd name="T39" fmla="*/ 0 h 26"/>
                <a:gd name="T40" fmla="*/ 446761 w 104"/>
                <a:gd name="T41" fmla="*/ 1 h 26"/>
                <a:gd name="T42" fmla="*/ 416512 w 104"/>
                <a:gd name="T43" fmla="*/ 0 h 26"/>
                <a:gd name="T44" fmla="*/ 0 w 104"/>
                <a:gd name="T45" fmla="*/ 249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6"/>
                <a:gd name="T71" fmla="*/ 104 w 104"/>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6">
                  <a:moveTo>
                    <a:pt x="0" y="6"/>
                  </a:moveTo>
                  <a:lnTo>
                    <a:pt x="0" y="5"/>
                  </a:lnTo>
                  <a:lnTo>
                    <a:pt x="8" y="14"/>
                  </a:lnTo>
                  <a:lnTo>
                    <a:pt x="21" y="17"/>
                  </a:lnTo>
                  <a:lnTo>
                    <a:pt x="36" y="17"/>
                  </a:lnTo>
                  <a:lnTo>
                    <a:pt x="51" y="18"/>
                  </a:lnTo>
                  <a:lnTo>
                    <a:pt x="66" y="19"/>
                  </a:lnTo>
                  <a:lnTo>
                    <a:pt x="80" y="21"/>
                  </a:lnTo>
                  <a:lnTo>
                    <a:pt x="88" y="23"/>
                  </a:lnTo>
                  <a:lnTo>
                    <a:pt x="90" y="25"/>
                  </a:lnTo>
                  <a:lnTo>
                    <a:pt x="103" y="21"/>
                  </a:lnTo>
                  <a:lnTo>
                    <a:pt x="95" y="12"/>
                  </a:lnTo>
                  <a:lnTo>
                    <a:pt x="82" y="8"/>
                  </a:lnTo>
                  <a:lnTo>
                    <a:pt x="67" y="6"/>
                  </a:lnTo>
                  <a:lnTo>
                    <a:pt x="51" y="5"/>
                  </a:lnTo>
                  <a:lnTo>
                    <a:pt x="36" y="4"/>
                  </a:lnTo>
                  <a:lnTo>
                    <a:pt x="22" y="4"/>
                  </a:lnTo>
                  <a:lnTo>
                    <a:pt x="14" y="2"/>
                  </a:lnTo>
                  <a:lnTo>
                    <a:pt x="13" y="1"/>
                  </a:lnTo>
                  <a:lnTo>
                    <a:pt x="12" y="0"/>
                  </a:lnTo>
                  <a:lnTo>
                    <a:pt x="13" y="1"/>
                  </a:lnTo>
                  <a:lnTo>
                    <a:pt x="12" y="0"/>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5" name="Freeform 159">
              <a:extLst>
                <a:ext uri="{FF2B5EF4-FFF2-40B4-BE49-F238E27FC236}">
                  <a16:creationId xmlns:a16="http://schemas.microsoft.com/office/drawing/2014/main" id="{2633987D-9213-5B30-6B8A-2E667BD95098}"/>
                </a:ext>
              </a:extLst>
            </p:cNvPr>
            <p:cNvSpPr>
              <a:spLocks/>
            </p:cNvSpPr>
            <p:nvPr/>
          </p:nvSpPr>
          <p:spPr bwMode="auto">
            <a:xfrm>
              <a:off x="1614" y="1714"/>
              <a:ext cx="23" cy="11"/>
            </a:xfrm>
            <a:custGeom>
              <a:avLst/>
              <a:gdLst>
                <a:gd name="T0" fmla="*/ 0 w 14"/>
                <a:gd name="T1" fmla="*/ 323 h 9"/>
                <a:gd name="T2" fmla="*/ 0 w 14"/>
                <a:gd name="T3" fmla="*/ 483 h 9"/>
                <a:gd name="T4" fmla="*/ 36728 w 14"/>
                <a:gd name="T5" fmla="*/ 543 h 9"/>
                <a:gd name="T6" fmla="*/ 439537 w 14"/>
                <a:gd name="T7" fmla="*/ 1 h 9"/>
                <a:gd name="T8" fmla="*/ 410755 w 14"/>
                <a:gd name="T9" fmla="*/ 0 h 9"/>
                <a:gd name="T10" fmla="*/ 439537 w 14"/>
                <a:gd name="T11" fmla="*/ 1 h 9"/>
                <a:gd name="T12" fmla="*/ 0 w 14"/>
                <a:gd name="T13" fmla="*/ 323 h 9"/>
                <a:gd name="T14" fmla="*/ 0 w 14"/>
                <a:gd name="T15" fmla="*/ 395 h 9"/>
                <a:gd name="T16" fmla="*/ 0 w 14"/>
                <a:gd name="T17" fmla="*/ 483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0" y="7"/>
                  </a:lnTo>
                  <a:lnTo>
                    <a:pt x="1" y="8"/>
                  </a:lnTo>
                  <a:lnTo>
                    <a:pt x="13" y="1"/>
                  </a:lnTo>
                  <a:lnTo>
                    <a:pt x="12" y="0"/>
                  </a:lnTo>
                  <a:lnTo>
                    <a:pt x="13" y="1"/>
                  </a:lnTo>
                  <a:lnTo>
                    <a:pt x="0" y="5"/>
                  </a:lnTo>
                  <a:lnTo>
                    <a:pt x="0" y="6"/>
                  </a:lnTo>
                  <a:lnTo>
                    <a:pt x="0"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6" name="Freeform 160">
              <a:extLst>
                <a:ext uri="{FF2B5EF4-FFF2-40B4-BE49-F238E27FC236}">
                  <a16:creationId xmlns:a16="http://schemas.microsoft.com/office/drawing/2014/main" id="{FAE608D4-4704-AE5E-CEC9-80016832AAB4}"/>
                </a:ext>
              </a:extLst>
            </p:cNvPr>
            <p:cNvSpPr>
              <a:spLocks/>
            </p:cNvSpPr>
            <p:nvPr/>
          </p:nvSpPr>
          <p:spPr bwMode="auto">
            <a:xfrm>
              <a:off x="1614" y="1649"/>
              <a:ext cx="136" cy="72"/>
            </a:xfrm>
            <a:custGeom>
              <a:avLst/>
              <a:gdLst>
                <a:gd name="T0" fmla="*/ 2195491 w 83"/>
                <a:gd name="T1" fmla="*/ 73 h 63"/>
                <a:gd name="T2" fmla="*/ 2160471 w 83"/>
                <a:gd name="T3" fmla="*/ 109 h 63"/>
                <a:gd name="T4" fmla="*/ 1987493 w 83"/>
                <a:gd name="T5" fmla="*/ 202 h 63"/>
                <a:gd name="T6" fmla="*/ 1654163 w 83"/>
                <a:gd name="T7" fmla="*/ 318 h 63"/>
                <a:gd name="T8" fmla="*/ 1212955 w 83"/>
                <a:gd name="T9" fmla="*/ 426 h 63"/>
                <a:gd name="T10" fmla="*/ 761179 w 83"/>
                <a:gd name="T11" fmla="*/ 542 h 63"/>
                <a:gd name="T12" fmla="*/ 389068 w 83"/>
                <a:gd name="T13" fmla="*/ 691 h 63"/>
                <a:gd name="T14" fmla="*/ 92657 w 83"/>
                <a:gd name="T15" fmla="*/ 808 h 63"/>
                <a:gd name="T16" fmla="*/ 0 w 83"/>
                <a:gd name="T17" fmla="*/ 1032 h 63"/>
                <a:gd name="T18" fmla="*/ 407626 w 83"/>
                <a:gd name="T19" fmla="*/ 951 h 63"/>
                <a:gd name="T20" fmla="*/ 451776 w 83"/>
                <a:gd name="T21" fmla="*/ 941 h 63"/>
                <a:gd name="T22" fmla="*/ 637509 w 83"/>
                <a:gd name="T23" fmla="*/ 832 h 63"/>
                <a:gd name="T24" fmla="*/ 998460 w 83"/>
                <a:gd name="T25" fmla="*/ 728 h 63"/>
                <a:gd name="T26" fmla="*/ 1434145 w 83"/>
                <a:gd name="T27" fmla="*/ 619 h 63"/>
                <a:gd name="T28" fmla="*/ 1855348 w 83"/>
                <a:gd name="T29" fmla="*/ 514 h 63"/>
                <a:gd name="T30" fmla="*/ 2257806 w 83"/>
                <a:gd name="T31" fmla="*/ 373 h 63"/>
                <a:gd name="T32" fmla="*/ 2549956 w 83"/>
                <a:gd name="T33" fmla="*/ 213 h 63"/>
                <a:gd name="T34" fmla="*/ 2609697 w 83"/>
                <a:gd name="T35" fmla="*/ 0 h 63"/>
                <a:gd name="T36" fmla="*/ 2195491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2" y="19"/>
                  </a:lnTo>
                  <a:lnTo>
                    <a:pt x="38" y="26"/>
                  </a:lnTo>
                  <a:lnTo>
                    <a:pt x="24" y="33"/>
                  </a:lnTo>
                  <a:lnTo>
                    <a:pt x="12" y="41"/>
                  </a:lnTo>
                  <a:lnTo>
                    <a:pt x="3" y="49"/>
                  </a:lnTo>
                  <a:lnTo>
                    <a:pt x="0" y="62"/>
                  </a:lnTo>
                  <a:lnTo>
                    <a:pt x="13" y="58"/>
                  </a:lnTo>
                  <a:lnTo>
                    <a:pt x="14" y="57"/>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7" name="Freeform 161">
              <a:extLst>
                <a:ext uri="{FF2B5EF4-FFF2-40B4-BE49-F238E27FC236}">
                  <a16:creationId xmlns:a16="http://schemas.microsoft.com/office/drawing/2014/main" id="{400298C0-EBC0-03A9-43AA-09A546ECBC91}"/>
                </a:ext>
              </a:extLst>
            </p:cNvPr>
            <p:cNvSpPr>
              <a:spLocks/>
            </p:cNvSpPr>
            <p:nvPr/>
          </p:nvSpPr>
          <p:spPr bwMode="auto">
            <a:xfrm>
              <a:off x="1586" y="1601"/>
              <a:ext cx="164" cy="53"/>
            </a:xfrm>
            <a:custGeom>
              <a:avLst/>
              <a:gdLst>
                <a:gd name="T0" fmla="*/ 0 w 100"/>
                <a:gd name="T1" fmla="*/ 89 h 46"/>
                <a:gd name="T2" fmla="*/ 252478 w 100"/>
                <a:gd name="T3" fmla="*/ 279 h 46"/>
                <a:gd name="T4" fmla="*/ 618874 w 100"/>
                <a:gd name="T5" fmla="*/ 385 h 46"/>
                <a:gd name="T6" fmla="*/ 1074074 w 100"/>
                <a:gd name="T7" fmla="*/ 494 h 46"/>
                <a:gd name="T8" fmla="*/ 1565657 w 100"/>
                <a:gd name="T9" fmla="*/ 569 h 46"/>
                <a:gd name="T10" fmla="*/ 2015065 w 100"/>
                <a:gd name="T11" fmla="*/ 656 h 46"/>
                <a:gd name="T12" fmla="*/ 2439375 w 100"/>
                <a:gd name="T13" fmla="*/ 751 h 46"/>
                <a:gd name="T14" fmla="*/ 2694894 w 100"/>
                <a:gd name="T15" fmla="*/ 783 h 46"/>
                <a:gd name="T16" fmla="*/ 2793637 w 100"/>
                <a:gd name="T17" fmla="*/ 891 h 46"/>
                <a:gd name="T18" fmla="*/ 3211983 w 100"/>
                <a:gd name="T19" fmla="*/ 783 h 46"/>
                <a:gd name="T20" fmla="*/ 2995319 w 100"/>
                <a:gd name="T21" fmla="*/ 590 h 46"/>
                <a:gd name="T22" fmla="*/ 2601443 w 100"/>
                <a:gd name="T23" fmla="*/ 491 h 46"/>
                <a:gd name="T24" fmla="*/ 2139329 w 100"/>
                <a:gd name="T25" fmla="*/ 385 h 46"/>
                <a:gd name="T26" fmla="*/ 1664523 w 100"/>
                <a:gd name="T27" fmla="*/ 321 h 46"/>
                <a:gd name="T28" fmla="*/ 1171885 w 100"/>
                <a:gd name="T29" fmla="*/ 242 h 46"/>
                <a:gd name="T30" fmla="*/ 771874 w 100"/>
                <a:gd name="T31" fmla="*/ 137 h 46"/>
                <a:gd name="T32" fmla="*/ 521648 w 100"/>
                <a:gd name="T33" fmla="*/ 3 h 46"/>
                <a:gd name="T34" fmla="*/ 414064 w 100"/>
                <a:gd name="T35" fmla="*/ 0 h 46"/>
                <a:gd name="T36" fmla="*/ 0 w 100"/>
                <a:gd name="T37" fmla="*/ 89 h 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0"/>
                <a:gd name="T58" fmla="*/ 0 h 46"/>
                <a:gd name="T59" fmla="*/ 100 w 100"/>
                <a:gd name="T60" fmla="*/ 46 h 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0" h="46">
                  <a:moveTo>
                    <a:pt x="0" y="4"/>
                  </a:moveTo>
                  <a:lnTo>
                    <a:pt x="8" y="14"/>
                  </a:lnTo>
                  <a:lnTo>
                    <a:pt x="19" y="20"/>
                  </a:lnTo>
                  <a:lnTo>
                    <a:pt x="33" y="25"/>
                  </a:lnTo>
                  <a:lnTo>
                    <a:pt x="48" y="29"/>
                  </a:lnTo>
                  <a:lnTo>
                    <a:pt x="62" y="33"/>
                  </a:lnTo>
                  <a:lnTo>
                    <a:pt x="75" y="37"/>
                  </a:lnTo>
                  <a:lnTo>
                    <a:pt x="83" y="41"/>
                  </a:lnTo>
                  <a:lnTo>
                    <a:pt x="86" y="45"/>
                  </a:lnTo>
                  <a:lnTo>
                    <a:pt x="99" y="41"/>
                  </a:lnTo>
                  <a:lnTo>
                    <a:pt x="92" y="31"/>
                  </a:lnTo>
                  <a:lnTo>
                    <a:pt x="80" y="24"/>
                  </a:lnTo>
                  <a:lnTo>
                    <a:pt x="66" y="20"/>
                  </a:lnTo>
                  <a:lnTo>
                    <a:pt x="51" y="16"/>
                  </a:lnTo>
                  <a:lnTo>
                    <a:pt x="36" y="12"/>
                  </a:lnTo>
                  <a:lnTo>
                    <a:pt x="24" y="7"/>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8" name="Freeform 162">
              <a:extLst>
                <a:ext uri="{FF2B5EF4-FFF2-40B4-BE49-F238E27FC236}">
                  <a16:creationId xmlns:a16="http://schemas.microsoft.com/office/drawing/2014/main" id="{7E4593C2-1372-C962-CC4C-A849738168A3}"/>
                </a:ext>
              </a:extLst>
            </p:cNvPr>
            <p:cNvSpPr>
              <a:spLocks/>
            </p:cNvSpPr>
            <p:nvPr/>
          </p:nvSpPr>
          <p:spPr bwMode="auto">
            <a:xfrm>
              <a:off x="1586" y="1553"/>
              <a:ext cx="128" cy="55"/>
            </a:xfrm>
            <a:custGeom>
              <a:avLst/>
              <a:gdLst>
                <a:gd name="T0" fmla="*/ 2736711 w 77"/>
                <a:gd name="T1" fmla="*/ 121 h 47"/>
                <a:gd name="T2" fmla="*/ 2669048 w 77"/>
                <a:gd name="T3" fmla="*/ 142 h 47"/>
                <a:gd name="T4" fmla="*/ 2468611 w 77"/>
                <a:gd name="T5" fmla="*/ 266 h 47"/>
                <a:gd name="T6" fmla="*/ 2074799 w 77"/>
                <a:gd name="T7" fmla="*/ 364 h 47"/>
                <a:gd name="T8" fmla="*/ 1560232 w 77"/>
                <a:gd name="T9" fmla="*/ 455 h 47"/>
                <a:gd name="T10" fmla="*/ 965868 w 77"/>
                <a:gd name="T11" fmla="*/ 584 h 47"/>
                <a:gd name="T12" fmla="*/ 468364 w 77"/>
                <a:gd name="T13" fmla="*/ 729 h 47"/>
                <a:gd name="T14" fmla="*/ 76089 w 77"/>
                <a:gd name="T15" fmla="*/ 935 h 47"/>
                <a:gd name="T16" fmla="*/ 0 w 77"/>
                <a:gd name="T17" fmla="*/ 1263 h 47"/>
                <a:gd name="T18" fmla="*/ 581030 w 77"/>
                <a:gd name="T19" fmla="*/ 1120 h 47"/>
                <a:gd name="T20" fmla="*/ 778579 w 77"/>
                <a:gd name="T21" fmla="*/ 1009 h 47"/>
                <a:gd name="T22" fmla="*/ 1220468 w 77"/>
                <a:gd name="T23" fmla="*/ 935 h 47"/>
                <a:gd name="T24" fmla="*/ 1716412 w 77"/>
                <a:gd name="T25" fmla="*/ 813 h 47"/>
                <a:gd name="T26" fmla="*/ 2285111 w 77"/>
                <a:gd name="T27" fmla="*/ 695 h 47"/>
                <a:gd name="T28" fmla="*/ 2753694 w 77"/>
                <a:gd name="T29" fmla="*/ 584 h 47"/>
                <a:gd name="T30" fmla="*/ 3189403 w 77"/>
                <a:gd name="T31" fmla="*/ 364 h 47"/>
                <a:gd name="T32" fmla="*/ 3260700 w 77"/>
                <a:gd name="T33" fmla="*/ 0 h 47"/>
                <a:gd name="T34" fmla="*/ 2736711 w 77"/>
                <a:gd name="T35" fmla="*/ 121 h 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7"/>
                <a:gd name="T55" fmla="*/ 0 h 47"/>
                <a:gd name="T56" fmla="*/ 77 w 77"/>
                <a:gd name="T57" fmla="*/ 47 h 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7" h="47">
                  <a:moveTo>
                    <a:pt x="63" y="4"/>
                  </a:moveTo>
                  <a:lnTo>
                    <a:pt x="62" y="5"/>
                  </a:lnTo>
                  <a:lnTo>
                    <a:pt x="57" y="9"/>
                  </a:lnTo>
                  <a:lnTo>
                    <a:pt x="48" y="13"/>
                  </a:lnTo>
                  <a:lnTo>
                    <a:pt x="36" y="17"/>
                  </a:lnTo>
                  <a:lnTo>
                    <a:pt x="22" y="21"/>
                  </a:lnTo>
                  <a:lnTo>
                    <a:pt x="11" y="27"/>
                  </a:lnTo>
                  <a:lnTo>
                    <a:pt x="2" y="34"/>
                  </a:lnTo>
                  <a:lnTo>
                    <a:pt x="0" y="46"/>
                  </a:lnTo>
                  <a:lnTo>
                    <a:pt x="13" y="42"/>
                  </a:lnTo>
                  <a:lnTo>
                    <a:pt x="18" y="38"/>
                  </a:lnTo>
                  <a:lnTo>
                    <a:pt x="28" y="34"/>
                  </a:lnTo>
                  <a:lnTo>
                    <a:pt x="40" y="30"/>
                  </a:lnTo>
                  <a:lnTo>
                    <a:pt x="53" y="26"/>
                  </a:lnTo>
                  <a:lnTo>
                    <a:pt x="64" y="21"/>
                  </a:lnTo>
                  <a:lnTo>
                    <a:pt x="74" y="13"/>
                  </a:lnTo>
                  <a:lnTo>
                    <a:pt x="76" y="0"/>
                  </a:lnTo>
                  <a:lnTo>
                    <a:pt x="6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69" name="Freeform 163">
              <a:extLst>
                <a:ext uri="{FF2B5EF4-FFF2-40B4-BE49-F238E27FC236}">
                  <a16:creationId xmlns:a16="http://schemas.microsoft.com/office/drawing/2014/main" id="{677D3A79-9182-5671-166E-E13362B395B1}"/>
                </a:ext>
              </a:extLst>
            </p:cNvPr>
            <p:cNvSpPr>
              <a:spLocks/>
            </p:cNvSpPr>
            <p:nvPr/>
          </p:nvSpPr>
          <p:spPr bwMode="auto">
            <a:xfrm>
              <a:off x="1539" y="1526"/>
              <a:ext cx="175" cy="33"/>
            </a:xfrm>
            <a:custGeom>
              <a:avLst/>
              <a:gdLst>
                <a:gd name="T0" fmla="*/ 0 w 106"/>
                <a:gd name="T1" fmla="*/ 68 h 29"/>
                <a:gd name="T2" fmla="*/ 291842 w 106"/>
                <a:gd name="T3" fmla="*/ 191 h 29"/>
                <a:gd name="T4" fmla="*/ 795449 w 106"/>
                <a:gd name="T5" fmla="*/ 247 h 29"/>
                <a:gd name="T6" fmla="*/ 1328805 w 106"/>
                <a:gd name="T7" fmla="*/ 281 h 29"/>
                <a:gd name="T8" fmla="*/ 1899835 w 106"/>
                <a:gd name="T9" fmla="*/ 306 h 29"/>
                <a:gd name="T10" fmla="*/ 2534104 w 106"/>
                <a:gd name="T11" fmla="*/ 316 h 29"/>
                <a:gd name="T12" fmla="*/ 3033331 w 106"/>
                <a:gd name="T13" fmla="*/ 348 h 29"/>
                <a:gd name="T14" fmla="*/ 3328313 w 106"/>
                <a:gd name="T15" fmla="*/ 396 h 29"/>
                <a:gd name="T16" fmla="*/ 3435385 w 106"/>
                <a:gd name="T17" fmla="*/ 414 h 29"/>
                <a:gd name="T18" fmla="*/ 3917132 w 106"/>
                <a:gd name="T19" fmla="*/ 360 h 29"/>
                <a:gd name="T20" fmla="*/ 3621810 w 106"/>
                <a:gd name="T21" fmla="*/ 207 h 29"/>
                <a:gd name="T22" fmla="*/ 3097518 w 106"/>
                <a:gd name="T23" fmla="*/ 148 h 29"/>
                <a:gd name="T24" fmla="*/ 2573651 w 106"/>
                <a:gd name="T25" fmla="*/ 114 h 29"/>
                <a:gd name="T26" fmla="*/ 1984779 w 106"/>
                <a:gd name="T27" fmla="*/ 100 h 29"/>
                <a:gd name="T28" fmla="*/ 1389091 w 106"/>
                <a:gd name="T29" fmla="*/ 88 h 29"/>
                <a:gd name="T30" fmla="*/ 864949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3"/>
                  </a:lnTo>
                  <a:lnTo>
                    <a:pt x="21" y="17"/>
                  </a:lnTo>
                  <a:lnTo>
                    <a:pt x="36" y="19"/>
                  </a:lnTo>
                  <a:lnTo>
                    <a:pt x="51" y="20"/>
                  </a:lnTo>
                  <a:lnTo>
                    <a:pt x="68" y="21"/>
                  </a:lnTo>
                  <a:lnTo>
                    <a:pt x="81" y="23"/>
                  </a:lnTo>
                  <a:lnTo>
                    <a:pt x="89" y="26"/>
                  </a:lnTo>
                  <a:lnTo>
                    <a:pt x="92" y="28"/>
                  </a:lnTo>
                  <a:lnTo>
                    <a:pt x="105" y="24"/>
                  </a:lnTo>
                  <a:lnTo>
                    <a:pt x="97" y="14"/>
                  </a:lnTo>
                  <a:lnTo>
                    <a:pt x="83" y="10"/>
                  </a:lnTo>
                  <a:lnTo>
                    <a:pt x="69" y="8"/>
                  </a:lnTo>
                  <a:lnTo>
                    <a:pt x="53"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0" name="Freeform 164">
              <a:extLst>
                <a:ext uri="{FF2B5EF4-FFF2-40B4-BE49-F238E27FC236}">
                  <a16:creationId xmlns:a16="http://schemas.microsoft.com/office/drawing/2014/main" id="{2F1A8EB4-5A27-26E9-E6AB-68BFFF40F27D}"/>
                </a:ext>
              </a:extLst>
            </p:cNvPr>
            <p:cNvSpPr>
              <a:spLocks/>
            </p:cNvSpPr>
            <p:nvPr/>
          </p:nvSpPr>
          <p:spPr bwMode="auto">
            <a:xfrm>
              <a:off x="1539" y="1464"/>
              <a:ext cx="138" cy="66"/>
            </a:xfrm>
            <a:custGeom>
              <a:avLst/>
              <a:gdLst>
                <a:gd name="T0" fmla="*/ 2353327 w 84"/>
                <a:gd name="T1" fmla="*/ 68 h 58"/>
                <a:gd name="T2" fmla="*/ 2325254 w 84"/>
                <a:gd name="T3" fmla="*/ 68 h 58"/>
                <a:gd name="T4" fmla="*/ 2114707 w 84"/>
                <a:gd name="T5" fmla="*/ 114 h 58"/>
                <a:gd name="T6" fmla="*/ 1725639 w 84"/>
                <a:gd name="T7" fmla="*/ 217 h 58"/>
                <a:gd name="T8" fmla="*/ 1275230 w 84"/>
                <a:gd name="T9" fmla="*/ 316 h 58"/>
                <a:gd name="T10" fmla="*/ 797119 w 84"/>
                <a:gd name="T11" fmla="*/ 414 h 58"/>
                <a:gd name="T12" fmla="*/ 368478 w 84"/>
                <a:gd name="T13" fmla="*/ 531 h 58"/>
                <a:gd name="T14" fmla="*/ 36728 w 84"/>
                <a:gd name="T15" fmla="*/ 667 h 58"/>
                <a:gd name="T16" fmla="*/ 0 w 84"/>
                <a:gd name="T17" fmla="*/ 861 h 58"/>
                <a:gd name="T18" fmla="*/ 439537 w 84"/>
                <a:gd name="T19" fmla="*/ 790 h 58"/>
                <a:gd name="T20" fmla="*/ 439537 w 84"/>
                <a:gd name="T21" fmla="*/ 759 h 58"/>
                <a:gd name="T22" fmla="*/ 639367 w 84"/>
                <a:gd name="T23" fmla="*/ 667 h 58"/>
                <a:gd name="T24" fmla="*/ 994515 w 84"/>
                <a:gd name="T25" fmla="*/ 584 h 58"/>
                <a:gd name="T26" fmla="*/ 1458819 w 84"/>
                <a:gd name="T27" fmla="*/ 506 h 58"/>
                <a:gd name="T28" fmla="*/ 1948925 w 84"/>
                <a:gd name="T29" fmla="*/ 410 h 58"/>
                <a:gd name="T30" fmla="*/ 2353327 w 84"/>
                <a:gd name="T31" fmla="*/ 306 h 58"/>
                <a:gd name="T32" fmla="*/ 2676132 w 84"/>
                <a:gd name="T33" fmla="*/ 182 h 58"/>
                <a:gd name="T34" fmla="*/ 2779841 w 84"/>
                <a:gd name="T35" fmla="*/ 0 h 58"/>
                <a:gd name="T36" fmla="*/ 2353327 w 84"/>
                <a:gd name="T37" fmla="*/ 68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58"/>
                <a:gd name="T59" fmla="*/ 84 w 84"/>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58">
                  <a:moveTo>
                    <a:pt x="70" y="4"/>
                  </a:moveTo>
                  <a:lnTo>
                    <a:pt x="69" y="4"/>
                  </a:lnTo>
                  <a:lnTo>
                    <a:pt x="63" y="8"/>
                  </a:lnTo>
                  <a:lnTo>
                    <a:pt x="51" y="15"/>
                  </a:lnTo>
                  <a:lnTo>
                    <a:pt x="38" y="21"/>
                  </a:lnTo>
                  <a:lnTo>
                    <a:pt x="24" y="28"/>
                  </a:lnTo>
                  <a:lnTo>
                    <a:pt x="11" y="35"/>
                  </a:lnTo>
                  <a:lnTo>
                    <a:pt x="1" y="45"/>
                  </a:lnTo>
                  <a:lnTo>
                    <a:pt x="0" y="57"/>
                  </a:lnTo>
                  <a:lnTo>
                    <a:pt x="13" y="53"/>
                  </a:lnTo>
                  <a:lnTo>
                    <a:pt x="13" y="51"/>
                  </a:lnTo>
                  <a:lnTo>
                    <a:pt x="19" y="45"/>
                  </a:lnTo>
                  <a:lnTo>
                    <a:pt x="30" y="39"/>
                  </a:lnTo>
                  <a:lnTo>
                    <a:pt x="43" y="33"/>
                  </a:lnTo>
                  <a:lnTo>
                    <a:pt x="58" y="27"/>
                  </a:lnTo>
                  <a:lnTo>
                    <a:pt x="70" y="20"/>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71" name="Freeform 165">
              <a:extLst>
                <a:ext uri="{FF2B5EF4-FFF2-40B4-BE49-F238E27FC236}">
                  <a16:creationId xmlns:a16="http://schemas.microsoft.com/office/drawing/2014/main" id="{DAF2710E-EA94-703F-E7BE-EE617A6790D4}"/>
                </a:ext>
              </a:extLst>
            </p:cNvPr>
            <p:cNvSpPr>
              <a:spLocks/>
            </p:cNvSpPr>
            <p:nvPr/>
          </p:nvSpPr>
          <p:spPr bwMode="auto">
            <a:xfrm>
              <a:off x="2376" y="3603"/>
              <a:ext cx="115" cy="142"/>
            </a:xfrm>
            <a:custGeom>
              <a:avLst/>
              <a:gdLst>
                <a:gd name="T0" fmla="*/ 1345633 w 70"/>
                <a:gd name="T1" fmla="*/ 529 h 124"/>
                <a:gd name="T2" fmla="*/ 2294899 w 70"/>
                <a:gd name="T3" fmla="*/ 0 h 124"/>
                <a:gd name="T4" fmla="*/ 2325254 w 70"/>
                <a:gd name="T5" fmla="*/ 1 h 124"/>
                <a:gd name="T6" fmla="*/ 2114707 w 70"/>
                <a:gd name="T7" fmla="*/ 1074 h 124"/>
                <a:gd name="T8" fmla="*/ 2151409 w 70"/>
                <a:gd name="T9" fmla="*/ 1198 h 124"/>
                <a:gd name="T10" fmla="*/ 2151409 w 70"/>
                <a:gd name="T11" fmla="*/ 1334 h 124"/>
                <a:gd name="T12" fmla="*/ 2151409 w 70"/>
                <a:gd name="T13" fmla="*/ 1470 h 124"/>
                <a:gd name="T14" fmla="*/ 2196006 w 70"/>
                <a:gd name="T15" fmla="*/ 1614 h 124"/>
                <a:gd name="T16" fmla="*/ 2210683 w 70"/>
                <a:gd name="T17" fmla="*/ 1737 h 124"/>
                <a:gd name="T18" fmla="*/ 2210683 w 70"/>
                <a:gd name="T19" fmla="*/ 1873 h 124"/>
                <a:gd name="T20" fmla="*/ 2210683 w 70"/>
                <a:gd name="T21" fmla="*/ 1989 h 124"/>
                <a:gd name="T22" fmla="*/ 2258973 w 70"/>
                <a:gd name="T23" fmla="*/ 2116 h 124"/>
                <a:gd name="T24" fmla="*/ 2114707 w 70"/>
                <a:gd name="T25" fmla="*/ 2004 h 124"/>
                <a:gd name="T26" fmla="*/ 2036691 w 70"/>
                <a:gd name="T27" fmla="*/ 1891 h 124"/>
                <a:gd name="T28" fmla="*/ 1883894 w 70"/>
                <a:gd name="T29" fmla="*/ 1791 h 124"/>
                <a:gd name="T30" fmla="*/ 1786333 w 70"/>
                <a:gd name="T31" fmla="*/ 1673 h 124"/>
                <a:gd name="T32" fmla="*/ 1633846 w 70"/>
                <a:gd name="T33" fmla="*/ 1528 h 124"/>
                <a:gd name="T34" fmla="*/ 1524090 w 70"/>
                <a:gd name="T35" fmla="*/ 1439 h 124"/>
                <a:gd name="T36" fmla="*/ 1375027 w 70"/>
                <a:gd name="T37" fmla="*/ 1325 h 124"/>
                <a:gd name="T38" fmla="*/ 1275230 w 70"/>
                <a:gd name="T39" fmla="*/ 1193 h 124"/>
                <a:gd name="T40" fmla="*/ 0 w 70"/>
                <a:gd name="T41" fmla="*/ 363 h 124"/>
                <a:gd name="T42" fmla="*/ 36728 w 70"/>
                <a:gd name="T43" fmla="*/ 328 h 124"/>
                <a:gd name="T44" fmla="*/ 1345633 w 70"/>
                <a:gd name="T45" fmla="*/ 529 h 12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24"/>
                <a:gd name="T71" fmla="*/ 70 w 70"/>
                <a:gd name="T72" fmla="*/ 124 h 12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24">
                  <a:moveTo>
                    <a:pt x="40" y="30"/>
                  </a:moveTo>
                  <a:lnTo>
                    <a:pt x="68" y="0"/>
                  </a:lnTo>
                  <a:lnTo>
                    <a:pt x="69" y="1"/>
                  </a:lnTo>
                  <a:lnTo>
                    <a:pt x="63" y="62"/>
                  </a:lnTo>
                  <a:lnTo>
                    <a:pt x="64" y="70"/>
                  </a:lnTo>
                  <a:lnTo>
                    <a:pt x="64" y="78"/>
                  </a:lnTo>
                  <a:lnTo>
                    <a:pt x="64" y="86"/>
                  </a:lnTo>
                  <a:lnTo>
                    <a:pt x="65" y="93"/>
                  </a:lnTo>
                  <a:lnTo>
                    <a:pt x="66" y="100"/>
                  </a:lnTo>
                  <a:lnTo>
                    <a:pt x="66" y="108"/>
                  </a:lnTo>
                  <a:lnTo>
                    <a:pt x="66" y="115"/>
                  </a:lnTo>
                  <a:lnTo>
                    <a:pt x="67" y="123"/>
                  </a:lnTo>
                  <a:lnTo>
                    <a:pt x="63" y="117"/>
                  </a:lnTo>
                  <a:lnTo>
                    <a:pt x="60" y="110"/>
                  </a:lnTo>
                  <a:lnTo>
                    <a:pt x="56" y="103"/>
                  </a:lnTo>
                  <a:lnTo>
                    <a:pt x="53" y="97"/>
                  </a:lnTo>
                  <a:lnTo>
                    <a:pt x="49" y="89"/>
                  </a:lnTo>
                  <a:lnTo>
                    <a:pt x="45" y="83"/>
                  </a:lnTo>
                  <a:lnTo>
                    <a:pt x="41" y="76"/>
                  </a:lnTo>
                  <a:lnTo>
                    <a:pt x="38" y="69"/>
                  </a:lnTo>
                  <a:lnTo>
                    <a:pt x="0" y="21"/>
                  </a:lnTo>
                  <a:lnTo>
                    <a:pt x="1" y="19"/>
                  </a:lnTo>
                  <a:lnTo>
                    <a:pt x="40" y="3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grpSp>
        <p:nvGrpSpPr>
          <p:cNvPr id="5" name="Group 166">
            <a:extLst>
              <a:ext uri="{FF2B5EF4-FFF2-40B4-BE49-F238E27FC236}">
                <a16:creationId xmlns:a16="http://schemas.microsoft.com/office/drawing/2014/main" id="{377EF9E9-906B-E862-DCA9-AB8E52F4F2B7}"/>
              </a:ext>
            </a:extLst>
          </p:cNvPr>
          <p:cNvGrpSpPr>
            <a:grpSpLocks/>
          </p:cNvGrpSpPr>
          <p:nvPr/>
        </p:nvGrpSpPr>
        <p:grpSpPr bwMode="auto">
          <a:xfrm>
            <a:off x="4024067" y="3944190"/>
            <a:ext cx="2643188" cy="3226595"/>
            <a:chOff x="1943" y="1436"/>
            <a:chExt cx="1374" cy="1581"/>
          </a:xfrm>
        </p:grpSpPr>
        <p:sp>
          <p:nvSpPr>
            <p:cNvPr id="22648" name="Freeform 167">
              <a:extLst>
                <a:ext uri="{FF2B5EF4-FFF2-40B4-BE49-F238E27FC236}">
                  <a16:creationId xmlns:a16="http://schemas.microsoft.com/office/drawing/2014/main" id="{35E4D45A-1ED2-F117-0E4B-188723C7953C}"/>
                </a:ext>
              </a:extLst>
            </p:cNvPr>
            <p:cNvSpPr>
              <a:spLocks/>
            </p:cNvSpPr>
            <p:nvPr/>
          </p:nvSpPr>
          <p:spPr bwMode="auto">
            <a:xfrm>
              <a:off x="3182" y="1825"/>
              <a:ext cx="135" cy="124"/>
            </a:xfrm>
            <a:custGeom>
              <a:avLst/>
              <a:gdLst>
                <a:gd name="T0" fmla="*/ 1454339 w 82"/>
                <a:gd name="T1" fmla="*/ 1412 h 108"/>
                <a:gd name="T2" fmla="*/ 0 w 82"/>
                <a:gd name="T3" fmla="*/ 1480 h 108"/>
                <a:gd name="T4" fmla="*/ 1549621 w 82"/>
                <a:gd name="T5" fmla="*/ 758 h 108"/>
                <a:gd name="T6" fmla="*/ 1689515 w 82"/>
                <a:gd name="T7" fmla="*/ 708 h 108"/>
                <a:gd name="T8" fmla="*/ 1856077 w 82"/>
                <a:gd name="T9" fmla="*/ 571 h 108"/>
                <a:gd name="T10" fmla="*/ 2013884 w 82"/>
                <a:gd name="T11" fmla="*/ 493 h 108"/>
                <a:gd name="T12" fmla="*/ 2225992 w 82"/>
                <a:gd name="T13" fmla="*/ 408 h 108"/>
                <a:gd name="T14" fmla="*/ 2353109 w 82"/>
                <a:gd name="T15" fmla="*/ 286 h 108"/>
                <a:gd name="T16" fmla="*/ 2551205 w 82"/>
                <a:gd name="T17" fmla="*/ 207 h 108"/>
                <a:gd name="T18" fmla="*/ 2677154 w 82"/>
                <a:gd name="T19" fmla="*/ 91 h 108"/>
                <a:gd name="T20" fmla="*/ 2848938 w 82"/>
                <a:gd name="T21" fmla="*/ 0 h 108"/>
                <a:gd name="T22" fmla="*/ 2781519 w 82"/>
                <a:gd name="T23" fmla="*/ 119 h 108"/>
                <a:gd name="T24" fmla="*/ 2739716 w 82"/>
                <a:gd name="T25" fmla="*/ 238 h 108"/>
                <a:gd name="T26" fmla="*/ 2677154 w 82"/>
                <a:gd name="T27" fmla="*/ 359 h 108"/>
                <a:gd name="T28" fmla="*/ 2613799 w 82"/>
                <a:gd name="T29" fmla="*/ 473 h 108"/>
                <a:gd name="T30" fmla="*/ 2574035 w 82"/>
                <a:gd name="T31" fmla="*/ 617 h 108"/>
                <a:gd name="T32" fmla="*/ 2513833 w 82"/>
                <a:gd name="T33" fmla="*/ 731 h 108"/>
                <a:gd name="T34" fmla="*/ 2455820 w 82"/>
                <a:gd name="T35" fmla="*/ 839 h 108"/>
                <a:gd name="T36" fmla="*/ 2394339 w 82"/>
                <a:gd name="T37" fmla="*/ 963 h 108"/>
                <a:gd name="T38" fmla="*/ 2285685 w 82"/>
                <a:gd name="T39" fmla="*/ 1922 h 108"/>
                <a:gd name="T40" fmla="*/ 2249465 w 82"/>
                <a:gd name="T41" fmla="*/ 1951 h 108"/>
                <a:gd name="T42" fmla="*/ 1454339 w 82"/>
                <a:gd name="T43" fmla="*/ 1412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2"/>
                <a:gd name="T67" fmla="*/ 0 h 108"/>
                <a:gd name="T68" fmla="*/ 82 w 82"/>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2" h="108">
                  <a:moveTo>
                    <a:pt x="41" y="78"/>
                  </a:moveTo>
                  <a:lnTo>
                    <a:pt x="0" y="81"/>
                  </a:lnTo>
                  <a:lnTo>
                    <a:pt x="44" y="43"/>
                  </a:lnTo>
                  <a:lnTo>
                    <a:pt x="48" y="38"/>
                  </a:lnTo>
                  <a:lnTo>
                    <a:pt x="53" y="32"/>
                  </a:lnTo>
                  <a:lnTo>
                    <a:pt x="57" y="27"/>
                  </a:lnTo>
                  <a:lnTo>
                    <a:pt x="63" y="22"/>
                  </a:lnTo>
                  <a:lnTo>
                    <a:pt x="67" y="16"/>
                  </a:lnTo>
                  <a:lnTo>
                    <a:pt x="72" y="11"/>
                  </a:lnTo>
                  <a:lnTo>
                    <a:pt x="76" y="5"/>
                  </a:lnTo>
                  <a:lnTo>
                    <a:pt x="81" y="0"/>
                  </a:lnTo>
                  <a:lnTo>
                    <a:pt x="79" y="7"/>
                  </a:lnTo>
                  <a:lnTo>
                    <a:pt x="78" y="13"/>
                  </a:lnTo>
                  <a:lnTo>
                    <a:pt x="76" y="20"/>
                  </a:lnTo>
                  <a:lnTo>
                    <a:pt x="74" y="26"/>
                  </a:lnTo>
                  <a:lnTo>
                    <a:pt x="73" y="33"/>
                  </a:lnTo>
                  <a:lnTo>
                    <a:pt x="71" y="40"/>
                  </a:lnTo>
                  <a:lnTo>
                    <a:pt x="70" y="46"/>
                  </a:lnTo>
                  <a:lnTo>
                    <a:pt x="68" y="53"/>
                  </a:lnTo>
                  <a:lnTo>
                    <a:pt x="65" y="106"/>
                  </a:lnTo>
                  <a:lnTo>
                    <a:pt x="64" y="107"/>
                  </a:lnTo>
                  <a:lnTo>
                    <a:pt x="41" y="7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9" name="Freeform 168">
              <a:extLst>
                <a:ext uri="{FF2B5EF4-FFF2-40B4-BE49-F238E27FC236}">
                  <a16:creationId xmlns:a16="http://schemas.microsoft.com/office/drawing/2014/main" id="{53AF7FEB-753A-0363-4FB1-BFA316FB9962}"/>
                </a:ext>
              </a:extLst>
            </p:cNvPr>
            <p:cNvSpPr>
              <a:spLocks/>
            </p:cNvSpPr>
            <p:nvPr/>
          </p:nvSpPr>
          <p:spPr bwMode="auto">
            <a:xfrm>
              <a:off x="3110" y="1911"/>
              <a:ext cx="148" cy="51"/>
            </a:xfrm>
            <a:custGeom>
              <a:avLst/>
              <a:gdLst>
                <a:gd name="T0" fmla="*/ 418059 w 90"/>
                <a:gd name="T1" fmla="*/ 956 h 44"/>
                <a:gd name="T2" fmla="*/ 480135 w 90"/>
                <a:gd name="T3" fmla="*/ 872 h 44"/>
                <a:gd name="T4" fmla="*/ 687475 w 90"/>
                <a:gd name="T5" fmla="*/ 859 h 44"/>
                <a:gd name="T6" fmla="*/ 968543 w 90"/>
                <a:gd name="T7" fmla="*/ 872 h 44"/>
                <a:gd name="T8" fmla="*/ 1298379 w 90"/>
                <a:gd name="T9" fmla="*/ 872 h 44"/>
                <a:gd name="T10" fmla="*/ 1753134 w 90"/>
                <a:gd name="T11" fmla="*/ 852 h 44"/>
                <a:gd name="T12" fmla="*/ 2196628 w 90"/>
                <a:gd name="T13" fmla="*/ 735 h 44"/>
                <a:gd name="T14" fmla="*/ 2663053 w 90"/>
                <a:gd name="T15" fmla="*/ 518 h 44"/>
                <a:gd name="T16" fmla="*/ 3057132 w 90"/>
                <a:gd name="T17" fmla="*/ 158 h 44"/>
                <a:gd name="T18" fmla="*/ 2663053 w 90"/>
                <a:gd name="T19" fmla="*/ 0 h 44"/>
                <a:gd name="T20" fmla="*/ 2304061 w 90"/>
                <a:gd name="T21" fmla="*/ 305 h 44"/>
                <a:gd name="T22" fmla="*/ 1990834 w 90"/>
                <a:gd name="T23" fmla="*/ 457 h 44"/>
                <a:gd name="T24" fmla="*/ 1655750 w 90"/>
                <a:gd name="T25" fmla="*/ 551 h 44"/>
                <a:gd name="T26" fmla="*/ 1298379 w 90"/>
                <a:gd name="T27" fmla="*/ 551 h 44"/>
                <a:gd name="T28" fmla="*/ 968543 w 90"/>
                <a:gd name="T29" fmla="*/ 551 h 44"/>
                <a:gd name="T30" fmla="*/ 626313 w 90"/>
                <a:gd name="T31" fmla="*/ 597 h 44"/>
                <a:gd name="T32" fmla="*/ 272244 w 90"/>
                <a:gd name="T33" fmla="*/ 639 h 44"/>
                <a:gd name="T34" fmla="*/ 0 w 90"/>
                <a:gd name="T35" fmla="*/ 806 h 44"/>
                <a:gd name="T36" fmla="*/ 418059 w 90"/>
                <a:gd name="T37" fmla="*/ 956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44"/>
                <a:gd name="T59" fmla="*/ 90 w 90"/>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44">
                  <a:moveTo>
                    <a:pt x="12" y="43"/>
                  </a:moveTo>
                  <a:lnTo>
                    <a:pt x="14" y="40"/>
                  </a:lnTo>
                  <a:lnTo>
                    <a:pt x="20" y="39"/>
                  </a:lnTo>
                  <a:lnTo>
                    <a:pt x="28" y="40"/>
                  </a:lnTo>
                  <a:lnTo>
                    <a:pt x="38" y="40"/>
                  </a:lnTo>
                  <a:lnTo>
                    <a:pt x="51" y="38"/>
                  </a:lnTo>
                  <a:lnTo>
                    <a:pt x="64" y="33"/>
                  </a:lnTo>
                  <a:lnTo>
                    <a:pt x="77" y="23"/>
                  </a:lnTo>
                  <a:lnTo>
                    <a:pt x="89" y="7"/>
                  </a:lnTo>
                  <a:lnTo>
                    <a:pt x="77" y="0"/>
                  </a:lnTo>
                  <a:lnTo>
                    <a:pt x="67" y="14"/>
                  </a:lnTo>
                  <a:lnTo>
                    <a:pt x="58" y="21"/>
                  </a:lnTo>
                  <a:lnTo>
                    <a:pt x="48" y="25"/>
                  </a:lnTo>
                  <a:lnTo>
                    <a:pt x="38" y="25"/>
                  </a:lnTo>
                  <a:lnTo>
                    <a:pt x="28" y="25"/>
                  </a:lnTo>
                  <a:lnTo>
                    <a:pt x="18" y="26"/>
                  </a:lnTo>
                  <a:lnTo>
                    <a:pt x="8" y="29"/>
                  </a:lnTo>
                  <a:lnTo>
                    <a:pt x="0" y="36"/>
                  </a:lnTo>
                  <a:lnTo>
                    <a:pt x="12" y="4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0" name="Freeform 169">
              <a:extLst>
                <a:ext uri="{FF2B5EF4-FFF2-40B4-BE49-F238E27FC236}">
                  <a16:creationId xmlns:a16="http://schemas.microsoft.com/office/drawing/2014/main" id="{59882B49-4870-3A82-BF7D-35367E0E3AB3}"/>
                </a:ext>
              </a:extLst>
            </p:cNvPr>
            <p:cNvSpPr>
              <a:spLocks/>
            </p:cNvSpPr>
            <p:nvPr/>
          </p:nvSpPr>
          <p:spPr bwMode="auto">
            <a:xfrm>
              <a:off x="3110" y="1952"/>
              <a:ext cx="130" cy="78"/>
            </a:xfrm>
            <a:custGeom>
              <a:avLst/>
              <a:gdLst>
                <a:gd name="T0" fmla="*/ 2718437 w 79"/>
                <a:gd name="T1" fmla="*/ 1621 h 67"/>
                <a:gd name="T2" fmla="*/ 2654305 w 79"/>
                <a:gd name="T3" fmla="*/ 1318 h 67"/>
                <a:gd name="T4" fmla="*/ 2329860 w 79"/>
                <a:gd name="T5" fmla="*/ 1059 h 67"/>
                <a:gd name="T6" fmla="*/ 1880305 w 79"/>
                <a:gd name="T7" fmla="*/ 882 h 67"/>
                <a:gd name="T8" fmla="*/ 1402150 w 79"/>
                <a:gd name="T9" fmla="*/ 672 h 67"/>
                <a:gd name="T10" fmla="*/ 980208 w 79"/>
                <a:gd name="T11" fmla="*/ 480 h 67"/>
                <a:gd name="T12" fmla="*/ 595665 w 79"/>
                <a:gd name="T13" fmla="*/ 304 h 67"/>
                <a:gd name="T14" fmla="*/ 451334 w 79"/>
                <a:gd name="T15" fmla="*/ 189 h 67"/>
                <a:gd name="T16" fmla="*/ 421968 w 79"/>
                <a:gd name="T17" fmla="*/ 139 h 67"/>
                <a:gd name="T18" fmla="*/ 37404 w 79"/>
                <a:gd name="T19" fmla="*/ 0 h 67"/>
                <a:gd name="T20" fmla="*/ 0 w 79"/>
                <a:gd name="T21" fmla="*/ 304 h 67"/>
                <a:gd name="T22" fmla="*/ 274272 w 79"/>
                <a:gd name="T23" fmla="*/ 559 h 67"/>
                <a:gd name="T24" fmla="*/ 694378 w 79"/>
                <a:gd name="T25" fmla="*/ 779 h 67"/>
                <a:gd name="T26" fmla="*/ 1178814 w 79"/>
                <a:gd name="T27" fmla="*/ 951 h 67"/>
                <a:gd name="T28" fmla="*/ 1674120 w 79"/>
                <a:gd name="T29" fmla="*/ 1146 h 67"/>
                <a:gd name="T30" fmla="*/ 2011163 w 79"/>
                <a:gd name="T31" fmla="*/ 1318 h 67"/>
                <a:gd name="T32" fmla="*/ 2231208 w 79"/>
                <a:gd name="T33" fmla="*/ 1442 h 67"/>
                <a:gd name="T34" fmla="*/ 2269433 w 79"/>
                <a:gd name="T35" fmla="*/ 1512 h 67"/>
                <a:gd name="T36" fmla="*/ 2718437 w 79"/>
                <a:gd name="T37" fmla="*/ 1621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7"/>
                <a:gd name="T59" fmla="*/ 79 w 79"/>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7">
                  <a:moveTo>
                    <a:pt x="78" y="66"/>
                  </a:moveTo>
                  <a:lnTo>
                    <a:pt x="76" y="54"/>
                  </a:lnTo>
                  <a:lnTo>
                    <a:pt x="67" y="44"/>
                  </a:lnTo>
                  <a:lnTo>
                    <a:pt x="54" y="36"/>
                  </a:lnTo>
                  <a:lnTo>
                    <a:pt x="40" y="28"/>
                  </a:lnTo>
                  <a:lnTo>
                    <a:pt x="28" y="20"/>
                  </a:lnTo>
                  <a:lnTo>
                    <a:pt x="17" y="13"/>
                  </a:lnTo>
                  <a:lnTo>
                    <a:pt x="13" y="8"/>
                  </a:lnTo>
                  <a:lnTo>
                    <a:pt x="12" y="6"/>
                  </a:lnTo>
                  <a:lnTo>
                    <a:pt x="1" y="0"/>
                  </a:lnTo>
                  <a:lnTo>
                    <a:pt x="0" y="13"/>
                  </a:lnTo>
                  <a:lnTo>
                    <a:pt x="8" y="23"/>
                  </a:lnTo>
                  <a:lnTo>
                    <a:pt x="20" y="32"/>
                  </a:lnTo>
                  <a:lnTo>
                    <a:pt x="34" y="39"/>
                  </a:lnTo>
                  <a:lnTo>
                    <a:pt x="48" y="47"/>
                  </a:lnTo>
                  <a:lnTo>
                    <a:pt x="58" y="54"/>
                  </a:lnTo>
                  <a:lnTo>
                    <a:pt x="64" y="60"/>
                  </a:lnTo>
                  <a:lnTo>
                    <a:pt x="65" y="62"/>
                  </a:lnTo>
                  <a:lnTo>
                    <a:pt x="78"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1" name="Freeform 170">
              <a:extLst>
                <a:ext uri="{FF2B5EF4-FFF2-40B4-BE49-F238E27FC236}">
                  <a16:creationId xmlns:a16="http://schemas.microsoft.com/office/drawing/2014/main" id="{4189DE5C-B5B2-4146-D1B1-9EA46DC1CF69}"/>
                </a:ext>
              </a:extLst>
            </p:cNvPr>
            <p:cNvSpPr>
              <a:spLocks/>
            </p:cNvSpPr>
            <p:nvPr/>
          </p:nvSpPr>
          <p:spPr bwMode="auto">
            <a:xfrm>
              <a:off x="3064" y="2024"/>
              <a:ext cx="176" cy="28"/>
            </a:xfrm>
            <a:custGeom>
              <a:avLst/>
              <a:gdLst>
                <a:gd name="T0" fmla="*/ 448956 w 107"/>
                <a:gd name="T1" fmla="*/ 261 h 25"/>
                <a:gd name="T2" fmla="*/ 551648 w 107"/>
                <a:gd name="T3" fmla="*/ 239 h 25"/>
                <a:gd name="T4" fmla="*/ 855362 w 107"/>
                <a:gd name="T5" fmla="*/ 208 h 25"/>
                <a:gd name="T6" fmla="*/ 1326479 w 107"/>
                <a:gd name="T7" fmla="*/ 190 h 25"/>
                <a:gd name="T8" fmla="*/ 1829721 w 107"/>
                <a:gd name="T9" fmla="*/ 190 h 25"/>
                <a:gd name="T10" fmla="*/ 2374059 w 107"/>
                <a:gd name="T11" fmla="*/ 190 h 25"/>
                <a:gd name="T12" fmla="*/ 2937350 w 107"/>
                <a:gd name="T13" fmla="*/ 186 h 25"/>
                <a:gd name="T14" fmla="*/ 3361858 w 107"/>
                <a:gd name="T15" fmla="*/ 148 h 25"/>
                <a:gd name="T16" fmla="*/ 3649694 w 107"/>
                <a:gd name="T17" fmla="*/ 4 h 25"/>
                <a:gd name="T18" fmla="*/ 3223782 w 107"/>
                <a:gd name="T19" fmla="*/ 0 h 25"/>
                <a:gd name="T20" fmla="*/ 3107351 w 107"/>
                <a:gd name="T21" fmla="*/ 2 h 25"/>
                <a:gd name="T22" fmla="*/ 2833329 w 107"/>
                <a:gd name="T23" fmla="*/ 4 h 25"/>
                <a:gd name="T24" fmla="*/ 2374059 w 107"/>
                <a:gd name="T25" fmla="*/ 60 h 25"/>
                <a:gd name="T26" fmla="*/ 1829721 w 107"/>
                <a:gd name="T27" fmla="*/ 4 h 25"/>
                <a:gd name="T28" fmla="*/ 1326479 w 107"/>
                <a:gd name="T29" fmla="*/ 60 h 25"/>
                <a:gd name="T30" fmla="*/ 755427 w 107"/>
                <a:gd name="T31" fmla="*/ 67 h 25"/>
                <a:gd name="T32" fmla="*/ 316149 w 107"/>
                <a:gd name="T33" fmla="*/ 105 h 25"/>
                <a:gd name="T34" fmla="*/ 0 w 107"/>
                <a:gd name="T35" fmla="*/ 213 h 25"/>
                <a:gd name="T36" fmla="*/ 448956 w 107"/>
                <a:gd name="T37" fmla="*/ 261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5" y="19"/>
                  </a:lnTo>
                  <a:lnTo>
                    <a:pt x="38" y="18"/>
                  </a:lnTo>
                  <a:lnTo>
                    <a:pt x="53" y="18"/>
                  </a:lnTo>
                  <a:lnTo>
                    <a:pt x="69" y="18"/>
                  </a:lnTo>
                  <a:lnTo>
                    <a:pt x="85" y="17"/>
                  </a:lnTo>
                  <a:lnTo>
                    <a:pt x="97" y="13"/>
                  </a:lnTo>
                  <a:lnTo>
                    <a:pt x="106" y="4"/>
                  </a:lnTo>
                  <a:lnTo>
                    <a:pt x="93" y="0"/>
                  </a:lnTo>
                  <a:lnTo>
                    <a:pt x="90" y="2"/>
                  </a:lnTo>
                  <a:lnTo>
                    <a:pt x="82" y="4"/>
                  </a:lnTo>
                  <a:lnTo>
                    <a:pt x="69" y="5"/>
                  </a:lnTo>
                  <a:lnTo>
                    <a:pt x="53" y="4"/>
                  </a:lnTo>
                  <a:lnTo>
                    <a:pt x="38" y="5"/>
                  </a:lnTo>
                  <a:lnTo>
                    <a:pt x="22" y="6"/>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2" name="Freeform 171">
              <a:extLst>
                <a:ext uri="{FF2B5EF4-FFF2-40B4-BE49-F238E27FC236}">
                  <a16:creationId xmlns:a16="http://schemas.microsoft.com/office/drawing/2014/main" id="{A2BDA63E-C4B6-BF1E-25AA-03EF335D7C7D}"/>
                </a:ext>
              </a:extLst>
            </p:cNvPr>
            <p:cNvSpPr>
              <a:spLocks/>
            </p:cNvSpPr>
            <p:nvPr/>
          </p:nvSpPr>
          <p:spPr bwMode="auto">
            <a:xfrm>
              <a:off x="3064" y="2048"/>
              <a:ext cx="130" cy="76"/>
            </a:xfrm>
            <a:custGeom>
              <a:avLst/>
              <a:gdLst>
                <a:gd name="T0" fmla="*/ 2718437 w 79"/>
                <a:gd name="T1" fmla="*/ 1246 h 66"/>
                <a:gd name="T2" fmla="*/ 2654305 w 79"/>
                <a:gd name="T3" fmla="*/ 1029 h 66"/>
                <a:gd name="T4" fmla="*/ 2373138 w 79"/>
                <a:gd name="T5" fmla="*/ 839 h 66"/>
                <a:gd name="T6" fmla="*/ 1930358 w 79"/>
                <a:gd name="T7" fmla="*/ 674 h 66"/>
                <a:gd name="T8" fmla="*/ 1468965 w 79"/>
                <a:gd name="T9" fmla="*/ 550 h 66"/>
                <a:gd name="T10" fmla="*/ 1040012 w 79"/>
                <a:gd name="T11" fmla="*/ 383 h 66"/>
                <a:gd name="T12" fmla="*/ 656503 w 79"/>
                <a:gd name="T13" fmla="*/ 251 h 66"/>
                <a:gd name="T14" fmla="*/ 493266 w 79"/>
                <a:gd name="T15" fmla="*/ 117 h 66"/>
                <a:gd name="T16" fmla="*/ 451334 w 79"/>
                <a:gd name="T17" fmla="*/ 89 h 66"/>
                <a:gd name="T18" fmla="*/ 0 w 79"/>
                <a:gd name="T19" fmla="*/ 0 h 66"/>
                <a:gd name="T20" fmla="*/ 61551 w 79"/>
                <a:gd name="T21" fmla="*/ 251 h 66"/>
                <a:gd name="T22" fmla="*/ 339473 w 79"/>
                <a:gd name="T23" fmla="*/ 441 h 66"/>
                <a:gd name="T24" fmla="*/ 760939 w 79"/>
                <a:gd name="T25" fmla="*/ 633 h 66"/>
                <a:gd name="T26" fmla="*/ 1252178 w 79"/>
                <a:gd name="T27" fmla="*/ 755 h 66"/>
                <a:gd name="T28" fmla="*/ 1711412 w 79"/>
                <a:gd name="T29" fmla="*/ 896 h 66"/>
                <a:gd name="T30" fmla="*/ 2060546 w 79"/>
                <a:gd name="T31" fmla="*/ 1032 h 66"/>
                <a:gd name="T32" fmla="*/ 2231208 w 79"/>
                <a:gd name="T33" fmla="*/ 1153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3"/>
                  </a:lnTo>
                  <a:lnTo>
                    <a:pt x="68" y="43"/>
                  </a:lnTo>
                  <a:lnTo>
                    <a:pt x="55" y="35"/>
                  </a:lnTo>
                  <a:lnTo>
                    <a:pt x="42" y="28"/>
                  </a:lnTo>
                  <a:lnTo>
                    <a:pt x="30" y="20"/>
                  </a:lnTo>
                  <a:lnTo>
                    <a:pt x="19" y="13"/>
                  </a:lnTo>
                  <a:lnTo>
                    <a:pt x="14" y="6"/>
                  </a:lnTo>
                  <a:lnTo>
                    <a:pt x="13" y="4"/>
                  </a:lnTo>
                  <a:lnTo>
                    <a:pt x="0" y="0"/>
                  </a:lnTo>
                  <a:lnTo>
                    <a:pt x="2" y="13"/>
                  </a:lnTo>
                  <a:lnTo>
                    <a:pt x="10" y="23"/>
                  </a:lnTo>
                  <a:lnTo>
                    <a:pt x="22" y="32"/>
                  </a:lnTo>
                  <a:lnTo>
                    <a:pt x="36" y="39"/>
                  </a:lnTo>
                  <a:lnTo>
                    <a:pt x="49" y="47"/>
                  </a:lnTo>
                  <a:lnTo>
                    <a:pt x="59" y="54"/>
                  </a:lnTo>
                  <a:lnTo>
                    <a:pt x="64" y="60"/>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3" name="Freeform 172">
              <a:extLst>
                <a:ext uri="{FF2B5EF4-FFF2-40B4-BE49-F238E27FC236}">
                  <a16:creationId xmlns:a16="http://schemas.microsoft.com/office/drawing/2014/main" id="{C82AA5AE-1AC8-F7F9-D8F4-5F2F2A25A90C}"/>
                </a:ext>
              </a:extLst>
            </p:cNvPr>
            <p:cNvSpPr>
              <a:spLocks/>
            </p:cNvSpPr>
            <p:nvPr/>
          </p:nvSpPr>
          <p:spPr bwMode="auto">
            <a:xfrm>
              <a:off x="3020" y="2118"/>
              <a:ext cx="174" cy="27"/>
            </a:xfrm>
            <a:custGeom>
              <a:avLst/>
              <a:gdLst>
                <a:gd name="T0" fmla="*/ 555905 w 105"/>
                <a:gd name="T1" fmla="*/ 463 h 23"/>
                <a:gd name="T2" fmla="*/ 555905 w 105"/>
                <a:gd name="T3" fmla="*/ 514 h 23"/>
                <a:gd name="T4" fmla="*/ 605611 w 105"/>
                <a:gd name="T5" fmla="*/ 505 h 23"/>
                <a:gd name="T6" fmla="*/ 970032 w 105"/>
                <a:gd name="T7" fmla="*/ 438 h 23"/>
                <a:gd name="T8" fmla="*/ 1485145 w 105"/>
                <a:gd name="T9" fmla="*/ 463 h 23"/>
                <a:gd name="T10" fmla="*/ 2105818 w 105"/>
                <a:gd name="T11" fmla="*/ 463 h 23"/>
                <a:gd name="T12" fmla="*/ 2755964 w 105"/>
                <a:gd name="T13" fmla="*/ 505 h 23"/>
                <a:gd name="T14" fmla="*/ 3311643 w 105"/>
                <a:gd name="T15" fmla="*/ 463 h 23"/>
                <a:gd name="T16" fmla="*/ 3873205 w 105"/>
                <a:gd name="T17" fmla="*/ 373 h 23"/>
                <a:gd name="T18" fmla="*/ 4192184 w 105"/>
                <a:gd name="T19" fmla="*/ 122 h 23"/>
                <a:gd name="T20" fmla="*/ 3677016 w 105"/>
                <a:gd name="T21" fmla="*/ 0 h 23"/>
                <a:gd name="T22" fmla="*/ 3587389 w 105"/>
                <a:gd name="T23" fmla="*/ 1 h 23"/>
                <a:gd name="T24" fmla="*/ 3269143 w 105"/>
                <a:gd name="T25" fmla="*/ 104 h 23"/>
                <a:gd name="T26" fmla="*/ 2755964 w 105"/>
                <a:gd name="T27" fmla="*/ 104 h 23"/>
                <a:gd name="T28" fmla="*/ 2105818 w 105"/>
                <a:gd name="T29" fmla="*/ 104 h 23"/>
                <a:gd name="T30" fmla="*/ 1485145 w 105"/>
                <a:gd name="T31" fmla="*/ 1 h 23"/>
                <a:gd name="T32" fmla="*/ 921214 w 105"/>
                <a:gd name="T33" fmla="*/ 2 h 23"/>
                <a:gd name="T34" fmla="*/ 407286 w 105"/>
                <a:gd name="T35" fmla="*/ 122 h 23"/>
                <a:gd name="T36" fmla="*/ 42486 w 105"/>
                <a:gd name="T37" fmla="*/ 394 h 23"/>
                <a:gd name="T38" fmla="*/ 0 w 105"/>
                <a:gd name="T39" fmla="*/ 463 h 23"/>
                <a:gd name="T40" fmla="*/ 42486 w 105"/>
                <a:gd name="T41" fmla="*/ 394 h 23"/>
                <a:gd name="T42" fmla="*/ 42486 w 105"/>
                <a:gd name="T43" fmla="*/ 544 h 23"/>
                <a:gd name="T44" fmla="*/ 193341 w 105"/>
                <a:gd name="T45" fmla="*/ 639 h 23"/>
                <a:gd name="T46" fmla="*/ 407286 w 105"/>
                <a:gd name="T47" fmla="*/ 603 h 23"/>
                <a:gd name="T48" fmla="*/ 555905 w 105"/>
                <a:gd name="T49" fmla="*/ 514 h 23"/>
                <a:gd name="T50" fmla="*/ 555905 w 105"/>
                <a:gd name="T51" fmla="*/ 463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5"/>
                <a:gd name="T79" fmla="*/ 0 h 23"/>
                <a:gd name="T80" fmla="*/ 105 w 105"/>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5" h="23">
                  <a:moveTo>
                    <a:pt x="14" y="16"/>
                  </a:moveTo>
                  <a:lnTo>
                    <a:pt x="14" y="18"/>
                  </a:lnTo>
                  <a:lnTo>
                    <a:pt x="15" y="17"/>
                  </a:lnTo>
                  <a:lnTo>
                    <a:pt x="24" y="15"/>
                  </a:lnTo>
                  <a:lnTo>
                    <a:pt x="37" y="16"/>
                  </a:lnTo>
                  <a:lnTo>
                    <a:pt x="52" y="16"/>
                  </a:lnTo>
                  <a:lnTo>
                    <a:pt x="68" y="17"/>
                  </a:lnTo>
                  <a:lnTo>
                    <a:pt x="82" y="16"/>
                  </a:lnTo>
                  <a:lnTo>
                    <a:pt x="96" y="13"/>
                  </a:lnTo>
                  <a:lnTo>
                    <a:pt x="104" y="4"/>
                  </a:lnTo>
                  <a:lnTo>
                    <a:pt x="91" y="0"/>
                  </a:lnTo>
                  <a:lnTo>
                    <a:pt x="89" y="1"/>
                  </a:lnTo>
                  <a:lnTo>
                    <a:pt x="81" y="3"/>
                  </a:lnTo>
                  <a:lnTo>
                    <a:pt x="68" y="3"/>
                  </a:lnTo>
                  <a:lnTo>
                    <a:pt x="52" y="3"/>
                  </a:lnTo>
                  <a:lnTo>
                    <a:pt x="37" y="1"/>
                  </a:lnTo>
                  <a:lnTo>
                    <a:pt x="23" y="2"/>
                  </a:lnTo>
                  <a:lnTo>
                    <a:pt x="10" y="4"/>
                  </a:lnTo>
                  <a:lnTo>
                    <a:pt x="1" y="14"/>
                  </a:lnTo>
                  <a:lnTo>
                    <a:pt x="0" y="16"/>
                  </a:lnTo>
                  <a:lnTo>
                    <a:pt x="1" y="14"/>
                  </a:lnTo>
                  <a:lnTo>
                    <a:pt x="1" y="19"/>
                  </a:lnTo>
                  <a:lnTo>
                    <a:pt x="5" y="22"/>
                  </a:lnTo>
                  <a:lnTo>
                    <a:pt x="10" y="21"/>
                  </a:lnTo>
                  <a:lnTo>
                    <a:pt x="14" y="18"/>
                  </a:lnTo>
                  <a:lnTo>
                    <a:pt x="14" y="1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4" name="Freeform 173">
              <a:extLst>
                <a:ext uri="{FF2B5EF4-FFF2-40B4-BE49-F238E27FC236}">
                  <a16:creationId xmlns:a16="http://schemas.microsoft.com/office/drawing/2014/main" id="{37C2668B-4181-9CCA-9248-E18F1890098A}"/>
                </a:ext>
              </a:extLst>
            </p:cNvPr>
            <p:cNvSpPr>
              <a:spLocks/>
            </p:cNvSpPr>
            <p:nvPr/>
          </p:nvSpPr>
          <p:spPr bwMode="auto">
            <a:xfrm>
              <a:off x="3020" y="2136"/>
              <a:ext cx="25" cy="11"/>
            </a:xfrm>
            <a:custGeom>
              <a:avLst/>
              <a:gdLst>
                <a:gd name="T0" fmla="*/ 621467 w 15"/>
                <a:gd name="T1" fmla="*/ 216 h 9"/>
                <a:gd name="T2" fmla="*/ 621467 w 15"/>
                <a:gd name="T3" fmla="*/ 2 h 9"/>
                <a:gd name="T4" fmla="*/ 621467 w 15"/>
                <a:gd name="T5" fmla="*/ 0 h 9"/>
                <a:gd name="T6" fmla="*/ 0 w 15"/>
                <a:gd name="T7" fmla="*/ 0 h 9"/>
                <a:gd name="T8" fmla="*/ 0 w 15"/>
                <a:gd name="T9" fmla="*/ 2 h 9"/>
                <a:gd name="T10" fmla="*/ 47430 w 15"/>
                <a:gd name="T11" fmla="*/ 0 h 9"/>
                <a:gd name="T12" fmla="*/ 0 w 15"/>
                <a:gd name="T13" fmla="*/ 2 h 9"/>
                <a:gd name="T14" fmla="*/ 79050 w 15"/>
                <a:gd name="T15" fmla="*/ 483 h 9"/>
                <a:gd name="T16" fmla="*/ 325255 w 15"/>
                <a:gd name="T17" fmla="*/ 543 h 9"/>
                <a:gd name="T18" fmla="*/ 542092 w 15"/>
                <a:gd name="T19" fmla="*/ 483 h 9"/>
                <a:gd name="T20" fmla="*/ 621467 w 15"/>
                <a:gd name="T21" fmla="*/ 2 h 9"/>
                <a:gd name="T22" fmla="*/ 621467 w 15"/>
                <a:gd name="T23" fmla="*/ 216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9"/>
                <a:gd name="T38" fmla="*/ 15 w 15"/>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9">
                  <a:moveTo>
                    <a:pt x="14" y="3"/>
                  </a:moveTo>
                  <a:lnTo>
                    <a:pt x="14" y="2"/>
                  </a:lnTo>
                  <a:lnTo>
                    <a:pt x="14" y="0"/>
                  </a:lnTo>
                  <a:lnTo>
                    <a:pt x="0" y="0"/>
                  </a:lnTo>
                  <a:lnTo>
                    <a:pt x="0" y="2"/>
                  </a:lnTo>
                  <a:lnTo>
                    <a:pt x="1" y="0"/>
                  </a:lnTo>
                  <a:lnTo>
                    <a:pt x="0" y="2"/>
                  </a:lnTo>
                  <a:lnTo>
                    <a:pt x="2" y="7"/>
                  </a:lnTo>
                  <a:lnTo>
                    <a:pt x="7" y="8"/>
                  </a:lnTo>
                  <a:lnTo>
                    <a:pt x="12" y="7"/>
                  </a:lnTo>
                  <a:lnTo>
                    <a:pt x="14" y="2"/>
                  </a:lnTo>
                  <a:lnTo>
                    <a:pt x="14"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5" name="Freeform 174">
              <a:extLst>
                <a:ext uri="{FF2B5EF4-FFF2-40B4-BE49-F238E27FC236}">
                  <a16:creationId xmlns:a16="http://schemas.microsoft.com/office/drawing/2014/main" id="{9FC6C264-70C7-190A-4150-0AD3642CCF90}"/>
                </a:ext>
              </a:extLst>
            </p:cNvPr>
            <p:cNvSpPr>
              <a:spLocks/>
            </p:cNvSpPr>
            <p:nvPr/>
          </p:nvSpPr>
          <p:spPr bwMode="auto">
            <a:xfrm>
              <a:off x="3020" y="2136"/>
              <a:ext cx="132" cy="77"/>
            </a:xfrm>
            <a:custGeom>
              <a:avLst/>
              <a:gdLst>
                <a:gd name="T0" fmla="*/ 2918860 w 80"/>
                <a:gd name="T1" fmla="*/ 1224 h 67"/>
                <a:gd name="T2" fmla="*/ 2918860 w 80"/>
                <a:gd name="T3" fmla="*/ 1219 h 67"/>
                <a:gd name="T4" fmla="*/ 2842721 w 80"/>
                <a:gd name="T5" fmla="*/ 972 h 67"/>
                <a:gd name="T6" fmla="*/ 2480000 w 80"/>
                <a:gd name="T7" fmla="*/ 831 h 67"/>
                <a:gd name="T8" fmla="*/ 2037753 w 80"/>
                <a:gd name="T9" fmla="*/ 690 h 67"/>
                <a:gd name="T10" fmla="*/ 1545345 w 80"/>
                <a:gd name="T11" fmla="*/ 547 h 67"/>
                <a:gd name="T12" fmla="*/ 1072125 w 80"/>
                <a:gd name="T13" fmla="*/ 414 h 67"/>
                <a:gd name="T14" fmla="*/ 667037 w 80"/>
                <a:gd name="T15" fmla="*/ 278 h 67"/>
                <a:gd name="T16" fmla="*/ 520035 w 80"/>
                <a:gd name="T17" fmla="*/ 160 h 67"/>
                <a:gd name="T18" fmla="*/ 477527 w 80"/>
                <a:gd name="T19" fmla="*/ 3 h 67"/>
                <a:gd name="T20" fmla="*/ 0 w 80"/>
                <a:gd name="T21" fmla="*/ 0 h 67"/>
                <a:gd name="T22" fmla="*/ 39046 w 80"/>
                <a:gd name="T23" fmla="*/ 260 h 67"/>
                <a:gd name="T24" fmla="*/ 338181 w 80"/>
                <a:gd name="T25" fmla="*/ 476 h 67"/>
                <a:gd name="T26" fmla="*/ 787920 w 80"/>
                <a:gd name="T27" fmla="*/ 640 h 67"/>
                <a:gd name="T28" fmla="*/ 1300068 w 80"/>
                <a:gd name="T29" fmla="*/ 755 h 67"/>
                <a:gd name="T30" fmla="*/ 1816008 w 80"/>
                <a:gd name="T31" fmla="*/ 876 h 67"/>
                <a:gd name="T32" fmla="*/ 2169448 w 80"/>
                <a:gd name="T33" fmla="*/ 998 h 67"/>
                <a:gd name="T34" fmla="*/ 2399955 w 80"/>
                <a:gd name="T35" fmla="*/ 1117 h 67"/>
                <a:gd name="T36" fmla="*/ 2442464 w 80"/>
                <a:gd name="T37" fmla="*/ 1132 h 67"/>
                <a:gd name="T38" fmla="*/ 2918860 w 80"/>
                <a:gd name="T39" fmla="*/ 1224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7"/>
                <a:gd name="T62" fmla="*/ 80 w 80"/>
                <a:gd name="T63" fmla="*/ 67 h 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7">
                  <a:moveTo>
                    <a:pt x="79" y="66"/>
                  </a:moveTo>
                  <a:lnTo>
                    <a:pt x="79" y="65"/>
                  </a:lnTo>
                  <a:lnTo>
                    <a:pt x="77" y="52"/>
                  </a:lnTo>
                  <a:lnTo>
                    <a:pt x="67" y="44"/>
                  </a:lnTo>
                  <a:lnTo>
                    <a:pt x="55" y="37"/>
                  </a:lnTo>
                  <a:lnTo>
                    <a:pt x="42" y="29"/>
                  </a:lnTo>
                  <a:lnTo>
                    <a:pt x="29" y="22"/>
                  </a:lnTo>
                  <a:lnTo>
                    <a:pt x="18" y="15"/>
                  </a:lnTo>
                  <a:lnTo>
                    <a:pt x="14" y="9"/>
                  </a:lnTo>
                  <a:lnTo>
                    <a:pt x="13" y="3"/>
                  </a:lnTo>
                  <a:lnTo>
                    <a:pt x="0" y="0"/>
                  </a:lnTo>
                  <a:lnTo>
                    <a:pt x="1" y="14"/>
                  </a:lnTo>
                  <a:lnTo>
                    <a:pt x="9" y="25"/>
                  </a:lnTo>
                  <a:lnTo>
                    <a:pt x="21" y="34"/>
                  </a:lnTo>
                  <a:lnTo>
                    <a:pt x="35" y="41"/>
                  </a:lnTo>
                  <a:lnTo>
                    <a:pt x="49" y="48"/>
                  </a:lnTo>
                  <a:lnTo>
                    <a:pt x="59" y="54"/>
                  </a:lnTo>
                  <a:lnTo>
                    <a:pt x="65" y="60"/>
                  </a:lnTo>
                  <a:lnTo>
                    <a:pt x="66" y="61"/>
                  </a:lnTo>
                  <a:lnTo>
                    <a:pt x="79"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6" name="Freeform 175">
              <a:extLst>
                <a:ext uri="{FF2B5EF4-FFF2-40B4-BE49-F238E27FC236}">
                  <a16:creationId xmlns:a16="http://schemas.microsoft.com/office/drawing/2014/main" id="{F48054A2-4229-329B-1D5E-4EA938DD98C7}"/>
                </a:ext>
              </a:extLst>
            </p:cNvPr>
            <p:cNvSpPr>
              <a:spLocks/>
            </p:cNvSpPr>
            <p:nvPr/>
          </p:nvSpPr>
          <p:spPr bwMode="auto">
            <a:xfrm>
              <a:off x="2974" y="2207"/>
              <a:ext cx="178" cy="30"/>
            </a:xfrm>
            <a:custGeom>
              <a:avLst/>
              <a:gdLst>
                <a:gd name="T0" fmla="*/ 467977 w 108"/>
                <a:gd name="T1" fmla="*/ 496 h 26"/>
                <a:gd name="T2" fmla="*/ 572069 w 108"/>
                <a:gd name="T3" fmla="*/ 466 h 26"/>
                <a:gd name="T4" fmla="*/ 904365 w 108"/>
                <a:gd name="T5" fmla="*/ 404 h 26"/>
                <a:gd name="T6" fmla="*/ 1340297 w 108"/>
                <a:gd name="T7" fmla="*/ 373 h 26"/>
                <a:gd name="T8" fmla="*/ 1899138 w 108"/>
                <a:gd name="T9" fmla="*/ 404 h 26"/>
                <a:gd name="T10" fmla="*/ 2520165 w 108"/>
                <a:gd name="T11" fmla="*/ 373 h 26"/>
                <a:gd name="T12" fmla="*/ 3068888 w 108"/>
                <a:gd name="T13" fmla="*/ 372 h 26"/>
                <a:gd name="T14" fmla="*/ 3543764 w 108"/>
                <a:gd name="T15" fmla="*/ 279 h 26"/>
                <a:gd name="T16" fmla="*/ 3851116 w 108"/>
                <a:gd name="T17" fmla="*/ 103 h 26"/>
                <a:gd name="T18" fmla="*/ 3382615 w 108"/>
                <a:gd name="T19" fmla="*/ 0 h 26"/>
                <a:gd name="T20" fmla="*/ 3279487 w 108"/>
                <a:gd name="T21" fmla="*/ 3 h 26"/>
                <a:gd name="T22" fmla="*/ 2963647 w 108"/>
                <a:gd name="T23" fmla="*/ 103 h 26"/>
                <a:gd name="T24" fmla="*/ 2520165 w 108"/>
                <a:gd name="T25" fmla="*/ 119 h 26"/>
                <a:gd name="T26" fmla="*/ 1899138 w 108"/>
                <a:gd name="T27" fmla="*/ 103 h 26"/>
                <a:gd name="T28" fmla="*/ 1340297 w 108"/>
                <a:gd name="T29" fmla="*/ 119 h 26"/>
                <a:gd name="T30" fmla="*/ 782669 w 108"/>
                <a:gd name="T31" fmla="*/ 137 h 26"/>
                <a:gd name="T32" fmla="*/ 332929 w 108"/>
                <a:gd name="T33" fmla="*/ 228 h 26"/>
                <a:gd name="T34" fmla="*/ 0 w 108"/>
                <a:gd name="T35" fmla="*/ 429 h 26"/>
                <a:gd name="T36" fmla="*/ 467977 w 108"/>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8"/>
                <a:gd name="T58" fmla="*/ 0 h 26"/>
                <a:gd name="T59" fmla="*/ 108 w 108"/>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8" h="26">
                  <a:moveTo>
                    <a:pt x="13" y="25"/>
                  </a:moveTo>
                  <a:lnTo>
                    <a:pt x="16" y="23"/>
                  </a:lnTo>
                  <a:lnTo>
                    <a:pt x="25" y="20"/>
                  </a:lnTo>
                  <a:lnTo>
                    <a:pt x="37" y="19"/>
                  </a:lnTo>
                  <a:lnTo>
                    <a:pt x="53" y="20"/>
                  </a:lnTo>
                  <a:lnTo>
                    <a:pt x="70" y="19"/>
                  </a:lnTo>
                  <a:lnTo>
                    <a:pt x="85" y="18"/>
                  </a:lnTo>
                  <a:lnTo>
                    <a:pt x="98" y="14"/>
                  </a:lnTo>
                  <a:lnTo>
                    <a:pt x="107" y="5"/>
                  </a:lnTo>
                  <a:lnTo>
                    <a:pt x="94" y="0"/>
                  </a:lnTo>
                  <a:lnTo>
                    <a:pt x="91" y="3"/>
                  </a:lnTo>
                  <a:lnTo>
                    <a:pt x="82" y="5"/>
                  </a:lnTo>
                  <a:lnTo>
                    <a:pt x="70" y="6"/>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7" name="Freeform 176">
              <a:extLst>
                <a:ext uri="{FF2B5EF4-FFF2-40B4-BE49-F238E27FC236}">
                  <a16:creationId xmlns:a16="http://schemas.microsoft.com/office/drawing/2014/main" id="{32530AF9-A256-13C8-3A34-EDDA774413A8}"/>
                </a:ext>
              </a:extLst>
            </p:cNvPr>
            <p:cNvSpPr>
              <a:spLocks/>
            </p:cNvSpPr>
            <p:nvPr/>
          </p:nvSpPr>
          <p:spPr bwMode="auto">
            <a:xfrm>
              <a:off x="2974" y="2231"/>
              <a:ext cx="132" cy="76"/>
            </a:xfrm>
            <a:custGeom>
              <a:avLst/>
              <a:gdLst>
                <a:gd name="T0" fmla="*/ 2918860 w 80"/>
                <a:gd name="T1" fmla="*/ 1246 h 66"/>
                <a:gd name="T2" fmla="*/ 2842721 w 80"/>
                <a:gd name="T3" fmla="*/ 1001 h 66"/>
                <a:gd name="T4" fmla="*/ 2506601 w 80"/>
                <a:gd name="T5" fmla="*/ 839 h 66"/>
                <a:gd name="T6" fmla="*/ 2099480 w 80"/>
                <a:gd name="T7" fmla="*/ 656 h 66"/>
                <a:gd name="T8" fmla="*/ 1545345 w 80"/>
                <a:gd name="T9" fmla="*/ 510 h 66"/>
                <a:gd name="T10" fmla="*/ 1100611 w 80"/>
                <a:gd name="T11" fmla="*/ 371 h 66"/>
                <a:gd name="T12" fmla="*/ 733570 w 80"/>
                <a:gd name="T13" fmla="*/ 236 h 66"/>
                <a:gd name="T14" fmla="*/ 520035 w 80"/>
                <a:gd name="T15" fmla="*/ 117 h 66"/>
                <a:gd name="T16" fmla="*/ 477527 w 80"/>
                <a:gd name="T17" fmla="*/ 89 h 66"/>
                <a:gd name="T18" fmla="*/ 0 w 80"/>
                <a:gd name="T19" fmla="*/ 0 h 66"/>
                <a:gd name="T20" fmla="*/ 64426 w 80"/>
                <a:gd name="T21" fmla="*/ 251 h 66"/>
                <a:gd name="T22" fmla="*/ 404265 w 80"/>
                <a:gd name="T23" fmla="*/ 441 h 66"/>
                <a:gd name="T24" fmla="*/ 796859 w 80"/>
                <a:gd name="T25" fmla="*/ 587 h 66"/>
                <a:gd name="T26" fmla="*/ 1314817 w 80"/>
                <a:gd name="T27" fmla="*/ 752 h 66"/>
                <a:gd name="T28" fmla="*/ 1816008 w 80"/>
                <a:gd name="T29" fmla="*/ 894 h 66"/>
                <a:gd name="T30" fmla="*/ 2169448 w 80"/>
                <a:gd name="T31" fmla="*/ 1029 h 66"/>
                <a:gd name="T32" fmla="*/ 2399955 w 80"/>
                <a:gd name="T33" fmla="*/ 1148 h 66"/>
                <a:gd name="T34" fmla="*/ 2442464 w 80"/>
                <a:gd name="T35" fmla="*/ 1185 h 66"/>
                <a:gd name="T36" fmla="*/ 2918860 w 80"/>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7" y="34"/>
                  </a:lnTo>
                  <a:lnTo>
                    <a:pt x="42" y="27"/>
                  </a:lnTo>
                  <a:lnTo>
                    <a:pt x="30" y="19"/>
                  </a:lnTo>
                  <a:lnTo>
                    <a:pt x="20" y="12"/>
                  </a:lnTo>
                  <a:lnTo>
                    <a:pt x="14" y="6"/>
                  </a:lnTo>
                  <a:lnTo>
                    <a:pt x="13" y="4"/>
                  </a:lnTo>
                  <a:lnTo>
                    <a:pt x="0" y="0"/>
                  </a:lnTo>
                  <a:lnTo>
                    <a:pt x="2" y="13"/>
                  </a:lnTo>
                  <a:lnTo>
                    <a:pt x="11" y="23"/>
                  </a:lnTo>
                  <a:lnTo>
                    <a:pt x="22" y="31"/>
                  </a:lnTo>
                  <a:lnTo>
                    <a:pt x="36" y="38"/>
                  </a:lnTo>
                  <a:lnTo>
                    <a:pt x="49"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8" name="Freeform 177">
              <a:extLst>
                <a:ext uri="{FF2B5EF4-FFF2-40B4-BE49-F238E27FC236}">
                  <a16:creationId xmlns:a16="http://schemas.microsoft.com/office/drawing/2014/main" id="{82DD2110-957B-7A0E-6326-237839CF5264}"/>
                </a:ext>
              </a:extLst>
            </p:cNvPr>
            <p:cNvSpPr>
              <a:spLocks/>
            </p:cNvSpPr>
            <p:nvPr/>
          </p:nvSpPr>
          <p:spPr bwMode="auto">
            <a:xfrm>
              <a:off x="2932" y="2301"/>
              <a:ext cx="174" cy="29"/>
            </a:xfrm>
            <a:custGeom>
              <a:avLst/>
              <a:gdLst>
                <a:gd name="T0" fmla="*/ 464163 w 106"/>
                <a:gd name="T1" fmla="*/ 392 h 25"/>
                <a:gd name="T2" fmla="*/ 419911 w 106"/>
                <a:gd name="T3" fmla="*/ 445 h 25"/>
                <a:gd name="T4" fmla="*/ 503423 w 106"/>
                <a:gd name="T5" fmla="*/ 455 h 25"/>
                <a:gd name="T6" fmla="*/ 761928 w 106"/>
                <a:gd name="T7" fmla="*/ 394 h 25"/>
                <a:gd name="T8" fmla="*/ 1189907 w 106"/>
                <a:gd name="T9" fmla="*/ 394 h 25"/>
                <a:gd name="T10" fmla="*/ 1723619 w 106"/>
                <a:gd name="T11" fmla="*/ 394 h 25"/>
                <a:gd name="T12" fmla="*/ 2261872 w 106"/>
                <a:gd name="T13" fmla="*/ 394 h 25"/>
                <a:gd name="T14" fmla="*/ 2742357 w 106"/>
                <a:gd name="T15" fmla="*/ 392 h 25"/>
                <a:gd name="T16" fmla="*/ 3184802 w 106"/>
                <a:gd name="T17" fmla="*/ 291 h 25"/>
                <a:gd name="T18" fmla="*/ 3468237 w 106"/>
                <a:gd name="T19" fmla="*/ 101 h 25"/>
                <a:gd name="T20" fmla="*/ 3048815 w 106"/>
                <a:gd name="T21" fmla="*/ 0 h 25"/>
                <a:gd name="T22" fmla="*/ 2950607 w 106"/>
                <a:gd name="T23" fmla="*/ 2 h 25"/>
                <a:gd name="T24" fmla="*/ 2681420 w 106"/>
                <a:gd name="T25" fmla="*/ 101 h 25"/>
                <a:gd name="T26" fmla="*/ 2261872 w 106"/>
                <a:gd name="T27" fmla="*/ 117 h 25"/>
                <a:gd name="T28" fmla="*/ 1723619 w 106"/>
                <a:gd name="T29" fmla="*/ 101 h 25"/>
                <a:gd name="T30" fmla="*/ 1189907 w 106"/>
                <a:gd name="T31" fmla="*/ 101 h 25"/>
                <a:gd name="T32" fmla="*/ 724886 w 106"/>
                <a:gd name="T33" fmla="*/ 117 h 25"/>
                <a:gd name="T34" fmla="*/ 306683 w 106"/>
                <a:gd name="T35" fmla="*/ 158 h 25"/>
                <a:gd name="T36" fmla="*/ 0 w 106"/>
                <a:gd name="T37" fmla="*/ 338 h 25"/>
                <a:gd name="T38" fmla="*/ 0 w 106"/>
                <a:gd name="T39" fmla="*/ 392 h 25"/>
                <a:gd name="T40" fmla="*/ 0 w 106"/>
                <a:gd name="T41" fmla="*/ 338 h 25"/>
                <a:gd name="T42" fmla="*/ 35232 w 106"/>
                <a:gd name="T43" fmla="*/ 455 h 25"/>
                <a:gd name="T44" fmla="*/ 155837 w 106"/>
                <a:gd name="T45" fmla="*/ 530 h 25"/>
                <a:gd name="T46" fmla="*/ 325065 w 106"/>
                <a:gd name="T47" fmla="*/ 528 h 25"/>
                <a:gd name="T48" fmla="*/ 419911 w 106"/>
                <a:gd name="T49" fmla="*/ 445 h 25"/>
                <a:gd name="T50" fmla="*/ 464163 w 106"/>
                <a:gd name="T51" fmla="*/ 392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4" y="17"/>
                  </a:moveTo>
                  <a:lnTo>
                    <a:pt x="13" y="19"/>
                  </a:lnTo>
                  <a:lnTo>
                    <a:pt x="15" y="20"/>
                  </a:lnTo>
                  <a:lnTo>
                    <a:pt x="23" y="18"/>
                  </a:lnTo>
                  <a:lnTo>
                    <a:pt x="36" y="18"/>
                  </a:lnTo>
                  <a:lnTo>
                    <a:pt x="52" y="18"/>
                  </a:lnTo>
                  <a:lnTo>
                    <a:pt x="68" y="18"/>
                  </a:lnTo>
                  <a:lnTo>
                    <a:pt x="83" y="17"/>
                  </a:lnTo>
                  <a:lnTo>
                    <a:pt x="96" y="13"/>
                  </a:lnTo>
                  <a:lnTo>
                    <a:pt x="105" y="4"/>
                  </a:lnTo>
                  <a:lnTo>
                    <a:pt x="92" y="0"/>
                  </a:lnTo>
                  <a:lnTo>
                    <a:pt x="89" y="2"/>
                  </a:lnTo>
                  <a:lnTo>
                    <a:pt x="81" y="4"/>
                  </a:lnTo>
                  <a:lnTo>
                    <a:pt x="68" y="5"/>
                  </a:lnTo>
                  <a:lnTo>
                    <a:pt x="52" y="4"/>
                  </a:lnTo>
                  <a:lnTo>
                    <a:pt x="36" y="4"/>
                  </a:lnTo>
                  <a:lnTo>
                    <a:pt x="22" y="5"/>
                  </a:lnTo>
                  <a:lnTo>
                    <a:pt x="9" y="7"/>
                  </a:lnTo>
                  <a:lnTo>
                    <a:pt x="0" y="15"/>
                  </a:lnTo>
                  <a:lnTo>
                    <a:pt x="0" y="17"/>
                  </a:lnTo>
                  <a:lnTo>
                    <a:pt x="0" y="15"/>
                  </a:lnTo>
                  <a:lnTo>
                    <a:pt x="1" y="20"/>
                  </a:lnTo>
                  <a:lnTo>
                    <a:pt x="5" y="24"/>
                  </a:lnTo>
                  <a:lnTo>
                    <a:pt x="10" y="23"/>
                  </a:lnTo>
                  <a:lnTo>
                    <a:pt x="13" y="19"/>
                  </a:lnTo>
                  <a:lnTo>
                    <a:pt x="14" y="1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59" name="Freeform 178">
              <a:extLst>
                <a:ext uri="{FF2B5EF4-FFF2-40B4-BE49-F238E27FC236}">
                  <a16:creationId xmlns:a16="http://schemas.microsoft.com/office/drawing/2014/main" id="{26F10275-4B22-5F6B-303C-8439DB859D7C}"/>
                </a:ext>
              </a:extLst>
            </p:cNvPr>
            <p:cNvSpPr>
              <a:spLocks/>
            </p:cNvSpPr>
            <p:nvPr/>
          </p:nvSpPr>
          <p:spPr bwMode="auto">
            <a:xfrm>
              <a:off x="2932" y="2320"/>
              <a:ext cx="24" cy="11"/>
            </a:xfrm>
            <a:custGeom>
              <a:avLst/>
              <a:gdLst>
                <a:gd name="T0" fmla="*/ 255066 w 15"/>
                <a:gd name="T1" fmla="*/ 45 h 10"/>
                <a:gd name="T2" fmla="*/ 265134 w 15"/>
                <a:gd name="T3" fmla="*/ 2 h 10"/>
                <a:gd name="T4" fmla="*/ 0 w 15"/>
                <a:gd name="T5" fmla="*/ 2 h 10"/>
                <a:gd name="T6" fmla="*/ 0 w 15"/>
                <a:gd name="T7" fmla="*/ 0 h 10"/>
                <a:gd name="T8" fmla="*/ 0 w 15"/>
                <a:gd name="T9" fmla="*/ 2 h 10"/>
                <a:gd name="T10" fmla="*/ 38920 w 15"/>
                <a:gd name="T11" fmla="*/ 61 h 10"/>
                <a:gd name="T12" fmla="*/ 136000 w 15"/>
                <a:gd name="T13" fmla="*/ 67 h 10"/>
                <a:gd name="T14" fmla="*/ 226910 w 15"/>
                <a:gd name="T15" fmla="*/ 61 h 10"/>
                <a:gd name="T16" fmla="*/ 265134 w 15"/>
                <a:gd name="T17" fmla="*/ 2 h 10"/>
                <a:gd name="T18" fmla="*/ 255066 w 15"/>
                <a:gd name="T19" fmla="*/ 4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13" y="5"/>
                  </a:moveTo>
                  <a:lnTo>
                    <a:pt x="14" y="2"/>
                  </a:lnTo>
                  <a:lnTo>
                    <a:pt x="0" y="2"/>
                  </a:lnTo>
                  <a:lnTo>
                    <a:pt x="0" y="0"/>
                  </a:lnTo>
                  <a:lnTo>
                    <a:pt x="0" y="2"/>
                  </a:lnTo>
                  <a:lnTo>
                    <a:pt x="2" y="8"/>
                  </a:lnTo>
                  <a:lnTo>
                    <a:pt x="7" y="9"/>
                  </a:lnTo>
                  <a:lnTo>
                    <a:pt x="12" y="8"/>
                  </a:lnTo>
                  <a:lnTo>
                    <a:pt x="14" y="2"/>
                  </a:lnTo>
                  <a:lnTo>
                    <a:pt x="13"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0" name="Freeform 179">
              <a:extLst>
                <a:ext uri="{FF2B5EF4-FFF2-40B4-BE49-F238E27FC236}">
                  <a16:creationId xmlns:a16="http://schemas.microsoft.com/office/drawing/2014/main" id="{93601E7F-33CB-5A73-0BD6-5DD0C2A2E14D}"/>
                </a:ext>
              </a:extLst>
            </p:cNvPr>
            <p:cNvSpPr>
              <a:spLocks/>
            </p:cNvSpPr>
            <p:nvPr/>
          </p:nvSpPr>
          <p:spPr bwMode="auto">
            <a:xfrm>
              <a:off x="2932" y="2320"/>
              <a:ext cx="128" cy="76"/>
            </a:xfrm>
            <a:custGeom>
              <a:avLst/>
              <a:gdLst>
                <a:gd name="T0" fmla="*/ 2532882 w 78"/>
                <a:gd name="T1" fmla="*/ 932 h 67"/>
                <a:gd name="T2" fmla="*/ 2499568 w 78"/>
                <a:gd name="T3" fmla="*/ 740 h 67"/>
                <a:gd name="T4" fmla="*/ 2209400 w 78"/>
                <a:gd name="T5" fmla="*/ 620 h 67"/>
                <a:gd name="T6" fmla="*/ 1812188 w 78"/>
                <a:gd name="T7" fmla="*/ 491 h 67"/>
                <a:gd name="T8" fmla="*/ 1380721 w 78"/>
                <a:gd name="T9" fmla="*/ 348 h 67"/>
                <a:gd name="T10" fmla="*/ 975677 w 78"/>
                <a:gd name="T11" fmla="*/ 270 h 67"/>
                <a:gd name="T12" fmla="*/ 664651 w 78"/>
                <a:gd name="T13" fmla="*/ 145 h 67"/>
                <a:gd name="T14" fmla="*/ 461814 w 78"/>
                <a:gd name="T15" fmla="*/ 78 h 67"/>
                <a:gd name="T16" fmla="*/ 418066 w 78"/>
                <a:gd name="T17" fmla="*/ 69 h 67"/>
                <a:gd name="T18" fmla="*/ 0 w 78"/>
                <a:gd name="T19" fmla="*/ 0 h 67"/>
                <a:gd name="T20" fmla="*/ 57648 w 78"/>
                <a:gd name="T21" fmla="*/ 185 h 67"/>
                <a:gd name="T22" fmla="*/ 362306 w 78"/>
                <a:gd name="T23" fmla="*/ 306 h 67"/>
                <a:gd name="T24" fmla="*/ 720891 w 78"/>
                <a:gd name="T25" fmla="*/ 433 h 67"/>
                <a:gd name="T26" fmla="*/ 1148299 w 78"/>
                <a:gd name="T27" fmla="*/ 547 h 67"/>
                <a:gd name="T28" fmla="*/ 1587866 w 78"/>
                <a:gd name="T29" fmla="*/ 650 h 67"/>
                <a:gd name="T30" fmla="*/ 1906471 w 78"/>
                <a:gd name="T31" fmla="*/ 741 h 67"/>
                <a:gd name="T32" fmla="*/ 2101908 w 78"/>
                <a:gd name="T33" fmla="*/ 836 h 67"/>
                <a:gd name="T34" fmla="*/ 2101908 w 78"/>
                <a:gd name="T35" fmla="*/ 876 h 67"/>
                <a:gd name="T36" fmla="*/ 2532882 w 78"/>
                <a:gd name="T37" fmla="*/ 932 h 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67"/>
                <a:gd name="T59" fmla="*/ 78 w 78"/>
                <a:gd name="T60" fmla="*/ 67 h 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67">
                  <a:moveTo>
                    <a:pt x="77" y="66"/>
                  </a:moveTo>
                  <a:lnTo>
                    <a:pt x="76" y="53"/>
                  </a:lnTo>
                  <a:lnTo>
                    <a:pt x="67" y="43"/>
                  </a:lnTo>
                  <a:lnTo>
                    <a:pt x="55" y="34"/>
                  </a:lnTo>
                  <a:lnTo>
                    <a:pt x="42" y="26"/>
                  </a:lnTo>
                  <a:lnTo>
                    <a:pt x="30" y="19"/>
                  </a:lnTo>
                  <a:lnTo>
                    <a:pt x="20" y="11"/>
                  </a:lnTo>
                  <a:lnTo>
                    <a:pt x="14" y="6"/>
                  </a:lnTo>
                  <a:lnTo>
                    <a:pt x="13" y="5"/>
                  </a:lnTo>
                  <a:lnTo>
                    <a:pt x="0" y="0"/>
                  </a:lnTo>
                  <a:lnTo>
                    <a:pt x="2" y="13"/>
                  </a:lnTo>
                  <a:lnTo>
                    <a:pt x="11" y="22"/>
                  </a:lnTo>
                  <a:lnTo>
                    <a:pt x="22" y="30"/>
                  </a:lnTo>
                  <a:lnTo>
                    <a:pt x="35" y="38"/>
                  </a:lnTo>
                  <a:lnTo>
                    <a:pt x="48" y="46"/>
                  </a:lnTo>
                  <a:lnTo>
                    <a:pt x="58" y="54"/>
                  </a:lnTo>
                  <a:lnTo>
                    <a:pt x="64" y="59"/>
                  </a:lnTo>
                  <a:lnTo>
                    <a:pt x="64" y="62"/>
                  </a:lnTo>
                  <a:lnTo>
                    <a:pt x="77" y="6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1" name="Freeform 180">
              <a:extLst>
                <a:ext uri="{FF2B5EF4-FFF2-40B4-BE49-F238E27FC236}">
                  <a16:creationId xmlns:a16="http://schemas.microsoft.com/office/drawing/2014/main" id="{A3CA708C-8146-6849-2CE7-ED0A261B79BD}"/>
                </a:ext>
              </a:extLst>
            </p:cNvPr>
            <p:cNvSpPr>
              <a:spLocks/>
            </p:cNvSpPr>
            <p:nvPr/>
          </p:nvSpPr>
          <p:spPr bwMode="auto">
            <a:xfrm>
              <a:off x="2884" y="2391"/>
              <a:ext cx="176" cy="31"/>
            </a:xfrm>
            <a:custGeom>
              <a:avLst/>
              <a:gdLst>
                <a:gd name="T0" fmla="*/ 448956 w 107"/>
                <a:gd name="T1" fmla="*/ 473 h 27"/>
                <a:gd name="T2" fmla="*/ 448956 w 107"/>
                <a:gd name="T3" fmla="*/ 468 h 27"/>
                <a:gd name="T4" fmla="*/ 551648 w 107"/>
                <a:gd name="T5" fmla="*/ 412 h 27"/>
                <a:gd name="T6" fmla="*/ 818282 w 107"/>
                <a:gd name="T7" fmla="*/ 377 h 27"/>
                <a:gd name="T8" fmla="*/ 1274250 w 107"/>
                <a:gd name="T9" fmla="*/ 359 h 27"/>
                <a:gd name="T10" fmla="*/ 1829721 w 107"/>
                <a:gd name="T11" fmla="*/ 377 h 27"/>
                <a:gd name="T12" fmla="*/ 2374059 w 107"/>
                <a:gd name="T13" fmla="*/ 359 h 27"/>
                <a:gd name="T14" fmla="*/ 2899460 w 107"/>
                <a:gd name="T15" fmla="*/ 355 h 27"/>
                <a:gd name="T16" fmla="*/ 3361858 w 107"/>
                <a:gd name="T17" fmla="*/ 273 h 27"/>
                <a:gd name="T18" fmla="*/ 3649694 w 107"/>
                <a:gd name="T19" fmla="*/ 79 h 27"/>
                <a:gd name="T20" fmla="*/ 3223782 w 107"/>
                <a:gd name="T21" fmla="*/ 0 h 27"/>
                <a:gd name="T22" fmla="*/ 3107351 w 107"/>
                <a:gd name="T23" fmla="*/ 3 h 27"/>
                <a:gd name="T24" fmla="*/ 2796262 w 107"/>
                <a:gd name="T25" fmla="*/ 91 h 27"/>
                <a:gd name="T26" fmla="*/ 2374059 w 107"/>
                <a:gd name="T27" fmla="*/ 119 h 27"/>
                <a:gd name="T28" fmla="*/ 1829721 w 107"/>
                <a:gd name="T29" fmla="*/ 104 h 27"/>
                <a:gd name="T30" fmla="*/ 1274250 w 107"/>
                <a:gd name="T31" fmla="*/ 119 h 27"/>
                <a:gd name="T32" fmla="*/ 738470 w 107"/>
                <a:gd name="T33" fmla="*/ 137 h 27"/>
                <a:gd name="T34" fmla="*/ 316149 w 107"/>
                <a:gd name="T35" fmla="*/ 207 h 27"/>
                <a:gd name="T36" fmla="*/ 0 w 107"/>
                <a:gd name="T37" fmla="*/ 377 h 27"/>
                <a:gd name="T38" fmla="*/ 448956 w 107"/>
                <a:gd name="T39" fmla="*/ 473 h 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7"/>
                <a:gd name="T61" fmla="*/ 0 h 27"/>
                <a:gd name="T62" fmla="*/ 107 w 107"/>
                <a:gd name="T63" fmla="*/ 27 h 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7" h="27">
                  <a:moveTo>
                    <a:pt x="13" y="26"/>
                  </a:moveTo>
                  <a:lnTo>
                    <a:pt x="13" y="25"/>
                  </a:lnTo>
                  <a:lnTo>
                    <a:pt x="16" y="23"/>
                  </a:lnTo>
                  <a:lnTo>
                    <a:pt x="24" y="21"/>
                  </a:lnTo>
                  <a:lnTo>
                    <a:pt x="37" y="20"/>
                  </a:lnTo>
                  <a:lnTo>
                    <a:pt x="53" y="21"/>
                  </a:lnTo>
                  <a:lnTo>
                    <a:pt x="69" y="20"/>
                  </a:lnTo>
                  <a:lnTo>
                    <a:pt x="84" y="19"/>
                  </a:lnTo>
                  <a:lnTo>
                    <a:pt x="97" y="15"/>
                  </a:lnTo>
                  <a:lnTo>
                    <a:pt x="106" y="4"/>
                  </a:lnTo>
                  <a:lnTo>
                    <a:pt x="93" y="0"/>
                  </a:lnTo>
                  <a:lnTo>
                    <a:pt x="90" y="3"/>
                  </a:lnTo>
                  <a:lnTo>
                    <a:pt x="81" y="5"/>
                  </a:lnTo>
                  <a:lnTo>
                    <a:pt x="69" y="7"/>
                  </a:lnTo>
                  <a:lnTo>
                    <a:pt x="53" y="6"/>
                  </a:lnTo>
                  <a:lnTo>
                    <a:pt x="37" y="7"/>
                  </a:lnTo>
                  <a:lnTo>
                    <a:pt x="21" y="8"/>
                  </a:lnTo>
                  <a:lnTo>
                    <a:pt x="9" y="11"/>
                  </a:lnTo>
                  <a:lnTo>
                    <a:pt x="0" y="21"/>
                  </a:lnTo>
                  <a:lnTo>
                    <a:pt x="13" y="2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2" name="Freeform 181">
              <a:extLst>
                <a:ext uri="{FF2B5EF4-FFF2-40B4-BE49-F238E27FC236}">
                  <a16:creationId xmlns:a16="http://schemas.microsoft.com/office/drawing/2014/main" id="{2EC12911-5E91-2D19-27EE-7129FD3ACFB0}"/>
                </a:ext>
              </a:extLst>
            </p:cNvPr>
            <p:cNvSpPr>
              <a:spLocks/>
            </p:cNvSpPr>
            <p:nvPr/>
          </p:nvSpPr>
          <p:spPr bwMode="auto">
            <a:xfrm>
              <a:off x="2884" y="2414"/>
              <a:ext cx="131" cy="78"/>
            </a:xfrm>
            <a:custGeom>
              <a:avLst/>
              <a:gdLst>
                <a:gd name="T0" fmla="*/ 2480706 w 80"/>
                <a:gd name="T1" fmla="*/ 1202 h 68"/>
                <a:gd name="T2" fmla="*/ 2480706 w 80"/>
                <a:gd name="T3" fmla="*/ 1176 h 68"/>
                <a:gd name="T4" fmla="*/ 2415525 w 80"/>
                <a:gd name="T5" fmla="*/ 958 h 68"/>
                <a:gd name="T6" fmla="*/ 2134954 w 80"/>
                <a:gd name="T7" fmla="*/ 777 h 68"/>
                <a:gd name="T8" fmla="*/ 1785199 w 80"/>
                <a:gd name="T9" fmla="*/ 635 h 68"/>
                <a:gd name="T10" fmla="*/ 1346184 w 80"/>
                <a:gd name="T11" fmla="*/ 484 h 68"/>
                <a:gd name="T12" fmla="*/ 900843 w 80"/>
                <a:gd name="T13" fmla="*/ 341 h 68"/>
                <a:gd name="T14" fmla="*/ 603561 w 80"/>
                <a:gd name="T15" fmla="*/ 236 h 68"/>
                <a:gd name="T16" fmla="*/ 445495 w 80"/>
                <a:gd name="T17" fmla="*/ 119 h 68"/>
                <a:gd name="T18" fmla="*/ 402943 w 80"/>
                <a:gd name="T19" fmla="*/ 91 h 68"/>
                <a:gd name="T20" fmla="*/ 0 w 80"/>
                <a:gd name="T21" fmla="*/ 0 h 68"/>
                <a:gd name="T22" fmla="*/ 56043 w 80"/>
                <a:gd name="T23" fmla="*/ 236 h 68"/>
                <a:gd name="T24" fmla="*/ 306592 w 80"/>
                <a:gd name="T25" fmla="*/ 410 h 68"/>
                <a:gd name="T26" fmla="*/ 729498 w 80"/>
                <a:gd name="T27" fmla="*/ 555 h 68"/>
                <a:gd name="T28" fmla="*/ 1139327 w 80"/>
                <a:gd name="T29" fmla="*/ 709 h 68"/>
                <a:gd name="T30" fmla="*/ 1538762 w 80"/>
                <a:gd name="T31" fmla="*/ 838 h 68"/>
                <a:gd name="T32" fmla="*/ 1865648 w 80"/>
                <a:gd name="T33" fmla="*/ 961 h 68"/>
                <a:gd name="T34" fmla="*/ 2045165 w 80"/>
                <a:gd name="T35" fmla="*/ 1070 h 68"/>
                <a:gd name="T36" fmla="*/ 2079299 w 80"/>
                <a:gd name="T37" fmla="*/ 1102 h 68"/>
                <a:gd name="T38" fmla="*/ 2480706 w 80"/>
                <a:gd name="T39" fmla="*/ 1202 h 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8"/>
                <a:gd name="T62" fmla="*/ 80 w 80"/>
                <a:gd name="T63" fmla="*/ 68 h 6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8">
                  <a:moveTo>
                    <a:pt x="79" y="67"/>
                  </a:moveTo>
                  <a:lnTo>
                    <a:pt x="79" y="66"/>
                  </a:lnTo>
                  <a:lnTo>
                    <a:pt x="77" y="53"/>
                  </a:lnTo>
                  <a:lnTo>
                    <a:pt x="68" y="44"/>
                  </a:lnTo>
                  <a:lnTo>
                    <a:pt x="57" y="35"/>
                  </a:lnTo>
                  <a:lnTo>
                    <a:pt x="43" y="27"/>
                  </a:lnTo>
                  <a:lnTo>
                    <a:pt x="29" y="19"/>
                  </a:lnTo>
                  <a:lnTo>
                    <a:pt x="19" y="13"/>
                  </a:lnTo>
                  <a:lnTo>
                    <a:pt x="14" y="7"/>
                  </a:lnTo>
                  <a:lnTo>
                    <a:pt x="13" y="5"/>
                  </a:lnTo>
                  <a:lnTo>
                    <a:pt x="0" y="0"/>
                  </a:lnTo>
                  <a:lnTo>
                    <a:pt x="2" y="13"/>
                  </a:lnTo>
                  <a:lnTo>
                    <a:pt x="10" y="23"/>
                  </a:lnTo>
                  <a:lnTo>
                    <a:pt x="23" y="31"/>
                  </a:lnTo>
                  <a:lnTo>
                    <a:pt x="36" y="39"/>
                  </a:lnTo>
                  <a:lnTo>
                    <a:pt x="49" y="47"/>
                  </a:lnTo>
                  <a:lnTo>
                    <a:pt x="59" y="54"/>
                  </a:lnTo>
                  <a:lnTo>
                    <a:pt x="65" y="60"/>
                  </a:lnTo>
                  <a:lnTo>
                    <a:pt x="66" y="62"/>
                  </a:lnTo>
                  <a:lnTo>
                    <a:pt x="79" y="6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3" name="Freeform 182">
              <a:extLst>
                <a:ext uri="{FF2B5EF4-FFF2-40B4-BE49-F238E27FC236}">
                  <a16:creationId xmlns:a16="http://schemas.microsoft.com/office/drawing/2014/main" id="{E4E1C95D-87E7-1464-9C81-A8783165ABA5}"/>
                </a:ext>
              </a:extLst>
            </p:cNvPr>
            <p:cNvSpPr>
              <a:spLocks/>
            </p:cNvSpPr>
            <p:nvPr/>
          </p:nvSpPr>
          <p:spPr bwMode="auto">
            <a:xfrm>
              <a:off x="2839" y="2486"/>
              <a:ext cx="176" cy="36"/>
            </a:xfrm>
            <a:custGeom>
              <a:avLst/>
              <a:gdLst>
                <a:gd name="T0" fmla="*/ 448956 w 107"/>
                <a:gd name="T1" fmla="*/ 322 h 32"/>
                <a:gd name="T2" fmla="*/ 520021 w 107"/>
                <a:gd name="T3" fmla="*/ 293 h 32"/>
                <a:gd name="T4" fmla="*/ 818282 w 107"/>
                <a:gd name="T5" fmla="*/ 285 h 32"/>
                <a:gd name="T6" fmla="*/ 1274250 w 107"/>
                <a:gd name="T7" fmla="*/ 254 h 32"/>
                <a:gd name="T8" fmla="*/ 1803036 w 107"/>
                <a:gd name="T9" fmla="*/ 254 h 32"/>
                <a:gd name="T10" fmla="*/ 2374059 w 107"/>
                <a:gd name="T11" fmla="*/ 231 h 32"/>
                <a:gd name="T12" fmla="*/ 2899460 w 107"/>
                <a:gd name="T13" fmla="*/ 214 h 32"/>
                <a:gd name="T14" fmla="*/ 3361858 w 107"/>
                <a:gd name="T15" fmla="*/ 179 h 32"/>
                <a:gd name="T16" fmla="*/ 3649694 w 107"/>
                <a:gd name="T17" fmla="*/ 68 h 32"/>
                <a:gd name="T18" fmla="*/ 3223782 w 107"/>
                <a:gd name="T19" fmla="*/ 0 h 32"/>
                <a:gd name="T20" fmla="*/ 3107351 w 107"/>
                <a:gd name="T21" fmla="*/ 3 h 32"/>
                <a:gd name="T22" fmla="*/ 2796262 w 107"/>
                <a:gd name="T23" fmla="*/ 77 h 32"/>
                <a:gd name="T24" fmla="*/ 2314237 w 107"/>
                <a:gd name="T25" fmla="*/ 98 h 32"/>
                <a:gd name="T26" fmla="*/ 1803036 w 107"/>
                <a:gd name="T27" fmla="*/ 98 h 32"/>
                <a:gd name="T28" fmla="*/ 1214680 w 107"/>
                <a:gd name="T29" fmla="*/ 98 h 32"/>
                <a:gd name="T30" fmla="*/ 738470 w 107"/>
                <a:gd name="T31" fmla="*/ 111 h 32"/>
                <a:gd name="T32" fmla="*/ 316149 w 107"/>
                <a:gd name="T33" fmla="*/ 159 h 32"/>
                <a:gd name="T34" fmla="*/ 0 w 107"/>
                <a:gd name="T35" fmla="*/ 285 h 32"/>
                <a:gd name="T36" fmla="*/ 0 w 107"/>
                <a:gd name="T37" fmla="*/ 330 h 32"/>
                <a:gd name="T38" fmla="*/ 154972 w 107"/>
                <a:gd name="T39" fmla="*/ 368 h 32"/>
                <a:gd name="T40" fmla="*/ 316149 w 107"/>
                <a:gd name="T41" fmla="*/ 362 h 32"/>
                <a:gd name="T42" fmla="*/ 448956 w 107"/>
                <a:gd name="T43" fmla="*/ 322 h 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7"/>
                <a:gd name="T67" fmla="*/ 0 h 32"/>
                <a:gd name="T68" fmla="*/ 107 w 107"/>
                <a:gd name="T69" fmla="*/ 32 h 3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7" h="32">
                  <a:moveTo>
                    <a:pt x="13" y="27"/>
                  </a:moveTo>
                  <a:lnTo>
                    <a:pt x="15" y="25"/>
                  </a:lnTo>
                  <a:lnTo>
                    <a:pt x="24" y="23"/>
                  </a:lnTo>
                  <a:lnTo>
                    <a:pt x="37" y="21"/>
                  </a:lnTo>
                  <a:lnTo>
                    <a:pt x="52" y="21"/>
                  </a:lnTo>
                  <a:lnTo>
                    <a:pt x="69" y="20"/>
                  </a:lnTo>
                  <a:lnTo>
                    <a:pt x="84" y="18"/>
                  </a:lnTo>
                  <a:lnTo>
                    <a:pt x="97" y="15"/>
                  </a:lnTo>
                  <a:lnTo>
                    <a:pt x="106" y="5"/>
                  </a:lnTo>
                  <a:lnTo>
                    <a:pt x="93" y="0"/>
                  </a:lnTo>
                  <a:lnTo>
                    <a:pt x="90" y="3"/>
                  </a:lnTo>
                  <a:lnTo>
                    <a:pt x="81" y="6"/>
                  </a:lnTo>
                  <a:lnTo>
                    <a:pt x="67" y="8"/>
                  </a:lnTo>
                  <a:lnTo>
                    <a:pt x="52" y="8"/>
                  </a:lnTo>
                  <a:lnTo>
                    <a:pt x="35" y="8"/>
                  </a:lnTo>
                  <a:lnTo>
                    <a:pt x="21" y="10"/>
                  </a:lnTo>
                  <a:lnTo>
                    <a:pt x="9" y="13"/>
                  </a:lnTo>
                  <a:lnTo>
                    <a:pt x="0" y="23"/>
                  </a:lnTo>
                  <a:lnTo>
                    <a:pt x="0" y="28"/>
                  </a:lnTo>
                  <a:lnTo>
                    <a:pt x="4" y="31"/>
                  </a:lnTo>
                  <a:lnTo>
                    <a:pt x="9" y="30"/>
                  </a:lnTo>
                  <a:lnTo>
                    <a:pt x="13"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4" name="Freeform 183">
              <a:extLst>
                <a:ext uri="{FF2B5EF4-FFF2-40B4-BE49-F238E27FC236}">
                  <a16:creationId xmlns:a16="http://schemas.microsoft.com/office/drawing/2014/main" id="{B29856C5-340F-DF22-3E4F-11FB0DEC4260}"/>
                </a:ext>
              </a:extLst>
            </p:cNvPr>
            <p:cNvSpPr>
              <a:spLocks/>
            </p:cNvSpPr>
            <p:nvPr/>
          </p:nvSpPr>
          <p:spPr bwMode="auto">
            <a:xfrm>
              <a:off x="2839" y="2511"/>
              <a:ext cx="24" cy="11"/>
            </a:xfrm>
            <a:custGeom>
              <a:avLst/>
              <a:gdLst>
                <a:gd name="T0" fmla="*/ 1057803 w 14"/>
                <a:gd name="T1" fmla="*/ 264 h 9"/>
                <a:gd name="T2" fmla="*/ 477204 w 14"/>
                <a:gd name="T3" fmla="*/ 2 h 9"/>
                <a:gd name="T4" fmla="*/ 0 w 14"/>
                <a:gd name="T5" fmla="*/ 0 h 9"/>
                <a:gd name="T6" fmla="*/ 0 w 14"/>
                <a:gd name="T7" fmla="*/ 323 h 9"/>
                <a:gd name="T8" fmla="*/ 344592 w 14"/>
                <a:gd name="T9" fmla="*/ 543 h 9"/>
                <a:gd name="T10" fmla="*/ 732298 w 14"/>
                <a:gd name="T11" fmla="*/ 483 h 9"/>
                <a:gd name="T12" fmla="*/ 1057803 w 14"/>
                <a:gd name="T13" fmla="*/ 264 h 9"/>
                <a:gd name="T14" fmla="*/ 0 60000 65536"/>
                <a:gd name="T15" fmla="*/ 0 60000 65536"/>
                <a:gd name="T16" fmla="*/ 0 60000 65536"/>
                <a:gd name="T17" fmla="*/ 0 60000 65536"/>
                <a:gd name="T18" fmla="*/ 0 60000 65536"/>
                <a:gd name="T19" fmla="*/ 0 60000 65536"/>
                <a:gd name="T20" fmla="*/ 0 60000 65536"/>
                <a:gd name="T21" fmla="*/ 0 w 14"/>
                <a:gd name="T22" fmla="*/ 0 h 9"/>
                <a:gd name="T23" fmla="*/ 14 w 1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9">
                  <a:moveTo>
                    <a:pt x="13" y="4"/>
                  </a:moveTo>
                  <a:lnTo>
                    <a:pt x="6" y="2"/>
                  </a:lnTo>
                  <a:lnTo>
                    <a:pt x="0" y="0"/>
                  </a:lnTo>
                  <a:lnTo>
                    <a:pt x="0" y="5"/>
                  </a:lnTo>
                  <a:lnTo>
                    <a:pt x="4" y="8"/>
                  </a:lnTo>
                  <a:lnTo>
                    <a:pt x="9" y="7"/>
                  </a:lnTo>
                  <a:lnTo>
                    <a:pt x="1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5" name="Freeform 184">
              <a:extLst>
                <a:ext uri="{FF2B5EF4-FFF2-40B4-BE49-F238E27FC236}">
                  <a16:creationId xmlns:a16="http://schemas.microsoft.com/office/drawing/2014/main" id="{17121438-799C-E836-EF14-19101A26077A}"/>
                </a:ext>
              </a:extLst>
            </p:cNvPr>
            <p:cNvSpPr>
              <a:spLocks/>
            </p:cNvSpPr>
            <p:nvPr/>
          </p:nvSpPr>
          <p:spPr bwMode="auto">
            <a:xfrm>
              <a:off x="2839" y="2511"/>
              <a:ext cx="133" cy="77"/>
            </a:xfrm>
            <a:custGeom>
              <a:avLst/>
              <a:gdLst>
                <a:gd name="T0" fmla="*/ 3407716 w 80"/>
                <a:gd name="T1" fmla="*/ 1675 h 66"/>
                <a:gd name="T2" fmla="*/ 3335106 w 80"/>
                <a:gd name="T3" fmla="*/ 1341 h 66"/>
                <a:gd name="T4" fmla="*/ 2945860 w 80"/>
                <a:gd name="T5" fmla="*/ 1085 h 66"/>
                <a:gd name="T6" fmla="*/ 2427302 w 80"/>
                <a:gd name="T7" fmla="*/ 904 h 66"/>
                <a:gd name="T8" fmla="*/ 1818905 w 80"/>
                <a:gd name="T9" fmla="*/ 677 h 66"/>
                <a:gd name="T10" fmla="*/ 1296454 w 80"/>
                <a:gd name="T11" fmla="*/ 488 h 66"/>
                <a:gd name="T12" fmla="*/ 853740 w 80"/>
                <a:gd name="T13" fmla="*/ 307 h 66"/>
                <a:gd name="T14" fmla="*/ 596282 w 80"/>
                <a:gd name="T15" fmla="*/ 141 h 66"/>
                <a:gd name="T16" fmla="*/ 581923 w 80"/>
                <a:gd name="T17" fmla="*/ 120 h 66"/>
                <a:gd name="T18" fmla="*/ 0 w 80"/>
                <a:gd name="T19" fmla="*/ 0 h 66"/>
                <a:gd name="T20" fmla="*/ 76176 w 80"/>
                <a:gd name="T21" fmla="*/ 315 h 66"/>
                <a:gd name="T22" fmla="*/ 469066 w 80"/>
                <a:gd name="T23" fmla="*/ 569 h 66"/>
                <a:gd name="T24" fmla="*/ 967447 w 80"/>
                <a:gd name="T25" fmla="*/ 790 h 66"/>
                <a:gd name="T26" fmla="*/ 1562494 w 80"/>
                <a:gd name="T27" fmla="*/ 985 h 66"/>
                <a:gd name="T28" fmla="*/ 2155355 w 80"/>
                <a:gd name="T29" fmla="*/ 1177 h 66"/>
                <a:gd name="T30" fmla="*/ 2553944 w 80"/>
                <a:gd name="T31" fmla="*/ 1344 h 66"/>
                <a:gd name="T32" fmla="*/ 2812677 w 80"/>
                <a:gd name="T33" fmla="*/ 1496 h 66"/>
                <a:gd name="T34" fmla="*/ 2862423 w 80"/>
                <a:gd name="T35" fmla="*/ 1565 h 66"/>
                <a:gd name="T36" fmla="*/ 3407716 w 80"/>
                <a:gd name="T37" fmla="*/ 1675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66"/>
                <a:gd name="T59" fmla="*/ 80 w 80"/>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66">
                  <a:moveTo>
                    <a:pt x="79" y="65"/>
                  </a:moveTo>
                  <a:lnTo>
                    <a:pt x="77" y="52"/>
                  </a:lnTo>
                  <a:lnTo>
                    <a:pt x="68" y="43"/>
                  </a:lnTo>
                  <a:lnTo>
                    <a:pt x="56" y="35"/>
                  </a:lnTo>
                  <a:lnTo>
                    <a:pt x="42" y="27"/>
                  </a:lnTo>
                  <a:lnTo>
                    <a:pt x="30" y="19"/>
                  </a:lnTo>
                  <a:lnTo>
                    <a:pt x="20" y="12"/>
                  </a:lnTo>
                  <a:lnTo>
                    <a:pt x="14" y="6"/>
                  </a:lnTo>
                  <a:lnTo>
                    <a:pt x="13" y="4"/>
                  </a:lnTo>
                  <a:lnTo>
                    <a:pt x="0" y="0"/>
                  </a:lnTo>
                  <a:lnTo>
                    <a:pt x="2" y="13"/>
                  </a:lnTo>
                  <a:lnTo>
                    <a:pt x="11" y="22"/>
                  </a:lnTo>
                  <a:lnTo>
                    <a:pt x="22" y="31"/>
                  </a:lnTo>
                  <a:lnTo>
                    <a:pt x="36" y="39"/>
                  </a:lnTo>
                  <a:lnTo>
                    <a:pt x="50" y="46"/>
                  </a:lnTo>
                  <a:lnTo>
                    <a:pt x="59" y="53"/>
                  </a:lnTo>
                  <a:lnTo>
                    <a:pt x="65" y="59"/>
                  </a:lnTo>
                  <a:lnTo>
                    <a:pt x="66" y="61"/>
                  </a:lnTo>
                  <a:lnTo>
                    <a:pt x="79"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6" name="Freeform 185">
              <a:extLst>
                <a:ext uri="{FF2B5EF4-FFF2-40B4-BE49-F238E27FC236}">
                  <a16:creationId xmlns:a16="http://schemas.microsoft.com/office/drawing/2014/main" id="{764077D7-233A-C8FB-E683-6967E3268ECB}"/>
                </a:ext>
              </a:extLst>
            </p:cNvPr>
            <p:cNvSpPr>
              <a:spLocks/>
            </p:cNvSpPr>
            <p:nvPr/>
          </p:nvSpPr>
          <p:spPr bwMode="auto">
            <a:xfrm>
              <a:off x="2816" y="2605"/>
              <a:ext cx="176" cy="30"/>
            </a:xfrm>
            <a:custGeom>
              <a:avLst/>
              <a:gdLst>
                <a:gd name="T0" fmla="*/ 448956 w 107"/>
                <a:gd name="T1" fmla="*/ 496 h 26"/>
                <a:gd name="T2" fmla="*/ 551648 w 107"/>
                <a:gd name="T3" fmla="*/ 430 h 26"/>
                <a:gd name="T4" fmla="*/ 855362 w 107"/>
                <a:gd name="T5" fmla="*/ 404 h 26"/>
                <a:gd name="T6" fmla="*/ 1274250 w 107"/>
                <a:gd name="T7" fmla="*/ 373 h 26"/>
                <a:gd name="T8" fmla="*/ 1829721 w 107"/>
                <a:gd name="T9" fmla="*/ 373 h 26"/>
                <a:gd name="T10" fmla="*/ 2374059 w 107"/>
                <a:gd name="T11" fmla="*/ 372 h 26"/>
                <a:gd name="T12" fmla="*/ 2899460 w 107"/>
                <a:gd name="T13" fmla="*/ 350 h 26"/>
                <a:gd name="T14" fmla="*/ 3361858 w 107"/>
                <a:gd name="T15" fmla="*/ 279 h 26"/>
                <a:gd name="T16" fmla="*/ 3649694 w 107"/>
                <a:gd name="T17" fmla="*/ 89 h 26"/>
                <a:gd name="T18" fmla="*/ 3223782 w 107"/>
                <a:gd name="T19" fmla="*/ 0 h 26"/>
                <a:gd name="T20" fmla="*/ 3107351 w 107"/>
                <a:gd name="T21" fmla="*/ 2 h 26"/>
                <a:gd name="T22" fmla="*/ 2833329 w 107"/>
                <a:gd name="T23" fmla="*/ 89 h 26"/>
                <a:gd name="T24" fmla="*/ 2374059 w 107"/>
                <a:gd name="T25" fmla="*/ 103 h 26"/>
                <a:gd name="T26" fmla="*/ 1829721 w 107"/>
                <a:gd name="T27" fmla="*/ 103 h 26"/>
                <a:gd name="T28" fmla="*/ 1274250 w 107"/>
                <a:gd name="T29" fmla="*/ 119 h 26"/>
                <a:gd name="T30" fmla="*/ 755427 w 107"/>
                <a:gd name="T31" fmla="*/ 137 h 26"/>
                <a:gd name="T32" fmla="*/ 316149 w 107"/>
                <a:gd name="T33" fmla="*/ 228 h 26"/>
                <a:gd name="T34" fmla="*/ 0 w 107"/>
                <a:gd name="T35" fmla="*/ 429 h 26"/>
                <a:gd name="T36" fmla="*/ 448956 w 107"/>
                <a:gd name="T37" fmla="*/ 496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6"/>
                <a:gd name="T59" fmla="*/ 107 w 107"/>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6">
                  <a:moveTo>
                    <a:pt x="13" y="25"/>
                  </a:moveTo>
                  <a:lnTo>
                    <a:pt x="16" y="22"/>
                  </a:lnTo>
                  <a:lnTo>
                    <a:pt x="25" y="20"/>
                  </a:lnTo>
                  <a:lnTo>
                    <a:pt x="37" y="19"/>
                  </a:lnTo>
                  <a:lnTo>
                    <a:pt x="53" y="19"/>
                  </a:lnTo>
                  <a:lnTo>
                    <a:pt x="69" y="18"/>
                  </a:lnTo>
                  <a:lnTo>
                    <a:pt x="84" y="17"/>
                  </a:lnTo>
                  <a:lnTo>
                    <a:pt x="97" y="14"/>
                  </a:lnTo>
                  <a:lnTo>
                    <a:pt x="106" y="4"/>
                  </a:lnTo>
                  <a:lnTo>
                    <a:pt x="93" y="0"/>
                  </a:lnTo>
                  <a:lnTo>
                    <a:pt x="90" y="2"/>
                  </a:lnTo>
                  <a:lnTo>
                    <a:pt x="82" y="4"/>
                  </a:lnTo>
                  <a:lnTo>
                    <a:pt x="69" y="5"/>
                  </a:lnTo>
                  <a:lnTo>
                    <a:pt x="53" y="5"/>
                  </a:lnTo>
                  <a:lnTo>
                    <a:pt x="37" y="6"/>
                  </a:lnTo>
                  <a:lnTo>
                    <a:pt x="22" y="7"/>
                  </a:lnTo>
                  <a:lnTo>
                    <a:pt x="9" y="11"/>
                  </a:lnTo>
                  <a:lnTo>
                    <a:pt x="0" y="21"/>
                  </a:lnTo>
                  <a:lnTo>
                    <a:pt x="13" y="2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7" name="Freeform 186">
              <a:extLst>
                <a:ext uri="{FF2B5EF4-FFF2-40B4-BE49-F238E27FC236}">
                  <a16:creationId xmlns:a16="http://schemas.microsoft.com/office/drawing/2014/main" id="{D4BBD7E9-AEFD-040E-E189-64B4829DC382}"/>
                </a:ext>
              </a:extLst>
            </p:cNvPr>
            <p:cNvSpPr>
              <a:spLocks/>
            </p:cNvSpPr>
            <p:nvPr/>
          </p:nvSpPr>
          <p:spPr bwMode="auto">
            <a:xfrm>
              <a:off x="2816" y="2629"/>
              <a:ext cx="128" cy="76"/>
            </a:xfrm>
            <a:custGeom>
              <a:avLst/>
              <a:gdLst>
                <a:gd name="T0" fmla="*/ 1957454 w 79"/>
                <a:gd name="T1" fmla="*/ 1244 h 66"/>
                <a:gd name="T2" fmla="*/ 1957454 w 79"/>
                <a:gd name="T3" fmla="*/ 1246 h 66"/>
                <a:gd name="T4" fmla="*/ 1908755 w 79"/>
                <a:gd name="T5" fmla="*/ 1001 h 66"/>
                <a:gd name="T6" fmla="*/ 1698912 w 79"/>
                <a:gd name="T7" fmla="*/ 814 h 66"/>
                <a:gd name="T8" fmla="*/ 1410071 w 79"/>
                <a:gd name="T9" fmla="*/ 674 h 66"/>
                <a:gd name="T10" fmla="*/ 1054367 w 79"/>
                <a:gd name="T11" fmla="*/ 510 h 66"/>
                <a:gd name="T12" fmla="*/ 756250 w 79"/>
                <a:gd name="T13" fmla="*/ 371 h 66"/>
                <a:gd name="T14" fmla="*/ 478052 w 79"/>
                <a:gd name="T15" fmla="*/ 236 h 66"/>
                <a:gd name="T16" fmla="*/ 354140 w 79"/>
                <a:gd name="T17" fmla="*/ 117 h 66"/>
                <a:gd name="T18" fmla="*/ 324684 w 79"/>
                <a:gd name="T19" fmla="*/ 89 h 66"/>
                <a:gd name="T20" fmla="*/ 0 w 79"/>
                <a:gd name="T21" fmla="*/ 0 h 66"/>
                <a:gd name="T22" fmla="*/ 47112 w 79"/>
                <a:gd name="T23" fmla="*/ 251 h 66"/>
                <a:gd name="T24" fmla="*/ 247881 w 79"/>
                <a:gd name="T25" fmla="*/ 441 h 66"/>
                <a:gd name="T26" fmla="*/ 555092 w 79"/>
                <a:gd name="T27" fmla="*/ 587 h 66"/>
                <a:gd name="T28" fmla="*/ 899390 w 79"/>
                <a:gd name="T29" fmla="*/ 752 h 66"/>
                <a:gd name="T30" fmla="*/ 1208116 w 79"/>
                <a:gd name="T31" fmla="*/ 894 h 66"/>
                <a:gd name="T32" fmla="*/ 1457239 w 79"/>
                <a:gd name="T33" fmla="*/ 1029 h 66"/>
                <a:gd name="T34" fmla="*/ 1622345 w 79"/>
                <a:gd name="T35" fmla="*/ 1148 h 66"/>
                <a:gd name="T36" fmla="*/ 1630312 w 79"/>
                <a:gd name="T37" fmla="*/ 1153 h 66"/>
                <a:gd name="T38" fmla="*/ 1630312 w 79"/>
                <a:gd name="T39" fmla="*/ 1185 h 66"/>
                <a:gd name="T40" fmla="*/ 1957454 w 79"/>
                <a:gd name="T41" fmla="*/ 1244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66"/>
                <a:gd name="T65" fmla="*/ 79 w 79"/>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66">
                  <a:moveTo>
                    <a:pt x="78" y="64"/>
                  </a:moveTo>
                  <a:lnTo>
                    <a:pt x="78" y="65"/>
                  </a:lnTo>
                  <a:lnTo>
                    <a:pt x="76" y="52"/>
                  </a:lnTo>
                  <a:lnTo>
                    <a:pt x="67" y="42"/>
                  </a:lnTo>
                  <a:lnTo>
                    <a:pt x="56" y="35"/>
                  </a:lnTo>
                  <a:lnTo>
                    <a:pt x="42" y="27"/>
                  </a:lnTo>
                  <a:lnTo>
                    <a:pt x="30" y="19"/>
                  </a:lnTo>
                  <a:lnTo>
                    <a:pt x="19" y="12"/>
                  </a:lnTo>
                  <a:lnTo>
                    <a:pt x="14" y="6"/>
                  </a:lnTo>
                  <a:lnTo>
                    <a:pt x="13" y="4"/>
                  </a:lnTo>
                  <a:lnTo>
                    <a:pt x="0" y="0"/>
                  </a:lnTo>
                  <a:lnTo>
                    <a:pt x="2" y="13"/>
                  </a:lnTo>
                  <a:lnTo>
                    <a:pt x="10" y="23"/>
                  </a:lnTo>
                  <a:lnTo>
                    <a:pt x="22" y="31"/>
                  </a:lnTo>
                  <a:lnTo>
                    <a:pt x="36" y="38"/>
                  </a:lnTo>
                  <a:lnTo>
                    <a:pt x="48" y="46"/>
                  </a:lnTo>
                  <a:lnTo>
                    <a:pt x="58" y="53"/>
                  </a:lnTo>
                  <a:lnTo>
                    <a:pt x="64" y="59"/>
                  </a:lnTo>
                  <a:lnTo>
                    <a:pt x="65" y="60"/>
                  </a:lnTo>
                  <a:lnTo>
                    <a:pt x="65" y="61"/>
                  </a:lnTo>
                  <a:lnTo>
                    <a:pt x="78" y="6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8" name="Freeform 187">
              <a:extLst>
                <a:ext uri="{FF2B5EF4-FFF2-40B4-BE49-F238E27FC236}">
                  <a16:creationId xmlns:a16="http://schemas.microsoft.com/office/drawing/2014/main" id="{3A8CC80B-43CA-46FD-1D1F-776CA7FCA18E}"/>
                </a:ext>
              </a:extLst>
            </p:cNvPr>
            <p:cNvSpPr>
              <a:spLocks/>
            </p:cNvSpPr>
            <p:nvPr/>
          </p:nvSpPr>
          <p:spPr bwMode="auto">
            <a:xfrm>
              <a:off x="2771" y="2699"/>
              <a:ext cx="173" cy="29"/>
            </a:xfrm>
            <a:custGeom>
              <a:avLst/>
              <a:gdLst>
                <a:gd name="T0" fmla="*/ 373313 w 106"/>
                <a:gd name="T1" fmla="*/ 457 h 25"/>
                <a:gd name="T2" fmla="*/ 373313 w 106"/>
                <a:gd name="T3" fmla="*/ 455 h 25"/>
                <a:gd name="T4" fmla="*/ 430014 w 106"/>
                <a:gd name="T5" fmla="*/ 455 h 25"/>
                <a:gd name="T6" fmla="*/ 681423 w 106"/>
                <a:gd name="T7" fmla="*/ 394 h 25"/>
                <a:gd name="T8" fmla="*/ 1059028 w 106"/>
                <a:gd name="T9" fmla="*/ 394 h 25"/>
                <a:gd name="T10" fmla="*/ 1530828 w 106"/>
                <a:gd name="T11" fmla="*/ 394 h 25"/>
                <a:gd name="T12" fmla="*/ 1989524 w 106"/>
                <a:gd name="T13" fmla="*/ 394 h 25"/>
                <a:gd name="T14" fmla="*/ 2421995 w 106"/>
                <a:gd name="T15" fmla="*/ 392 h 25"/>
                <a:gd name="T16" fmla="*/ 2820902 w 106"/>
                <a:gd name="T17" fmla="*/ 291 h 25"/>
                <a:gd name="T18" fmla="*/ 3075039 w 106"/>
                <a:gd name="T19" fmla="*/ 3 h 25"/>
                <a:gd name="T20" fmla="*/ 2702097 w 106"/>
                <a:gd name="T21" fmla="*/ 0 h 25"/>
                <a:gd name="T22" fmla="*/ 2613447 w 106"/>
                <a:gd name="T23" fmla="*/ 1 h 25"/>
                <a:gd name="T24" fmla="*/ 2370041 w 106"/>
                <a:gd name="T25" fmla="*/ 101 h 25"/>
                <a:gd name="T26" fmla="*/ 1989524 w 106"/>
                <a:gd name="T27" fmla="*/ 101 h 25"/>
                <a:gd name="T28" fmla="*/ 1530828 w 106"/>
                <a:gd name="T29" fmla="*/ 101 h 25"/>
                <a:gd name="T30" fmla="*/ 1059028 w 106"/>
                <a:gd name="T31" fmla="*/ 101 h 25"/>
                <a:gd name="T32" fmla="*/ 648884 w 106"/>
                <a:gd name="T33" fmla="*/ 117 h 25"/>
                <a:gd name="T34" fmla="*/ 263477 w 106"/>
                <a:gd name="T35" fmla="*/ 158 h 25"/>
                <a:gd name="T36" fmla="*/ 0 w 106"/>
                <a:gd name="T37" fmla="*/ 384 h 25"/>
                <a:gd name="T38" fmla="*/ 32238 w 106"/>
                <a:gd name="T39" fmla="*/ 331 h 25"/>
                <a:gd name="T40" fmla="*/ 0 w 106"/>
                <a:gd name="T41" fmla="*/ 384 h 25"/>
                <a:gd name="T42" fmla="*/ 32238 w 106"/>
                <a:gd name="T43" fmla="*/ 457 h 25"/>
                <a:gd name="T44" fmla="*/ 140150 w 106"/>
                <a:gd name="T45" fmla="*/ 530 h 25"/>
                <a:gd name="T46" fmla="*/ 285758 w 106"/>
                <a:gd name="T47" fmla="*/ 530 h 25"/>
                <a:gd name="T48" fmla="*/ 373313 w 106"/>
                <a:gd name="T49" fmla="*/ 455 h 25"/>
                <a:gd name="T50" fmla="*/ 373313 w 106"/>
                <a:gd name="T51" fmla="*/ 457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6"/>
                <a:gd name="T79" fmla="*/ 0 h 25"/>
                <a:gd name="T80" fmla="*/ 106 w 10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6" h="25">
                  <a:moveTo>
                    <a:pt x="13" y="21"/>
                  </a:moveTo>
                  <a:lnTo>
                    <a:pt x="13" y="20"/>
                  </a:lnTo>
                  <a:lnTo>
                    <a:pt x="15" y="20"/>
                  </a:lnTo>
                  <a:lnTo>
                    <a:pt x="23" y="18"/>
                  </a:lnTo>
                  <a:lnTo>
                    <a:pt x="36" y="18"/>
                  </a:lnTo>
                  <a:lnTo>
                    <a:pt x="52" y="18"/>
                  </a:lnTo>
                  <a:lnTo>
                    <a:pt x="68" y="18"/>
                  </a:lnTo>
                  <a:lnTo>
                    <a:pt x="83" y="17"/>
                  </a:lnTo>
                  <a:lnTo>
                    <a:pt x="96" y="13"/>
                  </a:lnTo>
                  <a:lnTo>
                    <a:pt x="105" y="3"/>
                  </a:lnTo>
                  <a:lnTo>
                    <a:pt x="92" y="0"/>
                  </a:lnTo>
                  <a:lnTo>
                    <a:pt x="89" y="1"/>
                  </a:lnTo>
                  <a:lnTo>
                    <a:pt x="81" y="4"/>
                  </a:lnTo>
                  <a:lnTo>
                    <a:pt x="68" y="4"/>
                  </a:lnTo>
                  <a:lnTo>
                    <a:pt x="52" y="4"/>
                  </a:lnTo>
                  <a:lnTo>
                    <a:pt x="36" y="4"/>
                  </a:lnTo>
                  <a:lnTo>
                    <a:pt x="22" y="5"/>
                  </a:lnTo>
                  <a:lnTo>
                    <a:pt x="9" y="7"/>
                  </a:lnTo>
                  <a:lnTo>
                    <a:pt x="0" y="16"/>
                  </a:lnTo>
                  <a:lnTo>
                    <a:pt x="1" y="14"/>
                  </a:lnTo>
                  <a:lnTo>
                    <a:pt x="0" y="16"/>
                  </a:lnTo>
                  <a:lnTo>
                    <a:pt x="1" y="21"/>
                  </a:lnTo>
                  <a:lnTo>
                    <a:pt x="5" y="24"/>
                  </a:lnTo>
                  <a:lnTo>
                    <a:pt x="10" y="24"/>
                  </a:lnTo>
                  <a:lnTo>
                    <a:pt x="13" y="20"/>
                  </a:lnTo>
                  <a:lnTo>
                    <a:pt x="13" y="2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69" name="Freeform 188">
              <a:extLst>
                <a:ext uri="{FF2B5EF4-FFF2-40B4-BE49-F238E27FC236}">
                  <a16:creationId xmlns:a16="http://schemas.microsoft.com/office/drawing/2014/main" id="{7A84B016-E8CA-30D8-74C3-938E1A5188A4}"/>
                </a:ext>
              </a:extLst>
            </p:cNvPr>
            <p:cNvSpPr>
              <a:spLocks/>
            </p:cNvSpPr>
            <p:nvPr/>
          </p:nvSpPr>
          <p:spPr bwMode="auto">
            <a:xfrm>
              <a:off x="2768" y="2716"/>
              <a:ext cx="24" cy="14"/>
            </a:xfrm>
            <a:custGeom>
              <a:avLst/>
              <a:gdLst>
                <a:gd name="T0" fmla="*/ 1057803 w 14"/>
                <a:gd name="T1" fmla="*/ 163 h 12"/>
                <a:gd name="T2" fmla="*/ 1012678 w 14"/>
                <a:gd name="T3" fmla="*/ 222 h 12"/>
                <a:gd name="T4" fmla="*/ 1057803 w 14"/>
                <a:gd name="T5" fmla="*/ 163 h 12"/>
                <a:gd name="T6" fmla="*/ 84792 w 14"/>
                <a:gd name="T7" fmla="*/ 0 h 12"/>
                <a:gd name="T8" fmla="*/ 0 w 14"/>
                <a:gd name="T9" fmla="*/ 1 h 12"/>
                <a:gd name="T10" fmla="*/ 0 w 14"/>
                <a:gd name="T11" fmla="*/ 103 h 12"/>
                <a:gd name="T12" fmla="*/ 0 w 14"/>
                <a:gd name="T13" fmla="*/ 1 h 12"/>
                <a:gd name="T14" fmla="*/ 0 w 14"/>
                <a:gd name="T15" fmla="*/ 163 h 12"/>
                <a:gd name="T16" fmla="*/ 344592 w 14"/>
                <a:gd name="T17" fmla="*/ 263 h 12"/>
                <a:gd name="T18" fmla="*/ 668086 w 14"/>
                <a:gd name="T19" fmla="*/ 270 h 12"/>
                <a:gd name="T20" fmla="*/ 1012678 w 14"/>
                <a:gd name="T21" fmla="*/ 222 h 12"/>
                <a:gd name="T22" fmla="*/ 1057803 w 14"/>
                <a:gd name="T23" fmla="*/ 163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6"/>
                  </a:moveTo>
                  <a:lnTo>
                    <a:pt x="12" y="8"/>
                  </a:lnTo>
                  <a:lnTo>
                    <a:pt x="13" y="6"/>
                  </a:lnTo>
                  <a:lnTo>
                    <a:pt x="1" y="0"/>
                  </a:lnTo>
                  <a:lnTo>
                    <a:pt x="0" y="1"/>
                  </a:lnTo>
                  <a:lnTo>
                    <a:pt x="0" y="3"/>
                  </a:lnTo>
                  <a:lnTo>
                    <a:pt x="0" y="1"/>
                  </a:lnTo>
                  <a:lnTo>
                    <a:pt x="0" y="6"/>
                  </a:lnTo>
                  <a:lnTo>
                    <a:pt x="4" y="10"/>
                  </a:lnTo>
                  <a:lnTo>
                    <a:pt x="8" y="11"/>
                  </a:lnTo>
                  <a:lnTo>
                    <a:pt x="12" y="8"/>
                  </a:lnTo>
                  <a:lnTo>
                    <a:pt x="13"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0" name="Freeform 189">
              <a:extLst>
                <a:ext uri="{FF2B5EF4-FFF2-40B4-BE49-F238E27FC236}">
                  <a16:creationId xmlns:a16="http://schemas.microsoft.com/office/drawing/2014/main" id="{63F5D246-35CC-AC22-29FB-5D59318445B1}"/>
                </a:ext>
              </a:extLst>
            </p:cNvPr>
            <p:cNvSpPr>
              <a:spLocks/>
            </p:cNvSpPr>
            <p:nvPr/>
          </p:nvSpPr>
          <p:spPr bwMode="auto">
            <a:xfrm>
              <a:off x="2768" y="2719"/>
              <a:ext cx="130" cy="76"/>
            </a:xfrm>
            <a:custGeom>
              <a:avLst/>
              <a:gdLst>
                <a:gd name="T0" fmla="*/ 2718437 w 79"/>
                <a:gd name="T1" fmla="*/ 1246 h 66"/>
                <a:gd name="T2" fmla="*/ 2691392 w 79"/>
                <a:gd name="T3" fmla="*/ 1001 h 66"/>
                <a:gd name="T4" fmla="*/ 2373138 w 79"/>
                <a:gd name="T5" fmla="*/ 778 h 66"/>
                <a:gd name="T6" fmla="*/ 1939821 w 79"/>
                <a:gd name="T7" fmla="*/ 653 h 66"/>
                <a:gd name="T8" fmla="*/ 1512703 w 79"/>
                <a:gd name="T9" fmla="*/ 492 h 66"/>
                <a:gd name="T10" fmla="*/ 1040012 w 79"/>
                <a:gd name="T11" fmla="*/ 333 h 66"/>
                <a:gd name="T12" fmla="*/ 656503 w 79"/>
                <a:gd name="T13" fmla="*/ 218 h 66"/>
                <a:gd name="T14" fmla="*/ 493266 w 79"/>
                <a:gd name="T15" fmla="*/ 102 h 66"/>
                <a:gd name="T16" fmla="*/ 451334 w 79"/>
                <a:gd name="T17" fmla="*/ 3 h 66"/>
                <a:gd name="T18" fmla="*/ 0 w 79"/>
                <a:gd name="T19" fmla="*/ 0 h 66"/>
                <a:gd name="T20" fmla="*/ 61551 w 79"/>
                <a:gd name="T21" fmla="*/ 236 h 66"/>
                <a:gd name="T22" fmla="*/ 384066 w 79"/>
                <a:gd name="T23" fmla="*/ 415 h 66"/>
                <a:gd name="T24" fmla="*/ 760939 w 79"/>
                <a:gd name="T25" fmla="*/ 567 h 66"/>
                <a:gd name="T26" fmla="*/ 1252178 w 79"/>
                <a:gd name="T27" fmla="*/ 729 h 66"/>
                <a:gd name="T28" fmla="*/ 1711412 w 79"/>
                <a:gd name="T29" fmla="*/ 866 h 66"/>
                <a:gd name="T30" fmla="*/ 2060546 w 79"/>
                <a:gd name="T31" fmla="*/ 1001 h 66"/>
                <a:gd name="T32" fmla="*/ 2269433 w 79"/>
                <a:gd name="T33" fmla="*/ 1112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7" y="52"/>
                  </a:lnTo>
                  <a:lnTo>
                    <a:pt x="68" y="41"/>
                  </a:lnTo>
                  <a:lnTo>
                    <a:pt x="56" y="33"/>
                  </a:lnTo>
                  <a:lnTo>
                    <a:pt x="43" y="25"/>
                  </a:lnTo>
                  <a:lnTo>
                    <a:pt x="30" y="17"/>
                  </a:lnTo>
                  <a:lnTo>
                    <a:pt x="19" y="11"/>
                  </a:lnTo>
                  <a:lnTo>
                    <a:pt x="14" y="5"/>
                  </a:lnTo>
                  <a:lnTo>
                    <a:pt x="13" y="3"/>
                  </a:lnTo>
                  <a:lnTo>
                    <a:pt x="0" y="0"/>
                  </a:lnTo>
                  <a:lnTo>
                    <a:pt x="2" y="12"/>
                  </a:lnTo>
                  <a:lnTo>
                    <a:pt x="11" y="21"/>
                  </a:lnTo>
                  <a:lnTo>
                    <a:pt x="22" y="29"/>
                  </a:lnTo>
                  <a:lnTo>
                    <a:pt x="36" y="37"/>
                  </a:lnTo>
                  <a:lnTo>
                    <a:pt x="49" y="44"/>
                  </a:lnTo>
                  <a:lnTo>
                    <a:pt x="59" y="52"/>
                  </a:lnTo>
                  <a:lnTo>
                    <a:pt x="65" y="58"/>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1" name="Freeform 190">
              <a:extLst>
                <a:ext uri="{FF2B5EF4-FFF2-40B4-BE49-F238E27FC236}">
                  <a16:creationId xmlns:a16="http://schemas.microsoft.com/office/drawing/2014/main" id="{F403887A-1C07-F1C3-B3B4-F87E94ACF4E0}"/>
                </a:ext>
              </a:extLst>
            </p:cNvPr>
            <p:cNvSpPr>
              <a:spLocks/>
            </p:cNvSpPr>
            <p:nvPr/>
          </p:nvSpPr>
          <p:spPr bwMode="auto">
            <a:xfrm>
              <a:off x="2722" y="2789"/>
              <a:ext cx="176" cy="29"/>
            </a:xfrm>
            <a:custGeom>
              <a:avLst/>
              <a:gdLst>
                <a:gd name="T0" fmla="*/ 448956 w 107"/>
                <a:gd name="T1" fmla="*/ 530 h 25"/>
                <a:gd name="T2" fmla="*/ 551648 w 107"/>
                <a:gd name="T3" fmla="*/ 516 h 25"/>
                <a:gd name="T4" fmla="*/ 806439 w 107"/>
                <a:gd name="T5" fmla="*/ 455 h 25"/>
                <a:gd name="T6" fmla="*/ 1274250 w 107"/>
                <a:gd name="T7" fmla="*/ 455 h 25"/>
                <a:gd name="T8" fmla="*/ 1829721 w 107"/>
                <a:gd name="T9" fmla="*/ 455 h 25"/>
                <a:gd name="T10" fmla="*/ 2374059 w 107"/>
                <a:gd name="T11" fmla="*/ 394 h 25"/>
                <a:gd name="T12" fmla="*/ 2899460 w 107"/>
                <a:gd name="T13" fmla="*/ 394 h 25"/>
                <a:gd name="T14" fmla="*/ 3361858 w 107"/>
                <a:gd name="T15" fmla="*/ 331 h 25"/>
                <a:gd name="T16" fmla="*/ 3649694 w 107"/>
                <a:gd name="T17" fmla="*/ 101 h 25"/>
                <a:gd name="T18" fmla="*/ 3223782 w 107"/>
                <a:gd name="T19" fmla="*/ 0 h 25"/>
                <a:gd name="T20" fmla="*/ 3107351 w 107"/>
                <a:gd name="T21" fmla="*/ 2 h 25"/>
                <a:gd name="T22" fmla="*/ 2796262 w 107"/>
                <a:gd name="T23" fmla="*/ 117 h 25"/>
                <a:gd name="T24" fmla="*/ 2374059 w 107"/>
                <a:gd name="T25" fmla="*/ 117 h 25"/>
                <a:gd name="T26" fmla="*/ 1829721 w 107"/>
                <a:gd name="T27" fmla="*/ 117 h 25"/>
                <a:gd name="T28" fmla="*/ 1274250 w 107"/>
                <a:gd name="T29" fmla="*/ 117 h 25"/>
                <a:gd name="T30" fmla="*/ 755427 w 107"/>
                <a:gd name="T31" fmla="*/ 158 h 25"/>
                <a:gd name="T32" fmla="*/ 316149 w 107"/>
                <a:gd name="T33" fmla="*/ 246 h 25"/>
                <a:gd name="T34" fmla="*/ 0 w 107"/>
                <a:gd name="T35" fmla="*/ 455 h 25"/>
                <a:gd name="T36" fmla="*/ 448956 w 107"/>
                <a:gd name="T37" fmla="*/ 53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25"/>
                <a:gd name="T59" fmla="*/ 107 w 107"/>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25">
                  <a:moveTo>
                    <a:pt x="13" y="24"/>
                  </a:moveTo>
                  <a:lnTo>
                    <a:pt x="16" y="22"/>
                  </a:lnTo>
                  <a:lnTo>
                    <a:pt x="23" y="20"/>
                  </a:lnTo>
                  <a:lnTo>
                    <a:pt x="37" y="20"/>
                  </a:lnTo>
                  <a:lnTo>
                    <a:pt x="53" y="20"/>
                  </a:lnTo>
                  <a:lnTo>
                    <a:pt x="69" y="18"/>
                  </a:lnTo>
                  <a:lnTo>
                    <a:pt x="84" y="18"/>
                  </a:lnTo>
                  <a:lnTo>
                    <a:pt x="97" y="14"/>
                  </a:lnTo>
                  <a:lnTo>
                    <a:pt x="106" y="4"/>
                  </a:lnTo>
                  <a:lnTo>
                    <a:pt x="93" y="0"/>
                  </a:lnTo>
                  <a:lnTo>
                    <a:pt x="90" y="2"/>
                  </a:lnTo>
                  <a:lnTo>
                    <a:pt x="81" y="5"/>
                  </a:lnTo>
                  <a:lnTo>
                    <a:pt x="69" y="5"/>
                  </a:lnTo>
                  <a:lnTo>
                    <a:pt x="53" y="5"/>
                  </a:lnTo>
                  <a:lnTo>
                    <a:pt x="37" y="5"/>
                  </a:lnTo>
                  <a:lnTo>
                    <a:pt x="22" y="7"/>
                  </a:lnTo>
                  <a:lnTo>
                    <a:pt x="9" y="10"/>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2" name="Freeform 191">
              <a:extLst>
                <a:ext uri="{FF2B5EF4-FFF2-40B4-BE49-F238E27FC236}">
                  <a16:creationId xmlns:a16="http://schemas.microsoft.com/office/drawing/2014/main" id="{81A0B9BE-4A71-C11A-C777-E7E6CD5DE44D}"/>
                </a:ext>
              </a:extLst>
            </p:cNvPr>
            <p:cNvSpPr>
              <a:spLocks/>
            </p:cNvSpPr>
            <p:nvPr/>
          </p:nvSpPr>
          <p:spPr bwMode="auto">
            <a:xfrm>
              <a:off x="2722" y="2813"/>
              <a:ext cx="130" cy="76"/>
            </a:xfrm>
            <a:custGeom>
              <a:avLst/>
              <a:gdLst>
                <a:gd name="T0" fmla="*/ 2718437 w 79"/>
                <a:gd name="T1" fmla="*/ 1246 h 66"/>
                <a:gd name="T2" fmla="*/ 2654305 w 79"/>
                <a:gd name="T3" fmla="*/ 1001 h 66"/>
                <a:gd name="T4" fmla="*/ 2373138 w 79"/>
                <a:gd name="T5" fmla="*/ 839 h 66"/>
                <a:gd name="T6" fmla="*/ 1939821 w 79"/>
                <a:gd name="T7" fmla="*/ 656 h 66"/>
                <a:gd name="T8" fmla="*/ 1468965 w 79"/>
                <a:gd name="T9" fmla="*/ 508 h 66"/>
                <a:gd name="T10" fmla="*/ 1017350 w 79"/>
                <a:gd name="T11" fmla="*/ 371 h 66"/>
                <a:gd name="T12" fmla="*/ 656503 w 79"/>
                <a:gd name="T13" fmla="*/ 218 h 66"/>
                <a:gd name="T14" fmla="*/ 451334 w 79"/>
                <a:gd name="T15" fmla="*/ 117 h 66"/>
                <a:gd name="T16" fmla="*/ 451334 w 79"/>
                <a:gd name="T17" fmla="*/ 89 h 66"/>
                <a:gd name="T18" fmla="*/ 0 w 79"/>
                <a:gd name="T19" fmla="*/ 0 h 66"/>
                <a:gd name="T20" fmla="*/ 37404 w 79"/>
                <a:gd name="T21" fmla="*/ 251 h 66"/>
                <a:gd name="T22" fmla="*/ 339473 w 79"/>
                <a:gd name="T23" fmla="*/ 427 h 66"/>
                <a:gd name="T24" fmla="*/ 760939 w 79"/>
                <a:gd name="T25" fmla="*/ 585 h 66"/>
                <a:gd name="T26" fmla="*/ 1252178 w 79"/>
                <a:gd name="T27" fmla="*/ 752 h 66"/>
                <a:gd name="T28" fmla="*/ 1674120 w 79"/>
                <a:gd name="T29" fmla="*/ 894 h 66"/>
                <a:gd name="T30" fmla="*/ 2060546 w 79"/>
                <a:gd name="T31" fmla="*/ 1029 h 66"/>
                <a:gd name="T32" fmla="*/ 2269433 w 79"/>
                <a:gd name="T33" fmla="*/ 1148 h 66"/>
                <a:gd name="T34" fmla="*/ 2269433 w 79"/>
                <a:gd name="T35" fmla="*/ 1185 h 66"/>
                <a:gd name="T36" fmla="*/ 2718437 w 79"/>
                <a:gd name="T37" fmla="*/ 124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66"/>
                <a:gd name="T59" fmla="*/ 79 w 79"/>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66">
                  <a:moveTo>
                    <a:pt x="78" y="65"/>
                  </a:moveTo>
                  <a:lnTo>
                    <a:pt x="76" y="52"/>
                  </a:lnTo>
                  <a:lnTo>
                    <a:pt x="68" y="43"/>
                  </a:lnTo>
                  <a:lnTo>
                    <a:pt x="56" y="34"/>
                  </a:lnTo>
                  <a:lnTo>
                    <a:pt x="42" y="26"/>
                  </a:lnTo>
                  <a:lnTo>
                    <a:pt x="29" y="19"/>
                  </a:lnTo>
                  <a:lnTo>
                    <a:pt x="19" y="11"/>
                  </a:lnTo>
                  <a:lnTo>
                    <a:pt x="13" y="6"/>
                  </a:lnTo>
                  <a:lnTo>
                    <a:pt x="13" y="4"/>
                  </a:lnTo>
                  <a:lnTo>
                    <a:pt x="0" y="0"/>
                  </a:lnTo>
                  <a:lnTo>
                    <a:pt x="1" y="13"/>
                  </a:lnTo>
                  <a:lnTo>
                    <a:pt x="10" y="22"/>
                  </a:lnTo>
                  <a:lnTo>
                    <a:pt x="22" y="30"/>
                  </a:lnTo>
                  <a:lnTo>
                    <a:pt x="36" y="38"/>
                  </a:lnTo>
                  <a:lnTo>
                    <a:pt x="48" y="46"/>
                  </a:lnTo>
                  <a:lnTo>
                    <a:pt x="59" y="53"/>
                  </a:lnTo>
                  <a:lnTo>
                    <a:pt x="65" y="59"/>
                  </a:lnTo>
                  <a:lnTo>
                    <a:pt x="65" y="61"/>
                  </a:lnTo>
                  <a:lnTo>
                    <a:pt x="78" y="6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3" name="Freeform 192">
              <a:extLst>
                <a:ext uri="{FF2B5EF4-FFF2-40B4-BE49-F238E27FC236}">
                  <a16:creationId xmlns:a16="http://schemas.microsoft.com/office/drawing/2014/main" id="{D25AC9B1-BB34-98B9-F9CE-6A473EA1E3FA}"/>
                </a:ext>
              </a:extLst>
            </p:cNvPr>
            <p:cNvSpPr>
              <a:spLocks/>
            </p:cNvSpPr>
            <p:nvPr/>
          </p:nvSpPr>
          <p:spPr bwMode="auto">
            <a:xfrm>
              <a:off x="2676" y="2884"/>
              <a:ext cx="176" cy="29"/>
            </a:xfrm>
            <a:custGeom>
              <a:avLst/>
              <a:gdLst>
                <a:gd name="T0" fmla="*/ 448956 w 107"/>
                <a:gd name="T1" fmla="*/ 236 h 26"/>
                <a:gd name="T2" fmla="*/ 448956 w 107"/>
                <a:gd name="T3" fmla="*/ 254 h 26"/>
                <a:gd name="T4" fmla="*/ 520021 w 107"/>
                <a:gd name="T5" fmla="*/ 228 h 26"/>
                <a:gd name="T6" fmla="*/ 818282 w 107"/>
                <a:gd name="T7" fmla="*/ 204 h 26"/>
                <a:gd name="T8" fmla="*/ 1274250 w 107"/>
                <a:gd name="T9" fmla="*/ 184 h 26"/>
                <a:gd name="T10" fmla="*/ 1829721 w 107"/>
                <a:gd name="T11" fmla="*/ 184 h 26"/>
                <a:gd name="T12" fmla="*/ 2374059 w 107"/>
                <a:gd name="T13" fmla="*/ 184 h 26"/>
                <a:gd name="T14" fmla="*/ 2899460 w 107"/>
                <a:gd name="T15" fmla="*/ 165 h 26"/>
                <a:gd name="T16" fmla="*/ 3361858 w 107"/>
                <a:gd name="T17" fmla="*/ 147 h 26"/>
                <a:gd name="T18" fmla="*/ 3649694 w 107"/>
                <a:gd name="T19" fmla="*/ 4 h 26"/>
                <a:gd name="T20" fmla="*/ 3223782 w 107"/>
                <a:gd name="T21" fmla="*/ 0 h 26"/>
                <a:gd name="T22" fmla="*/ 3156192 w 107"/>
                <a:gd name="T23" fmla="*/ 2 h 26"/>
                <a:gd name="T24" fmla="*/ 2796262 w 107"/>
                <a:gd name="T25" fmla="*/ 56 h 26"/>
                <a:gd name="T26" fmla="*/ 2374059 w 107"/>
                <a:gd name="T27" fmla="*/ 62 h 26"/>
                <a:gd name="T28" fmla="*/ 1829721 w 107"/>
                <a:gd name="T29" fmla="*/ 56 h 26"/>
                <a:gd name="T30" fmla="*/ 1274250 w 107"/>
                <a:gd name="T31" fmla="*/ 62 h 26"/>
                <a:gd name="T32" fmla="*/ 755427 w 107"/>
                <a:gd name="T33" fmla="*/ 69 h 26"/>
                <a:gd name="T34" fmla="*/ 316149 w 107"/>
                <a:gd name="T35" fmla="*/ 96 h 26"/>
                <a:gd name="T36" fmla="*/ 0 w 107"/>
                <a:gd name="T37" fmla="*/ 184 h 26"/>
                <a:gd name="T38" fmla="*/ 0 w 107"/>
                <a:gd name="T39" fmla="*/ 204 h 26"/>
                <a:gd name="T40" fmla="*/ 448956 w 107"/>
                <a:gd name="T41" fmla="*/ 236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7"/>
                <a:gd name="T64" fmla="*/ 0 h 26"/>
                <a:gd name="T65" fmla="*/ 107 w 107"/>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7" h="26">
                  <a:moveTo>
                    <a:pt x="13" y="24"/>
                  </a:moveTo>
                  <a:lnTo>
                    <a:pt x="13" y="25"/>
                  </a:lnTo>
                  <a:lnTo>
                    <a:pt x="15" y="22"/>
                  </a:lnTo>
                  <a:lnTo>
                    <a:pt x="24" y="20"/>
                  </a:lnTo>
                  <a:lnTo>
                    <a:pt x="37" y="19"/>
                  </a:lnTo>
                  <a:lnTo>
                    <a:pt x="53" y="19"/>
                  </a:lnTo>
                  <a:lnTo>
                    <a:pt x="69" y="19"/>
                  </a:lnTo>
                  <a:lnTo>
                    <a:pt x="84" y="17"/>
                  </a:lnTo>
                  <a:lnTo>
                    <a:pt x="97" y="14"/>
                  </a:lnTo>
                  <a:lnTo>
                    <a:pt x="106" y="4"/>
                  </a:lnTo>
                  <a:lnTo>
                    <a:pt x="93" y="0"/>
                  </a:lnTo>
                  <a:lnTo>
                    <a:pt x="91" y="2"/>
                  </a:lnTo>
                  <a:lnTo>
                    <a:pt x="81" y="5"/>
                  </a:lnTo>
                  <a:lnTo>
                    <a:pt x="69" y="6"/>
                  </a:lnTo>
                  <a:lnTo>
                    <a:pt x="53" y="5"/>
                  </a:lnTo>
                  <a:lnTo>
                    <a:pt x="37" y="6"/>
                  </a:lnTo>
                  <a:lnTo>
                    <a:pt x="22" y="7"/>
                  </a:lnTo>
                  <a:lnTo>
                    <a:pt x="9" y="10"/>
                  </a:lnTo>
                  <a:lnTo>
                    <a:pt x="0" y="19"/>
                  </a:lnTo>
                  <a:lnTo>
                    <a:pt x="0" y="20"/>
                  </a:lnTo>
                  <a:lnTo>
                    <a:pt x="13" y="2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4" name="Freeform 193">
              <a:extLst>
                <a:ext uri="{FF2B5EF4-FFF2-40B4-BE49-F238E27FC236}">
                  <a16:creationId xmlns:a16="http://schemas.microsoft.com/office/drawing/2014/main" id="{8A7D8F2E-49CD-8CCA-5079-57869A8131DF}"/>
                </a:ext>
              </a:extLst>
            </p:cNvPr>
            <p:cNvSpPr>
              <a:spLocks/>
            </p:cNvSpPr>
            <p:nvPr/>
          </p:nvSpPr>
          <p:spPr bwMode="auto">
            <a:xfrm>
              <a:off x="2676" y="2906"/>
              <a:ext cx="133" cy="79"/>
            </a:xfrm>
            <a:custGeom>
              <a:avLst/>
              <a:gdLst>
                <a:gd name="T0" fmla="*/ 2897663 w 80"/>
                <a:gd name="T1" fmla="*/ 1309 h 68"/>
                <a:gd name="T2" fmla="*/ 3407716 w 80"/>
                <a:gd name="T3" fmla="*/ 1451 h 68"/>
                <a:gd name="T4" fmla="*/ 3382665 w 80"/>
                <a:gd name="T5" fmla="*/ 1127 h 68"/>
                <a:gd name="T6" fmla="*/ 2992608 w 80"/>
                <a:gd name="T7" fmla="*/ 899 h 68"/>
                <a:gd name="T8" fmla="*/ 2427302 w 80"/>
                <a:gd name="T9" fmla="*/ 719 h 68"/>
                <a:gd name="T10" fmla="*/ 1845656 w 80"/>
                <a:gd name="T11" fmla="*/ 560 h 68"/>
                <a:gd name="T12" fmla="*/ 1249478 w 80"/>
                <a:gd name="T13" fmla="*/ 395 h 68"/>
                <a:gd name="T14" fmla="*/ 779822 w 80"/>
                <a:gd name="T15" fmla="*/ 252 h 68"/>
                <a:gd name="T16" fmla="*/ 581923 w 80"/>
                <a:gd name="T17" fmla="*/ 138 h 68"/>
                <a:gd name="T18" fmla="*/ 581923 w 80"/>
                <a:gd name="T19" fmla="*/ 102 h 68"/>
                <a:gd name="T20" fmla="*/ 0 w 80"/>
                <a:gd name="T21" fmla="*/ 0 h 68"/>
                <a:gd name="T22" fmla="*/ 76176 w 80"/>
                <a:gd name="T23" fmla="*/ 292 h 68"/>
                <a:gd name="T24" fmla="*/ 469066 w 80"/>
                <a:gd name="T25" fmla="*/ 532 h 68"/>
                <a:gd name="T26" fmla="*/ 991319 w 80"/>
                <a:gd name="T27" fmla="*/ 685 h 68"/>
                <a:gd name="T28" fmla="*/ 1608381 w 80"/>
                <a:gd name="T29" fmla="*/ 835 h 68"/>
                <a:gd name="T30" fmla="*/ 2155355 w 80"/>
                <a:gd name="T31" fmla="*/ 1004 h 68"/>
                <a:gd name="T32" fmla="*/ 2597646 w 80"/>
                <a:gd name="T33" fmla="*/ 1127 h 68"/>
                <a:gd name="T34" fmla="*/ 2862423 w 80"/>
                <a:gd name="T35" fmla="*/ 1277 h 68"/>
                <a:gd name="T36" fmla="*/ 2862423 w 80"/>
                <a:gd name="T37" fmla="*/ 1377 h 68"/>
                <a:gd name="T38" fmla="*/ 3382665 w 80"/>
                <a:gd name="T39" fmla="*/ 1484 h 68"/>
                <a:gd name="T40" fmla="*/ 2862423 w 80"/>
                <a:gd name="T41" fmla="*/ 1377 h 68"/>
                <a:gd name="T42" fmla="*/ 2897663 w 80"/>
                <a:gd name="T43" fmla="*/ 1484 h 68"/>
                <a:gd name="T44" fmla="*/ 3023930 w 80"/>
                <a:gd name="T45" fmla="*/ 1574 h 68"/>
                <a:gd name="T46" fmla="*/ 3265532 w 80"/>
                <a:gd name="T47" fmla="*/ 1521 h 68"/>
                <a:gd name="T48" fmla="*/ 3407716 w 80"/>
                <a:gd name="T49" fmla="*/ 1451 h 68"/>
                <a:gd name="T50" fmla="*/ 2897663 w 80"/>
                <a:gd name="T51" fmla="*/ 1309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
                <a:gd name="T79" fmla="*/ 0 h 68"/>
                <a:gd name="T80" fmla="*/ 80 w 80"/>
                <a:gd name="T81" fmla="*/ 68 h 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 h="68">
                  <a:moveTo>
                    <a:pt x="67" y="57"/>
                  </a:moveTo>
                  <a:lnTo>
                    <a:pt x="79" y="62"/>
                  </a:lnTo>
                  <a:lnTo>
                    <a:pt x="78" y="49"/>
                  </a:lnTo>
                  <a:lnTo>
                    <a:pt x="69" y="39"/>
                  </a:lnTo>
                  <a:lnTo>
                    <a:pt x="56" y="31"/>
                  </a:lnTo>
                  <a:lnTo>
                    <a:pt x="43" y="24"/>
                  </a:lnTo>
                  <a:lnTo>
                    <a:pt x="29" y="17"/>
                  </a:lnTo>
                  <a:lnTo>
                    <a:pt x="18" y="11"/>
                  </a:lnTo>
                  <a:lnTo>
                    <a:pt x="13" y="6"/>
                  </a:lnTo>
                  <a:lnTo>
                    <a:pt x="13" y="4"/>
                  </a:lnTo>
                  <a:lnTo>
                    <a:pt x="0" y="0"/>
                  </a:lnTo>
                  <a:lnTo>
                    <a:pt x="2" y="12"/>
                  </a:lnTo>
                  <a:lnTo>
                    <a:pt x="11" y="22"/>
                  </a:lnTo>
                  <a:lnTo>
                    <a:pt x="23" y="29"/>
                  </a:lnTo>
                  <a:lnTo>
                    <a:pt x="37" y="36"/>
                  </a:lnTo>
                  <a:lnTo>
                    <a:pt x="50" y="43"/>
                  </a:lnTo>
                  <a:lnTo>
                    <a:pt x="60" y="49"/>
                  </a:lnTo>
                  <a:lnTo>
                    <a:pt x="66" y="55"/>
                  </a:lnTo>
                  <a:lnTo>
                    <a:pt x="66" y="59"/>
                  </a:lnTo>
                  <a:lnTo>
                    <a:pt x="78" y="64"/>
                  </a:lnTo>
                  <a:lnTo>
                    <a:pt x="66" y="59"/>
                  </a:lnTo>
                  <a:lnTo>
                    <a:pt x="67" y="64"/>
                  </a:lnTo>
                  <a:lnTo>
                    <a:pt x="70" y="67"/>
                  </a:lnTo>
                  <a:lnTo>
                    <a:pt x="76" y="66"/>
                  </a:lnTo>
                  <a:lnTo>
                    <a:pt x="79" y="62"/>
                  </a:lnTo>
                  <a:lnTo>
                    <a:pt x="67" y="5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5" name="Freeform 194">
              <a:extLst>
                <a:ext uri="{FF2B5EF4-FFF2-40B4-BE49-F238E27FC236}">
                  <a16:creationId xmlns:a16="http://schemas.microsoft.com/office/drawing/2014/main" id="{3579EE9B-5937-3373-AE15-468373D338D3}"/>
                </a:ext>
              </a:extLst>
            </p:cNvPr>
            <p:cNvSpPr>
              <a:spLocks/>
            </p:cNvSpPr>
            <p:nvPr/>
          </p:nvSpPr>
          <p:spPr bwMode="auto">
            <a:xfrm>
              <a:off x="2787" y="2968"/>
              <a:ext cx="23" cy="13"/>
            </a:xfrm>
            <a:custGeom>
              <a:avLst/>
              <a:gdLst>
                <a:gd name="T0" fmla="*/ 439537 w 14"/>
                <a:gd name="T1" fmla="*/ 46 h 12"/>
                <a:gd name="T2" fmla="*/ 0 w 14"/>
                <a:gd name="T3" fmla="*/ 3 h 12"/>
                <a:gd name="T4" fmla="*/ 0 w 14"/>
                <a:gd name="T5" fmla="*/ 4 h 12"/>
                <a:gd name="T6" fmla="*/ 375225 w 14"/>
                <a:gd name="T7" fmla="*/ 58 h 12"/>
                <a:gd name="T8" fmla="*/ 410755 w 14"/>
                <a:gd name="T9" fmla="*/ 50 h 12"/>
                <a:gd name="T10" fmla="*/ 0 w 14"/>
                <a:gd name="T11" fmla="*/ 4 h 12"/>
                <a:gd name="T12" fmla="*/ 410755 w 14"/>
                <a:gd name="T13" fmla="*/ 50 h 12"/>
                <a:gd name="T14" fmla="*/ 439537 w 14"/>
                <a:gd name="T15" fmla="*/ 4 h 12"/>
                <a:gd name="T16" fmla="*/ 310107 w 14"/>
                <a:gd name="T17" fmla="*/ 0 h 12"/>
                <a:gd name="T18" fmla="*/ 152189 w 14"/>
                <a:gd name="T19" fmla="*/ 0 h 12"/>
                <a:gd name="T20" fmla="*/ 0 w 14"/>
                <a:gd name="T21" fmla="*/ 3 h 12"/>
                <a:gd name="T22" fmla="*/ 439537 w 14"/>
                <a:gd name="T23" fmla="*/ 46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2"/>
                <a:gd name="T38" fmla="*/ 14 w 14"/>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2">
                  <a:moveTo>
                    <a:pt x="13" y="8"/>
                  </a:moveTo>
                  <a:lnTo>
                    <a:pt x="0" y="3"/>
                  </a:lnTo>
                  <a:lnTo>
                    <a:pt x="0" y="4"/>
                  </a:lnTo>
                  <a:lnTo>
                    <a:pt x="11" y="11"/>
                  </a:lnTo>
                  <a:lnTo>
                    <a:pt x="12" y="9"/>
                  </a:lnTo>
                  <a:lnTo>
                    <a:pt x="0" y="4"/>
                  </a:lnTo>
                  <a:lnTo>
                    <a:pt x="12" y="9"/>
                  </a:lnTo>
                  <a:lnTo>
                    <a:pt x="13" y="4"/>
                  </a:lnTo>
                  <a:lnTo>
                    <a:pt x="9" y="0"/>
                  </a:lnTo>
                  <a:lnTo>
                    <a:pt x="4" y="0"/>
                  </a:lnTo>
                  <a:lnTo>
                    <a:pt x="0" y="3"/>
                  </a:lnTo>
                  <a:lnTo>
                    <a:pt x="13"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6" name="Freeform 195">
              <a:extLst>
                <a:ext uri="{FF2B5EF4-FFF2-40B4-BE49-F238E27FC236}">
                  <a16:creationId xmlns:a16="http://schemas.microsoft.com/office/drawing/2014/main" id="{8E4CA9CF-7293-72D8-02A6-92E139A94E7D}"/>
                </a:ext>
              </a:extLst>
            </p:cNvPr>
            <p:cNvSpPr>
              <a:spLocks/>
            </p:cNvSpPr>
            <p:nvPr/>
          </p:nvSpPr>
          <p:spPr bwMode="auto">
            <a:xfrm>
              <a:off x="2637" y="2972"/>
              <a:ext cx="173" cy="41"/>
            </a:xfrm>
            <a:custGeom>
              <a:avLst/>
              <a:gdLst>
                <a:gd name="T0" fmla="*/ 465077 w 105"/>
                <a:gd name="T1" fmla="*/ 535 h 36"/>
                <a:gd name="T2" fmla="*/ 546820 w 105"/>
                <a:gd name="T3" fmla="*/ 513 h 36"/>
                <a:gd name="T4" fmla="*/ 831997 w 105"/>
                <a:gd name="T5" fmla="*/ 470 h 36"/>
                <a:gd name="T6" fmla="*/ 1262521 w 105"/>
                <a:gd name="T7" fmla="*/ 450 h 36"/>
                <a:gd name="T8" fmla="*/ 1816719 w 105"/>
                <a:gd name="T9" fmla="*/ 444 h 36"/>
                <a:gd name="T10" fmla="*/ 2377226 w 105"/>
                <a:gd name="T11" fmla="*/ 413 h 36"/>
                <a:gd name="T12" fmla="*/ 2932253 w 105"/>
                <a:gd name="T13" fmla="*/ 363 h 36"/>
                <a:gd name="T14" fmla="*/ 3420932 w 105"/>
                <a:gd name="T15" fmla="*/ 246 h 36"/>
                <a:gd name="T16" fmla="*/ 3721278 w 105"/>
                <a:gd name="T17" fmla="*/ 71 h 36"/>
                <a:gd name="T18" fmla="*/ 3261172 w 105"/>
                <a:gd name="T19" fmla="*/ 0 h 36"/>
                <a:gd name="T20" fmla="*/ 3090426 w 105"/>
                <a:gd name="T21" fmla="*/ 92 h 36"/>
                <a:gd name="T22" fmla="*/ 2754923 w 105"/>
                <a:gd name="T23" fmla="*/ 178 h 36"/>
                <a:gd name="T24" fmla="*/ 2282748 w 105"/>
                <a:gd name="T25" fmla="*/ 216 h 36"/>
                <a:gd name="T26" fmla="*/ 1779691 w 105"/>
                <a:gd name="T27" fmla="*/ 231 h 36"/>
                <a:gd name="T28" fmla="*/ 1215650 w 105"/>
                <a:gd name="T29" fmla="*/ 246 h 36"/>
                <a:gd name="T30" fmla="*/ 713643 w 105"/>
                <a:gd name="T31" fmla="*/ 280 h 36"/>
                <a:gd name="T32" fmla="*/ 282272 w 105"/>
                <a:gd name="T33" fmla="*/ 319 h 36"/>
                <a:gd name="T34" fmla="*/ 0 w 105"/>
                <a:gd name="T35" fmla="*/ 470 h 36"/>
                <a:gd name="T36" fmla="*/ 465077 w 105"/>
                <a:gd name="T37" fmla="*/ 535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6"/>
                <a:gd name="T59" fmla="*/ 105 w 105"/>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6">
                  <a:moveTo>
                    <a:pt x="13" y="35"/>
                  </a:moveTo>
                  <a:lnTo>
                    <a:pt x="15" y="33"/>
                  </a:lnTo>
                  <a:lnTo>
                    <a:pt x="23" y="31"/>
                  </a:lnTo>
                  <a:lnTo>
                    <a:pt x="35" y="29"/>
                  </a:lnTo>
                  <a:lnTo>
                    <a:pt x="51" y="28"/>
                  </a:lnTo>
                  <a:lnTo>
                    <a:pt x="66" y="27"/>
                  </a:lnTo>
                  <a:lnTo>
                    <a:pt x="82" y="24"/>
                  </a:lnTo>
                  <a:lnTo>
                    <a:pt x="95" y="16"/>
                  </a:lnTo>
                  <a:lnTo>
                    <a:pt x="104" y="4"/>
                  </a:lnTo>
                  <a:lnTo>
                    <a:pt x="91" y="0"/>
                  </a:lnTo>
                  <a:lnTo>
                    <a:pt x="86" y="6"/>
                  </a:lnTo>
                  <a:lnTo>
                    <a:pt x="77" y="11"/>
                  </a:lnTo>
                  <a:lnTo>
                    <a:pt x="64" y="14"/>
                  </a:lnTo>
                  <a:lnTo>
                    <a:pt x="50" y="15"/>
                  </a:lnTo>
                  <a:lnTo>
                    <a:pt x="34" y="16"/>
                  </a:lnTo>
                  <a:lnTo>
                    <a:pt x="20" y="18"/>
                  </a:lnTo>
                  <a:lnTo>
                    <a:pt x="8" y="21"/>
                  </a:lnTo>
                  <a:lnTo>
                    <a:pt x="0" y="31"/>
                  </a:lnTo>
                  <a:lnTo>
                    <a:pt x="13" y="3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7" name="Freeform 196">
              <a:extLst>
                <a:ext uri="{FF2B5EF4-FFF2-40B4-BE49-F238E27FC236}">
                  <a16:creationId xmlns:a16="http://schemas.microsoft.com/office/drawing/2014/main" id="{0D6FA3EB-C012-0A60-40E5-0CF55B9EA426}"/>
                </a:ext>
              </a:extLst>
            </p:cNvPr>
            <p:cNvSpPr>
              <a:spLocks/>
            </p:cNvSpPr>
            <p:nvPr/>
          </p:nvSpPr>
          <p:spPr bwMode="auto">
            <a:xfrm>
              <a:off x="2566" y="2851"/>
              <a:ext cx="63" cy="81"/>
            </a:xfrm>
            <a:custGeom>
              <a:avLst/>
              <a:gdLst>
                <a:gd name="T0" fmla="*/ 976515 w 38"/>
                <a:gd name="T1" fmla="*/ 60 h 72"/>
                <a:gd name="T2" fmla="*/ 976515 w 38"/>
                <a:gd name="T3" fmla="*/ 77 h 72"/>
                <a:gd name="T4" fmla="*/ 886621 w 38"/>
                <a:gd name="T5" fmla="*/ 77 h 72"/>
                <a:gd name="T6" fmla="*/ 746378 w 38"/>
                <a:gd name="T7" fmla="*/ 99 h 72"/>
                <a:gd name="T8" fmla="*/ 450196 w 38"/>
                <a:gd name="T9" fmla="*/ 159 h 72"/>
                <a:gd name="T10" fmla="*/ 178371 w 38"/>
                <a:gd name="T11" fmla="*/ 254 h 72"/>
                <a:gd name="T12" fmla="*/ 0 w 38"/>
                <a:gd name="T13" fmla="*/ 386 h 72"/>
                <a:gd name="T14" fmla="*/ 0 w 38"/>
                <a:gd name="T15" fmla="*/ 579 h 72"/>
                <a:gd name="T16" fmla="*/ 247837 w 38"/>
                <a:gd name="T17" fmla="*/ 846 h 72"/>
                <a:gd name="T18" fmla="*/ 788611 w 38"/>
                <a:gd name="T19" fmla="*/ 763 h 72"/>
                <a:gd name="T20" fmla="*/ 534787 w 38"/>
                <a:gd name="T21" fmla="*/ 548 h 72"/>
                <a:gd name="T22" fmla="*/ 534787 w 38"/>
                <a:gd name="T23" fmla="*/ 407 h 72"/>
                <a:gd name="T24" fmla="*/ 609278 w 38"/>
                <a:gd name="T25" fmla="*/ 322 h 72"/>
                <a:gd name="T26" fmla="*/ 788611 w 38"/>
                <a:gd name="T27" fmla="*/ 285 h 72"/>
                <a:gd name="T28" fmla="*/ 976515 w 38"/>
                <a:gd name="T29" fmla="*/ 254 h 72"/>
                <a:gd name="T30" fmla="*/ 1237416 w 38"/>
                <a:gd name="T31" fmla="*/ 214 h 72"/>
                <a:gd name="T32" fmla="*/ 1495574 w 38"/>
                <a:gd name="T33" fmla="*/ 125 h 72"/>
                <a:gd name="T34" fmla="*/ 1495574 w 38"/>
                <a:gd name="T35" fmla="*/ 0 h 72"/>
                <a:gd name="T36" fmla="*/ 976515 w 38"/>
                <a:gd name="T37" fmla="*/ 60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72"/>
                <a:gd name="T59" fmla="*/ 38 w 3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72">
                  <a:moveTo>
                    <a:pt x="24" y="4"/>
                  </a:moveTo>
                  <a:lnTo>
                    <a:pt x="24" y="6"/>
                  </a:lnTo>
                  <a:lnTo>
                    <a:pt x="22" y="6"/>
                  </a:lnTo>
                  <a:lnTo>
                    <a:pt x="18" y="9"/>
                  </a:lnTo>
                  <a:lnTo>
                    <a:pt x="11" y="13"/>
                  </a:lnTo>
                  <a:lnTo>
                    <a:pt x="4" y="21"/>
                  </a:lnTo>
                  <a:lnTo>
                    <a:pt x="0" y="32"/>
                  </a:lnTo>
                  <a:lnTo>
                    <a:pt x="0" y="48"/>
                  </a:lnTo>
                  <a:lnTo>
                    <a:pt x="6" y="71"/>
                  </a:lnTo>
                  <a:lnTo>
                    <a:pt x="19" y="65"/>
                  </a:lnTo>
                  <a:lnTo>
                    <a:pt x="13" y="46"/>
                  </a:lnTo>
                  <a:lnTo>
                    <a:pt x="13" y="34"/>
                  </a:lnTo>
                  <a:lnTo>
                    <a:pt x="15" y="27"/>
                  </a:lnTo>
                  <a:lnTo>
                    <a:pt x="19" y="23"/>
                  </a:lnTo>
                  <a:lnTo>
                    <a:pt x="24" y="21"/>
                  </a:lnTo>
                  <a:lnTo>
                    <a:pt x="30" y="18"/>
                  </a:lnTo>
                  <a:lnTo>
                    <a:pt x="37" y="11"/>
                  </a:lnTo>
                  <a:lnTo>
                    <a:pt x="37" y="0"/>
                  </a:lnTo>
                  <a:lnTo>
                    <a:pt x="24"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8" name="Freeform 197">
              <a:extLst>
                <a:ext uri="{FF2B5EF4-FFF2-40B4-BE49-F238E27FC236}">
                  <a16:creationId xmlns:a16="http://schemas.microsoft.com/office/drawing/2014/main" id="{61FA046B-244E-F3A7-BAB1-077845DB1E1E}"/>
                </a:ext>
              </a:extLst>
            </p:cNvPr>
            <p:cNvSpPr>
              <a:spLocks/>
            </p:cNvSpPr>
            <p:nvPr/>
          </p:nvSpPr>
          <p:spPr bwMode="auto">
            <a:xfrm>
              <a:off x="2452" y="2813"/>
              <a:ext cx="177" cy="43"/>
            </a:xfrm>
            <a:custGeom>
              <a:avLst/>
              <a:gdLst>
                <a:gd name="T0" fmla="*/ 297347 w 108"/>
                <a:gd name="T1" fmla="*/ 0 h 37"/>
                <a:gd name="T2" fmla="*/ 56629 w 108"/>
                <a:gd name="T3" fmla="*/ 216 h 37"/>
                <a:gd name="T4" fmla="*/ 355105 w 108"/>
                <a:gd name="T5" fmla="*/ 458 h 37"/>
                <a:gd name="T6" fmla="*/ 763839 w 108"/>
                <a:gd name="T7" fmla="*/ 536 h 37"/>
                <a:gd name="T8" fmla="*/ 1216593 w 108"/>
                <a:gd name="T9" fmla="*/ 593 h 37"/>
                <a:gd name="T10" fmla="*/ 1738474 w 108"/>
                <a:gd name="T11" fmla="*/ 618 h 37"/>
                <a:gd name="T12" fmla="*/ 2243232 w 108"/>
                <a:gd name="T13" fmla="*/ 623 h 37"/>
                <a:gd name="T14" fmla="*/ 2628324 w 108"/>
                <a:gd name="T15" fmla="*/ 718 h 37"/>
                <a:gd name="T16" fmla="*/ 2912671 w 108"/>
                <a:gd name="T17" fmla="*/ 764 h 37"/>
                <a:gd name="T18" fmla="*/ 3006856 w 108"/>
                <a:gd name="T19" fmla="*/ 841 h 37"/>
                <a:gd name="T20" fmla="*/ 3417618 w 108"/>
                <a:gd name="T21" fmla="*/ 744 h 37"/>
                <a:gd name="T22" fmla="*/ 3174761 w 108"/>
                <a:gd name="T23" fmla="*/ 486 h 37"/>
                <a:gd name="T24" fmla="*/ 2757663 w 108"/>
                <a:gd name="T25" fmla="*/ 397 h 37"/>
                <a:gd name="T26" fmla="*/ 2263832 w 108"/>
                <a:gd name="T27" fmla="*/ 339 h 37"/>
                <a:gd name="T28" fmla="*/ 1766653 w 108"/>
                <a:gd name="T29" fmla="*/ 294 h 37"/>
                <a:gd name="T30" fmla="*/ 1251847 w 108"/>
                <a:gd name="T31" fmla="*/ 292 h 37"/>
                <a:gd name="T32" fmla="*/ 835171 w 108"/>
                <a:gd name="T33" fmla="*/ 251 h 37"/>
                <a:gd name="T34" fmla="*/ 546453 w 108"/>
                <a:gd name="T35" fmla="*/ 160 h 37"/>
                <a:gd name="T36" fmla="*/ 487319 w 108"/>
                <a:gd name="T37" fmla="*/ 119 h 37"/>
                <a:gd name="T38" fmla="*/ 297347 w 108"/>
                <a:gd name="T39" fmla="*/ 339 h 37"/>
                <a:gd name="T40" fmla="*/ 297347 w 108"/>
                <a:gd name="T41" fmla="*/ 0 h 37"/>
                <a:gd name="T42" fmla="*/ 0 w 108"/>
                <a:gd name="T43" fmla="*/ 1 h 37"/>
                <a:gd name="T44" fmla="*/ 56629 w 108"/>
                <a:gd name="T45" fmla="*/ 216 h 37"/>
                <a:gd name="T46" fmla="*/ 297347 w 108"/>
                <a:gd name="T47" fmla="*/ 0 h 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
                <a:gd name="T73" fmla="*/ 0 h 37"/>
                <a:gd name="T74" fmla="*/ 108 w 108"/>
                <a:gd name="T75" fmla="*/ 37 h 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 h="37">
                  <a:moveTo>
                    <a:pt x="9" y="0"/>
                  </a:moveTo>
                  <a:lnTo>
                    <a:pt x="2" y="9"/>
                  </a:lnTo>
                  <a:lnTo>
                    <a:pt x="11" y="19"/>
                  </a:lnTo>
                  <a:lnTo>
                    <a:pt x="24" y="23"/>
                  </a:lnTo>
                  <a:lnTo>
                    <a:pt x="38" y="25"/>
                  </a:lnTo>
                  <a:lnTo>
                    <a:pt x="54" y="26"/>
                  </a:lnTo>
                  <a:lnTo>
                    <a:pt x="70" y="27"/>
                  </a:lnTo>
                  <a:lnTo>
                    <a:pt x="82" y="30"/>
                  </a:lnTo>
                  <a:lnTo>
                    <a:pt x="91" y="33"/>
                  </a:lnTo>
                  <a:lnTo>
                    <a:pt x="94" y="36"/>
                  </a:lnTo>
                  <a:lnTo>
                    <a:pt x="107" y="32"/>
                  </a:lnTo>
                  <a:lnTo>
                    <a:pt x="99" y="21"/>
                  </a:lnTo>
                  <a:lnTo>
                    <a:pt x="86" y="17"/>
                  </a:lnTo>
                  <a:lnTo>
                    <a:pt x="71" y="14"/>
                  </a:lnTo>
                  <a:lnTo>
                    <a:pt x="55" y="13"/>
                  </a:lnTo>
                  <a:lnTo>
                    <a:pt x="39" y="12"/>
                  </a:lnTo>
                  <a:lnTo>
                    <a:pt x="26" y="10"/>
                  </a:lnTo>
                  <a:lnTo>
                    <a:pt x="17" y="7"/>
                  </a:lnTo>
                  <a:lnTo>
                    <a:pt x="15" y="5"/>
                  </a:lnTo>
                  <a:lnTo>
                    <a:pt x="9" y="14"/>
                  </a:lnTo>
                  <a:lnTo>
                    <a:pt x="9" y="0"/>
                  </a:lnTo>
                  <a:lnTo>
                    <a:pt x="0" y="1"/>
                  </a:lnTo>
                  <a:lnTo>
                    <a:pt x="2" y="9"/>
                  </a:lnTo>
                  <a:lnTo>
                    <a:pt x="9" y="0"/>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79" name="Freeform 198">
              <a:extLst>
                <a:ext uri="{FF2B5EF4-FFF2-40B4-BE49-F238E27FC236}">
                  <a16:creationId xmlns:a16="http://schemas.microsoft.com/office/drawing/2014/main" id="{E71FF3D1-22BB-76D6-A08E-F33B186D950D}"/>
                </a:ext>
              </a:extLst>
            </p:cNvPr>
            <p:cNvSpPr>
              <a:spLocks/>
            </p:cNvSpPr>
            <p:nvPr/>
          </p:nvSpPr>
          <p:spPr bwMode="auto">
            <a:xfrm>
              <a:off x="2457" y="2813"/>
              <a:ext cx="28" cy="17"/>
            </a:xfrm>
            <a:custGeom>
              <a:avLst/>
              <a:gdLst>
                <a:gd name="T0" fmla="*/ 0 w 17"/>
                <a:gd name="T1" fmla="*/ 113 h 15"/>
                <a:gd name="T2" fmla="*/ 261815 w 17"/>
                <a:gd name="T3" fmla="*/ 0 h 15"/>
                <a:gd name="T4" fmla="*/ 208753 w 17"/>
                <a:gd name="T5" fmla="*/ 0 h 15"/>
                <a:gd name="T6" fmla="*/ 208753 w 17"/>
                <a:gd name="T7" fmla="*/ 186 h 15"/>
                <a:gd name="T8" fmla="*/ 261815 w 17"/>
                <a:gd name="T9" fmla="*/ 186 h 15"/>
                <a:gd name="T10" fmla="*/ 462695 w 17"/>
                <a:gd name="T11" fmla="*/ 69 h 15"/>
                <a:gd name="T12" fmla="*/ 261815 w 17"/>
                <a:gd name="T13" fmla="*/ 186 h 15"/>
                <a:gd name="T14" fmla="*/ 566305 w 17"/>
                <a:gd name="T15" fmla="*/ 186 h 15"/>
                <a:gd name="T16" fmla="*/ 462695 w 17"/>
                <a:gd name="T17" fmla="*/ 69 h 15"/>
                <a:gd name="T18" fmla="*/ 0 w 17"/>
                <a:gd name="T19" fmla="*/ 113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5"/>
                <a:gd name="T32" fmla="*/ 17 w 17"/>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5">
                  <a:moveTo>
                    <a:pt x="0" y="9"/>
                  </a:moveTo>
                  <a:lnTo>
                    <a:pt x="7" y="0"/>
                  </a:lnTo>
                  <a:lnTo>
                    <a:pt x="6" y="0"/>
                  </a:lnTo>
                  <a:lnTo>
                    <a:pt x="6" y="14"/>
                  </a:lnTo>
                  <a:lnTo>
                    <a:pt x="7" y="14"/>
                  </a:lnTo>
                  <a:lnTo>
                    <a:pt x="13" y="5"/>
                  </a:lnTo>
                  <a:lnTo>
                    <a:pt x="7" y="14"/>
                  </a:lnTo>
                  <a:lnTo>
                    <a:pt x="16" y="14"/>
                  </a:lnTo>
                  <a:lnTo>
                    <a:pt x="13" y="5"/>
                  </a:lnTo>
                  <a:lnTo>
                    <a:pt x="0"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0" name="Freeform 199">
              <a:extLst>
                <a:ext uri="{FF2B5EF4-FFF2-40B4-BE49-F238E27FC236}">
                  <a16:creationId xmlns:a16="http://schemas.microsoft.com/office/drawing/2014/main" id="{774B5B97-DBBD-9AB0-0AB5-8940C1D4606E}"/>
                </a:ext>
              </a:extLst>
            </p:cNvPr>
            <p:cNvSpPr>
              <a:spLocks/>
            </p:cNvSpPr>
            <p:nvPr/>
          </p:nvSpPr>
          <p:spPr bwMode="auto">
            <a:xfrm>
              <a:off x="2457" y="2753"/>
              <a:ext cx="135" cy="72"/>
            </a:xfrm>
            <a:custGeom>
              <a:avLst/>
              <a:gdLst>
                <a:gd name="T0" fmla="*/ 1876263 w 83"/>
                <a:gd name="T1" fmla="*/ 73 h 63"/>
                <a:gd name="T2" fmla="*/ 1826529 w 83"/>
                <a:gd name="T3" fmla="*/ 83 h 63"/>
                <a:gd name="T4" fmla="*/ 1693565 w 83"/>
                <a:gd name="T5" fmla="*/ 186 h 63"/>
                <a:gd name="T6" fmla="*/ 1396547 w 83"/>
                <a:gd name="T7" fmla="*/ 278 h 63"/>
                <a:gd name="T8" fmla="*/ 1010226 w 83"/>
                <a:gd name="T9" fmla="*/ 394 h 63"/>
                <a:gd name="T10" fmla="*/ 647263 w 83"/>
                <a:gd name="T11" fmla="*/ 514 h 63"/>
                <a:gd name="T12" fmla="*/ 298311 w 83"/>
                <a:gd name="T13" fmla="*/ 637 h 63"/>
                <a:gd name="T14" fmla="*/ 49802 w 83"/>
                <a:gd name="T15" fmla="*/ 808 h 63"/>
                <a:gd name="T16" fmla="*/ 0 w 83"/>
                <a:gd name="T17" fmla="*/ 1032 h 63"/>
                <a:gd name="T18" fmla="*/ 348552 w 83"/>
                <a:gd name="T19" fmla="*/ 951 h 63"/>
                <a:gd name="T20" fmla="*/ 348552 w 83"/>
                <a:gd name="T21" fmla="*/ 923 h 63"/>
                <a:gd name="T22" fmla="*/ 516027 w 83"/>
                <a:gd name="T23" fmla="*/ 823 h 63"/>
                <a:gd name="T24" fmla="*/ 823515 w 83"/>
                <a:gd name="T25" fmla="*/ 707 h 63"/>
                <a:gd name="T26" fmla="*/ 1206051 w 83"/>
                <a:gd name="T27" fmla="*/ 605 h 63"/>
                <a:gd name="T28" fmla="*/ 1581854 w 83"/>
                <a:gd name="T29" fmla="*/ 474 h 63"/>
                <a:gd name="T30" fmla="*/ 1911842 w 83"/>
                <a:gd name="T31" fmla="*/ 345 h 63"/>
                <a:gd name="T32" fmla="*/ 2147751 w 83"/>
                <a:gd name="T33" fmla="*/ 213 h 63"/>
                <a:gd name="T34" fmla="*/ 2229344 w 83"/>
                <a:gd name="T35" fmla="*/ 0 h 63"/>
                <a:gd name="T36" fmla="*/ 1876263 w 83"/>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7" y="24"/>
                  </a:lnTo>
                  <a:lnTo>
                    <a:pt x="24" y="31"/>
                  </a:lnTo>
                  <a:lnTo>
                    <a:pt x="11" y="39"/>
                  </a:lnTo>
                  <a:lnTo>
                    <a:pt x="2" y="49"/>
                  </a:lnTo>
                  <a:lnTo>
                    <a:pt x="0" y="62"/>
                  </a:lnTo>
                  <a:lnTo>
                    <a:pt x="13" y="58"/>
                  </a:lnTo>
                  <a:lnTo>
                    <a:pt x="13" y="56"/>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1" name="Freeform 200">
              <a:extLst>
                <a:ext uri="{FF2B5EF4-FFF2-40B4-BE49-F238E27FC236}">
                  <a16:creationId xmlns:a16="http://schemas.microsoft.com/office/drawing/2014/main" id="{03CBA4E6-37D6-EA66-C876-AF447FF28C7C}"/>
                </a:ext>
              </a:extLst>
            </p:cNvPr>
            <p:cNvSpPr>
              <a:spLocks/>
            </p:cNvSpPr>
            <p:nvPr/>
          </p:nvSpPr>
          <p:spPr bwMode="auto">
            <a:xfrm>
              <a:off x="2419" y="2724"/>
              <a:ext cx="173" cy="34"/>
            </a:xfrm>
            <a:custGeom>
              <a:avLst/>
              <a:gdLst>
                <a:gd name="T0" fmla="*/ 0 w 106"/>
                <a:gd name="T1" fmla="*/ 61 h 30"/>
                <a:gd name="T2" fmla="*/ 228735 w 106"/>
                <a:gd name="T3" fmla="*/ 186 h 30"/>
                <a:gd name="T4" fmla="*/ 609275 w 106"/>
                <a:gd name="T5" fmla="*/ 239 h 30"/>
                <a:gd name="T6" fmla="*/ 1059028 w 106"/>
                <a:gd name="T7" fmla="*/ 271 h 30"/>
                <a:gd name="T8" fmla="*/ 1530828 w 106"/>
                <a:gd name="T9" fmla="*/ 298 h 30"/>
                <a:gd name="T10" fmla="*/ 1989524 w 106"/>
                <a:gd name="T11" fmla="*/ 299 h 30"/>
                <a:gd name="T12" fmla="*/ 2370041 w 106"/>
                <a:gd name="T13" fmla="*/ 338 h 30"/>
                <a:gd name="T14" fmla="*/ 2648708 w 106"/>
                <a:gd name="T15" fmla="*/ 383 h 30"/>
                <a:gd name="T16" fmla="*/ 2702097 w 106"/>
                <a:gd name="T17" fmla="*/ 394 h 30"/>
                <a:gd name="T18" fmla="*/ 3075039 w 106"/>
                <a:gd name="T19" fmla="*/ 339 h 30"/>
                <a:gd name="T20" fmla="*/ 2820902 w 106"/>
                <a:gd name="T21" fmla="*/ 206 h 30"/>
                <a:gd name="T22" fmla="*/ 2468792 w 106"/>
                <a:gd name="T23" fmla="*/ 145 h 30"/>
                <a:gd name="T24" fmla="*/ 2027495 w 106"/>
                <a:gd name="T25" fmla="*/ 113 h 30"/>
                <a:gd name="T26" fmla="*/ 1568018 w 106"/>
                <a:gd name="T27" fmla="*/ 100 h 30"/>
                <a:gd name="T28" fmla="*/ 1079154 w 106"/>
                <a:gd name="T29" fmla="*/ 88 h 30"/>
                <a:gd name="T30" fmla="*/ 701815 w 106"/>
                <a:gd name="T31" fmla="*/ 69 h 30"/>
                <a:gd name="T32" fmla="*/ 430014 w 106"/>
                <a:gd name="T33" fmla="*/ 3 h 30"/>
                <a:gd name="T34" fmla="*/ 373313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1"/>
                  </a:lnTo>
                  <a:lnTo>
                    <a:pt x="68" y="22"/>
                  </a:lnTo>
                  <a:lnTo>
                    <a:pt x="81" y="24"/>
                  </a:lnTo>
                  <a:lnTo>
                    <a:pt x="90" y="27"/>
                  </a:lnTo>
                  <a:lnTo>
                    <a:pt x="92" y="29"/>
                  </a:lnTo>
                  <a:lnTo>
                    <a:pt x="105" y="25"/>
                  </a:lnTo>
                  <a:lnTo>
                    <a:pt x="96" y="15"/>
                  </a:lnTo>
                  <a:lnTo>
                    <a:pt x="84" y="11"/>
                  </a:lnTo>
                  <a:lnTo>
                    <a:pt x="69" y="9"/>
                  </a:lnTo>
                  <a:lnTo>
                    <a:pt x="53" y="8"/>
                  </a:lnTo>
                  <a:lnTo>
                    <a:pt x="37" y="7"/>
                  </a:lnTo>
                  <a:lnTo>
                    <a:pt x="24" y="5"/>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2" name="Freeform 201">
              <a:extLst>
                <a:ext uri="{FF2B5EF4-FFF2-40B4-BE49-F238E27FC236}">
                  <a16:creationId xmlns:a16="http://schemas.microsoft.com/office/drawing/2014/main" id="{9D728768-939E-7F1A-F7D4-E486CCA29387}"/>
                </a:ext>
              </a:extLst>
            </p:cNvPr>
            <p:cNvSpPr>
              <a:spLocks/>
            </p:cNvSpPr>
            <p:nvPr/>
          </p:nvSpPr>
          <p:spPr bwMode="auto">
            <a:xfrm>
              <a:off x="2419" y="2657"/>
              <a:ext cx="136" cy="72"/>
            </a:xfrm>
            <a:custGeom>
              <a:avLst/>
              <a:gdLst>
                <a:gd name="T0" fmla="*/ 2195491 w 83"/>
                <a:gd name="T1" fmla="*/ 3 h 63"/>
                <a:gd name="T2" fmla="*/ 2160471 w 83"/>
                <a:gd name="T3" fmla="*/ 83 h 63"/>
                <a:gd name="T4" fmla="*/ 1987493 w 83"/>
                <a:gd name="T5" fmla="*/ 186 h 63"/>
                <a:gd name="T6" fmla="*/ 1636031 w 83"/>
                <a:gd name="T7" fmla="*/ 278 h 63"/>
                <a:gd name="T8" fmla="*/ 1212955 w 83"/>
                <a:gd name="T9" fmla="*/ 394 h 63"/>
                <a:gd name="T10" fmla="*/ 761179 w 83"/>
                <a:gd name="T11" fmla="*/ 514 h 63"/>
                <a:gd name="T12" fmla="*/ 389068 w 83"/>
                <a:gd name="T13" fmla="*/ 637 h 63"/>
                <a:gd name="T14" fmla="*/ 56548 w 83"/>
                <a:gd name="T15" fmla="*/ 808 h 63"/>
                <a:gd name="T16" fmla="*/ 0 w 83"/>
                <a:gd name="T17" fmla="*/ 1032 h 63"/>
                <a:gd name="T18" fmla="*/ 407626 w 83"/>
                <a:gd name="T19" fmla="*/ 951 h 63"/>
                <a:gd name="T20" fmla="*/ 451776 w 83"/>
                <a:gd name="T21" fmla="*/ 905 h 63"/>
                <a:gd name="T22" fmla="*/ 637509 w 83"/>
                <a:gd name="T23" fmla="*/ 823 h 63"/>
                <a:gd name="T24" fmla="*/ 998460 w 83"/>
                <a:gd name="T25" fmla="*/ 707 h 63"/>
                <a:gd name="T26" fmla="*/ 1398653 w 83"/>
                <a:gd name="T27" fmla="*/ 605 h 63"/>
                <a:gd name="T28" fmla="*/ 1855348 w 83"/>
                <a:gd name="T29" fmla="*/ 474 h 63"/>
                <a:gd name="T30" fmla="*/ 2232686 w 83"/>
                <a:gd name="T31" fmla="*/ 345 h 63"/>
                <a:gd name="T32" fmla="*/ 2549956 w 83"/>
                <a:gd name="T33" fmla="*/ 202 h 63"/>
                <a:gd name="T34" fmla="*/ 2609697 w 83"/>
                <a:gd name="T35" fmla="*/ 0 h 63"/>
                <a:gd name="T36" fmla="*/ 2195491 w 83"/>
                <a:gd name="T37" fmla="*/ 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3"/>
                  </a:moveTo>
                  <a:lnTo>
                    <a:pt x="68" y="5"/>
                  </a:lnTo>
                  <a:lnTo>
                    <a:pt x="62" y="11"/>
                  </a:lnTo>
                  <a:lnTo>
                    <a:pt x="51" y="17"/>
                  </a:lnTo>
                  <a:lnTo>
                    <a:pt x="38" y="24"/>
                  </a:lnTo>
                  <a:lnTo>
                    <a:pt x="24" y="31"/>
                  </a:lnTo>
                  <a:lnTo>
                    <a:pt x="12" y="39"/>
                  </a:lnTo>
                  <a:lnTo>
                    <a:pt x="2" y="49"/>
                  </a:lnTo>
                  <a:lnTo>
                    <a:pt x="0" y="62"/>
                  </a:lnTo>
                  <a:lnTo>
                    <a:pt x="13" y="58"/>
                  </a:lnTo>
                  <a:lnTo>
                    <a:pt x="14" y="55"/>
                  </a:lnTo>
                  <a:lnTo>
                    <a:pt x="20" y="50"/>
                  </a:lnTo>
                  <a:lnTo>
                    <a:pt x="31" y="43"/>
                  </a:lnTo>
                  <a:lnTo>
                    <a:pt x="44" y="36"/>
                  </a:lnTo>
                  <a:lnTo>
                    <a:pt x="58" y="29"/>
                  </a:lnTo>
                  <a:lnTo>
                    <a:pt x="70" y="21"/>
                  </a:lnTo>
                  <a:lnTo>
                    <a:pt x="80" y="12"/>
                  </a:lnTo>
                  <a:lnTo>
                    <a:pt x="82" y="0"/>
                  </a:lnTo>
                  <a:lnTo>
                    <a:pt x="69"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3" name="Freeform 202">
              <a:extLst>
                <a:ext uri="{FF2B5EF4-FFF2-40B4-BE49-F238E27FC236}">
                  <a16:creationId xmlns:a16="http://schemas.microsoft.com/office/drawing/2014/main" id="{415C677B-79AA-7E40-3D28-9548AD0F14EA}"/>
                </a:ext>
              </a:extLst>
            </p:cNvPr>
            <p:cNvSpPr>
              <a:spLocks/>
            </p:cNvSpPr>
            <p:nvPr/>
          </p:nvSpPr>
          <p:spPr bwMode="auto">
            <a:xfrm>
              <a:off x="2383" y="2631"/>
              <a:ext cx="172" cy="31"/>
            </a:xfrm>
            <a:custGeom>
              <a:avLst/>
              <a:gdLst>
                <a:gd name="T0" fmla="*/ 0 w 104"/>
                <a:gd name="T1" fmla="*/ 119 h 27"/>
                <a:gd name="T2" fmla="*/ 0 w 104"/>
                <a:gd name="T3" fmla="*/ 91 h 27"/>
                <a:gd name="T4" fmla="*/ 286119 w 104"/>
                <a:gd name="T5" fmla="*/ 249 h 27"/>
                <a:gd name="T6" fmla="*/ 782595 w 104"/>
                <a:gd name="T7" fmla="*/ 313 h 27"/>
                <a:gd name="T8" fmla="*/ 1361491 w 104"/>
                <a:gd name="T9" fmla="*/ 328 h 27"/>
                <a:gd name="T10" fmla="*/ 1967544 w 104"/>
                <a:gd name="T11" fmla="*/ 355 h 27"/>
                <a:gd name="T12" fmla="*/ 2552581 w 104"/>
                <a:gd name="T13" fmla="*/ 355 h 27"/>
                <a:gd name="T14" fmla="*/ 3076101 w 104"/>
                <a:gd name="T15" fmla="*/ 377 h 27"/>
                <a:gd name="T16" fmla="*/ 3421168 w 104"/>
                <a:gd name="T17" fmla="*/ 433 h 27"/>
                <a:gd name="T18" fmla="*/ 3487763 w 104"/>
                <a:gd name="T19" fmla="*/ 473 h 27"/>
                <a:gd name="T20" fmla="*/ 3985470 w 104"/>
                <a:gd name="T21" fmla="*/ 408 h 27"/>
                <a:gd name="T22" fmla="*/ 3627508 w 104"/>
                <a:gd name="T23" fmla="*/ 217 h 27"/>
                <a:gd name="T24" fmla="*/ 3186115 w 104"/>
                <a:gd name="T25" fmla="*/ 137 h 27"/>
                <a:gd name="T26" fmla="*/ 2606496 w 104"/>
                <a:gd name="T27" fmla="*/ 104 h 27"/>
                <a:gd name="T28" fmla="*/ 1967544 w 104"/>
                <a:gd name="T29" fmla="*/ 91 h 27"/>
                <a:gd name="T30" fmla="*/ 1361491 w 104"/>
                <a:gd name="T31" fmla="*/ 91 h 27"/>
                <a:gd name="T32" fmla="*/ 849172 w 104"/>
                <a:gd name="T33" fmla="*/ 79 h 27"/>
                <a:gd name="T34" fmla="*/ 537993 w 104"/>
                <a:gd name="T35" fmla="*/ 2 h 27"/>
                <a:gd name="T36" fmla="*/ 513453 w 104"/>
                <a:gd name="T37" fmla="*/ 1 h 27"/>
                <a:gd name="T38" fmla="*/ 473197 w 104"/>
                <a:gd name="T39" fmla="*/ 0 h 27"/>
                <a:gd name="T40" fmla="*/ 513453 w 104"/>
                <a:gd name="T41" fmla="*/ 1 h 27"/>
                <a:gd name="T42" fmla="*/ 473197 w 104"/>
                <a:gd name="T43" fmla="*/ 0 h 27"/>
                <a:gd name="T44" fmla="*/ 0 w 104"/>
                <a:gd name="T45" fmla="*/ 119 h 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4"/>
                <a:gd name="T70" fmla="*/ 0 h 27"/>
                <a:gd name="T71" fmla="*/ 104 w 104"/>
                <a:gd name="T72" fmla="*/ 27 h 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4" h="27">
                  <a:moveTo>
                    <a:pt x="0" y="7"/>
                  </a:moveTo>
                  <a:lnTo>
                    <a:pt x="0" y="5"/>
                  </a:lnTo>
                  <a:lnTo>
                    <a:pt x="7" y="14"/>
                  </a:lnTo>
                  <a:lnTo>
                    <a:pt x="20" y="17"/>
                  </a:lnTo>
                  <a:lnTo>
                    <a:pt x="35" y="18"/>
                  </a:lnTo>
                  <a:lnTo>
                    <a:pt x="51" y="19"/>
                  </a:lnTo>
                  <a:lnTo>
                    <a:pt x="66" y="19"/>
                  </a:lnTo>
                  <a:lnTo>
                    <a:pt x="79" y="21"/>
                  </a:lnTo>
                  <a:lnTo>
                    <a:pt x="88" y="24"/>
                  </a:lnTo>
                  <a:lnTo>
                    <a:pt x="90" y="26"/>
                  </a:lnTo>
                  <a:lnTo>
                    <a:pt x="103" y="22"/>
                  </a:lnTo>
                  <a:lnTo>
                    <a:pt x="94" y="12"/>
                  </a:lnTo>
                  <a:lnTo>
                    <a:pt x="82" y="8"/>
                  </a:lnTo>
                  <a:lnTo>
                    <a:pt x="67" y="6"/>
                  </a:lnTo>
                  <a:lnTo>
                    <a:pt x="51" y="5"/>
                  </a:lnTo>
                  <a:lnTo>
                    <a:pt x="35" y="5"/>
                  </a:lnTo>
                  <a:lnTo>
                    <a:pt x="22" y="4"/>
                  </a:lnTo>
                  <a:lnTo>
                    <a:pt x="14" y="2"/>
                  </a:lnTo>
                  <a:lnTo>
                    <a:pt x="13" y="1"/>
                  </a:lnTo>
                  <a:lnTo>
                    <a:pt x="12" y="0"/>
                  </a:lnTo>
                  <a:lnTo>
                    <a:pt x="13" y="1"/>
                  </a:lnTo>
                  <a:lnTo>
                    <a:pt x="12" y="0"/>
                  </a:lnTo>
                  <a:lnTo>
                    <a:pt x="0"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4" name="Freeform 203">
              <a:extLst>
                <a:ext uri="{FF2B5EF4-FFF2-40B4-BE49-F238E27FC236}">
                  <a16:creationId xmlns:a16="http://schemas.microsoft.com/office/drawing/2014/main" id="{E2A3D3AD-4187-CCAD-13D7-2656C0A982FE}"/>
                </a:ext>
              </a:extLst>
            </p:cNvPr>
            <p:cNvSpPr>
              <a:spLocks/>
            </p:cNvSpPr>
            <p:nvPr/>
          </p:nvSpPr>
          <p:spPr bwMode="auto">
            <a:xfrm>
              <a:off x="2382" y="2630"/>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5" name="Freeform 204">
              <a:extLst>
                <a:ext uri="{FF2B5EF4-FFF2-40B4-BE49-F238E27FC236}">
                  <a16:creationId xmlns:a16="http://schemas.microsoft.com/office/drawing/2014/main" id="{7F59B608-D84F-EF38-D393-1A405607A26F}"/>
                </a:ext>
              </a:extLst>
            </p:cNvPr>
            <p:cNvSpPr>
              <a:spLocks/>
            </p:cNvSpPr>
            <p:nvPr/>
          </p:nvSpPr>
          <p:spPr bwMode="auto">
            <a:xfrm>
              <a:off x="2382" y="2565"/>
              <a:ext cx="135" cy="73"/>
            </a:xfrm>
            <a:custGeom>
              <a:avLst/>
              <a:gdLst>
                <a:gd name="T0" fmla="*/ 2394339 w 82"/>
                <a:gd name="T1" fmla="*/ 126 h 62"/>
                <a:gd name="T2" fmla="*/ 2353109 w 82"/>
                <a:gd name="T3" fmla="*/ 174 h 62"/>
                <a:gd name="T4" fmla="*/ 2149498 w 82"/>
                <a:gd name="T5" fmla="*/ 370 h 62"/>
                <a:gd name="T6" fmla="*/ 1793710 w 82"/>
                <a:gd name="T7" fmla="*/ 604 h 62"/>
                <a:gd name="T8" fmla="*/ 1352084 w 82"/>
                <a:gd name="T9" fmla="*/ 837 h 62"/>
                <a:gd name="T10" fmla="*/ 859589 w 82"/>
                <a:gd name="T11" fmla="*/ 1022 h 62"/>
                <a:gd name="T12" fmla="*/ 427515 w 82"/>
                <a:gd name="T13" fmla="*/ 1276 h 62"/>
                <a:gd name="T14" fmla="*/ 101853 w 82"/>
                <a:gd name="T15" fmla="*/ 1502 h 62"/>
                <a:gd name="T16" fmla="*/ 0 w 82"/>
                <a:gd name="T17" fmla="*/ 1896 h 62"/>
                <a:gd name="T18" fmla="*/ 454501 w 82"/>
                <a:gd name="T19" fmla="*/ 1787 h 62"/>
                <a:gd name="T20" fmla="*/ 498843 w 82"/>
                <a:gd name="T21" fmla="*/ 1736 h 62"/>
                <a:gd name="T22" fmla="*/ 661778 w 82"/>
                <a:gd name="T23" fmla="*/ 1594 h 62"/>
                <a:gd name="T24" fmla="*/ 1051098 w 82"/>
                <a:gd name="T25" fmla="*/ 1376 h 62"/>
                <a:gd name="T26" fmla="*/ 1549621 w 82"/>
                <a:gd name="T27" fmla="*/ 1161 h 62"/>
                <a:gd name="T28" fmla="*/ 2028125 w 82"/>
                <a:gd name="T29" fmla="*/ 921 h 62"/>
                <a:gd name="T30" fmla="*/ 2455820 w 82"/>
                <a:gd name="T31" fmla="*/ 711 h 62"/>
                <a:gd name="T32" fmla="*/ 2781519 w 82"/>
                <a:gd name="T33" fmla="*/ 393 h 62"/>
                <a:gd name="T34" fmla="*/ 2848938 w 82"/>
                <a:gd name="T35" fmla="*/ 0 h 62"/>
                <a:gd name="T36" fmla="*/ 2394339 w 82"/>
                <a:gd name="T37" fmla="*/ 126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2"/>
                <a:gd name="T59" fmla="*/ 82 w 82"/>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2">
                  <a:moveTo>
                    <a:pt x="68" y="4"/>
                  </a:moveTo>
                  <a:lnTo>
                    <a:pt x="67" y="6"/>
                  </a:lnTo>
                  <a:lnTo>
                    <a:pt x="61" y="12"/>
                  </a:lnTo>
                  <a:lnTo>
                    <a:pt x="51" y="19"/>
                  </a:lnTo>
                  <a:lnTo>
                    <a:pt x="38" y="26"/>
                  </a:lnTo>
                  <a:lnTo>
                    <a:pt x="24" y="33"/>
                  </a:lnTo>
                  <a:lnTo>
                    <a:pt x="12" y="41"/>
                  </a:lnTo>
                  <a:lnTo>
                    <a:pt x="3" y="48"/>
                  </a:lnTo>
                  <a:lnTo>
                    <a:pt x="0" y="61"/>
                  </a:lnTo>
                  <a:lnTo>
                    <a:pt x="13" y="58"/>
                  </a:lnTo>
                  <a:lnTo>
                    <a:pt x="14" y="56"/>
                  </a:lnTo>
                  <a:lnTo>
                    <a:pt x="19" y="51"/>
                  </a:lnTo>
                  <a:lnTo>
                    <a:pt x="30" y="45"/>
                  </a:lnTo>
                  <a:lnTo>
                    <a:pt x="44" y="37"/>
                  </a:lnTo>
                  <a:lnTo>
                    <a:pt x="58" y="30"/>
                  </a:lnTo>
                  <a:lnTo>
                    <a:pt x="70" y="22"/>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6" name="Freeform 205">
              <a:extLst>
                <a:ext uri="{FF2B5EF4-FFF2-40B4-BE49-F238E27FC236}">
                  <a16:creationId xmlns:a16="http://schemas.microsoft.com/office/drawing/2014/main" id="{3644519A-DC26-A6D0-93F7-6A8189F7FB12}"/>
                </a:ext>
              </a:extLst>
            </p:cNvPr>
            <p:cNvSpPr>
              <a:spLocks/>
            </p:cNvSpPr>
            <p:nvPr/>
          </p:nvSpPr>
          <p:spPr bwMode="auto">
            <a:xfrm>
              <a:off x="2343" y="2537"/>
              <a:ext cx="174" cy="34"/>
            </a:xfrm>
            <a:custGeom>
              <a:avLst/>
              <a:gdLst>
                <a:gd name="T0" fmla="*/ 0 w 106"/>
                <a:gd name="T1" fmla="*/ 103 h 29"/>
                <a:gd name="T2" fmla="*/ 255808 w 106"/>
                <a:gd name="T3" fmla="*/ 368 h 29"/>
                <a:gd name="T4" fmla="*/ 689288 w 106"/>
                <a:gd name="T5" fmla="*/ 494 h 29"/>
                <a:gd name="T6" fmla="*/ 1189907 w 106"/>
                <a:gd name="T7" fmla="*/ 516 h 29"/>
                <a:gd name="T8" fmla="*/ 1762354 w 106"/>
                <a:gd name="T9" fmla="*/ 579 h 29"/>
                <a:gd name="T10" fmla="*/ 2226709 w 106"/>
                <a:gd name="T11" fmla="*/ 579 h 29"/>
                <a:gd name="T12" fmla="*/ 2681420 w 106"/>
                <a:gd name="T13" fmla="*/ 605 h 29"/>
                <a:gd name="T14" fmla="*/ 2987436 w 106"/>
                <a:gd name="T15" fmla="*/ 709 h 29"/>
                <a:gd name="T16" fmla="*/ 3048815 w 106"/>
                <a:gd name="T17" fmla="*/ 810 h 29"/>
                <a:gd name="T18" fmla="*/ 3468237 w 106"/>
                <a:gd name="T19" fmla="*/ 691 h 29"/>
                <a:gd name="T20" fmla="*/ 3206268 w 106"/>
                <a:gd name="T21" fmla="*/ 375 h 29"/>
                <a:gd name="T22" fmla="*/ 2792912 w 106"/>
                <a:gd name="T23" fmla="*/ 268 h 29"/>
                <a:gd name="T24" fmla="*/ 2274976 w 106"/>
                <a:gd name="T25" fmla="*/ 195 h 29"/>
                <a:gd name="T26" fmla="*/ 1762354 w 106"/>
                <a:gd name="T27" fmla="*/ 195 h 29"/>
                <a:gd name="T28" fmla="*/ 1250712 w 106"/>
                <a:gd name="T29" fmla="*/ 166 h 29"/>
                <a:gd name="T30" fmla="*/ 784113 w 106"/>
                <a:gd name="T31" fmla="*/ 121 h 29"/>
                <a:gd name="T32" fmla="*/ 503423 w 106"/>
                <a:gd name="T33" fmla="*/ 2 h 29"/>
                <a:gd name="T34" fmla="*/ 419911 w 106"/>
                <a:gd name="T35" fmla="*/ 0 h 29"/>
                <a:gd name="T36" fmla="*/ 0 w 106"/>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3" y="20"/>
                  </a:lnTo>
                  <a:lnTo>
                    <a:pt x="67" y="20"/>
                  </a:lnTo>
                  <a:lnTo>
                    <a:pt x="81" y="22"/>
                  </a:lnTo>
                  <a:lnTo>
                    <a:pt x="90" y="26"/>
                  </a:lnTo>
                  <a:lnTo>
                    <a:pt x="92" y="28"/>
                  </a:lnTo>
                  <a:lnTo>
                    <a:pt x="105" y="24"/>
                  </a:lnTo>
                  <a:lnTo>
                    <a:pt x="97" y="14"/>
                  </a:lnTo>
                  <a:lnTo>
                    <a:pt x="84" y="9"/>
                  </a:lnTo>
                  <a:lnTo>
                    <a:pt x="69" y="7"/>
                  </a:lnTo>
                  <a:lnTo>
                    <a:pt x="53" y="7"/>
                  </a:lnTo>
                  <a:lnTo>
                    <a:pt x="38" y="6"/>
                  </a:lnTo>
                  <a:lnTo>
                    <a:pt x="24" y="4"/>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7" name="Freeform 206">
              <a:extLst>
                <a:ext uri="{FF2B5EF4-FFF2-40B4-BE49-F238E27FC236}">
                  <a16:creationId xmlns:a16="http://schemas.microsoft.com/office/drawing/2014/main" id="{113B3E35-A149-C7D3-196B-1D05A9525CA2}"/>
                </a:ext>
              </a:extLst>
            </p:cNvPr>
            <p:cNvSpPr>
              <a:spLocks/>
            </p:cNvSpPr>
            <p:nvPr/>
          </p:nvSpPr>
          <p:spPr bwMode="auto">
            <a:xfrm>
              <a:off x="2343" y="2470"/>
              <a:ext cx="138" cy="73"/>
            </a:xfrm>
            <a:custGeom>
              <a:avLst/>
              <a:gdLst>
                <a:gd name="T0" fmla="*/ 2353327 w 84"/>
                <a:gd name="T1" fmla="*/ 73 h 64"/>
                <a:gd name="T2" fmla="*/ 2325254 w 84"/>
                <a:gd name="T3" fmla="*/ 108 h 64"/>
                <a:gd name="T4" fmla="*/ 2114707 w 84"/>
                <a:gd name="T5" fmla="*/ 192 h 64"/>
                <a:gd name="T6" fmla="*/ 1748426 w 84"/>
                <a:gd name="T7" fmla="*/ 309 h 64"/>
                <a:gd name="T8" fmla="*/ 1309553 w 84"/>
                <a:gd name="T9" fmla="*/ 409 h 64"/>
                <a:gd name="T10" fmla="*/ 836973 w 84"/>
                <a:gd name="T11" fmla="*/ 533 h 64"/>
                <a:gd name="T12" fmla="*/ 439537 w 84"/>
                <a:gd name="T13" fmla="*/ 664 h 64"/>
                <a:gd name="T14" fmla="*/ 99128 w 84"/>
                <a:gd name="T15" fmla="*/ 792 h 64"/>
                <a:gd name="T16" fmla="*/ 0 w 84"/>
                <a:gd name="T17" fmla="*/ 1000 h 64"/>
                <a:gd name="T18" fmla="*/ 439537 w 84"/>
                <a:gd name="T19" fmla="*/ 931 h 64"/>
                <a:gd name="T20" fmla="*/ 509462 w 84"/>
                <a:gd name="T21" fmla="*/ 925 h 64"/>
                <a:gd name="T22" fmla="*/ 722097 w 84"/>
                <a:gd name="T23" fmla="*/ 811 h 64"/>
                <a:gd name="T24" fmla="*/ 1087333 w 84"/>
                <a:gd name="T25" fmla="*/ 711 h 64"/>
                <a:gd name="T26" fmla="*/ 1524090 w 84"/>
                <a:gd name="T27" fmla="*/ 598 h 64"/>
                <a:gd name="T28" fmla="*/ 1984371 w 84"/>
                <a:gd name="T29" fmla="*/ 482 h 64"/>
                <a:gd name="T30" fmla="*/ 2396631 w 84"/>
                <a:gd name="T31" fmla="*/ 359 h 64"/>
                <a:gd name="T32" fmla="*/ 2733325 w 84"/>
                <a:gd name="T33" fmla="*/ 209 h 64"/>
                <a:gd name="T34" fmla="*/ 2779841 w 84"/>
                <a:gd name="T35" fmla="*/ 0 h 64"/>
                <a:gd name="T36" fmla="*/ 2353327 w 84"/>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4"/>
                <a:gd name="T59" fmla="*/ 84 w 84"/>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4">
                  <a:moveTo>
                    <a:pt x="70" y="4"/>
                  </a:moveTo>
                  <a:lnTo>
                    <a:pt x="69" y="7"/>
                  </a:lnTo>
                  <a:lnTo>
                    <a:pt x="63" y="12"/>
                  </a:lnTo>
                  <a:lnTo>
                    <a:pt x="52" y="19"/>
                  </a:lnTo>
                  <a:lnTo>
                    <a:pt x="39" y="26"/>
                  </a:lnTo>
                  <a:lnTo>
                    <a:pt x="25" y="34"/>
                  </a:lnTo>
                  <a:lnTo>
                    <a:pt x="13" y="41"/>
                  </a:lnTo>
                  <a:lnTo>
                    <a:pt x="3" y="50"/>
                  </a:lnTo>
                  <a:lnTo>
                    <a:pt x="0" y="63"/>
                  </a:lnTo>
                  <a:lnTo>
                    <a:pt x="13" y="59"/>
                  </a:lnTo>
                  <a:lnTo>
                    <a:pt x="15" y="58"/>
                  </a:lnTo>
                  <a:lnTo>
                    <a:pt x="21" y="51"/>
                  </a:lnTo>
                  <a:lnTo>
                    <a:pt x="32" y="45"/>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8" name="Freeform 207">
              <a:extLst>
                <a:ext uri="{FF2B5EF4-FFF2-40B4-BE49-F238E27FC236}">
                  <a16:creationId xmlns:a16="http://schemas.microsoft.com/office/drawing/2014/main" id="{29B6F9BF-791C-75D9-B579-8509AADE3E96}"/>
                </a:ext>
              </a:extLst>
            </p:cNvPr>
            <p:cNvSpPr>
              <a:spLocks/>
            </p:cNvSpPr>
            <p:nvPr/>
          </p:nvSpPr>
          <p:spPr bwMode="auto">
            <a:xfrm>
              <a:off x="2307" y="2442"/>
              <a:ext cx="174" cy="33"/>
            </a:xfrm>
            <a:custGeom>
              <a:avLst/>
              <a:gdLst>
                <a:gd name="T0" fmla="*/ 0 w 106"/>
                <a:gd name="T1" fmla="*/ 68 h 29"/>
                <a:gd name="T2" fmla="*/ 306683 w 106"/>
                <a:gd name="T3" fmla="*/ 207 h 29"/>
                <a:gd name="T4" fmla="*/ 689288 w 106"/>
                <a:gd name="T5" fmla="*/ 247 h 29"/>
                <a:gd name="T6" fmla="*/ 1189907 w 106"/>
                <a:gd name="T7" fmla="*/ 281 h 29"/>
                <a:gd name="T8" fmla="*/ 1723619 w 106"/>
                <a:gd name="T9" fmla="*/ 306 h 29"/>
                <a:gd name="T10" fmla="*/ 2261872 w 106"/>
                <a:gd name="T11" fmla="*/ 316 h 29"/>
                <a:gd name="T12" fmla="*/ 2681420 w 106"/>
                <a:gd name="T13" fmla="*/ 320 h 29"/>
                <a:gd name="T14" fmla="*/ 2950607 w 106"/>
                <a:gd name="T15" fmla="*/ 364 h 29"/>
                <a:gd name="T16" fmla="*/ 3048815 w 106"/>
                <a:gd name="T17" fmla="*/ 414 h 29"/>
                <a:gd name="T18" fmla="*/ 3468237 w 106"/>
                <a:gd name="T19" fmla="*/ 360 h 29"/>
                <a:gd name="T20" fmla="*/ 3206268 w 106"/>
                <a:gd name="T21" fmla="*/ 207 h 29"/>
                <a:gd name="T22" fmla="*/ 2742357 w 106"/>
                <a:gd name="T23" fmla="*/ 148 h 29"/>
                <a:gd name="T24" fmla="*/ 2274976 w 106"/>
                <a:gd name="T25" fmla="*/ 114 h 29"/>
                <a:gd name="T26" fmla="*/ 1762354 w 106"/>
                <a:gd name="T27" fmla="*/ 100 h 29"/>
                <a:gd name="T28" fmla="*/ 1229571 w 106"/>
                <a:gd name="T29" fmla="*/ 88 h 29"/>
                <a:gd name="T30" fmla="*/ 784113 w 106"/>
                <a:gd name="T31" fmla="*/ 68 h 29"/>
                <a:gd name="T32" fmla="*/ 503423 w 106"/>
                <a:gd name="T33" fmla="*/ 2 h 29"/>
                <a:gd name="T34" fmla="*/ 419911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1" y="17"/>
                  </a:lnTo>
                  <a:lnTo>
                    <a:pt x="36" y="19"/>
                  </a:lnTo>
                  <a:lnTo>
                    <a:pt x="52" y="20"/>
                  </a:lnTo>
                  <a:lnTo>
                    <a:pt x="68" y="21"/>
                  </a:lnTo>
                  <a:lnTo>
                    <a:pt x="81" y="22"/>
                  </a:lnTo>
                  <a:lnTo>
                    <a:pt x="89" y="25"/>
                  </a:lnTo>
                  <a:lnTo>
                    <a:pt x="92" y="28"/>
                  </a:lnTo>
                  <a:lnTo>
                    <a:pt x="105" y="24"/>
                  </a:lnTo>
                  <a:lnTo>
                    <a:pt x="97" y="14"/>
                  </a:lnTo>
                  <a:lnTo>
                    <a:pt x="83" y="10"/>
                  </a:lnTo>
                  <a:lnTo>
                    <a:pt x="69" y="8"/>
                  </a:lnTo>
                  <a:lnTo>
                    <a:pt x="53" y="7"/>
                  </a:lnTo>
                  <a:lnTo>
                    <a:pt x="37"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89" name="Freeform 208">
              <a:extLst>
                <a:ext uri="{FF2B5EF4-FFF2-40B4-BE49-F238E27FC236}">
                  <a16:creationId xmlns:a16="http://schemas.microsoft.com/office/drawing/2014/main" id="{FB7965D4-3A66-01AF-C7A5-30FA9189FF77}"/>
                </a:ext>
              </a:extLst>
            </p:cNvPr>
            <p:cNvSpPr>
              <a:spLocks/>
            </p:cNvSpPr>
            <p:nvPr/>
          </p:nvSpPr>
          <p:spPr bwMode="auto">
            <a:xfrm>
              <a:off x="2307" y="2379"/>
              <a:ext cx="139" cy="68"/>
            </a:xfrm>
            <a:custGeom>
              <a:avLst/>
              <a:gdLst>
                <a:gd name="T0" fmla="*/ 2176640 w 85"/>
                <a:gd name="T1" fmla="*/ 137 h 59"/>
                <a:gd name="T2" fmla="*/ 2176640 w 85"/>
                <a:gd name="T3" fmla="*/ 103 h 59"/>
                <a:gd name="T4" fmla="*/ 2115439 w 85"/>
                <a:gd name="T5" fmla="*/ 137 h 59"/>
                <a:gd name="T6" fmla="*/ 1925866 w 85"/>
                <a:gd name="T7" fmla="*/ 221 h 59"/>
                <a:gd name="T8" fmla="*/ 1621167 w 85"/>
                <a:gd name="T9" fmla="*/ 339 h 59"/>
                <a:gd name="T10" fmla="*/ 1202759 w 85"/>
                <a:gd name="T11" fmla="*/ 451 h 59"/>
                <a:gd name="T12" fmla="*/ 769815 w 85"/>
                <a:gd name="T13" fmla="*/ 589 h 59"/>
                <a:gd name="T14" fmla="*/ 329412 w 85"/>
                <a:gd name="T15" fmla="*/ 690 h 59"/>
                <a:gd name="T16" fmla="*/ 54877 w 85"/>
                <a:gd name="T17" fmla="*/ 896 h 59"/>
                <a:gd name="T18" fmla="*/ 0 w 85"/>
                <a:gd name="T19" fmla="*/ 1156 h 59"/>
                <a:gd name="T20" fmla="*/ 392440 w 85"/>
                <a:gd name="T21" fmla="*/ 1056 h 59"/>
                <a:gd name="T22" fmla="*/ 392440 w 85"/>
                <a:gd name="T23" fmla="*/ 1040 h 59"/>
                <a:gd name="T24" fmla="*/ 580820 w 85"/>
                <a:gd name="T25" fmla="*/ 942 h 59"/>
                <a:gd name="T26" fmla="*/ 914232 w 85"/>
                <a:gd name="T27" fmla="*/ 817 h 59"/>
                <a:gd name="T28" fmla="*/ 1351688 w 85"/>
                <a:gd name="T29" fmla="*/ 690 h 59"/>
                <a:gd name="T30" fmla="*/ 1770119 w 85"/>
                <a:gd name="T31" fmla="*/ 569 h 59"/>
                <a:gd name="T32" fmla="*/ 2176640 w 85"/>
                <a:gd name="T33" fmla="*/ 451 h 59"/>
                <a:gd name="T34" fmla="*/ 2469536 w 85"/>
                <a:gd name="T35" fmla="*/ 279 h 59"/>
                <a:gd name="T36" fmla="*/ 2563417 w 85"/>
                <a:gd name="T37" fmla="*/ 1 h 59"/>
                <a:gd name="T38" fmla="*/ 2539975 w 85"/>
                <a:gd name="T39" fmla="*/ 0 h 59"/>
                <a:gd name="T40" fmla="*/ 2563417 w 85"/>
                <a:gd name="T41" fmla="*/ 1 h 59"/>
                <a:gd name="T42" fmla="*/ 2539975 w 85"/>
                <a:gd name="T43" fmla="*/ 0 h 59"/>
                <a:gd name="T44" fmla="*/ 2176640 w 85"/>
                <a:gd name="T45" fmla="*/ 137 h 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9"/>
                <a:gd name="T71" fmla="*/ 85 w 85"/>
                <a:gd name="T72" fmla="*/ 59 h 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9">
                  <a:moveTo>
                    <a:pt x="71" y="7"/>
                  </a:moveTo>
                  <a:lnTo>
                    <a:pt x="71" y="5"/>
                  </a:lnTo>
                  <a:lnTo>
                    <a:pt x="69" y="7"/>
                  </a:lnTo>
                  <a:lnTo>
                    <a:pt x="63" y="11"/>
                  </a:lnTo>
                  <a:lnTo>
                    <a:pt x="53" y="17"/>
                  </a:lnTo>
                  <a:lnTo>
                    <a:pt x="39" y="23"/>
                  </a:lnTo>
                  <a:lnTo>
                    <a:pt x="25" y="30"/>
                  </a:lnTo>
                  <a:lnTo>
                    <a:pt x="11" y="36"/>
                  </a:lnTo>
                  <a:lnTo>
                    <a:pt x="2" y="45"/>
                  </a:lnTo>
                  <a:lnTo>
                    <a:pt x="0" y="58"/>
                  </a:lnTo>
                  <a:lnTo>
                    <a:pt x="13" y="54"/>
                  </a:lnTo>
                  <a:lnTo>
                    <a:pt x="13" y="53"/>
                  </a:lnTo>
                  <a:lnTo>
                    <a:pt x="19" y="48"/>
                  </a:lnTo>
                  <a:lnTo>
                    <a:pt x="30" y="42"/>
                  </a:lnTo>
                  <a:lnTo>
                    <a:pt x="44" y="36"/>
                  </a:lnTo>
                  <a:lnTo>
                    <a:pt x="58" y="29"/>
                  </a:lnTo>
                  <a:lnTo>
                    <a:pt x="71" y="23"/>
                  </a:lnTo>
                  <a:lnTo>
                    <a:pt x="81" y="14"/>
                  </a:lnTo>
                  <a:lnTo>
                    <a:pt x="84" y="1"/>
                  </a:lnTo>
                  <a:lnTo>
                    <a:pt x="83" y="0"/>
                  </a:lnTo>
                  <a:lnTo>
                    <a:pt x="84" y="1"/>
                  </a:lnTo>
                  <a:lnTo>
                    <a:pt x="83" y="0"/>
                  </a:lnTo>
                  <a:lnTo>
                    <a:pt x="71" y="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0" name="Freeform 209">
              <a:extLst>
                <a:ext uri="{FF2B5EF4-FFF2-40B4-BE49-F238E27FC236}">
                  <a16:creationId xmlns:a16="http://schemas.microsoft.com/office/drawing/2014/main" id="{200A6A33-63D6-595B-5DCF-A6A47175A5D8}"/>
                </a:ext>
              </a:extLst>
            </p:cNvPr>
            <p:cNvSpPr>
              <a:spLocks/>
            </p:cNvSpPr>
            <p:nvPr/>
          </p:nvSpPr>
          <p:spPr bwMode="auto">
            <a:xfrm>
              <a:off x="2421" y="2378"/>
              <a:ext cx="24" cy="11"/>
            </a:xfrm>
            <a:custGeom>
              <a:avLst/>
              <a:gdLst>
                <a:gd name="T0" fmla="*/ 0 w 14"/>
                <a:gd name="T1" fmla="*/ 323 h 9"/>
                <a:gd name="T2" fmla="*/ 84792 w 14"/>
                <a:gd name="T3" fmla="*/ 395 h 9"/>
                <a:gd name="T4" fmla="*/ 84792 w 14"/>
                <a:gd name="T5" fmla="*/ 543 h 9"/>
                <a:gd name="T6" fmla="*/ 1057803 w 14"/>
                <a:gd name="T7" fmla="*/ 1 h 9"/>
                <a:gd name="T8" fmla="*/ 1012678 w 14"/>
                <a:gd name="T9" fmla="*/ 0 h 9"/>
                <a:gd name="T10" fmla="*/ 1057803 w 14"/>
                <a:gd name="T11" fmla="*/ 1 h 9"/>
                <a:gd name="T12" fmla="*/ 0 w 14"/>
                <a:gd name="T13" fmla="*/ 323 h 9"/>
                <a:gd name="T14" fmla="*/ 0 w 14"/>
                <a:gd name="T15" fmla="*/ 395 h 9"/>
                <a:gd name="T16" fmla="*/ 84792 w 14"/>
                <a:gd name="T17" fmla="*/ 395 h 9"/>
                <a:gd name="T18" fmla="*/ 0 w 14"/>
                <a:gd name="T19" fmla="*/ 32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9"/>
                <a:gd name="T32" fmla="*/ 14 w 1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9">
                  <a:moveTo>
                    <a:pt x="0" y="5"/>
                  </a:moveTo>
                  <a:lnTo>
                    <a:pt x="1" y="6"/>
                  </a:lnTo>
                  <a:lnTo>
                    <a:pt x="1" y="8"/>
                  </a:lnTo>
                  <a:lnTo>
                    <a:pt x="13" y="1"/>
                  </a:lnTo>
                  <a:lnTo>
                    <a:pt x="12" y="0"/>
                  </a:lnTo>
                  <a:lnTo>
                    <a:pt x="13" y="1"/>
                  </a:lnTo>
                  <a:lnTo>
                    <a:pt x="0" y="5"/>
                  </a:lnTo>
                  <a:lnTo>
                    <a:pt x="0" y="6"/>
                  </a:lnTo>
                  <a:lnTo>
                    <a:pt x="1" y="6"/>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1" name="Freeform 210">
              <a:extLst>
                <a:ext uri="{FF2B5EF4-FFF2-40B4-BE49-F238E27FC236}">
                  <a16:creationId xmlns:a16="http://schemas.microsoft.com/office/drawing/2014/main" id="{893FB587-05D1-4522-110A-EBC3120C01DC}"/>
                </a:ext>
              </a:extLst>
            </p:cNvPr>
            <p:cNvSpPr>
              <a:spLocks/>
            </p:cNvSpPr>
            <p:nvPr/>
          </p:nvSpPr>
          <p:spPr bwMode="auto">
            <a:xfrm>
              <a:off x="2270" y="2351"/>
              <a:ext cx="175" cy="35"/>
            </a:xfrm>
            <a:custGeom>
              <a:avLst/>
              <a:gdLst>
                <a:gd name="T0" fmla="*/ 0 w 106"/>
                <a:gd name="T1" fmla="*/ 162 h 29"/>
                <a:gd name="T2" fmla="*/ 291842 w 106"/>
                <a:gd name="T3" fmla="*/ 683 h 29"/>
                <a:gd name="T4" fmla="*/ 795449 w 106"/>
                <a:gd name="T5" fmla="*/ 824 h 29"/>
                <a:gd name="T6" fmla="*/ 1328805 w 106"/>
                <a:gd name="T7" fmla="*/ 962 h 29"/>
                <a:gd name="T8" fmla="*/ 1941196 w 106"/>
                <a:gd name="T9" fmla="*/ 962 h 29"/>
                <a:gd name="T10" fmla="*/ 2508326 w 106"/>
                <a:gd name="T11" fmla="*/ 962 h 29"/>
                <a:gd name="T12" fmla="*/ 2989299 w 106"/>
                <a:gd name="T13" fmla="*/ 1050 h 29"/>
                <a:gd name="T14" fmla="*/ 3328313 w 106"/>
                <a:gd name="T15" fmla="*/ 1267 h 29"/>
                <a:gd name="T16" fmla="*/ 3435385 w 106"/>
                <a:gd name="T17" fmla="*/ 1448 h 29"/>
                <a:gd name="T18" fmla="*/ 3917132 w 106"/>
                <a:gd name="T19" fmla="*/ 1267 h 29"/>
                <a:gd name="T20" fmla="*/ 3621810 w 106"/>
                <a:gd name="T21" fmla="*/ 683 h 29"/>
                <a:gd name="T22" fmla="*/ 3136520 w 106"/>
                <a:gd name="T23" fmla="*/ 345 h 29"/>
                <a:gd name="T24" fmla="*/ 2534104 w 106"/>
                <a:gd name="T25" fmla="*/ 237 h 29"/>
                <a:gd name="T26" fmla="*/ 1941196 w 106"/>
                <a:gd name="T27" fmla="*/ 162 h 29"/>
                <a:gd name="T28" fmla="*/ 1328805 w 106"/>
                <a:gd name="T29" fmla="*/ 162 h 29"/>
                <a:gd name="T30" fmla="*/ 804876 w 106"/>
                <a:gd name="T31" fmla="*/ 162 h 29"/>
                <a:gd name="T32" fmla="*/ 563155 w 106"/>
                <a:gd name="T33" fmla="*/ 1 h 29"/>
                <a:gd name="T34" fmla="*/ 481815 w 106"/>
                <a:gd name="T35" fmla="*/ 0 h 29"/>
                <a:gd name="T36" fmla="*/ 0 w 106"/>
                <a:gd name="T37" fmla="*/ 162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6"/>
                  </a:lnTo>
                  <a:lnTo>
                    <a:pt x="36" y="18"/>
                  </a:lnTo>
                  <a:lnTo>
                    <a:pt x="52" y="18"/>
                  </a:lnTo>
                  <a:lnTo>
                    <a:pt x="67" y="18"/>
                  </a:lnTo>
                  <a:lnTo>
                    <a:pt x="80" y="20"/>
                  </a:lnTo>
                  <a:lnTo>
                    <a:pt x="89" y="24"/>
                  </a:lnTo>
                  <a:lnTo>
                    <a:pt x="92" y="28"/>
                  </a:lnTo>
                  <a:lnTo>
                    <a:pt x="105" y="24"/>
                  </a:lnTo>
                  <a:lnTo>
                    <a:pt x="97" y="13"/>
                  </a:lnTo>
                  <a:lnTo>
                    <a:pt x="84" y="7"/>
                  </a:lnTo>
                  <a:lnTo>
                    <a:pt x="68" y="5"/>
                  </a:lnTo>
                  <a:lnTo>
                    <a:pt x="52" y="3"/>
                  </a:lnTo>
                  <a:lnTo>
                    <a:pt x="36" y="3"/>
                  </a:lnTo>
                  <a:lnTo>
                    <a:pt x="22" y="3"/>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2" name="Freeform 211">
              <a:extLst>
                <a:ext uri="{FF2B5EF4-FFF2-40B4-BE49-F238E27FC236}">
                  <a16:creationId xmlns:a16="http://schemas.microsoft.com/office/drawing/2014/main" id="{EBB7F49E-4841-59CA-32DB-71403C2E757F}"/>
                </a:ext>
              </a:extLst>
            </p:cNvPr>
            <p:cNvSpPr>
              <a:spLocks/>
            </p:cNvSpPr>
            <p:nvPr/>
          </p:nvSpPr>
          <p:spPr bwMode="auto">
            <a:xfrm>
              <a:off x="2270" y="2284"/>
              <a:ext cx="137" cy="74"/>
            </a:xfrm>
            <a:custGeom>
              <a:avLst/>
              <a:gdLst>
                <a:gd name="T0" fmla="*/ 2566051 w 83"/>
                <a:gd name="T1" fmla="*/ 93 h 64"/>
                <a:gd name="T2" fmla="*/ 2566051 w 83"/>
                <a:gd name="T3" fmla="*/ 145 h 64"/>
                <a:gd name="T4" fmla="*/ 2349936 w 83"/>
                <a:gd name="T5" fmla="*/ 259 h 64"/>
                <a:gd name="T6" fmla="*/ 1933123 w 83"/>
                <a:gd name="T7" fmla="*/ 400 h 64"/>
                <a:gd name="T8" fmla="*/ 1423684 w 83"/>
                <a:gd name="T9" fmla="*/ 546 h 64"/>
                <a:gd name="T10" fmla="*/ 901473 w 83"/>
                <a:gd name="T11" fmla="*/ 716 h 64"/>
                <a:gd name="T12" fmla="*/ 446998 w 83"/>
                <a:gd name="T13" fmla="*/ 845 h 64"/>
                <a:gd name="T14" fmla="*/ 64690 w 83"/>
                <a:gd name="T15" fmla="*/ 1059 h 64"/>
                <a:gd name="T16" fmla="*/ 0 w 83"/>
                <a:gd name="T17" fmla="*/ 1319 h 64"/>
                <a:gd name="T18" fmla="*/ 480180 w 83"/>
                <a:gd name="T19" fmla="*/ 1234 h 64"/>
                <a:gd name="T20" fmla="*/ 522551 w 83"/>
                <a:gd name="T21" fmla="*/ 1224 h 64"/>
                <a:gd name="T22" fmla="*/ 737816 w 83"/>
                <a:gd name="T23" fmla="*/ 1067 h 64"/>
                <a:gd name="T24" fmla="*/ 1147807 w 83"/>
                <a:gd name="T25" fmla="*/ 957 h 64"/>
                <a:gd name="T26" fmla="*/ 1664712 w 83"/>
                <a:gd name="T27" fmla="*/ 798 h 64"/>
                <a:gd name="T28" fmla="*/ 2159391 w 83"/>
                <a:gd name="T29" fmla="*/ 673 h 64"/>
                <a:gd name="T30" fmla="*/ 2640814 w 83"/>
                <a:gd name="T31" fmla="*/ 503 h 64"/>
                <a:gd name="T32" fmla="*/ 2976645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9" y="7"/>
                  </a:lnTo>
                  <a:lnTo>
                    <a:pt x="63" y="12"/>
                  </a:lnTo>
                  <a:lnTo>
                    <a:pt x="52" y="19"/>
                  </a:lnTo>
                  <a:lnTo>
                    <a:pt x="38" y="26"/>
                  </a:lnTo>
                  <a:lnTo>
                    <a:pt x="24" y="34"/>
                  </a:lnTo>
                  <a:lnTo>
                    <a:pt x="12" y="41"/>
                  </a:lnTo>
                  <a:lnTo>
                    <a:pt x="2" y="50"/>
                  </a:lnTo>
                  <a:lnTo>
                    <a:pt x="0" y="63"/>
                  </a:lnTo>
                  <a:lnTo>
                    <a:pt x="13" y="59"/>
                  </a:lnTo>
                  <a:lnTo>
                    <a:pt x="14" y="58"/>
                  </a:lnTo>
                  <a:lnTo>
                    <a:pt x="20" y="51"/>
                  </a:lnTo>
                  <a:lnTo>
                    <a:pt x="31" y="45"/>
                  </a:lnTo>
                  <a:lnTo>
                    <a:pt x="45" y="38"/>
                  </a:lnTo>
                  <a:lnTo>
                    <a:pt x="58" y="31"/>
                  </a:lnTo>
                  <a:lnTo>
                    <a:pt x="71"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3" name="Freeform 212">
              <a:extLst>
                <a:ext uri="{FF2B5EF4-FFF2-40B4-BE49-F238E27FC236}">
                  <a16:creationId xmlns:a16="http://schemas.microsoft.com/office/drawing/2014/main" id="{ED23FE16-5531-7FFA-C928-3FA9430A4BAB}"/>
                </a:ext>
              </a:extLst>
            </p:cNvPr>
            <p:cNvSpPr>
              <a:spLocks/>
            </p:cNvSpPr>
            <p:nvPr/>
          </p:nvSpPr>
          <p:spPr bwMode="auto">
            <a:xfrm>
              <a:off x="2232" y="2257"/>
              <a:ext cx="175" cy="33"/>
            </a:xfrm>
            <a:custGeom>
              <a:avLst/>
              <a:gdLst>
                <a:gd name="T0" fmla="*/ 0 w 106"/>
                <a:gd name="T1" fmla="*/ 68 h 29"/>
                <a:gd name="T2" fmla="*/ 291842 w 106"/>
                <a:gd name="T3" fmla="*/ 207 h 29"/>
                <a:gd name="T4" fmla="*/ 795449 w 106"/>
                <a:gd name="T5" fmla="*/ 247 h 29"/>
                <a:gd name="T6" fmla="*/ 1328805 w 106"/>
                <a:gd name="T7" fmla="*/ 281 h 29"/>
                <a:gd name="T8" fmla="*/ 1941196 w 106"/>
                <a:gd name="T9" fmla="*/ 306 h 29"/>
                <a:gd name="T10" fmla="*/ 2534104 w 106"/>
                <a:gd name="T11" fmla="*/ 316 h 29"/>
                <a:gd name="T12" fmla="*/ 3033331 w 106"/>
                <a:gd name="T13" fmla="*/ 348 h 29"/>
                <a:gd name="T14" fmla="*/ 3369257 w 106"/>
                <a:gd name="T15" fmla="*/ 396 h 29"/>
                <a:gd name="T16" fmla="*/ 3435385 w 106"/>
                <a:gd name="T17" fmla="*/ 414 h 29"/>
                <a:gd name="T18" fmla="*/ 3917132 w 106"/>
                <a:gd name="T19" fmla="*/ 364 h 29"/>
                <a:gd name="T20" fmla="*/ 3621810 w 106"/>
                <a:gd name="T21" fmla="*/ 207 h 29"/>
                <a:gd name="T22" fmla="*/ 3136520 w 106"/>
                <a:gd name="T23" fmla="*/ 148 h 29"/>
                <a:gd name="T24" fmla="*/ 2573651 w 106"/>
                <a:gd name="T25" fmla="*/ 114 h 29"/>
                <a:gd name="T26" fmla="*/ 1984779 w 106"/>
                <a:gd name="T27" fmla="*/ 100 h 29"/>
                <a:gd name="T28" fmla="*/ 1427982 w 106"/>
                <a:gd name="T29" fmla="*/ 88 h 29"/>
                <a:gd name="T30" fmla="*/ 904506 w 106"/>
                <a:gd name="T31" fmla="*/ 68 h 29"/>
                <a:gd name="T32" fmla="*/ 563155 w 106"/>
                <a:gd name="T33" fmla="*/ 2 h 29"/>
                <a:gd name="T34" fmla="*/ 481815 w 106"/>
                <a:gd name="T35" fmla="*/ 0 h 29"/>
                <a:gd name="T36" fmla="*/ 0 w 106"/>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1" y="17"/>
                  </a:lnTo>
                  <a:lnTo>
                    <a:pt x="36" y="19"/>
                  </a:lnTo>
                  <a:lnTo>
                    <a:pt x="52" y="20"/>
                  </a:lnTo>
                  <a:lnTo>
                    <a:pt x="68" y="21"/>
                  </a:lnTo>
                  <a:lnTo>
                    <a:pt x="81" y="23"/>
                  </a:lnTo>
                  <a:lnTo>
                    <a:pt x="90" y="26"/>
                  </a:lnTo>
                  <a:lnTo>
                    <a:pt x="92" y="28"/>
                  </a:lnTo>
                  <a:lnTo>
                    <a:pt x="105" y="25"/>
                  </a:lnTo>
                  <a:lnTo>
                    <a:pt x="97" y="14"/>
                  </a:lnTo>
                  <a:lnTo>
                    <a:pt x="84" y="10"/>
                  </a:lnTo>
                  <a:lnTo>
                    <a:pt x="69" y="8"/>
                  </a:lnTo>
                  <a:lnTo>
                    <a:pt x="53" y="7"/>
                  </a:lnTo>
                  <a:lnTo>
                    <a:pt x="38" y="6"/>
                  </a:lnTo>
                  <a:lnTo>
                    <a:pt x="24"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4" name="Freeform 213">
              <a:extLst>
                <a:ext uri="{FF2B5EF4-FFF2-40B4-BE49-F238E27FC236}">
                  <a16:creationId xmlns:a16="http://schemas.microsoft.com/office/drawing/2014/main" id="{8E0C5B95-271E-E3FC-B79F-86667FB73C00}"/>
                </a:ext>
              </a:extLst>
            </p:cNvPr>
            <p:cNvSpPr>
              <a:spLocks/>
            </p:cNvSpPr>
            <p:nvPr/>
          </p:nvSpPr>
          <p:spPr bwMode="auto">
            <a:xfrm>
              <a:off x="2232" y="2194"/>
              <a:ext cx="142" cy="68"/>
            </a:xfrm>
            <a:custGeom>
              <a:avLst/>
              <a:gdLst>
                <a:gd name="T0" fmla="*/ 2656439 w 86"/>
                <a:gd name="T1" fmla="*/ 2 h 59"/>
                <a:gd name="T2" fmla="*/ 2656439 w 86"/>
                <a:gd name="T3" fmla="*/ 89 h 59"/>
                <a:gd name="T4" fmla="*/ 2656439 w 86"/>
                <a:gd name="T5" fmla="*/ 3 h 59"/>
                <a:gd name="T6" fmla="*/ 2362437 w 86"/>
                <a:gd name="T7" fmla="*/ 158 h 59"/>
                <a:gd name="T8" fmla="*/ 1944896 w 86"/>
                <a:gd name="T9" fmla="*/ 294 h 59"/>
                <a:gd name="T10" fmla="*/ 1456690 w 86"/>
                <a:gd name="T11" fmla="*/ 428 h 59"/>
                <a:gd name="T12" fmla="*/ 931604 w 86"/>
                <a:gd name="T13" fmla="*/ 568 h 59"/>
                <a:gd name="T14" fmla="*/ 486253 w 86"/>
                <a:gd name="T15" fmla="*/ 690 h 59"/>
                <a:gd name="T16" fmla="*/ 108017 w 86"/>
                <a:gd name="T17" fmla="*/ 896 h 59"/>
                <a:gd name="T18" fmla="*/ 0 w 86"/>
                <a:gd name="T19" fmla="*/ 1156 h 59"/>
                <a:gd name="T20" fmla="*/ 486253 w 86"/>
                <a:gd name="T21" fmla="*/ 1056 h 59"/>
                <a:gd name="T22" fmla="*/ 564211 w 86"/>
                <a:gd name="T23" fmla="*/ 1040 h 59"/>
                <a:gd name="T24" fmla="*/ 802883 w 86"/>
                <a:gd name="T25" fmla="*/ 902 h 59"/>
                <a:gd name="T26" fmla="*/ 1205805 w 86"/>
                <a:gd name="T27" fmla="*/ 783 h 59"/>
                <a:gd name="T28" fmla="*/ 1672585 w 86"/>
                <a:gd name="T29" fmla="*/ 656 h 59"/>
                <a:gd name="T30" fmla="*/ 2197344 w 86"/>
                <a:gd name="T31" fmla="*/ 520 h 59"/>
                <a:gd name="T32" fmla="*/ 2656439 w 86"/>
                <a:gd name="T33" fmla="*/ 391 h 59"/>
                <a:gd name="T34" fmla="*/ 3040971 w 86"/>
                <a:gd name="T35" fmla="*/ 242 h 59"/>
                <a:gd name="T36" fmla="*/ 3159540 w 86"/>
                <a:gd name="T37" fmla="*/ 0 h 59"/>
                <a:gd name="T38" fmla="*/ 3172037 w 86"/>
                <a:gd name="T39" fmla="*/ 2 h 59"/>
                <a:gd name="T40" fmla="*/ 2656439 w 86"/>
                <a:gd name="T41" fmla="*/ 2 h 59"/>
                <a:gd name="T42" fmla="*/ 2656439 w 86"/>
                <a:gd name="T43" fmla="*/ 3 h 59"/>
                <a:gd name="T44" fmla="*/ 2656439 w 86"/>
                <a:gd name="T45" fmla="*/ 89 h 59"/>
                <a:gd name="T46" fmla="*/ 2656439 w 86"/>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6"/>
                <a:gd name="T73" fmla="*/ 0 h 59"/>
                <a:gd name="T74" fmla="*/ 86 w 86"/>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6" h="59">
                  <a:moveTo>
                    <a:pt x="71" y="2"/>
                  </a:moveTo>
                  <a:lnTo>
                    <a:pt x="71" y="4"/>
                  </a:lnTo>
                  <a:lnTo>
                    <a:pt x="71" y="3"/>
                  </a:lnTo>
                  <a:lnTo>
                    <a:pt x="63" y="8"/>
                  </a:lnTo>
                  <a:lnTo>
                    <a:pt x="52" y="15"/>
                  </a:lnTo>
                  <a:lnTo>
                    <a:pt x="39" y="21"/>
                  </a:lnTo>
                  <a:lnTo>
                    <a:pt x="25" y="28"/>
                  </a:lnTo>
                  <a:lnTo>
                    <a:pt x="13" y="36"/>
                  </a:lnTo>
                  <a:lnTo>
                    <a:pt x="3" y="45"/>
                  </a:lnTo>
                  <a:lnTo>
                    <a:pt x="0" y="58"/>
                  </a:lnTo>
                  <a:lnTo>
                    <a:pt x="13" y="54"/>
                  </a:lnTo>
                  <a:lnTo>
                    <a:pt x="15" y="53"/>
                  </a:lnTo>
                  <a:lnTo>
                    <a:pt x="21" y="46"/>
                  </a:lnTo>
                  <a:lnTo>
                    <a:pt x="32" y="40"/>
                  </a:lnTo>
                  <a:lnTo>
                    <a:pt x="45" y="33"/>
                  </a:lnTo>
                  <a:lnTo>
                    <a:pt x="59" y="27"/>
                  </a:lnTo>
                  <a:lnTo>
                    <a:pt x="71" y="20"/>
                  </a:lnTo>
                  <a:lnTo>
                    <a:pt x="81" y="12"/>
                  </a:lnTo>
                  <a:lnTo>
                    <a:pt x="84" y="0"/>
                  </a:lnTo>
                  <a:lnTo>
                    <a:pt x="85" y="2"/>
                  </a:lnTo>
                  <a:lnTo>
                    <a:pt x="71" y="2"/>
                  </a:lnTo>
                  <a:lnTo>
                    <a:pt x="71" y="3"/>
                  </a:lnTo>
                  <a:lnTo>
                    <a:pt x="71" y="4"/>
                  </a:lnTo>
                  <a:lnTo>
                    <a:pt x="71"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5" name="Freeform 214">
              <a:extLst>
                <a:ext uri="{FF2B5EF4-FFF2-40B4-BE49-F238E27FC236}">
                  <a16:creationId xmlns:a16="http://schemas.microsoft.com/office/drawing/2014/main" id="{20C903BA-7C79-2B2F-46BD-ECC8F7CF5476}"/>
                </a:ext>
              </a:extLst>
            </p:cNvPr>
            <p:cNvSpPr>
              <a:spLocks/>
            </p:cNvSpPr>
            <p:nvPr/>
          </p:nvSpPr>
          <p:spPr bwMode="auto">
            <a:xfrm>
              <a:off x="2348" y="2193"/>
              <a:ext cx="26" cy="6"/>
            </a:xfrm>
            <a:custGeom>
              <a:avLst/>
              <a:gdLst>
                <a:gd name="T0" fmla="*/ 30347 w 16"/>
                <a:gd name="T1" fmla="*/ 179 h 5"/>
                <a:gd name="T2" fmla="*/ 0 w 16"/>
                <a:gd name="T3" fmla="*/ 2 h 5"/>
                <a:gd name="T4" fmla="*/ 392938 w 16"/>
                <a:gd name="T5" fmla="*/ 2 h 5"/>
                <a:gd name="T6" fmla="*/ 373888 w 16"/>
                <a:gd name="T7" fmla="*/ 0 h 5"/>
                <a:gd name="T8" fmla="*/ 392938 w 16"/>
                <a:gd name="T9" fmla="*/ 2 h 5"/>
                <a:gd name="T10" fmla="*/ 392938 w 16"/>
                <a:gd name="T11" fmla="*/ 1 h 5"/>
                <a:gd name="T12" fmla="*/ 373888 w 16"/>
                <a:gd name="T13" fmla="*/ 0 h 5"/>
                <a:gd name="T14" fmla="*/ 30347 w 16"/>
                <a:gd name="T15" fmla="*/ 179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4"/>
                  </a:moveTo>
                  <a:lnTo>
                    <a:pt x="0" y="2"/>
                  </a:lnTo>
                  <a:lnTo>
                    <a:pt x="15" y="2"/>
                  </a:lnTo>
                  <a:lnTo>
                    <a:pt x="14" y="0"/>
                  </a:lnTo>
                  <a:lnTo>
                    <a:pt x="15" y="2"/>
                  </a:lnTo>
                  <a:lnTo>
                    <a:pt x="15" y="1"/>
                  </a:lnTo>
                  <a:lnTo>
                    <a:pt x="14" y="0"/>
                  </a:lnTo>
                  <a:lnTo>
                    <a:pt x="1"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6" name="Freeform 215">
              <a:extLst>
                <a:ext uri="{FF2B5EF4-FFF2-40B4-BE49-F238E27FC236}">
                  <a16:creationId xmlns:a16="http://schemas.microsoft.com/office/drawing/2014/main" id="{E7E39B9E-0239-7F16-94A6-66C3D0B7FDB7}"/>
                </a:ext>
              </a:extLst>
            </p:cNvPr>
            <p:cNvSpPr>
              <a:spLocks/>
            </p:cNvSpPr>
            <p:nvPr/>
          </p:nvSpPr>
          <p:spPr bwMode="auto">
            <a:xfrm>
              <a:off x="2199" y="2164"/>
              <a:ext cx="174" cy="35"/>
            </a:xfrm>
            <a:custGeom>
              <a:avLst/>
              <a:gdLst>
                <a:gd name="T0" fmla="*/ 0 w 105"/>
                <a:gd name="T1" fmla="*/ 120 h 30"/>
                <a:gd name="T2" fmla="*/ 320394 w 105"/>
                <a:gd name="T3" fmla="*/ 358 h 30"/>
                <a:gd name="T4" fmla="*/ 851120 w 105"/>
                <a:gd name="T5" fmla="*/ 488 h 30"/>
                <a:gd name="T6" fmla="*/ 1458024 w 105"/>
                <a:gd name="T7" fmla="*/ 560 h 30"/>
                <a:gd name="T8" fmla="*/ 2080606 w 105"/>
                <a:gd name="T9" fmla="*/ 569 h 30"/>
                <a:gd name="T10" fmla="*/ 2706298 w 105"/>
                <a:gd name="T11" fmla="*/ 585 h 30"/>
                <a:gd name="T12" fmla="*/ 3243486 w 105"/>
                <a:gd name="T13" fmla="*/ 653 h 30"/>
                <a:gd name="T14" fmla="*/ 3587389 w 105"/>
                <a:gd name="T15" fmla="*/ 746 h 30"/>
                <a:gd name="T16" fmla="*/ 3677016 w 105"/>
                <a:gd name="T17" fmla="*/ 762 h 30"/>
                <a:gd name="T18" fmla="*/ 4192184 w 105"/>
                <a:gd name="T19" fmla="*/ 653 h 30"/>
                <a:gd name="T20" fmla="*/ 3825019 w 105"/>
                <a:gd name="T21" fmla="*/ 418 h 30"/>
                <a:gd name="T22" fmla="*/ 3367531 w 105"/>
                <a:gd name="T23" fmla="*/ 307 h 30"/>
                <a:gd name="T24" fmla="*/ 2780749 w 105"/>
                <a:gd name="T25" fmla="*/ 263 h 30"/>
                <a:gd name="T26" fmla="*/ 2105818 w 105"/>
                <a:gd name="T27" fmla="*/ 259 h 30"/>
                <a:gd name="T28" fmla="*/ 1485145 w 105"/>
                <a:gd name="T29" fmla="*/ 222 h 30"/>
                <a:gd name="T30" fmla="*/ 970032 w 105"/>
                <a:gd name="T31" fmla="*/ 163 h 30"/>
                <a:gd name="T32" fmla="*/ 605611 w 105"/>
                <a:gd name="T33" fmla="*/ 103 h 30"/>
                <a:gd name="T34" fmla="*/ 530939 w 105"/>
                <a:gd name="T35" fmla="*/ 0 h 30"/>
                <a:gd name="T36" fmla="*/ 0 w 105"/>
                <a:gd name="T37" fmla="*/ 12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0"/>
                <a:gd name="T59" fmla="*/ 105 w 105"/>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0">
                  <a:moveTo>
                    <a:pt x="0" y="4"/>
                  </a:moveTo>
                  <a:lnTo>
                    <a:pt x="8" y="14"/>
                  </a:lnTo>
                  <a:lnTo>
                    <a:pt x="21" y="19"/>
                  </a:lnTo>
                  <a:lnTo>
                    <a:pt x="36" y="21"/>
                  </a:lnTo>
                  <a:lnTo>
                    <a:pt x="51" y="22"/>
                  </a:lnTo>
                  <a:lnTo>
                    <a:pt x="67" y="23"/>
                  </a:lnTo>
                  <a:lnTo>
                    <a:pt x="80" y="25"/>
                  </a:lnTo>
                  <a:lnTo>
                    <a:pt x="89" y="28"/>
                  </a:lnTo>
                  <a:lnTo>
                    <a:pt x="91" y="29"/>
                  </a:lnTo>
                  <a:lnTo>
                    <a:pt x="104" y="25"/>
                  </a:lnTo>
                  <a:lnTo>
                    <a:pt x="95" y="16"/>
                  </a:lnTo>
                  <a:lnTo>
                    <a:pt x="83" y="12"/>
                  </a:lnTo>
                  <a:lnTo>
                    <a:pt x="69" y="10"/>
                  </a:lnTo>
                  <a:lnTo>
                    <a:pt x="52" y="9"/>
                  </a:lnTo>
                  <a:lnTo>
                    <a:pt x="37" y="8"/>
                  </a:lnTo>
                  <a:lnTo>
                    <a:pt x="24" y="6"/>
                  </a:lnTo>
                  <a:lnTo>
                    <a:pt x="15"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7" name="Freeform 216">
              <a:extLst>
                <a:ext uri="{FF2B5EF4-FFF2-40B4-BE49-F238E27FC236}">
                  <a16:creationId xmlns:a16="http://schemas.microsoft.com/office/drawing/2014/main" id="{ADA67197-5886-9C4A-B26B-4D9CBCBB2827}"/>
                </a:ext>
              </a:extLst>
            </p:cNvPr>
            <p:cNvSpPr>
              <a:spLocks/>
            </p:cNvSpPr>
            <p:nvPr/>
          </p:nvSpPr>
          <p:spPr bwMode="auto">
            <a:xfrm>
              <a:off x="2199" y="2096"/>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480180 w 83"/>
                <a:gd name="T21" fmla="*/ 1556 h 64"/>
                <a:gd name="T22" fmla="*/ 695387 w 83"/>
                <a:gd name="T23" fmla="*/ 1430 h 64"/>
                <a:gd name="T24" fmla="*/ 1133388 w 83"/>
                <a:gd name="T25" fmla="*/ 1236 h 64"/>
                <a:gd name="T26" fmla="*/ 1639289 w 83"/>
                <a:gd name="T27" fmla="*/ 1021 h 64"/>
                <a:gd name="T28" fmla="*/ 2159391 w 83"/>
                <a:gd name="T29" fmla="*/ 813 h 64"/>
                <a:gd name="T30" fmla="*/ 2603804 w 83"/>
                <a:gd name="T31" fmla="*/ 592 h 64"/>
                <a:gd name="T32" fmla="*/ 2976645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3" y="56"/>
                  </a:lnTo>
                  <a:lnTo>
                    <a:pt x="19" y="51"/>
                  </a:lnTo>
                  <a:lnTo>
                    <a:pt x="30" y="44"/>
                  </a:lnTo>
                  <a:lnTo>
                    <a:pt x="44" y="37"/>
                  </a:lnTo>
                  <a:lnTo>
                    <a:pt x="58" y="29"/>
                  </a:lnTo>
                  <a:lnTo>
                    <a:pt x="70" y="21"/>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8" name="Freeform 217">
              <a:extLst>
                <a:ext uri="{FF2B5EF4-FFF2-40B4-BE49-F238E27FC236}">
                  <a16:creationId xmlns:a16="http://schemas.microsoft.com/office/drawing/2014/main" id="{1C279334-8C81-E894-D1A3-07F766398925}"/>
                </a:ext>
              </a:extLst>
            </p:cNvPr>
            <p:cNvSpPr>
              <a:spLocks/>
            </p:cNvSpPr>
            <p:nvPr/>
          </p:nvSpPr>
          <p:spPr bwMode="auto">
            <a:xfrm>
              <a:off x="2161" y="2068"/>
              <a:ext cx="175" cy="34"/>
            </a:xfrm>
            <a:custGeom>
              <a:avLst/>
              <a:gdLst>
                <a:gd name="T0" fmla="*/ 0 w 106"/>
                <a:gd name="T1" fmla="*/ 121 h 29"/>
                <a:gd name="T2" fmla="*/ 341111 w 106"/>
                <a:gd name="T3" fmla="*/ 375 h 29"/>
                <a:gd name="T4" fmla="*/ 804876 w 106"/>
                <a:gd name="T5" fmla="*/ 505 h 29"/>
                <a:gd name="T6" fmla="*/ 1328805 w 106"/>
                <a:gd name="T7" fmla="*/ 579 h 29"/>
                <a:gd name="T8" fmla="*/ 1941196 w 106"/>
                <a:gd name="T9" fmla="*/ 592 h 29"/>
                <a:gd name="T10" fmla="*/ 2534104 w 106"/>
                <a:gd name="T11" fmla="*/ 605 h 29"/>
                <a:gd name="T12" fmla="*/ 3033331 w 106"/>
                <a:gd name="T13" fmla="*/ 691 h 29"/>
                <a:gd name="T14" fmla="*/ 3369257 w 106"/>
                <a:gd name="T15" fmla="*/ 709 h 29"/>
                <a:gd name="T16" fmla="*/ 3435385 w 106"/>
                <a:gd name="T17" fmla="*/ 810 h 29"/>
                <a:gd name="T18" fmla="*/ 3917132 w 106"/>
                <a:gd name="T19" fmla="*/ 694 h 29"/>
                <a:gd name="T20" fmla="*/ 3579389 w 106"/>
                <a:gd name="T21" fmla="*/ 431 h 29"/>
                <a:gd name="T22" fmla="*/ 3136520 w 106"/>
                <a:gd name="T23" fmla="*/ 314 h 29"/>
                <a:gd name="T24" fmla="*/ 2573651 w 106"/>
                <a:gd name="T25" fmla="*/ 268 h 29"/>
                <a:gd name="T26" fmla="*/ 1984779 w 106"/>
                <a:gd name="T27" fmla="*/ 229 h 29"/>
                <a:gd name="T28" fmla="*/ 1389091 w 106"/>
                <a:gd name="T29" fmla="*/ 195 h 29"/>
                <a:gd name="T30" fmla="*/ 904506 w 106"/>
                <a:gd name="T31" fmla="*/ 142 h 29"/>
                <a:gd name="T32" fmla="*/ 563155 w 106"/>
                <a:gd name="T33" fmla="*/ 2 h 29"/>
                <a:gd name="T34" fmla="*/ 481815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9" y="14"/>
                  </a:lnTo>
                  <a:lnTo>
                    <a:pt x="22" y="18"/>
                  </a:lnTo>
                  <a:lnTo>
                    <a:pt x="36" y="20"/>
                  </a:lnTo>
                  <a:lnTo>
                    <a:pt x="52" y="21"/>
                  </a:lnTo>
                  <a:lnTo>
                    <a:pt x="68" y="22"/>
                  </a:lnTo>
                  <a:lnTo>
                    <a:pt x="81" y="24"/>
                  </a:lnTo>
                  <a:lnTo>
                    <a:pt x="90" y="26"/>
                  </a:lnTo>
                  <a:lnTo>
                    <a:pt x="92" y="28"/>
                  </a:lnTo>
                  <a:lnTo>
                    <a:pt x="105" y="25"/>
                  </a:lnTo>
                  <a:lnTo>
                    <a:pt x="96" y="15"/>
                  </a:lnTo>
                  <a:lnTo>
                    <a:pt x="84" y="11"/>
                  </a:lnTo>
                  <a:lnTo>
                    <a:pt x="69" y="9"/>
                  </a:lnTo>
                  <a:lnTo>
                    <a:pt x="53" y="8"/>
                  </a:lnTo>
                  <a:lnTo>
                    <a:pt x="37" y="7"/>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99" name="Freeform 218">
              <a:extLst>
                <a:ext uri="{FF2B5EF4-FFF2-40B4-BE49-F238E27FC236}">
                  <a16:creationId xmlns:a16="http://schemas.microsoft.com/office/drawing/2014/main" id="{503EB19A-F7F9-F0B8-E51E-0B54EF2D28B4}"/>
                </a:ext>
              </a:extLst>
            </p:cNvPr>
            <p:cNvSpPr>
              <a:spLocks/>
            </p:cNvSpPr>
            <p:nvPr/>
          </p:nvSpPr>
          <p:spPr bwMode="auto">
            <a:xfrm>
              <a:off x="2161" y="2000"/>
              <a:ext cx="136" cy="74"/>
            </a:xfrm>
            <a:custGeom>
              <a:avLst/>
              <a:gdLst>
                <a:gd name="T0" fmla="*/ 2793281 w 82"/>
                <a:gd name="T1" fmla="*/ 3 h 64"/>
                <a:gd name="T2" fmla="*/ 2707123 w 82"/>
                <a:gd name="T3" fmla="*/ 108 h 64"/>
                <a:gd name="T4" fmla="*/ 2517775 w 82"/>
                <a:gd name="T5" fmla="*/ 243 h 64"/>
                <a:gd name="T6" fmla="*/ 2065016 w 82"/>
                <a:gd name="T7" fmla="*/ 383 h 64"/>
                <a:gd name="T8" fmla="*/ 1518070 w 82"/>
                <a:gd name="T9" fmla="*/ 535 h 64"/>
                <a:gd name="T10" fmla="*/ 934081 w 82"/>
                <a:gd name="T11" fmla="*/ 690 h 64"/>
                <a:gd name="T12" fmla="*/ 452635 w 82"/>
                <a:gd name="T13" fmla="*/ 845 h 64"/>
                <a:gd name="T14" fmla="*/ 71808 w 82"/>
                <a:gd name="T15" fmla="*/ 1059 h 64"/>
                <a:gd name="T16" fmla="*/ 0 w 82"/>
                <a:gd name="T17" fmla="*/ 1319 h 64"/>
                <a:gd name="T18" fmla="*/ 543340 w 82"/>
                <a:gd name="T19" fmla="*/ 1234 h 64"/>
                <a:gd name="T20" fmla="*/ 563196 w 82"/>
                <a:gd name="T21" fmla="*/ 1204 h 64"/>
                <a:gd name="T22" fmla="*/ 819581 w 82"/>
                <a:gd name="T23" fmla="*/ 1067 h 64"/>
                <a:gd name="T24" fmla="*/ 1245083 w 82"/>
                <a:gd name="T25" fmla="*/ 923 h 64"/>
                <a:gd name="T26" fmla="*/ 1809896 w 82"/>
                <a:gd name="T27" fmla="*/ 792 h 64"/>
                <a:gd name="T28" fmla="*/ 2364446 w 82"/>
                <a:gd name="T29" fmla="*/ 619 h 64"/>
                <a:gd name="T30" fmla="*/ 2866162 w 82"/>
                <a:gd name="T31" fmla="*/ 463 h 64"/>
                <a:gd name="T32" fmla="*/ 3201544 w 82"/>
                <a:gd name="T33" fmla="*/ 259 h 64"/>
                <a:gd name="T34" fmla="*/ 3316748 w 82"/>
                <a:gd name="T35" fmla="*/ 0 h 64"/>
                <a:gd name="T36" fmla="*/ 2793281 w 82"/>
                <a:gd name="T37" fmla="*/ 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3"/>
                  </a:moveTo>
                  <a:lnTo>
                    <a:pt x="66" y="5"/>
                  </a:lnTo>
                  <a:lnTo>
                    <a:pt x="61" y="11"/>
                  </a:lnTo>
                  <a:lnTo>
                    <a:pt x="50" y="18"/>
                  </a:lnTo>
                  <a:lnTo>
                    <a:pt x="37" y="25"/>
                  </a:lnTo>
                  <a:lnTo>
                    <a:pt x="23" y="33"/>
                  </a:lnTo>
                  <a:lnTo>
                    <a:pt x="11" y="41"/>
                  </a:lnTo>
                  <a:lnTo>
                    <a:pt x="2" y="50"/>
                  </a:lnTo>
                  <a:lnTo>
                    <a:pt x="0" y="63"/>
                  </a:lnTo>
                  <a:lnTo>
                    <a:pt x="13" y="59"/>
                  </a:lnTo>
                  <a:lnTo>
                    <a:pt x="14" y="57"/>
                  </a:lnTo>
                  <a:lnTo>
                    <a:pt x="20" y="51"/>
                  </a:lnTo>
                  <a:lnTo>
                    <a:pt x="30" y="44"/>
                  </a:lnTo>
                  <a:lnTo>
                    <a:pt x="44" y="37"/>
                  </a:lnTo>
                  <a:lnTo>
                    <a:pt x="57" y="29"/>
                  </a:lnTo>
                  <a:lnTo>
                    <a:pt x="70" y="22"/>
                  </a:lnTo>
                  <a:lnTo>
                    <a:pt x="78" y="12"/>
                  </a:lnTo>
                  <a:lnTo>
                    <a:pt x="81" y="0"/>
                  </a:lnTo>
                  <a:lnTo>
                    <a:pt x="68"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0" name="Freeform 219">
              <a:extLst>
                <a:ext uri="{FF2B5EF4-FFF2-40B4-BE49-F238E27FC236}">
                  <a16:creationId xmlns:a16="http://schemas.microsoft.com/office/drawing/2014/main" id="{2B49DED8-FA25-853E-C582-93ABB54E3E9A}"/>
                </a:ext>
              </a:extLst>
            </p:cNvPr>
            <p:cNvSpPr>
              <a:spLocks/>
            </p:cNvSpPr>
            <p:nvPr/>
          </p:nvSpPr>
          <p:spPr bwMode="auto">
            <a:xfrm>
              <a:off x="2274" y="2000"/>
              <a:ext cx="23" cy="6"/>
            </a:xfrm>
            <a:custGeom>
              <a:avLst/>
              <a:gdLst>
                <a:gd name="T0" fmla="*/ 0 w 14"/>
                <a:gd name="T1" fmla="*/ 179 h 5"/>
                <a:gd name="T2" fmla="*/ 200264 w 14"/>
                <a:gd name="T3" fmla="*/ 2 h 5"/>
                <a:gd name="T4" fmla="*/ 439537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1" name="Freeform 220">
              <a:extLst>
                <a:ext uri="{FF2B5EF4-FFF2-40B4-BE49-F238E27FC236}">
                  <a16:creationId xmlns:a16="http://schemas.microsoft.com/office/drawing/2014/main" id="{0FE542B6-9839-69CF-73E5-47C6E3AC6732}"/>
                </a:ext>
              </a:extLst>
            </p:cNvPr>
            <p:cNvSpPr>
              <a:spLocks/>
            </p:cNvSpPr>
            <p:nvPr/>
          </p:nvSpPr>
          <p:spPr bwMode="auto">
            <a:xfrm>
              <a:off x="2122" y="1972"/>
              <a:ext cx="175" cy="34"/>
            </a:xfrm>
            <a:custGeom>
              <a:avLst/>
              <a:gdLst>
                <a:gd name="T0" fmla="*/ 0 w 106"/>
                <a:gd name="T1" fmla="*/ 61 h 30"/>
                <a:gd name="T2" fmla="*/ 291842 w 106"/>
                <a:gd name="T3" fmla="*/ 186 h 30"/>
                <a:gd name="T4" fmla="*/ 795449 w 106"/>
                <a:gd name="T5" fmla="*/ 239 h 30"/>
                <a:gd name="T6" fmla="*/ 1328805 w 106"/>
                <a:gd name="T7" fmla="*/ 271 h 30"/>
                <a:gd name="T8" fmla="*/ 1899835 w 106"/>
                <a:gd name="T9" fmla="*/ 298 h 30"/>
                <a:gd name="T10" fmla="*/ 2534104 w 106"/>
                <a:gd name="T11" fmla="*/ 299 h 30"/>
                <a:gd name="T12" fmla="*/ 3033331 w 106"/>
                <a:gd name="T13" fmla="*/ 307 h 30"/>
                <a:gd name="T14" fmla="*/ 3328313 w 106"/>
                <a:gd name="T15" fmla="*/ 348 h 30"/>
                <a:gd name="T16" fmla="*/ 3435385 w 106"/>
                <a:gd name="T17" fmla="*/ 394 h 30"/>
                <a:gd name="T18" fmla="*/ 3917132 w 106"/>
                <a:gd name="T19" fmla="*/ 339 h 30"/>
                <a:gd name="T20" fmla="*/ 3621810 w 106"/>
                <a:gd name="T21" fmla="*/ 206 h 30"/>
                <a:gd name="T22" fmla="*/ 3097518 w 106"/>
                <a:gd name="T23" fmla="*/ 128 h 30"/>
                <a:gd name="T24" fmla="*/ 2573651 w 106"/>
                <a:gd name="T25" fmla="*/ 113 h 30"/>
                <a:gd name="T26" fmla="*/ 1984779 w 106"/>
                <a:gd name="T27" fmla="*/ 100 h 30"/>
                <a:gd name="T28" fmla="*/ 1389091 w 106"/>
                <a:gd name="T29" fmla="*/ 88 h 30"/>
                <a:gd name="T30" fmla="*/ 864949 w 106"/>
                <a:gd name="T31" fmla="*/ 69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1" y="21"/>
                  </a:lnTo>
                  <a:lnTo>
                    <a:pt x="68" y="22"/>
                  </a:lnTo>
                  <a:lnTo>
                    <a:pt x="81" y="23"/>
                  </a:lnTo>
                  <a:lnTo>
                    <a:pt x="89" y="26"/>
                  </a:lnTo>
                  <a:lnTo>
                    <a:pt x="92" y="29"/>
                  </a:lnTo>
                  <a:lnTo>
                    <a:pt x="105" y="25"/>
                  </a:lnTo>
                  <a:lnTo>
                    <a:pt x="97" y="15"/>
                  </a:lnTo>
                  <a:lnTo>
                    <a:pt x="83" y="10"/>
                  </a:lnTo>
                  <a:lnTo>
                    <a:pt x="69" y="9"/>
                  </a:lnTo>
                  <a:lnTo>
                    <a:pt x="53" y="8"/>
                  </a:lnTo>
                  <a:lnTo>
                    <a:pt x="37"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2" name="Freeform 221">
              <a:extLst>
                <a:ext uri="{FF2B5EF4-FFF2-40B4-BE49-F238E27FC236}">
                  <a16:creationId xmlns:a16="http://schemas.microsoft.com/office/drawing/2014/main" id="{B2D0E3C9-92F0-BA31-B111-755452AD8E69}"/>
                </a:ext>
              </a:extLst>
            </p:cNvPr>
            <p:cNvSpPr>
              <a:spLocks/>
            </p:cNvSpPr>
            <p:nvPr/>
          </p:nvSpPr>
          <p:spPr bwMode="auto">
            <a:xfrm>
              <a:off x="2122" y="1904"/>
              <a:ext cx="137" cy="73"/>
            </a:xfrm>
            <a:custGeom>
              <a:avLst/>
              <a:gdLst>
                <a:gd name="T0" fmla="*/ 2566051 w 83"/>
                <a:gd name="T1" fmla="*/ 94 h 63"/>
                <a:gd name="T2" fmla="*/ 2519400 w 83"/>
                <a:gd name="T3" fmla="*/ 146 h 63"/>
                <a:gd name="T4" fmla="*/ 2289995 w 83"/>
                <a:gd name="T5" fmla="*/ 263 h 63"/>
                <a:gd name="T6" fmla="*/ 1894573 w 83"/>
                <a:gd name="T7" fmla="*/ 409 h 63"/>
                <a:gd name="T8" fmla="*/ 1423684 w 83"/>
                <a:gd name="T9" fmla="*/ 594 h 63"/>
                <a:gd name="T10" fmla="*/ 901473 w 83"/>
                <a:gd name="T11" fmla="*/ 732 h 63"/>
                <a:gd name="T12" fmla="*/ 446998 w 83"/>
                <a:gd name="T13" fmla="*/ 860 h 63"/>
                <a:gd name="T14" fmla="*/ 64690 w 83"/>
                <a:gd name="T15" fmla="*/ 1078 h 63"/>
                <a:gd name="T16" fmla="*/ 0 w 83"/>
                <a:gd name="T17" fmla="*/ 1362 h 63"/>
                <a:gd name="T18" fmla="*/ 480180 w 83"/>
                <a:gd name="T19" fmla="*/ 1283 h 63"/>
                <a:gd name="T20" fmla="*/ 522551 w 83"/>
                <a:gd name="T21" fmla="*/ 1249 h 63"/>
                <a:gd name="T22" fmla="*/ 737816 w 83"/>
                <a:gd name="T23" fmla="*/ 1139 h 63"/>
                <a:gd name="T24" fmla="*/ 1147807 w 83"/>
                <a:gd name="T25" fmla="*/ 990 h 63"/>
                <a:gd name="T26" fmla="*/ 1639289 w 83"/>
                <a:gd name="T27" fmla="*/ 848 h 63"/>
                <a:gd name="T28" fmla="*/ 2159391 w 83"/>
                <a:gd name="T29" fmla="*/ 693 h 63"/>
                <a:gd name="T30" fmla="*/ 2603804 w 83"/>
                <a:gd name="T31" fmla="*/ 516 h 63"/>
                <a:gd name="T32" fmla="*/ 2976645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7"/>
                  </a:lnTo>
                  <a:lnTo>
                    <a:pt x="62" y="12"/>
                  </a:lnTo>
                  <a:lnTo>
                    <a:pt x="51" y="19"/>
                  </a:lnTo>
                  <a:lnTo>
                    <a:pt x="38" y="26"/>
                  </a:lnTo>
                  <a:lnTo>
                    <a:pt x="24" y="33"/>
                  </a:lnTo>
                  <a:lnTo>
                    <a:pt x="12" y="40"/>
                  </a:lnTo>
                  <a:lnTo>
                    <a:pt x="2" y="49"/>
                  </a:lnTo>
                  <a:lnTo>
                    <a:pt x="0" y="62"/>
                  </a:lnTo>
                  <a:lnTo>
                    <a:pt x="13" y="58"/>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3" name="Freeform 222">
              <a:extLst>
                <a:ext uri="{FF2B5EF4-FFF2-40B4-BE49-F238E27FC236}">
                  <a16:creationId xmlns:a16="http://schemas.microsoft.com/office/drawing/2014/main" id="{5AF3712F-CDF2-A6B4-BAB3-C9EB1280C6EE}"/>
                </a:ext>
              </a:extLst>
            </p:cNvPr>
            <p:cNvSpPr>
              <a:spLocks/>
            </p:cNvSpPr>
            <p:nvPr/>
          </p:nvSpPr>
          <p:spPr bwMode="auto">
            <a:xfrm>
              <a:off x="2087" y="1877"/>
              <a:ext cx="172" cy="33"/>
            </a:xfrm>
            <a:custGeom>
              <a:avLst/>
              <a:gdLst>
                <a:gd name="T0" fmla="*/ 0 w 105"/>
                <a:gd name="T1" fmla="*/ 68 h 29"/>
                <a:gd name="T2" fmla="*/ 247472 w 105"/>
                <a:gd name="T3" fmla="*/ 207 h 29"/>
                <a:gd name="T4" fmla="*/ 664056 w 105"/>
                <a:gd name="T5" fmla="*/ 247 h 29"/>
                <a:gd name="T6" fmla="*/ 1144996 w 105"/>
                <a:gd name="T7" fmla="*/ 281 h 29"/>
                <a:gd name="T8" fmla="*/ 1629916 w 105"/>
                <a:gd name="T9" fmla="*/ 306 h 29"/>
                <a:gd name="T10" fmla="*/ 2126746 w 105"/>
                <a:gd name="T11" fmla="*/ 316 h 29"/>
                <a:gd name="T12" fmla="*/ 2540392 w 105"/>
                <a:gd name="T13" fmla="*/ 348 h 29"/>
                <a:gd name="T14" fmla="*/ 2827108 w 105"/>
                <a:gd name="T15" fmla="*/ 396 h 29"/>
                <a:gd name="T16" fmla="*/ 2885372 w 105"/>
                <a:gd name="T17" fmla="*/ 414 h 29"/>
                <a:gd name="T18" fmla="*/ 3278466 w 105"/>
                <a:gd name="T19" fmla="*/ 364 h 29"/>
                <a:gd name="T20" fmla="*/ 3072431 w 105"/>
                <a:gd name="T21" fmla="*/ 207 h 29"/>
                <a:gd name="T22" fmla="*/ 2633720 w 105"/>
                <a:gd name="T23" fmla="*/ 148 h 29"/>
                <a:gd name="T24" fmla="*/ 2182239 w 105"/>
                <a:gd name="T25" fmla="*/ 114 h 29"/>
                <a:gd name="T26" fmla="*/ 1642575 w 105"/>
                <a:gd name="T27" fmla="*/ 100 h 29"/>
                <a:gd name="T28" fmla="*/ 1185358 w 105"/>
                <a:gd name="T29" fmla="*/ 88 h 29"/>
                <a:gd name="T30" fmla="*/ 737762 w 105"/>
                <a:gd name="T31" fmla="*/ 68 h 29"/>
                <a:gd name="T32" fmla="*/ 483836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7"/>
                  </a:lnTo>
                  <a:lnTo>
                    <a:pt x="36" y="19"/>
                  </a:lnTo>
                  <a:lnTo>
                    <a:pt x="51" y="20"/>
                  </a:lnTo>
                  <a:lnTo>
                    <a:pt x="67" y="21"/>
                  </a:lnTo>
                  <a:lnTo>
                    <a:pt x="80" y="23"/>
                  </a:lnTo>
                  <a:lnTo>
                    <a:pt x="89" y="26"/>
                  </a:lnTo>
                  <a:lnTo>
                    <a:pt x="91" y="28"/>
                  </a:lnTo>
                  <a:lnTo>
                    <a:pt x="104" y="25"/>
                  </a:lnTo>
                  <a:lnTo>
                    <a:pt x="97" y="14"/>
                  </a:lnTo>
                  <a:lnTo>
                    <a:pt x="83" y="10"/>
                  </a:lnTo>
                  <a:lnTo>
                    <a:pt x="69" y="8"/>
                  </a:lnTo>
                  <a:lnTo>
                    <a:pt x="52" y="7"/>
                  </a:lnTo>
                  <a:lnTo>
                    <a:pt x="37" y="6"/>
                  </a:lnTo>
                  <a:lnTo>
                    <a:pt x="23" y="4"/>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4" name="Freeform 223">
              <a:extLst>
                <a:ext uri="{FF2B5EF4-FFF2-40B4-BE49-F238E27FC236}">
                  <a16:creationId xmlns:a16="http://schemas.microsoft.com/office/drawing/2014/main" id="{3C0C8DF6-5D6F-A11B-3CEC-1E41332CF46F}"/>
                </a:ext>
              </a:extLst>
            </p:cNvPr>
            <p:cNvSpPr>
              <a:spLocks/>
            </p:cNvSpPr>
            <p:nvPr/>
          </p:nvSpPr>
          <p:spPr bwMode="auto">
            <a:xfrm>
              <a:off x="2087" y="1814"/>
              <a:ext cx="137" cy="68"/>
            </a:xfrm>
            <a:custGeom>
              <a:avLst/>
              <a:gdLst>
                <a:gd name="T0" fmla="*/ 2001462 w 84"/>
                <a:gd name="T1" fmla="*/ 2 h 59"/>
                <a:gd name="T2" fmla="*/ 2001462 w 84"/>
                <a:gd name="T3" fmla="*/ 89 h 59"/>
                <a:gd name="T4" fmla="*/ 2001462 w 84"/>
                <a:gd name="T5" fmla="*/ 3 h 59"/>
                <a:gd name="T6" fmla="*/ 1794923 w 84"/>
                <a:gd name="T7" fmla="*/ 158 h 59"/>
                <a:gd name="T8" fmla="*/ 1469261 w 84"/>
                <a:gd name="T9" fmla="*/ 279 h 59"/>
                <a:gd name="T10" fmla="*/ 1068825 w 84"/>
                <a:gd name="T11" fmla="*/ 428 h 59"/>
                <a:gd name="T12" fmla="*/ 694386 w 84"/>
                <a:gd name="T13" fmla="*/ 568 h 59"/>
                <a:gd name="T14" fmla="*/ 361054 w 84"/>
                <a:gd name="T15" fmla="*/ 690 h 59"/>
                <a:gd name="T16" fmla="*/ 52112 w 84"/>
                <a:gd name="T17" fmla="*/ 896 h 59"/>
                <a:gd name="T18" fmla="*/ 0 w 84"/>
                <a:gd name="T19" fmla="*/ 1156 h 59"/>
                <a:gd name="T20" fmla="*/ 368724 w 84"/>
                <a:gd name="T21" fmla="*/ 1056 h 59"/>
                <a:gd name="T22" fmla="*/ 368724 w 84"/>
                <a:gd name="T23" fmla="*/ 1040 h 59"/>
                <a:gd name="T24" fmla="*/ 552353 w 84"/>
                <a:gd name="T25" fmla="*/ 916 h 59"/>
                <a:gd name="T26" fmla="*/ 866412 w 84"/>
                <a:gd name="T27" fmla="*/ 783 h 59"/>
                <a:gd name="T28" fmla="*/ 1239155 w 84"/>
                <a:gd name="T29" fmla="*/ 656 h 59"/>
                <a:gd name="T30" fmla="*/ 1688734 w 84"/>
                <a:gd name="T31" fmla="*/ 511 h 59"/>
                <a:gd name="T32" fmla="*/ 2021003 w 84"/>
                <a:gd name="T33" fmla="*/ 391 h 59"/>
                <a:gd name="T34" fmla="*/ 2280138 w 84"/>
                <a:gd name="T35" fmla="*/ 242 h 59"/>
                <a:gd name="T36" fmla="*/ 2378982 w 84"/>
                <a:gd name="T37" fmla="*/ 0 h 59"/>
                <a:gd name="T38" fmla="*/ 2396295 w 84"/>
                <a:gd name="T39" fmla="*/ 2 h 59"/>
                <a:gd name="T40" fmla="*/ 2001462 w 84"/>
                <a:gd name="T41" fmla="*/ 2 h 59"/>
                <a:gd name="T42" fmla="*/ 2001462 w 84"/>
                <a:gd name="T43" fmla="*/ 3 h 59"/>
                <a:gd name="T44" fmla="*/ 2001462 w 84"/>
                <a:gd name="T45" fmla="*/ 89 h 59"/>
                <a:gd name="T46" fmla="*/ 2001462 w 84"/>
                <a:gd name="T47" fmla="*/ 2 h 5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
                <a:gd name="T73" fmla="*/ 0 h 59"/>
                <a:gd name="T74" fmla="*/ 84 w 84"/>
                <a:gd name="T75" fmla="*/ 59 h 5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 h="59">
                  <a:moveTo>
                    <a:pt x="69" y="2"/>
                  </a:moveTo>
                  <a:lnTo>
                    <a:pt x="69" y="4"/>
                  </a:lnTo>
                  <a:lnTo>
                    <a:pt x="69" y="3"/>
                  </a:lnTo>
                  <a:lnTo>
                    <a:pt x="62" y="8"/>
                  </a:lnTo>
                  <a:lnTo>
                    <a:pt x="51" y="14"/>
                  </a:lnTo>
                  <a:lnTo>
                    <a:pt x="37" y="21"/>
                  </a:lnTo>
                  <a:lnTo>
                    <a:pt x="24" y="28"/>
                  </a:lnTo>
                  <a:lnTo>
                    <a:pt x="12" y="36"/>
                  </a:lnTo>
                  <a:lnTo>
                    <a:pt x="2" y="45"/>
                  </a:lnTo>
                  <a:lnTo>
                    <a:pt x="0" y="58"/>
                  </a:lnTo>
                  <a:lnTo>
                    <a:pt x="13" y="54"/>
                  </a:lnTo>
                  <a:lnTo>
                    <a:pt x="13" y="53"/>
                  </a:lnTo>
                  <a:lnTo>
                    <a:pt x="19" y="47"/>
                  </a:lnTo>
                  <a:lnTo>
                    <a:pt x="30" y="40"/>
                  </a:lnTo>
                  <a:lnTo>
                    <a:pt x="43" y="33"/>
                  </a:lnTo>
                  <a:lnTo>
                    <a:pt x="58" y="26"/>
                  </a:lnTo>
                  <a:lnTo>
                    <a:pt x="70" y="20"/>
                  </a:lnTo>
                  <a:lnTo>
                    <a:pt x="79" y="12"/>
                  </a:lnTo>
                  <a:lnTo>
                    <a:pt x="82" y="0"/>
                  </a:lnTo>
                  <a:lnTo>
                    <a:pt x="83" y="2"/>
                  </a:lnTo>
                  <a:lnTo>
                    <a:pt x="69" y="2"/>
                  </a:lnTo>
                  <a:lnTo>
                    <a:pt x="69" y="3"/>
                  </a:lnTo>
                  <a:lnTo>
                    <a:pt x="69" y="4"/>
                  </a:lnTo>
                  <a:lnTo>
                    <a:pt x="69" y="2"/>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5" name="Freeform 224">
              <a:extLst>
                <a:ext uri="{FF2B5EF4-FFF2-40B4-BE49-F238E27FC236}">
                  <a16:creationId xmlns:a16="http://schemas.microsoft.com/office/drawing/2014/main" id="{ABE510FC-76B8-4B0C-F636-24F0A191987A}"/>
                </a:ext>
              </a:extLst>
            </p:cNvPr>
            <p:cNvSpPr>
              <a:spLocks/>
            </p:cNvSpPr>
            <p:nvPr/>
          </p:nvSpPr>
          <p:spPr bwMode="auto">
            <a:xfrm>
              <a:off x="2199" y="1812"/>
              <a:ext cx="25" cy="6"/>
            </a:xfrm>
            <a:custGeom>
              <a:avLst/>
              <a:gdLst>
                <a:gd name="T0" fmla="*/ 0 w 15"/>
                <a:gd name="T1" fmla="*/ 179 h 5"/>
                <a:gd name="T2" fmla="*/ 0 w 15"/>
                <a:gd name="T3" fmla="*/ 2 h 5"/>
                <a:gd name="T4" fmla="*/ 0 w 15"/>
                <a:gd name="T5" fmla="*/ 179 h 5"/>
                <a:gd name="T6" fmla="*/ 621467 w 15"/>
                <a:gd name="T7" fmla="*/ 179 h 5"/>
                <a:gd name="T8" fmla="*/ 621467 w 15"/>
                <a:gd name="T9" fmla="*/ 2 h 5"/>
                <a:gd name="T10" fmla="*/ 609953 w 15"/>
                <a:gd name="T11" fmla="*/ 0 h 5"/>
                <a:gd name="T12" fmla="*/ 621467 w 15"/>
                <a:gd name="T13" fmla="*/ 2 h 5"/>
                <a:gd name="T14" fmla="*/ 621467 w 15"/>
                <a:gd name="T15" fmla="*/ 1 h 5"/>
                <a:gd name="T16" fmla="*/ 609953 w 15"/>
                <a:gd name="T17" fmla="*/ 0 h 5"/>
                <a:gd name="T18" fmla="*/ 0 w 15"/>
                <a:gd name="T19" fmla="*/ 179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0" y="4"/>
                  </a:moveTo>
                  <a:lnTo>
                    <a:pt x="0" y="2"/>
                  </a:lnTo>
                  <a:lnTo>
                    <a:pt x="0" y="4"/>
                  </a:lnTo>
                  <a:lnTo>
                    <a:pt x="14" y="4"/>
                  </a:lnTo>
                  <a:lnTo>
                    <a:pt x="14" y="2"/>
                  </a:lnTo>
                  <a:lnTo>
                    <a:pt x="13" y="0"/>
                  </a:lnTo>
                  <a:lnTo>
                    <a:pt x="14" y="2"/>
                  </a:lnTo>
                  <a:lnTo>
                    <a:pt x="14" y="1"/>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6" name="Freeform 225">
              <a:extLst>
                <a:ext uri="{FF2B5EF4-FFF2-40B4-BE49-F238E27FC236}">
                  <a16:creationId xmlns:a16="http://schemas.microsoft.com/office/drawing/2014/main" id="{1CFEB8C1-AC9D-9AFC-70D8-3DBF0A246DA5}"/>
                </a:ext>
              </a:extLst>
            </p:cNvPr>
            <p:cNvSpPr>
              <a:spLocks/>
            </p:cNvSpPr>
            <p:nvPr/>
          </p:nvSpPr>
          <p:spPr bwMode="auto">
            <a:xfrm>
              <a:off x="2051" y="1784"/>
              <a:ext cx="173" cy="34"/>
            </a:xfrm>
            <a:custGeom>
              <a:avLst/>
              <a:gdLst>
                <a:gd name="T0" fmla="*/ 0 w 105"/>
                <a:gd name="T1" fmla="*/ 103 h 29"/>
                <a:gd name="T2" fmla="*/ 282272 w 105"/>
                <a:gd name="T3" fmla="*/ 375 h 29"/>
                <a:gd name="T4" fmla="*/ 766270 w 105"/>
                <a:gd name="T5" fmla="*/ 505 h 29"/>
                <a:gd name="T6" fmla="*/ 1283006 w 105"/>
                <a:gd name="T7" fmla="*/ 579 h 29"/>
                <a:gd name="T8" fmla="*/ 1816719 w 105"/>
                <a:gd name="T9" fmla="*/ 605 h 29"/>
                <a:gd name="T10" fmla="*/ 2445765 w 105"/>
                <a:gd name="T11" fmla="*/ 605 h 29"/>
                <a:gd name="T12" fmla="*/ 2890764 w 105"/>
                <a:gd name="T13" fmla="*/ 691 h 29"/>
                <a:gd name="T14" fmla="*/ 3191916 w 105"/>
                <a:gd name="T15" fmla="*/ 796 h 29"/>
                <a:gd name="T16" fmla="*/ 3261172 w 105"/>
                <a:gd name="T17" fmla="*/ 810 h 29"/>
                <a:gd name="T18" fmla="*/ 3721278 w 105"/>
                <a:gd name="T19" fmla="*/ 691 h 29"/>
                <a:gd name="T20" fmla="*/ 3427301 w 105"/>
                <a:gd name="T21" fmla="*/ 431 h 29"/>
                <a:gd name="T22" fmla="*/ 2979100 w 105"/>
                <a:gd name="T23" fmla="*/ 314 h 29"/>
                <a:gd name="T24" fmla="*/ 2482473 w 105"/>
                <a:gd name="T25" fmla="*/ 268 h 29"/>
                <a:gd name="T26" fmla="*/ 1890361 w 105"/>
                <a:gd name="T27" fmla="*/ 268 h 29"/>
                <a:gd name="T28" fmla="*/ 1329942 w 105"/>
                <a:gd name="T29" fmla="*/ 195 h 29"/>
                <a:gd name="T30" fmla="*/ 875703 w 105"/>
                <a:gd name="T31" fmla="*/ 142 h 29"/>
                <a:gd name="T32" fmla="*/ 569066 w 105"/>
                <a:gd name="T33" fmla="*/ 2 h 29"/>
                <a:gd name="T34" fmla="*/ 465077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4"/>
                  </a:lnTo>
                  <a:lnTo>
                    <a:pt x="21" y="18"/>
                  </a:lnTo>
                  <a:lnTo>
                    <a:pt x="36" y="20"/>
                  </a:lnTo>
                  <a:lnTo>
                    <a:pt x="51" y="22"/>
                  </a:lnTo>
                  <a:lnTo>
                    <a:pt x="68" y="22"/>
                  </a:lnTo>
                  <a:lnTo>
                    <a:pt x="81" y="24"/>
                  </a:lnTo>
                  <a:lnTo>
                    <a:pt x="89" y="27"/>
                  </a:lnTo>
                  <a:lnTo>
                    <a:pt x="91" y="28"/>
                  </a:lnTo>
                  <a:lnTo>
                    <a:pt x="104" y="24"/>
                  </a:lnTo>
                  <a:lnTo>
                    <a:pt x="96" y="15"/>
                  </a:lnTo>
                  <a:lnTo>
                    <a:pt x="83" y="11"/>
                  </a:lnTo>
                  <a:lnTo>
                    <a:pt x="69" y="9"/>
                  </a:lnTo>
                  <a:lnTo>
                    <a:pt x="53" y="9"/>
                  </a:lnTo>
                  <a:lnTo>
                    <a:pt x="37" y="7"/>
                  </a:lnTo>
                  <a:lnTo>
                    <a:pt x="24"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7" name="Freeform 226">
              <a:extLst>
                <a:ext uri="{FF2B5EF4-FFF2-40B4-BE49-F238E27FC236}">
                  <a16:creationId xmlns:a16="http://schemas.microsoft.com/office/drawing/2014/main" id="{6AD68500-86CA-F5A7-4721-C33EA64A84A9}"/>
                </a:ext>
              </a:extLst>
            </p:cNvPr>
            <p:cNvSpPr>
              <a:spLocks/>
            </p:cNvSpPr>
            <p:nvPr/>
          </p:nvSpPr>
          <p:spPr bwMode="auto">
            <a:xfrm>
              <a:off x="2051" y="1717"/>
              <a:ext cx="137" cy="74"/>
            </a:xfrm>
            <a:custGeom>
              <a:avLst/>
              <a:gdLst>
                <a:gd name="T0" fmla="*/ 2566051 w 83"/>
                <a:gd name="T1" fmla="*/ 93 h 64"/>
                <a:gd name="T2" fmla="*/ 2519400 w 83"/>
                <a:gd name="T3" fmla="*/ 108 h 64"/>
                <a:gd name="T4" fmla="*/ 2289995 w 83"/>
                <a:gd name="T5" fmla="*/ 243 h 64"/>
                <a:gd name="T6" fmla="*/ 1894573 w 83"/>
                <a:gd name="T7" fmla="*/ 383 h 64"/>
                <a:gd name="T8" fmla="*/ 1385413 w 83"/>
                <a:gd name="T9" fmla="*/ 535 h 64"/>
                <a:gd name="T10" fmla="*/ 901473 w 83"/>
                <a:gd name="T11" fmla="*/ 685 h 64"/>
                <a:gd name="T12" fmla="*/ 416000 w 83"/>
                <a:gd name="T13" fmla="*/ 844 h 64"/>
                <a:gd name="T14" fmla="*/ 39192 w 83"/>
                <a:gd name="T15" fmla="*/ 1059 h 64"/>
                <a:gd name="T16" fmla="*/ 0 w 83"/>
                <a:gd name="T17" fmla="*/ 1319 h 64"/>
                <a:gd name="T18" fmla="*/ 480180 w 83"/>
                <a:gd name="T19" fmla="*/ 1234 h 64"/>
                <a:gd name="T20" fmla="*/ 480180 w 83"/>
                <a:gd name="T21" fmla="*/ 1190 h 64"/>
                <a:gd name="T22" fmla="*/ 695387 w 83"/>
                <a:gd name="T23" fmla="*/ 1067 h 64"/>
                <a:gd name="T24" fmla="*/ 1133388 w 83"/>
                <a:gd name="T25" fmla="*/ 923 h 64"/>
                <a:gd name="T26" fmla="*/ 1639289 w 83"/>
                <a:gd name="T27" fmla="*/ 792 h 64"/>
                <a:gd name="T28" fmla="*/ 2118581 w 83"/>
                <a:gd name="T29" fmla="*/ 619 h 64"/>
                <a:gd name="T30" fmla="*/ 2603804 w 83"/>
                <a:gd name="T31" fmla="*/ 463 h 64"/>
                <a:gd name="T32" fmla="*/ 2935213 w 83"/>
                <a:gd name="T33" fmla="*/ 281 h 64"/>
                <a:gd name="T34" fmla="*/ 3041930 w 83"/>
                <a:gd name="T35" fmla="*/ 0 h 64"/>
                <a:gd name="T36" fmla="*/ 2566051 w 83"/>
                <a:gd name="T37" fmla="*/ 9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7" y="25"/>
                  </a:lnTo>
                  <a:lnTo>
                    <a:pt x="24" y="32"/>
                  </a:lnTo>
                  <a:lnTo>
                    <a:pt x="11" y="40"/>
                  </a:lnTo>
                  <a:lnTo>
                    <a:pt x="1" y="50"/>
                  </a:lnTo>
                  <a:lnTo>
                    <a:pt x="0" y="63"/>
                  </a:lnTo>
                  <a:lnTo>
                    <a:pt x="13" y="59"/>
                  </a:lnTo>
                  <a:lnTo>
                    <a:pt x="13" y="56"/>
                  </a:lnTo>
                  <a:lnTo>
                    <a:pt x="19" y="51"/>
                  </a:lnTo>
                  <a:lnTo>
                    <a:pt x="30" y="44"/>
                  </a:lnTo>
                  <a:lnTo>
                    <a:pt x="44" y="37"/>
                  </a:lnTo>
                  <a:lnTo>
                    <a:pt x="57"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8" name="Freeform 227">
              <a:extLst>
                <a:ext uri="{FF2B5EF4-FFF2-40B4-BE49-F238E27FC236}">
                  <a16:creationId xmlns:a16="http://schemas.microsoft.com/office/drawing/2014/main" id="{FE38C3BF-7FC2-7C92-B97E-14233191C756}"/>
                </a:ext>
              </a:extLst>
            </p:cNvPr>
            <p:cNvSpPr>
              <a:spLocks/>
            </p:cNvSpPr>
            <p:nvPr/>
          </p:nvSpPr>
          <p:spPr bwMode="auto">
            <a:xfrm>
              <a:off x="2016" y="1690"/>
              <a:ext cx="172" cy="33"/>
            </a:xfrm>
            <a:custGeom>
              <a:avLst/>
              <a:gdLst>
                <a:gd name="T0" fmla="*/ 0 w 105"/>
                <a:gd name="T1" fmla="*/ 68 h 29"/>
                <a:gd name="T2" fmla="*/ 247472 w 105"/>
                <a:gd name="T3" fmla="*/ 207 h 29"/>
                <a:gd name="T4" fmla="*/ 664056 w 105"/>
                <a:gd name="T5" fmla="*/ 281 h 29"/>
                <a:gd name="T6" fmla="*/ 1144996 w 105"/>
                <a:gd name="T7" fmla="*/ 316 h 29"/>
                <a:gd name="T8" fmla="*/ 1642575 w 105"/>
                <a:gd name="T9" fmla="*/ 316 h 29"/>
                <a:gd name="T10" fmla="*/ 2126746 w 105"/>
                <a:gd name="T11" fmla="*/ 320 h 29"/>
                <a:gd name="T12" fmla="*/ 2574242 w 105"/>
                <a:gd name="T13" fmla="*/ 360 h 29"/>
                <a:gd name="T14" fmla="*/ 2827108 w 105"/>
                <a:gd name="T15" fmla="*/ 410 h 29"/>
                <a:gd name="T16" fmla="*/ 2885372 w 105"/>
                <a:gd name="T17" fmla="*/ 414 h 29"/>
                <a:gd name="T18" fmla="*/ 3278466 w 105"/>
                <a:gd name="T19" fmla="*/ 364 h 29"/>
                <a:gd name="T20" fmla="*/ 3037405 w 105"/>
                <a:gd name="T21" fmla="*/ 217 h 29"/>
                <a:gd name="T22" fmla="*/ 2633720 w 105"/>
                <a:gd name="T23" fmla="*/ 168 h 29"/>
                <a:gd name="T24" fmla="*/ 2147610 w 105"/>
                <a:gd name="T25" fmla="*/ 130 h 29"/>
                <a:gd name="T26" fmla="*/ 1642575 w 105"/>
                <a:gd name="T27" fmla="*/ 114 h 29"/>
                <a:gd name="T28" fmla="*/ 1185358 w 105"/>
                <a:gd name="T29" fmla="*/ 114 h 29"/>
                <a:gd name="T30" fmla="*/ 758238 w 105"/>
                <a:gd name="T31" fmla="*/ 88 h 29"/>
                <a:gd name="T32" fmla="*/ 506031 w 105"/>
                <a:gd name="T33" fmla="*/ 2 h 29"/>
                <a:gd name="T34" fmla="*/ 405383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1" y="19"/>
                  </a:lnTo>
                  <a:lnTo>
                    <a:pt x="36" y="21"/>
                  </a:lnTo>
                  <a:lnTo>
                    <a:pt x="52" y="21"/>
                  </a:lnTo>
                  <a:lnTo>
                    <a:pt x="67" y="22"/>
                  </a:lnTo>
                  <a:lnTo>
                    <a:pt x="81" y="24"/>
                  </a:lnTo>
                  <a:lnTo>
                    <a:pt x="89" y="27"/>
                  </a:lnTo>
                  <a:lnTo>
                    <a:pt x="91" y="28"/>
                  </a:lnTo>
                  <a:lnTo>
                    <a:pt x="104" y="25"/>
                  </a:lnTo>
                  <a:lnTo>
                    <a:pt x="96" y="15"/>
                  </a:lnTo>
                  <a:lnTo>
                    <a:pt x="83" y="11"/>
                  </a:lnTo>
                  <a:lnTo>
                    <a:pt x="68" y="9"/>
                  </a:lnTo>
                  <a:lnTo>
                    <a:pt x="52" y="8"/>
                  </a:lnTo>
                  <a:lnTo>
                    <a:pt x="37" y="8"/>
                  </a:lnTo>
                  <a:lnTo>
                    <a:pt x="24" y="6"/>
                  </a:lnTo>
                  <a:lnTo>
                    <a:pt x="1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09" name="Freeform 228">
              <a:extLst>
                <a:ext uri="{FF2B5EF4-FFF2-40B4-BE49-F238E27FC236}">
                  <a16:creationId xmlns:a16="http://schemas.microsoft.com/office/drawing/2014/main" id="{5CA7266F-FC9D-C243-053B-3D406C8399B5}"/>
                </a:ext>
              </a:extLst>
            </p:cNvPr>
            <p:cNvSpPr>
              <a:spLocks/>
            </p:cNvSpPr>
            <p:nvPr/>
          </p:nvSpPr>
          <p:spPr bwMode="auto">
            <a:xfrm>
              <a:off x="2016" y="1622"/>
              <a:ext cx="136" cy="73"/>
            </a:xfrm>
            <a:custGeom>
              <a:avLst/>
              <a:gdLst>
                <a:gd name="T0" fmla="*/ 2195491 w 83"/>
                <a:gd name="T1" fmla="*/ 94 h 63"/>
                <a:gd name="T2" fmla="*/ 2160471 w 83"/>
                <a:gd name="T3" fmla="*/ 109 h 63"/>
                <a:gd name="T4" fmla="*/ 1987493 w 83"/>
                <a:gd name="T5" fmla="*/ 247 h 63"/>
                <a:gd name="T6" fmla="*/ 1636031 w 83"/>
                <a:gd name="T7" fmla="*/ 394 h 63"/>
                <a:gd name="T8" fmla="*/ 1212955 w 83"/>
                <a:gd name="T9" fmla="*/ 530 h 63"/>
                <a:gd name="T10" fmla="*/ 761179 w 83"/>
                <a:gd name="T11" fmla="*/ 693 h 63"/>
                <a:gd name="T12" fmla="*/ 389068 w 83"/>
                <a:gd name="T13" fmla="*/ 854 h 63"/>
                <a:gd name="T14" fmla="*/ 56548 w 83"/>
                <a:gd name="T15" fmla="*/ 1078 h 63"/>
                <a:gd name="T16" fmla="*/ 0 w 83"/>
                <a:gd name="T17" fmla="*/ 1362 h 63"/>
                <a:gd name="T18" fmla="*/ 407626 w 83"/>
                <a:gd name="T19" fmla="*/ 1283 h 63"/>
                <a:gd name="T20" fmla="*/ 451776 w 83"/>
                <a:gd name="T21" fmla="*/ 1219 h 63"/>
                <a:gd name="T22" fmla="*/ 609354 w 83"/>
                <a:gd name="T23" fmla="*/ 1078 h 63"/>
                <a:gd name="T24" fmla="*/ 949754 w 83"/>
                <a:gd name="T25" fmla="*/ 955 h 63"/>
                <a:gd name="T26" fmla="*/ 1398653 w 83"/>
                <a:gd name="T27" fmla="*/ 803 h 63"/>
                <a:gd name="T28" fmla="*/ 1855348 w 83"/>
                <a:gd name="T29" fmla="*/ 636 h 63"/>
                <a:gd name="T30" fmla="*/ 2232686 w 83"/>
                <a:gd name="T31" fmla="*/ 474 h 63"/>
                <a:gd name="T32" fmla="*/ 2508355 w 83"/>
                <a:gd name="T33" fmla="*/ 286 h 63"/>
                <a:gd name="T34" fmla="*/ 2609697 w 83"/>
                <a:gd name="T35" fmla="*/ 0 h 63"/>
                <a:gd name="T36" fmla="*/ 219549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8" y="5"/>
                  </a:lnTo>
                  <a:lnTo>
                    <a:pt x="62" y="11"/>
                  </a:lnTo>
                  <a:lnTo>
                    <a:pt x="51" y="18"/>
                  </a:lnTo>
                  <a:lnTo>
                    <a:pt x="38" y="24"/>
                  </a:lnTo>
                  <a:lnTo>
                    <a:pt x="24" y="31"/>
                  </a:lnTo>
                  <a:lnTo>
                    <a:pt x="12" y="39"/>
                  </a:lnTo>
                  <a:lnTo>
                    <a:pt x="2" y="49"/>
                  </a:lnTo>
                  <a:lnTo>
                    <a:pt x="0" y="62"/>
                  </a:lnTo>
                  <a:lnTo>
                    <a:pt x="13" y="58"/>
                  </a:lnTo>
                  <a:lnTo>
                    <a:pt x="14" y="55"/>
                  </a:lnTo>
                  <a:lnTo>
                    <a:pt x="19" y="49"/>
                  </a:lnTo>
                  <a:lnTo>
                    <a:pt x="30" y="43"/>
                  </a:lnTo>
                  <a:lnTo>
                    <a:pt x="44" y="36"/>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0" name="Freeform 229">
              <a:extLst>
                <a:ext uri="{FF2B5EF4-FFF2-40B4-BE49-F238E27FC236}">
                  <a16:creationId xmlns:a16="http://schemas.microsoft.com/office/drawing/2014/main" id="{A71CB525-D68E-C65B-1AC9-1E278101D198}"/>
                </a:ext>
              </a:extLst>
            </p:cNvPr>
            <p:cNvSpPr>
              <a:spLocks/>
            </p:cNvSpPr>
            <p:nvPr/>
          </p:nvSpPr>
          <p:spPr bwMode="auto">
            <a:xfrm>
              <a:off x="1979" y="1537"/>
              <a:ext cx="173" cy="91"/>
            </a:xfrm>
            <a:custGeom>
              <a:avLst/>
              <a:gdLst>
                <a:gd name="T0" fmla="*/ 504969 w 105"/>
                <a:gd name="T1" fmla="*/ 1033 h 79"/>
                <a:gd name="T2" fmla="*/ 0 w 105"/>
                <a:gd name="T3" fmla="*/ 1086 h 79"/>
                <a:gd name="T4" fmla="*/ 282272 w 105"/>
                <a:gd name="T5" fmla="*/ 1282 h 79"/>
                <a:gd name="T6" fmla="*/ 766270 w 105"/>
                <a:gd name="T7" fmla="*/ 1371 h 79"/>
                <a:gd name="T8" fmla="*/ 1329942 w 105"/>
                <a:gd name="T9" fmla="*/ 1412 h 79"/>
                <a:gd name="T10" fmla="*/ 1875692 w 105"/>
                <a:gd name="T11" fmla="*/ 1433 h 79"/>
                <a:gd name="T12" fmla="*/ 2385467 w 105"/>
                <a:gd name="T13" fmla="*/ 1433 h 79"/>
                <a:gd name="T14" fmla="*/ 2865936 w 105"/>
                <a:gd name="T15" fmla="*/ 1438 h 79"/>
                <a:gd name="T16" fmla="*/ 3191916 w 105"/>
                <a:gd name="T17" fmla="*/ 1477 h 79"/>
                <a:gd name="T18" fmla="*/ 3261172 w 105"/>
                <a:gd name="T19" fmla="*/ 1530 h 79"/>
                <a:gd name="T20" fmla="*/ 3721278 w 105"/>
                <a:gd name="T21" fmla="*/ 1438 h 79"/>
                <a:gd name="T22" fmla="*/ 3420932 w 105"/>
                <a:gd name="T23" fmla="*/ 1248 h 79"/>
                <a:gd name="T24" fmla="*/ 2979100 w 105"/>
                <a:gd name="T25" fmla="*/ 1189 h 79"/>
                <a:gd name="T26" fmla="*/ 2482473 w 105"/>
                <a:gd name="T27" fmla="*/ 1157 h 79"/>
                <a:gd name="T28" fmla="*/ 1875692 w 105"/>
                <a:gd name="T29" fmla="*/ 1147 h 79"/>
                <a:gd name="T30" fmla="*/ 1329942 w 105"/>
                <a:gd name="T31" fmla="*/ 1153 h 79"/>
                <a:gd name="T32" fmla="*/ 875703 w 105"/>
                <a:gd name="T33" fmla="*/ 1147 h 79"/>
                <a:gd name="T34" fmla="*/ 569066 w 105"/>
                <a:gd name="T35" fmla="*/ 1080 h 79"/>
                <a:gd name="T36" fmla="*/ 465077 w 105"/>
                <a:gd name="T37" fmla="*/ 1004 h 79"/>
                <a:gd name="T38" fmla="*/ 0 w 105"/>
                <a:gd name="T39" fmla="*/ 1033 h 79"/>
                <a:gd name="T40" fmla="*/ 465077 w 105"/>
                <a:gd name="T41" fmla="*/ 1004 h 79"/>
                <a:gd name="T42" fmla="*/ 0 w 105"/>
                <a:gd name="T43" fmla="*/ 0 h 79"/>
                <a:gd name="T44" fmla="*/ 0 w 105"/>
                <a:gd name="T45" fmla="*/ 1033 h 79"/>
                <a:gd name="T46" fmla="*/ 504969 w 105"/>
                <a:gd name="T47" fmla="*/ 1033 h 7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5"/>
                <a:gd name="T73" fmla="*/ 0 h 79"/>
                <a:gd name="T74" fmla="*/ 105 w 105"/>
                <a:gd name="T75" fmla="*/ 79 h 7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5" h="79">
                  <a:moveTo>
                    <a:pt x="14" y="54"/>
                  </a:moveTo>
                  <a:lnTo>
                    <a:pt x="0" y="56"/>
                  </a:lnTo>
                  <a:lnTo>
                    <a:pt x="8" y="66"/>
                  </a:lnTo>
                  <a:lnTo>
                    <a:pt x="21" y="71"/>
                  </a:lnTo>
                  <a:lnTo>
                    <a:pt x="37" y="72"/>
                  </a:lnTo>
                  <a:lnTo>
                    <a:pt x="52" y="73"/>
                  </a:lnTo>
                  <a:lnTo>
                    <a:pt x="67" y="73"/>
                  </a:lnTo>
                  <a:lnTo>
                    <a:pt x="80" y="74"/>
                  </a:lnTo>
                  <a:lnTo>
                    <a:pt x="89" y="76"/>
                  </a:lnTo>
                  <a:lnTo>
                    <a:pt x="91" y="78"/>
                  </a:lnTo>
                  <a:lnTo>
                    <a:pt x="104" y="74"/>
                  </a:lnTo>
                  <a:lnTo>
                    <a:pt x="95" y="64"/>
                  </a:lnTo>
                  <a:lnTo>
                    <a:pt x="83" y="61"/>
                  </a:lnTo>
                  <a:lnTo>
                    <a:pt x="69" y="60"/>
                  </a:lnTo>
                  <a:lnTo>
                    <a:pt x="52" y="58"/>
                  </a:lnTo>
                  <a:lnTo>
                    <a:pt x="37" y="59"/>
                  </a:lnTo>
                  <a:lnTo>
                    <a:pt x="24" y="58"/>
                  </a:lnTo>
                  <a:lnTo>
                    <a:pt x="16" y="55"/>
                  </a:lnTo>
                  <a:lnTo>
                    <a:pt x="13" y="52"/>
                  </a:lnTo>
                  <a:lnTo>
                    <a:pt x="0" y="54"/>
                  </a:lnTo>
                  <a:lnTo>
                    <a:pt x="13" y="52"/>
                  </a:lnTo>
                  <a:lnTo>
                    <a:pt x="0" y="0"/>
                  </a:lnTo>
                  <a:lnTo>
                    <a:pt x="0" y="54"/>
                  </a:lnTo>
                  <a:lnTo>
                    <a:pt x="14" y="5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1" name="Freeform 230">
              <a:extLst>
                <a:ext uri="{FF2B5EF4-FFF2-40B4-BE49-F238E27FC236}">
                  <a16:creationId xmlns:a16="http://schemas.microsoft.com/office/drawing/2014/main" id="{10F4DCC5-D693-698D-6C33-9FEB8B358F86}"/>
                </a:ext>
              </a:extLst>
            </p:cNvPr>
            <p:cNvSpPr>
              <a:spLocks/>
            </p:cNvSpPr>
            <p:nvPr/>
          </p:nvSpPr>
          <p:spPr bwMode="auto">
            <a:xfrm>
              <a:off x="1979" y="1598"/>
              <a:ext cx="25" cy="55"/>
            </a:xfrm>
            <a:custGeom>
              <a:avLst/>
              <a:gdLst>
                <a:gd name="T0" fmla="*/ 0 w 15"/>
                <a:gd name="T1" fmla="*/ 74 h 48"/>
                <a:gd name="T2" fmla="*/ 621467 w 15"/>
                <a:gd name="T3" fmla="*/ 2 h 48"/>
                <a:gd name="T4" fmla="*/ 621467 w 15"/>
                <a:gd name="T5" fmla="*/ 0 h 48"/>
                <a:gd name="T6" fmla="*/ 0 w 15"/>
                <a:gd name="T7" fmla="*/ 0 h 48"/>
                <a:gd name="T8" fmla="*/ 0 w 15"/>
                <a:gd name="T9" fmla="*/ 2 h 48"/>
                <a:gd name="T10" fmla="*/ 609953 w 15"/>
                <a:gd name="T11" fmla="*/ 0 h 48"/>
                <a:gd name="T12" fmla="*/ 0 w 15"/>
                <a:gd name="T13" fmla="*/ 74 h 48"/>
                <a:gd name="T14" fmla="*/ 621467 w 15"/>
                <a:gd name="T15" fmla="*/ 835 h 48"/>
                <a:gd name="T16" fmla="*/ 621467 w 15"/>
                <a:gd name="T17" fmla="*/ 2 h 48"/>
                <a:gd name="T18" fmla="*/ 0 w 15"/>
                <a:gd name="T19" fmla="*/ 74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48"/>
                <a:gd name="T32" fmla="*/ 15 w 15"/>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48">
                  <a:moveTo>
                    <a:pt x="0" y="4"/>
                  </a:moveTo>
                  <a:lnTo>
                    <a:pt x="14" y="2"/>
                  </a:lnTo>
                  <a:lnTo>
                    <a:pt x="14" y="0"/>
                  </a:lnTo>
                  <a:lnTo>
                    <a:pt x="0" y="0"/>
                  </a:lnTo>
                  <a:lnTo>
                    <a:pt x="0" y="2"/>
                  </a:lnTo>
                  <a:lnTo>
                    <a:pt x="13" y="0"/>
                  </a:lnTo>
                  <a:lnTo>
                    <a:pt x="0" y="4"/>
                  </a:lnTo>
                  <a:lnTo>
                    <a:pt x="14" y="47"/>
                  </a:lnTo>
                  <a:lnTo>
                    <a:pt x="14" y="2"/>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2" name="Freeform 231">
              <a:extLst>
                <a:ext uri="{FF2B5EF4-FFF2-40B4-BE49-F238E27FC236}">
                  <a16:creationId xmlns:a16="http://schemas.microsoft.com/office/drawing/2014/main" id="{465F1CDE-4888-42EB-61FC-E7376B071CEC}"/>
                </a:ext>
              </a:extLst>
            </p:cNvPr>
            <p:cNvSpPr>
              <a:spLocks/>
            </p:cNvSpPr>
            <p:nvPr/>
          </p:nvSpPr>
          <p:spPr bwMode="auto">
            <a:xfrm>
              <a:off x="1979" y="1532"/>
              <a:ext cx="139" cy="72"/>
            </a:xfrm>
            <a:custGeom>
              <a:avLst/>
              <a:gdLst>
                <a:gd name="T0" fmla="*/ 2750315 w 84"/>
                <a:gd name="T1" fmla="*/ 73 h 63"/>
                <a:gd name="T2" fmla="*/ 2707808 w 84"/>
                <a:gd name="T3" fmla="*/ 83 h 63"/>
                <a:gd name="T4" fmla="*/ 2468110 w 84"/>
                <a:gd name="T5" fmla="*/ 143 h 63"/>
                <a:gd name="T6" fmla="*/ 1992016 w 84"/>
                <a:gd name="T7" fmla="*/ 231 h 63"/>
                <a:gd name="T8" fmla="*/ 1491520 w 84"/>
                <a:gd name="T9" fmla="*/ 326 h 63"/>
                <a:gd name="T10" fmla="*/ 901350 w 84"/>
                <a:gd name="T11" fmla="*/ 450 h 63"/>
                <a:gd name="T12" fmla="*/ 399678 w 84"/>
                <a:gd name="T13" fmla="*/ 587 h 63"/>
                <a:gd name="T14" fmla="*/ 41669 w 84"/>
                <a:gd name="T15" fmla="*/ 790 h 63"/>
                <a:gd name="T16" fmla="*/ 0 w 84"/>
                <a:gd name="T17" fmla="*/ 1032 h 63"/>
                <a:gd name="T18" fmla="*/ 516999 w 84"/>
                <a:gd name="T19" fmla="*/ 951 h 63"/>
                <a:gd name="T20" fmla="*/ 544701 w 84"/>
                <a:gd name="T21" fmla="*/ 848 h 63"/>
                <a:gd name="T22" fmla="*/ 727481 w 84"/>
                <a:gd name="T23" fmla="*/ 728 h 63"/>
                <a:gd name="T24" fmla="*/ 1134836 w 84"/>
                <a:gd name="T25" fmla="*/ 637 h 63"/>
                <a:gd name="T26" fmla="*/ 1679818 w 84"/>
                <a:gd name="T27" fmla="*/ 542 h 63"/>
                <a:gd name="T28" fmla="*/ 2235062 w 84"/>
                <a:gd name="T29" fmla="*/ 450 h 63"/>
                <a:gd name="T30" fmla="*/ 2750315 w 84"/>
                <a:gd name="T31" fmla="*/ 345 h 63"/>
                <a:gd name="T32" fmla="*/ 3107449 w 84"/>
                <a:gd name="T33" fmla="*/ 202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5"/>
                  </a:lnTo>
                  <a:lnTo>
                    <a:pt x="63" y="9"/>
                  </a:lnTo>
                  <a:lnTo>
                    <a:pt x="51" y="14"/>
                  </a:lnTo>
                  <a:lnTo>
                    <a:pt x="38" y="20"/>
                  </a:lnTo>
                  <a:lnTo>
                    <a:pt x="23" y="27"/>
                  </a:lnTo>
                  <a:lnTo>
                    <a:pt x="10" y="35"/>
                  </a:lnTo>
                  <a:lnTo>
                    <a:pt x="1" y="47"/>
                  </a:lnTo>
                  <a:lnTo>
                    <a:pt x="0" y="62"/>
                  </a:lnTo>
                  <a:lnTo>
                    <a:pt x="13" y="58"/>
                  </a:lnTo>
                  <a:lnTo>
                    <a:pt x="14" y="52"/>
                  </a:lnTo>
                  <a:lnTo>
                    <a:pt x="19" y="45"/>
                  </a:lnTo>
                  <a:lnTo>
                    <a:pt x="29" y="39"/>
                  </a:lnTo>
                  <a:lnTo>
                    <a:pt x="43" y="33"/>
                  </a:lnTo>
                  <a:lnTo>
                    <a:pt x="57" y="27"/>
                  </a:lnTo>
                  <a:lnTo>
                    <a:pt x="70" y="21"/>
                  </a:lnTo>
                  <a:lnTo>
                    <a:pt x="79" y="12"/>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3" name="Freeform 232">
              <a:extLst>
                <a:ext uri="{FF2B5EF4-FFF2-40B4-BE49-F238E27FC236}">
                  <a16:creationId xmlns:a16="http://schemas.microsoft.com/office/drawing/2014/main" id="{279B4F6E-DB68-3AE9-D803-C38FD04B902E}"/>
                </a:ext>
              </a:extLst>
            </p:cNvPr>
            <p:cNvSpPr>
              <a:spLocks/>
            </p:cNvSpPr>
            <p:nvPr/>
          </p:nvSpPr>
          <p:spPr bwMode="auto">
            <a:xfrm>
              <a:off x="1943" y="1503"/>
              <a:ext cx="175" cy="34"/>
            </a:xfrm>
            <a:custGeom>
              <a:avLst/>
              <a:gdLst>
                <a:gd name="T0" fmla="*/ 0 w 106"/>
                <a:gd name="T1" fmla="*/ 61 h 30"/>
                <a:gd name="T2" fmla="*/ 291842 w 106"/>
                <a:gd name="T3" fmla="*/ 186 h 30"/>
                <a:gd name="T4" fmla="*/ 795449 w 106"/>
                <a:gd name="T5" fmla="*/ 239 h 30"/>
                <a:gd name="T6" fmla="*/ 1328805 w 106"/>
                <a:gd name="T7" fmla="*/ 271 h 30"/>
                <a:gd name="T8" fmla="*/ 1941196 w 106"/>
                <a:gd name="T9" fmla="*/ 299 h 30"/>
                <a:gd name="T10" fmla="*/ 2508326 w 106"/>
                <a:gd name="T11" fmla="*/ 299 h 30"/>
                <a:gd name="T12" fmla="*/ 3033331 w 106"/>
                <a:gd name="T13" fmla="*/ 338 h 30"/>
                <a:gd name="T14" fmla="*/ 3369257 w 106"/>
                <a:gd name="T15" fmla="*/ 383 h 30"/>
                <a:gd name="T16" fmla="*/ 3435385 w 106"/>
                <a:gd name="T17" fmla="*/ 394 h 30"/>
                <a:gd name="T18" fmla="*/ 3917132 w 106"/>
                <a:gd name="T19" fmla="*/ 339 h 30"/>
                <a:gd name="T20" fmla="*/ 3579389 w 106"/>
                <a:gd name="T21" fmla="*/ 206 h 30"/>
                <a:gd name="T22" fmla="*/ 3136520 w 106"/>
                <a:gd name="T23" fmla="*/ 145 h 30"/>
                <a:gd name="T24" fmla="*/ 2573651 w 106"/>
                <a:gd name="T25" fmla="*/ 113 h 30"/>
                <a:gd name="T26" fmla="*/ 1984779 w 106"/>
                <a:gd name="T27" fmla="*/ 113 h 30"/>
                <a:gd name="T28" fmla="*/ 1389091 w 106"/>
                <a:gd name="T29" fmla="*/ 88 h 30"/>
                <a:gd name="T30" fmla="*/ 904506 w 106"/>
                <a:gd name="T31" fmla="*/ 78 h 30"/>
                <a:gd name="T32" fmla="*/ 563155 w 106"/>
                <a:gd name="T33" fmla="*/ 2 h 30"/>
                <a:gd name="T34" fmla="*/ 481815 w 106"/>
                <a:gd name="T35" fmla="*/ 0 h 30"/>
                <a:gd name="T36" fmla="*/ 0 w 106"/>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30"/>
                <a:gd name="T59" fmla="*/ 106 w 106"/>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30">
                  <a:moveTo>
                    <a:pt x="0" y="4"/>
                  </a:moveTo>
                  <a:lnTo>
                    <a:pt x="8" y="14"/>
                  </a:lnTo>
                  <a:lnTo>
                    <a:pt x="21" y="18"/>
                  </a:lnTo>
                  <a:lnTo>
                    <a:pt x="36" y="20"/>
                  </a:lnTo>
                  <a:lnTo>
                    <a:pt x="52" y="22"/>
                  </a:lnTo>
                  <a:lnTo>
                    <a:pt x="67" y="22"/>
                  </a:lnTo>
                  <a:lnTo>
                    <a:pt x="81" y="24"/>
                  </a:lnTo>
                  <a:lnTo>
                    <a:pt x="90" y="27"/>
                  </a:lnTo>
                  <a:lnTo>
                    <a:pt x="92" y="29"/>
                  </a:lnTo>
                  <a:lnTo>
                    <a:pt x="105" y="25"/>
                  </a:lnTo>
                  <a:lnTo>
                    <a:pt x="96" y="15"/>
                  </a:lnTo>
                  <a:lnTo>
                    <a:pt x="84" y="11"/>
                  </a:lnTo>
                  <a:lnTo>
                    <a:pt x="69" y="9"/>
                  </a:lnTo>
                  <a:lnTo>
                    <a:pt x="53" y="9"/>
                  </a:lnTo>
                  <a:lnTo>
                    <a:pt x="37" y="7"/>
                  </a:lnTo>
                  <a:lnTo>
                    <a:pt x="24" y="6"/>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4" name="Freeform 233">
              <a:extLst>
                <a:ext uri="{FF2B5EF4-FFF2-40B4-BE49-F238E27FC236}">
                  <a16:creationId xmlns:a16="http://schemas.microsoft.com/office/drawing/2014/main" id="{6711B79E-5DE7-DDCC-16C6-4A8B93D4844E}"/>
                </a:ext>
              </a:extLst>
            </p:cNvPr>
            <p:cNvSpPr>
              <a:spLocks/>
            </p:cNvSpPr>
            <p:nvPr/>
          </p:nvSpPr>
          <p:spPr bwMode="auto">
            <a:xfrm>
              <a:off x="1943" y="1436"/>
              <a:ext cx="137" cy="73"/>
            </a:xfrm>
            <a:custGeom>
              <a:avLst/>
              <a:gdLst>
                <a:gd name="T0" fmla="*/ 2566051 w 83"/>
                <a:gd name="T1" fmla="*/ 94 h 63"/>
                <a:gd name="T2" fmla="*/ 2495618 w 83"/>
                <a:gd name="T3" fmla="*/ 109 h 63"/>
                <a:gd name="T4" fmla="*/ 2289995 w 83"/>
                <a:gd name="T5" fmla="*/ 247 h 63"/>
                <a:gd name="T6" fmla="*/ 1894573 w 83"/>
                <a:gd name="T7" fmla="*/ 384 h 63"/>
                <a:gd name="T8" fmla="*/ 1423684 w 83"/>
                <a:gd name="T9" fmla="*/ 549 h 63"/>
                <a:gd name="T10" fmla="*/ 901473 w 83"/>
                <a:gd name="T11" fmla="*/ 711 h 63"/>
                <a:gd name="T12" fmla="*/ 446998 w 83"/>
                <a:gd name="T13" fmla="*/ 854 h 63"/>
                <a:gd name="T14" fmla="*/ 64690 w 83"/>
                <a:gd name="T15" fmla="*/ 1078 h 63"/>
                <a:gd name="T16" fmla="*/ 0 w 83"/>
                <a:gd name="T17" fmla="*/ 1362 h 63"/>
                <a:gd name="T18" fmla="*/ 480180 w 83"/>
                <a:gd name="T19" fmla="*/ 1283 h 63"/>
                <a:gd name="T20" fmla="*/ 522551 w 83"/>
                <a:gd name="T21" fmla="*/ 1219 h 63"/>
                <a:gd name="T22" fmla="*/ 695387 w 83"/>
                <a:gd name="T23" fmla="*/ 1107 h 63"/>
                <a:gd name="T24" fmla="*/ 1133388 w 83"/>
                <a:gd name="T25" fmla="*/ 955 h 63"/>
                <a:gd name="T26" fmla="*/ 1639289 w 83"/>
                <a:gd name="T27" fmla="*/ 803 h 63"/>
                <a:gd name="T28" fmla="*/ 2159391 w 83"/>
                <a:gd name="T29" fmla="*/ 636 h 63"/>
                <a:gd name="T30" fmla="*/ 2603804 w 83"/>
                <a:gd name="T31" fmla="*/ 457 h 63"/>
                <a:gd name="T32" fmla="*/ 2935213 w 83"/>
                <a:gd name="T33" fmla="*/ 286 h 63"/>
                <a:gd name="T34" fmla="*/ 3041930 w 83"/>
                <a:gd name="T35" fmla="*/ 0 h 63"/>
                <a:gd name="T36" fmla="*/ 2566051 w 83"/>
                <a:gd name="T37" fmla="*/ 94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3"/>
                <a:gd name="T59" fmla="*/ 83 w 83"/>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3">
                  <a:moveTo>
                    <a:pt x="69" y="4"/>
                  </a:moveTo>
                  <a:lnTo>
                    <a:pt x="67" y="5"/>
                  </a:lnTo>
                  <a:lnTo>
                    <a:pt x="62" y="11"/>
                  </a:lnTo>
                  <a:lnTo>
                    <a:pt x="51" y="17"/>
                  </a:lnTo>
                  <a:lnTo>
                    <a:pt x="38" y="25"/>
                  </a:lnTo>
                  <a:lnTo>
                    <a:pt x="24" y="32"/>
                  </a:lnTo>
                  <a:lnTo>
                    <a:pt x="12" y="39"/>
                  </a:lnTo>
                  <a:lnTo>
                    <a:pt x="2" y="49"/>
                  </a:lnTo>
                  <a:lnTo>
                    <a:pt x="0" y="62"/>
                  </a:lnTo>
                  <a:lnTo>
                    <a:pt x="13" y="58"/>
                  </a:lnTo>
                  <a:lnTo>
                    <a:pt x="14" y="55"/>
                  </a:lnTo>
                  <a:lnTo>
                    <a:pt x="19" y="50"/>
                  </a:lnTo>
                  <a:lnTo>
                    <a:pt x="30" y="43"/>
                  </a:lnTo>
                  <a:lnTo>
                    <a:pt x="44" y="36"/>
                  </a:lnTo>
                  <a:lnTo>
                    <a:pt x="58" y="29"/>
                  </a:lnTo>
                  <a:lnTo>
                    <a:pt x="70" y="21"/>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715" name="Freeform 234">
              <a:extLst>
                <a:ext uri="{FF2B5EF4-FFF2-40B4-BE49-F238E27FC236}">
                  <a16:creationId xmlns:a16="http://schemas.microsoft.com/office/drawing/2014/main" id="{A22B5CF6-3453-9787-969B-E3ABD4C4684D}"/>
                </a:ext>
              </a:extLst>
            </p:cNvPr>
            <p:cNvSpPr>
              <a:spLocks/>
            </p:cNvSpPr>
            <p:nvPr/>
          </p:nvSpPr>
          <p:spPr bwMode="auto">
            <a:xfrm>
              <a:off x="2524" y="2893"/>
              <a:ext cx="119" cy="124"/>
            </a:xfrm>
            <a:custGeom>
              <a:avLst/>
              <a:gdLst>
                <a:gd name="T0" fmla="*/ 1176100 w 73"/>
                <a:gd name="T1" fmla="*/ 493 h 108"/>
                <a:gd name="T2" fmla="*/ 1917204 w 73"/>
                <a:gd name="T3" fmla="*/ 0 h 108"/>
                <a:gd name="T4" fmla="*/ 1949150 w 73"/>
                <a:gd name="T5" fmla="*/ 0 h 108"/>
                <a:gd name="T6" fmla="*/ 1865433 w 73"/>
                <a:gd name="T7" fmla="*/ 984 h 108"/>
                <a:gd name="T8" fmla="*/ 1865433 w 73"/>
                <a:gd name="T9" fmla="*/ 1106 h 108"/>
                <a:gd name="T10" fmla="*/ 1917204 w 73"/>
                <a:gd name="T11" fmla="*/ 1216 h 108"/>
                <a:gd name="T12" fmla="*/ 1917204 w 73"/>
                <a:gd name="T13" fmla="*/ 1350 h 108"/>
                <a:gd name="T14" fmla="*/ 1969315 w 73"/>
                <a:gd name="T15" fmla="*/ 1458 h 108"/>
                <a:gd name="T16" fmla="*/ 1969315 w 73"/>
                <a:gd name="T17" fmla="*/ 1594 h 108"/>
                <a:gd name="T18" fmla="*/ 2033019 w 73"/>
                <a:gd name="T19" fmla="*/ 1710 h 108"/>
                <a:gd name="T20" fmla="*/ 2033019 w 73"/>
                <a:gd name="T21" fmla="*/ 1830 h 108"/>
                <a:gd name="T22" fmla="*/ 2053024 w 73"/>
                <a:gd name="T23" fmla="*/ 1951 h 108"/>
                <a:gd name="T24" fmla="*/ 1949150 w 73"/>
                <a:gd name="T25" fmla="*/ 1840 h 108"/>
                <a:gd name="T26" fmla="*/ 1832183 w 73"/>
                <a:gd name="T27" fmla="*/ 1736 h 108"/>
                <a:gd name="T28" fmla="*/ 1723674 w 73"/>
                <a:gd name="T29" fmla="*/ 1621 h 108"/>
                <a:gd name="T30" fmla="*/ 1593263 w 73"/>
                <a:gd name="T31" fmla="*/ 1512 h 108"/>
                <a:gd name="T32" fmla="*/ 1498684 w 73"/>
                <a:gd name="T33" fmla="*/ 1427 h 108"/>
                <a:gd name="T34" fmla="*/ 1364712 w 73"/>
                <a:gd name="T35" fmla="*/ 1317 h 108"/>
                <a:gd name="T36" fmla="*/ 1259418 w 73"/>
                <a:gd name="T37" fmla="*/ 1216 h 108"/>
                <a:gd name="T38" fmla="*/ 1144341 w 73"/>
                <a:gd name="T39" fmla="*/ 1106 h 108"/>
                <a:gd name="T40" fmla="*/ 0 w 73"/>
                <a:gd name="T41" fmla="*/ 377 h 108"/>
                <a:gd name="T42" fmla="*/ 0 w 73"/>
                <a:gd name="T43" fmla="*/ 355 h 108"/>
                <a:gd name="T44" fmla="*/ 1176100 w 73"/>
                <a:gd name="T45" fmla="*/ 493 h 1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8"/>
                <a:gd name="T71" fmla="*/ 73 w 73"/>
                <a:gd name="T72" fmla="*/ 108 h 1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8">
                  <a:moveTo>
                    <a:pt x="41" y="27"/>
                  </a:moveTo>
                  <a:lnTo>
                    <a:pt x="67" y="0"/>
                  </a:lnTo>
                  <a:lnTo>
                    <a:pt x="68" y="0"/>
                  </a:lnTo>
                  <a:lnTo>
                    <a:pt x="65" y="54"/>
                  </a:lnTo>
                  <a:lnTo>
                    <a:pt x="65" y="61"/>
                  </a:lnTo>
                  <a:lnTo>
                    <a:pt x="67" y="67"/>
                  </a:lnTo>
                  <a:lnTo>
                    <a:pt x="67" y="74"/>
                  </a:lnTo>
                  <a:lnTo>
                    <a:pt x="69" y="80"/>
                  </a:lnTo>
                  <a:lnTo>
                    <a:pt x="69" y="87"/>
                  </a:lnTo>
                  <a:lnTo>
                    <a:pt x="71" y="94"/>
                  </a:lnTo>
                  <a:lnTo>
                    <a:pt x="71" y="100"/>
                  </a:lnTo>
                  <a:lnTo>
                    <a:pt x="72" y="107"/>
                  </a:lnTo>
                  <a:lnTo>
                    <a:pt x="68" y="101"/>
                  </a:lnTo>
                  <a:lnTo>
                    <a:pt x="64" y="96"/>
                  </a:lnTo>
                  <a:lnTo>
                    <a:pt x="60" y="90"/>
                  </a:lnTo>
                  <a:lnTo>
                    <a:pt x="56" y="84"/>
                  </a:lnTo>
                  <a:lnTo>
                    <a:pt x="52" y="79"/>
                  </a:lnTo>
                  <a:lnTo>
                    <a:pt x="48" y="73"/>
                  </a:lnTo>
                  <a:lnTo>
                    <a:pt x="44" y="67"/>
                  </a:lnTo>
                  <a:lnTo>
                    <a:pt x="40" y="61"/>
                  </a:lnTo>
                  <a:lnTo>
                    <a:pt x="0" y="21"/>
                  </a:lnTo>
                  <a:lnTo>
                    <a:pt x="0" y="19"/>
                  </a:lnTo>
                  <a:lnTo>
                    <a:pt x="41" y="27"/>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sp>
        <p:nvSpPr>
          <p:cNvPr id="22538" name="Freeform 235">
            <a:extLst>
              <a:ext uri="{FF2B5EF4-FFF2-40B4-BE49-F238E27FC236}">
                <a16:creationId xmlns:a16="http://schemas.microsoft.com/office/drawing/2014/main" id="{109F15CD-2C7D-A59B-6E92-D0080435C243}"/>
              </a:ext>
            </a:extLst>
          </p:cNvPr>
          <p:cNvSpPr>
            <a:spLocks/>
          </p:cNvSpPr>
          <p:nvPr/>
        </p:nvSpPr>
        <p:spPr bwMode="auto">
          <a:xfrm>
            <a:off x="10391529" y="7401765"/>
            <a:ext cx="54768" cy="2382"/>
          </a:xfrm>
          <a:custGeom>
            <a:avLst/>
            <a:gdLst>
              <a:gd name="T0" fmla="*/ 2147483646 w 16"/>
              <a:gd name="T1" fmla="*/ 0 h 1"/>
              <a:gd name="T2" fmla="*/ 2147483646 w 16"/>
              <a:gd name="T3" fmla="*/ 0 h 1"/>
              <a:gd name="T4" fmla="*/ 0 w 16"/>
              <a:gd name="T5" fmla="*/ 0 h 1"/>
              <a:gd name="T6" fmla="*/ 2147483646 w 16"/>
              <a:gd name="T7" fmla="*/ 0 h 1"/>
              <a:gd name="T8" fmla="*/ 0 60000 65536"/>
              <a:gd name="T9" fmla="*/ 0 60000 65536"/>
              <a:gd name="T10" fmla="*/ 0 60000 65536"/>
              <a:gd name="T11" fmla="*/ 0 60000 65536"/>
              <a:gd name="T12" fmla="*/ 0 w 16"/>
              <a:gd name="T13" fmla="*/ 0 h 1"/>
              <a:gd name="T14" fmla="*/ 16 w 16"/>
              <a:gd name="T15" fmla="*/ 1 h 1"/>
            </a:gdLst>
            <a:ahLst/>
            <a:cxnLst>
              <a:cxn ang="T8">
                <a:pos x="T0" y="T1"/>
              </a:cxn>
              <a:cxn ang="T9">
                <a:pos x="T2" y="T3"/>
              </a:cxn>
              <a:cxn ang="T10">
                <a:pos x="T4" y="T5"/>
              </a:cxn>
              <a:cxn ang="T11">
                <a:pos x="T6" y="T7"/>
              </a:cxn>
            </a:cxnLst>
            <a:rect l="T12" t="T13" r="T14" b="T15"/>
            <a:pathLst>
              <a:path w="16" h="1">
                <a:moveTo>
                  <a:pt x="15" y="0"/>
                </a:moveTo>
                <a:lnTo>
                  <a:pt x="7"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nvGrpSpPr>
          <p:cNvPr id="6" name="Group 236">
            <a:extLst>
              <a:ext uri="{FF2B5EF4-FFF2-40B4-BE49-F238E27FC236}">
                <a16:creationId xmlns:a16="http://schemas.microsoft.com/office/drawing/2014/main" id="{11934D4D-FCBA-840F-4C2B-96D92DA0CC2C}"/>
              </a:ext>
            </a:extLst>
          </p:cNvPr>
          <p:cNvGrpSpPr>
            <a:grpSpLocks/>
          </p:cNvGrpSpPr>
          <p:nvPr/>
        </p:nvGrpSpPr>
        <p:grpSpPr bwMode="auto">
          <a:xfrm>
            <a:off x="7043492" y="4306140"/>
            <a:ext cx="5148263" cy="4331495"/>
            <a:chOff x="2869" y="1857"/>
            <a:chExt cx="2038" cy="1995"/>
          </a:xfrm>
        </p:grpSpPr>
        <p:sp>
          <p:nvSpPr>
            <p:cNvPr id="22589" name="Freeform 237">
              <a:extLst>
                <a:ext uri="{FF2B5EF4-FFF2-40B4-BE49-F238E27FC236}">
                  <a16:creationId xmlns:a16="http://schemas.microsoft.com/office/drawing/2014/main" id="{F2E04F14-0227-9CEE-7CFA-C3A8FB16B833}"/>
                </a:ext>
              </a:extLst>
            </p:cNvPr>
            <p:cNvSpPr>
              <a:spLocks/>
            </p:cNvSpPr>
            <p:nvPr/>
          </p:nvSpPr>
          <p:spPr bwMode="auto">
            <a:xfrm>
              <a:off x="3822" y="1885"/>
              <a:ext cx="90" cy="158"/>
            </a:xfrm>
            <a:custGeom>
              <a:avLst/>
              <a:gdLst>
                <a:gd name="T0" fmla="*/ 1389 w 72"/>
                <a:gd name="T1" fmla="*/ 760 h 146"/>
                <a:gd name="T2" fmla="*/ 1451 w 72"/>
                <a:gd name="T3" fmla="*/ 717 h 146"/>
                <a:gd name="T4" fmla="*/ 1736 w 72"/>
                <a:gd name="T5" fmla="*/ 698 h 146"/>
                <a:gd name="T6" fmla="*/ 2018 w 72"/>
                <a:gd name="T7" fmla="*/ 663 h 146"/>
                <a:gd name="T8" fmla="*/ 2424 w 72"/>
                <a:gd name="T9" fmla="*/ 649 h 146"/>
                <a:gd name="T10" fmla="*/ 2805 w 72"/>
                <a:gd name="T11" fmla="*/ 637 h 146"/>
                <a:gd name="T12" fmla="*/ 3391 w 72"/>
                <a:gd name="T13" fmla="*/ 613 h 146"/>
                <a:gd name="T14" fmla="*/ 3970 w 72"/>
                <a:gd name="T15" fmla="*/ 590 h 146"/>
                <a:gd name="T16" fmla="*/ 4794 w 72"/>
                <a:gd name="T17" fmla="*/ 566 h 146"/>
                <a:gd name="T18" fmla="*/ 5360 w 72"/>
                <a:gd name="T19" fmla="*/ 536 h 146"/>
                <a:gd name="T20" fmla="*/ 6104 w 72"/>
                <a:gd name="T21" fmla="*/ 503 h 146"/>
                <a:gd name="T22" fmla="*/ 6624 w 72"/>
                <a:gd name="T23" fmla="*/ 446 h 146"/>
                <a:gd name="T24" fmla="*/ 6979 w 72"/>
                <a:gd name="T25" fmla="*/ 390 h 146"/>
                <a:gd name="T26" fmla="*/ 7350 w 72"/>
                <a:gd name="T27" fmla="*/ 317 h 146"/>
                <a:gd name="T28" fmla="*/ 7630 w 72"/>
                <a:gd name="T29" fmla="*/ 232 h 146"/>
                <a:gd name="T30" fmla="*/ 7755 w 72"/>
                <a:gd name="T31" fmla="*/ 122 h 146"/>
                <a:gd name="T32" fmla="*/ 7491 w 72"/>
                <a:gd name="T33" fmla="*/ 0 h 146"/>
                <a:gd name="T34" fmla="*/ 6104 w 72"/>
                <a:gd name="T35" fmla="*/ 1 h 146"/>
                <a:gd name="T36" fmla="*/ 6204 w 72"/>
                <a:gd name="T37" fmla="*/ 122 h 146"/>
                <a:gd name="T38" fmla="*/ 6204 w 72"/>
                <a:gd name="T39" fmla="*/ 219 h 146"/>
                <a:gd name="T40" fmla="*/ 5993 w 72"/>
                <a:gd name="T41" fmla="*/ 300 h 146"/>
                <a:gd name="T42" fmla="*/ 5650 w 72"/>
                <a:gd name="T43" fmla="*/ 371 h 146"/>
                <a:gd name="T44" fmla="*/ 5220 w 72"/>
                <a:gd name="T45" fmla="*/ 422 h 146"/>
                <a:gd name="T46" fmla="*/ 4794 w 72"/>
                <a:gd name="T47" fmla="*/ 457 h 146"/>
                <a:gd name="T48" fmla="*/ 4288 w 72"/>
                <a:gd name="T49" fmla="*/ 488 h 146"/>
                <a:gd name="T50" fmla="*/ 3845 w 72"/>
                <a:gd name="T51" fmla="*/ 512 h 146"/>
                <a:gd name="T52" fmla="*/ 3154 w 72"/>
                <a:gd name="T53" fmla="*/ 536 h 146"/>
                <a:gd name="T54" fmla="*/ 2541 w 72"/>
                <a:gd name="T55" fmla="*/ 553 h 146"/>
                <a:gd name="T56" fmla="*/ 2018 w 72"/>
                <a:gd name="T57" fmla="*/ 580 h 146"/>
                <a:gd name="T58" fmla="*/ 1389 w 72"/>
                <a:gd name="T59" fmla="*/ 598 h 146"/>
                <a:gd name="T60" fmla="*/ 744 w 72"/>
                <a:gd name="T61" fmla="*/ 637 h 146"/>
                <a:gd name="T62" fmla="*/ 338 w 72"/>
                <a:gd name="T63" fmla="*/ 663 h 146"/>
                <a:gd name="T64" fmla="*/ 1 w 72"/>
                <a:gd name="T65" fmla="*/ 707 h 146"/>
                <a:gd name="T66" fmla="*/ 0 w 72"/>
                <a:gd name="T67" fmla="*/ 760 h 146"/>
                <a:gd name="T68" fmla="*/ 1389 w 72"/>
                <a:gd name="T69" fmla="*/ 760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6"/>
                <a:gd name="T107" fmla="*/ 72 w 72"/>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6">
                  <a:moveTo>
                    <a:pt x="13" y="145"/>
                  </a:moveTo>
                  <a:lnTo>
                    <a:pt x="14" y="137"/>
                  </a:lnTo>
                  <a:lnTo>
                    <a:pt x="16" y="132"/>
                  </a:lnTo>
                  <a:lnTo>
                    <a:pt x="18" y="127"/>
                  </a:lnTo>
                  <a:lnTo>
                    <a:pt x="22" y="124"/>
                  </a:lnTo>
                  <a:lnTo>
                    <a:pt x="26" y="120"/>
                  </a:lnTo>
                  <a:lnTo>
                    <a:pt x="31" y="117"/>
                  </a:lnTo>
                  <a:lnTo>
                    <a:pt x="37" y="112"/>
                  </a:lnTo>
                  <a:lnTo>
                    <a:pt x="44" y="108"/>
                  </a:lnTo>
                  <a:lnTo>
                    <a:pt x="50" y="102"/>
                  </a:lnTo>
                  <a:lnTo>
                    <a:pt x="56" y="95"/>
                  </a:lnTo>
                  <a:lnTo>
                    <a:pt x="61" y="85"/>
                  </a:lnTo>
                  <a:lnTo>
                    <a:pt x="65" y="74"/>
                  </a:lnTo>
                  <a:lnTo>
                    <a:pt x="68" y="60"/>
                  </a:lnTo>
                  <a:lnTo>
                    <a:pt x="70" y="44"/>
                  </a:lnTo>
                  <a:lnTo>
                    <a:pt x="71" y="23"/>
                  </a:lnTo>
                  <a:lnTo>
                    <a:pt x="69" y="0"/>
                  </a:lnTo>
                  <a:lnTo>
                    <a:pt x="56" y="1"/>
                  </a:lnTo>
                  <a:lnTo>
                    <a:pt x="57" y="23"/>
                  </a:lnTo>
                  <a:lnTo>
                    <a:pt x="57" y="42"/>
                  </a:lnTo>
                  <a:lnTo>
                    <a:pt x="55" y="57"/>
                  </a:lnTo>
                  <a:lnTo>
                    <a:pt x="52" y="70"/>
                  </a:lnTo>
                  <a:lnTo>
                    <a:pt x="48" y="80"/>
                  </a:lnTo>
                  <a:lnTo>
                    <a:pt x="44" y="87"/>
                  </a:lnTo>
                  <a:lnTo>
                    <a:pt x="40" y="93"/>
                  </a:lnTo>
                  <a:lnTo>
                    <a:pt x="35" y="98"/>
                  </a:lnTo>
                  <a:lnTo>
                    <a:pt x="29" y="102"/>
                  </a:lnTo>
                  <a:lnTo>
                    <a:pt x="24" y="105"/>
                  </a:lnTo>
                  <a:lnTo>
                    <a:pt x="18" y="110"/>
                  </a:lnTo>
                  <a:lnTo>
                    <a:pt x="13" y="114"/>
                  </a:lnTo>
                  <a:lnTo>
                    <a:pt x="7"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0" name="Freeform 238">
              <a:extLst>
                <a:ext uri="{FF2B5EF4-FFF2-40B4-BE49-F238E27FC236}">
                  <a16:creationId xmlns:a16="http://schemas.microsoft.com/office/drawing/2014/main" id="{C2885090-5680-DAC9-5BD8-1C3CF84A5F18}"/>
                </a:ext>
              </a:extLst>
            </p:cNvPr>
            <p:cNvSpPr>
              <a:spLocks/>
            </p:cNvSpPr>
            <p:nvPr/>
          </p:nvSpPr>
          <p:spPr bwMode="auto">
            <a:xfrm>
              <a:off x="3822" y="2042"/>
              <a:ext cx="136" cy="121"/>
            </a:xfrm>
            <a:custGeom>
              <a:avLst/>
              <a:gdLst>
                <a:gd name="T0" fmla="*/ 9753 w 109"/>
                <a:gd name="T1" fmla="*/ 557 h 112"/>
                <a:gd name="T2" fmla="*/ 11269 w 109"/>
                <a:gd name="T3" fmla="*/ 557 h 112"/>
                <a:gd name="T4" fmla="*/ 11093 w 109"/>
                <a:gd name="T5" fmla="*/ 511 h 112"/>
                <a:gd name="T6" fmla="*/ 10816 w 109"/>
                <a:gd name="T7" fmla="*/ 454 h 112"/>
                <a:gd name="T8" fmla="*/ 10124 w 109"/>
                <a:gd name="T9" fmla="*/ 417 h 112"/>
                <a:gd name="T10" fmla="*/ 9384 w 109"/>
                <a:gd name="T11" fmla="*/ 379 h 112"/>
                <a:gd name="T12" fmla="*/ 8684 w 109"/>
                <a:gd name="T13" fmla="*/ 344 h 112"/>
                <a:gd name="T14" fmla="*/ 7817 w 109"/>
                <a:gd name="T15" fmla="*/ 317 h 112"/>
                <a:gd name="T16" fmla="*/ 6801 w 109"/>
                <a:gd name="T17" fmla="*/ 285 h 112"/>
                <a:gd name="T18" fmla="*/ 5937 w 109"/>
                <a:gd name="T19" fmla="*/ 258 h 112"/>
                <a:gd name="T20" fmla="*/ 5021 w 109"/>
                <a:gd name="T21" fmla="*/ 232 h 112"/>
                <a:gd name="T22" fmla="*/ 4141 w 109"/>
                <a:gd name="T23" fmla="*/ 209 h 112"/>
                <a:gd name="T24" fmla="*/ 3457 w 109"/>
                <a:gd name="T25" fmla="*/ 171 h 112"/>
                <a:gd name="T26" fmla="*/ 2633 w 109"/>
                <a:gd name="T27" fmla="*/ 145 h 112"/>
                <a:gd name="T28" fmla="*/ 2110 w 109"/>
                <a:gd name="T29" fmla="*/ 115 h 112"/>
                <a:gd name="T30" fmla="*/ 1709 w 109"/>
                <a:gd name="T31" fmla="*/ 78 h 112"/>
                <a:gd name="T32" fmla="*/ 1370 w 109"/>
                <a:gd name="T33" fmla="*/ 42 h 112"/>
                <a:gd name="T34" fmla="*/ 1355 w 109"/>
                <a:gd name="T35" fmla="*/ 0 h 112"/>
                <a:gd name="T36" fmla="*/ 0 w 109"/>
                <a:gd name="T37" fmla="*/ 0 h 112"/>
                <a:gd name="T38" fmla="*/ 1 w 109"/>
                <a:gd name="T39" fmla="*/ 53 h 112"/>
                <a:gd name="T40" fmla="*/ 363 w 109"/>
                <a:gd name="T41" fmla="*/ 106 h 112"/>
                <a:gd name="T42" fmla="*/ 1011 w 109"/>
                <a:gd name="T43" fmla="*/ 154 h 112"/>
                <a:gd name="T44" fmla="*/ 1691 w 109"/>
                <a:gd name="T45" fmla="*/ 193 h 112"/>
                <a:gd name="T46" fmla="*/ 2426 w 109"/>
                <a:gd name="T47" fmla="*/ 232 h 112"/>
                <a:gd name="T48" fmla="*/ 3319 w 109"/>
                <a:gd name="T49" fmla="*/ 258 h 112"/>
                <a:gd name="T50" fmla="*/ 4141 w 109"/>
                <a:gd name="T51" fmla="*/ 293 h 112"/>
                <a:gd name="T52" fmla="*/ 5114 w 109"/>
                <a:gd name="T53" fmla="*/ 318 h 112"/>
                <a:gd name="T54" fmla="*/ 6028 w 109"/>
                <a:gd name="T55" fmla="*/ 344 h 112"/>
                <a:gd name="T56" fmla="*/ 7008 w 109"/>
                <a:gd name="T57" fmla="*/ 373 h 112"/>
                <a:gd name="T58" fmla="*/ 7817 w 109"/>
                <a:gd name="T59" fmla="*/ 402 h 112"/>
                <a:gd name="T60" fmla="*/ 8463 w 109"/>
                <a:gd name="T61" fmla="*/ 431 h 112"/>
                <a:gd name="T62" fmla="*/ 8957 w 109"/>
                <a:gd name="T63" fmla="*/ 466 h 112"/>
                <a:gd name="T64" fmla="*/ 9501 w 109"/>
                <a:gd name="T65" fmla="*/ 490 h 112"/>
                <a:gd name="T66" fmla="*/ 9731 w 109"/>
                <a:gd name="T67" fmla="*/ 516 h 112"/>
                <a:gd name="T68" fmla="*/ 9753 w 109"/>
                <a:gd name="T69" fmla="*/ 557 h 112"/>
                <a:gd name="T70" fmla="*/ 11269 w 109"/>
                <a:gd name="T71" fmla="*/ 557 h 112"/>
                <a:gd name="T72" fmla="*/ 9753 w 109"/>
                <a:gd name="T73" fmla="*/ 557 h 1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9"/>
                <a:gd name="T112" fmla="*/ 0 h 112"/>
                <a:gd name="T113" fmla="*/ 109 w 109"/>
                <a:gd name="T114" fmla="*/ 112 h 1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9" h="112">
                  <a:moveTo>
                    <a:pt x="94" y="111"/>
                  </a:moveTo>
                  <a:lnTo>
                    <a:pt x="108" y="111"/>
                  </a:lnTo>
                  <a:lnTo>
                    <a:pt x="106" y="101"/>
                  </a:lnTo>
                  <a:lnTo>
                    <a:pt x="103" y="90"/>
                  </a:lnTo>
                  <a:lnTo>
                    <a:pt x="97" y="82"/>
                  </a:lnTo>
                  <a:lnTo>
                    <a:pt x="90" y="75"/>
                  </a:lnTo>
                  <a:lnTo>
                    <a:pt x="83" y="68"/>
                  </a:lnTo>
                  <a:lnTo>
                    <a:pt x="75" y="62"/>
                  </a:lnTo>
                  <a:lnTo>
                    <a:pt x="66" y="56"/>
                  </a:lnTo>
                  <a:lnTo>
                    <a:pt x="57" y="51"/>
                  </a:lnTo>
                  <a:lnTo>
                    <a:pt x="48" y="45"/>
                  </a:lnTo>
                  <a:lnTo>
                    <a:pt x="40" y="41"/>
                  </a:lnTo>
                  <a:lnTo>
                    <a:pt x="33" y="34"/>
                  </a:lnTo>
                  <a:lnTo>
                    <a:pt x="25" y="29"/>
                  </a:lnTo>
                  <a:lnTo>
                    <a:pt x="20" y="23"/>
                  </a:lnTo>
                  <a:lnTo>
                    <a:pt x="17" y="16"/>
                  </a:lnTo>
                  <a:lnTo>
                    <a:pt x="14" y="8"/>
                  </a:lnTo>
                  <a:lnTo>
                    <a:pt x="13" y="0"/>
                  </a:lnTo>
                  <a:lnTo>
                    <a:pt x="0" y="0"/>
                  </a:lnTo>
                  <a:lnTo>
                    <a:pt x="1" y="11"/>
                  </a:lnTo>
                  <a:lnTo>
                    <a:pt x="4" y="21"/>
                  </a:lnTo>
                  <a:lnTo>
                    <a:pt x="10" y="30"/>
                  </a:lnTo>
                  <a:lnTo>
                    <a:pt x="16" y="38"/>
                  </a:lnTo>
                  <a:lnTo>
                    <a:pt x="23" y="45"/>
                  </a:lnTo>
                  <a:lnTo>
                    <a:pt x="32" y="51"/>
                  </a:lnTo>
                  <a:lnTo>
                    <a:pt x="40" y="57"/>
                  </a:lnTo>
                  <a:lnTo>
                    <a:pt x="49" y="63"/>
                  </a:lnTo>
                  <a:lnTo>
                    <a:pt x="58" y="68"/>
                  </a:lnTo>
                  <a:lnTo>
                    <a:pt x="67" y="74"/>
                  </a:lnTo>
                  <a:lnTo>
                    <a:pt x="75" y="79"/>
                  </a:lnTo>
                  <a:lnTo>
                    <a:pt x="81" y="84"/>
                  </a:lnTo>
                  <a:lnTo>
                    <a:pt x="86" y="91"/>
                  </a:lnTo>
                  <a:lnTo>
                    <a:pt x="91" y="97"/>
                  </a:lnTo>
                  <a:lnTo>
                    <a:pt x="93" y="103"/>
                  </a:lnTo>
                  <a:lnTo>
                    <a:pt x="94" y="111"/>
                  </a:lnTo>
                  <a:lnTo>
                    <a:pt x="108" y="111"/>
                  </a:lnTo>
                  <a:lnTo>
                    <a:pt x="94"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1" name="Freeform 239">
              <a:extLst>
                <a:ext uri="{FF2B5EF4-FFF2-40B4-BE49-F238E27FC236}">
                  <a16:creationId xmlns:a16="http://schemas.microsoft.com/office/drawing/2014/main" id="{DC52DAC3-4295-2B95-D46D-5DE72FAD9C3C}"/>
                </a:ext>
              </a:extLst>
            </p:cNvPr>
            <p:cNvSpPr>
              <a:spLocks/>
            </p:cNvSpPr>
            <p:nvPr/>
          </p:nvSpPr>
          <p:spPr bwMode="auto">
            <a:xfrm>
              <a:off x="3938" y="2162"/>
              <a:ext cx="20" cy="2"/>
            </a:xfrm>
            <a:custGeom>
              <a:avLst/>
              <a:gdLst>
                <a:gd name="T0" fmla="*/ 1673 w 16"/>
                <a:gd name="T1" fmla="*/ 0 h 2"/>
                <a:gd name="T2" fmla="*/ 0 w 16"/>
                <a:gd name="T3" fmla="*/ 0 h 2"/>
                <a:gd name="T4" fmla="*/ 0 w 16"/>
                <a:gd name="T5" fmla="*/ 1 h 2"/>
                <a:gd name="T6" fmla="*/ 1673 w 16"/>
                <a:gd name="T7" fmla="*/ 1 h 2"/>
                <a:gd name="T8" fmla="*/ 1673 w 16"/>
                <a:gd name="T9" fmla="*/ 0 h 2"/>
                <a:gd name="T10" fmla="*/ 0 w 16"/>
                <a:gd name="T11" fmla="*/ 0 h 2"/>
                <a:gd name="T12" fmla="*/ 1673 w 16"/>
                <a:gd name="T13" fmla="*/ 0 h 2"/>
                <a:gd name="T14" fmla="*/ 0 60000 65536"/>
                <a:gd name="T15" fmla="*/ 0 60000 65536"/>
                <a:gd name="T16" fmla="*/ 0 60000 65536"/>
                <a:gd name="T17" fmla="*/ 0 60000 65536"/>
                <a:gd name="T18" fmla="*/ 0 60000 65536"/>
                <a:gd name="T19" fmla="*/ 0 60000 65536"/>
                <a:gd name="T20" fmla="*/ 0 60000 65536"/>
                <a:gd name="T21" fmla="*/ 0 w 16"/>
                <a:gd name="T22" fmla="*/ 0 h 2"/>
                <a:gd name="T23" fmla="*/ 16 w 16"/>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
                  <a:moveTo>
                    <a:pt x="15" y="0"/>
                  </a:moveTo>
                  <a:lnTo>
                    <a:pt x="0" y="0"/>
                  </a:lnTo>
                  <a:lnTo>
                    <a:pt x="0" y="1"/>
                  </a:lnTo>
                  <a:lnTo>
                    <a:pt x="15" y="1"/>
                  </a:lnTo>
                  <a:lnTo>
                    <a:pt x="15" y="0"/>
                  </a:lnTo>
                  <a:lnTo>
                    <a:pt x="0" y="0"/>
                  </a:lnTo>
                  <a:lnTo>
                    <a:pt x="15"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2" name="Freeform 240">
              <a:extLst>
                <a:ext uri="{FF2B5EF4-FFF2-40B4-BE49-F238E27FC236}">
                  <a16:creationId xmlns:a16="http://schemas.microsoft.com/office/drawing/2014/main" id="{54B6C5E0-7829-D135-DEDE-DFE2664B75BC}"/>
                </a:ext>
              </a:extLst>
            </p:cNvPr>
            <p:cNvSpPr>
              <a:spLocks/>
            </p:cNvSpPr>
            <p:nvPr/>
          </p:nvSpPr>
          <p:spPr bwMode="auto">
            <a:xfrm>
              <a:off x="3820" y="2162"/>
              <a:ext cx="138" cy="114"/>
            </a:xfrm>
            <a:custGeom>
              <a:avLst/>
              <a:gdLst>
                <a:gd name="T0" fmla="*/ 1791 w 110"/>
                <a:gd name="T1" fmla="*/ 482 h 106"/>
                <a:gd name="T2" fmla="*/ 1791 w 110"/>
                <a:gd name="T3" fmla="*/ 443 h 106"/>
                <a:gd name="T4" fmla="*/ 1901 w 110"/>
                <a:gd name="T5" fmla="*/ 424 h 106"/>
                <a:gd name="T6" fmla="*/ 2385 w 110"/>
                <a:gd name="T7" fmla="*/ 394 h 106"/>
                <a:gd name="T8" fmla="*/ 3209 w 110"/>
                <a:gd name="T9" fmla="*/ 377 h 106"/>
                <a:gd name="T10" fmla="*/ 4026 w 110"/>
                <a:gd name="T11" fmla="*/ 351 h 106"/>
                <a:gd name="T12" fmla="*/ 4710 w 110"/>
                <a:gd name="T13" fmla="*/ 326 h 106"/>
                <a:gd name="T14" fmla="*/ 5761 w 110"/>
                <a:gd name="T15" fmla="*/ 303 h 106"/>
                <a:gd name="T16" fmla="*/ 6821 w 110"/>
                <a:gd name="T17" fmla="*/ 282 h 106"/>
                <a:gd name="T18" fmla="*/ 7813 w 110"/>
                <a:gd name="T19" fmla="*/ 251 h 106"/>
                <a:gd name="T20" fmla="*/ 8841 w 110"/>
                <a:gd name="T21" fmla="*/ 229 h 106"/>
                <a:gd name="T22" fmla="*/ 9802 w 110"/>
                <a:gd name="T23" fmla="*/ 202 h 106"/>
                <a:gd name="T24" fmla="*/ 10625 w 110"/>
                <a:gd name="T25" fmla="*/ 175 h 106"/>
                <a:gd name="T26" fmla="*/ 11650 w 110"/>
                <a:gd name="T27" fmla="*/ 137 h 106"/>
                <a:gd name="T28" fmla="*/ 12119 w 110"/>
                <a:gd name="T29" fmla="*/ 98 h 106"/>
                <a:gd name="T30" fmla="*/ 12513 w 110"/>
                <a:gd name="T31" fmla="*/ 49 h 106"/>
                <a:gd name="T32" fmla="*/ 12819 w 110"/>
                <a:gd name="T33" fmla="*/ 0 h 106"/>
                <a:gd name="T34" fmla="*/ 11091 w 110"/>
                <a:gd name="T35" fmla="*/ 0 h 106"/>
                <a:gd name="T36" fmla="*/ 10990 w 110"/>
                <a:gd name="T37" fmla="*/ 40 h 106"/>
                <a:gd name="T38" fmla="*/ 10625 w 110"/>
                <a:gd name="T39" fmla="*/ 66 h 106"/>
                <a:gd name="T40" fmla="*/ 10246 w 110"/>
                <a:gd name="T41" fmla="*/ 102 h 106"/>
                <a:gd name="T42" fmla="*/ 9595 w 110"/>
                <a:gd name="T43" fmla="*/ 122 h 106"/>
                <a:gd name="T44" fmla="*/ 8841 w 110"/>
                <a:gd name="T45" fmla="*/ 158 h 106"/>
                <a:gd name="T46" fmla="*/ 7950 w 110"/>
                <a:gd name="T47" fmla="*/ 175 h 106"/>
                <a:gd name="T48" fmla="*/ 6983 w 110"/>
                <a:gd name="T49" fmla="*/ 197 h 106"/>
                <a:gd name="T50" fmla="*/ 6096 w 110"/>
                <a:gd name="T51" fmla="*/ 228 h 106"/>
                <a:gd name="T52" fmla="*/ 5051 w 110"/>
                <a:gd name="T53" fmla="*/ 245 h 106"/>
                <a:gd name="T54" fmla="*/ 4026 w 110"/>
                <a:gd name="T55" fmla="*/ 265 h 106"/>
                <a:gd name="T56" fmla="*/ 2992 w 110"/>
                <a:gd name="T57" fmla="*/ 294 h 106"/>
                <a:gd name="T58" fmla="*/ 2095 w 110"/>
                <a:gd name="T59" fmla="*/ 326 h 106"/>
                <a:gd name="T60" fmla="*/ 1331 w 110"/>
                <a:gd name="T61" fmla="*/ 355 h 106"/>
                <a:gd name="T62" fmla="*/ 748 w 110"/>
                <a:gd name="T63" fmla="*/ 388 h 106"/>
                <a:gd name="T64" fmla="*/ 302 w 110"/>
                <a:gd name="T65" fmla="*/ 439 h 106"/>
                <a:gd name="T66" fmla="*/ 0 w 110"/>
                <a:gd name="T67" fmla="*/ 482 h 106"/>
                <a:gd name="T68" fmla="*/ 1791 w 110"/>
                <a:gd name="T69" fmla="*/ 482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6"/>
                <a:gd name="T107" fmla="*/ 110 w 110"/>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6">
                  <a:moveTo>
                    <a:pt x="15" y="105"/>
                  </a:moveTo>
                  <a:lnTo>
                    <a:pt x="15" y="97"/>
                  </a:lnTo>
                  <a:lnTo>
                    <a:pt x="17" y="92"/>
                  </a:lnTo>
                  <a:lnTo>
                    <a:pt x="21" y="86"/>
                  </a:lnTo>
                  <a:lnTo>
                    <a:pt x="27" y="81"/>
                  </a:lnTo>
                  <a:lnTo>
                    <a:pt x="34" y="75"/>
                  </a:lnTo>
                  <a:lnTo>
                    <a:pt x="41" y="70"/>
                  </a:lnTo>
                  <a:lnTo>
                    <a:pt x="49" y="65"/>
                  </a:lnTo>
                  <a:lnTo>
                    <a:pt x="58" y="60"/>
                  </a:lnTo>
                  <a:lnTo>
                    <a:pt x="67" y="55"/>
                  </a:lnTo>
                  <a:lnTo>
                    <a:pt x="76" y="50"/>
                  </a:lnTo>
                  <a:lnTo>
                    <a:pt x="84" y="44"/>
                  </a:lnTo>
                  <a:lnTo>
                    <a:pt x="91" y="38"/>
                  </a:lnTo>
                  <a:lnTo>
                    <a:pt x="99" y="30"/>
                  </a:lnTo>
                  <a:lnTo>
                    <a:pt x="104" y="21"/>
                  </a:lnTo>
                  <a:lnTo>
                    <a:pt x="107" y="11"/>
                  </a:lnTo>
                  <a:lnTo>
                    <a:pt x="109" y="0"/>
                  </a:lnTo>
                  <a:lnTo>
                    <a:pt x="95" y="0"/>
                  </a:lnTo>
                  <a:lnTo>
                    <a:pt x="94" y="8"/>
                  </a:lnTo>
                  <a:lnTo>
                    <a:pt x="91" y="15"/>
                  </a:lnTo>
                  <a:lnTo>
                    <a:pt x="88" y="22"/>
                  </a:lnTo>
                  <a:lnTo>
                    <a:pt x="82" y="27"/>
                  </a:lnTo>
                  <a:lnTo>
                    <a:pt x="76" y="34"/>
                  </a:lnTo>
                  <a:lnTo>
                    <a:pt x="68" y="38"/>
                  </a:lnTo>
                  <a:lnTo>
                    <a:pt x="60" y="43"/>
                  </a:lnTo>
                  <a:lnTo>
                    <a:pt x="52" y="49"/>
                  </a:lnTo>
                  <a:lnTo>
                    <a:pt x="43" y="53"/>
                  </a:lnTo>
                  <a:lnTo>
                    <a:pt x="34" y="58"/>
                  </a:lnTo>
                  <a:lnTo>
                    <a:pt x="26" y="64"/>
                  </a:lnTo>
                  <a:lnTo>
                    <a:pt x="18" y="70"/>
                  </a:lnTo>
                  <a:lnTo>
                    <a:pt x="11" y="77"/>
                  </a:lnTo>
                  <a:lnTo>
                    <a:pt x="6" y="85"/>
                  </a:lnTo>
                  <a:lnTo>
                    <a:pt x="2" y="95"/>
                  </a:lnTo>
                  <a:lnTo>
                    <a:pt x="0" y="105"/>
                  </a:lnTo>
                  <a:lnTo>
                    <a:pt x="15"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3" name="Freeform 241">
              <a:extLst>
                <a:ext uri="{FF2B5EF4-FFF2-40B4-BE49-F238E27FC236}">
                  <a16:creationId xmlns:a16="http://schemas.microsoft.com/office/drawing/2014/main" id="{212AB63F-4C48-FC8C-D901-99E37F12B796}"/>
                </a:ext>
              </a:extLst>
            </p:cNvPr>
            <p:cNvSpPr>
              <a:spLocks/>
            </p:cNvSpPr>
            <p:nvPr/>
          </p:nvSpPr>
          <p:spPr bwMode="auto">
            <a:xfrm>
              <a:off x="3820" y="2275"/>
              <a:ext cx="138" cy="117"/>
            </a:xfrm>
            <a:custGeom>
              <a:avLst/>
              <a:gdLst>
                <a:gd name="T0" fmla="*/ 12819 w 110"/>
                <a:gd name="T1" fmla="*/ 569 h 108"/>
                <a:gd name="T2" fmla="*/ 12513 w 110"/>
                <a:gd name="T3" fmla="*/ 517 h 108"/>
                <a:gd name="T4" fmla="*/ 12119 w 110"/>
                <a:gd name="T5" fmla="*/ 464 h 108"/>
                <a:gd name="T6" fmla="*/ 11650 w 110"/>
                <a:gd name="T7" fmla="*/ 412 h 108"/>
                <a:gd name="T8" fmla="*/ 10625 w 110"/>
                <a:gd name="T9" fmla="*/ 372 h 108"/>
                <a:gd name="T10" fmla="*/ 9802 w 110"/>
                <a:gd name="T11" fmla="*/ 339 h 108"/>
                <a:gd name="T12" fmla="*/ 8841 w 110"/>
                <a:gd name="T13" fmla="*/ 311 h 108"/>
                <a:gd name="T14" fmla="*/ 7813 w 110"/>
                <a:gd name="T15" fmla="*/ 286 h 108"/>
                <a:gd name="T16" fmla="*/ 6821 w 110"/>
                <a:gd name="T17" fmla="*/ 249 h 108"/>
                <a:gd name="T18" fmla="*/ 5761 w 110"/>
                <a:gd name="T19" fmla="*/ 225 h 108"/>
                <a:gd name="T20" fmla="*/ 4710 w 110"/>
                <a:gd name="T21" fmla="*/ 194 h 108"/>
                <a:gd name="T22" fmla="*/ 4026 w 110"/>
                <a:gd name="T23" fmla="*/ 168 h 108"/>
                <a:gd name="T24" fmla="*/ 3209 w 110"/>
                <a:gd name="T25" fmla="*/ 138 h 108"/>
                <a:gd name="T26" fmla="*/ 2385 w 110"/>
                <a:gd name="T27" fmla="*/ 110 h 108"/>
                <a:gd name="T28" fmla="*/ 1901 w 110"/>
                <a:gd name="T29" fmla="*/ 74 h 108"/>
                <a:gd name="T30" fmla="*/ 1791 w 110"/>
                <a:gd name="T31" fmla="*/ 46 h 108"/>
                <a:gd name="T32" fmla="*/ 1791 w 110"/>
                <a:gd name="T33" fmla="*/ 0 h 108"/>
                <a:gd name="T34" fmla="*/ 0 w 110"/>
                <a:gd name="T35" fmla="*/ 0 h 108"/>
                <a:gd name="T36" fmla="*/ 302 w 110"/>
                <a:gd name="T37" fmla="*/ 58 h 108"/>
                <a:gd name="T38" fmla="*/ 748 w 110"/>
                <a:gd name="T39" fmla="*/ 110 h 108"/>
                <a:gd name="T40" fmla="*/ 1331 w 110"/>
                <a:gd name="T41" fmla="*/ 155 h 108"/>
                <a:gd name="T42" fmla="*/ 2095 w 110"/>
                <a:gd name="T43" fmla="*/ 194 h 108"/>
                <a:gd name="T44" fmla="*/ 2992 w 110"/>
                <a:gd name="T45" fmla="*/ 230 h 108"/>
                <a:gd name="T46" fmla="*/ 4026 w 110"/>
                <a:gd name="T47" fmla="*/ 264 h 108"/>
                <a:gd name="T48" fmla="*/ 5051 w 110"/>
                <a:gd name="T49" fmla="*/ 287 h 108"/>
                <a:gd name="T50" fmla="*/ 6096 w 110"/>
                <a:gd name="T51" fmla="*/ 313 h 108"/>
                <a:gd name="T52" fmla="*/ 6983 w 110"/>
                <a:gd name="T53" fmla="*/ 339 h 108"/>
                <a:gd name="T54" fmla="*/ 7950 w 110"/>
                <a:gd name="T55" fmla="*/ 367 h 108"/>
                <a:gd name="T56" fmla="*/ 8841 w 110"/>
                <a:gd name="T57" fmla="*/ 395 h 108"/>
                <a:gd name="T58" fmla="*/ 9595 w 110"/>
                <a:gd name="T59" fmla="*/ 428 h 108"/>
                <a:gd name="T60" fmla="*/ 10246 w 110"/>
                <a:gd name="T61" fmla="*/ 463 h 108"/>
                <a:gd name="T62" fmla="*/ 10625 w 110"/>
                <a:gd name="T63" fmla="*/ 490 h 108"/>
                <a:gd name="T64" fmla="*/ 10990 w 110"/>
                <a:gd name="T65" fmla="*/ 523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6"/>
                  </a:lnTo>
                  <a:lnTo>
                    <a:pt x="104" y="86"/>
                  </a:lnTo>
                  <a:lnTo>
                    <a:pt x="99" y="77"/>
                  </a:lnTo>
                  <a:lnTo>
                    <a:pt x="91" y="69"/>
                  </a:lnTo>
                  <a:lnTo>
                    <a:pt x="84" y="63"/>
                  </a:lnTo>
                  <a:lnTo>
                    <a:pt x="76" y="57"/>
                  </a:lnTo>
                  <a:lnTo>
                    <a:pt x="67" y="52"/>
                  </a:lnTo>
                  <a:lnTo>
                    <a:pt x="58" y="46"/>
                  </a:lnTo>
                  <a:lnTo>
                    <a:pt x="49" y="41"/>
                  </a:lnTo>
                  <a:lnTo>
                    <a:pt x="41" y="36"/>
                  </a:lnTo>
                  <a:lnTo>
                    <a:pt x="34" y="31"/>
                  </a:lnTo>
                  <a:lnTo>
                    <a:pt x="27" y="26"/>
                  </a:lnTo>
                  <a:lnTo>
                    <a:pt x="21" y="20"/>
                  </a:lnTo>
                  <a:lnTo>
                    <a:pt x="17" y="14"/>
                  </a:lnTo>
                  <a:lnTo>
                    <a:pt x="15" y="8"/>
                  </a:lnTo>
                  <a:lnTo>
                    <a:pt x="15" y="0"/>
                  </a:lnTo>
                  <a:lnTo>
                    <a:pt x="0" y="0"/>
                  </a:lnTo>
                  <a:lnTo>
                    <a:pt x="2" y="11"/>
                  </a:lnTo>
                  <a:lnTo>
                    <a:pt x="6" y="20"/>
                  </a:lnTo>
                  <a:lnTo>
                    <a:pt x="11" y="29"/>
                  </a:lnTo>
                  <a:lnTo>
                    <a:pt x="18" y="36"/>
                  </a:lnTo>
                  <a:lnTo>
                    <a:pt x="26" y="42"/>
                  </a:lnTo>
                  <a:lnTo>
                    <a:pt x="34" y="48"/>
                  </a:lnTo>
                  <a:lnTo>
                    <a:pt x="43" y="53"/>
                  </a:lnTo>
                  <a:lnTo>
                    <a:pt x="52" y="58"/>
                  </a:lnTo>
                  <a:lnTo>
                    <a:pt x="60" y="63"/>
                  </a:lnTo>
                  <a:lnTo>
                    <a:pt x="68" y="68"/>
                  </a:lnTo>
                  <a:lnTo>
                    <a:pt x="76" y="73"/>
                  </a:lnTo>
                  <a:lnTo>
                    <a:pt x="82" y="79"/>
                  </a:lnTo>
                  <a:lnTo>
                    <a:pt x="88" y="85"/>
                  </a:lnTo>
                  <a:lnTo>
                    <a:pt x="91" y="91"/>
                  </a:lnTo>
                  <a:lnTo>
                    <a:pt x="94" y="98"/>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4" name="Freeform 242">
              <a:extLst>
                <a:ext uri="{FF2B5EF4-FFF2-40B4-BE49-F238E27FC236}">
                  <a16:creationId xmlns:a16="http://schemas.microsoft.com/office/drawing/2014/main" id="{455D5AAB-3A44-3450-466D-6CBD368F511A}"/>
                </a:ext>
              </a:extLst>
            </p:cNvPr>
            <p:cNvSpPr>
              <a:spLocks/>
            </p:cNvSpPr>
            <p:nvPr/>
          </p:nvSpPr>
          <p:spPr bwMode="auto">
            <a:xfrm>
              <a:off x="3820" y="2391"/>
              <a:ext cx="138" cy="116"/>
            </a:xfrm>
            <a:custGeom>
              <a:avLst/>
              <a:gdLst>
                <a:gd name="T0" fmla="*/ 1791 w 110"/>
                <a:gd name="T1" fmla="*/ 576 h 107"/>
                <a:gd name="T2" fmla="*/ 1791 w 110"/>
                <a:gd name="T3" fmla="*/ 531 h 107"/>
                <a:gd name="T4" fmla="*/ 1901 w 110"/>
                <a:gd name="T5" fmla="*/ 504 h 107"/>
                <a:gd name="T6" fmla="*/ 2385 w 110"/>
                <a:gd name="T7" fmla="*/ 469 h 107"/>
                <a:gd name="T8" fmla="*/ 3209 w 110"/>
                <a:gd name="T9" fmla="*/ 438 h 107"/>
                <a:gd name="T10" fmla="*/ 4026 w 110"/>
                <a:gd name="T11" fmla="*/ 404 h 107"/>
                <a:gd name="T12" fmla="*/ 4710 w 110"/>
                <a:gd name="T13" fmla="*/ 378 h 107"/>
                <a:gd name="T14" fmla="*/ 5761 w 110"/>
                <a:gd name="T15" fmla="*/ 349 h 107"/>
                <a:gd name="T16" fmla="*/ 6821 w 110"/>
                <a:gd name="T17" fmla="*/ 322 h 107"/>
                <a:gd name="T18" fmla="*/ 7813 w 110"/>
                <a:gd name="T19" fmla="*/ 297 h 107"/>
                <a:gd name="T20" fmla="*/ 8841 w 110"/>
                <a:gd name="T21" fmla="*/ 270 h 107"/>
                <a:gd name="T22" fmla="*/ 9802 w 110"/>
                <a:gd name="T23" fmla="*/ 233 h 107"/>
                <a:gd name="T24" fmla="*/ 10625 w 110"/>
                <a:gd name="T25" fmla="*/ 198 h 107"/>
                <a:gd name="T26" fmla="*/ 11650 w 110"/>
                <a:gd name="T27" fmla="*/ 156 h 107"/>
                <a:gd name="T28" fmla="*/ 12119 w 110"/>
                <a:gd name="T29" fmla="*/ 113 h 107"/>
                <a:gd name="T30" fmla="*/ 12513 w 110"/>
                <a:gd name="T31" fmla="*/ 59 h 107"/>
                <a:gd name="T32" fmla="*/ 12819 w 110"/>
                <a:gd name="T33" fmla="*/ 0 h 107"/>
                <a:gd name="T34" fmla="*/ 11091 w 110"/>
                <a:gd name="T35" fmla="*/ 0 h 107"/>
                <a:gd name="T36" fmla="*/ 10990 w 110"/>
                <a:gd name="T37" fmla="*/ 46 h 107"/>
                <a:gd name="T38" fmla="*/ 10625 w 110"/>
                <a:gd name="T39" fmla="*/ 81 h 107"/>
                <a:gd name="T40" fmla="*/ 10246 w 110"/>
                <a:gd name="T41" fmla="*/ 113 h 107"/>
                <a:gd name="T42" fmla="*/ 9595 w 110"/>
                <a:gd name="T43" fmla="*/ 144 h 107"/>
                <a:gd name="T44" fmla="*/ 8841 w 110"/>
                <a:gd name="T45" fmla="*/ 181 h 107"/>
                <a:gd name="T46" fmla="*/ 7950 w 110"/>
                <a:gd name="T47" fmla="*/ 208 h 107"/>
                <a:gd name="T48" fmla="*/ 6983 w 110"/>
                <a:gd name="T49" fmla="*/ 233 h 107"/>
                <a:gd name="T50" fmla="*/ 6096 w 110"/>
                <a:gd name="T51" fmla="*/ 265 h 107"/>
                <a:gd name="T52" fmla="*/ 5051 w 110"/>
                <a:gd name="T53" fmla="*/ 289 h 107"/>
                <a:gd name="T54" fmla="*/ 4026 w 110"/>
                <a:gd name="T55" fmla="*/ 317 h 107"/>
                <a:gd name="T56" fmla="*/ 2992 w 110"/>
                <a:gd name="T57" fmla="*/ 345 h 107"/>
                <a:gd name="T58" fmla="*/ 2095 w 110"/>
                <a:gd name="T59" fmla="*/ 378 h 107"/>
                <a:gd name="T60" fmla="*/ 1331 w 110"/>
                <a:gd name="T61" fmla="*/ 417 h 107"/>
                <a:gd name="T62" fmla="*/ 748 w 110"/>
                <a:gd name="T63" fmla="*/ 469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4"/>
                  </a:lnTo>
                  <a:lnTo>
                    <a:pt x="41" y="70"/>
                  </a:lnTo>
                  <a:lnTo>
                    <a:pt x="49" y="65"/>
                  </a:lnTo>
                  <a:lnTo>
                    <a:pt x="58" y="60"/>
                  </a:lnTo>
                  <a:lnTo>
                    <a:pt x="67" y="55"/>
                  </a:lnTo>
                  <a:lnTo>
                    <a:pt x="76" y="50"/>
                  </a:lnTo>
                  <a:lnTo>
                    <a:pt x="84" y="43"/>
                  </a:lnTo>
                  <a:lnTo>
                    <a:pt x="91" y="37"/>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5" name="Freeform 243">
              <a:extLst>
                <a:ext uri="{FF2B5EF4-FFF2-40B4-BE49-F238E27FC236}">
                  <a16:creationId xmlns:a16="http://schemas.microsoft.com/office/drawing/2014/main" id="{E411E29E-B036-2E8D-D50F-85CAC0C16A9A}"/>
                </a:ext>
              </a:extLst>
            </p:cNvPr>
            <p:cNvSpPr>
              <a:spLocks/>
            </p:cNvSpPr>
            <p:nvPr/>
          </p:nvSpPr>
          <p:spPr bwMode="auto">
            <a:xfrm>
              <a:off x="3820" y="2505"/>
              <a:ext cx="138" cy="103"/>
            </a:xfrm>
            <a:custGeom>
              <a:avLst/>
              <a:gdLst>
                <a:gd name="T0" fmla="*/ 12819 w 110"/>
                <a:gd name="T1" fmla="*/ 515 h 95"/>
                <a:gd name="T2" fmla="*/ 12119 w 110"/>
                <a:gd name="T3" fmla="*/ 417 h 95"/>
                <a:gd name="T4" fmla="*/ 10625 w 110"/>
                <a:gd name="T5" fmla="*/ 349 h 95"/>
                <a:gd name="T6" fmla="*/ 8760 w 110"/>
                <a:gd name="T7" fmla="*/ 297 h 95"/>
                <a:gd name="T8" fmla="*/ 6821 w 110"/>
                <a:gd name="T9" fmla="*/ 250 h 95"/>
                <a:gd name="T10" fmla="*/ 4710 w 110"/>
                <a:gd name="T11" fmla="*/ 196 h 95"/>
                <a:gd name="T12" fmla="*/ 3209 w 110"/>
                <a:gd name="T13" fmla="*/ 142 h 95"/>
                <a:gd name="T14" fmla="*/ 1901 w 110"/>
                <a:gd name="T15" fmla="*/ 69 h 95"/>
                <a:gd name="T16" fmla="*/ 1791 w 110"/>
                <a:gd name="T17" fmla="*/ 0 h 95"/>
                <a:gd name="T18" fmla="*/ 0 w 110"/>
                <a:gd name="T19" fmla="*/ 0 h 95"/>
                <a:gd name="T20" fmla="*/ 748 w 110"/>
                <a:gd name="T21" fmla="*/ 112 h 95"/>
                <a:gd name="T22" fmla="*/ 2095 w 110"/>
                <a:gd name="T23" fmla="*/ 196 h 95"/>
                <a:gd name="T24" fmla="*/ 4026 w 110"/>
                <a:gd name="T25" fmla="*/ 266 h 95"/>
                <a:gd name="T26" fmla="*/ 6096 w 110"/>
                <a:gd name="T27" fmla="*/ 316 h 95"/>
                <a:gd name="T28" fmla="*/ 8145 w 110"/>
                <a:gd name="T29" fmla="*/ 372 h 95"/>
                <a:gd name="T30" fmla="*/ 9660 w 110"/>
                <a:gd name="T31" fmla="*/ 407 h 95"/>
                <a:gd name="T32" fmla="*/ 10735 w 110"/>
                <a:gd name="T33" fmla="*/ 466 h 95"/>
                <a:gd name="T34" fmla="*/ 11091 w 110"/>
                <a:gd name="T35" fmla="*/ 515 h 95"/>
                <a:gd name="T36" fmla="*/ 12819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09" y="94"/>
                  </a:moveTo>
                  <a:lnTo>
                    <a:pt x="104" y="77"/>
                  </a:lnTo>
                  <a:lnTo>
                    <a:pt x="91" y="65"/>
                  </a:lnTo>
                  <a:lnTo>
                    <a:pt x="75" y="55"/>
                  </a:lnTo>
                  <a:lnTo>
                    <a:pt x="58" y="46"/>
                  </a:lnTo>
                  <a:lnTo>
                    <a:pt x="41" y="36"/>
                  </a:lnTo>
                  <a:lnTo>
                    <a:pt x="27" y="26"/>
                  </a:lnTo>
                  <a:lnTo>
                    <a:pt x="17" y="13"/>
                  </a:lnTo>
                  <a:lnTo>
                    <a:pt x="15" y="0"/>
                  </a:lnTo>
                  <a:lnTo>
                    <a:pt x="0" y="0"/>
                  </a:lnTo>
                  <a:lnTo>
                    <a:pt x="6" y="20"/>
                  </a:lnTo>
                  <a:lnTo>
                    <a:pt x="18" y="36"/>
                  </a:lnTo>
                  <a:lnTo>
                    <a:pt x="34" y="48"/>
                  </a:lnTo>
                  <a:lnTo>
                    <a:pt x="52" y="57"/>
                  </a:lnTo>
                  <a:lnTo>
                    <a:pt x="69" y="67"/>
                  </a:lnTo>
                  <a:lnTo>
                    <a:pt x="83" y="75"/>
                  </a:lnTo>
                  <a:lnTo>
                    <a:pt x="92" y="85"/>
                  </a:lnTo>
                  <a:lnTo>
                    <a:pt x="95" y="94"/>
                  </a:lnTo>
                  <a:lnTo>
                    <a:pt x="109"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6" name="Freeform 244">
              <a:extLst>
                <a:ext uri="{FF2B5EF4-FFF2-40B4-BE49-F238E27FC236}">
                  <a16:creationId xmlns:a16="http://schemas.microsoft.com/office/drawing/2014/main" id="{B20687AE-119F-9412-6003-F716B7838160}"/>
                </a:ext>
              </a:extLst>
            </p:cNvPr>
            <p:cNvSpPr>
              <a:spLocks/>
            </p:cNvSpPr>
            <p:nvPr/>
          </p:nvSpPr>
          <p:spPr bwMode="auto">
            <a:xfrm>
              <a:off x="3938" y="2607"/>
              <a:ext cx="20" cy="5"/>
            </a:xfrm>
            <a:custGeom>
              <a:avLst/>
              <a:gdLst>
                <a:gd name="T0" fmla="*/ 1673 w 16"/>
                <a:gd name="T1" fmla="*/ 4 h 5"/>
                <a:gd name="T2" fmla="*/ 1673 w 16"/>
                <a:gd name="T3" fmla="*/ 0 h 5"/>
                <a:gd name="T4" fmla="*/ 0 w 16"/>
                <a:gd name="T5" fmla="*/ 0 h 5"/>
                <a:gd name="T6" fmla="*/ 0 w 16"/>
                <a:gd name="T7" fmla="*/ 4 h 5"/>
                <a:gd name="T8" fmla="*/ 1673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7" name="Freeform 245">
              <a:extLst>
                <a:ext uri="{FF2B5EF4-FFF2-40B4-BE49-F238E27FC236}">
                  <a16:creationId xmlns:a16="http://schemas.microsoft.com/office/drawing/2014/main" id="{EEFFFC61-3727-9D7A-5A13-98B505939904}"/>
                </a:ext>
              </a:extLst>
            </p:cNvPr>
            <p:cNvSpPr>
              <a:spLocks/>
            </p:cNvSpPr>
            <p:nvPr/>
          </p:nvSpPr>
          <p:spPr bwMode="auto">
            <a:xfrm>
              <a:off x="3820" y="2611"/>
              <a:ext cx="138" cy="116"/>
            </a:xfrm>
            <a:custGeom>
              <a:avLst/>
              <a:gdLst>
                <a:gd name="T0" fmla="*/ 1791 w 110"/>
                <a:gd name="T1" fmla="*/ 576 h 107"/>
                <a:gd name="T2" fmla="*/ 1791 w 110"/>
                <a:gd name="T3" fmla="*/ 531 h 107"/>
                <a:gd name="T4" fmla="*/ 2095 w 110"/>
                <a:gd name="T5" fmla="*/ 502 h 107"/>
                <a:gd name="T6" fmla="*/ 2385 w 110"/>
                <a:gd name="T7" fmla="*/ 463 h 107"/>
                <a:gd name="T8" fmla="*/ 3209 w 110"/>
                <a:gd name="T9" fmla="*/ 429 h 107"/>
                <a:gd name="T10" fmla="*/ 4026 w 110"/>
                <a:gd name="T11" fmla="*/ 396 h 107"/>
                <a:gd name="T12" fmla="*/ 4710 w 110"/>
                <a:gd name="T13" fmla="*/ 368 h 107"/>
                <a:gd name="T14" fmla="*/ 5900 w 110"/>
                <a:gd name="T15" fmla="*/ 337 h 107"/>
                <a:gd name="T16" fmla="*/ 6821 w 110"/>
                <a:gd name="T17" fmla="*/ 311 h 107"/>
                <a:gd name="T18" fmla="*/ 7813 w 110"/>
                <a:gd name="T19" fmla="*/ 274 h 107"/>
                <a:gd name="T20" fmla="*/ 8841 w 110"/>
                <a:gd name="T21" fmla="*/ 249 h 107"/>
                <a:gd name="T22" fmla="*/ 9802 w 110"/>
                <a:gd name="T23" fmla="*/ 212 h 107"/>
                <a:gd name="T24" fmla="*/ 10625 w 110"/>
                <a:gd name="T25" fmla="*/ 181 h 107"/>
                <a:gd name="T26" fmla="*/ 11650 w 110"/>
                <a:gd name="T27" fmla="*/ 144 h 107"/>
                <a:gd name="T28" fmla="*/ 12119 w 110"/>
                <a:gd name="T29" fmla="*/ 104 h 107"/>
                <a:gd name="T30" fmla="*/ 12513 w 110"/>
                <a:gd name="T31" fmla="*/ 50 h 107"/>
                <a:gd name="T32" fmla="*/ 12819 w 110"/>
                <a:gd name="T33" fmla="*/ 0 h 107"/>
                <a:gd name="T34" fmla="*/ 11091 w 110"/>
                <a:gd name="T35" fmla="*/ 0 h 107"/>
                <a:gd name="T36" fmla="*/ 10990 w 110"/>
                <a:gd name="T37" fmla="*/ 42 h 107"/>
                <a:gd name="T38" fmla="*/ 10735 w 110"/>
                <a:gd name="T39" fmla="*/ 69 h 107"/>
                <a:gd name="T40" fmla="*/ 10246 w 110"/>
                <a:gd name="T41" fmla="*/ 103 h 107"/>
                <a:gd name="T42" fmla="*/ 9595 w 110"/>
                <a:gd name="T43" fmla="*/ 123 h 107"/>
                <a:gd name="T44" fmla="*/ 8841 w 110"/>
                <a:gd name="T45" fmla="*/ 156 h 107"/>
                <a:gd name="T46" fmla="*/ 7950 w 110"/>
                <a:gd name="T47" fmla="*/ 183 h 107"/>
                <a:gd name="T48" fmla="*/ 6983 w 110"/>
                <a:gd name="T49" fmla="*/ 212 h 107"/>
                <a:gd name="T50" fmla="*/ 6096 w 110"/>
                <a:gd name="T51" fmla="*/ 244 h 107"/>
                <a:gd name="T52" fmla="*/ 4893 w 110"/>
                <a:gd name="T53" fmla="*/ 270 h 107"/>
                <a:gd name="T54" fmla="*/ 4026 w 110"/>
                <a:gd name="T55" fmla="*/ 297 h 107"/>
                <a:gd name="T56" fmla="*/ 2917 w 110"/>
                <a:gd name="T57" fmla="*/ 337 h 107"/>
                <a:gd name="T58" fmla="*/ 2095 w 110"/>
                <a:gd name="T59" fmla="*/ 374 h 107"/>
                <a:gd name="T60" fmla="*/ 1331 w 110"/>
                <a:gd name="T61" fmla="*/ 410 h 107"/>
                <a:gd name="T62" fmla="*/ 596 w 110"/>
                <a:gd name="T63" fmla="*/ 465 h 107"/>
                <a:gd name="T64" fmla="*/ 302 w 110"/>
                <a:gd name="T65" fmla="*/ 516 h 107"/>
                <a:gd name="T66" fmla="*/ 0 w 110"/>
                <a:gd name="T67" fmla="*/ 576 h 107"/>
                <a:gd name="T68" fmla="*/ 1791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1"/>
                  </a:lnTo>
                  <a:lnTo>
                    <a:pt x="21" y="84"/>
                  </a:lnTo>
                  <a:lnTo>
                    <a:pt x="27" y="78"/>
                  </a:lnTo>
                  <a:lnTo>
                    <a:pt x="34" y="72"/>
                  </a:lnTo>
                  <a:lnTo>
                    <a:pt x="41" y="67"/>
                  </a:lnTo>
                  <a:lnTo>
                    <a:pt x="50" y="61"/>
                  </a:lnTo>
                  <a:lnTo>
                    <a:pt x="58" y="56"/>
                  </a:lnTo>
                  <a:lnTo>
                    <a:pt x="67" y="51"/>
                  </a:lnTo>
                  <a:lnTo>
                    <a:pt x="76" y="46"/>
                  </a:lnTo>
                  <a:lnTo>
                    <a:pt x="84" y="39"/>
                  </a:lnTo>
                  <a:lnTo>
                    <a:pt x="91" y="33"/>
                  </a:lnTo>
                  <a:lnTo>
                    <a:pt x="99" y="27"/>
                  </a:lnTo>
                  <a:lnTo>
                    <a:pt x="104" y="19"/>
                  </a:lnTo>
                  <a:lnTo>
                    <a:pt x="107" y="9"/>
                  </a:lnTo>
                  <a:lnTo>
                    <a:pt x="109" y="0"/>
                  </a:lnTo>
                  <a:lnTo>
                    <a:pt x="95" y="0"/>
                  </a:lnTo>
                  <a:lnTo>
                    <a:pt x="94" y="7"/>
                  </a:lnTo>
                  <a:lnTo>
                    <a:pt x="92" y="13"/>
                  </a:lnTo>
                  <a:lnTo>
                    <a:pt x="88" y="18"/>
                  </a:lnTo>
                  <a:lnTo>
                    <a:pt x="82" y="23"/>
                  </a:lnTo>
                  <a:lnTo>
                    <a:pt x="76" y="29"/>
                  </a:lnTo>
                  <a:lnTo>
                    <a:pt x="68" y="34"/>
                  </a:lnTo>
                  <a:lnTo>
                    <a:pt x="60" y="39"/>
                  </a:lnTo>
                  <a:lnTo>
                    <a:pt x="52" y="44"/>
                  </a:lnTo>
                  <a:lnTo>
                    <a:pt x="42" y="50"/>
                  </a:lnTo>
                  <a:lnTo>
                    <a:pt x="34" y="55"/>
                  </a:lnTo>
                  <a:lnTo>
                    <a:pt x="25" y="61"/>
                  </a:lnTo>
                  <a:lnTo>
                    <a:pt x="18" y="69"/>
                  </a:lnTo>
                  <a:lnTo>
                    <a:pt x="11" y="76"/>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8" name="Freeform 246">
              <a:extLst>
                <a:ext uri="{FF2B5EF4-FFF2-40B4-BE49-F238E27FC236}">
                  <a16:creationId xmlns:a16="http://schemas.microsoft.com/office/drawing/2014/main" id="{ABA2D970-CF6A-2F43-2416-973D1FA432AC}"/>
                </a:ext>
              </a:extLst>
            </p:cNvPr>
            <p:cNvSpPr>
              <a:spLocks/>
            </p:cNvSpPr>
            <p:nvPr/>
          </p:nvSpPr>
          <p:spPr bwMode="auto">
            <a:xfrm>
              <a:off x="3820" y="2726"/>
              <a:ext cx="138" cy="116"/>
            </a:xfrm>
            <a:custGeom>
              <a:avLst/>
              <a:gdLst>
                <a:gd name="T0" fmla="*/ 12819 w 110"/>
                <a:gd name="T1" fmla="*/ 576 h 107"/>
                <a:gd name="T2" fmla="*/ 12513 w 110"/>
                <a:gd name="T3" fmla="*/ 516 h 107"/>
                <a:gd name="T4" fmla="*/ 12119 w 110"/>
                <a:gd name="T5" fmla="*/ 465 h 107"/>
                <a:gd name="T6" fmla="*/ 11650 w 110"/>
                <a:gd name="T7" fmla="*/ 417 h 107"/>
                <a:gd name="T8" fmla="*/ 10625 w 110"/>
                <a:gd name="T9" fmla="*/ 378 h 107"/>
                <a:gd name="T10" fmla="*/ 9802 w 110"/>
                <a:gd name="T11" fmla="*/ 345 h 107"/>
                <a:gd name="T12" fmla="*/ 8841 w 110"/>
                <a:gd name="T13" fmla="*/ 317 h 107"/>
                <a:gd name="T14" fmla="*/ 7813 w 110"/>
                <a:gd name="T15" fmla="*/ 289 h 107"/>
                <a:gd name="T16" fmla="*/ 6821 w 110"/>
                <a:gd name="T17" fmla="*/ 265 h 107"/>
                <a:gd name="T18" fmla="*/ 5761 w 110"/>
                <a:gd name="T19" fmla="*/ 233 h 107"/>
                <a:gd name="T20" fmla="*/ 4710 w 110"/>
                <a:gd name="T21" fmla="*/ 208 h 107"/>
                <a:gd name="T22" fmla="*/ 4026 w 110"/>
                <a:gd name="T23" fmla="*/ 181 h 107"/>
                <a:gd name="T24" fmla="*/ 3209 w 110"/>
                <a:gd name="T25" fmla="*/ 144 h 107"/>
                <a:gd name="T26" fmla="*/ 2385 w 110"/>
                <a:gd name="T27" fmla="*/ 113 h 107"/>
                <a:gd name="T28" fmla="*/ 2095 w 110"/>
                <a:gd name="T29" fmla="*/ 81 h 107"/>
                <a:gd name="T30" fmla="*/ 1791 w 110"/>
                <a:gd name="T31" fmla="*/ 46 h 107"/>
                <a:gd name="T32" fmla="*/ 1791 w 110"/>
                <a:gd name="T33" fmla="*/ 0 h 107"/>
                <a:gd name="T34" fmla="*/ 0 w 110"/>
                <a:gd name="T35" fmla="*/ 0 h 107"/>
                <a:gd name="T36" fmla="*/ 302 w 110"/>
                <a:gd name="T37" fmla="*/ 59 h 107"/>
                <a:gd name="T38" fmla="*/ 596 w 110"/>
                <a:gd name="T39" fmla="*/ 113 h 107"/>
                <a:gd name="T40" fmla="*/ 1331 w 110"/>
                <a:gd name="T41" fmla="*/ 156 h 107"/>
                <a:gd name="T42" fmla="*/ 2095 w 110"/>
                <a:gd name="T43" fmla="*/ 198 h 107"/>
                <a:gd name="T44" fmla="*/ 2992 w 110"/>
                <a:gd name="T45" fmla="*/ 233 h 107"/>
                <a:gd name="T46" fmla="*/ 4026 w 110"/>
                <a:gd name="T47" fmla="*/ 270 h 107"/>
                <a:gd name="T48" fmla="*/ 5051 w 110"/>
                <a:gd name="T49" fmla="*/ 297 h 107"/>
                <a:gd name="T50" fmla="*/ 6096 w 110"/>
                <a:gd name="T51" fmla="*/ 318 h 107"/>
                <a:gd name="T52" fmla="*/ 6983 w 110"/>
                <a:gd name="T53" fmla="*/ 349 h 107"/>
                <a:gd name="T54" fmla="*/ 7950 w 110"/>
                <a:gd name="T55" fmla="*/ 378 h 107"/>
                <a:gd name="T56" fmla="*/ 8841 w 110"/>
                <a:gd name="T57" fmla="*/ 404 h 107"/>
                <a:gd name="T58" fmla="*/ 9595 w 110"/>
                <a:gd name="T59" fmla="*/ 438 h 107"/>
                <a:gd name="T60" fmla="*/ 10246 w 110"/>
                <a:gd name="T61" fmla="*/ 469 h 107"/>
                <a:gd name="T62" fmla="*/ 10735 w 110"/>
                <a:gd name="T63" fmla="*/ 504 h 107"/>
                <a:gd name="T64" fmla="*/ 10990 w 110"/>
                <a:gd name="T65" fmla="*/ 531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5"/>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7"/>
                  </a:lnTo>
                  <a:lnTo>
                    <a:pt x="26" y="43"/>
                  </a:lnTo>
                  <a:lnTo>
                    <a:pt x="34" y="50"/>
                  </a:lnTo>
                  <a:lnTo>
                    <a:pt x="43" y="55"/>
                  </a:lnTo>
                  <a:lnTo>
                    <a:pt x="52" y="59"/>
                  </a:lnTo>
                  <a:lnTo>
                    <a:pt x="60" y="65"/>
                  </a:lnTo>
                  <a:lnTo>
                    <a:pt x="68" y="70"/>
                  </a:lnTo>
                  <a:lnTo>
                    <a:pt x="76" y="74"/>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99" name="Freeform 247">
              <a:extLst>
                <a:ext uri="{FF2B5EF4-FFF2-40B4-BE49-F238E27FC236}">
                  <a16:creationId xmlns:a16="http://schemas.microsoft.com/office/drawing/2014/main" id="{5E60C9AF-7A71-4747-551F-B628795AEE4F}"/>
                </a:ext>
              </a:extLst>
            </p:cNvPr>
            <p:cNvSpPr>
              <a:spLocks/>
            </p:cNvSpPr>
            <p:nvPr/>
          </p:nvSpPr>
          <p:spPr bwMode="auto">
            <a:xfrm>
              <a:off x="3820" y="2841"/>
              <a:ext cx="138" cy="115"/>
            </a:xfrm>
            <a:custGeom>
              <a:avLst/>
              <a:gdLst>
                <a:gd name="T0" fmla="*/ 1791 w 110"/>
                <a:gd name="T1" fmla="*/ 480 h 107"/>
                <a:gd name="T2" fmla="*/ 1791 w 110"/>
                <a:gd name="T3" fmla="*/ 443 h 107"/>
                <a:gd name="T4" fmla="*/ 2095 w 110"/>
                <a:gd name="T5" fmla="*/ 408 h 107"/>
                <a:gd name="T6" fmla="*/ 2385 w 110"/>
                <a:gd name="T7" fmla="*/ 383 h 107"/>
                <a:gd name="T8" fmla="*/ 3209 w 110"/>
                <a:gd name="T9" fmla="*/ 356 h 107"/>
                <a:gd name="T10" fmla="*/ 4026 w 110"/>
                <a:gd name="T11" fmla="*/ 329 h 107"/>
                <a:gd name="T12" fmla="*/ 4710 w 110"/>
                <a:gd name="T13" fmla="*/ 306 h 107"/>
                <a:gd name="T14" fmla="*/ 5761 w 110"/>
                <a:gd name="T15" fmla="*/ 284 h 107"/>
                <a:gd name="T16" fmla="*/ 6821 w 110"/>
                <a:gd name="T17" fmla="*/ 264 h 107"/>
                <a:gd name="T18" fmla="*/ 7813 w 110"/>
                <a:gd name="T19" fmla="*/ 244 h 107"/>
                <a:gd name="T20" fmla="*/ 8841 w 110"/>
                <a:gd name="T21" fmla="*/ 218 h 107"/>
                <a:gd name="T22" fmla="*/ 9802 w 110"/>
                <a:gd name="T23" fmla="*/ 189 h 107"/>
                <a:gd name="T24" fmla="*/ 10625 w 110"/>
                <a:gd name="T25" fmla="*/ 164 h 107"/>
                <a:gd name="T26" fmla="*/ 11650 w 110"/>
                <a:gd name="T27" fmla="*/ 129 h 107"/>
                <a:gd name="T28" fmla="*/ 12119 w 110"/>
                <a:gd name="T29" fmla="*/ 90 h 107"/>
                <a:gd name="T30" fmla="*/ 12513 w 110"/>
                <a:gd name="T31" fmla="*/ 44 h 107"/>
                <a:gd name="T32" fmla="*/ 12819 w 110"/>
                <a:gd name="T33" fmla="*/ 0 h 107"/>
                <a:gd name="T34" fmla="*/ 11091 w 110"/>
                <a:gd name="T35" fmla="*/ 0 h 107"/>
                <a:gd name="T36" fmla="*/ 10990 w 110"/>
                <a:gd name="T37" fmla="*/ 38 h 107"/>
                <a:gd name="T38" fmla="*/ 10735 w 110"/>
                <a:gd name="T39" fmla="*/ 59 h 107"/>
                <a:gd name="T40" fmla="*/ 10246 w 110"/>
                <a:gd name="T41" fmla="*/ 90 h 107"/>
                <a:gd name="T42" fmla="*/ 9595 w 110"/>
                <a:gd name="T43" fmla="*/ 112 h 107"/>
                <a:gd name="T44" fmla="*/ 8841 w 110"/>
                <a:gd name="T45" fmla="*/ 139 h 107"/>
                <a:gd name="T46" fmla="*/ 7950 w 110"/>
                <a:gd name="T47" fmla="*/ 164 h 107"/>
                <a:gd name="T48" fmla="*/ 6983 w 110"/>
                <a:gd name="T49" fmla="*/ 185 h 107"/>
                <a:gd name="T50" fmla="*/ 6096 w 110"/>
                <a:gd name="T51" fmla="*/ 211 h 107"/>
                <a:gd name="T52" fmla="*/ 5051 w 110"/>
                <a:gd name="T53" fmla="*/ 230 h 107"/>
                <a:gd name="T54" fmla="*/ 4026 w 110"/>
                <a:gd name="T55" fmla="*/ 251 h 107"/>
                <a:gd name="T56" fmla="*/ 2992 w 110"/>
                <a:gd name="T57" fmla="*/ 284 h 107"/>
                <a:gd name="T58" fmla="*/ 2095 w 110"/>
                <a:gd name="T59" fmla="*/ 306 h 107"/>
                <a:gd name="T60" fmla="*/ 1331 w 110"/>
                <a:gd name="T61" fmla="*/ 353 h 107"/>
                <a:gd name="T62" fmla="*/ 596 w 110"/>
                <a:gd name="T63" fmla="*/ 383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8" y="90"/>
                  </a:lnTo>
                  <a:lnTo>
                    <a:pt x="21" y="85"/>
                  </a:lnTo>
                  <a:lnTo>
                    <a:pt x="27" y="79"/>
                  </a:lnTo>
                  <a:lnTo>
                    <a:pt x="34" y="73"/>
                  </a:lnTo>
                  <a:lnTo>
                    <a:pt x="41" y="68"/>
                  </a:lnTo>
                  <a:lnTo>
                    <a:pt x="49" y="62"/>
                  </a:lnTo>
                  <a:lnTo>
                    <a:pt x="58" y="58"/>
                  </a:lnTo>
                  <a:lnTo>
                    <a:pt x="67" y="53"/>
                  </a:lnTo>
                  <a:lnTo>
                    <a:pt x="76" y="48"/>
                  </a:lnTo>
                  <a:lnTo>
                    <a:pt x="84" y="42"/>
                  </a:lnTo>
                  <a:lnTo>
                    <a:pt x="91" y="36"/>
                  </a:lnTo>
                  <a:lnTo>
                    <a:pt x="99" y="29"/>
                  </a:lnTo>
                  <a:lnTo>
                    <a:pt x="104" y="20"/>
                  </a:lnTo>
                  <a:lnTo>
                    <a:pt x="107" y="10"/>
                  </a:lnTo>
                  <a:lnTo>
                    <a:pt x="109" y="0"/>
                  </a:lnTo>
                  <a:lnTo>
                    <a:pt x="95" y="0"/>
                  </a:lnTo>
                  <a:lnTo>
                    <a:pt x="94" y="8"/>
                  </a:lnTo>
                  <a:lnTo>
                    <a:pt x="92" y="14"/>
                  </a:lnTo>
                  <a:lnTo>
                    <a:pt x="88" y="20"/>
                  </a:lnTo>
                  <a:lnTo>
                    <a:pt x="82" y="25"/>
                  </a:lnTo>
                  <a:lnTo>
                    <a:pt x="76" y="31"/>
                  </a:lnTo>
                  <a:lnTo>
                    <a:pt x="68" y="36"/>
                  </a:lnTo>
                  <a:lnTo>
                    <a:pt x="60" y="41"/>
                  </a:lnTo>
                  <a:lnTo>
                    <a:pt x="52" y="46"/>
                  </a:lnTo>
                  <a:lnTo>
                    <a:pt x="43" y="51"/>
                  </a:lnTo>
                  <a:lnTo>
                    <a:pt x="34" y="56"/>
                  </a:lnTo>
                  <a:lnTo>
                    <a:pt x="26" y="62"/>
                  </a:lnTo>
                  <a:lnTo>
                    <a:pt x="18" y="68"/>
                  </a:lnTo>
                  <a:lnTo>
                    <a:pt x="11" y="77"/>
                  </a:lnTo>
                  <a:lnTo>
                    <a:pt x="5" y="85"/>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0" name="Freeform 248">
              <a:extLst>
                <a:ext uri="{FF2B5EF4-FFF2-40B4-BE49-F238E27FC236}">
                  <a16:creationId xmlns:a16="http://schemas.microsoft.com/office/drawing/2014/main" id="{914CDCCA-CA1F-53A3-253A-21332D2EDB68}"/>
                </a:ext>
              </a:extLst>
            </p:cNvPr>
            <p:cNvSpPr>
              <a:spLocks/>
            </p:cNvSpPr>
            <p:nvPr/>
          </p:nvSpPr>
          <p:spPr bwMode="auto">
            <a:xfrm>
              <a:off x="3820" y="2955"/>
              <a:ext cx="138" cy="117"/>
            </a:xfrm>
            <a:custGeom>
              <a:avLst/>
              <a:gdLst>
                <a:gd name="T0" fmla="*/ 12819 w 110"/>
                <a:gd name="T1" fmla="*/ 569 h 108"/>
                <a:gd name="T2" fmla="*/ 12513 w 110"/>
                <a:gd name="T3" fmla="*/ 518 h 108"/>
                <a:gd name="T4" fmla="*/ 12119 w 110"/>
                <a:gd name="T5" fmla="*/ 469 h 108"/>
                <a:gd name="T6" fmla="*/ 11650 w 110"/>
                <a:gd name="T7" fmla="*/ 427 h 108"/>
                <a:gd name="T8" fmla="*/ 10625 w 110"/>
                <a:gd name="T9" fmla="*/ 380 h 108"/>
                <a:gd name="T10" fmla="*/ 9802 w 110"/>
                <a:gd name="T11" fmla="*/ 346 h 108"/>
                <a:gd name="T12" fmla="*/ 8841 w 110"/>
                <a:gd name="T13" fmla="*/ 319 h 108"/>
                <a:gd name="T14" fmla="*/ 7813 w 110"/>
                <a:gd name="T15" fmla="*/ 293 h 108"/>
                <a:gd name="T16" fmla="*/ 6821 w 110"/>
                <a:gd name="T17" fmla="*/ 265 h 108"/>
                <a:gd name="T18" fmla="*/ 5761 w 110"/>
                <a:gd name="T19" fmla="*/ 244 h 108"/>
                <a:gd name="T20" fmla="*/ 4710 w 110"/>
                <a:gd name="T21" fmla="*/ 210 h 108"/>
                <a:gd name="T22" fmla="*/ 4026 w 110"/>
                <a:gd name="T23" fmla="*/ 182 h 108"/>
                <a:gd name="T24" fmla="*/ 3209 w 110"/>
                <a:gd name="T25" fmla="*/ 150 h 108"/>
                <a:gd name="T26" fmla="*/ 2385 w 110"/>
                <a:gd name="T27" fmla="*/ 122 h 108"/>
                <a:gd name="T28" fmla="*/ 2095 w 110"/>
                <a:gd name="T29" fmla="*/ 87 h 108"/>
                <a:gd name="T30" fmla="*/ 1791 w 110"/>
                <a:gd name="T31" fmla="*/ 50 h 108"/>
                <a:gd name="T32" fmla="*/ 1791 w 110"/>
                <a:gd name="T33" fmla="*/ 0 h 108"/>
                <a:gd name="T34" fmla="*/ 0 w 110"/>
                <a:gd name="T35" fmla="*/ 0 h 108"/>
                <a:gd name="T36" fmla="*/ 302 w 110"/>
                <a:gd name="T37" fmla="*/ 63 h 108"/>
                <a:gd name="T38" fmla="*/ 596 w 110"/>
                <a:gd name="T39" fmla="*/ 113 h 108"/>
                <a:gd name="T40" fmla="*/ 1331 w 110"/>
                <a:gd name="T41" fmla="*/ 163 h 108"/>
                <a:gd name="T42" fmla="*/ 2095 w 110"/>
                <a:gd name="T43" fmla="*/ 208 h 108"/>
                <a:gd name="T44" fmla="*/ 2992 w 110"/>
                <a:gd name="T45" fmla="*/ 245 h 108"/>
                <a:gd name="T46" fmla="*/ 4026 w 110"/>
                <a:gd name="T47" fmla="*/ 270 h 108"/>
                <a:gd name="T48" fmla="*/ 5051 w 110"/>
                <a:gd name="T49" fmla="*/ 310 h 108"/>
                <a:gd name="T50" fmla="*/ 6096 w 110"/>
                <a:gd name="T51" fmla="*/ 336 h 108"/>
                <a:gd name="T52" fmla="*/ 6983 w 110"/>
                <a:gd name="T53" fmla="*/ 364 h 108"/>
                <a:gd name="T54" fmla="*/ 7950 w 110"/>
                <a:gd name="T55" fmla="*/ 380 h 108"/>
                <a:gd name="T56" fmla="*/ 8841 w 110"/>
                <a:gd name="T57" fmla="*/ 406 h 108"/>
                <a:gd name="T58" fmla="*/ 9595 w 110"/>
                <a:gd name="T59" fmla="*/ 440 h 108"/>
                <a:gd name="T60" fmla="*/ 10246 w 110"/>
                <a:gd name="T61" fmla="*/ 473 h 108"/>
                <a:gd name="T62" fmla="*/ 10735 w 110"/>
                <a:gd name="T63" fmla="*/ 503 h 108"/>
                <a:gd name="T64" fmla="*/ 10990 w 110"/>
                <a:gd name="T65" fmla="*/ 525 h 108"/>
                <a:gd name="T66" fmla="*/ 11091 w 110"/>
                <a:gd name="T67" fmla="*/ 569 h 108"/>
                <a:gd name="T68" fmla="*/ 12819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09" y="107"/>
                  </a:moveTo>
                  <a:lnTo>
                    <a:pt x="107" y="97"/>
                  </a:lnTo>
                  <a:lnTo>
                    <a:pt x="104" y="87"/>
                  </a:lnTo>
                  <a:lnTo>
                    <a:pt x="99" y="78"/>
                  </a:lnTo>
                  <a:lnTo>
                    <a:pt x="91" y="71"/>
                  </a:lnTo>
                  <a:lnTo>
                    <a:pt x="84" y="65"/>
                  </a:lnTo>
                  <a:lnTo>
                    <a:pt x="76" y="60"/>
                  </a:lnTo>
                  <a:lnTo>
                    <a:pt x="67" y="54"/>
                  </a:lnTo>
                  <a:lnTo>
                    <a:pt x="58" y="49"/>
                  </a:lnTo>
                  <a:lnTo>
                    <a:pt x="49" y="44"/>
                  </a:lnTo>
                  <a:lnTo>
                    <a:pt x="41" y="39"/>
                  </a:lnTo>
                  <a:lnTo>
                    <a:pt x="34" y="34"/>
                  </a:lnTo>
                  <a:lnTo>
                    <a:pt x="27" y="28"/>
                  </a:lnTo>
                  <a:lnTo>
                    <a:pt x="21" y="23"/>
                  </a:lnTo>
                  <a:lnTo>
                    <a:pt x="18" y="16"/>
                  </a:lnTo>
                  <a:lnTo>
                    <a:pt x="15" y="9"/>
                  </a:lnTo>
                  <a:lnTo>
                    <a:pt x="15" y="0"/>
                  </a:lnTo>
                  <a:lnTo>
                    <a:pt x="0" y="0"/>
                  </a:lnTo>
                  <a:lnTo>
                    <a:pt x="2" y="12"/>
                  </a:lnTo>
                  <a:lnTo>
                    <a:pt x="5" y="21"/>
                  </a:lnTo>
                  <a:lnTo>
                    <a:pt x="11" y="30"/>
                  </a:lnTo>
                  <a:lnTo>
                    <a:pt x="18" y="38"/>
                  </a:lnTo>
                  <a:lnTo>
                    <a:pt x="26" y="45"/>
                  </a:lnTo>
                  <a:lnTo>
                    <a:pt x="34" y="50"/>
                  </a:lnTo>
                  <a:lnTo>
                    <a:pt x="43" y="56"/>
                  </a:lnTo>
                  <a:lnTo>
                    <a:pt x="52" y="61"/>
                  </a:lnTo>
                  <a:lnTo>
                    <a:pt x="60" y="66"/>
                  </a:lnTo>
                  <a:lnTo>
                    <a:pt x="68" y="71"/>
                  </a:lnTo>
                  <a:lnTo>
                    <a:pt x="76" y="76"/>
                  </a:lnTo>
                  <a:lnTo>
                    <a:pt x="82" y="82"/>
                  </a:lnTo>
                  <a:lnTo>
                    <a:pt x="88" y="88"/>
                  </a:lnTo>
                  <a:lnTo>
                    <a:pt x="92" y="93"/>
                  </a:lnTo>
                  <a:lnTo>
                    <a:pt x="94" y="99"/>
                  </a:lnTo>
                  <a:lnTo>
                    <a:pt x="95" y="107"/>
                  </a:lnTo>
                  <a:lnTo>
                    <a:pt x="109"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1" name="Freeform 249">
              <a:extLst>
                <a:ext uri="{FF2B5EF4-FFF2-40B4-BE49-F238E27FC236}">
                  <a16:creationId xmlns:a16="http://schemas.microsoft.com/office/drawing/2014/main" id="{26A0F622-359A-7502-1887-E064DA88B959}"/>
                </a:ext>
              </a:extLst>
            </p:cNvPr>
            <p:cNvSpPr>
              <a:spLocks/>
            </p:cNvSpPr>
            <p:nvPr/>
          </p:nvSpPr>
          <p:spPr bwMode="auto">
            <a:xfrm>
              <a:off x="3820" y="3071"/>
              <a:ext cx="138" cy="100"/>
            </a:xfrm>
            <a:custGeom>
              <a:avLst/>
              <a:gdLst>
                <a:gd name="T0" fmla="*/ 1791 w 110"/>
                <a:gd name="T1" fmla="*/ 419 h 93"/>
                <a:gd name="T2" fmla="*/ 1901 w 110"/>
                <a:gd name="T3" fmla="*/ 378 h 93"/>
                <a:gd name="T4" fmla="*/ 2992 w 110"/>
                <a:gd name="T5" fmla="*/ 331 h 93"/>
                <a:gd name="T6" fmla="*/ 4710 w 110"/>
                <a:gd name="T7" fmla="*/ 292 h 93"/>
                <a:gd name="T8" fmla="*/ 6821 w 110"/>
                <a:gd name="T9" fmla="*/ 261 h 93"/>
                <a:gd name="T10" fmla="*/ 8841 w 110"/>
                <a:gd name="T11" fmla="*/ 214 h 93"/>
                <a:gd name="T12" fmla="*/ 10625 w 110"/>
                <a:gd name="T13" fmla="*/ 160 h 93"/>
                <a:gd name="T14" fmla="*/ 12119 w 110"/>
                <a:gd name="T15" fmla="*/ 95 h 93"/>
                <a:gd name="T16" fmla="*/ 12819 w 110"/>
                <a:gd name="T17" fmla="*/ 0 h 93"/>
                <a:gd name="T18" fmla="*/ 11091 w 110"/>
                <a:gd name="T19" fmla="*/ 0 h 93"/>
                <a:gd name="T20" fmla="*/ 10735 w 110"/>
                <a:gd name="T21" fmla="*/ 61 h 93"/>
                <a:gd name="T22" fmla="*/ 9595 w 110"/>
                <a:gd name="T23" fmla="*/ 112 h 93"/>
                <a:gd name="T24" fmla="*/ 7950 w 110"/>
                <a:gd name="T25" fmla="*/ 160 h 93"/>
                <a:gd name="T26" fmla="*/ 6096 w 110"/>
                <a:gd name="T27" fmla="*/ 199 h 93"/>
                <a:gd name="T28" fmla="*/ 4026 w 110"/>
                <a:gd name="T29" fmla="*/ 245 h 93"/>
                <a:gd name="T30" fmla="*/ 2247 w 110"/>
                <a:gd name="T31" fmla="*/ 286 h 93"/>
                <a:gd name="T32" fmla="*/ 748 w 110"/>
                <a:gd name="T33" fmla="*/ 349 h 93"/>
                <a:gd name="T34" fmla="*/ 0 w 110"/>
                <a:gd name="T35" fmla="*/ 419 h 93"/>
                <a:gd name="T36" fmla="*/ 1791 w 110"/>
                <a:gd name="T37" fmla="*/ 419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3"/>
                <a:gd name="T59" fmla="*/ 110 w 110"/>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3">
                  <a:moveTo>
                    <a:pt x="15" y="92"/>
                  </a:moveTo>
                  <a:lnTo>
                    <a:pt x="17" y="82"/>
                  </a:lnTo>
                  <a:lnTo>
                    <a:pt x="26" y="73"/>
                  </a:lnTo>
                  <a:lnTo>
                    <a:pt x="41" y="64"/>
                  </a:lnTo>
                  <a:lnTo>
                    <a:pt x="58" y="56"/>
                  </a:lnTo>
                  <a:lnTo>
                    <a:pt x="76" y="47"/>
                  </a:lnTo>
                  <a:lnTo>
                    <a:pt x="91" y="35"/>
                  </a:lnTo>
                  <a:lnTo>
                    <a:pt x="104" y="20"/>
                  </a:lnTo>
                  <a:lnTo>
                    <a:pt x="109" y="0"/>
                  </a:lnTo>
                  <a:lnTo>
                    <a:pt x="95" y="0"/>
                  </a:lnTo>
                  <a:lnTo>
                    <a:pt x="92" y="14"/>
                  </a:lnTo>
                  <a:lnTo>
                    <a:pt x="82" y="25"/>
                  </a:lnTo>
                  <a:lnTo>
                    <a:pt x="68" y="35"/>
                  </a:lnTo>
                  <a:lnTo>
                    <a:pt x="52" y="44"/>
                  </a:lnTo>
                  <a:lnTo>
                    <a:pt x="34" y="53"/>
                  </a:lnTo>
                  <a:lnTo>
                    <a:pt x="19" y="63"/>
                  </a:lnTo>
                  <a:lnTo>
                    <a:pt x="6" y="75"/>
                  </a:lnTo>
                  <a:lnTo>
                    <a:pt x="0" y="92"/>
                  </a:lnTo>
                  <a:lnTo>
                    <a:pt x="15" y="9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2" name="Freeform 250">
              <a:extLst>
                <a:ext uri="{FF2B5EF4-FFF2-40B4-BE49-F238E27FC236}">
                  <a16:creationId xmlns:a16="http://schemas.microsoft.com/office/drawing/2014/main" id="{3B115AC9-43A6-A3B3-019F-5EBD930669AE}"/>
                </a:ext>
              </a:extLst>
            </p:cNvPr>
            <p:cNvSpPr>
              <a:spLocks/>
            </p:cNvSpPr>
            <p:nvPr/>
          </p:nvSpPr>
          <p:spPr bwMode="auto">
            <a:xfrm>
              <a:off x="3820" y="3170"/>
              <a:ext cx="19" cy="2"/>
            </a:xfrm>
            <a:custGeom>
              <a:avLst/>
              <a:gdLst>
                <a:gd name="T0" fmla="*/ 2080 w 15"/>
                <a:gd name="T1" fmla="*/ 1 h 2"/>
                <a:gd name="T2" fmla="*/ 2080 w 15"/>
                <a:gd name="T3" fmla="*/ 0 h 2"/>
                <a:gd name="T4" fmla="*/ 0 w 15"/>
                <a:gd name="T5" fmla="*/ 0 h 2"/>
                <a:gd name="T6" fmla="*/ 0 w 15"/>
                <a:gd name="T7" fmla="*/ 1 h 2"/>
                <a:gd name="T8" fmla="*/ 2080 w 15"/>
                <a:gd name="T9" fmla="*/ 1 h 2"/>
                <a:gd name="T10" fmla="*/ 0 60000 65536"/>
                <a:gd name="T11" fmla="*/ 0 60000 65536"/>
                <a:gd name="T12" fmla="*/ 0 60000 65536"/>
                <a:gd name="T13" fmla="*/ 0 60000 65536"/>
                <a:gd name="T14" fmla="*/ 0 60000 65536"/>
                <a:gd name="T15" fmla="*/ 0 w 15"/>
                <a:gd name="T16" fmla="*/ 0 h 2"/>
                <a:gd name="T17" fmla="*/ 15 w 15"/>
                <a:gd name="T18" fmla="*/ 2 h 2"/>
              </a:gdLst>
              <a:ahLst/>
              <a:cxnLst>
                <a:cxn ang="T10">
                  <a:pos x="T0" y="T1"/>
                </a:cxn>
                <a:cxn ang="T11">
                  <a:pos x="T2" y="T3"/>
                </a:cxn>
                <a:cxn ang="T12">
                  <a:pos x="T4" y="T5"/>
                </a:cxn>
                <a:cxn ang="T13">
                  <a:pos x="T6" y="T7"/>
                </a:cxn>
                <a:cxn ang="T14">
                  <a:pos x="T8" y="T9"/>
                </a:cxn>
              </a:cxnLst>
              <a:rect l="T15" t="T16" r="T17" b="T18"/>
              <a:pathLst>
                <a:path w="15" h="2">
                  <a:moveTo>
                    <a:pt x="14" y="1"/>
                  </a:moveTo>
                  <a:lnTo>
                    <a:pt x="14" y="0"/>
                  </a:lnTo>
                  <a:lnTo>
                    <a:pt x="0" y="0"/>
                  </a:lnTo>
                  <a:lnTo>
                    <a:pt x="0" y="1"/>
                  </a:lnTo>
                  <a:lnTo>
                    <a:pt x="14" y="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3" name="Freeform 251">
              <a:extLst>
                <a:ext uri="{FF2B5EF4-FFF2-40B4-BE49-F238E27FC236}">
                  <a16:creationId xmlns:a16="http://schemas.microsoft.com/office/drawing/2014/main" id="{145D190E-2E37-9A9A-48F3-66BDD40EE17B}"/>
                </a:ext>
              </a:extLst>
            </p:cNvPr>
            <p:cNvSpPr>
              <a:spLocks/>
            </p:cNvSpPr>
            <p:nvPr/>
          </p:nvSpPr>
          <p:spPr bwMode="auto">
            <a:xfrm>
              <a:off x="3820" y="3171"/>
              <a:ext cx="138" cy="116"/>
            </a:xfrm>
            <a:custGeom>
              <a:avLst/>
              <a:gdLst>
                <a:gd name="T0" fmla="*/ 12819 w 110"/>
                <a:gd name="T1" fmla="*/ 576 h 107"/>
                <a:gd name="T2" fmla="*/ 12513 w 110"/>
                <a:gd name="T3" fmla="*/ 521 h 107"/>
                <a:gd name="T4" fmla="*/ 12119 w 110"/>
                <a:gd name="T5" fmla="*/ 469 h 107"/>
                <a:gd name="T6" fmla="*/ 11650 w 110"/>
                <a:gd name="T7" fmla="*/ 433 h 107"/>
                <a:gd name="T8" fmla="*/ 10625 w 110"/>
                <a:gd name="T9" fmla="*/ 399 h 107"/>
                <a:gd name="T10" fmla="*/ 9660 w 110"/>
                <a:gd name="T11" fmla="*/ 368 h 107"/>
                <a:gd name="T12" fmla="*/ 8760 w 110"/>
                <a:gd name="T13" fmla="*/ 344 h 107"/>
                <a:gd name="T14" fmla="*/ 7813 w 110"/>
                <a:gd name="T15" fmla="*/ 317 h 107"/>
                <a:gd name="T16" fmla="*/ 6821 w 110"/>
                <a:gd name="T17" fmla="*/ 297 h 107"/>
                <a:gd name="T18" fmla="*/ 5761 w 110"/>
                <a:gd name="T19" fmla="*/ 270 h 107"/>
                <a:gd name="T20" fmla="*/ 4710 w 110"/>
                <a:gd name="T21" fmla="*/ 246 h 107"/>
                <a:gd name="T22" fmla="*/ 4026 w 110"/>
                <a:gd name="T23" fmla="*/ 215 h 107"/>
                <a:gd name="T24" fmla="*/ 3288 w 110"/>
                <a:gd name="T25" fmla="*/ 183 h 107"/>
                <a:gd name="T26" fmla="*/ 2621 w 110"/>
                <a:gd name="T27" fmla="*/ 144 h 107"/>
                <a:gd name="T28" fmla="*/ 2095 w 110"/>
                <a:gd name="T29" fmla="*/ 112 h 107"/>
                <a:gd name="T30" fmla="*/ 1791 w 110"/>
                <a:gd name="T31" fmla="*/ 59 h 107"/>
                <a:gd name="T32" fmla="*/ 1791 w 110"/>
                <a:gd name="T33" fmla="*/ 0 h 107"/>
                <a:gd name="T34" fmla="*/ 0 w 110"/>
                <a:gd name="T35" fmla="*/ 0 h 107"/>
                <a:gd name="T36" fmla="*/ 302 w 110"/>
                <a:gd name="T37" fmla="*/ 75 h 107"/>
                <a:gd name="T38" fmla="*/ 596 w 110"/>
                <a:gd name="T39" fmla="*/ 133 h 107"/>
                <a:gd name="T40" fmla="*/ 1177 w 110"/>
                <a:gd name="T41" fmla="*/ 192 h 107"/>
                <a:gd name="T42" fmla="*/ 1901 w 110"/>
                <a:gd name="T43" fmla="*/ 244 h 107"/>
                <a:gd name="T44" fmla="*/ 2992 w 110"/>
                <a:gd name="T45" fmla="*/ 274 h 107"/>
                <a:gd name="T46" fmla="*/ 4026 w 110"/>
                <a:gd name="T47" fmla="*/ 313 h 107"/>
                <a:gd name="T48" fmla="*/ 5051 w 110"/>
                <a:gd name="T49" fmla="*/ 339 h 107"/>
                <a:gd name="T50" fmla="*/ 6096 w 110"/>
                <a:gd name="T51" fmla="*/ 365 h 107"/>
                <a:gd name="T52" fmla="*/ 6983 w 110"/>
                <a:gd name="T53" fmla="*/ 378 h 107"/>
                <a:gd name="T54" fmla="*/ 8145 w 110"/>
                <a:gd name="T55" fmla="*/ 405 h 107"/>
                <a:gd name="T56" fmla="*/ 8841 w 110"/>
                <a:gd name="T57" fmla="*/ 433 h 107"/>
                <a:gd name="T58" fmla="*/ 9660 w 110"/>
                <a:gd name="T59" fmla="*/ 452 h 107"/>
                <a:gd name="T60" fmla="*/ 10246 w 110"/>
                <a:gd name="T61" fmla="*/ 476 h 107"/>
                <a:gd name="T62" fmla="*/ 10735 w 110"/>
                <a:gd name="T63" fmla="*/ 508 h 107"/>
                <a:gd name="T64" fmla="*/ 10990 w 110"/>
                <a:gd name="T65" fmla="*/ 544 h 107"/>
                <a:gd name="T66" fmla="*/ 11091 w 110"/>
                <a:gd name="T67" fmla="*/ 576 h 107"/>
                <a:gd name="T68" fmla="*/ 12819 w 110"/>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6"/>
                  </a:lnTo>
                  <a:lnTo>
                    <a:pt x="104" y="86"/>
                  </a:lnTo>
                  <a:lnTo>
                    <a:pt x="99" y="79"/>
                  </a:lnTo>
                  <a:lnTo>
                    <a:pt x="91" y="73"/>
                  </a:lnTo>
                  <a:lnTo>
                    <a:pt x="83" y="67"/>
                  </a:lnTo>
                  <a:lnTo>
                    <a:pt x="75" y="63"/>
                  </a:lnTo>
                  <a:lnTo>
                    <a:pt x="67" y="58"/>
                  </a:lnTo>
                  <a:lnTo>
                    <a:pt x="58" y="55"/>
                  </a:lnTo>
                  <a:lnTo>
                    <a:pt x="49" y="50"/>
                  </a:lnTo>
                  <a:lnTo>
                    <a:pt x="41" y="45"/>
                  </a:lnTo>
                  <a:lnTo>
                    <a:pt x="34" y="40"/>
                  </a:lnTo>
                  <a:lnTo>
                    <a:pt x="28" y="34"/>
                  </a:lnTo>
                  <a:lnTo>
                    <a:pt x="22" y="27"/>
                  </a:lnTo>
                  <a:lnTo>
                    <a:pt x="18" y="20"/>
                  </a:lnTo>
                  <a:lnTo>
                    <a:pt x="15" y="11"/>
                  </a:lnTo>
                  <a:lnTo>
                    <a:pt x="15" y="0"/>
                  </a:lnTo>
                  <a:lnTo>
                    <a:pt x="0" y="0"/>
                  </a:lnTo>
                  <a:lnTo>
                    <a:pt x="2" y="14"/>
                  </a:lnTo>
                  <a:lnTo>
                    <a:pt x="5" y="25"/>
                  </a:lnTo>
                  <a:lnTo>
                    <a:pt x="10" y="35"/>
                  </a:lnTo>
                  <a:lnTo>
                    <a:pt x="17" y="44"/>
                  </a:lnTo>
                  <a:lnTo>
                    <a:pt x="26" y="51"/>
                  </a:lnTo>
                  <a:lnTo>
                    <a:pt x="34" y="57"/>
                  </a:lnTo>
                  <a:lnTo>
                    <a:pt x="43" y="62"/>
                  </a:lnTo>
                  <a:lnTo>
                    <a:pt x="52" y="66"/>
                  </a:lnTo>
                  <a:lnTo>
                    <a:pt x="60" y="70"/>
                  </a:lnTo>
                  <a:lnTo>
                    <a:pt x="69" y="75"/>
                  </a:lnTo>
                  <a:lnTo>
                    <a:pt x="76" y="79"/>
                  </a:lnTo>
                  <a:lnTo>
                    <a:pt x="83" y="83"/>
                  </a:lnTo>
                  <a:lnTo>
                    <a:pt x="88" y="88"/>
                  </a:lnTo>
                  <a:lnTo>
                    <a:pt x="92" y="93"/>
                  </a:lnTo>
                  <a:lnTo>
                    <a:pt x="94" y="99"/>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4" name="Freeform 252">
              <a:extLst>
                <a:ext uri="{FF2B5EF4-FFF2-40B4-BE49-F238E27FC236}">
                  <a16:creationId xmlns:a16="http://schemas.microsoft.com/office/drawing/2014/main" id="{146076C9-4FD8-098D-01E9-02C335573F91}"/>
                </a:ext>
              </a:extLst>
            </p:cNvPr>
            <p:cNvSpPr>
              <a:spLocks/>
            </p:cNvSpPr>
            <p:nvPr/>
          </p:nvSpPr>
          <p:spPr bwMode="auto">
            <a:xfrm>
              <a:off x="3820" y="3286"/>
              <a:ext cx="138" cy="117"/>
            </a:xfrm>
            <a:custGeom>
              <a:avLst/>
              <a:gdLst>
                <a:gd name="T0" fmla="*/ 1791 w 110"/>
                <a:gd name="T1" fmla="*/ 569 h 108"/>
                <a:gd name="T2" fmla="*/ 1791 w 110"/>
                <a:gd name="T3" fmla="*/ 523 h 108"/>
                <a:gd name="T4" fmla="*/ 2095 w 110"/>
                <a:gd name="T5" fmla="*/ 490 h 108"/>
                <a:gd name="T6" fmla="*/ 2385 w 110"/>
                <a:gd name="T7" fmla="*/ 463 h 108"/>
                <a:gd name="T8" fmla="*/ 3209 w 110"/>
                <a:gd name="T9" fmla="*/ 433 h 108"/>
                <a:gd name="T10" fmla="*/ 4026 w 110"/>
                <a:gd name="T11" fmla="*/ 395 h 108"/>
                <a:gd name="T12" fmla="*/ 4710 w 110"/>
                <a:gd name="T13" fmla="*/ 372 h 108"/>
                <a:gd name="T14" fmla="*/ 5761 w 110"/>
                <a:gd name="T15" fmla="*/ 339 h 108"/>
                <a:gd name="T16" fmla="*/ 6821 w 110"/>
                <a:gd name="T17" fmla="*/ 313 h 108"/>
                <a:gd name="T18" fmla="*/ 7813 w 110"/>
                <a:gd name="T19" fmla="*/ 287 h 108"/>
                <a:gd name="T20" fmla="*/ 8841 w 110"/>
                <a:gd name="T21" fmla="*/ 264 h 108"/>
                <a:gd name="T22" fmla="*/ 9802 w 110"/>
                <a:gd name="T23" fmla="*/ 230 h 108"/>
                <a:gd name="T24" fmla="*/ 10625 w 110"/>
                <a:gd name="T25" fmla="*/ 194 h 108"/>
                <a:gd name="T26" fmla="*/ 11650 w 110"/>
                <a:gd name="T27" fmla="*/ 155 h 108"/>
                <a:gd name="T28" fmla="*/ 12119 w 110"/>
                <a:gd name="T29" fmla="*/ 113 h 108"/>
                <a:gd name="T30" fmla="*/ 12513 w 110"/>
                <a:gd name="T31" fmla="*/ 58 h 108"/>
                <a:gd name="T32" fmla="*/ 12819 w 110"/>
                <a:gd name="T33" fmla="*/ 0 h 108"/>
                <a:gd name="T34" fmla="*/ 11091 w 110"/>
                <a:gd name="T35" fmla="*/ 0 h 108"/>
                <a:gd name="T36" fmla="*/ 10990 w 110"/>
                <a:gd name="T37" fmla="*/ 46 h 108"/>
                <a:gd name="T38" fmla="*/ 10735 w 110"/>
                <a:gd name="T39" fmla="*/ 74 h 108"/>
                <a:gd name="T40" fmla="*/ 10246 w 110"/>
                <a:gd name="T41" fmla="*/ 110 h 108"/>
                <a:gd name="T42" fmla="*/ 9595 w 110"/>
                <a:gd name="T43" fmla="*/ 138 h 108"/>
                <a:gd name="T44" fmla="*/ 8841 w 110"/>
                <a:gd name="T45" fmla="*/ 177 h 108"/>
                <a:gd name="T46" fmla="*/ 7950 w 110"/>
                <a:gd name="T47" fmla="*/ 194 h 108"/>
                <a:gd name="T48" fmla="*/ 6983 w 110"/>
                <a:gd name="T49" fmla="*/ 225 h 108"/>
                <a:gd name="T50" fmla="*/ 6096 w 110"/>
                <a:gd name="T51" fmla="*/ 250 h 108"/>
                <a:gd name="T52" fmla="*/ 5051 w 110"/>
                <a:gd name="T53" fmla="*/ 286 h 108"/>
                <a:gd name="T54" fmla="*/ 4026 w 110"/>
                <a:gd name="T55" fmla="*/ 311 h 108"/>
                <a:gd name="T56" fmla="*/ 2992 w 110"/>
                <a:gd name="T57" fmla="*/ 339 h 108"/>
                <a:gd name="T58" fmla="*/ 2095 w 110"/>
                <a:gd name="T59" fmla="*/ 372 h 108"/>
                <a:gd name="T60" fmla="*/ 1331 w 110"/>
                <a:gd name="T61" fmla="*/ 412 h 108"/>
                <a:gd name="T62" fmla="*/ 596 w 110"/>
                <a:gd name="T63" fmla="*/ 464 h 108"/>
                <a:gd name="T64" fmla="*/ 302 w 110"/>
                <a:gd name="T65" fmla="*/ 517 h 108"/>
                <a:gd name="T66" fmla="*/ 0 w 110"/>
                <a:gd name="T67" fmla="*/ 569 h 108"/>
                <a:gd name="T68" fmla="*/ 1791 w 110"/>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8"/>
                <a:gd name="T107" fmla="*/ 110 w 110"/>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8">
                  <a:moveTo>
                    <a:pt x="15" y="107"/>
                  </a:moveTo>
                  <a:lnTo>
                    <a:pt x="15" y="98"/>
                  </a:lnTo>
                  <a:lnTo>
                    <a:pt x="18" y="91"/>
                  </a:lnTo>
                  <a:lnTo>
                    <a:pt x="21" y="85"/>
                  </a:lnTo>
                  <a:lnTo>
                    <a:pt x="27" y="80"/>
                  </a:lnTo>
                  <a:lnTo>
                    <a:pt x="34" y="73"/>
                  </a:lnTo>
                  <a:lnTo>
                    <a:pt x="41" y="69"/>
                  </a:lnTo>
                  <a:lnTo>
                    <a:pt x="49" y="63"/>
                  </a:lnTo>
                  <a:lnTo>
                    <a:pt x="58" y="58"/>
                  </a:lnTo>
                  <a:lnTo>
                    <a:pt x="67" y="53"/>
                  </a:lnTo>
                  <a:lnTo>
                    <a:pt x="76" y="48"/>
                  </a:lnTo>
                  <a:lnTo>
                    <a:pt x="84" y="42"/>
                  </a:lnTo>
                  <a:lnTo>
                    <a:pt x="91" y="36"/>
                  </a:lnTo>
                  <a:lnTo>
                    <a:pt x="99" y="29"/>
                  </a:lnTo>
                  <a:lnTo>
                    <a:pt x="104" y="21"/>
                  </a:lnTo>
                  <a:lnTo>
                    <a:pt x="107" y="11"/>
                  </a:lnTo>
                  <a:lnTo>
                    <a:pt x="109" y="0"/>
                  </a:lnTo>
                  <a:lnTo>
                    <a:pt x="95" y="0"/>
                  </a:lnTo>
                  <a:lnTo>
                    <a:pt x="94" y="8"/>
                  </a:lnTo>
                  <a:lnTo>
                    <a:pt x="92" y="14"/>
                  </a:lnTo>
                  <a:lnTo>
                    <a:pt x="88" y="20"/>
                  </a:lnTo>
                  <a:lnTo>
                    <a:pt x="82" y="26"/>
                  </a:lnTo>
                  <a:lnTo>
                    <a:pt x="76" y="32"/>
                  </a:lnTo>
                  <a:lnTo>
                    <a:pt x="68" y="36"/>
                  </a:lnTo>
                  <a:lnTo>
                    <a:pt x="60" y="41"/>
                  </a:lnTo>
                  <a:lnTo>
                    <a:pt x="52" y="47"/>
                  </a:lnTo>
                  <a:lnTo>
                    <a:pt x="43" y="52"/>
                  </a:lnTo>
                  <a:lnTo>
                    <a:pt x="34" y="57"/>
                  </a:lnTo>
                  <a:lnTo>
                    <a:pt x="26" y="63"/>
                  </a:lnTo>
                  <a:lnTo>
                    <a:pt x="18" y="69"/>
                  </a:lnTo>
                  <a:lnTo>
                    <a:pt x="11" y="77"/>
                  </a:lnTo>
                  <a:lnTo>
                    <a:pt x="5" y="86"/>
                  </a:lnTo>
                  <a:lnTo>
                    <a:pt x="2" y="96"/>
                  </a:lnTo>
                  <a:lnTo>
                    <a:pt x="0" y="107"/>
                  </a:lnTo>
                  <a:lnTo>
                    <a:pt x="15"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5" name="Freeform 253">
              <a:extLst>
                <a:ext uri="{FF2B5EF4-FFF2-40B4-BE49-F238E27FC236}">
                  <a16:creationId xmlns:a16="http://schemas.microsoft.com/office/drawing/2014/main" id="{24A8C7A9-3797-0528-0545-5CD532D6D780}"/>
                </a:ext>
              </a:extLst>
            </p:cNvPr>
            <p:cNvSpPr>
              <a:spLocks/>
            </p:cNvSpPr>
            <p:nvPr/>
          </p:nvSpPr>
          <p:spPr bwMode="auto">
            <a:xfrm>
              <a:off x="3820" y="3402"/>
              <a:ext cx="138" cy="115"/>
            </a:xfrm>
            <a:custGeom>
              <a:avLst/>
              <a:gdLst>
                <a:gd name="T0" fmla="*/ 12819 w 110"/>
                <a:gd name="T1" fmla="*/ 480 h 107"/>
                <a:gd name="T2" fmla="*/ 12513 w 110"/>
                <a:gd name="T3" fmla="*/ 434 h 107"/>
                <a:gd name="T4" fmla="*/ 12119 w 110"/>
                <a:gd name="T5" fmla="*/ 387 h 107"/>
                <a:gd name="T6" fmla="*/ 11650 w 110"/>
                <a:gd name="T7" fmla="*/ 353 h 107"/>
                <a:gd name="T8" fmla="*/ 10625 w 110"/>
                <a:gd name="T9" fmla="*/ 325 h 107"/>
                <a:gd name="T10" fmla="*/ 9802 w 110"/>
                <a:gd name="T11" fmla="*/ 290 h 107"/>
                <a:gd name="T12" fmla="*/ 8841 w 110"/>
                <a:gd name="T13" fmla="*/ 264 h 107"/>
                <a:gd name="T14" fmla="*/ 7813 w 110"/>
                <a:gd name="T15" fmla="*/ 244 h 107"/>
                <a:gd name="T16" fmla="*/ 6821 w 110"/>
                <a:gd name="T17" fmla="*/ 218 h 107"/>
                <a:gd name="T18" fmla="*/ 5761 w 110"/>
                <a:gd name="T19" fmla="*/ 196 h 107"/>
                <a:gd name="T20" fmla="*/ 4710 w 110"/>
                <a:gd name="T21" fmla="*/ 172 h 107"/>
                <a:gd name="T22" fmla="*/ 4026 w 110"/>
                <a:gd name="T23" fmla="*/ 149 h 107"/>
                <a:gd name="T24" fmla="*/ 3209 w 110"/>
                <a:gd name="T25" fmla="*/ 120 h 107"/>
                <a:gd name="T26" fmla="*/ 2385 w 110"/>
                <a:gd name="T27" fmla="*/ 97 h 107"/>
                <a:gd name="T28" fmla="*/ 2095 w 110"/>
                <a:gd name="T29" fmla="*/ 63 h 107"/>
                <a:gd name="T30" fmla="*/ 1791 w 110"/>
                <a:gd name="T31" fmla="*/ 38 h 107"/>
                <a:gd name="T32" fmla="*/ 1791 w 110"/>
                <a:gd name="T33" fmla="*/ 0 h 107"/>
                <a:gd name="T34" fmla="*/ 0 w 110"/>
                <a:gd name="T35" fmla="*/ 0 h 107"/>
                <a:gd name="T36" fmla="*/ 302 w 110"/>
                <a:gd name="T37" fmla="*/ 47 h 107"/>
                <a:gd name="T38" fmla="*/ 596 w 110"/>
                <a:gd name="T39" fmla="*/ 97 h 107"/>
                <a:gd name="T40" fmla="*/ 1331 w 110"/>
                <a:gd name="T41" fmla="*/ 129 h 107"/>
                <a:gd name="T42" fmla="*/ 2095 w 110"/>
                <a:gd name="T43" fmla="*/ 172 h 107"/>
                <a:gd name="T44" fmla="*/ 2992 w 110"/>
                <a:gd name="T45" fmla="*/ 196 h 107"/>
                <a:gd name="T46" fmla="*/ 4026 w 110"/>
                <a:gd name="T47" fmla="*/ 229 h 107"/>
                <a:gd name="T48" fmla="*/ 5051 w 110"/>
                <a:gd name="T49" fmla="*/ 247 h 107"/>
                <a:gd name="T50" fmla="*/ 6096 w 110"/>
                <a:gd name="T51" fmla="*/ 270 h 107"/>
                <a:gd name="T52" fmla="*/ 6983 w 110"/>
                <a:gd name="T53" fmla="*/ 302 h 107"/>
                <a:gd name="T54" fmla="*/ 7950 w 110"/>
                <a:gd name="T55" fmla="*/ 325 h 107"/>
                <a:gd name="T56" fmla="*/ 8841 w 110"/>
                <a:gd name="T57" fmla="*/ 349 h 107"/>
                <a:gd name="T58" fmla="*/ 9595 w 110"/>
                <a:gd name="T59" fmla="*/ 360 h 107"/>
                <a:gd name="T60" fmla="*/ 10246 w 110"/>
                <a:gd name="T61" fmla="*/ 387 h 107"/>
                <a:gd name="T62" fmla="*/ 10735 w 110"/>
                <a:gd name="T63" fmla="*/ 416 h 107"/>
                <a:gd name="T64" fmla="*/ 10990 w 110"/>
                <a:gd name="T65" fmla="*/ 443 h 107"/>
                <a:gd name="T66" fmla="*/ 11091 w 110"/>
                <a:gd name="T67" fmla="*/ 480 h 107"/>
                <a:gd name="T68" fmla="*/ 12819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09" y="106"/>
                  </a:moveTo>
                  <a:lnTo>
                    <a:pt x="107" y="95"/>
                  </a:lnTo>
                  <a:lnTo>
                    <a:pt x="104" y="86"/>
                  </a:lnTo>
                  <a:lnTo>
                    <a:pt x="99" y="77"/>
                  </a:lnTo>
                  <a:lnTo>
                    <a:pt x="91" y="70"/>
                  </a:lnTo>
                  <a:lnTo>
                    <a:pt x="84" y="64"/>
                  </a:lnTo>
                  <a:lnTo>
                    <a:pt x="76" y="58"/>
                  </a:lnTo>
                  <a:lnTo>
                    <a:pt x="67" y="53"/>
                  </a:lnTo>
                  <a:lnTo>
                    <a:pt x="58" y="48"/>
                  </a:lnTo>
                  <a:lnTo>
                    <a:pt x="49" y="43"/>
                  </a:lnTo>
                  <a:lnTo>
                    <a:pt x="41" y="38"/>
                  </a:lnTo>
                  <a:lnTo>
                    <a:pt x="34" y="33"/>
                  </a:lnTo>
                  <a:lnTo>
                    <a:pt x="27" y="27"/>
                  </a:lnTo>
                  <a:lnTo>
                    <a:pt x="21" y="21"/>
                  </a:lnTo>
                  <a:lnTo>
                    <a:pt x="18" y="15"/>
                  </a:lnTo>
                  <a:lnTo>
                    <a:pt x="15" y="8"/>
                  </a:lnTo>
                  <a:lnTo>
                    <a:pt x="15" y="0"/>
                  </a:lnTo>
                  <a:lnTo>
                    <a:pt x="0" y="0"/>
                  </a:lnTo>
                  <a:lnTo>
                    <a:pt x="2" y="11"/>
                  </a:lnTo>
                  <a:lnTo>
                    <a:pt x="5" y="21"/>
                  </a:lnTo>
                  <a:lnTo>
                    <a:pt x="11" y="29"/>
                  </a:lnTo>
                  <a:lnTo>
                    <a:pt x="18" y="38"/>
                  </a:lnTo>
                  <a:lnTo>
                    <a:pt x="26" y="43"/>
                  </a:lnTo>
                  <a:lnTo>
                    <a:pt x="34" y="50"/>
                  </a:lnTo>
                  <a:lnTo>
                    <a:pt x="43" y="55"/>
                  </a:lnTo>
                  <a:lnTo>
                    <a:pt x="52" y="60"/>
                  </a:lnTo>
                  <a:lnTo>
                    <a:pt x="60" y="65"/>
                  </a:lnTo>
                  <a:lnTo>
                    <a:pt x="68" y="70"/>
                  </a:lnTo>
                  <a:lnTo>
                    <a:pt x="76" y="75"/>
                  </a:lnTo>
                  <a:lnTo>
                    <a:pt x="82" y="80"/>
                  </a:lnTo>
                  <a:lnTo>
                    <a:pt x="88" y="86"/>
                  </a:lnTo>
                  <a:lnTo>
                    <a:pt x="92" y="92"/>
                  </a:lnTo>
                  <a:lnTo>
                    <a:pt x="94" y="98"/>
                  </a:lnTo>
                  <a:lnTo>
                    <a:pt x="95" y="106"/>
                  </a:lnTo>
                  <a:lnTo>
                    <a:pt x="109"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6" name="Freeform 254">
              <a:extLst>
                <a:ext uri="{FF2B5EF4-FFF2-40B4-BE49-F238E27FC236}">
                  <a16:creationId xmlns:a16="http://schemas.microsoft.com/office/drawing/2014/main" id="{9EB43AA7-DDC7-422E-8C9C-740DD09D4AFB}"/>
                </a:ext>
              </a:extLst>
            </p:cNvPr>
            <p:cNvSpPr>
              <a:spLocks/>
            </p:cNvSpPr>
            <p:nvPr/>
          </p:nvSpPr>
          <p:spPr bwMode="auto">
            <a:xfrm>
              <a:off x="3820" y="3516"/>
              <a:ext cx="138" cy="103"/>
            </a:xfrm>
            <a:custGeom>
              <a:avLst/>
              <a:gdLst>
                <a:gd name="T0" fmla="*/ 1791 w 110"/>
                <a:gd name="T1" fmla="*/ 515 h 95"/>
                <a:gd name="T2" fmla="*/ 1901 w 110"/>
                <a:gd name="T3" fmla="*/ 466 h 95"/>
                <a:gd name="T4" fmla="*/ 2992 w 110"/>
                <a:gd name="T5" fmla="*/ 407 h 95"/>
                <a:gd name="T6" fmla="*/ 4710 w 110"/>
                <a:gd name="T7" fmla="*/ 372 h 95"/>
                <a:gd name="T8" fmla="*/ 6821 w 110"/>
                <a:gd name="T9" fmla="*/ 317 h 95"/>
                <a:gd name="T10" fmla="*/ 8841 w 110"/>
                <a:gd name="T11" fmla="*/ 266 h 95"/>
                <a:gd name="T12" fmla="*/ 10625 w 110"/>
                <a:gd name="T13" fmla="*/ 196 h 95"/>
                <a:gd name="T14" fmla="*/ 12119 w 110"/>
                <a:gd name="T15" fmla="*/ 112 h 95"/>
                <a:gd name="T16" fmla="*/ 12819 w 110"/>
                <a:gd name="T17" fmla="*/ 0 h 95"/>
                <a:gd name="T18" fmla="*/ 11091 w 110"/>
                <a:gd name="T19" fmla="*/ 0 h 95"/>
                <a:gd name="T20" fmla="*/ 10735 w 110"/>
                <a:gd name="T21" fmla="*/ 69 h 95"/>
                <a:gd name="T22" fmla="*/ 9595 w 110"/>
                <a:gd name="T23" fmla="*/ 142 h 95"/>
                <a:gd name="T24" fmla="*/ 7950 w 110"/>
                <a:gd name="T25" fmla="*/ 196 h 95"/>
                <a:gd name="T26" fmla="*/ 6096 w 110"/>
                <a:gd name="T27" fmla="*/ 250 h 95"/>
                <a:gd name="T28" fmla="*/ 4026 w 110"/>
                <a:gd name="T29" fmla="*/ 297 h 95"/>
                <a:gd name="T30" fmla="*/ 2247 w 110"/>
                <a:gd name="T31" fmla="*/ 349 h 95"/>
                <a:gd name="T32" fmla="*/ 748 w 110"/>
                <a:gd name="T33" fmla="*/ 417 h 95"/>
                <a:gd name="T34" fmla="*/ 0 w 110"/>
                <a:gd name="T35" fmla="*/ 515 h 95"/>
                <a:gd name="T36" fmla="*/ 1791 w 110"/>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0"/>
                <a:gd name="T58" fmla="*/ 0 h 95"/>
                <a:gd name="T59" fmla="*/ 110 w 110"/>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0" h="95">
                  <a:moveTo>
                    <a:pt x="15" y="94"/>
                  </a:moveTo>
                  <a:lnTo>
                    <a:pt x="17" y="85"/>
                  </a:lnTo>
                  <a:lnTo>
                    <a:pt x="26" y="75"/>
                  </a:lnTo>
                  <a:lnTo>
                    <a:pt x="41" y="67"/>
                  </a:lnTo>
                  <a:lnTo>
                    <a:pt x="58" y="58"/>
                  </a:lnTo>
                  <a:lnTo>
                    <a:pt x="76" y="48"/>
                  </a:lnTo>
                  <a:lnTo>
                    <a:pt x="91" y="36"/>
                  </a:lnTo>
                  <a:lnTo>
                    <a:pt x="104" y="20"/>
                  </a:lnTo>
                  <a:lnTo>
                    <a:pt x="109" y="0"/>
                  </a:lnTo>
                  <a:lnTo>
                    <a:pt x="95" y="0"/>
                  </a:lnTo>
                  <a:lnTo>
                    <a:pt x="92" y="13"/>
                  </a:lnTo>
                  <a:lnTo>
                    <a:pt x="82" y="26"/>
                  </a:lnTo>
                  <a:lnTo>
                    <a:pt x="68" y="36"/>
                  </a:lnTo>
                  <a:lnTo>
                    <a:pt x="52" y="46"/>
                  </a:lnTo>
                  <a:lnTo>
                    <a:pt x="34" y="55"/>
                  </a:lnTo>
                  <a:lnTo>
                    <a:pt x="19" y="65"/>
                  </a:lnTo>
                  <a:lnTo>
                    <a:pt x="6" y="77"/>
                  </a:lnTo>
                  <a:lnTo>
                    <a:pt x="0" y="94"/>
                  </a:lnTo>
                  <a:lnTo>
                    <a:pt x="15"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7" name="Freeform 255">
              <a:extLst>
                <a:ext uri="{FF2B5EF4-FFF2-40B4-BE49-F238E27FC236}">
                  <a16:creationId xmlns:a16="http://schemas.microsoft.com/office/drawing/2014/main" id="{B0309A5D-0248-C43E-617E-E5FBB1C6251D}"/>
                </a:ext>
              </a:extLst>
            </p:cNvPr>
            <p:cNvSpPr>
              <a:spLocks/>
            </p:cNvSpPr>
            <p:nvPr/>
          </p:nvSpPr>
          <p:spPr bwMode="auto">
            <a:xfrm>
              <a:off x="3820" y="3618"/>
              <a:ext cx="19" cy="3"/>
            </a:xfrm>
            <a:custGeom>
              <a:avLst/>
              <a:gdLst>
                <a:gd name="T0" fmla="*/ 2080 w 15"/>
                <a:gd name="T1" fmla="*/ 2 h 3"/>
                <a:gd name="T2" fmla="*/ 2080 w 15"/>
                <a:gd name="T3" fmla="*/ 0 h 3"/>
                <a:gd name="T4" fmla="*/ 0 w 15"/>
                <a:gd name="T5" fmla="*/ 0 h 3"/>
                <a:gd name="T6" fmla="*/ 0 w 15"/>
                <a:gd name="T7" fmla="*/ 2 h 3"/>
                <a:gd name="T8" fmla="*/ 2080 w 15"/>
                <a:gd name="T9" fmla="*/ 2 h 3"/>
                <a:gd name="T10" fmla="*/ 0 60000 65536"/>
                <a:gd name="T11" fmla="*/ 0 60000 65536"/>
                <a:gd name="T12" fmla="*/ 0 60000 65536"/>
                <a:gd name="T13" fmla="*/ 0 60000 65536"/>
                <a:gd name="T14" fmla="*/ 0 60000 65536"/>
                <a:gd name="T15" fmla="*/ 0 w 15"/>
                <a:gd name="T16" fmla="*/ 0 h 3"/>
                <a:gd name="T17" fmla="*/ 15 w 15"/>
                <a:gd name="T18" fmla="*/ 3 h 3"/>
              </a:gdLst>
              <a:ahLst/>
              <a:cxnLst>
                <a:cxn ang="T10">
                  <a:pos x="T0" y="T1"/>
                </a:cxn>
                <a:cxn ang="T11">
                  <a:pos x="T2" y="T3"/>
                </a:cxn>
                <a:cxn ang="T12">
                  <a:pos x="T4" y="T5"/>
                </a:cxn>
                <a:cxn ang="T13">
                  <a:pos x="T6" y="T7"/>
                </a:cxn>
                <a:cxn ang="T14">
                  <a:pos x="T8" y="T9"/>
                </a:cxn>
              </a:cxnLst>
              <a:rect l="T15" t="T16" r="T17" b="T18"/>
              <a:pathLst>
                <a:path w="15" h="3">
                  <a:moveTo>
                    <a:pt x="14" y="2"/>
                  </a:moveTo>
                  <a:lnTo>
                    <a:pt x="14" y="0"/>
                  </a:lnTo>
                  <a:lnTo>
                    <a:pt x="0" y="0"/>
                  </a:lnTo>
                  <a:lnTo>
                    <a:pt x="0" y="2"/>
                  </a:lnTo>
                  <a:lnTo>
                    <a:pt x="14" y="2"/>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8" name="Freeform 256">
              <a:extLst>
                <a:ext uri="{FF2B5EF4-FFF2-40B4-BE49-F238E27FC236}">
                  <a16:creationId xmlns:a16="http://schemas.microsoft.com/office/drawing/2014/main" id="{DD540734-757D-B9EF-7D1C-D4FCD6574291}"/>
                </a:ext>
              </a:extLst>
            </p:cNvPr>
            <p:cNvSpPr>
              <a:spLocks/>
            </p:cNvSpPr>
            <p:nvPr/>
          </p:nvSpPr>
          <p:spPr bwMode="auto">
            <a:xfrm>
              <a:off x="3820" y="3620"/>
              <a:ext cx="138" cy="118"/>
            </a:xfrm>
            <a:custGeom>
              <a:avLst/>
              <a:gdLst>
                <a:gd name="T0" fmla="*/ 12819 w 110"/>
                <a:gd name="T1" fmla="*/ 568 h 109"/>
                <a:gd name="T2" fmla="*/ 12513 w 110"/>
                <a:gd name="T3" fmla="*/ 511 h 109"/>
                <a:gd name="T4" fmla="*/ 12119 w 110"/>
                <a:gd name="T5" fmla="*/ 464 h 109"/>
                <a:gd name="T6" fmla="*/ 11650 w 110"/>
                <a:gd name="T7" fmla="*/ 411 h 109"/>
                <a:gd name="T8" fmla="*/ 10625 w 110"/>
                <a:gd name="T9" fmla="*/ 371 h 109"/>
                <a:gd name="T10" fmla="*/ 9802 w 110"/>
                <a:gd name="T11" fmla="*/ 338 h 109"/>
                <a:gd name="T12" fmla="*/ 8841 w 110"/>
                <a:gd name="T13" fmla="*/ 304 h 109"/>
                <a:gd name="T14" fmla="*/ 7813 w 110"/>
                <a:gd name="T15" fmla="*/ 271 h 109"/>
                <a:gd name="T16" fmla="*/ 6943 w 110"/>
                <a:gd name="T17" fmla="*/ 240 h 109"/>
                <a:gd name="T18" fmla="*/ 5900 w 110"/>
                <a:gd name="T19" fmla="*/ 213 h 109"/>
                <a:gd name="T20" fmla="*/ 4710 w 110"/>
                <a:gd name="T21" fmla="*/ 182 h 109"/>
                <a:gd name="T22" fmla="*/ 4026 w 110"/>
                <a:gd name="T23" fmla="*/ 156 h 109"/>
                <a:gd name="T24" fmla="*/ 3209 w 110"/>
                <a:gd name="T25" fmla="*/ 123 h 109"/>
                <a:gd name="T26" fmla="*/ 2385 w 110"/>
                <a:gd name="T27" fmla="*/ 96 h 109"/>
                <a:gd name="T28" fmla="*/ 1901 w 110"/>
                <a:gd name="T29" fmla="*/ 60 h 109"/>
                <a:gd name="T30" fmla="*/ 1791 w 110"/>
                <a:gd name="T31" fmla="*/ 6 h 109"/>
                <a:gd name="T32" fmla="*/ 1791 w 110"/>
                <a:gd name="T33" fmla="*/ 0 h 109"/>
                <a:gd name="T34" fmla="*/ 0 w 110"/>
                <a:gd name="T35" fmla="*/ 0 h 109"/>
                <a:gd name="T36" fmla="*/ 302 w 110"/>
                <a:gd name="T37" fmla="*/ 51 h 109"/>
                <a:gd name="T38" fmla="*/ 748 w 110"/>
                <a:gd name="T39" fmla="*/ 104 h 109"/>
                <a:gd name="T40" fmla="*/ 1331 w 110"/>
                <a:gd name="T41" fmla="*/ 143 h 109"/>
                <a:gd name="T42" fmla="*/ 2095 w 110"/>
                <a:gd name="T43" fmla="*/ 182 h 109"/>
                <a:gd name="T44" fmla="*/ 2992 w 110"/>
                <a:gd name="T45" fmla="*/ 213 h 109"/>
                <a:gd name="T46" fmla="*/ 4026 w 110"/>
                <a:gd name="T47" fmla="*/ 246 h 109"/>
                <a:gd name="T48" fmla="*/ 4893 w 110"/>
                <a:gd name="T49" fmla="*/ 271 h 109"/>
                <a:gd name="T50" fmla="*/ 5909 w 110"/>
                <a:gd name="T51" fmla="*/ 304 h 109"/>
                <a:gd name="T52" fmla="*/ 6983 w 110"/>
                <a:gd name="T53" fmla="*/ 329 h 109"/>
                <a:gd name="T54" fmla="*/ 7950 w 110"/>
                <a:gd name="T55" fmla="*/ 356 h 109"/>
                <a:gd name="T56" fmla="*/ 8760 w 110"/>
                <a:gd name="T57" fmla="*/ 385 h 109"/>
                <a:gd name="T58" fmla="*/ 9595 w 110"/>
                <a:gd name="T59" fmla="*/ 417 h 109"/>
                <a:gd name="T60" fmla="*/ 10246 w 110"/>
                <a:gd name="T61" fmla="*/ 451 h 109"/>
                <a:gd name="T62" fmla="*/ 10625 w 110"/>
                <a:gd name="T63" fmla="*/ 485 h 109"/>
                <a:gd name="T64" fmla="*/ 10990 w 110"/>
                <a:gd name="T65" fmla="*/ 525 h 109"/>
                <a:gd name="T66" fmla="*/ 11091 w 110"/>
                <a:gd name="T67" fmla="*/ 568 h 109"/>
                <a:gd name="T68" fmla="*/ 12819 w 110"/>
                <a:gd name="T69" fmla="*/ 568 h 1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9"/>
                <a:gd name="T107" fmla="*/ 110 w 110"/>
                <a:gd name="T108" fmla="*/ 109 h 1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9">
                  <a:moveTo>
                    <a:pt x="109" y="108"/>
                  </a:moveTo>
                  <a:lnTo>
                    <a:pt x="107" y="97"/>
                  </a:lnTo>
                  <a:lnTo>
                    <a:pt x="104" y="87"/>
                  </a:lnTo>
                  <a:lnTo>
                    <a:pt x="99" y="78"/>
                  </a:lnTo>
                  <a:lnTo>
                    <a:pt x="91" y="70"/>
                  </a:lnTo>
                  <a:lnTo>
                    <a:pt x="84" y="63"/>
                  </a:lnTo>
                  <a:lnTo>
                    <a:pt x="76" y="57"/>
                  </a:lnTo>
                  <a:lnTo>
                    <a:pt x="67" y="51"/>
                  </a:lnTo>
                  <a:lnTo>
                    <a:pt x="59" y="45"/>
                  </a:lnTo>
                  <a:lnTo>
                    <a:pt x="50" y="40"/>
                  </a:lnTo>
                  <a:lnTo>
                    <a:pt x="41" y="34"/>
                  </a:lnTo>
                  <a:lnTo>
                    <a:pt x="34" y="30"/>
                  </a:lnTo>
                  <a:lnTo>
                    <a:pt x="27" y="24"/>
                  </a:lnTo>
                  <a:lnTo>
                    <a:pt x="21" y="18"/>
                  </a:lnTo>
                  <a:lnTo>
                    <a:pt x="17" y="12"/>
                  </a:lnTo>
                  <a:lnTo>
                    <a:pt x="15" y="6"/>
                  </a:lnTo>
                  <a:lnTo>
                    <a:pt x="15" y="0"/>
                  </a:lnTo>
                  <a:lnTo>
                    <a:pt x="0" y="0"/>
                  </a:lnTo>
                  <a:lnTo>
                    <a:pt x="2" y="10"/>
                  </a:lnTo>
                  <a:lnTo>
                    <a:pt x="6" y="19"/>
                  </a:lnTo>
                  <a:lnTo>
                    <a:pt x="11" y="27"/>
                  </a:lnTo>
                  <a:lnTo>
                    <a:pt x="18" y="34"/>
                  </a:lnTo>
                  <a:lnTo>
                    <a:pt x="26" y="40"/>
                  </a:lnTo>
                  <a:lnTo>
                    <a:pt x="34" y="46"/>
                  </a:lnTo>
                  <a:lnTo>
                    <a:pt x="42" y="51"/>
                  </a:lnTo>
                  <a:lnTo>
                    <a:pt x="51" y="57"/>
                  </a:lnTo>
                  <a:lnTo>
                    <a:pt x="60" y="62"/>
                  </a:lnTo>
                  <a:lnTo>
                    <a:pt x="68" y="67"/>
                  </a:lnTo>
                  <a:lnTo>
                    <a:pt x="75" y="73"/>
                  </a:lnTo>
                  <a:lnTo>
                    <a:pt x="82" y="79"/>
                  </a:lnTo>
                  <a:lnTo>
                    <a:pt x="88" y="86"/>
                  </a:lnTo>
                  <a:lnTo>
                    <a:pt x="91" y="92"/>
                  </a:lnTo>
                  <a:lnTo>
                    <a:pt x="94" y="100"/>
                  </a:lnTo>
                  <a:lnTo>
                    <a:pt x="95" y="108"/>
                  </a:lnTo>
                  <a:lnTo>
                    <a:pt x="109" y="10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09" name="Freeform 257">
              <a:extLst>
                <a:ext uri="{FF2B5EF4-FFF2-40B4-BE49-F238E27FC236}">
                  <a16:creationId xmlns:a16="http://schemas.microsoft.com/office/drawing/2014/main" id="{C4EC1C28-AE51-2638-4F14-FF3B6B829E60}"/>
                </a:ext>
              </a:extLst>
            </p:cNvPr>
            <p:cNvSpPr>
              <a:spLocks/>
            </p:cNvSpPr>
            <p:nvPr/>
          </p:nvSpPr>
          <p:spPr bwMode="auto">
            <a:xfrm>
              <a:off x="3820" y="3737"/>
              <a:ext cx="138" cy="115"/>
            </a:xfrm>
            <a:custGeom>
              <a:avLst/>
              <a:gdLst>
                <a:gd name="T0" fmla="*/ 1791 w 110"/>
                <a:gd name="T1" fmla="*/ 480 h 107"/>
                <a:gd name="T2" fmla="*/ 1791 w 110"/>
                <a:gd name="T3" fmla="*/ 443 h 107"/>
                <a:gd name="T4" fmla="*/ 1901 w 110"/>
                <a:gd name="T5" fmla="*/ 416 h 107"/>
                <a:gd name="T6" fmla="*/ 2385 w 110"/>
                <a:gd name="T7" fmla="*/ 387 h 107"/>
                <a:gd name="T8" fmla="*/ 3209 w 110"/>
                <a:gd name="T9" fmla="*/ 360 h 107"/>
                <a:gd name="T10" fmla="*/ 4026 w 110"/>
                <a:gd name="T11" fmla="*/ 349 h 107"/>
                <a:gd name="T12" fmla="*/ 4710 w 110"/>
                <a:gd name="T13" fmla="*/ 325 h 107"/>
                <a:gd name="T14" fmla="*/ 5761 w 110"/>
                <a:gd name="T15" fmla="*/ 302 h 107"/>
                <a:gd name="T16" fmla="*/ 6821 w 110"/>
                <a:gd name="T17" fmla="*/ 270 h 107"/>
                <a:gd name="T18" fmla="*/ 7813 w 110"/>
                <a:gd name="T19" fmla="*/ 247 h 107"/>
                <a:gd name="T20" fmla="*/ 8841 w 110"/>
                <a:gd name="T21" fmla="*/ 229 h 107"/>
                <a:gd name="T22" fmla="*/ 9802 w 110"/>
                <a:gd name="T23" fmla="*/ 196 h 107"/>
                <a:gd name="T24" fmla="*/ 10625 w 110"/>
                <a:gd name="T25" fmla="*/ 172 h 107"/>
                <a:gd name="T26" fmla="*/ 11650 w 110"/>
                <a:gd name="T27" fmla="*/ 129 h 107"/>
                <a:gd name="T28" fmla="*/ 12119 w 110"/>
                <a:gd name="T29" fmla="*/ 97 h 107"/>
                <a:gd name="T30" fmla="*/ 12513 w 110"/>
                <a:gd name="T31" fmla="*/ 47 h 107"/>
                <a:gd name="T32" fmla="*/ 12819 w 110"/>
                <a:gd name="T33" fmla="*/ 0 h 107"/>
                <a:gd name="T34" fmla="*/ 11091 w 110"/>
                <a:gd name="T35" fmla="*/ 0 h 107"/>
                <a:gd name="T36" fmla="*/ 10990 w 110"/>
                <a:gd name="T37" fmla="*/ 38 h 107"/>
                <a:gd name="T38" fmla="*/ 10625 w 110"/>
                <a:gd name="T39" fmla="*/ 63 h 107"/>
                <a:gd name="T40" fmla="*/ 10246 w 110"/>
                <a:gd name="T41" fmla="*/ 97 h 107"/>
                <a:gd name="T42" fmla="*/ 9595 w 110"/>
                <a:gd name="T43" fmla="*/ 120 h 107"/>
                <a:gd name="T44" fmla="*/ 8841 w 110"/>
                <a:gd name="T45" fmla="*/ 149 h 107"/>
                <a:gd name="T46" fmla="*/ 7950 w 110"/>
                <a:gd name="T47" fmla="*/ 172 h 107"/>
                <a:gd name="T48" fmla="*/ 6983 w 110"/>
                <a:gd name="T49" fmla="*/ 196 h 107"/>
                <a:gd name="T50" fmla="*/ 6096 w 110"/>
                <a:gd name="T51" fmla="*/ 218 h 107"/>
                <a:gd name="T52" fmla="*/ 5051 w 110"/>
                <a:gd name="T53" fmla="*/ 244 h 107"/>
                <a:gd name="T54" fmla="*/ 4026 w 110"/>
                <a:gd name="T55" fmla="*/ 264 h 107"/>
                <a:gd name="T56" fmla="*/ 2992 w 110"/>
                <a:gd name="T57" fmla="*/ 290 h 107"/>
                <a:gd name="T58" fmla="*/ 2095 w 110"/>
                <a:gd name="T59" fmla="*/ 325 h 107"/>
                <a:gd name="T60" fmla="*/ 1331 w 110"/>
                <a:gd name="T61" fmla="*/ 353 h 107"/>
                <a:gd name="T62" fmla="*/ 748 w 110"/>
                <a:gd name="T63" fmla="*/ 387 h 107"/>
                <a:gd name="T64" fmla="*/ 302 w 110"/>
                <a:gd name="T65" fmla="*/ 434 h 107"/>
                <a:gd name="T66" fmla="*/ 0 w 110"/>
                <a:gd name="T67" fmla="*/ 480 h 107"/>
                <a:gd name="T68" fmla="*/ 1791 w 110"/>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107"/>
                <a:gd name="T107" fmla="*/ 110 w 110"/>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107">
                  <a:moveTo>
                    <a:pt x="15" y="106"/>
                  </a:moveTo>
                  <a:lnTo>
                    <a:pt x="15" y="98"/>
                  </a:lnTo>
                  <a:lnTo>
                    <a:pt x="17" y="92"/>
                  </a:lnTo>
                  <a:lnTo>
                    <a:pt x="21" y="86"/>
                  </a:lnTo>
                  <a:lnTo>
                    <a:pt x="27" y="80"/>
                  </a:lnTo>
                  <a:lnTo>
                    <a:pt x="34" y="75"/>
                  </a:lnTo>
                  <a:lnTo>
                    <a:pt x="41" y="70"/>
                  </a:lnTo>
                  <a:lnTo>
                    <a:pt x="49" y="65"/>
                  </a:lnTo>
                  <a:lnTo>
                    <a:pt x="58" y="60"/>
                  </a:lnTo>
                  <a:lnTo>
                    <a:pt x="67" y="55"/>
                  </a:lnTo>
                  <a:lnTo>
                    <a:pt x="76" y="50"/>
                  </a:lnTo>
                  <a:lnTo>
                    <a:pt x="84" y="43"/>
                  </a:lnTo>
                  <a:lnTo>
                    <a:pt x="91" y="38"/>
                  </a:lnTo>
                  <a:lnTo>
                    <a:pt x="99" y="29"/>
                  </a:lnTo>
                  <a:lnTo>
                    <a:pt x="104" y="21"/>
                  </a:lnTo>
                  <a:lnTo>
                    <a:pt x="107" y="11"/>
                  </a:lnTo>
                  <a:lnTo>
                    <a:pt x="109" y="0"/>
                  </a:lnTo>
                  <a:lnTo>
                    <a:pt x="95" y="0"/>
                  </a:lnTo>
                  <a:lnTo>
                    <a:pt x="94" y="8"/>
                  </a:lnTo>
                  <a:lnTo>
                    <a:pt x="91" y="15"/>
                  </a:lnTo>
                  <a:lnTo>
                    <a:pt x="88" y="21"/>
                  </a:lnTo>
                  <a:lnTo>
                    <a:pt x="82" y="27"/>
                  </a:lnTo>
                  <a:lnTo>
                    <a:pt x="76" y="33"/>
                  </a:lnTo>
                  <a:lnTo>
                    <a:pt x="68" y="38"/>
                  </a:lnTo>
                  <a:lnTo>
                    <a:pt x="60" y="43"/>
                  </a:lnTo>
                  <a:lnTo>
                    <a:pt x="52" y="48"/>
                  </a:lnTo>
                  <a:lnTo>
                    <a:pt x="43" y="53"/>
                  </a:lnTo>
                  <a:lnTo>
                    <a:pt x="34" y="58"/>
                  </a:lnTo>
                  <a:lnTo>
                    <a:pt x="26" y="64"/>
                  </a:lnTo>
                  <a:lnTo>
                    <a:pt x="18" y="70"/>
                  </a:lnTo>
                  <a:lnTo>
                    <a:pt x="11" y="77"/>
                  </a:lnTo>
                  <a:lnTo>
                    <a:pt x="6" y="86"/>
                  </a:lnTo>
                  <a:lnTo>
                    <a:pt x="2" y="95"/>
                  </a:lnTo>
                  <a:lnTo>
                    <a:pt x="0" y="106"/>
                  </a:lnTo>
                  <a:lnTo>
                    <a:pt x="15"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0" name="Freeform 258">
              <a:extLst>
                <a:ext uri="{FF2B5EF4-FFF2-40B4-BE49-F238E27FC236}">
                  <a16:creationId xmlns:a16="http://schemas.microsoft.com/office/drawing/2014/main" id="{5E4B0F84-411F-910E-F400-FF25E034A867}"/>
                </a:ext>
              </a:extLst>
            </p:cNvPr>
            <p:cNvSpPr>
              <a:spLocks/>
            </p:cNvSpPr>
            <p:nvPr/>
          </p:nvSpPr>
          <p:spPr bwMode="auto">
            <a:xfrm>
              <a:off x="3852" y="1857"/>
              <a:ext cx="91" cy="113"/>
            </a:xfrm>
            <a:custGeom>
              <a:avLst/>
              <a:gdLst>
                <a:gd name="T0" fmla="*/ 3674 w 73"/>
                <a:gd name="T1" fmla="*/ 393 h 105"/>
                <a:gd name="T2" fmla="*/ 0 w 73"/>
                <a:gd name="T3" fmla="*/ 475 h 105"/>
                <a:gd name="T4" fmla="*/ 0 w 73"/>
                <a:gd name="T5" fmla="*/ 471 h 105"/>
                <a:gd name="T6" fmla="*/ 2418 w 73"/>
                <a:gd name="T7" fmla="*/ 244 h 105"/>
                <a:gd name="T8" fmla="*/ 2633 w 73"/>
                <a:gd name="T9" fmla="*/ 211 h 105"/>
                <a:gd name="T10" fmla="*/ 2917 w 73"/>
                <a:gd name="T11" fmla="*/ 182 h 105"/>
                <a:gd name="T12" fmla="*/ 3014 w 73"/>
                <a:gd name="T13" fmla="*/ 149 h 105"/>
                <a:gd name="T14" fmla="*/ 3282 w 73"/>
                <a:gd name="T15" fmla="*/ 119 h 105"/>
                <a:gd name="T16" fmla="*/ 3409 w 73"/>
                <a:gd name="T17" fmla="*/ 89 h 105"/>
                <a:gd name="T18" fmla="*/ 3636 w 73"/>
                <a:gd name="T19" fmla="*/ 58 h 105"/>
                <a:gd name="T20" fmla="*/ 3757 w 73"/>
                <a:gd name="T21" fmla="*/ 6 h 105"/>
                <a:gd name="T22" fmla="*/ 4002 w 73"/>
                <a:gd name="T23" fmla="*/ 0 h 105"/>
                <a:gd name="T24" fmla="*/ 4250 w 73"/>
                <a:gd name="T25" fmla="*/ 6 h 105"/>
                <a:gd name="T26" fmla="*/ 4273 w 73"/>
                <a:gd name="T27" fmla="*/ 58 h 105"/>
                <a:gd name="T28" fmla="*/ 4533 w 73"/>
                <a:gd name="T29" fmla="*/ 89 h 105"/>
                <a:gd name="T30" fmla="*/ 4580 w 73"/>
                <a:gd name="T31" fmla="*/ 119 h 105"/>
                <a:gd name="T32" fmla="*/ 4683 w 73"/>
                <a:gd name="T33" fmla="*/ 157 h 105"/>
                <a:gd name="T34" fmla="*/ 4958 w 73"/>
                <a:gd name="T35" fmla="*/ 182 h 105"/>
                <a:gd name="T36" fmla="*/ 4989 w 73"/>
                <a:gd name="T37" fmla="*/ 214 h 105"/>
                <a:gd name="T38" fmla="*/ 5100 w 73"/>
                <a:gd name="T39" fmla="*/ 244 h 105"/>
                <a:gd name="T40" fmla="*/ 7423 w 73"/>
                <a:gd name="T41" fmla="*/ 475 h 105"/>
                <a:gd name="T42" fmla="*/ 7278 w 73"/>
                <a:gd name="T43" fmla="*/ 489 h 105"/>
                <a:gd name="T44" fmla="*/ 3674 w 73"/>
                <a:gd name="T45" fmla="*/ 393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0" y="102"/>
                  </a:lnTo>
                  <a:lnTo>
                    <a:pt x="0" y="100"/>
                  </a:lnTo>
                  <a:lnTo>
                    <a:pt x="24" y="52"/>
                  </a:lnTo>
                  <a:lnTo>
                    <a:pt x="26" y="45"/>
                  </a:lnTo>
                  <a:lnTo>
                    <a:pt x="28" y="39"/>
                  </a:lnTo>
                  <a:lnTo>
                    <a:pt x="30" y="32"/>
                  </a:lnTo>
                  <a:lnTo>
                    <a:pt x="32" y="26"/>
                  </a:lnTo>
                  <a:lnTo>
                    <a:pt x="33" y="19"/>
                  </a:lnTo>
                  <a:lnTo>
                    <a:pt x="35" y="13"/>
                  </a:lnTo>
                  <a:lnTo>
                    <a:pt x="37" y="6"/>
                  </a:lnTo>
                  <a:lnTo>
                    <a:pt x="39" y="0"/>
                  </a:lnTo>
                  <a:lnTo>
                    <a:pt x="41" y="6"/>
                  </a:lnTo>
                  <a:lnTo>
                    <a:pt x="42" y="13"/>
                  </a:lnTo>
                  <a:lnTo>
                    <a:pt x="44" y="19"/>
                  </a:lnTo>
                  <a:lnTo>
                    <a:pt x="45" y="26"/>
                  </a:lnTo>
                  <a:lnTo>
                    <a:pt x="46" y="33"/>
                  </a:lnTo>
                  <a:lnTo>
                    <a:pt x="48" y="39"/>
                  </a:lnTo>
                  <a:lnTo>
                    <a:pt x="49" y="46"/>
                  </a:lnTo>
                  <a:lnTo>
                    <a:pt x="50" y="52"/>
                  </a:lnTo>
                  <a:lnTo>
                    <a:pt x="72" y="102"/>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1" name="Freeform 259">
              <a:extLst>
                <a:ext uri="{FF2B5EF4-FFF2-40B4-BE49-F238E27FC236}">
                  <a16:creationId xmlns:a16="http://schemas.microsoft.com/office/drawing/2014/main" id="{4896EC72-F456-4B65-C118-7CDD80322CC0}"/>
                </a:ext>
              </a:extLst>
            </p:cNvPr>
            <p:cNvSpPr>
              <a:spLocks/>
            </p:cNvSpPr>
            <p:nvPr/>
          </p:nvSpPr>
          <p:spPr bwMode="auto">
            <a:xfrm>
              <a:off x="3953" y="2811"/>
              <a:ext cx="91" cy="157"/>
            </a:xfrm>
            <a:custGeom>
              <a:avLst/>
              <a:gdLst>
                <a:gd name="T0" fmla="*/ 1329 w 73"/>
                <a:gd name="T1" fmla="*/ 671 h 146"/>
                <a:gd name="T2" fmla="*/ 1359 w 73"/>
                <a:gd name="T3" fmla="*/ 633 h 146"/>
                <a:gd name="T4" fmla="*/ 1657 w 73"/>
                <a:gd name="T5" fmla="*/ 610 h 146"/>
                <a:gd name="T6" fmla="*/ 1770 w 73"/>
                <a:gd name="T7" fmla="*/ 589 h 146"/>
                <a:gd name="T8" fmla="*/ 2206 w 73"/>
                <a:gd name="T9" fmla="*/ 579 h 146"/>
                <a:gd name="T10" fmla="*/ 2750 w 73"/>
                <a:gd name="T11" fmla="*/ 554 h 146"/>
                <a:gd name="T12" fmla="*/ 3282 w 73"/>
                <a:gd name="T13" fmla="*/ 539 h 146"/>
                <a:gd name="T14" fmla="*/ 3896 w 73"/>
                <a:gd name="T15" fmla="*/ 518 h 146"/>
                <a:gd name="T16" fmla="*/ 4533 w 73"/>
                <a:gd name="T17" fmla="*/ 500 h 146"/>
                <a:gd name="T18" fmla="*/ 5298 w 73"/>
                <a:gd name="T19" fmla="*/ 474 h 146"/>
                <a:gd name="T20" fmla="*/ 5838 w 73"/>
                <a:gd name="T21" fmla="*/ 439 h 146"/>
                <a:gd name="T22" fmla="*/ 6358 w 73"/>
                <a:gd name="T23" fmla="*/ 388 h 146"/>
                <a:gd name="T24" fmla="*/ 6723 w 73"/>
                <a:gd name="T25" fmla="*/ 340 h 146"/>
                <a:gd name="T26" fmla="*/ 7044 w 73"/>
                <a:gd name="T27" fmla="*/ 281 h 146"/>
                <a:gd name="T28" fmla="*/ 7278 w 73"/>
                <a:gd name="T29" fmla="*/ 197 h 146"/>
                <a:gd name="T30" fmla="*/ 7423 w 73"/>
                <a:gd name="T31" fmla="*/ 105 h 146"/>
                <a:gd name="T32" fmla="*/ 7117 w 73"/>
                <a:gd name="T33" fmla="*/ 0 h 146"/>
                <a:gd name="T34" fmla="*/ 5838 w 73"/>
                <a:gd name="T35" fmla="*/ 1 h 146"/>
                <a:gd name="T36" fmla="*/ 5838 w 73"/>
                <a:gd name="T37" fmla="*/ 105 h 146"/>
                <a:gd name="T38" fmla="*/ 5955 w 73"/>
                <a:gd name="T39" fmla="*/ 195 h 146"/>
                <a:gd name="T40" fmla="*/ 5709 w 73"/>
                <a:gd name="T41" fmla="*/ 265 h 146"/>
                <a:gd name="T42" fmla="*/ 5393 w 73"/>
                <a:gd name="T43" fmla="*/ 325 h 146"/>
                <a:gd name="T44" fmla="*/ 4989 w 73"/>
                <a:gd name="T45" fmla="*/ 366 h 146"/>
                <a:gd name="T46" fmla="*/ 4580 w 73"/>
                <a:gd name="T47" fmla="*/ 403 h 146"/>
                <a:gd name="T48" fmla="*/ 4091 w 73"/>
                <a:gd name="T49" fmla="*/ 432 h 146"/>
                <a:gd name="T50" fmla="*/ 3636 w 73"/>
                <a:gd name="T51" fmla="*/ 448 h 146"/>
                <a:gd name="T52" fmla="*/ 3014 w 73"/>
                <a:gd name="T53" fmla="*/ 474 h 146"/>
                <a:gd name="T54" fmla="*/ 2418 w 73"/>
                <a:gd name="T55" fmla="*/ 490 h 146"/>
                <a:gd name="T56" fmla="*/ 1940 w 73"/>
                <a:gd name="T57" fmla="*/ 508 h 146"/>
                <a:gd name="T58" fmla="*/ 1329 w 73"/>
                <a:gd name="T59" fmla="*/ 527 h 146"/>
                <a:gd name="T60" fmla="*/ 803 w 73"/>
                <a:gd name="T61" fmla="*/ 551 h 146"/>
                <a:gd name="T62" fmla="*/ 290 w 73"/>
                <a:gd name="T63" fmla="*/ 587 h 146"/>
                <a:gd name="T64" fmla="*/ 1 w 73"/>
                <a:gd name="T65" fmla="*/ 624 h 146"/>
                <a:gd name="T66" fmla="*/ 0 w 73"/>
                <a:gd name="T67" fmla="*/ 671 h 146"/>
                <a:gd name="T68" fmla="*/ 1329 w 73"/>
                <a:gd name="T69" fmla="*/ 671 h 1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3"/>
                <a:gd name="T106" fmla="*/ 0 h 146"/>
                <a:gd name="T107" fmla="*/ 73 w 73"/>
                <a:gd name="T108" fmla="*/ 146 h 1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3" h="146">
                  <a:moveTo>
                    <a:pt x="13" y="145"/>
                  </a:moveTo>
                  <a:lnTo>
                    <a:pt x="14" y="138"/>
                  </a:lnTo>
                  <a:lnTo>
                    <a:pt x="16" y="132"/>
                  </a:lnTo>
                  <a:lnTo>
                    <a:pt x="18" y="128"/>
                  </a:lnTo>
                  <a:lnTo>
                    <a:pt x="22" y="125"/>
                  </a:lnTo>
                  <a:lnTo>
                    <a:pt x="27" y="121"/>
                  </a:lnTo>
                  <a:lnTo>
                    <a:pt x="32" y="117"/>
                  </a:lnTo>
                  <a:lnTo>
                    <a:pt x="38" y="113"/>
                  </a:lnTo>
                  <a:lnTo>
                    <a:pt x="44" y="108"/>
                  </a:lnTo>
                  <a:lnTo>
                    <a:pt x="51" y="103"/>
                  </a:lnTo>
                  <a:lnTo>
                    <a:pt x="57" y="95"/>
                  </a:lnTo>
                  <a:lnTo>
                    <a:pt x="62" y="85"/>
                  </a:lnTo>
                  <a:lnTo>
                    <a:pt x="66" y="74"/>
                  </a:lnTo>
                  <a:lnTo>
                    <a:pt x="69" y="60"/>
                  </a:lnTo>
                  <a:lnTo>
                    <a:pt x="71" y="43"/>
                  </a:lnTo>
                  <a:lnTo>
                    <a:pt x="72" y="23"/>
                  </a:lnTo>
                  <a:lnTo>
                    <a:pt x="70" y="0"/>
                  </a:lnTo>
                  <a:lnTo>
                    <a:pt x="57" y="1"/>
                  </a:lnTo>
                  <a:lnTo>
                    <a:pt x="57" y="23"/>
                  </a:lnTo>
                  <a:lnTo>
                    <a:pt x="58" y="42"/>
                  </a:lnTo>
                  <a:lnTo>
                    <a:pt x="56" y="58"/>
                  </a:lnTo>
                  <a:lnTo>
                    <a:pt x="53" y="70"/>
                  </a:lnTo>
                  <a:lnTo>
                    <a:pt x="49" y="80"/>
                  </a:lnTo>
                  <a:lnTo>
                    <a:pt x="45" y="87"/>
                  </a:lnTo>
                  <a:lnTo>
                    <a:pt x="40" y="93"/>
                  </a:lnTo>
                  <a:lnTo>
                    <a:pt x="35" y="98"/>
                  </a:lnTo>
                  <a:lnTo>
                    <a:pt x="30" y="103"/>
                  </a:lnTo>
                  <a:lnTo>
                    <a:pt x="24" y="106"/>
                  </a:lnTo>
                  <a:lnTo>
                    <a:pt x="19" y="110"/>
                  </a:lnTo>
                  <a:lnTo>
                    <a:pt x="13" y="114"/>
                  </a:lnTo>
                  <a:lnTo>
                    <a:pt x="8" y="120"/>
                  </a:lnTo>
                  <a:lnTo>
                    <a:pt x="3" y="127"/>
                  </a:lnTo>
                  <a:lnTo>
                    <a:pt x="1" y="135"/>
                  </a:lnTo>
                  <a:lnTo>
                    <a:pt x="0" y="145"/>
                  </a:lnTo>
                  <a:lnTo>
                    <a:pt x="13" y="14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2" name="Freeform 260">
              <a:extLst>
                <a:ext uri="{FF2B5EF4-FFF2-40B4-BE49-F238E27FC236}">
                  <a16:creationId xmlns:a16="http://schemas.microsoft.com/office/drawing/2014/main" id="{5F721185-FF17-9978-EC1B-AE8208BD7C90}"/>
                </a:ext>
              </a:extLst>
            </p:cNvPr>
            <p:cNvSpPr>
              <a:spLocks/>
            </p:cNvSpPr>
            <p:nvPr/>
          </p:nvSpPr>
          <p:spPr bwMode="auto">
            <a:xfrm>
              <a:off x="3953" y="2967"/>
              <a:ext cx="137" cy="121"/>
            </a:xfrm>
            <a:custGeom>
              <a:avLst/>
              <a:gdLst>
                <a:gd name="T0" fmla="*/ 13137 w 109"/>
                <a:gd name="T1" fmla="*/ 557 h 112"/>
                <a:gd name="T2" fmla="*/ 12867 w 109"/>
                <a:gd name="T3" fmla="*/ 508 h 112"/>
                <a:gd name="T4" fmla="*/ 12503 w 109"/>
                <a:gd name="T5" fmla="*/ 466 h 112"/>
                <a:gd name="T6" fmla="*/ 11758 w 109"/>
                <a:gd name="T7" fmla="*/ 420 h 112"/>
                <a:gd name="T8" fmla="*/ 10930 w 109"/>
                <a:gd name="T9" fmla="*/ 379 h 112"/>
                <a:gd name="T10" fmla="*/ 9948 w 109"/>
                <a:gd name="T11" fmla="*/ 351 h 112"/>
                <a:gd name="T12" fmla="*/ 9083 w 109"/>
                <a:gd name="T13" fmla="*/ 317 h 112"/>
                <a:gd name="T14" fmla="*/ 7915 w 109"/>
                <a:gd name="T15" fmla="*/ 293 h 112"/>
                <a:gd name="T16" fmla="*/ 6919 w 109"/>
                <a:gd name="T17" fmla="*/ 264 h 112"/>
                <a:gd name="T18" fmla="*/ 5750 w 109"/>
                <a:gd name="T19" fmla="*/ 233 h 112"/>
                <a:gd name="T20" fmla="*/ 4784 w 109"/>
                <a:gd name="T21" fmla="*/ 209 h 112"/>
                <a:gd name="T22" fmla="*/ 3818 w 109"/>
                <a:gd name="T23" fmla="*/ 179 h 112"/>
                <a:gd name="T24" fmla="*/ 3028 w 109"/>
                <a:gd name="T25" fmla="*/ 145 h 112"/>
                <a:gd name="T26" fmla="*/ 2409 w 109"/>
                <a:gd name="T27" fmla="*/ 115 h 112"/>
                <a:gd name="T28" fmla="*/ 1917 w 109"/>
                <a:gd name="T29" fmla="*/ 84 h 112"/>
                <a:gd name="T30" fmla="*/ 1755 w 109"/>
                <a:gd name="T31" fmla="*/ 45 h 112"/>
                <a:gd name="T32" fmla="*/ 1525 w 109"/>
                <a:gd name="T33" fmla="*/ 0 h 112"/>
                <a:gd name="T34" fmla="*/ 0 w 109"/>
                <a:gd name="T35" fmla="*/ 0 h 112"/>
                <a:gd name="T36" fmla="*/ 1 w 109"/>
                <a:gd name="T37" fmla="*/ 53 h 112"/>
                <a:gd name="T38" fmla="*/ 387 w 109"/>
                <a:gd name="T39" fmla="*/ 113 h 112"/>
                <a:gd name="T40" fmla="*/ 1111 w 109"/>
                <a:gd name="T41" fmla="*/ 157 h 112"/>
                <a:gd name="T42" fmla="*/ 1917 w 109"/>
                <a:gd name="T43" fmla="*/ 193 h 112"/>
                <a:gd name="T44" fmla="*/ 2773 w 109"/>
                <a:gd name="T45" fmla="*/ 232 h 112"/>
                <a:gd name="T46" fmla="*/ 3806 w 109"/>
                <a:gd name="T47" fmla="*/ 264 h 112"/>
                <a:gd name="T48" fmla="*/ 4799 w 109"/>
                <a:gd name="T49" fmla="*/ 294 h 112"/>
                <a:gd name="T50" fmla="*/ 6013 w 109"/>
                <a:gd name="T51" fmla="*/ 318 h 112"/>
                <a:gd name="T52" fmla="*/ 7121 w 109"/>
                <a:gd name="T53" fmla="*/ 351 h 112"/>
                <a:gd name="T54" fmla="*/ 8145 w 109"/>
                <a:gd name="T55" fmla="*/ 373 h 112"/>
                <a:gd name="T56" fmla="*/ 9083 w 109"/>
                <a:gd name="T57" fmla="*/ 402 h 112"/>
                <a:gd name="T58" fmla="*/ 9840 w 109"/>
                <a:gd name="T59" fmla="*/ 431 h 112"/>
                <a:gd name="T60" fmla="*/ 10452 w 109"/>
                <a:gd name="T61" fmla="*/ 466 h 112"/>
                <a:gd name="T62" fmla="*/ 11025 w 109"/>
                <a:gd name="T63" fmla="*/ 490 h 112"/>
                <a:gd name="T64" fmla="*/ 11372 w 109"/>
                <a:gd name="T65" fmla="*/ 516 h 112"/>
                <a:gd name="T66" fmla="*/ 11416 w 109"/>
                <a:gd name="T67" fmla="*/ 557 h 112"/>
                <a:gd name="T68" fmla="*/ 13137 w 109"/>
                <a:gd name="T69" fmla="*/ 557 h 1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12"/>
                <a:gd name="T107" fmla="*/ 109 w 109"/>
                <a:gd name="T108" fmla="*/ 112 h 1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12">
                  <a:moveTo>
                    <a:pt x="108" y="111"/>
                  </a:moveTo>
                  <a:lnTo>
                    <a:pt x="106" y="100"/>
                  </a:lnTo>
                  <a:lnTo>
                    <a:pt x="103" y="91"/>
                  </a:lnTo>
                  <a:lnTo>
                    <a:pt x="97" y="83"/>
                  </a:lnTo>
                  <a:lnTo>
                    <a:pt x="90" y="75"/>
                  </a:lnTo>
                  <a:lnTo>
                    <a:pt x="82" y="69"/>
                  </a:lnTo>
                  <a:lnTo>
                    <a:pt x="75" y="62"/>
                  </a:lnTo>
                  <a:lnTo>
                    <a:pt x="65" y="57"/>
                  </a:lnTo>
                  <a:lnTo>
                    <a:pt x="57" y="52"/>
                  </a:lnTo>
                  <a:lnTo>
                    <a:pt x="48" y="46"/>
                  </a:lnTo>
                  <a:lnTo>
                    <a:pt x="39" y="41"/>
                  </a:lnTo>
                  <a:lnTo>
                    <a:pt x="32" y="35"/>
                  </a:lnTo>
                  <a:lnTo>
                    <a:pt x="25" y="29"/>
                  </a:lnTo>
                  <a:lnTo>
                    <a:pt x="20" y="23"/>
                  </a:lnTo>
                  <a:lnTo>
                    <a:pt x="16" y="17"/>
                  </a:lnTo>
                  <a:lnTo>
                    <a:pt x="14" y="9"/>
                  </a:lnTo>
                  <a:lnTo>
                    <a:pt x="13" y="0"/>
                  </a:lnTo>
                  <a:lnTo>
                    <a:pt x="0" y="0"/>
                  </a:lnTo>
                  <a:lnTo>
                    <a:pt x="1" y="11"/>
                  </a:lnTo>
                  <a:lnTo>
                    <a:pt x="3" y="22"/>
                  </a:lnTo>
                  <a:lnTo>
                    <a:pt x="9" y="31"/>
                  </a:lnTo>
                  <a:lnTo>
                    <a:pt x="16" y="38"/>
                  </a:lnTo>
                  <a:lnTo>
                    <a:pt x="23" y="45"/>
                  </a:lnTo>
                  <a:lnTo>
                    <a:pt x="31" y="52"/>
                  </a:lnTo>
                  <a:lnTo>
                    <a:pt x="40" y="58"/>
                  </a:lnTo>
                  <a:lnTo>
                    <a:pt x="49" y="63"/>
                  </a:lnTo>
                  <a:lnTo>
                    <a:pt x="58" y="69"/>
                  </a:lnTo>
                  <a:lnTo>
                    <a:pt x="67" y="74"/>
                  </a:lnTo>
                  <a:lnTo>
                    <a:pt x="75" y="79"/>
                  </a:lnTo>
                  <a:lnTo>
                    <a:pt x="81" y="84"/>
                  </a:lnTo>
                  <a:lnTo>
                    <a:pt x="86" y="91"/>
                  </a:lnTo>
                  <a:lnTo>
                    <a:pt x="91" y="97"/>
                  </a:lnTo>
                  <a:lnTo>
                    <a:pt x="93" y="103"/>
                  </a:lnTo>
                  <a:lnTo>
                    <a:pt x="94" y="111"/>
                  </a:lnTo>
                  <a:lnTo>
                    <a:pt x="108" y="11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3" name="Freeform 261">
              <a:extLst>
                <a:ext uri="{FF2B5EF4-FFF2-40B4-BE49-F238E27FC236}">
                  <a16:creationId xmlns:a16="http://schemas.microsoft.com/office/drawing/2014/main" id="{C8230259-CB8E-6C21-ADD9-C96480343661}"/>
                </a:ext>
              </a:extLst>
            </p:cNvPr>
            <p:cNvSpPr>
              <a:spLocks/>
            </p:cNvSpPr>
            <p:nvPr/>
          </p:nvSpPr>
          <p:spPr bwMode="auto">
            <a:xfrm>
              <a:off x="3953" y="3087"/>
              <a:ext cx="137" cy="115"/>
            </a:xfrm>
            <a:custGeom>
              <a:avLst/>
              <a:gdLst>
                <a:gd name="T0" fmla="*/ 1755 w 109"/>
                <a:gd name="T1" fmla="*/ 584 h 106"/>
                <a:gd name="T2" fmla="*/ 1833 w 109"/>
                <a:gd name="T3" fmla="*/ 538 h 106"/>
                <a:gd name="T4" fmla="*/ 2007 w 109"/>
                <a:gd name="T5" fmla="*/ 512 h 106"/>
                <a:gd name="T6" fmla="*/ 2523 w 109"/>
                <a:gd name="T7" fmla="*/ 475 h 106"/>
                <a:gd name="T8" fmla="*/ 3283 w 109"/>
                <a:gd name="T9" fmla="*/ 442 h 106"/>
                <a:gd name="T10" fmla="*/ 3818 w 109"/>
                <a:gd name="T11" fmla="*/ 410 h 106"/>
                <a:gd name="T12" fmla="*/ 5010 w 109"/>
                <a:gd name="T13" fmla="*/ 378 h 106"/>
                <a:gd name="T14" fmla="*/ 6013 w 109"/>
                <a:gd name="T15" fmla="*/ 348 h 106"/>
                <a:gd name="T16" fmla="*/ 6919 w 109"/>
                <a:gd name="T17" fmla="*/ 338 h 106"/>
                <a:gd name="T18" fmla="*/ 8044 w 109"/>
                <a:gd name="T19" fmla="*/ 312 h 106"/>
                <a:gd name="T20" fmla="*/ 9083 w 109"/>
                <a:gd name="T21" fmla="*/ 273 h 106"/>
                <a:gd name="T22" fmla="*/ 10110 w 109"/>
                <a:gd name="T23" fmla="*/ 244 h 106"/>
                <a:gd name="T24" fmla="*/ 11025 w 109"/>
                <a:gd name="T25" fmla="*/ 207 h 106"/>
                <a:gd name="T26" fmla="*/ 11758 w 109"/>
                <a:gd name="T27" fmla="*/ 168 h 106"/>
                <a:gd name="T28" fmla="*/ 12503 w 109"/>
                <a:gd name="T29" fmla="*/ 116 h 106"/>
                <a:gd name="T30" fmla="*/ 12867 w 109"/>
                <a:gd name="T31" fmla="*/ 59 h 106"/>
                <a:gd name="T32" fmla="*/ 13137 w 109"/>
                <a:gd name="T33" fmla="*/ 0 h 106"/>
                <a:gd name="T34" fmla="*/ 11416 w 109"/>
                <a:gd name="T35" fmla="*/ 0 h 106"/>
                <a:gd name="T36" fmla="*/ 11372 w 109"/>
                <a:gd name="T37" fmla="*/ 46 h 106"/>
                <a:gd name="T38" fmla="*/ 10930 w 109"/>
                <a:gd name="T39" fmla="*/ 81 h 106"/>
                <a:gd name="T40" fmla="*/ 10529 w 109"/>
                <a:gd name="T41" fmla="*/ 122 h 106"/>
                <a:gd name="T42" fmla="*/ 9948 w 109"/>
                <a:gd name="T43" fmla="*/ 149 h 106"/>
                <a:gd name="T44" fmla="*/ 9083 w 109"/>
                <a:gd name="T45" fmla="*/ 182 h 106"/>
                <a:gd name="T46" fmla="*/ 8145 w 109"/>
                <a:gd name="T47" fmla="*/ 208 h 106"/>
                <a:gd name="T48" fmla="*/ 7199 w 109"/>
                <a:gd name="T49" fmla="*/ 244 h 106"/>
                <a:gd name="T50" fmla="*/ 6215 w 109"/>
                <a:gd name="T51" fmla="*/ 271 h 106"/>
                <a:gd name="T52" fmla="*/ 5156 w 109"/>
                <a:gd name="T53" fmla="*/ 294 h 106"/>
                <a:gd name="T54" fmla="*/ 3986 w 109"/>
                <a:gd name="T55" fmla="*/ 319 h 106"/>
                <a:gd name="T56" fmla="*/ 3028 w 109"/>
                <a:gd name="T57" fmla="*/ 348 h 106"/>
                <a:gd name="T58" fmla="*/ 2206 w 109"/>
                <a:gd name="T59" fmla="*/ 378 h 106"/>
                <a:gd name="T60" fmla="*/ 1213 w 109"/>
                <a:gd name="T61" fmla="*/ 432 h 106"/>
                <a:gd name="T62" fmla="*/ 611 w 109"/>
                <a:gd name="T63" fmla="*/ 472 h 106"/>
                <a:gd name="T64" fmla="*/ 308 w 109"/>
                <a:gd name="T65" fmla="*/ 524 h 106"/>
                <a:gd name="T66" fmla="*/ 0 w 109"/>
                <a:gd name="T67" fmla="*/ 584 h 106"/>
                <a:gd name="T68" fmla="*/ 1755 w 109"/>
                <a:gd name="T69" fmla="*/ 584 h 10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6"/>
                <a:gd name="T107" fmla="*/ 109 w 109"/>
                <a:gd name="T108" fmla="*/ 106 h 10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6">
                  <a:moveTo>
                    <a:pt x="14" y="105"/>
                  </a:moveTo>
                  <a:lnTo>
                    <a:pt x="15" y="97"/>
                  </a:lnTo>
                  <a:lnTo>
                    <a:pt x="17" y="92"/>
                  </a:lnTo>
                  <a:lnTo>
                    <a:pt x="21" y="86"/>
                  </a:lnTo>
                  <a:lnTo>
                    <a:pt x="27" y="80"/>
                  </a:lnTo>
                  <a:lnTo>
                    <a:pt x="32" y="75"/>
                  </a:lnTo>
                  <a:lnTo>
                    <a:pt x="41" y="69"/>
                  </a:lnTo>
                  <a:lnTo>
                    <a:pt x="49" y="64"/>
                  </a:lnTo>
                  <a:lnTo>
                    <a:pt x="57" y="60"/>
                  </a:lnTo>
                  <a:lnTo>
                    <a:pt x="66" y="55"/>
                  </a:lnTo>
                  <a:lnTo>
                    <a:pt x="75" y="50"/>
                  </a:lnTo>
                  <a:lnTo>
                    <a:pt x="83" y="43"/>
                  </a:lnTo>
                  <a:lnTo>
                    <a:pt x="91" y="37"/>
                  </a:lnTo>
                  <a:lnTo>
                    <a:pt x="97" y="30"/>
                  </a:lnTo>
                  <a:lnTo>
                    <a:pt x="103" y="21"/>
                  </a:lnTo>
                  <a:lnTo>
                    <a:pt x="106" y="11"/>
                  </a:lnTo>
                  <a:lnTo>
                    <a:pt x="108" y="0"/>
                  </a:lnTo>
                  <a:lnTo>
                    <a:pt x="94" y="0"/>
                  </a:lnTo>
                  <a:lnTo>
                    <a:pt x="93" y="8"/>
                  </a:lnTo>
                  <a:lnTo>
                    <a:pt x="90" y="15"/>
                  </a:lnTo>
                  <a:lnTo>
                    <a:pt x="87" y="22"/>
                  </a:lnTo>
                  <a:lnTo>
                    <a:pt x="82" y="27"/>
                  </a:lnTo>
                  <a:lnTo>
                    <a:pt x="75" y="33"/>
                  </a:lnTo>
                  <a:lnTo>
                    <a:pt x="67" y="38"/>
                  </a:lnTo>
                  <a:lnTo>
                    <a:pt x="59" y="43"/>
                  </a:lnTo>
                  <a:lnTo>
                    <a:pt x="51" y="49"/>
                  </a:lnTo>
                  <a:lnTo>
                    <a:pt x="42" y="53"/>
                  </a:lnTo>
                  <a:lnTo>
                    <a:pt x="33" y="58"/>
                  </a:lnTo>
                  <a:lnTo>
                    <a:pt x="25" y="64"/>
                  </a:lnTo>
                  <a:lnTo>
                    <a:pt x="18" y="69"/>
                  </a:lnTo>
                  <a:lnTo>
                    <a:pt x="10" y="77"/>
                  </a:lnTo>
                  <a:lnTo>
                    <a:pt x="5" y="85"/>
                  </a:lnTo>
                  <a:lnTo>
                    <a:pt x="2" y="95"/>
                  </a:lnTo>
                  <a:lnTo>
                    <a:pt x="0" y="105"/>
                  </a:lnTo>
                  <a:lnTo>
                    <a:pt x="14" y="10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4" name="Freeform 262">
              <a:extLst>
                <a:ext uri="{FF2B5EF4-FFF2-40B4-BE49-F238E27FC236}">
                  <a16:creationId xmlns:a16="http://schemas.microsoft.com/office/drawing/2014/main" id="{8A26363C-1633-938D-05E2-3823CB07BBA8}"/>
                </a:ext>
              </a:extLst>
            </p:cNvPr>
            <p:cNvSpPr>
              <a:spLocks/>
            </p:cNvSpPr>
            <p:nvPr/>
          </p:nvSpPr>
          <p:spPr bwMode="auto">
            <a:xfrm>
              <a:off x="3953" y="3201"/>
              <a:ext cx="137" cy="116"/>
            </a:xfrm>
            <a:custGeom>
              <a:avLst/>
              <a:gdLst>
                <a:gd name="T0" fmla="*/ 13137 w 109"/>
                <a:gd name="T1" fmla="*/ 576 h 107"/>
                <a:gd name="T2" fmla="*/ 12867 w 109"/>
                <a:gd name="T3" fmla="*/ 515 h 107"/>
                <a:gd name="T4" fmla="*/ 12503 w 109"/>
                <a:gd name="T5" fmla="*/ 465 h 107"/>
                <a:gd name="T6" fmla="*/ 11758 w 109"/>
                <a:gd name="T7" fmla="*/ 410 h 107"/>
                <a:gd name="T8" fmla="*/ 11025 w 109"/>
                <a:gd name="T9" fmla="*/ 374 h 107"/>
                <a:gd name="T10" fmla="*/ 10110 w 109"/>
                <a:gd name="T11" fmla="*/ 339 h 107"/>
                <a:gd name="T12" fmla="*/ 9083 w 109"/>
                <a:gd name="T13" fmla="*/ 311 h 107"/>
                <a:gd name="T14" fmla="*/ 8044 w 109"/>
                <a:gd name="T15" fmla="*/ 270 h 107"/>
                <a:gd name="T16" fmla="*/ 6919 w 109"/>
                <a:gd name="T17" fmla="*/ 249 h 107"/>
                <a:gd name="T18" fmla="*/ 6013 w 109"/>
                <a:gd name="T19" fmla="*/ 225 h 107"/>
                <a:gd name="T20" fmla="*/ 4799 w 109"/>
                <a:gd name="T21" fmla="*/ 192 h 107"/>
                <a:gd name="T22" fmla="*/ 3818 w 109"/>
                <a:gd name="T23" fmla="*/ 169 h 107"/>
                <a:gd name="T24" fmla="*/ 3283 w 109"/>
                <a:gd name="T25" fmla="*/ 133 h 107"/>
                <a:gd name="T26" fmla="*/ 2523 w 109"/>
                <a:gd name="T27" fmla="*/ 104 h 107"/>
                <a:gd name="T28" fmla="*/ 2007 w 109"/>
                <a:gd name="T29" fmla="*/ 69 h 107"/>
                <a:gd name="T30" fmla="*/ 1833 w 109"/>
                <a:gd name="T31" fmla="*/ 42 h 107"/>
                <a:gd name="T32" fmla="*/ 1755 w 109"/>
                <a:gd name="T33" fmla="*/ 0 h 107"/>
                <a:gd name="T34" fmla="*/ 0 w 109"/>
                <a:gd name="T35" fmla="*/ 0 h 107"/>
                <a:gd name="T36" fmla="*/ 308 w 109"/>
                <a:gd name="T37" fmla="*/ 54 h 107"/>
                <a:gd name="T38" fmla="*/ 611 w 109"/>
                <a:gd name="T39" fmla="*/ 112 h 107"/>
                <a:gd name="T40" fmla="*/ 1213 w 109"/>
                <a:gd name="T41" fmla="*/ 154 h 107"/>
                <a:gd name="T42" fmla="*/ 2206 w 109"/>
                <a:gd name="T43" fmla="*/ 192 h 107"/>
                <a:gd name="T44" fmla="*/ 3028 w 109"/>
                <a:gd name="T45" fmla="*/ 225 h 107"/>
                <a:gd name="T46" fmla="*/ 4126 w 109"/>
                <a:gd name="T47" fmla="*/ 253 h 107"/>
                <a:gd name="T48" fmla="*/ 5156 w 109"/>
                <a:gd name="T49" fmla="*/ 287 h 107"/>
                <a:gd name="T50" fmla="*/ 6215 w 109"/>
                <a:gd name="T51" fmla="*/ 313 h 107"/>
                <a:gd name="T52" fmla="*/ 7199 w 109"/>
                <a:gd name="T53" fmla="*/ 339 h 107"/>
                <a:gd name="T54" fmla="*/ 8145 w 109"/>
                <a:gd name="T55" fmla="*/ 368 h 107"/>
                <a:gd name="T56" fmla="*/ 9083 w 109"/>
                <a:gd name="T57" fmla="*/ 396 h 107"/>
                <a:gd name="T58" fmla="*/ 9948 w 109"/>
                <a:gd name="T59" fmla="*/ 429 h 107"/>
                <a:gd name="T60" fmla="*/ 10529 w 109"/>
                <a:gd name="T61" fmla="*/ 463 h 107"/>
                <a:gd name="T62" fmla="*/ 10930 w 109"/>
                <a:gd name="T63" fmla="*/ 490 h 107"/>
                <a:gd name="T64" fmla="*/ 11372 w 109"/>
                <a:gd name="T65" fmla="*/ 525 h 107"/>
                <a:gd name="T66" fmla="*/ 11416 w 109"/>
                <a:gd name="T67" fmla="*/ 576 h 107"/>
                <a:gd name="T68" fmla="*/ 13137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4"/>
                  </a:lnTo>
                  <a:lnTo>
                    <a:pt x="103" y="85"/>
                  </a:lnTo>
                  <a:lnTo>
                    <a:pt x="97" y="76"/>
                  </a:lnTo>
                  <a:lnTo>
                    <a:pt x="91" y="69"/>
                  </a:lnTo>
                  <a:lnTo>
                    <a:pt x="83" y="62"/>
                  </a:lnTo>
                  <a:lnTo>
                    <a:pt x="75" y="56"/>
                  </a:lnTo>
                  <a:lnTo>
                    <a:pt x="66" y="50"/>
                  </a:lnTo>
                  <a:lnTo>
                    <a:pt x="57" y="46"/>
                  </a:lnTo>
                  <a:lnTo>
                    <a:pt x="49" y="41"/>
                  </a:lnTo>
                  <a:lnTo>
                    <a:pt x="40" y="35"/>
                  </a:lnTo>
                  <a:lnTo>
                    <a:pt x="32" y="31"/>
                  </a:lnTo>
                  <a:lnTo>
                    <a:pt x="27" y="25"/>
                  </a:lnTo>
                  <a:lnTo>
                    <a:pt x="21" y="19"/>
                  </a:lnTo>
                  <a:lnTo>
                    <a:pt x="17" y="13"/>
                  </a:lnTo>
                  <a:lnTo>
                    <a:pt x="15" y="7"/>
                  </a:lnTo>
                  <a:lnTo>
                    <a:pt x="14" y="0"/>
                  </a:lnTo>
                  <a:lnTo>
                    <a:pt x="0" y="0"/>
                  </a:lnTo>
                  <a:lnTo>
                    <a:pt x="2" y="10"/>
                  </a:lnTo>
                  <a:lnTo>
                    <a:pt x="5" y="20"/>
                  </a:lnTo>
                  <a:lnTo>
                    <a:pt x="10" y="28"/>
                  </a:lnTo>
                  <a:lnTo>
                    <a:pt x="18" y="35"/>
                  </a:lnTo>
                  <a:lnTo>
                    <a:pt x="25" y="41"/>
                  </a:lnTo>
                  <a:lnTo>
                    <a:pt x="34" y="47"/>
                  </a:lnTo>
                  <a:lnTo>
                    <a:pt x="42" y="52"/>
                  </a:lnTo>
                  <a:lnTo>
                    <a:pt x="51" y="57"/>
                  </a:lnTo>
                  <a:lnTo>
                    <a:pt x="59" y="62"/>
                  </a:lnTo>
                  <a:lnTo>
                    <a:pt x="67" y="67"/>
                  </a:lnTo>
                  <a:lnTo>
                    <a:pt x="75" y="72"/>
                  </a:lnTo>
                  <a:lnTo>
                    <a:pt x="82" y="78"/>
                  </a:lnTo>
                  <a:lnTo>
                    <a:pt x="87" y="84"/>
                  </a:lnTo>
                  <a:lnTo>
                    <a:pt x="90"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5" name="Freeform 263">
              <a:extLst>
                <a:ext uri="{FF2B5EF4-FFF2-40B4-BE49-F238E27FC236}">
                  <a16:creationId xmlns:a16="http://schemas.microsoft.com/office/drawing/2014/main" id="{F164AD17-082A-1C79-3258-0FAEFF3676DE}"/>
                </a:ext>
              </a:extLst>
            </p:cNvPr>
            <p:cNvSpPr>
              <a:spLocks/>
            </p:cNvSpPr>
            <p:nvPr/>
          </p:nvSpPr>
          <p:spPr bwMode="auto">
            <a:xfrm>
              <a:off x="3953" y="3315"/>
              <a:ext cx="137" cy="117"/>
            </a:xfrm>
            <a:custGeom>
              <a:avLst/>
              <a:gdLst>
                <a:gd name="T0" fmla="*/ 1755 w 109"/>
                <a:gd name="T1" fmla="*/ 569 h 108"/>
                <a:gd name="T2" fmla="*/ 1833 w 109"/>
                <a:gd name="T3" fmla="*/ 525 h 108"/>
                <a:gd name="T4" fmla="*/ 2007 w 109"/>
                <a:gd name="T5" fmla="*/ 503 h 108"/>
                <a:gd name="T6" fmla="*/ 2523 w 109"/>
                <a:gd name="T7" fmla="*/ 469 h 108"/>
                <a:gd name="T8" fmla="*/ 3283 w 109"/>
                <a:gd name="T9" fmla="*/ 437 h 108"/>
                <a:gd name="T10" fmla="*/ 3818 w 109"/>
                <a:gd name="T11" fmla="*/ 403 h 108"/>
                <a:gd name="T12" fmla="*/ 4799 w 109"/>
                <a:gd name="T13" fmla="*/ 380 h 108"/>
                <a:gd name="T14" fmla="*/ 6013 w 109"/>
                <a:gd name="T15" fmla="*/ 364 h 108"/>
                <a:gd name="T16" fmla="*/ 6919 w 109"/>
                <a:gd name="T17" fmla="*/ 319 h 108"/>
                <a:gd name="T18" fmla="*/ 8044 w 109"/>
                <a:gd name="T19" fmla="*/ 294 h 108"/>
                <a:gd name="T20" fmla="*/ 9048 w 109"/>
                <a:gd name="T21" fmla="*/ 270 h 108"/>
                <a:gd name="T22" fmla="*/ 10110 w 109"/>
                <a:gd name="T23" fmla="*/ 244 h 108"/>
                <a:gd name="T24" fmla="*/ 11025 w 109"/>
                <a:gd name="T25" fmla="*/ 197 h 108"/>
                <a:gd name="T26" fmla="*/ 11758 w 109"/>
                <a:gd name="T27" fmla="*/ 163 h 108"/>
                <a:gd name="T28" fmla="*/ 12503 w 109"/>
                <a:gd name="T29" fmla="*/ 113 h 108"/>
                <a:gd name="T30" fmla="*/ 12867 w 109"/>
                <a:gd name="T31" fmla="*/ 58 h 108"/>
                <a:gd name="T32" fmla="*/ 13137 w 109"/>
                <a:gd name="T33" fmla="*/ 0 h 108"/>
                <a:gd name="T34" fmla="*/ 11416 w 109"/>
                <a:gd name="T35" fmla="*/ 0 h 108"/>
                <a:gd name="T36" fmla="*/ 11372 w 109"/>
                <a:gd name="T37" fmla="*/ 46 h 108"/>
                <a:gd name="T38" fmla="*/ 10930 w 109"/>
                <a:gd name="T39" fmla="*/ 87 h 108"/>
                <a:gd name="T40" fmla="*/ 10529 w 109"/>
                <a:gd name="T41" fmla="*/ 119 h 108"/>
                <a:gd name="T42" fmla="*/ 9948 w 109"/>
                <a:gd name="T43" fmla="*/ 150 h 108"/>
                <a:gd name="T44" fmla="*/ 9083 w 109"/>
                <a:gd name="T45" fmla="*/ 182 h 108"/>
                <a:gd name="T46" fmla="*/ 8192 w 109"/>
                <a:gd name="T47" fmla="*/ 208 h 108"/>
                <a:gd name="T48" fmla="*/ 7199 w 109"/>
                <a:gd name="T49" fmla="*/ 244 h 108"/>
                <a:gd name="T50" fmla="*/ 6215 w 109"/>
                <a:gd name="T51" fmla="*/ 265 h 108"/>
                <a:gd name="T52" fmla="*/ 5156 w 109"/>
                <a:gd name="T53" fmla="*/ 293 h 108"/>
                <a:gd name="T54" fmla="*/ 4126 w 109"/>
                <a:gd name="T55" fmla="*/ 317 h 108"/>
                <a:gd name="T56" fmla="*/ 3028 w 109"/>
                <a:gd name="T57" fmla="*/ 346 h 108"/>
                <a:gd name="T58" fmla="*/ 2206 w 109"/>
                <a:gd name="T59" fmla="*/ 380 h 108"/>
                <a:gd name="T60" fmla="*/ 1213 w 109"/>
                <a:gd name="T61" fmla="*/ 427 h 108"/>
                <a:gd name="T62" fmla="*/ 611 w 109"/>
                <a:gd name="T63" fmla="*/ 464 h 108"/>
                <a:gd name="T64" fmla="*/ 308 w 109"/>
                <a:gd name="T65" fmla="*/ 517 h 108"/>
                <a:gd name="T66" fmla="*/ 0 w 109"/>
                <a:gd name="T67" fmla="*/ 569 h 108"/>
                <a:gd name="T68" fmla="*/ 1755 w 109"/>
                <a:gd name="T69" fmla="*/ 569 h 10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8"/>
                <a:gd name="T107" fmla="*/ 109 w 109"/>
                <a:gd name="T108" fmla="*/ 108 h 10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8">
                  <a:moveTo>
                    <a:pt x="14" y="107"/>
                  </a:moveTo>
                  <a:lnTo>
                    <a:pt x="15" y="99"/>
                  </a:lnTo>
                  <a:lnTo>
                    <a:pt x="17" y="93"/>
                  </a:lnTo>
                  <a:lnTo>
                    <a:pt x="21" y="87"/>
                  </a:lnTo>
                  <a:lnTo>
                    <a:pt x="27" y="81"/>
                  </a:lnTo>
                  <a:lnTo>
                    <a:pt x="32" y="75"/>
                  </a:lnTo>
                  <a:lnTo>
                    <a:pt x="40" y="71"/>
                  </a:lnTo>
                  <a:lnTo>
                    <a:pt x="49" y="66"/>
                  </a:lnTo>
                  <a:lnTo>
                    <a:pt x="57" y="60"/>
                  </a:lnTo>
                  <a:lnTo>
                    <a:pt x="66" y="55"/>
                  </a:lnTo>
                  <a:lnTo>
                    <a:pt x="74" y="50"/>
                  </a:lnTo>
                  <a:lnTo>
                    <a:pt x="83" y="44"/>
                  </a:lnTo>
                  <a:lnTo>
                    <a:pt x="91" y="37"/>
                  </a:lnTo>
                  <a:lnTo>
                    <a:pt x="97" y="30"/>
                  </a:lnTo>
                  <a:lnTo>
                    <a:pt x="103" y="21"/>
                  </a:lnTo>
                  <a:lnTo>
                    <a:pt x="106" y="11"/>
                  </a:lnTo>
                  <a:lnTo>
                    <a:pt x="108" y="0"/>
                  </a:lnTo>
                  <a:lnTo>
                    <a:pt x="94" y="0"/>
                  </a:lnTo>
                  <a:lnTo>
                    <a:pt x="93" y="8"/>
                  </a:lnTo>
                  <a:lnTo>
                    <a:pt x="90" y="16"/>
                  </a:lnTo>
                  <a:lnTo>
                    <a:pt x="87" y="22"/>
                  </a:lnTo>
                  <a:lnTo>
                    <a:pt x="82" y="28"/>
                  </a:lnTo>
                  <a:lnTo>
                    <a:pt x="75" y="34"/>
                  </a:lnTo>
                  <a:lnTo>
                    <a:pt x="68" y="38"/>
                  </a:lnTo>
                  <a:lnTo>
                    <a:pt x="59" y="44"/>
                  </a:lnTo>
                  <a:lnTo>
                    <a:pt x="51" y="49"/>
                  </a:lnTo>
                  <a:lnTo>
                    <a:pt x="42" y="54"/>
                  </a:lnTo>
                  <a:lnTo>
                    <a:pt x="34" y="59"/>
                  </a:lnTo>
                  <a:lnTo>
                    <a:pt x="25" y="65"/>
                  </a:lnTo>
                  <a:lnTo>
                    <a:pt x="18" y="71"/>
                  </a:lnTo>
                  <a:lnTo>
                    <a:pt x="10" y="78"/>
                  </a:lnTo>
                  <a:lnTo>
                    <a:pt x="5" y="86"/>
                  </a:lnTo>
                  <a:lnTo>
                    <a:pt x="2" y="96"/>
                  </a:lnTo>
                  <a:lnTo>
                    <a:pt x="0" y="107"/>
                  </a:lnTo>
                  <a:lnTo>
                    <a:pt x="14" y="107"/>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6" name="Freeform 264">
              <a:extLst>
                <a:ext uri="{FF2B5EF4-FFF2-40B4-BE49-F238E27FC236}">
                  <a16:creationId xmlns:a16="http://schemas.microsoft.com/office/drawing/2014/main" id="{8C304960-32D3-5E93-ACF1-5448008B1542}"/>
                </a:ext>
              </a:extLst>
            </p:cNvPr>
            <p:cNvSpPr>
              <a:spLocks/>
            </p:cNvSpPr>
            <p:nvPr/>
          </p:nvSpPr>
          <p:spPr bwMode="auto">
            <a:xfrm>
              <a:off x="3953" y="3431"/>
              <a:ext cx="137" cy="103"/>
            </a:xfrm>
            <a:custGeom>
              <a:avLst/>
              <a:gdLst>
                <a:gd name="T0" fmla="*/ 13137 w 109"/>
                <a:gd name="T1" fmla="*/ 515 h 95"/>
                <a:gd name="T2" fmla="*/ 12503 w 109"/>
                <a:gd name="T3" fmla="*/ 417 h 95"/>
                <a:gd name="T4" fmla="*/ 10930 w 109"/>
                <a:gd name="T5" fmla="*/ 349 h 95"/>
                <a:gd name="T6" fmla="*/ 9048 w 109"/>
                <a:gd name="T7" fmla="*/ 294 h 95"/>
                <a:gd name="T8" fmla="*/ 6919 w 109"/>
                <a:gd name="T9" fmla="*/ 247 h 95"/>
                <a:gd name="T10" fmla="*/ 5010 w 109"/>
                <a:gd name="T11" fmla="*/ 192 h 95"/>
                <a:gd name="T12" fmla="*/ 3283 w 109"/>
                <a:gd name="T13" fmla="*/ 133 h 95"/>
                <a:gd name="T14" fmla="*/ 2007 w 109"/>
                <a:gd name="T15" fmla="*/ 69 h 95"/>
                <a:gd name="T16" fmla="*/ 1755 w 109"/>
                <a:gd name="T17" fmla="*/ 0 h 95"/>
                <a:gd name="T18" fmla="*/ 0 w 109"/>
                <a:gd name="T19" fmla="*/ 0 h 95"/>
                <a:gd name="T20" fmla="*/ 611 w 109"/>
                <a:gd name="T21" fmla="*/ 112 h 95"/>
                <a:gd name="T22" fmla="*/ 2206 w 109"/>
                <a:gd name="T23" fmla="*/ 192 h 95"/>
                <a:gd name="T24" fmla="*/ 3986 w 109"/>
                <a:gd name="T25" fmla="*/ 253 h 95"/>
                <a:gd name="T26" fmla="*/ 6215 w 109"/>
                <a:gd name="T27" fmla="*/ 316 h 95"/>
                <a:gd name="T28" fmla="*/ 8192 w 109"/>
                <a:gd name="T29" fmla="*/ 366 h 95"/>
                <a:gd name="T30" fmla="*/ 9948 w 109"/>
                <a:gd name="T31" fmla="*/ 407 h 95"/>
                <a:gd name="T32" fmla="*/ 11025 w 109"/>
                <a:gd name="T33" fmla="*/ 452 h 95"/>
                <a:gd name="T34" fmla="*/ 11416 w 109"/>
                <a:gd name="T35" fmla="*/ 515 h 95"/>
                <a:gd name="T36" fmla="*/ 13137 w 109"/>
                <a:gd name="T37" fmla="*/ 515 h 9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5"/>
                <a:gd name="T59" fmla="*/ 109 w 109"/>
                <a:gd name="T60" fmla="*/ 95 h 9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5">
                  <a:moveTo>
                    <a:pt x="108" y="94"/>
                  </a:moveTo>
                  <a:lnTo>
                    <a:pt x="103" y="77"/>
                  </a:lnTo>
                  <a:lnTo>
                    <a:pt x="90" y="65"/>
                  </a:lnTo>
                  <a:lnTo>
                    <a:pt x="74" y="54"/>
                  </a:lnTo>
                  <a:lnTo>
                    <a:pt x="57" y="45"/>
                  </a:lnTo>
                  <a:lnTo>
                    <a:pt x="41" y="35"/>
                  </a:lnTo>
                  <a:lnTo>
                    <a:pt x="27" y="25"/>
                  </a:lnTo>
                  <a:lnTo>
                    <a:pt x="17" y="13"/>
                  </a:lnTo>
                  <a:lnTo>
                    <a:pt x="14" y="0"/>
                  </a:lnTo>
                  <a:lnTo>
                    <a:pt x="0" y="0"/>
                  </a:lnTo>
                  <a:lnTo>
                    <a:pt x="5" y="20"/>
                  </a:lnTo>
                  <a:lnTo>
                    <a:pt x="18" y="35"/>
                  </a:lnTo>
                  <a:lnTo>
                    <a:pt x="33" y="47"/>
                  </a:lnTo>
                  <a:lnTo>
                    <a:pt x="51" y="57"/>
                  </a:lnTo>
                  <a:lnTo>
                    <a:pt x="68" y="66"/>
                  </a:lnTo>
                  <a:lnTo>
                    <a:pt x="82" y="75"/>
                  </a:lnTo>
                  <a:lnTo>
                    <a:pt x="91" y="83"/>
                  </a:lnTo>
                  <a:lnTo>
                    <a:pt x="94" y="94"/>
                  </a:lnTo>
                  <a:lnTo>
                    <a:pt x="108" y="9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7" name="Freeform 265">
              <a:extLst>
                <a:ext uri="{FF2B5EF4-FFF2-40B4-BE49-F238E27FC236}">
                  <a16:creationId xmlns:a16="http://schemas.microsoft.com/office/drawing/2014/main" id="{832B8D6C-0CA8-8BCC-0C80-FD8AD9FBD74F}"/>
                </a:ext>
              </a:extLst>
            </p:cNvPr>
            <p:cNvSpPr>
              <a:spLocks/>
            </p:cNvSpPr>
            <p:nvPr/>
          </p:nvSpPr>
          <p:spPr bwMode="auto">
            <a:xfrm>
              <a:off x="4069" y="3533"/>
              <a:ext cx="21" cy="5"/>
            </a:xfrm>
            <a:custGeom>
              <a:avLst/>
              <a:gdLst>
                <a:gd name="T0" fmla="*/ 4582 w 16"/>
                <a:gd name="T1" fmla="*/ 4 h 5"/>
                <a:gd name="T2" fmla="*/ 4582 w 16"/>
                <a:gd name="T3" fmla="*/ 0 h 5"/>
                <a:gd name="T4" fmla="*/ 0 w 16"/>
                <a:gd name="T5" fmla="*/ 0 h 5"/>
                <a:gd name="T6" fmla="*/ 0 w 16"/>
                <a:gd name="T7" fmla="*/ 4 h 5"/>
                <a:gd name="T8" fmla="*/ 4582 w 16"/>
                <a:gd name="T9" fmla="*/ 4 h 5"/>
                <a:gd name="T10" fmla="*/ 0 60000 65536"/>
                <a:gd name="T11" fmla="*/ 0 60000 65536"/>
                <a:gd name="T12" fmla="*/ 0 60000 65536"/>
                <a:gd name="T13" fmla="*/ 0 60000 65536"/>
                <a:gd name="T14" fmla="*/ 0 60000 65536"/>
                <a:gd name="T15" fmla="*/ 0 w 16"/>
                <a:gd name="T16" fmla="*/ 0 h 5"/>
                <a:gd name="T17" fmla="*/ 16 w 16"/>
                <a:gd name="T18" fmla="*/ 5 h 5"/>
              </a:gdLst>
              <a:ahLst/>
              <a:cxnLst>
                <a:cxn ang="T10">
                  <a:pos x="T0" y="T1"/>
                </a:cxn>
                <a:cxn ang="T11">
                  <a:pos x="T2" y="T3"/>
                </a:cxn>
                <a:cxn ang="T12">
                  <a:pos x="T4" y="T5"/>
                </a:cxn>
                <a:cxn ang="T13">
                  <a:pos x="T6" y="T7"/>
                </a:cxn>
                <a:cxn ang="T14">
                  <a:pos x="T8" y="T9"/>
                </a:cxn>
              </a:cxnLst>
              <a:rect l="T15" t="T16" r="T17" b="T18"/>
              <a:pathLst>
                <a:path w="16" h="5">
                  <a:moveTo>
                    <a:pt x="15" y="4"/>
                  </a:moveTo>
                  <a:lnTo>
                    <a:pt x="15" y="0"/>
                  </a:lnTo>
                  <a:lnTo>
                    <a:pt x="0" y="0"/>
                  </a:lnTo>
                  <a:lnTo>
                    <a:pt x="0" y="4"/>
                  </a:lnTo>
                  <a:lnTo>
                    <a:pt x="15"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8" name="Freeform 266">
              <a:extLst>
                <a:ext uri="{FF2B5EF4-FFF2-40B4-BE49-F238E27FC236}">
                  <a16:creationId xmlns:a16="http://schemas.microsoft.com/office/drawing/2014/main" id="{3264A1FA-1B05-58D8-24F7-A7744F70BBCB}"/>
                </a:ext>
              </a:extLst>
            </p:cNvPr>
            <p:cNvSpPr>
              <a:spLocks/>
            </p:cNvSpPr>
            <p:nvPr/>
          </p:nvSpPr>
          <p:spPr bwMode="auto">
            <a:xfrm>
              <a:off x="3953" y="3537"/>
              <a:ext cx="137" cy="116"/>
            </a:xfrm>
            <a:custGeom>
              <a:avLst/>
              <a:gdLst>
                <a:gd name="T0" fmla="*/ 1755 w 109"/>
                <a:gd name="T1" fmla="*/ 576 h 107"/>
                <a:gd name="T2" fmla="*/ 1833 w 109"/>
                <a:gd name="T3" fmla="*/ 525 h 107"/>
                <a:gd name="T4" fmla="*/ 2206 w 109"/>
                <a:gd name="T5" fmla="*/ 490 h 107"/>
                <a:gd name="T6" fmla="*/ 2523 w 109"/>
                <a:gd name="T7" fmla="*/ 452 h 107"/>
                <a:gd name="T8" fmla="*/ 3283 w 109"/>
                <a:gd name="T9" fmla="*/ 417 h 107"/>
                <a:gd name="T10" fmla="*/ 3818 w 109"/>
                <a:gd name="T11" fmla="*/ 396 h 107"/>
                <a:gd name="T12" fmla="*/ 5010 w 109"/>
                <a:gd name="T13" fmla="*/ 368 h 107"/>
                <a:gd name="T14" fmla="*/ 6013 w 109"/>
                <a:gd name="T15" fmla="*/ 337 h 107"/>
                <a:gd name="T16" fmla="*/ 6919 w 109"/>
                <a:gd name="T17" fmla="*/ 297 h 107"/>
                <a:gd name="T18" fmla="*/ 8044 w 109"/>
                <a:gd name="T19" fmla="*/ 270 h 107"/>
                <a:gd name="T20" fmla="*/ 9048 w 109"/>
                <a:gd name="T21" fmla="*/ 249 h 107"/>
                <a:gd name="T22" fmla="*/ 10110 w 109"/>
                <a:gd name="T23" fmla="*/ 212 h 107"/>
                <a:gd name="T24" fmla="*/ 11025 w 109"/>
                <a:gd name="T25" fmla="*/ 181 h 107"/>
                <a:gd name="T26" fmla="*/ 11758 w 109"/>
                <a:gd name="T27" fmla="*/ 144 h 107"/>
                <a:gd name="T28" fmla="*/ 12503 w 109"/>
                <a:gd name="T29" fmla="*/ 104 h 107"/>
                <a:gd name="T30" fmla="*/ 12867 w 109"/>
                <a:gd name="T31" fmla="*/ 50 h 107"/>
                <a:gd name="T32" fmla="*/ 13137 w 109"/>
                <a:gd name="T33" fmla="*/ 0 h 107"/>
                <a:gd name="T34" fmla="*/ 11416 w 109"/>
                <a:gd name="T35" fmla="*/ 0 h 107"/>
                <a:gd name="T36" fmla="*/ 11372 w 109"/>
                <a:gd name="T37" fmla="*/ 42 h 107"/>
                <a:gd name="T38" fmla="*/ 11025 w 109"/>
                <a:gd name="T39" fmla="*/ 69 h 107"/>
                <a:gd name="T40" fmla="*/ 10529 w 109"/>
                <a:gd name="T41" fmla="*/ 103 h 107"/>
                <a:gd name="T42" fmla="*/ 9948 w 109"/>
                <a:gd name="T43" fmla="*/ 123 h 107"/>
                <a:gd name="T44" fmla="*/ 9083 w 109"/>
                <a:gd name="T45" fmla="*/ 156 h 107"/>
                <a:gd name="T46" fmla="*/ 8192 w 109"/>
                <a:gd name="T47" fmla="*/ 183 h 107"/>
                <a:gd name="T48" fmla="*/ 7199 w 109"/>
                <a:gd name="T49" fmla="*/ 212 h 107"/>
                <a:gd name="T50" fmla="*/ 6215 w 109"/>
                <a:gd name="T51" fmla="*/ 244 h 107"/>
                <a:gd name="T52" fmla="*/ 5156 w 109"/>
                <a:gd name="T53" fmla="*/ 267 h 107"/>
                <a:gd name="T54" fmla="*/ 3986 w 109"/>
                <a:gd name="T55" fmla="*/ 297 h 107"/>
                <a:gd name="T56" fmla="*/ 3028 w 109"/>
                <a:gd name="T57" fmla="*/ 337 h 107"/>
                <a:gd name="T58" fmla="*/ 2206 w 109"/>
                <a:gd name="T59" fmla="*/ 373 h 107"/>
                <a:gd name="T60" fmla="*/ 1213 w 109"/>
                <a:gd name="T61" fmla="*/ 410 h 107"/>
                <a:gd name="T62" fmla="*/ 611 w 109"/>
                <a:gd name="T63" fmla="*/ 465 h 107"/>
                <a:gd name="T64" fmla="*/ 308 w 109"/>
                <a:gd name="T65" fmla="*/ 515 h 107"/>
                <a:gd name="T66" fmla="*/ 0 w 109"/>
                <a:gd name="T67" fmla="*/ 576 h 107"/>
                <a:gd name="T68" fmla="*/ 1755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7"/>
                  </a:lnTo>
                  <a:lnTo>
                    <a:pt x="18" y="90"/>
                  </a:lnTo>
                  <a:lnTo>
                    <a:pt x="21" y="83"/>
                  </a:lnTo>
                  <a:lnTo>
                    <a:pt x="27" y="77"/>
                  </a:lnTo>
                  <a:lnTo>
                    <a:pt x="32" y="72"/>
                  </a:lnTo>
                  <a:lnTo>
                    <a:pt x="41" y="67"/>
                  </a:lnTo>
                  <a:lnTo>
                    <a:pt x="49" y="61"/>
                  </a:lnTo>
                  <a:lnTo>
                    <a:pt x="57" y="55"/>
                  </a:lnTo>
                  <a:lnTo>
                    <a:pt x="66" y="50"/>
                  </a:lnTo>
                  <a:lnTo>
                    <a:pt x="74" y="46"/>
                  </a:lnTo>
                  <a:lnTo>
                    <a:pt x="83" y="39"/>
                  </a:lnTo>
                  <a:lnTo>
                    <a:pt x="91" y="33"/>
                  </a:lnTo>
                  <a:lnTo>
                    <a:pt x="97" y="27"/>
                  </a:lnTo>
                  <a:lnTo>
                    <a:pt x="103" y="19"/>
                  </a:lnTo>
                  <a:lnTo>
                    <a:pt x="106" y="9"/>
                  </a:lnTo>
                  <a:lnTo>
                    <a:pt x="108" y="0"/>
                  </a:lnTo>
                  <a:lnTo>
                    <a:pt x="94" y="0"/>
                  </a:lnTo>
                  <a:lnTo>
                    <a:pt x="93" y="7"/>
                  </a:lnTo>
                  <a:lnTo>
                    <a:pt x="91" y="13"/>
                  </a:lnTo>
                  <a:lnTo>
                    <a:pt x="87" y="18"/>
                  </a:lnTo>
                  <a:lnTo>
                    <a:pt x="82" y="23"/>
                  </a:lnTo>
                  <a:lnTo>
                    <a:pt x="75" y="29"/>
                  </a:lnTo>
                  <a:lnTo>
                    <a:pt x="68" y="34"/>
                  </a:lnTo>
                  <a:lnTo>
                    <a:pt x="59" y="39"/>
                  </a:lnTo>
                  <a:lnTo>
                    <a:pt x="51" y="44"/>
                  </a:lnTo>
                  <a:lnTo>
                    <a:pt x="42" y="49"/>
                  </a:lnTo>
                  <a:lnTo>
                    <a:pt x="33" y="55"/>
                  </a:lnTo>
                  <a:lnTo>
                    <a:pt x="25" y="61"/>
                  </a:lnTo>
                  <a:lnTo>
                    <a:pt x="18" y="68"/>
                  </a:lnTo>
                  <a:lnTo>
                    <a:pt x="10" y="76"/>
                  </a:lnTo>
                  <a:lnTo>
                    <a:pt x="5" y="85"/>
                  </a:lnTo>
                  <a:lnTo>
                    <a:pt x="2" y="94"/>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19" name="Freeform 267">
              <a:extLst>
                <a:ext uri="{FF2B5EF4-FFF2-40B4-BE49-F238E27FC236}">
                  <a16:creationId xmlns:a16="http://schemas.microsoft.com/office/drawing/2014/main" id="{A8EA1B9E-1229-23AE-79EA-65472953ECBE}"/>
                </a:ext>
              </a:extLst>
            </p:cNvPr>
            <p:cNvSpPr>
              <a:spLocks/>
            </p:cNvSpPr>
            <p:nvPr/>
          </p:nvSpPr>
          <p:spPr bwMode="auto">
            <a:xfrm>
              <a:off x="3953" y="3652"/>
              <a:ext cx="137" cy="115"/>
            </a:xfrm>
            <a:custGeom>
              <a:avLst/>
              <a:gdLst>
                <a:gd name="T0" fmla="*/ 13137 w 109"/>
                <a:gd name="T1" fmla="*/ 480 h 107"/>
                <a:gd name="T2" fmla="*/ 12867 w 109"/>
                <a:gd name="T3" fmla="*/ 437 h 107"/>
                <a:gd name="T4" fmla="*/ 12503 w 109"/>
                <a:gd name="T5" fmla="*/ 387 h 107"/>
                <a:gd name="T6" fmla="*/ 11758 w 109"/>
                <a:gd name="T7" fmla="*/ 354 h 107"/>
                <a:gd name="T8" fmla="*/ 11025 w 109"/>
                <a:gd name="T9" fmla="*/ 325 h 107"/>
                <a:gd name="T10" fmla="*/ 10110 w 109"/>
                <a:gd name="T11" fmla="*/ 290 h 107"/>
                <a:gd name="T12" fmla="*/ 9048 w 109"/>
                <a:gd name="T13" fmla="*/ 265 h 107"/>
                <a:gd name="T14" fmla="*/ 8044 w 109"/>
                <a:gd name="T15" fmla="*/ 244 h 107"/>
                <a:gd name="T16" fmla="*/ 6919 w 109"/>
                <a:gd name="T17" fmla="*/ 218 h 107"/>
                <a:gd name="T18" fmla="*/ 6013 w 109"/>
                <a:gd name="T19" fmla="*/ 196 h 107"/>
                <a:gd name="T20" fmla="*/ 4799 w 109"/>
                <a:gd name="T21" fmla="*/ 172 h 107"/>
                <a:gd name="T22" fmla="*/ 3818 w 109"/>
                <a:gd name="T23" fmla="*/ 149 h 107"/>
                <a:gd name="T24" fmla="*/ 3283 w 109"/>
                <a:gd name="T25" fmla="*/ 120 h 107"/>
                <a:gd name="T26" fmla="*/ 2523 w 109"/>
                <a:gd name="T27" fmla="*/ 102 h 107"/>
                <a:gd name="T28" fmla="*/ 2206 w 109"/>
                <a:gd name="T29" fmla="*/ 63 h 107"/>
                <a:gd name="T30" fmla="*/ 1833 w 109"/>
                <a:gd name="T31" fmla="*/ 38 h 107"/>
                <a:gd name="T32" fmla="*/ 1755 w 109"/>
                <a:gd name="T33" fmla="*/ 0 h 107"/>
                <a:gd name="T34" fmla="*/ 0 w 109"/>
                <a:gd name="T35" fmla="*/ 0 h 107"/>
                <a:gd name="T36" fmla="*/ 308 w 109"/>
                <a:gd name="T37" fmla="*/ 47 h 107"/>
                <a:gd name="T38" fmla="*/ 611 w 109"/>
                <a:gd name="T39" fmla="*/ 90 h 107"/>
                <a:gd name="T40" fmla="*/ 1213 w 109"/>
                <a:gd name="T41" fmla="*/ 129 h 107"/>
                <a:gd name="T42" fmla="*/ 2206 w 109"/>
                <a:gd name="T43" fmla="*/ 169 h 107"/>
                <a:gd name="T44" fmla="*/ 3028 w 109"/>
                <a:gd name="T45" fmla="*/ 199 h 107"/>
                <a:gd name="T46" fmla="*/ 4126 w 109"/>
                <a:gd name="T47" fmla="*/ 229 h 107"/>
                <a:gd name="T48" fmla="*/ 5156 w 109"/>
                <a:gd name="T49" fmla="*/ 247 h 107"/>
                <a:gd name="T50" fmla="*/ 6215 w 109"/>
                <a:gd name="T51" fmla="*/ 270 h 107"/>
                <a:gd name="T52" fmla="*/ 7199 w 109"/>
                <a:gd name="T53" fmla="*/ 302 h 107"/>
                <a:gd name="T54" fmla="*/ 8192 w 109"/>
                <a:gd name="T55" fmla="*/ 325 h 107"/>
                <a:gd name="T56" fmla="*/ 9083 w 109"/>
                <a:gd name="T57" fmla="*/ 349 h 107"/>
                <a:gd name="T58" fmla="*/ 9948 w 109"/>
                <a:gd name="T59" fmla="*/ 375 h 107"/>
                <a:gd name="T60" fmla="*/ 10529 w 109"/>
                <a:gd name="T61" fmla="*/ 387 h 107"/>
                <a:gd name="T62" fmla="*/ 11025 w 109"/>
                <a:gd name="T63" fmla="*/ 416 h 107"/>
                <a:gd name="T64" fmla="*/ 11372 w 109"/>
                <a:gd name="T65" fmla="*/ 443 h 107"/>
                <a:gd name="T66" fmla="*/ 11416 w 109"/>
                <a:gd name="T67" fmla="*/ 480 h 107"/>
                <a:gd name="T68" fmla="*/ 13137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6"/>
                  </a:lnTo>
                  <a:lnTo>
                    <a:pt x="103" y="86"/>
                  </a:lnTo>
                  <a:lnTo>
                    <a:pt x="97" y="78"/>
                  </a:lnTo>
                  <a:lnTo>
                    <a:pt x="91" y="70"/>
                  </a:lnTo>
                  <a:lnTo>
                    <a:pt x="83" y="64"/>
                  </a:lnTo>
                  <a:lnTo>
                    <a:pt x="74" y="59"/>
                  </a:lnTo>
                  <a:lnTo>
                    <a:pt x="66" y="53"/>
                  </a:lnTo>
                  <a:lnTo>
                    <a:pt x="57" y="48"/>
                  </a:lnTo>
                  <a:lnTo>
                    <a:pt x="49" y="43"/>
                  </a:lnTo>
                  <a:lnTo>
                    <a:pt x="40" y="38"/>
                  </a:lnTo>
                  <a:lnTo>
                    <a:pt x="32" y="33"/>
                  </a:lnTo>
                  <a:lnTo>
                    <a:pt x="27" y="27"/>
                  </a:lnTo>
                  <a:lnTo>
                    <a:pt x="21" y="22"/>
                  </a:lnTo>
                  <a:lnTo>
                    <a:pt x="18" y="15"/>
                  </a:lnTo>
                  <a:lnTo>
                    <a:pt x="15" y="8"/>
                  </a:lnTo>
                  <a:lnTo>
                    <a:pt x="14" y="0"/>
                  </a:lnTo>
                  <a:lnTo>
                    <a:pt x="0" y="0"/>
                  </a:lnTo>
                  <a:lnTo>
                    <a:pt x="2" y="11"/>
                  </a:lnTo>
                  <a:lnTo>
                    <a:pt x="5" y="20"/>
                  </a:lnTo>
                  <a:lnTo>
                    <a:pt x="10" y="29"/>
                  </a:lnTo>
                  <a:lnTo>
                    <a:pt x="18" y="37"/>
                  </a:lnTo>
                  <a:lnTo>
                    <a:pt x="25" y="44"/>
                  </a:lnTo>
                  <a:lnTo>
                    <a:pt x="34" y="50"/>
                  </a:lnTo>
                  <a:lnTo>
                    <a:pt x="42" y="55"/>
                  </a:lnTo>
                  <a:lnTo>
                    <a:pt x="51" y="60"/>
                  </a:lnTo>
                  <a:lnTo>
                    <a:pt x="59" y="65"/>
                  </a:lnTo>
                  <a:lnTo>
                    <a:pt x="68" y="70"/>
                  </a:lnTo>
                  <a:lnTo>
                    <a:pt x="75" y="75"/>
                  </a:lnTo>
                  <a:lnTo>
                    <a:pt x="82" y="81"/>
                  </a:lnTo>
                  <a:lnTo>
                    <a:pt x="87" y="86"/>
                  </a:lnTo>
                  <a:lnTo>
                    <a:pt x="91" y="92"/>
                  </a:lnTo>
                  <a:lnTo>
                    <a:pt x="93" y="98"/>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0" name="Freeform 268">
              <a:extLst>
                <a:ext uri="{FF2B5EF4-FFF2-40B4-BE49-F238E27FC236}">
                  <a16:creationId xmlns:a16="http://schemas.microsoft.com/office/drawing/2014/main" id="{23F7BE64-1E7B-1C55-958E-BF9C44007E17}"/>
                </a:ext>
              </a:extLst>
            </p:cNvPr>
            <p:cNvSpPr>
              <a:spLocks/>
            </p:cNvSpPr>
            <p:nvPr/>
          </p:nvSpPr>
          <p:spPr bwMode="auto">
            <a:xfrm>
              <a:off x="3983" y="2782"/>
              <a:ext cx="92" cy="114"/>
            </a:xfrm>
            <a:custGeom>
              <a:avLst/>
              <a:gdLst>
                <a:gd name="T0" fmla="*/ 4737 w 73"/>
                <a:gd name="T1" fmla="*/ 472 h 105"/>
                <a:gd name="T2" fmla="*/ 1 w 73"/>
                <a:gd name="T3" fmla="*/ 573 h 105"/>
                <a:gd name="T4" fmla="*/ 0 w 73"/>
                <a:gd name="T5" fmla="*/ 566 h 105"/>
                <a:gd name="T6" fmla="*/ 3081 w 73"/>
                <a:gd name="T7" fmla="*/ 292 h 105"/>
                <a:gd name="T8" fmla="*/ 3419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13 w 73"/>
                <a:gd name="T33" fmla="*/ 185 h 105"/>
                <a:gd name="T34" fmla="*/ 6168 w 73"/>
                <a:gd name="T35" fmla="*/ 225 h 105"/>
                <a:gd name="T36" fmla="*/ 6436 w 73"/>
                <a:gd name="T37" fmla="*/ 257 h 105"/>
                <a:gd name="T38" fmla="*/ 6592 w 73"/>
                <a:gd name="T39" fmla="*/ 297 h 105"/>
                <a:gd name="T40" fmla="*/ 9390 w 73"/>
                <a:gd name="T41" fmla="*/ 579 h 105"/>
                <a:gd name="T42" fmla="*/ 9050 w 73"/>
                <a:gd name="T43" fmla="*/ 585 h 105"/>
                <a:gd name="T44" fmla="*/ 4737 w 73"/>
                <a:gd name="T45" fmla="*/ 472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7" y="84"/>
                  </a:moveTo>
                  <a:lnTo>
                    <a:pt x="1" y="102"/>
                  </a:lnTo>
                  <a:lnTo>
                    <a:pt x="0" y="101"/>
                  </a:lnTo>
                  <a:lnTo>
                    <a:pt x="24" y="52"/>
                  </a:lnTo>
                  <a:lnTo>
                    <a:pt x="26"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6" y="33"/>
                  </a:lnTo>
                  <a:lnTo>
                    <a:pt x="48" y="40"/>
                  </a:lnTo>
                  <a:lnTo>
                    <a:pt x="50" y="46"/>
                  </a:lnTo>
                  <a:lnTo>
                    <a:pt x="51" y="53"/>
                  </a:lnTo>
                  <a:lnTo>
                    <a:pt x="72" y="103"/>
                  </a:lnTo>
                  <a:lnTo>
                    <a:pt x="71" y="104"/>
                  </a:lnTo>
                  <a:lnTo>
                    <a:pt x="37" y="8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1" name="Freeform 269">
              <a:extLst>
                <a:ext uri="{FF2B5EF4-FFF2-40B4-BE49-F238E27FC236}">
                  <a16:creationId xmlns:a16="http://schemas.microsoft.com/office/drawing/2014/main" id="{939DA701-A416-BD35-7225-266C9D6E467B}"/>
                </a:ext>
              </a:extLst>
            </p:cNvPr>
            <p:cNvSpPr>
              <a:spLocks/>
            </p:cNvSpPr>
            <p:nvPr/>
          </p:nvSpPr>
          <p:spPr bwMode="auto">
            <a:xfrm>
              <a:off x="3735" y="3034"/>
              <a:ext cx="90" cy="159"/>
            </a:xfrm>
            <a:custGeom>
              <a:avLst/>
              <a:gdLst>
                <a:gd name="T0" fmla="*/ 1389 w 72"/>
                <a:gd name="T1" fmla="*/ 759 h 147"/>
                <a:gd name="T2" fmla="*/ 1451 w 72"/>
                <a:gd name="T3" fmla="*/ 715 h 147"/>
                <a:gd name="T4" fmla="*/ 1736 w 72"/>
                <a:gd name="T5" fmla="*/ 691 h 147"/>
                <a:gd name="T6" fmla="*/ 2018 w 72"/>
                <a:gd name="T7" fmla="*/ 661 h 147"/>
                <a:gd name="T8" fmla="*/ 2424 w 72"/>
                <a:gd name="T9" fmla="*/ 647 h 147"/>
                <a:gd name="T10" fmla="*/ 2805 w 72"/>
                <a:gd name="T11" fmla="*/ 624 h 147"/>
                <a:gd name="T12" fmla="*/ 3430 w 72"/>
                <a:gd name="T13" fmla="*/ 604 h 147"/>
                <a:gd name="T14" fmla="*/ 4093 w 72"/>
                <a:gd name="T15" fmla="*/ 591 h 147"/>
                <a:gd name="T16" fmla="*/ 4794 w 72"/>
                <a:gd name="T17" fmla="*/ 558 h 147"/>
                <a:gd name="T18" fmla="*/ 5549 w 72"/>
                <a:gd name="T19" fmla="*/ 529 h 147"/>
                <a:gd name="T20" fmla="*/ 6104 w 72"/>
                <a:gd name="T21" fmla="*/ 493 h 147"/>
                <a:gd name="T22" fmla="*/ 6700 w 72"/>
                <a:gd name="T23" fmla="*/ 441 h 147"/>
                <a:gd name="T24" fmla="*/ 6979 w 72"/>
                <a:gd name="T25" fmla="*/ 386 h 147"/>
                <a:gd name="T26" fmla="*/ 7491 w 72"/>
                <a:gd name="T27" fmla="*/ 314 h 147"/>
                <a:gd name="T28" fmla="*/ 7755 w 72"/>
                <a:gd name="T29" fmla="*/ 226 h 147"/>
                <a:gd name="T30" fmla="*/ 7755 w 72"/>
                <a:gd name="T31" fmla="*/ 123 h 147"/>
                <a:gd name="T32" fmla="*/ 7491 w 72"/>
                <a:gd name="T33" fmla="*/ 0 h 147"/>
                <a:gd name="T34" fmla="*/ 6104 w 72"/>
                <a:gd name="T35" fmla="*/ 1 h 147"/>
                <a:gd name="T36" fmla="*/ 6204 w 72"/>
                <a:gd name="T37" fmla="*/ 123 h 147"/>
                <a:gd name="T38" fmla="*/ 6250 w 72"/>
                <a:gd name="T39" fmla="*/ 215 h 147"/>
                <a:gd name="T40" fmla="*/ 6104 w 72"/>
                <a:gd name="T41" fmla="*/ 295 h 147"/>
                <a:gd name="T42" fmla="*/ 5650 w 72"/>
                <a:gd name="T43" fmla="*/ 368 h 147"/>
                <a:gd name="T44" fmla="*/ 5299 w 72"/>
                <a:gd name="T45" fmla="*/ 418 h 147"/>
                <a:gd name="T46" fmla="*/ 4929 w 72"/>
                <a:gd name="T47" fmla="*/ 452 h 147"/>
                <a:gd name="T48" fmla="*/ 4288 w 72"/>
                <a:gd name="T49" fmla="*/ 483 h 147"/>
                <a:gd name="T50" fmla="*/ 3845 w 72"/>
                <a:gd name="T51" fmla="*/ 511 h 147"/>
                <a:gd name="T52" fmla="*/ 3176 w 72"/>
                <a:gd name="T53" fmla="*/ 529 h 147"/>
                <a:gd name="T54" fmla="*/ 2541 w 72"/>
                <a:gd name="T55" fmla="*/ 547 h 147"/>
                <a:gd name="T56" fmla="*/ 2091 w 72"/>
                <a:gd name="T57" fmla="*/ 572 h 147"/>
                <a:gd name="T58" fmla="*/ 1389 w 72"/>
                <a:gd name="T59" fmla="*/ 592 h 147"/>
                <a:gd name="T60" fmla="*/ 881 w 72"/>
                <a:gd name="T61" fmla="*/ 624 h 147"/>
                <a:gd name="T62" fmla="*/ 338 w 72"/>
                <a:gd name="T63" fmla="*/ 653 h 147"/>
                <a:gd name="T64" fmla="*/ 1 w 72"/>
                <a:gd name="T65" fmla="*/ 702 h 147"/>
                <a:gd name="T66" fmla="*/ 0 w 72"/>
                <a:gd name="T67" fmla="*/ 759 h 147"/>
                <a:gd name="T68" fmla="*/ 1389 w 72"/>
                <a:gd name="T69" fmla="*/ 759 h 1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147"/>
                <a:gd name="T107" fmla="*/ 72 w 72"/>
                <a:gd name="T108" fmla="*/ 147 h 1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147">
                  <a:moveTo>
                    <a:pt x="13" y="146"/>
                  </a:moveTo>
                  <a:lnTo>
                    <a:pt x="14" y="138"/>
                  </a:lnTo>
                  <a:lnTo>
                    <a:pt x="16" y="132"/>
                  </a:lnTo>
                  <a:lnTo>
                    <a:pt x="18" y="128"/>
                  </a:lnTo>
                  <a:lnTo>
                    <a:pt x="22" y="124"/>
                  </a:lnTo>
                  <a:lnTo>
                    <a:pt x="26" y="120"/>
                  </a:lnTo>
                  <a:lnTo>
                    <a:pt x="32" y="117"/>
                  </a:lnTo>
                  <a:lnTo>
                    <a:pt x="38" y="113"/>
                  </a:lnTo>
                  <a:lnTo>
                    <a:pt x="44" y="108"/>
                  </a:lnTo>
                  <a:lnTo>
                    <a:pt x="51" y="102"/>
                  </a:lnTo>
                  <a:lnTo>
                    <a:pt x="56" y="95"/>
                  </a:lnTo>
                  <a:lnTo>
                    <a:pt x="62" y="85"/>
                  </a:lnTo>
                  <a:lnTo>
                    <a:pt x="65" y="74"/>
                  </a:lnTo>
                  <a:lnTo>
                    <a:pt x="69" y="60"/>
                  </a:lnTo>
                  <a:lnTo>
                    <a:pt x="71" y="43"/>
                  </a:lnTo>
                  <a:lnTo>
                    <a:pt x="71" y="24"/>
                  </a:lnTo>
                  <a:lnTo>
                    <a:pt x="69" y="0"/>
                  </a:lnTo>
                  <a:lnTo>
                    <a:pt x="56" y="1"/>
                  </a:lnTo>
                  <a:lnTo>
                    <a:pt x="57" y="24"/>
                  </a:lnTo>
                  <a:lnTo>
                    <a:pt x="58" y="42"/>
                  </a:lnTo>
                  <a:lnTo>
                    <a:pt x="56" y="57"/>
                  </a:lnTo>
                  <a:lnTo>
                    <a:pt x="52" y="70"/>
                  </a:lnTo>
                  <a:lnTo>
                    <a:pt x="49" y="80"/>
                  </a:lnTo>
                  <a:lnTo>
                    <a:pt x="45" y="87"/>
                  </a:lnTo>
                  <a:lnTo>
                    <a:pt x="40" y="93"/>
                  </a:lnTo>
                  <a:lnTo>
                    <a:pt x="35" y="98"/>
                  </a:lnTo>
                  <a:lnTo>
                    <a:pt x="30" y="102"/>
                  </a:lnTo>
                  <a:lnTo>
                    <a:pt x="24" y="105"/>
                  </a:lnTo>
                  <a:lnTo>
                    <a:pt x="19" y="110"/>
                  </a:lnTo>
                  <a:lnTo>
                    <a:pt x="13" y="114"/>
                  </a:lnTo>
                  <a:lnTo>
                    <a:pt x="8" y="120"/>
                  </a:lnTo>
                  <a:lnTo>
                    <a:pt x="3" y="127"/>
                  </a:lnTo>
                  <a:lnTo>
                    <a:pt x="1" y="135"/>
                  </a:lnTo>
                  <a:lnTo>
                    <a:pt x="0" y="146"/>
                  </a:lnTo>
                  <a:lnTo>
                    <a:pt x="13" y="14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2" name="Freeform 270">
              <a:extLst>
                <a:ext uri="{FF2B5EF4-FFF2-40B4-BE49-F238E27FC236}">
                  <a16:creationId xmlns:a16="http://schemas.microsoft.com/office/drawing/2014/main" id="{FDB79319-F146-0119-5270-1BA27D494CB0}"/>
                </a:ext>
              </a:extLst>
            </p:cNvPr>
            <p:cNvSpPr>
              <a:spLocks/>
            </p:cNvSpPr>
            <p:nvPr/>
          </p:nvSpPr>
          <p:spPr bwMode="auto">
            <a:xfrm>
              <a:off x="3735" y="3192"/>
              <a:ext cx="135" cy="120"/>
            </a:xfrm>
            <a:custGeom>
              <a:avLst/>
              <a:gdLst>
                <a:gd name="T0" fmla="*/ 10091 w 108"/>
                <a:gd name="T1" fmla="*/ 562 h 111"/>
                <a:gd name="T2" fmla="*/ 11705 w 108"/>
                <a:gd name="T3" fmla="*/ 562 h 111"/>
                <a:gd name="T4" fmla="*/ 11366 w 108"/>
                <a:gd name="T5" fmla="*/ 512 h 111"/>
                <a:gd name="T6" fmla="*/ 11124 w 108"/>
                <a:gd name="T7" fmla="*/ 456 h 111"/>
                <a:gd name="T8" fmla="*/ 10469 w 108"/>
                <a:gd name="T9" fmla="*/ 417 h 111"/>
                <a:gd name="T10" fmla="*/ 9798 w 108"/>
                <a:gd name="T11" fmla="*/ 377 h 111"/>
                <a:gd name="T12" fmla="*/ 8944 w 108"/>
                <a:gd name="T13" fmla="*/ 343 h 111"/>
                <a:gd name="T14" fmla="*/ 8073 w 108"/>
                <a:gd name="T15" fmla="*/ 316 h 111"/>
                <a:gd name="T16" fmla="*/ 6979 w 108"/>
                <a:gd name="T17" fmla="*/ 292 h 111"/>
                <a:gd name="T18" fmla="*/ 6104 w 108"/>
                <a:gd name="T19" fmla="*/ 256 h 111"/>
                <a:gd name="T20" fmla="*/ 5250 w 108"/>
                <a:gd name="T21" fmla="*/ 232 h 111"/>
                <a:gd name="T22" fmla="*/ 4239 w 108"/>
                <a:gd name="T23" fmla="*/ 203 h 111"/>
                <a:gd name="T24" fmla="*/ 3544 w 108"/>
                <a:gd name="T25" fmla="*/ 174 h 111"/>
                <a:gd name="T26" fmla="*/ 2841 w 108"/>
                <a:gd name="T27" fmla="*/ 144 h 111"/>
                <a:gd name="T28" fmla="*/ 2273 w 108"/>
                <a:gd name="T29" fmla="*/ 114 h 111"/>
                <a:gd name="T30" fmla="*/ 1736 w 108"/>
                <a:gd name="T31" fmla="*/ 74 h 111"/>
                <a:gd name="T32" fmla="*/ 1454 w 108"/>
                <a:gd name="T33" fmla="*/ 43 h 111"/>
                <a:gd name="T34" fmla="*/ 1389 w 108"/>
                <a:gd name="T35" fmla="*/ 0 h 111"/>
                <a:gd name="T36" fmla="*/ 0 w 108"/>
                <a:gd name="T37" fmla="*/ 0 h 111"/>
                <a:gd name="T38" fmla="*/ 1 w 108"/>
                <a:gd name="T39" fmla="*/ 54 h 111"/>
                <a:gd name="T40" fmla="*/ 455 w 108"/>
                <a:gd name="T41" fmla="*/ 109 h 111"/>
                <a:gd name="T42" fmla="*/ 930 w 108"/>
                <a:gd name="T43" fmla="*/ 156 h 111"/>
                <a:gd name="T44" fmla="*/ 1673 w 108"/>
                <a:gd name="T45" fmla="*/ 188 h 111"/>
                <a:gd name="T46" fmla="*/ 2523 w 108"/>
                <a:gd name="T47" fmla="*/ 232 h 111"/>
                <a:gd name="T48" fmla="*/ 3544 w 108"/>
                <a:gd name="T49" fmla="*/ 256 h 111"/>
                <a:gd name="T50" fmla="*/ 4430 w 108"/>
                <a:gd name="T51" fmla="*/ 293 h 111"/>
                <a:gd name="T52" fmla="*/ 5538 w 108"/>
                <a:gd name="T53" fmla="*/ 317 h 111"/>
                <a:gd name="T54" fmla="*/ 6204 w 108"/>
                <a:gd name="T55" fmla="*/ 343 h 111"/>
                <a:gd name="T56" fmla="*/ 7266 w 108"/>
                <a:gd name="T57" fmla="*/ 374 h 111"/>
                <a:gd name="T58" fmla="*/ 8073 w 108"/>
                <a:gd name="T59" fmla="*/ 401 h 111"/>
                <a:gd name="T60" fmla="*/ 8724 w 108"/>
                <a:gd name="T61" fmla="*/ 434 h 111"/>
                <a:gd name="T62" fmla="*/ 9388 w 108"/>
                <a:gd name="T63" fmla="*/ 467 h 111"/>
                <a:gd name="T64" fmla="*/ 9798 w 108"/>
                <a:gd name="T65" fmla="*/ 493 h 111"/>
                <a:gd name="T66" fmla="*/ 9993 w 108"/>
                <a:gd name="T67" fmla="*/ 520 h 111"/>
                <a:gd name="T68" fmla="*/ 10091 w 108"/>
                <a:gd name="T69" fmla="*/ 562 h 111"/>
                <a:gd name="T70" fmla="*/ 11705 w 108"/>
                <a:gd name="T71" fmla="*/ 562 h 111"/>
                <a:gd name="T72" fmla="*/ 10091 w 108"/>
                <a:gd name="T73" fmla="*/ 562 h 1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111"/>
                <a:gd name="T113" fmla="*/ 108 w 108"/>
                <a:gd name="T114" fmla="*/ 111 h 1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111">
                  <a:moveTo>
                    <a:pt x="93" y="110"/>
                  </a:moveTo>
                  <a:lnTo>
                    <a:pt x="107" y="110"/>
                  </a:lnTo>
                  <a:lnTo>
                    <a:pt x="105" y="100"/>
                  </a:lnTo>
                  <a:lnTo>
                    <a:pt x="102" y="89"/>
                  </a:lnTo>
                  <a:lnTo>
                    <a:pt x="96" y="81"/>
                  </a:lnTo>
                  <a:lnTo>
                    <a:pt x="90" y="74"/>
                  </a:lnTo>
                  <a:lnTo>
                    <a:pt x="82" y="67"/>
                  </a:lnTo>
                  <a:lnTo>
                    <a:pt x="74" y="61"/>
                  </a:lnTo>
                  <a:lnTo>
                    <a:pt x="65" y="56"/>
                  </a:lnTo>
                  <a:lnTo>
                    <a:pt x="56" y="50"/>
                  </a:lnTo>
                  <a:lnTo>
                    <a:pt x="48" y="45"/>
                  </a:lnTo>
                  <a:lnTo>
                    <a:pt x="39" y="40"/>
                  </a:lnTo>
                  <a:lnTo>
                    <a:pt x="32" y="34"/>
                  </a:lnTo>
                  <a:lnTo>
                    <a:pt x="26" y="28"/>
                  </a:lnTo>
                  <a:lnTo>
                    <a:pt x="21" y="22"/>
                  </a:lnTo>
                  <a:lnTo>
                    <a:pt x="16" y="15"/>
                  </a:lnTo>
                  <a:lnTo>
                    <a:pt x="14" y="8"/>
                  </a:lnTo>
                  <a:lnTo>
                    <a:pt x="13" y="0"/>
                  </a:lnTo>
                  <a:lnTo>
                    <a:pt x="0" y="0"/>
                  </a:lnTo>
                  <a:lnTo>
                    <a:pt x="1" y="11"/>
                  </a:lnTo>
                  <a:lnTo>
                    <a:pt x="4" y="21"/>
                  </a:lnTo>
                  <a:lnTo>
                    <a:pt x="9" y="30"/>
                  </a:lnTo>
                  <a:lnTo>
                    <a:pt x="15" y="37"/>
                  </a:lnTo>
                  <a:lnTo>
                    <a:pt x="23" y="45"/>
                  </a:lnTo>
                  <a:lnTo>
                    <a:pt x="32" y="50"/>
                  </a:lnTo>
                  <a:lnTo>
                    <a:pt x="40" y="57"/>
                  </a:lnTo>
                  <a:lnTo>
                    <a:pt x="50" y="62"/>
                  </a:lnTo>
                  <a:lnTo>
                    <a:pt x="57" y="67"/>
                  </a:lnTo>
                  <a:lnTo>
                    <a:pt x="66" y="73"/>
                  </a:lnTo>
                  <a:lnTo>
                    <a:pt x="74" y="78"/>
                  </a:lnTo>
                  <a:lnTo>
                    <a:pt x="81" y="84"/>
                  </a:lnTo>
                  <a:lnTo>
                    <a:pt x="86" y="90"/>
                  </a:lnTo>
                  <a:lnTo>
                    <a:pt x="90" y="96"/>
                  </a:lnTo>
                  <a:lnTo>
                    <a:pt x="92" y="102"/>
                  </a:lnTo>
                  <a:lnTo>
                    <a:pt x="93" y="110"/>
                  </a:lnTo>
                  <a:lnTo>
                    <a:pt x="107" y="110"/>
                  </a:lnTo>
                  <a:lnTo>
                    <a:pt x="93" y="11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3" name="Freeform 271">
              <a:extLst>
                <a:ext uri="{FF2B5EF4-FFF2-40B4-BE49-F238E27FC236}">
                  <a16:creationId xmlns:a16="http://schemas.microsoft.com/office/drawing/2014/main" id="{68C0C31C-039D-1F18-CD0B-DF887D02AD50}"/>
                </a:ext>
              </a:extLst>
            </p:cNvPr>
            <p:cNvSpPr>
              <a:spLocks/>
            </p:cNvSpPr>
            <p:nvPr/>
          </p:nvSpPr>
          <p:spPr bwMode="auto">
            <a:xfrm>
              <a:off x="3852" y="3311"/>
              <a:ext cx="18" cy="2"/>
            </a:xfrm>
            <a:custGeom>
              <a:avLst/>
              <a:gdLst>
                <a:gd name="T0" fmla="*/ 642 w 15"/>
                <a:gd name="T1" fmla="*/ 0 h 2"/>
                <a:gd name="T2" fmla="*/ 0 w 15"/>
                <a:gd name="T3" fmla="*/ 0 h 2"/>
                <a:gd name="T4" fmla="*/ 0 w 15"/>
                <a:gd name="T5" fmla="*/ 1 h 2"/>
                <a:gd name="T6" fmla="*/ 642 w 15"/>
                <a:gd name="T7" fmla="*/ 1 h 2"/>
                <a:gd name="T8" fmla="*/ 642 w 15"/>
                <a:gd name="T9" fmla="*/ 0 h 2"/>
                <a:gd name="T10" fmla="*/ 0 w 15"/>
                <a:gd name="T11" fmla="*/ 0 h 2"/>
                <a:gd name="T12" fmla="*/ 642 w 15"/>
                <a:gd name="T13" fmla="*/ 0 h 2"/>
                <a:gd name="T14" fmla="*/ 0 60000 65536"/>
                <a:gd name="T15" fmla="*/ 0 60000 65536"/>
                <a:gd name="T16" fmla="*/ 0 60000 65536"/>
                <a:gd name="T17" fmla="*/ 0 60000 65536"/>
                <a:gd name="T18" fmla="*/ 0 60000 65536"/>
                <a:gd name="T19" fmla="*/ 0 60000 65536"/>
                <a:gd name="T20" fmla="*/ 0 60000 65536"/>
                <a:gd name="T21" fmla="*/ 0 w 15"/>
                <a:gd name="T22" fmla="*/ 0 h 2"/>
                <a:gd name="T23" fmla="*/ 15 w 15"/>
                <a:gd name="T24" fmla="*/ 2 h 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
                  <a:moveTo>
                    <a:pt x="14" y="0"/>
                  </a:moveTo>
                  <a:lnTo>
                    <a:pt x="0" y="0"/>
                  </a:lnTo>
                  <a:lnTo>
                    <a:pt x="0" y="1"/>
                  </a:lnTo>
                  <a:lnTo>
                    <a:pt x="14" y="1"/>
                  </a:lnTo>
                  <a:lnTo>
                    <a:pt x="14" y="0"/>
                  </a:lnTo>
                  <a:lnTo>
                    <a:pt x="0" y="0"/>
                  </a:lnTo>
                  <a:lnTo>
                    <a:pt x="14"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4" name="Freeform 272">
              <a:extLst>
                <a:ext uri="{FF2B5EF4-FFF2-40B4-BE49-F238E27FC236}">
                  <a16:creationId xmlns:a16="http://schemas.microsoft.com/office/drawing/2014/main" id="{F4B7D543-37D7-260F-2DEF-B72BF2C39676}"/>
                </a:ext>
              </a:extLst>
            </p:cNvPr>
            <p:cNvSpPr>
              <a:spLocks/>
            </p:cNvSpPr>
            <p:nvPr/>
          </p:nvSpPr>
          <p:spPr bwMode="auto">
            <a:xfrm>
              <a:off x="3734" y="3311"/>
              <a:ext cx="136" cy="116"/>
            </a:xfrm>
            <a:custGeom>
              <a:avLst/>
              <a:gdLst>
                <a:gd name="T0" fmla="*/ 1370 w 109"/>
                <a:gd name="T1" fmla="*/ 576 h 107"/>
                <a:gd name="T2" fmla="*/ 1573 w 109"/>
                <a:gd name="T3" fmla="*/ 531 h 107"/>
                <a:gd name="T4" fmla="*/ 1709 w 109"/>
                <a:gd name="T5" fmla="*/ 504 h 107"/>
                <a:gd name="T6" fmla="*/ 2132 w 109"/>
                <a:gd name="T7" fmla="*/ 475 h 107"/>
                <a:gd name="T8" fmla="*/ 2660 w 109"/>
                <a:gd name="T9" fmla="*/ 439 h 107"/>
                <a:gd name="T10" fmla="*/ 3457 w 109"/>
                <a:gd name="T11" fmla="*/ 405 h 107"/>
                <a:gd name="T12" fmla="*/ 4313 w 109"/>
                <a:gd name="T13" fmla="*/ 378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8 h 107"/>
                <a:gd name="T40" fmla="*/ 9154 w 109"/>
                <a:gd name="T41" fmla="*/ 121 h 107"/>
                <a:gd name="T42" fmla="*/ 8486 w 109"/>
                <a:gd name="T43" fmla="*/ 144 h 107"/>
                <a:gd name="T44" fmla="*/ 7817 w 109"/>
                <a:gd name="T45" fmla="*/ 183 h 107"/>
                <a:gd name="T46" fmla="*/ 7008 w 109"/>
                <a:gd name="T47" fmla="*/ 208 h 107"/>
                <a:gd name="T48" fmla="*/ 6155 w 109"/>
                <a:gd name="T49" fmla="*/ 244 h 107"/>
                <a:gd name="T50" fmla="*/ 5381 w 109"/>
                <a:gd name="T51" fmla="*/ 267 h 107"/>
                <a:gd name="T52" fmla="*/ 4357 w 109"/>
                <a:gd name="T53" fmla="*/ 289 h 107"/>
                <a:gd name="T54" fmla="*/ 3457 w 109"/>
                <a:gd name="T55" fmla="*/ 318 h 107"/>
                <a:gd name="T56" fmla="*/ 2633 w 109"/>
                <a:gd name="T57" fmla="*/ 345 h 107"/>
                <a:gd name="T58" fmla="*/ 1709 w 109"/>
                <a:gd name="T59" fmla="*/ 378 h 107"/>
                <a:gd name="T60" fmla="*/ 1011 w 109"/>
                <a:gd name="T61" fmla="*/ 417 h 107"/>
                <a:gd name="T62" fmla="*/ 453 w 109"/>
                <a:gd name="T63" fmla="*/ 469 h 107"/>
                <a:gd name="T64" fmla="*/ 2 w 109"/>
                <a:gd name="T65" fmla="*/ 521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7"/>
                  </a:lnTo>
                  <a:lnTo>
                    <a:pt x="26" y="81"/>
                  </a:lnTo>
                  <a:lnTo>
                    <a:pt x="33" y="75"/>
                  </a:lnTo>
                  <a:lnTo>
                    <a:pt x="41" y="70"/>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6"/>
                  </a:lnTo>
                  <a:lnTo>
                    <a:pt x="87" y="22"/>
                  </a:lnTo>
                  <a:lnTo>
                    <a:pt x="82" y="27"/>
                  </a:lnTo>
                  <a:lnTo>
                    <a:pt x="75" y="34"/>
                  </a:lnTo>
                  <a:lnTo>
                    <a:pt x="67" y="38"/>
                  </a:lnTo>
                  <a:lnTo>
                    <a:pt x="59" y="44"/>
                  </a:lnTo>
                  <a:lnTo>
                    <a:pt x="51" y="49"/>
                  </a:lnTo>
                  <a:lnTo>
                    <a:pt x="42" y="53"/>
                  </a:lnTo>
                  <a:lnTo>
                    <a:pt x="33" y="59"/>
                  </a:lnTo>
                  <a:lnTo>
                    <a:pt x="25" y="64"/>
                  </a:lnTo>
                  <a:lnTo>
                    <a:pt x="17" y="70"/>
                  </a:lnTo>
                  <a:lnTo>
                    <a:pt x="10" y="77"/>
                  </a:lnTo>
                  <a:lnTo>
                    <a:pt x="5" y="86"/>
                  </a:lnTo>
                  <a:lnTo>
                    <a:pt x="2" y="96"/>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5" name="Freeform 273">
              <a:extLst>
                <a:ext uri="{FF2B5EF4-FFF2-40B4-BE49-F238E27FC236}">
                  <a16:creationId xmlns:a16="http://schemas.microsoft.com/office/drawing/2014/main" id="{4FA1CD43-B7E1-E1E0-2850-51AA8874560A}"/>
                </a:ext>
              </a:extLst>
            </p:cNvPr>
            <p:cNvSpPr>
              <a:spLocks/>
            </p:cNvSpPr>
            <p:nvPr/>
          </p:nvSpPr>
          <p:spPr bwMode="auto">
            <a:xfrm>
              <a:off x="3734" y="3426"/>
              <a:ext cx="136" cy="115"/>
            </a:xfrm>
            <a:custGeom>
              <a:avLst/>
              <a:gdLst>
                <a:gd name="T0" fmla="*/ 11269 w 109"/>
                <a:gd name="T1" fmla="*/ 480 h 107"/>
                <a:gd name="T2" fmla="*/ 11093 w 109"/>
                <a:gd name="T3" fmla="*/ 434 h 107"/>
                <a:gd name="T4" fmla="*/ 10835 w 109"/>
                <a:gd name="T5" fmla="*/ 383 h 107"/>
                <a:gd name="T6" fmla="*/ 10188 w 109"/>
                <a:gd name="T7" fmla="*/ 350 h 107"/>
                <a:gd name="T8" fmla="*/ 9501 w 109"/>
                <a:gd name="T9" fmla="*/ 306 h 107"/>
                <a:gd name="T10" fmla="*/ 8684 w 109"/>
                <a:gd name="T11" fmla="*/ 284 h 107"/>
                <a:gd name="T12" fmla="*/ 7817 w 109"/>
                <a:gd name="T13" fmla="*/ 251 h 107"/>
                <a:gd name="T14" fmla="*/ 6801 w 109"/>
                <a:gd name="T15" fmla="*/ 230 h 107"/>
                <a:gd name="T16" fmla="*/ 6028 w 109"/>
                <a:gd name="T17" fmla="*/ 203 h 107"/>
                <a:gd name="T18" fmla="*/ 5021 w 109"/>
                <a:gd name="T19" fmla="*/ 182 h 107"/>
                <a:gd name="T20" fmla="*/ 4313 w 109"/>
                <a:gd name="T21" fmla="*/ 160 h 107"/>
                <a:gd name="T22" fmla="*/ 3457 w 109"/>
                <a:gd name="T23" fmla="*/ 139 h 107"/>
                <a:gd name="T24" fmla="*/ 2660 w 109"/>
                <a:gd name="T25" fmla="*/ 112 h 107"/>
                <a:gd name="T26" fmla="*/ 2132 w 109"/>
                <a:gd name="T27" fmla="*/ 84 h 107"/>
                <a:gd name="T28" fmla="*/ 1709 w 109"/>
                <a:gd name="T29" fmla="*/ 59 h 107"/>
                <a:gd name="T30" fmla="*/ 1573 w 109"/>
                <a:gd name="T31" fmla="*/ 38 h 107"/>
                <a:gd name="T32" fmla="*/ 1370 w 109"/>
                <a:gd name="T33" fmla="*/ 0 h 107"/>
                <a:gd name="T34" fmla="*/ 0 w 109"/>
                <a:gd name="T35" fmla="*/ 0 h 107"/>
                <a:gd name="T36" fmla="*/ 2 w 109"/>
                <a:gd name="T37" fmla="*/ 44 h 107"/>
                <a:gd name="T38" fmla="*/ 453 w 109"/>
                <a:gd name="T39" fmla="*/ 90 h 107"/>
                <a:gd name="T40" fmla="*/ 1011 w 109"/>
                <a:gd name="T41" fmla="*/ 129 h 107"/>
                <a:gd name="T42" fmla="*/ 1709 w 109"/>
                <a:gd name="T43" fmla="*/ 160 h 107"/>
                <a:gd name="T44" fmla="*/ 2633 w 109"/>
                <a:gd name="T45" fmla="*/ 185 h 107"/>
                <a:gd name="T46" fmla="*/ 3457 w 109"/>
                <a:gd name="T47" fmla="*/ 214 h 107"/>
                <a:gd name="T48" fmla="*/ 4357 w 109"/>
                <a:gd name="T49" fmla="*/ 234 h 107"/>
                <a:gd name="T50" fmla="*/ 5381 w 109"/>
                <a:gd name="T51" fmla="*/ 262 h 107"/>
                <a:gd name="T52" fmla="*/ 6155 w 109"/>
                <a:gd name="T53" fmla="*/ 284 h 107"/>
                <a:gd name="T54" fmla="*/ 7008 w 109"/>
                <a:gd name="T55" fmla="*/ 306 h 107"/>
                <a:gd name="T56" fmla="*/ 7817 w 109"/>
                <a:gd name="T57" fmla="*/ 328 h 107"/>
                <a:gd name="T58" fmla="*/ 8486 w 109"/>
                <a:gd name="T59" fmla="*/ 356 h 107"/>
                <a:gd name="T60" fmla="*/ 9154 w 109"/>
                <a:gd name="T61" fmla="*/ 380 h 107"/>
                <a:gd name="T62" fmla="*/ 9501 w 109"/>
                <a:gd name="T63" fmla="*/ 408 h 107"/>
                <a:gd name="T64" fmla="*/ 9731 w 109"/>
                <a:gd name="T65" fmla="*/ 439 h 107"/>
                <a:gd name="T66" fmla="*/ 9753 w 109"/>
                <a:gd name="T67" fmla="*/ 480 h 107"/>
                <a:gd name="T68" fmla="*/ 11269 w 109"/>
                <a:gd name="T69" fmla="*/ 480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08" y="106"/>
                  </a:moveTo>
                  <a:lnTo>
                    <a:pt x="106" y="95"/>
                  </a:lnTo>
                  <a:lnTo>
                    <a:pt x="104" y="85"/>
                  </a:lnTo>
                  <a:lnTo>
                    <a:pt x="98" y="76"/>
                  </a:lnTo>
                  <a:lnTo>
                    <a:pt x="91" y="68"/>
                  </a:lnTo>
                  <a:lnTo>
                    <a:pt x="83" y="62"/>
                  </a:lnTo>
                  <a:lnTo>
                    <a:pt x="75" y="56"/>
                  </a:lnTo>
                  <a:lnTo>
                    <a:pt x="66" y="51"/>
                  </a:lnTo>
                  <a:lnTo>
                    <a:pt x="58" y="45"/>
                  </a:lnTo>
                  <a:lnTo>
                    <a:pt x="48" y="40"/>
                  </a:lnTo>
                  <a:lnTo>
                    <a:pt x="41" y="35"/>
                  </a:lnTo>
                  <a:lnTo>
                    <a:pt x="33" y="31"/>
                  </a:lnTo>
                  <a:lnTo>
                    <a:pt x="26" y="25"/>
                  </a:lnTo>
                  <a:lnTo>
                    <a:pt x="21" y="19"/>
                  </a:lnTo>
                  <a:lnTo>
                    <a:pt x="17" y="14"/>
                  </a:lnTo>
                  <a:lnTo>
                    <a:pt x="15" y="8"/>
                  </a:lnTo>
                  <a:lnTo>
                    <a:pt x="14" y="0"/>
                  </a:lnTo>
                  <a:lnTo>
                    <a:pt x="0" y="0"/>
                  </a:lnTo>
                  <a:lnTo>
                    <a:pt x="2" y="10"/>
                  </a:lnTo>
                  <a:lnTo>
                    <a:pt x="5" y="20"/>
                  </a:lnTo>
                  <a:lnTo>
                    <a:pt x="10" y="29"/>
                  </a:lnTo>
                  <a:lnTo>
                    <a:pt x="17" y="35"/>
                  </a:lnTo>
                  <a:lnTo>
                    <a:pt x="25" y="41"/>
                  </a:lnTo>
                  <a:lnTo>
                    <a:pt x="33" y="47"/>
                  </a:lnTo>
                  <a:lnTo>
                    <a:pt x="42" y="52"/>
                  </a:lnTo>
                  <a:lnTo>
                    <a:pt x="51" y="57"/>
                  </a:lnTo>
                  <a:lnTo>
                    <a:pt x="59" y="62"/>
                  </a:lnTo>
                  <a:lnTo>
                    <a:pt x="67" y="68"/>
                  </a:lnTo>
                  <a:lnTo>
                    <a:pt x="75" y="72"/>
                  </a:lnTo>
                  <a:lnTo>
                    <a:pt x="82" y="79"/>
                  </a:lnTo>
                  <a:lnTo>
                    <a:pt x="87" y="84"/>
                  </a:lnTo>
                  <a:lnTo>
                    <a:pt x="91" y="90"/>
                  </a:lnTo>
                  <a:lnTo>
                    <a:pt x="93" y="97"/>
                  </a:lnTo>
                  <a:lnTo>
                    <a:pt x="94" y="106"/>
                  </a:lnTo>
                  <a:lnTo>
                    <a:pt x="108"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6" name="Freeform 274">
              <a:extLst>
                <a:ext uri="{FF2B5EF4-FFF2-40B4-BE49-F238E27FC236}">
                  <a16:creationId xmlns:a16="http://schemas.microsoft.com/office/drawing/2014/main" id="{E5DDD8A6-D5AC-E413-E7F2-C127C17DCBB3}"/>
                </a:ext>
              </a:extLst>
            </p:cNvPr>
            <p:cNvSpPr>
              <a:spLocks/>
            </p:cNvSpPr>
            <p:nvPr/>
          </p:nvSpPr>
          <p:spPr bwMode="auto">
            <a:xfrm>
              <a:off x="3734" y="3540"/>
              <a:ext cx="136" cy="116"/>
            </a:xfrm>
            <a:custGeom>
              <a:avLst/>
              <a:gdLst>
                <a:gd name="T0" fmla="*/ 1370 w 109"/>
                <a:gd name="T1" fmla="*/ 576 h 107"/>
                <a:gd name="T2" fmla="*/ 1573 w 109"/>
                <a:gd name="T3" fmla="*/ 531 h 107"/>
                <a:gd name="T4" fmla="*/ 1709 w 109"/>
                <a:gd name="T5" fmla="*/ 504 h 107"/>
                <a:gd name="T6" fmla="*/ 2132 w 109"/>
                <a:gd name="T7" fmla="*/ 469 h 107"/>
                <a:gd name="T8" fmla="*/ 2660 w 109"/>
                <a:gd name="T9" fmla="*/ 439 h 107"/>
                <a:gd name="T10" fmla="*/ 3457 w 109"/>
                <a:gd name="T11" fmla="*/ 405 h 107"/>
                <a:gd name="T12" fmla="*/ 4313 w 109"/>
                <a:gd name="T13" fmla="*/ 385 h 107"/>
                <a:gd name="T14" fmla="*/ 5021 w 109"/>
                <a:gd name="T15" fmla="*/ 349 h 107"/>
                <a:gd name="T16" fmla="*/ 6028 w 109"/>
                <a:gd name="T17" fmla="*/ 322 h 107"/>
                <a:gd name="T18" fmla="*/ 6801 w 109"/>
                <a:gd name="T19" fmla="*/ 297 h 107"/>
                <a:gd name="T20" fmla="*/ 7817 w 109"/>
                <a:gd name="T21" fmla="*/ 270 h 107"/>
                <a:gd name="T22" fmla="*/ 8684 w 109"/>
                <a:gd name="T23" fmla="*/ 244 h 107"/>
                <a:gd name="T24" fmla="*/ 9501 w 109"/>
                <a:gd name="T25" fmla="*/ 208 h 107"/>
                <a:gd name="T26" fmla="*/ 10188 w 109"/>
                <a:gd name="T27" fmla="*/ 167 h 107"/>
                <a:gd name="T28" fmla="*/ 10835 w 109"/>
                <a:gd name="T29" fmla="*/ 113 h 107"/>
                <a:gd name="T30" fmla="*/ 11093 w 109"/>
                <a:gd name="T31" fmla="*/ 59 h 107"/>
                <a:gd name="T32" fmla="*/ 11269 w 109"/>
                <a:gd name="T33" fmla="*/ 0 h 107"/>
                <a:gd name="T34" fmla="*/ 9753 w 109"/>
                <a:gd name="T35" fmla="*/ 0 h 107"/>
                <a:gd name="T36" fmla="*/ 9731 w 109"/>
                <a:gd name="T37" fmla="*/ 46 h 107"/>
                <a:gd name="T38" fmla="*/ 9501 w 109"/>
                <a:gd name="T39" fmla="*/ 81 h 107"/>
                <a:gd name="T40" fmla="*/ 9154 w 109"/>
                <a:gd name="T41" fmla="*/ 121 h 107"/>
                <a:gd name="T42" fmla="*/ 8486 w 109"/>
                <a:gd name="T43" fmla="*/ 144 h 107"/>
                <a:gd name="T44" fmla="*/ 7817 w 109"/>
                <a:gd name="T45" fmla="*/ 183 h 107"/>
                <a:gd name="T46" fmla="*/ 7008 w 109"/>
                <a:gd name="T47" fmla="*/ 208 h 107"/>
                <a:gd name="T48" fmla="*/ 6155 w 109"/>
                <a:gd name="T49" fmla="*/ 233 h 107"/>
                <a:gd name="T50" fmla="*/ 5381 w 109"/>
                <a:gd name="T51" fmla="*/ 267 h 107"/>
                <a:gd name="T52" fmla="*/ 4357 w 109"/>
                <a:gd name="T53" fmla="*/ 293 h 107"/>
                <a:gd name="T54" fmla="*/ 3457 w 109"/>
                <a:gd name="T55" fmla="*/ 318 h 107"/>
                <a:gd name="T56" fmla="*/ 2633 w 109"/>
                <a:gd name="T57" fmla="*/ 349 h 107"/>
                <a:gd name="T58" fmla="*/ 1709 w 109"/>
                <a:gd name="T59" fmla="*/ 385 h 107"/>
                <a:gd name="T60" fmla="*/ 1011 w 109"/>
                <a:gd name="T61" fmla="*/ 417 h 107"/>
                <a:gd name="T62" fmla="*/ 453 w 109"/>
                <a:gd name="T63" fmla="*/ 469 h 107"/>
                <a:gd name="T64" fmla="*/ 2 w 109"/>
                <a:gd name="T65" fmla="*/ 516 h 107"/>
                <a:gd name="T66" fmla="*/ 0 w 109"/>
                <a:gd name="T67" fmla="*/ 576 h 107"/>
                <a:gd name="T68" fmla="*/ 1370 w 109"/>
                <a:gd name="T69" fmla="*/ 576 h 1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07"/>
                <a:gd name="T107" fmla="*/ 109 w 109"/>
                <a:gd name="T108" fmla="*/ 107 h 10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07">
                  <a:moveTo>
                    <a:pt x="14" y="106"/>
                  </a:moveTo>
                  <a:lnTo>
                    <a:pt x="15" y="98"/>
                  </a:lnTo>
                  <a:lnTo>
                    <a:pt x="17" y="92"/>
                  </a:lnTo>
                  <a:lnTo>
                    <a:pt x="21" y="86"/>
                  </a:lnTo>
                  <a:lnTo>
                    <a:pt x="26" y="81"/>
                  </a:lnTo>
                  <a:lnTo>
                    <a:pt x="33" y="75"/>
                  </a:lnTo>
                  <a:lnTo>
                    <a:pt x="41" y="71"/>
                  </a:lnTo>
                  <a:lnTo>
                    <a:pt x="48" y="65"/>
                  </a:lnTo>
                  <a:lnTo>
                    <a:pt x="58" y="60"/>
                  </a:lnTo>
                  <a:lnTo>
                    <a:pt x="66" y="55"/>
                  </a:lnTo>
                  <a:lnTo>
                    <a:pt x="75" y="50"/>
                  </a:lnTo>
                  <a:lnTo>
                    <a:pt x="83" y="44"/>
                  </a:lnTo>
                  <a:lnTo>
                    <a:pt x="91" y="38"/>
                  </a:lnTo>
                  <a:lnTo>
                    <a:pt x="98" y="30"/>
                  </a:lnTo>
                  <a:lnTo>
                    <a:pt x="104" y="21"/>
                  </a:lnTo>
                  <a:lnTo>
                    <a:pt x="106" y="11"/>
                  </a:lnTo>
                  <a:lnTo>
                    <a:pt x="108" y="0"/>
                  </a:lnTo>
                  <a:lnTo>
                    <a:pt x="94" y="0"/>
                  </a:lnTo>
                  <a:lnTo>
                    <a:pt x="93" y="8"/>
                  </a:lnTo>
                  <a:lnTo>
                    <a:pt x="91" y="15"/>
                  </a:lnTo>
                  <a:lnTo>
                    <a:pt x="87" y="22"/>
                  </a:lnTo>
                  <a:lnTo>
                    <a:pt x="82" y="27"/>
                  </a:lnTo>
                  <a:lnTo>
                    <a:pt x="75" y="34"/>
                  </a:lnTo>
                  <a:lnTo>
                    <a:pt x="67" y="38"/>
                  </a:lnTo>
                  <a:lnTo>
                    <a:pt x="59" y="43"/>
                  </a:lnTo>
                  <a:lnTo>
                    <a:pt x="51" y="49"/>
                  </a:lnTo>
                  <a:lnTo>
                    <a:pt x="42" y="54"/>
                  </a:lnTo>
                  <a:lnTo>
                    <a:pt x="33" y="59"/>
                  </a:lnTo>
                  <a:lnTo>
                    <a:pt x="25" y="65"/>
                  </a:lnTo>
                  <a:lnTo>
                    <a:pt x="17" y="71"/>
                  </a:lnTo>
                  <a:lnTo>
                    <a:pt x="10" y="77"/>
                  </a:lnTo>
                  <a:lnTo>
                    <a:pt x="5" y="86"/>
                  </a:lnTo>
                  <a:lnTo>
                    <a:pt x="2" y="95"/>
                  </a:lnTo>
                  <a:lnTo>
                    <a:pt x="0" y="106"/>
                  </a:lnTo>
                  <a:lnTo>
                    <a:pt x="14" y="10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7" name="Freeform 275">
              <a:extLst>
                <a:ext uri="{FF2B5EF4-FFF2-40B4-BE49-F238E27FC236}">
                  <a16:creationId xmlns:a16="http://schemas.microsoft.com/office/drawing/2014/main" id="{8F9F7D6D-2620-B30A-4249-D1D596A318F1}"/>
                </a:ext>
              </a:extLst>
            </p:cNvPr>
            <p:cNvSpPr>
              <a:spLocks/>
            </p:cNvSpPr>
            <p:nvPr/>
          </p:nvSpPr>
          <p:spPr bwMode="auto">
            <a:xfrm>
              <a:off x="3734" y="3655"/>
              <a:ext cx="136" cy="104"/>
            </a:xfrm>
            <a:custGeom>
              <a:avLst/>
              <a:gdLst>
                <a:gd name="T0" fmla="*/ 11269 w 109"/>
                <a:gd name="T1" fmla="*/ 512 h 96"/>
                <a:gd name="T2" fmla="*/ 10816 w 109"/>
                <a:gd name="T3" fmla="*/ 412 h 96"/>
                <a:gd name="T4" fmla="*/ 9384 w 109"/>
                <a:gd name="T5" fmla="*/ 346 h 96"/>
                <a:gd name="T6" fmla="*/ 7680 w 109"/>
                <a:gd name="T7" fmla="*/ 294 h 96"/>
                <a:gd name="T8" fmla="*/ 6028 w 109"/>
                <a:gd name="T9" fmla="*/ 246 h 96"/>
                <a:gd name="T10" fmla="*/ 4313 w 109"/>
                <a:gd name="T11" fmla="*/ 194 h 96"/>
                <a:gd name="T12" fmla="*/ 2660 w 109"/>
                <a:gd name="T13" fmla="*/ 138 h 96"/>
                <a:gd name="T14" fmla="*/ 1709 w 109"/>
                <a:gd name="T15" fmla="*/ 68 h 96"/>
                <a:gd name="T16" fmla="*/ 1370 w 109"/>
                <a:gd name="T17" fmla="*/ 0 h 96"/>
                <a:gd name="T18" fmla="*/ 0 w 109"/>
                <a:gd name="T19" fmla="*/ 0 h 96"/>
                <a:gd name="T20" fmla="*/ 453 w 109"/>
                <a:gd name="T21" fmla="*/ 110 h 96"/>
                <a:gd name="T22" fmla="*/ 1709 w 109"/>
                <a:gd name="T23" fmla="*/ 194 h 96"/>
                <a:gd name="T24" fmla="*/ 3457 w 109"/>
                <a:gd name="T25" fmla="*/ 264 h 96"/>
                <a:gd name="T26" fmla="*/ 5381 w 109"/>
                <a:gd name="T27" fmla="*/ 313 h 96"/>
                <a:gd name="T28" fmla="*/ 7126 w 109"/>
                <a:gd name="T29" fmla="*/ 365 h 96"/>
                <a:gd name="T30" fmla="*/ 8486 w 109"/>
                <a:gd name="T31" fmla="*/ 406 h 96"/>
                <a:gd name="T32" fmla="*/ 9501 w 109"/>
                <a:gd name="T33" fmla="*/ 463 h 96"/>
                <a:gd name="T34" fmla="*/ 9753 w 109"/>
                <a:gd name="T35" fmla="*/ 512 h 96"/>
                <a:gd name="T36" fmla="*/ 11269 w 109"/>
                <a:gd name="T37" fmla="*/ 512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
                <a:gd name="T58" fmla="*/ 0 h 96"/>
                <a:gd name="T59" fmla="*/ 109 w 109"/>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 h="96">
                  <a:moveTo>
                    <a:pt x="108" y="95"/>
                  </a:moveTo>
                  <a:lnTo>
                    <a:pt x="103" y="77"/>
                  </a:lnTo>
                  <a:lnTo>
                    <a:pt x="90" y="65"/>
                  </a:lnTo>
                  <a:lnTo>
                    <a:pt x="74" y="55"/>
                  </a:lnTo>
                  <a:lnTo>
                    <a:pt x="58" y="46"/>
                  </a:lnTo>
                  <a:lnTo>
                    <a:pt x="41" y="36"/>
                  </a:lnTo>
                  <a:lnTo>
                    <a:pt x="26" y="26"/>
                  </a:lnTo>
                  <a:lnTo>
                    <a:pt x="17" y="13"/>
                  </a:lnTo>
                  <a:lnTo>
                    <a:pt x="14" y="0"/>
                  </a:lnTo>
                  <a:lnTo>
                    <a:pt x="0" y="0"/>
                  </a:lnTo>
                  <a:lnTo>
                    <a:pt x="5" y="20"/>
                  </a:lnTo>
                  <a:lnTo>
                    <a:pt x="17" y="36"/>
                  </a:lnTo>
                  <a:lnTo>
                    <a:pt x="33" y="48"/>
                  </a:lnTo>
                  <a:lnTo>
                    <a:pt x="51" y="58"/>
                  </a:lnTo>
                  <a:lnTo>
                    <a:pt x="68" y="67"/>
                  </a:lnTo>
                  <a:lnTo>
                    <a:pt x="82" y="76"/>
                  </a:lnTo>
                  <a:lnTo>
                    <a:pt x="91" y="85"/>
                  </a:lnTo>
                  <a:lnTo>
                    <a:pt x="94" y="95"/>
                  </a:lnTo>
                  <a:lnTo>
                    <a:pt x="108" y="9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8" name="Freeform 276">
              <a:extLst>
                <a:ext uri="{FF2B5EF4-FFF2-40B4-BE49-F238E27FC236}">
                  <a16:creationId xmlns:a16="http://schemas.microsoft.com/office/drawing/2014/main" id="{09C51F8C-41F9-6F6F-D58F-EB4A2590E997}"/>
                </a:ext>
              </a:extLst>
            </p:cNvPr>
            <p:cNvSpPr>
              <a:spLocks/>
            </p:cNvSpPr>
            <p:nvPr/>
          </p:nvSpPr>
          <p:spPr bwMode="auto">
            <a:xfrm>
              <a:off x="3852" y="3758"/>
              <a:ext cx="18" cy="5"/>
            </a:xfrm>
            <a:custGeom>
              <a:avLst/>
              <a:gdLst>
                <a:gd name="T0" fmla="*/ 310 w 15"/>
                <a:gd name="T1" fmla="*/ 4 h 5"/>
                <a:gd name="T2" fmla="*/ 642 w 15"/>
                <a:gd name="T3" fmla="*/ 4 h 5"/>
                <a:gd name="T4" fmla="*/ 642 w 15"/>
                <a:gd name="T5" fmla="*/ 0 h 5"/>
                <a:gd name="T6" fmla="*/ 0 w 15"/>
                <a:gd name="T7" fmla="*/ 0 h 5"/>
                <a:gd name="T8" fmla="*/ 0 w 15"/>
                <a:gd name="T9" fmla="*/ 4 h 5"/>
                <a:gd name="T10" fmla="*/ 310 w 15"/>
                <a:gd name="T11" fmla="*/ 4 h 5"/>
                <a:gd name="T12" fmla="*/ 0 60000 65536"/>
                <a:gd name="T13" fmla="*/ 0 60000 65536"/>
                <a:gd name="T14" fmla="*/ 0 60000 65536"/>
                <a:gd name="T15" fmla="*/ 0 60000 65536"/>
                <a:gd name="T16" fmla="*/ 0 60000 65536"/>
                <a:gd name="T17" fmla="*/ 0 60000 65536"/>
                <a:gd name="T18" fmla="*/ 0 w 15"/>
                <a:gd name="T19" fmla="*/ 0 h 5"/>
                <a:gd name="T20" fmla="*/ 15 w 15"/>
                <a:gd name="T21" fmla="*/ 5 h 5"/>
              </a:gdLst>
              <a:ahLst/>
              <a:cxnLst>
                <a:cxn ang="T12">
                  <a:pos x="T0" y="T1"/>
                </a:cxn>
                <a:cxn ang="T13">
                  <a:pos x="T2" y="T3"/>
                </a:cxn>
                <a:cxn ang="T14">
                  <a:pos x="T4" y="T5"/>
                </a:cxn>
                <a:cxn ang="T15">
                  <a:pos x="T6" y="T7"/>
                </a:cxn>
                <a:cxn ang="T16">
                  <a:pos x="T8" y="T9"/>
                </a:cxn>
                <a:cxn ang="T17">
                  <a:pos x="T10" y="T11"/>
                </a:cxn>
              </a:cxnLst>
              <a:rect l="T18" t="T19" r="T20" b="T21"/>
              <a:pathLst>
                <a:path w="15" h="5">
                  <a:moveTo>
                    <a:pt x="7" y="4"/>
                  </a:moveTo>
                  <a:lnTo>
                    <a:pt x="14" y="4"/>
                  </a:lnTo>
                  <a:lnTo>
                    <a:pt x="14" y="0"/>
                  </a:lnTo>
                  <a:lnTo>
                    <a:pt x="0" y="0"/>
                  </a:lnTo>
                  <a:lnTo>
                    <a:pt x="0" y="4"/>
                  </a:lnTo>
                  <a:lnTo>
                    <a:pt x="7" y="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29" name="Freeform 277">
              <a:extLst>
                <a:ext uri="{FF2B5EF4-FFF2-40B4-BE49-F238E27FC236}">
                  <a16:creationId xmlns:a16="http://schemas.microsoft.com/office/drawing/2014/main" id="{459CC6FC-94A5-5A5A-D70F-37FDA806155E}"/>
                </a:ext>
              </a:extLst>
            </p:cNvPr>
            <p:cNvSpPr>
              <a:spLocks/>
            </p:cNvSpPr>
            <p:nvPr/>
          </p:nvSpPr>
          <p:spPr bwMode="auto">
            <a:xfrm>
              <a:off x="3765" y="3006"/>
              <a:ext cx="92" cy="114"/>
            </a:xfrm>
            <a:custGeom>
              <a:avLst/>
              <a:gdLst>
                <a:gd name="T0" fmla="*/ 4691 w 73"/>
                <a:gd name="T1" fmla="*/ 478 h 105"/>
                <a:gd name="T2" fmla="*/ 1 w 73"/>
                <a:gd name="T3" fmla="*/ 573 h 105"/>
                <a:gd name="T4" fmla="*/ 0 w 73"/>
                <a:gd name="T5" fmla="*/ 566 h 105"/>
                <a:gd name="T6" fmla="*/ 3215 w 73"/>
                <a:gd name="T7" fmla="*/ 292 h 105"/>
                <a:gd name="T8" fmla="*/ 3467 w 73"/>
                <a:gd name="T9" fmla="*/ 252 h 105"/>
                <a:gd name="T10" fmla="*/ 3568 w 73"/>
                <a:gd name="T11" fmla="*/ 218 h 105"/>
                <a:gd name="T12" fmla="*/ 3883 w 73"/>
                <a:gd name="T13" fmla="*/ 181 h 105"/>
                <a:gd name="T14" fmla="*/ 4052 w 73"/>
                <a:gd name="T15" fmla="*/ 145 h 105"/>
                <a:gd name="T16" fmla="*/ 4369 w 73"/>
                <a:gd name="T17" fmla="*/ 107 h 105"/>
                <a:gd name="T18" fmla="*/ 4691 w 73"/>
                <a:gd name="T19" fmla="*/ 69 h 105"/>
                <a:gd name="T20" fmla="*/ 4894 w 73"/>
                <a:gd name="T21" fmla="*/ 39 h 105"/>
                <a:gd name="T22" fmla="*/ 5107 w 73"/>
                <a:gd name="T23" fmla="*/ 0 h 105"/>
                <a:gd name="T24" fmla="*/ 5322 w 73"/>
                <a:gd name="T25" fmla="*/ 39 h 105"/>
                <a:gd name="T26" fmla="*/ 5431 w 73"/>
                <a:gd name="T27" fmla="*/ 69 h 105"/>
                <a:gd name="T28" fmla="*/ 5667 w 73"/>
                <a:gd name="T29" fmla="*/ 107 h 105"/>
                <a:gd name="T30" fmla="*/ 5912 w 73"/>
                <a:gd name="T31" fmla="*/ 145 h 105"/>
                <a:gd name="T32" fmla="*/ 5970 w 73"/>
                <a:gd name="T33" fmla="*/ 185 h 105"/>
                <a:gd name="T34" fmla="*/ 6168 w 73"/>
                <a:gd name="T35" fmla="*/ 218 h 105"/>
                <a:gd name="T36" fmla="*/ 6328 w 73"/>
                <a:gd name="T37" fmla="*/ 257 h 105"/>
                <a:gd name="T38" fmla="*/ 6592 w 73"/>
                <a:gd name="T39" fmla="*/ 292 h 105"/>
                <a:gd name="T40" fmla="*/ 9390 w 73"/>
                <a:gd name="T41" fmla="*/ 579 h 105"/>
                <a:gd name="T42" fmla="*/ 9050 w 73"/>
                <a:gd name="T43" fmla="*/ 585 h 105"/>
                <a:gd name="T44" fmla="*/ 4691 w 73"/>
                <a:gd name="T45" fmla="*/ 478 h 10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
                <a:gd name="T70" fmla="*/ 0 h 105"/>
                <a:gd name="T71" fmla="*/ 73 w 73"/>
                <a:gd name="T72" fmla="*/ 105 h 10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 h="105">
                  <a:moveTo>
                    <a:pt x="36" y="85"/>
                  </a:moveTo>
                  <a:lnTo>
                    <a:pt x="1" y="102"/>
                  </a:lnTo>
                  <a:lnTo>
                    <a:pt x="0" y="101"/>
                  </a:lnTo>
                  <a:lnTo>
                    <a:pt x="25" y="52"/>
                  </a:lnTo>
                  <a:lnTo>
                    <a:pt x="27" y="45"/>
                  </a:lnTo>
                  <a:lnTo>
                    <a:pt x="28" y="39"/>
                  </a:lnTo>
                  <a:lnTo>
                    <a:pt x="30" y="32"/>
                  </a:lnTo>
                  <a:lnTo>
                    <a:pt x="32" y="26"/>
                  </a:lnTo>
                  <a:lnTo>
                    <a:pt x="34" y="19"/>
                  </a:lnTo>
                  <a:lnTo>
                    <a:pt x="36" y="13"/>
                  </a:lnTo>
                  <a:lnTo>
                    <a:pt x="38" y="6"/>
                  </a:lnTo>
                  <a:lnTo>
                    <a:pt x="40" y="0"/>
                  </a:lnTo>
                  <a:lnTo>
                    <a:pt x="41" y="6"/>
                  </a:lnTo>
                  <a:lnTo>
                    <a:pt x="42" y="13"/>
                  </a:lnTo>
                  <a:lnTo>
                    <a:pt x="44" y="19"/>
                  </a:lnTo>
                  <a:lnTo>
                    <a:pt x="45" y="26"/>
                  </a:lnTo>
                  <a:lnTo>
                    <a:pt x="47" y="33"/>
                  </a:lnTo>
                  <a:lnTo>
                    <a:pt x="48" y="39"/>
                  </a:lnTo>
                  <a:lnTo>
                    <a:pt x="49" y="46"/>
                  </a:lnTo>
                  <a:lnTo>
                    <a:pt x="51" y="52"/>
                  </a:lnTo>
                  <a:lnTo>
                    <a:pt x="72" y="103"/>
                  </a:lnTo>
                  <a:lnTo>
                    <a:pt x="71" y="104"/>
                  </a:lnTo>
                  <a:lnTo>
                    <a:pt x="36" y="8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0" name="Freeform 278">
              <a:extLst>
                <a:ext uri="{FF2B5EF4-FFF2-40B4-BE49-F238E27FC236}">
                  <a16:creationId xmlns:a16="http://schemas.microsoft.com/office/drawing/2014/main" id="{284C7BF5-4B04-14BE-F178-579E69A40A6A}"/>
                </a:ext>
              </a:extLst>
            </p:cNvPr>
            <p:cNvSpPr>
              <a:spLocks/>
            </p:cNvSpPr>
            <p:nvPr/>
          </p:nvSpPr>
          <p:spPr bwMode="auto">
            <a:xfrm>
              <a:off x="4652" y="2392"/>
              <a:ext cx="225" cy="49"/>
            </a:xfrm>
            <a:custGeom>
              <a:avLst/>
              <a:gdLst>
                <a:gd name="T0" fmla="*/ 529 w 180"/>
                <a:gd name="T1" fmla="*/ 208 h 45"/>
                <a:gd name="T2" fmla="*/ 1451 w 180"/>
                <a:gd name="T3" fmla="*/ 191 h 45"/>
                <a:gd name="T4" fmla="*/ 2170 w 180"/>
                <a:gd name="T5" fmla="*/ 177 h 45"/>
                <a:gd name="T6" fmla="*/ 2979 w 180"/>
                <a:gd name="T7" fmla="*/ 177 h 45"/>
                <a:gd name="T8" fmla="*/ 3430 w 180"/>
                <a:gd name="T9" fmla="*/ 191 h 45"/>
                <a:gd name="T10" fmla="*/ 4239 w 180"/>
                <a:gd name="T11" fmla="*/ 206 h 45"/>
                <a:gd name="T12" fmla="*/ 4806 w 180"/>
                <a:gd name="T13" fmla="*/ 210 h 45"/>
                <a:gd name="T14" fmla="*/ 5650 w 180"/>
                <a:gd name="T15" fmla="*/ 229 h 45"/>
                <a:gd name="T16" fmla="*/ 6458 w 180"/>
                <a:gd name="T17" fmla="*/ 246 h 45"/>
                <a:gd name="T18" fmla="*/ 7274 w 180"/>
                <a:gd name="T19" fmla="*/ 259 h 45"/>
                <a:gd name="T20" fmla="*/ 8486 w 180"/>
                <a:gd name="T21" fmla="*/ 266 h 45"/>
                <a:gd name="T22" fmla="*/ 9694 w 180"/>
                <a:gd name="T23" fmla="*/ 266 h 45"/>
                <a:gd name="T24" fmla="*/ 11180 w 180"/>
                <a:gd name="T25" fmla="*/ 249 h 45"/>
                <a:gd name="T26" fmla="*/ 12755 w 180"/>
                <a:gd name="T27" fmla="*/ 226 h 45"/>
                <a:gd name="T28" fmla="*/ 14786 w 180"/>
                <a:gd name="T29" fmla="*/ 191 h 45"/>
                <a:gd name="T30" fmla="*/ 16935 w 180"/>
                <a:gd name="T31" fmla="*/ 136 h 45"/>
                <a:gd name="T32" fmla="*/ 19481 w 180"/>
                <a:gd name="T33" fmla="*/ 63 h 45"/>
                <a:gd name="T34" fmla="*/ 18635 w 180"/>
                <a:gd name="T35" fmla="*/ 0 h 45"/>
                <a:gd name="T36" fmla="*/ 16358 w 180"/>
                <a:gd name="T37" fmla="*/ 63 h 45"/>
                <a:gd name="T38" fmla="*/ 14208 w 180"/>
                <a:gd name="T39" fmla="*/ 115 h 45"/>
                <a:gd name="T40" fmla="*/ 12393 w 180"/>
                <a:gd name="T41" fmla="*/ 148 h 45"/>
                <a:gd name="T42" fmla="*/ 10838 w 180"/>
                <a:gd name="T43" fmla="*/ 175 h 45"/>
                <a:gd name="T44" fmla="*/ 9538 w 180"/>
                <a:gd name="T45" fmla="*/ 189 h 45"/>
                <a:gd name="T46" fmla="*/ 8654 w 180"/>
                <a:gd name="T47" fmla="*/ 189 h 45"/>
                <a:gd name="T48" fmla="*/ 7630 w 180"/>
                <a:gd name="T49" fmla="*/ 177 h 45"/>
                <a:gd name="T50" fmla="*/ 6923 w 180"/>
                <a:gd name="T51" fmla="*/ 163 h 45"/>
                <a:gd name="T52" fmla="*/ 6008 w 180"/>
                <a:gd name="T53" fmla="*/ 150 h 45"/>
                <a:gd name="T54" fmla="*/ 5360 w 180"/>
                <a:gd name="T55" fmla="*/ 136 h 45"/>
                <a:gd name="T56" fmla="*/ 4650 w 180"/>
                <a:gd name="T57" fmla="*/ 125 h 45"/>
                <a:gd name="T58" fmla="*/ 3943 w 180"/>
                <a:gd name="T59" fmla="*/ 115 h 45"/>
                <a:gd name="T60" fmla="*/ 3076 w 180"/>
                <a:gd name="T61" fmla="*/ 106 h 45"/>
                <a:gd name="T62" fmla="*/ 2091 w 180"/>
                <a:gd name="T63" fmla="*/ 106 h 45"/>
                <a:gd name="T64" fmla="*/ 1111 w 180"/>
                <a:gd name="T65" fmla="*/ 115 h 45"/>
                <a:gd name="T66" fmla="*/ 0 w 180"/>
                <a:gd name="T67" fmla="*/ 127 h 45"/>
                <a:gd name="T68" fmla="*/ 529 w 180"/>
                <a:gd name="T69" fmla="*/ 208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0"/>
                <a:gd name="T106" fmla="*/ 0 h 45"/>
                <a:gd name="T107" fmla="*/ 180 w 18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0" h="45">
                  <a:moveTo>
                    <a:pt x="5" y="35"/>
                  </a:moveTo>
                  <a:lnTo>
                    <a:pt x="14" y="32"/>
                  </a:lnTo>
                  <a:lnTo>
                    <a:pt x="20" y="30"/>
                  </a:lnTo>
                  <a:lnTo>
                    <a:pt x="27" y="30"/>
                  </a:lnTo>
                  <a:lnTo>
                    <a:pt x="32" y="32"/>
                  </a:lnTo>
                  <a:lnTo>
                    <a:pt x="39" y="34"/>
                  </a:lnTo>
                  <a:lnTo>
                    <a:pt x="44" y="36"/>
                  </a:lnTo>
                  <a:lnTo>
                    <a:pt x="52" y="39"/>
                  </a:lnTo>
                  <a:lnTo>
                    <a:pt x="59" y="41"/>
                  </a:lnTo>
                  <a:lnTo>
                    <a:pt x="67" y="43"/>
                  </a:lnTo>
                  <a:lnTo>
                    <a:pt x="78" y="44"/>
                  </a:lnTo>
                  <a:lnTo>
                    <a:pt x="89" y="44"/>
                  </a:lnTo>
                  <a:lnTo>
                    <a:pt x="103" y="42"/>
                  </a:lnTo>
                  <a:lnTo>
                    <a:pt x="118" y="38"/>
                  </a:lnTo>
                  <a:lnTo>
                    <a:pt x="136" y="32"/>
                  </a:lnTo>
                  <a:lnTo>
                    <a:pt x="156" y="23"/>
                  </a:lnTo>
                  <a:lnTo>
                    <a:pt x="179" y="11"/>
                  </a:lnTo>
                  <a:lnTo>
                    <a:pt x="172" y="0"/>
                  </a:lnTo>
                  <a:lnTo>
                    <a:pt x="150" y="11"/>
                  </a:lnTo>
                  <a:lnTo>
                    <a:pt x="131" y="19"/>
                  </a:lnTo>
                  <a:lnTo>
                    <a:pt x="114" y="25"/>
                  </a:lnTo>
                  <a:lnTo>
                    <a:pt x="100" y="29"/>
                  </a:lnTo>
                  <a:lnTo>
                    <a:pt x="88" y="31"/>
                  </a:lnTo>
                  <a:lnTo>
                    <a:pt x="79" y="31"/>
                  </a:lnTo>
                  <a:lnTo>
                    <a:pt x="70" y="30"/>
                  </a:lnTo>
                  <a:lnTo>
                    <a:pt x="63" y="28"/>
                  </a:lnTo>
                  <a:lnTo>
                    <a:pt x="55" y="26"/>
                  </a:lnTo>
                  <a:lnTo>
                    <a:pt x="50" y="23"/>
                  </a:lnTo>
                  <a:lnTo>
                    <a:pt x="42" y="21"/>
                  </a:lnTo>
                  <a:lnTo>
                    <a:pt x="36" y="19"/>
                  </a:lnTo>
                  <a:lnTo>
                    <a:pt x="28" y="17"/>
                  </a:lnTo>
                  <a:lnTo>
                    <a:pt x="19" y="17"/>
                  </a:lnTo>
                  <a:lnTo>
                    <a:pt x="10" y="19"/>
                  </a:lnTo>
                  <a:lnTo>
                    <a:pt x="0" y="22"/>
                  </a:lnTo>
                  <a:lnTo>
                    <a:pt x="5" y="35"/>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1" name="Freeform 279">
              <a:extLst>
                <a:ext uri="{FF2B5EF4-FFF2-40B4-BE49-F238E27FC236}">
                  <a16:creationId xmlns:a16="http://schemas.microsoft.com/office/drawing/2014/main" id="{8BA2894D-0944-F83F-8AA4-BC907AE7779B}"/>
                </a:ext>
              </a:extLst>
            </p:cNvPr>
            <p:cNvSpPr>
              <a:spLocks/>
            </p:cNvSpPr>
            <p:nvPr/>
          </p:nvSpPr>
          <p:spPr bwMode="auto">
            <a:xfrm>
              <a:off x="4565" y="2416"/>
              <a:ext cx="94" cy="148"/>
            </a:xfrm>
            <a:custGeom>
              <a:avLst/>
              <a:gdLst>
                <a:gd name="T0" fmla="*/ 577 w 75"/>
                <a:gd name="T1" fmla="*/ 692 h 137"/>
                <a:gd name="T2" fmla="*/ 1772 w 75"/>
                <a:gd name="T3" fmla="*/ 649 h 137"/>
                <a:gd name="T4" fmla="*/ 2602 w 75"/>
                <a:gd name="T5" fmla="*/ 629 h 137"/>
                <a:gd name="T6" fmla="*/ 3261 w 75"/>
                <a:gd name="T7" fmla="*/ 587 h 137"/>
                <a:gd name="T8" fmla="*/ 3722 w 75"/>
                <a:gd name="T9" fmla="*/ 543 h 137"/>
                <a:gd name="T10" fmla="*/ 4221 w 75"/>
                <a:gd name="T11" fmla="*/ 489 h 137"/>
                <a:gd name="T12" fmla="*/ 4404 w 75"/>
                <a:gd name="T13" fmla="*/ 442 h 137"/>
                <a:gd name="T14" fmla="*/ 4578 w 75"/>
                <a:gd name="T15" fmla="*/ 399 h 137"/>
                <a:gd name="T16" fmla="*/ 4665 w 75"/>
                <a:gd name="T17" fmla="*/ 351 h 137"/>
                <a:gd name="T18" fmla="*/ 4972 w 75"/>
                <a:gd name="T19" fmla="*/ 305 h 137"/>
                <a:gd name="T20" fmla="*/ 5122 w 75"/>
                <a:gd name="T21" fmla="*/ 258 h 137"/>
                <a:gd name="T22" fmla="*/ 5448 w 75"/>
                <a:gd name="T23" fmla="*/ 216 h 137"/>
                <a:gd name="T24" fmla="*/ 5738 w 75"/>
                <a:gd name="T25" fmla="*/ 184 h 137"/>
                <a:gd name="T26" fmla="*/ 6232 w 75"/>
                <a:gd name="T27" fmla="*/ 142 h 137"/>
                <a:gd name="T28" fmla="*/ 6828 w 75"/>
                <a:gd name="T29" fmla="*/ 112 h 137"/>
                <a:gd name="T30" fmla="*/ 7467 w 75"/>
                <a:gd name="T31" fmla="*/ 84 h 137"/>
                <a:gd name="T32" fmla="*/ 8558 w 75"/>
                <a:gd name="T33" fmla="*/ 62 h 137"/>
                <a:gd name="T34" fmla="*/ 7858 w 75"/>
                <a:gd name="T35" fmla="*/ 0 h 137"/>
                <a:gd name="T36" fmla="*/ 6630 w 75"/>
                <a:gd name="T37" fmla="*/ 6 h 137"/>
                <a:gd name="T38" fmla="*/ 5738 w 75"/>
                <a:gd name="T39" fmla="*/ 62 h 137"/>
                <a:gd name="T40" fmla="*/ 4972 w 75"/>
                <a:gd name="T41" fmla="*/ 106 h 137"/>
                <a:gd name="T42" fmla="*/ 4373 w 75"/>
                <a:gd name="T43" fmla="*/ 145 h 137"/>
                <a:gd name="T44" fmla="*/ 3967 w 75"/>
                <a:gd name="T45" fmla="*/ 199 h 137"/>
                <a:gd name="T46" fmla="*/ 3653 w 75"/>
                <a:gd name="T47" fmla="*/ 251 h 137"/>
                <a:gd name="T48" fmla="*/ 3489 w 75"/>
                <a:gd name="T49" fmla="*/ 294 h 137"/>
                <a:gd name="T50" fmla="*/ 3185 w 75"/>
                <a:gd name="T51" fmla="*/ 342 h 137"/>
                <a:gd name="T52" fmla="*/ 3165 w 75"/>
                <a:gd name="T53" fmla="*/ 388 h 137"/>
                <a:gd name="T54" fmla="*/ 2970 w 75"/>
                <a:gd name="T55" fmla="*/ 435 h 137"/>
                <a:gd name="T56" fmla="*/ 2784 w 75"/>
                <a:gd name="T57" fmla="*/ 470 h 137"/>
                <a:gd name="T58" fmla="*/ 2237 w 75"/>
                <a:gd name="T59" fmla="*/ 511 h 137"/>
                <a:gd name="T60" fmla="*/ 1891 w 75"/>
                <a:gd name="T61" fmla="*/ 549 h 137"/>
                <a:gd name="T62" fmla="*/ 1424 w 75"/>
                <a:gd name="T63" fmla="*/ 582 h 137"/>
                <a:gd name="T64" fmla="*/ 841 w 75"/>
                <a:gd name="T65" fmla="*/ 600 h 137"/>
                <a:gd name="T66" fmla="*/ 0 w 75"/>
                <a:gd name="T67" fmla="*/ 629 h 137"/>
                <a:gd name="T68" fmla="*/ 577 w 75"/>
                <a:gd name="T69" fmla="*/ 692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137"/>
                <a:gd name="T107" fmla="*/ 75 w 75"/>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137">
                  <a:moveTo>
                    <a:pt x="5" y="136"/>
                  </a:moveTo>
                  <a:lnTo>
                    <a:pt x="15" y="130"/>
                  </a:lnTo>
                  <a:lnTo>
                    <a:pt x="23" y="123"/>
                  </a:lnTo>
                  <a:lnTo>
                    <a:pt x="29" y="115"/>
                  </a:lnTo>
                  <a:lnTo>
                    <a:pt x="33" y="106"/>
                  </a:lnTo>
                  <a:lnTo>
                    <a:pt x="37" y="97"/>
                  </a:lnTo>
                  <a:lnTo>
                    <a:pt x="39" y="88"/>
                  </a:lnTo>
                  <a:lnTo>
                    <a:pt x="40" y="78"/>
                  </a:lnTo>
                  <a:lnTo>
                    <a:pt x="41" y="69"/>
                  </a:lnTo>
                  <a:lnTo>
                    <a:pt x="43" y="60"/>
                  </a:lnTo>
                  <a:lnTo>
                    <a:pt x="45" y="51"/>
                  </a:lnTo>
                  <a:lnTo>
                    <a:pt x="47" y="43"/>
                  </a:lnTo>
                  <a:lnTo>
                    <a:pt x="50" y="36"/>
                  </a:lnTo>
                  <a:lnTo>
                    <a:pt x="54" y="28"/>
                  </a:lnTo>
                  <a:lnTo>
                    <a:pt x="59" y="22"/>
                  </a:lnTo>
                  <a:lnTo>
                    <a:pt x="65" y="17"/>
                  </a:lnTo>
                  <a:lnTo>
                    <a:pt x="74" y="13"/>
                  </a:lnTo>
                  <a:lnTo>
                    <a:pt x="69" y="0"/>
                  </a:lnTo>
                  <a:lnTo>
                    <a:pt x="58" y="6"/>
                  </a:lnTo>
                  <a:lnTo>
                    <a:pt x="50" y="13"/>
                  </a:lnTo>
                  <a:lnTo>
                    <a:pt x="43" y="21"/>
                  </a:lnTo>
                  <a:lnTo>
                    <a:pt x="38" y="29"/>
                  </a:lnTo>
                  <a:lnTo>
                    <a:pt x="34" y="39"/>
                  </a:lnTo>
                  <a:lnTo>
                    <a:pt x="32" y="49"/>
                  </a:lnTo>
                  <a:lnTo>
                    <a:pt x="30" y="58"/>
                  </a:lnTo>
                  <a:lnTo>
                    <a:pt x="28" y="67"/>
                  </a:lnTo>
                  <a:lnTo>
                    <a:pt x="27" y="77"/>
                  </a:lnTo>
                  <a:lnTo>
                    <a:pt x="26" y="86"/>
                  </a:lnTo>
                  <a:lnTo>
                    <a:pt x="24" y="93"/>
                  </a:lnTo>
                  <a:lnTo>
                    <a:pt x="20" y="101"/>
                  </a:lnTo>
                  <a:lnTo>
                    <a:pt x="17" y="108"/>
                  </a:lnTo>
                  <a:lnTo>
                    <a:pt x="13" y="114"/>
                  </a:lnTo>
                  <a:lnTo>
                    <a:pt x="7" y="119"/>
                  </a:lnTo>
                  <a:lnTo>
                    <a:pt x="0" y="123"/>
                  </a:lnTo>
                  <a:lnTo>
                    <a:pt x="5" y="1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2" name="Freeform 280">
              <a:extLst>
                <a:ext uri="{FF2B5EF4-FFF2-40B4-BE49-F238E27FC236}">
                  <a16:creationId xmlns:a16="http://schemas.microsoft.com/office/drawing/2014/main" id="{84F6F88D-DF50-AC56-E48D-F419FC11736D}"/>
                </a:ext>
              </a:extLst>
            </p:cNvPr>
            <p:cNvSpPr>
              <a:spLocks/>
            </p:cNvSpPr>
            <p:nvPr/>
          </p:nvSpPr>
          <p:spPr bwMode="auto">
            <a:xfrm>
              <a:off x="4565" y="2549"/>
              <a:ext cx="8" cy="15"/>
            </a:xfrm>
            <a:custGeom>
              <a:avLst/>
              <a:gdLst>
                <a:gd name="T0" fmla="*/ 2069 w 6"/>
                <a:gd name="T1" fmla="*/ 54 h 14"/>
                <a:gd name="T2" fmla="*/ 873 w 6"/>
                <a:gd name="T3" fmla="*/ 6 h 14"/>
                <a:gd name="T4" fmla="*/ 0 w 6"/>
                <a:gd name="T5" fmla="*/ 0 h 14"/>
                <a:gd name="T6" fmla="*/ 2069 w 6"/>
                <a:gd name="T7" fmla="*/ 54 h 14"/>
                <a:gd name="T8" fmla="*/ 0 60000 65536"/>
                <a:gd name="T9" fmla="*/ 0 60000 65536"/>
                <a:gd name="T10" fmla="*/ 0 60000 65536"/>
                <a:gd name="T11" fmla="*/ 0 60000 65536"/>
                <a:gd name="T12" fmla="*/ 0 w 6"/>
                <a:gd name="T13" fmla="*/ 0 h 14"/>
                <a:gd name="T14" fmla="*/ 6 w 6"/>
                <a:gd name="T15" fmla="*/ 14 h 14"/>
              </a:gdLst>
              <a:ahLst/>
              <a:cxnLst>
                <a:cxn ang="T8">
                  <a:pos x="T0" y="T1"/>
                </a:cxn>
                <a:cxn ang="T9">
                  <a:pos x="T2" y="T3"/>
                </a:cxn>
                <a:cxn ang="T10">
                  <a:pos x="T4" y="T5"/>
                </a:cxn>
                <a:cxn ang="T11">
                  <a:pos x="T6" y="T7"/>
                </a:cxn>
              </a:cxnLst>
              <a:rect l="T12" t="T13" r="T14" b="T15"/>
              <a:pathLst>
                <a:path w="6" h="14">
                  <a:moveTo>
                    <a:pt x="5" y="13"/>
                  </a:moveTo>
                  <a:lnTo>
                    <a:pt x="2" y="6"/>
                  </a:lnTo>
                  <a:lnTo>
                    <a:pt x="0" y="0"/>
                  </a:lnTo>
                  <a:lnTo>
                    <a:pt x="5" y="13"/>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3" name="Freeform 281">
              <a:extLst>
                <a:ext uri="{FF2B5EF4-FFF2-40B4-BE49-F238E27FC236}">
                  <a16:creationId xmlns:a16="http://schemas.microsoft.com/office/drawing/2014/main" id="{0AA89FCE-63E7-4D0A-F970-4D26F1310769}"/>
                </a:ext>
              </a:extLst>
            </p:cNvPr>
            <p:cNvSpPr>
              <a:spLocks/>
            </p:cNvSpPr>
            <p:nvPr/>
          </p:nvSpPr>
          <p:spPr bwMode="auto">
            <a:xfrm>
              <a:off x="4376" y="2518"/>
              <a:ext cx="197" cy="51"/>
            </a:xfrm>
            <a:custGeom>
              <a:avLst/>
              <a:gdLst>
                <a:gd name="T0" fmla="*/ 597 w 157"/>
                <a:gd name="T1" fmla="*/ 62 h 48"/>
                <a:gd name="T2" fmla="*/ 1673 w 157"/>
                <a:gd name="T3" fmla="*/ 49 h 48"/>
                <a:gd name="T4" fmla="*/ 2626 w 157"/>
                <a:gd name="T5" fmla="*/ 46 h 48"/>
                <a:gd name="T6" fmla="*/ 3666 w 157"/>
                <a:gd name="T7" fmla="*/ 46 h 48"/>
                <a:gd name="T8" fmla="*/ 4443 w 157"/>
                <a:gd name="T9" fmla="*/ 52 h 48"/>
                <a:gd name="T10" fmla="*/ 5544 w 157"/>
                <a:gd name="T11" fmla="*/ 62 h 48"/>
                <a:gd name="T12" fmla="*/ 6530 w 157"/>
                <a:gd name="T13" fmla="*/ 79 h 48"/>
                <a:gd name="T14" fmla="*/ 7435 w 157"/>
                <a:gd name="T15" fmla="*/ 95 h 48"/>
                <a:gd name="T16" fmla="*/ 8570 w 157"/>
                <a:gd name="T17" fmla="*/ 107 h 48"/>
                <a:gd name="T18" fmla="*/ 9684 w 157"/>
                <a:gd name="T19" fmla="*/ 125 h 48"/>
                <a:gd name="T20" fmla="*/ 10753 w 157"/>
                <a:gd name="T21" fmla="*/ 141 h 48"/>
                <a:gd name="T22" fmla="*/ 11959 w 157"/>
                <a:gd name="T23" fmla="*/ 154 h 48"/>
                <a:gd name="T24" fmla="*/ 13207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03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4" y="14"/>
                  </a:lnTo>
                  <a:lnTo>
                    <a:pt x="22" y="13"/>
                  </a:lnTo>
                  <a:lnTo>
                    <a:pt x="31" y="13"/>
                  </a:lnTo>
                  <a:lnTo>
                    <a:pt x="38" y="15"/>
                  </a:lnTo>
                  <a:lnTo>
                    <a:pt x="47" y="18"/>
                  </a:lnTo>
                  <a:lnTo>
                    <a:pt x="56" y="22"/>
                  </a:lnTo>
                  <a:lnTo>
                    <a:pt x="64" y="26"/>
                  </a:lnTo>
                  <a:lnTo>
                    <a:pt x="73" y="30"/>
                  </a:lnTo>
                  <a:lnTo>
                    <a:pt x="83" y="35"/>
                  </a:lnTo>
                  <a:lnTo>
                    <a:pt x="92" y="39"/>
                  </a:lnTo>
                  <a:lnTo>
                    <a:pt x="102" y="42"/>
                  </a:lnTo>
                  <a:lnTo>
                    <a:pt x="112" y="46"/>
                  </a:lnTo>
                  <a:lnTo>
                    <a:pt x="123" y="47"/>
                  </a:lnTo>
                  <a:lnTo>
                    <a:pt x="134" y="47"/>
                  </a:lnTo>
                  <a:lnTo>
                    <a:pt x="145" y="46"/>
                  </a:lnTo>
                  <a:lnTo>
                    <a:pt x="156" y="42"/>
                  </a:lnTo>
                  <a:lnTo>
                    <a:pt x="151" y="29"/>
                  </a:lnTo>
                  <a:lnTo>
                    <a:pt x="141" y="33"/>
                  </a:lnTo>
                  <a:lnTo>
                    <a:pt x="133" y="34"/>
                  </a:lnTo>
                  <a:lnTo>
                    <a:pt x="124" y="34"/>
                  </a:lnTo>
                  <a:lnTo>
                    <a:pt x="115" y="33"/>
                  </a:lnTo>
                  <a:lnTo>
                    <a:pt x="106" y="29"/>
                  </a:lnTo>
                  <a:lnTo>
                    <a:pt x="97"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4" name="Freeform 282">
              <a:extLst>
                <a:ext uri="{FF2B5EF4-FFF2-40B4-BE49-F238E27FC236}">
                  <a16:creationId xmlns:a16="http://schemas.microsoft.com/office/drawing/2014/main" id="{3DDC1A71-E53E-4548-0520-BD3A35A1D4A8}"/>
                </a:ext>
              </a:extLst>
            </p:cNvPr>
            <p:cNvSpPr>
              <a:spLocks/>
            </p:cNvSpPr>
            <p:nvPr/>
          </p:nvSpPr>
          <p:spPr bwMode="auto">
            <a:xfrm>
              <a:off x="4296" y="2523"/>
              <a:ext cx="88" cy="146"/>
            </a:xfrm>
            <a:custGeom>
              <a:avLst/>
              <a:gdLst>
                <a:gd name="T0" fmla="*/ 612 w 70"/>
                <a:gd name="T1" fmla="*/ 699 h 135"/>
                <a:gd name="T2" fmla="*/ 1837 w 70"/>
                <a:gd name="T3" fmla="*/ 661 h 135"/>
                <a:gd name="T4" fmla="*/ 2903 w 70"/>
                <a:gd name="T5" fmla="*/ 636 h 135"/>
                <a:gd name="T6" fmla="*/ 3649 w 70"/>
                <a:gd name="T7" fmla="*/ 590 h 135"/>
                <a:gd name="T8" fmla="*/ 4242 w 70"/>
                <a:gd name="T9" fmla="*/ 544 h 135"/>
                <a:gd name="T10" fmla="*/ 4587 w 70"/>
                <a:gd name="T11" fmla="*/ 490 h 135"/>
                <a:gd name="T12" fmla="*/ 4807 w 70"/>
                <a:gd name="T13" fmla="*/ 437 h 135"/>
                <a:gd name="T14" fmla="*/ 5021 w 70"/>
                <a:gd name="T15" fmla="*/ 398 h 135"/>
                <a:gd name="T16" fmla="*/ 5265 w 70"/>
                <a:gd name="T17" fmla="*/ 345 h 135"/>
                <a:gd name="T18" fmla="*/ 5265 w 70"/>
                <a:gd name="T19" fmla="*/ 304 h 135"/>
                <a:gd name="T20" fmla="*/ 5333 w 70"/>
                <a:gd name="T21" fmla="*/ 260 h 135"/>
                <a:gd name="T22" fmla="*/ 5680 w 70"/>
                <a:gd name="T23" fmla="*/ 214 h 135"/>
                <a:gd name="T24" fmla="*/ 6034 w 70"/>
                <a:gd name="T25" fmla="*/ 177 h 135"/>
                <a:gd name="T26" fmla="*/ 6312 w 70"/>
                <a:gd name="T27" fmla="*/ 141 h 135"/>
                <a:gd name="T28" fmla="*/ 6836 w 70"/>
                <a:gd name="T29" fmla="*/ 114 h 135"/>
                <a:gd name="T30" fmla="*/ 7586 w 70"/>
                <a:gd name="T31" fmla="*/ 88 h 135"/>
                <a:gd name="T32" fmla="*/ 8428 w 70"/>
                <a:gd name="T33" fmla="*/ 64 h 135"/>
                <a:gd name="T34" fmla="*/ 7836 w 70"/>
                <a:gd name="T35" fmla="*/ 0 h 135"/>
                <a:gd name="T36" fmla="*/ 6619 w 70"/>
                <a:gd name="T37" fmla="*/ 6 h 135"/>
                <a:gd name="T38" fmla="*/ 5680 w 70"/>
                <a:gd name="T39" fmla="*/ 64 h 135"/>
                <a:gd name="T40" fmla="*/ 5021 w 70"/>
                <a:gd name="T41" fmla="*/ 111 h 135"/>
                <a:gd name="T42" fmla="*/ 4420 w 70"/>
                <a:gd name="T43" fmla="*/ 152 h 135"/>
                <a:gd name="T44" fmla="*/ 3994 w 70"/>
                <a:gd name="T45" fmla="*/ 191 h 135"/>
                <a:gd name="T46" fmla="*/ 3818 w 70"/>
                <a:gd name="T47" fmla="*/ 242 h 135"/>
                <a:gd name="T48" fmla="*/ 3649 w 70"/>
                <a:gd name="T49" fmla="*/ 292 h 135"/>
                <a:gd name="T50" fmla="*/ 3649 w 70"/>
                <a:gd name="T51" fmla="*/ 340 h 135"/>
                <a:gd name="T52" fmla="*/ 3374 w 70"/>
                <a:gd name="T53" fmla="*/ 385 h 135"/>
                <a:gd name="T54" fmla="*/ 3331 w 70"/>
                <a:gd name="T55" fmla="*/ 433 h 135"/>
                <a:gd name="T56" fmla="*/ 3037 w 70"/>
                <a:gd name="T57" fmla="*/ 472 h 135"/>
                <a:gd name="T58" fmla="*/ 2684 w 70"/>
                <a:gd name="T59" fmla="*/ 510 h 135"/>
                <a:gd name="T60" fmla="*/ 2225 w 70"/>
                <a:gd name="T61" fmla="*/ 547 h 135"/>
                <a:gd name="T62" fmla="*/ 1770 w 70"/>
                <a:gd name="T63" fmla="*/ 573 h 135"/>
                <a:gd name="T64" fmla="*/ 891 w 70"/>
                <a:gd name="T65" fmla="*/ 602 h 135"/>
                <a:gd name="T66" fmla="*/ 0 w 70"/>
                <a:gd name="T67" fmla="*/ 636 h 135"/>
                <a:gd name="T68" fmla="*/ 612 w 70"/>
                <a:gd name="T69" fmla="*/ 699 h 1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0"/>
                <a:gd name="T106" fmla="*/ 0 h 135"/>
                <a:gd name="T107" fmla="*/ 70 w 70"/>
                <a:gd name="T108" fmla="*/ 135 h 1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0" h="135">
                  <a:moveTo>
                    <a:pt x="5" y="134"/>
                  </a:moveTo>
                  <a:lnTo>
                    <a:pt x="15" y="128"/>
                  </a:lnTo>
                  <a:lnTo>
                    <a:pt x="24" y="121"/>
                  </a:lnTo>
                  <a:lnTo>
                    <a:pt x="30" y="113"/>
                  </a:lnTo>
                  <a:lnTo>
                    <a:pt x="35" y="104"/>
                  </a:lnTo>
                  <a:lnTo>
                    <a:pt x="38" y="95"/>
                  </a:lnTo>
                  <a:lnTo>
                    <a:pt x="40" y="85"/>
                  </a:lnTo>
                  <a:lnTo>
                    <a:pt x="41" y="76"/>
                  </a:lnTo>
                  <a:lnTo>
                    <a:pt x="43" y="67"/>
                  </a:lnTo>
                  <a:lnTo>
                    <a:pt x="43" y="58"/>
                  </a:lnTo>
                  <a:lnTo>
                    <a:pt x="44" y="50"/>
                  </a:lnTo>
                  <a:lnTo>
                    <a:pt x="46" y="41"/>
                  </a:lnTo>
                  <a:lnTo>
                    <a:pt x="49" y="34"/>
                  </a:lnTo>
                  <a:lnTo>
                    <a:pt x="52" y="27"/>
                  </a:lnTo>
                  <a:lnTo>
                    <a:pt x="56" y="22"/>
                  </a:lnTo>
                  <a:lnTo>
                    <a:pt x="62" y="17"/>
                  </a:lnTo>
                  <a:lnTo>
                    <a:pt x="69" y="13"/>
                  </a:lnTo>
                  <a:lnTo>
                    <a:pt x="64" y="0"/>
                  </a:lnTo>
                  <a:lnTo>
                    <a:pt x="54" y="6"/>
                  </a:lnTo>
                  <a:lnTo>
                    <a:pt x="46" y="13"/>
                  </a:lnTo>
                  <a:lnTo>
                    <a:pt x="41" y="21"/>
                  </a:lnTo>
                  <a:lnTo>
                    <a:pt x="36" y="29"/>
                  </a:lnTo>
                  <a:lnTo>
                    <a:pt x="33" y="37"/>
                  </a:lnTo>
                  <a:lnTo>
                    <a:pt x="31" y="47"/>
                  </a:lnTo>
                  <a:lnTo>
                    <a:pt x="30" y="56"/>
                  </a:lnTo>
                  <a:lnTo>
                    <a:pt x="30" y="65"/>
                  </a:lnTo>
                  <a:lnTo>
                    <a:pt x="28" y="74"/>
                  </a:lnTo>
                  <a:lnTo>
                    <a:pt x="27" y="83"/>
                  </a:lnTo>
                  <a:lnTo>
                    <a:pt x="25" y="91"/>
                  </a:lnTo>
                  <a:lnTo>
                    <a:pt x="22" y="98"/>
                  </a:lnTo>
                  <a:lnTo>
                    <a:pt x="18" y="105"/>
                  </a:lnTo>
                  <a:lnTo>
                    <a:pt x="14" y="111"/>
                  </a:lnTo>
                  <a:lnTo>
                    <a:pt x="7" y="117"/>
                  </a:lnTo>
                  <a:lnTo>
                    <a:pt x="0" y="121"/>
                  </a:lnTo>
                  <a:lnTo>
                    <a:pt x="5" y="134"/>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5" name="Freeform 283">
              <a:extLst>
                <a:ext uri="{FF2B5EF4-FFF2-40B4-BE49-F238E27FC236}">
                  <a16:creationId xmlns:a16="http://schemas.microsoft.com/office/drawing/2014/main" id="{83E45094-DFD0-2886-98AA-4BB4F79991E6}"/>
                </a:ext>
              </a:extLst>
            </p:cNvPr>
            <p:cNvSpPr>
              <a:spLocks/>
            </p:cNvSpPr>
            <p:nvPr/>
          </p:nvSpPr>
          <p:spPr bwMode="auto">
            <a:xfrm>
              <a:off x="4107" y="2624"/>
              <a:ext cx="197" cy="51"/>
            </a:xfrm>
            <a:custGeom>
              <a:avLst/>
              <a:gdLst>
                <a:gd name="T0" fmla="*/ 597 w 157"/>
                <a:gd name="T1" fmla="*/ 62 h 48"/>
                <a:gd name="T2" fmla="*/ 1479 w 157"/>
                <a:gd name="T3" fmla="*/ 49 h 48"/>
                <a:gd name="T4" fmla="*/ 2626 w 157"/>
                <a:gd name="T5" fmla="*/ 46 h 48"/>
                <a:gd name="T6" fmla="*/ 3541 w 157"/>
                <a:gd name="T7" fmla="*/ 46 h 48"/>
                <a:gd name="T8" fmla="*/ 4443 w 157"/>
                <a:gd name="T9" fmla="*/ 52 h 48"/>
                <a:gd name="T10" fmla="*/ 5544 w 157"/>
                <a:gd name="T11" fmla="*/ 62 h 48"/>
                <a:gd name="T12" fmla="*/ 6530 w 157"/>
                <a:gd name="T13" fmla="*/ 79 h 48"/>
                <a:gd name="T14" fmla="*/ 7435 w 157"/>
                <a:gd name="T15" fmla="*/ 92 h 48"/>
                <a:gd name="T16" fmla="*/ 8570 w 157"/>
                <a:gd name="T17" fmla="*/ 107 h 48"/>
                <a:gd name="T18" fmla="*/ 9684 w 157"/>
                <a:gd name="T19" fmla="*/ 125 h 48"/>
                <a:gd name="T20" fmla="*/ 10952 w 157"/>
                <a:gd name="T21" fmla="*/ 141 h 48"/>
                <a:gd name="T22" fmla="*/ 11959 w 157"/>
                <a:gd name="T23" fmla="*/ 154 h 48"/>
                <a:gd name="T24" fmla="*/ 13258 w 157"/>
                <a:gd name="T25" fmla="*/ 165 h 48"/>
                <a:gd name="T26" fmla="*/ 14399 w 157"/>
                <a:gd name="T27" fmla="*/ 166 h 48"/>
                <a:gd name="T28" fmla="*/ 15789 w 157"/>
                <a:gd name="T29" fmla="*/ 166 h 48"/>
                <a:gd name="T30" fmla="*/ 17015 w 157"/>
                <a:gd name="T31" fmla="*/ 165 h 48"/>
                <a:gd name="T32" fmla="*/ 18396 w 157"/>
                <a:gd name="T33" fmla="*/ 154 h 48"/>
                <a:gd name="T34" fmla="*/ 17681 w 157"/>
                <a:gd name="T35" fmla="*/ 104 h 48"/>
                <a:gd name="T36" fmla="*/ 16572 w 157"/>
                <a:gd name="T37" fmla="*/ 118 h 48"/>
                <a:gd name="T38" fmla="*/ 15685 w 157"/>
                <a:gd name="T39" fmla="*/ 121 h 48"/>
                <a:gd name="T40" fmla="*/ 14661 w 157"/>
                <a:gd name="T41" fmla="*/ 121 h 48"/>
                <a:gd name="T42" fmla="*/ 13493 w 157"/>
                <a:gd name="T43" fmla="*/ 118 h 48"/>
                <a:gd name="T44" fmla="*/ 12500 w 157"/>
                <a:gd name="T45" fmla="*/ 104 h 48"/>
                <a:gd name="T46" fmla="*/ 11475 w 157"/>
                <a:gd name="T47" fmla="*/ 95 h 48"/>
                <a:gd name="T48" fmla="*/ 10282 w 157"/>
                <a:gd name="T49" fmla="*/ 79 h 48"/>
                <a:gd name="T50" fmla="*/ 9329 w 157"/>
                <a:gd name="T51" fmla="*/ 62 h 48"/>
                <a:gd name="T52" fmla="*/ 8388 w 157"/>
                <a:gd name="T53" fmla="*/ 49 h 48"/>
                <a:gd name="T54" fmla="*/ 7243 w 157"/>
                <a:gd name="T55" fmla="*/ 36 h 48"/>
                <a:gd name="T56" fmla="*/ 6117 w 157"/>
                <a:gd name="T57" fmla="*/ 5 h 48"/>
                <a:gd name="T58" fmla="*/ 4973 w 157"/>
                <a:gd name="T59" fmla="*/ 2 h 48"/>
                <a:gd name="T60" fmla="*/ 3756 w 157"/>
                <a:gd name="T61" fmla="*/ 0 h 48"/>
                <a:gd name="T62" fmla="*/ 2390 w 157"/>
                <a:gd name="T63" fmla="*/ 0 h 48"/>
                <a:gd name="T64" fmla="*/ 1333 w 157"/>
                <a:gd name="T65" fmla="*/ 1 h 48"/>
                <a:gd name="T66" fmla="*/ 0 w 157"/>
                <a:gd name="T67" fmla="*/ 5 h 48"/>
                <a:gd name="T68" fmla="*/ 597 w 157"/>
                <a:gd name="T69" fmla="*/ 62 h 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7"/>
                <a:gd name="T106" fmla="*/ 0 h 48"/>
                <a:gd name="T107" fmla="*/ 157 w 157"/>
                <a:gd name="T108" fmla="*/ 48 h 4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7" h="48">
                  <a:moveTo>
                    <a:pt x="5" y="18"/>
                  </a:moveTo>
                  <a:lnTo>
                    <a:pt x="13" y="14"/>
                  </a:lnTo>
                  <a:lnTo>
                    <a:pt x="22" y="13"/>
                  </a:lnTo>
                  <a:lnTo>
                    <a:pt x="30" y="13"/>
                  </a:lnTo>
                  <a:lnTo>
                    <a:pt x="38" y="15"/>
                  </a:lnTo>
                  <a:lnTo>
                    <a:pt x="47" y="18"/>
                  </a:lnTo>
                  <a:lnTo>
                    <a:pt x="56" y="22"/>
                  </a:lnTo>
                  <a:lnTo>
                    <a:pt x="64" y="25"/>
                  </a:lnTo>
                  <a:lnTo>
                    <a:pt x="73" y="30"/>
                  </a:lnTo>
                  <a:lnTo>
                    <a:pt x="83" y="35"/>
                  </a:lnTo>
                  <a:lnTo>
                    <a:pt x="93" y="39"/>
                  </a:lnTo>
                  <a:lnTo>
                    <a:pt x="102" y="42"/>
                  </a:lnTo>
                  <a:lnTo>
                    <a:pt x="113" y="46"/>
                  </a:lnTo>
                  <a:lnTo>
                    <a:pt x="123" y="47"/>
                  </a:lnTo>
                  <a:lnTo>
                    <a:pt x="134" y="47"/>
                  </a:lnTo>
                  <a:lnTo>
                    <a:pt x="145" y="46"/>
                  </a:lnTo>
                  <a:lnTo>
                    <a:pt x="156" y="42"/>
                  </a:lnTo>
                  <a:lnTo>
                    <a:pt x="151" y="29"/>
                  </a:lnTo>
                  <a:lnTo>
                    <a:pt x="141" y="33"/>
                  </a:lnTo>
                  <a:lnTo>
                    <a:pt x="133" y="34"/>
                  </a:lnTo>
                  <a:lnTo>
                    <a:pt x="124" y="34"/>
                  </a:lnTo>
                  <a:lnTo>
                    <a:pt x="115" y="33"/>
                  </a:lnTo>
                  <a:lnTo>
                    <a:pt x="106" y="29"/>
                  </a:lnTo>
                  <a:lnTo>
                    <a:pt x="98" y="26"/>
                  </a:lnTo>
                  <a:lnTo>
                    <a:pt x="88" y="22"/>
                  </a:lnTo>
                  <a:lnTo>
                    <a:pt x="80" y="18"/>
                  </a:lnTo>
                  <a:lnTo>
                    <a:pt x="71" y="14"/>
                  </a:lnTo>
                  <a:lnTo>
                    <a:pt x="61" y="9"/>
                  </a:lnTo>
                  <a:lnTo>
                    <a:pt x="52" y="5"/>
                  </a:lnTo>
                  <a:lnTo>
                    <a:pt x="42" y="2"/>
                  </a:lnTo>
                  <a:lnTo>
                    <a:pt x="32" y="0"/>
                  </a:lnTo>
                  <a:lnTo>
                    <a:pt x="21" y="0"/>
                  </a:lnTo>
                  <a:lnTo>
                    <a:pt x="11" y="1"/>
                  </a:lnTo>
                  <a:lnTo>
                    <a:pt x="0" y="5"/>
                  </a:lnTo>
                  <a:lnTo>
                    <a:pt x="5" y="1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6" name="Freeform 284">
              <a:extLst>
                <a:ext uri="{FF2B5EF4-FFF2-40B4-BE49-F238E27FC236}">
                  <a16:creationId xmlns:a16="http://schemas.microsoft.com/office/drawing/2014/main" id="{B7A8C2AB-5597-6809-BC1F-409B2E05EAAB}"/>
                </a:ext>
              </a:extLst>
            </p:cNvPr>
            <p:cNvSpPr>
              <a:spLocks/>
            </p:cNvSpPr>
            <p:nvPr/>
          </p:nvSpPr>
          <p:spPr bwMode="auto">
            <a:xfrm>
              <a:off x="4039" y="2628"/>
              <a:ext cx="76" cy="141"/>
            </a:xfrm>
            <a:custGeom>
              <a:avLst/>
              <a:gdLst>
                <a:gd name="T0" fmla="*/ 1023 w 60"/>
                <a:gd name="T1" fmla="*/ 601 h 131"/>
                <a:gd name="T2" fmla="*/ 889 w 60"/>
                <a:gd name="T3" fmla="*/ 609 h 131"/>
                <a:gd name="T4" fmla="*/ 2080 w 60"/>
                <a:gd name="T5" fmla="*/ 590 h 131"/>
                <a:gd name="T6" fmla="*/ 2986 w 60"/>
                <a:gd name="T7" fmla="*/ 550 h 131"/>
                <a:gd name="T8" fmla="*/ 3671 w 60"/>
                <a:gd name="T9" fmla="*/ 517 h 131"/>
                <a:gd name="T10" fmla="*/ 3947 w 60"/>
                <a:gd name="T11" fmla="*/ 480 h 131"/>
                <a:gd name="T12" fmla="*/ 4303 w 60"/>
                <a:gd name="T13" fmla="*/ 440 h 131"/>
                <a:gd name="T14" fmla="*/ 4399 w 60"/>
                <a:gd name="T15" fmla="*/ 408 h 131"/>
                <a:gd name="T16" fmla="*/ 4650 w 60"/>
                <a:gd name="T17" fmla="*/ 358 h 131"/>
                <a:gd name="T18" fmla="*/ 4650 w 60"/>
                <a:gd name="T19" fmla="*/ 321 h 131"/>
                <a:gd name="T20" fmla="*/ 4751 w 60"/>
                <a:gd name="T21" fmla="*/ 282 h 131"/>
                <a:gd name="T22" fmla="*/ 4791 w 60"/>
                <a:gd name="T23" fmla="*/ 230 h 131"/>
                <a:gd name="T24" fmla="*/ 5114 w 60"/>
                <a:gd name="T25" fmla="*/ 196 h 131"/>
                <a:gd name="T26" fmla="*/ 5450 w 60"/>
                <a:gd name="T27" fmla="*/ 168 h 131"/>
                <a:gd name="T28" fmla="*/ 5890 w 60"/>
                <a:gd name="T29" fmla="*/ 128 h 131"/>
                <a:gd name="T30" fmla="*/ 6400 w 60"/>
                <a:gd name="T31" fmla="*/ 103 h 131"/>
                <a:gd name="T32" fmla="*/ 7461 w 60"/>
                <a:gd name="T33" fmla="*/ 83 h 131"/>
                <a:gd name="T34" fmla="*/ 8440 w 60"/>
                <a:gd name="T35" fmla="*/ 58 h 131"/>
                <a:gd name="T36" fmla="*/ 7687 w 60"/>
                <a:gd name="T37" fmla="*/ 0 h 131"/>
                <a:gd name="T38" fmla="*/ 6333 w 60"/>
                <a:gd name="T39" fmla="*/ 6 h 131"/>
                <a:gd name="T40" fmla="*/ 5114 w 60"/>
                <a:gd name="T41" fmla="*/ 58 h 131"/>
                <a:gd name="T42" fmla="*/ 4303 w 60"/>
                <a:gd name="T43" fmla="*/ 96 h 131"/>
                <a:gd name="T44" fmla="*/ 3671 w 60"/>
                <a:gd name="T45" fmla="*/ 136 h 131"/>
                <a:gd name="T46" fmla="*/ 3338 w 60"/>
                <a:gd name="T47" fmla="*/ 182 h 131"/>
                <a:gd name="T48" fmla="*/ 2986 w 60"/>
                <a:gd name="T49" fmla="*/ 227 h 131"/>
                <a:gd name="T50" fmla="*/ 2898 w 60"/>
                <a:gd name="T51" fmla="*/ 264 h 131"/>
                <a:gd name="T52" fmla="*/ 2682 w 60"/>
                <a:gd name="T53" fmla="*/ 306 h 131"/>
                <a:gd name="T54" fmla="*/ 2682 w 60"/>
                <a:gd name="T55" fmla="*/ 353 h 131"/>
                <a:gd name="T56" fmla="*/ 2635 w 60"/>
                <a:gd name="T57" fmla="*/ 392 h 131"/>
                <a:gd name="T58" fmla="*/ 2460 w 60"/>
                <a:gd name="T59" fmla="*/ 435 h 131"/>
                <a:gd name="T60" fmla="*/ 2117 w 60"/>
                <a:gd name="T61" fmla="*/ 468 h 131"/>
                <a:gd name="T62" fmla="*/ 1806 w 60"/>
                <a:gd name="T63" fmla="*/ 499 h 131"/>
                <a:gd name="T64" fmla="*/ 1426 w 60"/>
                <a:gd name="T65" fmla="*/ 511 h 131"/>
                <a:gd name="T66" fmla="*/ 889 w 60"/>
                <a:gd name="T67" fmla="*/ 538 h 131"/>
                <a:gd name="T68" fmla="*/ 1 w 60"/>
                <a:gd name="T69" fmla="*/ 549 h 131"/>
                <a:gd name="T70" fmla="*/ 0 w 60"/>
                <a:gd name="T71" fmla="*/ 550 h 131"/>
                <a:gd name="T72" fmla="*/ 1 w 60"/>
                <a:gd name="T73" fmla="*/ 549 h 131"/>
                <a:gd name="T74" fmla="*/ 1 w 60"/>
                <a:gd name="T75" fmla="*/ 550 h 131"/>
                <a:gd name="T76" fmla="*/ 0 w 60"/>
                <a:gd name="T77" fmla="*/ 550 h 131"/>
                <a:gd name="T78" fmla="*/ 1023 w 60"/>
                <a:gd name="T79" fmla="*/ 601 h 1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0"/>
                <a:gd name="T121" fmla="*/ 0 h 131"/>
                <a:gd name="T122" fmla="*/ 60 w 60"/>
                <a:gd name="T123" fmla="*/ 131 h 1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0" h="131">
                  <a:moveTo>
                    <a:pt x="7" y="129"/>
                  </a:moveTo>
                  <a:lnTo>
                    <a:pt x="6" y="130"/>
                  </a:lnTo>
                  <a:lnTo>
                    <a:pt x="14" y="125"/>
                  </a:lnTo>
                  <a:lnTo>
                    <a:pt x="21" y="118"/>
                  </a:lnTo>
                  <a:lnTo>
                    <a:pt x="25" y="111"/>
                  </a:lnTo>
                  <a:lnTo>
                    <a:pt x="28" y="103"/>
                  </a:lnTo>
                  <a:lnTo>
                    <a:pt x="30" y="94"/>
                  </a:lnTo>
                  <a:lnTo>
                    <a:pt x="31" y="86"/>
                  </a:lnTo>
                  <a:lnTo>
                    <a:pt x="32" y="77"/>
                  </a:lnTo>
                  <a:lnTo>
                    <a:pt x="32" y="68"/>
                  </a:lnTo>
                  <a:lnTo>
                    <a:pt x="33" y="59"/>
                  </a:lnTo>
                  <a:lnTo>
                    <a:pt x="34" y="50"/>
                  </a:lnTo>
                  <a:lnTo>
                    <a:pt x="36" y="42"/>
                  </a:lnTo>
                  <a:lnTo>
                    <a:pt x="38" y="35"/>
                  </a:lnTo>
                  <a:lnTo>
                    <a:pt x="41" y="28"/>
                  </a:lnTo>
                  <a:lnTo>
                    <a:pt x="45" y="22"/>
                  </a:lnTo>
                  <a:lnTo>
                    <a:pt x="52" y="18"/>
                  </a:lnTo>
                  <a:lnTo>
                    <a:pt x="59" y="13"/>
                  </a:lnTo>
                  <a:lnTo>
                    <a:pt x="54" y="0"/>
                  </a:lnTo>
                  <a:lnTo>
                    <a:pt x="44" y="6"/>
                  </a:lnTo>
                  <a:lnTo>
                    <a:pt x="36" y="13"/>
                  </a:lnTo>
                  <a:lnTo>
                    <a:pt x="30" y="20"/>
                  </a:lnTo>
                  <a:lnTo>
                    <a:pt x="25" y="29"/>
                  </a:lnTo>
                  <a:lnTo>
                    <a:pt x="23" y="39"/>
                  </a:lnTo>
                  <a:lnTo>
                    <a:pt x="21" y="48"/>
                  </a:lnTo>
                  <a:lnTo>
                    <a:pt x="20" y="57"/>
                  </a:lnTo>
                  <a:lnTo>
                    <a:pt x="19" y="66"/>
                  </a:lnTo>
                  <a:lnTo>
                    <a:pt x="19" y="75"/>
                  </a:lnTo>
                  <a:lnTo>
                    <a:pt x="18" y="84"/>
                  </a:lnTo>
                  <a:lnTo>
                    <a:pt x="17" y="92"/>
                  </a:lnTo>
                  <a:lnTo>
                    <a:pt x="15" y="99"/>
                  </a:lnTo>
                  <a:lnTo>
                    <a:pt x="13" y="105"/>
                  </a:lnTo>
                  <a:lnTo>
                    <a:pt x="10" y="110"/>
                  </a:lnTo>
                  <a:lnTo>
                    <a:pt x="6" y="114"/>
                  </a:lnTo>
                  <a:lnTo>
                    <a:pt x="1" y="117"/>
                  </a:lnTo>
                  <a:lnTo>
                    <a:pt x="0" y="118"/>
                  </a:lnTo>
                  <a:lnTo>
                    <a:pt x="1" y="117"/>
                  </a:lnTo>
                  <a:lnTo>
                    <a:pt x="1" y="118"/>
                  </a:lnTo>
                  <a:lnTo>
                    <a:pt x="0" y="118"/>
                  </a:lnTo>
                  <a:lnTo>
                    <a:pt x="7" y="129"/>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7" name="Freeform 285">
              <a:extLst>
                <a:ext uri="{FF2B5EF4-FFF2-40B4-BE49-F238E27FC236}">
                  <a16:creationId xmlns:a16="http://schemas.microsoft.com/office/drawing/2014/main" id="{BC242605-24F1-9780-93BD-ABDE726BE96E}"/>
                </a:ext>
              </a:extLst>
            </p:cNvPr>
            <p:cNvSpPr>
              <a:spLocks/>
            </p:cNvSpPr>
            <p:nvPr/>
          </p:nvSpPr>
          <p:spPr bwMode="auto">
            <a:xfrm>
              <a:off x="4034" y="2754"/>
              <a:ext cx="15" cy="17"/>
            </a:xfrm>
            <a:custGeom>
              <a:avLst/>
              <a:gdLst>
                <a:gd name="T0" fmla="*/ 364 w 12"/>
                <a:gd name="T1" fmla="*/ 100 h 15"/>
                <a:gd name="T2" fmla="*/ 744 w 12"/>
                <a:gd name="T3" fmla="*/ 186 h 15"/>
                <a:gd name="T4" fmla="*/ 1163 w 12"/>
                <a:gd name="T5" fmla="*/ 164 h 15"/>
                <a:gd name="T6" fmla="*/ 455 w 12"/>
                <a:gd name="T7" fmla="*/ 0 h 15"/>
                <a:gd name="T8" fmla="*/ 0 w 12"/>
                <a:gd name="T9" fmla="*/ 2 h 15"/>
                <a:gd name="T10" fmla="*/ 364 w 12"/>
                <a:gd name="T11" fmla="*/ 100 h 15"/>
                <a:gd name="T12" fmla="*/ 0 60000 65536"/>
                <a:gd name="T13" fmla="*/ 0 60000 65536"/>
                <a:gd name="T14" fmla="*/ 0 60000 65536"/>
                <a:gd name="T15" fmla="*/ 0 60000 65536"/>
                <a:gd name="T16" fmla="*/ 0 60000 65536"/>
                <a:gd name="T17" fmla="*/ 0 60000 65536"/>
                <a:gd name="T18" fmla="*/ 0 w 12"/>
                <a:gd name="T19" fmla="*/ 0 h 15"/>
                <a:gd name="T20" fmla="*/ 12 w 12"/>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2" h="15">
                  <a:moveTo>
                    <a:pt x="3" y="8"/>
                  </a:moveTo>
                  <a:lnTo>
                    <a:pt x="7" y="14"/>
                  </a:lnTo>
                  <a:lnTo>
                    <a:pt x="11" y="12"/>
                  </a:lnTo>
                  <a:lnTo>
                    <a:pt x="4" y="0"/>
                  </a:lnTo>
                  <a:lnTo>
                    <a:pt x="0" y="2"/>
                  </a:lnTo>
                  <a:lnTo>
                    <a:pt x="3" y="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8" name="Freeform 286">
              <a:extLst>
                <a:ext uri="{FF2B5EF4-FFF2-40B4-BE49-F238E27FC236}">
                  <a16:creationId xmlns:a16="http://schemas.microsoft.com/office/drawing/2014/main" id="{19EC78EB-6825-6B5E-0EC4-AECD90212369}"/>
                </a:ext>
              </a:extLst>
            </p:cNvPr>
            <p:cNvSpPr>
              <a:spLocks/>
            </p:cNvSpPr>
            <p:nvPr/>
          </p:nvSpPr>
          <p:spPr bwMode="auto">
            <a:xfrm>
              <a:off x="4755" y="2386"/>
              <a:ext cx="152" cy="79"/>
            </a:xfrm>
            <a:custGeom>
              <a:avLst/>
              <a:gdLst>
                <a:gd name="T0" fmla="*/ 3418 w 122"/>
                <a:gd name="T1" fmla="*/ 187 h 73"/>
                <a:gd name="T2" fmla="*/ 0 w 122"/>
                <a:gd name="T3" fmla="*/ 89 h 73"/>
                <a:gd name="T4" fmla="*/ 1 w 122"/>
                <a:gd name="T5" fmla="*/ 82 h 73"/>
                <a:gd name="T6" fmla="*/ 6299 w 122"/>
                <a:gd name="T7" fmla="*/ 60 h 73"/>
                <a:gd name="T8" fmla="*/ 6961 w 122"/>
                <a:gd name="T9" fmla="*/ 51 h 73"/>
                <a:gd name="T10" fmla="*/ 7848 w 122"/>
                <a:gd name="T11" fmla="*/ 43 h 73"/>
                <a:gd name="T12" fmla="*/ 8505 w 122"/>
                <a:gd name="T13" fmla="*/ 40 h 73"/>
                <a:gd name="T14" fmla="*/ 9349 w 122"/>
                <a:gd name="T15" fmla="*/ 6 h 73"/>
                <a:gd name="T16" fmla="*/ 10006 w 122"/>
                <a:gd name="T17" fmla="*/ 4 h 73"/>
                <a:gd name="T18" fmla="*/ 10650 w 122"/>
                <a:gd name="T19" fmla="*/ 3 h 73"/>
                <a:gd name="T20" fmla="*/ 11553 w 122"/>
                <a:gd name="T21" fmla="*/ 1 h 73"/>
                <a:gd name="T22" fmla="*/ 12285 w 122"/>
                <a:gd name="T23" fmla="*/ 0 h 73"/>
                <a:gd name="T24" fmla="*/ 11829 w 122"/>
                <a:gd name="T25" fmla="*/ 4 h 73"/>
                <a:gd name="T26" fmla="*/ 11112 w 122"/>
                <a:gd name="T27" fmla="*/ 43 h 73"/>
                <a:gd name="T28" fmla="*/ 10584 w 122"/>
                <a:gd name="T29" fmla="*/ 60 h 73"/>
                <a:gd name="T30" fmla="*/ 9860 w 122"/>
                <a:gd name="T31" fmla="*/ 82 h 73"/>
                <a:gd name="T32" fmla="*/ 9349 w 122"/>
                <a:gd name="T33" fmla="*/ 105 h 73"/>
                <a:gd name="T34" fmla="*/ 8673 w 122"/>
                <a:gd name="T35" fmla="*/ 123 h 73"/>
                <a:gd name="T36" fmla="*/ 7935 w 122"/>
                <a:gd name="T37" fmla="*/ 155 h 73"/>
                <a:gd name="T38" fmla="*/ 7391 w 122"/>
                <a:gd name="T39" fmla="*/ 169 h 73"/>
                <a:gd name="T40" fmla="*/ 3257 w 122"/>
                <a:gd name="T41" fmla="*/ 373 h 73"/>
                <a:gd name="T42" fmla="*/ 2971 w 122"/>
                <a:gd name="T43" fmla="*/ 373 h 73"/>
                <a:gd name="T44" fmla="*/ 3418 w 122"/>
                <a:gd name="T45" fmla="*/ 187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2"/>
                <a:gd name="T70" fmla="*/ 0 h 73"/>
                <a:gd name="T71" fmla="*/ 122 w 122"/>
                <a:gd name="T72" fmla="*/ 73 h 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2" h="73">
                  <a:moveTo>
                    <a:pt x="34" y="36"/>
                  </a:moveTo>
                  <a:lnTo>
                    <a:pt x="0" y="17"/>
                  </a:lnTo>
                  <a:lnTo>
                    <a:pt x="1" y="16"/>
                  </a:lnTo>
                  <a:lnTo>
                    <a:pt x="62" y="12"/>
                  </a:lnTo>
                  <a:lnTo>
                    <a:pt x="69" y="10"/>
                  </a:lnTo>
                  <a:lnTo>
                    <a:pt x="77" y="8"/>
                  </a:lnTo>
                  <a:lnTo>
                    <a:pt x="84" y="7"/>
                  </a:lnTo>
                  <a:lnTo>
                    <a:pt x="92" y="6"/>
                  </a:lnTo>
                  <a:lnTo>
                    <a:pt x="99" y="4"/>
                  </a:lnTo>
                  <a:lnTo>
                    <a:pt x="106" y="3"/>
                  </a:lnTo>
                  <a:lnTo>
                    <a:pt x="114" y="1"/>
                  </a:lnTo>
                  <a:lnTo>
                    <a:pt x="121" y="0"/>
                  </a:lnTo>
                  <a:lnTo>
                    <a:pt x="116" y="4"/>
                  </a:lnTo>
                  <a:lnTo>
                    <a:pt x="110" y="8"/>
                  </a:lnTo>
                  <a:lnTo>
                    <a:pt x="104" y="12"/>
                  </a:lnTo>
                  <a:lnTo>
                    <a:pt x="97" y="16"/>
                  </a:lnTo>
                  <a:lnTo>
                    <a:pt x="92" y="20"/>
                  </a:lnTo>
                  <a:lnTo>
                    <a:pt x="86" y="24"/>
                  </a:lnTo>
                  <a:lnTo>
                    <a:pt x="79" y="29"/>
                  </a:lnTo>
                  <a:lnTo>
                    <a:pt x="73" y="32"/>
                  </a:lnTo>
                  <a:lnTo>
                    <a:pt x="32" y="72"/>
                  </a:lnTo>
                  <a:lnTo>
                    <a:pt x="30" y="72"/>
                  </a:lnTo>
                  <a:lnTo>
                    <a:pt x="34" y="3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39" name="Freeform 287">
              <a:extLst>
                <a:ext uri="{FF2B5EF4-FFF2-40B4-BE49-F238E27FC236}">
                  <a16:creationId xmlns:a16="http://schemas.microsoft.com/office/drawing/2014/main" id="{12715789-C07C-C8E1-FBD8-99742978A5DB}"/>
                </a:ext>
              </a:extLst>
            </p:cNvPr>
            <p:cNvSpPr>
              <a:spLocks/>
            </p:cNvSpPr>
            <p:nvPr/>
          </p:nvSpPr>
          <p:spPr bwMode="auto">
            <a:xfrm>
              <a:off x="2950" y="3206"/>
              <a:ext cx="146" cy="143"/>
            </a:xfrm>
            <a:custGeom>
              <a:avLst/>
              <a:gdLst>
                <a:gd name="T0" fmla="*/ 11484 w 117"/>
                <a:gd name="T1" fmla="*/ 0 h 132"/>
                <a:gd name="T2" fmla="*/ 10586 w 117"/>
                <a:gd name="T3" fmla="*/ 28 h 132"/>
                <a:gd name="T4" fmla="*/ 9767 w 117"/>
                <a:gd name="T5" fmla="*/ 63 h 132"/>
                <a:gd name="T6" fmla="*/ 9390 w 117"/>
                <a:gd name="T7" fmla="*/ 104 h 132"/>
                <a:gd name="T8" fmla="*/ 9166 w 117"/>
                <a:gd name="T9" fmla="*/ 138 h 132"/>
                <a:gd name="T10" fmla="*/ 8971 w 117"/>
                <a:gd name="T11" fmla="*/ 177 h 132"/>
                <a:gd name="T12" fmla="*/ 8900 w 117"/>
                <a:gd name="T13" fmla="*/ 209 h 132"/>
                <a:gd name="T14" fmla="*/ 8756 w 117"/>
                <a:gd name="T15" fmla="*/ 245 h 132"/>
                <a:gd name="T16" fmla="*/ 8756 w 117"/>
                <a:gd name="T17" fmla="*/ 286 h 132"/>
                <a:gd name="T18" fmla="*/ 8483 w 117"/>
                <a:gd name="T19" fmla="*/ 313 h 132"/>
                <a:gd name="T20" fmla="*/ 8119 w 117"/>
                <a:gd name="T21" fmla="*/ 343 h 132"/>
                <a:gd name="T22" fmla="*/ 7638 w 117"/>
                <a:gd name="T23" fmla="*/ 376 h 132"/>
                <a:gd name="T24" fmla="*/ 6810 w 117"/>
                <a:gd name="T25" fmla="*/ 428 h 132"/>
                <a:gd name="T26" fmla="*/ 5761 w 117"/>
                <a:gd name="T27" fmla="*/ 473 h 132"/>
                <a:gd name="T28" fmla="*/ 4321 w 117"/>
                <a:gd name="T29" fmla="*/ 518 h 132"/>
                <a:gd name="T30" fmla="*/ 2427 w 117"/>
                <a:gd name="T31" fmla="*/ 581 h 132"/>
                <a:gd name="T32" fmla="*/ 0 w 117"/>
                <a:gd name="T33" fmla="*/ 639 h 132"/>
                <a:gd name="T34" fmla="*/ 453 w 117"/>
                <a:gd name="T35" fmla="*/ 705 h 132"/>
                <a:gd name="T36" fmla="*/ 3029 w 117"/>
                <a:gd name="T37" fmla="*/ 644 h 132"/>
                <a:gd name="T38" fmla="*/ 5008 w 117"/>
                <a:gd name="T39" fmla="*/ 590 h 132"/>
                <a:gd name="T40" fmla="*/ 6689 w 117"/>
                <a:gd name="T41" fmla="*/ 523 h 132"/>
                <a:gd name="T42" fmla="*/ 7827 w 117"/>
                <a:gd name="T43" fmla="*/ 477 h 132"/>
                <a:gd name="T44" fmla="*/ 8756 w 117"/>
                <a:gd name="T45" fmla="*/ 431 h 132"/>
                <a:gd name="T46" fmla="*/ 9390 w 117"/>
                <a:gd name="T47" fmla="*/ 376 h 132"/>
                <a:gd name="T48" fmla="*/ 9767 w 117"/>
                <a:gd name="T49" fmla="*/ 339 h 132"/>
                <a:gd name="T50" fmla="*/ 10131 w 117"/>
                <a:gd name="T51" fmla="*/ 289 h 132"/>
                <a:gd name="T52" fmla="*/ 10131 w 117"/>
                <a:gd name="T53" fmla="*/ 246 h 132"/>
                <a:gd name="T54" fmla="*/ 10204 w 117"/>
                <a:gd name="T55" fmla="*/ 225 h 132"/>
                <a:gd name="T56" fmla="*/ 10416 w 117"/>
                <a:gd name="T57" fmla="*/ 192 h 132"/>
                <a:gd name="T58" fmla="*/ 10477 w 117"/>
                <a:gd name="T59" fmla="*/ 163 h 132"/>
                <a:gd name="T60" fmla="*/ 10604 w 117"/>
                <a:gd name="T61" fmla="*/ 132 h 132"/>
                <a:gd name="T62" fmla="*/ 10856 w 117"/>
                <a:gd name="T63" fmla="*/ 113 h 132"/>
                <a:gd name="T64" fmla="*/ 11484 w 117"/>
                <a:gd name="T65" fmla="*/ 82 h 132"/>
                <a:gd name="T66" fmla="*/ 12173 w 117"/>
                <a:gd name="T67" fmla="*/ 58 h 132"/>
                <a:gd name="T68" fmla="*/ 11484 w 11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7"/>
                <a:gd name="T106" fmla="*/ 0 h 132"/>
                <a:gd name="T107" fmla="*/ 117 w 11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7" h="132">
                  <a:moveTo>
                    <a:pt x="110" y="0"/>
                  </a:moveTo>
                  <a:lnTo>
                    <a:pt x="101" y="6"/>
                  </a:lnTo>
                  <a:lnTo>
                    <a:pt x="94" y="12"/>
                  </a:lnTo>
                  <a:lnTo>
                    <a:pt x="90" y="19"/>
                  </a:lnTo>
                  <a:lnTo>
                    <a:pt x="87" y="26"/>
                  </a:lnTo>
                  <a:lnTo>
                    <a:pt x="86" y="32"/>
                  </a:lnTo>
                  <a:lnTo>
                    <a:pt x="85" y="39"/>
                  </a:lnTo>
                  <a:lnTo>
                    <a:pt x="84" y="45"/>
                  </a:lnTo>
                  <a:lnTo>
                    <a:pt x="84" y="52"/>
                  </a:lnTo>
                  <a:lnTo>
                    <a:pt x="81" y="58"/>
                  </a:lnTo>
                  <a:lnTo>
                    <a:pt x="78" y="64"/>
                  </a:lnTo>
                  <a:lnTo>
                    <a:pt x="73" y="71"/>
                  </a:lnTo>
                  <a:lnTo>
                    <a:pt x="66" y="79"/>
                  </a:lnTo>
                  <a:lnTo>
                    <a:pt x="55" y="88"/>
                  </a:lnTo>
                  <a:lnTo>
                    <a:pt x="41" y="97"/>
                  </a:lnTo>
                  <a:lnTo>
                    <a:pt x="23" y="108"/>
                  </a:lnTo>
                  <a:lnTo>
                    <a:pt x="0" y="118"/>
                  </a:lnTo>
                  <a:lnTo>
                    <a:pt x="5" y="131"/>
                  </a:lnTo>
                  <a:lnTo>
                    <a:pt x="29" y="119"/>
                  </a:lnTo>
                  <a:lnTo>
                    <a:pt x="47" y="109"/>
                  </a:lnTo>
                  <a:lnTo>
                    <a:pt x="63" y="98"/>
                  </a:lnTo>
                  <a:lnTo>
                    <a:pt x="75" y="89"/>
                  </a:lnTo>
                  <a:lnTo>
                    <a:pt x="84" y="80"/>
                  </a:lnTo>
                  <a:lnTo>
                    <a:pt x="90" y="71"/>
                  </a:lnTo>
                  <a:lnTo>
                    <a:pt x="94" y="63"/>
                  </a:lnTo>
                  <a:lnTo>
                    <a:pt x="97" y="54"/>
                  </a:lnTo>
                  <a:lnTo>
                    <a:pt x="97" y="46"/>
                  </a:lnTo>
                  <a:lnTo>
                    <a:pt x="98" y="41"/>
                  </a:lnTo>
                  <a:lnTo>
                    <a:pt x="99" y="35"/>
                  </a:lnTo>
                  <a:lnTo>
                    <a:pt x="100" y="30"/>
                  </a:lnTo>
                  <a:lnTo>
                    <a:pt x="102" y="25"/>
                  </a:lnTo>
                  <a:lnTo>
                    <a:pt x="104" y="21"/>
                  </a:lnTo>
                  <a:lnTo>
                    <a:pt x="110" y="16"/>
                  </a:lnTo>
                  <a:lnTo>
                    <a:pt x="116" y="11"/>
                  </a:lnTo>
                  <a:lnTo>
                    <a:pt x="11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0" name="Freeform 288">
              <a:extLst>
                <a:ext uri="{FF2B5EF4-FFF2-40B4-BE49-F238E27FC236}">
                  <a16:creationId xmlns:a16="http://schemas.microsoft.com/office/drawing/2014/main" id="{8E633571-9C48-51BC-9EB7-71EEE2690B79}"/>
                </a:ext>
              </a:extLst>
            </p:cNvPr>
            <p:cNvSpPr>
              <a:spLocks/>
            </p:cNvSpPr>
            <p:nvPr/>
          </p:nvSpPr>
          <p:spPr bwMode="auto">
            <a:xfrm>
              <a:off x="3086" y="3197"/>
              <a:ext cx="207" cy="43"/>
            </a:xfrm>
            <a:custGeom>
              <a:avLst/>
              <a:gdLst>
                <a:gd name="T0" fmla="*/ 18363 w 165"/>
                <a:gd name="T1" fmla="*/ 95 h 40"/>
                <a:gd name="T2" fmla="*/ 17480 w 165"/>
                <a:gd name="T3" fmla="*/ 104 h 40"/>
                <a:gd name="T4" fmla="*/ 16540 w 165"/>
                <a:gd name="T5" fmla="*/ 112 h 40"/>
                <a:gd name="T6" fmla="*/ 15427 w 165"/>
                <a:gd name="T7" fmla="*/ 112 h 40"/>
                <a:gd name="T8" fmla="*/ 14615 w 165"/>
                <a:gd name="T9" fmla="*/ 110 h 40"/>
                <a:gd name="T10" fmla="*/ 13468 w 165"/>
                <a:gd name="T11" fmla="*/ 102 h 40"/>
                <a:gd name="T12" fmla="*/ 12297 w 165"/>
                <a:gd name="T13" fmla="*/ 88 h 40"/>
                <a:gd name="T14" fmla="*/ 11184 w 165"/>
                <a:gd name="T15" fmla="*/ 71 h 40"/>
                <a:gd name="T16" fmla="*/ 10031 w 165"/>
                <a:gd name="T17" fmla="*/ 53 h 40"/>
                <a:gd name="T18" fmla="*/ 8841 w 165"/>
                <a:gd name="T19" fmla="*/ 43 h 40"/>
                <a:gd name="T20" fmla="*/ 7648 w 165"/>
                <a:gd name="T21" fmla="*/ 5 h 40"/>
                <a:gd name="T22" fmla="*/ 6492 w 165"/>
                <a:gd name="T23" fmla="*/ 2 h 40"/>
                <a:gd name="T24" fmla="*/ 5175 w 165"/>
                <a:gd name="T25" fmla="*/ 1 h 40"/>
                <a:gd name="T26" fmla="*/ 3754 w 165"/>
                <a:gd name="T27" fmla="*/ 0 h 40"/>
                <a:gd name="T28" fmla="*/ 2621 w 165"/>
                <a:gd name="T29" fmla="*/ 1 h 40"/>
                <a:gd name="T30" fmla="*/ 1331 w 165"/>
                <a:gd name="T31" fmla="*/ 4 h 40"/>
                <a:gd name="T32" fmla="*/ 0 w 165"/>
                <a:gd name="T33" fmla="*/ 43 h 40"/>
                <a:gd name="T34" fmla="*/ 846 w 165"/>
                <a:gd name="T35" fmla="*/ 95 h 40"/>
                <a:gd name="T36" fmla="*/ 1791 w 165"/>
                <a:gd name="T37" fmla="*/ 76 h 40"/>
                <a:gd name="T38" fmla="*/ 2917 w 165"/>
                <a:gd name="T39" fmla="*/ 61 h 40"/>
                <a:gd name="T40" fmla="*/ 3754 w 165"/>
                <a:gd name="T41" fmla="*/ 61 h 40"/>
                <a:gd name="T42" fmla="*/ 4893 w 165"/>
                <a:gd name="T43" fmla="*/ 61 h 40"/>
                <a:gd name="T44" fmla="*/ 6096 w 165"/>
                <a:gd name="T45" fmla="*/ 66 h 40"/>
                <a:gd name="T46" fmla="*/ 7227 w 165"/>
                <a:gd name="T47" fmla="*/ 82 h 40"/>
                <a:gd name="T48" fmla="*/ 8390 w 165"/>
                <a:gd name="T49" fmla="*/ 102 h 40"/>
                <a:gd name="T50" fmla="*/ 9516 w 165"/>
                <a:gd name="T51" fmla="*/ 112 h 40"/>
                <a:gd name="T52" fmla="*/ 10625 w 165"/>
                <a:gd name="T53" fmla="*/ 129 h 40"/>
                <a:gd name="T54" fmla="*/ 11824 w 165"/>
                <a:gd name="T55" fmla="*/ 147 h 40"/>
                <a:gd name="T56" fmla="*/ 12892 w 165"/>
                <a:gd name="T57" fmla="*/ 160 h 40"/>
                <a:gd name="T58" fmla="*/ 14270 w 165"/>
                <a:gd name="T59" fmla="*/ 170 h 40"/>
                <a:gd name="T60" fmla="*/ 15427 w 165"/>
                <a:gd name="T61" fmla="*/ 181 h 40"/>
                <a:gd name="T62" fmla="*/ 16566 w 165"/>
                <a:gd name="T63" fmla="*/ 172 h 40"/>
                <a:gd name="T64" fmla="*/ 18029 w 165"/>
                <a:gd name="T65" fmla="*/ 168 h 40"/>
                <a:gd name="T66" fmla="*/ 19181 w 165"/>
                <a:gd name="T67" fmla="*/ 139 h 40"/>
                <a:gd name="T68" fmla="*/ 18363 w 165"/>
                <a:gd name="T69" fmla="*/ 95 h 4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
                <a:gd name="T106" fmla="*/ 0 h 40"/>
                <a:gd name="T107" fmla="*/ 165 w 165"/>
                <a:gd name="T108" fmla="*/ 40 h 4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 h="40">
                  <a:moveTo>
                    <a:pt x="157" y="20"/>
                  </a:moveTo>
                  <a:lnTo>
                    <a:pt x="150" y="23"/>
                  </a:lnTo>
                  <a:lnTo>
                    <a:pt x="141" y="25"/>
                  </a:lnTo>
                  <a:lnTo>
                    <a:pt x="132" y="25"/>
                  </a:lnTo>
                  <a:lnTo>
                    <a:pt x="124" y="24"/>
                  </a:lnTo>
                  <a:lnTo>
                    <a:pt x="115" y="22"/>
                  </a:lnTo>
                  <a:lnTo>
                    <a:pt x="105" y="19"/>
                  </a:lnTo>
                  <a:lnTo>
                    <a:pt x="96" y="16"/>
                  </a:lnTo>
                  <a:lnTo>
                    <a:pt x="86" y="12"/>
                  </a:lnTo>
                  <a:lnTo>
                    <a:pt x="76" y="9"/>
                  </a:lnTo>
                  <a:lnTo>
                    <a:pt x="65" y="5"/>
                  </a:lnTo>
                  <a:lnTo>
                    <a:pt x="55" y="2"/>
                  </a:lnTo>
                  <a:lnTo>
                    <a:pt x="44" y="1"/>
                  </a:lnTo>
                  <a:lnTo>
                    <a:pt x="33" y="0"/>
                  </a:lnTo>
                  <a:lnTo>
                    <a:pt x="22" y="1"/>
                  </a:lnTo>
                  <a:lnTo>
                    <a:pt x="11" y="4"/>
                  </a:lnTo>
                  <a:lnTo>
                    <a:pt x="0" y="9"/>
                  </a:lnTo>
                  <a:lnTo>
                    <a:pt x="7" y="20"/>
                  </a:lnTo>
                  <a:lnTo>
                    <a:pt x="15" y="17"/>
                  </a:lnTo>
                  <a:lnTo>
                    <a:pt x="25" y="14"/>
                  </a:lnTo>
                  <a:lnTo>
                    <a:pt x="33" y="14"/>
                  </a:lnTo>
                  <a:lnTo>
                    <a:pt x="42" y="14"/>
                  </a:lnTo>
                  <a:lnTo>
                    <a:pt x="52" y="15"/>
                  </a:lnTo>
                  <a:lnTo>
                    <a:pt x="61" y="18"/>
                  </a:lnTo>
                  <a:lnTo>
                    <a:pt x="72" y="22"/>
                  </a:lnTo>
                  <a:lnTo>
                    <a:pt x="81" y="25"/>
                  </a:lnTo>
                  <a:lnTo>
                    <a:pt x="91" y="29"/>
                  </a:lnTo>
                  <a:lnTo>
                    <a:pt x="101" y="32"/>
                  </a:lnTo>
                  <a:lnTo>
                    <a:pt x="111" y="35"/>
                  </a:lnTo>
                  <a:lnTo>
                    <a:pt x="122" y="37"/>
                  </a:lnTo>
                  <a:lnTo>
                    <a:pt x="132" y="39"/>
                  </a:lnTo>
                  <a:lnTo>
                    <a:pt x="142" y="38"/>
                  </a:lnTo>
                  <a:lnTo>
                    <a:pt x="154" y="36"/>
                  </a:lnTo>
                  <a:lnTo>
                    <a:pt x="164" y="31"/>
                  </a:lnTo>
                  <a:lnTo>
                    <a:pt x="157" y="2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1" name="Freeform 289">
              <a:extLst>
                <a:ext uri="{FF2B5EF4-FFF2-40B4-BE49-F238E27FC236}">
                  <a16:creationId xmlns:a16="http://schemas.microsoft.com/office/drawing/2014/main" id="{0A3562D7-D431-3F7F-89A5-477032FF51D2}"/>
                </a:ext>
              </a:extLst>
            </p:cNvPr>
            <p:cNvSpPr>
              <a:spLocks/>
            </p:cNvSpPr>
            <p:nvPr/>
          </p:nvSpPr>
          <p:spPr bwMode="auto">
            <a:xfrm>
              <a:off x="3284" y="3218"/>
              <a:ext cx="9" cy="14"/>
            </a:xfrm>
            <a:custGeom>
              <a:avLst/>
              <a:gdLst>
                <a:gd name="T0" fmla="*/ 0 w 7"/>
                <a:gd name="T1" fmla="*/ 0 h 13"/>
                <a:gd name="T2" fmla="*/ 567 w 7"/>
                <a:gd name="T3" fmla="*/ 6 h 13"/>
                <a:gd name="T4" fmla="*/ 1205 w 7"/>
                <a:gd name="T5" fmla="*/ 54 h 13"/>
                <a:gd name="T6" fmla="*/ 0 w 7"/>
                <a:gd name="T7" fmla="*/ 0 h 13"/>
                <a:gd name="T8" fmla="*/ 0 60000 65536"/>
                <a:gd name="T9" fmla="*/ 0 60000 65536"/>
                <a:gd name="T10" fmla="*/ 0 60000 65536"/>
                <a:gd name="T11" fmla="*/ 0 60000 65536"/>
                <a:gd name="T12" fmla="*/ 0 w 7"/>
                <a:gd name="T13" fmla="*/ 0 h 13"/>
                <a:gd name="T14" fmla="*/ 7 w 7"/>
                <a:gd name="T15" fmla="*/ 13 h 13"/>
              </a:gdLst>
              <a:ahLst/>
              <a:cxnLst>
                <a:cxn ang="T8">
                  <a:pos x="T0" y="T1"/>
                </a:cxn>
                <a:cxn ang="T9">
                  <a:pos x="T2" y="T3"/>
                </a:cxn>
                <a:cxn ang="T10">
                  <a:pos x="T4" y="T5"/>
                </a:cxn>
                <a:cxn ang="T11">
                  <a:pos x="T6" y="T7"/>
                </a:cxn>
              </a:cxnLst>
              <a:rect l="T12" t="T13" r="T14" b="T15"/>
              <a:pathLst>
                <a:path w="7" h="13">
                  <a:moveTo>
                    <a:pt x="0" y="0"/>
                  </a:moveTo>
                  <a:lnTo>
                    <a:pt x="3" y="6"/>
                  </a:lnTo>
                  <a:lnTo>
                    <a:pt x="6" y="12"/>
                  </a:lnTo>
                  <a:lnTo>
                    <a:pt x="0"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2" name="Freeform 290">
              <a:extLst>
                <a:ext uri="{FF2B5EF4-FFF2-40B4-BE49-F238E27FC236}">
                  <a16:creationId xmlns:a16="http://schemas.microsoft.com/office/drawing/2014/main" id="{D3F9238A-6A4E-CE27-9E21-6C9FADE83B3E}"/>
                </a:ext>
              </a:extLst>
            </p:cNvPr>
            <p:cNvSpPr>
              <a:spLocks/>
            </p:cNvSpPr>
            <p:nvPr/>
          </p:nvSpPr>
          <p:spPr bwMode="auto">
            <a:xfrm>
              <a:off x="3284" y="3082"/>
              <a:ext cx="75" cy="150"/>
            </a:xfrm>
            <a:custGeom>
              <a:avLst/>
              <a:gdLst>
                <a:gd name="T0" fmla="*/ 5813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523 w 60"/>
                <a:gd name="T23" fmla="*/ 466 h 139"/>
                <a:gd name="T24" fmla="*/ 2273 w 60"/>
                <a:gd name="T25" fmla="*/ 506 h 139"/>
                <a:gd name="T26" fmla="*/ 1818 w 60"/>
                <a:gd name="T27" fmla="*/ 543 h 139"/>
                <a:gd name="T28" fmla="*/ 1614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943 w 60"/>
                <a:gd name="T45" fmla="*/ 479 h 139"/>
                <a:gd name="T46" fmla="*/ 4085 w 60"/>
                <a:gd name="T47" fmla="*/ 432 h 139"/>
                <a:gd name="T48" fmla="*/ 4200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813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3" y="0"/>
                  </a:moveTo>
                  <a:lnTo>
                    <a:pt x="43" y="7"/>
                  </a:lnTo>
                  <a:lnTo>
                    <a:pt x="36" y="15"/>
                  </a:lnTo>
                  <a:lnTo>
                    <a:pt x="31" y="22"/>
                  </a:lnTo>
                  <a:lnTo>
                    <a:pt x="28" y="31"/>
                  </a:lnTo>
                  <a:lnTo>
                    <a:pt x="26" y="41"/>
                  </a:lnTo>
                  <a:lnTo>
                    <a:pt x="25" y="50"/>
                  </a:lnTo>
                  <a:lnTo>
                    <a:pt x="24" y="59"/>
                  </a:lnTo>
                  <a:lnTo>
                    <a:pt x="24" y="68"/>
                  </a:lnTo>
                  <a:lnTo>
                    <a:pt x="23" y="78"/>
                  </a:lnTo>
                  <a:lnTo>
                    <a:pt x="24" y="86"/>
                  </a:lnTo>
                  <a:lnTo>
                    <a:pt x="23" y="94"/>
                  </a:lnTo>
                  <a:lnTo>
                    <a:pt x="21" y="102"/>
                  </a:lnTo>
                  <a:lnTo>
                    <a:pt x="17" y="109"/>
                  </a:lnTo>
                  <a:lnTo>
                    <a:pt x="14" y="115"/>
                  </a:lnTo>
                  <a:lnTo>
                    <a:pt x="8" y="121"/>
                  </a:lnTo>
                  <a:lnTo>
                    <a:pt x="0" y="126"/>
                  </a:lnTo>
                  <a:lnTo>
                    <a:pt x="6" y="138"/>
                  </a:lnTo>
                  <a:lnTo>
                    <a:pt x="17" y="131"/>
                  </a:lnTo>
                  <a:lnTo>
                    <a:pt x="24" y="123"/>
                  </a:lnTo>
                  <a:lnTo>
                    <a:pt x="29" y="115"/>
                  </a:lnTo>
                  <a:lnTo>
                    <a:pt x="34" y="107"/>
                  </a:lnTo>
                  <a:lnTo>
                    <a:pt x="36" y="97"/>
                  </a:lnTo>
                  <a:lnTo>
                    <a:pt x="37" y="87"/>
                  </a:lnTo>
                  <a:lnTo>
                    <a:pt x="38" y="78"/>
                  </a:lnTo>
                  <a:lnTo>
                    <a:pt x="38" y="68"/>
                  </a:lnTo>
                  <a:lnTo>
                    <a:pt x="38" y="59"/>
                  </a:lnTo>
                  <a:lnTo>
                    <a:pt x="38" y="51"/>
                  </a:lnTo>
                  <a:lnTo>
                    <a:pt x="39" y="43"/>
                  </a:lnTo>
                  <a:lnTo>
                    <a:pt x="41" y="35"/>
                  </a:lnTo>
                  <a:lnTo>
                    <a:pt x="43" y="29"/>
                  </a:lnTo>
                  <a:lnTo>
                    <a:pt x="47" y="22"/>
                  </a:lnTo>
                  <a:lnTo>
                    <a:pt x="52" y="17"/>
                  </a:lnTo>
                  <a:lnTo>
                    <a:pt x="59" y="12"/>
                  </a:lnTo>
                  <a:lnTo>
                    <a:pt x="53"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3" name="Freeform 291">
              <a:extLst>
                <a:ext uri="{FF2B5EF4-FFF2-40B4-BE49-F238E27FC236}">
                  <a16:creationId xmlns:a16="http://schemas.microsoft.com/office/drawing/2014/main" id="{C7D40F0D-28A3-B50A-8BD2-3767DC220DD7}"/>
                </a:ext>
              </a:extLst>
            </p:cNvPr>
            <p:cNvSpPr>
              <a:spLocks/>
            </p:cNvSpPr>
            <p:nvPr/>
          </p:nvSpPr>
          <p:spPr bwMode="auto">
            <a:xfrm>
              <a:off x="3349" y="3073"/>
              <a:ext cx="201" cy="46"/>
            </a:xfrm>
            <a:custGeom>
              <a:avLst/>
              <a:gdLst>
                <a:gd name="T0" fmla="*/ 18273 w 160"/>
                <a:gd name="T1" fmla="*/ 138 h 42"/>
                <a:gd name="T2" fmla="*/ 17312 w 160"/>
                <a:gd name="T3" fmla="*/ 165 h 42"/>
                <a:gd name="T4" fmla="*/ 16361 w 160"/>
                <a:gd name="T5" fmla="*/ 181 h 42"/>
                <a:gd name="T6" fmla="*/ 15133 w 160"/>
                <a:gd name="T7" fmla="*/ 181 h 42"/>
                <a:gd name="T8" fmla="*/ 13986 w 160"/>
                <a:gd name="T9" fmla="*/ 181 h 42"/>
                <a:gd name="T10" fmla="*/ 13042 w 160"/>
                <a:gd name="T11" fmla="*/ 165 h 42"/>
                <a:gd name="T12" fmla="*/ 11885 w 160"/>
                <a:gd name="T13" fmla="*/ 138 h 42"/>
                <a:gd name="T14" fmla="*/ 10806 w 160"/>
                <a:gd name="T15" fmla="*/ 123 h 42"/>
                <a:gd name="T16" fmla="*/ 9708 w 160"/>
                <a:gd name="T17" fmla="*/ 93 h 42"/>
                <a:gd name="T18" fmla="*/ 8548 w 160"/>
                <a:gd name="T19" fmla="*/ 65 h 42"/>
                <a:gd name="T20" fmla="*/ 7403 w 160"/>
                <a:gd name="T21" fmla="*/ 49 h 42"/>
                <a:gd name="T22" fmla="*/ 6261 w 160"/>
                <a:gd name="T23" fmla="*/ 4 h 42"/>
                <a:gd name="T24" fmla="*/ 4984 w 160"/>
                <a:gd name="T25" fmla="*/ 2 h 42"/>
                <a:gd name="T26" fmla="*/ 3793 w 160"/>
                <a:gd name="T27" fmla="*/ 0 h 42"/>
                <a:gd name="T28" fmla="*/ 2514 w 160"/>
                <a:gd name="T29" fmla="*/ 1 h 42"/>
                <a:gd name="T30" fmla="*/ 1212 w 160"/>
                <a:gd name="T31" fmla="*/ 3 h 42"/>
                <a:gd name="T32" fmla="*/ 0 w 160"/>
                <a:gd name="T33" fmla="*/ 54 h 42"/>
                <a:gd name="T34" fmla="*/ 768 w 160"/>
                <a:gd name="T35" fmla="*/ 126 h 42"/>
                <a:gd name="T36" fmla="*/ 1742 w 160"/>
                <a:gd name="T37" fmla="*/ 112 h 42"/>
                <a:gd name="T38" fmla="*/ 2644 w 160"/>
                <a:gd name="T39" fmla="*/ 93 h 42"/>
                <a:gd name="T40" fmla="*/ 3793 w 160"/>
                <a:gd name="T41" fmla="*/ 93 h 42"/>
                <a:gd name="T42" fmla="*/ 4765 w 160"/>
                <a:gd name="T43" fmla="*/ 102 h 42"/>
                <a:gd name="T44" fmla="*/ 5705 w 160"/>
                <a:gd name="T45" fmla="*/ 115 h 42"/>
                <a:gd name="T46" fmla="*/ 6847 w 160"/>
                <a:gd name="T47" fmla="*/ 135 h 42"/>
                <a:gd name="T48" fmla="*/ 7971 w 160"/>
                <a:gd name="T49" fmla="*/ 151 h 42"/>
                <a:gd name="T50" fmla="*/ 9004 w 160"/>
                <a:gd name="T51" fmla="*/ 181 h 42"/>
                <a:gd name="T52" fmla="*/ 10192 w 160"/>
                <a:gd name="T53" fmla="*/ 212 h 42"/>
                <a:gd name="T54" fmla="*/ 11351 w 160"/>
                <a:gd name="T55" fmla="*/ 232 h 42"/>
                <a:gd name="T56" fmla="*/ 12580 w 160"/>
                <a:gd name="T57" fmla="*/ 260 h 42"/>
                <a:gd name="T58" fmla="*/ 13781 w 160"/>
                <a:gd name="T59" fmla="*/ 277 h 42"/>
                <a:gd name="T60" fmla="*/ 15133 w 160"/>
                <a:gd name="T61" fmla="*/ 278 h 42"/>
                <a:gd name="T62" fmla="*/ 16384 w 160"/>
                <a:gd name="T63" fmla="*/ 277 h 42"/>
                <a:gd name="T64" fmla="*/ 17850 w 160"/>
                <a:gd name="T65" fmla="*/ 260 h 42"/>
                <a:gd name="T66" fmla="*/ 19100 w 160"/>
                <a:gd name="T67" fmla="*/ 216 h 42"/>
                <a:gd name="T68" fmla="*/ 18273 w 160"/>
                <a:gd name="T69" fmla="*/ 138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0"/>
                <a:gd name="T106" fmla="*/ 0 h 42"/>
                <a:gd name="T107" fmla="*/ 160 w 160"/>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0" h="42">
                  <a:moveTo>
                    <a:pt x="152" y="21"/>
                  </a:moveTo>
                  <a:lnTo>
                    <a:pt x="144" y="25"/>
                  </a:lnTo>
                  <a:lnTo>
                    <a:pt x="135" y="27"/>
                  </a:lnTo>
                  <a:lnTo>
                    <a:pt x="126" y="27"/>
                  </a:lnTo>
                  <a:lnTo>
                    <a:pt x="116" y="27"/>
                  </a:lnTo>
                  <a:lnTo>
                    <a:pt x="108" y="25"/>
                  </a:lnTo>
                  <a:lnTo>
                    <a:pt x="99" y="21"/>
                  </a:lnTo>
                  <a:lnTo>
                    <a:pt x="90" y="18"/>
                  </a:lnTo>
                  <a:lnTo>
                    <a:pt x="80" y="14"/>
                  </a:lnTo>
                  <a:lnTo>
                    <a:pt x="71" y="10"/>
                  </a:lnTo>
                  <a:lnTo>
                    <a:pt x="61" y="7"/>
                  </a:lnTo>
                  <a:lnTo>
                    <a:pt x="52" y="4"/>
                  </a:lnTo>
                  <a:lnTo>
                    <a:pt x="41" y="2"/>
                  </a:lnTo>
                  <a:lnTo>
                    <a:pt x="31" y="0"/>
                  </a:lnTo>
                  <a:lnTo>
                    <a:pt x="21" y="1"/>
                  </a:lnTo>
                  <a:lnTo>
                    <a:pt x="10" y="3"/>
                  </a:lnTo>
                  <a:lnTo>
                    <a:pt x="0" y="8"/>
                  </a:lnTo>
                  <a:lnTo>
                    <a:pt x="6" y="19"/>
                  </a:lnTo>
                  <a:lnTo>
                    <a:pt x="14" y="16"/>
                  </a:lnTo>
                  <a:lnTo>
                    <a:pt x="22" y="14"/>
                  </a:lnTo>
                  <a:lnTo>
                    <a:pt x="31" y="14"/>
                  </a:lnTo>
                  <a:lnTo>
                    <a:pt x="39" y="15"/>
                  </a:lnTo>
                  <a:lnTo>
                    <a:pt x="48" y="17"/>
                  </a:lnTo>
                  <a:lnTo>
                    <a:pt x="57" y="20"/>
                  </a:lnTo>
                  <a:lnTo>
                    <a:pt x="66" y="23"/>
                  </a:lnTo>
                  <a:lnTo>
                    <a:pt x="75" y="27"/>
                  </a:lnTo>
                  <a:lnTo>
                    <a:pt x="85" y="31"/>
                  </a:lnTo>
                  <a:lnTo>
                    <a:pt x="95" y="34"/>
                  </a:lnTo>
                  <a:lnTo>
                    <a:pt x="104" y="38"/>
                  </a:lnTo>
                  <a:lnTo>
                    <a:pt x="115" y="40"/>
                  </a:lnTo>
                  <a:lnTo>
                    <a:pt x="126" y="41"/>
                  </a:lnTo>
                  <a:lnTo>
                    <a:pt x="136" y="40"/>
                  </a:lnTo>
                  <a:lnTo>
                    <a:pt x="148" y="38"/>
                  </a:lnTo>
                  <a:lnTo>
                    <a:pt x="159" y="32"/>
                  </a:lnTo>
                  <a:lnTo>
                    <a:pt x="152" y="2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4" name="Freeform 292">
              <a:extLst>
                <a:ext uri="{FF2B5EF4-FFF2-40B4-BE49-F238E27FC236}">
                  <a16:creationId xmlns:a16="http://schemas.microsoft.com/office/drawing/2014/main" id="{8FEF8B64-166F-9F4B-A6E8-E94B27132BA4}"/>
                </a:ext>
              </a:extLst>
            </p:cNvPr>
            <p:cNvSpPr>
              <a:spLocks/>
            </p:cNvSpPr>
            <p:nvPr/>
          </p:nvSpPr>
          <p:spPr bwMode="auto">
            <a:xfrm>
              <a:off x="3541" y="2960"/>
              <a:ext cx="75" cy="150"/>
            </a:xfrm>
            <a:custGeom>
              <a:avLst/>
              <a:gdLst>
                <a:gd name="T0" fmla="*/ 5650 w 60"/>
                <a:gd name="T1" fmla="*/ 0 h 139"/>
                <a:gd name="T2" fmla="*/ 4735 w 60"/>
                <a:gd name="T3" fmla="*/ 39 h 139"/>
                <a:gd name="T4" fmla="*/ 3943 w 60"/>
                <a:gd name="T5" fmla="*/ 72 h 139"/>
                <a:gd name="T6" fmla="*/ 3391 w 60"/>
                <a:gd name="T7" fmla="*/ 108 h 139"/>
                <a:gd name="T8" fmla="*/ 3076 w 60"/>
                <a:gd name="T9" fmla="*/ 155 h 139"/>
                <a:gd name="T10" fmla="*/ 2841 w 60"/>
                <a:gd name="T11" fmla="*/ 201 h 139"/>
                <a:gd name="T12" fmla="*/ 2713 w 60"/>
                <a:gd name="T13" fmla="*/ 245 h 139"/>
                <a:gd name="T14" fmla="*/ 2688 w 60"/>
                <a:gd name="T15" fmla="*/ 295 h 139"/>
                <a:gd name="T16" fmla="*/ 2688 w 60"/>
                <a:gd name="T17" fmla="*/ 332 h 139"/>
                <a:gd name="T18" fmla="*/ 2523 w 60"/>
                <a:gd name="T19" fmla="*/ 384 h 139"/>
                <a:gd name="T20" fmla="*/ 2688 w 60"/>
                <a:gd name="T21" fmla="*/ 431 h 139"/>
                <a:gd name="T22" fmla="*/ 2461 w 60"/>
                <a:gd name="T23" fmla="*/ 466 h 139"/>
                <a:gd name="T24" fmla="*/ 2273 w 60"/>
                <a:gd name="T25" fmla="*/ 506 h 139"/>
                <a:gd name="T26" fmla="*/ 1818 w 60"/>
                <a:gd name="T27" fmla="*/ 543 h 139"/>
                <a:gd name="T28" fmla="*/ 1389 w 60"/>
                <a:gd name="T29" fmla="*/ 565 h 139"/>
                <a:gd name="T30" fmla="*/ 889 w 60"/>
                <a:gd name="T31" fmla="*/ 599 h 139"/>
                <a:gd name="T32" fmla="*/ 0 w 60"/>
                <a:gd name="T33" fmla="*/ 631 h 139"/>
                <a:gd name="T34" fmla="*/ 711 w 60"/>
                <a:gd name="T35" fmla="*/ 686 h 139"/>
                <a:gd name="T36" fmla="*/ 1818 w 60"/>
                <a:gd name="T37" fmla="*/ 646 h 139"/>
                <a:gd name="T38" fmla="*/ 2688 w 60"/>
                <a:gd name="T39" fmla="*/ 605 h 139"/>
                <a:gd name="T40" fmla="*/ 3154 w 60"/>
                <a:gd name="T41" fmla="*/ 565 h 139"/>
                <a:gd name="T42" fmla="*/ 3788 w 60"/>
                <a:gd name="T43" fmla="*/ 524 h 139"/>
                <a:gd name="T44" fmla="*/ 3845 w 60"/>
                <a:gd name="T45" fmla="*/ 479 h 139"/>
                <a:gd name="T46" fmla="*/ 4085 w 60"/>
                <a:gd name="T47" fmla="*/ 432 h 139"/>
                <a:gd name="T48" fmla="*/ 4085 w 60"/>
                <a:gd name="T49" fmla="*/ 384 h 139"/>
                <a:gd name="T50" fmla="*/ 4200 w 60"/>
                <a:gd name="T51" fmla="*/ 332 h 139"/>
                <a:gd name="T52" fmla="*/ 4200 w 60"/>
                <a:gd name="T53" fmla="*/ 295 h 139"/>
                <a:gd name="T54" fmla="*/ 4200 w 60"/>
                <a:gd name="T55" fmla="*/ 253 h 139"/>
                <a:gd name="T56" fmla="*/ 4239 w 60"/>
                <a:gd name="T57" fmla="*/ 210 h 139"/>
                <a:gd name="T58" fmla="*/ 4439 w 60"/>
                <a:gd name="T59" fmla="*/ 172 h 139"/>
                <a:gd name="T60" fmla="*/ 4735 w 60"/>
                <a:gd name="T61" fmla="*/ 144 h 139"/>
                <a:gd name="T62" fmla="*/ 5166 w 60"/>
                <a:gd name="T63" fmla="*/ 108 h 139"/>
                <a:gd name="T64" fmla="*/ 5650 w 60"/>
                <a:gd name="T65" fmla="*/ 84 h 139"/>
                <a:gd name="T66" fmla="*/ 6458 w 60"/>
                <a:gd name="T67" fmla="*/ 57 h 139"/>
                <a:gd name="T68" fmla="*/ 5650 w 60"/>
                <a:gd name="T69" fmla="*/ 0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
                <a:gd name="T106" fmla="*/ 0 h 139"/>
                <a:gd name="T107" fmla="*/ 60 w 60"/>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 h="139">
                  <a:moveTo>
                    <a:pt x="52" y="0"/>
                  </a:moveTo>
                  <a:lnTo>
                    <a:pt x="43" y="7"/>
                  </a:lnTo>
                  <a:lnTo>
                    <a:pt x="36" y="15"/>
                  </a:lnTo>
                  <a:lnTo>
                    <a:pt x="31" y="22"/>
                  </a:lnTo>
                  <a:lnTo>
                    <a:pt x="28" y="31"/>
                  </a:lnTo>
                  <a:lnTo>
                    <a:pt x="26" y="41"/>
                  </a:lnTo>
                  <a:lnTo>
                    <a:pt x="25" y="50"/>
                  </a:lnTo>
                  <a:lnTo>
                    <a:pt x="24" y="59"/>
                  </a:lnTo>
                  <a:lnTo>
                    <a:pt x="24" y="68"/>
                  </a:lnTo>
                  <a:lnTo>
                    <a:pt x="23" y="78"/>
                  </a:lnTo>
                  <a:lnTo>
                    <a:pt x="24" y="86"/>
                  </a:lnTo>
                  <a:lnTo>
                    <a:pt x="22" y="94"/>
                  </a:lnTo>
                  <a:lnTo>
                    <a:pt x="21" y="102"/>
                  </a:lnTo>
                  <a:lnTo>
                    <a:pt x="17" y="109"/>
                  </a:lnTo>
                  <a:lnTo>
                    <a:pt x="13" y="115"/>
                  </a:lnTo>
                  <a:lnTo>
                    <a:pt x="8" y="121"/>
                  </a:lnTo>
                  <a:lnTo>
                    <a:pt x="0" y="126"/>
                  </a:lnTo>
                  <a:lnTo>
                    <a:pt x="6" y="138"/>
                  </a:lnTo>
                  <a:lnTo>
                    <a:pt x="17" y="131"/>
                  </a:lnTo>
                  <a:lnTo>
                    <a:pt x="24" y="123"/>
                  </a:lnTo>
                  <a:lnTo>
                    <a:pt x="29" y="115"/>
                  </a:lnTo>
                  <a:lnTo>
                    <a:pt x="34" y="107"/>
                  </a:lnTo>
                  <a:lnTo>
                    <a:pt x="35" y="97"/>
                  </a:lnTo>
                  <a:lnTo>
                    <a:pt x="37" y="87"/>
                  </a:lnTo>
                  <a:lnTo>
                    <a:pt x="37" y="78"/>
                  </a:lnTo>
                  <a:lnTo>
                    <a:pt x="38" y="68"/>
                  </a:lnTo>
                  <a:lnTo>
                    <a:pt x="38" y="59"/>
                  </a:lnTo>
                  <a:lnTo>
                    <a:pt x="38" y="51"/>
                  </a:lnTo>
                  <a:lnTo>
                    <a:pt x="39" y="43"/>
                  </a:lnTo>
                  <a:lnTo>
                    <a:pt x="41" y="35"/>
                  </a:lnTo>
                  <a:lnTo>
                    <a:pt x="43" y="29"/>
                  </a:lnTo>
                  <a:lnTo>
                    <a:pt x="47" y="22"/>
                  </a:lnTo>
                  <a:lnTo>
                    <a:pt x="52" y="17"/>
                  </a:lnTo>
                  <a:lnTo>
                    <a:pt x="59" y="12"/>
                  </a:lnTo>
                  <a:lnTo>
                    <a:pt x="52" y="0"/>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5" name="Freeform 293">
              <a:extLst>
                <a:ext uri="{FF2B5EF4-FFF2-40B4-BE49-F238E27FC236}">
                  <a16:creationId xmlns:a16="http://schemas.microsoft.com/office/drawing/2014/main" id="{8A770764-163B-650A-E84A-3D5E0F713976}"/>
                </a:ext>
              </a:extLst>
            </p:cNvPr>
            <p:cNvSpPr>
              <a:spLocks/>
            </p:cNvSpPr>
            <p:nvPr/>
          </p:nvSpPr>
          <p:spPr bwMode="auto">
            <a:xfrm>
              <a:off x="3607" y="2951"/>
              <a:ext cx="187" cy="49"/>
            </a:xfrm>
            <a:custGeom>
              <a:avLst/>
              <a:gdLst>
                <a:gd name="T0" fmla="*/ 16637 w 149"/>
                <a:gd name="T1" fmla="*/ 163 h 45"/>
                <a:gd name="T2" fmla="*/ 16091 w 149"/>
                <a:gd name="T3" fmla="*/ 177 h 45"/>
                <a:gd name="T4" fmla="*/ 15256 w 149"/>
                <a:gd name="T5" fmla="*/ 189 h 45"/>
                <a:gd name="T6" fmla="*/ 14447 w 149"/>
                <a:gd name="T7" fmla="*/ 189 h 45"/>
                <a:gd name="T8" fmla="*/ 13756 w 149"/>
                <a:gd name="T9" fmla="*/ 175 h 45"/>
                <a:gd name="T10" fmla="*/ 12821 w 149"/>
                <a:gd name="T11" fmla="*/ 150 h 45"/>
                <a:gd name="T12" fmla="*/ 11722 w 149"/>
                <a:gd name="T13" fmla="*/ 136 h 45"/>
                <a:gd name="T14" fmla="*/ 10599 w 149"/>
                <a:gd name="T15" fmla="*/ 115 h 45"/>
                <a:gd name="T16" fmla="*/ 9629 w 149"/>
                <a:gd name="T17" fmla="*/ 89 h 45"/>
                <a:gd name="T18" fmla="*/ 8445 w 149"/>
                <a:gd name="T19" fmla="*/ 63 h 45"/>
                <a:gd name="T20" fmla="*/ 7308 w 149"/>
                <a:gd name="T21" fmla="*/ 45 h 45"/>
                <a:gd name="T22" fmla="*/ 6150 w 149"/>
                <a:gd name="T23" fmla="*/ 4 h 45"/>
                <a:gd name="T24" fmla="*/ 5016 w 149"/>
                <a:gd name="T25" fmla="*/ 2 h 45"/>
                <a:gd name="T26" fmla="*/ 3765 w 149"/>
                <a:gd name="T27" fmla="*/ 0 h 45"/>
                <a:gd name="T28" fmla="*/ 2402 w 149"/>
                <a:gd name="T29" fmla="*/ 2 h 45"/>
                <a:gd name="T30" fmla="*/ 1180 w 149"/>
                <a:gd name="T31" fmla="*/ 4 h 45"/>
                <a:gd name="T32" fmla="*/ 0 w 149"/>
                <a:gd name="T33" fmla="*/ 49 h 45"/>
                <a:gd name="T34" fmla="*/ 749 w 149"/>
                <a:gd name="T35" fmla="*/ 117 h 45"/>
                <a:gd name="T36" fmla="*/ 1673 w 149"/>
                <a:gd name="T37" fmla="*/ 106 h 45"/>
                <a:gd name="T38" fmla="*/ 2636 w 149"/>
                <a:gd name="T39" fmla="*/ 89 h 45"/>
                <a:gd name="T40" fmla="*/ 3765 w 149"/>
                <a:gd name="T41" fmla="*/ 89 h 45"/>
                <a:gd name="T42" fmla="*/ 4612 w 149"/>
                <a:gd name="T43" fmla="*/ 89 h 45"/>
                <a:gd name="T44" fmla="*/ 5788 w 149"/>
                <a:gd name="T45" fmla="*/ 106 h 45"/>
                <a:gd name="T46" fmla="*/ 6869 w 149"/>
                <a:gd name="T47" fmla="*/ 117 h 45"/>
                <a:gd name="T48" fmla="*/ 7900 w 149"/>
                <a:gd name="T49" fmla="*/ 138 h 45"/>
                <a:gd name="T50" fmla="*/ 8883 w 149"/>
                <a:gd name="T51" fmla="*/ 163 h 45"/>
                <a:gd name="T52" fmla="*/ 10062 w 149"/>
                <a:gd name="T53" fmla="*/ 191 h 45"/>
                <a:gd name="T54" fmla="*/ 11000 w 149"/>
                <a:gd name="T55" fmla="*/ 210 h 45"/>
                <a:gd name="T56" fmla="*/ 12156 w 149"/>
                <a:gd name="T57" fmla="*/ 229 h 45"/>
                <a:gd name="T58" fmla="*/ 13256 w 149"/>
                <a:gd name="T59" fmla="*/ 249 h 45"/>
                <a:gd name="T60" fmla="*/ 14322 w 149"/>
                <a:gd name="T61" fmla="*/ 266 h 45"/>
                <a:gd name="T62" fmla="*/ 15349 w 149"/>
                <a:gd name="T63" fmla="*/ 266 h 45"/>
                <a:gd name="T64" fmla="*/ 16535 w 149"/>
                <a:gd name="T65" fmla="*/ 259 h 45"/>
                <a:gd name="T66" fmla="*/ 17377 w 149"/>
                <a:gd name="T67" fmla="*/ 229 h 45"/>
                <a:gd name="T68" fmla="*/ 16637 w 149"/>
                <a:gd name="T69" fmla="*/ 163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9"/>
                <a:gd name="T106" fmla="*/ 0 h 45"/>
                <a:gd name="T107" fmla="*/ 149 w 149"/>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9" h="45">
                  <a:moveTo>
                    <a:pt x="141" y="28"/>
                  </a:moveTo>
                  <a:lnTo>
                    <a:pt x="136" y="30"/>
                  </a:lnTo>
                  <a:lnTo>
                    <a:pt x="129" y="31"/>
                  </a:lnTo>
                  <a:lnTo>
                    <a:pt x="123" y="31"/>
                  </a:lnTo>
                  <a:lnTo>
                    <a:pt x="116" y="29"/>
                  </a:lnTo>
                  <a:lnTo>
                    <a:pt x="108" y="26"/>
                  </a:lnTo>
                  <a:lnTo>
                    <a:pt x="99" y="23"/>
                  </a:lnTo>
                  <a:lnTo>
                    <a:pt x="90" y="19"/>
                  </a:lnTo>
                  <a:lnTo>
                    <a:pt x="81" y="15"/>
                  </a:lnTo>
                  <a:lnTo>
                    <a:pt x="72" y="11"/>
                  </a:lnTo>
                  <a:lnTo>
                    <a:pt x="62" y="7"/>
                  </a:lnTo>
                  <a:lnTo>
                    <a:pt x="52" y="4"/>
                  </a:lnTo>
                  <a:lnTo>
                    <a:pt x="42" y="2"/>
                  </a:lnTo>
                  <a:lnTo>
                    <a:pt x="32" y="0"/>
                  </a:lnTo>
                  <a:lnTo>
                    <a:pt x="21" y="2"/>
                  </a:lnTo>
                  <a:lnTo>
                    <a:pt x="10" y="4"/>
                  </a:lnTo>
                  <a:lnTo>
                    <a:pt x="0" y="8"/>
                  </a:lnTo>
                  <a:lnTo>
                    <a:pt x="6" y="20"/>
                  </a:lnTo>
                  <a:lnTo>
                    <a:pt x="14" y="17"/>
                  </a:lnTo>
                  <a:lnTo>
                    <a:pt x="23" y="15"/>
                  </a:lnTo>
                  <a:lnTo>
                    <a:pt x="32" y="15"/>
                  </a:lnTo>
                  <a:lnTo>
                    <a:pt x="39" y="15"/>
                  </a:lnTo>
                  <a:lnTo>
                    <a:pt x="49" y="17"/>
                  </a:lnTo>
                  <a:lnTo>
                    <a:pt x="58" y="20"/>
                  </a:lnTo>
                  <a:lnTo>
                    <a:pt x="67" y="24"/>
                  </a:lnTo>
                  <a:lnTo>
                    <a:pt x="76" y="28"/>
                  </a:lnTo>
                  <a:lnTo>
                    <a:pt x="85" y="32"/>
                  </a:lnTo>
                  <a:lnTo>
                    <a:pt x="93" y="36"/>
                  </a:lnTo>
                  <a:lnTo>
                    <a:pt x="103" y="39"/>
                  </a:lnTo>
                  <a:lnTo>
                    <a:pt x="112" y="42"/>
                  </a:lnTo>
                  <a:lnTo>
                    <a:pt x="121" y="44"/>
                  </a:lnTo>
                  <a:lnTo>
                    <a:pt x="130" y="44"/>
                  </a:lnTo>
                  <a:lnTo>
                    <a:pt x="140" y="43"/>
                  </a:lnTo>
                  <a:lnTo>
                    <a:pt x="148" y="39"/>
                  </a:lnTo>
                  <a:lnTo>
                    <a:pt x="141" y="28"/>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6" name="Freeform 294">
              <a:extLst>
                <a:ext uri="{FF2B5EF4-FFF2-40B4-BE49-F238E27FC236}">
                  <a16:creationId xmlns:a16="http://schemas.microsoft.com/office/drawing/2014/main" id="{F51AC43F-2A6B-242C-C7ED-E31DF8FB851F}"/>
                </a:ext>
              </a:extLst>
            </p:cNvPr>
            <p:cNvSpPr>
              <a:spLocks/>
            </p:cNvSpPr>
            <p:nvPr/>
          </p:nvSpPr>
          <p:spPr bwMode="auto">
            <a:xfrm>
              <a:off x="3784" y="2979"/>
              <a:ext cx="15" cy="15"/>
            </a:xfrm>
            <a:custGeom>
              <a:avLst/>
              <a:gdLst>
                <a:gd name="T0" fmla="*/ 889 w 12"/>
                <a:gd name="T1" fmla="*/ 6 h 14"/>
                <a:gd name="T2" fmla="*/ 455 w 12"/>
                <a:gd name="T3" fmla="*/ 0 h 14"/>
                <a:gd name="T4" fmla="*/ 0 w 12"/>
                <a:gd name="T5" fmla="*/ 2 h 14"/>
                <a:gd name="T6" fmla="*/ 744 w 12"/>
                <a:gd name="T7" fmla="*/ 54 h 14"/>
                <a:gd name="T8" fmla="*/ 1163 w 12"/>
                <a:gd name="T9" fmla="*/ 47 h 14"/>
                <a:gd name="T10" fmla="*/ 889 w 12"/>
                <a:gd name="T11" fmla="*/ 6 h 14"/>
                <a:gd name="T12" fmla="*/ 0 60000 65536"/>
                <a:gd name="T13" fmla="*/ 0 60000 65536"/>
                <a:gd name="T14" fmla="*/ 0 60000 65536"/>
                <a:gd name="T15" fmla="*/ 0 60000 65536"/>
                <a:gd name="T16" fmla="*/ 0 60000 65536"/>
                <a:gd name="T17" fmla="*/ 0 60000 65536"/>
                <a:gd name="T18" fmla="*/ 0 w 12"/>
                <a:gd name="T19" fmla="*/ 0 h 14"/>
                <a:gd name="T20" fmla="*/ 12 w 1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12" h="14">
                  <a:moveTo>
                    <a:pt x="8" y="6"/>
                  </a:moveTo>
                  <a:lnTo>
                    <a:pt x="4" y="0"/>
                  </a:lnTo>
                  <a:lnTo>
                    <a:pt x="0" y="2"/>
                  </a:lnTo>
                  <a:lnTo>
                    <a:pt x="7" y="13"/>
                  </a:lnTo>
                  <a:lnTo>
                    <a:pt x="11" y="11"/>
                  </a:lnTo>
                  <a:lnTo>
                    <a:pt x="8" y="6"/>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647" name="Freeform 295">
              <a:extLst>
                <a:ext uri="{FF2B5EF4-FFF2-40B4-BE49-F238E27FC236}">
                  <a16:creationId xmlns:a16="http://schemas.microsoft.com/office/drawing/2014/main" id="{9FB7E7DB-BF49-2BB6-EF3E-28130A0A5616}"/>
                </a:ext>
              </a:extLst>
            </p:cNvPr>
            <p:cNvSpPr>
              <a:spLocks/>
            </p:cNvSpPr>
            <p:nvPr/>
          </p:nvSpPr>
          <p:spPr bwMode="auto">
            <a:xfrm>
              <a:off x="2869" y="3295"/>
              <a:ext cx="149" cy="104"/>
            </a:xfrm>
            <a:custGeom>
              <a:avLst/>
              <a:gdLst>
                <a:gd name="T0" fmla="*/ 9018 w 119"/>
                <a:gd name="T1" fmla="*/ 225 h 96"/>
                <a:gd name="T2" fmla="*/ 8836 w 119"/>
                <a:gd name="T3" fmla="*/ 0 h 96"/>
                <a:gd name="T4" fmla="*/ 8558 w 119"/>
                <a:gd name="T5" fmla="*/ 0 h 96"/>
                <a:gd name="T6" fmla="*/ 4739 w 119"/>
                <a:gd name="T7" fmla="*/ 271 h 96"/>
                <a:gd name="T8" fmla="*/ 4049 w 119"/>
                <a:gd name="T9" fmla="*/ 311 h 96"/>
                <a:gd name="T10" fmla="*/ 3481 w 119"/>
                <a:gd name="T11" fmla="*/ 337 h 96"/>
                <a:gd name="T12" fmla="*/ 2930 w 119"/>
                <a:gd name="T13" fmla="*/ 367 h 96"/>
                <a:gd name="T14" fmla="*/ 2340 w 119"/>
                <a:gd name="T15" fmla="*/ 395 h 96"/>
                <a:gd name="T16" fmla="*/ 1773 w 119"/>
                <a:gd name="T17" fmla="*/ 428 h 96"/>
                <a:gd name="T18" fmla="*/ 1131 w 119"/>
                <a:gd name="T19" fmla="*/ 452 h 96"/>
                <a:gd name="T20" fmla="*/ 576 w 119"/>
                <a:gd name="T21" fmla="*/ 483 h 96"/>
                <a:gd name="T22" fmla="*/ 0 w 119"/>
                <a:gd name="T23" fmla="*/ 512 h 96"/>
                <a:gd name="T24" fmla="*/ 839 w 119"/>
                <a:gd name="T25" fmla="*/ 502 h 96"/>
                <a:gd name="T26" fmla="*/ 1648 w 119"/>
                <a:gd name="T27" fmla="*/ 483 h 96"/>
                <a:gd name="T28" fmla="*/ 2340 w 119"/>
                <a:gd name="T29" fmla="*/ 464 h 96"/>
                <a:gd name="T30" fmla="*/ 3147 w 119"/>
                <a:gd name="T31" fmla="*/ 452 h 96"/>
                <a:gd name="T32" fmla="*/ 3940 w 119"/>
                <a:gd name="T33" fmla="*/ 437 h 96"/>
                <a:gd name="T34" fmla="*/ 4739 w 119"/>
                <a:gd name="T35" fmla="*/ 427 h 96"/>
                <a:gd name="T36" fmla="*/ 5458 w 119"/>
                <a:gd name="T37" fmla="*/ 403 h 96"/>
                <a:gd name="T38" fmla="*/ 6356 w 119"/>
                <a:gd name="T39" fmla="*/ 395 h 96"/>
                <a:gd name="T40" fmla="*/ 13113 w 119"/>
                <a:gd name="T41" fmla="*/ 319 h 96"/>
                <a:gd name="T42" fmla="*/ 13269 w 119"/>
                <a:gd name="T43" fmla="*/ 317 h 96"/>
                <a:gd name="T44" fmla="*/ 9018 w 119"/>
                <a:gd name="T45" fmla="*/ 225 h 9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96"/>
                <a:gd name="T71" fmla="*/ 119 w 119"/>
                <a:gd name="T72" fmla="*/ 96 h 9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96">
                  <a:moveTo>
                    <a:pt x="80" y="41"/>
                  </a:moveTo>
                  <a:lnTo>
                    <a:pt x="78" y="0"/>
                  </a:lnTo>
                  <a:lnTo>
                    <a:pt x="77" y="0"/>
                  </a:lnTo>
                  <a:lnTo>
                    <a:pt x="42" y="51"/>
                  </a:lnTo>
                  <a:lnTo>
                    <a:pt x="36" y="57"/>
                  </a:lnTo>
                  <a:lnTo>
                    <a:pt x="31" y="62"/>
                  </a:lnTo>
                  <a:lnTo>
                    <a:pt x="26" y="68"/>
                  </a:lnTo>
                  <a:lnTo>
                    <a:pt x="21" y="73"/>
                  </a:lnTo>
                  <a:lnTo>
                    <a:pt x="16" y="79"/>
                  </a:lnTo>
                  <a:lnTo>
                    <a:pt x="10" y="84"/>
                  </a:lnTo>
                  <a:lnTo>
                    <a:pt x="5" y="90"/>
                  </a:lnTo>
                  <a:lnTo>
                    <a:pt x="0" y="95"/>
                  </a:lnTo>
                  <a:lnTo>
                    <a:pt x="7" y="92"/>
                  </a:lnTo>
                  <a:lnTo>
                    <a:pt x="14" y="90"/>
                  </a:lnTo>
                  <a:lnTo>
                    <a:pt x="21" y="86"/>
                  </a:lnTo>
                  <a:lnTo>
                    <a:pt x="28" y="84"/>
                  </a:lnTo>
                  <a:lnTo>
                    <a:pt x="35" y="81"/>
                  </a:lnTo>
                  <a:lnTo>
                    <a:pt x="42" y="78"/>
                  </a:lnTo>
                  <a:lnTo>
                    <a:pt x="49" y="75"/>
                  </a:lnTo>
                  <a:lnTo>
                    <a:pt x="57" y="73"/>
                  </a:lnTo>
                  <a:lnTo>
                    <a:pt x="117" y="60"/>
                  </a:lnTo>
                  <a:lnTo>
                    <a:pt x="118" y="59"/>
                  </a:lnTo>
                  <a:lnTo>
                    <a:pt x="80" y="41"/>
                  </a:lnTo>
                </a:path>
              </a:pathLst>
            </a:custGeom>
            <a:solidFill>
              <a:srgbClr val="FF4C4C"/>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grpSp>
        <p:nvGrpSpPr>
          <p:cNvPr id="7" name="Group 296">
            <a:extLst>
              <a:ext uri="{FF2B5EF4-FFF2-40B4-BE49-F238E27FC236}">
                <a16:creationId xmlns:a16="http://schemas.microsoft.com/office/drawing/2014/main" id="{B42586FA-2AAB-9910-14B0-1AEC81BD6CCA}"/>
              </a:ext>
            </a:extLst>
          </p:cNvPr>
          <p:cNvGrpSpPr>
            <a:grpSpLocks/>
          </p:cNvGrpSpPr>
          <p:nvPr/>
        </p:nvGrpSpPr>
        <p:grpSpPr bwMode="auto">
          <a:xfrm>
            <a:off x="2866779" y="3008360"/>
            <a:ext cx="1683543" cy="1250156"/>
            <a:chOff x="1341" y="978"/>
            <a:chExt cx="875" cy="612"/>
          </a:xfrm>
        </p:grpSpPr>
        <p:sp>
          <p:nvSpPr>
            <p:cNvPr id="22587" name="Freeform 297">
              <a:extLst>
                <a:ext uri="{FF2B5EF4-FFF2-40B4-BE49-F238E27FC236}">
                  <a16:creationId xmlns:a16="http://schemas.microsoft.com/office/drawing/2014/main" id="{15001CE5-480E-AD3B-9F87-6953DBC8BA5A}"/>
                </a:ext>
              </a:extLst>
            </p:cNvPr>
            <p:cNvSpPr>
              <a:spLocks/>
            </p:cNvSpPr>
            <p:nvPr/>
          </p:nvSpPr>
          <p:spPr bwMode="auto">
            <a:xfrm>
              <a:off x="1341" y="978"/>
              <a:ext cx="875" cy="612"/>
            </a:xfrm>
            <a:custGeom>
              <a:avLst/>
              <a:gdLst>
                <a:gd name="T0" fmla="*/ 10117291 w 532"/>
                <a:gd name="T1" fmla="*/ 10021 h 532"/>
                <a:gd name="T2" fmla="*/ 11875194 w 532"/>
                <a:gd name="T3" fmla="*/ 9832 h 532"/>
                <a:gd name="T4" fmla="*/ 13535286 w 532"/>
                <a:gd name="T5" fmla="*/ 9448 h 532"/>
                <a:gd name="T6" fmla="*/ 14981413 w 532"/>
                <a:gd name="T7" fmla="*/ 8921 h 532"/>
                <a:gd name="T8" fmla="*/ 16217197 w 532"/>
                <a:gd name="T9" fmla="*/ 8213 h 532"/>
                <a:gd name="T10" fmla="*/ 17221863 w 532"/>
                <a:gd name="T11" fmla="*/ 7430 h 532"/>
                <a:gd name="T12" fmla="*/ 17929457 w 532"/>
                <a:gd name="T13" fmla="*/ 6540 h 532"/>
                <a:gd name="T14" fmla="*/ 18262549 w 532"/>
                <a:gd name="T15" fmla="*/ 5537 h 532"/>
                <a:gd name="T16" fmla="*/ 18262549 w 532"/>
                <a:gd name="T17" fmla="*/ 4505 h 532"/>
                <a:gd name="T18" fmla="*/ 17929457 w 532"/>
                <a:gd name="T19" fmla="*/ 3532 h 532"/>
                <a:gd name="T20" fmla="*/ 17221863 w 532"/>
                <a:gd name="T21" fmla="*/ 2644 h 532"/>
                <a:gd name="T22" fmla="*/ 16217197 w 532"/>
                <a:gd name="T23" fmla="*/ 1839 h 532"/>
                <a:gd name="T24" fmla="*/ 14981413 w 532"/>
                <a:gd name="T25" fmla="*/ 1141 h 532"/>
                <a:gd name="T26" fmla="*/ 13535286 w 532"/>
                <a:gd name="T27" fmla="*/ 610 h 532"/>
                <a:gd name="T28" fmla="*/ 11875194 w 532"/>
                <a:gd name="T29" fmla="*/ 229 h 532"/>
                <a:gd name="T30" fmla="*/ 10117291 w 532"/>
                <a:gd name="T31" fmla="*/ 1 h 532"/>
                <a:gd name="T32" fmla="*/ 8207439 w 532"/>
                <a:gd name="T33" fmla="*/ 1 h 532"/>
                <a:gd name="T34" fmla="*/ 6414414 w 532"/>
                <a:gd name="T35" fmla="*/ 229 h 532"/>
                <a:gd name="T36" fmla="*/ 4811548 w 532"/>
                <a:gd name="T37" fmla="*/ 610 h 532"/>
                <a:gd name="T38" fmla="*/ 3358850 w 532"/>
                <a:gd name="T39" fmla="*/ 1141 h 532"/>
                <a:gd name="T40" fmla="*/ 2078640 w 532"/>
                <a:gd name="T41" fmla="*/ 1839 h 532"/>
                <a:gd name="T42" fmla="*/ 1111309 w 532"/>
                <a:gd name="T43" fmla="*/ 2644 h 532"/>
                <a:gd name="T44" fmla="*/ 418803 w 532"/>
                <a:gd name="T45" fmla="*/ 3532 h 532"/>
                <a:gd name="T46" fmla="*/ 37276 w 532"/>
                <a:gd name="T47" fmla="*/ 4505 h 532"/>
                <a:gd name="T48" fmla="*/ 37276 w 532"/>
                <a:gd name="T49" fmla="*/ 5537 h 532"/>
                <a:gd name="T50" fmla="*/ 418803 w 532"/>
                <a:gd name="T51" fmla="*/ 6540 h 532"/>
                <a:gd name="T52" fmla="*/ 1111309 w 532"/>
                <a:gd name="T53" fmla="*/ 7430 h 532"/>
                <a:gd name="T54" fmla="*/ 2078640 w 532"/>
                <a:gd name="T55" fmla="*/ 8213 h 532"/>
                <a:gd name="T56" fmla="*/ 3358850 w 532"/>
                <a:gd name="T57" fmla="*/ 8921 h 532"/>
                <a:gd name="T58" fmla="*/ 4811548 w 532"/>
                <a:gd name="T59" fmla="*/ 9448 h 532"/>
                <a:gd name="T60" fmla="*/ 6414414 w 532"/>
                <a:gd name="T61" fmla="*/ 9832 h 532"/>
                <a:gd name="T62" fmla="*/ 8207439 w 532"/>
                <a:gd name="T63" fmla="*/ 10021 h 5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2"/>
                <a:gd name="T97" fmla="*/ 0 h 532"/>
                <a:gd name="T98" fmla="*/ 532 w 532"/>
                <a:gd name="T99" fmla="*/ 532 h 5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2" h="532">
                  <a:moveTo>
                    <a:pt x="266" y="531"/>
                  </a:moveTo>
                  <a:lnTo>
                    <a:pt x="293" y="529"/>
                  </a:lnTo>
                  <a:lnTo>
                    <a:pt x="319" y="526"/>
                  </a:lnTo>
                  <a:lnTo>
                    <a:pt x="344" y="519"/>
                  </a:lnTo>
                  <a:lnTo>
                    <a:pt x="369" y="510"/>
                  </a:lnTo>
                  <a:lnTo>
                    <a:pt x="392" y="499"/>
                  </a:lnTo>
                  <a:lnTo>
                    <a:pt x="414" y="485"/>
                  </a:lnTo>
                  <a:lnTo>
                    <a:pt x="434" y="470"/>
                  </a:lnTo>
                  <a:lnTo>
                    <a:pt x="453" y="453"/>
                  </a:lnTo>
                  <a:lnTo>
                    <a:pt x="470" y="434"/>
                  </a:lnTo>
                  <a:lnTo>
                    <a:pt x="485" y="414"/>
                  </a:lnTo>
                  <a:lnTo>
                    <a:pt x="499" y="392"/>
                  </a:lnTo>
                  <a:lnTo>
                    <a:pt x="510" y="368"/>
                  </a:lnTo>
                  <a:lnTo>
                    <a:pt x="519" y="344"/>
                  </a:lnTo>
                  <a:lnTo>
                    <a:pt x="526" y="318"/>
                  </a:lnTo>
                  <a:lnTo>
                    <a:pt x="529" y="292"/>
                  </a:lnTo>
                  <a:lnTo>
                    <a:pt x="531" y="265"/>
                  </a:lnTo>
                  <a:lnTo>
                    <a:pt x="529" y="238"/>
                  </a:lnTo>
                  <a:lnTo>
                    <a:pt x="526" y="212"/>
                  </a:lnTo>
                  <a:lnTo>
                    <a:pt x="519" y="186"/>
                  </a:lnTo>
                  <a:lnTo>
                    <a:pt x="510" y="162"/>
                  </a:lnTo>
                  <a:lnTo>
                    <a:pt x="499" y="139"/>
                  </a:lnTo>
                  <a:lnTo>
                    <a:pt x="485" y="117"/>
                  </a:lnTo>
                  <a:lnTo>
                    <a:pt x="470" y="97"/>
                  </a:lnTo>
                  <a:lnTo>
                    <a:pt x="453" y="78"/>
                  </a:lnTo>
                  <a:lnTo>
                    <a:pt x="434" y="60"/>
                  </a:lnTo>
                  <a:lnTo>
                    <a:pt x="414" y="46"/>
                  </a:lnTo>
                  <a:lnTo>
                    <a:pt x="392" y="32"/>
                  </a:lnTo>
                  <a:lnTo>
                    <a:pt x="369" y="21"/>
                  </a:lnTo>
                  <a:lnTo>
                    <a:pt x="344" y="12"/>
                  </a:lnTo>
                  <a:lnTo>
                    <a:pt x="319" y="5"/>
                  </a:lnTo>
                  <a:lnTo>
                    <a:pt x="293" y="1"/>
                  </a:lnTo>
                  <a:lnTo>
                    <a:pt x="266" y="0"/>
                  </a:lnTo>
                  <a:lnTo>
                    <a:pt x="238" y="1"/>
                  </a:lnTo>
                  <a:lnTo>
                    <a:pt x="212" y="5"/>
                  </a:lnTo>
                  <a:lnTo>
                    <a:pt x="186" y="12"/>
                  </a:lnTo>
                  <a:lnTo>
                    <a:pt x="162" y="21"/>
                  </a:lnTo>
                  <a:lnTo>
                    <a:pt x="139" y="32"/>
                  </a:lnTo>
                  <a:lnTo>
                    <a:pt x="117" y="46"/>
                  </a:lnTo>
                  <a:lnTo>
                    <a:pt x="97" y="60"/>
                  </a:lnTo>
                  <a:lnTo>
                    <a:pt x="78" y="78"/>
                  </a:lnTo>
                  <a:lnTo>
                    <a:pt x="60" y="97"/>
                  </a:lnTo>
                  <a:lnTo>
                    <a:pt x="45" y="117"/>
                  </a:lnTo>
                  <a:lnTo>
                    <a:pt x="32" y="139"/>
                  </a:lnTo>
                  <a:lnTo>
                    <a:pt x="21" y="162"/>
                  </a:lnTo>
                  <a:lnTo>
                    <a:pt x="12" y="186"/>
                  </a:lnTo>
                  <a:lnTo>
                    <a:pt x="5" y="212"/>
                  </a:lnTo>
                  <a:lnTo>
                    <a:pt x="1" y="238"/>
                  </a:lnTo>
                  <a:lnTo>
                    <a:pt x="0" y="265"/>
                  </a:lnTo>
                  <a:lnTo>
                    <a:pt x="1" y="292"/>
                  </a:lnTo>
                  <a:lnTo>
                    <a:pt x="5" y="318"/>
                  </a:lnTo>
                  <a:lnTo>
                    <a:pt x="12" y="344"/>
                  </a:lnTo>
                  <a:lnTo>
                    <a:pt x="21" y="368"/>
                  </a:lnTo>
                  <a:lnTo>
                    <a:pt x="32" y="392"/>
                  </a:lnTo>
                  <a:lnTo>
                    <a:pt x="45" y="414"/>
                  </a:lnTo>
                  <a:lnTo>
                    <a:pt x="60" y="434"/>
                  </a:lnTo>
                  <a:lnTo>
                    <a:pt x="78" y="453"/>
                  </a:lnTo>
                  <a:lnTo>
                    <a:pt x="97" y="470"/>
                  </a:lnTo>
                  <a:lnTo>
                    <a:pt x="117" y="485"/>
                  </a:lnTo>
                  <a:lnTo>
                    <a:pt x="139" y="499"/>
                  </a:lnTo>
                  <a:lnTo>
                    <a:pt x="162" y="510"/>
                  </a:lnTo>
                  <a:lnTo>
                    <a:pt x="186" y="519"/>
                  </a:lnTo>
                  <a:lnTo>
                    <a:pt x="212" y="526"/>
                  </a:lnTo>
                  <a:lnTo>
                    <a:pt x="238" y="529"/>
                  </a:lnTo>
                  <a:lnTo>
                    <a:pt x="266" y="531"/>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8" name="Rectangle 298">
              <a:extLst>
                <a:ext uri="{FF2B5EF4-FFF2-40B4-BE49-F238E27FC236}">
                  <a16:creationId xmlns:a16="http://schemas.microsoft.com/office/drawing/2014/main" id="{D40D8783-02DF-C981-0626-AE145A14B4AB}"/>
                </a:ext>
              </a:extLst>
            </p:cNvPr>
            <p:cNvSpPr>
              <a:spLocks noChangeArrowheads="1"/>
            </p:cNvSpPr>
            <p:nvPr/>
          </p:nvSpPr>
          <p:spPr bwMode="auto">
            <a:xfrm>
              <a:off x="1557" y="1158"/>
              <a:ext cx="4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2400" b="1">
                  <a:solidFill>
                    <a:srgbClr val="FC0128"/>
                  </a:solidFill>
                  <a:latin typeface="Arial" panose="020B0604020202020204" pitchFamily="34" charset="0"/>
                </a:rPr>
                <a:t>SUN</a:t>
              </a:r>
              <a:endParaRPr lang="en-GB" altLang="en-US" sz="1650" b="1">
                <a:solidFill>
                  <a:srgbClr val="FC0128"/>
                </a:solidFill>
                <a:latin typeface="Arial" panose="020B0604020202020204" pitchFamily="34" charset="0"/>
              </a:endParaRPr>
            </a:p>
          </p:txBody>
        </p:sp>
      </p:grpSp>
      <p:sp>
        <p:nvSpPr>
          <p:cNvPr id="139563" name="Rectangle 299">
            <a:extLst>
              <a:ext uri="{FF2B5EF4-FFF2-40B4-BE49-F238E27FC236}">
                <a16:creationId xmlns:a16="http://schemas.microsoft.com/office/drawing/2014/main" id="{17751170-EBBC-65B3-B275-AF0B065163E1}"/>
              </a:ext>
            </a:extLst>
          </p:cNvPr>
          <p:cNvSpPr>
            <a:spLocks noChangeArrowheads="1"/>
          </p:cNvSpPr>
          <p:nvPr/>
        </p:nvSpPr>
        <p:spPr bwMode="auto">
          <a:xfrm>
            <a:off x="5065038" y="3810840"/>
            <a:ext cx="4137880" cy="92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Some solar radiation is</a:t>
            </a:r>
          </a:p>
          <a:p>
            <a:pPr algn="ctr">
              <a:lnSpc>
                <a:spcPct val="100000"/>
              </a:lnSpc>
              <a:spcBef>
                <a:spcPct val="0"/>
              </a:spcBef>
              <a:buFontTx/>
              <a:buNone/>
            </a:pPr>
            <a:r>
              <a:rPr lang="en-GB" altLang="en-US" sz="1800" b="1">
                <a:solidFill>
                  <a:srgbClr val="000000"/>
                </a:solidFill>
                <a:latin typeface="Arial" panose="020B0604020202020204" pitchFamily="34" charset="0"/>
              </a:rPr>
              <a:t>reflected by the earth’s</a:t>
            </a:r>
          </a:p>
          <a:p>
            <a:pPr algn="ctr">
              <a:lnSpc>
                <a:spcPct val="100000"/>
              </a:lnSpc>
              <a:spcBef>
                <a:spcPct val="0"/>
              </a:spcBef>
              <a:buFontTx/>
              <a:buNone/>
            </a:pPr>
            <a:r>
              <a:rPr lang="en-GB" altLang="en-US" sz="1800" b="1">
                <a:solidFill>
                  <a:srgbClr val="000000"/>
                </a:solidFill>
                <a:latin typeface="Arial" panose="020B0604020202020204" pitchFamily="34" charset="0"/>
              </a:rPr>
              <a:t>surface, clouds and the atmosphere</a:t>
            </a:r>
            <a:endParaRPr lang="en-GB" altLang="en-US" sz="1950" b="1">
              <a:solidFill>
                <a:srgbClr val="000000"/>
              </a:solidFill>
              <a:latin typeface="Arial" panose="020B0604020202020204" pitchFamily="34" charset="0"/>
            </a:endParaRPr>
          </a:p>
        </p:txBody>
      </p:sp>
      <p:sp>
        <p:nvSpPr>
          <p:cNvPr id="139564" name="Rectangle 300">
            <a:extLst>
              <a:ext uri="{FF2B5EF4-FFF2-40B4-BE49-F238E27FC236}">
                <a16:creationId xmlns:a16="http://schemas.microsoft.com/office/drawing/2014/main" id="{8087911E-D9A3-6542-F4E4-AA52848068D9}"/>
              </a:ext>
            </a:extLst>
          </p:cNvPr>
          <p:cNvSpPr>
            <a:spLocks noChangeArrowheads="1"/>
          </p:cNvSpPr>
          <p:nvPr/>
        </p:nvSpPr>
        <p:spPr bwMode="auto">
          <a:xfrm>
            <a:off x="6812509" y="6177803"/>
            <a:ext cx="2067634" cy="415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100" b="1">
                <a:latin typeface="Arial" panose="020B0604020202020204" pitchFamily="34" charset="0"/>
              </a:rPr>
              <a:t>ATMOSPHERE</a:t>
            </a:r>
          </a:p>
        </p:txBody>
      </p:sp>
      <p:sp>
        <p:nvSpPr>
          <p:cNvPr id="139565" name="Rectangle 301">
            <a:extLst>
              <a:ext uri="{FF2B5EF4-FFF2-40B4-BE49-F238E27FC236}">
                <a16:creationId xmlns:a16="http://schemas.microsoft.com/office/drawing/2014/main" id="{FB055E97-325B-6D87-0670-BE364335F81B}"/>
              </a:ext>
            </a:extLst>
          </p:cNvPr>
          <p:cNvSpPr>
            <a:spLocks noChangeArrowheads="1"/>
          </p:cNvSpPr>
          <p:nvPr/>
        </p:nvSpPr>
        <p:spPr bwMode="auto">
          <a:xfrm>
            <a:off x="3706586" y="8749553"/>
            <a:ext cx="2239925" cy="64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and is absorbed to</a:t>
            </a:r>
          </a:p>
          <a:p>
            <a:pPr algn="ctr">
              <a:lnSpc>
                <a:spcPct val="100000"/>
              </a:lnSpc>
              <a:spcBef>
                <a:spcPct val="0"/>
              </a:spcBef>
              <a:buFontTx/>
              <a:buNone/>
            </a:pPr>
            <a:r>
              <a:rPr lang="en-GB" altLang="en-US" sz="1800" b="1">
                <a:solidFill>
                  <a:srgbClr val="000000"/>
                </a:solidFill>
                <a:latin typeface="Arial" panose="020B0604020202020204" pitchFamily="34" charset="0"/>
              </a:rPr>
              <a:t> warm the surface</a:t>
            </a:r>
          </a:p>
        </p:txBody>
      </p:sp>
      <p:sp>
        <p:nvSpPr>
          <p:cNvPr id="139566" name="Rectangle 302">
            <a:extLst>
              <a:ext uri="{FF2B5EF4-FFF2-40B4-BE49-F238E27FC236}">
                <a16:creationId xmlns:a16="http://schemas.microsoft.com/office/drawing/2014/main" id="{3E751BA1-A1FC-096A-9B67-561303E91854}"/>
              </a:ext>
            </a:extLst>
          </p:cNvPr>
          <p:cNvSpPr>
            <a:spLocks noChangeArrowheads="1"/>
          </p:cNvSpPr>
          <p:nvPr/>
        </p:nvSpPr>
        <p:spPr bwMode="auto">
          <a:xfrm>
            <a:off x="10139117" y="2827385"/>
            <a:ext cx="3145631" cy="12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Some of the infrared</a:t>
            </a:r>
          </a:p>
          <a:p>
            <a:pPr algn="ctr">
              <a:lnSpc>
                <a:spcPct val="100000"/>
              </a:lnSpc>
              <a:spcBef>
                <a:spcPct val="0"/>
              </a:spcBef>
              <a:buFontTx/>
              <a:buNone/>
            </a:pPr>
            <a:r>
              <a:rPr lang="en-GB" altLang="en-US" sz="1800" b="1">
                <a:solidFill>
                  <a:srgbClr val="000000"/>
                </a:solidFill>
                <a:latin typeface="Arial" panose="020B0604020202020204" pitchFamily="34" charset="0"/>
              </a:rPr>
              <a:t>radiation is absorbed</a:t>
            </a:r>
          </a:p>
          <a:p>
            <a:pPr algn="ctr">
              <a:lnSpc>
                <a:spcPct val="100000"/>
              </a:lnSpc>
              <a:spcBef>
                <a:spcPct val="0"/>
              </a:spcBef>
              <a:buFontTx/>
              <a:buNone/>
            </a:pPr>
            <a:r>
              <a:rPr lang="en-GB" altLang="en-US" sz="1800" b="1">
                <a:solidFill>
                  <a:srgbClr val="000000"/>
                </a:solidFill>
                <a:latin typeface="Arial" panose="020B0604020202020204" pitchFamily="34" charset="0"/>
              </a:rPr>
              <a:t>and re-emitted by the</a:t>
            </a:r>
          </a:p>
          <a:p>
            <a:pPr algn="ctr">
              <a:lnSpc>
                <a:spcPct val="100000"/>
              </a:lnSpc>
              <a:spcBef>
                <a:spcPct val="0"/>
              </a:spcBef>
              <a:buFontTx/>
              <a:buNone/>
            </a:pPr>
            <a:r>
              <a:rPr lang="en-GB" altLang="en-US" sz="1800" b="1">
                <a:solidFill>
                  <a:srgbClr val="000000"/>
                </a:solidFill>
                <a:latin typeface="Arial" panose="020B0604020202020204" pitchFamily="34" charset="0"/>
              </a:rPr>
              <a:t>greenhouse gases.</a:t>
            </a:r>
          </a:p>
        </p:txBody>
      </p:sp>
      <p:sp>
        <p:nvSpPr>
          <p:cNvPr id="139567" name="Rectangle 303">
            <a:extLst>
              <a:ext uri="{FF2B5EF4-FFF2-40B4-BE49-F238E27FC236}">
                <a16:creationId xmlns:a16="http://schemas.microsoft.com/office/drawing/2014/main" id="{F09051D0-102E-12E8-9D96-546A5A7F9C8D}"/>
              </a:ext>
            </a:extLst>
          </p:cNvPr>
          <p:cNvSpPr>
            <a:spLocks noChangeArrowheads="1"/>
          </p:cNvSpPr>
          <p:nvPr/>
        </p:nvSpPr>
        <p:spPr bwMode="auto">
          <a:xfrm>
            <a:off x="10550980" y="6570709"/>
            <a:ext cx="2919598" cy="92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Terrestrial radiation</a:t>
            </a:r>
          </a:p>
          <a:p>
            <a:pPr algn="ctr">
              <a:lnSpc>
                <a:spcPct val="100000"/>
              </a:lnSpc>
              <a:spcBef>
                <a:spcPct val="0"/>
              </a:spcBef>
              <a:buFontTx/>
              <a:buNone/>
            </a:pPr>
            <a:r>
              <a:rPr lang="en-GB" altLang="en-US" sz="1800" b="1">
                <a:solidFill>
                  <a:srgbClr val="000000"/>
                </a:solidFill>
                <a:latin typeface="Arial" panose="020B0604020202020204" pitchFamily="34" charset="0"/>
              </a:rPr>
              <a:t> low temperature source </a:t>
            </a:r>
          </a:p>
          <a:p>
            <a:pPr algn="ctr">
              <a:lnSpc>
                <a:spcPct val="100000"/>
              </a:lnSpc>
              <a:spcBef>
                <a:spcPct val="0"/>
              </a:spcBef>
              <a:buFontTx/>
              <a:buNone/>
            </a:pPr>
            <a:r>
              <a:rPr lang="en-GB" altLang="en-US" sz="1800" b="1">
                <a:solidFill>
                  <a:srgbClr val="FF0066"/>
                </a:solidFill>
                <a:latin typeface="Arial" panose="020B0604020202020204" pitchFamily="34" charset="0"/>
              </a:rPr>
              <a:t> Long Waves</a:t>
            </a:r>
            <a:endParaRPr lang="en-GB" altLang="en-US" sz="1800" b="1">
              <a:solidFill>
                <a:srgbClr val="000000"/>
              </a:solidFill>
              <a:latin typeface="Arial" panose="020B0604020202020204" pitchFamily="34" charset="0"/>
            </a:endParaRPr>
          </a:p>
        </p:txBody>
      </p:sp>
      <p:sp>
        <p:nvSpPr>
          <p:cNvPr id="22546" name="Text Box 304">
            <a:extLst>
              <a:ext uri="{FF2B5EF4-FFF2-40B4-BE49-F238E27FC236}">
                <a16:creationId xmlns:a16="http://schemas.microsoft.com/office/drawing/2014/main" id="{5FC3BCD6-2706-1CC0-9893-813FC3B33ACE}"/>
              </a:ext>
            </a:extLst>
          </p:cNvPr>
          <p:cNvSpPr txBox="1">
            <a:spLocks noChangeArrowheads="1"/>
          </p:cNvSpPr>
          <p:nvPr/>
        </p:nvSpPr>
        <p:spPr bwMode="auto">
          <a:xfrm>
            <a:off x="852241" y="2163015"/>
            <a:ext cx="190127" cy="23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4112" tIns="47057" rIns="94112" bIns="47057">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900" b="1">
              <a:solidFill>
                <a:srgbClr val="000000"/>
              </a:solidFill>
              <a:latin typeface="Arial" panose="020B0604020202020204" pitchFamily="34" charset="0"/>
            </a:endParaRPr>
          </a:p>
        </p:txBody>
      </p:sp>
      <p:sp>
        <p:nvSpPr>
          <p:cNvPr id="139570" name="Rectangle 306">
            <a:extLst>
              <a:ext uri="{FF2B5EF4-FFF2-40B4-BE49-F238E27FC236}">
                <a16:creationId xmlns:a16="http://schemas.microsoft.com/office/drawing/2014/main" id="{B18B9D23-E4BE-284F-104D-0B4877950B4B}"/>
              </a:ext>
            </a:extLst>
          </p:cNvPr>
          <p:cNvSpPr>
            <a:spLocks noChangeArrowheads="1"/>
          </p:cNvSpPr>
          <p:nvPr/>
        </p:nvSpPr>
        <p:spPr bwMode="auto">
          <a:xfrm>
            <a:off x="2623544" y="2177302"/>
            <a:ext cx="2227164" cy="92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Solar radiation</a:t>
            </a:r>
          </a:p>
          <a:p>
            <a:pPr algn="ctr">
              <a:lnSpc>
                <a:spcPct val="100000"/>
              </a:lnSpc>
              <a:spcBef>
                <a:spcPct val="0"/>
              </a:spcBef>
              <a:buFontTx/>
              <a:buNone/>
            </a:pPr>
            <a:r>
              <a:rPr lang="en-GB" altLang="en-US" sz="1800" b="1">
                <a:solidFill>
                  <a:srgbClr val="000000"/>
                </a:solidFill>
                <a:latin typeface="Arial" panose="020B0604020202020204" pitchFamily="34" charset="0"/>
              </a:rPr>
              <a:t>high temp’ source </a:t>
            </a:r>
          </a:p>
          <a:p>
            <a:pPr algn="ctr">
              <a:lnSpc>
                <a:spcPct val="100000"/>
              </a:lnSpc>
              <a:spcBef>
                <a:spcPct val="0"/>
              </a:spcBef>
              <a:buFontTx/>
              <a:buNone/>
            </a:pPr>
            <a:r>
              <a:rPr lang="en-GB" altLang="en-US" sz="1800" b="1">
                <a:solidFill>
                  <a:srgbClr val="FF0066"/>
                </a:solidFill>
                <a:latin typeface="Arial" panose="020B0604020202020204" pitchFamily="34" charset="0"/>
              </a:rPr>
              <a:t>Short Waves</a:t>
            </a:r>
          </a:p>
        </p:txBody>
      </p:sp>
      <p:sp>
        <p:nvSpPr>
          <p:cNvPr id="139571" name="Rectangle 307">
            <a:extLst>
              <a:ext uri="{FF2B5EF4-FFF2-40B4-BE49-F238E27FC236}">
                <a16:creationId xmlns:a16="http://schemas.microsoft.com/office/drawing/2014/main" id="{ABB708EA-5D24-35EC-16AE-B45647CD630A}"/>
              </a:ext>
            </a:extLst>
          </p:cNvPr>
          <p:cNvSpPr>
            <a:spLocks noChangeArrowheads="1"/>
          </p:cNvSpPr>
          <p:nvPr/>
        </p:nvSpPr>
        <p:spPr bwMode="auto">
          <a:xfrm>
            <a:off x="6967291" y="2636885"/>
            <a:ext cx="2026443" cy="415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100" b="1">
                <a:latin typeface="Arial" panose="020B0604020202020204" pitchFamily="34" charset="0"/>
              </a:rPr>
              <a:t>SPACE</a:t>
            </a:r>
          </a:p>
        </p:txBody>
      </p:sp>
      <p:grpSp>
        <p:nvGrpSpPr>
          <p:cNvPr id="8" name="Group 308">
            <a:extLst>
              <a:ext uri="{FF2B5EF4-FFF2-40B4-BE49-F238E27FC236}">
                <a16:creationId xmlns:a16="http://schemas.microsoft.com/office/drawing/2014/main" id="{6C4660CE-20C7-7840-DC32-CAD7EAED23C0}"/>
              </a:ext>
            </a:extLst>
          </p:cNvPr>
          <p:cNvGrpSpPr>
            <a:grpSpLocks/>
          </p:cNvGrpSpPr>
          <p:nvPr/>
        </p:nvGrpSpPr>
        <p:grpSpPr bwMode="auto">
          <a:xfrm>
            <a:off x="2847729" y="4096590"/>
            <a:ext cx="1066800" cy="2338388"/>
            <a:chOff x="1331" y="1511"/>
            <a:chExt cx="555" cy="1145"/>
          </a:xfrm>
        </p:grpSpPr>
        <p:grpSp>
          <p:nvGrpSpPr>
            <p:cNvPr id="22558" name="Group 309">
              <a:extLst>
                <a:ext uri="{FF2B5EF4-FFF2-40B4-BE49-F238E27FC236}">
                  <a16:creationId xmlns:a16="http://schemas.microsoft.com/office/drawing/2014/main" id="{78502FB8-0C54-12F5-436D-C7DF405DB596}"/>
                </a:ext>
              </a:extLst>
            </p:cNvPr>
            <p:cNvGrpSpPr>
              <a:grpSpLocks/>
            </p:cNvGrpSpPr>
            <p:nvPr/>
          </p:nvGrpSpPr>
          <p:grpSpPr bwMode="auto">
            <a:xfrm>
              <a:off x="1331" y="1511"/>
              <a:ext cx="543" cy="1061"/>
              <a:chOff x="1745" y="2574"/>
              <a:chExt cx="543" cy="1061"/>
            </a:xfrm>
          </p:grpSpPr>
          <p:sp>
            <p:nvSpPr>
              <p:cNvPr id="22560" name="Freeform 310">
                <a:extLst>
                  <a:ext uri="{FF2B5EF4-FFF2-40B4-BE49-F238E27FC236}">
                    <a16:creationId xmlns:a16="http://schemas.microsoft.com/office/drawing/2014/main" id="{49D49E81-9221-B2CC-310A-852620646F25}"/>
                  </a:ext>
                </a:extLst>
              </p:cNvPr>
              <p:cNvSpPr>
                <a:spLocks/>
              </p:cNvSpPr>
              <p:nvPr/>
            </p:nvSpPr>
            <p:spPr bwMode="auto">
              <a:xfrm>
                <a:off x="2210" y="3547"/>
                <a:ext cx="78" cy="88"/>
              </a:xfrm>
              <a:custGeom>
                <a:avLst/>
                <a:gdLst>
                  <a:gd name="T0" fmla="*/ 1379691 w 47"/>
                  <a:gd name="T1" fmla="*/ 93 h 76"/>
                  <a:gd name="T2" fmla="*/ 1379691 w 47"/>
                  <a:gd name="T3" fmla="*/ 125 h 76"/>
                  <a:gd name="T4" fmla="*/ 1285052 w 47"/>
                  <a:gd name="T5" fmla="*/ 125 h 76"/>
                  <a:gd name="T6" fmla="*/ 1007239 w 47"/>
                  <a:gd name="T7" fmla="*/ 226 h 76"/>
                  <a:gd name="T8" fmla="*/ 683071 w 47"/>
                  <a:gd name="T9" fmla="*/ 303 h 76"/>
                  <a:gd name="T10" fmla="*/ 301850 w 47"/>
                  <a:gd name="T11" fmla="*/ 470 h 76"/>
                  <a:gd name="T12" fmla="*/ 44208 w 47"/>
                  <a:gd name="T13" fmla="*/ 729 h 76"/>
                  <a:gd name="T14" fmla="*/ 0 w 47"/>
                  <a:gd name="T15" fmla="*/ 1131 h 76"/>
                  <a:gd name="T16" fmla="*/ 121756 w 47"/>
                  <a:gd name="T17" fmla="*/ 1630 h 76"/>
                  <a:gd name="T18" fmla="*/ 683071 w 47"/>
                  <a:gd name="T19" fmla="*/ 1537 h 76"/>
                  <a:gd name="T20" fmla="*/ 556520 w 47"/>
                  <a:gd name="T21" fmla="*/ 1079 h 76"/>
                  <a:gd name="T22" fmla="*/ 577434 w 47"/>
                  <a:gd name="T23" fmla="*/ 819 h 76"/>
                  <a:gd name="T24" fmla="*/ 758525 w 47"/>
                  <a:gd name="T25" fmla="*/ 659 h 76"/>
                  <a:gd name="T26" fmla="*/ 1007239 w 47"/>
                  <a:gd name="T27" fmla="*/ 569 h 76"/>
                  <a:gd name="T28" fmla="*/ 1285052 w 47"/>
                  <a:gd name="T29" fmla="*/ 447 h 76"/>
                  <a:gd name="T30" fmla="*/ 1590362 w 47"/>
                  <a:gd name="T31" fmla="*/ 386 h 76"/>
                  <a:gd name="T32" fmla="*/ 1907917 w 47"/>
                  <a:gd name="T33" fmla="*/ 247 h 76"/>
                  <a:gd name="T34" fmla="*/ 1907917 w 47"/>
                  <a:gd name="T35" fmla="*/ 0 h 76"/>
                  <a:gd name="T36" fmla="*/ 1379691 w 47"/>
                  <a:gd name="T37" fmla="*/ 93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
                  <a:gd name="T58" fmla="*/ 0 h 76"/>
                  <a:gd name="T59" fmla="*/ 47 w 47"/>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 h="76">
                    <a:moveTo>
                      <a:pt x="33" y="4"/>
                    </a:moveTo>
                    <a:lnTo>
                      <a:pt x="33" y="6"/>
                    </a:lnTo>
                    <a:lnTo>
                      <a:pt x="31" y="6"/>
                    </a:lnTo>
                    <a:lnTo>
                      <a:pt x="24" y="10"/>
                    </a:lnTo>
                    <a:lnTo>
                      <a:pt x="16" y="14"/>
                    </a:lnTo>
                    <a:lnTo>
                      <a:pt x="7" y="22"/>
                    </a:lnTo>
                    <a:lnTo>
                      <a:pt x="1" y="34"/>
                    </a:lnTo>
                    <a:lnTo>
                      <a:pt x="0" y="52"/>
                    </a:lnTo>
                    <a:lnTo>
                      <a:pt x="3" y="75"/>
                    </a:lnTo>
                    <a:lnTo>
                      <a:pt x="16" y="71"/>
                    </a:lnTo>
                    <a:lnTo>
                      <a:pt x="13" y="50"/>
                    </a:lnTo>
                    <a:lnTo>
                      <a:pt x="14" y="38"/>
                    </a:lnTo>
                    <a:lnTo>
                      <a:pt x="18" y="30"/>
                    </a:lnTo>
                    <a:lnTo>
                      <a:pt x="24" y="26"/>
                    </a:lnTo>
                    <a:lnTo>
                      <a:pt x="31" y="21"/>
                    </a:lnTo>
                    <a:lnTo>
                      <a:pt x="38" y="18"/>
                    </a:lnTo>
                    <a:lnTo>
                      <a:pt x="46" y="11"/>
                    </a:lnTo>
                    <a:lnTo>
                      <a:pt x="46" y="0"/>
                    </a:lnTo>
                    <a:lnTo>
                      <a:pt x="33"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1" name="Freeform 311">
                <a:extLst>
                  <a:ext uri="{FF2B5EF4-FFF2-40B4-BE49-F238E27FC236}">
                    <a16:creationId xmlns:a16="http://schemas.microsoft.com/office/drawing/2014/main" id="{86EEAEAD-DE8D-46CA-6C41-B527FD1EEFC9}"/>
                  </a:ext>
                </a:extLst>
              </p:cNvPr>
              <p:cNvSpPr>
                <a:spLocks/>
              </p:cNvSpPr>
              <p:nvPr/>
            </p:nvSpPr>
            <p:spPr bwMode="auto">
              <a:xfrm>
                <a:off x="2114" y="3516"/>
                <a:ext cx="174" cy="37"/>
              </a:xfrm>
              <a:custGeom>
                <a:avLst/>
                <a:gdLst>
                  <a:gd name="T0" fmla="*/ 0 w 105"/>
                  <a:gd name="T1" fmla="*/ 93 h 32"/>
                  <a:gd name="T2" fmla="*/ 320394 w 105"/>
                  <a:gd name="T3" fmla="*/ 299 h 32"/>
                  <a:gd name="T4" fmla="*/ 851120 w 105"/>
                  <a:gd name="T5" fmla="*/ 383 h 32"/>
                  <a:gd name="T6" fmla="*/ 1410427 w 105"/>
                  <a:gd name="T7" fmla="*/ 435 h 32"/>
                  <a:gd name="T8" fmla="*/ 2080606 w 105"/>
                  <a:gd name="T9" fmla="*/ 463 h 32"/>
                  <a:gd name="T10" fmla="*/ 2706298 w 105"/>
                  <a:gd name="T11" fmla="*/ 503 h 32"/>
                  <a:gd name="T12" fmla="*/ 3243486 w 105"/>
                  <a:gd name="T13" fmla="*/ 535 h 32"/>
                  <a:gd name="T14" fmla="*/ 3564453 w 105"/>
                  <a:gd name="T15" fmla="*/ 592 h 32"/>
                  <a:gd name="T16" fmla="*/ 3677016 w 105"/>
                  <a:gd name="T17" fmla="*/ 673 h 32"/>
                  <a:gd name="T18" fmla="*/ 4192184 w 105"/>
                  <a:gd name="T19" fmla="*/ 582 h 32"/>
                  <a:gd name="T20" fmla="*/ 3873205 w 105"/>
                  <a:gd name="T21" fmla="*/ 346 h 32"/>
                  <a:gd name="T22" fmla="*/ 3311643 w 105"/>
                  <a:gd name="T23" fmla="*/ 259 h 32"/>
                  <a:gd name="T24" fmla="*/ 2755964 w 105"/>
                  <a:gd name="T25" fmla="*/ 224 h 32"/>
                  <a:gd name="T26" fmla="*/ 2105818 w 105"/>
                  <a:gd name="T27" fmla="*/ 194 h 32"/>
                  <a:gd name="T28" fmla="*/ 1458024 w 105"/>
                  <a:gd name="T29" fmla="*/ 145 h 32"/>
                  <a:gd name="T30" fmla="*/ 921214 w 105"/>
                  <a:gd name="T31" fmla="*/ 108 h 32"/>
                  <a:gd name="T32" fmla="*/ 605611 w 105"/>
                  <a:gd name="T33" fmla="*/ 2 h 32"/>
                  <a:gd name="T34" fmla="*/ 530939 w 105"/>
                  <a:gd name="T35" fmla="*/ 0 h 32"/>
                  <a:gd name="T36" fmla="*/ 0 w 105"/>
                  <a:gd name="T37" fmla="*/ 93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32"/>
                  <a:gd name="T59" fmla="*/ 105 w 10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32">
                    <a:moveTo>
                      <a:pt x="0" y="4"/>
                    </a:moveTo>
                    <a:lnTo>
                      <a:pt x="8" y="14"/>
                    </a:lnTo>
                    <a:lnTo>
                      <a:pt x="21" y="18"/>
                    </a:lnTo>
                    <a:lnTo>
                      <a:pt x="35" y="20"/>
                    </a:lnTo>
                    <a:lnTo>
                      <a:pt x="51" y="22"/>
                    </a:lnTo>
                    <a:lnTo>
                      <a:pt x="67" y="23"/>
                    </a:lnTo>
                    <a:lnTo>
                      <a:pt x="80" y="25"/>
                    </a:lnTo>
                    <a:lnTo>
                      <a:pt x="88" y="28"/>
                    </a:lnTo>
                    <a:lnTo>
                      <a:pt x="91" y="31"/>
                    </a:lnTo>
                    <a:lnTo>
                      <a:pt x="104" y="27"/>
                    </a:lnTo>
                    <a:lnTo>
                      <a:pt x="96" y="16"/>
                    </a:lnTo>
                    <a:lnTo>
                      <a:pt x="82" y="12"/>
                    </a:lnTo>
                    <a:lnTo>
                      <a:pt x="68" y="10"/>
                    </a:lnTo>
                    <a:lnTo>
                      <a:pt x="52" y="9"/>
                    </a:lnTo>
                    <a:lnTo>
                      <a:pt x="36" y="7"/>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2" name="Freeform 312">
                <a:extLst>
                  <a:ext uri="{FF2B5EF4-FFF2-40B4-BE49-F238E27FC236}">
                    <a16:creationId xmlns:a16="http://schemas.microsoft.com/office/drawing/2014/main" id="{E37BC57F-0243-42A6-737B-9B1CA6C53D96}"/>
                  </a:ext>
                </a:extLst>
              </p:cNvPr>
              <p:cNvSpPr>
                <a:spLocks/>
              </p:cNvSpPr>
              <p:nvPr/>
            </p:nvSpPr>
            <p:spPr bwMode="auto">
              <a:xfrm>
                <a:off x="2114" y="3516"/>
                <a:ext cx="24" cy="6"/>
              </a:xfrm>
              <a:custGeom>
                <a:avLst/>
                <a:gdLst>
                  <a:gd name="T0" fmla="*/ 0 w 14"/>
                  <a:gd name="T1" fmla="*/ 179 h 5"/>
                  <a:gd name="T2" fmla="*/ 477204 w 14"/>
                  <a:gd name="T3" fmla="*/ 2 h 5"/>
                  <a:gd name="T4" fmla="*/ 1057803 w 14"/>
                  <a:gd name="T5" fmla="*/ 0 h 5"/>
                  <a:gd name="T6" fmla="*/ 0 w 14"/>
                  <a:gd name="T7" fmla="*/ 179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3" name="Freeform 313">
                <a:extLst>
                  <a:ext uri="{FF2B5EF4-FFF2-40B4-BE49-F238E27FC236}">
                    <a16:creationId xmlns:a16="http://schemas.microsoft.com/office/drawing/2014/main" id="{8812AF30-4515-8E82-CF4C-5196C43CFB30}"/>
                  </a:ext>
                </a:extLst>
              </p:cNvPr>
              <p:cNvSpPr>
                <a:spLocks/>
              </p:cNvSpPr>
              <p:nvPr/>
            </p:nvSpPr>
            <p:spPr bwMode="auto">
              <a:xfrm>
                <a:off x="2114" y="3450"/>
                <a:ext cx="139" cy="72"/>
              </a:xfrm>
              <a:custGeom>
                <a:avLst/>
                <a:gdLst>
                  <a:gd name="T0" fmla="*/ 2750315 w 84"/>
                  <a:gd name="T1" fmla="*/ 73 h 63"/>
                  <a:gd name="T2" fmla="*/ 2674282 w 84"/>
                  <a:gd name="T3" fmla="*/ 83 h 63"/>
                  <a:gd name="T4" fmla="*/ 2468110 w 84"/>
                  <a:gd name="T5" fmla="*/ 186 h 63"/>
                  <a:gd name="T6" fmla="*/ 2035863 w 84"/>
                  <a:gd name="T7" fmla="*/ 278 h 63"/>
                  <a:gd name="T8" fmla="*/ 1491520 w 84"/>
                  <a:gd name="T9" fmla="*/ 394 h 63"/>
                  <a:gd name="T10" fmla="*/ 941823 w 84"/>
                  <a:gd name="T11" fmla="*/ 530 h 63"/>
                  <a:gd name="T12" fmla="*/ 477822 w 84"/>
                  <a:gd name="T13" fmla="*/ 637 h 63"/>
                  <a:gd name="T14" fmla="*/ 68952 w 84"/>
                  <a:gd name="T15" fmla="*/ 808 h 63"/>
                  <a:gd name="T16" fmla="*/ 0 w 84"/>
                  <a:gd name="T17" fmla="*/ 1032 h 63"/>
                  <a:gd name="T18" fmla="*/ 516999 w 84"/>
                  <a:gd name="T19" fmla="*/ 951 h 63"/>
                  <a:gd name="T20" fmla="*/ 544701 w 84"/>
                  <a:gd name="T21" fmla="*/ 923 h 63"/>
                  <a:gd name="T22" fmla="*/ 790682 w 84"/>
                  <a:gd name="T23" fmla="*/ 823 h 63"/>
                  <a:gd name="T24" fmla="*/ 1203808 w 84"/>
                  <a:gd name="T25" fmla="*/ 707 h 63"/>
                  <a:gd name="T26" fmla="*/ 1732518 w 84"/>
                  <a:gd name="T27" fmla="*/ 605 h 63"/>
                  <a:gd name="T28" fmla="*/ 2275245 w 84"/>
                  <a:gd name="T29" fmla="*/ 474 h 63"/>
                  <a:gd name="T30" fmla="*/ 2750315 w 84"/>
                  <a:gd name="T31" fmla="*/ 345 h 63"/>
                  <a:gd name="T32" fmla="*/ 3123646 w 84"/>
                  <a:gd name="T33" fmla="*/ 213 h 63"/>
                  <a:gd name="T34" fmla="*/ 3252527 w 84"/>
                  <a:gd name="T35" fmla="*/ 0 h 63"/>
                  <a:gd name="T36" fmla="*/ 2750315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3" y="11"/>
                    </a:lnTo>
                    <a:lnTo>
                      <a:pt x="52" y="17"/>
                    </a:lnTo>
                    <a:lnTo>
                      <a:pt x="38" y="24"/>
                    </a:lnTo>
                    <a:lnTo>
                      <a:pt x="24" y="32"/>
                    </a:lnTo>
                    <a:lnTo>
                      <a:pt x="12" y="39"/>
                    </a:lnTo>
                    <a:lnTo>
                      <a:pt x="2" y="49"/>
                    </a:lnTo>
                    <a:lnTo>
                      <a:pt x="0" y="62"/>
                    </a:lnTo>
                    <a:lnTo>
                      <a:pt x="13" y="58"/>
                    </a:lnTo>
                    <a:lnTo>
                      <a:pt x="14" y="56"/>
                    </a:lnTo>
                    <a:lnTo>
                      <a:pt x="20" y="50"/>
                    </a:lnTo>
                    <a:lnTo>
                      <a:pt x="31" y="43"/>
                    </a:lnTo>
                    <a:lnTo>
                      <a:pt x="44" y="36"/>
                    </a:lnTo>
                    <a:lnTo>
                      <a:pt x="58" y="29"/>
                    </a:lnTo>
                    <a:lnTo>
                      <a:pt x="70" y="21"/>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4" name="Freeform 314">
                <a:extLst>
                  <a:ext uri="{FF2B5EF4-FFF2-40B4-BE49-F238E27FC236}">
                    <a16:creationId xmlns:a16="http://schemas.microsoft.com/office/drawing/2014/main" id="{B6668978-11C9-9C0C-FE78-AF3B06A9C6B0}"/>
                  </a:ext>
                </a:extLst>
              </p:cNvPr>
              <p:cNvSpPr>
                <a:spLocks/>
              </p:cNvSpPr>
              <p:nvPr/>
            </p:nvSpPr>
            <p:spPr bwMode="auto">
              <a:xfrm>
                <a:off x="2077" y="3421"/>
                <a:ext cx="176" cy="34"/>
              </a:xfrm>
              <a:custGeom>
                <a:avLst/>
                <a:gdLst>
                  <a:gd name="T0" fmla="*/ 0 w 107"/>
                  <a:gd name="T1" fmla="*/ 61 h 30"/>
                  <a:gd name="T2" fmla="*/ 272945 w 107"/>
                  <a:gd name="T3" fmla="*/ 186 h 30"/>
                  <a:gd name="T4" fmla="*/ 738470 w 107"/>
                  <a:gd name="T5" fmla="*/ 264 h 30"/>
                  <a:gd name="T6" fmla="*/ 1242572 w 107"/>
                  <a:gd name="T7" fmla="*/ 298 h 30"/>
                  <a:gd name="T8" fmla="*/ 1829721 w 107"/>
                  <a:gd name="T9" fmla="*/ 298 h 30"/>
                  <a:gd name="T10" fmla="*/ 2351955 w 107"/>
                  <a:gd name="T11" fmla="*/ 299 h 30"/>
                  <a:gd name="T12" fmla="*/ 2833329 w 107"/>
                  <a:gd name="T13" fmla="*/ 338 h 30"/>
                  <a:gd name="T14" fmla="*/ 3156192 w 107"/>
                  <a:gd name="T15" fmla="*/ 383 h 30"/>
                  <a:gd name="T16" fmla="*/ 3223782 w 107"/>
                  <a:gd name="T17" fmla="*/ 394 h 30"/>
                  <a:gd name="T18" fmla="*/ 3649694 w 107"/>
                  <a:gd name="T19" fmla="*/ 339 h 30"/>
                  <a:gd name="T20" fmla="*/ 3361858 w 107"/>
                  <a:gd name="T21" fmla="*/ 206 h 30"/>
                  <a:gd name="T22" fmla="*/ 2899460 w 107"/>
                  <a:gd name="T23" fmla="*/ 145 h 30"/>
                  <a:gd name="T24" fmla="*/ 2374059 w 107"/>
                  <a:gd name="T25" fmla="*/ 113 h 30"/>
                  <a:gd name="T26" fmla="*/ 1829721 w 107"/>
                  <a:gd name="T27" fmla="*/ 100 h 30"/>
                  <a:gd name="T28" fmla="*/ 1326479 w 107"/>
                  <a:gd name="T29" fmla="*/ 100 h 30"/>
                  <a:gd name="T30" fmla="*/ 818282 w 107"/>
                  <a:gd name="T31" fmla="*/ 78 h 30"/>
                  <a:gd name="T32" fmla="*/ 551648 w 107"/>
                  <a:gd name="T33" fmla="*/ 3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9"/>
                    </a:lnTo>
                    <a:lnTo>
                      <a:pt x="36" y="21"/>
                    </a:lnTo>
                    <a:lnTo>
                      <a:pt x="53" y="21"/>
                    </a:lnTo>
                    <a:lnTo>
                      <a:pt x="68" y="22"/>
                    </a:lnTo>
                    <a:lnTo>
                      <a:pt x="82" y="24"/>
                    </a:lnTo>
                    <a:lnTo>
                      <a:pt x="91" y="27"/>
                    </a:lnTo>
                    <a:lnTo>
                      <a:pt x="93" y="29"/>
                    </a:lnTo>
                    <a:lnTo>
                      <a:pt x="106" y="25"/>
                    </a:lnTo>
                    <a:lnTo>
                      <a:pt x="97" y="15"/>
                    </a:lnTo>
                    <a:lnTo>
                      <a:pt x="84" y="11"/>
                    </a:lnTo>
                    <a:lnTo>
                      <a:pt x="69" y="9"/>
                    </a:lnTo>
                    <a:lnTo>
                      <a:pt x="53" y="8"/>
                    </a:lnTo>
                    <a:lnTo>
                      <a:pt x="38"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5" name="Freeform 315">
                <a:extLst>
                  <a:ext uri="{FF2B5EF4-FFF2-40B4-BE49-F238E27FC236}">
                    <a16:creationId xmlns:a16="http://schemas.microsoft.com/office/drawing/2014/main" id="{F5EE55BD-3534-C5CA-8081-2C6874585B19}"/>
                  </a:ext>
                </a:extLst>
              </p:cNvPr>
              <p:cNvSpPr>
                <a:spLocks/>
              </p:cNvSpPr>
              <p:nvPr/>
            </p:nvSpPr>
            <p:spPr bwMode="auto">
              <a:xfrm>
                <a:off x="2077" y="3354"/>
                <a:ext cx="138" cy="72"/>
              </a:xfrm>
              <a:custGeom>
                <a:avLst/>
                <a:gdLst>
                  <a:gd name="T0" fmla="*/ 2353327 w 84"/>
                  <a:gd name="T1" fmla="*/ 73 h 63"/>
                  <a:gd name="T2" fmla="*/ 2294899 w 84"/>
                  <a:gd name="T3" fmla="*/ 83 h 63"/>
                  <a:gd name="T4" fmla="*/ 2095021 w 84"/>
                  <a:gd name="T5" fmla="*/ 186 h 63"/>
                  <a:gd name="T6" fmla="*/ 1725639 w 84"/>
                  <a:gd name="T7" fmla="*/ 302 h 63"/>
                  <a:gd name="T8" fmla="*/ 1275230 w 84"/>
                  <a:gd name="T9" fmla="*/ 394 h 63"/>
                  <a:gd name="T10" fmla="*/ 797119 w 84"/>
                  <a:gd name="T11" fmla="*/ 514 h 63"/>
                  <a:gd name="T12" fmla="*/ 410755 w 84"/>
                  <a:gd name="T13" fmla="*/ 637 h 63"/>
                  <a:gd name="T14" fmla="*/ 60339 w 84"/>
                  <a:gd name="T15" fmla="*/ 808 h 63"/>
                  <a:gd name="T16" fmla="*/ 0 w 84"/>
                  <a:gd name="T17" fmla="*/ 1032 h 63"/>
                  <a:gd name="T18" fmla="*/ 439537 w 84"/>
                  <a:gd name="T19" fmla="*/ 951 h 63"/>
                  <a:gd name="T20" fmla="*/ 472486 w 84"/>
                  <a:gd name="T21" fmla="*/ 905 h 63"/>
                  <a:gd name="T22" fmla="*/ 639367 w 84"/>
                  <a:gd name="T23" fmla="*/ 823 h 63"/>
                  <a:gd name="T24" fmla="*/ 1050389 w 84"/>
                  <a:gd name="T25" fmla="*/ 707 h 63"/>
                  <a:gd name="T26" fmla="*/ 1476779 w 84"/>
                  <a:gd name="T27" fmla="*/ 605 h 63"/>
                  <a:gd name="T28" fmla="*/ 1948925 w 84"/>
                  <a:gd name="T29" fmla="*/ 474 h 63"/>
                  <a:gd name="T30" fmla="*/ 2353327 w 84"/>
                  <a:gd name="T31" fmla="*/ 363 h 63"/>
                  <a:gd name="T32" fmla="*/ 2684176 w 84"/>
                  <a:gd name="T33" fmla="*/ 213 h 63"/>
                  <a:gd name="T34" fmla="*/ 2779841 w 84"/>
                  <a:gd name="T35" fmla="*/ 0 h 63"/>
                  <a:gd name="T36" fmla="*/ 2353327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8" y="5"/>
                    </a:lnTo>
                    <a:lnTo>
                      <a:pt x="62" y="11"/>
                    </a:lnTo>
                    <a:lnTo>
                      <a:pt x="51" y="18"/>
                    </a:lnTo>
                    <a:lnTo>
                      <a:pt x="38" y="24"/>
                    </a:lnTo>
                    <a:lnTo>
                      <a:pt x="24" y="31"/>
                    </a:lnTo>
                    <a:lnTo>
                      <a:pt x="12" y="39"/>
                    </a:lnTo>
                    <a:lnTo>
                      <a:pt x="2" y="49"/>
                    </a:lnTo>
                    <a:lnTo>
                      <a:pt x="0" y="62"/>
                    </a:lnTo>
                    <a:lnTo>
                      <a:pt x="13" y="58"/>
                    </a:lnTo>
                    <a:lnTo>
                      <a:pt x="14" y="55"/>
                    </a:lnTo>
                    <a:lnTo>
                      <a:pt x="19" y="50"/>
                    </a:lnTo>
                    <a:lnTo>
                      <a:pt x="31" y="43"/>
                    </a:lnTo>
                    <a:lnTo>
                      <a:pt x="44" y="36"/>
                    </a:lnTo>
                    <a:lnTo>
                      <a:pt x="58" y="29"/>
                    </a:lnTo>
                    <a:lnTo>
                      <a:pt x="70" y="22"/>
                    </a:lnTo>
                    <a:lnTo>
                      <a:pt x="80"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6" name="Freeform 316">
                <a:extLst>
                  <a:ext uri="{FF2B5EF4-FFF2-40B4-BE49-F238E27FC236}">
                    <a16:creationId xmlns:a16="http://schemas.microsoft.com/office/drawing/2014/main" id="{86A7E4BE-A554-088F-108A-E2D58F73F9F0}"/>
                  </a:ext>
                </a:extLst>
              </p:cNvPr>
              <p:cNvSpPr>
                <a:spLocks/>
              </p:cNvSpPr>
              <p:nvPr/>
            </p:nvSpPr>
            <p:spPr bwMode="auto">
              <a:xfrm>
                <a:off x="2042" y="3331"/>
                <a:ext cx="173" cy="28"/>
              </a:xfrm>
              <a:custGeom>
                <a:avLst/>
                <a:gdLst>
                  <a:gd name="T0" fmla="*/ 0 w 105"/>
                  <a:gd name="T1" fmla="*/ 4 h 25"/>
                  <a:gd name="T2" fmla="*/ 331885 w 105"/>
                  <a:gd name="T3" fmla="*/ 148 h 25"/>
                  <a:gd name="T4" fmla="*/ 766270 w 105"/>
                  <a:gd name="T5" fmla="*/ 166 h 25"/>
                  <a:gd name="T6" fmla="*/ 1283006 w 105"/>
                  <a:gd name="T7" fmla="*/ 170 h 25"/>
                  <a:gd name="T8" fmla="*/ 1875692 w 105"/>
                  <a:gd name="T9" fmla="*/ 170 h 25"/>
                  <a:gd name="T10" fmla="*/ 2377226 w 105"/>
                  <a:gd name="T11" fmla="*/ 186 h 25"/>
                  <a:gd name="T12" fmla="*/ 2865936 w 105"/>
                  <a:gd name="T13" fmla="*/ 190 h 25"/>
                  <a:gd name="T14" fmla="*/ 3152065 w 105"/>
                  <a:gd name="T15" fmla="*/ 239 h 25"/>
                  <a:gd name="T16" fmla="*/ 3261172 w 105"/>
                  <a:gd name="T17" fmla="*/ 261 h 25"/>
                  <a:gd name="T18" fmla="*/ 3721278 w 105"/>
                  <a:gd name="T19" fmla="*/ 213 h 25"/>
                  <a:gd name="T20" fmla="*/ 3427301 w 105"/>
                  <a:gd name="T21" fmla="*/ 105 h 25"/>
                  <a:gd name="T22" fmla="*/ 2979100 w 105"/>
                  <a:gd name="T23" fmla="*/ 60 h 25"/>
                  <a:gd name="T24" fmla="*/ 2445765 w 105"/>
                  <a:gd name="T25" fmla="*/ 4 h 25"/>
                  <a:gd name="T26" fmla="*/ 1875692 w 105"/>
                  <a:gd name="T27" fmla="*/ 3 h 25"/>
                  <a:gd name="T28" fmla="*/ 1283006 w 105"/>
                  <a:gd name="T29" fmla="*/ 3 h 25"/>
                  <a:gd name="T30" fmla="*/ 778703 w 105"/>
                  <a:gd name="T31" fmla="*/ 2 h 25"/>
                  <a:gd name="T32" fmla="*/ 504969 w 105"/>
                  <a:gd name="T33" fmla="*/ 0 h 25"/>
                  <a:gd name="T34" fmla="*/ 465077 w 105"/>
                  <a:gd name="T35" fmla="*/ 0 h 25"/>
                  <a:gd name="T36" fmla="*/ 0 w 105"/>
                  <a:gd name="T37" fmla="*/ 4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5"/>
                  <a:gd name="T59" fmla="*/ 105 w 105"/>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5">
                    <a:moveTo>
                      <a:pt x="0" y="4"/>
                    </a:moveTo>
                    <a:lnTo>
                      <a:pt x="9" y="13"/>
                    </a:lnTo>
                    <a:lnTo>
                      <a:pt x="21" y="15"/>
                    </a:lnTo>
                    <a:lnTo>
                      <a:pt x="36" y="16"/>
                    </a:lnTo>
                    <a:lnTo>
                      <a:pt x="52" y="16"/>
                    </a:lnTo>
                    <a:lnTo>
                      <a:pt x="66" y="17"/>
                    </a:lnTo>
                    <a:lnTo>
                      <a:pt x="80" y="18"/>
                    </a:lnTo>
                    <a:lnTo>
                      <a:pt x="88" y="22"/>
                    </a:lnTo>
                    <a:lnTo>
                      <a:pt x="91" y="24"/>
                    </a:lnTo>
                    <a:lnTo>
                      <a:pt x="104" y="20"/>
                    </a:lnTo>
                    <a:lnTo>
                      <a:pt x="96" y="10"/>
                    </a:lnTo>
                    <a:lnTo>
                      <a:pt x="83" y="5"/>
                    </a:lnTo>
                    <a:lnTo>
                      <a:pt x="68" y="4"/>
                    </a:lnTo>
                    <a:lnTo>
                      <a:pt x="52" y="3"/>
                    </a:lnTo>
                    <a:lnTo>
                      <a:pt x="36" y="3"/>
                    </a:lnTo>
                    <a:lnTo>
                      <a:pt x="22" y="2"/>
                    </a:lnTo>
                    <a:lnTo>
                      <a:pt x="14" y="0"/>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7" name="Freeform 317">
                <a:extLst>
                  <a:ext uri="{FF2B5EF4-FFF2-40B4-BE49-F238E27FC236}">
                    <a16:creationId xmlns:a16="http://schemas.microsoft.com/office/drawing/2014/main" id="{EABA814C-EDB7-FE81-8A28-A592A66DB83E}"/>
                  </a:ext>
                </a:extLst>
              </p:cNvPr>
              <p:cNvSpPr>
                <a:spLocks/>
              </p:cNvSpPr>
              <p:nvPr/>
            </p:nvSpPr>
            <p:spPr bwMode="auto">
              <a:xfrm>
                <a:off x="2042" y="3329"/>
                <a:ext cx="24" cy="8"/>
              </a:xfrm>
              <a:custGeom>
                <a:avLst/>
                <a:gdLst>
                  <a:gd name="T0" fmla="*/ 0 w 14"/>
                  <a:gd name="T1" fmla="*/ 73 h 7"/>
                  <a:gd name="T2" fmla="*/ 0 w 14"/>
                  <a:gd name="T3" fmla="*/ 95 h 7"/>
                  <a:gd name="T4" fmla="*/ 1057803 w 14"/>
                  <a:gd name="T5" fmla="*/ 2 h 7"/>
                  <a:gd name="T6" fmla="*/ 1057803 w 14"/>
                  <a:gd name="T7" fmla="*/ 0 h 7"/>
                  <a:gd name="T8" fmla="*/ 0 w 14"/>
                  <a:gd name="T9" fmla="*/ 73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4"/>
                    </a:moveTo>
                    <a:lnTo>
                      <a:pt x="0" y="6"/>
                    </a:lnTo>
                    <a:lnTo>
                      <a:pt x="13"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8" name="Freeform 318">
                <a:extLst>
                  <a:ext uri="{FF2B5EF4-FFF2-40B4-BE49-F238E27FC236}">
                    <a16:creationId xmlns:a16="http://schemas.microsoft.com/office/drawing/2014/main" id="{3B6F3259-884E-4AEE-AFE9-9E849CA4E501}"/>
                  </a:ext>
                </a:extLst>
              </p:cNvPr>
              <p:cNvSpPr>
                <a:spLocks/>
              </p:cNvSpPr>
              <p:nvPr/>
            </p:nvSpPr>
            <p:spPr bwMode="auto">
              <a:xfrm>
                <a:off x="2042" y="3263"/>
                <a:ext cx="134" cy="71"/>
              </a:xfrm>
              <a:custGeom>
                <a:avLst/>
                <a:gdLst>
                  <a:gd name="T0" fmla="*/ 2617430 w 81"/>
                  <a:gd name="T1" fmla="*/ 74 h 62"/>
                  <a:gd name="T2" fmla="*/ 2567830 w 81"/>
                  <a:gd name="T3" fmla="*/ 97 h 62"/>
                  <a:gd name="T4" fmla="*/ 2379895 w 81"/>
                  <a:gd name="T5" fmla="*/ 211 h 62"/>
                  <a:gd name="T6" fmla="*/ 1957614 w 81"/>
                  <a:gd name="T7" fmla="*/ 328 h 62"/>
                  <a:gd name="T8" fmla="*/ 1438593 w 81"/>
                  <a:gd name="T9" fmla="*/ 462 h 62"/>
                  <a:gd name="T10" fmla="*/ 938268 w 81"/>
                  <a:gd name="T11" fmla="*/ 554 h 62"/>
                  <a:gd name="T12" fmla="*/ 432382 w 81"/>
                  <a:gd name="T13" fmla="*/ 696 h 62"/>
                  <a:gd name="T14" fmla="*/ 68764 w 81"/>
                  <a:gd name="T15" fmla="*/ 831 h 62"/>
                  <a:gd name="T16" fmla="*/ 0 w 81"/>
                  <a:gd name="T17" fmla="*/ 1046 h 62"/>
                  <a:gd name="T18" fmla="*/ 515040 w 81"/>
                  <a:gd name="T19" fmla="*/ 973 h 62"/>
                  <a:gd name="T20" fmla="*/ 541520 w 81"/>
                  <a:gd name="T21" fmla="*/ 960 h 62"/>
                  <a:gd name="T22" fmla="*/ 723636 w 81"/>
                  <a:gd name="T23" fmla="*/ 882 h 62"/>
                  <a:gd name="T24" fmla="*/ 1183334 w 81"/>
                  <a:gd name="T25" fmla="*/ 742 h 62"/>
                  <a:gd name="T26" fmla="*/ 1724337 w 81"/>
                  <a:gd name="T27" fmla="*/ 634 h 62"/>
                  <a:gd name="T28" fmla="*/ 2221424 w 81"/>
                  <a:gd name="T29" fmla="*/ 529 h 62"/>
                  <a:gd name="T30" fmla="*/ 2738029 w 81"/>
                  <a:gd name="T31" fmla="*/ 403 h 62"/>
                  <a:gd name="T32" fmla="*/ 3029758 w 81"/>
                  <a:gd name="T33" fmla="*/ 218 h 62"/>
                  <a:gd name="T34" fmla="*/ 3108525 w 81"/>
                  <a:gd name="T35" fmla="*/ 0 h 62"/>
                  <a:gd name="T36" fmla="*/ 2617430 w 81"/>
                  <a:gd name="T37" fmla="*/ 74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62"/>
                  <a:gd name="T59" fmla="*/ 81 w 81"/>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62">
                    <a:moveTo>
                      <a:pt x="67" y="4"/>
                    </a:moveTo>
                    <a:lnTo>
                      <a:pt x="66" y="6"/>
                    </a:lnTo>
                    <a:lnTo>
                      <a:pt x="61" y="12"/>
                    </a:lnTo>
                    <a:lnTo>
                      <a:pt x="50" y="19"/>
                    </a:lnTo>
                    <a:lnTo>
                      <a:pt x="37" y="26"/>
                    </a:lnTo>
                    <a:lnTo>
                      <a:pt x="24" y="32"/>
                    </a:lnTo>
                    <a:lnTo>
                      <a:pt x="11" y="40"/>
                    </a:lnTo>
                    <a:lnTo>
                      <a:pt x="2" y="48"/>
                    </a:lnTo>
                    <a:lnTo>
                      <a:pt x="0" y="61"/>
                    </a:lnTo>
                    <a:lnTo>
                      <a:pt x="13" y="57"/>
                    </a:lnTo>
                    <a:lnTo>
                      <a:pt x="14" y="56"/>
                    </a:lnTo>
                    <a:lnTo>
                      <a:pt x="19" y="51"/>
                    </a:lnTo>
                    <a:lnTo>
                      <a:pt x="30" y="44"/>
                    </a:lnTo>
                    <a:lnTo>
                      <a:pt x="44" y="37"/>
                    </a:lnTo>
                    <a:lnTo>
                      <a:pt x="57" y="30"/>
                    </a:lnTo>
                    <a:lnTo>
                      <a:pt x="70" y="23"/>
                    </a:lnTo>
                    <a:lnTo>
                      <a:pt x="78" y="13"/>
                    </a:lnTo>
                    <a:lnTo>
                      <a:pt x="80" y="0"/>
                    </a:lnTo>
                    <a:lnTo>
                      <a:pt x="67"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69" name="Freeform 319">
                <a:extLst>
                  <a:ext uri="{FF2B5EF4-FFF2-40B4-BE49-F238E27FC236}">
                    <a16:creationId xmlns:a16="http://schemas.microsoft.com/office/drawing/2014/main" id="{4B6FA4BA-706E-86F0-DDE1-8D544FE37F66}"/>
                  </a:ext>
                </a:extLst>
              </p:cNvPr>
              <p:cNvSpPr>
                <a:spLocks/>
              </p:cNvSpPr>
              <p:nvPr/>
            </p:nvSpPr>
            <p:spPr bwMode="auto">
              <a:xfrm>
                <a:off x="2002" y="3234"/>
                <a:ext cx="174" cy="34"/>
              </a:xfrm>
              <a:custGeom>
                <a:avLst/>
                <a:gdLst>
                  <a:gd name="T0" fmla="*/ 0 w 105"/>
                  <a:gd name="T1" fmla="*/ 121 h 29"/>
                  <a:gd name="T2" fmla="*/ 320394 w 105"/>
                  <a:gd name="T3" fmla="*/ 368 h 29"/>
                  <a:gd name="T4" fmla="*/ 851120 w 105"/>
                  <a:gd name="T5" fmla="*/ 494 h 29"/>
                  <a:gd name="T6" fmla="*/ 1410427 w 105"/>
                  <a:gd name="T7" fmla="*/ 516 h 29"/>
                  <a:gd name="T8" fmla="*/ 2105818 w 105"/>
                  <a:gd name="T9" fmla="*/ 579 h 29"/>
                  <a:gd name="T10" fmla="*/ 2706298 w 105"/>
                  <a:gd name="T11" fmla="*/ 592 h 29"/>
                  <a:gd name="T12" fmla="*/ 3243486 w 105"/>
                  <a:gd name="T13" fmla="*/ 605 h 29"/>
                  <a:gd name="T14" fmla="*/ 3587389 w 105"/>
                  <a:gd name="T15" fmla="*/ 709 h 29"/>
                  <a:gd name="T16" fmla="*/ 3677016 w 105"/>
                  <a:gd name="T17" fmla="*/ 810 h 29"/>
                  <a:gd name="T18" fmla="*/ 4192184 w 105"/>
                  <a:gd name="T19" fmla="*/ 691 h 29"/>
                  <a:gd name="T20" fmla="*/ 3873205 w 105"/>
                  <a:gd name="T21" fmla="*/ 375 h 29"/>
                  <a:gd name="T22" fmla="*/ 3367531 w 105"/>
                  <a:gd name="T23" fmla="*/ 268 h 29"/>
                  <a:gd name="T24" fmla="*/ 2755964 w 105"/>
                  <a:gd name="T25" fmla="*/ 229 h 29"/>
                  <a:gd name="T26" fmla="*/ 2150963 w 105"/>
                  <a:gd name="T27" fmla="*/ 195 h 29"/>
                  <a:gd name="T28" fmla="*/ 1485145 w 105"/>
                  <a:gd name="T29" fmla="*/ 166 h 29"/>
                  <a:gd name="T30" fmla="*/ 970032 w 105"/>
                  <a:gd name="T31" fmla="*/ 121 h 29"/>
                  <a:gd name="T32" fmla="*/ 555905 w 105"/>
                  <a:gd name="T33" fmla="*/ 2 h 29"/>
                  <a:gd name="T34" fmla="*/ 530939 w 105"/>
                  <a:gd name="T35" fmla="*/ 0 h 29"/>
                  <a:gd name="T36" fmla="*/ 0 w 105"/>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3"/>
                    </a:lnTo>
                    <a:lnTo>
                      <a:pt x="21" y="17"/>
                    </a:lnTo>
                    <a:lnTo>
                      <a:pt x="35" y="19"/>
                    </a:lnTo>
                    <a:lnTo>
                      <a:pt x="52" y="20"/>
                    </a:lnTo>
                    <a:lnTo>
                      <a:pt x="67" y="21"/>
                    </a:lnTo>
                    <a:lnTo>
                      <a:pt x="80" y="22"/>
                    </a:lnTo>
                    <a:lnTo>
                      <a:pt x="89" y="26"/>
                    </a:lnTo>
                    <a:lnTo>
                      <a:pt x="91" y="28"/>
                    </a:lnTo>
                    <a:lnTo>
                      <a:pt x="104" y="24"/>
                    </a:lnTo>
                    <a:lnTo>
                      <a:pt x="96" y="14"/>
                    </a:lnTo>
                    <a:lnTo>
                      <a:pt x="83" y="9"/>
                    </a:lnTo>
                    <a:lnTo>
                      <a:pt x="68" y="8"/>
                    </a:lnTo>
                    <a:lnTo>
                      <a:pt x="53" y="7"/>
                    </a:lnTo>
                    <a:lnTo>
                      <a:pt x="37" y="6"/>
                    </a:lnTo>
                    <a:lnTo>
                      <a:pt x="24" y="4"/>
                    </a:lnTo>
                    <a:lnTo>
                      <a:pt x="14"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0" name="Freeform 320">
                <a:extLst>
                  <a:ext uri="{FF2B5EF4-FFF2-40B4-BE49-F238E27FC236}">
                    <a16:creationId xmlns:a16="http://schemas.microsoft.com/office/drawing/2014/main" id="{E95F4F65-F7E5-CB8E-CCF7-EF88ECB4A645}"/>
                  </a:ext>
                </a:extLst>
              </p:cNvPr>
              <p:cNvSpPr>
                <a:spLocks/>
              </p:cNvSpPr>
              <p:nvPr/>
            </p:nvSpPr>
            <p:spPr bwMode="auto">
              <a:xfrm>
                <a:off x="2002" y="3167"/>
                <a:ext cx="137" cy="73"/>
              </a:xfrm>
              <a:custGeom>
                <a:avLst/>
                <a:gdLst>
                  <a:gd name="T0" fmla="*/ 2566051 w 83"/>
                  <a:gd name="T1" fmla="*/ 73 h 64"/>
                  <a:gd name="T2" fmla="*/ 2519400 w 83"/>
                  <a:gd name="T3" fmla="*/ 108 h 64"/>
                  <a:gd name="T4" fmla="*/ 2349936 w 83"/>
                  <a:gd name="T5" fmla="*/ 209 h 64"/>
                  <a:gd name="T6" fmla="*/ 1933123 w 83"/>
                  <a:gd name="T7" fmla="*/ 309 h 64"/>
                  <a:gd name="T8" fmla="*/ 1423684 w 83"/>
                  <a:gd name="T9" fmla="*/ 409 h 64"/>
                  <a:gd name="T10" fmla="*/ 901473 w 83"/>
                  <a:gd name="T11" fmla="*/ 524 h 64"/>
                  <a:gd name="T12" fmla="*/ 446998 w 83"/>
                  <a:gd name="T13" fmla="*/ 627 h 64"/>
                  <a:gd name="T14" fmla="*/ 64690 w 83"/>
                  <a:gd name="T15" fmla="*/ 792 h 64"/>
                  <a:gd name="T16" fmla="*/ 0 w 83"/>
                  <a:gd name="T17" fmla="*/ 1000 h 64"/>
                  <a:gd name="T18" fmla="*/ 480180 w 83"/>
                  <a:gd name="T19" fmla="*/ 931 h 64"/>
                  <a:gd name="T20" fmla="*/ 522551 w 83"/>
                  <a:gd name="T21" fmla="*/ 903 h 64"/>
                  <a:gd name="T22" fmla="*/ 737816 w 83"/>
                  <a:gd name="T23" fmla="*/ 811 h 64"/>
                  <a:gd name="T24" fmla="*/ 1147807 w 83"/>
                  <a:gd name="T25" fmla="*/ 711 h 64"/>
                  <a:gd name="T26" fmla="*/ 1639289 w 83"/>
                  <a:gd name="T27" fmla="*/ 598 h 64"/>
                  <a:gd name="T28" fmla="*/ 2159391 w 83"/>
                  <a:gd name="T29" fmla="*/ 482 h 64"/>
                  <a:gd name="T30" fmla="*/ 2603804 w 83"/>
                  <a:gd name="T31" fmla="*/ 359 h 64"/>
                  <a:gd name="T32" fmla="*/ 2976645 w 83"/>
                  <a:gd name="T33" fmla="*/ 209 h 64"/>
                  <a:gd name="T34" fmla="*/ 3041930 w 83"/>
                  <a:gd name="T35" fmla="*/ 0 h 64"/>
                  <a:gd name="T36" fmla="*/ 2566051 w 83"/>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7"/>
                    </a:lnTo>
                    <a:lnTo>
                      <a:pt x="63" y="13"/>
                    </a:lnTo>
                    <a:lnTo>
                      <a:pt x="52" y="19"/>
                    </a:lnTo>
                    <a:lnTo>
                      <a:pt x="38" y="26"/>
                    </a:lnTo>
                    <a:lnTo>
                      <a:pt x="24" y="33"/>
                    </a:lnTo>
                    <a:lnTo>
                      <a:pt x="12" y="40"/>
                    </a:lnTo>
                    <a:lnTo>
                      <a:pt x="2" y="50"/>
                    </a:lnTo>
                    <a:lnTo>
                      <a:pt x="0" y="63"/>
                    </a:lnTo>
                    <a:lnTo>
                      <a:pt x="13" y="59"/>
                    </a:lnTo>
                    <a:lnTo>
                      <a:pt x="14" y="57"/>
                    </a:lnTo>
                    <a:lnTo>
                      <a:pt x="20" y="51"/>
                    </a:lnTo>
                    <a:lnTo>
                      <a:pt x="31" y="45"/>
                    </a:lnTo>
                    <a:lnTo>
                      <a:pt x="44" y="38"/>
                    </a:lnTo>
                    <a:lnTo>
                      <a:pt x="58" y="31"/>
                    </a:lnTo>
                    <a:lnTo>
                      <a:pt x="70" y="23"/>
                    </a:lnTo>
                    <a:lnTo>
                      <a:pt x="80"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1" name="Freeform 321">
                <a:extLst>
                  <a:ext uri="{FF2B5EF4-FFF2-40B4-BE49-F238E27FC236}">
                    <a16:creationId xmlns:a16="http://schemas.microsoft.com/office/drawing/2014/main" id="{790416CE-5144-99BC-CC82-987515D1EA32}"/>
                  </a:ext>
                </a:extLst>
              </p:cNvPr>
              <p:cNvSpPr>
                <a:spLocks/>
              </p:cNvSpPr>
              <p:nvPr/>
            </p:nvSpPr>
            <p:spPr bwMode="auto">
              <a:xfrm>
                <a:off x="1964" y="3139"/>
                <a:ext cx="175" cy="33"/>
              </a:xfrm>
              <a:custGeom>
                <a:avLst/>
                <a:gdLst>
                  <a:gd name="T0" fmla="*/ 0 w 106"/>
                  <a:gd name="T1" fmla="*/ 3 h 29"/>
                  <a:gd name="T2" fmla="*/ 291842 w 106"/>
                  <a:gd name="T3" fmla="*/ 191 h 29"/>
                  <a:gd name="T4" fmla="*/ 795449 w 106"/>
                  <a:gd name="T5" fmla="*/ 247 h 29"/>
                  <a:gd name="T6" fmla="*/ 1328805 w 106"/>
                  <a:gd name="T7" fmla="*/ 281 h 29"/>
                  <a:gd name="T8" fmla="*/ 1941196 w 106"/>
                  <a:gd name="T9" fmla="*/ 306 h 29"/>
                  <a:gd name="T10" fmla="*/ 2508326 w 106"/>
                  <a:gd name="T11" fmla="*/ 316 h 29"/>
                  <a:gd name="T12" fmla="*/ 3033331 w 106"/>
                  <a:gd name="T13" fmla="*/ 320 h 29"/>
                  <a:gd name="T14" fmla="*/ 3328313 w 106"/>
                  <a:gd name="T15" fmla="*/ 396 h 29"/>
                  <a:gd name="T16" fmla="*/ 3435385 w 106"/>
                  <a:gd name="T17" fmla="*/ 414 h 29"/>
                  <a:gd name="T18" fmla="*/ 3917132 w 106"/>
                  <a:gd name="T19" fmla="*/ 360 h 29"/>
                  <a:gd name="T20" fmla="*/ 3621810 w 106"/>
                  <a:gd name="T21" fmla="*/ 207 h 29"/>
                  <a:gd name="T22" fmla="*/ 3136520 w 106"/>
                  <a:gd name="T23" fmla="*/ 130 h 29"/>
                  <a:gd name="T24" fmla="*/ 2573651 w 106"/>
                  <a:gd name="T25" fmla="*/ 114 h 29"/>
                  <a:gd name="T26" fmla="*/ 1984779 w 106"/>
                  <a:gd name="T27" fmla="*/ 100 h 29"/>
                  <a:gd name="T28" fmla="*/ 1389091 w 106"/>
                  <a:gd name="T29" fmla="*/ 88 h 29"/>
                  <a:gd name="T30" fmla="*/ 904506 w 106"/>
                  <a:gd name="T31" fmla="*/ 68 h 29"/>
                  <a:gd name="T32" fmla="*/ 563155 w 106"/>
                  <a:gd name="T33" fmla="*/ 1 h 29"/>
                  <a:gd name="T34" fmla="*/ 481815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1"/>
                    </a:lnTo>
                    <a:lnTo>
                      <a:pt x="81" y="22"/>
                    </a:lnTo>
                    <a:lnTo>
                      <a:pt x="89" y="26"/>
                    </a:lnTo>
                    <a:lnTo>
                      <a:pt x="92" y="28"/>
                    </a:lnTo>
                    <a:lnTo>
                      <a:pt x="105" y="24"/>
                    </a:lnTo>
                    <a:lnTo>
                      <a:pt x="97" y="14"/>
                    </a:lnTo>
                    <a:lnTo>
                      <a:pt x="84" y="9"/>
                    </a:lnTo>
                    <a:lnTo>
                      <a:pt x="69" y="8"/>
                    </a:lnTo>
                    <a:lnTo>
                      <a:pt x="53"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2" name="Freeform 322">
                <a:extLst>
                  <a:ext uri="{FF2B5EF4-FFF2-40B4-BE49-F238E27FC236}">
                    <a16:creationId xmlns:a16="http://schemas.microsoft.com/office/drawing/2014/main" id="{06159B2A-5BC1-6C2E-E948-9FE5D67A4D80}"/>
                  </a:ext>
                </a:extLst>
              </p:cNvPr>
              <p:cNvSpPr>
                <a:spLocks/>
              </p:cNvSpPr>
              <p:nvPr/>
            </p:nvSpPr>
            <p:spPr bwMode="auto">
              <a:xfrm>
                <a:off x="1964" y="3077"/>
                <a:ext cx="141" cy="67"/>
              </a:xfrm>
              <a:custGeom>
                <a:avLst/>
                <a:gdLst>
                  <a:gd name="T0" fmla="*/ 2953782 w 85"/>
                  <a:gd name="T1" fmla="*/ 158 h 58"/>
                  <a:gd name="T2" fmla="*/ 2938929 w 85"/>
                  <a:gd name="T3" fmla="*/ 119 h 58"/>
                  <a:gd name="T4" fmla="*/ 2639817 w 85"/>
                  <a:gd name="T5" fmla="*/ 241 h 58"/>
                  <a:gd name="T6" fmla="*/ 2235172 w 85"/>
                  <a:gd name="T7" fmla="*/ 371 h 58"/>
                  <a:gd name="T8" fmla="*/ 1620969 w 85"/>
                  <a:gd name="T9" fmla="*/ 496 h 58"/>
                  <a:gd name="T10" fmla="*/ 1018839 w 85"/>
                  <a:gd name="T11" fmla="*/ 596 h 58"/>
                  <a:gd name="T12" fmla="*/ 495429 w 85"/>
                  <a:gd name="T13" fmla="*/ 714 h 58"/>
                  <a:gd name="T14" fmla="*/ 71877 w 85"/>
                  <a:gd name="T15" fmla="*/ 917 h 58"/>
                  <a:gd name="T16" fmla="*/ 0 w 85"/>
                  <a:gd name="T17" fmla="*/ 1179 h 58"/>
                  <a:gd name="T18" fmla="*/ 544238 w 85"/>
                  <a:gd name="T19" fmla="*/ 1101 h 58"/>
                  <a:gd name="T20" fmla="*/ 572706 w 85"/>
                  <a:gd name="T21" fmla="*/ 1060 h 58"/>
                  <a:gd name="T22" fmla="*/ 821829 w 85"/>
                  <a:gd name="T23" fmla="*/ 968 h 58"/>
                  <a:gd name="T24" fmla="*/ 1248079 w 85"/>
                  <a:gd name="T25" fmla="*/ 838 h 58"/>
                  <a:gd name="T26" fmla="*/ 1864649 w 85"/>
                  <a:gd name="T27" fmla="*/ 714 h 58"/>
                  <a:gd name="T28" fmla="*/ 2442656 w 85"/>
                  <a:gd name="T29" fmla="*/ 596 h 58"/>
                  <a:gd name="T30" fmla="*/ 2953782 w 85"/>
                  <a:gd name="T31" fmla="*/ 496 h 58"/>
                  <a:gd name="T32" fmla="*/ 3327053 w 85"/>
                  <a:gd name="T33" fmla="*/ 282 h 58"/>
                  <a:gd name="T34" fmla="*/ 3461437 w 85"/>
                  <a:gd name="T35" fmla="*/ 2 h 58"/>
                  <a:gd name="T36" fmla="*/ 3461437 w 85"/>
                  <a:gd name="T37" fmla="*/ 0 h 58"/>
                  <a:gd name="T38" fmla="*/ 3461437 w 85"/>
                  <a:gd name="T39" fmla="*/ 2 h 58"/>
                  <a:gd name="T40" fmla="*/ 3461437 w 85"/>
                  <a:gd name="T41" fmla="*/ 1 h 58"/>
                  <a:gd name="T42" fmla="*/ 3461437 w 85"/>
                  <a:gd name="T43" fmla="*/ 0 h 58"/>
                  <a:gd name="T44" fmla="*/ 2953782 w 85"/>
                  <a:gd name="T45" fmla="*/ 158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5"/>
                  <a:gd name="T70" fmla="*/ 0 h 58"/>
                  <a:gd name="T71" fmla="*/ 85 w 85"/>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5" h="58">
                    <a:moveTo>
                      <a:pt x="72" y="8"/>
                    </a:moveTo>
                    <a:lnTo>
                      <a:pt x="71" y="6"/>
                    </a:lnTo>
                    <a:lnTo>
                      <a:pt x="64" y="11"/>
                    </a:lnTo>
                    <a:lnTo>
                      <a:pt x="54" y="17"/>
                    </a:lnTo>
                    <a:lnTo>
                      <a:pt x="39" y="23"/>
                    </a:lnTo>
                    <a:lnTo>
                      <a:pt x="25" y="29"/>
                    </a:lnTo>
                    <a:lnTo>
                      <a:pt x="12" y="35"/>
                    </a:lnTo>
                    <a:lnTo>
                      <a:pt x="2" y="44"/>
                    </a:lnTo>
                    <a:lnTo>
                      <a:pt x="0" y="57"/>
                    </a:lnTo>
                    <a:lnTo>
                      <a:pt x="13" y="53"/>
                    </a:lnTo>
                    <a:lnTo>
                      <a:pt x="14" y="52"/>
                    </a:lnTo>
                    <a:lnTo>
                      <a:pt x="20" y="47"/>
                    </a:lnTo>
                    <a:lnTo>
                      <a:pt x="30" y="41"/>
                    </a:lnTo>
                    <a:lnTo>
                      <a:pt x="45" y="35"/>
                    </a:lnTo>
                    <a:lnTo>
                      <a:pt x="59" y="29"/>
                    </a:lnTo>
                    <a:lnTo>
                      <a:pt x="72" y="23"/>
                    </a:lnTo>
                    <a:lnTo>
                      <a:pt x="81" y="14"/>
                    </a:lnTo>
                    <a:lnTo>
                      <a:pt x="84" y="2"/>
                    </a:lnTo>
                    <a:lnTo>
                      <a:pt x="84" y="0"/>
                    </a:lnTo>
                    <a:lnTo>
                      <a:pt x="84" y="2"/>
                    </a:lnTo>
                    <a:lnTo>
                      <a:pt x="84" y="1"/>
                    </a:lnTo>
                    <a:lnTo>
                      <a:pt x="84" y="0"/>
                    </a:lnTo>
                    <a:lnTo>
                      <a:pt x="72" y="8"/>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3" name="Freeform 323">
                <a:extLst>
                  <a:ext uri="{FF2B5EF4-FFF2-40B4-BE49-F238E27FC236}">
                    <a16:creationId xmlns:a16="http://schemas.microsoft.com/office/drawing/2014/main" id="{E397C13D-449E-3E30-B1C3-30FCB2C597BA}"/>
                  </a:ext>
                </a:extLst>
              </p:cNvPr>
              <p:cNvSpPr>
                <a:spLocks/>
              </p:cNvSpPr>
              <p:nvPr/>
            </p:nvSpPr>
            <p:spPr bwMode="auto">
              <a:xfrm>
                <a:off x="2080" y="3075"/>
                <a:ext cx="25" cy="12"/>
              </a:xfrm>
              <a:custGeom>
                <a:avLst/>
                <a:gdLst>
                  <a:gd name="T0" fmla="*/ 0 w 15"/>
                  <a:gd name="T1" fmla="*/ 215 h 10"/>
                  <a:gd name="T2" fmla="*/ 47430 w 15"/>
                  <a:gd name="T3" fmla="*/ 310 h 10"/>
                  <a:gd name="T4" fmla="*/ 79050 w 15"/>
                  <a:gd name="T5" fmla="*/ 434 h 10"/>
                  <a:gd name="T6" fmla="*/ 621467 w 15"/>
                  <a:gd name="T7" fmla="*/ 2 h 10"/>
                  <a:gd name="T8" fmla="*/ 542092 w 15"/>
                  <a:gd name="T9" fmla="*/ 0 h 10"/>
                  <a:gd name="T10" fmla="*/ 609953 w 15"/>
                  <a:gd name="T11" fmla="*/ 2 h 10"/>
                  <a:gd name="T12" fmla="*/ 0 w 15"/>
                  <a:gd name="T13" fmla="*/ 215 h 10"/>
                  <a:gd name="T14" fmla="*/ 0 w 15"/>
                  <a:gd name="T15" fmla="*/ 258 h 10"/>
                  <a:gd name="T16" fmla="*/ 47430 w 15"/>
                  <a:gd name="T17" fmla="*/ 310 h 10"/>
                  <a:gd name="T18" fmla="*/ 0 w 15"/>
                  <a:gd name="T19" fmla="*/ 215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0"/>
                  <a:gd name="T32" fmla="*/ 15 w 15"/>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0">
                    <a:moveTo>
                      <a:pt x="0" y="5"/>
                    </a:moveTo>
                    <a:lnTo>
                      <a:pt x="1" y="7"/>
                    </a:lnTo>
                    <a:lnTo>
                      <a:pt x="2" y="9"/>
                    </a:lnTo>
                    <a:lnTo>
                      <a:pt x="14" y="2"/>
                    </a:lnTo>
                    <a:lnTo>
                      <a:pt x="12" y="0"/>
                    </a:lnTo>
                    <a:lnTo>
                      <a:pt x="13" y="2"/>
                    </a:lnTo>
                    <a:lnTo>
                      <a:pt x="0" y="5"/>
                    </a:lnTo>
                    <a:lnTo>
                      <a:pt x="0" y="6"/>
                    </a:lnTo>
                    <a:lnTo>
                      <a:pt x="1" y="7"/>
                    </a:lnTo>
                    <a:lnTo>
                      <a:pt x="0" y="5"/>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4" name="Freeform 324">
                <a:extLst>
                  <a:ext uri="{FF2B5EF4-FFF2-40B4-BE49-F238E27FC236}">
                    <a16:creationId xmlns:a16="http://schemas.microsoft.com/office/drawing/2014/main" id="{E7F1F0A3-66DA-B3AD-1334-D2FA94507DAB}"/>
                  </a:ext>
                </a:extLst>
              </p:cNvPr>
              <p:cNvSpPr>
                <a:spLocks/>
              </p:cNvSpPr>
              <p:nvPr/>
            </p:nvSpPr>
            <p:spPr bwMode="auto">
              <a:xfrm>
                <a:off x="1930" y="3049"/>
                <a:ext cx="174" cy="34"/>
              </a:xfrm>
              <a:custGeom>
                <a:avLst/>
                <a:gdLst>
                  <a:gd name="T0" fmla="*/ 0 w 105"/>
                  <a:gd name="T1" fmla="*/ 103 h 29"/>
                  <a:gd name="T2" fmla="*/ 320394 w 105"/>
                  <a:gd name="T3" fmla="*/ 368 h 29"/>
                  <a:gd name="T4" fmla="*/ 851120 w 105"/>
                  <a:gd name="T5" fmla="*/ 440 h 29"/>
                  <a:gd name="T6" fmla="*/ 1458024 w 105"/>
                  <a:gd name="T7" fmla="*/ 505 h 29"/>
                  <a:gd name="T8" fmla="*/ 2080606 w 105"/>
                  <a:gd name="T9" fmla="*/ 505 h 29"/>
                  <a:gd name="T10" fmla="*/ 2706298 w 105"/>
                  <a:gd name="T11" fmla="*/ 505 h 29"/>
                  <a:gd name="T12" fmla="*/ 3199048 w 105"/>
                  <a:gd name="T13" fmla="*/ 579 h 29"/>
                  <a:gd name="T14" fmla="*/ 3564453 w 105"/>
                  <a:gd name="T15" fmla="*/ 691 h 29"/>
                  <a:gd name="T16" fmla="*/ 3677016 w 105"/>
                  <a:gd name="T17" fmla="*/ 810 h 29"/>
                  <a:gd name="T18" fmla="*/ 4192184 w 105"/>
                  <a:gd name="T19" fmla="*/ 691 h 29"/>
                  <a:gd name="T20" fmla="*/ 3873205 w 105"/>
                  <a:gd name="T21" fmla="*/ 368 h 29"/>
                  <a:gd name="T22" fmla="*/ 3367531 w 105"/>
                  <a:gd name="T23" fmla="*/ 195 h 29"/>
                  <a:gd name="T24" fmla="*/ 2755964 w 105"/>
                  <a:gd name="T25" fmla="*/ 142 h 29"/>
                  <a:gd name="T26" fmla="*/ 2080606 w 105"/>
                  <a:gd name="T27" fmla="*/ 121 h 29"/>
                  <a:gd name="T28" fmla="*/ 1458024 w 105"/>
                  <a:gd name="T29" fmla="*/ 142 h 29"/>
                  <a:gd name="T30" fmla="*/ 921214 w 105"/>
                  <a:gd name="T31" fmla="*/ 103 h 29"/>
                  <a:gd name="T32" fmla="*/ 605611 w 105"/>
                  <a:gd name="T33" fmla="*/ 2 h 29"/>
                  <a:gd name="T34" fmla="*/ 530939 w 105"/>
                  <a:gd name="T35" fmla="*/ 0 h 29"/>
                  <a:gd name="T36" fmla="*/ 0 w 105"/>
                  <a:gd name="T37" fmla="*/ 10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3"/>
                    </a:moveTo>
                    <a:lnTo>
                      <a:pt x="8" y="13"/>
                    </a:lnTo>
                    <a:lnTo>
                      <a:pt x="21" y="16"/>
                    </a:lnTo>
                    <a:lnTo>
                      <a:pt x="36" y="18"/>
                    </a:lnTo>
                    <a:lnTo>
                      <a:pt x="51" y="18"/>
                    </a:lnTo>
                    <a:lnTo>
                      <a:pt x="67" y="18"/>
                    </a:lnTo>
                    <a:lnTo>
                      <a:pt x="79" y="20"/>
                    </a:lnTo>
                    <a:lnTo>
                      <a:pt x="88" y="24"/>
                    </a:lnTo>
                    <a:lnTo>
                      <a:pt x="91" y="28"/>
                    </a:lnTo>
                    <a:lnTo>
                      <a:pt x="104" y="24"/>
                    </a:lnTo>
                    <a:lnTo>
                      <a:pt x="96" y="13"/>
                    </a:lnTo>
                    <a:lnTo>
                      <a:pt x="83" y="7"/>
                    </a:lnTo>
                    <a:lnTo>
                      <a:pt x="68" y="5"/>
                    </a:lnTo>
                    <a:lnTo>
                      <a:pt x="51" y="4"/>
                    </a:lnTo>
                    <a:lnTo>
                      <a:pt x="36" y="5"/>
                    </a:lnTo>
                    <a:lnTo>
                      <a:pt x="23" y="3"/>
                    </a:lnTo>
                    <a:lnTo>
                      <a:pt x="15"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5" name="Freeform 325">
                <a:extLst>
                  <a:ext uri="{FF2B5EF4-FFF2-40B4-BE49-F238E27FC236}">
                    <a16:creationId xmlns:a16="http://schemas.microsoft.com/office/drawing/2014/main" id="{FE8ACDE3-8903-BE3C-4C93-8B361CE4B5E7}"/>
                  </a:ext>
                </a:extLst>
              </p:cNvPr>
              <p:cNvSpPr>
                <a:spLocks/>
              </p:cNvSpPr>
              <p:nvPr/>
            </p:nvSpPr>
            <p:spPr bwMode="auto">
              <a:xfrm>
                <a:off x="1930" y="2982"/>
                <a:ext cx="136" cy="73"/>
              </a:xfrm>
              <a:custGeom>
                <a:avLst/>
                <a:gdLst>
                  <a:gd name="T0" fmla="*/ 2793281 w 82"/>
                  <a:gd name="T1" fmla="*/ 73 h 64"/>
                  <a:gd name="T2" fmla="*/ 2793281 w 82"/>
                  <a:gd name="T3" fmla="*/ 108 h 64"/>
                  <a:gd name="T4" fmla="*/ 2559870 w 82"/>
                  <a:gd name="T5" fmla="*/ 192 h 64"/>
                  <a:gd name="T6" fmla="*/ 2110216 w 82"/>
                  <a:gd name="T7" fmla="*/ 309 h 64"/>
                  <a:gd name="T8" fmla="*/ 1549208 w 82"/>
                  <a:gd name="T9" fmla="*/ 409 h 64"/>
                  <a:gd name="T10" fmla="*/ 984142 w 82"/>
                  <a:gd name="T11" fmla="*/ 533 h 64"/>
                  <a:gd name="T12" fmla="*/ 494159 w 82"/>
                  <a:gd name="T13" fmla="*/ 674 h 64"/>
                  <a:gd name="T14" fmla="*/ 71808 w 82"/>
                  <a:gd name="T15" fmla="*/ 792 h 64"/>
                  <a:gd name="T16" fmla="*/ 0 w 82"/>
                  <a:gd name="T17" fmla="*/ 1000 h 64"/>
                  <a:gd name="T18" fmla="*/ 543340 w 82"/>
                  <a:gd name="T19" fmla="*/ 931 h 64"/>
                  <a:gd name="T20" fmla="*/ 543340 w 82"/>
                  <a:gd name="T21" fmla="*/ 925 h 64"/>
                  <a:gd name="T22" fmla="*/ 792167 w 82"/>
                  <a:gd name="T23" fmla="*/ 816 h 64"/>
                  <a:gd name="T24" fmla="*/ 1245083 w 82"/>
                  <a:gd name="T25" fmla="*/ 711 h 64"/>
                  <a:gd name="T26" fmla="*/ 1809896 w 82"/>
                  <a:gd name="T27" fmla="*/ 598 h 64"/>
                  <a:gd name="T28" fmla="*/ 2364446 w 82"/>
                  <a:gd name="T29" fmla="*/ 482 h 64"/>
                  <a:gd name="T30" fmla="*/ 2866162 w 82"/>
                  <a:gd name="T31" fmla="*/ 359 h 64"/>
                  <a:gd name="T32" fmla="*/ 3244615 w 82"/>
                  <a:gd name="T33" fmla="*/ 209 h 64"/>
                  <a:gd name="T34" fmla="*/ 3316748 w 82"/>
                  <a:gd name="T35" fmla="*/ 0 h 64"/>
                  <a:gd name="T36" fmla="*/ 2793281 w 82"/>
                  <a:gd name="T37" fmla="*/ 73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4"/>
                  <a:gd name="T59" fmla="*/ 82 w 82"/>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4">
                    <a:moveTo>
                      <a:pt x="68" y="4"/>
                    </a:moveTo>
                    <a:lnTo>
                      <a:pt x="68" y="7"/>
                    </a:lnTo>
                    <a:lnTo>
                      <a:pt x="62" y="12"/>
                    </a:lnTo>
                    <a:lnTo>
                      <a:pt x="51" y="19"/>
                    </a:lnTo>
                    <a:lnTo>
                      <a:pt x="38" y="26"/>
                    </a:lnTo>
                    <a:lnTo>
                      <a:pt x="24" y="34"/>
                    </a:lnTo>
                    <a:lnTo>
                      <a:pt x="12" y="42"/>
                    </a:lnTo>
                    <a:lnTo>
                      <a:pt x="2" y="50"/>
                    </a:lnTo>
                    <a:lnTo>
                      <a:pt x="0" y="63"/>
                    </a:lnTo>
                    <a:lnTo>
                      <a:pt x="13" y="59"/>
                    </a:lnTo>
                    <a:lnTo>
                      <a:pt x="13" y="58"/>
                    </a:lnTo>
                    <a:lnTo>
                      <a:pt x="19" y="52"/>
                    </a:lnTo>
                    <a:lnTo>
                      <a:pt x="30" y="45"/>
                    </a:lnTo>
                    <a:lnTo>
                      <a:pt x="44" y="38"/>
                    </a:lnTo>
                    <a:lnTo>
                      <a:pt x="57" y="31"/>
                    </a:lnTo>
                    <a:lnTo>
                      <a:pt x="70" y="23"/>
                    </a:lnTo>
                    <a:lnTo>
                      <a:pt x="79"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6" name="Freeform 326">
                <a:extLst>
                  <a:ext uri="{FF2B5EF4-FFF2-40B4-BE49-F238E27FC236}">
                    <a16:creationId xmlns:a16="http://schemas.microsoft.com/office/drawing/2014/main" id="{DFE05785-BBD6-7A84-52CE-42B06466B585}"/>
                  </a:ext>
                </a:extLst>
              </p:cNvPr>
              <p:cNvSpPr>
                <a:spLocks/>
              </p:cNvSpPr>
              <p:nvPr/>
            </p:nvSpPr>
            <p:spPr bwMode="auto">
              <a:xfrm>
                <a:off x="1892" y="2954"/>
                <a:ext cx="174" cy="33"/>
              </a:xfrm>
              <a:custGeom>
                <a:avLst/>
                <a:gdLst>
                  <a:gd name="T0" fmla="*/ 0 w 105"/>
                  <a:gd name="T1" fmla="*/ 68 h 29"/>
                  <a:gd name="T2" fmla="*/ 320394 w 105"/>
                  <a:gd name="T3" fmla="*/ 207 h 29"/>
                  <a:gd name="T4" fmla="*/ 808008 w 105"/>
                  <a:gd name="T5" fmla="*/ 247 h 29"/>
                  <a:gd name="T6" fmla="*/ 1410427 w 105"/>
                  <a:gd name="T7" fmla="*/ 281 h 29"/>
                  <a:gd name="T8" fmla="*/ 2080606 w 105"/>
                  <a:gd name="T9" fmla="*/ 306 h 29"/>
                  <a:gd name="T10" fmla="*/ 2706298 w 105"/>
                  <a:gd name="T11" fmla="*/ 316 h 29"/>
                  <a:gd name="T12" fmla="*/ 3243486 w 105"/>
                  <a:gd name="T13" fmla="*/ 320 h 29"/>
                  <a:gd name="T14" fmla="*/ 3587389 w 105"/>
                  <a:gd name="T15" fmla="*/ 364 h 29"/>
                  <a:gd name="T16" fmla="*/ 3677016 w 105"/>
                  <a:gd name="T17" fmla="*/ 414 h 29"/>
                  <a:gd name="T18" fmla="*/ 4192184 w 105"/>
                  <a:gd name="T19" fmla="*/ 360 h 29"/>
                  <a:gd name="T20" fmla="*/ 3873205 w 105"/>
                  <a:gd name="T21" fmla="*/ 207 h 29"/>
                  <a:gd name="T22" fmla="*/ 3367531 w 105"/>
                  <a:gd name="T23" fmla="*/ 148 h 29"/>
                  <a:gd name="T24" fmla="*/ 2755964 w 105"/>
                  <a:gd name="T25" fmla="*/ 114 h 29"/>
                  <a:gd name="T26" fmla="*/ 2105818 w 105"/>
                  <a:gd name="T27" fmla="*/ 100 h 29"/>
                  <a:gd name="T28" fmla="*/ 1485145 w 105"/>
                  <a:gd name="T29" fmla="*/ 88 h 29"/>
                  <a:gd name="T30" fmla="*/ 921214 w 105"/>
                  <a:gd name="T31" fmla="*/ 77 h 29"/>
                  <a:gd name="T32" fmla="*/ 605611 w 105"/>
                  <a:gd name="T33" fmla="*/ 2 h 29"/>
                  <a:gd name="T34" fmla="*/ 530939 w 105"/>
                  <a:gd name="T35" fmla="*/ 0 h 29"/>
                  <a:gd name="T36" fmla="*/ 0 w 105"/>
                  <a:gd name="T37" fmla="*/ 68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5"/>
                  <a:gd name="T58" fmla="*/ 0 h 29"/>
                  <a:gd name="T59" fmla="*/ 105 w 105"/>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5" h="29">
                    <a:moveTo>
                      <a:pt x="0" y="4"/>
                    </a:moveTo>
                    <a:lnTo>
                      <a:pt x="8" y="14"/>
                    </a:lnTo>
                    <a:lnTo>
                      <a:pt x="20" y="17"/>
                    </a:lnTo>
                    <a:lnTo>
                      <a:pt x="35" y="19"/>
                    </a:lnTo>
                    <a:lnTo>
                      <a:pt x="51" y="20"/>
                    </a:lnTo>
                    <a:lnTo>
                      <a:pt x="67" y="21"/>
                    </a:lnTo>
                    <a:lnTo>
                      <a:pt x="80" y="22"/>
                    </a:lnTo>
                    <a:lnTo>
                      <a:pt x="89" y="25"/>
                    </a:lnTo>
                    <a:lnTo>
                      <a:pt x="91" y="28"/>
                    </a:lnTo>
                    <a:lnTo>
                      <a:pt x="104" y="24"/>
                    </a:lnTo>
                    <a:lnTo>
                      <a:pt x="96" y="14"/>
                    </a:lnTo>
                    <a:lnTo>
                      <a:pt x="83" y="10"/>
                    </a:lnTo>
                    <a:lnTo>
                      <a:pt x="68" y="8"/>
                    </a:lnTo>
                    <a:lnTo>
                      <a:pt x="52" y="7"/>
                    </a:lnTo>
                    <a:lnTo>
                      <a:pt x="37" y="6"/>
                    </a:lnTo>
                    <a:lnTo>
                      <a:pt x="23"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7" name="Freeform 327">
                <a:extLst>
                  <a:ext uri="{FF2B5EF4-FFF2-40B4-BE49-F238E27FC236}">
                    <a16:creationId xmlns:a16="http://schemas.microsoft.com/office/drawing/2014/main" id="{3CE2B3AD-F553-D09E-9851-575F1175A5EC}"/>
                  </a:ext>
                </a:extLst>
              </p:cNvPr>
              <p:cNvSpPr>
                <a:spLocks/>
              </p:cNvSpPr>
              <p:nvPr/>
            </p:nvSpPr>
            <p:spPr bwMode="auto">
              <a:xfrm>
                <a:off x="1892" y="2889"/>
                <a:ext cx="141" cy="70"/>
              </a:xfrm>
              <a:custGeom>
                <a:avLst/>
                <a:gdLst>
                  <a:gd name="T0" fmla="*/ 3010083 w 85"/>
                  <a:gd name="T1" fmla="*/ 157 h 61"/>
                  <a:gd name="T2" fmla="*/ 2938929 w 85"/>
                  <a:gd name="T3" fmla="*/ 119 h 61"/>
                  <a:gd name="T4" fmla="*/ 2878991 w 85"/>
                  <a:gd name="T5" fmla="*/ 104 h 61"/>
                  <a:gd name="T6" fmla="*/ 2639817 w 85"/>
                  <a:gd name="T7" fmla="*/ 180 h 61"/>
                  <a:gd name="T8" fmla="*/ 2144595 w 85"/>
                  <a:gd name="T9" fmla="*/ 313 h 61"/>
                  <a:gd name="T10" fmla="*/ 1575912 w 85"/>
                  <a:gd name="T11" fmla="*/ 412 h 61"/>
                  <a:gd name="T12" fmla="*/ 1018839 w 85"/>
                  <a:gd name="T13" fmla="*/ 555 h 61"/>
                  <a:gd name="T14" fmla="*/ 495429 w 85"/>
                  <a:gd name="T15" fmla="*/ 678 h 61"/>
                  <a:gd name="T16" fmla="*/ 119231 w 85"/>
                  <a:gd name="T17" fmla="*/ 839 h 61"/>
                  <a:gd name="T18" fmla="*/ 0 w 85"/>
                  <a:gd name="T19" fmla="*/ 1080 h 61"/>
                  <a:gd name="T20" fmla="*/ 544238 w 85"/>
                  <a:gd name="T21" fmla="*/ 990 h 61"/>
                  <a:gd name="T22" fmla="*/ 572706 w 85"/>
                  <a:gd name="T23" fmla="*/ 982 h 61"/>
                  <a:gd name="T24" fmla="*/ 821829 w 85"/>
                  <a:gd name="T25" fmla="*/ 863 h 61"/>
                  <a:gd name="T26" fmla="*/ 1275833 w 85"/>
                  <a:gd name="T27" fmla="*/ 746 h 61"/>
                  <a:gd name="T28" fmla="*/ 1864649 w 85"/>
                  <a:gd name="T29" fmla="*/ 636 h 61"/>
                  <a:gd name="T30" fmla="*/ 2442656 w 85"/>
                  <a:gd name="T31" fmla="*/ 515 h 61"/>
                  <a:gd name="T32" fmla="*/ 2878991 w 85"/>
                  <a:gd name="T33" fmla="*/ 391 h 61"/>
                  <a:gd name="T34" fmla="*/ 3327053 w 85"/>
                  <a:gd name="T35" fmla="*/ 273 h 61"/>
                  <a:gd name="T36" fmla="*/ 3461437 w 85"/>
                  <a:gd name="T37" fmla="*/ 3 h 61"/>
                  <a:gd name="T38" fmla="*/ 3392672 w 85"/>
                  <a:gd name="T39" fmla="*/ 0 h 61"/>
                  <a:gd name="T40" fmla="*/ 3461437 w 85"/>
                  <a:gd name="T41" fmla="*/ 3 h 61"/>
                  <a:gd name="T42" fmla="*/ 3434334 w 85"/>
                  <a:gd name="T43" fmla="*/ 1 h 61"/>
                  <a:gd name="T44" fmla="*/ 3392672 w 85"/>
                  <a:gd name="T45" fmla="*/ 0 h 61"/>
                  <a:gd name="T46" fmla="*/ 3010083 w 85"/>
                  <a:gd name="T47" fmla="*/ 15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61"/>
                  <a:gd name="T74" fmla="*/ 85 w 85"/>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61">
                    <a:moveTo>
                      <a:pt x="73" y="9"/>
                    </a:moveTo>
                    <a:lnTo>
                      <a:pt x="71" y="7"/>
                    </a:lnTo>
                    <a:lnTo>
                      <a:pt x="70" y="6"/>
                    </a:lnTo>
                    <a:lnTo>
                      <a:pt x="64" y="10"/>
                    </a:lnTo>
                    <a:lnTo>
                      <a:pt x="52" y="17"/>
                    </a:lnTo>
                    <a:lnTo>
                      <a:pt x="38" y="23"/>
                    </a:lnTo>
                    <a:lnTo>
                      <a:pt x="25" y="31"/>
                    </a:lnTo>
                    <a:lnTo>
                      <a:pt x="12" y="38"/>
                    </a:lnTo>
                    <a:lnTo>
                      <a:pt x="3" y="47"/>
                    </a:lnTo>
                    <a:lnTo>
                      <a:pt x="0" y="60"/>
                    </a:lnTo>
                    <a:lnTo>
                      <a:pt x="13" y="56"/>
                    </a:lnTo>
                    <a:lnTo>
                      <a:pt x="14" y="55"/>
                    </a:lnTo>
                    <a:lnTo>
                      <a:pt x="20" y="49"/>
                    </a:lnTo>
                    <a:lnTo>
                      <a:pt x="31" y="42"/>
                    </a:lnTo>
                    <a:lnTo>
                      <a:pt x="45" y="35"/>
                    </a:lnTo>
                    <a:lnTo>
                      <a:pt x="59" y="29"/>
                    </a:lnTo>
                    <a:lnTo>
                      <a:pt x="70" y="22"/>
                    </a:lnTo>
                    <a:lnTo>
                      <a:pt x="81" y="15"/>
                    </a:lnTo>
                    <a:lnTo>
                      <a:pt x="84" y="3"/>
                    </a:lnTo>
                    <a:lnTo>
                      <a:pt x="82" y="0"/>
                    </a:lnTo>
                    <a:lnTo>
                      <a:pt x="84" y="3"/>
                    </a:lnTo>
                    <a:lnTo>
                      <a:pt x="83" y="1"/>
                    </a:lnTo>
                    <a:lnTo>
                      <a:pt x="82" y="0"/>
                    </a:lnTo>
                    <a:lnTo>
                      <a:pt x="73" y="9"/>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8" name="Freeform 328">
                <a:extLst>
                  <a:ext uri="{FF2B5EF4-FFF2-40B4-BE49-F238E27FC236}">
                    <a16:creationId xmlns:a16="http://schemas.microsoft.com/office/drawing/2014/main" id="{2F22A8A6-47B9-44F1-C10C-323ECD425800}"/>
                  </a:ext>
                </a:extLst>
              </p:cNvPr>
              <p:cNvSpPr>
                <a:spLocks/>
              </p:cNvSpPr>
              <p:nvPr/>
            </p:nvSpPr>
            <p:spPr bwMode="auto">
              <a:xfrm>
                <a:off x="2008" y="2888"/>
                <a:ext cx="23" cy="13"/>
              </a:xfrm>
              <a:custGeom>
                <a:avLst/>
                <a:gdLst>
                  <a:gd name="T0" fmla="*/ 0 w 14"/>
                  <a:gd name="T1" fmla="*/ 182 h 11"/>
                  <a:gd name="T2" fmla="*/ 60339 w 14"/>
                  <a:gd name="T3" fmla="*/ 300 h 11"/>
                  <a:gd name="T4" fmla="*/ 60339 w 14"/>
                  <a:gd name="T5" fmla="*/ 343 h 11"/>
                  <a:gd name="T6" fmla="*/ 375225 w 14"/>
                  <a:gd name="T7" fmla="*/ 1 h 11"/>
                  <a:gd name="T8" fmla="*/ 375225 w 14"/>
                  <a:gd name="T9" fmla="*/ 0 h 11"/>
                  <a:gd name="T10" fmla="*/ 439537 w 14"/>
                  <a:gd name="T11" fmla="*/ 110 h 11"/>
                  <a:gd name="T12" fmla="*/ 0 w 14"/>
                  <a:gd name="T13" fmla="*/ 182 h 11"/>
                  <a:gd name="T14" fmla="*/ 0 w 14"/>
                  <a:gd name="T15" fmla="*/ 254 h 11"/>
                  <a:gd name="T16" fmla="*/ 60339 w 14"/>
                  <a:gd name="T17" fmla="*/ 300 h 11"/>
                  <a:gd name="T18" fmla="*/ 0 w 14"/>
                  <a:gd name="T19" fmla="*/ 182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1"/>
                  <a:gd name="T32" fmla="*/ 14 w 14"/>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1">
                    <a:moveTo>
                      <a:pt x="0" y="6"/>
                    </a:moveTo>
                    <a:lnTo>
                      <a:pt x="2" y="9"/>
                    </a:lnTo>
                    <a:lnTo>
                      <a:pt x="2" y="10"/>
                    </a:lnTo>
                    <a:lnTo>
                      <a:pt x="11" y="1"/>
                    </a:lnTo>
                    <a:lnTo>
                      <a:pt x="11" y="0"/>
                    </a:lnTo>
                    <a:lnTo>
                      <a:pt x="13" y="3"/>
                    </a:lnTo>
                    <a:lnTo>
                      <a:pt x="0" y="6"/>
                    </a:lnTo>
                    <a:lnTo>
                      <a:pt x="0" y="8"/>
                    </a:lnTo>
                    <a:lnTo>
                      <a:pt x="2" y="9"/>
                    </a:lnTo>
                    <a:lnTo>
                      <a:pt x="0" y="6"/>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79" name="Freeform 329">
                <a:extLst>
                  <a:ext uri="{FF2B5EF4-FFF2-40B4-BE49-F238E27FC236}">
                    <a16:creationId xmlns:a16="http://schemas.microsoft.com/office/drawing/2014/main" id="{722D6559-0A5F-5FD4-B54D-788B7F341EFB}"/>
                  </a:ext>
                </a:extLst>
              </p:cNvPr>
              <p:cNvSpPr>
                <a:spLocks/>
              </p:cNvSpPr>
              <p:nvPr/>
            </p:nvSpPr>
            <p:spPr bwMode="auto">
              <a:xfrm>
                <a:off x="1859" y="2861"/>
                <a:ext cx="172" cy="36"/>
              </a:xfrm>
              <a:custGeom>
                <a:avLst/>
                <a:gdLst>
                  <a:gd name="T0" fmla="*/ 0 w 104"/>
                  <a:gd name="T1" fmla="*/ 149 h 30"/>
                  <a:gd name="T2" fmla="*/ 310460 w 104"/>
                  <a:gd name="T3" fmla="*/ 642 h 30"/>
                  <a:gd name="T4" fmla="*/ 823227 w 104"/>
                  <a:gd name="T5" fmla="*/ 820 h 30"/>
                  <a:gd name="T6" fmla="*/ 1404400 w 104"/>
                  <a:gd name="T7" fmla="*/ 953 h 30"/>
                  <a:gd name="T8" fmla="*/ 1967544 w 104"/>
                  <a:gd name="T9" fmla="*/ 984 h 30"/>
                  <a:gd name="T10" fmla="*/ 2606496 w 104"/>
                  <a:gd name="T11" fmla="*/ 1080 h 30"/>
                  <a:gd name="T12" fmla="*/ 3143882 w 104"/>
                  <a:gd name="T13" fmla="*/ 1144 h 30"/>
                  <a:gd name="T14" fmla="*/ 3421168 w 104"/>
                  <a:gd name="T15" fmla="*/ 1219 h 30"/>
                  <a:gd name="T16" fmla="*/ 3487763 w 104"/>
                  <a:gd name="T17" fmla="*/ 1331 h 30"/>
                  <a:gd name="T18" fmla="*/ 3985470 w 104"/>
                  <a:gd name="T19" fmla="*/ 1181 h 30"/>
                  <a:gd name="T20" fmla="*/ 3684152 w 104"/>
                  <a:gd name="T21" fmla="*/ 750 h 30"/>
                  <a:gd name="T22" fmla="*/ 3210488 w 104"/>
                  <a:gd name="T23" fmla="*/ 535 h 30"/>
                  <a:gd name="T24" fmla="*/ 2621895 w 104"/>
                  <a:gd name="T25" fmla="*/ 446 h 30"/>
                  <a:gd name="T26" fmla="*/ 2068613 w 104"/>
                  <a:gd name="T27" fmla="*/ 434 h 30"/>
                  <a:gd name="T28" fmla="*/ 1428035 w 104"/>
                  <a:gd name="T29" fmla="*/ 372 h 30"/>
                  <a:gd name="T30" fmla="*/ 958573 w 104"/>
                  <a:gd name="T31" fmla="*/ 215 h 30"/>
                  <a:gd name="T32" fmla="*/ 607874 w 104"/>
                  <a:gd name="T33" fmla="*/ 2 h 30"/>
                  <a:gd name="T34" fmla="*/ 513453 w 104"/>
                  <a:gd name="T35" fmla="*/ 0 h 30"/>
                  <a:gd name="T36" fmla="*/ 0 w 104"/>
                  <a:gd name="T37" fmla="*/ 149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30"/>
                  <a:gd name="T59" fmla="*/ 104 w 104"/>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30">
                    <a:moveTo>
                      <a:pt x="0" y="3"/>
                    </a:moveTo>
                    <a:lnTo>
                      <a:pt x="8" y="14"/>
                    </a:lnTo>
                    <a:lnTo>
                      <a:pt x="21" y="18"/>
                    </a:lnTo>
                    <a:lnTo>
                      <a:pt x="36" y="21"/>
                    </a:lnTo>
                    <a:lnTo>
                      <a:pt x="51" y="22"/>
                    </a:lnTo>
                    <a:lnTo>
                      <a:pt x="67" y="23"/>
                    </a:lnTo>
                    <a:lnTo>
                      <a:pt x="81" y="25"/>
                    </a:lnTo>
                    <a:lnTo>
                      <a:pt x="88" y="27"/>
                    </a:lnTo>
                    <a:lnTo>
                      <a:pt x="90" y="29"/>
                    </a:lnTo>
                    <a:lnTo>
                      <a:pt x="103" y="26"/>
                    </a:lnTo>
                    <a:lnTo>
                      <a:pt x="95" y="16"/>
                    </a:lnTo>
                    <a:lnTo>
                      <a:pt x="83" y="12"/>
                    </a:lnTo>
                    <a:lnTo>
                      <a:pt x="68" y="10"/>
                    </a:lnTo>
                    <a:lnTo>
                      <a:pt x="53" y="9"/>
                    </a:lnTo>
                    <a:lnTo>
                      <a:pt x="37" y="8"/>
                    </a:lnTo>
                    <a:lnTo>
                      <a:pt x="25" y="5"/>
                    </a:lnTo>
                    <a:lnTo>
                      <a:pt x="16" y="2"/>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0" name="Freeform 330">
                <a:extLst>
                  <a:ext uri="{FF2B5EF4-FFF2-40B4-BE49-F238E27FC236}">
                    <a16:creationId xmlns:a16="http://schemas.microsoft.com/office/drawing/2014/main" id="{1A280CEC-CFED-F1A8-213E-4FC21A6E4DFF}"/>
                  </a:ext>
                </a:extLst>
              </p:cNvPr>
              <p:cNvSpPr>
                <a:spLocks/>
              </p:cNvSpPr>
              <p:nvPr/>
            </p:nvSpPr>
            <p:spPr bwMode="auto">
              <a:xfrm>
                <a:off x="1859" y="2793"/>
                <a:ext cx="137" cy="75"/>
              </a:xfrm>
              <a:custGeom>
                <a:avLst/>
                <a:gdLst>
                  <a:gd name="T0" fmla="*/ 2566051 w 83"/>
                  <a:gd name="T1" fmla="*/ 121 h 64"/>
                  <a:gd name="T2" fmla="*/ 2519400 w 83"/>
                  <a:gd name="T3" fmla="*/ 142 h 64"/>
                  <a:gd name="T4" fmla="*/ 2289995 w 83"/>
                  <a:gd name="T5" fmla="*/ 314 h 64"/>
                  <a:gd name="T6" fmla="*/ 1894573 w 83"/>
                  <a:gd name="T7" fmla="*/ 505 h 64"/>
                  <a:gd name="T8" fmla="*/ 1423684 w 83"/>
                  <a:gd name="T9" fmla="*/ 694 h 64"/>
                  <a:gd name="T10" fmla="*/ 901473 w 83"/>
                  <a:gd name="T11" fmla="*/ 929 h 64"/>
                  <a:gd name="T12" fmla="*/ 446998 w 83"/>
                  <a:gd name="T13" fmla="*/ 1117 h 64"/>
                  <a:gd name="T14" fmla="*/ 64690 w 83"/>
                  <a:gd name="T15" fmla="*/ 1402 h 64"/>
                  <a:gd name="T16" fmla="*/ 0 w 83"/>
                  <a:gd name="T17" fmla="*/ 1779 h 64"/>
                  <a:gd name="T18" fmla="*/ 480180 w 83"/>
                  <a:gd name="T19" fmla="*/ 1643 h 64"/>
                  <a:gd name="T20" fmla="*/ 522551 w 83"/>
                  <a:gd name="T21" fmla="*/ 1556 h 64"/>
                  <a:gd name="T22" fmla="*/ 695387 w 83"/>
                  <a:gd name="T23" fmla="*/ 1430 h 64"/>
                  <a:gd name="T24" fmla="*/ 1147807 w 83"/>
                  <a:gd name="T25" fmla="*/ 1236 h 64"/>
                  <a:gd name="T26" fmla="*/ 1639289 w 83"/>
                  <a:gd name="T27" fmla="*/ 1021 h 64"/>
                  <a:gd name="T28" fmla="*/ 2159391 w 83"/>
                  <a:gd name="T29" fmla="*/ 813 h 64"/>
                  <a:gd name="T30" fmla="*/ 2603804 w 83"/>
                  <a:gd name="T31" fmla="*/ 601 h 64"/>
                  <a:gd name="T32" fmla="*/ 2935213 w 83"/>
                  <a:gd name="T33" fmla="*/ 368 h 64"/>
                  <a:gd name="T34" fmla="*/ 3041930 w 83"/>
                  <a:gd name="T35" fmla="*/ 0 h 64"/>
                  <a:gd name="T36" fmla="*/ 2566051 w 83"/>
                  <a:gd name="T37" fmla="*/ 121 h 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
                  <a:gd name="T58" fmla="*/ 0 h 64"/>
                  <a:gd name="T59" fmla="*/ 83 w 83"/>
                  <a:gd name="T60" fmla="*/ 64 h 6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 h="64">
                    <a:moveTo>
                      <a:pt x="69" y="4"/>
                    </a:moveTo>
                    <a:lnTo>
                      <a:pt x="68" y="5"/>
                    </a:lnTo>
                    <a:lnTo>
                      <a:pt x="62" y="11"/>
                    </a:lnTo>
                    <a:lnTo>
                      <a:pt x="51" y="18"/>
                    </a:lnTo>
                    <a:lnTo>
                      <a:pt x="38" y="25"/>
                    </a:lnTo>
                    <a:lnTo>
                      <a:pt x="24" y="32"/>
                    </a:lnTo>
                    <a:lnTo>
                      <a:pt x="12" y="40"/>
                    </a:lnTo>
                    <a:lnTo>
                      <a:pt x="2" y="50"/>
                    </a:lnTo>
                    <a:lnTo>
                      <a:pt x="0" y="63"/>
                    </a:lnTo>
                    <a:lnTo>
                      <a:pt x="13" y="59"/>
                    </a:lnTo>
                    <a:lnTo>
                      <a:pt x="14" y="56"/>
                    </a:lnTo>
                    <a:lnTo>
                      <a:pt x="19" y="51"/>
                    </a:lnTo>
                    <a:lnTo>
                      <a:pt x="31" y="44"/>
                    </a:lnTo>
                    <a:lnTo>
                      <a:pt x="44" y="37"/>
                    </a:lnTo>
                    <a:lnTo>
                      <a:pt x="58" y="29"/>
                    </a:lnTo>
                    <a:lnTo>
                      <a:pt x="70" y="22"/>
                    </a:lnTo>
                    <a:lnTo>
                      <a:pt x="79" y="13"/>
                    </a:lnTo>
                    <a:lnTo>
                      <a:pt x="82" y="0"/>
                    </a:lnTo>
                    <a:lnTo>
                      <a:pt x="69"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1" name="Freeform 331">
                <a:extLst>
                  <a:ext uri="{FF2B5EF4-FFF2-40B4-BE49-F238E27FC236}">
                    <a16:creationId xmlns:a16="http://schemas.microsoft.com/office/drawing/2014/main" id="{B691025C-4D20-F46F-D629-78EFD02131F1}"/>
                  </a:ext>
                </a:extLst>
              </p:cNvPr>
              <p:cNvSpPr>
                <a:spLocks/>
              </p:cNvSpPr>
              <p:nvPr/>
            </p:nvSpPr>
            <p:spPr bwMode="auto">
              <a:xfrm>
                <a:off x="1823" y="2766"/>
                <a:ext cx="173" cy="34"/>
              </a:xfrm>
              <a:custGeom>
                <a:avLst/>
                <a:gdLst>
                  <a:gd name="T0" fmla="*/ 0 w 106"/>
                  <a:gd name="T1" fmla="*/ 121 h 29"/>
                  <a:gd name="T2" fmla="*/ 228735 w 106"/>
                  <a:gd name="T3" fmla="*/ 375 h 29"/>
                  <a:gd name="T4" fmla="*/ 648884 w 106"/>
                  <a:gd name="T5" fmla="*/ 505 h 29"/>
                  <a:gd name="T6" fmla="*/ 1059028 w 106"/>
                  <a:gd name="T7" fmla="*/ 579 h 29"/>
                  <a:gd name="T8" fmla="*/ 1568018 w 106"/>
                  <a:gd name="T9" fmla="*/ 592 h 29"/>
                  <a:gd name="T10" fmla="*/ 1989524 w 106"/>
                  <a:gd name="T11" fmla="*/ 605 h 29"/>
                  <a:gd name="T12" fmla="*/ 2370041 w 106"/>
                  <a:gd name="T13" fmla="*/ 679 h 29"/>
                  <a:gd name="T14" fmla="*/ 2648708 w 106"/>
                  <a:gd name="T15" fmla="*/ 709 h 29"/>
                  <a:gd name="T16" fmla="*/ 2702097 w 106"/>
                  <a:gd name="T17" fmla="*/ 810 h 29"/>
                  <a:gd name="T18" fmla="*/ 3075039 w 106"/>
                  <a:gd name="T19" fmla="*/ 691 h 29"/>
                  <a:gd name="T20" fmla="*/ 2820902 w 106"/>
                  <a:gd name="T21" fmla="*/ 375 h 29"/>
                  <a:gd name="T22" fmla="*/ 2468792 w 106"/>
                  <a:gd name="T23" fmla="*/ 314 h 29"/>
                  <a:gd name="T24" fmla="*/ 2027495 w 106"/>
                  <a:gd name="T25" fmla="*/ 268 h 29"/>
                  <a:gd name="T26" fmla="*/ 1568018 w 106"/>
                  <a:gd name="T27" fmla="*/ 229 h 29"/>
                  <a:gd name="T28" fmla="*/ 1079154 w 106"/>
                  <a:gd name="T29" fmla="*/ 229 h 29"/>
                  <a:gd name="T30" fmla="*/ 701815 w 106"/>
                  <a:gd name="T31" fmla="*/ 166 h 29"/>
                  <a:gd name="T32" fmla="*/ 466379 w 106"/>
                  <a:gd name="T33" fmla="*/ 103 h 29"/>
                  <a:gd name="T34" fmla="*/ 373313 w 106"/>
                  <a:gd name="T35" fmla="*/ 0 h 29"/>
                  <a:gd name="T36" fmla="*/ 0 w 106"/>
                  <a:gd name="T37" fmla="*/ 121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4"/>
                    </a:moveTo>
                    <a:lnTo>
                      <a:pt x="8" y="14"/>
                    </a:lnTo>
                    <a:lnTo>
                      <a:pt x="22" y="18"/>
                    </a:lnTo>
                    <a:lnTo>
                      <a:pt x="36" y="20"/>
                    </a:lnTo>
                    <a:lnTo>
                      <a:pt x="53" y="21"/>
                    </a:lnTo>
                    <a:lnTo>
                      <a:pt x="68" y="22"/>
                    </a:lnTo>
                    <a:lnTo>
                      <a:pt x="81" y="23"/>
                    </a:lnTo>
                    <a:lnTo>
                      <a:pt x="90" y="26"/>
                    </a:lnTo>
                    <a:lnTo>
                      <a:pt x="92" y="28"/>
                    </a:lnTo>
                    <a:lnTo>
                      <a:pt x="105" y="24"/>
                    </a:lnTo>
                    <a:lnTo>
                      <a:pt x="96" y="14"/>
                    </a:lnTo>
                    <a:lnTo>
                      <a:pt x="84" y="11"/>
                    </a:lnTo>
                    <a:lnTo>
                      <a:pt x="69" y="9"/>
                    </a:lnTo>
                    <a:lnTo>
                      <a:pt x="53" y="8"/>
                    </a:lnTo>
                    <a:lnTo>
                      <a:pt x="37" y="8"/>
                    </a:lnTo>
                    <a:lnTo>
                      <a:pt x="24" y="6"/>
                    </a:lnTo>
                    <a:lnTo>
                      <a:pt x="16" y="3"/>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2" name="Freeform 332">
                <a:extLst>
                  <a:ext uri="{FF2B5EF4-FFF2-40B4-BE49-F238E27FC236}">
                    <a16:creationId xmlns:a16="http://schemas.microsoft.com/office/drawing/2014/main" id="{2988822B-C51C-0B1D-03A6-4393163EA7AD}"/>
                  </a:ext>
                </a:extLst>
              </p:cNvPr>
              <p:cNvSpPr>
                <a:spLocks/>
              </p:cNvSpPr>
              <p:nvPr/>
            </p:nvSpPr>
            <p:spPr bwMode="auto">
              <a:xfrm>
                <a:off x="1823" y="2698"/>
                <a:ext cx="134" cy="74"/>
              </a:xfrm>
              <a:custGeom>
                <a:avLst/>
                <a:gdLst>
                  <a:gd name="T0" fmla="*/ 2046276 w 82"/>
                  <a:gd name="T1" fmla="*/ 69 h 65"/>
                  <a:gd name="T2" fmla="*/ 1991258 w 82"/>
                  <a:gd name="T3" fmla="*/ 90 h 65"/>
                  <a:gd name="T4" fmla="*/ 1839080 w 82"/>
                  <a:gd name="T5" fmla="*/ 183 h 65"/>
                  <a:gd name="T6" fmla="*/ 1513180 w 82"/>
                  <a:gd name="T7" fmla="*/ 270 h 65"/>
                  <a:gd name="T8" fmla="*/ 1105410 w 82"/>
                  <a:gd name="T9" fmla="*/ 398 h 65"/>
                  <a:gd name="T10" fmla="*/ 726393 w 82"/>
                  <a:gd name="T11" fmla="*/ 508 h 65"/>
                  <a:gd name="T12" fmla="*/ 326445 w 82"/>
                  <a:gd name="T13" fmla="*/ 627 h 65"/>
                  <a:gd name="T14" fmla="*/ 54362 w 82"/>
                  <a:gd name="T15" fmla="*/ 767 h 65"/>
                  <a:gd name="T16" fmla="*/ 0 w 82"/>
                  <a:gd name="T17" fmla="*/ 971 h 65"/>
                  <a:gd name="T18" fmla="*/ 387664 w 82"/>
                  <a:gd name="T19" fmla="*/ 899 h 65"/>
                  <a:gd name="T20" fmla="*/ 427217 w 82"/>
                  <a:gd name="T21" fmla="*/ 865 h 65"/>
                  <a:gd name="T22" fmla="*/ 608172 w 82"/>
                  <a:gd name="T23" fmla="*/ 767 h 65"/>
                  <a:gd name="T24" fmla="*/ 905400 w 82"/>
                  <a:gd name="T25" fmla="*/ 674 h 65"/>
                  <a:gd name="T26" fmla="*/ 1332638 w 82"/>
                  <a:gd name="T27" fmla="*/ 575 h 65"/>
                  <a:gd name="T28" fmla="*/ 1712129 w 82"/>
                  <a:gd name="T29" fmla="*/ 453 h 65"/>
                  <a:gd name="T30" fmla="*/ 2100009 w 82"/>
                  <a:gd name="T31" fmla="*/ 328 h 65"/>
                  <a:gd name="T32" fmla="*/ 2350329 w 82"/>
                  <a:gd name="T33" fmla="*/ 195 h 65"/>
                  <a:gd name="T34" fmla="*/ 2438921 w 82"/>
                  <a:gd name="T35" fmla="*/ 0 h 65"/>
                  <a:gd name="T36" fmla="*/ 2046276 w 82"/>
                  <a:gd name="T37" fmla="*/ 69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2"/>
                  <a:gd name="T58" fmla="*/ 0 h 65"/>
                  <a:gd name="T59" fmla="*/ 82 w 82"/>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2" h="65">
                    <a:moveTo>
                      <a:pt x="68" y="4"/>
                    </a:moveTo>
                    <a:lnTo>
                      <a:pt x="66" y="6"/>
                    </a:lnTo>
                    <a:lnTo>
                      <a:pt x="61" y="12"/>
                    </a:lnTo>
                    <a:lnTo>
                      <a:pt x="50" y="18"/>
                    </a:lnTo>
                    <a:lnTo>
                      <a:pt x="37" y="26"/>
                    </a:lnTo>
                    <a:lnTo>
                      <a:pt x="24" y="33"/>
                    </a:lnTo>
                    <a:lnTo>
                      <a:pt x="11" y="41"/>
                    </a:lnTo>
                    <a:lnTo>
                      <a:pt x="2" y="51"/>
                    </a:lnTo>
                    <a:lnTo>
                      <a:pt x="0" y="64"/>
                    </a:lnTo>
                    <a:lnTo>
                      <a:pt x="13" y="60"/>
                    </a:lnTo>
                    <a:lnTo>
                      <a:pt x="14" y="57"/>
                    </a:lnTo>
                    <a:lnTo>
                      <a:pt x="20" y="51"/>
                    </a:lnTo>
                    <a:lnTo>
                      <a:pt x="30" y="45"/>
                    </a:lnTo>
                    <a:lnTo>
                      <a:pt x="44" y="37"/>
                    </a:lnTo>
                    <a:lnTo>
                      <a:pt x="57" y="30"/>
                    </a:lnTo>
                    <a:lnTo>
                      <a:pt x="70" y="22"/>
                    </a:lnTo>
                    <a:lnTo>
                      <a:pt x="78" y="13"/>
                    </a:lnTo>
                    <a:lnTo>
                      <a:pt x="81" y="0"/>
                    </a:lnTo>
                    <a:lnTo>
                      <a:pt x="68"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3" name="Freeform 333">
                <a:extLst>
                  <a:ext uri="{FF2B5EF4-FFF2-40B4-BE49-F238E27FC236}">
                    <a16:creationId xmlns:a16="http://schemas.microsoft.com/office/drawing/2014/main" id="{28B68E40-F174-D6F0-4A70-88F6CD955D16}"/>
                  </a:ext>
                </a:extLst>
              </p:cNvPr>
              <p:cNvSpPr>
                <a:spLocks/>
              </p:cNvSpPr>
              <p:nvPr/>
            </p:nvSpPr>
            <p:spPr bwMode="auto">
              <a:xfrm>
                <a:off x="1934" y="2698"/>
                <a:ext cx="23" cy="5"/>
              </a:xfrm>
              <a:custGeom>
                <a:avLst/>
                <a:gdLst>
                  <a:gd name="T0" fmla="*/ 0 w 14"/>
                  <a:gd name="T1" fmla="*/ 4 h 5"/>
                  <a:gd name="T2" fmla="*/ 200264 w 14"/>
                  <a:gd name="T3" fmla="*/ 2 h 5"/>
                  <a:gd name="T4" fmla="*/ 439537 w 14"/>
                  <a:gd name="T5" fmla="*/ 0 h 5"/>
                  <a:gd name="T6" fmla="*/ 0 w 14"/>
                  <a:gd name="T7" fmla="*/ 4 h 5"/>
                  <a:gd name="T8" fmla="*/ 0 60000 65536"/>
                  <a:gd name="T9" fmla="*/ 0 60000 65536"/>
                  <a:gd name="T10" fmla="*/ 0 60000 65536"/>
                  <a:gd name="T11" fmla="*/ 0 60000 65536"/>
                  <a:gd name="T12" fmla="*/ 0 w 14"/>
                  <a:gd name="T13" fmla="*/ 0 h 5"/>
                  <a:gd name="T14" fmla="*/ 14 w 14"/>
                  <a:gd name="T15" fmla="*/ 5 h 5"/>
                </a:gdLst>
                <a:ahLst/>
                <a:cxnLst>
                  <a:cxn ang="T8">
                    <a:pos x="T0" y="T1"/>
                  </a:cxn>
                  <a:cxn ang="T9">
                    <a:pos x="T2" y="T3"/>
                  </a:cxn>
                  <a:cxn ang="T10">
                    <a:pos x="T4" y="T5"/>
                  </a:cxn>
                  <a:cxn ang="T11">
                    <a:pos x="T6" y="T7"/>
                  </a:cxn>
                </a:cxnLst>
                <a:rect l="T12" t="T13" r="T14" b="T15"/>
                <a:pathLst>
                  <a:path w="14" h="5">
                    <a:moveTo>
                      <a:pt x="0" y="4"/>
                    </a:moveTo>
                    <a:lnTo>
                      <a:pt x="6"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4" name="Freeform 334">
                <a:extLst>
                  <a:ext uri="{FF2B5EF4-FFF2-40B4-BE49-F238E27FC236}">
                    <a16:creationId xmlns:a16="http://schemas.microsoft.com/office/drawing/2014/main" id="{8B39FD26-9002-D19E-A304-5849C6A02AB6}"/>
                  </a:ext>
                </a:extLst>
              </p:cNvPr>
              <p:cNvSpPr>
                <a:spLocks/>
              </p:cNvSpPr>
              <p:nvPr/>
            </p:nvSpPr>
            <p:spPr bwMode="auto">
              <a:xfrm>
                <a:off x="1781" y="2669"/>
                <a:ext cx="176" cy="34"/>
              </a:xfrm>
              <a:custGeom>
                <a:avLst/>
                <a:gdLst>
                  <a:gd name="T0" fmla="*/ 0 w 107"/>
                  <a:gd name="T1" fmla="*/ 61 h 30"/>
                  <a:gd name="T2" fmla="*/ 272945 w 107"/>
                  <a:gd name="T3" fmla="*/ 186 h 30"/>
                  <a:gd name="T4" fmla="*/ 738470 w 107"/>
                  <a:gd name="T5" fmla="*/ 239 h 30"/>
                  <a:gd name="T6" fmla="*/ 1242572 w 107"/>
                  <a:gd name="T7" fmla="*/ 264 h 30"/>
                  <a:gd name="T8" fmla="*/ 1803036 w 107"/>
                  <a:gd name="T9" fmla="*/ 271 h 30"/>
                  <a:gd name="T10" fmla="*/ 2351955 w 107"/>
                  <a:gd name="T11" fmla="*/ 298 h 30"/>
                  <a:gd name="T12" fmla="*/ 2833329 w 107"/>
                  <a:gd name="T13" fmla="*/ 307 h 30"/>
                  <a:gd name="T14" fmla="*/ 3107351 w 107"/>
                  <a:gd name="T15" fmla="*/ 348 h 30"/>
                  <a:gd name="T16" fmla="*/ 3223782 w 107"/>
                  <a:gd name="T17" fmla="*/ 394 h 30"/>
                  <a:gd name="T18" fmla="*/ 3649694 w 107"/>
                  <a:gd name="T19" fmla="*/ 339 h 30"/>
                  <a:gd name="T20" fmla="*/ 3383873 w 107"/>
                  <a:gd name="T21" fmla="*/ 186 h 30"/>
                  <a:gd name="T22" fmla="*/ 2899460 w 107"/>
                  <a:gd name="T23" fmla="*/ 128 h 30"/>
                  <a:gd name="T24" fmla="*/ 2374059 w 107"/>
                  <a:gd name="T25" fmla="*/ 100 h 30"/>
                  <a:gd name="T26" fmla="*/ 1865939 w 107"/>
                  <a:gd name="T27" fmla="*/ 88 h 30"/>
                  <a:gd name="T28" fmla="*/ 1326479 w 107"/>
                  <a:gd name="T29" fmla="*/ 78 h 30"/>
                  <a:gd name="T30" fmla="*/ 818282 w 107"/>
                  <a:gd name="T31" fmla="*/ 69 h 30"/>
                  <a:gd name="T32" fmla="*/ 520021 w 107"/>
                  <a:gd name="T33" fmla="*/ 2 h 30"/>
                  <a:gd name="T34" fmla="*/ 448956 w 107"/>
                  <a:gd name="T35" fmla="*/ 0 h 30"/>
                  <a:gd name="T36" fmla="*/ 0 w 107"/>
                  <a:gd name="T37" fmla="*/ 61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7"/>
                  <a:gd name="T58" fmla="*/ 0 h 30"/>
                  <a:gd name="T59" fmla="*/ 107 w 107"/>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7" h="30">
                    <a:moveTo>
                      <a:pt x="0" y="4"/>
                    </a:moveTo>
                    <a:lnTo>
                      <a:pt x="8" y="14"/>
                    </a:lnTo>
                    <a:lnTo>
                      <a:pt x="21" y="18"/>
                    </a:lnTo>
                    <a:lnTo>
                      <a:pt x="36" y="19"/>
                    </a:lnTo>
                    <a:lnTo>
                      <a:pt x="52" y="20"/>
                    </a:lnTo>
                    <a:lnTo>
                      <a:pt x="68" y="21"/>
                    </a:lnTo>
                    <a:lnTo>
                      <a:pt x="82" y="23"/>
                    </a:lnTo>
                    <a:lnTo>
                      <a:pt x="90" y="26"/>
                    </a:lnTo>
                    <a:lnTo>
                      <a:pt x="93" y="29"/>
                    </a:lnTo>
                    <a:lnTo>
                      <a:pt x="106" y="25"/>
                    </a:lnTo>
                    <a:lnTo>
                      <a:pt x="98" y="14"/>
                    </a:lnTo>
                    <a:lnTo>
                      <a:pt x="84" y="10"/>
                    </a:lnTo>
                    <a:lnTo>
                      <a:pt x="69" y="8"/>
                    </a:lnTo>
                    <a:lnTo>
                      <a:pt x="54" y="7"/>
                    </a:lnTo>
                    <a:lnTo>
                      <a:pt x="38" y="6"/>
                    </a:lnTo>
                    <a:lnTo>
                      <a:pt x="24" y="5"/>
                    </a:lnTo>
                    <a:lnTo>
                      <a:pt x="15" y="2"/>
                    </a:lnTo>
                    <a:lnTo>
                      <a:pt x="13" y="0"/>
                    </a:lnTo>
                    <a:lnTo>
                      <a:pt x="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5" name="Freeform 335">
                <a:extLst>
                  <a:ext uri="{FF2B5EF4-FFF2-40B4-BE49-F238E27FC236}">
                    <a16:creationId xmlns:a16="http://schemas.microsoft.com/office/drawing/2014/main" id="{C842C160-B23C-444F-91A7-621A70AD43A4}"/>
                  </a:ext>
                </a:extLst>
              </p:cNvPr>
              <p:cNvSpPr>
                <a:spLocks/>
              </p:cNvSpPr>
              <p:nvPr/>
            </p:nvSpPr>
            <p:spPr bwMode="auto">
              <a:xfrm>
                <a:off x="1781" y="2602"/>
                <a:ext cx="137" cy="72"/>
              </a:xfrm>
              <a:custGeom>
                <a:avLst/>
                <a:gdLst>
                  <a:gd name="T0" fmla="*/ 2021003 w 84"/>
                  <a:gd name="T1" fmla="*/ 73 h 63"/>
                  <a:gd name="T2" fmla="*/ 2001462 w 84"/>
                  <a:gd name="T3" fmla="*/ 109 h 63"/>
                  <a:gd name="T4" fmla="*/ 1826807 w 84"/>
                  <a:gd name="T5" fmla="*/ 213 h 63"/>
                  <a:gd name="T6" fmla="*/ 1510138 w 84"/>
                  <a:gd name="T7" fmla="*/ 318 h 63"/>
                  <a:gd name="T8" fmla="*/ 1100537 w 84"/>
                  <a:gd name="T9" fmla="*/ 426 h 63"/>
                  <a:gd name="T10" fmla="*/ 726030 w 84"/>
                  <a:gd name="T11" fmla="*/ 542 h 63"/>
                  <a:gd name="T12" fmla="*/ 361054 w 84"/>
                  <a:gd name="T13" fmla="*/ 671 h 63"/>
                  <a:gd name="T14" fmla="*/ 84992 w 84"/>
                  <a:gd name="T15" fmla="*/ 808 h 63"/>
                  <a:gd name="T16" fmla="*/ 0 w 84"/>
                  <a:gd name="T17" fmla="*/ 1032 h 63"/>
                  <a:gd name="T18" fmla="*/ 368724 w 84"/>
                  <a:gd name="T19" fmla="*/ 951 h 63"/>
                  <a:gd name="T20" fmla="*/ 413735 w 84"/>
                  <a:gd name="T21" fmla="*/ 941 h 63"/>
                  <a:gd name="T22" fmla="*/ 588862 w 84"/>
                  <a:gd name="T23" fmla="*/ 832 h 63"/>
                  <a:gd name="T24" fmla="*/ 900861 w 84"/>
                  <a:gd name="T25" fmla="*/ 720 h 63"/>
                  <a:gd name="T26" fmla="*/ 1290855 w 84"/>
                  <a:gd name="T27" fmla="*/ 619 h 63"/>
                  <a:gd name="T28" fmla="*/ 1709551 w 84"/>
                  <a:gd name="T29" fmla="*/ 514 h 63"/>
                  <a:gd name="T30" fmla="*/ 2053106 w 84"/>
                  <a:gd name="T31" fmla="*/ 373 h 63"/>
                  <a:gd name="T32" fmla="*/ 2338756 w 84"/>
                  <a:gd name="T33" fmla="*/ 213 h 63"/>
                  <a:gd name="T34" fmla="*/ 2396295 w 84"/>
                  <a:gd name="T35" fmla="*/ 0 h 63"/>
                  <a:gd name="T36" fmla="*/ 2021003 w 84"/>
                  <a:gd name="T37" fmla="*/ 73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63"/>
                  <a:gd name="T59" fmla="*/ 84 w 8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63">
                    <a:moveTo>
                      <a:pt x="70" y="4"/>
                    </a:moveTo>
                    <a:lnTo>
                      <a:pt x="69" y="7"/>
                    </a:lnTo>
                    <a:lnTo>
                      <a:pt x="63" y="13"/>
                    </a:lnTo>
                    <a:lnTo>
                      <a:pt x="52" y="19"/>
                    </a:lnTo>
                    <a:lnTo>
                      <a:pt x="38" y="26"/>
                    </a:lnTo>
                    <a:lnTo>
                      <a:pt x="25" y="33"/>
                    </a:lnTo>
                    <a:lnTo>
                      <a:pt x="12" y="40"/>
                    </a:lnTo>
                    <a:lnTo>
                      <a:pt x="3" y="49"/>
                    </a:lnTo>
                    <a:lnTo>
                      <a:pt x="0" y="62"/>
                    </a:lnTo>
                    <a:lnTo>
                      <a:pt x="13" y="58"/>
                    </a:lnTo>
                    <a:lnTo>
                      <a:pt x="14" y="57"/>
                    </a:lnTo>
                    <a:lnTo>
                      <a:pt x="20" y="51"/>
                    </a:lnTo>
                    <a:lnTo>
                      <a:pt x="31" y="44"/>
                    </a:lnTo>
                    <a:lnTo>
                      <a:pt x="45" y="38"/>
                    </a:lnTo>
                    <a:lnTo>
                      <a:pt x="59" y="31"/>
                    </a:lnTo>
                    <a:lnTo>
                      <a:pt x="71" y="23"/>
                    </a:lnTo>
                    <a:lnTo>
                      <a:pt x="81" y="13"/>
                    </a:lnTo>
                    <a:lnTo>
                      <a:pt x="83" y="0"/>
                    </a:lnTo>
                    <a:lnTo>
                      <a:pt x="70" y="4"/>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sp>
            <p:nvSpPr>
              <p:cNvPr id="22586" name="Freeform 336">
                <a:extLst>
                  <a:ext uri="{FF2B5EF4-FFF2-40B4-BE49-F238E27FC236}">
                    <a16:creationId xmlns:a16="http://schemas.microsoft.com/office/drawing/2014/main" id="{4855AFF6-BC3E-138B-B668-C20EB9F570C1}"/>
                  </a:ext>
                </a:extLst>
              </p:cNvPr>
              <p:cNvSpPr>
                <a:spLocks/>
              </p:cNvSpPr>
              <p:nvPr/>
            </p:nvSpPr>
            <p:spPr bwMode="auto">
              <a:xfrm>
                <a:off x="1745" y="2574"/>
                <a:ext cx="173" cy="33"/>
              </a:xfrm>
              <a:custGeom>
                <a:avLst/>
                <a:gdLst>
                  <a:gd name="T0" fmla="*/ 0 w 106"/>
                  <a:gd name="T1" fmla="*/ 3 h 29"/>
                  <a:gd name="T2" fmla="*/ 228735 w 106"/>
                  <a:gd name="T3" fmla="*/ 191 h 29"/>
                  <a:gd name="T4" fmla="*/ 609275 w 106"/>
                  <a:gd name="T5" fmla="*/ 247 h 29"/>
                  <a:gd name="T6" fmla="*/ 1059028 w 106"/>
                  <a:gd name="T7" fmla="*/ 281 h 29"/>
                  <a:gd name="T8" fmla="*/ 1530828 w 106"/>
                  <a:gd name="T9" fmla="*/ 306 h 29"/>
                  <a:gd name="T10" fmla="*/ 1964446 w 106"/>
                  <a:gd name="T11" fmla="*/ 306 h 29"/>
                  <a:gd name="T12" fmla="*/ 2370041 w 106"/>
                  <a:gd name="T13" fmla="*/ 320 h 29"/>
                  <a:gd name="T14" fmla="*/ 2613447 w 106"/>
                  <a:gd name="T15" fmla="*/ 364 h 29"/>
                  <a:gd name="T16" fmla="*/ 2702097 w 106"/>
                  <a:gd name="T17" fmla="*/ 414 h 29"/>
                  <a:gd name="T18" fmla="*/ 3075039 w 106"/>
                  <a:gd name="T19" fmla="*/ 360 h 29"/>
                  <a:gd name="T20" fmla="*/ 2841860 w 106"/>
                  <a:gd name="T21" fmla="*/ 207 h 29"/>
                  <a:gd name="T22" fmla="*/ 2468792 w 106"/>
                  <a:gd name="T23" fmla="*/ 130 h 29"/>
                  <a:gd name="T24" fmla="*/ 2027495 w 106"/>
                  <a:gd name="T25" fmla="*/ 100 h 29"/>
                  <a:gd name="T26" fmla="*/ 1530828 w 106"/>
                  <a:gd name="T27" fmla="*/ 100 h 29"/>
                  <a:gd name="T28" fmla="*/ 1079154 w 106"/>
                  <a:gd name="T29" fmla="*/ 88 h 29"/>
                  <a:gd name="T30" fmla="*/ 701815 w 106"/>
                  <a:gd name="T31" fmla="*/ 68 h 29"/>
                  <a:gd name="T32" fmla="*/ 430014 w 106"/>
                  <a:gd name="T33" fmla="*/ 1 h 29"/>
                  <a:gd name="T34" fmla="*/ 373313 w 106"/>
                  <a:gd name="T35" fmla="*/ 0 h 29"/>
                  <a:gd name="T36" fmla="*/ 0 w 106"/>
                  <a:gd name="T37" fmla="*/ 3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6"/>
                  <a:gd name="T58" fmla="*/ 0 h 29"/>
                  <a:gd name="T59" fmla="*/ 106 w 106"/>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6" h="29">
                    <a:moveTo>
                      <a:pt x="0" y="3"/>
                    </a:moveTo>
                    <a:lnTo>
                      <a:pt x="8" y="13"/>
                    </a:lnTo>
                    <a:lnTo>
                      <a:pt x="21" y="17"/>
                    </a:lnTo>
                    <a:lnTo>
                      <a:pt x="36" y="19"/>
                    </a:lnTo>
                    <a:lnTo>
                      <a:pt x="52" y="20"/>
                    </a:lnTo>
                    <a:lnTo>
                      <a:pt x="67" y="20"/>
                    </a:lnTo>
                    <a:lnTo>
                      <a:pt x="81" y="22"/>
                    </a:lnTo>
                    <a:lnTo>
                      <a:pt x="89" y="25"/>
                    </a:lnTo>
                    <a:lnTo>
                      <a:pt x="92" y="28"/>
                    </a:lnTo>
                    <a:lnTo>
                      <a:pt x="105" y="24"/>
                    </a:lnTo>
                    <a:lnTo>
                      <a:pt x="97" y="14"/>
                    </a:lnTo>
                    <a:lnTo>
                      <a:pt x="84" y="9"/>
                    </a:lnTo>
                    <a:lnTo>
                      <a:pt x="69" y="7"/>
                    </a:lnTo>
                    <a:lnTo>
                      <a:pt x="52" y="7"/>
                    </a:lnTo>
                    <a:lnTo>
                      <a:pt x="37" y="6"/>
                    </a:lnTo>
                    <a:lnTo>
                      <a:pt x="24" y="4"/>
                    </a:lnTo>
                    <a:lnTo>
                      <a:pt x="15" y="1"/>
                    </a:lnTo>
                    <a:lnTo>
                      <a:pt x="13" y="0"/>
                    </a:lnTo>
                    <a:lnTo>
                      <a:pt x="0" y="3"/>
                    </a:lnTo>
                  </a:path>
                </a:pathLst>
              </a:custGeom>
              <a:solidFill>
                <a:srgbClr val="FFD9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sz="2700"/>
              </a:p>
            </p:txBody>
          </p:sp>
        </p:grpSp>
        <p:sp>
          <p:nvSpPr>
            <p:cNvPr id="22559" name="Line 337">
              <a:extLst>
                <a:ext uri="{FF2B5EF4-FFF2-40B4-BE49-F238E27FC236}">
                  <a16:creationId xmlns:a16="http://schemas.microsoft.com/office/drawing/2014/main" id="{E659F188-6BD5-CECB-1D50-C2B3EBE752E8}"/>
                </a:ext>
              </a:extLst>
            </p:cNvPr>
            <p:cNvSpPr>
              <a:spLocks noChangeShapeType="1"/>
            </p:cNvSpPr>
            <p:nvPr/>
          </p:nvSpPr>
          <p:spPr bwMode="auto">
            <a:xfrm>
              <a:off x="1795" y="2520"/>
              <a:ext cx="91" cy="136"/>
            </a:xfrm>
            <a:prstGeom prst="line">
              <a:avLst/>
            </a:prstGeom>
            <a:noFill/>
            <a:ln w="412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US" sz="2700"/>
            </a:p>
          </p:txBody>
        </p:sp>
      </p:grpSp>
      <p:sp>
        <p:nvSpPr>
          <p:cNvPr id="139602" name="Rectangle 338">
            <a:extLst>
              <a:ext uri="{FF2B5EF4-FFF2-40B4-BE49-F238E27FC236}">
                <a16:creationId xmlns:a16="http://schemas.microsoft.com/office/drawing/2014/main" id="{4735A623-DB0B-578B-3C53-C74E6C87E75D}"/>
              </a:ext>
            </a:extLst>
          </p:cNvPr>
          <p:cNvSpPr>
            <a:spLocks noChangeArrowheads="1"/>
          </p:cNvSpPr>
          <p:nvPr/>
        </p:nvSpPr>
        <p:spPr bwMode="auto">
          <a:xfrm>
            <a:off x="945109" y="5506290"/>
            <a:ext cx="2619375" cy="92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Some solar radiation is absorbed by clouds and other gases</a:t>
            </a:r>
          </a:p>
        </p:txBody>
      </p:sp>
      <p:sp>
        <p:nvSpPr>
          <p:cNvPr id="139603" name="Rectangle 339">
            <a:extLst>
              <a:ext uri="{FF2B5EF4-FFF2-40B4-BE49-F238E27FC236}">
                <a16:creationId xmlns:a16="http://schemas.microsoft.com/office/drawing/2014/main" id="{1B295B5C-01E1-58E2-F954-486610532D1B}"/>
              </a:ext>
            </a:extLst>
          </p:cNvPr>
          <p:cNvSpPr>
            <a:spLocks noChangeArrowheads="1"/>
          </p:cNvSpPr>
          <p:nvPr/>
        </p:nvSpPr>
        <p:spPr bwMode="auto">
          <a:xfrm>
            <a:off x="10372479" y="4396628"/>
            <a:ext cx="2705100" cy="92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This </a:t>
            </a:r>
            <a:r>
              <a:rPr lang="en-GB" altLang="en-US" sz="1800" b="1">
                <a:solidFill>
                  <a:srgbClr val="FF0000"/>
                </a:solidFill>
                <a:latin typeface="Arial" panose="020B0604020202020204" pitchFamily="34" charset="0"/>
              </a:rPr>
              <a:t>warms</a:t>
            </a:r>
            <a:r>
              <a:rPr lang="en-GB" altLang="en-US" sz="1800" b="1">
                <a:solidFill>
                  <a:srgbClr val="000000"/>
                </a:solidFill>
                <a:latin typeface="Arial" panose="020B0604020202020204" pitchFamily="34" charset="0"/>
              </a:rPr>
              <a:t> the surface and the atmosphere</a:t>
            </a:r>
          </a:p>
        </p:txBody>
      </p:sp>
      <p:sp>
        <p:nvSpPr>
          <p:cNvPr id="139604" name="Line 340">
            <a:extLst>
              <a:ext uri="{FF2B5EF4-FFF2-40B4-BE49-F238E27FC236}">
                <a16:creationId xmlns:a16="http://schemas.microsoft.com/office/drawing/2014/main" id="{FE21747B-4C82-1721-9854-754DD2E72A2F}"/>
              </a:ext>
            </a:extLst>
          </p:cNvPr>
          <p:cNvSpPr>
            <a:spLocks noChangeShapeType="1"/>
          </p:cNvSpPr>
          <p:nvPr/>
        </p:nvSpPr>
        <p:spPr bwMode="auto">
          <a:xfrm>
            <a:off x="859384" y="5458665"/>
            <a:ext cx="12830175" cy="0"/>
          </a:xfrm>
          <a:prstGeom prst="line">
            <a:avLst/>
          </a:prstGeom>
          <a:noFill/>
          <a:ln w="15875">
            <a:solidFill>
              <a:srgbClr val="99CCFF"/>
            </a:solidFill>
            <a:round/>
            <a:headEnd/>
            <a:tailEnd/>
          </a:ln>
          <a:extLst>
            <a:ext uri="{909E8E84-426E-40DD-AFC4-6F175D3DCCD1}">
              <a14:hiddenFill xmlns:a14="http://schemas.microsoft.com/office/drawing/2010/main">
                <a:noFill/>
              </a14:hiddenFill>
            </a:ext>
          </a:extLst>
        </p:spPr>
        <p:txBody>
          <a:bodyPr/>
          <a:lstStyle/>
          <a:p>
            <a:endParaRPr lang="en-US" sz="2700"/>
          </a:p>
        </p:txBody>
      </p:sp>
      <p:sp>
        <p:nvSpPr>
          <p:cNvPr id="139605" name="Rectangle 341">
            <a:extLst>
              <a:ext uri="{FF2B5EF4-FFF2-40B4-BE49-F238E27FC236}">
                <a16:creationId xmlns:a16="http://schemas.microsoft.com/office/drawing/2014/main" id="{0F08C7CD-88A0-191B-C0D7-C88A70880BD2}"/>
              </a:ext>
            </a:extLst>
          </p:cNvPr>
          <p:cNvSpPr>
            <a:spLocks noChangeArrowheads="1"/>
          </p:cNvSpPr>
          <p:nvPr/>
        </p:nvSpPr>
        <p:spPr bwMode="auto">
          <a:xfrm>
            <a:off x="6936778" y="8749553"/>
            <a:ext cx="1249269" cy="784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2400" b="1">
                <a:solidFill>
                  <a:srgbClr val="712000"/>
                </a:solidFill>
                <a:latin typeface="Arial" panose="020B0604020202020204" pitchFamily="34" charset="0"/>
              </a:rPr>
              <a:t>EARTH</a:t>
            </a:r>
          </a:p>
          <a:p>
            <a:pPr algn="ctr">
              <a:lnSpc>
                <a:spcPct val="100000"/>
              </a:lnSpc>
              <a:spcBef>
                <a:spcPct val="0"/>
              </a:spcBef>
              <a:buFontTx/>
              <a:buNone/>
            </a:pPr>
            <a:endParaRPr lang="en-GB" altLang="en-US" sz="2100" b="1">
              <a:solidFill>
                <a:srgbClr val="712000"/>
              </a:solidFill>
              <a:latin typeface="Arial" panose="020B0604020202020204" pitchFamily="34" charset="0"/>
            </a:endParaRPr>
          </a:p>
        </p:txBody>
      </p:sp>
      <p:sp>
        <p:nvSpPr>
          <p:cNvPr id="139607" name="Rectangle 343">
            <a:extLst>
              <a:ext uri="{FF2B5EF4-FFF2-40B4-BE49-F238E27FC236}">
                <a16:creationId xmlns:a16="http://schemas.microsoft.com/office/drawing/2014/main" id="{57B9166E-A3AB-1986-A0EC-4962A85F6D44}"/>
              </a:ext>
            </a:extLst>
          </p:cNvPr>
          <p:cNvSpPr>
            <a:spLocks noChangeArrowheads="1"/>
          </p:cNvSpPr>
          <p:nvPr/>
        </p:nvSpPr>
        <p:spPr bwMode="auto">
          <a:xfrm>
            <a:off x="1904754" y="7637510"/>
            <a:ext cx="2681288" cy="12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131" tIns="45749" rIns="93131" bIns="45749">
            <a:spAutoFit/>
          </a:bodyPr>
          <a:lstStyle>
            <a:lvl1pPr defTabSz="62706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62706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2706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2706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2706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GB" altLang="en-US" sz="1800" b="1">
                <a:solidFill>
                  <a:srgbClr val="000000"/>
                </a:solidFill>
                <a:latin typeface="Arial" panose="020B0604020202020204" pitchFamily="34" charset="0"/>
              </a:rPr>
              <a:t>Most solar radiation</a:t>
            </a:r>
          </a:p>
          <a:p>
            <a:pPr algn="ctr">
              <a:lnSpc>
                <a:spcPct val="100000"/>
              </a:lnSpc>
              <a:spcBef>
                <a:spcPct val="0"/>
              </a:spcBef>
              <a:buFontTx/>
              <a:buNone/>
            </a:pPr>
            <a:r>
              <a:rPr lang="en-GB" altLang="en-US" sz="1800" b="1">
                <a:solidFill>
                  <a:srgbClr val="000000"/>
                </a:solidFill>
                <a:latin typeface="Arial" panose="020B0604020202020204" pitchFamily="34" charset="0"/>
              </a:rPr>
              <a:t>Passes straight through the atmosphere</a:t>
            </a:r>
          </a:p>
        </p:txBody>
      </p:sp>
      <p:sp>
        <p:nvSpPr>
          <p:cNvPr id="9" name="Freeform 13">
            <a:extLst>
              <a:ext uri="{FF2B5EF4-FFF2-40B4-BE49-F238E27FC236}">
                <a16:creationId xmlns:a16="http://schemas.microsoft.com/office/drawing/2014/main" id="{D8B3C5BC-4E54-2575-8C58-16AD7838C89B}"/>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10" name="TextBox 14">
            <a:extLst>
              <a:ext uri="{FF2B5EF4-FFF2-40B4-BE49-F238E27FC236}">
                <a16:creationId xmlns:a16="http://schemas.microsoft.com/office/drawing/2014/main" id="{A6FF5C1C-2607-0B73-8B47-7042E7A72FB0}"/>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Energy in the Climate System</a:t>
            </a:r>
          </a:p>
        </p:txBody>
      </p:sp>
      <p:sp>
        <p:nvSpPr>
          <p:cNvPr id="12" name="TextBox 11">
            <a:extLst>
              <a:ext uri="{FF2B5EF4-FFF2-40B4-BE49-F238E27FC236}">
                <a16:creationId xmlns:a16="http://schemas.microsoft.com/office/drawing/2014/main" id="{82774CC4-77FD-D2B3-FF4A-221396F40243}"/>
              </a:ext>
            </a:extLst>
          </p:cNvPr>
          <p:cNvSpPr txBox="1"/>
          <p:nvPr/>
        </p:nvSpPr>
        <p:spPr>
          <a:xfrm>
            <a:off x="16564415" y="9729019"/>
            <a:ext cx="9144000" cy="523220"/>
          </a:xfrm>
          <a:prstGeom prst="rect">
            <a:avLst/>
          </a:prstGeom>
          <a:noFill/>
        </p:spPr>
        <p:txBody>
          <a:bodyPr wrap="square">
            <a:spAutoFit/>
          </a:bodyPr>
          <a:lstStyle/>
          <a:p>
            <a:r>
              <a:rPr lang="en-US" sz="2800" b="1" dirty="0">
                <a:solidFill>
                  <a:srgbClr val="FF0000"/>
                </a:solidFill>
              </a:rPr>
              <a:t>WEEK 3 </a:t>
            </a:r>
            <a:endParaRPr lang="en-US" sz="2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39268"/>
                                        </p:tgtEl>
                                        <p:attrNameLst>
                                          <p:attrName>style.visibility</p:attrName>
                                        </p:attrNameLst>
                                      </p:cBhvr>
                                      <p:to>
                                        <p:strVal val="visible"/>
                                      </p:to>
                                    </p:set>
                                    <p:anim calcmode="lin" valueType="num">
                                      <p:cBhvr additive="base">
                                        <p:cTn id="7" dur="500" fill="hold"/>
                                        <p:tgtEl>
                                          <p:spTgt spid="139268"/>
                                        </p:tgtEl>
                                        <p:attrNameLst>
                                          <p:attrName>ppt_x</p:attrName>
                                        </p:attrNameLst>
                                      </p:cBhvr>
                                      <p:tavLst>
                                        <p:tav tm="0">
                                          <p:val>
                                            <p:strVal val="#ppt_x"/>
                                          </p:val>
                                        </p:tav>
                                        <p:tav tm="100000">
                                          <p:val>
                                            <p:strVal val="#ppt_x"/>
                                          </p:val>
                                        </p:tav>
                                      </p:tavLst>
                                    </p:anim>
                                    <p:anim calcmode="lin" valueType="num">
                                      <p:cBhvr additive="base">
                                        <p:cTn id="8" dur="500" fill="hold"/>
                                        <p:tgtEl>
                                          <p:spTgt spid="1392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605"/>
                                        </p:tgtEl>
                                        <p:attrNameLst>
                                          <p:attrName>style.visibility</p:attrName>
                                        </p:attrNameLst>
                                      </p:cBhvr>
                                      <p:to>
                                        <p:strVal val="visible"/>
                                      </p:to>
                                    </p:set>
                                    <p:anim calcmode="lin" valueType="num">
                                      <p:cBhvr additive="base">
                                        <p:cTn id="11" dur="500" fill="hold"/>
                                        <p:tgtEl>
                                          <p:spTgt spid="139605"/>
                                        </p:tgtEl>
                                        <p:attrNameLst>
                                          <p:attrName>ppt_x</p:attrName>
                                        </p:attrNameLst>
                                      </p:cBhvr>
                                      <p:tavLst>
                                        <p:tav tm="0">
                                          <p:val>
                                            <p:strVal val="#ppt_x"/>
                                          </p:val>
                                        </p:tav>
                                        <p:tav tm="100000">
                                          <p:val>
                                            <p:strVal val="#ppt_x"/>
                                          </p:val>
                                        </p:tav>
                                      </p:tavLst>
                                    </p:anim>
                                    <p:anim calcmode="lin" valueType="num">
                                      <p:cBhvr additive="base">
                                        <p:cTn id="12" dur="500" fill="hold"/>
                                        <p:tgtEl>
                                          <p:spTgt spid="13960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500"/>
                            </p:stCondLst>
                            <p:childTnLst>
                              <p:par>
                                <p:cTn id="14" presetID="2" presetClass="entr" presetSubtype="1" fill="hold" grpId="0" nodeType="afterEffect">
                                  <p:stCondLst>
                                    <p:cond delay="200"/>
                                  </p:stCondLst>
                                  <p:childTnLst>
                                    <p:set>
                                      <p:cBhvr>
                                        <p:cTn id="15" dur="1" fill="hold">
                                          <p:stCondLst>
                                            <p:cond delay="0"/>
                                          </p:stCondLst>
                                        </p:cTn>
                                        <p:tgtEl>
                                          <p:spTgt spid="139266"/>
                                        </p:tgtEl>
                                        <p:attrNameLst>
                                          <p:attrName>style.visibility</p:attrName>
                                        </p:attrNameLst>
                                      </p:cBhvr>
                                      <p:to>
                                        <p:strVal val="visible"/>
                                      </p:to>
                                    </p:set>
                                    <p:anim calcmode="lin" valueType="num">
                                      <p:cBhvr additive="base">
                                        <p:cTn id="16" dur="500" fill="hold"/>
                                        <p:tgtEl>
                                          <p:spTgt spid="139266"/>
                                        </p:tgtEl>
                                        <p:attrNameLst>
                                          <p:attrName>ppt_x</p:attrName>
                                        </p:attrNameLst>
                                      </p:cBhvr>
                                      <p:tavLst>
                                        <p:tav tm="0">
                                          <p:val>
                                            <p:strVal val="#ppt_x"/>
                                          </p:val>
                                        </p:tav>
                                        <p:tav tm="100000">
                                          <p:val>
                                            <p:strVal val="#ppt_x"/>
                                          </p:val>
                                        </p:tav>
                                      </p:tavLst>
                                    </p:anim>
                                    <p:anim calcmode="lin" valueType="num">
                                      <p:cBhvr additive="base">
                                        <p:cTn id="17" dur="500" fill="hold"/>
                                        <p:tgtEl>
                                          <p:spTgt spid="139266"/>
                                        </p:tgtEl>
                                        <p:attrNameLst>
                                          <p:attrName>ppt_y</p:attrName>
                                        </p:attrNameLst>
                                      </p:cBhvr>
                                      <p:tavLst>
                                        <p:tav tm="0">
                                          <p:val>
                                            <p:strVal val="0-#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39571"/>
                                        </p:tgtEl>
                                        <p:attrNameLst>
                                          <p:attrName>style.visibility</p:attrName>
                                        </p:attrNameLst>
                                      </p:cBhvr>
                                      <p:to>
                                        <p:strVal val="visible"/>
                                      </p:to>
                                    </p:set>
                                    <p:anim calcmode="lin" valueType="num">
                                      <p:cBhvr additive="base">
                                        <p:cTn id="20" dur="500" fill="hold"/>
                                        <p:tgtEl>
                                          <p:spTgt spid="139571"/>
                                        </p:tgtEl>
                                        <p:attrNameLst>
                                          <p:attrName>ppt_x</p:attrName>
                                        </p:attrNameLst>
                                      </p:cBhvr>
                                      <p:tavLst>
                                        <p:tav tm="0">
                                          <p:val>
                                            <p:strVal val="#ppt_x"/>
                                          </p:val>
                                        </p:tav>
                                        <p:tav tm="100000">
                                          <p:val>
                                            <p:strVal val="#ppt_x"/>
                                          </p:val>
                                        </p:tav>
                                      </p:tavLst>
                                    </p:anim>
                                    <p:anim calcmode="lin" valueType="num">
                                      <p:cBhvr additive="base">
                                        <p:cTn id="21" dur="500" fill="hold"/>
                                        <p:tgtEl>
                                          <p:spTgt spid="139571"/>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1200"/>
                            </p:stCondLst>
                            <p:childTnLst>
                              <p:par>
                                <p:cTn id="23" presetID="3" presetClass="entr" presetSubtype="10" fill="hold" grpId="0" nodeType="afterEffect">
                                  <p:stCondLst>
                                    <p:cond delay="200"/>
                                  </p:stCondLst>
                                  <p:childTnLst>
                                    <p:set>
                                      <p:cBhvr>
                                        <p:cTn id="24" dur="1" fill="hold">
                                          <p:stCondLst>
                                            <p:cond delay="0"/>
                                          </p:stCondLst>
                                        </p:cTn>
                                        <p:tgtEl>
                                          <p:spTgt spid="139267"/>
                                        </p:tgtEl>
                                        <p:attrNameLst>
                                          <p:attrName>style.visibility</p:attrName>
                                        </p:attrNameLst>
                                      </p:cBhvr>
                                      <p:to>
                                        <p:strVal val="visible"/>
                                      </p:to>
                                    </p:set>
                                    <p:animEffect transition="in" filter="blinds(horizontal)">
                                      <p:cBhvr>
                                        <p:cTn id="25" dur="500"/>
                                        <p:tgtEl>
                                          <p:spTgt spid="13926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9564"/>
                                        </p:tgtEl>
                                        <p:attrNameLst>
                                          <p:attrName>style.visibility</p:attrName>
                                        </p:attrNameLst>
                                      </p:cBhvr>
                                      <p:to>
                                        <p:strVal val="visible"/>
                                      </p:to>
                                    </p:set>
                                    <p:animEffect transition="in" filter="blinds(horizontal)">
                                      <p:cBhvr>
                                        <p:cTn id="28" dur="500"/>
                                        <p:tgtEl>
                                          <p:spTgt spid="139564"/>
                                        </p:tgtEl>
                                      </p:cBhvr>
                                    </p:animEffect>
                                  </p:childTnLst>
                                </p:cTn>
                              </p:par>
                              <p:par>
                                <p:cTn id="29" presetID="1" presetClass="entr" presetSubtype="0" fill="hold" nodeType="withEffect">
                                  <p:stCondLst>
                                    <p:cond delay="0"/>
                                  </p:stCondLst>
                                  <p:childTnLst>
                                    <p:set>
                                      <p:cBhvr>
                                        <p:cTn id="30" dur="1" fill="hold">
                                          <p:stCondLst>
                                            <p:cond delay="0"/>
                                          </p:stCondLst>
                                        </p:cTn>
                                        <p:tgtEl>
                                          <p:spTgt spid="139604"/>
                                        </p:tgtEl>
                                        <p:attrNameLst>
                                          <p:attrName>style.visibility</p:attrName>
                                        </p:attrNameLst>
                                      </p:cBhvr>
                                      <p:to>
                                        <p:strVal val="visible"/>
                                      </p:to>
                                    </p:set>
                                  </p:childTnLst>
                                </p:cTn>
                              </p:par>
                            </p:childTnLst>
                          </p:cTn>
                        </p:par>
                        <p:par>
                          <p:cTn id="31" fill="hold" nodeType="afterGroup">
                            <p:stCondLst>
                              <p:cond delay="1900"/>
                            </p:stCondLst>
                            <p:childTnLst>
                              <p:par>
                                <p:cTn id="32" presetID="6" presetClass="entr" presetSubtype="16" fill="hold" nodeType="after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circle(in)">
                                      <p:cBhvr>
                                        <p:cTn id="34" dur="500"/>
                                        <p:tgtEl>
                                          <p:spTgt spid="7"/>
                                        </p:tgtEl>
                                      </p:cBhvr>
                                    </p:animEffect>
                                  </p:childTnLst>
                                </p:cTn>
                              </p:par>
                              <p:par>
                                <p:cTn id="35" presetID="1" presetClass="entr" presetSubtype="0" fill="hold" grpId="0" nodeType="withEffect">
                                  <p:stCondLst>
                                    <p:cond delay="200"/>
                                  </p:stCondLst>
                                  <p:childTnLst>
                                    <p:set>
                                      <p:cBhvr>
                                        <p:cTn id="36" dur="1" fill="hold">
                                          <p:stCondLst>
                                            <p:cond delay="0"/>
                                          </p:stCondLst>
                                        </p:cTn>
                                        <p:tgtEl>
                                          <p:spTgt spid="139570"/>
                                        </p:tgtEl>
                                        <p:attrNameLst>
                                          <p:attrName>style.visibility</p:attrName>
                                        </p:attrNameLst>
                                      </p:cBhvr>
                                      <p:to>
                                        <p:strVal val="visible"/>
                                      </p:to>
                                    </p:set>
                                  </p:childTnLst>
                                  <p:subTnLst>
                                    <p:animClr clrSpc="rgb" dir="cw">
                                      <p:cBhvr override="childStyle">
                                        <p:cTn dur="1" fill="hold" display="0" masterRel="nextClick" afterEffect="1"/>
                                        <p:tgtEl>
                                          <p:spTgt spid="139570"/>
                                        </p:tgtEl>
                                        <p:attrNameLst>
                                          <p:attrName>ppt_c</p:attrName>
                                        </p:attrNameLst>
                                      </p:cBhvr>
                                      <p:to>
                                        <a:srgbClr val="FFCC66"/>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9607"/>
                                        </p:tgtEl>
                                        <p:attrNameLst>
                                          <p:attrName>style.visibility</p:attrName>
                                        </p:attrNameLst>
                                      </p:cBhvr>
                                      <p:to>
                                        <p:strVal val="visible"/>
                                      </p:to>
                                    </p:set>
                                    <p:animEffect transition="in" filter="fade">
                                      <p:cBhvr>
                                        <p:cTn id="41" dur="500"/>
                                        <p:tgtEl>
                                          <p:spTgt spid="139607"/>
                                        </p:tgtEl>
                                      </p:cBhvr>
                                    </p:animEffect>
                                  </p:childTnLst>
                                </p:cTn>
                              </p:par>
                            </p:childTnLst>
                          </p:cTn>
                        </p:par>
                        <p:par>
                          <p:cTn id="42" fill="hold" nodeType="afterGroup">
                            <p:stCondLst>
                              <p:cond delay="500"/>
                            </p:stCondLst>
                            <p:childTnLst>
                              <p:par>
                                <p:cTn id="43" presetID="22" presetClass="entr" presetSubtype="1" fill="hold" nodeType="afterEffect">
                                  <p:stCondLst>
                                    <p:cond delay="50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2000"/>
                                        <p:tgtEl>
                                          <p:spTgt spid="4"/>
                                        </p:tgtEl>
                                      </p:cBhvr>
                                    </p:animEffect>
                                  </p:childTnLst>
                                </p:cTn>
                              </p:par>
                            </p:childTnLst>
                          </p:cTn>
                        </p:par>
                        <p:par>
                          <p:cTn id="46" fill="hold" nodeType="afterGroup">
                            <p:stCondLst>
                              <p:cond delay="3000"/>
                            </p:stCondLst>
                            <p:childTnLst>
                              <p:par>
                                <p:cTn id="47" presetID="1" presetClass="entr" presetSubtype="0" fill="hold" nodeType="afterEffect">
                                  <p:stCondLst>
                                    <p:cond delay="500"/>
                                  </p:stCondLst>
                                  <p:childTnLst>
                                    <p:set>
                                      <p:cBhvr>
                                        <p:cTn id="48" dur="1" fill="hold">
                                          <p:stCondLst>
                                            <p:cond delay="0"/>
                                          </p:stCondLst>
                                        </p:cTn>
                                        <p:tgtEl>
                                          <p:spTgt spid="13956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mph" presetSubtype="0" grpId="1" nodeType="clickEffect">
                                  <p:stCondLst>
                                    <p:cond delay="0"/>
                                  </p:stCondLst>
                                  <p:childTnLst>
                                    <p:set>
                                      <p:cBhvr rctx="PPT">
                                        <p:cTn id="52" dur="indefinite"/>
                                        <p:tgtEl>
                                          <p:spTgt spid="139607"/>
                                        </p:tgtEl>
                                        <p:attrNameLst>
                                          <p:attrName>style.opacity</p:attrName>
                                        </p:attrNameLst>
                                      </p:cBhvr>
                                      <p:to>
                                        <p:strVal val="0.5"/>
                                      </p:to>
                                    </p:set>
                                    <p:animEffect filter="image" prLst="opacity: 0.5">
                                      <p:cBhvr rctx="IE">
                                        <p:cTn id="53" dur="indefinite"/>
                                        <p:tgtEl>
                                          <p:spTgt spid="139607"/>
                                        </p:tgtEl>
                                      </p:cBhvr>
                                    </p:animEffect>
                                  </p:childTnLst>
                                </p:cTn>
                              </p:par>
                              <p:par>
                                <p:cTn id="54" presetID="9" presetClass="emph" presetSubtype="0" grpId="0" nodeType="withEffect">
                                  <p:stCondLst>
                                    <p:cond delay="0"/>
                                  </p:stCondLst>
                                  <p:childTnLst>
                                    <p:set>
                                      <p:cBhvr rctx="PPT">
                                        <p:cTn id="55" dur="indefinite"/>
                                        <p:tgtEl>
                                          <p:spTgt spid="139565"/>
                                        </p:tgtEl>
                                        <p:attrNameLst>
                                          <p:attrName>style.opacity</p:attrName>
                                        </p:attrNameLst>
                                      </p:cBhvr>
                                      <p:to>
                                        <p:strVal val="0.5"/>
                                      </p:to>
                                    </p:set>
                                    <p:animEffect filter="image" prLst="opacity: 0.5">
                                      <p:cBhvr rctx="IE">
                                        <p:cTn id="56" dur="indefinite"/>
                                        <p:tgtEl>
                                          <p:spTgt spid="139565"/>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139563"/>
                                        </p:tgtEl>
                                        <p:attrNameLst>
                                          <p:attrName>style.visibility</p:attrName>
                                        </p:attrNameLst>
                                      </p:cBhvr>
                                      <p:to>
                                        <p:strVal val="visible"/>
                                      </p:to>
                                    </p:set>
                                  </p:childTnLst>
                                </p:cTn>
                              </p:par>
                            </p:childTnLst>
                          </p:cTn>
                        </p:par>
                        <p:par>
                          <p:cTn id="59" fill="hold" nodeType="afterGroup">
                            <p:stCondLst>
                              <p:cond delay="0"/>
                            </p:stCondLst>
                            <p:childTnLst>
                              <p:par>
                                <p:cTn id="60" presetID="22" presetClass="entr" presetSubtype="1" fill="hold" nodeType="afterEffect">
                                  <p:stCondLst>
                                    <p:cond delay="300"/>
                                  </p:stCondLst>
                                  <p:childTnLst>
                                    <p:set>
                                      <p:cBhvr>
                                        <p:cTn id="61" dur="1" fill="hold">
                                          <p:stCondLst>
                                            <p:cond delay="0"/>
                                          </p:stCondLst>
                                        </p:cTn>
                                        <p:tgtEl>
                                          <p:spTgt spid="3"/>
                                        </p:tgtEl>
                                        <p:attrNameLst>
                                          <p:attrName>style.visibility</p:attrName>
                                        </p:attrNameLst>
                                      </p:cBhvr>
                                      <p:to>
                                        <p:strVal val="visible"/>
                                      </p:to>
                                    </p:set>
                                    <p:animEffect transition="in" filter="wipe(up)">
                                      <p:cBhvr>
                                        <p:cTn id="62" dur="2000"/>
                                        <p:tgtEl>
                                          <p:spTgt spid="3"/>
                                        </p:tgtEl>
                                      </p:cBhvr>
                                    </p:animEffect>
                                  </p:childTnLst>
                                </p:cTn>
                              </p:par>
                              <p:par>
                                <p:cTn id="63" presetID="22" presetClass="entr" presetSubtype="4"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down)">
                                      <p:cBhvr>
                                        <p:cTn id="65" dur="2000"/>
                                        <p:tgtEl>
                                          <p:spTgt spid="2"/>
                                        </p:tgtEl>
                                      </p:cBhvr>
                                    </p:animEffect>
                                  </p:childTnLst>
                                </p:cTn>
                              </p:par>
                              <p:par>
                                <p:cTn id="66" presetID="1" presetClass="entr" presetSubtype="0" fill="hold" nodeType="withEffect">
                                  <p:stCondLst>
                                    <p:cond delay="0"/>
                                  </p:stCondLst>
                                  <p:childTnLst>
                                    <p:set>
                                      <p:cBhvr>
                                        <p:cTn id="67" dur="1" fill="hold">
                                          <p:stCondLst>
                                            <p:cond delay="0"/>
                                          </p:stCondLst>
                                        </p:cTn>
                                        <p:tgtEl>
                                          <p:spTgt spid="139571"/>
                                        </p:tgtEl>
                                        <p:attrNameLst>
                                          <p:attrName>style.visibility</p:attrName>
                                        </p:attrNameLst>
                                      </p:cBhvr>
                                      <p:to>
                                        <p:strVal val="visible"/>
                                      </p:to>
                                    </p:set>
                                  </p:childTnLst>
                                </p:cTn>
                              </p:par>
                            </p:childTnLst>
                          </p:cTn>
                        </p:par>
                        <p:par>
                          <p:cTn id="68" fill="hold" nodeType="afterGroup">
                            <p:stCondLst>
                              <p:cond delay="2300"/>
                            </p:stCondLst>
                            <p:childTnLst>
                              <p:par>
                                <p:cTn id="69" presetID="22" presetClass="entr" presetSubtype="8" fill="hold" nodeType="afterEffect">
                                  <p:stCondLst>
                                    <p:cond delay="30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20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39602"/>
                                        </p:tgtEl>
                                        <p:attrNameLst>
                                          <p:attrName>style.visibility</p:attrName>
                                        </p:attrNameLst>
                                      </p:cBhvr>
                                      <p:to>
                                        <p:strVal val="visible"/>
                                      </p:to>
                                    </p:set>
                                  </p:childTnLst>
                                </p:cTn>
                              </p:par>
                              <p:par>
                                <p:cTn id="76" presetID="9" presetClass="emph" presetSubtype="0" grpId="1" nodeType="withEffect">
                                  <p:stCondLst>
                                    <p:cond delay="0"/>
                                  </p:stCondLst>
                                  <p:childTnLst>
                                    <p:set>
                                      <p:cBhvr rctx="PPT">
                                        <p:cTn id="77" dur="indefinite"/>
                                        <p:tgtEl>
                                          <p:spTgt spid="139563"/>
                                        </p:tgtEl>
                                        <p:attrNameLst>
                                          <p:attrName>style.opacity</p:attrName>
                                        </p:attrNameLst>
                                      </p:cBhvr>
                                      <p:to>
                                        <p:strVal val="0.5"/>
                                      </p:to>
                                    </p:set>
                                    <p:animEffect filter="image" prLst="opacity: 0.5">
                                      <p:cBhvr rctx="IE">
                                        <p:cTn id="78" dur="indefinite"/>
                                        <p:tgtEl>
                                          <p:spTgt spid="139563"/>
                                        </p:tgtEl>
                                      </p:cBhvr>
                                    </p:animEffect>
                                  </p:childTnLst>
                                </p:cTn>
                              </p:par>
                            </p:childTnLst>
                          </p:cTn>
                        </p:par>
                        <p:par>
                          <p:cTn id="79" fill="hold" nodeType="afterGroup">
                            <p:stCondLst>
                              <p:cond delay="0"/>
                            </p:stCondLst>
                            <p:childTnLst>
                              <p:par>
                                <p:cTn id="80" presetID="22" presetClass="entr" presetSubtype="1" fill="hold" nodeType="afterEffect">
                                  <p:stCondLst>
                                    <p:cond delay="20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mph" presetSubtype="0" grpId="1" nodeType="clickEffect">
                                  <p:stCondLst>
                                    <p:cond delay="0"/>
                                  </p:stCondLst>
                                  <p:childTnLst>
                                    <p:set>
                                      <p:cBhvr rctx="PPT">
                                        <p:cTn id="86" dur="indefinite"/>
                                        <p:tgtEl>
                                          <p:spTgt spid="139602"/>
                                        </p:tgtEl>
                                        <p:attrNameLst>
                                          <p:attrName>style.opacity</p:attrName>
                                        </p:attrNameLst>
                                      </p:cBhvr>
                                      <p:to>
                                        <p:strVal val="0.5"/>
                                      </p:to>
                                    </p:set>
                                    <p:animEffect filter="image" prLst="opacity: 0.5">
                                      <p:cBhvr rctx="IE">
                                        <p:cTn id="87" dur="indefinite"/>
                                        <p:tgtEl>
                                          <p:spTgt spid="139602"/>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139567"/>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6"/>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139566"/>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39603"/>
                                        </p:tgtEl>
                                        <p:attrNameLst>
                                          <p:attrName>style.visibility</p:attrName>
                                        </p:attrNameLst>
                                      </p:cBhvr>
                                      <p:to>
                                        <p:strVal val="visible"/>
                                      </p:to>
                                    </p:set>
                                  </p:childTnLst>
                                </p:cTn>
                              </p:par>
                            </p:childTnLst>
                          </p:cTn>
                        </p:par>
                        <p:par>
                          <p:cTn id="100" fill="hold" nodeType="afterGroup">
                            <p:stCondLst>
                              <p:cond delay="0"/>
                            </p:stCondLst>
                            <p:childTnLst>
                              <p:par>
                                <p:cTn id="101" presetID="10" presetClass="exit" presetSubtype="0" fill="hold" grpId="1" nodeType="afterEffect">
                                  <p:stCondLst>
                                    <p:cond delay="0"/>
                                  </p:stCondLst>
                                  <p:childTnLst>
                                    <p:animEffect transition="out" filter="fade">
                                      <p:cBhvr>
                                        <p:cTn id="102" dur="2000"/>
                                        <p:tgtEl>
                                          <p:spTgt spid="139267"/>
                                        </p:tgtEl>
                                      </p:cBhvr>
                                    </p:animEffect>
                                    <p:set>
                                      <p:cBhvr>
                                        <p:cTn id="103" dur="1" fill="hold">
                                          <p:stCondLst>
                                            <p:cond delay="1999"/>
                                          </p:stCondLst>
                                        </p:cTn>
                                        <p:tgtEl>
                                          <p:spTgt spid="139267"/>
                                        </p:tgtEl>
                                        <p:attrNameLst>
                                          <p:attrName>style.visibility</p:attrName>
                                        </p:attrNameLst>
                                      </p:cBhvr>
                                      <p:to>
                                        <p:strVal val="hidden"/>
                                      </p:to>
                                    </p:set>
                                  </p:childTnLst>
                                </p:cTn>
                              </p:par>
                            </p:childTnLst>
                          </p:cTn>
                        </p:par>
                        <p:par>
                          <p:cTn id="104" fill="hold" nodeType="afterGroup">
                            <p:stCondLst>
                              <p:cond delay="2000"/>
                            </p:stCondLst>
                            <p:childTnLst>
                              <p:par>
                                <p:cTn id="105" presetID="10" presetClass="entr" presetSubtype="0" fill="hold" nodeType="afterEffect">
                                  <p:stCondLst>
                                    <p:cond delay="0"/>
                                  </p:stCondLst>
                                  <p:childTnLst>
                                    <p:set>
                                      <p:cBhvr>
                                        <p:cTn id="106" dur="1" fill="hold">
                                          <p:stCondLst>
                                            <p:cond delay="0"/>
                                          </p:stCondLst>
                                        </p:cTn>
                                        <p:tgtEl>
                                          <p:spTgt spid="139269"/>
                                        </p:tgtEl>
                                        <p:attrNameLst>
                                          <p:attrName>style.visibility</p:attrName>
                                        </p:attrNameLst>
                                      </p:cBhvr>
                                      <p:to>
                                        <p:strVal val="visible"/>
                                      </p:to>
                                    </p:set>
                                    <p:animEffect transition="in" filter="fade">
                                      <p:cBhvr>
                                        <p:cTn id="107" dur="20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nimBg="1"/>
      <p:bldP spid="139267" grpId="0" animBg="1"/>
      <p:bldP spid="139267" grpId="1" animBg="1"/>
      <p:bldP spid="139563" grpId="0"/>
      <p:bldP spid="139563" grpId="1"/>
      <p:bldP spid="139564" grpId="0"/>
      <p:bldP spid="139565" grpId="0"/>
      <p:bldP spid="139566" grpId="0"/>
      <p:bldP spid="139567" grpId="0"/>
      <p:bldP spid="139570" grpId="0"/>
      <p:bldP spid="139571" grpId="0"/>
      <p:bldP spid="139602" grpId="0"/>
      <p:bldP spid="139602" grpId="1"/>
      <p:bldP spid="139603" grpId="0"/>
      <p:bldP spid="139605" grpId="0"/>
      <p:bldP spid="139607" grpId="0"/>
      <p:bldP spid="139607"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293600B-4A9A-4F9C-96C0-135B81413B4B}"/>
              </a:ext>
            </a:extLst>
          </p:cNvPr>
          <p:cNvSpPr>
            <a:spLocks noGrp="1"/>
          </p:cNvSpPr>
          <p:nvPr>
            <p:ph idx="1"/>
          </p:nvPr>
        </p:nvSpPr>
        <p:spPr>
          <a:xfrm>
            <a:off x="6570243" y="1910996"/>
            <a:ext cx="11004828" cy="6960509"/>
          </a:xfrm>
        </p:spPr>
        <p:txBody>
          <a:bodyPr>
            <a:normAutofit lnSpcReduction="10000"/>
          </a:bodyPr>
          <a:lstStyle/>
          <a:p>
            <a:pPr marL="0" indent="0">
              <a:buNone/>
            </a:pPr>
            <a:r>
              <a:rPr lang="en-GB" sz="3000" b="1" dirty="0">
                <a:latin typeface="Calibri" panose="020F0502020204030204" pitchFamily="34" charset="0"/>
                <a:cs typeface="Calibri" panose="020F0502020204030204" pitchFamily="34" charset="0"/>
              </a:rPr>
              <a:t>CO</a:t>
            </a:r>
            <a:r>
              <a:rPr lang="en-GB" sz="3000" b="1" baseline="-25000" dirty="0">
                <a:latin typeface="Calibri" panose="020F0502020204030204" pitchFamily="34" charset="0"/>
                <a:cs typeface="Calibri" panose="020F0502020204030204" pitchFamily="34" charset="0"/>
              </a:rPr>
              <a:t>2</a:t>
            </a:r>
          </a:p>
          <a:p>
            <a:pPr marL="0" indent="0">
              <a:buNone/>
            </a:pPr>
            <a:endParaRPr lang="en-GB" sz="3000" dirty="0">
              <a:latin typeface="Calibri" panose="020F0502020204030204" pitchFamily="34" charset="0"/>
              <a:cs typeface="Calibri" panose="020F0502020204030204" pitchFamily="34" charset="0"/>
            </a:endParaRPr>
          </a:p>
          <a:p>
            <a:r>
              <a:rPr lang="en-GB" sz="3000" dirty="0">
                <a:latin typeface="Calibri" panose="020F0502020204030204" pitchFamily="34" charset="0"/>
                <a:cs typeface="Calibri" panose="020F0502020204030204" pitchFamily="34" charset="0"/>
              </a:rPr>
              <a:t>Direct measurements (1958 – present)</a:t>
            </a:r>
          </a:p>
          <a:p>
            <a:r>
              <a:rPr lang="en-GB" sz="3000" dirty="0">
                <a:latin typeface="Calibri" panose="020F0502020204030204" pitchFamily="34" charset="0"/>
                <a:cs typeface="Calibri" panose="020F0502020204030204" pitchFamily="34" charset="0"/>
              </a:rPr>
              <a:t>Ice cores (100’000s years ago)</a:t>
            </a:r>
          </a:p>
          <a:p>
            <a:r>
              <a:rPr lang="en-GB" sz="3000" dirty="0">
                <a:latin typeface="Calibri" panose="020F0502020204030204" pitchFamily="34" charset="0"/>
                <a:cs typeface="Calibri" panose="020F0502020204030204" pitchFamily="34" charset="0"/>
              </a:rPr>
              <a:t>Proxies (10s millions years ago)</a:t>
            </a:r>
          </a:p>
          <a:p>
            <a:endParaRPr lang="en-GB" sz="3000" dirty="0">
              <a:latin typeface="Calibri" panose="020F0502020204030204" pitchFamily="34" charset="0"/>
              <a:cs typeface="Calibri" panose="020F0502020204030204" pitchFamily="34" charset="0"/>
            </a:endParaRPr>
          </a:p>
          <a:p>
            <a:pPr marL="0" indent="0">
              <a:buNone/>
            </a:pPr>
            <a:r>
              <a:rPr lang="en-GB" sz="3000" b="1" dirty="0">
                <a:latin typeface="Calibri" panose="020F0502020204030204" pitchFamily="34" charset="0"/>
                <a:cs typeface="Calibri" panose="020F0502020204030204" pitchFamily="34" charset="0"/>
              </a:rPr>
              <a:t>Temperature </a:t>
            </a:r>
          </a:p>
          <a:p>
            <a:pPr marL="0" indent="0">
              <a:buNone/>
            </a:pPr>
            <a:endParaRPr lang="en-GB" sz="3000" u="sng" dirty="0">
              <a:latin typeface="Calibri" panose="020F0502020204030204" pitchFamily="34" charset="0"/>
              <a:cs typeface="Calibri" panose="020F0502020204030204" pitchFamily="34" charset="0"/>
            </a:endParaRPr>
          </a:p>
          <a:p>
            <a:pPr marL="0" indent="0">
              <a:buNone/>
            </a:pPr>
            <a:r>
              <a:rPr lang="en-GB" sz="3000" dirty="0">
                <a:latin typeface="Calibri" panose="020F0502020204030204" pitchFamily="34" charset="0"/>
                <a:cs typeface="Calibri" panose="020F0502020204030204" pitchFamily="34" charset="0"/>
              </a:rPr>
              <a:t>Direct measurements (from 1850) + satellites (from 1979)</a:t>
            </a:r>
          </a:p>
          <a:p>
            <a:pPr>
              <a:lnSpc>
                <a:spcPct val="100000"/>
              </a:lnSpc>
            </a:pPr>
            <a:r>
              <a:rPr lang="en-GB" sz="3000" dirty="0">
                <a:latin typeface="Calibri" panose="020F0502020204030204" pitchFamily="34" charset="0"/>
                <a:cs typeface="Calibri" panose="020F0502020204030204" pitchFamily="34" charset="0"/>
              </a:rPr>
              <a:t>Proxies:</a:t>
            </a:r>
          </a:p>
          <a:p>
            <a:pPr lvl="1">
              <a:lnSpc>
                <a:spcPct val="100000"/>
              </a:lnSpc>
            </a:pPr>
            <a:r>
              <a:rPr lang="en-GB" sz="3000" dirty="0">
                <a:latin typeface="Calibri" panose="020F0502020204030204" pitchFamily="34" charset="0"/>
                <a:cs typeface="Calibri" panose="020F0502020204030204" pitchFamily="34" charset="0"/>
              </a:rPr>
              <a:t>Tree rings (~500 – 2000 years)</a:t>
            </a:r>
          </a:p>
          <a:p>
            <a:pPr lvl="1">
              <a:lnSpc>
                <a:spcPct val="100000"/>
              </a:lnSpc>
            </a:pPr>
            <a:r>
              <a:rPr lang="en-GB" sz="3000" dirty="0">
                <a:latin typeface="Calibri" panose="020F0502020204030204" pitchFamily="34" charset="0"/>
                <a:cs typeface="Calibri" panose="020F0502020204030204" pitchFamily="34" charset="0"/>
              </a:rPr>
              <a:t>Oxygen isotopes in ice cores (100’000s years ago)</a:t>
            </a:r>
          </a:p>
          <a:p>
            <a:pPr lvl="1">
              <a:lnSpc>
                <a:spcPct val="100000"/>
              </a:lnSpc>
            </a:pPr>
            <a:r>
              <a:rPr lang="en-GB" sz="3000" dirty="0">
                <a:latin typeface="Calibri" panose="020F0502020204030204" pitchFamily="34" charset="0"/>
                <a:cs typeface="Calibri" panose="020F0502020204030204" pitchFamily="34" charset="0"/>
              </a:rPr>
              <a:t>Isotopes in lake and ocean sediments (millions of years)</a:t>
            </a:r>
          </a:p>
          <a:p>
            <a:endParaRPr lang="en-GB" sz="3000" dirty="0">
              <a:latin typeface="Calibri" panose="020F0502020204030204" pitchFamily="34" charset="0"/>
              <a:cs typeface="Calibri" panose="020F0502020204030204" pitchFamily="34" charset="0"/>
            </a:endParaRPr>
          </a:p>
        </p:txBody>
      </p:sp>
      <p:sp>
        <p:nvSpPr>
          <p:cNvPr id="7" name="TextBox 14">
            <a:extLst>
              <a:ext uri="{FF2B5EF4-FFF2-40B4-BE49-F238E27FC236}">
                <a16:creationId xmlns:a16="http://schemas.microsoft.com/office/drawing/2014/main" id="{5ECEF5BD-1D0C-574E-7CBF-83879D1B1D8A}"/>
              </a:ext>
            </a:extLst>
          </p:cNvPr>
          <p:cNvSpPr txBox="1"/>
          <p:nvPr/>
        </p:nvSpPr>
        <p:spPr>
          <a:xfrm>
            <a:off x="6570243" y="1025826"/>
            <a:ext cx="11004828"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Measurements</a:t>
            </a:r>
          </a:p>
        </p:txBody>
      </p:sp>
      <p:pic>
        <p:nvPicPr>
          <p:cNvPr id="6" name="Picture 5" descr="A black smoke billowing from a city&#10;&#10;AI-generated content may be incorrect.">
            <a:extLst>
              <a:ext uri="{FF2B5EF4-FFF2-40B4-BE49-F238E27FC236}">
                <a16:creationId xmlns:a16="http://schemas.microsoft.com/office/drawing/2014/main" id="{03377298-573E-DF05-589D-510853FDD79D}"/>
              </a:ext>
            </a:extLst>
          </p:cNvPr>
          <p:cNvPicPr>
            <a:picLocks noChangeAspect="1"/>
          </p:cNvPicPr>
          <p:nvPr/>
        </p:nvPicPr>
        <p:blipFill>
          <a:blip r:embed="rId3"/>
          <a:srcRect l="48356" r="17651"/>
          <a:stretch>
            <a:fillRect/>
          </a:stretch>
        </p:blipFill>
        <p:spPr>
          <a:xfrm>
            <a:off x="30" y="-1"/>
            <a:ext cx="6215316" cy="10284620"/>
          </a:xfrm>
          <a:custGeom>
            <a:avLst/>
            <a:gdLst/>
            <a:ahLst/>
            <a:cxnLst/>
            <a:rect l="l" t="t" r="r" b="b"/>
            <a:pathLst>
              <a:path w="4143564" h="6856413">
                <a:moveTo>
                  <a:pt x="0" y="0"/>
                </a:moveTo>
                <a:lnTo>
                  <a:pt x="4141667" y="0"/>
                </a:lnTo>
                <a:lnTo>
                  <a:pt x="4141086" y="145208"/>
                </a:lnTo>
                <a:cubicBezTo>
                  <a:pt x="4109790" y="1611281"/>
                  <a:pt x="3796834" y="3077353"/>
                  <a:pt x="4047199" y="4543426"/>
                </a:cubicBezTo>
                <a:cubicBezTo>
                  <a:pt x="4172382" y="5276463"/>
                  <a:pt x="4156734" y="6009499"/>
                  <a:pt x="4105878" y="6742536"/>
                </a:cubicBezTo>
                <a:lnTo>
                  <a:pt x="4096763" y="6856413"/>
                </a:lnTo>
                <a:lnTo>
                  <a:pt x="0" y="6856413"/>
                </a:lnTo>
                <a:close/>
              </a:path>
            </a:pathLst>
          </a:custGeom>
        </p:spPr>
      </p:pic>
      <p:sp>
        <p:nvSpPr>
          <p:cNvPr id="9" name="Freeform 13">
            <a:extLst>
              <a:ext uri="{FF2B5EF4-FFF2-40B4-BE49-F238E27FC236}">
                <a16:creationId xmlns:a16="http://schemas.microsoft.com/office/drawing/2014/main" id="{9834C97D-7F1A-6866-C51F-4668C5E3A25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2">
            <a:extLst>
              <a:ext uri="{FF2B5EF4-FFF2-40B4-BE49-F238E27FC236}">
                <a16:creationId xmlns:a16="http://schemas.microsoft.com/office/drawing/2014/main" id="{3DFADB42-D153-3554-FA42-18D0F25AE5E9}"/>
              </a:ext>
            </a:extLst>
          </p:cNvPr>
          <p:cNvSpPr txBox="1"/>
          <p:nvPr/>
        </p:nvSpPr>
        <p:spPr>
          <a:xfrm>
            <a:off x="6570243" y="8730260"/>
            <a:ext cx="9242571"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3000" dirty="0">
                <a:latin typeface="Calibri" panose="020F0502020204030204" pitchFamily="34" charset="0"/>
                <a:cs typeface="Calibri" panose="020F0502020204030204" pitchFamily="34" charset="0"/>
              </a:rPr>
              <a:t>The further back you go you get lower accuracy, but also lower temporal resolutions.</a:t>
            </a:r>
          </a:p>
        </p:txBody>
      </p:sp>
      <p:sp>
        <p:nvSpPr>
          <p:cNvPr id="2" name="TextBox 1">
            <a:extLst>
              <a:ext uri="{FF2B5EF4-FFF2-40B4-BE49-F238E27FC236}">
                <a16:creationId xmlns:a16="http://schemas.microsoft.com/office/drawing/2014/main" id="{45F3AD5F-1CC5-934E-E3AF-F6D074643371}"/>
              </a:ext>
            </a:extLst>
          </p:cNvPr>
          <p:cNvSpPr txBox="1"/>
          <p:nvPr/>
        </p:nvSpPr>
        <p:spPr>
          <a:xfrm>
            <a:off x="16564415" y="9729019"/>
            <a:ext cx="9144000" cy="523220"/>
          </a:xfrm>
          <a:prstGeom prst="rect">
            <a:avLst/>
          </a:prstGeom>
          <a:noFill/>
        </p:spPr>
        <p:txBody>
          <a:bodyPr wrap="square">
            <a:spAutoFit/>
          </a:bodyPr>
          <a:lstStyle/>
          <a:p>
            <a:r>
              <a:rPr lang="en-US" sz="2800" b="1" dirty="0">
                <a:solidFill>
                  <a:srgbClr val="FF0000"/>
                </a:solidFill>
              </a:rPr>
              <a:t>WEEK 5 </a:t>
            </a:r>
            <a:endParaRPr lang="en-US" sz="2800" dirty="0"/>
          </a:p>
        </p:txBody>
      </p:sp>
    </p:spTree>
    <p:extLst>
      <p:ext uri="{BB962C8B-B14F-4D97-AF65-F5344CB8AC3E}">
        <p14:creationId xmlns:p14="http://schemas.microsoft.com/office/powerpoint/2010/main" val="1327810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outdoor, snow, nature, slope&#10;&#10;Description automatically generated">
            <a:extLst>
              <a:ext uri="{FF2B5EF4-FFF2-40B4-BE49-F238E27FC236}">
                <a16:creationId xmlns:a16="http://schemas.microsoft.com/office/drawing/2014/main" id="{75CD0B34-4157-45B8-B1FF-DD9E023EC4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6977" y="2956023"/>
            <a:ext cx="8529474" cy="5711193"/>
          </a:xfrm>
          <a:prstGeom prst="rect">
            <a:avLst/>
          </a:prstGeom>
        </p:spPr>
      </p:pic>
      <p:sp>
        <p:nvSpPr>
          <p:cNvPr id="12" name="TextBox 11">
            <a:extLst>
              <a:ext uri="{FF2B5EF4-FFF2-40B4-BE49-F238E27FC236}">
                <a16:creationId xmlns:a16="http://schemas.microsoft.com/office/drawing/2014/main" id="{BB679201-DC4A-496A-9886-2329A2CAEB02}"/>
              </a:ext>
            </a:extLst>
          </p:cNvPr>
          <p:cNvSpPr txBox="1"/>
          <p:nvPr/>
        </p:nvSpPr>
        <p:spPr>
          <a:xfrm>
            <a:off x="9275437" y="2301627"/>
            <a:ext cx="8556381" cy="553998"/>
          </a:xfrm>
          <a:prstGeom prst="rect">
            <a:avLst/>
          </a:prstGeom>
          <a:noFill/>
        </p:spPr>
        <p:txBody>
          <a:bodyPr wrap="none" rtlCol="0">
            <a:spAutoFit/>
          </a:bodyPr>
          <a:lstStyle/>
          <a:p>
            <a:r>
              <a:rPr lang="en-GB" sz="3000" dirty="0">
                <a:latin typeface="Calibri" panose="020F0502020204030204" pitchFamily="34" charset="0"/>
                <a:cs typeface="Calibri" panose="020F0502020204030204" pitchFamily="34" charset="0"/>
              </a:rPr>
              <a:t>South Pole Atmospheric Research Observatory (SPO)  </a:t>
            </a:r>
          </a:p>
        </p:txBody>
      </p:sp>
      <p:pic>
        <p:nvPicPr>
          <p:cNvPr id="9" name="Picture 8" descr="A picture containing sky, outdoor, building, dome&#10;&#10;Description automatically generated">
            <a:extLst>
              <a:ext uri="{FF2B5EF4-FFF2-40B4-BE49-F238E27FC236}">
                <a16:creationId xmlns:a16="http://schemas.microsoft.com/office/drawing/2014/main" id="{F76DF3AD-BA35-4989-BF88-6B260D756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198" y="2956024"/>
            <a:ext cx="8566787" cy="5711192"/>
          </a:xfrm>
          <a:prstGeom prst="rect">
            <a:avLst/>
          </a:prstGeom>
        </p:spPr>
      </p:pic>
      <p:sp>
        <p:nvSpPr>
          <p:cNvPr id="13" name="TextBox 12">
            <a:extLst>
              <a:ext uri="{FF2B5EF4-FFF2-40B4-BE49-F238E27FC236}">
                <a16:creationId xmlns:a16="http://schemas.microsoft.com/office/drawing/2014/main" id="{493E125F-CD64-4830-9A49-3C3C1B4DCA67}"/>
              </a:ext>
            </a:extLst>
          </p:cNvPr>
          <p:cNvSpPr txBox="1"/>
          <p:nvPr/>
        </p:nvSpPr>
        <p:spPr>
          <a:xfrm>
            <a:off x="577047" y="2301627"/>
            <a:ext cx="4988610" cy="553998"/>
          </a:xfrm>
          <a:prstGeom prst="rect">
            <a:avLst/>
          </a:prstGeom>
          <a:noFill/>
        </p:spPr>
        <p:txBody>
          <a:bodyPr wrap="none" rtlCol="0">
            <a:spAutoFit/>
          </a:bodyPr>
          <a:lstStyle/>
          <a:p>
            <a:r>
              <a:rPr lang="en-GB" sz="3000" dirty="0">
                <a:latin typeface="Calibri" panose="020F0502020204030204" pitchFamily="34" charset="0"/>
                <a:cs typeface="Calibri" panose="020F0502020204030204" pitchFamily="34" charset="0"/>
              </a:rPr>
              <a:t>Mauna Loa Observatory (MLO)</a:t>
            </a:r>
          </a:p>
        </p:txBody>
      </p:sp>
      <p:sp>
        <p:nvSpPr>
          <p:cNvPr id="16" name="Content Placeholder 2">
            <a:extLst>
              <a:ext uri="{FF2B5EF4-FFF2-40B4-BE49-F238E27FC236}">
                <a16:creationId xmlns:a16="http://schemas.microsoft.com/office/drawing/2014/main" id="{CD4FC99B-5169-43C2-B4BD-A529E9D07536}"/>
              </a:ext>
            </a:extLst>
          </p:cNvPr>
          <p:cNvSpPr txBox="1">
            <a:spLocks/>
          </p:cNvSpPr>
          <p:nvPr/>
        </p:nvSpPr>
        <p:spPr>
          <a:xfrm>
            <a:off x="584198" y="8838381"/>
            <a:ext cx="11830050" cy="600165"/>
          </a:xfrm>
          <a:prstGeom prst="rect">
            <a:avLst/>
          </a:prstGeom>
        </p:spPr>
        <p:txBody>
          <a:bodyPr vert="horz" lIns="102870" tIns="51435" rIns="102870" bIns="51435"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000" dirty="0">
                <a:latin typeface="Calibri" panose="020F0502020204030204" pitchFamily="34" charset="0"/>
                <a:cs typeface="Calibri" panose="020F0502020204030204" pitchFamily="34" charset="0"/>
              </a:rPr>
              <a:t>Direct measurements (from 1958)</a:t>
            </a:r>
          </a:p>
        </p:txBody>
      </p:sp>
      <p:sp>
        <p:nvSpPr>
          <p:cNvPr id="3" name="TextBox 14">
            <a:extLst>
              <a:ext uri="{FF2B5EF4-FFF2-40B4-BE49-F238E27FC236}">
                <a16:creationId xmlns:a16="http://schemas.microsoft.com/office/drawing/2014/main" id="{B3D05590-1F0B-C61B-5F12-3C6BE76F17AA}"/>
              </a:ext>
            </a:extLst>
          </p:cNvPr>
          <p:cNvSpPr txBox="1"/>
          <p:nvPr/>
        </p:nvSpPr>
        <p:spPr>
          <a:xfrm>
            <a:off x="584198" y="1026137"/>
            <a:ext cx="11004828"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CO</a:t>
            </a:r>
            <a:r>
              <a:rPr lang="en-US" sz="5400" i="1" spc="-413" baseline="-25000" dirty="0">
                <a:solidFill>
                  <a:srgbClr val="46245A"/>
                </a:solidFill>
                <a:latin typeface="DM Sans Bold"/>
                <a:ea typeface="ＭＳ Ｐゴシック" panose="020B0600070205080204" pitchFamily="34" charset="-128"/>
              </a:rPr>
              <a:t>2</a:t>
            </a:r>
            <a:r>
              <a:rPr lang="en-US" sz="5400" i="1" spc="-413" dirty="0">
                <a:solidFill>
                  <a:srgbClr val="46245A"/>
                </a:solidFill>
                <a:latin typeface="DM Sans Bold"/>
                <a:ea typeface="ＭＳ Ｐゴシック" panose="020B0600070205080204" pitchFamily="34" charset="-128"/>
              </a:rPr>
              <a:t> Measurements</a:t>
            </a:r>
          </a:p>
        </p:txBody>
      </p:sp>
      <p:sp>
        <p:nvSpPr>
          <p:cNvPr id="2" name="Freeform 13">
            <a:extLst>
              <a:ext uri="{FF2B5EF4-FFF2-40B4-BE49-F238E27FC236}">
                <a16:creationId xmlns:a16="http://schemas.microsoft.com/office/drawing/2014/main" id="{5E5F9FC9-2593-C489-2210-C529BA0AE964}"/>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Tree>
    <p:extLst>
      <p:ext uri="{BB962C8B-B14F-4D97-AF65-F5344CB8AC3E}">
        <p14:creationId xmlns:p14="http://schemas.microsoft.com/office/powerpoint/2010/main" val="3115726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EE7E31B-0820-4224-BE49-7026C21A597E}"/>
              </a:ext>
            </a:extLst>
          </p:cNvPr>
          <p:cNvSpPr>
            <a:spLocks noGrp="1"/>
          </p:cNvSpPr>
          <p:nvPr>
            <p:ph idx="1"/>
          </p:nvPr>
        </p:nvSpPr>
        <p:spPr>
          <a:xfrm>
            <a:off x="584198" y="2059575"/>
            <a:ext cx="11830050" cy="1446870"/>
          </a:xfrm>
        </p:spPr>
        <p:txBody>
          <a:bodyPr>
            <a:normAutofit/>
          </a:bodyPr>
          <a:lstStyle/>
          <a:p>
            <a:pPr marL="0" indent="0">
              <a:buNone/>
            </a:pPr>
            <a:r>
              <a:rPr lang="en-GB" sz="3600" b="1" dirty="0">
                <a:latin typeface="Calibri" panose="020F0502020204030204" pitchFamily="34" charset="0"/>
                <a:cs typeface="Calibri" panose="020F0502020204030204" pitchFamily="34" charset="0"/>
              </a:rPr>
              <a:t>Ice cores (100’000s years ago)</a:t>
            </a:r>
          </a:p>
        </p:txBody>
      </p:sp>
      <p:pic>
        <p:nvPicPr>
          <p:cNvPr id="4" name="Picture 3" descr="A picture containing snow, outdoor, sky, nature&#10;&#10;Description automatically generated">
            <a:extLst>
              <a:ext uri="{FF2B5EF4-FFF2-40B4-BE49-F238E27FC236}">
                <a16:creationId xmlns:a16="http://schemas.microsoft.com/office/drawing/2014/main" id="{29D09C1A-57D0-40B9-8518-6F649B2F8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9877" y="2999291"/>
            <a:ext cx="5010614" cy="3859739"/>
          </a:xfrm>
          <a:prstGeom prst="rect">
            <a:avLst/>
          </a:prstGeom>
        </p:spPr>
      </p:pic>
      <p:pic>
        <p:nvPicPr>
          <p:cNvPr id="7" name="Picture 6" descr="A picture containing indoor, room, seat, sofa&#10;&#10;Description automatically generated">
            <a:extLst>
              <a:ext uri="{FF2B5EF4-FFF2-40B4-BE49-F238E27FC236}">
                <a16:creationId xmlns:a16="http://schemas.microsoft.com/office/drawing/2014/main" id="{7A251528-08F7-421A-BDF4-3921A3FA6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365" y="2999294"/>
            <a:ext cx="5137397" cy="3859737"/>
          </a:xfrm>
          <a:prstGeom prst="rect">
            <a:avLst/>
          </a:prstGeom>
        </p:spPr>
      </p:pic>
      <p:pic>
        <p:nvPicPr>
          <p:cNvPr id="16" name="Picture 3" descr="Ice-core disc, Epica">
            <a:extLst>
              <a:ext uri="{FF2B5EF4-FFF2-40B4-BE49-F238E27FC236}">
                <a16:creationId xmlns:a16="http://schemas.microsoft.com/office/drawing/2014/main" id="{0CE84FD7-2093-49B9-AA34-62D35535E62B}"/>
              </a:ext>
            </a:extLst>
          </p:cNvPr>
          <p:cNvPicPr>
            <a:picLocks noChangeAspect="1" noChangeArrowheads="1"/>
          </p:cNvPicPr>
          <p:nvPr/>
        </p:nvPicPr>
        <p:blipFill>
          <a:blip r:embed="rId5" cstate="print"/>
          <a:srcRect/>
          <a:stretch>
            <a:fillRect/>
          </a:stretch>
        </p:blipFill>
        <p:spPr bwMode="auto">
          <a:xfrm>
            <a:off x="12100600" y="2999291"/>
            <a:ext cx="5465372" cy="3859739"/>
          </a:xfrm>
          <a:prstGeom prst="rect">
            <a:avLst/>
          </a:prstGeom>
          <a:noFill/>
          <a:ln w="9525">
            <a:noFill/>
            <a:miter lim="800000"/>
            <a:headEnd/>
            <a:tailEnd/>
          </a:ln>
        </p:spPr>
      </p:pic>
      <p:sp>
        <p:nvSpPr>
          <p:cNvPr id="2" name="TextBox 14">
            <a:extLst>
              <a:ext uri="{FF2B5EF4-FFF2-40B4-BE49-F238E27FC236}">
                <a16:creationId xmlns:a16="http://schemas.microsoft.com/office/drawing/2014/main" id="{36FD1D1E-CD65-0EBC-3B72-1A7C15EF82D8}"/>
              </a:ext>
            </a:extLst>
          </p:cNvPr>
          <p:cNvSpPr txBox="1"/>
          <p:nvPr/>
        </p:nvSpPr>
        <p:spPr>
          <a:xfrm>
            <a:off x="584198" y="1026137"/>
            <a:ext cx="11004828"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CO</a:t>
            </a:r>
            <a:r>
              <a:rPr lang="en-US" sz="5400" i="1" spc="-413" baseline="-25000" dirty="0">
                <a:solidFill>
                  <a:srgbClr val="46245A"/>
                </a:solidFill>
                <a:latin typeface="DM Sans Bold"/>
                <a:ea typeface="ＭＳ Ｐゴシック" panose="020B0600070205080204" pitchFamily="34" charset="-128"/>
              </a:rPr>
              <a:t>2</a:t>
            </a:r>
            <a:r>
              <a:rPr lang="en-US" sz="5400" i="1" spc="-413" dirty="0">
                <a:solidFill>
                  <a:srgbClr val="46245A"/>
                </a:solidFill>
                <a:latin typeface="DM Sans Bold"/>
                <a:ea typeface="ＭＳ Ｐゴシック" panose="020B0600070205080204" pitchFamily="34" charset="-128"/>
              </a:rPr>
              <a:t> Measurements</a:t>
            </a:r>
          </a:p>
        </p:txBody>
      </p:sp>
      <p:sp>
        <p:nvSpPr>
          <p:cNvPr id="5" name="TextBox 4">
            <a:extLst>
              <a:ext uri="{FF2B5EF4-FFF2-40B4-BE49-F238E27FC236}">
                <a16:creationId xmlns:a16="http://schemas.microsoft.com/office/drawing/2014/main" id="{6096B2E7-F65B-188E-A69E-0F874361BCC4}"/>
              </a:ext>
            </a:extLst>
          </p:cNvPr>
          <p:cNvSpPr txBox="1"/>
          <p:nvPr/>
        </p:nvSpPr>
        <p:spPr>
          <a:xfrm>
            <a:off x="565663" y="7097469"/>
            <a:ext cx="17461937" cy="2169825"/>
          </a:xfrm>
          <a:prstGeom prst="rect">
            <a:avLst/>
          </a:prstGeom>
          <a:noFill/>
        </p:spPr>
        <p:txBody>
          <a:bodyPr wrap="square">
            <a:spAutoFit/>
          </a:bodyPr>
          <a:lstStyle/>
          <a:p>
            <a:pPr marL="428625" indent="-428625">
              <a:buFont typeface="Arial" panose="020B0604020202020204" pitchFamily="34" charset="0"/>
              <a:buChar char="•"/>
            </a:pPr>
            <a:r>
              <a:rPr lang="en-GB" sz="2700" dirty="0">
                <a:latin typeface="Calibri" panose="020F0502020204030204" pitchFamily="34" charset="0"/>
                <a:cs typeface="Calibri" panose="020F0502020204030204" pitchFamily="34" charset="0"/>
              </a:rPr>
              <a:t>Ice cores preserve past atmospheric CO₂ in air bubbles trapped as snow compacts into ice, providing a direct record of past atmospheres.</a:t>
            </a:r>
          </a:p>
          <a:p>
            <a:pPr marL="428625" indent="-428625">
              <a:buFont typeface="Arial" panose="020B0604020202020204" pitchFamily="34" charset="0"/>
              <a:buChar char="•"/>
            </a:pPr>
            <a:r>
              <a:rPr lang="en-GB" sz="2700" dirty="0">
                <a:latin typeface="Calibri" panose="020F0502020204030204" pitchFamily="34" charset="0"/>
                <a:cs typeface="Calibri" panose="020F0502020204030204" pitchFamily="34" charset="0"/>
              </a:rPr>
              <a:t>These records extend back ~800,000 years, allowing long-term CO₂–climate relationships to be studied.</a:t>
            </a:r>
          </a:p>
          <a:p>
            <a:pPr marL="428625" indent="-428625">
              <a:buFont typeface="Arial" panose="020B0604020202020204" pitchFamily="34" charset="0"/>
              <a:buChar char="•"/>
            </a:pPr>
            <a:r>
              <a:rPr lang="en-GB" sz="2700" dirty="0">
                <a:latin typeface="Calibri" panose="020F0502020204030204" pitchFamily="34" charset="0"/>
                <a:cs typeface="Calibri" panose="020F0502020204030204" pitchFamily="34" charset="0"/>
              </a:rPr>
              <a:t>Temporal resolution decreases with depth as ice flow and </a:t>
            </a:r>
            <a:r>
              <a:rPr lang="en-GB" sz="2700" dirty="0" err="1">
                <a:latin typeface="Calibri" panose="020F0502020204030204" pitchFamily="34" charset="0"/>
                <a:cs typeface="Calibri" panose="020F0502020204030204" pitchFamily="34" charset="0"/>
              </a:rPr>
              <a:t>firn</a:t>
            </a:r>
            <a:r>
              <a:rPr lang="en-GB" sz="2700" dirty="0">
                <a:latin typeface="Calibri" panose="020F0502020204030204" pitchFamily="34" charset="0"/>
                <a:cs typeface="Calibri" panose="020F0502020204030204" pitchFamily="34" charset="0"/>
              </a:rPr>
              <a:t> diffusion smooth the signal, averaging CO₂ over longer time periods.</a:t>
            </a:r>
          </a:p>
        </p:txBody>
      </p:sp>
      <p:sp>
        <p:nvSpPr>
          <p:cNvPr id="6" name="Freeform 13">
            <a:extLst>
              <a:ext uri="{FF2B5EF4-FFF2-40B4-BE49-F238E27FC236}">
                <a16:creationId xmlns:a16="http://schemas.microsoft.com/office/drawing/2014/main" id="{ECC4901A-7380-ED09-F3C2-26CF2E7C4194}"/>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Tree>
    <p:extLst>
      <p:ext uri="{BB962C8B-B14F-4D97-AF65-F5344CB8AC3E}">
        <p14:creationId xmlns:p14="http://schemas.microsoft.com/office/powerpoint/2010/main" val="232504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988" name="Picture 6" descr="IMGP0227 crop 2">
            <a:extLst>
              <a:ext uri="{FF2B5EF4-FFF2-40B4-BE49-F238E27FC236}">
                <a16:creationId xmlns:a16="http://schemas.microsoft.com/office/drawing/2014/main" id="{A9D33C5A-1B25-EA40-AF75-4234ABE4F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128" r="-1" b="28846"/>
          <a:stretch/>
        </p:blipFill>
        <p:spPr bwMode="auto">
          <a:xfrm>
            <a:off x="1" y="-9352"/>
            <a:ext cx="4883105" cy="3758183"/>
          </a:xfrm>
          <a:custGeom>
            <a:avLst/>
            <a:gdLst/>
            <a:ahLst/>
            <a:cxnLst/>
            <a:rect l="l" t="t" r="r" b="b"/>
            <a:pathLst>
              <a:path w="3255403" h="2505456">
                <a:moveTo>
                  <a:pt x="0" y="0"/>
                </a:moveTo>
                <a:lnTo>
                  <a:pt x="3255403" y="0"/>
                </a:lnTo>
                <a:lnTo>
                  <a:pt x="2094477" y="2505456"/>
                </a:lnTo>
                <a:lnTo>
                  <a:pt x="0" y="2505456"/>
                </a:lnTo>
                <a:close/>
              </a:path>
            </a:pathLst>
          </a:custGeom>
          <a:noFill/>
          <a:extLst>
            <a:ext uri="{909E8E84-426E-40DD-AFC4-6F175D3DCCD1}">
              <a14:hiddenFill xmlns:a14="http://schemas.microsoft.com/office/drawing/2010/main">
                <a:solidFill>
                  <a:srgbClr val="FFFFFF"/>
                </a:solidFill>
              </a14:hiddenFill>
            </a:ext>
          </a:extLst>
        </p:spPr>
      </p:pic>
      <p:pic>
        <p:nvPicPr>
          <p:cNvPr id="41989" name="Picture 7" descr="flow tube picture">
            <a:extLst>
              <a:ext uri="{FF2B5EF4-FFF2-40B4-BE49-F238E27FC236}">
                <a16:creationId xmlns:a16="http://schemas.microsoft.com/office/drawing/2014/main" id="{23F7FC23-7F6F-9841-A5D7-2994A35E59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978" b="19673"/>
          <a:stretch/>
        </p:blipFill>
        <p:spPr bwMode="auto">
          <a:xfrm>
            <a:off x="11072814" y="10"/>
            <a:ext cx="7215187" cy="3752745"/>
          </a:xfrm>
          <a:custGeom>
            <a:avLst/>
            <a:gdLst/>
            <a:ahLst/>
            <a:cxnLst/>
            <a:rect l="l" t="t" r="r" b="b"/>
            <a:pathLst>
              <a:path w="4810125" h="2501837">
                <a:moveTo>
                  <a:pt x="1159248" y="0"/>
                </a:moveTo>
                <a:lnTo>
                  <a:pt x="4810125" y="0"/>
                </a:lnTo>
                <a:lnTo>
                  <a:pt x="4810125" y="2501837"/>
                </a:lnTo>
                <a:lnTo>
                  <a:pt x="0" y="2501837"/>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Picture 3">
            <a:extLst>
              <a:ext uri="{FF2B5EF4-FFF2-40B4-BE49-F238E27FC236}">
                <a16:creationId xmlns:a16="http://schemas.microsoft.com/office/drawing/2014/main" id="{E61CA001-5384-0B49-BF3C-6434D1D71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3138" r="1" b="12720"/>
          <a:stretch/>
        </p:blipFill>
        <p:spPr bwMode="auto">
          <a:xfrm>
            <a:off x="7013305" y="-9352"/>
            <a:ext cx="5516726" cy="3758183"/>
          </a:xfrm>
          <a:custGeom>
            <a:avLst/>
            <a:gdLst/>
            <a:ahLst/>
            <a:cxnLst/>
            <a:rect l="l" t="t" r="r" b="b"/>
            <a:pathLst>
              <a:path w="3677817" h="2505456">
                <a:moveTo>
                  <a:pt x="1160926" y="0"/>
                </a:moveTo>
                <a:lnTo>
                  <a:pt x="3677817" y="0"/>
                </a:lnTo>
                <a:lnTo>
                  <a:pt x="2516891" y="2505456"/>
                </a:lnTo>
                <a:lnTo>
                  <a:pt x="0" y="2505456"/>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5" name="Picture 2">
            <a:extLst>
              <a:ext uri="{FF2B5EF4-FFF2-40B4-BE49-F238E27FC236}">
                <a16:creationId xmlns:a16="http://schemas.microsoft.com/office/drawing/2014/main" id="{65420759-53A1-3A40-B48F-00D20BF09E83}"/>
              </a:ext>
            </a:extLst>
          </p:cNvPr>
          <p:cNvPicPr>
            <a:picLocks noChangeAspect="1"/>
          </p:cNvPicPr>
          <p:nvPr/>
        </p:nvPicPr>
        <p:blipFill>
          <a:blip r:embed="rId5">
            <a:extLst>
              <a:ext uri="{28A0092B-C50C-407E-A947-70E740481C1C}">
                <a14:useLocalDpi xmlns:a14="http://schemas.microsoft.com/office/drawing/2010/main" val="0"/>
              </a:ext>
            </a:extLst>
          </a:blip>
          <a:srcRect t="10576" r="-2" b="10575"/>
          <a:stretch/>
        </p:blipFill>
        <p:spPr bwMode="auto">
          <a:xfrm>
            <a:off x="1" y="3990133"/>
            <a:ext cx="10683785" cy="6296867"/>
          </a:xfrm>
          <a:custGeom>
            <a:avLst/>
            <a:gdLst/>
            <a:ahLst/>
            <a:cxnLst/>
            <a:rect l="l" t="t" r="r" b="b"/>
            <a:pathLst>
              <a:path w="7122523" h="4197911">
                <a:moveTo>
                  <a:pt x="0" y="0"/>
                </a:moveTo>
                <a:lnTo>
                  <a:pt x="7122523" y="0"/>
                </a:lnTo>
                <a:lnTo>
                  <a:pt x="5177382" y="4197911"/>
                </a:lnTo>
                <a:lnTo>
                  <a:pt x="5171159" y="4197911"/>
                </a:lnTo>
                <a:lnTo>
                  <a:pt x="3981368" y="4197911"/>
                </a:lnTo>
                <a:lnTo>
                  <a:pt x="2331323" y="4197911"/>
                </a:lnTo>
                <a:lnTo>
                  <a:pt x="0" y="4197911"/>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8" name="Freeform 43">
            <a:extLst>
              <a:ext uri="{FF2B5EF4-FFF2-40B4-BE49-F238E27FC236}">
                <a16:creationId xmlns:a16="http://schemas.microsoft.com/office/drawing/2014/main" id="{AAD8F19F-4A55-467B-BED0-8837659A9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9575" y="3990133"/>
            <a:ext cx="10258425" cy="6296867"/>
          </a:xfrm>
          <a:custGeom>
            <a:avLst/>
            <a:gdLst>
              <a:gd name="connsiteX0" fmla="*/ 4893809 w 6838950"/>
              <a:gd name="connsiteY0" fmla="*/ 0 h 4197911"/>
              <a:gd name="connsiteX1" fmla="*/ 4887586 w 6838950"/>
              <a:gd name="connsiteY1" fmla="*/ 0 h 4197911"/>
              <a:gd name="connsiteX2" fmla="*/ 3697795 w 6838950"/>
              <a:gd name="connsiteY2" fmla="*/ 0 h 4197911"/>
              <a:gd name="connsiteX3" fmla="*/ 2047750 w 6838950"/>
              <a:gd name="connsiteY3" fmla="*/ 0 h 4197911"/>
              <a:gd name="connsiteX4" fmla="*/ 0 w 6838950"/>
              <a:gd name="connsiteY4" fmla="*/ 0 h 4197911"/>
              <a:gd name="connsiteX5" fmla="*/ 0 w 6838950"/>
              <a:gd name="connsiteY5" fmla="*/ 4197911 h 4197911"/>
              <a:gd name="connsiteX6" fmla="*/ 6838950 w 6838950"/>
              <a:gd name="connsiteY6" fmla="*/ 4197911 h 41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8950" h="4197911">
                <a:moveTo>
                  <a:pt x="4893809" y="0"/>
                </a:moveTo>
                <a:lnTo>
                  <a:pt x="4887586" y="0"/>
                </a:lnTo>
                <a:lnTo>
                  <a:pt x="3697795" y="0"/>
                </a:lnTo>
                <a:lnTo>
                  <a:pt x="2047750" y="0"/>
                </a:lnTo>
                <a:lnTo>
                  <a:pt x="0" y="0"/>
                </a:lnTo>
                <a:lnTo>
                  <a:pt x="0" y="4197911"/>
                </a:lnTo>
                <a:lnTo>
                  <a:pt x="6838950" y="4197911"/>
                </a:lnTo>
                <a:close/>
              </a:path>
            </a:pathLst>
          </a:custGeom>
          <a:solidFill>
            <a:srgbClr val="3E554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990" name="Text Box 8">
            <a:extLst>
              <a:ext uri="{FF2B5EF4-FFF2-40B4-BE49-F238E27FC236}">
                <a16:creationId xmlns:a16="http://schemas.microsoft.com/office/drawing/2014/main" id="{584A439F-0FD1-1343-BBF3-FD2D86F210C5}"/>
              </a:ext>
            </a:extLst>
          </p:cNvPr>
          <p:cNvSpPr txBox="1">
            <a:spLocks noChangeArrowheads="1"/>
          </p:cNvSpPr>
          <p:nvPr/>
        </p:nvSpPr>
        <p:spPr bwMode="auto">
          <a:xfrm>
            <a:off x="9928746" y="6284796"/>
            <a:ext cx="7496031" cy="3245808"/>
          </a:xfrm>
          <a:prstGeom prst="rect">
            <a:avLst/>
          </a:prstGeom>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defTabSz="457200">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defTabSz="4572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defTabSz="914400">
              <a:lnSpc>
                <a:spcPct val="90000"/>
              </a:lnSpc>
              <a:spcBef>
                <a:spcPct val="0"/>
              </a:spcBef>
              <a:spcAft>
                <a:spcPts val="600"/>
              </a:spcAft>
              <a:buNone/>
            </a:pPr>
            <a:r>
              <a:rPr lang="en-US" altLang="en-US" sz="6000" kern="1200">
                <a:solidFill>
                  <a:srgbClr val="FFFFFF"/>
                </a:solidFill>
                <a:latin typeface="+mj-lt"/>
                <a:ea typeface="+mj-ea"/>
                <a:cs typeface="+mj-cs"/>
              </a:rPr>
              <a:t>Laboratory studies of gas kinetic reactions</a:t>
            </a:r>
          </a:p>
        </p:txBody>
      </p:sp>
      <p:pic>
        <p:nvPicPr>
          <p:cNvPr id="41986" name="Picture 2" descr="DSCN0110">
            <a:extLst>
              <a:ext uri="{FF2B5EF4-FFF2-40B4-BE49-F238E27FC236}">
                <a16:creationId xmlns:a16="http://schemas.microsoft.com/office/drawing/2014/main" id="{24631666-8EFA-C540-A72F-ACBC92A923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4111" r="2" b="30582"/>
          <a:stretch/>
        </p:blipFill>
        <p:spPr bwMode="auto">
          <a:xfrm>
            <a:off x="3392952" y="10"/>
            <a:ext cx="5090914" cy="3754254"/>
          </a:xfrm>
          <a:custGeom>
            <a:avLst/>
            <a:gdLst/>
            <a:ahLst/>
            <a:cxnLst/>
            <a:rect l="l" t="t" r="r" b="b"/>
            <a:pathLst>
              <a:path w="3393943" h="2502843">
                <a:moveTo>
                  <a:pt x="1159715" y="0"/>
                </a:moveTo>
                <a:lnTo>
                  <a:pt x="3393943" y="0"/>
                </a:lnTo>
                <a:lnTo>
                  <a:pt x="2234228" y="2502843"/>
                </a:lnTo>
                <a:lnTo>
                  <a:pt x="0" y="2502843"/>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2" descr="C:\Users\Jamie\Documents\ComPart\Data\Intensive1\Photos\IMG_6804.JPG">
            <a:extLst>
              <a:ext uri="{FF2B5EF4-FFF2-40B4-BE49-F238E27FC236}">
                <a16:creationId xmlns:a16="http://schemas.microsoft.com/office/drawing/2014/main" id="{5BF29455-57D2-8E47-BF5D-3A7FC3AD0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967" r="1" b="19661"/>
          <a:stretch/>
        </p:blipFill>
        <p:spPr bwMode="auto">
          <a:xfrm>
            <a:off x="1" y="-9352"/>
            <a:ext cx="4883105" cy="3758183"/>
          </a:xfrm>
          <a:custGeom>
            <a:avLst/>
            <a:gdLst/>
            <a:ahLst/>
            <a:cxnLst/>
            <a:rect l="l" t="t" r="r" b="b"/>
            <a:pathLst>
              <a:path w="3255403" h="2505456">
                <a:moveTo>
                  <a:pt x="0" y="0"/>
                </a:moveTo>
                <a:lnTo>
                  <a:pt x="3255403" y="0"/>
                </a:lnTo>
                <a:lnTo>
                  <a:pt x="2094477" y="2505456"/>
                </a:lnTo>
                <a:lnTo>
                  <a:pt x="0" y="2505456"/>
                </a:lnTo>
                <a:close/>
              </a:path>
            </a:pathLst>
          </a:custGeom>
          <a:noFill/>
          <a:extLst>
            <a:ext uri="{909E8E84-426E-40DD-AFC4-6F175D3DCCD1}">
              <a14:hiddenFill xmlns:a14="http://schemas.microsoft.com/office/drawing/2010/main">
                <a:solidFill>
                  <a:srgbClr val="FFFFFF"/>
                </a:solidFill>
              </a14:hiddenFill>
            </a:ext>
          </a:extLst>
        </p:spPr>
      </p:pic>
      <p:pic>
        <p:nvPicPr>
          <p:cNvPr id="45059" name="Picture 2" descr="C:\Users\Jamie\Documents\ComPart\Data\Intensive1\Photos\IMG_6820.JPG">
            <a:extLst>
              <a:ext uri="{FF2B5EF4-FFF2-40B4-BE49-F238E27FC236}">
                <a16:creationId xmlns:a16="http://schemas.microsoft.com/office/drawing/2014/main" id="{D1CE4542-C614-314F-82CB-4DFAB56226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8245" b="13835"/>
          <a:stretch/>
        </p:blipFill>
        <p:spPr bwMode="auto">
          <a:xfrm>
            <a:off x="11072814" y="10"/>
            <a:ext cx="7215187" cy="3752745"/>
          </a:xfrm>
          <a:custGeom>
            <a:avLst/>
            <a:gdLst/>
            <a:ahLst/>
            <a:cxnLst/>
            <a:rect l="l" t="t" r="r" b="b"/>
            <a:pathLst>
              <a:path w="4810125" h="2501837">
                <a:moveTo>
                  <a:pt x="1159248" y="0"/>
                </a:moveTo>
                <a:lnTo>
                  <a:pt x="4810125" y="0"/>
                </a:lnTo>
                <a:lnTo>
                  <a:pt x="4810125" y="2501837"/>
                </a:lnTo>
                <a:lnTo>
                  <a:pt x="0" y="2501837"/>
                </a:lnTo>
                <a:close/>
              </a:path>
            </a:pathLst>
          </a:custGeom>
          <a:noFill/>
          <a:extLst>
            <a:ext uri="{909E8E84-426E-40DD-AFC4-6F175D3DCCD1}">
              <a14:hiddenFill xmlns:a14="http://schemas.microsoft.com/office/drawing/2010/main">
                <a:solidFill>
                  <a:srgbClr val="FFFFFF"/>
                </a:solidFill>
              </a14:hiddenFill>
            </a:ext>
          </a:extLst>
        </p:spPr>
      </p:pic>
      <p:pic>
        <p:nvPicPr>
          <p:cNvPr id="45057" name="Picture 5">
            <a:extLst>
              <a:ext uri="{FF2B5EF4-FFF2-40B4-BE49-F238E27FC236}">
                <a16:creationId xmlns:a16="http://schemas.microsoft.com/office/drawing/2014/main" id="{B3DD25C1-EBBD-DD4D-979E-DAFBC8AA9C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678" r="1" b="7492"/>
          <a:stretch/>
        </p:blipFill>
        <p:spPr bwMode="auto">
          <a:xfrm>
            <a:off x="7013305" y="-9352"/>
            <a:ext cx="5516726" cy="3758183"/>
          </a:xfrm>
          <a:custGeom>
            <a:avLst/>
            <a:gdLst/>
            <a:ahLst/>
            <a:cxnLst/>
            <a:rect l="l" t="t" r="r" b="b"/>
            <a:pathLst>
              <a:path w="3677817" h="2505456">
                <a:moveTo>
                  <a:pt x="1160926" y="0"/>
                </a:moveTo>
                <a:lnTo>
                  <a:pt x="3677817" y="0"/>
                </a:lnTo>
                <a:lnTo>
                  <a:pt x="2516891" y="2505456"/>
                </a:lnTo>
                <a:lnTo>
                  <a:pt x="0" y="2505456"/>
                </a:lnTo>
                <a:close/>
              </a:path>
            </a:pathLst>
          </a:custGeom>
          <a:noFill/>
          <a:extLst>
            <a:ext uri="{909E8E84-426E-40DD-AFC4-6F175D3DCCD1}">
              <a14:hiddenFill xmlns:a14="http://schemas.microsoft.com/office/drawing/2010/main">
                <a:solidFill>
                  <a:srgbClr val="FFFFFF"/>
                </a:solidFill>
              </a14:hiddenFill>
            </a:ext>
          </a:extLst>
        </p:spPr>
      </p:pic>
      <p:pic>
        <p:nvPicPr>
          <p:cNvPr id="45061" name="Picture 3" descr="C:\Users\Jamie\Documents\ComPart\Data\Intensive1\Photos\IMG_6816.JPG">
            <a:extLst>
              <a:ext uri="{FF2B5EF4-FFF2-40B4-BE49-F238E27FC236}">
                <a16:creationId xmlns:a16="http://schemas.microsoft.com/office/drawing/2014/main" id="{EAE558EB-977D-8C43-A850-3362983CCC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4185" r="-2" b="7516"/>
          <a:stretch/>
        </p:blipFill>
        <p:spPr bwMode="auto">
          <a:xfrm>
            <a:off x="1" y="3990133"/>
            <a:ext cx="10683785" cy="6296867"/>
          </a:xfrm>
          <a:custGeom>
            <a:avLst/>
            <a:gdLst/>
            <a:ahLst/>
            <a:cxnLst/>
            <a:rect l="l" t="t" r="r" b="b"/>
            <a:pathLst>
              <a:path w="7122523" h="4197911">
                <a:moveTo>
                  <a:pt x="0" y="0"/>
                </a:moveTo>
                <a:lnTo>
                  <a:pt x="7122523" y="0"/>
                </a:lnTo>
                <a:lnTo>
                  <a:pt x="5177382" y="4197911"/>
                </a:lnTo>
                <a:lnTo>
                  <a:pt x="5171159" y="4197911"/>
                </a:lnTo>
                <a:lnTo>
                  <a:pt x="3981368" y="4197911"/>
                </a:lnTo>
                <a:lnTo>
                  <a:pt x="2331323" y="4197911"/>
                </a:lnTo>
                <a:lnTo>
                  <a:pt x="0" y="4197911"/>
                </a:lnTo>
                <a:close/>
              </a:path>
            </a:pathLst>
          </a:custGeom>
          <a:noFill/>
          <a:extLst>
            <a:ext uri="{909E8E84-426E-40DD-AFC4-6F175D3DCCD1}">
              <a14:hiddenFill xmlns:a14="http://schemas.microsoft.com/office/drawing/2010/main">
                <a:solidFill>
                  <a:srgbClr val="FFFFFF"/>
                </a:solidFill>
              </a14:hiddenFill>
            </a:ext>
          </a:extLst>
        </p:spPr>
      </p:pic>
      <p:sp>
        <p:nvSpPr>
          <p:cNvPr id="74761" name="Freeform 43">
            <a:extLst>
              <a:ext uri="{FF2B5EF4-FFF2-40B4-BE49-F238E27FC236}">
                <a16:creationId xmlns:a16="http://schemas.microsoft.com/office/drawing/2014/main" id="{AAD8F19F-4A55-467B-BED0-8837659A9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9575" y="3990133"/>
            <a:ext cx="10258425" cy="6296867"/>
          </a:xfrm>
          <a:custGeom>
            <a:avLst/>
            <a:gdLst>
              <a:gd name="connsiteX0" fmla="*/ 4893809 w 6838950"/>
              <a:gd name="connsiteY0" fmla="*/ 0 h 4197911"/>
              <a:gd name="connsiteX1" fmla="*/ 4887586 w 6838950"/>
              <a:gd name="connsiteY1" fmla="*/ 0 h 4197911"/>
              <a:gd name="connsiteX2" fmla="*/ 3697795 w 6838950"/>
              <a:gd name="connsiteY2" fmla="*/ 0 h 4197911"/>
              <a:gd name="connsiteX3" fmla="*/ 2047750 w 6838950"/>
              <a:gd name="connsiteY3" fmla="*/ 0 h 4197911"/>
              <a:gd name="connsiteX4" fmla="*/ 0 w 6838950"/>
              <a:gd name="connsiteY4" fmla="*/ 0 h 4197911"/>
              <a:gd name="connsiteX5" fmla="*/ 0 w 6838950"/>
              <a:gd name="connsiteY5" fmla="*/ 4197911 h 4197911"/>
              <a:gd name="connsiteX6" fmla="*/ 6838950 w 6838950"/>
              <a:gd name="connsiteY6" fmla="*/ 4197911 h 41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8950" h="4197911">
                <a:moveTo>
                  <a:pt x="4893809" y="0"/>
                </a:moveTo>
                <a:lnTo>
                  <a:pt x="4887586" y="0"/>
                </a:lnTo>
                <a:lnTo>
                  <a:pt x="3697795" y="0"/>
                </a:lnTo>
                <a:lnTo>
                  <a:pt x="2047750" y="0"/>
                </a:lnTo>
                <a:lnTo>
                  <a:pt x="0" y="0"/>
                </a:lnTo>
                <a:lnTo>
                  <a:pt x="0" y="4197911"/>
                </a:lnTo>
                <a:lnTo>
                  <a:pt x="6838950" y="4197911"/>
                </a:lnTo>
                <a:close/>
              </a:path>
            </a:pathLst>
          </a:custGeom>
          <a:solidFill>
            <a:srgbClr val="76674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754" name="Rectangle 2">
            <a:extLst>
              <a:ext uri="{FF2B5EF4-FFF2-40B4-BE49-F238E27FC236}">
                <a16:creationId xmlns:a16="http://schemas.microsoft.com/office/drawing/2014/main" id="{484958C7-140E-774A-890C-642EAD0AA8A2}"/>
              </a:ext>
            </a:extLst>
          </p:cNvPr>
          <p:cNvSpPr>
            <a:spLocks noGrp="1" noChangeArrowheads="1"/>
          </p:cNvSpPr>
          <p:nvPr>
            <p:ph type="title"/>
          </p:nvPr>
        </p:nvSpPr>
        <p:spPr>
          <a:xfrm>
            <a:off x="10030346" y="5903796"/>
            <a:ext cx="7496031" cy="3245808"/>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vert="horz" lIns="91440" tIns="45720" rIns="91440" bIns="45720" rtlCol="0" anchor="t">
            <a:normAutofit/>
          </a:bodyPr>
          <a:lstStyle/>
          <a:p>
            <a:pPr algn="r">
              <a:lnSpc>
                <a:spcPct val="90000"/>
              </a:lnSpc>
              <a:defRPr/>
            </a:pPr>
            <a:r>
              <a:rPr lang="en-US" sz="5600" b="1" kern="1200" dirty="0">
                <a:solidFill>
                  <a:srgbClr val="FFFFFF"/>
                </a:solidFill>
                <a:latin typeface="+mj-lt"/>
                <a:ea typeface="+mj-ea"/>
                <a:cs typeface="+mj-cs"/>
              </a:rPr>
              <a:t>Photochemical chamber studies of coupled processes in real systems</a:t>
            </a:r>
          </a:p>
        </p:txBody>
      </p:sp>
      <p:pic>
        <p:nvPicPr>
          <p:cNvPr id="74756" name="Picture 4">
            <a:extLst>
              <a:ext uri="{FF2B5EF4-FFF2-40B4-BE49-F238E27FC236}">
                <a16:creationId xmlns:a16="http://schemas.microsoft.com/office/drawing/2014/main" id="{702680DE-02DA-B040-890A-02E22140D2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674" r="-2" b="-2"/>
          <a:stretch/>
        </p:blipFill>
        <p:spPr bwMode="auto">
          <a:xfrm>
            <a:off x="3392952" y="10"/>
            <a:ext cx="5090914" cy="3754254"/>
          </a:xfrm>
          <a:custGeom>
            <a:avLst/>
            <a:gdLst/>
            <a:ahLst/>
            <a:cxnLst/>
            <a:rect l="l" t="t" r="r" b="b"/>
            <a:pathLst>
              <a:path w="3393943" h="2502843">
                <a:moveTo>
                  <a:pt x="1159715" y="0"/>
                </a:moveTo>
                <a:lnTo>
                  <a:pt x="3393943" y="0"/>
                </a:lnTo>
                <a:lnTo>
                  <a:pt x="2234228" y="2502843"/>
                </a:lnTo>
                <a:lnTo>
                  <a:pt x="0" y="250284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nask.man.ac.uk\home$\Desktop\IMG_606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9038"/>
          <a:stretch/>
        </p:blipFill>
        <p:spPr bwMode="auto">
          <a:xfrm rot="5400000">
            <a:off x="4512285" y="900928"/>
            <a:ext cx="3499663" cy="432259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nerc faam&qu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5385" y="1301227"/>
            <a:ext cx="5336464" cy="35108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mbdxkame\Downloads\IMG_20161103_114705 (2).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3251" y="5040658"/>
            <a:ext cx="6127195" cy="459539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650" t="32978" r="59603" b="21017"/>
          <a:stretch/>
        </p:blipFill>
        <p:spPr bwMode="auto">
          <a:xfrm>
            <a:off x="12711704" y="5040658"/>
            <a:ext cx="4274588" cy="4595395"/>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2" name="Picture 4" descr="Setting up the equipm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4783" y="5110876"/>
            <a:ext cx="4983673" cy="4525177"/>
          </a:xfrm>
          <a:prstGeom prst="rect">
            <a:avLst/>
          </a:prstGeom>
          <a:noFill/>
          <a:extLst>
            <a:ext uri="{909E8E84-426E-40DD-AFC4-6F175D3DCCD1}">
              <a14:hiddenFill xmlns:a14="http://schemas.microsoft.com/office/drawing/2010/main">
                <a:solidFill>
                  <a:srgbClr val="FFFFFF"/>
                </a:solidFill>
              </a14:hiddenFill>
            </a:ext>
          </a:extLst>
        </p:spPr>
      </p:pic>
      <p:pic>
        <p:nvPicPr>
          <p:cNvPr id="30" name="Content Placeholder 6"/>
          <p:cNvPicPr>
            <a:picLocks noChangeAspect="1"/>
          </p:cNvPicPr>
          <p:nvPr/>
        </p:nvPicPr>
        <p:blipFill rotWithShape="1">
          <a:blip r:embed="rId8" cstate="print">
            <a:extLst>
              <a:ext uri="{28A0092B-C50C-407E-A947-70E740481C1C}">
                <a14:useLocalDpi xmlns:a14="http://schemas.microsoft.com/office/drawing/2010/main" val="0"/>
              </a:ext>
            </a:extLst>
          </a:blip>
          <a:srcRect l="5091" t="3447" r="5089" b="3437"/>
          <a:stretch/>
        </p:blipFill>
        <p:spPr>
          <a:xfrm>
            <a:off x="14063622" y="1273744"/>
            <a:ext cx="2922670" cy="3538314"/>
          </a:xfrm>
          <a:prstGeom prst="rect">
            <a:avLst/>
          </a:prstGeom>
        </p:spPr>
      </p:pic>
      <p:pic>
        <p:nvPicPr>
          <p:cNvPr id="2" name="Picture 2" descr="https://pubs.acs.org/na101/home/literatum/publisher/achs/journals/content/esthag/2017/esthag.2017.51.issue-5/acs.est.6b04947/20170301/images/large/es-2016-04947p_0002.jpeg">
            <a:extLst>
              <a:ext uri="{FF2B5EF4-FFF2-40B4-BE49-F238E27FC236}">
                <a16:creationId xmlns:a16="http://schemas.microsoft.com/office/drawing/2014/main" id="{9A51679F-29B0-CEFC-0BF1-998867E4255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04202" y="1507947"/>
            <a:ext cx="2914646" cy="3069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617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a:extLst>
              <a:ext uri="{FF2B5EF4-FFF2-40B4-BE49-F238E27FC236}">
                <a16:creationId xmlns:a16="http://schemas.microsoft.com/office/drawing/2014/main" id="{6948A494-0952-0CD9-2807-024045B6B4E4}"/>
              </a:ext>
            </a:extLst>
          </p:cNvPr>
          <p:cNvSpPr txBox="1"/>
          <p:nvPr/>
        </p:nvSpPr>
        <p:spPr>
          <a:xfrm>
            <a:off x="803652" y="1081000"/>
            <a:ext cx="15746987" cy="824841"/>
          </a:xfrm>
          <a:prstGeom prst="rect">
            <a:avLst/>
          </a:prstGeom>
        </p:spPr>
        <p:txBody>
          <a:bodyPr wrap="square"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4000" b="1" i="1" u="none" strike="noStrike" kern="1200" cap="none" spc="-412" normalizeH="0" baseline="0" noProof="0" dirty="0">
                <a:ln>
                  <a:noFill/>
                </a:ln>
                <a:solidFill>
                  <a:srgbClr val="46245A"/>
                </a:solidFill>
                <a:effectLst/>
                <a:uLnTx/>
                <a:uFillTx/>
                <a:latin typeface="DM Sans Bold"/>
                <a:ea typeface="+mn-ea"/>
                <a:cs typeface="+mn-cs"/>
              </a:rPr>
              <a:t>Collaborative airborne studies of emissions </a:t>
            </a:r>
          </a:p>
        </p:txBody>
      </p:sp>
      <p:sp>
        <p:nvSpPr>
          <p:cNvPr id="3" name="Freeform 13">
            <a:extLst>
              <a:ext uri="{FF2B5EF4-FFF2-40B4-BE49-F238E27FC236}">
                <a16:creationId xmlns:a16="http://schemas.microsoft.com/office/drawing/2014/main" id="{1E6AB5CB-9EAC-91FD-494C-A29C006BFF76}"/>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5" name="Picture 4" descr="A map of the world&#10;&#10;Description automatically generated">
            <a:extLst>
              <a:ext uri="{FF2B5EF4-FFF2-40B4-BE49-F238E27FC236}">
                <a16:creationId xmlns:a16="http://schemas.microsoft.com/office/drawing/2014/main" id="{3D14A87A-ACDC-A997-825D-8E12B376DF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652" y="2109040"/>
            <a:ext cx="16922642" cy="7300159"/>
          </a:xfrm>
          <a:prstGeom prst="rect">
            <a:avLst/>
          </a:prstGeom>
        </p:spPr>
      </p:pic>
      <p:sp>
        <p:nvSpPr>
          <p:cNvPr id="4" name="TextBox 3">
            <a:extLst>
              <a:ext uri="{FF2B5EF4-FFF2-40B4-BE49-F238E27FC236}">
                <a16:creationId xmlns:a16="http://schemas.microsoft.com/office/drawing/2014/main" id="{5B862F4F-1540-D9AC-25D2-D0F4D57A8B36}"/>
              </a:ext>
            </a:extLst>
          </p:cNvPr>
          <p:cNvSpPr txBox="1"/>
          <p:nvPr/>
        </p:nvSpPr>
        <p:spPr>
          <a:xfrm>
            <a:off x="15183103" y="9607245"/>
            <a:ext cx="3635392" cy="584775"/>
          </a:xfrm>
          <a:prstGeom prst="rect">
            <a:avLst/>
          </a:prstGeom>
          <a:noFill/>
        </p:spPr>
        <p:txBody>
          <a:bodyPr wrap="square" rtlCol="0">
            <a:spAutoFit/>
          </a:bodyPr>
          <a:lstStyle/>
          <a:p>
            <a:r>
              <a:rPr lang="en-US" sz="3200" b="1" dirty="0">
                <a:solidFill>
                  <a:srgbClr val="FF0000"/>
                </a:solidFill>
              </a:rPr>
              <a:t>WEEK 5 and 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5">
            <a:extLst>
              <a:ext uri="{FF2B5EF4-FFF2-40B4-BE49-F238E27FC236}">
                <a16:creationId xmlns:a16="http://schemas.microsoft.com/office/drawing/2014/main" id="{85922B1F-8C23-5C41-AAF4-1D7A6960DE21}"/>
              </a:ext>
            </a:extLst>
          </p:cNvPr>
          <p:cNvSpPr>
            <a:spLocks noChangeArrowheads="1"/>
          </p:cNvSpPr>
          <p:nvPr/>
        </p:nvSpPr>
        <p:spPr bwMode="auto">
          <a:xfrm>
            <a:off x="2286001" y="1355811"/>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700" dirty="0">
              <a:latin typeface="Calibri" panose="020F0502020204030204" pitchFamily="34" charset="0"/>
              <a:cs typeface="Calibri" panose="020F0502020204030204" pitchFamily="34" charset="0"/>
            </a:endParaRPr>
          </a:p>
        </p:txBody>
      </p:sp>
      <p:graphicFrame>
        <p:nvGraphicFramePr>
          <p:cNvPr id="10518" name="Group 278">
            <a:extLst>
              <a:ext uri="{FF2B5EF4-FFF2-40B4-BE49-F238E27FC236}">
                <a16:creationId xmlns:a16="http://schemas.microsoft.com/office/drawing/2014/main" id="{392E4D68-5274-8641-8731-2491F4F7E9F1}"/>
              </a:ext>
            </a:extLst>
          </p:cNvPr>
          <p:cNvGraphicFramePr>
            <a:graphicFrameLocks noGrp="1"/>
          </p:cNvGraphicFramePr>
          <p:nvPr/>
        </p:nvGraphicFramePr>
        <p:xfrm>
          <a:off x="9968490" y="2027562"/>
          <a:ext cx="4585710" cy="7571787"/>
        </p:xfrm>
        <a:graphic>
          <a:graphicData uri="http://schemas.openxmlformats.org/drawingml/2006/table">
            <a:tbl>
              <a:tblPr/>
              <a:tblGrid>
                <a:gridCol w="2292855">
                  <a:extLst>
                    <a:ext uri="{9D8B030D-6E8A-4147-A177-3AD203B41FA5}">
                      <a16:colId xmlns:a16="http://schemas.microsoft.com/office/drawing/2014/main" val="3335088701"/>
                    </a:ext>
                  </a:extLst>
                </a:gridCol>
                <a:gridCol w="2292855">
                  <a:extLst>
                    <a:ext uri="{9D8B030D-6E8A-4147-A177-3AD203B41FA5}">
                      <a16:colId xmlns:a16="http://schemas.microsoft.com/office/drawing/2014/main" val="1769311853"/>
                    </a:ext>
                  </a:extLst>
                </a:gridCol>
              </a:tblGrid>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Constituent</a:t>
                      </a:r>
                    </a:p>
                  </a:txBody>
                  <a:tcPr marL="137160" marR="137160" marT="68580" marB="6858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Mole Fraction</a:t>
                      </a:r>
                    </a:p>
                  </a:txBody>
                  <a:tcPr marL="137160" marR="137160" marT="68580" marB="6858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9135826"/>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N</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0.781</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0669105"/>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O</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0.209</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3079260"/>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err="1">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Ar</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0.0093</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8188300"/>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CO</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0.0004</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7106029"/>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H</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O</a:t>
                      </a: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 – 0.04</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4369395"/>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CH</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4</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1700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46330"/>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H</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550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7228949"/>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N</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O</a:t>
                      </a: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320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34973851"/>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CO</a:t>
                      </a: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40 – 200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596478"/>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O</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3</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20 – 80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9188933"/>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C</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H</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6</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1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23024451"/>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SO</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0.1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84086"/>
                  </a:ext>
                </a:extLst>
              </a:tr>
              <a:tr h="455560">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Kr</a:t>
                      </a: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1.1 ppm</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8680970"/>
                  </a:ext>
                </a:extLst>
              </a:tr>
              <a:tr h="530907">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NO</a:t>
                      </a:r>
                      <a:r>
                        <a:rPr kumimoji="0" lang="en-GB" altLang="en-US" sz="2400" b="0" i="0" u="none" strike="noStrike" cap="none" normalizeH="0" baseline="-3000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a:t>
                      </a:r>
                      <a:endPar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endParaRPr>
                    </a:p>
                  </a:txBody>
                  <a:tcPr marL="137160" marR="137160" marT="68580" marB="6858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Calibri" panose="020F0502020204030204" pitchFamily="34" charset="0"/>
                          <a:ea typeface="ＭＳ Ｐゴシック" panose="020B0600070205080204" pitchFamily="34" charset="-128"/>
                          <a:cs typeface="Calibri" panose="020F0502020204030204" pitchFamily="34" charset="0"/>
                        </a:rPr>
                        <a:t>20 ppb</a:t>
                      </a:r>
                    </a:p>
                  </a:txBody>
                  <a:tcPr marL="137160" marR="137160" marT="68580" marB="6858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2464191"/>
                  </a:ext>
                </a:extLst>
              </a:tr>
            </a:tbl>
          </a:graphicData>
        </a:graphic>
      </p:graphicFrame>
      <p:sp>
        <p:nvSpPr>
          <p:cNvPr id="2" name="Freeform 13">
            <a:extLst>
              <a:ext uri="{FF2B5EF4-FFF2-40B4-BE49-F238E27FC236}">
                <a16:creationId xmlns:a16="http://schemas.microsoft.com/office/drawing/2014/main" id="{04732CDA-006F-F783-9A7E-1F47ECDE596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4" name="Content Placeholder 4" descr="A diagram of a global warming&#10;&#10;Description automatically generated">
            <a:extLst>
              <a:ext uri="{FF2B5EF4-FFF2-40B4-BE49-F238E27FC236}">
                <a16:creationId xmlns:a16="http://schemas.microsoft.com/office/drawing/2014/main" id="{22C8441C-5CE0-EA64-3DFA-3C19A0E862C3}"/>
              </a:ext>
            </a:extLst>
          </p:cNvPr>
          <p:cNvPicPr>
            <a:picLocks noChangeAspect="1"/>
          </p:cNvPicPr>
          <p:nvPr/>
        </p:nvPicPr>
        <p:blipFill rotWithShape="1">
          <a:blip r:embed="rId4"/>
          <a:srcRect r="42194"/>
          <a:stretch/>
        </p:blipFill>
        <p:spPr>
          <a:xfrm>
            <a:off x="1046675" y="2280620"/>
            <a:ext cx="8125383" cy="6956738"/>
          </a:xfrm>
          <a:prstGeom prst="rect">
            <a:avLst/>
          </a:prstGeom>
        </p:spPr>
      </p:pic>
      <p:sp>
        <p:nvSpPr>
          <p:cNvPr id="5" name="TextBox 14">
            <a:extLst>
              <a:ext uri="{FF2B5EF4-FFF2-40B4-BE49-F238E27FC236}">
                <a16:creationId xmlns:a16="http://schemas.microsoft.com/office/drawing/2014/main" id="{70C6AC22-C208-732C-5A49-0D6D8622E89E}"/>
              </a:ext>
            </a:extLst>
          </p:cNvPr>
          <p:cNvSpPr txBox="1"/>
          <p:nvPr/>
        </p:nvSpPr>
        <p:spPr>
          <a:xfrm>
            <a:off x="803652" y="1081000"/>
            <a:ext cx="9856327" cy="839525"/>
          </a:xfrm>
          <a:prstGeom prst="rect">
            <a:avLst/>
          </a:prstGeom>
        </p:spPr>
        <p:txBody>
          <a:bodyPr wrap="square" lIns="0" tIns="0" rIns="0" bIns="0" rtlCol="0" anchor="t">
            <a:spAutoFit/>
          </a:bodyPr>
          <a:lstStyle/>
          <a:p>
            <a:pPr>
              <a:lnSpc>
                <a:spcPts val="6859"/>
              </a:lnSpc>
              <a:defRPr/>
            </a:pPr>
            <a:r>
              <a:rPr kumimoji="0" lang="en-US" sz="4800" b="1" i="1" u="none" strike="noStrike" kern="1200" cap="none" spc="-412" normalizeH="0" baseline="0" noProof="0" dirty="0">
                <a:ln>
                  <a:noFill/>
                </a:ln>
                <a:solidFill>
                  <a:srgbClr val="46245A"/>
                </a:solidFill>
                <a:effectLst/>
                <a:uLnTx/>
                <a:uFillTx/>
                <a:latin typeface="DM Sans Bold"/>
                <a:ea typeface="+mn-ea"/>
                <a:cs typeface="+mn-cs"/>
              </a:rPr>
              <a:t>Atmospheric Composition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E98A-9843-18DB-D019-FB52F0A1820E}"/>
            </a:ext>
          </a:extLst>
        </p:cNvPr>
        <p:cNvGrpSpPr/>
        <p:nvPr/>
      </p:nvGrpSpPr>
      <p:grpSpPr>
        <a:xfrm>
          <a:off x="0" y="0"/>
          <a:ext cx="0" cy="0"/>
          <a:chOff x="0" y="0"/>
          <a:chExt cx="0" cy="0"/>
        </a:xfrm>
      </p:grpSpPr>
      <p:sp>
        <p:nvSpPr>
          <p:cNvPr id="4" name="Freeform 13">
            <a:extLst>
              <a:ext uri="{FF2B5EF4-FFF2-40B4-BE49-F238E27FC236}">
                <a16:creationId xmlns:a16="http://schemas.microsoft.com/office/drawing/2014/main" id="{D5ED6A8A-F967-134C-CDCB-146669F69F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8" name="Picture 7" descr="A diagram of different types of gases&#10;&#10;Description automatically generated">
            <a:extLst>
              <a:ext uri="{FF2B5EF4-FFF2-40B4-BE49-F238E27FC236}">
                <a16:creationId xmlns:a16="http://schemas.microsoft.com/office/drawing/2014/main" id="{A6ECCA7C-B975-BAD9-5C92-8CD340EB8DEB}"/>
              </a:ext>
            </a:extLst>
          </p:cNvPr>
          <p:cNvPicPr>
            <a:picLocks noChangeAspect="1"/>
          </p:cNvPicPr>
          <p:nvPr/>
        </p:nvPicPr>
        <p:blipFill>
          <a:blip r:embed="rId4">
            <a:extLst>
              <a:ext uri="{28A0092B-C50C-407E-A947-70E740481C1C}">
                <a14:useLocalDpi xmlns:a14="http://schemas.microsoft.com/office/drawing/2010/main" val="0"/>
              </a:ext>
            </a:extLst>
          </a:blip>
          <a:srcRect l="2132" t="8492" r="936" b="1230"/>
          <a:stretch/>
        </p:blipFill>
        <p:spPr>
          <a:xfrm>
            <a:off x="649358" y="2160103"/>
            <a:ext cx="12841356" cy="7321317"/>
          </a:xfrm>
          <a:prstGeom prst="rect">
            <a:avLst/>
          </a:prstGeom>
        </p:spPr>
      </p:pic>
      <p:sp>
        <p:nvSpPr>
          <p:cNvPr id="9" name="TextBox 14">
            <a:extLst>
              <a:ext uri="{FF2B5EF4-FFF2-40B4-BE49-F238E27FC236}">
                <a16:creationId xmlns:a16="http://schemas.microsoft.com/office/drawing/2014/main" id="{3E4B7584-69D1-C4DE-E8C1-45B9A06851AD}"/>
              </a:ext>
            </a:extLst>
          </p:cNvPr>
          <p:cNvSpPr txBox="1"/>
          <p:nvPr/>
        </p:nvSpPr>
        <p:spPr>
          <a:xfrm>
            <a:off x="803652" y="1081000"/>
            <a:ext cx="9856327" cy="839525"/>
          </a:xfrm>
          <a:prstGeom prst="rect">
            <a:avLst/>
          </a:prstGeom>
        </p:spPr>
        <p:txBody>
          <a:bodyPr wrap="square" lIns="0" tIns="0" rIns="0" bIns="0" rtlCol="0" anchor="t">
            <a:spAutoFit/>
          </a:bodyPr>
          <a:lstStyle/>
          <a:p>
            <a:pPr>
              <a:lnSpc>
                <a:spcPts val="6859"/>
              </a:lnSpc>
              <a:defRPr/>
            </a:pPr>
            <a:r>
              <a:rPr kumimoji="0" lang="en-US" sz="4800" b="1" i="1" u="none" strike="noStrike" kern="1200" cap="none" spc="-412" normalizeH="0" baseline="0" noProof="0" dirty="0">
                <a:ln>
                  <a:noFill/>
                </a:ln>
                <a:solidFill>
                  <a:srgbClr val="46245A"/>
                </a:solidFill>
                <a:effectLst/>
                <a:uLnTx/>
                <a:uFillTx/>
                <a:latin typeface="DM Sans Bold"/>
                <a:ea typeface="+mn-ea"/>
                <a:cs typeface="+mn-cs"/>
              </a:rPr>
              <a:t>Atmospheric Composition</a:t>
            </a:r>
          </a:p>
        </p:txBody>
      </p:sp>
    </p:spTree>
    <p:extLst>
      <p:ext uri="{BB962C8B-B14F-4D97-AF65-F5344CB8AC3E}">
        <p14:creationId xmlns:p14="http://schemas.microsoft.com/office/powerpoint/2010/main" val="2014090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ean air for Wales">
            <a:extLst>
              <a:ext uri="{FF2B5EF4-FFF2-40B4-BE49-F238E27FC236}">
                <a16:creationId xmlns:a16="http://schemas.microsoft.com/office/drawing/2014/main" id="{BA356A0F-A58D-EED7-1E77-69B8861882C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2083513" y="775285"/>
            <a:ext cx="6210300" cy="95117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6">
            <a:extLst>
              <a:ext uri="{FF2B5EF4-FFF2-40B4-BE49-F238E27FC236}">
                <a16:creationId xmlns:a16="http://schemas.microsoft.com/office/drawing/2014/main" id="{C6CBD02A-6E79-D9C0-6B13-105D0BAC0DBC}"/>
              </a:ext>
            </a:extLst>
          </p:cNvPr>
          <p:cNvSpPr txBox="1"/>
          <p:nvPr/>
        </p:nvSpPr>
        <p:spPr>
          <a:xfrm>
            <a:off x="1110902" y="2641587"/>
            <a:ext cx="9337739" cy="6632970"/>
          </a:xfrm>
          <a:prstGeom prst="rect">
            <a:avLst/>
          </a:prstGeom>
        </p:spPr>
        <p:txBody>
          <a:bodyPr wrap="square" lIns="0" tIns="0" rIns="0" bIns="0" rtlCol="0" anchor="t">
            <a:spAutoFit/>
          </a:bodyPr>
          <a:lstStyle/>
          <a:p>
            <a:pPr>
              <a:spcAft>
                <a:spcPts val="600"/>
              </a:spcAft>
            </a:pPr>
            <a:r>
              <a:rPr lang="en-GB" sz="2000" b="1" dirty="0">
                <a:solidFill>
                  <a:schemeClr val="tx1">
                    <a:lumMod val="85000"/>
                    <a:lumOff val="15000"/>
                  </a:schemeClr>
                </a:solidFill>
                <a:latin typeface="DM Sans" pitchFamily="2" charset="0"/>
                <a:ea typeface="+mn-lt"/>
                <a:cs typeface="+mn-lt"/>
              </a:rPr>
              <a:t>Units:</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For Particulates (e.g., PM): </a:t>
            </a:r>
            <a:r>
              <a:rPr lang="en-GB" sz="2000" dirty="0">
                <a:solidFill>
                  <a:schemeClr val="tx1">
                    <a:lumMod val="85000"/>
                    <a:lumOff val="15000"/>
                  </a:schemeClr>
                </a:solidFill>
                <a:latin typeface="DM Sans" pitchFamily="2" charset="0"/>
                <a:ea typeface="+mn-lt"/>
                <a:cs typeface="+mn-lt"/>
              </a:rPr>
              <a:t>Micrograms per Cubic Meter (µg/m³).</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For Gases: </a:t>
            </a:r>
            <a:r>
              <a:rPr lang="en-GB" sz="2000" dirty="0">
                <a:solidFill>
                  <a:schemeClr val="tx1">
                    <a:lumMod val="85000"/>
                    <a:lumOff val="15000"/>
                  </a:schemeClr>
                </a:solidFill>
                <a:latin typeface="DM Sans" pitchFamily="2" charset="0"/>
                <a:ea typeface="+mn-lt"/>
                <a:cs typeface="+mn-lt"/>
              </a:rPr>
              <a:t>Parts per Million (ppm), Parts per Billion (ppb), Parts per Trillion (ppt).</a:t>
            </a:r>
          </a:p>
          <a:p>
            <a:pPr>
              <a:spcAft>
                <a:spcPts val="600"/>
              </a:spcAft>
            </a:pPr>
            <a:r>
              <a:rPr lang="en-GB" sz="2000" b="1" dirty="0">
                <a:solidFill>
                  <a:schemeClr val="tx1">
                    <a:lumMod val="85000"/>
                    <a:lumOff val="15000"/>
                  </a:schemeClr>
                </a:solidFill>
                <a:latin typeface="DM Sans" pitchFamily="2" charset="0"/>
                <a:ea typeface="+mn-lt"/>
                <a:cs typeface="+mn-lt"/>
              </a:rPr>
              <a:t>Explanation:</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Micrograms per Cubic Meter (µg/m³): </a:t>
            </a:r>
            <a:r>
              <a:rPr lang="en-GB" sz="2000" dirty="0">
                <a:solidFill>
                  <a:schemeClr val="tx1">
                    <a:lumMod val="85000"/>
                    <a:lumOff val="15000"/>
                  </a:schemeClr>
                </a:solidFill>
                <a:latin typeface="DM Sans" pitchFamily="2" charset="0"/>
                <a:ea typeface="+mn-lt"/>
                <a:cs typeface="+mn-lt"/>
              </a:rPr>
              <a:t>Measures the mass of particulate pollutants in micrograms (one-millionth of a gram) per cubic meter of air. For example, a concentration of 43 µg/m³ signifies the presence of 43 micrograms of a pollutant in each cubic meter of air.</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Parts per Million (ppm): </a:t>
            </a:r>
            <a:r>
              <a:rPr lang="en-GB" sz="2000" dirty="0">
                <a:solidFill>
                  <a:schemeClr val="tx1">
                    <a:lumMod val="85000"/>
                    <a:lumOff val="15000"/>
                  </a:schemeClr>
                </a:solidFill>
                <a:latin typeface="DM Sans" pitchFamily="2" charset="0"/>
                <a:ea typeface="+mn-lt"/>
                <a:cs typeface="+mn-lt"/>
              </a:rPr>
              <a:t>Indicates the number of units of mass of a gaseous pollutant per one million units of the total mass of the air.</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Parts per Billion (ppb): </a:t>
            </a:r>
            <a:r>
              <a:rPr lang="en-GB" sz="2000" dirty="0">
                <a:solidFill>
                  <a:schemeClr val="tx1">
                    <a:lumMod val="85000"/>
                    <a:lumOff val="15000"/>
                  </a:schemeClr>
                </a:solidFill>
                <a:latin typeface="DM Sans" pitchFamily="2" charset="0"/>
                <a:ea typeface="+mn-lt"/>
                <a:cs typeface="+mn-lt"/>
              </a:rPr>
              <a:t>Represents the number of units of mass of a pollutant per one billion units of the total mass of the air.</a:t>
            </a:r>
          </a:p>
          <a:p>
            <a:pPr marL="342917" indent="-342917">
              <a:spcAft>
                <a:spcPts val="600"/>
              </a:spcAft>
              <a:buFont typeface="DM Sans" panose="020B0604020202020204" pitchFamily="34" charset="0"/>
              <a:buChar char="•"/>
            </a:pPr>
            <a:r>
              <a:rPr lang="en-GB" sz="2000" b="1" dirty="0">
                <a:solidFill>
                  <a:schemeClr val="tx1">
                    <a:lumMod val="85000"/>
                    <a:lumOff val="15000"/>
                  </a:schemeClr>
                </a:solidFill>
                <a:latin typeface="DM Sans" pitchFamily="2" charset="0"/>
                <a:ea typeface="+mn-lt"/>
                <a:cs typeface="+mn-lt"/>
              </a:rPr>
              <a:t>Parts per Trillion (ppt): </a:t>
            </a:r>
            <a:r>
              <a:rPr lang="en-GB" sz="2000" dirty="0">
                <a:solidFill>
                  <a:schemeClr val="tx1">
                    <a:lumMod val="85000"/>
                    <a:lumOff val="15000"/>
                  </a:schemeClr>
                </a:solidFill>
                <a:latin typeface="DM Sans" pitchFamily="2" charset="0"/>
                <a:ea typeface="+mn-lt"/>
                <a:cs typeface="+mn-lt"/>
              </a:rPr>
              <a:t>Denotes the number of units of mass of a pollutant per one trillion units of the total mass of the air.</a:t>
            </a:r>
          </a:p>
          <a:p>
            <a:pPr>
              <a:spcAft>
                <a:spcPts val="600"/>
              </a:spcAft>
            </a:pPr>
            <a:endParaRPr lang="en-GB" sz="2000" dirty="0">
              <a:solidFill>
                <a:schemeClr val="tx1">
                  <a:lumMod val="85000"/>
                  <a:lumOff val="15000"/>
                </a:schemeClr>
              </a:solidFill>
              <a:latin typeface="DM Sans" pitchFamily="2" charset="0"/>
              <a:ea typeface="+mn-lt"/>
              <a:cs typeface="+mn-lt"/>
            </a:endParaRPr>
          </a:p>
          <a:p>
            <a:pPr>
              <a:spcAft>
                <a:spcPts val="600"/>
              </a:spcAft>
            </a:pPr>
            <a:r>
              <a:rPr lang="en-GB" sz="2201" b="1" dirty="0">
                <a:solidFill>
                  <a:srgbClr val="46245A"/>
                </a:solidFill>
                <a:latin typeface="DM Sans" pitchFamily="2" charset="0"/>
                <a:ea typeface="+mn-lt"/>
                <a:cs typeface="+mn-lt"/>
              </a:rPr>
              <a:t>Understanding these concentration units is vital for evaluating air quality, monitoring pollutant levels, and assessing the environmental and health impacts of pollutants within the atmosphere.</a:t>
            </a:r>
          </a:p>
        </p:txBody>
      </p:sp>
      <p:sp>
        <p:nvSpPr>
          <p:cNvPr id="2" name="Freeform 13">
            <a:extLst>
              <a:ext uri="{FF2B5EF4-FFF2-40B4-BE49-F238E27FC236}">
                <a16:creationId xmlns:a16="http://schemas.microsoft.com/office/drawing/2014/main" id="{657AA14F-BC70-877E-F0B7-E59085DB01A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155D0930-6108-CE7A-515C-3C2B6A033E5E}"/>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Understanding Units</a:t>
            </a:r>
          </a:p>
        </p:txBody>
      </p:sp>
    </p:spTree>
    <p:extLst>
      <p:ext uri="{BB962C8B-B14F-4D97-AF65-F5344CB8AC3E}">
        <p14:creationId xmlns:p14="http://schemas.microsoft.com/office/powerpoint/2010/main" val="2215846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126283-7B55-408D-B7F4-A15DDB83603F}"/>
              </a:ext>
            </a:extLst>
          </p:cNvPr>
          <p:cNvPicPr>
            <a:picLocks noChangeAspect="1"/>
          </p:cNvPicPr>
          <p:nvPr/>
        </p:nvPicPr>
        <p:blipFill>
          <a:blip r:embed="rId3"/>
          <a:stretch>
            <a:fillRect/>
          </a:stretch>
        </p:blipFill>
        <p:spPr>
          <a:xfrm>
            <a:off x="654328" y="2179389"/>
            <a:ext cx="9934159" cy="3678766"/>
          </a:xfrm>
          <a:prstGeom prst="rect">
            <a:avLst/>
          </a:prstGeom>
        </p:spPr>
      </p:pic>
      <p:pic>
        <p:nvPicPr>
          <p:cNvPr id="10" name="Picture 9">
            <a:extLst>
              <a:ext uri="{FF2B5EF4-FFF2-40B4-BE49-F238E27FC236}">
                <a16:creationId xmlns:a16="http://schemas.microsoft.com/office/drawing/2014/main" id="{297E1BCB-57BB-4580-B3B0-5BA2BBAAAFDB}"/>
              </a:ext>
            </a:extLst>
          </p:cNvPr>
          <p:cNvPicPr>
            <a:picLocks noChangeAspect="1"/>
          </p:cNvPicPr>
          <p:nvPr/>
        </p:nvPicPr>
        <p:blipFill>
          <a:blip r:embed="rId4"/>
          <a:stretch>
            <a:fillRect/>
          </a:stretch>
        </p:blipFill>
        <p:spPr>
          <a:xfrm>
            <a:off x="835632" y="5858155"/>
            <a:ext cx="7776131" cy="3921015"/>
          </a:xfrm>
          <a:prstGeom prst="rect">
            <a:avLst/>
          </a:prstGeom>
        </p:spPr>
      </p:pic>
      <p:sp>
        <p:nvSpPr>
          <p:cNvPr id="5" name="TextBox 4">
            <a:extLst>
              <a:ext uri="{FF2B5EF4-FFF2-40B4-BE49-F238E27FC236}">
                <a16:creationId xmlns:a16="http://schemas.microsoft.com/office/drawing/2014/main" id="{E73A3C02-7200-4AB2-AC6B-A4A2EFA5B94B}"/>
              </a:ext>
            </a:extLst>
          </p:cNvPr>
          <p:cNvSpPr txBox="1"/>
          <p:nvPr/>
        </p:nvSpPr>
        <p:spPr>
          <a:xfrm>
            <a:off x="13162879" y="9779170"/>
            <a:ext cx="5125121" cy="461665"/>
          </a:xfrm>
          <a:prstGeom prst="rect">
            <a:avLst/>
          </a:prstGeom>
          <a:noFill/>
        </p:spPr>
        <p:txBody>
          <a:bodyPr wrap="none" rtlCol="0">
            <a:spAutoFit/>
          </a:bodyPr>
          <a:lstStyle/>
          <a:p>
            <a:r>
              <a:rPr lang="en-GB" sz="2400" dirty="0"/>
              <a:t>Figure SPM.1, AR5 Synthesis Report</a:t>
            </a:r>
          </a:p>
        </p:txBody>
      </p:sp>
      <p:sp>
        <p:nvSpPr>
          <p:cNvPr id="2" name="Freeform 13">
            <a:extLst>
              <a:ext uri="{FF2B5EF4-FFF2-40B4-BE49-F238E27FC236}">
                <a16:creationId xmlns:a16="http://schemas.microsoft.com/office/drawing/2014/main" id="{A7D6430B-35EB-D196-2A22-9383B17E6416}"/>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446CAE2F-2422-ECCE-EF26-825D0F6869AC}"/>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Anthropogenic Climate Change</a:t>
            </a:r>
          </a:p>
        </p:txBody>
      </p:sp>
      <p:sp>
        <p:nvSpPr>
          <p:cNvPr id="4" name="TextBox 3">
            <a:extLst>
              <a:ext uri="{FF2B5EF4-FFF2-40B4-BE49-F238E27FC236}">
                <a16:creationId xmlns:a16="http://schemas.microsoft.com/office/drawing/2014/main" id="{75D1D6D9-70FD-5B79-5F6E-065BB5F9294E}"/>
              </a:ext>
            </a:extLst>
          </p:cNvPr>
          <p:cNvSpPr txBox="1"/>
          <p:nvPr/>
        </p:nvSpPr>
        <p:spPr>
          <a:xfrm>
            <a:off x="16312457" y="9194395"/>
            <a:ext cx="3635392" cy="584775"/>
          </a:xfrm>
          <a:prstGeom prst="rect">
            <a:avLst/>
          </a:prstGeom>
          <a:noFill/>
        </p:spPr>
        <p:txBody>
          <a:bodyPr wrap="square" rtlCol="0">
            <a:spAutoFit/>
          </a:bodyPr>
          <a:lstStyle/>
          <a:p>
            <a:r>
              <a:rPr lang="en-US" sz="3200" b="1" dirty="0">
                <a:solidFill>
                  <a:srgbClr val="FF0000"/>
                </a:solidFill>
              </a:rPr>
              <a:t>WEEK 4</a:t>
            </a:r>
          </a:p>
        </p:txBody>
      </p:sp>
    </p:spTree>
    <p:extLst>
      <p:ext uri="{BB962C8B-B14F-4D97-AF65-F5344CB8AC3E}">
        <p14:creationId xmlns:p14="http://schemas.microsoft.com/office/powerpoint/2010/main" val="177611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6CEB-11FD-7F1F-8192-A46B2D96860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7828771-3858-AE7F-29D3-1BC9BFBBF389}"/>
              </a:ext>
            </a:extLst>
          </p:cNvPr>
          <p:cNvPicPr>
            <a:picLocks noChangeAspect="1"/>
          </p:cNvPicPr>
          <p:nvPr/>
        </p:nvPicPr>
        <p:blipFill>
          <a:blip r:embed="rId3"/>
          <a:stretch>
            <a:fillRect/>
          </a:stretch>
        </p:blipFill>
        <p:spPr>
          <a:xfrm>
            <a:off x="654328" y="2179389"/>
            <a:ext cx="9934159" cy="3678766"/>
          </a:xfrm>
          <a:prstGeom prst="rect">
            <a:avLst/>
          </a:prstGeom>
        </p:spPr>
      </p:pic>
      <p:sp>
        <p:nvSpPr>
          <p:cNvPr id="5" name="TextBox 4">
            <a:extLst>
              <a:ext uri="{FF2B5EF4-FFF2-40B4-BE49-F238E27FC236}">
                <a16:creationId xmlns:a16="http://schemas.microsoft.com/office/drawing/2014/main" id="{505D6691-C5A7-1B57-FA4A-485ACA188A62}"/>
              </a:ext>
            </a:extLst>
          </p:cNvPr>
          <p:cNvSpPr txBox="1"/>
          <p:nvPr/>
        </p:nvSpPr>
        <p:spPr>
          <a:xfrm>
            <a:off x="13162879" y="9787500"/>
            <a:ext cx="5125121" cy="461665"/>
          </a:xfrm>
          <a:prstGeom prst="rect">
            <a:avLst/>
          </a:prstGeom>
          <a:noFill/>
        </p:spPr>
        <p:txBody>
          <a:bodyPr wrap="none" rtlCol="0">
            <a:spAutoFit/>
          </a:bodyPr>
          <a:lstStyle/>
          <a:p>
            <a:r>
              <a:rPr lang="en-GB" sz="2400" dirty="0"/>
              <a:t>Figure SPM.1, AR5 Synthesis Report</a:t>
            </a:r>
          </a:p>
        </p:txBody>
      </p:sp>
      <p:sp>
        <p:nvSpPr>
          <p:cNvPr id="2" name="Freeform 13">
            <a:extLst>
              <a:ext uri="{FF2B5EF4-FFF2-40B4-BE49-F238E27FC236}">
                <a16:creationId xmlns:a16="http://schemas.microsoft.com/office/drawing/2014/main" id="{CB1CEB16-C117-0DE0-735D-D1331B8596D0}"/>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D9003549-0E12-A1B6-9C91-602443309B98}"/>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Anthropogenic Climate Change</a:t>
            </a:r>
          </a:p>
        </p:txBody>
      </p:sp>
      <p:pic>
        <p:nvPicPr>
          <p:cNvPr id="4" name="Picture 3">
            <a:extLst>
              <a:ext uri="{FF2B5EF4-FFF2-40B4-BE49-F238E27FC236}">
                <a16:creationId xmlns:a16="http://schemas.microsoft.com/office/drawing/2014/main" id="{387A1BE5-D2C1-7F41-3C7F-EE7DEA57A46A}"/>
              </a:ext>
            </a:extLst>
          </p:cNvPr>
          <p:cNvPicPr>
            <a:picLocks noChangeAspect="1"/>
          </p:cNvPicPr>
          <p:nvPr/>
        </p:nvPicPr>
        <p:blipFill>
          <a:blip r:embed="rId5"/>
          <a:stretch>
            <a:fillRect/>
          </a:stretch>
        </p:blipFill>
        <p:spPr>
          <a:xfrm>
            <a:off x="331509" y="5869611"/>
            <a:ext cx="8812492" cy="3849825"/>
          </a:xfrm>
          <a:prstGeom prst="rect">
            <a:avLst/>
          </a:prstGeom>
        </p:spPr>
      </p:pic>
    </p:spTree>
    <p:extLst>
      <p:ext uri="{BB962C8B-B14F-4D97-AF65-F5344CB8AC3E}">
        <p14:creationId xmlns:p14="http://schemas.microsoft.com/office/powerpoint/2010/main" val="2859972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4152-F415-8E3B-6ADF-DD8618C777D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FB1128FF-E65A-E17D-9CDF-E369ADE02805}"/>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TextBox 2">
            <a:extLst>
              <a:ext uri="{FF2B5EF4-FFF2-40B4-BE49-F238E27FC236}">
                <a16:creationId xmlns:a16="http://schemas.microsoft.com/office/drawing/2014/main" id="{6F50DC2E-E2BF-2CCD-E45A-DC67A60EB452}"/>
              </a:ext>
            </a:extLst>
          </p:cNvPr>
          <p:cNvSpPr txBox="1"/>
          <p:nvPr/>
        </p:nvSpPr>
        <p:spPr>
          <a:xfrm>
            <a:off x="817428" y="2250048"/>
            <a:ext cx="9239251" cy="7478970"/>
          </a:xfrm>
          <a:prstGeom prst="rect">
            <a:avLst/>
          </a:prstGeom>
          <a:noFill/>
        </p:spPr>
        <p:txBody>
          <a:bodyPr wrap="square">
            <a:spAutoFit/>
          </a:bodyPr>
          <a:lstStyle/>
          <a:p>
            <a:pPr eaLnBrk="1" hangingPunct="1">
              <a:spcBef>
                <a:spcPct val="0"/>
              </a:spcBef>
            </a:pPr>
            <a:endParaRPr lang="en-US" altLang="en-US" sz="2800" dirty="0">
              <a:latin typeface="Calibri" panose="020F0502020204030204" pitchFamily="34" charset="0"/>
              <a:cs typeface="Calibri" panose="020F0502020204030204" pitchFamily="34" charset="0"/>
            </a:endParaRPr>
          </a:p>
          <a:p>
            <a:pPr eaLnBrk="1" hangingPunct="1">
              <a:spcBef>
                <a:spcPct val="50000"/>
              </a:spcBef>
            </a:pPr>
            <a:r>
              <a:rPr lang="en-US" altLang="en-US" sz="2800" dirty="0">
                <a:latin typeface="Calibri" panose="020F0502020204030204" pitchFamily="34" charset="0"/>
                <a:cs typeface="Calibri" panose="020F0502020204030204" pitchFamily="34" charset="0"/>
              </a:rPr>
              <a:t>The following protocol is typical.</a:t>
            </a:r>
          </a:p>
          <a:p>
            <a:pPr eaLnBrk="1" hangingPunct="1">
              <a:spcBef>
                <a:spcPct val="50000"/>
              </a:spcBef>
            </a:pPr>
            <a:r>
              <a:rPr lang="en-US" altLang="en-US" sz="2800" dirty="0">
                <a:latin typeface="Calibri" panose="020F0502020204030204" pitchFamily="34" charset="0"/>
                <a:cs typeface="Calibri" panose="020F0502020204030204" pitchFamily="34" charset="0"/>
              </a:rPr>
              <a:t>1. A GCM model is run for many decades with no external forcing</a:t>
            </a:r>
          </a:p>
          <a:p>
            <a:pPr eaLnBrk="1" hangingPunct="1">
              <a:spcBef>
                <a:spcPct val="50000"/>
              </a:spcBef>
            </a:pPr>
            <a:r>
              <a:rPr lang="en-US" altLang="en-US" sz="2800" dirty="0">
                <a:latin typeface="Calibri" panose="020F0502020204030204" pitchFamily="34" charset="0"/>
                <a:cs typeface="Calibri" panose="020F0502020204030204" pitchFamily="34" charset="0"/>
              </a:rPr>
              <a:t>2. The statistics of the run (mean climate, annual cycles and variability on a range of time scales) are then compared with observation to assess performance.</a:t>
            </a:r>
          </a:p>
          <a:p>
            <a:pPr eaLnBrk="1" hangingPunct="1">
              <a:spcBef>
                <a:spcPct val="50000"/>
              </a:spcBef>
            </a:pPr>
            <a:endParaRPr lang="en-US" altLang="en-US" sz="2800" dirty="0">
              <a:latin typeface="Calibri" panose="020F0502020204030204" pitchFamily="34" charset="0"/>
              <a:cs typeface="Calibri" panose="020F0502020204030204" pitchFamily="34" charset="0"/>
            </a:endParaRPr>
          </a:p>
          <a:p>
            <a:pPr eaLnBrk="1" hangingPunct="1">
              <a:spcBef>
                <a:spcPct val="50000"/>
              </a:spcBef>
            </a:pPr>
            <a:endParaRPr lang="en-US" altLang="en-US" sz="2800" dirty="0">
              <a:latin typeface="Calibri" panose="020F0502020204030204" pitchFamily="34" charset="0"/>
              <a:cs typeface="Calibri" panose="020F0502020204030204" pitchFamily="34" charset="0"/>
            </a:endParaRPr>
          </a:p>
          <a:p>
            <a:pPr eaLnBrk="1" hangingPunct="1">
              <a:spcBef>
                <a:spcPct val="50000"/>
              </a:spcBef>
            </a:pPr>
            <a:r>
              <a:rPr lang="en-US" altLang="en-US" sz="2800" dirty="0">
                <a:latin typeface="Calibri" panose="020F0502020204030204" pitchFamily="34" charset="0"/>
                <a:cs typeface="Calibri" panose="020F0502020204030204" pitchFamily="34" charset="0"/>
              </a:rPr>
              <a:t>3. The model is then re-run with changes in forcing (such as greenhouse radiative forcing).</a:t>
            </a:r>
          </a:p>
          <a:p>
            <a:pPr eaLnBrk="1" hangingPunct="1">
              <a:spcBef>
                <a:spcPct val="50000"/>
              </a:spcBef>
            </a:pPr>
            <a:r>
              <a:rPr lang="en-US" altLang="en-US" sz="2800" dirty="0">
                <a:latin typeface="Calibri" panose="020F0502020204030204" pitchFamily="34" charset="0"/>
                <a:cs typeface="Calibri" panose="020F0502020204030204" pitchFamily="34" charset="0"/>
              </a:rPr>
              <a:t>4. The difference in the two climates provides an estimate of the consequent climate change arising form that forcing factor.</a:t>
            </a:r>
          </a:p>
          <a:p>
            <a:pPr eaLnBrk="1" hangingPunct="1">
              <a:spcBef>
                <a:spcPct val="0"/>
              </a:spcBef>
            </a:pPr>
            <a:endParaRPr lang="en-US" altLang="en-US" sz="1800" dirty="0">
              <a:latin typeface="Verdana" panose="020B0604030504040204" pitchFamily="34" charset="0"/>
              <a:cs typeface="Times New Roman" panose="02020603050405020304" pitchFamily="18" charset="0"/>
            </a:endParaRPr>
          </a:p>
        </p:txBody>
      </p:sp>
      <p:pic>
        <p:nvPicPr>
          <p:cNvPr id="2" name="Picture 13" descr="TS-23_FINAL">
            <a:extLst>
              <a:ext uri="{FF2B5EF4-FFF2-40B4-BE49-F238E27FC236}">
                <a16:creationId xmlns:a16="http://schemas.microsoft.com/office/drawing/2014/main" id="{D68B39A2-52F7-87DD-73B9-A0F8EDC747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16" b="51137"/>
          <a:stretch/>
        </p:blipFill>
        <p:spPr bwMode="auto">
          <a:xfrm>
            <a:off x="10580454" y="6336183"/>
            <a:ext cx="5127756" cy="368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TS-23_FINAL">
            <a:extLst>
              <a:ext uri="{FF2B5EF4-FFF2-40B4-BE49-F238E27FC236}">
                <a16:creationId xmlns:a16="http://schemas.microsoft.com/office/drawing/2014/main" id="{F10D3650-5854-94F5-3F4F-D0A3062122F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9300"/>
          <a:stretch/>
        </p:blipFill>
        <p:spPr bwMode="auto">
          <a:xfrm>
            <a:off x="10580454" y="2681421"/>
            <a:ext cx="5127756" cy="362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4">
            <a:extLst>
              <a:ext uri="{FF2B5EF4-FFF2-40B4-BE49-F238E27FC236}">
                <a16:creationId xmlns:a16="http://schemas.microsoft.com/office/drawing/2014/main" id="{6BAED915-8C98-A2E1-DD22-ABBAD4D877E7}"/>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Modelling Anthropogenic Impacts</a:t>
            </a:r>
          </a:p>
        </p:txBody>
      </p:sp>
      <p:sp>
        <p:nvSpPr>
          <p:cNvPr id="6" name="TextBox 5">
            <a:extLst>
              <a:ext uri="{FF2B5EF4-FFF2-40B4-BE49-F238E27FC236}">
                <a16:creationId xmlns:a16="http://schemas.microsoft.com/office/drawing/2014/main" id="{9D59BEED-9EEA-A7F3-85B7-D1B44F658814}"/>
              </a:ext>
            </a:extLst>
          </p:cNvPr>
          <p:cNvSpPr txBox="1"/>
          <p:nvPr/>
        </p:nvSpPr>
        <p:spPr>
          <a:xfrm>
            <a:off x="16170510" y="9436631"/>
            <a:ext cx="3635392" cy="584775"/>
          </a:xfrm>
          <a:prstGeom prst="rect">
            <a:avLst/>
          </a:prstGeom>
          <a:noFill/>
        </p:spPr>
        <p:txBody>
          <a:bodyPr wrap="square" rtlCol="0">
            <a:spAutoFit/>
          </a:bodyPr>
          <a:lstStyle/>
          <a:p>
            <a:r>
              <a:rPr lang="en-US" sz="3200" b="1" dirty="0">
                <a:solidFill>
                  <a:srgbClr val="FF0000"/>
                </a:solidFill>
              </a:rPr>
              <a:t>WEEK 6</a:t>
            </a:r>
          </a:p>
        </p:txBody>
      </p:sp>
    </p:spTree>
    <p:extLst>
      <p:ext uri="{BB962C8B-B14F-4D97-AF65-F5344CB8AC3E}">
        <p14:creationId xmlns:p14="http://schemas.microsoft.com/office/powerpoint/2010/main" val="284913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9E4E-6543-0F42-38C3-447379E8EB9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68B6D75-48A0-73A6-7E9B-484078F002AF}"/>
              </a:ext>
            </a:extLst>
          </p:cNvPr>
          <p:cNvSpPr txBox="1"/>
          <p:nvPr/>
        </p:nvSpPr>
        <p:spPr>
          <a:xfrm>
            <a:off x="13687060" y="9791488"/>
            <a:ext cx="4600940" cy="461665"/>
          </a:xfrm>
          <a:prstGeom prst="rect">
            <a:avLst/>
          </a:prstGeom>
          <a:noFill/>
        </p:spPr>
        <p:txBody>
          <a:bodyPr wrap="none" rtlCol="0">
            <a:spAutoFit/>
          </a:bodyPr>
          <a:lstStyle/>
          <a:p>
            <a:r>
              <a:rPr lang="en-GB" sz="2400" dirty="0"/>
              <a:t>Figure 1.1, AR5 Synthesis Report</a:t>
            </a:r>
          </a:p>
        </p:txBody>
      </p:sp>
      <p:sp>
        <p:nvSpPr>
          <p:cNvPr id="2" name="Freeform 13">
            <a:extLst>
              <a:ext uri="{FF2B5EF4-FFF2-40B4-BE49-F238E27FC236}">
                <a16:creationId xmlns:a16="http://schemas.microsoft.com/office/drawing/2014/main" id="{188DD774-F5AA-7ED4-AB8A-8C6FD92DB547}"/>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5" name="TextBox 14">
            <a:extLst>
              <a:ext uri="{FF2B5EF4-FFF2-40B4-BE49-F238E27FC236}">
                <a16:creationId xmlns:a16="http://schemas.microsoft.com/office/drawing/2014/main" id="{5F9A28F3-0A7A-417A-FCE8-D7C0B5F0781E}"/>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Anthropogenic Climate Change</a:t>
            </a:r>
          </a:p>
        </p:txBody>
      </p:sp>
      <p:pic>
        <p:nvPicPr>
          <p:cNvPr id="3" name="Picture 3" descr="Figure Q9">
            <a:extLst>
              <a:ext uri="{FF2B5EF4-FFF2-40B4-BE49-F238E27FC236}">
                <a16:creationId xmlns:a16="http://schemas.microsoft.com/office/drawing/2014/main" id="{3BB7378D-849E-D96F-DD23-8A9456B72B10}"/>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9547199" y="2461252"/>
            <a:ext cx="8066314" cy="7036916"/>
          </a:xfrm>
          <a:noFill/>
        </p:spPr>
      </p:pic>
      <p:sp>
        <p:nvSpPr>
          <p:cNvPr id="4" name="TextBox 3">
            <a:extLst>
              <a:ext uri="{FF2B5EF4-FFF2-40B4-BE49-F238E27FC236}">
                <a16:creationId xmlns:a16="http://schemas.microsoft.com/office/drawing/2014/main" id="{A6F622A6-70E3-7712-06EA-90EFB8E7D820}"/>
              </a:ext>
            </a:extLst>
          </p:cNvPr>
          <p:cNvSpPr txBox="1"/>
          <p:nvPr/>
        </p:nvSpPr>
        <p:spPr>
          <a:xfrm>
            <a:off x="16470304" y="9228246"/>
            <a:ext cx="1817696" cy="584775"/>
          </a:xfrm>
          <a:prstGeom prst="rect">
            <a:avLst/>
          </a:prstGeom>
          <a:noFill/>
        </p:spPr>
        <p:txBody>
          <a:bodyPr wrap="square" rtlCol="0">
            <a:spAutoFit/>
          </a:bodyPr>
          <a:lstStyle/>
          <a:p>
            <a:r>
              <a:rPr lang="en-US" sz="3200" b="1" dirty="0">
                <a:solidFill>
                  <a:srgbClr val="FF0000"/>
                </a:solidFill>
              </a:rPr>
              <a:t>WEEK 6</a:t>
            </a:r>
          </a:p>
        </p:txBody>
      </p:sp>
      <p:pic>
        <p:nvPicPr>
          <p:cNvPr id="7" name="Picture 6" descr="A map of the world&#10;&#10;AI-generated content may be incorrect.">
            <a:extLst>
              <a:ext uri="{FF2B5EF4-FFF2-40B4-BE49-F238E27FC236}">
                <a16:creationId xmlns:a16="http://schemas.microsoft.com/office/drawing/2014/main" id="{79F7795F-86D7-B03E-0D8D-D19960074BAA}"/>
              </a:ext>
            </a:extLst>
          </p:cNvPr>
          <p:cNvPicPr>
            <a:picLocks noChangeAspect="1"/>
          </p:cNvPicPr>
          <p:nvPr/>
        </p:nvPicPr>
        <p:blipFill>
          <a:blip r:embed="rId5">
            <a:extLst>
              <a:ext uri="{28A0092B-C50C-407E-A947-70E740481C1C}">
                <a14:useLocalDpi xmlns:a14="http://schemas.microsoft.com/office/drawing/2010/main" val="0"/>
              </a:ext>
            </a:extLst>
          </a:blip>
          <a:srcRect b="7415"/>
          <a:stretch>
            <a:fillRect/>
          </a:stretch>
        </p:blipFill>
        <p:spPr>
          <a:xfrm>
            <a:off x="817428" y="2428341"/>
            <a:ext cx="8003843" cy="6669315"/>
          </a:xfrm>
          <a:prstGeom prst="rect">
            <a:avLst/>
          </a:prstGeom>
        </p:spPr>
      </p:pic>
    </p:spTree>
    <p:extLst>
      <p:ext uri="{BB962C8B-B14F-4D97-AF65-F5344CB8AC3E}">
        <p14:creationId xmlns:p14="http://schemas.microsoft.com/office/powerpoint/2010/main" val="150134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40" name="Picture 4" descr="World of Change: Global Temperatures">
            <a:extLst>
              <a:ext uri="{FF2B5EF4-FFF2-40B4-BE49-F238E27FC236}">
                <a16:creationId xmlns:a16="http://schemas.microsoft.com/office/drawing/2014/main" id="{41CFB64C-532C-C14A-BDB7-44EC88396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34" y="2346501"/>
            <a:ext cx="15751094" cy="6519202"/>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13">
            <a:extLst>
              <a:ext uri="{FF2B5EF4-FFF2-40B4-BE49-F238E27FC236}">
                <a16:creationId xmlns:a16="http://schemas.microsoft.com/office/drawing/2014/main" id="{95555DDE-6296-09B5-6606-6C63E508FD2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TextBox 14">
            <a:extLst>
              <a:ext uri="{FF2B5EF4-FFF2-40B4-BE49-F238E27FC236}">
                <a16:creationId xmlns:a16="http://schemas.microsoft.com/office/drawing/2014/main" id="{0CA49DB0-C3D1-1909-7EE9-BE75BC0BB267}"/>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Global Mean Temperatures</a:t>
            </a:r>
          </a:p>
        </p:txBody>
      </p:sp>
    </p:spTree>
    <p:extLst>
      <p:ext uri="{BB962C8B-B14F-4D97-AF65-F5344CB8AC3E}">
        <p14:creationId xmlns:p14="http://schemas.microsoft.com/office/powerpoint/2010/main" val="1447401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44E3F0-E276-E341-4E05-2037B071ECA3}"/>
              </a:ext>
            </a:extLst>
          </p:cNvPr>
          <p:cNvSpPr txBox="1"/>
          <p:nvPr/>
        </p:nvSpPr>
        <p:spPr>
          <a:xfrm>
            <a:off x="817428" y="8533818"/>
            <a:ext cx="15977939" cy="1338828"/>
          </a:xfrm>
          <a:prstGeom prst="rect">
            <a:avLst/>
          </a:prstGeom>
          <a:noFill/>
        </p:spPr>
        <p:txBody>
          <a:bodyPr wrap="square">
            <a:spAutoFit/>
          </a:bodyPr>
          <a:lstStyle/>
          <a:p>
            <a:r>
              <a:rPr lang="en-GB" sz="2700" i="1" dirty="0">
                <a:solidFill>
                  <a:srgbClr val="333333"/>
                </a:solidFill>
                <a:latin typeface="Arial" panose="020B0604020202020204" pitchFamily="34" charset="0"/>
              </a:rPr>
              <a:t>The Bell curve shows how an increase in average temperatures will lead to an increase in hot and extreme weather. Note - this does not mean there will be “no more” cold weather: cold events will become rarer but </a:t>
            </a:r>
            <a:r>
              <a:rPr lang="en-GB" sz="2700" b="1" i="1" dirty="0">
                <a:solidFill>
                  <a:srgbClr val="333333"/>
                </a:solidFill>
                <a:latin typeface="Arial" panose="020B0604020202020204" pitchFamily="34" charset="0"/>
              </a:rPr>
              <a:t>will not disappear</a:t>
            </a:r>
            <a:r>
              <a:rPr lang="en-GB" sz="2700" i="1" dirty="0">
                <a:solidFill>
                  <a:srgbClr val="333333"/>
                </a:solidFill>
                <a:latin typeface="Arial" panose="020B0604020202020204" pitchFamily="34" charset="0"/>
              </a:rPr>
              <a:t>. </a:t>
            </a:r>
            <a:r>
              <a:rPr lang="en-GB" sz="2700" i="1" dirty="0">
                <a:solidFill>
                  <a:srgbClr val="004440"/>
                </a:solidFill>
                <a:latin typeface="Arial" panose="020B0604020202020204" pitchFamily="34" charset="0"/>
              </a:rPr>
              <a:t>Source</a:t>
            </a:r>
            <a:r>
              <a:rPr lang="en-GB" sz="2700" i="1" dirty="0">
                <a:solidFill>
                  <a:srgbClr val="333333"/>
                </a:solidFill>
                <a:latin typeface="Arial" panose="020B0604020202020204" pitchFamily="34" charset="0"/>
              </a:rPr>
              <a:t>: </a:t>
            </a:r>
            <a:r>
              <a:rPr lang="en-GB" sz="2700" i="1" dirty="0">
                <a:solidFill>
                  <a:srgbClr val="0046AA"/>
                </a:solidFill>
                <a:latin typeface="Arial" panose="020B0604020202020204" pitchFamily="34" charset="0"/>
                <a:hlinkClick r:id="rId2"/>
              </a:rPr>
              <a:t>US </a:t>
            </a:r>
            <a:r>
              <a:rPr lang="en-GB" sz="2700" i="1" dirty="0">
                <a:solidFill>
                  <a:srgbClr val="004440"/>
                </a:solidFill>
                <a:latin typeface="Arial" panose="020B0604020202020204" pitchFamily="34" charset="0"/>
                <a:hlinkClick r:id="rId2"/>
              </a:rPr>
              <a:t>Climate Change</a:t>
            </a:r>
            <a:r>
              <a:rPr lang="en-GB" sz="2700" i="1" dirty="0">
                <a:solidFill>
                  <a:srgbClr val="0046AA"/>
                </a:solidFill>
                <a:latin typeface="Arial" panose="020B0604020202020204" pitchFamily="34" charset="0"/>
                <a:hlinkClick r:id="rId2"/>
              </a:rPr>
              <a:t> Science Program</a:t>
            </a:r>
            <a:endParaRPr lang="en-US" sz="2700" dirty="0"/>
          </a:p>
        </p:txBody>
      </p:sp>
      <p:pic>
        <p:nvPicPr>
          <p:cNvPr id="4098" name="Picture 2" descr="Climate shift">
            <a:extLst>
              <a:ext uri="{FF2B5EF4-FFF2-40B4-BE49-F238E27FC236}">
                <a16:creationId xmlns:a16="http://schemas.microsoft.com/office/drawing/2014/main" id="{07F118BF-A2D6-474D-E59E-1A9F947B1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30" y="2268433"/>
            <a:ext cx="8771023" cy="616488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13">
            <a:extLst>
              <a:ext uri="{FF2B5EF4-FFF2-40B4-BE49-F238E27FC236}">
                <a16:creationId xmlns:a16="http://schemas.microsoft.com/office/drawing/2014/main" id="{958A21E3-13BC-5C36-C1B6-02848C5E0011}"/>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0F2F20F8-2852-0105-7A67-75214AB9A8DA}"/>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Changes in Extreme Temperature </a:t>
            </a:r>
          </a:p>
        </p:txBody>
      </p:sp>
    </p:spTree>
    <p:extLst>
      <p:ext uri="{BB962C8B-B14F-4D97-AF65-F5344CB8AC3E}">
        <p14:creationId xmlns:p14="http://schemas.microsoft.com/office/powerpoint/2010/main" val="3234017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F37CC4-416C-4D06-86FA-4CAA76312E9B}"/>
              </a:ext>
            </a:extLst>
          </p:cNvPr>
          <p:cNvPicPr>
            <a:picLocks noChangeAspect="1"/>
          </p:cNvPicPr>
          <p:nvPr/>
        </p:nvPicPr>
        <p:blipFill rotWithShape="1">
          <a:blip r:embed="rId3"/>
          <a:srcRect l="6382" t="12744"/>
          <a:stretch/>
        </p:blipFill>
        <p:spPr>
          <a:xfrm>
            <a:off x="2342336" y="2358607"/>
            <a:ext cx="6830244" cy="3518743"/>
          </a:xfrm>
          <a:prstGeom prst="rect">
            <a:avLst/>
          </a:prstGeom>
        </p:spPr>
      </p:pic>
      <p:pic>
        <p:nvPicPr>
          <p:cNvPr id="9" name="Picture 8">
            <a:extLst>
              <a:ext uri="{FF2B5EF4-FFF2-40B4-BE49-F238E27FC236}">
                <a16:creationId xmlns:a16="http://schemas.microsoft.com/office/drawing/2014/main" id="{6FEB5958-A4E7-4099-AF0D-13B954ACA68F}"/>
              </a:ext>
            </a:extLst>
          </p:cNvPr>
          <p:cNvPicPr>
            <a:picLocks noChangeAspect="1"/>
          </p:cNvPicPr>
          <p:nvPr/>
        </p:nvPicPr>
        <p:blipFill>
          <a:blip r:embed="rId4"/>
          <a:stretch>
            <a:fillRect/>
          </a:stretch>
        </p:blipFill>
        <p:spPr>
          <a:xfrm>
            <a:off x="2204143" y="5889827"/>
            <a:ext cx="7453553" cy="3518743"/>
          </a:xfrm>
          <a:prstGeom prst="rect">
            <a:avLst/>
          </a:prstGeom>
        </p:spPr>
      </p:pic>
      <p:pic>
        <p:nvPicPr>
          <p:cNvPr id="3" name="Picture 2">
            <a:extLst>
              <a:ext uri="{FF2B5EF4-FFF2-40B4-BE49-F238E27FC236}">
                <a16:creationId xmlns:a16="http://schemas.microsoft.com/office/drawing/2014/main" id="{C34435AB-03D9-4999-990D-6EC6584E0617}"/>
              </a:ext>
            </a:extLst>
          </p:cNvPr>
          <p:cNvPicPr>
            <a:picLocks noChangeAspect="1"/>
          </p:cNvPicPr>
          <p:nvPr/>
        </p:nvPicPr>
        <p:blipFill>
          <a:blip r:embed="rId5"/>
          <a:stretch>
            <a:fillRect/>
          </a:stretch>
        </p:blipFill>
        <p:spPr>
          <a:xfrm>
            <a:off x="10312521" y="3181578"/>
            <a:ext cx="4912323" cy="6303674"/>
          </a:xfrm>
          <a:prstGeom prst="rect">
            <a:avLst/>
          </a:prstGeom>
        </p:spPr>
      </p:pic>
      <p:sp>
        <p:nvSpPr>
          <p:cNvPr id="10" name="TextBox 9">
            <a:extLst>
              <a:ext uri="{FF2B5EF4-FFF2-40B4-BE49-F238E27FC236}">
                <a16:creationId xmlns:a16="http://schemas.microsoft.com/office/drawing/2014/main" id="{5C0DBF73-A758-4E2C-9B6E-778680183279}"/>
              </a:ext>
            </a:extLst>
          </p:cNvPr>
          <p:cNvSpPr txBox="1"/>
          <p:nvPr/>
        </p:nvSpPr>
        <p:spPr>
          <a:xfrm>
            <a:off x="12008717" y="9742188"/>
            <a:ext cx="6279283" cy="461665"/>
          </a:xfrm>
          <a:prstGeom prst="rect">
            <a:avLst/>
          </a:prstGeom>
          <a:noFill/>
        </p:spPr>
        <p:txBody>
          <a:bodyPr wrap="none" rtlCol="0">
            <a:spAutoFit/>
          </a:bodyPr>
          <a:lstStyle/>
          <a:p>
            <a:r>
              <a:rPr lang="en-GB" sz="2400" dirty="0"/>
              <a:t>Figure TS.1, AR5 Technical Summary Report</a:t>
            </a:r>
          </a:p>
        </p:txBody>
      </p:sp>
      <p:sp>
        <p:nvSpPr>
          <p:cNvPr id="7" name="TextBox 6">
            <a:extLst>
              <a:ext uri="{FF2B5EF4-FFF2-40B4-BE49-F238E27FC236}">
                <a16:creationId xmlns:a16="http://schemas.microsoft.com/office/drawing/2014/main" id="{0F9865DC-60D5-4404-9F24-9B25FA1782FE}"/>
              </a:ext>
            </a:extLst>
          </p:cNvPr>
          <p:cNvSpPr txBox="1"/>
          <p:nvPr/>
        </p:nvSpPr>
        <p:spPr>
          <a:xfrm>
            <a:off x="138192" y="3288829"/>
            <a:ext cx="2457711" cy="646331"/>
          </a:xfrm>
          <a:prstGeom prst="rect">
            <a:avLst/>
          </a:prstGeom>
          <a:noFill/>
        </p:spPr>
        <p:txBody>
          <a:bodyPr wrap="square" rtlCol="0">
            <a:spAutoFit/>
          </a:bodyPr>
          <a:lstStyle/>
          <a:p>
            <a:pPr algn="ctr"/>
            <a:r>
              <a:rPr lang="en-GB" sz="3600" dirty="0">
                <a:latin typeface="Calibri" panose="020F0502020204030204" pitchFamily="34" charset="0"/>
                <a:cs typeface="Calibri" panose="020F0502020204030204" pitchFamily="34" charset="0"/>
              </a:rPr>
              <a:t>Sea ice</a:t>
            </a:r>
          </a:p>
        </p:txBody>
      </p:sp>
      <p:sp>
        <p:nvSpPr>
          <p:cNvPr id="11" name="TextBox 10">
            <a:extLst>
              <a:ext uri="{FF2B5EF4-FFF2-40B4-BE49-F238E27FC236}">
                <a16:creationId xmlns:a16="http://schemas.microsoft.com/office/drawing/2014/main" id="{A7CB59DD-E627-428D-9256-DEF9C4FF3A89}"/>
              </a:ext>
            </a:extLst>
          </p:cNvPr>
          <p:cNvSpPr txBox="1"/>
          <p:nvPr/>
        </p:nvSpPr>
        <p:spPr>
          <a:xfrm>
            <a:off x="0" y="7235896"/>
            <a:ext cx="2457711" cy="646331"/>
          </a:xfrm>
          <a:prstGeom prst="rect">
            <a:avLst/>
          </a:prstGeom>
          <a:noFill/>
        </p:spPr>
        <p:txBody>
          <a:bodyPr wrap="square" rtlCol="0">
            <a:spAutoFit/>
          </a:bodyPr>
          <a:lstStyle/>
          <a:p>
            <a:pPr algn="ctr"/>
            <a:r>
              <a:rPr lang="en-GB" sz="3600" dirty="0">
                <a:latin typeface="Calibri" panose="020F0502020204030204" pitchFamily="34" charset="0"/>
                <a:cs typeface="Calibri" panose="020F0502020204030204" pitchFamily="34" charset="0"/>
              </a:rPr>
              <a:t>Ice loss</a:t>
            </a:r>
          </a:p>
        </p:txBody>
      </p:sp>
      <p:sp>
        <p:nvSpPr>
          <p:cNvPr id="12" name="TextBox 11">
            <a:extLst>
              <a:ext uri="{FF2B5EF4-FFF2-40B4-BE49-F238E27FC236}">
                <a16:creationId xmlns:a16="http://schemas.microsoft.com/office/drawing/2014/main" id="{D1AC4CB4-7789-4BEA-97D6-F1EF7B38B278}"/>
              </a:ext>
            </a:extLst>
          </p:cNvPr>
          <p:cNvSpPr txBox="1"/>
          <p:nvPr/>
        </p:nvSpPr>
        <p:spPr>
          <a:xfrm>
            <a:off x="9753601" y="2486123"/>
            <a:ext cx="5948637" cy="646331"/>
          </a:xfrm>
          <a:prstGeom prst="rect">
            <a:avLst/>
          </a:prstGeom>
          <a:noFill/>
        </p:spPr>
        <p:txBody>
          <a:bodyPr wrap="square" rtlCol="0">
            <a:spAutoFit/>
          </a:bodyPr>
          <a:lstStyle/>
          <a:p>
            <a:pPr algn="ctr"/>
            <a:r>
              <a:rPr lang="en-GB" sz="3600" dirty="0">
                <a:latin typeface="Calibri" panose="020F0502020204030204" pitchFamily="34" charset="0"/>
                <a:cs typeface="Calibri" panose="020F0502020204030204" pitchFamily="34" charset="0"/>
              </a:rPr>
              <a:t>Snow and glaciers</a:t>
            </a:r>
          </a:p>
        </p:txBody>
      </p:sp>
      <p:sp>
        <p:nvSpPr>
          <p:cNvPr id="2" name="Freeform 13">
            <a:extLst>
              <a:ext uri="{FF2B5EF4-FFF2-40B4-BE49-F238E27FC236}">
                <a16:creationId xmlns:a16="http://schemas.microsoft.com/office/drawing/2014/main" id="{03B28B7A-247E-5FF0-0C14-507DA4B0C288}"/>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8" name="TextBox 14">
            <a:extLst>
              <a:ext uri="{FF2B5EF4-FFF2-40B4-BE49-F238E27FC236}">
                <a16:creationId xmlns:a16="http://schemas.microsoft.com/office/drawing/2014/main" id="{1F7F8814-1DC0-553B-9AD1-84276E7A6AC1}"/>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Cryosphere</a:t>
            </a:r>
          </a:p>
        </p:txBody>
      </p:sp>
    </p:spTree>
    <p:extLst>
      <p:ext uri="{BB962C8B-B14F-4D97-AF65-F5344CB8AC3E}">
        <p14:creationId xmlns:p14="http://schemas.microsoft.com/office/powerpoint/2010/main" val="162192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11"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6BEA8F-0105-4654-B1D1-B98D4DE87391}"/>
              </a:ext>
            </a:extLst>
          </p:cNvPr>
          <p:cNvPicPr>
            <a:picLocks noChangeAspect="1"/>
          </p:cNvPicPr>
          <p:nvPr/>
        </p:nvPicPr>
        <p:blipFill>
          <a:blip r:embed="rId3"/>
          <a:stretch>
            <a:fillRect/>
          </a:stretch>
        </p:blipFill>
        <p:spPr>
          <a:xfrm>
            <a:off x="491416" y="2697621"/>
            <a:ext cx="8952807" cy="4806765"/>
          </a:xfrm>
          <a:prstGeom prst="rect">
            <a:avLst/>
          </a:prstGeom>
        </p:spPr>
      </p:pic>
      <p:pic>
        <p:nvPicPr>
          <p:cNvPr id="6" name="Picture 5">
            <a:extLst>
              <a:ext uri="{FF2B5EF4-FFF2-40B4-BE49-F238E27FC236}">
                <a16:creationId xmlns:a16="http://schemas.microsoft.com/office/drawing/2014/main" id="{C38CFB09-177C-4CE3-953E-45D768E844CF}"/>
              </a:ext>
            </a:extLst>
          </p:cNvPr>
          <p:cNvPicPr>
            <a:picLocks noChangeAspect="1"/>
          </p:cNvPicPr>
          <p:nvPr/>
        </p:nvPicPr>
        <p:blipFill>
          <a:blip r:embed="rId4"/>
          <a:stretch>
            <a:fillRect/>
          </a:stretch>
        </p:blipFill>
        <p:spPr>
          <a:xfrm>
            <a:off x="10240773" y="2584174"/>
            <a:ext cx="7045140" cy="3325936"/>
          </a:xfrm>
          <a:prstGeom prst="rect">
            <a:avLst/>
          </a:prstGeom>
        </p:spPr>
      </p:pic>
      <p:grpSp>
        <p:nvGrpSpPr>
          <p:cNvPr id="14" name="Group 13">
            <a:extLst>
              <a:ext uri="{FF2B5EF4-FFF2-40B4-BE49-F238E27FC236}">
                <a16:creationId xmlns:a16="http://schemas.microsoft.com/office/drawing/2014/main" id="{AEDC25D5-D750-4868-8B94-26046CE96C0D}"/>
              </a:ext>
            </a:extLst>
          </p:cNvPr>
          <p:cNvGrpSpPr/>
          <p:nvPr/>
        </p:nvGrpSpPr>
        <p:grpSpPr>
          <a:xfrm>
            <a:off x="10565100" y="6204054"/>
            <a:ext cx="6030574" cy="3524963"/>
            <a:chOff x="3871602" y="2176287"/>
            <a:chExt cx="4448796" cy="3160266"/>
          </a:xfrm>
        </p:grpSpPr>
        <p:pic>
          <p:nvPicPr>
            <p:cNvPr id="11" name="Picture 10">
              <a:extLst>
                <a:ext uri="{FF2B5EF4-FFF2-40B4-BE49-F238E27FC236}">
                  <a16:creationId xmlns:a16="http://schemas.microsoft.com/office/drawing/2014/main" id="{3BEDD60C-D3BE-4E8F-BE60-9D2C9388F0ED}"/>
                </a:ext>
              </a:extLst>
            </p:cNvPr>
            <p:cNvPicPr>
              <a:picLocks noChangeAspect="1"/>
            </p:cNvPicPr>
            <p:nvPr/>
          </p:nvPicPr>
          <p:blipFill>
            <a:blip r:embed="rId5"/>
            <a:stretch>
              <a:fillRect/>
            </a:stretch>
          </p:blipFill>
          <p:spPr>
            <a:xfrm>
              <a:off x="3871602" y="2176287"/>
              <a:ext cx="4448796" cy="2505425"/>
            </a:xfrm>
            <a:prstGeom prst="rect">
              <a:avLst/>
            </a:prstGeom>
          </p:spPr>
        </p:pic>
        <p:pic>
          <p:nvPicPr>
            <p:cNvPr id="13" name="Picture 12">
              <a:extLst>
                <a:ext uri="{FF2B5EF4-FFF2-40B4-BE49-F238E27FC236}">
                  <a16:creationId xmlns:a16="http://schemas.microsoft.com/office/drawing/2014/main" id="{275011AF-F437-4314-BF17-C47EF2EFB777}"/>
                </a:ext>
              </a:extLst>
            </p:cNvPr>
            <p:cNvPicPr>
              <a:picLocks noChangeAspect="1"/>
            </p:cNvPicPr>
            <p:nvPr/>
          </p:nvPicPr>
          <p:blipFill>
            <a:blip r:embed="rId6"/>
            <a:stretch>
              <a:fillRect/>
            </a:stretch>
          </p:blipFill>
          <p:spPr>
            <a:xfrm>
              <a:off x="4013806" y="4717342"/>
              <a:ext cx="3791479" cy="619211"/>
            </a:xfrm>
            <a:prstGeom prst="rect">
              <a:avLst/>
            </a:prstGeom>
          </p:spPr>
        </p:pic>
      </p:grpSp>
      <p:cxnSp>
        <p:nvCxnSpPr>
          <p:cNvPr id="16" name="Straight Arrow Connector 15">
            <a:extLst>
              <a:ext uri="{FF2B5EF4-FFF2-40B4-BE49-F238E27FC236}">
                <a16:creationId xmlns:a16="http://schemas.microsoft.com/office/drawing/2014/main" id="{310A151E-240E-4408-BD52-CC4F25D4AB71}"/>
              </a:ext>
            </a:extLst>
          </p:cNvPr>
          <p:cNvCxnSpPr>
            <a:cxnSpLocks/>
            <a:stCxn id="6" idx="1"/>
          </p:cNvCxnSpPr>
          <p:nvPr/>
        </p:nvCxnSpPr>
        <p:spPr>
          <a:xfrm flipH="1" flipV="1">
            <a:off x="8862867" y="4239855"/>
            <a:ext cx="1377906" cy="7287"/>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C62123D1-C544-41C2-8F4A-AAAAA2AF3BE3}"/>
              </a:ext>
            </a:extLst>
          </p:cNvPr>
          <p:cNvCxnSpPr>
            <a:cxnSpLocks/>
          </p:cNvCxnSpPr>
          <p:nvPr/>
        </p:nvCxnSpPr>
        <p:spPr>
          <a:xfrm flipH="1" flipV="1">
            <a:off x="8582566" y="5907798"/>
            <a:ext cx="1982534" cy="1767781"/>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4BEB6214-C61F-4646-A49E-D7922E9415AD}"/>
              </a:ext>
            </a:extLst>
          </p:cNvPr>
          <p:cNvSpPr txBox="1"/>
          <p:nvPr/>
        </p:nvSpPr>
        <p:spPr>
          <a:xfrm>
            <a:off x="8626758" y="7000791"/>
            <a:ext cx="1377904" cy="692497"/>
          </a:xfrm>
          <a:prstGeom prst="rect">
            <a:avLst/>
          </a:prstGeom>
          <a:noFill/>
        </p:spPr>
        <p:txBody>
          <a:bodyPr wrap="square" rtlCol="0">
            <a:spAutoFit/>
          </a:bodyPr>
          <a:lstStyle/>
          <a:p>
            <a:r>
              <a:rPr lang="en-GB" sz="3900" b="1" dirty="0"/>
              <a:t>40%</a:t>
            </a:r>
          </a:p>
        </p:txBody>
      </p:sp>
      <p:sp>
        <p:nvSpPr>
          <p:cNvPr id="21" name="TextBox 20">
            <a:extLst>
              <a:ext uri="{FF2B5EF4-FFF2-40B4-BE49-F238E27FC236}">
                <a16:creationId xmlns:a16="http://schemas.microsoft.com/office/drawing/2014/main" id="{8CBB2413-6284-4006-9039-082BD3805D09}"/>
              </a:ext>
            </a:extLst>
          </p:cNvPr>
          <p:cNvSpPr txBox="1"/>
          <p:nvPr/>
        </p:nvSpPr>
        <p:spPr>
          <a:xfrm>
            <a:off x="9119896" y="3402485"/>
            <a:ext cx="1285929" cy="692497"/>
          </a:xfrm>
          <a:prstGeom prst="rect">
            <a:avLst/>
          </a:prstGeom>
          <a:noFill/>
        </p:spPr>
        <p:txBody>
          <a:bodyPr wrap="none" rtlCol="0">
            <a:spAutoFit/>
          </a:bodyPr>
          <a:lstStyle/>
          <a:p>
            <a:r>
              <a:rPr lang="en-GB" sz="3900" b="1" dirty="0"/>
              <a:t>50%</a:t>
            </a:r>
          </a:p>
        </p:txBody>
      </p:sp>
      <p:sp>
        <p:nvSpPr>
          <p:cNvPr id="20" name="TextBox 19">
            <a:extLst>
              <a:ext uri="{FF2B5EF4-FFF2-40B4-BE49-F238E27FC236}">
                <a16:creationId xmlns:a16="http://schemas.microsoft.com/office/drawing/2014/main" id="{9E018B23-C117-4CDE-AEA0-E82DAAA97294}"/>
              </a:ext>
            </a:extLst>
          </p:cNvPr>
          <p:cNvSpPr txBox="1"/>
          <p:nvPr/>
        </p:nvSpPr>
        <p:spPr>
          <a:xfrm>
            <a:off x="4217043" y="8311525"/>
            <a:ext cx="4645824" cy="692497"/>
          </a:xfrm>
          <a:prstGeom prst="rect">
            <a:avLst/>
          </a:prstGeom>
          <a:noFill/>
        </p:spPr>
        <p:txBody>
          <a:bodyPr wrap="none" rtlCol="0">
            <a:spAutoFit/>
          </a:bodyPr>
          <a:lstStyle/>
          <a:p>
            <a:r>
              <a:rPr lang="en-GB" sz="3900" dirty="0"/>
              <a:t>Land water storage</a:t>
            </a:r>
          </a:p>
        </p:txBody>
      </p:sp>
      <p:cxnSp>
        <p:nvCxnSpPr>
          <p:cNvPr id="23" name="Straight Arrow Connector 22">
            <a:extLst>
              <a:ext uri="{FF2B5EF4-FFF2-40B4-BE49-F238E27FC236}">
                <a16:creationId xmlns:a16="http://schemas.microsoft.com/office/drawing/2014/main" id="{A729D1C8-516D-4AD1-A40B-04ABBB581D15}"/>
              </a:ext>
            </a:extLst>
          </p:cNvPr>
          <p:cNvCxnSpPr>
            <a:cxnSpLocks/>
          </p:cNvCxnSpPr>
          <p:nvPr/>
        </p:nvCxnSpPr>
        <p:spPr>
          <a:xfrm flipV="1">
            <a:off x="6399804" y="7019625"/>
            <a:ext cx="0" cy="1291901"/>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CFD1A681-70A7-4AA5-804D-6CB7C7EAA956}"/>
              </a:ext>
            </a:extLst>
          </p:cNvPr>
          <p:cNvSpPr txBox="1"/>
          <p:nvPr/>
        </p:nvSpPr>
        <p:spPr>
          <a:xfrm>
            <a:off x="5047940" y="7542377"/>
            <a:ext cx="1149674" cy="692497"/>
          </a:xfrm>
          <a:prstGeom prst="rect">
            <a:avLst/>
          </a:prstGeom>
          <a:noFill/>
        </p:spPr>
        <p:txBody>
          <a:bodyPr wrap="none" rtlCol="0">
            <a:spAutoFit/>
          </a:bodyPr>
          <a:lstStyle/>
          <a:p>
            <a:r>
              <a:rPr lang="en-GB" sz="3900" b="1" dirty="0"/>
              <a:t>10%</a:t>
            </a:r>
          </a:p>
        </p:txBody>
      </p:sp>
      <p:sp>
        <p:nvSpPr>
          <p:cNvPr id="25" name="TextBox 24">
            <a:extLst>
              <a:ext uri="{FF2B5EF4-FFF2-40B4-BE49-F238E27FC236}">
                <a16:creationId xmlns:a16="http://schemas.microsoft.com/office/drawing/2014/main" id="{FA61EC35-95C7-47E4-B4FF-CB9E0DCD3868}"/>
              </a:ext>
            </a:extLst>
          </p:cNvPr>
          <p:cNvSpPr txBox="1"/>
          <p:nvPr/>
        </p:nvSpPr>
        <p:spPr>
          <a:xfrm>
            <a:off x="27391" y="9336235"/>
            <a:ext cx="8835476" cy="400110"/>
          </a:xfrm>
          <a:prstGeom prst="rect">
            <a:avLst/>
          </a:prstGeom>
          <a:noFill/>
        </p:spPr>
        <p:txBody>
          <a:bodyPr wrap="square" rtlCol="0">
            <a:spAutoFit/>
          </a:bodyPr>
          <a:lstStyle/>
          <a:p>
            <a:r>
              <a:rPr lang="en-GB" sz="2000" dirty="0"/>
              <a:t>Table 13.1, AR5 Full report, gives a full breakdown of each component</a:t>
            </a:r>
          </a:p>
        </p:txBody>
      </p:sp>
      <p:sp>
        <p:nvSpPr>
          <p:cNvPr id="2" name="Freeform 13">
            <a:extLst>
              <a:ext uri="{FF2B5EF4-FFF2-40B4-BE49-F238E27FC236}">
                <a16:creationId xmlns:a16="http://schemas.microsoft.com/office/drawing/2014/main" id="{385308A3-5C4E-D61D-3D6D-DFF767E116F4}"/>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10" name="TextBox 14">
            <a:extLst>
              <a:ext uri="{FF2B5EF4-FFF2-40B4-BE49-F238E27FC236}">
                <a16:creationId xmlns:a16="http://schemas.microsoft.com/office/drawing/2014/main" id="{9F216FDE-5DED-7C91-3A9C-79BB5CADB639}"/>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Ocean</a:t>
            </a:r>
          </a:p>
        </p:txBody>
      </p:sp>
    </p:spTree>
    <p:extLst>
      <p:ext uri="{BB962C8B-B14F-4D97-AF65-F5344CB8AC3E}">
        <p14:creationId xmlns:p14="http://schemas.microsoft.com/office/powerpoint/2010/main" val="303652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0" grpId="0"/>
      <p:bldP spid="24" grpId="0"/>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
            <a:extLst>
              <a:ext uri="{FF2B5EF4-FFF2-40B4-BE49-F238E27FC236}">
                <a16:creationId xmlns:a16="http://schemas.microsoft.com/office/drawing/2014/main" id="{53F8225E-21C2-A3F3-4EFC-7AF6F80BD092}"/>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pic>
        <p:nvPicPr>
          <p:cNvPr id="6" name="Picture 5" descr="A graph showing different types of ph&#10;&#10;Description automatically generated">
            <a:extLst>
              <a:ext uri="{FF2B5EF4-FFF2-40B4-BE49-F238E27FC236}">
                <a16:creationId xmlns:a16="http://schemas.microsoft.com/office/drawing/2014/main" id="{EC00F919-3001-576F-3469-757C2C664D18}"/>
              </a:ext>
            </a:extLst>
          </p:cNvPr>
          <p:cNvPicPr>
            <a:picLocks noChangeAspect="1"/>
          </p:cNvPicPr>
          <p:nvPr/>
        </p:nvPicPr>
        <p:blipFill>
          <a:blip r:embed="rId4">
            <a:extLst>
              <a:ext uri="{28A0092B-C50C-407E-A947-70E740481C1C}">
                <a14:useLocalDpi xmlns:a14="http://schemas.microsoft.com/office/drawing/2010/main" val="0"/>
              </a:ext>
            </a:extLst>
          </a:blip>
          <a:srcRect l="6451"/>
          <a:stretch/>
        </p:blipFill>
        <p:spPr>
          <a:xfrm>
            <a:off x="817428" y="2743599"/>
            <a:ext cx="9446594" cy="6214993"/>
          </a:xfrm>
          <a:prstGeom prst="rect">
            <a:avLst/>
          </a:prstGeom>
        </p:spPr>
      </p:pic>
      <p:sp>
        <p:nvSpPr>
          <p:cNvPr id="11" name="TextBox 14">
            <a:extLst>
              <a:ext uri="{FF2B5EF4-FFF2-40B4-BE49-F238E27FC236}">
                <a16:creationId xmlns:a16="http://schemas.microsoft.com/office/drawing/2014/main" id="{1997E881-3B0A-420D-97DA-1D0B2DDA8FBF}"/>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Ocean</a:t>
            </a:r>
          </a:p>
        </p:txBody>
      </p:sp>
      <p:pic>
        <p:nvPicPr>
          <p:cNvPr id="3" name="Picture 2" descr="A diagram of a river with water and buildings&#10;&#10;Description automatically generated with medium confidence">
            <a:extLst>
              <a:ext uri="{FF2B5EF4-FFF2-40B4-BE49-F238E27FC236}">
                <a16:creationId xmlns:a16="http://schemas.microsoft.com/office/drawing/2014/main" id="{CFCBC9B2-6D98-452F-14A4-47010C0B65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29900" y="2167933"/>
            <a:ext cx="6168859" cy="3574479"/>
          </a:xfrm>
          <a:prstGeom prst="rect">
            <a:avLst/>
          </a:prstGeom>
        </p:spPr>
      </p:pic>
      <p:sp>
        <p:nvSpPr>
          <p:cNvPr id="4" name="TextBox 3">
            <a:extLst>
              <a:ext uri="{FF2B5EF4-FFF2-40B4-BE49-F238E27FC236}">
                <a16:creationId xmlns:a16="http://schemas.microsoft.com/office/drawing/2014/main" id="{6C7F13B3-49C4-E45A-978F-BA6DF1139FAD}"/>
              </a:ext>
            </a:extLst>
          </p:cNvPr>
          <p:cNvSpPr txBox="1"/>
          <p:nvPr/>
        </p:nvSpPr>
        <p:spPr>
          <a:xfrm>
            <a:off x="10264022" y="6141097"/>
            <a:ext cx="8023978" cy="2862322"/>
          </a:xfrm>
          <a:prstGeom prst="rect">
            <a:avLst/>
          </a:prstGeom>
          <a:noFill/>
        </p:spPr>
        <p:txBody>
          <a:bodyPr wrap="square">
            <a:spAutoFit/>
          </a:bodyPr>
          <a:lstStyle/>
          <a:p>
            <a:pPr marL="285750" indent="-285750">
              <a:buFont typeface="Arial" panose="020B0604020202020204" pitchFamily="34" charset="0"/>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Ocean acidification is a consequence of increasing carbon dioxide (CO</a:t>
            </a:r>
            <a:r>
              <a:rPr lang="en-GB" sz="2000"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emissions</a:t>
            </a:r>
          </a:p>
          <a:p>
            <a:pPr marL="285750" indent="-285750">
              <a:buFont typeface="Arial" panose="020B0604020202020204" pitchFamily="34" charset="0"/>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When CO</a:t>
            </a:r>
            <a:r>
              <a:rPr lang="en-GB" sz="2000"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GB" sz="2000" kern="100" dirty="0">
                <a:solidFill>
                  <a:srgbClr val="333333"/>
                </a:solidFill>
                <a:effectLst/>
                <a:latin typeface="Open Sans" panose="020B0606030504020204" pitchFamily="34" charset="0"/>
                <a:ea typeface="Aptos" panose="020B0004020202020204" pitchFamily="34" charset="0"/>
                <a:cs typeface="Times New Roman" panose="02020603050405020304" pitchFamily="18" charset="0"/>
              </a:rPr>
              <a:t>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dissolves in seawater, it forms carbonic acid (H</a:t>
            </a:r>
            <a:r>
              <a:rPr lang="en-GB" sz="2000" kern="100" baseline="-25000" dirty="0">
                <a:effectLst/>
                <a:latin typeface="Aptos" panose="020B0004020202020204" pitchFamily="34" charset="0"/>
                <a:ea typeface="Aptos" panose="020B0004020202020204" pitchFamily="34" charset="0"/>
                <a:cs typeface="Times New Roman" panose="02020603050405020304" pitchFamily="18" charset="0"/>
              </a:rPr>
              <a:t>2</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CO</a:t>
            </a:r>
            <a:r>
              <a:rPr lang="en-GB" sz="2000" kern="100" baseline="-25000" dirty="0">
                <a:effectLst/>
                <a:latin typeface="Aptos" panose="020B0004020202020204" pitchFamily="34" charset="0"/>
                <a:ea typeface="Aptos" panose="020B0004020202020204" pitchFamily="34" charset="0"/>
                <a:cs typeface="Times New Roman" panose="02020603050405020304" pitchFamily="18" charset="0"/>
              </a:rPr>
              <a:t>3</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p>
          <a:p>
            <a:pPr marL="285750" indent="-285750">
              <a:buFont typeface="Arial" panose="020B0604020202020204" pitchFamily="34" charset="0"/>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Acidity plays a key role in many biological mechanisms, including calcification.</a:t>
            </a:r>
          </a:p>
          <a:p>
            <a:pPr marL="285750" indent="-285750">
              <a:buFont typeface="Arial" panose="020B0604020202020204" pitchFamily="34" charset="0"/>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Ocean acidification impacts both small coastal communities and big industries. By harming aquaculture and tourism, communities that rely on the ocean as a source of food and income will be particularly affected.</a:t>
            </a:r>
          </a:p>
        </p:txBody>
      </p:sp>
    </p:spTree>
    <p:extLst>
      <p:ext uri="{BB962C8B-B14F-4D97-AF65-F5344CB8AC3E}">
        <p14:creationId xmlns:p14="http://schemas.microsoft.com/office/powerpoint/2010/main" val="1800595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0F727-1A70-5DBB-C115-CA68F75A3C1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CF9625-8518-259C-451D-1B77A26DB0B9}"/>
              </a:ext>
            </a:extLst>
          </p:cNvPr>
          <p:cNvPicPr>
            <a:picLocks noChangeAspect="1"/>
          </p:cNvPicPr>
          <p:nvPr/>
        </p:nvPicPr>
        <p:blipFill>
          <a:blip r:embed="rId3"/>
          <a:stretch>
            <a:fillRect/>
          </a:stretch>
        </p:blipFill>
        <p:spPr>
          <a:xfrm>
            <a:off x="674487" y="2544416"/>
            <a:ext cx="10399960" cy="7234753"/>
          </a:xfrm>
          <a:prstGeom prst="rect">
            <a:avLst/>
          </a:prstGeom>
        </p:spPr>
      </p:pic>
      <p:sp>
        <p:nvSpPr>
          <p:cNvPr id="2" name="Freeform 13">
            <a:extLst>
              <a:ext uri="{FF2B5EF4-FFF2-40B4-BE49-F238E27FC236}">
                <a16:creationId xmlns:a16="http://schemas.microsoft.com/office/drawing/2014/main" id="{23DA1E28-E548-D4F5-7CFE-08E046569E42}"/>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B74C1DC0-2A44-17B5-1DA5-52259C5AD6DE}"/>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Precipitation </a:t>
            </a:r>
          </a:p>
        </p:txBody>
      </p:sp>
      <p:pic>
        <p:nvPicPr>
          <p:cNvPr id="5" name="Picture 4">
            <a:extLst>
              <a:ext uri="{FF2B5EF4-FFF2-40B4-BE49-F238E27FC236}">
                <a16:creationId xmlns:a16="http://schemas.microsoft.com/office/drawing/2014/main" id="{6871A2F2-4A78-732F-224D-C50A95874A5A}"/>
              </a:ext>
            </a:extLst>
          </p:cNvPr>
          <p:cNvPicPr>
            <a:picLocks noChangeAspect="1" noChangeArrowheads="1"/>
          </p:cNvPicPr>
          <p:nvPr/>
        </p:nvPicPr>
        <p:blipFill>
          <a:blip r:embed="rId5" cstate="print"/>
          <a:srcRect r="54165"/>
          <a:stretch/>
        </p:blipFill>
        <p:spPr>
          <a:xfrm>
            <a:off x="11310685" y="3094633"/>
            <a:ext cx="6302828" cy="6864150"/>
          </a:xfrm>
          <a:prstGeom prst="rect">
            <a:avLst/>
          </a:prstGeom>
        </p:spPr>
      </p:pic>
      <p:sp>
        <p:nvSpPr>
          <p:cNvPr id="6" name="TextBox 5">
            <a:extLst>
              <a:ext uri="{FF2B5EF4-FFF2-40B4-BE49-F238E27FC236}">
                <a16:creationId xmlns:a16="http://schemas.microsoft.com/office/drawing/2014/main" id="{BE6A68E6-5969-E7AE-2DE5-18A7B843FA6B}"/>
              </a:ext>
            </a:extLst>
          </p:cNvPr>
          <p:cNvSpPr txBox="1"/>
          <p:nvPr/>
        </p:nvSpPr>
        <p:spPr>
          <a:xfrm>
            <a:off x="15821575" y="2389034"/>
            <a:ext cx="1951270" cy="584775"/>
          </a:xfrm>
          <a:prstGeom prst="rect">
            <a:avLst/>
          </a:prstGeom>
          <a:noFill/>
        </p:spPr>
        <p:txBody>
          <a:bodyPr wrap="square" rtlCol="0">
            <a:spAutoFit/>
          </a:bodyPr>
          <a:lstStyle/>
          <a:p>
            <a:r>
              <a:rPr lang="en-US" sz="3200" b="1" dirty="0">
                <a:solidFill>
                  <a:srgbClr val="FF0000"/>
                </a:solidFill>
              </a:rPr>
              <a:t>WEEK 9</a:t>
            </a:r>
          </a:p>
        </p:txBody>
      </p:sp>
    </p:spTree>
    <p:extLst>
      <p:ext uri="{BB962C8B-B14F-4D97-AF65-F5344CB8AC3E}">
        <p14:creationId xmlns:p14="http://schemas.microsoft.com/office/powerpoint/2010/main" val="386016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77368C-1077-476E-9BC1-7AB2B078474F}"/>
              </a:ext>
            </a:extLst>
          </p:cNvPr>
          <p:cNvSpPr txBox="1"/>
          <p:nvPr/>
        </p:nvSpPr>
        <p:spPr>
          <a:xfrm>
            <a:off x="1252181" y="2236881"/>
            <a:ext cx="15783636" cy="3216265"/>
          </a:xfrm>
          <a:prstGeom prst="rect">
            <a:avLst/>
          </a:prstGeom>
          <a:noFill/>
        </p:spPr>
        <p:txBody>
          <a:bodyPr wrap="square" rtlCol="0">
            <a:spAutoFit/>
          </a:bodyPr>
          <a:lstStyle/>
          <a:p>
            <a:pPr algn="ctr"/>
            <a:r>
              <a:rPr lang="en-GB" sz="3600" dirty="0">
                <a:latin typeface="Calibri" panose="020F0502020204030204" pitchFamily="34" charset="0"/>
                <a:cs typeface="Calibri" panose="020F0502020204030204" pitchFamily="34" charset="0"/>
              </a:rPr>
              <a:t>Increased temperatures</a:t>
            </a:r>
          </a:p>
          <a:p>
            <a:pPr algn="ctr"/>
            <a:endParaRPr lang="en-GB" sz="4400" dirty="0">
              <a:latin typeface="Calibri" panose="020F0502020204030204" pitchFamily="34" charset="0"/>
              <a:cs typeface="Calibri" panose="020F0502020204030204" pitchFamily="34" charset="0"/>
            </a:endParaRPr>
          </a:p>
          <a:p>
            <a:pPr algn="ctr"/>
            <a:r>
              <a:rPr lang="en-GB" sz="3600" dirty="0">
                <a:latin typeface="Calibri" panose="020F0502020204030204" pitchFamily="34" charset="0"/>
                <a:cs typeface="Calibri" panose="020F0502020204030204" pitchFamily="34" charset="0"/>
              </a:rPr>
              <a:t>Air can hold more water vapour</a:t>
            </a:r>
          </a:p>
          <a:p>
            <a:pPr algn="ctr"/>
            <a:endParaRPr lang="en-GB" sz="4400" dirty="0">
              <a:latin typeface="Calibri" panose="020F0502020204030204" pitchFamily="34" charset="0"/>
              <a:cs typeface="Calibri" panose="020F0502020204030204" pitchFamily="34" charset="0"/>
            </a:endParaRPr>
          </a:p>
          <a:p>
            <a:pPr algn="ctr"/>
            <a:r>
              <a:rPr lang="en-GB" sz="3600" dirty="0">
                <a:latin typeface="Calibri" panose="020F0502020204030204" pitchFamily="34" charset="0"/>
                <a:cs typeface="Calibri" panose="020F0502020204030204" pitchFamily="34" charset="0"/>
              </a:rPr>
              <a:t>More intense hydrological cycle</a:t>
            </a:r>
          </a:p>
        </p:txBody>
      </p:sp>
      <p:sp>
        <p:nvSpPr>
          <p:cNvPr id="8" name="TextBox 7">
            <a:extLst>
              <a:ext uri="{FF2B5EF4-FFF2-40B4-BE49-F238E27FC236}">
                <a16:creationId xmlns:a16="http://schemas.microsoft.com/office/drawing/2014/main" id="{AF793177-974C-479F-85AA-E9DA29D6A26A}"/>
              </a:ext>
            </a:extLst>
          </p:cNvPr>
          <p:cNvSpPr txBox="1"/>
          <p:nvPr/>
        </p:nvSpPr>
        <p:spPr>
          <a:xfrm>
            <a:off x="10992065" y="7034093"/>
            <a:ext cx="7186608" cy="1754326"/>
          </a:xfrm>
          <a:prstGeom prst="rect">
            <a:avLst/>
          </a:prstGeom>
          <a:noFill/>
        </p:spPr>
        <p:txBody>
          <a:bodyPr wrap="square" rtlCol="0">
            <a:spAutoFit/>
          </a:bodyPr>
          <a:lstStyle/>
          <a:p>
            <a:pPr algn="ctr"/>
            <a:r>
              <a:rPr lang="en-GB" sz="3600" dirty="0">
                <a:solidFill>
                  <a:srgbClr val="0070C0"/>
                </a:solidFill>
                <a:latin typeface="Calibri" panose="020F0502020204030204" pitchFamily="34" charset="0"/>
                <a:cs typeface="Calibri" panose="020F0502020204030204" pitchFamily="34" charset="0"/>
              </a:rPr>
              <a:t>More water within storms</a:t>
            </a:r>
          </a:p>
          <a:p>
            <a:pPr algn="ctr"/>
            <a:endParaRPr lang="en-GB" sz="3600" dirty="0">
              <a:solidFill>
                <a:srgbClr val="0070C0"/>
              </a:solidFill>
              <a:latin typeface="Calibri" panose="020F0502020204030204" pitchFamily="34" charset="0"/>
              <a:cs typeface="Calibri" panose="020F0502020204030204" pitchFamily="34" charset="0"/>
            </a:endParaRPr>
          </a:p>
          <a:p>
            <a:pPr algn="ctr"/>
            <a:r>
              <a:rPr lang="en-GB" sz="3600" dirty="0">
                <a:solidFill>
                  <a:srgbClr val="0070C0"/>
                </a:solidFill>
                <a:latin typeface="Calibri" panose="020F0502020204030204" pitchFamily="34" charset="0"/>
                <a:cs typeface="Calibri" panose="020F0502020204030204" pitchFamily="34" charset="0"/>
              </a:rPr>
              <a:t>More extreme precipitation</a:t>
            </a:r>
          </a:p>
        </p:txBody>
      </p:sp>
      <p:sp>
        <p:nvSpPr>
          <p:cNvPr id="10" name="TextBox 9">
            <a:extLst>
              <a:ext uri="{FF2B5EF4-FFF2-40B4-BE49-F238E27FC236}">
                <a16:creationId xmlns:a16="http://schemas.microsoft.com/office/drawing/2014/main" id="{A29CADE3-242D-48B9-BC75-30802CA23225}"/>
              </a:ext>
            </a:extLst>
          </p:cNvPr>
          <p:cNvSpPr txBox="1"/>
          <p:nvPr/>
        </p:nvSpPr>
        <p:spPr>
          <a:xfrm>
            <a:off x="221936" y="7034093"/>
            <a:ext cx="7186608" cy="1754326"/>
          </a:xfrm>
          <a:prstGeom prst="rect">
            <a:avLst/>
          </a:prstGeom>
          <a:noFill/>
        </p:spPr>
        <p:txBody>
          <a:bodyPr wrap="square" rtlCol="0">
            <a:spAutoFit/>
          </a:bodyPr>
          <a:lstStyle/>
          <a:p>
            <a:pPr algn="ctr"/>
            <a:r>
              <a:rPr lang="en-GB" sz="3600" dirty="0">
                <a:solidFill>
                  <a:srgbClr val="FF0000"/>
                </a:solidFill>
                <a:latin typeface="Calibri" panose="020F0502020204030204" pitchFamily="34" charset="0"/>
                <a:cs typeface="Calibri" panose="020F0502020204030204" pitchFamily="34" charset="0"/>
              </a:rPr>
              <a:t>More evaporation</a:t>
            </a:r>
          </a:p>
          <a:p>
            <a:pPr algn="ctr"/>
            <a:endParaRPr lang="en-GB" sz="3600" dirty="0">
              <a:solidFill>
                <a:srgbClr val="0070C0"/>
              </a:solidFill>
              <a:latin typeface="Calibri" panose="020F0502020204030204" pitchFamily="34" charset="0"/>
              <a:cs typeface="Calibri" panose="020F0502020204030204" pitchFamily="34" charset="0"/>
            </a:endParaRPr>
          </a:p>
          <a:p>
            <a:pPr algn="ctr"/>
            <a:r>
              <a:rPr lang="en-GB" sz="3600" dirty="0">
                <a:solidFill>
                  <a:srgbClr val="FF0000"/>
                </a:solidFill>
                <a:latin typeface="Calibri" panose="020F0502020204030204" pitchFamily="34" charset="0"/>
                <a:cs typeface="Calibri" panose="020F0502020204030204" pitchFamily="34" charset="0"/>
              </a:rPr>
              <a:t>More droughts</a:t>
            </a:r>
          </a:p>
        </p:txBody>
      </p:sp>
      <p:sp>
        <p:nvSpPr>
          <p:cNvPr id="3" name="Arrow: Down 2">
            <a:extLst>
              <a:ext uri="{FF2B5EF4-FFF2-40B4-BE49-F238E27FC236}">
                <a16:creationId xmlns:a16="http://schemas.microsoft.com/office/drawing/2014/main" id="{25829439-3DE2-4101-8814-3BFCCBFADD0D}"/>
              </a:ext>
            </a:extLst>
          </p:cNvPr>
          <p:cNvSpPr/>
          <p:nvPr/>
        </p:nvSpPr>
        <p:spPr>
          <a:xfrm>
            <a:off x="8826689" y="2850871"/>
            <a:ext cx="634622" cy="74849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latin typeface="Calibri" panose="020F0502020204030204" pitchFamily="34" charset="0"/>
              <a:cs typeface="Calibri" panose="020F0502020204030204" pitchFamily="34" charset="0"/>
            </a:endParaRPr>
          </a:p>
        </p:txBody>
      </p:sp>
      <p:sp>
        <p:nvSpPr>
          <p:cNvPr id="12" name="Arrow: Down 11">
            <a:extLst>
              <a:ext uri="{FF2B5EF4-FFF2-40B4-BE49-F238E27FC236}">
                <a16:creationId xmlns:a16="http://schemas.microsoft.com/office/drawing/2014/main" id="{EB706339-145F-4BEC-9EBF-2A93B2B8390B}"/>
              </a:ext>
            </a:extLst>
          </p:cNvPr>
          <p:cNvSpPr/>
          <p:nvPr/>
        </p:nvSpPr>
        <p:spPr>
          <a:xfrm rot="2877804">
            <a:off x="6418918" y="5407521"/>
            <a:ext cx="486467" cy="17320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Calibri" panose="020F0502020204030204" pitchFamily="34" charset="0"/>
              <a:cs typeface="Calibri" panose="020F0502020204030204" pitchFamily="34" charset="0"/>
            </a:endParaRPr>
          </a:p>
        </p:txBody>
      </p:sp>
      <p:sp>
        <p:nvSpPr>
          <p:cNvPr id="13" name="Arrow: Down 12">
            <a:extLst>
              <a:ext uri="{FF2B5EF4-FFF2-40B4-BE49-F238E27FC236}">
                <a16:creationId xmlns:a16="http://schemas.microsoft.com/office/drawing/2014/main" id="{CC2999BB-6010-4289-9002-333123964E70}"/>
              </a:ext>
            </a:extLst>
          </p:cNvPr>
          <p:cNvSpPr/>
          <p:nvPr/>
        </p:nvSpPr>
        <p:spPr>
          <a:xfrm rot="18960419">
            <a:off x="11194709" y="5415957"/>
            <a:ext cx="486467" cy="17320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Calibri" panose="020F0502020204030204" pitchFamily="34" charset="0"/>
              <a:cs typeface="Calibri" panose="020F0502020204030204" pitchFamily="34" charset="0"/>
            </a:endParaRPr>
          </a:p>
        </p:txBody>
      </p:sp>
      <p:sp>
        <p:nvSpPr>
          <p:cNvPr id="14" name="Arrow: Down 13">
            <a:extLst>
              <a:ext uri="{FF2B5EF4-FFF2-40B4-BE49-F238E27FC236}">
                <a16:creationId xmlns:a16="http://schemas.microsoft.com/office/drawing/2014/main" id="{280BEAAC-6349-4D20-AFD0-0E239FCB368C}"/>
              </a:ext>
            </a:extLst>
          </p:cNvPr>
          <p:cNvSpPr/>
          <p:nvPr/>
        </p:nvSpPr>
        <p:spPr>
          <a:xfrm>
            <a:off x="14291156" y="7592603"/>
            <a:ext cx="634622" cy="648000"/>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latin typeface="Calibri" panose="020F0502020204030204" pitchFamily="34" charset="0"/>
              <a:cs typeface="Calibri" panose="020F0502020204030204" pitchFamily="34" charset="0"/>
            </a:endParaRPr>
          </a:p>
        </p:txBody>
      </p:sp>
      <p:sp>
        <p:nvSpPr>
          <p:cNvPr id="15" name="Arrow: Down 14">
            <a:extLst>
              <a:ext uri="{FF2B5EF4-FFF2-40B4-BE49-F238E27FC236}">
                <a16:creationId xmlns:a16="http://schemas.microsoft.com/office/drawing/2014/main" id="{792B89C8-0162-428A-987D-D79AAEA573E9}"/>
              </a:ext>
            </a:extLst>
          </p:cNvPr>
          <p:cNvSpPr/>
          <p:nvPr/>
        </p:nvSpPr>
        <p:spPr>
          <a:xfrm>
            <a:off x="3624658" y="7592603"/>
            <a:ext cx="634622" cy="64800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Calibri" panose="020F0502020204030204" pitchFamily="34" charset="0"/>
              <a:cs typeface="Calibri" panose="020F0502020204030204" pitchFamily="34" charset="0"/>
            </a:endParaRPr>
          </a:p>
        </p:txBody>
      </p:sp>
      <p:sp>
        <p:nvSpPr>
          <p:cNvPr id="16" name="Arrow: Down 15">
            <a:extLst>
              <a:ext uri="{FF2B5EF4-FFF2-40B4-BE49-F238E27FC236}">
                <a16:creationId xmlns:a16="http://schemas.microsoft.com/office/drawing/2014/main" id="{C84EC384-6C10-4E23-94C3-7F7092A54337}"/>
              </a:ext>
            </a:extLst>
          </p:cNvPr>
          <p:cNvSpPr/>
          <p:nvPr/>
        </p:nvSpPr>
        <p:spPr>
          <a:xfrm>
            <a:off x="8826688" y="4114032"/>
            <a:ext cx="634622" cy="748499"/>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4C29BE2-9AE4-4559-91E0-C721BFC4BA09}"/>
              </a:ext>
            </a:extLst>
          </p:cNvPr>
          <p:cNvSpPr txBox="1"/>
          <p:nvPr/>
        </p:nvSpPr>
        <p:spPr>
          <a:xfrm>
            <a:off x="8021293" y="9462481"/>
            <a:ext cx="2640146" cy="646331"/>
          </a:xfrm>
          <a:prstGeom prst="rect">
            <a:avLst/>
          </a:prstGeom>
          <a:noFill/>
        </p:spPr>
        <p:txBody>
          <a:bodyPr wrap="none" rtlCol="0">
            <a:spAutoFit/>
          </a:bodyPr>
          <a:lstStyle/>
          <a:p>
            <a:r>
              <a:rPr lang="en-GB" sz="3600" dirty="0">
                <a:solidFill>
                  <a:srgbClr val="7030A0"/>
                </a:solidFill>
                <a:latin typeface="Calibri" panose="020F0502020204030204" pitchFamily="34" charset="0"/>
                <a:cs typeface="Calibri" panose="020F0502020204030204" pitchFamily="34" charset="0"/>
              </a:rPr>
              <a:t>Sea-level rise</a:t>
            </a:r>
          </a:p>
        </p:txBody>
      </p:sp>
      <p:sp>
        <p:nvSpPr>
          <p:cNvPr id="18" name="Arrow: Down 17">
            <a:extLst>
              <a:ext uri="{FF2B5EF4-FFF2-40B4-BE49-F238E27FC236}">
                <a16:creationId xmlns:a16="http://schemas.microsoft.com/office/drawing/2014/main" id="{28A19B57-8BA9-4558-8AF0-C160282BEA0A}"/>
              </a:ext>
            </a:extLst>
          </p:cNvPr>
          <p:cNvSpPr/>
          <p:nvPr/>
        </p:nvSpPr>
        <p:spPr>
          <a:xfrm rot="16200000">
            <a:off x="11647760" y="8840523"/>
            <a:ext cx="634622" cy="1946012"/>
          </a:xfrm>
          <a:prstGeom prst="down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D1CE80E8-7AF2-46E0-AD05-63403F00EF3B}"/>
              </a:ext>
            </a:extLst>
          </p:cNvPr>
          <p:cNvSpPr txBox="1"/>
          <p:nvPr/>
        </p:nvSpPr>
        <p:spPr>
          <a:xfrm>
            <a:off x="13183738" y="9455260"/>
            <a:ext cx="2852384" cy="646331"/>
          </a:xfrm>
          <a:prstGeom prst="rect">
            <a:avLst/>
          </a:prstGeom>
          <a:noFill/>
        </p:spPr>
        <p:txBody>
          <a:bodyPr wrap="none" rtlCol="0">
            <a:spAutoFit/>
          </a:bodyPr>
          <a:lstStyle/>
          <a:p>
            <a:r>
              <a:rPr lang="en-GB" sz="3600" dirty="0">
                <a:solidFill>
                  <a:srgbClr val="7030A0"/>
                </a:solidFill>
                <a:latin typeface="Calibri" panose="020F0502020204030204" pitchFamily="34" charset="0"/>
                <a:cs typeface="Calibri" panose="020F0502020204030204" pitchFamily="34" charset="0"/>
              </a:rPr>
              <a:t>More flooding</a:t>
            </a:r>
          </a:p>
        </p:txBody>
      </p:sp>
      <p:sp>
        <p:nvSpPr>
          <p:cNvPr id="20" name="Arrow: Down 19">
            <a:extLst>
              <a:ext uri="{FF2B5EF4-FFF2-40B4-BE49-F238E27FC236}">
                <a16:creationId xmlns:a16="http://schemas.microsoft.com/office/drawing/2014/main" id="{B64AD902-B37D-4401-ACBD-BF0E9ABEBBBC}"/>
              </a:ext>
            </a:extLst>
          </p:cNvPr>
          <p:cNvSpPr/>
          <p:nvPr/>
        </p:nvSpPr>
        <p:spPr>
          <a:xfrm>
            <a:off x="14291156" y="8878778"/>
            <a:ext cx="634622" cy="648000"/>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latin typeface="Calibri" panose="020F0502020204030204" pitchFamily="34" charset="0"/>
              <a:cs typeface="Calibri" panose="020F0502020204030204" pitchFamily="34" charset="0"/>
            </a:endParaRPr>
          </a:p>
        </p:txBody>
      </p:sp>
      <p:sp>
        <p:nvSpPr>
          <p:cNvPr id="5" name="Freeform 13">
            <a:extLst>
              <a:ext uri="{FF2B5EF4-FFF2-40B4-BE49-F238E27FC236}">
                <a16:creationId xmlns:a16="http://schemas.microsoft.com/office/drawing/2014/main" id="{F479E69C-26A9-EDD5-4C1C-C1EA2CFBE97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9" name="TextBox 14">
            <a:extLst>
              <a:ext uri="{FF2B5EF4-FFF2-40B4-BE49-F238E27FC236}">
                <a16:creationId xmlns:a16="http://schemas.microsoft.com/office/drawing/2014/main" id="{3EFF760E-4E2D-946D-919C-81E233DE3552}"/>
              </a:ext>
            </a:extLst>
          </p:cNvPr>
          <p:cNvSpPr txBox="1"/>
          <p:nvPr/>
        </p:nvSpPr>
        <p:spPr>
          <a:xfrm>
            <a:off x="817428" y="1328408"/>
            <a:ext cx="12996543" cy="1724383"/>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Changes in Extreme Precipitation and Droughts</a:t>
            </a:r>
          </a:p>
        </p:txBody>
      </p:sp>
    </p:spTree>
    <p:extLst>
      <p:ext uri="{BB962C8B-B14F-4D97-AF65-F5344CB8AC3E}">
        <p14:creationId xmlns:p14="http://schemas.microsoft.com/office/powerpoint/2010/main" val="68381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animBg="1"/>
      <p:bldP spid="12" grpId="0" animBg="1"/>
      <p:bldP spid="13" grpId="0" animBg="1"/>
      <p:bldP spid="14" grpId="0" animBg="1"/>
      <p:bldP spid="15" grpId="0" animBg="1"/>
      <p:bldP spid="16" grpId="0" animBg="1"/>
      <p:bldP spid="4" grpId="0"/>
      <p:bldP spid="18" grpId="0" animBg="1"/>
      <p:bldP spid="19" grpId="0"/>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CCDD27F-4D5C-4E65-B1DF-8B3BC04BF2B4}"/>
              </a:ext>
            </a:extLst>
          </p:cNvPr>
          <p:cNvPicPr>
            <a:picLocks noChangeAspect="1"/>
          </p:cNvPicPr>
          <p:nvPr/>
        </p:nvPicPr>
        <p:blipFill>
          <a:blip r:embed="rId3"/>
          <a:stretch>
            <a:fillRect/>
          </a:stretch>
        </p:blipFill>
        <p:spPr>
          <a:xfrm>
            <a:off x="868999" y="2167934"/>
            <a:ext cx="12625914" cy="6716694"/>
          </a:xfrm>
          <a:prstGeom prst="rect">
            <a:avLst/>
          </a:prstGeom>
        </p:spPr>
      </p:pic>
      <p:sp>
        <p:nvSpPr>
          <p:cNvPr id="9" name="TextBox 8">
            <a:extLst>
              <a:ext uri="{FF2B5EF4-FFF2-40B4-BE49-F238E27FC236}">
                <a16:creationId xmlns:a16="http://schemas.microsoft.com/office/drawing/2014/main" id="{1321684E-9177-4482-9182-64CDC9D2727C}"/>
              </a:ext>
            </a:extLst>
          </p:cNvPr>
          <p:cNvSpPr txBox="1"/>
          <p:nvPr/>
        </p:nvSpPr>
        <p:spPr>
          <a:xfrm>
            <a:off x="7181956" y="9917668"/>
            <a:ext cx="11141191" cy="369332"/>
          </a:xfrm>
          <a:prstGeom prst="rect">
            <a:avLst/>
          </a:prstGeom>
          <a:noFill/>
        </p:spPr>
        <p:txBody>
          <a:bodyPr wrap="none" rtlCol="0">
            <a:spAutoFit/>
          </a:bodyPr>
          <a:lstStyle/>
          <a:p>
            <a:r>
              <a:rPr lang="en-GB" dirty="0"/>
              <a:t>WMO Atlas of Mortality and Economic Losses from Weather, Climate and Water Extremes (1970–2019)</a:t>
            </a:r>
          </a:p>
        </p:txBody>
      </p:sp>
      <p:pic>
        <p:nvPicPr>
          <p:cNvPr id="12" name="Picture 11">
            <a:extLst>
              <a:ext uri="{FF2B5EF4-FFF2-40B4-BE49-F238E27FC236}">
                <a16:creationId xmlns:a16="http://schemas.microsoft.com/office/drawing/2014/main" id="{443100DA-6360-4CDF-837F-4F3006F56520}"/>
              </a:ext>
            </a:extLst>
          </p:cNvPr>
          <p:cNvPicPr>
            <a:picLocks noChangeAspect="1"/>
          </p:cNvPicPr>
          <p:nvPr/>
        </p:nvPicPr>
        <p:blipFill>
          <a:blip r:embed="rId4"/>
          <a:stretch>
            <a:fillRect/>
          </a:stretch>
        </p:blipFill>
        <p:spPr>
          <a:xfrm>
            <a:off x="1345228" y="8691584"/>
            <a:ext cx="11060069" cy="657317"/>
          </a:xfrm>
          <a:prstGeom prst="rect">
            <a:avLst/>
          </a:prstGeom>
        </p:spPr>
      </p:pic>
      <p:sp>
        <p:nvSpPr>
          <p:cNvPr id="10" name="TextBox 9">
            <a:extLst>
              <a:ext uri="{FF2B5EF4-FFF2-40B4-BE49-F238E27FC236}">
                <a16:creationId xmlns:a16="http://schemas.microsoft.com/office/drawing/2014/main" id="{699A083D-39F1-47B0-8BD8-24BA8CAB8D72}"/>
              </a:ext>
            </a:extLst>
          </p:cNvPr>
          <p:cNvSpPr txBox="1"/>
          <p:nvPr/>
        </p:nvSpPr>
        <p:spPr>
          <a:xfrm>
            <a:off x="13340928" y="4112448"/>
            <a:ext cx="4670346" cy="2062103"/>
          </a:xfrm>
          <a:prstGeom prst="rect">
            <a:avLst/>
          </a:prstGeom>
          <a:noFill/>
        </p:spPr>
        <p:txBody>
          <a:bodyPr wrap="square" rtlCol="0">
            <a:spAutoFit/>
          </a:bodyPr>
          <a:lstStyle/>
          <a:p>
            <a:r>
              <a:rPr lang="en-GB" sz="3200" dirty="0">
                <a:latin typeface="Calibri" panose="020F0502020204030204" pitchFamily="34" charset="0"/>
                <a:cs typeface="Calibri" panose="020F0502020204030204" pitchFamily="34" charset="0"/>
              </a:rPr>
              <a:t>Number of reported weather-related disasters have increased by a factor of 5</a:t>
            </a:r>
          </a:p>
        </p:txBody>
      </p:sp>
      <p:sp>
        <p:nvSpPr>
          <p:cNvPr id="2" name="Freeform 13">
            <a:extLst>
              <a:ext uri="{FF2B5EF4-FFF2-40B4-BE49-F238E27FC236}">
                <a16:creationId xmlns:a16="http://schemas.microsoft.com/office/drawing/2014/main" id="{78DECA2A-2941-D40C-EB4C-E6CAB0783BDE}"/>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6EE510A2-EB43-2ED9-0965-AE51806582AF}"/>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Indicators of GCC: Extreme Weather Events</a:t>
            </a:r>
          </a:p>
        </p:txBody>
      </p:sp>
    </p:spTree>
    <p:extLst>
      <p:ext uri="{BB962C8B-B14F-4D97-AF65-F5344CB8AC3E}">
        <p14:creationId xmlns:p14="http://schemas.microsoft.com/office/powerpoint/2010/main" val="1048321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58F8-E6EE-2530-CC90-896967FEF36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56D30D8-5F0C-5765-CB49-C3901F110DD2}"/>
              </a:ext>
            </a:extLst>
          </p:cNvPr>
          <p:cNvPicPr>
            <a:picLocks noChangeAspect="1"/>
          </p:cNvPicPr>
          <p:nvPr/>
        </p:nvPicPr>
        <p:blipFill>
          <a:blip r:embed="rId3"/>
          <a:stretch>
            <a:fillRect/>
          </a:stretch>
        </p:blipFill>
        <p:spPr>
          <a:xfrm>
            <a:off x="394858" y="2167933"/>
            <a:ext cx="7643398" cy="7643398"/>
          </a:xfrm>
          <a:prstGeom prst="rect">
            <a:avLst/>
          </a:prstGeom>
        </p:spPr>
      </p:pic>
      <p:sp>
        <p:nvSpPr>
          <p:cNvPr id="4" name="TextBox 3">
            <a:extLst>
              <a:ext uri="{FF2B5EF4-FFF2-40B4-BE49-F238E27FC236}">
                <a16:creationId xmlns:a16="http://schemas.microsoft.com/office/drawing/2014/main" id="{F14F0E6B-CE65-B188-54C2-F7AD620CA2AE}"/>
              </a:ext>
            </a:extLst>
          </p:cNvPr>
          <p:cNvSpPr txBox="1"/>
          <p:nvPr/>
        </p:nvSpPr>
        <p:spPr>
          <a:xfrm>
            <a:off x="11968641" y="9886890"/>
            <a:ext cx="6319359" cy="400110"/>
          </a:xfrm>
          <a:prstGeom prst="rect">
            <a:avLst/>
          </a:prstGeom>
          <a:noFill/>
        </p:spPr>
        <p:txBody>
          <a:bodyPr wrap="none" rtlCol="0">
            <a:spAutoFit/>
          </a:bodyPr>
          <a:lstStyle/>
          <a:p>
            <a:r>
              <a:rPr lang="en-GB" sz="2000" dirty="0"/>
              <a:t>Figure SPM.1, AR6 Summary for Policymakers Report</a:t>
            </a:r>
          </a:p>
        </p:txBody>
      </p:sp>
      <p:sp>
        <p:nvSpPr>
          <p:cNvPr id="3" name="Freeform 13">
            <a:extLst>
              <a:ext uri="{FF2B5EF4-FFF2-40B4-BE49-F238E27FC236}">
                <a16:creationId xmlns:a16="http://schemas.microsoft.com/office/drawing/2014/main" id="{2C021E3E-EC94-1B95-3CCB-CB187AFB5C40}"/>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5" name="TextBox 14">
            <a:extLst>
              <a:ext uri="{FF2B5EF4-FFF2-40B4-BE49-F238E27FC236}">
                <a16:creationId xmlns:a16="http://schemas.microsoft.com/office/drawing/2014/main" id="{EBB3C3B7-C5D5-F523-78B2-D9BD429D8578}"/>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Unprecedented changes? </a:t>
            </a:r>
          </a:p>
        </p:txBody>
      </p:sp>
      <p:pic>
        <p:nvPicPr>
          <p:cNvPr id="9" name="Content Placeholder 4" descr="Chart, bar chart, histogram&#10;&#10;Description automatically generated">
            <a:extLst>
              <a:ext uri="{FF2B5EF4-FFF2-40B4-BE49-F238E27FC236}">
                <a16:creationId xmlns:a16="http://schemas.microsoft.com/office/drawing/2014/main" id="{7F52B74D-BDCA-322D-79A9-C9AD61E44986}"/>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8300904" y="3559077"/>
            <a:ext cx="9138957" cy="6070878"/>
          </a:xfrm>
        </p:spPr>
      </p:pic>
    </p:spTree>
    <p:extLst>
      <p:ext uri="{BB962C8B-B14F-4D97-AF65-F5344CB8AC3E}">
        <p14:creationId xmlns:p14="http://schemas.microsoft.com/office/powerpoint/2010/main" val="370128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9" name="Picture 8" descr="A diagram of climate change&#10;&#10;Description automatically generated">
            <a:extLst>
              <a:ext uri="{FF2B5EF4-FFF2-40B4-BE49-F238E27FC236}">
                <a16:creationId xmlns:a16="http://schemas.microsoft.com/office/drawing/2014/main" id="{EF2460A9-513D-215E-3939-29BAEF1BB5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 y="824662"/>
            <a:ext cx="11976652" cy="8923536"/>
          </a:xfrm>
          <a:prstGeom prst="rect">
            <a:avLst/>
          </a:prstGeom>
        </p:spPr>
      </p:pic>
      <p:sp>
        <p:nvSpPr>
          <p:cNvPr id="3" name="TextBox 2">
            <a:extLst>
              <a:ext uri="{FF2B5EF4-FFF2-40B4-BE49-F238E27FC236}">
                <a16:creationId xmlns:a16="http://schemas.microsoft.com/office/drawing/2014/main" id="{5CEB7224-AC29-58D8-841A-760BB6DC7845}"/>
              </a:ext>
            </a:extLst>
          </p:cNvPr>
          <p:cNvSpPr txBox="1"/>
          <p:nvPr/>
        </p:nvSpPr>
        <p:spPr>
          <a:xfrm>
            <a:off x="16170510" y="9436631"/>
            <a:ext cx="3635392" cy="584775"/>
          </a:xfrm>
          <a:prstGeom prst="rect">
            <a:avLst/>
          </a:prstGeom>
          <a:noFill/>
        </p:spPr>
        <p:txBody>
          <a:bodyPr wrap="square" rtlCol="0">
            <a:spAutoFit/>
          </a:bodyPr>
          <a:lstStyle/>
          <a:p>
            <a:r>
              <a:rPr lang="en-US" sz="3200" b="1" dirty="0">
                <a:solidFill>
                  <a:srgbClr val="FF0000"/>
                </a:solidFill>
              </a:rPr>
              <a:t>WEEK 8</a:t>
            </a:r>
          </a:p>
        </p:txBody>
      </p:sp>
    </p:spTree>
    <p:extLst>
      <p:ext uri="{BB962C8B-B14F-4D97-AF65-F5344CB8AC3E}">
        <p14:creationId xmlns:p14="http://schemas.microsoft.com/office/powerpoint/2010/main" val="4169010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3">
            <a:extLst>
              <a:ext uri="{FF2B5EF4-FFF2-40B4-BE49-F238E27FC236}">
                <a16:creationId xmlns:a16="http://schemas.microsoft.com/office/drawing/2014/main" id="{C71D23AC-250F-72D7-91B9-B8EB7374550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pic>
        <p:nvPicPr>
          <p:cNvPr id="2" name="Picture 1" descr="Chart&#10;&#10;Description automatically generated">
            <a:extLst>
              <a:ext uri="{FF2B5EF4-FFF2-40B4-BE49-F238E27FC236}">
                <a16:creationId xmlns:a16="http://schemas.microsoft.com/office/drawing/2014/main" id="{CFF0571B-9DE5-0A08-776C-A1F96FA3B20E}"/>
              </a:ext>
            </a:extLst>
          </p:cNvPr>
          <p:cNvPicPr>
            <a:picLocks noChangeAspect="1"/>
          </p:cNvPicPr>
          <p:nvPr/>
        </p:nvPicPr>
        <p:blipFill>
          <a:blip r:embed="rId4">
            <a:extLst>
              <a:ext uri="{28A0092B-C50C-407E-A947-70E740481C1C}">
                <a14:useLocalDpi xmlns:a14="http://schemas.microsoft.com/office/drawing/2010/main" val="0"/>
              </a:ext>
            </a:extLst>
          </a:blip>
          <a:srcRect t="13590" b="5781"/>
          <a:stretch/>
        </p:blipFill>
        <p:spPr>
          <a:xfrm>
            <a:off x="803654" y="2181829"/>
            <a:ext cx="13273293" cy="7380375"/>
          </a:xfrm>
          <a:prstGeom prst="rect">
            <a:avLst/>
          </a:prstGeom>
        </p:spPr>
      </p:pic>
      <p:sp>
        <p:nvSpPr>
          <p:cNvPr id="3" name="TextBox 14">
            <a:extLst>
              <a:ext uri="{FF2B5EF4-FFF2-40B4-BE49-F238E27FC236}">
                <a16:creationId xmlns:a16="http://schemas.microsoft.com/office/drawing/2014/main" id="{AC1C61E3-A769-59D6-A4BD-C06985D94A6F}"/>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Future projections </a:t>
            </a:r>
          </a:p>
        </p:txBody>
      </p:sp>
      <p:sp>
        <p:nvSpPr>
          <p:cNvPr id="4" name="TextBox 3">
            <a:extLst>
              <a:ext uri="{FF2B5EF4-FFF2-40B4-BE49-F238E27FC236}">
                <a16:creationId xmlns:a16="http://schemas.microsoft.com/office/drawing/2014/main" id="{D3D43D39-4120-BADB-BB1D-26CB42C753D0}"/>
              </a:ext>
            </a:extLst>
          </p:cNvPr>
          <p:cNvSpPr txBox="1"/>
          <p:nvPr/>
        </p:nvSpPr>
        <p:spPr>
          <a:xfrm>
            <a:off x="16170510" y="9436631"/>
            <a:ext cx="3635392" cy="584775"/>
          </a:xfrm>
          <a:prstGeom prst="rect">
            <a:avLst/>
          </a:prstGeom>
          <a:noFill/>
        </p:spPr>
        <p:txBody>
          <a:bodyPr wrap="square" rtlCol="0">
            <a:spAutoFit/>
          </a:bodyPr>
          <a:lstStyle/>
          <a:p>
            <a:r>
              <a:rPr lang="en-US" sz="3200" b="1" dirty="0">
                <a:solidFill>
                  <a:srgbClr val="FF0000"/>
                </a:solidFill>
              </a:rPr>
              <a:t>WEEK 9</a:t>
            </a:r>
          </a:p>
        </p:txBody>
      </p:sp>
    </p:spTree>
    <p:extLst>
      <p:ext uri="{BB962C8B-B14F-4D97-AF65-F5344CB8AC3E}">
        <p14:creationId xmlns:p14="http://schemas.microsoft.com/office/powerpoint/2010/main" val="14157269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F427A-A4FD-78DF-106E-DEE6BFC72BD2}"/>
            </a:ext>
          </a:extLst>
        </p:cNvPr>
        <p:cNvGrpSpPr/>
        <p:nvPr/>
      </p:nvGrpSpPr>
      <p:grpSpPr>
        <a:xfrm>
          <a:off x="0" y="0"/>
          <a:ext cx="0" cy="0"/>
          <a:chOff x="0" y="0"/>
          <a:chExt cx="0" cy="0"/>
        </a:xfrm>
      </p:grpSpPr>
      <p:sp>
        <p:nvSpPr>
          <p:cNvPr id="7" name="Freeform 13">
            <a:extLst>
              <a:ext uri="{FF2B5EF4-FFF2-40B4-BE49-F238E27FC236}">
                <a16:creationId xmlns:a16="http://schemas.microsoft.com/office/drawing/2014/main" id="{588CE269-C341-A33B-06D8-6000D68538F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3" name="TextBox 14">
            <a:extLst>
              <a:ext uri="{FF2B5EF4-FFF2-40B4-BE49-F238E27FC236}">
                <a16:creationId xmlns:a16="http://schemas.microsoft.com/office/drawing/2014/main" id="{482C14A5-D708-1A41-7C32-DBC436A96126}"/>
              </a:ext>
            </a:extLst>
          </p:cNvPr>
          <p:cNvSpPr txBox="1"/>
          <p:nvPr/>
        </p:nvSpPr>
        <p:spPr>
          <a:xfrm>
            <a:off x="817428" y="1632756"/>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Humans are now considering engineering their climate</a:t>
            </a:r>
          </a:p>
        </p:txBody>
      </p:sp>
      <p:pic>
        <p:nvPicPr>
          <p:cNvPr id="6" name="Picture 5">
            <a:extLst>
              <a:ext uri="{FF2B5EF4-FFF2-40B4-BE49-F238E27FC236}">
                <a16:creationId xmlns:a16="http://schemas.microsoft.com/office/drawing/2014/main" id="{72EC22C0-65CF-8EDB-9FEB-347C74BED106}"/>
              </a:ext>
            </a:extLst>
          </p:cNvPr>
          <p:cNvPicPr>
            <a:picLocks noChangeAspect="1"/>
          </p:cNvPicPr>
          <p:nvPr/>
        </p:nvPicPr>
        <p:blipFill>
          <a:blip r:embed="rId4"/>
          <a:stretch>
            <a:fillRect/>
          </a:stretch>
        </p:blipFill>
        <p:spPr>
          <a:xfrm>
            <a:off x="7848600" y="2695412"/>
            <a:ext cx="9621972" cy="7033605"/>
          </a:xfrm>
          <a:prstGeom prst="rect">
            <a:avLst/>
          </a:prstGeom>
        </p:spPr>
      </p:pic>
      <p:graphicFrame>
        <p:nvGraphicFramePr>
          <p:cNvPr id="9" name="TextBox 4">
            <a:extLst>
              <a:ext uri="{FF2B5EF4-FFF2-40B4-BE49-F238E27FC236}">
                <a16:creationId xmlns:a16="http://schemas.microsoft.com/office/drawing/2014/main" id="{8CFB2907-9B3B-1BC9-81E4-0B7D82029321}"/>
              </a:ext>
            </a:extLst>
          </p:cNvPr>
          <p:cNvGraphicFramePr/>
          <p:nvPr>
            <p:extLst>
              <p:ext uri="{D42A27DB-BD31-4B8C-83A1-F6EECF244321}">
                <p14:modId xmlns:p14="http://schemas.microsoft.com/office/powerpoint/2010/main" val="1990397130"/>
              </p:ext>
            </p:extLst>
          </p:nvPr>
        </p:nvGraphicFramePr>
        <p:xfrm>
          <a:off x="817428" y="2695413"/>
          <a:ext cx="6783522" cy="70336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7B94180E-1C47-F391-813B-318E9917AE06}"/>
              </a:ext>
            </a:extLst>
          </p:cNvPr>
          <p:cNvSpPr txBox="1"/>
          <p:nvPr/>
        </p:nvSpPr>
        <p:spPr>
          <a:xfrm>
            <a:off x="13182600" y="9917668"/>
            <a:ext cx="5486400" cy="369332"/>
          </a:xfrm>
          <a:prstGeom prst="rect">
            <a:avLst/>
          </a:prstGeom>
          <a:noFill/>
        </p:spPr>
        <p:txBody>
          <a:bodyPr wrap="square" rtlCol="0">
            <a:spAutoFit/>
          </a:bodyPr>
          <a:lstStyle/>
          <a:p>
            <a:r>
              <a:rPr lang="en-US" dirty="0"/>
              <a:t>Lawrence et al., 2018, Nature Communications</a:t>
            </a:r>
          </a:p>
        </p:txBody>
      </p:sp>
      <p:sp>
        <p:nvSpPr>
          <p:cNvPr id="2" name="TextBox 1">
            <a:extLst>
              <a:ext uri="{FF2B5EF4-FFF2-40B4-BE49-F238E27FC236}">
                <a16:creationId xmlns:a16="http://schemas.microsoft.com/office/drawing/2014/main" id="{FCE84E3D-B16E-4A7E-3CE5-347BAB716530}"/>
              </a:ext>
            </a:extLst>
          </p:cNvPr>
          <p:cNvSpPr txBox="1"/>
          <p:nvPr/>
        </p:nvSpPr>
        <p:spPr>
          <a:xfrm>
            <a:off x="15795817" y="2010817"/>
            <a:ext cx="3635392" cy="584775"/>
          </a:xfrm>
          <a:prstGeom prst="rect">
            <a:avLst/>
          </a:prstGeom>
          <a:noFill/>
        </p:spPr>
        <p:txBody>
          <a:bodyPr wrap="square" rtlCol="0">
            <a:spAutoFit/>
          </a:bodyPr>
          <a:lstStyle/>
          <a:p>
            <a:r>
              <a:rPr lang="en-US" sz="3200" b="1" dirty="0">
                <a:solidFill>
                  <a:srgbClr val="FF0000"/>
                </a:solidFill>
              </a:rPr>
              <a:t>WEEK 10</a:t>
            </a:r>
          </a:p>
        </p:txBody>
      </p:sp>
    </p:spTree>
    <p:extLst>
      <p:ext uri="{BB962C8B-B14F-4D97-AF65-F5344CB8AC3E}">
        <p14:creationId xmlns:p14="http://schemas.microsoft.com/office/powerpoint/2010/main" val="214752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A251-E6CD-3976-91CF-AAF8E0432CD8}"/>
            </a:ext>
          </a:extLst>
        </p:cNvPr>
        <p:cNvGrpSpPr/>
        <p:nvPr/>
      </p:nvGrpSpPr>
      <p:grpSpPr>
        <a:xfrm>
          <a:off x="0" y="0"/>
          <a:ext cx="0" cy="0"/>
          <a:chOff x="0" y="0"/>
          <a:chExt cx="0" cy="0"/>
        </a:xfrm>
      </p:grpSpPr>
      <p:sp>
        <p:nvSpPr>
          <p:cNvPr id="7" name="Freeform 13">
            <a:extLst>
              <a:ext uri="{FF2B5EF4-FFF2-40B4-BE49-F238E27FC236}">
                <a16:creationId xmlns:a16="http://schemas.microsoft.com/office/drawing/2014/main" id="{D24BF1AD-3A7C-E619-9A21-11170B7BACA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2" name="Picture 1">
            <a:extLst>
              <a:ext uri="{FF2B5EF4-FFF2-40B4-BE49-F238E27FC236}">
                <a16:creationId xmlns:a16="http://schemas.microsoft.com/office/drawing/2014/main" id="{0B09DCA7-5A54-C3F3-0695-0D88F33F4161}"/>
              </a:ext>
            </a:extLst>
          </p:cNvPr>
          <p:cNvPicPr>
            <a:picLocks noChangeAspect="1"/>
          </p:cNvPicPr>
          <p:nvPr/>
        </p:nvPicPr>
        <p:blipFill>
          <a:blip r:embed="rId4"/>
          <a:stretch>
            <a:fillRect/>
          </a:stretch>
        </p:blipFill>
        <p:spPr>
          <a:xfrm>
            <a:off x="803652" y="1965858"/>
            <a:ext cx="6005710" cy="7524484"/>
          </a:xfrm>
          <a:prstGeom prst="rect">
            <a:avLst/>
          </a:prstGeom>
        </p:spPr>
      </p:pic>
      <p:sp>
        <p:nvSpPr>
          <p:cNvPr id="4" name="TextBox 3">
            <a:extLst>
              <a:ext uri="{FF2B5EF4-FFF2-40B4-BE49-F238E27FC236}">
                <a16:creationId xmlns:a16="http://schemas.microsoft.com/office/drawing/2014/main" id="{002FBA7C-B3EA-9462-02B3-D4B785499038}"/>
              </a:ext>
            </a:extLst>
          </p:cNvPr>
          <p:cNvSpPr txBox="1"/>
          <p:nvPr/>
        </p:nvSpPr>
        <p:spPr>
          <a:xfrm>
            <a:off x="6502952" y="3018504"/>
            <a:ext cx="11513127" cy="5940088"/>
          </a:xfrm>
          <a:prstGeom prst="rect">
            <a:avLst/>
          </a:prstGeom>
          <a:noFill/>
        </p:spPr>
        <p:txBody>
          <a:bodyPr wrap="square">
            <a:spAutoFit/>
          </a:bodyPr>
          <a:lstStyle/>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Human Activities as Drivers</a:t>
            </a:r>
            <a:r>
              <a:rPr lang="en-GB" sz="2000" b="0" i="0" u="none" strike="noStrike" dirty="0">
                <a:effectLst/>
                <a:latin typeface="Calibri" panose="020F0502020204030204" pitchFamily="34" charset="0"/>
                <a:cs typeface="Calibri" panose="020F0502020204030204" pitchFamily="34" charset="0"/>
              </a:rPr>
              <a:t>: Human activities, including fossil fuel combustion, land-use changes, and industrial processes, are the primary drivers of greenhouse gas emissions.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CO₂</a:t>
            </a:r>
            <a:r>
              <a:rPr lang="en-GB" sz="2000" b="0" i="0" u="none" strike="noStrike" dirty="0">
                <a:effectLst/>
                <a:latin typeface="Calibri" panose="020F0502020204030204" pitchFamily="34" charset="0"/>
                <a:cs typeface="Calibri" panose="020F0502020204030204" pitchFamily="34" charset="0"/>
              </a:rPr>
              <a:t>: Carbon dioxide (CO₂) is the most significant greenhouse gas emitted due to human activities, with other contributors like methane (CH₄) and nitrous oxide (N₂O) also playing major roles.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Non-CO₂ Influences</a:t>
            </a:r>
            <a:r>
              <a:rPr lang="en-GB" sz="2000" b="0" i="0" u="none" strike="noStrike" dirty="0">
                <a:effectLst/>
                <a:latin typeface="Calibri" panose="020F0502020204030204" pitchFamily="34" charset="0"/>
                <a:cs typeface="Calibri" panose="020F0502020204030204" pitchFamily="34" charset="0"/>
              </a:rPr>
              <a:t>: Short-lived climate forcers such as aerosols, black carbon, and methane have complex and varied climate impacts.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Trends in Emissions</a:t>
            </a:r>
            <a:r>
              <a:rPr lang="en-GB" sz="2000" b="0" i="0" u="none" strike="noStrike" dirty="0">
                <a:effectLst/>
                <a:latin typeface="Calibri" panose="020F0502020204030204" pitchFamily="34" charset="0"/>
                <a:cs typeface="Calibri" panose="020F0502020204030204" pitchFamily="34" charset="0"/>
              </a:rPr>
              <a:t>: Emissions of CO₂, CH₄, and other greenhouse gases have risen sharply over the past century, with future pathways depending on mitigation efforts.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Atmospheric Concentrations</a:t>
            </a:r>
            <a:r>
              <a:rPr lang="en-GB" sz="2000" b="0" i="0" u="none" strike="noStrike" dirty="0">
                <a:effectLst/>
                <a:latin typeface="Calibri" panose="020F0502020204030204" pitchFamily="34" charset="0"/>
                <a:cs typeface="Calibri" panose="020F0502020204030204" pitchFamily="34" charset="0"/>
              </a:rPr>
              <a:t>: Greenhouse gas concentrations have significantly increased since pre-industrial times, with CO₂ levels now at their highest in millions of years.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Radiative Forcing</a:t>
            </a:r>
            <a:r>
              <a:rPr lang="en-GB" sz="2000" b="0" i="0" u="none" strike="noStrike" dirty="0">
                <a:effectLst/>
                <a:latin typeface="Calibri" panose="020F0502020204030204" pitchFamily="34" charset="0"/>
                <a:cs typeface="Calibri" panose="020F0502020204030204" pitchFamily="34" charset="0"/>
              </a:rPr>
              <a:t>: Anthropogenic activities are the primary source of positive radiative forcing, which is driving global warming. Aerosols contribute a negative forcing, partially offsetting warming.</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Future Projections</a:t>
            </a:r>
            <a:r>
              <a:rPr lang="en-GB" sz="2000" b="0" i="0" u="none" strike="noStrike" dirty="0">
                <a:effectLst/>
                <a:latin typeface="Calibri" panose="020F0502020204030204" pitchFamily="34" charset="0"/>
                <a:cs typeface="Calibri" panose="020F0502020204030204" pitchFamily="34" charset="0"/>
              </a:rPr>
              <a:t>: Without significant mitigation, global temperatures are projected to rise well beyond 1.5°C and 2°C, leading to severe climate impacts.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Regional Climate Change</a:t>
            </a:r>
            <a:r>
              <a:rPr lang="en-GB" sz="2000" b="0" i="0" u="none" strike="noStrike" dirty="0">
                <a:effectLst/>
                <a:latin typeface="Calibri" panose="020F0502020204030204" pitchFamily="34" charset="0"/>
                <a:cs typeface="Calibri" panose="020F0502020204030204" pitchFamily="34" charset="0"/>
              </a:rPr>
              <a:t>: The effects of global warming, such as temperature changes, sea level rise, and altered precipitation patterns, will vary regionally but will universally affect ecosystems and human systems.</a:t>
            </a:r>
          </a:p>
          <a:p>
            <a:pPr marL="342900" indent="-342900" algn="l">
              <a:buFont typeface="+mj-lt"/>
              <a:buAutoNum type="arabicPeriod"/>
            </a:pPr>
            <a:r>
              <a:rPr lang="en-GB" sz="2000" b="1" i="0" u="none" strike="noStrike" dirty="0">
                <a:effectLst/>
                <a:latin typeface="Calibri" panose="020F0502020204030204" pitchFamily="34" charset="0"/>
                <a:cs typeface="Calibri" panose="020F0502020204030204" pitchFamily="34" charset="0"/>
              </a:rPr>
              <a:t>Climatic Impact Drivers</a:t>
            </a:r>
            <a:r>
              <a:rPr lang="en-GB" sz="2000" b="0" i="0" u="none" strike="noStrike" dirty="0">
                <a:effectLst/>
                <a:latin typeface="Calibri" panose="020F0502020204030204" pitchFamily="34" charset="0"/>
                <a:cs typeface="Calibri" panose="020F0502020204030204" pitchFamily="34" charset="0"/>
              </a:rPr>
              <a:t>: Key impacts include changes in temperature and precipitation patterns, leading to extreme events, biodiversity loss, and threats to food and water security.</a:t>
            </a:r>
          </a:p>
        </p:txBody>
      </p:sp>
      <p:sp>
        <p:nvSpPr>
          <p:cNvPr id="3" name="TextBox 14">
            <a:extLst>
              <a:ext uri="{FF2B5EF4-FFF2-40B4-BE49-F238E27FC236}">
                <a16:creationId xmlns:a16="http://schemas.microsoft.com/office/drawing/2014/main" id="{F26D9C0F-34BB-CB87-7F2E-347B3A5CB23C}"/>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Today’s Lecture Summary</a:t>
            </a:r>
          </a:p>
        </p:txBody>
      </p:sp>
    </p:spTree>
    <p:extLst>
      <p:ext uri="{BB962C8B-B14F-4D97-AF65-F5344CB8AC3E}">
        <p14:creationId xmlns:p14="http://schemas.microsoft.com/office/powerpoint/2010/main" val="223456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ED8B3-04BA-C88C-1437-6722C98CEFC4}"/>
            </a:ext>
          </a:extLst>
        </p:cNvPr>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ACCBA6E8-D987-BE0E-1D6A-CB95DB70BB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03CAB8CE-55AB-25FA-A50D-C11BA80E80A6}"/>
              </a:ext>
            </a:extLst>
          </p:cNvPr>
          <p:cNvSpPr txBox="1"/>
          <p:nvPr/>
        </p:nvSpPr>
        <p:spPr>
          <a:xfrm>
            <a:off x="440805" y="4023689"/>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chemeClr val="bg1"/>
                </a:solidFill>
                <a:latin typeface="DM Sans Bold"/>
              </a:rPr>
              <a:t>Intended Learning Outcomes</a:t>
            </a:r>
          </a:p>
        </p:txBody>
      </p:sp>
      <p:sp>
        <p:nvSpPr>
          <p:cNvPr id="8" name="Freeform 13">
            <a:extLst>
              <a:ext uri="{FF2B5EF4-FFF2-40B4-BE49-F238E27FC236}">
                <a16:creationId xmlns:a16="http://schemas.microsoft.com/office/drawing/2014/main" id="{9DA3BFBF-71ED-27C5-23A1-8A4203BEAED0}"/>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2" name="Content Placeholder 2">
            <a:extLst>
              <a:ext uri="{FF2B5EF4-FFF2-40B4-BE49-F238E27FC236}">
                <a16:creationId xmlns:a16="http://schemas.microsoft.com/office/drawing/2014/main" id="{F79EE35B-178F-EB4D-24D4-271BA7794C13}"/>
              </a:ext>
            </a:extLst>
          </p:cNvPr>
          <p:cNvSpPr>
            <a:spLocks noGrp="1"/>
          </p:cNvSpPr>
          <p:nvPr>
            <p:ph idx="1"/>
          </p:nvPr>
        </p:nvSpPr>
        <p:spPr>
          <a:xfrm>
            <a:off x="417026" y="5701484"/>
            <a:ext cx="17453947" cy="4027534"/>
          </a:xfrm>
        </p:spPr>
        <p:txBody>
          <a:bodyPr>
            <a:normAutofit/>
          </a:bodyPr>
          <a:lstStyle/>
          <a:p>
            <a:pPr marL="0" indent="0">
              <a:buNone/>
            </a:pPr>
            <a:r>
              <a:rPr lang="en-GB" dirty="0">
                <a:latin typeface="Calibri" panose="020F0502020204030204" pitchFamily="34" charset="0"/>
                <a:cs typeface="Calibri" panose="020F0502020204030204" pitchFamily="34" charset="0"/>
              </a:rPr>
              <a:t>Hopefully now you will be able to:</a:t>
            </a:r>
          </a:p>
          <a:p>
            <a:pPr marL="514350" indent="-514350" algn="l">
              <a:buFont typeface="+mj-lt"/>
              <a:buAutoNum type="arabicPeriod"/>
            </a:pPr>
            <a:r>
              <a:rPr lang="en-GB" b="1" i="0" u="none" strike="noStrike" dirty="0">
                <a:solidFill>
                  <a:srgbClr val="000000"/>
                </a:solidFill>
                <a:effectLst/>
                <a:latin typeface="Calibri" panose="020F0502020204030204" pitchFamily="34" charset="0"/>
                <a:cs typeface="Calibri" panose="020F0502020204030204" pitchFamily="34" charset="0"/>
              </a:rPr>
              <a:t>Understand Climate Change Basics:</a:t>
            </a:r>
            <a:r>
              <a:rPr lang="en-GB" b="0" i="0" u="none" strike="noStrike" dirty="0">
                <a:solidFill>
                  <a:srgbClr val="000000"/>
                </a:solidFill>
                <a:effectLst/>
                <a:latin typeface="Calibri" panose="020F0502020204030204" pitchFamily="34" charset="0"/>
                <a:cs typeface="Calibri" panose="020F0502020204030204" pitchFamily="34" charset="0"/>
              </a:rPr>
              <a:t> Define and explain the key components of climate change, including the role of greenhouse gases, aerosols, and human activities.</a:t>
            </a:r>
          </a:p>
          <a:p>
            <a:pPr marL="514350" indent="-514350" algn="l">
              <a:buFont typeface="+mj-lt"/>
              <a:buAutoNum type="arabicPeriod"/>
            </a:pPr>
            <a:r>
              <a:rPr lang="en-GB" b="1" i="0" u="none" strike="noStrike" dirty="0">
                <a:solidFill>
                  <a:srgbClr val="000000"/>
                </a:solidFill>
                <a:effectLst/>
                <a:latin typeface="Calibri" panose="020F0502020204030204" pitchFamily="34" charset="0"/>
                <a:cs typeface="Calibri" panose="020F0502020204030204" pitchFamily="34" charset="0"/>
              </a:rPr>
              <a:t>Climate Change Impacts:</a:t>
            </a:r>
            <a:r>
              <a:rPr lang="en-GB" b="0" i="0" u="none" strike="noStrike" dirty="0">
                <a:solidFill>
                  <a:srgbClr val="000000"/>
                </a:solidFill>
                <a:effectLst/>
                <a:latin typeface="Calibri" panose="020F0502020204030204" pitchFamily="34" charset="0"/>
                <a:cs typeface="Calibri" panose="020F0502020204030204" pitchFamily="34" charset="0"/>
              </a:rPr>
              <a:t> Analyse how changes in climate influence weather extremes, such as heatwaves, droughts, and heavy precipitation.</a:t>
            </a:r>
          </a:p>
          <a:p>
            <a:pPr marL="514350" indent="-514350" algn="l">
              <a:buFont typeface="+mj-lt"/>
              <a:buAutoNum type="arabicPeriod"/>
            </a:pPr>
            <a:r>
              <a:rPr lang="en-GB" b="1" i="0" u="none" strike="noStrike" dirty="0">
                <a:solidFill>
                  <a:srgbClr val="000000"/>
                </a:solidFill>
                <a:effectLst/>
                <a:latin typeface="Calibri" panose="020F0502020204030204" pitchFamily="34" charset="0"/>
                <a:cs typeface="Calibri" panose="020F0502020204030204" pitchFamily="34" charset="0"/>
              </a:rPr>
              <a:t>Air Quality and Climate Interaction:</a:t>
            </a:r>
            <a:r>
              <a:rPr lang="en-GB" b="0" i="0" u="none" strike="noStrike" dirty="0">
                <a:solidFill>
                  <a:srgbClr val="000000"/>
                </a:solidFill>
                <a:effectLst/>
                <a:latin typeface="Calibri" panose="020F0502020204030204" pitchFamily="34" charset="0"/>
                <a:cs typeface="Calibri" panose="020F0502020204030204" pitchFamily="34" charset="0"/>
              </a:rPr>
              <a:t> Evaluate the relationship between air pollution and global climate change, including their impacts on health and ecosystems.</a:t>
            </a:r>
          </a:p>
          <a:p>
            <a:endParaRPr lang="en-GB" sz="3200" dirty="0">
              <a:latin typeface="Calibri" panose="020F0502020204030204" pitchFamily="34" charset="0"/>
              <a:cs typeface="Calibri" panose="020F0502020204030204" pitchFamily="34" charset="0"/>
            </a:endParaRP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9634300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1D686-1DE4-1396-2A19-D718507EDCC0}"/>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63658212-4D3A-E72D-14FE-2F4158D3DC6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Content Placeholder 2">
            <a:extLst>
              <a:ext uri="{FF2B5EF4-FFF2-40B4-BE49-F238E27FC236}">
                <a16:creationId xmlns:a16="http://schemas.microsoft.com/office/drawing/2014/main" id="{B2530D13-C98C-CD4D-9898-7CEA2A67113D}"/>
              </a:ext>
            </a:extLst>
          </p:cNvPr>
          <p:cNvSpPr txBox="1">
            <a:spLocks/>
          </p:cNvSpPr>
          <p:nvPr/>
        </p:nvSpPr>
        <p:spPr>
          <a:xfrm>
            <a:off x="1143000" y="3166209"/>
            <a:ext cx="15795171"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indent="0">
              <a:buNone/>
            </a:pPr>
            <a:r>
              <a:rPr lang="en-GB" altLang="en-US" dirty="0"/>
              <a:t>                                               </a:t>
            </a:r>
          </a:p>
          <a:p>
            <a:pPr marL="0" indent="0">
              <a:buNone/>
            </a:pPr>
            <a:endParaRPr lang="en-GB" altLang="en-US" dirty="0"/>
          </a:p>
        </p:txBody>
      </p:sp>
      <p:sp>
        <p:nvSpPr>
          <p:cNvPr id="4" name="TextBox 3">
            <a:extLst>
              <a:ext uri="{FF2B5EF4-FFF2-40B4-BE49-F238E27FC236}">
                <a16:creationId xmlns:a16="http://schemas.microsoft.com/office/drawing/2014/main" id="{481E8B3E-02F1-4366-D181-8B9158C62F99}"/>
              </a:ext>
            </a:extLst>
          </p:cNvPr>
          <p:cNvSpPr txBox="1"/>
          <p:nvPr/>
        </p:nvSpPr>
        <p:spPr>
          <a:xfrm>
            <a:off x="817428" y="2808313"/>
            <a:ext cx="15402508" cy="5632311"/>
          </a:xfrm>
          <a:prstGeom prst="rect">
            <a:avLst/>
          </a:prstGeom>
          <a:noFill/>
        </p:spPr>
        <p:txBody>
          <a:bodyPr wrap="square">
            <a:spAutoFit/>
          </a:bodyPr>
          <a:lstStyle/>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Define greenhouse gases and explain their role in global warming.</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What are aerosols, and how do they influence the Earth's climate?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How does air pollution exacerbate the effects of climate change?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Explain the term "radiative forcing" and its relevance to climate science.</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Describe how heatwaves influence the severity of air pollution.</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Using examples, explain the difference between short-lived and long-lived climate forcers.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Analyse the role of anthropogenic activities in increasing the frequency of extreme weather events.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Interpret a graph showing CO₂ concentrations over the past century and discuss its implications.</a:t>
            </a:r>
          </a:p>
          <a:p>
            <a:pPr marL="457200" indent="-457200">
              <a:buFont typeface="+mj-lt"/>
              <a:buAutoNum type="arabicPeriod"/>
            </a:pPr>
            <a:r>
              <a:rPr lang="en-GB" sz="2400" kern="100" dirty="0">
                <a:latin typeface="Calibri" panose="020F0502020204030204" pitchFamily="34" charset="0"/>
                <a:ea typeface="Aptos" panose="020B0004020202020204" pitchFamily="34" charset="0"/>
                <a:cs typeface="Calibri" panose="020F0502020204030204" pitchFamily="34" charset="0"/>
              </a:rPr>
              <a:t>I</a:t>
            </a:r>
            <a:r>
              <a:rPr lang="en-GB" sz="2400" kern="100" dirty="0">
                <a:effectLst/>
                <a:latin typeface="Calibri" panose="020F0502020204030204" pitchFamily="34" charset="0"/>
                <a:ea typeface="Aptos" panose="020B0004020202020204" pitchFamily="34" charset="0"/>
                <a:cs typeface="Calibri" panose="020F0502020204030204" pitchFamily="34" charset="0"/>
              </a:rPr>
              <a:t>dentify the main contributors to current warming trends.</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If a country implements policies to reduce methane emissions, what immediate climate benefits might result?</a:t>
            </a:r>
          </a:p>
          <a:p>
            <a:pPr marL="457200" indent="-457200">
              <a:buFont typeface="+mj-lt"/>
              <a:buAutoNum type="arabicPeriod"/>
            </a:pPr>
            <a:r>
              <a:rPr lang="en-GB" sz="2400" kern="100" dirty="0">
                <a:effectLst/>
                <a:latin typeface="Calibri" panose="020F0502020204030204" pitchFamily="34" charset="0"/>
                <a:ea typeface="Aptos" panose="020B0004020202020204" pitchFamily="34" charset="0"/>
                <a:cs typeface="Calibri" panose="020F0502020204030204" pitchFamily="34" charset="0"/>
              </a:rPr>
              <a:t>Propose a strategy to simultaneously improve air quality and combat climate change.</a:t>
            </a:r>
          </a:p>
          <a:p>
            <a:pPr marL="457200" indent="-457200">
              <a:buFont typeface="+mj-lt"/>
              <a:buAutoNum type="arabicPeriod"/>
            </a:pPr>
            <a:r>
              <a:rPr lang="en-GB" sz="2400" dirty="0">
                <a:latin typeface="Calibri" panose="020F0502020204030204" pitchFamily="34" charset="0"/>
                <a:cs typeface="Calibri" panose="020F0502020204030204" pitchFamily="34" charset="0"/>
              </a:rPr>
              <a:t>How do deforestation and land-use changes contribute to global climate change?</a:t>
            </a:r>
          </a:p>
          <a:p>
            <a:pPr marL="457200" indent="-457200">
              <a:buFont typeface="+mj-lt"/>
              <a:buAutoNum type="arabicPeriod"/>
            </a:pPr>
            <a:r>
              <a:rPr lang="en-GB" sz="2400" dirty="0">
                <a:latin typeface="Calibri" panose="020F0502020204030204" pitchFamily="34" charset="0"/>
                <a:cs typeface="Calibri" panose="020F0502020204030204" pitchFamily="34" charset="0"/>
              </a:rPr>
              <a:t>Describe the feedback mechanisms in the climate system, such as the ice-albedo effect and the water vapour feedback.</a:t>
            </a:r>
          </a:p>
          <a:p>
            <a:pPr marL="457200" indent="-457200">
              <a:buFont typeface="+mj-lt"/>
              <a:buAutoNum type="arabicPeriod"/>
            </a:pPr>
            <a:r>
              <a:rPr lang="en-GB" sz="2400" dirty="0">
                <a:latin typeface="Calibri" panose="020F0502020204030204" pitchFamily="34" charset="0"/>
                <a:cs typeface="Calibri" panose="020F0502020204030204" pitchFamily="34" charset="0"/>
              </a:rPr>
              <a:t>Discuss the significance of the 1.5°C and 2°C warming thresholds for global climate policy and impacts.</a:t>
            </a:r>
          </a:p>
          <a:p>
            <a:pPr marL="457200" indent="-457200">
              <a:buFont typeface="+mj-lt"/>
              <a:buAutoNum type="arabicPeriod"/>
            </a:pPr>
            <a:r>
              <a:rPr lang="en-GB" sz="2400" dirty="0">
                <a:latin typeface="Calibri" panose="020F0502020204030204" pitchFamily="34" charset="0"/>
                <a:cs typeface="Calibri" panose="020F0502020204030204" pitchFamily="34" charset="0"/>
              </a:rPr>
              <a:t>Examine how global climate models (GCMs) are used to project future climate scenarios and their limitations.</a:t>
            </a:r>
          </a:p>
        </p:txBody>
      </p:sp>
      <p:sp>
        <p:nvSpPr>
          <p:cNvPr id="2" name="TextBox 14">
            <a:extLst>
              <a:ext uri="{FF2B5EF4-FFF2-40B4-BE49-F238E27FC236}">
                <a16:creationId xmlns:a16="http://schemas.microsoft.com/office/drawing/2014/main" id="{143E90CF-CBA8-E372-4189-B83D63BA9A27}"/>
              </a:ext>
            </a:extLst>
          </p:cNvPr>
          <p:cNvSpPr txBox="1"/>
          <p:nvPr/>
        </p:nvSpPr>
        <p:spPr>
          <a:xfrm>
            <a:off x="817428" y="1328408"/>
            <a:ext cx="15746987" cy="839525"/>
          </a:xfrm>
          <a:prstGeom prst="rect">
            <a:avLst/>
          </a:prstGeom>
        </p:spPr>
        <p:txBody>
          <a:bodyPr wrap="square" lIns="0" tIns="0" rIns="0" bIns="0" rtlCol="0" anchor="t">
            <a:spAutoFit/>
          </a:bodyPr>
          <a:lstStyle/>
          <a:p>
            <a:pPr defTabSz="914445">
              <a:lnSpc>
                <a:spcPts val="6860"/>
              </a:lnSpc>
              <a:defRPr/>
            </a:pPr>
            <a:r>
              <a:rPr lang="en-US" sz="4800" b="1" i="1" spc="-413" dirty="0">
                <a:solidFill>
                  <a:srgbClr val="46245A"/>
                </a:solidFill>
                <a:latin typeface="DM Sans Bold"/>
                <a:ea typeface="MS PGothic" panose="020B0600070205080204" pitchFamily="34" charset="-128"/>
              </a:rPr>
              <a:t>What could I ask you in an exam?</a:t>
            </a:r>
          </a:p>
        </p:txBody>
      </p:sp>
    </p:spTree>
    <p:extLst>
      <p:ext uri="{BB962C8B-B14F-4D97-AF65-F5344CB8AC3E}">
        <p14:creationId xmlns:p14="http://schemas.microsoft.com/office/powerpoint/2010/main" val="30526267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59048-D7E5-75A7-D3BD-88D4334B87F8}"/>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87699A1-ADA2-7438-441B-60B8303060D9}"/>
              </a:ext>
            </a:extLst>
          </p:cNvPr>
          <p:cNvSpPr>
            <a:spLocks noGrp="1"/>
          </p:cNvSpPr>
          <p:nvPr>
            <p:ph idx="1"/>
          </p:nvPr>
        </p:nvSpPr>
        <p:spPr>
          <a:xfrm>
            <a:off x="440804" y="5793404"/>
            <a:ext cx="17542394" cy="3730385"/>
          </a:xfrm>
        </p:spPr>
        <p:txBody>
          <a:bodyPr rtlCol="0">
            <a:normAutofit/>
          </a:bodyPr>
          <a:lstStyle/>
          <a:p>
            <a:pPr marL="0" indent="0">
              <a:buNone/>
            </a:pPr>
            <a:r>
              <a:rPr lang="en-GB" sz="2400" b="1" dirty="0">
                <a:latin typeface="Calibri" panose="020F0502020204030204" pitchFamily="34" charset="0"/>
                <a:cs typeface="Calibri" panose="020F0502020204030204" pitchFamily="34" charset="0"/>
              </a:rPr>
              <a:t>In next week’s lecture, you will learn:</a:t>
            </a:r>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What </a:t>
            </a:r>
            <a:r>
              <a:rPr lang="en-GB" sz="2400" b="1" dirty="0">
                <a:latin typeface="Calibri" panose="020F0502020204030204" pitchFamily="34" charset="0"/>
                <a:cs typeface="Calibri" panose="020F0502020204030204" pitchFamily="34" charset="0"/>
              </a:rPr>
              <a:t>natural climate variability</a:t>
            </a:r>
            <a:r>
              <a:rPr lang="en-GB" sz="2400" dirty="0">
                <a:latin typeface="Calibri" panose="020F0502020204030204" pitchFamily="34" charset="0"/>
                <a:cs typeface="Calibri" panose="020F0502020204030204" pitchFamily="34" charset="0"/>
              </a:rPr>
              <a:t> is, and how it differs from </a:t>
            </a:r>
            <a:r>
              <a:rPr lang="en-GB" sz="2400" b="1" dirty="0">
                <a:latin typeface="Calibri" panose="020F0502020204030204" pitchFamily="34" charset="0"/>
                <a:cs typeface="Calibri" panose="020F0502020204030204" pitchFamily="34" charset="0"/>
              </a:rPr>
              <a:t>human-driven climate change</a:t>
            </a:r>
            <a:r>
              <a:rPr lang="en-GB" sz="2400" dirty="0">
                <a:latin typeface="Calibri" panose="020F0502020204030204" pitchFamily="34" charset="0"/>
                <a:cs typeface="Calibri" panose="020F0502020204030204" pitchFamily="34" charset="0"/>
              </a:rPr>
              <a:t>.</a:t>
            </a:r>
          </a:p>
          <a:p>
            <a:r>
              <a:rPr lang="en-GB" sz="2400" dirty="0">
                <a:latin typeface="Calibri" panose="020F0502020204030204" pitchFamily="34" charset="0"/>
                <a:cs typeface="Calibri" panose="020F0502020204030204" pitchFamily="34" charset="0"/>
              </a:rPr>
              <a:t>What causes climate to change naturally, including </a:t>
            </a:r>
            <a:r>
              <a:rPr lang="en-GB" sz="2400" b="1" dirty="0">
                <a:latin typeface="Calibri" panose="020F0502020204030204" pitchFamily="34" charset="0"/>
                <a:cs typeface="Calibri" panose="020F0502020204030204" pitchFamily="34" charset="0"/>
              </a:rPr>
              <a:t>Earth’s orbit, the Sun, volcanoes, and the oceans</a:t>
            </a:r>
            <a:r>
              <a:rPr lang="en-GB" sz="2400" dirty="0">
                <a:latin typeface="Calibri" panose="020F0502020204030204" pitchFamily="34" charset="0"/>
                <a:cs typeface="Calibri" panose="020F0502020204030204" pitchFamily="34" charset="0"/>
              </a:rPr>
              <a:t>.</a:t>
            </a:r>
          </a:p>
          <a:p>
            <a:r>
              <a:rPr lang="en-GB" sz="2400" dirty="0">
                <a:latin typeface="Calibri" panose="020F0502020204030204" pitchFamily="34" charset="0"/>
                <a:cs typeface="Calibri" panose="020F0502020204030204" pitchFamily="34" charset="0"/>
              </a:rPr>
              <a:t>How </a:t>
            </a:r>
            <a:r>
              <a:rPr lang="en-GB" sz="2400" b="1" dirty="0">
                <a:latin typeface="Calibri" panose="020F0502020204030204" pitchFamily="34" charset="0"/>
                <a:cs typeface="Calibri" panose="020F0502020204030204" pitchFamily="34" charset="0"/>
              </a:rPr>
              <a:t>Milankovitch cycles</a:t>
            </a:r>
            <a:r>
              <a:rPr lang="en-GB" sz="2400" dirty="0">
                <a:latin typeface="Calibri" panose="020F0502020204030204" pitchFamily="34" charset="0"/>
                <a:cs typeface="Calibri" panose="020F0502020204030204" pitchFamily="34" charset="0"/>
              </a:rPr>
              <a:t> (changes in Earth’s orbit and tilt) work, and how they can lead to </a:t>
            </a:r>
            <a:r>
              <a:rPr lang="en-GB" sz="2400" b="1" dirty="0">
                <a:latin typeface="Calibri" panose="020F0502020204030204" pitchFamily="34" charset="0"/>
                <a:cs typeface="Calibri" panose="020F0502020204030204" pitchFamily="34" charset="0"/>
              </a:rPr>
              <a:t>ice ages and warmer periods</a:t>
            </a:r>
            <a:r>
              <a:rPr lang="en-GB" sz="2400" dirty="0">
                <a:latin typeface="Calibri" panose="020F0502020204030204" pitchFamily="34" charset="0"/>
                <a:cs typeface="Calibri" panose="020F0502020204030204" pitchFamily="34" charset="0"/>
              </a:rPr>
              <a:t>.</a:t>
            </a:r>
          </a:p>
          <a:p>
            <a:r>
              <a:rPr lang="en-GB" sz="2400" dirty="0">
                <a:latin typeface="Calibri" panose="020F0502020204030204" pitchFamily="34" charset="0"/>
                <a:cs typeface="Calibri" panose="020F0502020204030204" pitchFamily="34" charset="0"/>
              </a:rPr>
              <a:t>How </a:t>
            </a:r>
            <a:r>
              <a:rPr lang="en-GB" sz="2400" b="1" dirty="0">
                <a:latin typeface="Calibri" panose="020F0502020204030204" pitchFamily="34" charset="0"/>
                <a:cs typeface="Calibri" panose="020F0502020204030204" pitchFamily="34" charset="0"/>
              </a:rPr>
              <a:t>solar activity and volcanic eruptions</a:t>
            </a:r>
            <a:r>
              <a:rPr lang="en-GB" sz="2400" dirty="0">
                <a:latin typeface="Calibri" panose="020F0502020204030204" pitchFamily="34" charset="0"/>
                <a:cs typeface="Calibri" panose="020F0502020204030204" pitchFamily="34" charset="0"/>
              </a:rPr>
              <a:t> affect climate, and how long their impacts usually last.</a:t>
            </a:r>
          </a:p>
          <a:p>
            <a:r>
              <a:rPr lang="en-GB" sz="2400" dirty="0">
                <a:latin typeface="Calibri" panose="020F0502020204030204" pitchFamily="34" charset="0"/>
                <a:cs typeface="Calibri" panose="020F0502020204030204" pitchFamily="34" charset="0"/>
              </a:rPr>
              <a:t>What </a:t>
            </a:r>
            <a:r>
              <a:rPr lang="en-GB" sz="2400" b="1" dirty="0">
                <a:latin typeface="Calibri" panose="020F0502020204030204" pitchFamily="34" charset="0"/>
                <a:cs typeface="Calibri" panose="020F0502020204030204" pitchFamily="34" charset="0"/>
              </a:rPr>
              <a:t>El Niño and La Niña (ENSO)</a:t>
            </a:r>
            <a:r>
              <a:rPr lang="en-GB" sz="2400" dirty="0">
                <a:latin typeface="Calibri" panose="020F0502020204030204" pitchFamily="34" charset="0"/>
                <a:cs typeface="Calibri" panose="020F0502020204030204" pitchFamily="34" charset="0"/>
              </a:rPr>
              <a:t> are, and how they influence weather and climate around the world.</a:t>
            </a:r>
          </a:p>
          <a:p>
            <a:r>
              <a:rPr lang="en-GB" sz="2400" dirty="0">
                <a:latin typeface="Calibri" panose="020F0502020204030204" pitchFamily="34" charset="0"/>
                <a:cs typeface="Calibri" panose="020F0502020204030204" pitchFamily="34" charset="0"/>
              </a:rPr>
              <a:t>How evidence from </a:t>
            </a:r>
            <a:r>
              <a:rPr lang="en-GB" sz="2400" b="1" dirty="0">
                <a:latin typeface="Calibri" panose="020F0502020204030204" pitchFamily="34" charset="0"/>
                <a:cs typeface="Calibri" panose="020F0502020204030204" pitchFamily="34" charset="0"/>
              </a:rPr>
              <a:t>past climates</a:t>
            </a:r>
            <a:r>
              <a:rPr lang="en-GB" sz="2400" dirty="0">
                <a:latin typeface="Calibri" panose="020F0502020204030204" pitchFamily="34" charset="0"/>
                <a:cs typeface="Calibri" panose="020F0502020204030204" pitchFamily="34" charset="0"/>
              </a:rPr>
              <a:t> (e.g. ice cores) helps us understand natural climate change and put today’s changes into context.</a:t>
            </a:r>
          </a:p>
        </p:txBody>
      </p:sp>
      <p:pic>
        <p:nvPicPr>
          <p:cNvPr id="5" name="Picture 2" descr="Places of Climate Change">
            <a:extLst>
              <a:ext uri="{FF2B5EF4-FFF2-40B4-BE49-F238E27FC236}">
                <a16:creationId xmlns:a16="http://schemas.microsoft.com/office/drawing/2014/main" id="{A21212D2-15C4-56C8-05F7-420E1FA7D2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D6644F24-1C45-CBC9-2CEB-E9BAAF70CB8C}"/>
              </a:ext>
            </a:extLst>
          </p:cNvPr>
          <p:cNvSpPr txBox="1"/>
          <p:nvPr/>
        </p:nvSpPr>
        <p:spPr>
          <a:xfrm>
            <a:off x="440804" y="4023689"/>
            <a:ext cx="18716991" cy="1769715"/>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rPr>
              <a:t>Next Week: Natural Climate Variability</a:t>
            </a:r>
          </a:p>
          <a:p>
            <a:pPr defTabSz="914445">
              <a:lnSpc>
                <a:spcPts val="6860"/>
              </a:lnSpc>
              <a:defRPr/>
            </a:pPr>
            <a:endParaRPr lang="en-US" sz="6000" i="1" spc="-413" dirty="0">
              <a:solidFill>
                <a:prstClr val="white"/>
              </a:solidFill>
              <a:latin typeface="DM Sans Bold"/>
            </a:endParaRPr>
          </a:p>
        </p:txBody>
      </p:sp>
      <p:sp>
        <p:nvSpPr>
          <p:cNvPr id="8" name="Freeform 13">
            <a:extLst>
              <a:ext uri="{FF2B5EF4-FFF2-40B4-BE49-F238E27FC236}">
                <a16:creationId xmlns:a16="http://schemas.microsoft.com/office/drawing/2014/main" id="{06309CFF-FD2C-A877-9C7E-DC888608093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Tree>
    <p:extLst>
      <p:ext uri="{BB962C8B-B14F-4D97-AF65-F5344CB8AC3E}">
        <p14:creationId xmlns:p14="http://schemas.microsoft.com/office/powerpoint/2010/main" val="36237445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E4FB1775-50F8-EF4E-8340-DB320BA35BD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40034FF-D7A7-78FA-1D1D-3D7D6C18CB41}"/>
              </a:ext>
            </a:extLst>
          </p:cNvPr>
          <p:cNvSpPr txBox="1"/>
          <p:nvPr/>
        </p:nvSpPr>
        <p:spPr>
          <a:xfrm>
            <a:off x="1981200" y="4713895"/>
            <a:ext cx="4729588" cy="859210"/>
          </a:xfrm>
          <a:prstGeom prst="rect">
            <a:avLst/>
          </a:prstGeom>
        </p:spPr>
        <p:txBody>
          <a:bodyPr lIns="0" tIns="0" rIns="0" bIns="0" rtlCol="0" anchor="t">
            <a:spAutoFit/>
          </a:bodyPr>
          <a:lstStyle/>
          <a:p>
            <a:pPr marL="0" marR="0" lvl="0" indent="0" algn="l" defTabSz="914400" rtl="0" eaLnBrk="1" fontAlgn="auto" latinLnBrk="0" hangingPunct="1">
              <a:lnSpc>
                <a:spcPts val="672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46245A"/>
                </a:solidFill>
                <a:effectLst/>
                <a:uLnTx/>
                <a:uFillTx/>
                <a:latin typeface="DM Sans Bold"/>
                <a:ea typeface="+mn-ea"/>
                <a:cs typeface="+mn-cs"/>
              </a:rPr>
              <a:t>Feedback</a:t>
            </a:r>
          </a:p>
        </p:txBody>
      </p:sp>
      <p:sp>
        <p:nvSpPr>
          <p:cNvPr id="3" name="Freeform 13">
            <a:extLst>
              <a:ext uri="{FF2B5EF4-FFF2-40B4-BE49-F238E27FC236}">
                <a16:creationId xmlns:a16="http://schemas.microsoft.com/office/drawing/2014/main" id="{8C3EFDEE-2F48-B0EB-D2DF-F84B6E6717D6}"/>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5" name="Picture 4" descr="A qr code on a white background&#10;&#10;Description automatically generated">
            <a:extLst>
              <a:ext uri="{FF2B5EF4-FFF2-40B4-BE49-F238E27FC236}">
                <a16:creationId xmlns:a16="http://schemas.microsoft.com/office/drawing/2014/main" id="{E98A78A3-C4BE-1CED-C721-8B450C00A1AA}"/>
              </a:ext>
            </a:extLst>
          </p:cNvPr>
          <p:cNvPicPr>
            <a:picLocks noChangeAspect="1"/>
          </p:cNvPicPr>
          <p:nvPr/>
        </p:nvPicPr>
        <p:blipFill>
          <a:blip r:embed="rId4">
            <a:extLst>
              <a:ext uri="{28A0092B-C50C-407E-A947-70E740481C1C}">
                <a14:useLocalDpi xmlns:a14="http://schemas.microsoft.com/office/drawing/2010/main" val="0"/>
              </a:ext>
            </a:extLst>
          </a:blip>
          <a:srcRect l="6914" t="3944" r="15848" b="6686"/>
          <a:stretch/>
        </p:blipFill>
        <p:spPr>
          <a:xfrm>
            <a:off x="9051215" y="2367643"/>
            <a:ext cx="5502985" cy="5323114"/>
          </a:xfrm>
          <a:prstGeom prst="rect">
            <a:avLst/>
          </a:prstGeom>
        </p:spPr>
      </p:pic>
      <p:pic>
        <p:nvPicPr>
          <p:cNvPr id="9" name="Picture 8">
            <a:extLst>
              <a:ext uri="{FF2B5EF4-FFF2-40B4-BE49-F238E27FC236}">
                <a16:creationId xmlns:a16="http://schemas.microsoft.com/office/drawing/2014/main" id="{4376F487-50FF-15C9-6BA3-0F7F7FF48CCE}"/>
              </a:ext>
            </a:extLst>
          </p:cNvPr>
          <p:cNvPicPr>
            <a:picLocks noChangeAspect="1"/>
          </p:cNvPicPr>
          <p:nvPr/>
        </p:nvPicPr>
        <p:blipFill>
          <a:blip r:embed="rId5">
            <a:extLst>
              <a:ext uri="{28A0092B-C50C-407E-A947-70E740481C1C}">
                <a14:useLocalDpi xmlns:a14="http://schemas.microsoft.com/office/drawing/2010/main" val="0"/>
              </a:ext>
            </a:extLst>
          </a:blip>
          <a:srcRect l="4469" t="15342" r="3554" b="18431"/>
          <a:stretch/>
        </p:blipFill>
        <p:spPr>
          <a:xfrm>
            <a:off x="8850341" y="7903028"/>
            <a:ext cx="6074229" cy="599504"/>
          </a:xfrm>
          <a:prstGeom prst="rect">
            <a:avLst/>
          </a:prstGeom>
        </p:spPr>
      </p:pic>
    </p:spTree>
    <p:extLst>
      <p:ext uri="{BB962C8B-B14F-4D97-AF65-F5344CB8AC3E}">
        <p14:creationId xmlns:p14="http://schemas.microsoft.com/office/powerpoint/2010/main" val="37843462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4ED785F-CE62-82CB-F996-0E665B36E0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2AC8828-C975-6D5D-820F-78E1B8CC22FE}"/>
              </a:ext>
            </a:extLst>
          </p:cNvPr>
          <p:cNvSpPr/>
          <p:nvPr/>
        </p:nvSpPr>
        <p:spPr>
          <a:xfrm>
            <a:off x="2106217" y="3973726"/>
            <a:ext cx="5289972" cy="2339545"/>
          </a:xfrm>
          <a:custGeom>
            <a:avLst/>
            <a:gdLst/>
            <a:ahLst/>
            <a:cxnLst/>
            <a:rect l="l" t="t" r="r" b="b"/>
            <a:pathLst>
              <a:path w="6608213" h="2922551">
                <a:moveTo>
                  <a:pt x="0" y="0"/>
                </a:moveTo>
                <a:lnTo>
                  <a:pt x="6608212" y="0"/>
                </a:lnTo>
                <a:lnTo>
                  <a:pt x="6608212" y="2922552"/>
                </a:lnTo>
                <a:lnTo>
                  <a:pt x="0" y="2922552"/>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11" name="TextBox 11">
            <a:extLst>
              <a:ext uri="{FF2B5EF4-FFF2-40B4-BE49-F238E27FC236}">
                <a16:creationId xmlns:a16="http://schemas.microsoft.com/office/drawing/2014/main" id="{4C3DE186-561B-2390-96D5-63833B499408}"/>
              </a:ext>
            </a:extLst>
          </p:cNvPr>
          <p:cNvSpPr txBox="1"/>
          <p:nvPr/>
        </p:nvSpPr>
        <p:spPr>
          <a:xfrm>
            <a:off x="10348544" y="4674749"/>
            <a:ext cx="6816043" cy="937501"/>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8000" b="0" i="0" u="none" strike="noStrike" kern="1200" cap="none" spc="0" normalizeH="0" baseline="0" noProof="0">
                <a:ln>
                  <a:noFill/>
                </a:ln>
                <a:solidFill>
                  <a:srgbClr val="F8F8F8"/>
                </a:solidFill>
                <a:effectLst/>
                <a:uLnTx/>
                <a:uFillTx/>
                <a:latin typeface="DM Sans Bold"/>
                <a:ea typeface="+mn-ea"/>
                <a:cs typeface="+mn-cs"/>
              </a:rPr>
              <a:t>Thank you</a:t>
            </a:r>
          </a:p>
        </p:txBody>
      </p:sp>
      <p:sp>
        <p:nvSpPr>
          <p:cNvPr id="2" name="TextBox 15">
            <a:extLst>
              <a:ext uri="{FF2B5EF4-FFF2-40B4-BE49-F238E27FC236}">
                <a16:creationId xmlns:a16="http://schemas.microsoft.com/office/drawing/2014/main" id="{7FEBE903-FCF1-495E-DB96-B5A94CA829B0}"/>
              </a:ext>
            </a:extLst>
          </p:cNvPr>
          <p:cNvSpPr txBox="1"/>
          <p:nvPr/>
        </p:nvSpPr>
        <p:spPr>
          <a:xfrm>
            <a:off x="6166883" y="8646395"/>
            <a:ext cx="11252885" cy="612796"/>
          </a:xfrm>
          <a:prstGeom prst="rect">
            <a:avLst/>
          </a:prstGeom>
        </p:spPr>
        <p:txBody>
          <a:bodyPr wrap="square" lIns="0" tIns="0" rIns="0" bIns="0" rtlCol="0" anchor="t">
            <a:spAutoFit/>
          </a:bodyPr>
          <a:lstStyle/>
          <a:p>
            <a:pPr marL="0" marR="0" lvl="0" indent="0" algn="l" defTabSz="914400" rtl="0" eaLnBrk="1" fontAlgn="auto" latinLnBrk="0" hangingPunct="1">
              <a:lnSpc>
                <a:spcPts val="5040"/>
              </a:lnSpc>
              <a:spcBef>
                <a:spcPts val="0"/>
              </a:spcBef>
              <a:spcAft>
                <a:spcPts val="0"/>
              </a:spcAft>
              <a:buClrTx/>
              <a:buSzTx/>
              <a:buFontTx/>
              <a:buNone/>
              <a:tabLst/>
              <a:defRPr/>
            </a:pPr>
            <a:r>
              <a:rPr kumimoji="0" lang="en-US" sz="3600" b="1" i="0" u="none" strike="noStrike" kern="1200" cap="none" spc="478" normalizeH="0" baseline="0" noProof="0" dirty="0" err="1">
                <a:ln>
                  <a:noFill/>
                </a:ln>
                <a:solidFill>
                  <a:srgbClr val="FAB700"/>
                </a:solidFill>
                <a:effectLst/>
                <a:uLnTx/>
                <a:uFillTx/>
                <a:latin typeface="DM Sans"/>
                <a:ea typeface="+mn-ea"/>
                <a:cs typeface="+mn-cs"/>
              </a:rPr>
              <a:t>Thomas.Bannan@Manchester.ac.uk</a:t>
            </a:r>
            <a:endParaRPr kumimoji="0" lang="en-US" sz="3600" b="1" i="0" u="none" strike="noStrike" kern="1200" cap="none" spc="478" normalizeH="0" baseline="0" noProof="0" dirty="0">
              <a:ln>
                <a:noFill/>
              </a:ln>
              <a:solidFill>
                <a:srgbClr val="FAB700"/>
              </a:solidFill>
              <a:effectLst/>
              <a:uLnTx/>
              <a:uFillTx/>
              <a:latin typeface="DM Sans"/>
              <a:ea typeface="+mn-ea"/>
              <a:cs typeface="+mn-cs"/>
            </a:endParaRPr>
          </a:p>
        </p:txBody>
      </p:sp>
    </p:spTree>
    <p:extLst>
      <p:ext uri="{BB962C8B-B14F-4D97-AF65-F5344CB8AC3E}">
        <p14:creationId xmlns:p14="http://schemas.microsoft.com/office/powerpoint/2010/main" val="2357172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5|8.5|44.7|6.5|28.4|20.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6E3B905-089B-4AAB-92C2-9145328F7EB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19477</TotalTime>
  <Words>3194</Words>
  <Application>Microsoft Macintosh PowerPoint</Application>
  <PresentationFormat>Custom</PresentationFormat>
  <Paragraphs>432</Paragraphs>
  <Slides>57</Slides>
  <Notes>49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57</vt:i4>
      </vt:variant>
    </vt:vector>
  </HeadingPairs>
  <TitlesOfParts>
    <vt:vector size="69" baseType="lpstr">
      <vt:lpstr>Arial</vt:lpstr>
      <vt:lpstr>Verdana</vt:lpstr>
      <vt:lpstr>Calibri</vt:lpstr>
      <vt:lpstr>Aptos</vt:lpstr>
      <vt:lpstr>DM Sans</vt:lpstr>
      <vt:lpstr>Tahoma</vt:lpstr>
      <vt:lpstr>Times New Roman</vt:lpstr>
      <vt:lpstr>Open Sans</vt:lpstr>
      <vt:lpstr>ＭＳ Ｐゴシック</vt:lpstr>
      <vt:lpstr>DM Sans Bold</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Photochemical chamber studies of coupled processes in real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128</cp:revision>
  <dcterms:created xsi:type="dcterms:W3CDTF">2006-08-16T00:00:00Z</dcterms:created>
  <dcterms:modified xsi:type="dcterms:W3CDTF">2026-02-03T12:56:08Z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