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6" r:id="rId2"/>
    <p:sldMasterId id="2147483688" r:id="rId3"/>
  </p:sldMasterIdLst>
  <p:notesMasterIdLst>
    <p:notesMasterId r:id="rId30"/>
  </p:notesMasterIdLst>
  <p:sldIdLst>
    <p:sldId id="863" r:id="rId4"/>
    <p:sldId id="865" r:id="rId5"/>
    <p:sldId id="1367" r:id="rId6"/>
    <p:sldId id="1368" r:id="rId7"/>
    <p:sldId id="1369" r:id="rId8"/>
    <p:sldId id="826" r:id="rId9"/>
    <p:sldId id="827" r:id="rId10"/>
    <p:sldId id="1363" r:id="rId11"/>
    <p:sldId id="1371" r:id="rId12"/>
    <p:sldId id="1755" r:id="rId13"/>
    <p:sldId id="1230" r:id="rId14"/>
    <p:sldId id="1231" r:id="rId15"/>
    <p:sldId id="1754" r:id="rId16"/>
    <p:sldId id="1372" r:id="rId17"/>
    <p:sldId id="1251" r:id="rId18"/>
    <p:sldId id="1249" r:id="rId19"/>
    <p:sldId id="1284" r:id="rId20"/>
    <p:sldId id="1283" r:id="rId21"/>
    <p:sldId id="1360" r:id="rId22"/>
    <p:sldId id="1361" r:id="rId23"/>
    <p:sldId id="1756" r:id="rId24"/>
    <p:sldId id="1761" r:id="rId25"/>
    <p:sldId id="1757" r:id="rId26"/>
    <p:sldId id="1762" r:id="rId27"/>
    <p:sldId id="1759" r:id="rId28"/>
    <p:sldId id="176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3"/>
    <p:restoredTop sz="88509"/>
  </p:normalViewPr>
  <p:slideViewPr>
    <p:cSldViewPr snapToGrid="0">
      <p:cViewPr varScale="1">
        <p:scale>
          <a:sx n="112" d="100"/>
          <a:sy n="112" d="100"/>
        </p:scale>
        <p:origin x="58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9CE20F-8FD7-BB4D-B975-6E9EA7E222E8}" type="datetimeFigureOut">
              <a:rPr lang="en-US" smtClean="0"/>
              <a:t>2/18/26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BDBDB3-6F44-4343-B982-74DC091B0E8D}" type="slidenum">
              <a:rPr lang="en-US" smtClean="0"/>
              <a:t>‹#›</a:t>
            </a:fld>
            <a:endParaRPr lang="en-US"/>
          </a:p>
        </p:txBody>
      </p:sp>
    </p:spTree>
    <p:extLst>
      <p:ext uri="{BB962C8B-B14F-4D97-AF65-F5344CB8AC3E}">
        <p14:creationId xmlns:p14="http://schemas.microsoft.com/office/powerpoint/2010/main" val="3053103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DBDB3-6F44-4343-B982-74DC091B0E8D}" type="slidenum">
              <a:rPr lang="en-US" smtClean="0"/>
              <a:t>2</a:t>
            </a:fld>
            <a:endParaRPr lang="en-US"/>
          </a:p>
        </p:txBody>
      </p:sp>
    </p:spTree>
    <p:extLst>
      <p:ext uri="{BB962C8B-B14F-4D97-AF65-F5344CB8AC3E}">
        <p14:creationId xmlns:p14="http://schemas.microsoft.com/office/powerpoint/2010/main" val="3724063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24984-3B12-C097-7407-D4EC6410E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964C1-031A-8D15-56FC-EFB37A289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AF401-5D77-48DF-037F-EE8F3DBF46A0}"/>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B009D3B5-1B2F-9B86-56D9-0C93AF9AA5F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077388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14CB-827D-BFF3-04F5-13A3035E2E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9EB97-BBC1-90D9-70FA-52A872E90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332DB-275F-A262-0B4A-7D8E9D4CE430}"/>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775BB6B3-AEF4-A87B-A1E4-A111D2960815}"/>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620133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0329A-010F-0EF6-28EF-1ABD644D47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201B3-0055-CB3D-8E6B-D1D40F5847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AA73E7-B5A1-04B8-626B-78DE274D98D2}"/>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ACF470D2-1360-A56D-9380-8F0DCC9590F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926699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282829"/>
                </a:solidFill>
                <a:effectLst/>
                <a:latin typeface="-apple-system"/>
              </a:rPr>
              <a:t>actual temperature of Mars as measured is 218 K, whereas the calculated temperature is 216. That means it has a greenhouse effect of 2 degrees. Its atmosphere is very thin but has about 16 times the CO2 in our atmosphere. Venus on the other hand has 92 times our atmospheric density, mostly CO2, and is a raging inferno.</a:t>
            </a:r>
          </a:p>
          <a:p>
            <a:endParaRPr lang="en-GB" b="0" i="0" u="none" strike="noStrike" dirty="0">
              <a:solidFill>
                <a:srgbClr val="282829"/>
              </a:solidFill>
              <a:effectLst/>
              <a:latin typeface="-apple-system"/>
            </a:endParaRPr>
          </a:p>
          <a:p>
            <a:r>
              <a:rPr lang="en-GB" b="0" i="0" u="none" strike="noStrike" dirty="0">
                <a:solidFill>
                  <a:srgbClr val="282829"/>
                </a:solidFill>
                <a:effectLst/>
                <a:latin typeface="-apple-system"/>
              </a:rPr>
              <a:t>1000 mb = 100000 Pascals</a:t>
            </a:r>
            <a:endParaRPr lang="en-US" dirty="0"/>
          </a:p>
        </p:txBody>
      </p:sp>
      <p:sp>
        <p:nvSpPr>
          <p:cNvPr id="4" name="Slide Number Placeholder 3"/>
          <p:cNvSpPr>
            <a:spLocks noGrp="1"/>
          </p:cNvSpPr>
          <p:nvPr>
            <p:ph type="sldNum" sz="quarter" idx="5"/>
          </p:nvPr>
        </p:nvSpPr>
        <p:spPr/>
        <p:txBody>
          <a:bodyPr/>
          <a:lstStyle/>
          <a:p>
            <a:fld id="{35390AB9-F3C6-4958-AB44-389D6C4F1181}" type="slidenum">
              <a:rPr lang="en-GB" smtClean="0"/>
              <a:t>6</a:t>
            </a:fld>
            <a:endParaRPr lang="en-GB"/>
          </a:p>
        </p:txBody>
      </p:sp>
    </p:spTree>
    <p:extLst>
      <p:ext uri="{BB962C8B-B14F-4D97-AF65-F5344CB8AC3E}">
        <p14:creationId xmlns:p14="http://schemas.microsoft.com/office/powerpoint/2010/main" val="3100242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9E00-6EA3-AF8A-FCDB-A2CEC2C5B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90376-5B2A-BAC3-4094-C8C2E2536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A9D93-2D50-3CE1-2B7F-FF5840004D8E}"/>
              </a:ext>
            </a:extLst>
          </p:cNvPr>
          <p:cNvSpPr>
            <a:spLocks noGrp="1"/>
          </p:cNvSpPr>
          <p:nvPr>
            <p:ph type="body" idx="1"/>
          </p:nvPr>
        </p:nvSpPr>
        <p:spPr/>
        <p:txBody>
          <a:bodyPr/>
          <a:lstStyle/>
          <a:p>
            <a:r>
              <a:rPr lang="en-GB">
                <a:latin typeface="DM Sans" pitchFamily="2" charset="0"/>
              </a:rPr>
              <a:t>Welcome </a:t>
            </a:r>
          </a:p>
          <a:p>
            <a:r>
              <a:rPr lang="en-GB">
                <a:latin typeface="DM Sans" pitchFamily="2" charset="0"/>
              </a:rPr>
              <a:t>Individual</a:t>
            </a:r>
            <a:r>
              <a:rPr lang="en-GB" baseline="0">
                <a:latin typeface="DM Sans" pitchFamily="2" charset="0"/>
              </a:rPr>
              <a:t> i</a:t>
            </a:r>
            <a:r>
              <a:rPr lang="en-GB">
                <a:latin typeface="DM Sans" pitchFamily="2" charset="0"/>
              </a:rPr>
              <a:t>ntroductions</a:t>
            </a:r>
          </a:p>
        </p:txBody>
      </p:sp>
      <p:sp>
        <p:nvSpPr>
          <p:cNvPr id="4" name="Slide Number Placeholder 3">
            <a:extLst>
              <a:ext uri="{FF2B5EF4-FFF2-40B4-BE49-F238E27FC236}">
                <a16:creationId xmlns:a16="http://schemas.microsoft.com/office/drawing/2014/main" id="{18B8D7CB-BFD1-2F29-D02C-35E260FD00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88488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428F-0445-13B9-1554-7EBDFD32A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28C6A-2231-EA57-795D-DEDD87203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5A03D-3DC3-49EE-6ECB-27B36A5CB37F}"/>
              </a:ext>
            </a:extLst>
          </p:cNvPr>
          <p:cNvSpPr>
            <a:spLocks noGrp="1"/>
          </p:cNvSpPr>
          <p:nvPr>
            <p:ph type="body" idx="1"/>
          </p:nvPr>
        </p:nvSpPr>
        <p:spPr/>
        <p:txBody>
          <a:bodyPr/>
          <a:lstStyle/>
          <a:p>
            <a:endParaRPr lang="en-GB" dirty="0">
              <a:effectLst/>
            </a:endParaRPr>
          </a:p>
          <a:p>
            <a:endParaRPr lang="en-GB" dirty="0"/>
          </a:p>
        </p:txBody>
      </p:sp>
      <p:sp>
        <p:nvSpPr>
          <p:cNvPr id="4" name="Slide Number Placeholder 3">
            <a:extLst>
              <a:ext uri="{FF2B5EF4-FFF2-40B4-BE49-F238E27FC236}">
                <a16:creationId xmlns:a16="http://schemas.microsoft.com/office/drawing/2014/main" id="{9DBF5D39-0843-024C-42E1-CD6BEAEB6F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718968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9A628-FD8F-96B8-E85F-753552DAC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10ED4-4F7E-46D1-3D54-1E676A4FE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1C1028-526C-3677-B3A3-5BF844C726E1}"/>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24F3E75B-3323-1AE5-9AE2-AAC9ACE9B39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9203870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FE1A-E3E4-852B-8546-14F06FB44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3E90D-FDAA-DE71-E0A4-5A152E558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767E2B-A1DB-9F1B-879D-81AF3230DFF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D5E7C4F-2C28-79D8-79BD-AB9CE61D0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473353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7B29C-9187-2DCC-F5CB-261B520E81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0F9D5-8C11-B9D9-0679-9B5738EA2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BFF42-5BDD-887F-9D5E-99B16E2AA2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536E1C-6165-91F4-A861-77776D5DB59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06995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7C283-47C8-2FDF-C0F6-3897720E3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FFB3A5-5AED-6D97-BC13-B7D5103EC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29C982-E0C8-97A6-7DD4-3C3581093D1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6901561-053A-51D5-33BB-110A71CF02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413571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E18A4-C355-8FBC-093D-CA7E61197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BE326-31F6-5566-8A41-7711249CF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7EC2F-9BDB-F936-D12D-AD84F3CDED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ED3D4D-48CB-A4AB-6118-229E8B29E19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202309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00622-45E0-B036-26AB-B9E5F5A78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4A598-A8E2-69B8-CE69-050CCAF4DC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8623B4-36F8-A0B4-D24A-12024F84743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1D966CF-7531-CA8D-33BA-599A931DB6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27394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82E0B-1CF6-6373-BD67-E9B25CD0B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9B77F-761B-130F-B2DA-0846CB0A7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39B51F-B408-DD2D-0874-7A8B84217B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CAAC75-38BA-B0E8-2733-0FBB3C3103E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5545552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1FAC5-04CC-5558-0441-1E0BF32DE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7C170-D7A7-1860-D1B7-282CBBD99C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4111A-BA9B-A47D-A85B-FEAECD9A4FA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3583D4F-ABE6-4606-9FE8-E85340A6D6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3051326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8A8C7-50FD-6A08-CED5-D29CECE08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2ABC9-52A1-5DB7-6515-A3A404A71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1452A-C25D-6F2C-0EBE-60729A34AE09}"/>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7A1DB179-700D-254A-9772-20BBFD0F7F6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1129926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C4E4D-B44D-53BA-AB39-016D9830D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802D2-3334-1E88-2286-7AC20C216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FA110-378F-CB7B-0606-E03401E940A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FB02020-1297-74E9-00E2-E83CC98780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375962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68F56-D8B4-8551-9756-E3D63ECFF4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A0E3A-D486-7B5D-6C87-A8C30A919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7BB747-B732-BF4F-1327-45C91B172B55}"/>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33A1A8D6-E463-2374-1E56-C9C495A6EC6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852017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4D286-BA0C-064E-F659-D0028A3D2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C1830-D37C-A103-FF7D-6FEA0ECB7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4F207-697D-8F15-63DA-720EF58ED98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95A261F-51CD-D20E-D986-5FBA9D6B7B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8675361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83C91-AA3D-8381-C945-3C556ACB3A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2BC19-2174-FF9F-C8AD-14BB15C750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09E449-AEE3-AE4F-9A24-B78A815FF1EE}"/>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1AB634C4-4D5B-9A93-E74D-5C92B1E13F4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8728459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A9EAE-2DE9-4D25-4AC6-BEF670BDB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ADD10-5DB6-FCB5-CF64-D4A1E7BCD4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E46F7-E169-5287-331C-19F513168F44}"/>
              </a:ext>
            </a:extLst>
          </p:cNvPr>
          <p:cNvSpPr>
            <a:spLocks noGrp="1"/>
          </p:cNvSpPr>
          <p:nvPr>
            <p:ph type="body" idx="1"/>
          </p:nvPr>
        </p:nvSpPr>
        <p:spPr/>
        <p:txBody>
          <a:bodyPr/>
          <a:lstStyle/>
          <a:p>
            <a:r>
              <a:rPr lang="en-GB" sz="1200" b="1" i="0" kern="1200" dirty="0">
                <a:solidFill>
                  <a:schemeClr val="tx1"/>
                </a:solidFill>
                <a:effectLst/>
                <a:latin typeface="+mn-lt"/>
                <a:ea typeface="+mn-ea"/>
                <a:cs typeface="+mn-cs"/>
              </a:rPr>
              <a:t>(</a:t>
            </a:r>
            <a:endParaRPr lang="en-GB" dirty="0"/>
          </a:p>
        </p:txBody>
      </p:sp>
      <p:sp>
        <p:nvSpPr>
          <p:cNvPr id="4" name="Slide Number Placeholder 3">
            <a:extLst>
              <a:ext uri="{FF2B5EF4-FFF2-40B4-BE49-F238E27FC236}">
                <a16:creationId xmlns:a16="http://schemas.microsoft.com/office/drawing/2014/main" id="{F507E5B9-5D23-2D59-9800-1953E6C0CB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535704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6EE34-A8C0-DDC1-8FD6-5661C989A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4A295-DE38-9BA6-5C59-96DFED659F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36EDF-E419-6783-064C-F95FF2A5114D}"/>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EE5285EB-2179-2D7D-FE2B-F310A27EE92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937000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F998F-F9EB-FE62-176A-485BF8292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91AAFB-B74D-CD26-2BCA-19440DCAD1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644B4-C7DB-5957-84FB-03A5FC1B13D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1D27179-ABE9-2B65-B792-121845568B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1473263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B0F8F-644D-C3E7-0CCE-7A48A0881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7F5CCD-4B94-AC77-92D3-9854BAA7DE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32CA5D-DE9C-812D-92F4-F2C49A2341DB}"/>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4A5FB8A3-D01A-AE60-C0F5-205BC711F39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619608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27889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3321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34100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5557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3747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1852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6445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4349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16068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0937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43324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ortfolio 2 Images">
    <p:spTree>
      <p:nvGrpSpPr>
        <p:cNvPr id="1" name=""/>
        <p:cNvGrpSpPr/>
        <p:nvPr/>
      </p:nvGrpSpPr>
      <p:grpSpPr>
        <a:xfrm>
          <a:off x="0" y="0"/>
          <a:ext cx="0" cy="0"/>
          <a:chOff x="0" y="0"/>
          <a:chExt cx="0" cy="0"/>
        </a:xfrm>
      </p:grpSpPr>
      <p:sp>
        <p:nvSpPr>
          <p:cNvPr id="6" name="Picture Placeholder 13"/>
          <p:cNvSpPr>
            <a:spLocks noGrp="1"/>
          </p:cNvSpPr>
          <p:nvPr>
            <p:ph type="pic" sz="quarter" idx="27"/>
          </p:nvPr>
        </p:nvSpPr>
        <p:spPr>
          <a:xfrm>
            <a:off x="0" y="0"/>
            <a:ext cx="12192000" cy="4360127"/>
          </a:xfrm>
          <a:solidFill>
            <a:schemeClr val="bg1">
              <a:lumMod val="95000"/>
            </a:schemeClr>
          </a:solidFill>
          <a:effectLst/>
        </p:spPr>
        <p:txBody>
          <a:bodyPr>
            <a:normAutofit/>
          </a:bodyPr>
          <a:lstStyle>
            <a:lvl1pPr marL="0" indent="0">
              <a:buNone/>
              <a:defRPr sz="1300" b="0" i="0">
                <a:ln>
                  <a:noFill/>
                </a:ln>
                <a:solidFill>
                  <a:schemeClr val="bg1">
                    <a:lumMod val="85000"/>
                  </a:schemeClr>
                </a:solidFill>
                <a:latin typeface="Open Sans" charset="0"/>
                <a:ea typeface="Open Sans" charset="0"/>
                <a:cs typeface="Open Sans" charset="0"/>
              </a:defRPr>
            </a:lvl1pPr>
          </a:lstStyle>
          <a:p>
            <a:endParaRPr lang="en-US" dirty="0"/>
          </a:p>
        </p:txBody>
      </p:sp>
    </p:spTree>
    <p:extLst>
      <p:ext uri="{BB962C8B-B14F-4D97-AF65-F5344CB8AC3E}">
        <p14:creationId xmlns:p14="http://schemas.microsoft.com/office/powerpoint/2010/main" val="323753528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65431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767138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0439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27875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353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607248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1846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60960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04204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724739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325962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228611" indent="0" algn="ctr">
              <a:buNone/>
              <a:defRPr>
                <a:solidFill>
                  <a:schemeClr val="tx1">
                    <a:tint val="75000"/>
                  </a:schemeClr>
                </a:solidFill>
              </a:defRPr>
            </a:lvl2pPr>
            <a:lvl3pPr marL="457223" indent="0" algn="ctr">
              <a:buNone/>
              <a:defRPr>
                <a:solidFill>
                  <a:schemeClr val="tx1">
                    <a:tint val="75000"/>
                  </a:schemeClr>
                </a:solidFill>
              </a:defRPr>
            </a:lvl3pPr>
            <a:lvl4pPr marL="685835" indent="0" algn="ctr">
              <a:buNone/>
              <a:defRPr>
                <a:solidFill>
                  <a:schemeClr val="tx1">
                    <a:tint val="75000"/>
                  </a:schemeClr>
                </a:solidFill>
              </a:defRPr>
            </a:lvl4pPr>
            <a:lvl5pPr marL="914446" indent="0" algn="ctr">
              <a:buNone/>
              <a:defRPr>
                <a:solidFill>
                  <a:schemeClr val="tx1">
                    <a:tint val="75000"/>
                  </a:schemeClr>
                </a:solidFill>
              </a:defRPr>
            </a:lvl5pPr>
            <a:lvl6pPr marL="1143057" indent="0" algn="ctr">
              <a:buNone/>
              <a:defRPr>
                <a:solidFill>
                  <a:schemeClr val="tx1">
                    <a:tint val="75000"/>
                  </a:schemeClr>
                </a:solidFill>
              </a:defRPr>
            </a:lvl6pPr>
            <a:lvl7pPr marL="1371668" indent="0" algn="ctr">
              <a:buNone/>
              <a:defRPr>
                <a:solidFill>
                  <a:schemeClr val="tx1">
                    <a:tint val="75000"/>
                  </a:schemeClr>
                </a:solidFill>
              </a:defRPr>
            </a:lvl7pPr>
            <a:lvl8pPr marL="1600280" indent="0" algn="ctr">
              <a:buNone/>
              <a:defRPr>
                <a:solidFill>
                  <a:schemeClr val="tx1">
                    <a:tint val="75000"/>
                  </a:schemeClr>
                </a:solidFill>
              </a:defRPr>
            </a:lvl8pPr>
            <a:lvl9pPr marL="182889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548127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277936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3" y="2937934"/>
            <a:ext cx="5181600" cy="908050"/>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481543" y="1937809"/>
            <a:ext cx="5181600" cy="1000125"/>
          </a:xfrm>
        </p:spPr>
        <p:txBody>
          <a:bodyPr anchor="b"/>
          <a:lstStyle>
            <a:lvl1pPr marL="0" indent="0">
              <a:buNone/>
              <a:defRPr sz="1000">
                <a:solidFill>
                  <a:schemeClr val="tx1">
                    <a:tint val="75000"/>
                  </a:schemeClr>
                </a:solidFill>
              </a:defRPr>
            </a:lvl1pPr>
            <a:lvl2pPr marL="228611" indent="0">
              <a:buNone/>
              <a:defRPr sz="900">
                <a:solidFill>
                  <a:schemeClr val="tx1">
                    <a:tint val="75000"/>
                  </a:schemeClr>
                </a:solidFill>
              </a:defRPr>
            </a:lvl2pPr>
            <a:lvl3pPr marL="457223" indent="0">
              <a:buNone/>
              <a:defRPr sz="800">
                <a:solidFill>
                  <a:schemeClr val="tx1">
                    <a:tint val="75000"/>
                  </a:schemeClr>
                </a:solidFill>
              </a:defRPr>
            </a:lvl3pPr>
            <a:lvl4pPr marL="685835" indent="0">
              <a:buNone/>
              <a:defRPr sz="700">
                <a:solidFill>
                  <a:schemeClr val="tx1">
                    <a:tint val="75000"/>
                  </a:schemeClr>
                </a:solidFill>
              </a:defRPr>
            </a:lvl4pPr>
            <a:lvl5pPr marL="914446" indent="0">
              <a:buNone/>
              <a:defRPr sz="700">
                <a:solidFill>
                  <a:schemeClr val="tx1">
                    <a:tint val="75000"/>
                  </a:schemeClr>
                </a:solidFill>
              </a:defRPr>
            </a:lvl5pPr>
            <a:lvl6pPr marL="1143057" indent="0">
              <a:buNone/>
              <a:defRPr sz="700">
                <a:solidFill>
                  <a:schemeClr val="tx1">
                    <a:tint val="75000"/>
                  </a:schemeClr>
                </a:solidFill>
              </a:defRPr>
            </a:lvl6pPr>
            <a:lvl7pPr marL="1371668" indent="0">
              <a:buNone/>
              <a:defRPr sz="700">
                <a:solidFill>
                  <a:schemeClr val="tx1">
                    <a:tint val="75000"/>
                  </a:schemeClr>
                </a:solidFill>
              </a:defRPr>
            </a:lvl7pPr>
            <a:lvl8pPr marL="1600280" indent="0">
              <a:buNone/>
              <a:defRPr sz="700">
                <a:solidFill>
                  <a:schemeClr val="tx1">
                    <a:tint val="75000"/>
                  </a:schemeClr>
                </a:solidFill>
              </a:defRPr>
            </a:lvl8pPr>
            <a:lvl9pPr marL="1828892" indent="0">
              <a:buNone/>
              <a:defRPr sz="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175566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61186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1" y="1023409"/>
            <a:ext cx="2693459" cy="426508"/>
          </a:xfrm>
        </p:spPr>
        <p:txBody>
          <a:bodyPr anchor="b"/>
          <a:lstStyle>
            <a:lvl1pPr marL="0" indent="0">
              <a:buNone/>
              <a:defRPr sz="1200" b="1"/>
            </a:lvl1pPr>
            <a:lvl2pPr marL="228611" indent="0">
              <a:buNone/>
              <a:defRPr sz="1000" b="1"/>
            </a:lvl2pPr>
            <a:lvl3pPr marL="457223" indent="0">
              <a:buNone/>
              <a:defRPr sz="900" b="1"/>
            </a:lvl3pPr>
            <a:lvl4pPr marL="685835" indent="0">
              <a:buNone/>
              <a:defRPr sz="800" b="1"/>
            </a:lvl4pPr>
            <a:lvl5pPr marL="914446" indent="0">
              <a:buNone/>
              <a:defRPr sz="800" b="1"/>
            </a:lvl5pPr>
            <a:lvl6pPr marL="1143057" indent="0">
              <a:buNone/>
              <a:defRPr sz="800" b="1"/>
            </a:lvl6pPr>
            <a:lvl7pPr marL="1371668" indent="0">
              <a:buNone/>
              <a:defRPr sz="800" b="1"/>
            </a:lvl7pPr>
            <a:lvl8pPr marL="1600280" indent="0">
              <a:buNone/>
              <a:defRPr sz="800" b="1"/>
            </a:lvl8pPr>
            <a:lvl9pPr marL="1828892" indent="0">
              <a:buNone/>
              <a:defRPr sz="800" b="1"/>
            </a:lvl9pPr>
          </a:lstStyle>
          <a:p>
            <a:pPr lvl="0"/>
            <a:r>
              <a:rPr lang="en-US"/>
              <a:t>Click to edit Master text styles</a:t>
            </a:r>
          </a:p>
        </p:txBody>
      </p:sp>
      <p:sp>
        <p:nvSpPr>
          <p:cNvPr id="4" name="Content Placeholder 3"/>
          <p:cNvSpPr>
            <a:spLocks noGrp="1"/>
          </p:cNvSpPr>
          <p:nvPr>
            <p:ph sz="half" idx="2"/>
          </p:nvPr>
        </p:nvSpPr>
        <p:spPr>
          <a:xfrm>
            <a:off x="304801" y="1449917"/>
            <a:ext cx="2693459"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200" b="1"/>
            </a:lvl1pPr>
            <a:lvl2pPr marL="228611" indent="0">
              <a:buNone/>
              <a:defRPr sz="1000" b="1"/>
            </a:lvl2pPr>
            <a:lvl3pPr marL="457223" indent="0">
              <a:buNone/>
              <a:defRPr sz="900" b="1"/>
            </a:lvl3pPr>
            <a:lvl4pPr marL="685835" indent="0">
              <a:buNone/>
              <a:defRPr sz="800" b="1"/>
            </a:lvl4pPr>
            <a:lvl5pPr marL="914446" indent="0">
              <a:buNone/>
              <a:defRPr sz="800" b="1"/>
            </a:lvl5pPr>
            <a:lvl6pPr marL="1143057" indent="0">
              <a:buNone/>
              <a:defRPr sz="800" b="1"/>
            </a:lvl6pPr>
            <a:lvl7pPr marL="1371668" indent="0">
              <a:buNone/>
              <a:defRPr sz="800" b="1"/>
            </a:lvl7pPr>
            <a:lvl8pPr marL="1600280" indent="0">
              <a:buNone/>
              <a:defRPr sz="800" b="1"/>
            </a:lvl8pPr>
            <a:lvl9pPr marL="1828892" indent="0">
              <a:buNone/>
              <a:defRPr sz="800"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039988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446301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303564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182033"/>
            <a:ext cx="2005543" cy="77470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2383369" y="182036"/>
            <a:ext cx="3407833"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1" y="956736"/>
            <a:ext cx="2005543" cy="3127375"/>
          </a:xfrm>
        </p:spPr>
        <p:txBody>
          <a:bodyPr/>
          <a:lstStyle>
            <a:lvl1pPr marL="0" indent="0">
              <a:buNone/>
              <a:defRPr sz="700"/>
            </a:lvl1pPr>
            <a:lvl2pPr marL="228611" indent="0">
              <a:buNone/>
              <a:defRPr sz="600"/>
            </a:lvl2pPr>
            <a:lvl3pPr marL="457223" indent="0">
              <a:buNone/>
              <a:defRPr sz="500"/>
            </a:lvl3pPr>
            <a:lvl4pPr marL="685835" indent="0">
              <a:buNone/>
              <a:defRPr sz="450"/>
            </a:lvl4pPr>
            <a:lvl5pPr marL="914446" indent="0">
              <a:buNone/>
              <a:defRPr sz="450"/>
            </a:lvl5pPr>
            <a:lvl6pPr marL="1143057" indent="0">
              <a:buNone/>
              <a:defRPr sz="450"/>
            </a:lvl6pPr>
            <a:lvl7pPr marL="1371668" indent="0">
              <a:buNone/>
              <a:defRPr sz="450"/>
            </a:lvl7pPr>
            <a:lvl8pPr marL="1600280" indent="0">
              <a:buNone/>
              <a:defRPr sz="450"/>
            </a:lvl8pPr>
            <a:lvl9pPr marL="1828892"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591145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2"/>
            <a:ext cx="3657600" cy="377825"/>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1600"/>
            </a:lvl1pPr>
            <a:lvl2pPr marL="228611" indent="0">
              <a:buNone/>
              <a:defRPr sz="1400"/>
            </a:lvl2pPr>
            <a:lvl3pPr marL="457223" indent="0">
              <a:buNone/>
              <a:defRPr sz="1200"/>
            </a:lvl3pPr>
            <a:lvl4pPr marL="685835" indent="0">
              <a:buNone/>
              <a:defRPr sz="1000"/>
            </a:lvl4pPr>
            <a:lvl5pPr marL="914446" indent="0">
              <a:buNone/>
              <a:defRPr sz="1000"/>
            </a:lvl5pPr>
            <a:lvl6pPr marL="1143057" indent="0">
              <a:buNone/>
              <a:defRPr sz="1000"/>
            </a:lvl6pPr>
            <a:lvl7pPr marL="1371668" indent="0">
              <a:buNone/>
              <a:defRPr sz="1000"/>
            </a:lvl7pPr>
            <a:lvl8pPr marL="1600280" indent="0">
              <a:buNone/>
              <a:defRPr sz="1000"/>
            </a:lvl8pPr>
            <a:lvl9pPr marL="1828892" indent="0">
              <a:buNone/>
              <a:defRPr sz="1000"/>
            </a:lvl9pPr>
          </a:lstStyle>
          <a:p>
            <a:endParaRPr lang="en-US"/>
          </a:p>
        </p:txBody>
      </p:sp>
      <p:sp>
        <p:nvSpPr>
          <p:cNvPr id="4" name="Text Placeholder 3"/>
          <p:cNvSpPr>
            <a:spLocks noGrp="1"/>
          </p:cNvSpPr>
          <p:nvPr>
            <p:ph type="body" sz="half" idx="2"/>
          </p:nvPr>
        </p:nvSpPr>
        <p:spPr>
          <a:xfrm>
            <a:off x="1194859" y="3578227"/>
            <a:ext cx="3657600" cy="536575"/>
          </a:xfrm>
        </p:spPr>
        <p:txBody>
          <a:bodyPr/>
          <a:lstStyle>
            <a:lvl1pPr marL="0" indent="0">
              <a:buNone/>
              <a:defRPr sz="700"/>
            </a:lvl1pPr>
            <a:lvl2pPr marL="228611" indent="0">
              <a:buNone/>
              <a:defRPr sz="600"/>
            </a:lvl2pPr>
            <a:lvl3pPr marL="457223" indent="0">
              <a:buNone/>
              <a:defRPr sz="500"/>
            </a:lvl3pPr>
            <a:lvl4pPr marL="685835" indent="0">
              <a:buNone/>
              <a:defRPr sz="450"/>
            </a:lvl4pPr>
            <a:lvl5pPr marL="914446" indent="0">
              <a:buNone/>
              <a:defRPr sz="450"/>
            </a:lvl5pPr>
            <a:lvl6pPr marL="1143057" indent="0">
              <a:buNone/>
              <a:defRPr sz="450"/>
            </a:lvl6pPr>
            <a:lvl7pPr marL="1371668" indent="0">
              <a:buNone/>
              <a:defRPr sz="450"/>
            </a:lvl7pPr>
            <a:lvl8pPr marL="1600280" indent="0">
              <a:buNone/>
              <a:defRPr sz="450"/>
            </a:lvl8pPr>
            <a:lvl9pPr marL="1828892"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43016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863613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1009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09600" y="1600203"/>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3"/>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11174241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100412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image" Target="../media/image1.jpeg"/><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2/18/26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73138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2/18/26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4634556"/>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2"/>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9"/>
            <a:ext cx="1422400" cy="243417"/>
          </a:xfrm>
          <a:prstGeom prst="rect">
            <a:avLst/>
          </a:prstGeom>
        </p:spPr>
        <p:txBody>
          <a:bodyPr vert="horz" lIns="91440" tIns="45720" rIns="91440" bIns="45720" rtlCol="0" anchor="ctr"/>
          <a:lstStyle>
            <a:lvl1pPr algn="l">
              <a:defRPr sz="600">
                <a:solidFill>
                  <a:schemeClr val="tx1">
                    <a:tint val="75000"/>
                  </a:schemeClr>
                </a:solidFill>
                <a:latin typeface="DM Sans" pitchFamily="2" charset="0"/>
              </a:defRPr>
            </a:lvl1pPr>
          </a:lstStyle>
          <a:p>
            <a:fld id="{1D8BD707-D9CF-40AE-B4C6-C98DA3205C09}" type="datetimeFigureOut">
              <a:rPr lang="en-US" smtClean="0"/>
              <a:pPr/>
              <a:t>2/18/26</a:t>
            </a:fld>
            <a:endParaRPr lang="en-US"/>
          </a:p>
        </p:txBody>
      </p:sp>
      <p:sp>
        <p:nvSpPr>
          <p:cNvPr id="5" name="Footer Placeholder 4"/>
          <p:cNvSpPr>
            <a:spLocks noGrp="1"/>
          </p:cNvSpPr>
          <p:nvPr>
            <p:ph type="ftr" sz="quarter" idx="3"/>
          </p:nvPr>
        </p:nvSpPr>
        <p:spPr>
          <a:xfrm>
            <a:off x="2082800" y="4237569"/>
            <a:ext cx="1930400" cy="243417"/>
          </a:xfrm>
          <a:prstGeom prst="rect">
            <a:avLst/>
          </a:prstGeom>
        </p:spPr>
        <p:txBody>
          <a:bodyPr vert="horz" lIns="91440" tIns="45720" rIns="91440" bIns="45720" rtlCol="0" anchor="ctr"/>
          <a:lstStyle>
            <a:lvl1pPr algn="ctr">
              <a:defRPr sz="6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9"/>
            <a:ext cx="1422400" cy="243417"/>
          </a:xfrm>
          <a:prstGeom prst="rect">
            <a:avLst/>
          </a:prstGeom>
        </p:spPr>
        <p:txBody>
          <a:bodyPr vert="horz" lIns="91440" tIns="45720" rIns="91440" bIns="45720" rtlCol="0" anchor="ctr"/>
          <a:lstStyle>
            <a:lvl1pPr algn="r">
              <a:defRPr sz="6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38449304"/>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txStyles>
    <p:titleStyle>
      <a:lvl1pPr algn="ctr" defTabSz="457223" rtl="0" eaLnBrk="1" latinLnBrk="0" hangingPunct="1">
        <a:spcBef>
          <a:spcPct val="0"/>
        </a:spcBef>
        <a:buNone/>
        <a:defRPr sz="2200" kern="1200">
          <a:solidFill>
            <a:schemeClr val="tx1"/>
          </a:solidFill>
          <a:latin typeface="DM Sans" pitchFamily="2" charset="0"/>
          <a:ea typeface="+mj-ea"/>
          <a:cs typeface="+mj-cs"/>
        </a:defRPr>
      </a:lvl1pPr>
    </p:titleStyle>
    <p:bodyStyle>
      <a:lvl1pPr marL="171458" indent="-171458" algn="l" defTabSz="457223"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1pPr>
      <a:lvl2pPr marL="371494" indent="-142883" algn="l" defTabSz="457223" rtl="0" eaLnBrk="1" latinLnBrk="0" hangingPunct="1">
        <a:spcBef>
          <a:spcPct val="20000"/>
        </a:spcBef>
        <a:buFont typeface="DM Sans" pitchFamily="34" charset="0"/>
        <a:buChar char="–"/>
        <a:defRPr sz="1400" kern="1200">
          <a:solidFill>
            <a:schemeClr val="tx1"/>
          </a:solidFill>
          <a:latin typeface="DM Sans" pitchFamily="2" charset="0"/>
          <a:ea typeface="+mn-ea"/>
          <a:cs typeface="+mn-cs"/>
        </a:defRPr>
      </a:lvl2pPr>
      <a:lvl3pPr marL="571529" indent="-114306" algn="l" defTabSz="457223" rtl="0" eaLnBrk="1" latinLnBrk="0" hangingPunct="1">
        <a:spcBef>
          <a:spcPct val="20000"/>
        </a:spcBef>
        <a:buFont typeface="DM Sans" pitchFamily="34" charset="0"/>
        <a:buChar char="•"/>
        <a:defRPr sz="1200" kern="1200">
          <a:solidFill>
            <a:schemeClr val="tx1"/>
          </a:solidFill>
          <a:latin typeface="DM Sans" pitchFamily="2" charset="0"/>
          <a:ea typeface="+mn-ea"/>
          <a:cs typeface="+mn-cs"/>
        </a:defRPr>
      </a:lvl3pPr>
      <a:lvl4pPr marL="800140" indent="-114306" algn="l" defTabSz="457223"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4pPr>
      <a:lvl5pPr marL="1028752" indent="-114306" algn="l" defTabSz="457223"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5pPr>
      <a:lvl6pPr marL="1257363"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6pPr>
      <a:lvl7pPr marL="1485974"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7pPr>
      <a:lvl8pPr marL="1714586"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8pPr>
      <a:lvl9pPr marL="1943198"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9pPr>
    </p:bodyStyle>
    <p:otherStyle>
      <a:defPPr>
        <a:defRPr lang="en-US"/>
      </a:defPPr>
      <a:lvl1pPr marL="0" algn="l" defTabSz="457223" rtl="0" eaLnBrk="1" latinLnBrk="0" hangingPunct="1">
        <a:defRPr sz="900" kern="1200">
          <a:solidFill>
            <a:schemeClr val="tx1"/>
          </a:solidFill>
          <a:latin typeface="+mn-lt"/>
          <a:ea typeface="+mn-ea"/>
          <a:cs typeface="+mn-cs"/>
        </a:defRPr>
      </a:lvl1pPr>
      <a:lvl2pPr marL="228611" algn="l" defTabSz="457223" rtl="0" eaLnBrk="1" latinLnBrk="0" hangingPunct="1">
        <a:defRPr sz="900" kern="1200">
          <a:solidFill>
            <a:schemeClr val="tx1"/>
          </a:solidFill>
          <a:latin typeface="+mn-lt"/>
          <a:ea typeface="+mn-ea"/>
          <a:cs typeface="+mn-cs"/>
        </a:defRPr>
      </a:lvl2pPr>
      <a:lvl3pPr marL="457223" algn="l" defTabSz="457223" rtl="0" eaLnBrk="1" latinLnBrk="0" hangingPunct="1">
        <a:defRPr sz="900" kern="1200">
          <a:solidFill>
            <a:schemeClr val="tx1"/>
          </a:solidFill>
          <a:latin typeface="+mn-lt"/>
          <a:ea typeface="+mn-ea"/>
          <a:cs typeface="+mn-cs"/>
        </a:defRPr>
      </a:lvl3pPr>
      <a:lvl4pPr marL="685835" algn="l" defTabSz="457223" rtl="0" eaLnBrk="1" latinLnBrk="0" hangingPunct="1">
        <a:defRPr sz="900" kern="1200">
          <a:solidFill>
            <a:schemeClr val="tx1"/>
          </a:solidFill>
          <a:latin typeface="+mn-lt"/>
          <a:ea typeface="+mn-ea"/>
          <a:cs typeface="+mn-cs"/>
        </a:defRPr>
      </a:lvl4pPr>
      <a:lvl5pPr marL="914446" algn="l" defTabSz="457223" rtl="0" eaLnBrk="1" latinLnBrk="0" hangingPunct="1">
        <a:defRPr sz="900" kern="1200">
          <a:solidFill>
            <a:schemeClr val="tx1"/>
          </a:solidFill>
          <a:latin typeface="+mn-lt"/>
          <a:ea typeface="+mn-ea"/>
          <a:cs typeface="+mn-cs"/>
        </a:defRPr>
      </a:lvl5pPr>
      <a:lvl6pPr marL="1143057" algn="l" defTabSz="457223" rtl="0" eaLnBrk="1" latinLnBrk="0" hangingPunct="1">
        <a:defRPr sz="900" kern="1200">
          <a:solidFill>
            <a:schemeClr val="tx1"/>
          </a:solidFill>
          <a:latin typeface="+mn-lt"/>
          <a:ea typeface="+mn-ea"/>
          <a:cs typeface="+mn-cs"/>
        </a:defRPr>
      </a:lvl6pPr>
      <a:lvl7pPr marL="1371668" algn="l" defTabSz="457223" rtl="0" eaLnBrk="1" latinLnBrk="0" hangingPunct="1">
        <a:defRPr sz="900" kern="1200">
          <a:solidFill>
            <a:schemeClr val="tx1"/>
          </a:solidFill>
          <a:latin typeface="+mn-lt"/>
          <a:ea typeface="+mn-ea"/>
          <a:cs typeface="+mn-cs"/>
        </a:defRPr>
      </a:lvl7pPr>
      <a:lvl8pPr marL="1600280" algn="l" defTabSz="457223" rtl="0" eaLnBrk="1" latinLnBrk="0" hangingPunct="1">
        <a:defRPr sz="900" kern="1200">
          <a:solidFill>
            <a:schemeClr val="tx1"/>
          </a:solidFill>
          <a:latin typeface="+mn-lt"/>
          <a:ea typeface="+mn-ea"/>
          <a:cs typeface="+mn-cs"/>
        </a:defRPr>
      </a:lvl8pPr>
      <a:lvl9pPr marL="1828892" algn="l" defTabSz="457223"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9.xml"/><Relationship Id="rId5" Type="http://schemas.openxmlformats.org/officeDocument/2006/relationships/image" Target="../media/image3.png"/><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0.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0.xml"/><Relationship Id="rId5" Type="http://schemas.openxmlformats.org/officeDocument/2006/relationships/image" Target="../media/image13.jp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jp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30.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19.xml"/><Relationship Id="rId5" Type="http://schemas.openxmlformats.org/officeDocument/2006/relationships/image" Target="../media/image18.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30.xml"/><Relationship Id="rId4" Type="http://schemas.openxmlformats.org/officeDocument/2006/relationships/image" Target="../media/image510.png"/></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9.xml"/><Relationship Id="rId5" Type="http://schemas.openxmlformats.org/officeDocument/2006/relationships/image" Target="../media/image55.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30.xml"/><Relationship Id="rId4" Type="http://schemas.openxmlformats.org/officeDocument/2006/relationships/image" Target="../media/image530.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19.xml"/><Relationship Id="rId5" Type="http://schemas.openxmlformats.org/officeDocument/2006/relationships/image" Target="../media/image540.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30.xml"/><Relationship Id="rId4" Type="http://schemas.openxmlformats.org/officeDocument/2006/relationships/image" Target="../media/image550.png"/></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9.xml"/><Relationship Id="rId5" Type="http://schemas.openxmlformats.org/officeDocument/2006/relationships/image" Target="../media/image5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914400" y="3429000"/>
            <a:ext cx="9842923" cy="917046"/>
          </a:xfrm>
          <a:prstGeom prst="rect">
            <a:avLst/>
          </a:prstGeom>
        </p:spPr>
        <p:txBody>
          <a:bodyPr wrap="square" lIns="0" tIns="0" rIns="0" bIns="0" rtlCol="0" anchor="t">
            <a:spAutoFit/>
          </a:bodyPr>
          <a:lstStyle/>
          <a:p>
            <a:pPr defTabSz="609630">
              <a:lnSpc>
                <a:spcPts val="7333"/>
              </a:lnSpc>
              <a:defRPr/>
            </a:pPr>
            <a:r>
              <a:rPr lang="en-GB" altLang="en-US" sz="5867" b="1" dirty="0">
                <a:solidFill>
                  <a:prstClr val="white"/>
                </a:solidFill>
                <a:latin typeface="DM Sans"/>
              </a:rPr>
              <a:t>Global Climate Change</a:t>
            </a:r>
            <a:endParaRPr lang="en-US" sz="5866" b="1" dirty="0">
              <a:solidFill>
                <a:prstClr val="white"/>
              </a:solidFill>
              <a:latin typeface="DM Sans" pitchFamily="2" charset="0"/>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914400" y="4170916"/>
            <a:ext cx="8207298" cy="1716432"/>
          </a:xfrm>
          <a:prstGeom prst="rect">
            <a:avLst/>
          </a:prstGeom>
        </p:spPr>
        <p:txBody>
          <a:bodyPr wrap="square" lIns="0" tIns="0" rIns="0" bIns="0" rtlCol="0" anchor="t">
            <a:spAutoFit/>
          </a:bodyPr>
          <a:lstStyle/>
          <a:p>
            <a:pPr defTabSz="609630">
              <a:lnSpc>
                <a:spcPts val="7333"/>
              </a:lnSpc>
              <a:defRPr/>
            </a:pPr>
            <a:r>
              <a:rPr lang="en-US" sz="2133" b="1" dirty="0">
                <a:solidFill>
                  <a:srgbClr val="FAB700"/>
                </a:solidFill>
                <a:latin typeface="DM Sans" pitchFamily="2" charset="0"/>
              </a:rPr>
              <a:t>Week 3 - Radiation and the Greenhouse Effect</a:t>
            </a:r>
          </a:p>
          <a:p>
            <a:pPr defTabSz="609630">
              <a:lnSpc>
                <a:spcPts val="7333"/>
              </a:lnSpc>
              <a:defRPr/>
            </a:pPr>
            <a:r>
              <a:rPr lang="en-US" sz="2133" b="1" dirty="0">
                <a:solidFill>
                  <a:srgbClr val="FAB700"/>
                </a:solidFill>
                <a:latin typeface="DM Sans" pitchFamily="2" charset="0"/>
              </a:rPr>
              <a:t>Dr Thomas </a:t>
            </a:r>
            <a:r>
              <a:rPr lang="en-US" sz="2133" b="1" dirty="0" err="1">
                <a:solidFill>
                  <a:srgbClr val="FAB700"/>
                </a:solidFill>
                <a:latin typeface="DM Sans" pitchFamily="2" charset="0"/>
              </a:rPr>
              <a:t>Bannan</a:t>
            </a:r>
            <a:r>
              <a:rPr lang="en-US" sz="2133" b="1" dirty="0">
                <a:solidFill>
                  <a:srgbClr val="FAB700"/>
                </a:solidFill>
                <a:latin typeface="DM Sans" pitchFamily="2" charset="0"/>
              </a:rPr>
              <a:t> </a:t>
            </a:r>
          </a:p>
        </p:txBody>
      </p:sp>
      <p:sp>
        <p:nvSpPr>
          <p:cNvPr id="4" name="TextBox 3">
            <a:extLst>
              <a:ext uri="{FF2B5EF4-FFF2-40B4-BE49-F238E27FC236}">
                <a16:creationId xmlns:a16="http://schemas.microsoft.com/office/drawing/2014/main" id="{5889A0A8-15D6-C5A0-517B-A5C87EE4AF42}"/>
              </a:ext>
            </a:extLst>
          </p:cNvPr>
          <p:cNvSpPr txBox="1"/>
          <p:nvPr/>
        </p:nvSpPr>
        <p:spPr>
          <a:xfrm>
            <a:off x="845575" y="5983341"/>
            <a:ext cx="6031831" cy="338554"/>
          </a:xfrm>
          <a:prstGeom prst="rect">
            <a:avLst/>
          </a:prstGeom>
          <a:noFill/>
        </p:spPr>
        <p:txBody>
          <a:bodyPr wrap="square" rtlCol="0">
            <a:spAutoFit/>
          </a:bodyPr>
          <a:lstStyle/>
          <a:p>
            <a:pPr defTabSz="609630">
              <a:defRPr/>
            </a:pPr>
            <a:r>
              <a:rPr lang="en-US" sz="1600" dirty="0" err="1">
                <a:solidFill>
                  <a:prstClr val="white"/>
                </a:solidFill>
                <a:latin typeface="DM Sans"/>
              </a:rPr>
              <a:t>Thomas.Bannan@Manchester.ac.uk</a:t>
            </a:r>
            <a:endParaRPr lang="en-US" sz="1600" dirty="0">
              <a:solidFill>
                <a:prstClr val="white"/>
              </a:solidFill>
              <a:latin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6FA3CCC-601F-4DB4-22B3-A2DFE059E2DB}"/>
                  </a:ext>
                </a:extLst>
              </p:cNvPr>
              <p:cNvSpPr txBox="1"/>
              <p:nvPr/>
            </p:nvSpPr>
            <p:spPr>
              <a:xfrm>
                <a:off x="389464" y="1389989"/>
                <a:ext cx="11164104" cy="5244513"/>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1a. Assuming steady state, calculate the blackbody temperature of Earth with the information I have just given you</a:t>
                </a:r>
              </a:p>
              <a:p>
                <a:endParaRPr lang="en-US"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Stefan–Boltzmann constant, </a:t>
                </a:r>
                <a14:m>
                  <m:oMath xmlns:m="http://schemas.openxmlformats.org/officeDocument/2006/math">
                    <m:r>
                      <a:rPr lang="en-GB" i="1">
                        <a:latin typeface="Cambria Math" panose="02040503050406030204" pitchFamily="18" charset="0"/>
                      </a:rPr>
                      <m:t>𝜎</m:t>
                    </m:r>
                    <m:r>
                      <a:rPr lang="en-GB">
                        <a:latin typeface="Cambria Math" panose="02040503050406030204" pitchFamily="18" charset="0"/>
                      </a:rPr>
                      <m:t>=5.67×</m:t>
                    </m:r>
                    <m:sSup>
                      <m:sSupPr>
                        <m:ctrlPr>
                          <a:rPr lang="ar-AE" i="1" smtClean="0">
                            <a:latin typeface="Cambria Math" panose="02040503050406030204" pitchFamily="18" charset="0"/>
                          </a:rPr>
                        </m:ctrlPr>
                      </m:sSupPr>
                      <m:e>
                        <m:r>
                          <a:rPr lang="ar-AE">
                            <a:latin typeface="Cambria Math" panose="02040503050406030204" pitchFamily="18" charset="0"/>
                          </a:rPr>
                          <m:t>10</m:t>
                        </m:r>
                      </m:e>
                      <m:sup>
                        <m:r>
                          <a:rPr lang="ar-AE">
                            <a:latin typeface="Cambria Math" panose="02040503050406030204" pitchFamily="18" charset="0"/>
                          </a:rPr>
                          <m:t>−8</m:t>
                        </m:r>
                        <m:r>
                          <a:rPr lang="en-GB" b="0" i="0" smtClean="0">
                            <a:latin typeface="Cambria Math" panose="02040503050406030204" pitchFamily="18" charset="0"/>
                          </a:rPr>
                          <m:t>  </m:t>
                        </m:r>
                      </m:sup>
                    </m:sSup>
                    <m:sSup>
                      <m:sSupPr>
                        <m:ctrlPr>
                          <a:rPr lang="ar-AE" i="1">
                            <a:latin typeface="Cambria Math" panose="02040503050406030204" pitchFamily="18" charset="0"/>
                          </a:rPr>
                        </m:ctrlPr>
                      </m:sSupPr>
                      <m:e>
                        <m:r>
                          <m:rPr>
                            <m:nor/>
                          </m:rPr>
                          <a:rPr lang="en-GB" i="1">
                            <a:latin typeface="Calibri" panose="020F0502020204030204" pitchFamily="34" charset="0"/>
                            <a:cs typeface="Calibri" panose="020F0502020204030204" pitchFamily="34" charset="0"/>
                          </a:rPr>
                          <m:t>W</m:t>
                        </m:r>
                        <m:r>
                          <m:rPr>
                            <m:nor/>
                          </m:rPr>
                          <a:rPr lang="en-GB" i="1">
                            <a:latin typeface="Calibri" panose="020F0502020204030204" pitchFamily="34" charset="0"/>
                            <a:cs typeface="Calibri" panose="020F0502020204030204" pitchFamily="34" charset="0"/>
                          </a:rPr>
                          <m:t> </m:t>
                        </m:r>
                        <m:r>
                          <m:rPr>
                            <m:nor/>
                          </m:rPr>
                          <a:rPr lang="en-GB" i="1">
                            <a:latin typeface="Calibri" panose="020F0502020204030204" pitchFamily="34" charset="0"/>
                            <a:cs typeface="Calibri" panose="020F0502020204030204" pitchFamily="34" charset="0"/>
                          </a:rPr>
                          <m:t>m</m:t>
                        </m:r>
                      </m:e>
                      <m:sup>
                        <m:r>
                          <a:rPr lang="ar-AE">
                            <a:latin typeface="Cambria Math" panose="02040503050406030204" pitchFamily="18" charset="0"/>
                          </a:rPr>
                          <m:t>−2</m:t>
                        </m:r>
                      </m:sup>
                    </m:sSup>
                    <m:sSup>
                      <m:sSupPr>
                        <m:ctrlPr>
                          <a:rPr lang="ar-AE" i="1">
                            <a:latin typeface="Cambria Math" panose="02040503050406030204" pitchFamily="18" charset="0"/>
                          </a:rPr>
                        </m:ctrlPr>
                      </m:sSupPr>
                      <m:e>
                        <m:r>
                          <m:rPr>
                            <m:nor/>
                          </m:rPr>
                          <a:rPr lang="en-GB" i="1">
                            <a:latin typeface="Calibri" panose="020F0502020204030204" pitchFamily="34" charset="0"/>
                            <a:cs typeface="Calibri" panose="020F0502020204030204" pitchFamily="34" charset="0"/>
                          </a:rPr>
                          <m:t>K</m:t>
                        </m:r>
                      </m:e>
                      <m:sup>
                        <m:r>
                          <a:rPr lang="ar-AE">
                            <a:latin typeface="Cambria Math" panose="02040503050406030204" pitchFamily="18" charset="0"/>
                          </a:rPr>
                          <m:t>−4</m:t>
                        </m:r>
                      </m:sup>
                    </m:sSup>
                  </m:oMath>
                </a14:m>
                <a:endParaRPr lang="en-US" b="1"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pPr>
                  <a:lnSpc>
                    <a:spcPct val="90000"/>
                  </a:lnSpc>
                  <a:spcAft>
                    <a:spcPts val="600"/>
                  </a:spcAft>
                </a:pPr>
                <a:r>
                  <a:rPr lang="en-US" b="1" dirty="0">
                    <a:latin typeface="Calibri" panose="020F0502020204030204" pitchFamily="34" charset="0"/>
                    <a:cs typeface="Calibri" panose="020F0502020204030204" pitchFamily="34" charset="0"/>
                  </a:rPr>
                  <a:t>1b. Can you use the following information to estimate the surface temperature of Mars?</a:t>
                </a:r>
                <a:endParaRPr lang="en-US" dirty="0">
                  <a:latin typeface="Calibri" panose="020F0502020204030204" pitchFamily="34" charset="0"/>
                  <a:cs typeface="Calibri" panose="020F0502020204030204" pitchFamily="34" charset="0"/>
                </a:endParaRP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Radius = 3,389.5 km</a:t>
                </a: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Solar constant = 590 W m</a:t>
                </a:r>
                <a:r>
                  <a:rPr lang="en-US" baseline="30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 </a:t>
                </a: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Albedo =  0.16</a:t>
                </a:r>
              </a:p>
              <a:p>
                <a:pPr indent="-228600">
                  <a:lnSpc>
                    <a:spcPct val="90000"/>
                  </a:lnSpc>
                  <a:spcAft>
                    <a:spcPts val="600"/>
                  </a:spcAft>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lnSpc>
                    <a:spcPct val="90000"/>
                  </a:lnSpc>
                  <a:spcAft>
                    <a:spcPts val="600"/>
                  </a:spcAft>
                </a:pPr>
                <a:r>
                  <a:rPr lang="en-US" b="1" dirty="0">
                    <a:latin typeface="Calibri" panose="020F0502020204030204" pitchFamily="34" charset="0"/>
                    <a:cs typeface="Calibri" panose="020F0502020204030204" pitchFamily="34" charset="0"/>
                  </a:rPr>
                  <a:t>1c. Can you use the following information to estimate the surface temperature of Venus?</a:t>
                </a:r>
                <a:endParaRPr lang="en-US" dirty="0">
                  <a:latin typeface="Calibri" panose="020F0502020204030204" pitchFamily="34" charset="0"/>
                  <a:cs typeface="Calibri" panose="020F0502020204030204" pitchFamily="34" charset="0"/>
                </a:endParaRP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Radius = 6052 km</a:t>
                </a: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Solar constant = 2637 W m</a:t>
                </a:r>
                <a:r>
                  <a:rPr lang="en-US" baseline="30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 </a:t>
                </a:r>
              </a:p>
              <a:p>
                <a:pPr indent="-22860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Albedo =  0.75</a:t>
                </a:r>
              </a:p>
              <a:p>
                <a:endParaRPr lang="en-US"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2</a:t>
                </a:r>
                <a:r>
                  <a:rPr lang="en-GB" b="1" dirty="0">
                    <a:latin typeface="Calibri" panose="020F0502020204030204" pitchFamily="34" charset="0"/>
                    <a:cs typeface="Calibri" panose="020F0502020204030204" pitchFamily="34" charset="0"/>
                  </a:rPr>
                  <a:t>. You know the rough average temp of the Earth, Mars is 218K and Venus is 735K. Why do you think there is a difference between your calculated values and the average measured temp?</a:t>
                </a:r>
              </a:p>
              <a:p>
                <a:endParaRPr lang="en-US" dirty="0"/>
              </a:p>
            </p:txBody>
          </p:sp>
        </mc:Choice>
        <mc:Fallback xmlns="">
          <p:sp>
            <p:nvSpPr>
              <p:cNvPr id="4" name="TextBox 3">
                <a:extLst>
                  <a:ext uri="{FF2B5EF4-FFF2-40B4-BE49-F238E27FC236}">
                    <a16:creationId xmlns:a16="http://schemas.microsoft.com/office/drawing/2014/main" id="{F6FA3CCC-601F-4DB4-22B3-A2DFE059E2DB}"/>
                  </a:ext>
                </a:extLst>
              </p:cNvPr>
              <p:cNvSpPr txBox="1">
                <a:spLocks noRot="1" noChangeAspect="1" noMove="1" noResize="1" noEditPoints="1" noAdjustHandles="1" noChangeArrowheads="1" noChangeShapeType="1" noTextEdit="1"/>
              </p:cNvSpPr>
              <p:nvPr/>
            </p:nvSpPr>
            <p:spPr>
              <a:xfrm>
                <a:off x="389464" y="1389989"/>
                <a:ext cx="11164104" cy="5244513"/>
              </a:xfrm>
              <a:prstGeom prst="rect">
                <a:avLst/>
              </a:prstGeom>
              <a:blipFill>
                <a:blip r:embed="rId3"/>
                <a:stretch>
                  <a:fillRect l="-455" t="-483"/>
                </a:stretch>
              </a:blipFill>
            </p:spPr>
            <p:txBody>
              <a:bodyPr/>
              <a:lstStyle/>
              <a:p>
                <a:r>
                  <a:rPr lang="en-US">
                    <a:noFill/>
                  </a:rPr>
                  <a:t> </a:t>
                </a:r>
              </a:p>
            </p:txBody>
          </p:sp>
        </mc:Fallback>
      </mc:AlternateContent>
      <p:sp>
        <p:nvSpPr>
          <p:cNvPr id="5" name="TextBox 14">
            <a:extLst>
              <a:ext uri="{FF2B5EF4-FFF2-40B4-BE49-F238E27FC236}">
                <a16:creationId xmlns:a16="http://schemas.microsoft.com/office/drawing/2014/main" id="{8EDB024D-BA72-B62B-EDCF-7FE70506FD65}"/>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Workshop 1</a:t>
            </a:r>
          </a:p>
        </p:txBody>
      </p:sp>
    </p:spTree>
    <p:extLst>
      <p:ext uri="{BB962C8B-B14F-4D97-AF65-F5344CB8AC3E}">
        <p14:creationId xmlns:p14="http://schemas.microsoft.com/office/powerpoint/2010/main" val="2594524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BCD735A-CABF-B8CF-68B1-DA331BBE5883}"/>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6BDC07A-CC14-614C-BA0D-6C84DD00FED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EDA173DC-9DD3-0AFD-E3ED-F1F4E9E71271}"/>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Q1a.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4" name="Rectangle 3">
            <a:extLst>
              <a:ext uri="{FF2B5EF4-FFF2-40B4-BE49-F238E27FC236}">
                <a16:creationId xmlns:a16="http://schemas.microsoft.com/office/drawing/2014/main" id="{E1F79F79-A743-49CC-7956-5E9589B3F288}"/>
              </a:ext>
            </a:extLst>
          </p:cNvPr>
          <p:cNvSpPr txBox="1">
            <a:spLocks noChangeArrowheads="1"/>
          </p:cNvSpPr>
          <p:nvPr/>
        </p:nvSpPr>
        <p:spPr>
          <a:xfrm>
            <a:off x="389465" y="1647946"/>
            <a:ext cx="11352876" cy="4525963"/>
          </a:xfrm>
          <a:prstGeom prst="rect">
            <a:avLst/>
          </a:prstGeom>
        </p:spPr>
        <p:txBody>
          <a:bodyPr>
            <a:normAutofit/>
          </a:bodyPr>
          <a:lst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a:lstStyle>
          <a:p>
            <a:pPr marL="0" indent="0">
              <a:buNone/>
            </a:pPr>
            <a:r>
              <a:rPr lang="en-GB" altLang="en-US" sz="2400" dirty="0">
                <a:solidFill>
                  <a:schemeClr val="bg1"/>
                </a:solidFill>
                <a:latin typeface="Calibri" panose="020F0502020204030204" pitchFamily="34" charset="0"/>
                <a:cs typeface="Calibri" panose="020F0502020204030204" pitchFamily="34" charset="0"/>
              </a:rPr>
              <a:t>In steady state the energy entering top of atmosphere = energy leaving the atmosphere</a:t>
            </a:r>
          </a:p>
          <a:p>
            <a:pPr marL="0" indent="0">
              <a:buNone/>
            </a:pPr>
            <a:endParaRPr lang="en-GB" altLang="en-US" sz="2400" dirty="0">
              <a:solidFill>
                <a:schemeClr val="bg1"/>
              </a:solidFill>
              <a:latin typeface="Calibri" panose="020F0502020204030204" pitchFamily="34" charset="0"/>
              <a:cs typeface="Calibri" panose="020F0502020204030204" pitchFamily="34" charset="0"/>
            </a:endParaRPr>
          </a:p>
          <a:p>
            <a:pPr marL="0" indent="0">
              <a:buNone/>
            </a:pPr>
            <a:r>
              <a:rPr lang="en-US" altLang="en-US" sz="2400" b="1" dirty="0">
                <a:solidFill>
                  <a:schemeClr val="bg1"/>
                </a:solidFill>
                <a:latin typeface="Calibri" panose="020F0502020204030204" pitchFamily="34" charset="0"/>
                <a:cs typeface="Calibri" panose="020F0502020204030204" pitchFamily="34" charset="0"/>
              </a:rPr>
              <a:t>S</a:t>
            </a:r>
            <a:r>
              <a:rPr lang="en-US" altLang="en-US" sz="2400" b="1" baseline="-25000" dirty="0">
                <a:solidFill>
                  <a:schemeClr val="bg1"/>
                </a:solidFill>
                <a:latin typeface="Calibri" panose="020F0502020204030204" pitchFamily="34" charset="0"/>
                <a:cs typeface="Calibri" panose="020F0502020204030204" pitchFamily="34" charset="0"/>
              </a:rPr>
              <a:t>o</a:t>
            </a:r>
            <a:r>
              <a:rPr lang="en-US" altLang="en-US" sz="2400" b="1" dirty="0">
                <a:solidFill>
                  <a:schemeClr val="bg1"/>
                </a:solidFill>
                <a:latin typeface="Calibri" panose="020F0502020204030204" pitchFamily="34" charset="0"/>
                <a:cs typeface="Calibri" panose="020F0502020204030204" pitchFamily="34" charset="0"/>
              </a:rPr>
              <a:t> x Area (A) x albedo = </a:t>
            </a:r>
            <a:r>
              <a:rPr lang="en-US" altLang="en-US" sz="2400" b="1" dirty="0">
                <a:solidFill>
                  <a:schemeClr val="bg1"/>
                </a:solidFill>
                <a:latin typeface="Calibri" panose="020F0502020204030204" pitchFamily="34" charset="0"/>
                <a:cs typeface="Calibri" panose="020F0502020204030204" pitchFamily="34" charset="0"/>
                <a:sym typeface="Symbol" pitchFamily="2" charset="2"/>
              </a:rPr>
              <a:t>T</a:t>
            </a:r>
            <a:r>
              <a:rPr lang="en-US" altLang="en-US" sz="2400" b="1" baseline="-25000" dirty="0">
                <a:solidFill>
                  <a:schemeClr val="bg1"/>
                </a:solidFill>
                <a:latin typeface="Calibri" panose="020F0502020204030204" pitchFamily="34" charset="0"/>
                <a:cs typeface="Calibri" panose="020F0502020204030204" pitchFamily="34" charset="0"/>
                <a:sym typeface="Symbol" pitchFamily="2" charset="2"/>
              </a:rPr>
              <a:t>E</a:t>
            </a:r>
            <a:r>
              <a:rPr lang="en-US" altLang="en-US" sz="2400" b="1" baseline="30000" dirty="0">
                <a:solidFill>
                  <a:schemeClr val="bg1"/>
                </a:solidFill>
                <a:latin typeface="Calibri" panose="020F0502020204030204" pitchFamily="34" charset="0"/>
                <a:cs typeface="Calibri" panose="020F0502020204030204" pitchFamily="34" charset="0"/>
                <a:sym typeface="Symbol" pitchFamily="2" charset="2"/>
              </a:rPr>
              <a:t>4</a:t>
            </a:r>
            <a:r>
              <a:rPr lang="en-US" altLang="en-US" sz="2400" b="1" dirty="0">
                <a:solidFill>
                  <a:schemeClr val="bg1"/>
                </a:solidFill>
                <a:latin typeface="Calibri" panose="020F0502020204030204" pitchFamily="34" charset="0"/>
                <a:cs typeface="Calibri" panose="020F0502020204030204" pitchFamily="34" charset="0"/>
                <a:sym typeface="Symbol" pitchFamily="2" charset="2"/>
              </a:rPr>
              <a:t> </a:t>
            </a:r>
            <a:r>
              <a:rPr lang="en-GB" altLang="en-US" sz="2400" b="1" dirty="0">
                <a:solidFill>
                  <a:schemeClr val="bg1"/>
                </a:solidFill>
                <a:latin typeface="Calibri" panose="020F0502020204030204" pitchFamily="34" charset="0"/>
                <a:cs typeface="Calibri" panose="020F0502020204030204" pitchFamily="34" charset="0"/>
              </a:rPr>
              <a:t>4πr</a:t>
            </a:r>
            <a:r>
              <a:rPr lang="en-US" altLang="en-US" sz="2400" b="1" baseline="-25000" dirty="0">
                <a:solidFill>
                  <a:schemeClr val="bg1"/>
                </a:solidFill>
                <a:latin typeface="Calibri" panose="020F0502020204030204" pitchFamily="34" charset="0"/>
                <a:cs typeface="Calibri" panose="020F0502020204030204" pitchFamily="34" charset="0"/>
              </a:rPr>
              <a:t>e</a:t>
            </a:r>
            <a:r>
              <a:rPr lang="en-GB" altLang="en-US" sz="2400" b="1" baseline="30000" dirty="0">
                <a:solidFill>
                  <a:schemeClr val="bg1"/>
                </a:solidFill>
                <a:latin typeface="Calibri" panose="020F0502020204030204" pitchFamily="34" charset="0"/>
                <a:cs typeface="Calibri" panose="020F0502020204030204" pitchFamily="34" charset="0"/>
              </a:rPr>
              <a:t>2</a:t>
            </a:r>
            <a:endParaRPr lang="en-GB" altLang="en-US" sz="2400" b="1" dirty="0">
              <a:solidFill>
                <a:schemeClr val="bg1"/>
              </a:solidFill>
              <a:latin typeface="Calibri" panose="020F0502020204030204" pitchFamily="34" charset="0"/>
              <a:cs typeface="Calibri" panose="020F0502020204030204" pitchFamily="34" charset="0"/>
            </a:endParaRPr>
          </a:p>
          <a:p>
            <a:pPr marL="0" indent="0">
              <a:buNone/>
            </a:pPr>
            <a:endParaRPr lang="en-GB" altLang="en-US" sz="2400" dirty="0">
              <a:solidFill>
                <a:schemeClr val="bg1"/>
              </a:solidFill>
              <a:latin typeface="Calibri" panose="020F0502020204030204" pitchFamily="34" charset="0"/>
              <a:cs typeface="Calibri" panose="020F0502020204030204" pitchFamily="34" charset="0"/>
            </a:endParaRPr>
          </a:p>
          <a:p>
            <a:pPr marL="0" indent="0">
              <a:buNone/>
            </a:pPr>
            <a:r>
              <a:rPr lang="en-GB" altLang="en-US" sz="2400" dirty="0">
                <a:solidFill>
                  <a:schemeClr val="bg1"/>
                </a:solidFill>
                <a:latin typeface="Calibri" panose="020F0502020204030204" pitchFamily="34" charset="0"/>
                <a:cs typeface="Calibri" panose="020F0502020204030204" pitchFamily="34" charset="0"/>
              </a:rPr>
              <a:t>0.7 x </a:t>
            </a:r>
            <a:r>
              <a:rPr lang="en-US" altLang="en-US" sz="2400" dirty="0">
                <a:solidFill>
                  <a:schemeClr val="bg1"/>
                </a:solidFill>
                <a:latin typeface="Calibri" panose="020F0502020204030204" pitchFamily="34" charset="0"/>
                <a:cs typeface="Calibri" panose="020F0502020204030204" pitchFamily="34" charset="0"/>
              </a:rPr>
              <a:t>1370 x  </a:t>
            </a:r>
            <a:r>
              <a:rPr lang="en-GB" altLang="en-US" sz="2400" dirty="0">
                <a:solidFill>
                  <a:srgbClr val="FF0000"/>
                </a:solidFill>
                <a:latin typeface="Calibri" panose="020F0502020204030204" pitchFamily="34" charset="0"/>
                <a:cs typeface="Calibri" panose="020F0502020204030204" pitchFamily="34" charset="0"/>
                <a:sym typeface="Symbol" pitchFamily="2" charset="2"/>
              </a:rPr>
              <a:t></a:t>
            </a:r>
            <a:r>
              <a:rPr lang="en-GB" altLang="en-US" sz="2400" dirty="0">
                <a:solidFill>
                  <a:srgbClr val="FF0000"/>
                </a:solidFill>
                <a:latin typeface="Calibri" panose="020F0502020204030204" pitchFamily="34" charset="0"/>
                <a:cs typeface="Calibri" panose="020F0502020204030204" pitchFamily="34" charset="0"/>
              </a:rPr>
              <a:t>r</a:t>
            </a:r>
            <a:r>
              <a:rPr lang="en-GB" altLang="en-US" sz="2400" baseline="-25000" dirty="0">
                <a:solidFill>
                  <a:srgbClr val="FF0000"/>
                </a:solidFill>
                <a:latin typeface="Calibri" panose="020F0502020204030204" pitchFamily="34" charset="0"/>
                <a:cs typeface="Calibri" panose="020F0502020204030204" pitchFamily="34" charset="0"/>
              </a:rPr>
              <a:t>e</a:t>
            </a:r>
            <a:r>
              <a:rPr lang="en-GB" altLang="en-US" sz="2400" baseline="30000" dirty="0">
                <a:solidFill>
                  <a:srgbClr val="FF0000"/>
                </a:solidFill>
                <a:latin typeface="Calibri" panose="020F0502020204030204" pitchFamily="34" charset="0"/>
                <a:cs typeface="Calibri" panose="020F0502020204030204" pitchFamily="34" charset="0"/>
              </a:rPr>
              <a:t>2 </a:t>
            </a:r>
            <a:r>
              <a:rPr lang="en-GB" altLang="en-US" sz="2400" dirty="0">
                <a:solidFill>
                  <a:schemeClr val="bg1"/>
                </a:solidFill>
                <a:latin typeface="Calibri" panose="020F0502020204030204" pitchFamily="34" charset="0"/>
                <a:cs typeface="Calibri" panose="020F0502020204030204" pitchFamily="34" charset="0"/>
              </a:rPr>
              <a:t>= </a:t>
            </a:r>
            <a:r>
              <a:rPr lang="en-US" altLang="en-US" sz="2400" dirty="0">
                <a:solidFill>
                  <a:schemeClr val="bg1"/>
                </a:solidFill>
                <a:latin typeface="Calibri" panose="020F0502020204030204" pitchFamily="34" charset="0"/>
                <a:cs typeface="Calibri" panose="020F0502020204030204" pitchFamily="34" charset="0"/>
                <a:sym typeface="Symbol" pitchFamily="2" charset="2"/>
              </a:rPr>
              <a:t>T</a:t>
            </a:r>
            <a:r>
              <a:rPr lang="en-US" altLang="en-US" sz="2400" baseline="-25000" dirty="0">
                <a:solidFill>
                  <a:schemeClr val="bg1"/>
                </a:solidFill>
                <a:latin typeface="Calibri" panose="020F0502020204030204" pitchFamily="34" charset="0"/>
                <a:cs typeface="Calibri" panose="020F0502020204030204" pitchFamily="34" charset="0"/>
                <a:sym typeface="Symbol" pitchFamily="2" charset="2"/>
              </a:rPr>
              <a:t>e</a:t>
            </a:r>
            <a:r>
              <a:rPr lang="en-US" altLang="en-US" sz="2400" baseline="30000" dirty="0">
                <a:solidFill>
                  <a:schemeClr val="bg1"/>
                </a:solidFill>
                <a:latin typeface="Calibri" panose="020F0502020204030204" pitchFamily="34" charset="0"/>
                <a:cs typeface="Calibri" panose="020F0502020204030204" pitchFamily="34" charset="0"/>
                <a:sym typeface="Symbol" pitchFamily="2" charset="2"/>
              </a:rPr>
              <a:t>4</a:t>
            </a:r>
            <a:r>
              <a:rPr lang="en-US" altLang="en-US" sz="2400" dirty="0">
                <a:solidFill>
                  <a:schemeClr val="bg1"/>
                </a:solidFill>
                <a:latin typeface="Calibri" panose="020F0502020204030204" pitchFamily="34" charset="0"/>
                <a:cs typeface="Calibri" panose="020F0502020204030204" pitchFamily="34" charset="0"/>
                <a:sym typeface="Symbol" pitchFamily="2" charset="2"/>
              </a:rPr>
              <a:t> x 4</a:t>
            </a:r>
            <a:r>
              <a:rPr lang="en-US" altLang="en-US" sz="2400" dirty="0">
                <a:solidFill>
                  <a:srgbClr val="FF0000"/>
                </a:solidFill>
                <a:latin typeface="Calibri" panose="020F0502020204030204" pitchFamily="34" charset="0"/>
                <a:cs typeface="Calibri" panose="020F0502020204030204" pitchFamily="34" charset="0"/>
                <a:sym typeface="Symbol" pitchFamily="2" charset="2"/>
              </a:rPr>
              <a:t>r</a:t>
            </a:r>
            <a:r>
              <a:rPr lang="en-US" altLang="en-US" sz="2400" baseline="-25000" dirty="0">
                <a:solidFill>
                  <a:srgbClr val="FF0000"/>
                </a:solidFill>
                <a:latin typeface="Calibri" panose="020F0502020204030204" pitchFamily="34" charset="0"/>
                <a:cs typeface="Calibri" panose="020F0502020204030204" pitchFamily="34" charset="0"/>
                <a:sym typeface="Symbol" pitchFamily="2" charset="2"/>
              </a:rPr>
              <a:t>e</a:t>
            </a:r>
            <a:r>
              <a:rPr lang="en-US" altLang="en-US" sz="2400" baseline="30000" dirty="0">
                <a:solidFill>
                  <a:srgbClr val="FF0000"/>
                </a:solidFill>
                <a:latin typeface="Calibri" panose="020F0502020204030204" pitchFamily="34" charset="0"/>
                <a:cs typeface="Calibri" panose="020F0502020204030204" pitchFamily="34" charset="0"/>
                <a:sym typeface="Symbol" pitchFamily="2" charset="2"/>
              </a:rPr>
              <a:t>2</a:t>
            </a:r>
            <a:r>
              <a:rPr lang="en-US" altLang="en-US" sz="2400" dirty="0">
                <a:solidFill>
                  <a:srgbClr val="FF0000"/>
                </a:solidFill>
                <a:latin typeface="Calibri" panose="020F0502020204030204" pitchFamily="34" charset="0"/>
                <a:cs typeface="Calibri" panose="020F0502020204030204" pitchFamily="34" charset="0"/>
              </a:rPr>
              <a:t> </a:t>
            </a:r>
          </a:p>
          <a:p>
            <a:pPr marL="0" indent="0">
              <a:buNone/>
            </a:pPr>
            <a:endParaRPr lang="en-US" altLang="en-US" sz="2400" baseline="30000" dirty="0">
              <a:solidFill>
                <a:schemeClr val="bg1"/>
              </a:solidFill>
              <a:latin typeface="Calibri" panose="020F0502020204030204" pitchFamily="34" charset="0"/>
              <a:cs typeface="Calibri" panose="020F0502020204030204" pitchFamily="34" charset="0"/>
              <a:sym typeface="Symbol" pitchFamily="2" charset="2"/>
            </a:endParaRPr>
          </a:p>
          <a:p>
            <a:pPr marL="0" indent="0">
              <a:buNone/>
            </a:pPr>
            <a:r>
              <a:rPr lang="en-GB" altLang="en-US" sz="2400" dirty="0">
                <a:solidFill>
                  <a:schemeClr val="bg1"/>
                </a:solidFill>
                <a:latin typeface="Calibri" panose="020F0502020204030204" pitchFamily="34" charset="0"/>
                <a:cs typeface="Calibri" panose="020F0502020204030204" pitchFamily="34" charset="0"/>
              </a:rPr>
              <a:t>(0.7 x </a:t>
            </a:r>
            <a:r>
              <a:rPr lang="en-US" altLang="en-US" sz="2400" dirty="0">
                <a:solidFill>
                  <a:schemeClr val="bg1"/>
                </a:solidFill>
                <a:latin typeface="Calibri" panose="020F0502020204030204" pitchFamily="34" charset="0"/>
                <a:cs typeface="Calibri" panose="020F0502020204030204" pitchFamily="34" charset="0"/>
              </a:rPr>
              <a:t>1370)/ 4</a:t>
            </a:r>
            <a:r>
              <a:rPr lang="en-US" altLang="en-US" sz="2400" dirty="0">
                <a:solidFill>
                  <a:schemeClr val="bg1"/>
                </a:solidFill>
                <a:latin typeface="Calibri" panose="020F0502020204030204" pitchFamily="34" charset="0"/>
                <a:cs typeface="Calibri" panose="020F0502020204030204" pitchFamily="34" charset="0"/>
                <a:sym typeface="Symbol" pitchFamily="2" charset="2"/>
              </a:rPr>
              <a:t></a:t>
            </a:r>
            <a:r>
              <a:rPr lang="en-US" altLang="en-US" sz="2400" dirty="0">
                <a:solidFill>
                  <a:schemeClr val="bg1"/>
                </a:solidFill>
                <a:latin typeface="Calibri" panose="020F0502020204030204" pitchFamily="34" charset="0"/>
                <a:cs typeface="Calibri" panose="020F0502020204030204" pitchFamily="34" charset="0"/>
              </a:rPr>
              <a:t> </a:t>
            </a:r>
            <a:r>
              <a:rPr lang="en-GB" altLang="en-US" sz="2400" dirty="0">
                <a:solidFill>
                  <a:schemeClr val="bg1"/>
                </a:solidFill>
                <a:latin typeface="Calibri" panose="020F0502020204030204" pitchFamily="34" charset="0"/>
                <a:cs typeface="Calibri" panose="020F0502020204030204" pitchFamily="34" charset="0"/>
              </a:rPr>
              <a:t>= </a:t>
            </a:r>
            <a:r>
              <a:rPr lang="en-US" altLang="en-US" sz="2400" dirty="0">
                <a:solidFill>
                  <a:schemeClr val="bg1"/>
                </a:solidFill>
                <a:latin typeface="Calibri" panose="020F0502020204030204" pitchFamily="34" charset="0"/>
                <a:cs typeface="Calibri" panose="020F0502020204030204" pitchFamily="34" charset="0"/>
                <a:sym typeface="Symbol" pitchFamily="2" charset="2"/>
              </a:rPr>
              <a:t>T</a:t>
            </a:r>
            <a:r>
              <a:rPr lang="en-US" altLang="en-US" sz="2400" baseline="-25000" dirty="0">
                <a:solidFill>
                  <a:schemeClr val="bg1"/>
                </a:solidFill>
                <a:latin typeface="Calibri" panose="020F0502020204030204" pitchFamily="34" charset="0"/>
                <a:cs typeface="Calibri" panose="020F0502020204030204" pitchFamily="34" charset="0"/>
                <a:sym typeface="Symbol" pitchFamily="2" charset="2"/>
              </a:rPr>
              <a:t>e</a:t>
            </a:r>
            <a:r>
              <a:rPr lang="en-US" altLang="en-US" sz="2400" baseline="30000" dirty="0">
                <a:solidFill>
                  <a:schemeClr val="bg1"/>
                </a:solidFill>
                <a:latin typeface="Calibri" panose="020F0502020204030204" pitchFamily="34" charset="0"/>
                <a:cs typeface="Calibri" panose="020F0502020204030204" pitchFamily="34" charset="0"/>
                <a:sym typeface="Symbol" pitchFamily="2" charset="2"/>
              </a:rPr>
              <a:t>4</a:t>
            </a:r>
          </a:p>
          <a:p>
            <a:pPr marL="0" indent="0">
              <a:buNone/>
            </a:pPr>
            <a:endParaRPr lang="en-US" altLang="en-US" sz="2400" baseline="30000" dirty="0">
              <a:solidFill>
                <a:schemeClr val="bg1"/>
              </a:solidFill>
              <a:latin typeface="Calibri" panose="020F0502020204030204" pitchFamily="34" charset="0"/>
              <a:cs typeface="Calibri" panose="020F0502020204030204" pitchFamily="34" charset="0"/>
              <a:sym typeface="Symbol" pitchFamily="2" charset="2"/>
            </a:endParaRPr>
          </a:p>
          <a:p>
            <a:pPr marL="0" indent="0">
              <a:buNone/>
            </a:pPr>
            <a:r>
              <a:rPr lang="en-US" altLang="en-US" sz="2400" dirty="0" err="1">
                <a:solidFill>
                  <a:schemeClr val="bg1"/>
                </a:solidFill>
                <a:latin typeface="Calibri" panose="020F0502020204030204" pitchFamily="34" charset="0"/>
                <a:cs typeface="Calibri" panose="020F0502020204030204" pitchFamily="34" charset="0"/>
                <a:sym typeface="Symbol" pitchFamily="2" charset="2"/>
              </a:rPr>
              <a:t>T</a:t>
            </a:r>
            <a:r>
              <a:rPr lang="en-US" altLang="en-US" sz="2400" baseline="-25000" dirty="0" err="1">
                <a:solidFill>
                  <a:schemeClr val="bg1"/>
                </a:solidFill>
                <a:latin typeface="Calibri" panose="020F0502020204030204" pitchFamily="34" charset="0"/>
                <a:cs typeface="Calibri" panose="020F0502020204030204" pitchFamily="34" charset="0"/>
                <a:sym typeface="Symbol" pitchFamily="2" charset="2"/>
              </a:rPr>
              <a:t>e</a:t>
            </a:r>
            <a:r>
              <a:rPr lang="en-GB" altLang="en-US" sz="2400" dirty="0">
                <a:solidFill>
                  <a:schemeClr val="bg1"/>
                </a:solidFill>
                <a:latin typeface="Calibri" panose="020F0502020204030204" pitchFamily="34" charset="0"/>
                <a:cs typeface="Calibri" panose="020F0502020204030204" pitchFamily="34" charset="0"/>
              </a:rPr>
              <a:t>= [(0.7 x 1370)/ </a:t>
            </a:r>
            <a:r>
              <a:rPr lang="en-US" altLang="en-US" sz="2400" dirty="0">
                <a:solidFill>
                  <a:schemeClr val="bg1"/>
                </a:solidFill>
                <a:latin typeface="Calibri" panose="020F0502020204030204" pitchFamily="34" charset="0"/>
                <a:cs typeface="Calibri" panose="020F0502020204030204" pitchFamily="34" charset="0"/>
              </a:rPr>
              <a:t>4</a:t>
            </a:r>
            <a:r>
              <a:rPr lang="en-US" altLang="en-US" sz="2400" dirty="0">
                <a:solidFill>
                  <a:schemeClr val="bg1"/>
                </a:solidFill>
                <a:latin typeface="Calibri" panose="020F0502020204030204" pitchFamily="34" charset="0"/>
                <a:cs typeface="Calibri" panose="020F0502020204030204" pitchFamily="34" charset="0"/>
                <a:sym typeface="Symbol" pitchFamily="2" charset="2"/>
              </a:rPr>
              <a:t></a:t>
            </a:r>
            <a:r>
              <a:rPr lang="en-US" altLang="en-US" sz="2400" dirty="0">
                <a:solidFill>
                  <a:schemeClr val="bg1"/>
                </a:solidFill>
                <a:latin typeface="Calibri" panose="020F0502020204030204" pitchFamily="34" charset="0"/>
                <a:cs typeface="Calibri" panose="020F0502020204030204" pitchFamily="34" charset="0"/>
              </a:rPr>
              <a:t> ]</a:t>
            </a:r>
            <a:r>
              <a:rPr lang="en-US" altLang="en-US" sz="2400" baseline="30000" dirty="0">
                <a:solidFill>
                  <a:schemeClr val="bg1"/>
                </a:solidFill>
                <a:latin typeface="Calibri" panose="020F0502020204030204" pitchFamily="34" charset="0"/>
                <a:cs typeface="Calibri" panose="020F0502020204030204" pitchFamily="34" charset="0"/>
                <a:sym typeface="Symbol" pitchFamily="2" charset="2"/>
              </a:rPr>
              <a:t>1/4</a:t>
            </a:r>
            <a:r>
              <a:rPr lang="en-US" altLang="en-US" sz="2400" dirty="0">
                <a:solidFill>
                  <a:schemeClr val="bg1"/>
                </a:solidFill>
                <a:latin typeface="Calibri" panose="020F0502020204030204" pitchFamily="34" charset="0"/>
                <a:cs typeface="Calibri" panose="020F0502020204030204" pitchFamily="34" charset="0"/>
                <a:sym typeface="Symbol" pitchFamily="2" charset="2"/>
              </a:rPr>
              <a:t> = [(1-a) * S) / (4 )])</a:t>
            </a:r>
            <a:r>
              <a:rPr lang="en-US" altLang="en-US" sz="2400" baseline="30000" dirty="0">
                <a:solidFill>
                  <a:schemeClr val="bg1"/>
                </a:solidFill>
                <a:latin typeface="Calibri" panose="020F0502020204030204" pitchFamily="34" charset="0"/>
                <a:cs typeface="Calibri" panose="020F0502020204030204" pitchFamily="34" charset="0"/>
                <a:sym typeface="Symbol" pitchFamily="2" charset="2"/>
              </a:rPr>
              <a:t> 1/4</a:t>
            </a:r>
            <a:r>
              <a:rPr lang="en-US" altLang="en-US" sz="2400" dirty="0">
                <a:solidFill>
                  <a:schemeClr val="bg1"/>
                </a:solidFill>
                <a:latin typeface="Calibri" panose="020F0502020204030204" pitchFamily="34" charset="0"/>
                <a:cs typeface="Calibri" panose="020F0502020204030204" pitchFamily="34" charset="0"/>
                <a:sym typeface="Symbol" pitchFamily="2" charset="2"/>
              </a:rPr>
              <a:t> </a:t>
            </a:r>
            <a:endParaRPr lang="en-US" altLang="en-US" sz="2400" baseline="30000" dirty="0">
              <a:solidFill>
                <a:schemeClr val="bg1"/>
              </a:solidFill>
              <a:latin typeface="Calibri" panose="020F0502020204030204" pitchFamily="34" charset="0"/>
              <a:cs typeface="Calibri" panose="020F0502020204030204" pitchFamily="34" charset="0"/>
              <a:sym typeface="Symbol" pitchFamily="2" charset="2"/>
            </a:endParaRPr>
          </a:p>
          <a:p>
            <a:pPr marL="0" indent="0">
              <a:buNone/>
            </a:pPr>
            <a:endParaRPr lang="en-US" altLang="en-US" sz="2400" baseline="30000" dirty="0">
              <a:solidFill>
                <a:schemeClr val="bg1"/>
              </a:solidFill>
              <a:latin typeface="Calibri" panose="020F0502020204030204" pitchFamily="34" charset="0"/>
              <a:cs typeface="Calibri" panose="020F0502020204030204" pitchFamily="34" charset="0"/>
              <a:sym typeface="Symbol" pitchFamily="2" charset="2"/>
            </a:endParaRPr>
          </a:p>
          <a:p>
            <a:pPr marL="0" indent="0">
              <a:buNone/>
            </a:pPr>
            <a:r>
              <a:rPr lang="en-US" altLang="en-US" sz="2400" b="1" dirty="0" err="1">
                <a:solidFill>
                  <a:schemeClr val="bg1"/>
                </a:solidFill>
                <a:latin typeface="Calibri" panose="020F0502020204030204" pitchFamily="34" charset="0"/>
                <a:cs typeface="Calibri" panose="020F0502020204030204" pitchFamily="34" charset="0"/>
                <a:sym typeface="Symbol" pitchFamily="2" charset="2"/>
              </a:rPr>
              <a:t>T</a:t>
            </a:r>
            <a:r>
              <a:rPr lang="en-US" altLang="en-US" sz="2400" b="1" baseline="-25000" dirty="0" err="1">
                <a:solidFill>
                  <a:schemeClr val="bg1"/>
                </a:solidFill>
                <a:latin typeface="Calibri" panose="020F0502020204030204" pitchFamily="34" charset="0"/>
                <a:cs typeface="Calibri" panose="020F0502020204030204" pitchFamily="34" charset="0"/>
                <a:sym typeface="Symbol" pitchFamily="2" charset="2"/>
              </a:rPr>
              <a:t>e</a:t>
            </a:r>
            <a:r>
              <a:rPr lang="en-US" altLang="en-US" sz="2400" b="1" baseline="-25000" dirty="0">
                <a:solidFill>
                  <a:schemeClr val="bg1"/>
                </a:solidFill>
                <a:latin typeface="Calibri" panose="020F0502020204030204" pitchFamily="34" charset="0"/>
                <a:cs typeface="Calibri" panose="020F0502020204030204" pitchFamily="34" charset="0"/>
                <a:sym typeface="Symbol" pitchFamily="2" charset="2"/>
              </a:rPr>
              <a:t> </a:t>
            </a:r>
            <a:r>
              <a:rPr lang="en-GB" altLang="en-US" sz="2400" b="1" dirty="0">
                <a:solidFill>
                  <a:schemeClr val="bg1"/>
                </a:solidFill>
                <a:latin typeface="Calibri" panose="020F0502020204030204" pitchFamily="34" charset="0"/>
                <a:cs typeface="Calibri" panose="020F0502020204030204" pitchFamily="34" charset="0"/>
              </a:rPr>
              <a:t>= 255K (-18</a:t>
            </a:r>
            <a:r>
              <a:rPr lang="en-US" altLang="en-US" sz="2400" b="1" dirty="0">
                <a:solidFill>
                  <a:schemeClr val="bg1"/>
                </a:solidFill>
                <a:latin typeface="Calibri" panose="020F0502020204030204" pitchFamily="34" charset="0"/>
                <a:cs typeface="Calibri" panose="020F0502020204030204" pitchFamily="34" charset="0"/>
              </a:rPr>
              <a:t>°</a:t>
            </a:r>
            <a:r>
              <a:rPr lang="en-GB" altLang="en-US" sz="2400" b="1" dirty="0">
                <a:solidFill>
                  <a:schemeClr val="bg1"/>
                </a:solidFill>
                <a:latin typeface="Calibri" panose="020F0502020204030204" pitchFamily="34" charset="0"/>
                <a:cs typeface="Calibri" panose="020F0502020204030204" pitchFamily="34" charset="0"/>
              </a:rPr>
              <a:t>C) is the equivalent blackbody temperature of the Earth</a:t>
            </a:r>
            <a:endParaRPr lang="en-GB" altLang="en-US" sz="2400" b="1" baseline="30000" dirty="0">
              <a:solidFill>
                <a:schemeClr val="bg1"/>
              </a:solidFill>
              <a:latin typeface="Calibri" panose="020F0502020204030204" pitchFamily="34" charset="0"/>
              <a:cs typeface="Calibri" panose="020F0502020204030204" pitchFamily="34" charset="0"/>
            </a:endParaRPr>
          </a:p>
          <a:p>
            <a:endParaRPr lang="en-GB" altLang="en-US" sz="2400" b="1" baseline="30000" dirty="0"/>
          </a:p>
          <a:p>
            <a:endParaRPr lang="en-GB" altLang="en-US" sz="2400" baseline="30000" dirty="0"/>
          </a:p>
          <a:p>
            <a:endParaRPr lang="en-GB" altLang="en-US" sz="2400" dirty="0"/>
          </a:p>
          <a:p>
            <a:endParaRPr lang="en-GB" altLang="en-US" sz="2400" dirty="0"/>
          </a:p>
        </p:txBody>
      </p:sp>
    </p:spTree>
    <p:extLst>
      <p:ext uri="{BB962C8B-B14F-4D97-AF65-F5344CB8AC3E}">
        <p14:creationId xmlns:p14="http://schemas.microsoft.com/office/powerpoint/2010/main" val="3540515824"/>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500"/>
                                        <p:tgtEl>
                                          <p:spTgt spid="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10" end="10"/>
                                            </p:txEl>
                                          </p:spTgt>
                                        </p:tgtEl>
                                        <p:attrNameLst>
                                          <p:attrName>style.visibility</p:attrName>
                                        </p:attrNameLst>
                                      </p:cBhvr>
                                      <p:to>
                                        <p:strVal val="visible"/>
                                      </p:to>
                                    </p:set>
                                    <p:animEffect transition="in" filter="fade">
                                      <p:cBhvr>
                                        <p:cTn id="3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03F893CC-42E0-E9DF-92C9-EE318D4D1A8C}"/>
            </a:ext>
          </a:extLst>
        </p:cNvPr>
        <p:cNvGrpSpPr/>
        <p:nvPr/>
      </p:nvGrpSpPr>
      <p:grpSpPr>
        <a:xfrm>
          <a:off x="0" y="0"/>
          <a:ext cx="0" cy="0"/>
          <a:chOff x="0" y="0"/>
          <a:chExt cx="0" cy="0"/>
        </a:xfrm>
      </p:grpSpPr>
      <p:sp>
        <p:nvSpPr>
          <p:cNvPr id="2" name="TextBox 14">
            <a:extLst>
              <a:ext uri="{FF2B5EF4-FFF2-40B4-BE49-F238E27FC236}">
                <a16:creationId xmlns:a16="http://schemas.microsoft.com/office/drawing/2014/main" id="{510C74A9-A460-F27C-0A97-F852506798DF}"/>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a:ln>
                  <a:noFill/>
                </a:ln>
                <a:solidFill>
                  <a:prstClr val="white"/>
                </a:solidFill>
                <a:effectLst/>
                <a:uLnTx/>
                <a:uFillTx/>
                <a:latin typeface="DM Sans Bold"/>
                <a:ea typeface="ＭＳ Ｐゴシック" panose="020B0600070205080204" pitchFamily="34" charset="-128"/>
                <a:cs typeface="+mn-cs"/>
              </a:rPr>
              <a:t>Q1b. </a:t>
            </a:r>
            <a:r>
              <a:rPr kumimoji="0" lang="en-US" sz="4000" b="0" i="1" u="none" strike="noStrike" kern="1200" cap="none" spc="-275" normalizeH="0" baseline="0" noProof="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a:ln>
                  <a:noFill/>
                </a:ln>
                <a:solidFill>
                  <a:prstClr val="white"/>
                </a:solidFill>
                <a:effectLst/>
                <a:uLnTx/>
                <a:uFillTx/>
                <a:latin typeface="DM Sans Bold"/>
                <a:ea typeface="ＭＳ Ｐゴシック" panose="020B0600070205080204" pitchFamily="34" charset="-128"/>
                <a:cs typeface="+mn-cs"/>
              </a:rPr>
              <a:t> </a:t>
            </a:r>
            <a:endPar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endParaRPr>
          </a:p>
        </p:txBody>
      </p:sp>
      <p:sp>
        <p:nvSpPr>
          <p:cNvPr id="5" name="TextBox 4">
            <a:extLst>
              <a:ext uri="{FF2B5EF4-FFF2-40B4-BE49-F238E27FC236}">
                <a16:creationId xmlns:a16="http://schemas.microsoft.com/office/drawing/2014/main" id="{E9485E8D-BDE0-4A4D-8B6E-82BED5899970}"/>
              </a:ext>
            </a:extLst>
          </p:cNvPr>
          <p:cNvSpPr txBox="1"/>
          <p:nvPr/>
        </p:nvSpPr>
        <p:spPr>
          <a:xfrm>
            <a:off x="276774" y="1764200"/>
            <a:ext cx="6387795" cy="5201424"/>
          </a:xfrm>
          <a:prstGeom prst="rect">
            <a:avLst/>
          </a:prstGeom>
          <a:noFill/>
        </p:spPr>
        <p:txBody>
          <a:bodyPr wrap="square" rtlCol="0">
            <a:spAutoFit/>
          </a:bodyPr>
          <a:lstStyle/>
          <a:p>
            <a:r>
              <a:rPr lang="en-GB" sz="2400" b="1" dirty="0">
                <a:solidFill>
                  <a:schemeClr val="bg1"/>
                </a:solidFill>
                <a:latin typeface="Calibri" panose="020F0502020204030204" pitchFamily="34" charset="0"/>
                <a:cs typeface="Calibri" panose="020F0502020204030204" pitchFamily="34" charset="0"/>
              </a:rPr>
              <a:t>Can you use the following information to estimate the surface temperature of Mars?</a:t>
            </a:r>
          </a:p>
          <a:p>
            <a:endParaRPr lang="en-GB" sz="2400" dirty="0">
              <a:solidFill>
                <a:schemeClr val="bg1"/>
              </a:solidFill>
              <a:latin typeface="Calibri" panose="020F0502020204030204" pitchFamily="34" charset="0"/>
              <a:cs typeface="Calibri" panose="020F0502020204030204" pitchFamily="34" charset="0"/>
            </a:endParaRPr>
          </a:p>
          <a:p>
            <a:r>
              <a:rPr lang="en-GB" sz="2400" dirty="0">
                <a:solidFill>
                  <a:schemeClr val="bg1"/>
                </a:solidFill>
                <a:latin typeface="Calibri" panose="020F0502020204030204" pitchFamily="34" charset="0"/>
                <a:cs typeface="Calibri" panose="020F0502020204030204" pitchFamily="34" charset="0"/>
              </a:rPr>
              <a:t>Radius =  3,389.5 km</a:t>
            </a:r>
          </a:p>
          <a:p>
            <a:r>
              <a:rPr lang="en-GB" sz="2400" dirty="0">
                <a:solidFill>
                  <a:schemeClr val="bg1"/>
                </a:solidFill>
                <a:latin typeface="Calibri" panose="020F0502020204030204" pitchFamily="34" charset="0"/>
                <a:cs typeface="Calibri" panose="020F0502020204030204" pitchFamily="34" charset="0"/>
              </a:rPr>
              <a:t>Solar constant = 590 W m</a:t>
            </a:r>
            <a:r>
              <a:rPr lang="en-GB" sz="2400" baseline="30000" dirty="0">
                <a:solidFill>
                  <a:schemeClr val="bg1"/>
                </a:solidFill>
                <a:latin typeface="Calibri" panose="020F0502020204030204" pitchFamily="34" charset="0"/>
                <a:cs typeface="Calibri" panose="020F0502020204030204" pitchFamily="34" charset="0"/>
              </a:rPr>
              <a:t>2</a:t>
            </a:r>
            <a:r>
              <a:rPr lang="en-GB" sz="2400" dirty="0">
                <a:solidFill>
                  <a:schemeClr val="bg1"/>
                </a:solidFill>
                <a:latin typeface="Calibri" panose="020F0502020204030204" pitchFamily="34" charset="0"/>
                <a:cs typeface="Calibri" panose="020F0502020204030204" pitchFamily="34" charset="0"/>
              </a:rPr>
              <a:t> </a:t>
            </a:r>
          </a:p>
          <a:p>
            <a:r>
              <a:rPr lang="en-GB" sz="2400" dirty="0">
                <a:solidFill>
                  <a:schemeClr val="bg1"/>
                </a:solidFill>
                <a:latin typeface="Calibri" panose="020F0502020204030204" pitchFamily="34" charset="0"/>
                <a:cs typeface="Calibri" panose="020F0502020204030204" pitchFamily="34" charset="0"/>
              </a:rPr>
              <a:t>Albedo = 0.16</a:t>
            </a:r>
          </a:p>
          <a:p>
            <a:endParaRPr lang="en-GB" sz="2400" dirty="0">
              <a:solidFill>
                <a:schemeClr val="bg1"/>
              </a:solidFill>
              <a:latin typeface="Calibri" panose="020F0502020204030204" pitchFamily="34" charset="0"/>
              <a:cs typeface="Calibri" panose="020F0502020204030204" pitchFamily="34" charset="0"/>
            </a:endParaRPr>
          </a:p>
          <a:p>
            <a:r>
              <a:rPr lang="en-US" altLang="en-US" sz="2400" b="1" dirty="0">
                <a:solidFill>
                  <a:schemeClr val="bg1"/>
                </a:solidFill>
                <a:latin typeface="Calibri" panose="020F0502020204030204" pitchFamily="34" charset="0"/>
                <a:cs typeface="Calibri" panose="020F0502020204030204" pitchFamily="34" charset="0"/>
              </a:rPr>
              <a:t>S</a:t>
            </a:r>
            <a:r>
              <a:rPr lang="en-US" altLang="en-US" sz="2400" b="1" baseline="-25000" dirty="0">
                <a:solidFill>
                  <a:schemeClr val="bg1"/>
                </a:solidFill>
                <a:latin typeface="Calibri" panose="020F0502020204030204" pitchFamily="34" charset="0"/>
                <a:cs typeface="Calibri" panose="020F0502020204030204" pitchFamily="34" charset="0"/>
              </a:rPr>
              <a:t>o</a:t>
            </a:r>
            <a:r>
              <a:rPr lang="en-US" altLang="en-US" sz="2400" b="1" dirty="0">
                <a:solidFill>
                  <a:schemeClr val="bg1"/>
                </a:solidFill>
                <a:latin typeface="Calibri" panose="020F0502020204030204" pitchFamily="34" charset="0"/>
                <a:cs typeface="Calibri" panose="020F0502020204030204" pitchFamily="34" charset="0"/>
              </a:rPr>
              <a:t> x Area (A) x albedo = </a:t>
            </a:r>
            <a:r>
              <a:rPr lang="en-US" altLang="en-US" sz="2400" b="1" dirty="0">
                <a:solidFill>
                  <a:schemeClr val="bg1"/>
                </a:solidFill>
                <a:latin typeface="Calibri" panose="020F0502020204030204" pitchFamily="34" charset="0"/>
                <a:cs typeface="Calibri" panose="020F0502020204030204" pitchFamily="34" charset="0"/>
                <a:sym typeface="Symbol" pitchFamily="2" charset="2"/>
              </a:rPr>
              <a:t>T</a:t>
            </a:r>
            <a:r>
              <a:rPr lang="en-US" altLang="en-US" sz="2400" b="1" baseline="-25000" dirty="0">
                <a:solidFill>
                  <a:schemeClr val="bg1"/>
                </a:solidFill>
                <a:latin typeface="Calibri" panose="020F0502020204030204" pitchFamily="34" charset="0"/>
                <a:cs typeface="Calibri" panose="020F0502020204030204" pitchFamily="34" charset="0"/>
                <a:sym typeface="Symbol" pitchFamily="2" charset="2"/>
              </a:rPr>
              <a:t>E</a:t>
            </a:r>
            <a:r>
              <a:rPr lang="en-US" altLang="en-US" sz="2400" b="1" baseline="30000" dirty="0">
                <a:solidFill>
                  <a:schemeClr val="bg1"/>
                </a:solidFill>
                <a:latin typeface="Calibri" panose="020F0502020204030204" pitchFamily="34" charset="0"/>
                <a:cs typeface="Calibri" panose="020F0502020204030204" pitchFamily="34" charset="0"/>
                <a:sym typeface="Symbol" pitchFamily="2" charset="2"/>
              </a:rPr>
              <a:t>4</a:t>
            </a:r>
            <a:r>
              <a:rPr lang="en-US" altLang="en-US" sz="2400" b="1" dirty="0">
                <a:solidFill>
                  <a:schemeClr val="bg1"/>
                </a:solidFill>
                <a:latin typeface="Calibri" panose="020F0502020204030204" pitchFamily="34" charset="0"/>
                <a:cs typeface="Calibri" panose="020F0502020204030204" pitchFamily="34" charset="0"/>
                <a:sym typeface="Symbol" pitchFamily="2" charset="2"/>
              </a:rPr>
              <a:t> </a:t>
            </a:r>
            <a:r>
              <a:rPr lang="en-GB" altLang="en-US" sz="2400" b="1" dirty="0">
                <a:solidFill>
                  <a:schemeClr val="bg1"/>
                </a:solidFill>
                <a:latin typeface="Calibri" panose="020F0502020204030204" pitchFamily="34" charset="0"/>
                <a:cs typeface="Calibri" panose="020F0502020204030204" pitchFamily="34" charset="0"/>
              </a:rPr>
              <a:t>4πr</a:t>
            </a:r>
            <a:r>
              <a:rPr lang="en-US" altLang="en-US" sz="2400" b="1" baseline="-25000" dirty="0">
                <a:solidFill>
                  <a:schemeClr val="bg1"/>
                </a:solidFill>
                <a:latin typeface="Calibri" panose="020F0502020204030204" pitchFamily="34" charset="0"/>
                <a:cs typeface="Calibri" panose="020F0502020204030204" pitchFamily="34" charset="0"/>
              </a:rPr>
              <a:t>e</a:t>
            </a:r>
            <a:r>
              <a:rPr lang="en-GB" altLang="en-US" sz="2400" b="1" baseline="30000" dirty="0">
                <a:solidFill>
                  <a:schemeClr val="bg1"/>
                </a:solidFill>
                <a:latin typeface="Calibri" panose="020F0502020204030204" pitchFamily="34" charset="0"/>
                <a:cs typeface="Calibri" panose="020F0502020204030204" pitchFamily="34" charset="0"/>
              </a:rPr>
              <a:t>2</a:t>
            </a:r>
            <a:endParaRPr lang="en-GB" sz="2400" dirty="0">
              <a:solidFill>
                <a:schemeClr val="bg1"/>
              </a:solidFill>
              <a:latin typeface="Calibri" panose="020F0502020204030204" pitchFamily="34" charset="0"/>
              <a:cs typeface="Calibri" panose="020F0502020204030204" pitchFamily="34" charset="0"/>
            </a:endParaRPr>
          </a:p>
          <a:p>
            <a:endParaRPr lang="en-GB" sz="2400" dirty="0">
              <a:solidFill>
                <a:schemeClr val="bg1"/>
              </a:solidFill>
              <a:latin typeface="Calibri" panose="020F0502020204030204" pitchFamily="34" charset="0"/>
              <a:cs typeface="Calibri" panose="020F0502020204030204" pitchFamily="34" charset="0"/>
            </a:endParaRPr>
          </a:p>
          <a:p>
            <a:pPr defTabSz="268288"/>
            <a:r>
              <a:rPr lang="en-GB" sz="2400" dirty="0">
                <a:solidFill>
                  <a:schemeClr val="bg1"/>
                </a:solidFill>
                <a:latin typeface="Calibri" panose="020F0502020204030204" pitchFamily="34" charset="0"/>
                <a:cs typeface="Calibri" panose="020F0502020204030204" pitchFamily="34" charset="0"/>
              </a:rPr>
              <a:t>T	=	(((1-albedo) * solar constant) / (4</a:t>
            </a:r>
            <a:r>
              <a:rPr lang="el-GR" sz="2400" dirty="0">
                <a:solidFill>
                  <a:schemeClr val="bg1"/>
                </a:solidFill>
                <a:latin typeface="Calibri" panose="020F0502020204030204" pitchFamily="34" charset="0"/>
                <a:cs typeface="Calibri" panose="020F0502020204030204" pitchFamily="34" charset="0"/>
              </a:rPr>
              <a:t>σ</a:t>
            </a:r>
            <a:r>
              <a:rPr lang="en-GB" sz="2400" dirty="0">
                <a:solidFill>
                  <a:schemeClr val="bg1"/>
                </a:solidFill>
                <a:latin typeface="Calibri" panose="020F0502020204030204" pitchFamily="34" charset="0"/>
                <a:cs typeface="Calibri" panose="020F0502020204030204" pitchFamily="34" charset="0"/>
              </a:rPr>
              <a:t>))</a:t>
            </a:r>
            <a:r>
              <a:rPr lang="en-GB" sz="2400" baseline="30000" dirty="0">
                <a:solidFill>
                  <a:schemeClr val="bg1"/>
                </a:solidFill>
                <a:latin typeface="Calibri" panose="020F0502020204030204" pitchFamily="34" charset="0"/>
                <a:cs typeface="Calibri" panose="020F0502020204030204" pitchFamily="34" charset="0"/>
              </a:rPr>
              <a:t>1/4</a:t>
            </a:r>
            <a:r>
              <a:rPr lang="en-GB" sz="2400" dirty="0">
                <a:solidFill>
                  <a:schemeClr val="bg1"/>
                </a:solidFill>
                <a:latin typeface="Calibri" panose="020F0502020204030204" pitchFamily="34" charset="0"/>
                <a:cs typeface="Calibri" panose="020F0502020204030204" pitchFamily="34" charset="0"/>
              </a:rPr>
              <a:t> </a:t>
            </a:r>
          </a:p>
          <a:p>
            <a:pPr defTabSz="268288"/>
            <a:r>
              <a:rPr lang="en-GB" sz="2400" dirty="0">
                <a:solidFill>
                  <a:schemeClr val="bg1"/>
                </a:solidFill>
                <a:latin typeface="Calibri" panose="020F0502020204030204" pitchFamily="34" charset="0"/>
                <a:cs typeface="Calibri" panose="020F0502020204030204" pitchFamily="34" charset="0"/>
              </a:rPr>
              <a:t>	=	((0.84*590) / (4*5.67*10</a:t>
            </a:r>
            <a:r>
              <a:rPr lang="en-GB" sz="2400" baseline="30000" dirty="0">
                <a:solidFill>
                  <a:schemeClr val="bg1"/>
                </a:solidFill>
                <a:latin typeface="Calibri" panose="020F0502020204030204" pitchFamily="34" charset="0"/>
                <a:cs typeface="Calibri" panose="020F0502020204030204" pitchFamily="34" charset="0"/>
              </a:rPr>
              <a:t>-8</a:t>
            </a:r>
            <a:r>
              <a:rPr lang="en-GB" sz="2400" dirty="0">
                <a:solidFill>
                  <a:schemeClr val="bg1"/>
                </a:solidFill>
                <a:latin typeface="Calibri" panose="020F0502020204030204" pitchFamily="34" charset="0"/>
                <a:cs typeface="Calibri" panose="020F0502020204030204" pitchFamily="34" charset="0"/>
              </a:rPr>
              <a:t>))</a:t>
            </a:r>
            <a:r>
              <a:rPr lang="en-GB" sz="2400" baseline="30000" dirty="0">
                <a:solidFill>
                  <a:schemeClr val="bg1"/>
                </a:solidFill>
                <a:latin typeface="Calibri" panose="020F0502020204030204" pitchFamily="34" charset="0"/>
                <a:cs typeface="Calibri" panose="020F0502020204030204" pitchFamily="34" charset="0"/>
              </a:rPr>
              <a:t>1/4</a:t>
            </a:r>
            <a:r>
              <a:rPr lang="en-GB" sz="2400" dirty="0">
                <a:solidFill>
                  <a:schemeClr val="bg1"/>
                </a:solidFill>
                <a:latin typeface="Calibri" panose="020F0502020204030204" pitchFamily="34" charset="0"/>
                <a:cs typeface="Calibri" panose="020F0502020204030204" pitchFamily="34" charset="0"/>
              </a:rPr>
              <a:t> </a:t>
            </a:r>
          </a:p>
          <a:p>
            <a:pPr defTabSz="268288"/>
            <a:r>
              <a:rPr lang="en-GB" sz="2400" baseline="30000" dirty="0">
                <a:solidFill>
                  <a:schemeClr val="bg1"/>
                </a:solidFill>
                <a:latin typeface="Calibri" panose="020F0502020204030204" pitchFamily="34" charset="0"/>
                <a:cs typeface="Calibri" panose="020F0502020204030204" pitchFamily="34" charset="0"/>
              </a:rPr>
              <a:t>	</a:t>
            </a:r>
            <a:r>
              <a:rPr lang="en-GB" sz="2400" dirty="0">
                <a:solidFill>
                  <a:schemeClr val="bg1"/>
                </a:solidFill>
                <a:latin typeface="Calibri" panose="020F0502020204030204" pitchFamily="34" charset="0"/>
                <a:cs typeface="Calibri" panose="020F0502020204030204" pitchFamily="34" charset="0"/>
              </a:rPr>
              <a:t>= 216.2 K</a:t>
            </a:r>
          </a:p>
          <a:p>
            <a:endParaRPr lang="en-GB" sz="2600" dirty="0"/>
          </a:p>
          <a:p>
            <a:endParaRPr lang="en-GB" dirty="0"/>
          </a:p>
        </p:txBody>
      </p:sp>
      <p:pic>
        <p:nvPicPr>
          <p:cNvPr id="7" name="Picture 6" descr="A close-up of a planet&#10;&#10;AI-generated content may be incorrect.">
            <a:extLst>
              <a:ext uri="{FF2B5EF4-FFF2-40B4-BE49-F238E27FC236}">
                <a16:creationId xmlns:a16="http://schemas.microsoft.com/office/drawing/2014/main" id="{926D101F-AAB7-4315-0174-FB61CE7CFD80}"/>
              </a:ext>
            </a:extLst>
          </p:cNvPr>
          <p:cNvPicPr>
            <a:picLocks noChangeAspect="1"/>
          </p:cNvPicPr>
          <p:nvPr/>
        </p:nvPicPr>
        <p:blipFill>
          <a:blip r:embed="rId4"/>
          <a:srcRect l="4127" r="45226" b="-1"/>
          <a:stretch>
            <a:fillRect/>
          </a:stretch>
        </p:blipFill>
        <p:spPr>
          <a:xfrm>
            <a:off x="6229215" y="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76534658"/>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FF58EEE-190A-2AFC-A8A4-3ABA46CCB7D5}"/>
            </a:ext>
          </a:extLst>
        </p:cNvPr>
        <p:cNvGrpSpPr/>
        <p:nvPr/>
      </p:nvGrpSpPr>
      <p:grpSpPr>
        <a:xfrm>
          <a:off x="0" y="0"/>
          <a:ext cx="0" cy="0"/>
          <a:chOff x="0" y="0"/>
          <a:chExt cx="0" cy="0"/>
        </a:xfrm>
      </p:grpSpPr>
      <p:sp>
        <p:nvSpPr>
          <p:cNvPr id="2" name="TextBox 14">
            <a:extLst>
              <a:ext uri="{FF2B5EF4-FFF2-40B4-BE49-F238E27FC236}">
                <a16:creationId xmlns:a16="http://schemas.microsoft.com/office/drawing/2014/main" id="{B47C7119-1CD9-2C38-95B5-EF515F396A44}"/>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a:ln>
                  <a:noFill/>
                </a:ln>
                <a:solidFill>
                  <a:prstClr val="white"/>
                </a:solidFill>
                <a:effectLst/>
                <a:uLnTx/>
                <a:uFillTx/>
                <a:latin typeface="DM Sans Bold"/>
                <a:ea typeface="ＭＳ Ｐゴシック" panose="020B0600070205080204" pitchFamily="34" charset="-128"/>
                <a:cs typeface="+mn-cs"/>
              </a:rPr>
              <a:t>Q1c. </a:t>
            </a:r>
            <a:r>
              <a:rPr kumimoji="0" lang="en-US" sz="4000" b="0" i="1" u="none" strike="noStrike" kern="1200" cap="none" spc="-275" normalizeH="0" baseline="0" noProof="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a:ln>
                  <a:noFill/>
                </a:ln>
                <a:solidFill>
                  <a:prstClr val="white"/>
                </a:solidFill>
                <a:effectLst/>
                <a:uLnTx/>
                <a:uFillTx/>
                <a:latin typeface="DM Sans Bold"/>
                <a:ea typeface="ＭＳ Ｐゴシック" panose="020B0600070205080204" pitchFamily="34" charset="-128"/>
                <a:cs typeface="+mn-cs"/>
              </a:rPr>
              <a:t> </a:t>
            </a:r>
            <a:endPar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endParaRPr>
          </a:p>
        </p:txBody>
      </p:sp>
      <p:sp>
        <p:nvSpPr>
          <p:cNvPr id="4" name="TextBox 3">
            <a:extLst>
              <a:ext uri="{FF2B5EF4-FFF2-40B4-BE49-F238E27FC236}">
                <a16:creationId xmlns:a16="http://schemas.microsoft.com/office/drawing/2014/main" id="{E656F151-D2A8-43CE-D0D4-31FF67085C72}"/>
              </a:ext>
            </a:extLst>
          </p:cNvPr>
          <p:cNvSpPr txBox="1"/>
          <p:nvPr/>
        </p:nvSpPr>
        <p:spPr>
          <a:xfrm>
            <a:off x="389465" y="1755564"/>
            <a:ext cx="5962785" cy="4582793"/>
          </a:xfrm>
          <a:prstGeom prst="rect">
            <a:avLst/>
          </a:prstGeom>
          <a:noFill/>
        </p:spPr>
        <p:txBody>
          <a:bodyPr wrap="square" rtlCol="0">
            <a:spAutoFit/>
          </a:bodyPr>
          <a:lstStyle/>
          <a:p>
            <a:r>
              <a:rPr lang="en-GB" sz="2400" b="1" dirty="0">
                <a:solidFill>
                  <a:schemeClr val="bg1"/>
                </a:solidFill>
                <a:latin typeface="Calibri" panose="020F0502020204030204" pitchFamily="34" charset="0"/>
                <a:cs typeface="Calibri" panose="020F0502020204030204" pitchFamily="34" charset="0"/>
              </a:rPr>
              <a:t>Can you use the following information to estimate the surface temperature of Venus</a:t>
            </a:r>
          </a:p>
          <a:p>
            <a:endParaRPr lang="en-GB" sz="2400" dirty="0">
              <a:solidFill>
                <a:schemeClr val="bg1"/>
              </a:solidFill>
              <a:latin typeface="Calibri" panose="020F0502020204030204" pitchFamily="34" charset="0"/>
              <a:cs typeface="Calibri" panose="020F0502020204030204" pitchFamily="34" charset="0"/>
            </a:endParaRPr>
          </a:p>
          <a:p>
            <a:pPr indent="-228600">
              <a:lnSpc>
                <a:spcPct val="90000"/>
              </a:lnSpc>
              <a:spcAft>
                <a:spcPts val="600"/>
              </a:spcAft>
              <a:buFont typeface="Arial" panose="020B0604020202020204" pitchFamily="34" charset="0"/>
              <a:buChar char="•"/>
            </a:pPr>
            <a:r>
              <a:rPr lang="en-US" sz="2400" dirty="0">
                <a:solidFill>
                  <a:schemeClr val="bg1"/>
                </a:solidFill>
                <a:latin typeface="Calibri" panose="020F0502020204030204" pitchFamily="34" charset="0"/>
                <a:cs typeface="Calibri" panose="020F0502020204030204" pitchFamily="34" charset="0"/>
              </a:rPr>
              <a:t>Radius = 6052 km</a:t>
            </a:r>
          </a:p>
          <a:p>
            <a:pPr indent="-228600">
              <a:lnSpc>
                <a:spcPct val="90000"/>
              </a:lnSpc>
              <a:spcAft>
                <a:spcPts val="600"/>
              </a:spcAft>
              <a:buFont typeface="Arial" panose="020B0604020202020204" pitchFamily="34" charset="0"/>
              <a:buChar char="•"/>
            </a:pPr>
            <a:r>
              <a:rPr lang="en-US" sz="2400" dirty="0">
                <a:solidFill>
                  <a:schemeClr val="bg1"/>
                </a:solidFill>
                <a:latin typeface="Calibri" panose="020F0502020204030204" pitchFamily="34" charset="0"/>
                <a:cs typeface="Calibri" panose="020F0502020204030204" pitchFamily="34" charset="0"/>
              </a:rPr>
              <a:t>Solar constant = 2637 W m</a:t>
            </a:r>
            <a:r>
              <a:rPr lang="en-US" sz="2400" baseline="30000" dirty="0">
                <a:solidFill>
                  <a:schemeClr val="bg1"/>
                </a:solidFill>
                <a:latin typeface="Calibri" panose="020F0502020204030204" pitchFamily="34" charset="0"/>
                <a:cs typeface="Calibri" panose="020F0502020204030204" pitchFamily="34" charset="0"/>
              </a:rPr>
              <a:t>2</a:t>
            </a:r>
            <a:r>
              <a:rPr lang="en-US" sz="2400" dirty="0">
                <a:solidFill>
                  <a:schemeClr val="bg1"/>
                </a:solidFill>
                <a:latin typeface="Calibri" panose="020F0502020204030204" pitchFamily="34" charset="0"/>
                <a:cs typeface="Calibri" panose="020F0502020204030204" pitchFamily="34" charset="0"/>
              </a:rPr>
              <a:t> </a:t>
            </a:r>
          </a:p>
          <a:p>
            <a:pPr indent="-228600">
              <a:lnSpc>
                <a:spcPct val="90000"/>
              </a:lnSpc>
              <a:spcAft>
                <a:spcPts val="600"/>
              </a:spcAft>
              <a:buFont typeface="Arial" panose="020B0604020202020204" pitchFamily="34" charset="0"/>
              <a:buChar char="•"/>
            </a:pPr>
            <a:r>
              <a:rPr lang="en-US" sz="2400" dirty="0">
                <a:solidFill>
                  <a:schemeClr val="bg1"/>
                </a:solidFill>
                <a:latin typeface="Calibri" panose="020F0502020204030204" pitchFamily="34" charset="0"/>
                <a:cs typeface="Calibri" panose="020F0502020204030204" pitchFamily="34" charset="0"/>
              </a:rPr>
              <a:t>Albedo =  0.75</a:t>
            </a:r>
          </a:p>
          <a:p>
            <a:endParaRPr lang="en-GB" sz="2400" dirty="0">
              <a:solidFill>
                <a:schemeClr val="bg1"/>
              </a:solidFill>
              <a:latin typeface="Calibri" panose="020F0502020204030204" pitchFamily="34" charset="0"/>
              <a:cs typeface="Calibri" panose="020F0502020204030204" pitchFamily="34" charset="0"/>
            </a:endParaRPr>
          </a:p>
          <a:p>
            <a:pPr defTabSz="268288"/>
            <a:r>
              <a:rPr lang="en-GB" sz="2400" dirty="0">
                <a:solidFill>
                  <a:schemeClr val="bg1"/>
                </a:solidFill>
                <a:latin typeface="Calibri" panose="020F0502020204030204" pitchFamily="34" charset="0"/>
                <a:cs typeface="Calibri" panose="020F0502020204030204" pitchFamily="34" charset="0"/>
              </a:rPr>
              <a:t>T	=	(((1-albedo) * solar constant) / (4</a:t>
            </a:r>
            <a:r>
              <a:rPr lang="el-GR" sz="2400" dirty="0">
                <a:solidFill>
                  <a:schemeClr val="bg1"/>
                </a:solidFill>
                <a:latin typeface="Calibri" panose="020F0502020204030204" pitchFamily="34" charset="0"/>
                <a:cs typeface="Calibri" panose="020F0502020204030204" pitchFamily="34" charset="0"/>
              </a:rPr>
              <a:t>σ</a:t>
            </a:r>
            <a:r>
              <a:rPr lang="en-GB" sz="2400" dirty="0">
                <a:solidFill>
                  <a:schemeClr val="bg1"/>
                </a:solidFill>
                <a:latin typeface="Calibri" panose="020F0502020204030204" pitchFamily="34" charset="0"/>
                <a:cs typeface="Calibri" panose="020F0502020204030204" pitchFamily="34" charset="0"/>
              </a:rPr>
              <a:t>))</a:t>
            </a:r>
            <a:r>
              <a:rPr lang="en-GB" sz="2400" baseline="30000" dirty="0">
                <a:solidFill>
                  <a:schemeClr val="bg1"/>
                </a:solidFill>
                <a:latin typeface="Calibri" panose="020F0502020204030204" pitchFamily="34" charset="0"/>
                <a:cs typeface="Calibri" panose="020F0502020204030204" pitchFamily="34" charset="0"/>
              </a:rPr>
              <a:t>1/4</a:t>
            </a:r>
            <a:r>
              <a:rPr lang="en-GB" sz="2400" dirty="0">
                <a:solidFill>
                  <a:schemeClr val="bg1"/>
                </a:solidFill>
                <a:latin typeface="Calibri" panose="020F0502020204030204" pitchFamily="34" charset="0"/>
                <a:cs typeface="Calibri" panose="020F0502020204030204" pitchFamily="34" charset="0"/>
              </a:rPr>
              <a:t> </a:t>
            </a:r>
          </a:p>
          <a:p>
            <a:pPr defTabSz="268288"/>
            <a:r>
              <a:rPr lang="en-GB" sz="2400" dirty="0">
                <a:solidFill>
                  <a:schemeClr val="bg1"/>
                </a:solidFill>
                <a:latin typeface="Calibri" panose="020F0502020204030204" pitchFamily="34" charset="0"/>
                <a:cs typeface="Calibri" panose="020F0502020204030204" pitchFamily="34" charset="0"/>
              </a:rPr>
              <a:t>	=	((0.25*</a:t>
            </a:r>
            <a:r>
              <a:rPr lang="en-US" sz="2400" dirty="0">
                <a:solidFill>
                  <a:schemeClr val="bg1"/>
                </a:solidFill>
                <a:latin typeface="Calibri" panose="020F0502020204030204" pitchFamily="34" charset="0"/>
                <a:cs typeface="Calibri" panose="020F0502020204030204" pitchFamily="34" charset="0"/>
              </a:rPr>
              <a:t> 2637</a:t>
            </a:r>
            <a:r>
              <a:rPr lang="en-GB" sz="2400" dirty="0">
                <a:solidFill>
                  <a:schemeClr val="bg1"/>
                </a:solidFill>
                <a:latin typeface="Calibri" panose="020F0502020204030204" pitchFamily="34" charset="0"/>
                <a:cs typeface="Calibri" panose="020F0502020204030204" pitchFamily="34" charset="0"/>
              </a:rPr>
              <a:t>) / (4*5.67*10</a:t>
            </a:r>
            <a:r>
              <a:rPr lang="en-GB" sz="2400" baseline="30000" dirty="0">
                <a:solidFill>
                  <a:schemeClr val="bg1"/>
                </a:solidFill>
                <a:latin typeface="Calibri" panose="020F0502020204030204" pitchFamily="34" charset="0"/>
                <a:cs typeface="Calibri" panose="020F0502020204030204" pitchFamily="34" charset="0"/>
              </a:rPr>
              <a:t>-8</a:t>
            </a:r>
            <a:r>
              <a:rPr lang="en-GB" sz="2400" dirty="0">
                <a:solidFill>
                  <a:schemeClr val="bg1"/>
                </a:solidFill>
                <a:latin typeface="Calibri" panose="020F0502020204030204" pitchFamily="34" charset="0"/>
                <a:cs typeface="Calibri" panose="020F0502020204030204" pitchFamily="34" charset="0"/>
              </a:rPr>
              <a:t>))</a:t>
            </a:r>
            <a:r>
              <a:rPr lang="en-GB" sz="2400" baseline="30000" dirty="0">
                <a:solidFill>
                  <a:schemeClr val="bg1"/>
                </a:solidFill>
                <a:latin typeface="Calibri" panose="020F0502020204030204" pitchFamily="34" charset="0"/>
                <a:cs typeface="Calibri" panose="020F0502020204030204" pitchFamily="34" charset="0"/>
              </a:rPr>
              <a:t>1/4</a:t>
            </a:r>
            <a:r>
              <a:rPr lang="en-GB" sz="2400" dirty="0">
                <a:solidFill>
                  <a:schemeClr val="bg1"/>
                </a:solidFill>
                <a:latin typeface="Calibri" panose="020F0502020204030204" pitchFamily="34" charset="0"/>
                <a:cs typeface="Calibri" panose="020F0502020204030204" pitchFamily="34" charset="0"/>
              </a:rPr>
              <a:t> </a:t>
            </a:r>
          </a:p>
          <a:p>
            <a:pPr defTabSz="268288"/>
            <a:r>
              <a:rPr lang="en-GB" sz="2400" baseline="30000" dirty="0">
                <a:solidFill>
                  <a:schemeClr val="bg1"/>
                </a:solidFill>
                <a:latin typeface="Calibri" panose="020F0502020204030204" pitchFamily="34" charset="0"/>
                <a:cs typeface="Calibri" panose="020F0502020204030204" pitchFamily="34" charset="0"/>
              </a:rPr>
              <a:t>	</a:t>
            </a:r>
            <a:r>
              <a:rPr lang="en-GB" sz="2400" dirty="0">
                <a:solidFill>
                  <a:schemeClr val="bg1"/>
                </a:solidFill>
                <a:latin typeface="Calibri" panose="020F0502020204030204" pitchFamily="34" charset="0"/>
                <a:cs typeface="Calibri" panose="020F0502020204030204" pitchFamily="34" charset="0"/>
              </a:rPr>
              <a:t>= 232 K</a:t>
            </a:r>
          </a:p>
          <a:p>
            <a:endParaRPr lang="en-GB" sz="2600" dirty="0"/>
          </a:p>
          <a:p>
            <a:endParaRPr lang="en-GB" dirty="0"/>
          </a:p>
        </p:txBody>
      </p:sp>
      <p:sp>
        <p:nvSpPr>
          <p:cNvPr id="6" name="TextBox 5">
            <a:extLst>
              <a:ext uri="{FF2B5EF4-FFF2-40B4-BE49-F238E27FC236}">
                <a16:creationId xmlns:a16="http://schemas.microsoft.com/office/drawing/2014/main" id="{EB7A61CB-04EC-93B0-143C-BBEE005FB80B}"/>
              </a:ext>
            </a:extLst>
          </p:cNvPr>
          <p:cNvSpPr txBox="1"/>
          <p:nvPr/>
        </p:nvSpPr>
        <p:spPr>
          <a:xfrm>
            <a:off x="389465" y="4692213"/>
            <a:ext cx="184731" cy="759182"/>
          </a:xfrm>
          <a:prstGeom prst="rect">
            <a:avLst/>
          </a:prstGeom>
          <a:noFill/>
        </p:spPr>
        <p:txBody>
          <a:bodyPr wrap="none" rtlCol="0">
            <a:spAutoFit/>
          </a:bodyPr>
          <a:lstStyle/>
          <a:p>
            <a:pPr defTabSz="268288"/>
            <a:endParaRPr lang="en-GB" sz="2600"/>
          </a:p>
          <a:p>
            <a:endParaRPr lang="en-GB" sz="2600" baseline="30000" dirty="0"/>
          </a:p>
        </p:txBody>
      </p:sp>
      <p:pic>
        <p:nvPicPr>
          <p:cNvPr id="8" name="Picture 7" descr="A planet with a black background&#10;&#10;AI-generated content may be incorrect.">
            <a:extLst>
              <a:ext uri="{FF2B5EF4-FFF2-40B4-BE49-F238E27FC236}">
                <a16:creationId xmlns:a16="http://schemas.microsoft.com/office/drawing/2014/main" id="{AD6B7C34-8D1C-C576-DB6E-E9CCC7799770}"/>
              </a:ext>
            </a:extLst>
          </p:cNvPr>
          <p:cNvPicPr>
            <a:picLocks noChangeAspect="1"/>
          </p:cNvPicPr>
          <p:nvPr/>
        </p:nvPicPr>
        <p:blipFill>
          <a:blip r:embed="rId4"/>
          <a:srcRect l="567" r="12487"/>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025219785"/>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795F82-4549-31C2-D5C3-FB7924B69EDF}"/>
              </a:ext>
            </a:extLst>
          </p:cNvPr>
          <p:cNvSpPr txBox="1"/>
          <p:nvPr/>
        </p:nvSpPr>
        <p:spPr>
          <a:xfrm>
            <a:off x="364602" y="1410016"/>
            <a:ext cx="9520178" cy="707886"/>
          </a:xfrm>
          <a:prstGeom prst="rect">
            <a:avLst/>
          </a:prstGeom>
          <a:noFill/>
        </p:spPr>
        <p:txBody>
          <a:bodyPr wrap="square">
            <a:spAutoFit/>
          </a:bodyPr>
          <a:lstStyle/>
          <a:p>
            <a:r>
              <a:rPr lang="en-GB" sz="2000" i="0" u="none" strike="noStrike" dirty="0">
                <a:solidFill>
                  <a:srgbClr val="282829"/>
                </a:solidFill>
                <a:effectLst/>
                <a:latin typeface="Calibri" panose="020F0502020204030204" pitchFamily="34" charset="0"/>
                <a:cs typeface="Calibri" panose="020F0502020204030204" pitchFamily="34" charset="0"/>
              </a:rPr>
              <a:t>Temperature T</a:t>
            </a:r>
            <a:r>
              <a:rPr lang="en-GB" sz="2000" i="0" u="none" strike="noStrike" baseline="-25000" dirty="0">
                <a:solidFill>
                  <a:srgbClr val="282829"/>
                </a:solidFill>
                <a:effectLst/>
                <a:latin typeface="Calibri" panose="020F0502020204030204" pitchFamily="34" charset="0"/>
                <a:cs typeface="Calibri" panose="020F0502020204030204" pitchFamily="34" charset="0"/>
              </a:rPr>
              <a:t>s</a:t>
            </a:r>
            <a:r>
              <a:rPr lang="en-GB" sz="2000" i="0" u="none" strike="noStrike" dirty="0">
                <a:solidFill>
                  <a:srgbClr val="282829"/>
                </a:solidFill>
                <a:effectLst/>
                <a:latin typeface="Calibri" panose="020F0502020204030204" pitchFamily="34" charset="0"/>
                <a:cs typeface="Calibri" panose="020F0502020204030204" pitchFamily="34" charset="0"/>
              </a:rPr>
              <a:t> = (Net Solar Flux/(4*Stefan-Boltzmann Constant))^0.25</a:t>
            </a:r>
          </a:p>
          <a:p>
            <a:endParaRPr lang="en-US" sz="2000" b="1" dirty="0">
              <a:latin typeface="Calibri" panose="020F0502020204030204" pitchFamily="34" charset="0"/>
              <a:cs typeface="Calibri" panose="020F0502020204030204" pitchFamily="34" charset="0"/>
            </a:endParaRPr>
          </a:p>
        </p:txBody>
      </p:sp>
      <p:pic>
        <p:nvPicPr>
          <p:cNvPr id="1026" name="Picture 2">
            <a:extLst>
              <a:ext uri="{FF2B5EF4-FFF2-40B4-BE49-F238E27FC236}">
                <a16:creationId xmlns:a16="http://schemas.microsoft.com/office/drawing/2014/main" id="{173CC680-3628-CE32-D272-1A8F521D3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602" y="2002939"/>
            <a:ext cx="6565164" cy="3905857"/>
          </a:xfrm>
          <a:prstGeom prst="rect">
            <a:avLst/>
          </a:prstGeom>
          <a:noFill/>
          <a:extLst>
            <a:ext uri="{909E8E84-426E-40DD-AFC4-6F175D3DCCD1}">
              <a14:hiddenFill xmlns:a14="http://schemas.microsoft.com/office/drawing/2010/main">
                <a:solidFill>
                  <a:srgbClr val="FFFFFF"/>
                </a:solidFill>
              </a14:hiddenFill>
            </a:ext>
          </a:extLst>
        </p:spPr>
      </p:pic>
      <p:sp>
        <p:nvSpPr>
          <p:cNvPr id="4" name="Left Arrow 3">
            <a:extLst>
              <a:ext uri="{FF2B5EF4-FFF2-40B4-BE49-F238E27FC236}">
                <a16:creationId xmlns:a16="http://schemas.microsoft.com/office/drawing/2014/main" id="{FDF7DF9C-8AAA-07C5-725E-BBF4087D08E9}"/>
              </a:ext>
            </a:extLst>
          </p:cNvPr>
          <p:cNvSpPr/>
          <p:nvPr/>
        </p:nvSpPr>
        <p:spPr>
          <a:xfrm>
            <a:off x="7149685" y="4317875"/>
            <a:ext cx="891251" cy="277792"/>
          </a:xfrm>
          <a:prstGeom prst="leftArrow">
            <a:avLst/>
          </a:prstGeom>
          <a:solidFill>
            <a:srgbClr val="FF0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000">
              <a:solidFill>
                <a:sysClr val="windowText" lastClr="000000"/>
              </a:solidFill>
              <a:latin typeface="Calibri" panose="020F0502020204030204" pitchFamily="34" charset="0"/>
              <a:cs typeface="Calibri" panose="020F0502020204030204" pitchFamily="34" charset="0"/>
            </a:endParaRPr>
          </a:p>
        </p:txBody>
      </p:sp>
      <p:sp>
        <p:nvSpPr>
          <p:cNvPr id="5" name="Left Arrow 4">
            <a:extLst>
              <a:ext uri="{FF2B5EF4-FFF2-40B4-BE49-F238E27FC236}">
                <a16:creationId xmlns:a16="http://schemas.microsoft.com/office/drawing/2014/main" id="{17FAB36B-A11F-9FF2-B953-8E4EE2876BB9}"/>
              </a:ext>
            </a:extLst>
          </p:cNvPr>
          <p:cNvSpPr/>
          <p:nvPr/>
        </p:nvSpPr>
        <p:spPr>
          <a:xfrm>
            <a:off x="7149684" y="3993784"/>
            <a:ext cx="891251" cy="277792"/>
          </a:xfrm>
          <a:prstGeom prst="leftArrow">
            <a:avLst/>
          </a:prstGeom>
          <a:solidFill>
            <a:srgbClr val="00B0F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000">
              <a:solidFill>
                <a:sysClr val="windowText" lastClr="000000"/>
              </a:solidFill>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8EB7221-60CA-E1C2-8EB0-958C9581CEBA}"/>
              </a:ext>
            </a:extLst>
          </p:cNvPr>
          <p:cNvSpPr/>
          <p:nvPr/>
        </p:nvSpPr>
        <p:spPr>
          <a:xfrm>
            <a:off x="364602" y="3993784"/>
            <a:ext cx="6565164" cy="277792"/>
          </a:xfrm>
          <a:prstGeom prst="rect">
            <a:avLst/>
          </a:prstGeom>
          <a:solidFill>
            <a:schemeClr val="accent1">
              <a:alpha val="40593"/>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7235F8A-086B-3704-B4C7-0B7D1F3E8DAD}"/>
              </a:ext>
            </a:extLst>
          </p:cNvPr>
          <p:cNvSpPr txBox="1"/>
          <p:nvPr/>
        </p:nvSpPr>
        <p:spPr>
          <a:xfrm>
            <a:off x="8260852" y="3955867"/>
            <a:ext cx="3327409" cy="707886"/>
          </a:xfrm>
          <a:prstGeom prst="rect">
            <a:avLst/>
          </a:prstGeom>
          <a:noFill/>
        </p:spPr>
        <p:txBody>
          <a:bodyPr wrap="square" rtlCol="0">
            <a:spAutoFit/>
          </a:bodyPr>
          <a:lstStyle/>
          <a:p>
            <a:r>
              <a:rPr lang="en-US" sz="2000" dirty="0">
                <a:latin typeface="Calibri" panose="020F0502020204030204" pitchFamily="34" charset="0"/>
                <a:cs typeface="Calibri" panose="020F0502020204030204" pitchFamily="34" charset="0"/>
              </a:rPr>
              <a:t>Mars Atmosphere has a Greenhouse Effect of 2</a:t>
            </a:r>
            <a:r>
              <a:rPr lang="en-US" sz="2000" baseline="30000" dirty="0">
                <a:latin typeface="Calibri" panose="020F0502020204030204" pitchFamily="34" charset="0"/>
                <a:cs typeface="Calibri" panose="020F0502020204030204" pitchFamily="34" charset="0"/>
              </a:rPr>
              <a:t>o</a:t>
            </a:r>
          </a:p>
        </p:txBody>
      </p:sp>
      <p:sp>
        <p:nvSpPr>
          <p:cNvPr id="9" name="TextBox 8">
            <a:extLst>
              <a:ext uri="{FF2B5EF4-FFF2-40B4-BE49-F238E27FC236}">
                <a16:creationId xmlns:a16="http://schemas.microsoft.com/office/drawing/2014/main" id="{C3C33DD9-6334-12C4-4EDA-51C5A76E6918}"/>
              </a:ext>
            </a:extLst>
          </p:cNvPr>
          <p:cNvSpPr txBox="1"/>
          <p:nvPr/>
        </p:nvSpPr>
        <p:spPr>
          <a:xfrm>
            <a:off x="364602" y="5908796"/>
            <a:ext cx="10274944" cy="707886"/>
          </a:xfrm>
          <a:prstGeom prst="rect">
            <a:avLst/>
          </a:prstGeom>
          <a:noFill/>
        </p:spPr>
        <p:txBody>
          <a:bodyPr wrap="square">
            <a:spAutoFit/>
          </a:bodyPr>
          <a:lstStyle/>
          <a:p>
            <a:r>
              <a:rPr lang="en-GB" sz="2000" b="0" i="0" u="none" strike="noStrike" dirty="0">
                <a:solidFill>
                  <a:srgbClr val="282829"/>
                </a:solidFill>
                <a:effectLst/>
                <a:latin typeface="Calibri" panose="020F0502020204030204" pitchFamily="34" charset="0"/>
                <a:cs typeface="Calibri" panose="020F0502020204030204" pitchFamily="34" charset="0"/>
              </a:rPr>
              <a:t>Mars atmosphere is very thin, approx. pressure is (approx. 6 mb) than Earth’s (1000 mb)</a:t>
            </a:r>
          </a:p>
          <a:p>
            <a:r>
              <a:rPr lang="en-GB" sz="2000" dirty="0">
                <a:solidFill>
                  <a:srgbClr val="282829"/>
                </a:solidFill>
                <a:latin typeface="Calibri" panose="020F0502020204030204" pitchFamily="34" charset="0"/>
                <a:cs typeface="Calibri" panose="020F0502020204030204" pitchFamily="34" charset="0"/>
              </a:rPr>
              <a:t>However, 95% of its atmosphere is CO</a:t>
            </a:r>
            <a:r>
              <a:rPr lang="en-GB" sz="2000" baseline="-25000" dirty="0">
                <a:solidFill>
                  <a:srgbClr val="282829"/>
                </a:solidFill>
                <a:latin typeface="Calibri" panose="020F0502020204030204" pitchFamily="34" charset="0"/>
                <a:cs typeface="Calibri" panose="020F0502020204030204" pitchFamily="34" charset="0"/>
              </a:rPr>
              <a:t>2</a:t>
            </a:r>
            <a:r>
              <a:rPr lang="en-GB" sz="2000" dirty="0">
                <a:solidFill>
                  <a:srgbClr val="282829"/>
                </a:solidFill>
                <a:latin typeface="Calibri" panose="020F0502020204030204" pitchFamily="34" charset="0"/>
                <a:cs typeface="Calibri" panose="020F0502020204030204" pitchFamily="34" charset="0"/>
              </a:rPr>
              <a:t>, </a:t>
            </a:r>
            <a:r>
              <a:rPr lang="en-GB" sz="2000" b="0" i="0" u="none" strike="noStrike" dirty="0">
                <a:solidFill>
                  <a:srgbClr val="282829"/>
                </a:solidFill>
                <a:effectLst/>
                <a:latin typeface="Calibri" panose="020F0502020204030204" pitchFamily="34" charset="0"/>
                <a:cs typeface="Calibri" panose="020F0502020204030204" pitchFamily="34" charset="0"/>
              </a:rPr>
              <a:t>about 16 times the amount CO</a:t>
            </a:r>
            <a:r>
              <a:rPr lang="en-GB" sz="2000" b="0" i="0" u="none" strike="noStrike" baseline="-25000" dirty="0">
                <a:solidFill>
                  <a:srgbClr val="282829"/>
                </a:solidFill>
                <a:effectLst/>
                <a:latin typeface="Calibri" panose="020F0502020204030204" pitchFamily="34" charset="0"/>
                <a:cs typeface="Calibri" panose="020F0502020204030204" pitchFamily="34" charset="0"/>
              </a:rPr>
              <a:t>2</a:t>
            </a:r>
            <a:r>
              <a:rPr lang="en-GB" sz="2000" b="0" i="0" u="none" strike="noStrike" dirty="0">
                <a:solidFill>
                  <a:srgbClr val="282829"/>
                </a:solidFill>
                <a:effectLst/>
                <a:latin typeface="Calibri" panose="020F0502020204030204" pitchFamily="34" charset="0"/>
                <a:cs typeface="Calibri" panose="020F0502020204030204" pitchFamily="34" charset="0"/>
              </a:rPr>
              <a:t> in our atmosphere.</a:t>
            </a:r>
            <a:endParaRPr lang="en-US" sz="2000" dirty="0">
              <a:latin typeface="Calibri" panose="020F0502020204030204" pitchFamily="34" charset="0"/>
              <a:cs typeface="Calibri" panose="020F0502020204030204" pitchFamily="34" charset="0"/>
            </a:endParaRPr>
          </a:p>
        </p:txBody>
      </p:sp>
      <p:sp>
        <p:nvSpPr>
          <p:cNvPr id="2" name="Freeform 13">
            <a:extLst>
              <a:ext uri="{FF2B5EF4-FFF2-40B4-BE49-F238E27FC236}">
                <a16:creationId xmlns:a16="http://schemas.microsoft.com/office/drawing/2014/main" id="{D49360F5-FD3E-6D91-50C6-13D9DBE2674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8" name="TextBox 14">
            <a:extLst>
              <a:ext uri="{FF2B5EF4-FFF2-40B4-BE49-F238E27FC236}">
                <a16:creationId xmlns:a16="http://schemas.microsoft.com/office/drawing/2014/main" id="{F69DB43F-C74C-2AEE-EA89-8E00F1E60479}"/>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Workshop 1 - Answers</a:t>
            </a:r>
          </a:p>
        </p:txBody>
      </p:sp>
    </p:spTree>
    <p:extLst>
      <p:ext uri="{BB962C8B-B14F-4D97-AF65-F5344CB8AC3E}">
        <p14:creationId xmlns:p14="http://schemas.microsoft.com/office/powerpoint/2010/main" val="29134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Woman meditating on a sofa">
            <a:extLst>
              <a:ext uri="{FF2B5EF4-FFF2-40B4-BE49-F238E27FC236}">
                <a16:creationId xmlns:a16="http://schemas.microsoft.com/office/drawing/2014/main" id="{4B4085AF-B4CF-D098-02E9-58B6A51F6284}"/>
              </a:ext>
            </a:extLst>
          </p:cNvPr>
          <p:cNvPicPr>
            <a:picLocks noChangeAspect="1"/>
          </p:cNvPicPr>
          <p:nvPr/>
        </p:nvPicPr>
        <p:blipFill>
          <a:blip r:embed="rId2"/>
          <a:srcRect t="18412" r="3182"/>
          <a:stretch>
            <a:fillRect/>
          </a:stretch>
        </p:blipFill>
        <p:spPr>
          <a:xfrm>
            <a:off x="20" y="0"/>
            <a:ext cx="12191980" cy="6858000"/>
          </a:xfrm>
          <a:prstGeom prst="rect">
            <a:avLst/>
          </a:prstGeom>
        </p:spPr>
      </p:pic>
      <p:sp>
        <p:nvSpPr>
          <p:cNvPr id="3" name="TextBox 2">
            <a:extLst>
              <a:ext uri="{FF2B5EF4-FFF2-40B4-BE49-F238E27FC236}">
                <a16:creationId xmlns:a16="http://schemas.microsoft.com/office/drawing/2014/main" id="{D227BF41-2623-685F-A940-B08121CC0EA0}"/>
              </a:ext>
            </a:extLst>
          </p:cNvPr>
          <p:cNvSpPr txBox="1"/>
          <p:nvPr/>
        </p:nvSpPr>
        <p:spPr>
          <a:xfrm>
            <a:off x="7067227" y="1363620"/>
            <a:ext cx="5124753" cy="5404757"/>
          </a:xfrm>
          <a:prstGeom prst="rect">
            <a:avLst/>
          </a:prstGeom>
        </p:spPr>
        <p:txBody>
          <a:bodyPr vert="horz" lIns="91440" tIns="45720" rIns="91440" bIns="45720" rtlCol="0">
            <a:normAutofit/>
          </a:bodyPr>
          <a:lstStyle/>
          <a:p>
            <a:pPr>
              <a:lnSpc>
                <a:spcPct val="90000"/>
              </a:lnSpc>
              <a:spcAft>
                <a:spcPts val="600"/>
              </a:spcAft>
            </a:pPr>
            <a:r>
              <a:rPr lang="en-US" sz="2400" dirty="0">
                <a:solidFill>
                  <a:schemeClr val="bg1"/>
                </a:solidFill>
                <a:latin typeface="Calibri" panose="020F0502020204030204" pitchFamily="34" charset="0"/>
                <a:cs typeface="Calibri" panose="020F0502020204030204" pitchFamily="34" charset="0"/>
              </a:rPr>
              <a:t>A</a:t>
            </a:r>
            <a:r>
              <a:rPr lang="en-US" sz="2400" b="0" i="0" u="none" strike="noStrike" dirty="0">
                <a:solidFill>
                  <a:schemeClr val="bg1"/>
                </a:solidFill>
                <a:effectLst/>
                <a:latin typeface="Calibri" panose="020F0502020204030204" pitchFamily="34" charset="0"/>
                <a:cs typeface="Calibri" panose="020F0502020204030204" pitchFamily="34" charset="0"/>
              </a:rPr>
              <a:t>ctual temperature of Mars as measured is 218 K, whereas the calculated temperature is 216. </a:t>
            </a:r>
          </a:p>
          <a:p>
            <a:pPr>
              <a:lnSpc>
                <a:spcPct val="90000"/>
              </a:lnSpc>
              <a:spcAft>
                <a:spcPts val="600"/>
              </a:spcAft>
            </a:pPr>
            <a:endParaRPr lang="en-US" sz="2400" dirty="0">
              <a:solidFill>
                <a:schemeClr val="bg1"/>
              </a:solidFill>
              <a:latin typeface="Calibri" panose="020F0502020204030204" pitchFamily="34" charset="0"/>
              <a:cs typeface="Calibri" panose="020F0502020204030204" pitchFamily="34" charset="0"/>
            </a:endParaRPr>
          </a:p>
          <a:p>
            <a:pPr>
              <a:lnSpc>
                <a:spcPct val="90000"/>
              </a:lnSpc>
              <a:spcAft>
                <a:spcPts val="600"/>
              </a:spcAft>
            </a:pPr>
            <a:r>
              <a:rPr lang="en-US" sz="2400" b="0" i="0" u="none" strike="noStrike" dirty="0">
                <a:solidFill>
                  <a:schemeClr val="bg1"/>
                </a:solidFill>
                <a:effectLst/>
                <a:latin typeface="Calibri" panose="020F0502020204030204" pitchFamily="34" charset="0"/>
                <a:cs typeface="Calibri" panose="020F0502020204030204" pitchFamily="34" charset="0"/>
              </a:rPr>
              <a:t>That means it has a greenhouse effect of 2 degrees. </a:t>
            </a:r>
          </a:p>
          <a:p>
            <a:pPr>
              <a:lnSpc>
                <a:spcPct val="90000"/>
              </a:lnSpc>
              <a:spcAft>
                <a:spcPts val="600"/>
              </a:spcAft>
            </a:pPr>
            <a:endParaRPr lang="en-US" sz="2400" dirty="0">
              <a:solidFill>
                <a:schemeClr val="bg1"/>
              </a:solidFill>
              <a:latin typeface="Calibri" panose="020F0502020204030204" pitchFamily="34" charset="0"/>
              <a:cs typeface="Calibri" panose="020F0502020204030204" pitchFamily="34" charset="0"/>
            </a:endParaRPr>
          </a:p>
          <a:p>
            <a:pPr>
              <a:lnSpc>
                <a:spcPct val="90000"/>
              </a:lnSpc>
              <a:spcAft>
                <a:spcPts val="600"/>
              </a:spcAft>
            </a:pPr>
            <a:r>
              <a:rPr lang="en-US" sz="2400" b="0" i="0" u="none" strike="noStrike" dirty="0">
                <a:solidFill>
                  <a:schemeClr val="bg1"/>
                </a:solidFill>
                <a:effectLst/>
                <a:latin typeface="Calibri" panose="020F0502020204030204" pitchFamily="34" charset="0"/>
                <a:cs typeface="Calibri" panose="020F0502020204030204" pitchFamily="34" charset="0"/>
              </a:rPr>
              <a:t>Its atmosphere is very thin but has about 16 times the CO</a:t>
            </a:r>
            <a:r>
              <a:rPr lang="en-US" sz="2400" b="0" i="0" u="none" strike="noStrike" baseline="-25000" dirty="0">
                <a:solidFill>
                  <a:schemeClr val="bg1"/>
                </a:solidFill>
                <a:effectLst/>
                <a:latin typeface="Calibri" panose="020F0502020204030204" pitchFamily="34" charset="0"/>
                <a:cs typeface="Calibri" panose="020F0502020204030204" pitchFamily="34" charset="0"/>
              </a:rPr>
              <a:t>2</a:t>
            </a:r>
            <a:r>
              <a:rPr lang="en-US" sz="2400" b="0" i="0" u="none" strike="noStrike" dirty="0">
                <a:solidFill>
                  <a:schemeClr val="bg1"/>
                </a:solidFill>
                <a:effectLst/>
                <a:latin typeface="Calibri" panose="020F0502020204030204" pitchFamily="34" charset="0"/>
                <a:cs typeface="Calibri" panose="020F0502020204030204" pitchFamily="34" charset="0"/>
              </a:rPr>
              <a:t> in our atmosphere. </a:t>
            </a:r>
          </a:p>
          <a:p>
            <a:pPr>
              <a:lnSpc>
                <a:spcPct val="90000"/>
              </a:lnSpc>
              <a:spcAft>
                <a:spcPts val="600"/>
              </a:spcAft>
            </a:pPr>
            <a:endParaRPr lang="en-US" sz="2400" dirty="0">
              <a:solidFill>
                <a:schemeClr val="bg1"/>
              </a:solidFill>
              <a:latin typeface="Calibri" panose="020F0502020204030204" pitchFamily="34" charset="0"/>
              <a:cs typeface="Calibri" panose="020F0502020204030204" pitchFamily="34" charset="0"/>
            </a:endParaRPr>
          </a:p>
          <a:p>
            <a:pPr>
              <a:lnSpc>
                <a:spcPct val="90000"/>
              </a:lnSpc>
              <a:spcAft>
                <a:spcPts val="600"/>
              </a:spcAft>
            </a:pPr>
            <a:r>
              <a:rPr lang="en-US" sz="2400" b="0" i="0" u="none" strike="noStrike" dirty="0">
                <a:solidFill>
                  <a:schemeClr val="bg1"/>
                </a:solidFill>
                <a:effectLst/>
                <a:latin typeface="Calibri" panose="020F0502020204030204" pitchFamily="34" charset="0"/>
                <a:cs typeface="Calibri" panose="020F0502020204030204" pitchFamily="34" charset="0"/>
              </a:rPr>
              <a:t>Venus on the other hand has 92 times our atmospheric density, mostly CO</a:t>
            </a:r>
            <a:r>
              <a:rPr lang="en-US" sz="2400" b="0" i="0" u="none" strike="noStrike" baseline="-25000" dirty="0">
                <a:solidFill>
                  <a:schemeClr val="bg1"/>
                </a:solidFill>
                <a:effectLst/>
                <a:latin typeface="Calibri" panose="020F0502020204030204" pitchFamily="34" charset="0"/>
                <a:cs typeface="Calibri" panose="020F0502020204030204" pitchFamily="34" charset="0"/>
              </a:rPr>
              <a:t>2</a:t>
            </a:r>
            <a:r>
              <a:rPr lang="en-US" sz="2400" b="0" i="0" u="none" strike="noStrike" dirty="0">
                <a:solidFill>
                  <a:schemeClr val="bg1"/>
                </a:solidFill>
                <a:effectLst/>
                <a:latin typeface="Calibri" panose="020F0502020204030204" pitchFamily="34" charset="0"/>
                <a:cs typeface="Calibri" panose="020F0502020204030204" pitchFamily="34" charset="0"/>
              </a:rPr>
              <a:t>, and is a hothouse!</a:t>
            </a:r>
          </a:p>
        </p:txBody>
      </p:sp>
      <p:sp>
        <p:nvSpPr>
          <p:cNvPr id="2" name="Freeform 13">
            <a:extLst>
              <a:ext uri="{FF2B5EF4-FFF2-40B4-BE49-F238E27FC236}">
                <a16:creationId xmlns:a16="http://schemas.microsoft.com/office/drawing/2014/main" id="{1B11DC77-5CB4-243C-767D-55E2F755336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4" name="TextBox 14">
            <a:extLst>
              <a:ext uri="{FF2B5EF4-FFF2-40B4-BE49-F238E27FC236}">
                <a16:creationId xmlns:a16="http://schemas.microsoft.com/office/drawing/2014/main" id="{4A8A2EEB-BCAF-7D29-4964-AE18176B658F}"/>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Workshop 1 - Answers</a:t>
            </a:r>
          </a:p>
        </p:txBody>
      </p:sp>
    </p:spTree>
    <p:extLst>
      <p:ext uri="{BB962C8B-B14F-4D97-AF65-F5344CB8AC3E}">
        <p14:creationId xmlns:p14="http://schemas.microsoft.com/office/powerpoint/2010/main" val="660529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54451E5-B158-3B70-86A4-00EDA8E3A94B}"/>
            </a:ext>
          </a:extLst>
        </p:cNvPr>
        <p:cNvGrpSpPr/>
        <p:nvPr/>
      </p:nvGrpSpPr>
      <p:grpSpPr>
        <a:xfrm>
          <a:off x="0" y="0"/>
          <a:ext cx="0" cy="0"/>
          <a:chOff x="0" y="0"/>
          <a:chExt cx="0" cy="0"/>
        </a:xfrm>
      </p:grpSpPr>
      <p:sp>
        <p:nvSpPr>
          <p:cNvPr id="13" name="Freeform 13">
            <a:extLst>
              <a:ext uri="{FF2B5EF4-FFF2-40B4-BE49-F238E27FC236}">
                <a16:creationId xmlns:a16="http://schemas.microsoft.com/office/drawing/2014/main" id="{F255A2D4-D613-BDBC-AE7F-77C87DD1367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14">
            <a:extLst>
              <a:ext uri="{FF2B5EF4-FFF2-40B4-BE49-F238E27FC236}">
                <a16:creationId xmlns:a16="http://schemas.microsoft.com/office/drawing/2014/main" id="{AA4401DC-A64F-FC89-9256-12FBBA2B2296}"/>
              </a:ext>
            </a:extLst>
          </p:cNvPr>
          <p:cNvSpPr txBox="1"/>
          <p:nvPr/>
        </p:nvSpPr>
        <p:spPr>
          <a:xfrm>
            <a:off x="914400" y="3429000"/>
            <a:ext cx="9842923" cy="917046"/>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GB" altLang="en-US" sz="5867" b="1" i="0" u="none" strike="noStrike" kern="1200" cap="none" spc="0" normalizeH="0" baseline="0" noProof="0" dirty="0">
                <a:ln>
                  <a:noFill/>
                </a:ln>
                <a:solidFill>
                  <a:prstClr val="white"/>
                </a:solidFill>
                <a:effectLst/>
                <a:uLnTx/>
                <a:uFillTx/>
                <a:latin typeface="DM Sans"/>
                <a:ea typeface="+mn-ea"/>
                <a:cs typeface="+mn-cs"/>
              </a:rPr>
              <a:t>Global Climate Change</a:t>
            </a:r>
            <a:endParaRPr kumimoji="0" lang="en-US" sz="5866" b="1" i="0" u="none" strike="noStrike" kern="1200" cap="none" spc="0" normalizeH="0" baseline="0" noProof="0" dirty="0">
              <a:ln>
                <a:noFill/>
              </a:ln>
              <a:solidFill>
                <a:prstClr val="white"/>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E988E693-C905-C255-0B01-1B533A0EE32B}"/>
              </a:ext>
            </a:extLst>
          </p:cNvPr>
          <p:cNvSpPr txBox="1"/>
          <p:nvPr/>
        </p:nvSpPr>
        <p:spPr>
          <a:xfrm>
            <a:off x="914400" y="4170916"/>
            <a:ext cx="8207298" cy="1716432"/>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Week 3 – Questions and Answers</a:t>
            </a:r>
          </a:p>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Dr Thomas </a:t>
            </a:r>
            <a:r>
              <a:rPr kumimoji="0" lang="en-US" sz="2133" b="1" i="0" u="none" strike="noStrike" kern="1200" cap="none" spc="0" normalizeH="0" baseline="0" noProof="0" dirty="0" err="1">
                <a:ln>
                  <a:noFill/>
                </a:ln>
                <a:solidFill>
                  <a:srgbClr val="FAB700"/>
                </a:solidFill>
                <a:effectLst/>
                <a:uLnTx/>
                <a:uFillTx/>
                <a:latin typeface="DM Sans" pitchFamily="2" charset="0"/>
                <a:ea typeface="+mn-ea"/>
                <a:cs typeface="+mn-cs"/>
              </a:rPr>
              <a:t>Bannan</a:t>
            </a: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 </a:t>
            </a:r>
          </a:p>
        </p:txBody>
      </p:sp>
      <p:sp>
        <p:nvSpPr>
          <p:cNvPr id="4" name="TextBox 3">
            <a:extLst>
              <a:ext uri="{FF2B5EF4-FFF2-40B4-BE49-F238E27FC236}">
                <a16:creationId xmlns:a16="http://schemas.microsoft.com/office/drawing/2014/main" id="{C35AA364-7475-E671-EE20-70A01B9FE11D}"/>
              </a:ext>
            </a:extLst>
          </p:cNvPr>
          <p:cNvSpPr txBox="1"/>
          <p:nvPr/>
        </p:nvSpPr>
        <p:spPr>
          <a:xfrm>
            <a:off x="845575" y="5983341"/>
            <a:ext cx="6031831" cy="338554"/>
          </a:xfrm>
          <a:prstGeom prst="rect">
            <a:avLst/>
          </a:prstGeom>
          <a:noFill/>
        </p:spPr>
        <p:txBody>
          <a:bodyPr wrap="square" rtlCol="0">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white"/>
                </a:solidFill>
                <a:effectLst/>
                <a:uLnTx/>
                <a:uFillTx/>
                <a:latin typeface="DM Sans"/>
                <a:ea typeface="+mn-ea"/>
                <a:cs typeface="+mn-cs"/>
              </a:rPr>
              <a:t>Thomas.Bannan@Manchester.ac.uk</a:t>
            </a:r>
            <a:endParaRPr kumimoji="0" lang="en-US" sz="1600" b="0" i="0" u="none" strike="noStrike" kern="1200" cap="none" spc="0" normalizeH="0" baseline="0" noProof="0" dirty="0">
              <a:ln>
                <a:noFill/>
              </a:ln>
              <a:solidFill>
                <a:prstClr val="white"/>
              </a:solidFill>
              <a:effectLst/>
              <a:uLnTx/>
              <a:uFillTx/>
              <a:latin typeface="DM Sans"/>
              <a:ea typeface="+mn-ea"/>
              <a:cs typeface="+mn-cs"/>
            </a:endParaRPr>
          </a:p>
        </p:txBody>
      </p:sp>
    </p:spTree>
    <p:extLst>
      <p:ext uri="{BB962C8B-B14F-4D97-AF65-F5344CB8AC3E}">
        <p14:creationId xmlns:p14="http://schemas.microsoft.com/office/powerpoint/2010/main" val="4185383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246F8-F635-4C41-E76E-93C63FF58C7A}"/>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9D09D18-8D1B-ACAF-E3A3-5DDC26FFF41F}"/>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2F285E26-D170-C763-E2F6-20504F95C19B}"/>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Q1. </a:t>
            </a:r>
          </a:p>
        </p:txBody>
      </p:sp>
      <p:sp>
        <p:nvSpPr>
          <p:cNvPr id="6" name="TextBox 5">
            <a:extLst>
              <a:ext uri="{FF2B5EF4-FFF2-40B4-BE49-F238E27FC236}">
                <a16:creationId xmlns:a16="http://schemas.microsoft.com/office/drawing/2014/main" id="{3835EFB9-1494-DE24-35FD-6D938CFCB51C}"/>
              </a:ext>
            </a:extLst>
          </p:cNvPr>
          <p:cNvSpPr txBox="1"/>
          <p:nvPr/>
        </p:nvSpPr>
        <p:spPr>
          <a:xfrm>
            <a:off x="373943" y="1401058"/>
            <a:ext cx="10315047"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GB" dirty="0">
                <a:solidFill>
                  <a:prstClr val="black"/>
                </a:solidFill>
                <a:latin typeface="Calibri" panose="020F0502020204030204" pitchFamily="34" charset="0"/>
                <a:ea typeface="ＭＳ Ｐゴシック" charset="0"/>
                <a:cs typeface="Calibri" panose="020F0502020204030204" pitchFamily="34" charset="0"/>
              </a:rPr>
              <a:t>What is meant by climate change? </a:t>
            </a: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panose="020F0502020204030204" pitchFamily="34" charset="0"/>
            </a:endParaRPr>
          </a:p>
        </p:txBody>
      </p:sp>
    </p:spTree>
    <p:extLst>
      <p:ext uri="{BB962C8B-B14F-4D97-AF65-F5344CB8AC3E}">
        <p14:creationId xmlns:p14="http://schemas.microsoft.com/office/powerpoint/2010/main" val="917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AB8DF5C4-7DC2-A72B-A61D-23484ED5F357}"/>
            </a:ext>
          </a:extLst>
        </p:cNvPr>
        <p:cNvGrpSpPr/>
        <p:nvPr/>
      </p:nvGrpSpPr>
      <p:grpSpPr>
        <a:xfrm>
          <a:off x="0" y="0"/>
          <a:ext cx="0" cy="0"/>
          <a:chOff x="0" y="0"/>
          <a:chExt cx="0" cy="0"/>
        </a:xfrm>
      </p:grpSpPr>
      <p:sp>
        <p:nvSpPr>
          <p:cNvPr id="2" name="TextBox 14">
            <a:extLst>
              <a:ext uri="{FF2B5EF4-FFF2-40B4-BE49-F238E27FC236}">
                <a16:creationId xmlns:a16="http://schemas.microsoft.com/office/drawing/2014/main" id="{B5BF6CA9-E2A2-2252-7FDD-CE45E176C36C}"/>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a:ln>
                  <a:noFill/>
                </a:ln>
                <a:solidFill>
                  <a:prstClr val="white"/>
                </a:solidFill>
                <a:effectLst/>
                <a:uLnTx/>
                <a:uFillTx/>
                <a:latin typeface="DM Sans Bold"/>
                <a:ea typeface="ＭＳ Ｐゴシック" panose="020B0600070205080204" pitchFamily="34" charset="-128"/>
                <a:cs typeface="+mn-cs"/>
              </a:rPr>
              <a:t>Q1. </a:t>
            </a:r>
            <a:r>
              <a:rPr kumimoji="0" lang="en-US" sz="4000" b="0" i="1" u="none" strike="noStrike" kern="1200" cap="none" spc="-275" normalizeH="0" baseline="0" noProof="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a:ln>
                  <a:noFill/>
                </a:ln>
                <a:solidFill>
                  <a:prstClr val="white"/>
                </a:solidFill>
                <a:effectLst/>
                <a:uLnTx/>
                <a:uFillTx/>
                <a:latin typeface="DM Sans Bold"/>
                <a:ea typeface="ＭＳ Ｐゴシック" panose="020B0600070205080204" pitchFamily="34" charset="-128"/>
                <a:cs typeface="+mn-cs"/>
              </a:rPr>
              <a:t> </a:t>
            </a:r>
            <a:endPar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endParaRPr>
          </a:p>
        </p:txBody>
      </p:sp>
      <p:sp>
        <p:nvSpPr>
          <p:cNvPr id="6" name="TextBox 5">
            <a:extLst>
              <a:ext uri="{FF2B5EF4-FFF2-40B4-BE49-F238E27FC236}">
                <a16:creationId xmlns:a16="http://schemas.microsoft.com/office/drawing/2014/main" id="{42832ECC-742E-4BC1-6D7E-123037DA3909}"/>
              </a:ext>
            </a:extLst>
          </p:cNvPr>
          <p:cNvSpPr txBox="1"/>
          <p:nvPr/>
        </p:nvSpPr>
        <p:spPr>
          <a:xfrm>
            <a:off x="389465" y="1859987"/>
            <a:ext cx="5515480" cy="39703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bg1">
                    <a:lumMod val="95000"/>
                  </a:schemeClr>
                </a:solidFill>
                <a:effectLst/>
                <a:latin typeface="Calibri" panose="020F0502020204030204" pitchFamily="34" charset="0"/>
                <a:cs typeface="Calibri" panose="020F0502020204030204" pitchFamily="34" charset="0"/>
              </a:rPr>
              <a:t>Weather is what is happening in the atmosphere at any one time: how warm, windy, sunny or humid it 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solidFill>
                <a:schemeClr val="bg1">
                  <a:lumMod val="95000"/>
                </a:schemeClr>
              </a:solidFill>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bg1">
                    <a:lumMod val="95000"/>
                  </a:schemeClr>
                </a:solidFill>
                <a:effectLst/>
                <a:latin typeface="Calibri" panose="020F0502020204030204" pitchFamily="34" charset="0"/>
                <a:cs typeface="Calibri" panose="020F0502020204030204" pitchFamily="34" charset="0"/>
              </a:rPr>
              <a:t>Climate is the description of the average weather we might expect at a given time, usually taken over a 30 year period to average out year to year variability perhaps due to a particularly hot summer or very cold winter, and it also includes information about variability (e.g. what the usual difference is between hot years and cold years) and extremes (e.g. how often an extremely hot day happens).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solidFill>
                <a:schemeClr val="bg1">
                  <a:lumMod val="95000"/>
                </a:schemeClr>
              </a:solidFill>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bg1">
                    <a:lumMod val="95000"/>
                  </a:schemeClr>
                </a:solidFill>
                <a:effectLst/>
                <a:latin typeface="Calibri" panose="020F0502020204030204" pitchFamily="34" charset="0"/>
                <a:cs typeface="Calibri" panose="020F0502020204030204" pitchFamily="34" charset="0"/>
              </a:rPr>
              <a:t>If the climate is changing, then the 30-year average temperature, or rainfall, etc, is changing.</a:t>
            </a:r>
          </a:p>
        </p:txBody>
      </p:sp>
      <p:pic>
        <p:nvPicPr>
          <p:cNvPr id="8" name="Picture 7" descr="A waterfall coming out of a glacier&#10;&#10;AI-generated content may be incorrect.">
            <a:extLst>
              <a:ext uri="{FF2B5EF4-FFF2-40B4-BE49-F238E27FC236}">
                <a16:creationId xmlns:a16="http://schemas.microsoft.com/office/drawing/2014/main" id="{28C87ABA-8DFD-C9A6-97DE-C42CB63A5687}"/>
              </a:ext>
            </a:extLst>
          </p:cNvPr>
          <p:cNvPicPr>
            <a:picLocks noChangeAspect="1"/>
          </p:cNvPicPr>
          <p:nvPr/>
        </p:nvPicPr>
        <p:blipFill>
          <a:blip r:embed="rId4"/>
          <a:srcRect l="15205" r="22799" b="-2"/>
          <a:stretch>
            <a:fillRect/>
          </a:stretch>
        </p:blipFill>
        <p:spPr>
          <a:xfrm>
            <a:off x="6287056" y="0"/>
            <a:ext cx="5904944"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
        <p:nvSpPr>
          <p:cNvPr id="9" name="Freeform 13">
            <a:extLst>
              <a:ext uri="{FF2B5EF4-FFF2-40B4-BE49-F238E27FC236}">
                <a16:creationId xmlns:a16="http://schemas.microsoft.com/office/drawing/2014/main" id="{AAA3C88D-8B50-3601-6B43-C60AA13F8FFE}"/>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Tree>
    <p:extLst>
      <p:ext uri="{BB962C8B-B14F-4D97-AF65-F5344CB8AC3E}">
        <p14:creationId xmlns:p14="http://schemas.microsoft.com/office/powerpoint/2010/main" val="2768336638"/>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6798-5F2D-8D6E-38E7-516582793C25}"/>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A73CCA-F1E8-5E6E-E878-5B4B6371D392}"/>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8704B95F-2664-4705-EFCB-2B03D214D28C}"/>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Q2. </a:t>
            </a:r>
          </a:p>
        </p:txBody>
      </p:sp>
      <p:sp>
        <p:nvSpPr>
          <p:cNvPr id="6" name="TextBox 5">
            <a:extLst>
              <a:ext uri="{FF2B5EF4-FFF2-40B4-BE49-F238E27FC236}">
                <a16:creationId xmlns:a16="http://schemas.microsoft.com/office/drawing/2014/main" id="{40D441AE-C80B-6F05-FF82-388656C0B210}"/>
              </a:ext>
            </a:extLst>
          </p:cNvPr>
          <p:cNvSpPr txBox="1"/>
          <p:nvPr/>
        </p:nvSpPr>
        <p:spPr>
          <a:xfrm>
            <a:off x="389465" y="1412776"/>
            <a:ext cx="6098344" cy="70788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1F1F1F"/>
                </a:solidFill>
                <a:effectLst/>
                <a:uLnTx/>
                <a:uFillTx/>
                <a:latin typeface="Calibri" panose="020F0502020204030204" pitchFamily="34" charset="0"/>
                <a:ea typeface="ＭＳ Ｐゴシック" panose="020B0600070205080204" pitchFamily="34" charset="-128"/>
                <a:cs typeface="Calibri" panose="020F0502020204030204" pitchFamily="34" charset="0"/>
              </a:rPr>
              <a:t>Discuss and provide examples of aerosol impacts on air quality and health.</a:t>
            </a: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pic>
        <p:nvPicPr>
          <p:cNvPr id="11" name="Picture 10" descr="A city with a city in the background&#10;&#10;Description automatically generated">
            <a:extLst>
              <a:ext uri="{FF2B5EF4-FFF2-40B4-BE49-F238E27FC236}">
                <a16:creationId xmlns:a16="http://schemas.microsoft.com/office/drawing/2014/main" id="{E911F40D-7092-8349-7E76-CE18E580CECD}"/>
              </a:ext>
            </a:extLst>
          </p:cNvPr>
          <p:cNvPicPr>
            <a:picLocks noChangeAspect="1"/>
          </p:cNvPicPr>
          <p:nvPr/>
        </p:nvPicPr>
        <p:blipFill>
          <a:blip r:embed="rId4"/>
          <a:stretch>
            <a:fillRect/>
          </a:stretch>
        </p:blipFill>
        <p:spPr>
          <a:xfrm>
            <a:off x="422043" y="2420888"/>
            <a:ext cx="5778231" cy="3456384"/>
          </a:xfrm>
          <a:prstGeom prst="rect">
            <a:avLst/>
          </a:prstGeom>
        </p:spPr>
      </p:pic>
    </p:spTree>
    <p:extLst>
      <p:ext uri="{BB962C8B-B14F-4D97-AF65-F5344CB8AC3E}">
        <p14:creationId xmlns:p14="http://schemas.microsoft.com/office/powerpoint/2010/main" val="3769461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8FDAC3A-A173-0B8B-27A5-116E77AA878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BF8FB6F-F035-145F-7A30-482160CA0D3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604B632D-DB69-146C-1084-029B67C62FC5}"/>
              </a:ext>
            </a:extLst>
          </p:cNvPr>
          <p:cNvSpPr txBox="1"/>
          <p:nvPr/>
        </p:nvSpPr>
        <p:spPr>
          <a:xfrm>
            <a:off x="389465" y="684091"/>
            <a:ext cx="3334396"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Q2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7" name="TextBox 6">
            <a:extLst>
              <a:ext uri="{FF2B5EF4-FFF2-40B4-BE49-F238E27FC236}">
                <a16:creationId xmlns:a16="http://schemas.microsoft.com/office/drawing/2014/main" id="{92AD7A39-8566-CC71-9544-E19EEC6C72A5}"/>
              </a:ext>
            </a:extLst>
          </p:cNvPr>
          <p:cNvSpPr txBox="1"/>
          <p:nvPr/>
        </p:nvSpPr>
        <p:spPr>
          <a:xfrm>
            <a:off x="389465" y="1412776"/>
            <a:ext cx="6098344" cy="70788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rPr>
              <a:t>Discuss and provide examples of aerosol impacts on air quality and health.</a:t>
            </a: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pic>
        <p:nvPicPr>
          <p:cNvPr id="8" name="Picture 7" descr="A city with a city in the background&#10;&#10;Description automatically generated">
            <a:extLst>
              <a:ext uri="{FF2B5EF4-FFF2-40B4-BE49-F238E27FC236}">
                <a16:creationId xmlns:a16="http://schemas.microsoft.com/office/drawing/2014/main" id="{1BBDE7BA-AFBB-F8A7-EF6F-2D13C2C8A6B9}"/>
              </a:ext>
            </a:extLst>
          </p:cNvPr>
          <p:cNvPicPr>
            <a:picLocks noChangeAspect="1"/>
          </p:cNvPicPr>
          <p:nvPr/>
        </p:nvPicPr>
        <p:blipFill>
          <a:blip r:embed="rId5"/>
          <a:stretch>
            <a:fillRect/>
          </a:stretch>
        </p:blipFill>
        <p:spPr>
          <a:xfrm>
            <a:off x="422043" y="2420888"/>
            <a:ext cx="5778231" cy="3456384"/>
          </a:xfrm>
          <a:prstGeom prst="rect">
            <a:avLst/>
          </a:prstGeom>
        </p:spPr>
      </p:pic>
      <p:sp>
        <p:nvSpPr>
          <p:cNvPr id="9" name="TextBox 8">
            <a:extLst>
              <a:ext uri="{FF2B5EF4-FFF2-40B4-BE49-F238E27FC236}">
                <a16:creationId xmlns:a16="http://schemas.microsoft.com/office/drawing/2014/main" id="{2F62ECA0-DE1C-E20A-3AED-CDFA7B7276EF}"/>
              </a:ext>
            </a:extLst>
          </p:cNvPr>
          <p:cNvSpPr txBox="1"/>
          <p:nvPr/>
        </p:nvSpPr>
        <p:spPr>
          <a:xfrm>
            <a:off x="6321752" y="1908627"/>
            <a:ext cx="5731807" cy="477053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Air Quality</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dirty="0">
              <a:ln>
                <a:noFill/>
              </a:ln>
              <a:solidFill>
                <a:srgbClr val="FF0000"/>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chemeClr val="bg1">
                    <a:lumMod val="95000"/>
                  </a:schemeClr>
                </a:solidFill>
                <a:effectLst/>
                <a:uLnTx/>
                <a:uFillTx/>
                <a:latin typeface="Calibri" panose="020F0502020204030204" pitchFamily="34" charset="0"/>
                <a:ea typeface="ＭＳ Ｐゴシック" panose="020B0600070205080204" pitchFamily="34" charset="-128"/>
                <a:cs typeface="Calibri" panose="020F0502020204030204" pitchFamily="34" charset="0"/>
              </a:rPr>
              <a:t>Aerosols contribute significantly to air pollution by increasing the concentration of particulate matter in the atmosphere. These particles originate from sources such as vehicle emissions, industrial activities, and biomass burning. When aerosol levels rise, visibility decreases, and overall air quality deteriorates.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chemeClr val="bg1">
                  <a:lumMod val="95000"/>
                </a:schemeClr>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Health</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dirty="0">
              <a:ln>
                <a:noFill/>
              </a:ln>
              <a:solidFill>
                <a:srgbClr val="FF0000"/>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chemeClr val="bg1">
                    <a:lumMod val="95000"/>
                  </a:schemeClr>
                </a:solidFill>
                <a:effectLst/>
                <a:uLnTx/>
                <a:uFillTx/>
                <a:latin typeface="Calibri" panose="020F0502020204030204" pitchFamily="34" charset="0"/>
                <a:ea typeface="ＭＳ Ｐゴシック" panose="020B0600070205080204" pitchFamily="34" charset="-128"/>
                <a:cs typeface="Calibri" panose="020F0502020204030204" pitchFamily="34" charset="0"/>
              </a:rPr>
              <a:t>Inhalation of aerosol particles can cause or exacerbate a range of respiratory problems, including asthma, bronchitis, and other chronic lung conditions. The smallest particles can penetrate deep into the lungs and enter the bloodstream, contributing to cardiovascular issues such as heart attacks. Prolonged exposure to high concentrations of particulate matter has also been associated with an increased risk of lung cancer and premature mortality. Vulnerable groups, such as children and the elderly, are especially susceptible to these adverse health effects.</a:t>
            </a:r>
          </a:p>
        </p:txBody>
      </p:sp>
    </p:spTree>
    <p:extLst>
      <p:ext uri="{BB962C8B-B14F-4D97-AF65-F5344CB8AC3E}">
        <p14:creationId xmlns:p14="http://schemas.microsoft.com/office/powerpoint/2010/main" val="3427917788"/>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1315F-41CD-CDEA-8E40-0918B950BEF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7E9CACAA-9647-403D-AF23-6A700AA949C7}"/>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707CF0C9-AA87-BD01-02F3-3446E91D9F6E}"/>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Q3. </a:t>
            </a:r>
          </a:p>
        </p:txBody>
      </p:sp>
      <p:sp>
        <p:nvSpPr>
          <p:cNvPr id="6" name="TextBox 5">
            <a:extLst>
              <a:ext uri="{FF2B5EF4-FFF2-40B4-BE49-F238E27FC236}">
                <a16:creationId xmlns:a16="http://schemas.microsoft.com/office/drawing/2014/main" id="{1DC8F224-55EE-B43B-7F59-BA33719D2DA0}"/>
              </a:ext>
            </a:extLst>
          </p:cNvPr>
          <p:cNvSpPr txBox="1"/>
          <p:nvPr/>
        </p:nvSpPr>
        <p:spPr>
          <a:xfrm>
            <a:off x="373943" y="1401058"/>
            <a:ext cx="10315047"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GB" dirty="0">
                <a:solidFill>
                  <a:prstClr val="black"/>
                </a:solidFill>
                <a:latin typeface="Calibri" panose="020F0502020204030204" pitchFamily="34" charset="0"/>
                <a:ea typeface="ＭＳ Ｐゴシック" charset="0"/>
                <a:cs typeface="Calibri" panose="020F0502020204030204" pitchFamily="34" charset="0"/>
              </a:rPr>
              <a:t>Atmospheric particles (aerosols) such as </a:t>
            </a:r>
            <a:r>
              <a:rPr lang="en-GB" dirty="0" err="1">
                <a:solidFill>
                  <a:prstClr val="black"/>
                </a:solidFill>
                <a:latin typeface="Calibri" panose="020F0502020204030204" pitchFamily="34" charset="0"/>
                <a:ea typeface="ＭＳ Ｐゴシック" charset="0"/>
                <a:cs typeface="Calibri" panose="020F0502020204030204" pitchFamily="34" charset="0"/>
              </a:rPr>
              <a:t>sulfate</a:t>
            </a:r>
            <a:r>
              <a:rPr lang="en-GB" dirty="0">
                <a:solidFill>
                  <a:prstClr val="black"/>
                </a:solidFill>
                <a:latin typeface="Calibri" panose="020F0502020204030204" pitchFamily="34" charset="0"/>
                <a:ea typeface="ＭＳ Ｐゴシック" charset="0"/>
                <a:cs typeface="Calibri" panose="020F0502020204030204" pitchFamily="34" charset="0"/>
              </a:rPr>
              <a:t>, nitrate, organic carbon, and black carbon are a major component of air pollution and are linked to adverse human health outcomes. As a result, air-quality regulations around the world aim to reduce particle concentrations, particularly PM2.5. Why might reducing atmospheric particle concentrations lead to clear air-quality benefits but also create climate disbenefits? What effects might this have on the climate system? </a:t>
            </a:r>
          </a:p>
        </p:txBody>
      </p:sp>
    </p:spTree>
    <p:extLst>
      <p:ext uri="{BB962C8B-B14F-4D97-AF65-F5344CB8AC3E}">
        <p14:creationId xmlns:p14="http://schemas.microsoft.com/office/powerpoint/2010/main" val="766733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4E2075CF-E079-415D-75CE-AC1619FA4EE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13B16724-8493-D180-6C78-C104CF81F152}"/>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EC534D02-B5C1-28A9-8906-83BF575347E0}"/>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Q3.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6" name="TextBox 5">
            <a:extLst>
              <a:ext uri="{FF2B5EF4-FFF2-40B4-BE49-F238E27FC236}">
                <a16:creationId xmlns:a16="http://schemas.microsoft.com/office/drawing/2014/main" id="{6BF3E0FE-6E61-F7E1-8AA9-B9B54C44C92D}"/>
              </a:ext>
            </a:extLst>
          </p:cNvPr>
          <p:cNvSpPr txBox="1"/>
          <p:nvPr/>
        </p:nvSpPr>
        <p:spPr>
          <a:xfrm>
            <a:off x="373943" y="1348050"/>
            <a:ext cx="10315047"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GB" dirty="0">
                <a:solidFill>
                  <a:schemeClr val="bg1"/>
                </a:solidFill>
                <a:latin typeface="Calibri" panose="020F0502020204030204" pitchFamily="34" charset="0"/>
                <a:ea typeface="ＭＳ Ｐゴシック" charset="0"/>
                <a:cs typeface="Calibri" panose="020F0502020204030204" pitchFamily="34" charset="0"/>
              </a:rPr>
              <a:t>Atmospheric particles (aerosols) such as </a:t>
            </a:r>
            <a:r>
              <a:rPr lang="en-GB" dirty="0" err="1">
                <a:solidFill>
                  <a:schemeClr val="bg1"/>
                </a:solidFill>
                <a:latin typeface="Calibri" panose="020F0502020204030204" pitchFamily="34" charset="0"/>
                <a:ea typeface="ＭＳ Ｐゴシック" charset="0"/>
                <a:cs typeface="Calibri" panose="020F0502020204030204" pitchFamily="34" charset="0"/>
              </a:rPr>
              <a:t>sulfate</a:t>
            </a:r>
            <a:r>
              <a:rPr lang="en-GB" dirty="0">
                <a:solidFill>
                  <a:schemeClr val="bg1"/>
                </a:solidFill>
                <a:latin typeface="Calibri" panose="020F0502020204030204" pitchFamily="34" charset="0"/>
                <a:ea typeface="ＭＳ Ｐゴシック" charset="0"/>
                <a:cs typeface="Calibri" panose="020F0502020204030204" pitchFamily="34" charset="0"/>
              </a:rPr>
              <a:t>, nitrate, organic carbon, and black carbon are a major component of air pollution and are linked to adverse human health outcomes. As a result, air-quality regulations around the world aim to reduce particle concentrations, particularly fine particulate matter (PM2.5). Why might reducing atmospheric particle concentrations lead to clear air-quality benefits but also create climate disbenefits? What effects might this have on the climate system? </a:t>
            </a:r>
          </a:p>
        </p:txBody>
      </p:sp>
      <p:pic>
        <p:nvPicPr>
          <p:cNvPr id="7" name="Picture 10">
            <a:extLst>
              <a:ext uri="{FF2B5EF4-FFF2-40B4-BE49-F238E27FC236}">
                <a16:creationId xmlns:a16="http://schemas.microsoft.com/office/drawing/2014/main" id="{C67088A5-865D-24CE-8483-E5D16EE8484F}"/>
              </a:ext>
            </a:extLst>
          </p:cNvPr>
          <p:cNvPicPr>
            <a:picLocks noChangeAspect="1"/>
          </p:cNvPicPr>
          <p:nvPr/>
        </p:nvPicPr>
        <p:blipFill rotWithShape="1">
          <a:blip r:embed="rId5">
            <a:extLst>
              <a:ext uri="{28A0092B-C50C-407E-A947-70E740481C1C}">
                <a14:useLocalDpi xmlns:a14="http://schemas.microsoft.com/office/drawing/2010/main" val="0"/>
              </a:ext>
            </a:extLst>
          </a:blip>
          <a:srcRect t="5820"/>
          <a:stretch/>
        </p:blipFill>
        <p:spPr bwMode="auto">
          <a:xfrm>
            <a:off x="7674742" y="3299791"/>
            <a:ext cx="4271926" cy="2874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FE22CAC8-3E43-F65D-C298-2353D3C661CF}"/>
              </a:ext>
            </a:extLst>
          </p:cNvPr>
          <p:cNvSpPr txBox="1"/>
          <p:nvPr/>
        </p:nvSpPr>
        <p:spPr>
          <a:xfrm>
            <a:off x="389465" y="2781664"/>
            <a:ext cx="7078600" cy="3970318"/>
          </a:xfrm>
          <a:prstGeom prst="rect">
            <a:avLst/>
          </a:prstGeom>
          <a:noFill/>
        </p:spPr>
        <p:style>
          <a:lnRef idx="2">
            <a:schemeClr val="accent2"/>
          </a:lnRef>
          <a:fillRef idx="1">
            <a:schemeClr val="lt1"/>
          </a:fillRef>
          <a:effectRef idx="0">
            <a:schemeClr val="accent2"/>
          </a:effectRef>
          <a:fontRef idx="minor">
            <a:schemeClr val="dk1"/>
          </a:fontRef>
        </p:style>
        <p:txBody>
          <a:bodyPr wrap="square">
            <a:spAutoFit/>
          </a:bodyPr>
          <a:lstStyle/>
          <a:p>
            <a:r>
              <a:rPr lang="en-GB" sz="1400" b="0" i="0" kern="1200" dirty="0">
                <a:solidFill>
                  <a:schemeClr val="bg1"/>
                </a:solidFill>
                <a:effectLst/>
                <a:latin typeface="Calibri" panose="020F0502020204030204" pitchFamily="34" charset="0"/>
                <a:cs typeface="Calibri" panose="020F0502020204030204" pitchFamily="34" charset="0"/>
              </a:rPr>
              <a:t>Many aerosols also play an important role in the climate system. Particles such as </a:t>
            </a:r>
            <a:r>
              <a:rPr lang="en-GB" sz="1400" b="0" i="0" kern="1200" dirty="0" err="1">
                <a:solidFill>
                  <a:schemeClr val="bg1"/>
                </a:solidFill>
                <a:effectLst/>
                <a:latin typeface="Calibri" panose="020F0502020204030204" pitchFamily="34" charset="0"/>
                <a:cs typeface="Calibri" panose="020F0502020204030204" pitchFamily="34" charset="0"/>
              </a:rPr>
              <a:t>sulfate</a:t>
            </a:r>
            <a:r>
              <a:rPr lang="en-GB" sz="1400" b="0" i="0" kern="1200" dirty="0">
                <a:solidFill>
                  <a:schemeClr val="bg1"/>
                </a:solidFill>
                <a:effectLst/>
                <a:latin typeface="Calibri" panose="020F0502020204030204" pitchFamily="34" charset="0"/>
                <a:cs typeface="Calibri" panose="020F0502020204030204" pitchFamily="34" charset="0"/>
              </a:rPr>
              <a:t> scatter incoming shortwave solar radiation and increase cloud reflectivity, producing a net cooling effect on the climate. This represents a negative radiative forcing that partially offsets the warming caused by long-lived greenhouse gases such as carbon dioxide as is shown in the figure to the right. </a:t>
            </a:r>
          </a:p>
          <a:p>
            <a:endParaRPr lang="en-GB" sz="1400" b="0" i="0" kern="1200" dirty="0">
              <a:solidFill>
                <a:schemeClr val="bg1"/>
              </a:solidFill>
              <a:effectLst/>
              <a:latin typeface="Calibri" panose="020F0502020204030204" pitchFamily="34" charset="0"/>
              <a:cs typeface="Calibri" panose="020F0502020204030204" pitchFamily="34" charset="0"/>
            </a:endParaRPr>
          </a:p>
          <a:p>
            <a:r>
              <a:rPr lang="en-GB" sz="1400" b="0" i="0" kern="1200" dirty="0">
                <a:solidFill>
                  <a:schemeClr val="bg1"/>
                </a:solidFill>
                <a:effectLst/>
                <a:latin typeface="Calibri" panose="020F0502020204030204" pitchFamily="34" charset="0"/>
                <a:cs typeface="Calibri" panose="020F0502020204030204" pitchFamily="34" charset="0"/>
              </a:rPr>
              <a:t>When aerosol concentrations are reduced, this cooling effect is weakened. As a result, more solar radiation reaches the Earth’s surface, leading to a positive change in the radiation balance and an increase in surface temperature. This warming can occur relatively quickly because aerosols have short atmospheric lifetimes (days to weeks), meaning the climate system responds rapidly once emissions are reduced.</a:t>
            </a:r>
          </a:p>
          <a:p>
            <a:endParaRPr lang="en-GB" sz="1400" b="0" i="0" kern="1200" dirty="0">
              <a:solidFill>
                <a:schemeClr val="bg1"/>
              </a:solidFill>
              <a:effectLst/>
              <a:latin typeface="Calibri" panose="020F0502020204030204" pitchFamily="34" charset="0"/>
              <a:cs typeface="Calibri" panose="020F0502020204030204" pitchFamily="34" charset="0"/>
            </a:endParaRPr>
          </a:p>
          <a:p>
            <a:r>
              <a:rPr lang="en-GB" sz="1400" b="0" i="0" kern="1200" dirty="0">
                <a:solidFill>
                  <a:schemeClr val="bg1"/>
                </a:solidFill>
                <a:effectLst/>
                <a:latin typeface="Calibri" panose="020F0502020204030204" pitchFamily="34" charset="0"/>
                <a:cs typeface="Calibri" panose="020F0502020204030204" pitchFamily="34" charset="0"/>
              </a:rPr>
              <a:t>This creates a climate “disbenefit” in the short term: although air quality improves, the removal of aerosols reveals previously masked greenhouse-gas-driven warming. </a:t>
            </a:r>
          </a:p>
          <a:p>
            <a:endParaRPr lang="en-GB" sz="1400" b="0" i="0" kern="1200" dirty="0">
              <a:solidFill>
                <a:schemeClr val="bg1"/>
              </a:solidFill>
              <a:effectLst/>
              <a:latin typeface="Calibri" panose="020F0502020204030204" pitchFamily="34" charset="0"/>
              <a:cs typeface="Calibri" panose="020F0502020204030204" pitchFamily="34" charset="0"/>
            </a:endParaRPr>
          </a:p>
          <a:p>
            <a:r>
              <a:rPr lang="en-GB" sz="1400" b="0" i="0" kern="1200" dirty="0">
                <a:solidFill>
                  <a:schemeClr val="bg1"/>
                </a:solidFill>
                <a:effectLst/>
                <a:latin typeface="Calibri" panose="020F0502020204030204" pitchFamily="34" charset="0"/>
                <a:cs typeface="Calibri" panose="020F0502020204030204" pitchFamily="34" charset="0"/>
              </a:rPr>
              <a:t>Overall, this example highlights the complex relationship between air-quality policy and climate change. While aerosol reductions are essential for protecting human health, they need to be accompanied by rapid reductions in greenhouse gas emissions to avoid additional warming. </a:t>
            </a:r>
          </a:p>
        </p:txBody>
      </p:sp>
    </p:spTree>
    <p:extLst>
      <p:ext uri="{BB962C8B-B14F-4D97-AF65-F5344CB8AC3E}">
        <p14:creationId xmlns:p14="http://schemas.microsoft.com/office/powerpoint/2010/main" val="1331162305"/>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06A49-469A-F92C-B400-FA78F16CF2FA}"/>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20553D8-F11A-0926-24CE-AF1F7157DA4C}"/>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FDA722D3-6445-25CE-F10A-11FF5F7BC2A2}"/>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Q4.</a:t>
            </a:r>
          </a:p>
        </p:txBody>
      </p:sp>
      <p:sp>
        <p:nvSpPr>
          <p:cNvPr id="2" name="TextBox 1">
            <a:extLst>
              <a:ext uri="{FF2B5EF4-FFF2-40B4-BE49-F238E27FC236}">
                <a16:creationId xmlns:a16="http://schemas.microsoft.com/office/drawing/2014/main" id="{251E2249-0E2F-2218-7B77-7D0BBBFD7EEE}"/>
              </a:ext>
            </a:extLst>
          </p:cNvPr>
          <p:cNvSpPr txBox="1"/>
          <p:nvPr/>
        </p:nvSpPr>
        <p:spPr>
          <a:xfrm>
            <a:off x="8333440" y="1299079"/>
            <a:ext cx="4236392" cy="163121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000" b="0" i="0" u="none" strike="noStrike" kern="1200" cap="none" spc="0" normalizeH="0" baseline="0" noProof="0" dirty="0">
              <a:ln>
                <a:noFill/>
              </a:ln>
              <a:solidFill>
                <a:srgbClr val="C0504D"/>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 name="TextBox 3">
            <a:extLst>
              <a:ext uri="{FF2B5EF4-FFF2-40B4-BE49-F238E27FC236}">
                <a16:creationId xmlns:a16="http://schemas.microsoft.com/office/drawing/2014/main" id="{3B16140C-8BE2-E30A-2EA9-A159E340D6B2}"/>
              </a:ext>
            </a:extLst>
          </p:cNvPr>
          <p:cNvSpPr txBox="1"/>
          <p:nvPr/>
        </p:nvSpPr>
        <p:spPr>
          <a:xfrm>
            <a:off x="389464" y="1452967"/>
            <a:ext cx="10505276"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dirty="0" err="1">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Sulfate</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aerosols originates from atmospheric oxidation of SO</a:t>
            </a:r>
            <a:r>
              <a:rPr kumimoji="0" lang="en-GB" sz="1800" b="0" i="0" u="none" strike="noStrike" kern="1200" cap="none" spc="0" normalizeH="0" baseline="-2500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2</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This is a global picture of SO</a:t>
            </a:r>
            <a:r>
              <a:rPr kumimoji="0" lang="en-GB" sz="1800" b="0" i="0" u="none" strike="noStrike" kern="1200" cap="none" spc="0" normalizeH="0" baseline="-2500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2</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emissions. Recently new legislation was passed to reduce SO</a:t>
            </a:r>
            <a:r>
              <a:rPr kumimoji="0" lang="en-GB" sz="1800" b="0" i="0" u="none" strike="noStrike" kern="1200" cap="none" spc="0" normalizeH="0" baseline="-2500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2</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emissions from shipping.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What impact might this have? What could the unintended consequences of this be? It is worth improving air quality over the ocean? </a:t>
            </a:r>
          </a:p>
        </p:txBody>
      </p:sp>
      <p:pic>
        <p:nvPicPr>
          <p:cNvPr id="6" name="Picture 2" descr="http://edgar.jrc.ec.europa.eu/edgar_album/v431_v2/SO2/TOTALS/v431_v2_REFERENCE_SO2_2010.png">
            <a:extLst>
              <a:ext uri="{FF2B5EF4-FFF2-40B4-BE49-F238E27FC236}">
                <a16:creationId xmlns:a16="http://schemas.microsoft.com/office/drawing/2014/main" id="{7EC87435-85EA-B2E4-D6E4-C91D0AAE219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11520"/>
          <a:stretch>
            <a:fillRect/>
          </a:stretch>
        </p:blipFill>
        <p:spPr bwMode="auto">
          <a:xfrm>
            <a:off x="389464" y="3267308"/>
            <a:ext cx="7416263" cy="29684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poster of a fuel oil industry&#10;&#10;AI-generated content may be incorrect.">
            <a:extLst>
              <a:ext uri="{FF2B5EF4-FFF2-40B4-BE49-F238E27FC236}">
                <a16:creationId xmlns:a16="http://schemas.microsoft.com/office/drawing/2014/main" id="{6464E938-F670-7705-48EC-F55A5317F2CE}"/>
              </a:ext>
            </a:extLst>
          </p:cNvPr>
          <p:cNvPicPr>
            <a:picLocks noChangeAspect="1"/>
          </p:cNvPicPr>
          <p:nvPr/>
        </p:nvPicPr>
        <p:blipFill>
          <a:blip r:embed="rId5"/>
          <a:stretch>
            <a:fillRect/>
          </a:stretch>
        </p:blipFill>
        <p:spPr>
          <a:xfrm>
            <a:off x="7877940" y="3267308"/>
            <a:ext cx="4197499" cy="2968455"/>
          </a:xfrm>
          <a:prstGeom prst="rect">
            <a:avLst/>
          </a:prstGeom>
        </p:spPr>
      </p:pic>
    </p:spTree>
    <p:extLst>
      <p:ext uri="{BB962C8B-B14F-4D97-AF65-F5344CB8AC3E}">
        <p14:creationId xmlns:p14="http://schemas.microsoft.com/office/powerpoint/2010/main" val="4091626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5B6634F-B013-A4C3-3B1B-4188DED8354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B620803-ADCE-4DF1-854B-D838048C15B2}"/>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434362D7-E048-AEA0-D7F5-B149A97E93F9}"/>
              </a:ext>
            </a:extLst>
          </p:cNvPr>
          <p:cNvSpPr txBox="1"/>
          <p:nvPr/>
        </p:nvSpPr>
        <p:spPr>
          <a:xfrm>
            <a:off x="389464" y="684091"/>
            <a:ext cx="8352199"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Q4.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a:t>
            </a:r>
            <a:endPar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endParaRPr>
          </a:p>
        </p:txBody>
      </p:sp>
      <p:sp>
        <p:nvSpPr>
          <p:cNvPr id="20" name="TextBox 19">
            <a:extLst>
              <a:ext uri="{FF2B5EF4-FFF2-40B4-BE49-F238E27FC236}">
                <a16:creationId xmlns:a16="http://schemas.microsoft.com/office/drawing/2014/main" id="{C1B0FA95-CF37-6600-A39E-340BDE08C5CB}"/>
              </a:ext>
            </a:extLst>
          </p:cNvPr>
          <p:cNvSpPr txBox="1"/>
          <p:nvPr/>
        </p:nvSpPr>
        <p:spPr>
          <a:xfrm>
            <a:off x="389465" y="1472570"/>
            <a:ext cx="8082799"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rPr>
              <a:t>This is a global picture of SO</a:t>
            </a:r>
            <a:r>
              <a:rPr kumimoji="0" lang="en-GB" sz="1800" b="0" i="0" u="none" strike="noStrike" kern="1200" cap="none" spc="0" normalizeH="0" baseline="-2500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rPr>
              <a:t>2</a:t>
            </a:r>
            <a:r>
              <a:rPr kumimoji="0" lang="en-GB" sz="18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rPr>
              <a:t> emissions. Recently new legislation was passed to reduce SO</a:t>
            </a:r>
            <a:r>
              <a:rPr kumimoji="0" lang="en-GB" sz="1800" b="0" i="0" u="none" strike="noStrike" kern="1200" cap="none" spc="0" normalizeH="0" baseline="-2500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rPr>
              <a:t>2</a:t>
            </a:r>
            <a:r>
              <a:rPr kumimoji="0" lang="en-GB" sz="18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rPr>
              <a:t> emissions from shipping fuel.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rPr>
              <a:t>What impact might this have? What could the unintended consequences of this be? </a:t>
            </a:r>
          </a:p>
        </p:txBody>
      </p:sp>
      <p:pic>
        <p:nvPicPr>
          <p:cNvPr id="6" name="Picture 5" descr="A graph with numbers and a bar graph&#10;&#10;AI-generated content may be incorrect.">
            <a:extLst>
              <a:ext uri="{FF2B5EF4-FFF2-40B4-BE49-F238E27FC236}">
                <a16:creationId xmlns:a16="http://schemas.microsoft.com/office/drawing/2014/main" id="{A7D9441C-AD7F-FD98-C682-863FDFE139D7}"/>
              </a:ext>
            </a:extLst>
          </p:cNvPr>
          <p:cNvPicPr>
            <a:picLocks noChangeAspect="1"/>
          </p:cNvPicPr>
          <p:nvPr/>
        </p:nvPicPr>
        <p:blipFill>
          <a:blip r:embed="rId5"/>
          <a:stretch>
            <a:fillRect/>
          </a:stretch>
        </p:blipFill>
        <p:spPr>
          <a:xfrm>
            <a:off x="438918" y="2871473"/>
            <a:ext cx="5842262" cy="3302436"/>
          </a:xfrm>
          <a:prstGeom prst="rect">
            <a:avLst/>
          </a:prstGeom>
        </p:spPr>
      </p:pic>
      <p:pic>
        <p:nvPicPr>
          <p:cNvPr id="8" name="Picture 7" descr="A graph showing the amount of fuel in the fuel prices&#10;&#10;AI-generated content may be incorrect.">
            <a:extLst>
              <a:ext uri="{FF2B5EF4-FFF2-40B4-BE49-F238E27FC236}">
                <a16:creationId xmlns:a16="http://schemas.microsoft.com/office/drawing/2014/main" id="{FB3CD49F-84F2-DD0B-C727-4C3AF36104BD}"/>
              </a:ext>
            </a:extLst>
          </p:cNvPr>
          <p:cNvPicPr>
            <a:picLocks noChangeAspect="1"/>
          </p:cNvPicPr>
          <p:nvPr/>
        </p:nvPicPr>
        <p:blipFill>
          <a:blip r:embed="rId6"/>
          <a:stretch>
            <a:fillRect/>
          </a:stretch>
        </p:blipFill>
        <p:spPr>
          <a:xfrm>
            <a:off x="6384032" y="2865838"/>
            <a:ext cx="5736134" cy="3302436"/>
          </a:xfrm>
          <a:prstGeom prst="rect">
            <a:avLst/>
          </a:prstGeom>
        </p:spPr>
      </p:pic>
    </p:spTree>
    <p:extLst>
      <p:ext uri="{BB962C8B-B14F-4D97-AF65-F5344CB8AC3E}">
        <p14:creationId xmlns:p14="http://schemas.microsoft.com/office/powerpoint/2010/main" val="1783009681"/>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FCE2C-BC7C-0A4F-02DD-BA0A3F616C7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510690D-EEE9-16EB-974A-B69609B96821}"/>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67F9F8C4-E594-3575-DF78-8EF0FC26DDB4}"/>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Q5. </a:t>
            </a:r>
          </a:p>
        </p:txBody>
      </p:sp>
      <p:sp>
        <p:nvSpPr>
          <p:cNvPr id="6" name="TextBox 5">
            <a:extLst>
              <a:ext uri="{FF2B5EF4-FFF2-40B4-BE49-F238E27FC236}">
                <a16:creationId xmlns:a16="http://schemas.microsoft.com/office/drawing/2014/main" id="{603FEA0E-9FF5-3109-2851-AA499FC864EA}"/>
              </a:ext>
            </a:extLst>
          </p:cNvPr>
          <p:cNvSpPr txBox="1"/>
          <p:nvPr/>
        </p:nvSpPr>
        <p:spPr>
          <a:xfrm>
            <a:off x="373943" y="1401058"/>
            <a:ext cx="10315047"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panose="020F0502020204030204" pitchFamily="34" charset="0"/>
              </a:rPr>
              <a:t>Ozone absorbs both UV and IR radiation. What is the effect on the environment of each? </a:t>
            </a:r>
            <a:b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br>
            <a:b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b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panose="020F0502020204030204" pitchFamily="34" charset="0"/>
              </a:rPr>
              <a:t>How would the climate differ if the IR absorption band of ozone didn’t exist?</a:t>
            </a:r>
          </a:p>
        </p:txBody>
      </p:sp>
    </p:spTree>
    <p:extLst>
      <p:ext uri="{BB962C8B-B14F-4D97-AF65-F5344CB8AC3E}">
        <p14:creationId xmlns:p14="http://schemas.microsoft.com/office/powerpoint/2010/main" val="64838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2E434F09-82B6-28BD-D977-8DCECF41CCF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485F950-79F9-7125-A7C8-B3C4DE35ECD8}"/>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EDD29847-8975-1B84-F4F5-644E0F37086A}"/>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Q5.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6" name="TextBox 5">
            <a:extLst>
              <a:ext uri="{FF2B5EF4-FFF2-40B4-BE49-F238E27FC236}">
                <a16:creationId xmlns:a16="http://schemas.microsoft.com/office/drawing/2014/main" id="{5D470886-986D-78C7-3030-69A31E12B74D}"/>
              </a:ext>
            </a:extLst>
          </p:cNvPr>
          <p:cNvSpPr txBox="1"/>
          <p:nvPr/>
        </p:nvSpPr>
        <p:spPr>
          <a:xfrm>
            <a:off x="373943" y="1401058"/>
            <a:ext cx="10315047"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charset="0"/>
                <a:cs typeface="Calibri" panose="020F0502020204030204" pitchFamily="34" charset="0"/>
              </a:rPr>
              <a:t>Ozone absorbs both UV and IR radiation. What is the effect on the environment of each? </a:t>
            </a:r>
            <a:br>
              <a:rPr kumimoji="0" lang="en-GB" sz="18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rPr>
            </a:br>
            <a:br>
              <a:rPr kumimoji="0" lang="en-GB" sz="18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rPr>
            </a:br>
            <a:r>
              <a:rPr kumimoji="0" lang="en-GB" sz="18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charset="0"/>
                <a:cs typeface="Calibri" panose="020F0502020204030204" pitchFamily="34" charset="0"/>
              </a:rPr>
              <a:t>How would the climate differ if the IR absorption band of ozone didn’t exist?</a:t>
            </a:r>
          </a:p>
        </p:txBody>
      </p:sp>
      <p:pic>
        <p:nvPicPr>
          <p:cNvPr id="8" name="Picture 7" descr="A diagram of the greenhouse effect&#10;&#10;AI-generated content may be incorrect.">
            <a:extLst>
              <a:ext uri="{FF2B5EF4-FFF2-40B4-BE49-F238E27FC236}">
                <a16:creationId xmlns:a16="http://schemas.microsoft.com/office/drawing/2014/main" id="{A5410FC1-95DD-0984-D9C5-EF406CA6AB17}"/>
              </a:ext>
            </a:extLst>
          </p:cNvPr>
          <p:cNvPicPr>
            <a:picLocks noChangeAspect="1"/>
          </p:cNvPicPr>
          <p:nvPr/>
        </p:nvPicPr>
        <p:blipFill>
          <a:blip r:embed="rId5"/>
          <a:stretch>
            <a:fillRect/>
          </a:stretch>
        </p:blipFill>
        <p:spPr>
          <a:xfrm>
            <a:off x="5519456" y="2385359"/>
            <a:ext cx="3750816" cy="2781855"/>
          </a:xfrm>
          <a:prstGeom prst="rect">
            <a:avLst/>
          </a:prstGeom>
        </p:spPr>
      </p:pic>
      <p:pic>
        <p:nvPicPr>
          <p:cNvPr id="11" name="Picture 10" descr="A diagram of light on a hill&#10;&#10;AI-generated content may be incorrect.">
            <a:extLst>
              <a:ext uri="{FF2B5EF4-FFF2-40B4-BE49-F238E27FC236}">
                <a16:creationId xmlns:a16="http://schemas.microsoft.com/office/drawing/2014/main" id="{5DF7B99D-9D13-1A2C-E663-DD26BF41DAA9}"/>
              </a:ext>
            </a:extLst>
          </p:cNvPr>
          <p:cNvPicPr>
            <a:picLocks noChangeAspect="1"/>
          </p:cNvPicPr>
          <p:nvPr/>
        </p:nvPicPr>
        <p:blipFill>
          <a:blip r:embed="rId6"/>
          <a:stretch>
            <a:fillRect/>
          </a:stretch>
        </p:blipFill>
        <p:spPr>
          <a:xfrm>
            <a:off x="479376" y="2419548"/>
            <a:ext cx="4124827" cy="2747666"/>
          </a:xfrm>
          <a:prstGeom prst="rect">
            <a:avLst/>
          </a:prstGeom>
        </p:spPr>
      </p:pic>
      <p:sp>
        <p:nvSpPr>
          <p:cNvPr id="14" name="TextBox 13">
            <a:extLst>
              <a:ext uri="{FF2B5EF4-FFF2-40B4-BE49-F238E27FC236}">
                <a16:creationId xmlns:a16="http://schemas.microsoft.com/office/drawing/2014/main" id="{49BE1478-7D9E-67C2-FF70-7235D17DE721}"/>
              </a:ext>
            </a:extLst>
          </p:cNvPr>
          <p:cNvSpPr txBox="1"/>
          <p:nvPr/>
        </p:nvSpPr>
        <p:spPr>
          <a:xfrm>
            <a:off x="397429" y="5421237"/>
            <a:ext cx="4697889"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charset="0"/>
                <a:cs typeface="Calibri" panose="020F0502020204030204" pitchFamily="34" charset="0"/>
              </a:rPr>
              <a:t>Ozone protects life by absorbing harmful UV radiation in the stratosphere and warms the atmosphere by absorbing outgoing IR radiation. This dual role helps maintain the planet’s temperature balance. </a:t>
            </a:r>
            <a:endParaRPr kumimoji="0" lang="en-US" sz="16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17" name="TextBox 16">
            <a:extLst>
              <a:ext uri="{FF2B5EF4-FFF2-40B4-BE49-F238E27FC236}">
                <a16:creationId xmlns:a16="http://schemas.microsoft.com/office/drawing/2014/main" id="{F76F2A5B-A0D9-9140-A9C3-77197CC1D217}"/>
              </a:ext>
            </a:extLst>
          </p:cNvPr>
          <p:cNvSpPr txBox="1"/>
          <p:nvPr/>
        </p:nvSpPr>
        <p:spPr>
          <a:xfrm>
            <a:off x="5375920" y="5447197"/>
            <a:ext cx="4697889"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pitchFamily="34" charset="0"/>
                <a:ea typeface="ＭＳ Ｐゴシック" panose="020B0600070205080204" pitchFamily="34" charset="-128"/>
                <a:cs typeface="Calibri" panose="020F0502020204030204" pitchFamily="34" charset="0"/>
              </a:rPr>
              <a:t>Without IR absorption at ~9600 nm, less heat would be trapped, leading to a cooler atmosphere and surface. The greenhouse effect would weaken, lowering global temperatures.</a:t>
            </a:r>
          </a:p>
        </p:txBody>
      </p:sp>
    </p:spTree>
    <p:extLst>
      <p:ext uri="{BB962C8B-B14F-4D97-AF65-F5344CB8AC3E}">
        <p14:creationId xmlns:p14="http://schemas.microsoft.com/office/powerpoint/2010/main" val="184177959"/>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DA019-8A57-5B6E-C698-5894A9E4D34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6C5280C-D9B7-157A-BC77-794AB059147F}"/>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3ACE855A-2773-6CD3-7CF0-CAE7850F3ED0}"/>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Q6. </a:t>
            </a:r>
          </a:p>
        </p:txBody>
      </p:sp>
      <p:sp>
        <p:nvSpPr>
          <p:cNvPr id="4" name="TextBox 3">
            <a:extLst>
              <a:ext uri="{FF2B5EF4-FFF2-40B4-BE49-F238E27FC236}">
                <a16:creationId xmlns:a16="http://schemas.microsoft.com/office/drawing/2014/main" id="{2E8A0995-470E-22C9-7D05-8A1225FB5AB0}"/>
              </a:ext>
            </a:extLst>
          </p:cNvPr>
          <p:cNvSpPr txBox="1"/>
          <p:nvPr/>
        </p:nvSpPr>
        <p:spPr>
          <a:xfrm>
            <a:off x="385410" y="1435600"/>
            <a:ext cx="10552338" cy="400110"/>
          </a:xfrm>
          <a:prstGeom prst="rect">
            <a:avLst/>
          </a:prstGeom>
          <a:noFill/>
        </p:spPr>
        <p:txBody>
          <a:bodyPr wrap="square">
            <a:spAutoFit/>
          </a:bodyPr>
          <a:lstStyle/>
          <a:p>
            <a:r>
              <a:rPr lang="en-GB" sz="2000" b="1" dirty="0">
                <a:latin typeface="Calibri" panose="020F0502020204030204" pitchFamily="34" charset="0"/>
                <a:cs typeface="Calibri" panose="020F0502020204030204" pitchFamily="34" charset="0"/>
              </a:rPr>
              <a:t>Can you use the graph below to estimate the surface temperature of the sun?</a:t>
            </a:r>
          </a:p>
        </p:txBody>
      </p:sp>
      <p:pic>
        <p:nvPicPr>
          <p:cNvPr id="2" name="Picture 4" descr="A picture containing chart&#10;&#10;Description automatically generated">
            <a:extLst>
              <a:ext uri="{FF2B5EF4-FFF2-40B4-BE49-F238E27FC236}">
                <a16:creationId xmlns:a16="http://schemas.microsoft.com/office/drawing/2014/main" id="{3F960E47-60D4-BB16-C890-342B777F2B0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67" t="44133"/>
          <a:stretch>
            <a:fillRect/>
          </a:stretch>
        </p:blipFill>
        <p:spPr bwMode="auto">
          <a:xfrm>
            <a:off x="385410" y="1835710"/>
            <a:ext cx="7074009" cy="265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62483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E7831675-E6FD-406B-787E-07C8B58D6E4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73B24D8F-D737-A6EC-6B7A-21202B165B3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4C05249E-2745-28D5-FD73-D516A2E770A3}"/>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Q6.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4" name="TextBox 3">
            <a:extLst>
              <a:ext uri="{FF2B5EF4-FFF2-40B4-BE49-F238E27FC236}">
                <a16:creationId xmlns:a16="http://schemas.microsoft.com/office/drawing/2014/main" id="{C028DE73-5E00-9841-18AA-0C130AD66CD6}"/>
              </a:ext>
            </a:extLst>
          </p:cNvPr>
          <p:cNvSpPr txBox="1"/>
          <p:nvPr/>
        </p:nvSpPr>
        <p:spPr>
          <a:xfrm>
            <a:off x="385410" y="1435600"/>
            <a:ext cx="10552338" cy="400110"/>
          </a:xfrm>
          <a:prstGeom prst="rect">
            <a:avLst/>
          </a:prstGeom>
          <a:noFill/>
        </p:spPr>
        <p:txBody>
          <a:bodyPr wrap="square">
            <a:spAutoFit/>
          </a:bodyPr>
          <a:lstStyle/>
          <a:p>
            <a:r>
              <a:rPr lang="en-GB" sz="2000" b="1" dirty="0">
                <a:solidFill>
                  <a:schemeClr val="bg1"/>
                </a:solidFill>
                <a:latin typeface="Calibri" panose="020F0502020204030204" pitchFamily="34" charset="0"/>
                <a:cs typeface="Calibri" panose="020F0502020204030204" pitchFamily="34" charset="0"/>
              </a:rPr>
              <a:t>Can you use the graph below to estimate the surface temperature of the sun?</a:t>
            </a:r>
          </a:p>
        </p:txBody>
      </p:sp>
      <p:pic>
        <p:nvPicPr>
          <p:cNvPr id="6" name="Picture 4" descr="A picture containing chart&#10;&#10;Description automatically generated">
            <a:extLst>
              <a:ext uri="{FF2B5EF4-FFF2-40B4-BE49-F238E27FC236}">
                <a16:creationId xmlns:a16="http://schemas.microsoft.com/office/drawing/2014/main" id="{E652D3A5-FE25-3BFE-C14F-60563E6AC75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167" t="44133"/>
          <a:stretch>
            <a:fillRect/>
          </a:stretch>
        </p:blipFill>
        <p:spPr bwMode="auto">
          <a:xfrm>
            <a:off x="385410" y="1835710"/>
            <a:ext cx="7074009" cy="265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35F9EB10-8C1A-0B68-E86A-A59721192B24}"/>
              </a:ext>
            </a:extLst>
          </p:cNvPr>
          <p:cNvSpPr txBox="1"/>
          <p:nvPr/>
        </p:nvSpPr>
        <p:spPr>
          <a:xfrm>
            <a:off x="559571" y="4718469"/>
            <a:ext cx="6099858" cy="1631216"/>
          </a:xfrm>
          <a:prstGeom prst="rect">
            <a:avLst/>
          </a:prstGeom>
          <a:noFill/>
        </p:spPr>
        <p:txBody>
          <a:bodyPr wrap="square">
            <a:spAutoFit/>
          </a:bodyPr>
          <a:lstStyle/>
          <a:p>
            <a:r>
              <a:rPr lang="en-GB" sz="2000" b="1" i="0" strike="noStrike" dirty="0">
                <a:solidFill>
                  <a:schemeClr val="bg1"/>
                </a:solidFill>
                <a:effectLst/>
                <a:latin typeface="Calibri" panose="020F0502020204030204" pitchFamily="34" charset="0"/>
                <a:cs typeface="Calibri" panose="020F0502020204030204" pitchFamily="34" charset="0"/>
              </a:rPr>
              <a:t>Wien’s </a:t>
            </a:r>
            <a:r>
              <a:rPr lang="en-GB" sz="2000" b="1" dirty="0">
                <a:solidFill>
                  <a:schemeClr val="bg1"/>
                </a:solidFill>
                <a:latin typeface="Calibri" panose="020F0502020204030204" pitchFamily="34" charset="0"/>
                <a:cs typeface="Calibri" panose="020F0502020204030204" pitchFamily="34" charset="0"/>
              </a:rPr>
              <a:t>L</a:t>
            </a:r>
            <a:r>
              <a:rPr lang="en-GB" sz="2000" b="1" i="0" strike="noStrike" dirty="0">
                <a:solidFill>
                  <a:schemeClr val="bg1"/>
                </a:solidFill>
                <a:effectLst/>
                <a:latin typeface="Calibri" panose="020F0502020204030204" pitchFamily="34" charset="0"/>
                <a:cs typeface="Calibri" panose="020F0502020204030204" pitchFamily="34" charset="0"/>
              </a:rPr>
              <a:t>aw</a:t>
            </a:r>
            <a:r>
              <a:rPr lang="en-GB" sz="2000" b="0" i="0" strike="noStrike" dirty="0">
                <a:solidFill>
                  <a:schemeClr val="bg1"/>
                </a:solidFill>
                <a:effectLst/>
                <a:latin typeface="Calibri" panose="020F0502020204030204" pitchFamily="34" charset="0"/>
                <a:cs typeface="Calibri" panose="020F0502020204030204" pitchFamily="34" charset="0"/>
              </a:rPr>
              <a:t>:</a:t>
            </a:r>
          </a:p>
          <a:p>
            <a:endParaRPr lang="en-GB" sz="2000" dirty="0">
              <a:solidFill>
                <a:schemeClr val="bg1"/>
              </a:solidFill>
              <a:latin typeface="Calibri" panose="020F0502020204030204" pitchFamily="34" charset="0"/>
              <a:cs typeface="Calibri" panose="020F0502020204030204" pitchFamily="34" charset="0"/>
            </a:endParaRPr>
          </a:p>
          <a:p>
            <a:r>
              <a:rPr lang="el-GR" sz="2000" i="1" dirty="0">
                <a:solidFill>
                  <a:schemeClr val="bg1"/>
                </a:solidFill>
                <a:latin typeface="Calibri" panose="020F0502020204030204" pitchFamily="34" charset="0"/>
                <a:cs typeface="Calibri" panose="020F0502020204030204" pitchFamily="34" charset="0"/>
              </a:rPr>
              <a:t>λ</a:t>
            </a:r>
            <a:r>
              <a:rPr lang="en-GB" sz="2000" i="1" baseline="-25000" dirty="0" err="1">
                <a:solidFill>
                  <a:schemeClr val="bg1"/>
                </a:solidFill>
                <a:latin typeface="Calibri" panose="020F0502020204030204" pitchFamily="34" charset="0"/>
                <a:cs typeface="Calibri" panose="020F0502020204030204" pitchFamily="34" charset="0"/>
              </a:rPr>
              <a:t>max</a:t>
            </a:r>
            <a:r>
              <a:rPr lang="en-GB" sz="2000" i="1" dirty="0" err="1">
                <a:solidFill>
                  <a:schemeClr val="bg1"/>
                </a:solidFill>
                <a:latin typeface="Calibri" panose="020F0502020204030204" pitchFamily="34" charset="0"/>
                <a:cs typeface="Calibri" panose="020F0502020204030204" pitchFamily="34" charset="0"/>
              </a:rPr>
              <a:t>T</a:t>
            </a:r>
            <a:r>
              <a:rPr lang="en-GB" sz="2000" i="1" dirty="0">
                <a:solidFill>
                  <a:schemeClr val="bg1"/>
                </a:solidFill>
                <a:latin typeface="Calibri" panose="020F0502020204030204" pitchFamily="34" charset="0"/>
                <a:cs typeface="Calibri" panose="020F0502020204030204" pitchFamily="34" charset="0"/>
              </a:rPr>
              <a:t> </a:t>
            </a:r>
            <a:r>
              <a:rPr lang="en-GB" sz="2000" dirty="0">
                <a:solidFill>
                  <a:schemeClr val="bg1"/>
                </a:solidFill>
                <a:latin typeface="Calibri" panose="020F0502020204030204" pitchFamily="34" charset="0"/>
                <a:cs typeface="Calibri" panose="020F0502020204030204" pitchFamily="34" charset="0"/>
              </a:rPr>
              <a:t>= 2.897 x 10</a:t>
            </a:r>
            <a:r>
              <a:rPr lang="en-GB" sz="2000" baseline="30000" dirty="0">
                <a:solidFill>
                  <a:schemeClr val="bg1"/>
                </a:solidFill>
                <a:latin typeface="Calibri" panose="020F0502020204030204" pitchFamily="34" charset="0"/>
                <a:cs typeface="Calibri" panose="020F0502020204030204" pitchFamily="34" charset="0"/>
              </a:rPr>
              <a:t>6</a:t>
            </a:r>
          </a:p>
          <a:p>
            <a:r>
              <a:rPr lang="en-GB" sz="2000" i="1" dirty="0">
                <a:solidFill>
                  <a:schemeClr val="bg1"/>
                </a:solidFill>
                <a:latin typeface="Calibri" panose="020F0502020204030204" pitchFamily="34" charset="0"/>
                <a:cs typeface="Calibri" panose="020F0502020204030204" pitchFamily="34" charset="0"/>
              </a:rPr>
              <a:t>T</a:t>
            </a:r>
            <a:r>
              <a:rPr lang="en-GB" sz="2000" dirty="0">
                <a:solidFill>
                  <a:schemeClr val="bg1"/>
                </a:solidFill>
                <a:latin typeface="Calibri" panose="020F0502020204030204" pitchFamily="34" charset="0"/>
                <a:cs typeface="Calibri" panose="020F0502020204030204" pitchFamily="34" charset="0"/>
              </a:rPr>
              <a:t> = 2.897 x 10</a:t>
            </a:r>
            <a:r>
              <a:rPr lang="en-GB" sz="2000" baseline="30000" dirty="0">
                <a:solidFill>
                  <a:schemeClr val="bg1"/>
                </a:solidFill>
                <a:latin typeface="Calibri" panose="020F0502020204030204" pitchFamily="34" charset="0"/>
                <a:cs typeface="Calibri" panose="020F0502020204030204" pitchFamily="34" charset="0"/>
              </a:rPr>
              <a:t>6</a:t>
            </a:r>
            <a:r>
              <a:rPr lang="en-GB" sz="2000" dirty="0">
                <a:solidFill>
                  <a:schemeClr val="bg1"/>
                </a:solidFill>
                <a:latin typeface="Calibri" panose="020F0502020204030204" pitchFamily="34" charset="0"/>
                <a:cs typeface="Calibri" panose="020F0502020204030204" pitchFamily="34" charset="0"/>
              </a:rPr>
              <a:t> / 500 nm</a:t>
            </a:r>
          </a:p>
          <a:p>
            <a:r>
              <a:rPr lang="en-GB" sz="2000" i="1" dirty="0">
                <a:solidFill>
                  <a:schemeClr val="bg1"/>
                </a:solidFill>
                <a:latin typeface="Calibri" panose="020F0502020204030204" pitchFamily="34" charset="0"/>
                <a:cs typeface="Calibri" panose="020F0502020204030204" pitchFamily="34" charset="0"/>
              </a:rPr>
              <a:t>T </a:t>
            </a:r>
            <a:r>
              <a:rPr lang="en-GB" sz="2000" dirty="0">
                <a:solidFill>
                  <a:schemeClr val="bg1"/>
                </a:solidFill>
                <a:latin typeface="Calibri" panose="020F0502020204030204" pitchFamily="34" charset="0"/>
                <a:cs typeface="Calibri" panose="020F0502020204030204" pitchFamily="34" charset="0"/>
              </a:rPr>
              <a:t>= 5800 K</a:t>
            </a:r>
          </a:p>
        </p:txBody>
      </p:sp>
    </p:spTree>
    <p:extLst>
      <p:ext uri="{BB962C8B-B14F-4D97-AF65-F5344CB8AC3E}">
        <p14:creationId xmlns:p14="http://schemas.microsoft.com/office/powerpoint/2010/main" val="3481502496"/>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FF60E-785E-8739-F5DF-B6A54017589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939443E-626D-F817-C856-595B6DA58335}"/>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92410B6D-3810-8AC0-29D4-AE6AEC52D7CD}"/>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Q7.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F39DF1C-998F-706C-8ACC-40416ED3D467}"/>
                  </a:ext>
                </a:extLst>
              </p:cNvPr>
              <p:cNvSpPr txBox="1"/>
              <p:nvPr/>
            </p:nvSpPr>
            <p:spPr>
              <a:xfrm>
                <a:off x="389465" y="1329323"/>
                <a:ext cx="11576758" cy="2099677"/>
              </a:xfrm>
              <a:prstGeom prst="rect">
                <a:avLst/>
              </a:prstGeom>
              <a:noFill/>
            </p:spPr>
            <p:txBody>
              <a:bodyPr wrap="square">
                <a:spAutoFit/>
              </a:bodyPr>
              <a:lstStyle/>
              <a:p>
                <a:r>
                  <a:rPr lang="en-GB" sz="1800" b="0" i="0" kern="1200" dirty="0">
                    <a:solidFill>
                      <a:schemeClr val="tx1"/>
                    </a:solidFill>
                    <a:effectLst/>
                    <a:latin typeface="Calibri" panose="020F0502020204030204" pitchFamily="34" charset="0"/>
                    <a:cs typeface="Calibri" panose="020F0502020204030204" pitchFamily="34" charset="0"/>
                  </a:rPr>
                  <a:t>Radiative forcing due to changes in atmospheric CO₂ concentration can be approximated using the relationship:</a:t>
                </a:r>
              </a:p>
              <a:p>
                <a:pPr/>
                <a14:m>
                  <m:oMathPara xmlns:m="http://schemas.openxmlformats.org/officeDocument/2006/math">
                    <m:oMathParaPr>
                      <m:jc m:val="centerGroup"/>
                    </m:oMathParaPr>
                    <m:oMath xmlns:m="http://schemas.openxmlformats.org/officeDocument/2006/math">
                      <m:r>
                        <m:rPr>
                          <m:sty m:val="p"/>
                        </m:rPr>
                        <a:rPr lang="el-GR" sz="1800" kern="1200">
                          <a:solidFill>
                            <a:schemeClr val="tx1"/>
                          </a:solidFill>
                          <a:latin typeface="Cambria Math" panose="02040503050406030204" pitchFamily="18" charset="0"/>
                        </a:rPr>
                        <m:t>Δ</m:t>
                      </m:r>
                      <m:r>
                        <a:rPr lang="el-GR" sz="1800" i="1" kern="1200">
                          <a:solidFill>
                            <a:schemeClr val="tx1"/>
                          </a:solidFill>
                          <a:latin typeface="Cambria Math" panose="02040503050406030204" pitchFamily="18" charset="0"/>
                        </a:rPr>
                        <m:t>𝐹</m:t>
                      </m:r>
                      <m:r>
                        <a:rPr lang="el-GR" sz="1800" i="0" kern="1200">
                          <a:solidFill>
                            <a:schemeClr val="tx1"/>
                          </a:solidFill>
                          <a:latin typeface="Cambria Math" panose="02040503050406030204" pitchFamily="18" charset="0"/>
                        </a:rPr>
                        <m:t>=5.25×</m:t>
                      </m:r>
                      <m:func>
                        <m:funcPr>
                          <m:ctrlPr>
                            <a:rPr lang="ar-AE" sz="1800" i="1" kern="1200">
                              <a:solidFill>
                                <a:schemeClr val="tx1"/>
                              </a:solidFill>
                              <a:latin typeface="Cambria Math" panose="02040503050406030204" pitchFamily="18" charset="0"/>
                            </a:rPr>
                          </m:ctrlPr>
                        </m:funcPr>
                        <m:fName>
                          <m:r>
                            <m:rPr>
                              <m:sty m:val="p"/>
                            </m:rPr>
                            <a:rPr lang="en-GB" sz="1800" i="0" kern="1200">
                              <a:solidFill>
                                <a:schemeClr val="tx1"/>
                              </a:solidFill>
                              <a:latin typeface="Cambria Math" panose="02040503050406030204" pitchFamily="18" charset="0"/>
                            </a:rPr>
                            <m:t>ln</m:t>
                          </m:r>
                        </m:fName>
                        <m:e>
                          <m:d>
                            <m:dPr>
                              <m:ctrlPr>
                                <a:rPr lang="ar-AE" sz="1800" i="1" kern="1200">
                                  <a:solidFill>
                                    <a:schemeClr val="tx1"/>
                                  </a:solidFill>
                                  <a:latin typeface="Cambria Math" panose="02040503050406030204" pitchFamily="18" charset="0"/>
                                </a:rPr>
                              </m:ctrlPr>
                            </m:dPr>
                            <m:e>
                              <m:f>
                                <m:fPr>
                                  <m:ctrlPr>
                                    <a:rPr lang="ar-AE" sz="1800" i="1" kern="1200">
                                      <a:solidFill>
                                        <a:schemeClr val="tx1"/>
                                      </a:solidFill>
                                      <a:latin typeface="Cambria Math" panose="02040503050406030204" pitchFamily="18" charset="0"/>
                                    </a:rPr>
                                  </m:ctrlPr>
                                </m:fPr>
                                <m:num>
                                  <m:r>
                                    <a:rPr lang="ar-AE" sz="1800" i="1" kern="1200">
                                      <a:solidFill>
                                        <a:schemeClr val="tx1"/>
                                      </a:solidFill>
                                      <a:latin typeface="Cambria Math" panose="02040503050406030204" pitchFamily="18" charset="0"/>
                                    </a:rPr>
                                    <m:t>𝐶</m:t>
                                  </m:r>
                                  <m:d>
                                    <m:dPr>
                                      <m:ctrlPr>
                                        <a:rPr lang="ar-AE" sz="1800" i="1" kern="1200">
                                          <a:solidFill>
                                            <a:schemeClr val="tx1"/>
                                          </a:solidFill>
                                          <a:latin typeface="Cambria Math" panose="02040503050406030204" pitchFamily="18" charset="0"/>
                                        </a:rPr>
                                      </m:ctrlPr>
                                    </m:dPr>
                                    <m:e>
                                      <m:r>
                                        <a:rPr lang="ar-AE" sz="1800" i="1" kern="1200">
                                          <a:solidFill>
                                            <a:schemeClr val="tx1"/>
                                          </a:solidFill>
                                          <a:latin typeface="Cambria Math" panose="02040503050406030204" pitchFamily="18" charset="0"/>
                                        </a:rPr>
                                        <m:t>𝑡</m:t>
                                      </m:r>
                                    </m:e>
                                  </m:d>
                                </m:num>
                                <m:den>
                                  <m:sSub>
                                    <m:sSubPr>
                                      <m:ctrlPr>
                                        <a:rPr lang="ar-AE" sz="1800" i="1" kern="120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𝐶</m:t>
                                      </m:r>
                                    </m:e>
                                    <m:sub>
                                      <m:r>
                                        <a:rPr lang="ar-AE" sz="1800" i="0" kern="1200">
                                          <a:solidFill>
                                            <a:schemeClr val="tx1"/>
                                          </a:solidFill>
                                          <a:latin typeface="Cambria Math" panose="02040503050406030204" pitchFamily="18" charset="0"/>
                                        </a:rPr>
                                        <m:t>0</m:t>
                                      </m:r>
                                    </m:sub>
                                  </m:sSub>
                                </m:den>
                              </m:f>
                            </m:e>
                          </m:d>
                        </m:e>
                      </m:func>
                    </m:oMath>
                  </m:oMathPara>
                </a14:m>
                <a:endParaRPr lang="en-GB" dirty="0">
                  <a:latin typeface="Calibri" panose="020F0502020204030204" pitchFamily="34" charset="0"/>
                  <a:cs typeface="Calibri" panose="020F0502020204030204" pitchFamily="34" charset="0"/>
                </a:endParaRPr>
              </a:p>
              <a:p>
                <a:r>
                  <a:rPr lang="en-GB" sz="1800" b="0" i="0" kern="1200" dirty="0">
                    <a:solidFill>
                      <a:schemeClr val="tx1"/>
                    </a:solidFill>
                    <a:effectLst/>
                    <a:latin typeface="Calibri" panose="020F0502020204030204" pitchFamily="34" charset="0"/>
                    <a:cs typeface="Calibri" panose="020F0502020204030204" pitchFamily="34" charset="0"/>
                  </a:rPr>
                  <a:t>where:</a:t>
                </a:r>
              </a:p>
              <a:p>
                <a14:m>
                  <m:oMath xmlns:m="http://schemas.openxmlformats.org/officeDocument/2006/math">
                    <m:sSub>
                      <m:sSubPr>
                        <m:ctrlPr>
                          <a:rPr lang="ar-AE" sz="1800" i="1" kern="120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𝐶</m:t>
                        </m:r>
                      </m:e>
                      <m:sub>
                        <m:r>
                          <a:rPr lang="ar-AE" sz="1800" i="0" kern="1200">
                            <a:solidFill>
                              <a:schemeClr val="tx1"/>
                            </a:solidFill>
                            <a:latin typeface="Cambria Math" panose="02040503050406030204" pitchFamily="18" charset="0"/>
                          </a:rPr>
                          <m:t>0</m:t>
                        </m:r>
                      </m:sub>
                    </m:sSub>
                  </m:oMath>
                </a14:m>
                <a:r>
                  <a:rPr lang="ar-AE" sz="1800" b="0" i="0" kern="1200" dirty="0">
                    <a:solidFill>
                      <a:schemeClr val="tx1"/>
                    </a:solidFill>
                    <a:effectLst/>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is the initial CO₂ concentration (</a:t>
                </a:r>
                <a:r>
                  <a:rPr lang="en-GB" sz="1800" b="0" i="0" kern="1200" dirty="0" err="1">
                    <a:solidFill>
                      <a:schemeClr val="tx1"/>
                    </a:solidFill>
                    <a:effectLst/>
                    <a:latin typeface="Calibri" panose="020F0502020204030204" pitchFamily="34" charset="0"/>
                    <a:cs typeface="Calibri" panose="020F0502020204030204" pitchFamily="34" charset="0"/>
                  </a:rPr>
                  <a:t>ppmv</a:t>
                </a:r>
                <a:r>
                  <a:rPr lang="en-GB" sz="1800" b="0" i="0" kern="1200" dirty="0">
                    <a:solidFill>
                      <a:schemeClr val="tx1"/>
                    </a:solidFill>
                    <a:effectLst/>
                    <a:latin typeface="Calibri" panose="020F0502020204030204" pitchFamily="34" charset="0"/>
                    <a:cs typeface="Calibri" panose="020F0502020204030204" pitchFamily="34" charset="0"/>
                  </a:rPr>
                  <a:t>), </a:t>
                </a:r>
                <a14:m>
                  <m:oMath xmlns:m="http://schemas.openxmlformats.org/officeDocument/2006/math">
                    <m:r>
                      <a:rPr lang="en-GB" sz="1800" i="1" kern="1200">
                        <a:solidFill>
                          <a:schemeClr val="tx1"/>
                        </a:solidFill>
                        <a:latin typeface="Cambria Math" panose="02040503050406030204" pitchFamily="18" charset="0"/>
                      </a:rPr>
                      <m:t>𝐶</m:t>
                    </m:r>
                    <m:d>
                      <m:dPr>
                        <m:ctrlPr>
                          <a:rPr lang="ar-AE" sz="1800" i="1" kern="1200">
                            <a:solidFill>
                              <a:schemeClr val="tx1"/>
                            </a:solidFill>
                            <a:latin typeface="Cambria Math" panose="02040503050406030204" pitchFamily="18" charset="0"/>
                          </a:rPr>
                        </m:ctrlPr>
                      </m:dPr>
                      <m:e>
                        <m:r>
                          <a:rPr lang="ar-AE" sz="1800" i="1" kern="1200">
                            <a:solidFill>
                              <a:schemeClr val="tx1"/>
                            </a:solidFill>
                            <a:latin typeface="Cambria Math" panose="02040503050406030204" pitchFamily="18" charset="0"/>
                          </a:rPr>
                          <m:t>𝑡</m:t>
                        </m:r>
                      </m:e>
                    </m:d>
                  </m:oMath>
                </a14:m>
                <a:r>
                  <a:rPr lang="ar-AE" sz="1800" b="0" i="0" kern="1200" dirty="0">
                    <a:solidFill>
                      <a:schemeClr val="tx1"/>
                    </a:solidFill>
                    <a:effectLst/>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is the later CO₂ concentration (</a:t>
                </a:r>
                <a:r>
                  <a:rPr lang="en-GB" sz="1800" b="0" i="0" kern="1200" dirty="0" err="1">
                    <a:solidFill>
                      <a:schemeClr val="tx1"/>
                    </a:solidFill>
                    <a:effectLst/>
                    <a:latin typeface="Calibri" panose="020F0502020204030204" pitchFamily="34" charset="0"/>
                    <a:cs typeface="Calibri" panose="020F0502020204030204" pitchFamily="34" charset="0"/>
                  </a:rPr>
                  <a:t>ppmv</a:t>
                </a:r>
                <a:r>
                  <a:rPr lang="en-GB" sz="1800" b="0" i="0" kern="1200" dirty="0">
                    <a:solidFill>
                      <a:schemeClr val="tx1"/>
                    </a:solidFill>
                    <a:effectLst/>
                    <a:latin typeface="Calibri" panose="020F0502020204030204" pitchFamily="34" charset="0"/>
                    <a:cs typeface="Calibri" panose="020F0502020204030204" pitchFamily="34" charset="0"/>
                  </a:rPr>
                  <a:t>), </a:t>
                </a:r>
                <a14:m>
                  <m:oMath xmlns:m="http://schemas.openxmlformats.org/officeDocument/2006/math">
                    <m:r>
                      <m:rPr>
                        <m:sty m:val="p"/>
                      </m:rPr>
                      <a:rPr lang="el-GR" sz="1800" kern="1200">
                        <a:solidFill>
                          <a:schemeClr val="tx1"/>
                        </a:solidFill>
                        <a:latin typeface="Cambria Math" panose="02040503050406030204" pitchFamily="18" charset="0"/>
                      </a:rPr>
                      <m:t>Δ</m:t>
                    </m:r>
                    <m:r>
                      <a:rPr lang="el-GR" sz="1800" i="1" kern="1200">
                        <a:solidFill>
                          <a:schemeClr val="tx1"/>
                        </a:solidFill>
                        <a:latin typeface="Cambria Math" panose="02040503050406030204" pitchFamily="18" charset="0"/>
                      </a:rPr>
                      <m:t>𝐹</m:t>
                    </m:r>
                  </m:oMath>
                </a14:m>
                <a:r>
                  <a:rPr lang="el-GR" sz="1800" b="0" i="0" kern="1200" dirty="0">
                    <a:solidFill>
                      <a:schemeClr val="tx1"/>
                    </a:solidFill>
                    <a:effectLst/>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is the radiative forcing in W m⁻².</a:t>
                </a:r>
              </a:p>
              <a:p>
                <a:r>
                  <a:rPr lang="en-GB" sz="1800" b="0" i="0" kern="1200" dirty="0">
                    <a:solidFill>
                      <a:schemeClr val="tx1"/>
                    </a:solidFill>
                    <a:effectLst/>
                    <a:latin typeface="Calibri" panose="020F0502020204030204" pitchFamily="34" charset="0"/>
                    <a:cs typeface="Calibri" panose="020F0502020204030204" pitchFamily="34" charset="0"/>
                  </a:rPr>
                  <a:t>Atmospheric CO₂ concentration was </a:t>
                </a:r>
                <a:r>
                  <a:rPr lang="en-GB" sz="1800" b="1" i="0" kern="1200" dirty="0">
                    <a:solidFill>
                      <a:schemeClr val="tx1"/>
                    </a:solidFill>
                    <a:effectLst/>
                    <a:latin typeface="Calibri" panose="020F0502020204030204" pitchFamily="34" charset="0"/>
                    <a:cs typeface="Calibri" panose="020F0502020204030204" pitchFamily="34" charset="0"/>
                  </a:rPr>
                  <a:t>336.8 </a:t>
                </a:r>
                <a:r>
                  <a:rPr lang="en-GB" sz="1800" b="1" i="0" kern="1200" dirty="0" err="1">
                    <a:solidFill>
                      <a:schemeClr val="tx1"/>
                    </a:solidFill>
                    <a:effectLst/>
                    <a:latin typeface="Calibri" panose="020F0502020204030204" pitchFamily="34" charset="0"/>
                    <a:cs typeface="Calibri" panose="020F0502020204030204" pitchFamily="34" charset="0"/>
                  </a:rPr>
                  <a:t>ppmv</a:t>
                </a:r>
                <a:r>
                  <a:rPr lang="en-GB" sz="1800" b="1" i="0" kern="1200" dirty="0">
                    <a:solidFill>
                      <a:schemeClr val="tx1"/>
                    </a:solidFill>
                    <a:effectLst/>
                    <a:latin typeface="Calibri" panose="020F0502020204030204" pitchFamily="34" charset="0"/>
                    <a:cs typeface="Calibri" panose="020F0502020204030204" pitchFamily="34" charset="0"/>
                  </a:rPr>
                  <a:t> in 1979</a:t>
                </a:r>
                <a:r>
                  <a:rPr lang="en-GB" sz="1800" b="0" i="0" kern="1200" dirty="0">
                    <a:solidFill>
                      <a:schemeClr val="tx1"/>
                    </a:solidFill>
                    <a:effectLst/>
                    <a:latin typeface="Calibri" panose="020F0502020204030204" pitchFamily="34" charset="0"/>
                    <a:cs typeface="Calibri" panose="020F0502020204030204" pitchFamily="34" charset="0"/>
                  </a:rPr>
                  <a:t> and increased to </a:t>
                </a:r>
                <a:r>
                  <a:rPr lang="en-GB" sz="1800" b="1" i="0" kern="1200" dirty="0">
                    <a:solidFill>
                      <a:schemeClr val="tx1"/>
                    </a:solidFill>
                    <a:effectLst/>
                    <a:latin typeface="Calibri" panose="020F0502020204030204" pitchFamily="34" charset="0"/>
                    <a:cs typeface="Calibri" panose="020F0502020204030204" pitchFamily="34" charset="0"/>
                  </a:rPr>
                  <a:t>352.8 </a:t>
                </a:r>
                <a:r>
                  <a:rPr lang="en-GB" sz="1800" b="1" i="0" kern="1200" dirty="0" err="1">
                    <a:solidFill>
                      <a:schemeClr val="tx1"/>
                    </a:solidFill>
                    <a:effectLst/>
                    <a:latin typeface="Calibri" panose="020F0502020204030204" pitchFamily="34" charset="0"/>
                    <a:cs typeface="Calibri" panose="020F0502020204030204" pitchFamily="34" charset="0"/>
                  </a:rPr>
                  <a:t>ppmv</a:t>
                </a:r>
                <a:r>
                  <a:rPr lang="en-GB" sz="1800" b="1" i="0" kern="1200" dirty="0">
                    <a:solidFill>
                      <a:schemeClr val="tx1"/>
                    </a:solidFill>
                    <a:effectLst/>
                    <a:latin typeface="Calibri" panose="020F0502020204030204" pitchFamily="34" charset="0"/>
                    <a:cs typeface="Calibri" panose="020F0502020204030204" pitchFamily="34" charset="0"/>
                  </a:rPr>
                  <a:t> by 1989</a:t>
                </a:r>
                <a:r>
                  <a:rPr lang="en-GB" sz="1800" b="0" i="0" kern="1200" dirty="0">
                    <a:solidFill>
                      <a:schemeClr val="tx1"/>
                    </a:solidFill>
                    <a:effectLst/>
                    <a:latin typeface="Calibri" panose="020F0502020204030204" pitchFamily="34" charset="0"/>
                    <a:cs typeface="Calibri" panose="020F0502020204030204" pitchFamily="34" charset="0"/>
                  </a:rPr>
                  <a:t>.</a:t>
                </a:r>
              </a:p>
              <a:p>
                <a:r>
                  <a:rPr lang="en-GB" sz="1800" b="1" i="0" kern="1200" dirty="0">
                    <a:solidFill>
                      <a:schemeClr val="tx1"/>
                    </a:solidFill>
                    <a:effectLst/>
                    <a:latin typeface="Calibri" panose="020F0502020204030204" pitchFamily="34" charset="0"/>
                    <a:cs typeface="Calibri" panose="020F0502020204030204" pitchFamily="34" charset="0"/>
                  </a:rPr>
                  <a:t>Calculate the change in radiative forcing over this period and briefly explain what this value represents physically.</a:t>
                </a:r>
              </a:p>
            </p:txBody>
          </p:sp>
        </mc:Choice>
        <mc:Fallback xmlns="">
          <p:sp>
            <p:nvSpPr>
              <p:cNvPr id="8" name="TextBox 7">
                <a:extLst>
                  <a:ext uri="{FF2B5EF4-FFF2-40B4-BE49-F238E27FC236}">
                    <a16:creationId xmlns:a16="http://schemas.microsoft.com/office/drawing/2014/main" id="{FF39DF1C-998F-706C-8ACC-40416ED3D467}"/>
                  </a:ext>
                </a:extLst>
              </p:cNvPr>
              <p:cNvSpPr txBox="1">
                <a:spLocks noRot="1" noChangeAspect="1" noMove="1" noResize="1" noEditPoints="1" noAdjustHandles="1" noChangeArrowheads="1" noChangeShapeType="1" noTextEdit="1"/>
              </p:cNvSpPr>
              <p:nvPr/>
            </p:nvSpPr>
            <p:spPr>
              <a:xfrm>
                <a:off x="389465" y="1329323"/>
                <a:ext cx="11576758" cy="2099677"/>
              </a:xfrm>
              <a:prstGeom prst="rect">
                <a:avLst/>
              </a:prstGeom>
              <a:blipFill>
                <a:blip r:embed="rId4"/>
                <a:stretch>
                  <a:fillRect l="-438" t="-1198" b="-3593"/>
                </a:stretch>
              </a:blipFill>
            </p:spPr>
            <p:txBody>
              <a:bodyPr/>
              <a:lstStyle/>
              <a:p>
                <a:r>
                  <a:rPr lang="en-US">
                    <a:noFill/>
                  </a:rPr>
                  <a:t> </a:t>
                </a:r>
              </a:p>
            </p:txBody>
          </p:sp>
        </mc:Fallback>
      </mc:AlternateContent>
    </p:spTree>
    <p:extLst>
      <p:ext uri="{BB962C8B-B14F-4D97-AF65-F5344CB8AC3E}">
        <p14:creationId xmlns:p14="http://schemas.microsoft.com/office/powerpoint/2010/main" val="4204236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5A88F21-C809-E1F9-4224-64A5010E8F5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60D0A4E-BAE3-FA12-E8C6-602E7EA094F7}"/>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9A26C101-0899-0BEF-4E79-FE579F19FF10}"/>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Q7.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16BBABB-8304-D3B5-21B4-E6C495823798}"/>
                  </a:ext>
                </a:extLst>
              </p:cNvPr>
              <p:cNvSpPr txBox="1"/>
              <p:nvPr/>
            </p:nvSpPr>
            <p:spPr>
              <a:xfrm>
                <a:off x="389465" y="1329323"/>
                <a:ext cx="11576758" cy="5124544"/>
              </a:xfrm>
              <a:prstGeom prst="rect">
                <a:avLst/>
              </a:prstGeom>
              <a:noFill/>
            </p:spPr>
            <p:txBody>
              <a:bodyPr wrap="square">
                <a:spAutoFit/>
              </a:bodyPr>
              <a:lstStyle/>
              <a:p>
                <a:r>
                  <a:rPr lang="en-GB" sz="1800" b="0" i="0" kern="1200" dirty="0">
                    <a:solidFill>
                      <a:schemeClr val="bg1"/>
                    </a:solidFill>
                    <a:effectLst/>
                    <a:latin typeface="Calibri" panose="020F0502020204030204" pitchFamily="34" charset="0"/>
                    <a:cs typeface="Calibri" panose="020F0502020204030204" pitchFamily="34" charset="0"/>
                  </a:rPr>
                  <a:t>Radiative forcing due to changes in atmospheric CO₂ concentration can be approximated using the relationship:</a:t>
                </a:r>
              </a:p>
              <a:p>
                <a:pPr/>
                <a14:m>
                  <m:oMathPara xmlns:m="http://schemas.openxmlformats.org/officeDocument/2006/math">
                    <m:oMathParaPr>
                      <m:jc m:val="centerGroup"/>
                    </m:oMathParaPr>
                    <m:oMath xmlns:m="http://schemas.openxmlformats.org/officeDocument/2006/math">
                      <m:r>
                        <m:rPr>
                          <m:sty m:val="p"/>
                        </m:rPr>
                        <a:rPr lang="el-GR" sz="1800" kern="1200">
                          <a:solidFill>
                            <a:schemeClr val="bg1"/>
                          </a:solidFill>
                          <a:latin typeface="Cambria Math" panose="02040503050406030204" pitchFamily="18" charset="0"/>
                        </a:rPr>
                        <m:t>Δ</m:t>
                      </m:r>
                      <m:r>
                        <a:rPr lang="el-GR" sz="1800" i="1" kern="1200">
                          <a:solidFill>
                            <a:schemeClr val="bg1"/>
                          </a:solidFill>
                          <a:latin typeface="Cambria Math" panose="02040503050406030204" pitchFamily="18" charset="0"/>
                        </a:rPr>
                        <m:t>𝐹</m:t>
                      </m:r>
                      <m:r>
                        <a:rPr lang="el-GR" sz="1800" i="0" kern="1200">
                          <a:solidFill>
                            <a:schemeClr val="bg1"/>
                          </a:solidFill>
                          <a:latin typeface="Cambria Math" panose="02040503050406030204" pitchFamily="18" charset="0"/>
                        </a:rPr>
                        <m:t>=5.25×</m:t>
                      </m:r>
                      <m:func>
                        <m:funcPr>
                          <m:ctrlPr>
                            <a:rPr lang="ar-AE" sz="1800" i="1" kern="1200">
                              <a:solidFill>
                                <a:schemeClr val="bg1"/>
                              </a:solidFill>
                              <a:latin typeface="Cambria Math" panose="02040503050406030204" pitchFamily="18" charset="0"/>
                            </a:rPr>
                          </m:ctrlPr>
                        </m:funcPr>
                        <m:fName>
                          <m:r>
                            <m:rPr>
                              <m:sty m:val="p"/>
                            </m:rPr>
                            <a:rPr lang="en-GB" sz="1800" i="0" kern="1200">
                              <a:solidFill>
                                <a:schemeClr val="bg1"/>
                              </a:solidFill>
                              <a:latin typeface="Cambria Math" panose="02040503050406030204" pitchFamily="18" charset="0"/>
                            </a:rPr>
                            <m:t>ln</m:t>
                          </m:r>
                        </m:fName>
                        <m:e>
                          <m:d>
                            <m:dPr>
                              <m:ctrlPr>
                                <a:rPr lang="ar-AE" sz="1800" i="1" kern="1200">
                                  <a:solidFill>
                                    <a:schemeClr val="bg1"/>
                                  </a:solidFill>
                                  <a:latin typeface="Cambria Math" panose="02040503050406030204" pitchFamily="18" charset="0"/>
                                </a:rPr>
                              </m:ctrlPr>
                            </m:dPr>
                            <m:e>
                              <m:f>
                                <m:fPr>
                                  <m:ctrlPr>
                                    <a:rPr lang="ar-AE" sz="1800" i="1" kern="1200">
                                      <a:solidFill>
                                        <a:schemeClr val="bg1"/>
                                      </a:solidFill>
                                      <a:latin typeface="Cambria Math" panose="02040503050406030204" pitchFamily="18" charset="0"/>
                                    </a:rPr>
                                  </m:ctrlPr>
                                </m:fPr>
                                <m:num>
                                  <m:r>
                                    <a:rPr lang="ar-AE" sz="1800" i="1" kern="1200">
                                      <a:solidFill>
                                        <a:schemeClr val="bg1"/>
                                      </a:solidFill>
                                      <a:latin typeface="Cambria Math" panose="02040503050406030204" pitchFamily="18" charset="0"/>
                                    </a:rPr>
                                    <m:t>𝐶</m:t>
                                  </m:r>
                                  <m:d>
                                    <m:dPr>
                                      <m:ctrlPr>
                                        <a:rPr lang="ar-AE" sz="1800" i="1" kern="1200">
                                          <a:solidFill>
                                            <a:schemeClr val="bg1"/>
                                          </a:solidFill>
                                          <a:latin typeface="Cambria Math" panose="02040503050406030204" pitchFamily="18" charset="0"/>
                                        </a:rPr>
                                      </m:ctrlPr>
                                    </m:dPr>
                                    <m:e>
                                      <m:r>
                                        <a:rPr lang="ar-AE" sz="1800" i="1" kern="1200">
                                          <a:solidFill>
                                            <a:schemeClr val="bg1"/>
                                          </a:solidFill>
                                          <a:latin typeface="Cambria Math" panose="02040503050406030204" pitchFamily="18" charset="0"/>
                                        </a:rPr>
                                        <m:t>𝑡</m:t>
                                      </m:r>
                                    </m:e>
                                  </m:d>
                                </m:num>
                                <m:den>
                                  <m:sSub>
                                    <m:sSubPr>
                                      <m:ctrlPr>
                                        <a:rPr lang="ar-AE" sz="1800" i="1" kern="1200">
                                          <a:solidFill>
                                            <a:schemeClr val="bg1"/>
                                          </a:solidFill>
                                          <a:latin typeface="Cambria Math" panose="02040503050406030204" pitchFamily="18" charset="0"/>
                                        </a:rPr>
                                      </m:ctrlPr>
                                    </m:sSubPr>
                                    <m:e>
                                      <m:r>
                                        <a:rPr lang="ar-AE" sz="1800" i="1" kern="1200">
                                          <a:solidFill>
                                            <a:schemeClr val="bg1"/>
                                          </a:solidFill>
                                          <a:latin typeface="Cambria Math" panose="02040503050406030204" pitchFamily="18" charset="0"/>
                                        </a:rPr>
                                        <m:t>𝐶</m:t>
                                      </m:r>
                                    </m:e>
                                    <m:sub>
                                      <m:r>
                                        <a:rPr lang="ar-AE" sz="1800" i="0" kern="1200">
                                          <a:solidFill>
                                            <a:schemeClr val="bg1"/>
                                          </a:solidFill>
                                          <a:latin typeface="Cambria Math" panose="02040503050406030204" pitchFamily="18" charset="0"/>
                                        </a:rPr>
                                        <m:t>0</m:t>
                                      </m:r>
                                    </m:sub>
                                  </m:sSub>
                                </m:den>
                              </m:f>
                            </m:e>
                          </m:d>
                        </m:e>
                      </m:func>
                    </m:oMath>
                  </m:oMathPara>
                </a14:m>
                <a:endParaRPr lang="en-GB" dirty="0">
                  <a:solidFill>
                    <a:schemeClr val="bg1"/>
                  </a:solidFill>
                  <a:latin typeface="Calibri" panose="020F0502020204030204" pitchFamily="34" charset="0"/>
                  <a:cs typeface="Calibri" panose="020F0502020204030204" pitchFamily="34" charset="0"/>
                </a:endParaRPr>
              </a:p>
              <a:p>
                <a:r>
                  <a:rPr lang="en-GB" sz="1800" b="0" i="0" kern="1200" dirty="0">
                    <a:solidFill>
                      <a:schemeClr val="bg1"/>
                    </a:solidFill>
                    <a:effectLst/>
                    <a:latin typeface="Calibri" panose="020F0502020204030204" pitchFamily="34" charset="0"/>
                    <a:cs typeface="Calibri" panose="020F0502020204030204" pitchFamily="34" charset="0"/>
                  </a:rPr>
                  <a:t>where:</a:t>
                </a:r>
              </a:p>
              <a:p>
                <a14:m>
                  <m:oMath xmlns:m="http://schemas.openxmlformats.org/officeDocument/2006/math">
                    <m:sSub>
                      <m:sSubPr>
                        <m:ctrlPr>
                          <a:rPr lang="ar-AE" sz="1800" i="1" kern="1200">
                            <a:solidFill>
                              <a:schemeClr val="bg1"/>
                            </a:solidFill>
                            <a:latin typeface="Cambria Math" panose="02040503050406030204" pitchFamily="18" charset="0"/>
                          </a:rPr>
                        </m:ctrlPr>
                      </m:sSubPr>
                      <m:e>
                        <m:r>
                          <a:rPr lang="ar-AE" sz="1800" i="1" kern="1200">
                            <a:solidFill>
                              <a:schemeClr val="bg1"/>
                            </a:solidFill>
                            <a:latin typeface="Cambria Math" panose="02040503050406030204" pitchFamily="18" charset="0"/>
                          </a:rPr>
                          <m:t>𝐶</m:t>
                        </m:r>
                      </m:e>
                      <m:sub>
                        <m:r>
                          <a:rPr lang="ar-AE" sz="1800" i="0" kern="1200">
                            <a:solidFill>
                              <a:schemeClr val="bg1"/>
                            </a:solidFill>
                            <a:latin typeface="Cambria Math" panose="02040503050406030204" pitchFamily="18" charset="0"/>
                          </a:rPr>
                          <m:t>0</m:t>
                        </m:r>
                      </m:sub>
                    </m:sSub>
                  </m:oMath>
                </a14:m>
                <a:r>
                  <a:rPr lang="ar-AE" sz="1800" b="0" i="0" kern="1200" dirty="0">
                    <a:solidFill>
                      <a:schemeClr val="bg1"/>
                    </a:solidFill>
                    <a:effectLst/>
                    <a:latin typeface="Calibri" panose="020F0502020204030204" pitchFamily="34" charset="0"/>
                    <a:cs typeface="Calibri" panose="020F0502020204030204" pitchFamily="34" charset="0"/>
                  </a:rPr>
                  <a:t> </a:t>
                </a:r>
                <a:r>
                  <a:rPr lang="en-GB" sz="1800" b="0" i="0" kern="1200" dirty="0">
                    <a:solidFill>
                      <a:schemeClr val="bg1"/>
                    </a:solidFill>
                    <a:effectLst/>
                    <a:latin typeface="Calibri" panose="020F0502020204030204" pitchFamily="34" charset="0"/>
                    <a:cs typeface="Calibri" panose="020F0502020204030204" pitchFamily="34" charset="0"/>
                  </a:rPr>
                  <a:t>is the initial CO₂ concentration (</a:t>
                </a:r>
                <a:r>
                  <a:rPr lang="en-GB" sz="1800" b="0" i="0" kern="1200" dirty="0" err="1">
                    <a:solidFill>
                      <a:schemeClr val="bg1"/>
                    </a:solidFill>
                    <a:effectLst/>
                    <a:latin typeface="Calibri" panose="020F0502020204030204" pitchFamily="34" charset="0"/>
                    <a:cs typeface="Calibri" panose="020F0502020204030204" pitchFamily="34" charset="0"/>
                  </a:rPr>
                  <a:t>ppmv</a:t>
                </a:r>
                <a:r>
                  <a:rPr lang="en-GB" sz="1800" b="0" i="0" kern="1200" dirty="0">
                    <a:solidFill>
                      <a:schemeClr val="bg1"/>
                    </a:solidFill>
                    <a:effectLst/>
                    <a:latin typeface="Calibri" panose="020F0502020204030204" pitchFamily="34" charset="0"/>
                    <a:cs typeface="Calibri" panose="020F0502020204030204" pitchFamily="34" charset="0"/>
                  </a:rPr>
                  <a:t>), </a:t>
                </a:r>
                <a14:m>
                  <m:oMath xmlns:m="http://schemas.openxmlformats.org/officeDocument/2006/math">
                    <m:r>
                      <a:rPr lang="en-GB" sz="1800" i="1" kern="1200">
                        <a:solidFill>
                          <a:schemeClr val="bg1"/>
                        </a:solidFill>
                        <a:latin typeface="Cambria Math" panose="02040503050406030204" pitchFamily="18" charset="0"/>
                      </a:rPr>
                      <m:t>𝐶</m:t>
                    </m:r>
                    <m:d>
                      <m:dPr>
                        <m:ctrlPr>
                          <a:rPr lang="ar-AE" sz="1800" i="1" kern="1200">
                            <a:solidFill>
                              <a:schemeClr val="bg1"/>
                            </a:solidFill>
                            <a:latin typeface="Cambria Math" panose="02040503050406030204" pitchFamily="18" charset="0"/>
                          </a:rPr>
                        </m:ctrlPr>
                      </m:dPr>
                      <m:e>
                        <m:r>
                          <a:rPr lang="ar-AE" sz="1800" i="1" kern="1200">
                            <a:solidFill>
                              <a:schemeClr val="bg1"/>
                            </a:solidFill>
                            <a:latin typeface="Cambria Math" panose="02040503050406030204" pitchFamily="18" charset="0"/>
                          </a:rPr>
                          <m:t>𝑡</m:t>
                        </m:r>
                      </m:e>
                    </m:d>
                  </m:oMath>
                </a14:m>
                <a:r>
                  <a:rPr lang="ar-AE" sz="1800" b="0" i="0" kern="1200" dirty="0">
                    <a:solidFill>
                      <a:schemeClr val="bg1"/>
                    </a:solidFill>
                    <a:effectLst/>
                    <a:latin typeface="Calibri" panose="020F0502020204030204" pitchFamily="34" charset="0"/>
                    <a:cs typeface="Calibri" panose="020F0502020204030204" pitchFamily="34" charset="0"/>
                  </a:rPr>
                  <a:t> </a:t>
                </a:r>
                <a:r>
                  <a:rPr lang="en-GB" sz="1800" b="0" i="0" kern="1200" dirty="0">
                    <a:solidFill>
                      <a:schemeClr val="bg1"/>
                    </a:solidFill>
                    <a:effectLst/>
                    <a:latin typeface="Calibri" panose="020F0502020204030204" pitchFamily="34" charset="0"/>
                    <a:cs typeface="Calibri" panose="020F0502020204030204" pitchFamily="34" charset="0"/>
                  </a:rPr>
                  <a:t>is the later CO₂ concentration (</a:t>
                </a:r>
                <a:r>
                  <a:rPr lang="en-GB" sz="1800" b="0" i="0" kern="1200" dirty="0" err="1">
                    <a:solidFill>
                      <a:schemeClr val="bg1"/>
                    </a:solidFill>
                    <a:effectLst/>
                    <a:latin typeface="Calibri" panose="020F0502020204030204" pitchFamily="34" charset="0"/>
                    <a:cs typeface="Calibri" panose="020F0502020204030204" pitchFamily="34" charset="0"/>
                  </a:rPr>
                  <a:t>ppmv</a:t>
                </a:r>
                <a:r>
                  <a:rPr lang="en-GB" sz="1800" b="0" i="0" kern="1200" dirty="0">
                    <a:solidFill>
                      <a:schemeClr val="bg1"/>
                    </a:solidFill>
                    <a:effectLst/>
                    <a:latin typeface="Calibri" panose="020F0502020204030204" pitchFamily="34" charset="0"/>
                    <a:cs typeface="Calibri" panose="020F0502020204030204" pitchFamily="34" charset="0"/>
                  </a:rPr>
                  <a:t>), </a:t>
                </a:r>
                <a14:m>
                  <m:oMath xmlns:m="http://schemas.openxmlformats.org/officeDocument/2006/math">
                    <m:r>
                      <m:rPr>
                        <m:sty m:val="p"/>
                      </m:rPr>
                      <a:rPr lang="el-GR" sz="1800" kern="1200">
                        <a:solidFill>
                          <a:schemeClr val="bg1"/>
                        </a:solidFill>
                        <a:latin typeface="Cambria Math" panose="02040503050406030204" pitchFamily="18" charset="0"/>
                      </a:rPr>
                      <m:t>Δ</m:t>
                    </m:r>
                    <m:r>
                      <a:rPr lang="el-GR" sz="1800" i="1" kern="1200">
                        <a:solidFill>
                          <a:schemeClr val="bg1"/>
                        </a:solidFill>
                        <a:latin typeface="Cambria Math" panose="02040503050406030204" pitchFamily="18" charset="0"/>
                      </a:rPr>
                      <m:t>𝐹</m:t>
                    </m:r>
                  </m:oMath>
                </a14:m>
                <a:r>
                  <a:rPr lang="el-GR" sz="1800" b="0" i="0" kern="1200" dirty="0">
                    <a:solidFill>
                      <a:schemeClr val="bg1"/>
                    </a:solidFill>
                    <a:effectLst/>
                    <a:latin typeface="Calibri" panose="020F0502020204030204" pitchFamily="34" charset="0"/>
                    <a:cs typeface="Calibri" panose="020F0502020204030204" pitchFamily="34" charset="0"/>
                  </a:rPr>
                  <a:t> </a:t>
                </a:r>
                <a:r>
                  <a:rPr lang="en-GB" sz="1800" b="0" i="0" kern="1200" dirty="0">
                    <a:solidFill>
                      <a:schemeClr val="bg1"/>
                    </a:solidFill>
                    <a:effectLst/>
                    <a:latin typeface="Calibri" panose="020F0502020204030204" pitchFamily="34" charset="0"/>
                    <a:cs typeface="Calibri" panose="020F0502020204030204" pitchFamily="34" charset="0"/>
                  </a:rPr>
                  <a:t>is the radiative forcing in W m⁻².</a:t>
                </a:r>
              </a:p>
              <a:p>
                <a:r>
                  <a:rPr lang="en-GB" sz="1800" b="0" i="0" kern="1200" dirty="0">
                    <a:solidFill>
                      <a:schemeClr val="bg1"/>
                    </a:solidFill>
                    <a:effectLst/>
                    <a:latin typeface="Calibri" panose="020F0502020204030204" pitchFamily="34" charset="0"/>
                    <a:cs typeface="Calibri" panose="020F0502020204030204" pitchFamily="34" charset="0"/>
                  </a:rPr>
                  <a:t>Atmospheric CO₂ concentration was </a:t>
                </a:r>
                <a:r>
                  <a:rPr lang="en-GB" sz="1800" b="1" i="0" kern="1200" dirty="0">
                    <a:solidFill>
                      <a:schemeClr val="bg1"/>
                    </a:solidFill>
                    <a:effectLst/>
                    <a:latin typeface="Calibri" panose="020F0502020204030204" pitchFamily="34" charset="0"/>
                    <a:cs typeface="Calibri" panose="020F0502020204030204" pitchFamily="34" charset="0"/>
                  </a:rPr>
                  <a:t>336.8 </a:t>
                </a:r>
                <a:r>
                  <a:rPr lang="en-GB" sz="1800" b="1" i="0" kern="1200" dirty="0" err="1">
                    <a:solidFill>
                      <a:schemeClr val="bg1"/>
                    </a:solidFill>
                    <a:effectLst/>
                    <a:latin typeface="Calibri" panose="020F0502020204030204" pitchFamily="34" charset="0"/>
                    <a:cs typeface="Calibri" panose="020F0502020204030204" pitchFamily="34" charset="0"/>
                  </a:rPr>
                  <a:t>ppmv</a:t>
                </a:r>
                <a:r>
                  <a:rPr lang="en-GB" sz="1800" b="1" i="0" kern="1200" dirty="0">
                    <a:solidFill>
                      <a:schemeClr val="bg1"/>
                    </a:solidFill>
                    <a:effectLst/>
                    <a:latin typeface="Calibri" panose="020F0502020204030204" pitchFamily="34" charset="0"/>
                    <a:cs typeface="Calibri" panose="020F0502020204030204" pitchFamily="34" charset="0"/>
                  </a:rPr>
                  <a:t> in 1979</a:t>
                </a:r>
                <a:r>
                  <a:rPr lang="en-GB" sz="1800" b="0" i="0" kern="1200" dirty="0">
                    <a:solidFill>
                      <a:schemeClr val="bg1"/>
                    </a:solidFill>
                    <a:effectLst/>
                    <a:latin typeface="Calibri" panose="020F0502020204030204" pitchFamily="34" charset="0"/>
                    <a:cs typeface="Calibri" panose="020F0502020204030204" pitchFamily="34" charset="0"/>
                  </a:rPr>
                  <a:t> and increased to </a:t>
                </a:r>
                <a:r>
                  <a:rPr lang="en-GB" sz="1800" b="1" i="0" kern="1200" dirty="0">
                    <a:solidFill>
                      <a:schemeClr val="bg1"/>
                    </a:solidFill>
                    <a:effectLst/>
                    <a:latin typeface="Calibri" panose="020F0502020204030204" pitchFamily="34" charset="0"/>
                    <a:cs typeface="Calibri" panose="020F0502020204030204" pitchFamily="34" charset="0"/>
                  </a:rPr>
                  <a:t>352.8 </a:t>
                </a:r>
                <a:r>
                  <a:rPr lang="en-GB" sz="1800" b="1" i="0" kern="1200" dirty="0" err="1">
                    <a:solidFill>
                      <a:schemeClr val="bg1"/>
                    </a:solidFill>
                    <a:effectLst/>
                    <a:latin typeface="Calibri" panose="020F0502020204030204" pitchFamily="34" charset="0"/>
                    <a:cs typeface="Calibri" panose="020F0502020204030204" pitchFamily="34" charset="0"/>
                  </a:rPr>
                  <a:t>ppmv</a:t>
                </a:r>
                <a:r>
                  <a:rPr lang="en-GB" sz="1800" b="1" i="0" kern="1200" dirty="0">
                    <a:solidFill>
                      <a:schemeClr val="bg1"/>
                    </a:solidFill>
                    <a:effectLst/>
                    <a:latin typeface="Calibri" panose="020F0502020204030204" pitchFamily="34" charset="0"/>
                    <a:cs typeface="Calibri" panose="020F0502020204030204" pitchFamily="34" charset="0"/>
                  </a:rPr>
                  <a:t> by 1989</a:t>
                </a:r>
                <a:r>
                  <a:rPr lang="en-GB" sz="1800" b="0" i="0" kern="1200" dirty="0">
                    <a:solidFill>
                      <a:schemeClr val="bg1"/>
                    </a:solidFill>
                    <a:effectLst/>
                    <a:latin typeface="Calibri" panose="020F0502020204030204" pitchFamily="34" charset="0"/>
                    <a:cs typeface="Calibri" panose="020F0502020204030204" pitchFamily="34" charset="0"/>
                  </a:rPr>
                  <a:t>.</a:t>
                </a:r>
              </a:p>
              <a:p>
                <a:r>
                  <a:rPr lang="en-GB" sz="1800" b="1" i="0" kern="1200" dirty="0">
                    <a:solidFill>
                      <a:schemeClr val="bg1"/>
                    </a:solidFill>
                    <a:effectLst/>
                    <a:latin typeface="Calibri" panose="020F0502020204030204" pitchFamily="34" charset="0"/>
                    <a:cs typeface="Calibri" panose="020F0502020204030204" pitchFamily="34" charset="0"/>
                  </a:rPr>
                  <a:t>Calculate the change in radiative forcing over this period and briefly explain what this value represents physically.</a:t>
                </a:r>
              </a:p>
              <a:p>
                <a:endParaRPr lang="en-GB" b="1" dirty="0">
                  <a:latin typeface="Calibri" panose="020F0502020204030204" pitchFamily="34" charset="0"/>
                  <a:cs typeface="Calibri" panose="020F0502020204030204" pitchFamily="34" charset="0"/>
                </a:endParaRPr>
              </a:p>
              <a:p>
                <a:r>
                  <a:rPr lang="en-GB" dirty="0">
                    <a:solidFill>
                      <a:srgbClr val="FF0000"/>
                    </a:solidFill>
                    <a:latin typeface="Calibri" panose="020F0502020204030204" pitchFamily="34" charset="0"/>
                    <a:cs typeface="Calibri" panose="020F0502020204030204" pitchFamily="34" charset="0"/>
                  </a:rPr>
                  <a:t>Using the radiative forcing equation:</a:t>
                </a:r>
              </a:p>
              <a:p>
                <a:pPr/>
                <a14:m>
                  <m:oMathPara xmlns:m="http://schemas.openxmlformats.org/officeDocument/2006/math">
                    <m:oMathParaPr>
                      <m:jc m:val="centerGroup"/>
                    </m:oMathParaPr>
                    <m:oMath xmlns:m="http://schemas.openxmlformats.org/officeDocument/2006/math">
                      <m:r>
                        <m:rPr>
                          <m:sty m:val="p"/>
                        </m:rPr>
                        <a:rPr lang="el-GR">
                          <a:solidFill>
                            <a:srgbClr val="FF0000"/>
                          </a:solidFill>
                          <a:latin typeface="Cambria Math" panose="02040503050406030204" pitchFamily="18" charset="0"/>
                        </a:rPr>
                        <m:t>Δ</m:t>
                      </m:r>
                      <m:r>
                        <a:rPr lang="el-GR" i="1">
                          <a:solidFill>
                            <a:srgbClr val="FF0000"/>
                          </a:solidFill>
                          <a:latin typeface="Cambria Math" panose="02040503050406030204" pitchFamily="18" charset="0"/>
                        </a:rPr>
                        <m:t>𝐹</m:t>
                      </m:r>
                      <m:r>
                        <a:rPr lang="el-GR">
                          <a:solidFill>
                            <a:srgbClr val="FF0000"/>
                          </a:solidFill>
                          <a:latin typeface="Cambria Math" panose="02040503050406030204" pitchFamily="18" charset="0"/>
                        </a:rPr>
                        <m:t>=5.25×</m:t>
                      </m:r>
                      <m:func>
                        <m:funcPr>
                          <m:ctrlPr>
                            <a:rPr lang="ar-AE" i="1">
                              <a:solidFill>
                                <a:srgbClr val="FF0000"/>
                              </a:solidFill>
                              <a:latin typeface="Cambria Math" panose="02040503050406030204" pitchFamily="18" charset="0"/>
                            </a:rPr>
                          </m:ctrlPr>
                        </m:funcPr>
                        <m:fName>
                          <m:r>
                            <m:rPr>
                              <m:sty m:val="p"/>
                            </m:rPr>
                            <a:rPr lang="en-GB">
                              <a:solidFill>
                                <a:srgbClr val="FF0000"/>
                              </a:solidFill>
                              <a:latin typeface="Cambria Math" panose="02040503050406030204" pitchFamily="18" charset="0"/>
                            </a:rPr>
                            <m:t>ln</m:t>
                          </m:r>
                        </m:fName>
                        <m:e>
                          <m:d>
                            <m:dPr>
                              <m:ctrlPr>
                                <a:rPr lang="ar-AE" i="1">
                                  <a:solidFill>
                                    <a:srgbClr val="FF0000"/>
                                  </a:solidFill>
                                  <a:latin typeface="Cambria Math" panose="02040503050406030204" pitchFamily="18" charset="0"/>
                                </a:rPr>
                              </m:ctrlPr>
                            </m:dPr>
                            <m:e>
                              <m:f>
                                <m:fPr>
                                  <m:ctrlPr>
                                    <a:rPr lang="ar-AE" i="1">
                                      <a:solidFill>
                                        <a:srgbClr val="FF0000"/>
                                      </a:solidFill>
                                      <a:latin typeface="Cambria Math" panose="02040503050406030204" pitchFamily="18" charset="0"/>
                                    </a:rPr>
                                  </m:ctrlPr>
                                </m:fPr>
                                <m:num>
                                  <m:r>
                                    <a:rPr lang="ar-AE">
                                      <a:solidFill>
                                        <a:srgbClr val="FF0000"/>
                                      </a:solidFill>
                                      <a:latin typeface="Cambria Math" panose="02040503050406030204" pitchFamily="18" charset="0"/>
                                    </a:rPr>
                                    <m:t>352.8</m:t>
                                  </m:r>
                                </m:num>
                                <m:den>
                                  <m:r>
                                    <a:rPr lang="ar-AE">
                                      <a:solidFill>
                                        <a:srgbClr val="FF0000"/>
                                      </a:solidFill>
                                      <a:latin typeface="Cambria Math" panose="02040503050406030204" pitchFamily="18" charset="0"/>
                                    </a:rPr>
                                    <m:t>336.8</m:t>
                                  </m:r>
                                </m:den>
                              </m:f>
                            </m:e>
                          </m:d>
                        </m:e>
                      </m:func>
                    </m:oMath>
                  </m:oMathPara>
                </a14:m>
                <a:endParaRPr lang="ar-AE" dirty="0">
                  <a:solidFill>
                    <a:srgbClr val="FF0000"/>
                  </a:solidFill>
                  <a:latin typeface="Calibri" panose="020F0502020204030204" pitchFamily="34" charset="0"/>
                  <a:cs typeface="Calibri" panose="020F0502020204030204" pitchFamily="34" charset="0"/>
                </a:endParaRPr>
              </a:p>
              <a:p>
                <a:pPr/>
                <a14:m>
                  <m:oMathPara xmlns:m="http://schemas.openxmlformats.org/officeDocument/2006/math">
                    <m:oMathParaPr>
                      <m:jc m:val="centerGroup"/>
                    </m:oMathParaPr>
                    <m:oMath xmlns:m="http://schemas.openxmlformats.org/officeDocument/2006/math">
                      <m:r>
                        <m:rPr>
                          <m:sty m:val="p"/>
                        </m:rPr>
                        <a:rPr lang="el-GR">
                          <a:solidFill>
                            <a:srgbClr val="FF0000"/>
                          </a:solidFill>
                          <a:latin typeface="Cambria Math" panose="02040503050406030204" pitchFamily="18" charset="0"/>
                        </a:rPr>
                        <m:t>Δ</m:t>
                      </m:r>
                      <m:r>
                        <a:rPr lang="el-GR" i="1">
                          <a:solidFill>
                            <a:srgbClr val="FF0000"/>
                          </a:solidFill>
                          <a:latin typeface="Cambria Math" panose="02040503050406030204" pitchFamily="18" charset="0"/>
                        </a:rPr>
                        <m:t>𝐹</m:t>
                      </m:r>
                      <m:r>
                        <a:rPr lang="el-GR">
                          <a:solidFill>
                            <a:srgbClr val="FF0000"/>
                          </a:solidFill>
                          <a:latin typeface="Cambria Math" panose="02040503050406030204" pitchFamily="18" charset="0"/>
                        </a:rPr>
                        <m:t>=5.25×</m:t>
                      </m:r>
                      <m:r>
                        <m:rPr>
                          <m:sty m:val="p"/>
                        </m:rPr>
                        <a:rPr lang="en-GB">
                          <a:solidFill>
                            <a:srgbClr val="FF0000"/>
                          </a:solidFill>
                          <a:latin typeface="Cambria Math" panose="02040503050406030204" pitchFamily="18" charset="0"/>
                        </a:rPr>
                        <m:t>ln</m:t>
                      </m:r>
                      <m:r>
                        <a:rPr lang="en-GB">
                          <a:solidFill>
                            <a:srgbClr val="FF0000"/>
                          </a:solidFill>
                          <a:latin typeface="Cambria Math" panose="02040503050406030204" pitchFamily="18" charset="0"/>
                        </a:rPr>
                        <m:t>⁡</m:t>
                      </m:r>
                      <m:d>
                        <m:dPr>
                          <m:ctrlPr>
                            <a:rPr lang="ar-AE" i="1">
                              <a:solidFill>
                                <a:srgbClr val="FF0000"/>
                              </a:solidFill>
                              <a:latin typeface="Cambria Math" panose="02040503050406030204" pitchFamily="18" charset="0"/>
                            </a:rPr>
                          </m:ctrlPr>
                        </m:dPr>
                        <m:e>
                          <m:r>
                            <a:rPr lang="ar-AE">
                              <a:solidFill>
                                <a:srgbClr val="FF0000"/>
                              </a:solidFill>
                              <a:latin typeface="Cambria Math" panose="02040503050406030204" pitchFamily="18" charset="0"/>
                            </a:rPr>
                            <m:t>1.047</m:t>
                          </m:r>
                        </m:e>
                      </m:d>
                    </m:oMath>
                  </m:oMathPara>
                </a14:m>
                <a:endParaRPr lang="ar-AE" dirty="0">
                  <a:solidFill>
                    <a:srgbClr val="FF0000"/>
                  </a:solidFill>
                  <a:latin typeface="Calibri" panose="020F0502020204030204" pitchFamily="34" charset="0"/>
                  <a:cs typeface="Calibri" panose="020F0502020204030204" pitchFamily="34" charset="0"/>
                </a:endParaRPr>
              </a:p>
              <a:p>
                <a:pPr/>
                <a14:m>
                  <m:oMathPara xmlns:m="http://schemas.openxmlformats.org/officeDocument/2006/math">
                    <m:oMathParaPr>
                      <m:jc m:val="centerGroup"/>
                    </m:oMathParaPr>
                    <m:oMath xmlns:m="http://schemas.openxmlformats.org/officeDocument/2006/math">
                      <m:r>
                        <m:rPr>
                          <m:sty m:val="p"/>
                        </m:rPr>
                        <a:rPr lang="el-GR">
                          <a:solidFill>
                            <a:srgbClr val="FF0000"/>
                          </a:solidFill>
                          <a:latin typeface="Cambria Math" panose="02040503050406030204" pitchFamily="18" charset="0"/>
                        </a:rPr>
                        <m:t>Δ</m:t>
                      </m:r>
                      <m:r>
                        <a:rPr lang="el-GR" i="1">
                          <a:solidFill>
                            <a:srgbClr val="FF0000"/>
                          </a:solidFill>
                          <a:latin typeface="Cambria Math" panose="02040503050406030204" pitchFamily="18" charset="0"/>
                        </a:rPr>
                        <m:t>𝐹</m:t>
                      </m:r>
                      <m:r>
                        <a:rPr lang="el-GR">
                          <a:solidFill>
                            <a:srgbClr val="FF0000"/>
                          </a:solidFill>
                          <a:latin typeface="Cambria Math" panose="02040503050406030204" pitchFamily="18" charset="0"/>
                        </a:rPr>
                        <m:t>=5.25×0.047</m:t>
                      </m:r>
                    </m:oMath>
                  </m:oMathPara>
                </a14:m>
                <a:endParaRPr lang="el-GR" dirty="0">
                  <a:solidFill>
                    <a:srgbClr val="FF0000"/>
                  </a:solidFill>
                  <a:latin typeface="Calibri" panose="020F0502020204030204" pitchFamily="34" charset="0"/>
                  <a:cs typeface="Calibri" panose="020F0502020204030204" pitchFamily="34" charset="0"/>
                </a:endParaRPr>
              </a:p>
              <a:p>
                <a:pPr/>
                <a14:m>
                  <m:oMathPara xmlns:m="http://schemas.openxmlformats.org/officeDocument/2006/math">
                    <m:oMathParaPr>
                      <m:jc m:val="centerGroup"/>
                    </m:oMathParaPr>
                    <m:oMath xmlns:m="http://schemas.openxmlformats.org/officeDocument/2006/math">
                      <m:r>
                        <m:rPr>
                          <m:sty m:val="p"/>
                        </m:rPr>
                        <a:rPr lang="el-GR">
                          <a:solidFill>
                            <a:srgbClr val="FF0000"/>
                          </a:solidFill>
                          <a:latin typeface="Cambria Math" panose="02040503050406030204" pitchFamily="18" charset="0"/>
                        </a:rPr>
                        <m:t>Δ</m:t>
                      </m:r>
                      <m:r>
                        <a:rPr lang="el-GR" i="1">
                          <a:solidFill>
                            <a:srgbClr val="FF0000"/>
                          </a:solidFill>
                          <a:latin typeface="Cambria Math" panose="02040503050406030204" pitchFamily="18" charset="0"/>
                        </a:rPr>
                        <m:t>𝐹</m:t>
                      </m:r>
                      <m:r>
                        <a:rPr lang="el-GR">
                          <a:solidFill>
                            <a:srgbClr val="FF0000"/>
                          </a:solidFill>
                          <a:latin typeface="Cambria Math" panose="02040503050406030204" pitchFamily="18" charset="0"/>
                        </a:rPr>
                        <m:t>≈0.25</m:t>
                      </m:r>
                      <m:r>
                        <m:rPr>
                          <m:nor/>
                        </m:rPr>
                        <a:rPr lang="el-GR" i="1">
                          <a:solidFill>
                            <a:srgbClr val="FF0000"/>
                          </a:solidFill>
                          <a:latin typeface="Calibri" panose="020F0502020204030204" pitchFamily="34" charset="0"/>
                          <a:cs typeface="Calibri" panose="020F0502020204030204" pitchFamily="34" charset="0"/>
                        </a:rPr>
                        <m:t> </m:t>
                      </m:r>
                      <m:sSup>
                        <m:sSupPr>
                          <m:ctrlPr>
                            <a:rPr lang="ar-AE" i="1">
                              <a:solidFill>
                                <a:srgbClr val="FF0000"/>
                              </a:solidFill>
                              <a:latin typeface="Cambria Math" panose="02040503050406030204" pitchFamily="18" charset="0"/>
                            </a:rPr>
                          </m:ctrlPr>
                        </m:sSupPr>
                        <m:e>
                          <m:r>
                            <m:rPr>
                              <m:nor/>
                            </m:rPr>
                            <a:rPr lang="en-GB" i="1">
                              <a:solidFill>
                                <a:srgbClr val="FF0000"/>
                              </a:solidFill>
                              <a:latin typeface="Calibri" panose="020F0502020204030204" pitchFamily="34" charset="0"/>
                              <a:cs typeface="Calibri" panose="020F0502020204030204" pitchFamily="34" charset="0"/>
                            </a:rPr>
                            <m:t>W</m:t>
                          </m:r>
                          <m:r>
                            <m:rPr>
                              <m:nor/>
                            </m:rPr>
                            <a:rPr lang="en-GB" i="1">
                              <a:solidFill>
                                <a:srgbClr val="FF0000"/>
                              </a:solidFill>
                              <a:latin typeface="Calibri" panose="020F0502020204030204" pitchFamily="34" charset="0"/>
                              <a:cs typeface="Calibri" panose="020F0502020204030204" pitchFamily="34" charset="0"/>
                            </a:rPr>
                            <m:t> </m:t>
                          </m:r>
                          <m:r>
                            <m:rPr>
                              <m:nor/>
                            </m:rPr>
                            <a:rPr lang="en-GB" i="1">
                              <a:solidFill>
                                <a:srgbClr val="FF0000"/>
                              </a:solidFill>
                              <a:latin typeface="Calibri" panose="020F0502020204030204" pitchFamily="34" charset="0"/>
                              <a:cs typeface="Calibri" panose="020F0502020204030204" pitchFamily="34" charset="0"/>
                            </a:rPr>
                            <m:t>m</m:t>
                          </m:r>
                        </m:e>
                        <m:sup>
                          <m:r>
                            <a:rPr lang="ar-AE">
                              <a:solidFill>
                                <a:srgbClr val="FF0000"/>
                              </a:solidFill>
                              <a:latin typeface="Cambria Math" panose="02040503050406030204" pitchFamily="18" charset="0"/>
                            </a:rPr>
                            <m:t>−2</m:t>
                          </m:r>
                        </m:sup>
                      </m:sSup>
                    </m:oMath>
                  </m:oMathPara>
                </a14:m>
                <a:endParaRPr lang="ar-AE" dirty="0">
                  <a:solidFill>
                    <a:srgbClr val="FF0000"/>
                  </a:solidFill>
                  <a:latin typeface="Calibri" panose="020F0502020204030204" pitchFamily="34" charset="0"/>
                  <a:cs typeface="Calibri" panose="020F0502020204030204" pitchFamily="34" charset="0"/>
                </a:endParaRPr>
              </a:p>
              <a:p>
                <a:endParaRPr lang="en-GB" dirty="0">
                  <a:solidFill>
                    <a:srgbClr val="FF0000"/>
                  </a:solidFill>
                  <a:latin typeface="Calibri" panose="020F0502020204030204" pitchFamily="34" charset="0"/>
                  <a:cs typeface="Calibri" panose="020F0502020204030204" pitchFamily="34" charset="0"/>
                </a:endParaRPr>
              </a:p>
              <a:p>
                <a:r>
                  <a:rPr lang="en-GB" dirty="0">
                    <a:solidFill>
                      <a:srgbClr val="FF0000"/>
                    </a:solidFill>
                    <a:latin typeface="Calibri" panose="020F0502020204030204" pitchFamily="34" charset="0"/>
                    <a:cs typeface="Calibri" panose="020F0502020204030204" pitchFamily="34" charset="0"/>
                  </a:rPr>
                  <a:t>This value represents an increase in net downward radiative flux due to rising CO₂ concentrations over the decade. In physical terms, it means that less outgoing longwave radiation is escaping to space, leading to a positive energy imbalance that drives surface warming</a:t>
                </a:r>
              </a:p>
            </p:txBody>
          </p:sp>
        </mc:Choice>
        <mc:Fallback xmlns="">
          <p:sp>
            <p:nvSpPr>
              <p:cNvPr id="5" name="TextBox 4">
                <a:extLst>
                  <a:ext uri="{FF2B5EF4-FFF2-40B4-BE49-F238E27FC236}">
                    <a16:creationId xmlns:a16="http://schemas.microsoft.com/office/drawing/2014/main" id="{E16BBABB-8304-D3B5-21B4-E6C495823798}"/>
                  </a:ext>
                </a:extLst>
              </p:cNvPr>
              <p:cNvSpPr txBox="1">
                <a:spLocks noRot="1" noChangeAspect="1" noMove="1" noResize="1" noEditPoints="1" noAdjustHandles="1" noChangeArrowheads="1" noChangeShapeType="1" noTextEdit="1"/>
              </p:cNvSpPr>
              <p:nvPr/>
            </p:nvSpPr>
            <p:spPr>
              <a:xfrm>
                <a:off x="389465" y="1329323"/>
                <a:ext cx="11576758" cy="5124544"/>
              </a:xfrm>
              <a:prstGeom prst="rect">
                <a:avLst/>
              </a:prstGeom>
              <a:blipFill>
                <a:blip r:embed="rId5"/>
                <a:stretch>
                  <a:fillRect l="-438" t="-494" r="-329" b="-988"/>
                </a:stretch>
              </a:blipFill>
            </p:spPr>
            <p:txBody>
              <a:bodyPr/>
              <a:lstStyle/>
              <a:p>
                <a:r>
                  <a:rPr lang="en-US">
                    <a:noFill/>
                  </a:rPr>
                  <a:t> </a:t>
                </a:r>
              </a:p>
            </p:txBody>
          </p:sp>
        </mc:Fallback>
      </mc:AlternateContent>
    </p:spTree>
    <p:extLst>
      <p:ext uri="{BB962C8B-B14F-4D97-AF65-F5344CB8AC3E}">
        <p14:creationId xmlns:p14="http://schemas.microsoft.com/office/powerpoint/2010/main" val="632216886"/>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F72B-A4E2-2B5E-27FA-1DE6D6CF8FF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1734B7C-FAFA-53E4-3AEB-E25DA513B5C1}"/>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37BA5DDB-8C21-F8BD-B056-F69F3C57E542}"/>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Q8.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9DD4FFF-F791-1A91-E62C-8E3247F81F01}"/>
                  </a:ext>
                </a:extLst>
              </p:cNvPr>
              <p:cNvSpPr txBox="1"/>
              <p:nvPr/>
            </p:nvSpPr>
            <p:spPr>
              <a:xfrm>
                <a:off x="389465" y="1329323"/>
                <a:ext cx="11576758" cy="164731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Using the same radiative forcing relationship: </a:t>
                </a:r>
                <a14:m>
                  <m:oMath xmlns:m="http://schemas.openxmlformats.org/officeDocument/2006/math">
                    <m:r>
                      <m:rPr>
                        <m:sty m:val="p"/>
                      </m:rPr>
                      <a:rPr lang="el-GR">
                        <a:latin typeface="Cambria Math" panose="02040503050406030204" pitchFamily="18" charset="0"/>
                      </a:rPr>
                      <m:t>Δ</m:t>
                    </m:r>
                    <m:r>
                      <a:rPr lang="el-GR" i="1">
                        <a:latin typeface="Cambria Math" panose="02040503050406030204" pitchFamily="18" charset="0"/>
                      </a:rPr>
                      <m:t>𝐹</m:t>
                    </m:r>
                    <m:r>
                      <a:rPr lang="el-GR">
                        <a:latin typeface="Cambria Math" panose="02040503050406030204" pitchFamily="18" charset="0"/>
                      </a:rPr>
                      <m:t>=5.25×</m:t>
                    </m:r>
                    <m:func>
                      <m:funcPr>
                        <m:ctrlPr>
                          <a:rPr lang="ar-AE" i="1">
                            <a:latin typeface="Cambria Math" panose="02040503050406030204" pitchFamily="18" charset="0"/>
                          </a:rPr>
                        </m:ctrlPr>
                      </m:funcPr>
                      <m:fName>
                        <m:r>
                          <m:rPr>
                            <m:sty m:val="p"/>
                          </m:rPr>
                          <a:rPr lang="en-GB">
                            <a:latin typeface="Cambria Math" panose="02040503050406030204" pitchFamily="18" charset="0"/>
                          </a:rPr>
                          <m:t>ln</m:t>
                        </m:r>
                      </m:fName>
                      <m:e>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i="1">
                                    <a:latin typeface="Cambria Math" panose="02040503050406030204" pitchFamily="18" charset="0"/>
                                  </a:rPr>
                                  <m:t>𝐶</m:t>
                                </m:r>
                                <m:d>
                                  <m:dPr>
                                    <m:ctrlPr>
                                      <a:rPr lang="ar-AE" i="1">
                                        <a:latin typeface="Cambria Math" panose="02040503050406030204" pitchFamily="18" charset="0"/>
                                      </a:rPr>
                                    </m:ctrlPr>
                                  </m:dPr>
                                  <m:e>
                                    <m:r>
                                      <a:rPr lang="ar-AE" i="1">
                                        <a:latin typeface="Cambria Math" panose="02040503050406030204" pitchFamily="18" charset="0"/>
                                      </a:rPr>
                                      <m:t>𝑡</m:t>
                                    </m:r>
                                  </m:e>
                                </m:d>
                              </m:num>
                              <m:den>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a:latin typeface="Cambria Math" panose="02040503050406030204" pitchFamily="18" charset="0"/>
                                      </a:rPr>
                                      <m:t>0</m:t>
                                    </m:r>
                                  </m:sub>
                                </m:sSub>
                              </m:den>
                            </m:f>
                          </m:e>
                        </m:d>
                      </m:e>
                    </m:func>
                  </m:oMath>
                </a14:m>
                <a:endParaRPr lang="ar-AE"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assume atmospheric CO₂ concentration increased from </a:t>
                </a:r>
                <a:r>
                  <a:rPr lang="en-GB" b="1" dirty="0">
                    <a:latin typeface="Calibri" panose="020F0502020204030204" pitchFamily="34" charset="0"/>
                    <a:cs typeface="Calibri" panose="020F0502020204030204" pitchFamily="34" charset="0"/>
                  </a:rPr>
                  <a:t>336.8 </a:t>
                </a:r>
                <a:r>
                  <a:rPr lang="en-GB" b="1" dirty="0" err="1">
                    <a:latin typeface="Calibri" panose="020F0502020204030204" pitchFamily="34" charset="0"/>
                    <a:cs typeface="Calibri" panose="020F0502020204030204" pitchFamily="34" charset="0"/>
                  </a:rPr>
                  <a:t>ppmv</a:t>
                </a:r>
                <a:r>
                  <a:rPr lang="en-GB" b="1" dirty="0">
                    <a:latin typeface="Calibri" panose="020F0502020204030204" pitchFamily="34" charset="0"/>
                    <a:cs typeface="Calibri" panose="020F0502020204030204" pitchFamily="34" charset="0"/>
                  </a:rPr>
                  <a:t> in 1979</a:t>
                </a:r>
                <a:r>
                  <a:rPr lang="en-GB" dirty="0">
                    <a:latin typeface="Calibri" panose="020F0502020204030204" pitchFamily="34" charset="0"/>
                    <a:cs typeface="Calibri" panose="020F0502020204030204" pitchFamily="34" charset="0"/>
                  </a:rPr>
                  <a:t> to </a:t>
                </a:r>
                <a:r>
                  <a:rPr lang="en-GB" b="1" dirty="0">
                    <a:latin typeface="Calibri" panose="020F0502020204030204" pitchFamily="34" charset="0"/>
                    <a:cs typeface="Calibri" panose="020F0502020204030204" pitchFamily="34" charset="0"/>
                  </a:rPr>
                  <a:t>421 </a:t>
                </a:r>
                <a:r>
                  <a:rPr lang="en-GB" b="1" dirty="0" err="1">
                    <a:latin typeface="Calibri" panose="020F0502020204030204" pitchFamily="34" charset="0"/>
                    <a:cs typeface="Calibri" panose="020F0502020204030204" pitchFamily="34" charset="0"/>
                  </a:rPr>
                  <a:t>ppmv</a:t>
                </a:r>
                <a:r>
                  <a:rPr lang="en-GB" b="1" dirty="0">
                    <a:latin typeface="Calibri" panose="020F0502020204030204" pitchFamily="34" charset="0"/>
                    <a:cs typeface="Calibri" panose="020F0502020204030204" pitchFamily="34" charset="0"/>
                  </a:rPr>
                  <a:t> in 2025</a:t>
                </a:r>
                <a:r>
                  <a:rPr lang="en-GB" dirty="0">
                    <a:latin typeface="Calibri" panose="020F0502020204030204" pitchFamily="34" charset="0"/>
                    <a:cs typeface="Calibri" panose="020F0502020204030204" pitchFamily="34" charset="0"/>
                  </a:rPr>
                  <a:t>.</a:t>
                </a:r>
              </a:p>
              <a:p>
                <a:r>
                  <a:rPr lang="en-GB" b="1" dirty="0">
                    <a:latin typeface="Calibri" panose="020F0502020204030204" pitchFamily="34" charset="0"/>
                    <a:cs typeface="Calibri" panose="020F0502020204030204" pitchFamily="34" charset="0"/>
                  </a:rPr>
                  <a:t>(a)</a:t>
                </a:r>
                <a:r>
                  <a:rPr lang="en-GB" dirty="0">
                    <a:latin typeface="Calibri" panose="020F0502020204030204" pitchFamily="34" charset="0"/>
                    <a:cs typeface="Calibri" panose="020F0502020204030204" pitchFamily="34" charset="0"/>
                  </a:rPr>
                  <a:t> Calculate the total radiative forcing change over this period.</a:t>
                </a:r>
                <a:br>
                  <a:rPr lang="en-GB" dirty="0">
                    <a:latin typeface="Calibri" panose="020F0502020204030204" pitchFamily="34" charset="0"/>
                    <a:cs typeface="Calibri" panose="020F0502020204030204" pitchFamily="34" charset="0"/>
                  </a:rPr>
                </a:br>
                <a:r>
                  <a:rPr lang="en-GB" b="1" dirty="0">
                    <a:latin typeface="Calibri" panose="020F0502020204030204" pitchFamily="34" charset="0"/>
                    <a:cs typeface="Calibri" panose="020F0502020204030204" pitchFamily="34" charset="0"/>
                  </a:rPr>
                  <a:t>(b)</a:t>
                </a:r>
                <a:r>
                  <a:rPr lang="en-GB" dirty="0">
                    <a:latin typeface="Calibri" panose="020F0502020204030204" pitchFamily="34" charset="0"/>
                    <a:cs typeface="Calibri" panose="020F0502020204030204" pitchFamily="34" charset="0"/>
                  </a:rPr>
                  <a:t> Compare this value to the forcing associated with a 50% increase in CO₂ since pre-industrial times.</a:t>
                </a:r>
                <a:endParaRPr lang="en-GB" b="1" dirty="0">
                  <a:latin typeface="Calibri" panose="020F0502020204030204" pitchFamily="34" charset="0"/>
                  <a:cs typeface="Calibri" panose="020F0502020204030204" pitchFamily="34" charset="0"/>
                </a:endParaRPr>
              </a:p>
              <a:p>
                <a:endParaRPr lang="en-GB" sz="1800" b="0" i="0" kern="1200" dirty="0">
                  <a:solidFill>
                    <a:schemeClr val="tx1"/>
                  </a:solidFill>
                  <a:effectLst/>
                  <a:latin typeface="Calibri" panose="020F0502020204030204" pitchFamily="34" charset="0"/>
                  <a:cs typeface="Calibri" panose="020F0502020204030204" pitchFamily="34" charset="0"/>
                </a:endParaRPr>
              </a:p>
            </p:txBody>
          </p:sp>
        </mc:Choice>
        <mc:Fallback xmlns="">
          <p:sp>
            <p:nvSpPr>
              <p:cNvPr id="8" name="TextBox 7">
                <a:extLst>
                  <a:ext uri="{FF2B5EF4-FFF2-40B4-BE49-F238E27FC236}">
                    <a16:creationId xmlns:a16="http://schemas.microsoft.com/office/drawing/2014/main" id="{29DD4FFF-F791-1A91-E62C-8E3247F81F01}"/>
                  </a:ext>
                </a:extLst>
              </p:cNvPr>
              <p:cNvSpPr txBox="1">
                <a:spLocks noRot="1" noChangeAspect="1" noMove="1" noResize="1" noEditPoints="1" noAdjustHandles="1" noChangeArrowheads="1" noChangeShapeType="1" noTextEdit="1"/>
              </p:cNvSpPr>
              <p:nvPr/>
            </p:nvSpPr>
            <p:spPr>
              <a:xfrm>
                <a:off x="389465" y="1329323"/>
                <a:ext cx="11576758" cy="1647310"/>
              </a:xfrm>
              <a:prstGeom prst="rect">
                <a:avLst/>
              </a:prstGeom>
              <a:blipFill>
                <a:blip r:embed="rId4"/>
                <a:stretch>
                  <a:fillRect l="-438"/>
                </a:stretch>
              </a:blipFill>
            </p:spPr>
            <p:txBody>
              <a:bodyPr/>
              <a:lstStyle/>
              <a:p>
                <a:r>
                  <a:rPr lang="en-US">
                    <a:noFill/>
                  </a:rPr>
                  <a:t> </a:t>
                </a:r>
              </a:p>
            </p:txBody>
          </p:sp>
        </mc:Fallback>
      </mc:AlternateContent>
    </p:spTree>
    <p:extLst>
      <p:ext uri="{BB962C8B-B14F-4D97-AF65-F5344CB8AC3E}">
        <p14:creationId xmlns:p14="http://schemas.microsoft.com/office/powerpoint/2010/main" val="22839217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2FA09DC3-4CD6-BDB6-F664-20766873A0E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F28606DF-1081-48F0-FC8B-31F1D3968ACE}"/>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E5308707-D69C-4C0E-7E0D-31E30807F94F}"/>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Q8.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6316F14-A0A4-5AFE-8DAC-11F351FEA5FA}"/>
                  </a:ext>
                </a:extLst>
              </p:cNvPr>
              <p:cNvSpPr txBox="1"/>
              <p:nvPr/>
            </p:nvSpPr>
            <p:spPr>
              <a:xfrm>
                <a:off x="389465" y="1329323"/>
                <a:ext cx="11576758" cy="5531386"/>
              </a:xfrm>
              <a:prstGeom prst="rect">
                <a:avLst/>
              </a:prstGeom>
              <a:noFill/>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Using the same radiative forcing relationship: </a:t>
                </a:r>
                <a14:m>
                  <m:oMath xmlns:m="http://schemas.openxmlformats.org/officeDocument/2006/math">
                    <m:r>
                      <m:rPr>
                        <m:sty m:val="p"/>
                      </m:rPr>
                      <a:rPr lang="el-GR">
                        <a:solidFill>
                          <a:schemeClr val="bg1"/>
                        </a:solidFill>
                        <a:latin typeface="Cambria Math" panose="02040503050406030204" pitchFamily="18" charset="0"/>
                      </a:rPr>
                      <m:t>Δ</m:t>
                    </m:r>
                    <m:r>
                      <a:rPr lang="el-GR" i="1">
                        <a:solidFill>
                          <a:schemeClr val="bg1"/>
                        </a:solidFill>
                        <a:latin typeface="Cambria Math" panose="02040503050406030204" pitchFamily="18" charset="0"/>
                      </a:rPr>
                      <m:t>𝐹</m:t>
                    </m:r>
                    <m:r>
                      <a:rPr lang="el-GR">
                        <a:solidFill>
                          <a:schemeClr val="bg1"/>
                        </a:solidFill>
                        <a:latin typeface="Cambria Math" panose="02040503050406030204" pitchFamily="18" charset="0"/>
                      </a:rPr>
                      <m:t>=5.25×</m:t>
                    </m:r>
                    <m:func>
                      <m:funcPr>
                        <m:ctrlPr>
                          <a:rPr lang="ar-AE" i="1">
                            <a:solidFill>
                              <a:schemeClr val="bg1"/>
                            </a:solidFill>
                            <a:latin typeface="Cambria Math" panose="02040503050406030204" pitchFamily="18" charset="0"/>
                          </a:rPr>
                        </m:ctrlPr>
                      </m:funcPr>
                      <m:fName>
                        <m:r>
                          <m:rPr>
                            <m:sty m:val="p"/>
                          </m:rPr>
                          <a:rPr lang="en-GB">
                            <a:solidFill>
                              <a:schemeClr val="bg1"/>
                            </a:solidFill>
                            <a:latin typeface="Cambria Math" panose="02040503050406030204" pitchFamily="18" charset="0"/>
                          </a:rPr>
                          <m:t>ln</m:t>
                        </m:r>
                      </m:fName>
                      <m:e>
                        <m:d>
                          <m:dPr>
                            <m:ctrlPr>
                              <a:rPr lang="ar-AE" i="1">
                                <a:solidFill>
                                  <a:schemeClr val="bg1"/>
                                </a:solidFill>
                                <a:latin typeface="Cambria Math" panose="02040503050406030204" pitchFamily="18" charset="0"/>
                              </a:rPr>
                            </m:ctrlPr>
                          </m:dPr>
                          <m:e>
                            <m:f>
                              <m:fPr>
                                <m:ctrlPr>
                                  <a:rPr lang="ar-AE" i="1">
                                    <a:solidFill>
                                      <a:schemeClr val="bg1"/>
                                    </a:solidFill>
                                    <a:latin typeface="Cambria Math" panose="02040503050406030204" pitchFamily="18" charset="0"/>
                                  </a:rPr>
                                </m:ctrlPr>
                              </m:fPr>
                              <m:num>
                                <m:r>
                                  <a:rPr lang="ar-AE" i="1">
                                    <a:solidFill>
                                      <a:schemeClr val="bg1"/>
                                    </a:solidFill>
                                    <a:latin typeface="Cambria Math" panose="02040503050406030204" pitchFamily="18" charset="0"/>
                                  </a:rPr>
                                  <m:t>𝐶</m:t>
                                </m:r>
                                <m:d>
                                  <m:dPr>
                                    <m:ctrlPr>
                                      <a:rPr lang="ar-AE" i="1">
                                        <a:solidFill>
                                          <a:schemeClr val="bg1"/>
                                        </a:solidFill>
                                        <a:latin typeface="Cambria Math" panose="02040503050406030204" pitchFamily="18" charset="0"/>
                                      </a:rPr>
                                    </m:ctrlPr>
                                  </m:dPr>
                                  <m:e>
                                    <m:r>
                                      <a:rPr lang="ar-AE" i="1">
                                        <a:solidFill>
                                          <a:schemeClr val="bg1"/>
                                        </a:solidFill>
                                        <a:latin typeface="Cambria Math" panose="02040503050406030204" pitchFamily="18" charset="0"/>
                                      </a:rPr>
                                      <m:t>𝑡</m:t>
                                    </m:r>
                                  </m:e>
                                </m:d>
                              </m:num>
                              <m:den>
                                <m:sSub>
                                  <m:sSubPr>
                                    <m:ctrlPr>
                                      <a:rPr lang="ar-AE" i="1">
                                        <a:solidFill>
                                          <a:schemeClr val="bg1"/>
                                        </a:solidFill>
                                        <a:latin typeface="Cambria Math" panose="02040503050406030204" pitchFamily="18" charset="0"/>
                                      </a:rPr>
                                    </m:ctrlPr>
                                  </m:sSubPr>
                                  <m:e>
                                    <m:r>
                                      <a:rPr lang="ar-AE" i="1">
                                        <a:solidFill>
                                          <a:schemeClr val="bg1"/>
                                        </a:solidFill>
                                        <a:latin typeface="Cambria Math" panose="02040503050406030204" pitchFamily="18" charset="0"/>
                                      </a:rPr>
                                      <m:t>𝐶</m:t>
                                    </m:r>
                                  </m:e>
                                  <m:sub>
                                    <m:r>
                                      <a:rPr lang="ar-AE">
                                        <a:solidFill>
                                          <a:schemeClr val="bg1"/>
                                        </a:solidFill>
                                        <a:latin typeface="Cambria Math" panose="02040503050406030204" pitchFamily="18" charset="0"/>
                                      </a:rPr>
                                      <m:t>0</m:t>
                                    </m:r>
                                  </m:sub>
                                </m:sSub>
                              </m:den>
                            </m:f>
                          </m:e>
                        </m:d>
                      </m:e>
                    </m:func>
                  </m:oMath>
                </a14:m>
                <a:endParaRPr lang="ar-AE" dirty="0">
                  <a:solidFill>
                    <a:schemeClr val="bg1"/>
                  </a:solidFill>
                  <a:latin typeface="Calibri" panose="020F0502020204030204" pitchFamily="34" charset="0"/>
                  <a:cs typeface="Calibri" panose="020F0502020204030204" pitchFamily="34" charset="0"/>
                </a:endParaRPr>
              </a:p>
              <a:p>
                <a:r>
                  <a:rPr lang="en-GB" dirty="0">
                    <a:solidFill>
                      <a:schemeClr val="bg1"/>
                    </a:solidFill>
                    <a:latin typeface="Calibri" panose="020F0502020204030204" pitchFamily="34" charset="0"/>
                    <a:cs typeface="Calibri" panose="020F0502020204030204" pitchFamily="34" charset="0"/>
                  </a:rPr>
                  <a:t>assume atmospheric CO₂ concentration increased from </a:t>
                </a:r>
                <a:r>
                  <a:rPr lang="en-GB" b="1" dirty="0">
                    <a:solidFill>
                      <a:schemeClr val="bg1"/>
                    </a:solidFill>
                    <a:latin typeface="Calibri" panose="020F0502020204030204" pitchFamily="34" charset="0"/>
                    <a:cs typeface="Calibri" panose="020F0502020204030204" pitchFamily="34" charset="0"/>
                  </a:rPr>
                  <a:t>336.8 </a:t>
                </a:r>
                <a:r>
                  <a:rPr lang="en-GB" b="1" dirty="0" err="1">
                    <a:solidFill>
                      <a:schemeClr val="bg1"/>
                    </a:solidFill>
                    <a:latin typeface="Calibri" panose="020F0502020204030204" pitchFamily="34" charset="0"/>
                    <a:cs typeface="Calibri" panose="020F0502020204030204" pitchFamily="34" charset="0"/>
                  </a:rPr>
                  <a:t>ppmv</a:t>
                </a:r>
                <a:r>
                  <a:rPr lang="en-GB" b="1" dirty="0">
                    <a:solidFill>
                      <a:schemeClr val="bg1"/>
                    </a:solidFill>
                    <a:latin typeface="Calibri" panose="020F0502020204030204" pitchFamily="34" charset="0"/>
                    <a:cs typeface="Calibri" panose="020F0502020204030204" pitchFamily="34" charset="0"/>
                  </a:rPr>
                  <a:t> in 1979</a:t>
                </a:r>
                <a:r>
                  <a:rPr lang="en-GB" dirty="0">
                    <a:solidFill>
                      <a:schemeClr val="bg1"/>
                    </a:solidFill>
                    <a:latin typeface="Calibri" panose="020F0502020204030204" pitchFamily="34" charset="0"/>
                    <a:cs typeface="Calibri" panose="020F0502020204030204" pitchFamily="34" charset="0"/>
                  </a:rPr>
                  <a:t> to </a:t>
                </a:r>
                <a:r>
                  <a:rPr lang="en-GB" b="1" dirty="0">
                    <a:solidFill>
                      <a:schemeClr val="bg1"/>
                    </a:solidFill>
                    <a:latin typeface="Calibri" panose="020F0502020204030204" pitchFamily="34" charset="0"/>
                    <a:cs typeface="Calibri" panose="020F0502020204030204" pitchFamily="34" charset="0"/>
                  </a:rPr>
                  <a:t>421 </a:t>
                </a:r>
                <a:r>
                  <a:rPr lang="en-GB" b="1" dirty="0" err="1">
                    <a:solidFill>
                      <a:schemeClr val="bg1"/>
                    </a:solidFill>
                    <a:latin typeface="Calibri" panose="020F0502020204030204" pitchFamily="34" charset="0"/>
                    <a:cs typeface="Calibri" panose="020F0502020204030204" pitchFamily="34" charset="0"/>
                  </a:rPr>
                  <a:t>ppmv</a:t>
                </a:r>
                <a:r>
                  <a:rPr lang="en-GB" b="1" dirty="0">
                    <a:solidFill>
                      <a:schemeClr val="bg1"/>
                    </a:solidFill>
                    <a:latin typeface="Calibri" panose="020F0502020204030204" pitchFamily="34" charset="0"/>
                    <a:cs typeface="Calibri" panose="020F0502020204030204" pitchFamily="34" charset="0"/>
                  </a:rPr>
                  <a:t> in 2025</a:t>
                </a:r>
                <a:r>
                  <a:rPr lang="en-GB" dirty="0">
                    <a:solidFill>
                      <a:schemeClr val="bg1"/>
                    </a:solidFill>
                    <a:latin typeface="Calibri" panose="020F0502020204030204" pitchFamily="34" charset="0"/>
                    <a:cs typeface="Calibri" panose="020F0502020204030204" pitchFamily="34" charset="0"/>
                  </a:rPr>
                  <a:t>.</a:t>
                </a:r>
              </a:p>
              <a:p>
                <a:r>
                  <a:rPr lang="en-GB" b="1" dirty="0">
                    <a:solidFill>
                      <a:schemeClr val="bg1"/>
                    </a:solidFill>
                    <a:latin typeface="Calibri" panose="020F0502020204030204" pitchFamily="34" charset="0"/>
                    <a:cs typeface="Calibri" panose="020F0502020204030204" pitchFamily="34" charset="0"/>
                  </a:rPr>
                  <a:t>(a)</a:t>
                </a:r>
                <a:r>
                  <a:rPr lang="en-GB" dirty="0">
                    <a:solidFill>
                      <a:schemeClr val="bg1"/>
                    </a:solidFill>
                    <a:latin typeface="Calibri" panose="020F0502020204030204" pitchFamily="34" charset="0"/>
                    <a:cs typeface="Calibri" panose="020F0502020204030204" pitchFamily="34" charset="0"/>
                  </a:rPr>
                  <a:t> Calculate the total radiative forcing change over this period.</a:t>
                </a:r>
                <a:br>
                  <a:rPr lang="en-GB" dirty="0">
                    <a:solidFill>
                      <a:schemeClr val="bg1"/>
                    </a:solidFill>
                    <a:latin typeface="Calibri" panose="020F0502020204030204" pitchFamily="34" charset="0"/>
                    <a:cs typeface="Calibri" panose="020F0502020204030204" pitchFamily="34" charset="0"/>
                  </a:rPr>
                </a:br>
                <a:r>
                  <a:rPr lang="en-GB" b="1" dirty="0">
                    <a:solidFill>
                      <a:schemeClr val="bg1"/>
                    </a:solidFill>
                    <a:latin typeface="Calibri" panose="020F0502020204030204" pitchFamily="34" charset="0"/>
                    <a:cs typeface="Calibri" panose="020F0502020204030204" pitchFamily="34" charset="0"/>
                  </a:rPr>
                  <a:t>(b)</a:t>
                </a:r>
                <a:r>
                  <a:rPr lang="en-GB" dirty="0">
                    <a:solidFill>
                      <a:schemeClr val="bg1"/>
                    </a:solidFill>
                    <a:latin typeface="Calibri" panose="020F0502020204030204" pitchFamily="34" charset="0"/>
                    <a:cs typeface="Calibri" panose="020F0502020204030204" pitchFamily="34" charset="0"/>
                  </a:rPr>
                  <a:t> Compare this value to the forcing associated with a 50% increase in CO₂ since pre-industrial times.</a:t>
                </a:r>
              </a:p>
              <a:p>
                <a:endParaRPr lang="en-GB" dirty="0">
                  <a:latin typeface="Calibri" panose="020F0502020204030204" pitchFamily="34" charset="0"/>
                  <a:cs typeface="Calibri" panose="020F0502020204030204" pitchFamily="34" charset="0"/>
                </a:endParaRPr>
              </a:p>
              <a:p>
                <a:r>
                  <a:rPr lang="en-GB" b="1" dirty="0">
                    <a:solidFill>
                      <a:srgbClr val="FF0000"/>
                    </a:solidFill>
                    <a:latin typeface="Calibri" panose="020F0502020204030204" pitchFamily="34" charset="0"/>
                    <a:cs typeface="Calibri" panose="020F0502020204030204" pitchFamily="34" charset="0"/>
                  </a:rPr>
                  <a:t>(a) Calculation</a:t>
                </a:r>
                <a:endParaRPr lang="en-GB" dirty="0">
                  <a:solidFill>
                    <a:srgbClr val="FF0000"/>
                  </a:solidFill>
                  <a:latin typeface="Calibri" panose="020F0502020204030204" pitchFamily="34" charset="0"/>
                  <a:cs typeface="Calibri" panose="020F0502020204030204" pitchFamily="34" charset="0"/>
                </a:endParaRPr>
              </a:p>
              <a:p>
                <a:pPr/>
                <a14:m>
                  <m:oMathPara xmlns:m="http://schemas.openxmlformats.org/officeDocument/2006/math">
                    <m:oMathParaPr>
                      <m:jc m:val="centerGroup"/>
                    </m:oMathParaPr>
                    <m:oMath xmlns:m="http://schemas.openxmlformats.org/officeDocument/2006/math">
                      <m:r>
                        <m:rPr>
                          <m:sty m:val="p"/>
                        </m:rPr>
                        <a:rPr lang="el-GR">
                          <a:solidFill>
                            <a:srgbClr val="FF0000"/>
                          </a:solidFill>
                          <a:latin typeface="Cambria Math" panose="02040503050406030204" pitchFamily="18" charset="0"/>
                        </a:rPr>
                        <m:t>Δ</m:t>
                      </m:r>
                      <m:r>
                        <a:rPr lang="el-GR" i="1">
                          <a:solidFill>
                            <a:srgbClr val="FF0000"/>
                          </a:solidFill>
                          <a:latin typeface="Cambria Math" panose="02040503050406030204" pitchFamily="18" charset="0"/>
                        </a:rPr>
                        <m:t>𝐹</m:t>
                      </m:r>
                      <m:r>
                        <a:rPr lang="el-GR">
                          <a:solidFill>
                            <a:srgbClr val="FF0000"/>
                          </a:solidFill>
                          <a:latin typeface="Cambria Math" panose="02040503050406030204" pitchFamily="18" charset="0"/>
                        </a:rPr>
                        <m:t>=5.25×</m:t>
                      </m:r>
                      <m:func>
                        <m:funcPr>
                          <m:ctrlPr>
                            <a:rPr lang="ar-AE" i="1">
                              <a:solidFill>
                                <a:srgbClr val="FF0000"/>
                              </a:solidFill>
                              <a:latin typeface="Cambria Math" panose="02040503050406030204" pitchFamily="18" charset="0"/>
                            </a:rPr>
                          </m:ctrlPr>
                        </m:funcPr>
                        <m:fName>
                          <m:r>
                            <m:rPr>
                              <m:sty m:val="p"/>
                            </m:rPr>
                            <a:rPr lang="en-GB">
                              <a:solidFill>
                                <a:srgbClr val="FF0000"/>
                              </a:solidFill>
                              <a:latin typeface="Cambria Math" panose="02040503050406030204" pitchFamily="18" charset="0"/>
                            </a:rPr>
                            <m:t>ln</m:t>
                          </m:r>
                        </m:fName>
                        <m:e>
                          <m:d>
                            <m:dPr>
                              <m:ctrlPr>
                                <a:rPr lang="ar-AE" i="1">
                                  <a:solidFill>
                                    <a:srgbClr val="FF0000"/>
                                  </a:solidFill>
                                  <a:latin typeface="Cambria Math" panose="02040503050406030204" pitchFamily="18" charset="0"/>
                                </a:rPr>
                              </m:ctrlPr>
                            </m:dPr>
                            <m:e>
                              <m:f>
                                <m:fPr>
                                  <m:ctrlPr>
                                    <a:rPr lang="ar-AE" i="1">
                                      <a:solidFill>
                                        <a:srgbClr val="FF0000"/>
                                      </a:solidFill>
                                      <a:latin typeface="Cambria Math" panose="02040503050406030204" pitchFamily="18" charset="0"/>
                                    </a:rPr>
                                  </m:ctrlPr>
                                </m:fPr>
                                <m:num>
                                  <m:r>
                                    <a:rPr lang="ar-AE">
                                      <a:solidFill>
                                        <a:srgbClr val="FF0000"/>
                                      </a:solidFill>
                                      <a:latin typeface="Cambria Math" panose="02040503050406030204" pitchFamily="18" charset="0"/>
                                    </a:rPr>
                                    <m:t>421</m:t>
                                  </m:r>
                                </m:num>
                                <m:den>
                                  <m:r>
                                    <a:rPr lang="ar-AE">
                                      <a:solidFill>
                                        <a:srgbClr val="FF0000"/>
                                      </a:solidFill>
                                      <a:latin typeface="Cambria Math" panose="02040503050406030204" pitchFamily="18" charset="0"/>
                                    </a:rPr>
                                    <m:t>336.8</m:t>
                                  </m:r>
                                </m:den>
                              </m:f>
                            </m:e>
                          </m:d>
                        </m:e>
                      </m:func>
                    </m:oMath>
                  </m:oMathPara>
                </a14:m>
                <a:endParaRPr lang="ar-AE" dirty="0">
                  <a:solidFill>
                    <a:srgbClr val="FF0000"/>
                  </a:solidFill>
                  <a:latin typeface="Calibri" panose="020F0502020204030204" pitchFamily="34" charset="0"/>
                  <a:cs typeface="Calibri" panose="020F0502020204030204" pitchFamily="34" charset="0"/>
                </a:endParaRPr>
              </a:p>
              <a:p>
                <a:pPr/>
                <a14:m>
                  <m:oMathPara xmlns:m="http://schemas.openxmlformats.org/officeDocument/2006/math">
                    <m:oMathParaPr>
                      <m:jc m:val="centerGroup"/>
                    </m:oMathParaPr>
                    <m:oMath xmlns:m="http://schemas.openxmlformats.org/officeDocument/2006/math">
                      <m:r>
                        <m:rPr>
                          <m:sty m:val="p"/>
                        </m:rPr>
                        <a:rPr lang="el-GR">
                          <a:solidFill>
                            <a:srgbClr val="FF0000"/>
                          </a:solidFill>
                          <a:latin typeface="Cambria Math" panose="02040503050406030204" pitchFamily="18" charset="0"/>
                        </a:rPr>
                        <m:t>Δ</m:t>
                      </m:r>
                      <m:r>
                        <a:rPr lang="el-GR" i="1">
                          <a:solidFill>
                            <a:srgbClr val="FF0000"/>
                          </a:solidFill>
                          <a:latin typeface="Cambria Math" panose="02040503050406030204" pitchFamily="18" charset="0"/>
                        </a:rPr>
                        <m:t>𝐹</m:t>
                      </m:r>
                      <m:r>
                        <a:rPr lang="el-GR">
                          <a:solidFill>
                            <a:srgbClr val="FF0000"/>
                          </a:solidFill>
                          <a:latin typeface="Cambria Math" panose="02040503050406030204" pitchFamily="18" charset="0"/>
                        </a:rPr>
                        <m:t>=5.25×</m:t>
                      </m:r>
                      <m:r>
                        <m:rPr>
                          <m:sty m:val="p"/>
                        </m:rPr>
                        <a:rPr lang="en-GB">
                          <a:solidFill>
                            <a:srgbClr val="FF0000"/>
                          </a:solidFill>
                          <a:latin typeface="Cambria Math" panose="02040503050406030204" pitchFamily="18" charset="0"/>
                        </a:rPr>
                        <m:t>ln</m:t>
                      </m:r>
                      <m:r>
                        <a:rPr lang="en-GB">
                          <a:solidFill>
                            <a:srgbClr val="FF0000"/>
                          </a:solidFill>
                          <a:latin typeface="Cambria Math" panose="02040503050406030204" pitchFamily="18" charset="0"/>
                        </a:rPr>
                        <m:t>⁡</m:t>
                      </m:r>
                      <m:d>
                        <m:dPr>
                          <m:ctrlPr>
                            <a:rPr lang="ar-AE" i="1">
                              <a:solidFill>
                                <a:srgbClr val="FF0000"/>
                              </a:solidFill>
                              <a:latin typeface="Cambria Math" panose="02040503050406030204" pitchFamily="18" charset="0"/>
                            </a:rPr>
                          </m:ctrlPr>
                        </m:dPr>
                        <m:e>
                          <m:r>
                            <a:rPr lang="ar-AE">
                              <a:solidFill>
                                <a:srgbClr val="FF0000"/>
                              </a:solidFill>
                              <a:latin typeface="Cambria Math" panose="02040503050406030204" pitchFamily="18" charset="0"/>
                            </a:rPr>
                            <m:t>1.25</m:t>
                          </m:r>
                        </m:e>
                      </m:d>
                    </m:oMath>
                  </m:oMathPara>
                </a14:m>
                <a:endParaRPr lang="ar-AE" dirty="0">
                  <a:solidFill>
                    <a:srgbClr val="FF0000"/>
                  </a:solidFill>
                  <a:latin typeface="Calibri" panose="020F0502020204030204" pitchFamily="34" charset="0"/>
                  <a:cs typeface="Calibri" panose="020F0502020204030204" pitchFamily="34" charset="0"/>
                </a:endParaRPr>
              </a:p>
              <a:p>
                <a:pPr/>
                <a14:m>
                  <m:oMathPara xmlns:m="http://schemas.openxmlformats.org/officeDocument/2006/math">
                    <m:oMathParaPr>
                      <m:jc m:val="centerGroup"/>
                    </m:oMathParaPr>
                    <m:oMath xmlns:m="http://schemas.openxmlformats.org/officeDocument/2006/math">
                      <m:r>
                        <m:rPr>
                          <m:sty m:val="p"/>
                        </m:rPr>
                        <a:rPr lang="el-GR">
                          <a:solidFill>
                            <a:srgbClr val="FF0000"/>
                          </a:solidFill>
                          <a:latin typeface="Cambria Math" panose="02040503050406030204" pitchFamily="18" charset="0"/>
                        </a:rPr>
                        <m:t>Δ</m:t>
                      </m:r>
                      <m:r>
                        <a:rPr lang="el-GR" i="1">
                          <a:solidFill>
                            <a:srgbClr val="FF0000"/>
                          </a:solidFill>
                          <a:latin typeface="Cambria Math" panose="02040503050406030204" pitchFamily="18" charset="0"/>
                        </a:rPr>
                        <m:t>𝐹</m:t>
                      </m:r>
                      <m:r>
                        <a:rPr lang="el-GR">
                          <a:solidFill>
                            <a:srgbClr val="FF0000"/>
                          </a:solidFill>
                          <a:latin typeface="Cambria Math" panose="02040503050406030204" pitchFamily="18" charset="0"/>
                        </a:rPr>
                        <m:t>=5.25×0.223</m:t>
                      </m:r>
                    </m:oMath>
                  </m:oMathPara>
                </a14:m>
                <a:endParaRPr lang="el-GR" dirty="0">
                  <a:solidFill>
                    <a:srgbClr val="FF0000"/>
                  </a:solidFill>
                  <a:latin typeface="Calibri" panose="020F0502020204030204" pitchFamily="34" charset="0"/>
                  <a:cs typeface="Calibri" panose="020F0502020204030204" pitchFamily="34" charset="0"/>
                </a:endParaRPr>
              </a:p>
              <a:p>
                <a:pPr/>
                <a14:m>
                  <m:oMathPara xmlns:m="http://schemas.openxmlformats.org/officeDocument/2006/math">
                    <m:oMathParaPr>
                      <m:jc m:val="centerGroup"/>
                    </m:oMathParaPr>
                    <m:oMath xmlns:m="http://schemas.openxmlformats.org/officeDocument/2006/math">
                      <m:r>
                        <m:rPr>
                          <m:sty m:val="p"/>
                        </m:rPr>
                        <a:rPr lang="el-GR">
                          <a:solidFill>
                            <a:srgbClr val="FF0000"/>
                          </a:solidFill>
                          <a:latin typeface="Cambria Math" panose="02040503050406030204" pitchFamily="18" charset="0"/>
                        </a:rPr>
                        <m:t>Δ</m:t>
                      </m:r>
                      <m:r>
                        <a:rPr lang="el-GR" i="1">
                          <a:solidFill>
                            <a:srgbClr val="FF0000"/>
                          </a:solidFill>
                          <a:latin typeface="Cambria Math" panose="02040503050406030204" pitchFamily="18" charset="0"/>
                        </a:rPr>
                        <m:t>𝐹</m:t>
                      </m:r>
                      <m:r>
                        <a:rPr lang="el-GR">
                          <a:solidFill>
                            <a:srgbClr val="FF0000"/>
                          </a:solidFill>
                          <a:latin typeface="Cambria Math" panose="02040503050406030204" pitchFamily="18" charset="0"/>
                        </a:rPr>
                        <m:t>≈1.17</m:t>
                      </m:r>
                      <m:r>
                        <m:rPr>
                          <m:nor/>
                        </m:rPr>
                        <a:rPr lang="el-GR" i="1">
                          <a:solidFill>
                            <a:srgbClr val="FF0000"/>
                          </a:solidFill>
                          <a:latin typeface="Calibri" panose="020F0502020204030204" pitchFamily="34" charset="0"/>
                          <a:cs typeface="Calibri" panose="020F0502020204030204" pitchFamily="34" charset="0"/>
                        </a:rPr>
                        <m:t> </m:t>
                      </m:r>
                      <m:sSup>
                        <m:sSupPr>
                          <m:ctrlPr>
                            <a:rPr lang="ar-AE" i="1">
                              <a:solidFill>
                                <a:srgbClr val="FF0000"/>
                              </a:solidFill>
                              <a:latin typeface="Cambria Math" panose="02040503050406030204" pitchFamily="18" charset="0"/>
                            </a:rPr>
                          </m:ctrlPr>
                        </m:sSupPr>
                        <m:e>
                          <m:r>
                            <m:rPr>
                              <m:nor/>
                            </m:rPr>
                            <a:rPr lang="en-GB" i="1">
                              <a:solidFill>
                                <a:srgbClr val="FF0000"/>
                              </a:solidFill>
                              <a:latin typeface="Calibri" panose="020F0502020204030204" pitchFamily="34" charset="0"/>
                              <a:cs typeface="Calibri" panose="020F0502020204030204" pitchFamily="34" charset="0"/>
                            </a:rPr>
                            <m:t>W</m:t>
                          </m:r>
                          <m:r>
                            <m:rPr>
                              <m:nor/>
                            </m:rPr>
                            <a:rPr lang="en-GB" i="1">
                              <a:solidFill>
                                <a:srgbClr val="FF0000"/>
                              </a:solidFill>
                              <a:latin typeface="Calibri" panose="020F0502020204030204" pitchFamily="34" charset="0"/>
                              <a:cs typeface="Calibri" panose="020F0502020204030204" pitchFamily="34" charset="0"/>
                            </a:rPr>
                            <m:t> </m:t>
                          </m:r>
                          <m:r>
                            <m:rPr>
                              <m:nor/>
                            </m:rPr>
                            <a:rPr lang="en-GB" i="1">
                              <a:solidFill>
                                <a:srgbClr val="FF0000"/>
                              </a:solidFill>
                              <a:latin typeface="Calibri" panose="020F0502020204030204" pitchFamily="34" charset="0"/>
                              <a:cs typeface="Calibri" panose="020F0502020204030204" pitchFamily="34" charset="0"/>
                            </a:rPr>
                            <m:t>m</m:t>
                          </m:r>
                        </m:e>
                        <m:sup>
                          <m:r>
                            <a:rPr lang="ar-AE">
                              <a:solidFill>
                                <a:srgbClr val="FF0000"/>
                              </a:solidFill>
                              <a:latin typeface="Cambria Math" panose="02040503050406030204" pitchFamily="18" charset="0"/>
                            </a:rPr>
                            <m:t>−2</m:t>
                          </m:r>
                        </m:sup>
                      </m:sSup>
                    </m:oMath>
                  </m:oMathPara>
                </a14:m>
                <a:endParaRPr lang="en-GB" dirty="0">
                  <a:solidFill>
                    <a:srgbClr val="FF0000"/>
                  </a:solidFill>
                  <a:latin typeface="Calibri" panose="020F0502020204030204" pitchFamily="34" charset="0"/>
                  <a:cs typeface="Calibri" panose="020F0502020204030204" pitchFamily="34" charset="0"/>
                </a:endParaRPr>
              </a:p>
              <a:p>
                <a:endParaRPr lang="en-GB" dirty="0">
                  <a:solidFill>
                    <a:srgbClr val="FF0000"/>
                  </a:solidFill>
                  <a:latin typeface="Calibri" panose="020F0502020204030204" pitchFamily="34" charset="0"/>
                  <a:cs typeface="Calibri" panose="020F0502020204030204" pitchFamily="34" charset="0"/>
                </a:endParaRPr>
              </a:p>
              <a:p>
                <a:r>
                  <a:rPr lang="en-GB" b="1" dirty="0">
                    <a:solidFill>
                      <a:srgbClr val="FF0000"/>
                    </a:solidFill>
                    <a:latin typeface="Calibri" panose="020F0502020204030204" pitchFamily="34" charset="0"/>
                    <a:cs typeface="Calibri" panose="020F0502020204030204" pitchFamily="34" charset="0"/>
                  </a:rPr>
                  <a:t>(b) Comparison with pre-industrial forcing</a:t>
                </a:r>
                <a:endParaRPr lang="en-GB" dirty="0">
                  <a:solidFill>
                    <a:srgbClr val="FF0000"/>
                  </a:solidFill>
                  <a:latin typeface="Calibri" panose="020F0502020204030204" pitchFamily="34" charset="0"/>
                  <a:cs typeface="Calibri" panose="020F0502020204030204" pitchFamily="34" charset="0"/>
                </a:endParaRPr>
              </a:p>
              <a:p>
                <a:r>
                  <a:rPr lang="en-GB" dirty="0">
                    <a:solidFill>
                      <a:srgbClr val="FF0000"/>
                    </a:solidFill>
                    <a:latin typeface="Calibri" panose="020F0502020204030204" pitchFamily="34" charset="0"/>
                    <a:cs typeface="Calibri" panose="020F0502020204030204" pitchFamily="34" charset="0"/>
                  </a:rPr>
                  <a:t>A 50% increase in CO₂ relative to pre-industrial levels (from 280 </a:t>
                </a:r>
                <a:r>
                  <a:rPr lang="en-GB" dirty="0" err="1">
                    <a:solidFill>
                      <a:srgbClr val="FF0000"/>
                    </a:solidFill>
                    <a:latin typeface="Calibri" panose="020F0502020204030204" pitchFamily="34" charset="0"/>
                    <a:cs typeface="Calibri" panose="020F0502020204030204" pitchFamily="34" charset="0"/>
                  </a:rPr>
                  <a:t>ppmv</a:t>
                </a:r>
                <a:r>
                  <a:rPr lang="en-GB" dirty="0">
                    <a:solidFill>
                      <a:srgbClr val="FF0000"/>
                    </a:solidFill>
                    <a:latin typeface="Calibri" panose="020F0502020204030204" pitchFamily="34" charset="0"/>
                    <a:cs typeface="Calibri" panose="020F0502020204030204" pitchFamily="34" charset="0"/>
                  </a:rPr>
                  <a:t> to 420 </a:t>
                </a:r>
                <a:r>
                  <a:rPr lang="en-GB" dirty="0" err="1">
                    <a:solidFill>
                      <a:srgbClr val="FF0000"/>
                    </a:solidFill>
                    <a:latin typeface="Calibri" panose="020F0502020204030204" pitchFamily="34" charset="0"/>
                    <a:cs typeface="Calibri" panose="020F0502020204030204" pitchFamily="34" charset="0"/>
                  </a:rPr>
                  <a:t>ppmv</a:t>
                </a:r>
                <a:r>
                  <a:rPr lang="en-GB" dirty="0">
                    <a:solidFill>
                      <a:srgbClr val="FF0000"/>
                    </a:solidFill>
                    <a:latin typeface="Calibri" panose="020F0502020204030204" pitchFamily="34" charset="0"/>
                    <a:cs typeface="Calibri" panose="020F0502020204030204" pitchFamily="34" charset="0"/>
                  </a:rPr>
                  <a:t>) corresponds to:</a:t>
                </a:r>
              </a:p>
              <a:p>
                <a:pPr/>
                <a14:m>
                  <m:oMathPara xmlns:m="http://schemas.openxmlformats.org/officeDocument/2006/math">
                    <m:oMathParaPr>
                      <m:jc m:val="centerGroup"/>
                    </m:oMathParaPr>
                    <m:oMath xmlns:m="http://schemas.openxmlformats.org/officeDocument/2006/math">
                      <m:r>
                        <m:rPr>
                          <m:sty m:val="p"/>
                        </m:rPr>
                        <a:rPr lang="el-GR">
                          <a:solidFill>
                            <a:srgbClr val="FF0000"/>
                          </a:solidFill>
                          <a:latin typeface="Cambria Math" panose="02040503050406030204" pitchFamily="18" charset="0"/>
                        </a:rPr>
                        <m:t>Δ</m:t>
                      </m:r>
                      <m:r>
                        <a:rPr lang="el-GR" i="1">
                          <a:solidFill>
                            <a:srgbClr val="FF0000"/>
                          </a:solidFill>
                          <a:latin typeface="Cambria Math" panose="02040503050406030204" pitchFamily="18" charset="0"/>
                        </a:rPr>
                        <m:t>𝐹</m:t>
                      </m:r>
                      <m:r>
                        <a:rPr lang="el-GR">
                          <a:solidFill>
                            <a:srgbClr val="FF0000"/>
                          </a:solidFill>
                          <a:latin typeface="Cambria Math" panose="02040503050406030204" pitchFamily="18" charset="0"/>
                        </a:rPr>
                        <m:t>=5.25×</m:t>
                      </m:r>
                      <m:r>
                        <m:rPr>
                          <m:sty m:val="p"/>
                        </m:rPr>
                        <a:rPr lang="en-GB">
                          <a:solidFill>
                            <a:srgbClr val="FF0000"/>
                          </a:solidFill>
                          <a:latin typeface="Cambria Math" panose="02040503050406030204" pitchFamily="18" charset="0"/>
                        </a:rPr>
                        <m:t>ln</m:t>
                      </m:r>
                      <m:r>
                        <a:rPr lang="en-GB">
                          <a:solidFill>
                            <a:srgbClr val="FF0000"/>
                          </a:solidFill>
                          <a:latin typeface="Cambria Math" panose="02040503050406030204" pitchFamily="18" charset="0"/>
                        </a:rPr>
                        <m:t>⁡</m:t>
                      </m:r>
                      <m:d>
                        <m:dPr>
                          <m:ctrlPr>
                            <a:rPr lang="ar-AE" i="1">
                              <a:solidFill>
                                <a:srgbClr val="FF0000"/>
                              </a:solidFill>
                              <a:latin typeface="Cambria Math" panose="02040503050406030204" pitchFamily="18" charset="0"/>
                            </a:rPr>
                          </m:ctrlPr>
                        </m:dPr>
                        <m:e>
                          <m:r>
                            <a:rPr lang="ar-AE">
                              <a:solidFill>
                                <a:srgbClr val="FF0000"/>
                              </a:solidFill>
                              <a:latin typeface="Cambria Math" panose="02040503050406030204" pitchFamily="18" charset="0"/>
                            </a:rPr>
                            <m:t>1.5</m:t>
                          </m:r>
                        </m:e>
                      </m:d>
                      <m:r>
                        <a:rPr lang="ar-AE">
                          <a:solidFill>
                            <a:srgbClr val="FF0000"/>
                          </a:solidFill>
                          <a:latin typeface="Cambria Math" panose="02040503050406030204" pitchFamily="18" charset="0"/>
                        </a:rPr>
                        <m:t>≈2.17</m:t>
                      </m:r>
                      <m:r>
                        <m:rPr>
                          <m:nor/>
                        </m:rPr>
                        <a:rPr lang="ar-AE" i="1">
                          <a:solidFill>
                            <a:srgbClr val="FF0000"/>
                          </a:solidFill>
                          <a:latin typeface="Calibri" panose="020F0502020204030204" pitchFamily="34" charset="0"/>
                          <a:cs typeface="Calibri" panose="020F0502020204030204" pitchFamily="34" charset="0"/>
                        </a:rPr>
                        <m:t> </m:t>
                      </m:r>
                      <m:sSup>
                        <m:sSupPr>
                          <m:ctrlPr>
                            <a:rPr lang="ar-AE" i="1">
                              <a:solidFill>
                                <a:srgbClr val="FF0000"/>
                              </a:solidFill>
                              <a:latin typeface="Cambria Math" panose="02040503050406030204" pitchFamily="18" charset="0"/>
                            </a:rPr>
                          </m:ctrlPr>
                        </m:sSupPr>
                        <m:e>
                          <m:r>
                            <m:rPr>
                              <m:nor/>
                            </m:rPr>
                            <a:rPr lang="en-GB" i="1">
                              <a:solidFill>
                                <a:srgbClr val="FF0000"/>
                              </a:solidFill>
                              <a:latin typeface="Calibri" panose="020F0502020204030204" pitchFamily="34" charset="0"/>
                              <a:cs typeface="Calibri" panose="020F0502020204030204" pitchFamily="34" charset="0"/>
                            </a:rPr>
                            <m:t>W</m:t>
                          </m:r>
                          <m:r>
                            <m:rPr>
                              <m:nor/>
                            </m:rPr>
                            <a:rPr lang="en-GB" i="1">
                              <a:solidFill>
                                <a:srgbClr val="FF0000"/>
                              </a:solidFill>
                              <a:latin typeface="Calibri" panose="020F0502020204030204" pitchFamily="34" charset="0"/>
                              <a:cs typeface="Calibri" panose="020F0502020204030204" pitchFamily="34" charset="0"/>
                            </a:rPr>
                            <m:t> </m:t>
                          </m:r>
                          <m:r>
                            <m:rPr>
                              <m:nor/>
                            </m:rPr>
                            <a:rPr lang="en-GB" i="1">
                              <a:solidFill>
                                <a:srgbClr val="FF0000"/>
                              </a:solidFill>
                              <a:latin typeface="Calibri" panose="020F0502020204030204" pitchFamily="34" charset="0"/>
                              <a:cs typeface="Calibri" panose="020F0502020204030204" pitchFamily="34" charset="0"/>
                            </a:rPr>
                            <m:t>m</m:t>
                          </m:r>
                        </m:e>
                        <m:sup>
                          <m:r>
                            <a:rPr lang="ar-AE">
                              <a:solidFill>
                                <a:srgbClr val="FF0000"/>
                              </a:solidFill>
                              <a:latin typeface="Cambria Math" panose="02040503050406030204" pitchFamily="18" charset="0"/>
                            </a:rPr>
                            <m:t>−2</m:t>
                          </m:r>
                        </m:sup>
                      </m:sSup>
                    </m:oMath>
                  </m:oMathPara>
                </a14:m>
                <a:endParaRPr lang="ar-AE" dirty="0">
                  <a:solidFill>
                    <a:srgbClr val="FF0000"/>
                  </a:solidFill>
                  <a:latin typeface="Calibri" panose="020F0502020204030204" pitchFamily="34" charset="0"/>
                  <a:cs typeface="Calibri" panose="020F0502020204030204" pitchFamily="34" charset="0"/>
                </a:endParaRPr>
              </a:p>
              <a:p>
                <a:r>
                  <a:rPr lang="en-GB" dirty="0">
                    <a:solidFill>
                      <a:srgbClr val="FF0000"/>
                    </a:solidFill>
                    <a:latin typeface="Calibri" panose="020F0502020204030204" pitchFamily="34" charset="0"/>
                    <a:cs typeface="Calibri" panose="020F0502020204030204" pitchFamily="34" charset="0"/>
                  </a:rPr>
                  <a:t>This shows that the increase since 1979 alone accounts for </a:t>
                </a:r>
                <a:r>
                  <a:rPr lang="en-GB" b="1" dirty="0">
                    <a:solidFill>
                      <a:srgbClr val="FF0000"/>
                    </a:solidFill>
                    <a:latin typeface="Calibri" panose="020F0502020204030204" pitchFamily="34" charset="0"/>
                    <a:cs typeface="Calibri" panose="020F0502020204030204" pitchFamily="34" charset="0"/>
                  </a:rPr>
                  <a:t>more than half</a:t>
                </a:r>
                <a:r>
                  <a:rPr lang="en-GB" dirty="0">
                    <a:solidFill>
                      <a:srgbClr val="FF0000"/>
                    </a:solidFill>
                    <a:latin typeface="Calibri" panose="020F0502020204030204" pitchFamily="34" charset="0"/>
                    <a:cs typeface="Calibri" panose="020F0502020204030204" pitchFamily="34" charset="0"/>
                  </a:rPr>
                  <a:t> of the total radiative forcing accumulated since pre-industrial times, highlighting how rapidly forcing has increased in recent decades</a:t>
                </a:r>
                <a:endParaRPr lang="en-GB" sz="1800" b="1" i="0" kern="1200" dirty="0">
                  <a:solidFill>
                    <a:srgbClr val="FF0000"/>
                  </a:solidFill>
                  <a:effectLst/>
                  <a:latin typeface="Calibri" panose="020F0502020204030204" pitchFamily="34" charset="0"/>
                  <a:cs typeface="Calibri" panose="020F0502020204030204" pitchFamily="34" charset="0"/>
                </a:endParaRPr>
              </a:p>
              <a:p>
                <a:endParaRPr lang="en-GB" b="1" dirty="0">
                  <a:latin typeface="Calibri" panose="020F0502020204030204" pitchFamily="34" charset="0"/>
                  <a:cs typeface="Calibri" panose="020F0502020204030204" pitchFamily="34" charset="0"/>
                </a:endParaRPr>
              </a:p>
              <a:p>
                <a:endParaRPr lang="en-GB" sz="1800" b="0" i="0" kern="1200" dirty="0">
                  <a:solidFill>
                    <a:schemeClr val="tx1"/>
                  </a:solidFill>
                  <a:effectLst/>
                  <a:latin typeface="Calibri" panose="020F0502020204030204" pitchFamily="34" charset="0"/>
                  <a:cs typeface="Calibri" panose="020F0502020204030204" pitchFamily="34" charset="0"/>
                </a:endParaRPr>
              </a:p>
            </p:txBody>
          </p:sp>
        </mc:Choice>
        <mc:Fallback xmlns="">
          <p:sp>
            <p:nvSpPr>
              <p:cNvPr id="4" name="TextBox 3">
                <a:extLst>
                  <a:ext uri="{FF2B5EF4-FFF2-40B4-BE49-F238E27FC236}">
                    <a16:creationId xmlns:a16="http://schemas.microsoft.com/office/drawing/2014/main" id="{26316F14-A0A4-5AFE-8DAC-11F351FEA5FA}"/>
                  </a:ext>
                </a:extLst>
              </p:cNvPr>
              <p:cNvSpPr txBox="1">
                <a:spLocks noRot="1" noChangeAspect="1" noMove="1" noResize="1" noEditPoints="1" noAdjustHandles="1" noChangeArrowheads="1" noChangeShapeType="1" noTextEdit="1"/>
              </p:cNvSpPr>
              <p:nvPr/>
            </p:nvSpPr>
            <p:spPr>
              <a:xfrm>
                <a:off x="389465" y="1329323"/>
                <a:ext cx="11576758" cy="5531386"/>
              </a:xfrm>
              <a:prstGeom prst="rect">
                <a:avLst/>
              </a:prstGeom>
              <a:blipFill>
                <a:blip r:embed="rId5"/>
                <a:stretch>
                  <a:fillRect l="-438" r="-110"/>
                </a:stretch>
              </a:blipFill>
            </p:spPr>
            <p:txBody>
              <a:bodyPr/>
              <a:lstStyle/>
              <a:p>
                <a:r>
                  <a:rPr lang="en-US">
                    <a:noFill/>
                  </a:rPr>
                  <a:t> </a:t>
                </a:r>
              </a:p>
            </p:txBody>
          </p:sp>
        </mc:Fallback>
      </mc:AlternateContent>
    </p:spTree>
    <p:extLst>
      <p:ext uri="{BB962C8B-B14F-4D97-AF65-F5344CB8AC3E}">
        <p14:creationId xmlns:p14="http://schemas.microsoft.com/office/powerpoint/2010/main" val="3772123474"/>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E367E-48BD-95C1-50DF-A4851F1E98C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C9179548-5FD0-C9DF-3DC9-2C8004144F46}"/>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B077545E-5F40-8DB4-39B7-783E9470F459}"/>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Q9.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ECE66DD-026A-7650-4FED-F34E29BC1473}"/>
                  </a:ext>
                </a:extLst>
              </p:cNvPr>
              <p:cNvSpPr txBox="1"/>
              <p:nvPr/>
            </p:nvSpPr>
            <p:spPr>
              <a:xfrm>
                <a:off x="389464" y="1497239"/>
                <a:ext cx="11339691" cy="4869666"/>
              </a:xfrm>
              <a:prstGeom prst="rect">
                <a:avLst/>
              </a:prstGeom>
              <a:noFill/>
            </p:spPr>
            <p:txBody>
              <a:bodyPr wrap="square">
                <a:spAutoFit/>
              </a:bodyPr>
              <a:lstStyle/>
              <a:p>
                <a:r>
                  <a:rPr lang="en-GB" sz="1800" b="0" i="0" kern="1200" dirty="0">
                    <a:solidFill>
                      <a:schemeClr val="tx1"/>
                    </a:solidFill>
                    <a:effectLst/>
                    <a:latin typeface="Calibri" panose="020F0502020204030204" pitchFamily="34" charset="0"/>
                    <a:cs typeface="Calibri" panose="020F0502020204030204" pitchFamily="34" charset="0"/>
                  </a:rPr>
                  <a:t>Radiative forcing due to changes in greenhouse gas concentrations can be approximated by:</a:t>
                </a:r>
              </a:p>
              <a:p>
                <a:pPr/>
                <a14:m>
                  <m:oMathPara xmlns:m="http://schemas.openxmlformats.org/officeDocument/2006/math">
                    <m:oMathParaPr>
                      <m:jc m:val="centerGroup"/>
                    </m:oMathParaPr>
                    <m:oMath xmlns:m="http://schemas.openxmlformats.org/officeDocument/2006/math">
                      <m:r>
                        <m:rPr>
                          <m:sty m:val="p"/>
                        </m:rPr>
                        <a:rPr lang="el-GR" sz="1800" kern="1200">
                          <a:solidFill>
                            <a:schemeClr val="tx1"/>
                          </a:solidFill>
                          <a:latin typeface="Cambria Math" panose="02040503050406030204" pitchFamily="18" charset="0"/>
                        </a:rPr>
                        <m:t>Δ</m:t>
                      </m:r>
                      <m:r>
                        <a:rPr lang="el-GR" sz="1800" i="1" kern="1200">
                          <a:solidFill>
                            <a:schemeClr val="tx1"/>
                          </a:solidFill>
                          <a:latin typeface="Cambria Math" panose="02040503050406030204" pitchFamily="18" charset="0"/>
                        </a:rPr>
                        <m:t>𝐹</m:t>
                      </m:r>
                      <m:r>
                        <a:rPr lang="el-GR" sz="1800" i="0" kern="1200">
                          <a:solidFill>
                            <a:schemeClr val="tx1"/>
                          </a:solidFill>
                          <a:latin typeface="Cambria Math" panose="02040503050406030204" pitchFamily="18" charset="0"/>
                        </a:rPr>
                        <m:t>=</m:t>
                      </m:r>
                      <m:r>
                        <a:rPr lang="el-GR" sz="1800" i="1" kern="1200">
                          <a:solidFill>
                            <a:schemeClr val="tx1"/>
                          </a:solidFill>
                          <a:latin typeface="Cambria Math" panose="02040503050406030204" pitchFamily="18" charset="0"/>
                        </a:rPr>
                        <m:t>𝑎</m:t>
                      </m:r>
                      <m:r>
                        <a:rPr lang="el-GR" sz="1800" i="0" kern="1200">
                          <a:solidFill>
                            <a:schemeClr val="tx1"/>
                          </a:solidFill>
                          <a:latin typeface="Cambria Math" panose="02040503050406030204" pitchFamily="18" charset="0"/>
                        </a:rPr>
                        <m:t>×</m:t>
                      </m:r>
                      <m:func>
                        <m:funcPr>
                          <m:ctrlPr>
                            <a:rPr lang="ar-AE" sz="1800" i="1" kern="1200">
                              <a:solidFill>
                                <a:schemeClr val="tx1"/>
                              </a:solidFill>
                              <a:latin typeface="Cambria Math" panose="02040503050406030204" pitchFamily="18" charset="0"/>
                            </a:rPr>
                          </m:ctrlPr>
                        </m:funcPr>
                        <m:fName>
                          <m:r>
                            <m:rPr>
                              <m:sty m:val="p"/>
                            </m:rPr>
                            <a:rPr lang="en-GB" sz="1800" i="0" kern="1200">
                              <a:solidFill>
                                <a:schemeClr val="tx1"/>
                              </a:solidFill>
                              <a:latin typeface="Cambria Math" panose="02040503050406030204" pitchFamily="18" charset="0"/>
                            </a:rPr>
                            <m:t>ln</m:t>
                          </m:r>
                        </m:fName>
                        <m:e>
                          <m:d>
                            <m:dPr>
                              <m:ctrlPr>
                                <a:rPr lang="ar-AE" sz="1800" i="1" kern="1200">
                                  <a:solidFill>
                                    <a:schemeClr val="tx1"/>
                                  </a:solidFill>
                                  <a:latin typeface="Cambria Math" panose="02040503050406030204" pitchFamily="18" charset="0"/>
                                </a:rPr>
                              </m:ctrlPr>
                            </m:dPr>
                            <m:e>
                              <m:f>
                                <m:fPr>
                                  <m:ctrlPr>
                                    <a:rPr lang="ar-AE" sz="1800" i="1" kern="1200">
                                      <a:solidFill>
                                        <a:schemeClr val="tx1"/>
                                      </a:solidFill>
                                      <a:latin typeface="Cambria Math" panose="02040503050406030204" pitchFamily="18" charset="0"/>
                                    </a:rPr>
                                  </m:ctrlPr>
                                </m:fPr>
                                <m:num>
                                  <m:r>
                                    <a:rPr lang="ar-AE" sz="1800" i="1" kern="1200">
                                      <a:solidFill>
                                        <a:schemeClr val="tx1"/>
                                      </a:solidFill>
                                      <a:latin typeface="Cambria Math" panose="02040503050406030204" pitchFamily="18" charset="0"/>
                                    </a:rPr>
                                    <m:t>𝐶</m:t>
                                  </m:r>
                                  <m:d>
                                    <m:dPr>
                                      <m:ctrlPr>
                                        <a:rPr lang="ar-AE" sz="1800" i="1" kern="1200">
                                          <a:solidFill>
                                            <a:schemeClr val="tx1"/>
                                          </a:solidFill>
                                          <a:latin typeface="Cambria Math" panose="02040503050406030204" pitchFamily="18" charset="0"/>
                                        </a:rPr>
                                      </m:ctrlPr>
                                    </m:dPr>
                                    <m:e>
                                      <m:r>
                                        <a:rPr lang="ar-AE" sz="1800" i="1" kern="1200">
                                          <a:solidFill>
                                            <a:schemeClr val="tx1"/>
                                          </a:solidFill>
                                          <a:latin typeface="Cambria Math" panose="02040503050406030204" pitchFamily="18" charset="0"/>
                                        </a:rPr>
                                        <m:t>𝑡</m:t>
                                      </m:r>
                                    </m:e>
                                  </m:d>
                                </m:num>
                                <m:den>
                                  <m:sSub>
                                    <m:sSubPr>
                                      <m:ctrlPr>
                                        <a:rPr lang="ar-AE" sz="1800" i="1" kern="120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𝐶</m:t>
                                      </m:r>
                                    </m:e>
                                    <m:sub>
                                      <m:r>
                                        <a:rPr lang="ar-AE" sz="1800" i="0" kern="1200">
                                          <a:solidFill>
                                            <a:schemeClr val="tx1"/>
                                          </a:solidFill>
                                          <a:latin typeface="Cambria Math" panose="02040503050406030204" pitchFamily="18" charset="0"/>
                                        </a:rPr>
                                        <m:t>0</m:t>
                                      </m:r>
                                    </m:sub>
                                  </m:sSub>
                                </m:den>
                              </m:f>
                            </m:e>
                          </m:d>
                        </m:e>
                      </m:func>
                    </m:oMath>
                  </m:oMathPara>
                </a14:m>
                <a:endParaRPr lang="ar-AE" dirty="0">
                  <a:latin typeface="Calibri" panose="020F0502020204030204" pitchFamily="34" charset="0"/>
                  <a:cs typeface="Calibri" panose="020F0502020204030204" pitchFamily="34" charset="0"/>
                </a:endParaRPr>
              </a:p>
              <a:p>
                <a:r>
                  <a:rPr lang="en-GB" sz="1800" b="0" i="0" kern="1200" dirty="0">
                    <a:solidFill>
                      <a:schemeClr val="tx1"/>
                    </a:solidFill>
                    <a:effectLst/>
                    <a:latin typeface="Calibri" panose="020F0502020204030204" pitchFamily="34" charset="0"/>
                    <a:cs typeface="Calibri" panose="020F0502020204030204" pitchFamily="34" charset="0"/>
                  </a:rPr>
                  <a:t>where:</a:t>
                </a:r>
              </a:p>
              <a:p>
                <a14:m>
                  <m:oMath xmlns:m="http://schemas.openxmlformats.org/officeDocument/2006/math">
                    <m:sSub>
                      <m:sSubPr>
                        <m:ctrlPr>
                          <a:rPr lang="ar-AE" sz="1800" i="1" kern="120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𝐶</m:t>
                        </m:r>
                      </m:e>
                      <m:sub>
                        <m:r>
                          <a:rPr lang="ar-AE" sz="1800" i="0" kern="1200">
                            <a:solidFill>
                              <a:schemeClr val="tx1"/>
                            </a:solidFill>
                            <a:latin typeface="Cambria Math" panose="02040503050406030204" pitchFamily="18" charset="0"/>
                          </a:rPr>
                          <m:t>0</m:t>
                        </m:r>
                      </m:sub>
                    </m:sSub>
                  </m:oMath>
                </a14:m>
                <a:r>
                  <a:rPr lang="ar-AE" sz="1800" b="0" i="0" kern="1200" dirty="0">
                    <a:solidFill>
                      <a:schemeClr val="tx1"/>
                    </a:solidFill>
                    <a:effectLst/>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is the initial concentration,</a:t>
                </a:r>
              </a:p>
              <a:p>
                <a14:m>
                  <m:oMath xmlns:m="http://schemas.openxmlformats.org/officeDocument/2006/math">
                    <m:r>
                      <a:rPr lang="en-GB" sz="1800" i="1" kern="1200">
                        <a:solidFill>
                          <a:schemeClr val="tx1"/>
                        </a:solidFill>
                        <a:latin typeface="Cambria Math" panose="02040503050406030204" pitchFamily="18" charset="0"/>
                      </a:rPr>
                      <m:t>𝐶</m:t>
                    </m:r>
                    <m:d>
                      <m:dPr>
                        <m:ctrlPr>
                          <a:rPr lang="ar-AE" sz="1800" i="1" kern="1200">
                            <a:solidFill>
                              <a:schemeClr val="tx1"/>
                            </a:solidFill>
                            <a:latin typeface="Cambria Math" panose="02040503050406030204" pitchFamily="18" charset="0"/>
                          </a:rPr>
                        </m:ctrlPr>
                      </m:dPr>
                      <m:e>
                        <m:r>
                          <a:rPr lang="ar-AE" sz="1800" i="1" kern="1200">
                            <a:solidFill>
                              <a:schemeClr val="tx1"/>
                            </a:solidFill>
                            <a:latin typeface="Cambria Math" panose="02040503050406030204" pitchFamily="18" charset="0"/>
                          </a:rPr>
                          <m:t>𝑡</m:t>
                        </m:r>
                      </m:e>
                    </m:d>
                  </m:oMath>
                </a14:m>
                <a:r>
                  <a:rPr lang="ar-AE" sz="1800" b="0" i="0" kern="1200" dirty="0">
                    <a:solidFill>
                      <a:schemeClr val="tx1"/>
                    </a:solidFill>
                    <a:effectLst/>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is the later concentration,</a:t>
                </a:r>
              </a:p>
              <a:p>
                <a14:m>
                  <m:oMath xmlns:m="http://schemas.openxmlformats.org/officeDocument/2006/math">
                    <m:r>
                      <a:rPr lang="en-GB" sz="1800" i="1" kern="1200">
                        <a:solidFill>
                          <a:schemeClr val="tx1"/>
                        </a:solidFill>
                        <a:latin typeface="Cambria Math" panose="02040503050406030204" pitchFamily="18" charset="0"/>
                      </a:rPr>
                      <m:t>𝑎</m:t>
                    </m:r>
                  </m:oMath>
                </a14:m>
                <a:r>
                  <a:rPr lang="en-GB" sz="1800" b="0" i="0" kern="1200" dirty="0">
                    <a:solidFill>
                      <a:schemeClr val="tx1"/>
                    </a:solidFill>
                    <a:effectLst/>
                    <a:latin typeface="Calibri" panose="020F0502020204030204" pitchFamily="34" charset="0"/>
                    <a:cs typeface="Calibri" panose="020F0502020204030204" pitchFamily="34" charset="0"/>
                  </a:rPr>
                  <a:t> is a gas-specific constant.</a:t>
                </a:r>
              </a:p>
              <a:p>
                <a:r>
                  <a:rPr lang="en-GB" sz="1800" b="0" i="0" kern="1200" dirty="0">
                    <a:solidFill>
                      <a:schemeClr val="tx1"/>
                    </a:solidFill>
                    <a:effectLst/>
                    <a:latin typeface="Calibri" panose="020F0502020204030204" pitchFamily="34" charset="0"/>
                    <a:cs typeface="Calibri" panose="020F0502020204030204" pitchFamily="34" charset="0"/>
                  </a:rPr>
                  <a:t>The values of </a:t>
                </a:r>
                <a14:m>
                  <m:oMath xmlns:m="http://schemas.openxmlformats.org/officeDocument/2006/math">
                    <m:r>
                      <a:rPr lang="en-GB" sz="1800" i="1" kern="1200">
                        <a:solidFill>
                          <a:schemeClr val="tx1"/>
                        </a:solidFill>
                        <a:latin typeface="Cambria Math" panose="02040503050406030204" pitchFamily="18" charset="0"/>
                      </a:rPr>
                      <m:t>𝑎</m:t>
                    </m:r>
                  </m:oMath>
                </a14:m>
                <a:r>
                  <a:rPr lang="en-GB" sz="1800" b="0" i="0" kern="1200" dirty="0">
                    <a:solidFill>
                      <a:schemeClr val="tx1"/>
                    </a:solidFill>
                    <a:effectLst/>
                    <a:latin typeface="Calibri" panose="020F0502020204030204" pitchFamily="34" charset="0"/>
                    <a:cs typeface="Calibri" panose="020F0502020204030204" pitchFamily="34" charset="0"/>
                  </a:rPr>
                  <a:t> are:</a:t>
                </a:r>
              </a:p>
              <a:p>
                <a:r>
                  <a:rPr lang="en-GB" sz="1800" b="0" i="0" kern="1200" dirty="0">
                    <a:solidFill>
                      <a:schemeClr val="tx1"/>
                    </a:solidFill>
                    <a:effectLst/>
                    <a:latin typeface="Calibri" panose="020F0502020204030204" pitchFamily="34" charset="0"/>
                    <a:cs typeface="Calibri" panose="020F0502020204030204" pitchFamily="34" charset="0"/>
                  </a:rPr>
                  <a:t>CO₂: </a:t>
                </a:r>
                <a14:m>
                  <m:oMath xmlns:m="http://schemas.openxmlformats.org/officeDocument/2006/math">
                    <m:r>
                      <a:rPr lang="en-GB" sz="1800" i="1" kern="1200">
                        <a:solidFill>
                          <a:schemeClr val="tx1"/>
                        </a:solidFill>
                        <a:latin typeface="Cambria Math" panose="02040503050406030204" pitchFamily="18" charset="0"/>
                      </a:rPr>
                      <m:t>𝑎</m:t>
                    </m:r>
                    <m:r>
                      <a:rPr lang="en-GB" sz="1800" i="0" kern="1200">
                        <a:solidFill>
                          <a:schemeClr val="tx1"/>
                        </a:solidFill>
                        <a:latin typeface="Cambria Math" panose="02040503050406030204" pitchFamily="18" charset="0"/>
                      </a:rPr>
                      <m:t>=5.35</m:t>
                    </m:r>
                    <m:r>
                      <a:rPr lang="en-GB" sz="1800" b="0" i="0" kern="1200" smtClean="0">
                        <a:solidFill>
                          <a:schemeClr val="tx1"/>
                        </a:solidFill>
                        <a:latin typeface="Cambria Math" panose="02040503050406030204" pitchFamily="18" charset="0"/>
                      </a:rPr>
                      <m:t>, </m:t>
                    </m:r>
                  </m:oMath>
                </a14:m>
                <a:r>
                  <a:rPr lang="en-GB" sz="1800" b="0" i="0" kern="1200" dirty="0">
                    <a:solidFill>
                      <a:schemeClr val="tx1"/>
                    </a:solidFill>
                    <a:effectLst/>
                    <a:latin typeface="Calibri" panose="020F0502020204030204" pitchFamily="34" charset="0"/>
                    <a:cs typeface="Calibri" panose="020F0502020204030204" pitchFamily="34" charset="0"/>
                  </a:rPr>
                  <a:t>CH₄: </a:t>
                </a:r>
                <a14:m>
                  <m:oMath xmlns:m="http://schemas.openxmlformats.org/officeDocument/2006/math">
                    <m:r>
                      <a:rPr lang="en-GB" sz="1800" i="1" kern="1200">
                        <a:solidFill>
                          <a:schemeClr val="tx1"/>
                        </a:solidFill>
                        <a:latin typeface="Cambria Math" panose="02040503050406030204" pitchFamily="18" charset="0"/>
                      </a:rPr>
                      <m:t>𝑎</m:t>
                    </m:r>
                    <m:r>
                      <a:rPr lang="en-GB" sz="1800" i="0" kern="1200">
                        <a:solidFill>
                          <a:schemeClr val="tx1"/>
                        </a:solidFill>
                        <a:latin typeface="Cambria Math" panose="02040503050406030204" pitchFamily="18" charset="0"/>
                      </a:rPr>
                      <m:t>=0.525</m:t>
                    </m:r>
                    <m:r>
                      <a:rPr lang="en-GB" sz="1800" b="0" i="0" kern="1200" smtClean="0">
                        <a:solidFill>
                          <a:schemeClr val="tx1"/>
                        </a:solidFill>
                        <a:latin typeface="Cambria Math" panose="02040503050406030204" pitchFamily="18" charset="0"/>
                      </a:rPr>
                      <m:t>, </m:t>
                    </m:r>
                  </m:oMath>
                </a14:m>
                <a:r>
                  <a:rPr lang="en-GB" sz="1800" b="0" i="0" kern="1200" dirty="0">
                    <a:solidFill>
                      <a:schemeClr val="tx1"/>
                    </a:solidFill>
                    <a:effectLst/>
                    <a:latin typeface="Calibri" panose="020F0502020204030204" pitchFamily="34" charset="0"/>
                    <a:cs typeface="Calibri" panose="020F0502020204030204" pitchFamily="34" charset="0"/>
                  </a:rPr>
                  <a:t>N₂O: </a:t>
                </a:r>
                <a14:m>
                  <m:oMath xmlns:m="http://schemas.openxmlformats.org/officeDocument/2006/math">
                    <m:r>
                      <a:rPr lang="en-GB" sz="1800" i="1" kern="1200">
                        <a:solidFill>
                          <a:schemeClr val="tx1"/>
                        </a:solidFill>
                        <a:latin typeface="Cambria Math" panose="02040503050406030204" pitchFamily="18" charset="0"/>
                      </a:rPr>
                      <m:t>𝑎</m:t>
                    </m:r>
                    <m:r>
                      <a:rPr lang="en-GB" sz="1800" i="0" kern="1200">
                        <a:solidFill>
                          <a:schemeClr val="tx1"/>
                        </a:solidFill>
                        <a:latin typeface="Cambria Math" panose="02040503050406030204" pitchFamily="18" charset="0"/>
                      </a:rPr>
                      <m:t>=0.595</m:t>
                    </m:r>
                  </m:oMath>
                </a14:m>
                <a:endParaRPr lang="en-GB" sz="1800" b="0" i="0" kern="1200" dirty="0">
                  <a:solidFill>
                    <a:schemeClr val="tx1"/>
                  </a:solidFill>
                  <a:effectLst/>
                  <a:latin typeface="Calibri" panose="020F0502020204030204" pitchFamily="34" charset="0"/>
                  <a:cs typeface="Calibri" panose="020F0502020204030204" pitchFamily="34" charset="0"/>
                </a:endParaRPr>
              </a:p>
              <a:p>
                <a:r>
                  <a:rPr lang="en-GB" sz="1800" b="0" i="0" kern="1200" dirty="0">
                    <a:solidFill>
                      <a:schemeClr val="tx1"/>
                    </a:solidFill>
                    <a:effectLst/>
                    <a:latin typeface="Calibri" panose="020F0502020204030204" pitchFamily="34" charset="0"/>
                    <a:cs typeface="Calibri" panose="020F0502020204030204" pitchFamily="34" charset="0"/>
                  </a:rPr>
                  <a:t>Assume the following </a:t>
                </a:r>
                <a:r>
                  <a:rPr lang="en-GB" sz="1800" b="1" i="0" kern="1200" dirty="0">
                    <a:solidFill>
                      <a:schemeClr val="tx1"/>
                    </a:solidFill>
                    <a:effectLst/>
                    <a:latin typeface="Calibri" panose="020F0502020204030204" pitchFamily="34" charset="0"/>
                    <a:cs typeface="Calibri" panose="020F0502020204030204" pitchFamily="34" charset="0"/>
                  </a:rPr>
                  <a:t>pre-industrial baseline concentrations</a:t>
                </a:r>
                <a:r>
                  <a:rPr lang="en-GB" sz="1800" b="0" i="0" kern="1200" dirty="0">
                    <a:solidFill>
                      <a:schemeClr val="tx1"/>
                    </a:solidFill>
                    <a:effectLst/>
                    <a:latin typeface="Calibri" panose="020F0502020204030204" pitchFamily="34" charset="0"/>
                    <a:cs typeface="Calibri" panose="020F0502020204030204" pitchFamily="34" charset="0"/>
                  </a:rPr>
                  <a:t>:</a:t>
                </a:r>
              </a:p>
              <a:p>
                <a:r>
                  <a:rPr lang="en-GB" sz="1800" b="0" i="0" kern="1200" dirty="0">
                    <a:solidFill>
                      <a:schemeClr val="tx1"/>
                    </a:solidFill>
                    <a:effectLst/>
                    <a:latin typeface="Calibri" panose="020F0502020204030204" pitchFamily="34" charset="0"/>
                    <a:cs typeface="Calibri" panose="020F0502020204030204" pitchFamily="34" charset="0"/>
                  </a:rPr>
                  <a:t>CO₂: 280 </a:t>
                </a:r>
                <a:r>
                  <a:rPr lang="en-GB" sz="1800" b="0" i="0" kern="1200" dirty="0" err="1">
                    <a:solidFill>
                      <a:schemeClr val="tx1"/>
                    </a:solidFill>
                    <a:effectLst/>
                    <a:latin typeface="Calibri" panose="020F0502020204030204" pitchFamily="34" charset="0"/>
                    <a:cs typeface="Calibri" panose="020F0502020204030204" pitchFamily="34" charset="0"/>
                  </a:rPr>
                  <a:t>ppmv</a:t>
                </a:r>
                <a:r>
                  <a:rPr lang="en-GB" dirty="0">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CH₄: 722 </a:t>
                </a:r>
                <a:r>
                  <a:rPr lang="en-GB" sz="1800" b="0" i="0" kern="1200" dirty="0" err="1">
                    <a:solidFill>
                      <a:schemeClr val="tx1"/>
                    </a:solidFill>
                    <a:effectLst/>
                    <a:latin typeface="Calibri" panose="020F0502020204030204" pitchFamily="34" charset="0"/>
                    <a:cs typeface="Calibri" panose="020F0502020204030204" pitchFamily="34" charset="0"/>
                  </a:rPr>
                  <a:t>ppbv</a:t>
                </a:r>
                <a:r>
                  <a:rPr lang="en-GB" dirty="0">
                    <a:latin typeface="Calibri" panose="020F0502020204030204" pitchFamily="34" charset="0"/>
                    <a:cs typeface="Calibri" panose="020F0502020204030204" pitchFamily="34" charset="0"/>
                  </a:rPr>
                  <a:t>, </a:t>
                </a:r>
                <a:r>
                  <a:rPr lang="en-GB" sz="1800" b="0" i="0" kern="1200" dirty="0">
                    <a:solidFill>
                      <a:schemeClr val="tx1"/>
                    </a:solidFill>
                    <a:effectLst/>
                    <a:latin typeface="Calibri" panose="020F0502020204030204" pitchFamily="34" charset="0"/>
                    <a:cs typeface="Calibri" panose="020F0502020204030204" pitchFamily="34" charset="0"/>
                  </a:rPr>
                  <a:t>N₂O: 270 </a:t>
                </a:r>
                <a:r>
                  <a:rPr lang="en-GB" sz="1800" b="0" i="0" kern="1200" dirty="0" err="1">
                    <a:solidFill>
                      <a:schemeClr val="tx1"/>
                    </a:solidFill>
                    <a:effectLst/>
                    <a:latin typeface="Calibri" panose="020F0502020204030204" pitchFamily="34" charset="0"/>
                    <a:cs typeface="Calibri" panose="020F0502020204030204" pitchFamily="34" charset="0"/>
                  </a:rPr>
                  <a:t>ppbv</a:t>
                </a:r>
                <a:endParaRPr lang="en-GB" sz="1800" b="0" i="0" kern="1200" dirty="0">
                  <a:solidFill>
                    <a:schemeClr val="tx1"/>
                  </a:solidFill>
                  <a:effectLst/>
                  <a:latin typeface="Calibri" panose="020F0502020204030204" pitchFamily="34" charset="0"/>
                  <a:cs typeface="Calibri" panose="020F0502020204030204" pitchFamily="34" charset="0"/>
                </a:endParaRPr>
              </a:p>
              <a:p>
                <a:r>
                  <a:rPr lang="en-GB" sz="1800" b="0" i="0" kern="1200" dirty="0">
                    <a:solidFill>
                      <a:schemeClr val="tx1"/>
                    </a:solidFill>
                    <a:effectLst/>
                    <a:latin typeface="Calibri" panose="020F0502020204030204" pitchFamily="34" charset="0"/>
                    <a:cs typeface="Calibri" panose="020F0502020204030204" pitchFamily="34" charset="0"/>
                  </a:rPr>
                  <a:t>Now suppose that </a:t>
                </a:r>
                <a:r>
                  <a:rPr lang="en-GB" sz="1800" b="1" i="0" kern="1200" dirty="0">
                    <a:solidFill>
                      <a:schemeClr val="tx1"/>
                    </a:solidFill>
                    <a:effectLst/>
                    <a:latin typeface="Calibri" panose="020F0502020204030204" pitchFamily="34" charset="0"/>
                    <a:cs typeface="Calibri" panose="020F0502020204030204" pitchFamily="34" charset="0"/>
                  </a:rPr>
                  <a:t>each gas increases by 10% from its baseline concentration</a:t>
                </a:r>
                <a:r>
                  <a:rPr lang="en-GB" sz="1800" b="0" i="0" kern="1200" dirty="0">
                    <a:solidFill>
                      <a:schemeClr val="tx1"/>
                    </a:solidFill>
                    <a:effectLst/>
                    <a:latin typeface="Calibri" panose="020F0502020204030204" pitchFamily="34" charset="0"/>
                    <a:cs typeface="Calibri" panose="020F0502020204030204" pitchFamily="34" charset="0"/>
                  </a:rPr>
                  <a:t>.</a:t>
                </a:r>
              </a:p>
              <a:p>
                <a:r>
                  <a:rPr lang="en-GB" sz="1800" b="1" i="0" kern="1200" dirty="0">
                    <a:solidFill>
                      <a:schemeClr val="tx1"/>
                    </a:solidFill>
                    <a:effectLst/>
                    <a:latin typeface="Calibri" panose="020F0502020204030204" pitchFamily="34" charset="0"/>
                    <a:cs typeface="Calibri" panose="020F0502020204030204" pitchFamily="34" charset="0"/>
                  </a:rPr>
                  <a:t>(a)</a:t>
                </a:r>
                <a:r>
                  <a:rPr lang="en-GB" sz="1800" b="0" i="0" kern="1200" dirty="0">
                    <a:solidFill>
                      <a:schemeClr val="tx1"/>
                    </a:solidFill>
                    <a:effectLst/>
                    <a:latin typeface="Calibri" panose="020F0502020204030204" pitchFamily="34" charset="0"/>
                    <a:cs typeface="Calibri" panose="020F0502020204030204" pitchFamily="34" charset="0"/>
                  </a:rPr>
                  <a:t> Calculate the radiative forcing change associated with a 10% increase in each gas.</a:t>
                </a:r>
                <a:br>
                  <a:rPr lang="en-GB" sz="1800" b="0" i="0" kern="1200" dirty="0">
                    <a:solidFill>
                      <a:schemeClr val="tx1"/>
                    </a:solidFill>
                    <a:effectLst/>
                    <a:latin typeface="Calibri" panose="020F0502020204030204" pitchFamily="34" charset="0"/>
                    <a:cs typeface="Calibri" panose="020F0502020204030204" pitchFamily="34" charset="0"/>
                  </a:rPr>
                </a:br>
                <a:r>
                  <a:rPr lang="en-GB" sz="1800" b="1" i="0" kern="1200" dirty="0">
                    <a:solidFill>
                      <a:schemeClr val="tx1"/>
                    </a:solidFill>
                    <a:effectLst/>
                    <a:latin typeface="Calibri" panose="020F0502020204030204" pitchFamily="34" charset="0"/>
                    <a:cs typeface="Calibri" panose="020F0502020204030204" pitchFamily="34" charset="0"/>
                  </a:rPr>
                  <a:t>(b)</a:t>
                </a:r>
                <a:r>
                  <a:rPr lang="en-GB" sz="1800" b="0" i="0" kern="1200" dirty="0">
                    <a:solidFill>
                      <a:schemeClr val="tx1"/>
                    </a:solidFill>
                    <a:effectLst/>
                    <a:latin typeface="Calibri" panose="020F0502020204030204" pitchFamily="34" charset="0"/>
                    <a:cs typeface="Calibri" panose="020F0502020204030204" pitchFamily="34" charset="0"/>
                  </a:rPr>
                  <a:t> From a </a:t>
                </a:r>
                <a:r>
                  <a:rPr lang="en-GB" sz="1800" b="0" i="1" kern="1200" dirty="0">
                    <a:solidFill>
                      <a:schemeClr val="tx1"/>
                    </a:solidFill>
                    <a:effectLst/>
                    <a:latin typeface="Calibri" panose="020F0502020204030204" pitchFamily="34" charset="0"/>
                    <a:cs typeface="Calibri" panose="020F0502020204030204" pitchFamily="34" charset="0"/>
                  </a:rPr>
                  <a:t>global warming perspective</a:t>
                </a:r>
                <a:r>
                  <a:rPr lang="en-GB" sz="1800" b="0" i="0" kern="1200" dirty="0">
                    <a:solidFill>
                      <a:schemeClr val="tx1"/>
                    </a:solidFill>
                    <a:effectLst/>
                    <a:latin typeface="Calibri" panose="020F0502020204030204" pitchFamily="34" charset="0"/>
                    <a:cs typeface="Calibri" panose="020F0502020204030204" pitchFamily="34" charset="0"/>
                  </a:rPr>
                  <a:t>, which gas produces the largest radiative forcing increase for a 10% rise in concentration?</a:t>
                </a:r>
                <a:br>
                  <a:rPr lang="en-GB" sz="1800" b="0" i="0" kern="1200" dirty="0">
                    <a:solidFill>
                      <a:schemeClr val="tx1"/>
                    </a:solidFill>
                    <a:effectLst/>
                    <a:latin typeface="Calibri" panose="020F0502020204030204" pitchFamily="34" charset="0"/>
                    <a:cs typeface="Calibri" panose="020F0502020204030204" pitchFamily="34" charset="0"/>
                  </a:rPr>
                </a:br>
                <a:r>
                  <a:rPr lang="en-GB" sz="1800" b="1" i="0" kern="1200" dirty="0">
                    <a:solidFill>
                      <a:schemeClr val="tx1"/>
                    </a:solidFill>
                    <a:effectLst/>
                    <a:latin typeface="Calibri" panose="020F0502020204030204" pitchFamily="34" charset="0"/>
                    <a:cs typeface="Calibri" panose="020F0502020204030204" pitchFamily="34" charset="0"/>
                  </a:rPr>
                  <a:t>(c)</a:t>
                </a:r>
                <a:r>
                  <a:rPr lang="en-GB" sz="1800" b="0" i="0" kern="1200" dirty="0">
                    <a:solidFill>
                      <a:schemeClr val="tx1"/>
                    </a:solidFill>
                    <a:effectLst/>
                    <a:latin typeface="Calibri" panose="020F0502020204030204" pitchFamily="34" charset="0"/>
                    <a:cs typeface="Calibri" panose="020F0502020204030204" pitchFamily="34" charset="0"/>
                  </a:rPr>
                  <a:t> What does this comparison tell you about which greenhouse gases we should prioritise for mitigation, and why concentration alone is not the whole story?</a:t>
                </a:r>
              </a:p>
            </p:txBody>
          </p:sp>
        </mc:Choice>
        <mc:Fallback xmlns="">
          <p:sp>
            <p:nvSpPr>
              <p:cNvPr id="4" name="TextBox 3">
                <a:extLst>
                  <a:ext uri="{FF2B5EF4-FFF2-40B4-BE49-F238E27FC236}">
                    <a16:creationId xmlns:a16="http://schemas.microsoft.com/office/drawing/2014/main" id="{3ECE66DD-026A-7650-4FED-F34E29BC1473}"/>
                  </a:ext>
                </a:extLst>
              </p:cNvPr>
              <p:cNvSpPr txBox="1">
                <a:spLocks noRot="1" noChangeAspect="1" noMove="1" noResize="1" noEditPoints="1" noAdjustHandles="1" noChangeArrowheads="1" noChangeShapeType="1" noTextEdit="1"/>
              </p:cNvSpPr>
              <p:nvPr/>
            </p:nvSpPr>
            <p:spPr>
              <a:xfrm>
                <a:off x="389464" y="1497239"/>
                <a:ext cx="11339691" cy="4869666"/>
              </a:xfrm>
              <a:prstGeom prst="rect">
                <a:avLst/>
              </a:prstGeom>
              <a:blipFill>
                <a:blip r:embed="rId4"/>
                <a:stretch>
                  <a:fillRect l="-447" t="-781" b="-1042"/>
                </a:stretch>
              </a:blipFill>
            </p:spPr>
            <p:txBody>
              <a:bodyPr/>
              <a:lstStyle/>
              <a:p>
                <a:r>
                  <a:rPr lang="en-US">
                    <a:noFill/>
                  </a:rPr>
                  <a:t> </a:t>
                </a:r>
              </a:p>
            </p:txBody>
          </p:sp>
        </mc:Fallback>
      </mc:AlternateContent>
    </p:spTree>
    <p:extLst>
      <p:ext uri="{BB962C8B-B14F-4D97-AF65-F5344CB8AC3E}">
        <p14:creationId xmlns:p14="http://schemas.microsoft.com/office/powerpoint/2010/main" val="3713675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E213BCB-B4E3-D6F2-CE1A-4EFE3F425713}"/>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BFF4D2E7-52D5-F580-0A68-B50911DCD1A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205E9B2F-6C7C-3C36-1FC9-125DCA230A25}"/>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Q9.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3D0D81B-75DB-A2E3-08D7-9A8FC50428FB}"/>
                  </a:ext>
                </a:extLst>
              </p:cNvPr>
              <p:cNvSpPr txBox="1"/>
              <p:nvPr/>
            </p:nvSpPr>
            <p:spPr>
              <a:xfrm>
                <a:off x="389465" y="1373062"/>
                <a:ext cx="11339691" cy="5626669"/>
              </a:xfrm>
              <a:prstGeom prst="rect">
                <a:avLst/>
              </a:prstGeom>
              <a:noFill/>
            </p:spPr>
            <p:txBody>
              <a:bodyPr wrap="square">
                <a:spAutoFit/>
              </a:bodyPr>
              <a:lstStyle/>
              <a:p>
                <a:r>
                  <a:rPr lang="en-GB" sz="1800" b="1" i="0" kern="1200" dirty="0">
                    <a:solidFill>
                      <a:srgbClr val="FF0000"/>
                    </a:solidFill>
                    <a:effectLst/>
                    <a:latin typeface="Calibri" panose="020F0502020204030204" pitchFamily="34" charset="0"/>
                    <a:cs typeface="Calibri" panose="020F0502020204030204" pitchFamily="34" charset="0"/>
                  </a:rPr>
                  <a:t>A) </a:t>
                </a:r>
                <a:r>
                  <a:rPr lang="en-GB" sz="1800" b="0" i="0" kern="1200" dirty="0">
                    <a:solidFill>
                      <a:srgbClr val="FF0000"/>
                    </a:solidFill>
                    <a:effectLst/>
                    <a:latin typeface="Calibri" panose="020F0502020204030204" pitchFamily="34" charset="0"/>
                    <a:cs typeface="Calibri" panose="020F0502020204030204" pitchFamily="34" charset="0"/>
                  </a:rPr>
                  <a:t>A 10% increase corresponds to: </a:t>
                </a:r>
                <a14:m>
                  <m:oMath xmlns:m="http://schemas.openxmlformats.org/officeDocument/2006/math">
                    <m:f>
                      <m:fPr>
                        <m:ctrlPr>
                          <a:rPr lang="ar-AE" sz="1800" i="1" kern="1200">
                            <a:solidFill>
                              <a:srgbClr val="FF0000"/>
                            </a:solidFill>
                            <a:latin typeface="Cambria Math" panose="02040503050406030204" pitchFamily="18" charset="0"/>
                          </a:rPr>
                        </m:ctrlPr>
                      </m:fPr>
                      <m:num>
                        <m:r>
                          <a:rPr lang="ar-AE" sz="1800" i="1" kern="1200">
                            <a:solidFill>
                              <a:srgbClr val="FF0000"/>
                            </a:solidFill>
                            <a:latin typeface="Cambria Math" panose="02040503050406030204" pitchFamily="18" charset="0"/>
                          </a:rPr>
                          <m:t>𝐶</m:t>
                        </m:r>
                        <m:d>
                          <m:dPr>
                            <m:ctrlPr>
                              <a:rPr lang="ar-AE" sz="1800" i="1" kern="1200">
                                <a:solidFill>
                                  <a:srgbClr val="FF0000"/>
                                </a:solidFill>
                                <a:latin typeface="Cambria Math" panose="02040503050406030204" pitchFamily="18" charset="0"/>
                              </a:rPr>
                            </m:ctrlPr>
                          </m:dPr>
                          <m:e>
                            <m:r>
                              <a:rPr lang="ar-AE" sz="1800" i="1" kern="1200">
                                <a:solidFill>
                                  <a:srgbClr val="FF0000"/>
                                </a:solidFill>
                                <a:latin typeface="Cambria Math" panose="02040503050406030204" pitchFamily="18" charset="0"/>
                              </a:rPr>
                              <m:t>𝑡</m:t>
                            </m:r>
                          </m:e>
                        </m:d>
                      </m:num>
                      <m:den>
                        <m:sSub>
                          <m:sSubPr>
                            <m:ctrlPr>
                              <a:rPr lang="ar-AE" sz="1800" i="1" kern="1200">
                                <a:solidFill>
                                  <a:srgbClr val="FF0000"/>
                                </a:solidFill>
                                <a:latin typeface="Cambria Math" panose="02040503050406030204" pitchFamily="18" charset="0"/>
                              </a:rPr>
                            </m:ctrlPr>
                          </m:sSubPr>
                          <m:e>
                            <m:r>
                              <a:rPr lang="ar-AE" sz="1800" i="1" kern="1200">
                                <a:solidFill>
                                  <a:srgbClr val="FF0000"/>
                                </a:solidFill>
                                <a:latin typeface="Cambria Math" panose="02040503050406030204" pitchFamily="18" charset="0"/>
                              </a:rPr>
                              <m:t>𝐶</m:t>
                            </m:r>
                          </m:e>
                          <m:sub>
                            <m:r>
                              <a:rPr lang="ar-AE" sz="1800" i="0" kern="1200">
                                <a:solidFill>
                                  <a:srgbClr val="FF0000"/>
                                </a:solidFill>
                                <a:latin typeface="Cambria Math" panose="02040503050406030204" pitchFamily="18" charset="0"/>
                              </a:rPr>
                              <m:t>0</m:t>
                            </m:r>
                          </m:sub>
                        </m:sSub>
                      </m:den>
                    </m:f>
                    <m:r>
                      <a:rPr lang="ar-AE" sz="1800" i="0" kern="1200">
                        <a:solidFill>
                          <a:srgbClr val="FF0000"/>
                        </a:solidFill>
                        <a:latin typeface="Cambria Math" panose="02040503050406030204" pitchFamily="18" charset="0"/>
                      </a:rPr>
                      <m:t>=1.1</m:t>
                    </m:r>
                  </m:oMath>
                </a14:m>
                <a:endParaRPr lang="ar-AE" dirty="0">
                  <a:solidFill>
                    <a:srgbClr val="FF0000"/>
                  </a:solidFill>
                  <a:latin typeface="Calibri" panose="020F0502020204030204" pitchFamily="34" charset="0"/>
                  <a:cs typeface="Calibri" panose="020F0502020204030204" pitchFamily="34" charset="0"/>
                </a:endParaRPr>
              </a:p>
              <a:p>
                <a:r>
                  <a:rPr lang="en-GB" sz="1800" b="1" i="0" kern="1200" dirty="0">
                    <a:solidFill>
                      <a:srgbClr val="FF0000"/>
                    </a:solidFill>
                    <a:effectLst/>
                    <a:latin typeface="Calibri" panose="020F0502020204030204" pitchFamily="34" charset="0"/>
                    <a:cs typeface="Calibri" panose="020F0502020204030204" pitchFamily="34" charset="0"/>
                  </a:rPr>
                  <a:t>CO₂</a:t>
                </a:r>
                <a:r>
                  <a:rPr lang="en-GB" dirty="0">
                    <a:solidFill>
                      <a:srgbClr val="FF0000"/>
                    </a:solidFill>
                    <a:latin typeface="Calibri" panose="020F0502020204030204" pitchFamily="34" charset="0"/>
                    <a:cs typeface="Calibri" panose="020F0502020204030204" pitchFamily="34" charset="0"/>
                  </a:rPr>
                  <a:t> : </a:t>
                </a:r>
                <a14:m>
                  <m:oMath xmlns:m="http://schemas.openxmlformats.org/officeDocument/2006/math">
                    <m:r>
                      <m:rPr>
                        <m:sty m:val="p"/>
                      </m:rPr>
                      <a:rPr lang="el-GR" sz="1800" kern="1200">
                        <a:solidFill>
                          <a:srgbClr val="FF0000"/>
                        </a:solidFill>
                        <a:latin typeface="Cambria Math" panose="02040503050406030204" pitchFamily="18" charset="0"/>
                      </a:rPr>
                      <m:t>Δ</m:t>
                    </m:r>
                    <m:r>
                      <a:rPr lang="el-GR" sz="1800" i="1" kern="1200">
                        <a:solidFill>
                          <a:srgbClr val="FF0000"/>
                        </a:solidFill>
                        <a:latin typeface="Cambria Math" panose="02040503050406030204" pitchFamily="18" charset="0"/>
                      </a:rPr>
                      <m:t>𝐹</m:t>
                    </m:r>
                    <m:r>
                      <a:rPr lang="el-GR" sz="1800" i="0" kern="1200">
                        <a:solidFill>
                          <a:srgbClr val="FF0000"/>
                        </a:solidFill>
                        <a:latin typeface="Cambria Math" panose="02040503050406030204" pitchFamily="18" charset="0"/>
                      </a:rPr>
                      <m:t>=5.35×</m:t>
                    </m:r>
                    <m:r>
                      <m:rPr>
                        <m:sty m:val="p"/>
                      </m:rPr>
                      <a:rPr lang="en-GB" sz="1800" i="0" kern="1200">
                        <a:solidFill>
                          <a:srgbClr val="FF0000"/>
                        </a:solidFill>
                        <a:latin typeface="Cambria Math" panose="02040503050406030204" pitchFamily="18" charset="0"/>
                      </a:rPr>
                      <m:t>ln</m:t>
                    </m:r>
                    <m:r>
                      <a:rPr lang="en-GB" sz="1800" i="0" kern="1200">
                        <a:solidFill>
                          <a:srgbClr val="FF0000"/>
                        </a:solidFill>
                        <a:latin typeface="Cambria Math" panose="02040503050406030204" pitchFamily="18" charset="0"/>
                      </a:rPr>
                      <m:t>⁡</m:t>
                    </m:r>
                    <m:d>
                      <m:dPr>
                        <m:ctrlPr>
                          <a:rPr lang="ar-AE" sz="1800" i="1" kern="1200">
                            <a:solidFill>
                              <a:srgbClr val="FF0000"/>
                            </a:solidFill>
                            <a:latin typeface="Cambria Math" panose="02040503050406030204" pitchFamily="18" charset="0"/>
                          </a:rPr>
                        </m:ctrlPr>
                      </m:dPr>
                      <m:e>
                        <m:r>
                          <a:rPr lang="ar-AE" sz="1800" i="0" kern="1200">
                            <a:solidFill>
                              <a:srgbClr val="FF0000"/>
                            </a:solidFill>
                            <a:latin typeface="Cambria Math" panose="02040503050406030204" pitchFamily="18" charset="0"/>
                          </a:rPr>
                          <m:t>1.1</m:t>
                        </m:r>
                      </m:e>
                    </m:d>
                    <m:r>
                      <a:rPr lang="ar-AE" sz="1800" i="0" kern="1200">
                        <a:solidFill>
                          <a:srgbClr val="FF0000"/>
                        </a:solidFill>
                        <a:latin typeface="Cambria Math" panose="02040503050406030204" pitchFamily="18" charset="0"/>
                      </a:rPr>
                      <m:t>=5.35×0.0953≈0.51</m:t>
                    </m:r>
                    <m:r>
                      <m:rPr>
                        <m:nor/>
                      </m:rPr>
                      <a:rPr lang="ar-AE" sz="1800" b="0" i="1" kern="1200">
                        <a:solidFill>
                          <a:srgbClr val="FF0000"/>
                        </a:solidFill>
                        <a:latin typeface="Calibri" panose="020F0502020204030204" pitchFamily="34" charset="0"/>
                        <a:cs typeface="Calibri" panose="020F0502020204030204" pitchFamily="34" charset="0"/>
                      </a:rPr>
                      <m:t> </m:t>
                    </m:r>
                    <m:sSup>
                      <m:sSupPr>
                        <m:ctrlPr>
                          <a:rPr lang="ar-AE" sz="1800" b="0" i="1" kern="1200">
                            <a:solidFill>
                              <a:srgbClr val="FF0000"/>
                            </a:solidFill>
                            <a:latin typeface="Cambria Math" panose="02040503050406030204" pitchFamily="18" charset="0"/>
                          </a:rPr>
                        </m:ctrlPr>
                      </m:sSupPr>
                      <m:e>
                        <m:r>
                          <m:rPr>
                            <m:nor/>
                          </m:rPr>
                          <a:rPr lang="en-GB" sz="1800" b="0" i="1" kern="1200">
                            <a:solidFill>
                              <a:srgbClr val="FF0000"/>
                            </a:solidFill>
                            <a:latin typeface="Calibri" panose="020F0502020204030204" pitchFamily="34" charset="0"/>
                            <a:cs typeface="Calibri" panose="020F0502020204030204" pitchFamily="34" charset="0"/>
                          </a:rPr>
                          <m:t>W</m:t>
                        </m:r>
                        <m:r>
                          <m:rPr>
                            <m:nor/>
                          </m:rPr>
                          <a:rPr lang="en-GB" sz="1800" b="0" i="1" kern="1200">
                            <a:solidFill>
                              <a:srgbClr val="FF0000"/>
                            </a:solidFill>
                            <a:latin typeface="Calibri" panose="020F0502020204030204" pitchFamily="34" charset="0"/>
                            <a:cs typeface="Calibri" panose="020F0502020204030204" pitchFamily="34" charset="0"/>
                          </a:rPr>
                          <m:t> </m:t>
                        </m:r>
                        <m:r>
                          <m:rPr>
                            <m:nor/>
                          </m:rPr>
                          <a:rPr lang="en-GB" sz="1800" b="0" i="1" kern="1200">
                            <a:solidFill>
                              <a:srgbClr val="FF0000"/>
                            </a:solidFill>
                            <a:latin typeface="Calibri" panose="020F0502020204030204" pitchFamily="34" charset="0"/>
                            <a:cs typeface="Calibri" panose="020F0502020204030204" pitchFamily="34" charset="0"/>
                          </a:rPr>
                          <m:t>m</m:t>
                        </m:r>
                      </m:e>
                      <m:sup>
                        <m:r>
                          <a:rPr lang="ar-AE" sz="1800" b="0" i="0" kern="1200">
                            <a:solidFill>
                              <a:srgbClr val="FF0000"/>
                            </a:solidFill>
                            <a:latin typeface="Cambria Math" panose="02040503050406030204" pitchFamily="18" charset="0"/>
                          </a:rPr>
                          <m:t>−2</m:t>
                        </m:r>
                      </m:sup>
                    </m:sSup>
                  </m:oMath>
                </a14:m>
                <a:endParaRPr lang="ar-AE" b="0" dirty="0">
                  <a:solidFill>
                    <a:srgbClr val="FF0000"/>
                  </a:solidFill>
                  <a:latin typeface="Calibri" panose="020F0502020204030204" pitchFamily="34" charset="0"/>
                  <a:cs typeface="Calibri" panose="020F0502020204030204" pitchFamily="34" charset="0"/>
                </a:endParaRPr>
              </a:p>
              <a:p>
                <a:r>
                  <a:rPr lang="en-GB" sz="1800" b="1" i="0" kern="1200" dirty="0">
                    <a:solidFill>
                      <a:srgbClr val="FF0000"/>
                    </a:solidFill>
                    <a:effectLst/>
                    <a:latin typeface="Calibri" panose="020F0502020204030204" pitchFamily="34" charset="0"/>
                    <a:cs typeface="Calibri" panose="020F0502020204030204" pitchFamily="34" charset="0"/>
                  </a:rPr>
                  <a:t>CH₄</a:t>
                </a:r>
                <a:r>
                  <a:rPr lang="en-GB" dirty="0">
                    <a:solidFill>
                      <a:srgbClr val="FF0000"/>
                    </a:solidFill>
                    <a:latin typeface="Calibri" panose="020F0502020204030204" pitchFamily="34" charset="0"/>
                    <a:cs typeface="Calibri" panose="020F0502020204030204" pitchFamily="34" charset="0"/>
                  </a:rPr>
                  <a:t>: </a:t>
                </a:r>
                <a14:m>
                  <m:oMath xmlns:m="http://schemas.openxmlformats.org/officeDocument/2006/math">
                    <m:r>
                      <m:rPr>
                        <m:sty m:val="p"/>
                      </m:rPr>
                      <a:rPr lang="el-GR" sz="1800" kern="1200">
                        <a:solidFill>
                          <a:srgbClr val="FF0000"/>
                        </a:solidFill>
                        <a:latin typeface="Cambria Math" panose="02040503050406030204" pitchFamily="18" charset="0"/>
                      </a:rPr>
                      <m:t>Δ</m:t>
                    </m:r>
                    <m:r>
                      <a:rPr lang="el-GR" sz="1800" i="1" kern="1200">
                        <a:solidFill>
                          <a:srgbClr val="FF0000"/>
                        </a:solidFill>
                        <a:latin typeface="Cambria Math" panose="02040503050406030204" pitchFamily="18" charset="0"/>
                      </a:rPr>
                      <m:t>𝐹</m:t>
                    </m:r>
                    <m:r>
                      <a:rPr lang="el-GR" sz="1800" i="0" kern="1200">
                        <a:solidFill>
                          <a:srgbClr val="FF0000"/>
                        </a:solidFill>
                        <a:latin typeface="Cambria Math" panose="02040503050406030204" pitchFamily="18" charset="0"/>
                      </a:rPr>
                      <m:t>=0.525×</m:t>
                    </m:r>
                    <m:r>
                      <m:rPr>
                        <m:sty m:val="p"/>
                      </m:rPr>
                      <a:rPr lang="en-GB" sz="1800" i="0" kern="1200">
                        <a:solidFill>
                          <a:srgbClr val="FF0000"/>
                        </a:solidFill>
                        <a:latin typeface="Cambria Math" panose="02040503050406030204" pitchFamily="18" charset="0"/>
                      </a:rPr>
                      <m:t>ln</m:t>
                    </m:r>
                    <m:r>
                      <a:rPr lang="en-GB" sz="1800" i="0" kern="1200">
                        <a:solidFill>
                          <a:srgbClr val="FF0000"/>
                        </a:solidFill>
                        <a:latin typeface="Cambria Math" panose="02040503050406030204" pitchFamily="18" charset="0"/>
                      </a:rPr>
                      <m:t>⁡</m:t>
                    </m:r>
                    <m:d>
                      <m:dPr>
                        <m:ctrlPr>
                          <a:rPr lang="ar-AE" sz="1800" i="1" kern="1200">
                            <a:solidFill>
                              <a:srgbClr val="FF0000"/>
                            </a:solidFill>
                            <a:latin typeface="Cambria Math" panose="02040503050406030204" pitchFamily="18" charset="0"/>
                          </a:rPr>
                        </m:ctrlPr>
                      </m:dPr>
                      <m:e>
                        <m:r>
                          <a:rPr lang="ar-AE" sz="1800" i="0" kern="1200">
                            <a:solidFill>
                              <a:srgbClr val="FF0000"/>
                            </a:solidFill>
                            <a:latin typeface="Cambria Math" panose="02040503050406030204" pitchFamily="18" charset="0"/>
                          </a:rPr>
                          <m:t>1.1</m:t>
                        </m:r>
                      </m:e>
                    </m:d>
                    <m:r>
                      <a:rPr lang="ar-AE" sz="1800" i="0" kern="1200">
                        <a:solidFill>
                          <a:srgbClr val="FF0000"/>
                        </a:solidFill>
                        <a:latin typeface="Cambria Math" panose="02040503050406030204" pitchFamily="18" charset="0"/>
                      </a:rPr>
                      <m:t>=0.525×0.0953≈0.05</m:t>
                    </m:r>
                    <m:r>
                      <m:rPr>
                        <m:nor/>
                      </m:rPr>
                      <a:rPr lang="ar-AE" sz="1800" b="0" i="1" kern="1200">
                        <a:solidFill>
                          <a:srgbClr val="FF0000"/>
                        </a:solidFill>
                        <a:latin typeface="Calibri" panose="020F0502020204030204" pitchFamily="34" charset="0"/>
                        <a:cs typeface="Calibri" panose="020F0502020204030204" pitchFamily="34" charset="0"/>
                      </a:rPr>
                      <m:t> </m:t>
                    </m:r>
                    <m:sSup>
                      <m:sSupPr>
                        <m:ctrlPr>
                          <a:rPr lang="ar-AE" sz="1800" b="0" i="1" kern="1200">
                            <a:solidFill>
                              <a:srgbClr val="FF0000"/>
                            </a:solidFill>
                            <a:latin typeface="Cambria Math" panose="02040503050406030204" pitchFamily="18" charset="0"/>
                          </a:rPr>
                        </m:ctrlPr>
                      </m:sSupPr>
                      <m:e>
                        <m:r>
                          <m:rPr>
                            <m:nor/>
                          </m:rPr>
                          <a:rPr lang="en-GB" sz="1800" b="0" i="1" kern="1200">
                            <a:solidFill>
                              <a:srgbClr val="FF0000"/>
                            </a:solidFill>
                            <a:latin typeface="Calibri" panose="020F0502020204030204" pitchFamily="34" charset="0"/>
                            <a:cs typeface="Calibri" panose="020F0502020204030204" pitchFamily="34" charset="0"/>
                          </a:rPr>
                          <m:t>W</m:t>
                        </m:r>
                        <m:r>
                          <m:rPr>
                            <m:nor/>
                          </m:rPr>
                          <a:rPr lang="en-GB" sz="1800" b="0" i="1" kern="1200">
                            <a:solidFill>
                              <a:srgbClr val="FF0000"/>
                            </a:solidFill>
                            <a:latin typeface="Calibri" panose="020F0502020204030204" pitchFamily="34" charset="0"/>
                            <a:cs typeface="Calibri" panose="020F0502020204030204" pitchFamily="34" charset="0"/>
                          </a:rPr>
                          <m:t> </m:t>
                        </m:r>
                        <m:r>
                          <m:rPr>
                            <m:nor/>
                          </m:rPr>
                          <a:rPr lang="en-GB" sz="1800" b="0" i="1" kern="1200">
                            <a:solidFill>
                              <a:srgbClr val="FF0000"/>
                            </a:solidFill>
                            <a:latin typeface="Calibri" panose="020F0502020204030204" pitchFamily="34" charset="0"/>
                            <a:cs typeface="Calibri" panose="020F0502020204030204" pitchFamily="34" charset="0"/>
                          </a:rPr>
                          <m:t>m</m:t>
                        </m:r>
                      </m:e>
                      <m:sup>
                        <m:r>
                          <a:rPr lang="ar-AE" sz="1800" b="0" i="0" kern="1200">
                            <a:solidFill>
                              <a:srgbClr val="FF0000"/>
                            </a:solidFill>
                            <a:latin typeface="Cambria Math" panose="02040503050406030204" pitchFamily="18" charset="0"/>
                          </a:rPr>
                          <m:t>−2</m:t>
                        </m:r>
                      </m:sup>
                    </m:sSup>
                  </m:oMath>
                </a14:m>
                <a:endParaRPr lang="ar-AE" b="0" dirty="0">
                  <a:solidFill>
                    <a:srgbClr val="FF0000"/>
                  </a:solidFill>
                  <a:latin typeface="Calibri" panose="020F0502020204030204" pitchFamily="34" charset="0"/>
                  <a:cs typeface="Calibri" panose="020F0502020204030204" pitchFamily="34" charset="0"/>
                </a:endParaRPr>
              </a:p>
              <a:p>
                <a:r>
                  <a:rPr lang="en-GB" sz="1800" b="1" i="0" kern="1200" dirty="0">
                    <a:solidFill>
                      <a:srgbClr val="FF0000"/>
                    </a:solidFill>
                    <a:effectLst/>
                    <a:latin typeface="Calibri" panose="020F0502020204030204" pitchFamily="34" charset="0"/>
                    <a:cs typeface="Calibri" panose="020F0502020204030204" pitchFamily="34" charset="0"/>
                  </a:rPr>
                  <a:t>N₂O</a:t>
                </a:r>
                <a:r>
                  <a:rPr lang="en-GB" dirty="0">
                    <a:solidFill>
                      <a:srgbClr val="FF0000"/>
                    </a:solidFill>
                    <a:latin typeface="Calibri" panose="020F0502020204030204" pitchFamily="34" charset="0"/>
                    <a:cs typeface="Calibri" panose="020F0502020204030204" pitchFamily="34" charset="0"/>
                  </a:rPr>
                  <a:t>: </a:t>
                </a:r>
                <a14:m>
                  <m:oMath xmlns:m="http://schemas.openxmlformats.org/officeDocument/2006/math">
                    <m:r>
                      <m:rPr>
                        <m:sty m:val="p"/>
                      </m:rPr>
                      <a:rPr lang="el-GR" sz="1800" kern="1200">
                        <a:solidFill>
                          <a:srgbClr val="FF0000"/>
                        </a:solidFill>
                        <a:latin typeface="Cambria Math" panose="02040503050406030204" pitchFamily="18" charset="0"/>
                      </a:rPr>
                      <m:t>Δ</m:t>
                    </m:r>
                    <m:r>
                      <a:rPr lang="el-GR" sz="1800" i="1" kern="1200">
                        <a:solidFill>
                          <a:srgbClr val="FF0000"/>
                        </a:solidFill>
                        <a:latin typeface="Cambria Math" panose="02040503050406030204" pitchFamily="18" charset="0"/>
                      </a:rPr>
                      <m:t>𝐹</m:t>
                    </m:r>
                    <m:r>
                      <a:rPr lang="el-GR" sz="1800" i="0" kern="1200">
                        <a:solidFill>
                          <a:srgbClr val="FF0000"/>
                        </a:solidFill>
                        <a:latin typeface="Cambria Math" panose="02040503050406030204" pitchFamily="18" charset="0"/>
                      </a:rPr>
                      <m:t>=0.595×</m:t>
                    </m:r>
                    <m:r>
                      <m:rPr>
                        <m:sty m:val="p"/>
                      </m:rPr>
                      <a:rPr lang="en-GB" sz="1800" i="0" kern="1200">
                        <a:solidFill>
                          <a:srgbClr val="FF0000"/>
                        </a:solidFill>
                        <a:latin typeface="Cambria Math" panose="02040503050406030204" pitchFamily="18" charset="0"/>
                      </a:rPr>
                      <m:t>ln</m:t>
                    </m:r>
                    <m:r>
                      <a:rPr lang="en-GB" sz="1800" i="0" kern="1200">
                        <a:solidFill>
                          <a:srgbClr val="FF0000"/>
                        </a:solidFill>
                        <a:latin typeface="Cambria Math" panose="02040503050406030204" pitchFamily="18" charset="0"/>
                      </a:rPr>
                      <m:t>⁡</m:t>
                    </m:r>
                    <m:d>
                      <m:dPr>
                        <m:ctrlPr>
                          <a:rPr lang="ar-AE" sz="1800" i="1" kern="1200">
                            <a:solidFill>
                              <a:srgbClr val="FF0000"/>
                            </a:solidFill>
                            <a:latin typeface="Cambria Math" panose="02040503050406030204" pitchFamily="18" charset="0"/>
                          </a:rPr>
                        </m:ctrlPr>
                      </m:dPr>
                      <m:e>
                        <m:r>
                          <a:rPr lang="ar-AE" sz="1800" i="0" kern="1200">
                            <a:solidFill>
                              <a:srgbClr val="FF0000"/>
                            </a:solidFill>
                            <a:latin typeface="Cambria Math" panose="02040503050406030204" pitchFamily="18" charset="0"/>
                          </a:rPr>
                          <m:t>1.1</m:t>
                        </m:r>
                      </m:e>
                    </m:d>
                    <m:r>
                      <a:rPr lang="ar-AE" sz="1800" i="0" kern="1200">
                        <a:solidFill>
                          <a:srgbClr val="FF0000"/>
                        </a:solidFill>
                        <a:latin typeface="Cambria Math" panose="02040503050406030204" pitchFamily="18" charset="0"/>
                      </a:rPr>
                      <m:t>=0.595×0.0953≈0.06</m:t>
                    </m:r>
                    <m:r>
                      <m:rPr>
                        <m:nor/>
                      </m:rPr>
                      <a:rPr lang="ar-AE" sz="1800" b="0" i="1" kern="1200">
                        <a:solidFill>
                          <a:srgbClr val="FF0000"/>
                        </a:solidFill>
                        <a:latin typeface="Calibri" panose="020F0502020204030204" pitchFamily="34" charset="0"/>
                        <a:cs typeface="Calibri" panose="020F0502020204030204" pitchFamily="34" charset="0"/>
                      </a:rPr>
                      <m:t> </m:t>
                    </m:r>
                    <m:sSup>
                      <m:sSupPr>
                        <m:ctrlPr>
                          <a:rPr lang="ar-AE" sz="1800" b="0" i="1" kern="1200">
                            <a:solidFill>
                              <a:srgbClr val="FF0000"/>
                            </a:solidFill>
                            <a:latin typeface="Cambria Math" panose="02040503050406030204" pitchFamily="18" charset="0"/>
                          </a:rPr>
                        </m:ctrlPr>
                      </m:sSupPr>
                      <m:e>
                        <m:r>
                          <m:rPr>
                            <m:nor/>
                          </m:rPr>
                          <a:rPr lang="en-GB" sz="1800" b="0" i="1" kern="1200">
                            <a:solidFill>
                              <a:srgbClr val="FF0000"/>
                            </a:solidFill>
                            <a:latin typeface="Calibri" panose="020F0502020204030204" pitchFamily="34" charset="0"/>
                            <a:cs typeface="Calibri" panose="020F0502020204030204" pitchFamily="34" charset="0"/>
                          </a:rPr>
                          <m:t>W</m:t>
                        </m:r>
                        <m:r>
                          <m:rPr>
                            <m:nor/>
                          </m:rPr>
                          <a:rPr lang="en-GB" sz="1800" b="0" i="1" kern="1200">
                            <a:solidFill>
                              <a:srgbClr val="FF0000"/>
                            </a:solidFill>
                            <a:latin typeface="Calibri" panose="020F0502020204030204" pitchFamily="34" charset="0"/>
                            <a:cs typeface="Calibri" panose="020F0502020204030204" pitchFamily="34" charset="0"/>
                          </a:rPr>
                          <m:t> </m:t>
                        </m:r>
                        <m:r>
                          <m:rPr>
                            <m:nor/>
                          </m:rPr>
                          <a:rPr lang="en-GB" sz="1800" b="0" i="1" kern="1200">
                            <a:solidFill>
                              <a:srgbClr val="FF0000"/>
                            </a:solidFill>
                            <a:latin typeface="Calibri" panose="020F0502020204030204" pitchFamily="34" charset="0"/>
                            <a:cs typeface="Calibri" panose="020F0502020204030204" pitchFamily="34" charset="0"/>
                          </a:rPr>
                          <m:t>m</m:t>
                        </m:r>
                      </m:e>
                      <m:sup>
                        <m:r>
                          <a:rPr lang="ar-AE" sz="1800" b="0" i="0" kern="1200">
                            <a:solidFill>
                              <a:srgbClr val="FF0000"/>
                            </a:solidFill>
                            <a:latin typeface="Cambria Math" panose="02040503050406030204" pitchFamily="18" charset="0"/>
                          </a:rPr>
                          <m:t>−2</m:t>
                        </m:r>
                      </m:sup>
                    </m:sSup>
                  </m:oMath>
                </a14:m>
                <a:endParaRPr lang="ar-AE" b="0" dirty="0">
                  <a:solidFill>
                    <a:srgbClr val="FF0000"/>
                  </a:solidFill>
                  <a:latin typeface="Calibri" panose="020F0502020204030204" pitchFamily="34" charset="0"/>
                  <a:cs typeface="Calibri" panose="020F0502020204030204" pitchFamily="34" charset="0"/>
                </a:endParaRPr>
              </a:p>
              <a:p>
                <a:endParaRPr lang="en-GB" dirty="0">
                  <a:solidFill>
                    <a:srgbClr val="FF0000"/>
                  </a:solidFill>
                  <a:latin typeface="Calibri" panose="020F0502020204030204" pitchFamily="34" charset="0"/>
                  <a:cs typeface="Calibri" panose="020F0502020204030204" pitchFamily="34" charset="0"/>
                </a:endParaRPr>
              </a:p>
              <a:p>
                <a:r>
                  <a:rPr lang="en-GB" b="1" dirty="0">
                    <a:solidFill>
                      <a:srgbClr val="FF0000"/>
                    </a:solidFill>
                    <a:latin typeface="Calibri" panose="020F0502020204030204" pitchFamily="34" charset="0"/>
                    <a:cs typeface="Calibri" panose="020F0502020204030204" pitchFamily="34" charset="0"/>
                  </a:rPr>
                  <a:t>B) </a:t>
                </a:r>
                <a:r>
                  <a:rPr lang="en-GB" sz="1800" b="0" i="0" kern="1200" dirty="0">
                    <a:solidFill>
                      <a:srgbClr val="FF0000"/>
                    </a:solidFill>
                    <a:effectLst/>
                    <a:latin typeface="Calibri" panose="020F0502020204030204" pitchFamily="34" charset="0"/>
                    <a:cs typeface="Calibri" panose="020F0502020204030204" pitchFamily="34" charset="0"/>
                  </a:rPr>
                  <a:t>A 10% increase in </a:t>
                </a:r>
                <a:r>
                  <a:rPr lang="en-GB" sz="1800" b="1" i="0" kern="1200" dirty="0">
                    <a:solidFill>
                      <a:srgbClr val="FF0000"/>
                    </a:solidFill>
                    <a:effectLst/>
                    <a:latin typeface="Calibri" panose="020F0502020204030204" pitchFamily="34" charset="0"/>
                    <a:cs typeface="Calibri" panose="020F0502020204030204" pitchFamily="34" charset="0"/>
                  </a:rPr>
                  <a:t>CO₂</a:t>
                </a:r>
                <a:r>
                  <a:rPr lang="en-GB" sz="1800" b="0" i="0" kern="1200" dirty="0">
                    <a:solidFill>
                      <a:srgbClr val="FF0000"/>
                    </a:solidFill>
                    <a:effectLst/>
                    <a:latin typeface="Calibri" panose="020F0502020204030204" pitchFamily="34" charset="0"/>
                    <a:cs typeface="Calibri" panose="020F0502020204030204" pitchFamily="34" charset="0"/>
                  </a:rPr>
                  <a:t> produces a much larger radiative forcing than the same relative increase in CH₄ or N₂O. Even though methane and nitrous oxide are more potent greenhouse gases </a:t>
                </a:r>
                <a:r>
                  <a:rPr lang="en-GB" sz="1800" b="0" i="1" kern="1200" dirty="0">
                    <a:solidFill>
                      <a:srgbClr val="FF0000"/>
                    </a:solidFill>
                    <a:effectLst/>
                    <a:latin typeface="Calibri" panose="020F0502020204030204" pitchFamily="34" charset="0"/>
                    <a:cs typeface="Calibri" panose="020F0502020204030204" pitchFamily="34" charset="0"/>
                  </a:rPr>
                  <a:t>per molecule</a:t>
                </a:r>
                <a:r>
                  <a:rPr lang="en-GB" sz="1800" b="0" i="0" kern="1200" dirty="0">
                    <a:solidFill>
                      <a:srgbClr val="FF0000"/>
                    </a:solidFill>
                    <a:effectLst/>
                    <a:latin typeface="Calibri" panose="020F0502020204030204" pitchFamily="34" charset="0"/>
                    <a:cs typeface="Calibri" panose="020F0502020204030204" pitchFamily="34" charset="0"/>
                  </a:rPr>
                  <a:t>, the much larger value of </a:t>
                </a:r>
                <a14:m>
                  <m:oMath xmlns:m="http://schemas.openxmlformats.org/officeDocument/2006/math">
                    <m:r>
                      <a:rPr lang="en-GB" sz="1800" i="1" kern="1200">
                        <a:solidFill>
                          <a:srgbClr val="FF0000"/>
                        </a:solidFill>
                        <a:latin typeface="Cambria Math" panose="02040503050406030204" pitchFamily="18" charset="0"/>
                      </a:rPr>
                      <m:t>𝑎</m:t>
                    </m:r>
                  </m:oMath>
                </a14:m>
                <a:r>
                  <a:rPr lang="en-GB" sz="1800" b="0" i="0" kern="1200" dirty="0">
                    <a:solidFill>
                      <a:srgbClr val="FF0000"/>
                    </a:solidFill>
                    <a:effectLst/>
                    <a:latin typeface="Calibri" panose="020F0502020204030204" pitchFamily="34" charset="0"/>
                    <a:cs typeface="Calibri" panose="020F0502020204030204" pitchFamily="34" charset="0"/>
                  </a:rPr>
                  <a:t> for CO₂ means that changes in CO₂ concentration dominate radiative forcing.</a:t>
                </a:r>
              </a:p>
              <a:p>
                <a:br>
                  <a:rPr lang="en-GB" dirty="0">
                    <a:solidFill>
                      <a:srgbClr val="FF0000"/>
                    </a:solidFill>
                    <a:latin typeface="Calibri" panose="020F0502020204030204" pitchFamily="34" charset="0"/>
                    <a:cs typeface="Calibri" panose="020F0502020204030204" pitchFamily="34" charset="0"/>
                  </a:rPr>
                </a:br>
                <a:r>
                  <a:rPr lang="en-GB" sz="1800" b="1" i="0" kern="1200" dirty="0">
                    <a:solidFill>
                      <a:srgbClr val="FF0000"/>
                    </a:solidFill>
                    <a:effectLst/>
                    <a:latin typeface="Calibri" panose="020F0502020204030204" pitchFamily="34" charset="0"/>
                    <a:cs typeface="Calibri" panose="020F0502020204030204" pitchFamily="34" charset="0"/>
                  </a:rPr>
                  <a:t>C) </a:t>
                </a:r>
                <a:r>
                  <a:rPr lang="en-GB" sz="1800" b="0" i="0" kern="1200" dirty="0">
                    <a:solidFill>
                      <a:srgbClr val="FF0000"/>
                    </a:solidFill>
                    <a:effectLst/>
                    <a:latin typeface="Calibri" panose="020F0502020204030204" pitchFamily="34" charset="0"/>
                    <a:cs typeface="Calibri" panose="020F0502020204030204" pitchFamily="34" charset="0"/>
                  </a:rPr>
                  <a:t>This comparison shows that </a:t>
                </a:r>
                <a:r>
                  <a:rPr lang="en-GB" sz="1800" b="1" i="0" kern="1200" dirty="0">
                    <a:solidFill>
                      <a:srgbClr val="FF0000"/>
                    </a:solidFill>
                    <a:effectLst/>
                    <a:latin typeface="Calibri" panose="020F0502020204030204" pitchFamily="34" charset="0"/>
                    <a:cs typeface="Calibri" panose="020F0502020204030204" pitchFamily="34" charset="0"/>
                  </a:rPr>
                  <a:t>CO₂ remains the dominant driver of long-term global warming</a:t>
                </a:r>
                <a:r>
                  <a:rPr lang="en-GB" sz="1800" b="0" i="0" kern="1200" dirty="0">
                    <a:solidFill>
                      <a:srgbClr val="FF0000"/>
                    </a:solidFill>
                    <a:effectLst/>
                    <a:latin typeface="Calibri" panose="020F0502020204030204" pitchFamily="34" charset="0"/>
                    <a:cs typeface="Calibri" panose="020F0502020204030204" pitchFamily="34" charset="0"/>
                  </a:rPr>
                  <a:t>, primarily because of its large radiative efficiency </a:t>
                </a:r>
                <a:r>
                  <a:rPr lang="en-GB" sz="1800" b="0" i="1" kern="1200" dirty="0">
                    <a:solidFill>
                      <a:srgbClr val="FF0000"/>
                    </a:solidFill>
                    <a:effectLst/>
                    <a:latin typeface="Calibri" panose="020F0502020204030204" pitchFamily="34" charset="0"/>
                    <a:cs typeface="Calibri" panose="020F0502020204030204" pitchFamily="34" charset="0"/>
                  </a:rPr>
                  <a:t>and</a:t>
                </a:r>
                <a:r>
                  <a:rPr lang="en-GB" sz="1800" b="0" i="0" kern="1200" dirty="0">
                    <a:solidFill>
                      <a:srgbClr val="FF0000"/>
                    </a:solidFill>
                    <a:effectLst/>
                    <a:latin typeface="Calibri" panose="020F0502020204030204" pitchFamily="34" charset="0"/>
                    <a:cs typeface="Calibri" panose="020F0502020204030204" pitchFamily="34" charset="0"/>
                  </a:rPr>
                  <a:t> its high atmospheric concentration and long lifetime. As a result, reducing CO₂ emissions is essential for limiting long-term climate change.</a:t>
                </a:r>
              </a:p>
              <a:p>
                <a:endParaRPr lang="en-GB" sz="1800" b="0" i="0" kern="1200" dirty="0">
                  <a:solidFill>
                    <a:srgbClr val="FF0000"/>
                  </a:solidFill>
                  <a:effectLst/>
                  <a:latin typeface="Calibri" panose="020F0502020204030204" pitchFamily="34" charset="0"/>
                  <a:cs typeface="Calibri" panose="020F0502020204030204" pitchFamily="34" charset="0"/>
                </a:endParaRPr>
              </a:p>
              <a:p>
                <a:r>
                  <a:rPr lang="en-GB" sz="1800" b="0" i="0" kern="1200" dirty="0">
                    <a:solidFill>
                      <a:srgbClr val="FF0000"/>
                    </a:solidFill>
                    <a:effectLst/>
                    <a:latin typeface="Calibri" panose="020F0502020204030204" pitchFamily="34" charset="0"/>
                    <a:cs typeface="Calibri" panose="020F0502020204030204" pitchFamily="34" charset="0"/>
                  </a:rPr>
                  <a:t>However, the exercise also highlights that methane and nitrous oxide still contribute to warming and should not be ignored. Methane has a short atmospheric lifetime but a strong short-term warming effect, making it an important target for rapid climate benefits. Nitrous oxide has a very long lifetime and contributes persistently to warming.</a:t>
                </a:r>
              </a:p>
              <a:p>
                <a:r>
                  <a:rPr lang="en-GB" sz="1800" b="0" i="0" kern="1200" dirty="0">
                    <a:solidFill>
                      <a:srgbClr val="FF0000"/>
                    </a:solidFill>
                    <a:effectLst/>
                    <a:latin typeface="Calibri" panose="020F0502020204030204" pitchFamily="34" charset="0"/>
                    <a:cs typeface="Calibri" panose="020F0502020204030204" pitchFamily="34" charset="0"/>
                  </a:rPr>
                  <a:t>Overall, effective climate mitigation requires prioritising CO₂ reductions for long-term temperature stabilisation, while also targeting methane and nitrous oxide to reduce near-term warming and slow the rate of climate change.</a:t>
                </a:r>
              </a:p>
              <a:p>
                <a:endParaRPr lang="en-GB" dirty="0"/>
              </a:p>
            </p:txBody>
          </p:sp>
        </mc:Choice>
        <mc:Fallback xmlns="">
          <p:sp>
            <p:nvSpPr>
              <p:cNvPr id="5" name="TextBox 4">
                <a:extLst>
                  <a:ext uri="{FF2B5EF4-FFF2-40B4-BE49-F238E27FC236}">
                    <a16:creationId xmlns:a16="http://schemas.microsoft.com/office/drawing/2014/main" id="{F3D0D81B-75DB-A2E3-08D7-9A8FC50428FB}"/>
                  </a:ext>
                </a:extLst>
              </p:cNvPr>
              <p:cNvSpPr txBox="1">
                <a:spLocks noRot="1" noChangeAspect="1" noMove="1" noResize="1" noEditPoints="1" noAdjustHandles="1" noChangeArrowheads="1" noChangeShapeType="1" noTextEdit="1"/>
              </p:cNvSpPr>
              <p:nvPr/>
            </p:nvSpPr>
            <p:spPr>
              <a:xfrm>
                <a:off x="389465" y="1373062"/>
                <a:ext cx="11339691" cy="5626669"/>
              </a:xfrm>
              <a:prstGeom prst="rect">
                <a:avLst/>
              </a:prstGeom>
              <a:blipFill>
                <a:blip r:embed="rId5"/>
                <a:stretch>
                  <a:fillRect l="-447" r="-559"/>
                </a:stretch>
              </a:blipFill>
            </p:spPr>
            <p:txBody>
              <a:bodyPr/>
              <a:lstStyle/>
              <a:p>
                <a:r>
                  <a:rPr lang="en-US">
                    <a:noFill/>
                  </a:rPr>
                  <a:t> </a:t>
                </a:r>
              </a:p>
            </p:txBody>
          </p:sp>
        </mc:Fallback>
      </mc:AlternateContent>
    </p:spTree>
    <p:extLst>
      <p:ext uri="{BB962C8B-B14F-4D97-AF65-F5344CB8AC3E}">
        <p14:creationId xmlns:p14="http://schemas.microsoft.com/office/powerpoint/2010/main" val="2268505901"/>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1525</TotalTime>
  <Words>2568</Words>
  <Application>Microsoft Macintosh PowerPoint</Application>
  <PresentationFormat>Widescreen</PresentationFormat>
  <Paragraphs>234</Paragraphs>
  <Slides>26</Slides>
  <Notes>25</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26</vt:i4>
      </vt:variant>
    </vt:vector>
  </HeadingPairs>
  <TitlesOfParts>
    <vt:vector size="37" baseType="lpstr">
      <vt:lpstr>-apple-system</vt:lpstr>
      <vt:lpstr>Aptos</vt:lpstr>
      <vt:lpstr>Arial</vt:lpstr>
      <vt:lpstr>Calibri</vt:lpstr>
      <vt:lpstr>Cambria Math</vt:lpstr>
      <vt:lpstr>DM Sans</vt:lpstr>
      <vt:lpstr>DM Sans Bold</vt:lpstr>
      <vt:lpstr>Open Sans</vt:lpstr>
      <vt:lpstr>1_Office Theme</vt:lpstr>
      <vt:lpstr>2_Office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Bannan</dc:creator>
  <cp:lastModifiedBy>Thomas Bannan</cp:lastModifiedBy>
  <cp:revision>59</cp:revision>
  <dcterms:created xsi:type="dcterms:W3CDTF">2025-12-11T10:10:20Z</dcterms:created>
  <dcterms:modified xsi:type="dcterms:W3CDTF">2026-02-18T15:43:41Z</dcterms:modified>
</cp:coreProperties>
</file>