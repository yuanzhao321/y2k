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2.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6" r:id="rId2"/>
    <p:sldMasterId id="2147483688" r:id="rId3"/>
  </p:sldMasterIdLst>
  <p:notesMasterIdLst>
    <p:notesMasterId r:id="rId63"/>
  </p:notesMasterIdLst>
  <p:sldIdLst>
    <p:sldId id="863" r:id="rId4"/>
    <p:sldId id="602" r:id="rId5"/>
    <p:sldId id="864" r:id="rId6"/>
    <p:sldId id="1764" r:id="rId7"/>
    <p:sldId id="1765" r:id="rId8"/>
    <p:sldId id="831" r:id="rId9"/>
    <p:sldId id="1766" r:id="rId10"/>
    <p:sldId id="637" r:id="rId11"/>
    <p:sldId id="639" r:id="rId12"/>
    <p:sldId id="1370" r:id="rId13"/>
    <p:sldId id="319" r:id="rId14"/>
    <p:sldId id="640" r:id="rId15"/>
    <p:sldId id="345" r:id="rId16"/>
    <p:sldId id="641" r:id="rId17"/>
    <p:sldId id="1752" r:id="rId18"/>
    <p:sldId id="643" r:id="rId19"/>
    <p:sldId id="644" r:id="rId20"/>
    <p:sldId id="267" r:id="rId21"/>
    <p:sldId id="295" r:id="rId22"/>
    <p:sldId id="323" r:id="rId23"/>
    <p:sldId id="660" r:id="rId24"/>
    <p:sldId id="651" r:id="rId25"/>
    <p:sldId id="338" r:id="rId26"/>
    <p:sldId id="652" r:id="rId27"/>
    <p:sldId id="1750" r:id="rId28"/>
    <p:sldId id="653" r:id="rId29"/>
    <p:sldId id="1751" r:id="rId30"/>
    <p:sldId id="654" r:id="rId31"/>
    <p:sldId id="865" r:id="rId32"/>
    <p:sldId id="866" r:id="rId33"/>
    <p:sldId id="867" r:id="rId34"/>
    <p:sldId id="314" r:id="rId35"/>
    <p:sldId id="1753" r:id="rId36"/>
    <p:sldId id="680" r:id="rId37"/>
    <p:sldId id="869" r:id="rId38"/>
    <p:sldId id="870" r:id="rId39"/>
    <p:sldId id="1365" r:id="rId40"/>
    <p:sldId id="385" r:id="rId41"/>
    <p:sldId id="1364" r:id="rId42"/>
    <p:sldId id="807" r:id="rId43"/>
    <p:sldId id="258" r:id="rId44"/>
    <p:sldId id="259" r:id="rId45"/>
    <p:sldId id="260" r:id="rId46"/>
    <p:sldId id="1749" r:id="rId47"/>
    <p:sldId id="263" r:id="rId48"/>
    <p:sldId id="294" r:id="rId49"/>
    <p:sldId id="623" r:id="rId50"/>
    <p:sldId id="1356" r:id="rId51"/>
    <p:sldId id="1366" r:id="rId52"/>
    <p:sldId id="1363" r:id="rId53"/>
    <p:sldId id="1371" r:id="rId54"/>
    <p:sldId id="1230" r:id="rId55"/>
    <p:sldId id="1754" r:id="rId56"/>
    <p:sldId id="1251" r:id="rId57"/>
    <p:sldId id="1284" r:id="rId58"/>
    <p:sldId id="1360" r:id="rId59"/>
    <p:sldId id="1756" r:id="rId60"/>
    <p:sldId id="1757" r:id="rId61"/>
    <p:sldId id="1759"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32"/>
    <p:restoredTop sz="88509"/>
  </p:normalViewPr>
  <p:slideViewPr>
    <p:cSldViewPr snapToGrid="0">
      <p:cViewPr varScale="1">
        <p:scale>
          <a:sx n="112" d="100"/>
          <a:sy n="112" d="100"/>
        </p:scale>
        <p:origin x="67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0BE919-3CF4-4BA1-93CA-5ACCB1DB719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159A31C7-3F01-4EED-BEED-C052A8C489B3}">
      <dgm:prSet custT="1"/>
      <dgm:spPr/>
      <dgm:t>
        <a:bodyPr/>
        <a:lstStyle/>
        <a:p>
          <a:r>
            <a:rPr lang="en-GB" sz="2000" b="0" i="0">
              <a:latin typeface="Calibri" panose="020F0502020204030204" pitchFamily="34" charset="0"/>
              <a:cs typeface="Calibri" panose="020F0502020204030204" pitchFamily="34" charset="0"/>
            </a:rPr>
            <a:t>The energy from the sun is radiated or emitted away in the form of energy, known as electromagnetic radiation. </a:t>
          </a:r>
          <a:endParaRPr lang="en-US" sz="2000">
            <a:latin typeface="Calibri" panose="020F0502020204030204" pitchFamily="34" charset="0"/>
            <a:cs typeface="Calibri" panose="020F0502020204030204" pitchFamily="34" charset="0"/>
          </a:endParaRPr>
        </a:p>
      </dgm:t>
    </dgm:pt>
    <dgm:pt modelId="{A6F3E704-E619-4130-93B0-13103BA2D6BE}" type="parTrans" cxnId="{D881BE2B-2911-4BB0-8D26-26781B886AC3}">
      <dgm:prSet/>
      <dgm:spPr/>
      <dgm:t>
        <a:bodyPr/>
        <a:lstStyle/>
        <a:p>
          <a:endParaRPr lang="en-US" sz="2000">
            <a:latin typeface="Calibri" panose="020F0502020204030204" pitchFamily="34" charset="0"/>
            <a:cs typeface="Calibri" panose="020F0502020204030204" pitchFamily="34" charset="0"/>
          </a:endParaRPr>
        </a:p>
      </dgm:t>
    </dgm:pt>
    <dgm:pt modelId="{79966CB7-2531-4FBC-937E-80F9D7C94669}" type="sibTrans" cxnId="{D881BE2B-2911-4BB0-8D26-26781B886AC3}">
      <dgm:prSet/>
      <dgm:spPr/>
      <dgm:t>
        <a:bodyPr/>
        <a:lstStyle/>
        <a:p>
          <a:endParaRPr lang="en-US" sz="2000">
            <a:latin typeface="Calibri" panose="020F0502020204030204" pitchFamily="34" charset="0"/>
            <a:cs typeface="Calibri" panose="020F0502020204030204" pitchFamily="34" charset="0"/>
          </a:endParaRPr>
        </a:p>
      </dgm:t>
    </dgm:pt>
    <dgm:pt modelId="{B93C25FD-06E4-480D-B404-910E696FC1DB}">
      <dgm:prSet custT="1"/>
      <dgm:spPr/>
      <dgm:t>
        <a:bodyPr/>
        <a:lstStyle/>
        <a:p>
          <a:r>
            <a:rPr lang="en-GB" sz="2000" b="0" i="0">
              <a:latin typeface="Calibri" panose="020F0502020204030204" pitchFamily="34" charset="0"/>
              <a:cs typeface="Calibri" panose="020F0502020204030204" pitchFamily="34" charset="0"/>
            </a:rPr>
            <a:t>A particle of electromagnetic radiation is known as a photon. </a:t>
          </a:r>
          <a:endParaRPr lang="en-US" sz="2000">
            <a:latin typeface="Calibri" panose="020F0502020204030204" pitchFamily="34" charset="0"/>
            <a:cs typeface="Calibri" panose="020F0502020204030204" pitchFamily="34" charset="0"/>
          </a:endParaRPr>
        </a:p>
      </dgm:t>
    </dgm:pt>
    <dgm:pt modelId="{4177D227-8754-488D-848A-1160CDCE7398}" type="parTrans" cxnId="{A9AC3549-C2F2-41FE-838F-31C03927D718}">
      <dgm:prSet/>
      <dgm:spPr/>
      <dgm:t>
        <a:bodyPr/>
        <a:lstStyle/>
        <a:p>
          <a:endParaRPr lang="en-US" sz="2000">
            <a:latin typeface="Calibri" panose="020F0502020204030204" pitchFamily="34" charset="0"/>
            <a:cs typeface="Calibri" panose="020F0502020204030204" pitchFamily="34" charset="0"/>
          </a:endParaRPr>
        </a:p>
      </dgm:t>
    </dgm:pt>
    <dgm:pt modelId="{E61DDDF2-CB83-47AD-AEFA-5EA0B1A1763F}" type="sibTrans" cxnId="{A9AC3549-C2F2-41FE-838F-31C03927D718}">
      <dgm:prSet/>
      <dgm:spPr/>
      <dgm:t>
        <a:bodyPr/>
        <a:lstStyle/>
        <a:p>
          <a:endParaRPr lang="en-US" sz="2000">
            <a:latin typeface="Calibri" panose="020F0502020204030204" pitchFamily="34" charset="0"/>
            <a:cs typeface="Calibri" panose="020F0502020204030204" pitchFamily="34" charset="0"/>
          </a:endParaRPr>
        </a:p>
      </dgm:t>
    </dgm:pt>
    <dgm:pt modelId="{597DD345-C8FE-4A91-AE7B-5FBF57337460}">
      <dgm:prSet custT="1"/>
      <dgm:spPr/>
      <dgm:t>
        <a:bodyPr/>
        <a:lstStyle/>
        <a:p>
          <a:r>
            <a:rPr lang="en-GB" sz="2000">
              <a:latin typeface="Calibri" panose="020F0502020204030204" pitchFamily="34" charset="0"/>
              <a:cs typeface="Calibri" panose="020F0502020204030204" pitchFamily="34" charset="0"/>
            </a:rPr>
            <a:t>Electromagnetic waves are characterized by wavelength and frequency. </a:t>
          </a:r>
          <a:endParaRPr lang="en-US" sz="2000">
            <a:latin typeface="Calibri" panose="020F0502020204030204" pitchFamily="34" charset="0"/>
            <a:cs typeface="Calibri" panose="020F0502020204030204" pitchFamily="34" charset="0"/>
          </a:endParaRPr>
        </a:p>
      </dgm:t>
    </dgm:pt>
    <dgm:pt modelId="{3A6BE429-AF15-469E-BA84-72160F02D5D5}" type="parTrans" cxnId="{5AC7B27A-1DE4-4893-9F15-B6CD7F19EADB}">
      <dgm:prSet/>
      <dgm:spPr/>
      <dgm:t>
        <a:bodyPr/>
        <a:lstStyle/>
        <a:p>
          <a:endParaRPr lang="en-US" sz="2000">
            <a:latin typeface="Calibri" panose="020F0502020204030204" pitchFamily="34" charset="0"/>
            <a:cs typeface="Calibri" panose="020F0502020204030204" pitchFamily="34" charset="0"/>
          </a:endParaRPr>
        </a:p>
      </dgm:t>
    </dgm:pt>
    <dgm:pt modelId="{25288384-D13F-48B8-B8D7-4445619E43B7}" type="sibTrans" cxnId="{5AC7B27A-1DE4-4893-9F15-B6CD7F19EADB}">
      <dgm:prSet/>
      <dgm:spPr/>
      <dgm:t>
        <a:bodyPr/>
        <a:lstStyle/>
        <a:p>
          <a:endParaRPr lang="en-US" sz="2000">
            <a:latin typeface="Calibri" panose="020F0502020204030204" pitchFamily="34" charset="0"/>
            <a:cs typeface="Calibri" panose="020F0502020204030204" pitchFamily="34" charset="0"/>
          </a:endParaRPr>
        </a:p>
      </dgm:t>
    </dgm:pt>
    <dgm:pt modelId="{3F3C1264-EE09-4C12-8F07-99ADD92D3168}">
      <dgm:prSet custT="1"/>
      <dgm:spPr/>
      <dgm:t>
        <a:bodyPr/>
        <a:lstStyle/>
        <a:p>
          <a:r>
            <a:rPr lang="en-GB" sz="2000">
              <a:latin typeface="Calibri" panose="020F0502020204030204" pitchFamily="34" charset="0"/>
              <a:cs typeface="Calibri" panose="020F0502020204030204" pitchFamily="34" charset="0"/>
            </a:rPr>
            <a:t>The wavelength is the distance between two wave crests or troughs. </a:t>
          </a:r>
          <a:endParaRPr lang="en-US" sz="2000">
            <a:latin typeface="Calibri" panose="020F0502020204030204" pitchFamily="34" charset="0"/>
            <a:cs typeface="Calibri" panose="020F0502020204030204" pitchFamily="34" charset="0"/>
          </a:endParaRPr>
        </a:p>
      </dgm:t>
    </dgm:pt>
    <dgm:pt modelId="{F5E7F721-4CCB-4D18-A6EE-193A725DCDF3}" type="parTrans" cxnId="{B67DC5AC-AB76-43AA-845A-8E37C7978184}">
      <dgm:prSet/>
      <dgm:spPr/>
      <dgm:t>
        <a:bodyPr/>
        <a:lstStyle/>
        <a:p>
          <a:endParaRPr lang="en-US" sz="2000">
            <a:latin typeface="Calibri" panose="020F0502020204030204" pitchFamily="34" charset="0"/>
            <a:cs typeface="Calibri" panose="020F0502020204030204" pitchFamily="34" charset="0"/>
          </a:endParaRPr>
        </a:p>
      </dgm:t>
    </dgm:pt>
    <dgm:pt modelId="{07F212CE-933E-4251-8E77-00F15DC7483A}" type="sibTrans" cxnId="{B67DC5AC-AB76-43AA-845A-8E37C7978184}">
      <dgm:prSet/>
      <dgm:spPr/>
      <dgm:t>
        <a:bodyPr/>
        <a:lstStyle/>
        <a:p>
          <a:endParaRPr lang="en-US" sz="2000">
            <a:latin typeface="Calibri" panose="020F0502020204030204" pitchFamily="34" charset="0"/>
            <a:cs typeface="Calibri" panose="020F0502020204030204" pitchFamily="34" charset="0"/>
          </a:endParaRPr>
        </a:p>
      </dgm:t>
    </dgm:pt>
    <dgm:pt modelId="{35F67E23-A946-4559-92E6-F7030B7B8347}">
      <dgm:prSet custT="1"/>
      <dgm:spPr/>
      <dgm:t>
        <a:bodyPr/>
        <a:lstStyle/>
        <a:p>
          <a:r>
            <a:rPr lang="en-GB" sz="2000">
              <a:latin typeface="Calibri" panose="020F0502020204030204" pitchFamily="34" charset="0"/>
              <a:cs typeface="Calibri" panose="020F0502020204030204" pitchFamily="34" charset="0"/>
            </a:rPr>
            <a:t>Frequency is expressed in hertz (Hz) and refers to the number of wavelengths that pass a fixed point in 1 second. </a:t>
          </a:r>
          <a:endParaRPr lang="en-US" sz="2000">
            <a:latin typeface="Calibri" panose="020F0502020204030204" pitchFamily="34" charset="0"/>
            <a:cs typeface="Calibri" panose="020F0502020204030204" pitchFamily="34" charset="0"/>
          </a:endParaRPr>
        </a:p>
      </dgm:t>
    </dgm:pt>
    <dgm:pt modelId="{3C8A393A-F630-4550-A47C-58D72D17A640}" type="parTrans" cxnId="{AE8894E0-F97A-46B2-8B65-1ABB1299349C}">
      <dgm:prSet/>
      <dgm:spPr/>
      <dgm:t>
        <a:bodyPr/>
        <a:lstStyle/>
        <a:p>
          <a:endParaRPr lang="en-US" sz="2000">
            <a:latin typeface="Calibri" panose="020F0502020204030204" pitchFamily="34" charset="0"/>
            <a:cs typeface="Calibri" panose="020F0502020204030204" pitchFamily="34" charset="0"/>
          </a:endParaRPr>
        </a:p>
      </dgm:t>
    </dgm:pt>
    <dgm:pt modelId="{F197FCA3-E0CC-4C4A-ACD3-453794C5ECA9}" type="sibTrans" cxnId="{AE8894E0-F97A-46B2-8B65-1ABB1299349C}">
      <dgm:prSet/>
      <dgm:spPr/>
      <dgm:t>
        <a:bodyPr/>
        <a:lstStyle/>
        <a:p>
          <a:endParaRPr lang="en-US" sz="2000">
            <a:latin typeface="Calibri" panose="020F0502020204030204" pitchFamily="34" charset="0"/>
            <a:cs typeface="Calibri" panose="020F0502020204030204" pitchFamily="34" charset="0"/>
          </a:endParaRPr>
        </a:p>
      </dgm:t>
    </dgm:pt>
    <dgm:pt modelId="{35B0AB90-A69C-42B8-9B12-E3DFF28C37E3}">
      <dgm:prSet custT="1"/>
      <dgm:spPr/>
      <dgm:t>
        <a:bodyPr/>
        <a:lstStyle/>
        <a:p>
          <a:r>
            <a:rPr lang="en-GB" sz="2000" dirty="0">
              <a:latin typeface="Calibri" panose="020F0502020204030204" pitchFamily="34" charset="0"/>
              <a:cs typeface="Calibri" panose="020F0502020204030204" pitchFamily="34" charset="0"/>
            </a:rPr>
            <a:t>The shorter the wavelength is, the higher its frequency will be. </a:t>
          </a:r>
          <a:endParaRPr lang="en-US" sz="2000" dirty="0">
            <a:latin typeface="Calibri" panose="020F0502020204030204" pitchFamily="34" charset="0"/>
            <a:cs typeface="Calibri" panose="020F0502020204030204" pitchFamily="34" charset="0"/>
          </a:endParaRPr>
        </a:p>
      </dgm:t>
    </dgm:pt>
    <dgm:pt modelId="{E69C9EC3-3591-4E44-A77A-A5CE9F730495}" type="parTrans" cxnId="{D2BC44CA-975A-43AE-AD7D-95FAFE283387}">
      <dgm:prSet/>
      <dgm:spPr/>
      <dgm:t>
        <a:bodyPr/>
        <a:lstStyle/>
        <a:p>
          <a:endParaRPr lang="en-US" sz="2000">
            <a:latin typeface="Calibri" panose="020F0502020204030204" pitchFamily="34" charset="0"/>
            <a:cs typeface="Calibri" panose="020F0502020204030204" pitchFamily="34" charset="0"/>
          </a:endParaRPr>
        </a:p>
      </dgm:t>
    </dgm:pt>
    <dgm:pt modelId="{785B56A2-894D-4293-80FF-B37A1DB32E5B}" type="sibTrans" cxnId="{D2BC44CA-975A-43AE-AD7D-95FAFE283387}">
      <dgm:prSet/>
      <dgm:spPr/>
      <dgm:t>
        <a:bodyPr/>
        <a:lstStyle/>
        <a:p>
          <a:endParaRPr lang="en-US" sz="2000">
            <a:latin typeface="Calibri" panose="020F0502020204030204" pitchFamily="34" charset="0"/>
            <a:cs typeface="Calibri" panose="020F0502020204030204" pitchFamily="34" charset="0"/>
          </a:endParaRPr>
        </a:p>
      </dgm:t>
    </dgm:pt>
    <dgm:pt modelId="{B4926CF2-A11B-F543-B09D-C7222FD18FB6}" type="pres">
      <dgm:prSet presAssocID="{A40BE919-3CF4-4BA1-93CA-5ACCB1DB7198}" presName="vert0" presStyleCnt="0">
        <dgm:presLayoutVars>
          <dgm:dir/>
          <dgm:animOne val="branch"/>
          <dgm:animLvl val="lvl"/>
        </dgm:presLayoutVars>
      </dgm:prSet>
      <dgm:spPr/>
    </dgm:pt>
    <dgm:pt modelId="{7ABF4008-1F15-BB42-8CF7-139BBDE80477}" type="pres">
      <dgm:prSet presAssocID="{159A31C7-3F01-4EED-BEED-C052A8C489B3}" presName="thickLine" presStyleLbl="alignNode1" presStyleIdx="0" presStyleCnt="6"/>
      <dgm:spPr/>
    </dgm:pt>
    <dgm:pt modelId="{C4C577DD-7259-4441-AA0E-3347C6DBCBF1}" type="pres">
      <dgm:prSet presAssocID="{159A31C7-3F01-4EED-BEED-C052A8C489B3}" presName="horz1" presStyleCnt="0"/>
      <dgm:spPr/>
    </dgm:pt>
    <dgm:pt modelId="{2AD9701A-4699-4D46-A63B-AAEF9FD16DE9}" type="pres">
      <dgm:prSet presAssocID="{159A31C7-3F01-4EED-BEED-C052A8C489B3}" presName="tx1" presStyleLbl="revTx" presStyleIdx="0" presStyleCnt="6"/>
      <dgm:spPr/>
    </dgm:pt>
    <dgm:pt modelId="{20B97AA3-852A-5245-A1FF-B6DE3152A26E}" type="pres">
      <dgm:prSet presAssocID="{159A31C7-3F01-4EED-BEED-C052A8C489B3}" presName="vert1" presStyleCnt="0"/>
      <dgm:spPr/>
    </dgm:pt>
    <dgm:pt modelId="{68DA8631-19C3-3241-8E97-2F8958AD64D8}" type="pres">
      <dgm:prSet presAssocID="{B93C25FD-06E4-480D-B404-910E696FC1DB}" presName="thickLine" presStyleLbl="alignNode1" presStyleIdx="1" presStyleCnt="6"/>
      <dgm:spPr/>
    </dgm:pt>
    <dgm:pt modelId="{B66C8C5E-6AF1-EA4E-9295-604DE36E5EC0}" type="pres">
      <dgm:prSet presAssocID="{B93C25FD-06E4-480D-B404-910E696FC1DB}" presName="horz1" presStyleCnt="0"/>
      <dgm:spPr/>
    </dgm:pt>
    <dgm:pt modelId="{42899819-3875-9F4B-BC2B-B4A0E7F05D2E}" type="pres">
      <dgm:prSet presAssocID="{B93C25FD-06E4-480D-B404-910E696FC1DB}" presName="tx1" presStyleLbl="revTx" presStyleIdx="1" presStyleCnt="6"/>
      <dgm:spPr/>
    </dgm:pt>
    <dgm:pt modelId="{2C8EE6F8-4ACE-0A44-8886-9E01CB12B2B7}" type="pres">
      <dgm:prSet presAssocID="{B93C25FD-06E4-480D-B404-910E696FC1DB}" presName="vert1" presStyleCnt="0"/>
      <dgm:spPr/>
    </dgm:pt>
    <dgm:pt modelId="{66BEA251-B884-4B4A-A342-34FF5E5E6794}" type="pres">
      <dgm:prSet presAssocID="{597DD345-C8FE-4A91-AE7B-5FBF57337460}" presName="thickLine" presStyleLbl="alignNode1" presStyleIdx="2" presStyleCnt="6"/>
      <dgm:spPr/>
    </dgm:pt>
    <dgm:pt modelId="{2A6F29EF-A181-5F40-9FD6-A307887F53F1}" type="pres">
      <dgm:prSet presAssocID="{597DD345-C8FE-4A91-AE7B-5FBF57337460}" presName="horz1" presStyleCnt="0"/>
      <dgm:spPr/>
    </dgm:pt>
    <dgm:pt modelId="{13EB036B-4B4E-7743-9C95-244420F8806F}" type="pres">
      <dgm:prSet presAssocID="{597DD345-C8FE-4A91-AE7B-5FBF57337460}" presName="tx1" presStyleLbl="revTx" presStyleIdx="2" presStyleCnt="6"/>
      <dgm:spPr/>
    </dgm:pt>
    <dgm:pt modelId="{E1BF03CE-6F58-D044-ACED-06254862135C}" type="pres">
      <dgm:prSet presAssocID="{597DD345-C8FE-4A91-AE7B-5FBF57337460}" presName="vert1" presStyleCnt="0"/>
      <dgm:spPr/>
    </dgm:pt>
    <dgm:pt modelId="{E9B2E412-EC38-BE45-AEAC-E5C83A810CA3}" type="pres">
      <dgm:prSet presAssocID="{3F3C1264-EE09-4C12-8F07-99ADD92D3168}" presName="thickLine" presStyleLbl="alignNode1" presStyleIdx="3" presStyleCnt="6"/>
      <dgm:spPr/>
    </dgm:pt>
    <dgm:pt modelId="{B72C7039-5F4C-7743-9DBD-6BC73B4CC439}" type="pres">
      <dgm:prSet presAssocID="{3F3C1264-EE09-4C12-8F07-99ADD92D3168}" presName="horz1" presStyleCnt="0"/>
      <dgm:spPr/>
    </dgm:pt>
    <dgm:pt modelId="{B555A644-0A64-8A4C-BAE6-A989A2FF74EC}" type="pres">
      <dgm:prSet presAssocID="{3F3C1264-EE09-4C12-8F07-99ADD92D3168}" presName="tx1" presStyleLbl="revTx" presStyleIdx="3" presStyleCnt="6"/>
      <dgm:spPr/>
    </dgm:pt>
    <dgm:pt modelId="{A12BD539-D80C-1548-9EB3-8D7706BE5418}" type="pres">
      <dgm:prSet presAssocID="{3F3C1264-EE09-4C12-8F07-99ADD92D3168}" presName="vert1" presStyleCnt="0"/>
      <dgm:spPr/>
    </dgm:pt>
    <dgm:pt modelId="{955BC21D-F366-7F46-8EE5-728EC9F13244}" type="pres">
      <dgm:prSet presAssocID="{35F67E23-A946-4559-92E6-F7030B7B8347}" presName="thickLine" presStyleLbl="alignNode1" presStyleIdx="4" presStyleCnt="6"/>
      <dgm:spPr/>
    </dgm:pt>
    <dgm:pt modelId="{AF472EDC-DD4E-D247-B6A5-EC85F7AB264D}" type="pres">
      <dgm:prSet presAssocID="{35F67E23-A946-4559-92E6-F7030B7B8347}" presName="horz1" presStyleCnt="0"/>
      <dgm:spPr/>
    </dgm:pt>
    <dgm:pt modelId="{AC1075A6-5516-1F48-B8B1-76AA450470F1}" type="pres">
      <dgm:prSet presAssocID="{35F67E23-A946-4559-92E6-F7030B7B8347}" presName="tx1" presStyleLbl="revTx" presStyleIdx="4" presStyleCnt="6"/>
      <dgm:spPr/>
    </dgm:pt>
    <dgm:pt modelId="{D12D4ECF-46F4-7941-B722-77DF9B7EE44C}" type="pres">
      <dgm:prSet presAssocID="{35F67E23-A946-4559-92E6-F7030B7B8347}" presName="vert1" presStyleCnt="0"/>
      <dgm:spPr/>
    </dgm:pt>
    <dgm:pt modelId="{64A62F1C-9A50-C849-93C5-758177D468F1}" type="pres">
      <dgm:prSet presAssocID="{35B0AB90-A69C-42B8-9B12-E3DFF28C37E3}" presName="thickLine" presStyleLbl="alignNode1" presStyleIdx="5" presStyleCnt="6"/>
      <dgm:spPr/>
    </dgm:pt>
    <dgm:pt modelId="{4346FC5A-B42F-8F40-8F9E-C7F7A9BF7648}" type="pres">
      <dgm:prSet presAssocID="{35B0AB90-A69C-42B8-9B12-E3DFF28C37E3}" presName="horz1" presStyleCnt="0"/>
      <dgm:spPr/>
    </dgm:pt>
    <dgm:pt modelId="{334AE180-7187-7E47-AA32-9080D537D08A}" type="pres">
      <dgm:prSet presAssocID="{35B0AB90-A69C-42B8-9B12-E3DFF28C37E3}" presName="tx1" presStyleLbl="revTx" presStyleIdx="5" presStyleCnt="6"/>
      <dgm:spPr/>
    </dgm:pt>
    <dgm:pt modelId="{39A06DFB-1507-E543-A5A8-957E93F4D63E}" type="pres">
      <dgm:prSet presAssocID="{35B0AB90-A69C-42B8-9B12-E3DFF28C37E3}" presName="vert1" presStyleCnt="0"/>
      <dgm:spPr/>
    </dgm:pt>
  </dgm:ptLst>
  <dgm:cxnLst>
    <dgm:cxn modelId="{CA898F1A-F4A8-1949-A9CD-DC7356A89F0F}" type="presOf" srcId="{A40BE919-3CF4-4BA1-93CA-5ACCB1DB7198}" destId="{B4926CF2-A11B-F543-B09D-C7222FD18FB6}" srcOrd="0" destOrd="0" presId="urn:microsoft.com/office/officeart/2008/layout/LinedList"/>
    <dgm:cxn modelId="{66DC962B-A227-964A-80C7-1044512BC58F}" type="presOf" srcId="{35F67E23-A946-4559-92E6-F7030B7B8347}" destId="{AC1075A6-5516-1F48-B8B1-76AA450470F1}" srcOrd="0" destOrd="0" presId="urn:microsoft.com/office/officeart/2008/layout/LinedList"/>
    <dgm:cxn modelId="{D881BE2B-2911-4BB0-8D26-26781B886AC3}" srcId="{A40BE919-3CF4-4BA1-93CA-5ACCB1DB7198}" destId="{159A31C7-3F01-4EED-BEED-C052A8C489B3}" srcOrd="0" destOrd="0" parTransId="{A6F3E704-E619-4130-93B0-13103BA2D6BE}" sibTransId="{79966CB7-2531-4FBC-937E-80F9D7C94669}"/>
    <dgm:cxn modelId="{4738FF48-78C3-5D4B-A816-76ABFD685ED3}" type="presOf" srcId="{35B0AB90-A69C-42B8-9B12-E3DFF28C37E3}" destId="{334AE180-7187-7E47-AA32-9080D537D08A}" srcOrd="0" destOrd="0" presId="urn:microsoft.com/office/officeart/2008/layout/LinedList"/>
    <dgm:cxn modelId="{A9AC3549-C2F2-41FE-838F-31C03927D718}" srcId="{A40BE919-3CF4-4BA1-93CA-5ACCB1DB7198}" destId="{B93C25FD-06E4-480D-B404-910E696FC1DB}" srcOrd="1" destOrd="0" parTransId="{4177D227-8754-488D-848A-1160CDCE7398}" sibTransId="{E61DDDF2-CB83-47AD-AEFA-5EA0B1A1763F}"/>
    <dgm:cxn modelId="{21F80356-87FD-954E-902A-198067D422FE}" type="presOf" srcId="{B93C25FD-06E4-480D-B404-910E696FC1DB}" destId="{42899819-3875-9F4B-BC2B-B4A0E7F05D2E}" srcOrd="0" destOrd="0" presId="urn:microsoft.com/office/officeart/2008/layout/LinedList"/>
    <dgm:cxn modelId="{7061A37A-FECC-134E-8FA0-8092C7BF2EC4}" type="presOf" srcId="{159A31C7-3F01-4EED-BEED-C052A8C489B3}" destId="{2AD9701A-4699-4D46-A63B-AAEF9FD16DE9}" srcOrd="0" destOrd="0" presId="urn:microsoft.com/office/officeart/2008/layout/LinedList"/>
    <dgm:cxn modelId="{5AC7B27A-1DE4-4893-9F15-B6CD7F19EADB}" srcId="{A40BE919-3CF4-4BA1-93CA-5ACCB1DB7198}" destId="{597DD345-C8FE-4A91-AE7B-5FBF57337460}" srcOrd="2" destOrd="0" parTransId="{3A6BE429-AF15-469E-BA84-72160F02D5D5}" sibTransId="{25288384-D13F-48B8-B8D7-4445619E43B7}"/>
    <dgm:cxn modelId="{0D6AF384-A0A2-9C43-ABFF-DEEC9ACD3744}" type="presOf" srcId="{3F3C1264-EE09-4C12-8F07-99ADD92D3168}" destId="{B555A644-0A64-8A4C-BAE6-A989A2FF74EC}" srcOrd="0" destOrd="0" presId="urn:microsoft.com/office/officeart/2008/layout/LinedList"/>
    <dgm:cxn modelId="{B67DC5AC-AB76-43AA-845A-8E37C7978184}" srcId="{A40BE919-3CF4-4BA1-93CA-5ACCB1DB7198}" destId="{3F3C1264-EE09-4C12-8F07-99ADD92D3168}" srcOrd="3" destOrd="0" parTransId="{F5E7F721-4CCB-4D18-A6EE-193A725DCDF3}" sibTransId="{07F212CE-933E-4251-8E77-00F15DC7483A}"/>
    <dgm:cxn modelId="{D2BC44CA-975A-43AE-AD7D-95FAFE283387}" srcId="{A40BE919-3CF4-4BA1-93CA-5ACCB1DB7198}" destId="{35B0AB90-A69C-42B8-9B12-E3DFF28C37E3}" srcOrd="5" destOrd="0" parTransId="{E69C9EC3-3591-4E44-A77A-A5CE9F730495}" sibTransId="{785B56A2-894D-4293-80FF-B37A1DB32E5B}"/>
    <dgm:cxn modelId="{49E021DC-AD77-CA46-A811-D22BD93CE5BB}" type="presOf" srcId="{597DD345-C8FE-4A91-AE7B-5FBF57337460}" destId="{13EB036B-4B4E-7743-9C95-244420F8806F}" srcOrd="0" destOrd="0" presId="urn:microsoft.com/office/officeart/2008/layout/LinedList"/>
    <dgm:cxn modelId="{AE8894E0-F97A-46B2-8B65-1ABB1299349C}" srcId="{A40BE919-3CF4-4BA1-93CA-5ACCB1DB7198}" destId="{35F67E23-A946-4559-92E6-F7030B7B8347}" srcOrd="4" destOrd="0" parTransId="{3C8A393A-F630-4550-A47C-58D72D17A640}" sibTransId="{F197FCA3-E0CC-4C4A-ACD3-453794C5ECA9}"/>
    <dgm:cxn modelId="{A23F17C6-FF78-FD4B-B3D9-C63E13C0C20D}" type="presParOf" srcId="{B4926CF2-A11B-F543-B09D-C7222FD18FB6}" destId="{7ABF4008-1F15-BB42-8CF7-139BBDE80477}" srcOrd="0" destOrd="0" presId="urn:microsoft.com/office/officeart/2008/layout/LinedList"/>
    <dgm:cxn modelId="{3F34DE9B-29BE-EC44-AA05-DF2B92129392}" type="presParOf" srcId="{B4926CF2-A11B-F543-B09D-C7222FD18FB6}" destId="{C4C577DD-7259-4441-AA0E-3347C6DBCBF1}" srcOrd="1" destOrd="0" presId="urn:microsoft.com/office/officeart/2008/layout/LinedList"/>
    <dgm:cxn modelId="{48B703D8-09A0-3345-8306-2024D4F59087}" type="presParOf" srcId="{C4C577DD-7259-4441-AA0E-3347C6DBCBF1}" destId="{2AD9701A-4699-4D46-A63B-AAEF9FD16DE9}" srcOrd="0" destOrd="0" presId="urn:microsoft.com/office/officeart/2008/layout/LinedList"/>
    <dgm:cxn modelId="{CD13F20F-853E-BD40-870A-7A22517B318B}" type="presParOf" srcId="{C4C577DD-7259-4441-AA0E-3347C6DBCBF1}" destId="{20B97AA3-852A-5245-A1FF-B6DE3152A26E}" srcOrd="1" destOrd="0" presId="urn:microsoft.com/office/officeart/2008/layout/LinedList"/>
    <dgm:cxn modelId="{A26A4C2B-A6EB-9146-8FDF-C1F7368EE529}" type="presParOf" srcId="{B4926CF2-A11B-F543-B09D-C7222FD18FB6}" destId="{68DA8631-19C3-3241-8E97-2F8958AD64D8}" srcOrd="2" destOrd="0" presId="urn:microsoft.com/office/officeart/2008/layout/LinedList"/>
    <dgm:cxn modelId="{1B9D9065-3733-F948-968B-758CEA8867F3}" type="presParOf" srcId="{B4926CF2-A11B-F543-B09D-C7222FD18FB6}" destId="{B66C8C5E-6AF1-EA4E-9295-604DE36E5EC0}" srcOrd="3" destOrd="0" presId="urn:microsoft.com/office/officeart/2008/layout/LinedList"/>
    <dgm:cxn modelId="{ACAB047F-81A1-C34D-ACCB-17929AA86D5C}" type="presParOf" srcId="{B66C8C5E-6AF1-EA4E-9295-604DE36E5EC0}" destId="{42899819-3875-9F4B-BC2B-B4A0E7F05D2E}" srcOrd="0" destOrd="0" presId="urn:microsoft.com/office/officeart/2008/layout/LinedList"/>
    <dgm:cxn modelId="{F925C835-1F2F-6D41-8F1A-4AB8DDA11691}" type="presParOf" srcId="{B66C8C5E-6AF1-EA4E-9295-604DE36E5EC0}" destId="{2C8EE6F8-4ACE-0A44-8886-9E01CB12B2B7}" srcOrd="1" destOrd="0" presId="urn:microsoft.com/office/officeart/2008/layout/LinedList"/>
    <dgm:cxn modelId="{BE63221D-CD11-944E-9C5A-42B20E7F0EA1}" type="presParOf" srcId="{B4926CF2-A11B-F543-B09D-C7222FD18FB6}" destId="{66BEA251-B884-4B4A-A342-34FF5E5E6794}" srcOrd="4" destOrd="0" presId="urn:microsoft.com/office/officeart/2008/layout/LinedList"/>
    <dgm:cxn modelId="{556B2FE0-88BB-DE4C-AC61-0CB4E5A01E07}" type="presParOf" srcId="{B4926CF2-A11B-F543-B09D-C7222FD18FB6}" destId="{2A6F29EF-A181-5F40-9FD6-A307887F53F1}" srcOrd="5" destOrd="0" presId="urn:microsoft.com/office/officeart/2008/layout/LinedList"/>
    <dgm:cxn modelId="{F1BA8FB7-E462-D242-AF02-1EE68FF4EB29}" type="presParOf" srcId="{2A6F29EF-A181-5F40-9FD6-A307887F53F1}" destId="{13EB036B-4B4E-7743-9C95-244420F8806F}" srcOrd="0" destOrd="0" presId="urn:microsoft.com/office/officeart/2008/layout/LinedList"/>
    <dgm:cxn modelId="{B0731691-1F53-8242-87B3-FD31F92C4561}" type="presParOf" srcId="{2A6F29EF-A181-5F40-9FD6-A307887F53F1}" destId="{E1BF03CE-6F58-D044-ACED-06254862135C}" srcOrd="1" destOrd="0" presId="urn:microsoft.com/office/officeart/2008/layout/LinedList"/>
    <dgm:cxn modelId="{8F729EA0-8CD5-0744-B7C8-BC140186CEB1}" type="presParOf" srcId="{B4926CF2-A11B-F543-B09D-C7222FD18FB6}" destId="{E9B2E412-EC38-BE45-AEAC-E5C83A810CA3}" srcOrd="6" destOrd="0" presId="urn:microsoft.com/office/officeart/2008/layout/LinedList"/>
    <dgm:cxn modelId="{1872E06D-A42F-CB4C-B110-815E95B129E9}" type="presParOf" srcId="{B4926CF2-A11B-F543-B09D-C7222FD18FB6}" destId="{B72C7039-5F4C-7743-9DBD-6BC73B4CC439}" srcOrd="7" destOrd="0" presId="urn:microsoft.com/office/officeart/2008/layout/LinedList"/>
    <dgm:cxn modelId="{8215FF19-7FF6-5F46-9A34-DA48DF98620B}" type="presParOf" srcId="{B72C7039-5F4C-7743-9DBD-6BC73B4CC439}" destId="{B555A644-0A64-8A4C-BAE6-A989A2FF74EC}" srcOrd="0" destOrd="0" presId="urn:microsoft.com/office/officeart/2008/layout/LinedList"/>
    <dgm:cxn modelId="{78623A1F-4544-2B4C-A63D-44278A0FE43E}" type="presParOf" srcId="{B72C7039-5F4C-7743-9DBD-6BC73B4CC439}" destId="{A12BD539-D80C-1548-9EB3-8D7706BE5418}" srcOrd="1" destOrd="0" presId="urn:microsoft.com/office/officeart/2008/layout/LinedList"/>
    <dgm:cxn modelId="{DA849C3E-BA18-EF4F-9321-EC3E3AF7EC2A}" type="presParOf" srcId="{B4926CF2-A11B-F543-B09D-C7222FD18FB6}" destId="{955BC21D-F366-7F46-8EE5-728EC9F13244}" srcOrd="8" destOrd="0" presId="urn:microsoft.com/office/officeart/2008/layout/LinedList"/>
    <dgm:cxn modelId="{A0E6E525-147B-7248-9E62-F29E31EE47B7}" type="presParOf" srcId="{B4926CF2-A11B-F543-B09D-C7222FD18FB6}" destId="{AF472EDC-DD4E-D247-B6A5-EC85F7AB264D}" srcOrd="9" destOrd="0" presId="urn:microsoft.com/office/officeart/2008/layout/LinedList"/>
    <dgm:cxn modelId="{4765084A-D2C3-C143-BD55-997A589DAC54}" type="presParOf" srcId="{AF472EDC-DD4E-D247-B6A5-EC85F7AB264D}" destId="{AC1075A6-5516-1F48-B8B1-76AA450470F1}" srcOrd="0" destOrd="0" presId="urn:microsoft.com/office/officeart/2008/layout/LinedList"/>
    <dgm:cxn modelId="{16FC9099-B4A5-8045-844A-2609CF196BC0}" type="presParOf" srcId="{AF472EDC-DD4E-D247-B6A5-EC85F7AB264D}" destId="{D12D4ECF-46F4-7941-B722-77DF9B7EE44C}" srcOrd="1" destOrd="0" presId="urn:microsoft.com/office/officeart/2008/layout/LinedList"/>
    <dgm:cxn modelId="{7186417D-A7F5-2F46-9FD6-016521985D1A}" type="presParOf" srcId="{B4926CF2-A11B-F543-B09D-C7222FD18FB6}" destId="{64A62F1C-9A50-C849-93C5-758177D468F1}" srcOrd="10" destOrd="0" presId="urn:microsoft.com/office/officeart/2008/layout/LinedList"/>
    <dgm:cxn modelId="{533AF870-6517-0548-81D4-A7FD7B189B96}" type="presParOf" srcId="{B4926CF2-A11B-F543-B09D-C7222FD18FB6}" destId="{4346FC5A-B42F-8F40-8F9E-C7F7A9BF7648}" srcOrd="11" destOrd="0" presId="urn:microsoft.com/office/officeart/2008/layout/LinedList"/>
    <dgm:cxn modelId="{757EE6AD-D265-374E-938D-2676A20D6E7E}" type="presParOf" srcId="{4346FC5A-B42F-8F40-8F9E-C7F7A9BF7648}" destId="{334AE180-7187-7E47-AA32-9080D537D08A}" srcOrd="0" destOrd="0" presId="urn:microsoft.com/office/officeart/2008/layout/LinedList"/>
    <dgm:cxn modelId="{EC08FCFE-6BAD-6642-A5BE-F5CF689F7E3A}" type="presParOf" srcId="{4346FC5A-B42F-8F40-8F9E-C7F7A9BF7648}" destId="{39A06DFB-1507-E543-A5A8-957E93F4D63E}" srcOrd="1"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3F5367-ADB5-4B54-BC05-93A2F4B57117}"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A8C6CB79-D6EE-4E70-82AB-2BD394FCB19E}">
      <dgm:prSet/>
      <dgm:spPr/>
      <dgm:t>
        <a:bodyPr/>
        <a:lstStyle/>
        <a:p>
          <a:r>
            <a:rPr lang="en-US" b="1" i="0" baseline="0"/>
            <a:t>Decarbonisation strategies</a:t>
          </a:r>
          <a:r>
            <a:rPr lang="en-US" b="0" i="0" baseline="0"/>
            <a:t> primarily target CO₂ through energy system transformation</a:t>
          </a:r>
          <a:endParaRPr lang="en-US"/>
        </a:p>
      </dgm:t>
    </dgm:pt>
    <dgm:pt modelId="{E8D81494-4A8A-47C9-B244-FE6C19D688B2}" type="parTrans" cxnId="{EC0804E0-7980-48BC-83EF-079C05204DEB}">
      <dgm:prSet/>
      <dgm:spPr/>
      <dgm:t>
        <a:bodyPr/>
        <a:lstStyle/>
        <a:p>
          <a:endParaRPr lang="en-US"/>
        </a:p>
      </dgm:t>
    </dgm:pt>
    <dgm:pt modelId="{405FD627-9CAC-4221-8866-50AC13796ACD}" type="sibTrans" cxnId="{EC0804E0-7980-48BC-83EF-079C05204DEB}">
      <dgm:prSet/>
      <dgm:spPr/>
      <dgm:t>
        <a:bodyPr/>
        <a:lstStyle/>
        <a:p>
          <a:endParaRPr lang="en-US"/>
        </a:p>
      </dgm:t>
    </dgm:pt>
    <dgm:pt modelId="{9EB35F98-C232-42BD-8A9C-B4B47B10CDC3}">
      <dgm:prSet/>
      <dgm:spPr/>
      <dgm:t>
        <a:bodyPr/>
        <a:lstStyle/>
        <a:p>
          <a:r>
            <a:rPr lang="en-US" b="0" i="0" baseline="0"/>
            <a:t>Co-benefits include substantial reductions in </a:t>
          </a:r>
          <a:r>
            <a:rPr lang="en-US" b="1" i="0" baseline="0"/>
            <a:t>combustion-related air pollutants</a:t>
          </a:r>
          <a:r>
            <a:rPr lang="en-US" b="0" i="0" baseline="0"/>
            <a:t>, particularly in urban and industrial regions.</a:t>
          </a:r>
          <a:endParaRPr lang="en-US"/>
        </a:p>
      </dgm:t>
    </dgm:pt>
    <dgm:pt modelId="{F179FB2C-F29A-4C96-B789-CD598E704334}" type="parTrans" cxnId="{D069A683-631C-4056-BE3F-42F45936D519}">
      <dgm:prSet/>
      <dgm:spPr/>
      <dgm:t>
        <a:bodyPr/>
        <a:lstStyle/>
        <a:p>
          <a:endParaRPr lang="en-US"/>
        </a:p>
      </dgm:t>
    </dgm:pt>
    <dgm:pt modelId="{08B72032-3B8D-4CB0-9917-559887598945}" type="sibTrans" cxnId="{D069A683-631C-4056-BE3F-42F45936D519}">
      <dgm:prSet/>
      <dgm:spPr/>
      <dgm:t>
        <a:bodyPr/>
        <a:lstStyle/>
        <a:p>
          <a:endParaRPr lang="en-US"/>
        </a:p>
      </dgm:t>
    </dgm:pt>
    <dgm:pt modelId="{BE4D6FCC-14B4-4404-B573-761C4EA98648}">
      <dgm:prSet/>
      <dgm:spPr/>
      <dgm:t>
        <a:bodyPr/>
        <a:lstStyle/>
        <a:p>
          <a:r>
            <a:rPr lang="en-US" b="1" i="0" baseline="0"/>
            <a:t>Methane mitigation</a:t>
          </a:r>
          <a:r>
            <a:rPr lang="en-US" b="0" i="0" baseline="0"/>
            <a:t> (oil &amp; gas leak reduction, waste management, agricultural practices) delivers rapid climate benefits</a:t>
          </a:r>
          <a:endParaRPr lang="en-US"/>
        </a:p>
      </dgm:t>
    </dgm:pt>
    <dgm:pt modelId="{FF6FB879-2470-4AF8-B816-AA2D03C42139}" type="parTrans" cxnId="{A46432E0-02BD-4A6F-9F72-8D37CFF775CF}">
      <dgm:prSet/>
      <dgm:spPr/>
      <dgm:t>
        <a:bodyPr/>
        <a:lstStyle/>
        <a:p>
          <a:endParaRPr lang="en-US"/>
        </a:p>
      </dgm:t>
    </dgm:pt>
    <dgm:pt modelId="{91714AF5-2D90-4750-9035-659A1AC7AC43}" type="sibTrans" cxnId="{A46432E0-02BD-4A6F-9F72-8D37CFF775CF}">
      <dgm:prSet/>
      <dgm:spPr/>
      <dgm:t>
        <a:bodyPr/>
        <a:lstStyle/>
        <a:p>
          <a:endParaRPr lang="en-US"/>
        </a:p>
      </dgm:t>
    </dgm:pt>
    <dgm:pt modelId="{9BED45E0-FE0B-4D1C-B7BC-7A06B8B35F88}">
      <dgm:prSet/>
      <dgm:spPr/>
      <dgm:t>
        <a:bodyPr/>
        <a:lstStyle/>
        <a:p>
          <a:r>
            <a:rPr lang="en-US" b="0" i="0" baseline="0"/>
            <a:t>Also reduces </a:t>
          </a:r>
          <a:r>
            <a:rPr lang="en-US" b="1" i="0" baseline="0"/>
            <a:t>tropospheric ozone</a:t>
          </a:r>
          <a:r>
            <a:rPr lang="en-US" b="0" i="0" baseline="0"/>
            <a:t>, with immediate public health and agricultural gains.</a:t>
          </a:r>
          <a:endParaRPr lang="en-US"/>
        </a:p>
      </dgm:t>
    </dgm:pt>
    <dgm:pt modelId="{4D7378E4-9F8F-48BD-B9AE-DD9D5CB3DE57}" type="parTrans" cxnId="{7999EE12-029C-484F-AD03-2D394E552988}">
      <dgm:prSet/>
      <dgm:spPr/>
      <dgm:t>
        <a:bodyPr/>
        <a:lstStyle/>
        <a:p>
          <a:endParaRPr lang="en-US"/>
        </a:p>
      </dgm:t>
    </dgm:pt>
    <dgm:pt modelId="{1E142372-579E-437D-A3F1-EB53FA2641BA}" type="sibTrans" cxnId="{7999EE12-029C-484F-AD03-2D394E552988}">
      <dgm:prSet/>
      <dgm:spPr/>
      <dgm:t>
        <a:bodyPr/>
        <a:lstStyle/>
        <a:p>
          <a:endParaRPr lang="en-US"/>
        </a:p>
      </dgm:t>
    </dgm:pt>
    <dgm:pt modelId="{FE93EAD1-D41A-4676-B015-E1EC4F6E6656}">
      <dgm:prSet/>
      <dgm:spPr/>
      <dgm:t>
        <a:bodyPr/>
        <a:lstStyle/>
        <a:p>
          <a:r>
            <a:rPr lang="en-US" b="1" i="0" baseline="0"/>
            <a:t>Agricultural efficiency and fertiliser optimisation</a:t>
          </a:r>
          <a:r>
            <a:rPr lang="en-US" b="0" i="0" baseline="0"/>
            <a:t> are critical for N₂O reduction</a:t>
          </a:r>
          <a:endParaRPr lang="en-US"/>
        </a:p>
      </dgm:t>
    </dgm:pt>
    <dgm:pt modelId="{36F80A39-8DCF-487D-9FDF-73713F876513}" type="parTrans" cxnId="{FBAA6143-9386-4037-84BD-1B0DF6BE12EF}">
      <dgm:prSet/>
      <dgm:spPr/>
      <dgm:t>
        <a:bodyPr/>
        <a:lstStyle/>
        <a:p>
          <a:endParaRPr lang="en-US"/>
        </a:p>
      </dgm:t>
    </dgm:pt>
    <dgm:pt modelId="{5E61093A-1D22-4298-9CD8-8991C4D9071F}" type="sibTrans" cxnId="{FBAA6143-9386-4037-84BD-1B0DF6BE12EF}">
      <dgm:prSet/>
      <dgm:spPr/>
      <dgm:t>
        <a:bodyPr/>
        <a:lstStyle/>
        <a:p>
          <a:endParaRPr lang="en-US"/>
        </a:p>
      </dgm:t>
    </dgm:pt>
    <dgm:pt modelId="{7F1E4973-2DEA-453C-87F1-99CF2C83DDBE}">
      <dgm:prSet/>
      <dgm:spPr/>
      <dgm:t>
        <a:bodyPr/>
        <a:lstStyle/>
        <a:p>
          <a:r>
            <a:rPr lang="en-US" b="0" i="0" baseline="0"/>
            <a:t>Simultaneously decrease </a:t>
          </a:r>
          <a:r>
            <a:rPr lang="en-US" b="1" i="0" baseline="0"/>
            <a:t>ammonia emissions and nitrate pollution</a:t>
          </a:r>
          <a:r>
            <a:rPr lang="en-US" b="0" i="0" baseline="0"/>
            <a:t>, improving air and water quality.</a:t>
          </a:r>
          <a:endParaRPr lang="en-US"/>
        </a:p>
      </dgm:t>
    </dgm:pt>
    <dgm:pt modelId="{31222BE7-C2F5-4165-A461-5EB5AE51E7BA}" type="parTrans" cxnId="{1C69D43B-90B7-4940-8AA6-C98F9D684007}">
      <dgm:prSet/>
      <dgm:spPr/>
      <dgm:t>
        <a:bodyPr/>
        <a:lstStyle/>
        <a:p>
          <a:endParaRPr lang="en-US"/>
        </a:p>
      </dgm:t>
    </dgm:pt>
    <dgm:pt modelId="{BAE94A37-D558-4B6E-8A3F-E2FC12F55CB8}" type="sibTrans" cxnId="{1C69D43B-90B7-4940-8AA6-C98F9D684007}">
      <dgm:prSet/>
      <dgm:spPr/>
      <dgm:t>
        <a:bodyPr/>
        <a:lstStyle/>
        <a:p>
          <a:endParaRPr lang="en-US"/>
        </a:p>
      </dgm:t>
    </dgm:pt>
    <dgm:pt modelId="{5E4EA878-2053-41FB-BB2C-E5B1D3E59E2A}">
      <dgm:prSet/>
      <dgm:spPr/>
      <dgm:t>
        <a:bodyPr/>
        <a:lstStyle/>
        <a:p>
          <a:r>
            <a:rPr lang="en-US" b="1" i="0" baseline="0"/>
            <a:t>International regulation of F-gases</a:t>
          </a:r>
          <a:r>
            <a:rPr lang="en-US" b="0" i="0" baseline="0"/>
            <a:t> (e.g. Kigali Amendment) limits high-GWP emissions</a:t>
          </a:r>
          <a:endParaRPr lang="en-US"/>
        </a:p>
      </dgm:t>
    </dgm:pt>
    <dgm:pt modelId="{B31022A9-48EC-4538-9CC9-13178BFD9617}" type="parTrans" cxnId="{B201CF3C-19C4-43A6-B131-D9215A2E322F}">
      <dgm:prSet/>
      <dgm:spPr/>
      <dgm:t>
        <a:bodyPr/>
        <a:lstStyle/>
        <a:p>
          <a:endParaRPr lang="en-US"/>
        </a:p>
      </dgm:t>
    </dgm:pt>
    <dgm:pt modelId="{935A6132-3573-4AAE-A368-2CA00E09B55D}" type="sibTrans" cxnId="{B201CF3C-19C4-43A6-B131-D9215A2E322F}">
      <dgm:prSet/>
      <dgm:spPr/>
      <dgm:t>
        <a:bodyPr/>
        <a:lstStyle/>
        <a:p>
          <a:endParaRPr lang="en-US"/>
        </a:p>
      </dgm:t>
    </dgm:pt>
    <dgm:pt modelId="{43E43245-603D-4548-A477-43B2147B4FCE}">
      <dgm:prSet/>
      <dgm:spPr/>
      <dgm:t>
        <a:bodyPr/>
        <a:lstStyle/>
        <a:p>
          <a:r>
            <a:rPr lang="en-US" b="0" i="0" baseline="0"/>
            <a:t>Often coincides with </a:t>
          </a:r>
          <a:r>
            <a:rPr lang="en-US" b="1" i="0" baseline="0"/>
            <a:t>more efficient cooling technologies</a:t>
          </a:r>
          <a:r>
            <a:rPr lang="en-US" b="0" i="0" baseline="0"/>
            <a:t>, reducing electricity demand and upstream air pollution.</a:t>
          </a:r>
          <a:endParaRPr lang="en-US"/>
        </a:p>
      </dgm:t>
    </dgm:pt>
    <dgm:pt modelId="{0CA6E5A6-B607-4D2D-AD6D-05C6C8644342}" type="parTrans" cxnId="{B23E0804-CEDD-41CA-B8F1-0741325DC621}">
      <dgm:prSet/>
      <dgm:spPr/>
      <dgm:t>
        <a:bodyPr/>
        <a:lstStyle/>
        <a:p>
          <a:endParaRPr lang="en-US"/>
        </a:p>
      </dgm:t>
    </dgm:pt>
    <dgm:pt modelId="{D1DE6B94-6AB6-431D-B6E8-07E82541269C}" type="sibTrans" cxnId="{B23E0804-CEDD-41CA-B8F1-0741325DC621}">
      <dgm:prSet/>
      <dgm:spPr/>
      <dgm:t>
        <a:bodyPr/>
        <a:lstStyle/>
        <a:p>
          <a:endParaRPr lang="en-US"/>
        </a:p>
      </dgm:t>
    </dgm:pt>
    <dgm:pt modelId="{484572E7-E7B6-BB42-910D-EAD492827617}" type="pres">
      <dgm:prSet presAssocID="{313F5367-ADB5-4B54-BC05-93A2F4B57117}" presName="Name0" presStyleCnt="0">
        <dgm:presLayoutVars>
          <dgm:dir/>
          <dgm:animLvl val="lvl"/>
          <dgm:resizeHandles val="exact"/>
        </dgm:presLayoutVars>
      </dgm:prSet>
      <dgm:spPr/>
    </dgm:pt>
    <dgm:pt modelId="{9EA53B55-1958-9444-8CAC-F5307477BE9D}" type="pres">
      <dgm:prSet presAssocID="{A8C6CB79-D6EE-4E70-82AB-2BD394FCB19E}" presName="linNode" presStyleCnt="0"/>
      <dgm:spPr/>
    </dgm:pt>
    <dgm:pt modelId="{9AE79AA9-A4E0-444A-8CB6-6C843948B472}" type="pres">
      <dgm:prSet presAssocID="{A8C6CB79-D6EE-4E70-82AB-2BD394FCB19E}" presName="parentText" presStyleLbl="node1" presStyleIdx="0" presStyleCnt="4">
        <dgm:presLayoutVars>
          <dgm:chMax val="1"/>
          <dgm:bulletEnabled val="1"/>
        </dgm:presLayoutVars>
      </dgm:prSet>
      <dgm:spPr/>
    </dgm:pt>
    <dgm:pt modelId="{47861360-B258-2542-9FBC-53D24933DE0A}" type="pres">
      <dgm:prSet presAssocID="{A8C6CB79-D6EE-4E70-82AB-2BD394FCB19E}" presName="descendantText" presStyleLbl="alignAccFollowNode1" presStyleIdx="0" presStyleCnt="4">
        <dgm:presLayoutVars>
          <dgm:bulletEnabled val="1"/>
        </dgm:presLayoutVars>
      </dgm:prSet>
      <dgm:spPr/>
    </dgm:pt>
    <dgm:pt modelId="{F84F6626-31DD-7F4D-A703-D54A17D61C7B}" type="pres">
      <dgm:prSet presAssocID="{405FD627-9CAC-4221-8866-50AC13796ACD}" presName="sp" presStyleCnt="0"/>
      <dgm:spPr/>
    </dgm:pt>
    <dgm:pt modelId="{39918BEB-8E36-614E-A77F-8608F1CBC7E9}" type="pres">
      <dgm:prSet presAssocID="{BE4D6FCC-14B4-4404-B573-761C4EA98648}" presName="linNode" presStyleCnt="0"/>
      <dgm:spPr/>
    </dgm:pt>
    <dgm:pt modelId="{CC3079A3-0160-274B-A9C5-467624307378}" type="pres">
      <dgm:prSet presAssocID="{BE4D6FCC-14B4-4404-B573-761C4EA98648}" presName="parentText" presStyleLbl="node1" presStyleIdx="1" presStyleCnt="4">
        <dgm:presLayoutVars>
          <dgm:chMax val="1"/>
          <dgm:bulletEnabled val="1"/>
        </dgm:presLayoutVars>
      </dgm:prSet>
      <dgm:spPr/>
    </dgm:pt>
    <dgm:pt modelId="{C70AECE5-AEFF-5142-B79F-DD0C7BF07C25}" type="pres">
      <dgm:prSet presAssocID="{BE4D6FCC-14B4-4404-B573-761C4EA98648}" presName="descendantText" presStyleLbl="alignAccFollowNode1" presStyleIdx="1" presStyleCnt="4">
        <dgm:presLayoutVars>
          <dgm:bulletEnabled val="1"/>
        </dgm:presLayoutVars>
      </dgm:prSet>
      <dgm:spPr/>
    </dgm:pt>
    <dgm:pt modelId="{657187DF-1B65-CD45-A7E4-66CE683A465F}" type="pres">
      <dgm:prSet presAssocID="{91714AF5-2D90-4750-9035-659A1AC7AC43}" presName="sp" presStyleCnt="0"/>
      <dgm:spPr/>
    </dgm:pt>
    <dgm:pt modelId="{7B8C3DA7-0436-2C42-9B35-647C2177D0FF}" type="pres">
      <dgm:prSet presAssocID="{FE93EAD1-D41A-4676-B015-E1EC4F6E6656}" presName="linNode" presStyleCnt="0"/>
      <dgm:spPr/>
    </dgm:pt>
    <dgm:pt modelId="{FBFF1397-61CF-8F45-9C47-37FC837C2652}" type="pres">
      <dgm:prSet presAssocID="{FE93EAD1-D41A-4676-B015-E1EC4F6E6656}" presName="parentText" presStyleLbl="node1" presStyleIdx="2" presStyleCnt="4">
        <dgm:presLayoutVars>
          <dgm:chMax val="1"/>
          <dgm:bulletEnabled val="1"/>
        </dgm:presLayoutVars>
      </dgm:prSet>
      <dgm:spPr/>
    </dgm:pt>
    <dgm:pt modelId="{DD98B028-7BE8-BB4F-AF55-5F7D00453E81}" type="pres">
      <dgm:prSet presAssocID="{FE93EAD1-D41A-4676-B015-E1EC4F6E6656}" presName="descendantText" presStyleLbl="alignAccFollowNode1" presStyleIdx="2" presStyleCnt="4">
        <dgm:presLayoutVars>
          <dgm:bulletEnabled val="1"/>
        </dgm:presLayoutVars>
      </dgm:prSet>
      <dgm:spPr/>
    </dgm:pt>
    <dgm:pt modelId="{E60873F1-8203-C542-A8D5-7B5C67394F93}" type="pres">
      <dgm:prSet presAssocID="{5E61093A-1D22-4298-9CD8-8991C4D9071F}" presName="sp" presStyleCnt="0"/>
      <dgm:spPr/>
    </dgm:pt>
    <dgm:pt modelId="{3CE01549-4FF0-694A-B755-E9813E71E245}" type="pres">
      <dgm:prSet presAssocID="{5E4EA878-2053-41FB-BB2C-E5B1D3E59E2A}" presName="linNode" presStyleCnt="0"/>
      <dgm:spPr/>
    </dgm:pt>
    <dgm:pt modelId="{70A7EEDA-2B56-3D4E-AE8E-0BDDE31B3622}" type="pres">
      <dgm:prSet presAssocID="{5E4EA878-2053-41FB-BB2C-E5B1D3E59E2A}" presName="parentText" presStyleLbl="node1" presStyleIdx="3" presStyleCnt="4">
        <dgm:presLayoutVars>
          <dgm:chMax val="1"/>
          <dgm:bulletEnabled val="1"/>
        </dgm:presLayoutVars>
      </dgm:prSet>
      <dgm:spPr/>
    </dgm:pt>
    <dgm:pt modelId="{4A0B97EA-07CF-A54D-938F-E29AAE084E14}" type="pres">
      <dgm:prSet presAssocID="{5E4EA878-2053-41FB-BB2C-E5B1D3E59E2A}" presName="descendantText" presStyleLbl="alignAccFollowNode1" presStyleIdx="3" presStyleCnt="4">
        <dgm:presLayoutVars>
          <dgm:bulletEnabled val="1"/>
        </dgm:presLayoutVars>
      </dgm:prSet>
      <dgm:spPr/>
    </dgm:pt>
  </dgm:ptLst>
  <dgm:cxnLst>
    <dgm:cxn modelId="{B23E0804-CEDD-41CA-B8F1-0741325DC621}" srcId="{5E4EA878-2053-41FB-BB2C-E5B1D3E59E2A}" destId="{43E43245-603D-4548-A477-43B2147B4FCE}" srcOrd="0" destOrd="0" parTransId="{0CA6E5A6-B607-4D2D-AD6D-05C6C8644342}" sibTransId="{D1DE6B94-6AB6-431D-B6E8-07E82541269C}"/>
    <dgm:cxn modelId="{7999EE12-029C-484F-AD03-2D394E552988}" srcId="{BE4D6FCC-14B4-4404-B573-761C4EA98648}" destId="{9BED45E0-FE0B-4D1C-B7BC-7A06B8B35F88}" srcOrd="0" destOrd="0" parTransId="{4D7378E4-9F8F-48BD-B9AE-DD9D5CB3DE57}" sibTransId="{1E142372-579E-437D-A3F1-EB53FA2641BA}"/>
    <dgm:cxn modelId="{850DF517-57C3-D447-8545-1E39BDE75380}" type="presOf" srcId="{BE4D6FCC-14B4-4404-B573-761C4EA98648}" destId="{CC3079A3-0160-274B-A9C5-467624307378}" srcOrd="0" destOrd="0" presId="urn:microsoft.com/office/officeart/2005/8/layout/vList5"/>
    <dgm:cxn modelId="{1C69D43B-90B7-4940-8AA6-C98F9D684007}" srcId="{FE93EAD1-D41A-4676-B015-E1EC4F6E6656}" destId="{7F1E4973-2DEA-453C-87F1-99CF2C83DDBE}" srcOrd="0" destOrd="0" parTransId="{31222BE7-C2F5-4165-A461-5EB5AE51E7BA}" sibTransId="{BAE94A37-D558-4B6E-8A3F-E2FC12F55CB8}"/>
    <dgm:cxn modelId="{B201CF3C-19C4-43A6-B131-D9215A2E322F}" srcId="{313F5367-ADB5-4B54-BC05-93A2F4B57117}" destId="{5E4EA878-2053-41FB-BB2C-E5B1D3E59E2A}" srcOrd="3" destOrd="0" parTransId="{B31022A9-48EC-4538-9CC9-13178BFD9617}" sibTransId="{935A6132-3573-4AAE-A368-2CA00E09B55D}"/>
    <dgm:cxn modelId="{FBAA6143-9386-4037-84BD-1B0DF6BE12EF}" srcId="{313F5367-ADB5-4B54-BC05-93A2F4B57117}" destId="{FE93EAD1-D41A-4676-B015-E1EC4F6E6656}" srcOrd="2" destOrd="0" parTransId="{36F80A39-8DCF-487D-9FDF-73713F876513}" sibTransId="{5E61093A-1D22-4298-9CD8-8991C4D9071F}"/>
    <dgm:cxn modelId="{EA52445A-EA00-2445-90F9-EE81DB665043}" type="presOf" srcId="{43E43245-603D-4548-A477-43B2147B4FCE}" destId="{4A0B97EA-07CF-A54D-938F-E29AAE084E14}" srcOrd="0" destOrd="0" presId="urn:microsoft.com/office/officeart/2005/8/layout/vList5"/>
    <dgm:cxn modelId="{8FF32867-272A-AC47-8BA9-2EF72621BD33}" type="presOf" srcId="{FE93EAD1-D41A-4676-B015-E1EC4F6E6656}" destId="{FBFF1397-61CF-8F45-9C47-37FC837C2652}" srcOrd="0" destOrd="0" presId="urn:microsoft.com/office/officeart/2005/8/layout/vList5"/>
    <dgm:cxn modelId="{6AE8F573-EE77-C946-AB13-65DC8474EC07}" type="presOf" srcId="{7F1E4973-2DEA-453C-87F1-99CF2C83DDBE}" destId="{DD98B028-7BE8-BB4F-AF55-5F7D00453E81}" srcOrd="0" destOrd="0" presId="urn:microsoft.com/office/officeart/2005/8/layout/vList5"/>
    <dgm:cxn modelId="{14BDCD78-BF98-7C42-8015-2139765AD432}" type="presOf" srcId="{9EB35F98-C232-42BD-8A9C-B4B47B10CDC3}" destId="{47861360-B258-2542-9FBC-53D24933DE0A}" srcOrd="0" destOrd="0" presId="urn:microsoft.com/office/officeart/2005/8/layout/vList5"/>
    <dgm:cxn modelId="{7F6D157E-CC04-6E44-A6D3-8108A87E452B}" type="presOf" srcId="{9BED45E0-FE0B-4D1C-B7BC-7A06B8B35F88}" destId="{C70AECE5-AEFF-5142-B79F-DD0C7BF07C25}" srcOrd="0" destOrd="0" presId="urn:microsoft.com/office/officeart/2005/8/layout/vList5"/>
    <dgm:cxn modelId="{D069A683-631C-4056-BE3F-42F45936D519}" srcId="{A8C6CB79-D6EE-4E70-82AB-2BD394FCB19E}" destId="{9EB35F98-C232-42BD-8A9C-B4B47B10CDC3}" srcOrd="0" destOrd="0" parTransId="{F179FB2C-F29A-4C96-B789-CD598E704334}" sibTransId="{08B72032-3B8D-4CB0-9917-559887598945}"/>
    <dgm:cxn modelId="{DC306497-8B63-EC4C-8A8D-1E92E5250402}" type="presOf" srcId="{A8C6CB79-D6EE-4E70-82AB-2BD394FCB19E}" destId="{9AE79AA9-A4E0-444A-8CB6-6C843948B472}" srcOrd="0" destOrd="0" presId="urn:microsoft.com/office/officeart/2005/8/layout/vList5"/>
    <dgm:cxn modelId="{3C4FF9CA-6B59-2442-A4F1-39C6D3664F56}" type="presOf" srcId="{5E4EA878-2053-41FB-BB2C-E5B1D3E59E2A}" destId="{70A7EEDA-2B56-3D4E-AE8E-0BDDE31B3622}" srcOrd="0" destOrd="0" presId="urn:microsoft.com/office/officeart/2005/8/layout/vList5"/>
    <dgm:cxn modelId="{EC0804E0-7980-48BC-83EF-079C05204DEB}" srcId="{313F5367-ADB5-4B54-BC05-93A2F4B57117}" destId="{A8C6CB79-D6EE-4E70-82AB-2BD394FCB19E}" srcOrd="0" destOrd="0" parTransId="{E8D81494-4A8A-47C9-B244-FE6C19D688B2}" sibTransId="{405FD627-9CAC-4221-8866-50AC13796ACD}"/>
    <dgm:cxn modelId="{A46432E0-02BD-4A6F-9F72-8D37CFF775CF}" srcId="{313F5367-ADB5-4B54-BC05-93A2F4B57117}" destId="{BE4D6FCC-14B4-4404-B573-761C4EA98648}" srcOrd="1" destOrd="0" parTransId="{FF6FB879-2470-4AF8-B816-AA2D03C42139}" sibTransId="{91714AF5-2D90-4750-9035-659A1AC7AC43}"/>
    <dgm:cxn modelId="{2A85AAE6-5281-8446-985F-2F835B7C6135}" type="presOf" srcId="{313F5367-ADB5-4B54-BC05-93A2F4B57117}" destId="{484572E7-E7B6-BB42-910D-EAD492827617}" srcOrd="0" destOrd="0" presId="urn:microsoft.com/office/officeart/2005/8/layout/vList5"/>
    <dgm:cxn modelId="{FE6AC96A-3E9C-324B-AF4A-D6DC1306C0C2}" type="presParOf" srcId="{484572E7-E7B6-BB42-910D-EAD492827617}" destId="{9EA53B55-1958-9444-8CAC-F5307477BE9D}" srcOrd="0" destOrd="0" presId="urn:microsoft.com/office/officeart/2005/8/layout/vList5"/>
    <dgm:cxn modelId="{08F9F150-3564-5342-815F-2CB1F9AC21F2}" type="presParOf" srcId="{9EA53B55-1958-9444-8CAC-F5307477BE9D}" destId="{9AE79AA9-A4E0-444A-8CB6-6C843948B472}" srcOrd="0" destOrd="0" presId="urn:microsoft.com/office/officeart/2005/8/layout/vList5"/>
    <dgm:cxn modelId="{141D4795-03B5-9845-97F6-B1B5BB1EA91C}" type="presParOf" srcId="{9EA53B55-1958-9444-8CAC-F5307477BE9D}" destId="{47861360-B258-2542-9FBC-53D24933DE0A}" srcOrd="1" destOrd="0" presId="urn:microsoft.com/office/officeart/2005/8/layout/vList5"/>
    <dgm:cxn modelId="{516843E4-AF54-434F-BD92-23E14F687D44}" type="presParOf" srcId="{484572E7-E7B6-BB42-910D-EAD492827617}" destId="{F84F6626-31DD-7F4D-A703-D54A17D61C7B}" srcOrd="1" destOrd="0" presId="urn:microsoft.com/office/officeart/2005/8/layout/vList5"/>
    <dgm:cxn modelId="{8772A990-6912-164A-B21D-549B1F608D19}" type="presParOf" srcId="{484572E7-E7B6-BB42-910D-EAD492827617}" destId="{39918BEB-8E36-614E-A77F-8608F1CBC7E9}" srcOrd="2" destOrd="0" presId="urn:microsoft.com/office/officeart/2005/8/layout/vList5"/>
    <dgm:cxn modelId="{A5EC505C-4E98-6847-8C76-D19CCF5F4F25}" type="presParOf" srcId="{39918BEB-8E36-614E-A77F-8608F1CBC7E9}" destId="{CC3079A3-0160-274B-A9C5-467624307378}" srcOrd="0" destOrd="0" presId="urn:microsoft.com/office/officeart/2005/8/layout/vList5"/>
    <dgm:cxn modelId="{A3D9AA76-8E67-F547-BEDC-0E966CC066C9}" type="presParOf" srcId="{39918BEB-8E36-614E-A77F-8608F1CBC7E9}" destId="{C70AECE5-AEFF-5142-B79F-DD0C7BF07C25}" srcOrd="1" destOrd="0" presId="urn:microsoft.com/office/officeart/2005/8/layout/vList5"/>
    <dgm:cxn modelId="{4DC4BD44-91C5-9C48-9B39-157FA51075AD}" type="presParOf" srcId="{484572E7-E7B6-BB42-910D-EAD492827617}" destId="{657187DF-1B65-CD45-A7E4-66CE683A465F}" srcOrd="3" destOrd="0" presId="urn:microsoft.com/office/officeart/2005/8/layout/vList5"/>
    <dgm:cxn modelId="{DF6A2249-3AF7-B34D-8D96-D44DEACD162A}" type="presParOf" srcId="{484572E7-E7B6-BB42-910D-EAD492827617}" destId="{7B8C3DA7-0436-2C42-9B35-647C2177D0FF}" srcOrd="4" destOrd="0" presId="urn:microsoft.com/office/officeart/2005/8/layout/vList5"/>
    <dgm:cxn modelId="{519376B5-4862-F746-8E64-89C1F5C09E91}" type="presParOf" srcId="{7B8C3DA7-0436-2C42-9B35-647C2177D0FF}" destId="{FBFF1397-61CF-8F45-9C47-37FC837C2652}" srcOrd="0" destOrd="0" presId="urn:microsoft.com/office/officeart/2005/8/layout/vList5"/>
    <dgm:cxn modelId="{DABE0AD8-57EF-E740-867A-403088B10AF6}" type="presParOf" srcId="{7B8C3DA7-0436-2C42-9B35-647C2177D0FF}" destId="{DD98B028-7BE8-BB4F-AF55-5F7D00453E81}" srcOrd="1" destOrd="0" presId="urn:microsoft.com/office/officeart/2005/8/layout/vList5"/>
    <dgm:cxn modelId="{C54F2EF9-BF31-BB45-9C53-B17EA962D74A}" type="presParOf" srcId="{484572E7-E7B6-BB42-910D-EAD492827617}" destId="{E60873F1-8203-C542-A8D5-7B5C67394F93}" srcOrd="5" destOrd="0" presId="urn:microsoft.com/office/officeart/2005/8/layout/vList5"/>
    <dgm:cxn modelId="{22E9B9B0-92E7-9240-A8F5-3B4D87D77728}" type="presParOf" srcId="{484572E7-E7B6-BB42-910D-EAD492827617}" destId="{3CE01549-4FF0-694A-B755-E9813E71E245}" srcOrd="6" destOrd="0" presId="urn:microsoft.com/office/officeart/2005/8/layout/vList5"/>
    <dgm:cxn modelId="{156DE8EE-2B09-8949-8F3D-8C9A807DFAF8}" type="presParOf" srcId="{3CE01549-4FF0-694A-B755-E9813E71E245}" destId="{70A7EEDA-2B56-3D4E-AE8E-0BDDE31B3622}" srcOrd="0" destOrd="0" presId="urn:microsoft.com/office/officeart/2005/8/layout/vList5"/>
    <dgm:cxn modelId="{A7EF9D1B-0566-EE45-9358-3AB26417376E}" type="presParOf" srcId="{3CE01549-4FF0-694A-B755-E9813E71E245}" destId="{4A0B97EA-07CF-A54D-938F-E29AAE084E1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BF4008-1F15-BB42-8CF7-139BBDE80477}">
      <dsp:nvSpPr>
        <dsp:cNvPr id="0" name=""/>
        <dsp:cNvSpPr/>
      </dsp:nvSpPr>
      <dsp:spPr>
        <a:xfrm>
          <a:off x="0" y="2344"/>
          <a:ext cx="7218346"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D9701A-4699-4D46-A63B-AAEF9FD16DE9}">
      <dsp:nvSpPr>
        <dsp:cNvPr id="0" name=""/>
        <dsp:cNvSpPr/>
      </dsp:nvSpPr>
      <dsp:spPr>
        <a:xfrm>
          <a:off x="0" y="2344"/>
          <a:ext cx="7218346" cy="799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b="0" i="0" kern="1200">
              <a:latin typeface="Calibri" panose="020F0502020204030204" pitchFamily="34" charset="0"/>
              <a:cs typeface="Calibri" panose="020F0502020204030204" pitchFamily="34" charset="0"/>
            </a:rPr>
            <a:t>The energy from the sun is radiated or emitted away in the form of energy, known as electromagnetic radiation. </a:t>
          </a:r>
          <a:endParaRPr lang="en-US" sz="2000" kern="1200">
            <a:latin typeface="Calibri" panose="020F0502020204030204" pitchFamily="34" charset="0"/>
            <a:cs typeface="Calibri" panose="020F0502020204030204" pitchFamily="34" charset="0"/>
          </a:endParaRPr>
        </a:p>
      </dsp:txBody>
      <dsp:txXfrm>
        <a:off x="0" y="2344"/>
        <a:ext cx="7218346" cy="799437"/>
      </dsp:txXfrm>
    </dsp:sp>
    <dsp:sp modelId="{68DA8631-19C3-3241-8E97-2F8958AD64D8}">
      <dsp:nvSpPr>
        <dsp:cNvPr id="0" name=""/>
        <dsp:cNvSpPr/>
      </dsp:nvSpPr>
      <dsp:spPr>
        <a:xfrm>
          <a:off x="0" y="801781"/>
          <a:ext cx="7218346"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2899819-3875-9F4B-BC2B-B4A0E7F05D2E}">
      <dsp:nvSpPr>
        <dsp:cNvPr id="0" name=""/>
        <dsp:cNvSpPr/>
      </dsp:nvSpPr>
      <dsp:spPr>
        <a:xfrm>
          <a:off x="0" y="801781"/>
          <a:ext cx="7218346" cy="799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b="0" i="0" kern="1200">
              <a:latin typeface="Calibri" panose="020F0502020204030204" pitchFamily="34" charset="0"/>
              <a:cs typeface="Calibri" panose="020F0502020204030204" pitchFamily="34" charset="0"/>
            </a:rPr>
            <a:t>A particle of electromagnetic radiation is known as a photon. </a:t>
          </a:r>
          <a:endParaRPr lang="en-US" sz="2000" kern="1200">
            <a:latin typeface="Calibri" panose="020F0502020204030204" pitchFamily="34" charset="0"/>
            <a:cs typeface="Calibri" panose="020F0502020204030204" pitchFamily="34" charset="0"/>
          </a:endParaRPr>
        </a:p>
      </dsp:txBody>
      <dsp:txXfrm>
        <a:off x="0" y="801781"/>
        <a:ext cx="7218346" cy="799437"/>
      </dsp:txXfrm>
    </dsp:sp>
    <dsp:sp modelId="{66BEA251-B884-4B4A-A342-34FF5E5E6794}">
      <dsp:nvSpPr>
        <dsp:cNvPr id="0" name=""/>
        <dsp:cNvSpPr/>
      </dsp:nvSpPr>
      <dsp:spPr>
        <a:xfrm>
          <a:off x="0" y="1601219"/>
          <a:ext cx="7218346"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EB036B-4B4E-7743-9C95-244420F8806F}">
      <dsp:nvSpPr>
        <dsp:cNvPr id="0" name=""/>
        <dsp:cNvSpPr/>
      </dsp:nvSpPr>
      <dsp:spPr>
        <a:xfrm>
          <a:off x="0" y="1601219"/>
          <a:ext cx="7218346" cy="799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latin typeface="Calibri" panose="020F0502020204030204" pitchFamily="34" charset="0"/>
              <a:cs typeface="Calibri" panose="020F0502020204030204" pitchFamily="34" charset="0"/>
            </a:rPr>
            <a:t>Electromagnetic waves are characterized by wavelength and frequency. </a:t>
          </a:r>
          <a:endParaRPr lang="en-US" sz="2000" kern="1200">
            <a:latin typeface="Calibri" panose="020F0502020204030204" pitchFamily="34" charset="0"/>
            <a:cs typeface="Calibri" panose="020F0502020204030204" pitchFamily="34" charset="0"/>
          </a:endParaRPr>
        </a:p>
      </dsp:txBody>
      <dsp:txXfrm>
        <a:off x="0" y="1601219"/>
        <a:ext cx="7218346" cy="799437"/>
      </dsp:txXfrm>
    </dsp:sp>
    <dsp:sp modelId="{E9B2E412-EC38-BE45-AEAC-E5C83A810CA3}">
      <dsp:nvSpPr>
        <dsp:cNvPr id="0" name=""/>
        <dsp:cNvSpPr/>
      </dsp:nvSpPr>
      <dsp:spPr>
        <a:xfrm>
          <a:off x="0" y="2400657"/>
          <a:ext cx="7218346"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55A644-0A64-8A4C-BAE6-A989A2FF74EC}">
      <dsp:nvSpPr>
        <dsp:cNvPr id="0" name=""/>
        <dsp:cNvSpPr/>
      </dsp:nvSpPr>
      <dsp:spPr>
        <a:xfrm>
          <a:off x="0" y="2400657"/>
          <a:ext cx="7218346" cy="799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latin typeface="Calibri" panose="020F0502020204030204" pitchFamily="34" charset="0"/>
              <a:cs typeface="Calibri" panose="020F0502020204030204" pitchFamily="34" charset="0"/>
            </a:rPr>
            <a:t>The wavelength is the distance between two wave crests or troughs. </a:t>
          </a:r>
          <a:endParaRPr lang="en-US" sz="2000" kern="1200">
            <a:latin typeface="Calibri" panose="020F0502020204030204" pitchFamily="34" charset="0"/>
            <a:cs typeface="Calibri" panose="020F0502020204030204" pitchFamily="34" charset="0"/>
          </a:endParaRPr>
        </a:p>
      </dsp:txBody>
      <dsp:txXfrm>
        <a:off x="0" y="2400657"/>
        <a:ext cx="7218346" cy="799437"/>
      </dsp:txXfrm>
    </dsp:sp>
    <dsp:sp modelId="{955BC21D-F366-7F46-8EE5-728EC9F13244}">
      <dsp:nvSpPr>
        <dsp:cNvPr id="0" name=""/>
        <dsp:cNvSpPr/>
      </dsp:nvSpPr>
      <dsp:spPr>
        <a:xfrm>
          <a:off x="0" y="3200094"/>
          <a:ext cx="7218346"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C1075A6-5516-1F48-B8B1-76AA450470F1}">
      <dsp:nvSpPr>
        <dsp:cNvPr id="0" name=""/>
        <dsp:cNvSpPr/>
      </dsp:nvSpPr>
      <dsp:spPr>
        <a:xfrm>
          <a:off x="0" y="3200094"/>
          <a:ext cx="7218346" cy="799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latin typeface="Calibri" panose="020F0502020204030204" pitchFamily="34" charset="0"/>
              <a:cs typeface="Calibri" panose="020F0502020204030204" pitchFamily="34" charset="0"/>
            </a:rPr>
            <a:t>Frequency is expressed in hertz (Hz) and refers to the number of wavelengths that pass a fixed point in 1 second. </a:t>
          </a:r>
          <a:endParaRPr lang="en-US" sz="2000" kern="1200">
            <a:latin typeface="Calibri" panose="020F0502020204030204" pitchFamily="34" charset="0"/>
            <a:cs typeface="Calibri" panose="020F0502020204030204" pitchFamily="34" charset="0"/>
          </a:endParaRPr>
        </a:p>
      </dsp:txBody>
      <dsp:txXfrm>
        <a:off x="0" y="3200094"/>
        <a:ext cx="7218346" cy="799437"/>
      </dsp:txXfrm>
    </dsp:sp>
    <dsp:sp modelId="{64A62F1C-9A50-C849-93C5-758177D468F1}">
      <dsp:nvSpPr>
        <dsp:cNvPr id="0" name=""/>
        <dsp:cNvSpPr/>
      </dsp:nvSpPr>
      <dsp:spPr>
        <a:xfrm>
          <a:off x="0" y="3999532"/>
          <a:ext cx="7218346"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4AE180-7187-7E47-AA32-9080D537D08A}">
      <dsp:nvSpPr>
        <dsp:cNvPr id="0" name=""/>
        <dsp:cNvSpPr/>
      </dsp:nvSpPr>
      <dsp:spPr>
        <a:xfrm>
          <a:off x="0" y="3999532"/>
          <a:ext cx="7218346" cy="799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dirty="0">
              <a:latin typeface="Calibri" panose="020F0502020204030204" pitchFamily="34" charset="0"/>
              <a:cs typeface="Calibri" panose="020F0502020204030204" pitchFamily="34" charset="0"/>
            </a:rPr>
            <a:t>The shorter the wavelength is, the higher its frequency will be. </a:t>
          </a:r>
          <a:endParaRPr lang="en-US" sz="2000" kern="1200" dirty="0">
            <a:latin typeface="Calibri" panose="020F0502020204030204" pitchFamily="34" charset="0"/>
            <a:cs typeface="Calibri" panose="020F0502020204030204" pitchFamily="34" charset="0"/>
          </a:endParaRPr>
        </a:p>
      </dsp:txBody>
      <dsp:txXfrm>
        <a:off x="0" y="3999532"/>
        <a:ext cx="7218346" cy="7994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861360-B258-2542-9FBC-53D24933DE0A}">
      <dsp:nvSpPr>
        <dsp:cNvPr id="0" name=""/>
        <dsp:cNvSpPr/>
      </dsp:nvSpPr>
      <dsp:spPr>
        <a:xfrm rot="5400000">
          <a:off x="3998024" y="-1503883"/>
          <a:ext cx="962363" cy="421572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b="0" i="0" kern="1200" baseline="0"/>
            <a:t>Co-benefits include substantial reductions in </a:t>
          </a:r>
          <a:r>
            <a:rPr lang="en-US" sz="1500" b="1" i="0" kern="1200" baseline="0"/>
            <a:t>combustion-related air pollutants</a:t>
          </a:r>
          <a:r>
            <a:rPr lang="en-US" sz="1500" b="0" i="0" kern="1200" baseline="0"/>
            <a:t>, particularly in urban and industrial regions.</a:t>
          </a:r>
          <a:endParaRPr lang="en-US" sz="1500" kern="1200"/>
        </a:p>
      </dsp:txBody>
      <dsp:txXfrm rot="-5400000">
        <a:off x="2371344" y="169776"/>
        <a:ext cx="4168745" cy="868405"/>
      </dsp:txXfrm>
    </dsp:sp>
    <dsp:sp modelId="{9AE79AA9-A4E0-444A-8CB6-6C843948B472}">
      <dsp:nvSpPr>
        <dsp:cNvPr id="0" name=""/>
        <dsp:cNvSpPr/>
      </dsp:nvSpPr>
      <dsp:spPr>
        <a:xfrm>
          <a:off x="0" y="2501"/>
          <a:ext cx="2371344" cy="12029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24765" rIns="49530" bIns="24765" numCol="1" spcCol="1270" anchor="ctr" anchorCtr="0">
          <a:noAutofit/>
        </a:bodyPr>
        <a:lstStyle/>
        <a:p>
          <a:pPr marL="0" lvl="0" indent="0" algn="ctr" defTabSz="577850">
            <a:lnSpc>
              <a:spcPct val="90000"/>
            </a:lnSpc>
            <a:spcBef>
              <a:spcPct val="0"/>
            </a:spcBef>
            <a:spcAft>
              <a:spcPct val="35000"/>
            </a:spcAft>
            <a:buNone/>
          </a:pPr>
          <a:r>
            <a:rPr lang="en-US" sz="1300" b="1" i="0" kern="1200" baseline="0"/>
            <a:t>Decarbonisation strategies</a:t>
          </a:r>
          <a:r>
            <a:rPr lang="en-US" sz="1300" b="0" i="0" kern="1200" baseline="0"/>
            <a:t> primarily target CO₂ through energy system transformation</a:t>
          </a:r>
          <a:endParaRPr lang="en-US" sz="1300" kern="1200"/>
        </a:p>
      </dsp:txBody>
      <dsp:txXfrm>
        <a:off x="58723" y="61224"/>
        <a:ext cx="2253898" cy="1085508"/>
      </dsp:txXfrm>
    </dsp:sp>
    <dsp:sp modelId="{C70AECE5-AEFF-5142-B79F-DD0C7BF07C25}">
      <dsp:nvSpPr>
        <dsp:cNvPr id="0" name=""/>
        <dsp:cNvSpPr/>
      </dsp:nvSpPr>
      <dsp:spPr>
        <a:xfrm rot="5400000">
          <a:off x="3998024" y="-240780"/>
          <a:ext cx="962363" cy="421572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b="0" i="0" kern="1200" baseline="0"/>
            <a:t>Also reduces </a:t>
          </a:r>
          <a:r>
            <a:rPr lang="en-US" sz="1500" b="1" i="0" kern="1200" baseline="0"/>
            <a:t>tropospheric ozone</a:t>
          </a:r>
          <a:r>
            <a:rPr lang="en-US" sz="1500" b="0" i="0" kern="1200" baseline="0"/>
            <a:t>, with immediate public health and agricultural gains.</a:t>
          </a:r>
          <a:endParaRPr lang="en-US" sz="1500" kern="1200"/>
        </a:p>
      </dsp:txBody>
      <dsp:txXfrm rot="-5400000">
        <a:off x="2371344" y="1432879"/>
        <a:ext cx="4168745" cy="868405"/>
      </dsp:txXfrm>
    </dsp:sp>
    <dsp:sp modelId="{CC3079A3-0160-274B-A9C5-467624307378}">
      <dsp:nvSpPr>
        <dsp:cNvPr id="0" name=""/>
        <dsp:cNvSpPr/>
      </dsp:nvSpPr>
      <dsp:spPr>
        <a:xfrm>
          <a:off x="0" y="1265603"/>
          <a:ext cx="2371344" cy="12029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24765" rIns="49530" bIns="24765" numCol="1" spcCol="1270" anchor="ctr" anchorCtr="0">
          <a:noAutofit/>
        </a:bodyPr>
        <a:lstStyle/>
        <a:p>
          <a:pPr marL="0" lvl="0" indent="0" algn="ctr" defTabSz="577850">
            <a:lnSpc>
              <a:spcPct val="90000"/>
            </a:lnSpc>
            <a:spcBef>
              <a:spcPct val="0"/>
            </a:spcBef>
            <a:spcAft>
              <a:spcPct val="35000"/>
            </a:spcAft>
            <a:buNone/>
          </a:pPr>
          <a:r>
            <a:rPr lang="en-US" sz="1300" b="1" i="0" kern="1200" baseline="0"/>
            <a:t>Methane mitigation</a:t>
          </a:r>
          <a:r>
            <a:rPr lang="en-US" sz="1300" b="0" i="0" kern="1200" baseline="0"/>
            <a:t> (oil &amp; gas leak reduction, waste management, agricultural practices) delivers rapid climate benefits</a:t>
          </a:r>
          <a:endParaRPr lang="en-US" sz="1300" kern="1200"/>
        </a:p>
      </dsp:txBody>
      <dsp:txXfrm>
        <a:off x="58723" y="1324326"/>
        <a:ext cx="2253898" cy="1085508"/>
      </dsp:txXfrm>
    </dsp:sp>
    <dsp:sp modelId="{DD98B028-7BE8-BB4F-AF55-5F7D00453E81}">
      <dsp:nvSpPr>
        <dsp:cNvPr id="0" name=""/>
        <dsp:cNvSpPr/>
      </dsp:nvSpPr>
      <dsp:spPr>
        <a:xfrm rot="5400000">
          <a:off x="3998024" y="1022321"/>
          <a:ext cx="962363" cy="421572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b="0" i="0" kern="1200" baseline="0"/>
            <a:t>Simultaneously decrease </a:t>
          </a:r>
          <a:r>
            <a:rPr lang="en-US" sz="1500" b="1" i="0" kern="1200" baseline="0"/>
            <a:t>ammonia emissions and nitrate pollution</a:t>
          </a:r>
          <a:r>
            <a:rPr lang="en-US" sz="1500" b="0" i="0" kern="1200" baseline="0"/>
            <a:t>, improving air and water quality.</a:t>
          </a:r>
          <a:endParaRPr lang="en-US" sz="1500" kern="1200"/>
        </a:p>
      </dsp:txBody>
      <dsp:txXfrm rot="-5400000">
        <a:off x="2371344" y="2695981"/>
        <a:ext cx="4168745" cy="868405"/>
      </dsp:txXfrm>
    </dsp:sp>
    <dsp:sp modelId="{FBFF1397-61CF-8F45-9C47-37FC837C2652}">
      <dsp:nvSpPr>
        <dsp:cNvPr id="0" name=""/>
        <dsp:cNvSpPr/>
      </dsp:nvSpPr>
      <dsp:spPr>
        <a:xfrm>
          <a:off x="0" y="2528706"/>
          <a:ext cx="2371344" cy="12029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24765" rIns="49530" bIns="24765" numCol="1" spcCol="1270" anchor="ctr" anchorCtr="0">
          <a:noAutofit/>
        </a:bodyPr>
        <a:lstStyle/>
        <a:p>
          <a:pPr marL="0" lvl="0" indent="0" algn="ctr" defTabSz="577850">
            <a:lnSpc>
              <a:spcPct val="90000"/>
            </a:lnSpc>
            <a:spcBef>
              <a:spcPct val="0"/>
            </a:spcBef>
            <a:spcAft>
              <a:spcPct val="35000"/>
            </a:spcAft>
            <a:buNone/>
          </a:pPr>
          <a:r>
            <a:rPr lang="en-US" sz="1300" b="1" i="0" kern="1200" baseline="0"/>
            <a:t>Agricultural efficiency and fertiliser optimisation</a:t>
          </a:r>
          <a:r>
            <a:rPr lang="en-US" sz="1300" b="0" i="0" kern="1200" baseline="0"/>
            <a:t> are critical for N₂O reduction</a:t>
          </a:r>
          <a:endParaRPr lang="en-US" sz="1300" kern="1200"/>
        </a:p>
      </dsp:txBody>
      <dsp:txXfrm>
        <a:off x="58723" y="2587429"/>
        <a:ext cx="2253898" cy="1085508"/>
      </dsp:txXfrm>
    </dsp:sp>
    <dsp:sp modelId="{4A0B97EA-07CF-A54D-938F-E29AAE084E14}">
      <dsp:nvSpPr>
        <dsp:cNvPr id="0" name=""/>
        <dsp:cNvSpPr/>
      </dsp:nvSpPr>
      <dsp:spPr>
        <a:xfrm rot="5400000">
          <a:off x="3998024" y="2285424"/>
          <a:ext cx="962363" cy="421572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b="0" i="0" kern="1200" baseline="0"/>
            <a:t>Often coincides with </a:t>
          </a:r>
          <a:r>
            <a:rPr lang="en-US" sz="1500" b="1" i="0" kern="1200" baseline="0"/>
            <a:t>more efficient cooling technologies</a:t>
          </a:r>
          <a:r>
            <a:rPr lang="en-US" sz="1500" b="0" i="0" kern="1200" baseline="0"/>
            <a:t>, reducing electricity demand and upstream air pollution.</a:t>
          </a:r>
          <a:endParaRPr lang="en-US" sz="1500" kern="1200"/>
        </a:p>
      </dsp:txBody>
      <dsp:txXfrm rot="-5400000">
        <a:off x="2371344" y="3959084"/>
        <a:ext cx="4168745" cy="868405"/>
      </dsp:txXfrm>
    </dsp:sp>
    <dsp:sp modelId="{70A7EEDA-2B56-3D4E-AE8E-0BDDE31B3622}">
      <dsp:nvSpPr>
        <dsp:cNvPr id="0" name=""/>
        <dsp:cNvSpPr/>
      </dsp:nvSpPr>
      <dsp:spPr>
        <a:xfrm>
          <a:off x="0" y="3791809"/>
          <a:ext cx="2371344" cy="12029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24765" rIns="49530" bIns="24765" numCol="1" spcCol="1270" anchor="ctr" anchorCtr="0">
          <a:noAutofit/>
        </a:bodyPr>
        <a:lstStyle/>
        <a:p>
          <a:pPr marL="0" lvl="0" indent="0" algn="ctr" defTabSz="577850">
            <a:lnSpc>
              <a:spcPct val="90000"/>
            </a:lnSpc>
            <a:spcBef>
              <a:spcPct val="0"/>
            </a:spcBef>
            <a:spcAft>
              <a:spcPct val="35000"/>
            </a:spcAft>
            <a:buNone/>
          </a:pPr>
          <a:r>
            <a:rPr lang="en-US" sz="1300" b="1" i="0" kern="1200" baseline="0"/>
            <a:t>International regulation of F-gases</a:t>
          </a:r>
          <a:r>
            <a:rPr lang="en-US" sz="1300" b="0" i="0" kern="1200" baseline="0"/>
            <a:t> (e.g. Kigali Amendment) limits high-GWP emissions</a:t>
          </a:r>
          <a:endParaRPr lang="en-US" sz="1300" kern="1200"/>
        </a:p>
      </dsp:txBody>
      <dsp:txXfrm>
        <a:off x="58723" y="3850532"/>
        <a:ext cx="2253898" cy="108550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9CE20F-8FD7-BB4D-B975-6E9EA7E222E8}" type="datetimeFigureOut">
              <a:rPr lang="en-US" smtClean="0"/>
              <a:t>2/18/26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BDBDB3-6F44-4343-B982-74DC091B0E8D}" type="slidenum">
              <a:rPr lang="en-US" smtClean="0"/>
              <a:t>‹#›</a:t>
            </a:fld>
            <a:endParaRPr lang="en-US"/>
          </a:p>
        </p:txBody>
      </p:sp>
    </p:spTree>
    <p:extLst>
      <p:ext uri="{BB962C8B-B14F-4D97-AF65-F5344CB8AC3E}">
        <p14:creationId xmlns:p14="http://schemas.microsoft.com/office/powerpoint/2010/main" val="3053103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231491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544274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cs typeface="DM San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878466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1FE1A-464E-1FEF-0770-CF025BF446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CDF3CE-C52E-C802-2C8C-DD23522D6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3DCE81-C059-788F-8026-CAE3FCBAA809}"/>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6B7E654A-E855-FCC1-E8AC-D00047A59D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9259618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57ABDB-F2BB-4FEE-968F-3086E12F6AE0}"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683599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2E2D8-F1C0-1AB2-E2F9-F5A37F833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747D1-3263-BB9F-6D06-FBDEE99C9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F38ED0-5D0E-7742-8859-3D0D6341A64E}"/>
              </a:ext>
            </a:extLst>
          </p:cNvPr>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A4A898E-DE62-8D40-8F62-08816FAF24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57ABDB-F2BB-4FEE-968F-3086E12F6AE0}"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552680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6BD3B0F-0611-95B6-4662-18418EBCA14F}"/>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70BC343B-2E55-040C-F068-498DFB0283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CBA2E49B-EF06-C991-EEDC-1905AC4CD5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A9B20F9-B0C9-4C43-AA44-6686FCE3390A}" type="slidenum">
              <a:rPr lang="en-GB" altLang="en-US" sz="1200" smtClean="0"/>
              <a:pPr/>
              <a:t>8</a:t>
            </a:fld>
            <a:endParaRPr lang="en-GB"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1F025282-22C3-2B46-556C-DB87260E4069}"/>
              </a:ext>
            </a:extLst>
          </p:cNvPr>
          <p:cNvSpPr>
            <a:spLocks noGrp="1" noRot="1" noChangeAspect="1" noChangeArrowheads="1" noTextEdit="1"/>
          </p:cNvSpPr>
          <p:nvPr>
            <p:ph type="sldImg"/>
          </p:nvPr>
        </p:nvSpPr>
        <p:spPr>
          <a:ln/>
        </p:spPr>
      </p:sp>
      <p:sp>
        <p:nvSpPr>
          <p:cNvPr id="23555" name="Notes Placeholder 2">
            <a:extLst>
              <a:ext uri="{FF2B5EF4-FFF2-40B4-BE49-F238E27FC236}">
                <a16:creationId xmlns:a16="http://schemas.microsoft.com/office/drawing/2014/main" id="{E32230E5-1466-0CE2-488D-84A72F0261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23556" name="Slide Number Placeholder 3">
            <a:extLst>
              <a:ext uri="{FF2B5EF4-FFF2-40B4-BE49-F238E27FC236}">
                <a16:creationId xmlns:a16="http://schemas.microsoft.com/office/drawing/2014/main" id="{CA4FF35E-B1AF-03AA-57C9-88A43EDEE8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2325E39-B761-B544-AFC2-61B84AF6C646}" type="slidenum">
              <a:rPr lang="en-GB" altLang="en-US" sz="1200" smtClean="0"/>
              <a:pPr/>
              <a:t>9</a:t>
            </a:fld>
            <a:endParaRPr lang="en-GB" alt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CB852-4495-D558-EB36-029673E39105}"/>
            </a:ext>
          </a:extLst>
        </p:cNvPr>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BF19DFC8-338C-A86D-62D6-B1A3CBC8F86D}"/>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F990812A-048C-0A3B-97EE-A6D6C9DBCF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5604" name="Slide Number Placeholder 3">
            <a:extLst>
              <a:ext uri="{FF2B5EF4-FFF2-40B4-BE49-F238E27FC236}">
                <a16:creationId xmlns:a16="http://schemas.microsoft.com/office/drawing/2014/main" id="{E1A36FF6-626D-6E6D-8407-E8FBD16D33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DEF3ED1-B5EA-E24A-ADC9-75AFCCE29EE3}" type="slidenum">
              <a:rPr lang="en-GB" altLang="en-US" sz="1200" smtClean="0"/>
              <a:pPr/>
              <a:t>10</a:t>
            </a:fld>
            <a:endParaRPr lang="en-GB" altLang="en-US" sz="1200"/>
          </a:p>
        </p:txBody>
      </p:sp>
    </p:spTree>
    <p:extLst>
      <p:ext uri="{BB962C8B-B14F-4D97-AF65-F5344CB8AC3E}">
        <p14:creationId xmlns:p14="http://schemas.microsoft.com/office/powerpoint/2010/main" val="2208531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07FD803A-5971-8AAE-714F-CB15D813E88F}"/>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7A8563C7-EC5D-07C0-5C25-FBE52F294A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5604" name="Slide Number Placeholder 3">
            <a:extLst>
              <a:ext uri="{FF2B5EF4-FFF2-40B4-BE49-F238E27FC236}">
                <a16:creationId xmlns:a16="http://schemas.microsoft.com/office/drawing/2014/main" id="{FE850053-0C9C-3CA2-ABA6-70D6F67ADD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DEF3ED1-B5EA-E24A-ADC9-75AFCCE29EE3}" type="slidenum">
              <a:rPr lang="en-GB" altLang="en-US" sz="1200" smtClean="0"/>
              <a:pPr/>
              <a:t>11</a:t>
            </a:fld>
            <a:endParaRPr lang="en-GB" alt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52D6C4C7-BE34-01B6-939A-0641F4A999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75F6E99-2D6A-1B48-8773-42E699C95331}" type="slidenum">
              <a:rPr lang="en-GB" altLang="en-US" smtClean="0"/>
              <a:pPr>
                <a:spcBef>
                  <a:spcPct val="0"/>
                </a:spcBef>
              </a:pPr>
              <a:t>12</a:t>
            </a:fld>
            <a:endParaRPr lang="en-GB" altLang="en-US"/>
          </a:p>
        </p:txBody>
      </p:sp>
      <p:sp>
        <p:nvSpPr>
          <p:cNvPr id="27651" name="Rectangle 2">
            <a:extLst>
              <a:ext uri="{FF2B5EF4-FFF2-40B4-BE49-F238E27FC236}">
                <a16:creationId xmlns:a16="http://schemas.microsoft.com/office/drawing/2014/main" id="{23026697-FBE7-FDC2-8175-EEFB31CE45CF}"/>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56C203E7-BEA7-3DB2-182C-8B08AD749D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BDBDB3-6F44-4343-B982-74DC091B0E8D}" type="slidenum">
              <a:rPr lang="en-US" smtClean="0"/>
              <a:t>13</a:t>
            </a:fld>
            <a:endParaRPr lang="en-US"/>
          </a:p>
        </p:txBody>
      </p:sp>
    </p:spTree>
    <p:extLst>
      <p:ext uri="{BB962C8B-B14F-4D97-AF65-F5344CB8AC3E}">
        <p14:creationId xmlns:p14="http://schemas.microsoft.com/office/powerpoint/2010/main" val="2796676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093DBD5D-6E1C-217D-A731-39F9A557847D}"/>
              </a:ext>
            </a:extLst>
          </p:cNvPr>
          <p:cNvSpPr>
            <a:spLocks noGrp="1" noRot="1" noChangeAspect="1" noChangeArrowheads="1" noTextEdit="1"/>
          </p:cNvSpPr>
          <p:nvPr>
            <p:ph type="sldImg"/>
          </p:nvPr>
        </p:nvSpPr>
        <p:spPr>
          <a:ln/>
        </p:spPr>
      </p:sp>
      <p:sp>
        <p:nvSpPr>
          <p:cNvPr id="29699" name="Notes Placeholder 2">
            <a:extLst>
              <a:ext uri="{FF2B5EF4-FFF2-40B4-BE49-F238E27FC236}">
                <a16:creationId xmlns:a16="http://schemas.microsoft.com/office/drawing/2014/main" id="{F5CAFB0A-9BC4-E5F8-F2F0-B1930151B0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p>
        </p:txBody>
      </p:sp>
      <p:sp>
        <p:nvSpPr>
          <p:cNvPr id="29700" name="Slide Number Placeholder 3">
            <a:extLst>
              <a:ext uri="{FF2B5EF4-FFF2-40B4-BE49-F238E27FC236}">
                <a16:creationId xmlns:a16="http://schemas.microsoft.com/office/drawing/2014/main" id="{B07858AE-1E48-195D-AE93-7B14382511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E0454D0-BB2D-B041-A264-9C2AD7983D41}" type="slidenum">
              <a:rPr lang="en-GB" altLang="en-US" sz="1200" smtClean="0"/>
              <a:pPr/>
              <a:t>14</a:t>
            </a:fld>
            <a:endParaRPr lang="en-GB" alt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70283-D9B0-BFE6-6B53-82A9E3B92A77}"/>
            </a:ext>
          </a:extLst>
        </p:cNvPr>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FE266E45-F5B8-5083-2709-FB9B74DF8EEC}"/>
              </a:ext>
            </a:extLst>
          </p:cNvPr>
          <p:cNvSpPr>
            <a:spLocks noGrp="1" noRot="1" noChangeAspect="1" noChangeArrowheads="1" noTextEdit="1"/>
          </p:cNvSpPr>
          <p:nvPr>
            <p:ph type="sldImg"/>
          </p:nvPr>
        </p:nvSpPr>
        <p:spPr>
          <a:ln/>
        </p:spPr>
      </p:sp>
      <p:sp>
        <p:nvSpPr>
          <p:cNvPr id="33795" name="Notes Placeholder 2">
            <a:extLst>
              <a:ext uri="{FF2B5EF4-FFF2-40B4-BE49-F238E27FC236}">
                <a16:creationId xmlns:a16="http://schemas.microsoft.com/office/drawing/2014/main" id="{64E7C709-8040-3206-E8EF-33E9D8E493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33796" name="Slide Number Placeholder 3">
            <a:extLst>
              <a:ext uri="{FF2B5EF4-FFF2-40B4-BE49-F238E27FC236}">
                <a16:creationId xmlns:a16="http://schemas.microsoft.com/office/drawing/2014/main" id="{C3C74310-E3FA-3203-3B35-5BC38384E7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FBAF5FF-79AA-714C-9D82-70A87D5DEDD8}" type="slidenum">
              <a:rPr lang="en-GB" altLang="en-US" sz="1200" smtClean="0"/>
              <a:pPr/>
              <a:t>15</a:t>
            </a:fld>
            <a:endParaRPr lang="en-GB" altLang="en-US" sz="1200"/>
          </a:p>
        </p:txBody>
      </p:sp>
    </p:spTree>
    <p:extLst>
      <p:ext uri="{BB962C8B-B14F-4D97-AF65-F5344CB8AC3E}">
        <p14:creationId xmlns:p14="http://schemas.microsoft.com/office/powerpoint/2010/main" val="25975683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31F1CFE1-7D4D-8391-A449-F7F3D30E2E43}"/>
              </a:ext>
            </a:extLst>
          </p:cNvPr>
          <p:cNvSpPr>
            <a:spLocks noGrp="1" noRot="1" noChangeAspect="1" noChangeArrowheads="1" noTextEdit="1"/>
          </p:cNvSpPr>
          <p:nvPr>
            <p:ph type="sldImg"/>
          </p:nvPr>
        </p:nvSpPr>
        <p:spPr>
          <a:ln/>
        </p:spPr>
      </p:sp>
      <p:sp>
        <p:nvSpPr>
          <p:cNvPr id="35843" name="Notes Placeholder 2">
            <a:extLst>
              <a:ext uri="{FF2B5EF4-FFF2-40B4-BE49-F238E27FC236}">
                <a16:creationId xmlns:a16="http://schemas.microsoft.com/office/drawing/2014/main" id="{933B62D8-76CF-7D6E-88F2-18DA1C3B66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35844" name="Slide Number Placeholder 3">
            <a:extLst>
              <a:ext uri="{FF2B5EF4-FFF2-40B4-BE49-F238E27FC236}">
                <a16:creationId xmlns:a16="http://schemas.microsoft.com/office/drawing/2014/main" id="{FEF2BD75-AFBE-AEBD-5D5D-81CCEE61FD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096BD52-1185-6046-920F-C698754FEB21}" type="slidenum">
              <a:rPr lang="en-GB" altLang="en-US" sz="1200" smtClean="0"/>
              <a:pPr/>
              <a:t>16</a:t>
            </a:fld>
            <a:endParaRPr lang="en-GB" alt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9F76CA7F-9274-1C6D-7255-CCCF2D9862B6}"/>
              </a:ext>
            </a:extLst>
          </p:cNvPr>
          <p:cNvSpPr>
            <a:spLocks noGrp="1" noRot="1" noChangeAspect="1" noChangeArrowheads="1" noTextEdit="1"/>
          </p:cNvSpPr>
          <p:nvPr>
            <p:ph type="sldImg"/>
          </p:nvPr>
        </p:nvSpPr>
        <p:spPr>
          <a:ln/>
        </p:spPr>
      </p:sp>
      <p:sp>
        <p:nvSpPr>
          <p:cNvPr id="37891" name="Notes Placeholder 2">
            <a:extLst>
              <a:ext uri="{FF2B5EF4-FFF2-40B4-BE49-F238E27FC236}">
                <a16:creationId xmlns:a16="http://schemas.microsoft.com/office/drawing/2014/main" id="{F5A8C5A3-79EB-FE95-0E13-D052783E2C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37892" name="Slide Number Placeholder 3">
            <a:extLst>
              <a:ext uri="{FF2B5EF4-FFF2-40B4-BE49-F238E27FC236}">
                <a16:creationId xmlns:a16="http://schemas.microsoft.com/office/drawing/2014/main" id="{3E8BF0B6-23CF-34DF-B472-A7FCD429B9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E7C4141-DE72-1D4A-B61B-B1788BA85D94}" type="slidenum">
              <a:rPr lang="en-GB" altLang="en-US" sz="1200" smtClean="0"/>
              <a:pPr/>
              <a:t>17</a:t>
            </a:fld>
            <a:endParaRPr lang="en-GB" alt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FDD6FB75-8FBB-42D7-F74C-E64CE54DFE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EE9F177-896E-D448-8992-217554356BBE}" type="slidenum">
              <a:rPr lang="en-GB" altLang="en-US" smtClean="0"/>
              <a:pPr>
                <a:spcBef>
                  <a:spcPct val="0"/>
                </a:spcBef>
              </a:pPr>
              <a:t>19</a:t>
            </a:fld>
            <a:endParaRPr lang="en-GB" altLang="en-US"/>
          </a:p>
        </p:txBody>
      </p:sp>
      <p:sp>
        <p:nvSpPr>
          <p:cNvPr id="39939" name="Rectangle 2">
            <a:extLst>
              <a:ext uri="{FF2B5EF4-FFF2-40B4-BE49-F238E27FC236}">
                <a16:creationId xmlns:a16="http://schemas.microsoft.com/office/drawing/2014/main" id="{464D55BA-7992-FD24-A292-1B3C2281E5D4}"/>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2B36C210-5D66-BF68-7C21-681F28D5E5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2A9FD9D5-A7DC-1E9A-2D0C-2BDFF3800B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9DB417-6512-5A4A-8466-AE74B5413CDF}" type="slidenum">
              <a:rPr lang="en-GB" altLang="en-US" smtClean="0"/>
              <a:pPr>
                <a:spcBef>
                  <a:spcPct val="0"/>
                </a:spcBef>
              </a:pPr>
              <a:t>20</a:t>
            </a:fld>
            <a:endParaRPr lang="en-GB" altLang="en-US"/>
          </a:p>
        </p:txBody>
      </p:sp>
      <p:sp>
        <p:nvSpPr>
          <p:cNvPr id="22531" name="Rectangle 2">
            <a:extLst>
              <a:ext uri="{FF2B5EF4-FFF2-40B4-BE49-F238E27FC236}">
                <a16:creationId xmlns:a16="http://schemas.microsoft.com/office/drawing/2014/main" id="{CAF5CEB2-6BC7-7E2E-EB62-C8AED6320633}"/>
              </a:ext>
            </a:extLst>
          </p:cNvPr>
          <p:cNvSpPr>
            <a:spLocks noGrp="1" noRot="1" noChangeAspect="1" noChangeArrowheads="1" noTextEdit="1"/>
          </p:cNvSpPr>
          <p:nvPr>
            <p:ph type="sldImg"/>
          </p:nvPr>
        </p:nvSpPr>
        <p:spPr>
          <a:xfrm>
            <a:off x="469900" y="725488"/>
            <a:ext cx="6380163" cy="3589337"/>
          </a:xfrm>
          <a:ln/>
        </p:spPr>
      </p:sp>
      <p:sp>
        <p:nvSpPr>
          <p:cNvPr id="22532" name="Rectangle 3">
            <a:extLst>
              <a:ext uri="{FF2B5EF4-FFF2-40B4-BE49-F238E27FC236}">
                <a16:creationId xmlns:a16="http://schemas.microsoft.com/office/drawing/2014/main" id="{53538FA3-71AC-F0C3-5F78-6F6431FCED83}"/>
              </a:ext>
            </a:extLst>
          </p:cNvPr>
          <p:cNvSpPr>
            <a:spLocks noGrp="1" noChangeArrowheads="1"/>
          </p:cNvSpPr>
          <p:nvPr>
            <p:ph type="body" idx="1"/>
          </p:nvPr>
        </p:nvSpPr>
        <p:spPr>
          <a:xfrm>
            <a:off x="974725" y="4560888"/>
            <a:ext cx="5365750"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307" tIns="48154" rIns="96307" bIns="48154"/>
          <a:lstStyle/>
          <a:p>
            <a:pPr eaLnBrk="1" hangingPunct="1"/>
            <a:endParaRPr lang="en-AU"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C317AB3-90DD-3DB7-EC9E-44BCEA17F5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6DE9F15-6D89-1847-B4B8-4406747F2833}" type="slidenum">
              <a:rPr lang="en-GB" altLang="en-US" smtClean="0"/>
              <a:pPr>
                <a:spcBef>
                  <a:spcPct val="0"/>
                </a:spcBef>
              </a:pPr>
              <a:t>21</a:t>
            </a:fld>
            <a:endParaRPr lang="en-GB" altLang="en-US"/>
          </a:p>
        </p:txBody>
      </p:sp>
      <p:sp>
        <p:nvSpPr>
          <p:cNvPr id="24579" name="Rectangle 2">
            <a:extLst>
              <a:ext uri="{FF2B5EF4-FFF2-40B4-BE49-F238E27FC236}">
                <a16:creationId xmlns:a16="http://schemas.microsoft.com/office/drawing/2014/main" id="{9C8CA493-0CCE-2E8D-0147-517F5E897D41}"/>
              </a:ext>
            </a:extLst>
          </p:cNvPr>
          <p:cNvSpPr>
            <a:spLocks noGrp="1" noRot="1" noChangeAspect="1" noChangeArrowheads="1" noTextEdit="1"/>
          </p:cNvSpPr>
          <p:nvPr>
            <p:ph type="sldImg"/>
          </p:nvPr>
        </p:nvSpPr>
        <p:spPr>
          <a:xfrm>
            <a:off x="469900" y="725488"/>
            <a:ext cx="6380163" cy="3589337"/>
          </a:xfrm>
          <a:ln/>
        </p:spPr>
      </p:sp>
      <p:sp>
        <p:nvSpPr>
          <p:cNvPr id="24580" name="Rectangle 3">
            <a:extLst>
              <a:ext uri="{FF2B5EF4-FFF2-40B4-BE49-F238E27FC236}">
                <a16:creationId xmlns:a16="http://schemas.microsoft.com/office/drawing/2014/main" id="{6FC315BD-77C5-6147-7E7D-0FDC5DD9CCC0}"/>
              </a:ext>
            </a:extLst>
          </p:cNvPr>
          <p:cNvSpPr>
            <a:spLocks noGrp="1" noChangeArrowheads="1"/>
          </p:cNvSpPr>
          <p:nvPr>
            <p:ph type="body" idx="1"/>
          </p:nvPr>
        </p:nvSpPr>
        <p:spPr>
          <a:xfrm>
            <a:off x="974725" y="4560888"/>
            <a:ext cx="5365750"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307" tIns="48154" rIns="96307" bIns="48154"/>
          <a:lstStyle/>
          <a:p>
            <a:pPr eaLnBrk="1" hangingPunct="1"/>
            <a:endParaRPr lang="en-AU"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8F9D5484-9C93-5077-73F8-D642684A5A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A29FB08-7B8A-5A40-A4AD-3C0F1C622AB4}" type="slidenum">
              <a:rPr lang="en-GB" altLang="en-US" smtClean="0"/>
              <a:pPr>
                <a:spcBef>
                  <a:spcPct val="0"/>
                </a:spcBef>
              </a:pPr>
              <a:t>22</a:t>
            </a:fld>
            <a:endParaRPr lang="en-GB" altLang="en-US"/>
          </a:p>
        </p:txBody>
      </p:sp>
      <p:sp>
        <p:nvSpPr>
          <p:cNvPr id="26627" name="Rectangle 2">
            <a:extLst>
              <a:ext uri="{FF2B5EF4-FFF2-40B4-BE49-F238E27FC236}">
                <a16:creationId xmlns:a16="http://schemas.microsoft.com/office/drawing/2014/main" id="{8DFEB165-4E48-FA1B-9DE7-A2412E9A165F}"/>
              </a:ext>
            </a:extLst>
          </p:cNvPr>
          <p:cNvSpPr>
            <a:spLocks noGrp="1" noRot="1" noChangeAspect="1" noChangeArrowheads="1" noTextEdit="1"/>
          </p:cNvSpPr>
          <p:nvPr>
            <p:ph type="sldImg"/>
          </p:nvPr>
        </p:nvSpPr>
        <p:spPr>
          <a:xfrm>
            <a:off x="469900" y="725488"/>
            <a:ext cx="6380163" cy="3589337"/>
          </a:xfrm>
          <a:ln/>
        </p:spPr>
      </p:sp>
      <p:sp>
        <p:nvSpPr>
          <p:cNvPr id="26628" name="Rectangle 3">
            <a:extLst>
              <a:ext uri="{FF2B5EF4-FFF2-40B4-BE49-F238E27FC236}">
                <a16:creationId xmlns:a16="http://schemas.microsoft.com/office/drawing/2014/main" id="{CC477623-B31B-8A68-05DF-F489008C6698}"/>
              </a:ext>
            </a:extLst>
          </p:cNvPr>
          <p:cNvSpPr>
            <a:spLocks noGrp="1" noChangeArrowheads="1"/>
          </p:cNvSpPr>
          <p:nvPr>
            <p:ph type="body" idx="1"/>
          </p:nvPr>
        </p:nvSpPr>
        <p:spPr>
          <a:xfrm>
            <a:off x="974725" y="4560888"/>
            <a:ext cx="5365750"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307" tIns="48154" rIns="96307" bIns="48154"/>
          <a:lstStyle/>
          <a:p>
            <a:pPr eaLnBrk="1" hangingPunct="1"/>
            <a:endParaRPr lang="en-AU"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710354A7-F92B-4A97-769B-6BD9C36F06C1}"/>
              </a:ext>
            </a:extLst>
          </p:cNvPr>
          <p:cNvSpPr>
            <a:spLocks noGrp="1" noRot="1" noChangeAspect="1" noChangeArrowheads="1" noTextEdit="1"/>
          </p:cNvSpPr>
          <p:nvPr>
            <p:ph type="sldImg"/>
          </p:nvPr>
        </p:nvSpPr>
        <p:spPr>
          <a:ln/>
        </p:spPr>
      </p:sp>
      <p:sp>
        <p:nvSpPr>
          <p:cNvPr id="28675" name="Notes Placeholder 2">
            <a:extLst>
              <a:ext uri="{FF2B5EF4-FFF2-40B4-BE49-F238E27FC236}">
                <a16:creationId xmlns:a16="http://schemas.microsoft.com/office/drawing/2014/main" id="{8EDBE7E3-9487-EF7A-F775-D23D8CFDE7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28676" name="Slide Number Placeholder 3">
            <a:extLst>
              <a:ext uri="{FF2B5EF4-FFF2-40B4-BE49-F238E27FC236}">
                <a16:creationId xmlns:a16="http://schemas.microsoft.com/office/drawing/2014/main" id="{5D5E8028-7ADC-9FA3-6CE4-CAEE6433FD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1E00034-A4AB-8D4E-84DF-16C207BBF8FB}" type="slidenum">
              <a:rPr lang="en-GB" altLang="en-US" sz="1200" smtClean="0"/>
              <a:pPr/>
              <a:t>23</a:t>
            </a:fld>
            <a:endParaRPr lang="en-GB" altLang="en-US"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FD34EC34-51FE-6DE0-2F81-8DB41D710897}"/>
              </a:ext>
            </a:extLst>
          </p:cNvPr>
          <p:cNvSpPr>
            <a:spLocks noGrp="1" noRot="1" noChangeAspect="1" noChangeArrowheads="1" noTextEdit="1"/>
          </p:cNvSpPr>
          <p:nvPr>
            <p:ph type="sldImg"/>
          </p:nvPr>
        </p:nvSpPr>
        <p:spPr>
          <a:ln/>
        </p:spPr>
      </p:sp>
      <p:sp>
        <p:nvSpPr>
          <p:cNvPr id="30723" name="Notes Placeholder 2">
            <a:extLst>
              <a:ext uri="{FF2B5EF4-FFF2-40B4-BE49-F238E27FC236}">
                <a16:creationId xmlns:a16="http://schemas.microsoft.com/office/drawing/2014/main" id="{E009D47C-37DA-2AE8-A828-DDC99D753D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30724" name="Slide Number Placeholder 3">
            <a:extLst>
              <a:ext uri="{FF2B5EF4-FFF2-40B4-BE49-F238E27FC236}">
                <a16:creationId xmlns:a16="http://schemas.microsoft.com/office/drawing/2014/main" id="{C97B92BF-212E-BA2B-601D-FD05E126B0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9B50958-2288-5741-840E-EB7095DCCB86}" type="slidenum">
              <a:rPr lang="en-GB" altLang="en-US" sz="1200" smtClean="0"/>
              <a:pPr/>
              <a:t>24</a:t>
            </a:fld>
            <a:endParaRPr lang="en-GB" altLang="en-US"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07D13-6C99-7F83-47E7-C031C5269A58}"/>
            </a:ext>
          </a:extLst>
        </p:cNvPr>
        <p:cNvGrpSpPr/>
        <p:nvPr/>
      </p:nvGrpSpPr>
      <p:grpSpPr>
        <a:xfrm>
          <a:off x="0" y="0"/>
          <a:ext cx="0" cy="0"/>
          <a:chOff x="0" y="0"/>
          <a:chExt cx="0" cy="0"/>
        </a:xfrm>
      </p:grpSpPr>
      <p:sp>
        <p:nvSpPr>
          <p:cNvPr id="26626" name="Rectangle 7">
            <a:extLst>
              <a:ext uri="{FF2B5EF4-FFF2-40B4-BE49-F238E27FC236}">
                <a16:creationId xmlns:a16="http://schemas.microsoft.com/office/drawing/2014/main" id="{483F4E27-92D8-0C20-2A2D-EDDE0E1ED9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A29FB08-7B8A-5A40-A4AD-3C0F1C622AB4}" type="slidenum">
              <a:rPr lang="en-GB" altLang="en-US" smtClean="0"/>
              <a:pPr>
                <a:spcBef>
                  <a:spcPct val="0"/>
                </a:spcBef>
              </a:pPr>
              <a:t>25</a:t>
            </a:fld>
            <a:endParaRPr lang="en-GB" altLang="en-US"/>
          </a:p>
        </p:txBody>
      </p:sp>
      <p:sp>
        <p:nvSpPr>
          <p:cNvPr id="26627" name="Rectangle 2">
            <a:extLst>
              <a:ext uri="{FF2B5EF4-FFF2-40B4-BE49-F238E27FC236}">
                <a16:creationId xmlns:a16="http://schemas.microsoft.com/office/drawing/2014/main" id="{40D6BBD9-9E95-DC2C-66F5-52092267E984}"/>
              </a:ext>
            </a:extLst>
          </p:cNvPr>
          <p:cNvSpPr>
            <a:spLocks noGrp="1" noRot="1" noChangeAspect="1" noChangeArrowheads="1" noTextEdit="1"/>
          </p:cNvSpPr>
          <p:nvPr>
            <p:ph type="sldImg"/>
          </p:nvPr>
        </p:nvSpPr>
        <p:spPr>
          <a:xfrm>
            <a:off x="469900" y="725488"/>
            <a:ext cx="6380163" cy="3589337"/>
          </a:xfrm>
          <a:ln/>
        </p:spPr>
      </p:sp>
      <p:sp>
        <p:nvSpPr>
          <p:cNvPr id="26628" name="Rectangle 3">
            <a:extLst>
              <a:ext uri="{FF2B5EF4-FFF2-40B4-BE49-F238E27FC236}">
                <a16:creationId xmlns:a16="http://schemas.microsoft.com/office/drawing/2014/main" id="{69B973CB-F55E-961C-D5CE-9C4846608A1B}"/>
              </a:ext>
            </a:extLst>
          </p:cNvPr>
          <p:cNvSpPr>
            <a:spLocks noGrp="1" noChangeArrowheads="1"/>
          </p:cNvSpPr>
          <p:nvPr>
            <p:ph type="body" idx="1"/>
          </p:nvPr>
        </p:nvSpPr>
        <p:spPr>
          <a:xfrm>
            <a:off x="974725" y="4560888"/>
            <a:ext cx="5365750"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307" tIns="48154" rIns="96307" bIns="48154"/>
          <a:lstStyle/>
          <a:p>
            <a:pPr eaLnBrk="1" hangingPunct="1"/>
            <a:endParaRPr lang="en-AU" altLang="en-US"/>
          </a:p>
        </p:txBody>
      </p:sp>
    </p:spTree>
    <p:extLst>
      <p:ext uri="{BB962C8B-B14F-4D97-AF65-F5344CB8AC3E}">
        <p14:creationId xmlns:p14="http://schemas.microsoft.com/office/powerpoint/2010/main" val="40705229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F8F0A843-BC70-BB95-5E23-82D6FF1D9D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44FF490-CE85-5E4C-851B-3B94ED1F4CB8}" type="slidenum">
              <a:rPr lang="en-GB" altLang="en-US" smtClean="0"/>
              <a:pPr>
                <a:spcBef>
                  <a:spcPct val="0"/>
                </a:spcBef>
              </a:pPr>
              <a:t>26</a:t>
            </a:fld>
            <a:endParaRPr lang="en-GB" altLang="en-US"/>
          </a:p>
        </p:txBody>
      </p:sp>
      <p:sp>
        <p:nvSpPr>
          <p:cNvPr id="32771" name="Rectangle 2">
            <a:extLst>
              <a:ext uri="{FF2B5EF4-FFF2-40B4-BE49-F238E27FC236}">
                <a16:creationId xmlns:a16="http://schemas.microsoft.com/office/drawing/2014/main" id="{4AF3FA98-3254-CD3E-D504-C11149F425DA}"/>
              </a:ext>
            </a:extLst>
          </p:cNvPr>
          <p:cNvSpPr>
            <a:spLocks noGrp="1" noRot="1" noChangeAspect="1" noChangeArrowheads="1" noTextEdit="1"/>
          </p:cNvSpPr>
          <p:nvPr>
            <p:ph type="sldImg"/>
          </p:nvPr>
        </p:nvSpPr>
        <p:spPr>
          <a:xfrm>
            <a:off x="469900" y="725488"/>
            <a:ext cx="6380163" cy="3589337"/>
          </a:xfrm>
          <a:ln/>
        </p:spPr>
      </p:sp>
      <p:sp>
        <p:nvSpPr>
          <p:cNvPr id="32772" name="Rectangle 3">
            <a:extLst>
              <a:ext uri="{FF2B5EF4-FFF2-40B4-BE49-F238E27FC236}">
                <a16:creationId xmlns:a16="http://schemas.microsoft.com/office/drawing/2014/main" id="{1401FEB0-AAB0-0DF5-0AA2-C9056818AF0F}"/>
              </a:ext>
            </a:extLst>
          </p:cNvPr>
          <p:cNvSpPr>
            <a:spLocks noGrp="1" noChangeArrowheads="1"/>
          </p:cNvSpPr>
          <p:nvPr>
            <p:ph type="body" idx="1"/>
          </p:nvPr>
        </p:nvSpPr>
        <p:spPr>
          <a:xfrm>
            <a:off x="974725" y="4560888"/>
            <a:ext cx="5365750"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307" tIns="48154" rIns="96307" bIns="48154"/>
          <a:lstStyle/>
          <a:p>
            <a:pPr eaLnBrk="1" hangingPunct="1"/>
            <a:endParaRPr lang="en-AU"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D6297-D4D6-0602-43D8-E9CB3742AAD8}"/>
            </a:ext>
          </a:extLst>
        </p:cNvPr>
        <p:cNvGrpSpPr/>
        <p:nvPr/>
      </p:nvGrpSpPr>
      <p:grpSpPr>
        <a:xfrm>
          <a:off x="0" y="0"/>
          <a:ext cx="0" cy="0"/>
          <a:chOff x="0" y="0"/>
          <a:chExt cx="0" cy="0"/>
        </a:xfrm>
      </p:grpSpPr>
      <p:sp>
        <p:nvSpPr>
          <p:cNvPr id="22530" name="Rectangle 7">
            <a:extLst>
              <a:ext uri="{FF2B5EF4-FFF2-40B4-BE49-F238E27FC236}">
                <a16:creationId xmlns:a16="http://schemas.microsoft.com/office/drawing/2014/main" id="{A429D4B5-F45A-227B-AF0E-59D27AD06A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9DB417-6512-5A4A-8466-AE74B5413CDF}" type="slidenum">
              <a:rPr lang="en-GB" altLang="en-US" smtClean="0"/>
              <a:pPr>
                <a:spcBef>
                  <a:spcPct val="0"/>
                </a:spcBef>
              </a:pPr>
              <a:t>27</a:t>
            </a:fld>
            <a:endParaRPr lang="en-GB" altLang="en-US"/>
          </a:p>
        </p:txBody>
      </p:sp>
      <p:sp>
        <p:nvSpPr>
          <p:cNvPr id="22531" name="Rectangle 2">
            <a:extLst>
              <a:ext uri="{FF2B5EF4-FFF2-40B4-BE49-F238E27FC236}">
                <a16:creationId xmlns:a16="http://schemas.microsoft.com/office/drawing/2014/main" id="{2D47CCB5-6FBD-EE7E-13DB-8FA245969DD1}"/>
              </a:ext>
            </a:extLst>
          </p:cNvPr>
          <p:cNvSpPr>
            <a:spLocks noGrp="1" noRot="1" noChangeAspect="1" noChangeArrowheads="1" noTextEdit="1"/>
          </p:cNvSpPr>
          <p:nvPr>
            <p:ph type="sldImg"/>
          </p:nvPr>
        </p:nvSpPr>
        <p:spPr>
          <a:xfrm>
            <a:off x="469900" y="725488"/>
            <a:ext cx="6380163" cy="3589337"/>
          </a:xfrm>
          <a:ln/>
        </p:spPr>
      </p:sp>
      <p:sp>
        <p:nvSpPr>
          <p:cNvPr id="22532" name="Rectangle 3">
            <a:extLst>
              <a:ext uri="{FF2B5EF4-FFF2-40B4-BE49-F238E27FC236}">
                <a16:creationId xmlns:a16="http://schemas.microsoft.com/office/drawing/2014/main" id="{9995C3E5-17D7-D59D-683F-F5BD7B1586EE}"/>
              </a:ext>
            </a:extLst>
          </p:cNvPr>
          <p:cNvSpPr>
            <a:spLocks noGrp="1" noChangeArrowheads="1"/>
          </p:cNvSpPr>
          <p:nvPr>
            <p:ph type="body" idx="1"/>
          </p:nvPr>
        </p:nvSpPr>
        <p:spPr>
          <a:xfrm>
            <a:off x="974725" y="4560888"/>
            <a:ext cx="5365750"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307" tIns="48154" rIns="96307" bIns="48154"/>
          <a:lstStyle/>
          <a:p>
            <a:pPr eaLnBrk="1" hangingPunct="1"/>
            <a:endParaRPr lang="en-AU" altLang="en-US"/>
          </a:p>
        </p:txBody>
      </p:sp>
    </p:spTree>
    <p:extLst>
      <p:ext uri="{BB962C8B-B14F-4D97-AF65-F5344CB8AC3E}">
        <p14:creationId xmlns:p14="http://schemas.microsoft.com/office/powerpoint/2010/main" val="8119459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470A960F-FDA1-26AF-91D2-4E9B8FC9A5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8B4C7A6-6A35-2C4E-A43F-ADD0839B9B74}" type="slidenum">
              <a:rPr lang="en-GB" altLang="en-US" smtClean="0"/>
              <a:pPr>
                <a:spcBef>
                  <a:spcPct val="0"/>
                </a:spcBef>
              </a:pPr>
              <a:t>28</a:t>
            </a:fld>
            <a:endParaRPr lang="en-GB" altLang="en-US"/>
          </a:p>
        </p:txBody>
      </p:sp>
      <p:sp>
        <p:nvSpPr>
          <p:cNvPr id="34819" name="Rectangle 2">
            <a:extLst>
              <a:ext uri="{FF2B5EF4-FFF2-40B4-BE49-F238E27FC236}">
                <a16:creationId xmlns:a16="http://schemas.microsoft.com/office/drawing/2014/main" id="{9728B3A9-5FF8-4DDA-16C2-7341FC2E2F42}"/>
              </a:ext>
            </a:extLst>
          </p:cNvPr>
          <p:cNvSpPr>
            <a:spLocks noGrp="1" noRot="1" noChangeAspect="1" noChangeArrowheads="1" noTextEdit="1"/>
          </p:cNvSpPr>
          <p:nvPr>
            <p:ph type="sldImg"/>
          </p:nvPr>
        </p:nvSpPr>
        <p:spPr>
          <a:xfrm>
            <a:off x="469900" y="725488"/>
            <a:ext cx="6380163" cy="3589337"/>
          </a:xfrm>
          <a:ln/>
        </p:spPr>
      </p:sp>
      <p:sp>
        <p:nvSpPr>
          <p:cNvPr id="34820" name="Rectangle 3">
            <a:extLst>
              <a:ext uri="{FF2B5EF4-FFF2-40B4-BE49-F238E27FC236}">
                <a16:creationId xmlns:a16="http://schemas.microsoft.com/office/drawing/2014/main" id="{21F23D51-4D74-359E-649A-1B51542645A7}"/>
              </a:ext>
            </a:extLst>
          </p:cNvPr>
          <p:cNvSpPr>
            <a:spLocks noGrp="1" noChangeArrowheads="1"/>
          </p:cNvSpPr>
          <p:nvPr>
            <p:ph type="body" idx="1"/>
          </p:nvPr>
        </p:nvSpPr>
        <p:spPr>
          <a:xfrm>
            <a:off x="974725" y="4560888"/>
            <a:ext cx="5365750"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307" tIns="48154" rIns="96307" bIns="48154"/>
          <a:lstStyle/>
          <a:p>
            <a:pPr eaLnBrk="1" hangingPunct="1"/>
            <a:endParaRPr lang="en-AU"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BDBDB3-6F44-4343-B982-74DC091B0E8D}" type="slidenum">
              <a:rPr lang="en-US" smtClean="0"/>
              <a:t>29</a:t>
            </a:fld>
            <a:endParaRPr lang="en-US"/>
          </a:p>
        </p:txBody>
      </p:sp>
    </p:spTree>
    <p:extLst>
      <p:ext uri="{BB962C8B-B14F-4D97-AF65-F5344CB8AC3E}">
        <p14:creationId xmlns:p14="http://schemas.microsoft.com/office/powerpoint/2010/main" val="37240633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6876D0C9-05EB-39B5-921B-82A3A1428781}"/>
              </a:ext>
            </a:extLst>
          </p:cNvPr>
          <p:cNvSpPr>
            <a:spLocks noGrp="1" noRot="1" noChangeAspect="1" noChangeArrowheads="1" noTextEdit="1"/>
          </p:cNvSpPr>
          <p:nvPr>
            <p:ph type="sldImg"/>
          </p:nvPr>
        </p:nvSpPr>
        <p:spPr>
          <a:ln/>
        </p:spPr>
      </p:sp>
      <p:sp>
        <p:nvSpPr>
          <p:cNvPr id="20483" name="Notes Placeholder 2">
            <a:extLst>
              <a:ext uri="{FF2B5EF4-FFF2-40B4-BE49-F238E27FC236}">
                <a16:creationId xmlns:a16="http://schemas.microsoft.com/office/drawing/2014/main" id="{E06F31CB-968E-CCB5-995D-988EE9E954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20484" name="Slide Number Placeholder 3">
            <a:extLst>
              <a:ext uri="{FF2B5EF4-FFF2-40B4-BE49-F238E27FC236}">
                <a16:creationId xmlns:a16="http://schemas.microsoft.com/office/drawing/2014/main" id="{792F9801-F590-0D9D-F36C-9B7297F58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E4DDE71-6E22-1C4D-BBF4-6EBCEEB322E0}" type="slidenum">
              <a:rPr lang="en-GB" altLang="en-US" sz="1200" smtClean="0"/>
              <a:pPr/>
              <a:t>30</a:t>
            </a:fld>
            <a:endParaRPr lang="en-GB" altLang="en-US"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82DC32AB-F858-9D34-FB06-DD71F8BCAD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54A2484-94C1-7C4C-8FB9-52E4DF35D99D}" type="slidenum">
              <a:rPr lang="en-GB" altLang="en-US" smtClean="0"/>
              <a:pPr>
                <a:spcBef>
                  <a:spcPct val="0"/>
                </a:spcBef>
              </a:pPr>
              <a:t>31</a:t>
            </a:fld>
            <a:endParaRPr lang="en-GB" altLang="en-US"/>
          </a:p>
        </p:txBody>
      </p:sp>
      <p:sp>
        <p:nvSpPr>
          <p:cNvPr id="22531" name="Rectangle 2">
            <a:extLst>
              <a:ext uri="{FF2B5EF4-FFF2-40B4-BE49-F238E27FC236}">
                <a16:creationId xmlns:a16="http://schemas.microsoft.com/office/drawing/2014/main" id="{E40A7560-10CA-178A-BB9B-86D7F30FA209}"/>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480FDDA9-002F-5DF5-DFF7-8D131B55E4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C610EC79-4D9B-4A46-B363-CA4608364EA3}"/>
              </a:ext>
            </a:extLst>
          </p:cNvPr>
          <p:cNvSpPr>
            <a:spLocks noGrp="1" noRot="1" noChangeAspect="1" noChangeArrowheads="1" noTextEdit="1"/>
          </p:cNvSpPr>
          <p:nvPr>
            <p:ph type="sldImg"/>
          </p:nvPr>
        </p:nvSpPr>
        <p:spPr>
          <a:ln/>
        </p:spPr>
      </p:sp>
      <p:sp>
        <p:nvSpPr>
          <p:cNvPr id="24579" name="Notes Placeholder 2">
            <a:extLst>
              <a:ext uri="{FF2B5EF4-FFF2-40B4-BE49-F238E27FC236}">
                <a16:creationId xmlns:a16="http://schemas.microsoft.com/office/drawing/2014/main" id="{1AB8760E-83B7-4FBF-8718-A3E4BD6265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4580" name="Slide Number Placeholder 3">
            <a:extLst>
              <a:ext uri="{FF2B5EF4-FFF2-40B4-BE49-F238E27FC236}">
                <a16:creationId xmlns:a16="http://schemas.microsoft.com/office/drawing/2014/main" id="{1EDBEC84-E42B-4D1F-99B4-03195DFA31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BD34297-7609-47F3-9F9D-70A7E53CB66C}" type="slidenum">
              <a:rPr lang="en-GB" altLang="en-US" sz="1200" smtClean="0"/>
              <a:pPr/>
              <a:t>34</a:t>
            </a:fld>
            <a:endParaRPr lang="en-GB" altLang="en-US"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3ACC7-86BE-02F5-EBEC-F4B97F2D2EF4}"/>
            </a:ext>
          </a:extLst>
        </p:cNvPr>
        <p:cNvGrpSpPr/>
        <p:nvPr/>
      </p:nvGrpSpPr>
      <p:grpSpPr>
        <a:xfrm>
          <a:off x="0" y="0"/>
          <a:ext cx="0" cy="0"/>
          <a:chOff x="0" y="0"/>
          <a:chExt cx="0" cy="0"/>
        </a:xfrm>
      </p:grpSpPr>
      <p:sp>
        <p:nvSpPr>
          <p:cNvPr id="26626" name="Rectangle 7">
            <a:extLst>
              <a:ext uri="{FF2B5EF4-FFF2-40B4-BE49-F238E27FC236}">
                <a16:creationId xmlns:a16="http://schemas.microsoft.com/office/drawing/2014/main" id="{4FF63D3B-13FE-D25F-C60C-2CA2024A31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5E2E5EF-F4B0-4B90-8971-A70B6AB207D3}" type="slidenum">
              <a:rPr lang="en-GB" altLang="en-US" smtClean="0"/>
              <a:pPr>
                <a:spcBef>
                  <a:spcPct val="0"/>
                </a:spcBef>
              </a:pPr>
              <a:t>35</a:t>
            </a:fld>
            <a:endParaRPr lang="en-GB" altLang="en-US"/>
          </a:p>
        </p:txBody>
      </p:sp>
      <p:sp>
        <p:nvSpPr>
          <p:cNvPr id="26627" name="Rectangle 2">
            <a:extLst>
              <a:ext uri="{FF2B5EF4-FFF2-40B4-BE49-F238E27FC236}">
                <a16:creationId xmlns:a16="http://schemas.microsoft.com/office/drawing/2014/main" id="{4C492459-5719-18C0-C6C8-256601D97327}"/>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C2FFBD6B-D2AB-8AE3-ADC9-09ADA9A08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p>
        </p:txBody>
      </p:sp>
    </p:spTree>
    <p:extLst>
      <p:ext uri="{BB962C8B-B14F-4D97-AF65-F5344CB8AC3E}">
        <p14:creationId xmlns:p14="http://schemas.microsoft.com/office/powerpoint/2010/main" val="20429702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2AA78752-D03F-6803-2F03-E63F1972A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592457B-6316-A94F-A843-7963947B12AA}" type="slidenum">
              <a:rPr lang="en-GB" altLang="en-US" smtClean="0"/>
              <a:pPr>
                <a:spcBef>
                  <a:spcPct val="0"/>
                </a:spcBef>
              </a:pPr>
              <a:t>36</a:t>
            </a:fld>
            <a:endParaRPr lang="en-GB" altLang="en-US"/>
          </a:p>
        </p:txBody>
      </p:sp>
      <p:sp>
        <p:nvSpPr>
          <p:cNvPr id="28675" name="Rectangle 2">
            <a:extLst>
              <a:ext uri="{FF2B5EF4-FFF2-40B4-BE49-F238E27FC236}">
                <a16:creationId xmlns:a16="http://schemas.microsoft.com/office/drawing/2014/main" id="{86B5B07A-276A-7984-D905-B6ABDD14BE51}"/>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C443F705-22E4-8CEF-BBC2-694F9BF746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9FAB2-E0C9-3640-8400-11D70B83401F}"/>
            </a:ext>
          </a:extLst>
        </p:cNvPr>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A47A22A1-174D-DF10-52FD-10650C98A9C1}"/>
              </a:ext>
            </a:extLst>
          </p:cNvPr>
          <p:cNvSpPr>
            <a:spLocks noGrp="1" noRot="1" noChangeAspect="1" noChangeArrowheads="1" noTextEdit="1"/>
          </p:cNvSpPr>
          <p:nvPr>
            <p:ph type="sldImg"/>
          </p:nvPr>
        </p:nvSpPr>
        <p:spPr>
          <a:ln/>
        </p:spPr>
      </p:sp>
      <p:sp>
        <p:nvSpPr>
          <p:cNvPr id="23555" name="Notes Placeholder 2">
            <a:extLst>
              <a:ext uri="{FF2B5EF4-FFF2-40B4-BE49-F238E27FC236}">
                <a16:creationId xmlns:a16="http://schemas.microsoft.com/office/drawing/2014/main" id="{006884DF-5033-23D7-826B-F645D14CCB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23556" name="Slide Number Placeholder 3">
            <a:extLst>
              <a:ext uri="{FF2B5EF4-FFF2-40B4-BE49-F238E27FC236}">
                <a16:creationId xmlns:a16="http://schemas.microsoft.com/office/drawing/2014/main" id="{29E01FF1-D72F-A771-36FD-D3B4BF69FB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2325E39-B761-B544-AFC2-61B84AF6C646}" type="slidenum">
              <a:rPr lang="en-GB" altLang="en-US" sz="1200" smtClean="0"/>
              <a:pPr/>
              <a:t>37</a:t>
            </a:fld>
            <a:endParaRPr lang="en-GB" altLang="en-US" sz="1200"/>
          </a:p>
        </p:txBody>
      </p:sp>
    </p:spTree>
    <p:extLst>
      <p:ext uri="{BB962C8B-B14F-4D97-AF65-F5344CB8AC3E}">
        <p14:creationId xmlns:p14="http://schemas.microsoft.com/office/powerpoint/2010/main" val="13315683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5FE2A151-D7E9-2CEF-8956-F00E75480F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spcBef>
                <a:spcPct val="30000"/>
              </a:spcBef>
              <a:defRPr sz="1200">
                <a:solidFill>
                  <a:schemeClr val="tx1"/>
                </a:solidFill>
                <a:latin typeface="Times New Roman" panose="02020603050405020304" pitchFamily="18" charset="0"/>
              </a:defRPr>
            </a:lvl1pPr>
            <a:lvl2pPr marL="742950" indent="-285750" defTabSz="968375">
              <a:spcBef>
                <a:spcPct val="30000"/>
              </a:spcBef>
              <a:defRPr sz="1200">
                <a:solidFill>
                  <a:schemeClr val="tx1"/>
                </a:solidFill>
                <a:latin typeface="Times New Roman" panose="02020603050405020304" pitchFamily="18" charset="0"/>
              </a:defRPr>
            </a:lvl2pPr>
            <a:lvl3pPr marL="1143000" indent="-228600" defTabSz="968375">
              <a:spcBef>
                <a:spcPct val="30000"/>
              </a:spcBef>
              <a:defRPr sz="1200">
                <a:solidFill>
                  <a:schemeClr val="tx1"/>
                </a:solidFill>
                <a:latin typeface="Times New Roman" panose="02020603050405020304" pitchFamily="18" charset="0"/>
              </a:defRPr>
            </a:lvl3pPr>
            <a:lvl4pPr marL="1600200" indent="-228600" defTabSz="968375">
              <a:spcBef>
                <a:spcPct val="30000"/>
              </a:spcBef>
              <a:defRPr sz="1200">
                <a:solidFill>
                  <a:schemeClr val="tx1"/>
                </a:solidFill>
                <a:latin typeface="Times New Roman" panose="02020603050405020304" pitchFamily="18" charset="0"/>
              </a:defRPr>
            </a:lvl4pPr>
            <a:lvl5pPr marL="2057400" indent="-228600" defTabSz="968375">
              <a:spcBef>
                <a:spcPct val="30000"/>
              </a:spcBef>
              <a:defRPr sz="1200">
                <a:solidFill>
                  <a:schemeClr val="tx1"/>
                </a:solidFill>
                <a:latin typeface="Times New Roman" panose="02020603050405020304" pitchFamily="18" charset="0"/>
              </a:defRPr>
            </a:lvl5pPr>
            <a:lvl6pPr marL="2514600" indent="-228600" defTabSz="9683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83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83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83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4DD5CC-DAF9-5A4C-8F52-57B1CC2AC96C}" type="slidenum">
              <a:rPr lang="en-GB" altLang="en-US" sz="1300"/>
              <a:pPr>
                <a:spcBef>
                  <a:spcPct val="0"/>
                </a:spcBef>
              </a:pPr>
              <a:t>38</a:t>
            </a:fld>
            <a:endParaRPr lang="en-GB" altLang="en-US" sz="1300"/>
          </a:p>
        </p:txBody>
      </p:sp>
      <p:sp>
        <p:nvSpPr>
          <p:cNvPr id="9219" name="Rectangle 2">
            <a:extLst>
              <a:ext uri="{FF2B5EF4-FFF2-40B4-BE49-F238E27FC236}">
                <a16:creationId xmlns:a16="http://schemas.microsoft.com/office/drawing/2014/main" id="{8158AA02-B42A-CD67-0FDF-F10630492E3C}"/>
              </a:ext>
            </a:extLst>
          </p:cNvPr>
          <p:cNvSpPr>
            <a:spLocks noGrp="1" noRot="1" noChangeAspect="1" noChangeArrowheads="1" noTextEdit="1"/>
          </p:cNvSpPr>
          <p:nvPr>
            <p:ph type="sldImg"/>
          </p:nvPr>
        </p:nvSpPr>
        <p:spPr>
          <a:xfrm>
            <a:off x="457200" y="720725"/>
            <a:ext cx="6397625" cy="3598863"/>
          </a:xfrm>
          <a:ln/>
        </p:spPr>
      </p:sp>
      <p:sp>
        <p:nvSpPr>
          <p:cNvPr id="9220" name="Rectangle 3">
            <a:extLst>
              <a:ext uri="{FF2B5EF4-FFF2-40B4-BE49-F238E27FC236}">
                <a16:creationId xmlns:a16="http://schemas.microsoft.com/office/drawing/2014/main" id="{C889189D-36D8-B9B8-8B49-AF2FD15371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cs typeface="Times New Roman" panose="02020603050405020304" pitchFamily="18" charset="0"/>
              </a:rPr>
              <a:t>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79F95-1AD8-34DB-4C4D-F04587FE2069}"/>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98D39407-35C8-B599-73EB-43C25F391607}"/>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AD1EA122-4F81-571F-5566-0F0C1F6302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CC68C19A-53AB-AEC9-A4B4-7008D1D2A0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A9B20F9-B0C9-4C43-AA44-6686FCE3390A}" type="slidenum">
              <a:rPr lang="en-GB" altLang="en-US" sz="1200" smtClean="0"/>
              <a:pPr/>
              <a:t>39</a:t>
            </a:fld>
            <a:endParaRPr lang="en-GB" altLang="en-US" sz="1200"/>
          </a:p>
        </p:txBody>
      </p:sp>
    </p:spTree>
    <p:extLst>
      <p:ext uri="{BB962C8B-B14F-4D97-AF65-F5344CB8AC3E}">
        <p14:creationId xmlns:p14="http://schemas.microsoft.com/office/powerpoint/2010/main" val="36036036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BDBDB3-6F44-4343-B982-74DC091B0E8D}" type="slidenum">
              <a:rPr lang="en-US" smtClean="0"/>
              <a:t>42</a:t>
            </a:fld>
            <a:endParaRPr lang="en-US"/>
          </a:p>
        </p:txBody>
      </p:sp>
    </p:spTree>
    <p:extLst>
      <p:ext uri="{BB962C8B-B14F-4D97-AF65-F5344CB8AC3E}">
        <p14:creationId xmlns:p14="http://schemas.microsoft.com/office/powerpoint/2010/main" val="7218187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CAABA-E9C2-D59B-82BE-AE67F5A63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8811E-1DA9-32FB-6F8A-7E832850F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197E3D-0E09-085D-D695-BBD576B5BF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ED618F-094C-3AF0-924C-36C1F18EF048}"/>
              </a:ext>
            </a:extLst>
          </p:cNvPr>
          <p:cNvSpPr>
            <a:spLocks noGrp="1"/>
          </p:cNvSpPr>
          <p:nvPr>
            <p:ph type="sldNum" sz="quarter" idx="5"/>
          </p:nvPr>
        </p:nvSpPr>
        <p:spPr/>
        <p:txBody>
          <a:bodyPr/>
          <a:lstStyle/>
          <a:p>
            <a:fld id="{89BDBDB3-6F44-4343-B982-74DC091B0E8D}" type="slidenum">
              <a:rPr lang="en-US" smtClean="0"/>
              <a:t>44</a:t>
            </a:fld>
            <a:endParaRPr lang="en-US"/>
          </a:p>
        </p:txBody>
      </p:sp>
    </p:spTree>
    <p:extLst>
      <p:ext uri="{BB962C8B-B14F-4D97-AF65-F5344CB8AC3E}">
        <p14:creationId xmlns:p14="http://schemas.microsoft.com/office/powerpoint/2010/main" val="27239610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DM Sans" pitchFamily="2" charset="0"/>
              <a:cs typeface="DM Sans"/>
            </a:endParaRPr>
          </a:p>
        </p:txBody>
      </p:sp>
      <p:sp>
        <p:nvSpPr>
          <p:cNvPr id="4" name="Slide Number Placeholder 3"/>
          <p:cNvSpPr>
            <a:spLocks noGrp="1"/>
          </p:cNvSpPr>
          <p:nvPr>
            <p:ph type="sldNum" sz="quarter" idx="5"/>
          </p:nvPr>
        </p:nvSpPr>
        <p:spPr/>
        <p:txBody>
          <a:bodyPr/>
          <a:lstStyle/>
          <a:p>
            <a:fld id="{C6B3559C-4BE5-4262-A2E7-0EADDD5F845B}" type="slidenum">
              <a:rPr lang="en-GB" smtClean="0"/>
              <a:t>46</a:t>
            </a:fld>
            <a:endParaRPr lang="en-GB"/>
          </a:p>
        </p:txBody>
      </p:sp>
    </p:spTree>
    <p:extLst>
      <p:ext uri="{BB962C8B-B14F-4D97-AF65-F5344CB8AC3E}">
        <p14:creationId xmlns:p14="http://schemas.microsoft.com/office/powerpoint/2010/main" val="18764564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F674FCE3-9658-7146-B0EE-3C40BEE1CF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E9A0C49-509C-5F46-9879-66CBB1041243}" type="slidenum">
              <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47</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5538" name="Rectangle 2">
            <a:extLst>
              <a:ext uri="{FF2B5EF4-FFF2-40B4-BE49-F238E27FC236}">
                <a16:creationId xmlns:a16="http://schemas.microsoft.com/office/drawing/2014/main" id="{7F255ED0-AF38-5F4A-AEDF-3F0479128794}"/>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BEFD6AD4-FA02-E345-83D4-A7A2B402F3DC}"/>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Times New Roman" panose="02020603050405020304" pitchFamily="18" charset="0"/>
            </a:endParaRPr>
          </a:p>
        </p:txBody>
      </p:sp>
    </p:spTree>
    <p:extLst>
      <p:ext uri="{BB962C8B-B14F-4D97-AF65-F5344CB8AC3E}">
        <p14:creationId xmlns:p14="http://schemas.microsoft.com/office/powerpoint/2010/main" val="10938220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6FB5A-E1A9-FC8A-2118-5C6A8C5E0047}"/>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3AB7384-3B4A-A0CE-77FA-AB7D4BE8991C}"/>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9E752A68-FF6F-8FC5-D52D-C41CABC398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8FDC3139-D055-4EE5-BA8D-9C72836D53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A9B20F9-B0C9-4C43-AA44-6686FCE3390A}" type="slidenum">
              <a:rPr lang="en-GB" altLang="en-US" sz="1200" smtClean="0"/>
              <a:pPr/>
              <a:t>48</a:t>
            </a:fld>
            <a:endParaRPr lang="en-GB" altLang="en-US" sz="1200"/>
          </a:p>
        </p:txBody>
      </p:sp>
    </p:spTree>
    <p:extLst>
      <p:ext uri="{BB962C8B-B14F-4D97-AF65-F5344CB8AC3E}">
        <p14:creationId xmlns:p14="http://schemas.microsoft.com/office/powerpoint/2010/main" val="32895840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A3CE4-8C0B-3DFC-5FB8-B2EA7A6BEE08}"/>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B2E32859-4956-0E43-CA86-D7F1E7B1A123}"/>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04656766-9178-76BB-1992-D5ECA6AC2E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F69C0F02-F4F1-D1E5-5751-6BEC404B9F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GB" altLang="en-US" sz="120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501829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9E00-6EA3-AF8A-FCDB-A2CEC2C5B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90376-5B2A-BAC3-4094-C8C2E2536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9A9D93-2D50-3CE1-2B7F-FF5840004D8E}"/>
              </a:ext>
            </a:extLst>
          </p:cNvPr>
          <p:cNvSpPr>
            <a:spLocks noGrp="1"/>
          </p:cNvSpPr>
          <p:nvPr>
            <p:ph type="body" idx="1"/>
          </p:nvPr>
        </p:nvSpPr>
        <p:spPr/>
        <p:txBody>
          <a:bodyPr/>
          <a:lstStyle/>
          <a:p>
            <a:endParaRPr lang="en-GB" dirty="0">
              <a:latin typeface="DM Sans" pitchFamily="2" charset="0"/>
            </a:endParaRPr>
          </a:p>
        </p:txBody>
      </p:sp>
      <p:sp>
        <p:nvSpPr>
          <p:cNvPr id="4" name="Slide Number Placeholder 3">
            <a:extLst>
              <a:ext uri="{FF2B5EF4-FFF2-40B4-BE49-F238E27FC236}">
                <a16:creationId xmlns:a16="http://schemas.microsoft.com/office/drawing/2014/main" id="{18B8D7CB-BFD1-2F29-D02C-35E260FD00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5884885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9428F-0445-13B9-1554-7EBDFD32AF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28C6A-2231-EA57-795D-DEDD87203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35A03D-3DC3-49EE-6ECB-27B36A5CB37F}"/>
              </a:ext>
            </a:extLst>
          </p:cNvPr>
          <p:cNvSpPr>
            <a:spLocks noGrp="1"/>
          </p:cNvSpPr>
          <p:nvPr>
            <p:ph type="body" idx="1"/>
          </p:nvPr>
        </p:nvSpPr>
        <p:spPr/>
        <p:txBody>
          <a:bodyPr/>
          <a:lstStyle/>
          <a:p>
            <a:endParaRPr lang="en-GB" dirty="0">
              <a:effectLst/>
            </a:endParaRPr>
          </a:p>
          <a:p>
            <a:endParaRPr lang="en-GB" dirty="0"/>
          </a:p>
        </p:txBody>
      </p:sp>
      <p:sp>
        <p:nvSpPr>
          <p:cNvPr id="4" name="Slide Number Placeholder 3">
            <a:extLst>
              <a:ext uri="{FF2B5EF4-FFF2-40B4-BE49-F238E27FC236}">
                <a16:creationId xmlns:a16="http://schemas.microsoft.com/office/drawing/2014/main" id="{9DBF5D39-0843-024C-42E1-CD6BEAEB6F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7189680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FE1A-E3E4-852B-8546-14F06FB44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3E90D-FDAA-DE71-E0A4-5A152E558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767E2B-A1DB-9F1B-879D-81AF3230DFF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D5E7C4F-2C28-79D8-79BD-AB9CE61D09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4733535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7C283-47C8-2FDF-C0F6-3897720E3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FFB3A5-5AED-6D97-BC13-B7D5103EC7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29C982-E0C8-97A6-7DD4-3C3581093D1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6901561-053A-51D5-33BB-110A71CF02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4135717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00622-45E0-B036-26AB-B9E5F5A78A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4A598-A8E2-69B8-CE69-050CCAF4DC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8623B4-36F8-A0B4-D24A-12024F84743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1D966CF-7531-CA8D-33BA-599A931DB6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273941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1FAC5-04CC-5558-0441-1E0BF32DE6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7C170-D7A7-1860-D1B7-282CBBD99C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4111A-BA9B-A47D-A85B-FEAECD9A4FA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3583D4F-ABE6-4606-9FE8-E85340A6D6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3051326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C4E4D-B44D-53BA-AB39-016D9830D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A802D2-3334-1E88-2286-7AC20C216A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FA110-378F-CB7B-0606-E03401E940A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FB02020-1297-74E9-00E2-E83CC98780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37596288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4D286-BA0C-064E-F659-D0028A3D2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C1830-D37C-A103-FF7D-6FEA0ECB7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B4F207-697D-8F15-63DA-720EF58ED98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95A261F-51CD-D20E-D986-5FBA9D6B7BF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8675361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A9EAE-2DE9-4D25-4AC6-BEF670BDB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EADD10-5DB6-FCB5-CF64-D4A1E7BCD4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E46F7-E169-5287-331C-19F513168F44}"/>
              </a:ext>
            </a:extLst>
          </p:cNvPr>
          <p:cNvSpPr>
            <a:spLocks noGrp="1"/>
          </p:cNvSpPr>
          <p:nvPr>
            <p:ph type="body" idx="1"/>
          </p:nvPr>
        </p:nvSpPr>
        <p:spPr/>
        <p:txBody>
          <a:bodyPr/>
          <a:lstStyle/>
          <a:p>
            <a:r>
              <a:rPr lang="en-GB" sz="1200" b="1" i="0" kern="1200" dirty="0">
                <a:solidFill>
                  <a:schemeClr val="tx1"/>
                </a:solidFill>
                <a:effectLst/>
                <a:latin typeface="+mn-lt"/>
                <a:ea typeface="+mn-ea"/>
                <a:cs typeface="+mn-cs"/>
              </a:rPr>
              <a:t>(</a:t>
            </a:r>
            <a:endParaRPr lang="en-GB" dirty="0"/>
          </a:p>
        </p:txBody>
      </p:sp>
      <p:sp>
        <p:nvSpPr>
          <p:cNvPr id="4" name="Slide Number Placeholder 3">
            <a:extLst>
              <a:ext uri="{FF2B5EF4-FFF2-40B4-BE49-F238E27FC236}">
                <a16:creationId xmlns:a16="http://schemas.microsoft.com/office/drawing/2014/main" id="{F507E5B9-5D23-2D59-9800-1953E6C0CB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5357044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F998F-F9EB-FE62-176A-485BF82921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91AAFB-B74D-CD26-2BCA-19440DCAD1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0644B4-C7DB-5957-84FB-03A5FC1B13D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1D27179-ABE9-2B65-B792-121845568B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147326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27889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53321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34100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5557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63747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61852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64451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14349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16068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09371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433244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609600" y="1600201"/>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37246892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Portfolio 2 Images">
    <p:spTree>
      <p:nvGrpSpPr>
        <p:cNvPr id="1" name=""/>
        <p:cNvGrpSpPr/>
        <p:nvPr/>
      </p:nvGrpSpPr>
      <p:grpSpPr>
        <a:xfrm>
          <a:off x="0" y="0"/>
          <a:ext cx="0" cy="0"/>
          <a:chOff x="0" y="0"/>
          <a:chExt cx="0" cy="0"/>
        </a:xfrm>
      </p:grpSpPr>
      <p:sp>
        <p:nvSpPr>
          <p:cNvPr id="6" name="Picture Placeholder 13"/>
          <p:cNvSpPr>
            <a:spLocks noGrp="1"/>
          </p:cNvSpPr>
          <p:nvPr>
            <p:ph type="pic" sz="quarter" idx="27"/>
          </p:nvPr>
        </p:nvSpPr>
        <p:spPr>
          <a:xfrm>
            <a:off x="0" y="0"/>
            <a:ext cx="12192000" cy="4360127"/>
          </a:xfrm>
          <a:solidFill>
            <a:schemeClr val="bg1">
              <a:lumMod val="95000"/>
            </a:schemeClr>
          </a:solidFill>
          <a:effectLst/>
        </p:spPr>
        <p:txBody>
          <a:bodyPr>
            <a:normAutofit/>
          </a:bodyPr>
          <a:lstStyle>
            <a:lvl1pPr marL="0" indent="0">
              <a:buNone/>
              <a:defRPr sz="1300" b="0" i="0">
                <a:ln>
                  <a:noFill/>
                </a:ln>
                <a:solidFill>
                  <a:schemeClr val="bg1">
                    <a:lumMod val="85000"/>
                  </a:schemeClr>
                </a:solidFill>
                <a:latin typeface="Open Sans" charset="0"/>
                <a:ea typeface="Open Sans" charset="0"/>
                <a:cs typeface="Open Sans" charset="0"/>
              </a:defRPr>
            </a:lvl1pPr>
          </a:lstStyle>
          <a:p>
            <a:endParaRPr lang="en-US" dirty="0"/>
          </a:p>
        </p:txBody>
      </p:sp>
    </p:spTree>
    <p:extLst>
      <p:ext uri="{BB962C8B-B14F-4D97-AF65-F5344CB8AC3E}">
        <p14:creationId xmlns:p14="http://schemas.microsoft.com/office/powerpoint/2010/main" val="3237535281"/>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56788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65431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767138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04393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627875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13532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607248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18463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860960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04204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724739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325962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228611" indent="0" algn="ctr">
              <a:buNone/>
              <a:defRPr>
                <a:solidFill>
                  <a:schemeClr val="tx1">
                    <a:tint val="75000"/>
                  </a:schemeClr>
                </a:solidFill>
              </a:defRPr>
            </a:lvl2pPr>
            <a:lvl3pPr marL="457223" indent="0" algn="ctr">
              <a:buNone/>
              <a:defRPr>
                <a:solidFill>
                  <a:schemeClr val="tx1">
                    <a:tint val="75000"/>
                  </a:schemeClr>
                </a:solidFill>
              </a:defRPr>
            </a:lvl3pPr>
            <a:lvl4pPr marL="685835" indent="0" algn="ctr">
              <a:buNone/>
              <a:defRPr>
                <a:solidFill>
                  <a:schemeClr val="tx1">
                    <a:tint val="75000"/>
                  </a:schemeClr>
                </a:solidFill>
              </a:defRPr>
            </a:lvl4pPr>
            <a:lvl5pPr marL="914446" indent="0" algn="ctr">
              <a:buNone/>
              <a:defRPr>
                <a:solidFill>
                  <a:schemeClr val="tx1">
                    <a:tint val="75000"/>
                  </a:schemeClr>
                </a:solidFill>
              </a:defRPr>
            </a:lvl5pPr>
            <a:lvl6pPr marL="1143057" indent="0" algn="ctr">
              <a:buNone/>
              <a:defRPr>
                <a:solidFill>
                  <a:schemeClr val="tx1">
                    <a:tint val="75000"/>
                  </a:schemeClr>
                </a:solidFill>
              </a:defRPr>
            </a:lvl6pPr>
            <a:lvl7pPr marL="1371668" indent="0" algn="ctr">
              <a:buNone/>
              <a:defRPr>
                <a:solidFill>
                  <a:schemeClr val="tx1">
                    <a:tint val="75000"/>
                  </a:schemeClr>
                </a:solidFill>
              </a:defRPr>
            </a:lvl7pPr>
            <a:lvl8pPr marL="1600280" indent="0" algn="ctr">
              <a:buNone/>
              <a:defRPr>
                <a:solidFill>
                  <a:schemeClr val="tx1">
                    <a:tint val="75000"/>
                  </a:schemeClr>
                </a:solidFill>
              </a:defRPr>
            </a:lvl8pPr>
            <a:lvl9pPr marL="182889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548127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277936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3" y="2937934"/>
            <a:ext cx="5181600" cy="908050"/>
          </a:xfrm>
        </p:spPr>
        <p:txBody>
          <a:bodyPr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481543" y="1937809"/>
            <a:ext cx="5181600" cy="1000125"/>
          </a:xfrm>
        </p:spPr>
        <p:txBody>
          <a:bodyPr anchor="b"/>
          <a:lstStyle>
            <a:lvl1pPr marL="0" indent="0">
              <a:buNone/>
              <a:defRPr sz="1000">
                <a:solidFill>
                  <a:schemeClr val="tx1">
                    <a:tint val="75000"/>
                  </a:schemeClr>
                </a:solidFill>
              </a:defRPr>
            </a:lvl1pPr>
            <a:lvl2pPr marL="228611" indent="0">
              <a:buNone/>
              <a:defRPr sz="900">
                <a:solidFill>
                  <a:schemeClr val="tx1">
                    <a:tint val="75000"/>
                  </a:schemeClr>
                </a:solidFill>
              </a:defRPr>
            </a:lvl2pPr>
            <a:lvl3pPr marL="457223" indent="0">
              <a:buNone/>
              <a:defRPr sz="800">
                <a:solidFill>
                  <a:schemeClr val="tx1">
                    <a:tint val="75000"/>
                  </a:schemeClr>
                </a:solidFill>
              </a:defRPr>
            </a:lvl3pPr>
            <a:lvl4pPr marL="685835" indent="0">
              <a:buNone/>
              <a:defRPr sz="700">
                <a:solidFill>
                  <a:schemeClr val="tx1">
                    <a:tint val="75000"/>
                  </a:schemeClr>
                </a:solidFill>
              </a:defRPr>
            </a:lvl4pPr>
            <a:lvl5pPr marL="914446" indent="0">
              <a:buNone/>
              <a:defRPr sz="700">
                <a:solidFill>
                  <a:schemeClr val="tx1">
                    <a:tint val="75000"/>
                  </a:schemeClr>
                </a:solidFill>
              </a:defRPr>
            </a:lvl5pPr>
            <a:lvl6pPr marL="1143057" indent="0">
              <a:buNone/>
              <a:defRPr sz="700">
                <a:solidFill>
                  <a:schemeClr val="tx1">
                    <a:tint val="75000"/>
                  </a:schemeClr>
                </a:solidFill>
              </a:defRPr>
            </a:lvl6pPr>
            <a:lvl7pPr marL="1371668" indent="0">
              <a:buNone/>
              <a:defRPr sz="700">
                <a:solidFill>
                  <a:schemeClr val="tx1">
                    <a:tint val="75000"/>
                  </a:schemeClr>
                </a:solidFill>
              </a:defRPr>
            </a:lvl7pPr>
            <a:lvl8pPr marL="1600280" indent="0">
              <a:buNone/>
              <a:defRPr sz="700">
                <a:solidFill>
                  <a:schemeClr val="tx1">
                    <a:tint val="75000"/>
                  </a:schemeClr>
                </a:solidFill>
              </a:defRPr>
            </a:lvl8pPr>
            <a:lvl9pPr marL="1828892" indent="0">
              <a:buNone/>
              <a:defRPr sz="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175566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2"/>
            <a:ext cx="26924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2"/>
            <a:ext cx="26924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661186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1" y="1023409"/>
            <a:ext cx="2693459" cy="426508"/>
          </a:xfrm>
        </p:spPr>
        <p:txBody>
          <a:bodyPr anchor="b"/>
          <a:lstStyle>
            <a:lvl1pPr marL="0" indent="0">
              <a:buNone/>
              <a:defRPr sz="1200" b="1"/>
            </a:lvl1pPr>
            <a:lvl2pPr marL="228611" indent="0">
              <a:buNone/>
              <a:defRPr sz="1000" b="1"/>
            </a:lvl2pPr>
            <a:lvl3pPr marL="457223" indent="0">
              <a:buNone/>
              <a:defRPr sz="900" b="1"/>
            </a:lvl3pPr>
            <a:lvl4pPr marL="685835" indent="0">
              <a:buNone/>
              <a:defRPr sz="800" b="1"/>
            </a:lvl4pPr>
            <a:lvl5pPr marL="914446" indent="0">
              <a:buNone/>
              <a:defRPr sz="800" b="1"/>
            </a:lvl5pPr>
            <a:lvl6pPr marL="1143057" indent="0">
              <a:buNone/>
              <a:defRPr sz="800" b="1"/>
            </a:lvl6pPr>
            <a:lvl7pPr marL="1371668" indent="0">
              <a:buNone/>
              <a:defRPr sz="800" b="1"/>
            </a:lvl7pPr>
            <a:lvl8pPr marL="1600280" indent="0">
              <a:buNone/>
              <a:defRPr sz="800" b="1"/>
            </a:lvl8pPr>
            <a:lvl9pPr marL="1828892" indent="0">
              <a:buNone/>
              <a:defRPr sz="800" b="1"/>
            </a:lvl9pPr>
          </a:lstStyle>
          <a:p>
            <a:pPr lvl="0"/>
            <a:r>
              <a:rPr lang="en-US"/>
              <a:t>Click to edit Master text styles</a:t>
            </a:r>
          </a:p>
        </p:txBody>
      </p:sp>
      <p:sp>
        <p:nvSpPr>
          <p:cNvPr id="4" name="Content Placeholder 3"/>
          <p:cNvSpPr>
            <a:spLocks noGrp="1"/>
          </p:cNvSpPr>
          <p:nvPr>
            <p:ph sz="half" idx="2"/>
          </p:nvPr>
        </p:nvSpPr>
        <p:spPr>
          <a:xfrm>
            <a:off x="304801" y="1449917"/>
            <a:ext cx="2693459"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200" b="1"/>
            </a:lvl1pPr>
            <a:lvl2pPr marL="228611" indent="0">
              <a:buNone/>
              <a:defRPr sz="1000" b="1"/>
            </a:lvl2pPr>
            <a:lvl3pPr marL="457223" indent="0">
              <a:buNone/>
              <a:defRPr sz="900" b="1"/>
            </a:lvl3pPr>
            <a:lvl4pPr marL="685835" indent="0">
              <a:buNone/>
              <a:defRPr sz="800" b="1"/>
            </a:lvl4pPr>
            <a:lvl5pPr marL="914446" indent="0">
              <a:buNone/>
              <a:defRPr sz="800" b="1"/>
            </a:lvl5pPr>
            <a:lvl6pPr marL="1143057" indent="0">
              <a:buNone/>
              <a:defRPr sz="800" b="1"/>
            </a:lvl6pPr>
            <a:lvl7pPr marL="1371668" indent="0">
              <a:buNone/>
              <a:defRPr sz="800" b="1"/>
            </a:lvl7pPr>
            <a:lvl8pPr marL="1600280" indent="0">
              <a:buNone/>
              <a:defRPr sz="800" b="1"/>
            </a:lvl8pPr>
            <a:lvl9pPr marL="1828892" indent="0">
              <a:buNone/>
              <a:defRPr sz="800"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039988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446301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303564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182033"/>
            <a:ext cx="2005543" cy="774700"/>
          </a:xfrm>
        </p:spPr>
        <p:txBody>
          <a:bodyPr anchor="b"/>
          <a:lstStyle>
            <a:lvl1pPr algn="l">
              <a:defRPr sz="1000" b="1"/>
            </a:lvl1pPr>
          </a:lstStyle>
          <a:p>
            <a:r>
              <a:rPr lang="en-US"/>
              <a:t>Click to edit Master title style</a:t>
            </a:r>
          </a:p>
        </p:txBody>
      </p:sp>
      <p:sp>
        <p:nvSpPr>
          <p:cNvPr id="3" name="Content Placeholder 2"/>
          <p:cNvSpPr>
            <a:spLocks noGrp="1"/>
          </p:cNvSpPr>
          <p:nvPr>
            <p:ph idx="1"/>
          </p:nvPr>
        </p:nvSpPr>
        <p:spPr>
          <a:xfrm>
            <a:off x="2383369" y="182036"/>
            <a:ext cx="3407833" cy="390207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1" y="956736"/>
            <a:ext cx="2005543" cy="3127375"/>
          </a:xfrm>
        </p:spPr>
        <p:txBody>
          <a:bodyPr/>
          <a:lstStyle>
            <a:lvl1pPr marL="0" indent="0">
              <a:buNone/>
              <a:defRPr sz="700"/>
            </a:lvl1pPr>
            <a:lvl2pPr marL="228611" indent="0">
              <a:buNone/>
              <a:defRPr sz="600"/>
            </a:lvl2pPr>
            <a:lvl3pPr marL="457223" indent="0">
              <a:buNone/>
              <a:defRPr sz="500"/>
            </a:lvl3pPr>
            <a:lvl4pPr marL="685835" indent="0">
              <a:buNone/>
              <a:defRPr sz="450"/>
            </a:lvl4pPr>
            <a:lvl5pPr marL="914446" indent="0">
              <a:buNone/>
              <a:defRPr sz="450"/>
            </a:lvl5pPr>
            <a:lvl6pPr marL="1143057" indent="0">
              <a:buNone/>
              <a:defRPr sz="450"/>
            </a:lvl6pPr>
            <a:lvl7pPr marL="1371668" indent="0">
              <a:buNone/>
              <a:defRPr sz="450"/>
            </a:lvl7pPr>
            <a:lvl8pPr marL="1600280" indent="0">
              <a:buNone/>
              <a:defRPr sz="450"/>
            </a:lvl8pPr>
            <a:lvl9pPr marL="1828892"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591145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2"/>
            <a:ext cx="3657600" cy="377825"/>
          </a:xfrm>
        </p:spPr>
        <p:txBody>
          <a:bodyPr anchor="b"/>
          <a:lstStyle>
            <a:lvl1pPr algn="l">
              <a:defRPr sz="1000"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1600"/>
            </a:lvl1pPr>
            <a:lvl2pPr marL="228611" indent="0">
              <a:buNone/>
              <a:defRPr sz="1400"/>
            </a:lvl2pPr>
            <a:lvl3pPr marL="457223" indent="0">
              <a:buNone/>
              <a:defRPr sz="1200"/>
            </a:lvl3pPr>
            <a:lvl4pPr marL="685835" indent="0">
              <a:buNone/>
              <a:defRPr sz="1000"/>
            </a:lvl4pPr>
            <a:lvl5pPr marL="914446" indent="0">
              <a:buNone/>
              <a:defRPr sz="1000"/>
            </a:lvl5pPr>
            <a:lvl6pPr marL="1143057" indent="0">
              <a:buNone/>
              <a:defRPr sz="1000"/>
            </a:lvl6pPr>
            <a:lvl7pPr marL="1371668" indent="0">
              <a:buNone/>
              <a:defRPr sz="1000"/>
            </a:lvl7pPr>
            <a:lvl8pPr marL="1600280" indent="0">
              <a:buNone/>
              <a:defRPr sz="1000"/>
            </a:lvl8pPr>
            <a:lvl9pPr marL="1828892" indent="0">
              <a:buNone/>
              <a:defRPr sz="1000"/>
            </a:lvl9pPr>
          </a:lstStyle>
          <a:p>
            <a:endParaRPr lang="en-US"/>
          </a:p>
        </p:txBody>
      </p:sp>
      <p:sp>
        <p:nvSpPr>
          <p:cNvPr id="4" name="Text Placeholder 3"/>
          <p:cNvSpPr>
            <a:spLocks noGrp="1"/>
          </p:cNvSpPr>
          <p:nvPr>
            <p:ph type="body" sz="half" idx="2"/>
          </p:nvPr>
        </p:nvSpPr>
        <p:spPr>
          <a:xfrm>
            <a:off x="1194859" y="3578227"/>
            <a:ext cx="3657600" cy="536575"/>
          </a:xfrm>
        </p:spPr>
        <p:txBody>
          <a:bodyPr/>
          <a:lstStyle>
            <a:lvl1pPr marL="0" indent="0">
              <a:buNone/>
              <a:defRPr sz="700"/>
            </a:lvl1pPr>
            <a:lvl2pPr marL="228611" indent="0">
              <a:buNone/>
              <a:defRPr sz="600"/>
            </a:lvl2pPr>
            <a:lvl3pPr marL="457223" indent="0">
              <a:buNone/>
              <a:defRPr sz="500"/>
            </a:lvl3pPr>
            <a:lvl4pPr marL="685835" indent="0">
              <a:buNone/>
              <a:defRPr sz="450"/>
            </a:lvl4pPr>
            <a:lvl5pPr marL="914446" indent="0">
              <a:buNone/>
              <a:defRPr sz="450"/>
            </a:lvl5pPr>
            <a:lvl6pPr marL="1143057" indent="0">
              <a:buNone/>
              <a:defRPr sz="450"/>
            </a:lvl6pPr>
            <a:lvl7pPr marL="1371668" indent="0">
              <a:buNone/>
              <a:defRPr sz="450"/>
            </a:lvl7pPr>
            <a:lvl8pPr marL="1600280" indent="0">
              <a:buNone/>
              <a:defRPr sz="450"/>
            </a:lvl8pPr>
            <a:lvl9pPr marL="1828892"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3430169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863613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1009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609600" y="1600203"/>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3"/>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111742419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Rectangle 4">
            <a:extLst>
              <a:ext uri="{FF2B5EF4-FFF2-40B4-BE49-F238E27FC236}">
                <a16:creationId xmlns:a16="http://schemas.microsoft.com/office/drawing/2014/main" id="{A78232EC-B2A8-C143-ACB0-89F0E5D889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5602903-C5EA-6C4C-B5F2-B86D2D565E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BF1A0A5-AD10-2340-BC89-9D16FDAD00D9}"/>
              </a:ext>
            </a:extLst>
          </p:cNvPr>
          <p:cNvSpPr>
            <a:spLocks noGrp="1" noChangeArrowheads="1"/>
          </p:cNvSpPr>
          <p:nvPr>
            <p:ph type="sldNum" sz="quarter" idx="12"/>
          </p:nvPr>
        </p:nvSpPr>
        <p:spPr>
          <a:ln/>
        </p:spPr>
        <p:txBody>
          <a:bodyPr/>
          <a:lstStyle>
            <a:lvl1pPr>
              <a:defRPr/>
            </a:lvl1pPr>
          </a:lstStyle>
          <a:p>
            <a:fld id="{96A68D32-FF93-834A-B58C-1FA432242830}" type="slidenum">
              <a:rPr lang="en-US" altLang="en-US"/>
              <a:pPr/>
              <a:t>‹#›</a:t>
            </a:fld>
            <a:endParaRPr lang="en-US" altLang="en-US"/>
          </a:p>
        </p:txBody>
      </p:sp>
    </p:spTree>
    <p:extLst>
      <p:ext uri="{BB962C8B-B14F-4D97-AF65-F5344CB8AC3E}">
        <p14:creationId xmlns:p14="http://schemas.microsoft.com/office/powerpoint/2010/main" val="100412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image" Target="../media/image1.jpeg"/><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2/18/26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731381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2/18/26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54634556"/>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2"/>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9"/>
            <a:ext cx="1422400" cy="243417"/>
          </a:xfrm>
          <a:prstGeom prst="rect">
            <a:avLst/>
          </a:prstGeom>
        </p:spPr>
        <p:txBody>
          <a:bodyPr vert="horz" lIns="91440" tIns="45720" rIns="91440" bIns="45720" rtlCol="0" anchor="ctr"/>
          <a:lstStyle>
            <a:lvl1pPr algn="l">
              <a:defRPr sz="600">
                <a:solidFill>
                  <a:schemeClr val="tx1">
                    <a:tint val="75000"/>
                  </a:schemeClr>
                </a:solidFill>
                <a:latin typeface="DM Sans" pitchFamily="2" charset="0"/>
              </a:defRPr>
            </a:lvl1pPr>
          </a:lstStyle>
          <a:p>
            <a:fld id="{1D8BD707-D9CF-40AE-B4C6-C98DA3205C09}" type="datetimeFigureOut">
              <a:rPr lang="en-US" smtClean="0"/>
              <a:pPr/>
              <a:t>2/18/26</a:t>
            </a:fld>
            <a:endParaRPr lang="en-US"/>
          </a:p>
        </p:txBody>
      </p:sp>
      <p:sp>
        <p:nvSpPr>
          <p:cNvPr id="5" name="Footer Placeholder 4"/>
          <p:cNvSpPr>
            <a:spLocks noGrp="1"/>
          </p:cNvSpPr>
          <p:nvPr>
            <p:ph type="ftr" sz="quarter" idx="3"/>
          </p:nvPr>
        </p:nvSpPr>
        <p:spPr>
          <a:xfrm>
            <a:off x="2082800" y="4237569"/>
            <a:ext cx="1930400" cy="243417"/>
          </a:xfrm>
          <a:prstGeom prst="rect">
            <a:avLst/>
          </a:prstGeom>
        </p:spPr>
        <p:txBody>
          <a:bodyPr vert="horz" lIns="91440" tIns="45720" rIns="91440" bIns="45720" rtlCol="0" anchor="ctr"/>
          <a:lstStyle>
            <a:lvl1pPr algn="ctr">
              <a:defRPr sz="6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9"/>
            <a:ext cx="1422400" cy="243417"/>
          </a:xfrm>
          <a:prstGeom prst="rect">
            <a:avLst/>
          </a:prstGeom>
        </p:spPr>
        <p:txBody>
          <a:bodyPr vert="horz" lIns="91440" tIns="45720" rIns="91440" bIns="45720" rtlCol="0" anchor="ctr"/>
          <a:lstStyle>
            <a:lvl1pPr algn="r">
              <a:defRPr sz="6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38449304"/>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Lst>
  <p:txStyles>
    <p:titleStyle>
      <a:lvl1pPr algn="ctr" defTabSz="457223" rtl="0" eaLnBrk="1" latinLnBrk="0" hangingPunct="1">
        <a:spcBef>
          <a:spcPct val="0"/>
        </a:spcBef>
        <a:buNone/>
        <a:defRPr sz="2200" kern="1200">
          <a:solidFill>
            <a:schemeClr val="tx1"/>
          </a:solidFill>
          <a:latin typeface="DM Sans" pitchFamily="2" charset="0"/>
          <a:ea typeface="+mj-ea"/>
          <a:cs typeface="+mj-cs"/>
        </a:defRPr>
      </a:lvl1pPr>
    </p:titleStyle>
    <p:bodyStyle>
      <a:lvl1pPr marL="171458" indent="-171458" algn="l" defTabSz="457223"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1pPr>
      <a:lvl2pPr marL="371494" indent="-142883" algn="l" defTabSz="457223" rtl="0" eaLnBrk="1" latinLnBrk="0" hangingPunct="1">
        <a:spcBef>
          <a:spcPct val="20000"/>
        </a:spcBef>
        <a:buFont typeface="DM Sans" pitchFamily="34" charset="0"/>
        <a:buChar char="–"/>
        <a:defRPr sz="1400" kern="1200">
          <a:solidFill>
            <a:schemeClr val="tx1"/>
          </a:solidFill>
          <a:latin typeface="DM Sans" pitchFamily="2" charset="0"/>
          <a:ea typeface="+mn-ea"/>
          <a:cs typeface="+mn-cs"/>
        </a:defRPr>
      </a:lvl2pPr>
      <a:lvl3pPr marL="571529" indent="-114306" algn="l" defTabSz="457223" rtl="0" eaLnBrk="1" latinLnBrk="0" hangingPunct="1">
        <a:spcBef>
          <a:spcPct val="20000"/>
        </a:spcBef>
        <a:buFont typeface="DM Sans" pitchFamily="34" charset="0"/>
        <a:buChar char="•"/>
        <a:defRPr sz="1200" kern="1200">
          <a:solidFill>
            <a:schemeClr val="tx1"/>
          </a:solidFill>
          <a:latin typeface="DM Sans" pitchFamily="2" charset="0"/>
          <a:ea typeface="+mn-ea"/>
          <a:cs typeface="+mn-cs"/>
        </a:defRPr>
      </a:lvl3pPr>
      <a:lvl4pPr marL="800140" indent="-114306" algn="l" defTabSz="457223" rtl="0" eaLnBrk="1" latinLnBrk="0" hangingPunct="1">
        <a:spcBef>
          <a:spcPct val="20000"/>
        </a:spcBef>
        <a:buFont typeface="DM Sans" pitchFamily="34" charset="0"/>
        <a:buChar char="–"/>
        <a:defRPr sz="1000" kern="1200">
          <a:solidFill>
            <a:schemeClr val="tx1"/>
          </a:solidFill>
          <a:latin typeface="DM Sans" pitchFamily="2" charset="0"/>
          <a:ea typeface="+mn-ea"/>
          <a:cs typeface="+mn-cs"/>
        </a:defRPr>
      </a:lvl4pPr>
      <a:lvl5pPr marL="1028752" indent="-114306" algn="l" defTabSz="457223" rtl="0" eaLnBrk="1" latinLnBrk="0" hangingPunct="1">
        <a:spcBef>
          <a:spcPct val="20000"/>
        </a:spcBef>
        <a:buFont typeface="DM Sans" pitchFamily="34" charset="0"/>
        <a:buChar char="»"/>
        <a:defRPr sz="1000" kern="1200">
          <a:solidFill>
            <a:schemeClr val="tx1"/>
          </a:solidFill>
          <a:latin typeface="DM Sans" pitchFamily="2" charset="0"/>
          <a:ea typeface="+mn-ea"/>
          <a:cs typeface="+mn-cs"/>
        </a:defRPr>
      </a:lvl5pPr>
      <a:lvl6pPr marL="1257363"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6pPr>
      <a:lvl7pPr marL="1485974"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7pPr>
      <a:lvl8pPr marL="1714586"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8pPr>
      <a:lvl9pPr marL="1943198"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9pPr>
    </p:bodyStyle>
    <p:otherStyle>
      <a:defPPr>
        <a:defRPr lang="en-US"/>
      </a:defPPr>
      <a:lvl1pPr marL="0" algn="l" defTabSz="457223" rtl="0" eaLnBrk="1" latinLnBrk="0" hangingPunct="1">
        <a:defRPr sz="900" kern="1200">
          <a:solidFill>
            <a:schemeClr val="tx1"/>
          </a:solidFill>
          <a:latin typeface="+mn-lt"/>
          <a:ea typeface="+mn-ea"/>
          <a:cs typeface="+mn-cs"/>
        </a:defRPr>
      </a:lvl1pPr>
      <a:lvl2pPr marL="228611" algn="l" defTabSz="457223" rtl="0" eaLnBrk="1" latinLnBrk="0" hangingPunct="1">
        <a:defRPr sz="900" kern="1200">
          <a:solidFill>
            <a:schemeClr val="tx1"/>
          </a:solidFill>
          <a:latin typeface="+mn-lt"/>
          <a:ea typeface="+mn-ea"/>
          <a:cs typeface="+mn-cs"/>
        </a:defRPr>
      </a:lvl2pPr>
      <a:lvl3pPr marL="457223" algn="l" defTabSz="457223" rtl="0" eaLnBrk="1" latinLnBrk="0" hangingPunct="1">
        <a:defRPr sz="900" kern="1200">
          <a:solidFill>
            <a:schemeClr val="tx1"/>
          </a:solidFill>
          <a:latin typeface="+mn-lt"/>
          <a:ea typeface="+mn-ea"/>
          <a:cs typeface="+mn-cs"/>
        </a:defRPr>
      </a:lvl3pPr>
      <a:lvl4pPr marL="685835" algn="l" defTabSz="457223" rtl="0" eaLnBrk="1" latinLnBrk="0" hangingPunct="1">
        <a:defRPr sz="900" kern="1200">
          <a:solidFill>
            <a:schemeClr val="tx1"/>
          </a:solidFill>
          <a:latin typeface="+mn-lt"/>
          <a:ea typeface="+mn-ea"/>
          <a:cs typeface="+mn-cs"/>
        </a:defRPr>
      </a:lvl4pPr>
      <a:lvl5pPr marL="914446" algn="l" defTabSz="457223" rtl="0" eaLnBrk="1" latinLnBrk="0" hangingPunct="1">
        <a:defRPr sz="900" kern="1200">
          <a:solidFill>
            <a:schemeClr val="tx1"/>
          </a:solidFill>
          <a:latin typeface="+mn-lt"/>
          <a:ea typeface="+mn-ea"/>
          <a:cs typeface="+mn-cs"/>
        </a:defRPr>
      </a:lvl5pPr>
      <a:lvl6pPr marL="1143057" algn="l" defTabSz="457223" rtl="0" eaLnBrk="1" latinLnBrk="0" hangingPunct="1">
        <a:defRPr sz="900" kern="1200">
          <a:solidFill>
            <a:schemeClr val="tx1"/>
          </a:solidFill>
          <a:latin typeface="+mn-lt"/>
          <a:ea typeface="+mn-ea"/>
          <a:cs typeface="+mn-cs"/>
        </a:defRPr>
      </a:lvl6pPr>
      <a:lvl7pPr marL="1371668" algn="l" defTabSz="457223" rtl="0" eaLnBrk="1" latinLnBrk="0" hangingPunct="1">
        <a:defRPr sz="900" kern="1200">
          <a:solidFill>
            <a:schemeClr val="tx1"/>
          </a:solidFill>
          <a:latin typeface="+mn-lt"/>
          <a:ea typeface="+mn-ea"/>
          <a:cs typeface="+mn-cs"/>
        </a:defRPr>
      </a:lvl7pPr>
      <a:lvl8pPr marL="1600280" algn="l" defTabSz="457223" rtl="0" eaLnBrk="1" latinLnBrk="0" hangingPunct="1">
        <a:defRPr sz="900" kern="1200">
          <a:solidFill>
            <a:schemeClr val="tx1"/>
          </a:solidFill>
          <a:latin typeface="+mn-lt"/>
          <a:ea typeface="+mn-ea"/>
          <a:cs typeface="+mn-cs"/>
        </a:defRPr>
      </a:lvl8pPr>
      <a:lvl9pPr marL="1828892" algn="l" defTabSz="457223"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1.xml"/><Relationship Id="rId5"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1.xml"/><Relationship Id="rId5" Type="http://schemas.openxmlformats.org/officeDocument/2006/relationships/image" Target="../media/image3.pn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1.xml"/><Relationship Id="rId5" Type="http://schemas.openxmlformats.org/officeDocument/2006/relationships/image" Target="../media/image8.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tags" Target="../tags/tag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3.png"/><Relationship Id="rId9" Type="http://schemas.microsoft.com/office/2007/relationships/diagramDrawing" Target="../diagrams/drawing1.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8.e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oleObject" Target="../embeddings/oleObject2.bin"/><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3.bin"/><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3.bin"/><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4.xml"/><Relationship Id="rId1" Type="http://schemas.openxmlformats.org/officeDocument/2006/relationships/tags" Target="../tags/tag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2.xml"/><Relationship Id="rId7" Type="http://schemas.openxmlformats.org/officeDocument/2006/relationships/image" Target="../media/image38.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0.jpe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41.jpeg"/></Relationships>
</file>

<file path=ppt/slides/_rels/slide4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3.xml"/><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32.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32.xml"/><Relationship Id="rId4" Type="http://schemas.openxmlformats.org/officeDocument/2006/relationships/image" Target="../media/image42.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32.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32.xml"/><Relationship Id="rId5" Type="http://schemas.openxmlformats.org/officeDocument/2006/relationships/image" Target="../media/image44.jpg"/><Relationship Id="rId4" Type="http://schemas.openxmlformats.org/officeDocument/2006/relationships/image" Target="../media/image43.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32.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32.xml"/><Relationship Id="rId4" Type="http://schemas.openxmlformats.org/officeDocument/2006/relationships/image" Target="../media/image32.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32.xml"/><Relationship Id="rId4" Type="http://schemas.openxmlformats.org/officeDocument/2006/relationships/image" Target="../media/image510.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32.xml"/><Relationship Id="rId4" Type="http://schemas.openxmlformats.org/officeDocument/2006/relationships/image" Target="../media/image530.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32.xml"/><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914400" y="3429000"/>
            <a:ext cx="9842923" cy="917046"/>
          </a:xfrm>
          <a:prstGeom prst="rect">
            <a:avLst/>
          </a:prstGeom>
        </p:spPr>
        <p:txBody>
          <a:bodyPr wrap="square" lIns="0" tIns="0" rIns="0" bIns="0" rtlCol="0" anchor="t">
            <a:spAutoFit/>
          </a:bodyPr>
          <a:lstStyle/>
          <a:p>
            <a:pPr defTabSz="609630">
              <a:lnSpc>
                <a:spcPts val="7333"/>
              </a:lnSpc>
              <a:defRPr/>
            </a:pPr>
            <a:r>
              <a:rPr lang="en-GB" altLang="en-US" sz="5867" b="1" dirty="0">
                <a:solidFill>
                  <a:prstClr val="white"/>
                </a:solidFill>
                <a:latin typeface="DM Sans"/>
              </a:rPr>
              <a:t>Global Climate Change</a:t>
            </a:r>
            <a:endParaRPr lang="en-US" sz="5866" b="1" dirty="0">
              <a:solidFill>
                <a:prstClr val="white"/>
              </a:solidFill>
              <a:latin typeface="DM Sans" pitchFamily="2" charset="0"/>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914400" y="4170916"/>
            <a:ext cx="8207298" cy="1716432"/>
          </a:xfrm>
          <a:prstGeom prst="rect">
            <a:avLst/>
          </a:prstGeom>
        </p:spPr>
        <p:txBody>
          <a:bodyPr wrap="square" lIns="0" tIns="0" rIns="0" bIns="0" rtlCol="0" anchor="t">
            <a:spAutoFit/>
          </a:bodyPr>
          <a:lstStyle/>
          <a:p>
            <a:pPr defTabSz="609630">
              <a:lnSpc>
                <a:spcPts val="7333"/>
              </a:lnSpc>
              <a:defRPr/>
            </a:pPr>
            <a:r>
              <a:rPr lang="en-US" sz="2133" b="1" dirty="0">
                <a:solidFill>
                  <a:srgbClr val="FAB700"/>
                </a:solidFill>
                <a:latin typeface="DM Sans" pitchFamily="2" charset="0"/>
              </a:rPr>
              <a:t>Week 3 - Radiation and the Greenhouse Effect</a:t>
            </a:r>
          </a:p>
          <a:p>
            <a:pPr defTabSz="609630">
              <a:lnSpc>
                <a:spcPts val="7333"/>
              </a:lnSpc>
              <a:defRPr/>
            </a:pPr>
            <a:r>
              <a:rPr lang="en-US" sz="2133" b="1" dirty="0">
                <a:solidFill>
                  <a:srgbClr val="FAB700"/>
                </a:solidFill>
                <a:latin typeface="DM Sans" pitchFamily="2" charset="0"/>
              </a:rPr>
              <a:t>Dr Thomas </a:t>
            </a:r>
            <a:r>
              <a:rPr lang="en-US" sz="2133" b="1" dirty="0" err="1">
                <a:solidFill>
                  <a:srgbClr val="FAB700"/>
                </a:solidFill>
                <a:latin typeface="DM Sans" pitchFamily="2" charset="0"/>
              </a:rPr>
              <a:t>Bannan</a:t>
            </a:r>
            <a:r>
              <a:rPr lang="en-US" sz="2133" b="1" dirty="0">
                <a:solidFill>
                  <a:srgbClr val="FAB700"/>
                </a:solidFill>
                <a:latin typeface="DM Sans" pitchFamily="2" charset="0"/>
              </a:rPr>
              <a:t> </a:t>
            </a:r>
          </a:p>
        </p:txBody>
      </p:sp>
      <p:sp>
        <p:nvSpPr>
          <p:cNvPr id="4" name="TextBox 3">
            <a:extLst>
              <a:ext uri="{FF2B5EF4-FFF2-40B4-BE49-F238E27FC236}">
                <a16:creationId xmlns:a16="http://schemas.microsoft.com/office/drawing/2014/main" id="{5889A0A8-15D6-C5A0-517B-A5C87EE4AF42}"/>
              </a:ext>
            </a:extLst>
          </p:cNvPr>
          <p:cNvSpPr txBox="1"/>
          <p:nvPr/>
        </p:nvSpPr>
        <p:spPr>
          <a:xfrm>
            <a:off x="845575" y="5983341"/>
            <a:ext cx="6031831" cy="338554"/>
          </a:xfrm>
          <a:prstGeom prst="rect">
            <a:avLst/>
          </a:prstGeom>
          <a:noFill/>
        </p:spPr>
        <p:txBody>
          <a:bodyPr wrap="square" rtlCol="0">
            <a:spAutoFit/>
          </a:bodyPr>
          <a:lstStyle/>
          <a:p>
            <a:pPr defTabSz="609630">
              <a:defRPr/>
            </a:pPr>
            <a:r>
              <a:rPr lang="en-US" sz="1600" dirty="0" err="1">
                <a:solidFill>
                  <a:prstClr val="white"/>
                </a:solidFill>
                <a:latin typeface="DM Sans"/>
              </a:rPr>
              <a:t>Thomas.Bannan@Manchester.ac.uk</a:t>
            </a:r>
            <a:endParaRPr lang="en-US" sz="1600" dirty="0">
              <a:solidFill>
                <a:prstClr val="white"/>
              </a:solidFill>
              <a:latin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Global Climate Change</a:t>
            </a:r>
          </a:p>
        </p:txBody>
      </p:sp>
      <p:sp>
        <p:nvSpPr>
          <p:cNvPr id="2" name="TextBox 1">
            <a:extLst>
              <a:ext uri="{FF2B5EF4-FFF2-40B4-BE49-F238E27FC236}">
                <a16:creationId xmlns:a16="http://schemas.microsoft.com/office/drawing/2014/main" id="{80BD60C8-019A-F807-75A8-73ADCA403375}"/>
              </a:ext>
            </a:extLst>
          </p:cNvPr>
          <p:cNvSpPr txBox="1"/>
          <p:nvPr/>
        </p:nvSpPr>
        <p:spPr>
          <a:xfrm>
            <a:off x="300256" y="1438479"/>
            <a:ext cx="11387489" cy="4893647"/>
          </a:xfrm>
          <a:prstGeom prst="rect">
            <a:avLst/>
          </a:prstGeom>
          <a:noFill/>
        </p:spPr>
        <p:txBody>
          <a:bodyPr wrap="square">
            <a:spAutoFit/>
          </a:bodyPr>
          <a:lstStyle/>
          <a:p>
            <a:pPr defTabSz="406440">
              <a:defRPr/>
            </a:pP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Week 1 – </a:t>
            </a:r>
            <a:r>
              <a:rPr lang="en-GB" sz="2400" dirty="0">
                <a:solidFill>
                  <a:schemeClr val="bg1">
                    <a:lumMod val="65000"/>
                  </a:schemeClr>
                </a:solidFill>
                <a:latin typeface="Calibri" panose="020F0502020204030204" pitchFamily="34" charset="0"/>
                <a:cs typeface="Calibri" panose="020F0502020204030204" pitchFamily="34" charset="0"/>
              </a:rPr>
              <a:t>Introduction to climate change and its impacts </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(5</a:t>
            </a:r>
            <a:r>
              <a:rPr lang="en-GB" sz="2400" kern="100" baseline="300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Feb)</a:t>
            </a:r>
          </a:p>
          <a:p>
            <a:pPr defTabSz="406440">
              <a:defRPr/>
            </a:pP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Week 2 – </a:t>
            </a:r>
            <a:r>
              <a:rPr lang="en-GB" sz="2400" dirty="0">
                <a:solidFill>
                  <a:schemeClr val="bg1">
                    <a:lumMod val="65000"/>
                  </a:schemeClr>
                </a:solidFill>
                <a:latin typeface="Calibri" panose="020F0502020204030204" pitchFamily="34" charset="0"/>
                <a:cs typeface="Calibri" panose="020F0502020204030204" pitchFamily="34" charset="0"/>
              </a:rPr>
              <a:t>Natural climate variability</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(12</a:t>
            </a:r>
            <a:r>
              <a:rPr lang="en-GB" sz="2400" kern="100" baseline="300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Feb)</a:t>
            </a:r>
            <a:endParaRPr lang="en-GB" sz="2400" dirty="0">
              <a:solidFill>
                <a:schemeClr val="bg1">
                  <a:lumMod val="65000"/>
                </a:schemeClr>
              </a:solidFill>
              <a:latin typeface="Calibri" panose="020F0502020204030204" pitchFamily="34" charset="0"/>
              <a:cs typeface="Calibri" panose="020F0502020204030204" pitchFamily="34" charset="0"/>
            </a:endParaRPr>
          </a:p>
          <a:p>
            <a:pPr defTabSz="406440">
              <a:defRPr/>
            </a:pPr>
            <a:endParaRPr lang="en-GB" sz="2400" dirty="0">
              <a:solidFill>
                <a:prstClr val="black"/>
              </a:solidFill>
              <a:latin typeface="Calibri" panose="020F0502020204030204" pitchFamily="34" charset="0"/>
              <a:cs typeface="Calibri" panose="020F0502020204030204" pitchFamily="34" charset="0"/>
            </a:endParaRPr>
          </a:p>
          <a:p>
            <a:pPr defTabSz="406440">
              <a:defRPr/>
            </a:pPr>
            <a:r>
              <a:rPr lang="en-GB" sz="2400" b="1" kern="100" dirty="0">
                <a:solidFill>
                  <a:srgbClr val="FF0000"/>
                </a:solidFill>
                <a:latin typeface="Calibri" panose="020F0502020204030204" pitchFamily="34" charset="0"/>
                <a:ea typeface="Calibri" panose="020F0502020204030204" pitchFamily="34" charset="0"/>
                <a:cs typeface="Calibri" panose="020F0502020204030204" pitchFamily="34" charset="0"/>
              </a:rPr>
              <a:t>Week 3 –</a:t>
            </a:r>
            <a:r>
              <a:rPr lang="en-GB" sz="2400" b="1" dirty="0">
                <a:solidFill>
                  <a:srgbClr val="FF0000"/>
                </a:solidFill>
                <a:latin typeface="Calibri" panose="020F0502020204030204" pitchFamily="34" charset="0"/>
                <a:cs typeface="Calibri" panose="020F0502020204030204" pitchFamily="34" charset="0"/>
              </a:rPr>
              <a:t>Radiation and the Greenhouse Effect </a:t>
            </a:r>
            <a:r>
              <a:rPr lang="en-GB" sz="2400" b="1" kern="100" dirty="0">
                <a:solidFill>
                  <a:srgbClr val="FF0000"/>
                </a:solidFill>
                <a:latin typeface="Calibri" panose="020F0502020204030204" pitchFamily="34" charset="0"/>
                <a:ea typeface="Calibri" panose="020F0502020204030204" pitchFamily="34" charset="0"/>
                <a:cs typeface="Calibri" panose="020F0502020204030204" pitchFamily="34" charset="0"/>
              </a:rPr>
              <a:t>(19</a:t>
            </a:r>
            <a:r>
              <a:rPr lang="en-GB" sz="2400" b="1" kern="100" baseline="30000" dirty="0">
                <a:solidFill>
                  <a:srgbClr val="FF0000"/>
                </a:solidFill>
                <a:latin typeface="Calibri" panose="020F0502020204030204" pitchFamily="34" charset="0"/>
                <a:ea typeface="Calibri" panose="020F0502020204030204" pitchFamily="34" charset="0"/>
                <a:cs typeface="Calibri" panose="020F0502020204030204" pitchFamily="34" charset="0"/>
              </a:rPr>
              <a:t>th</a:t>
            </a:r>
            <a:r>
              <a:rPr lang="en-GB" sz="2400" b="1" kern="100" dirty="0">
                <a:solidFill>
                  <a:srgbClr val="FF0000"/>
                </a:solidFill>
                <a:latin typeface="Calibri" panose="020F0502020204030204" pitchFamily="34" charset="0"/>
                <a:ea typeface="Calibri" panose="020F0502020204030204" pitchFamily="34" charset="0"/>
                <a:cs typeface="Calibri" panose="020F0502020204030204" pitchFamily="34" charset="0"/>
              </a:rPr>
              <a:t> Feb)</a:t>
            </a:r>
            <a:endParaRPr lang="en-GB" sz="2400" b="1" dirty="0">
              <a:solidFill>
                <a:srgbClr val="FF0000"/>
              </a:solidFill>
              <a:latin typeface="Calibri" panose="020F0502020204030204" pitchFamily="34" charset="0"/>
              <a:cs typeface="Calibri" panose="020F0502020204030204" pitchFamily="34" charset="0"/>
            </a:endParaRPr>
          </a:p>
          <a:p>
            <a:pPr defTabSz="406440">
              <a:defRPr/>
            </a:pPr>
            <a:endPar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defTabSz="406440">
              <a:defRPr/>
            </a:pPr>
            <a:r>
              <a:rPr lang="en-GB" sz="2400" kern="100" dirty="0">
                <a:latin typeface="Calibri" panose="020F0502020204030204" pitchFamily="34" charset="0"/>
                <a:ea typeface="Calibri" panose="020F0502020204030204" pitchFamily="34" charset="0"/>
                <a:cs typeface="Calibri" panose="020F0502020204030204" pitchFamily="34" charset="0"/>
              </a:rPr>
              <a:t>Week 4 – A</a:t>
            </a:r>
            <a:r>
              <a:rPr lang="en-GB" sz="2400" dirty="0">
                <a:latin typeface="Calibri" panose="020F0502020204030204" pitchFamily="34" charset="0"/>
                <a:cs typeface="Calibri" panose="020F0502020204030204" pitchFamily="34" charset="0"/>
              </a:rPr>
              <a:t>nthropogenic Impacts </a:t>
            </a:r>
            <a:r>
              <a:rPr lang="en-GB" sz="2400" kern="100" dirty="0">
                <a:latin typeface="Calibri" panose="020F0502020204030204" pitchFamily="34" charset="0"/>
                <a:ea typeface="Calibri" panose="020F0502020204030204" pitchFamily="34" charset="0"/>
                <a:cs typeface="Calibri" panose="020F0502020204030204" pitchFamily="34" charset="0"/>
              </a:rPr>
              <a:t>(26</a:t>
            </a:r>
            <a:r>
              <a:rPr lang="en-GB" sz="2400" kern="100" baseline="30000" dirty="0">
                <a:latin typeface="Calibri" panose="020F0502020204030204" pitchFamily="34" charset="0"/>
                <a:ea typeface="Calibri" panose="020F0502020204030204" pitchFamily="34" charset="0"/>
                <a:cs typeface="Calibri" panose="020F0502020204030204" pitchFamily="34" charset="0"/>
              </a:rPr>
              <a:t>th</a:t>
            </a:r>
            <a:r>
              <a:rPr lang="en-GB" sz="2400" kern="100" dirty="0">
                <a:latin typeface="Calibri" panose="020F0502020204030204" pitchFamily="34" charset="0"/>
                <a:ea typeface="Calibri" panose="020F0502020204030204" pitchFamily="34" charset="0"/>
                <a:cs typeface="Calibri" panose="020F0502020204030204" pitchFamily="34" charset="0"/>
              </a:rPr>
              <a:t> Feb)</a:t>
            </a:r>
          </a:p>
          <a:p>
            <a:pPr defTabSz="406440">
              <a:defRPr/>
            </a:pPr>
            <a:r>
              <a:rPr lang="en-GB" sz="2400" kern="100" dirty="0">
                <a:latin typeface="Calibri" panose="020F0502020204030204" pitchFamily="34" charset="0"/>
                <a:ea typeface="Calibri" panose="020F0502020204030204" pitchFamily="34" charset="0"/>
                <a:cs typeface="Calibri" panose="020F0502020204030204" pitchFamily="34" charset="0"/>
              </a:rPr>
              <a:t>Week 5 – </a:t>
            </a:r>
            <a:r>
              <a:rPr lang="en-GB" sz="2400" dirty="0">
                <a:latin typeface="Calibri" panose="020F0502020204030204" pitchFamily="34" charset="0"/>
                <a:cs typeface="Calibri" panose="020F0502020204030204" pitchFamily="34" charset="0"/>
              </a:rPr>
              <a:t>The Evidence Base for Climate Change </a:t>
            </a:r>
            <a:r>
              <a:rPr lang="en-GB" sz="2400" kern="100" dirty="0">
                <a:latin typeface="Calibri" panose="020F0502020204030204" pitchFamily="34" charset="0"/>
                <a:ea typeface="Calibri" panose="020F0502020204030204" pitchFamily="34" charset="0"/>
                <a:cs typeface="Calibri" panose="020F0502020204030204" pitchFamily="34" charset="0"/>
              </a:rPr>
              <a:t>(5</a:t>
            </a:r>
            <a:r>
              <a:rPr lang="en-GB" sz="2400" kern="100" baseline="30000" dirty="0">
                <a:latin typeface="Calibri" panose="020F0502020204030204" pitchFamily="34" charset="0"/>
                <a:ea typeface="Calibri" panose="020F0502020204030204" pitchFamily="34" charset="0"/>
                <a:cs typeface="Calibri" panose="020F0502020204030204" pitchFamily="34" charset="0"/>
              </a:rPr>
              <a:t>th</a:t>
            </a:r>
            <a:r>
              <a:rPr lang="en-GB" sz="2400" kern="100" dirty="0">
                <a:latin typeface="Calibri" panose="020F0502020204030204" pitchFamily="34" charset="0"/>
                <a:ea typeface="Calibri" panose="020F0502020204030204" pitchFamily="34" charset="0"/>
                <a:cs typeface="Calibri" panose="020F0502020204030204" pitchFamily="34" charset="0"/>
              </a:rPr>
              <a:t> March )</a:t>
            </a:r>
          </a:p>
          <a:p>
            <a:pPr defTabSz="406440">
              <a:defRPr/>
            </a:pPr>
            <a:r>
              <a:rPr lang="en-GB" sz="2400" kern="100" dirty="0">
                <a:latin typeface="Calibri" panose="020F0502020204030204" pitchFamily="34" charset="0"/>
                <a:ea typeface="Calibri" panose="020F0502020204030204" pitchFamily="34" charset="0"/>
                <a:cs typeface="Calibri" panose="020F0502020204030204" pitchFamily="34" charset="0"/>
              </a:rPr>
              <a:t>Week 6 – Mid Unit Test (10</a:t>
            </a:r>
            <a:r>
              <a:rPr lang="en-GB" sz="2400" kern="100" baseline="30000" dirty="0">
                <a:latin typeface="Calibri" panose="020F0502020204030204" pitchFamily="34" charset="0"/>
                <a:ea typeface="Calibri" panose="020F0502020204030204" pitchFamily="34" charset="0"/>
                <a:cs typeface="Calibri" panose="020F0502020204030204" pitchFamily="34" charset="0"/>
              </a:rPr>
              <a:t>th</a:t>
            </a:r>
            <a:r>
              <a:rPr lang="en-GB" sz="2400" kern="100" dirty="0">
                <a:latin typeface="Calibri" panose="020F0502020204030204" pitchFamily="34" charset="0"/>
                <a:ea typeface="Calibri" panose="020F0502020204030204" pitchFamily="34" charset="0"/>
                <a:cs typeface="Calibri" panose="020F0502020204030204" pitchFamily="34" charset="0"/>
              </a:rPr>
              <a:t> March) </a:t>
            </a: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7 – </a:t>
            </a:r>
            <a:r>
              <a:rPr lang="en-GB" sz="2400" dirty="0">
                <a:solidFill>
                  <a:srgbClr val="212121"/>
                </a:solidFill>
                <a:latin typeface="Calibri" panose="020F0502020204030204" pitchFamily="34" charset="0"/>
                <a:cs typeface="Calibri" panose="020F0502020204030204" pitchFamily="34" charset="0"/>
              </a:rPr>
              <a:t>Climate Models  </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(19</a:t>
            </a:r>
            <a:r>
              <a:rPr lang="en-GB" sz="24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March</a:t>
            </a: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8 – Climate </a:t>
            </a:r>
            <a:r>
              <a:rPr lang="en-GB" sz="2400" dirty="0">
                <a:solidFill>
                  <a:srgbClr val="212121"/>
                </a:solidFill>
                <a:latin typeface="Calibri" panose="020F0502020204030204" pitchFamily="34" charset="0"/>
                <a:cs typeface="Calibri" panose="020F0502020204030204" pitchFamily="34" charset="0"/>
              </a:rPr>
              <a:t>change adaptation </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(26</a:t>
            </a:r>
            <a:r>
              <a:rPr lang="en-GB" sz="24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March)</a:t>
            </a: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9 – </a:t>
            </a:r>
            <a:r>
              <a:rPr lang="en-GB" sz="2400" dirty="0">
                <a:solidFill>
                  <a:srgbClr val="212121"/>
                </a:solidFill>
                <a:latin typeface="Calibri" panose="020F0502020204030204" pitchFamily="34" charset="0"/>
                <a:cs typeface="Calibri" panose="020F0502020204030204" pitchFamily="34" charset="0"/>
              </a:rPr>
              <a:t>Effects of Climate Change: Case Studies </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(23</a:t>
            </a:r>
            <a:r>
              <a:rPr lang="en-GB" sz="24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rd</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April)</a:t>
            </a: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10 – </a:t>
            </a:r>
            <a:r>
              <a:rPr lang="en-GB" sz="2400" dirty="0">
                <a:solidFill>
                  <a:srgbClr val="212121"/>
                </a:solidFill>
                <a:latin typeface="Calibri" panose="020F0502020204030204" pitchFamily="34" charset="0"/>
                <a:cs typeface="Calibri" panose="020F0502020204030204" pitchFamily="34" charset="0"/>
              </a:rPr>
              <a:t>Climate change mitigation </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(30</a:t>
            </a:r>
            <a:r>
              <a:rPr lang="en-GB" sz="24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April)</a:t>
            </a: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11 – Revision Lecture (7</a:t>
            </a:r>
            <a:r>
              <a:rPr lang="en-GB" sz="24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May)</a:t>
            </a:r>
          </a:p>
        </p:txBody>
      </p:sp>
      <p:pic>
        <p:nvPicPr>
          <p:cNvPr id="7" name="Picture 6" descr="A qr code with a black and white background&#10;&#10;AI-generated content may be incorrect.">
            <a:extLst>
              <a:ext uri="{FF2B5EF4-FFF2-40B4-BE49-F238E27FC236}">
                <a16:creationId xmlns:a16="http://schemas.microsoft.com/office/drawing/2014/main" id="{231E4FB2-7448-DD77-D299-AA1DBE0E87B4}"/>
              </a:ext>
            </a:extLst>
          </p:cNvPr>
          <p:cNvPicPr>
            <a:picLocks noChangeAspect="1"/>
          </p:cNvPicPr>
          <p:nvPr/>
        </p:nvPicPr>
        <p:blipFill>
          <a:blip r:embed="rId5"/>
          <a:stretch>
            <a:fillRect/>
          </a:stretch>
        </p:blipFill>
        <p:spPr>
          <a:xfrm>
            <a:off x="9051132" y="3429000"/>
            <a:ext cx="2801007" cy="2801007"/>
          </a:xfrm>
          <a:prstGeom prst="rect">
            <a:avLst/>
          </a:prstGeom>
        </p:spPr>
      </p:pic>
      <p:sp>
        <p:nvSpPr>
          <p:cNvPr id="8" name="TextBox 7">
            <a:extLst>
              <a:ext uri="{FF2B5EF4-FFF2-40B4-BE49-F238E27FC236}">
                <a16:creationId xmlns:a16="http://schemas.microsoft.com/office/drawing/2014/main" id="{C62A83E2-7AEA-C2B2-277C-ECAAC155EE45}"/>
              </a:ext>
            </a:extLst>
          </p:cNvPr>
          <p:cNvSpPr txBox="1"/>
          <p:nvPr/>
        </p:nvSpPr>
        <p:spPr>
          <a:xfrm>
            <a:off x="9051133" y="6411310"/>
            <a:ext cx="280100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dirty="0"/>
              <a:t>Comments/Questions</a:t>
            </a:r>
          </a:p>
        </p:txBody>
      </p:sp>
    </p:spTree>
    <p:extLst>
      <p:ext uri="{BB962C8B-B14F-4D97-AF65-F5344CB8AC3E}">
        <p14:creationId xmlns:p14="http://schemas.microsoft.com/office/powerpoint/2010/main" val="1796596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4" name="TextBox 14"/>
          <p:cNvSpPr txBox="1"/>
          <p:nvPr/>
        </p:nvSpPr>
        <p:spPr>
          <a:xfrm>
            <a:off x="660400" y="1447800"/>
            <a:ext cx="5329537" cy="589905"/>
          </a:xfrm>
          <a:prstGeom prst="rect">
            <a:avLst/>
          </a:prstGeom>
        </p:spPr>
        <p:txBody>
          <a:bodyPr lIns="0" tIns="0" rIns="0" bIns="0" rtlCol="0" anchor="t">
            <a:spAutoFit/>
          </a:bodyPr>
          <a:lstStyle/>
          <a:p>
            <a:pPr defTabSz="609630">
              <a:lnSpc>
                <a:spcPts val="4573"/>
              </a:lnSpc>
              <a:defRPr/>
            </a:pPr>
            <a:r>
              <a:rPr lang="en-US" sz="4000" i="1" spc="-275" dirty="0">
                <a:solidFill>
                  <a:srgbClr val="46245A"/>
                </a:solidFill>
                <a:latin typeface="DM Sans Bold"/>
              </a:rPr>
              <a:t>Today’s class</a:t>
            </a:r>
          </a:p>
        </p:txBody>
      </p:sp>
      <p:sp>
        <p:nvSpPr>
          <p:cNvPr id="3" name="Freeform 13">
            <a:extLst>
              <a:ext uri="{FF2B5EF4-FFF2-40B4-BE49-F238E27FC236}">
                <a16:creationId xmlns:a16="http://schemas.microsoft.com/office/drawing/2014/main" id="{110E8D5E-37F5-D004-AA80-8A76901C57F9}"/>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2" name="TextBox 15">
            <a:extLst>
              <a:ext uri="{FF2B5EF4-FFF2-40B4-BE49-F238E27FC236}">
                <a16:creationId xmlns:a16="http://schemas.microsoft.com/office/drawing/2014/main" id="{C66361C3-1D76-1661-44D6-DBA0EA683ABC}"/>
              </a:ext>
            </a:extLst>
          </p:cNvPr>
          <p:cNvSpPr txBox="1"/>
          <p:nvPr/>
        </p:nvSpPr>
        <p:spPr>
          <a:xfrm>
            <a:off x="660400" y="3429000"/>
            <a:ext cx="5660941" cy="1412310"/>
          </a:xfrm>
          <a:prstGeom prst="rect">
            <a:avLst/>
          </a:prstGeom>
        </p:spPr>
        <p:txBody>
          <a:bodyPr wrap="square" lIns="0" tIns="0" rIns="0" bIns="0" rtlCol="0" anchor="t">
            <a:spAutoFit/>
          </a:bodyPr>
          <a:lstStyle/>
          <a:p>
            <a:pPr marL="119674" lvl="1" defTabSz="406440">
              <a:lnSpc>
                <a:spcPts val="2222"/>
              </a:lnSpc>
              <a:defRPr/>
            </a:pPr>
            <a:r>
              <a:rPr lang="en-US" sz="2133" b="1" spc="22" dirty="0">
                <a:solidFill>
                  <a:srgbClr val="FAB700"/>
                </a:solidFill>
                <a:latin typeface="Calibri" panose="020F0502020204030204" pitchFamily="34" charset="0"/>
                <a:cs typeface="Calibri" panose="020F0502020204030204" pitchFamily="34" charset="0"/>
              </a:rPr>
              <a:t>Part 1: </a:t>
            </a:r>
            <a:r>
              <a:rPr lang="en-US" sz="2133" b="1" spc="22" dirty="0">
                <a:solidFill>
                  <a:prstClr val="white"/>
                </a:solidFill>
                <a:latin typeface="Calibri" panose="020F0502020204030204" pitchFamily="34" charset="0"/>
                <a:cs typeface="Calibri" panose="020F0502020204030204" pitchFamily="34" charset="0"/>
              </a:rPr>
              <a:t>Lecture and Workshops (80 mins)</a:t>
            </a:r>
          </a:p>
          <a:p>
            <a:pPr marL="119674" lvl="1" defTabSz="406440">
              <a:lnSpc>
                <a:spcPts val="2222"/>
              </a:lnSpc>
              <a:defRPr/>
            </a:pPr>
            <a:endParaRPr lang="en-US" sz="2133" b="1" spc="22" dirty="0">
              <a:solidFill>
                <a:srgbClr val="FAB700"/>
              </a:solidFill>
              <a:latin typeface="Calibri" panose="020F0502020204030204" pitchFamily="34" charset="0"/>
              <a:cs typeface="Calibri" panose="020F0502020204030204" pitchFamily="34" charset="0"/>
            </a:endParaRPr>
          </a:p>
          <a:p>
            <a:pPr marL="119674" lvl="1" defTabSz="406440">
              <a:lnSpc>
                <a:spcPts val="2222"/>
              </a:lnSpc>
              <a:defRPr/>
            </a:pPr>
            <a:r>
              <a:rPr lang="en-US" sz="2133" b="1" spc="22" dirty="0">
                <a:solidFill>
                  <a:srgbClr val="FAB700"/>
                </a:solidFill>
                <a:latin typeface="Calibri" panose="020F0502020204030204" pitchFamily="34" charset="0"/>
                <a:cs typeface="Calibri" panose="020F0502020204030204" pitchFamily="34" charset="0"/>
              </a:rPr>
              <a:t>Part 2:</a:t>
            </a:r>
            <a:r>
              <a:rPr lang="en-US" sz="2133" b="1" spc="22" dirty="0">
                <a:solidFill>
                  <a:srgbClr val="FFFFFF"/>
                </a:solidFill>
                <a:latin typeface="Calibri" panose="020F0502020204030204" pitchFamily="34" charset="0"/>
                <a:cs typeface="Calibri" panose="020F0502020204030204" pitchFamily="34" charset="0"/>
              </a:rPr>
              <a:t> Q/A (10 mins) </a:t>
            </a:r>
            <a:endParaRPr lang="en-US" sz="2133" b="1" spc="22" dirty="0">
              <a:solidFill>
                <a:srgbClr val="FAB700"/>
              </a:solidFill>
              <a:latin typeface="Calibri" panose="020F0502020204030204" pitchFamily="34" charset="0"/>
              <a:cs typeface="Calibri" panose="020F0502020204030204" pitchFamily="34" charset="0"/>
            </a:endParaRPr>
          </a:p>
          <a:p>
            <a:pPr marL="119674" lvl="1" defTabSz="406440">
              <a:lnSpc>
                <a:spcPts val="2222"/>
              </a:lnSpc>
              <a:defRPr/>
            </a:pPr>
            <a:endParaRPr lang="en-US" sz="2133" b="1" spc="22" dirty="0">
              <a:solidFill>
                <a:srgbClr val="FFFFFF"/>
              </a:solidFill>
              <a:latin typeface="Calibri" panose="020F0502020204030204" pitchFamily="34" charset="0"/>
              <a:cs typeface="Calibri" panose="020F0502020204030204" pitchFamily="34" charset="0"/>
            </a:endParaRPr>
          </a:p>
          <a:p>
            <a:pPr marL="119674" lvl="1" defTabSz="406440">
              <a:lnSpc>
                <a:spcPts val="2222"/>
              </a:lnSpc>
              <a:defRPr/>
            </a:pPr>
            <a:r>
              <a:rPr lang="en-US" sz="2133" b="1" spc="22" dirty="0">
                <a:solidFill>
                  <a:srgbClr val="FAB700"/>
                </a:solidFill>
                <a:latin typeface="Calibri" panose="020F0502020204030204" pitchFamily="34" charset="0"/>
                <a:cs typeface="Calibri" panose="020F0502020204030204" pitchFamily="34" charset="0"/>
              </a:rPr>
              <a:t>Part 3: </a:t>
            </a:r>
            <a:r>
              <a:rPr lang="en-US" sz="2133" b="1" spc="22" dirty="0">
                <a:solidFill>
                  <a:srgbClr val="FFFFFF"/>
                </a:solidFill>
                <a:latin typeface="Calibri" panose="020F0502020204030204" pitchFamily="34" charset="0"/>
                <a:cs typeface="Calibri" panose="020F0502020204030204" pitchFamily="34" charset="0"/>
              </a:rPr>
              <a:t>Full workshop (30 mins)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extBox 5"/>
          <p:cNvSpPr txBox="1"/>
          <p:nvPr/>
        </p:nvSpPr>
        <p:spPr>
          <a:xfrm>
            <a:off x="762000" y="1157699"/>
            <a:ext cx="9231783" cy="569580"/>
          </a:xfrm>
          <a:prstGeom prst="rect">
            <a:avLst/>
          </a:prstGeom>
        </p:spPr>
        <p:txBody>
          <a:bodyPr wrap="square" lIns="0" tIns="0" rIns="0" bIns="0" rtlCol="0" anchor="t">
            <a:spAutoFit/>
          </a:bodyPr>
          <a:lstStyle/>
          <a:p>
            <a:pPr defTabSz="609630">
              <a:lnSpc>
                <a:spcPts val="4480"/>
              </a:lnSpc>
              <a:defRPr/>
            </a:pPr>
            <a:r>
              <a:rPr lang="en-GB" sz="3733" b="1" i="1" dirty="0">
                <a:solidFill>
                  <a:srgbClr val="46245A"/>
                </a:solidFill>
                <a:latin typeface="DM Sans" pitchFamily="2" charset="0"/>
              </a:rPr>
              <a:t>Last Week: Natural Variability</a:t>
            </a:r>
            <a:endParaRPr lang="en-GB" sz="3733" i="1" dirty="0">
              <a:solidFill>
                <a:srgbClr val="46245A"/>
              </a:solidFill>
              <a:latin typeface="DM Sans" pitchFamily="2" charset="0"/>
            </a:endParaRPr>
          </a:p>
        </p:txBody>
      </p:sp>
      <p:pic>
        <p:nvPicPr>
          <p:cNvPr id="9" name="Picture 4" descr="s_earth%20from%20space">
            <a:extLst>
              <a:ext uri="{FF2B5EF4-FFF2-40B4-BE49-F238E27FC236}">
                <a16:creationId xmlns:a16="http://schemas.microsoft.com/office/drawing/2014/main" id="{42528534-D14E-21F0-A4D9-71E9B8714C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862591"/>
            <a:ext cx="4308872" cy="430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reeform 13">
            <a:extLst>
              <a:ext uri="{FF2B5EF4-FFF2-40B4-BE49-F238E27FC236}">
                <a16:creationId xmlns:a16="http://schemas.microsoft.com/office/drawing/2014/main" id="{A69E7A04-F54E-5105-05F6-AE6E979CAB5D}"/>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dirty="0">
              <a:solidFill>
                <a:prstClr val="black"/>
              </a:solidFill>
              <a:latin typeface="DM Sans" pitchFamily="2" charset="0"/>
            </a:endParaRPr>
          </a:p>
        </p:txBody>
      </p:sp>
      <p:sp>
        <p:nvSpPr>
          <p:cNvPr id="3" name="TextBox 2">
            <a:extLst>
              <a:ext uri="{FF2B5EF4-FFF2-40B4-BE49-F238E27FC236}">
                <a16:creationId xmlns:a16="http://schemas.microsoft.com/office/drawing/2014/main" id="{EDACA9A5-5513-D41C-74B5-764B2AE98B47}"/>
              </a:ext>
            </a:extLst>
          </p:cNvPr>
          <p:cNvSpPr txBox="1"/>
          <p:nvPr/>
        </p:nvSpPr>
        <p:spPr>
          <a:xfrm>
            <a:off x="5226756" y="2124778"/>
            <a:ext cx="6389511" cy="3784498"/>
          </a:xfrm>
          <a:prstGeom prst="rect">
            <a:avLst/>
          </a:prstGeom>
          <a:noFill/>
        </p:spPr>
        <p:txBody>
          <a:bodyPr wrap="square">
            <a:spAutoFit/>
          </a:bodyPr>
          <a:lstStyle/>
          <a:p>
            <a:pPr marL="228611" indent="-228611" defTabSz="609630">
              <a:buFont typeface="+mj-lt"/>
              <a:buAutoNum type="arabicPeriod"/>
              <a:defRPr/>
            </a:pPr>
            <a:r>
              <a:rPr lang="en-GB" sz="1333" b="1" dirty="0">
                <a:solidFill>
                  <a:srgbClr val="FF0000"/>
                </a:solidFill>
                <a:latin typeface="DM Sans"/>
              </a:rPr>
              <a:t>Solar Variability</a:t>
            </a:r>
            <a:r>
              <a:rPr lang="en-GB" sz="1333" dirty="0">
                <a:solidFill>
                  <a:srgbClr val="FF0000"/>
                </a:solidFill>
                <a:latin typeface="DM Sans"/>
              </a:rPr>
              <a:t>: </a:t>
            </a:r>
            <a:r>
              <a:rPr lang="en-GB" sz="1333" dirty="0">
                <a:solidFill>
                  <a:srgbClr val="0D0D0D"/>
                </a:solidFill>
                <a:latin typeface="DM Sans"/>
              </a:rPr>
              <a:t>Changes in the sun's energy output can influence Earth's climate. Solar cycles, which include variations in the sun's radiation and magnetic activity, can affect the amount of solar energy reaching the Earth.</a:t>
            </a:r>
          </a:p>
          <a:p>
            <a:pPr marL="228611" indent="-228611" defTabSz="609630">
              <a:buFont typeface="+mj-lt"/>
              <a:buAutoNum type="arabicPeriod"/>
              <a:defRPr/>
            </a:pPr>
            <a:endParaRPr lang="en-GB" sz="1333" dirty="0">
              <a:solidFill>
                <a:srgbClr val="0D0D0D"/>
              </a:solidFill>
              <a:latin typeface="DM Sans"/>
            </a:endParaRPr>
          </a:p>
          <a:p>
            <a:pPr marL="228611" indent="-228611" defTabSz="609630">
              <a:buFont typeface="+mj-lt"/>
              <a:buAutoNum type="arabicPeriod"/>
              <a:defRPr/>
            </a:pPr>
            <a:r>
              <a:rPr lang="en-GB" sz="1333" b="1" dirty="0">
                <a:solidFill>
                  <a:srgbClr val="FF0000"/>
                </a:solidFill>
                <a:latin typeface="DM Sans"/>
              </a:rPr>
              <a:t>Orbital Variations</a:t>
            </a:r>
            <a:r>
              <a:rPr lang="en-GB" sz="1333" dirty="0">
                <a:solidFill>
                  <a:srgbClr val="FF0000"/>
                </a:solidFill>
                <a:latin typeface="DM Sans"/>
              </a:rPr>
              <a:t>: </a:t>
            </a:r>
            <a:r>
              <a:rPr lang="en-GB" sz="1333" dirty="0">
                <a:solidFill>
                  <a:srgbClr val="0D0D0D"/>
                </a:solidFill>
                <a:latin typeface="DM Sans"/>
              </a:rPr>
              <a:t>Changes in Earth's orbit and axial tilt over long timescales, known as Milankovitch cycles, can affect the distribution and intensity of solar radiation received by the Earth, leading to changes in climate over tens of thousands to hundreds of thousands of years.</a:t>
            </a:r>
          </a:p>
          <a:p>
            <a:pPr marL="228611" indent="-228611" defTabSz="609630">
              <a:buFont typeface="+mj-lt"/>
              <a:buAutoNum type="arabicPeriod"/>
              <a:defRPr/>
            </a:pPr>
            <a:endParaRPr lang="en-GB" sz="1333" dirty="0">
              <a:solidFill>
                <a:srgbClr val="0D0D0D"/>
              </a:solidFill>
              <a:latin typeface="DM Sans"/>
            </a:endParaRPr>
          </a:p>
          <a:p>
            <a:pPr marL="228611" indent="-228611" defTabSz="609630">
              <a:buFont typeface="+mj-lt"/>
              <a:buAutoNum type="arabicPeriod"/>
              <a:defRPr/>
            </a:pPr>
            <a:r>
              <a:rPr lang="en-GB" sz="1333" b="1" dirty="0">
                <a:solidFill>
                  <a:srgbClr val="FF0000"/>
                </a:solidFill>
                <a:latin typeface="DM Sans"/>
              </a:rPr>
              <a:t>Volcanic Activity</a:t>
            </a:r>
            <a:r>
              <a:rPr lang="en-GB" sz="1333" dirty="0">
                <a:solidFill>
                  <a:srgbClr val="FF0000"/>
                </a:solidFill>
                <a:latin typeface="DM Sans"/>
              </a:rPr>
              <a:t>: </a:t>
            </a:r>
            <a:r>
              <a:rPr lang="en-GB" sz="1333" dirty="0">
                <a:solidFill>
                  <a:srgbClr val="0D0D0D"/>
                </a:solidFill>
                <a:latin typeface="DM Sans"/>
              </a:rPr>
              <a:t>Large volcanic eruptions can inject significant amounts of aerosol and sulphur dioxide into the atmosphere, leading to temporary cooling by blocking sunlight. These eruptions can cause short-term fluctuations in global temperatures.</a:t>
            </a:r>
          </a:p>
          <a:p>
            <a:pPr marL="228611" indent="-228611" defTabSz="609630">
              <a:buFont typeface="+mj-lt"/>
              <a:buAutoNum type="arabicPeriod"/>
              <a:defRPr/>
            </a:pPr>
            <a:endParaRPr lang="en-GB" sz="1333" dirty="0">
              <a:solidFill>
                <a:srgbClr val="0D0D0D"/>
              </a:solidFill>
              <a:latin typeface="DM Sans"/>
            </a:endParaRPr>
          </a:p>
          <a:p>
            <a:pPr marL="228611" indent="-228611" defTabSz="609630">
              <a:buFont typeface="+mj-lt"/>
              <a:buAutoNum type="arabicPeriod"/>
              <a:defRPr/>
            </a:pPr>
            <a:r>
              <a:rPr lang="en-GB" sz="1333" b="1" dirty="0">
                <a:solidFill>
                  <a:srgbClr val="FF0000"/>
                </a:solidFill>
                <a:latin typeface="DM Sans"/>
              </a:rPr>
              <a:t>Ocean Circulation: </a:t>
            </a:r>
            <a:r>
              <a:rPr lang="en-GB" sz="1333" dirty="0">
                <a:solidFill>
                  <a:srgbClr val="0D0D0D"/>
                </a:solidFill>
                <a:latin typeface="DM Sans"/>
              </a:rPr>
              <a:t>Ocean currents play a crucial role in redistributing heat around the Earth. Variations in ocean circulation patterns, such as El Niño and La Niña events in the Pacific Ocean, can have significant impacts on regional and global climate patterns.</a:t>
            </a:r>
          </a:p>
        </p:txBody>
      </p:sp>
    </p:spTree>
    <p:extLst>
      <p:ext uri="{BB962C8B-B14F-4D97-AF65-F5344CB8AC3E}">
        <p14:creationId xmlns:p14="http://schemas.microsoft.com/office/powerpoint/2010/main" val="4213435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B0F981C-2705-C3E6-6203-FE946E06078F}"/>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0370C08C-E68A-A291-EDB5-06495A63634A}"/>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dirty="0">
              <a:solidFill>
                <a:prstClr val="black"/>
              </a:solidFill>
              <a:latin typeface="DM Sans" pitchFamily="2" charset="0"/>
            </a:endParaRPr>
          </a:p>
        </p:txBody>
      </p:sp>
      <p:pic>
        <p:nvPicPr>
          <p:cNvPr id="2" name="Picture 1" descr="A graph showing the growth of the stock market&#10;&#10;Description automatically generated">
            <a:extLst>
              <a:ext uri="{FF2B5EF4-FFF2-40B4-BE49-F238E27FC236}">
                <a16:creationId xmlns:a16="http://schemas.microsoft.com/office/drawing/2014/main" id="{4CF7CE8C-D7DF-5D9F-A575-618586A23A6F}"/>
              </a:ext>
            </a:extLst>
          </p:cNvPr>
          <p:cNvPicPr>
            <a:picLocks noChangeAspect="1"/>
          </p:cNvPicPr>
          <p:nvPr/>
        </p:nvPicPr>
        <p:blipFill rotWithShape="1">
          <a:blip r:embed="rId5">
            <a:extLst>
              <a:ext uri="{28A0092B-C50C-407E-A947-70E740481C1C}">
                <a14:useLocalDpi xmlns:a14="http://schemas.microsoft.com/office/drawing/2010/main" val="0"/>
              </a:ext>
            </a:extLst>
          </a:blip>
          <a:srcRect l="5190" t="10621"/>
          <a:stretch/>
        </p:blipFill>
        <p:spPr>
          <a:xfrm>
            <a:off x="615245" y="1935530"/>
            <a:ext cx="9804400" cy="4372319"/>
          </a:xfrm>
          <a:prstGeom prst="rect">
            <a:avLst/>
          </a:prstGeom>
        </p:spPr>
      </p:pic>
      <p:sp>
        <p:nvSpPr>
          <p:cNvPr id="3" name="TextBox 5">
            <a:extLst>
              <a:ext uri="{FF2B5EF4-FFF2-40B4-BE49-F238E27FC236}">
                <a16:creationId xmlns:a16="http://schemas.microsoft.com/office/drawing/2014/main" id="{25AA6276-3DA0-4173-0CB9-BEBD6BC137DD}"/>
              </a:ext>
            </a:extLst>
          </p:cNvPr>
          <p:cNvSpPr txBox="1"/>
          <p:nvPr/>
        </p:nvSpPr>
        <p:spPr>
          <a:xfrm>
            <a:off x="762000" y="1157699"/>
            <a:ext cx="9231783" cy="569580"/>
          </a:xfrm>
          <a:prstGeom prst="rect">
            <a:avLst/>
          </a:prstGeom>
        </p:spPr>
        <p:txBody>
          <a:bodyPr wrap="square" lIns="0" tIns="0" rIns="0" bIns="0" rtlCol="0" anchor="t">
            <a:spAutoFit/>
          </a:bodyPr>
          <a:lstStyle/>
          <a:p>
            <a:pPr defTabSz="609630">
              <a:lnSpc>
                <a:spcPts val="4480"/>
              </a:lnSpc>
              <a:defRPr/>
            </a:pPr>
            <a:r>
              <a:rPr lang="en-GB" sz="3733" b="1" i="1" dirty="0">
                <a:solidFill>
                  <a:srgbClr val="46245A"/>
                </a:solidFill>
                <a:latin typeface="DM Sans" pitchFamily="2" charset="0"/>
              </a:rPr>
              <a:t>Last Week: Natural Variability</a:t>
            </a:r>
            <a:endParaRPr lang="en-GB" sz="3733" i="1" dirty="0">
              <a:solidFill>
                <a:srgbClr val="46245A"/>
              </a:solidFill>
              <a:latin typeface="DM Sans" pitchFamily="2" charset="0"/>
            </a:endParaRPr>
          </a:p>
        </p:txBody>
      </p:sp>
    </p:spTree>
    <p:extLst>
      <p:ext uri="{BB962C8B-B14F-4D97-AF65-F5344CB8AC3E}">
        <p14:creationId xmlns:p14="http://schemas.microsoft.com/office/powerpoint/2010/main" val="2308281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D9F397B-8EE3-4B85-B0A7-F61AD40DB870}"/>
              </a:ext>
            </a:extLst>
          </p:cNvPr>
          <p:cNvPicPr>
            <a:picLocks noChangeAspect="1"/>
          </p:cNvPicPr>
          <p:nvPr/>
        </p:nvPicPr>
        <p:blipFill>
          <a:blip r:embed="rId3"/>
          <a:stretch>
            <a:fillRect/>
          </a:stretch>
        </p:blipFill>
        <p:spPr>
          <a:xfrm>
            <a:off x="762000" y="1897186"/>
            <a:ext cx="4493911" cy="4493911"/>
          </a:xfrm>
          <a:prstGeom prst="rect">
            <a:avLst/>
          </a:prstGeom>
          <a:ln>
            <a:solidFill>
              <a:schemeClr val="accent1"/>
            </a:solidFill>
          </a:ln>
        </p:spPr>
      </p:pic>
      <p:sp>
        <p:nvSpPr>
          <p:cNvPr id="3" name="Freeform 13">
            <a:extLst>
              <a:ext uri="{FF2B5EF4-FFF2-40B4-BE49-F238E27FC236}">
                <a16:creationId xmlns:a16="http://schemas.microsoft.com/office/drawing/2014/main" id="{6D9A4D99-B4F6-2D6D-483B-95D5B6BB42AD}"/>
              </a:ext>
            </a:extLst>
          </p:cNvPr>
          <p:cNvSpPr/>
          <p:nvPr/>
        </p:nvSpPr>
        <p:spPr>
          <a:xfrm>
            <a:off x="9702801" y="371989"/>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60">
              <a:defRPr/>
            </a:pPr>
            <a:endParaRPr lang="en-GB" sz="1200">
              <a:solidFill>
                <a:prstClr val="black"/>
              </a:solidFill>
              <a:latin typeface="DM Sans" pitchFamily="2" charset="0"/>
            </a:endParaRPr>
          </a:p>
        </p:txBody>
      </p:sp>
      <p:pic>
        <p:nvPicPr>
          <p:cNvPr id="2" name="Picture 2" descr="Climate shift">
            <a:extLst>
              <a:ext uri="{FF2B5EF4-FFF2-40B4-BE49-F238E27FC236}">
                <a16:creationId xmlns:a16="http://schemas.microsoft.com/office/drawing/2014/main" id="{4955EA57-EFEE-94EA-4566-E3EFFAB0EB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95433" y="1897186"/>
            <a:ext cx="6393662" cy="4493911"/>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102E084-E1F2-CB44-CA50-831383E39274}"/>
              </a:ext>
            </a:extLst>
          </p:cNvPr>
          <p:cNvSpPr txBox="1"/>
          <p:nvPr/>
        </p:nvSpPr>
        <p:spPr>
          <a:xfrm>
            <a:off x="762000" y="1157699"/>
            <a:ext cx="9231783" cy="569580"/>
          </a:xfrm>
          <a:prstGeom prst="rect">
            <a:avLst/>
          </a:prstGeom>
        </p:spPr>
        <p:txBody>
          <a:bodyPr wrap="square" lIns="0" tIns="0" rIns="0" bIns="0" rtlCol="0" anchor="t">
            <a:spAutoFit/>
          </a:bodyPr>
          <a:lstStyle/>
          <a:p>
            <a:pPr defTabSz="609630">
              <a:lnSpc>
                <a:spcPts val="4480"/>
              </a:lnSpc>
              <a:defRPr/>
            </a:pPr>
            <a:r>
              <a:rPr lang="en-GB" sz="3733" b="1" i="1" dirty="0">
                <a:solidFill>
                  <a:srgbClr val="46245A"/>
                </a:solidFill>
                <a:latin typeface="DM Sans" pitchFamily="2" charset="0"/>
              </a:rPr>
              <a:t>Week 1: Unprecedented Change: Why?</a:t>
            </a:r>
            <a:endParaRPr lang="en-GB" sz="3733" i="1" dirty="0">
              <a:solidFill>
                <a:srgbClr val="46245A"/>
              </a:solidFill>
              <a:latin typeface="DM Sans" pitchFamily="2" charset="0"/>
            </a:endParaRPr>
          </a:p>
        </p:txBody>
      </p:sp>
    </p:spTree>
    <p:extLst>
      <p:ext uri="{BB962C8B-B14F-4D97-AF65-F5344CB8AC3E}">
        <p14:creationId xmlns:p14="http://schemas.microsoft.com/office/powerpoint/2010/main" val="2711028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2E2BA-A08A-ED62-7332-7C6D0BC54E43}"/>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560DAFE-123A-933C-4330-E2DA4EF75CD1}"/>
              </a:ext>
            </a:extLst>
          </p:cNvPr>
          <p:cNvSpPr/>
          <p:nvPr/>
        </p:nvSpPr>
        <p:spPr>
          <a:xfrm>
            <a:off x="9702801" y="371989"/>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60">
              <a:defRPr/>
            </a:pPr>
            <a:endParaRPr lang="en-GB" sz="1200">
              <a:solidFill>
                <a:prstClr val="black"/>
              </a:solidFill>
              <a:latin typeface="DM Sans" pitchFamily="2" charset="0"/>
            </a:endParaRPr>
          </a:p>
        </p:txBody>
      </p:sp>
      <p:sp>
        <p:nvSpPr>
          <p:cNvPr id="6" name="TextBox 5">
            <a:extLst>
              <a:ext uri="{FF2B5EF4-FFF2-40B4-BE49-F238E27FC236}">
                <a16:creationId xmlns:a16="http://schemas.microsoft.com/office/drawing/2014/main" id="{9D9FB5AA-1E92-5DAF-92AF-0337231738F3}"/>
              </a:ext>
            </a:extLst>
          </p:cNvPr>
          <p:cNvSpPr txBox="1"/>
          <p:nvPr/>
        </p:nvSpPr>
        <p:spPr>
          <a:xfrm>
            <a:off x="762000" y="1157699"/>
            <a:ext cx="9231783" cy="569580"/>
          </a:xfrm>
          <a:prstGeom prst="rect">
            <a:avLst/>
          </a:prstGeom>
        </p:spPr>
        <p:txBody>
          <a:bodyPr wrap="square" lIns="0" tIns="0" rIns="0" bIns="0" rtlCol="0" anchor="t">
            <a:spAutoFit/>
          </a:bodyPr>
          <a:lstStyle/>
          <a:p>
            <a:pPr defTabSz="609630">
              <a:lnSpc>
                <a:spcPts val="4480"/>
              </a:lnSpc>
              <a:defRPr/>
            </a:pPr>
            <a:r>
              <a:rPr lang="en-GB" sz="3733" b="1" i="1" dirty="0">
                <a:solidFill>
                  <a:srgbClr val="46245A"/>
                </a:solidFill>
                <a:latin typeface="DM Sans" pitchFamily="2" charset="0"/>
              </a:rPr>
              <a:t>Week 1: Unprecedented Change: Why?</a:t>
            </a:r>
            <a:endParaRPr lang="en-GB" sz="3733" i="1" dirty="0">
              <a:solidFill>
                <a:srgbClr val="46245A"/>
              </a:solidFill>
              <a:latin typeface="DM Sans" pitchFamily="2" charset="0"/>
            </a:endParaRPr>
          </a:p>
        </p:txBody>
      </p:sp>
      <p:pic>
        <p:nvPicPr>
          <p:cNvPr id="4" name="Picture 10">
            <a:extLst>
              <a:ext uri="{FF2B5EF4-FFF2-40B4-BE49-F238E27FC236}">
                <a16:creationId xmlns:a16="http://schemas.microsoft.com/office/drawing/2014/main" id="{227E9865-898A-35E4-046D-5390167AECC5}"/>
              </a:ext>
            </a:extLst>
          </p:cNvPr>
          <p:cNvPicPr>
            <a:picLocks noChangeAspect="1"/>
          </p:cNvPicPr>
          <p:nvPr/>
        </p:nvPicPr>
        <p:blipFill rotWithShape="1">
          <a:blip r:embed="rId4">
            <a:extLst>
              <a:ext uri="{28A0092B-C50C-407E-A947-70E740481C1C}">
                <a14:useLocalDpi xmlns:a14="http://schemas.microsoft.com/office/drawing/2010/main" val="0"/>
              </a:ext>
            </a:extLst>
          </a:blip>
          <a:srcRect t="5820"/>
          <a:stretch/>
        </p:blipFill>
        <p:spPr bwMode="auto">
          <a:xfrm>
            <a:off x="762000" y="1802906"/>
            <a:ext cx="7012299" cy="4717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447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3AEC7D9-BBE8-8835-EFAC-B70899BFD82E}"/>
              </a:ext>
            </a:extLst>
          </p:cNvPr>
          <p:cNvSpPr>
            <a:spLocks noGrp="1"/>
          </p:cNvSpPr>
          <p:nvPr>
            <p:ph idx="1"/>
          </p:nvPr>
        </p:nvSpPr>
        <p:spPr>
          <a:xfrm>
            <a:off x="293870" y="3637968"/>
            <a:ext cx="10528323" cy="3220032"/>
          </a:xfrm>
        </p:spPr>
        <p:txBody>
          <a:bodyPr rtlCol="0">
            <a:normAutofit/>
          </a:bodyPr>
          <a:lstStyle/>
          <a:p>
            <a:pPr marL="0" indent="0">
              <a:buNone/>
            </a:pPr>
            <a:r>
              <a:rPr lang="en-GB" sz="1600" b="1" dirty="0">
                <a:latin typeface="Calibri" panose="020F0502020204030204" pitchFamily="34" charset="0"/>
                <a:cs typeface="Calibri" panose="020F0502020204030204" pitchFamily="34" charset="0"/>
              </a:rPr>
              <a:t>By the end of this lecture, you will be able to:</a:t>
            </a:r>
          </a:p>
          <a:p>
            <a:pPr lvl="1">
              <a:buFont typeface="Arial" panose="020B0604020202020204" pitchFamily="34" charset="0"/>
              <a:buChar char="•"/>
            </a:pPr>
            <a:r>
              <a:rPr lang="en-GB" sz="1600" dirty="0">
                <a:latin typeface="Calibri" panose="020F0502020204030204" pitchFamily="34" charset="0"/>
                <a:cs typeface="Calibri" panose="020F0502020204030204" pitchFamily="34" charset="0"/>
              </a:rPr>
              <a:t>Apply blackbody equilibrium and radiation laws to calculate the equilibrium temperature of Earth and other planets.</a:t>
            </a:r>
          </a:p>
          <a:p>
            <a:pPr lvl="1">
              <a:buFont typeface="Arial" panose="020B0604020202020204" pitchFamily="34" charset="0"/>
              <a:buChar char="•"/>
            </a:pPr>
            <a:r>
              <a:rPr lang="en-GB" sz="1600" dirty="0">
                <a:latin typeface="Calibri" panose="020F0502020204030204" pitchFamily="34" charset="0"/>
                <a:cs typeface="Calibri" panose="020F0502020204030204" pitchFamily="34" charset="0"/>
              </a:rPr>
              <a:t>Explain the physical basis of the greenhouse effect, including:</a:t>
            </a:r>
          </a:p>
          <a:p>
            <a:pPr marL="857278" lvl="2" indent="-285750">
              <a:buFont typeface="Arial" panose="020B0604020202020204" pitchFamily="34" charset="0"/>
              <a:buChar char="•"/>
            </a:pPr>
            <a:r>
              <a:rPr lang="en-GB" dirty="0">
                <a:latin typeface="Calibri" panose="020F0502020204030204" pitchFamily="34" charset="0"/>
                <a:cs typeface="Calibri" panose="020F0502020204030204" pitchFamily="34" charset="0"/>
              </a:rPr>
              <a:t>	why the radiation spectra of the Sun and the Earth differ, and</a:t>
            </a:r>
          </a:p>
          <a:p>
            <a:pPr marL="857278" lvl="2" indent="-285750">
              <a:buFont typeface="Arial" panose="020B0604020202020204" pitchFamily="34" charset="0"/>
              <a:buChar char="•"/>
            </a:pPr>
            <a:r>
              <a:rPr lang="en-GB" dirty="0">
                <a:latin typeface="Calibri" panose="020F0502020204030204" pitchFamily="34" charset="0"/>
                <a:cs typeface="Calibri" panose="020F0502020204030204" pitchFamily="34" charset="0"/>
              </a:rPr>
              <a:t>	why greenhouse gases interact differently with incoming solar radiation and outgoing terrestrial radiation.</a:t>
            </a:r>
          </a:p>
          <a:p>
            <a:pPr lvl="1">
              <a:buFont typeface="Arial" panose="020B0604020202020204" pitchFamily="34" charset="0"/>
              <a:buChar char="•"/>
            </a:pPr>
            <a:r>
              <a:rPr lang="en-GB" sz="1600" dirty="0">
                <a:latin typeface="Calibri" panose="020F0502020204030204" pitchFamily="34" charset="0"/>
                <a:cs typeface="Calibri" panose="020F0502020204030204" pitchFamily="34" charset="0"/>
              </a:rPr>
              <a:t>Use this understanding to explain why Earth’s surface temperature is higher than its blackbody equilibrium temperature </a:t>
            </a:r>
          </a:p>
          <a:p>
            <a:pPr lvl="1">
              <a:buFont typeface="Arial" panose="020B0604020202020204" pitchFamily="34" charset="0"/>
              <a:buChar char="•"/>
            </a:pPr>
            <a:r>
              <a:rPr lang="en-GB" sz="1600" dirty="0">
                <a:latin typeface="Calibri" panose="020F0502020204030204" pitchFamily="34" charset="0"/>
                <a:cs typeface="Calibri" panose="020F0502020204030204" pitchFamily="34" charset="0"/>
              </a:rPr>
              <a:t>Evaluate the implications of rising greenhouse gas concentrations </a:t>
            </a:r>
          </a:p>
          <a:p>
            <a:pPr lvl="1">
              <a:buFont typeface="Arial" panose="020B0604020202020204" pitchFamily="34" charset="0"/>
              <a:buChar char="•"/>
            </a:pPr>
            <a:r>
              <a:rPr lang="en-GB" sz="1600" dirty="0">
                <a:latin typeface="Calibri" panose="020F0502020204030204" pitchFamily="34" charset="0"/>
                <a:cs typeface="Calibri" panose="020F0502020204030204" pitchFamily="34" charset="0"/>
              </a:rPr>
              <a:t>Explain why increasing greenhouse gases are expected to drive further warming.</a:t>
            </a:r>
          </a:p>
        </p:txBody>
      </p:sp>
      <p:pic>
        <p:nvPicPr>
          <p:cNvPr id="5" name="Picture 2" descr="Places of Climate Change">
            <a:extLst>
              <a:ext uri="{FF2B5EF4-FFF2-40B4-BE49-F238E27FC236}">
                <a16:creationId xmlns:a16="http://schemas.microsoft.com/office/drawing/2014/main" id="{7581CA3A-6578-3D4E-90D5-FA5777EE45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2192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49BB5E81-1DCC-286E-DD74-F3B53623F288}"/>
              </a:ext>
            </a:extLst>
          </p:cNvPr>
          <p:cNvSpPr txBox="1"/>
          <p:nvPr/>
        </p:nvSpPr>
        <p:spPr>
          <a:xfrm>
            <a:off x="293870" y="2682459"/>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chemeClr val="bg1"/>
                </a:solidFill>
                <a:latin typeface="DM Sans Bold"/>
              </a:rPr>
              <a:t>Intended Learning Outcomes</a:t>
            </a:r>
          </a:p>
        </p:txBody>
      </p:sp>
      <p:sp>
        <p:nvSpPr>
          <p:cNvPr id="8" name="Freeform 13">
            <a:extLst>
              <a:ext uri="{FF2B5EF4-FFF2-40B4-BE49-F238E27FC236}">
                <a16:creationId xmlns:a16="http://schemas.microsoft.com/office/drawing/2014/main" id="{C6335595-B71A-3F7E-3031-B5690D697278}"/>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7484ACDF-082E-70AC-B1FB-753FBD1D8BAC}"/>
              </a:ext>
            </a:extLst>
          </p:cNvPr>
          <p:cNvSpPr>
            <a:spLocks noChangeArrowheads="1"/>
          </p:cNvSpPr>
          <p:nvPr/>
        </p:nvSpPr>
        <p:spPr bwMode="auto">
          <a:xfrm>
            <a:off x="422275" y="1417698"/>
            <a:ext cx="8531225" cy="4324350"/>
          </a:xfrm>
          <a:prstGeom prst="rect">
            <a:avLst/>
          </a:prstGeom>
          <a:solidFill>
            <a:srgbClr val="FFFF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139267" name="Rectangle 3">
            <a:extLst>
              <a:ext uri="{FF2B5EF4-FFF2-40B4-BE49-F238E27FC236}">
                <a16:creationId xmlns:a16="http://schemas.microsoft.com/office/drawing/2014/main" id="{366B3358-1FE0-FC8A-1CD4-7ED30A535C0E}"/>
              </a:ext>
            </a:extLst>
          </p:cNvPr>
          <p:cNvSpPr>
            <a:spLocks noChangeArrowheads="1"/>
          </p:cNvSpPr>
          <p:nvPr/>
        </p:nvSpPr>
        <p:spPr bwMode="auto">
          <a:xfrm>
            <a:off x="415925" y="3544948"/>
            <a:ext cx="8537575" cy="227806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139268" name="Freeform 4">
            <a:extLst>
              <a:ext uri="{FF2B5EF4-FFF2-40B4-BE49-F238E27FC236}">
                <a16:creationId xmlns:a16="http://schemas.microsoft.com/office/drawing/2014/main" id="{09C5AF88-B2DB-778E-7DD5-B8687F68542F}"/>
              </a:ext>
            </a:extLst>
          </p:cNvPr>
          <p:cNvSpPr>
            <a:spLocks/>
          </p:cNvSpPr>
          <p:nvPr/>
        </p:nvSpPr>
        <p:spPr bwMode="auto">
          <a:xfrm>
            <a:off x="407988" y="5591236"/>
            <a:ext cx="8534400" cy="800100"/>
          </a:xfrm>
          <a:custGeom>
            <a:avLst/>
            <a:gdLst>
              <a:gd name="T0" fmla="*/ 2147483646 w 4189"/>
              <a:gd name="T1" fmla="*/ 2147483646 h 534"/>
              <a:gd name="T2" fmla="*/ 2147483646 w 4189"/>
              <a:gd name="T3" fmla="*/ 2147483646 h 534"/>
              <a:gd name="T4" fmla="*/ 0 w 4189"/>
              <a:gd name="T5" fmla="*/ 2147483646 h 534"/>
              <a:gd name="T6" fmla="*/ 0 w 4189"/>
              <a:gd name="T7" fmla="*/ 2147483646 h 534"/>
              <a:gd name="T8" fmla="*/ 0 w 4189"/>
              <a:gd name="T9" fmla="*/ 2147483646 h 534"/>
              <a:gd name="T10" fmla="*/ 2147483646 w 4189"/>
              <a:gd name="T11" fmla="*/ 2147483646 h 534"/>
              <a:gd name="T12" fmla="*/ 2147483646 w 4189"/>
              <a:gd name="T13" fmla="*/ 2147483646 h 534"/>
              <a:gd name="T14" fmla="*/ 2147483646 w 4189"/>
              <a:gd name="T15" fmla="*/ 2147483646 h 534"/>
              <a:gd name="T16" fmla="*/ 2147483646 w 4189"/>
              <a:gd name="T17" fmla="*/ 2147483646 h 534"/>
              <a:gd name="T18" fmla="*/ 2147483646 w 4189"/>
              <a:gd name="T19" fmla="*/ 2147483646 h 534"/>
              <a:gd name="T20" fmla="*/ 2147483646 w 4189"/>
              <a:gd name="T21" fmla="*/ 2147483646 h 534"/>
              <a:gd name="T22" fmla="*/ 2147483646 w 4189"/>
              <a:gd name="T23" fmla="*/ 2147483646 h 534"/>
              <a:gd name="T24" fmla="*/ 2147483646 w 4189"/>
              <a:gd name="T25" fmla="*/ 2147483646 h 534"/>
              <a:gd name="T26" fmla="*/ 2147483646 w 4189"/>
              <a:gd name="T27" fmla="*/ 2147483646 h 534"/>
              <a:gd name="T28" fmla="*/ 2147483646 w 4189"/>
              <a:gd name="T29" fmla="*/ 2147483646 h 534"/>
              <a:gd name="T30" fmla="*/ 2147483646 w 4189"/>
              <a:gd name="T31" fmla="*/ 2147483646 h 534"/>
              <a:gd name="T32" fmla="*/ 2147483646 w 4189"/>
              <a:gd name="T33" fmla="*/ 2147483646 h 534"/>
              <a:gd name="T34" fmla="*/ 2147483646 w 4189"/>
              <a:gd name="T35" fmla="*/ 2147483646 h 534"/>
              <a:gd name="T36" fmla="*/ 2147483646 w 4189"/>
              <a:gd name="T37" fmla="*/ 2147483646 h 534"/>
              <a:gd name="T38" fmla="*/ 2147483646 w 4189"/>
              <a:gd name="T39" fmla="*/ 0 h 534"/>
              <a:gd name="T40" fmla="*/ 2147483646 w 4189"/>
              <a:gd name="T41" fmla="*/ 0 h 534"/>
              <a:gd name="T42" fmla="*/ 2147483646 w 4189"/>
              <a:gd name="T43" fmla="*/ 0 h 534"/>
              <a:gd name="T44" fmla="*/ 2147483646 w 4189"/>
              <a:gd name="T45" fmla="*/ 2147483646 h 534"/>
              <a:gd name="T46" fmla="*/ 2147483646 w 4189"/>
              <a:gd name="T47" fmla="*/ 2147483646 h 534"/>
              <a:gd name="T48" fmla="*/ 2147483646 w 4189"/>
              <a:gd name="T49" fmla="*/ 2147483646 h 534"/>
              <a:gd name="T50" fmla="*/ 2147483646 w 4189"/>
              <a:gd name="T51" fmla="*/ 2147483646 h 534"/>
              <a:gd name="T52" fmla="*/ 2147483646 w 4189"/>
              <a:gd name="T53" fmla="*/ 2147483646 h 534"/>
              <a:gd name="T54" fmla="*/ 2147483646 w 4189"/>
              <a:gd name="T55" fmla="*/ 2147483646 h 534"/>
              <a:gd name="T56" fmla="*/ 2147483646 w 4189"/>
              <a:gd name="T57" fmla="*/ 2147483646 h 534"/>
              <a:gd name="T58" fmla="*/ 2147483646 w 4189"/>
              <a:gd name="T59" fmla="*/ 2147483646 h 534"/>
              <a:gd name="T60" fmla="*/ 2147483646 w 4189"/>
              <a:gd name="T61" fmla="*/ 2147483646 h 534"/>
              <a:gd name="T62" fmla="*/ 2147483646 w 4189"/>
              <a:gd name="T63" fmla="*/ 2147483646 h 534"/>
              <a:gd name="T64" fmla="*/ 2147483646 w 4189"/>
              <a:gd name="T65" fmla="*/ 2147483646 h 534"/>
              <a:gd name="T66" fmla="*/ 2147483646 w 4189"/>
              <a:gd name="T67" fmla="*/ 2147483646 h 534"/>
              <a:gd name="T68" fmla="*/ 2147483646 w 4189"/>
              <a:gd name="T69" fmla="*/ 2147483646 h 534"/>
              <a:gd name="T70" fmla="*/ 2147483646 w 4189"/>
              <a:gd name="T71" fmla="*/ 2147483646 h 534"/>
              <a:gd name="T72" fmla="*/ 2147483646 w 4189"/>
              <a:gd name="T73" fmla="*/ 2147483646 h 534"/>
              <a:gd name="T74" fmla="*/ 2147483646 w 4189"/>
              <a:gd name="T75" fmla="*/ 2147483646 h 5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189"/>
              <a:gd name="T115" fmla="*/ 0 h 534"/>
              <a:gd name="T116" fmla="*/ 4189 w 4189"/>
              <a:gd name="T117" fmla="*/ 534 h 5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189" h="534">
                <a:moveTo>
                  <a:pt x="4188" y="112"/>
                </a:moveTo>
                <a:lnTo>
                  <a:pt x="4188" y="533"/>
                </a:lnTo>
                <a:lnTo>
                  <a:pt x="0" y="533"/>
                </a:lnTo>
                <a:lnTo>
                  <a:pt x="0" y="112"/>
                </a:lnTo>
                <a:lnTo>
                  <a:pt x="0" y="97"/>
                </a:lnTo>
                <a:lnTo>
                  <a:pt x="108" y="86"/>
                </a:lnTo>
                <a:lnTo>
                  <a:pt x="219" y="75"/>
                </a:lnTo>
                <a:lnTo>
                  <a:pt x="334" y="65"/>
                </a:lnTo>
                <a:lnTo>
                  <a:pt x="453" y="56"/>
                </a:lnTo>
                <a:lnTo>
                  <a:pt x="574" y="48"/>
                </a:lnTo>
                <a:lnTo>
                  <a:pt x="699" y="40"/>
                </a:lnTo>
                <a:lnTo>
                  <a:pt x="826" y="32"/>
                </a:lnTo>
                <a:lnTo>
                  <a:pt x="956" y="25"/>
                </a:lnTo>
                <a:lnTo>
                  <a:pt x="1089" y="20"/>
                </a:lnTo>
                <a:lnTo>
                  <a:pt x="1222" y="15"/>
                </a:lnTo>
                <a:lnTo>
                  <a:pt x="1358" y="11"/>
                </a:lnTo>
                <a:lnTo>
                  <a:pt x="1496" y="7"/>
                </a:lnTo>
                <a:lnTo>
                  <a:pt x="1634" y="4"/>
                </a:lnTo>
                <a:lnTo>
                  <a:pt x="1774" y="2"/>
                </a:lnTo>
                <a:lnTo>
                  <a:pt x="1914" y="0"/>
                </a:lnTo>
                <a:lnTo>
                  <a:pt x="2055" y="0"/>
                </a:lnTo>
                <a:lnTo>
                  <a:pt x="2197" y="0"/>
                </a:lnTo>
                <a:lnTo>
                  <a:pt x="2338" y="1"/>
                </a:lnTo>
                <a:lnTo>
                  <a:pt x="2479" y="2"/>
                </a:lnTo>
                <a:lnTo>
                  <a:pt x="2620" y="5"/>
                </a:lnTo>
                <a:lnTo>
                  <a:pt x="2760" y="8"/>
                </a:lnTo>
                <a:lnTo>
                  <a:pt x="2899" y="12"/>
                </a:lnTo>
                <a:lnTo>
                  <a:pt x="3037" y="16"/>
                </a:lnTo>
                <a:lnTo>
                  <a:pt x="3174" y="22"/>
                </a:lnTo>
                <a:lnTo>
                  <a:pt x="3309" y="29"/>
                </a:lnTo>
                <a:lnTo>
                  <a:pt x="3442" y="36"/>
                </a:lnTo>
                <a:lnTo>
                  <a:pt x="3573" y="44"/>
                </a:lnTo>
                <a:lnTo>
                  <a:pt x="3702" y="53"/>
                </a:lnTo>
                <a:lnTo>
                  <a:pt x="3828" y="63"/>
                </a:lnTo>
                <a:lnTo>
                  <a:pt x="3951" y="73"/>
                </a:lnTo>
                <a:lnTo>
                  <a:pt x="4071" y="85"/>
                </a:lnTo>
                <a:lnTo>
                  <a:pt x="4188" y="97"/>
                </a:lnTo>
                <a:lnTo>
                  <a:pt x="4188" y="112"/>
                </a:lnTo>
              </a:path>
            </a:pathLst>
          </a:custGeom>
          <a:solidFill>
            <a:srgbClr val="40F2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139269" name="Freeform 5">
            <a:extLst>
              <a:ext uri="{FF2B5EF4-FFF2-40B4-BE49-F238E27FC236}">
                <a16:creationId xmlns:a16="http://schemas.microsoft.com/office/drawing/2014/main" id="{48248460-AAFD-B3AB-29FA-AA7C1FF2028B}"/>
              </a:ext>
            </a:extLst>
          </p:cNvPr>
          <p:cNvSpPr>
            <a:spLocks/>
          </p:cNvSpPr>
          <p:nvPr/>
        </p:nvSpPr>
        <p:spPr bwMode="auto">
          <a:xfrm>
            <a:off x="407988" y="5594411"/>
            <a:ext cx="8535987" cy="800100"/>
          </a:xfrm>
          <a:custGeom>
            <a:avLst/>
            <a:gdLst>
              <a:gd name="T0" fmla="*/ 2147483646 w 4189"/>
              <a:gd name="T1" fmla="*/ 2147483646 h 534"/>
              <a:gd name="T2" fmla="*/ 2147483646 w 4189"/>
              <a:gd name="T3" fmla="*/ 2147483646 h 534"/>
              <a:gd name="T4" fmla="*/ 0 w 4189"/>
              <a:gd name="T5" fmla="*/ 2147483646 h 534"/>
              <a:gd name="T6" fmla="*/ 0 w 4189"/>
              <a:gd name="T7" fmla="*/ 2147483646 h 534"/>
              <a:gd name="T8" fmla="*/ 0 w 4189"/>
              <a:gd name="T9" fmla="*/ 2147483646 h 534"/>
              <a:gd name="T10" fmla="*/ 2147483646 w 4189"/>
              <a:gd name="T11" fmla="*/ 2147483646 h 534"/>
              <a:gd name="T12" fmla="*/ 2147483646 w 4189"/>
              <a:gd name="T13" fmla="*/ 2147483646 h 534"/>
              <a:gd name="T14" fmla="*/ 2147483646 w 4189"/>
              <a:gd name="T15" fmla="*/ 2147483646 h 534"/>
              <a:gd name="T16" fmla="*/ 2147483646 w 4189"/>
              <a:gd name="T17" fmla="*/ 2147483646 h 534"/>
              <a:gd name="T18" fmla="*/ 2147483646 w 4189"/>
              <a:gd name="T19" fmla="*/ 2147483646 h 534"/>
              <a:gd name="T20" fmla="*/ 2147483646 w 4189"/>
              <a:gd name="T21" fmla="*/ 2147483646 h 534"/>
              <a:gd name="T22" fmla="*/ 2147483646 w 4189"/>
              <a:gd name="T23" fmla="*/ 2147483646 h 534"/>
              <a:gd name="T24" fmla="*/ 2147483646 w 4189"/>
              <a:gd name="T25" fmla="*/ 2147483646 h 534"/>
              <a:gd name="T26" fmla="*/ 2147483646 w 4189"/>
              <a:gd name="T27" fmla="*/ 2147483646 h 534"/>
              <a:gd name="T28" fmla="*/ 2147483646 w 4189"/>
              <a:gd name="T29" fmla="*/ 2147483646 h 534"/>
              <a:gd name="T30" fmla="*/ 2147483646 w 4189"/>
              <a:gd name="T31" fmla="*/ 2147483646 h 534"/>
              <a:gd name="T32" fmla="*/ 2147483646 w 4189"/>
              <a:gd name="T33" fmla="*/ 2147483646 h 534"/>
              <a:gd name="T34" fmla="*/ 2147483646 w 4189"/>
              <a:gd name="T35" fmla="*/ 2147483646 h 534"/>
              <a:gd name="T36" fmla="*/ 2147483646 w 4189"/>
              <a:gd name="T37" fmla="*/ 2147483646 h 534"/>
              <a:gd name="T38" fmla="*/ 2147483646 w 4189"/>
              <a:gd name="T39" fmla="*/ 0 h 534"/>
              <a:gd name="T40" fmla="*/ 2147483646 w 4189"/>
              <a:gd name="T41" fmla="*/ 0 h 534"/>
              <a:gd name="T42" fmla="*/ 2147483646 w 4189"/>
              <a:gd name="T43" fmla="*/ 0 h 534"/>
              <a:gd name="T44" fmla="*/ 2147483646 w 4189"/>
              <a:gd name="T45" fmla="*/ 2147483646 h 534"/>
              <a:gd name="T46" fmla="*/ 2147483646 w 4189"/>
              <a:gd name="T47" fmla="*/ 2147483646 h 534"/>
              <a:gd name="T48" fmla="*/ 2147483646 w 4189"/>
              <a:gd name="T49" fmla="*/ 2147483646 h 534"/>
              <a:gd name="T50" fmla="*/ 2147483646 w 4189"/>
              <a:gd name="T51" fmla="*/ 2147483646 h 534"/>
              <a:gd name="T52" fmla="*/ 2147483646 w 4189"/>
              <a:gd name="T53" fmla="*/ 2147483646 h 534"/>
              <a:gd name="T54" fmla="*/ 2147483646 w 4189"/>
              <a:gd name="T55" fmla="*/ 2147483646 h 534"/>
              <a:gd name="T56" fmla="*/ 2147483646 w 4189"/>
              <a:gd name="T57" fmla="*/ 2147483646 h 534"/>
              <a:gd name="T58" fmla="*/ 2147483646 w 4189"/>
              <a:gd name="T59" fmla="*/ 2147483646 h 534"/>
              <a:gd name="T60" fmla="*/ 2147483646 w 4189"/>
              <a:gd name="T61" fmla="*/ 2147483646 h 534"/>
              <a:gd name="T62" fmla="*/ 2147483646 w 4189"/>
              <a:gd name="T63" fmla="*/ 2147483646 h 534"/>
              <a:gd name="T64" fmla="*/ 2147483646 w 4189"/>
              <a:gd name="T65" fmla="*/ 2147483646 h 534"/>
              <a:gd name="T66" fmla="*/ 2147483646 w 4189"/>
              <a:gd name="T67" fmla="*/ 2147483646 h 534"/>
              <a:gd name="T68" fmla="*/ 2147483646 w 4189"/>
              <a:gd name="T69" fmla="*/ 2147483646 h 534"/>
              <a:gd name="T70" fmla="*/ 2147483646 w 4189"/>
              <a:gd name="T71" fmla="*/ 2147483646 h 534"/>
              <a:gd name="T72" fmla="*/ 2147483646 w 4189"/>
              <a:gd name="T73" fmla="*/ 2147483646 h 534"/>
              <a:gd name="T74" fmla="*/ 2147483646 w 4189"/>
              <a:gd name="T75" fmla="*/ 2147483646 h 5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189"/>
              <a:gd name="T115" fmla="*/ 0 h 534"/>
              <a:gd name="T116" fmla="*/ 4189 w 4189"/>
              <a:gd name="T117" fmla="*/ 534 h 5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189" h="534">
                <a:moveTo>
                  <a:pt x="4188" y="112"/>
                </a:moveTo>
                <a:lnTo>
                  <a:pt x="4188" y="533"/>
                </a:lnTo>
                <a:lnTo>
                  <a:pt x="0" y="533"/>
                </a:lnTo>
                <a:lnTo>
                  <a:pt x="0" y="112"/>
                </a:lnTo>
                <a:lnTo>
                  <a:pt x="0" y="97"/>
                </a:lnTo>
                <a:lnTo>
                  <a:pt x="108" y="86"/>
                </a:lnTo>
                <a:lnTo>
                  <a:pt x="219" y="75"/>
                </a:lnTo>
                <a:lnTo>
                  <a:pt x="334" y="65"/>
                </a:lnTo>
                <a:lnTo>
                  <a:pt x="453" y="56"/>
                </a:lnTo>
                <a:lnTo>
                  <a:pt x="574" y="48"/>
                </a:lnTo>
                <a:lnTo>
                  <a:pt x="699" y="40"/>
                </a:lnTo>
                <a:lnTo>
                  <a:pt x="826" y="32"/>
                </a:lnTo>
                <a:lnTo>
                  <a:pt x="956" y="25"/>
                </a:lnTo>
                <a:lnTo>
                  <a:pt x="1089" y="20"/>
                </a:lnTo>
                <a:lnTo>
                  <a:pt x="1222" y="15"/>
                </a:lnTo>
                <a:lnTo>
                  <a:pt x="1358" y="11"/>
                </a:lnTo>
                <a:lnTo>
                  <a:pt x="1496" y="7"/>
                </a:lnTo>
                <a:lnTo>
                  <a:pt x="1634" y="4"/>
                </a:lnTo>
                <a:lnTo>
                  <a:pt x="1774" y="2"/>
                </a:lnTo>
                <a:lnTo>
                  <a:pt x="1914" y="0"/>
                </a:lnTo>
                <a:lnTo>
                  <a:pt x="2055" y="0"/>
                </a:lnTo>
                <a:lnTo>
                  <a:pt x="2197" y="0"/>
                </a:lnTo>
                <a:lnTo>
                  <a:pt x="2338" y="1"/>
                </a:lnTo>
                <a:lnTo>
                  <a:pt x="2479" y="2"/>
                </a:lnTo>
                <a:lnTo>
                  <a:pt x="2620" y="5"/>
                </a:lnTo>
                <a:lnTo>
                  <a:pt x="2760" y="8"/>
                </a:lnTo>
                <a:lnTo>
                  <a:pt x="2899" y="12"/>
                </a:lnTo>
                <a:lnTo>
                  <a:pt x="3037" y="16"/>
                </a:lnTo>
                <a:lnTo>
                  <a:pt x="3174" y="22"/>
                </a:lnTo>
                <a:lnTo>
                  <a:pt x="3309" y="29"/>
                </a:lnTo>
                <a:lnTo>
                  <a:pt x="3442" y="36"/>
                </a:lnTo>
                <a:lnTo>
                  <a:pt x="3573" y="44"/>
                </a:lnTo>
                <a:lnTo>
                  <a:pt x="3702" y="53"/>
                </a:lnTo>
                <a:lnTo>
                  <a:pt x="3828" y="63"/>
                </a:lnTo>
                <a:lnTo>
                  <a:pt x="3951" y="73"/>
                </a:lnTo>
                <a:lnTo>
                  <a:pt x="4071" y="85"/>
                </a:lnTo>
                <a:lnTo>
                  <a:pt x="4188" y="97"/>
                </a:lnTo>
                <a:lnTo>
                  <a:pt x="4188" y="112"/>
                </a:lnTo>
              </a:path>
            </a:pathLst>
          </a:custGeom>
          <a:solidFill>
            <a:srgbClr val="FFCC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nvGrpSpPr>
          <p:cNvPr id="2" name="Group 6">
            <a:extLst>
              <a:ext uri="{FF2B5EF4-FFF2-40B4-BE49-F238E27FC236}">
                <a16:creationId xmlns:a16="http://schemas.microsoft.com/office/drawing/2014/main" id="{DA2A502F-8A38-3D1C-FB9F-F44917AD023F}"/>
              </a:ext>
            </a:extLst>
          </p:cNvPr>
          <p:cNvGrpSpPr>
            <a:grpSpLocks/>
          </p:cNvGrpSpPr>
          <p:nvPr/>
        </p:nvGrpSpPr>
        <p:grpSpPr bwMode="auto">
          <a:xfrm>
            <a:off x="3454400" y="3238561"/>
            <a:ext cx="1220788" cy="2379662"/>
            <a:chOff x="2679" y="1951"/>
            <a:chExt cx="952" cy="1748"/>
          </a:xfrm>
        </p:grpSpPr>
        <p:sp>
          <p:nvSpPr>
            <p:cNvPr id="22828" name="Freeform 7">
              <a:extLst>
                <a:ext uri="{FF2B5EF4-FFF2-40B4-BE49-F238E27FC236}">
                  <a16:creationId xmlns:a16="http://schemas.microsoft.com/office/drawing/2014/main" id="{74962F06-B94F-4A51-94FA-06844B4DF71C}"/>
                </a:ext>
              </a:extLst>
            </p:cNvPr>
            <p:cNvSpPr>
              <a:spLocks/>
            </p:cNvSpPr>
            <p:nvPr/>
          </p:nvSpPr>
          <p:spPr bwMode="auto">
            <a:xfrm>
              <a:off x="3500" y="2022"/>
              <a:ext cx="131" cy="77"/>
            </a:xfrm>
            <a:custGeom>
              <a:avLst/>
              <a:gdLst>
                <a:gd name="T0" fmla="*/ 2480706 w 80"/>
                <a:gd name="T1" fmla="*/ 918 h 68"/>
                <a:gd name="T2" fmla="*/ 2415525 w 80"/>
                <a:gd name="T3" fmla="*/ 734 h 68"/>
                <a:gd name="T4" fmla="*/ 2134954 w 80"/>
                <a:gd name="T5" fmla="*/ 610 h 68"/>
                <a:gd name="T6" fmla="*/ 1727965 w 80"/>
                <a:gd name="T7" fmla="*/ 493 h 68"/>
                <a:gd name="T8" fmla="*/ 1325320 w 80"/>
                <a:gd name="T9" fmla="*/ 384 h 68"/>
                <a:gd name="T10" fmla="*/ 880220 w 80"/>
                <a:gd name="T11" fmla="*/ 293 h 68"/>
                <a:gd name="T12" fmla="*/ 550133 w 80"/>
                <a:gd name="T13" fmla="*/ 186 h 68"/>
                <a:gd name="T14" fmla="*/ 402943 w 80"/>
                <a:gd name="T15" fmla="*/ 100 h 68"/>
                <a:gd name="T16" fmla="*/ 402943 w 80"/>
                <a:gd name="T17" fmla="*/ 88 h 68"/>
                <a:gd name="T18" fmla="*/ 34225 w 80"/>
                <a:gd name="T19" fmla="*/ 0 h 68"/>
                <a:gd name="T20" fmla="*/ 0 w 80"/>
                <a:gd name="T21" fmla="*/ 186 h 68"/>
                <a:gd name="T22" fmla="*/ 293974 w 80"/>
                <a:gd name="T23" fmla="*/ 332 h 68"/>
                <a:gd name="T24" fmla="*/ 695772 w 80"/>
                <a:gd name="T25" fmla="*/ 446 h 68"/>
                <a:gd name="T26" fmla="*/ 1090198 w 80"/>
                <a:gd name="T27" fmla="*/ 546 h 68"/>
                <a:gd name="T28" fmla="*/ 1538762 w 80"/>
                <a:gd name="T29" fmla="*/ 638 h 68"/>
                <a:gd name="T30" fmla="*/ 1865648 w 80"/>
                <a:gd name="T31" fmla="*/ 735 h 68"/>
                <a:gd name="T32" fmla="*/ 2045165 w 80"/>
                <a:gd name="T33" fmla="*/ 818 h 68"/>
                <a:gd name="T34" fmla="*/ 2079299 w 80"/>
                <a:gd name="T35" fmla="*/ 847 h 68"/>
                <a:gd name="T36" fmla="*/ 2480706 w 80"/>
                <a:gd name="T37" fmla="*/ 918 h 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8"/>
                <a:gd name="T59" fmla="*/ 80 w 80"/>
                <a:gd name="T60" fmla="*/ 68 h 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8">
                  <a:moveTo>
                    <a:pt x="79" y="67"/>
                  </a:moveTo>
                  <a:lnTo>
                    <a:pt x="77" y="54"/>
                  </a:lnTo>
                  <a:lnTo>
                    <a:pt x="68" y="44"/>
                  </a:lnTo>
                  <a:lnTo>
                    <a:pt x="55" y="36"/>
                  </a:lnTo>
                  <a:lnTo>
                    <a:pt x="42" y="28"/>
                  </a:lnTo>
                  <a:lnTo>
                    <a:pt x="28" y="21"/>
                  </a:lnTo>
                  <a:lnTo>
                    <a:pt x="18" y="14"/>
                  </a:lnTo>
                  <a:lnTo>
                    <a:pt x="13" y="8"/>
                  </a:lnTo>
                  <a:lnTo>
                    <a:pt x="13" y="7"/>
                  </a:lnTo>
                  <a:lnTo>
                    <a:pt x="1" y="0"/>
                  </a:lnTo>
                  <a:lnTo>
                    <a:pt x="0" y="14"/>
                  </a:lnTo>
                  <a:lnTo>
                    <a:pt x="9" y="24"/>
                  </a:lnTo>
                  <a:lnTo>
                    <a:pt x="22" y="33"/>
                  </a:lnTo>
                  <a:lnTo>
                    <a:pt x="35" y="40"/>
                  </a:lnTo>
                  <a:lnTo>
                    <a:pt x="49" y="47"/>
                  </a:lnTo>
                  <a:lnTo>
                    <a:pt x="59" y="55"/>
                  </a:lnTo>
                  <a:lnTo>
                    <a:pt x="65" y="60"/>
                  </a:lnTo>
                  <a:lnTo>
                    <a:pt x="66" y="63"/>
                  </a:lnTo>
                  <a:lnTo>
                    <a:pt x="79" y="6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9" name="Freeform 8">
              <a:extLst>
                <a:ext uri="{FF2B5EF4-FFF2-40B4-BE49-F238E27FC236}">
                  <a16:creationId xmlns:a16="http://schemas.microsoft.com/office/drawing/2014/main" id="{82223568-4647-45F2-1619-0220828B5BBE}"/>
                </a:ext>
              </a:extLst>
            </p:cNvPr>
            <p:cNvSpPr>
              <a:spLocks/>
            </p:cNvSpPr>
            <p:nvPr/>
          </p:nvSpPr>
          <p:spPr bwMode="auto">
            <a:xfrm>
              <a:off x="3456" y="2094"/>
              <a:ext cx="175" cy="21"/>
            </a:xfrm>
            <a:custGeom>
              <a:avLst/>
              <a:gdLst>
                <a:gd name="T0" fmla="*/ 563155 w 106"/>
                <a:gd name="T1" fmla="*/ 368 h 18"/>
                <a:gd name="T2" fmla="*/ 523912 w 106"/>
                <a:gd name="T3" fmla="*/ 426 h 18"/>
                <a:gd name="T4" fmla="*/ 563155 w 106"/>
                <a:gd name="T5" fmla="*/ 418 h 18"/>
                <a:gd name="T6" fmla="*/ 904506 w 106"/>
                <a:gd name="T7" fmla="*/ 358 h 18"/>
                <a:gd name="T8" fmla="*/ 1389091 w 106"/>
                <a:gd name="T9" fmla="*/ 368 h 18"/>
                <a:gd name="T10" fmla="*/ 1984779 w 106"/>
                <a:gd name="T11" fmla="*/ 368 h 18"/>
                <a:gd name="T12" fmla="*/ 2534104 w 106"/>
                <a:gd name="T13" fmla="*/ 418 h 18"/>
                <a:gd name="T14" fmla="*/ 3097518 w 106"/>
                <a:gd name="T15" fmla="*/ 418 h 18"/>
                <a:gd name="T16" fmla="*/ 3579389 w 106"/>
                <a:gd name="T17" fmla="*/ 315 h 18"/>
                <a:gd name="T18" fmla="*/ 3917132 w 106"/>
                <a:gd name="T19" fmla="*/ 55 h 18"/>
                <a:gd name="T20" fmla="*/ 3435385 w 106"/>
                <a:gd name="T21" fmla="*/ 0 h 18"/>
                <a:gd name="T22" fmla="*/ 3369257 w 106"/>
                <a:gd name="T23" fmla="*/ 1 h 18"/>
                <a:gd name="T24" fmla="*/ 3033331 w 106"/>
                <a:gd name="T25" fmla="*/ 55 h 18"/>
                <a:gd name="T26" fmla="*/ 2534104 w 106"/>
                <a:gd name="T27" fmla="*/ 2 h 18"/>
                <a:gd name="T28" fmla="*/ 1984779 w 106"/>
                <a:gd name="T29" fmla="*/ 2 h 18"/>
                <a:gd name="T30" fmla="*/ 1389091 w 106"/>
                <a:gd name="T31" fmla="*/ 1 h 18"/>
                <a:gd name="T32" fmla="*/ 864949 w 106"/>
                <a:gd name="T33" fmla="*/ 2 h 18"/>
                <a:gd name="T34" fmla="*/ 379656 w 106"/>
                <a:gd name="T35" fmla="*/ 55 h 18"/>
                <a:gd name="T36" fmla="*/ 39284 w 106"/>
                <a:gd name="T37" fmla="*/ 315 h 18"/>
                <a:gd name="T38" fmla="*/ 0 w 106"/>
                <a:gd name="T39" fmla="*/ 368 h 18"/>
                <a:gd name="T40" fmla="*/ 39284 w 106"/>
                <a:gd name="T41" fmla="*/ 315 h 18"/>
                <a:gd name="T42" fmla="*/ 0 w 106"/>
                <a:gd name="T43" fmla="*/ 358 h 18"/>
                <a:gd name="T44" fmla="*/ 0 w 106"/>
                <a:gd name="T45" fmla="*/ 368 h 18"/>
                <a:gd name="T46" fmla="*/ 563155 w 106"/>
                <a:gd name="T47" fmla="*/ 368 h 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6"/>
                <a:gd name="T73" fmla="*/ 0 h 18"/>
                <a:gd name="T74" fmla="*/ 106 w 106"/>
                <a:gd name="T75" fmla="*/ 18 h 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6" h="18">
                  <a:moveTo>
                    <a:pt x="15" y="15"/>
                  </a:moveTo>
                  <a:lnTo>
                    <a:pt x="14" y="17"/>
                  </a:lnTo>
                  <a:lnTo>
                    <a:pt x="15" y="16"/>
                  </a:lnTo>
                  <a:lnTo>
                    <a:pt x="24" y="14"/>
                  </a:lnTo>
                  <a:lnTo>
                    <a:pt x="37" y="15"/>
                  </a:lnTo>
                  <a:lnTo>
                    <a:pt x="53" y="15"/>
                  </a:lnTo>
                  <a:lnTo>
                    <a:pt x="68" y="16"/>
                  </a:lnTo>
                  <a:lnTo>
                    <a:pt x="83" y="16"/>
                  </a:lnTo>
                  <a:lnTo>
                    <a:pt x="96" y="13"/>
                  </a:lnTo>
                  <a:lnTo>
                    <a:pt x="105" y="3"/>
                  </a:lnTo>
                  <a:lnTo>
                    <a:pt x="92" y="0"/>
                  </a:lnTo>
                  <a:lnTo>
                    <a:pt x="90" y="1"/>
                  </a:lnTo>
                  <a:lnTo>
                    <a:pt x="81" y="3"/>
                  </a:lnTo>
                  <a:lnTo>
                    <a:pt x="68" y="2"/>
                  </a:lnTo>
                  <a:lnTo>
                    <a:pt x="53" y="2"/>
                  </a:lnTo>
                  <a:lnTo>
                    <a:pt x="37" y="1"/>
                  </a:lnTo>
                  <a:lnTo>
                    <a:pt x="23" y="2"/>
                  </a:lnTo>
                  <a:lnTo>
                    <a:pt x="10" y="3"/>
                  </a:lnTo>
                  <a:lnTo>
                    <a:pt x="1" y="13"/>
                  </a:lnTo>
                  <a:lnTo>
                    <a:pt x="0" y="15"/>
                  </a:lnTo>
                  <a:lnTo>
                    <a:pt x="1" y="13"/>
                  </a:lnTo>
                  <a:lnTo>
                    <a:pt x="0" y="14"/>
                  </a:lnTo>
                  <a:lnTo>
                    <a:pt x="0" y="15"/>
                  </a:lnTo>
                  <a:lnTo>
                    <a:pt x="15" y="1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0" name="Freeform 9">
              <a:extLst>
                <a:ext uri="{FF2B5EF4-FFF2-40B4-BE49-F238E27FC236}">
                  <a16:creationId xmlns:a16="http://schemas.microsoft.com/office/drawing/2014/main" id="{71AE8AC4-7419-B3E7-1CFE-939C0E2FAFB4}"/>
                </a:ext>
              </a:extLst>
            </p:cNvPr>
            <p:cNvSpPr>
              <a:spLocks/>
            </p:cNvSpPr>
            <p:nvPr/>
          </p:nvSpPr>
          <p:spPr bwMode="auto">
            <a:xfrm>
              <a:off x="3456" y="2111"/>
              <a:ext cx="27" cy="6"/>
            </a:xfrm>
            <a:custGeom>
              <a:avLst/>
              <a:gdLst>
                <a:gd name="T0" fmla="*/ 824491 w 16"/>
                <a:gd name="T1" fmla="*/ 179 h 5"/>
                <a:gd name="T2" fmla="*/ 879388 w 16"/>
                <a:gd name="T3" fmla="*/ 2 h 5"/>
                <a:gd name="T4" fmla="*/ 879388 w 16"/>
                <a:gd name="T5" fmla="*/ 0 h 5"/>
                <a:gd name="T6" fmla="*/ 0 w 16"/>
                <a:gd name="T7" fmla="*/ 0 h 5"/>
                <a:gd name="T8" fmla="*/ 0 w 16"/>
                <a:gd name="T9" fmla="*/ 2 h 5"/>
                <a:gd name="T10" fmla="*/ 62006 w 16"/>
                <a:gd name="T11" fmla="*/ 0 h 5"/>
                <a:gd name="T12" fmla="*/ 824491 w 16"/>
                <a:gd name="T13" fmla="*/ 179 h 5"/>
                <a:gd name="T14" fmla="*/ 824491 w 16"/>
                <a:gd name="T15" fmla="*/ 149 h 5"/>
                <a:gd name="T16" fmla="*/ 879388 w 16"/>
                <a:gd name="T17" fmla="*/ 2 h 5"/>
                <a:gd name="T18" fmla="*/ 824491 w 16"/>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5"/>
                <a:gd name="T32" fmla="*/ 16 w 16"/>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5">
                  <a:moveTo>
                    <a:pt x="14" y="4"/>
                  </a:moveTo>
                  <a:lnTo>
                    <a:pt x="15" y="2"/>
                  </a:lnTo>
                  <a:lnTo>
                    <a:pt x="15" y="0"/>
                  </a:lnTo>
                  <a:lnTo>
                    <a:pt x="0" y="0"/>
                  </a:lnTo>
                  <a:lnTo>
                    <a:pt x="0" y="2"/>
                  </a:lnTo>
                  <a:lnTo>
                    <a:pt x="1" y="0"/>
                  </a:lnTo>
                  <a:lnTo>
                    <a:pt x="14" y="4"/>
                  </a:lnTo>
                  <a:lnTo>
                    <a:pt x="14" y="3"/>
                  </a:lnTo>
                  <a:lnTo>
                    <a:pt x="15" y="2"/>
                  </a:lnTo>
                  <a:lnTo>
                    <a:pt x="14"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1" name="Freeform 10">
              <a:extLst>
                <a:ext uri="{FF2B5EF4-FFF2-40B4-BE49-F238E27FC236}">
                  <a16:creationId xmlns:a16="http://schemas.microsoft.com/office/drawing/2014/main" id="{332420C2-E854-5F1B-25AD-08CA7E9FA32E}"/>
                </a:ext>
              </a:extLst>
            </p:cNvPr>
            <p:cNvSpPr>
              <a:spLocks/>
            </p:cNvSpPr>
            <p:nvPr/>
          </p:nvSpPr>
          <p:spPr bwMode="auto">
            <a:xfrm>
              <a:off x="3458" y="2111"/>
              <a:ext cx="132" cy="77"/>
            </a:xfrm>
            <a:custGeom>
              <a:avLst/>
              <a:gdLst>
                <a:gd name="T0" fmla="*/ 2918860 w 80"/>
                <a:gd name="T1" fmla="*/ 1675 h 66"/>
                <a:gd name="T2" fmla="*/ 2842721 w 80"/>
                <a:gd name="T3" fmla="*/ 1341 h 66"/>
                <a:gd name="T4" fmla="*/ 2480000 w 80"/>
                <a:gd name="T5" fmla="*/ 1104 h 66"/>
                <a:gd name="T6" fmla="*/ 2062134 w 80"/>
                <a:gd name="T7" fmla="*/ 921 h 66"/>
                <a:gd name="T8" fmla="*/ 1545345 w 80"/>
                <a:gd name="T9" fmla="*/ 762 h 66"/>
                <a:gd name="T10" fmla="*/ 1026680 w 80"/>
                <a:gd name="T11" fmla="*/ 569 h 66"/>
                <a:gd name="T12" fmla="*/ 692147 w 80"/>
                <a:gd name="T13" fmla="*/ 368 h 66"/>
                <a:gd name="T14" fmla="*/ 520035 w 80"/>
                <a:gd name="T15" fmla="*/ 225 h 66"/>
                <a:gd name="T16" fmla="*/ 477527 w 80"/>
                <a:gd name="T17" fmla="*/ 120 h 66"/>
                <a:gd name="T18" fmla="*/ 0 w 80"/>
                <a:gd name="T19" fmla="*/ 0 h 66"/>
                <a:gd name="T20" fmla="*/ 39046 w 80"/>
                <a:gd name="T21" fmla="*/ 358 h 66"/>
                <a:gd name="T22" fmla="*/ 338181 w 80"/>
                <a:gd name="T23" fmla="*/ 653 h 66"/>
                <a:gd name="T24" fmla="*/ 796859 w 80"/>
                <a:gd name="T25" fmla="*/ 844 h 66"/>
                <a:gd name="T26" fmla="*/ 1300068 w 80"/>
                <a:gd name="T27" fmla="*/ 1055 h 66"/>
                <a:gd name="T28" fmla="*/ 1816008 w 80"/>
                <a:gd name="T29" fmla="*/ 1231 h 66"/>
                <a:gd name="T30" fmla="*/ 2211957 w 80"/>
                <a:gd name="T31" fmla="*/ 1373 h 66"/>
                <a:gd name="T32" fmla="*/ 2399955 w 80"/>
                <a:gd name="T33" fmla="*/ 1496 h 66"/>
                <a:gd name="T34" fmla="*/ 2442464 w 80"/>
                <a:gd name="T35" fmla="*/ 1565 h 66"/>
                <a:gd name="T36" fmla="*/ 2918860 w 80"/>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7" y="44"/>
                  </a:lnTo>
                  <a:lnTo>
                    <a:pt x="56" y="36"/>
                  </a:lnTo>
                  <a:lnTo>
                    <a:pt x="42" y="29"/>
                  </a:lnTo>
                  <a:lnTo>
                    <a:pt x="28" y="22"/>
                  </a:lnTo>
                  <a:lnTo>
                    <a:pt x="19" y="15"/>
                  </a:lnTo>
                  <a:lnTo>
                    <a:pt x="14" y="9"/>
                  </a:lnTo>
                  <a:lnTo>
                    <a:pt x="13" y="4"/>
                  </a:lnTo>
                  <a:lnTo>
                    <a:pt x="0" y="0"/>
                  </a:lnTo>
                  <a:lnTo>
                    <a:pt x="1" y="14"/>
                  </a:lnTo>
                  <a:lnTo>
                    <a:pt x="9" y="25"/>
                  </a:lnTo>
                  <a:lnTo>
                    <a:pt x="22" y="33"/>
                  </a:lnTo>
                  <a:lnTo>
                    <a:pt x="35" y="41"/>
                  </a:lnTo>
                  <a:lnTo>
                    <a:pt x="49" y="48"/>
                  </a:lnTo>
                  <a:lnTo>
                    <a:pt x="60" y="54"/>
                  </a:lnTo>
                  <a:lnTo>
                    <a:pt x="65" y="59"/>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2" name="Freeform 11">
              <a:extLst>
                <a:ext uri="{FF2B5EF4-FFF2-40B4-BE49-F238E27FC236}">
                  <a16:creationId xmlns:a16="http://schemas.microsoft.com/office/drawing/2014/main" id="{3C83ED63-9976-E892-9E6B-6AACACAAD254}"/>
                </a:ext>
              </a:extLst>
            </p:cNvPr>
            <p:cNvSpPr>
              <a:spLocks/>
            </p:cNvSpPr>
            <p:nvPr/>
          </p:nvSpPr>
          <p:spPr bwMode="auto">
            <a:xfrm>
              <a:off x="3412" y="2181"/>
              <a:ext cx="178" cy="30"/>
            </a:xfrm>
            <a:custGeom>
              <a:avLst/>
              <a:gdLst>
                <a:gd name="T0" fmla="*/ 467977 w 108"/>
                <a:gd name="T1" fmla="*/ 496 h 26"/>
                <a:gd name="T2" fmla="*/ 572069 w 108"/>
                <a:gd name="T3" fmla="*/ 430 h 26"/>
                <a:gd name="T4" fmla="*/ 904365 w 108"/>
                <a:gd name="T5" fmla="*/ 404 h 26"/>
                <a:gd name="T6" fmla="*/ 1377308 w 108"/>
                <a:gd name="T7" fmla="*/ 373 h 26"/>
                <a:gd name="T8" fmla="*/ 1950046 w 108"/>
                <a:gd name="T9" fmla="*/ 373 h 26"/>
                <a:gd name="T10" fmla="*/ 2520165 w 108"/>
                <a:gd name="T11" fmla="*/ 372 h 26"/>
                <a:gd name="T12" fmla="*/ 3106008 w 108"/>
                <a:gd name="T13" fmla="*/ 350 h 26"/>
                <a:gd name="T14" fmla="*/ 3543764 w 108"/>
                <a:gd name="T15" fmla="*/ 279 h 26"/>
                <a:gd name="T16" fmla="*/ 3851116 w 108"/>
                <a:gd name="T17" fmla="*/ 89 h 26"/>
                <a:gd name="T18" fmla="*/ 3382615 w 108"/>
                <a:gd name="T19" fmla="*/ 0 h 26"/>
                <a:gd name="T20" fmla="*/ 3279487 w 108"/>
                <a:gd name="T21" fmla="*/ 2 h 26"/>
                <a:gd name="T22" fmla="*/ 2995110 w 108"/>
                <a:gd name="T23" fmla="*/ 89 h 26"/>
                <a:gd name="T24" fmla="*/ 2520165 w 108"/>
                <a:gd name="T25" fmla="*/ 103 h 26"/>
                <a:gd name="T26" fmla="*/ 1950046 w 108"/>
                <a:gd name="T27" fmla="*/ 103 h 26"/>
                <a:gd name="T28" fmla="*/ 1377308 w 108"/>
                <a:gd name="T29" fmla="*/ 119 h 26"/>
                <a:gd name="T30" fmla="*/ 835670 w 108"/>
                <a:gd name="T31" fmla="*/ 137 h 26"/>
                <a:gd name="T32" fmla="*/ 347098 w 108"/>
                <a:gd name="T33" fmla="*/ 228 h 26"/>
                <a:gd name="T34" fmla="*/ 0 w 108"/>
                <a:gd name="T35" fmla="*/ 429 h 26"/>
                <a:gd name="T36" fmla="*/ 467977 w 108"/>
                <a:gd name="T37" fmla="*/ 496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6"/>
                <a:gd name="T59" fmla="*/ 108 w 108"/>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6">
                  <a:moveTo>
                    <a:pt x="13" y="25"/>
                  </a:moveTo>
                  <a:lnTo>
                    <a:pt x="16" y="22"/>
                  </a:lnTo>
                  <a:lnTo>
                    <a:pt x="25" y="20"/>
                  </a:lnTo>
                  <a:lnTo>
                    <a:pt x="38" y="19"/>
                  </a:lnTo>
                  <a:lnTo>
                    <a:pt x="54" y="19"/>
                  </a:lnTo>
                  <a:lnTo>
                    <a:pt x="70" y="18"/>
                  </a:lnTo>
                  <a:lnTo>
                    <a:pt x="86" y="17"/>
                  </a:lnTo>
                  <a:lnTo>
                    <a:pt x="98" y="14"/>
                  </a:lnTo>
                  <a:lnTo>
                    <a:pt x="107" y="4"/>
                  </a:lnTo>
                  <a:lnTo>
                    <a:pt x="94" y="0"/>
                  </a:lnTo>
                  <a:lnTo>
                    <a:pt x="91" y="2"/>
                  </a:lnTo>
                  <a:lnTo>
                    <a:pt x="83" y="4"/>
                  </a:lnTo>
                  <a:lnTo>
                    <a:pt x="70" y="5"/>
                  </a:lnTo>
                  <a:lnTo>
                    <a:pt x="54" y="5"/>
                  </a:lnTo>
                  <a:lnTo>
                    <a:pt x="38" y="6"/>
                  </a:lnTo>
                  <a:lnTo>
                    <a:pt x="23" y="7"/>
                  </a:lnTo>
                  <a:lnTo>
                    <a:pt x="10"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3" name="Freeform 12">
              <a:extLst>
                <a:ext uri="{FF2B5EF4-FFF2-40B4-BE49-F238E27FC236}">
                  <a16:creationId xmlns:a16="http://schemas.microsoft.com/office/drawing/2014/main" id="{B7A78E5D-4E3F-AD4A-2F1E-AA9D490BB3CA}"/>
                </a:ext>
              </a:extLst>
            </p:cNvPr>
            <p:cNvSpPr>
              <a:spLocks/>
            </p:cNvSpPr>
            <p:nvPr/>
          </p:nvSpPr>
          <p:spPr bwMode="auto">
            <a:xfrm>
              <a:off x="3412" y="2206"/>
              <a:ext cx="131" cy="76"/>
            </a:xfrm>
            <a:custGeom>
              <a:avLst/>
              <a:gdLst>
                <a:gd name="T0" fmla="*/ 2480706 w 80"/>
                <a:gd name="T1" fmla="*/ 922 h 67"/>
                <a:gd name="T2" fmla="*/ 2480706 w 80"/>
                <a:gd name="T3" fmla="*/ 932 h 67"/>
                <a:gd name="T4" fmla="*/ 2415525 w 80"/>
                <a:gd name="T5" fmla="*/ 740 h 67"/>
                <a:gd name="T6" fmla="*/ 2134954 w 80"/>
                <a:gd name="T7" fmla="*/ 620 h 67"/>
                <a:gd name="T8" fmla="*/ 1769243 w 80"/>
                <a:gd name="T9" fmla="*/ 496 h 67"/>
                <a:gd name="T10" fmla="*/ 1346184 w 80"/>
                <a:gd name="T11" fmla="*/ 385 h 67"/>
                <a:gd name="T12" fmla="*/ 939702 w 80"/>
                <a:gd name="T13" fmla="*/ 270 h 67"/>
                <a:gd name="T14" fmla="*/ 603561 w 80"/>
                <a:gd name="T15" fmla="*/ 164 h 67"/>
                <a:gd name="T16" fmla="*/ 445495 w 80"/>
                <a:gd name="T17" fmla="*/ 78 h 67"/>
                <a:gd name="T18" fmla="*/ 402943 w 80"/>
                <a:gd name="T19" fmla="*/ 61 h 67"/>
                <a:gd name="T20" fmla="*/ 0 w 80"/>
                <a:gd name="T21" fmla="*/ 0 h 67"/>
                <a:gd name="T22" fmla="*/ 56043 w 80"/>
                <a:gd name="T23" fmla="*/ 185 h 67"/>
                <a:gd name="T24" fmla="*/ 306592 w 80"/>
                <a:gd name="T25" fmla="*/ 307 h 67"/>
                <a:gd name="T26" fmla="*/ 695772 w 80"/>
                <a:gd name="T27" fmla="*/ 437 h 67"/>
                <a:gd name="T28" fmla="*/ 1139327 w 80"/>
                <a:gd name="T29" fmla="*/ 557 h 67"/>
                <a:gd name="T30" fmla="*/ 1538762 w 80"/>
                <a:gd name="T31" fmla="*/ 652 h 67"/>
                <a:gd name="T32" fmla="*/ 1865648 w 80"/>
                <a:gd name="T33" fmla="*/ 740 h 67"/>
                <a:gd name="T34" fmla="*/ 2045165 w 80"/>
                <a:gd name="T35" fmla="*/ 836 h 67"/>
                <a:gd name="T36" fmla="*/ 2079299 w 80"/>
                <a:gd name="T37" fmla="*/ 839 h 67"/>
                <a:gd name="T38" fmla="*/ 2079299 w 80"/>
                <a:gd name="T39" fmla="*/ 841 h 67"/>
                <a:gd name="T40" fmla="*/ 2480706 w 80"/>
                <a:gd name="T41" fmla="*/ 922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67"/>
                <a:gd name="T65" fmla="*/ 80 w 8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67">
                  <a:moveTo>
                    <a:pt x="79" y="65"/>
                  </a:moveTo>
                  <a:lnTo>
                    <a:pt x="79" y="66"/>
                  </a:lnTo>
                  <a:lnTo>
                    <a:pt x="77" y="53"/>
                  </a:lnTo>
                  <a:lnTo>
                    <a:pt x="68" y="43"/>
                  </a:lnTo>
                  <a:lnTo>
                    <a:pt x="56" y="35"/>
                  </a:lnTo>
                  <a:lnTo>
                    <a:pt x="43" y="27"/>
                  </a:lnTo>
                  <a:lnTo>
                    <a:pt x="30" y="19"/>
                  </a:lnTo>
                  <a:lnTo>
                    <a:pt x="19" y="12"/>
                  </a:lnTo>
                  <a:lnTo>
                    <a:pt x="14" y="6"/>
                  </a:lnTo>
                  <a:lnTo>
                    <a:pt x="13" y="4"/>
                  </a:lnTo>
                  <a:lnTo>
                    <a:pt x="0" y="0"/>
                  </a:lnTo>
                  <a:lnTo>
                    <a:pt x="2" y="13"/>
                  </a:lnTo>
                  <a:lnTo>
                    <a:pt x="10" y="23"/>
                  </a:lnTo>
                  <a:lnTo>
                    <a:pt x="22" y="31"/>
                  </a:lnTo>
                  <a:lnTo>
                    <a:pt x="36" y="39"/>
                  </a:lnTo>
                  <a:lnTo>
                    <a:pt x="49" y="47"/>
                  </a:lnTo>
                  <a:lnTo>
                    <a:pt x="59" y="53"/>
                  </a:lnTo>
                  <a:lnTo>
                    <a:pt x="65" y="59"/>
                  </a:lnTo>
                  <a:lnTo>
                    <a:pt x="66" y="60"/>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4" name="Freeform 13">
              <a:extLst>
                <a:ext uri="{FF2B5EF4-FFF2-40B4-BE49-F238E27FC236}">
                  <a16:creationId xmlns:a16="http://schemas.microsoft.com/office/drawing/2014/main" id="{DB357FFC-B3D3-454B-0A16-7A97EB2E0B63}"/>
                </a:ext>
              </a:extLst>
            </p:cNvPr>
            <p:cNvSpPr>
              <a:spLocks/>
            </p:cNvSpPr>
            <p:nvPr/>
          </p:nvSpPr>
          <p:spPr bwMode="auto">
            <a:xfrm>
              <a:off x="3370" y="2276"/>
              <a:ext cx="173" cy="24"/>
            </a:xfrm>
            <a:custGeom>
              <a:avLst/>
              <a:gdLst>
                <a:gd name="T0" fmla="*/ 417519 w 106"/>
                <a:gd name="T1" fmla="*/ 302 h 21"/>
                <a:gd name="T2" fmla="*/ 373313 w 106"/>
                <a:gd name="T3" fmla="*/ 326 h 21"/>
                <a:gd name="T4" fmla="*/ 430014 w 106"/>
                <a:gd name="T5" fmla="*/ 326 h 21"/>
                <a:gd name="T6" fmla="*/ 681423 w 106"/>
                <a:gd name="T7" fmla="*/ 302 h 21"/>
                <a:gd name="T8" fmla="*/ 1059028 w 106"/>
                <a:gd name="T9" fmla="*/ 302 h 21"/>
                <a:gd name="T10" fmla="*/ 1530828 w 106"/>
                <a:gd name="T11" fmla="*/ 302 h 21"/>
                <a:gd name="T12" fmla="*/ 1989524 w 106"/>
                <a:gd name="T13" fmla="*/ 302 h 21"/>
                <a:gd name="T14" fmla="*/ 2468792 w 106"/>
                <a:gd name="T15" fmla="*/ 278 h 21"/>
                <a:gd name="T16" fmla="*/ 2820902 w 106"/>
                <a:gd name="T17" fmla="*/ 213 h 21"/>
                <a:gd name="T18" fmla="*/ 3075039 w 106"/>
                <a:gd name="T19" fmla="*/ 3 h 21"/>
                <a:gd name="T20" fmla="*/ 2702097 w 106"/>
                <a:gd name="T21" fmla="*/ 0 h 21"/>
                <a:gd name="T22" fmla="*/ 2613447 w 106"/>
                <a:gd name="T23" fmla="*/ 1 h 21"/>
                <a:gd name="T24" fmla="*/ 2370041 w 106"/>
                <a:gd name="T25" fmla="*/ 73 h 21"/>
                <a:gd name="T26" fmla="*/ 1989524 w 106"/>
                <a:gd name="T27" fmla="*/ 73 h 21"/>
                <a:gd name="T28" fmla="*/ 1530828 w 106"/>
                <a:gd name="T29" fmla="*/ 73 h 21"/>
                <a:gd name="T30" fmla="*/ 1059028 w 106"/>
                <a:gd name="T31" fmla="*/ 73 h 21"/>
                <a:gd name="T32" fmla="*/ 648884 w 106"/>
                <a:gd name="T33" fmla="*/ 83 h 21"/>
                <a:gd name="T34" fmla="*/ 285758 w 106"/>
                <a:gd name="T35" fmla="*/ 109 h 21"/>
                <a:gd name="T36" fmla="*/ 0 w 106"/>
                <a:gd name="T37" fmla="*/ 264 h 21"/>
                <a:gd name="T38" fmla="*/ 0 w 106"/>
                <a:gd name="T39" fmla="*/ 302 h 21"/>
                <a:gd name="T40" fmla="*/ 0 w 106"/>
                <a:gd name="T41" fmla="*/ 264 h 21"/>
                <a:gd name="T42" fmla="*/ 0 w 106"/>
                <a:gd name="T43" fmla="*/ 302 h 21"/>
                <a:gd name="T44" fmla="*/ 417519 w 106"/>
                <a:gd name="T45" fmla="*/ 302 h 2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6"/>
                <a:gd name="T70" fmla="*/ 0 h 21"/>
                <a:gd name="T71" fmla="*/ 106 w 106"/>
                <a:gd name="T72" fmla="*/ 21 h 2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6" h="21">
                  <a:moveTo>
                    <a:pt x="14" y="18"/>
                  </a:moveTo>
                  <a:lnTo>
                    <a:pt x="13" y="20"/>
                  </a:lnTo>
                  <a:lnTo>
                    <a:pt x="15" y="20"/>
                  </a:lnTo>
                  <a:lnTo>
                    <a:pt x="23" y="18"/>
                  </a:lnTo>
                  <a:lnTo>
                    <a:pt x="36" y="18"/>
                  </a:lnTo>
                  <a:lnTo>
                    <a:pt x="52" y="18"/>
                  </a:lnTo>
                  <a:lnTo>
                    <a:pt x="68" y="18"/>
                  </a:lnTo>
                  <a:lnTo>
                    <a:pt x="84" y="17"/>
                  </a:lnTo>
                  <a:lnTo>
                    <a:pt x="96" y="13"/>
                  </a:lnTo>
                  <a:lnTo>
                    <a:pt x="105" y="3"/>
                  </a:lnTo>
                  <a:lnTo>
                    <a:pt x="92" y="0"/>
                  </a:lnTo>
                  <a:lnTo>
                    <a:pt x="89" y="1"/>
                  </a:lnTo>
                  <a:lnTo>
                    <a:pt x="81" y="4"/>
                  </a:lnTo>
                  <a:lnTo>
                    <a:pt x="68" y="4"/>
                  </a:lnTo>
                  <a:lnTo>
                    <a:pt x="52" y="4"/>
                  </a:lnTo>
                  <a:lnTo>
                    <a:pt x="36" y="4"/>
                  </a:lnTo>
                  <a:lnTo>
                    <a:pt x="22" y="5"/>
                  </a:lnTo>
                  <a:lnTo>
                    <a:pt x="10" y="7"/>
                  </a:lnTo>
                  <a:lnTo>
                    <a:pt x="0" y="16"/>
                  </a:lnTo>
                  <a:lnTo>
                    <a:pt x="0" y="18"/>
                  </a:lnTo>
                  <a:lnTo>
                    <a:pt x="0" y="16"/>
                  </a:lnTo>
                  <a:lnTo>
                    <a:pt x="0" y="18"/>
                  </a:lnTo>
                  <a:lnTo>
                    <a:pt x="14" y="1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5" name="Freeform 14">
              <a:extLst>
                <a:ext uri="{FF2B5EF4-FFF2-40B4-BE49-F238E27FC236}">
                  <a16:creationId xmlns:a16="http://schemas.microsoft.com/office/drawing/2014/main" id="{04A488AD-FF84-EDAA-E581-3E7AB3041722}"/>
                </a:ext>
              </a:extLst>
            </p:cNvPr>
            <p:cNvSpPr>
              <a:spLocks/>
            </p:cNvSpPr>
            <p:nvPr/>
          </p:nvSpPr>
          <p:spPr bwMode="auto">
            <a:xfrm>
              <a:off x="3370" y="2295"/>
              <a:ext cx="23" cy="7"/>
            </a:xfrm>
            <a:custGeom>
              <a:avLst/>
              <a:gdLst>
                <a:gd name="T0" fmla="*/ 105177 w 15"/>
                <a:gd name="T1" fmla="*/ 140 h 6"/>
                <a:gd name="T2" fmla="*/ 107243 w 15"/>
                <a:gd name="T3" fmla="*/ 2 h 6"/>
                <a:gd name="T4" fmla="*/ 0 w 15"/>
                <a:gd name="T5" fmla="*/ 2 h 6"/>
                <a:gd name="T6" fmla="*/ 0 w 15"/>
                <a:gd name="T7" fmla="*/ 0 h 6"/>
                <a:gd name="T8" fmla="*/ 105177 w 15"/>
                <a:gd name="T9" fmla="*/ 140 h 6"/>
                <a:gd name="T10" fmla="*/ 107243 w 15"/>
                <a:gd name="T11" fmla="*/ 120 h 6"/>
                <a:gd name="T12" fmla="*/ 107243 w 15"/>
                <a:gd name="T13" fmla="*/ 2 h 6"/>
                <a:gd name="T14" fmla="*/ 105177 w 15"/>
                <a:gd name="T15" fmla="*/ 140 h 6"/>
                <a:gd name="T16" fmla="*/ 0 60000 65536"/>
                <a:gd name="T17" fmla="*/ 0 60000 65536"/>
                <a:gd name="T18" fmla="*/ 0 60000 65536"/>
                <a:gd name="T19" fmla="*/ 0 60000 65536"/>
                <a:gd name="T20" fmla="*/ 0 60000 65536"/>
                <a:gd name="T21" fmla="*/ 0 60000 65536"/>
                <a:gd name="T22" fmla="*/ 0 60000 65536"/>
                <a:gd name="T23" fmla="*/ 0 60000 65536"/>
                <a:gd name="T24" fmla="*/ 0 w 15"/>
                <a:gd name="T25" fmla="*/ 0 h 6"/>
                <a:gd name="T26" fmla="*/ 15 w 15"/>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 h="6">
                  <a:moveTo>
                    <a:pt x="13" y="5"/>
                  </a:moveTo>
                  <a:lnTo>
                    <a:pt x="14" y="2"/>
                  </a:lnTo>
                  <a:lnTo>
                    <a:pt x="0" y="2"/>
                  </a:lnTo>
                  <a:lnTo>
                    <a:pt x="0" y="0"/>
                  </a:lnTo>
                  <a:lnTo>
                    <a:pt x="13" y="5"/>
                  </a:lnTo>
                  <a:lnTo>
                    <a:pt x="14" y="4"/>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6" name="Freeform 15">
              <a:extLst>
                <a:ext uri="{FF2B5EF4-FFF2-40B4-BE49-F238E27FC236}">
                  <a16:creationId xmlns:a16="http://schemas.microsoft.com/office/drawing/2014/main" id="{627E6C23-3436-D7F8-3456-AD3CBAC068D7}"/>
                </a:ext>
              </a:extLst>
            </p:cNvPr>
            <p:cNvSpPr>
              <a:spLocks/>
            </p:cNvSpPr>
            <p:nvPr/>
          </p:nvSpPr>
          <p:spPr bwMode="auto">
            <a:xfrm>
              <a:off x="3370" y="2295"/>
              <a:ext cx="127" cy="78"/>
            </a:xfrm>
            <a:custGeom>
              <a:avLst/>
              <a:gdLst>
                <a:gd name="T0" fmla="*/ 2148934 w 78"/>
                <a:gd name="T1" fmla="*/ 1621 h 67"/>
                <a:gd name="T2" fmla="*/ 2097509 w 78"/>
                <a:gd name="T3" fmla="*/ 1299 h 67"/>
                <a:gd name="T4" fmla="*/ 1863481 w 78"/>
                <a:gd name="T5" fmla="*/ 1056 h 67"/>
                <a:gd name="T6" fmla="*/ 1545582 w 78"/>
                <a:gd name="T7" fmla="*/ 845 h 67"/>
                <a:gd name="T8" fmla="*/ 1171616 w 78"/>
                <a:gd name="T9" fmla="*/ 637 h 67"/>
                <a:gd name="T10" fmla="*/ 842106 w 78"/>
                <a:gd name="T11" fmla="*/ 470 h 67"/>
                <a:gd name="T12" fmla="*/ 524450 w 78"/>
                <a:gd name="T13" fmla="*/ 261 h 67"/>
                <a:gd name="T14" fmla="*/ 391253 w 78"/>
                <a:gd name="T15" fmla="*/ 139 h 67"/>
                <a:gd name="T16" fmla="*/ 358067 w 78"/>
                <a:gd name="T17" fmla="*/ 119 h 67"/>
                <a:gd name="T18" fmla="*/ 0 w 78"/>
                <a:gd name="T19" fmla="*/ 0 h 67"/>
                <a:gd name="T20" fmla="*/ 50948 w 78"/>
                <a:gd name="T21" fmla="*/ 304 h 67"/>
                <a:gd name="T22" fmla="*/ 271430 w 78"/>
                <a:gd name="T23" fmla="*/ 547 h 67"/>
                <a:gd name="T24" fmla="*/ 620047 w 78"/>
                <a:gd name="T25" fmla="*/ 742 h 67"/>
                <a:gd name="T26" fmla="*/ 978183 w 78"/>
                <a:gd name="T27" fmla="*/ 910 h 67"/>
                <a:gd name="T28" fmla="*/ 1319818 w 78"/>
                <a:gd name="T29" fmla="*/ 1132 h 67"/>
                <a:gd name="T30" fmla="*/ 1607587 w 78"/>
                <a:gd name="T31" fmla="*/ 1299 h 67"/>
                <a:gd name="T32" fmla="*/ 1778832 w 78"/>
                <a:gd name="T33" fmla="*/ 1442 h 67"/>
                <a:gd name="T34" fmla="*/ 1778832 w 78"/>
                <a:gd name="T35" fmla="*/ 1512 h 67"/>
                <a:gd name="T36" fmla="*/ 2148934 w 78"/>
                <a:gd name="T37" fmla="*/ 1621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67"/>
                <a:gd name="T59" fmla="*/ 78 w 78"/>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67">
                  <a:moveTo>
                    <a:pt x="77" y="66"/>
                  </a:moveTo>
                  <a:lnTo>
                    <a:pt x="75" y="53"/>
                  </a:lnTo>
                  <a:lnTo>
                    <a:pt x="67" y="43"/>
                  </a:lnTo>
                  <a:lnTo>
                    <a:pt x="55" y="34"/>
                  </a:lnTo>
                  <a:lnTo>
                    <a:pt x="42" y="26"/>
                  </a:lnTo>
                  <a:lnTo>
                    <a:pt x="30" y="19"/>
                  </a:lnTo>
                  <a:lnTo>
                    <a:pt x="19" y="11"/>
                  </a:lnTo>
                  <a:lnTo>
                    <a:pt x="14" y="6"/>
                  </a:lnTo>
                  <a:lnTo>
                    <a:pt x="13" y="5"/>
                  </a:lnTo>
                  <a:lnTo>
                    <a:pt x="0" y="0"/>
                  </a:lnTo>
                  <a:lnTo>
                    <a:pt x="2" y="13"/>
                  </a:lnTo>
                  <a:lnTo>
                    <a:pt x="10" y="22"/>
                  </a:lnTo>
                  <a:lnTo>
                    <a:pt x="22" y="30"/>
                  </a:lnTo>
                  <a:lnTo>
                    <a:pt x="35" y="38"/>
                  </a:lnTo>
                  <a:lnTo>
                    <a:pt x="47" y="46"/>
                  </a:lnTo>
                  <a:lnTo>
                    <a:pt x="58" y="53"/>
                  </a:lnTo>
                  <a:lnTo>
                    <a:pt x="64" y="60"/>
                  </a:lnTo>
                  <a:lnTo>
                    <a:pt x="64" y="62"/>
                  </a:lnTo>
                  <a:lnTo>
                    <a:pt x="77"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7" name="Freeform 16">
              <a:extLst>
                <a:ext uri="{FF2B5EF4-FFF2-40B4-BE49-F238E27FC236}">
                  <a16:creationId xmlns:a16="http://schemas.microsoft.com/office/drawing/2014/main" id="{CBDEBC95-9B3F-0297-173C-54CB5789DEFA}"/>
                </a:ext>
              </a:extLst>
            </p:cNvPr>
            <p:cNvSpPr>
              <a:spLocks/>
            </p:cNvSpPr>
            <p:nvPr/>
          </p:nvSpPr>
          <p:spPr bwMode="auto">
            <a:xfrm>
              <a:off x="3321" y="2366"/>
              <a:ext cx="176" cy="29"/>
            </a:xfrm>
            <a:custGeom>
              <a:avLst/>
              <a:gdLst>
                <a:gd name="T0" fmla="*/ 448956 w 107"/>
                <a:gd name="T1" fmla="*/ 530 h 25"/>
                <a:gd name="T2" fmla="*/ 520021 w 107"/>
                <a:gd name="T3" fmla="*/ 516 h 25"/>
                <a:gd name="T4" fmla="*/ 806439 w 107"/>
                <a:gd name="T5" fmla="*/ 455 h 25"/>
                <a:gd name="T6" fmla="*/ 1274250 w 107"/>
                <a:gd name="T7" fmla="*/ 455 h 25"/>
                <a:gd name="T8" fmla="*/ 1803036 w 107"/>
                <a:gd name="T9" fmla="*/ 455 h 25"/>
                <a:gd name="T10" fmla="*/ 2374059 w 107"/>
                <a:gd name="T11" fmla="*/ 394 h 25"/>
                <a:gd name="T12" fmla="*/ 2899460 w 107"/>
                <a:gd name="T13" fmla="*/ 394 h 25"/>
                <a:gd name="T14" fmla="*/ 3361858 w 107"/>
                <a:gd name="T15" fmla="*/ 331 h 25"/>
                <a:gd name="T16" fmla="*/ 3649694 w 107"/>
                <a:gd name="T17" fmla="*/ 101 h 25"/>
                <a:gd name="T18" fmla="*/ 3223782 w 107"/>
                <a:gd name="T19" fmla="*/ 0 h 25"/>
                <a:gd name="T20" fmla="*/ 3107351 w 107"/>
                <a:gd name="T21" fmla="*/ 2 h 25"/>
                <a:gd name="T22" fmla="*/ 2796262 w 107"/>
                <a:gd name="T23" fmla="*/ 117 h 25"/>
                <a:gd name="T24" fmla="*/ 2374059 w 107"/>
                <a:gd name="T25" fmla="*/ 117 h 25"/>
                <a:gd name="T26" fmla="*/ 1803036 w 107"/>
                <a:gd name="T27" fmla="*/ 117 h 25"/>
                <a:gd name="T28" fmla="*/ 1274250 w 107"/>
                <a:gd name="T29" fmla="*/ 117 h 25"/>
                <a:gd name="T30" fmla="*/ 755427 w 107"/>
                <a:gd name="T31" fmla="*/ 158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3" y="20"/>
                  </a:lnTo>
                  <a:lnTo>
                    <a:pt x="37" y="20"/>
                  </a:lnTo>
                  <a:lnTo>
                    <a:pt x="52" y="20"/>
                  </a:lnTo>
                  <a:lnTo>
                    <a:pt x="69" y="18"/>
                  </a:lnTo>
                  <a:lnTo>
                    <a:pt x="84" y="18"/>
                  </a:lnTo>
                  <a:lnTo>
                    <a:pt x="97" y="14"/>
                  </a:lnTo>
                  <a:lnTo>
                    <a:pt x="106" y="4"/>
                  </a:lnTo>
                  <a:lnTo>
                    <a:pt x="93" y="0"/>
                  </a:lnTo>
                  <a:lnTo>
                    <a:pt x="90" y="2"/>
                  </a:lnTo>
                  <a:lnTo>
                    <a:pt x="81" y="5"/>
                  </a:lnTo>
                  <a:lnTo>
                    <a:pt x="69" y="5"/>
                  </a:lnTo>
                  <a:lnTo>
                    <a:pt x="52" y="5"/>
                  </a:lnTo>
                  <a:lnTo>
                    <a:pt x="37" y="5"/>
                  </a:lnTo>
                  <a:lnTo>
                    <a:pt x="22"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8" name="Freeform 17">
              <a:extLst>
                <a:ext uri="{FF2B5EF4-FFF2-40B4-BE49-F238E27FC236}">
                  <a16:creationId xmlns:a16="http://schemas.microsoft.com/office/drawing/2014/main" id="{3DA47E08-3CAD-60EC-FA6C-1979C5203C43}"/>
                </a:ext>
              </a:extLst>
            </p:cNvPr>
            <p:cNvSpPr>
              <a:spLocks/>
            </p:cNvSpPr>
            <p:nvPr/>
          </p:nvSpPr>
          <p:spPr bwMode="auto">
            <a:xfrm>
              <a:off x="3321" y="2390"/>
              <a:ext cx="133" cy="76"/>
            </a:xfrm>
            <a:custGeom>
              <a:avLst/>
              <a:gdLst>
                <a:gd name="T0" fmla="*/ 3407716 w 80"/>
                <a:gd name="T1" fmla="*/ 932 h 67"/>
                <a:gd name="T2" fmla="*/ 3335106 w 80"/>
                <a:gd name="T3" fmla="*/ 740 h 67"/>
                <a:gd name="T4" fmla="*/ 2945860 w 80"/>
                <a:gd name="T5" fmla="*/ 620 h 67"/>
                <a:gd name="T6" fmla="*/ 2476974 w 80"/>
                <a:gd name="T7" fmla="*/ 496 h 67"/>
                <a:gd name="T8" fmla="*/ 1845656 w 80"/>
                <a:gd name="T9" fmla="*/ 385 h 67"/>
                <a:gd name="T10" fmla="*/ 1296454 w 80"/>
                <a:gd name="T11" fmla="*/ 270 h 67"/>
                <a:gd name="T12" fmla="*/ 853740 w 80"/>
                <a:gd name="T13" fmla="*/ 164 h 67"/>
                <a:gd name="T14" fmla="*/ 596282 w 80"/>
                <a:gd name="T15" fmla="*/ 88 h 67"/>
                <a:gd name="T16" fmla="*/ 581923 w 80"/>
                <a:gd name="T17" fmla="*/ 61 h 67"/>
                <a:gd name="T18" fmla="*/ 0 w 80"/>
                <a:gd name="T19" fmla="*/ 0 h 67"/>
                <a:gd name="T20" fmla="*/ 76176 w 80"/>
                <a:gd name="T21" fmla="*/ 185 h 67"/>
                <a:gd name="T22" fmla="*/ 469066 w 80"/>
                <a:gd name="T23" fmla="*/ 306 h 67"/>
                <a:gd name="T24" fmla="*/ 967447 w 80"/>
                <a:gd name="T25" fmla="*/ 437 h 67"/>
                <a:gd name="T26" fmla="*/ 1608381 w 80"/>
                <a:gd name="T27" fmla="*/ 557 h 67"/>
                <a:gd name="T28" fmla="*/ 2103488 w 80"/>
                <a:gd name="T29" fmla="*/ 650 h 67"/>
                <a:gd name="T30" fmla="*/ 2553944 w 80"/>
                <a:gd name="T31" fmla="*/ 741 h 67"/>
                <a:gd name="T32" fmla="*/ 2812677 w 80"/>
                <a:gd name="T33" fmla="*/ 836 h 67"/>
                <a:gd name="T34" fmla="*/ 2862423 w 80"/>
                <a:gd name="T35" fmla="*/ 876 h 67"/>
                <a:gd name="T36" fmla="*/ 3407716 w 80"/>
                <a:gd name="T37" fmla="*/ 932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7"/>
                <a:gd name="T59" fmla="*/ 80 w 80"/>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7">
                  <a:moveTo>
                    <a:pt x="79" y="66"/>
                  </a:moveTo>
                  <a:lnTo>
                    <a:pt x="77" y="53"/>
                  </a:lnTo>
                  <a:lnTo>
                    <a:pt x="68" y="43"/>
                  </a:lnTo>
                  <a:lnTo>
                    <a:pt x="57" y="35"/>
                  </a:lnTo>
                  <a:lnTo>
                    <a:pt x="43" y="27"/>
                  </a:lnTo>
                  <a:lnTo>
                    <a:pt x="30" y="19"/>
                  </a:lnTo>
                  <a:lnTo>
                    <a:pt x="20" y="12"/>
                  </a:lnTo>
                  <a:lnTo>
                    <a:pt x="14" y="7"/>
                  </a:lnTo>
                  <a:lnTo>
                    <a:pt x="13" y="4"/>
                  </a:lnTo>
                  <a:lnTo>
                    <a:pt x="0" y="0"/>
                  </a:lnTo>
                  <a:lnTo>
                    <a:pt x="2" y="13"/>
                  </a:lnTo>
                  <a:lnTo>
                    <a:pt x="11" y="22"/>
                  </a:lnTo>
                  <a:lnTo>
                    <a:pt x="22" y="31"/>
                  </a:lnTo>
                  <a:lnTo>
                    <a:pt x="37" y="39"/>
                  </a:lnTo>
                  <a:lnTo>
                    <a:pt x="49" y="46"/>
                  </a:lnTo>
                  <a:lnTo>
                    <a:pt x="59" y="54"/>
                  </a:lnTo>
                  <a:lnTo>
                    <a:pt x="65" y="59"/>
                  </a:lnTo>
                  <a:lnTo>
                    <a:pt x="66" y="62"/>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9" name="Freeform 18">
              <a:extLst>
                <a:ext uri="{FF2B5EF4-FFF2-40B4-BE49-F238E27FC236}">
                  <a16:creationId xmlns:a16="http://schemas.microsoft.com/office/drawing/2014/main" id="{5EE1CCFD-BD65-6E23-247E-5B9E6B07051E}"/>
                </a:ext>
              </a:extLst>
            </p:cNvPr>
            <p:cNvSpPr>
              <a:spLocks/>
            </p:cNvSpPr>
            <p:nvPr/>
          </p:nvSpPr>
          <p:spPr bwMode="auto">
            <a:xfrm>
              <a:off x="3275" y="2461"/>
              <a:ext cx="179" cy="76"/>
            </a:xfrm>
            <a:custGeom>
              <a:avLst/>
              <a:gdLst>
                <a:gd name="T0" fmla="*/ 0 w 108"/>
                <a:gd name="T1" fmla="*/ 492 h 66"/>
                <a:gd name="T2" fmla="*/ 556841 w 108"/>
                <a:gd name="T3" fmla="*/ 510 h 66"/>
                <a:gd name="T4" fmla="*/ 676721 w 108"/>
                <a:gd name="T5" fmla="*/ 492 h 66"/>
                <a:gd name="T6" fmla="*/ 1005330 w 108"/>
                <a:gd name="T7" fmla="*/ 427 h 66"/>
                <a:gd name="T8" fmla="*/ 1594666 w 108"/>
                <a:gd name="T9" fmla="*/ 415 h 66"/>
                <a:gd name="T10" fmla="*/ 2199267 w 108"/>
                <a:gd name="T11" fmla="*/ 383 h 66"/>
                <a:gd name="T12" fmla="*/ 2830250 w 108"/>
                <a:gd name="T13" fmla="*/ 371 h 66"/>
                <a:gd name="T14" fmla="*/ 3457649 w 108"/>
                <a:gd name="T15" fmla="*/ 360 h 66"/>
                <a:gd name="T16" fmla="*/ 3971546 w 108"/>
                <a:gd name="T17" fmla="*/ 272 h 66"/>
                <a:gd name="T18" fmla="*/ 4325681 w 108"/>
                <a:gd name="T19" fmla="*/ 89 h 66"/>
                <a:gd name="T20" fmla="*/ 3818552 w 108"/>
                <a:gd name="T21" fmla="*/ 0 h 66"/>
                <a:gd name="T22" fmla="*/ 3686323 w 108"/>
                <a:gd name="T23" fmla="*/ 3 h 66"/>
                <a:gd name="T24" fmla="*/ 3320183 w 108"/>
                <a:gd name="T25" fmla="*/ 102 h 66"/>
                <a:gd name="T26" fmla="*/ 2788180 w 108"/>
                <a:gd name="T27" fmla="*/ 117 h 66"/>
                <a:gd name="T28" fmla="*/ 2199267 w 108"/>
                <a:gd name="T29" fmla="*/ 135 h 66"/>
                <a:gd name="T30" fmla="*/ 1488305 w 108"/>
                <a:gd name="T31" fmla="*/ 155 h 66"/>
                <a:gd name="T32" fmla="*/ 881741 w 108"/>
                <a:gd name="T33" fmla="*/ 178 h 66"/>
                <a:gd name="T34" fmla="*/ 408301 w 108"/>
                <a:gd name="T35" fmla="*/ 251 h 66"/>
                <a:gd name="T36" fmla="*/ 42537 w 108"/>
                <a:gd name="T37" fmla="*/ 441 h 66"/>
                <a:gd name="T38" fmla="*/ 606568 w 108"/>
                <a:gd name="T39" fmla="*/ 492 h 66"/>
                <a:gd name="T40" fmla="*/ 0 w 108"/>
                <a:gd name="T41" fmla="*/ 492 h 66"/>
                <a:gd name="T42" fmla="*/ 0 w 108"/>
                <a:gd name="T43" fmla="*/ 1246 h 66"/>
                <a:gd name="T44" fmla="*/ 556841 w 108"/>
                <a:gd name="T45" fmla="*/ 510 h 66"/>
                <a:gd name="T46" fmla="*/ 0 w 108"/>
                <a:gd name="T47" fmla="*/ 492 h 6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
                <a:gd name="T73" fmla="*/ 0 h 66"/>
                <a:gd name="T74" fmla="*/ 108 w 108"/>
                <a:gd name="T75" fmla="*/ 66 h 6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 h="66">
                  <a:moveTo>
                    <a:pt x="0" y="25"/>
                  </a:moveTo>
                  <a:lnTo>
                    <a:pt x="14" y="27"/>
                  </a:lnTo>
                  <a:lnTo>
                    <a:pt x="17" y="25"/>
                  </a:lnTo>
                  <a:lnTo>
                    <a:pt x="25" y="22"/>
                  </a:lnTo>
                  <a:lnTo>
                    <a:pt x="39" y="21"/>
                  </a:lnTo>
                  <a:lnTo>
                    <a:pt x="54" y="20"/>
                  </a:lnTo>
                  <a:lnTo>
                    <a:pt x="70" y="19"/>
                  </a:lnTo>
                  <a:lnTo>
                    <a:pt x="85" y="18"/>
                  </a:lnTo>
                  <a:lnTo>
                    <a:pt x="98" y="14"/>
                  </a:lnTo>
                  <a:lnTo>
                    <a:pt x="107" y="4"/>
                  </a:lnTo>
                  <a:lnTo>
                    <a:pt x="94" y="0"/>
                  </a:lnTo>
                  <a:lnTo>
                    <a:pt x="91" y="3"/>
                  </a:lnTo>
                  <a:lnTo>
                    <a:pt x="82" y="5"/>
                  </a:lnTo>
                  <a:lnTo>
                    <a:pt x="69" y="6"/>
                  </a:lnTo>
                  <a:lnTo>
                    <a:pt x="54" y="7"/>
                  </a:lnTo>
                  <a:lnTo>
                    <a:pt x="37" y="8"/>
                  </a:lnTo>
                  <a:lnTo>
                    <a:pt x="22" y="9"/>
                  </a:lnTo>
                  <a:lnTo>
                    <a:pt x="10" y="13"/>
                  </a:lnTo>
                  <a:lnTo>
                    <a:pt x="1" y="23"/>
                  </a:lnTo>
                  <a:lnTo>
                    <a:pt x="15" y="25"/>
                  </a:lnTo>
                  <a:lnTo>
                    <a:pt x="0" y="25"/>
                  </a:lnTo>
                  <a:lnTo>
                    <a:pt x="0" y="65"/>
                  </a:lnTo>
                  <a:lnTo>
                    <a:pt x="14" y="27"/>
                  </a:lnTo>
                  <a:lnTo>
                    <a:pt x="0"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0" name="Freeform 19">
              <a:extLst>
                <a:ext uri="{FF2B5EF4-FFF2-40B4-BE49-F238E27FC236}">
                  <a16:creationId xmlns:a16="http://schemas.microsoft.com/office/drawing/2014/main" id="{8799C46F-F443-DF76-25EF-CDFFC4478977}"/>
                </a:ext>
              </a:extLst>
            </p:cNvPr>
            <p:cNvSpPr>
              <a:spLocks/>
            </p:cNvSpPr>
            <p:nvPr/>
          </p:nvSpPr>
          <p:spPr bwMode="auto">
            <a:xfrm>
              <a:off x="3275" y="2444"/>
              <a:ext cx="25" cy="48"/>
            </a:xfrm>
            <a:custGeom>
              <a:avLst/>
              <a:gdLst>
                <a:gd name="T0" fmla="*/ 609953 w 15"/>
                <a:gd name="T1" fmla="*/ 691 h 42"/>
                <a:gd name="T2" fmla="*/ 0 w 15"/>
                <a:gd name="T3" fmla="*/ 637 h 42"/>
                <a:gd name="T4" fmla="*/ 0 w 15"/>
                <a:gd name="T5" fmla="*/ 671 h 42"/>
                <a:gd name="T6" fmla="*/ 621467 w 15"/>
                <a:gd name="T7" fmla="*/ 671 h 42"/>
                <a:gd name="T8" fmla="*/ 621467 w 15"/>
                <a:gd name="T9" fmla="*/ 637 h 42"/>
                <a:gd name="T10" fmla="*/ 0 w 15"/>
                <a:gd name="T11" fmla="*/ 606 h 42"/>
                <a:gd name="T12" fmla="*/ 621467 w 15"/>
                <a:gd name="T13" fmla="*/ 637 h 42"/>
                <a:gd name="T14" fmla="*/ 621467 w 15"/>
                <a:gd name="T15" fmla="*/ 0 h 42"/>
                <a:gd name="T16" fmla="*/ 0 w 15"/>
                <a:gd name="T17" fmla="*/ 606 h 42"/>
                <a:gd name="T18" fmla="*/ 609953 w 15"/>
                <a:gd name="T19" fmla="*/ 69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42"/>
                <a:gd name="T32" fmla="*/ 15 w 1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42">
                  <a:moveTo>
                    <a:pt x="13" y="41"/>
                  </a:moveTo>
                  <a:lnTo>
                    <a:pt x="0" y="39"/>
                  </a:lnTo>
                  <a:lnTo>
                    <a:pt x="0" y="40"/>
                  </a:lnTo>
                  <a:lnTo>
                    <a:pt x="14" y="40"/>
                  </a:lnTo>
                  <a:lnTo>
                    <a:pt x="14" y="39"/>
                  </a:lnTo>
                  <a:lnTo>
                    <a:pt x="0" y="37"/>
                  </a:lnTo>
                  <a:lnTo>
                    <a:pt x="14" y="39"/>
                  </a:lnTo>
                  <a:lnTo>
                    <a:pt x="14" y="0"/>
                  </a:lnTo>
                  <a:lnTo>
                    <a:pt x="0" y="37"/>
                  </a:lnTo>
                  <a:lnTo>
                    <a:pt x="13" y="41"/>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1" name="Freeform 20">
              <a:extLst>
                <a:ext uri="{FF2B5EF4-FFF2-40B4-BE49-F238E27FC236}">
                  <a16:creationId xmlns:a16="http://schemas.microsoft.com/office/drawing/2014/main" id="{3B934EB7-C396-0006-5FD0-22F42A6E062D}"/>
                </a:ext>
              </a:extLst>
            </p:cNvPr>
            <p:cNvSpPr>
              <a:spLocks/>
            </p:cNvSpPr>
            <p:nvPr/>
          </p:nvSpPr>
          <p:spPr bwMode="auto">
            <a:xfrm>
              <a:off x="3278" y="2487"/>
              <a:ext cx="130" cy="75"/>
            </a:xfrm>
            <a:custGeom>
              <a:avLst/>
              <a:gdLst>
                <a:gd name="T0" fmla="*/ 2718437 w 79"/>
                <a:gd name="T1" fmla="*/ 955 h 66"/>
                <a:gd name="T2" fmla="*/ 2654305 w 79"/>
                <a:gd name="T3" fmla="*/ 768 h 66"/>
                <a:gd name="T4" fmla="*/ 2373138 w 79"/>
                <a:gd name="T5" fmla="*/ 648 h 66"/>
                <a:gd name="T6" fmla="*/ 1930358 w 79"/>
                <a:gd name="T7" fmla="*/ 509 h 66"/>
                <a:gd name="T8" fmla="*/ 1468965 w 79"/>
                <a:gd name="T9" fmla="*/ 394 h 66"/>
                <a:gd name="T10" fmla="*/ 1040012 w 79"/>
                <a:gd name="T11" fmla="*/ 302 h 66"/>
                <a:gd name="T12" fmla="*/ 656503 w 79"/>
                <a:gd name="T13" fmla="*/ 191 h 66"/>
                <a:gd name="T14" fmla="*/ 493266 w 79"/>
                <a:gd name="T15" fmla="*/ 88 h 66"/>
                <a:gd name="T16" fmla="*/ 451334 w 79"/>
                <a:gd name="T17" fmla="*/ 3 h 66"/>
                <a:gd name="T18" fmla="*/ 0 w 79"/>
                <a:gd name="T19" fmla="*/ 0 h 66"/>
                <a:gd name="T20" fmla="*/ 61551 w 79"/>
                <a:gd name="T21" fmla="*/ 191 h 66"/>
                <a:gd name="T22" fmla="*/ 339473 w 79"/>
                <a:gd name="T23" fmla="*/ 343 h 66"/>
                <a:gd name="T24" fmla="*/ 760939 w 79"/>
                <a:gd name="T25" fmla="*/ 448 h 66"/>
                <a:gd name="T26" fmla="*/ 1252178 w 79"/>
                <a:gd name="T27" fmla="*/ 572 h 66"/>
                <a:gd name="T28" fmla="*/ 1711412 w 79"/>
                <a:gd name="T29" fmla="*/ 665 h 66"/>
                <a:gd name="T30" fmla="*/ 2060546 w 79"/>
                <a:gd name="T31" fmla="*/ 768 h 66"/>
                <a:gd name="T32" fmla="*/ 2231208 w 79"/>
                <a:gd name="T33" fmla="*/ 859 h 66"/>
                <a:gd name="T34" fmla="*/ 2269433 w 79"/>
                <a:gd name="T35" fmla="*/ 891 h 66"/>
                <a:gd name="T36" fmla="*/ 2718437 w 79"/>
                <a:gd name="T37" fmla="*/ 95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3"/>
                  </a:lnTo>
                  <a:lnTo>
                    <a:pt x="68" y="43"/>
                  </a:lnTo>
                  <a:lnTo>
                    <a:pt x="55" y="35"/>
                  </a:lnTo>
                  <a:lnTo>
                    <a:pt x="42" y="27"/>
                  </a:lnTo>
                  <a:lnTo>
                    <a:pt x="30" y="20"/>
                  </a:lnTo>
                  <a:lnTo>
                    <a:pt x="19" y="13"/>
                  </a:lnTo>
                  <a:lnTo>
                    <a:pt x="14" y="6"/>
                  </a:lnTo>
                  <a:lnTo>
                    <a:pt x="13" y="3"/>
                  </a:lnTo>
                  <a:lnTo>
                    <a:pt x="0" y="0"/>
                  </a:lnTo>
                  <a:lnTo>
                    <a:pt x="2" y="13"/>
                  </a:lnTo>
                  <a:lnTo>
                    <a:pt x="10" y="23"/>
                  </a:lnTo>
                  <a:lnTo>
                    <a:pt x="22" y="31"/>
                  </a:lnTo>
                  <a:lnTo>
                    <a:pt x="36" y="39"/>
                  </a:lnTo>
                  <a:lnTo>
                    <a:pt x="49" y="46"/>
                  </a:lnTo>
                  <a:lnTo>
                    <a:pt x="59" y="53"/>
                  </a:lnTo>
                  <a:lnTo>
                    <a:pt x="64" y="59"/>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2" name="Freeform 21">
              <a:extLst>
                <a:ext uri="{FF2B5EF4-FFF2-40B4-BE49-F238E27FC236}">
                  <a16:creationId xmlns:a16="http://schemas.microsoft.com/office/drawing/2014/main" id="{22F227C4-3689-D475-BCD6-293D86C12F20}"/>
                </a:ext>
              </a:extLst>
            </p:cNvPr>
            <p:cNvSpPr>
              <a:spLocks/>
            </p:cNvSpPr>
            <p:nvPr/>
          </p:nvSpPr>
          <p:spPr bwMode="auto">
            <a:xfrm>
              <a:off x="3232" y="2558"/>
              <a:ext cx="176" cy="29"/>
            </a:xfrm>
            <a:custGeom>
              <a:avLst/>
              <a:gdLst>
                <a:gd name="T0" fmla="*/ 448956 w 107"/>
                <a:gd name="T1" fmla="*/ 530 h 25"/>
                <a:gd name="T2" fmla="*/ 520021 w 107"/>
                <a:gd name="T3" fmla="*/ 516 h 25"/>
                <a:gd name="T4" fmla="*/ 818282 w 107"/>
                <a:gd name="T5" fmla="*/ 445 h 25"/>
                <a:gd name="T6" fmla="*/ 1274250 w 107"/>
                <a:gd name="T7" fmla="*/ 394 h 25"/>
                <a:gd name="T8" fmla="*/ 1829721 w 107"/>
                <a:gd name="T9" fmla="*/ 445 h 25"/>
                <a:gd name="T10" fmla="*/ 2374059 w 107"/>
                <a:gd name="T11" fmla="*/ 394 h 25"/>
                <a:gd name="T12" fmla="*/ 2899460 w 107"/>
                <a:gd name="T13" fmla="*/ 392 h 25"/>
                <a:gd name="T14" fmla="*/ 3324719 w 107"/>
                <a:gd name="T15" fmla="*/ 291 h 25"/>
                <a:gd name="T16" fmla="*/ 3649694 w 107"/>
                <a:gd name="T17" fmla="*/ 101 h 25"/>
                <a:gd name="T18" fmla="*/ 3223782 w 107"/>
                <a:gd name="T19" fmla="*/ 0 h 25"/>
                <a:gd name="T20" fmla="*/ 3107351 w 107"/>
                <a:gd name="T21" fmla="*/ 2 h 25"/>
                <a:gd name="T22" fmla="*/ 2833329 w 107"/>
                <a:gd name="T23" fmla="*/ 101 h 25"/>
                <a:gd name="T24" fmla="*/ 2374059 w 107"/>
                <a:gd name="T25" fmla="*/ 117 h 25"/>
                <a:gd name="T26" fmla="*/ 1829721 w 107"/>
                <a:gd name="T27" fmla="*/ 101 h 25"/>
                <a:gd name="T28" fmla="*/ 1274250 w 107"/>
                <a:gd name="T29" fmla="*/ 117 h 25"/>
                <a:gd name="T30" fmla="*/ 755427 w 107"/>
                <a:gd name="T31" fmla="*/ 136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4" y="19"/>
                  </a:lnTo>
                  <a:lnTo>
                    <a:pt x="37" y="18"/>
                  </a:lnTo>
                  <a:lnTo>
                    <a:pt x="53" y="19"/>
                  </a:lnTo>
                  <a:lnTo>
                    <a:pt x="69" y="18"/>
                  </a:lnTo>
                  <a:lnTo>
                    <a:pt x="84" y="17"/>
                  </a:lnTo>
                  <a:lnTo>
                    <a:pt x="96" y="13"/>
                  </a:lnTo>
                  <a:lnTo>
                    <a:pt x="106" y="4"/>
                  </a:lnTo>
                  <a:lnTo>
                    <a:pt x="93" y="0"/>
                  </a:lnTo>
                  <a:lnTo>
                    <a:pt x="90" y="2"/>
                  </a:lnTo>
                  <a:lnTo>
                    <a:pt x="82" y="4"/>
                  </a:lnTo>
                  <a:lnTo>
                    <a:pt x="69" y="5"/>
                  </a:lnTo>
                  <a:lnTo>
                    <a:pt x="53" y="4"/>
                  </a:lnTo>
                  <a:lnTo>
                    <a:pt x="37" y="5"/>
                  </a:lnTo>
                  <a:lnTo>
                    <a:pt x="22" y="6"/>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3" name="Freeform 22">
              <a:extLst>
                <a:ext uri="{FF2B5EF4-FFF2-40B4-BE49-F238E27FC236}">
                  <a16:creationId xmlns:a16="http://schemas.microsoft.com/office/drawing/2014/main" id="{69CC7842-81B4-13C5-F7FC-5EA6BD217F63}"/>
                </a:ext>
              </a:extLst>
            </p:cNvPr>
            <p:cNvSpPr>
              <a:spLocks/>
            </p:cNvSpPr>
            <p:nvPr/>
          </p:nvSpPr>
          <p:spPr bwMode="auto">
            <a:xfrm>
              <a:off x="3232" y="2580"/>
              <a:ext cx="131" cy="78"/>
            </a:xfrm>
            <a:custGeom>
              <a:avLst/>
              <a:gdLst>
                <a:gd name="T0" fmla="*/ 2480706 w 80"/>
                <a:gd name="T1" fmla="*/ 1621 h 67"/>
                <a:gd name="T2" fmla="*/ 2480706 w 80"/>
                <a:gd name="T3" fmla="*/ 1587 h 67"/>
                <a:gd name="T4" fmla="*/ 2415525 w 80"/>
                <a:gd name="T5" fmla="*/ 1299 h 67"/>
                <a:gd name="T6" fmla="*/ 2134954 w 80"/>
                <a:gd name="T7" fmla="*/ 1056 h 67"/>
                <a:gd name="T8" fmla="*/ 1769243 w 80"/>
                <a:gd name="T9" fmla="*/ 864 h 67"/>
                <a:gd name="T10" fmla="*/ 1325320 w 80"/>
                <a:gd name="T11" fmla="*/ 672 h 67"/>
                <a:gd name="T12" fmla="*/ 939702 w 80"/>
                <a:gd name="T13" fmla="*/ 480 h 67"/>
                <a:gd name="T14" fmla="*/ 630154 w 80"/>
                <a:gd name="T15" fmla="*/ 304 h 67"/>
                <a:gd name="T16" fmla="*/ 445495 w 80"/>
                <a:gd name="T17" fmla="*/ 139 h 67"/>
                <a:gd name="T18" fmla="*/ 402943 w 80"/>
                <a:gd name="T19" fmla="*/ 102 h 67"/>
                <a:gd name="T20" fmla="*/ 0 w 80"/>
                <a:gd name="T21" fmla="*/ 0 h 67"/>
                <a:gd name="T22" fmla="*/ 56043 w 80"/>
                <a:gd name="T23" fmla="*/ 304 h 67"/>
                <a:gd name="T24" fmla="*/ 335959 w 80"/>
                <a:gd name="T25" fmla="*/ 559 h 67"/>
                <a:gd name="T26" fmla="*/ 695772 w 80"/>
                <a:gd name="T27" fmla="*/ 779 h 67"/>
                <a:gd name="T28" fmla="*/ 1139327 w 80"/>
                <a:gd name="T29" fmla="*/ 984 h 67"/>
                <a:gd name="T30" fmla="*/ 1571389 w 80"/>
                <a:gd name="T31" fmla="*/ 1146 h 67"/>
                <a:gd name="T32" fmla="*/ 1865648 w 80"/>
                <a:gd name="T33" fmla="*/ 1318 h 67"/>
                <a:gd name="T34" fmla="*/ 2045165 w 80"/>
                <a:gd name="T35" fmla="*/ 1442 h 67"/>
                <a:gd name="T36" fmla="*/ 2079299 w 80"/>
                <a:gd name="T37" fmla="*/ 1512 h 67"/>
                <a:gd name="T38" fmla="*/ 2079299 w 80"/>
                <a:gd name="T39" fmla="*/ 1501 h 67"/>
                <a:gd name="T40" fmla="*/ 2480706 w 80"/>
                <a:gd name="T41" fmla="*/ 1621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67"/>
                <a:gd name="T65" fmla="*/ 80 w 8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67">
                  <a:moveTo>
                    <a:pt x="79" y="66"/>
                  </a:moveTo>
                  <a:lnTo>
                    <a:pt x="79" y="65"/>
                  </a:lnTo>
                  <a:lnTo>
                    <a:pt x="77" y="53"/>
                  </a:lnTo>
                  <a:lnTo>
                    <a:pt x="68" y="43"/>
                  </a:lnTo>
                  <a:lnTo>
                    <a:pt x="56" y="35"/>
                  </a:lnTo>
                  <a:lnTo>
                    <a:pt x="42" y="28"/>
                  </a:lnTo>
                  <a:lnTo>
                    <a:pt x="30" y="20"/>
                  </a:lnTo>
                  <a:lnTo>
                    <a:pt x="20" y="13"/>
                  </a:lnTo>
                  <a:lnTo>
                    <a:pt x="14" y="6"/>
                  </a:lnTo>
                  <a:lnTo>
                    <a:pt x="13" y="4"/>
                  </a:lnTo>
                  <a:lnTo>
                    <a:pt x="0" y="0"/>
                  </a:lnTo>
                  <a:lnTo>
                    <a:pt x="2" y="13"/>
                  </a:lnTo>
                  <a:lnTo>
                    <a:pt x="11" y="23"/>
                  </a:lnTo>
                  <a:lnTo>
                    <a:pt x="22" y="32"/>
                  </a:lnTo>
                  <a:lnTo>
                    <a:pt x="36" y="40"/>
                  </a:lnTo>
                  <a:lnTo>
                    <a:pt x="50" y="47"/>
                  </a:lnTo>
                  <a:lnTo>
                    <a:pt x="59" y="54"/>
                  </a:lnTo>
                  <a:lnTo>
                    <a:pt x="65" y="60"/>
                  </a:lnTo>
                  <a:lnTo>
                    <a:pt x="66" y="62"/>
                  </a:lnTo>
                  <a:lnTo>
                    <a:pt x="66" y="61"/>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4" name="Freeform 23">
              <a:extLst>
                <a:ext uri="{FF2B5EF4-FFF2-40B4-BE49-F238E27FC236}">
                  <a16:creationId xmlns:a16="http://schemas.microsoft.com/office/drawing/2014/main" id="{EFF37DBC-C013-AF25-A64B-8B4D65FBC966}"/>
                </a:ext>
              </a:extLst>
            </p:cNvPr>
            <p:cNvSpPr>
              <a:spLocks/>
            </p:cNvSpPr>
            <p:nvPr/>
          </p:nvSpPr>
          <p:spPr bwMode="auto">
            <a:xfrm>
              <a:off x="3187" y="2650"/>
              <a:ext cx="176" cy="25"/>
            </a:xfrm>
            <a:custGeom>
              <a:avLst/>
              <a:gdLst>
                <a:gd name="T0" fmla="*/ 490278 w 107"/>
                <a:gd name="T1" fmla="*/ 714 h 21"/>
                <a:gd name="T2" fmla="*/ 448956 w 107"/>
                <a:gd name="T3" fmla="*/ 813 h 21"/>
                <a:gd name="T4" fmla="*/ 520021 w 107"/>
                <a:gd name="T5" fmla="*/ 813 h 21"/>
                <a:gd name="T6" fmla="*/ 806439 w 107"/>
                <a:gd name="T7" fmla="*/ 714 h 21"/>
                <a:gd name="T8" fmla="*/ 1274250 w 107"/>
                <a:gd name="T9" fmla="*/ 714 h 21"/>
                <a:gd name="T10" fmla="*/ 1803036 w 107"/>
                <a:gd name="T11" fmla="*/ 727 h 21"/>
                <a:gd name="T12" fmla="*/ 2351955 w 107"/>
                <a:gd name="T13" fmla="*/ 714 h 21"/>
                <a:gd name="T14" fmla="*/ 2899460 w 107"/>
                <a:gd name="T15" fmla="*/ 683 h 21"/>
                <a:gd name="T16" fmla="*/ 3361858 w 107"/>
                <a:gd name="T17" fmla="*/ 574 h 21"/>
                <a:gd name="T18" fmla="*/ 3649694 w 107"/>
                <a:gd name="T19" fmla="*/ 202 h 21"/>
                <a:gd name="T20" fmla="*/ 3223782 w 107"/>
                <a:gd name="T21" fmla="*/ 0 h 21"/>
                <a:gd name="T22" fmla="*/ 3107351 w 107"/>
                <a:gd name="T23" fmla="*/ 143 h 21"/>
                <a:gd name="T24" fmla="*/ 2796262 w 107"/>
                <a:gd name="T25" fmla="*/ 170 h 21"/>
                <a:gd name="T26" fmla="*/ 2351955 w 107"/>
                <a:gd name="T27" fmla="*/ 240 h 21"/>
                <a:gd name="T28" fmla="*/ 1803036 w 107"/>
                <a:gd name="T29" fmla="*/ 202 h 21"/>
                <a:gd name="T30" fmla="*/ 1274250 w 107"/>
                <a:gd name="T31" fmla="*/ 170 h 21"/>
                <a:gd name="T32" fmla="*/ 755427 w 107"/>
                <a:gd name="T33" fmla="*/ 240 h 21"/>
                <a:gd name="T34" fmla="*/ 335377 w 107"/>
                <a:gd name="T35" fmla="*/ 340 h 21"/>
                <a:gd name="T36" fmla="*/ 37287 w 107"/>
                <a:gd name="T37" fmla="*/ 611 h 21"/>
                <a:gd name="T38" fmla="*/ 0 w 107"/>
                <a:gd name="T39" fmla="*/ 714 h 21"/>
                <a:gd name="T40" fmla="*/ 37287 w 107"/>
                <a:gd name="T41" fmla="*/ 611 h 21"/>
                <a:gd name="T42" fmla="*/ 0 w 107"/>
                <a:gd name="T43" fmla="*/ 611 h 21"/>
                <a:gd name="T44" fmla="*/ 0 w 107"/>
                <a:gd name="T45" fmla="*/ 714 h 21"/>
                <a:gd name="T46" fmla="*/ 490278 w 107"/>
                <a:gd name="T47" fmla="*/ 714 h 2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7"/>
                <a:gd name="T73" fmla="*/ 0 h 21"/>
                <a:gd name="T74" fmla="*/ 107 w 107"/>
                <a:gd name="T75" fmla="*/ 21 h 2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7" h="21">
                  <a:moveTo>
                    <a:pt x="14" y="18"/>
                  </a:moveTo>
                  <a:lnTo>
                    <a:pt x="13" y="20"/>
                  </a:lnTo>
                  <a:lnTo>
                    <a:pt x="15" y="20"/>
                  </a:lnTo>
                  <a:lnTo>
                    <a:pt x="23" y="18"/>
                  </a:lnTo>
                  <a:lnTo>
                    <a:pt x="37" y="18"/>
                  </a:lnTo>
                  <a:lnTo>
                    <a:pt x="52" y="19"/>
                  </a:lnTo>
                  <a:lnTo>
                    <a:pt x="68" y="18"/>
                  </a:lnTo>
                  <a:lnTo>
                    <a:pt x="84" y="17"/>
                  </a:lnTo>
                  <a:lnTo>
                    <a:pt x="97" y="14"/>
                  </a:lnTo>
                  <a:lnTo>
                    <a:pt x="106" y="5"/>
                  </a:lnTo>
                  <a:lnTo>
                    <a:pt x="93" y="0"/>
                  </a:lnTo>
                  <a:lnTo>
                    <a:pt x="90" y="3"/>
                  </a:lnTo>
                  <a:lnTo>
                    <a:pt x="81" y="4"/>
                  </a:lnTo>
                  <a:lnTo>
                    <a:pt x="68" y="6"/>
                  </a:lnTo>
                  <a:lnTo>
                    <a:pt x="52" y="5"/>
                  </a:lnTo>
                  <a:lnTo>
                    <a:pt x="37" y="4"/>
                  </a:lnTo>
                  <a:lnTo>
                    <a:pt x="22" y="6"/>
                  </a:lnTo>
                  <a:lnTo>
                    <a:pt x="10" y="8"/>
                  </a:lnTo>
                  <a:lnTo>
                    <a:pt x="1" y="16"/>
                  </a:lnTo>
                  <a:lnTo>
                    <a:pt x="0" y="18"/>
                  </a:lnTo>
                  <a:lnTo>
                    <a:pt x="1" y="16"/>
                  </a:lnTo>
                  <a:lnTo>
                    <a:pt x="0" y="16"/>
                  </a:lnTo>
                  <a:lnTo>
                    <a:pt x="0" y="18"/>
                  </a:lnTo>
                  <a:lnTo>
                    <a:pt x="14" y="1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5" name="Freeform 24">
              <a:extLst>
                <a:ext uri="{FF2B5EF4-FFF2-40B4-BE49-F238E27FC236}">
                  <a16:creationId xmlns:a16="http://schemas.microsoft.com/office/drawing/2014/main" id="{A14E6505-5503-57DA-4468-E1E346473540}"/>
                </a:ext>
              </a:extLst>
            </p:cNvPr>
            <p:cNvSpPr>
              <a:spLocks/>
            </p:cNvSpPr>
            <p:nvPr/>
          </p:nvSpPr>
          <p:spPr bwMode="auto">
            <a:xfrm>
              <a:off x="3187" y="2671"/>
              <a:ext cx="24" cy="6"/>
            </a:xfrm>
            <a:custGeom>
              <a:avLst/>
              <a:gdLst>
                <a:gd name="T0" fmla="*/ 255066 w 15"/>
                <a:gd name="T1" fmla="*/ 5 h 6"/>
                <a:gd name="T2" fmla="*/ 265134 w 15"/>
                <a:gd name="T3" fmla="*/ 2 h 6"/>
                <a:gd name="T4" fmla="*/ 265134 w 15"/>
                <a:gd name="T5" fmla="*/ 1 h 6"/>
                <a:gd name="T6" fmla="*/ 0 w 15"/>
                <a:gd name="T7" fmla="*/ 1 h 6"/>
                <a:gd name="T8" fmla="*/ 0 w 15"/>
                <a:gd name="T9" fmla="*/ 2 h 6"/>
                <a:gd name="T10" fmla="*/ 24325 w 15"/>
                <a:gd name="T11" fmla="*/ 0 h 6"/>
                <a:gd name="T12" fmla="*/ 255066 w 15"/>
                <a:gd name="T13" fmla="*/ 5 h 6"/>
                <a:gd name="T14" fmla="*/ 265134 w 15"/>
                <a:gd name="T15" fmla="*/ 4 h 6"/>
                <a:gd name="T16" fmla="*/ 265134 w 15"/>
                <a:gd name="T17" fmla="*/ 2 h 6"/>
                <a:gd name="T18" fmla="*/ 255066 w 15"/>
                <a:gd name="T19" fmla="*/ 5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6"/>
                <a:gd name="T32" fmla="*/ 15 w 15"/>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6">
                  <a:moveTo>
                    <a:pt x="13" y="5"/>
                  </a:moveTo>
                  <a:lnTo>
                    <a:pt x="14" y="2"/>
                  </a:lnTo>
                  <a:lnTo>
                    <a:pt x="14" y="1"/>
                  </a:lnTo>
                  <a:lnTo>
                    <a:pt x="0" y="1"/>
                  </a:lnTo>
                  <a:lnTo>
                    <a:pt x="0" y="2"/>
                  </a:lnTo>
                  <a:lnTo>
                    <a:pt x="1" y="0"/>
                  </a:lnTo>
                  <a:lnTo>
                    <a:pt x="13" y="5"/>
                  </a:lnTo>
                  <a:lnTo>
                    <a:pt x="14" y="4"/>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6" name="Freeform 25">
              <a:extLst>
                <a:ext uri="{FF2B5EF4-FFF2-40B4-BE49-F238E27FC236}">
                  <a16:creationId xmlns:a16="http://schemas.microsoft.com/office/drawing/2014/main" id="{BE32BA3E-8ED8-796A-6F2E-95EEA9820D9E}"/>
                </a:ext>
              </a:extLst>
            </p:cNvPr>
            <p:cNvSpPr>
              <a:spLocks/>
            </p:cNvSpPr>
            <p:nvPr/>
          </p:nvSpPr>
          <p:spPr bwMode="auto">
            <a:xfrm>
              <a:off x="3189" y="2671"/>
              <a:ext cx="128" cy="76"/>
            </a:xfrm>
            <a:custGeom>
              <a:avLst/>
              <a:gdLst>
                <a:gd name="T0" fmla="*/ 2532882 w 78"/>
                <a:gd name="T1" fmla="*/ 932 h 67"/>
                <a:gd name="T2" fmla="*/ 2464373 w 78"/>
                <a:gd name="T3" fmla="*/ 740 h 67"/>
                <a:gd name="T4" fmla="*/ 2209400 w 78"/>
                <a:gd name="T5" fmla="*/ 620 h 67"/>
                <a:gd name="T6" fmla="*/ 1812188 w 78"/>
                <a:gd name="T7" fmla="*/ 491 h 67"/>
                <a:gd name="T8" fmla="*/ 1380721 w 78"/>
                <a:gd name="T9" fmla="*/ 348 h 67"/>
                <a:gd name="T10" fmla="*/ 967606 w 78"/>
                <a:gd name="T11" fmla="*/ 270 h 67"/>
                <a:gd name="T12" fmla="*/ 625104 w 78"/>
                <a:gd name="T13" fmla="*/ 164 h 67"/>
                <a:gd name="T14" fmla="*/ 418066 w 78"/>
                <a:gd name="T15" fmla="*/ 78 h 67"/>
                <a:gd name="T16" fmla="*/ 405022 w 78"/>
                <a:gd name="T17" fmla="*/ 69 h 67"/>
                <a:gd name="T18" fmla="*/ 0 w 78"/>
                <a:gd name="T19" fmla="*/ 0 h 67"/>
                <a:gd name="T20" fmla="*/ 35129 w 78"/>
                <a:gd name="T21" fmla="*/ 185 h 67"/>
                <a:gd name="T22" fmla="*/ 323513 w 78"/>
                <a:gd name="T23" fmla="*/ 306 h 67"/>
                <a:gd name="T24" fmla="*/ 720891 w 78"/>
                <a:gd name="T25" fmla="*/ 433 h 67"/>
                <a:gd name="T26" fmla="*/ 1148299 w 78"/>
                <a:gd name="T27" fmla="*/ 547 h 67"/>
                <a:gd name="T28" fmla="*/ 1587866 w 78"/>
                <a:gd name="T29" fmla="*/ 650 h 67"/>
                <a:gd name="T30" fmla="*/ 1906471 w 78"/>
                <a:gd name="T31" fmla="*/ 740 h 67"/>
                <a:gd name="T32" fmla="*/ 2066934 w 78"/>
                <a:gd name="T33" fmla="*/ 839 h 67"/>
                <a:gd name="T34" fmla="*/ 2101908 w 78"/>
                <a:gd name="T35" fmla="*/ 876 h 67"/>
                <a:gd name="T36" fmla="*/ 2532882 w 78"/>
                <a:gd name="T37" fmla="*/ 932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67"/>
                <a:gd name="T59" fmla="*/ 78 w 78"/>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67">
                  <a:moveTo>
                    <a:pt x="77" y="66"/>
                  </a:moveTo>
                  <a:lnTo>
                    <a:pt x="75" y="53"/>
                  </a:lnTo>
                  <a:lnTo>
                    <a:pt x="67" y="43"/>
                  </a:lnTo>
                  <a:lnTo>
                    <a:pt x="55" y="34"/>
                  </a:lnTo>
                  <a:lnTo>
                    <a:pt x="42" y="26"/>
                  </a:lnTo>
                  <a:lnTo>
                    <a:pt x="29" y="19"/>
                  </a:lnTo>
                  <a:lnTo>
                    <a:pt x="19" y="12"/>
                  </a:lnTo>
                  <a:lnTo>
                    <a:pt x="13" y="6"/>
                  </a:lnTo>
                  <a:lnTo>
                    <a:pt x="12" y="5"/>
                  </a:lnTo>
                  <a:lnTo>
                    <a:pt x="0" y="0"/>
                  </a:lnTo>
                  <a:lnTo>
                    <a:pt x="1" y="13"/>
                  </a:lnTo>
                  <a:lnTo>
                    <a:pt x="10" y="22"/>
                  </a:lnTo>
                  <a:lnTo>
                    <a:pt x="22" y="30"/>
                  </a:lnTo>
                  <a:lnTo>
                    <a:pt x="35" y="38"/>
                  </a:lnTo>
                  <a:lnTo>
                    <a:pt x="48" y="46"/>
                  </a:lnTo>
                  <a:lnTo>
                    <a:pt x="58" y="53"/>
                  </a:lnTo>
                  <a:lnTo>
                    <a:pt x="63" y="60"/>
                  </a:lnTo>
                  <a:lnTo>
                    <a:pt x="64" y="62"/>
                  </a:lnTo>
                  <a:lnTo>
                    <a:pt x="77"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7" name="Freeform 26">
              <a:extLst>
                <a:ext uri="{FF2B5EF4-FFF2-40B4-BE49-F238E27FC236}">
                  <a16:creationId xmlns:a16="http://schemas.microsoft.com/office/drawing/2014/main" id="{925CF317-D5D9-0AA8-CDD1-7C9BFFA0E537}"/>
                </a:ext>
              </a:extLst>
            </p:cNvPr>
            <p:cNvSpPr>
              <a:spLocks/>
            </p:cNvSpPr>
            <p:nvPr/>
          </p:nvSpPr>
          <p:spPr bwMode="auto">
            <a:xfrm>
              <a:off x="3141" y="2742"/>
              <a:ext cx="176" cy="29"/>
            </a:xfrm>
            <a:custGeom>
              <a:avLst/>
              <a:gdLst>
                <a:gd name="T0" fmla="*/ 448956 w 107"/>
                <a:gd name="T1" fmla="*/ 530 h 25"/>
                <a:gd name="T2" fmla="*/ 520021 w 107"/>
                <a:gd name="T3" fmla="*/ 516 h 25"/>
                <a:gd name="T4" fmla="*/ 818282 w 107"/>
                <a:gd name="T5" fmla="*/ 455 h 25"/>
                <a:gd name="T6" fmla="*/ 1274250 w 107"/>
                <a:gd name="T7" fmla="*/ 445 h 25"/>
                <a:gd name="T8" fmla="*/ 1829721 w 107"/>
                <a:gd name="T9" fmla="*/ 445 h 25"/>
                <a:gd name="T10" fmla="*/ 2374059 w 107"/>
                <a:gd name="T11" fmla="*/ 445 h 25"/>
                <a:gd name="T12" fmla="*/ 2899460 w 107"/>
                <a:gd name="T13" fmla="*/ 392 h 25"/>
                <a:gd name="T14" fmla="*/ 3361858 w 107"/>
                <a:gd name="T15" fmla="*/ 291 h 25"/>
                <a:gd name="T16" fmla="*/ 3649694 w 107"/>
                <a:gd name="T17" fmla="*/ 101 h 25"/>
                <a:gd name="T18" fmla="*/ 3223782 w 107"/>
                <a:gd name="T19" fmla="*/ 0 h 25"/>
                <a:gd name="T20" fmla="*/ 3156192 w 107"/>
                <a:gd name="T21" fmla="*/ 2 h 25"/>
                <a:gd name="T22" fmla="*/ 2833329 w 107"/>
                <a:gd name="T23" fmla="*/ 101 h 25"/>
                <a:gd name="T24" fmla="*/ 2374059 w 107"/>
                <a:gd name="T25" fmla="*/ 136 h 25"/>
                <a:gd name="T26" fmla="*/ 1829721 w 107"/>
                <a:gd name="T27" fmla="*/ 117 h 25"/>
                <a:gd name="T28" fmla="*/ 1274250 w 107"/>
                <a:gd name="T29" fmla="*/ 136 h 25"/>
                <a:gd name="T30" fmla="*/ 738470 w 107"/>
                <a:gd name="T31" fmla="*/ 158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4" y="20"/>
                  </a:lnTo>
                  <a:lnTo>
                    <a:pt x="37" y="19"/>
                  </a:lnTo>
                  <a:lnTo>
                    <a:pt x="53" y="19"/>
                  </a:lnTo>
                  <a:lnTo>
                    <a:pt x="69" y="19"/>
                  </a:lnTo>
                  <a:lnTo>
                    <a:pt x="84" y="17"/>
                  </a:lnTo>
                  <a:lnTo>
                    <a:pt x="97" y="13"/>
                  </a:lnTo>
                  <a:lnTo>
                    <a:pt x="106" y="4"/>
                  </a:lnTo>
                  <a:lnTo>
                    <a:pt x="93" y="0"/>
                  </a:lnTo>
                  <a:lnTo>
                    <a:pt x="91" y="2"/>
                  </a:lnTo>
                  <a:lnTo>
                    <a:pt x="82" y="4"/>
                  </a:lnTo>
                  <a:lnTo>
                    <a:pt x="69" y="6"/>
                  </a:lnTo>
                  <a:lnTo>
                    <a:pt x="53" y="5"/>
                  </a:lnTo>
                  <a:lnTo>
                    <a:pt x="37" y="6"/>
                  </a:lnTo>
                  <a:lnTo>
                    <a:pt x="21"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8" name="Freeform 27">
              <a:extLst>
                <a:ext uri="{FF2B5EF4-FFF2-40B4-BE49-F238E27FC236}">
                  <a16:creationId xmlns:a16="http://schemas.microsoft.com/office/drawing/2014/main" id="{37032F86-F6EB-7106-58B5-23C3D996E336}"/>
                </a:ext>
              </a:extLst>
            </p:cNvPr>
            <p:cNvSpPr>
              <a:spLocks/>
            </p:cNvSpPr>
            <p:nvPr/>
          </p:nvSpPr>
          <p:spPr bwMode="auto">
            <a:xfrm>
              <a:off x="3141" y="2764"/>
              <a:ext cx="130" cy="77"/>
            </a:xfrm>
            <a:custGeom>
              <a:avLst/>
              <a:gdLst>
                <a:gd name="T0" fmla="*/ 2718437 w 79"/>
                <a:gd name="T1" fmla="*/ 1675 h 66"/>
                <a:gd name="T2" fmla="*/ 2654305 w 79"/>
                <a:gd name="T3" fmla="*/ 1341 h 66"/>
                <a:gd name="T4" fmla="*/ 2373138 w 79"/>
                <a:gd name="T5" fmla="*/ 1075 h 66"/>
                <a:gd name="T6" fmla="*/ 1939821 w 79"/>
                <a:gd name="T7" fmla="*/ 889 h 66"/>
                <a:gd name="T8" fmla="*/ 1512703 w 79"/>
                <a:gd name="T9" fmla="*/ 664 h 66"/>
                <a:gd name="T10" fmla="*/ 1017350 w 79"/>
                <a:gd name="T11" fmla="*/ 470 h 66"/>
                <a:gd name="T12" fmla="*/ 656503 w 79"/>
                <a:gd name="T13" fmla="*/ 307 h 66"/>
                <a:gd name="T14" fmla="*/ 451334 w 79"/>
                <a:gd name="T15" fmla="*/ 141 h 66"/>
                <a:gd name="T16" fmla="*/ 451334 w 79"/>
                <a:gd name="T17" fmla="*/ 120 h 66"/>
                <a:gd name="T18" fmla="*/ 0 w 79"/>
                <a:gd name="T19" fmla="*/ 0 h 66"/>
                <a:gd name="T20" fmla="*/ 61551 w 79"/>
                <a:gd name="T21" fmla="*/ 307 h 66"/>
                <a:gd name="T22" fmla="*/ 339473 w 79"/>
                <a:gd name="T23" fmla="*/ 569 h 66"/>
                <a:gd name="T24" fmla="*/ 811704 w 79"/>
                <a:gd name="T25" fmla="*/ 775 h 66"/>
                <a:gd name="T26" fmla="*/ 1252178 w 79"/>
                <a:gd name="T27" fmla="*/ 930 h 66"/>
                <a:gd name="T28" fmla="*/ 1674120 w 79"/>
                <a:gd name="T29" fmla="*/ 1149 h 66"/>
                <a:gd name="T30" fmla="*/ 2060546 w 79"/>
                <a:gd name="T31" fmla="*/ 1341 h 66"/>
                <a:gd name="T32" fmla="*/ 2269433 w 79"/>
                <a:gd name="T33" fmla="*/ 1477 h 66"/>
                <a:gd name="T34" fmla="*/ 2269433 w 79"/>
                <a:gd name="T35" fmla="*/ 1565 h 66"/>
                <a:gd name="T36" fmla="*/ 2718437 w 79"/>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2"/>
                  </a:lnTo>
                  <a:lnTo>
                    <a:pt x="68" y="42"/>
                  </a:lnTo>
                  <a:lnTo>
                    <a:pt x="56" y="34"/>
                  </a:lnTo>
                  <a:lnTo>
                    <a:pt x="43" y="26"/>
                  </a:lnTo>
                  <a:lnTo>
                    <a:pt x="29" y="18"/>
                  </a:lnTo>
                  <a:lnTo>
                    <a:pt x="19" y="12"/>
                  </a:lnTo>
                  <a:lnTo>
                    <a:pt x="13" y="6"/>
                  </a:lnTo>
                  <a:lnTo>
                    <a:pt x="13" y="4"/>
                  </a:lnTo>
                  <a:lnTo>
                    <a:pt x="0" y="0"/>
                  </a:lnTo>
                  <a:lnTo>
                    <a:pt x="2" y="12"/>
                  </a:lnTo>
                  <a:lnTo>
                    <a:pt x="10" y="22"/>
                  </a:lnTo>
                  <a:lnTo>
                    <a:pt x="23" y="30"/>
                  </a:lnTo>
                  <a:lnTo>
                    <a:pt x="36" y="37"/>
                  </a:lnTo>
                  <a:lnTo>
                    <a:pt x="48" y="45"/>
                  </a:lnTo>
                  <a:lnTo>
                    <a:pt x="59" y="52"/>
                  </a:lnTo>
                  <a:lnTo>
                    <a:pt x="65" y="58"/>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9" name="Freeform 28">
              <a:extLst>
                <a:ext uri="{FF2B5EF4-FFF2-40B4-BE49-F238E27FC236}">
                  <a16:creationId xmlns:a16="http://schemas.microsoft.com/office/drawing/2014/main" id="{97A42F4E-93F2-4BC9-4F36-BEF3F4A906F2}"/>
                </a:ext>
              </a:extLst>
            </p:cNvPr>
            <p:cNvSpPr>
              <a:spLocks/>
            </p:cNvSpPr>
            <p:nvPr/>
          </p:nvSpPr>
          <p:spPr bwMode="auto">
            <a:xfrm>
              <a:off x="3095" y="2835"/>
              <a:ext cx="176" cy="29"/>
            </a:xfrm>
            <a:custGeom>
              <a:avLst/>
              <a:gdLst>
                <a:gd name="T0" fmla="*/ 448956 w 107"/>
                <a:gd name="T1" fmla="*/ 254 h 26"/>
                <a:gd name="T2" fmla="*/ 520021 w 107"/>
                <a:gd name="T3" fmla="*/ 229 h 26"/>
                <a:gd name="T4" fmla="*/ 855362 w 107"/>
                <a:gd name="T5" fmla="*/ 205 h 26"/>
                <a:gd name="T6" fmla="*/ 1274250 w 107"/>
                <a:gd name="T7" fmla="*/ 184 h 26"/>
                <a:gd name="T8" fmla="*/ 1829721 w 107"/>
                <a:gd name="T9" fmla="*/ 204 h 26"/>
                <a:gd name="T10" fmla="*/ 2374059 w 107"/>
                <a:gd name="T11" fmla="*/ 184 h 26"/>
                <a:gd name="T12" fmla="*/ 2899460 w 107"/>
                <a:gd name="T13" fmla="*/ 183 h 26"/>
                <a:gd name="T14" fmla="*/ 3361858 w 107"/>
                <a:gd name="T15" fmla="*/ 147 h 26"/>
                <a:gd name="T16" fmla="*/ 3649694 w 107"/>
                <a:gd name="T17" fmla="*/ 4 h 26"/>
                <a:gd name="T18" fmla="*/ 3223782 w 107"/>
                <a:gd name="T19" fmla="*/ 0 h 26"/>
                <a:gd name="T20" fmla="*/ 3156192 w 107"/>
                <a:gd name="T21" fmla="*/ 2 h 26"/>
                <a:gd name="T22" fmla="*/ 2833329 w 107"/>
                <a:gd name="T23" fmla="*/ 56 h 26"/>
                <a:gd name="T24" fmla="*/ 2374059 w 107"/>
                <a:gd name="T25" fmla="*/ 62 h 26"/>
                <a:gd name="T26" fmla="*/ 1829721 w 107"/>
                <a:gd name="T27" fmla="*/ 62 h 26"/>
                <a:gd name="T28" fmla="*/ 1274250 w 107"/>
                <a:gd name="T29" fmla="*/ 62 h 26"/>
                <a:gd name="T30" fmla="*/ 755427 w 107"/>
                <a:gd name="T31" fmla="*/ 77 h 26"/>
                <a:gd name="T32" fmla="*/ 316149 w 107"/>
                <a:gd name="T33" fmla="*/ 107 h 26"/>
                <a:gd name="T34" fmla="*/ 0 w 107"/>
                <a:gd name="T35" fmla="*/ 205 h 26"/>
                <a:gd name="T36" fmla="*/ 448956 w 107"/>
                <a:gd name="T37" fmla="*/ 254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3"/>
                  </a:lnTo>
                  <a:lnTo>
                    <a:pt x="25" y="21"/>
                  </a:lnTo>
                  <a:lnTo>
                    <a:pt x="37" y="19"/>
                  </a:lnTo>
                  <a:lnTo>
                    <a:pt x="53" y="20"/>
                  </a:lnTo>
                  <a:lnTo>
                    <a:pt x="69" y="19"/>
                  </a:lnTo>
                  <a:lnTo>
                    <a:pt x="84" y="18"/>
                  </a:lnTo>
                  <a:lnTo>
                    <a:pt x="97" y="14"/>
                  </a:lnTo>
                  <a:lnTo>
                    <a:pt x="106" y="4"/>
                  </a:lnTo>
                  <a:lnTo>
                    <a:pt x="93" y="0"/>
                  </a:lnTo>
                  <a:lnTo>
                    <a:pt x="91" y="2"/>
                  </a:lnTo>
                  <a:lnTo>
                    <a:pt x="82" y="5"/>
                  </a:lnTo>
                  <a:lnTo>
                    <a:pt x="69" y="6"/>
                  </a:lnTo>
                  <a:lnTo>
                    <a:pt x="53" y="6"/>
                  </a:lnTo>
                  <a:lnTo>
                    <a:pt x="37" y="6"/>
                  </a:lnTo>
                  <a:lnTo>
                    <a:pt x="22" y="8"/>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0" name="Freeform 29">
              <a:extLst>
                <a:ext uri="{FF2B5EF4-FFF2-40B4-BE49-F238E27FC236}">
                  <a16:creationId xmlns:a16="http://schemas.microsoft.com/office/drawing/2014/main" id="{8A81F6D0-386A-937A-066F-5A23D087237C}"/>
                </a:ext>
              </a:extLst>
            </p:cNvPr>
            <p:cNvSpPr>
              <a:spLocks/>
            </p:cNvSpPr>
            <p:nvPr/>
          </p:nvSpPr>
          <p:spPr bwMode="auto">
            <a:xfrm>
              <a:off x="3095" y="2859"/>
              <a:ext cx="132" cy="115"/>
            </a:xfrm>
            <a:custGeom>
              <a:avLst/>
              <a:gdLst>
                <a:gd name="T0" fmla="*/ 2480000 w 80"/>
                <a:gd name="T1" fmla="*/ 1061 h 100"/>
                <a:gd name="T2" fmla="*/ 2918860 w 80"/>
                <a:gd name="T3" fmla="*/ 1143 h 100"/>
                <a:gd name="T4" fmla="*/ 2882474 w 80"/>
                <a:gd name="T5" fmla="*/ 890 h 100"/>
                <a:gd name="T6" fmla="*/ 2549819 w 80"/>
                <a:gd name="T7" fmla="*/ 747 h 100"/>
                <a:gd name="T8" fmla="*/ 2062134 w 80"/>
                <a:gd name="T9" fmla="*/ 580 h 100"/>
                <a:gd name="T10" fmla="*/ 1584345 w 80"/>
                <a:gd name="T11" fmla="*/ 459 h 100"/>
                <a:gd name="T12" fmla="*/ 1100611 w 80"/>
                <a:gd name="T13" fmla="*/ 325 h 100"/>
                <a:gd name="T14" fmla="*/ 692147 w 80"/>
                <a:gd name="T15" fmla="*/ 214 h 100"/>
                <a:gd name="T16" fmla="*/ 477527 w 80"/>
                <a:gd name="T17" fmla="*/ 113 h 100"/>
                <a:gd name="T18" fmla="*/ 477527 w 80"/>
                <a:gd name="T19" fmla="*/ 85 h 100"/>
                <a:gd name="T20" fmla="*/ 0 w 80"/>
                <a:gd name="T21" fmla="*/ 0 h 100"/>
                <a:gd name="T22" fmla="*/ 64426 w 80"/>
                <a:gd name="T23" fmla="*/ 229 h 100"/>
                <a:gd name="T24" fmla="*/ 404265 w 80"/>
                <a:gd name="T25" fmla="*/ 399 h 100"/>
                <a:gd name="T26" fmla="*/ 858058 w 80"/>
                <a:gd name="T27" fmla="*/ 528 h 100"/>
                <a:gd name="T28" fmla="*/ 1373354 w 80"/>
                <a:gd name="T29" fmla="*/ 653 h 100"/>
                <a:gd name="T30" fmla="*/ 1832330 w 80"/>
                <a:gd name="T31" fmla="*/ 803 h 100"/>
                <a:gd name="T32" fmla="*/ 2211957 w 80"/>
                <a:gd name="T33" fmla="*/ 923 h 100"/>
                <a:gd name="T34" fmla="*/ 2442464 w 80"/>
                <a:gd name="T35" fmla="*/ 1023 h 100"/>
                <a:gd name="T36" fmla="*/ 2442464 w 80"/>
                <a:gd name="T37" fmla="*/ 1076 h 100"/>
                <a:gd name="T38" fmla="*/ 2882474 w 80"/>
                <a:gd name="T39" fmla="*/ 1176 h 100"/>
                <a:gd name="T40" fmla="*/ 2442464 w 80"/>
                <a:gd name="T41" fmla="*/ 1076 h 100"/>
                <a:gd name="T42" fmla="*/ 1922549 w 80"/>
                <a:gd name="T43" fmla="*/ 1879 h 100"/>
                <a:gd name="T44" fmla="*/ 2882474 w 80"/>
                <a:gd name="T45" fmla="*/ 1176 h 100"/>
                <a:gd name="T46" fmla="*/ 2480000 w 80"/>
                <a:gd name="T47" fmla="*/ 1061 h 10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0"/>
                <a:gd name="T73" fmla="*/ 0 h 100"/>
                <a:gd name="T74" fmla="*/ 80 w 80"/>
                <a:gd name="T75" fmla="*/ 100 h 10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0" h="100">
                  <a:moveTo>
                    <a:pt x="67" y="56"/>
                  </a:moveTo>
                  <a:lnTo>
                    <a:pt x="79" y="61"/>
                  </a:lnTo>
                  <a:lnTo>
                    <a:pt x="78" y="48"/>
                  </a:lnTo>
                  <a:lnTo>
                    <a:pt x="69" y="39"/>
                  </a:lnTo>
                  <a:lnTo>
                    <a:pt x="56" y="31"/>
                  </a:lnTo>
                  <a:lnTo>
                    <a:pt x="43" y="24"/>
                  </a:lnTo>
                  <a:lnTo>
                    <a:pt x="30" y="17"/>
                  </a:lnTo>
                  <a:lnTo>
                    <a:pt x="19" y="11"/>
                  </a:lnTo>
                  <a:lnTo>
                    <a:pt x="13" y="6"/>
                  </a:lnTo>
                  <a:lnTo>
                    <a:pt x="13" y="4"/>
                  </a:lnTo>
                  <a:lnTo>
                    <a:pt x="0" y="0"/>
                  </a:lnTo>
                  <a:lnTo>
                    <a:pt x="2" y="12"/>
                  </a:lnTo>
                  <a:lnTo>
                    <a:pt x="11" y="21"/>
                  </a:lnTo>
                  <a:lnTo>
                    <a:pt x="23" y="28"/>
                  </a:lnTo>
                  <a:lnTo>
                    <a:pt x="37" y="35"/>
                  </a:lnTo>
                  <a:lnTo>
                    <a:pt x="50" y="43"/>
                  </a:lnTo>
                  <a:lnTo>
                    <a:pt x="60" y="49"/>
                  </a:lnTo>
                  <a:lnTo>
                    <a:pt x="66" y="55"/>
                  </a:lnTo>
                  <a:lnTo>
                    <a:pt x="66" y="57"/>
                  </a:lnTo>
                  <a:lnTo>
                    <a:pt x="78" y="63"/>
                  </a:lnTo>
                  <a:lnTo>
                    <a:pt x="66" y="57"/>
                  </a:lnTo>
                  <a:lnTo>
                    <a:pt x="52" y="99"/>
                  </a:lnTo>
                  <a:lnTo>
                    <a:pt x="78" y="63"/>
                  </a:lnTo>
                  <a:lnTo>
                    <a:pt x="67" y="5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1" name="Freeform 30">
              <a:extLst>
                <a:ext uri="{FF2B5EF4-FFF2-40B4-BE49-F238E27FC236}">
                  <a16:creationId xmlns:a16="http://schemas.microsoft.com/office/drawing/2014/main" id="{C4D697C5-0821-30CD-FD3F-620F14E028B8}"/>
                </a:ext>
              </a:extLst>
            </p:cNvPr>
            <p:cNvSpPr>
              <a:spLocks/>
            </p:cNvSpPr>
            <p:nvPr/>
          </p:nvSpPr>
          <p:spPr bwMode="auto">
            <a:xfrm>
              <a:off x="3203" y="2884"/>
              <a:ext cx="42" cy="48"/>
            </a:xfrm>
            <a:custGeom>
              <a:avLst/>
              <a:gdLst>
                <a:gd name="T0" fmla="*/ 704740 w 25"/>
                <a:gd name="T1" fmla="*/ 396 h 43"/>
                <a:gd name="T2" fmla="*/ 52660 w 25"/>
                <a:gd name="T3" fmla="*/ 336 h 43"/>
                <a:gd name="T4" fmla="*/ 0 w 25"/>
                <a:gd name="T5" fmla="*/ 355 h 43"/>
                <a:gd name="T6" fmla="*/ 648168 w 25"/>
                <a:gd name="T7" fmla="*/ 419 h 43"/>
                <a:gd name="T8" fmla="*/ 704740 w 25"/>
                <a:gd name="T9" fmla="*/ 409 h 43"/>
                <a:gd name="T10" fmla="*/ 0 w 25"/>
                <a:gd name="T11" fmla="*/ 355 h 43"/>
                <a:gd name="T12" fmla="*/ 704740 w 25"/>
                <a:gd name="T13" fmla="*/ 396 h 43"/>
                <a:gd name="T14" fmla="*/ 1283958 w 25"/>
                <a:gd name="T15" fmla="*/ 0 h 43"/>
                <a:gd name="T16" fmla="*/ 52660 w 25"/>
                <a:gd name="T17" fmla="*/ 336 h 43"/>
                <a:gd name="T18" fmla="*/ 704740 w 25"/>
                <a:gd name="T19" fmla="*/ 396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43"/>
                <a:gd name="T32" fmla="*/ 25 w 25"/>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43">
                  <a:moveTo>
                    <a:pt x="13" y="39"/>
                  </a:moveTo>
                  <a:lnTo>
                    <a:pt x="1" y="34"/>
                  </a:lnTo>
                  <a:lnTo>
                    <a:pt x="0" y="35"/>
                  </a:lnTo>
                  <a:lnTo>
                    <a:pt x="12" y="42"/>
                  </a:lnTo>
                  <a:lnTo>
                    <a:pt x="13" y="40"/>
                  </a:lnTo>
                  <a:lnTo>
                    <a:pt x="0" y="35"/>
                  </a:lnTo>
                  <a:lnTo>
                    <a:pt x="13" y="39"/>
                  </a:lnTo>
                  <a:lnTo>
                    <a:pt x="24" y="0"/>
                  </a:lnTo>
                  <a:lnTo>
                    <a:pt x="1" y="34"/>
                  </a:lnTo>
                  <a:lnTo>
                    <a:pt x="13" y="3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2" name="Freeform 31">
              <a:extLst>
                <a:ext uri="{FF2B5EF4-FFF2-40B4-BE49-F238E27FC236}">
                  <a16:creationId xmlns:a16="http://schemas.microsoft.com/office/drawing/2014/main" id="{7DBFBF18-6559-1C19-C8FE-990F04984492}"/>
                </a:ext>
              </a:extLst>
            </p:cNvPr>
            <p:cNvSpPr>
              <a:spLocks/>
            </p:cNvSpPr>
            <p:nvPr/>
          </p:nvSpPr>
          <p:spPr bwMode="auto">
            <a:xfrm>
              <a:off x="3051" y="2923"/>
              <a:ext cx="176" cy="31"/>
            </a:xfrm>
            <a:custGeom>
              <a:avLst/>
              <a:gdLst>
                <a:gd name="T0" fmla="*/ 448956 w 107"/>
                <a:gd name="T1" fmla="*/ 1019 h 26"/>
                <a:gd name="T2" fmla="*/ 520021 w 107"/>
                <a:gd name="T3" fmla="*/ 1017 h 26"/>
                <a:gd name="T4" fmla="*/ 806439 w 107"/>
                <a:gd name="T5" fmla="*/ 867 h 26"/>
                <a:gd name="T6" fmla="*/ 1242572 w 107"/>
                <a:gd name="T7" fmla="*/ 906 h 26"/>
                <a:gd name="T8" fmla="*/ 1803036 w 107"/>
                <a:gd name="T9" fmla="*/ 906 h 26"/>
                <a:gd name="T10" fmla="*/ 2314237 w 107"/>
                <a:gd name="T11" fmla="*/ 1017 h 26"/>
                <a:gd name="T12" fmla="*/ 2876529 w 107"/>
                <a:gd name="T13" fmla="*/ 867 h 26"/>
                <a:gd name="T14" fmla="*/ 3361858 w 107"/>
                <a:gd name="T15" fmla="*/ 637 h 26"/>
                <a:gd name="T16" fmla="*/ 3649694 w 107"/>
                <a:gd name="T17" fmla="*/ 175 h 26"/>
                <a:gd name="T18" fmla="*/ 3223782 w 107"/>
                <a:gd name="T19" fmla="*/ 0 h 26"/>
                <a:gd name="T20" fmla="*/ 3069208 w 107"/>
                <a:gd name="T21" fmla="*/ 249 h 26"/>
                <a:gd name="T22" fmla="*/ 2774242 w 107"/>
                <a:gd name="T23" fmla="*/ 376 h 26"/>
                <a:gd name="T24" fmla="*/ 2314237 w 107"/>
                <a:gd name="T25" fmla="*/ 422 h 26"/>
                <a:gd name="T26" fmla="*/ 1803036 w 107"/>
                <a:gd name="T27" fmla="*/ 422 h 26"/>
                <a:gd name="T28" fmla="*/ 1242572 w 107"/>
                <a:gd name="T29" fmla="*/ 376 h 26"/>
                <a:gd name="T30" fmla="*/ 755427 w 107"/>
                <a:gd name="T31" fmla="*/ 376 h 26"/>
                <a:gd name="T32" fmla="*/ 316149 w 107"/>
                <a:gd name="T33" fmla="*/ 448 h 26"/>
                <a:gd name="T34" fmla="*/ 0 w 107"/>
                <a:gd name="T35" fmla="*/ 855 h 26"/>
                <a:gd name="T36" fmla="*/ 448956 w 107"/>
                <a:gd name="T37" fmla="*/ 1019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4"/>
                  </a:lnTo>
                  <a:lnTo>
                    <a:pt x="23" y="22"/>
                  </a:lnTo>
                  <a:lnTo>
                    <a:pt x="36" y="23"/>
                  </a:lnTo>
                  <a:lnTo>
                    <a:pt x="52" y="23"/>
                  </a:lnTo>
                  <a:lnTo>
                    <a:pt x="67" y="24"/>
                  </a:lnTo>
                  <a:lnTo>
                    <a:pt x="83" y="22"/>
                  </a:lnTo>
                  <a:lnTo>
                    <a:pt x="97" y="16"/>
                  </a:lnTo>
                  <a:lnTo>
                    <a:pt x="106" y="4"/>
                  </a:lnTo>
                  <a:lnTo>
                    <a:pt x="93" y="0"/>
                  </a:lnTo>
                  <a:lnTo>
                    <a:pt x="89" y="6"/>
                  </a:lnTo>
                  <a:lnTo>
                    <a:pt x="80" y="9"/>
                  </a:lnTo>
                  <a:lnTo>
                    <a:pt x="67" y="10"/>
                  </a:lnTo>
                  <a:lnTo>
                    <a:pt x="52" y="10"/>
                  </a:lnTo>
                  <a:lnTo>
                    <a:pt x="36" y="9"/>
                  </a:lnTo>
                  <a:lnTo>
                    <a:pt x="22" y="9"/>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3" name="Freeform 32">
              <a:extLst>
                <a:ext uri="{FF2B5EF4-FFF2-40B4-BE49-F238E27FC236}">
                  <a16:creationId xmlns:a16="http://schemas.microsoft.com/office/drawing/2014/main" id="{79BE7FA7-B7E1-422D-BB5F-0218E5A318F0}"/>
                </a:ext>
              </a:extLst>
            </p:cNvPr>
            <p:cNvSpPr>
              <a:spLocks/>
            </p:cNvSpPr>
            <p:nvPr/>
          </p:nvSpPr>
          <p:spPr bwMode="auto">
            <a:xfrm>
              <a:off x="3051" y="2947"/>
              <a:ext cx="131" cy="77"/>
            </a:xfrm>
            <a:custGeom>
              <a:avLst/>
              <a:gdLst>
                <a:gd name="T0" fmla="*/ 2480706 w 80"/>
                <a:gd name="T1" fmla="*/ 1675 h 66"/>
                <a:gd name="T2" fmla="*/ 2415525 w 80"/>
                <a:gd name="T3" fmla="*/ 1341 h 66"/>
                <a:gd name="T4" fmla="*/ 2134954 w 80"/>
                <a:gd name="T5" fmla="*/ 1075 h 66"/>
                <a:gd name="T6" fmla="*/ 1785199 w 80"/>
                <a:gd name="T7" fmla="*/ 889 h 66"/>
                <a:gd name="T8" fmla="*/ 1346184 w 80"/>
                <a:gd name="T9" fmla="*/ 664 h 66"/>
                <a:gd name="T10" fmla="*/ 900843 w 80"/>
                <a:gd name="T11" fmla="*/ 470 h 66"/>
                <a:gd name="T12" fmla="*/ 630154 w 80"/>
                <a:gd name="T13" fmla="*/ 307 h 66"/>
                <a:gd name="T14" fmla="*/ 445495 w 80"/>
                <a:gd name="T15" fmla="*/ 141 h 66"/>
                <a:gd name="T16" fmla="*/ 402943 w 80"/>
                <a:gd name="T17" fmla="*/ 120 h 66"/>
                <a:gd name="T18" fmla="*/ 0 w 80"/>
                <a:gd name="T19" fmla="*/ 0 h 66"/>
                <a:gd name="T20" fmla="*/ 56043 w 80"/>
                <a:gd name="T21" fmla="*/ 307 h 66"/>
                <a:gd name="T22" fmla="*/ 335959 w 80"/>
                <a:gd name="T23" fmla="*/ 569 h 66"/>
                <a:gd name="T24" fmla="*/ 729498 w 80"/>
                <a:gd name="T25" fmla="*/ 775 h 66"/>
                <a:gd name="T26" fmla="*/ 1177164 w 80"/>
                <a:gd name="T27" fmla="*/ 970 h 66"/>
                <a:gd name="T28" fmla="*/ 1538762 w 80"/>
                <a:gd name="T29" fmla="*/ 1149 h 66"/>
                <a:gd name="T30" fmla="*/ 1865648 w 80"/>
                <a:gd name="T31" fmla="*/ 1344 h 66"/>
                <a:gd name="T32" fmla="*/ 2045165 w 80"/>
                <a:gd name="T33" fmla="*/ 1477 h 66"/>
                <a:gd name="T34" fmla="*/ 2079299 w 80"/>
                <a:gd name="T35" fmla="*/ 1565 h 66"/>
                <a:gd name="T36" fmla="*/ 2480706 w 80"/>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2"/>
                  </a:lnTo>
                  <a:lnTo>
                    <a:pt x="57" y="34"/>
                  </a:lnTo>
                  <a:lnTo>
                    <a:pt x="43" y="26"/>
                  </a:lnTo>
                  <a:lnTo>
                    <a:pt x="29" y="18"/>
                  </a:lnTo>
                  <a:lnTo>
                    <a:pt x="20" y="12"/>
                  </a:lnTo>
                  <a:lnTo>
                    <a:pt x="14" y="6"/>
                  </a:lnTo>
                  <a:lnTo>
                    <a:pt x="13" y="4"/>
                  </a:lnTo>
                  <a:lnTo>
                    <a:pt x="0" y="0"/>
                  </a:lnTo>
                  <a:lnTo>
                    <a:pt x="2" y="12"/>
                  </a:lnTo>
                  <a:lnTo>
                    <a:pt x="11" y="22"/>
                  </a:lnTo>
                  <a:lnTo>
                    <a:pt x="23" y="30"/>
                  </a:lnTo>
                  <a:lnTo>
                    <a:pt x="37" y="38"/>
                  </a:lnTo>
                  <a:lnTo>
                    <a:pt x="49" y="45"/>
                  </a:lnTo>
                  <a:lnTo>
                    <a:pt x="59" y="53"/>
                  </a:lnTo>
                  <a:lnTo>
                    <a:pt x="65" y="58"/>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4" name="Freeform 33">
              <a:extLst>
                <a:ext uri="{FF2B5EF4-FFF2-40B4-BE49-F238E27FC236}">
                  <a16:creationId xmlns:a16="http://schemas.microsoft.com/office/drawing/2014/main" id="{CA2EC73A-0BF7-9AD6-EFE9-0FD614EB7051}"/>
                </a:ext>
              </a:extLst>
            </p:cNvPr>
            <p:cNvSpPr>
              <a:spLocks/>
            </p:cNvSpPr>
            <p:nvPr/>
          </p:nvSpPr>
          <p:spPr bwMode="auto">
            <a:xfrm>
              <a:off x="3006" y="3018"/>
              <a:ext cx="176" cy="29"/>
            </a:xfrm>
            <a:custGeom>
              <a:avLst/>
              <a:gdLst>
                <a:gd name="T0" fmla="*/ 448956 w 107"/>
                <a:gd name="T1" fmla="*/ 254 h 26"/>
                <a:gd name="T2" fmla="*/ 520021 w 107"/>
                <a:gd name="T3" fmla="*/ 229 h 26"/>
                <a:gd name="T4" fmla="*/ 818282 w 107"/>
                <a:gd name="T5" fmla="*/ 205 h 26"/>
                <a:gd name="T6" fmla="*/ 1274250 w 107"/>
                <a:gd name="T7" fmla="*/ 184 h 26"/>
                <a:gd name="T8" fmla="*/ 1829721 w 107"/>
                <a:gd name="T9" fmla="*/ 204 h 26"/>
                <a:gd name="T10" fmla="*/ 2374059 w 107"/>
                <a:gd name="T11" fmla="*/ 184 h 26"/>
                <a:gd name="T12" fmla="*/ 2899460 w 107"/>
                <a:gd name="T13" fmla="*/ 183 h 26"/>
                <a:gd name="T14" fmla="*/ 3361858 w 107"/>
                <a:gd name="T15" fmla="*/ 147 h 26"/>
                <a:gd name="T16" fmla="*/ 3649694 w 107"/>
                <a:gd name="T17" fmla="*/ 4 h 26"/>
                <a:gd name="T18" fmla="*/ 3223782 w 107"/>
                <a:gd name="T19" fmla="*/ 0 h 26"/>
                <a:gd name="T20" fmla="*/ 3107351 w 107"/>
                <a:gd name="T21" fmla="*/ 3 h 26"/>
                <a:gd name="T22" fmla="*/ 2796262 w 107"/>
                <a:gd name="T23" fmla="*/ 56 h 26"/>
                <a:gd name="T24" fmla="*/ 2374059 w 107"/>
                <a:gd name="T25" fmla="*/ 62 h 26"/>
                <a:gd name="T26" fmla="*/ 1829721 w 107"/>
                <a:gd name="T27" fmla="*/ 62 h 26"/>
                <a:gd name="T28" fmla="*/ 1274250 w 107"/>
                <a:gd name="T29" fmla="*/ 62 h 26"/>
                <a:gd name="T30" fmla="*/ 738470 w 107"/>
                <a:gd name="T31" fmla="*/ 77 h 26"/>
                <a:gd name="T32" fmla="*/ 316149 w 107"/>
                <a:gd name="T33" fmla="*/ 107 h 26"/>
                <a:gd name="T34" fmla="*/ 0 w 107"/>
                <a:gd name="T35" fmla="*/ 205 h 26"/>
                <a:gd name="T36" fmla="*/ 448956 w 107"/>
                <a:gd name="T37" fmla="*/ 254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3"/>
                  </a:lnTo>
                  <a:lnTo>
                    <a:pt x="24" y="21"/>
                  </a:lnTo>
                  <a:lnTo>
                    <a:pt x="37" y="19"/>
                  </a:lnTo>
                  <a:lnTo>
                    <a:pt x="53" y="20"/>
                  </a:lnTo>
                  <a:lnTo>
                    <a:pt x="69" y="19"/>
                  </a:lnTo>
                  <a:lnTo>
                    <a:pt x="84" y="18"/>
                  </a:lnTo>
                  <a:lnTo>
                    <a:pt x="97" y="14"/>
                  </a:lnTo>
                  <a:lnTo>
                    <a:pt x="106" y="4"/>
                  </a:lnTo>
                  <a:lnTo>
                    <a:pt x="93" y="0"/>
                  </a:lnTo>
                  <a:lnTo>
                    <a:pt x="90" y="3"/>
                  </a:lnTo>
                  <a:lnTo>
                    <a:pt x="81" y="5"/>
                  </a:lnTo>
                  <a:lnTo>
                    <a:pt x="69" y="6"/>
                  </a:lnTo>
                  <a:lnTo>
                    <a:pt x="53" y="6"/>
                  </a:lnTo>
                  <a:lnTo>
                    <a:pt x="37" y="6"/>
                  </a:lnTo>
                  <a:lnTo>
                    <a:pt x="21" y="8"/>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5" name="Freeform 34">
              <a:extLst>
                <a:ext uri="{FF2B5EF4-FFF2-40B4-BE49-F238E27FC236}">
                  <a16:creationId xmlns:a16="http://schemas.microsoft.com/office/drawing/2014/main" id="{F6705F1A-CC0E-7678-6614-7ED047FACBA3}"/>
                </a:ext>
              </a:extLst>
            </p:cNvPr>
            <p:cNvSpPr>
              <a:spLocks/>
            </p:cNvSpPr>
            <p:nvPr/>
          </p:nvSpPr>
          <p:spPr bwMode="auto">
            <a:xfrm>
              <a:off x="3006" y="3042"/>
              <a:ext cx="133" cy="70"/>
            </a:xfrm>
            <a:custGeom>
              <a:avLst/>
              <a:gdLst>
                <a:gd name="T0" fmla="*/ 2656836 w 81"/>
                <a:gd name="T1" fmla="*/ 1053 h 61"/>
                <a:gd name="T2" fmla="*/ 2656836 w 81"/>
                <a:gd name="T3" fmla="*/ 1080 h 61"/>
                <a:gd name="T4" fmla="*/ 2558027 w 81"/>
                <a:gd name="T5" fmla="*/ 863 h 61"/>
                <a:gd name="T6" fmla="*/ 2272793 w 81"/>
                <a:gd name="T7" fmla="*/ 731 h 61"/>
                <a:gd name="T8" fmla="*/ 1864660 w 81"/>
                <a:gd name="T9" fmla="*/ 591 h 61"/>
                <a:gd name="T10" fmla="*/ 1443431 w 81"/>
                <a:gd name="T11" fmla="*/ 473 h 61"/>
                <a:gd name="T12" fmla="*/ 977473 w 81"/>
                <a:gd name="T13" fmla="*/ 341 h 61"/>
                <a:gd name="T14" fmla="*/ 633671 w 81"/>
                <a:gd name="T15" fmla="*/ 207 h 61"/>
                <a:gd name="T16" fmla="*/ 465961 w 81"/>
                <a:gd name="T17" fmla="*/ 104 h 61"/>
                <a:gd name="T18" fmla="*/ 421211 w 81"/>
                <a:gd name="T19" fmla="*/ 79 h 61"/>
                <a:gd name="T20" fmla="*/ 0 w 81"/>
                <a:gd name="T21" fmla="*/ 0 h 61"/>
                <a:gd name="T22" fmla="*/ 57947 w 81"/>
                <a:gd name="T23" fmla="*/ 216 h 61"/>
                <a:gd name="T24" fmla="*/ 326059 w 81"/>
                <a:gd name="T25" fmla="*/ 391 h 61"/>
                <a:gd name="T26" fmla="*/ 765096 w 81"/>
                <a:gd name="T27" fmla="*/ 543 h 61"/>
                <a:gd name="T28" fmla="*/ 1196621 w 81"/>
                <a:gd name="T29" fmla="*/ 650 h 61"/>
                <a:gd name="T30" fmla="*/ 1618073 w 81"/>
                <a:gd name="T31" fmla="*/ 820 h 61"/>
                <a:gd name="T32" fmla="*/ 2015988 w 81"/>
                <a:gd name="T33" fmla="*/ 930 h 61"/>
                <a:gd name="T34" fmla="*/ 2192131 w 81"/>
                <a:gd name="T35" fmla="*/ 990 h 61"/>
                <a:gd name="T36" fmla="*/ 2235597 w 81"/>
                <a:gd name="T37" fmla="*/ 990 h 61"/>
                <a:gd name="T38" fmla="*/ 2192131 w 81"/>
                <a:gd name="T39" fmla="*/ 1053 h 61"/>
                <a:gd name="T40" fmla="*/ 2235597 w 81"/>
                <a:gd name="T41" fmla="*/ 990 h 61"/>
                <a:gd name="T42" fmla="*/ 2192131 w 81"/>
                <a:gd name="T43" fmla="*/ 1025 h 61"/>
                <a:gd name="T44" fmla="*/ 2192131 w 81"/>
                <a:gd name="T45" fmla="*/ 1053 h 61"/>
                <a:gd name="T46" fmla="*/ 2656836 w 81"/>
                <a:gd name="T47" fmla="*/ 1053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1"/>
                <a:gd name="T73" fmla="*/ 0 h 61"/>
                <a:gd name="T74" fmla="*/ 81 w 81"/>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1" h="61">
                  <a:moveTo>
                    <a:pt x="80" y="58"/>
                  </a:moveTo>
                  <a:lnTo>
                    <a:pt x="80" y="60"/>
                  </a:lnTo>
                  <a:lnTo>
                    <a:pt x="77" y="49"/>
                  </a:lnTo>
                  <a:lnTo>
                    <a:pt x="68" y="41"/>
                  </a:lnTo>
                  <a:lnTo>
                    <a:pt x="56" y="33"/>
                  </a:lnTo>
                  <a:lnTo>
                    <a:pt x="43" y="26"/>
                  </a:lnTo>
                  <a:lnTo>
                    <a:pt x="29" y="19"/>
                  </a:lnTo>
                  <a:lnTo>
                    <a:pt x="19" y="11"/>
                  </a:lnTo>
                  <a:lnTo>
                    <a:pt x="14" y="6"/>
                  </a:lnTo>
                  <a:lnTo>
                    <a:pt x="13" y="4"/>
                  </a:lnTo>
                  <a:lnTo>
                    <a:pt x="0" y="0"/>
                  </a:lnTo>
                  <a:lnTo>
                    <a:pt x="2" y="12"/>
                  </a:lnTo>
                  <a:lnTo>
                    <a:pt x="10" y="22"/>
                  </a:lnTo>
                  <a:lnTo>
                    <a:pt x="23" y="30"/>
                  </a:lnTo>
                  <a:lnTo>
                    <a:pt x="36" y="37"/>
                  </a:lnTo>
                  <a:lnTo>
                    <a:pt x="49" y="45"/>
                  </a:lnTo>
                  <a:lnTo>
                    <a:pt x="60" y="51"/>
                  </a:lnTo>
                  <a:lnTo>
                    <a:pt x="66" y="56"/>
                  </a:lnTo>
                  <a:lnTo>
                    <a:pt x="67" y="56"/>
                  </a:lnTo>
                  <a:lnTo>
                    <a:pt x="66" y="58"/>
                  </a:lnTo>
                  <a:lnTo>
                    <a:pt x="67" y="56"/>
                  </a:lnTo>
                  <a:lnTo>
                    <a:pt x="66" y="57"/>
                  </a:lnTo>
                  <a:lnTo>
                    <a:pt x="66" y="58"/>
                  </a:lnTo>
                  <a:lnTo>
                    <a:pt x="80" y="5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6" name="Freeform 35">
              <a:extLst>
                <a:ext uri="{FF2B5EF4-FFF2-40B4-BE49-F238E27FC236}">
                  <a16:creationId xmlns:a16="http://schemas.microsoft.com/office/drawing/2014/main" id="{709A009D-9A34-D1E6-E92D-A065BAE3AB17}"/>
                </a:ext>
              </a:extLst>
            </p:cNvPr>
            <p:cNvSpPr>
              <a:spLocks/>
            </p:cNvSpPr>
            <p:nvPr/>
          </p:nvSpPr>
          <p:spPr bwMode="auto">
            <a:xfrm>
              <a:off x="3115" y="3107"/>
              <a:ext cx="24" cy="7"/>
            </a:xfrm>
            <a:custGeom>
              <a:avLst/>
              <a:gdLst>
                <a:gd name="T0" fmla="*/ 255066 w 15"/>
                <a:gd name="T1" fmla="*/ 140 h 6"/>
                <a:gd name="T2" fmla="*/ 265134 w 15"/>
                <a:gd name="T3" fmla="*/ 2 h 6"/>
                <a:gd name="T4" fmla="*/ 0 w 15"/>
                <a:gd name="T5" fmla="*/ 2 h 6"/>
                <a:gd name="T6" fmla="*/ 0 w 15"/>
                <a:gd name="T7" fmla="*/ 0 h 6"/>
                <a:gd name="T8" fmla="*/ 255066 w 15"/>
                <a:gd name="T9" fmla="*/ 140 h 6"/>
                <a:gd name="T10" fmla="*/ 265134 w 15"/>
                <a:gd name="T11" fmla="*/ 120 h 6"/>
                <a:gd name="T12" fmla="*/ 265134 w 15"/>
                <a:gd name="T13" fmla="*/ 2 h 6"/>
                <a:gd name="T14" fmla="*/ 255066 w 15"/>
                <a:gd name="T15" fmla="*/ 140 h 6"/>
                <a:gd name="T16" fmla="*/ 0 60000 65536"/>
                <a:gd name="T17" fmla="*/ 0 60000 65536"/>
                <a:gd name="T18" fmla="*/ 0 60000 65536"/>
                <a:gd name="T19" fmla="*/ 0 60000 65536"/>
                <a:gd name="T20" fmla="*/ 0 60000 65536"/>
                <a:gd name="T21" fmla="*/ 0 60000 65536"/>
                <a:gd name="T22" fmla="*/ 0 60000 65536"/>
                <a:gd name="T23" fmla="*/ 0 60000 65536"/>
                <a:gd name="T24" fmla="*/ 0 w 15"/>
                <a:gd name="T25" fmla="*/ 0 h 6"/>
                <a:gd name="T26" fmla="*/ 15 w 15"/>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 h="6">
                  <a:moveTo>
                    <a:pt x="13" y="5"/>
                  </a:moveTo>
                  <a:lnTo>
                    <a:pt x="14" y="2"/>
                  </a:lnTo>
                  <a:lnTo>
                    <a:pt x="0" y="2"/>
                  </a:lnTo>
                  <a:lnTo>
                    <a:pt x="0" y="0"/>
                  </a:lnTo>
                  <a:lnTo>
                    <a:pt x="13" y="5"/>
                  </a:lnTo>
                  <a:lnTo>
                    <a:pt x="14" y="4"/>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7" name="Freeform 36">
              <a:extLst>
                <a:ext uri="{FF2B5EF4-FFF2-40B4-BE49-F238E27FC236}">
                  <a16:creationId xmlns:a16="http://schemas.microsoft.com/office/drawing/2014/main" id="{C32DB401-7AE5-BCCE-DDFB-E4B87CDFC810}"/>
                </a:ext>
              </a:extLst>
            </p:cNvPr>
            <p:cNvSpPr>
              <a:spLocks/>
            </p:cNvSpPr>
            <p:nvPr/>
          </p:nvSpPr>
          <p:spPr bwMode="auto">
            <a:xfrm>
              <a:off x="2963" y="3107"/>
              <a:ext cx="176" cy="32"/>
            </a:xfrm>
            <a:custGeom>
              <a:avLst/>
              <a:gdLst>
                <a:gd name="T0" fmla="*/ 448956 w 107"/>
                <a:gd name="T1" fmla="*/ 943 h 27"/>
                <a:gd name="T2" fmla="*/ 551648 w 107"/>
                <a:gd name="T3" fmla="*/ 828 h 27"/>
                <a:gd name="T4" fmla="*/ 818282 w 107"/>
                <a:gd name="T5" fmla="*/ 774 h 27"/>
                <a:gd name="T6" fmla="*/ 1326479 w 107"/>
                <a:gd name="T7" fmla="*/ 677 h 27"/>
                <a:gd name="T8" fmla="*/ 1829721 w 107"/>
                <a:gd name="T9" fmla="*/ 677 h 27"/>
                <a:gd name="T10" fmla="*/ 2417273 w 107"/>
                <a:gd name="T11" fmla="*/ 653 h 27"/>
                <a:gd name="T12" fmla="*/ 2899460 w 107"/>
                <a:gd name="T13" fmla="*/ 590 h 27"/>
                <a:gd name="T14" fmla="*/ 3361858 w 107"/>
                <a:gd name="T15" fmla="*/ 465 h 27"/>
                <a:gd name="T16" fmla="*/ 3649694 w 107"/>
                <a:gd name="T17" fmla="*/ 167 h 27"/>
                <a:gd name="T18" fmla="*/ 3223782 w 107"/>
                <a:gd name="T19" fmla="*/ 0 h 27"/>
                <a:gd name="T20" fmla="*/ 3107351 w 107"/>
                <a:gd name="T21" fmla="*/ 2 h 27"/>
                <a:gd name="T22" fmla="*/ 2833329 w 107"/>
                <a:gd name="T23" fmla="*/ 141 h 27"/>
                <a:gd name="T24" fmla="*/ 2374059 w 107"/>
                <a:gd name="T25" fmla="*/ 167 h 27"/>
                <a:gd name="T26" fmla="*/ 1829721 w 107"/>
                <a:gd name="T27" fmla="*/ 198 h 27"/>
                <a:gd name="T28" fmla="*/ 1242572 w 107"/>
                <a:gd name="T29" fmla="*/ 198 h 27"/>
                <a:gd name="T30" fmla="*/ 755427 w 107"/>
                <a:gd name="T31" fmla="*/ 279 h 27"/>
                <a:gd name="T32" fmla="*/ 316149 w 107"/>
                <a:gd name="T33" fmla="*/ 420 h 27"/>
                <a:gd name="T34" fmla="*/ 0 w 107"/>
                <a:gd name="T35" fmla="*/ 796 h 27"/>
                <a:gd name="T36" fmla="*/ 448956 w 107"/>
                <a:gd name="T37" fmla="*/ 94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7"/>
                <a:gd name="T59" fmla="*/ 107 w 107"/>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7">
                  <a:moveTo>
                    <a:pt x="13" y="26"/>
                  </a:moveTo>
                  <a:lnTo>
                    <a:pt x="16" y="24"/>
                  </a:lnTo>
                  <a:lnTo>
                    <a:pt x="24" y="21"/>
                  </a:lnTo>
                  <a:lnTo>
                    <a:pt x="38" y="19"/>
                  </a:lnTo>
                  <a:lnTo>
                    <a:pt x="53" y="19"/>
                  </a:lnTo>
                  <a:lnTo>
                    <a:pt x="70" y="18"/>
                  </a:lnTo>
                  <a:lnTo>
                    <a:pt x="84" y="17"/>
                  </a:lnTo>
                  <a:lnTo>
                    <a:pt x="97" y="13"/>
                  </a:lnTo>
                  <a:lnTo>
                    <a:pt x="106" y="5"/>
                  </a:lnTo>
                  <a:lnTo>
                    <a:pt x="93" y="0"/>
                  </a:lnTo>
                  <a:lnTo>
                    <a:pt x="90" y="2"/>
                  </a:lnTo>
                  <a:lnTo>
                    <a:pt x="82" y="4"/>
                  </a:lnTo>
                  <a:lnTo>
                    <a:pt x="69" y="5"/>
                  </a:lnTo>
                  <a:lnTo>
                    <a:pt x="53" y="6"/>
                  </a:lnTo>
                  <a:lnTo>
                    <a:pt x="36" y="6"/>
                  </a:lnTo>
                  <a:lnTo>
                    <a:pt x="22" y="8"/>
                  </a:lnTo>
                  <a:lnTo>
                    <a:pt x="9" y="12"/>
                  </a:lnTo>
                  <a:lnTo>
                    <a:pt x="0" y="22"/>
                  </a:lnTo>
                  <a:lnTo>
                    <a:pt x="13" y="2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8" name="Freeform 37">
              <a:extLst>
                <a:ext uri="{FF2B5EF4-FFF2-40B4-BE49-F238E27FC236}">
                  <a16:creationId xmlns:a16="http://schemas.microsoft.com/office/drawing/2014/main" id="{7D06ADAF-3751-6BA4-14E5-8D2B887F4501}"/>
                </a:ext>
              </a:extLst>
            </p:cNvPr>
            <p:cNvSpPr>
              <a:spLocks/>
            </p:cNvSpPr>
            <p:nvPr/>
          </p:nvSpPr>
          <p:spPr bwMode="auto">
            <a:xfrm>
              <a:off x="2963" y="3133"/>
              <a:ext cx="132" cy="77"/>
            </a:xfrm>
            <a:custGeom>
              <a:avLst/>
              <a:gdLst>
                <a:gd name="T0" fmla="*/ 2918860 w 80"/>
                <a:gd name="T1" fmla="*/ 1224 h 67"/>
                <a:gd name="T2" fmla="*/ 2918860 w 80"/>
                <a:gd name="T3" fmla="*/ 1219 h 67"/>
                <a:gd name="T4" fmla="*/ 2842721 w 80"/>
                <a:gd name="T5" fmla="*/ 985 h 67"/>
                <a:gd name="T6" fmla="*/ 2506601 w 80"/>
                <a:gd name="T7" fmla="*/ 793 h 67"/>
                <a:gd name="T8" fmla="*/ 2062134 w 80"/>
                <a:gd name="T9" fmla="*/ 649 h 67"/>
                <a:gd name="T10" fmla="*/ 1545345 w 80"/>
                <a:gd name="T11" fmla="*/ 522 h 67"/>
                <a:gd name="T12" fmla="*/ 1100611 w 80"/>
                <a:gd name="T13" fmla="*/ 367 h 67"/>
                <a:gd name="T14" fmla="*/ 733570 w 80"/>
                <a:gd name="T15" fmla="*/ 242 h 67"/>
                <a:gd name="T16" fmla="*/ 520035 w 80"/>
                <a:gd name="T17" fmla="*/ 105 h 67"/>
                <a:gd name="T18" fmla="*/ 477527 w 80"/>
                <a:gd name="T19" fmla="*/ 79 h 67"/>
                <a:gd name="T20" fmla="*/ 0 w 80"/>
                <a:gd name="T21" fmla="*/ 0 h 67"/>
                <a:gd name="T22" fmla="*/ 64426 w 80"/>
                <a:gd name="T23" fmla="*/ 242 h 67"/>
                <a:gd name="T24" fmla="*/ 377109 w 80"/>
                <a:gd name="T25" fmla="*/ 422 h 67"/>
                <a:gd name="T26" fmla="*/ 796859 w 80"/>
                <a:gd name="T27" fmla="*/ 600 h 67"/>
                <a:gd name="T28" fmla="*/ 1314817 w 80"/>
                <a:gd name="T29" fmla="*/ 736 h 67"/>
                <a:gd name="T30" fmla="*/ 1816008 w 80"/>
                <a:gd name="T31" fmla="*/ 868 h 67"/>
                <a:gd name="T32" fmla="*/ 2169448 w 80"/>
                <a:gd name="T33" fmla="*/ 998 h 67"/>
                <a:gd name="T34" fmla="*/ 2399955 w 80"/>
                <a:gd name="T35" fmla="*/ 1117 h 67"/>
                <a:gd name="T36" fmla="*/ 2442464 w 80"/>
                <a:gd name="T37" fmla="*/ 1147 h 67"/>
                <a:gd name="T38" fmla="*/ 2442464 w 80"/>
                <a:gd name="T39" fmla="*/ 1132 h 67"/>
                <a:gd name="T40" fmla="*/ 2918860 w 80"/>
                <a:gd name="T41" fmla="*/ 1224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67"/>
                <a:gd name="T65" fmla="*/ 80 w 8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67">
                  <a:moveTo>
                    <a:pt x="79" y="66"/>
                  </a:moveTo>
                  <a:lnTo>
                    <a:pt x="79" y="65"/>
                  </a:lnTo>
                  <a:lnTo>
                    <a:pt x="77" y="53"/>
                  </a:lnTo>
                  <a:lnTo>
                    <a:pt x="68" y="43"/>
                  </a:lnTo>
                  <a:lnTo>
                    <a:pt x="56" y="35"/>
                  </a:lnTo>
                  <a:lnTo>
                    <a:pt x="42" y="28"/>
                  </a:lnTo>
                  <a:lnTo>
                    <a:pt x="30" y="20"/>
                  </a:lnTo>
                  <a:lnTo>
                    <a:pt x="20" y="13"/>
                  </a:lnTo>
                  <a:lnTo>
                    <a:pt x="14" y="6"/>
                  </a:lnTo>
                  <a:lnTo>
                    <a:pt x="13" y="4"/>
                  </a:lnTo>
                  <a:lnTo>
                    <a:pt x="0" y="0"/>
                  </a:lnTo>
                  <a:lnTo>
                    <a:pt x="2" y="13"/>
                  </a:lnTo>
                  <a:lnTo>
                    <a:pt x="10" y="23"/>
                  </a:lnTo>
                  <a:lnTo>
                    <a:pt x="22" y="32"/>
                  </a:lnTo>
                  <a:lnTo>
                    <a:pt x="36" y="39"/>
                  </a:lnTo>
                  <a:lnTo>
                    <a:pt x="49" y="47"/>
                  </a:lnTo>
                  <a:lnTo>
                    <a:pt x="59" y="54"/>
                  </a:lnTo>
                  <a:lnTo>
                    <a:pt x="65" y="60"/>
                  </a:lnTo>
                  <a:lnTo>
                    <a:pt x="66" y="62"/>
                  </a:lnTo>
                  <a:lnTo>
                    <a:pt x="66" y="61"/>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9" name="Freeform 38">
              <a:extLst>
                <a:ext uri="{FF2B5EF4-FFF2-40B4-BE49-F238E27FC236}">
                  <a16:creationId xmlns:a16="http://schemas.microsoft.com/office/drawing/2014/main" id="{7A9227FE-689C-420D-5C48-B555401225A8}"/>
                </a:ext>
              </a:extLst>
            </p:cNvPr>
            <p:cNvSpPr>
              <a:spLocks/>
            </p:cNvSpPr>
            <p:nvPr/>
          </p:nvSpPr>
          <p:spPr bwMode="auto">
            <a:xfrm>
              <a:off x="2917" y="3203"/>
              <a:ext cx="178" cy="29"/>
            </a:xfrm>
            <a:custGeom>
              <a:avLst/>
              <a:gdLst>
                <a:gd name="T0" fmla="*/ 467977 w 108"/>
                <a:gd name="T1" fmla="*/ 530 h 25"/>
                <a:gd name="T2" fmla="*/ 572069 w 108"/>
                <a:gd name="T3" fmla="*/ 516 h 25"/>
                <a:gd name="T4" fmla="*/ 904365 w 108"/>
                <a:gd name="T5" fmla="*/ 455 h 25"/>
                <a:gd name="T6" fmla="*/ 1340297 w 108"/>
                <a:gd name="T7" fmla="*/ 394 h 25"/>
                <a:gd name="T8" fmla="*/ 1899138 w 108"/>
                <a:gd name="T9" fmla="*/ 445 h 25"/>
                <a:gd name="T10" fmla="*/ 2520165 w 108"/>
                <a:gd name="T11" fmla="*/ 394 h 25"/>
                <a:gd name="T12" fmla="*/ 3068888 w 108"/>
                <a:gd name="T13" fmla="*/ 392 h 25"/>
                <a:gd name="T14" fmla="*/ 3543764 w 108"/>
                <a:gd name="T15" fmla="*/ 331 h 25"/>
                <a:gd name="T16" fmla="*/ 3851116 w 108"/>
                <a:gd name="T17" fmla="*/ 117 h 25"/>
                <a:gd name="T18" fmla="*/ 3382615 w 108"/>
                <a:gd name="T19" fmla="*/ 0 h 25"/>
                <a:gd name="T20" fmla="*/ 3279487 w 108"/>
                <a:gd name="T21" fmla="*/ 3 h 25"/>
                <a:gd name="T22" fmla="*/ 2963647 w 108"/>
                <a:gd name="T23" fmla="*/ 101 h 25"/>
                <a:gd name="T24" fmla="*/ 2520165 w 108"/>
                <a:gd name="T25" fmla="*/ 136 h 25"/>
                <a:gd name="T26" fmla="*/ 1899138 w 108"/>
                <a:gd name="T27" fmla="*/ 117 h 25"/>
                <a:gd name="T28" fmla="*/ 1340297 w 108"/>
                <a:gd name="T29" fmla="*/ 136 h 25"/>
                <a:gd name="T30" fmla="*/ 782669 w 108"/>
                <a:gd name="T31" fmla="*/ 158 h 25"/>
                <a:gd name="T32" fmla="*/ 332929 w 108"/>
                <a:gd name="T33" fmla="*/ 251 h 25"/>
                <a:gd name="T34" fmla="*/ 0 w 108"/>
                <a:gd name="T35" fmla="*/ 455 h 25"/>
                <a:gd name="T36" fmla="*/ 467977 w 108"/>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5"/>
                <a:gd name="T59" fmla="*/ 108 w 108"/>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5">
                  <a:moveTo>
                    <a:pt x="13" y="24"/>
                  </a:moveTo>
                  <a:lnTo>
                    <a:pt x="16" y="22"/>
                  </a:lnTo>
                  <a:lnTo>
                    <a:pt x="25" y="20"/>
                  </a:lnTo>
                  <a:lnTo>
                    <a:pt x="37" y="18"/>
                  </a:lnTo>
                  <a:lnTo>
                    <a:pt x="53" y="19"/>
                  </a:lnTo>
                  <a:lnTo>
                    <a:pt x="70" y="18"/>
                  </a:lnTo>
                  <a:lnTo>
                    <a:pt x="85" y="17"/>
                  </a:lnTo>
                  <a:lnTo>
                    <a:pt x="98" y="14"/>
                  </a:lnTo>
                  <a:lnTo>
                    <a:pt x="107" y="5"/>
                  </a:lnTo>
                  <a:lnTo>
                    <a:pt x="94" y="0"/>
                  </a:lnTo>
                  <a:lnTo>
                    <a:pt x="91" y="3"/>
                  </a:lnTo>
                  <a:lnTo>
                    <a:pt x="82" y="4"/>
                  </a:lnTo>
                  <a:lnTo>
                    <a:pt x="70" y="6"/>
                  </a:lnTo>
                  <a:lnTo>
                    <a:pt x="53" y="5"/>
                  </a:lnTo>
                  <a:lnTo>
                    <a:pt x="37" y="6"/>
                  </a:lnTo>
                  <a:lnTo>
                    <a:pt x="22" y="7"/>
                  </a:lnTo>
                  <a:lnTo>
                    <a:pt x="9" y="11"/>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0" name="Freeform 39">
              <a:extLst>
                <a:ext uri="{FF2B5EF4-FFF2-40B4-BE49-F238E27FC236}">
                  <a16:creationId xmlns:a16="http://schemas.microsoft.com/office/drawing/2014/main" id="{3DA6CCF8-78F7-26D4-591D-67E66AE2E5D7}"/>
                </a:ext>
              </a:extLst>
            </p:cNvPr>
            <p:cNvSpPr>
              <a:spLocks/>
            </p:cNvSpPr>
            <p:nvPr/>
          </p:nvSpPr>
          <p:spPr bwMode="auto">
            <a:xfrm>
              <a:off x="2917" y="3226"/>
              <a:ext cx="128" cy="79"/>
            </a:xfrm>
            <a:custGeom>
              <a:avLst/>
              <a:gdLst>
                <a:gd name="T0" fmla="*/ 2532882 w 78"/>
                <a:gd name="T1" fmla="*/ 1158 h 69"/>
                <a:gd name="T2" fmla="*/ 2532882 w 78"/>
                <a:gd name="T3" fmla="*/ 1161 h 69"/>
                <a:gd name="T4" fmla="*/ 2464373 w 78"/>
                <a:gd name="T5" fmla="*/ 950 h 69"/>
                <a:gd name="T6" fmla="*/ 2209400 w 78"/>
                <a:gd name="T7" fmla="*/ 787 h 69"/>
                <a:gd name="T8" fmla="*/ 1812188 w 78"/>
                <a:gd name="T9" fmla="*/ 633 h 69"/>
                <a:gd name="T10" fmla="*/ 1380721 w 78"/>
                <a:gd name="T11" fmla="*/ 490 h 69"/>
                <a:gd name="T12" fmla="*/ 967606 w 78"/>
                <a:gd name="T13" fmla="*/ 349 h 69"/>
                <a:gd name="T14" fmla="*/ 625104 w 78"/>
                <a:gd name="T15" fmla="*/ 218 h 69"/>
                <a:gd name="T16" fmla="*/ 461814 w 78"/>
                <a:gd name="T17" fmla="*/ 111 h 69"/>
                <a:gd name="T18" fmla="*/ 418066 w 78"/>
                <a:gd name="T19" fmla="*/ 74 h 69"/>
                <a:gd name="T20" fmla="*/ 0 w 78"/>
                <a:gd name="T21" fmla="*/ 0 h 69"/>
                <a:gd name="T22" fmla="*/ 57648 w 78"/>
                <a:gd name="T23" fmla="*/ 218 h 69"/>
                <a:gd name="T24" fmla="*/ 323513 w 78"/>
                <a:gd name="T25" fmla="*/ 405 h 69"/>
                <a:gd name="T26" fmla="*/ 720891 w 78"/>
                <a:gd name="T27" fmla="*/ 553 h 69"/>
                <a:gd name="T28" fmla="*/ 1148299 w 78"/>
                <a:gd name="T29" fmla="*/ 696 h 69"/>
                <a:gd name="T30" fmla="*/ 1587866 w 78"/>
                <a:gd name="T31" fmla="*/ 830 h 69"/>
                <a:gd name="T32" fmla="*/ 1906471 w 78"/>
                <a:gd name="T33" fmla="*/ 950 h 69"/>
                <a:gd name="T34" fmla="*/ 2066934 w 78"/>
                <a:gd name="T35" fmla="*/ 1045 h 69"/>
                <a:gd name="T36" fmla="*/ 2101908 w 78"/>
                <a:gd name="T37" fmla="*/ 1088 h 69"/>
                <a:gd name="T38" fmla="*/ 2532882 w 78"/>
                <a:gd name="T39" fmla="*/ 1158 h 6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8"/>
                <a:gd name="T61" fmla="*/ 0 h 69"/>
                <a:gd name="T62" fmla="*/ 78 w 78"/>
                <a:gd name="T63" fmla="*/ 69 h 6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8" h="69">
                  <a:moveTo>
                    <a:pt x="77" y="67"/>
                  </a:moveTo>
                  <a:lnTo>
                    <a:pt x="77" y="68"/>
                  </a:lnTo>
                  <a:lnTo>
                    <a:pt x="75" y="55"/>
                  </a:lnTo>
                  <a:lnTo>
                    <a:pt x="67" y="45"/>
                  </a:lnTo>
                  <a:lnTo>
                    <a:pt x="55" y="37"/>
                  </a:lnTo>
                  <a:lnTo>
                    <a:pt x="42" y="29"/>
                  </a:lnTo>
                  <a:lnTo>
                    <a:pt x="29" y="20"/>
                  </a:lnTo>
                  <a:lnTo>
                    <a:pt x="19" y="13"/>
                  </a:lnTo>
                  <a:lnTo>
                    <a:pt x="14" y="7"/>
                  </a:lnTo>
                  <a:lnTo>
                    <a:pt x="13" y="4"/>
                  </a:lnTo>
                  <a:lnTo>
                    <a:pt x="0" y="0"/>
                  </a:lnTo>
                  <a:lnTo>
                    <a:pt x="2" y="13"/>
                  </a:lnTo>
                  <a:lnTo>
                    <a:pt x="10" y="24"/>
                  </a:lnTo>
                  <a:lnTo>
                    <a:pt x="22" y="32"/>
                  </a:lnTo>
                  <a:lnTo>
                    <a:pt x="35" y="40"/>
                  </a:lnTo>
                  <a:lnTo>
                    <a:pt x="48" y="48"/>
                  </a:lnTo>
                  <a:lnTo>
                    <a:pt x="58" y="55"/>
                  </a:lnTo>
                  <a:lnTo>
                    <a:pt x="63" y="61"/>
                  </a:lnTo>
                  <a:lnTo>
                    <a:pt x="64" y="63"/>
                  </a:lnTo>
                  <a:lnTo>
                    <a:pt x="77" y="6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1" name="Freeform 40">
              <a:extLst>
                <a:ext uri="{FF2B5EF4-FFF2-40B4-BE49-F238E27FC236}">
                  <a16:creationId xmlns:a16="http://schemas.microsoft.com/office/drawing/2014/main" id="{1CF6272D-37E3-911A-D832-16613DE8C055}"/>
                </a:ext>
              </a:extLst>
            </p:cNvPr>
            <p:cNvSpPr>
              <a:spLocks/>
            </p:cNvSpPr>
            <p:nvPr/>
          </p:nvSpPr>
          <p:spPr bwMode="auto">
            <a:xfrm>
              <a:off x="3022" y="3299"/>
              <a:ext cx="23" cy="5"/>
            </a:xfrm>
            <a:custGeom>
              <a:avLst/>
              <a:gdLst>
                <a:gd name="T0" fmla="*/ 439537 w 14"/>
                <a:gd name="T1" fmla="*/ 4 h 5"/>
                <a:gd name="T2" fmla="*/ 200264 w 14"/>
                <a:gd name="T3" fmla="*/ 2 h 5"/>
                <a:gd name="T4" fmla="*/ 0 w 14"/>
                <a:gd name="T5" fmla="*/ 0 h 5"/>
                <a:gd name="T6" fmla="*/ 439537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13" y="4"/>
                  </a:moveTo>
                  <a:lnTo>
                    <a:pt x="6" y="2"/>
                  </a:lnTo>
                  <a:lnTo>
                    <a:pt x="0" y="0"/>
                  </a:lnTo>
                  <a:lnTo>
                    <a:pt x="1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2" name="Freeform 41">
              <a:extLst>
                <a:ext uri="{FF2B5EF4-FFF2-40B4-BE49-F238E27FC236}">
                  <a16:creationId xmlns:a16="http://schemas.microsoft.com/office/drawing/2014/main" id="{687759BB-AD43-E10B-9E32-97EB4DE8EF2C}"/>
                </a:ext>
              </a:extLst>
            </p:cNvPr>
            <p:cNvSpPr>
              <a:spLocks/>
            </p:cNvSpPr>
            <p:nvPr/>
          </p:nvSpPr>
          <p:spPr bwMode="auto">
            <a:xfrm>
              <a:off x="2869" y="3299"/>
              <a:ext cx="176" cy="29"/>
            </a:xfrm>
            <a:custGeom>
              <a:avLst/>
              <a:gdLst>
                <a:gd name="T0" fmla="*/ 448956 w 107"/>
                <a:gd name="T1" fmla="*/ 254 h 26"/>
                <a:gd name="T2" fmla="*/ 520021 w 107"/>
                <a:gd name="T3" fmla="*/ 229 h 26"/>
                <a:gd name="T4" fmla="*/ 818282 w 107"/>
                <a:gd name="T5" fmla="*/ 205 h 26"/>
                <a:gd name="T6" fmla="*/ 1274250 w 107"/>
                <a:gd name="T7" fmla="*/ 204 h 26"/>
                <a:gd name="T8" fmla="*/ 1829721 w 107"/>
                <a:gd name="T9" fmla="*/ 204 h 26"/>
                <a:gd name="T10" fmla="*/ 2374059 w 107"/>
                <a:gd name="T11" fmla="*/ 204 h 26"/>
                <a:gd name="T12" fmla="*/ 2899460 w 107"/>
                <a:gd name="T13" fmla="*/ 183 h 26"/>
                <a:gd name="T14" fmla="*/ 3361858 w 107"/>
                <a:gd name="T15" fmla="*/ 147 h 26"/>
                <a:gd name="T16" fmla="*/ 3649694 w 107"/>
                <a:gd name="T17" fmla="*/ 4 h 26"/>
                <a:gd name="T18" fmla="*/ 3223782 w 107"/>
                <a:gd name="T19" fmla="*/ 0 h 26"/>
                <a:gd name="T20" fmla="*/ 3107351 w 107"/>
                <a:gd name="T21" fmla="*/ 2 h 26"/>
                <a:gd name="T22" fmla="*/ 2796262 w 107"/>
                <a:gd name="T23" fmla="*/ 56 h 26"/>
                <a:gd name="T24" fmla="*/ 2374059 w 107"/>
                <a:gd name="T25" fmla="*/ 62 h 26"/>
                <a:gd name="T26" fmla="*/ 1829721 w 107"/>
                <a:gd name="T27" fmla="*/ 56 h 26"/>
                <a:gd name="T28" fmla="*/ 1274250 w 107"/>
                <a:gd name="T29" fmla="*/ 62 h 26"/>
                <a:gd name="T30" fmla="*/ 738470 w 107"/>
                <a:gd name="T31" fmla="*/ 69 h 26"/>
                <a:gd name="T32" fmla="*/ 316149 w 107"/>
                <a:gd name="T33" fmla="*/ 107 h 26"/>
                <a:gd name="T34" fmla="*/ 0 w 107"/>
                <a:gd name="T35" fmla="*/ 205 h 26"/>
                <a:gd name="T36" fmla="*/ 448956 w 107"/>
                <a:gd name="T37" fmla="*/ 254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3"/>
                  </a:lnTo>
                  <a:lnTo>
                    <a:pt x="24" y="21"/>
                  </a:lnTo>
                  <a:lnTo>
                    <a:pt x="37" y="20"/>
                  </a:lnTo>
                  <a:lnTo>
                    <a:pt x="53" y="20"/>
                  </a:lnTo>
                  <a:lnTo>
                    <a:pt x="69" y="20"/>
                  </a:lnTo>
                  <a:lnTo>
                    <a:pt x="84" y="18"/>
                  </a:lnTo>
                  <a:lnTo>
                    <a:pt x="97" y="14"/>
                  </a:lnTo>
                  <a:lnTo>
                    <a:pt x="106" y="4"/>
                  </a:lnTo>
                  <a:lnTo>
                    <a:pt x="93" y="0"/>
                  </a:lnTo>
                  <a:lnTo>
                    <a:pt x="90" y="2"/>
                  </a:lnTo>
                  <a:lnTo>
                    <a:pt x="81" y="5"/>
                  </a:lnTo>
                  <a:lnTo>
                    <a:pt x="69" y="6"/>
                  </a:lnTo>
                  <a:lnTo>
                    <a:pt x="53" y="5"/>
                  </a:lnTo>
                  <a:lnTo>
                    <a:pt x="37" y="6"/>
                  </a:lnTo>
                  <a:lnTo>
                    <a:pt x="21" y="7"/>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3" name="Freeform 42">
              <a:extLst>
                <a:ext uri="{FF2B5EF4-FFF2-40B4-BE49-F238E27FC236}">
                  <a16:creationId xmlns:a16="http://schemas.microsoft.com/office/drawing/2014/main" id="{5DAA1BA4-AE9B-93B5-B218-2D70E6BF0B59}"/>
                </a:ext>
              </a:extLst>
            </p:cNvPr>
            <p:cNvSpPr>
              <a:spLocks/>
            </p:cNvSpPr>
            <p:nvPr/>
          </p:nvSpPr>
          <p:spPr bwMode="auto">
            <a:xfrm>
              <a:off x="2869" y="3323"/>
              <a:ext cx="132" cy="76"/>
            </a:xfrm>
            <a:custGeom>
              <a:avLst/>
              <a:gdLst>
                <a:gd name="T0" fmla="*/ 2918860 w 80"/>
                <a:gd name="T1" fmla="*/ 1246 h 66"/>
                <a:gd name="T2" fmla="*/ 2842721 w 80"/>
                <a:gd name="T3" fmla="*/ 1001 h 66"/>
                <a:gd name="T4" fmla="*/ 2506601 w 80"/>
                <a:gd name="T5" fmla="*/ 839 h 66"/>
                <a:gd name="T6" fmla="*/ 2062134 w 80"/>
                <a:gd name="T7" fmla="*/ 656 h 66"/>
                <a:gd name="T8" fmla="*/ 1584345 w 80"/>
                <a:gd name="T9" fmla="*/ 508 h 66"/>
                <a:gd name="T10" fmla="*/ 1100611 w 80"/>
                <a:gd name="T11" fmla="*/ 371 h 66"/>
                <a:gd name="T12" fmla="*/ 692147 w 80"/>
                <a:gd name="T13" fmla="*/ 236 h 66"/>
                <a:gd name="T14" fmla="*/ 520035 w 80"/>
                <a:gd name="T15" fmla="*/ 117 h 66"/>
                <a:gd name="T16" fmla="*/ 477527 w 80"/>
                <a:gd name="T17" fmla="*/ 89 h 66"/>
                <a:gd name="T18" fmla="*/ 0 w 80"/>
                <a:gd name="T19" fmla="*/ 0 h 66"/>
                <a:gd name="T20" fmla="*/ 64426 w 80"/>
                <a:gd name="T21" fmla="*/ 251 h 66"/>
                <a:gd name="T22" fmla="*/ 377109 w 80"/>
                <a:gd name="T23" fmla="*/ 427 h 66"/>
                <a:gd name="T24" fmla="*/ 796859 w 80"/>
                <a:gd name="T25" fmla="*/ 585 h 66"/>
                <a:gd name="T26" fmla="*/ 1314817 w 80"/>
                <a:gd name="T27" fmla="*/ 752 h 66"/>
                <a:gd name="T28" fmla="*/ 1816008 w 80"/>
                <a:gd name="T29" fmla="*/ 894 h 66"/>
                <a:gd name="T30" fmla="*/ 2169448 w 80"/>
                <a:gd name="T31" fmla="*/ 1029 h 66"/>
                <a:gd name="T32" fmla="*/ 2399955 w 80"/>
                <a:gd name="T33" fmla="*/ 1148 h 66"/>
                <a:gd name="T34" fmla="*/ 2442464 w 80"/>
                <a:gd name="T35" fmla="*/ 1188 h 66"/>
                <a:gd name="T36" fmla="*/ 2918860 w 80"/>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3"/>
                  </a:lnTo>
                  <a:lnTo>
                    <a:pt x="56" y="34"/>
                  </a:lnTo>
                  <a:lnTo>
                    <a:pt x="43" y="26"/>
                  </a:lnTo>
                  <a:lnTo>
                    <a:pt x="30" y="19"/>
                  </a:lnTo>
                  <a:lnTo>
                    <a:pt x="19" y="12"/>
                  </a:lnTo>
                  <a:lnTo>
                    <a:pt x="14" y="6"/>
                  </a:lnTo>
                  <a:lnTo>
                    <a:pt x="13" y="4"/>
                  </a:lnTo>
                  <a:lnTo>
                    <a:pt x="0" y="0"/>
                  </a:lnTo>
                  <a:lnTo>
                    <a:pt x="2" y="13"/>
                  </a:lnTo>
                  <a:lnTo>
                    <a:pt x="10" y="22"/>
                  </a:lnTo>
                  <a:lnTo>
                    <a:pt x="22" y="30"/>
                  </a:lnTo>
                  <a:lnTo>
                    <a:pt x="36" y="38"/>
                  </a:lnTo>
                  <a:lnTo>
                    <a:pt x="49" y="46"/>
                  </a:lnTo>
                  <a:lnTo>
                    <a:pt x="59" y="53"/>
                  </a:lnTo>
                  <a:lnTo>
                    <a:pt x="65" y="59"/>
                  </a:lnTo>
                  <a:lnTo>
                    <a:pt x="66" y="62"/>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4" name="Freeform 43">
              <a:extLst>
                <a:ext uri="{FF2B5EF4-FFF2-40B4-BE49-F238E27FC236}">
                  <a16:creationId xmlns:a16="http://schemas.microsoft.com/office/drawing/2014/main" id="{D82FE190-36B5-DD6F-D218-A50413222D08}"/>
                </a:ext>
              </a:extLst>
            </p:cNvPr>
            <p:cNvSpPr>
              <a:spLocks/>
            </p:cNvSpPr>
            <p:nvPr/>
          </p:nvSpPr>
          <p:spPr bwMode="auto">
            <a:xfrm>
              <a:off x="2823" y="3393"/>
              <a:ext cx="178" cy="29"/>
            </a:xfrm>
            <a:custGeom>
              <a:avLst/>
              <a:gdLst>
                <a:gd name="T0" fmla="*/ 467977 w 108"/>
                <a:gd name="T1" fmla="*/ 530 h 25"/>
                <a:gd name="T2" fmla="*/ 572069 w 108"/>
                <a:gd name="T3" fmla="*/ 516 h 25"/>
                <a:gd name="T4" fmla="*/ 881942 w 108"/>
                <a:gd name="T5" fmla="*/ 455 h 25"/>
                <a:gd name="T6" fmla="*/ 1340297 w 108"/>
                <a:gd name="T7" fmla="*/ 394 h 25"/>
                <a:gd name="T8" fmla="*/ 1899138 w 108"/>
                <a:gd name="T9" fmla="*/ 445 h 25"/>
                <a:gd name="T10" fmla="*/ 2496818 w 108"/>
                <a:gd name="T11" fmla="*/ 394 h 25"/>
                <a:gd name="T12" fmla="*/ 3008657 w 108"/>
                <a:gd name="T13" fmla="*/ 392 h 25"/>
                <a:gd name="T14" fmla="*/ 3504021 w 108"/>
                <a:gd name="T15" fmla="*/ 291 h 25"/>
                <a:gd name="T16" fmla="*/ 3851116 w 108"/>
                <a:gd name="T17" fmla="*/ 3 h 25"/>
                <a:gd name="T18" fmla="*/ 3382615 w 108"/>
                <a:gd name="T19" fmla="*/ 0 h 25"/>
                <a:gd name="T20" fmla="*/ 3279487 w 108"/>
                <a:gd name="T21" fmla="*/ 2 h 25"/>
                <a:gd name="T22" fmla="*/ 2963647 w 108"/>
                <a:gd name="T23" fmla="*/ 101 h 25"/>
                <a:gd name="T24" fmla="*/ 2496818 w 108"/>
                <a:gd name="T25" fmla="*/ 117 h 25"/>
                <a:gd name="T26" fmla="*/ 1899138 w 108"/>
                <a:gd name="T27" fmla="*/ 117 h 25"/>
                <a:gd name="T28" fmla="*/ 1340297 w 108"/>
                <a:gd name="T29" fmla="*/ 117 h 25"/>
                <a:gd name="T30" fmla="*/ 771295 w 108"/>
                <a:gd name="T31" fmla="*/ 158 h 25"/>
                <a:gd name="T32" fmla="*/ 332929 w 108"/>
                <a:gd name="T33" fmla="*/ 246 h 25"/>
                <a:gd name="T34" fmla="*/ 0 w 108"/>
                <a:gd name="T35" fmla="*/ 455 h 25"/>
                <a:gd name="T36" fmla="*/ 467977 w 108"/>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5"/>
                <a:gd name="T59" fmla="*/ 108 w 108"/>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5">
                  <a:moveTo>
                    <a:pt x="13" y="24"/>
                  </a:moveTo>
                  <a:lnTo>
                    <a:pt x="16" y="22"/>
                  </a:lnTo>
                  <a:lnTo>
                    <a:pt x="24" y="20"/>
                  </a:lnTo>
                  <a:lnTo>
                    <a:pt x="37" y="18"/>
                  </a:lnTo>
                  <a:lnTo>
                    <a:pt x="53" y="19"/>
                  </a:lnTo>
                  <a:lnTo>
                    <a:pt x="69" y="18"/>
                  </a:lnTo>
                  <a:lnTo>
                    <a:pt x="84" y="17"/>
                  </a:lnTo>
                  <a:lnTo>
                    <a:pt x="97" y="13"/>
                  </a:lnTo>
                  <a:lnTo>
                    <a:pt x="107" y="3"/>
                  </a:lnTo>
                  <a:lnTo>
                    <a:pt x="94" y="0"/>
                  </a:lnTo>
                  <a:lnTo>
                    <a:pt x="91" y="2"/>
                  </a:lnTo>
                  <a:lnTo>
                    <a:pt x="82" y="4"/>
                  </a:lnTo>
                  <a:lnTo>
                    <a:pt x="69" y="5"/>
                  </a:lnTo>
                  <a:lnTo>
                    <a:pt x="53" y="5"/>
                  </a:lnTo>
                  <a:lnTo>
                    <a:pt x="37" y="5"/>
                  </a:lnTo>
                  <a:lnTo>
                    <a:pt x="21"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5" name="Freeform 44">
              <a:extLst>
                <a:ext uri="{FF2B5EF4-FFF2-40B4-BE49-F238E27FC236}">
                  <a16:creationId xmlns:a16="http://schemas.microsoft.com/office/drawing/2014/main" id="{3EAC85D3-6C21-A5A9-3F7A-7D5938A4A879}"/>
                </a:ext>
              </a:extLst>
            </p:cNvPr>
            <p:cNvSpPr>
              <a:spLocks/>
            </p:cNvSpPr>
            <p:nvPr/>
          </p:nvSpPr>
          <p:spPr bwMode="auto">
            <a:xfrm>
              <a:off x="2823" y="3416"/>
              <a:ext cx="136" cy="71"/>
            </a:xfrm>
            <a:custGeom>
              <a:avLst/>
              <a:gdLst>
                <a:gd name="T0" fmla="*/ 3316748 w 82"/>
                <a:gd name="T1" fmla="*/ 1017 h 62"/>
                <a:gd name="T2" fmla="*/ 3310262 w 82"/>
                <a:gd name="T3" fmla="*/ 1046 h 62"/>
                <a:gd name="T4" fmla="*/ 3175910 w 82"/>
                <a:gd name="T5" fmla="*/ 838 h 62"/>
                <a:gd name="T6" fmla="*/ 2793281 w 82"/>
                <a:gd name="T7" fmla="*/ 715 h 62"/>
                <a:gd name="T8" fmla="*/ 2301297 w 82"/>
                <a:gd name="T9" fmla="*/ 566 h 62"/>
                <a:gd name="T10" fmla="*/ 1767504 w 82"/>
                <a:gd name="T11" fmla="*/ 462 h 62"/>
                <a:gd name="T12" fmla="*/ 1203406 w 82"/>
                <a:gd name="T13" fmla="*/ 328 h 62"/>
                <a:gd name="T14" fmla="*/ 792167 w 82"/>
                <a:gd name="T15" fmla="*/ 190 h 62"/>
                <a:gd name="T16" fmla="*/ 563196 w 82"/>
                <a:gd name="T17" fmla="*/ 97 h 62"/>
                <a:gd name="T18" fmla="*/ 543340 w 82"/>
                <a:gd name="T19" fmla="*/ 74 h 62"/>
                <a:gd name="T20" fmla="*/ 0 w 82"/>
                <a:gd name="T21" fmla="*/ 0 h 62"/>
                <a:gd name="T22" fmla="*/ 71808 w 82"/>
                <a:gd name="T23" fmla="*/ 211 h 62"/>
                <a:gd name="T24" fmla="*/ 413734 w 82"/>
                <a:gd name="T25" fmla="*/ 376 h 62"/>
                <a:gd name="T26" fmla="*/ 934081 w 82"/>
                <a:gd name="T27" fmla="*/ 529 h 62"/>
                <a:gd name="T28" fmla="*/ 1494589 w 82"/>
                <a:gd name="T29" fmla="*/ 634 h 62"/>
                <a:gd name="T30" fmla="*/ 1999804 w 82"/>
                <a:gd name="T31" fmla="*/ 795 h 62"/>
                <a:gd name="T32" fmla="*/ 2478831 w 82"/>
                <a:gd name="T33" fmla="*/ 882 h 62"/>
                <a:gd name="T34" fmla="*/ 2707123 w 82"/>
                <a:gd name="T35" fmla="*/ 973 h 62"/>
                <a:gd name="T36" fmla="*/ 2751824 w 82"/>
                <a:gd name="T37" fmla="*/ 973 h 62"/>
                <a:gd name="T38" fmla="*/ 2707123 w 82"/>
                <a:gd name="T39" fmla="*/ 1017 h 62"/>
                <a:gd name="T40" fmla="*/ 2751824 w 82"/>
                <a:gd name="T41" fmla="*/ 973 h 62"/>
                <a:gd name="T42" fmla="*/ 2707123 w 82"/>
                <a:gd name="T43" fmla="*/ 1017 h 62"/>
                <a:gd name="T44" fmla="*/ 3316748 w 82"/>
                <a:gd name="T45" fmla="*/ 1017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2"/>
                <a:gd name="T70" fmla="*/ 0 h 62"/>
                <a:gd name="T71" fmla="*/ 82 w 82"/>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2" h="62">
                  <a:moveTo>
                    <a:pt x="81" y="59"/>
                  </a:moveTo>
                  <a:lnTo>
                    <a:pt x="80" y="61"/>
                  </a:lnTo>
                  <a:lnTo>
                    <a:pt x="77" y="49"/>
                  </a:lnTo>
                  <a:lnTo>
                    <a:pt x="68" y="41"/>
                  </a:lnTo>
                  <a:lnTo>
                    <a:pt x="56" y="33"/>
                  </a:lnTo>
                  <a:lnTo>
                    <a:pt x="43" y="26"/>
                  </a:lnTo>
                  <a:lnTo>
                    <a:pt x="29" y="19"/>
                  </a:lnTo>
                  <a:lnTo>
                    <a:pt x="19" y="11"/>
                  </a:lnTo>
                  <a:lnTo>
                    <a:pt x="14" y="6"/>
                  </a:lnTo>
                  <a:lnTo>
                    <a:pt x="13" y="4"/>
                  </a:lnTo>
                  <a:lnTo>
                    <a:pt x="0" y="0"/>
                  </a:lnTo>
                  <a:lnTo>
                    <a:pt x="2" y="12"/>
                  </a:lnTo>
                  <a:lnTo>
                    <a:pt x="10" y="22"/>
                  </a:lnTo>
                  <a:lnTo>
                    <a:pt x="23" y="30"/>
                  </a:lnTo>
                  <a:lnTo>
                    <a:pt x="36" y="37"/>
                  </a:lnTo>
                  <a:lnTo>
                    <a:pt x="49" y="45"/>
                  </a:lnTo>
                  <a:lnTo>
                    <a:pt x="60" y="51"/>
                  </a:lnTo>
                  <a:lnTo>
                    <a:pt x="66" y="57"/>
                  </a:lnTo>
                  <a:lnTo>
                    <a:pt x="67" y="57"/>
                  </a:lnTo>
                  <a:lnTo>
                    <a:pt x="66" y="59"/>
                  </a:lnTo>
                  <a:lnTo>
                    <a:pt x="67" y="57"/>
                  </a:lnTo>
                  <a:lnTo>
                    <a:pt x="66" y="59"/>
                  </a:lnTo>
                  <a:lnTo>
                    <a:pt x="81" y="5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6" name="Freeform 45">
              <a:extLst>
                <a:ext uri="{FF2B5EF4-FFF2-40B4-BE49-F238E27FC236}">
                  <a16:creationId xmlns:a16="http://schemas.microsoft.com/office/drawing/2014/main" id="{BD677B14-49A6-5165-5E35-0972AF4B69F4}"/>
                </a:ext>
              </a:extLst>
            </p:cNvPr>
            <p:cNvSpPr>
              <a:spLocks/>
            </p:cNvSpPr>
            <p:nvPr/>
          </p:nvSpPr>
          <p:spPr bwMode="auto">
            <a:xfrm>
              <a:off x="2932" y="3483"/>
              <a:ext cx="27" cy="6"/>
            </a:xfrm>
            <a:custGeom>
              <a:avLst/>
              <a:gdLst>
                <a:gd name="T0" fmla="*/ 824491 w 16"/>
                <a:gd name="T1" fmla="*/ 5 h 6"/>
                <a:gd name="T2" fmla="*/ 879388 w 16"/>
                <a:gd name="T3" fmla="*/ 3 h 6"/>
                <a:gd name="T4" fmla="*/ 879388 w 16"/>
                <a:gd name="T5" fmla="*/ 1 h 6"/>
                <a:gd name="T6" fmla="*/ 0 w 16"/>
                <a:gd name="T7" fmla="*/ 1 h 6"/>
                <a:gd name="T8" fmla="*/ 0 w 16"/>
                <a:gd name="T9" fmla="*/ 3 h 6"/>
                <a:gd name="T10" fmla="*/ 62006 w 16"/>
                <a:gd name="T11" fmla="*/ 0 h 6"/>
                <a:gd name="T12" fmla="*/ 824491 w 16"/>
                <a:gd name="T13" fmla="*/ 5 h 6"/>
                <a:gd name="T14" fmla="*/ 879388 w 16"/>
                <a:gd name="T15" fmla="*/ 4 h 6"/>
                <a:gd name="T16" fmla="*/ 879388 w 16"/>
                <a:gd name="T17" fmla="*/ 3 h 6"/>
                <a:gd name="T18" fmla="*/ 824491 w 16"/>
                <a:gd name="T19" fmla="*/ 5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6"/>
                <a:gd name="T32" fmla="*/ 16 w 16"/>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6">
                  <a:moveTo>
                    <a:pt x="14" y="5"/>
                  </a:moveTo>
                  <a:lnTo>
                    <a:pt x="15" y="3"/>
                  </a:lnTo>
                  <a:lnTo>
                    <a:pt x="15" y="1"/>
                  </a:lnTo>
                  <a:lnTo>
                    <a:pt x="0" y="1"/>
                  </a:lnTo>
                  <a:lnTo>
                    <a:pt x="0" y="3"/>
                  </a:lnTo>
                  <a:lnTo>
                    <a:pt x="1" y="0"/>
                  </a:lnTo>
                  <a:lnTo>
                    <a:pt x="14" y="5"/>
                  </a:lnTo>
                  <a:lnTo>
                    <a:pt x="15" y="4"/>
                  </a:lnTo>
                  <a:lnTo>
                    <a:pt x="15" y="3"/>
                  </a:lnTo>
                  <a:lnTo>
                    <a:pt x="14"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7" name="Freeform 46">
              <a:extLst>
                <a:ext uri="{FF2B5EF4-FFF2-40B4-BE49-F238E27FC236}">
                  <a16:creationId xmlns:a16="http://schemas.microsoft.com/office/drawing/2014/main" id="{56B2D84C-3ADD-427F-4519-3C3F813FFC4C}"/>
                </a:ext>
              </a:extLst>
            </p:cNvPr>
            <p:cNvSpPr>
              <a:spLocks/>
            </p:cNvSpPr>
            <p:nvPr/>
          </p:nvSpPr>
          <p:spPr bwMode="auto">
            <a:xfrm>
              <a:off x="2783" y="3483"/>
              <a:ext cx="173" cy="31"/>
            </a:xfrm>
            <a:custGeom>
              <a:avLst/>
              <a:gdLst>
                <a:gd name="T0" fmla="*/ 373313 w 106"/>
                <a:gd name="T1" fmla="*/ 473 h 27"/>
                <a:gd name="T2" fmla="*/ 430014 w 106"/>
                <a:gd name="T3" fmla="*/ 412 h 27"/>
                <a:gd name="T4" fmla="*/ 701815 w 106"/>
                <a:gd name="T5" fmla="*/ 377 h 27"/>
                <a:gd name="T6" fmla="*/ 1079154 w 106"/>
                <a:gd name="T7" fmla="*/ 355 h 27"/>
                <a:gd name="T8" fmla="*/ 1530828 w 106"/>
                <a:gd name="T9" fmla="*/ 355 h 27"/>
                <a:gd name="T10" fmla="*/ 1989524 w 106"/>
                <a:gd name="T11" fmla="*/ 355 h 27"/>
                <a:gd name="T12" fmla="*/ 2421995 w 106"/>
                <a:gd name="T13" fmla="*/ 313 h 27"/>
                <a:gd name="T14" fmla="*/ 2820902 w 106"/>
                <a:gd name="T15" fmla="*/ 249 h 27"/>
                <a:gd name="T16" fmla="*/ 3075039 w 106"/>
                <a:gd name="T17" fmla="*/ 104 h 27"/>
                <a:gd name="T18" fmla="*/ 2702097 w 106"/>
                <a:gd name="T19" fmla="*/ 0 h 27"/>
                <a:gd name="T20" fmla="*/ 2613447 w 106"/>
                <a:gd name="T21" fmla="*/ 2 h 27"/>
                <a:gd name="T22" fmla="*/ 2370041 w 106"/>
                <a:gd name="T23" fmla="*/ 79 h 27"/>
                <a:gd name="T24" fmla="*/ 1989524 w 106"/>
                <a:gd name="T25" fmla="*/ 104 h 27"/>
                <a:gd name="T26" fmla="*/ 1530828 w 106"/>
                <a:gd name="T27" fmla="*/ 91 h 27"/>
                <a:gd name="T28" fmla="*/ 1059028 w 106"/>
                <a:gd name="T29" fmla="*/ 104 h 27"/>
                <a:gd name="T30" fmla="*/ 609275 w 106"/>
                <a:gd name="T31" fmla="*/ 137 h 27"/>
                <a:gd name="T32" fmla="*/ 263477 w 106"/>
                <a:gd name="T33" fmla="*/ 217 h 27"/>
                <a:gd name="T34" fmla="*/ 0 w 106"/>
                <a:gd name="T35" fmla="*/ 408 h 27"/>
                <a:gd name="T36" fmla="*/ 373313 w 106"/>
                <a:gd name="T37" fmla="*/ 47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7"/>
                <a:gd name="T59" fmla="*/ 106 w 106"/>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7">
                  <a:moveTo>
                    <a:pt x="13" y="26"/>
                  </a:moveTo>
                  <a:lnTo>
                    <a:pt x="15" y="23"/>
                  </a:lnTo>
                  <a:lnTo>
                    <a:pt x="24" y="21"/>
                  </a:lnTo>
                  <a:lnTo>
                    <a:pt x="37" y="19"/>
                  </a:lnTo>
                  <a:lnTo>
                    <a:pt x="52" y="19"/>
                  </a:lnTo>
                  <a:lnTo>
                    <a:pt x="68" y="19"/>
                  </a:lnTo>
                  <a:lnTo>
                    <a:pt x="83" y="17"/>
                  </a:lnTo>
                  <a:lnTo>
                    <a:pt x="96" y="14"/>
                  </a:lnTo>
                  <a:lnTo>
                    <a:pt x="105" y="6"/>
                  </a:lnTo>
                  <a:lnTo>
                    <a:pt x="92" y="0"/>
                  </a:lnTo>
                  <a:lnTo>
                    <a:pt x="89" y="2"/>
                  </a:lnTo>
                  <a:lnTo>
                    <a:pt x="81" y="4"/>
                  </a:lnTo>
                  <a:lnTo>
                    <a:pt x="68" y="6"/>
                  </a:lnTo>
                  <a:lnTo>
                    <a:pt x="52" y="5"/>
                  </a:lnTo>
                  <a:lnTo>
                    <a:pt x="36" y="6"/>
                  </a:lnTo>
                  <a:lnTo>
                    <a:pt x="21" y="8"/>
                  </a:lnTo>
                  <a:lnTo>
                    <a:pt x="9" y="12"/>
                  </a:lnTo>
                  <a:lnTo>
                    <a:pt x="0" y="22"/>
                  </a:lnTo>
                  <a:lnTo>
                    <a:pt x="13" y="2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8" name="Freeform 47">
              <a:extLst>
                <a:ext uri="{FF2B5EF4-FFF2-40B4-BE49-F238E27FC236}">
                  <a16:creationId xmlns:a16="http://schemas.microsoft.com/office/drawing/2014/main" id="{0D105A23-3A71-6112-4040-559E61CA4655}"/>
                </a:ext>
              </a:extLst>
            </p:cNvPr>
            <p:cNvSpPr>
              <a:spLocks/>
            </p:cNvSpPr>
            <p:nvPr/>
          </p:nvSpPr>
          <p:spPr bwMode="auto">
            <a:xfrm>
              <a:off x="2783" y="3508"/>
              <a:ext cx="130" cy="76"/>
            </a:xfrm>
            <a:custGeom>
              <a:avLst/>
              <a:gdLst>
                <a:gd name="T0" fmla="*/ 2718437 w 79"/>
                <a:gd name="T1" fmla="*/ 1246 h 66"/>
                <a:gd name="T2" fmla="*/ 2654305 w 79"/>
                <a:gd name="T3" fmla="*/ 1029 h 66"/>
                <a:gd name="T4" fmla="*/ 2373138 w 79"/>
                <a:gd name="T5" fmla="*/ 839 h 66"/>
                <a:gd name="T6" fmla="*/ 1930358 w 79"/>
                <a:gd name="T7" fmla="*/ 674 h 66"/>
                <a:gd name="T8" fmla="*/ 1468965 w 79"/>
                <a:gd name="T9" fmla="*/ 510 h 66"/>
                <a:gd name="T10" fmla="*/ 1040012 w 79"/>
                <a:gd name="T11" fmla="*/ 371 h 66"/>
                <a:gd name="T12" fmla="*/ 656503 w 79"/>
                <a:gd name="T13" fmla="*/ 236 h 66"/>
                <a:gd name="T14" fmla="*/ 451334 w 79"/>
                <a:gd name="T15" fmla="*/ 117 h 66"/>
                <a:gd name="T16" fmla="*/ 451334 w 79"/>
                <a:gd name="T17" fmla="*/ 89 h 66"/>
                <a:gd name="T18" fmla="*/ 0 w 79"/>
                <a:gd name="T19" fmla="*/ 0 h 66"/>
                <a:gd name="T20" fmla="*/ 61551 w 79"/>
                <a:gd name="T21" fmla="*/ 251 h 66"/>
                <a:gd name="T22" fmla="*/ 339473 w 79"/>
                <a:gd name="T23" fmla="*/ 441 h 66"/>
                <a:gd name="T24" fmla="*/ 760939 w 79"/>
                <a:gd name="T25" fmla="*/ 587 h 66"/>
                <a:gd name="T26" fmla="*/ 1222168 w 79"/>
                <a:gd name="T27" fmla="*/ 755 h 66"/>
                <a:gd name="T28" fmla="*/ 1711412 w 79"/>
                <a:gd name="T29" fmla="*/ 896 h 66"/>
                <a:gd name="T30" fmla="*/ 2060546 w 79"/>
                <a:gd name="T31" fmla="*/ 1029 h 66"/>
                <a:gd name="T32" fmla="*/ 2269433 w 79"/>
                <a:gd name="T33" fmla="*/ 1148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3"/>
                  </a:lnTo>
                  <a:lnTo>
                    <a:pt x="68" y="43"/>
                  </a:lnTo>
                  <a:lnTo>
                    <a:pt x="55" y="35"/>
                  </a:lnTo>
                  <a:lnTo>
                    <a:pt x="42" y="27"/>
                  </a:lnTo>
                  <a:lnTo>
                    <a:pt x="30" y="19"/>
                  </a:lnTo>
                  <a:lnTo>
                    <a:pt x="19" y="12"/>
                  </a:lnTo>
                  <a:lnTo>
                    <a:pt x="13" y="6"/>
                  </a:lnTo>
                  <a:lnTo>
                    <a:pt x="13" y="4"/>
                  </a:lnTo>
                  <a:lnTo>
                    <a:pt x="0" y="0"/>
                  </a:lnTo>
                  <a:lnTo>
                    <a:pt x="2" y="13"/>
                  </a:lnTo>
                  <a:lnTo>
                    <a:pt x="10" y="23"/>
                  </a:lnTo>
                  <a:lnTo>
                    <a:pt x="22" y="31"/>
                  </a:lnTo>
                  <a:lnTo>
                    <a:pt x="35" y="39"/>
                  </a:lnTo>
                  <a:lnTo>
                    <a:pt x="49" y="47"/>
                  </a:lnTo>
                  <a:lnTo>
                    <a:pt x="59" y="53"/>
                  </a:lnTo>
                  <a:lnTo>
                    <a:pt x="65" y="59"/>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9" name="Freeform 48">
              <a:extLst>
                <a:ext uri="{FF2B5EF4-FFF2-40B4-BE49-F238E27FC236}">
                  <a16:creationId xmlns:a16="http://schemas.microsoft.com/office/drawing/2014/main" id="{86C6FEAF-0A4C-CD97-36B9-F023F1B07C68}"/>
                </a:ext>
              </a:extLst>
            </p:cNvPr>
            <p:cNvSpPr>
              <a:spLocks/>
            </p:cNvSpPr>
            <p:nvPr/>
          </p:nvSpPr>
          <p:spPr bwMode="auto">
            <a:xfrm>
              <a:off x="2737" y="3578"/>
              <a:ext cx="176" cy="29"/>
            </a:xfrm>
            <a:custGeom>
              <a:avLst/>
              <a:gdLst>
                <a:gd name="T0" fmla="*/ 448956 w 107"/>
                <a:gd name="T1" fmla="*/ 530 h 25"/>
                <a:gd name="T2" fmla="*/ 520021 w 107"/>
                <a:gd name="T3" fmla="*/ 516 h 25"/>
                <a:gd name="T4" fmla="*/ 818282 w 107"/>
                <a:gd name="T5" fmla="*/ 445 h 25"/>
                <a:gd name="T6" fmla="*/ 1274250 w 107"/>
                <a:gd name="T7" fmla="*/ 394 h 25"/>
                <a:gd name="T8" fmla="*/ 1829721 w 107"/>
                <a:gd name="T9" fmla="*/ 394 h 25"/>
                <a:gd name="T10" fmla="*/ 2374059 w 107"/>
                <a:gd name="T11" fmla="*/ 394 h 25"/>
                <a:gd name="T12" fmla="*/ 2937350 w 107"/>
                <a:gd name="T13" fmla="*/ 384 h 25"/>
                <a:gd name="T14" fmla="*/ 3361858 w 107"/>
                <a:gd name="T15" fmla="*/ 291 h 25"/>
                <a:gd name="T16" fmla="*/ 3649694 w 107"/>
                <a:gd name="T17" fmla="*/ 101 h 25"/>
                <a:gd name="T18" fmla="*/ 3223782 w 107"/>
                <a:gd name="T19" fmla="*/ 0 h 25"/>
                <a:gd name="T20" fmla="*/ 3156192 w 107"/>
                <a:gd name="T21" fmla="*/ 2 h 25"/>
                <a:gd name="T22" fmla="*/ 2833329 w 107"/>
                <a:gd name="T23" fmla="*/ 101 h 25"/>
                <a:gd name="T24" fmla="*/ 2374059 w 107"/>
                <a:gd name="T25" fmla="*/ 117 h 25"/>
                <a:gd name="T26" fmla="*/ 1829721 w 107"/>
                <a:gd name="T27" fmla="*/ 117 h 25"/>
                <a:gd name="T28" fmla="*/ 1274250 w 107"/>
                <a:gd name="T29" fmla="*/ 136 h 25"/>
                <a:gd name="T30" fmla="*/ 755427 w 107"/>
                <a:gd name="T31" fmla="*/ 136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4" y="19"/>
                  </a:lnTo>
                  <a:lnTo>
                    <a:pt x="37" y="18"/>
                  </a:lnTo>
                  <a:lnTo>
                    <a:pt x="53" y="18"/>
                  </a:lnTo>
                  <a:lnTo>
                    <a:pt x="69" y="18"/>
                  </a:lnTo>
                  <a:lnTo>
                    <a:pt x="85" y="16"/>
                  </a:lnTo>
                  <a:lnTo>
                    <a:pt x="97" y="13"/>
                  </a:lnTo>
                  <a:lnTo>
                    <a:pt x="106" y="4"/>
                  </a:lnTo>
                  <a:lnTo>
                    <a:pt x="93" y="0"/>
                  </a:lnTo>
                  <a:lnTo>
                    <a:pt x="91" y="2"/>
                  </a:lnTo>
                  <a:lnTo>
                    <a:pt x="82" y="4"/>
                  </a:lnTo>
                  <a:lnTo>
                    <a:pt x="69" y="5"/>
                  </a:lnTo>
                  <a:lnTo>
                    <a:pt x="53" y="5"/>
                  </a:lnTo>
                  <a:lnTo>
                    <a:pt x="37" y="6"/>
                  </a:lnTo>
                  <a:lnTo>
                    <a:pt x="22" y="6"/>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70" name="Freeform 49">
              <a:extLst>
                <a:ext uri="{FF2B5EF4-FFF2-40B4-BE49-F238E27FC236}">
                  <a16:creationId xmlns:a16="http://schemas.microsoft.com/office/drawing/2014/main" id="{9678836E-694A-6E0E-A5AE-2E1F3D865AC9}"/>
                </a:ext>
              </a:extLst>
            </p:cNvPr>
            <p:cNvSpPr>
              <a:spLocks/>
            </p:cNvSpPr>
            <p:nvPr/>
          </p:nvSpPr>
          <p:spPr bwMode="auto">
            <a:xfrm>
              <a:off x="2737" y="3602"/>
              <a:ext cx="131" cy="76"/>
            </a:xfrm>
            <a:custGeom>
              <a:avLst/>
              <a:gdLst>
                <a:gd name="T0" fmla="*/ 2480706 w 80"/>
                <a:gd name="T1" fmla="*/ 1246 h 66"/>
                <a:gd name="T2" fmla="*/ 2415525 w 80"/>
                <a:gd name="T3" fmla="*/ 1001 h 66"/>
                <a:gd name="T4" fmla="*/ 2134954 w 80"/>
                <a:gd name="T5" fmla="*/ 839 h 66"/>
                <a:gd name="T6" fmla="*/ 1785199 w 80"/>
                <a:gd name="T7" fmla="*/ 674 h 66"/>
                <a:gd name="T8" fmla="*/ 1346184 w 80"/>
                <a:gd name="T9" fmla="*/ 510 h 66"/>
                <a:gd name="T10" fmla="*/ 939702 w 80"/>
                <a:gd name="T11" fmla="*/ 371 h 66"/>
                <a:gd name="T12" fmla="*/ 630154 w 80"/>
                <a:gd name="T13" fmla="*/ 236 h 66"/>
                <a:gd name="T14" fmla="*/ 445495 w 80"/>
                <a:gd name="T15" fmla="*/ 117 h 66"/>
                <a:gd name="T16" fmla="*/ 402943 w 80"/>
                <a:gd name="T17" fmla="*/ 89 h 66"/>
                <a:gd name="T18" fmla="*/ 0 w 80"/>
                <a:gd name="T19" fmla="*/ 0 h 66"/>
                <a:gd name="T20" fmla="*/ 56043 w 80"/>
                <a:gd name="T21" fmla="*/ 251 h 66"/>
                <a:gd name="T22" fmla="*/ 335959 w 80"/>
                <a:gd name="T23" fmla="*/ 441 h 66"/>
                <a:gd name="T24" fmla="*/ 695772 w 80"/>
                <a:gd name="T25" fmla="*/ 587 h 66"/>
                <a:gd name="T26" fmla="*/ 1177164 w 80"/>
                <a:gd name="T27" fmla="*/ 755 h 66"/>
                <a:gd name="T28" fmla="*/ 1538762 w 80"/>
                <a:gd name="T29" fmla="*/ 896 h 66"/>
                <a:gd name="T30" fmla="*/ 1865648 w 80"/>
                <a:gd name="T31" fmla="*/ 1029 h 66"/>
                <a:gd name="T32" fmla="*/ 2045165 w 80"/>
                <a:gd name="T33" fmla="*/ 1148 h 66"/>
                <a:gd name="T34" fmla="*/ 2079299 w 80"/>
                <a:gd name="T35" fmla="*/ 1153 h 66"/>
                <a:gd name="T36" fmla="*/ 2079299 w 80"/>
                <a:gd name="T37" fmla="*/ 1185 h 66"/>
                <a:gd name="T38" fmla="*/ 2480706 w 80"/>
                <a:gd name="T39" fmla="*/ 1246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0"/>
                <a:gd name="T61" fmla="*/ 0 h 66"/>
                <a:gd name="T62" fmla="*/ 80 w 80"/>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0" h="66">
                  <a:moveTo>
                    <a:pt x="79" y="65"/>
                  </a:moveTo>
                  <a:lnTo>
                    <a:pt x="77" y="52"/>
                  </a:lnTo>
                  <a:lnTo>
                    <a:pt x="68" y="43"/>
                  </a:lnTo>
                  <a:lnTo>
                    <a:pt x="57" y="35"/>
                  </a:lnTo>
                  <a:lnTo>
                    <a:pt x="43" y="27"/>
                  </a:lnTo>
                  <a:lnTo>
                    <a:pt x="30" y="19"/>
                  </a:lnTo>
                  <a:lnTo>
                    <a:pt x="20" y="12"/>
                  </a:lnTo>
                  <a:lnTo>
                    <a:pt x="14" y="6"/>
                  </a:lnTo>
                  <a:lnTo>
                    <a:pt x="13" y="4"/>
                  </a:lnTo>
                  <a:lnTo>
                    <a:pt x="0" y="0"/>
                  </a:lnTo>
                  <a:lnTo>
                    <a:pt x="2" y="13"/>
                  </a:lnTo>
                  <a:lnTo>
                    <a:pt x="11" y="23"/>
                  </a:lnTo>
                  <a:lnTo>
                    <a:pt x="22" y="31"/>
                  </a:lnTo>
                  <a:lnTo>
                    <a:pt x="37" y="39"/>
                  </a:lnTo>
                  <a:lnTo>
                    <a:pt x="49" y="47"/>
                  </a:lnTo>
                  <a:lnTo>
                    <a:pt x="59" y="53"/>
                  </a:lnTo>
                  <a:lnTo>
                    <a:pt x="65" y="59"/>
                  </a:lnTo>
                  <a:lnTo>
                    <a:pt x="66" y="60"/>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71" name="Freeform 50">
              <a:extLst>
                <a:ext uri="{FF2B5EF4-FFF2-40B4-BE49-F238E27FC236}">
                  <a16:creationId xmlns:a16="http://schemas.microsoft.com/office/drawing/2014/main" id="{07DD40A8-E607-D3CF-19BD-D1BC8D955CF0}"/>
                </a:ext>
              </a:extLst>
            </p:cNvPr>
            <p:cNvSpPr>
              <a:spLocks/>
            </p:cNvSpPr>
            <p:nvPr/>
          </p:nvSpPr>
          <p:spPr bwMode="auto">
            <a:xfrm>
              <a:off x="2679" y="3672"/>
              <a:ext cx="189" cy="27"/>
            </a:xfrm>
            <a:custGeom>
              <a:avLst/>
              <a:gdLst>
                <a:gd name="T0" fmla="*/ 441678 w 115"/>
                <a:gd name="T1" fmla="*/ 639 h 23"/>
                <a:gd name="T2" fmla="*/ 511833 w 115"/>
                <a:gd name="T3" fmla="*/ 639 h 23"/>
                <a:gd name="T4" fmla="*/ 805456 w 115"/>
                <a:gd name="T5" fmla="*/ 593 h 23"/>
                <a:gd name="T6" fmla="*/ 1323749 w 115"/>
                <a:gd name="T7" fmla="*/ 544 h 23"/>
                <a:gd name="T8" fmla="*/ 1937644 w 115"/>
                <a:gd name="T9" fmla="*/ 544 h 23"/>
                <a:gd name="T10" fmla="*/ 2540566 w 115"/>
                <a:gd name="T11" fmla="*/ 514 h 23"/>
                <a:gd name="T12" fmla="*/ 3104818 w 115"/>
                <a:gd name="T13" fmla="*/ 505 h 23"/>
                <a:gd name="T14" fmla="*/ 3575474 w 115"/>
                <a:gd name="T15" fmla="*/ 373 h 23"/>
                <a:gd name="T16" fmla="*/ 3864861 w 115"/>
                <a:gd name="T17" fmla="*/ 122 h 23"/>
                <a:gd name="T18" fmla="*/ 3437182 w 115"/>
                <a:gd name="T19" fmla="*/ 0 h 23"/>
                <a:gd name="T20" fmla="*/ 3337567 w 115"/>
                <a:gd name="T21" fmla="*/ 2 h 23"/>
                <a:gd name="T22" fmla="*/ 2994209 w 115"/>
                <a:gd name="T23" fmla="*/ 122 h 23"/>
                <a:gd name="T24" fmla="*/ 2523166 w 115"/>
                <a:gd name="T25" fmla="*/ 168 h 23"/>
                <a:gd name="T26" fmla="*/ 1937644 w 115"/>
                <a:gd name="T27" fmla="*/ 168 h 23"/>
                <a:gd name="T28" fmla="*/ 1323749 w 115"/>
                <a:gd name="T29" fmla="*/ 168 h 23"/>
                <a:gd name="T30" fmla="*/ 782457 w 115"/>
                <a:gd name="T31" fmla="*/ 231 h 23"/>
                <a:gd name="T32" fmla="*/ 331274 w 115"/>
                <a:gd name="T33" fmla="*/ 286 h 23"/>
                <a:gd name="T34" fmla="*/ 0 w 115"/>
                <a:gd name="T35" fmla="*/ 514 h 23"/>
                <a:gd name="T36" fmla="*/ 441678 w 115"/>
                <a:gd name="T37" fmla="*/ 639 h 2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5"/>
                <a:gd name="T58" fmla="*/ 0 h 23"/>
                <a:gd name="T59" fmla="*/ 115 w 115"/>
                <a:gd name="T60" fmla="*/ 23 h 2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5" h="23">
                  <a:moveTo>
                    <a:pt x="13" y="22"/>
                  </a:moveTo>
                  <a:lnTo>
                    <a:pt x="15" y="22"/>
                  </a:lnTo>
                  <a:lnTo>
                    <a:pt x="24" y="20"/>
                  </a:lnTo>
                  <a:lnTo>
                    <a:pt x="39" y="19"/>
                  </a:lnTo>
                  <a:lnTo>
                    <a:pt x="57" y="19"/>
                  </a:lnTo>
                  <a:lnTo>
                    <a:pt x="75" y="18"/>
                  </a:lnTo>
                  <a:lnTo>
                    <a:pt x="91" y="17"/>
                  </a:lnTo>
                  <a:lnTo>
                    <a:pt x="105" y="13"/>
                  </a:lnTo>
                  <a:lnTo>
                    <a:pt x="114" y="4"/>
                  </a:lnTo>
                  <a:lnTo>
                    <a:pt x="101" y="0"/>
                  </a:lnTo>
                  <a:lnTo>
                    <a:pt x="98" y="2"/>
                  </a:lnTo>
                  <a:lnTo>
                    <a:pt x="88" y="4"/>
                  </a:lnTo>
                  <a:lnTo>
                    <a:pt x="74" y="6"/>
                  </a:lnTo>
                  <a:lnTo>
                    <a:pt x="57" y="6"/>
                  </a:lnTo>
                  <a:lnTo>
                    <a:pt x="39" y="6"/>
                  </a:lnTo>
                  <a:lnTo>
                    <a:pt x="23" y="8"/>
                  </a:lnTo>
                  <a:lnTo>
                    <a:pt x="10" y="10"/>
                  </a:lnTo>
                  <a:lnTo>
                    <a:pt x="0" y="18"/>
                  </a:lnTo>
                  <a:lnTo>
                    <a:pt x="13" y="2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72" name="Freeform 51">
              <a:extLst>
                <a:ext uri="{FF2B5EF4-FFF2-40B4-BE49-F238E27FC236}">
                  <a16:creationId xmlns:a16="http://schemas.microsoft.com/office/drawing/2014/main" id="{E2A09FD4-504E-6EDA-A194-B92DD5D71692}"/>
                </a:ext>
              </a:extLst>
            </p:cNvPr>
            <p:cNvSpPr>
              <a:spLocks/>
            </p:cNvSpPr>
            <p:nvPr/>
          </p:nvSpPr>
          <p:spPr bwMode="auto">
            <a:xfrm>
              <a:off x="3453" y="1951"/>
              <a:ext cx="133" cy="125"/>
            </a:xfrm>
            <a:custGeom>
              <a:avLst/>
              <a:gdLst>
                <a:gd name="T0" fmla="*/ 1361529 w 81"/>
                <a:gd name="T1" fmla="*/ 1662 h 108"/>
                <a:gd name="T2" fmla="*/ 0 w 81"/>
                <a:gd name="T3" fmla="*/ 1771 h 108"/>
                <a:gd name="T4" fmla="*/ 0 w 81"/>
                <a:gd name="T5" fmla="*/ 1755 h 108"/>
                <a:gd name="T6" fmla="*/ 1461685 w 81"/>
                <a:gd name="T7" fmla="*/ 926 h 108"/>
                <a:gd name="T8" fmla="*/ 1618073 w 81"/>
                <a:gd name="T9" fmla="*/ 815 h 108"/>
                <a:gd name="T10" fmla="*/ 1769539 w 81"/>
                <a:gd name="T11" fmla="*/ 691 h 108"/>
                <a:gd name="T12" fmla="*/ 1926232 w 81"/>
                <a:gd name="T13" fmla="*/ 594 h 108"/>
                <a:gd name="T14" fmla="*/ 2062763 w 81"/>
                <a:gd name="T15" fmla="*/ 466 h 108"/>
                <a:gd name="T16" fmla="*/ 2235597 w 81"/>
                <a:gd name="T17" fmla="*/ 348 h 108"/>
                <a:gd name="T18" fmla="*/ 2370078 w 81"/>
                <a:gd name="T19" fmla="*/ 247 h 108"/>
                <a:gd name="T20" fmla="*/ 2535189 w 81"/>
                <a:gd name="T21" fmla="*/ 108 h 108"/>
                <a:gd name="T22" fmla="*/ 2656836 w 81"/>
                <a:gd name="T23" fmla="*/ 0 h 108"/>
                <a:gd name="T24" fmla="*/ 2635349 w 81"/>
                <a:gd name="T25" fmla="*/ 145 h 108"/>
                <a:gd name="T26" fmla="*/ 2558027 w 81"/>
                <a:gd name="T27" fmla="*/ 286 h 108"/>
                <a:gd name="T28" fmla="*/ 2535189 w 81"/>
                <a:gd name="T29" fmla="*/ 443 h 108"/>
                <a:gd name="T30" fmla="*/ 2499894 w 81"/>
                <a:gd name="T31" fmla="*/ 561 h 108"/>
                <a:gd name="T32" fmla="*/ 2429082 w 81"/>
                <a:gd name="T33" fmla="*/ 704 h 108"/>
                <a:gd name="T34" fmla="*/ 2370078 w 81"/>
                <a:gd name="T35" fmla="*/ 853 h 108"/>
                <a:gd name="T36" fmla="*/ 2333873 w 81"/>
                <a:gd name="T37" fmla="*/ 987 h 108"/>
                <a:gd name="T38" fmla="*/ 2272793 w 81"/>
                <a:gd name="T39" fmla="*/ 1142 h 108"/>
                <a:gd name="T40" fmla="*/ 2177657 w 81"/>
                <a:gd name="T41" fmla="*/ 2279 h 108"/>
                <a:gd name="T42" fmla="*/ 2121517 w 81"/>
                <a:gd name="T43" fmla="*/ 2313 h 108"/>
                <a:gd name="T44" fmla="*/ 1361529 w 81"/>
                <a:gd name="T45" fmla="*/ 1662 h 10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1"/>
                <a:gd name="T70" fmla="*/ 0 h 108"/>
                <a:gd name="T71" fmla="*/ 81 w 81"/>
                <a:gd name="T72" fmla="*/ 108 h 10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1" h="108">
                  <a:moveTo>
                    <a:pt x="41" y="78"/>
                  </a:moveTo>
                  <a:lnTo>
                    <a:pt x="0" y="82"/>
                  </a:lnTo>
                  <a:lnTo>
                    <a:pt x="0" y="81"/>
                  </a:lnTo>
                  <a:lnTo>
                    <a:pt x="44" y="43"/>
                  </a:lnTo>
                  <a:lnTo>
                    <a:pt x="49" y="38"/>
                  </a:lnTo>
                  <a:lnTo>
                    <a:pt x="53" y="32"/>
                  </a:lnTo>
                  <a:lnTo>
                    <a:pt x="58" y="27"/>
                  </a:lnTo>
                  <a:lnTo>
                    <a:pt x="62" y="22"/>
                  </a:lnTo>
                  <a:lnTo>
                    <a:pt x="67" y="16"/>
                  </a:lnTo>
                  <a:lnTo>
                    <a:pt x="71" y="11"/>
                  </a:lnTo>
                  <a:lnTo>
                    <a:pt x="76" y="5"/>
                  </a:lnTo>
                  <a:lnTo>
                    <a:pt x="80" y="0"/>
                  </a:lnTo>
                  <a:lnTo>
                    <a:pt x="79" y="7"/>
                  </a:lnTo>
                  <a:lnTo>
                    <a:pt x="77" y="13"/>
                  </a:lnTo>
                  <a:lnTo>
                    <a:pt x="76" y="20"/>
                  </a:lnTo>
                  <a:lnTo>
                    <a:pt x="75" y="26"/>
                  </a:lnTo>
                  <a:lnTo>
                    <a:pt x="73" y="33"/>
                  </a:lnTo>
                  <a:lnTo>
                    <a:pt x="71" y="40"/>
                  </a:lnTo>
                  <a:lnTo>
                    <a:pt x="70" y="46"/>
                  </a:lnTo>
                  <a:lnTo>
                    <a:pt x="68" y="53"/>
                  </a:lnTo>
                  <a:lnTo>
                    <a:pt x="65" y="106"/>
                  </a:lnTo>
                  <a:lnTo>
                    <a:pt x="64" y="107"/>
                  </a:lnTo>
                  <a:lnTo>
                    <a:pt x="41" y="7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grpSp>
        <p:nvGrpSpPr>
          <p:cNvPr id="3" name="Group 52">
            <a:extLst>
              <a:ext uri="{FF2B5EF4-FFF2-40B4-BE49-F238E27FC236}">
                <a16:creationId xmlns:a16="http://schemas.microsoft.com/office/drawing/2014/main" id="{26D8D00E-DAE8-14B3-ABDF-A0289A2845FE}"/>
              </a:ext>
            </a:extLst>
          </p:cNvPr>
          <p:cNvGrpSpPr>
            <a:grpSpLocks/>
          </p:cNvGrpSpPr>
          <p:nvPr/>
        </p:nvGrpSpPr>
        <p:grpSpPr bwMode="auto">
          <a:xfrm>
            <a:off x="2257425" y="2603561"/>
            <a:ext cx="1239838" cy="3071812"/>
            <a:chOff x="1746" y="1484"/>
            <a:chExt cx="967" cy="2258"/>
          </a:xfrm>
        </p:grpSpPr>
        <p:sp>
          <p:nvSpPr>
            <p:cNvPr id="22772" name="Freeform 53">
              <a:extLst>
                <a:ext uri="{FF2B5EF4-FFF2-40B4-BE49-F238E27FC236}">
                  <a16:creationId xmlns:a16="http://schemas.microsoft.com/office/drawing/2014/main" id="{DDF579C8-7688-AB00-11BE-8BA871096CE4}"/>
                </a:ext>
              </a:extLst>
            </p:cNvPr>
            <p:cNvSpPr>
              <a:spLocks/>
            </p:cNvSpPr>
            <p:nvPr/>
          </p:nvSpPr>
          <p:spPr bwMode="auto">
            <a:xfrm>
              <a:off x="2621" y="3548"/>
              <a:ext cx="67" cy="90"/>
            </a:xfrm>
            <a:custGeom>
              <a:avLst/>
              <a:gdLst>
                <a:gd name="T0" fmla="*/ 815495 w 41"/>
                <a:gd name="T1" fmla="*/ 89 h 78"/>
                <a:gd name="T2" fmla="*/ 815495 w 41"/>
                <a:gd name="T3" fmla="*/ 119 h 78"/>
                <a:gd name="T4" fmla="*/ 753162 w 41"/>
                <a:gd name="T5" fmla="*/ 158 h 78"/>
                <a:gd name="T6" fmla="*/ 574165 w 41"/>
                <a:gd name="T7" fmla="*/ 228 h 78"/>
                <a:gd name="T8" fmla="*/ 326445 w 41"/>
                <a:gd name="T9" fmla="*/ 322 h 78"/>
                <a:gd name="T10" fmla="*/ 122244 w 41"/>
                <a:gd name="T11" fmla="*/ 496 h 78"/>
                <a:gd name="T12" fmla="*/ 0 w 41"/>
                <a:gd name="T13" fmla="*/ 762 h 78"/>
                <a:gd name="T14" fmla="*/ 88835 w 41"/>
                <a:gd name="T15" fmla="*/ 1101 h 78"/>
                <a:gd name="T16" fmla="*/ 387664 w 41"/>
                <a:gd name="T17" fmla="*/ 1555 h 78"/>
                <a:gd name="T18" fmla="*/ 726393 w 41"/>
                <a:gd name="T19" fmla="*/ 1409 h 78"/>
                <a:gd name="T20" fmla="*/ 478285 w 41"/>
                <a:gd name="T21" fmla="*/ 1014 h 78"/>
                <a:gd name="T22" fmla="*/ 427217 w 41"/>
                <a:gd name="T23" fmla="*/ 762 h 78"/>
                <a:gd name="T24" fmla="*/ 478285 w 41"/>
                <a:gd name="T25" fmla="*/ 621 h 78"/>
                <a:gd name="T26" fmla="*/ 608172 w 41"/>
                <a:gd name="T27" fmla="*/ 517 h 78"/>
                <a:gd name="T28" fmla="*/ 753162 w 41"/>
                <a:gd name="T29" fmla="*/ 466 h 78"/>
                <a:gd name="T30" fmla="*/ 993842 w 41"/>
                <a:gd name="T31" fmla="*/ 372 h 78"/>
                <a:gd name="T32" fmla="*/ 1195376 w 41"/>
                <a:gd name="T33" fmla="*/ 228 h 78"/>
                <a:gd name="T34" fmla="*/ 1195376 w 41"/>
                <a:gd name="T35" fmla="*/ 0 h 78"/>
                <a:gd name="T36" fmla="*/ 815495 w 41"/>
                <a:gd name="T37" fmla="*/ 89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1"/>
                <a:gd name="T58" fmla="*/ 0 h 78"/>
                <a:gd name="T59" fmla="*/ 41 w 41"/>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1" h="78">
                  <a:moveTo>
                    <a:pt x="27" y="4"/>
                  </a:moveTo>
                  <a:lnTo>
                    <a:pt x="27" y="6"/>
                  </a:lnTo>
                  <a:lnTo>
                    <a:pt x="25" y="8"/>
                  </a:lnTo>
                  <a:lnTo>
                    <a:pt x="19" y="11"/>
                  </a:lnTo>
                  <a:lnTo>
                    <a:pt x="11" y="16"/>
                  </a:lnTo>
                  <a:lnTo>
                    <a:pt x="4" y="25"/>
                  </a:lnTo>
                  <a:lnTo>
                    <a:pt x="0" y="38"/>
                  </a:lnTo>
                  <a:lnTo>
                    <a:pt x="3" y="55"/>
                  </a:lnTo>
                  <a:lnTo>
                    <a:pt x="13" y="77"/>
                  </a:lnTo>
                  <a:lnTo>
                    <a:pt x="24" y="70"/>
                  </a:lnTo>
                  <a:lnTo>
                    <a:pt x="16" y="51"/>
                  </a:lnTo>
                  <a:lnTo>
                    <a:pt x="14" y="38"/>
                  </a:lnTo>
                  <a:lnTo>
                    <a:pt x="16" y="31"/>
                  </a:lnTo>
                  <a:lnTo>
                    <a:pt x="20" y="26"/>
                  </a:lnTo>
                  <a:lnTo>
                    <a:pt x="25" y="23"/>
                  </a:lnTo>
                  <a:lnTo>
                    <a:pt x="33" y="18"/>
                  </a:lnTo>
                  <a:lnTo>
                    <a:pt x="40" y="11"/>
                  </a:lnTo>
                  <a:lnTo>
                    <a:pt x="40" y="0"/>
                  </a:lnTo>
                  <a:lnTo>
                    <a:pt x="2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3" name="Freeform 54">
              <a:extLst>
                <a:ext uri="{FF2B5EF4-FFF2-40B4-BE49-F238E27FC236}">
                  <a16:creationId xmlns:a16="http://schemas.microsoft.com/office/drawing/2014/main" id="{19121195-F1F5-7B72-CF6C-D5DD30451625}"/>
                </a:ext>
              </a:extLst>
            </p:cNvPr>
            <p:cNvSpPr>
              <a:spLocks/>
            </p:cNvSpPr>
            <p:nvPr/>
          </p:nvSpPr>
          <p:spPr bwMode="auto">
            <a:xfrm>
              <a:off x="2519" y="3524"/>
              <a:ext cx="169" cy="30"/>
            </a:xfrm>
            <a:custGeom>
              <a:avLst/>
              <a:gdLst>
                <a:gd name="T0" fmla="*/ 0 w 103"/>
                <a:gd name="T1" fmla="*/ 89 h 26"/>
                <a:gd name="T2" fmla="*/ 254227 w 103"/>
                <a:gd name="T3" fmla="*/ 263 h 26"/>
                <a:gd name="T4" fmla="*/ 684417 w 103"/>
                <a:gd name="T5" fmla="*/ 350 h 26"/>
                <a:gd name="T6" fmla="*/ 1180545 w 103"/>
                <a:gd name="T7" fmla="*/ 372 h 26"/>
                <a:gd name="T8" fmla="*/ 1679717 w 103"/>
                <a:gd name="T9" fmla="*/ 373 h 26"/>
                <a:gd name="T10" fmla="*/ 2154414 w 103"/>
                <a:gd name="T11" fmla="*/ 373 h 26"/>
                <a:gd name="T12" fmla="*/ 2563751 w 103"/>
                <a:gd name="T13" fmla="*/ 404 h 26"/>
                <a:gd name="T14" fmla="*/ 2816456 w 103"/>
                <a:gd name="T15" fmla="*/ 430 h 26"/>
                <a:gd name="T16" fmla="*/ 2923762 w 103"/>
                <a:gd name="T17" fmla="*/ 496 h 26"/>
                <a:gd name="T18" fmla="*/ 3341514 w 103"/>
                <a:gd name="T19" fmla="*/ 429 h 26"/>
                <a:gd name="T20" fmla="*/ 3082571 w 103"/>
                <a:gd name="T21" fmla="*/ 228 h 26"/>
                <a:gd name="T22" fmla="*/ 2656472 w 103"/>
                <a:gd name="T23" fmla="*/ 137 h 26"/>
                <a:gd name="T24" fmla="*/ 2154414 w 103"/>
                <a:gd name="T25" fmla="*/ 119 h 26"/>
                <a:gd name="T26" fmla="*/ 1679717 w 103"/>
                <a:gd name="T27" fmla="*/ 103 h 26"/>
                <a:gd name="T28" fmla="*/ 1180545 w 103"/>
                <a:gd name="T29" fmla="*/ 103 h 26"/>
                <a:gd name="T30" fmla="*/ 756475 w 103"/>
                <a:gd name="T31" fmla="*/ 89 h 26"/>
                <a:gd name="T32" fmla="*/ 496066 w 103"/>
                <a:gd name="T33" fmla="*/ 2 h 26"/>
                <a:gd name="T34" fmla="*/ 417130 w 103"/>
                <a:gd name="T35" fmla="*/ 0 h 26"/>
                <a:gd name="T36" fmla="*/ 0 w 103"/>
                <a:gd name="T37" fmla="*/ 89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3"/>
                <a:gd name="T58" fmla="*/ 0 h 26"/>
                <a:gd name="T59" fmla="*/ 103 w 103"/>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3" h="26">
                  <a:moveTo>
                    <a:pt x="0" y="4"/>
                  </a:moveTo>
                  <a:lnTo>
                    <a:pt x="8" y="13"/>
                  </a:lnTo>
                  <a:lnTo>
                    <a:pt x="21" y="17"/>
                  </a:lnTo>
                  <a:lnTo>
                    <a:pt x="36" y="18"/>
                  </a:lnTo>
                  <a:lnTo>
                    <a:pt x="51" y="19"/>
                  </a:lnTo>
                  <a:lnTo>
                    <a:pt x="66" y="19"/>
                  </a:lnTo>
                  <a:lnTo>
                    <a:pt x="78" y="20"/>
                  </a:lnTo>
                  <a:lnTo>
                    <a:pt x="86" y="22"/>
                  </a:lnTo>
                  <a:lnTo>
                    <a:pt x="89" y="25"/>
                  </a:lnTo>
                  <a:lnTo>
                    <a:pt x="102" y="21"/>
                  </a:lnTo>
                  <a:lnTo>
                    <a:pt x="94" y="11"/>
                  </a:lnTo>
                  <a:lnTo>
                    <a:pt x="81" y="7"/>
                  </a:lnTo>
                  <a:lnTo>
                    <a:pt x="66" y="6"/>
                  </a:lnTo>
                  <a:lnTo>
                    <a:pt x="51" y="5"/>
                  </a:lnTo>
                  <a:lnTo>
                    <a:pt x="36" y="5"/>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4" name="Freeform 55">
              <a:extLst>
                <a:ext uri="{FF2B5EF4-FFF2-40B4-BE49-F238E27FC236}">
                  <a16:creationId xmlns:a16="http://schemas.microsoft.com/office/drawing/2014/main" id="{6BADAD8C-4CE8-9547-9482-6EE600FEA7C6}"/>
                </a:ext>
              </a:extLst>
            </p:cNvPr>
            <p:cNvSpPr>
              <a:spLocks/>
            </p:cNvSpPr>
            <p:nvPr/>
          </p:nvSpPr>
          <p:spPr bwMode="auto">
            <a:xfrm>
              <a:off x="2519" y="3524"/>
              <a:ext cx="23" cy="5"/>
            </a:xfrm>
            <a:custGeom>
              <a:avLst/>
              <a:gdLst>
                <a:gd name="T0" fmla="*/ 0 w 14"/>
                <a:gd name="T1" fmla="*/ 4 h 5"/>
                <a:gd name="T2" fmla="*/ 200264 w 14"/>
                <a:gd name="T3" fmla="*/ 2 h 5"/>
                <a:gd name="T4" fmla="*/ 439537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5" name="Freeform 56">
              <a:extLst>
                <a:ext uri="{FF2B5EF4-FFF2-40B4-BE49-F238E27FC236}">
                  <a16:creationId xmlns:a16="http://schemas.microsoft.com/office/drawing/2014/main" id="{60DD33D3-5737-B25E-2902-D3E8882EF788}"/>
                </a:ext>
              </a:extLst>
            </p:cNvPr>
            <p:cNvSpPr>
              <a:spLocks/>
            </p:cNvSpPr>
            <p:nvPr/>
          </p:nvSpPr>
          <p:spPr bwMode="auto">
            <a:xfrm>
              <a:off x="2519" y="3457"/>
              <a:ext cx="138" cy="72"/>
            </a:xfrm>
            <a:custGeom>
              <a:avLst/>
              <a:gdLst>
                <a:gd name="T0" fmla="*/ 2353327 w 84"/>
                <a:gd name="T1" fmla="*/ 73 h 63"/>
                <a:gd name="T2" fmla="*/ 2325254 w 84"/>
                <a:gd name="T3" fmla="*/ 83 h 63"/>
                <a:gd name="T4" fmla="*/ 2114707 w 84"/>
                <a:gd name="T5" fmla="*/ 186 h 63"/>
                <a:gd name="T6" fmla="*/ 1748426 w 84"/>
                <a:gd name="T7" fmla="*/ 278 h 63"/>
                <a:gd name="T8" fmla="*/ 1275230 w 84"/>
                <a:gd name="T9" fmla="*/ 394 h 63"/>
                <a:gd name="T10" fmla="*/ 797119 w 84"/>
                <a:gd name="T11" fmla="*/ 514 h 63"/>
                <a:gd name="T12" fmla="*/ 410755 w 84"/>
                <a:gd name="T13" fmla="*/ 637 h 63"/>
                <a:gd name="T14" fmla="*/ 60339 w 84"/>
                <a:gd name="T15" fmla="*/ 808 h 63"/>
                <a:gd name="T16" fmla="*/ 0 w 84"/>
                <a:gd name="T17" fmla="*/ 1032 h 63"/>
                <a:gd name="T18" fmla="*/ 439537 w 84"/>
                <a:gd name="T19" fmla="*/ 951 h 63"/>
                <a:gd name="T20" fmla="*/ 472486 w 84"/>
                <a:gd name="T21" fmla="*/ 905 h 63"/>
                <a:gd name="T22" fmla="*/ 674812 w 84"/>
                <a:gd name="T23" fmla="*/ 808 h 63"/>
                <a:gd name="T24" fmla="*/ 1050389 w 84"/>
                <a:gd name="T25" fmla="*/ 707 h 63"/>
                <a:gd name="T26" fmla="*/ 1476779 w 84"/>
                <a:gd name="T27" fmla="*/ 605 h 63"/>
                <a:gd name="T28" fmla="*/ 1948925 w 84"/>
                <a:gd name="T29" fmla="*/ 474 h 63"/>
                <a:gd name="T30" fmla="*/ 2353327 w 84"/>
                <a:gd name="T31" fmla="*/ 345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11"/>
                  </a:lnTo>
                  <a:lnTo>
                    <a:pt x="52" y="17"/>
                  </a:lnTo>
                  <a:lnTo>
                    <a:pt x="38" y="24"/>
                  </a:lnTo>
                  <a:lnTo>
                    <a:pt x="24" y="31"/>
                  </a:lnTo>
                  <a:lnTo>
                    <a:pt x="12" y="39"/>
                  </a:lnTo>
                  <a:lnTo>
                    <a:pt x="2" y="49"/>
                  </a:lnTo>
                  <a:lnTo>
                    <a:pt x="0" y="62"/>
                  </a:lnTo>
                  <a:lnTo>
                    <a:pt x="13" y="58"/>
                  </a:lnTo>
                  <a:lnTo>
                    <a:pt x="14" y="55"/>
                  </a:lnTo>
                  <a:lnTo>
                    <a:pt x="20" y="49"/>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6" name="Freeform 57">
              <a:extLst>
                <a:ext uri="{FF2B5EF4-FFF2-40B4-BE49-F238E27FC236}">
                  <a16:creationId xmlns:a16="http://schemas.microsoft.com/office/drawing/2014/main" id="{416D4D56-721E-B875-ABC7-C5CF06C49AE2}"/>
                </a:ext>
              </a:extLst>
            </p:cNvPr>
            <p:cNvSpPr>
              <a:spLocks/>
            </p:cNvSpPr>
            <p:nvPr/>
          </p:nvSpPr>
          <p:spPr bwMode="auto">
            <a:xfrm>
              <a:off x="2483" y="3428"/>
              <a:ext cx="174" cy="34"/>
            </a:xfrm>
            <a:custGeom>
              <a:avLst/>
              <a:gdLst>
                <a:gd name="T0" fmla="*/ 0 w 106"/>
                <a:gd name="T1" fmla="*/ 61 h 30"/>
                <a:gd name="T2" fmla="*/ 306683 w 106"/>
                <a:gd name="T3" fmla="*/ 206 h 30"/>
                <a:gd name="T4" fmla="*/ 724886 w 106"/>
                <a:gd name="T5" fmla="*/ 239 h 30"/>
                <a:gd name="T6" fmla="*/ 1189907 w 106"/>
                <a:gd name="T7" fmla="*/ 271 h 30"/>
                <a:gd name="T8" fmla="*/ 1723619 w 106"/>
                <a:gd name="T9" fmla="*/ 299 h 30"/>
                <a:gd name="T10" fmla="*/ 2261872 w 106"/>
                <a:gd name="T11" fmla="*/ 299 h 30"/>
                <a:gd name="T12" fmla="*/ 2681420 w 106"/>
                <a:gd name="T13" fmla="*/ 338 h 30"/>
                <a:gd name="T14" fmla="*/ 2987436 w 106"/>
                <a:gd name="T15" fmla="*/ 383 h 30"/>
                <a:gd name="T16" fmla="*/ 3048815 w 106"/>
                <a:gd name="T17" fmla="*/ 394 h 30"/>
                <a:gd name="T18" fmla="*/ 3468237 w 106"/>
                <a:gd name="T19" fmla="*/ 339 h 30"/>
                <a:gd name="T20" fmla="*/ 3184802 w 106"/>
                <a:gd name="T21" fmla="*/ 206 h 30"/>
                <a:gd name="T22" fmla="*/ 2792912 w 106"/>
                <a:gd name="T23" fmla="*/ 145 h 30"/>
                <a:gd name="T24" fmla="*/ 2274976 w 106"/>
                <a:gd name="T25" fmla="*/ 113 h 30"/>
                <a:gd name="T26" fmla="*/ 1762354 w 106"/>
                <a:gd name="T27" fmla="*/ 113 h 30"/>
                <a:gd name="T28" fmla="*/ 1229571 w 106"/>
                <a:gd name="T29" fmla="*/ 88 h 30"/>
                <a:gd name="T30" fmla="*/ 784113 w 106"/>
                <a:gd name="T31" fmla="*/ 69 h 30"/>
                <a:gd name="T32" fmla="*/ 503423 w 106"/>
                <a:gd name="T33" fmla="*/ 3 h 30"/>
                <a:gd name="T34" fmla="*/ 419911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9" y="15"/>
                  </a:lnTo>
                  <a:lnTo>
                    <a:pt x="22" y="18"/>
                  </a:lnTo>
                  <a:lnTo>
                    <a:pt x="36" y="20"/>
                  </a:lnTo>
                  <a:lnTo>
                    <a:pt x="52" y="22"/>
                  </a:lnTo>
                  <a:lnTo>
                    <a:pt x="68" y="22"/>
                  </a:lnTo>
                  <a:lnTo>
                    <a:pt x="81" y="24"/>
                  </a:lnTo>
                  <a:lnTo>
                    <a:pt x="90" y="27"/>
                  </a:lnTo>
                  <a:lnTo>
                    <a:pt x="92" y="29"/>
                  </a:lnTo>
                  <a:lnTo>
                    <a:pt x="105" y="25"/>
                  </a:lnTo>
                  <a:lnTo>
                    <a:pt x="96" y="15"/>
                  </a:lnTo>
                  <a:lnTo>
                    <a:pt x="84" y="11"/>
                  </a:lnTo>
                  <a:lnTo>
                    <a:pt x="69" y="9"/>
                  </a:lnTo>
                  <a:lnTo>
                    <a:pt x="53" y="9"/>
                  </a:lnTo>
                  <a:lnTo>
                    <a:pt x="37"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7" name="Freeform 58">
              <a:extLst>
                <a:ext uri="{FF2B5EF4-FFF2-40B4-BE49-F238E27FC236}">
                  <a16:creationId xmlns:a16="http://schemas.microsoft.com/office/drawing/2014/main" id="{C146AADA-E364-E0BF-77B2-AECB7E36BA13}"/>
                </a:ext>
              </a:extLst>
            </p:cNvPr>
            <p:cNvSpPr>
              <a:spLocks/>
            </p:cNvSpPr>
            <p:nvPr/>
          </p:nvSpPr>
          <p:spPr bwMode="auto">
            <a:xfrm>
              <a:off x="2483" y="3361"/>
              <a:ext cx="137" cy="73"/>
            </a:xfrm>
            <a:custGeom>
              <a:avLst/>
              <a:gdLst>
                <a:gd name="T0" fmla="*/ 2566051 w 83"/>
                <a:gd name="T1" fmla="*/ 94 h 63"/>
                <a:gd name="T2" fmla="*/ 2519400 w 83"/>
                <a:gd name="T3" fmla="*/ 109 h 63"/>
                <a:gd name="T4" fmla="*/ 2289995 w 83"/>
                <a:gd name="T5" fmla="*/ 247 h 63"/>
                <a:gd name="T6" fmla="*/ 1894573 w 83"/>
                <a:gd name="T7" fmla="*/ 384 h 63"/>
                <a:gd name="T8" fmla="*/ 1385413 w 83"/>
                <a:gd name="T9" fmla="*/ 530 h 63"/>
                <a:gd name="T10" fmla="*/ 901473 w 83"/>
                <a:gd name="T11" fmla="*/ 711 h 63"/>
                <a:gd name="T12" fmla="*/ 416000 w 83"/>
                <a:gd name="T13" fmla="*/ 854 h 63"/>
                <a:gd name="T14" fmla="*/ 64690 w 83"/>
                <a:gd name="T15" fmla="*/ 1078 h 63"/>
                <a:gd name="T16" fmla="*/ 0 w 83"/>
                <a:gd name="T17" fmla="*/ 1362 h 63"/>
                <a:gd name="T18" fmla="*/ 480180 w 83"/>
                <a:gd name="T19" fmla="*/ 1283 h 63"/>
                <a:gd name="T20" fmla="*/ 480180 w 83"/>
                <a:gd name="T21" fmla="*/ 1241 h 63"/>
                <a:gd name="T22" fmla="*/ 695387 w 83"/>
                <a:gd name="T23" fmla="*/ 1107 h 63"/>
                <a:gd name="T24" fmla="*/ 1133388 w 83"/>
                <a:gd name="T25" fmla="*/ 955 h 63"/>
                <a:gd name="T26" fmla="*/ 1639289 w 83"/>
                <a:gd name="T27" fmla="*/ 803 h 63"/>
                <a:gd name="T28" fmla="*/ 2159391 w 83"/>
                <a:gd name="T29" fmla="*/ 636 h 63"/>
                <a:gd name="T30" fmla="*/ 2603804 w 83"/>
                <a:gd name="T31" fmla="*/ 457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7"/>
                  </a:lnTo>
                  <a:lnTo>
                    <a:pt x="37" y="24"/>
                  </a:lnTo>
                  <a:lnTo>
                    <a:pt x="24" y="32"/>
                  </a:lnTo>
                  <a:lnTo>
                    <a:pt x="11" y="39"/>
                  </a:lnTo>
                  <a:lnTo>
                    <a:pt x="2" y="49"/>
                  </a:lnTo>
                  <a:lnTo>
                    <a:pt x="0" y="62"/>
                  </a:lnTo>
                  <a:lnTo>
                    <a:pt x="13" y="58"/>
                  </a:lnTo>
                  <a:lnTo>
                    <a:pt x="13" y="56"/>
                  </a:lnTo>
                  <a:lnTo>
                    <a:pt x="19" y="50"/>
                  </a:lnTo>
                  <a:lnTo>
                    <a:pt x="30"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8" name="Freeform 59">
              <a:extLst>
                <a:ext uri="{FF2B5EF4-FFF2-40B4-BE49-F238E27FC236}">
                  <a16:creationId xmlns:a16="http://schemas.microsoft.com/office/drawing/2014/main" id="{06EAA677-6FF8-E6CD-42A5-79CD119EFCB4}"/>
                </a:ext>
              </a:extLst>
            </p:cNvPr>
            <p:cNvSpPr>
              <a:spLocks/>
            </p:cNvSpPr>
            <p:nvPr/>
          </p:nvSpPr>
          <p:spPr bwMode="auto">
            <a:xfrm>
              <a:off x="2448" y="3338"/>
              <a:ext cx="172" cy="30"/>
            </a:xfrm>
            <a:custGeom>
              <a:avLst/>
              <a:gdLst>
                <a:gd name="T0" fmla="*/ 0 w 104"/>
                <a:gd name="T1" fmla="*/ 119 h 26"/>
                <a:gd name="T2" fmla="*/ 0 w 104"/>
                <a:gd name="T3" fmla="*/ 103 h 26"/>
                <a:gd name="T4" fmla="*/ 310460 w 104"/>
                <a:gd name="T5" fmla="*/ 263 h 26"/>
                <a:gd name="T6" fmla="*/ 823227 w 104"/>
                <a:gd name="T7" fmla="*/ 350 h 26"/>
                <a:gd name="T8" fmla="*/ 1361491 w 104"/>
                <a:gd name="T9" fmla="*/ 350 h 26"/>
                <a:gd name="T10" fmla="*/ 1967544 w 104"/>
                <a:gd name="T11" fmla="*/ 372 h 26"/>
                <a:gd name="T12" fmla="*/ 2552581 w 104"/>
                <a:gd name="T13" fmla="*/ 373 h 26"/>
                <a:gd name="T14" fmla="*/ 3091373 w 104"/>
                <a:gd name="T15" fmla="*/ 404 h 26"/>
                <a:gd name="T16" fmla="*/ 3377511 w 104"/>
                <a:gd name="T17" fmla="*/ 466 h 26"/>
                <a:gd name="T18" fmla="*/ 3487763 w 104"/>
                <a:gd name="T19" fmla="*/ 496 h 26"/>
                <a:gd name="T20" fmla="*/ 3985470 w 104"/>
                <a:gd name="T21" fmla="*/ 429 h 26"/>
                <a:gd name="T22" fmla="*/ 3684152 w 104"/>
                <a:gd name="T23" fmla="*/ 242 h 26"/>
                <a:gd name="T24" fmla="*/ 3186115 w 104"/>
                <a:gd name="T25" fmla="*/ 137 h 26"/>
                <a:gd name="T26" fmla="*/ 2606496 w 104"/>
                <a:gd name="T27" fmla="*/ 119 h 26"/>
                <a:gd name="T28" fmla="*/ 1967544 w 104"/>
                <a:gd name="T29" fmla="*/ 103 h 26"/>
                <a:gd name="T30" fmla="*/ 1361491 w 104"/>
                <a:gd name="T31" fmla="*/ 89 h 26"/>
                <a:gd name="T32" fmla="*/ 849172 w 104"/>
                <a:gd name="T33" fmla="*/ 89 h 26"/>
                <a:gd name="T34" fmla="*/ 537993 w 104"/>
                <a:gd name="T35" fmla="*/ 2 h 26"/>
                <a:gd name="T36" fmla="*/ 513453 w 104"/>
                <a:gd name="T37" fmla="*/ 1 h 26"/>
                <a:gd name="T38" fmla="*/ 473197 w 104"/>
                <a:gd name="T39" fmla="*/ 0 h 26"/>
                <a:gd name="T40" fmla="*/ 513453 w 104"/>
                <a:gd name="T41" fmla="*/ 1 h 26"/>
                <a:gd name="T42" fmla="*/ 513453 w 104"/>
                <a:gd name="T43" fmla="*/ 0 h 26"/>
                <a:gd name="T44" fmla="*/ 473197 w 104"/>
                <a:gd name="T45" fmla="*/ 0 h 26"/>
                <a:gd name="T46" fmla="*/ 0 w 104"/>
                <a:gd name="T47" fmla="*/ 119 h 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4"/>
                <a:gd name="T73" fmla="*/ 0 h 26"/>
                <a:gd name="T74" fmla="*/ 104 w 104"/>
                <a:gd name="T75" fmla="*/ 26 h 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4" h="26">
                  <a:moveTo>
                    <a:pt x="0" y="6"/>
                  </a:moveTo>
                  <a:lnTo>
                    <a:pt x="0" y="5"/>
                  </a:lnTo>
                  <a:lnTo>
                    <a:pt x="8" y="13"/>
                  </a:lnTo>
                  <a:lnTo>
                    <a:pt x="21" y="17"/>
                  </a:lnTo>
                  <a:lnTo>
                    <a:pt x="35" y="17"/>
                  </a:lnTo>
                  <a:lnTo>
                    <a:pt x="51" y="18"/>
                  </a:lnTo>
                  <a:lnTo>
                    <a:pt x="66" y="19"/>
                  </a:lnTo>
                  <a:lnTo>
                    <a:pt x="80" y="20"/>
                  </a:lnTo>
                  <a:lnTo>
                    <a:pt x="87" y="23"/>
                  </a:lnTo>
                  <a:lnTo>
                    <a:pt x="90" y="25"/>
                  </a:lnTo>
                  <a:lnTo>
                    <a:pt x="103" y="21"/>
                  </a:lnTo>
                  <a:lnTo>
                    <a:pt x="95" y="12"/>
                  </a:lnTo>
                  <a:lnTo>
                    <a:pt x="82" y="7"/>
                  </a:lnTo>
                  <a:lnTo>
                    <a:pt x="67" y="6"/>
                  </a:lnTo>
                  <a:lnTo>
                    <a:pt x="51" y="5"/>
                  </a:lnTo>
                  <a:lnTo>
                    <a:pt x="35" y="4"/>
                  </a:lnTo>
                  <a:lnTo>
                    <a:pt x="22" y="4"/>
                  </a:lnTo>
                  <a:lnTo>
                    <a:pt x="14" y="2"/>
                  </a:lnTo>
                  <a:lnTo>
                    <a:pt x="13" y="1"/>
                  </a:lnTo>
                  <a:lnTo>
                    <a:pt x="12" y="0"/>
                  </a:lnTo>
                  <a:lnTo>
                    <a:pt x="13" y="1"/>
                  </a:lnTo>
                  <a:lnTo>
                    <a:pt x="13" y="0"/>
                  </a:lnTo>
                  <a:lnTo>
                    <a:pt x="12" y="0"/>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9" name="Freeform 60">
              <a:extLst>
                <a:ext uri="{FF2B5EF4-FFF2-40B4-BE49-F238E27FC236}">
                  <a16:creationId xmlns:a16="http://schemas.microsoft.com/office/drawing/2014/main" id="{B5AC1F87-DD95-DAF9-CBE2-BD0338CFC307}"/>
                </a:ext>
              </a:extLst>
            </p:cNvPr>
            <p:cNvSpPr>
              <a:spLocks/>
            </p:cNvSpPr>
            <p:nvPr/>
          </p:nvSpPr>
          <p:spPr bwMode="auto">
            <a:xfrm>
              <a:off x="2446" y="3335"/>
              <a:ext cx="24" cy="10"/>
            </a:xfrm>
            <a:custGeom>
              <a:avLst/>
              <a:gdLst>
                <a:gd name="T0" fmla="*/ 0 w 14"/>
                <a:gd name="T1" fmla="*/ 51 h 9"/>
                <a:gd name="T2" fmla="*/ 0 w 14"/>
                <a:gd name="T3" fmla="*/ 63 h 9"/>
                <a:gd name="T4" fmla="*/ 84792 w 14"/>
                <a:gd name="T5" fmla="*/ 70 h 9"/>
                <a:gd name="T6" fmla="*/ 1057803 w 14"/>
                <a:gd name="T7" fmla="*/ 1 h 9"/>
                <a:gd name="T8" fmla="*/ 1012678 w 14"/>
                <a:gd name="T9" fmla="*/ 0 h 9"/>
                <a:gd name="T10" fmla="*/ 1057803 w 14"/>
                <a:gd name="T11" fmla="*/ 1 h 9"/>
                <a:gd name="T12" fmla="*/ 0 w 14"/>
                <a:gd name="T13" fmla="*/ 51 h 9"/>
                <a:gd name="T14" fmla="*/ 0 w 14"/>
                <a:gd name="T15" fmla="*/ 57 h 9"/>
                <a:gd name="T16" fmla="*/ 0 w 14"/>
                <a:gd name="T17" fmla="*/ 63 h 9"/>
                <a:gd name="T18" fmla="*/ 0 w 14"/>
                <a:gd name="T19" fmla="*/ 51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0" y="7"/>
                  </a:lnTo>
                  <a:lnTo>
                    <a:pt x="1" y="8"/>
                  </a:lnTo>
                  <a:lnTo>
                    <a:pt x="13" y="1"/>
                  </a:lnTo>
                  <a:lnTo>
                    <a:pt x="12" y="0"/>
                  </a:lnTo>
                  <a:lnTo>
                    <a:pt x="13" y="1"/>
                  </a:lnTo>
                  <a:lnTo>
                    <a:pt x="0" y="5"/>
                  </a:lnTo>
                  <a:lnTo>
                    <a:pt x="0" y="6"/>
                  </a:lnTo>
                  <a:lnTo>
                    <a:pt x="0"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0" name="Freeform 61">
              <a:extLst>
                <a:ext uri="{FF2B5EF4-FFF2-40B4-BE49-F238E27FC236}">
                  <a16:creationId xmlns:a16="http://schemas.microsoft.com/office/drawing/2014/main" id="{6E7A88F0-1EB3-372C-1AC5-2E1C8E591441}"/>
                </a:ext>
              </a:extLst>
            </p:cNvPr>
            <p:cNvSpPr>
              <a:spLocks/>
            </p:cNvSpPr>
            <p:nvPr/>
          </p:nvSpPr>
          <p:spPr bwMode="auto">
            <a:xfrm>
              <a:off x="2446" y="3270"/>
              <a:ext cx="136" cy="72"/>
            </a:xfrm>
            <a:custGeom>
              <a:avLst/>
              <a:gdLst>
                <a:gd name="T0" fmla="*/ 2793281 w 82"/>
                <a:gd name="T1" fmla="*/ 73 h 63"/>
                <a:gd name="T2" fmla="*/ 2751824 w 82"/>
                <a:gd name="T3" fmla="*/ 95 h 63"/>
                <a:gd name="T4" fmla="*/ 2517775 w 82"/>
                <a:gd name="T5" fmla="*/ 202 h 63"/>
                <a:gd name="T6" fmla="*/ 2110216 w 82"/>
                <a:gd name="T7" fmla="*/ 318 h 63"/>
                <a:gd name="T8" fmla="*/ 1518070 w 82"/>
                <a:gd name="T9" fmla="*/ 450 h 63"/>
                <a:gd name="T10" fmla="*/ 984142 w 82"/>
                <a:gd name="T11" fmla="*/ 557 h 63"/>
                <a:gd name="T12" fmla="*/ 452635 w 82"/>
                <a:gd name="T13" fmla="*/ 691 h 63"/>
                <a:gd name="T14" fmla="*/ 71808 w 82"/>
                <a:gd name="T15" fmla="*/ 808 h 63"/>
                <a:gd name="T16" fmla="*/ 0 w 82"/>
                <a:gd name="T17" fmla="*/ 1032 h 63"/>
                <a:gd name="T18" fmla="*/ 543340 w 82"/>
                <a:gd name="T19" fmla="*/ 951 h 63"/>
                <a:gd name="T20" fmla="*/ 563196 w 82"/>
                <a:gd name="T21" fmla="*/ 941 h 63"/>
                <a:gd name="T22" fmla="*/ 792167 w 82"/>
                <a:gd name="T23" fmla="*/ 832 h 63"/>
                <a:gd name="T24" fmla="*/ 1245083 w 82"/>
                <a:gd name="T25" fmla="*/ 728 h 63"/>
                <a:gd name="T26" fmla="*/ 1809896 w 82"/>
                <a:gd name="T27" fmla="*/ 619 h 63"/>
                <a:gd name="T28" fmla="*/ 2364446 w 82"/>
                <a:gd name="T29" fmla="*/ 514 h 63"/>
                <a:gd name="T30" fmla="*/ 2866162 w 82"/>
                <a:gd name="T31" fmla="*/ 373 h 63"/>
                <a:gd name="T32" fmla="*/ 3244615 w 82"/>
                <a:gd name="T33" fmla="*/ 213 h 63"/>
                <a:gd name="T34" fmla="*/ 3316748 w 82"/>
                <a:gd name="T35" fmla="*/ 0 h 63"/>
                <a:gd name="T36" fmla="*/ 2793281 w 82"/>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3"/>
                <a:gd name="T59" fmla="*/ 82 w 82"/>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3">
                  <a:moveTo>
                    <a:pt x="68" y="4"/>
                  </a:moveTo>
                  <a:lnTo>
                    <a:pt x="67" y="6"/>
                  </a:lnTo>
                  <a:lnTo>
                    <a:pt x="61" y="12"/>
                  </a:lnTo>
                  <a:lnTo>
                    <a:pt x="51" y="19"/>
                  </a:lnTo>
                  <a:lnTo>
                    <a:pt x="37" y="27"/>
                  </a:lnTo>
                  <a:lnTo>
                    <a:pt x="24" y="34"/>
                  </a:lnTo>
                  <a:lnTo>
                    <a:pt x="11" y="41"/>
                  </a:lnTo>
                  <a:lnTo>
                    <a:pt x="2" y="49"/>
                  </a:lnTo>
                  <a:lnTo>
                    <a:pt x="0" y="62"/>
                  </a:lnTo>
                  <a:lnTo>
                    <a:pt x="13" y="58"/>
                  </a:lnTo>
                  <a:lnTo>
                    <a:pt x="14" y="57"/>
                  </a:lnTo>
                  <a:lnTo>
                    <a:pt x="19" y="51"/>
                  </a:lnTo>
                  <a:lnTo>
                    <a:pt x="30" y="45"/>
                  </a:lnTo>
                  <a:lnTo>
                    <a:pt x="44" y="38"/>
                  </a:lnTo>
                  <a:lnTo>
                    <a:pt x="57" y="31"/>
                  </a:lnTo>
                  <a:lnTo>
                    <a:pt x="70" y="23"/>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1" name="Freeform 62">
              <a:extLst>
                <a:ext uri="{FF2B5EF4-FFF2-40B4-BE49-F238E27FC236}">
                  <a16:creationId xmlns:a16="http://schemas.microsoft.com/office/drawing/2014/main" id="{0F1F3F2E-F37F-919B-7D33-07906C302DD3}"/>
                </a:ext>
              </a:extLst>
            </p:cNvPr>
            <p:cNvSpPr>
              <a:spLocks/>
            </p:cNvSpPr>
            <p:nvPr/>
          </p:nvSpPr>
          <p:spPr bwMode="auto">
            <a:xfrm>
              <a:off x="2407" y="3241"/>
              <a:ext cx="175" cy="34"/>
            </a:xfrm>
            <a:custGeom>
              <a:avLst/>
              <a:gdLst>
                <a:gd name="T0" fmla="*/ 0 w 106"/>
                <a:gd name="T1" fmla="*/ 61 h 30"/>
                <a:gd name="T2" fmla="*/ 291842 w 106"/>
                <a:gd name="T3" fmla="*/ 186 h 30"/>
                <a:gd name="T4" fmla="*/ 795449 w 106"/>
                <a:gd name="T5" fmla="*/ 239 h 30"/>
                <a:gd name="T6" fmla="*/ 1328805 w 106"/>
                <a:gd name="T7" fmla="*/ 271 h 30"/>
                <a:gd name="T8" fmla="*/ 1941196 w 106"/>
                <a:gd name="T9" fmla="*/ 271 h 30"/>
                <a:gd name="T10" fmla="*/ 2508326 w 106"/>
                <a:gd name="T11" fmla="*/ 299 h 30"/>
                <a:gd name="T12" fmla="*/ 3033331 w 106"/>
                <a:gd name="T13" fmla="*/ 307 h 30"/>
                <a:gd name="T14" fmla="*/ 3328313 w 106"/>
                <a:gd name="T15" fmla="*/ 348 h 30"/>
                <a:gd name="T16" fmla="*/ 3435385 w 106"/>
                <a:gd name="T17" fmla="*/ 394 h 30"/>
                <a:gd name="T18" fmla="*/ 3917132 w 106"/>
                <a:gd name="T19" fmla="*/ 339 h 30"/>
                <a:gd name="T20" fmla="*/ 3621810 w 106"/>
                <a:gd name="T21" fmla="*/ 186 h 30"/>
                <a:gd name="T22" fmla="*/ 3097518 w 106"/>
                <a:gd name="T23" fmla="*/ 128 h 30"/>
                <a:gd name="T24" fmla="*/ 2534104 w 106"/>
                <a:gd name="T25" fmla="*/ 113 h 30"/>
                <a:gd name="T26" fmla="*/ 1984779 w 106"/>
                <a:gd name="T27" fmla="*/ 88 h 30"/>
                <a:gd name="T28" fmla="*/ 1389091 w 106"/>
                <a:gd name="T29" fmla="*/ 88 h 30"/>
                <a:gd name="T30" fmla="*/ 904506 w 106"/>
                <a:gd name="T31" fmla="*/ 69 h 30"/>
                <a:gd name="T32" fmla="*/ 563155 w 106"/>
                <a:gd name="T33" fmla="*/ 2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0"/>
                  </a:lnTo>
                  <a:lnTo>
                    <a:pt x="67" y="22"/>
                  </a:lnTo>
                  <a:lnTo>
                    <a:pt x="81" y="23"/>
                  </a:lnTo>
                  <a:lnTo>
                    <a:pt x="89" y="26"/>
                  </a:lnTo>
                  <a:lnTo>
                    <a:pt x="92" y="29"/>
                  </a:lnTo>
                  <a:lnTo>
                    <a:pt x="105" y="25"/>
                  </a:lnTo>
                  <a:lnTo>
                    <a:pt x="97" y="14"/>
                  </a:lnTo>
                  <a:lnTo>
                    <a:pt x="83" y="10"/>
                  </a:lnTo>
                  <a:lnTo>
                    <a:pt x="68" y="9"/>
                  </a:lnTo>
                  <a:lnTo>
                    <a:pt x="53" y="7"/>
                  </a:lnTo>
                  <a:lnTo>
                    <a:pt x="37"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2" name="Freeform 63">
              <a:extLst>
                <a:ext uri="{FF2B5EF4-FFF2-40B4-BE49-F238E27FC236}">
                  <a16:creationId xmlns:a16="http://schemas.microsoft.com/office/drawing/2014/main" id="{72F16269-3827-BB83-B629-32003692ADBD}"/>
                </a:ext>
              </a:extLst>
            </p:cNvPr>
            <p:cNvSpPr>
              <a:spLocks/>
            </p:cNvSpPr>
            <p:nvPr/>
          </p:nvSpPr>
          <p:spPr bwMode="auto">
            <a:xfrm>
              <a:off x="2407" y="3175"/>
              <a:ext cx="137" cy="71"/>
            </a:xfrm>
            <a:custGeom>
              <a:avLst/>
              <a:gdLst>
                <a:gd name="T0" fmla="*/ 2566051 w 83"/>
                <a:gd name="T1" fmla="*/ 74 h 62"/>
                <a:gd name="T2" fmla="*/ 2519400 w 83"/>
                <a:gd name="T3" fmla="*/ 97 h 62"/>
                <a:gd name="T4" fmla="*/ 2349936 w 83"/>
                <a:gd name="T5" fmla="*/ 211 h 62"/>
                <a:gd name="T6" fmla="*/ 1933123 w 83"/>
                <a:gd name="T7" fmla="*/ 328 h 62"/>
                <a:gd name="T8" fmla="*/ 1423684 w 83"/>
                <a:gd name="T9" fmla="*/ 462 h 62"/>
                <a:gd name="T10" fmla="*/ 901473 w 83"/>
                <a:gd name="T11" fmla="*/ 554 h 62"/>
                <a:gd name="T12" fmla="*/ 446998 w 83"/>
                <a:gd name="T13" fmla="*/ 696 h 62"/>
                <a:gd name="T14" fmla="*/ 64690 w 83"/>
                <a:gd name="T15" fmla="*/ 831 h 62"/>
                <a:gd name="T16" fmla="*/ 0 w 83"/>
                <a:gd name="T17" fmla="*/ 1046 h 62"/>
                <a:gd name="T18" fmla="*/ 480180 w 83"/>
                <a:gd name="T19" fmla="*/ 973 h 62"/>
                <a:gd name="T20" fmla="*/ 522551 w 83"/>
                <a:gd name="T21" fmla="*/ 960 h 62"/>
                <a:gd name="T22" fmla="*/ 737816 w 83"/>
                <a:gd name="T23" fmla="*/ 850 h 62"/>
                <a:gd name="T24" fmla="*/ 1147807 w 83"/>
                <a:gd name="T25" fmla="*/ 742 h 62"/>
                <a:gd name="T26" fmla="*/ 1639289 w 83"/>
                <a:gd name="T27" fmla="*/ 634 h 62"/>
                <a:gd name="T28" fmla="*/ 2159391 w 83"/>
                <a:gd name="T29" fmla="*/ 529 h 62"/>
                <a:gd name="T30" fmla="*/ 2603804 w 83"/>
                <a:gd name="T31" fmla="*/ 403 h 62"/>
                <a:gd name="T32" fmla="*/ 2976645 w 83"/>
                <a:gd name="T33" fmla="*/ 218 h 62"/>
                <a:gd name="T34" fmla="*/ 3041930 w 83"/>
                <a:gd name="T35" fmla="*/ 0 h 62"/>
                <a:gd name="T36" fmla="*/ 2566051 w 83"/>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8" y="6"/>
                  </a:lnTo>
                  <a:lnTo>
                    <a:pt x="63" y="12"/>
                  </a:lnTo>
                  <a:lnTo>
                    <a:pt x="52" y="19"/>
                  </a:lnTo>
                  <a:lnTo>
                    <a:pt x="38" y="26"/>
                  </a:lnTo>
                  <a:lnTo>
                    <a:pt x="24" y="32"/>
                  </a:lnTo>
                  <a:lnTo>
                    <a:pt x="12" y="40"/>
                  </a:lnTo>
                  <a:lnTo>
                    <a:pt x="2" y="48"/>
                  </a:lnTo>
                  <a:lnTo>
                    <a:pt x="0" y="61"/>
                  </a:lnTo>
                  <a:lnTo>
                    <a:pt x="13" y="57"/>
                  </a:lnTo>
                  <a:lnTo>
                    <a:pt x="14" y="56"/>
                  </a:lnTo>
                  <a:lnTo>
                    <a:pt x="20" y="50"/>
                  </a:lnTo>
                  <a:lnTo>
                    <a:pt x="31" y="44"/>
                  </a:lnTo>
                  <a:lnTo>
                    <a:pt x="44" y="37"/>
                  </a:lnTo>
                  <a:lnTo>
                    <a:pt x="58" y="30"/>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3" name="Freeform 64">
              <a:extLst>
                <a:ext uri="{FF2B5EF4-FFF2-40B4-BE49-F238E27FC236}">
                  <a16:creationId xmlns:a16="http://schemas.microsoft.com/office/drawing/2014/main" id="{C22C2B0E-6B57-C049-BFE4-3A3525E6296A}"/>
                </a:ext>
              </a:extLst>
            </p:cNvPr>
            <p:cNvSpPr>
              <a:spLocks/>
            </p:cNvSpPr>
            <p:nvPr/>
          </p:nvSpPr>
          <p:spPr bwMode="auto">
            <a:xfrm>
              <a:off x="2372" y="3146"/>
              <a:ext cx="172" cy="35"/>
            </a:xfrm>
            <a:custGeom>
              <a:avLst/>
              <a:gdLst>
                <a:gd name="T0" fmla="*/ 0 w 105"/>
                <a:gd name="T1" fmla="*/ 120 h 30"/>
                <a:gd name="T2" fmla="*/ 247472 w 105"/>
                <a:gd name="T3" fmla="*/ 358 h 30"/>
                <a:gd name="T4" fmla="*/ 664056 w 105"/>
                <a:gd name="T5" fmla="*/ 480 h 30"/>
                <a:gd name="T6" fmla="*/ 1144996 w 105"/>
                <a:gd name="T7" fmla="*/ 501 h 30"/>
                <a:gd name="T8" fmla="*/ 1642575 w 105"/>
                <a:gd name="T9" fmla="*/ 501 h 30"/>
                <a:gd name="T10" fmla="*/ 2126746 w 105"/>
                <a:gd name="T11" fmla="*/ 560 h 30"/>
                <a:gd name="T12" fmla="*/ 2540392 w 105"/>
                <a:gd name="T13" fmla="*/ 585 h 30"/>
                <a:gd name="T14" fmla="*/ 2792890 w 105"/>
                <a:gd name="T15" fmla="*/ 664 h 30"/>
                <a:gd name="T16" fmla="*/ 2885372 w 105"/>
                <a:gd name="T17" fmla="*/ 762 h 30"/>
                <a:gd name="T18" fmla="*/ 3278466 w 105"/>
                <a:gd name="T19" fmla="*/ 653 h 30"/>
                <a:gd name="T20" fmla="*/ 3037405 w 105"/>
                <a:gd name="T21" fmla="*/ 411 h 30"/>
                <a:gd name="T22" fmla="*/ 2633720 w 105"/>
                <a:gd name="T23" fmla="*/ 263 h 30"/>
                <a:gd name="T24" fmla="*/ 2147610 w 105"/>
                <a:gd name="T25" fmla="*/ 222 h 30"/>
                <a:gd name="T26" fmla="*/ 1642575 w 105"/>
                <a:gd name="T27" fmla="*/ 190 h 30"/>
                <a:gd name="T28" fmla="*/ 1185358 w 105"/>
                <a:gd name="T29" fmla="*/ 190 h 30"/>
                <a:gd name="T30" fmla="*/ 737762 w 105"/>
                <a:gd name="T31" fmla="*/ 140 h 30"/>
                <a:gd name="T32" fmla="*/ 483836 w 105"/>
                <a:gd name="T33" fmla="*/ 2 h 30"/>
                <a:gd name="T34" fmla="*/ 405383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8"/>
                  </a:lnTo>
                  <a:lnTo>
                    <a:pt x="36" y="20"/>
                  </a:lnTo>
                  <a:lnTo>
                    <a:pt x="52" y="20"/>
                  </a:lnTo>
                  <a:lnTo>
                    <a:pt x="67" y="21"/>
                  </a:lnTo>
                  <a:lnTo>
                    <a:pt x="80" y="23"/>
                  </a:lnTo>
                  <a:lnTo>
                    <a:pt x="88" y="26"/>
                  </a:lnTo>
                  <a:lnTo>
                    <a:pt x="91" y="29"/>
                  </a:lnTo>
                  <a:lnTo>
                    <a:pt x="104" y="25"/>
                  </a:lnTo>
                  <a:lnTo>
                    <a:pt x="96" y="15"/>
                  </a:lnTo>
                  <a:lnTo>
                    <a:pt x="83" y="10"/>
                  </a:lnTo>
                  <a:lnTo>
                    <a:pt x="68" y="8"/>
                  </a:lnTo>
                  <a:lnTo>
                    <a:pt x="52" y="7"/>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4" name="Freeform 65">
              <a:extLst>
                <a:ext uri="{FF2B5EF4-FFF2-40B4-BE49-F238E27FC236}">
                  <a16:creationId xmlns:a16="http://schemas.microsoft.com/office/drawing/2014/main" id="{83C6A1B7-24E3-3B4A-76C3-9961D8FED5A0}"/>
                </a:ext>
              </a:extLst>
            </p:cNvPr>
            <p:cNvSpPr>
              <a:spLocks/>
            </p:cNvSpPr>
            <p:nvPr/>
          </p:nvSpPr>
          <p:spPr bwMode="auto">
            <a:xfrm>
              <a:off x="2372" y="3085"/>
              <a:ext cx="139" cy="68"/>
            </a:xfrm>
            <a:custGeom>
              <a:avLst/>
              <a:gdLst>
                <a:gd name="T0" fmla="*/ 2176640 w 85"/>
                <a:gd name="T1" fmla="*/ 158 h 59"/>
                <a:gd name="T2" fmla="*/ 2176640 w 85"/>
                <a:gd name="T3" fmla="*/ 119 h 59"/>
                <a:gd name="T4" fmla="*/ 2115439 w 85"/>
                <a:gd name="T5" fmla="*/ 137 h 59"/>
                <a:gd name="T6" fmla="*/ 1966865 w 85"/>
                <a:gd name="T7" fmla="*/ 242 h 59"/>
                <a:gd name="T8" fmla="*/ 1621167 w 85"/>
                <a:gd name="T9" fmla="*/ 339 h 59"/>
                <a:gd name="T10" fmla="*/ 1202759 w 85"/>
                <a:gd name="T11" fmla="*/ 451 h 59"/>
                <a:gd name="T12" fmla="*/ 769815 w 85"/>
                <a:gd name="T13" fmla="*/ 589 h 59"/>
                <a:gd name="T14" fmla="*/ 375593 w 85"/>
                <a:gd name="T15" fmla="*/ 690 h 59"/>
                <a:gd name="T16" fmla="*/ 54877 w 85"/>
                <a:gd name="T17" fmla="*/ 896 h 59"/>
                <a:gd name="T18" fmla="*/ 0 w 85"/>
                <a:gd name="T19" fmla="*/ 1156 h 59"/>
                <a:gd name="T20" fmla="*/ 392440 w 85"/>
                <a:gd name="T21" fmla="*/ 1056 h 59"/>
                <a:gd name="T22" fmla="*/ 432295 w 85"/>
                <a:gd name="T23" fmla="*/ 1033 h 59"/>
                <a:gd name="T24" fmla="*/ 580820 w 85"/>
                <a:gd name="T25" fmla="*/ 942 h 59"/>
                <a:gd name="T26" fmla="*/ 949812 w 85"/>
                <a:gd name="T27" fmla="*/ 795 h 59"/>
                <a:gd name="T28" fmla="*/ 1351688 w 85"/>
                <a:gd name="T29" fmla="*/ 690 h 59"/>
                <a:gd name="T30" fmla="*/ 1770119 w 85"/>
                <a:gd name="T31" fmla="*/ 569 h 59"/>
                <a:gd name="T32" fmla="*/ 2176640 w 85"/>
                <a:gd name="T33" fmla="*/ 451 h 59"/>
                <a:gd name="T34" fmla="*/ 2469536 w 85"/>
                <a:gd name="T35" fmla="*/ 294 h 59"/>
                <a:gd name="T36" fmla="*/ 2563417 w 85"/>
                <a:gd name="T37" fmla="*/ 2 h 59"/>
                <a:gd name="T38" fmla="*/ 2539975 w 85"/>
                <a:gd name="T39" fmla="*/ 0 h 59"/>
                <a:gd name="T40" fmla="*/ 2563417 w 85"/>
                <a:gd name="T41" fmla="*/ 2 h 59"/>
                <a:gd name="T42" fmla="*/ 2563417 w 85"/>
                <a:gd name="T43" fmla="*/ 1 h 59"/>
                <a:gd name="T44" fmla="*/ 2539975 w 85"/>
                <a:gd name="T45" fmla="*/ 0 h 59"/>
                <a:gd name="T46" fmla="*/ 2176640 w 85"/>
                <a:gd name="T47" fmla="*/ 158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
                <a:gd name="T73" fmla="*/ 0 h 59"/>
                <a:gd name="T74" fmla="*/ 85 w 85"/>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 h="59">
                  <a:moveTo>
                    <a:pt x="71" y="8"/>
                  </a:moveTo>
                  <a:lnTo>
                    <a:pt x="71" y="6"/>
                  </a:lnTo>
                  <a:lnTo>
                    <a:pt x="69" y="7"/>
                  </a:lnTo>
                  <a:lnTo>
                    <a:pt x="64" y="12"/>
                  </a:lnTo>
                  <a:lnTo>
                    <a:pt x="53" y="17"/>
                  </a:lnTo>
                  <a:lnTo>
                    <a:pt x="39" y="23"/>
                  </a:lnTo>
                  <a:lnTo>
                    <a:pt x="25" y="30"/>
                  </a:lnTo>
                  <a:lnTo>
                    <a:pt x="12" y="36"/>
                  </a:lnTo>
                  <a:lnTo>
                    <a:pt x="2" y="45"/>
                  </a:lnTo>
                  <a:lnTo>
                    <a:pt x="0" y="58"/>
                  </a:lnTo>
                  <a:lnTo>
                    <a:pt x="13" y="54"/>
                  </a:lnTo>
                  <a:lnTo>
                    <a:pt x="14" y="52"/>
                  </a:lnTo>
                  <a:lnTo>
                    <a:pt x="19" y="48"/>
                  </a:lnTo>
                  <a:lnTo>
                    <a:pt x="31" y="41"/>
                  </a:lnTo>
                  <a:lnTo>
                    <a:pt x="44" y="36"/>
                  </a:lnTo>
                  <a:lnTo>
                    <a:pt x="58" y="29"/>
                  </a:lnTo>
                  <a:lnTo>
                    <a:pt x="71" y="23"/>
                  </a:lnTo>
                  <a:lnTo>
                    <a:pt x="81" y="15"/>
                  </a:lnTo>
                  <a:lnTo>
                    <a:pt x="84" y="2"/>
                  </a:lnTo>
                  <a:lnTo>
                    <a:pt x="83" y="0"/>
                  </a:lnTo>
                  <a:lnTo>
                    <a:pt x="84" y="2"/>
                  </a:lnTo>
                  <a:lnTo>
                    <a:pt x="84" y="1"/>
                  </a:lnTo>
                  <a:lnTo>
                    <a:pt x="83" y="0"/>
                  </a:lnTo>
                  <a:lnTo>
                    <a:pt x="71"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5" name="Freeform 66">
              <a:extLst>
                <a:ext uri="{FF2B5EF4-FFF2-40B4-BE49-F238E27FC236}">
                  <a16:creationId xmlns:a16="http://schemas.microsoft.com/office/drawing/2014/main" id="{4DDC162C-2294-739C-B3AE-214E44681995}"/>
                </a:ext>
              </a:extLst>
            </p:cNvPr>
            <p:cNvSpPr>
              <a:spLocks/>
            </p:cNvSpPr>
            <p:nvPr/>
          </p:nvSpPr>
          <p:spPr bwMode="auto">
            <a:xfrm>
              <a:off x="2485" y="3083"/>
              <a:ext cx="24" cy="12"/>
            </a:xfrm>
            <a:custGeom>
              <a:avLst/>
              <a:gdLst>
                <a:gd name="T0" fmla="*/ 0 w 15"/>
                <a:gd name="T1" fmla="*/ 41 h 11"/>
                <a:gd name="T2" fmla="*/ 24325 w 15"/>
                <a:gd name="T3" fmla="*/ 49 h 11"/>
                <a:gd name="T4" fmla="*/ 38920 w 15"/>
                <a:gd name="T5" fmla="*/ 58 h 11"/>
                <a:gd name="T6" fmla="*/ 265134 w 15"/>
                <a:gd name="T7" fmla="*/ 2 h 11"/>
                <a:gd name="T8" fmla="*/ 226910 w 15"/>
                <a:gd name="T9" fmla="*/ 0 h 11"/>
                <a:gd name="T10" fmla="*/ 255066 w 15"/>
                <a:gd name="T11" fmla="*/ 2 h 11"/>
                <a:gd name="T12" fmla="*/ 0 w 15"/>
                <a:gd name="T13" fmla="*/ 41 h 11"/>
                <a:gd name="T14" fmla="*/ 24325 w 15"/>
                <a:gd name="T15" fmla="*/ 49 h 11"/>
                <a:gd name="T16" fmla="*/ 0 w 15"/>
                <a:gd name="T17" fmla="*/ 41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1"/>
                <a:gd name="T29" fmla="*/ 15 w 15"/>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1">
                  <a:moveTo>
                    <a:pt x="0" y="6"/>
                  </a:moveTo>
                  <a:lnTo>
                    <a:pt x="1" y="8"/>
                  </a:lnTo>
                  <a:lnTo>
                    <a:pt x="2" y="10"/>
                  </a:lnTo>
                  <a:lnTo>
                    <a:pt x="14" y="2"/>
                  </a:lnTo>
                  <a:lnTo>
                    <a:pt x="12" y="0"/>
                  </a:lnTo>
                  <a:lnTo>
                    <a:pt x="13" y="2"/>
                  </a:lnTo>
                  <a:lnTo>
                    <a:pt x="0" y="6"/>
                  </a:lnTo>
                  <a:lnTo>
                    <a:pt x="1" y="8"/>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6" name="Freeform 67">
              <a:extLst>
                <a:ext uri="{FF2B5EF4-FFF2-40B4-BE49-F238E27FC236}">
                  <a16:creationId xmlns:a16="http://schemas.microsoft.com/office/drawing/2014/main" id="{A6438FA6-D6DC-6002-7E96-BCA4D0D2E9ED}"/>
                </a:ext>
              </a:extLst>
            </p:cNvPr>
            <p:cNvSpPr>
              <a:spLocks/>
            </p:cNvSpPr>
            <p:nvPr/>
          </p:nvSpPr>
          <p:spPr bwMode="auto">
            <a:xfrm>
              <a:off x="2335" y="3056"/>
              <a:ext cx="172" cy="34"/>
            </a:xfrm>
            <a:custGeom>
              <a:avLst/>
              <a:gdLst>
                <a:gd name="T0" fmla="*/ 0 w 105"/>
                <a:gd name="T1" fmla="*/ 61 h 30"/>
                <a:gd name="T2" fmla="*/ 247472 w 105"/>
                <a:gd name="T3" fmla="*/ 186 h 30"/>
                <a:gd name="T4" fmla="*/ 664056 w 105"/>
                <a:gd name="T5" fmla="*/ 233 h 30"/>
                <a:gd name="T6" fmla="*/ 1144996 w 105"/>
                <a:gd name="T7" fmla="*/ 239 h 30"/>
                <a:gd name="T8" fmla="*/ 1629916 w 105"/>
                <a:gd name="T9" fmla="*/ 264 h 30"/>
                <a:gd name="T10" fmla="*/ 2126746 w 105"/>
                <a:gd name="T11" fmla="*/ 264 h 30"/>
                <a:gd name="T12" fmla="*/ 2497456 w 105"/>
                <a:gd name="T13" fmla="*/ 298 h 30"/>
                <a:gd name="T14" fmla="*/ 2792890 w 105"/>
                <a:gd name="T15" fmla="*/ 338 h 30"/>
                <a:gd name="T16" fmla="*/ 2885372 w 105"/>
                <a:gd name="T17" fmla="*/ 394 h 30"/>
                <a:gd name="T18" fmla="*/ 3278466 w 105"/>
                <a:gd name="T19" fmla="*/ 339 h 30"/>
                <a:gd name="T20" fmla="*/ 3037405 w 105"/>
                <a:gd name="T21" fmla="*/ 186 h 30"/>
                <a:gd name="T22" fmla="*/ 2633720 w 105"/>
                <a:gd name="T23" fmla="*/ 100 h 30"/>
                <a:gd name="T24" fmla="*/ 2147610 w 105"/>
                <a:gd name="T25" fmla="*/ 78 h 30"/>
                <a:gd name="T26" fmla="*/ 1629916 w 105"/>
                <a:gd name="T27" fmla="*/ 69 h 30"/>
                <a:gd name="T28" fmla="*/ 1144996 w 105"/>
                <a:gd name="T29" fmla="*/ 69 h 30"/>
                <a:gd name="T30" fmla="*/ 737762 w 105"/>
                <a:gd name="T31" fmla="*/ 61 h 30"/>
                <a:gd name="T32" fmla="*/ 483836 w 105"/>
                <a:gd name="T33" fmla="*/ 2 h 30"/>
                <a:gd name="T34" fmla="*/ 405383 w 105"/>
                <a:gd name="T35" fmla="*/ 0 h 30"/>
                <a:gd name="T36" fmla="*/ 0 w 105"/>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7"/>
                  </a:lnTo>
                  <a:lnTo>
                    <a:pt x="36" y="18"/>
                  </a:lnTo>
                  <a:lnTo>
                    <a:pt x="51" y="19"/>
                  </a:lnTo>
                  <a:lnTo>
                    <a:pt x="67" y="19"/>
                  </a:lnTo>
                  <a:lnTo>
                    <a:pt x="79" y="21"/>
                  </a:lnTo>
                  <a:lnTo>
                    <a:pt x="88" y="24"/>
                  </a:lnTo>
                  <a:lnTo>
                    <a:pt x="91" y="29"/>
                  </a:lnTo>
                  <a:lnTo>
                    <a:pt x="104" y="25"/>
                  </a:lnTo>
                  <a:lnTo>
                    <a:pt x="96" y="14"/>
                  </a:lnTo>
                  <a:lnTo>
                    <a:pt x="83" y="8"/>
                  </a:lnTo>
                  <a:lnTo>
                    <a:pt x="68" y="6"/>
                  </a:lnTo>
                  <a:lnTo>
                    <a:pt x="51" y="5"/>
                  </a:lnTo>
                  <a:lnTo>
                    <a:pt x="36" y="5"/>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7" name="Freeform 68">
              <a:extLst>
                <a:ext uri="{FF2B5EF4-FFF2-40B4-BE49-F238E27FC236}">
                  <a16:creationId xmlns:a16="http://schemas.microsoft.com/office/drawing/2014/main" id="{3956D3B6-4609-0523-7190-A013D3AFAA6F}"/>
                </a:ext>
              </a:extLst>
            </p:cNvPr>
            <p:cNvSpPr>
              <a:spLocks/>
            </p:cNvSpPr>
            <p:nvPr/>
          </p:nvSpPr>
          <p:spPr bwMode="auto">
            <a:xfrm>
              <a:off x="2335" y="2990"/>
              <a:ext cx="136" cy="71"/>
            </a:xfrm>
            <a:custGeom>
              <a:avLst/>
              <a:gdLst>
                <a:gd name="T0" fmla="*/ 2195491 w 83"/>
                <a:gd name="T1" fmla="*/ 74 h 62"/>
                <a:gd name="T2" fmla="*/ 2195491 w 83"/>
                <a:gd name="T3" fmla="*/ 97 h 62"/>
                <a:gd name="T4" fmla="*/ 2008007 w 83"/>
                <a:gd name="T5" fmla="*/ 211 h 62"/>
                <a:gd name="T6" fmla="*/ 1654163 w 83"/>
                <a:gd name="T7" fmla="*/ 328 h 62"/>
                <a:gd name="T8" fmla="*/ 1212955 w 83"/>
                <a:gd name="T9" fmla="*/ 462 h 62"/>
                <a:gd name="T10" fmla="*/ 795492 w 83"/>
                <a:gd name="T11" fmla="*/ 554 h 62"/>
                <a:gd name="T12" fmla="*/ 389068 w 83"/>
                <a:gd name="T13" fmla="*/ 696 h 62"/>
                <a:gd name="T14" fmla="*/ 56548 w 83"/>
                <a:gd name="T15" fmla="*/ 831 h 62"/>
                <a:gd name="T16" fmla="*/ 0 w 83"/>
                <a:gd name="T17" fmla="*/ 1046 h 62"/>
                <a:gd name="T18" fmla="*/ 407626 w 83"/>
                <a:gd name="T19" fmla="*/ 973 h 62"/>
                <a:gd name="T20" fmla="*/ 451776 w 83"/>
                <a:gd name="T21" fmla="*/ 960 h 62"/>
                <a:gd name="T22" fmla="*/ 637509 w 83"/>
                <a:gd name="T23" fmla="*/ 850 h 62"/>
                <a:gd name="T24" fmla="*/ 998460 w 83"/>
                <a:gd name="T25" fmla="*/ 732 h 62"/>
                <a:gd name="T26" fmla="*/ 1434145 w 83"/>
                <a:gd name="T27" fmla="*/ 634 h 62"/>
                <a:gd name="T28" fmla="*/ 1855348 w 83"/>
                <a:gd name="T29" fmla="*/ 529 h 62"/>
                <a:gd name="T30" fmla="*/ 2257806 w 83"/>
                <a:gd name="T31" fmla="*/ 403 h 62"/>
                <a:gd name="T32" fmla="*/ 2549956 w 83"/>
                <a:gd name="T33" fmla="*/ 218 h 62"/>
                <a:gd name="T34" fmla="*/ 2609697 w 83"/>
                <a:gd name="T35" fmla="*/ 0 h 62"/>
                <a:gd name="T36" fmla="*/ 2195491 w 83"/>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9" y="6"/>
                  </a:lnTo>
                  <a:lnTo>
                    <a:pt x="63" y="12"/>
                  </a:lnTo>
                  <a:lnTo>
                    <a:pt x="52" y="19"/>
                  </a:lnTo>
                  <a:lnTo>
                    <a:pt x="38" y="26"/>
                  </a:lnTo>
                  <a:lnTo>
                    <a:pt x="25" y="32"/>
                  </a:lnTo>
                  <a:lnTo>
                    <a:pt x="12" y="40"/>
                  </a:lnTo>
                  <a:lnTo>
                    <a:pt x="2" y="48"/>
                  </a:lnTo>
                  <a:lnTo>
                    <a:pt x="0" y="61"/>
                  </a:lnTo>
                  <a:lnTo>
                    <a:pt x="13" y="57"/>
                  </a:lnTo>
                  <a:lnTo>
                    <a:pt x="14" y="56"/>
                  </a:lnTo>
                  <a:lnTo>
                    <a:pt x="20" y="50"/>
                  </a:lnTo>
                  <a:lnTo>
                    <a:pt x="31" y="43"/>
                  </a:lnTo>
                  <a:lnTo>
                    <a:pt x="45" y="37"/>
                  </a:lnTo>
                  <a:lnTo>
                    <a:pt x="58" y="30"/>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8" name="Freeform 69">
              <a:extLst>
                <a:ext uri="{FF2B5EF4-FFF2-40B4-BE49-F238E27FC236}">
                  <a16:creationId xmlns:a16="http://schemas.microsoft.com/office/drawing/2014/main" id="{8F1F38BC-1B90-E9FD-DCA9-2F371DD9E5CE}"/>
                </a:ext>
              </a:extLst>
            </p:cNvPr>
            <p:cNvSpPr>
              <a:spLocks/>
            </p:cNvSpPr>
            <p:nvPr/>
          </p:nvSpPr>
          <p:spPr bwMode="auto">
            <a:xfrm>
              <a:off x="2297" y="2961"/>
              <a:ext cx="174" cy="33"/>
            </a:xfrm>
            <a:custGeom>
              <a:avLst/>
              <a:gdLst>
                <a:gd name="T0" fmla="*/ 0 w 106"/>
                <a:gd name="T1" fmla="*/ 68 h 29"/>
                <a:gd name="T2" fmla="*/ 255808 w 106"/>
                <a:gd name="T3" fmla="*/ 191 h 29"/>
                <a:gd name="T4" fmla="*/ 689288 w 106"/>
                <a:gd name="T5" fmla="*/ 247 h 29"/>
                <a:gd name="T6" fmla="*/ 1189907 w 106"/>
                <a:gd name="T7" fmla="*/ 281 h 29"/>
                <a:gd name="T8" fmla="*/ 1723619 w 106"/>
                <a:gd name="T9" fmla="*/ 306 h 29"/>
                <a:gd name="T10" fmla="*/ 2226709 w 106"/>
                <a:gd name="T11" fmla="*/ 306 h 29"/>
                <a:gd name="T12" fmla="*/ 2681420 w 106"/>
                <a:gd name="T13" fmla="*/ 320 h 29"/>
                <a:gd name="T14" fmla="*/ 2950607 w 106"/>
                <a:gd name="T15" fmla="*/ 396 h 29"/>
                <a:gd name="T16" fmla="*/ 3048815 w 106"/>
                <a:gd name="T17" fmla="*/ 414 h 29"/>
                <a:gd name="T18" fmla="*/ 3468237 w 106"/>
                <a:gd name="T19" fmla="*/ 360 h 29"/>
                <a:gd name="T20" fmla="*/ 3206268 w 106"/>
                <a:gd name="T21" fmla="*/ 207 h 29"/>
                <a:gd name="T22" fmla="*/ 2742357 w 106"/>
                <a:gd name="T23" fmla="*/ 130 h 29"/>
                <a:gd name="T24" fmla="*/ 2274976 w 106"/>
                <a:gd name="T25" fmla="*/ 100 h 29"/>
                <a:gd name="T26" fmla="*/ 1723619 w 106"/>
                <a:gd name="T27" fmla="*/ 100 h 29"/>
                <a:gd name="T28" fmla="*/ 1229571 w 106"/>
                <a:gd name="T29" fmla="*/ 88 h 29"/>
                <a:gd name="T30" fmla="*/ 784113 w 106"/>
                <a:gd name="T31" fmla="*/ 68 h 29"/>
                <a:gd name="T32" fmla="*/ 503423 w 106"/>
                <a:gd name="T33" fmla="*/ 2 h 29"/>
                <a:gd name="T34" fmla="*/ 419911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3"/>
                  </a:lnTo>
                  <a:lnTo>
                    <a:pt x="21" y="17"/>
                  </a:lnTo>
                  <a:lnTo>
                    <a:pt x="36" y="19"/>
                  </a:lnTo>
                  <a:lnTo>
                    <a:pt x="52" y="20"/>
                  </a:lnTo>
                  <a:lnTo>
                    <a:pt x="67" y="20"/>
                  </a:lnTo>
                  <a:lnTo>
                    <a:pt x="81" y="22"/>
                  </a:lnTo>
                  <a:lnTo>
                    <a:pt x="89" y="26"/>
                  </a:lnTo>
                  <a:lnTo>
                    <a:pt x="92" y="28"/>
                  </a:lnTo>
                  <a:lnTo>
                    <a:pt x="105" y="24"/>
                  </a:lnTo>
                  <a:lnTo>
                    <a:pt x="97" y="14"/>
                  </a:lnTo>
                  <a:lnTo>
                    <a:pt x="83" y="9"/>
                  </a:lnTo>
                  <a:lnTo>
                    <a:pt x="69" y="7"/>
                  </a:lnTo>
                  <a:lnTo>
                    <a:pt x="52" y="7"/>
                  </a:lnTo>
                  <a:lnTo>
                    <a:pt x="37" y="6"/>
                  </a:lnTo>
                  <a:lnTo>
                    <a:pt x="24"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9" name="Freeform 70">
              <a:extLst>
                <a:ext uri="{FF2B5EF4-FFF2-40B4-BE49-F238E27FC236}">
                  <a16:creationId xmlns:a16="http://schemas.microsoft.com/office/drawing/2014/main" id="{FCB960E5-6CF2-DA61-108F-5E64288FAE56}"/>
                </a:ext>
              </a:extLst>
            </p:cNvPr>
            <p:cNvSpPr>
              <a:spLocks/>
            </p:cNvSpPr>
            <p:nvPr/>
          </p:nvSpPr>
          <p:spPr bwMode="auto">
            <a:xfrm>
              <a:off x="2297" y="2899"/>
              <a:ext cx="140" cy="69"/>
            </a:xfrm>
            <a:custGeom>
              <a:avLst/>
              <a:gdLst>
                <a:gd name="T0" fmla="*/ 2471399 w 85"/>
                <a:gd name="T1" fmla="*/ 2 h 59"/>
                <a:gd name="T2" fmla="*/ 2471399 w 85"/>
                <a:gd name="T3" fmla="*/ 120 h 59"/>
                <a:gd name="T4" fmla="*/ 2471399 w 85"/>
                <a:gd name="T5" fmla="*/ 103 h 59"/>
                <a:gd name="T6" fmla="*/ 2240237 w 85"/>
                <a:gd name="T7" fmla="*/ 225 h 59"/>
                <a:gd name="T8" fmla="*/ 1859732 w 85"/>
                <a:gd name="T9" fmla="*/ 421 h 59"/>
                <a:gd name="T10" fmla="*/ 1360144 w 85"/>
                <a:gd name="T11" fmla="*/ 575 h 59"/>
                <a:gd name="T12" fmla="*/ 869214 w 85"/>
                <a:gd name="T13" fmla="*/ 782 h 59"/>
                <a:gd name="T14" fmla="*/ 431225 w 85"/>
                <a:gd name="T15" fmla="*/ 934 h 59"/>
                <a:gd name="T16" fmla="*/ 62872 w 85"/>
                <a:gd name="T17" fmla="*/ 1221 h 59"/>
                <a:gd name="T18" fmla="*/ 0 w 85"/>
                <a:gd name="T19" fmla="*/ 1587 h 59"/>
                <a:gd name="T20" fmla="*/ 462695 w 85"/>
                <a:gd name="T21" fmla="*/ 1463 h 59"/>
                <a:gd name="T22" fmla="*/ 501380 w 85"/>
                <a:gd name="T23" fmla="*/ 1381 h 59"/>
                <a:gd name="T24" fmla="*/ 710253 w 85"/>
                <a:gd name="T25" fmla="*/ 1251 h 59"/>
                <a:gd name="T26" fmla="*/ 1097633 w 85"/>
                <a:gd name="T27" fmla="*/ 1070 h 59"/>
                <a:gd name="T28" fmla="*/ 1560340 w 85"/>
                <a:gd name="T29" fmla="*/ 915 h 59"/>
                <a:gd name="T30" fmla="*/ 2067388 w 85"/>
                <a:gd name="T31" fmla="*/ 683 h 59"/>
                <a:gd name="T32" fmla="*/ 2471399 w 85"/>
                <a:gd name="T33" fmla="*/ 530 h 59"/>
                <a:gd name="T34" fmla="*/ 2838541 w 85"/>
                <a:gd name="T35" fmla="*/ 312 h 59"/>
                <a:gd name="T36" fmla="*/ 2963864 w 85"/>
                <a:gd name="T37" fmla="*/ 0 h 59"/>
                <a:gd name="T38" fmla="*/ 2977662 w 85"/>
                <a:gd name="T39" fmla="*/ 2 h 59"/>
                <a:gd name="T40" fmla="*/ 2471399 w 85"/>
                <a:gd name="T41" fmla="*/ 2 h 59"/>
                <a:gd name="T42" fmla="*/ 2471399 w 85"/>
                <a:gd name="T43" fmla="*/ 120 h 59"/>
                <a:gd name="T44" fmla="*/ 2471399 w 85"/>
                <a:gd name="T45" fmla="*/ 2 h 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9"/>
                <a:gd name="T71" fmla="*/ 85 w 85"/>
                <a:gd name="T72" fmla="*/ 59 h 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9">
                  <a:moveTo>
                    <a:pt x="70" y="2"/>
                  </a:moveTo>
                  <a:lnTo>
                    <a:pt x="70" y="4"/>
                  </a:lnTo>
                  <a:lnTo>
                    <a:pt x="70" y="3"/>
                  </a:lnTo>
                  <a:lnTo>
                    <a:pt x="63" y="8"/>
                  </a:lnTo>
                  <a:lnTo>
                    <a:pt x="52" y="15"/>
                  </a:lnTo>
                  <a:lnTo>
                    <a:pt x="38" y="21"/>
                  </a:lnTo>
                  <a:lnTo>
                    <a:pt x="24" y="28"/>
                  </a:lnTo>
                  <a:lnTo>
                    <a:pt x="12" y="35"/>
                  </a:lnTo>
                  <a:lnTo>
                    <a:pt x="2" y="45"/>
                  </a:lnTo>
                  <a:lnTo>
                    <a:pt x="0" y="58"/>
                  </a:lnTo>
                  <a:lnTo>
                    <a:pt x="13" y="54"/>
                  </a:lnTo>
                  <a:lnTo>
                    <a:pt x="14" y="52"/>
                  </a:lnTo>
                  <a:lnTo>
                    <a:pt x="20" y="46"/>
                  </a:lnTo>
                  <a:lnTo>
                    <a:pt x="31" y="39"/>
                  </a:lnTo>
                  <a:lnTo>
                    <a:pt x="44" y="33"/>
                  </a:lnTo>
                  <a:lnTo>
                    <a:pt x="58" y="26"/>
                  </a:lnTo>
                  <a:lnTo>
                    <a:pt x="70" y="20"/>
                  </a:lnTo>
                  <a:lnTo>
                    <a:pt x="80" y="12"/>
                  </a:lnTo>
                  <a:lnTo>
                    <a:pt x="83" y="0"/>
                  </a:lnTo>
                  <a:lnTo>
                    <a:pt x="84" y="2"/>
                  </a:lnTo>
                  <a:lnTo>
                    <a:pt x="70" y="2"/>
                  </a:lnTo>
                  <a:lnTo>
                    <a:pt x="70" y="4"/>
                  </a:lnTo>
                  <a:lnTo>
                    <a:pt x="70"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0" name="Freeform 71">
              <a:extLst>
                <a:ext uri="{FF2B5EF4-FFF2-40B4-BE49-F238E27FC236}">
                  <a16:creationId xmlns:a16="http://schemas.microsoft.com/office/drawing/2014/main" id="{364DC2E2-47C5-F70F-8037-476DFE071F35}"/>
                </a:ext>
              </a:extLst>
            </p:cNvPr>
            <p:cNvSpPr>
              <a:spLocks/>
            </p:cNvSpPr>
            <p:nvPr/>
          </p:nvSpPr>
          <p:spPr bwMode="auto">
            <a:xfrm>
              <a:off x="2412" y="2898"/>
              <a:ext cx="25" cy="6"/>
            </a:xfrm>
            <a:custGeom>
              <a:avLst/>
              <a:gdLst>
                <a:gd name="T0" fmla="*/ 0 w 15"/>
                <a:gd name="T1" fmla="*/ 179 h 5"/>
                <a:gd name="T2" fmla="*/ 0 w 15"/>
                <a:gd name="T3" fmla="*/ 2 h 5"/>
                <a:gd name="T4" fmla="*/ 0 w 15"/>
                <a:gd name="T5" fmla="*/ 149 h 5"/>
                <a:gd name="T6" fmla="*/ 621467 w 15"/>
                <a:gd name="T7" fmla="*/ 14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3"/>
                  </a:lnTo>
                  <a:lnTo>
                    <a:pt x="14" y="3"/>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1" name="Freeform 72">
              <a:extLst>
                <a:ext uri="{FF2B5EF4-FFF2-40B4-BE49-F238E27FC236}">
                  <a16:creationId xmlns:a16="http://schemas.microsoft.com/office/drawing/2014/main" id="{C6CE4D28-04F9-2390-CFD5-87B2A33400B8}"/>
                </a:ext>
              </a:extLst>
            </p:cNvPr>
            <p:cNvSpPr>
              <a:spLocks/>
            </p:cNvSpPr>
            <p:nvPr/>
          </p:nvSpPr>
          <p:spPr bwMode="auto">
            <a:xfrm>
              <a:off x="2264" y="2869"/>
              <a:ext cx="173" cy="35"/>
            </a:xfrm>
            <a:custGeom>
              <a:avLst/>
              <a:gdLst>
                <a:gd name="T0" fmla="*/ 0 w 105"/>
                <a:gd name="T1" fmla="*/ 60 h 31"/>
                <a:gd name="T2" fmla="*/ 282272 w 105"/>
                <a:gd name="T3" fmla="*/ 180 h 31"/>
                <a:gd name="T4" fmla="*/ 766270 w 105"/>
                <a:gd name="T5" fmla="*/ 236 h 31"/>
                <a:gd name="T6" fmla="*/ 1283006 w 105"/>
                <a:gd name="T7" fmla="*/ 289 h 31"/>
                <a:gd name="T8" fmla="*/ 1816719 w 105"/>
                <a:gd name="T9" fmla="*/ 292 h 31"/>
                <a:gd name="T10" fmla="*/ 2445765 w 105"/>
                <a:gd name="T11" fmla="*/ 300 h 31"/>
                <a:gd name="T12" fmla="*/ 2890764 w 105"/>
                <a:gd name="T13" fmla="*/ 330 h 31"/>
                <a:gd name="T14" fmla="*/ 3191916 w 105"/>
                <a:gd name="T15" fmla="*/ 373 h 31"/>
                <a:gd name="T16" fmla="*/ 3261172 w 105"/>
                <a:gd name="T17" fmla="*/ 383 h 31"/>
                <a:gd name="T18" fmla="*/ 3721278 w 105"/>
                <a:gd name="T19" fmla="*/ 330 h 31"/>
                <a:gd name="T20" fmla="*/ 3427301 w 105"/>
                <a:gd name="T21" fmla="*/ 209 h 31"/>
                <a:gd name="T22" fmla="*/ 2979100 w 105"/>
                <a:gd name="T23" fmla="*/ 164 h 31"/>
                <a:gd name="T24" fmla="*/ 2482473 w 105"/>
                <a:gd name="T25" fmla="*/ 141 h 31"/>
                <a:gd name="T26" fmla="*/ 1890361 w 105"/>
                <a:gd name="T27" fmla="*/ 125 h 31"/>
                <a:gd name="T28" fmla="*/ 1329942 w 105"/>
                <a:gd name="T29" fmla="*/ 111 h 31"/>
                <a:gd name="T30" fmla="*/ 900951 w 105"/>
                <a:gd name="T31" fmla="*/ 77 h 31"/>
                <a:gd name="T32" fmla="*/ 569066 w 105"/>
                <a:gd name="T33" fmla="*/ 3 h 31"/>
                <a:gd name="T34" fmla="*/ 465077 w 105"/>
                <a:gd name="T35" fmla="*/ 0 h 31"/>
                <a:gd name="T36" fmla="*/ 0 w 105"/>
                <a:gd name="T37" fmla="*/ 60 h 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1"/>
                <a:gd name="T59" fmla="*/ 105 w 105"/>
                <a:gd name="T60" fmla="*/ 31 h 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1">
                  <a:moveTo>
                    <a:pt x="0" y="4"/>
                  </a:moveTo>
                  <a:lnTo>
                    <a:pt x="8" y="14"/>
                  </a:lnTo>
                  <a:lnTo>
                    <a:pt x="21" y="19"/>
                  </a:lnTo>
                  <a:lnTo>
                    <a:pt x="36" y="22"/>
                  </a:lnTo>
                  <a:lnTo>
                    <a:pt x="51" y="23"/>
                  </a:lnTo>
                  <a:lnTo>
                    <a:pt x="68" y="24"/>
                  </a:lnTo>
                  <a:lnTo>
                    <a:pt x="81" y="26"/>
                  </a:lnTo>
                  <a:lnTo>
                    <a:pt x="89" y="29"/>
                  </a:lnTo>
                  <a:lnTo>
                    <a:pt x="91" y="30"/>
                  </a:lnTo>
                  <a:lnTo>
                    <a:pt x="104" y="26"/>
                  </a:lnTo>
                  <a:lnTo>
                    <a:pt x="96" y="17"/>
                  </a:lnTo>
                  <a:lnTo>
                    <a:pt x="83" y="13"/>
                  </a:lnTo>
                  <a:lnTo>
                    <a:pt x="69" y="11"/>
                  </a:lnTo>
                  <a:lnTo>
                    <a:pt x="53" y="10"/>
                  </a:lnTo>
                  <a:lnTo>
                    <a:pt x="37" y="9"/>
                  </a:lnTo>
                  <a:lnTo>
                    <a:pt x="25"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2" name="Freeform 73">
              <a:extLst>
                <a:ext uri="{FF2B5EF4-FFF2-40B4-BE49-F238E27FC236}">
                  <a16:creationId xmlns:a16="http://schemas.microsoft.com/office/drawing/2014/main" id="{51FFE062-F187-8770-87C2-70DD6E3DBBA3}"/>
                </a:ext>
              </a:extLst>
            </p:cNvPr>
            <p:cNvSpPr>
              <a:spLocks/>
            </p:cNvSpPr>
            <p:nvPr/>
          </p:nvSpPr>
          <p:spPr bwMode="auto">
            <a:xfrm>
              <a:off x="2264" y="2803"/>
              <a:ext cx="136" cy="71"/>
            </a:xfrm>
            <a:custGeom>
              <a:avLst/>
              <a:gdLst>
                <a:gd name="T0" fmla="*/ 2195491 w 83"/>
                <a:gd name="T1" fmla="*/ 74 h 62"/>
                <a:gd name="T2" fmla="*/ 2160471 w 83"/>
                <a:gd name="T3" fmla="*/ 85 h 62"/>
                <a:gd name="T4" fmla="*/ 1987493 w 83"/>
                <a:gd name="T5" fmla="*/ 190 h 62"/>
                <a:gd name="T6" fmla="*/ 1636031 w 83"/>
                <a:gd name="T7" fmla="*/ 286 h 62"/>
                <a:gd name="T8" fmla="*/ 1212955 w 83"/>
                <a:gd name="T9" fmla="*/ 416 h 62"/>
                <a:gd name="T10" fmla="*/ 761179 w 83"/>
                <a:gd name="T11" fmla="*/ 545 h 62"/>
                <a:gd name="T12" fmla="*/ 389068 w 83"/>
                <a:gd name="T13" fmla="*/ 694 h 62"/>
                <a:gd name="T14" fmla="*/ 56548 w 83"/>
                <a:gd name="T15" fmla="*/ 838 h 62"/>
                <a:gd name="T16" fmla="*/ 0 w 83"/>
                <a:gd name="T17" fmla="*/ 1046 h 62"/>
                <a:gd name="T18" fmla="*/ 407626 w 83"/>
                <a:gd name="T19" fmla="*/ 1010 h 62"/>
                <a:gd name="T20" fmla="*/ 451776 w 83"/>
                <a:gd name="T21" fmla="*/ 952 h 62"/>
                <a:gd name="T22" fmla="*/ 609354 w 83"/>
                <a:gd name="T23" fmla="*/ 838 h 62"/>
                <a:gd name="T24" fmla="*/ 998460 w 83"/>
                <a:gd name="T25" fmla="*/ 732 h 62"/>
                <a:gd name="T26" fmla="*/ 1398653 w 83"/>
                <a:gd name="T27" fmla="*/ 624 h 62"/>
                <a:gd name="T28" fmla="*/ 1855348 w 83"/>
                <a:gd name="T29" fmla="*/ 494 h 62"/>
                <a:gd name="T30" fmla="*/ 2232686 w 83"/>
                <a:gd name="T31" fmla="*/ 363 h 62"/>
                <a:gd name="T32" fmla="*/ 2549956 w 83"/>
                <a:gd name="T33" fmla="*/ 218 h 62"/>
                <a:gd name="T34" fmla="*/ 2609697 w 83"/>
                <a:gd name="T35" fmla="*/ 0 h 62"/>
                <a:gd name="T36" fmla="*/ 2195491 w 83"/>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8" y="5"/>
                  </a:lnTo>
                  <a:lnTo>
                    <a:pt x="62" y="11"/>
                  </a:lnTo>
                  <a:lnTo>
                    <a:pt x="51" y="17"/>
                  </a:lnTo>
                  <a:lnTo>
                    <a:pt x="38" y="24"/>
                  </a:lnTo>
                  <a:lnTo>
                    <a:pt x="24" y="31"/>
                  </a:lnTo>
                  <a:lnTo>
                    <a:pt x="12" y="39"/>
                  </a:lnTo>
                  <a:lnTo>
                    <a:pt x="2" y="49"/>
                  </a:lnTo>
                  <a:lnTo>
                    <a:pt x="0" y="61"/>
                  </a:lnTo>
                  <a:lnTo>
                    <a:pt x="13" y="58"/>
                  </a:lnTo>
                  <a:lnTo>
                    <a:pt x="14" y="55"/>
                  </a:lnTo>
                  <a:lnTo>
                    <a:pt x="19" y="49"/>
                  </a:lnTo>
                  <a:lnTo>
                    <a:pt x="31"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3" name="Freeform 74">
              <a:extLst>
                <a:ext uri="{FF2B5EF4-FFF2-40B4-BE49-F238E27FC236}">
                  <a16:creationId xmlns:a16="http://schemas.microsoft.com/office/drawing/2014/main" id="{2BA7D606-BBC0-9B61-2076-D4C73CB6F898}"/>
                </a:ext>
              </a:extLst>
            </p:cNvPr>
            <p:cNvSpPr>
              <a:spLocks/>
            </p:cNvSpPr>
            <p:nvPr/>
          </p:nvSpPr>
          <p:spPr bwMode="auto">
            <a:xfrm>
              <a:off x="2226" y="2774"/>
              <a:ext cx="174" cy="33"/>
            </a:xfrm>
            <a:custGeom>
              <a:avLst/>
              <a:gdLst>
                <a:gd name="T0" fmla="*/ 0 w 106"/>
                <a:gd name="T1" fmla="*/ 68 h 29"/>
                <a:gd name="T2" fmla="*/ 306683 w 106"/>
                <a:gd name="T3" fmla="*/ 207 h 29"/>
                <a:gd name="T4" fmla="*/ 724886 w 106"/>
                <a:gd name="T5" fmla="*/ 269 h 29"/>
                <a:gd name="T6" fmla="*/ 1189907 w 106"/>
                <a:gd name="T7" fmla="*/ 306 h 29"/>
                <a:gd name="T8" fmla="*/ 1723619 w 106"/>
                <a:gd name="T9" fmla="*/ 316 h 29"/>
                <a:gd name="T10" fmla="*/ 2261872 w 106"/>
                <a:gd name="T11" fmla="*/ 320 h 29"/>
                <a:gd name="T12" fmla="*/ 2681420 w 106"/>
                <a:gd name="T13" fmla="*/ 360 h 29"/>
                <a:gd name="T14" fmla="*/ 2987436 w 106"/>
                <a:gd name="T15" fmla="*/ 396 h 29"/>
                <a:gd name="T16" fmla="*/ 3048815 w 106"/>
                <a:gd name="T17" fmla="*/ 414 h 29"/>
                <a:gd name="T18" fmla="*/ 3468237 w 106"/>
                <a:gd name="T19" fmla="*/ 360 h 29"/>
                <a:gd name="T20" fmla="*/ 3184802 w 106"/>
                <a:gd name="T21" fmla="*/ 217 h 29"/>
                <a:gd name="T22" fmla="*/ 2792912 w 106"/>
                <a:gd name="T23" fmla="*/ 168 h 29"/>
                <a:gd name="T24" fmla="*/ 2274976 w 106"/>
                <a:gd name="T25" fmla="*/ 130 h 29"/>
                <a:gd name="T26" fmla="*/ 1797496 w 106"/>
                <a:gd name="T27" fmla="*/ 114 h 29"/>
                <a:gd name="T28" fmla="*/ 1229571 w 106"/>
                <a:gd name="T29" fmla="*/ 100 h 29"/>
                <a:gd name="T30" fmla="*/ 784113 w 106"/>
                <a:gd name="T31" fmla="*/ 77 h 29"/>
                <a:gd name="T32" fmla="*/ 503423 w 106"/>
                <a:gd name="T33" fmla="*/ 2 h 29"/>
                <a:gd name="T34" fmla="*/ 419911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9" y="14"/>
                  </a:lnTo>
                  <a:lnTo>
                    <a:pt x="22" y="18"/>
                  </a:lnTo>
                  <a:lnTo>
                    <a:pt x="36" y="20"/>
                  </a:lnTo>
                  <a:lnTo>
                    <a:pt x="52" y="21"/>
                  </a:lnTo>
                  <a:lnTo>
                    <a:pt x="68" y="22"/>
                  </a:lnTo>
                  <a:lnTo>
                    <a:pt x="81" y="24"/>
                  </a:lnTo>
                  <a:lnTo>
                    <a:pt x="90" y="26"/>
                  </a:lnTo>
                  <a:lnTo>
                    <a:pt x="92" y="28"/>
                  </a:lnTo>
                  <a:lnTo>
                    <a:pt x="105" y="24"/>
                  </a:lnTo>
                  <a:lnTo>
                    <a:pt x="96" y="15"/>
                  </a:lnTo>
                  <a:lnTo>
                    <a:pt x="84" y="11"/>
                  </a:lnTo>
                  <a:lnTo>
                    <a:pt x="69" y="9"/>
                  </a:lnTo>
                  <a:lnTo>
                    <a:pt x="54" y="8"/>
                  </a:lnTo>
                  <a:lnTo>
                    <a:pt x="37"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4" name="Freeform 75">
              <a:extLst>
                <a:ext uri="{FF2B5EF4-FFF2-40B4-BE49-F238E27FC236}">
                  <a16:creationId xmlns:a16="http://schemas.microsoft.com/office/drawing/2014/main" id="{2401A57E-33C4-BD98-8DBD-4D977083AB44}"/>
                </a:ext>
              </a:extLst>
            </p:cNvPr>
            <p:cNvSpPr>
              <a:spLocks/>
            </p:cNvSpPr>
            <p:nvPr/>
          </p:nvSpPr>
          <p:spPr bwMode="auto">
            <a:xfrm>
              <a:off x="2226" y="2705"/>
              <a:ext cx="135" cy="74"/>
            </a:xfrm>
            <a:custGeom>
              <a:avLst/>
              <a:gdLst>
                <a:gd name="T0" fmla="*/ 2394339 w 82"/>
                <a:gd name="T1" fmla="*/ 69 h 65"/>
                <a:gd name="T2" fmla="*/ 2353109 w 82"/>
                <a:gd name="T3" fmla="*/ 79 h 65"/>
                <a:gd name="T4" fmla="*/ 2149498 w 82"/>
                <a:gd name="T5" fmla="*/ 171 h 65"/>
                <a:gd name="T6" fmla="*/ 1749470 w 82"/>
                <a:gd name="T7" fmla="*/ 253 h 65"/>
                <a:gd name="T8" fmla="*/ 1305621 w 82"/>
                <a:gd name="T9" fmla="*/ 373 h 65"/>
                <a:gd name="T10" fmla="*/ 859589 w 82"/>
                <a:gd name="T11" fmla="*/ 484 h 65"/>
                <a:gd name="T12" fmla="*/ 387796 w 82"/>
                <a:gd name="T13" fmla="*/ 609 h 65"/>
                <a:gd name="T14" fmla="*/ 61866 w 82"/>
                <a:gd name="T15" fmla="*/ 767 h 65"/>
                <a:gd name="T16" fmla="*/ 0 w 82"/>
                <a:gd name="T17" fmla="*/ 971 h 65"/>
                <a:gd name="T18" fmla="*/ 454501 w 82"/>
                <a:gd name="T19" fmla="*/ 899 h 65"/>
                <a:gd name="T20" fmla="*/ 498843 w 82"/>
                <a:gd name="T21" fmla="*/ 865 h 65"/>
                <a:gd name="T22" fmla="*/ 703836 w 82"/>
                <a:gd name="T23" fmla="*/ 767 h 65"/>
                <a:gd name="T24" fmla="*/ 1051098 w 82"/>
                <a:gd name="T25" fmla="*/ 668 h 65"/>
                <a:gd name="T26" fmla="*/ 1549621 w 82"/>
                <a:gd name="T27" fmla="*/ 551 h 65"/>
                <a:gd name="T28" fmla="*/ 2013884 w 82"/>
                <a:gd name="T29" fmla="*/ 446 h 65"/>
                <a:gd name="T30" fmla="*/ 2447031 w 82"/>
                <a:gd name="T31" fmla="*/ 319 h 65"/>
                <a:gd name="T32" fmla="*/ 2739716 w 82"/>
                <a:gd name="T33" fmla="*/ 195 h 65"/>
                <a:gd name="T34" fmla="*/ 2848938 w 82"/>
                <a:gd name="T35" fmla="*/ 0 h 65"/>
                <a:gd name="T36" fmla="*/ 2394339 w 82"/>
                <a:gd name="T37" fmla="*/ 6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5"/>
                <a:gd name="T59" fmla="*/ 82 w 82"/>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5">
                  <a:moveTo>
                    <a:pt x="68" y="4"/>
                  </a:moveTo>
                  <a:lnTo>
                    <a:pt x="67" y="5"/>
                  </a:lnTo>
                  <a:lnTo>
                    <a:pt x="61" y="11"/>
                  </a:lnTo>
                  <a:lnTo>
                    <a:pt x="50" y="17"/>
                  </a:lnTo>
                  <a:lnTo>
                    <a:pt x="37" y="25"/>
                  </a:lnTo>
                  <a:lnTo>
                    <a:pt x="24" y="32"/>
                  </a:lnTo>
                  <a:lnTo>
                    <a:pt x="11" y="40"/>
                  </a:lnTo>
                  <a:lnTo>
                    <a:pt x="2" y="51"/>
                  </a:lnTo>
                  <a:lnTo>
                    <a:pt x="0" y="64"/>
                  </a:lnTo>
                  <a:lnTo>
                    <a:pt x="13" y="60"/>
                  </a:lnTo>
                  <a:lnTo>
                    <a:pt x="14" y="57"/>
                  </a:lnTo>
                  <a:lnTo>
                    <a:pt x="20" y="51"/>
                  </a:lnTo>
                  <a:lnTo>
                    <a:pt x="30" y="44"/>
                  </a:lnTo>
                  <a:lnTo>
                    <a:pt x="44" y="36"/>
                  </a:lnTo>
                  <a:lnTo>
                    <a:pt x="57" y="29"/>
                  </a:lnTo>
                  <a:lnTo>
                    <a:pt x="69" y="21"/>
                  </a:lnTo>
                  <a:lnTo>
                    <a:pt x="78"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5" name="Freeform 76">
              <a:extLst>
                <a:ext uri="{FF2B5EF4-FFF2-40B4-BE49-F238E27FC236}">
                  <a16:creationId xmlns:a16="http://schemas.microsoft.com/office/drawing/2014/main" id="{EBB3058D-520A-6683-90ED-24DF6A629EA1}"/>
                </a:ext>
              </a:extLst>
            </p:cNvPr>
            <p:cNvSpPr>
              <a:spLocks/>
            </p:cNvSpPr>
            <p:nvPr/>
          </p:nvSpPr>
          <p:spPr bwMode="auto">
            <a:xfrm>
              <a:off x="2337" y="2705"/>
              <a:ext cx="24" cy="5"/>
            </a:xfrm>
            <a:custGeom>
              <a:avLst/>
              <a:gdLst>
                <a:gd name="T0" fmla="*/ 0 w 14"/>
                <a:gd name="T1" fmla="*/ 4 h 5"/>
                <a:gd name="T2" fmla="*/ 477204 w 14"/>
                <a:gd name="T3" fmla="*/ 2 h 5"/>
                <a:gd name="T4" fmla="*/ 1057803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6" name="Freeform 77">
              <a:extLst>
                <a:ext uri="{FF2B5EF4-FFF2-40B4-BE49-F238E27FC236}">
                  <a16:creationId xmlns:a16="http://schemas.microsoft.com/office/drawing/2014/main" id="{9AA28CC9-24AF-5C5D-DBDB-DA129E68F0E1}"/>
                </a:ext>
              </a:extLst>
            </p:cNvPr>
            <p:cNvSpPr>
              <a:spLocks/>
            </p:cNvSpPr>
            <p:nvPr/>
          </p:nvSpPr>
          <p:spPr bwMode="auto">
            <a:xfrm>
              <a:off x="2185" y="2676"/>
              <a:ext cx="176" cy="34"/>
            </a:xfrm>
            <a:custGeom>
              <a:avLst/>
              <a:gdLst>
                <a:gd name="T0" fmla="*/ 0 w 107"/>
                <a:gd name="T1" fmla="*/ 61 h 30"/>
                <a:gd name="T2" fmla="*/ 316149 w 107"/>
                <a:gd name="T3" fmla="*/ 186 h 30"/>
                <a:gd name="T4" fmla="*/ 755427 w 107"/>
                <a:gd name="T5" fmla="*/ 239 h 30"/>
                <a:gd name="T6" fmla="*/ 1242572 w 107"/>
                <a:gd name="T7" fmla="*/ 271 h 30"/>
                <a:gd name="T8" fmla="*/ 1829721 w 107"/>
                <a:gd name="T9" fmla="*/ 271 h 30"/>
                <a:gd name="T10" fmla="*/ 2351955 w 107"/>
                <a:gd name="T11" fmla="*/ 298 h 30"/>
                <a:gd name="T12" fmla="*/ 2833329 w 107"/>
                <a:gd name="T13" fmla="*/ 307 h 30"/>
                <a:gd name="T14" fmla="*/ 3107351 w 107"/>
                <a:gd name="T15" fmla="*/ 348 h 30"/>
                <a:gd name="T16" fmla="*/ 3223782 w 107"/>
                <a:gd name="T17" fmla="*/ 394 h 30"/>
                <a:gd name="T18" fmla="*/ 3649694 w 107"/>
                <a:gd name="T19" fmla="*/ 339 h 30"/>
                <a:gd name="T20" fmla="*/ 3383873 w 107"/>
                <a:gd name="T21" fmla="*/ 186 h 30"/>
                <a:gd name="T22" fmla="*/ 2899460 w 107"/>
                <a:gd name="T23" fmla="*/ 128 h 30"/>
                <a:gd name="T24" fmla="*/ 2374059 w 107"/>
                <a:gd name="T25" fmla="*/ 100 h 30"/>
                <a:gd name="T26" fmla="*/ 1829721 w 107"/>
                <a:gd name="T27" fmla="*/ 88 h 30"/>
                <a:gd name="T28" fmla="*/ 1326479 w 107"/>
                <a:gd name="T29" fmla="*/ 88 h 30"/>
                <a:gd name="T30" fmla="*/ 818282 w 107"/>
                <a:gd name="T31" fmla="*/ 69 h 30"/>
                <a:gd name="T32" fmla="*/ 520021 w 107"/>
                <a:gd name="T33" fmla="*/ 2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9" y="14"/>
                  </a:lnTo>
                  <a:lnTo>
                    <a:pt x="22" y="18"/>
                  </a:lnTo>
                  <a:lnTo>
                    <a:pt x="36" y="20"/>
                  </a:lnTo>
                  <a:lnTo>
                    <a:pt x="53" y="20"/>
                  </a:lnTo>
                  <a:lnTo>
                    <a:pt x="68" y="21"/>
                  </a:lnTo>
                  <a:lnTo>
                    <a:pt x="82" y="23"/>
                  </a:lnTo>
                  <a:lnTo>
                    <a:pt x="90" y="26"/>
                  </a:lnTo>
                  <a:lnTo>
                    <a:pt x="93" y="29"/>
                  </a:lnTo>
                  <a:lnTo>
                    <a:pt x="106" y="25"/>
                  </a:lnTo>
                  <a:lnTo>
                    <a:pt x="98" y="14"/>
                  </a:lnTo>
                  <a:lnTo>
                    <a:pt x="84" y="10"/>
                  </a:lnTo>
                  <a:lnTo>
                    <a:pt x="69" y="8"/>
                  </a:lnTo>
                  <a:lnTo>
                    <a:pt x="53" y="7"/>
                  </a:lnTo>
                  <a:lnTo>
                    <a:pt x="38"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7" name="Freeform 78">
              <a:extLst>
                <a:ext uri="{FF2B5EF4-FFF2-40B4-BE49-F238E27FC236}">
                  <a16:creationId xmlns:a16="http://schemas.microsoft.com/office/drawing/2014/main" id="{4A9EBC76-EB1B-A32B-BB18-EAF8C033EF85}"/>
                </a:ext>
              </a:extLst>
            </p:cNvPr>
            <p:cNvSpPr>
              <a:spLocks/>
            </p:cNvSpPr>
            <p:nvPr/>
          </p:nvSpPr>
          <p:spPr bwMode="auto">
            <a:xfrm>
              <a:off x="2185" y="2609"/>
              <a:ext cx="138" cy="72"/>
            </a:xfrm>
            <a:custGeom>
              <a:avLst/>
              <a:gdLst>
                <a:gd name="T0" fmla="*/ 2353327 w 84"/>
                <a:gd name="T1" fmla="*/ 73 h 63"/>
                <a:gd name="T2" fmla="*/ 2325254 w 84"/>
                <a:gd name="T3" fmla="*/ 95 h 63"/>
                <a:gd name="T4" fmla="*/ 2114707 w 84"/>
                <a:gd name="T5" fmla="*/ 202 h 63"/>
                <a:gd name="T6" fmla="*/ 1748426 w 84"/>
                <a:gd name="T7" fmla="*/ 318 h 63"/>
                <a:gd name="T8" fmla="*/ 1275230 w 84"/>
                <a:gd name="T9" fmla="*/ 426 h 63"/>
                <a:gd name="T10" fmla="*/ 836973 w 84"/>
                <a:gd name="T11" fmla="*/ 542 h 63"/>
                <a:gd name="T12" fmla="*/ 410755 w 84"/>
                <a:gd name="T13" fmla="*/ 671 h 63"/>
                <a:gd name="T14" fmla="*/ 99128 w 84"/>
                <a:gd name="T15" fmla="*/ 808 h 63"/>
                <a:gd name="T16" fmla="*/ 0 w 84"/>
                <a:gd name="T17" fmla="*/ 1032 h 63"/>
                <a:gd name="T18" fmla="*/ 439537 w 84"/>
                <a:gd name="T19" fmla="*/ 951 h 63"/>
                <a:gd name="T20" fmla="*/ 472486 w 84"/>
                <a:gd name="T21" fmla="*/ 941 h 63"/>
                <a:gd name="T22" fmla="*/ 674812 w 84"/>
                <a:gd name="T23" fmla="*/ 823 h 63"/>
                <a:gd name="T24" fmla="*/ 1050389 w 84"/>
                <a:gd name="T25" fmla="*/ 728 h 63"/>
                <a:gd name="T26" fmla="*/ 1524090 w 84"/>
                <a:gd name="T27" fmla="*/ 606 h 63"/>
                <a:gd name="T28" fmla="*/ 1984371 w 84"/>
                <a:gd name="T29" fmla="*/ 487 h 63"/>
                <a:gd name="T30" fmla="*/ 2396631 w 84"/>
                <a:gd name="T31" fmla="*/ 363 h 63"/>
                <a:gd name="T32" fmla="*/ 2733325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6"/>
                  </a:lnTo>
                  <a:lnTo>
                    <a:pt x="63" y="12"/>
                  </a:lnTo>
                  <a:lnTo>
                    <a:pt x="52" y="19"/>
                  </a:lnTo>
                  <a:lnTo>
                    <a:pt x="38" y="26"/>
                  </a:lnTo>
                  <a:lnTo>
                    <a:pt x="25" y="33"/>
                  </a:lnTo>
                  <a:lnTo>
                    <a:pt x="12" y="40"/>
                  </a:lnTo>
                  <a:lnTo>
                    <a:pt x="3" y="49"/>
                  </a:lnTo>
                  <a:lnTo>
                    <a:pt x="0" y="62"/>
                  </a:lnTo>
                  <a:lnTo>
                    <a:pt x="13" y="58"/>
                  </a:lnTo>
                  <a:lnTo>
                    <a:pt x="14" y="57"/>
                  </a:lnTo>
                  <a:lnTo>
                    <a:pt x="20" y="50"/>
                  </a:lnTo>
                  <a:lnTo>
                    <a:pt x="31" y="45"/>
                  </a:lnTo>
                  <a:lnTo>
                    <a:pt x="45" y="37"/>
                  </a:lnTo>
                  <a:lnTo>
                    <a:pt x="59" y="30"/>
                  </a:lnTo>
                  <a:lnTo>
                    <a:pt x="71" y="22"/>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8" name="Freeform 79">
              <a:extLst>
                <a:ext uri="{FF2B5EF4-FFF2-40B4-BE49-F238E27FC236}">
                  <a16:creationId xmlns:a16="http://schemas.microsoft.com/office/drawing/2014/main" id="{05F08494-AB5C-E465-6517-51F00B250053}"/>
                </a:ext>
              </a:extLst>
            </p:cNvPr>
            <p:cNvSpPr>
              <a:spLocks/>
            </p:cNvSpPr>
            <p:nvPr/>
          </p:nvSpPr>
          <p:spPr bwMode="auto">
            <a:xfrm>
              <a:off x="2148" y="2580"/>
              <a:ext cx="175" cy="35"/>
            </a:xfrm>
            <a:custGeom>
              <a:avLst/>
              <a:gdLst>
                <a:gd name="T0" fmla="*/ 0 w 106"/>
                <a:gd name="T1" fmla="*/ 120 h 30"/>
                <a:gd name="T2" fmla="*/ 291842 w 106"/>
                <a:gd name="T3" fmla="*/ 358 h 30"/>
                <a:gd name="T4" fmla="*/ 795449 w 106"/>
                <a:gd name="T5" fmla="*/ 480 h 30"/>
                <a:gd name="T6" fmla="*/ 1328805 w 106"/>
                <a:gd name="T7" fmla="*/ 501 h 30"/>
                <a:gd name="T8" fmla="*/ 1899835 w 106"/>
                <a:gd name="T9" fmla="*/ 501 h 30"/>
                <a:gd name="T10" fmla="*/ 2534104 w 106"/>
                <a:gd name="T11" fmla="*/ 560 h 30"/>
                <a:gd name="T12" fmla="*/ 3033331 w 106"/>
                <a:gd name="T13" fmla="*/ 585 h 30"/>
                <a:gd name="T14" fmla="*/ 3328313 w 106"/>
                <a:gd name="T15" fmla="*/ 664 h 30"/>
                <a:gd name="T16" fmla="*/ 3435385 w 106"/>
                <a:gd name="T17" fmla="*/ 762 h 30"/>
                <a:gd name="T18" fmla="*/ 3917132 w 106"/>
                <a:gd name="T19" fmla="*/ 653 h 30"/>
                <a:gd name="T20" fmla="*/ 3621810 w 106"/>
                <a:gd name="T21" fmla="*/ 358 h 30"/>
                <a:gd name="T22" fmla="*/ 3097518 w 106"/>
                <a:gd name="T23" fmla="*/ 263 h 30"/>
                <a:gd name="T24" fmla="*/ 2573651 w 106"/>
                <a:gd name="T25" fmla="*/ 222 h 30"/>
                <a:gd name="T26" fmla="*/ 1984779 w 106"/>
                <a:gd name="T27" fmla="*/ 190 h 30"/>
                <a:gd name="T28" fmla="*/ 1389091 w 106"/>
                <a:gd name="T29" fmla="*/ 190 h 30"/>
                <a:gd name="T30" fmla="*/ 864949 w 106"/>
                <a:gd name="T31" fmla="*/ 140 h 30"/>
                <a:gd name="T32" fmla="*/ 563155 w 106"/>
                <a:gd name="T33" fmla="*/ 2 h 30"/>
                <a:gd name="T34" fmla="*/ 481815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1" y="20"/>
                  </a:lnTo>
                  <a:lnTo>
                    <a:pt x="68" y="21"/>
                  </a:lnTo>
                  <a:lnTo>
                    <a:pt x="81" y="23"/>
                  </a:lnTo>
                  <a:lnTo>
                    <a:pt x="89" y="26"/>
                  </a:lnTo>
                  <a:lnTo>
                    <a:pt x="92" y="29"/>
                  </a:lnTo>
                  <a:lnTo>
                    <a:pt x="105" y="25"/>
                  </a:lnTo>
                  <a:lnTo>
                    <a:pt x="97" y="14"/>
                  </a:lnTo>
                  <a:lnTo>
                    <a:pt x="83" y="10"/>
                  </a:lnTo>
                  <a:lnTo>
                    <a:pt x="69" y="8"/>
                  </a:lnTo>
                  <a:lnTo>
                    <a:pt x="53" y="7"/>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9" name="Freeform 80">
              <a:extLst>
                <a:ext uri="{FF2B5EF4-FFF2-40B4-BE49-F238E27FC236}">
                  <a16:creationId xmlns:a16="http://schemas.microsoft.com/office/drawing/2014/main" id="{0BF79670-AA66-3B39-BC13-2F10FD4E2BDE}"/>
                </a:ext>
              </a:extLst>
            </p:cNvPr>
            <p:cNvSpPr>
              <a:spLocks/>
            </p:cNvSpPr>
            <p:nvPr/>
          </p:nvSpPr>
          <p:spPr bwMode="auto">
            <a:xfrm>
              <a:off x="2148" y="2519"/>
              <a:ext cx="141" cy="68"/>
            </a:xfrm>
            <a:custGeom>
              <a:avLst/>
              <a:gdLst>
                <a:gd name="T0" fmla="*/ 2878991 w 85"/>
                <a:gd name="T1" fmla="*/ 2 h 59"/>
                <a:gd name="T2" fmla="*/ 2878991 w 85"/>
                <a:gd name="T3" fmla="*/ 89 h 59"/>
                <a:gd name="T4" fmla="*/ 2614160 w 85"/>
                <a:gd name="T5" fmla="*/ 182 h 59"/>
                <a:gd name="T6" fmla="*/ 2144595 w 85"/>
                <a:gd name="T7" fmla="*/ 294 h 59"/>
                <a:gd name="T8" fmla="*/ 1575912 w 85"/>
                <a:gd name="T9" fmla="*/ 428 h 59"/>
                <a:gd name="T10" fmla="*/ 986829 w 85"/>
                <a:gd name="T11" fmla="*/ 568 h 59"/>
                <a:gd name="T12" fmla="*/ 495429 w 85"/>
                <a:gd name="T13" fmla="*/ 690 h 59"/>
                <a:gd name="T14" fmla="*/ 71877 w 85"/>
                <a:gd name="T15" fmla="*/ 902 h 59"/>
                <a:gd name="T16" fmla="*/ 0 w 85"/>
                <a:gd name="T17" fmla="*/ 1156 h 59"/>
                <a:gd name="T18" fmla="*/ 544238 w 85"/>
                <a:gd name="T19" fmla="*/ 1056 h 59"/>
                <a:gd name="T20" fmla="*/ 572706 w 85"/>
                <a:gd name="T21" fmla="*/ 1033 h 59"/>
                <a:gd name="T22" fmla="*/ 794518 w 85"/>
                <a:gd name="T23" fmla="*/ 902 h 59"/>
                <a:gd name="T24" fmla="*/ 1275833 w 85"/>
                <a:gd name="T25" fmla="*/ 783 h 59"/>
                <a:gd name="T26" fmla="*/ 1814589 w 85"/>
                <a:gd name="T27" fmla="*/ 674 h 59"/>
                <a:gd name="T28" fmla="*/ 2390096 w 85"/>
                <a:gd name="T29" fmla="*/ 520 h 59"/>
                <a:gd name="T30" fmla="*/ 2938929 w 85"/>
                <a:gd name="T31" fmla="*/ 391 h 59"/>
                <a:gd name="T32" fmla="*/ 3319634 w 85"/>
                <a:gd name="T33" fmla="*/ 242 h 59"/>
                <a:gd name="T34" fmla="*/ 3434334 w 85"/>
                <a:gd name="T35" fmla="*/ 0 h 59"/>
                <a:gd name="T36" fmla="*/ 3461437 w 85"/>
                <a:gd name="T37" fmla="*/ 2 h 59"/>
                <a:gd name="T38" fmla="*/ 2878991 w 85"/>
                <a:gd name="T39" fmla="*/ 2 h 59"/>
                <a:gd name="T40" fmla="*/ 2878991 w 85"/>
                <a:gd name="T41" fmla="*/ 3 h 59"/>
                <a:gd name="T42" fmla="*/ 2878991 w 85"/>
                <a:gd name="T43" fmla="*/ 89 h 59"/>
                <a:gd name="T44" fmla="*/ 2878991 w 85"/>
                <a:gd name="T45" fmla="*/ 2 h 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9"/>
                <a:gd name="T71" fmla="*/ 85 w 85"/>
                <a:gd name="T72" fmla="*/ 59 h 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9">
                  <a:moveTo>
                    <a:pt x="70" y="2"/>
                  </a:moveTo>
                  <a:lnTo>
                    <a:pt x="70" y="4"/>
                  </a:lnTo>
                  <a:lnTo>
                    <a:pt x="63" y="9"/>
                  </a:lnTo>
                  <a:lnTo>
                    <a:pt x="52" y="15"/>
                  </a:lnTo>
                  <a:lnTo>
                    <a:pt x="38" y="21"/>
                  </a:lnTo>
                  <a:lnTo>
                    <a:pt x="24" y="28"/>
                  </a:lnTo>
                  <a:lnTo>
                    <a:pt x="12" y="36"/>
                  </a:lnTo>
                  <a:lnTo>
                    <a:pt x="2" y="46"/>
                  </a:lnTo>
                  <a:lnTo>
                    <a:pt x="0" y="58"/>
                  </a:lnTo>
                  <a:lnTo>
                    <a:pt x="13" y="54"/>
                  </a:lnTo>
                  <a:lnTo>
                    <a:pt x="14" y="52"/>
                  </a:lnTo>
                  <a:lnTo>
                    <a:pt x="19" y="46"/>
                  </a:lnTo>
                  <a:lnTo>
                    <a:pt x="31" y="40"/>
                  </a:lnTo>
                  <a:lnTo>
                    <a:pt x="44" y="34"/>
                  </a:lnTo>
                  <a:lnTo>
                    <a:pt x="58" y="27"/>
                  </a:lnTo>
                  <a:lnTo>
                    <a:pt x="71" y="20"/>
                  </a:lnTo>
                  <a:lnTo>
                    <a:pt x="80" y="12"/>
                  </a:lnTo>
                  <a:lnTo>
                    <a:pt x="83" y="0"/>
                  </a:lnTo>
                  <a:lnTo>
                    <a:pt x="84" y="2"/>
                  </a:lnTo>
                  <a:lnTo>
                    <a:pt x="70" y="2"/>
                  </a:lnTo>
                  <a:lnTo>
                    <a:pt x="70" y="3"/>
                  </a:lnTo>
                  <a:lnTo>
                    <a:pt x="70" y="4"/>
                  </a:lnTo>
                  <a:lnTo>
                    <a:pt x="70"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0" name="Freeform 81">
              <a:extLst>
                <a:ext uri="{FF2B5EF4-FFF2-40B4-BE49-F238E27FC236}">
                  <a16:creationId xmlns:a16="http://schemas.microsoft.com/office/drawing/2014/main" id="{F6A10286-DF25-28F5-F44D-1663EE5438FE}"/>
                </a:ext>
              </a:extLst>
            </p:cNvPr>
            <p:cNvSpPr>
              <a:spLocks/>
            </p:cNvSpPr>
            <p:nvPr/>
          </p:nvSpPr>
          <p:spPr bwMode="auto">
            <a:xfrm>
              <a:off x="2264" y="2517"/>
              <a:ext cx="25" cy="6"/>
            </a:xfrm>
            <a:custGeom>
              <a:avLst/>
              <a:gdLst>
                <a:gd name="T0" fmla="*/ 0 w 15"/>
                <a:gd name="T1" fmla="*/ 179 h 5"/>
                <a:gd name="T2" fmla="*/ 0 w 15"/>
                <a:gd name="T3" fmla="*/ 2 h 5"/>
                <a:gd name="T4" fmla="*/ 0 w 15"/>
                <a:gd name="T5" fmla="*/ 149 h 5"/>
                <a:gd name="T6" fmla="*/ 621467 w 15"/>
                <a:gd name="T7" fmla="*/ 14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3"/>
                  </a:lnTo>
                  <a:lnTo>
                    <a:pt x="14" y="3"/>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1" name="Freeform 82">
              <a:extLst>
                <a:ext uri="{FF2B5EF4-FFF2-40B4-BE49-F238E27FC236}">
                  <a16:creationId xmlns:a16="http://schemas.microsoft.com/office/drawing/2014/main" id="{B27FA6BE-7BB9-A1A1-14F3-BBC613497C0C}"/>
                </a:ext>
              </a:extLst>
            </p:cNvPr>
            <p:cNvSpPr>
              <a:spLocks/>
            </p:cNvSpPr>
            <p:nvPr/>
          </p:nvSpPr>
          <p:spPr bwMode="auto">
            <a:xfrm>
              <a:off x="2114" y="2489"/>
              <a:ext cx="173" cy="34"/>
            </a:xfrm>
            <a:custGeom>
              <a:avLst/>
              <a:gdLst>
                <a:gd name="T0" fmla="*/ 0 w 105"/>
                <a:gd name="T1" fmla="*/ 61 h 30"/>
                <a:gd name="T2" fmla="*/ 262886 w 105"/>
                <a:gd name="T3" fmla="*/ 186 h 30"/>
                <a:gd name="T4" fmla="*/ 766270 w 105"/>
                <a:gd name="T5" fmla="*/ 264 h 30"/>
                <a:gd name="T6" fmla="*/ 1262521 w 105"/>
                <a:gd name="T7" fmla="*/ 298 h 30"/>
                <a:gd name="T8" fmla="*/ 1816719 w 105"/>
                <a:gd name="T9" fmla="*/ 299 h 30"/>
                <a:gd name="T10" fmla="*/ 2385467 w 105"/>
                <a:gd name="T11" fmla="*/ 307 h 30"/>
                <a:gd name="T12" fmla="*/ 2865936 w 105"/>
                <a:gd name="T13" fmla="*/ 339 h 30"/>
                <a:gd name="T14" fmla="*/ 3191916 w 105"/>
                <a:gd name="T15" fmla="*/ 383 h 30"/>
                <a:gd name="T16" fmla="*/ 3261172 w 105"/>
                <a:gd name="T17" fmla="*/ 394 h 30"/>
                <a:gd name="T18" fmla="*/ 3721278 w 105"/>
                <a:gd name="T19" fmla="*/ 339 h 30"/>
                <a:gd name="T20" fmla="*/ 3420932 w 105"/>
                <a:gd name="T21" fmla="*/ 211 h 30"/>
                <a:gd name="T22" fmla="*/ 2979100 w 105"/>
                <a:gd name="T23" fmla="*/ 164 h 30"/>
                <a:gd name="T24" fmla="*/ 2482473 w 105"/>
                <a:gd name="T25" fmla="*/ 128 h 30"/>
                <a:gd name="T26" fmla="*/ 1875692 w 105"/>
                <a:gd name="T27" fmla="*/ 113 h 30"/>
                <a:gd name="T28" fmla="*/ 1329942 w 105"/>
                <a:gd name="T29" fmla="*/ 100 h 30"/>
                <a:gd name="T30" fmla="*/ 875703 w 105"/>
                <a:gd name="T31" fmla="*/ 78 h 30"/>
                <a:gd name="T32" fmla="*/ 546820 w 105"/>
                <a:gd name="T33" fmla="*/ 3 h 30"/>
                <a:gd name="T34" fmla="*/ 465077 w 105"/>
                <a:gd name="T35" fmla="*/ 0 h 30"/>
                <a:gd name="T36" fmla="*/ 0 w 105"/>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7" y="14"/>
                  </a:lnTo>
                  <a:lnTo>
                    <a:pt x="21" y="19"/>
                  </a:lnTo>
                  <a:lnTo>
                    <a:pt x="35" y="21"/>
                  </a:lnTo>
                  <a:lnTo>
                    <a:pt x="51" y="22"/>
                  </a:lnTo>
                  <a:lnTo>
                    <a:pt x="67" y="23"/>
                  </a:lnTo>
                  <a:lnTo>
                    <a:pt x="80" y="25"/>
                  </a:lnTo>
                  <a:lnTo>
                    <a:pt x="89" y="27"/>
                  </a:lnTo>
                  <a:lnTo>
                    <a:pt x="91" y="29"/>
                  </a:lnTo>
                  <a:lnTo>
                    <a:pt x="104" y="25"/>
                  </a:lnTo>
                  <a:lnTo>
                    <a:pt x="95" y="16"/>
                  </a:lnTo>
                  <a:lnTo>
                    <a:pt x="83" y="12"/>
                  </a:lnTo>
                  <a:lnTo>
                    <a:pt x="69" y="10"/>
                  </a:lnTo>
                  <a:lnTo>
                    <a:pt x="52" y="9"/>
                  </a:lnTo>
                  <a:lnTo>
                    <a:pt x="37" y="8"/>
                  </a:lnTo>
                  <a:lnTo>
                    <a:pt x="24" y="6"/>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2" name="Freeform 83">
              <a:extLst>
                <a:ext uri="{FF2B5EF4-FFF2-40B4-BE49-F238E27FC236}">
                  <a16:creationId xmlns:a16="http://schemas.microsoft.com/office/drawing/2014/main" id="{A1B16F47-D160-0063-5A6F-6CB130C3C9DC}"/>
                </a:ext>
              </a:extLst>
            </p:cNvPr>
            <p:cNvSpPr>
              <a:spLocks/>
            </p:cNvSpPr>
            <p:nvPr/>
          </p:nvSpPr>
          <p:spPr bwMode="auto">
            <a:xfrm>
              <a:off x="2114" y="2422"/>
              <a:ext cx="138" cy="72"/>
            </a:xfrm>
            <a:custGeom>
              <a:avLst/>
              <a:gdLst>
                <a:gd name="T0" fmla="*/ 2353327 w 84"/>
                <a:gd name="T1" fmla="*/ 73 h 63"/>
                <a:gd name="T2" fmla="*/ 2294899 w 84"/>
                <a:gd name="T3" fmla="*/ 83 h 63"/>
                <a:gd name="T4" fmla="*/ 2114707 w 84"/>
                <a:gd name="T5" fmla="*/ 186 h 63"/>
                <a:gd name="T6" fmla="*/ 1748426 w 84"/>
                <a:gd name="T7" fmla="*/ 278 h 63"/>
                <a:gd name="T8" fmla="*/ 1275230 w 84"/>
                <a:gd name="T9" fmla="*/ 394 h 63"/>
                <a:gd name="T10" fmla="*/ 797119 w 84"/>
                <a:gd name="T11" fmla="*/ 530 h 63"/>
                <a:gd name="T12" fmla="*/ 410755 w 84"/>
                <a:gd name="T13" fmla="*/ 637 h 63"/>
                <a:gd name="T14" fmla="*/ 60339 w 84"/>
                <a:gd name="T15" fmla="*/ 808 h 63"/>
                <a:gd name="T16" fmla="*/ 0 w 84"/>
                <a:gd name="T17" fmla="*/ 1032 h 63"/>
                <a:gd name="T18" fmla="*/ 439537 w 84"/>
                <a:gd name="T19" fmla="*/ 951 h 63"/>
                <a:gd name="T20" fmla="*/ 472486 w 84"/>
                <a:gd name="T21" fmla="*/ 923 h 63"/>
                <a:gd name="T22" fmla="*/ 674812 w 84"/>
                <a:gd name="T23" fmla="*/ 823 h 63"/>
                <a:gd name="T24" fmla="*/ 1050389 w 84"/>
                <a:gd name="T25" fmla="*/ 707 h 63"/>
                <a:gd name="T26" fmla="*/ 1476779 w 84"/>
                <a:gd name="T27" fmla="*/ 605 h 63"/>
                <a:gd name="T28" fmla="*/ 1948925 w 84"/>
                <a:gd name="T29" fmla="*/ 474 h 63"/>
                <a:gd name="T30" fmla="*/ 2353327 w 84"/>
                <a:gd name="T31" fmla="*/ 345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3" name="Freeform 84">
              <a:extLst>
                <a:ext uri="{FF2B5EF4-FFF2-40B4-BE49-F238E27FC236}">
                  <a16:creationId xmlns:a16="http://schemas.microsoft.com/office/drawing/2014/main" id="{38F1C16D-8F69-AF50-1BB9-7E3FB60C6033}"/>
                </a:ext>
              </a:extLst>
            </p:cNvPr>
            <p:cNvSpPr>
              <a:spLocks/>
            </p:cNvSpPr>
            <p:nvPr/>
          </p:nvSpPr>
          <p:spPr bwMode="auto">
            <a:xfrm>
              <a:off x="2079" y="2393"/>
              <a:ext cx="173" cy="35"/>
            </a:xfrm>
            <a:custGeom>
              <a:avLst/>
              <a:gdLst>
                <a:gd name="T0" fmla="*/ 0 w 106"/>
                <a:gd name="T1" fmla="*/ 120 h 30"/>
                <a:gd name="T2" fmla="*/ 228735 w 106"/>
                <a:gd name="T3" fmla="*/ 358 h 30"/>
                <a:gd name="T4" fmla="*/ 609275 w 106"/>
                <a:gd name="T5" fmla="*/ 480 h 30"/>
                <a:gd name="T6" fmla="*/ 1059028 w 106"/>
                <a:gd name="T7" fmla="*/ 501 h 30"/>
                <a:gd name="T8" fmla="*/ 1530828 w 106"/>
                <a:gd name="T9" fmla="*/ 560 h 30"/>
                <a:gd name="T10" fmla="*/ 1989524 w 106"/>
                <a:gd name="T11" fmla="*/ 569 h 30"/>
                <a:gd name="T12" fmla="*/ 2370041 w 106"/>
                <a:gd name="T13" fmla="*/ 639 h 30"/>
                <a:gd name="T14" fmla="*/ 2648708 w 106"/>
                <a:gd name="T15" fmla="*/ 683 h 30"/>
                <a:gd name="T16" fmla="*/ 2702097 w 106"/>
                <a:gd name="T17" fmla="*/ 762 h 30"/>
                <a:gd name="T18" fmla="*/ 3075039 w 106"/>
                <a:gd name="T19" fmla="*/ 653 h 30"/>
                <a:gd name="T20" fmla="*/ 2841860 w 106"/>
                <a:gd name="T21" fmla="*/ 411 h 30"/>
                <a:gd name="T22" fmla="*/ 2468792 w 106"/>
                <a:gd name="T23" fmla="*/ 302 h 30"/>
                <a:gd name="T24" fmla="*/ 2027495 w 106"/>
                <a:gd name="T25" fmla="*/ 259 h 30"/>
                <a:gd name="T26" fmla="*/ 1568018 w 106"/>
                <a:gd name="T27" fmla="*/ 222 h 30"/>
                <a:gd name="T28" fmla="*/ 1112134 w 106"/>
                <a:gd name="T29" fmla="*/ 190 h 30"/>
                <a:gd name="T30" fmla="*/ 701815 w 106"/>
                <a:gd name="T31" fmla="*/ 140 h 30"/>
                <a:gd name="T32" fmla="*/ 430014 w 106"/>
                <a:gd name="T33" fmla="*/ 103 h 30"/>
                <a:gd name="T34" fmla="*/ 373313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1"/>
                  </a:lnTo>
                  <a:lnTo>
                    <a:pt x="68" y="22"/>
                  </a:lnTo>
                  <a:lnTo>
                    <a:pt x="81" y="24"/>
                  </a:lnTo>
                  <a:lnTo>
                    <a:pt x="90" y="27"/>
                  </a:lnTo>
                  <a:lnTo>
                    <a:pt x="92" y="29"/>
                  </a:lnTo>
                  <a:lnTo>
                    <a:pt x="105" y="25"/>
                  </a:lnTo>
                  <a:lnTo>
                    <a:pt x="97" y="15"/>
                  </a:lnTo>
                  <a:lnTo>
                    <a:pt x="84" y="11"/>
                  </a:lnTo>
                  <a:lnTo>
                    <a:pt x="69" y="9"/>
                  </a:lnTo>
                  <a:lnTo>
                    <a:pt x="53" y="8"/>
                  </a:lnTo>
                  <a:lnTo>
                    <a:pt x="38"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4" name="Freeform 85">
              <a:extLst>
                <a:ext uri="{FF2B5EF4-FFF2-40B4-BE49-F238E27FC236}">
                  <a16:creationId xmlns:a16="http://schemas.microsoft.com/office/drawing/2014/main" id="{B7426B58-B249-3FBD-1661-E0D8DA5CDB3C}"/>
                </a:ext>
              </a:extLst>
            </p:cNvPr>
            <p:cNvSpPr>
              <a:spLocks/>
            </p:cNvSpPr>
            <p:nvPr/>
          </p:nvSpPr>
          <p:spPr bwMode="auto">
            <a:xfrm>
              <a:off x="2079" y="2326"/>
              <a:ext cx="136" cy="73"/>
            </a:xfrm>
            <a:custGeom>
              <a:avLst/>
              <a:gdLst>
                <a:gd name="T0" fmla="*/ 2195491 w 83"/>
                <a:gd name="T1" fmla="*/ 3 h 63"/>
                <a:gd name="T2" fmla="*/ 2160471 w 83"/>
                <a:gd name="T3" fmla="*/ 109 h 63"/>
                <a:gd name="T4" fmla="*/ 1987493 w 83"/>
                <a:gd name="T5" fmla="*/ 247 h 63"/>
                <a:gd name="T6" fmla="*/ 1636031 w 83"/>
                <a:gd name="T7" fmla="*/ 384 h 63"/>
                <a:gd name="T8" fmla="*/ 1212955 w 83"/>
                <a:gd name="T9" fmla="*/ 530 h 63"/>
                <a:gd name="T10" fmla="*/ 761179 w 83"/>
                <a:gd name="T11" fmla="*/ 693 h 63"/>
                <a:gd name="T12" fmla="*/ 389068 w 83"/>
                <a:gd name="T13" fmla="*/ 854 h 63"/>
                <a:gd name="T14" fmla="*/ 56548 w 83"/>
                <a:gd name="T15" fmla="*/ 1078 h 63"/>
                <a:gd name="T16" fmla="*/ 0 w 83"/>
                <a:gd name="T17" fmla="*/ 1362 h 63"/>
                <a:gd name="T18" fmla="*/ 407626 w 83"/>
                <a:gd name="T19" fmla="*/ 1283 h 63"/>
                <a:gd name="T20" fmla="*/ 451776 w 83"/>
                <a:gd name="T21" fmla="*/ 1219 h 63"/>
                <a:gd name="T22" fmla="*/ 609354 w 83"/>
                <a:gd name="T23" fmla="*/ 1107 h 63"/>
                <a:gd name="T24" fmla="*/ 949754 w 83"/>
                <a:gd name="T25" fmla="*/ 955 h 63"/>
                <a:gd name="T26" fmla="*/ 1398653 w 83"/>
                <a:gd name="T27" fmla="*/ 803 h 63"/>
                <a:gd name="T28" fmla="*/ 1855348 w 83"/>
                <a:gd name="T29" fmla="*/ 636 h 63"/>
                <a:gd name="T30" fmla="*/ 2232686 w 83"/>
                <a:gd name="T31" fmla="*/ 457 h 63"/>
                <a:gd name="T32" fmla="*/ 2549956 w 83"/>
                <a:gd name="T33" fmla="*/ 286 h 63"/>
                <a:gd name="T34" fmla="*/ 2609697 w 83"/>
                <a:gd name="T35" fmla="*/ 0 h 63"/>
                <a:gd name="T36" fmla="*/ 2195491 w 83"/>
                <a:gd name="T37" fmla="*/ 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3"/>
                  </a:moveTo>
                  <a:lnTo>
                    <a:pt x="68" y="5"/>
                  </a:lnTo>
                  <a:lnTo>
                    <a:pt x="62" y="11"/>
                  </a:lnTo>
                  <a:lnTo>
                    <a:pt x="51" y="17"/>
                  </a:lnTo>
                  <a:lnTo>
                    <a:pt x="38" y="24"/>
                  </a:lnTo>
                  <a:lnTo>
                    <a:pt x="24" y="31"/>
                  </a:lnTo>
                  <a:lnTo>
                    <a:pt x="12" y="39"/>
                  </a:lnTo>
                  <a:lnTo>
                    <a:pt x="2" y="49"/>
                  </a:lnTo>
                  <a:lnTo>
                    <a:pt x="0" y="62"/>
                  </a:lnTo>
                  <a:lnTo>
                    <a:pt x="13" y="58"/>
                  </a:lnTo>
                  <a:lnTo>
                    <a:pt x="14" y="55"/>
                  </a:lnTo>
                  <a:lnTo>
                    <a:pt x="19" y="50"/>
                  </a:lnTo>
                  <a:lnTo>
                    <a:pt x="30" y="43"/>
                  </a:lnTo>
                  <a:lnTo>
                    <a:pt x="44" y="36"/>
                  </a:lnTo>
                  <a:lnTo>
                    <a:pt x="58" y="29"/>
                  </a:lnTo>
                  <a:lnTo>
                    <a:pt x="70" y="21"/>
                  </a:lnTo>
                  <a:lnTo>
                    <a:pt x="80" y="13"/>
                  </a:lnTo>
                  <a:lnTo>
                    <a:pt x="82" y="0"/>
                  </a:lnTo>
                  <a:lnTo>
                    <a:pt x="69"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5" name="Freeform 86">
              <a:extLst>
                <a:ext uri="{FF2B5EF4-FFF2-40B4-BE49-F238E27FC236}">
                  <a16:creationId xmlns:a16="http://schemas.microsoft.com/office/drawing/2014/main" id="{773C07FA-D34A-7D17-1384-943E09A66713}"/>
                </a:ext>
              </a:extLst>
            </p:cNvPr>
            <p:cNvSpPr>
              <a:spLocks/>
            </p:cNvSpPr>
            <p:nvPr/>
          </p:nvSpPr>
          <p:spPr bwMode="auto">
            <a:xfrm>
              <a:off x="2042" y="2241"/>
              <a:ext cx="173" cy="91"/>
            </a:xfrm>
            <a:custGeom>
              <a:avLst/>
              <a:gdLst>
                <a:gd name="T0" fmla="*/ 504969 w 105"/>
                <a:gd name="T1" fmla="*/ 1080 h 79"/>
                <a:gd name="T2" fmla="*/ 38304 w 105"/>
                <a:gd name="T3" fmla="*/ 1113 h 79"/>
                <a:gd name="T4" fmla="*/ 282272 w 105"/>
                <a:gd name="T5" fmla="*/ 1321 h 79"/>
                <a:gd name="T6" fmla="*/ 766270 w 105"/>
                <a:gd name="T7" fmla="*/ 1371 h 79"/>
                <a:gd name="T8" fmla="*/ 1329942 w 105"/>
                <a:gd name="T9" fmla="*/ 1433 h 79"/>
                <a:gd name="T10" fmla="*/ 1890361 w 105"/>
                <a:gd name="T11" fmla="*/ 1433 h 79"/>
                <a:gd name="T12" fmla="*/ 2445765 w 105"/>
                <a:gd name="T13" fmla="*/ 1433 h 79"/>
                <a:gd name="T14" fmla="*/ 2890764 w 105"/>
                <a:gd name="T15" fmla="*/ 1438 h 79"/>
                <a:gd name="T16" fmla="*/ 3191916 w 105"/>
                <a:gd name="T17" fmla="*/ 1477 h 79"/>
                <a:gd name="T18" fmla="*/ 3261172 w 105"/>
                <a:gd name="T19" fmla="*/ 1530 h 79"/>
                <a:gd name="T20" fmla="*/ 3721278 w 105"/>
                <a:gd name="T21" fmla="*/ 1438 h 79"/>
                <a:gd name="T22" fmla="*/ 3427301 w 105"/>
                <a:gd name="T23" fmla="*/ 1248 h 79"/>
                <a:gd name="T24" fmla="*/ 2979100 w 105"/>
                <a:gd name="T25" fmla="*/ 1189 h 79"/>
                <a:gd name="T26" fmla="*/ 2445765 w 105"/>
                <a:gd name="T27" fmla="*/ 1157 h 79"/>
                <a:gd name="T28" fmla="*/ 1890361 w 105"/>
                <a:gd name="T29" fmla="*/ 1153 h 79"/>
                <a:gd name="T30" fmla="*/ 1329942 w 105"/>
                <a:gd name="T31" fmla="*/ 1157 h 79"/>
                <a:gd name="T32" fmla="*/ 875703 w 105"/>
                <a:gd name="T33" fmla="*/ 1147 h 79"/>
                <a:gd name="T34" fmla="*/ 569066 w 105"/>
                <a:gd name="T35" fmla="*/ 1080 h 79"/>
                <a:gd name="T36" fmla="*/ 504969 w 105"/>
                <a:gd name="T37" fmla="*/ 1032 h 79"/>
                <a:gd name="T38" fmla="*/ 0 w 105"/>
                <a:gd name="T39" fmla="*/ 1080 h 79"/>
                <a:gd name="T40" fmla="*/ 504969 w 105"/>
                <a:gd name="T41" fmla="*/ 1032 h 79"/>
                <a:gd name="T42" fmla="*/ 0 w 105"/>
                <a:gd name="T43" fmla="*/ 0 h 79"/>
                <a:gd name="T44" fmla="*/ 0 w 105"/>
                <a:gd name="T45" fmla="*/ 1080 h 79"/>
                <a:gd name="T46" fmla="*/ 504969 w 105"/>
                <a:gd name="T47" fmla="*/ 1080 h 7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79"/>
                <a:gd name="T74" fmla="*/ 105 w 105"/>
                <a:gd name="T75" fmla="*/ 79 h 7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79">
                  <a:moveTo>
                    <a:pt x="14" y="55"/>
                  </a:moveTo>
                  <a:lnTo>
                    <a:pt x="1" y="57"/>
                  </a:lnTo>
                  <a:lnTo>
                    <a:pt x="8" y="67"/>
                  </a:lnTo>
                  <a:lnTo>
                    <a:pt x="21" y="71"/>
                  </a:lnTo>
                  <a:lnTo>
                    <a:pt x="37" y="73"/>
                  </a:lnTo>
                  <a:lnTo>
                    <a:pt x="53" y="73"/>
                  </a:lnTo>
                  <a:lnTo>
                    <a:pt x="68" y="73"/>
                  </a:lnTo>
                  <a:lnTo>
                    <a:pt x="81" y="74"/>
                  </a:lnTo>
                  <a:lnTo>
                    <a:pt x="89" y="76"/>
                  </a:lnTo>
                  <a:lnTo>
                    <a:pt x="91" y="78"/>
                  </a:lnTo>
                  <a:lnTo>
                    <a:pt x="104" y="74"/>
                  </a:lnTo>
                  <a:lnTo>
                    <a:pt x="96" y="64"/>
                  </a:lnTo>
                  <a:lnTo>
                    <a:pt x="83" y="61"/>
                  </a:lnTo>
                  <a:lnTo>
                    <a:pt x="68" y="60"/>
                  </a:lnTo>
                  <a:lnTo>
                    <a:pt x="53" y="59"/>
                  </a:lnTo>
                  <a:lnTo>
                    <a:pt x="37" y="60"/>
                  </a:lnTo>
                  <a:lnTo>
                    <a:pt x="24" y="58"/>
                  </a:lnTo>
                  <a:lnTo>
                    <a:pt x="16" y="55"/>
                  </a:lnTo>
                  <a:lnTo>
                    <a:pt x="14" y="53"/>
                  </a:lnTo>
                  <a:lnTo>
                    <a:pt x="0" y="55"/>
                  </a:lnTo>
                  <a:lnTo>
                    <a:pt x="14" y="53"/>
                  </a:lnTo>
                  <a:lnTo>
                    <a:pt x="0" y="0"/>
                  </a:lnTo>
                  <a:lnTo>
                    <a:pt x="0" y="55"/>
                  </a:lnTo>
                  <a:lnTo>
                    <a:pt x="14" y="5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6" name="Freeform 87">
              <a:extLst>
                <a:ext uri="{FF2B5EF4-FFF2-40B4-BE49-F238E27FC236}">
                  <a16:creationId xmlns:a16="http://schemas.microsoft.com/office/drawing/2014/main" id="{92010B4B-1244-1CAD-47F7-86436288E25F}"/>
                </a:ext>
              </a:extLst>
            </p:cNvPr>
            <p:cNvSpPr>
              <a:spLocks/>
            </p:cNvSpPr>
            <p:nvPr/>
          </p:nvSpPr>
          <p:spPr bwMode="auto">
            <a:xfrm>
              <a:off x="2042" y="2304"/>
              <a:ext cx="26" cy="54"/>
            </a:xfrm>
            <a:custGeom>
              <a:avLst/>
              <a:gdLst>
                <a:gd name="T0" fmla="*/ 30347 w 16"/>
                <a:gd name="T1" fmla="*/ 79 h 47"/>
                <a:gd name="T2" fmla="*/ 392938 w 16"/>
                <a:gd name="T3" fmla="*/ 2 h 47"/>
                <a:gd name="T4" fmla="*/ 392938 w 16"/>
                <a:gd name="T5" fmla="*/ 1 h 47"/>
                <a:gd name="T6" fmla="*/ 0 w 16"/>
                <a:gd name="T7" fmla="*/ 1 h 47"/>
                <a:gd name="T8" fmla="*/ 0 w 16"/>
                <a:gd name="T9" fmla="*/ 2 h 47"/>
                <a:gd name="T10" fmla="*/ 373888 w 16"/>
                <a:gd name="T11" fmla="*/ 0 h 47"/>
                <a:gd name="T12" fmla="*/ 30347 w 16"/>
                <a:gd name="T13" fmla="*/ 79 h 47"/>
                <a:gd name="T14" fmla="*/ 392938 w 16"/>
                <a:gd name="T15" fmla="*/ 853 h 47"/>
                <a:gd name="T16" fmla="*/ 392938 w 16"/>
                <a:gd name="T17" fmla="*/ 2 h 47"/>
                <a:gd name="T18" fmla="*/ 30347 w 16"/>
                <a:gd name="T19" fmla="*/ 79 h 4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47"/>
                <a:gd name="T32" fmla="*/ 16 w 16"/>
                <a:gd name="T33" fmla="*/ 47 h 4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47">
                  <a:moveTo>
                    <a:pt x="1" y="4"/>
                  </a:moveTo>
                  <a:lnTo>
                    <a:pt x="15" y="2"/>
                  </a:lnTo>
                  <a:lnTo>
                    <a:pt x="15" y="1"/>
                  </a:lnTo>
                  <a:lnTo>
                    <a:pt x="0" y="1"/>
                  </a:lnTo>
                  <a:lnTo>
                    <a:pt x="0" y="2"/>
                  </a:lnTo>
                  <a:lnTo>
                    <a:pt x="14" y="0"/>
                  </a:lnTo>
                  <a:lnTo>
                    <a:pt x="1" y="4"/>
                  </a:lnTo>
                  <a:lnTo>
                    <a:pt x="15" y="46"/>
                  </a:lnTo>
                  <a:lnTo>
                    <a:pt x="15" y="2"/>
                  </a:lnTo>
                  <a:lnTo>
                    <a:pt x="1"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7" name="Freeform 88">
              <a:extLst>
                <a:ext uri="{FF2B5EF4-FFF2-40B4-BE49-F238E27FC236}">
                  <a16:creationId xmlns:a16="http://schemas.microsoft.com/office/drawing/2014/main" id="{526B3520-CCE9-B4B5-B086-0C148E90CD4E}"/>
                </a:ext>
              </a:extLst>
            </p:cNvPr>
            <p:cNvSpPr>
              <a:spLocks/>
            </p:cNvSpPr>
            <p:nvPr/>
          </p:nvSpPr>
          <p:spPr bwMode="auto">
            <a:xfrm>
              <a:off x="2043" y="2235"/>
              <a:ext cx="137" cy="74"/>
            </a:xfrm>
            <a:custGeom>
              <a:avLst/>
              <a:gdLst>
                <a:gd name="T0" fmla="*/ 2566051 w 83"/>
                <a:gd name="T1" fmla="*/ 93 h 64"/>
                <a:gd name="T2" fmla="*/ 2566051 w 83"/>
                <a:gd name="T3" fmla="*/ 125 h 64"/>
                <a:gd name="T4" fmla="*/ 2349936 w 83"/>
                <a:gd name="T5" fmla="*/ 224 h 64"/>
                <a:gd name="T6" fmla="*/ 1894573 w 83"/>
                <a:gd name="T7" fmla="*/ 325 h 64"/>
                <a:gd name="T8" fmla="*/ 1385413 w 83"/>
                <a:gd name="T9" fmla="*/ 443 h 64"/>
                <a:gd name="T10" fmla="*/ 802089 w 83"/>
                <a:gd name="T11" fmla="*/ 592 h 64"/>
                <a:gd name="T12" fmla="*/ 339412 w 83"/>
                <a:gd name="T13" fmla="*/ 778 h 64"/>
                <a:gd name="T14" fmla="*/ 0 w 83"/>
                <a:gd name="T15" fmla="*/ 1015 h 64"/>
                <a:gd name="T16" fmla="*/ 0 w 83"/>
                <a:gd name="T17" fmla="*/ 1319 h 64"/>
                <a:gd name="T18" fmla="*/ 480180 w 83"/>
                <a:gd name="T19" fmla="*/ 1234 h 64"/>
                <a:gd name="T20" fmla="*/ 480180 w 83"/>
                <a:gd name="T21" fmla="*/ 1129 h 64"/>
                <a:gd name="T22" fmla="*/ 695387 w 83"/>
                <a:gd name="T23" fmla="*/ 977 h 64"/>
                <a:gd name="T24" fmla="*/ 1077345 w 83"/>
                <a:gd name="T25" fmla="*/ 844 h 64"/>
                <a:gd name="T26" fmla="*/ 1599909 w 83"/>
                <a:gd name="T27" fmla="*/ 716 h 64"/>
                <a:gd name="T28" fmla="*/ 2072477 w 83"/>
                <a:gd name="T29" fmla="*/ 582 h 64"/>
                <a:gd name="T30" fmla="*/ 2566051 w 83"/>
                <a:gd name="T31" fmla="*/ 443 h 64"/>
                <a:gd name="T32" fmla="*/ 2935213 w 83"/>
                <a:gd name="T33" fmla="*/ 281 h 64"/>
                <a:gd name="T34" fmla="*/ 3041930 w 83"/>
                <a:gd name="T35" fmla="*/ 0 h 64"/>
                <a:gd name="T36" fmla="*/ 2566051 w 83"/>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9" y="6"/>
                  </a:lnTo>
                  <a:lnTo>
                    <a:pt x="63" y="10"/>
                  </a:lnTo>
                  <a:lnTo>
                    <a:pt x="51" y="15"/>
                  </a:lnTo>
                  <a:lnTo>
                    <a:pt x="37" y="21"/>
                  </a:lnTo>
                  <a:lnTo>
                    <a:pt x="22" y="28"/>
                  </a:lnTo>
                  <a:lnTo>
                    <a:pt x="9" y="36"/>
                  </a:lnTo>
                  <a:lnTo>
                    <a:pt x="0" y="48"/>
                  </a:lnTo>
                  <a:lnTo>
                    <a:pt x="0" y="63"/>
                  </a:lnTo>
                  <a:lnTo>
                    <a:pt x="13" y="59"/>
                  </a:lnTo>
                  <a:lnTo>
                    <a:pt x="13" y="53"/>
                  </a:lnTo>
                  <a:lnTo>
                    <a:pt x="19" y="47"/>
                  </a:lnTo>
                  <a:lnTo>
                    <a:pt x="29" y="40"/>
                  </a:lnTo>
                  <a:lnTo>
                    <a:pt x="43" y="34"/>
                  </a:lnTo>
                  <a:lnTo>
                    <a:pt x="56" y="27"/>
                  </a:lnTo>
                  <a:lnTo>
                    <a:pt x="69"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8" name="Freeform 89">
              <a:extLst>
                <a:ext uri="{FF2B5EF4-FFF2-40B4-BE49-F238E27FC236}">
                  <a16:creationId xmlns:a16="http://schemas.microsoft.com/office/drawing/2014/main" id="{812A9102-FEB8-E94A-5615-A2023686B982}"/>
                </a:ext>
              </a:extLst>
            </p:cNvPr>
            <p:cNvSpPr>
              <a:spLocks/>
            </p:cNvSpPr>
            <p:nvPr/>
          </p:nvSpPr>
          <p:spPr bwMode="auto">
            <a:xfrm>
              <a:off x="2005" y="2208"/>
              <a:ext cx="175" cy="33"/>
            </a:xfrm>
            <a:custGeom>
              <a:avLst/>
              <a:gdLst>
                <a:gd name="T0" fmla="*/ 0 w 106"/>
                <a:gd name="T1" fmla="*/ 68 h 29"/>
                <a:gd name="T2" fmla="*/ 291842 w 106"/>
                <a:gd name="T3" fmla="*/ 207 h 29"/>
                <a:gd name="T4" fmla="*/ 795449 w 106"/>
                <a:gd name="T5" fmla="*/ 269 h 29"/>
                <a:gd name="T6" fmla="*/ 1328805 w 106"/>
                <a:gd name="T7" fmla="*/ 306 h 29"/>
                <a:gd name="T8" fmla="*/ 1941196 w 106"/>
                <a:gd name="T9" fmla="*/ 316 h 29"/>
                <a:gd name="T10" fmla="*/ 2508326 w 106"/>
                <a:gd name="T11" fmla="*/ 320 h 29"/>
                <a:gd name="T12" fmla="*/ 3033331 w 106"/>
                <a:gd name="T13" fmla="*/ 360 h 29"/>
                <a:gd name="T14" fmla="*/ 3369257 w 106"/>
                <a:gd name="T15" fmla="*/ 396 h 29"/>
                <a:gd name="T16" fmla="*/ 3435385 w 106"/>
                <a:gd name="T17" fmla="*/ 414 h 29"/>
                <a:gd name="T18" fmla="*/ 3917132 w 106"/>
                <a:gd name="T19" fmla="*/ 360 h 29"/>
                <a:gd name="T20" fmla="*/ 3621810 w 106"/>
                <a:gd name="T21" fmla="*/ 217 h 29"/>
                <a:gd name="T22" fmla="*/ 3136520 w 106"/>
                <a:gd name="T23" fmla="*/ 168 h 29"/>
                <a:gd name="T24" fmla="*/ 2573651 w 106"/>
                <a:gd name="T25" fmla="*/ 130 h 29"/>
                <a:gd name="T26" fmla="*/ 1984779 w 106"/>
                <a:gd name="T27" fmla="*/ 114 h 29"/>
                <a:gd name="T28" fmla="*/ 1427982 w 106"/>
                <a:gd name="T29" fmla="*/ 100 h 29"/>
                <a:gd name="T30" fmla="*/ 904506 w 106"/>
                <a:gd name="T31" fmla="*/ 77 h 29"/>
                <a:gd name="T32" fmla="*/ 563155 w 106"/>
                <a:gd name="T33" fmla="*/ 2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1" y="18"/>
                  </a:lnTo>
                  <a:lnTo>
                    <a:pt x="36" y="20"/>
                  </a:lnTo>
                  <a:lnTo>
                    <a:pt x="52" y="21"/>
                  </a:lnTo>
                  <a:lnTo>
                    <a:pt x="67" y="22"/>
                  </a:lnTo>
                  <a:lnTo>
                    <a:pt x="81" y="24"/>
                  </a:lnTo>
                  <a:lnTo>
                    <a:pt x="90" y="26"/>
                  </a:lnTo>
                  <a:lnTo>
                    <a:pt x="92" y="28"/>
                  </a:lnTo>
                  <a:lnTo>
                    <a:pt x="105" y="24"/>
                  </a:lnTo>
                  <a:lnTo>
                    <a:pt x="97" y="15"/>
                  </a:lnTo>
                  <a:lnTo>
                    <a:pt x="84" y="11"/>
                  </a:lnTo>
                  <a:lnTo>
                    <a:pt x="69" y="9"/>
                  </a:lnTo>
                  <a:lnTo>
                    <a:pt x="53" y="8"/>
                  </a:lnTo>
                  <a:lnTo>
                    <a:pt x="38"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9" name="Freeform 90">
              <a:extLst>
                <a:ext uri="{FF2B5EF4-FFF2-40B4-BE49-F238E27FC236}">
                  <a16:creationId xmlns:a16="http://schemas.microsoft.com/office/drawing/2014/main" id="{DD343A07-6614-6F03-40C0-4DFE7A6E9CAB}"/>
                </a:ext>
              </a:extLst>
            </p:cNvPr>
            <p:cNvSpPr>
              <a:spLocks/>
            </p:cNvSpPr>
            <p:nvPr/>
          </p:nvSpPr>
          <p:spPr bwMode="auto">
            <a:xfrm>
              <a:off x="2005" y="2140"/>
              <a:ext cx="139" cy="72"/>
            </a:xfrm>
            <a:custGeom>
              <a:avLst/>
              <a:gdLst>
                <a:gd name="T0" fmla="*/ 2750315 w 84"/>
                <a:gd name="T1" fmla="*/ 73 h 63"/>
                <a:gd name="T2" fmla="*/ 2707808 w 84"/>
                <a:gd name="T3" fmla="*/ 83 h 63"/>
                <a:gd name="T4" fmla="*/ 2468110 w 84"/>
                <a:gd name="T5" fmla="*/ 186 h 63"/>
                <a:gd name="T6" fmla="*/ 2035863 w 84"/>
                <a:gd name="T7" fmla="*/ 278 h 63"/>
                <a:gd name="T8" fmla="*/ 1491520 w 84"/>
                <a:gd name="T9" fmla="*/ 415 h 63"/>
                <a:gd name="T10" fmla="*/ 941823 w 84"/>
                <a:gd name="T11" fmla="*/ 530 h 63"/>
                <a:gd name="T12" fmla="*/ 477822 w 84"/>
                <a:gd name="T13" fmla="*/ 637 h 63"/>
                <a:gd name="T14" fmla="*/ 68952 w 84"/>
                <a:gd name="T15" fmla="*/ 808 h 63"/>
                <a:gd name="T16" fmla="*/ 0 w 84"/>
                <a:gd name="T17" fmla="*/ 1032 h 63"/>
                <a:gd name="T18" fmla="*/ 516999 w 84"/>
                <a:gd name="T19" fmla="*/ 951 h 63"/>
                <a:gd name="T20" fmla="*/ 544701 w 84"/>
                <a:gd name="T21" fmla="*/ 923 h 63"/>
                <a:gd name="T22" fmla="*/ 790682 w 84"/>
                <a:gd name="T23" fmla="*/ 823 h 63"/>
                <a:gd name="T24" fmla="*/ 1203808 w 84"/>
                <a:gd name="T25" fmla="*/ 707 h 63"/>
                <a:gd name="T26" fmla="*/ 1747280 w 84"/>
                <a:gd name="T27" fmla="*/ 605 h 63"/>
                <a:gd name="T28" fmla="*/ 2275245 w 84"/>
                <a:gd name="T29" fmla="*/ 474 h 63"/>
                <a:gd name="T30" fmla="*/ 2779699 w 84"/>
                <a:gd name="T31" fmla="*/ 345 h 63"/>
                <a:gd name="T32" fmla="*/ 3123646 w 84"/>
                <a:gd name="T33" fmla="*/ 213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11"/>
                  </a:lnTo>
                  <a:lnTo>
                    <a:pt x="52" y="17"/>
                  </a:lnTo>
                  <a:lnTo>
                    <a:pt x="38" y="25"/>
                  </a:lnTo>
                  <a:lnTo>
                    <a:pt x="24" y="32"/>
                  </a:lnTo>
                  <a:lnTo>
                    <a:pt x="12" y="39"/>
                  </a:lnTo>
                  <a:lnTo>
                    <a:pt x="2" y="49"/>
                  </a:lnTo>
                  <a:lnTo>
                    <a:pt x="0" y="62"/>
                  </a:lnTo>
                  <a:lnTo>
                    <a:pt x="13" y="58"/>
                  </a:lnTo>
                  <a:lnTo>
                    <a:pt x="14" y="56"/>
                  </a:lnTo>
                  <a:lnTo>
                    <a:pt x="20" y="50"/>
                  </a:lnTo>
                  <a:lnTo>
                    <a:pt x="31" y="43"/>
                  </a:lnTo>
                  <a:lnTo>
                    <a:pt x="45" y="36"/>
                  </a:lnTo>
                  <a:lnTo>
                    <a:pt x="58" y="29"/>
                  </a:lnTo>
                  <a:lnTo>
                    <a:pt x="71"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0" name="Freeform 91">
              <a:extLst>
                <a:ext uri="{FF2B5EF4-FFF2-40B4-BE49-F238E27FC236}">
                  <a16:creationId xmlns:a16="http://schemas.microsoft.com/office/drawing/2014/main" id="{339AA2B1-9AA0-DF23-197B-058F8EBF7C7D}"/>
                </a:ext>
              </a:extLst>
            </p:cNvPr>
            <p:cNvSpPr>
              <a:spLocks/>
            </p:cNvSpPr>
            <p:nvPr/>
          </p:nvSpPr>
          <p:spPr bwMode="auto">
            <a:xfrm>
              <a:off x="1971" y="2113"/>
              <a:ext cx="173" cy="33"/>
            </a:xfrm>
            <a:custGeom>
              <a:avLst/>
              <a:gdLst>
                <a:gd name="T0" fmla="*/ 63110 w 105"/>
                <a:gd name="T1" fmla="*/ 288 h 28"/>
                <a:gd name="T2" fmla="*/ 0 w 105"/>
                <a:gd name="T3" fmla="*/ 207 h 28"/>
                <a:gd name="T4" fmla="*/ 282272 w 105"/>
                <a:gd name="T5" fmla="*/ 471 h 28"/>
                <a:gd name="T6" fmla="*/ 766270 w 105"/>
                <a:gd name="T7" fmla="*/ 555 h 28"/>
                <a:gd name="T8" fmla="*/ 1283006 w 105"/>
                <a:gd name="T9" fmla="*/ 608 h 28"/>
                <a:gd name="T10" fmla="*/ 1816719 w 105"/>
                <a:gd name="T11" fmla="*/ 639 h 28"/>
                <a:gd name="T12" fmla="*/ 2385467 w 105"/>
                <a:gd name="T13" fmla="*/ 639 h 28"/>
                <a:gd name="T14" fmla="*/ 2890764 w 105"/>
                <a:gd name="T15" fmla="*/ 717 h 28"/>
                <a:gd name="T16" fmla="*/ 3191916 w 105"/>
                <a:gd name="T17" fmla="*/ 771 h 28"/>
                <a:gd name="T18" fmla="*/ 3261172 w 105"/>
                <a:gd name="T19" fmla="*/ 853 h 28"/>
                <a:gd name="T20" fmla="*/ 3721278 w 105"/>
                <a:gd name="T21" fmla="*/ 724 h 28"/>
                <a:gd name="T22" fmla="*/ 3420932 w 105"/>
                <a:gd name="T23" fmla="*/ 400 h 28"/>
                <a:gd name="T24" fmla="*/ 2979100 w 105"/>
                <a:gd name="T25" fmla="*/ 288 h 28"/>
                <a:gd name="T26" fmla="*/ 2445765 w 105"/>
                <a:gd name="T27" fmla="*/ 207 h 28"/>
                <a:gd name="T28" fmla="*/ 1816719 w 105"/>
                <a:gd name="T29" fmla="*/ 207 h 28"/>
                <a:gd name="T30" fmla="*/ 1283006 w 105"/>
                <a:gd name="T31" fmla="*/ 176 h 28"/>
                <a:gd name="T32" fmla="*/ 778703 w 105"/>
                <a:gd name="T33" fmla="*/ 149 h 28"/>
                <a:gd name="T34" fmla="*/ 504969 w 105"/>
                <a:gd name="T35" fmla="*/ 107 h 28"/>
                <a:gd name="T36" fmla="*/ 465077 w 105"/>
                <a:gd name="T37" fmla="*/ 107 h 28"/>
                <a:gd name="T38" fmla="*/ 392270 w 105"/>
                <a:gd name="T39" fmla="*/ 0 h 28"/>
                <a:gd name="T40" fmla="*/ 465077 w 105"/>
                <a:gd name="T41" fmla="*/ 107 h 28"/>
                <a:gd name="T42" fmla="*/ 433136 w 105"/>
                <a:gd name="T43" fmla="*/ 1 h 28"/>
                <a:gd name="T44" fmla="*/ 392270 w 105"/>
                <a:gd name="T45" fmla="*/ 0 h 28"/>
                <a:gd name="T46" fmla="*/ 63110 w 105"/>
                <a:gd name="T47" fmla="*/ 288 h 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28"/>
                <a:gd name="T74" fmla="*/ 105 w 105"/>
                <a:gd name="T75" fmla="*/ 28 h 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28">
                  <a:moveTo>
                    <a:pt x="2" y="9"/>
                  </a:moveTo>
                  <a:lnTo>
                    <a:pt x="0" y="7"/>
                  </a:lnTo>
                  <a:lnTo>
                    <a:pt x="8" y="15"/>
                  </a:lnTo>
                  <a:lnTo>
                    <a:pt x="21" y="18"/>
                  </a:lnTo>
                  <a:lnTo>
                    <a:pt x="36" y="19"/>
                  </a:lnTo>
                  <a:lnTo>
                    <a:pt x="51" y="20"/>
                  </a:lnTo>
                  <a:lnTo>
                    <a:pt x="67" y="20"/>
                  </a:lnTo>
                  <a:lnTo>
                    <a:pt x="81" y="22"/>
                  </a:lnTo>
                  <a:lnTo>
                    <a:pt x="89" y="25"/>
                  </a:lnTo>
                  <a:lnTo>
                    <a:pt x="91" y="27"/>
                  </a:lnTo>
                  <a:lnTo>
                    <a:pt x="104" y="23"/>
                  </a:lnTo>
                  <a:lnTo>
                    <a:pt x="95" y="13"/>
                  </a:lnTo>
                  <a:lnTo>
                    <a:pt x="83" y="9"/>
                  </a:lnTo>
                  <a:lnTo>
                    <a:pt x="68" y="7"/>
                  </a:lnTo>
                  <a:lnTo>
                    <a:pt x="51" y="7"/>
                  </a:lnTo>
                  <a:lnTo>
                    <a:pt x="36" y="6"/>
                  </a:lnTo>
                  <a:lnTo>
                    <a:pt x="22" y="5"/>
                  </a:lnTo>
                  <a:lnTo>
                    <a:pt x="14" y="3"/>
                  </a:lnTo>
                  <a:lnTo>
                    <a:pt x="13" y="3"/>
                  </a:lnTo>
                  <a:lnTo>
                    <a:pt x="11" y="0"/>
                  </a:lnTo>
                  <a:lnTo>
                    <a:pt x="13" y="3"/>
                  </a:lnTo>
                  <a:lnTo>
                    <a:pt x="12" y="1"/>
                  </a:lnTo>
                  <a:lnTo>
                    <a:pt x="11" y="0"/>
                  </a:lnTo>
                  <a:lnTo>
                    <a:pt x="2"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1" name="Freeform 92">
              <a:extLst>
                <a:ext uri="{FF2B5EF4-FFF2-40B4-BE49-F238E27FC236}">
                  <a16:creationId xmlns:a16="http://schemas.microsoft.com/office/drawing/2014/main" id="{C6ADBE7F-1D62-B96E-80B8-00C0EF9FF3FC}"/>
                </a:ext>
              </a:extLst>
            </p:cNvPr>
            <p:cNvSpPr>
              <a:spLocks/>
            </p:cNvSpPr>
            <p:nvPr/>
          </p:nvSpPr>
          <p:spPr bwMode="auto">
            <a:xfrm>
              <a:off x="1971" y="2113"/>
              <a:ext cx="24" cy="12"/>
            </a:xfrm>
            <a:custGeom>
              <a:avLst/>
              <a:gdLst>
                <a:gd name="T0" fmla="*/ 0 w 14"/>
                <a:gd name="T1" fmla="*/ 258 h 10"/>
                <a:gd name="T2" fmla="*/ 145358 w 14"/>
                <a:gd name="T3" fmla="*/ 434 h 10"/>
                <a:gd name="T4" fmla="*/ 249185 w 14"/>
                <a:gd name="T5" fmla="*/ 434 h 10"/>
                <a:gd name="T6" fmla="*/ 1012678 w 14"/>
                <a:gd name="T7" fmla="*/ 1 h 10"/>
                <a:gd name="T8" fmla="*/ 935321 w 14"/>
                <a:gd name="T9" fmla="*/ 0 h 10"/>
                <a:gd name="T10" fmla="*/ 1057803 w 14"/>
                <a:gd name="T11" fmla="*/ 149 h 10"/>
                <a:gd name="T12" fmla="*/ 0 w 14"/>
                <a:gd name="T13" fmla="*/ 258 h 10"/>
                <a:gd name="T14" fmla="*/ 84792 w 14"/>
                <a:gd name="T15" fmla="*/ 310 h 10"/>
                <a:gd name="T16" fmla="*/ 145358 w 14"/>
                <a:gd name="T17" fmla="*/ 434 h 10"/>
                <a:gd name="T18" fmla="*/ 0 w 14"/>
                <a:gd name="T19" fmla="*/ 258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0"/>
                <a:gd name="T32" fmla="*/ 14 w 14"/>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0">
                  <a:moveTo>
                    <a:pt x="0" y="6"/>
                  </a:moveTo>
                  <a:lnTo>
                    <a:pt x="2" y="9"/>
                  </a:lnTo>
                  <a:lnTo>
                    <a:pt x="3" y="9"/>
                  </a:lnTo>
                  <a:lnTo>
                    <a:pt x="12" y="1"/>
                  </a:lnTo>
                  <a:lnTo>
                    <a:pt x="11" y="0"/>
                  </a:lnTo>
                  <a:lnTo>
                    <a:pt x="13" y="3"/>
                  </a:lnTo>
                  <a:lnTo>
                    <a:pt x="0" y="6"/>
                  </a:lnTo>
                  <a:lnTo>
                    <a:pt x="1" y="7"/>
                  </a:lnTo>
                  <a:lnTo>
                    <a:pt x="2" y="9"/>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2" name="Freeform 93">
              <a:extLst>
                <a:ext uri="{FF2B5EF4-FFF2-40B4-BE49-F238E27FC236}">
                  <a16:creationId xmlns:a16="http://schemas.microsoft.com/office/drawing/2014/main" id="{6C94682C-6B88-6632-968A-2F67DD598AC5}"/>
                </a:ext>
              </a:extLst>
            </p:cNvPr>
            <p:cNvSpPr>
              <a:spLocks/>
            </p:cNvSpPr>
            <p:nvPr/>
          </p:nvSpPr>
          <p:spPr bwMode="auto">
            <a:xfrm>
              <a:off x="1971" y="2049"/>
              <a:ext cx="134" cy="73"/>
            </a:xfrm>
            <a:custGeom>
              <a:avLst/>
              <a:gdLst>
                <a:gd name="T0" fmla="*/ 2617430 w 81"/>
                <a:gd name="T1" fmla="*/ 3 h 63"/>
                <a:gd name="T2" fmla="*/ 2567830 w 81"/>
                <a:gd name="T3" fmla="*/ 126 h 63"/>
                <a:gd name="T4" fmla="*/ 2331846 w 81"/>
                <a:gd name="T5" fmla="*/ 263 h 63"/>
                <a:gd name="T6" fmla="*/ 1957614 w 81"/>
                <a:gd name="T7" fmla="*/ 409 h 63"/>
                <a:gd name="T8" fmla="*/ 1438593 w 81"/>
                <a:gd name="T9" fmla="*/ 594 h 63"/>
                <a:gd name="T10" fmla="*/ 938268 w 81"/>
                <a:gd name="T11" fmla="*/ 732 h 63"/>
                <a:gd name="T12" fmla="*/ 475903 w 81"/>
                <a:gd name="T13" fmla="*/ 924 h 63"/>
                <a:gd name="T14" fmla="*/ 113758 w 81"/>
                <a:gd name="T15" fmla="*/ 1078 h 63"/>
                <a:gd name="T16" fmla="*/ 0 w 81"/>
                <a:gd name="T17" fmla="*/ 1362 h 63"/>
                <a:gd name="T18" fmla="*/ 515040 w 81"/>
                <a:gd name="T19" fmla="*/ 1283 h 63"/>
                <a:gd name="T20" fmla="*/ 541520 w 81"/>
                <a:gd name="T21" fmla="*/ 1249 h 63"/>
                <a:gd name="T22" fmla="*/ 723636 w 81"/>
                <a:gd name="T23" fmla="*/ 1147 h 63"/>
                <a:gd name="T24" fmla="*/ 1197126 w 81"/>
                <a:gd name="T25" fmla="*/ 990 h 63"/>
                <a:gd name="T26" fmla="*/ 1669796 w 81"/>
                <a:gd name="T27" fmla="*/ 848 h 63"/>
                <a:gd name="T28" fmla="*/ 2221424 w 81"/>
                <a:gd name="T29" fmla="*/ 693 h 63"/>
                <a:gd name="T30" fmla="*/ 2697708 w 81"/>
                <a:gd name="T31" fmla="*/ 474 h 63"/>
                <a:gd name="T32" fmla="*/ 3029758 w 81"/>
                <a:gd name="T33" fmla="*/ 286 h 63"/>
                <a:gd name="T34" fmla="*/ 3108525 w 81"/>
                <a:gd name="T35" fmla="*/ 0 h 63"/>
                <a:gd name="T36" fmla="*/ 2617430 w 81"/>
                <a:gd name="T37" fmla="*/ 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3"/>
                <a:gd name="T59" fmla="*/ 81 w 81"/>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3">
                  <a:moveTo>
                    <a:pt x="67" y="3"/>
                  </a:moveTo>
                  <a:lnTo>
                    <a:pt x="66" y="6"/>
                  </a:lnTo>
                  <a:lnTo>
                    <a:pt x="60" y="12"/>
                  </a:lnTo>
                  <a:lnTo>
                    <a:pt x="50" y="19"/>
                  </a:lnTo>
                  <a:lnTo>
                    <a:pt x="37" y="26"/>
                  </a:lnTo>
                  <a:lnTo>
                    <a:pt x="24" y="33"/>
                  </a:lnTo>
                  <a:lnTo>
                    <a:pt x="12" y="41"/>
                  </a:lnTo>
                  <a:lnTo>
                    <a:pt x="3" y="49"/>
                  </a:lnTo>
                  <a:lnTo>
                    <a:pt x="0" y="62"/>
                  </a:lnTo>
                  <a:lnTo>
                    <a:pt x="13" y="58"/>
                  </a:lnTo>
                  <a:lnTo>
                    <a:pt x="14" y="57"/>
                  </a:lnTo>
                  <a:lnTo>
                    <a:pt x="19" y="52"/>
                  </a:lnTo>
                  <a:lnTo>
                    <a:pt x="31" y="45"/>
                  </a:lnTo>
                  <a:lnTo>
                    <a:pt x="43" y="38"/>
                  </a:lnTo>
                  <a:lnTo>
                    <a:pt x="57" y="31"/>
                  </a:lnTo>
                  <a:lnTo>
                    <a:pt x="69" y="22"/>
                  </a:lnTo>
                  <a:lnTo>
                    <a:pt x="78" y="13"/>
                  </a:lnTo>
                  <a:lnTo>
                    <a:pt x="80" y="0"/>
                  </a:lnTo>
                  <a:lnTo>
                    <a:pt x="67"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3" name="Freeform 94">
              <a:extLst>
                <a:ext uri="{FF2B5EF4-FFF2-40B4-BE49-F238E27FC236}">
                  <a16:creationId xmlns:a16="http://schemas.microsoft.com/office/drawing/2014/main" id="{5A3F3764-D594-3858-74F7-C70319358FD1}"/>
                </a:ext>
              </a:extLst>
            </p:cNvPr>
            <p:cNvSpPr>
              <a:spLocks/>
            </p:cNvSpPr>
            <p:nvPr/>
          </p:nvSpPr>
          <p:spPr bwMode="auto">
            <a:xfrm>
              <a:off x="1932" y="2020"/>
              <a:ext cx="173" cy="35"/>
            </a:xfrm>
            <a:custGeom>
              <a:avLst/>
              <a:gdLst>
                <a:gd name="T0" fmla="*/ 0 w 105"/>
                <a:gd name="T1" fmla="*/ 120 h 30"/>
                <a:gd name="T2" fmla="*/ 282272 w 105"/>
                <a:gd name="T3" fmla="*/ 358 h 30"/>
                <a:gd name="T4" fmla="*/ 766270 w 105"/>
                <a:gd name="T5" fmla="*/ 480 h 30"/>
                <a:gd name="T6" fmla="*/ 1283006 w 105"/>
                <a:gd name="T7" fmla="*/ 501 h 30"/>
                <a:gd name="T8" fmla="*/ 1816719 w 105"/>
                <a:gd name="T9" fmla="*/ 560 h 30"/>
                <a:gd name="T10" fmla="*/ 2385467 w 105"/>
                <a:gd name="T11" fmla="*/ 569 h 30"/>
                <a:gd name="T12" fmla="*/ 2865936 w 105"/>
                <a:gd name="T13" fmla="*/ 585 h 30"/>
                <a:gd name="T14" fmla="*/ 3152065 w 105"/>
                <a:gd name="T15" fmla="*/ 664 h 30"/>
                <a:gd name="T16" fmla="*/ 3261172 w 105"/>
                <a:gd name="T17" fmla="*/ 762 h 30"/>
                <a:gd name="T18" fmla="*/ 3721278 w 105"/>
                <a:gd name="T19" fmla="*/ 653 h 30"/>
                <a:gd name="T20" fmla="*/ 3427301 w 105"/>
                <a:gd name="T21" fmla="*/ 411 h 30"/>
                <a:gd name="T22" fmla="*/ 2979100 w 105"/>
                <a:gd name="T23" fmla="*/ 263 h 30"/>
                <a:gd name="T24" fmla="*/ 2445765 w 105"/>
                <a:gd name="T25" fmla="*/ 259 h 30"/>
                <a:gd name="T26" fmla="*/ 1875692 w 105"/>
                <a:gd name="T27" fmla="*/ 222 h 30"/>
                <a:gd name="T28" fmla="*/ 1329942 w 105"/>
                <a:gd name="T29" fmla="*/ 190 h 30"/>
                <a:gd name="T30" fmla="*/ 831997 w 105"/>
                <a:gd name="T31" fmla="*/ 140 h 30"/>
                <a:gd name="T32" fmla="*/ 546820 w 105"/>
                <a:gd name="T33" fmla="*/ 2 h 30"/>
                <a:gd name="T34" fmla="*/ 465077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8"/>
                  </a:lnTo>
                  <a:lnTo>
                    <a:pt x="36" y="20"/>
                  </a:lnTo>
                  <a:lnTo>
                    <a:pt x="51" y="21"/>
                  </a:lnTo>
                  <a:lnTo>
                    <a:pt x="67" y="22"/>
                  </a:lnTo>
                  <a:lnTo>
                    <a:pt x="80" y="23"/>
                  </a:lnTo>
                  <a:lnTo>
                    <a:pt x="88" y="26"/>
                  </a:lnTo>
                  <a:lnTo>
                    <a:pt x="91" y="29"/>
                  </a:lnTo>
                  <a:lnTo>
                    <a:pt x="104" y="25"/>
                  </a:lnTo>
                  <a:lnTo>
                    <a:pt x="96" y="15"/>
                  </a:lnTo>
                  <a:lnTo>
                    <a:pt x="83" y="10"/>
                  </a:lnTo>
                  <a:lnTo>
                    <a:pt x="68" y="9"/>
                  </a:lnTo>
                  <a:lnTo>
                    <a:pt x="52" y="8"/>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4" name="Freeform 95">
              <a:extLst>
                <a:ext uri="{FF2B5EF4-FFF2-40B4-BE49-F238E27FC236}">
                  <a16:creationId xmlns:a16="http://schemas.microsoft.com/office/drawing/2014/main" id="{48CF9ECD-9034-418A-B2CA-BDAF27DB69D2}"/>
                </a:ext>
              </a:extLst>
            </p:cNvPr>
            <p:cNvSpPr>
              <a:spLocks/>
            </p:cNvSpPr>
            <p:nvPr/>
          </p:nvSpPr>
          <p:spPr bwMode="auto">
            <a:xfrm>
              <a:off x="1932" y="1953"/>
              <a:ext cx="136" cy="73"/>
            </a:xfrm>
            <a:custGeom>
              <a:avLst/>
              <a:gdLst>
                <a:gd name="T0" fmla="*/ 2195491 w 83"/>
                <a:gd name="T1" fmla="*/ 94 h 63"/>
                <a:gd name="T2" fmla="*/ 2195491 w 83"/>
                <a:gd name="T3" fmla="*/ 126 h 63"/>
                <a:gd name="T4" fmla="*/ 2008007 w 83"/>
                <a:gd name="T5" fmla="*/ 263 h 63"/>
                <a:gd name="T6" fmla="*/ 1654163 w 83"/>
                <a:gd name="T7" fmla="*/ 409 h 63"/>
                <a:gd name="T8" fmla="*/ 1212955 w 83"/>
                <a:gd name="T9" fmla="*/ 594 h 63"/>
                <a:gd name="T10" fmla="*/ 795492 w 83"/>
                <a:gd name="T11" fmla="*/ 732 h 63"/>
                <a:gd name="T12" fmla="*/ 389068 w 83"/>
                <a:gd name="T13" fmla="*/ 860 h 63"/>
                <a:gd name="T14" fmla="*/ 92657 w 83"/>
                <a:gd name="T15" fmla="*/ 1078 h 63"/>
                <a:gd name="T16" fmla="*/ 0 w 83"/>
                <a:gd name="T17" fmla="*/ 1362 h 63"/>
                <a:gd name="T18" fmla="*/ 407626 w 83"/>
                <a:gd name="T19" fmla="*/ 1283 h 63"/>
                <a:gd name="T20" fmla="*/ 451776 w 83"/>
                <a:gd name="T21" fmla="*/ 1249 h 63"/>
                <a:gd name="T22" fmla="*/ 637509 w 83"/>
                <a:gd name="T23" fmla="*/ 1139 h 63"/>
                <a:gd name="T24" fmla="*/ 998460 w 83"/>
                <a:gd name="T25" fmla="*/ 990 h 63"/>
                <a:gd name="T26" fmla="*/ 1434145 w 83"/>
                <a:gd name="T27" fmla="*/ 848 h 63"/>
                <a:gd name="T28" fmla="*/ 1855348 w 83"/>
                <a:gd name="T29" fmla="*/ 688 h 63"/>
                <a:gd name="T30" fmla="*/ 2257806 w 83"/>
                <a:gd name="T31" fmla="*/ 516 h 63"/>
                <a:gd name="T32" fmla="*/ 2588608 w 83"/>
                <a:gd name="T33" fmla="*/ 286 h 63"/>
                <a:gd name="T34" fmla="*/ 2609697 w 83"/>
                <a:gd name="T35" fmla="*/ 0 h 63"/>
                <a:gd name="T36" fmla="*/ 219549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9" y="6"/>
                  </a:lnTo>
                  <a:lnTo>
                    <a:pt x="63" y="12"/>
                  </a:lnTo>
                  <a:lnTo>
                    <a:pt x="52" y="19"/>
                  </a:lnTo>
                  <a:lnTo>
                    <a:pt x="38" y="26"/>
                  </a:lnTo>
                  <a:lnTo>
                    <a:pt x="25" y="33"/>
                  </a:lnTo>
                  <a:lnTo>
                    <a:pt x="12" y="40"/>
                  </a:lnTo>
                  <a:lnTo>
                    <a:pt x="3" y="49"/>
                  </a:lnTo>
                  <a:lnTo>
                    <a:pt x="0" y="62"/>
                  </a:lnTo>
                  <a:lnTo>
                    <a:pt x="13" y="58"/>
                  </a:lnTo>
                  <a:lnTo>
                    <a:pt x="14" y="57"/>
                  </a:lnTo>
                  <a:lnTo>
                    <a:pt x="20" y="51"/>
                  </a:lnTo>
                  <a:lnTo>
                    <a:pt x="31" y="45"/>
                  </a:lnTo>
                  <a:lnTo>
                    <a:pt x="45" y="38"/>
                  </a:lnTo>
                  <a:lnTo>
                    <a:pt x="58" y="30"/>
                  </a:lnTo>
                  <a:lnTo>
                    <a:pt x="71" y="23"/>
                  </a:lnTo>
                  <a:lnTo>
                    <a:pt x="81"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5" name="Freeform 96">
              <a:extLst>
                <a:ext uri="{FF2B5EF4-FFF2-40B4-BE49-F238E27FC236}">
                  <a16:creationId xmlns:a16="http://schemas.microsoft.com/office/drawing/2014/main" id="{03F5B178-DCA5-5B32-EE11-B9094B34AC70}"/>
                </a:ext>
              </a:extLst>
            </p:cNvPr>
            <p:cNvSpPr>
              <a:spLocks/>
            </p:cNvSpPr>
            <p:nvPr/>
          </p:nvSpPr>
          <p:spPr bwMode="auto">
            <a:xfrm>
              <a:off x="1891" y="1918"/>
              <a:ext cx="177" cy="42"/>
            </a:xfrm>
            <a:custGeom>
              <a:avLst/>
              <a:gdLst>
                <a:gd name="T0" fmla="*/ 297347 w 108"/>
                <a:gd name="T1" fmla="*/ 0 h 36"/>
                <a:gd name="T2" fmla="*/ 56629 w 108"/>
                <a:gd name="T3" fmla="*/ 231 h 36"/>
                <a:gd name="T4" fmla="*/ 355105 w 108"/>
                <a:gd name="T5" fmla="*/ 488 h 36"/>
                <a:gd name="T6" fmla="*/ 763839 w 108"/>
                <a:gd name="T7" fmla="*/ 580 h 36"/>
                <a:gd name="T8" fmla="*/ 1216593 w 108"/>
                <a:gd name="T9" fmla="*/ 621 h 36"/>
                <a:gd name="T10" fmla="*/ 1738474 w 108"/>
                <a:gd name="T11" fmla="*/ 664 h 36"/>
                <a:gd name="T12" fmla="*/ 2243232 w 108"/>
                <a:gd name="T13" fmla="*/ 677 h 36"/>
                <a:gd name="T14" fmla="*/ 2654780 w 108"/>
                <a:gd name="T15" fmla="*/ 762 h 36"/>
                <a:gd name="T16" fmla="*/ 2912671 w 108"/>
                <a:gd name="T17" fmla="*/ 797 h 36"/>
                <a:gd name="T18" fmla="*/ 3006856 w 108"/>
                <a:gd name="T19" fmla="*/ 904 h 36"/>
                <a:gd name="T20" fmla="*/ 3417618 w 108"/>
                <a:gd name="T21" fmla="*/ 790 h 36"/>
                <a:gd name="T22" fmla="*/ 3174761 w 108"/>
                <a:gd name="T23" fmla="*/ 548 h 36"/>
                <a:gd name="T24" fmla="*/ 2757663 w 108"/>
                <a:gd name="T25" fmla="*/ 418 h 36"/>
                <a:gd name="T26" fmla="*/ 2263832 w 108"/>
                <a:gd name="T27" fmla="*/ 358 h 36"/>
                <a:gd name="T28" fmla="*/ 1798415 w 108"/>
                <a:gd name="T29" fmla="*/ 315 h 36"/>
                <a:gd name="T30" fmla="*/ 1251847 w 108"/>
                <a:gd name="T31" fmla="*/ 270 h 36"/>
                <a:gd name="T32" fmla="*/ 835171 w 108"/>
                <a:gd name="T33" fmla="*/ 263 h 36"/>
                <a:gd name="T34" fmla="*/ 546453 w 108"/>
                <a:gd name="T35" fmla="*/ 190 h 36"/>
                <a:gd name="T36" fmla="*/ 487319 w 108"/>
                <a:gd name="T37" fmla="*/ 140 h 36"/>
                <a:gd name="T38" fmla="*/ 297347 w 108"/>
                <a:gd name="T39" fmla="*/ 358 h 36"/>
                <a:gd name="T40" fmla="*/ 297347 w 108"/>
                <a:gd name="T41" fmla="*/ 0 h 36"/>
                <a:gd name="T42" fmla="*/ 0 w 108"/>
                <a:gd name="T43" fmla="*/ 0 h 36"/>
                <a:gd name="T44" fmla="*/ 56629 w 108"/>
                <a:gd name="T45" fmla="*/ 231 h 36"/>
                <a:gd name="T46" fmla="*/ 297347 w 108"/>
                <a:gd name="T47" fmla="*/ 0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
                <a:gd name="T73" fmla="*/ 0 h 36"/>
                <a:gd name="T74" fmla="*/ 108 w 108"/>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 h="36">
                  <a:moveTo>
                    <a:pt x="9" y="0"/>
                  </a:moveTo>
                  <a:lnTo>
                    <a:pt x="2" y="9"/>
                  </a:lnTo>
                  <a:lnTo>
                    <a:pt x="11" y="19"/>
                  </a:lnTo>
                  <a:lnTo>
                    <a:pt x="24" y="23"/>
                  </a:lnTo>
                  <a:lnTo>
                    <a:pt x="38" y="24"/>
                  </a:lnTo>
                  <a:lnTo>
                    <a:pt x="54" y="26"/>
                  </a:lnTo>
                  <a:lnTo>
                    <a:pt x="70" y="27"/>
                  </a:lnTo>
                  <a:lnTo>
                    <a:pt x="83" y="29"/>
                  </a:lnTo>
                  <a:lnTo>
                    <a:pt x="91" y="32"/>
                  </a:lnTo>
                  <a:lnTo>
                    <a:pt x="94" y="35"/>
                  </a:lnTo>
                  <a:lnTo>
                    <a:pt x="107" y="31"/>
                  </a:lnTo>
                  <a:lnTo>
                    <a:pt x="99" y="21"/>
                  </a:lnTo>
                  <a:lnTo>
                    <a:pt x="86" y="16"/>
                  </a:lnTo>
                  <a:lnTo>
                    <a:pt x="71" y="14"/>
                  </a:lnTo>
                  <a:lnTo>
                    <a:pt x="56" y="13"/>
                  </a:lnTo>
                  <a:lnTo>
                    <a:pt x="39" y="11"/>
                  </a:lnTo>
                  <a:lnTo>
                    <a:pt x="26" y="10"/>
                  </a:lnTo>
                  <a:lnTo>
                    <a:pt x="17" y="7"/>
                  </a:lnTo>
                  <a:lnTo>
                    <a:pt x="15" y="5"/>
                  </a:lnTo>
                  <a:lnTo>
                    <a:pt x="9" y="14"/>
                  </a:lnTo>
                  <a:lnTo>
                    <a:pt x="9" y="0"/>
                  </a:lnTo>
                  <a:lnTo>
                    <a:pt x="0" y="0"/>
                  </a:lnTo>
                  <a:lnTo>
                    <a:pt x="2" y="9"/>
                  </a:lnTo>
                  <a:lnTo>
                    <a:pt x="9" y="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6" name="Freeform 97">
              <a:extLst>
                <a:ext uri="{FF2B5EF4-FFF2-40B4-BE49-F238E27FC236}">
                  <a16:creationId xmlns:a16="http://schemas.microsoft.com/office/drawing/2014/main" id="{23EBA5E7-3A82-B216-B009-02CDCBEC9996}"/>
                </a:ext>
              </a:extLst>
            </p:cNvPr>
            <p:cNvSpPr>
              <a:spLocks/>
            </p:cNvSpPr>
            <p:nvPr/>
          </p:nvSpPr>
          <p:spPr bwMode="auto">
            <a:xfrm>
              <a:off x="1896" y="1918"/>
              <a:ext cx="28" cy="17"/>
            </a:xfrm>
            <a:custGeom>
              <a:avLst/>
              <a:gdLst>
                <a:gd name="T0" fmla="*/ 0 w 17"/>
                <a:gd name="T1" fmla="*/ 113 h 15"/>
                <a:gd name="T2" fmla="*/ 261815 w 17"/>
                <a:gd name="T3" fmla="*/ 0 h 15"/>
                <a:gd name="T4" fmla="*/ 208753 w 17"/>
                <a:gd name="T5" fmla="*/ 0 h 15"/>
                <a:gd name="T6" fmla="*/ 208753 w 17"/>
                <a:gd name="T7" fmla="*/ 186 h 15"/>
                <a:gd name="T8" fmla="*/ 261815 w 17"/>
                <a:gd name="T9" fmla="*/ 186 h 15"/>
                <a:gd name="T10" fmla="*/ 462695 w 17"/>
                <a:gd name="T11" fmla="*/ 69 h 15"/>
                <a:gd name="T12" fmla="*/ 261815 w 17"/>
                <a:gd name="T13" fmla="*/ 186 h 15"/>
                <a:gd name="T14" fmla="*/ 566305 w 17"/>
                <a:gd name="T15" fmla="*/ 182 h 15"/>
                <a:gd name="T16" fmla="*/ 462695 w 17"/>
                <a:gd name="T17" fmla="*/ 69 h 15"/>
                <a:gd name="T18" fmla="*/ 0 w 17"/>
                <a:gd name="T19" fmla="*/ 113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5"/>
                <a:gd name="T32" fmla="*/ 17 w 17"/>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5">
                  <a:moveTo>
                    <a:pt x="0" y="9"/>
                  </a:moveTo>
                  <a:lnTo>
                    <a:pt x="7" y="0"/>
                  </a:lnTo>
                  <a:lnTo>
                    <a:pt x="6" y="0"/>
                  </a:lnTo>
                  <a:lnTo>
                    <a:pt x="6" y="14"/>
                  </a:lnTo>
                  <a:lnTo>
                    <a:pt x="7" y="14"/>
                  </a:lnTo>
                  <a:lnTo>
                    <a:pt x="13" y="5"/>
                  </a:lnTo>
                  <a:lnTo>
                    <a:pt x="7" y="14"/>
                  </a:lnTo>
                  <a:lnTo>
                    <a:pt x="16" y="13"/>
                  </a:lnTo>
                  <a:lnTo>
                    <a:pt x="13" y="5"/>
                  </a:lnTo>
                  <a:lnTo>
                    <a:pt x="0"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7" name="Freeform 98">
              <a:extLst>
                <a:ext uri="{FF2B5EF4-FFF2-40B4-BE49-F238E27FC236}">
                  <a16:creationId xmlns:a16="http://schemas.microsoft.com/office/drawing/2014/main" id="{26AE79D1-EA5C-6102-D2C7-C8D7E36D98D6}"/>
                </a:ext>
              </a:extLst>
            </p:cNvPr>
            <p:cNvSpPr>
              <a:spLocks/>
            </p:cNvSpPr>
            <p:nvPr/>
          </p:nvSpPr>
          <p:spPr bwMode="auto">
            <a:xfrm>
              <a:off x="1896" y="1856"/>
              <a:ext cx="137" cy="73"/>
            </a:xfrm>
            <a:custGeom>
              <a:avLst/>
              <a:gdLst>
                <a:gd name="T0" fmla="*/ 2566051 w 83"/>
                <a:gd name="T1" fmla="*/ 73 h 64"/>
                <a:gd name="T2" fmla="*/ 2519400 w 83"/>
                <a:gd name="T3" fmla="*/ 83 h 64"/>
                <a:gd name="T4" fmla="*/ 2289995 w 83"/>
                <a:gd name="T5" fmla="*/ 183 h 64"/>
                <a:gd name="T6" fmla="*/ 1894573 w 83"/>
                <a:gd name="T7" fmla="*/ 285 h 64"/>
                <a:gd name="T8" fmla="*/ 1423684 w 83"/>
                <a:gd name="T9" fmla="*/ 402 h 64"/>
                <a:gd name="T10" fmla="*/ 901473 w 83"/>
                <a:gd name="T11" fmla="*/ 518 h 64"/>
                <a:gd name="T12" fmla="*/ 446998 w 83"/>
                <a:gd name="T13" fmla="*/ 627 h 64"/>
                <a:gd name="T14" fmla="*/ 64690 w 83"/>
                <a:gd name="T15" fmla="*/ 792 h 64"/>
                <a:gd name="T16" fmla="*/ 0 w 83"/>
                <a:gd name="T17" fmla="*/ 1000 h 64"/>
                <a:gd name="T18" fmla="*/ 480180 w 83"/>
                <a:gd name="T19" fmla="*/ 931 h 64"/>
                <a:gd name="T20" fmla="*/ 522551 w 83"/>
                <a:gd name="T21" fmla="*/ 887 h 64"/>
                <a:gd name="T22" fmla="*/ 695387 w 83"/>
                <a:gd name="T23" fmla="*/ 811 h 64"/>
                <a:gd name="T24" fmla="*/ 1147807 w 83"/>
                <a:gd name="T25" fmla="*/ 694 h 64"/>
                <a:gd name="T26" fmla="*/ 1639289 w 83"/>
                <a:gd name="T27" fmla="*/ 591 h 64"/>
                <a:gd name="T28" fmla="*/ 2159391 w 83"/>
                <a:gd name="T29" fmla="*/ 459 h 64"/>
                <a:gd name="T30" fmla="*/ 2603804 w 83"/>
                <a:gd name="T31" fmla="*/ 325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1" y="44"/>
                  </a:lnTo>
                  <a:lnTo>
                    <a:pt x="44" y="37"/>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8" name="Freeform 99">
              <a:extLst>
                <a:ext uri="{FF2B5EF4-FFF2-40B4-BE49-F238E27FC236}">
                  <a16:creationId xmlns:a16="http://schemas.microsoft.com/office/drawing/2014/main" id="{DE129A6F-8DA3-BFC6-4C3C-C6888E71FFBA}"/>
                </a:ext>
              </a:extLst>
            </p:cNvPr>
            <p:cNvSpPr>
              <a:spLocks/>
            </p:cNvSpPr>
            <p:nvPr/>
          </p:nvSpPr>
          <p:spPr bwMode="auto">
            <a:xfrm>
              <a:off x="1859" y="1828"/>
              <a:ext cx="174" cy="34"/>
            </a:xfrm>
            <a:custGeom>
              <a:avLst/>
              <a:gdLst>
                <a:gd name="T0" fmla="*/ 0 w 105"/>
                <a:gd name="T1" fmla="*/ 121 h 29"/>
                <a:gd name="T2" fmla="*/ 320394 w 105"/>
                <a:gd name="T3" fmla="*/ 375 h 29"/>
                <a:gd name="T4" fmla="*/ 851120 w 105"/>
                <a:gd name="T5" fmla="*/ 516 h 29"/>
                <a:gd name="T6" fmla="*/ 1458024 w 105"/>
                <a:gd name="T7" fmla="*/ 592 h 29"/>
                <a:gd name="T8" fmla="*/ 2105818 w 105"/>
                <a:gd name="T9" fmla="*/ 592 h 29"/>
                <a:gd name="T10" fmla="*/ 2706298 w 105"/>
                <a:gd name="T11" fmla="*/ 605 h 29"/>
                <a:gd name="T12" fmla="*/ 3269143 w 105"/>
                <a:gd name="T13" fmla="*/ 691 h 29"/>
                <a:gd name="T14" fmla="*/ 3587389 w 105"/>
                <a:gd name="T15" fmla="*/ 709 h 29"/>
                <a:gd name="T16" fmla="*/ 3677016 w 105"/>
                <a:gd name="T17" fmla="*/ 810 h 29"/>
                <a:gd name="T18" fmla="*/ 4192184 w 105"/>
                <a:gd name="T19" fmla="*/ 694 h 29"/>
                <a:gd name="T20" fmla="*/ 3873205 w 105"/>
                <a:gd name="T21" fmla="*/ 431 h 29"/>
                <a:gd name="T22" fmla="*/ 3382020 w 105"/>
                <a:gd name="T23" fmla="*/ 314 h 29"/>
                <a:gd name="T24" fmla="*/ 2780749 w 105"/>
                <a:gd name="T25" fmla="*/ 268 h 29"/>
                <a:gd name="T26" fmla="*/ 2105818 w 105"/>
                <a:gd name="T27" fmla="*/ 229 h 29"/>
                <a:gd name="T28" fmla="*/ 1485145 w 105"/>
                <a:gd name="T29" fmla="*/ 229 h 29"/>
                <a:gd name="T30" fmla="*/ 970032 w 105"/>
                <a:gd name="T31" fmla="*/ 166 h 29"/>
                <a:gd name="T32" fmla="*/ 605611 w 105"/>
                <a:gd name="T33" fmla="*/ 2 h 29"/>
                <a:gd name="T34" fmla="*/ 530939 w 105"/>
                <a:gd name="T35" fmla="*/ 0 h 29"/>
                <a:gd name="T36" fmla="*/ 0 w 105"/>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1" y="19"/>
                  </a:lnTo>
                  <a:lnTo>
                    <a:pt x="36" y="21"/>
                  </a:lnTo>
                  <a:lnTo>
                    <a:pt x="52" y="21"/>
                  </a:lnTo>
                  <a:lnTo>
                    <a:pt x="67" y="22"/>
                  </a:lnTo>
                  <a:lnTo>
                    <a:pt x="81" y="24"/>
                  </a:lnTo>
                  <a:lnTo>
                    <a:pt x="89" y="26"/>
                  </a:lnTo>
                  <a:lnTo>
                    <a:pt x="91" y="28"/>
                  </a:lnTo>
                  <a:lnTo>
                    <a:pt x="104" y="25"/>
                  </a:lnTo>
                  <a:lnTo>
                    <a:pt x="96" y="15"/>
                  </a:lnTo>
                  <a:lnTo>
                    <a:pt x="84" y="11"/>
                  </a:lnTo>
                  <a:lnTo>
                    <a:pt x="69" y="9"/>
                  </a:lnTo>
                  <a:lnTo>
                    <a:pt x="52" y="8"/>
                  </a:lnTo>
                  <a:lnTo>
                    <a:pt x="37" y="8"/>
                  </a:lnTo>
                  <a:lnTo>
                    <a:pt x="24" y="6"/>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9" name="Freeform 100">
              <a:extLst>
                <a:ext uri="{FF2B5EF4-FFF2-40B4-BE49-F238E27FC236}">
                  <a16:creationId xmlns:a16="http://schemas.microsoft.com/office/drawing/2014/main" id="{C066A1D5-E79C-5FED-3E8F-812053E1A020}"/>
                </a:ext>
              </a:extLst>
            </p:cNvPr>
            <p:cNvSpPr>
              <a:spLocks/>
            </p:cNvSpPr>
            <p:nvPr/>
          </p:nvSpPr>
          <p:spPr bwMode="auto">
            <a:xfrm>
              <a:off x="1859" y="1762"/>
              <a:ext cx="136" cy="71"/>
            </a:xfrm>
            <a:custGeom>
              <a:avLst/>
              <a:gdLst>
                <a:gd name="T0" fmla="*/ 2793281 w 82"/>
                <a:gd name="T1" fmla="*/ 3 h 62"/>
                <a:gd name="T2" fmla="*/ 2751824 w 82"/>
                <a:gd name="T3" fmla="*/ 85 h 62"/>
                <a:gd name="T4" fmla="*/ 2559870 w 82"/>
                <a:gd name="T5" fmla="*/ 190 h 62"/>
                <a:gd name="T6" fmla="*/ 2110216 w 82"/>
                <a:gd name="T7" fmla="*/ 286 h 62"/>
                <a:gd name="T8" fmla="*/ 1518070 w 82"/>
                <a:gd name="T9" fmla="*/ 416 h 62"/>
                <a:gd name="T10" fmla="*/ 984142 w 82"/>
                <a:gd name="T11" fmla="*/ 545 h 62"/>
                <a:gd name="T12" fmla="*/ 452635 w 82"/>
                <a:gd name="T13" fmla="*/ 648 h 62"/>
                <a:gd name="T14" fmla="*/ 71808 w 82"/>
                <a:gd name="T15" fmla="*/ 831 h 62"/>
                <a:gd name="T16" fmla="*/ 0 w 82"/>
                <a:gd name="T17" fmla="*/ 1046 h 62"/>
                <a:gd name="T18" fmla="*/ 543340 w 82"/>
                <a:gd name="T19" fmla="*/ 973 h 62"/>
                <a:gd name="T20" fmla="*/ 543340 w 82"/>
                <a:gd name="T21" fmla="*/ 952 h 62"/>
                <a:gd name="T22" fmla="*/ 792167 w 82"/>
                <a:gd name="T23" fmla="*/ 838 h 62"/>
                <a:gd name="T24" fmla="*/ 1245083 w 82"/>
                <a:gd name="T25" fmla="*/ 726 h 62"/>
                <a:gd name="T26" fmla="*/ 1767504 w 82"/>
                <a:gd name="T27" fmla="*/ 608 h 62"/>
                <a:gd name="T28" fmla="*/ 2364446 w 82"/>
                <a:gd name="T29" fmla="*/ 494 h 62"/>
                <a:gd name="T30" fmla="*/ 2821559 w 82"/>
                <a:gd name="T31" fmla="*/ 363 h 62"/>
                <a:gd name="T32" fmla="*/ 3244615 w 82"/>
                <a:gd name="T33" fmla="*/ 218 h 62"/>
                <a:gd name="T34" fmla="*/ 3316748 w 82"/>
                <a:gd name="T35" fmla="*/ 0 h 62"/>
                <a:gd name="T36" fmla="*/ 2793281 w 82"/>
                <a:gd name="T37" fmla="*/ 3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2"/>
                <a:gd name="T59" fmla="*/ 82 w 82"/>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2">
                  <a:moveTo>
                    <a:pt x="68" y="3"/>
                  </a:moveTo>
                  <a:lnTo>
                    <a:pt x="67" y="5"/>
                  </a:lnTo>
                  <a:lnTo>
                    <a:pt x="62" y="11"/>
                  </a:lnTo>
                  <a:lnTo>
                    <a:pt x="51" y="17"/>
                  </a:lnTo>
                  <a:lnTo>
                    <a:pt x="37" y="24"/>
                  </a:lnTo>
                  <a:lnTo>
                    <a:pt x="24" y="31"/>
                  </a:lnTo>
                  <a:lnTo>
                    <a:pt x="11" y="38"/>
                  </a:lnTo>
                  <a:lnTo>
                    <a:pt x="2" y="48"/>
                  </a:lnTo>
                  <a:lnTo>
                    <a:pt x="0" y="61"/>
                  </a:lnTo>
                  <a:lnTo>
                    <a:pt x="13" y="57"/>
                  </a:lnTo>
                  <a:lnTo>
                    <a:pt x="13" y="55"/>
                  </a:lnTo>
                  <a:lnTo>
                    <a:pt x="19" y="49"/>
                  </a:lnTo>
                  <a:lnTo>
                    <a:pt x="30" y="42"/>
                  </a:lnTo>
                  <a:lnTo>
                    <a:pt x="43" y="35"/>
                  </a:lnTo>
                  <a:lnTo>
                    <a:pt x="57" y="29"/>
                  </a:lnTo>
                  <a:lnTo>
                    <a:pt x="69" y="21"/>
                  </a:lnTo>
                  <a:lnTo>
                    <a:pt x="79" y="13"/>
                  </a:lnTo>
                  <a:lnTo>
                    <a:pt x="81" y="0"/>
                  </a:lnTo>
                  <a:lnTo>
                    <a:pt x="68"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0" name="Freeform 101">
              <a:extLst>
                <a:ext uri="{FF2B5EF4-FFF2-40B4-BE49-F238E27FC236}">
                  <a16:creationId xmlns:a16="http://schemas.microsoft.com/office/drawing/2014/main" id="{215BD8B4-6264-8E4A-B071-EFAB33E5E2ED}"/>
                </a:ext>
              </a:extLst>
            </p:cNvPr>
            <p:cNvSpPr>
              <a:spLocks/>
            </p:cNvSpPr>
            <p:nvPr/>
          </p:nvSpPr>
          <p:spPr bwMode="auto">
            <a:xfrm>
              <a:off x="1823" y="1738"/>
              <a:ext cx="172" cy="29"/>
            </a:xfrm>
            <a:custGeom>
              <a:avLst/>
              <a:gdLst>
                <a:gd name="T0" fmla="*/ 0 w 104"/>
                <a:gd name="T1" fmla="*/ 101 h 25"/>
                <a:gd name="T2" fmla="*/ 310460 w 104"/>
                <a:gd name="T3" fmla="*/ 291 h 25"/>
                <a:gd name="T4" fmla="*/ 823227 w 104"/>
                <a:gd name="T5" fmla="*/ 338 h 25"/>
                <a:gd name="T6" fmla="*/ 1404400 w 104"/>
                <a:gd name="T7" fmla="*/ 384 h 25"/>
                <a:gd name="T8" fmla="*/ 1967544 w 104"/>
                <a:gd name="T9" fmla="*/ 384 h 25"/>
                <a:gd name="T10" fmla="*/ 2552581 w 104"/>
                <a:gd name="T11" fmla="*/ 392 h 25"/>
                <a:gd name="T12" fmla="*/ 3091373 w 104"/>
                <a:gd name="T13" fmla="*/ 445 h 25"/>
                <a:gd name="T14" fmla="*/ 3421168 w 104"/>
                <a:gd name="T15" fmla="*/ 516 h 25"/>
                <a:gd name="T16" fmla="*/ 3487763 w 104"/>
                <a:gd name="T17" fmla="*/ 530 h 25"/>
                <a:gd name="T18" fmla="*/ 3985470 w 104"/>
                <a:gd name="T19" fmla="*/ 455 h 25"/>
                <a:gd name="T20" fmla="*/ 3684152 w 104"/>
                <a:gd name="T21" fmla="*/ 246 h 25"/>
                <a:gd name="T22" fmla="*/ 3186115 w 104"/>
                <a:gd name="T23" fmla="*/ 136 h 25"/>
                <a:gd name="T24" fmla="*/ 2606496 w 104"/>
                <a:gd name="T25" fmla="*/ 101 h 25"/>
                <a:gd name="T26" fmla="*/ 1967544 w 104"/>
                <a:gd name="T27" fmla="*/ 3 h 25"/>
                <a:gd name="T28" fmla="*/ 1404400 w 104"/>
                <a:gd name="T29" fmla="*/ 3 h 25"/>
                <a:gd name="T30" fmla="*/ 849172 w 104"/>
                <a:gd name="T31" fmla="*/ 2 h 25"/>
                <a:gd name="T32" fmla="*/ 513453 w 104"/>
                <a:gd name="T33" fmla="*/ 0 h 25"/>
                <a:gd name="T34" fmla="*/ 0 w 104"/>
                <a:gd name="T35" fmla="*/ 101 h 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4"/>
                <a:gd name="T55" fmla="*/ 0 h 25"/>
                <a:gd name="T56" fmla="*/ 104 w 104"/>
                <a:gd name="T57" fmla="*/ 25 h 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4" h="25">
                  <a:moveTo>
                    <a:pt x="0" y="4"/>
                  </a:moveTo>
                  <a:lnTo>
                    <a:pt x="8" y="13"/>
                  </a:lnTo>
                  <a:lnTo>
                    <a:pt x="21" y="15"/>
                  </a:lnTo>
                  <a:lnTo>
                    <a:pt x="36" y="16"/>
                  </a:lnTo>
                  <a:lnTo>
                    <a:pt x="51" y="16"/>
                  </a:lnTo>
                  <a:lnTo>
                    <a:pt x="66" y="17"/>
                  </a:lnTo>
                  <a:lnTo>
                    <a:pt x="80" y="19"/>
                  </a:lnTo>
                  <a:lnTo>
                    <a:pt x="88" y="22"/>
                  </a:lnTo>
                  <a:lnTo>
                    <a:pt x="90" y="24"/>
                  </a:lnTo>
                  <a:lnTo>
                    <a:pt x="103" y="20"/>
                  </a:lnTo>
                  <a:lnTo>
                    <a:pt x="95" y="10"/>
                  </a:lnTo>
                  <a:lnTo>
                    <a:pt x="82" y="6"/>
                  </a:lnTo>
                  <a:lnTo>
                    <a:pt x="67" y="4"/>
                  </a:lnTo>
                  <a:lnTo>
                    <a:pt x="51" y="3"/>
                  </a:lnTo>
                  <a:lnTo>
                    <a:pt x="36" y="3"/>
                  </a:lnTo>
                  <a:lnTo>
                    <a:pt x="22"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1" name="Freeform 102">
              <a:extLst>
                <a:ext uri="{FF2B5EF4-FFF2-40B4-BE49-F238E27FC236}">
                  <a16:creationId xmlns:a16="http://schemas.microsoft.com/office/drawing/2014/main" id="{063A97B8-7BCF-5C44-172D-1F95CD4754C1}"/>
                </a:ext>
              </a:extLst>
            </p:cNvPr>
            <p:cNvSpPr>
              <a:spLocks/>
            </p:cNvSpPr>
            <p:nvPr/>
          </p:nvSpPr>
          <p:spPr bwMode="auto">
            <a:xfrm>
              <a:off x="1821" y="1736"/>
              <a:ext cx="25" cy="8"/>
            </a:xfrm>
            <a:custGeom>
              <a:avLst/>
              <a:gdLst>
                <a:gd name="T0" fmla="*/ 0 w 15"/>
                <a:gd name="T1" fmla="*/ 73 h 7"/>
                <a:gd name="T2" fmla="*/ 47430 w 15"/>
                <a:gd name="T3" fmla="*/ 95 h 7"/>
                <a:gd name="T4" fmla="*/ 621467 w 15"/>
                <a:gd name="T5" fmla="*/ 2 h 7"/>
                <a:gd name="T6" fmla="*/ 609953 w 15"/>
                <a:gd name="T7" fmla="*/ 0 h 7"/>
                <a:gd name="T8" fmla="*/ 0 w 15"/>
                <a:gd name="T9" fmla="*/ 73 h 7"/>
                <a:gd name="T10" fmla="*/ 0 60000 65536"/>
                <a:gd name="T11" fmla="*/ 0 60000 65536"/>
                <a:gd name="T12" fmla="*/ 0 60000 65536"/>
                <a:gd name="T13" fmla="*/ 0 60000 65536"/>
                <a:gd name="T14" fmla="*/ 0 60000 65536"/>
                <a:gd name="T15" fmla="*/ 0 w 15"/>
                <a:gd name="T16" fmla="*/ 0 h 7"/>
                <a:gd name="T17" fmla="*/ 15 w 15"/>
                <a:gd name="T18" fmla="*/ 7 h 7"/>
              </a:gdLst>
              <a:ahLst/>
              <a:cxnLst>
                <a:cxn ang="T10">
                  <a:pos x="T0" y="T1"/>
                </a:cxn>
                <a:cxn ang="T11">
                  <a:pos x="T2" y="T3"/>
                </a:cxn>
                <a:cxn ang="T12">
                  <a:pos x="T4" y="T5"/>
                </a:cxn>
                <a:cxn ang="T13">
                  <a:pos x="T6" y="T7"/>
                </a:cxn>
                <a:cxn ang="T14">
                  <a:pos x="T8" y="T9"/>
                </a:cxn>
              </a:cxnLst>
              <a:rect l="T15" t="T16" r="T17" b="T18"/>
              <a:pathLst>
                <a:path w="15" h="7">
                  <a:moveTo>
                    <a:pt x="0" y="4"/>
                  </a:moveTo>
                  <a:lnTo>
                    <a:pt x="1" y="6"/>
                  </a:lnTo>
                  <a:lnTo>
                    <a:pt x="14"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2" name="Freeform 103">
              <a:extLst>
                <a:ext uri="{FF2B5EF4-FFF2-40B4-BE49-F238E27FC236}">
                  <a16:creationId xmlns:a16="http://schemas.microsoft.com/office/drawing/2014/main" id="{225F3EB0-91E3-9137-2351-12F1B74B526F}"/>
                </a:ext>
              </a:extLst>
            </p:cNvPr>
            <p:cNvSpPr>
              <a:spLocks/>
            </p:cNvSpPr>
            <p:nvPr/>
          </p:nvSpPr>
          <p:spPr bwMode="auto">
            <a:xfrm>
              <a:off x="1821" y="1669"/>
              <a:ext cx="137" cy="73"/>
            </a:xfrm>
            <a:custGeom>
              <a:avLst/>
              <a:gdLst>
                <a:gd name="T0" fmla="*/ 2566051 w 83"/>
                <a:gd name="T1" fmla="*/ 94 h 63"/>
                <a:gd name="T2" fmla="*/ 2519400 w 83"/>
                <a:gd name="T3" fmla="*/ 146 h 63"/>
                <a:gd name="T4" fmla="*/ 2289995 w 83"/>
                <a:gd name="T5" fmla="*/ 263 h 63"/>
                <a:gd name="T6" fmla="*/ 1933123 w 83"/>
                <a:gd name="T7" fmla="*/ 409 h 63"/>
                <a:gd name="T8" fmla="*/ 1423684 w 83"/>
                <a:gd name="T9" fmla="*/ 594 h 63"/>
                <a:gd name="T10" fmla="*/ 901473 w 83"/>
                <a:gd name="T11" fmla="*/ 732 h 63"/>
                <a:gd name="T12" fmla="*/ 446998 w 83"/>
                <a:gd name="T13" fmla="*/ 924 h 63"/>
                <a:gd name="T14" fmla="*/ 106777 w 83"/>
                <a:gd name="T15" fmla="*/ 1078 h 63"/>
                <a:gd name="T16" fmla="*/ 0 w 83"/>
                <a:gd name="T17" fmla="*/ 1362 h 63"/>
                <a:gd name="T18" fmla="*/ 480180 w 83"/>
                <a:gd name="T19" fmla="*/ 1283 h 63"/>
                <a:gd name="T20" fmla="*/ 522551 w 83"/>
                <a:gd name="T21" fmla="*/ 1249 h 63"/>
                <a:gd name="T22" fmla="*/ 737816 w 83"/>
                <a:gd name="T23" fmla="*/ 1139 h 63"/>
                <a:gd name="T24" fmla="*/ 1147807 w 83"/>
                <a:gd name="T25" fmla="*/ 990 h 63"/>
                <a:gd name="T26" fmla="*/ 1664712 w 83"/>
                <a:gd name="T27" fmla="*/ 848 h 63"/>
                <a:gd name="T28" fmla="*/ 2185282 w 83"/>
                <a:gd name="T29" fmla="*/ 693 h 63"/>
                <a:gd name="T30" fmla="*/ 264081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7"/>
                  </a:lnTo>
                  <a:lnTo>
                    <a:pt x="62" y="12"/>
                  </a:lnTo>
                  <a:lnTo>
                    <a:pt x="52" y="19"/>
                  </a:lnTo>
                  <a:lnTo>
                    <a:pt x="38" y="26"/>
                  </a:lnTo>
                  <a:lnTo>
                    <a:pt x="24" y="33"/>
                  </a:lnTo>
                  <a:lnTo>
                    <a:pt x="12" y="41"/>
                  </a:lnTo>
                  <a:lnTo>
                    <a:pt x="3" y="49"/>
                  </a:lnTo>
                  <a:lnTo>
                    <a:pt x="0" y="62"/>
                  </a:lnTo>
                  <a:lnTo>
                    <a:pt x="13" y="58"/>
                  </a:lnTo>
                  <a:lnTo>
                    <a:pt x="14" y="57"/>
                  </a:lnTo>
                  <a:lnTo>
                    <a:pt x="20" y="51"/>
                  </a:lnTo>
                  <a:lnTo>
                    <a:pt x="31" y="45"/>
                  </a:lnTo>
                  <a:lnTo>
                    <a:pt x="45" y="38"/>
                  </a:lnTo>
                  <a:lnTo>
                    <a:pt x="59" y="31"/>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3" name="Freeform 104">
              <a:extLst>
                <a:ext uri="{FF2B5EF4-FFF2-40B4-BE49-F238E27FC236}">
                  <a16:creationId xmlns:a16="http://schemas.microsoft.com/office/drawing/2014/main" id="{3281C45D-2380-AE80-7C57-18708F53F594}"/>
                </a:ext>
              </a:extLst>
            </p:cNvPr>
            <p:cNvSpPr>
              <a:spLocks/>
            </p:cNvSpPr>
            <p:nvPr/>
          </p:nvSpPr>
          <p:spPr bwMode="auto">
            <a:xfrm>
              <a:off x="1783" y="1641"/>
              <a:ext cx="175" cy="35"/>
            </a:xfrm>
            <a:custGeom>
              <a:avLst/>
              <a:gdLst>
                <a:gd name="T0" fmla="*/ 0 w 106"/>
                <a:gd name="T1" fmla="*/ 120 h 30"/>
                <a:gd name="T2" fmla="*/ 341111 w 106"/>
                <a:gd name="T3" fmla="*/ 358 h 30"/>
                <a:gd name="T4" fmla="*/ 795449 w 106"/>
                <a:gd name="T5" fmla="*/ 429 h 30"/>
                <a:gd name="T6" fmla="*/ 1328805 w 106"/>
                <a:gd name="T7" fmla="*/ 488 h 30"/>
                <a:gd name="T8" fmla="*/ 1941196 w 106"/>
                <a:gd name="T9" fmla="*/ 501 h 30"/>
                <a:gd name="T10" fmla="*/ 2534104 w 106"/>
                <a:gd name="T11" fmla="*/ 560 h 30"/>
                <a:gd name="T12" fmla="*/ 3033331 w 106"/>
                <a:gd name="T13" fmla="*/ 585 h 30"/>
                <a:gd name="T14" fmla="*/ 3328313 w 106"/>
                <a:gd name="T15" fmla="*/ 664 h 30"/>
                <a:gd name="T16" fmla="*/ 3435385 w 106"/>
                <a:gd name="T17" fmla="*/ 762 h 30"/>
                <a:gd name="T18" fmla="*/ 3917132 w 106"/>
                <a:gd name="T19" fmla="*/ 653 h 30"/>
                <a:gd name="T20" fmla="*/ 3621810 w 106"/>
                <a:gd name="T21" fmla="*/ 358 h 30"/>
                <a:gd name="T22" fmla="*/ 3097518 w 106"/>
                <a:gd name="T23" fmla="*/ 263 h 30"/>
                <a:gd name="T24" fmla="*/ 2573651 w 106"/>
                <a:gd name="T25" fmla="*/ 222 h 30"/>
                <a:gd name="T26" fmla="*/ 1984779 w 106"/>
                <a:gd name="T27" fmla="*/ 190 h 30"/>
                <a:gd name="T28" fmla="*/ 1389091 w 106"/>
                <a:gd name="T29" fmla="*/ 163 h 30"/>
                <a:gd name="T30" fmla="*/ 904506 w 106"/>
                <a:gd name="T31" fmla="*/ 140 h 30"/>
                <a:gd name="T32" fmla="*/ 563155 w 106"/>
                <a:gd name="T33" fmla="*/ 2 h 30"/>
                <a:gd name="T34" fmla="*/ 481815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9" y="14"/>
                  </a:lnTo>
                  <a:lnTo>
                    <a:pt x="21" y="17"/>
                  </a:lnTo>
                  <a:lnTo>
                    <a:pt x="36" y="19"/>
                  </a:lnTo>
                  <a:lnTo>
                    <a:pt x="52" y="20"/>
                  </a:lnTo>
                  <a:lnTo>
                    <a:pt x="68" y="21"/>
                  </a:lnTo>
                  <a:lnTo>
                    <a:pt x="81" y="23"/>
                  </a:lnTo>
                  <a:lnTo>
                    <a:pt x="89" y="26"/>
                  </a:lnTo>
                  <a:lnTo>
                    <a:pt x="92" y="29"/>
                  </a:lnTo>
                  <a:lnTo>
                    <a:pt x="105" y="25"/>
                  </a:lnTo>
                  <a:lnTo>
                    <a:pt x="97" y="14"/>
                  </a:lnTo>
                  <a:lnTo>
                    <a:pt x="83" y="10"/>
                  </a:lnTo>
                  <a:lnTo>
                    <a:pt x="69" y="8"/>
                  </a:lnTo>
                  <a:lnTo>
                    <a:pt x="53" y="7"/>
                  </a:lnTo>
                  <a:lnTo>
                    <a:pt x="37" y="6"/>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4" name="Freeform 105">
              <a:extLst>
                <a:ext uri="{FF2B5EF4-FFF2-40B4-BE49-F238E27FC236}">
                  <a16:creationId xmlns:a16="http://schemas.microsoft.com/office/drawing/2014/main" id="{AC56BD77-E607-DD38-A2C6-DF7BCABF0B08}"/>
                </a:ext>
              </a:extLst>
            </p:cNvPr>
            <p:cNvSpPr>
              <a:spLocks/>
            </p:cNvSpPr>
            <p:nvPr/>
          </p:nvSpPr>
          <p:spPr bwMode="auto">
            <a:xfrm>
              <a:off x="1783" y="1574"/>
              <a:ext cx="137" cy="73"/>
            </a:xfrm>
            <a:custGeom>
              <a:avLst/>
              <a:gdLst>
                <a:gd name="T0" fmla="*/ 2566051 w 83"/>
                <a:gd name="T1" fmla="*/ 94 h 63"/>
                <a:gd name="T2" fmla="*/ 2519400 w 83"/>
                <a:gd name="T3" fmla="*/ 126 h 63"/>
                <a:gd name="T4" fmla="*/ 2289995 w 83"/>
                <a:gd name="T5" fmla="*/ 263 h 63"/>
                <a:gd name="T6" fmla="*/ 1894573 w 83"/>
                <a:gd name="T7" fmla="*/ 409 h 63"/>
                <a:gd name="T8" fmla="*/ 1385413 w 83"/>
                <a:gd name="T9" fmla="*/ 594 h 63"/>
                <a:gd name="T10" fmla="*/ 901473 w 83"/>
                <a:gd name="T11" fmla="*/ 732 h 63"/>
                <a:gd name="T12" fmla="*/ 416000 w 83"/>
                <a:gd name="T13" fmla="*/ 924 h 63"/>
                <a:gd name="T14" fmla="*/ 64690 w 83"/>
                <a:gd name="T15" fmla="*/ 1078 h 63"/>
                <a:gd name="T16" fmla="*/ 0 w 83"/>
                <a:gd name="T17" fmla="*/ 1362 h 63"/>
                <a:gd name="T18" fmla="*/ 480180 w 83"/>
                <a:gd name="T19" fmla="*/ 1283 h 63"/>
                <a:gd name="T20" fmla="*/ 480180 w 83"/>
                <a:gd name="T21" fmla="*/ 1249 h 63"/>
                <a:gd name="T22" fmla="*/ 695387 w 83"/>
                <a:gd name="T23" fmla="*/ 1139 h 63"/>
                <a:gd name="T24" fmla="*/ 1133388 w 83"/>
                <a:gd name="T25" fmla="*/ 990 h 63"/>
                <a:gd name="T26" fmla="*/ 1639289 w 83"/>
                <a:gd name="T27" fmla="*/ 848 h 63"/>
                <a:gd name="T28" fmla="*/ 2159391 w 83"/>
                <a:gd name="T29" fmla="*/ 693 h 63"/>
                <a:gd name="T30" fmla="*/ 260380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6"/>
                  </a:lnTo>
                  <a:lnTo>
                    <a:pt x="62" y="12"/>
                  </a:lnTo>
                  <a:lnTo>
                    <a:pt x="51" y="19"/>
                  </a:lnTo>
                  <a:lnTo>
                    <a:pt x="37" y="26"/>
                  </a:lnTo>
                  <a:lnTo>
                    <a:pt x="24" y="33"/>
                  </a:lnTo>
                  <a:lnTo>
                    <a:pt x="11" y="41"/>
                  </a:lnTo>
                  <a:lnTo>
                    <a:pt x="2" y="49"/>
                  </a:lnTo>
                  <a:lnTo>
                    <a:pt x="0" y="62"/>
                  </a:lnTo>
                  <a:lnTo>
                    <a:pt x="13" y="58"/>
                  </a:lnTo>
                  <a:lnTo>
                    <a:pt x="13" y="57"/>
                  </a:lnTo>
                  <a:lnTo>
                    <a:pt x="19" y="51"/>
                  </a:lnTo>
                  <a:lnTo>
                    <a:pt x="30"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5" name="Freeform 106">
              <a:extLst>
                <a:ext uri="{FF2B5EF4-FFF2-40B4-BE49-F238E27FC236}">
                  <a16:creationId xmlns:a16="http://schemas.microsoft.com/office/drawing/2014/main" id="{3DC7CB0A-0FD3-605A-E8B1-19CF7895B265}"/>
                </a:ext>
              </a:extLst>
            </p:cNvPr>
            <p:cNvSpPr>
              <a:spLocks/>
            </p:cNvSpPr>
            <p:nvPr/>
          </p:nvSpPr>
          <p:spPr bwMode="auto">
            <a:xfrm>
              <a:off x="1746" y="1545"/>
              <a:ext cx="174" cy="35"/>
            </a:xfrm>
            <a:custGeom>
              <a:avLst/>
              <a:gdLst>
                <a:gd name="T0" fmla="*/ 0 w 106"/>
                <a:gd name="T1" fmla="*/ 120 h 30"/>
                <a:gd name="T2" fmla="*/ 255808 w 106"/>
                <a:gd name="T3" fmla="*/ 358 h 30"/>
                <a:gd name="T4" fmla="*/ 689288 w 106"/>
                <a:gd name="T5" fmla="*/ 480 h 30"/>
                <a:gd name="T6" fmla="*/ 1189907 w 106"/>
                <a:gd name="T7" fmla="*/ 501 h 30"/>
                <a:gd name="T8" fmla="*/ 1701429 w 106"/>
                <a:gd name="T9" fmla="*/ 501 h 30"/>
                <a:gd name="T10" fmla="*/ 2261872 w 106"/>
                <a:gd name="T11" fmla="*/ 569 h 30"/>
                <a:gd name="T12" fmla="*/ 2681420 w 106"/>
                <a:gd name="T13" fmla="*/ 585 h 30"/>
                <a:gd name="T14" fmla="*/ 2950607 w 106"/>
                <a:gd name="T15" fmla="*/ 664 h 30"/>
                <a:gd name="T16" fmla="*/ 3048815 w 106"/>
                <a:gd name="T17" fmla="*/ 762 h 30"/>
                <a:gd name="T18" fmla="*/ 3468237 w 106"/>
                <a:gd name="T19" fmla="*/ 653 h 30"/>
                <a:gd name="T20" fmla="*/ 3206268 w 106"/>
                <a:gd name="T21" fmla="*/ 411 h 30"/>
                <a:gd name="T22" fmla="*/ 2742357 w 106"/>
                <a:gd name="T23" fmla="*/ 263 h 30"/>
                <a:gd name="T24" fmla="*/ 2274976 w 106"/>
                <a:gd name="T25" fmla="*/ 259 h 30"/>
                <a:gd name="T26" fmla="*/ 1762354 w 106"/>
                <a:gd name="T27" fmla="*/ 190 h 30"/>
                <a:gd name="T28" fmla="*/ 1229571 w 106"/>
                <a:gd name="T29" fmla="*/ 190 h 30"/>
                <a:gd name="T30" fmla="*/ 761928 w 106"/>
                <a:gd name="T31" fmla="*/ 140 h 30"/>
                <a:gd name="T32" fmla="*/ 503423 w 106"/>
                <a:gd name="T33" fmla="*/ 2 h 30"/>
                <a:gd name="T34" fmla="*/ 419911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1" y="20"/>
                  </a:lnTo>
                  <a:lnTo>
                    <a:pt x="68" y="22"/>
                  </a:lnTo>
                  <a:lnTo>
                    <a:pt x="81" y="23"/>
                  </a:lnTo>
                  <a:lnTo>
                    <a:pt x="89" y="26"/>
                  </a:lnTo>
                  <a:lnTo>
                    <a:pt x="92" y="29"/>
                  </a:lnTo>
                  <a:lnTo>
                    <a:pt x="105" y="25"/>
                  </a:lnTo>
                  <a:lnTo>
                    <a:pt x="97" y="15"/>
                  </a:lnTo>
                  <a:lnTo>
                    <a:pt x="83" y="10"/>
                  </a:lnTo>
                  <a:lnTo>
                    <a:pt x="69" y="9"/>
                  </a:lnTo>
                  <a:lnTo>
                    <a:pt x="53" y="7"/>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6" name="Freeform 107">
              <a:extLst>
                <a:ext uri="{FF2B5EF4-FFF2-40B4-BE49-F238E27FC236}">
                  <a16:creationId xmlns:a16="http://schemas.microsoft.com/office/drawing/2014/main" id="{7723C924-6970-6C58-35CC-7C8CEFBBEDEC}"/>
                </a:ext>
              </a:extLst>
            </p:cNvPr>
            <p:cNvSpPr>
              <a:spLocks/>
            </p:cNvSpPr>
            <p:nvPr/>
          </p:nvSpPr>
          <p:spPr bwMode="auto">
            <a:xfrm>
              <a:off x="1746" y="1484"/>
              <a:ext cx="138" cy="67"/>
            </a:xfrm>
            <a:custGeom>
              <a:avLst/>
              <a:gdLst>
                <a:gd name="T0" fmla="*/ 2353327 w 84"/>
                <a:gd name="T1" fmla="*/ 3 h 58"/>
                <a:gd name="T2" fmla="*/ 2325254 w 84"/>
                <a:gd name="T3" fmla="*/ 3 h 58"/>
                <a:gd name="T4" fmla="*/ 2114707 w 84"/>
                <a:gd name="T5" fmla="*/ 137 h 58"/>
                <a:gd name="T6" fmla="*/ 1748426 w 84"/>
                <a:gd name="T7" fmla="*/ 282 h 58"/>
                <a:gd name="T8" fmla="*/ 1244737 w 84"/>
                <a:gd name="T9" fmla="*/ 429 h 58"/>
                <a:gd name="T10" fmla="*/ 797119 w 84"/>
                <a:gd name="T11" fmla="*/ 573 h 58"/>
                <a:gd name="T12" fmla="*/ 368478 w 84"/>
                <a:gd name="T13" fmla="*/ 714 h 58"/>
                <a:gd name="T14" fmla="*/ 36728 w 84"/>
                <a:gd name="T15" fmla="*/ 917 h 58"/>
                <a:gd name="T16" fmla="*/ 0 w 84"/>
                <a:gd name="T17" fmla="*/ 1179 h 58"/>
                <a:gd name="T18" fmla="*/ 439537 w 84"/>
                <a:gd name="T19" fmla="*/ 1101 h 58"/>
                <a:gd name="T20" fmla="*/ 439537 w 84"/>
                <a:gd name="T21" fmla="*/ 1060 h 58"/>
                <a:gd name="T22" fmla="*/ 639367 w 84"/>
                <a:gd name="T23" fmla="*/ 953 h 58"/>
                <a:gd name="T24" fmla="*/ 994515 w 84"/>
                <a:gd name="T25" fmla="*/ 795 h 58"/>
                <a:gd name="T26" fmla="*/ 1476779 w 84"/>
                <a:gd name="T27" fmla="*/ 672 h 58"/>
                <a:gd name="T28" fmla="*/ 1948925 w 84"/>
                <a:gd name="T29" fmla="*/ 535 h 58"/>
                <a:gd name="T30" fmla="*/ 2353327 w 84"/>
                <a:gd name="T31" fmla="*/ 387 h 58"/>
                <a:gd name="T32" fmla="*/ 2676132 w 84"/>
                <a:gd name="T33" fmla="*/ 244 h 58"/>
                <a:gd name="T34" fmla="*/ 2779841 w 84"/>
                <a:gd name="T35" fmla="*/ 0 h 58"/>
                <a:gd name="T36" fmla="*/ 2353327 w 84"/>
                <a:gd name="T37" fmla="*/ 3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58"/>
                <a:gd name="T59" fmla="*/ 84 w 84"/>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58">
                  <a:moveTo>
                    <a:pt x="70" y="3"/>
                  </a:moveTo>
                  <a:lnTo>
                    <a:pt x="69" y="3"/>
                  </a:lnTo>
                  <a:lnTo>
                    <a:pt x="63" y="7"/>
                  </a:lnTo>
                  <a:lnTo>
                    <a:pt x="52" y="14"/>
                  </a:lnTo>
                  <a:lnTo>
                    <a:pt x="37" y="20"/>
                  </a:lnTo>
                  <a:lnTo>
                    <a:pt x="24" y="27"/>
                  </a:lnTo>
                  <a:lnTo>
                    <a:pt x="11" y="35"/>
                  </a:lnTo>
                  <a:lnTo>
                    <a:pt x="1" y="44"/>
                  </a:lnTo>
                  <a:lnTo>
                    <a:pt x="0" y="57"/>
                  </a:lnTo>
                  <a:lnTo>
                    <a:pt x="13" y="53"/>
                  </a:lnTo>
                  <a:lnTo>
                    <a:pt x="13" y="52"/>
                  </a:lnTo>
                  <a:lnTo>
                    <a:pt x="19" y="46"/>
                  </a:lnTo>
                  <a:lnTo>
                    <a:pt x="30" y="39"/>
                  </a:lnTo>
                  <a:lnTo>
                    <a:pt x="44" y="32"/>
                  </a:lnTo>
                  <a:lnTo>
                    <a:pt x="58" y="26"/>
                  </a:lnTo>
                  <a:lnTo>
                    <a:pt x="70" y="19"/>
                  </a:lnTo>
                  <a:lnTo>
                    <a:pt x="79" y="12"/>
                  </a:lnTo>
                  <a:lnTo>
                    <a:pt x="83" y="0"/>
                  </a:lnTo>
                  <a:lnTo>
                    <a:pt x="7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7" name="Freeform 108">
              <a:extLst>
                <a:ext uri="{FF2B5EF4-FFF2-40B4-BE49-F238E27FC236}">
                  <a16:creationId xmlns:a16="http://schemas.microsoft.com/office/drawing/2014/main" id="{CA3F1842-30DE-8C78-8426-DC6877352971}"/>
                </a:ext>
              </a:extLst>
            </p:cNvPr>
            <p:cNvSpPr>
              <a:spLocks/>
            </p:cNvSpPr>
            <p:nvPr/>
          </p:nvSpPr>
          <p:spPr bwMode="auto">
            <a:xfrm>
              <a:off x="2597" y="3600"/>
              <a:ext cx="116" cy="142"/>
            </a:xfrm>
            <a:custGeom>
              <a:avLst/>
              <a:gdLst>
                <a:gd name="T0" fmla="*/ 1607482 w 70"/>
                <a:gd name="T1" fmla="*/ 529 h 124"/>
                <a:gd name="T2" fmla="*/ 2755964 w 70"/>
                <a:gd name="T3" fmla="*/ 0 h 124"/>
                <a:gd name="T4" fmla="*/ 2780749 w 70"/>
                <a:gd name="T5" fmla="*/ 0 h 124"/>
                <a:gd name="T6" fmla="*/ 2529766 w 70"/>
                <a:gd name="T7" fmla="*/ 1074 h 124"/>
                <a:gd name="T8" fmla="*/ 2593430 w 70"/>
                <a:gd name="T9" fmla="*/ 1198 h 124"/>
                <a:gd name="T10" fmla="*/ 2593430 w 70"/>
                <a:gd name="T11" fmla="*/ 1328 h 124"/>
                <a:gd name="T12" fmla="*/ 2593430 w 70"/>
                <a:gd name="T13" fmla="*/ 1461 h 124"/>
                <a:gd name="T14" fmla="*/ 2636716 w 70"/>
                <a:gd name="T15" fmla="*/ 1614 h 124"/>
                <a:gd name="T16" fmla="*/ 2663827 w 70"/>
                <a:gd name="T17" fmla="*/ 1737 h 124"/>
                <a:gd name="T18" fmla="*/ 2663827 w 70"/>
                <a:gd name="T19" fmla="*/ 1873 h 124"/>
                <a:gd name="T20" fmla="*/ 2663827 w 70"/>
                <a:gd name="T21" fmla="*/ 1989 h 124"/>
                <a:gd name="T22" fmla="*/ 2706298 w 70"/>
                <a:gd name="T23" fmla="*/ 2116 h 124"/>
                <a:gd name="T24" fmla="*/ 2529766 w 70"/>
                <a:gd name="T25" fmla="*/ 2004 h 124"/>
                <a:gd name="T26" fmla="*/ 2416154 w 70"/>
                <a:gd name="T27" fmla="*/ 1891 h 124"/>
                <a:gd name="T28" fmla="*/ 2268645 w 70"/>
                <a:gd name="T29" fmla="*/ 1791 h 124"/>
                <a:gd name="T30" fmla="*/ 2150963 w 70"/>
                <a:gd name="T31" fmla="*/ 1651 h 124"/>
                <a:gd name="T32" fmla="*/ 1972759 w 70"/>
                <a:gd name="T33" fmla="*/ 1528 h 124"/>
                <a:gd name="T34" fmla="*/ 1820902 w 70"/>
                <a:gd name="T35" fmla="*/ 1439 h 124"/>
                <a:gd name="T36" fmla="*/ 1704144 w 70"/>
                <a:gd name="T37" fmla="*/ 1325 h 124"/>
                <a:gd name="T38" fmla="*/ 1526583 w 70"/>
                <a:gd name="T39" fmla="*/ 1193 h 124"/>
                <a:gd name="T40" fmla="*/ 0 w 70"/>
                <a:gd name="T41" fmla="*/ 363 h 124"/>
                <a:gd name="T42" fmla="*/ 0 w 70"/>
                <a:gd name="T43" fmla="*/ 328 h 124"/>
                <a:gd name="T44" fmla="*/ 1607482 w 70"/>
                <a:gd name="T45" fmla="*/ 529 h 12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0"/>
                <a:gd name="T70" fmla="*/ 0 h 124"/>
                <a:gd name="T71" fmla="*/ 70 w 70"/>
                <a:gd name="T72" fmla="*/ 124 h 12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0" h="124">
                  <a:moveTo>
                    <a:pt x="40" y="30"/>
                  </a:moveTo>
                  <a:lnTo>
                    <a:pt x="68" y="0"/>
                  </a:lnTo>
                  <a:lnTo>
                    <a:pt x="69" y="0"/>
                  </a:lnTo>
                  <a:lnTo>
                    <a:pt x="63" y="62"/>
                  </a:lnTo>
                  <a:lnTo>
                    <a:pt x="64" y="70"/>
                  </a:lnTo>
                  <a:lnTo>
                    <a:pt x="64" y="77"/>
                  </a:lnTo>
                  <a:lnTo>
                    <a:pt x="64" y="85"/>
                  </a:lnTo>
                  <a:lnTo>
                    <a:pt x="65" y="93"/>
                  </a:lnTo>
                  <a:lnTo>
                    <a:pt x="66" y="100"/>
                  </a:lnTo>
                  <a:lnTo>
                    <a:pt x="66" y="108"/>
                  </a:lnTo>
                  <a:lnTo>
                    <a:pt x="66" y="115"/>
                  </a:lnTo>
                  <a:lnTo>
                    <a:pt x="67" y="123"/>
                  </a:lnTo>
                  <a:lnTo>
                    <a:pt x="63" y="117"/>
                  </a:lnTo>
                  <a:lnTo>
                    <a:pt x="60" y="110"/>
                  </a:lnTo>
                  <a:lnTo>
                    <a:pt x="56" y="103"/>
                  </a:lnTo>
                  <a:lnTo>
                    <a:pt x="53" y="96"/>
                  </a:lnTo>
                  <a:lnTo>
                    <a:pt x="49" y="89"/>
                  </a:lnTo>
                  <a:lnTo>
                    <a:pt x="45" y="83"/>
                  </a:lnTo>
                  <a:lnTo>
                    <a:pt x="42" y="76"/>
                  </a:lnTo>
                  <a:lnTo>
                    <a:pt x="38" y="69"/>
                  </a:lnTo>
                  <a:lnTo>
                    <a:pt x="0" y="21"/>
                  </a:lnTo>
                  <a:lnTo>
                    <a:pt x="0" y="19"/>
                  </a:lnTo>
                  <a:lnTo>
                    <a:pt x="40" y="3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grpSp>
        <p:nvGrpSpPr>
          <p:cNvPr id="4" name="Group 109">
            <a:extLst>
              <a:ext uri="{FF2B5EF4-FFF2-40B4-BE49-F238E27FC236}">
                <a16:creationId xmlns:a16="http://schemas.microsoft.com/office/drawing/2014/main" id="{71C4C68D-6D72-5E57-4DA3-364C3EAC1C94}"/>
              </a:ext>
            </a:extLst>
          </p:cNvPr>
          <p:cNvGrpSpPr>
            <a:grpSpLocks/>
          </p:cNvGrpSpPr>
          <p:nvPr/>
        </p:nvGrpSpPr>
        <p:grpSpPr bwMode="auto">
          <a:xfrm>
            <a:off x="1992313" y="2576573"/>
            <a:ext cx="1220787" cy="3103563"/>
            <a:chOff x="1539" y="1464"/>
            <a:chExt cx="952" cy="2281"/>
          </a:xfrm>
        </p:grpSpPr>
        <p:sp>
          <p:nvSpPr>
            <p:cNvPr id="22716" name="Freeform 110">
              <a:extLst>
                <a:ext uri="{FF2B5EF4-FFF2-40B4-BE49-F238E27FC236}">
                  <a16:creationId xmlns:a16="http://schemas.microsoft.com/office/drawing/2014/main" id="{AAD9C2AB-17C7-5A69-501B-B06738092DB0}"/>
                </a:ext>
              </a:extLst>
            </p:cNvPr>
            <p:cNvSpPr>
              <a:spLocks/>
            </p:cNvSpPr>
            <p:nvPr/>
          </p:nvSpPr>
          <p:spPr bwMode="auto">
            <a:xfrm>
              <a:off x="2407" y="3534"/>
              <a:ext cx="78" cy="88"/>
            </a:xfrm>
            <a:custGeom>
              <a:avLst/>
              <a:gdLst>
                <a:gd name="T0" fmla="*/ 1379691 w 47"/>
                <a:gd name="T1" fmla="*/ 93 h 76"/>
                <a:gd name="T2" fmla="*/ 1379691 w 47"/>
                <a:gd name="T3" fmla="*/ 125 h 76"/>
                <a:gd name="T4" fmla="*/ 1285052 w 47"/>
                <a:gd name="T5" fmla="*/ 125 h 76"/>
                <a:gd name="T6" fmla="*/ 1007239 w 47"/>
                <a:gd name="T7" fmla="*/ 226 h 76"/>
                <a:gd name="T8" fmla="*/ 683071 w 47"/>
                <a:gd name="T9" fmla="*/ 303 h 76"/>
                <a:gd name="T10" fmla="*/ 301850 w 47"/>
                <a:gd name="T11" fmla="*/ 470 h 76"/>
                <a:gd name="T12" fmla="*/ 44208 w 47"/>
                <a:gd name="T13" fmla="*/ 729 h 76"/>
                <a:gd name="T14" fmla="*/ 0 w 47"/>
                <a:gd name="T15" fmla="*/ 1131 h 76"/>
                <a:gd name="T16" fmla="*/ 121756 w 47"/>
                <a:gd name="T17" fmla="*/ 1630 h 76"/>
                <a:gd name="T18" fmla="*/ 683071 w 47"/>
                <a:gd name="T19" fmla="*/ 1537 h 76"/>
                <a:gd name="T20" fmla="*/ 556520 w 47"/>
                <a:gd name="T21" fmla="*/ 1079 h 76"/>
                <a:gd name="T22" fmla="*/ 577434 w 47"/>
                <a:gd name="T23" fmla="*/ 819 h 76"/>
                <a:gd name="T24" fmla="*/ 758525 w 47"/>
                <a:gd name="T25" fmla="*/ 659 h 76"/>
                <a:gd name="T26" fmla="*/ 1007239 w 47"/>
                <a:gd name="T27" fmla="*/ 569 h 76"/>
                <a:gd name="T28" fmla="*/ 1285052 w 47"/>
                <a:gd name="T29" fmla="*/ 447 h 76"/>
                <a:gd name="T30" fmla="*/ 1590362 w 47"/>
                <a:gd name="T31" fmla="*/ 386 h 76"/>
                <a:gd name="T32" fmla="*/ 1907917 w 47"/>
                <a:gd name="T33" fmla="*/ 247 h 76"/>
                <a:gd name="T34" fmla="*/ 1907917 w 47"/>
                <a:gd name="T35" fmla="*/ 0 h 76"/>
                <a:gd name="T36" fmla="*/ 1379691 w 47"/>
                <a:gd name="T37" fmla="*/ 93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76"/>
                <a:gd name="T59" fmla="*/ 47 w 47"/>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76">
                  <a:moveTo>
                    <a:pt x="33" y="4"/>
                  </a:moveTo>
                  <a:lnTo>
                    <a:pt x="33" y="6"/>
                  </a:lnTo>
                  <a:lnTo>
                    <a:pt x="31" y="6"/>
                  </a:lnTo>
                  <a:lnTo>
                    <a:pt x="24" y="10"/>
                  </a:lnTo>
                  <a:lnTo>
                    <a:pt x="16" y="14"/>
                  </a:lnTo>
                  <a:lnTo>
                    <a:pt x="7" y="22"/>
                  </a:lnTo>
                  <a:lnTo>
                    <a:pt x="1" y="34"/>
                  </a:lnTo>
                  <a:lnTo>
                    <a:pt x="0" y="52"/>
                  </a:lnTo>
                  <a:lnTo>
                    <a:pt x="3" y="75"/>
                  </a:lnTo>
                  <a:lnTo>
                    <a:pt x="16" y="71"/>
                  </a:lnTo>
                  <a:lnTo>
                    <a:pt x="13" y="50"/>
                  </a:lnTo>
                  <a:lnTo>
                    <a:pt x="14" y="38"/>
                  </a:lnTo>
                  <a:lnTo>
                    <a:pt x="18" y="30"/>
                  </a:lnTo>
                  <a:lnTo>
                    <a:pt x="24" y="26"/>
                  </a:lnTo>
                  <a:lnTo>
                    <a:pt x="31" y="21"/>
                  </a:lnTo>
                  <a:lnTo>
                    <a:pt x="38" y="18"/>
                  </a:lnTo>
                  <a:lnTo>
                    <a:pt x="46" y="11"/>
                  </a:lnTo>
                  <a:lnTo>
                    <a:pt x="46" y="0"/>
                  </a:lnTo>
                  <a:lnTo>
                    <a:pt x="3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7" name="Freeform 111">
              <a:extLst>
                <a:ext uri="{FF2B5EF4-FFF2-40B4-BE49-F238E27FC236}">
                  <a16:creationId xmlns:a16="http://schemas.microsoft.com/office/drawing/2014/main" id="{AAC71DD8-B2DE-B237-CF4C-77DC4AE48AF3}"/>
                </a:ext>
              </a:extLst>
            </p:cNvPr>
            <p:cNvSpPr>
              <a:spLocks/>
            </p:cNvSpPr>
            <p:nvPr/>
          </p:nvSpPr>
          <p:spPr bwMode="auto">
            <a:xfrm>
              <a:off x="2311" y="3503"/>
              <a:ext cx="174" cy="37"/>
            </a:xfrm>
            <a:custGeom>
              <a:avLst/>
              <a:gdLst>
                <a:gd name="T0" fmla="*/ 0 w 105"/>
                <a:gd name="T1" fmla="*/ 93 h 32"/>
                <a:gd name="T2" fmla="*/ 320394 w 105"/>
                <a:gd name="T3" fmla="*/ 299 h 32"/>
                <a:gd name="T4" fmla="*/ 851120 w 105"/>
                <a:gd name="T5" fmla="*/ 383 h 32"/>
                <a:gd name="T6" fmla="*/ 1410427 w 105"/>
                <a:gd name="T7" fmla="*/ 435 h 32"/>
                <a:gd name="T8" fmla="*/ 2080606 w 105"/>
                <a:gd name="T9" fmla="*/ 463 h 32"/>
                <a:gd name="T10" fmla="*/ 2706298 w 105"/>
                <a:gd name="T11" fmla="*/ 503 h 32"/>
                <a:gd name="T12" fmla="*/ 3243486 w 105"/>
                <a:gd name="T13" fmla="*/ 535 h 32"/>
                <a:gd name="T14" fmla="*/ 3564453 w 105"/>
                <a:gd name="T15" fmla="*/ 592 h 32"/>
                <a:gd name="T16" fmla="*/ 3677016 w 105"/>
                <a:gd name="T17" fmla="*/ 673 h 32"/>
                <a:gd name="T18" fmla="*/ 4192184 w 105"/>
                <a:gd name="T19" fmla="*/ 582 h 32"/>
                <a:gd name="T20" fmla="*/ 3873205 w 105"/>
                <a:gd name="T21" fmla="*/ 346 h 32"/>
                <a:gd name="T22" fmla="*/ 3311643 w 105"/>
                <a:gd name="T23" fmla="*/ 259 h 32"/>
                <a:gd name="T24" fmla="*/ 2755964 w 105"/>
                <a:gd name="T25" fmla="*/ 224 h 32"/>
                <a:gd name="T26" fmla="*/ 2105818 w 105"/>
                <a:gd name="T27" fmla="*/ 194 h 32"/>
                <a:gd name="T28" fmla="*/ 1458024 w 105"/>
                <a:gd name="T29" fmla="*/ 145 h 32"/>
                <a:gd name="T30" fmla="*/ 921214 w 105"/>
                <a:gd name="T31" fmla="*/ 108 h 32"/>
                <a:gd name="T32" fmla="*/ 605611 w 105"/>
                <a:gd name="T33" fmla="*/ 2 h 32"/>
                <a:gd name="T34" fmla="*/ 530939 w 105"/>
                <a:gd name="T35" fmla="*/ 0 h 32"/>
                <a:gd name="T36" fmla="*/ 0 w 105"/>
                <a:gd name="T37" fmla="*/ 93 h 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2"/>
                <a:gd name="T59" fmla="*/ 105 w 105"/>
                <a:gd name="T60" fmla="*/ 32 h 3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2">
                  <a:moveTo>
                    <a:pt x="0" y="4"/>
                  </a:moveTo>
                  <a:lnTo>
                    <a:pt x="8" y="14"/>
                  </a:lnTo>
                  <a:lnTo>
                    <a:pt x="21" y="18"/>
                  </a:lnTo>
                  <a:lnTo>
                    <a:pt x="35" y="20"/>
                  </a:lnTo>
                  <a:lnTo>
                    <a:pt x="51" y="22"/>
                  </a:lnTo>
                  <a:lnTo>
                    <a:pt x="67" y="23"/>
                  </a:lnTo>
                  <a:lnTo>
                    <a:pt x="80" y="25"/>
                  </a:lnTo>
                  <a:lnTo>
                    <a:pt x="88" y="28"/>
                  </a:lnTo>
                  <a:lnTo>
                    <a:pt x="91" y="31"/>
                  </a:lnTo>
                  <a:lnTo>
                    <a:pt x="104" y="27"/>
                  </a:lnTo>
                  <a:lnTo>
                    <a:pt x="96" y="16"/>
                  </a:lnTo>
                  <a:lnTo>
                    <a:pt x="82" y="12"/>
                  </a:lnTo>
                  <a:lnTo>
                    <a:pt x="68" y="10"/>
                  </a:lnTo>
                  <a:lnTo>
                    <a:pt x="52" y="9"/>
                  </a:lnTo>
                  <a:lnTo>
                    <a:pt x="36"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8" name="Freeform 112">
              <a:extLst>
                <a:ext uri="{FF2B5EF4-FFF2-40B4-BE49-F238E27FC236}">
                  <a16:creationId xmlns:a16="http://schemas.microsoft.com/office/drawing/2014/main" id="{8148FBCA-B6C4-8A1C-E3B8-F2DF5F0E383B}"/>
                </a:ext>
              </a:extLst>
            </p:cNvPr>
            <p:cNvSpPr>
              <a:spLocks/>
            </p:cNvSpPr>
            <p:nvPr/>
          </p:nvSpPr>
          <p:spPr bwMode="auto">
            <a:xfrm>
              <a:off x="2311" y="3503"/>
              <a:ext cx="24" cy="6"/>
            </a:xfrm>
            <a:custGeom>
              <a:avLst/>
              <a:gdLst>
                <a:gd name="T0" fmla="*/ 0 w 14"/>
                <a:gd name="T1" fmla="*/ 179 h 5"/>
                <a:gd name="T2" fmla="*/ 477204 w 14"/>
                <a:gd name="T3" fmla="*/ 2 h 5"/>
                <a:gd name="T4" fmla="*/ 1057803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9" name="Freeform 113">
              <a:extLst>
                <a:ext uri="{FF2B5EF4-FFF2-40B4-BE49-F238E27FC236}">
                  <a16:creationId xmlns:a16="http://schemas.microsoft.com/office/drawing/2014/main" id="{9ABDFAEE-4D54-4676-7639-A27E7BD3EB56}"/>
                </a:ext>
              </a:extLst>
            </p:cNvPr>
            <p:cNvSpPr>
              <a:spLocks/>
            </p:cNvSpPr>
            <p:nvPr/>
          </p:nvSpPr>
          <p:spPr bwMode="auto">
            <a:xfrm>
              <a:off x="2311" y="3437"/>
              <a:ext cx="139" cy="72"/>
            </a:xfrm>
            <a:custGeom>
              <a:avLst/>
              <a:gdLst>
                <a:gd name="T0" fmla="*/ 2750315 w 84"/>
                <a:gd name="T1" fmla="*/ 73 h 63"/>
                <a:gd name="T2" fmla="*/ 2674282 w 84"/>
                <a:gd name="T3" fmla="*/ 83 h 63"/>
                <a:gd name="T4" fmla="*/ 2468110 w 84"/>
                <a:gd name="T5" fmla="*/ 186 h 63"/>
                <a:gd name="T6" fmla="*/ 2035863 w 84"/>
                <a:gd name="T7" fmla="*/ 278 h 63"/>
                <a:gd name="T8" fmla="*/ 1491520 w 84"/>
                <a:gd name="T9" fmla="*/ 394 h 63"/>
                <a:gd name="T10" fmla="*/ 941823 w 84"/>
                <a:gd name="T11" fmla="*/ 530 h 63"/>
                <a:gd name="T12" fmla="*/ 477822 w 84"/>
                <a:gd name="T13" fmla="*/ 637 h 63"/>
                <a:gd name="T14" fmla="*/ 68952 w 84"/>
                <a:gd name="T15" fmla="*/ 808 h 63"/>
                <a:gd name="T16" fmla="*/ 0 w 84"/>
                <a:gd name="T17" fmla="*/ 1032 h 63"/>
                <a:gd name="T18" fmla="*/ 516999 w 84"/>
                <a:gd name="T19" fmla="*/ 951 h 63"/>
                <a:gd name="T20" fmla="*/ 544701 w 84"/>
                <a:gd name="T21" fmla="*/ 923 h 63"/>
                <a:gd name="T22" fmla="*/ 790682 w 84"/>
                <a:gd name="T23" fmla="*/ 823 h 63"/>
                <a:gd name="T24" fmla="*/ 1203808 w 84"/>
                <a:gd name="T25" fmla="*/ 707 h 63"/>
                <a:gd name="T26" fmla="*/ 1732518 w 84"/>
                <a:gd name="T27" fmla="*/ 605 h 63"/>
                <a:gd name="T28" fmla="*/ 2275245 w 84"/>
                <a:gd name="T29" fmla="*/ 474 h 63"/>
                <a:gd name="T30" fmla="*/ 2750315 w 84"/>
                <a:gd name="T31" fmla="*/ 345 h 63"/>
                <a:gd name="T32" fmla="*/ 3123646 w 84"/>
                <a:gd name="T33" fmla="*/ 213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0" name="Freeform 114">
              <a:extLst>
                <a:ext uri="{FF2B5EF4-FFF2-40B4-BE49-F238E27FC236}">
                  <a16:creationId xmlns:a16="http://schemas.microsoft.com/office/drawing/2014/main" id="{E6B1A59D-0D17-2C2D-D226-1E2D1B0DCD9F}"/>
                </a:ext>
              </a:extLst>
            </p:cNvPr>
            <p:cNvSpPr>
              <a:spLocks/>
            </p:cNvSpPr>
            <p:nvPr/>
          </p:nvSpPr>
          <p:spPr bwMode="auto">
            <a:xfrm>
              <a:off x="2274" y="3408"/>
              <a:ext cx="176" cy="34"/>
            </a:xfrm>
            <a:custGeom>
              <a:avLst/>
              <a:gdLst>
                <a:gd name="T0" fmla="*/ 0 w 107"/>
                <a:gd name="T1" fmla="*/ 61 h 30"/>
                <a:gd name="T2" fmla="*/ 272945 w 107"/>
                <a:gd name="T3" fmla="*/ 186 h 30"/>
                <a:gd name="T4" fmla="*/ 738470 w 107"/>
                <a:gd name="T5" fmla="*/ 264 h 30"/>
                <a:gd name="T6" fmla="*/ 1242572 w 107"/>
                <a:gd name="T7" fmla="*/ 298 h 30"/>
                <a:gd name="T8" fmla="*/ 1829721 w 107"/>
                <a:gd name="T9" fmla="*/ 298 h 30"/>
                <a:gd name="T10" fmla="*/ 2351955 w 107"/>
                <a:gd name="T11" fmla="*/ 299 h 30"/>
                <a:gd name="T12" fmla="*/ 2833329 w 107"/>
                <a:gd name="T13" fmla="*/ 338 h 30"/>
                <a:gd name="T14" fmla="*/ 3156192 w 107"/>
                <a:gd name="T15" fmla="*/ 383 h 30"/>
                <a:gd name="T16" fmla="*/ 3223782 w 107"/>
                <a:gd name="T17" fmla="*/ 394 h 30"/>
                <a:gd name="T18" fmla="*/ 3649694 w 107"/>
                <a:gd name="T19" fmla="*/ 339 h 30"/>
                <a:gd name="T20" fmla="*/ 3361858 w 107"/>
                <a:gd name="T21" fmla="*/ 206 h 30"/>
                <a:gd name="T22" fmla="*/ 2899460 w 107"/>
                <a:gd name="T23" fmla="*/ 145 h 30"/>
                <a:gd name="T24" fmla="*/ 2374059 w 107"/>
                <a:gd name="T25" fmla="*/ 113 h 30"/>
                <a:gd name="T26" fmla="*/ 1829721 w 107"/>
                <a:gd name="T27" fmla="*/ 100 h 30"/>
                <a:gd name="T28" fmla="*/ 1326479 w 107"/>
                <a:gd name="T29" fmla="*/ 100 h 30"/>
                <a:gd name="T30" fmla="*/ 818282 w 107"/>
                <a:gd name="T31" fmla="*/ 78 h 30"/>
                <a:gd name="T32" fmla="*/ 551648 w 107"/>
                <a:gd name="T33" fmla="*/ 3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9"/>
                  </a:lnTo>
                  <a:lnTo>
                    <a:pt x="36" y="21"/>
                  </a:lnTo>
                  <a:lnTo>
                    <a:pt x="53" y="21"/>
                  </a:lnTo>
                  <a:lnTo>
                    <a:pt x="68" y="22"/>
                  </a:lnTo>
                  <a:lnTo>
                    <a:pt x="82" y="24"/>
                  </a:lnTo>
                  <a:lnTo>
                    <a:pt x="91" y="27"/>
                  </a:lnTo>
                  <a:lnTo>
                    <a:pt x="93" y="29"/>
                  </a:lnTo>
                  <a:lnTo>
                    <a:pt x="106" y="25"/>
                  </a:lnTo>
                  <a:lnTo>
                    <a:pt x="97" y="15"/>
                  </a:lnTo>
                  <a:lnTo>
                    <a:pt x="84" y="11"/>
                  </a:lnTo>
                  <a:lnTo>
                    <a:pt x="69" y="9"/>
                  </a:lnTo>
                  <a:lnTo>
                    <a:pt x="53" y="8"/>
                  </a:lnTo>
                  <a:lnTo>
                    <a:pt x="38"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1" name="Freeform 115">
              <a:extLst>
                <a:ext uri="{FF2B5EF4-FFF2-40B4-BE49-F238E27FC236}">
                  <a16:creationId xmlns:a16="http://schemas.microsoft.com/office/drawing/2014/main" id="{73B4C844-25DD-6490-A51D-32EAE4C328F9}"/>
                </a:ext>
              </a:extLst>
            </p:cNvPr>
            <p:cNvSpPr>
              <a:spLocks/>
            </p:cNvSpPr>
            <p:nvPr/>
          </p:nvSpPr>
          <p:spPr bwMode="auto">
            <a:xfrm>
              <a:off x="2274" y="3341"/>
              <a:ext cx="138" cy="72"/>
            </a:xfrm>
            <a:custGeom>
              <a:avLst/>
              <a:gdLst>
                <a:gd name="T0" fmla="*/ 2353327 w 84"/>
                <a:gd name="T1" fmla="*/ 73 h 63"/>
                <a:gd name="T2" fmla="*/ 2294899 w 84"/>
                <a:gd name="T3" fmla="*/ 83 h 63"/>
                <a:gd name="T4" fmla="*/ 2095021 w 84"/>
                <a:gd name="T5" fmla="*/ 186 h 63"/>
                <a:gd name="T6" fmla="*/ 1725639 w 84"/>
                <a:gd name="T7" fmla="*/ 302 h 63"/>
                <a:gd name="T8" fmla="*/ 1275230 w 84"/>
                <a:gd name="T9" fmla="*/ 394 h 63"/>
                <a:gd name="T10" fmla="*/ 797119 w 84"/>
                <a:gd name="T11" fmla="*/ 514 h 63"/>
                <a:gd name="T12" fmla="*/ 410755 w 84"/>
                <a:gd name="T13" fmla="*/ 637 h 63"/>
                <a:gd name="T14" fmla="*/ 60339 w 84"/>
                <a:gd name="T15" fmla="*/ 808 h 63"/>
                <a:gd name="T16" fmla="*/ 0 w 84"/>
                <a:gd name="T17" fmla="*/ 1032 h 63"/>
                <a:gd name="T18" fmla="*/ 439537 w 84"/>
                <a:gd name="T19" fmla="*/ 951 h 63"/>
                <a:gd name="T20" fmla="*/ 472486 w 84"/>
                <a:gd name="T21" fmla="*/ 905 h 63"/>
                <a:gd name="T22" fmla="*/ 639367 w 84"/>
                <a:gd name="T23" fmla="*/ 823 h 63"/>
                <a:gd name="T24" fmla="*/ 1050389 w 84"/>
                <a:gd name="T25" fmla="*/ 707 h 63"/>
                <a:gd name="T26" fmla="*/ 1476779 w 84"/>
                <a:gd name="T27" fmla="*/ 605 h 63"/>
                <a:gd name="T28" fmla="*/ 1948925 w 84"/>
                <a:gd name="T29" fmla="*/ 474 h 63"/>
                <a:gd name="T30" fmla="*/ 2353327 w 84"/>
                <a:gd name="T31" fmla="*/ 363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2" y="11"/>
                  </a:lnTo>
                  <a:lnTo>
                    <a:pt x="51" y="18"/>
                  </a:lnTo>
                  <a:lnTo>
                    <a:pt x="38" y="24"/>
                  </a:lnTo>
                  <a:lnTo>
                    <a:pt x="24" y="31"/>
                  </a:lnTo>
                  <a:lnTo>
                    <a:pt x="12" y="39"/>
                  </a:lnTo>
                  <a:lnTo>
                    <a:pt x="2" y="49"/>
                  </a:lnTo>
                  <a:lnTo>
                    <a:pt x="0" y="62"/>
                  </a:lnTo>
                  <a:lnTo>
                    <a:pt x="13" y="58"/>
                  </a:lnTo>
                  <a:lnTo>
                    <a:pt x="14" y="55"/>
                  </a:lnTo>
                  <a:lnTo>
                    <a:pt x="19" y="50"/>
                  </a:lnTo>
                  <a:lnTo>
                    <a:pt x="31" y="43"/>
                  </a:lnTo>
                  <a:lnTo>
                    <a:pt x="44" y="36"/>
                  </a:lnTo>
                  <a:lnTo>
                    <a:pt x="58" y="29"/>
                  </a:lnTo>
                  <a:lnTo>
                    <a:pt x="70" y="22"/>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2" name="Freeform 116">
              <a:extLst>
                <a:ext uri="{FF2B5EF4-FFF2-40B4-BE49-F238E27FC236}">
                  <a16:creationId xmlns:a16="http://schemas.microsoft.com/office/drawing/2014/main" id="{BA3304CC-9347-B1BC-DD09-8BCB2FA7BC53}"/>
                </a:ext>
              </a:extLst>
            </p:cNvPr>
            <p:cNvSpPr>
              <a:spLocks/>
            </p:cNvSpPr>
            <p:nvPr/>
          </p:nvSpPr>
          <p:spPr bwMode="auto">
            <a:xfrm>
              <a:off x="2239" y="3318"/>
              <a:ext cx="173" cy="28"/>
            </a:xfrm>
            <a:custGeom>
              <a:avLst/>
              <a:gdLst>
                <a:gd name="T0" fmla="*/ 0 w 105"/>
                <a:gd name="T1" fmla="*/ 4 h 25"/>
                <a:gd name="T2" fmla="*/ 331885 w 105"/>
                <a:gd name="T3" fmla="*/ 148 h 25"/>
                <a:gd name="T4" fmla="*/ 766270 w 105"/>
                <a:gd name="T5" fmla="*/ 166 h 25"/>
                <a:gd name="T6" fmla="*/ 1283006 w 105"/>
                <a:gd name="T7" fmla="*/ 170 h 25"/>
                <a:gd name="T8" fmla="*/ 1875692 w 105"/>
                <a:gd name="T9" fmla="*/ 170 h 25"/>
                <a:gd name="T10" fmla="*/ 2377226 w 105"/>
                <a:gd name="T11" fmla="*/ 186 h 25"/>
                <a:gd name="T12" fmla="*/ 2865936 w 105"/>
                <a:gd name="T13" fmla="*/ 190 h 25"/>
                <a:gd name="T14" fmla="*/ 3152065 w 105"/>
                <a:gd name="T15" fmla="*/ 239 h 25"/>
                <a:gd name="T16" fmla="*/ 3261172 w 105"/>
                <a:gd name="T17" fmla="*/ 261 h 25"/>
                <a:gd name="T18" fmla="*/ 3721278 w 105"/>
                <a:gd name="T19" fmla="*/ 213 h 25"/>
                <a:gd name="T20" fmla="*/ 3427301 w 105"/>
                <a:gd name="T21" fmla="*/ 105 h 25"/>
                <a:gd name="T22" fmla="*/ 2979100 w 105"/>
                <a:gd name="T23" fmla="*/ 60 h 25"/>
                <a:gd name="T24" fmla="*/ 2445765 w 105"/>
                <a:gd name="T25" fmla="*/ 4 h 25"/>
                <a:gd name="T26" fmla="*/ 1875692 w 105"/>
                <a:gd name="T27" fmla="*/ 3 h 25"/>
                <a:gd name="T28" fmla="*/ 1283006 w 105"/>
                <a:gd name="T29" fmla="*/ 3 h 25"/>
                <a:gd name="T30" fmla="*/ 778703 w 105"/>
                <a:gd name="T31" fmla="*/ 2 h 25"/>
                <a:gd name="T32" fmla="*/ 504969 w 105"/>
                <a:gd name="T33" fmla="*/ 0 h 25"/>
                <a:gd name="T34" fmla="*/ 465077 w 105"/>
                <a:gd name="T35" fmla="*/ 0 h 25"/>
                <a:gd name="T36" fmla="*/ 0 w 105"/>
                <a:gd name="T37" fmla="*/ 4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5"/>
                <a:gd name="T59" fmla="*/ 105 w 105"/>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5">
                  <a:moveTo>
                    <a:pt x="0" y="4"/>
                  </a:moveTo>
                  <a:lnTo>
                    <a:pt x="9" y="13"/>
                  </a:lnTo>
                  <a:lnTo>
                    <a:pt x="21" y="15"/>
                  </a:lnTo>
                  <a:lnTo>
                    <a:pt x="36" y="16"/>
                  </a:lnTo>
                  <a:lnTo>
                    <a:pt x="52" y="16"/>
                  </a:lnTo>
                  <a:lnTo>
                    <a:pt x="66" y="17"/>
                  </a:lnTo>
                  <a:lnTo>
                    <a:pt x="80" y="18"/>
                  </a:lnTo>
                  <a:lnTo>
                    <a:pt x="88" y="22"/>
                  </a:lnTo>
                  <a:lnTo>
                    <a:pt x="91" y="24"/>
                  </a:lnTo>
                  <a:lnTo>
                    <a:pt x="104" y="20"/>
                  </a:lnTo>
                  <a:lnTo>
                    <a:pt x="96" y="10"/>
                  </a:lnTo>
                  <a:lnTo>
                    <a:pt x="83" y="5"/>
                  </a:lnTo>
                  <a:lnTo>
                    <a:pt x="68" y="4"/>
                  </a:lnTo>
                  <a:lnTo>
                    <a:pt x="52" y="3"/>
                  </a:lnTo>
                  <a:lnTo>
                    <a:pt x="36" y="3"/>
                  </a:lnTo>
                  <a:lnTo>
                    <a:pt x="22" y="2"/>
                  </a:lnTo>
                  <a:lnTo>
                    <a:pt x="14" y="0"/>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3" name="Freeform 117">
              <a:extLst>
                <a:ext uri="{FF2B5EF4-FFF2-40B4-BE49-F238E27FC236}">
                  <a16:creationId xmlns:a16="http://schemas.microsoft.com/office/drawing/2014/main" id="{27A7E990-7B5E-C997-6A44-CBEE431EADA0}"/>
                </a:ext>
              </a:extLst>
            </p:cNvPr>
            <p:cNvSpPr>
              <a:spLocks/>
            </p:cNvSpPr>
            <p:nvPr/>
          </p:nvSpPr>
          <p:spPr bwMode="auto">
            <a:xfrm>
              <a:off x="2239" y="3316"/>
              <a:ext cx="24" cy="8"/>
            </a:xfrm>
            <a:custGeom>
              <a:avLst/>
              <a:gdLst>
                <a:gd name="T0" fmla="*/ 0 w 14"/>
                <a:gd name="T1" fmla="*/ 73 h 7"/>
                <a:gd name="T2" fmla="*/ 0 w 14"/>
                <a:gd name="T3" fmla="*/ 95 h 7"/>
                <a:gd name="T4" fmla="*/ 1057803 w 14"/>
                <a:gd name="T5" fmla="*/ 2 h 7"/>
                <a:gd name="T6" fmla="*/ 1057803 w 14"/>
                <a:gd name="T7" fmla="*/ 0 h 7"/>
                <a:gd name="T8" fmla="*/ 0 w 14"/>
                <a:gd name="T9" fmla="*/ 73 h 7"/>
                <a:gd name="T10" fmla="*/ 0 60000 65536"/>
                <a:gd name="T11" fmla="*/ 0 60000 65536"/>
                <a:gd name="T12" fmla="*/ 0 60000 65536"/>
                <a:gd name="T13" fmla="*/ 0 60000 65536"/>
                <a:gd name="T14" fmla="*/ 0 60000 65536"/>
                <a:gd name="T15" fmla="*/ 0 w 14"/>
                <a:gd name="T16" fmla="*/ 0 h 7"/>
                <a:gd name="T17" fmla="*/ 14 w 14"/>
                <a:gd name="T18" fmla="*/ 7 h 7"/>
              </a:gdLst>
              <a:ahLst/>
              <a:cxnLst>
                <a:cxn ang="T10">
                  <a:pos x="T0" y="T1"/>
                </a:cxn>
                <a:cxn ang="T11">
                  <a:pos x="T2" y="T3"/>
                </a:cxn>
                <a:cxn ang="T12">
                  <a:pos x="T4" y="T5"/>
                </a:cxn>
                <a:cxn ang="T13">
                  <a:pos x="T6" y="T7"/>
                </a:cxn>
                <a:cxn ang="T14">
                  <a:pos x="T8" y="T9"/>
                </a:cxn>
              </a:cxnLst>
              <a:rect l="T15" t="T16" r="T17" b="T18"/>
              <a:pathLst>
                <a:path w="14" h="7">
                  <a:moveTo>
                    <a:pt x="0" y="4"/>
                  </a:moveTo>
                  <a:lnTo>
                    <a:pt x="0" y="6"/>
                  </a:lnTo>
                  <a:lnTo>
                    <a:pt x="13"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4" name="Freeform 118">
              <a:extLst>
                <a:ext uri="{FF2B5EF4-FFF2-40B4-BE49-F238E27FC236}">
                  <a16:creationId xmlns:a16="http://schemas.microsoft.com/office/drawing/2014/main" id="{C12788B0-4976-A289-2777-973A4E768F26}"/>
                </a:ext>
              </a:extLst>
            </p:cNvPr>
            <p:cNvSpPr>
              <a:spLocks/>
            </p:cNvSpPr>
            <p:nvPr/>
          </p:nvSpPr>
          <p:spPr bwMode="auto">
            <a:xfrm>
              <a:off x="2239" y="3250"/>
              <a:ext cx="134" cy="71"/>
            </a:xfrm>
            <a:custGeom>
              <a:avLst/>
              <a:gdLst>
                <a:gd name="T0" fmla="*/ 2617430 w 81"/>
                <a:gd name="T1" fmla="*/ 74 h 62"/>
                <a:gd name="T2" fmla="*/ 2567830 w 81"/>
                <a:gd name="T3" fmla="*/ 97 h 62"/>
                <a:gd name="T4" fmla="*/ 2379895 w 81"/>
                <a:gd name="T5" fmla="*/ 211 h 62"/>
                <a:gd name="T6" fmla="*/ 1957614 w 81"/>
                <a:gd name="T7" fmla="*/ 328 h 62"/>
                <a:gd name="T8" fmla="*/ 1438593 w 81"/>
                <a:gd name="T9" fmla="*/ 462 h 62"/>
                <a:gd name="T10" fmla="*/ 938268 w 81"/>
                <a:gd name="T11" fmla="*/ 554 h 62"/>
                <a:gd name="T12" fmla="*/ 432382 w 81"/>
                <a:gd name="T13" fmla="*/ 696 h 62"/>
                <a:gd name="T14" fmla="*/ 68764 w 81"/>
                <a:gd name="T15" fmla="*/ 831 h 62"/>
                <a:gd name="T16" fmla="*/ 0 w 81"/>
                <a:gd name="T17" fmla="*/ 1046 h 62"/>
                <a:gd name="T18" fmla="*/ 515040 w 81"/>
                <a:gd name="T19" fmla="*/ 973 h 62"/>
                <a:gd name="T20" fmla="*/ 541520 w 81"/>
                <a:gd name="T21" fmla="*/ 960 h 62"/>
                <a:gd name="T22" fmla="*/ 723636 w 81"/>
                <a:gd name="T23" fmla="*/ 882 h 62"/>
                <a:gd name="T24" fmla="*/ 1183334 w 81"/>
                <a:gd name="T25" fmla="*/ 742 h 62"/>
                <a:gd name="T26" fmla="*/ 1724337 w 81"/>
                <a:gd name="T27" fmla="*/ 634 h 62"/>
                <a:gd name="T28" fmla="*/ 2221424 w 81"/>
                <a:gd name="T29" fmla="*/ 529 h 62"/>
                <a:gd name="T30" fmla="*/ 2738029 w 81"/>
                <a:gd name="T31" fmla="*/ 403 h 62"/>
                <a:gd name="T32" fmla="*/ 3029758 w 81"/>
                <a:gd name="T33" fmla="*/ 218 h 62"/>
                <a:gd name="T34" fmla="*/ 3108525 w 81"/>
                <a:gd name="T35" fmla="*/ 0 h 62"/>
                <a:gd name="T36" fmla="*/ 2617430 w 81"/>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2"/>
                <a:gd name="T59" fmla="*/ 81 w 8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2">
                  <a:moveTo>
                    <a:pt x="67" y="4"/>
                  </a:moveTo>
                  <a:lnTo>
                    <a:pt x="66" y="6"/>
                  </a:lnTo>
                  <a:lnTo>
                    <a:pt x="61" y="12"/>
                  </a:lnTo>
                  <a:lnTo>
                    <a:pt x="50" y="19"/>
                  </a:lnTo>
                  <a:lnTo>
                    <a:pt x="37" y="26"/>
                  </a:lnTo>
                  <a:lnTo>
                    <a:pt x="24" y="32"/>
                  </a:lnTo>
                  <a:lnTo>
                    <a:pt x="11" y="40"/>
                  </a:lnTo>
                  <a:lnTo>
                    <a:pt x="2" y="48"/>
                  </a:lnTo>
                  <a:lnTo>
                    <a:pt x="0" y="61"/>
                  </a:lnTo>
                  <a:lnTo>
                    <a:pt x="13" y="57"/>
                  </a:lnTo>
                  <a:lnTo>
                    <a:pt x="14" y="56"/>
                  </a:lnTo>
                  <a:lnTo>
                    <a:pt x="19" y="51"/>
                  </a:lnTo>
                  <a:lnTo>
                    <a:pt x="30" y="44"/>
                  </a:lnTo>
                  <a:lnTo>
                    <a:pt x="44" y="37"/>
                  </a:lnTo>
                  <a:lnTo>
                    <a:pt x="57" y="30"/>
                  </a:lnTo>
                  <a:lnTo>
                    <a:pt x="70" y="23"/>
                  </a:lnTo>
                  <a:lnTo>
                    <a:pt x="78" y="13"/>
                  </a:lnTo>
                  <a:lnTo>
                    <a:pt x="80" y="0"/>
                  </a:lnTo>
                  <a:lnTo>
                    <a:pt x="6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5" name="Freeform 119">
              <a:extLst>
                <a:ext uri="{FF2B5EF4-FFF2-40B4-BE49-F238E27FC236}">
                  <a16:creationId xmlns:a16="http://schemas.microsoft.com/office/drawing/2014/main" id="{E5317C29-9AD5-A543-C186-8CDDCDABFA77}"/>
                </a:ext>
              </a:extLst>
            </p:cNvPr>
            <p:cNvSpPr>
              <a:spLocks/>
            </p:cNvSpPr>
            <p:nvPr/>
          </p:nvSpPr>
          <p:spPr bwMode="auto">
            <a:xfrm>
              <a:off x="2199" y="3221"/>
              <a:ext cx="174" cy="34"/>
            </a:xfrm>
            <a:custGeom>
              <a:avLst/>
              <a:gdLst>
                <a:gd name="T0" fmla="*/ 0 w 105"/>
                <a:gd name="T1" fmla="*/ 121 h 29"/>
                <a:gd name="T2" fmla="*/ 320394 w 105"/>
                <a:gd name="T3" fmla="*/ 368 h 29"/>
                <a:gd name="T4" fmla="*/ 851120 w 105"/>
                <a:gd name="T5" fmla="*/ 494 h 29"/>
                <a:gd name="T6" fmla="*/ 1410427 w 105"/>
                <a:gd name="T7" fmla="*/ 516 h 29"/>
                <a:gd name="T8" fmla="*/ 2105818 w 105"/>
                <a:gd name="T9" fmla="*/ 579 h 29"/>
                <a:gd name="T10" fmla="*/ 2706298 w 105"/>
                <a:gd name="T11" fmla="*/ 592 h 29"/>
                <a:gd name="T12" fmla="*/ 3243486 w 105"/>
                <a:gd name="T13" fmla="*/ 605 h 29"/>
                <a:gd name="T14" fmla="*/ 3587389 w 105"/>
                <a:gd name="T15" fmla="*/ 709 h 29"/>
                <a:gd name="T16" fmla="*/ 3677016 w 105"/>
                <a:gd name="T17" fmla="*/ 810 h 29"/>
                <a:gd name="T18" fmla="*/ 4192184 w 105"/>
                <a:gd name="T19" fmla="*/ 691 h 29"/>
                <a:gd name="T20" fmla="*/ 3873205 w 105"/>
                <a:gd name="T21" fmla="*/ 375 h 29"/>
                <a:gd name="T22" fmla="*/ 3367531 w 105"/>
                <a:gd name="T23" fmla="*/ 268 h 29"/>
                <a:gd name="T24" fmla="*/ 2755964 w 105"/>
                <a:gd name="T25" fmla="*/ 229 h 29"/>
                <a:gd name="T26" fmla="*/ 2150963 w 105"/>
                <a:gd name="T27" fmla="*/ 195 h 29"/>
                <a:gd name="T28" fmla="*/ 1485145 w 105"/>
                <a:gd name="T29" fmla="*/ 166 h 29"/>
                <a:gd name="T30" fmla="*/ 970032 w 105"/>
                <a:gd name="T31" fmla="*/ 121 h 29"/>
                <a:gd name="T32" fmla="*/ 555905 w 105"/>
                <a:gd name="T33" fmla="*/ 2 h 29"/>
                <a:gd name="T34" fmla="*/ 530939 w 105"/>
                <a:gd name="T35" fmla="*/ 0 h 29"/>
                <a:gd name="T36" fmla="*/ 0 w 105"/>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3"/>
                  </a:lnTo>
                  <a:lnTo>
                    <a:pt x="21" y="17"/>
                  </a:lnTo>
                  <a:lnTo>
                    <a:pt x="35" y="19"/>
                  </a:lnTo>
                  <a:lnTo>
                    <a:pt x="52" y="20"/>
                  </a:lnTo>
                  <a:lnTo>
                    <a:pt x="67" y="21"/>
                  </a:lnTo>
                  <a:lnTo>
                    <a:pt x="80" y="22"/>
                  </a:lnTo>
                  <a:lnTo>
                    <a:pt x="89" y="26"/>
                  </a:lnTo>
                  <a:lnTo>
                    <a:pt x="91" y="28"/>
                  </a:lnTo>
                  <a:lnTo>
                    <a:pt x="104" y="24"/>
                  </a:lnTo>
                  <a:lnTo>
                    <a:pt x="96" y="14"/>
                  </a:lnTo>
                  <a:lnTo>
                    <a:pt x="83" y="9"/>
                  </a:lnTo>
                  <a:lnTo>
                    <a:pt x="68" y="8"/>
                  </a:lnTo>
                  <a:lnTo>
                    <a:pt x="53" y="7"/>
                  </a:lnTo>
                  <a:lnTo>
                    <a:pt x="37" y="6"/>
                  </a:lnTo>
                  <a:lnTo>
                    <a:pt x="24" y="4"/>
                  </a:lnTo>
                  <a:lnTo>
                    <a:pt x="14"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6" name="Freeform 120">
              <a:extLst>
                <a:ext uri="{FF2B5EF4-FFF2-40B4-BE49-F238E27FC236}">
                  <a16:creationId xmlns:a16="http://schemas.microsoft.com/office/drawing/2014/main" id="{3B2D8E44-D126-7738-D585-20A1D66DE99C}"/>
                </a:ext>
              </a:extLst>
            </p:cNvPr>
            <p:cNvSpPr>
              <a:spLocks/>
            </p:cNvSpPr>
            <p:nvPr/>
          </p:nvSpPr>
          <p:spPr bwMode="auto">
            <a:xfrm>
              <a:off x="2199" y="3154"/>
              <a:ext cx="137" cy="73"/>
            </a:xfrm>
            <a:custGeom>
              <a:avLst/>
              <a:gdLst>
                <a:gd name="T0" fmla="*/ 2566051 w 83"/>
                <a:gd name="T1" fmla="*/ 73 h 64"/>
                <a:gd name="T2" fmla="*/ 2519400 w 83"/>
                <a:gd name="T3" fmla="*/ 108 h 64"/>
                <a:gd name="T4" fmla="*/ 2349936 w 83"/>
                <a:gd name="T5" fmla="*/ 209 h 64"/>
                <a:gd name="T6" fmla="*/ 1933123 w 83"/>
                <a:gd name="T7" fmla="*/ 309 h 64"/>
                <a:gd name="T8" fmla="*/ 1423684 w 83"/>
                <a:gd name="T9" fmla="*/ 409 h 64"/>
                <a:gd name="T10" fmla="*/ 901473 w 83"/>
                <a:gd name="T11" fmla="*/ 524 h 64"/>
                <a:gd name="T12" fmla="*/ 446998 w 83"/>
                <a:gd name="T13" fmla="*/ 627 h 64"/>
                <a:gd name="T14" fmla="*/ 64690 w 83"/>
                <a:gd name="T15" fmla="*/ 792 h 64"/>
                <a:gd name="T16" fmla="*/ 0 w 83"/>
                <a:gd name="T17" fmla="*/ 1000 h 64"/>
                <a:gd name="T18" fmla="*/ 480180 w 83"/>
                <a:gd name="T19" fmla="*/ 931 h 64"/>
                <a:gd name="T20" fmla="*/ 522551 w 83"/>
                <a:gd name="T21" fmla="*/ 903 h 64"/>
                <a:gd name="T22" fmla="*/ 737816 w 83"/>
                <a:gd name="T23" fmla="*/ 811 h 64"/>
                <a:gd name="T24" fmla="*/ 1147807 w 83"/>
                <a:gd name="T25" fmla="*/ 711 h 64"/>
                <a:gd name="T26" fmla="*/ 1639289 w 83"/>
                <a:gd name="T27" fmla="*/ 598 h 64"/>
                <a:gd name="T28" fmla="*/ 2159391 w 83"/>
                <a:gd name="T29" fmla="*/ 482 h 64"/>
                <a:gd name="T30" fmla="*/ 2603804 w 83"/>
                <a:gd name="T31" fmla="*/ 359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7"/>
                  </a:lnTo>
                  <a:lnTo>
                    <a:pt x="63" y="13"/>
                  </a:lnTo>
                  <a:lnTo>
                    <a:pt x="52" y="19"/>
                  </a:lnTo>
                  <a:lnTo>
                    <a:pt x="38" y="26"/>
                  </a:lnTo>
                  <a:lnTo>
                    <a:pt x="24" y="33"/>
                  </a:lnTo>
                  <a:lnTo>
                    <a:pt x="12" y="40"/>
                  </a:lnTo>
                  <a:lnTo>
                    <a:pt x="2" y="50"/>
                  </a:lnTo>
                  <a:lnTo>
                    <a:pt x="0" y="63"/>
                  </a:lnTo>
                  <a:lnTo>
                    <a:pt x="13" y="59"/>
                  </a:lnTo>
                  <a:lnTo>
                    <a:pt x="14" y="57"/>
                  </a:lnTo>
                  <a:lnTo>
                    <a:pt x="20" y="51"/>
                  </a:lnTo>
                  <a:lnTo>
                    <a:pt x="31"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7" name="Freeform 121">
              <a:extLst>
                <a:ext uri="{FF2B5EF4-FFF2-40B4-BE49-F238E27FC236}">
                  <a16:creationId xmlns:a16="http://schemas.microsoft.com/office/drawing/2014/main" id="{FBC4B29F-8706-A7FF-E7DE-AF19EB23C2B1}"/>
                </a:ext>
              </a:extLst>
            </p:cNvPr>
            <p:cNvSpPr>
              <a:spLocks/>
            </p:cNvSpPr>
            <p:nvPr/>
          </p:nvSpPr>
          <p:spPr bwMode="auto">
            <a:xfrm>
              <a:off x="2161" y="3126"/>
              <a:ext cx="175" cy="33"/>
            </a:xfrm>
            <a:custGeom>
              <a:avLst/>
              <a:gdLst>
                <a:gd name="T0" fmla="*/ 0 w 106"/>
                <a:gd name="T1" fmla="*/ 3 h 29"/>
                <a:gd name="T2" fmla="*/ 291842 w 106"/>
                <a:gd name="T3" fmla="*/ 191 h 29"/>
                <a:gd name="T4" fmla="*/ 795449 w 106"/>
                <a:gd name="T5" fmla="*/ 247 h 29"/>
                <a:gd name="T6" fmla="*/ 1328805 w 106"/>
                <a:gd name="T7" fmla="*/ 281 h 29"/>
                <a:gd name="T8" fmla="*/ 1941196 w 106"/>
                <a:gd name="T9" fmla="*/ 306 h 29"/>
                <a:gd name="T10" fmla="*/ 2508326 w 106"/>
                <a:gd name="T11" fmla="*/ 316 h 29"/>
                <a:gd name="T12" fmla="*/ 3033331 w 106"/>
                <a:gd name="T13" fmla="*/ 320 h 29"/>
                <a:gd name="T14" fmla="*/ 3328313 w 106"/>
                <a:gd name="T15" fmla="*/ 396 h 29"/>
                <a:gd name="T16" fmla="*/ 3435385 w 106"/>
                <a:gd name="T17" fmla="*/ 414 h 29"/>
                <a:gd name="T18" fmla="*/ 3917132 w 106"/>
                <a:gd name="T19" fmla="*/ 360 h 29"/>
                <a:gd name="T20" fmla="*/ 3621810 w 106"/>
                <a:gd name="T21" fmla="*/ 207 h 29"/>
                <a:gd name="T22" fmla="*/ 3136520 w 106"/>
                <a:gd name="T23" fmla="*/ 130 h 29"/>
                <a:gd name="T24" fmla="*/ 2573651 w 106"/>
                <a:gd name="T25" fmla="*/ 114 h 29"/>
                <a:gd name="T26" fmla="*/ 1984779 w 106"/>
                <a:gd name="T27" fmla="*/ 100 h 29"/>
                <a:gd name="T28" fmla="*/ 1389091 w 106"/>
                <a:gd name="T29" fmla="*/ 88 h 29"/>
                <a:gd name="T30" fmla="*/ 904506 w 106"/>
                <a:gd name="T31" fmla="*/ 68 h 29"/>
                <a:gd name="T32" fmla="*/ 563155 w 106"/>
                <a:gd name="T33" fmla="*/ 1 h 29"/>
                <a:gd name="T34" fmla="*/ 481815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1"/>
                  </a:lnTo>
                  <a:lnTo>
                    <a:pt x="81" y="22"/>
                  </a:lnTo>
                  <a:lnTo>
                    <a:pt x="89" y="26"/>
                  </a:lnTo>
                  <a:lnTo>
                    <a:pt x="92" y="28"/>
                  </a:lnTo>
                  <a:lnTo>
                    <a:pt x="105" y="24"/>
                  </a:lnTo>
                  <a:lnTo>
                    <a:pt x="97" y="14"/>
                  </a:lnTo>
                  <a:lnTo>
                    <a:pt x="84" y="9"/>
                  </a:lnTo>
                  <a:lnTo>
                    <a:pt x="69" y="8"/>
                  </a:lnTo>
                  <a:lnTo>
                    <a:pt x="53"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8" name="Freeform 122">
              <a:extLst>
                <a:ext uri="{FF2B5EF4-FFF2-40B4-BE49-F238E27FC236}">
                  <a16:creationId xmlns:a16="http://schemas.microsoft.com/office/drawing/2014/main" id="{EC27AFBB-B5A4-A0C8-FCB7-3D17C91EDE44}"/>
                </a:ext>
              </a:extLst>
            </p:cNvPr>
            <p:cNvSpPr>
              <a:spLocks/>
            </p:cNvSpPr>
            <p:nvPr/>
          </p:nvSpPr>
          <p:spPr bwMode="auto">
            <a:xfrm>
              <a:off x="2161" y="3064"/>
              <a:ext cx="141" cy="67"/>
            </a:xfrm>
            <a:custGeom>
              <a:avLst/>
              <a:gdLst>
                <a:gd name="T0" fmla="*/ 2953782 w 85"/>
                <a:gd name="T1" fmla="*/ 158 h 58"/>
                <a:gd name="T2" fmla="*/ 2938929 w 85"/>
                <a:gd name="T3" fmla="*/ 119 h 58"/>
                <a:gd name="T4" fmla="*/ 2639817 w 85"/>
                <a:gd name="T5" fmla="*/ 241 h 58"/>
                <a:gd name="T6" fmla="*/ 2235172 w 85"/>
                <a:gd name="T7" fmla="*/ 371 h 58"/>
                <a:gd name="T8" fmla="*/ 1620969 w 85"/>
                <a:gd name="T9" fmla="*/ 496 h 58"/>
                <a:gd name="T10" fmla="*/ 1018839 w 85"/>
                <a:gd name="T11" fmla="*/ 596 h 58"/>
                <a:gd name="T12" fmla="*/ 495429 w 85"/>
                <a:gd name="T13" fmla="*/ 714 h 58"/>
                <a:gd name="T14" fmla="*/ 71877 w 85"/>
                <a:gd name="T15" fmla="*/ 917 h 58"/>
                <a:gd name="T16" fmla="*/ 0 w 85"/>
                <a:gd name="T17" fmla="*/ 1179 h 58"/>
                <a:gd name="T18" fmla="*/ 544238 w 85"/>
                <a:gd name="T19" fmla="*/ 1101 h 58"/>
                <a:gd name="T20" fmla="*/ 572706 w 85"/>
                <a:gd name="T21" fmla="*/ 1060 h 58"/>
                <a:gd name="T22" fmla="*/ 821829 w 85"/>
                <a:gd name="T23" fmla="*/ 968 h 58"/>
                <a:gd name="T24" fmla="*/ 1248079 w 85"/>
                <a:gd name="T25" fmla="*/ 838 h 58"/>
                <a:gd name="T26" fmla="*/ 1864649 w 85"/>
                <a:gd name="T27" fmla="*/ 714 h 58"/>
                <a:gd name="T28" fmla="*/ 2442656 w 85"/>
                <a:gd name="T29" fmla="*/ 596 h 58"/>
                <a:gd name="T30" fmla="*/ 2953782 w 85"/>
                <a:gd name="T31" fmla="*/ 496 h 58"/>
                <a:gd name="T32" fmla="*/ 3327053 w 85"/>
                <a:gd name="T33" fmla="*/ 282 h 58"/>
                <a:gd name="T34" fmla="*/ 3461437 w 85"/>
                <a:gd name="T35" fmla="*/ 2 h 58"/>
                <a:gd name="T36" fmla="*/ 3461437 w 85"/>
                <a:gd name="T37" fmla="*/ 0 h 58"/>
                <a:gd name="T38" fmla="*/ 3461437 w 85"/>
                <a:gd name="T39" fmla="*/ 2 h 58"/>
                <a:gd name="T40" fmla="*/ 3461437 w 85"/>
                <a:gd name="T41" fmla="*/ 1 h 58"/>
                <a:gd name="T42" fmla="*/ 3461437 w 85"/>
                <a:gd name="T43" fmla="*/ 0 h 58"/>
                <a:gd name="T44" fmla="*/ 2953782 w 85"/>
                <a:gd name="T45" fmla="*/ 158 h 5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8"/>
                <a:gd name="T71" fmla="*/ 85 w 85"/>
                <a:gd name="T72" fmla="*/ 58 h 5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8">
                  <a:moveTo>
                    <a:pt x="72" y="8"/>
                  </a:moveTo>
                  <a:lnTo>
                    <a:pt x="71" y="6"/>
                  </a:lnTo>
                  <a:lnTo>
                    <a:pt x="64" y="11"/>
                  </a:lnTo>
                  <a:lnTo>
                    <a:pt x="54" y="17"/>
                  </a:lnTo>
                  <a:lnTo>
                    <a:pt x="39" y="23"/>
                  </a:lnTo>
                  <a:lnTo>
                    <a:pt x="25" y="29"/>
                  </a:lnTo>
                  <a:lnTo>
                    <a:pt x="12" y="35"/>
                  </a:lnTo>
                  <a:lnTo>
                    <a:pt x="2" y="44"/>
                  </a:lnTo>
                  <a:lnTo>
                    <a:pt x="0" y="57"/>
                  </a:lnTo>
                  <a:lnTo>
                    <a:pt x="13" y="53"/>
                  </a:lnTo>
                  <a:lnTo>
                    <a:pt x="14" y="52"/>
                  </a:lnTo>
                  <a:lnTo>
                    <a:pt x="20" y="47"/>
                  </a:lnTo>
                  <a:lnTo>
                    <a:pt x="30" y="41"/>
                  </a:lnTo>
                  <a:lnTo>
                    <a:pt x="45" y="35"/>
                  </a:lnTo>
                  <a:lnTo>
                    <a:pt x="59" y="29"/>
                  </a:lnTo>
                  <a:lnTo>
                    <a:pt x="72" y="23"/>
                  </a:lnTo>
                  <a:lnTo>
                    <a:pt x="81" y="14"/>
                  </a:lnTo>
                  <a:lnTo>
                    <a:pt x="84" y="2"/>
                  </a:lnTo>
                  <a:lnTo>
                    <a:pt x="84" y="0"/>
                  </a:lnTo>
                  <a:lnTo>
                    <a:pt x="84" y="2"/>
                  </a:lnTo>
                  <a:lnTo>
                    <a:pt x="84" y="1"/>
                  </a:lnTo>
                  <a:lnTo>
                    <a:pt x="84" y="0"/>
                  </a:lnTo>
                  <a:lnTo>
                    <a:pt x="72"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9" name="Freeform 123">
              <a:extLst>
                <a:ext uri="{FF2B5EF4-FFF2-40B4-BE49-F238E27FC236}">
                  <a16:creationId xmlns:a16="http://schemas.microsoft.com/office/drawing/2014/main" id="{127B6812-7A64-E902-64A7-AF96B6ED061C}"/>
                </a:ext>
              </a:extLst>
            </p:cNvPr>
            <p:cNvSpPr>
              <a:spLocks/>
            </p:cNvSpPr>
            <p:nvPr/>
          </p:nvSpPr>
          <p:spPr bwMode="auto">
            <a:xfrm>
              <a:off x="2277" y="3062"/>
              <a:ext cx="25" cy="12"/>
            </a:xfrm>
            <a:custGeom>
              <a:avLst/>
              <a:gdLst>
                <a:gd name="T0" fmla="*/ 0 w 15"/>
                <a:gd name="T1" fmla="*/ 215 h 10"/>
                <a:gd name="T2" fmla="*/ 47430 w 15"/>
                <a:gd name="T3" fmla="*/ 310 h 10"/>
                <a:gd name="T4" fmla="*/ 79050 w 15"/>
                <a:gd name="T5" fmla="*/ 434 h 10"/>
                <a:gd name="T6" fmla="*/ 621467 w 15"/>
                <a:gd name="T7" fmla="*/ 2 h 10"/>
                <a:gd name="T8" fmla="*/ 542092 w 15"/>
                <a:gd name="T9" fmla="*/ 0 h 10"/>
                <a:gd name="T10" fmla="*/ 609953 w 15"/>
                <a:gd name="T11" fmla="*/ 2 h 10"/>
                <a:gd name="T12" fmla="*/ 0 w 15"/>
                <a:gd name="T13" fmla="*/ 215 h 10"/>
                <a:gd name="T14" fmla="*/ 0 w 15"/>
                <a:gd name="T15" fmla="*/ 258 h 10"/>
                <a:gd name="T16" fmla="*/ 47430 w 15"/>
                <a:gd name="T17" fmla="*/ 310 h 10"/>
                <a:gd name="T18" fmla="*/ 0 w 15"/>
                <a:gd name="T19" fmla="*/ 215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0"/>
                <a:gd name="T32" fmla="*/ 15 w 15"/>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0">
                  <a:moveTo>
                    <a:pt x="0" y="5"/>
                  </a:moveTo>
                  <a:lnTo>
                    <a:pt x="1" y="7"/>
                  </a:lnTo>
                  <a:lnTo>
                    <a:pt x="2" y="9"/>
                  </a:lnTo>
                  <a:lnTo>
                    <a:pt x="14" y="2"/>
                  </a:lnTo>
                  <a:lnTo>
                    <a:pt x="12" y="0"/>
                  </a:lnTo>
                  <a:lnTo>
                    <a:pt x="13" y="2"/>
                  </a:lnTo>
                  <a:lnTo>
                    <a:pt x="0" y="5"/>
                  </a:lnTo>
                  <a:lnTo>
                    <a:pt x="0" y="6"/>
                  </a:lnTo>
                  <a:lnTo>
                    <a:pt x="1"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0" name="Freeform 124">
              <a:extLst>
                <a:ext uri="{FF2B5EF4-FFF2-40B4-BE49-F238E27FC236}">
                  <a16:creationId xmlns:a16="http://schemas.microsoft.com/office/drawing/2014/main" id="{4876CC28-7897-687A-5D26-5227D30DF386}"/>
                </a:ext>
              </a:extLst>
            </p:cNvPr>
            <p:cNvSpPr>
              <a:spLocks/>
            </p:cNvSpPr>
            <p:nvPr/>
          </p:nvSpPr>
          <p:spPr bwMode="auto">
            <a:xfrm>
              <a:off x="2127" y="3036"/>
              <a:ext cx="174" cy="34"/>
            </a:xfrm>
            <a:custGeom>
              <a:avLst/>
              <a:gdLst>
                <a:gd name="T0" fmla="*/ 0 w 105"/>
                <a:gd name="T1" fmla="*/ 103 h 29"/>
                <a:gd name="T2" fmla="*/ 320394 w 105"/>
                <a:gd name="T3" fmla="*/ 368 h 29"/>
                <a:gd name="T4" fmla="*/ 851120 w 105"/>
                <a:gd name="T5" fmla="*/ 440 h 29"/>
                <a:gd name="T6" fmla="*/ 1458024 w 105"/>
                <a:gd name="T7" fmla="*/ 505 h 29"/>
                <a:gd name="T8" fmla="*/ 2080606 w 105"/>
                <a:gd name="T9" fmla="*/ 505 h 29"/>
                <a:gd name="T10" fmla="*/ 2706298 w 105"/>
                <a:gd name="T11" fmla="*/ 505 h 29"/>
                <a:gd name="T12" fmla="*/ 3199048 w 105"/>
                <a:gd name="T13" fmla="*/ 579 h 29"/>
                <a:gd name="T14" fmla="*/ 3564453 w 105"/>
                <a:gd name="T15" fmla="*/ 691 h 29"/>
                <a:gd name="T16" fmla="*/ 3677016 w 105"/>
                <a:gd name="T17" fmla="*/ 810 h 29"/>
                <a:gd name="T18" fmla="*/ 4192184 w 105"/>
                <a:gd name="T19" fmla="*/ 691 h 29"/>
                <a:gd name="T20" fmla="*/ 3873205 w 105"/>
                <a:gd name="T21" fmla="*/ 368 h 29"/>
                <a:gd name="T22" fmla="*/ 3367531 w 105"/>
                <a:gd name="T23" fmla="*/ 195 h 29"/>
                <a:gd name="T24" fmla="*/ 2755964 w 105"/>
                <a:gd name="T25" fmla="*/ 142 h 29"/>
                <a:gd name="T26" fmla="*/ 2080606 w 105"/>
                <a:gd name="T27" fmla="*/ 121 h 29"/>
                <a:gd name="T28" fmla="*/ 1458024 w 105"/>
                <a:gd name="T29" fmla="*/ 142 h 29"/>
                <a:gd name="T30" fmla="*/ 921214 w 105"/>
                <a:gd name="T31" fmla="*/ 103 h 29"/>
                <a:gd name="T32" fmla="*/ 605611 w 105"/>
                <a:gd name="T33" fmla="*/ 2 h 29"/>
                <a:gd name="T34" fmla="*/ 530939 w 105"/>
                <a:gd name="T35" fmla="*/ 0 h 29"/>
                <a:gd name="T36" fmla="*/ 0 w 105"/>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3"/>
                  </a:moveTo>
                  <a:lnTo>
                    <a:pt x="8" y="13"/>
                  </a:lnTo>
                  <a:lnTo>
                    <a:pt x="21" y="16"/>
                  </a:lnTo>
                  <a:lnTo>
                    <a:pt x="36" y="18"/>
                  </a:lnTo>
                  <a:lnTo>
                    <a:pt x="51" y="18"/>
                  </a:lnTo>
                  <a:lnTo>
                    <a:pt x="67" y="18"/>
                  </a:lnTo>
                  <a:lnTo>
                    <a:pt x="79" y="20"/>
                  </a:lnTo>
                  <a:lnTo>
                    <a:pt x="88" y="24"/>
                  </a:lnTo>
                  <a:lnTo>
                    <a:pt x="91" y="28"/>
                  </a:lnTo>
                  <a:lnTo>
                    <a:pt x="104" y="24"/>
                  </a:lnTo>
                  <a:lnTo>
                    <a:pt x="96" y="13"/>
                  </a:lnTo>
                  <a:lnTo>
                    <a:pt x="83" y="7"/>
                  </a:lnTo>
                  <a:lnTo>
                    <a:pt x="68" y="5"/>
                  </a:lnTo>
                  <a:lnTo>
                    <a:pt x="51" y="4"/>
                  </a:lnTo>
                  <a:lnTo>
                    <a:pt x="36" y="5"/>
                  </a:lnTo>
                  <a:lnTo>
                    <a:pt x="23" y="3"/>
                  </a:lnTo>
                  <a:lnTo>
                    <a:pt x="15"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1" name="Freeform 125">
              <a:extLst>
                <a:ext uri="{FF2B5EF4-FFF2-40B4-BE49-F238E27FC236}">
                  <a16:creationId xmlns:a16="http://schemas.microsoft.com/office/drawing/2014/main" id="{74D798D7-F7A1-D21C-23EE-937E7205FD97}"/>
                </a:ext>
              </a:extLst>
            </p:cNvPr>
            <p:cNvSpPr>
              <a:spLocks/>
            </p:cNvSpPr>
            <p:nvPr/>
          </p:nvSpPr>
          <p:spPr bwMode="auto">
            <a:xfrm>
              <a:off x="2127" y="2969"/>
              <a:ext cx="136" cy="73"/>
            </a:xfrm>
            <a:custGeom>
              <a:avLst/>
              <a:gdLst>
                <a:gd name="T0" fmla="*/ 2793281 w 82"/>
                <a:gd name="T1" fmla="*/ 73 h 64"/>
                <a:gd name="T2" fmla="*/ 2793281 w 82"/>
                <a:gd name="T3" fmla="*/ 108 h 64"/>
                <a:gd name="T4" fmla="*/ 2559870 w 82"/>
                <a:gd name="T5" fmla="*/ 192 h 64"/>
                <a:gd name="T6" fmla="*/ 2110216 w 82"/>
                <a:gd name="T7" fmla="*/ 309 h 64"/>
                <a:gd name="T8" fmla="*/ 1549208 w 82"/>
                <a:gd name="T9" fmla="*/ 409 h 64"/>
                <a:gd name="T10" fmla="*/ 984142 w 82"/>
                <a:gd name="T11" fmla="*/ 533 h 64"/>
                <a:gd name="T12" fmla="*/ 494159 w 82"/>
                <a:gd name="T13" fmla="*/ 674 h 64"/>
                <a:gd name="T14" fmla="*/ 71808 w 82"/>
                <a:gd name="T15" fmla="*/ 792 h 64"/>
                <a:gd name="T16" fmla="*/ 0 w 82"/>
                <a:gd name="T17" fmla="*/ 1000 h 64"/>
                <a:gd name="T18" fmla="*/ 543340 w 82"/>
                <a:gd name="T19" fmla="*/ 931 h 64"/>
                <a:gd name="T20" fmla="*/ 543340 w 82"/>
                <a:gd name="T21" fmla="*/ 925 h 64"/>
                <a:gd name="T22" fmla="*/ 792167 w 82"/>
                <a:gd name="T23" fmla="*/ 816 h 64"/>
                <a:gd name="T24" fmla="*/ 1245083 w 82"/>
                <a:gd name="T25" fmla="*/ 711 h 64"/>
                <a:gd name="T26" fmla="*/ 1809896 w 82"/>
                <a:gd name="T27" fmla="*/ 598 h 64"/>
                <a:gd name="T28" fmla="*/ 2364446 w 82"/>
                <a:gd name="T29" fmla="*/ 482 h 64"/>
                <a:gd name="T30" fmla="*/ 2866162 w 82"/>
                <a:gd name="T31" fmla="*/ 359 h 64"/>
                <a:gd name="T32" fmla="*/ 3244615 w 82"/>
                <a:gd name="T33" fmla="*/ 209 h 64"/>
                <a:gd name="T34" fmla="*/ 3316748 w 82"/>
                <a:gd name="T35" fmla="*/ 0 h 64"/>
                <a:gd name="T36" fmla="*/ 2793281 w 82"/>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4"/>
                <a:gd name="T59" fmla="*/ 82 w 82"/>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4">
                  <a:moveTo>
                    <a:pt x="68" y="4"/>
                  </a:moveTo>
                  <a:lnTo>
                    <a:pt x="68" y="7"/>
                  </a:lnTo>
                  <a:lnTo>
                    <a:pt x="62" y="12"/>
                  </a:lnTo>
                  <a:lnTo>
                    <a:pt x="51" y="19"/>
                  </a:lnTo>
                  <a:lnTo>
                    <a:pt x="38" y="26"/>
                  </a:lnTo>
                  <a:lnTo>
                    <a:pt x="24" y="34"/>
                  </a:lnTo>
                  <a:lnTo>
                    <a:pt x="12" y="42"/>
                  </a:lnTo>
                  <a:lnTo>
                    <a:pt x="2" y="50"/>
                  </a:lnTo>
                  <a:lnTo>
                    <a:pt x="0" y="63"/>
                  </a:lnTo>
                  <a:lnTo>
                    <a:pt x="13" y="59"/>
                  </a:lnTo>
                  <a:lnTo>
                    <a:pt x="13" y="58"/>
                  </a:lnTo>
                  <a:lnTo>
                    <a:pt x="19" y="52"/>
                  </a:lnTo>
                  <a:lnTo>
                    <a:pt x="30" y="45"/>
                  </a:lnTo>
                  <a:lnTo>
                    <a:pt x="44" y="38"/>
                  </a:lnTo>
                  <a:lnTo>
                    <a:pt x="57" y="31"/>
                  </a:lnTo>
                  <a:lnTo>
                    <a:pt x="70" y="23"/>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2" name="Freeform 126">
              <a:extLst>
                <a:ext uri="{FF2B5EF4-FFF2-40B4-BE49-F238E27FC236}">
                  <a16:creationId xmlns:a16="http://schemas.microsoft.com/office/drawing/2014/main" id="{DE60DB74-CA44-DC8A-50CE-0F7F0E19BE78}"/>
                </a:ext>
              </a:extLst>
            </p:cNvPr>
            <p:cNvSpPr>
              <a:spLocks/>
            </p:cNvSpPr>
            <p:nvPr/>
          </p:nvSpPr>
          <p:spPr bwMode="auto">
            <a:xfrm>
              <a:off x="2089" y="2941"/>
              <a:ext cx="174" cy="33"/>
            </a:xfrm>
            <a:custGeom>
              <a:avLst/>
              <a:gdLst>
                <a:gd name="T0" fmla="*/ 0 w 105"/>
                <a:gd name="T1" fmla="*/ 68 h 29"/>
                <a:gd name="T2" fmla="*/ 320394 w 105"/>
                <a:gd name="T3" fmla="*/ 207 h 29"/>
                <a:gd name="T4" fmla="*/ 808008 w 105"/>
                <a:gd name="T5" fmla="*/ 247 h 29"/>
                <a:gd name="T6" fmla="*/ 1410427 w 105"/>
                <a:gd name="T7" fmla="*/ 281 h 29"/>
                <a:gd name="T8" fmla="*/ 2080606 w 105"/>
                <a:gd name="T9" fmla="*/ 306 h 29"/>
                <a:gd name="T10" fmla="*/ 2706298 w 105"/>
                <a:gd name="T11" fmla="*/ 316 h 29"/>
                <a:gd name="T12" fmla="*/ 3243486 w 105"/>
                <a:gd name="T13" fmla="*/ 320 h 29"/>
                <a:gd name="T14" fmla="*/ 3587389 w 105"/>
                <a:gd name="T15" fmla="*/ 364 h 29"/>
                <a:gd name="T16" fmla="*/ 3677016 w 105"/>
                <a:gd name="T17" fmla="*/ 414 h 29"/>
                <a:gd name="T18" fmla="*/ 4192184 w 105"/>
                <a:gd name="T19" fmla="*/ 360 h 29"/>
                <a:gd name="T20" fmla="*/ 3873205 w 105"/>
                <a:gd name="T21" fmla="*/ 207 h 29"/>
                <a:gd name="T22" fmla="*/ 3367531 w 105"/>
                <a:gd name="T23" fmla="*/ 148 h 29"/>
                <a:gd name="T24" fmla="*/ 2755964 w 105"/>
                <a:gd name="T25" fmla="*/ 114 h 29"/>
                <a:gd name="T26" fmla="*/ 2105818 w 105"/>
                <a:gd name="T27" fmla="*/ 100 h 29"/>
                <a:gd name="T28" fmla="*/ 1485145 w 105"/>
                <a:gd name="T29" fmla="*/ 88 h 29"/>
                <a:gd name="T30" fmla="*/ 921214 w 105"/>
                <a:gd name="T31" fmla="*/ 77 h 29"/>
                <a:gd name="T32" fmla="*/ 605611 w 105"/>
                <a:gd name="T33" fmla="*/ 2 h 29"/>
                <a:gd name="T34" fmla="*/ 530939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0" y="17"/>
                  </a:lnTo>
                  <a:lnTo>
                    <a:pt x="35" y="19"/>
                  </a:lnTo>
                  <a:lnTo>
                    <a:pt x="51" y="20"/>
                  </a:lnTo>
                  <a:lnTo>
                    <a:pt x="67" y="21"/>
                  </a:lnTo>
                  <a:lnTo>
                    <a:pt x="80" y="22"/>
                  </a:lnTo>
                  <a:lnTo>
                    <a:pt x="89" y="25"/>
                  </a:lnTo>
                  <a:lnTo>
                    <a:pt x="91" y="28"/>
                  </a:lnTo>
                  <a:lnTo>
                    <a:pt x="104" y="24"/>
                  </a:lnTo>
                  <a:lnTo>
                    <a:pt x="96" y="14"/>
                  </a:lnTo>
                  <a:lnTo>
                    <a:pt x="83" y="10"/>
                  </a:lnTo>
                  <a:lnTo>
                    <a:pt x="68" y="8"/>
                  </a:lnTo>
                  <a:lnTo>
                    <a:pt x="52" y="7"/>
                  </a:lnTo>
                  <a:lnTo>
                    <a:pt x="37" y="6"/>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3" name="Freeform 127">
              <a:extLst>
                <a:ext uri="{FF2B5EF4-FFF2-40B4-BE49-F238E27FC236}">
                  <a16:creationId xmlns:a16="http://schemas.microsoft.com/office/drawing/2014/main" id="{0DDF36F6-98FD-38C8-8BDB-B527FA9F2784}"/>
                </a:ext>
              </a:extLst>
            </p:cNvPr>
            <p:cNvSpPr>
              <a:spLocks/>
            </p:cNvSpPr>
            <p:nvPr/>
          </p:nvSpPr>
          <p:spPr bwMode="auto">
            <a:xfrm>
              <a:off x="2089" y="2876"/>
              <a:ext cx="141" cy="70"/>
            </a:xfrm>
            <a:custGeom>
              <a:avLst/>
              <a:gdLst>
                <a:gd name="T0" fmla="*/ 3010083 w 85"/>
                <a:gd name="T1" fmla="*/ 157 h 61"/>
                <a:gd name="T2" fmla="*/ 2938929 w 85"/>
                <a:gd name="T3" fmla="*/ 119 h 61"/>
                <a:gd name="T4" fmla="*/ 2878991 w 85"/>
                <a:gd name="T5" fmla="*/ 104 h 61"/>
                <a:gd name="T6" fmla="*/ 2639817 w 85"/>
                <a:gd name="T7" fmla="*/ 180 h 61"/>
                <a:gd name="T8" fmla="*/ 2144595 w 85"/>
                <a:gd name="T9" fmla="*/ 313 h 61"/>
                <a:gd name="T10" fmla="*/ 1575912 w 85"/>
                <a:gd name="T11" fmla="*/ 412 h 61"/>
                <a:gd name="T12" fmla="*/ 1018839 w 85"/>
                <a:gd name="T13" fmla="*/ 555 h 61"/>
                <a:gd name="T14" fmla="*/ 495429 w 85"/>
                <a:gd name="T15" fmla="*/ 678 h 61"/>
                <a:gd name="T16" fmla="*/ 119231 w 85"/>
                <a:gd name="T17" fmla="*/ 839 h 61"/>
                <a:gd name="T18" fmla="*/ 0 w 85"/>
                <a:gd name="T19" fmla="*/ 1080 h 61"/>
                <a:gd name="T20" fmla="*/ 544238 w 85"/>
                <a:gd name="T21" fmla="*/ 990 h 61"/>
                <a:gd name="T22" fmla="*/ 572706 w 85"/>
                <a:gd name="T23" fmla="*/ 982 h 61"/>
                <a:gd name="T24" fmla="*/ 821829 w 85"/>
                <a:gd name="T25" fmla="*/ 863 h 61"/>
                <a:gd name="T26" fmla="*/ 1275833 w 85"/>
                <a:gd name="T27" fmla="*/ 746 h 61"/>
                <a:gd name="T28" fmla="*/ 1864649 w 85"/>
                <a:gd name="T29" fmla="*/ 636 h 61"/>
                <a:gd name="T30" fmla="*/ 2442656 w 85"/>
                <a:gd name="T31" fmla="*/ 515 h 61"/>
                <a:gd name="T32" fmla="*/ 2878991 w 85"/>
                <a:gd name="T33" fmla="*/ 391 h 61"/>
                <a:gd name="T34" fmla="*/ 3327053 w 85"/>
                <a:gd name="T35" fmla="*/ 273 h 61"/>
                <a:gd name="T36" fmla="*/ 3461437 w 85"/>
                <a:gd name="T37" fmla="*/ 3 h 61"/>
                <a:gd name="T38" fmla="*/ 3392672 w 85"/>
                <a:gd name="T39" fmla="*/ 0 h 61"/>
                <a:gd name="T40" fmla="*/ 3461437 w 85"/>
                <a:gd name="T41" fmla="*/ 3 h 61"/>
                <a:gd name="T42" fmla="*/ 3434334 w 85"/>
                <a:gd name="T43" fmla="*/ 1 h 61"/>
                <a:gd name="T44" fmla="*/ 3392672 w 85"/>
                <a:gd name="T45" fmla="*/ 0 h 61"/>
                <a:gd name="T46" fmla="*/ 3010083 w 85"/>
                <a:gd name="T47" fmla="*/ 157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
                <a:gd name="T73" fmla="*/ 0 h 61"/>
                <a:gd name="T74" fmla="*/ 85 w 85"/>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 h="61">
                  <a:moveTo>
                    <a:pt x="73" y="9"/>
                  </a:moveTo>
                  <a:lnTo>
                    <a:pt x="71" y="7"/>
                  </a:lnTo>
                  <a:lnTo>
                    <a:pt x="70" y="6"/>
                  </a:lnTo>
                  <a:lnTo>
                    <a:pt x="64" y="10"/>
                  </a:lnTo>
                  <a:lnTo>
                    <a:pt x="52" y="17"/>
                  </a:lnTo>
                  <a:lnTo>
                    <a:pt x="38" y="23"/>
                  </a:lnTo>
                  <a:lnTo>
                    <a:pt x="25" y="31"/>
                  </a:lnTo>
                  <a:lnTo>
                    <a:pt x="12" y="38"/>
                  </a:lnTo>
                  <a:lnTo>
                    <a:pt x="3" y="47"/>
                  </a:lnTo>
                  <a:lnTo>
                    <a:pt x="0" y="60"/>
                  </a:lnTo>
                  <a:lnTo>
                    <a:pt x="13" y="56"/>
                  </a:lnTo>
                  <a:lnTo>
                    <a:pt x="14" y="55"/>
                  </a:lnTo>
                  <a:lnTo>
                    <a:pt x="20" y="49"/>
                  </a:lnTo>
                  <a:lnTo>
                    <a:pt x="31" y="42"/>
                  </a:lnTo>
                  <a:lnTo>
                    <a:pt x="45" y="35"/>
                  </a:lnTo>
                  <a:lnTo>
                    <a:pt x="59" y="29"/>
                  </a:lnTo>
                  <a:lnTo>
                    <a:pt x="70" y="22"/>
                  </a:lnTo>
                  <a:lnTo>
                    <a:pt x="81" y="15"/>
                  </a:lnTo>
                  <a:lnTo>
                    <a:pt x="84" y="3"/>
                  </a:lnTo>
                  <a:lnTo>
                    <a:pt x="82" y="0"/>
                  </a:lnTo>
                  <a:lnTo>
                    <a:pt x="84" y="3"/>
                  </a:lnTo>
                  <a:lnTo>
                    <a:pt x="83" y="1"/>
                  </a:lnTo>
                  <a:lnTo>
                    <a:pt x="82" y="0"/>
                  </a:lnTo>
                  <a:lnTo>
                    <a:pt x="73"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4" name="Freeform 128">
              <a:extLst>
                <a:ext uri="{FF2B5EF4-FFF2-40B4-BE49-F238E27FC236}">
                  <a16:creationId xmlns:a16="http://schemas.microsoft.com/office/drawing/2014/main" id="{59B34F05-24B8-8D49-BC69-9874CCED0E55}"/>
                </a:ext>
              </a:extLst>
            </p:cNvPr>
            <p:cNvSpPr>
              <a:spLocks/>
            </p:cNvSpPr>
            <p:nvPr/>
          </p:nvSpPr>
          <p:spPr bwMode="auto">
            <a:xfrm>
              <a:off x="2205" y="2875"/>
              <a:ext cx="23" cy="13"/>
            </a:xfrm>
            <a:custGeom>
              <a:avLst/>
              <a:gdLst>
                <a:gd name="T0" fmla="*/ 0 w 14"/>
                <a:gd name="T1" fmla="*/ 182 h 11"/>
                <a:gd name="T2" fmla="*/ 60339 w 14"/>
                <a:gd name="T3" fmla="*/ 300 h 11"/>
                <a:gd name="T4" fmla="*/ 60339 w 14"/>
                <a:gd name="T5" fmla="*/ 343 h 11"/>
                <a:gd name="T6" fmla="*/ 375225 w 14"/>
                <a:gd name="T7" fmla="*/ 1 h 11"/>
                <a:gd name="T8" fmla="*/ 375225 w 14"/>
                <a:gd name="T9" fmla="*/ 0 h 11"/>
                <a:gd name="T10" fmla="*/ 439537 w 14"/>
                <a:gd name="T11" fmla="*/ 110 h 11"/>
                <a:gd name="T12" fmla="*/ 0 w 14"/>
                <a:gd name="T13" fmla="*/ 182 h 11"/>
                <a:gd name="T14" fmla="*/ 0 w 14"/>
                <a:gd name="T15" fmla="*/ 254 h 11"/>
                <a:gd name="T16" fmla="*/ 60339 w 14"/>
                <a:gd name="T17" fmla="*/ 300 h 11"/>
                <a:gd name="T18" fmla="*/ 0 w 14"/>
                <a:gd name="T19" fmla="*/ 182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1"/>
                <a:gd name="T32" fmla="*/ 14 w 14"/>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1">
                  <a:moveTo>
                    <a:pt x="0" y="6"/>
                  </a:moveTo>
                  <a:lnTo>
                    <a:pt x="2" y="9"/>
                  </a:lnTo>
                  <a:lnTo>
                    <a:pt x="2" y="10"/>
                  </a:lnTo>
                  <a:lnTo>
                    <a:pt x="11" y="1"/>
                  </a:lnTo>
                  <a:lnTo>
                    <a:pt x="11" y="0"/>
                  </a:lnTo>
                  <a:lnTo>
                    <a:pt x="13" y="3"/>
                  </a:lnTo>
                  <a:lnTo>
                    <a:pt x="0" y="6"/>
                  </a:lnTo>
                  <a:lnTo>
                    <a:pt x="0" y="8"/>
                  </a:lnTo>
                  <a:lnTo>
                    <a:pt x="2" y="9"/>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5" name="Freeform 129">
              <a:extLst>
                <a:ext uri="{FF2B5EF4-FFF2-40B4-BE49-F238E27FC236}">
                  <a16:creationId xmlns:a16="http://schemas.microsoft.com/office/drawing/2014/main" id="{95CA643D-79C4-BCD7-53F1-14DCDE36050A}"/>
                </a:ext>
              </a:extLst>
            </p:cNvPr>
            <p:cNvSpPr>
              <a:spLocks/>
            </p:cNvSpPr>
            <p:nvPr/>
          </p:nvSpPr>
          <p:spPr bwMode="auto">
            <a:xfrm>
              <a:off x="2056" y="2848"/>
              <a:ext cx="172" cy="36"/>
            </a:xfrm>
            <a:custGeom>
              <a:avLst/>
              <a:gdLst>
                <a:gd name="T0" fmla="*/ 0 w 104"/>
                <a:gd name="T1" fmla="*/ 149 h 30"/>
                <a:gd name="T2" fmla="*/ 310460 w 104"/>
                <a:gd name="T3" fmla="*/ 642 h 30"/>
                <a:gd name="T4" fmla="*/ 823227 w 104"/>
                <a:gd name="T5" fmla="*/ 820 h 30"/>
                <a:gd name="T6" fmla="*/ 1404400 w 104"/>
                <a:gd name="T7" fmla="*/ 953 h 30"/>
                <a:gd name="T8" fmla="*/ 1967544 w 104"/>
                <a:gd name="T9" fmla="*/ 984 h 30"/>
                <a:gd name="T10" fmla="*/ 2606496 w 104"/>
                <a:gd name="T11" fmla="*/ 1080 h 30"/>
                <a:gd name="T12" fmla="*/ 3143882 w 104"/>
                <a:gd name="T13" fmla="*/ 1144 h 30"/>
                <a:gd name="T14" fmla="*/ 3421168 w 104"/>
                <a:gd name="T15" fmla="*/ 1219 h 30"/>
                <a:gd name="T16" fmla="*/ 3487763 w 104"/>
                <a:gd name="T17" fmla="*/ 1331 h 30"/>
                <a:gd name="T18" fmla="*/ 3985470 w 104"/>
                <a:gd name="T19" fmla="*/ 1181 h 30"/>
                <a:gd name="T20" fmla="*/ 3684152 w 104"/>
                <a:gd name="T21" fmla="*/ 750 h 30"/>
                <a:gd name="T22" fmla="*/ 3210488 w 104"/>
                <a:gd name="T23" fmla="*/ 535 h 30"/>
                <a:gd name="T24" fmla="*/ 2621895 w 104"/>
                <a:gd name="T25" fmla="*/ 446 h 30"/>
                <a:gd name="T26" fmla="*/ 2068613 w 104"/>
                <a:gd name="T27" fmla="*/ 434 h 30"/>
                <a:gd name="T28" fmla="*/ 1428035 w 104"/>
                <a:gd name="T29" fmla="*/ 372 h 30"/>
                <a:gd name="T30" fmla="*/ 958573 w 104"/>
                <a:gd name="T31" fmla="*/ 215 h 30"/>
                <a:gd name="T32" fmla="*/ 607874 w 104"/>
                <a:gd name="T33" fmla="*/ 2 h 30"/>
                <a:gd name="T34" fmla="*/ 513453 w 104"/>
                <a:gd name="T35" fmla="*/ 0 h 30"/>
                <a:gd name="T36" fmla="*/ 0 w 104"/>
                <a:gd name="T37" fmla="*/ 149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30"/>
                <a:gd name="T59" fmla="*/ 104 w 104"/>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30">
                  <a:moveTo>
                    <a:pt x="0" y="3"/>
                  </a:moveTo>
                  <a:lnTo>
                    <a:pt x="8" y="14"/>
                  </a:lnTo>
                  <a:lnTo>
                    <a:pt x="21" y="18"/>
                  </a:lnTo>
                  <a:lnTo>
                    <a:pt x="36" y="21"/>
                  </a:lnTo>
                  <a:lnTo>
                    <a:pt x="51" y="22"/>
                  </a:lnTo>
                  <a:lnTo>
                    <a:pt x="67" y="23"/>
                  </a:lnTo>
                  <a:lnTo>
                    <a:pt x="81" y="25"/>
                  </a:lnTo>
                  <a:lnTo>
                    <a:pt x="88" y="27"/>
                  </a:lnTo>
                  <a:lnTo>
                    <a:pt x="90" y="29"/>
                  </a:lnTo>
                  <a:lnTo>
                    <a:pt x="103" y="26"/>
                  </a:lnTo>
                  <a:lnTo>
                    <a:pt x="95" y="16"/>
                  </a:lnTo>
                  <a:lnTo>
                    <a:pt x="83" y="12"/>
                  </a:lnTo>
                  <a:lnTo>
                    <a:pt x="68" y="10"/>
                  </a:lnTo>
                  <a:lnTo>
                    <a:pt x="53" y="9"/>
                  </a:lnTo>
                  <a:lnTo>
                    <a:pt x="37" y="8"/>
                  </a:lnTo>
                  <a:lnTo>
                    <a:pt x="25" y="5"/>
                  </a:lnTo>
                  <a:lnTo>
                    <a:pt x="16"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6" name="Freeform 130">
              <a:extLst>
                <a:ext uri="{FF2B5EF4-FFF2-40B4-BE49-F238E27FC236}">
                  <a16:creationId xmlns:a16="http://schemas.microsoft.com/office/drawing/2014/main" id="{40B05F8D-8DC9-30DD-17E4-D56443D7E310}"/>
                </a:ext>
              </a:extLst>
            </p:cNvPr>
            <p:cNvSpPr>
              <a:spLocks/>
            </p:cNvSpPr>
            <p:nvPr/>
          </p:nvSpPr>
          <p:spPr bwMode="auto">
            <a:xfrm>
              <a:off x="2056" y="2780"/>
              <a:ext cx="137" cy="75"/>
            </a:xfrm>
            <a:custGeom>
              <a:avLst/>
              <a:gdLst>
                <a:gd name="T0" fmla="*/ 2566051 w 83"/>
                <a:gd name="T1" fmla="*/ 121 h 64"/>
                <a:gd name="T2" fmla="*/ 2519400 w 83"/>
                <a:gd name="T3" fmla="*/ 142 h 64"/>
                <a:gd name="T4" fmla="*/ 2289995 w 83"/>
                <a:gd name="T5" fmla="*/ 314 h 64"/>
                <a:gd name="T6" fmla="*/ 1894573 w 83"/>
                <a:gd name="T7" fmla="*/ 505 h 64"/>
                <a:gd name="T8" fmla="*/ 1423684 w 83"/>
                <a:gd name="T9" fmla="*/ 694 h 64"/>
                <a:gd name="T10" fmla="*/ 901473 w 83"/>
                <a:gd name="T11" fmla="*/ 929 h 64"/>
                <a:gd name="T12" fmla="*/ 446998 w 83"/>
                <a:gd name="T13" fmla="*/ 1117 h 64"/>
                <a:gd name="T14" fmla="*/ 64690 w 83"/>
                <a:gd name="T15" fmla="*/ 1402 h 64"/>
                <a:gd name="T16" fmla="*/ 0 w 83"/>
                <a:gd name="T17" fmla="*/ 1779 h 64"/>
                <a:gd name="T18" fmla="*/ 480180 w 83"/>
                <a:gd name="T19" fmla="*/ 1643 h 64"/>
                <a:gd name="T20" fmla="*/ 522551 w 83"/>
                <a:gd name="T21" fmla="*/ 1556 h 64"/>
                <a:gd name="T22" fmla="*/ 695387 w 83"/>
                <a:gd name="T23" fmla="*/ 1430 h 64"/>
                <a:gd name="T24" fmla="*/ 1147807 w 83"/>
                <a:gd name="T25" fmla="*/ 1236 h 64"/>
                <a:gd name="T26" fmla="*/ 1639289 w 83"/>
                <a:gd name="T27" fmla="*/ 1021 h 64"/>
                <a:gd name="T28" fmla="*/ 2159391 w 83"/>
                <a:gd name="T29" fmla="*/ 813 h 64"/>
                <a:gd name="T30" fmla="*/ 2603804 w 83"/>
                <a:gd name="T31" fmla="*/ 601 h 64"/>
                <a:gd name="T32" fmla="*/ 2935213 w 83"/>
                <a:gd name="T33" fmla="*/ 368 h 64"/>
                <a:gd name="T34" fmla="*/ 3041930 w 83"/>
                <a:gd name="T35" fmla="*/ 0 h 64"/>
                <a:gd name="T36" fmla="*/ 2566051 w 83"/>
                <a:gd name="T37" fmla="*/ 121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1" y="44"/>
                  </a:lnTo>
                  <a:lnTo>
                    <a:pt x="44" y="37"/>
                  </a:lnTo>
                  <a:lnTo>
                    <a:pt x="58"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7" name="Freeform 131">
              <a:extLst>
                <a:ext uri="{FF2B5EF4-FFF2-40B4-BE49-F238E27FC236}">
                  <a16:creationId xmlns:a16="http://schemas.microsoft.com/office/drawing/2014/main" id="{EDCF3BD7-2C56-9F91-576A-4CB48623D5F2}"/>
                </a:ext>
              </a:extLst>
            </p:cNvPr>
            <p:cNvSpPr>
              <a:spLocks/>
            </p:cNvSpPr>
            <p:nvPr/>
          </p:nvSpPr>
          <p:spPr bwMode="auto">
            <a:xfrm>
              <a:off x="2020" y="2753"/>
              <a:ext cx="173" cy="34"/>
            </a:xfrm>
            <a:custGeom>
              <a:avLst/>
              <a:gdLst>
                <a:gd name="T0" fmla="*/ 0 w 106"/>
                <a:gd name="T1" fmla="*/ 121 h 29"/>
                <a:gd name="T2" fmla="*/ 228735 w 106"/>
                <a:gd name="T3" fmla="*/ 375 h 29"/>
                <a:gd name="T4" fmla="*/ 648884 w 106"/>
                <a:gd name="T5" fmla="*/ 505 h 29"/>
                <a:gd name="T6" fmla="*/ 1059028 w 106"/>
                <a:gd name="T7" fmla="*/ 579 h 29"/>
                <a:gd name="T8" fmla="*/ 1568018 w 106"/>
                <a:gd name="T9" fmla="*/ 592 h 29"/>
                <a:gd name="T10" fmla="*/ 1989524 w 106"/>
                <a:gd name="T11" fmla="*/ 605 h 29"/>
                <a:gd name="T12" fmla="*/ 2370041 w 106"/>
                <a:gd name="T13" fmla="*/ 679 h 29"/>
                <a:gd name="T14" fmla="*/ 2648708 w 106"/>
                <a:gd name="T15" fmla="*/ 709 h 29"/>
                <a:gd name="T16" fmla="*/ 2702097 w 106"/>
                <a:gd name="T17" fmla="*/ 810 h 29"/>
                <a:gd name="T18" fmla="*/ 3075039 w 106"/>
                <a:gd name="T19" fmla="*/ 691 h 29"/>
                <a:gd name="T20" fmla="*/ 2820902 w 106"/>
                <a:gd name="T21" fmla="*/ 375 h 29"/>
                <a:gd name="T22" fmla="*/ 2468792 w 106"/>
                <a:gd name="T23" fmla="*/ 314 h 29"/>
                <a:gd name="T24" fmla="*/ 2027495 w 106"/>
                <a:gd name="T25" fmla="*/ 268 h 29"/>
                <a:gd name="T26" fmla="*/ 1568018 w 106"/>
                <a:gd name="T27" fmla="*/ 229 h 29"/>
                <a:gd name="T28" fmla="*/ 1079154 w 106"/>
                <a:gd name="T29" fmla="*/ 229 h 29"/>
                <a:gd name="T30" fmla="*/ 701815 w 106"/>
                <a:gd name="T31" fmla="*/ 166 h 29"/>
                <a:gd name="T32" fmla="*/ 466379 w 106"/>
                <a:gd name="T33" fmla="*/ 103 h 29"/>
                <a:gd name="T34" fmla="*/ 373313 w 106"/>
                <a:gd name="T35" fmla="*/ 0 h 29"/>
                <a:gd name="T36" fmla="*/ 0 w 106"/>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2" y="18"/>
                  </a:lnTo>
                  <a:lnTo>
                    <a:pt x="36" y="20"/>
                  </a:lnTo>
                  <a:lnTo>
                    <a:pt x="53" y="21"/>
                  </a:lnTo>
                  <a:lnTo>
                    <a:pt x="68" y="22"/>
                  </a:lnTo>
                  <a:lnTo>
                    <a:pt x="81" y="23"/>
                  </a:lnTo>
                  <a:lnTo>
                    <a:pt x="90" y="26"/>
                  </a:lnTo>
                  <a:lnTo>
                    <a:pt x="92" y="28"/>
                  </a:lnTo>
                  <a:lnTo>
                    <a:pt x="105" y="24"/>
                  </a:lnTo>
                  <a:lnTo>
                    <a:pt x="96" y="14"/>
                  </a:lnTo>
                  <a:lnTo>
                    <a:pt x="84" y="11"/>
                  </a:lnTo>
                  <a:lnTo>
                    <a:pt x="69" y="9"/>
                  </a:lnTo>
                  <a:lnTo>
                    <a:pt x="53" y="8"/>
                  </a:lnTo>
                  <a:lnTo>
                    <a:pt x="37"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8" name="Freeform 132">
              <a:extLst>
                <a:ext uri="{FF2B5EF4-FFF2-40B4-BE49-F238E27FC236}">
                  <a16:creationId xmlns:a16="http://schemas.microsoft.com/office/drawing/2014/main" id="{104F2166-F1DD-5657-DC2C-A64005229987}"/>
                </a:ext>
              </a:extLst>
            </p:cNvPr>
            <p:cNvSpPr>
              <a:spLocks/>
            </p:cNvSpPr>
            <p:nvPr/>
          </p:nvSpPr>
          <p:spPr bwMode="auto">
            <a:xfrm>
              <a:off x="2020" y="2685"/>
              <a:ext cx="134" cy="74"/>
            </a:xfrm>
            <a:custGeom>
              <a:avLst/>
              <a:gdLst>
                <a:gd name="T0" fmla="*/ 2046276 w 82"/>
                <a:gd name="T1" fmla="*/ 69 h 65"/>
                <a:gd name="T2" fmla="*/ 1991258 w 82"/>
                <a:gd name="T3" fmla="*/ 90 h 65"/>
                <a:gd name="T4" fmla="*/ 1839080 w 82"/>
                <a:gd name="T5" fmla="*/ 183 h 65"/>
                <a:gd name="T6" fmla="*/ 1513180 w 82"/>
                <a:gd name="T7" fmla="*/ 270 h 65"/>
                <a:gd name="T8" fmla="*/ 1105410 w 82"/>
                <a:gd name="T9" fmla="*/ 398 h 65"/>
                <a:gd name="T10" fmla="*/ 726393 w 82"/>
                <a:gd name="T11" fmla="*/ 508 h 65"/>
                <a:gd name="T12" fmla="*/ 326445 w 82"/>
                <a:gd name="T13" fmla="*/ 627 h 65"/>
                <a:gd name="T14" fmla="*/ 54362 w 82"/>
                <a:gd name="T15" fmla="*/ 767 h 65"/>
                <a:gd name="T16" fmla="*/ 0 w 82"/>
                <a:gd name="T17" fmla="*/ 971 h 65"/>
                <a:gd name="T18" fmla="*/ 387664 w 82"/>
                <a:gd name="T19" fmla="*/ 899 h 65"/>
                <a:gd name="T20" fmla="*/ 427217 w 82"/>
                <a:gd name="T21" fmla="*/ 865 h 65"/>
                <a:gd name="T22" fmla="*/ 608172 w 82"/>
                <a:gd name="T23" fmla="*/ 767 h 65"/>
                <a:gd name="T24" fmla="*/ 905400 w 82"/>
                <a:gd name="T25" fmla="*/ 674 h 65"/>
                <a:gd name="T26" fmla="*/ 1332638 w 82"/>
                <a:gd name="T27" fmla="*/ 575 h 65"/>
                <a:gd name="T28" fmla="*/ 1712129 w 82"/>
                <a:gd name="T29" fmla="*/ 453 h 65"/>
                <a:gd name="T30" fmla="*/ 2100009 w 82"/>
                <a:gd name="T31" fmla="*/ 328 h 65"/>
                <a:gd name="T32" fmla="*/ 2350329 w 82"/>
                <a:gd name="T33" fmla="*/ 195 h 65"/>
                <a:gd name="T34" fmla="*/ 2438921 w 82"/>
                <a:gd name="T35" fmla="*/ 0 h 65"/>
                <a:gd name="T36" fmla="*/ 2046276 w 82"/>
                <a:gd name="T37" fmla="*/ 6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5"/>
                <a:gd name="T59" fmla="*/ 82 w 82"/>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5">
                  <a:moveTo>
                    <a:pt x="68" y="4"/>
                  </a:moveTo>
                  <a:lnTo>
                    <a:pt x="66" y="6"/>
                  </a:lnTo>
                  <a:lnTo>
                    <a:pt x="61" y="12"/>
                  </a:lnTo>
                  <a:lnTo>
                    <a:pt x="50" y="18"/>
                  </a:lnTo>
                  <a:lnTo>
                    <a:pt x="37" y="26"/>
                  </a:lnTo>
                  <a:lnTo>
                    <a:pt x="24" y="33"/>
                  </a:lnTo>
                  <a:lnTo>
                    <a:pt x="11" y="41"/>
                  </a:lnTo>
                  <a:lnTo>
                    <a:pt x="2" y="51"/>
                  </a:lnTo>
                  <a:lnTo>
                    <a:pt x="0" y="64"/>
                  </a:lnTo>
                  <a:lnTo>
                    <a:pt x="13" y="60"/>
                  </a:lnTo>
                  <a:lnTo>
                    <a:pt x="14" y="57"/>
                  </a:lnTo>
                  <a:lnTo>
                    <a:pt x="20" y="51"/>
                  </a:lnTo>
                  <a:lnTo>
                    <a:pt x="30" y="45"/>
                  </a:lnTo>
                  <a:lnTo>
                    <a:pt x="44" y="37"/>
                  </a:lnTo>
                  <a:lnTo>
                    <a:pt x="57" y="30"/>
                  </a:lnTo>
                  <a:lnTo>
                    <a:pt x="70" y="22"/>
                  </a:lnTo>
                  <a:lnTo>
                    <a:pt x="78"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9" name="Freeform 133">
              <a:extLst>
                <a:ext uri="{FF2B5EF4-FFF2-40B4-BE49-F238E27FC236}">
                  <a16:creationId xmlns:a16="http://schemas.microsoft.com/office/drawing/2014/main" id="{B32CB4C7-CB68-0D4F-9BC5-E66413D2314F}"/>
                </a:ext>
              </a:extLst>
            </p:cNvPr>
            <p:cNvSpPr>
              <a:spLocks/>
            </p:cNvSpPr>
            <p:nvPr/>
          </p:nvSpPr>
          <p:spPr bwMode="auto">
            <a:xfrm>
              <a:off x="2131" y="2685"/>
              <a:ext cx="23" cy="5"/>
            </a:xfrm>
            <a:custGeom>
              <a:avLst/>
              <a:gdLst>
                <a:gd name="T0" fmla="*/ 0 w 14"/>
                <a:gd name="T1" fmla="*/ 4 h 5"/>
                <a:gd name="T2" fmla="*/ 200264 w 14"/>
                <a:gd name="T3" fmla="*/ 2 h 5"/>
                <a:gd name="T4" fmla="*/ 439537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0" name="Freeform 134">
              <a:extLst>
                <a:ext uri="{FF2B5EF4-FFF2-40B4-BE49-F238E27FC236}">
                  <a16:creationId xmlns:a16="http://schemas.microsoft.com/office/drawing/2014/main" id="{323B06C8-0307-4DAB-C636-860B9357F4EF}"/>
                </a:ext>
              </a:extLst>
            </p:cNvPr>
            <p:cNvSpPr>
              <a:spLocks/>
            </p:cNvSpPr>
            <p:nvPr/>
          </p:nvSpPr>
          <p:spPr bwMode="auto">
            <a:xfrm>
              <a:off x="1978" y="2656"/>
              <a:ext cx="176" cy="34"/>
            </a:xfrm>
            <a:custGeom>
              <a:avLst/>
              <a:gdLst>
                <a:gd name="T0" fmla="*/ 0 w 107"/>
                <a:gd name="T1" fmla="*/ 61 h 30"/>
                <a:gd name="T2" fmla="*/ 272945 w 107"/>
                <a:gd name="T3" fmla="*/ 186 h 30"/>
                <a:gd name="T4" fmla="*/ 738470 w 107"/>
                <a:gd name="T5" fmla="*/ 239 h 30"/>
                <a:gd name="T6" fmla="*/ 1242572 w 107"/>
                <a:gd name="T7" fmla="*/ 264 h 30"/>
                <a:gd name="T8" fmla="*/ 1803036 w 107"/>
                <a:gd name="T9" fmla="*/ 271 h 30"/>
                <a:gd name="T10" fmla="*/ 2351955 w 107"/>
                <a:gd name="T11" fmla="*/ 298 h 30"/>
                <a:gd name="T12" fmla="*/ 2833329 w 107"/>
                <a:gd name="T13" fmla="*/ 307 h 30"/>
                <a:gd name="T14" fmla="*/ 3107351 w 107"/>
                <a:gd name="T15" fmla="*/ 348 h 30"/>
                <a:gd name="T16" fmla="*/ 3223782 w 107"/>
                <a:gd name="T17" fmla="*/ 394 h 30"/>
                <a:gd name="T18" fmla="*/ 3649694 w 107"/>
                <a:gd name="T19" fmla="*/ 339 h 30"/>
                <a:gd name="T20" fmla="*/ 3383873 w 107"/>
                <a:gd name="T21" fmla="*/ 186 h 30"/>
                <a:gd name="T22" fmla="*/ 2899460 w 107"/>
                <a:gd name="T23" fmla="*/ 128 h 30"/>
                <a:gd name="T24" fmla="*/ 2374059 w 107"/>
                <a:gd name="T25" fmla="*/ 100 h 30"/>
                <a:gd name="T26" fmla="*/ 1865939 w 107"/>
                <a:gd name="T27" fmla="*/ 88 h 30"/>
                <a:gd name="T28" fmla="*/ 1326479 w 107"/>
                <a:gd name="T29" fmla="*/ 78 h 30"/>
                <a:gd name="T30" fmla="*/ 818282 w 107"/>
                <a:gd name="T31" fmla="*/ 69 h 30"/>
                <a:gd name="T32" fmla="*/ 520021 w 107"/>
                <a:gd name="T33" fmla="*/ 2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8"/>
                  </a:lnTo>
                  <a:lnTo>
                    <a:pt x="36" y="19"/>
                  </a:lnTo>
                  <a:lnTo>
                    <a:pt x="52" y="20"/>
                  </a:lnTo>
                  <a:lnTo>
                    <a:pt x="68" y="21"/>
                  </a:lnTo>
                  <a:lnTo>
                    <a:pt x="82" y="23"/>
                  </a:lnTo>
                  <a:lnTo>
                    <a:pt x="90" y="26"/>
                  </a:lnTo>
                  <a:lnTo>
                    <a:pt x="93" y="29"/>
                  </a:lnTo>
                  <a:lnTo>
                    <a:pt x="106" y="25"/>
                  </a:lnTo>
                  <a:lnTo>
                    <a:pt x="98" y="14"/>
                  </a:lnTo>
                  <a:lnTo>
                    <a:pt x="84" y="10"/>
                  </a:lnTo>
                  <a:lnTo>
                    <a:pt x="69" y="8"/>
                  </a:lnTo>
                  <a:lnTo>
                    <a:pt x="54" y="7"/>
                  </a:lnTo>
                  <a:lnTo>
                    <a:pt x="38" y="6"/>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1" name="Freeform 135">
              <a:extLst>
                <a:ext uri="{FF2B5EF4-FFF2-40B4-BE49-F238E27FC236}">
                  <a16:creationId xmlns:a16="http://schemas.microsoft.com/office/drawing/2014/main" id="{20CDF951-B529-BC09-8193-95F4A2AA8B3D}"/>
                </a:ext>
              </a:extLst>
            </p:cNvPr>
            <p:cNvSpPr>
              <a:spLocks/>
            </p:cNvSpPr>
            <p:nvPr/>
          </p:nvSpPr>
          <p:spPr bwMode="auto">
            <a:xfrm>
              <a:off x="1978" y="2589"/>
              <a:ext cx="137" cy="72"/>
            </a:xfrm>
            <a:custGeom>
              <a:avLst/>
              <a:gdLst>
                <a:gd name="T0" fmla="*/ 2021003 w 84"/>
                <a:gd name="T1" fmla="*/ 73 h 63"/>
                <a:gd name="T2" fmla="*/ 2001462 w 84"/>
                <a:gd name="T3" fmla="*/ 109 h 63"/>
                <a:gd name="T4" fmla="*/ 1826807 w 84"/>
                <a:gd name="T5" fmla="*/ 213 h 63"/>
                <a:gd name="T6" fmla="*/ 1510138 w 84"/>
                <a:gd name="T7" fmla="*/ 318 h 63"/>
                <a:gd name="T8" fmla="*/ 1100537 w 84"/>
                <a:gd name="T9" fmla="*/ 426 h 63"/>
                <a:gd name="T10" fmla="*/ 726030 w 84"/>
                <a:gd name="T11" fmla="*/ 542 h 63"/>
                <a:gd name="T12" fmla="*/ 361054 w 84"/>
                <a:gd name="T13" fmla="*/ 671 h 63"/>
                <a:gd name="T14" fmla="*/ 84992 w 84"/>
                <a:gd name="T15" fmla="*/ 808 h 63"/>
                <a:gd name="T16" fmla="*/ 0 w 84"/>
                <a:gd name="T17" fmla="*/ 1032 h 63"/>
                <a:gd name="T18" fmla="*/ 368724 w 84"/>
                <a:gd name="T19" fmla="*/ 951 h 63"/>
                <a:gd name="T20" fmla="*/ 413735 w 84"/>
                <a:gd name="T21" fmla="*/ 941 h 63"/>
                <a:gd name="T22" fmla="*/ 588862 w 84"/>
                <a:gd name="T23" fmla="*/ 832 h 63"/>
                <a:gd name="T24" fmla="*/ 900861 w 84"/>
                <a:gd name="T25" fmla="*/ 720 h 63"/>
                <a:gd name="T26" fmla="*/ 1290855 w 84"/>
                <a:gd name="T27" fmla="*/ 619 h 63"/>
                <a:gd name="T28" fmla="*/ 1709551 w 84"/>
                <a:gd name="T29" fmla="*/ 514 h 63"/>
                <a:gd name="T30" fmla="*/ 2053106 w 84"/>
                <a:gd name="T31" fmla="*/ 373 h 63"/>
                <a:gd name="T32" fmla="*/ 2338756 w 84"/>
                <a:gd name="T33" fmla="*/ 213 h 63"/>
                <a:gd name="T34" fmla="*/ 2396295 w 84"/>
                <a:gd name="T35" fmla="*/ 0 h 63"/>
                <a:gd name="T36" fmla="*/ 2021003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7"/>
                  </a:lnTo>
                  <a:lnTo>
                    <a:pt x="63" y="13"/>
                  </a:lnTo>
                  <a:lnTo>
                    <a:pt x="52" y="19"/>
                  </a:lnTo>
                  <a:lnTo>
                    <a:pt x="38" y="26"/>
                  </a:lnTo>
                  <a:lnTo>
                    <a:pt x="25" y="33"/>
                  </a:lnTo>
                  <a:lnTo>
                    <a:pt x="12" y="40"/>
                  </a:lnTo>
                  <a:lnTo>
                    <a:pt x="3" y="49"/>
                  </a:lnTo>
                  <a:lnTo>
                    <a:pt x="0" y="62"/>
                  </a:lnTo>
                  <a:lnTo>
                    <a:pt x="13" y="58"/>
                  </a:lnTo>
                  <a:lnTo>
                    <a:pt x="14" y="57"/>
                  </a:lnTo>
                  <a:lnTo>
                    <a:pt x="20" y="51"/>
                  </a:lnTo>
                  <a:lnTo>
                    <a:pt x="31" y="44"/>
                  </a:lnTo>
                  <a:lnTo>
                    <a:pt x="45" y="38"/>
                  </a:lnTo>
                  <a:lnTo>
                    <a:pt x="59" y="31"/>
                  </a:lnTo>
                  <a:lnTo>
                    <a:pt x="71" y="23"/>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2" name="Freeform 136">
              <a:extLst>
                <a:ext uri="{FF2B5EF4-FFF2-40B4-BE49-F238E27FC236}">
                  <a16:creationId xmlns:a16="http://schemas.microsoft.com/office/drawing/2014/main" id="{590FAF5C-2C77-BD3B-527E-E1638C0EC524}"/>
                </a:ext>
              </a:extLst>
            </p:cNvPr>
            <p:cNvSpPr>
              <a:spLocks/>
            </p:cNvSpPr>
            <p:nvPr/>
          </p:nvSpPr>
          <p:spPr bwMode="auto">
            <a:xfrm>
              <a:off x="1942" y="2561"/>
              <a:ext cx="173" cy="33"/>
            </a:xfrm>
            <a:custGeom>
              <a:avLst/>
              <a:gdLst>
                <a:gd name="T0" fmla="*/ 0 w 106"/>
                <a:gd name="T1" fmla="*/ 3 h 29"/>
                <a:gd name="T2" fmla="*/ 228735 w 106"/>
                <a:gd name="T3" fmla="*/ 191 h 29"/>
                <a:gd name="T4" fmla="*/ 609275 w 106"/>
                <a:gd name="T5" fmla="*/ 247 h 29"/>
                <a:gd name="T6" fmla="*/ 1059028 w 106"/>
                <a:gd name="T7" fmla="*/ 281 h 29"/>
                <a:gd name="T8" fmla="*/ 1530828 w 106"/>
                <a:gd name="T9" fmla="*/ 306 h 29"/>
                <a:gd name="T10" fmla="*/ 1964446 w 106"/>
                <a:gd name="T11" fmla="*/ 306 h 29"/>
                <a:gd name="T12" fmla="*/ 2370041 w 106"/>
                <a:gd name="T13" fmla="*/ 320 h 29"/>
                <a:gd name="T14" fmla="*/ 2613447 w 106"/>
                <a:gd name="T15" fmla="*/ 364 h 29"/>
                <a:gd name="T16" fmla="*/ 2702097 w 106"/>
                <a:gd name="T17" fmla="*/ 414 h 29"/>
                <a:gd name="T18" fmla="*/ 3075039 w 106"/>
                <a:gd name="T19" fmla="*/ 360 h 29"/>
                <a:gd name="T20" fmla="*/ 2841860 w 106"/>
                <a:gd name="T21" fmla="*/ 207 h 29"/>
                <a:gd name="T22" fmla="*/ 2468792 w 106"/>
                <a:gd name="T23" fmla="*/ 130 h 29"/>
                <a:gd name="T24" fmla="*/ 2027495 w 106"/>
                <a:gd name="T25" fmla="*/ 100 h 29"/>
                <a:gd name="T26" fmla="*/ 1530828 w 106"/>
                <a:gd name="T27" fmla="*/ 100 h 29"/>
                <a:gd name="T28" fmla="*/ 1079154 w 106"/>
                <a:gd name="T29" fmla="*/ 88 h 29"/>
                <a:gd name="T30" fmla="*/ 701815 w 106"/>
                <a:gd name="T31" fmla="*/ 68 h 29"/>
                <a:gd name="T32" fmla="*/ 430014 w 106"/>
                <a:gd name="T33" fmla="*/ 1 h 29"/>
                <a:gd name="T34" fmla="*/ 373313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0"/>
                  </a:lnTo>
                  <a:lnTo>
                    <a:pt x="81" y="22"/>
                  </a:lnTo>
                  <a:lnTo>
                    <a:pt x="89" y="25"/>
                  </a:lnTo>
                  <a:lnTo>
                    <a:pt x="92" y="28"/>
                  </a:lnTo>
                  <a:lnTo>
                    <a:pt x="105" y="24"/>
                  </a:lnTo>
                  <a:lnTo>
                    <a:pt x="97" y="14"/>
                  </a:lnTo>
                  <a:lnTo>
                    <a:pt x="84" y="9"/>
                  </a:lnTo>
                  <a:lnTo>
                    <a:pt x="69" y="7"/>
                  </a:lnTo>
                  <a:lnTo>
                    <a:pt x="52"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3" name="Freeform 137">
              <a:extLst>
                <a:ext uri="{FF2B5EF4-FFF2-40B4-BE49-F238E27FC236}">
                  <a16:creationId xmlns:a16="http://schemas.microsoft.com/office/drawing/2014/main" id="{1D022CDF-28CF-B39F-3BD6-1D401B1B3B80}"/>
                </a:ext>
              </a:extLst>
            </p:cNvPr>
            <p:cNvSpPr>
              <a:spLocks/>
            </p:cNvSpPr>
            <p:nvPr/>
          </p:nvSpPr>
          <p:spPr bwMode="auto">
            <a:xfrm>
              <a:off x="1942" y="2497"/>
              <a:ext cx="138" cy="69"/>
            </a:xfrm>
            <a:custGeom>
              <a:avLst/>
              <a:gdLst>
                <a:gd name="T0" fmla="*/ 2396631 w 84"/>
                <a:gd name="T1" fmla="*/ 113 h 60"/>
                <a:gd name="T2" fmla="*/ 2353327 w 84"/>
                <a:gd name="T3" fmla="*/ 98 h 60"/>
                <a:gd name="T4" fmla="*/ 2325254 w 84"/>
                <a:gd name="T5" fmla="*/ 85 h 60"/>
                <a:gd name="T6" fmla="*/ 2095021 w 84"/>
                <a:gd name="T7" fmla="*/ 199 h 60"/>
                <a:gd name="T8" fmla="*/ 1725639 w 84"/>
                <a:gd name="T9" fmla="*/ 302 h 60"/>
                <a:gd name="T10" fmla="*/ 1275230 w 84"/>
                <a:gd name="T11" fmla="*/ 430 h 60"/>
                <a:gd name="T12" fmla="*/ 797119 w 84"/>
                <a:gd name="T13" fmla="*/ 549 h 60"/>
                <a:gd name="T14" fmla="*/ 410755 w 84"/>
                <a:gd name="T15" fmla="*/ 698 h 60"/>
                <a:gd name="T16" fmla="*/ 60339 w 84"/>
                <a:gd name="T17" fmla="*/ 864 h 60"/>
                <a:gd name="T18" fmla="*/ 0 w 84"/>
                <a:gd name="T19" fmla="*/ 1122 h 60"/>
                <a:gd name="T20" fmla="*/ 439537 w 84"/>
                <a:gd name="T21" fmla="*/ 1023 h 60"/>
                <a:gd name="T22" fmla="*/ 472486 w 84"/>
                <a:gd name="T23" fmla="*/ 1014 h 60"/>
                <a:gd name="T24" fmla="*/ 674812 w 84"/>
                <a:gd name="T25" fmla="*/ 882 h 60"/>
                <a:gd name="T26" fmla="*/ 1050389 w 84"/>
                <a:gd name="T27" fmla="*/ 767 h 60"/>
                <a:gd name="T28" fmla="*/ 1476779 w 84"/>
                <a:gd name="T29" fmla="*/ 650 h 60"/>
                <a:gd name="T30" fmla="*/ 1948925 w 84"/>
                <a:gd name="T31" fmla="*/ 528 h 60"/>
                <a:gd name="T32" fmla="*/ 2353327 w 84"/>
                <a:gd name="T33" fmla="*/ 399 h 60"/>
                <a:gd name="T34" fmla="*/ 2684176 w 84"/>
                <a:gd name="T35" fmla="*/ 246 h 60"/>
                <a:gd name="T36" fmla="*/ 2779841 w 84"/>
                <a:gd name="T37" fmla="*/ 1 h 60"/>
                <a:gd name="T38" fmla="*/ 2776586 w 84"/>
                <a:gd name="T39" fmla="*/ 0 h 60"/>
                <a:gd name="T40" fmla="*/ 2779841 w 84"/>
                <a:gd name="T41" fmla="*/ 1 h 60"/>
                <a:gd name="T42" fmla="*/ 2779841 w 84"/>
                <a:gd name="T43" fmla="*/ 0 h 60"/>
                <a:gd name="T44" fmla="*/ 2776586 w 84"/>
                <a:gd name="T45" fmla="*/ 0 h 60"/>
                <a:gd name="T46" fmla="*/ 2396631 w 84"/>
                <a:gd name="T47" fmla="*/ 113 h 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4"/>
                <a:gd name="T73" fmla="*/ 0 h 60"/>
                <a:gd name="T74" fmla="*/ 84 w 84"/>
                <a:gd name="T75" fmla="*/ 60 h 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4" h="60">
                  <a:moveTo>
                    <a:pt x="71" y="6"/>
                  </a:moveTo>
                  <a:lnTo>
                    <a:pt x="70" y="5"/>
                  </a:lnTo>
                  <a:lnTo>
                    <a:pt x="69" y="4"/>
                  </a:lnTo>
                  <a:lnTo>
                    <a:pt x="62" y="10"/>
                  </a:lnTo>
                  <a:lnTo>
                    <a:pt x="51" y="16"/>
                  </a:lnTo>
                  <a:lnTo>
                    <a:pt x="38" y="23"/>
                  </a:lnTo>
                  <a:lnTo>
                    <a:pt x="24" y="29"/>
                  </a:lnTo>
                  <a:lnTo>
                    <a:pt x="12" y="37"/>
                  </a:lnTo>
                  <a:lnTo>
                    <a:pt x="2" y="46"/>
                  </a:lnTo>
                  <a:lnTo>
                    <a:pt x="0" y="59"/>
                  </a:lnTo>
                  <a:lnTo>
                    <a:pt x="13" y="55"/>
                  </a:lnTo>
                  <a:lnTo>
                    <a:pt x="14" y="54"/>
                  </a:lnTo>
                  <a:lnTo>
                    <a:pt x="20" y="47"/>
                  </a:lnTo>
                  <a:lnTo>
                    <a:pt x="31" y="41"/>
                  </a:lnTo>
                  <a:lnTo>
                    <a:pt x="44" y="34"/>
                  </a:lnTo>
                  <a:lnTo>
                    <a:pt x="58" y="28"/>
                  </a:lnTo>
                  <a:lnTo>
                    <a:pt x="70" y="21"/>
                  </a:lnTo>
                  <a:lnTo>
                    <a:pt x="80" y="13"/>
                  </a:lnTo>
                  <a:lnTo>
                    <a:pt x="83" y="1"/>
                  </a:lnTo>
                  <a:lnTo>
                    <a:pt x="82" y="0"/>
                  </a:lnTo>
                  <a:lnTo>
                    <a:pt x="83" y="1"/>
                  </a:lnTo>
                  <a:lnTo>
                    <a:pt x="83" y="0"/>
                  </a:lnTo>
                  <a:lnTo>
                    <a:pt x="82" y="0"/>
                  </a:lnTo>
                  <a:lnTo>
                    <a:pt x="71"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4" name="Freeform 138">
              <a:extLst>
                <a:ext uri="{FF2B5EF4-FFF2-40B4-BE49-F238E27FC236}">
                  <a16:creationId xmlns:a16="http://schemas.microsoft.com/office/drawing/2014/main" id="{AED54DC8-CB6D-7566-534D-E642E8C825A6}"/>
                </a:ext>
              </a:extLst>
            </p:cNvPr>
            <p:cNvSpPr>
              <a:spLocks/>
            </p:cNvSpPr>
            <p:nvPr/>
          </p:nvSpPr>
          <p:spPr bwMode="auto">
            <a:xfrm>
              <a:off x="2056" y="2495"/>
              <a:ext cx="24" cy="11"/>
            </a:xfrm>
            <a:custGeom>
              <a:avLst/>
              <a:gdLst>
                <a:gd name="T0" fmla="*/ 0 w 14"/>
                <a:gd name="T1" fmla="*/ 323 h 9"/>
                <a:gd name="T2" fmla="*/ 84792 w 14"/>
                <a:gd name="T3" fmla="*/ 395 h 9"/>
                <a:gd name="T4" fmla="*/ 84792 w 14"/>
                <a:gd name="T5" fmla="*/ 543 h 9"/>
                <a:gd name="T6" fmla="*/ 1057803 w 14"/>
                <a:gd name="T7" fmla="*/ 1 h 9"/>
                <a:gd name="T8" fmla="*/ 1012678 w 14"/>
                <a:gd name="T9" fmla="*/ 0 h 9"/>
                <a:gd name="T10" fmla="*/ 1057803 w 14"/>
                <a:gd name="T11" fmla="*/ 2 h 9"/>
                <a:gd name="T12" fmla="*/ 0 w 14"/>
                <a:gd name="T13" fmla="*/ 323 h 9"/>
                <a:gd name="T14" fmla="*/ 0 w 14"/>
                <a:gd name="T15" fmla="*/ 395 h 9"/>
                <a:gd name="T16" fmla="*/ 84792 w 14"/>
                <a:gd name="T17" fmla="*/ 395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1" y="6"/>
                  </a:lnTo>
                  <a:lnTo>
                    <a:pt x="1" y="8"/>
                  </a:lnTo>
                  <a:lnTo>
                    <a:pt x="13" y="1"/>
                  </a:lnTo>
                  <a:lnTo>
                    <a:pt x="12" y="0"/>
                  </a:lnTo>
                  <a:lnTo>
                    <a:pt x="13" y="2"/>
                  </a:lnTo>
                  <a:lnTo>
                    <a:pt x="0" y="5"/>
                  </a:lnTo>
                  <a:lnTo>
                    <a:pt x="0" y="6"/>
                  </a:lnTo>
                  <a:lnTo>
                    <a:pt x="1" y="6"/>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5" name="Freeform 139">
              <a:extLst>
                <a:ext uri="{FF2B5EF4-FFF2-40B4-BE49-F238E27FC236}">
                  <a16:creationId xmlns:a16="http://schemas.microsoft.com/office/drawing/2014/main" id="{0FCC5396-D6D0-1511-2C21-A8DAB00BF8C5}"/>
                </a:ext>
              </a:extLst>
            </p:cNvPr>
            <p:cNvSpPr>
              <a:spLocks/>
            </p:cNvSpPr>
            <p:nvPr/>
          </p:nvSpPr>
          <p:spPr bwMode="auto">
            <a:xfrm>
              <a:off x="1907" y="2467"/>
              <a:ext cx="173" cy="36"/>
            </a:xfrm>
            <a:custGeom>
              <a:avLst/>
              <a:gdLst>
                <a:gd name="T0" fmla="*/ 0 w 105"/>
                <a:gd name="T1" fmla="*/ 179 h 30"/>
                <a:gd name="T2" fmla="*/ 282272 w 105"/>
                <a:gd name="T3" fmla="*/ 642 h 30"/>
                <a:gd name="T4" fmla="*/ 778703 w 105"/>
                <a:gd name="T5" fmla="*/ 900 h 30"/>
                <a:gd name="T6" fmla="*/ 1283006 w 105"/>
                <a:gd name="T7" fmla="*/ 953 h 30"/>
                <a:gd name="T8" fmla="*/ 1816719 w 105"/>
                <a:gd name="T9" fmla="*/ 984 h 30"/>
                <a:gd name="T10" fmla="*/ 2445765 w 105"/>
                <a:gd name="T11" fmla="*/ 1080 h 30"/>
                <a:gd name="T12" fmla="*/ 2890764 w 105"/>
                <a:gd name="T13" fmla="*/ 1144 h 30"/>
                <a:gd name="T14" fmla="*/ 3191916 w 105"/>
                <a:gd name="T15" fmla="*/ 1219 h 30"/>
                <a:gd name="T16" fmla="*/ 3261172 w 105"/>
                <a:gd name="T17" fmla="*/ 1331 h 30"/>
                <a:gd name="T18" fmla="*/ 3721278 w 105"/>
                <a:gd name="T19" fmla="*/ 1181 h 30"/>
                <a:gd name="T20" fmla="*/ 3427301 w 105"/>
                <a:gd name="T21" fmla="*/ 750 h 30"/>
                <a:gd name="T22" fmla="*/ 2993261 w 105"/>
                <a:gd name="T23" fmla="*/ 535 h 30"/>
                <a:gd name="T24" fmla="*/ 2482473 w 105"/>
                <a:gd name="T25" fmla="*/ 446 h 30"/>
                <a:gd name="T26" fmla="*/ 1890361 w 105"/>
                <a:gd name="T27" fmla="*/ 434 h 30"/>
                <a:gd name="T28" fmla="*/ 1329942 w 105"/>
                <a:gd name="T29" fmla="*/ 372 h 30"/>
                <a:gd name="T30" fmla="*/ 875703 w 105"/>
                <a:gd name="T31" fmla="*/ 258 h 30"/>
                <a:gd name="T32" fmla="*/ 569066 w 105"/>
                <a:gd name="T33" fmla="*/ 149 h 30"/>
                <a:gd name="T34" fmla="*/ 465077 w 105"/>
                <a:gd name="T35" fmla="*/ 0 h 30"/>
                <a:gd name="T36" fmla="*/ 0 w 105"/>
                <a:gd name="T37" fmla="*/ 179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2" y="19"/>
                  </a:lnTo>
                  <a:lnTo>
                    <a:pt x="36" y="21"/>
                  </a:lnTo>
                  <a:lnTo>
                    <a:pt x="51" y="22"/>
                  </a:lnTo>
                  <a:lnTo>
                    <a:pt x="68" y="23"/>
                  </a:lnTo>
                  <a:lnTo>
                    <a:pt x="81" y="25"/>
                  </a:lnTo>
                  <a:lnTo>
                    <a:pt x="89" y="27"/>
                  </a:lnTo>
                  <a:lnTo>
                    <a:pt x="91" y="29"/>
                  </a:lnTo>
                  <a:lnTo>
                    <a:pt x="104" y="26"/>
                  </a:lnTo>
                  <a:lnTo>
                    <a:pt x="96" y="16"/>
                  </a:lnTo>
                  <a:lnTo>
                    <a:pt x="84" y="12"/>
                  </a:lnTo>
                  <a:lnTo>
                    <a:pt x="69" y="10"/>
                  </a:lnTo>
                  <a:lnTo>
                    <a:pt x="53" y="9"/>
                  </a:lnTo>
                  <a:lnTo>
                    <a:pt x="37"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6" name="Freeform 140">
              <a:extLst>
                <a:ext uri="{FF2B5EF4-FFF2-40B4-BE49-F238E27FC236}">
                  <a16:creationId xmlns:a16="http://schemas.microsoft.com/office/drawing/2014/main" id="{8014F400-5220-4C08-123F-57D5BDAA4940}"/>
                </a:ext>
              </a:extLst>
            </p:cNvPr>
            <p:cNvSpPr>
              <a:spLocks/>
            </p:cNvSpPr>
            <p:nvPr/>
          </p:nvSpPr>
          <p:spPr bwMode="auto">
            <a:xfrm>
              <a:off x="1907" y="2401"/>
              <a:ext cx="139" cy="73"/>
            </a:xfrm>
            <a:custGeom>
              <a:avLst/>
              <a:gdLst>
                <a:gd name="T0" fmla="*/ 2750315 w 84"/>
                <a:gd name="T1" fmla="*/ 94 h 63"/>
                <a:gd name="T2" fmla="*/ 2674282 w 84"/>
                <a:gd name="T3" fmla="*/ 109 h 63"/>
                <a:gd name="T4" fmla="*/ 2468110 w 84"/>
                <a:gd name="T5" fmla="*/ 247 h 63"/>
                <a:gd name="T6" fmla="*/ 1992016 w 84"/>
                <a:gd name="T7" fmla="*/ 394 h 63"/>
                <a:gd name="T8" fmla="*/ 1491520 w 84"/>
                <a:gd name="T9" fmla="*/ 530 h 63"/>
                <a:gd name="T10" fmla="*/ 941823 w 84"/>
                <a:gd name="T11" fmla="*/ 693 h 63"/>
                <a:gd name="T12" fmla="*/ 477822 w 84"/>
                <a:gd name="T13" fmla="*/ 854 h 63"/>
                <a:gd name="T14" fmla="*/ 68952 w 84"/>
                <a:gd name="T15" fmla="*/ 1078 h 63"/>
                <a:gd name="T16" fmla="*/ 0 w 84"/>
                <a:gd name="T17" fmla="*/ 1362 h 63"/>
                <a:gd name="T18" fmla="*/ 516999 w 84"/>
                <a:gd name="T19" fmla="*/ 1283 h 63"/>
                <a:gd name="T20" fmla="*/ 544701 w 84"/>
                <a:gd name="T21" fmla="*/ 1219 h 63"/>
                <a:gd name="T22" fmla="*/ 790682 w 84"/>
                <a:gd name="T23" fmla="*/ 1107 h 63"/>
                <a:gd name="T24" fmla="*/ 1203808 w 84"/>
                <a:gd name="T25" fmla="*/ 955 h 63"/>
                <a:gd name="T26" fmla="*/ 1732518 w 84"/>
                <a:gd name="T27" fmla="*/ 803 h 63"/>
                <a:gd name="T28" fmla="*/ 2275245 w 84"/>
                <a:gd name="T29" fmla="*/ 636 h 63"/>
                <a:gd name="T30" fmla="*/ 2750315 w 84"/>
                <a:gd name="T31" fmla="*/ 474 h 63"/>
                <a:gd name="T32" fmla="*/ 3123646 w 84"/>
                <a:gd name="T33" fmla="*/ 286 h 63"/>
                <a:gd name="T34" fmla="*/ 3252527 w 84"/>
                <a:gd name="T35" fmla="*/ 0 h 63"/>
                <a:gd name="T36" fmla="*/ 2750315 w 84"/>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1" y="18"/>
                  </a:lnTo>
                  <a:lnTo>
                    <a:pt x="38" y="24"/>
                  </a:lnTo>
                  <a:lnTo>
                    <a:pt x="24" y="31"/>
                  </a:lnTo>
                  <a:lnTo>
                    <a:pt x="12" y="39"/>
                  </a:lnTo>
                  <a:lnTo>
                    <a:pt x="2" y="49"/>
                  </a:lnTo>
                  <a:lnTo>
                    <a:pt x="0" y="62"/>
                  </a:lnTo>
                  <a:lnTo>
                    <a:pt x="13" y="58"/>
                  </a:lnTo>
                  <a:lnTo>
                    <a:pt x="14" y="55"/>
                  </a:lnTo>
                  <a:lnTo>
                    <a:pt x="20" y="50"/>
                  </a:lnTo>
                  <a:lnTo>
                    <a:pt x="31" y="43"/>
                  </a:lnTo>
                  <a:lnTo>
                    <a:pt x="44" y="36"/>
                  </a:lnTo>
                  <a:lnTo>
                    <a:pt x="58" y="29"/>
                  </a:lnTo>
                  <a:lnTo>
                    <a:pt x="70" y="22"/>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7" name="Freeform 141">
              <a:extLst>
                <a:ext uri="{FF2B5EF4-FFF2-40B4-BE49-F238E27FC236}">
                  <a16:creationId xmlns:a16="http://schemas.microsoft.com/office/drawing/2014/main" id="{DAD81F6E-FA8E-9D1B-8F06-FB264960577C}"/>
                </a:ext>
              </a:extLst>
            </p:cNvPr>
            <p:cNvSpPr>
              <a:spLocks/>
            </p:cNvSpPr>
            <p:nvPr/>
          </p:nvSpPr>
          <p:spPr bwMode="auto">
            <a:xfrm>
              <a:off x="1871" y="2374"/>
              <a:ext cx="175" cy="33"/>
            </a:xfrm>
            <a:custGeom>
              <a:avLst/>
              <a:gdLst>
                <a:gd name="T0" fmla="*/ 0 w 106"/>
                <a:gd name="T1" fmla="*/ 68 h 29"/>
                <a:gd name="T2" fmla="*/ 291842 w 106"/>
                <a:gd name="T3" fmla="*/ 207 h 29"/>
                <a:gd name="T4" fmla="*/ 795449 w 106"/>
                <a:gd name="T5" fmla="*/ 269 h 29"/>
                <a:gd name="T6" fmla="*/ 1328805 w 106"/>
                <a:gd name="T7" fmla="*/ 306 h 29"/>
                <a:gd name="T8" fmla="*/ 1941196 w 106"/>
                <a:gd name="T9" fmla="*/ 316 h 29"/>
                <a:gd name="T10" fmla="*/ 2508326 w 106"/>
                <a:gd name="T11" fmla="*/ 320 h 29"/>
                <a:gd name="T12" fmla="*/ 3033331 w 106"/>
                <a:gd name="T13" fmla="*/ 360 h 29"/>
                <a:gd name="T14" fmla="*/ 3369257 w 106"/>
                <a:gd name="T15" fmla="*/ 396 h 29"/>
                <a:gd name="T16" fmla="*/ 3435385 w 106"/>
                <a:gd name="T17" fmla="*/ 414 h 29"/>
                <a:gd name="T18" fmla="*/ 3917132 w 106"/>
                <a:gd name="T19" fmla="*/ 360 h 29"/>
                <a:gd name="T20" fmla="*/ 3621810 w 106"/>
                <a:gd name="T21" fmla="*/ 207 h 29"/>
                <a:gd name="T22" fmla="*/ 3136520 w 106"/>
                <a:gd name="T23" fmla="*/ 168 h 29"/>
                <a:gd name="T24" fmla="*/ 2573651 w 106"/>
                <a:gd name="T25" fmla="*/ 130 h 29"/>
                <a:gd name="T26" fmla="*/ 1984779 w 106"/>
                <a:gd name="T27" fmla="*/ 114 h 29"/>
                <a:gd name="T28" fmla="*/ 1427982 w 106"/>
                <a:gd name="T29" fmla="*/ 100 h 29"/>
                <a:gd name="T30" fmla="*/ 904506 w 106"/>
                <a:gd name="T31" fmla="*/ 77 h 29"/>
                <a:gd name="T32" fmla="*/ 563155 w 106"/>
                <a:gd name="T33" fmla="*/ 3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1" y="18"/>
                  </a:lnTo>
                  <a:lnTo>
                    <a:pt x="36" y="20"/>
                  </a:lnTo>
                  <a:lnTo>
                    <a:pt x="52" y="21"/>
                  </a:lnTo>
                  <a:lnTo>
                    <a:pt x="67" y="22"/>
                  </a:lnTo>
                  <a:lnTo>
                    <a:pt x="81" y="24"/>
                  </a:lnTo>
                  <a:lnTo>
                    <a:pt x="90" y="26"/>
                  </a:lnTo>
                  <a:lnTo>
                    <a:pt x="92" y="28"/>
                  </a:lnTo>
                  <a:lnTo>
                    <a:pt x="105" y="24"/>
                  </a:lnTo>
                  <a:lnTo>
                    <a:pt x="97" y="14"/>
                  </a:lnTo>
                  <a:lnTo>
                    <a:pt x="84" y="11"/>
                  </a:lnTo>
                  <a:lnTo>
                    <a:pt x="69" y="9"/>
                  </a:lnTo>
                  <a:lnTo>
                    <a:pt x="53" y="8"/>
                  </a:lnTo>
                  <a:lnTo>
                    <a:pt x="38"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8" name="Freeform 142">
              <a:extLst>
                <a:ext uri="{FF2B5EF4-FFF2-40B4-BE49-F238E27FC236}">
                  <a16:creationId xmlns:a16="http://schemas.microsoft.com/office/drawing/2014/main" id="{34DEF24D-CC27-61BF-060E-6D61EB8E1011}"/>
                </a:ext>
              </a:extLst>
            </p:cNvPr>
            <p:cNvSpPr>
              <a:spLocks/>
            </p:cNvSpPr>
            <p:nvPr/>
          </p:nvSpPr>
          <p:spPr bwMode="auto">
            <a:xfrm>
              <a:off x="1871" y="2306"/>
              <a:ext cx="137" cy="73"/>
            </a:xfrm>
            <a:custGeom>
              <a:avLst/>
              <a:gdLst>
                <a:gd name="T0" fmla="*/ 2566051 w 83"/>
                <a:gd name="T1" fmla="*/ 73 h 64"/>
                <a:gd name="T2" fmla="*/ 2519400 w 83"/>
                <a:gd name="T3" fmla="*/ 83 h 64"/>
                <a:gd name="T4" fmla="*/ 2289995 w 83"/>
                <a:gd name="T5" fmla="*/ 183 h 64"/>
                <a:gd name="T6" fmla="*/ 1894573 w 83"/>
                <a:gd name="T7" fmla="*/ 285 h 64"/>
                <a:gd name="T8" fmla="*/ 1423684 w 83"/>
                <a:gd name="T9" fmla="*/ 402 h 64"/>
                <a:gd name="T10" fmla="*/ 901473 w 83"/>
                <a:gd name="T11" fmla="*/ 518 h 64"/>
                <a:gd name="T12" fmla="*/ 446998 w 83"/>
                <a:gd name="T13" fmla="*/ 627 h 64"/>
                <a:gd name="T14" fmla="*/ 64690 w 83"/>
                <a:gd name="T15" fmla="*/ 792 h 64"/>
                <a:gd name="T16" fmla="*/ 0 w 83"/>
                <a:gd name="T17" fmla="*/ 1000 h 64"/>
                <a:gd name="T18" fmla="*/ 480180 w 83"/>
                <a:gd name="T19" fmla="*/ 931 h 64"/>
                <a:gd name="T20" fmla="*/ 522551 w 83"/>
                <a:gd name="T21" fmla="*/ 887 h 64"/>
                <a:gd name="T22" fmla="*/ 695387 w 83"/>
                <a:gd name="T23" fmla="*/ 811 h 64"/>
                <a:gd name="T24" fmla="*/ 1133388 w 83"/>
                <a:gd name="T25" fmla="*/ 694 h 64"/>
                <a:gd name="T26" fmla="*/ 1639289 w 83"/>
                <a:gd name="T27" fmla="*/ 591 h 64"/>
                <a:gd name="T28" fmla="*/ 2159391 w 83"/>
                <a:gd name="T29" fmla="*/ 459 h 64"/>
                <a:gd name="T30" fmla="*/ 2603804 w 83"/>
                <a:gd name="T31" fmla="*/ 325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0" y="44"/>
                  </a:lnTo>
                  <a:lnTo>
                    <a:pt x="44" y="37"/>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9" name="Freeform 143">
              <a:extLst>
                <a:ext uri="{FF2B5EF4-FFF2-40B4-BE49-F238E27FC236}">
                  <a16:creationId xmlns:a16="http://schemas.microsoft.com/office/drawing/2014/main" id="{88D63C75-7543-31E4-932F-844883F70920}"/>
                </a:ext>
              </a:extLst>
            </p:cNvPr>
            <p:cNvSpPr>
              <a:spLocks/>
            </p:cNvSpPr>
            <p:nvPr/>
          </p:nvSpPr>
          <p:spPr bwMode="auto">
            <a:xfrm>
              <a:off x="1834" y="2221"/>
              <a:ext cx="174" cy="90"/>
            </a:xfrm>
            <a:custGeom>
              <a:avLst/>
              <a:gdLst>
                <a:gd name="T0" fmla="*/ 555905 w 105"/>
                <a:gd name="T1" fmla="*/ 851 h 79"/>
                <a:gd name="T2" fmla="*/ 42486 w 105"/>
                <a:gd name="T3" fmla="*/ 864 h 79"/>
                <a:gd name="T4" fmla="*/ 320394 w 105"/>
                <a:gd name="T5" fmla="*/ 1020 h 79"/>
                <a:gd name="T6" fmla="*/ 851120 w 105"/>
                <a:gd name="T7" fmla="*/ 1104 h 79"/>
                <a:gd name="T8" fmla="*/ 1485145 w 105"/>
                <a:gd name="T9" fmla="*/ 1108 h 79"/>
                <a:gd name="T10" fmla="*/ 2150963 w 105"/>
                <a:gd name="T11" fmla="*/ 1121 h 79"/>
                <a:gd name="T12" fmla="*/ 2706298 w 105"/>
                <a:gd name="T13" fmla="*/ 1121 h 79"/>
                <a:gd name="T14" fmla="*/ 3269143 w 105"/>
                <a:gd name="T15" fmla="*/ 1135 h 79"/>
                <a:gd name="T16" fmla="*/ 3587389 w 105"/>
                <a:gd name="T17" fmla="*/ 1176 h 79"/>
                <a:gd name="T18" fmla="*/ 3677016 w 105"/>
                <a:gd name="T19" fmla="*/ 1204 h 79"/>
                <a:gd name="T20" fmla="*/ 4192184 w 105"/>
                <a:gd name="T21" fmla="*/ 1135 h 79"/>
                <a:gd name="T22" fmla="*/ 3825019 w 105"/>
                <a:gd name="T23" fmla="*/ 984 h 79"/>
                <a:gd name="T24" fmla="*/ 3367531 w 105"/>
                <a:gd name="T25" fmla="*/ 942 h 79"/>
                <a:gd name="T26" fmla="*/ 2755964 w 105"/>
                <a:gd name="T27" fmla="*/ 924 h 79"/>
                <a:gd name="T28" fmla="*/ 2150963 w 105"/>
                <a:gd name="T29" fmla="*/ 895 h 79"/>
                <a:gd name="T30" fmla="*/ 1485145 w 105"/>
                <a:gd name="T31" fmla="*/ 906 h 79"/>
                <a:gd name="T32" fmla="*/ 970032 w 105"/>
                <a:gd name="T33" fmla="*/ 895 h 79"/>
                <a:gd name="T34" fmla="*/ 663081 w 105"/>
                <a:gd name="T35" fmla="*/ 854 h 79"/>
                <a:gd name="T36" fmla="*/ 555905 w 105"/>
                <a:gd name="T37" fmla="*/ 795 h 79"/>
                <a:gd name="T38" fmla="*/ 0 w 105"/>
                <a:gd name="T39" fmla="*/ 851 h 79"/>
                <a:gd name="T40" fmla="*/ 555905 w 105"/>
                <a:gd name="T41" fmla="*/ 795 h 79"/>
                <a:gd name="T42" fmla="*/ 0 w 105"/>
                <a:gd name="T43" fmla="*/ 0 h 79"/>
                <a:gd name="T44" fmla="*/ 0 w 105"/>
                <a:gd name="T45" fmla="*/ 851 h 79"/>
                <a:gd name="T46" fmla="*/ 555905 w 105"/>
                <a:gd name="T47" fmla="*/ 851 h 7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79"/>
                <a:gd name="T74" fmla="*/ 105 w 105"/>
                <a:gd name="T75" fmla="*/ 79 h 7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79">
                  <a:moveTo>
                    <a:pt x="14" y="54"/>
                  </a:moveTo>
                  <a:lnTo>
                    <a:pt x="1" y="56"/>
                  </a:lnTo>
                  <a:lnTo>
                    <a:pt x="8" y="66"/>
                  </a:lnTo>
                  <a:lnTo>
                    <a:pt x="21" y="71"/>
                  </a:lnTo>
                  <a:lnTo>
                    <a:pt x="37" y="72"/>
                  </a:lnTo>
                  <a:lnTo>
                    <a:pt x="53" y="73"/>
                  </a:lnTo>
                  <a:lnTo>
                    <a:pt x="67" y="73"/>
                  </a:lnTo>
                  <a:lnTo>
                    <a:pt x="81" y="74"/>
                  </a:lnTo>
                  <a:lnTo>
                    <a:pt x="89" y="76"/>
                  </a:lnTo>
                  <a:lnTo>
                    <a:pt x="91" y="78"/>
                  </a:lnTo>
                  <a:lnTo>
                    <a:pt x="104" y="74"/>
                  </a:lnTo>
                  <a:lnTo>
                    <a:pt x="95" y="64"/>
                  </a:lnTo>
                  <a:lnTo>
                    <a:pt x="83" y="61"/>
                  </a:lnTo>
                  <a:lnTo>
                    <a:pt x="68" y="60"/>
                  </a:lnTo>
                  <a:lnTo>
                    <a:pt x="53" y="58"/>
                  </a:lnTo>
                  <a:lnTo>
                    <a:pt x="37" y="59"/>
                  </a:lnTo>
                  <a:lnTo>
                    <a:pt x="24" y="58"/>
                  </a:lnTo>
                  <a:lnTo>
                    <a:pt x="16" y="55"/>
                  </a:lnTo>
                  <a:lnTo>
                    <a:pt x="14" y="52"/>
                  </a:lnTo>
                  <a:lnTo>
                    <a:pt x="0" y="54"/>
                  </a:lnTo>
                  <a:lnTo>
                    <a:pt x="14" y="52"/>
                  </a:lnTo>
                  <a:lnTo>
                    <a:pt x="0" y="0"/>
                  </a:lnTo>
                  <a:lnTo>
                    <a:pt x="0" y="54"/>
                  </a:lnTo>
                  <a:lnTo>
                    <a:pt x="14" y="5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0" name="Freeform 144">
              <a:extLst>
                <a:ext uri="{FF2B5EF4-FFF2-40B4-BE49-F238E27FC236}">
                  <a16:creationId xmlns:a16="http://schemas.microsoft.com/office/drawing/2014/main" id="{FED31D8E-D232-AF26-9859-F4488799CC64}"/>
                </a:ext>
              </a:extLst>
            </p:cNvPr>
            <p:cNvSpPr>
              <a:spLocks/>
            </p:cNvSpPr>
            <p:nvPr/>
          </p:nvSpPr>
          <p:spPr bwMode="auto">
            <a:xfrm>
              <a:off x="1834" y="2281"/>
              <a:ext cx="27" cy="56"/>
            </a:xfrm>
            <a:custGeom>
              <a:avLst/>
              <a:gdLst>
                <a:gd name="T0" fmla="*/ 62006 w 16"/>
                <a:gd name="T1" fmla="*/ 120 h 48"/>
                <a:gd name="T2" fmla="*/ 879388 w 16"/>
                <a:gd name="T3" fmla="*/ 2 h 48"/>
                <a:gd name="T4" fmla="*/ 879388 w 16"/>
                <a:gd name="T5" fmla="*/ 1 h 48"/>
                <a:gd name="T6" fmla="*/ 0 w 16"/>
                <a:gd name="T7" fmla="*/ 1 h 48"/>
                <a:gd name="T8" fmla="*/ 0 w 16"/>
                <a:gd name="T9" fmla="*/ 2 h 48"/>
                <a:gd name="T10" fmla="*/ 824491 w 16"/>
                <a:gd name="T11" fmla="*/ 0 h 48"/>
                <a:gd name="T12" fmla="*/ 62006 w 16"/>
                <a:gd name="T13" fmla="*/ 120 h 48"/>
                <a:gd name="T14" fmla="*/ 879388 w 16"/>
                <a:gd name="T15" fmla="*/ 1210 h 48"/>
                <a:gd name="T16" fmla="*/ 879388 w 16"/>
                <a:gd name="T17" fmla="*/ 2 h 48"/>
                <a:gd name="T18" fmla="*/ 62006 w 16"/>
                <a:gd name="T19" fmla="*/ 120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48"/>
                <a:gd name="T32" fmla="*/ 16 w 16"/>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48">
                  <a:moveTo>
                    <a:pt x="1" y="4"/>
                  </a:moveTo>
                  <a:lnTo>
                    <a:pt x="15" y="2"/>
                  </a:lnTo>
                  <a:lnTo>
                    <a:pt x="15" y="1"/>
                  </a:lnTo>
                  <a:lnTo>
                    <a:pt x="0" y="1"/>
                  </a:lnTo>
                  <a:lnTo>
                    <a:pt x="0" y="2"/>
                  </a:lnTo>
                  <a:lnTo>
                    <a:pt x="14" y="0"/>
                  </a:lnTo>
                  <a:lnTo>
                    <a:pt x="1" y="4"/>
                  </a:lnTo>
                  <a:lnTo>
                    <a:pt x="15" y="47"/>
                  </a:lnTo>
                  <a:lnTo>
                    <a:pt x="15" y="2"/>
                  </a:lnTo>
                  <a:lnTo>
                    <a:pt x="1"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1" name="Freeform 145">
              <a:extLst>
                <a:ext uri="{FF2B5EF4-FFF2-40B4-BE49-F238E27FC236}">
                  <a16:creationId xmlns:a16="http://schemas.microsoft.com/office/drawing/2014/main" id="{2C9AD1ED-2902-A507-A48A-233F678CA34C}"/>
                </a:ext>
              </a:extLst>
            </p:cNvPr>
            <p:cNvSpPr>
              <a:spLocks/>
            </p:cNvSpPr>
            <p:nvPr/>
          </p:nvSpPr>
          <p:spPr bwMode="auto">
            <a:xfrm>
              <a:off x="1836" y="2216"/>
              <a:ext cx="136" cy="72"/>
            </a:xfrm>
            <a:custGeom>
              <a:avLst/>
              <a:gdLst>
                <a:gd name="T0" fmla="*/ 2195491 w 83"/>
                <a:gd name="T1" fmla="*/ 101 h 62"/>
                <a:gd name="T2" fmla="*/ 2160471 w 83"/>
                <a:gd name="T3" fmla="*/ 117 h 62"/>
                <a:gd name="T4" fmla="*/ 2008007 w 83"/>
                <a:gd name="T5" fmla="*/ 213 h 62"/>
                <a:gd name="T6" fmla="*/ 1636031 w 83"/>
                <a:gd name="T7" fmla="*/ 333 h 62"/>
                <a:gd name="T8" fmla="*/ 1191799 w 83"/>
                <a:gd name="T9" fmla="*/ 459 h 62"/>
                <a:gd name="T10" fmla="*/ 705219 w 83"/>
                <a:gd name="T11" fmla="*/ 619 h 62"/>
                <a:gd name="T12" fmla="*/ 296288 w 83"/>
                <a:gd name="T13" fmla="*/ 816 h 62"/>
                <a:gd name="T14" fmla="*/ 0 w 83"/>
                <a:gd name="T15" fmla="*/ 1071 h 62"/>
                <a:gd name="T16" fmla="*/ 0 w 83"/>
                <a:gd name="T17" fmla="*/ 1410 h 62"/>
                <a:gd name="T18" fmla="*/ 407626 w 83"/>
                <a:gd name="T19" fmla="*/ 1308 h 62"/>
                <a:gd name="T20" fmla="*/ 407626 w 83"/>
                <a:gd name="T21" fmla="*/ 1168 h 62"/>
                <a:gd name="T22" fmla="*/ 570173 w 83"/>
                <a:gd name="T23" fmla="*/ 1029 h 62"/>
                <a:gd name="T24" fmla="*/ 934259 w 83"/>
                <a:gd name="T25" fmla="*/ 866 h 62"/>
                <a:gd name="T26" fmla="*/ 1362595 w 83"/>
                <a:gd name="T27" fmla="*/ 746 h 62"/>
                <a:gd name="T28" fmla="*/ 1793263 w 83"/>
                <a:gd name="T29" fmla="*/ 619 h 62"/>
                <a:gd name="T30" fmla="*/ 2195491 w 83"/>
                <a:gd name="T31" fmla="*/ 476 h 62"/>
                <a:gd name="T32" fmla="*/ 2508355 w 83"/>
                <a:gd name="T33" fmla="*/ 293 h 62"/>
                <a:gd name="T34" fmla="*/ 2609697 w 83"/>
                <a:gd name="T35" fmla="*/ 0 h 62"/>
                <a:gd name="T36" fmla="*/ 2195491 w 83"/>
                <a:gd name="T37" fmla="*/ 10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8" y="5"/>
                  </a:lnTo>
                  <a:lnTo>
                    <a:pt x="63" y="9"/>
                  </a:lnTo>
                  <a:lnTo>
                    <a:pt x="51" y="14"/>
                  </a:lnTo>
                  <a:lnTo>
                    <a:pt x="37" y="20"/>
                  </a:lnTo>
                  <a:lnTo>
                    <a:pt x="22" y="27"/>
                  </a:lnTo>
                  <a:lnTo>
                    <a:pt x="9" y="35"/>
                  </a:lnTo>
                  <a:lnTo>
                    <a:pt x="0" y="46"/>
                  </a:lnTo>
                  <a:lnTo>
                    <a:pt x="0" y="61"/>
                  </a:lnTo>
                  <a:lnTo>
                    <a:pt x="13" y="57"/>
                  </a:lnTo>
                  <a:lnTo>
                    <a:pt x="13" y="51"/>
                  </a:lnTo>
                  <a:lnTo>
                    <a:pt x="18" y="45"/>
                  </a:lnTo>
                  <a:lnTo>
                    <a:pt x="29" y="38"/>
                  </a:lnTo>
                  <a:lnTo>
                    <a:pt x="43" y="33"/>
                  </a:lnTo>
                  <a:lnTo>
                    <a:pt x="56" y="27"/>
                  </a:lnTo>
                  <a:lnTo>
                    <a:pt x="69"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2" name="Freeform 146">
              <a:extLst>
                <a:ext uri="{FF2B5EF4-FFF2-40B4-BE49-F238E27FC236}">
                  <a16:creationId xmlns:a16="http://schemas.microsoft.com/office/drawing/2014/main" id="{BDB2ED60-F7FD-3FFE-EC65-41581CCF2591}"/>
                </a:ext>
              </a:extLst>
            </p:cNvPr>
            <p:cNvSpPr>
              <a:spLocks/>
            </p:cNvSpPr>
            <p:nvPr/>
          </p:nvSpPr>
          <p:spPr bwMode="auto">
            <a:xfrm>
              <a:off x="1799" y="2188"/>
              <a:ext cx="173" cy="34"/>
            </a:xfrm>
            <a:custGeom>
              <a:avLst/>
              <a:gdLst>
                <a:gd name="T0" fmla="*/ 0 w 106"/>
                <a:gd name="T1" fmla="*/ 61 h 30"/>
                <a:gd name="T2" fmla="*/ 228735 w 106"/>
                <a:gd name="T3" fmla="*/ 206 h 30"/>
                <a:gd name="T4" fmla="*/ 609275 w 106"/>
                <a:gd name="T5" fmla="*/ 239 h 30"/>
                <a:gd name="T6" fmla="*/ 1059028 w 106"/>
                <a:gd name="T7" fmla="*/ 271 h 30"/>
                <a:gd name="T8" fmla="*/ 1530828 w 106"/>
                <a:gd name="T9" fmla="*/ 299 h 30"/>
                <a:gd name="T10" fmla="*/ 1964446 w 106"/>
                <a:gd name="T11" fmla="*/ 299 h 30"/>
                <a:gd name="T12" fmla="*/ 2370041 w 106"/>
                <a:gd name="T13" fmla="*/ 338 h 30"/>
                <a:gd name="T14" fmla="*/ 2648708 w 106"/>
                <a:gd name="T15" fmla="*/ 383 h 30"/>
                <a:gd name="T16" fmla="*/ 2702097 w 106"/>
                <a:gd name="T17" fmla="*/ 394 h 30"/>
                <a:gd name="T18" fmla="*/ 3075039 w 106"/>
                <a:gd name="T19" fmla="*/ 339 h 30"/>
                <a:gd name="T20" fmla="*/ 2841860 w 106"/>
                <a:gd name="T21" fmla="*/ 206 h 30"/>
                <a:gd name="T22" fmla="*/ 2468792 w 106"/>
                <a:gd name="T23" fmla="*/ 145 h 30"/>
                <a:gd name="T24" fmla="*/ 2027495 w 106"/>
                <a:gd name="T25" fmla="*/ 113 h 30"/>
                <a:gd name="T26" fmla="*/ 1568018 w 106"/>
                <a:gd name="T27" fmla="*/ 113 h 30"/>
                <a:gd name="T28" fmla="*/ 1112134 w 106"/>
                <a:gd name="T29" fmla="*/ 88 h 30"/>
                <a:gd name="T30" fmla="*/ 701815 w 106"/>
                <a:gd name="T31" fmla="*/ 69 h 30"/>
                <a:gd name="T32" fmla="*/ 430014 w 106"/>
                <a:gd name="T33" fmla="*/ 3 h 30"/>
                <a:gd name="T34" fmla="*/ 373313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5"/>
                  </a:lnTo>
                  <a:lnTo>
                    <a:pt x="21" y="18"/>
                  </a:lnTo>
                  <a:lnTo>
                    <a:pt x="36" y="20"/>
                  </a:lnTo>
                  <a:lnTo>
                    <a:pt x="52" y="22"/>
                  </a:lnTo>
                  <a:lnTo>
                    <a:pt x="67" y="22"/>
                  </a:lnTo>
                  <a:lnTo>
                    <a:pt x="81" y="24"/>
                  </a:lnTo>
                  <a:lnTo>
                    <a:pt x="90" y="27"/>
                  </a:lnTo>
                  <a:lnTo>
                    <a:pt x="92" y="29"/>
                  </a:lnTo>
                  <a:lnTo>
                    <a:pt x="105" y="25"/>
                  </a:lnTo>
                  <a:lnTo>
                    <a:pt x="97" y="15"/>
                  </a:lnTo>
                  <a:lnTo>
                    <a:pt x="84" y="11"/>
                  </a:lnTo>
                  <a:lnTo>
                    <a:pt x="69" y="9"/>
                  </a:lnTo>
                  <a:lnTo>
                    <a:pt x="53" y="9"/>
                  </a:lnTo>
                  <a:lnTo>
                    <a:pt x="38"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3" name="Freeform 147">
              <a:extLst>
                <a:ext uri="{FF2B5EF4-FFF2-40B4-BE49-F238E27FC236}">
                  <a16:creationId xmlns:a16="http://schemas.microsoft.com/office/drawing/2014/main" id="{E930C983-B821-21AE-A7BA-A7664DFF7F14}"/>
                </a:ext>
              </a:extLst>
            </p:cNvPr>
            <p:cNvSpPr>
              <a:spLocks/>
            </p:cNvSpPr>
            <p:nvPr/>
          </p:nvSpPr>
          <p:spPr bwMode="auto">
            <a:xfrm>
              <a:off x="1799" y="2121"/>
              <a:ext cx="138" cy="72"/>
            </a:xfrm>
            <a:custGeom>
              <a:avLst/>
              <a:gdLst>
                <a:gd name="T0" fmla="*/ 2353327 w 84"/>
                <a:gd name="T1" fmla="*/ 73 h 63"/>
                <a:gd name="T2" fmla="*/ 2325254 w 84"/>
                <a:gd name="T3" fmla="*/ 83 h 63"/>
                <a:gd name="T4" fmla="*/ 2114707 w 84"/>
                <a:gd name="T5" fmla="*/ 186 h 63"/>
                <a:gd name="T6" fmla="*/ 1748426 w 84"/>
                <a:gd name="T7" fmla="*/ 278 h 63"/>
                <a:gd name="T8" fmla="*/ 1275230 w 84"/>
                <a:gd name="T9" fmla="*/ 394 h 63"/>
                <a:gd name="T10" fmla="*/ 797119 w 84"/>
                <a:gd name="T11" fmla="*/ 530 h 63"/>
                <a:gd name="T12" fmla="*/ 410755 w 84"/>
                <a:gd name="T13" fmla="*/ 637 h 63"/>
                <a:gd name="T14" fmla="*/ 60339 w 84"/>
                <a:gd name="T15" fmla="*/ 808 h 63"/>
                <a:gd name="T16" fmla="*/ 0 w 84"/>
                <a:gd name="T17" fmla="*/ 1032 h 63"/>
                <a:gd name="T18" fmla="*/ 439537 w 84"/>
                <a:gd name="T19" fmla="*/ 951 h 63"/>
                <a:gd name="T20" fmla="*/ 472486 w 84"/>
                <a:gd name="T21" fmla="*/ 923 h 63"/>
                <a:gd name="T22" fmla="*/ 674812 w 84"/>
                <a:gd name="T23" fmla="*/ 823 h 63"/>
                <a:gd name="T24" fmla="*/ 1050389 w 84"/>
                <a:gd name="T25" fmla="*/ 707 h 63"/>
                <a:gd name="T26" fmla="*/ 1524090 w 84"/>
                <a:gd name="T27" fmla="*/ 605 h 63"/>
                <a:gd name="T28" fmla="*/ 1948925 w 84"/>
                <a:gd name="T29" fmla="*/ 474 h 63"/>
                <a:gd name="T30" fmla="*/ 2396631 w 84"/>
                <a:gd name="T31" fmla="*/ 345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5" y="36"/>
                  </a:lnTo>
                  <a:lnTo>
                    <a:pt x="58" y="29"/>
                  </a:lnTo>
                  <a:lnTo>
                    <a:pt x="71"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4" name="Freeform 148">
              <a:extLst>
                <a:ext uri="{FF2B5EF4-FFF2-40B4-BE49-F238E27FC236}">
                  <a16:creationId xmlns:a16="http://schemas.microsoft.com/office/drawing/2014/main" id="{10F1E9A6-B694-EDCB-D1FD-FC54D73C3121}"/>
                </a:ext>
              </a:extLst>
            </p:cNvPr>
            <p:cNvSpPr>
              <a:spLocks/>
            </p:cNvSpPr>
            <p:nvPr/>
          </p:nvSpPr>
          <p:spPr bwMode="auto">
            <a:xfrm>
              <a:off x="1762" y="2096"/>
              <a:ext cx="175" cy="29"/>
            </a:xfrm>
            <a:custGeom>
              <a:avLst/>
              <a:gdLst>
                <a:gd name="T0" fmla="*/ 0 w 106"/>
                <a:gd name="T1" fmla="*/ 2 h 25"/>
                <a:gd name="T2" fmla="*/ 39284 w 106"/>
                <a:gd name="T3" fmla="*/ 101 h 25"/>
                <a:gd name="T4" fmla="*/ 379656 w 106"/>
                <a:gd name="T5" fmla="*/ 291 h 25"/>
                <a:gd name="T6" fmla="*/ 804876 w 106"/>
                <a:gd name="T7" fmla="*/ 338 h 25"/>
                <a:gd name="T8" fmla="*/ 1389091 w 106"/>
                <a:gd name="T9" fmla="*/ 384 h 25"/>
                <a:gd name="T10" fmla="*/ 1941196 w 106"/>
                <a:gd name="T11" fmla="*/ 392 h 25"/>
                <a:gd name="T12" fmla="*/ 2534104 w 106"/>
                <a:gd name="T13" fmla="*/ 392 h 25"/>
                <a:gd name="T14" fmla="*/ 3033331 w 106"/>
                <a:gd name="T15" fmla="*/ 394 h 25"/>
                <a:gd name="T16" fmla="*/ 3369257 w 106"/>
                <a:gd name="T17" fmla="*/ 516 h 25"/>
                <a:gd name="T18" fmla="*/ 3435385 w 106"/>
                <a:gd name="T19" fmla="*/ 530 h 25"/>
                <a:gd name="T20" fmla="*/ 3917132 w 106"/>
                <a:gd name="T21" fmla="*/ 455 h 25"/>
                <a:gd name="T22" fmla="*/ 3579389 w 106"/>
                <a:gd name="T23" fmla="*/ 246 h 25"/>
                <a:gd name="T24" fmla="*/ 3097518 w 106"/>
                <a:gd name="T25" fmla="*/ 136 h 25"/>
                <a:gd name="T26" fmla="*/ 2573651 w 106"/>
                <a:gd name="T27" fmla="*/ 101 h 25"/>
                <a:gd name="T28" fmla="*/ 1941196 w 106"/>
                <a:gd name="T29" fmla="*/ 101 h 25"/>
                <a:gd name="T30" fmla="*/ 1389091 w 106"/>
                <a:gd name="T31" fmla="*/ 3 h 25"/>
                <a:gd name="T32" fmla="*/ 904506 w 106"/>
                <a:gd name="T33" fmla="*/ 2 h 25"/>
                <a:gd name="T34" fmla="*/ 563155 w 106"/>
                <a:gd name="T35" fmla="*/ 0 h 25"/>
                <a:gd name="T36" fmla="*/ 523912 w 106"/>
                <a:gd name="T37" fmla="*/ 0 h 25"/>
                <a:gd name="T38" fmla="*/ 563155 w 106"/>
                <a:gd name="T39" fmla="*/ 2 h 25"/>
                <a:gd name="T40" fmla="*/ 0 w 106"/>
                <a:gd name="T41" fmla="*/ 2 h 25"/>
                <a:gd name="T42" fmla="*/ 39284 w 106"/>
                <a:gd name="T43" fmla="*/ 2 h 25"/>
                <a:gd name="T44" fmla="*/ 39284 w 106"/>
                <a:gd name="T45" fmla="*/ 101 h 25"/>
                <a:gd name="T46" fmla="*/ 0 w 106"/>
                <a:gd name="T47" fmla="*/ 2 h 2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6"/>
                <a:gd name="T73" fmla="*/ 0 h 25"/>
                <a:gd name="T74" fmla="*/ 106 w 106"/>
                <a:gd name="T75" fmla="*/ 25 h 2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6" h="25">
                  <a:moveTo>
                    <a:pt x="0" y="2"/>
                  </a:moveTo>
                  <a:lnTo>
                    <a:pt x="1" y="4"/>
                  </a:lnTo>
                  <a:lnTo>
                    <a:pt x="10" y="13"/>
                  </a:lnTo>
                  <a:lnTo>
                    <a:pt x="22" y="15"/>
                  </a:lnTo>
                  <a:lnTo>
                    <a:pt x="37" y="16"/>
                  </a:lnTo>
                  <a:lnTo>
                    <a:pt x="52" y="17"/>
                  </a:lnTo>
                  <a:lnTo>
                    <a:pt x="68" y="17"/>
                  </a:lnTo>
                  <a:lnTo>
                    <a:pt x="81" y="18"/>
                  </a:lnTo>
                  <a:lnTo>
                    <a:pt x="90" y="22"/>
                  </a:lnTo>
                  <a:lnTo>
                    <a:pt x="92" y="24"/>
                  </a:lnTo>
                  <a:lnTo>
                    <a:pt x="105" y="20"/>
                  </a:lnTo>
                  <a:lnTo>
                    <a:pt x="96" y="10"/>
                  </a:lnTo>
                  <a:lnTo>
                    <a:pt x="83" y="6"/>
                  </a:lnTo>
                  <a:lnTo>
                    <a:pt x="69" y="4"/>
                  </a:lnTo>
                  <a:lnTo>
                    <a:pt x="52" y="4"/>
                  </a:lnTo>
                  <a:lnTo>
                    <a:pt x="37" y="3"/>
                  </a:lnTo>
                  <a:lnTo>
                    <a:pt x="24" y="2"/>
                  </a:lnTo>
                  <a:lnTo>
                    <a:pt x="15" y="0"/>
                  </a:lnTo>
                  <a:lnTo>
                    <a:pt x="14" y="0"/>
                  </a:lnTo>
                  <a:lnTo>
                    <a:pt x="15" y="2"/>
                  </a:lnTo>
                  <a:lnTo>
                    <a:pt x="0" y="2"/>
                  </a:lnTo>
                  <a:lnTo>
                    <a:pt x="1" y="2"/>
                  </a:lnTo>
                  <a:lnTo>
                    <a:pt x="1" y="4"/>
                  </a:lnTo>
                  <a:lnTo>
                    <a:pt x="0"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5" name="Freeform 149">
              <a:extLst>
                <a:ext uri="{FF2B5EF4-FFF2-40B4-BE49-F238E27FC236}">
                  <a16:creationId xmlns:a16="http://schemas.microsoft.com/office/drawing/2014/main" id="{C8F8E28C-EAEB-DAE8-F0A6-F87DBC9F102E}"/>
                </a:ext>
              </a:extLst>
            </p:cNvPr>
            <p:cNvSpPr>
              <a:spLocks/>
            </p:cNvSpPr>
            <p:nvPr/>
          </p:nvSpPr>
          <p:spPr bwMode="auto">
            <a:xfrm>
              <a:off x="1762" y="2096"/>
              <a:ext cx="25" cy="6"/>
            </a:xfrm>
            <a:custGeom>
              <a:avLst/>
              <a:gdLst>
                <a:gd name="T0" fmla="*/ 0 w 15"/>
                <a:gd name="T1" fmla="*/ 179 h 5"/>
                <a:gd name="T2" fmla="*/ 0 w 15"/>
                <a:gd name="T3" fmla="*/ 2 h 5"/>
                <a:gd name="T4" fmla="*/ 0 w 15"/>
                <a:gd name="T5" fmla="*/ 149 h 5"/>
                <a:gd name="T6" fmla="*/ 621467 w 15"/>
                <a:gd name="T7" fmla="*/ 14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3"/>
                  </a:lnTo>
                  <a:lnTo>
                    <a:pt x="14" y="3"/>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6" name="Freeform 150">
              <a:extLst>
                <a:ext uri="{FF2B5EF4-FFF2-40B4-BE49-F238E27FC236}">
                  <a16:creationId xmlns:a16="http://schemas.microsoft.com/office/drawing/2014/main" id="{83D772D6-CBF4-56AD-654E-F517B8A02D0D}"/>
                </a:ext>
              </a:extLst>
            </p:cNvPr>
            <p:cNvSpPr>
              <a:spLocks/>
            </p:cNvSpPr>
            <p:nvPr/>
          </p:nvSpPr>
          <p:spPr bwMode="auto">
            <a:xfrm>
              <a:off x="1763" y="2028"/>
              <a:ext cx="134" cy="74"/>
            </a:xfrm>
            <a:custGeom>
              <a:avLst/>
              <a:gdLst>
                <a:gd name="T0" fmla="*/ 2617430 w 81"/>
                <a:gd name="T1" fmla="*/ 93 h 64"/>
                <a:gd name="T2" fmla="*/ 2567830 w 81"/>
                <a:gd name="T3" fmla="*/ 145 h 64"/>
                <a:gd name="T4" fmla="*/ 2331846 w 81"/>
                <a:gd name="T5" fmla="*/ 259 h 64"/>
                <a:gd name="T6" fmla="*/ 1957614 w 81"/>
                <a:gd name="T7" fmla="*/ 435 h 64"/>
                <a:gd name="T8" fmla="*/ 1438593 w 81"/>
                <a:gd name="T9" fmla="*/ 582 h 64"/>
                <a:gd name="T10" fmla="*/ 938268 w 81"/>
                <a:gd name="T11" fmla="*/ 716 h 64"/>
                <a:gd name="T12" fmla="*/ 475903 w 81"/>
                <a:gd name="T13" fmla="*/ 900 h 64"/>
                <a:gd name="T14" fmla="*/ 113758 w 81"/>
                <a:gd name="T15" fmla="*/ 1059 h 64"/>
                <a:gd name="T16" fmla="*/ 0 w 81"/>
                <a:gd name="T17" fmla="*/ 1319 h 64"/>
                <a:gd name="T18" fmla="*/ 515040 w 81"/>
                <a:gd name="T19" fmla="*/ 1234 h 64"/>
                <a:gd name="T20" fmla="*/ 541520 w 81"/>
                <a:gd name="T21" fmla="*/ 1224 h 64"/>
                <a:gd name="T22" fmla="*/ 723636 w 81"/>
                <a:gd name="T23" fmla="*/ 1129 h 64"/>
                <a:gd name="T24" fmla="*/ 1183334 w 81"/>
                <a:gd name="T25" fmla="*/ 976 h 64"/>
                <a:gd name="T26" fmla="*/ 1669796 w 81"/>
                <a:gd name="T27" fmla="*/ 828 h 64"/>
                <a:gd name="T28" fmla="*/ 2221424 w 81"/>
                <a:gd name="T29" fmla="*/ 673 h 64"/>
                <a:gd name="T30" fmla="*/ 2697708 w 81"/>
                <a:gd name="T31" fmla="*/ 503 h 64"/>
                <a:gd name="T32" fmla="*/ 3029758 w 81"/>
                <a:gd name="T33" fmla="*/ 281 h 64"/>
                <a:gd name="T34" fmla="*/ 3108525 w 81"/>
                <a:gd name="T35" fmla="*/ 0 h 64"/>
                <a:gd name="T36" fmla="*/ 2617430 w 81"/>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4"/>
                <a:gd name="T59" fmla="*/ 81 w 81"/>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4">
                  <a:moveTo>
                    <a:pt x="67" y="4"/>
                  </a:moveTo>
                  <a:lnTo>
                    <a:pt x="66" y="7"/>
                  </a:lnTo>
                  <a:lnTo>
                    <a:pt x="60" y="12"/>
                  </a:lnTo>
                  <a:lnTo>
                    <a:pt x="50" y="20"/>
                  </a:lnTo>
                  <a:lnTo>
                    <a:pt x="37" y="27"/>
                  </a:lnTo>
                  <a:lnTo>
                    <a:pt x="24" y="34"/>
                  </a:lnTo>
                  <a:lnTo>
                    <a:pt x="12" y="42"/>
                  </a:lnTo>
                  <a:lnTo>
                    <a:pt x="3" y="50"/>
                  </a:lnTo>
                  <a:lnTo>
                    <a:pt x="0" y="63"/>
                  </a:lnTo>
                  <a:lnTo>
                    <a:pt x="13" y="59"/>
                  </a:lnTo>
                  <a:lnTo>
                    <a:pt x="14" y="58"/>
                  </a:lnTo>
                  <a:lnTo>
                    <a:pt x="19" y="53"/>
                  </a:lnTo>
                  <a:lnTo>
                    <a:pt x="30" y="46"/>
                  </a:lnTo>
                  <a:lnTo>
                    <a:pt x="43" y="39"/>
                  </a:lnTo>
                  <a:lnTo>
                    <a:pt x="57" y="31"/>
                  </a:lnTo>
                  <a:lnTo>
                    <a:pt x="69" y="23"/>
                  </a:lnTo>
                  <a:lnTo>
                    <a:pt x="78" y="13"/>
                  </a:lnTo>
                  <a:lnTo>
                    <a:pt x="80" y="0"/>
                  </a:lnTo>
                  <a:lnTo>
                    <a:pt x="6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7" name="Freeform 151">
              <a:extLst>
                <a:ext uri="{FF2B5EF4-FFF2-40B4-BE49-F238E27FC236}">
                  <a16:creationId xmlns:a16="http://schemas.microsoft.com/office/drawing/2014/main" id="{070FF81A-1878-6E8F-57EE-2462DD6AFB2B}"/>
                </a:ext>
              </a:extLst>
            </p:cNvPr>
            <p:cNvSpPr>
              <a:spLocks/>
            </p:cNvSpPr>
            <p:nvPr/>
          </p:nvSpPr>
          <p:spPr bwMode="auto">
            <a:xfrm>
              <a:off x="1724" y="1999"/>
              <a:ext cx="173" cy="35"/>
            </a:xfrm>
            <a:custGeom>
              <a:avLst/>
              <a:gdLst>
                <a:gd name="T0" fmla="*/ 0 w 105"/>
                <a:gd name="T1" fmla="*/ 120 h 30"/>
                <a:gd name="T2" fmla="*/ 282272 w 105"/>
                <a:gd name="T3" fmla="*/ 352 h 30"/>
                <a:gd name="T4" fmla="*/ 766270 w 105"/>
                <a:gd name="T5" fmla="*/ 429 h 30"/>
                <a:gd name="T6" fmla="*/ 1283006 w 105"/>
                <a:gd name="T7" fmla="*/ 488 h 30"/>
                <a:gd name="T8" fmla="*/ 1816719 w 105"/>
                <a:gd name="T9" fmla="*/ 501 h 30"/>
                <a:gd name="T10" fmla="*/ 2385467 w 105"/>
                <a:gd name="T11" fmla="*/ 560 h 30"/>
                <a:gd name="T12" fmla="*/ 2865936 w 105"/>
                <a:gd name="T13" fmla="*/ 585 h 30"/>
                <a:gd name="T14" fmla="*/ 3152065 w 105"/>
                <a:gd name="T15" fmla="*/ 664 h 30"/>
                <a:gd name="T16" fmla="*/ 3261172 w 105"/>
                <a:gd name="T17" fmla="*/ 762 h 30"/>
                <a:gd name="T18" fmla="*/ 3721278 w 105"/>
                <a:gd name="T19" fmla="*/ 653 h 30"/>
                <a:gd name="T20" fmla="*/ 3427301 w 105"/>
                <a:gd name="T21" fmla="*/ 411 h 30"/>
                <a:gd name="T22" fmla="*/ 2979100 w 105"/>
                <a:gd name="T23" fmla="*/ 263 h 30"/>
                <a:gd name="T24" fmla="*/ 2445765 w 105"/>
                <a:gd name="T25" fmla="*/ 222 h 30"/>
                <a:gd name="T26" fmla="*/ 1875692 w 105"/>
                <a:gd name="T27" fmla="*/ 190 h 30"/>
                <a:gd name="T28" fmla="*/ 1329942 w 105"/>
                <a:gd name="T29" fmla="*/ 163 h 30"/>
                <a:gd name="T30" fmla="*/ 831997 w 105"/>
                <a:gd name="T31" fmla="*/ 120 h 30"/>
                <a:gd name="T32" fmla="*/ 546820 w 105"/>
                <a:gd name="T33" fmla="*/ 2 h 30"/>
                <a:gd name="T34" fmla="*/ 465077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3"/>
                  </a:lnTo>
                  <a:lnTo>
                    <a:pt x="21" y="17"/>
                  </a:lnTo>
                  <a:lnTo>
                    <a:pt x="36" y="19"/>
                  </a:lnTo>
                  <a:lnTo>
                    <a:pt x="51" y="20"/>
                  </a:lnTo>
                  <a:lnTo>
                    <a:pt x="67" y="21"/>
                  </a:lnTo>
                  <a:lnTo>
                    <a:pt x="80" y="23"/>
                  </a:lnTo>
                  <a:lnTo>
                    <a:pt x="88" y="26"/>
                  </a:lnTo>
                  <a:lnTo>
                    <a:pt x="91" y="29"/>
                  </a:lnTo>
                  <a:lnTo>
                    <a:pt x="104" y="25"/>
                  </a:lnTo>
                  <a:lnTo>
                    <a:pt x="96" y="15"/>
                  </a:lnTo>
                  <a:lnTo>
                    <a:pt x="83" y="10"/>
                  </a:lnTo>
                  <a:lnTo>
                    <a:pt x="68" y="8"/>
                  </a:lnTo>
                  <a:lnTo>
                    <a:pt x="52" y="7"/>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8" name="Freeform 152">
              <a:extLst>
                <a:ext uri="{FF2B5EF4-FFF2-40B4-BE49-F238E27FC236}">
                  <a16:creationId xmlns:a16="http://schemas.microsoft.com/office/drawing/2014/main" id="{2012FA61-3B8B-544F-ED1A-28A52BB53D1A}"/>
                </a:ext>
              </a:extLst>
            </p:cNvPr>
            <p:cNvSpPr>
              <a:spLocks/>
            </p:cNvSpPr>
            <p:nvPr/>
          </p:nvSpPr>
          <p:spPr bwMode="auto">
            <a:xfrm>
              <a:off x="1724" y="1933"/>
              <a:ext cx="137" cy="73"/>
            </a:xfrm>
            <a:custGeom>
              <a:avLst/>
              <a:gdLst>
                <a:gd name="T0" fmla="*/ 2566051 w 83"/>
                <a:gd name="T1" fmla="*/ 94 h 63"/>
                <a:gd name="T2" fmla="*/ 2566051 w 83"/>
                <a:gd name="T3" fmla="*/ 126 h 63"/>
                <a:gd name="T4" fmla="*/ 2349936 w 83"/>
                <a:gd name="T5" fmla="*/ 263 h 63"/>
                <a:gd name="T6" fmla="*/ 1933123 w 83"/>
                <a:gd name="T7" fmla="*/ 409 h 63"/>
                <a:gd name="T8" fmla="*/ 1423684 w 83"/>
                <a:gd name="T9" fmla="*/ 594 h 63"/>
                <a:gd name="T10" fmla="*/ 924724 w 83"/>
                <a:gd name="T11" fmla="*/ 711 h 63"/>
                <a:gd name="T12" fmla="*/ 446998 w 83"/>
                <a:gd name="T13" fmla="*/ 860 h 63"/>
                <a:gd name="T14" fmla="*/ 106777 w 83"/>
                <a:gd name="T15" fmla="*/ 1078 h 63"/>
                <a:gd name="T16" fmla="*/ 0 w 83"/>
                <a:gd name="T17" fmla="*/ 1362 h 63"/>
                <a:gd name="T18" fmla="*/ 480180 w 83"/>
                <a:gd name="T19" fmla="*/ 1283 h 63"/>
                <a:gd name="T20" fmla="*/ 522551 w 83"/>
                <a:gd name="T21" fmla="*/ 1241 h 63"/>
                <a:gd name="T22" fmla="*/ 737816 w 83"/>
                <a:gd name="T23" fmla="*/ 1139 h 63"/>
                <a:gd name="T24" fmla="*/ 1147807 w 83"/>
                <a:gd name="T25" fmla="*/ 983 h 63"/>
                <a:gd name="T26" fmla="*/ 1664712 w 83"/>
                <a:gd name="T27" fmla="*/ 848 h 63"/>
                <a:gd name="T28" fmla="*/ 2159391 w 83"/>
                <a:gd name="T29" fmla="*/ 688 h 63"/>
                <a:gd name="T30" fmla="*/ 264081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9" y="6"/>
                  </a:lnTo>
                  <a:lnTo>
                    <a:pt x="63" y="12"/>
                  </a:lnTo>
                  <a:lnTo>
                    <a:pt x="52" y="19"/>
                  </a:lnTo>
                  <a:lnTo>
                    <a:pt x="38" y="26"/>
                  </a:lnTo>
                  <a:lnTo>
                    <a:pt x="25" y="32"/>
                  </a:lnTo>
                  <a:lnTo>
                    <a:pt x="12" y="40"/>
                  </a:lnTo>
                  <a:lnTo>
                    <a:pt x="3" y="49"/>
                  </a:lnTo>
                  <a:lnTo>
                    <a:pt x="0" y="62"/>
                  </a:lnTo>
                  <a:lnTo>
                    <a:pt x="13" y="58"/>
                  </a:lnTo>
                  <a:lnTo>
                    <a:pt x="14" y="56"/>
                  </a:lnTo>
                  <a:lnTo>
                    <a:pt x="20" y="51"/>
                  </a:lnTo>
                  <a:lnTo>
                    <a:pt x="31" y="44"/>
                  </a:lnTo>
                  <a:lnTo>
                    <a:pt x="45" y="38"/>
                  </a:lnTo>
                  <a:lnTo>
                    <a:pt x="58" y="30"/>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9" name="Freeform 153">
              <a:extLst>
                <a:ext uri="{FF2B5EF4-FFF2-40B4-BE49-F238E27FC236}">
                  <a16:creationId xmlns:a16="http://schemas.microsoft.com/office/drawing/2014/main" id="{4ECCBAFC-8343-E221-CF12-D574F21276C1}"/>
                </a:ext>
              </a:extLst>
            </p:cNvPr>
            <p:cNvSpPr>
              <a:spLocks/>
            </p:cNvSpPr>
            <p:nvPr/>
          </p:nvSpPr>
          <p:spPr bwMode="auto">
            <a:xfrm>
              <a:off x="1689" y="1903"/>
              <a:ext cx="172" cy="36"/>
            </a:xfrm>
            <a:custGeom>
              <a:avLst/>
              <a:gdLst>
                <a:gd name="T0" fmla="*/ 0 w 105"/>
                <a:gd name="T1" fmla="*/ 101 h 31"/>
                <a:gd name="T2" fmla="*/ 247472 w 105"/>
                <a:gd name="T3" fmla="*/ 333 h 31"/>
                <a:gd name="T4" fmla="*/ 664056 w 105"/>
                <a:gd name="T5" fmla="*/ 395 h 31"/>
                <a:gd name="T6" fmla="*/ 1144996 w 105"/>
                <a:gd name="T7" fmla="*/ 449 h 31"/>
                <a:gd name="T8" fmla="*/ 1629916 w 105"/>
                <a:gd name="T9" fmla="*/ 476 h 31"/>
                <a:gd name="T10" fmla="*/ 2126746 w 105"/>
                <a:gd name="T11" fmla="*/ 521 h 31"/>
                <a:gd name="T12" fmla="*/ 2540392 w 105"/>
                <a:gd name="T13" fmla="*/ 553 h 31"/>
                <a:gd name="T14" fmla="*/ 2792890 w 105"/>
                <a:gd name="T15" fmla="*/ 619 h 31"/>
                <a:gd name="T16" fmla="*/ 2885372 w 105"/>
                <a:gd name="T17" fmla="*/ 703 h 31"/>
                <a:gd name="T18" fmla="*/ 3278466 w 105"/>
                <a:gd name="T19" fmla="*/ 605 h 31"/>
                <a:gd name="T20" fmla="*/ 3037405 w 105"/>
                <a:gd name="T21" fmla="*/ 387 h 31"/>
                <a:gd name="T22" fmla="*/ 2633720 w 105"/>
                <a:gd name="T23" fmla="*/ 252 h 31"/>
                <a:gd name="T24" fmla="*/ 2147610 w 105"/>
                <a:gd name="T25" fmla="*/ 213 h 31"/>
                <a:gd name="T26" fmla="*/ 1642575 w 105"/>
                <a:gd name="T27" fmla="*/ 183 h 31"/>
                <a:gd name="T28" fmla="*/ 1185358 w 105"/>
                <a:gd name="T29" fmla="*/ 136 h 31"/>
                <a:gd name="T30" fmla="*/ 737762 w 105"/>
                <a:gd name="T31" fmla="*/ 101 h 31"/>
                <a:gd name="T32" fmla="*/ 483836 w 105"/>
                <a:gd name="T33" fmla="*/ 2 h 31"/>
                <a:gd name="T34" fmla="*/ 405383 w 105"/>
                <a:gd name="T35" fmla="*/ 0 h 31"/>
                <a:gd name="T36" fmla="*/ 0 w 105"/>
                <a:gd name="T37" fmla="*/ 101 h 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1"/>
                <a:gd name="T59" fmla="*/ 105 w 105"/>
                <a:gd name="T60" fmla="*/ 31 h 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1">
                  <a:moveTo>
                    <a:pt x="0" y="4"/>
                  </a:moveTo>
                  <a:lnTo>
                    <a:pt x="8" y="14"/>
                  </a:lnTo>
                  <a:lnTo>
                    <a:pt x="21" y="17"/>
                  </a:lnTo>
                  <a:lnTo>
                    <a:pt x="36" y="19"/>
                  </a:lnTo>
                  <a:lnTo>
                    <a:pt x="51" y="21"/>
                  </a:lnTo>
                  <a:lnTo>
                    <a:pt x="67" y="22"/>
                  </a:lnTo>
                  <a:lnTo>
                    <a:pt x="80" y="24"/>
                  </a:lnTo>
                  <a:lnTo>
                    <a:pt x="88" y="27"/>
                  </a:lnTo>
                  <a:lnTo>
                    <a:pt x="91" y="30"/>
                  </a:lnTo>
                  <a:lnTo>
                    <a:pt x="104" y="26"/>
                  </a:lnTo>
                  <a:lnTo>
                    <a:pt x="96" y="16"/>
                  </a:lnTo>
                  <a:lnTo>
                    <a:pt x="83" y="11"/>
                  </a:lnTo>
                  <a:lnTo>
                    <a:pt x="68" y="9"/>
                  </a:lnTo>
                  <a:lnTo>
                    <a:pt x="52" y="8"/>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0" name="Freeform 154">
              <a:extLst>
                <a:ext uri="{FF2B5EF4-FFF2-40B4-BE49-F238E27FC236}">
                  <a16:creationId xmlns:a16="http://schemas.microsoft.com/office/drawing/2014/main" id="{520F6FEE-727C-B160-7BBF-795DB9DB5BDA}"/>
                </a:ext>
              </a:extLst>
            </p:cNvPr>
            <p:cNvSpPr>
              <a:spLocks/>
            </p:cNvSpPr>
            <p:nvPr/>
          </p:nvSpPr>
          <p:spPr bwMode="auto">
            <a:xfrm>
              <a:off x="1689" y="1903"/>
              <a:ext cx="22" cy="6"/>
            </a:xfrm>
            <a:custGeom>
              <a:avLst/>
              <a:gdLst>
                <a:gd name="T0" fmla="*/ 0 w 14"/>
                <a:gd name="T1" fmla="*/ 179 h 5"/>
                <a:gd name="T2" fmla="*/ 75491 w 14"/>
                <a:gd name="T3" fmla="*/ 2 h 5"/>
                <a:gd name="T4" fmla="*/ 167489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1" name="Freeform 155">
              <a:extLst>
                <a:ext uri="{FF2B5EF4-FFF2-40B4-BE49-F238E27FC236}">
                  <a16:creationId xmlns:a16="http://schemas.microsoft.com/office/drawing/2014/main" id="{0B39440A-6BB5-FA65-B2DC-D8DF16B4B5F8}"/>
                </a:ext>
              </a:extLst>
            </p:cNvPr>
            <p:cNvSpPr>
              <a:spLocks/>
            </p:cNvSpPr>
            <p:nvPr/>
          </p:nvSpPr>
          <p:spPr bwMode="auto">
            <a:xfrm>
              <a:off x="1689" y="1836"/>
              <a:ext cx="136" cy="73"/>
            </a:xfrm>
            <a:custGeom>
              <a:avLst/>
              <a:gdLst>
                <a:gd name="T0" fmla="*/ 2195491 w 83"/>
                <a:gd name="T1" fmla="*/ 94 h 63"/>
                <a:gd name="T2" fmla="*/ 2160471 w 83"/>
                <a:gd name="T3" fmla="*/ 109 h 63"/>
                <a:gd name="T4" fmla="*/ 1987493 w 83"/>
                <a:gd name="T5" fmla="*/ 247 h 63"/>
                <a:gd name="T6" fmla="*/ 1636031 w 83"/>
                <a:gd name="T7" fmla="*/ 394 h 63"/>
                <a:gd name="T8" fmla="*/ 1191799 w 83"/>
                <a:gd name="T9" fmla="*/ 549 h 63"/>
                <a:gd name="T10" fmla="*/ 761179 w 83"/>
                <a:gd name="T11" fmla="*/ 711 h 63"/>
                <a:gd name="T12" fmla="*/ 389068 w 83"/>
                <a:gd name="T13" fmla="*/ 860 h 63"/>
                <a:gd name="T14" fmla="*/ 56548 w 83"/>
                <a:gd name="T15" fmla="*/ 1078 h 63"/>
                <a:gd name="T16" fmla="*/ 0 w 83"/>
                <a:gd name="T17" fmla="*/ 1362 h 63"/>
                <a:gd name="T18" fmla="*/ 407626 w 83"/>
                <a:gd name="T19" fmla="*/ 1283 h 63"/>
                <a:gd name="T20" fmla="*/ 407626 w 83"/>
                <a:gd name="T21" fmla="*/ 1241 h 63"/>
                <a:gd name="T22" fmla="*/ 609354 w 83"/>
                <a:gd name="T23" fmla="*/ 1107 h 63"/>
                <a:gd name="T24" fmla="*/ 949754 w 83"/>
                <a:gd name="T25" fmla="*/ 955 h 63"/>
                <a:gd name="T26" fmla="*/ 1398653 w 83"/>
                <a:gd name="T27" fmla="*/ 803 h 63"/>
                <a:gd name="T28" fmla="*/ 1855348 w 83"/>
                <a:gd name="T29" fmla="*/ 636 h 63"/>
                <a:gd name="T30" fmla="*/ 2232686 w 83"/>
                <a:gd name="T31" fmla="*/ 457 h 63"/>
                <a:gd name="T32" fmla="*/ 2549956 w 83"/>
                <a:gd name="T33" fmla="*/ 286 h 63"/>
                <a:gd name="T34" fmla="*/ 2609697 w 83"/>
                <a:gd name="T35" fmla="*/ 0 h 63"/>
                <a:gd name="T36" fmla="*/ 219549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8"/>
                  </a:lnTo>
                  <a:lnTo>
                    <a:pt x="37" y="25"/>
                  </a:lnTo>
                  <a:lnTo>
                    <a:pt x="24" y="32"/>
                  </a:lnTo>
                  <a:lnTo>
                    <a:pt x="12" y="40"/>
                  </a:lnTo>
                  <a:lnTo>
                    <a:pt x="2" y="49"/>
                  </a:lnTo>
                  <a:lnTo>
                    <a:pt x="0" y="62"/>
                  </a:lnTo>
                  <a:lnTo>
                    <a:pt x="13" y="58"/>
                  </a:lnTo>
                  <a:lnTo>
                    <a:pt x="13" y="56"/>
                  </a:lnTo>
                  <a:lnTo>
                    <a:pt x="19" y="50"/>
                  </a:lnTo>
                  <a:lnTo>
                    <a:pt x="30"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2" name="Freeform 156">
              <a:extLst>
                <a:ext uri="{FF2B5EF4-FFF2-40B4-BE49-F238E27FC236}">
                  <a16:creationId xmlns:a16="http://schemas.microsoft.com/office/drawing/2014/main" id="{18067189-04C1-2158-3B9E-E3F55DD3A506}"/>
                </a:ext>
              </a:extLst>
            </p:cNvPr>
            <p:cNvSpPr>
              <a:spLocks/>
            </p:cNvSpPr>
            <p:nvPr/>
          </p:nvSpPr>
          <p:spPr bwMode="auto">
            <a:xfrm>
              <a:off x="1650" y="1808"/>
              <a:ext cx="175" cy="34"/>
            </a:xfrm>
            <a:custGeom>
              <a:avLst/>
              <a:gdLst>
                <a:gd name="T0" fmla="*/ 0 w 106"/>
                <a:gd name="T1" fmla="*/ 61 h 30"/>
                <a:gd name="T2" fmla="*/ 341111 w 106"/>
                <a:gd name="T3" fmla="*/ 206 h 30"/>
                <a:gd name="T4" fmla="*/ 804876 w 106"/>
                <a:gd name="T5" fmla="*/ 239 h 30"/>
                <a:gd name="T6" fmla="*/ 1328805 w 106"/>
                <a:gd name="T7" fmla="*/ 271 h 30"/>
                <a:gd name="T8" fmla="*/ 1941196 w 106"/>
                <a:gd name="T9" fmla="*/ 299 h 30"/>
                <a:gd name="T10" fmla="*/ 2534104 w 106"/>
                <a:gd name="T11" fmla="*/ 299 h 30"/>
                <a:gd name="T12" fmla="*/ 3033331 w 106"/>
                <a:gd name="T13" fmla="*/ 338 h 30"/>
                <a:gd name="T14" fmla="*/ 3369257 w 106"/>
                <a:gd name="T15" fmla="*/ 383 h 30"/>
                <a:gd name="T16" fmla="*/ 3435385 w 106"/>
                <a:gd name="T17" fmla="*/ 394 h 30"/>
                <a:gd name="T18" fmla="*/ 3917132 w 106"/>
                <a:gd name="T19" fmla="*/ 339 h 30"/>
                <a:gd name="T20" fmla="*/ 3579389 w 106"/>
                <a:gd name="T21" fmla="*/ 206 h 30"/>
                <a:gd name="T22" fmla="*/ 3136520 w 106"/>
                <a:gd name="T23" fmla="*/ 145 h 30"/>
                <a:gd name="T24" fmla="*/ 2573651 w 106"/>
                <a:gd name="T25" fmla="*/ 113 h 30"/>
                <a:gd name="T26" fmla="*/ 2016007 w 106"/>
                <a:gd name="T27" fmla="*/ 113 h 30"/>
                <a:gd name="T28" fmla="*/ 1389091 w 106"/>
                <a:gd name="T29" fmla="*/ 88 h 30"/>
                <a:gd name="T30" fmla="*/ 904506 w 106"/>
                <a:gd name="T31" fmla="*/ 69 h 30"/>
                <a:gd name="T32" fmla="*/ 563155 w 106"/>
                <a:gd name="T33" fmla="*/ 3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9" y="15"/>
                  </a:lnTo>
                  <a:lnTo>
                    <a:pt x="22" y="18"/>
                  </a:lnTo>
                  <a:lnTo>
                    <a:pt x="36" y="20"/>
                  </a:lnTo>
                  <a:lnTo>
                    <a:pt x="52" y="22"/>
                  </a:lnTo>
                  <a:lnTo>
                    <a:pt x="68" y="22"/>
                  </a:lnTo>
                  <a:lnTo>
                    <a:pt x="81" y="24"/>
                  </a:lnTo>
                  <a:lnTo>
                    <a:pt x="90" y="27"/>
                  </a:lnTo>
                  <a:lnTo>
                    <a:pt x="92" y="29"/>
                  </a:lnTo>
                  <a:lnTo>
                    <a:pt x="105" y="25"/>
                  </a:lnTo>
                  <a:lnTo>
                    <a:pt x="96" y="15"/>
                  </a:lnTo>
                  <a:lnTo>
                    <a:pt x="84" y="11"/>
                  </a:lnTo>
                  <a:lnTo>
                    <a:pt x="69" y="9"/>
                  </a:lnTo>
                  <a:lnTo>
                    <a:pt x="54" y="9"/>
                  </a:lnTo>
                  <a:lnTo>
                    <a:pt x="37"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3" name="Freeform 157">
              <a:extLst>
                <a:ext uri="{FF2B5EF4-FFF2-40B4-BE49-F238E27FC236}">
                  <a16:creationId xmlns:a16="http://schemas.microsoft.com/office/drawing/2014/main" id="{F49FBA34-5D27-D4AF-389C-6D2B411B2F99}"/>
                </a:ext>
              </a:extLst>
            </p:cNvPr>
            <p:cNvSpPr>
              <a:spLocks/>
            </p:cNvSpPr>
            <p:nvPr/>
          </p:nvSpPr>
          <p:spPr bwMode="auto">
            <a:xfrm>
              <a:off x="1650" y="1741"/>
              <a:ext cx="137" cy="72"/>
            </a:xfrm>
            <a:custGeom>
              <a:avLst/>
              <a:gdLst>
                <a:gd name="T0" fmla="*/ 2566051 w 83"/>
                <a:gd name="T1" fmla="*/ 73 h 63"/>
                <a:gd name="T2" fmla="*/ 2519400 w 83"/>
                <a:gd name="T3" fmla="*/ 83 h 63"/>
                <a:gd name="T4" fmla="*/ 2289995 w 83"/>
                <a:gd name="T5" fmla="*/ 186 h 63"/>
                <a:gd name="T6" fmla="*/ 1894573 w 83"/>
                <a:gd name="T7" fmla="*/ 278 h 63"/>
                <a:gd name="T8" fmla="*/ 1385413 w 83"/>
                <a:gd name="T9" fmla="*/ 415 h 63"/>
                <a:gd name="T10" fmla="*/ 901473 w 83"/>
                <a:gd name="T11" fmla="*/ 530 h 63"/>
                <a:gd name="T12" fmla="*/ 416000 w 83"/>
                <a:gd name="T13" fmla="*/ 637 h 63"/>
                <a:gd name="T14" fmla="*/ 64690 w 83"/>
                <a:gd name="T15" fmla="*/ 808 h 63"/>
                <a:gd name="T16" fmla="*/ 0 w 83"/>
                <a:gd name="T17" fmla="*/ 1032 h 63"/>
                <a:gd name="T18" fmla="*/ 480180 w 83"/>
                <a:gd name="T19" fmla="*/ 951 h 63"/>
                <a:gd name="T20" fmla="*/ 480180 w 83"/>
                <a:gd name="T21" fmla="*/ 923 h 63"/>
                <a:gd name="T22" fmla="*/ 695387 w 83"/>
                <a:gd name="T23" fmla="*/ 823 h 63"/>
                <a:gd name="T24" fmla="*/ 1133388 w 83"/>
                <a:gd name="T25" fmla="*/ 707 h 63"/>
                <a:gd name="T26" fmla="*/ 1639289 w 83"/>
                <a:gd name="T27" fmla="*/ 605 h 63"/>
                <a:gd name="T28" fmla="*/ 2159391 w 83"/>
                <a:gd name="T29" fmla="*/ 474 h 63"/>
                <a:gd name="T30" fmla="*/ 2603804 w 83"/>
                <a:gd name="T31" fmla="*/ 345 h 63"/>
                <a:gd name="T32" fmla="*/ 2976645 w 83"/>
                <a:gd name="T33" fmla="*/ 213 h 63"/>
                <a:gd name="T34" fmla="*/ 3041930 w 83"/>
                <a:gd name="T35" fmla="*/ 0 h 63"/>
                <a:gd name="T36" fmla="*/ 2566051 w 83"/>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7"/>
                  </a:lnTo>
                  <a:lnTo>
                    <a:pt x="37" y="25"/>
                  </a:lnTo>
                  <a:lnTo>
                    <a:pt x="24" y="32"/>
                  </a:lnTo>
                  <a:lnTo>
                    <a:pt x="11" y="39"/>
                  </a:lnTo>
                  <a:lnTo>
                    <a:pt x="2" y="49"/>
                  </a:lnTo>
                  <a:lnTo>
                    <a:pt x="0" y="62"/>
                  </a:lnTo>
                  <a:lnTo>
                    <a:pt x="13" y="58"/>
                  </a:lnTo>
                  <a:lnTo>
                    <a:pt x="13" y="56"/>
                  </a:lnTo>
                  <a:lnTo>
                    <a:pt x="19" y="50"/>
                  </a:lnTo>
                  <a:lnTo>
                    <a:pt x="30"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4" name="Freeform 158">
              <a:extLst>
                <a:ext uri="{FF2B5EF4-FFF2-40B4-BE49-F238E27FC236}">
                  <a16:creationId xmlns:a16="http://schemas.microsoft.com/office/drawing/2014/main" id="{A3C33B1A-E737-74E5-F032-51EA86D31950}"/>
                </a:ext>
              </a:extLst>
            </p:cNvPr>
            <p:cNvSpPr>
              <a:spLocks/>
            </p:cNvSpPr>
            <p:nvPr/>
          </p:nvSpPr>
          <p:spPr bwMode="auto">
            <a:xfrm>
              <a:off x="1616" y="1715"/>
              <a:ext cx="171" cy="31"/>
            </a:xfrm>
            <a:custGeom>
              <a:avLst/>
              <a:gdLst>
                <a:gd name="T0" fmla="*/ 0 w 104"/>
                <a:gd name="T1" fmla="*/ 249 h 26"/>
                <a:gd name="T2" fmla="*/ 0 w 104"/>
                <a:gd name="T3" fmla="*/ 209 h 26"/>
                <a:gd name="T4" fmla="*/ 271714 w 104"/>
                <a:gd name="T5" fmla="*/ 600 h 26"/>
                <a:gd name="T6" fmla="*/ 734578 w 104"/>
                <a:gd name="T7" fmla="*/ 715 h 26"/>
                <a:gd name="T8" fmla="*/ 1223666 w 104"/>
                <a:gd name="T9" fmla="*/ 715 h 26"/>
                <a:gd name="T10" fmla="*/ 1748953 w 104"/>
                <a:gd name="T11" fmla="*/ 717 h 26"/>
                <a:gd name="T12" fmla="*/ 2266127 w 104"/>
                <a:gd name="T13" fmla="*/ 760 h 26"/>
                <a:gd name="T14" fmla="*/ 2754045 w 104"/>
                <a:gd name="T15" fmla="*/ 855 h 26"/>
                <a:gd name="T16" fmla="*/ 3016486 w 104"/>
                <a:gd name="T17" fmla="*/ 906 h 26"/>
                <a:gd name="T18" fmla="*/ 3087293 w 104"/>
                <a:gd name="T19" fmla="*/ 1019 h 26"/>
                <a:gd name="T20" fmla="*/ 3524433 w 104"/>
                <a:gd name="T21" fmla="*/ 855 h 26"/>
                <a:gd name="T22" fmla="*/ 3265324 w 104"/>
                <a:gd name="T23" fmla="*/ 503 h 26"/>
                <a:gd name="T24" fmla="*/ 2817034 w 104"/>
                <a:gd name="T25" fmla="*/ 354 h 26"/>
                <a:gd name="T26" fmla="*/ 2300055 w 104"/>
                <a:gd name="T27" fmla="*/ 249 h 26"/>
                <a:gd name="T28" fmla="*/ 1748953 w 104"/>
                <a:gd name="T29" fmla="*/ 209 h 26"/>
                <a:gd name="T30" fmla="*/ 1223666 w 104"/>
                <a:gd name="T31" fmla="*/ 175 h 26"/>
                <a:gd name="T32" fmla="*/ 744218 w 104"/>
                <a:gd name="T33" fmla="*/ 175 h 26"/>
                <a:gd name="T34" fmla="*/ 478846 w 104"/>
                <a:gd name="T35" fmla="*/ 2 h 26"/>
                <a:gd name="T36" fmla="*/ 446761 w 104"/>
                <a:gd name="T37" fmla="*/ 1 h 26"/>
                <a:gd name="T38" fmla="*/ 416512 w 104"/>
                <a:gd name="T39" fmla="*/ 0 h 26"/>
                <a:gd name="T40" fmla="*/ 446761 w 104"/>
                <a:gd name="T41" fmla="*/ 1 h 26"/>
                <a:gd name="T42" fmla="*/ 416512 w 104"/>
                <a:gd name="T43" fmla="*/ 0 h 26"/>
                <a:gd name="T44" fmla="*/ 0 w 104"/>
                <a:gd name="T45" fmla="*/ 249 h 2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4"/>
                <a:gd name="T70" fmla="*/ 0 h 26"/>
                <a:gd name="T71" fmla="*/ 104 w 104"/>
                <a:gd name="T72" fmla="*/ 26 h 2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4" h="26">
                  <a:moveTo>
                    <a:pt x="0" y="6"/>
                  </a:moveTo>
                  <a:lnTo>
                    <a:pt x="0" y="5"/>
                  </a:lnTo>
                  <a:lnTo>
                    <a:pt x="8" y="14"/>
                  </a:lnTo>
                  <a:lnTo>
                    <a:pt x="21" y="17"/>
                  </a:lnTo>
                  <a:lnTo>
                    <a:pt x="36" y="17"/>
                  </a:lnTo>
                  <a:lnTo>
                    <a:pt x="51" y="18"/>
                  </a:lnTo>
                  <a:lnTo>
                    <a:pt x="66" y="19"/>
                  </a:lnTo>
                  <a:lnTo>
                    <a:pt x="80" y="21"/>
                  </a:lnTo>
                  <a:lnTo>
                    <a:pt x="88" y="23"/>
                  </a:lnTo>
                  <a:lnTo>
                    <a:pt x="90" y="25"/>
                  </a:lnTo>
                  <a:lnTo>
                    <a:pt x="103" y="21"/>
                  </a:lnTo>
                  <a:lnTo>
                    <a:pt x="95" y="12"/>
                  </a:lnTo>
                  <a:lnTo>
                    <a:pt x="82" y="8"/>
                  </a:lnTo>
                  <a:lnTo>
                    <a:pt x="67" y="6"/>
                  </a:lnTo>
                  <a:lnTo>
                    <a:pt x="51" y="5"/>
                  </a:lnTo>
                  <a:lnTo>
                    <a:pt x="36" y="4"/>
                  </a:lnTo>
                  <a:lnTo>
                    <a:pt x="22" y="4"/>
                  </a:lnTo>
                  <a:lnTo>
                    <a:pt x="14" y="2"/>
                  </a:lnTo>
                  <a:lnTo>
                    <a:pt x="13" y="1"/>
                  </a:lnTo>
                  <a:lnTo>
                    <a:pt x="12" y="0"/>
                  </a:lnTo>
                  <a:lnTo>
                    <a:pt x="13" y="1"/>
                  </a:lnTo>
                  <a:lnTo>
                    <a:pt x="12" y="0"/>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5" name="Freeform 159">
              <a:extLst>
                <a:ext uri="{FF2B5EF4-FFF2-40B4-BE49-F238E27FC236}">
                  <a16:creationId xmlns:a16="http://schemas.microsoft.com/office/drawing/2014/main" id="{2633987D-9213-5B30-6B8A-2E667BD95098}"/>
                </a:ext>
              </a:extLst>
            </p:cNvPr>
            <p:cNvSpPr>
              <a:spLocks/>
            </p:cNvSpPr>
            <p:nvPr/>
          </p:nvSpPr>
          <p:spPr bwMode="auto">
            <a:xfrm>
              <a:off x="1614" y="1714"/>
              <a:ext cx="23" cy="11"/>
            </a:xfrm>
            <a:custGeom>
              <a:avLst/>
              <a:gdLst>
                <a:gd name="T0" fmla="*/ 0 w 14"/>
                <a:gd name="T1" fmla="*/ 323 h 9"/>
                <a:gd name="T2" fmla="*/ 0 w 14"/>
                <a:gd name="T3" fmla="*/ 483 h 9"/>
                <a:gd name="T4" fmla="*/ 36728 w 14"/>
                <a:gd name="T5" fmla="*/ 543 h 9"/>
                <a:gd name="T6" fmla="*/ 439537 w 14"/>
                <a:gd name="T7" fmla="*/ 1 h 9"/>
                <a:gd name="T8" fmla="*/ 410755 w 14"/>
                <a:gd name="T9" fmla="*/ 0 h 9"/>
                <a:gd name="T10" fmla="*/ 439537 w 14"/>
                <a:gd name="T11" fmla="*/ 1 h 9"/>
                <a:gd name="T12" fmla="*/ 0 w 14"/>
                <a:gd name="T13" fmla="*/ 323 h 9"/>
                <a:gd name="T14" fmla="*/ 0 w 14"/>
                <a:gd name="T15" fmla="*/ 395 h 9"/>
                <a:gd name="T16" fmla="*/ 0 w 14"/>
                <a:gd name="T17" fmla="*/ 483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0" y="7"/>
                  </a:lnTo>
                  <a:lnTo>
                    <a:pt x="1" y="8"/>
                  </a:lnTo>
                  <a:lnTo>
                    <a:pt x="13" y="1"/>
                  </a:lnTo>
                  <a:lnTo>
                    <a:pt x="12" y="0"/>
                  </a:lnTo>
                  <a:lnTo>
                    <a:pt x="13" y="1"/>
                  </a:lnTo>
                  <a:lnTo>
                    <a:pt x="0" y="5"/>
                  </a:lnTo>
                  <a:lnTo>
                    <a:pt x="0" y="6"/>
                  </a:lnTo>
                  <a:lnTo>
                    <a:pt x="0"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6" name="Freeform 160">
              <a:extLst>
                <a:ext uri="{FF2B5EF4-FFF2-40B4-BE49-F238E27FC236}">
                  <a16:creationId xmlns:a16="http://schemas.microsoft.com/office/drawing/2014/main" id="{FAE608D4-4704-AE5E-CEC9-80016832AAB4}"/>
                </a:ext>
              </a:extLst>
            </p:cNvPr>
            <p:cNvSpPr>
              <a:spLocks/>
            </p:cNvSpPr>
            <p:nvPr/>
          </p:nvSpPr>
          <p:spPr bwMode="auto">
            <a:xfrm>
              <a:off x="1614" y="1649"/>
              <a:ext cx="136" cy="72"/>
            </a:xfrm>
            <a:custGeom>
              <a:avLst/>
              <a:gdLst>
                <a:gd name="T0" fmla="*/ 2195491 w 83"/>
                <a:gd name="T1" fmla="*/ 73 h 63"/>
                <a:gd name="T2" fmla="*/ 2160471 w 83"/>
                <a:gd name="T3" fmla="*/ 109 h 63"/>
                <a:gd name="T4" fmla="*/ 1987493 w 83"/>
                <a:gd name="T5" fmla="*/ 202 h 63"/>
                <a:gd name="T6" fmla="*/ 1654163 w 83"/>
                <a:gd name="T7" fmla="*/ 318 h 63"/>
                <a:gd name="T8" fmla="*/ 1212955 w 83"/>
                <a:gd name="T9" fmla="*/ 426 h 63"/>
                <a:gd name="T10" fmla="*/ 761179 w 83"/>
                <a:gd name="T11" fmla="*/ 542 h 63"/>
                <a:gd name="T12" fmla="*/ 389068 w 83"/>
                <a:gd name="T13" fmla="*/ 691 h 63"/>
                <a:gd name="T14" fmla="*/ 92657 w 83"/>
                <a:gd name="T15" fmla="*/ 808 h 63"/>
                <a:gd name="T16" fmla="*/ 0 w 83"/>
                <a:gd name="T17" fmla="*/ 1032 h 63"/>
                <a:gd name="T18" fmla="*/ 407626 w 83"/>
                <a:gd name="T19" fmla="*/ 951 h 63"/>
                <a:gd name="T20" fmla="*/ 451776 w 83"/>
                <a:gd name="T21" fmla="*/ 941 h 63"/>
                <a:gd name="T22" fmla="*/ 637509 w 83"/>
                <a:gd name="T23" fmla="*/ 832 h 63"/>
                <a:gd name="T24" fmla="*/ 998460 w 83"/>
                <a:gd name="T25" fmla="*/ 728 h 63"/>
                <a:gd name="T26" fmla="*/ 1434145 w 83"/>
                <a:gd name="T27" fmla="*/ 619 h 63"/>
                <a:gd name="T28" fmla="*/ 1855348 w 83"/>
                <a:gd name="T29" fmla="*/ 514 h 63"/>
                <a:gd name="T30" fmla="*/ 2257806 w 83"/>
                <a:gd name="T31" fmla="*/ 373 h 63"/>
                <a:gd name="T32" fmla="*/ 2549956 w 83"/>
                <a:gd name="T33" fmla="*/ 213 h 63"/>
                <a:gd name="T34" fmla="*/ 2609697 w 83"/>
                <a:gd name="T35" fmla="*/ 0 h 63"/>
                <a:gd name="T36" fmla="*/ 2195491 w 83"/>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7"/>
                  </a:lnTo>
                  <a:lnTo>
                    <a:pt x="62" y="12"/>
                  </a:lnTo>
                  <a:lnTo>
                    <a:pt x="52" y="19"/>
                  </a:lnTo>
                  <a:lnTo>
                    <a:pt x="38" y="26"/>
                  </a:lnTo>
                  <a:lnTo>
                    <a:pt x="24" y="33"/>
                  </a:lnTo>
                  <a:lnTo>
                    <a:pt x="12" y="41"/>
                  </a:lnTo>
                  <a:lnTo>
                    <a:pt x="3" y="49"/>
                  </a:lnTo>
                  <a:lnTo>
                    <a:pt x="0" y="62"/>
                  </a:lnTo>
                  <a:lnTo>
                    <a:pt x="13" y="58"/>
                  </a:lnTo>
                  <a:lnTo>
                    <a:pt x="14" y="57"/>
                  </a:lnTo>
                  <a:lnTo>
                    <a:pt x="20" y="51"/>
                  </a:lnTo>
                  <a:lnTo>
                    <a:pt x="31" y="45"/>
                  </a:lnTo>
                  <a:lnTo>
                    <a:pt x="45" y="38"/>
                  </a:lnTo>
                  <a:lnTo>
                    <a:pt x="58" y="31"/>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7" name="Freeform 161">
              <a:extLst>
                <a:ext uri="{FF2B5EF4-FFF2-40B4-BE49-F238E27FC236}">
                  <a16:creationId xmlns:a16="http://schemas.microsoft.com/office/drawing/2014/main" id="{400298C0-EBC0-03A9-43AA-09A546ECBC91}"/>
                </a:ext>
              </a:extLst>
            </p:cNvPr>
            <p:cNvSpPr>
              <a:spLocks/>
            </p:cNvSpPr>
            <p:nvPr/>
          </p:nvSpPr>
          <p:spPr bwMode="auto">
            <a:xfrm>
              <a:off x="1586" y="1601"/>
              <a:ext cx="164" cy="53"/>
            </a:xfrm>
            <a:custGeom>
              <a:avLst/>
              <a:gdLst>
                <a:gd name="T0" fmla="*/ 0 w 100"/>
                <a:gd name="T1" fmla="*/ 89 h 46"/>
                <a:gd name="T2" fmla="*/ 252478 w 100"/>
                <a:gd name="T3" fmla="*/ 279 h 46"/>
                <a:gd name="T4" fmla="*/ 618874 w 100"/>
                <a:gd name="T5" fmla="*/ 385 h 46"/>
                <a:gd name="T6" fmla="*/ 1074074 w 100"/>
                <a:gd name="T7" fmla="*/ 494 h 46"/>
                <a:gd name="T8" fmla="*/ 1565657 w 100"/>
                <a:gd name="T9" fmla="*/ 569 h 46"/>
                <a:gd name="T10" fmla="*/ 2015065 w 100"/>
                <a:gd name="T11" fmla="*/ 656 h 46"/>
                <a:gd name="T12" fmla="*/ 2439375 w 100"/>
                <a:gd name="T13" fmla="*/ 751 h 46"/>
                <a:gd name="T14" fmla="*/ 2694894 w 100"/>
                <a:gd name="T15" fmla="*/ 783 h 46"/>
                <a:gd name="T16" fmla="*/ 2793637 w 100"/>
                <a:gd name="T17" fmla="*/ 891 h 46"/>
                <a:gd name="T18" fmla="*/ 3211983 w 100"/>
                <a:gd name="T19" fmla="*/ 783 h 46"/>
                <a:gd name="T20" fmla="*/ 2995319 w 100"/>
                <a:gd name="T21" fmla="*/ 590 h 46"/>
                <a:gd name="T22" fmla="*/ 2601443 w 100"/>
                <a:gd name="T23" fmla="*/ 491 h 46"/>
                <a:gd name="T24" fmla="*/ 2139329 w 100"/>
                <a:gd name="T25" fmla="*/ 385 h 46"/>
                <a:gd name="T26" fmla="*/ 1664523 w 100"/>
                <a:gd name="T27" fmla="*/ 321 h 46"/>
                <a:gd name="T28" fmla="*/ 1171885 w 100"/>
                <a:gd name="T29" fmla="*/ 242 h 46"/>
                <a:gd name="T30" fmla="*/ 771874 w 100"/>
                <a:gd name="T31" fmla="*/ 137 h 46"/>
                <a:gd name="T32" fmla="*/ 521648 w 100"/>
                <a:gd name="T33" fmla="*/ 3 h 46"/>
                <a:gd name="T34" fmla="*/ 414064 w 100"/>
                <a:gd name="T35" fmla="*/ 0 h 46"/>
                <a:gd name="T36" fmla="*/ 0 w 100"/>
                <a:gd name="T37" fmla="*/ 89 h 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0"/>
                <a:gd name="T58" fmla="*/ 0 h 46"/>
                <a:gd name="T59" fmla="*/ 100 w 100"/>
                <a:gd name="T60" fmla="*/ 46 h 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0" h="46">
                  <a:moveTo>
                    <a:pt x="0" y="4"/>
                  </a:moveTo>
                  <a:lnTo>
                    <a:pt x="8" y="14"/>
                  </a:lnTo>
                  <a:lnTo>
                    <a:pt x="19" y="20"/>
                  </a:lnTo>
                  <a:lnTo>
                    <a:pt x="33" y="25"/>
                  </a:lnTo>
                  <a:lnTo>
                    <a:pt x="48" y="29"/>
                  </a:lnTo>
                  <a:lnTo>
                    <a:pt x="62" y="33"/>
                  </a:lnTo>
                  <a:lnTo>
                    <a:pt x="75" y="37"/>
                  </a:lnTo>
                  <a:lnTo>
                    <a:pt x="83" y="41"/>
                  </a:lnTo>
                  <a:lnTo>
                    <a:pt x="86" y="45"/>
                  </a:lnTo>
                  <a:lnTo>
                    <a:pt x="99" y="41"/>
                  </a:lnTo>
                  <a:lnTo>
                    <a:pt x="92" y="31"/>
                  </a:lnTo>
                  <a:lnTo>
                    <a:pt x="80" y="24"/>
                  </a:lnTo>
                  <a:lnTo>
                    <a:pt x="66" y="20"/>
                  </a:lnTo>
                  <a:lnTo>
                    <a:pt x="51" y="16"/>
                  </a:lnTo>
                  <a:lnTo>
                    <a:pt x="36" y="12"/>
                  </a:lnTo>
                  <a:lnTo>
                    <a:pt x="24" y="7"/>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8" name="Freeform 162">
              <a:extLst>
                <a:ext uri="{FF2B5EF4-FFF2-40B4-BE49-F238E27FC236}">
                  <a16:creationId xmlns:a16="http://schemas.microsoft.com/office/drawing/2014/main" id="{7E4593C2-1372-C962-CC4C-A849738168A3}"/>
                </a:ext>
              </a:extLst>
            </p:cNvPr>
            <p:cNvSpPr>
              <a:spLocks/>
            </p:cNvSpPr>
            <p:nvPr/>
          </p:nvSpPr>
          <p:spPr bwMode="auto">
            <a:xfrm>
              <a:off x="1586" y="1553"/>
              <a:ext cx="128" cy="55"/>
            </a:xfrm>
            <a:custGeom>
              <a:avLst/>
              <a:gdLst>
                <a:gd name="T0" fmla="*/ 2736711 w 77"/>
                <a:gd name="T1" fmla="*/ 121 h 47"/>
                <a:gd name="T2" fmla="*/ 2669048 w 77"/>
                <a:gd name="T3" fmla="*/ 142 h 47"/>
                <a:gd name="T4" fmla="*/ 2468611 w 77"/>
                <a:gd name="T5" fmla="*/ 266 h 47"/>
                <a:gd name="T6" fmla="*/ 2074799 w 77"/>
                <a:gd name="T7" fmla="*/ 364 h 47"/>
                <a:gd name="T8" fmla="*/ 1560232 w 77"/>
                <a:gd name="T9" fmla="*/ 455 h 47"/>
                <a:gd name="T10" fmla="*/ 965868 w 77"/>
                <a:gd name="T11" fmla="*/ 584 h 47"/>
                <a:gd name="T12" fmla="*/ 468364 w 77"/>
                <a:gd name="T13" fmla="*/ 729 h 47"/>
                <a:gd name="T14" fmla="*/ 76089 w 77"/>
                <a:gd name="T15" fmla="*/ 935 h 47"/>
                <a:gd name="T16" fmla="*/ 0 w 77"/>
                <a:gd name="T17" fmla="*/ 1263 h 47"/>
                <a:gd name="T18" fmla="*/ 581030 w 77"/>
                <a:gd name="T19" fmla="*/ 1120 h 47"/>
                <a:gd name="T20" fmla="*/ 778579 w 77"/>
                <a:gd name="T21" fmla="*/ 1009 h 47"/>
                <a:gd name="T22" fmla="*/ 1220468 w 77"/>
                <a:gd name="T23" fmla="*/ 935 h 47"/>
                <a:gd name="T24" fmla="*/ 1716412 w 77"/>
                <a:gd name="T25" fmla="*/ 813 h 47"/>
                <a:gd name="T26" fmla="*/ 2285111 w 77"/>
                <a:gd name="T27" fmla="*/ 695 h 47"/>
                <a:gd name="T28" fmla="*/ 2753694 w 77"/>
                <a:gd name="T29" fmla="*/ 584 h 47"/>
                <a:gd name="T30" fmla="*/ 3189403 w 77"/>
                <a:gd name="T31" fmla="*/ 364 h 47"/>
                <a:gd name="T32" fmla="*/ 3260700 w 77"/>
                <a:gd name="T33" fmla="*/ 0 h 47"/>
                <a:gd name="T34" fmla="*/ 2736711 w 77"/>
                <a:gd name="T35" fmla="*/ 121 h 4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7"/>
                <a:gd name="T55" fmla="*/ 0 h 47"/>
                <a:gd name="T56" fmla="*/ 77 w 77"/>
                <a:gd name="T57" fmla="*/ 47 h 4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7" h="47">
                  <a:moveTo>
                    <a:pt x="63" y="4"/>
                  </a:moveTo>
                  <a:lnTo>
                    <a:pt x="62" y="5"/>
                  </a:lnTo>
                  <a:lnTo>
                    <a:pt x="57" y="9"/>
                  </a:lnTo>
                  <a:lnTo>
                    <a:pt x="48" y="13"/>
                  </a:lnTo>
                  <a:lnTo>
                    <a:pt x="36" y="17"/>
                  </a:lnTo>
                  <a:lnTo>
                    <a:pt x="22" y="21"/>
                  </a:lnTo>
                  <a:lnTo>
                    <a:pt x="11" y="27"/>
                  </a:lnTo>
                  <a:lnTo>
                    <a:pt x="2" y="34"/>
                  </a:lnTo>
                  <a:lnTo>
                    <a:pt x="0" y="46"/>
                  </a:lnTo>
                  <a:lnTo>
                    <a:pt x="13" y="42"/>
                  </a:lnTo>
                  <a:lnTo>
                    <a:pt x="18" y="38"/>
                  </a:lnTo>
                  <a:lnTo>
                    <a:pt x="28" y="34"/>
                  </a:lnTo>
                  <a:lnTo>
                    <a:pt x="40" y="30"/>
                  </a:lnTo>
                  <a:lnTo>
                    <a:pt x="53" y="26"/>
                  </a:lnTo>
                  <a:lnTo>
                    <a:pt x="64" y="21"/>
                  </a:lnTo>
                  <a:lnTo>
                    <a:pt x="74" y="13"/>
                  </a:lnTo>
                  <a:lnTo>
                    <a:pt x="76" y="0"/>
                  </a:lnTo>
                  <a:lnTo>
                    <a:pt x="6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9" name="Freeform 163">
              <a:extLst>
                <a:ext uri="{FF2B5EF4-FFF2-40B4-BE49-F238E27FC236}">
                  <a16:creationId xmlns:a16="http://schemas.microsoft.com/office/drawing/2014/main" id="{677D3A79-9182-5671-166E-E13362B395B1}"/>
                </a:ext>
              </a:extLst>
            </p:cNvPr>
            <p:cNvSpPr>
              <a:spLocks/>
            </p:cNvSpPr>
            <p:nvPr/>
          </p:nvSpPr>
          <p:spPr bwMode="auto">
            <a:xfrm>
              <a:off x="1539" y="1526"/>
              <a:ext cx="175" cy="33"/>
            </a:xfrm>
            <a:custGeom>
              <a:avLst/>
              <a:gdLst>
                <a:gd name="T0" fmla="*/ 0 w 106"/>
                <a:gd name="T1" fmla="*/ 68 h 29"/>
                <a:gd name="T2" fmla="*/ 291842 w 106"/>
                <a:gd name="T3" fmla="*/ 191 h 29"/>
                <a:gd name="T4" fmla="*/ 795449 w 106"/>
                <a:gd name="T5" fmla="*/ 247 h 29"/>
                <a:gd name="T6" fmla="*/ 1328805 w 106"/>
                <a:gd name="T7" fmla="*/ 281 h 29"/>
                <a:gd name="T8" fmla="*/ 1899835 w 106"/>
                <a:gd name="T9" fmla="*/ 306 h 29"/>
                <a:gd name="T10" fmla="*/ 2534104 w 106"/>
                <a:gd name="T11" fmla="*/ 316 h 29"/>
                <a:gd name="T12" fmla="*/ 3033331 w 106"/>
                <a:gd name="T13" fmla="*/ 348 h 29"/>
                <a:gd name="T14" fmla="*/ 3328313 w 106"/>
                <a:gd name="T15" fmla="*/ 396 h 29"/>
                <a:gd name="T16" fmla="*/ 3435385 w 106"/>
                <a:gd name="T17" fmla="*/ 414 h 29"/>
                <a:gd name="T18" fmla="*/ 3917132 w 106"/>
                <a:gd name="T19" fmla="*/ 360 h 29"/>
                <a:gd name="T20" fmla="*/ 3621810 w 106"/>
                <a:gd name="T21" fmla="*/ 207 h 29"/>
                <a:gd name="T22" fmla="*/ 3097518 w 106"/>
                <a:gd name="T23" fmla="*/ 148 h 29"/>
                <a:gd name="T24" fmla="*/ 2573651 w 106"/>
                <a:gd name="T25" fmla="*/ 114 h 29"/>
                <a:gd name="T26" fmla="*/ 1984779 w 106"/>
                <a:gd name="T27" fmla="*/ 100 h 29"/>
                <a:gd name="T28" fmla="*/ 1389091 w 106"/>
                <a:gd name="T29" fmla="*/ 88 h 29"/>
                <a:gd name="T30" fmla="*/ 864949 w 106"/>
                <a:gd name="T31" fmla="*/ 68 h 29"/>
                <a:gd name="T32" fmla="*/ 563155 w 106"/>
                <a:gd name="T33" fmla="*/ 2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3"/>
                  </a:lnTo>
                  <a:lnTo>
                    <a:pt x="21" y="17"/>
                  </a:lnTo>
                  <a:lnTo>
                    <a:pt x="36" y="19"/>
                  </a:lnTo>
                  <a:lnTo>
                    <a:pt x="51" y="20"/>
                  </a:lnTo>
                  <a:lnTo>
                    <a:pt x="68" y="21"/>
                  </a:lnTo>
                  <a:lnTo>
                    <a:pt x="81" y="23"/>
                  </a:lnTo>
                  <a:lnTo>
                    <a:pt x="89" y="26"/>
                  </a:lnTo>
                  <a:lnTo>
                    <a:pt x="92" y="28"/>
                  </a:lnTo>
                  <a:lnTo>
                    <a:pt x="105" y="24"/>
                  </a:lnTo>
                  <a:lnTo>
                    <a:pt x="97" y="14"/>
                  </a:lnTo>
                  <a:lnTo>
                    <a:pt x="83" y="10"/>
                  </a:lnTo>
                  <a:lnTo>
                    <a:pt x="69" y="8"/>
                  </a:lnTo>
                  <a:lnTo>
                    <a:pt x="53" y="7"/>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0" name="Freeform 164">
              <a:extLst>
                <a:ext uri="{FF2B5EF4-FFF2-40B4-BE49-F238E27FC236}">
                  <a16:creationId xmlns:a16="http://schemas.microsoft.com/office/drawing/2014/main" id="{2F1A8EB4-5A27-26E9-E6AB-68BFFF40F27D}"/>
                </a:ext>
              </a:extLst>
            </p:cNvPr>
            <p:cNvSpPr>
              <a:spLocks/>
            </p:cNvSpPr>
            <p:nvPr/>
          </p:nvSpPr>
          <p:spPr bwMode="auto">
            <a:xfrm>
              <a:off x="1539" y="1464"/>
              <a:ext cx="138" cy="66"/>
            </a:xfrm>
            <a:custGeom>
              <a:avLst/>
              <a:gdLst>
                <a:gd name="T0" fmla="*/ 2353327 w 84"/>
                <a:gd name="T1" fmla="*/ 68 h 58"/>
                <a:gd name="T2" fmla="*/ 2325254 w 84"/>
                <a:gd name="T3" fmla="*/ 68 h 58"/>
                <a:gd name="T4" fmla="*/ 2114707 w 84"/>
                <a:gd name="T5" fmla="*/ 114 h 58"/>
                <a:gd name="T6" fmla="*/ 1725639 w 84"/>
                <a:gd name="T7" fmla="*/ 217 h 58"/>
                <a:gd name="T8" fmla="*/ 1275230 w 84"/>
                <a:gd name="T9" fmla="*/ 316 h 58"/>
                <a:gd name="T10" fmla="*/ 797119 w 84"/>
                <a:gd name="T11" fmla="*/ 414 h 58"/>
                <a:gd name="T12" fmla="*/ 368478 w 84"/>
                <a:gd name="T13" fmla="*/ 531 h 58"/>
                <a:gd name="T14" fmla="*/ 36728 w 84"/>
                <a:gd name="T15" fmla="*/ 667 h 58"/>
                <a:gd name="T16" fmla="*/ 0 w 84"/>
                <a:gd name="T17" fmla="*/ 861 h 58"/>
                <a:gd name="T18" fmla="*/ 439537 w 84"/>
                <a:gd name="T19" fmla="*/ 790 h 58"/>
                <a:gd name="T20" fmla="*/ 439537 w 84"/>
                <a:gd name="T21" fmla="*/ 759 h 58"/>
                <a:gd name="T22" fmla="*/ 639367 w 84"/>
                <a:gd name="T23" fmla="*/ 667 h 58"/>
                <a:gd name="T24" fmla="*/ 994515 w 84"/>
                <a:gd name="T25" fmla="*/ 584 h 58"/>
                <a:gd name="T26" fmla="*/ 1458819 w 84"/>
                <a:gd name="T27" fmla="*/ 506 h 58"/>
                <a:gd name="T28" fmla="*/ 1948925 w 84"/>
                <a:gd name="T29" fmla="*/ 410 h 58"/>
                <a:gd name="T30" fmla="*/ 2353327 w 84"/>
                <a:gd name="T31" fmla="*/ 306 h 58"/>
                <a:gd name="T32" fmla="*/ 2676132 w 84"/>
                <a:gd name="T33" fmla="*/ 182 h 58"/>
                <a:gd name="T34" fmla="*/ 2779841 w 84"/>
                <a:gd name="T35" fmla="*/ 0 h 58"/>
                <a:gd name="T36" fmla="*/ 2353327 w 84"/>
                <a:gd name="T37" fmla="*/ 68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58"/>
                <a:gd name="T59" fmla="*/ 84 w 84"/>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58">
                  <a:moveTo>
                    <a:pt x="70" y="4"/>
                  </a:moveTo>
                  <a:lnTo>
                    <a:pt x="69" y="4"/>
                  </a:lnTo>
                  <a:lnTo>
                    <a:pt x="63" y="8"/>
                  </a:lnTo>
                  <a:lnTo>
                    <a:pt x="51" y="15"/>
                  </a:lnTo>
                  <a:lnTo>
                    <a:pt x="38" y="21"/>
                  </a:lnTo>
                  <a:lnTo>
                    <a:pt x="24" y="28"/>
                  </a:lnTo>
                  <a:lnTo>
                    <a:pt x="11" y="35"/>
                  </a:lnTo>
                  <a:lnTo>
                    <a:pt x="1" y="45"/>
                  </a:lnTo>
                  <a:lnTo>
                    <a:pt x="0" y="57"/>
                  </a:lnTo>
                  <a:lnTo>
                    <a:pt x="13" y="53"/>
                  </a:lnTo>
                  <a:lnTo>
                    <a:pt x="13" y="51"/>
                  </a:lnTo>
                  <a:lnTo>
                    <a:pt x="19" y="45"/>
                  </a:lnTo>
                  <a:lnTo>
                    <a:pt x="30" y="39"/>
                  </a:lnTo>
                  <a:lnTo>
                    <a:pt x="43" y="33"/>
                  </a:lnTo>
                  <a:lnTo>
                    <a:pt x="58" y="27"/>
                  </a:lnTo>
                  <a:lnTo>
                    <a:pt x="70" y="20"/>
                  </a:lnTo>
                  <a:lnTo>
                    <a:pt x="79" y="12"/>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1" name="Freeform 165">
              <a:extLst>
                <a:ext uri="{FF2B5EF4-FFF2-40B4-BE49-F238E27FC236}">
                  <a16:creationId xmlns:a16="http://schemas.microsoft.com/office/drawing/2014/main" id="{DAF2710E-EA94-703F-E7BE-EE617A6790D4}"/>
                </a:ext>
              </a:extLst>
            </p:cNvPr>
            <p:cNvSpPr>
              <a:spLocks/>
            </p:cNvSpPr>
            <p:nvPr/>
          </p:nvSpPr>
          <p:spPr bwMode="auto">
            <a:xfrm>
              <a:off x="2376" y="3603"/>
              <a:ext cx="115" cy="142"/>
            </a:xfrm>
            <a:custGeom>
              <a:avLst/>
              <a:gdLst>
                <a:gd name="T0" fmla="*/ 1345633 w 70"/>
                <a:gd name="T1" fmla="*/ 529 h 124"/>
                <a:gd name="T2" fmla="*/ 2294899 w 70"/>
                <a:gd name="T3" fmla="*/ 0 h 124"/>
                <a:gd name="T4" fmla="*/ 2325254 w 70"/>
                <a:gd name="T5" fmla="*/ 1 h 124"/>
                <a:gd name="T6" fmla="*/ 2114707 w 70"/>
                <a:gd name="T7" fmla="*/ 1074 h 124"/>
                <a:gd name="T8" fmla="*/ 2151409 w 70"/>
                <a:gd name="T9" fmla="*/ 1198 h 124"/>
                <a:gd name="T10" fmla="*/ 2151409 w 70"/>
                <a:gd name="T11" fmla="*/ 1334 h 124"/>
                <a:gd name="T12" fmla="*/ 2151409 w 70"/>
                <a:gd name="T13" fmla="*/ 1470 h 124"/>
                <a:gd name="T14" fmla="*/ 2196006 w 70"/>
                <a:gd name="T15" fmla="*/ 1614 h 124"/>
                <a:gd name="T16" fmla="*/ 2210683 w 70"/>
                <a:gd name="T17" fmla="*/ 1737 h 124"/>
                <a:gd name="T18" fmla="*/ 2210683 w 70"/>
                <a:gd name="T19" fmla="*/ 1873 h 124"/>
                <a:gd name="T20" fmla="*/ 2210683 w 70"/>
                <a:gd name="T21" fmla="*/ 1989 h 124"/>
                <a:gd name="T22" fmla="*/ 2258973 w 70"/>
                <a:gd name="T23" fmla="*/ 2116 h 124"/>
                <a:gd name="T24" fmla="*/ 2114707 w 70"/>
                <a:gd name="T25" fmla="*/ 2004 h 124"/>
                <a:gd name="T26" fmla="*/ 2036691 w 70"/>
                <a:gd name="T27" fmla="*/ 1891 h 124"/>
                <a:gd name="T28" fmla="*/ 1883894 w 70"/>
                <a:gd name="T29" fmla="*/ 1791 h 124"/>
                <a:gd name="T30" fmla="*/ 1786333 w 70"/>
                <a:gd name="T31" fmla="*/ 1673 h 124"/>
                <a:gd name="T32" fmla="*/ 1633846 w 70"/>
                <a:gd name="T33" fmla="*/ 1528 h 124"/>
                <a:gd name="T34" fmla="*/ 1524090 w 70"/>
                <a:gd name="T35" fmla="*/ 1439 h 124"/>
                <a:gd name="T36" fmla="*/ 1375027 w 70"/>
                <a:gd name="T37" fmla="*/ 1325 h 124"/>
                <a:gd name="T38" fmla="*/ 1275230 w 70"/>
                <a:gd name="T39" fmla="*/ 1193 h 124"/>
                <a:gd name="T40" fmla="*/ 0 w 70"/>
                <a:gd name="T41" fmla="*/ 363 h 124"/>
                <a:gd name="T42" fmla="*/ 36728 w 70"/>
                <a:gd name="T43" fmla="*/ 328 h 124"/>
                <a:gd name="T44" fmla="*/ 1345633 w 70"/>
                <a:gd name="T45" fmla="*/ 529 h 12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0"/>
                <a:gd name="T70" fmla="*/ 0 h 124"/>
                <a:gd name="T71" fmla="*/ 70 w 70"/>
                <a:gd name="T72" fmla="*/ 124 h 12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0" h="124">
                  <a:moveTo>
                    <a:pt x="40" y="30"/>
                  </a:moveTo>
                  <a:lnTo>
                    <a:pt x="68" y="0"/>
                  </a:lnTo>
                  <a:lnTo>
                    <a:pt x="69" y="1"/>
                  </a:lnTo>
                  <a:lnTo>
                    <a:pt x="63" y="62"/>
                  </a:lnTo>
                  <a:lnTo>
                    <a:pt x="64" y="70"/>
                  </a:lnTo>
                  <a:lnTo>
                    <a:pt x="64" y="78"/>
                  </a:lnTo>
                  <a:lnTo>
                    <a:pt x="64" y="86"/>
                  </a:lnTo>
                  <a:lnTo>
                    <a:pt x="65" y="93"/>
                  </a:lnTo>
                  <a:lnTo>
                    <a:pt x="66" y="100"/>
                  </a:lnTo>
                  <a:lnTo>
                    <a:pt x="66" y="108"/>
                  </a:lnTo>
                  <a:lnTo>
                    <a:pt x="66" y="115"/>
                  </a:lnTo>
                  <a:lnTo>
                    <a:pt x="67" y="123"/>
                  </a:lnTo>
                  <a:lnTo>
                    <a:pt x="63" y="117"/>
                  </a:lnTo>
                  <a:lnTo>
                    <a:pt x="60" y="110"/>
                  </a:lnTo>
                  <a:lnTo>
                    <a:pt x="56" y="103"/>
                  </a:lnTo>
                  <a:lnTo>
                    <a:pt x="53" y="97"/>
                  </a:lnTo>
                  <a:lnTo>
                    <a:pt x="49" y="89"/>
                  </a:lnTo>
                  <a:lnTo>
                    <a:pt x="45" y="83"/>
                  </a:lnTo>
                  <a:lnTo>
                    <a:pt x="41" y="76"/>
                  </a:lnTo>
                  <a:lnTo>
                    <a:pt x="38" y="69"/>
                  </a:lnTo>
                  <a:lnTo>
                    <a:pt x="0" y="21"/>
                  </a:lnTo>
                  <a:lnTo>
                    <a:pt x="1" y="19"/>
                  </a:lnTo>
                  <a:lnTo>
                    <a:pt x="40" y="3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grpSp>
        <p:nvGrpSpPr>
          <p:cNvPr id="5" name="Group 166">
            <a:extLst>
              <a:ext uri="{FF2B5EF4-FFF2-40B4-BE49-F238E27FC236}">
                <a16:creationId xmlns:a16="http://schemas.microsoft.com/office/drawing/2014/main" id="{377EF9E9-906B-E862-DCA9-AB8E52F4F2B7}"/>
              </a:ext>
            </a:extLst>
          </p:cNvPr>
          <p:cNvGrpSpPr>
            <a:grpSpLocks/>
          </p:cNvGrpSpPr>
          <p:nvPr/>
        </p:nvGrpSpPr>
        <p:grpSpPr bwMode="auto">
          <a:xfrm>
            <a:off x="2509838" y="2538473"/>
            <a:ext cx="1762125" cy="2151063"/>
            <a:chOff x="1943" y="1436"/>
            <a:chExt cx="1374" cy="1581"/>
          </a:xfrm>
        </p:grpSpPr>
        <p:sp>
          <p:nvSpPr>
            <p:cNvPr id="22648" name="Freeform 167">
              <a:extLst>
                <a:ext uri="{FF2B5EF4-FFF2-40B4-BE49-F238E27FC236}">
                  <a16:creationId xmlns:a16="http://schemas.microsoft.com/office/drawing/2014/main" id="{35E4D45A-1ED2-F117-0E4B-188723C7953C}"/>
                </a:ext>
              </a:extLst>
            </p:cNvPr>
            <p:cNvSpPr>
              <a:spLocks/>
            </p:cNvSpPr>
            <p:nvPr/>
          </p:nvSpPr>
          <p:spPr bwMode="auto">
            <a:xfrm>
              <a:off x="3182" y="1825"/>
              <a:ext cx="135" cy="124"/>
            </a:xfrm>
            <a:custGeom>
              <a:avLst/>
              <a:gdLst>
                <a:gd name="T0" fmla="*/ 1454339 w 82"/>
                <a:gd name="T1" fmla="*/ 1412 h 108"/>
                <a:gd name="T2" fmla="*/ 0 w 82"/>
                <a:gd name="T3" fmla="*/ 1480 h 108"/>
                <a:gd name="T4" fmla="*/ 1549621 w 82"/>
                <a:gd name="T5" fmla="*/ 758 h 108"/>
                <a:gd name="T6" fmla="*/ 1689515 w 82"/>
                <a:gd name="T7" fmla="*/ 708 h 108"/>
                <a:gd name="T8" fmla="*/ 1856077 w 82"/>
                <a:gd name="T9" fmla="*/ 571 h 108"/>
                <a:gd name="T10" fmla="*/ 2013884 w 82"/>
                <a:gd name="T11" fmla="*/ 493 h 108"/>
                <a:gd name="T12" fmla="*/ 2225992 w 82"/>
                <a:gd name="T13" fmla="*/ 408 h 108"/>
                <a:gd name="T14" fmla="*/ 2353109 w 82"/>
                <a:gd name="T15" fmla="*/ 286 h 108"/>
                <a:gd name="T16" fmla="*/ 2551205 w 82"/>
                <a:gd name="T17" fmla="*/ 207 h 108"/>
                <a:gd name="T18" fmla="*/ 2677154 w 82"/>
                <a:gd name="T19" fmla="*/ 91 h 108"/>
                <a:gd name="T20" fmla="*/ 2848938 w 82"/>
                <a:gd name="T21" fmla="*/ 0 h 108"/>
                <a:gd name="T22" fmla="*/ 2781519 w 82"/>
                <a:gd name="T23" fmla="*/ 119 h 108"/>
                <a:gd name="T24" fmla="*/ 2739716 w 82"/>
                <a:gd name="T25" fmla="*/ 238 h 108"/>
                <a:gd name="T26" fmla="*/ 2677154 w 82"/>
                <a:gd name="T27" fmla="*/ 359 h 108"/>
                <a:gd name="T28" fmla="*/ 2613799 w 82"/>
                <a:gd name="T29" fmla="*/ 473 h 108"/>
                <a:gd name="T30" fmla="*/ 2574035 w 82"/>
                <a:gd name="T31" fmla="*/ 617 h 108"/>
                <a:gd name="T32" fmla="*/ 2513833 w 82"/>
                <a:gd name="T33" fmla="*/ 731 h 108"/>
                <a:gd name="T34" fmla="*/ 2455820 w 82"/>
                <a:gd name="T35" fmla="*/ 839 h 108"/>
                <a:gd name="T36" fmla="*/ 2394339 w 82"/>
                <a:gd name="T37" fmla="*/ 963 h 108"/>
                <a:gd name="T38" fmla="*/ 2285685 w 82"/>
                <a:gd name="T39" fmla="*/ 1922 h 108"/>
                <a:gd name="T40" fmla="*/ 2249465 w 82"/>
                <a:gd name="T41" fmla="*/ 1951 h 108"/>
                <a:gd name="T42" fmla="*/ 1454339 w 82"/>
                <a:gd name="T43" fmla="*/ 1412 h 1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2"/>
                <a:gd name="T67" fmla="*/ 0 h 108"/>
                <a:gd name="T68" fmla="*/ 82 w 82"/>
                <a:gd name="T69" fmla="*/ 108 h 1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2" h="108">
                  <a:moveTo>
                    <a:pt x="41" y="78"/>
                  </a:moveTo>
                  <a:lnTo>
                    <a:pt x="0" y="81"/>
                  </a:lnTo>
                  <a:lnTo>
                    <a:pt x="44" y="43"/>
                  </a:lnTo>
                  <a:lnTo>
                    <a:pt x="48" y="38"/>
                  </a:lnTo>
                  <a:lnTo>
                    <a:pt x="53" y="32"/>
                  </a:lnTo>
                  <a:lnTo>
                    <a:pt x="57" y="27"/>
                  </a:lnTo>
                  <a:lnTo>
                    <a:pt x="63" y="22"/>
                  </a:lnTo>
                  <a:lnTo>
                    <a:pt x="67" y="16"/>
                  </a:lnTo>
                  <a:lnTo>
                    <a:pt x="72" y="11"/>
                  </a:lnTo>
                  <a:lnTo>
                    <a:pt x="76" y="5"/>
                  </a:lnTo>
                  <a:lnTo>
                    <a:pt x="81" y="0"/>
                  </a:lnTo>
                  <a:lnTo>
                    <a:pt x="79" y="7"/>
                  </a:lnTo>
                  <a:lnTo>
                    <a:pt x="78" y="13"/>
                  </a:lnTo>
                  <a:lnTo>
                    <a:pt x="76" y="20"/>
                  </a:lnTo>
                  <a:lnTo>
                    <a:pt x="74" y="26"/>
                  </a:lnTo>
                  <a:lnTo>
                    <a:pt x="73" y="33"/>
                  </a:lnTo>
                  <a:lnTo>
                    <a:pt x="71" y="40"/>
                  </a:lnTo>
                  <a:lnTo>
                    <a:pt x="70" y="46"/>
                  </a:lnTo>
                  <a:lnTo>
                    <a:pt x="68" y="53"/>
                  </a:lnTo>
                  <a:lnTo>
                    <a:pt x="65" y="106"/>
                  </a:lnTo>
                  <a:lnTo>
                    <a:pt x="64" y="107"/>
                  </a:lnTo>
                  <a:lnTo>
                    <a:pt x="41" y="7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9" name="Freeform 168">
              <a:extLst>
                <a:ext uri="{FF2B5EF4-FFF2-40B4-BE49-F238E27FC236}">
                  <a16:creationId xmlns:a16="http://schemas.microsoft.com/office/drawing/2014/main" id="{53AF7FEB-753A-0363-4FB1-BFA316FB9962}"/>
                </a:ext>
              </a:extLst>
            </p:cNvPr>
            <p:cNvSpPr>
              <a:spLocks/>
            </p:cNvSpPr>
            <p:nvPr/>
          </p:nvSpPr>
          <p:spPr bwMode="auto">
            <a:xfrm>
              <a:off x="3110" y="1911"/>
              <a:ext cx="148" cy="51"/>
            </a:xfrm>
            <a:custGeom>
              <a:avLst/>
              <a:gdLst>
                <a:gd name="T0" fmla="*/ 418059 w 90"/>
                <a:gd name="T1" fmla="*/ 956 h 44"/>
                <a:gd name="T2" fmla="*/ 480135 w 90"/>
                <a:gd name="T3" fmla="*/ 872 h 44"/>
                <a:gd name="T4" fmla="*/ 687475 w 90"/>
                <a:gd name="T5" fmla="*/ 859 h 44"/>
                <a:gd name="T6" fmla="*/ 968543 w 90"/>
                <a:gd name="T7" fmla="*/ 872 h 44"/>
                <a:gd name="T8" fmla="*/ 1298379 w 90"/>
                <a:gd name="T9" fmla="*/ 872 h 44"/>
                <a:gd name="T10" fmla="*/ 1753134 w 90"/>
                <a:gd name="T11" fmla="*/ 852 h 44"/>
                <a:gd name="T12" fmla="*/ 2196628 w 90"/>
                <a:gd name="T13" fmla="*/ 735 h 44"/>
                <a:gd name="T14" fmla="*/ 2663053 w 90"/>
                <a:gd name="T15" fmla="*/ 518 h 44"/>
                <a:gd name="T16" fmla="*/ 3057132 w 90"/>
                <a:gd name="T17" fmla="*/ 158 h 44"/>
                <a:gd name="T18" fmla="*/ 2663053 w 90"/>
                <a:gd name="T19" fmla="*/ 0 h 44"/>
                <a:gd name="T20" fmla="*/ 2304061 w 90"/>
                <a:gd name="T21" fmla="*/ 305 h 44"/>
                <a:gd name="T22" fmla="*/ 1990834 w 90"/>
                <a:gd name="T23" fmla="*/ 457 h 44"/>
                <a:gd name="T24" fmla="*/ 1655750 w 90"/>
                <a:gd name="T25" fmla="*/ 551 h 44"/>
                <a:gd name="T26" fmla="*/ 1298379 w 90"/>
                <a:gd name="T27" fmla="*/ 551 h 44"/>
                <a:gd name="T28" fmla="*/ 968543 w 90"/>
                <a:gd name="T29" fmla="*/ 551 h 44"/>
                <a:gd name="T30" fmla="*/ 626313 w 90"/>
                <a:gd name="T31" fmla="*/ 597 h 44"/>
                <a:gd name="T32" fmla="*/ 272244 w 90"/>
                <a:gd name="T33" fmla="*/ 639 h 44"/>
                <a:gd name="T34" fmla="*/ 0 w 90"/>
                <a:gd name="T35" fmla="*/ 806 h 44"/>
                <a:gd name="T36" fmla="*/ 418059 w 90"/>
                <a:gd name="T37" fmla="*/ 956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0"/>
                <a:gd name="T58" fmla="*/ 0 h 44"/>
                <a:gd name="T59" fmla="*/ 90 w 90"/>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0" h="44">
                  <a:moveTo>
                    <a:pt x="12" y="43"/>
                  </a:moveTo>
                  <a:lnTo>
                    <a:pt x="14" y="40"/>
                  </a:lnTo>
                  <a:lnTo>
                    <a:pt x="20" y="39"/>
                  </a:lnTo>
                  <a:lnTo>
                    <a:pt x="28" y="40"/>
                  </a:lnTo>
                  <a:lnTo>
                    <a:pt x="38" y="40"/>
                  </a:lnTo>
                  <a:lnTo>
                    <a:pt x="51" y="38"/>
                  </a:lnTo>
                  <a:lnTo>
                    <a:pt x="64" y="33"/>
                  </a:lnTo>
                  <a:lnTo>
                    <a:pt x="77" y="23"/>
                  </a:lnTo>
                  <a:lnTo>
                    <a:pt x="89" y="7"/>
                  </a:lnTo>
                  <a:lnTo>
                    <a:pt x="77" y="0"/>
                  </a:lnTo>
                  <a:lnTo>
                    <a:pt x="67" y="14"/>
                  </a:lnTo>
                  <a:lnTo>
                    <a:pt x="58" y="21"/>
                  </a:lnTo>
                  <a:lnTo>
                    <a:pt x="48" y="25"/>
                  </a:lnTo>
                  <a:lnTo>
                    <a:pt x="38" y="25"/>
                  </a:lnTo>
                  <a:lnTo>
                    <a:pt x="28" y="25"/>
                  </a:lnTo>
                  <a:lnTo>
                    <a:pt x="18" y="26"/>
                  </a:lnTo>
                  <a:lnTo>
                    <a:pt x="8" y="29"/>
                  </a:lnTo>
                  <a:lnTo>
                    <a:pt x="0" y="36"/>
                  </a:lnTo>
                  <a:lnTo>
                    <a:pt x="12" y="4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0" name="Freeform 169">
              <a:extLst>
                <a:ext uri="{FF2B5EF4-FFF2-40B4-BE49-F238E27FC236}">
                  <a16:creationId xmlns:a16="http://schemas.microsoft.com/office/drawing/2014/main" id="{59882B49-4870-3A82-BF7D-35367E0E3AB3}"/>
                </a:ext>
              </a:extLst>
            </p:cNvPr>
            <p:cNvSpPr>
              <a:spLocks/>
            </p:cNvSpPr>
            <p:nvPr/>
          </p:nvSpPr>
          <p:spPr bwMode="auto">
            <a:xfrm>
              <a:off x="3110" y="1952"/>
              <a:ext cx="130" cy="78"/>
            </a:xfrm>
            <a:custGeom>
              <a:avLst/>
              <a:gdLst>
                <a:gd name="T0" fmla="*/ 2718437 w 79"/>
                <a:gd name="T1" fmla="*/ 1621 h 67"/>
                <a:gd name="T2" fmla="*/ 2654305 w 79"/>
                <a:gd name="T3" fmla="*/ 1318 h 67"/>
                <a:gd name="T4" fmla="*/ 2329860 w 79"/>
                <a:gd name="T5" fmla="*/ 1059 h 67"/>
                <a:gd name="T6" fmla="*/ 1880305 w 79"/>
                <a:gd name="T7" fmla="*/ 882 h 67"/>
                <a:gd name="T8" fmla="*/ 1402150 w 79"/>
                <a:gd name="T9" fmla="*/ 672 h 67"/>
                <a:gd name="T10" fmla="*/ 980208 w 79"/>
                <a:gd name="T11" fmla="*/ 480 h 67"/>
                <a:gd name="T12" fmla="*/ 595665 w 79"/>
                <a:gd name="T13" fmla="*/ 304 h 67"/>
                <a:gd name="T14" fmla="*/ 451334 w 79"/>
                <a:gd name="T15" fmla="*/ 189 h 67"/>
                <a:gd name="T16" fmla="*/ 421968 w 79"/>
                <a:gd name="T17" fmla="*/ 139 h 67"/>
                <a:gd name="T18" fmla="*/ 37404 w 79"/>
                <a:gd name="T19" fmla="*/ 0 h 67"/>
                <a:gd name="T20" fmla="*/ 0 w 79"/>
                <a:gd name="T21" fmla="*/ 304 h 67"/>
                <a:gd name="T22" fmla="*/ 274272 w 79"/>
                <a:gd name="T23" fmla="*/ 559 h 67"/>
                <a:gd name="T24" fmla="*/ 694378 w 79"/>
                <a:gd name="T25" fmla="*/ 779 h 67"/>
                <a:gd name="T26" fmla="*/ 1178814 w 79"/>
                <a:gd name="T27" fmla="*/ 951 h 67"/>
                <a:gd name="T28" fmla="*/ 1674120 w 79"/>
                <a:gd name="T29" fmla="*/ 1146 h 67"/>
                <a:gd name="T30" fmla="*/ 2011163 w 79"/>
                <a:gd name="T31" fmla="*/ 1318 h 67"/>
                <a:gd name="T32" fmla="*/ 2231208 w 79"/>
                <a:gd name="T33" fmla="*/ 1442 h 67"/>
                <a:gd name="T34" fmla="*/ 2269433 w 79"/>
                <a:gd name="T35" fmla="*/ 1512 h 67"/>
                <a:gd name="T36" fmla="*/ 2718437 w 79"/>
                <a:gd name="T37" fmla="*/ 1621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7"/>
                <a:gd name="T59" fmla="*/ 79 w 79"/>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7">
                  <a:moveTo>
                    <a:pt x="78" y="66"/>
                  </a:moveTo>
                  <a:lnTo>
                    <a:pt x="76" y="54"/>
                  </a:lnTo>
                  <a:lnTo>
                    <a:pt x="67" y="44"/>
                  </a:lnTo>
                  <a:lnTo>
                    <a:pt x="54" y="36"/>
                  </a:lnTo>
                  <a:lnTo>
                    <a:pt x="40" y="28"/>
                  </a:lnTo>
                  <a:lnTo>
                    <a:pt x="28" y="20"/>
                  </a:lnTo>
                  <a:lnTo>
                    <a:pt x="17" y="13"/>
                  </a:lnTo>
                  <a:lnTo>
                    <a:pt x="13" y="8"/>
                  </a:lnTo>
                  <a:lnTo>
                    <a:pt x="12" y="6"/>
                  </a:lnTo>
                  <a:lnTo>
                    <a:pt x="1" y="0"/>
                  </a:lnTo>
                  <a:lnTo>
                    <a:pt x="0" y="13"/>
                  </a:lnTo>
                  <a:lnTo>
                    <a:pt x="8" y="23"/>
                  </a:lnTo>
                  <a:lnTo>
                    <a:pt x="20" y="32"/>
                  </a:lnTo>
                  <a:lnTo>
                    <a:pt x="34" y="39"/>
                  </a:lnTo>
                  <a:lnTo>
                    <a:pt x="48" y="47"/>
                  </a:lnTo>
                  <a:lnTo>
                    <a:pt x="58" y="54"/>
                  </a:lnTo>
                  <a:lnTo>
                    <a:pt x="64" y="60"/>
                  </a:lnTo>
                  <a:lnTo>
                    <a:pt x="65" y="62"/>
                  </a:lnTo>
                  <a:lnTo>
                    <a:pt x="78"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1" name="Freeform 170">
              <a:extLst>
                <a:ext uri="{FF2B5EF4-FFF2-40B4-BE49-F238E27FC236}">
                  <a16:creationId xmlns:a16="http://schemas.microsoft.com/office/drawing/2014/main" id="{4189DE5C-B5B2-4146-D1B1-9EA46DC1CF69}"/>
                </a:ext>
              </a:extLst>
            </p:cNvPr>
            <p:cNvSpPr>
              <a:spLocks/>
            </p:cNvSpPr>
            <p:nvPr/>
          </p:nvSpPr>
          <p:spPr bwMode="auto">
            <a:xfrm>
              <a:off x="3064" y="2024"/>
              <a:ext cx="176" cy="28"/>
            </a:xfrm>
            <a:custGeom>
              <a:avLst/>
              <a:gdLst>
                <a:gd name="T0" fmla="*/ 448956 w 107"/>
                <a:gd name="T1" fmla="*/ 261 h 25"/>
                <a:gd name="T2" fmla="*/ 551648 w 107"/>
                <a:gd name="T3" fmla="*/ 239 h 25"/>
                <a:gd name="T4" fmla="*/ 855362 w 107"/>
                <a:gd name="T5" fmla="*/ 208 h 25"/>
                <a:gd name="T6" fmla="*/ 1326479 w 107"/>
                <a:gd name="T7" fmla="*/ 190 h 25"/>
                <a:gd name="T8" fmla="*/ 1829721 w 107"/>
                <a:gd name="T9" fmla="*/ 190 h 25"/>
                <a:gd name="T10" fmla="*/ 2374059 w 107"/>
                <a:gd name="T11" fmla="*/ 190 h 25"/>
                <a:gd name="T12" fmla="*/ 2937350 w 107"/>
                <a:gd name="T13" fmla="*/ 186 h 25"/>
                <a:gd name="T14" fmla="*/ 3361858 w 107"/>
                <a:gd name="T15" fmla="*/ 148 h 25"/>
                <a:gd name="T16" fmla="*/ 3649694 w 107"/>
                <a:gd name="T17" fmla="*/ 4 h 25"/>
                <a:gd name="T18" fmla="*/ 3223782 w 107"/>
                <a:gd name="T19" fmla="*/ 0 h 25"/>
                <a:gd name="T20" fmla="*/ 3107351 w 107"/>
                <a:gd name="T21" fmla="*/ 2 h 25"/>
                <a:gd name="T22" fmla="*/ 2833329 w 107"/>
                <a:gd name="T23" fmla="*/ 4 h 25"/>
                <a:gd name="T24" fmla="*/ 2374059 w 107"/>
                <a:gd name="T25" fmla="*/ 60 h 25"/>
                <a:gd name="T26" fmla="*/ 1829721 w 107"/>
                <a:gd name="T27" fmla="*/ 4 h 25"/>
                <a:gd name="T28" fmla="*/ 1326479 w 107"/>
                <a:gd name="T29" fmla="*/ 60 h 25"/>
                <a:gd name="T30" fmla="*/ 755427 w 107"/>
                <a:gd name="T31" fmla="*/ 67 h 25"/>
                <a:gd name="T32" fmla="*/ 316149 w 107"/>
                <a:gd name="T33" fmla="*/ 105 h 25"/>
                <a:gd name="T34" fmla="*/ 0 w 107"/>
                <a:gd name="T35" fmla="*/ 213 h 25"/>
                <a:gd name="T36" fmla="*/ 448956 w 107"/>
                <a:gd name="T37" fmla="*/ 261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6" y="22"/>
                  </a:lnTo>
                  <a:lnTo>
                    <a:pt x="25" y="19"/>
                  </a:lnTo>
                  <a:lnTo>
                    <a:pt x="38" y="18"/>
                  </a:lnTo>
                  <a:lnTo>
                    <a:pt x="53" y="18"/>
                  </a:lnTo>
                  <a:lnTo>
                    <a:pt x="69" y="18"/>
                  </a:lnTo>
                  <a:lnTo>
                    <a:pt x="85" y="17"/>
                  </a:lnTo>
                  <a:lnTo>
                    <a:pt x="97" y="13"/>
                  </a:lnTo>
                  <a:lnTo>
                    <a:pt x="106" y="4"/>
                  </a:lnTo>
                  <a:lnTo>
                    <a:pt x="93" y="0"/>
                  </a:lnTo>
                  <a:lnTo>
                    <a:pt x="90" y="2"/>
                  </a:lnTo>
                  <a:lnTo>
                    <a:pt x="82" y="4"/>
                  </a:lnTo>
                  <a:lnTo>
                    <a:pt x="69" y="5"/>
                  </a:lnTo>
                  <a:lnTo>
                    <a:pt x="53" y="4"/>
                  </a:lnTo>
                  <a:lnTo>
                    <a:pt x="38" y="5"/>
                  </a:lnTo>
                  <a:lnTo>
                    <a:pt x="22" y="6"/>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2" name="Freeform 171">
              <a:extLst>
                <a:ext uri="{FF2B5EF4-FFF2-40B4-BE49-F238E27FC236}">
                  <a16:creationId xmlns:a16="http://schemas.microsoft.com/office/drawing/2014/main" id="{A2BDA63E-C4B6-BF1E-25AA-03EF335D7C7D}"/>
                </a:ext>
              </a:extLst>
            </p:cNvPr>
            <p:cNvSpPr>
              <a:spLocks/>
            </p:cNvSpPr>
            <p:nvPr/>
          </p:nvSpPr>
          <p:spPr bwMode="auto">
            <a:xfrm>
              <a:off x="3064" y="2048"/>
              <a:ext cx="130" cy="76"/>
            </a:xfrm>
            <a:custGeom>
              <a:avLst/>
              <a:gdLst>
                <a:gd name="T0" fmla="*/ 2718437 w 79"/>
                <a:gd name="T1" fmla="*/ 1246 h 66"/>
                <a:gd name="T2" fmla="*/ 2654305 w 79"/>
                <a:gd name="T3" fmla="*/ 1029 h 66"/>
                <a:gd name="T4" fmla="*/ 2373138 w 79"/>
                <a:gd name="T5" fmla="*/ 839 h 66"/>
                <a:gd name="T6" fmla="*/ 1930358 w 79"/>
                <a:gd name="T7" fmla="*/ 674 h 66"/>
                <a:gd name="T8" fmla="*/ 1468965 w 79"/>
                <a:gd name="T9" fmla="*/ 550 h 66"/>
                <a:gd name="T10" fmla="*/ 1040012 w 79"/>
                <a:gd name="T11" fmla="*/ 383 h 66"/>
                <a:gd name="T12" fmla="*/ 656503 w 79"/>
                <a:gd name="T13" fmla="*/ 251 h 66"/>
                <a:gd name="T14" fmla="*/ 493266 w 79"/>
                <a:gd name="T15" fmla="*/ 117 h 66"/>
                <a:gd name="T16" fmla="*/ 451334 w 79"/>
                <a:gd name="T17" fmla="*/ 89 h 66"/>
                <a:gd name="T18" fmla="*/ 0 w 79"/>
                <a:gd name="T19" fmla="*/ 0 h 66"/>
                <a:gd name="T20" fmla="*/ 61551 w 79"/>
                <a:gd name="T21" fmla="*/ 251 h 66"/>
                <a:gd name="T22" fmla="*/ 339473 w 79"/>
                <a:gd name="T23" fmla="*/ 441 h 66"/>
                <a:gd name="T24" fmla="*/ 760939 w 79"/>
                <a:gd name="T25" fmla="*/ 633 h 66"/>
                <a:gd name="T26" fmla="*/ 1252178 w 79"/>
                <a:gd name="T27" fmla="*/ 755 h 66"/>
                <a:gd name="T28" fmla="*/ 1711412 w 79"/>
                <a:gd name="T29" fmla="*/ 896 h 66"/>
                <a:gd name="T30" fmla="*/ 2060546 w 79"/>
                <a:gd name="T31" fmla="*/ 1032 h 66"/>
                <a:gd name="T32" fmla="*/ 2231208 w 79"/>
                <a:gd name="T33" fmla="*/ 1153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3"/>
                  </a:lnTo>
                  <a:lnTo>
                    <a:pt x="68" y="43"/>
                  </a:lnTo>
                  <a:lnTo>
                    <a:pt x="55" y="35"/>
                  </a:lnTo>
                  <a:lnTo>
                    <a:pt x="42" y="28"/>
                  </a:lnTo>
                  <a:lnTo>
                    <a:pt x="30" y="20"/>
                  </a:lnTo>
                  <a:lnTo>
                    <a:pt x="19" y="13"/>
                  </a:lnTo>
                  <a:lnTo>
                    <a:pt x="14" y="6"/>
                  </a:lnTo>
                  <a:lnTo>
                    <a:pt x="13" y="4"/>
                  </a:lnTo>
                  <a:lnTo>
                    <a:pt x="0" y="0"/>
                  </a:lnTo>
                  <a:lnTo>
                    <a:pt x="2" y="13"/>
                  </a:lnTo>
                  <a:lnTo>
                    <a:pt x="10" y="23"/>
                  </a:lnTo>
                  <a:lnTo>
                    <a:pt x="22" y="32"/>
                  </a:lnTo>
                  <a:lnTo>
                    <a:pt x="36" y="39"/>
                  </a:lnTo>
                  <a:lnTo>
                    <a:pt x="49" y="47"/>
                  </a:lnTo>
                  <a:lnTo>
                    <a:pt x="59" y="54"/>
                  </a:lnTo>
                  <a:lnTo>
                    <a:pt x="64" y="60"/>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3" name="Freeform 172">
              <a:extLst>
                <a:ext uri="{FF2B5EF4-FFF2-40B4-BE49-F238E27FC236}">
                  <a16:creationId xmlns:a16="http://schemas.microsoft.com/office/drawing/2014/main" id="{C82AA5AE-1AC8-F7F9-D8F4-5F2F2A25A90C}"/>
                </a:ext>
              </a:extLst>
            </p:cNvPr>
            <p:cNvSpPr>
              <a:spLocks/>
            </p:cNvSpPr>
            <p:nvPr/>
          </p:nvSpPr>
          <p:spPr bwMode="auto">
            <a:xfrm>
              <a:off x="3020" y="2118"/>
              <a:ext cx="174" cy="27"/>
            </a:xfrm>
            <a:custGeom>
              <a:avLst/>
              <a:gdLst>
                <a:gd name="T0" fmla="*/ 555905 w 105"/>
                <a:gd name="T1" fmla="*/ 463 h 23"/>
                <a:gd name="T2" fmla="*/ 555905 w 105"/>
                <a:gd name="T3" fmla="*/ 514 h 23"/>
                <a:gd name="T4" fmla="*/ 605611 w 105"/>
                <a:gd name="T5" fmla="*/ 505 h 23"/>
                <a:gd name="T6" fmla="*/ 970032 w 105"/>
                <a:gd name="T7" fmla="*/ 438 h 23"/>
                <a:gd name="T8" fmla="*/ 1485145 w 105"/>
                <a:gd name="T9" fmla="*/ 463 h 23"/>
                <a:gd name="T10" fmla="*/ 2105818 w 105"/>
                <a:gd name="T11" fmla="*/ 463 h 23"/>
                <a:gd name="T12" fmla="*/ 2755964 w 105"/>
                <a:gd name="T13" fmla="*/ 505 h 23"/>
                <a:gd name="T14" fmla="*/ 3311643 w 105"/>
                <a:gd name="T15" fmla="*/ 463 h 23"/>
                <a:gd name="T16" fmla="*/ 3873205 w 105"/>
                <a:gd name="T17" fmla="*/ 373 h 23"/>
                <a:gd name="T18" fmla="*/ 4192184 w 105"/>
                <a:gd name="T19" fmla="*/ 122 h 23"/>
                <a:gd name="T20" fmla="*/ 3677016 w 105"/>
                <a:gd name="T21" fmla="*/ 0 h 23"/>
                <a:gd name="T22" fmla="*/ 3587389 w 105"/>
                <a:gd name="T23" fmla="*/ 1 h 23"/>
                <a:gd name="T24" fmla="*/ 3269143 w 105"/>
                <a:gd name="T25" fmla="*/ 104 h 23"/>
                <a:gd name="T26" fmla="*/ 2755964 w 105"/>
                <a:gd name="T27" fmla="*/ 104 h 23"/>
                <a:gd name="T28" fmla="*/ 2105818 w 105"/>
                <a:gd name="T29" fmla="*/ 104 h 23"/>
                <a:gd name="T30" fmla="*/ 1485145 w 105"/>
                <a:gd name="T31" fmla="*/ 1 h 23"/>
                <a:gd name="T32" fmla="*/ 921214 w 105"/>
                <a:gd name="T33" fmla="*/ 2 h 23"/>
                <a:gd name="T34" fmla="*/ 407286 w 105"/>
                <a:gd name="T35" fmla="*/ 122 h 23"/>
                <a:gd name="T36" fmla="*/ 42486 w 105"/>
                <a:gd name="T37" fmla="*/ 394 h 23"/>
                <a:gd name="T38" fmla="*/ 0 w 105"/>
                <a:gd name="T39" fmla="*/ 463 h 23"/>
                <a:gd name="T40" fmla="*/ 42486 w 105"/>
                <a:gd name="T41" fmla="*/ 394 h 23"/>
                <a:gd name="T42" fmla="*/ 42486 w 105"/>
                <a:gd name="T43" fmla="*/ 544 h 23"/>
                <a:gd name="T44" fmla="*/ 193341 w 105"/>
                <a:gd name="T45" fmla="*/ 639 h 23"/>
                <a:gd name="T46" fmla="*/ 407286 w 105"/>
                <a:gd name="T47" fmla="*/ 603 h 23"/>
                <a:gd name="T48" fmla="*/ 555905 w 105"/>
                <a:gd name="T49" fmla="*/ 514 h 23"/>
                <a:gd name="T50" fmla="*/ 555905 w 105"/>
                <a:gd name="T51" fmla="*/ 463 h 2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5"/>
                <a:gd name="T79" fmla="*/ 0 h 23"/>
                <a:gd name="T80" fmla="*/ 105 w 105"/>
                <a:gd name="T81" fmla="*/ 23 h 2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5" h="23">
                  <a:moveTo>
                    <a:pt x="14" y="16"/>
                  </a:moveTo>
                  <a:lnTo>
                    <a:pt x="14" y="18"/>
                  </a:lnTo>
                  <a:lnTo>
                    <a:pt x="15" y="17"/>
                  </a:lnTo>
                  <a:lnTo>
                    <a:pt x="24" y="15"/>
                  </a:lnTo>
                  <a:lnTo>
                    <a:pt x="37" y="16"/>
                  </a:lnTo>
                  <a:lnTo>
                    <a:pt x="52" y="16"/>
                  </a:lnTo>
                  <a:lnTo>
                    <a:pt x="68" y="17"/>
                  </a:lnTo>
                  <a:lnTo>
                    <a:pt x="82" y="16"/>
                  </a:lnTo>
                  <a:lnTo>
                    <a:pt x="96" y="13"/>
                  </a:lnTo>
                  <a:lnTo>
                    <a:pt x="104" y="4"/>
                  </a:lnTo>
                  <a:lnTo>
                    <a:pt x="91" y="0"/>
                  </a:lnTo>
                  <a:lnTo>
                    <a:pt x="89" y="1"/>
                  </a:lnTo>
                  <a:lnTo>
                    <a:pt x="81" y="3"/>
                  </a:lnTo>
                  <a:lnTo>
                    <a:pt x="68" y="3"/>
                  </a:lnTo>
                  <a:lnTo>
                    <a:pt x="52" y="3"/>
                  </a:lnTo>
                  <a:lnTo>
                    <a:pt x="37" y="1"/>
                  </a:lnTo>
                  <a:lnTo>
                    <a:pt x="23" y="2"/>
                  </a:lnTo>
                  <a:lnTo>
                    <a:pt x="10" y="4"/>
                  </a:lnTo>
                  <a:lnTo>
                    <a:pt x="1" y="14"/>
                  </a:lnTo>
                  <a:lnTo>
                    <a:pt x="0" y="16"/>
                  </a:lnTo>
                  <a:lnTo>
                    <a:pt x="1" y="14"/>
                  </a:lnTo>
                  <a:lnTo>
                    <a:pt x="1" y="19"/>
                  </a:lnTo>
                  <a:lnTo>
                    <a:pt x="5" y="22"/>
                  </a:lnTo>
                  <a:lnTo>
                    <a:pt x="10" y="21"/>
                  </a:lnTo>
                  <a:lnTo>
                    <a:pt x="14" y="18"/>
                  </a:lnTo>
                  <a:lnTo>
                    <a:pt x="14" y="1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4" name="Freeform 173">
              <a:extLst>
                <a:ext uri="{FF2B5EF4-FFF2-40B4-BE49-F238E27FC236}">
                  <a16:creationId xmlns:a16="http://schemas.microsoft.com/office/drawing/2014/main" id="{37C2668B-4181-9CCA-9248-E18F1890098A}"/>
                </a:ext>
              </a:extLst>
            </p:cNvPr>
            <p:cNvSpPr>
              <a:spLocks/>
            </p:cNvSpPr>
            <p:nvPr/>
          </p:nvSpPr>
          <p:spPr bwMode="auto">
            <a:xfrm>
              <a:off x="3020" y="2136"/>
              <a:ext cx="25" cy="11"/>
            </a:xfrm>
            <a:custGeom>
              <a:avLst/>
              <a:gdLst>
                <a:gd name="T0" fmla="*/ 621467 w 15"/>
                <a:gd name="T1" fmla="*/ 216 h 9"/>
                <a:gd name="T2" fmla="*/ 621467 w 15"/>
                <a:gd name="T3" fmla="*/ 2 h 9"/>
                <a:gd name="T4" fmla="*/ 621467 w 15"/>
                <a:gd name="T5" fmla="*/ 0 h 9"/>
                <a:gd name="T6" fmla="*/ 0 w 15"/>
                <a:gd name="T7" fmla="*/ 0 h 9"/>
                <a:gd name="T8" fmla="*/ 0 w 15"/>
                <a:gd name="T9" fmla="*/ 2 h 9"/>
                <a:gd name="T10" fmla="*/ 47430 w 15"/>
                <a:gd name="T11" fmla="*/ 0 h 9"/>
                <a:gd name="T12" fmla="*/ 0 w 15"/>
                <a:gd name="T13" fmla="*/ 2 h 9"/>
                <a:gd name="T14" fmla="*/ 79050 w 15"/>
                <a:gd name="T15" fmla="*/ 483 h 9"/>
                <a:gd name="T16" fmla="*/ 325255 w 15"/>
                <a:gd name="T17" fmla="*/ 543 h 9"/>
                <a:gd name="T18" fmla="*/ 542092 w 15"/>
                <a:gd name="T19" fmla="*/ 483 h 9"/>
                <a:gd name="T20" fmla="*/ 621467 w 15"/>
                <a:gd name="T21" fmla="*/ 2 h 9"/>
                <a:gd name="T22" fmla="*/ 621467 w 15"/>
                <a:gd name="T23" fmla="*/ 216 h 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9"/>
                <a:gd name="T38" fmla="*/ 15 w 15"/>
                <a:gd name="T39" fmla="*/ 9 h 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9">
                  <a:moveTo>
                    <a:pt x="14" y="3"/>
                  </a:moveTo>
                  <a:lnTo>
                    <a:pt x="14" y="2"/>
                  </a:lnTo>
                  <a:lnTo>
                    <a:pt x="14" y="0"/>
                  </a:lnTo>
                  <a:lnTo>
                    <a:pt x="0" y="0"/>
                  </a:lnTo>
                  <a:lnTo>
                    <a:pt x="0" y="2"/>
                  </a:lnTo>
                  <a:lnTo>
                    <a:pt x="1" y="0"/>
                  </a:lnTo>
                  <a:lnTo>
                    <a:pt x="0" y="2"/>
                  </a:lnTo>
                  <a:lnTo>
                    <a:pt x="2" y="7"/>
                  </a:lnTo>
                  <a:lnTo>
                    <a:pt x="7" y="8"/>
                  </a:lnTo>
                  <a:lnTo>
                    <a:pt x="12" y="7"/>
                  </a:lnTo>
                  <a:lnTo>
                    <a:pt x="14" y="2"/>
                  </a:lnTo>
                  <a:lnTo>
                    <a:pt x="14"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5" name="Freeform 174">
              <a:extLst>
                <a:ext uri="{FF2B5EF4-FFF2-40B4-BE49-F238E27FC236}">
                  <a16:creationId xmlns:a16="http://schemas.microsoft.com/office/drawing/2014/main" id="{9FC6C264-70C7-190A-4150-0AD3642CCF90}"/>
                </a:ext>
              </a:extLst>
            </p:cNvPr>
            <p:cNvSpPr>
              <a:spLocks/>
            </p:cNvSpPr>
            <p:nvPr/>
          </p:nvSpPr>
          <p:spPr bwMode="auto">
            <a:xfrm>
              <a:off x="3020" y="2136"/>
              <a:ext cx="132" cy="77"/>
            </a:xfrm>
            <a:custGeom>
              <a:avLst/>
              <a:gdLst>
                <a:gd name="T0" fmla="*/ 2918860 w 80"/>
                <a:gd name="T1" fmla="*/ 1224 h 67"/>
                <a:gd name="T2" fmla="*/ 2918860 w 80"/>
                <a:gd name="T3" fmla="*/ 1219 h 67"/>
                <a:gd name="T4" fmla="*/ 2842721 w 80"/>
                <a:gd name="T5" fmla="*/ 972 h 67"/>
                <a:gd name="T6" fmla="*/ 2480000 w 80"/>
                <a:gd name="T7" fmla="*/ 831 h 67"/>
                <a:gd name="T8" fmla="*/ 2037753 w 80"/>
                <a:gd name="T9" fmla="*/ 690 h 67"/>
                <a:gd name="T10" fmla="*/ 1545345 w 80"/>
                <a:gd name="T11" fmla="*/ 547 h 67"/>
                <a:gd name="T12" fmla="*/ 1072125 w 80"/>
                <a:gd name="T13" fmla="*/ 414 h 67"/>
                <a:gd name="T14" fmla="*/ 667037 w 80"/>
                <a:gd name="T15" fmla="*/ 278 h 67"/>
                <a:gd name="T16" fmla="*/ 520035 w 80"/>
                <a:gd name="T17" fmla="*/ 160 h 67"/>
                <a:gd name="T18" fmla="*/ 477527 w 80"/>
                <a:gd name="T19" fmla="*/ 3 h 67"/>
                <a:gd name="T20" fmla="*/ 0 w 80"/>
                <a:gd name="T21" fmla="*/ 0 h 67"/>
                <a:gd name="T22" fmla="*/ 39046 w 80"/>
                <a:gd name="T23" fmla="*/ 260 h 67"/>
                <a:gd name="T24" fmla="*/ 338181 w 80"/>
                <a:gd name="T25" fmla="*/ 476 h 67"/>
                <a:gd name="T26" fmla="*/ 787920 w 80"/>
                <a:gd name="T27" fmla="*/ 640 h 67"/>
                <a:gd name="T28" fmla="*/ 1300068 w 80"/>
                <a:gd name="T29" fmla="*/ 755 h 67"/>
                <a:gd name="T30" fmla="*/ 1816008 w 80"/>
                <a:gd name="T31" fmla="*/ 876 h 67"/>
                <a:gd name="T32" fmla="*/ 2169448 w 80"/>
                <a:gd name="T33" fmla="*/ 998 h 67"/>
                <a:gd name="T34" fmla="*/ 2399955 w 80"/>
                <a:gd name="T35" fmla="*/ 1117 h 67"/>
                <a:gd name="T36" fmla="*/ 2442464 w 80"/>
                <a:gd name="T37" fmla="*/ 1132 h 67"/>
                <a:gd name="T38" fmla="*/ 2918860 w 80"/>
                <a:gd name="T39" fmla="*/ 1224 h 6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0"/>
                <a:gd name="T61" fmla="*/ 0 h 67"/>
                <a:gd name="T62" fmla="*/ 80 w 80"/>
                <a:gd name="T63" fmla="*/ 67 h 6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0" h="67">
                  <a:moveTo>
                    <a:pt x="79" y="66"/>
                  </a:moveTo>
                  <a:lnTo>
                    <a:pt x="79" y="65"/>
                  </a:lnTo>
                  <a:lnTo>
                    <a:pt x="77" y="52"/>
                  </a:lnTo>
                  <a:lnTo>
                    <a:pt x="67" y="44"/>
                  </a:lnTo>
                  <a:lnTo>
                    <a:pt x="55" y="37"/>
                  </a:lnTo>
                  <a:lnTo>
                    <a:pt x="42" y="29"/>
                  </a:lnTo>
                  <a:lnTo>
                    <a:pt x="29" y="22"/>
                  </a:lnTo>
                  <a:lnTo>
                    <a:pt x="18" y="15"/>
                  </a:lnTo>
                  <a:lnTo>
                    <a:pt x="14" y="9"/>
                  </a:lnTo>
                  <a:lnTo>
                    <a:pt x="13" y="3"/>
                  </a:lnTo>
                  <a:lnTo>
                    <a:pt x="0" y="0"/>
                  </a:lnTo>
                  <a:lnTo>
                    <a:pt x="1" y="14"/>
                  </a:lnTo>
                  <a:lnTo>
                    <a:pt x="9" y="25"/>
                  </a:lnTo>
                  <a:lnTo>
                    <a:pt x="21" y="34"/>
                  </a:lnTo>
                  <a:lnTo>
                    <a:pt x="35" y="41"/>
                  </a:lnTo>
                  <a:lnTo>
                    <a:pt x="49" y="48"/>
                  </a:lnTo>
                  <a:lnTo>
                    <a:pt x="59" y="54"/>
                  </a:lnTo>
                  <a:lnTo>
                    <a:pt x="65" y="60"/>
                  </a:lnTo>
                  <a:lnTo>
                    <a:pt x="66" y="61"/>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6" name="Freeform 175">
              <a:extLst>
                <a:ext uri="{FF2B5EF4-FFF2-40B4-BE49-F238E27FC236}">
                  <a16:creationId xmlns:a16="http://schemas.microsoft.com/office/drawing/2014/main" id="{F48054A2-4229-329B-1D5E-4EA938DD98C7}"/>
                </a:ext>
              </a:extLst>
            </p:cNvPr>
            <p:cNvSpPr>
              <a:spLocks/>
            </p:cNvSpPr>
            <p:nvPr/>
          </p:nvSpPr>
          <p:spPr bwMode="auto">
            <a:xfrm>
              <a:off x="2974" y="2207"/>
              <a:ext cx="178" cy="30"/>
            </a:xfrm>
            <a:custGeom>
              <a:avLst/>
              <a:gdLst>
                <a:gd name="T0" fmla="*/ 467977 w 108"/>
                <a:gd name="T1" fmla="*/ 496 h 26"/>
                <a:gd name="T2" fmla="*/ 572069 w 108"/>
                <a:gd name="T3" fmla="*/ 466 h 26"/>
                <a:gd name="T4" fmla="*/ 904365 w 108"/>
                <a:gd name="T5" fmla="*/ 404 h 26"/>
                <a:gd name="T6" fmla="*/ 1340297 w 108"/>
                <a:gd name="T7" fmla="*/ 373 h 26"/>
                <a:gd name="T8" fmla="*/ 1899138 w 108"/>
                <a:gd name="T9" fmla="*/ 404 h 26"/>
                <a:gd name="T10" fmla="*/ 2520165 w 108"/>
                <a:gd name="T11" fmla="*/ 373 h 26"/>
                <a:gd name="T12" fmla="*/ 3068888 w 108"/>
                <a:gd name="T13" fmla="*/ 372 h 26"/>
                <a:gd name="T14" fmla="*/ 3543764 w 108"/>
                <a:gd name="T15" fmla="*/ 279 h 26"/>
                <a:gd name="T16" fmla="*/ 3851116 w 108"/>
                <a:gd name="T17" fmla="*/ 103 h 26"/>
                <a:gd name="T18" fmla="*/ 3382615 w 108"/>
                <a:gd name="T19" fmla="*/ 0 h 26"/>
                <a:gd name="T20" fmla="*/ 3279487 w 108"/>
                <a:gd name="T21" fmla="*/ 3 h 26"/>
                <a:gd name="T22" fmla="*/ 2963647 w 108"/>
                <a:gd name="T23" fmla="*/ 103 h 26"/>
                <a:gd name="T24" fmla="*/ 2520165 w 108"/>
                <a:gd name="T25" fmla="*/ 119 h 26"/>
                <a:gd name="T26" fmla="*/ 1899138 w 108"/>
                <a:gd name="T27" fmla="*/ 103 h 26"/>
                <a:gd name="T28" fmla="*/ 1340297 w 108"/>
                <a:gd name="T29" fmla="*/ 119 h 26"/>
                <a:gd name="T30" fmla="*/ 782669 w 108"/>
                <a:gd name="T31" fmla="*/ 137 h 26"/>
                <a:gd name="T32" fmla="*/ 332929 w 108"/>
                <a:gd name="T33" fmla="*/ 228 h 26"/>
                <a:gd name="T34" fmla="*/ 0 w 108"/>
                <a:gd name="T35" fmla="*/ 429 h 26"/>
                <a:gd name="T36" fmla="*/ 467977 w 108"/>
                <a:gd name="T37" fmla="*/ 496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6"/>
                <a:gd name="T59" fmla="*/ 108 w 108"/>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6">
                  <a:moveTo>
                    <a:pt x="13" y="25"/>
                  </a:moveTo>
                  <a:lnTo>
                    <a:pt x="16" y="23"/>
                  </a:lnTo>
                  <a:lnTo>
                    <a:pt x="25" y="20"/>
                  </a:lnTo>
                  <a:lnTo>
                    <a:pt x="37" y="19"/>
                  </a:lnTo>
                  <a:lnTo>
                    <a:pt x="53" y="20"/>
                  </a:lnTo>
                  <a:lnTo>
                    <a:pt x="70" y="19"/>
                  </a:lnTo>
                  <a:lnTo>
                    <a:pt x="85" y="18"/>
                  </a:lnTo>
                  <a:lnTo>
                    <a:pt x="98" y="14"/>
                  </a:lnTo>
                  <a:lnTo>
                    <a:pt x="107" y="5"/>
                  </a:lnTo>
                  <a:lnTo>
                    <a:pt x="94" y="0"/>
                  </a:lnTo>
                  <a:lnTo>
                    <a:pt x="91" y="3"/>
                  </a:lnTo>
                  <a:lnTo>
                    <a:pt x="82" y="5"/>
                  </a:lnTo>
                  <a:lnTo>
                    <a:pt x="70" y="6"/>
                  </a:lnTo>
                  <a:lnTo>
                    <a:pt x="53" y="5"/>
                  </a:lnTo>
                  <a:lnTo>
                    <a:pt x="37" y="6"/>
                  </a:lnTo>
                  <a:lnTo>
                    <a:pt x="22" y="7"/>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7" name="Freeform 176">
              <a:extLst>
                <a:ext uri="{FF2B5EF4-FFF2-40B4-BE49-F238E27FC236}">
                  <a16:creationId xmlns:a16="http://schemas.microsoft.com/office/drawing/2014/main" id="{32530AF9-A256-13C8-3A34-EDDA774413A8}"/>
                </a:ext>
              </a:extLst>
            </p:cNvPr>
            <p:cNvSpPr>
              <a:spLocks/>
            </p:cNvSpPr>
            <p:nvPr/>
          </p:nvSpPr>
          <p:spPr bwMode="auto">
            <a:xfrm>
              <a:off x="2974" y="2231"/>
              <a:ext cx="132" cy="76"/>
            </a:xfrm>
            <a:custGeom>
              <a:avLst/>
              <a:gdLst>
                <a:gd name="T0" fmla="*/ 2918860 w 80"/>
                <a:gd name="T1" fmla="*/ 1246 h 66"/>
                <a:gd name="T2" fmla="*/ 2842721 w 80"/>
                <a:gd name="T3" fmla="*/ 1001 h 66"/>
                <a:gd name="T4" fmla="*/ 2506601 w 80"/>
                <a:gd name="T5" fmla="*/ 839 h 66"/>
                <a:gd name="T6" fmla="*/ 2099480 w 80"/>
                <a:gd name="T7" fmla="*/ 656 h 66"/>
                <a:gd name="T8" fmla="*/ 1545345 w 80"/>
                <a:gd name="T9" fmla="*/ 510 h 66"/>
                <a:gd name="T10" fmla="*/ 1100611 w 80"/>
                <a:gd name="T11" fmla="*/ 371 h 66"/>
                <a:gd name="T12" fmla="*/ 733570 w 80"/>
                <a:gd name="T13" fmla="*/ 236 h 66"/>
                <a:gd name="T14" fmla="*/ 520035 w 80"/>
                <a:gd name="T15" fmla="*/ 117 h 66"/>
                <a:gd name="T16" fmla="*/ 477527 w 80"/>
                <a:gd name="T17" fmla="*/ 89 h 66"/>
                <a:gd name="T18" fmla="*/ 0 w 80"/>
                <a:gd name="T19" fmla="*/ 0 h 66"/>
                <a:gd name="T20" fmla="*/ 64426 w 80"/>
                <a:gd name="T21" fmla="*/ 251 h 66"/>
                <a:gd name="T22" fmla="*/ 404265 w 80"/>
                <a:gd name="T23" fmla="*/ 441 h 66"/>
                <a:gd name="T24" fmla="*/ 796859 w 80"/>
                <a:gd name="T25" fmla="*/ 587 h 66"/>
                <a:gd name="T26" fmla="*/ 1314817 w 80"/>
                <a:gd name="T27" fmla="*/ 752 h 66"/>
                <a:gd name="T28" fmla="*/ 1816008 w 80"/>
                <a:gd name="T29" fmla="*/ 894 h 66"/>
                <a:gd name="T30" fmla="*/ 2169448 w 80"/>
                <a:gd name="T31" fmla="*/ 1029 h 66"/>
                <a:gd name="T32" fmla="*/ 2399955 w 80"/>
                <a:gd name="T33" fmla="*/ 1148 h 66"/>
                <a:gd name="T34" fmla="*/ 2442464 w 80"/>
                <a:gd name="T35" fmla="*/ 1185 h 66"/>
                <a:gd name="T36" fmla="*/ 2918860 w 80"/>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3"/>
                  </a:lnTo>
                  <a:lnTo>
                    <a:pt x="57" y="34"/>
                  </a:lnTo>
                  <a:lnTo>
                    <a:pt x="42" y="27"/>
                  </a:lnTo>
                  <a:lnTo>
                    <a:pt x="30" y="19"/>
                  </a:lnTo>
                  <a:lnTo>
                    <a:pt x="20" y="12"/>
                  </a:lnTo>
                  <a:lnTo>
                    <a:pt x="14" y="6"/>
                  </a:lnTo>
                  <a:lnTo>
                    <a:pt x="13" y="4"/>
                  </a:lnTo>
                  <a:lnTo>
                    <a:pt x="0" y="0"/>
                  </a:lnTo>
                  <a:lnTo>
                    <a:pt x="2" y="13"/>
                  </a:lnTo>
                  <a:lnTo>
                    <a:pt x="11" y="23"/>
                  </a:lnTo>
                  <a:lnTo>
                    <a:pt x="22" y="31"/>
                  </a:lnTo>
                  <a:lnTo>
                    <a:pt x="36" y="38"/>
                  </a:lnTo>
                  <a:lnTo>
                    <a:pt x="49" y="46"/>
                  </a:lnTo>
                  <a:lnTo>
                    <a:pt x="59" y="53"/>
                  </a:lnTo>
                  <a:lnTo>
                    <a:pt x="65" y="59"/>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8" name="Freeform 177">
              <a:extLst>
                <a:ext uri="{FF2B5EF4-FFF2-40B4-BE49-F238E27FC236}">
                  <a16:creationId xmlns:a16="http://schemas.microsoft.com/office/drawing/2014/main" id="{82DD2110-957B-7A0E-6326-237839CF5264}"/>
                </a:ext>
              </a:extLst>
            </p:cNvPr>
            <p:cNvSpPr>
              <a:spLocks/>
            </p:cNvSpPr>
            <p:nvPr/>
          </p:nvSpPr>
          <p:spPr bwMode="auto">
            <a:xfrm>
              <a:off x="2932" y="2301"/>
              <a:ext cx="174" cy="29"/>
            </a:xfrm>
            <a:custGeom>
              <a:avLst/>
              <a:gdLst>
                <a:gd name="T0" fmla="*/ 464163 w 106"/>
                <a:gd name="T1" fmla="*/ 392 h 25"/>
                <a:gd name="T2" fmla="*/ 419911 w 106"/>
                <a:gd name="T3" fmla="*/ 445 h 25"/>
                <a:gd name="T4" fmla="*/ 503423 w 106"/>
                <a:gd name="T5" fmla="*/ 455 h 25"/>
                <a:gd name="T6" fmla="*/ 761928 w 106"/>
                <a:gd name="T7" fmla="*/ 394 h 25"/>
                <a:gd name="T8" fmla="*/ 1189907 w 106"/>
                <a:gd name="T9" fmla="*/ 394 h 25"/>
                <a:gd name="T10" fmla="*/ 1723619 w 106"/>
                <a:gd name="T11" fmla="*/ 394 h 25"/>
                <a:gd name="T12" fmla="*/ 2261872 w 106"/>
                <a:gd name="T13" fmla="*/ 394 h 25"/>
                <a:gd name="T14" fmla="*/ 2742357 w 106"/>
                <a:gd name="T15" fmla="*/ 392 h 25"/>
                <a:gd name="T16" fmla="*/ 3184802 w 106"/>
                <a:gd name="T17" fmla="*/ 291 h 25"/>
                <a:gd name="T18" fmla="*/ 3468237 w 106"/>
                <a:gd name="T19" fmla="*/ 101 h 25"/>
                <a:gd name="T20" fmla="*/ 3048815 w 106"/>
                <a:gd name="T21" fmla="*/ 0 h 25"/>
                <a:gd name="T22" fmla="*/ 2950607 w 106"/>
                <a:gd name="T23" fmla="*/ 2 h 25"/>
                <a:gd name="T24" fmla="*/ 2681420 w 106"/>
                <a:gd name="T25" fmla="*/ 101 h 25"/>
                <a:gd name="T26" fmla="*/ 2261872 w 106"/>
                <a:gd name="T27" fmla="*/ 117 h 25"/>
                <a:gd name="T28" fmla="*/ 1723619 w 106"/>
                <a:gd name="T29" fmla="*/ 101 h 25"/>
                <a:gd name="T30" fmla="*/ 1189907 w 106"/>
                <a:gd name="T31" fmla="*/ 101 h 25"/>
                <a:gd name="T32" fmla="*/ 724886 w 106"/>
                <a:gd name="T33" fmla="*/ 117 h 25"/>
                <a:gd name="T34" fmla="*/ 306683 w 106"/>
                <a:gd name="T35" fmla="*/ 158 h 25"/>
                <a:gd name="T36" fmla="*/ 0 w 106"/>
                <a:gd name="T37" fmla="*/ 338 h 25"/>
                <a:gd name="T38" fmla="*/ 0 w 106"/>
                <a:gd name="T39" fmla="*/ 392 h 25"/>
                <a:gd name="T40" fmla="*/ 0 w 106"/>
                <a:gd name="T41" fmla="*/ 338 h 25"/>
                <a:gd name="T42" fmla="*/ 35232 w 106"/>
                <a:gd name="T43" fmla="*/ 455 h 25"/>
                <a:gd name="T44" fmla="*/ 155837 w 106"/>
                <a:gd name="T45" fmla="*/ 530 h 25"/>
                <a:gd name="T46" fmla="*/ 325065 w 106"/>
                <a:gd name="T47" fmla="*/ 528 h 25"/>
                <a:gd name="T48" fmla="*/ 419911 w 106"/>
                <a:gd name="T49" fmla="*/ 445 h 25"/>
                <a:gd name="T50" fmla="*/ 464163 w 106"/>
                <a:gd name="T51" fmla="*/ 392 h 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6"/>
                <a:gd name="T79" fmla="*/ 0 h 25"/>
                <a:gd name="T80" fmla="*/ 106 w 106"/>
                <a:gd name="T81" fmla="*/ 25 h 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6" h="25">
                  <a:moveTo>
                    <a:pt x="14" y="17"/>
                  </a:moveTo>
                  <a:lnTo>
                    <a:pt x="13" y="19"/>
                  </a:lnTo>
                  <a:lnTo>
                    <a:pt x="15" y="20"/>
                  </a:lnTo>
                  <a:lnTo>
                    <a:pt x="23" y="18"/>
                  </a:lnTo>
                  <a:lnTo>
                    <a:pt x="36" y="18"/>
                  </a:lnTo>
                  <a:lnTo>
                    <a:pt x="52" y="18"/>
                  </a:lnTo>
                  <a:lnTo>
                    <a:pt x="68" y="18"/>
                  </a:lnTo>
                  <a:lnTo>
                    <a:pt x="83" y="17"/>
                  </a:lnTo>
                  <a:lnTo>
                    <a:pt x="96" y="13"/>
                  </a:lnTo>
                  <a:lnTo>
                    <a:pt x="105" y="4"/>
                  </a:lnTo>
                  <a:lnTo>
                    <a:pt x="92" y="0"/>
                  </a:lnTo>
                  <a:lnTo>
                    <a:pt x="89" y="2"/>
                  </a:lnTo>
                  <a:lnTo>
                    <a:pt x="81" y="4"/>
                  </a:lnTo>
                  <a:lnTo>
                    <a:pt x="68" y="5"/>
                  </a:lnTo>
                  <a:lnTo>
                    <a:pt x="52" y="4"/>
                  </a:lnTo>
                  <a:lnTo>
                    <a:pt x="36" y="4"/>
                  </a:lnTo>
                  <a:lnTo>
                    <a:pt x="22" y="5"/>
                  </a:lnTo>
                  <a:lnTo>
                    <a:pt x="9" y="7"/>
                  </a:lnTo>
                  <a:lnTo>
                    <a:pt x="0" y="15"/>
                  </a:lnTo>
                  <a:lnTo>
                    <a:pt x="0" y="17"/>
                  </a:lnTo>
                  <a:lnTo>
                    <a:pt x="0" y="15"/>
                  </a:lnTo>
                  <a:lnTo>
                    <a:pt x="1" y="20"/>
                  </a:lnTo>
                  <a:lnTo>
                    <a:pt x="5" y="24"/>
                  </a:lnTo>
                  <a:lnTo>
                    <a:pt x="10" y="23"/>
                  </a:lnTo>
                  <a:lnTo>
                    <a:pt x="13" y="19"/>
                  </a:lnTo>
                  <a:lnTo>
                    <a:pt x="14" y="1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9" name="Freeform 178">
              <a:extLst>
                <a:ext uri="{FF2B5EF4-FFF2-40B4-BE49-F238E27FC236}">
                  <a16:creationId xmlns:a16="http://schemas.microsoft.com/office/drawing/2014/main" id="{26F10275-4B22-5F6B-303C-8439DB859D7C}"/>
                </a:ext>
              </a:extLst>
            </p:cNvPr>
            <p:cNvSpPr>
              <a:spLocks/>
            </p:cNvSpPr>
            <p:nvPr/>
          </p:nvSpPr>
          <p:spPr bwMode="auto">
            <a:xfrm>
              <a:off x="2932" y="2320"/>
              <a:ext cx="24" cy="11"/>
            </a:xfrm>
            <a:custGeom>
              <a:avLst/>
              <a:gdLst>
                <a:gd name="T0" fmla="*/ 255066 w 15"/>
                <a:gd name="T1" fmla="*/ 45 h 10"/>
                <a:gd name="T2" fmla="*/ 265134 w 15"/>
                <a:gd name="T3" fmla="*/ 2 h 10"/>
                <a:gd name="T4" fmla="*/ 0 w 15"/>
                <a:gd name="T5" fmla="*/ 2 h 10"/>
                <a:gd name="T6" fmla="*/ 0 w 15"/>
                <a:gd name="T7" fmla="*/ 0 h 10"/>
                <a:gd name="T8" fmla="*/ 0 w 15"/>
                <a:gd name="T9" fmla="*/ 2 h 10"/>
                <a:gd name="T10" fmla="*/ 38920 w 15"/>
                <a:gd name="T11" fmla="*/ 61 h 10"/>
                <a:gd name="T12" fmla="*/ 136000 w 15"/>
                <a:gd name="T13" fmla="*/ 67 h 10"/>
                <a:gd name="T14" fmla="*/ 226910 w 15"/>
                <a:gd name="T15" fmla="*/ 61 h 10"/>
                <a:gd name="T16" fmla="*/ 265134 w 15"/>
                <a:gd name="T17" fmla="*/ 2 h 10"/>
                <a:gd name="T18" fmla="*/ 255066 w 15"/>
                <a:gd name="T19" fmla="*/ 45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0"/>
                <a:gd name="T32" fmla="*/ 15 w 15"/>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0">
                  <a:moveTo>
                    <a:pt x="13" y="5"/>
                  </a:moveTo>
                  <a:lnTo>
                    <a:pt x="14" y="2"/>
                  </a:lnTo>
                  <a:lnTo>
                    <a:pt x="0" y="2"/>
                  </a:lnTo>
                  <a:lnTo>
                    <a:pt x="0" y="0"/>
                  </a:lnTo>
                  <a:lnTo>
                    <a:pt x="0" y="2"/>
                  </a:lnTo>
                  <a:lnTo>
                    <a:pt x="2" y="8"/>
                  </a:lnTo>
                  <a:lnTo>
                    <a:pt x="7" y="9"/>
                  </a:lnTo>
                  <a:lnTo>
                    <a:pt x="12" y="8"/>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0" name="Freeform 179">
              <a:extLst>
                <a:ext uri="{FF2B5EF4-FFF2-40B4-BE49-F238E27FC236}">
                  <a16:creationId xmlns:a16="http://schemas.microsoft.com/office/drawing/2014/main" id="{93601E7F-33CB-5A73-0BD6-5DD0C2A2E14D}"/>
                </a:ext>
              </a:extLst>
            </p:cNvPr>
            <p:cNvSpPr>
              <a:spLocks/>
            </p:cNvSpPr>
            <p:nvPr/>
          </p:nvSpPr>
          <p:spPr bwMode="auto">
            <a:xfrm>
              <a:off x="2932" y="2320"/>
              <a:ext cx="128" cy="76"/>
            </a:xfrm>
            <a:custGeom>
              <a:avLst/>
              <a:gdLst>
                <a:gd name="T0" fmla="*/ 2532882 w 78"/>
                <a:gd name="T1" fmla="*/ 932 h 67"/>
                <a:gd name="T2" fmla="*/ 2499568 w 78"/>
                <a:gd name="T3" fmla="*/ 740 h 67"/>
                <a:gd name="T4" fmla="*/ 2209400 w 78"/>
                <a:gd name="T5" fmla="*/ 620 h 67"/>
                <a:gd name="T6" fmla="*/ 1812188 w 78"/>
                <a:gd name="T7" fmla="*/ 491 h 67"/>
                <a:gd name="T8" fmla="*/ 1380721 w 78"/>
                <a:gd name="T9" fmla="*/ 348 h 67"/>
                <a:gd name="T10" fmla="*/ 975677 w 78"/>
                <a:gd name="T11" fmla="*/ 270 h 67"/>
                <a:gd name="T12" fmla="*/ 664651 w 78"/>
                <a:gd name="T13" fmla="*/ 145 h 67"/>
                <a:gd name="T14" fmla="*/ 461814 w 78"/>
                <a:gd name="T15" fmla="*/ 78 h 67"/>
                <a:gd name="T16" fmla="*/ 418066 w 78"/>
                <a:gd name="T17" fmla="*/ 69 h 67"/>
                <a:gd name="T18" fmla="*/ 0 w 78"/>
                <a:gd name="T19" fmla="*/ 0 h 67"/>
                <a:gd name="T20" fmla="*/ 57648 w 78"/>
                <a:gd name="T21" fmla="*/ 185 h 67"/>
                <a:gd name="T22" fmla="*/ 362306 w 78"/>
                <a:gd name="T23" fmla="*/ 306 h 67"/>
                <a:gd name="T24" fmla="*/ 720891 w 78"/>
                <a:gd name="T25" fmla="*/ 433 h 67"/>
                <a:gd name="T26" fmla="*/ 1148299 w 78"/>
                <a:gd name="T27" fmla="*/ 547 h 67"/>
                <a:gd name="T28" fmla="*/ 1587866 w 78"/>
                <a:gd name="T29" fmla="*/ 650 h 67"/>
                <a:gd name="T30" fmla="*/ 1906471 w 78"/>
                <a:gd name="T31" fmla="*/ 741 h 67"/>
                <a:gd name="T32" fmla="*/ 2101908 w 78"/>
                <a:gd name="T33" fmla="*/ 836 h 67"/>
                <a:gd name="T34" fmla="*/ 2101908 w 78"/>
                <a:gd name="T35" fmla="*/ 876 h 67"/>
                <a:gd name="T36" fmla="*/ 2532882 w 78"/>
                <a:gd name="T37" fmla="*/ 932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67"/>
                <a:gd name="T59" fmla="*/ 78 w 78"/>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67">
                  <a:moveTo>
                    <a:pt x="77" y="66"/>
                  </a:moveTo>
                  <a:lnTo>
                    <a:pt x="76" y="53"/>
                  </a:lnTo>
                  <a:lnTo>
                    <a:pt x="67" y="43"/>
                  </a:lnTo>
                  <a:lnTo>
                    <a:pt x="55" y="34"/>
                  </a:lnTo>
                  <a:lnTo>
                    <a:pt x="42" y="26"/>
                  </a:lnTo>
                  <a:lnTo>
                    <a:pt x="30" y="19"/>
                  </a:lnTo>
                  <a:lnTo>
                    <a:pt x="20" y="11"/>
                  </a:lnTo>
                  <a:lnTo>
                    <a:pt x="14" y="6"/>
                  </a:lnTo>
                  <a:lnTo>
                    <a:pt x="13" y="5"/>
                  </a:lnTo>
                  <a:lnTo>
                    <a:pt x="0" y="0"/>
                  </a:lnTo>
                  <a:lnTo>
                    <a:pt x="2" y="13"/>
                  </a:lnTo>
                  <a:lnTo>
                    <a:pt x="11" y="22"/>
                  </a:lnTo>
                  <a:lnTo>
                    <a:pt x="22" y="30"/>
                  </a:lnTo>
                  <a:lnTo>
                    <a:pt x="35" y="38"/>
                  </a:lnTo>
                  <a:lnTo>
                    <a:pt x="48" y="46"/>
                  </a:lnTo>
                  <a:lnTo>
                    <a:pt x="58" y="54"/>
                  </a:lnTo>
                  <a:lnTo>
                    <a:pt x="64" y="59"/>
                  </a:lnTo>
                  <a:lnTo>
                    <a:pt x="64" y="62"/>
                  </a:lnTo>
                  <a:lnTo>
                    <a:pt x="77"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1" name="Freeform 180">
              <a:extLst>
                <a:ext uri="{FF2B5EF4-FFF2-40B4-BE49-F238E27FC236}">
                  <a16:creationId xmlns:a16="http://schemas.microsoft.com/office/drawing/2014/main" id="{A3CA708C-8146-6849-2CE7-ED0A261B79BD}"/>
                </a:ext>
              </a:extLst>
            </p:cNvPr>
            <p:cNvSpPr>
              <a:spLocks/>
            </p:cNvSpPr>
            <p:nvPr/>
          </p:nvSpPr>
          <p:spPr bwMode="auto">
            <a:xfrm>
              <a:off x="2884" y="2391"/>
              <a:ext cx="176" cy="31"/>
            </a:xfrm>
            <a:custGeom>
              <a:avLst/>
              <a:gdLst>
                <a:gd name="T0" fmla="*/ 448956 w 107"/>
                <a:gd name="T1" fmla="*/ 473 h 27"/>
                <a:gd name="T2" fmla="*/ 448956 w 107"/>
                <a:gd name="T3" fmla="*/ 468 h 27"/>
                <a:gd name="T4" fmla="*/ 551648 w 107"/>
                <a:gd name="T5" fmla="*/ 412 h 27"/>
                <a:gd name="T6" fmla="*/ 818282 w 107"/>
                <a:gd name="T7" fmla="*/ 377 h 27"/>
                <a:gd name="T8" fmla="*/ 1274250 w 107"/>
                <a:gd name="T9" fmla="*/ 359 h 27"/>
                <a:gd name="T10" fmla="*/ 1829721 w 107"/>
                <a:gd name="T11" fmla="*/ 377 h 27"/>
                <a:gd name="T12" fmla="*/ 2374059 w 107"/>
                <a:gd name="T13" fmla="*/ 359 h 27"/>
                <a:gd name="T14" fmla="*/ 2899460 w 107"/>
                <a:gd name="T15" fmla="*/ 355 h 27"/>
                <a:gd name="T16" fmla="*/ 3361858 w 107"/>
                <a:gd name="T17" fmla="*/ 273 h 27"/>
                <a:gd name="T18" fmla="*/ 3649694 w 107"/>
                <a:gd name="T19" fmla="*/ 79 h 27"/>
                <a:gd name="T20" fmla="*/ 3223782 w 107"/>
                <a:gd name="T21" fmla="*/ 0 h 27"/>
                <a:gd name="T22" fmla="*/ 3107351 w 107"/>
                <a:gd name="T23" fmla="*/ 3 h 27"/>
                <a:gd name="T24" fmla="*/ 2796262 w 107"/>
                <a:gd name="T25" fmla="*/ 91 h 27"/>
                <a:gd name="T26" fmla="*/ 2374059 w 107"/>
                <a:gd name="T27" fmla="*/ 119 h 27"/>
                <a:gd name="T28" fmla="*/ 1829721 w 107"/>
                <a:gd name="T29" fmla="*/ 104 h 27"/>
                <a:gd name="T30" fmla="*/ 1274250 w 107"/>
                <a:gd name="T31" fmla="*/ 119 h 27"/>
                <a:gd name="T32" fmla="*/ 738470 w 107"/>
                <a:gd name="T33" fmla="*/ 137 h 27"/>
                <a:gd name="T34" fmla="*/ 316149 w 107"/>
                <a:gd name="T35" fmla="*/ 207 h 27"/>
                <a:gd name="T36" fmla="*/ 0 w 107"/>
                <a:gd name="T37" fmla="*/ 377 h 27"/>
                <a:gd name="T38" fmla="*/ 448956 w 107"/>
                <a:gd name="T39" fmla="*/ 473 h 2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7"/>
                <a:gd name="T61" fmla="*/ 0 h 27"/>
                <a:gd name="T62" fmla="*/ 107 w 107"/>
                <a:gd name="T63" fmla="*/ 27 h 2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7" h="27">
                  <a:moveTo>
                    <a:pt x="13" y="26"/>
                  </a:moveTo>
                  <a:lnTo>
                    <a:pt x="13" y="25"/>
                  </a:lnTo>
                  <a:lnTo>
                    <a:pt x="16" y="23"/>
                  </a:lnTo>
                  <a:lnTo>
                    <a:pt x="24" y="21"/>
                  </a:lnTo>
                  <a:lnTo>
                    <a:pt x="37" y="20"/>
                  </a:lnTo>
                  <a:lnTo>
                    <a:pt x="53" y="21"/>
                  </a:lnTo>
                  <a:lnTo>
                    <a:pt x="69" y="20"/>
                  </a:lnTo>
                  <a:lnTo>
                    <a:pt x="84" y="19"/>
                  </a:lnTo>
                  <a:lnTo>
                    <a:pt x="97" y="15"/>
                  </a:lnTo>
                  <a:lnTo>
                    <a:pt x="106" y="4"/>
                  </a:lnTo>
                  <a:lnTo>
                    <a:pt x="93" y="0"/>
                  </a:lnTo>
                  <a:lnTo>
                    <a:pt x="90" y="3"/>
                  </a:lnTo>
                  <a:lnTo>
                    <a:pt x="81" y="5"/>
                  </a:lnTo>
                  <a:lnTo>
                    <a:pt x="69" y="7"/>
                  </a:lnTo>
                  <a:lnTo>
                    <a:pt x="53" y="6"/>
                  </a:lnTo>
                  <a:lnTo>
                    <a:pt x="37" y="7"/>
                  </a:lnTo>
                  <a:lnTo>
                    <a:pt x="21" y="8"/>
                  </a:lnTo>
                  <a:lnTo>
                    <a:pt x="9" y="11"/>
                  </a:lnTo>
                  <a:lnTo>
                    <a:pt x="0" y="21"/>
                  </a:lnTo>
                  <a:lnTo>
                    <a:pt x="13" y="2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2" name="Freeform 181">
              <a:extLst>
                <a:ext uri="{FF2B5EF4-FFF2-40B4-BE49-F238E27FC236}">
                  <a16:creationId xmlns:a16="http://schemas.microsoft.com/office/drawing/2014/main" id="{2EC12911-5E91-2D19-27EE-7129FD3ACFB0}"/>
                </a:ext>
              </a:extLst>
            </p:cNvPr>
            <p:cNvSpPr>
              <a:spLocks/>
            </p:cNvSpPr>
            <p:nvPr/>
          </p:nvSpPr>
          <p:spPr bwMode="auto">
            <a:xfrm>
              <a:off x="2884" y="2414"/>
              <a:ext cx="131" cy="78"/>
            </a:xfrm>
            <a:custGeom>
              <a:avLst/>
              <a:gdLst>
                <a:gd name="T0" fmla="*/ 2480706 w 80"/>
                <a:gd name="T1" fmla="*/ 1202 h 68"/>
                <a:gd name="T2" fmla="*/ 2480706 w 80"/>
                <a:gd name="T3" fmla="*/ 1176 h 68"/>
                <a:gd name="T4" fmla="*/ 2415525 w 80"/>
                <a:gd name="T5" fmla="*/ 958 h 68"/>
                <a:gd name="T6" fmla="*/ 2134954 w 80"/>
                <a:gd name="T7" fmla="*/ 777 h 68"/>
                <a:gd name="T8" fmla="*/ 1785199 w 80"/>
                <a:gd name="T9" fmla="*/ 635 h 68"/>
                <a:gd name="T10" fmla="*/ 1346184 w 80"/>
                <a:gd name="T11" fmla="*/ 484 h 68"/>
                <a:gd name="T12" fmla="*/ 900843 w 80"/>
                <a:gd name="T13" fmla="*/ 341 h 68"/>
                <a:gd name="T14" fmla="*/ 603561 w 80"/>
                <a:gd name="T15" fmla="*/ 236 h 68"/>
                <a:gd name="T16" fmla="*/ 445495 w 80"/>
                <a:gd name="T17" fmla="*/ 119 h 68"/>
                <a:gd name="T18" fmla="*/ 402943 w 80"/>
                <a:gd name="T19" fmla="*/ 91 h 68"/>
                <a:gd name="T20" fmla="*/ 0 w 80"/>
                <a:gd name="T21" fmla="*/ 0 h 68"/>
                <a:gd name="T22" fmla="*/ 56043 w 80"/>
                <a:gd name="T23" fmla="*/ 236 h 68"/>
                <a:gd name="T24" fmla="*/ 306592 w 80"/>
                <a:gd name="T25" fmla="*/ 410 h 68"/>
                <a:gd name="T26" fmla="*/ 729498 w 80"/>
                <a:gd name="T27" fmla="*/ 555 h 68"/>
                <a:gd name="T28" fmla="*/ 1139327 w 80"/>
                <a:gd name="T29" fmla="*/ 709 h 68"/>
                <a:gd name="T30" fmla="*/ 1538762 w 80"/>
                <a:gd name="T31" fmla="*/ 838 h 68"/>
                <a:gd name="T32" fmla="*/ 1865648 w 80"/>
                <a:gd name="T33" fmla="*/ 961 h 68"/>
                <a:gd name="T34" fmla="*/ 2045165 w 80"/>
                <a:gd name="T35" fmla="*/ 1070 h 68"/>
                <a:gd name="T36" fmla="*/ 2079299 w 80"/>
                <a:gd name="T37" fmla="*/ 1102 h 68"/>
                <a:gd name="T38" fmla="*/ 2480706 w 80"/>
                <a:gd name="T39" fmla="*/ 1202 h 6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0"/>
                <a:gd name="T61" fmla="*/ 0 h 68"/>
                <a:gd name="T62" fmla="*/ 80 w 80"/>
                <a:gd name="T63" fmla="*/ 68 h 6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0" h="68">
                  <a:moveTo>
                    <a:pt x="79" y="67"/>
                  </a:moveTo>
                  <a:lnTo>
                    <a:pt x="79" y="66"/>
                  </a:lnTo>
                  <a:lnTo>
                    <a:pt x="77" y="53"/>
                  </a:lnTo>
                  <a:lnTo>
                    <a:pt x="68" y="44"/>
                  </a:lnTo>
                  <a:lnTo>
                    <a:pt x="57" y="35"/>
                  </a:lnTo>
                  <a:lnTo>
                    <a:pt x="43" y="27"/>
                  </a:lnTo>
                  <a:lnTo>
                    <a:pt x="29" y="19"/>
                  </a:lnTo>
                  <a:lnTo>
                    <a:pt x="19" y="13"/>
                  </a:lnTo>
                  <a:lnTo>
                    <a:pt x="14" y="7"/>
                  </a:lnTo>
                  <a:lnTo>
                    <a:pt x="13" y="5"/>
                  </a:lnTo>
                  <a:lnTo>
                    <a:pt x="0" y="0"/>
                  </a:lnTo>
                  <a:lnTo>
                    <a:pt x="2" y="13"/>
                  </a:lnTo>
                  <a:lnTo>
                    <a:pt x="10" y="23"/>
                  </a:lnTo>
                  <a:lnTo>
                    <a:pt x="23" y="31"/>
                  </a:lnTo>
                  <a:lnTo>
                    <a:pt x="36" y="39"/>
                  </a:lnTo>
                  <a:lnTo>
                    <a:pt x="49" y="47"/>
                  </a:lnTo>
                  <a:lnTo>
                    <a:pt x="59" y="54"/>
                  </a:lnTo>
                  <a:lnTo>
                    <a:pt x="65" y="60"/>
                  </a:lnTo>
                  <a:lnTo>
                    <a:pt x="66" y="62"/>
                  </a:lnTo>
                  <a:lnTo>
                    <a:pt x="79" y="6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3" name="Freeform 182">
              <a:extLst>
                <a:ext uri="{FF2B5EF4-FFF2-40B4-BE49-F238E27FC236}">
                  <a16:creationId xmlns:a16="http://schemas.microsoft.com/office/drawing/2014/main" id="{E4E1C95D-87E7-1464-9C81-A8783165ABA5}"/>
                </a:ext>
              </a:extLst>
            </p:cNvPr>
            <p:cNvSpPr>
              <a:spLocks/>
            </p:cNvSpPr>
            <p:nvPr/>
          </p:nvSpPr>
          <p:spPr bwMode="auto">
            <a:xfrm>
              <a:off x="2839" y="2486"/>
              <a:ext cx="176" cy="36"/>
            </a:xfrm>
            <a:custGeom>
              <a:avLst/>
              <a:gdLst>
                <a:gd name="T0" fmla="*/ 448956 w 107"/>
                <a:gd name="T1" fmla="*/ 322 h 32"/>
                <a:gd name="T2" fmla="*/ 520021 w 107"/>
                <a:gd name="T3" fmla="*/ 293 h 32"/>
                <a:gd name="T4" fmla="*/ 818282 w 107"/>
                <a:gd name="T5" fmla="*/ 285 h 32"/>
                <a:gd name="T6" fmla="*/ 1274250 w 107"/>
                <a:gd name="T7" fmla="*/ 254 h 32"/>
                <a:gd name="T8" fmla="*/ 1803036 w 107"/>
                <a:gd name="T9" fmla="*/ 254 h 32"/>
                <a:gd name="T10" fmla="*/ 2374059 w 107"/>
                <a:gd name="T11" fmla="*/ 231 h 32"/>
                <a:gd name="T12" fmla="*/ 2899460 w 107"/>
                <a:gd name="T13" fmla="*/ 214 h 32"/>
                <a:gd name="T14" fmla="*/ 3361858 w 107"/>
                <a:gd name="T15" fmla="*/ 179 h 32"/>
                <a:gd name="T16" fmla="*/ 3649694 w 107"/>
                <a:gd name="T17" fmla="*/ 68 h 32"/>
                <a:gd name="T18" fmla="*/ 3223782 w 107"/>
                <a:gd name="T19" fmla="*/ 0 h 32"/>
                <a:gd name="T20" fmla="*/ 3107351 w 107"/>
                <a:gd name="T21" fmla="*/ 3 h 32"/>
                <a:gd name="T22" fmla="*/ 2796262 w 107"/>
                <a:gd name="T23" fmla="*/ 77 h 32"/>
                <a:gd name="T24" fmla="*/ 2314237 w 107"/>
                <a:gd name="T25" fmla="*/ 98 h 32"/>
                <a:gd name="T26" fmla="*/ 1803036 w 107"/>
                <a:gd name="T27" fmla="*/ 98 h 32"/>
                <a:gd name="T28" fmla="*/ 1214680 w 107"/>
                <a:gd name="T29" fmla="*/ 98 h 32"/>
                <a:gd name="T30" fmla="*/ 738470 w 107"/>
                <a:gd name="T31" fmla="*/ 111 h 32"/>
                <a:gd name="T32" fmla="*/ 316149 w 107"/>
                <a:gd name="T33" fmla="*/ 159 h 32"/>
                <a:gd name="T34" fmla="*/ 0 w 107"/>
                <a:gd name="T35" fmla="*/ 285 h 32"/>
                <a:gd name="T36" fmla="*/ 0 w 107"/>
                <a:gd name="T37" fmla="*/ 330 h 32"/>
                <a:gd name="T38" fmla="*/ 154972 w 107"/>
                <a:gd name="T39" fmla="*/ 368 h 32"/>
                <a:gd name="T40" fmla="*/ 316149 w 107"/>
                <a:gd name="T41" fmla="*/ 362 h 32"/>
                <a:gd name="T42" fmla="*/ 448956 w 107"/>
                <a:gd name="T43" fmla="*/ 322 h 3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7"/>
                <a:gd name="T67" fmla="*/ 0 h 32"/>
                <a:gd name="T68" fmla="*/ 107 w 107"/>
                <a:gd name="T69" fmla="*/ 32 h 3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7" h="32">
                  <a:moveTo>
                    <a:pt x="13" y="27"/>
                  </a:moveTo>
                  <a:lnTo>
                    <a:pt x="15" y="25"/>
                  </a:lnTo>
                  <a:lnTo>
                    <a:pt x="24" y="23"/>
                  </a:lnTo>
                  <a:lnTo>
                    <a:pt x="37" y="21"/>
                  </a:lnTo>
                  <a:lnTo>
                    <a:pt x="52" y="21"/>
                  </a:lnTo>
                  <a:lnTo>
                    <a:pt x="69" y="20"/>
                  </a:lnTo>
                  <a:lnTo>
                    <a:pt x="84" y="18"/>
                  </a:lnTo>
                  <a:lnTo>
                    <a:pt x="97" y="15"/>
                  </a:lnTo>
                  <a:lnTo>
                    <a:pt x="106" y="5"/>
                  </a:lnTo>
                  <a:lnTo>
                    <a:pt x="93" y="0"/>
                  </a:lnTo>
                  <a:lnTo>
                    <a:pt x="90" y="3"/>
                  </a:lnTo>
                  <a:lnTo>
                    <a:pt x="81" y="6"/>
                  </a:lnTo>
                  <a:lnTo>
                    <a:pt x="67" y="8"/>
                  </a:lnTo>
                  <a:lnTo>
                    <a:pt x="52" y="8"/>
                  </a:lnTo>
                  <a:lnTo>
                    <a:pt x="35" y="8"/>
                  </a:lnTo>
                  <a:lnTo>
                    <a:pt x="21" y="10"/>
                  </a:lnTo>
                  <a:lnTo>
                    <a:pt x="9" y="13"/>
                  </a:lnTo>
                  <a:lnTo>
                    <a:pt x="0" y="23"/>
                  </a:lnTo>
                  <a:lnTo>
                    <a:pt x="0" y="28"/>
                  </a:lnTo>
                  <a:lnTo>
                    <a:pt x="4" y="31"/>
                  </a:lnTo>
                  <a:lnTo>
                    <a:pt x="9" y="30"/>
                  </a:lnTo>
                  <a:lnTo>
                    <a:pt x="13" y="2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4" name="Freeform 183">
              <a:extLst>
                <a:ext uri="{FF2B5EF4-FFF2-40B4-BE49-F238E27FC236}">
                  <a16:creationId xmlns:a16="http://schemas.microsoft.com/office/drawing/2014/main" id="{B29856C5-340F-DF22-3E4F-11FB0DEC4260}"/>
                </a:ext>
              </a:extLst>
            </p:cNvPr>
            <p:cNvSpPr>
              <a:spLocks/>
            </p:cNvSpPr>
            <p:nvPr/>
          </p:nvSpPr>
          <p:spPr bwMode="auto">
            <a:xfrm>
              <a:off x="2839" y="2511"/>
              <a:ext cx="24" cy="11"/>
            </a:xfrm>
            <a:custGeom>
              <a:avLst/>
              <a:gdLst>
                <a:gd name="T0" fmla="*/ 1057803 w 14"/>
                <a:gd name="T1" fmla="*/ 264 h 9"/>
                <a:gd name="T2" fmla="*/ 477204 w 14"/>
                <a:gd name="T3" fmla="*/ 2 h 9"/>
                <a:gd name="T4" fmla="*/ 0 w 14"/>
                <a:gd name="T5" fmla="*/ 0 h 9"/>
                <a:gd name="T6" fmla="*/ 0 w 14"/>
                <a:gd name="T7" fmla="*/ 323 h 9"/>
                <a:gd name="T8" fmla="*/ 344592 w 14"/>
                <a:gd name="T9" fmla="*/ 543 h 9"/>
                <a:gd name="T10" fmla="*/ 732298 w 14"/>
                <a:gd name="T11" fmla="*/ 483 h 9"/>
                <a:gd name="T12" fmla="*/ 1057803 w 14"/>
                <a:gd name="T13" fmla="*/ 264 h 9"/>
                <a:gd name="T14" fmla="*/ 0 60000 65536"/>
                <a:gd name="T15" fmla="*/ 0 60000 65536"/>
                <a:gd name="T16" fmla="*/ 0 60000 65536"/>
                <a:gd name="T17" fmla="*/ 0 60000 65536"/>
                <a:gd name="T18" fmla="*/ 0 60000 65536"/>
                <a:gd name="T19" fmla="*/ 0 60000 65536"/>
                <a:gd name="T20" fmla="*/ 0 60000 65536"/>
                <a:gd name="T21" fmla="*/ 0 w 14"/>
                <a:gd name="T22" fmla="*/ 0 h 9"/>
                <a:gd name="T23" fmla="*/ 14 w 1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9">
                  <a:moveTo>
                    <a:pt x="13" y="4"/>
                  </a:moveTo>
                  <a:lnTo>
                    <a:pt x="6" y="2"/>
                  </a:lnTo>
                  <a:lnTo>
                    <a:pt x="0" y="0"/>
                  </a:lnTo>
                  <a:lnTo>
                    <a:pt x="0" y="5"/>
                  </a:lnTo>
                  <a:lnTo>
                    <a:pt x="4" y="8"/>
                  </a:lnTo>
                  <a:lnTo>
                    <a:pt x="9" y="7"/>
                  </a:lnTo>
                  <a:lnTo>
                    <a:pt x="1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5" name="Freeform 184">
              <a:extLst>
                <a:ext uri="{FF2B5EF4-FFF2-40B4-BE49-F238E27FC236}">
                  <a16:creationId xmlns:a16="http://schemas.microsoft.com/office/drawing/2014/main" id="{17121438-799C-E836-EF14-19101A26077A}"/>
                </a:ext>
              </a:extLst>
            </p:cNvPr>
            <p:cNvSpPr>
              <a:spLocks/>
            </p:cNvSpPr>
            <p:nvPr/>
          </p:nvSpPr>
          <p:spPr bwMode="auto">
            <a:xfrm>
              <a:off x="2839" y="2511"/>
              <a:ext cx="133" cy="77"/>
            </a:xfrm>
            <a:custGeom>
              <a:avLst/>
              <a:gdLst>
                <a:gd name="T0" fmla="*/ 3407716 w 80"/>
                <a:gd name="T1" fmla="*/ 1675 h 66"/>
                <a:gd name="T2" fmla="*/ 3335106 w 80"/>
                <a:gd name="T3" fmla="*/ 1341 h 66"/>
                <a:gd name="T4" fmla="*/ 2945860 w 80"/>
                <a:gd name="T5" fmla="*/ 1085 h 66"/>
                <a:gd name="T6" fmla="*/ 2427302 w 80"/>
                <a:gd name="T7" fmla="*/ 904 h 66"/>
                <a:gd name="T8" fmla="*/ 1818905 w 80"/>
                <a:gd name="T9" fmla="*/ 677 h 66"/>
                <a:gd name="T10" fmla="*/ 1296454 w 80"/>
                <a:gd name="T11" fmla="*/ 488 h 66"/>
                <a:gd name="T12" fmla="*/ 853740 w 80"/>
                <a:gd name="T13" fmla="*/ 307 h 66"/>
                <a:gd name="T14" fmla="*/ 596282 w 80"/>
                <a:gd name="T15" fmla="*/ 141 h 66"/>
                <a:gd name="T16" fmla="*/ 581923 w 80"/>
                <a:gd name="T17" fmla="*/ 120 h 66"/>
                <a:gd name="T18" fmla="*/ 0 w 80"/>
                <a:gd name="T19" fmla="*/ 0 h 66"/>
                <a:gd name="T20" fmla="*/ 76176 w 80"/>
                <a:gd name="T21" fmla="*/ 315 h 66"/>
                <a:gd name="T22" fmla="*/ 469066 w 80"/>
                <a:gd name="T23" fmla="*/ 569 h 66"/>
                <a:gd name="T24" fmla="*/ 967447 w 80"/>
                <a:gd name="T25" fmla="*/ 790 h 66"/>
                <a:gd name="T26" fmla="*/ 1562494 w 80"/>
                <a:gd name="T27" fmla="*/ 985 h 66"/>
                <a:gd name="T28" fmla="*/ 2155355 w 80"/>
                <a:gd name="T29" fmla="*/ 1177 h 66"/>
                <a:gd name="T30" fmla="*/ 2553944 w 80"/>
                <a:gd name="T31" fmla="*/ 1344 h 66"/>
                <a:gd name="T32" fmla="*/ 2812677 w 80"/>
                <a:gd name="T33" fmla="*/ 1496 h 66"/>
                <a:gd name="T34" fmla="*/ 2862423 w 80"/>
                <a:gd name="T35" fmla="*/ 1565 h 66"/>
                <a:gd name="T36" fmla="*/ 3407716 w 80"/>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3"/>
                  </a:lnTo>
                  <a:lnTo>
                    <a:pt x="56" y="35"/>
                  </a:lnTo>
                  <a:lnTo>
                    <a:pt x="42" y="27"/>
                  </a:lnTo>
                  <a:lnTo>
                    <a:pt x="30" y="19"/>
                  </a:lnTo>
                  <a:lnTo>
                    <a:pt x="20" y="12"/>
                  </a:lnTo>
                  <a:lnTo>
                    <a:pt x="14" y="6"/>
                  </a:lnTo>
                  <a:lnTo>
                    <a:pt x="13" y="4"/>
                  </a:lnTo>
                  <a:lnTo>
                    <a:pt x="0" y="0"/>
                  </a:lnTo>
                  <a:lnTo>
                    <a:pt x="2" y="13"/>
                  </a:lnTo>
                  <a:lnTo>
                    <a:pt x="11" y="22"/>
                  </a:lnTo>
                  <a:lnTo>
                    <a:pt x="22" y="31"/>
                  </a:lnTo>
                  <a:lnTo>
                    <a:pt x="36" y="39"/>
                  </a:lnTo>
                  <a:lnTo>
                    <a:pt x="50" y="46"/>
                  </a:lnTo>
                  <a:lnTo>
                    <a:pt x="59" y="53"/>
                  </a:lnTo>
                  <a:lnTo>
                    <a:pt x="65" y="59"/>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6" name="Freeform 185">
              <a:extLst>
                <a:ext uri="{FF2B5EF4-FFF2-40B4-BE49-F238E27FC236}">
                  <a16:creationId xmlns:a16="http://schemas.microsoft.com/office/drawing/2014/main" id="{764077D7-233A-C8FB-E683-6967E3268ECB}"/>
                </a:ext>
              </a:extLst>
            </p:cNvPr>
            <p:cNvSpPr>
              <a:spLocks/>
            </p:cNvSpPr>
            <p:nvPr/>
          </p:nvSpPr>
          <p:spPr bwMode="auto">
            <a:xfrm>
              <a:off x="2816" y="2605"/>
              <a:ext cx="176" cy="30"/>
            </a:xfrm>
            <a:custGeom>
              <a:avLst/>
              <a:gdLst>
                <a:gd name="T0" fmla="*/ 448956 w 107"/>
                <a:gd name="T1" fmla="*/ 496 h 26"/>
                <a:gd name="T2" fmla="*/ 551648 w 107"/>
                <a:gd name="T3" fmla="*/ 430 h 26"/>
                <a:gd name="T4" fmla="*/ 855362 w 107"/>
                <a:gd name="T5" fmla="*/ 404 h 26"/>
                <a:gd name="T6" fmla="*/ 1274250 w 107"/>
                <a:gd name="T7" fmla="*/ 373 h 26"/>
                <a:gd name="T8" fmla="*/ 1829721 w 107"/>
                <a:gd name="T9" fmla="*/ 373 h 26"/>
                <a:gd name="T10" fmla="*/ 2374059 w 107"/>
                <a:gd name="T11" fmla="*/ 372 h 26"/>
                <a:gd name="T12" fmla="*/ 2899460 w 107"/>
                <a:gd name="T13" fmla="*/ 350 h 26"/>
                <a:gd name="T14" fmla="*/ 3361858 w 107"/>
                <a:gd name="T15" fmla="*/ 279 h 26"/>
                <a:gd name="T16" fmla="*/ 3649694 w 107"/>
                <a:gd name="T17" fmla="*/ 89 h 26"/>
                <a:gd name="T18" fmla="*/ 3223782 w 107"/>
                <a:gd name="T19" fmla="*/ 0 h 26"/>
                <a:gd name="T20" fmla="*/ 3107351 w 107"/>
                <a:gd name="T21" fmla="*/ 2 h 26"/>
                <a:gd name="T22" fmla="*/ 2833329 w 107"/>
                <a:gd name="T23" fmla="*/ 89 h 26"/>
                <a:gd name="T24" fmla="*/ 2374059 w 107"/>
                <a:gd name="T25" fmla="*/ 103 h 26"/>
                <a:gd name="T26" fmla="*/ 1829721 w 107"/>
                <a:gd name="T27" fmla="*/ 103 h 26"/>
                <a:gd name="T28" fmla="*/ 1274250 w 107"/>
                <a:gd name="T29" fmla="*/ 119 h 26"/>
                <a:gd name="T30" fmla="*/ 755427 w 107"/>
                <a:gd name="T31" fmla="*/ 137 h 26"/>
                <a:gd name="T32" fmla="*/ 316149 w 107"/>
                <a:gd name="T33" fmla="*/ 228 h 26"/>
                <a:gd name="T34" fmla="*/ 0 w 107"/>
                <a:gd name="T35" fmla="*/ 429 h 26"/>
                <a:gd name="T36" fmla="*/ 448956 w 107"/>
                <a:gd name="T37" fmla="*/ 496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6" y="22"/>
                  </a:lnTo>
                  <a:lnTo>
                    <a:pt x="25" y="20"/>
                  </a:lnTo>
                  <a:lnTo>
                    <a:pt x="37" y="19"/>
                  </a:lnTo>
                  <a:lnTo>
                    <a:pt x="53" y="19"/>
                  </a:lnTo>
                  <a:lnTo>
                    <a:pt x="69" y="18"/>
                  </a:lnTo>
                  <a:lnTo>
                    <a:pt x="84" y="17"/>
                  </a:lnTo>
                  <a:lnTo>
                    <a:pt x="97" y="14"/>
                  </a:lnTo>
                  <a:lnTo>
                    <a:pt x="106" y="4"/>
                  </a:lnTo>
                  <a:lnTo>
                    <a:pt x="93" y="0"/>
                  </a:lnTo>
                  <a:lnTo>
                    <a:pt x="90" y="2"/>
                  </a:lnTo>
                  <a:lnTo>
                    <a:pt x="82" y="4"/>
                  </a:lnTo>
                  <a:lnTo>
                    <a:pt x="69" y="5"/>
                  </a:lnTo>
                  <a:lnTo>
                    <a:pt x="53" y="5"/>
                  </a:lnTo>
                  <a:lnTo>
                    <a:pt x="37" y="6"/>
                  </a:lnTo>
                  <a:lnTo>
                    <a:pt x="22" y="7"/>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7" name="Freeform 186">
              <a:extLst>
                <a:ext uri="{FF2B5EF4-FFF2-40B4-BE49-F238E27FC236}">
                  <a16:creationId xmlns:a16="http://schemas.microsoft.com/office/drawing/2014/main" id="{D4BBD7E9-AEFD-040E-E189-64B4829DC382}"/>
                </a:ext>
              </a:extLst>
            </p:cNvPr>
            <p:cNvSpPr>
              <a:spLocks/>
            </p:cNvSpPr>
            <p:nvPr/>
          </p:nvSpPr>
          <p:spPr bwMode="auto">
            <a:xfrm>
              <a:off x="2816" y="2629"/>
              <a:ext cx="128" cy="76"/>
            </a:xfrm>
            <a:custGeom>
              <a:avLst/>
              <a:gdLst>
                <a:gd name="T0" fmla="*/ 1957454 w 79"/>
                <a:gd name="T1" fmla="*/ 1244 h 66"/>
                <a:gd name="T2" fmla="*/ 1957454 w 79"/>
                <a:gd name="T3" fmla="*/ 1246 h 66"/>
                <a:gd name="T4" fmla="*/ 1908755 w 79"/>
                <a:gd name="T5" fmla="*/ 1001 h 66"/>
                <a:gd name="T6" fmla="*/ 1698912 w 79"/>
                <a:gd name="T7" fmla="*/ 814 h 66"/>
                <a:gd name="T8" fmla="*/ 1410071 w 79"/>
                <a:gd name="T9" fmla="*/ 674 h 66"/>
                <a:gd name="T10" fmla="*/ 1054367 w 79"/>
                <a:gd name="T11" fmla="*/ 510 h 66"/>
                <a:gd name="T12" fmla="*/ 756250 w 79"/>
                <a:gd name="T13" fmla="*/ 371 h 66"/>
                <a:gd name="T14" fmla="*/ 478052 w 79"/>
                <a:gd name="T15" fmla="*/ 236 h 66"/>
                <a:gd name="T16" fmla="*/ 354140 w 79"/>
                <a:gd name="T17" fmla="*/ 117 h 66"/>
                <a:gd name="T18" fmla="*/ 324684 w 79"/>
                <a:gd name="T19" fmla="*/ 89 h 66"/>
                <a:gd name="T20" fmla="*/ 0 w 79"/>
                <a:gd name="T21" fmla="*/ 0 h 66"/>
                <a:gd name="T22" fmla="*/ 47112 w 79"/>
                <a:gd name="T23" fmla="*/ 251 h 66"/>
                <a:gd name="T24" fmla="*/ 247881 w 79"/>
                <a:gd name="T25" fmla="*/ 441 h 66"/>
                <a:gd name="T26" fmla="*/ 555092 w 79"/>
                <a:gd name="T27" fmla="*/ 587 h 66"/>
                <a:gd name="T28" fmla="*/ 899390 w 79"/>
                <a:gd name="T29" fmla="*/ 752 h 66"/>
                <a:gd name="T30" fmla="*/ 1208116 w 79"/>
                <a:gd name="T31" fmla="*/ 894 h 66"/>
                <a:gd name="T32" fmla="*/ 1457239 w 79"/>
                <a:gd name="T33" fmla="*/ 1029 h 66"/>
                <a:gd name="T34" fmla="*/ 1622345 w 79"/>
                <a:gd name="T35" fmla="*/ 1148 h 66"/>
                <a:gd name="T36" fmla="*/ 1630312 w 79"/>
                <a:gd name="T37" fmla="*/ 1153 h 66"/>
                <a:gd name="T38" fmla="*/ 1630312 w 79"/>
                <a:gd name="T39" fmla="*/ 1185 h 66"/>
                <a:gd name="T40" fmla="*/ 1957454 w 79"/>
                <a:gd name="T41" fmla="*/ 1244 h 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9"/>
                <a:gd name="T64" fmla="*/ 0 h 66"/>
                <a:gd name="T65" fmla="*/ 79 w 79"/>
                <a:gd name="T66" fmla="*/ 66 h 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9" h="66">
                  <a:moveTo>
                    <a:pt x="78" y="64"/>
                  </a:moveTo>
                  <a:lnTo>
                    <a:pt x="78" y="65"/>
                  </a:lnTo>
                  <a:lnTo>
                    <a:pt x="76" y="52"/>
                  </a:lnTo>
                  <a:lnTo>
                    <a:pt x="67" y="42"/>
                  </a:lnTo>
                  <a:lnTo>
                    <a:pt x="56" y="35"/>
                  </a:lnTo>
                  <a:lnTo>
                    <a:pt x="42" y="27"/>
                  </a:lnTo>
                  <a:lnTo>
                    <a:pt x="30" y="19"/>
                  </a:lnTo>
                  <a:lnTo>
                    <a:pt x="19" y="12"/>
                  </a:lnTo>
                  <a:lnTo>
                    <a:pt x="14" y="6"/>
                  </a:lnTo>
                  <a:lnTo>
                    <a:pt x="13" y="4"/>
                  </a:lnTo>
                  <a:lnTo>
                    <a:pt x="0" y="0"/>
                  </a:lnTo>
                  <a:lnTo>
                    <a:pt x="2" y="13"/>
                  </a:lnTo>
                  <a:lnTo>
                    <a:pt x="10" y="23"/>
                  </a:lnTo>
                  <a:lnTo>
                    <a:pt x="22" y="31"/>
                  </a:lnTo>
                  <a:lnTo>
                    <a:pt x="36" y="38"/>
                  </a:lnTo>
                  <a:lnTo>
                    <a:pt x="48" y="46"/>
                  </a:lnTo>
                  <a:lnTo>
                    <a:pt x="58" y="53"/>
                  </a:lnTo>
                  <a:lnTo>
                    <a:pt x="64" y="59"/>
                  </a:lnTo>
                  <a:lnTo>
                    <a:pt x="65" y="60"/>
                  </a:lnTo>
                  <a:lnTo>
                    <a:pt x="65" y="61"/>
                  </a:lnTo>
                  <a:lnTo>
                    <a:pt x="78" y="6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8" name="Freeform 187">
              <a:extLst>
                <a:ext uri="{FF2B5EF4-FFF2-40B4-BE49-F238E27FC236}">
                  <a16:creationId xmlns:a16="http://schemas.microsoft.com/office/drawing/2014/main" id="{3A8CC80B-43CA-46FD-1D1F-776CA7FCA18E}"/>
                </a:ext>
              </a:extLst>
            </p:cNvPr>
            <p:cNvSpPr>
              <a:spLocks/>
            </p:cNvSpPr>
            <p:nvPr/>
          </p:nvSpPr>
          <p:spPr bwMode="auto">
            <a:xfrm>
              <a:off x="2771" y="2699"/>
              <a:ext cx="173" cy="29"/>
            </a:xfrm>
            <a:custGeom>
              <a:avLst/>
              <a:gdLst>
                <a:gd name="T0" fmla="*/ 373313 w 106"/>
                <a:gd name="T1" fmla="*/ 457 h 25"/>
                <a:gd name="T2" fmla="*/ 373313 w 106"/>
                <a:gd name="T3" fmla="*/ 455 h 25"/>
                <a:gd name="T4" fmla="*/ 430014 w 106"/>
                <a:gd name="T5" fmla="*/ 455 h 25"/>
                <a:gd name="T6" fmla="*/ 681423 w 106"/>
                <a:gd name="T7" fmla="*/ 394 h 25"/>
                <a:gd name="T8" fmla="*/ 1059028 w 106"/>
                <a:gd name="T9" fmla="*/ 394 h 25"/>
                <a:gd name="T10" fmla="*/ 1530828 w 106"/>
                <a:gd name="T11" fmla="*/ 394 h 25"/>
                <a:gd name="T12" fmla="*/ 1989524 w 106"/>
                <a:gd name="T13" fmla="*/ 394 h 25"/>
                <a:gd name="T14" fmla="*/ 2421995 w 106"/>
                <a:gd name="T15" fmla="*/ 392 h 25"/>
                <a:gd name="T16" fmla="*/ 2820902 w 106"/>
                <a:gd name="T17" fmla="*/ 291 h 25"/>
                <a:gd name="T18" fmla="*/ 3075039 w 106"/>
                <a:gd name="T19" fmla="*/ 3 h 25"/>
                <a:gd name="T20" fmla="*/ 2702097 w 106"/>
                <a:gd name="T21" fmla="*/ 0 h 25"/>
                <a:gd name="T22" fmla="*/ 2613447 w 106"/>
                <a:gd name="T23" fmla="*/ 1 h 25"/>
                <a:gd name="T24" fmla="*/ 2370041 w 106"/>
                <a:gd name="T25" fmla="*/ 101 h 25"/>
                <a:gd name="T26" fmla="*/ 1989524 w 106"/>
                <a:gd name="T27" fmla="*/ 101 h 25"/>
                <a:gd name="T28" fmla="*/ 1530828 w 106"/>
                <a:gd name="T29" fmla="*/ 101 h 25"/>
                <a:gd name="T30" fmla="*/ 1059028 w 106"/>
                <a:gd name="T31" fmla="*/ 101 h 25"/>
                <a:gd name="T32" fmla="*/ 648884 w 106"/>
                <a:gd name="T33" fmla="*/ 117 h 25"/>
                <a:gd name="T34" fmla="*/ 263477 w 106"/>
                <a:gd name="T35" fmla="*/ 158 h 25"/>
                <a:gd name="T36" fmla="*/ 0 w 106"/>
                <a:gd name="T37" fmla="*/ 384 h 25"/>
                <a:gd name="T38" fmla="*/ 32238 w 106"/>
                <a:gd name="T39" fmla="*/ 331 h 25"/>
                <a:gd name="T40" fmla="*/ 0 w 106"/>
                <a:gd name="T41" fmla="*/ 384 h 25"/>
                <a:gd name="T42" fmla="*/ 32238 w 106"/>
                <a:gd name="T43" fmla="*/ 457 h 25"/>
                <a:gd name="T44" fmla="*/ 140150 w 106"/>
                <a:gd name="T45" fmla="*/ 530 h 25"/>
                <a:gd name="T46" fmla="*/ 285758 w 106"/>
                <a:gd name="T47" fmla="*/ 530 h 25"/>
                <a:gd name="T48" fmla="*/ 373313 w 106"/>
                <a:gd name="T49" fmla="*/ 455 h 25"/>
                <a:gd name="T50" fmla="*/ 373313 w 106"/>
                <a:gd name="T51" fmla="*/ 457 h 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6"/>
                <a:gd name="T79" fmla="*/ 0 h 25"/>
                <a:gd name="T80" fmla="*/ 106 w 106"/>
                <a:gd name="T81" fmla="*/ 25 h 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6" h="25">
                  <a:moveTo>
                    <a:pt x="13" y="21"/>
                  </a:moveTo>
                  <a:lnTo>
                    <a:pt x="13" y="20"/>
                  </a:lnTo>
                  <a:lnTo>
                    <a:pt x="15" y="20"/>
                  </a:lnTo>
                  <a:lnTo>
                    <a:pt x="23" y="18"/>
                  </a:lnTo>
                  <a:lnTo>
                    <a:pt x="36" y="18"/>
                  </a:lnTo>
                  <a:lnTo>
                    <a:pt x="52" y="18"/>
                  </a:lnTo>
                  <a:lnTo>
                    <a:pt x="68" y="18"/>
                  </a:lnTo>
                  <a:lnTo>
                    <a:pt x="83" y="17"/>
                  </a:lnTo>
                  <a:lnTo>
                    <a:pt x="96" y="13"/>
                  </a:lnTo>
                  <a:lnTo>
                    <a:pt x="105" y="3"/>
                  </a:lnTo>
                  <a:lnTo>
                    <a:pt x="92" y="0"/>
                  </a:lnTo>
                  <a:lnTo>
                    <a:pt x="89" y="1"/>
                  </a:lnTo>
                  <a:lnTo>
                    <a:pt x="81" y="4"/>
                  </a:lnTo>
                  <a:lnTo>
                    <a:pt x="68" y="4"/>
                  </a:lnTo>
                  <a:lnTo>
                    <a:pt x="52" y="4"/>
                  </a:lnTo>
                  <a:lnTo>
                    <a:pt x="36" y="4"/>
                  </a:lnTo>
                  <a:lnTo>
                    <a:pt x="22" y="5"/>
                  </a:lnTo>
                  <a:lnTo>
                    <a:pt x="9" y="7"/>
                  </a:lnTo>
                  <a:lnTo>
                    <a:pt x="0" y="16"/>
                  </a:lnTo>
                  <a:lnTo>
                    <a:pt x="1" y="14"/>
                  </a:lnTo>
                  <a:lnTo>
                    <a:pt x="0" y="16"/>
                  </a:lnTo>
                  <a:lnTo>
                    <a:pt x="1" y="21"/>
                  </a:lnTo>
                  <a:lnTo>
                    <a:pt x="5" y="24"/>
                  </a:lnTo>
                  <a:lnTo>
                    <a:pt x="10" y="24"/>
                  </a:lnTo>
                  <a:lnTo>
                    <a:pt x="13" y="20"/>
                  </a:lnTo>
                  <a:lnTo>
                    <a:pt x="13" y="21"/>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9" name="Freeform 188">
              <a:extLst>
                <a:ext uri="{FF2B5EF4-FFF2-40B4-BE49-F238E27FC236}">
                  <a16:creationId xmlns:a16="http://schemas.microsoft.com/office/drawing/2014/main" id="{7A84B016-E8CA-30D8-74C3-938E1A5188A4}"/>
                </a:ext>
              </a:extLst>
            </p:cNvPr>
            <p:cNvSpPr>
              <a:spLocks/>
            </p:cNvSpPr>
            <p:nvPr/>
          </p:nvSpPr>
          <p:spPr bwMode="auto">
            <a:xfrm>
              <a:off x="2768" y="2716"/>
              <a:ext cx="24" cy="14"/>
            </a:xfrm>
            <a:custGeom>
              <a:avLst/>
              <a:gdLst>
                <a:gd name="T0" fmla="*/ 1057803 w 14"/>
                <a:gd name="T1" fmla="*/ 163 h 12"/>
                <a:gd name="T2" fmla="*/ 1012678 w 14"/>
                <a:gd name="T3" fmla="*/ 222 h 12"/>
                <a:gd name="T4" fmla="*/ 1057803 w 14"/>
                <a:gd name="T5" fmla="*/ 163 h 12"/>
                <a:gd name="T6" fmla="*/ 84792 w 14"/>
                <a:gd name="T7" fmla="*/ 0 h 12"/>
                <a:gd name="T8" fmla="*/ 0 w 14"/>
                <a:gd name="T9" fmla="*/ 1 h 12"/>
                <a:gd name="T10" fmla="*/ 0 w 14"/>
                <a:gd name="T11" fmla="*/ 103 h 12"/>
                <a:gd name="T12" fmla="*/ 0 w 14"/>
                <a:gd name="T13" fmla="*/ 1 h 12"/>
                <a:gd name="T14" fmla="*/ 0 w 14"/>
                <a:gd name="T15" fmla="*/ 163 h 12"/>
                <a:gd name="T16" fmla="*/ 344592 w 14"/>
                <a:gd name="T17" fmla="*/ 263 h 12"/>
                <a:gd name="T18" fmla="*/ 668086 w 14"/>
                <a:gd name="T19" fmla="*/ 270 h 12"/>
                <a:gd name="T20" fmla="*/ 1012678 w 14"/>
                <a:gd name="T21" fmla="*/ 222 h 12"/>
                <a:gd name="T22" fmla="*/ 1057803 w 14"/>
                <a:gd name="T23" fmla="*/ 163 h 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
                <a:gd name="T37" fmla="*/ 0 h 12"/>
                <a:gd name="T38" fmla="*/ 14 w 14"/>
                <a:gd name="T39" fmla="*/ 12 h 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 h="12">
                  <a:moveTo>
                    <a:pt x="13" y="6"/>
                  </a:moveTo>
                  <a:lnTo>
                    <a:pt x="12" y="8"/>
                  </a:lnTo>
                  <a:lnTo>
                    <a:pt x="13" y="6"/>
                  </a:lnTo>
                  <a:lnTo>
                    <a:pt x="1" y="0"/>
                  </a:lnTo>
                  <a:lnTo>
                    <a:pt x="0" y="1"/>
                  </a:lnTo>
                  <a:lnTo>
                    <a:pt x="0" y="3"/>
                  </a:lnTo>
                  <a:lnTo>
                    <a:pt x="0" y="1"/>
                  </a:lnTo>
                  <a:lnTo>
                    <a:pt x="0" y="6"/>
                  </a:lnTo>
                  <a:lnTo>
                    <a:pt x="4" y="10"/>
                  </a:lnTo>
                  <a:lnTo>
                    <a:pt x="8" y="11"/>
                  </a:lnTo>
                  <a:lnTo>
                    <a:pt x="12" y="8"/>
                  </a:lnTo>
                  <a:lnTo>
                    <a:pt x="13"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0" name="Freeform 189">
              <a:extLst>
                <a:ext uri="{FF2B5EF4-FFF2-40B4-BE49-F238E27FC236}">
                  <a16:creationId xmlns:a16="http://schemas.microsoft.com/office/drawing/2014/main" id="{63F5D246-35CC-AC22-29FB-5D59318445B1}"/>
                </a:ext>
              </a:extLst>
            </p:cNvPr>
            <p:cNvSpPr>
              <a:spLocks/>
            </p:cNvSpPr>
            <p:nvPr/>
          </p:nvSpPr>
          <p:spPr bwMode="auto">
            <a:xfrm>
              <a:off x="2768" y="2719"/>
              <a:ext cx="130" cy="76"/>
            </a:xfrm>
            <a:custGeom>
              <a:avLst/>
              <a:gdLst>
                <a:gd name="T0" fmla="*/ 2718437 w 79"/>
                <a:gd name="T1" fmla="*/ 1246 h 66"/>
                <a:gd name="T2" fmla="*/ 2691392 w 79"/>
                <a:gd name="T3" fmla="*/ 1001 h 66"/>
                <a:gd name="T4" fmla="*/ 2373138 w 79"/>
                <a:gd name="T5" fmla="*/ 778 h 66"/>
                <a:gd name="T6" fmla="*/ 1939821 w 79"/>
                <a:gd name="T7" fmla="*/ 653 h 66"/>
                <a:gd name="T8" fmla="*/ 1512703 w 79"/>
                <a:gd name="T9" fmla="*/ 492 h 66"/>
                <a:gd name="T10" fmla="*/ 1040012 w 79"/>
                <a:gd name="T11" fmla="*/ 333 h 66"/>
                <a:gd name="T12" fmla="*/ 656503 w 79"/>
                <a:gd name="T13" fmla="*/ 218 h 66"/>
                <a:gd name="T14" fmla="*/ 493266 w 79"/>
                <a:gd name="T15" fmla="*/ 102 h 66"/>
                <a:gd name="T16" fmla="*/ 451334 w 79"/>
                <a:gd name="T17" fmla="*/ 3 h 66"/>
                <a:gd name="T18" fmla="*/ 0 w 79"/>
                <a:gd name="T19" fmla="*/ 0 h 66"/>
                <a:gd name="T20" fmla="*/ 61551 w 79"/>
                <a:gd name="T21" fmla="*/ 236 h 66"/>
                <a:gd name="T22" fmla="*/ 384066 w 79"/>
                <a:gd name="T23" fmla="*/ 415 h 66"/>
                <a:gd name="T24" fmla="*/ 760939 w 79"/>
                <a:gd name="T25" fmla="*/ 567 h 66"/>
                <a:gd name="T26" fmla="*/ 1252178 w 79"/>
                <a:gd name="T27" fmla="*/ 729 h 66"/>
                <a:gd name="T28" fmla="*/ 1711412 w 79"/>
                <a:gd name="T29" fmla="*/ 866 h 66"/>
                <a:gd name="T30" fmla="*/ 2060546 w 79"/>
                <a:gd name="T31" fmla="*/ 1001 h 66"/>
                <a:gd name="T32" fmla="*/ 2269433 w 79"/>
                <a:gd name="T33" fmla="*/ 1112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7" y="52"/>
                  </a:lnTo>
                  <a:lnTo>
                    <a:pt x="68" y="41"/>
                  </a:lnTo>
                  <a:lnTo>
                    <a:pt x="56" y="33"/>
                  </a:lnTo>
                  <a:lnTo>
                    <a:pt x="43" y="25"/>
                  </a:lnTo>
                  <a:lnTo>
                    <a:pt x="30" y="17"/>
                  </a:lnTo>
                  <a:lnTo>
                    <a:pt x="19" y="11"/>
                  </a:lnTo>
                  <a:lnTo>
                    <a:pt x="14" y="5"/>
                  </a:lnTo>
                  <a:lnTo>
                    <a:pt x="13" y="3"/>
                  </a:lnTo>
                  <a:lnTo>
                    <a:pt x="0" y="0"/>
                  </a:lnTo>
                  <a:lnTo>
                    <a:pt x="2" y="12"/>
                  </a:lnTo>
                  <a:lnTo>
                    <a:pt x="11" y="21"/>
                  </a:lnTo>
                  <a:lnTo>
                    <a:pt x="22" y="29"/>
                  </a:lnTo>
                  <a:lnTo>
                    <a:pt x="36" y="37"/>
                  </a:lnTo>
                  <a:lnTo>
                    <a:pt x="49" y="44"/>
                  </a:lnTo>
                  <a:lnTo>
                    <a:pt x="59" y="52"/>
                  </a:lnTo>
                  <a:lnTo>
                    <a:pt x="65" y="58"/>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1" name="Freeform 190">
              <a:extLst>
                <a:ext uri="{FF2B5EF4-FFF2-40B4-BE49-F238E27FC236}">
                  <a16:creationId xmlns:a16="http://schemas.microsoft.com/office/drawing/2014/main" id="{F403887A-1C07-F1C3-B3B4-F87E94ACF4E0}"/>
                </a:ext>
              </a:extLst>
            </p:cNvPr>
            <p:cNvSpPr>
              <a:spLocks/>
            </p:cNvSpPr>
            <p:nvPr/>
          </p:nvSpPr>
          <p:spPr bwMode="auto">
            <a:xfrm>
              <a:off x="2722" y="2789"/>
              <a:ext cx="176" cy="29"/>
            </a:xfrm>
            <a:custGeom>
              <a:avLst/>
              <a:gdLst>
                <a:gd name="T0" fmla="*/ 448956 w 107"/>
                <a:gd name="T1" fmla="*/ 530 h 25"/>
                <a:gd name="T2" fmla="*/ 551648 w 107"/>
                <a:gd name="T3" fmla="*/ 516 h 25"/>
                <a:gd name="T4" fmla="*/ 806439 w 107"/>
                <a:gd name="T5" fmla="*/ 455 h 25"/>
                <a:gd name="T6" fmla="*/ 1274250 w 107"/>
                <a:gd name="T7" fmla="*/ 455 h 25"/>
                <a:gd name="T8" fmla="*/ 1829721 w 107"/>
                <a:gd name="T9" fmla="*/ 455 h 25"/>
                <a:gd name="T10" fmla="*/ 2374059 w 107"/>
                <a:gd name="T11" fmla="*/ 394 h 25"/>
                <a:gd name="T12" fmla="*/ 2899460 w 107"/>
                <a:gd name="T13" fmla="*/ 394 h 25"/>
                <a:gd name="T14" fmla="*/ 3361858 w 107"/>
                <a:gd name="T15" fmla="*/ 331 h 25"/>
                <a:gd name="T16" fmla="*/ 3649694 w 107"/>
                <a:gd name="T17" fmla="*/ 101 h 25"/>
                <a:gd name="T18" fmla="*/ 3223782 w 107"/>
                <a:gd name="T19" fmla="*/ 0 h 25"/>
                <a:gd name="T20" fmla="*/ 3107351 w 107"/>
                <a:gd name="T21" fmla="*/ 2 h 25"/>
                <a:gd name="T22" fmla="*/ 2796262 w 107"/>
                <a:gd name="T23" fmla="*/ 117 h 25"/>
                <a:gd name="T24" fmla="*/ 2374059 w 107"/>
                <a:gd name="T25" fmla="*/ 117 h 25"/>
                <a:gd name="T26" fmla="*/ 1829721 w 107"/>
                <a:gd name="T27" fmla="*/ 117 h 25"/>
                <a:gd name="T28" fmla="*/ 1274250 w 107"/>
                <a:gd name="T29" fmla="*/ 117 h 25"/>
                <a:gd name="T30" fmla="*/ 755427 w 107"/>
                <a:gd name="T31" fmla="*/ 158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6" y="22"/>
                  </a:lnTo>
                  <a:lnTo>
                    <a:pt x="23" y="20"/>
                  </a:lnTo>
                  <a:lnTo>
                    <a:pt x="37" y="20"/>
                  </a:lnTo>
                  <a:lnTo>
                    <a:pt x="53" y="20"/>
                  </a:lnTo>
                  <a:lnTo>
                    <a:pt x="69" y="18"/>
                  </a:lnTo>
                  <a:lnTo>
                    <a:pt x="84" y="18"/>
                  </a:lnTo>
                  <a:lnTo>
                    <a:pt x="97" y="14"/>
                  </a:lnTo>
                  <a:lnTo>
                    <a:pt x="106" y="4"/>
                  </a:lnTo>
                  <a:lnTo>
                    <a:pt x="93" y="0"/>
                  </a:lnTo>
                  <a:lnTo>
                    <a:pt x="90" y="2"/>
                  </a:lnTo>
                  <a:lnTo>
                    <a:pt x="81" y="5"/>
                  </a:lnTo>
                  <a:lnTo>
                    <a:pt x="69" y="5"/>
                  </a:lnTo>
                  <a:lnTo>
                    <a:pt x="53" y="5"/>
                  </a:lnTo>
                  <a:lnTo>
                    <a:pt x="37" y="5"/>
                  </a:lnTo>
                  <a:lnTo>
                    <a:pt x="22"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2" name="Freeform 191">
              <a:extLst>
                <a:ext uri="{FF2B5EF4-FFF2-40B4-BE49-F238E27FC236}">
                  <a16:creationId xmlns:a16="http://schemas.microsoft.com/office/drawing/2014/main" id="{81A0B9BE-4A71-C11A-C777-E7E6CD5DE44D}"/>
                </a:ext>
              </a:extLst>
            </p:cNvPr>
            <p:cNvSpPr>
              <a:spLocks/>
            </p:cNvSpPr>
            <p:nvPr/>
          </p:nvSpPr>
          <p:spPr bwMode="auto">
            <a:xfrm>
              <a:off x="2722" y="2813"/>
              <a:ext cx="130" cy="76"/>
            </a:xfrm>
            <a:custGeom>
              <a:avLst/>
              <a:gdLst>
                <a:gd name="T0" fmla="*/ 2718437 w 79"/>
                <a:gd name="T1" fmla="*/ 1246 h 66"/>
                <a:gd name="T2" fmla="*/ 2654305 w 79"/>
                <a:gd name="T3" fmla="*/ 1001 h 66"/>
                <a:gd name="T4" fmla="*/ 2373138 w 79"/>
                <a:gd name="T5" fmla="*/ 839 h 66"/>
                <a:gd name="T6" fmla="*/ 1939821 w 79"/>
                <a:gd name="T7" fmla="*/ 656 h 66"/>
                <a:gd name="T8" fmla="*/ 1468965 w 79"/>
                <a:gd name="T9" fmla="*/ 508 h 66"/>
                <a:gd name="T10" fmla="*/ 1017350 w 79"/>
                <a:gd name="T11" fmla="*/ 371 h 66"/>
                <a:gd name="T12" fmla="*/ 656503 w 79"/>
                <a:gd name="T13" fmla="*/ 218 h 66"/>
                <a:gd name="T14" fmla="*/ 451334 w 79"/>
                <a:gd name="T15" fmla="*/ 117 h 66"/>
                <a:gd name="T16" fmla="*/ 451334 w 79"/>
                <a:gd name="T17" fmla="*/ 89 h 66"/>
                <a:gd name="T18" fmla="*/ 0 w 79"/>
                <a:gd name="T19" fmla="*/ 0 h 66"/>
                <a:gd name="T20" fmla="*/ 37404 w 79"/>
                <a:gd name="T21" fmla="*/ 251 h 66"/>
                <a:gd name="T22" fmla="*/ 339473 w 79"/>
                <a:gd name="T23" fmla="*/ 427 h 66"/>
                <a:gd name="T24" fmla="*/ 760939 w 79"/>
                <a:gd name="T25" fmla="*/ 585 h 66"/>
                <a:gd name="T26" fmla="*/ 1252178 w 79"/>
                <a:gd name="T27" fmla="*/ 752 h 66"/>
                <a:gd name="T28" fmla="*/ 1674120 w 79"/>
                <a:gd name="T29" fmla="*/ 894 h 66"/>
                <a:gd name="T30" fmla="*/ 2060546 w 79"/>
                <a:gd name="T31" fmla="*/ 1029 h 66"/>
                <a:gd name="T32" fmla="*/ 2269433 w 79"/>
                <a:gd name="T33" fmla="*/ 1148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2"/>
                  </a:lnTo>
                  <a:lnTo>
                    <a:pt x="68" y="43"/>
                  </a:lnTo>
                  <a:lnTo>
                    <a:pt x="56" y="34"/>
                  </a:lnTo>
                  <a:lnTo>
                    <a:pt x="42" y="26"/>
                  </a:lnTo>
                  <a:lnTo>
                    <a:pt x="29" y="19"/>
                  </a:lnTo>
                  <a:lnTo>
                    <a:pt x="19" y="11"/>
                  </a:lnTo>
                  <a:lnTo>
                    <a:pt x="13" y="6"/>
                  </a:lnTo>
                  <a:lnTo>
                    <a:pt x="13" y="4"/>
                  </a:lnTo>
                  <a:lnTo>
                    <a:pt x="0" y="0"/>
                  </a:lnTo>
                  <a:lnTo>
                    <a:pt x="1" y="13"/>
                  </a:lnTo>
                  <a:lnTo>
                    <a:pt x="10" y="22"/>
                  </a:lnTo>
                  <a:lnTo>
                    <a:pt x="22" y="30"/>
                  </a:lnTo>
                  <a:lnTo>
                    <a:pt x="36" y="38"/>
                  </a:lnTo>
                  <a:lnTo>
                    <a:pt x="48" y="46"/>
                  </a:lnTo>
                  <a:lnTo>
                    <a:pt x="59" y="53"/>
                  </a:lnTo>
                  <a:lnTo>
                    <a:pt x="65" y="59"/>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3" name="Freeform 192">
              <a:extLst>
                <a:ext uri="{FF2B5EF4-FFF2-40B4-BE49-F238E27FC236}">
                  <a16:creationId xmlns:a16="http://schemas.microsoft.com/office/drawing/2014/main" id="{D25AC9B1-BB34-98B9-F9CE-6A473EA1E3FA}"/>
                </a:ext>
              </a:extLst>
            </p:cNvPr>
            <p:cNvSpPr>
              <a:spLocks/>
            </p:cNvSpPr>
            <p:nvPr/>
          </p:nvSpPr>
          <p:spPr bwMode="auto">
            <a:xfrm>
              <a:off x="2676" y="2884"/>
              <a:ext cx="176" cy="29"/>
            </a:xfrm>
            <a:custGeom>
              <a:avLst/>
              <a:gdLst>
                <a:gd name="T0" fmla="*/ 448956 w 107"/>
                <a:gd name="T1" fmla="*/ 236 h 26"/>
                <a:gd name="T2" fmla="*/ 448956 w 107"/>
                <a:gd name="T3" fmla="*/ 254 h 26"/>
                <a:gd name="T4" fmla="*/ 520021 w 107"/>
                <a:gd name="T5" fmla="*/ 228 h 26"/>
                <a:gd name="T6" fmla="*/ 818282 w 107"/>
                <a:gd name="T7" fmla="*/ 204 h 26"/>
                <a:gd name="T8" fmla="*/ 1274250 w 107"/>
                <a:gd name="T9" fmla="*/ 184 h 26"/>
                <a:gd name="T10" fmla="*/ 1829721 w 107"/>
                <a:gd name="T11" fmla="*/ 184 h 26"/>
                <a:gd name="T12" fmla="*/ 2374059 w 107"/>
                <a:gd name="T13" fmla="*/ 184 h 26"/>
                <a:gd name="T14" fmla="*/ 2899460 w 107"/>
                <a:gd name="T15" fmla="*/ 165 h 26"/>
                <a:gd name="T16" fmla="*/ 3361858 w 107"/>
                <a:gd name="T17" fmla="*/ 147 h 26"/>
                <a:gd name="T18" fmla="*/ 3649694 w 107"/>
                <a:gd name="T19" fmla="*/ 4 h 26"/>
                <a:gd name="T20" fmla="*/ 3223782 w 107"/>
                <a:gd name="T21" fmla="*/ 0 h 26"/>
                <a:gd name="T22" fmla="*/ 3156192 w 107"/>
                <a:gd name="T23" fmla="*/ 2 h 26"/>
                <a:gd name="T24" fmla="*/ 2796262 w 107"/>
                <a:gd name="T25" fmla="*/ 56 h 26"/>
                <a:gd name="T26" fmla="*/ 2374059 w 107"/>
                <a:gd name="T27" fmla="*/ 62 h 26"/>
                <a:gd name="T28" fmla="*/ 1829721 w 107"/>
                <a:gd name="T29" fmla="*/ 56 h 26"/>
                <a:gd name="T30" fmla="*/ 1274250 w 107"/>
                <a:gd name="T31" fmla="*/ 62 h 26"/>
                <a:gd name="T32" fmla="*/ 755427 w 107"/>
                <a:gd name="T33" fmla="*/ 69 h 26"/>
                <a:gd name="T34" fmla="*/ 316149 w 107"/>
                <a:gd name="T35" fmla="*/ 96 h 26"/>
                <a:gd name="T36" fmla="*/ 0 w 107"/>
                <a:gd name="T37" fmla="*/ 184 h 26"/>
                <a:gd name="T38" fmla="*/ 0 w 107"/>
                <a:gd name="T39" fmla="*/ 204 h 26"/>
                <a:gd name="T40" fmla="*/ 448956 w 107"/>
                <a:gd name="T41" fmla="*/ 236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7"/>
                <a:gd name="T64" fmla="*/ 0 h 26"/>
                <a:gd name="T65" fmla="*/ 107 w 107"/>
                <a:gd name="T66" fmla="*/ 26 h 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7" h="26">
                  <a:moveTo>
                    <a:pt x="13" y="24"/>
                  </a:moveTo>
                  <a:lnTo>
                    <a:pt x="13" y="25"/>
                  </a:lnTo>
                  <a:lnTo>
                    <a:pt x="15" y="22"/>
                  </a:lnTo>
                  <a:lnTo>
                    <a:pt x="24" y="20"/>
                  </a:lnTo>
                  <a:lnTo>
                    <a:pt x="37" y="19"/>
                  </a:lnTo>
                  <a:lnTo>
                    <a:pt x="53" y="19"/>
                  </a:lnTo>
                  <a:lnTo>
                    <a:pt x="69" y="19"/>
                  </a:lnTo>
                  <a:lnTo>
                    <a:pt x="84" y="17"/>
                  </a:lnTo>
                  <a:lnTo>
                    <a:pt x="97" y="14"/>
                  </a:lnTo>
                  <a:lnTo>
                    <a:pt x="106" y="4"/>
                  </a:lnTo>
                  <a:lnTo>
                    <a:pt x="93" y="0"/>
                  </a:lnTo>
                  <a:lnTo>
                    <a:pt x="91" y="2"/>
                  </a:lnTo>
                  <a:lnTo>
                    <a:pt x="81" y="5"/>
                  </a:lnTo>
                  <a:lnTo>
                    <a:pt x="69" y="6"/>
                  </a:lnTo>
                  <a:lnTo>
                    <a:pt x="53" y="5"/>
                  </a:lnTo>
                  <a:lnTo>
                    <a:pt x="37" y="6"/>
                  </a:lnTo>
                  <a:lnTo>
                    <a:pt x="22" y="7"/>
                  </a:lnTo>
                  <a:lnTo>
                    <a:pt x="9" y="10"/>
                  </a:lnTo>
                  <a:lnTo>
                    <a:pt x="0" y="19"/>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4" name="Freeform 193">
              <a:extLst>
                <a:ext uri="{FF2B5EF4-FFF2-40B4-BE49-F238E27FC236}">
                  <a16:creationId xmlns:a16="http://schemas.microsoft.com/office/drawing/2014/main" id="{8A7D8F2E-49CD-8CCA-5079-57869A8131DF}"/>
                </a:ext>
              </a:extLst>
            </p:cNvPr>
            <p:cNvSpPr>
              <a:spLocks/>
            </p:cNvSpPr>
            <p:nvPr/>
          </p:nvSpPr>
          <p:spPr bwMode="auto">
            <a:xfrm>
              <a:off x="2676" y="2906"/>
              <a:ext cx="133" cy="79"/>
            </a:xfrm>
            <a:custGeom>
              <a:avLst/>
              <a:gdLst>
                <a:gd name="T0" fmla="*/ 2897663 w 80"/>
                <a:gd name="T1" fmla="*/ 1309 h 68"/>
                <a:gd name="T2" fmla="*/ 3407716 w 80"/>
                <a:gd name="T3" fmla="*/ 1451 h 68"/>
                <a:gd name="T4" fmla="*/ 3382665 w 80"/>
                <a:gd name="T5" fmla="*/ 1127 h 68"/>
                <a:gd name="T6" fmla="*/ 2992608 w 80"/>
                <a:gd name="T7" fmla="*/ 899 h 68"/>
                <a:gd name="T8" fmla="*/ 2427302 w 80"/>
                <a:gd name="T9" fmla="*/ 719 h 68"/>
                <a:gd name="T10" fmla="*/ 1845656 w 80"/>
                <a:gd name="T11" fmla="*/ 560 h 68"/>
                <a:gd name="T12" fmla="*/ 1249478 w 80"/>
                <a:gd name="T13" fmla="*/ 395 h 68"/>
                <a:gd name="T14" fmla="*/ 779822 w 80"/>
                <a:gd name="T15" fmla="*/ 252 h 68"/>
                <a:gd name="T16" fmla="*/ 581923 w 80"/>
                <a:gd name="T17" fmla="*/ 138 h 68"/>
                <a:gd name="T18" fmla="*/ 581923 w 80"/>
                <a:gd name="T19" fmla="*/ 102 h 68"/>
                <a:gd name="T20" fmla="*/ 0 w 80"/>
                <a:gd name="T21" fmla="*/ 0 h 68"/>
                <a:gd name="T22" fmla="*/ 76176 w 80"/>
                <a:gd name="T23" fmla="*/ 292 h 68"/>
                <a:gd name="T24" fmla="*/ 469066 w 80"/>
                <a:gd name="T25" fmla="*/ 532 h 68"/>
                <a:gd name="T26" fmla="*/ 991319 w 80"/>
                <a:gd name="T27" fmla="*/ 685 h 68"/>
                <a:gd name="T28" fmla="*/ 1608381 w 80"/>
                <a:gd name="T29" fmla="*/ 835 h 68"/>
                <a:gd name="T30" fmla="*/ 2155355 w 80"/>
                <a:gd name="T31" fmla="*/ 1004 h 68"/>
                <a:gd name="T32" fmla="*/ 2597646 w 80"/>
                <a:gd name="T33" fmla="*/ 1127 h 68"/>
                <a:gd name="T34" fmla="*/ 2862423 w 80"/>
                <a:gd name="T35" fmla="*/ 1277 h 68"/>
                <a:gd name="T36" fmla="*/ 2862423 w 80"/>
                <a:gd name="T37" fmla="*/ 1377 h 68"/>
                <a:gd name="T38" fmla="*/ 3382665 w 80"/>
                <a:gd name="T39" fmla="*/ 1484 h 68"/>
                <a:gd name="T40" fmla="*/ 2862423 w 80"/>
                <a:gd name="T41" fmla="*/ 1377 h 68"/>
                <a:gd name="T42" fmla="*/ 2897663 w 80"/>
                <a:gd name="T43" fmla="*/ 1484 h 68"/>
                <a:gd name="T44" fmla="*/ 3023930 w 80"/>
                <a:gd name="T45" fmla="*/ 1574 h 68"/>
                <a:gd name="T46" fmla="*/ 3265532 w 80"/>
                <a:gd name="T47" fmla="*/ 1521 h 68"/>
                <a:gd name="T48" fmla="*/ 3407716 w 80"/>
                <a:gd name="T49" fmla="*/ 1451 h 68"/>
                <a:gd name="T50" fmla="*/ 2897663 w 80"/>
                <a:gd name="T51" fmla="*/ 1309 h 6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0"/>
                <a:gd name="T79" fmla="*/ 0 h 68"/>
                <a:gd name="T80" fmla="*/ 80 w 80"/>
                <a:gd name="T81" fmla="*/ 68 h 6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0" h="68">
                  <a:moveTo>
                    <a:pt x="67" y="57"/>
                  </a:moveTo>
                  <a:lnTo>
                    <a:pt x="79" y="62"/>
                  </a:lnTo>
                  <a:lnTo>
                    <a:pt x="78" y="49"/>
                  </a:lnTo>
                  <a:lnTo>
                    <a:pt x="69" y="39"/>
                  </a:lnTo>
                  <a:lnTo>
                    <a:pt x="56" y="31"/>
                  </a:lnTo>
                  <a:lnTo>
                    <a:pt x="43" y="24"/>
                  </a:lnTo>
                  <a:lnTo>
                    <a:pt x="29" y="17"/>
                  </a:lnTo>
                  <a:lnTo>
                    <a:pt x="18" y="11"/>
                  </a:lnTo>
                  <a:lnTo>
                    <a:pt x="13" y="6"/>
                  </a:lnTo>
                  <a:lnTo>
                    <a:pt x="13" y="4"/>
                  </a:lnTo>
                  <a:lnTo>
                    <a:pt x="0" y="0"/>
                  </a:lnTo>
                  <a:lnTo>
                    <a:pt x="2" y="12"/>
                  </a:lnTo>
                  <a:lnTo>
                    <a:pt x="11" y="22"/>
                  </a:lnTo>
                  <a:lnTo>
                    <a:pt x="23" y="29"/>
                  </a:lnTo>
                  <a:lnTo>
                    <a:pt x="37" y="36"/>
                  </a:lnTo>
                  <a:lnTo>
                    <a:pt x="50" y="43"/>
                  </a:lnTo>
                  <a:lnTo>
                    <a:pt x="60" y="49"/>
                  </a:lnTo>
                  <a:lnTo>
                    <a:pt x="66" y="55"/>
                  </a:lnTo>
                  <a:lnTo>
                    <a:pt x="66" y="59"/>
                  </a:lnTo>
                  <a:lnTo>
                    <a:pt x="78" y="64"/>
                  </a:lnTo>
                  <a:lnTo>
                    <a:pt x="66" y="59"/>
                  </a:lnTo>
                  <a:lnTo>
                    <a:pt x="67" y="64"/>
                  </a:lnTo>
                  <a:lnTo>
                    <a:pt x="70" y="67"/>
                  </a:lnTo>
                  <a:lnTo>
                    <a:pt x="76" y="66"/>
                  </a:lnTo>
                  <a:lnTo>
                    <a:pt x="79" y="62"/>
                  </a:lnTo>
                  <a:lnTo>
                    <a:pt x="67" y="5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5" name="Freeform 194">
              <a:extLst>
                <a:ext uri="{FF2B5EF4-FFF2-40B4-BE49-F238E27FC236}">
                  <a16:creationId xmlns:a16="http://schemas.microsoft.com/office/drawing/2014/main" id="{3579EE9B-5937-3373-AE15-468373D338D3}"/>
                </a:ext>
              </a:extLst>
            </p:cNvPr>
            <p:cNvSpPr>
              <a:spLocks/>
            </p:cNvSpPr>
            <p:nvPr/>
          </p:nvSpPr>
          <p:spPr bwMode="auto">
            <a:xfrm>
              <a:off x="2787" y="2968"/>
              <a:ext cx="23" cy="13"/>
            </a:xfrm>
            <a:custGeom>
              <a:avLst/>
              <a:gdLst>
                <a:gd name="T0" fmla="*/ 439537 w 14"/>
                <a:gd name="T1" fmla="*/ 46 h 12"/>
                <a:gd name="T2" fmla="*/ 0 w 14"/>
                <a:gd name="T3" fmla="*/ 3 h 12"/>
                <a:gd name="T4" fmla="*/ 0 w 14"/>
                <a:gd name="T5" fmla="*/ 4 h 12"/>
                <a:gd name="T6" fmla="*/ 375225 w 14"/>
                <a:gd name="T7" fmla="*/ 58 h 12"/>
                <a:gd name="T8" fmla="*/ 410755 w 14"/>
                <a:gd name="T9" fmla="*/ 50 h 12"/>
                <a:gd name="T10" fmla="*/ 0 w 14"/>
                <a:gd name="T11" fmla="*/ 4 h 12"/>
                <a:gd name="T12" fmla="*/ 410755 w 14"/>
                <a:gd name="T13" fmla="*/ 50 h 12"/>
                <a:gd name="T14" fmla="*/ 439537 w 14"/>
                <a:gd name="T15" fmla="*/ 4 h 12"/>
                <a:gd name="T16" fmla="*/ 310107 w 14"/>
                <a:gd name="T17" fmla="*/ 0 h 12"/>
                <a:gd name="T18" fmla="*/ 152189 w 14"/>
                <a:gd name="T19" fmla="*/ 0 h 12"/>
                <a:gd name="T20" fmla="*/ 0 w 14"/>
                <a:gd name="T21" fmla="*/ 3 h 12"/>
                <a:gd name="T22" fmla="*/ 439537 w 14"/>
                <a:gd name="T23" fmla="*/ 46 h 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
                <a:gd name="T37" fmla="*/ 0 h 12"/>
                <a:gd name="T38" fmla="*/ 14 w 14"/>
                <a:gd name="T39" fmla="*/ 12 h 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 h="12">
                  <a:moveTo>
                    <a:pt x="13" y="8"/>
                  </a:moveTo>
                  <a:lnTo>
                    <a:pt x="0" y="3"/>
                  </a:lnTo>
                  <a:lnTo>
                    <a:pt x="0" y="4"/>
                  </a:lnTo>
                  <a:lnTo>
                    <a:pt x="11" y="11"/>
                  </a:lnTo>
                  <a:lnTo>
                    <a:pt x="12" y="9"/>
                  </a:lnTo>
                  <a:lnTo>
                    <a:pt x="0" y="4"/>
                  </a:lnTo>
                  <a:lnTo>
                    <a:pt x="12" y="9"/>
                  </a:lnTo>
                  <a:lnTo>
                    <a:pt x="13" y="4"/>
                  </a:lnTo>
                  <a:lnTo>
                    <a:pt x="9" y="0"/>
                  </a:lnTo>
                  <a:lnTo>
                    <a:pt x="4" y="0"/>
                  </a:lnTo>
                  <a:lnTo>
                    <a:pt x="0" y="3"/>
                  </a:lnTo>
                  <a:lnTo>
                    <a:pt x="13"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6" name="Freeform 195">
              <a:extLst>
                <a:ext uri="{FF2B5EF4-FFF2-40B4-BE49-F238E27FC236}">
                  <a16:creationId xmlns:a16="http://schemas.microsoft.com/office/drawing/2014/main" id="{8E4CA9CF-7293-72D8-02A6-92E139A94E7D}"/>
                </a:ext>
              </a:extLst>
            </p:cNvPr>
            <p:cNvSpPr>
              <a:spLocks/>
            </p:cNvSpPr>
            <p:nvPr/>
          </p:nvSpPr>
          <p:spPr bwMode="auto">
            <a:xfrm>
              <a:off x="2637" y="2972"/>
              <a:ext cx="173" cy="41"/>
            </a:xfrm>
            <a:custGeom>
              <a:avLst/>
              <a:gdLst>
                <a:gd name="T0" fmla="*/ 465077 w 105"/>
                <a:gd name="T1" fmla="*/ 535 h 36"/>
                <a:gd name="T2" fmla="*/ 546820 w 105"/>
                <a:gd name="T3" fmla="*/ 513 h 36"/>
                <a:gd name="T4" fmla="*/ 831997 w 105"/>
                <a:gd name="T5" fmla="*/ 470 h 36"/>
                <a:gd name="T6" fmla="*/ 1262521 w 105"/>
                <a:gd name="T7" fmla="*/ 450 h 36"/>
                <a:gd name="T8" fmla="*/ 1816719 w 105"/>
                <a:gd name="T9" fmla="*/ 444 h 36"/>
                <a:gd name="T10" fmla="*/ 2377226 w 105"/>
                <a:gd name="T11" fmla="*/ 413 h 36"/>
                <a:gd name="T12" fmla="*/ 2932253 w 105"/>
                <a:gd name="T13" fmla="*/ 363 h 36"/>
                <a:gd name="T14" fmla="*/ 3420932 w 105"/>
                <a:gd name="T15" fmla="*/ 246 h 36"/>
                <a:gd name="T16" fmla="*/ 3721278 w 105"/>
                <a:gd name="T17" fmla="*/ 71 h 36"/>
                <a:gd name="T18" fmla="*/ 3261172 w 105"/>
                <a:gd name="T19" fmla="*/ 0 h 36"/>
                <a:gd name="T20" fmla="*/ 3090426 w 105"/>
                <a:gd name="T21" fmla="*/ 92 h 36"/>
                <a:gd name="T22" fmla="*/ 2754923 w 105"/>
                <a:gd name="T23" fmla="*/ 178 h 36"/>
                <a:gd name="T24" fmla="*/ 2282748 w 105"/>
                <a:gd name="T25" fmla="*/ 216 h 36"/>
                <a:gd name="T26" fmla="*/ 1779691 w 105"/>
                <a:gd name="T27" fmla="*/ 231 h 36"/>
                <a:gd name="T28" fmla="*/ 1215650 w 105"/>
                <a:gd name="T29" fmla="*/ 246 h 36"/>
                <a:gd name="T30" fmla="*/ 713643 w 105"/>
                <a:gd name="T31" fmla="*/ 280 h 36"/>
                <a:gd name="T32" fmla="*/ 282272 w 105"/>
                <a:gd name="T33" fmla="*/ 319 h 36"/>
                <a:gd name="T34" fmla="*/ 0 w 105"/>
                <a:gd name="T35" fmla="*/ 470 h 36"/>
                <a:gd name="T36" fmla="*/ 465077 w 105"/>
                <a:gd name="T37" fmla="*/ 535 h 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6"/>
                <a:gd name="T59" fmla="*/ 105 w 105"/>
                <a:gd name="T60" fmla="*/ 36 h 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6">
                  <a:moveTo>
                    <a:pt x="13" y="35"/>
                  </a:moveTo>
                  <a:lnTo>
                    <a:pt x="15" y="33"/>
                  </a:lnTo>
                  <a:lnTo>
                    <a:pt x="23" y="31"/>
                  </a:lnTo>
                  <a:lnTo>
                    <a:pt x="35" y="29"/>
                  </a:lnTo>
                  <a:lnTo>
                    <a:pt x="51" y="28"/>
                  </a:lnTo>
                  <a:lnTo>
                    <a:pt x="66" y="27"/>
                  </a:lnTo>
                  <a:lnTo>
                    <a:pt x="82" y="24"/>
                  </a:lnTo>
                  <a:lnTo>
                    <a:pt x="95" y="16"/>
                  </a:lnTo>
                  <a:lnTo>
                    <a:pt x="104" y="4"/>
                  </a:lnTo>
                  <a:lnTo>
                    <a:pt x="91" y="0"/>
                  </a:lnTo>
                  <a:lnTo>
                    <a:pt x="86" y="6"/>
                  </a:lnTo>
                  <a:lnTo>
                    <a:pt x="77" y="11"/>
                  </a:lnTo>
                  <a:lnTo>
                    <a:pt x="64" y="14"/>
                  </a:lnTo>
                  <a:lnTo>
                    <a:pt x="50" y="15"/>
                  </a:lnTo>
                  <a:lnTo>
                    <a:pt x="34" y="16"/>
                  </a:lnTo>
                  <a:lnTo>
                    <a:pt x="20" y="18"/>
                  </a:lnTo>
                  <a:lnTo>
                    <a:pt x="8" y="21"/>
                  </a:lnTo>
                  <a:lnTo>
                    <a:pt x="0" y="31"/>
                  </a:lnTo>
                  <a:lnTo>
                    <a:pt x="13" y="3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7" name="Freeform 196">
              <a:extLst>
                <a:ext uri="{FF2B5EF4-FFF2-40B4-BE49-F238E27FC236}">
                  <a16:creationId xmlns:a16="http://schemas.microsoft.com/office/drawing/2014/main" id="{0D6FA3EB-C012-0A60-40E5-0CF55B9EA426}"/>
                </a:ext>
              </a:extLst>
            </p:cNvPr>
            <p:cNvSpPr>
              <a:spLocks/>
            </p:cNvSpPr>
            <p:nvPr/>
          </p:nvSpPr>
          <p:spPr bwMode="auto">
            <a:xfrm>
              <a:off x="2566" y="2851"/>
              <a:ext cx="63" cy="81"/>
            </a:xfrm>
            <a:custGeom>
              <a:avLst/>
              <a:gdLst>
                <a:gd name="T0" fmla="*/ 976515 w 38"/>
                <a:gd name="T1" fmla="*/ 60 h 72"/>
                <a:gd name="T2" fmla="*/ 976515 w 38"/>
                <a:gd name="T3" fmla="*/ 77 h 72"/>
                <a:gd name="T4" fmla="*/ 886621 w 38"/>
                <a:gd name="T5" fmla="*/ 77 h 72"/>
                <a:gd name="T6" fmla="*/ 746378 w 38"/>
                <a:gd name="T7" fmla="*/ 99 h 72"/>
                <a:gd name="T8" fmla="*/ 450196 w 38"/>
                <a:gd name="T9" fmla="*/ 159 h 72"/>
                <a:gd name="T10" fmla="*/ 178371 w 38"/>
                <a:gd name="T11" fmla="*/ 254 h 72"/>
                <a:gd name="T12" fmla="*/ 0 w 38"/>
                <a:gd name="T13" fmla="*/ 386 h 72"/>
                <a:gd name="T14" fmla="*/ 0 w 38"/>
                <a:gd name="T15" fmla="*/ 579 h 72"/>
                <a:gd name="T16" fmla="*/ 247837 w 38"/>
                <a:gd name="T17" fmla="*/ 846 h 72"/>
                <a:gd name="T18" fmla="*/ 788611 w 38"/>
                <a:gd name="T19" fmla="*/ 763 h 72"/>
                <a:gd name="T20" fmla="*/ 534787 w 38"/>
                <a:gd name="T21" fmla="*/ 548 h 72"/>
                <a:gd name="T22" fmla="*/ 534787 w 38"/>
                <a:gd name="T23" fmla="*/ 407 h 72"/>
                <a:gd name="T24" fmla="*/ 609278 w 38"/>
                <a:gd name="T25" fmla="*/ 322 h 72"/>
                <a:gd name="T26" fmla="*/ 788611 w 38"/>
                <a:gd name="T27" fmla="*/ 285 h 72"/>
                <a:gd name="T28" fmla="*/ 976515 w 38"/>
                <a:gd name="T29" fmla="*/ 254 h 72"/>
                <a:gd name="T30" fmla="*/ 1237416 w 38"/>
                <a:gd name="T31" fmla="*/ 214 h 72"/>
                <a:gd name="T32" fmla="*/ 1495574 w 38"/>
                <a:gd name="T33" fmla="*/ 125 h 72"/>
                <a:gd name="T34" fmla="*/ 1495574 w 38"/>
                <a:gd name="T35" fmla="*/ 0 h 72"/>
                <a:gd name="T36" fmla="*/ 976515 w 38"/>
                <a:gd name="T37" fmla="*/ 60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72"/>
                <a:gd name="T59" fmla="*/ 38 w 38"/>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72">
                  <a:moveTo>
                    <a:pt x="24" y="4"/>
                  </a:moveTo>
                  <a:lnTo>
                    <a:pt x="24" y="6"/>
                  </a:lnTo>
                  <a:lnTo>
                    <a:pt x="22" y="6"/>
                  </a:lnTo>
                  <a:lnTo>
                    <a:pt x="18" y="9"/>
                  </a:lnTo>
                  <a:lnTo>
                    <a:pt x="11" y="13"/>
                  </a:lnTo>
                  <a:lnTo>
                    <a:pt x="4" y="21"/>
                  </a:lnTo>
                  <a:lnTo>
                    <a:pt x="0" y="32"/>
                  </a:lnTo>
                  <a:lnTo>
                    <a:pt x="0" y="48"/>
                  </a:lnTo>
                  <a:lnTo>
                    <a:pt x="6" y="71"/>
                  </a:lnTo>
                  <a:lnTo>
                    <a:pt x="19" y="65"/>
                  </a:lnTo>
                  <a:lnTo>
                    <a:pt x="13" y="46"/>
                  </a:lnTo>
                  <a:lnTo>
                    <a:pt x="13" y="34"/>
                  </a:lnTo>
                  <a:lnTo>
                    <a:pt x="15" y="27"/>
                  </a:lnTo>
                  <a:lnTo>
                    <a:pt x="19" y="23"/>
                  </a:lnTo>
                  <a:lnTo>
                    <a:pt x="24" y="21"/>
                  </a:lnTo>
                  <a:lnTo>
                    <a:pt x="30" y="18"/>
                  </a:lnTo>
                  <a:lnTo>
                    <a:pt x="37" y="11"/>
                  </a:lnTo>
                  <a:lnTo>
                    <a:pt x="37" y="0"/>
                  </a:lnTo>
                  <a:lnTo>
                    <a:pt x="24"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8" name="Freeform 197">
              <a:extLst>
                <a:ext uri="{FF2B5EF4-FFF2-40B4-BE49-F238E27FC236}">
                  <a16:creationId xmlns:a16="http://schemas.microsoft.com/office/drawing/2014/main" id="{61FA046B-244E-F3A7-BAB1-077845DB1E1E}"/>
                </a:ext>
              </a:extLst>
            </p:cNvPr>
            <p:cNvSpPr>
              <a:spLocks/>
            </p:cNvSpPr>
            <p:nvPr/>
          </p:nvSpPr>
          <p:spPr bwMode="auto">
            <a:xfrm>
              <a:off x="2452" y="2813"/>
              <a:ext cx="177" cy="43"/>
            </a:xfrm>
            <a:custGeom>
              <a:avLst/>
              <a:gdLst>
                <a:gd name="T0" fmla="*/ 297347 w 108"/>
                <a:gd name="T1" fmla="*/ 0 h 37"/>
                <a:gd name="T2" fmla="*/ 56629 w 108"/>
                <a:gd name="T3" fmla="*/ 216 h 37"/>
                <a:gd name="T4" fmla="*/ 355105 w 108"/>
                <a:gd name="T5" fmla="*/ 458 h 37"/>
                <a:gd name="T6" fmla="*/ 763839 w 108"/>
                <a:gd name="T7" fmla="*/ 536 h 37"/>
                <a:gd name="T8" fmla="*/ 1216593 w 108"/>
                <a:gd name="T9" fmla="*/ 593 h 37"/>
                <a:gd name="T10" fmla="*/ 1738474 w 108"/>
                <a:gd name="T11" fmla="*/ 618 h 37"/>
                <a:gd name="T12" fmla="*/ 2243232 w 108"/>
                <a:gd name="T13" fmla="*/ 623 h 37"/>
                <a:gd name="T14" fmla="*/ 2628324 w 108"/>
                <a:gd name="T15" fmla="*/ 718 h 37"/>
                <a:gd name="T16" fmla="*/ 2912671 w 108"/>
                <a:gd name="T17" fmla="*/ 764 h 37"/>
                <a:gd name="T18" fmla="*/ 3006856 w 108"/>
                <a:gd name="T19" fmla="*/ 841 h 37"/>
                <a:gd name="T20" fmla="*/ 3417618 w 108"/>
                <a:gd name="T21" fmla="*/ 744 h 37"/>
                <a:gd name="T22" fmla="*/ 3174761 w 108"/>
                <a:gd name="T23" fmla="*/ 486 h 37"/>
                <a:gd name="T24" fmla="*/ 2757663 w 108"/>
                <a:gd name="T25" fmla="*/ 397 h 37"/>
                <a:gd name="T26" fmla="*/ 2263832 w 108"/>
                <a:gd name="T27" fmla="*/ 339 h 37"/>
                <a:gd name="T28" fmla="*/ 1766653 w 108"/>
                <a:gd name="T29" fmla="*/ 294 h 37"/>
                <a:gd name="T30" fmla="*/ 1251847 w 108"/>
                <a:gd name="T31" fmla="*/ 292 h 37"/>
                <a:gd name="T32" fmla="*/ 835171 w 108"/>
                <a:gd name="T33" fmla="*/ 251 h 37"/>
                <a:gd name="T34" fmla="*/ 546453 w 108"/>
                <a:gd name="T35" fmla="*/ 160 h 37"/>
                <a:gd name="T36" fmla="*/ 487319 w 108"/>
                <a:gd name="T37" fmla="*/ 119 h 37"/>
                <a:gd name="T38" fmla="*/ 297347 w 108"/>
                <a:gd name="T39" fmla="*/ 339 h 37"/>
                <a:gd name="T40" fmla="*/ 297347 w 108"/>
                <a:gd name="T41" fmla="*/ 0 h 37"/>
                <a:gd name="T42" fmla="*/ 0 w 108"/>
                <a:gd name="T43" fmla="*/ 1 h 37"/>
                <a:gd name="T44" fmla="*/ 56629 w 108"/>
                <a:gd name="T45" fmla="*/ 216 h 37"/>
                <a:gd name="T46" fmla="*/ 297347 w 108"/>
                <a:gd name="T47" fmla="*/ 0 h 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
                <a:gd name="T73" fmla="*/ 0 h 37"/>
                <a:gd name="T74" fmla="*/ 108 w 108"/>
                <a:gd name="T75" fmla="*/ 37 h 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 h="37">
                  <a:moveTo>
                    <a:pt x="9" y="0"/>
                  </a:moveTo>
                  <a:lnTo>
                    <a:pt x="2" y="9"/>
                  </a:lnTo>
                  <a:lnTo>
                    <a:pt x="11" y="19"/>
                  </a:lnTo>
                  <a:lnTo>
                    <a:pt x="24" y="23"/>
                  </a:lnTo>
                  <a:lnTo>
                    <a:pt x="38" y="25"/>
                  </a:lnTo>
                  <a:lnTo>
                    <a:pt x="54" y="26"/>
                  </a:lnTo>
                  <a:lnTo>
                    <a:pt x="70" y="27"/>
                  </a:lnTo>
                  <a:lnTo>
                    <a:pt x="82" y="30"/>
                  </a:lnTo>
                  <a:lnTo>
                    <a:pt x="91" y="33"/>
                  </a:lnTo>
                  <a:lnTo>
                    <a:pt x="94" y="36"/>
                  </a:lnTo>
                  <a:lnTo>
                    <a:pt x="107" y="32"/>
                  </a:lnTo>
                  <a:lnTo>
                    <a:pt x="99" y="21"/>
                  </a:lnTo>
                  <a:lnTo>
                    <a:pt x="86" y="17"/>
                  </a:lnTo>
                  <a:lnTo>
                    <a:pt x="71" y="14"/>
                  </a:lnTo>
                  <a:lnTo>
                    <a:pt x="55" y="13"/>
                  </a:lnTo>
                  <a:lnTo>
                    <a:pt x="39" y="12"/>
                  </a:lnTo>
                  <a:lnTo>
                    <a:pt x="26" y="10"/>
                  </a:lnTo>
                  <a:lnTo>
                    <a:pt x="17" y="7"/>
                  </a:lnTo>
                  <a:lnTo>
                    <a:pt x="15" y="5"/>
                  </a:lnTo>
                  <a:lnTo>
                    <a:pt x="9" y="14"/>
                  </a:lnTo>
                  <a:lnTo>
                    <a:pt x="9" y="0"/>
                  </a:lnTo>
                  <a:lnTo>
                    <a:pt x="0" y="1"/>
                  </a:lnTo>
                  <a:lnTo>
                    <a:pt x="2" y="9"/>
                  </a:lnTo>
                  <a:lnTo>
                    <a:pt x="9" y="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9" name="Freeform 198">
              <a:extLst>
                <a:ext uri="{FF2B5EF4-FFF2-40B4-BE49-F238E27FC236}">
                  <a16:creationId xmlns:a16="http://schemas.microsoft.com/office/drawing/2014/main" id="{E71FF3D1-22BB-76D6-A08E-F33B186D950D}"/>
                </a:ext>
              </a:extLst>
            </p:cNvPr>
            <p:cNvSpPr>
              <a:spLocks/>
            </p:cNvSpPr>
            <p:nvPr/>
          </p:nvSpPr>
          <p:spPr bwMode="auto">
            <a:xfrm>
              <a:off x="2457" y="2813"/>
              <a:ext cx="28" cy="17"/>
            </a:xfrm>
            <a:custGeom>
              <a:avLst/>
              <a:gdLst>
                <a:gd name="T0" fmla="*/ 0 w 17"/>
                <a:gd name="T1" fmla="*/ 113 h 15"/>
                <a:gd name="T2" fmla="*/ 261815 w 17"/>
                <a:gd name="T3" fmla="*/ 0 h 15"/>
                <a:gd name="T4" fmla="*/ 208753 w 17"/>
                <a:gd name="T5" fmla="*/ 0 h 15"/>
                <a:gd name="T6" fmla="*/ 208753 w 17"/>
                <a:gd name="T7" fmla="*/ 186 h 15"/>
                <a:gd name="T8" fmla="*/ 261815 w 17"/>
                <a:gd name="T9" fmla="*/ 186 h 15"/>
                <a:gd name="T10" fmla="*/ 462695 w 17"/>
                <a:gd name="T11" fmla="*/ 69 h 15"/>
                <a:gd name="T12" fmla="*/ 261815 w 17"/>
                <a:gd name="T13" fmla="*/ 186 h 15"/>
                <a:gd name="T14" fmla="*/ 566305 w 17"/>
                <a:gd name="T15" fmla="*/ 186 h 15"/>
                <a:gd name="T16" fmla="*/ 462695 w 17"/>
                <a:gd name="T17" fmla="*/ 69 h 15"/>
                <a:gd name="T18" fmla="*/ 0 w 17"/>
                <a:gd name="T19" fmla="*/ 113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5"/>
                <a:gd name="T32" fmla="*/ 17 w 17"/>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5">
                  <a:moveTo>
                    <a:pt x="0" y="9"/>
                  </a:moveTo>
                  <a:lnTo>
                    <a:pt x="7" y="0"/>
                  </a:lnTo>
                  <a:lnTo>
                    <a:pt x="6" y="0"/>
                  </a:lnTo>
                  <a:lnTo>
                    <a:pt x="6" y="14"/>
                  </a:lnTo>
                  <a:lnTo>
                    <a:pt x="7" y="14"/>
                  </a:lnTo>
                  <a:lnTo>
                    <a:pt x="13" y="5"/>
                  </a:lnTo>
                  <a:lnTo>
                    <a:pt x="7" y="14"/>
                  </a:lnTo>
                  <a:lnTo>
                    <a:pt x="16" y="14"/>
                  </a:lnTo>
                  <a:lnTo>
                    <a:pt x="13" y="5"/>
                  </a:lnTo>
                  <a:lnTo>
                    <a:pt x="0"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0" name="Freeform 199">
              <a:extLst>
                <a:ext uri="{FF2B5EF4-FFF2-40B4-BE49-F238E27FC236}">
                  <a16:creationId xmlns:a16="http://schemas.microsoft.com/office/drawing/2014/main" id="{774B5B97-DBBD-9AB0-0AB5-8940C1D4606E}"/>
                </a:ext>
              </a:extLst>
            </p:cNvPr>
            <p:cNvSpPr>
              <a:spLocks/>
            </p:cNvSpPr>
            <p:nvPr/>
          </p:nvSpPr>
          <p:spPr bwMode="auto">
            <a:xfrm>
              <a:off x="2457" y="2753"/>
              <a:ext cx="135" cy="72"/>
            </a:xfrm>
            <a:custGeom>
              <a:avLst/>
              <a:gdLst>
                <a:gd name="T0" fmla="*/ 1876263 w 83"/>
                <a:gd name="T1" fmla="*/ 73 h 63"/>
                <a:gd name="T2" fmla="*/ 1826529 w 83"/>
                <a:gd name="T3" fmla="*/ 83 h 63"/>
                <a:gd name="T4" fmla="*/ 1693565 w 83"/>
                <a:gd name="T5" fmla="*/ 186 h 63"/>
                <a:gd name="T6" fmla="*/ 1396547 w 83"/>
                <a:gd name="T7" fmla="*/ 278 h 63"/>
                <a:gd name="T8" fmla="*/ 1010226 w 83"/>
                <a:gd name="T9" fmla="*/ 394 h 63"/>
                <a:gd name="T10" fmla="*/ 647263 w 83"/>
                <a:gd name="T11" fmla="*/ 514 h 63"/>
                <a:gd name="T12" fmla="*/ 298311 w 83"/>
                <a:gd name="T13" fmla="*/ 637 h 63"/>
                <a:gd name="T14" fmla="*/ 49802 w 83"/>
                <a:gd name="T15" fmla="*/ 808 h 63"/>
                <a:gd name="T16" fmla="*/ 0 w 83"/>
                <a:gd name="T17" fmla="*/ 1032 h 63"/>
                <a:gd name="T18" fmla="*/ 348552 w 83"/>
                <a:gd name="T19" fmla="*/ 951 h 63"/>
                <a:gd name="T20" fmla="*/ 348552 w 83"/>
                <a:gd name="T21" fmla="*/ 923 h 63"/>
                <a:gd name="T22" fmla="*/ 516027 w 83"/>
                <a:gd name="T23" fmla="*/ 823 h 63"/>
                <a:gd name="T24" fmla="*/ 823515 w 83"/>
                <a:gd name="T25" fmla="*/ 707 h 63"/>
                <a:gd name="T26" fmla="*/ 1206051 w 83"/>
                <a:gd name="T27" fmla="*/ 605 h 63"/>
                <a:gd name="T28" fmla="*/ 1581854 w 83"/>
                <a:gd name="T29" fmla="*/ 474 h 63"/>
                <a:gd name="T30" fmla="*/ 1911842 w 83"/>
                <a:gd name="T31" fmla="*/ 345 h 63"/>
                <a:gd name="T32" fmla="*/ 2147751 w 83"/>
                <a:gd name="T33" fmla="*/ 213 h 63"/>
                <a:gd name="T34" fmla="*/ 2229344 w 83"/>
                <a:gd name="T35" fmla="*/ 0 h 63"/>
                <a:gd name="T36" fmla="*/ 1876263 w 83"/>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7" y="5"/>
                  </a:lnTo>
                  <a:lnTo>
                    <a:pt x="62" y="11"/>
                  </a:lnTo>
                  <a:lnTo>
                    <a:pt x="51" y="17"/>
                  </a:lnTo>
                  <a:lnTo>
                    <a:pt x="37" y="24"/>
                  </a:lnTo>
                  <a:lnTo>
                    <a:pt x="24" y="31"/>
                  </a:lnTo>
                  <a:lnTo>
                    <a:pt x="11" y="39"/>
                  </a:lnTo>
                  <a:lnTo>
                    <a:pt x="2" y="49"/>
                  </a:lnTo>
                  <a:lnTo>
                    <a:pt x="0" y="62"/>
                  </a:lnTo>
                  <a:lnTo>
                    <a:pt x="13" y="58"/>
                  </a:lnTo>
                  <a:lnTo>
                    <a:pt x="13" y="56"/>
                  </a:lnTo>
                  <a:lnTo>
                    <a:pt x="19" y="50"/>
                  </a:lnTo>
                  <a:lnTo>
                    <a:pt x="30" y="43"/>
                  </a:lnTo>
                  <a:lnTo>
                    <a:pt x="44" y="36"/>
                  </a:lnTo>
                  <a:lnTo>
                    <a:pt x="58" y="29"/>
                  </a:lnTo>
                  <a:lnTo>
                    <a:pt x="70"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1" name="Freeform 200">
              <a:extLst>
                <a:ext uri="{FF2B5EF4-FFF2-40B4-BE49-F238E27FC236}">
                  <a16:creationId xmlns:a16="http://schemas.microsoft.com/office/drawing/2014/main" id="{03CBA4E6-37D6-EA66-C876-AF447FF28C7C}"/>
                </a:ext>
              </a:extLst>
            </p:cNvPr>
            <p:cNvSpPr>
              <a:spLocks/>
            </p:cNvSpPr>
            <p:nvPr/>
          </p:nvSpPr>
          <p:spPr bwMode="auto">
            <a:xfrm>
              <a:off x="2419" y="2724"/>
              <a:ext cx="173" cy="34"/>
            </a:xfrm>
            <a:custGeom>
              <a:avLst/>
              <a:gdLst>
                <a:gd name="T0" fmla="*/ 0 w 106"/>
                <a:gd name="T1" fmla="*/ 61 h 30"/>
                <a:gd name="T2" fmla="*/ 228735 w 106"/>
                <a:gd name="T3" fmla="*/ 186 h 30"/>
                <a:gd name="T4" fmla="*/ 609275 w 106"/>
                <a:gd name="T5" fmla="*/ 239 h 30"/>
                <a:gd name="T6" fmla="*/ 1059028 w 106"/>
                <a:gd name="T7" fmla="*/ 271 h 30"/>
                <a:gd name="T8" fmla="*/ 1530828 w 106"/>
                <a:gd name="T9" fmla="*/ 298 h 30"/>
                <a:gd name="T10" fmla="*/ 1989524 w 106"/>
                <a:gd name="T11" fmla="*/ 299 h 30"/>
                <a:gd name="T12" fmla="*/ 2370041 w 106"/>
                <a:gd name="T13" fmla="*/ 338 h 30"/>
                <a:gd name="T14" fmla="*/ 2648708 w 106"/>
                <a:gd name="T15" fmla="*/ 383 h 30"/>
                <a:gd name="T16" fmla="*/ 2702097 w 106"/>
                <a:gd name="T17" fmla="*/ 394 h 30"/>
                <a:gd name="T18" fmla="*/ 3075039 w 106"/>
                <a:gd name="T19" fmla="*/ 339 h 30"/>
                <a:gd name="T20" fmla="*/ 2820902 w 106"/>
                <a:gd name="T21" fmla="*/ 206 h 30"/>
                <a:gd name="T22" fmla="*/ 2468792 w 106"/>
                <a:gd name="T23" fmla="*/ 145 h 30"/>
                <a:gd name="T24" fmla="*/ 2027495 w 106"/>
                <a:gd name="T25" fmla="*/ 113 h 30"/>
                <a:gd name="T26" fmla="*/ 1568018 w 106"/>
                <a:gd name="T27" fmla="*/ 100 h 30"/>
                <a:gd name="T28" fmla="*/ 1079154 w 106"/>
                <a:gd name="T29" fmla="*/ 88 h 30"/>
                <a:gd name="T30" fmla="*/ 701815 w 106"/>
                <a:gd name="T31" fmla="*/ 69 h 30"/>
                <a:gd name="T32" fmla="*/ 430014 w 106"/>
                <a:gd name="T33" fmla="*/ 3 h 30"/>
                <a:gd name="T34" fmla="*/ 373313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1"/>
                  </a:lnTo>
                  <a:lnTo>
                    <a:pt x="68" y="22"/>
                  </a:lnTo>
                  <a:lnTo>
                    <a:pt x="81" y="24"/>
                  </a:lnTo>
                  <a:lnTo>
                    <a:pt x="90" y="27"/>
                  </a:lnTo>
                  <a:lnTo>
                    <a:pt x="92" y="29"/>
                  </a:lnTo>
                  <a:lnTo>
                    <a:pt x="105" y="25"/>
                  </a:lnTo>
                  <a:lnTo>
                    <a:pt x="96" y="15"/>
                  </a:lnTo>
                  <a:lnTo>
                    <a:pt x="84" y="11"/>
                  </a:lnTo>
                  <a:lnTo>
                    <a:pt x="69" y="9"/>
                  </a:lnTo>
                  <a:lnTo>
                    <a:pt x="53" y="8"/>
                  </a:lnTo>
                  <a:lnTo>
                    <a:pt x="37"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2" name="Freeform 201">
              <a:extLst>
                <a:ext uri="{FF2B5EF4-FFF2-40B4-BE49-F238E27FC236}">
                  <a16:creationId xmlns:a16="http://schemas.microsoft.com/office/drawing/2014/main" id="{9D728768-939E-7F1A-F7D4-E486CCA29387}"/>
                </a:ext>
              </a:extLst>
            </p:cNvPr>
            <p:cNvSpPr>
              <a:spLocks/>
            </p:cNvSpPr>
            <p:nvPr/>
          </p:nvSpPr>
          <p:spPr bwMode="auto">
            <a:xfrm>
              <a:off x="2419" y="2657"/>
              <a:ext cx="136" cy="72"/>
            </a:xfrm>
            <a:custGeom>
              <a:avLst/>
              <a:gdLst>
                <a:gd name="T0" fmla="*/ 2195491 w 83"/>
                <a:gd name="T1" fmla="*/ 3 h 63"/>
                <a:gd name="T2" fmla="*/ 2160471 w 83"/>
                <a:gd name="T3" fmla="*/ 83 h 63"/>
                <a:gd name="T4" fmla="*/ 1987493 w 83"/>
                <a:gd name="T5" fmla="*/ 186 h 63"/>
                <a:gd name="T6" fmla="*/ 1636031 w 83"/>
                <a:gd name="T7" fmla="*/ 278 h 63"/>
                <a:gd name="T8" fmla="*/ 1212955 w 83"/>
                <a:gd name="T9" fmla="*/ 394 h 63"/>
                <a:gd name="T10" fmla="*/ 761179 w 83"/>
                <a:gd name="T11" fmla="*/ 514 h 63"/>
                <a:gd name="T12" fmla="*/ 389068 w 83"/>
                <a:gd name="T13" fmla="*/ 637 h 63"/>
                <a:gd name="T14" fmla="*/ 56548 w 83"/>
                <a:gd name="T15" fmla="*/ 808 h 63"/>
                <a:gd name="T16" fmla="*/ 0 w 83"/>
                <a:gd name="T17" fmla="*/ 1032 h 63"/>
                <a:gd name="T18" fmla="*/ 407626 w 83"/>
                <a:gd name="T19" fmla="*/ 951 h 63"/>
                <a:gd name="T20" fmla="*/ 451776 w 83"/>
                <a:gd name="T21" fmla="*/ 905 h 63"/>
                <a:gd name="T22" fmla="*/ 637509 w 83"/>
                <a:gd name="T23" fmla="*/ 823 h 63"/>
                <a:gd name="T24" fmla="*/ 998460 w 83"/>
                <a:gd name="T25" fmla="*/ 707 h 63"/>
                <a:gd name="T26" fmla="*/ 1398653 w 83"/>
                <a:gd name="T27" fmla="*/ 605 h 63"/>
                <a:gd name="T28" fmla="*/ 1855348 w 83"/>
                <a:gd name="T29" fmla="*/ 474 h 63"/>
                <a:gd name="T30" fmla="*/ 2232686 w 83"/>
                <a:gd name="T31" fmla="*/ 345 h 63"/>
                <a:gd name="T32" fmla="*/ 2549956 w 83"/>
                <a:gd name="T33" fmla="*/ 202 h 63"/>
                <a:gd name="T34" fmla="*/ 2609697 w 83"/>
                <a:gd name="T35" fmla="*/ 0 h 63"/>
                <a:gd name="T36" fmla="*/ 2195491 w 83"/>
                <a:gd name="T37" fmla="*/ 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3"/>
                  </a:moveTo>
                  <a:lnTo>
                    <a:pt x="68" y="5"/>
                  </a:lnTo>
                  <a:lnTo>
                    <a:pt x="62" y="11"/>
                  </a:lnTo>
                  <a:lnTo>
                    <a:pt x="51" y="17"/>
                  </a:lnTo>
                  <a:lnTo>
                    <a:pt x="38" y="24"/>
                  </a:lnTo>
                  <a:lnTo>
                    <a:pt x="24" y="31"/>
                  </a:lnTo>
                  <a:lnTo>
                    <a:pt x="12" y="39"/>
                  </a:lnTo>
                  <a:lnTo>
                    <a:pt x="2" y="49"/>
                  </a:lnTo>
                  <a:lnTo>
                    <a:pt x="0" y="62"/>
                  </a:lnTo>
                  <a:lnTo>
                    <a:pt x="13" y="58"/>
                  </a:lnTo>
                  <a:lnTo>
                    <a:pt x="14" y="55"/>
                  </a:lnTo>
                  <a:lnTo>
                    <a:pt x="20" y="50"/>
                  </a:lnTo>
                  <a:lnTo>
                    <a:pt x="31" y="43"/>
                  </a:lnTo>
                  <a:lnTo>
                    <a:pt x="44" y="36"/>
                  </a:lnTo>
                  <a:lnTo>
                    <a:pt x="58" y="29"/>
                  </a:lnTo>
                  <a:lnTo>
                    <a:pt x="70" y="21"/>
                  </a:lnTo>
                  <a:lnTo>
                    <a:pt x="80" y="12"/>
                  </a:lnTo>
                  <a:lnTo>
                    <a:pt x="82" y="0"/>
                  </a:lnTo>
                  <a:lnTo>
                    <a:pt x="69"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3" name="Freeform 202">
              <a:extLst>
                <a:ext uri="{FF2B5EF4-FFF2-40B4-BE49-F238E27FC236}">
                  <a16:creationId xmlns:a16="http://schemas.microsoft.com/office/drawing/2014/main" id="{415C677B-79AA-7E40-3D28-9548AD0F14EA}"/>
                </a:ext>
              </a:extLst>
            </p:cNvPr>
            <p:cNvSpPr>
              <a:spLocks/>
            </p:cNvSpPr>
            <p:nvPr/>
          </p:nvSpPr>
          <p:spPr bwMode="auto">
            <a:xfrm>
              <a:off x="2383" y="2631"/>
              <a:ext cx="172" cy="31"/>
            </a:xfrm>
            <a:custGeom>
              <a:avLst/>
              <a:gdLst>
                <a:gd name="T0" fmla="*/ 0 w 104"/>
                <a:gd name="T1" fmla="*/ 119 h 27"/>
                <a:gd name="T2" fmla="*/ 0 w 104"/>
                <a:gd name="T3" fmla="*/ 91 h 27"/>
                <a:gd name="T4" fmla="*/ 286119 w 104"/>
                <a:gd name="T5" fmla="*/ 249 h 27"/>
                <a:gd name="T6" fmla="*/ 782595 w 104"/>
                <a:gd name="T7" fmla="*/ 313 h 27"/>
                <a:gd name="T8" fmla="*/ 1361491 w 104"/>
                <a:gd name="T9" fmla="*/ 328 h 27"/>
                <a:gd name="T10" fmla="*/ 1967544 w 104"/>
                <a:gd name="T11" fmla="*/ 355 h 27"/>
                <a:gd name="T12" fmla="*/ 2552581 w 104"/>
                <a:gd name="T13" fmla="*/ 355 h 27"/>
                <a:gd name="T14" fmla="*/ 3076101 w 104"/>
                <a:gd name="T15" fmla="*/ 377 h 27"/>
                <a:gd name="T16" fmla="*/ 3421168 w 104"/>
                <a:gd name="T17" fmla="*/ 433 h 27"/>
                <a:gd name="T18" fmla="*/ 3487763 w 104"/>
                <a:gd name="T19" fmla="*/ 473 h 27"/>
                <a:gd name="T20" fmla="*/ 3985470 w 104"/>
                <a:gd name="T21" fmla="*/ 408 h 27"/>
                <a:gd name="T22" fmla="*/ 3627508 w 104"/>
                <a:gd name="T23" fmla="*/ 217 h 27"/>
                <a:gd name="T24" fmla="*/ 3186115 w 104"/>
                <a:gd name="T25" fmla="*/ 137 h 27"/>
                <a:gd name="T26" fmla="*/ 2606496 w 104"/>
                <a:gd name="T27" fmla="*/ 104 h 27"/>
                <a:gd name="T28" fmla="*/ 1967544 w 104"/>
                <a:gd name="T29" fmla="*/ 91 h 27"/>
                <a:gd name="T30" fmla="*/ 1361491 w 104"/>
                <a:gd name="T31" fmla="*/ 91 h 27"/>
                <a:gd name="T32" fmla="*/ 849172 w 104"/>
                <a:gd name="T33" fmla="*/ 79 h 27"/>
                <a:gd name="T34" fmla="*/ 537993 w 104"/>
                <a:gd name="T35" fmla="*/ 2 h 27"/>
                <a:gd name="T36" fmla="*/ 513453 w 104"/>
                <a:gd name="T37" fmla="*/ 1 h 27"/>
                <a:gd name="T38" fmla="*/ 473197 w 104"/>
                <a:gd name="T39" fmla="*/ 0 h 27"/>
                <a:gd name="T40" fmla="*/ 513453 w 104"/>
                <a:gd name="T41" fmla="*/ 1 h 27"/>
                <a:gd name="T42" fmla="*/ 473197 w 104"/>
                <a:gd name="T43" fmla="*/ 0 h 27"/>
                <a:gd name="T44" fmla="*/ 0 w 104"/>
                <a:gd name="T45" fmla="*/ 119 h 2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4"/>
                <a:gd name="T70" fmla="*/ 0 h 27"/>
                <a:gd name="T71" fmla="*/ 104 w 104"/>
                <a:gd name="T72" fmla="*/ 27 h 2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4" h="27">
                  <a:moveTo>
                    <a:pt x="0" y="7"/>
                  </a:moveTo>
                  <a:lnTo>
                    <a:pt x="0" y="5"/>
                  </a:lnTo>
                  <a:lnTo>
                    <a:pt x="7" y="14"/>
                  </a:lnTo>
                  <a:lnTo>
                    <a:pt x="20" y="17"/>
                  </a:lnTo>
                  <a:lnTo>
                    <a:pt x="35" y="18"/>
                  </a:lnTo>
                  <a:lnTo>
                    <a:pt x="51" y="19"/>
                  </a:lnTo>
                  <a:lnTo>
                    <a:pt x="66" y="19"/>
                  </a:lnTo>
                  <a:lnTo>
                    <a:pt x="79" y="21"/>
                  </a:lnTo>
                  <a:lnTo>
                    <a:pt x="88" y="24"/>
                  </a:lnTo>
                  <a:lnTo>
                    <a:pt x="90" y="26"/>
                  </a:lnTo>
                  <a:lnTo>
                    <a:pt x="103" y="22"/>
                  </a:lnTo>
                  <a:lnTo>
                    <a:pt x="94" y="12"/>
                  </a:lnTo>
                  <a:lnTo>
                    <a:pt x="82" y="8"/>
                  </a:lnTo>
                  <a:lnTo>
                    <a:pt x="67" y="6"/>
                  </a:lnTo>
                  <a:lnTo>
                    <a:pt x="51" y="5"/>
                  </a:lnTo>
                  <a:lnTo>
                    <a:pt x="35" y="5"/>
                  </a:lnTo>
                  <a:lnTo>
                    <a:pt x="22" y="4"/>
                  </a:lnTo>
                  <a:lnTo>
                    <a:pt x="14" y="2"/>
                  </a:lnTo>
                  <a:lnTo>
                    <a:pt x="13" y="1"/>
                  </a:lnTo>
                  <a:lnTo>
                    <a:pt x="12" y="0"/>
                  </a:lnTo>
                  <a:lnTo>
                    <a:pt x="13" y="1"/>
                  </a:lnTo>
                  <a:lnTo>
                    <a:pt x="12" y="0"/>
                  </a:lnTo>
                  <a:lnTo>
                    <a:pt x="0" y="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4" name="Freeform 203">
              <a:extLst>
                <a:ext uri="{FF2B5EF4-FFF2-40B4-BE49-F238E27FC236}">
                  <a16:creationId xmlns:a16="http://schemas.microsoft.com/office/drawing/2014/main" id="{E2A3D3AD-4187-CCAD-13D7-2656C0A982FE}"/>
                </a:ext>
              </a:extLst>
            </p:cNvPr>
            <p:cNvSpPr>
              <a:spLocks/>
            </p:cNvSpPr>
            <p:nvPr/>
          </p:nvSpPr>
          <p:spPr bwMode="auto">
            <a:xfrm>
              <a:off x="2382" y="2630"/>
              <a:ext cx="24" cy="11"/>
            </a:xfrm>
            <a:custGeom>
              <a:avLst/>
              <a:gdLst>
                <a:gd name="T0" fmla="*/ 0 w 14"/>
                <a:gd name="T1" fmla="*/ 323 h 9"/>
                <a:gd name="T2" fmla="*/ 84792 w 14"/>
                <a:gd name="T3" fmla="*/ 395 h 9"/>
                <a:gd name="T4" fmla="*/ 84792 w 14"/>
                <a:gd name="T5" fmla="*/ 543 h 9"/>
                <a:gd name="T6" fmla="*/ 1057803 w 14"/>
                <a:gd name="T7" fmla="*/ 1 h 9"/>
                <a:gd name="T8" fmla="*/ 1012678 w 14"/>
                <a:gd name="T9" fmla="*/ 0 h 9"/>
                <a:gd name="T10" fmla="*/ 1057803 w 14"/>
                <a:gd name="T11" fmla="*/ 1 h 9"/>
                <a:gd name="T12" fmla="*/ 0 w 14"/>
                <a:gd name="T13" fmla="*/ 323 h 9"/>
                <a:gd name="T14" fmla="*/ 0 w 14"/>
                <a:gd name="T15" fmla="*/ 395 h 9"/>
                <a:gd name="T16" fmla="*/ 84792 w 14"/>
                <a:gd name="T17" fmla="*/ 395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1" y="6"/>
                  </a:lnTo>
                  <a:lnTo>
                    <a:pt x="1" y="8"/>
                  </a:lnTo>
                  <a:lnTo>
                    <a:pt x="13" y="1"/>
                  </a:lnTo>
                  <a:lnTo>
                    <a:pt x="12" y="0"/>
                  </a:lnTo>
                  <a:lnTo>
                    <a:pt x="13" y="1"/>
                  </a:lnTo>
                  <a:lnTo>
                    <a:pt x="0" y="5"/>
                  </a:lnTo>
                  <a:lnTo>
                    <a:pt x="0" y="6"/>
                  </a:lnTo>
                  <a:lnTo>
                    <a:pt x="1" y="6"/>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5" name="Freeform 204">
              <a:extLst>
                <a:ext uri="{FF2B5EF4-FFF2-40B4-BE49-F238E27FC236}">
                  <a16:creationId xmlns:a16="http://schemas.microsoft.com/office/drawing/2014/main" id="{7F59B608-D84F-EF38-D393-1A405607A26F}"/>
                </a:ext>
              </a:extLst>
            </p:cNvPr>
            <p:cNvSpPr>
              <a:spLocks/>
            </p:cNvSpPr>
            <p:nvPr/>
          </p:nvSpPr>
          <p:spPr bwMode="auto">
            <a:xfrm>
              <a:off x="2382" y="2565"/>
              <a:ext cx="135" cy="73"/>
            </a:xfrm>
            <a:custGeom>
              <a:avLst/>
              <a:gdLst>
                <a:gd name="T0" fmla="*/ 2394339 w 82"/>
                <a:gd name="T1" fmla="*/ 126 h 62"/>
                <a:gd name="T2" fmla="*/ 2353109 w 82"/>
                <a:gd name="T3" fmla="*/ 174 h 62"/>
                <a:gd name="T4" fmla="*/ 2149498 w 82"/>
                <a:gd name="T5" fmla="*/ 370 h 62"/>
                <a:gd name="T6" fmla="*/ 1793710 w 82"/>
                <a:gd name="T7" fmla="*/ 604 h 62"/>
                <a:gd name="T8" fmla="*/ 1352084 w 82"/>
                <a:gd name="T9" fmla="*/ 837 h 62"/>
                <a:gd name="T10" fmla="*/ 859589 w 82"/>
                <a:gd name="T11" fmla="*/ 1022 h 62"/>
                <a:gd name="T12" fmla="*/ 427515 w 82"/>
                <a:gd name="T13" fmla="*/ 1276 h 62"/>
                <a:gd name="T14" fmla="*/ 101853 w 82"/>
                <a:gd name="T15" fmla="*/ 1502 h 62"/>
                <a:gd name="T16" fmla="*/ 0 w 82"/>
                <a:gd name="T17" fmla="*/ 1896 h 62"/>
                <a:gd name="T18" fmla="*/ 454501 w 82"/>
                <a:gd name="T19" fmla="*/ 1787 h 62"/>
                <a:gd name="T20" fmla="*/ 498843 w 82"/>
                <a:gd name="T21" fmla="*/ 1736 h 62"/>
                <a:gd name="T22" fmla="*/ 661778 w 82"/>
                <a:gd name="T23" fmla="*/ 1594 h 62"/>
                <a:gd name="T24" fmla="*/ 1051098 w 82"/>
                <a:gd name="T25" fmla="*/ 1376 h 62"/>
                <a:gd name="T26" fmla="*/ 1549621 w 82"/>
                <a:gd name="T27" fmla="*/ 1161 h 62"/>
                <a:gd name="T28" fmla="*/ 2028125 w 82"/>
                <a:gd name="T29" fmla="*/ 921 h 62"/>
                <a:gd name="T30" fmla="*/ 2455820 w 82"/>
                <a:gd name="T31" fmla="*/ 711 h 62"/>
                <a:gd name="T32" fmla="*/ 2781519 w 82"/>
                <a:gd name="T33" fmla="*/ 393 h 62"/>
                <a:gd name="T34" fmla="*/ 2848938 w 82"/>
                <a:gd name="T35" fmla="*/ 0 h 62"/>
                <a:gd name="T36" fmla="*/ 2394339 w 82"/>
                <a:gd name="T37" fmla="*/ 126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2"/>
                <a:gd name="T59" fmla="*/ 82 w 82"/>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2">
                  <a:moveTo>
                    <a:pt x="68" y="4"/>
                  </a:moveTo>
                  <a:lnTo>
                    <a:pt x="67" y="6"/>
                  </a:lnTo>
                  <a:lnTo>
                    <a:pt x="61" y="12"/>
                  </a:lnTo>
                  <a:lnTo>
                    <a:pt x="51" y="19"/>
                  </a:lnTo>
                  <a:lnTo>
                    <a:pt x="38" y="26"/>
                  </a:lnTo>
                  <a:lnTo>
                    <a:pt x="24" y="33"/>
                  </a:lnTo>
                  <a:lnTo>
                    <a:pt x="12" y="41"/>
                  </a:lnTo>
                  <a:lnTo>
                    <a:pt x="3" y="48"/>
                  </a:lnTo>
                  <a:lnTo>
                    <a:pt x="0" y="61"/>
                  </a:lnTo>
                  <a:lnTo>
                    <a:pt x="13" y="58"/>
                  </a:lnTo>
                  <a:lnTo>
                    <a:pt x="14" y="56"/>
                  </a:lnTo>
                  <a:lnTo>
                    <a:pt x="19" y="51"/>
                  </a:lnTo>
                  <a:lnTo>
                    <a:pt x="30" y="45"/>
                  </a:lnTo>
                  <a:lnTo>
                    <a:pt x="44" y="37"/>
                  </a:lnTo>
                  <a:lnTo>
                    <a:pt x="58" y="30"/>
                  </a:lnTo>
                  <a:lnTo>
                    <a:pt x="70" y="22"/>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6" name="Freeform 205">
              <a:extLst>
                <a:ext uri="{FF2B5EF4-FFF2-40B4-BE49-F238E27FC236}">
                  <a16:creationId xmlns:a16="http://schemas.microsoft.com/office/drawing/2014/main" id="{3644519A-DC26-A6D0-93F7-6A8189F7FB12}"/>
                </a:ext>
              </a:extLst>
            </p:cNvPr>
            <p:cNvSpPr>
              <a:spLocks/>
            </p:cNvSpPr>
            <p:nvPr/>
          </p:nvSpPr>
          <p:spPr bwMode="auto">
            <a:xfrm>
              <a:off x="2343" y="2537"/>
              <a:ext cx="174" cy="34"/>
            </a:xfrm>
            <a:custGeom>
              <a:avLst/>
              <a:gdLst>
                <a:gd name="T0" fmla="*/ 0 w 106"/>
                <a:gd name="T1" fmla="*/ 103 h 29"/>
                <a:gd name="T2" fmla="*/ 255808 w 106"/>
                <a:gd name="T3" fmla="*/ 368 h 29"/>
                <a:gd name="T4" fmla="*/ 689288 w 106"/>
                <a:gd name="T5" fmla="*/ 494 h 29"/>
                <a:gd name="T6" fmla="*/ 1189907 w 106"/>
                <a:gd name="T7" fmla="*/ 516 h 29"/>
                <a:gd name="T8" fmla="*/ 1762354 w 106"/>
                <a:gd name="T9" fmla="*/ 579 h 29"/>
                <a:gd name="T10" fmla="*/ 2226709 w 106"/>
                <a:gd name="T11" fmla="*/ 579 h 29"/>
                <a:gd name="T12" fmla="*/ 2681420 w 106"/>
                <a:gd name="T13" fmla="*/ 605 h 29"/>
                <a:gd name="T14" fmla="*/ 2987436 w 106"/>
                <a:gd name="T15" fmla="*/ 709 h 29"/>
                <a:gd name="T16" fmla="*/ 3048815 w 106"/>
                <a:gd name="T17" fmla="*/ 810 h 29"/>
                <a:gd name="T18" fmla="*/ 3468237 w 106"/>
                <a:gd name="T19" fmla="*/ 691 h 29"/>
                <a:gd name="T20" fmla="*/ 3206268 w 106"/>
                <a:gd name="T21" fmla="*/ 375 h 29"/>
                <a:gd name="T22" fmla="*/ 2792912 w 106"/>
                <a:gd name="T23" fmla="*/ 268 h 29"/>
                <a:gd name="T24" fmla="*/ 2274976 w 106"/>
                <a:gd name="T25" fmla="*/ 195 h 29"/>
                <a:gd name="T26" fmla="*/ 1762354 w 106"/>
                <a:gd name="T27" fmla="*/ 195 h 29"/>
                <a:gd name="T28" fmla="*/ 1250712 w 106"/>
                <a:gd name="T29" fmla="*/ 166 h 29"/>
                <a:gd name="T30" fmla="*/ 784113 w 106"/>
                <a:gd name="T31" fmla="*/ 121 h 29"/>
                <a:gd name="T32" fmla="*/ 503423 w 106"/>
                <a:gd name="T33" fmla="*/ 2 h 29"/>
                <a:gd name="T34" fmla="*/ 419911 w 106"/>
                <a:gd name="T35" fmla="*/ 0 h 29"/>
                <a:gd name="T36" fmla="*/ 0 w 106"/>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3" y="20"/>
                  </a:lnTo>
                  <a:lnTo>
                    <a:pt x="67" y="20"/>
                  </a:lnTo>
                  <a:lnTo>
                    <a:pt x="81" y="22"/>
                  </a:lnTo>
                  <a:lnTo>
                    <a:pt x="90" y="26"/>
                  </a:lnTo>
                  <a:lnTo>
                    <a:pt x="92" y="28"/>
                  </a:lnTo>
                  <a:lnTo>
                    <a:pt x="105" y="24"/>
                  </a:lnTo>
                  <a:lnTo>
                    <a:pt x="97" y="14"/>
                  </a:lnTo>
                  <a:lnTo>
                    <a:pt x="84" y="9"/>
                  </a:lnTo>
                  <a:lnTo>
                    <a:pt x="69" y="7"/>
                  </a:lnTo>
                  <a:lnTo>
                    <a:pt x="53" y="7"/>
                  </a:lnTo>
                  <a:lnTo>
                    <a:pt x="38" y="6"/>
                  </a:lnTo>
                  <a:lnTo>
                    <a:pt x="24" y="4"/>
                  </a:lnTo>
                  <a:lnTo>
                    <a:pt x="15"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7" name="Freeform 206">
              <a:extLst>
                <a:ext uri="{FF2B5EF4-FFF2-40B4-BE49-F238E27FC236}">
                  <a16:creationId xmlns:a16="http://schemas.microsoft.com/office/drawing/2014/main" id="{113B3E35-A149-C7D3-196B-1D05A9525CA2}"/>
                </a:ext>
              </a:extLst>
            </p:cNvPr>
            <p:cNvSpPr>
              <a:spLocks/>
            </p:cNvSpPr>
            <p:nvPr/>
          </p:nvSpPr>
          <p:spPr bwMode="auto">
            <a:xfrm>
              <a:off x="2343" y="2470"/>
              <a:ext cx="138" cy="73"/>
            </a:xfrm>
            <a:custGeom>
              <a:avLst/>
              <a:gdLst>
                <a:gd name="T0" fmla="*/ 2353327 w 84"/>
                <a:gd name="T1" fmla="*/ 73 h 64"/>
                <a:gd name="T2" fmla="*/ 2325254 w 84"/>
                <a:gd name="T3" fmla="*/ 108 h 64"/>
                <a:gd name="T4" fmla="*/ 2114707 w 84"/>
                <a:gd name="T5" fmla="*/ 192 h 64"/>
                <a:gd name="T6" fmla="*/ 1748426 w 84"/>
                <a:gd name="T7" fmla="*/ 309 h 64"/>
                <a:gd name="T8" fmla="*/ 1309553 w 84"/>
                <a:gd name="T9" fmla="*/ 409 h 64"/>
                <a:gd name="T10" fmla="*/ 836973 w 84"/>
                <a:gd name="T11" fmla="*/ 533 h 64"/>
                <a:gd name="T12" fmla="*/ 439537 w 84"/>
                <a:gd name="T13" fmla="*/ 664 h 64"/>
                <a:gd name="T14" fmla="*/ 99128 w 84"/>
                <a:gd name="T15" fmla="*/ 792 h 64"/>
                <a:gd name="T16" fmla="*/ 0 w 84"/>
                <a:gd name="T17" fmla="*/ 1000 h 64"/>
                <a:gd name="T18" fmla="*/ 439537 w 84"/>
                <a:gd name="T19" fmla="*/ 931 h 64"/>
                <a:gd name="T20" fmla="*/ 509462 w 84"/>
                <a:gd name="T21" fmla="*/ 925 h 64"/>
                <a:gd name="T22" fmla="*/ 722097 w 84"/>
                <a:gd name="T23" fmla="*/ 811 h 64"/>
                <a:gd name="T24" fmla="*/ 1087333 w 84"/>
                <a:gd name="T25" fmla="*/ 711 h 64"/>
                <a:gd name="T26" fmla="*/ 1524090 w 84"/>
                <a:gd name="T27" fmla="*/ 598 h 64"/>
                <a:gd name="T28" fmla="*/ 1984371 w 84"/>
                <a:gd name="T29" fmla="*/ 482 h 64"/>
                <a:gd name="T30" fmla="*/ 2396631 w 84"/>
                <a:gd name="T31" fmla="*/ 359 h 64"/>
                <a:gd name="T32" fmla="*/ 2733325 w 84"/>
                <a:gd name="T33" fmla="*/ 209 h 64"/>
                <a:gd name="T34" fmla="*/ 2779841 w 84"/>
                <a:gd name="T35" fmla="*/ 0 h 64"/>
                <a:gd name="T36" fmla="*/ 2353327 w 84"/>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4"/>
                <a:gd name="T59" fmla="*/ 84 w 84"/>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4">
                  <a:moveTo>
                    <a:pt x="70" y="4"/>
                  </a:moveTo>
                  <a:lnTo>
                    <a:pt x="69" y="7"/>
                  </a:lnTo>
                  <a:lnTo>
                    <a:pt x="63" y="12"/>
                  </a:lnTo>
                  <a:lnTo>
                    <a:pt x="52" y="19"/>
                  </a:lnTo>
                  <a:lnTo>
                    <a:pt x="39" y="26"/>
                  </a:lnTo>
                  <a:lnTo>
                    <a:pt x="25" y="34"/>
                  </a:lnTo>
                  <a:lnTo>
                    <a:pt x="13" y="41"/>
                  </a:lnTo>
                  <a:lnTo>
                    <a:pt x="3" y="50"/>
                  </a:lnTo>
                  <a:lnTo>
                    <a:pt x="0" y="63"/>
                  </a:lnTo>
                  <a:lnTo>
                    <a:pt x="13" y="59"/>
                  </a:lnTo>
                  <a:lnTo>
                    <a:pt x="15" y="58"/>
                  </a:lnTo>
                  <a:lnTo>
                    <a:pt x="21" y="51"/>
                  </a:lnTo>
                  <a:lnTo>
                    <a:pt x="32" y="45"/>
                  </a:lnTo>
                  <a:lnTo>
                    <a:pt x="45" y="38"/>
                  </a:lnTo>
                  <a:lnTo>
                    <a:pt x="59" y="31"/>
                  </a:lnTo>
                  <a:lnTo>
                    <a:pt x="71" y="23"/>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8" name="Freeform 207">
              <a:extLst>
                <a:ext uri="{FF2B5EF4-FFF2-40B4-BE49-F238E27FC236}">
                  <a16:creationId xmlns:a16="http://schemas.microsoft.com/office/drawing/2014/main" id="{29B6F9BF-791C-75D9-B579-8509AADE3E96}"/>
                </a:ext>
              </a:extLst>
            </p:cNvPr>
            <p:cNvSpPr>
              <a:spLocks/>
            </p:cNvSpPr>
            <p:nvPr/>
          </p:nvSpPr>
          <p:spPr bwMode="auto">
            <a:xfrm>
              <a:off x="2307" y="2442"/>
              <a:ext cx="174" cy="33"/>
            </a:xfrm>
            <a:custGeom>
              <a:avLst/>
              <a:gdLst>
                <a:gd name="T0" fmla="*/ 0 w 106"/>
                <a:gd name="T1" fmla="*/ 68 h 29"/>
                <a:gd name="T2" fmla="*/ 306683 w 106"/>
                <a:gd name="T3" fmla="*/ 207 h 29"/>
                <a:gd name="T4" fmla="*/ 689288 w 106"/>
                <a:gd name="T5" fmla="*/ 247 h 29"/>
                <a:gd name="T6" fmla="*/ 1189907 w 106"/>
                <a:gd name="T7" fmla="*/ 281 h 29"/>
                <a:gd name="T8" fmla="*/ 1723619 w 106"/>
                <a:gd name="T9" fmla="*/ 306 h 29"/>
                <a:gd name="T10" fmla="*/ 2261872 w 106"/>
                <a:gd name="T11" fmla="*/ 316 h 29"/>
                <a:gd name="T12" fmla="*/ 2681420 w 106"/>
                <a:gd name="T13" fmla="*/ 320 h 29"/>
                <a:gd name="T14" fmla="*/ 2950607 w 106"/>
                <a:gd name="T15" fmla="*/ 364 h 29"/>
                <a:gd name="T16" fmla="*/ 3048815 w 106"/>
                <a:gd name="T17" fmla="*/ 414 h 29"/>
                <a:gd name="T18" fmla="*/ 3468237 w 106"/>
                <a:gd name="T19" fmla="*/ 360 h 29"/>
                <a:gd name="T20" fmla="*/ 3206268 w 106"/>
                <a:gd name="T21" fmla="*/ 207 h 29"/>
                <a:gd name="T22" fmla="*/ 2742357 w 106"/>
                <a:gd name="T23" fmla="*/ 148 h 29"/>
                <a:gd name="T24" fmla="*/ 2274976 w 106"/>
                <a:gd name="T25" fmla="*/ 114 h 29"/>
                <a:gd name="T26" fmla="*/ 1762354 w 106"/>
                <a:gd name="T27" fmla="*/ 100 h 29"/>
                <a:gd name="T28" fmla="*/ 1229571 w 106"/>
                <a:gd name="T29" fmla="*/ 88 h 29"/>
                <a:gd name="T30" fmla="*/ 784113 w 106"/>
                <a:gd name="T31" fmla="*/ 68 h 29"/>
                <a:gd name="T32" fmla="*/ 503423 w 106"/>
                <a:gd name="T33" fmla="*/ 2 h 29"/>
                <a:gd name="T34" fmla="*/ 419911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9" y="14"/>
                  </a:lnTo>
                  <a:lnTo>
                    <a:pt x="21" y="17"/>
                  </a:lnTo>
                  <a:lnTo>
                    <a:pt x="36" y="19"/>
                  </a:lnTo>
                  <a:lnTo>
                    <a:pt x="52" y="20"/>
                  </a:lnTo>
                  <a:lnTo>
                    <a:pt x="68" y="21"/>
                  </a:lnTo>
                  <a:lnTo>
                    <a:pt x="81" y="22"/>
                  </a:lnTo>
                  <a:lnTo>
                    <a:pt x="89" y="25"/>
                  </a:lnTo>
                  <a:lnTo>
                    <a:pt x="92" y="28"/>
                  </a:lnTo>
                  <a:lnTo>
                    <a:pt x="105" y="24"/>
                  </a:lnTo>
                  <a:lnTo>
                    <a:pt x="97" y="14"/>
                  </a:lnTo>
                  <a:lnTo>
                    <a:pt x="83" y="10"/>
                  </a:lnTo>
                  <a:lnTo>
                    <a:pt x="69" y="8"/>
                  </a:lnTo>
                  <a:lnTo>
                    <a:pt x="53" y="7"/>
                  </a:lnTo>
                  <a:lnTo>
                    <a:pt x="37" y="6"/>
                  </a:lnTo>
                  <a:lnTo>
                    <a:pt x="24"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9" name="Freeform 208">
              <a:extLst>
                <a:ext uri="{FF2B5EF4-FFF2-40B4-BE49-F238E27FC236}">
                  <a16:creationId xmlns:a16="http://schemas.microsoft.com/office/drawing/2014/main" id="{FB7965D4-3A66-01AF-C7A5-30FA9189FF77}"/>
                </a:ext>
              </a:extLst>
            </p:cNvPr>
            <p:cNvSpPr>
              <a:spLocks/>
            </p:cNvSpPr>
            <p:nvPr/>
          </p:nvSpPr>
          <p:spPr bwMode="auto">
            <a:xfrm>
              <a:off x="2307" y="2379"/>
              <a:ext cx="139" cy="68"/>
            </a:xfrm>
            <a:custGeom>
              <a:avLst/>
              <a:gdLst>
                <a:gd name="T0" fmla="*/ 2176640 w 85"/>
                <a:gd name="T1" fmla="*/ 137 h 59"/>
                <a:gd name="T2" fmla="*/ 2176640 w 85"/>
                <a:gd name="T3" fmla="*/ 103 h 59"/>
                <a:gd name="T4" fmla="*/ 2115439 w 85"/>
                <a:gd name="T5" fmla="*/ 137 h 59"/>
                <a:gd name="T6" fmla="*/ 1925866 w 85"/>
                <a:gd name="T7" fmla="*/ 221 h 59"/>
                <a:gd name="T8" fmla="*/ 1621167 w 85"/>
                <a:gd name="T9" fmla="*/ 339 h 59"/>
                <a:gd name="T10" fmla="*/ 1202759 w 85"/>
                <a:gd name="T11" fmla="*/ 451 h 59"/>
                <a:gd name="T12" fmla="*/ 769815 w 85"/>
                <a:gd name="T13" fmla="*/ 589 h 59"/>
                <a:gd name="T14" fmla="*/ 329412 w 85"/>
                <a:gd name="T15" fmla="*/ 690 h 59"/>
                <a:gd name="T16" fmla="*/ 54877 w 85"/>
                <a:gd name="T17" fmla="*/ 896 h 59"/>
                <a:gd name="T18" fmla="*/ 0 w 85"/>
                <a:gd name="T19" fmla="*/ 1156 h 59"/>
                <a:gd name="T20" fmla="*/ 392440 w 85"/>
                <a:gd name="T21" fmla="*/ 1056 h 59"/>
                <a:gd name="T22" fmla="*/ 392440 w 85"/>
                <a:gd name="T23" fmla="*/ 1040 h 59"/>
                <a:gd name="T24" fmla="*/ 580820 w 85"/>
                <a:gd name="T25" fmla="*/ 942 h 59"/>
                <a:gd name="T26" fmla="*/ 914232 w 85"/>
                <a:gd name="T27" fmla="*/ 817 h 59"/>
                <a:gd name="T28" fmla="*/ 1351688 w 85"/>
                <a:gd name="T29" fmla="*/ 690 h 59"/>
                <a:gd name="T30" fmla="*/ 1770119 w 85"/>
                <a:gd name="T31" fmla="*/ 569 h 59"/>
                <a:gd name="T32" fmla="*/ 2176640 w 85"/>
                <a:gd name="T33" fmla="*/ 451 h 59"/>
                <a:gd name="T34" fmla="*/ 2469536 w 85"/>
                <a:gd name="T35" fmla="*/ 279 h 59"/>
                <a:gd name="T36" fmla="*/ 2563417 w 85"/>
                <a:gd name="T37" fmla="*/ 1 h 59"/>
                <a:gd name="T38" fmla="*/ 2539975 w 85"/>
                <a:gd name="T39" fmla="*/ 0 h 59"/>
                <a:gd name="T40" fmla="*/ 2563417 w 85"/>
                <a:gd name="T41" fmla="*/ 1 h 59"/>
                <a:gd name="T42" fmla="*/ 2539975 w 85"/>
                <a:gd name="T43" fmla="*/ 0 h 59"/>
                <a:gd name="T44" fmla="*/ 2176640 w 85"/>
                <a:gd name="T45" fmla="*/ 137 h 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9"/>
                <a:gd name="T71" fmla="*/ 85 w 85"/>
                <a:gd name="T72" fmla="*/ 59 h 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9">
                  <a:moveTo>
                    <a:pt x="71" y="7"/>
                  </a:moveTo>
                  <a:lnTo>
                    <a:pt x="71" y="5"/>
                  </a:lnTo>
                  <a:lnTo>
                    <a:pt x="69" y="7"/>
                  </a:lnTo>
                  <a:lnTo>
                    <a:pt x="63" y="11"/>
                  </a:lnTo>
                  <a:lnTo>
                    <a:pt x="53" y="17"/>
                  </a:lnTo>
                  <a:lnTo>
                    <a:pt x="39" y="23"/>
                  </a:lnTo>
                  <a:lnTo>
                    <a:pt x="25" y="30"/>
                  </a:lnTo>
                  <a:lnTo>
                    <a:pt x="11" y="36"/>
                  </a:lnTo>
                  <a:lnTo>
                    <a:pt x="2" y="45"/>
                  </a:lnTo>
                  <a:lnTo>
                    <a:pt x="0" y="58"/>
                  </a:lnTo>
                  <a:lnTo>
                    <a:pt x="13" y="54"/>
                  </a:lnTo>
                  <a:lnTo>
                    <a:pt x="13" y="53"/>
                  </a:lnTo>
                  <a:lnTo>
                    <a:pt x="19" y="48"/>
                  </a:lnTo>
                  <a:lnTo>
                    <a:pt x="30" y="42"/>
                  </a:lnTo>
                  <a:lnTo>
                    <a:pt x="44" y="36"/>
                  </a:lnTo>
                  <a:lnTo>
                    <a:pt x="58" y="29"/>
                  </a:lnTo>
                  <a:lnTo>
                    <a:pt x="71" y="23"/>
                  </a:lnTo>
                  <a:lnTo>
                    <a:pt x="81" y="14"/>
                  </a:lnTo>
                  <a:lnTo>
                    <a:pt x="84" y="1"/>
                  </a:lnTo>
                  <a:lnTo>
                    <a:pt x="83" y="0"/>
                  </a:lnTo>
                  <a:lnTo>
                    <a:pt x="84" y="1"/>
                  </a:lnTo>
                  <a:lnTo>
                    <a:pt x="83" y="0"/>
                  </a:lnTo>
                  <a:lnTo>
                    <a:pt x="71" y="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0" name="Freeform 209">
              <a:extLst>
                <a:ext uri="{FF2B5EF4-FFF2-40B4-BE49-F238E27FC236}">
                  <a16:creationId xmlns:a16="http://schemas.microsoft.com/office/drawing/2014/main" id="{200A6A33-63D6-595B-5DCF-A6A47175A5D8}"/>
                </a:ext>
              </a:extLst>
            </p:cNvPr>
            <p:cNvSpPr>
              <a:spLocks/>
            </p:cNvSpPr>
            <p:nvPr/>
          </p:nvSpPr>
          <p:spPr bwMode="auto">
            <a:xfrm>
              <a:off x="2421" y="2378"/>
              <a:ext cx="24" cy="11"/>
            </a:xfrm>
            <a:custGeom>
              <a:avLst/>
              <a:gdLst>
                <a:gd name="T0" fmla="*/ 0 w 14"/>
                <a:gd name="T1" fmla="*/ 323 h 9"/>
                <a:gd name="T2" fmla="*/ 84792 w 14"/>
                <a:gd name="T3" fmla="*/ 395 h 9"/>
                <a:gd name="T4" fmla="*/ 84792 w 14"/>
                <a:gd name="T5" fmla="*/ 543 h 9"/>
                <a:gd name="T6" fmla="*/ 1057803 w 14"/>
                <a:gd name="T7" fmla="*/ 1 h 9"/>
                <a:gd name="T8" fmla="*/ 1012678 w 14"/>
                <a:gd name="T9" fmla="*/ 0 h 9"/>
                <a:gd name="T10" fmla="*/ 1057803 w 14"/>
                <a:gd name="T11" fmla="*/ 1 h 9"/>
                <a:gd name="T12" fmla="*/ 0 w 14"/>
                <a:gd name="T13" fmla="*/ 323 h 9"/>
                <a:gd name="T14" fmla="*/ 0 w 14"/>
                <a:gd name="T15" fmla="*/ 395 h 9"/>
                <a:gd name="T16" fmla="*/ 84792 w 14"/>
                <a:gd name="T17" fmla="*/ 395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1" y="6"/>
                  </a:lnTo>
                  <a:lnTo>
                    <a:pt x="1" y="8"/>
                  </a:lnTo>
                  <a:lnTo>
                    <a:pt x="13" y="1"/>
                  </a:lnTo>
                  <a:lnTo>
                    <a:pt x="12" y="0"/>
                  </a:lnTo>
                  <a:lnTo>
                    <a:pt x="13" y="1"/>
                  </a:lnTo>
                  <a:lnTo>
                    <a:pt x="0" y="5"/>
                  </a:lnTo>
                  <a:lnTo>
                    <a:pt x="0" y="6"/>
                  </a:lnTo>
                  <a:lnTo>
                    <a:pt x="1" y="6"/>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1" name="Freeform 210">
              <a:extLst>
                <a:ext uri="{FF2B5EF4-FFF2-40B4-BE49-F238E27FC236}">
                  <a16:creationId xmlns:a16="http://schemas.microsoft.com/office/drawing/2014/main" id="{893FB587-05D1-4522-110A-EBC3120C01DC}"/>
                </a:ext>
              </a:extLst>
            </p:cNvPr>
            <p:cNvSpPr>
              <a:spLocks/>
            </p:cNvSpPr>
            <p:nvPr/>
          </p:nvSpPr>
          <p:spPr bwMode="auto">
            <a:xfrm>
              <a:off x="2270" y="2351"/>
              <a:ext cx="175" cy="35"/>
            </a:xfrm>
            <a:custGeom>
              <a:avLst/>
              <a:gdLst>
                <a:gd name="T0" fmla="*/ 0 w 106"/>
                <a:gd name="T1" fmla="*/ 162 h 29"/>
                <a:gd name="T2" fmla="*/ 291842 w 106"/>
                <a:gd name="T3" fmla="*/ 683 h 29"/>
                <a:gd name="T4" fmla="*/ 795449 w 106"/>
                <a:gd name="T5" fmla="*/ 824 h 29"/>
                <a:gd name="T6" fmla="*/ 1328805 w 106"/>
                <a:gd name="T7" fmla="*/ 962 h 29"/>
                <a:gd name="T8" fmla="*/ 1941196 w 106"/>
                <a:gd name="T9" fmla="*/ 962 h 29"/>
                <a:gd name="T10" fmla="*/ 2508326 w 106"/>
                <a:gd name="T11" fmla="*/ 962 h 29"/>
                <a:gd name="T12" fmla="*/ 2989299 w 106"/>
                <a:gd name="T13" fmla="*/ 1050 h 29"/>
                <a:gd name="T14" fmla="*/ 3328313 w 106"/>
                <a:gd name="T15" fmla="*/ 1267 h 29"/>
                <a:gd name="T16" fmla="*/ 3435385 w 106"/>
                <a:gd name="T17" fmla="*/ 1448 h 29"/>
                <a:gd name="T18" fmla="*/ 3917132 w 106"/>
                <a:gd name="T19" fmla="*/ 1267 h 29"/>
                <a:gd name="T20" fmla="*/ 3621810 w 106"/>
                <a:gd name="T21" fmla="*/ 683 h 29"/>
                <a:gd name="T22" fmla="*/ 3136520 w 106"/>
                <a:gd name="T23" fmla="*/ 345 h 29"/>
                <a:gd name="T24" fmla="*/ 2534104 w 106"/>
                <a:gd name="T25" fmla="*/ 237 h 29"/>
                <a:gd name="T26" fmla="*/ 1941196 w 106"/>
                <a:gd name="T27" fmla="*/ 162 h 29"/>
                <a:gd name="T28" fmla="*/ 1328805 w 106"/>
                <a:gd name="T29" fmla="*/ 162 h 29"/>
                <a:gd name="T30" fmla="*/ 804876 w 106"/>
                <a:gd name="T31" fmla="*/ 162 h 29"/>
                <a:gd name="T32" fmla="*/ 563155 w 106"/>
                <a:gd name="T33" fmla="*/ 1 h 29"/>
                <a:gd name="T34" fmla="*/ 481815 w 106"/>
                <a:gd name="T35" fmla="*/ 0 h 29"/>
                <a:gd name="T36" fmla="*/ 0 w 106"/>
                <a:gd name="T37" fmla="*/ 162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6"/>
                  </a:lnTo>
                  <a:lnTo>
                    <a:pt x="36" y="18"/>
                  </a:lnTo>
                  <a:lnTo>
                    <a:pt x="52" y="18"/>
                  </a:lnTo>
                  <a:lnTo>
                    <a:pt x="67" y="18"/>
                  </a:lnTo>
                  <a:lnTo>
                    <a:pt x="80" y="20"/>
                  </a:lnTo>
                  <a:lnTo>
                    <a:pt x="89" y="24"/>
                  </a:lnTo>
                  <a:lnTo>
                    <a:pt x="92" y="28"/>
                  </a:lnTo>
                  <a:lnTo>
                    <a:pt x="105" y="24"/>
                  </a:lnTo>
                  <a:lnTo>
                    <a:pt x="97" y="13"/>
                  </a:lnTo>
                  <a:lnTo>
                    <a:pt x="84" y="7"/>
                  </a:lnTo>
                  <a:lnTo>
                    <a:pt x="68" y="5"/>
                  </a:lnTo>
                  <a:lnTo>
                    <a:pt x="52" y="3"/>
                  </a:lnTo>
                  <a:lnTo>
                    <a:pt x="36" y="3"/>
                  </a:lnTo>
                  <a:lnTo>
                    <a:pt x="22" y="3"/>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2" name="Freeform 211">
              <a:extLst>
                <a:ext uri="{FF2B5EF4-FFF2-40B4-BE49-F238E27FC236}">
                  <a16:creationId xmlns:a16="http://schemas.microsoft.com/office/drawing/2014/main" id="{EBB7F49E-4841-59CA-32DB-71403C2E757F}"/>
                </a:ext>
              </a:extLst>
            </p:cNvPr>
            <p:cNvSpPr>
              <a:spLocks/>
            </p:cNvSpPr>
            <p:nvPr/>
          </p:nvSpPr>
          <p:spPr bwMode="auto">
            <a:xfrm>
              <a:off x="2270" y="2284"/>
              <a:ext cx="137" cy="74"/>
            </a:xfrm>
            <a:custGeom>
              <a:avLst/>
              <a:gdLst>
                <a:gd name="T0" fmla="*/ 2566051 w 83"/>
                <a:gd name="T1" fmla="*/ 93 h 64"/>
                <a:gd name="T2" fmla="*/ 2566051 w 83"/>
                <a:gd name="T3" fmla="*/ 145 h 64"/>
                <a:gd name="T4" fmla="*/ 2349936 w 83"/>
                <a:gd name="T5" fmla="*/ 259 h 64"/>
                <a:gd name="T6" fmla="*/ 1933123 w 83"/>
                <a:gd name="T7" fmla="*/ 400 h 64"/>
                <a:gd name="T8" fmla="*/ 1423684 w 83"/>
                <a:gd name="T9" fmla="*/ 546 h 64"/>
                <a:gd name="T10" fmla="*/ 901473 w 83"/>
                <a:gd name="T11" fmla="*/ 716 h 64"/>
                <a:gd name="T12" fmla="*/ 446998 w 83"/>
                <a:gd name="T13" fmla="*/ 845 h 64"/>
                <a:gd name="T14" fmla="*/ 64690 w 83"/>
                <a:gd name="T15" fmla="*/ 1059 h 64"/>
                <a:gd name="T16" fmla="*/ 0 w 83"/>
                <a:gd name="T17" fmla="*/ 1319 h 64"/>
                <a:gd name="T18" fmla="*/ 480180 w 83"/>
                <a:gd name="T19" fmla="*/ 1234 h 64"/>
                <a:gd name="T20" fmla="*/ 522551 w 83"/>
                <a:gd name="T21" fmla="*/ 1224 h 64"/>
                <a:gd name="T22" fmla="*/ 737816 w 83"/>
                <a:gd name="T23" fmla="*/ 1067 h 64"/>
                <a:gd name="T24" fmla="*/ 1147807 w 83"/>
                <a:gd name="T25" fmla="*/ 957 h 64"/>
                <a:gd name="T26" fmla="*/ 1664712 w 83"/>
                <a:gd name="T27" fmla="*/ 798 h 64"/>
                <a:gd name="T28" fmla="*/ 2159391 w 83"/>
                <a:gd name="T29" fmla="*/ 673 h 64"/>
                <a:gd name="T30" fmla="*/ 2640814 w 83"/>
                <a:gd name="T31" fmla="*/ 503 h 64"/>
                <a:gd name="T32" fmla="*/ 2976645 w 83"/>
                <a:gd name="T33" fmla="*/ 281 h 64"/>
                <a:gd name="T34" fmla="*/ 3041930 w 83"/>
                <a:gd name="T35" fmla="*/ 0 h 64"/>
                <a:gd name="T36" fmla="*/ 2566051 w 83"/>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9" y="7"/>
                  </a:lnTo>
                  <a:lnTo>
                    <a:pt x="63" y="12"/>
                  </a:lnTo>
                  <a:lnTo>
                    <a:pt x="52" y="19"/>
                  </a:lnTo>
                  <a:lnTo>
                    <a:pt x="38" y="26"/>
                  </a:lnTo>
                  <a:lnTo>
                    <a:pt x="24" y="34"/>
                  </a:lnTo>
                  <a:lnTo>
                    <a:pt x="12" y="41"/>
                  </a:lnTo>
                  <a:lnTo>
                    <a:pt x="2" y="50"/>
                  </a:lnTo>
                  <a:lnTo>
                    <a:pt x="0" y="63"/>
                  </a:lnTo>
                  <a:lnTo>
                    <a:pt x="13" y="59"/>
                  </a:lnTo>
                  <a:lnTo>
                    <a:pt x="14" y="58"/>
                  </a:lnTo>
                  <a:lnTo>
                    <a:pt x="20" y="51"/>
                  </a:lnTo>
                  <a:lnTo>
                    <a:pt x="31" y="45"/>
                  </a:lnTo>
                  <a:lnTo>
                    <a:pt x="45" y="38"/>
                  </a:lnTo>
                  <a:lnTo>
                    <a:pt x="58" y="31"/>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3" name="Freeform 212">
              <a:extLst>
                <a:ext uri="{FF2B5EF4-FFF2-40B4-BE49-F238E27FC236}">
                  <a16:creationId xmlns:a16="http://schemas.microsoft.com/office/drawing/2014/main" id="{ED23FE16-5531-7FFA-C928-3FA9430A4BAB}"/>
                </a:ext>
              </a:extLst>
            </p:cNvPr>
            <p:cNvSpPr>
              <a:spLocks/>
            </p:cNvSpPr>
            <p:nvPr/>
          </p:nvSpPr>
          <p:spPr bwMode="auto">
            <a:xfrm>
              <a:off x="2232" y="2257"/>
              <a:ext cx="175" cy="33"/>
            </a:xfrm>
            <a:custGeom>
              <a:avLst/>
              <a:gdLst>
                <a:gd name="T0" fmla="*/ 0 w 106"/>
                <a:gd name="T1" fmla="*/ 68 h 29"/>
                <a:gd name="T2" fmla="*/ 291842 w 106"/>
                <a:gd name="T3" fmla="*/ 207 h 29"/>
                <a:gd name="T4" fmla="*/ 795449 w 106"/>
                <a:gd name="T5" fmla="*/ 247 h 29"/>
                <a:gd name="T6" fmla="*/ 1328805 w 106"/>
                <a:gd name="T7" fmla="*/ 281 h 29"/>
                <a:gd name="T8" fmla="*/ 1941196 w 106"/>
                <a:gd name="T9" fmla="*/ 306 h 29"/>
                <a:gd name="T10" fmla="*/ 2534104 w 106"/>
                <a:gd name="T11" fmla="*/ 316 h 29"/>
                <a:gd name="T12" fmla="*/ 3033331 w 106"/>
                <a:gd name="T13" fmla="*/ 348 h 29"/>
                <a:gd name="T14" fmla="*/ 3369257 w 106"/>
                <a:gd name="T15" fmla="*/ 396 h 29"/>
                <a:gd name="T16" fmla="*/ 3435385 w 106"/>
                <a:gd name="T17" fmla="*/ 414 h 29"/>
                <a:gd name="T18" fmla="*/ 3917132 w 106"/>
                <a:gd name="T19" fmla="*/ 364 h 29"/>
                <a:gd name="T20" fmla="*/ 3621810 w 106"/>
                <a:gd name="T21" fmla="*/ 207 h 29"/>
                <a:gd name="T22" fmla="*/ 3136520 w 106"/>
                <a:gd name="T23" fmla="*/ 148 h 29"/>
                <a:gd name="T24" fmla="*/ 2573651 w 106"/>
                <a:gd name="T25" fmla="*/ 114 h 29"/>
                <a:gd name="T26" fmla="*/ 1984779 w 106"/>
                <a:gd name="T27" fmla="*/ 100 h 29"/>
                <a:gd name="T28" fmla="*/ 1427982 w 106"/>
                <a:gd name="T29" fmla="*/ 88 h 29"/>
                <a:gd name="T30" fmla="*/ 904506 w 106"/>
                <a:gd name="T31" fmla="*/ 68 h 29"/>
                <a:gd name="T32" fmla="*/ 563155 w 106"/>
                <a:gd name="T33" fmla="*/ 2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1" y="17"/>
                  </a:lnTo>
                  <a:lnTo>
                    <a:pt x="36" y="19"/>
                  </a:lnTo>
                  <a:lnTo>
                    <a:pt x="52" y="20"/>
                  </a:lnTo>
                  <a:lnTo>
                    <a:pt x="68" y="21"/>
                  </a:lnTo>
                  <a:lnTo>
                    <a:pt x="81" y="23"/>
                  </a:lnTo>
                  <a:lnTo>
                    <a:pt x="90" y="26"/>
                  </a:lnTo>
                  <a:lnTo>
                    <a:pt x="92" y="28"/>
                  </a:lnTo>
                  <a:lnTo>
                    <a:pt x="105" y="25"/>
                  </a:lnTo>
                  <a:lnTo>
                    <a:pt x="97" y="14"/>
                  </a:lnTo>
                  <a:lnTo>
                    <a:pt x="84" y="10"/>
                  </a:lnTo>
                  <a:lnTo>
                    <a:pt x="69" y="8"/>
                  </a:lnTo>
                  <a:lnTo>
                    <a:pt x="53" y="7"/>
                  </a:lnTo>
                  <a:lnTo>
                    <a:pt x="38" y="6"/>
                  </a:lnTo>
                  <a:lnTo>
                    <a:pt x="24"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4" name="Freeform 213">
              <a:extLst>
                <a:ext uri="{FF2B5EF4-FFF2-40B4-BE49-F238E27FC236}">
                  <a16:creationId xmlns:a16="http://schemas.microsoft.com/office/drawing/2014/main" id="{8E0C5B95-271E-E3FC-B79F-86667FB73C00}"/>
                </a:ext>
              </a:extLst>
            </p:cNvPr>
            <p:cNvSpPr>
              <a:spLocks/>
            </p:cNvSpPr>
            <p:nvPr/>
          </p:nvSpPr>
          <p:spPr bwMode="auto">
            <a:xfrm>
              <a:off x="2232" y="2194"/>
              <a:ext cx="142" cy="68"/>
            </a:xfrm>
            <a:custGeom>
              <a:avLst/>
              <a:gdLst>
                <a:gd name="T0" fmla="*/ 2656439 w 86"/>
                <a:gd name="T1" fmla="*/ 2 h 59"/>
                <a:gd name="T2" fmla="*/ 2656439 w 86"/>
                <a:gd name="T3" fmla="*/ 89 h 59"/>
                <a:gd name="T4" fmla="*/ 2656439 w 86"/>
                <a:gd name="T5" fmla="*/ 3 h 59"/>
                <a:gd name="T6" fmla="*/ 2362437 w 86"/>
                <a:gd name="T7" fmla="*/ 158 h 59"/>
                <a:gd name="T8" fmla="*/ 1944896 w 86"/>
                <a:gd name="T9" fmla="*/ 294 h 59"/>
                <a:gd name="T10" fmla="*/ 1456690 w 86"/>
                <a:gd name="T11" fmla="*/ 428 h 59"/>
                <a:gd name="T12" fmla="*/ 931604 w 86"/>
                <a:gd name="T13" fmla="*/ 568 h 59"/>
                <a:gd name="T14" fmla="*/ 486253 w 86"/>
                <a:gd name="T15" fmla="*/ 690 h 59"/>
                <a:gd name="T16" fmla="*/ 108017 w 86"/>
                <a:gd name="T17" fmla="*/ 896 h 59"/>
                <a:gd name="T18" fmla="*/ 0 w 86"/>
                <a:gd name="T19" fmla="*/ 1156 h 59"/>
                <a:gd name="T20" fmla="*/ 486253 w 86"/>
                <a:gd name="T21" fmla="*/ 1056 h 59"/>
                <a:gd name="T22" fmla="*/ 564211 w 86"/>
                <a:gd name="T23" fmla="*/ 1040 h 59"/>
                <a:gd name="T24" fmla="*/ 802883 w 86"/>
                <a:gd name="T25" fmla="*/ 902 h 59"/>
                <a:gd name="T26" fmla="*/ 1205805 w 86"/>
                <a:gd name="T27" fmla="*/ 783 h 59"/>
                <a:gd name="T28" fmla="*/ 1672585 w 86"/>
                <a:gd name="T29" fmla="*/ 656 h 59"/>
                <a:gd name="T30" fmla="*/ 2197344 w 86"/>
                <a:gd name="T31" fmla="*/ 520 h 59"/>
                <a:gd name="T32" fmla="*/ 2656439 w 86"/>
                <a:gd name="T33" fmla="*/ 391 h 59"/>
                <a:gd name="T34" fmla="*/ 3040971 w 86"/>
                <a:gd name="T35" fmla="*/ 242 h 59"/>
                <a:gd name="T36" fmla="*/ 3159540 w 86"/>
                <a:gd name="T37" fmla="*/ 0 h 59"/>
                <a:gd name="T38" fmla="*/ 3172037 w 86"/>
                <a:gd name="T39" fmla="*/ 2 h 59"/>
                <a:gd name="T40" fmla="*/ 2656439 w 86"/>
                <a:gd name="T41" fmla="*/ 2 h 59"/>
                <a:gd name="T42" fmla="*/ 2656439 w 86"/>
                <a:gd name="T43" fmla="*/ 3 h 59"/>
                <a:gd name="T44" fmla="*/ 2656439 w 86"/>
                <a:gd name="T45" fmla="*/ 89 h 59"/>
                <a:gd name="T46" fmla="*/ 2656439 w 86"/>
                <a:gd name="T47" fmla="*/ 2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6"/>
                <a:gd name="T73" fmla="*/ 0 h 59"/>
                <a:gd name="T74" fmla="*/ 86 w 86"/>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6" h="59">
                  <a:moveTo>
                    <a:pt x="71" y="2"/>
                  </a:moveTo>
                  <a:lnTo>
                    <a:pt x="71" y="4"/>
                  </a:lnTo>
                  <a:lnTo>
                    <a:pt x="71" y="3"/>
                  </a:lnTo>
                  <a:lnTo>
                    <a:pt x="63" y="8"/>
                  </a:lnTo>
                  <a:lnTo>
                    <a:pt x="52" y="15"/>
                  </a:lnTo>
                  <a:lnTo>
                    <a:pt x="39" y="21"/>
                  </a:lnTo>
                  <a:lnTo>
                    <a:pt x="25" y="28"/>
                  </a:lnTo>
                  <a:lnTo>
                    <a:pt x="13" y="36"/>
                  </a:lnTo>
                  <a:lnTo>
                    <a:pt x="3" y="45"/>
                  </a:lnTo>
                  <a:lnTo>
                    <a:pt x="0" y="58"/>
                  </a:lnTo>
                  <a:lnTo>
                    <a:pt x="13" y="54"/>
                  </a:lnTo>
                  <a:lnTo>
                    <a:pt x="15" y="53"/>
                  </a:lnTo>
                  <a:lnTo>
                    <a:pt x="21" y="46"/>
                  </a:lnTo>
                  <a:lnTo>
                    <a:pt x="32" y="40"/>
                  </a:lnTo>
                  <a:lnTo>
                    <a:pt x="45" y="33"/>
                  </a:lnTo>
                  <a:lnTo>
                    <a:pt x="59" y="27"/>
                  </a:lnTo>
                  <a:lnTo>
                    <a:pt x="71" y="20"/>
                  </a:lnTo>
                  <a:lnTo>
                    <a:pt x="81" y="12"/>
                  </a:lnTo>
                  <a:lnTo>
                    <a:pt x="84" y="0"/>
                  </a:lnTo>
                  <a:lnTo>
                    <a:pt x="85" y="2"/>
                  </a:lnTo>
                  <a:lnTo>
                    <a:pt x="71" y="2"/>
                  </a:lnTo>
                  <a:lnTo>
                    <a:pt x="71" y="3"/>
                  </a:lnTo>
                  <a:lnTo>
                    <a:pt x="71" y="4"/>
                  </a:lnTo>
                  <a:lnTo>
                    <a:pt x="71"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5" name="Freeform 214">
              <a:extLst>
                <a:ext uri="{FF2B5EF4-FFF2-40B4-BE49-F238E27FC236}">
                  <a16:creationId xmlns:a16="http://schemas.microsoft.com/office/drawing/2014/main" id="{20C903BA-7C79-2B2F-46BD-ECC8F7CF5476}"/>
                </a:ext>
              </a:extLst>
            </p:cNvPr>
            <p:cNvSpPr>
              <a:spLocks/>
            </p:cNvSpPr>
            <p:nvPr/>
          </p:nvSpPr>
          <p:spPr bwMode="auto">
            <a:xfrm>
              <a:off x="2348" y="2193"/>
              <a:ext cx="26" cy="6"/>
            </a:xfrm>
            <a:custGeom>
              <a:avLst/>
              <a:gdLst>
                <a:gd name="T0" fmla="*/ 30347 w 16"/>
                <a:gd name="T1" fmla="*/ 179 h 5"/>
                <a:gd name="T2" fmla="*/ 0 w 16"/>
                <a:gd name="T3" fmla="*/ 2 h 5"/>
                <a:gd name="T4" fmla="*/ 392938 w 16"/>
                <a:gd name="T5" fmla="*/ 2 h 5"/>
                <a:gd name="T6" fmla="*/ 373888 w 16"/>
                <a:gd name="T7" fmla="*/ 0 h 5"/>
                <a:gd name="T8" fmla="*/ 392938 w 16"/>
                <a:gd name="T9" fmla="*/ 2 h 5"/>
                <a:gd name="T10" fmla="*/ 392938 w 16"/>
                <a:gd name="T11" fmla="*/ 1 h 5"/>
                <a:gd name="T12" fmla="*/ 373888 w 16"/>
                <a:gd name="T13" fmla="*/ 0 h 5"/>
                <a:gd name="T14" fmla="*/ 30347 w 16"/>
                <a:gd name="T15" fmla="*/ 179 h 5"/>
                <a:gd name="T16" fmla="*/ 0 60000 65536"/>
                <a:gd name="T17" fmla="*/ 0 60000 65536"/>
                <a:gd name="T18" fmla="*/ 0 60000 65536"/>
                <a:gd name="T19" fmla="*/ 0 60000 65536"/>
                <a:gd name="T20" fmla="*/ 0 60000 65536"/>
                <a:gd name="T21" fmla="*/ 0 60000 65536"/>
                <a:gd name="T22" fmla="*/ 0 60000 65536"/>
                <a:gd name="T23" fmla="*/ 0 60000 65536"/>
                <a:gd name="T24" fmla="*/ 0 w 16"/>
                <a:gd name="T25" fmla="*/ 0 h 5"/>
                <a:gd name="T26" fmla="*/ 16 w 16"/>
                <a:gd name="T27" fmla="*/ 5 h 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 h="5">
                  <a:moveTo>
                    <a:pt x="1" y="4"/>
                  </a:moveTo>
                  <a:lnTo>
                    <a:pt x="0" y="2"/>
                  </a:lnTo>
                  <a:lnTo>
                    <a:pt x="15" y="2"/>
                  </a:lnTo>
                  <a:lnTo>
                    <a:pt x="14" y="0"/>
                  </a:lnTo>
                  <a:lnTo>
                    <a:pt x="15" y="2"/>
                  </a:lnTo>
                  <a:lnTo>
                    <a:pt x="15" y="1"/>
                  </a:lnTo>
                  <a:lnTo>
                    <a:pt x="14" y="0"/>
                  </a:lnTo>
                  <a:lnTo>
                    <a:pt x="1"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6" name="Freeform 215">
              <a:extLst>
                <a:ext uri="{FF2B5EF4-FFF2-40B4-BE49-F238E27FC236}">
                  <a16:creationId xmlns:a16="http://schemas.microsoft.com/office/drawing/2014/main" id="{E7E39B9E-0239-7F16-94A6-66C3D0B7FDB7}"/>
                </a:ext>
              </a:extLst>
            </p:cNvPr>
            <p:cNvSpPr>
              <a:spLocks/>
            </p:cNvSpPr>
            <p:nvPr/>
          </p:nvSpPr>
          <p:spPr bwMode="auto">
            <a:xfrm>
              <a:off x="2199" y="2164"/>
              <a:ext cx="174" cy="35"/>
            </a:xfrm>
            <a:custGeom>
              <a:avLst/>
              <a:gdLst>
                <a:gd name="T0" fmla="*/ 0 w 105"/>
                <a:gd name="T1" fmla="*/ 120 h 30"/>
                <a:gd name="T2" fmla="*/ 320394 w 105"/>
                <a:gd name="T3" fmla="*/ 358 h 30"/>
                <a:gd name="T4" fmla="*/ 851120 w 105"/>
                <a:gd name="T5" fmla="*/ 488 h 30"/>
                <a:gd name="T6" fmla="*/ 1458024 w 105"/>
                <a:gd name="T7" fmla="*/ 560 h 30"/>
                <a:gd name="T8" fmla="*/ 2080606 w 105"/>
                <a:gd name="T9" fmla="*/ 569 h 30"/>
                <a:gd name="T10" fmla="*/ 2706298 w 105"/>
                <a:gd name="T11" fmla="*/ 585 h 30"/>
                <a:gd name="T12" fmla="*/ 3243486 w 105"/>
                <a:gd name="T13" fmla="*/ 653 h 30"/>
                <a:gd name="T14" fmla="*/ 3587389 w 105"/>
                <a:gd name="T15" fmla="*/ 746 h 30"/>
                <a:gd name="T16" fmla="*/ 3677016 w 105"/>
                <a:gd name="T17" fmla="*/ 762 h 30"/>
                <a:gd name="T18" fmla="*/ 4192184 w 105"/>
                <a:gd name="T19" fmla="*/ 653 h 30"/>
                <a:gd name="T20" fmla="*/ 3825019 w 105"/>
                <a:gd name="T21" fmla="*/ 418 h 30"/>
                <a:gd name="T22" fmla="*/ 3367531 w 105"/>
                <a:gd name="T23" fmla="*/ 307 h 30"/>
                <a:gd name="T24" fmla="*/ 2780749 w 105"/>
                <a:gd name="T25" fmla="*/ 263 h 30"/>
                <a:gd name="T26" fmla="*/ 2105818 w 105"/>
                <a:gd name="T27" fmla="*/ 259 h 30"/>
                <a:gd name="T28" fmla="*/ 1485145 w 105"/>
                <a:gd name="T29" fmla="*/ 222 h 30"/>
                <a:gd name="T30" fmla="*/ 970032 w 105"/>
                <a:gd name="T31" fmla="*/ 163 h 30"/>
                <a:gd name="T32" fmla="*/ 605611 w 105"/>
                <a:gd name="T33" fmla="*/ 103 h 30"/>
                <a:gd name="T34" fmla="*/ 530939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9"/>
                  </a:lnTo>
                  <a:lnTo>
                    <a:pt x="36" y="21"/>
                  </a:lnTo>
                  <a:lnTo>
                    <a:pt x="51" y="22"/>
                  </a:lnTo>
                  <a:lnTo>
                    <a:pt x="67" y="23"/>
                  </a:lnTo>
                  <a:lnTo>
                    <a:pt x="80" y="25"/>
                  </a:lnTo>
                  <a:lnTo>
                    <a:pt x="89" y="28"/>
                  </a:lnTo>
                  <a:lnTo>
                    <a:pt x="91" y="29"/>
                  </a:lnTo>
                  <a:lnTo>
                    <a:pt x="104" y="25"/>
                  </a:lnTo>
                  <a:lnTo>
                    <a:pt x="95" y="16"/>
                  </a:lnTo>
                  <a:lnTo>
                    <a:pt x="83" y="12"/>
                  </a:lnTo>
                  <a:lnTo>
                    <a:pt x="69" y="10"/>
                  </a:lnTo>
                  <a:lnTo>
                    <a:pt x="52" y="9"/>
                  </a:lnTo>
                  <a:lnTo>
                    <a:pt x="37" y="8"/>
                  </a:lnTo>
                  <a:lnTo>
                    <a:pt x="24" y="6"/>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7" name="Freeform 216">
              <a:extLst>
                <a:ext uri="{FF2B5EF4-FFF2-40B4-BE49-F238E27FC236}">
                  <a16:creationId xmlns:a16="http://schemas.microsoft.com/office/drawing/2014/main" id="{ADA67197-5886-9C4A-B26B-4D9CBCBB2827}"/>
                </a:ext>
              </a:extLst>
            </p:cNvPr>
            <p:cNvSpPr>
              <a:spLocks/>
            </p:cNvSpPr>
            <p:nvPr/>
          </p:nvSpPr>
          <p:spPr bwMode="auto">
            <a:xfrm>
              <a:off x="2199" y="2096"/>
              <a:ext cx="137" cy="75"/>
            </a:xfrm>
            <a:custGeom>
              <a:avLst/>
              <a:gdLst>
                <a:gd name="T0" fmla="*/ 2566051 w 83"/>
                <a:gd name="T1" fmla="*/ 121 h 64"/>
                <a:gd name="T2" fmla="*/ 2519400 w 83"/>
                <a:gd name="T3" fmla="*/ 142 h 64"/>
                <a:gd name="T4" fmla="*/ 2289995 w 83"/>
                <a:gd name="T5" fmla="*/ 314 h 64"/>
                <a:gd name="T6" fmla="*/ 1894573 w 83"/>
                <a:gd name="T7" fmla="*/ 505 h 64"/>
                <a:gd name="T8" fmla="*/ 1423684 w 83"/>
                <a:gd name="T9" fmla="*/ 694 h 64"/>
                <a:gd name="T10" fmla="*/ 901473 w 83"/>
                <a:gd name="T11" fmla="*/ 929 h 64"/>
                <a:gd name="T12" fmla="*/ 446998 w 83"/>
                <a:gd name="T13" fmla="*/ 1117 h 64"/>
                <a:gd name="T14" fmla="*/ 64690 w 83"/>
                <a:gd name="T15" fmla="*/ 1402 h 64"/>
                <a:gd name="T16" fmla="*/ 0 w 83"/>
                <a:gd name="T17" fmla="*/ 1779 h 64"/>
                <a:gd name="T18" fmla="*/ 480180 w 83"/>
                <a:gd name="T19" fmla="*/ 1643 h 64"/>
                <a:gd name="T20" fmla="*/ 480180 w 83"/>
                <a:gd name="T21" fmla="*/ 1556 h 64"/>
                <a:gd name="T22" fmla="*/ 695387 w 83"/>
                <a:gd name="T23" fmla="*/ 1430 h 64"/>
                <a:gd name="T24" fmla="*/ 1133388 w 83"/>
                <a:gd name="T25" fmla="*/ 1236 h 64"/>
                <a:gd name="T26" fmla="*/ 1639289 w 83"/>
                <a:gd name="T27" fmla="*/ 1021 h 64"/>
                <a:gd name="T28" fmla="*/ 2159391 w 83"/>
                <a:gd name="T29" fmla="*/ 813 h 64"/>
                <a:gd name="T30" fmla="*/ 2603804 w 83"/>
                <a:gd name="T31" fmla="*/ 592 h 64"/>
                <a:gd name="T32" fmla="*/ 2976645 w 83"/>
                <a:gd name="T33" fmla="*/ 368 h 64"/>
                <a:gd name="T34" fmla="*/ 3041930 w 83"/>
                <a:gd name="T35" fmla="*/ 0 h 64"/>
                <a:gd name="T36" fmla="*/ 2566051 w 83"/>
                <a:gd name="T37" fmla="*/ 121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3" y="56"/>
                  </a:lnTo>
                  <a:lnTo>
                    <a:pt x="19" y="51"/>
                  </a:lnTo>
                  <a:lnTo>
                    <a:pt x="30" y="44"/>
                  </a:lnTo>
                  <a:lnTo>
                    <a:pt x="44" y="37"/>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8" name="Freeform 217">
              <a:extLst>
                <a:ext uri="{FF2B5EF4-FFF2-40B4-BE49-F238E27FC236}">
                  <a16:creationId xmlns:a16="http://schemas.microsoft.com/office/drawing/2014/main" id="{1C279334-8C81-E894-D1A3-07F766398925}"/>
                </a:ext>
              </a:extLst>
            </p:cNvPr>
            <p:cNvSpPr>
              <a:spLocks/>
            </p:cNvSpPr>
            <p:nvPr/>
          </p:nvSpPr>
          <p:spPr bwMode="auto">
            <a:xfrm>
              <a:off x="2161" y="2068"/>
              <a:ext cx="175" cy="34"/>
            </a:xfrm>
            <a:custGeom>
              <a:avLst/>
              <a:gdLst>
                <a:gd name="T0" fmla="*/ 0 w 106"/>
                <a:gd name="T1" fmla="*/ 121 h 29"/>
                <a:gd name="T2" fmla="*/ 341111 w 106"/>
                <a:gd name="T3" fmla="*/ 375 h 29"/>
                <a:gd name="T4" fmla="*/ 804876 w 106"/>
                <a:gd name="T5" fmla="*/ 505 h 29"/>
                <a:gd name="T6" fmla="*/ 1328805 w 106"/>
                <a:gd name="T7" fmla="*/ 579 h 29"/>
                <a:gd name="T8" fmla="*/ 1941196 w 106"/>
                <a:gd name="T9" fmla="*/ 592 h 29"/>
                <a:gd name="T10" fmla="*/ 2534104 w 106"/>
                <a:gd name="T11" fmla="*/ 605 h 29"/>
                <a:gd name="T12" fmla="*/ 3033331 w 106"/>
                <a:gd name="T13" fmla="*/ 691 h 29"/>
                <a:gd name="T14" fmla="*/ 3369257 w 106"/>
                <a:gd name="T15" fmla="*/ 709 h 29"/>
                <a:gd name="T16" fmla="*/ 3435385 w 106"/>
                <a:gd name="T17" fmla="*/ 810 h 29"/>
                <a:gd name="T18" fmla="*/ 3917132 w 106"/>
                <a:gd name="T19" fmla="*/ 694 h 29"/>
                <a:gd name="T20" fmla="*/ 3579389 w 106"/>
                <a:gd name="T21" fmla="*/ 431 h 29"/>
                <a:gd name="T22" fmla="*/ 3136520 w 106"/>
                <a:gd name="T23" fmla="*/ 314 h 29"/>
                <a:gd name="T24" fmla="*/ 2573651 w 106"/>
                <a:gd name="T25" fmla="*/ 268 h 29"/>
                <a:gd name="T26" fmla="*/ 1984779 w 106"/>
                <a:gd name="T27" fmla="*/ 229 h 29"/>
                <a:gd name="T28" fmla="*/ 1389091 w 106"/>
                <a:gd name="T29" fmla="*/ 195 h 29"/>
                <a:gd name="T30" fmla="*/ 904506 w 106"/>
                <a:gd name="T31" fmla="*/ 142 h 29"/>
                <a:gd name="T32" fmla="*/ 563155 w 106"/>
                <a:gd name="T33" fmla="*/ 2 h 29"/>
                <a:gd name="T34" fmla="*/ 481815 w 106"/>
                <a:gd name="T35" fmla="*/ 0 h 29"/>
                <a:gd name="T36" fmla="*/ 0 w 106"/>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9" y="14"/>
                  </a:lnTo>
                  <a:lnTo>
                    <a:pt x="22" y="18"/>
                  </a:lnTo>
                  <a:lnTo>
                    <a:pt x="36" y="20"/>
                  </a:lnTo>
                  <a:lnTo>
                    <a:pt x="52" y="21"/>
                  </a:lnTo>
                  <a:lnTo>
                    <a:pt x="68" y="22"/>
                  </a:lnTo>
                  <a:lnTo>
                    <a:pt x="81" y="24"/>
                  </a:lnTo>
                  <a:lnTo>
                    <a:pt x="90" y="26"/>
                  </a:lnTo>
                  <a:lnTo>
                    <a:pt x="92" y="28"/>
                  </a:lnTo>
                  <a:lnTo>
                    <a:pt x="105" y="25"/>
                  </a:lnTo>
                  <a:lnTo>
                    <a:pt x="96" y="15"/>
                  </a:lnTo>
                  <a:lnTo>
                    <a:pt x="84" y="11"/>
                  </a:lnTo>
                  <a:lnTo>
                    <a:pt x="69" y="9"/>
                  </a:lnTo>
                  <a:lnTo>
                    <a:pt x="53" y="8"/>
                  </a:lnTo>
                  <a:lnTo>
                    <a:pt x="37"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9" name="Freeform 218">
              <a:extLst>
                <a:ext uri="{FF2B5EF4-FFF2-40B4-BE49-F238E27FC236}">
                  <a16:creationId xmlns:a16="http://schemas.microsoft.com/office/drawing/2014/main" id="{503EB19A-F7F9-F0B8-E51E-0B54EF2D28B4}"/>
                </a:ext>
              </a:extLst>
            </p:cNvPr>
            <p:cNvSpPr>
              <a:spLocks/>
            </p:cNvSpPr>
            <p:nvPr/>
          </p:nvSpPr>
          <p:spPr bwMode="auto">
            <a:xfrm>
              <a:off x="2161" y="2000"/>
              <a:ext cx="136" cy="74"/>
            </a:xfrm>
            <a:custGeom>
              <a:avLst/>
              <a:gdLst>
                <a:gd name="T0" fmla="*/ 2793281 w 82"/>
                <a:gd name="T1" fmla="*/ 3 h 64"/>
                <a:gd name="T2" fmla="*/ 2707123 w 82"/>
                <a:gd name="T3" fmla="*/ 108 h 64"/>
                <a:gd name="T4" fmla="*/ 2517775 w 82"/>
                <a:gd name="T5" fmla="*/ 243 h 64"/>
                <a:gd name="T6" fmla="*/ 2065016 w 82"/>
                <a:gd name="T7" fmla="*/ 383 h 64"/>
                <a:gd name="T8" fmla="*/ 1518070 w 82"/>
                <a:gd name="T9" fmla="*/ 535 h 64"/>
                <a:gd name="T10" fmla="*/ 934081 w 82"/>
                <a:gd name="T11" fmla="*/ 690 h 64"/>
                <a:gd name="T12" fmla="*/ 452635 w 82"/>
                <a:gd name="T13" fmla="*/ 845 h 64"/>
                <a:gd name="T14" fmla="*/ 71808 w 82"/>
                <a:gd name="T15" fmla="*/ 1059 h 64"/>
                <a:gd name="T16" fmla="*/ 0 w 82"/>
                <a:gd name="T17" fmla="*/ 1319 h 64"/>
                <a:gd name="T18" fmla="*/ 543340 w 82"/>
                <a:gd name="T19" fmla="*/ 1234 h 64"/>
                <a:gd name="T20" fmla="*/ 563196 w 82"/>
                <a:gd name="T21" fmla="*/ 1204 h 64"/>
                <a:gd name="T22" fmla="*/ 819581 w 82"/>
                <a:gd name="T23" fmla="*/ 1067 h 64"/>
                <a:gd name="T24" fmla="*/ 1245083 w 82"/>
                <a:gd name="T25" fmla="*/ 923 h 64"/>
                <a:gd name="T26" fmla="*/ 1809896 w 82"/>
                <a:gd name="T27" fmla="*/ 792 h 64"/>
                <a:gd name="T28" fmla="*/ 2364446 w 82"/>
                <a:gd name="T29" fmla="*/ 619 h 64"/>
                <a:gd name="T30" fmla="*/ 2866162 w 82"/>
                <a:gd name="T31" fmla="*/ 463 h 64"/>
                <a:gd name="T32" fmla="*/ 3201544 w 82"/>
                <a:gd name="T33" fmla="*/ 259 h 64"/>
                <a:gd name="T34" fmla="*/ 3316748 w 82"/>
                <a:gd name="T35" fmla="*/ 0 h 64"/>
                <a:gd name="T36" fmla="*/ 2793281 w 82"/>
                <a:gd name="T37" fmla="*/ 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4"/>
                <a:gd name="T59" fmla="*/ 82 w 82"/>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4">
                  <a:moveTo>
                    <a:pt x="68" y="3"/>
                  </a:moveTo>
                  <a:lnTo>
                    <a:pt x="66" y="5"/>
                  </a:lnTo>
                  <a:lnTo>
                    <a:pt x="61" y="11"/>
                  </a:lnTo>
                  <a:lnTo>
                    <a:pt x="50" y="18"/>
                  </a:lnTo>
                  <a:lnTo>
                    <a:pt x="37" y="25"/>
                  </a:lnTo>
                  <a:lnTo>
                    <a:pt x="23" y="33"/>
                  </a:lnTo>
                  <a:lnTo>
                    <a:pt x="11" y="41"/>
                  </a:lnTo>
                  <a:lnTo>
                    <a:pt x="2" y="50"/>
                  </a:lnTo>
                  <a:lnTo>
                    <a:pt x="0" y="63"/>
                  </a:lnTo>
                  <a:lnTo>
                    <a:pt x="13" y="59"/>
                  </a:lnTo>
                  <a:lnTo>
                    <a:pt x="14" y="57"/>
                  </a:lnTo>
                  <a:lnTo>
                    <a:pt x="20" y="51"/>
                  </a:lnTo>
                  <a:lnTo>
                    <a:pt x="30" y="44"/>
                  </a:lnTo>
                  <a:lnTo>
                    <a:pt x="44" y="37"/>
                  </a:lnTo>
                  <a:lnTo>
                    <a:pt x="57" y="29"/>
                  </a:lnTo>
                  <a:lnTo>
                    <a:pt x="70" y="22"/>
                  </a:lnTo>
                  <a:lnTo>
                    <a:pt x="78" y="12"/>
                  </a:lnTo>
                  <a:lnTo>
                    <a:pt x="81" y="0"/>
                  </a:lnTo>
                  <a:lnTo>
                    <a:pt x="68"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0" name="Freeform 219">
              <a:extLst>
                <a:ext uri="{FF2B5EF4-FFF2-40B4-BE49-F238E27FC236}">
                  <a16:creationId xmlns:a16="http://schemas.microsoft.com/office/drawing/2014/main" id="{2B49DED8-FA25-853E-C582-93ABB54E3E9A}"/>
                </a:ext>
              </a:extLst>
            </p:cNvPr>
            <p:cNvSpPr>
              <a:spLocks/>
            </p:cNvSpPr>
            <p:nvPr/>
          </p:nvSpPr>
          <p:spPr bwMode="auto">
            <a:xfrm>
              <a:off x="2274" y="2000"/>
              <a:ext cx="23" cy="6"/>
            </a:xfrm>
            <a:custGeom>
              <a:avLst/>
              <a:gdLst>
                <a:gd name="T0" fmla="*/ 0 w 14"/>
                <a:gd name="T1" fmla="*/ 179 h 5"/>
                <a:gd name="T2" fmla="*/ 200264 w 14"/>
                <a:gd name="T3" fmla="*/ 2 h 5"/>
                <a:gd name="T4" fmla="*/ 439537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1" name="Freeform 220">
              <a:extLst>
                <a:ext uri="{FF2B5EF4-FFF2-40B4-BE49-F238E27FC236}">
                  <a16:creationId xmlns:a16="http://schemas.microsoft.com/office/drawing/2014/main" id="{0FE542B6-9839-69CF-73E5-47C6E3AC6732}"/>
                </a:ext>
              </a:extLst>
            </p:cNvPr>
            <p:cNvSpPr>
              <a:spLocks/>
            </p:cNvSpPr>
            <p:nvPr/>
          </p:nvSpPr>
          <p:spPr bwMode="auto">
            <a:xfrm>
              <a:off x="2122" y="1972"/>
              <a:ext cx="175" cy="34"/>
            </a:xfrm>
            <a:custGeom>
              <a:avLst/>
              <a:gdLst>
                <a:gd name="T0" fmla="*/ 0 w 106"/>
                <a:gd name="T1" fmla="*/ 61 h 30"/>
                <a:gd name="T2" fmla="*/ 291842 w 106"/>
                <a:gd name="T3" fmla="*/ 186 h 30"/>
                <a:gd name="T4" fmla="*/ 795449 w 106"/>
                <a:gd name="T5" fmla="*/ 239 h 30"/>
                <a:gd name="T6" fmla="*/ 1328805 w 106"/>
                <a:gd name="T7" fmla="*/ 271 h 30"/>
                <a:gd name="T8" fmla="*/ 1899835 w 106"/>
                <a:gd name="T9" fmla="*/ 298 h 30"/>
                <a:gd name="T10" fmla="*/ 2534104 w 106"/>
                <a:gd name="T11" fmla="*/ 299 h 30"/>
                <a:gd name="T12" fmla="*/ 3033331 w 106"/>
                <a:gd name="T13" fmla="*/ 307 h 30"/>
                <a:gd name="T14" fmla="*/ 3328313 w 106"/>
                <a:gd name="T15" fmla="*/ 348 h 30"/>
                <a:gd name="T16" fmla="*/ 3435385 w 106"/>
                <a:gd name="T17" fmla="*/ 394 h 30"/>
                <a:gd name="T18" fmla="*/ 3917132 w 106"/>
                <a:gd name="T19" fmla="*/ 339 h 30"/>
                <a:gd name="T20" fmla="*/ 3621810 w 106"/>
                <a:gd name="T21" fmla="*/ 206 h 30"/>
                <a:gd name="T22" fmla="*/ 3097518 w 106"/>
                <a:gd name="T23" fmla="*/ 128 h 30"/>
                <a:gd name="T24" fmla="*/ 2573651 w 106"/>
                <a:gd name="T25" fmla="*/ 113 h 30"/>
                <a:gd name="T26" fmla="*/ 1984779 w 106"/>
                <a:gd name="T27" fmla="*/ 100 h 30"/>
                <a:gd name="T28" fmla="*/ 1389091 w 106"/>
                <a:gd name="T29" fmla="*/ 88 h 30"/>
                <a:gd name="T30" fmla="*/ 864949 w 106"/>
                <a:gd name="T31" fmla="*/ 69 h 30"/>
                <a:gd name="T32" fmla="*/ 563155 w 106"/>
                <a:gd name="T33" fmla="*/ 2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1" y="21"/>
                  </a:lnTo>
                  <a:lnTo>
                    <a:pt x="68" y="22"/>
                  </a:lnTo>
                  <a:lnTo>
                    <a:pt x="81" y="23"/>
                  </a:lnTo>
                  <a:lnTo>
                    <a:pt x="89" y="26"/>
                  </a:lnTo>
                  <a:lnTo>
                    <a:pt x="92" y="29"/>
                  </a:lnTo>
                  <a:lnTo>
                    <a:pt x="105" y="25"/>
                  </a:lnTo>
                  <a:lnTo>
                    <a:pt x="97" y="15"/>
                  </a:lnTo>
                  <a:lnTo>
                    <a:pt x="83" y="10"/>
                  </a:lnTo>
                  <a:lnTo>
                    <a:pt x="69" y="9"/>
                  </a:lnTo>
                  <a:lnTo>
                    <a:pt x="53" y="8"/>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2" name="Freeform 221">
              <a:extLst>
                <a:ext uri="{FF2B5EF4-FFF2-40B4-BE49-F238E27FC236}">
                  <a16:creationId xmlns:a16="http://schemas.microsoft.com/office/drawing/2014/main" id="{B2D0E3C9-92F0-BA31-B111-755452AD8E69}"/>
                </a:ext>
              </a:extLst>
            </p:cNvPr>
            <p:cNvSpPr>
              <a:spLocks/>
            </p:cNvSpPr>
            <p:nvPr/>
          </p:nvSpPr>
          <p:spPr bwMode="auto">
            <a:xfrm>
              <a:off x="2122" y="1904"/>
              <a:ext cx="137" cy="73"/>
            </a:xfrm>
            <a:custGeom>
              <a:avLst/>
              <a:gdLst>
                <a:gd name="T0" fmla="*/ 2566051 w 83"/>
                <a:gd name="T1" fmla="*/ 94 h 63"/>
                <a:gd name="T2" fmla="*/ 2519400 w 83"/>
                <a:gd name="T3" fmla="*/ 146 h 63"/>
                <a:gd name="T4" fmla="*/ 2289995 w 83"/>
                <a:gd name="T5" fmla="*/ 263 h 63"/>
                <a:gd name="T6" fmla="*/ 1894573 w 83"/>
                <a:gd name="T7" fmla="*/ 409 h 63"/>
                <a:gd name="T8" fmla="*/ 1423684 w 83"/>
                <a:gd name="T9" fmla="*/ 594 h 63"/>
                <a:gd name="T10" fmla="*/ 901473 w 83"/>
                <a:gd name="T11" fmla="*/ 732 h 63"/>
                <a:gd name="T12" fmla="*/ 446998 w 83"/>
                <a:gd name="T13" fmla="*/ 860 h 63"/>
                <a:gd name="T14" fmla="*/ 64690 w 83"/>
                <a:gd name="T15" fmla="*/ 1078 h 63"/>
                <a:gd name="T16" fmla="*/ 0 w 83"/>
                <a:gd name="T17" fmla="*/ 1362 h 63"/>
                <a:gd name="T18" fmla="*/ 480180 w 83"/>
                <a:gd name="T19" fmla="*/ 1283 h 63"/>
                <a:gd name="T20" fmla="*/ 522551 w 83"/>
                <a:gd name="T21" fmla="*/ 1249 h 63"/>
                <a:gd name="T22" fmla="*/ 737816 w 83"/>
                <a:gd name="T23" fmla="*/ 1139 h 63"/>
                <a:gd name="T24" fmla="*/ 1147807 w 83"/>
                <a:gd name="T25" fmla="*/ 990 h 63"/>
                <a:gd name="T26" fmla="*/ 1639289 w 83"/>
                <a:gd name="T27" fmla="*/ 848 h 63"/>
                <a:gd name="T28" fmla="*/ 2159391 w 83"/>
                <a:gd name="T29" fmla="*/ 693 h 63"/>
                <a:gd name="T30" fmla="*/ 260380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7"/>
                  </a:lnTo>
                  <a:lnTo>
                    <a:pt x="62" y="12"/>
                  </a:lnTo>
                  <a:lnTo>
                    <a:pt x="51" y="19"/>
                  </a:lnTo>
                  <a:lnTo>
                    <a:pt x="38" y="26"/>
                  </a:lnTo>
                  <a:lnTo>
                    <a:pt x="24" y="33"/>
                  </a:lnTo>
                  <a:lnTo>
                    <a:pt x="12" y="40"/>
                  </a:lnTo>
                  <a:lnTo>
                    <a:pt x="2" y="49"/>
                  </a:lnTo>
                  <a:lnTo>
                    <a:pt x="0" y="62"/>
                  </a:lnTo>
                  <a:lnTo>
                    <a:pt x="13" y="58"/>
                  </a:lnTo>
                  <a:lnTo>
                    <a:pt x="14" y="57"/>
                  </a:lnTo>
                  <a:lnTo>
                    <a:pt x="20" y="51"/>
                  </a:lnTo>
                  <a:lnTo>
                    <a:pt x="31"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3" name="Freeform 222">
              <a:extLst>
                <a:ext uri="{FF2B5EF4-FFF2-40B4-BE49-F238E27FC236}">
                  <a16:creationId xmlns:a16="http://schemas.microsoft.com/office/drawing/2014/main" id="{5AF3712F-CDF2-A6B4-BAB3-C9EB1280C6EE}"/>
                </a:ext>
              </a:extLst>
            </p:cNvPr>
            <p:cNvSpPr>
              <a:spLocks/>
            </p:cNvSpPr>
            <p:nvPr/>
          </p:nvSpPr>
          <p:spPr bwMode="auto">
            <a:xfrm>
              <a:off x="2087" y="1877"/>
              <a:ext cx="172" cy="33"/>
            </a:xfrm>
            <a:custGeom>
              <a:avLst/>
              <a:gdLst>
                <a:gd name="T0" fmla="*/ 0 w 105"/>
                <a:gd name="T1" fmla="*/ 68 h 29"/>
                <a:gd name="T2" fmla="*/ 247472 w 105"/>
                <a:gd name="T3" fmla="*/ 207 h 29"/>
                <a:gd name="T4" fmla="*/ 664056 w 105"/>
                <a:gd name="T5" fmla="*/ 247 h 29"/>
                <a:gd name="T6" fmla="*/ 1144996 w 105"/>
                <a:gd name="T7" fmla="*/ 281 h 29"/>
                <a:gd name="T8" fmla="*/ 1629916 w 105"/>
                <a:gd name="T9" fmla="*/ 306 h 29"/>
                <a:gd name="T10" fmla="*/ 2126746 w 105"/>
                <a:gd name="T11" fmla="*/ 316 h 29"/>
                <a:gd name="T12" fmla="*/ 2540392 w 105"/>
                <a:gd name="T13" fmla="*/ 348 h 29"/>
                <a:gd name="T14" fmla="*/ 2827108 w 105"/>
                <a:gd name="T15" fmla="*/ 396 h 29"/>
                <a:gd name="T16" fmla="*/ 2885372 w 105"/>
                <a:gd name="T17" fmla="*/ 414 h 29"/>
                <a:gd name="T18" fmla="*/ 3278466 w 105"/>
                <a:gd name="T19" fmla="*/ 364 h 29"/>
                <a:gd name="T20" fmla="*/ 3072431 w 105"/>
                <a:gd name="T21" fmla="*/ 207 h 29"/>
                <a:gd name="T22" fmla="*/ 2633720 w 105"/>
                <a:gd name="T23" fmla="*/ 148 h 29"/>
                <a:gd name="T24" fmla="*/ 2182239 w 105"/>
                <a:gd name="T25" fmla="*/ 114 h 29"/>
                <a:gd name="T26" fmla="*/ 1642575 w 105"/>
                <a:gd name="T27" fmla="*/ 100 h 29"/>
                <a:gd name="T28" fmla="*/ 1185358 w 105"/>
                <a:gd name="T29" fmla="*/ 88 h 29"/>
                <a:gd name="T30" fmla="*/ 737762 w 105"/>
                <a:gd name="T31" fmla="*/ 68 h 29"/>
                <a:gd name="T32" fmla="*/ 483836 w 105"/>
                <a:gd name="T33" fmla="*/ 2 h 29"/>
                <a:gd name="T34" fmla="*/ 405383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1" y="17"/>
                  </a:lnTo>
                  <a:lnTo>
                    <a:pt x="36" y="19"/>
                  </a:lnTo>
                  <a:lnTo>
                    <a:pt x="51" y="20"/>
                  </a:lnTo>
                  <a:lnTo>
                    <a:pt x="67" y="21"/>
                  </a:lnTo>
                  <a:lnTo>
                    <a:pt x="80" y="23"/>
                  </a:lnTo>
                  <a:lnTo>
                    <a:pt x="89" y="26"/>
                  </a:lnTo>
                  <a:lnTo>
                    <a:pt x="91" y="28"/>
                  </a:lnTo>
                  <a:lnTo>
                    <a:pt x="104" y="25"/>
                  </a:lnTo>
                  <a:lnTo>
                    <a:pt x="97" y="14"/>
                  </a:lnTo>
                  <a:lnTo>
                    <a:pt x="83" y="10"/>
                  </a:lnTo>
                  <a:lnTo>
                    <a:pt x="69" y="8"/>
                  </a:lnTo>
                  <a:lnTo>
                    <a:pt x="52" y="7"/>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4" name="Freeform 223">
              <a:extLst>
                <a:ext uri="{FF2B5EF4-FFF2-40B4-BE49-F238E27FC236}">
                  <a16:creationId xmlns:a16="http://schemas.microsoft.com/office/drawing/2014/main" id="{3C0C8DF6-5D6F-A11B-3CEC-1E41332CF46F}"/>
                </a:ext>
              </a:extLst>
            </p:cNvPr>
            <p:cNvSpPr>
              <a:spLocks/>
            </p:cNvSpPr>
            <p:nvPr/>
          </p:nvSpPr>
          <p:spPr bwMode="auto">
            <a:xfrm>
              <a:off x="2087" y="1814"/>
              <a:ext cx="137" cy="68"/>
            </a:xfrm>
            <a:custGeom>
              <a:avLst/>
              <a:gdLst>
                <a:gd name="T0" fmla="*/ 2001462 w 84"/>
                <a:gd name="T1" fmla="*/ 2 h 59"/>
                <a:gd name="T2" fmla="*/ 2001462 w 84"/>
                <a:gd name="T3" fmla="*/ 89 h 59"/>
                <a:gd name="T4" fmla="*/ 2001462 w 84"/>
                <a:gd name="T5" fmla="*/ 3 h 59"/>
                <a:gd name="T6" fmla="*/ 1794923 w 84"/>
                <a:gd name="T7" fmla="*/ 158 h 59"/>
                <a:gd name="T8" fmla="*/ 1469261 w 84"/>
                <a:gd name="T9" fmla="*/ 279 h 59"/>
                <a:gd name="T10" fmla="*/ 1068825 w 84"/>
                <a:gd name="T11" fmla="*/ 428 h 59"/>
                <a:gd name="T12" fmla="*/ 694386 w 84"/>
                <a:gd name="T13" fmla="*/ 568 h 59"/>
                <a:gd name="T14" fmla="*/ 361054 w 84"/>
                <a:gd name="T15" fmla="*/ 690 h 59"/>
                <a:gd name="T16" fmla="*/ 52112 w 84"/>
                <a:gd name="T17" fmla="*/ 896 h 59"/>
                <a:gd name="T18" fmla="*/ 0 w 84"/>
                <a:gd name="T19" fmla="*/ 1156 h 59"/>
                <a:gd name="T20" fmla="*/ 368724 w 84"/>
                <a:gd name="T21" fmla="*/ 1056 h 59"/>
                <a:gd name="T22" fmla="*/ 368724 w 84"/>
                <a:gd name="T23" fmla="*/ 1040 h 59"/>
                <a:gd name="T24" fmla="*/ 552353 w 84"/>
                <a:gd name="T25" fmla="*/ 916 h 59"/>
                <a:gd name="T26" fmla="*/ 866412 w 84"/>
                <a:gd name="T27" fmla="*/ 783 h 59"/>
                <a:gd name="T28" fmla="*/ 1239155 w 84"/>
                <a:gd name="T29" fmla="*/ 656 h 59"/>
                <a:gd name="T30" fmla="*/ 1688734 w 84"/>
                <a:gd name="T31" fmla="*/ 511 h 59"/>
                <a:gd name="T32" fmla="*/ 2021003 w 84"/>
                <a:gd name="T33" fmla="*/ 391 h 59"/>
                <a:gd name="T34" fmla="*/ 2280138 w 84"/>
                <a:gd name="T35" fmla="*/ 242 h 59"/>
                <a:gd name="T36" fmla="*/ 2378982 w 84"/>
                <a:gd name="T37" fmla="*/ 0 h 59"/>
                <a:gd name="T38" fmla="*/ 2396295 w 84"/>
                <a:gd name="T39" fmla="*/ 2 h 59"/>
                <a:gd name="T40" fmla="*/ 2001462 w 84"/>
                <a:gd name="T41" fmla="*/ 2 h 59"/>
                <a:gd name="T42" fmla="*/ 2001462 w 84"/>
                <a:gd name="T43" fmla="*/ 3 h 59"/>
                <a:gd name="T44" fmla="*/ 2001462 w 84"/>
                <a:gd name="T45" fmla="*/ 89 h 59"/>
                <a:gd name="T46" fmla="*/ 2001462 w 84"/>
                <a:gd name="T47" fmla="*/ 2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4"/>
                <a:gd name="T73" fmla="*/ 0 h 59"/>
                <a:gd name="T74" fmla="*/ 84 w 84"/>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4" h="59">
                  <a:moveTo>
                    <a:pt x="69" y="2"/>
                  </a:moveTo>
                  <a:lnTo>
                    <a:pt x="69" y="4"/>
                  </a:lnTo>
                  <a:lnTo>
                    <a:pt x="69" y="3"/>
                  </a:lnTo>
                  <a:lnTo>
                    <a:pt x="62" y="8"/>
                  </a:lnTo>
                  <a:lnTo>
                    <a:pt x="51" y="14"/>
                  </a:lnTo>
                  <a:lnTo>
                    <a:pt x="37" y="21"/>
                  </a:lnTo>
                  <a:lnTo>
                    <a:pt x="24" y="28"/>
                  </a:lnTo>
                  <a:lnTo>
                    <a:pt x="12" y="36"/>
                  </a:lnTo>
                  <a:lnTo>
                    <a:pt x="2" y="45"/>
                  </a:lnTo>
                  <a:lnTo>
                    <a:pt x="0" y="58"/>
                  </a:lnTo>
                  <a:lnTo>
                    <a:pt x="13" y="54"/>
                  </a:lnTo>
                  <a:lnTo>
                    <a:pt x="13" y="53"/>
                  </a:lnTo>
                  <a:lnTo>
                    <a:pt x="19" y="47"/>
                  </a:lnTo>
                  <a:lnTo>
                    <a:pt x="30" y="40"/>
                  </a:lnTo>
                  <a:lnTo>
                    <a:pt x="43" y="33"/>
                  </a:lnTo>
                  <a:lnTo>
                    <a:pt x="58" y="26"/>
                  </a:lnTo>
                  <a:lnTo>
                    <a:pt x="70" y="20"/>
                  </a:lnTo>
                  <a:lnTo>
                    <a:pt x="79" y="12"/>
                  </a:lnTo>
                  <a:lnTo>
                    <a:pt x="82" y="0"/>
                  </a:lnTo>
                  <a:lnTo>
                    <a:pt x="83" y="2"/>
                  </a:lnTo>
                  <a:lnTo>
                    <a:pt x="69" y="2"/>
                  </a:lnTo>
                  <a:lnTo>
                    <a:pt x="69" y="3"/>
                  </a:lnTo>
                  <a:lnTo>
                    <a:pt x="69" y="4"/>
                  </a:lnTo>
                  <a:lnTo>
                    <a:pt x="69"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5" name="Freeform 224">
              <a:extLst>
                <a:ext uri="{FF2B5EF4-FFF2-40B4-BE49-F238E27FC236}">
                  <a16:creationId xmlns:a16="http://schemas.microsoft.com/office/drawing/2014/main" id="{ABE510FC-76B8-4B0C-F636-24F0A191987A}"/>
                </a:ext>
              </a:extLst>
            </p:cNvPr>
            <p:cNvSpPr>
              <a:spLocks/>
            </p:cNvSpPr>
            <p:nvPr/>
          </p:nvSpPr>
          <p:spPr bwMode="auto">
            <a:xfrm>
              <a:off x="2199" y="1812"/>
              <a:ext cx="25" cy="6"/>
            </a:xfrm>
            <a:custGeom>
              <a:avLst/>
              <a:gdLst>
                <a:gd name="T0" fmla="*/ 0 w 15"/>
                <a:gd name="T1" fmla="*/ 179 h 5"/>
                <a:gd name="T2" fmla="*/ 0 w 15"/>
                <a:gd name="T3" fmla="*/ 2 h 5"/>
                <a:gd name="T4" fmla="*/ 0 w 15"/>
                <a:gd name="T5" fmla="*/ 179 h 5"/>
                <a:gd name="T6" fmla="*/ 621467 w 15"/>
                <a:gd name="T7" fmla="*/ 17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4"/>
                  </a:lnTo>
                  <a:lnTo>
                    <a:pt x="14" y="4"/>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6" name="Freeform 225">
              <a:extLst>
                <a:ext uri="{FF2B5EF4-FFF2-40B4-BE49-F238E27FC236}">
                  <a16:creationId xmlns:a16="http://schemas.microsoft.com/office/drawing/2014/main" id="{1CFEB8C1-AC9D-9AFC-70D8-3DBF0A246DA5}"/>
                </a:ext>
              </a:extLst>
            </p:cNvPr>
            <p:cNvSpPr>
              <a:spLocks/>
            </p:cNvSpPr>
            <p:nvPr/>
          </p:nvSpPr>
          <p:spPr bwMode="auto">
            <a:xfrm>
              <a:off x="2051" y="1784"/>
              <a:ext cx="173" cy="34"/>
            </a:xfrm>
            <a:custGeom>
              <a:avLst/>
              <a:gdLst>
                <a:gd name="T0" fmla="*/ 0 w 105"/>
                <a:gd name="T1" fmla="*/ 103 h 29"/>
                <a:gd name="T2" fmla="*/ 282272 w 105"/>
                <a:gd name="T3" fmla="*/ 375 h 29"/>
                <a:gd name="T4" fmla="*/ 766270 w 105"/>
                <a:gd name="T5" fmla="*/ 505 h 29"/>
                <a:gd name="T6" fmla="*/ 1283006 w 105"/>
                <a:gd name="T7" fmla="*/ 579 h 29"/>
                <a:gd name="T8" fmla="*/ 1816719 w 105"/>
                <a:gd name="T9" fmla="*/ 605 h 29"/>
                <a:gd name="T10" fmla="*/ 2445765 w 105"/>
                <a:gd name="T11" fmla="*/ 605 h 29"/>
                <a:gd name="T12" fmla="*/ 2890764 w 105"/>
                <a:gd name="T13" fmla="*/ 691 h 29"/>
                <a:gd name="T14" fmla="*/ 3191916 w 105"/>
                <a:gd name="T15" fmla="*/ 796 h 29"/>
                <a:gd name="T16" fmla="*/ 3261172 w 105"/>
                <a:gd name="T17" fmla="*/ 810 h 29"/>
                <a:gd name="T18" fmla="*/ 3721278 w 105"/>
                <a:gd name="T19" fmla="*/ 691 h 29"/>
                <a:gd name="T20" fmla="*/ 3427301 w 105"/>
                <a:gd name="T21" fmla="*/ 431 h 29"/>
                <a:gd name="T22" fmla="*/ 2979100 w 105"/>
                <a:gd name="T23" fmla="*/ 314 h 29"/>
                <a:gd name="T24" fmla="*/ 2482473 w 105"/>
                <a:gd name="T25" fmla="*/ 268 h 29"/>
                <a:gd name="T26" fmla="*/ 1890361 w 105"/>
                <a:gd name="T27" fmla="*/ 268 h 29"/>
                <a:gd name="T28" fmla="*/ 1329942 w 105"/>
                <a:gd name="T29" fmla="*/ 195 h 29"/>
                <a:gd name="T30" fmla="*/ 875703 w 105"/>
                <a:gd name="T31" fmla="*/ 142 h 29"/>
                <a:gd name="T32" fmla="*/ 569066 w 105"/>
                <a:gd name="T33" fmla="*/ 2 h 29"/>
                <a:gd name="T34" fmla="*/ 465077 w 105"/>
                <a:gd name="T35" fmla="*/ 0 h 29"/>
                <a:gd name="T36" fmla="*/ 0 w 105"/>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3"/>
                  </a:moveTo>
                  <a:lnTo>
                    <a:pt x="8" y="14"/>
                  </a:lnTo>
                  <a:lnTo>
                    <a:pt x="21" y="18"/>
                  </a:lnTo>
                  <a:lnTo>
                    <a:pt x="36" y="20"/>
                  </a:lnTo>
                  <a:lnTo>
                    <a:pt x="51" y="22"/>
                  </a:lnTo>
                  <a:lnTo>
                    <a:pt x="68" y="22"/>
                  </a:lnTo>
                  <a:lnTo>
                    <a:pt x="81" y="24"/>
                  </a:lnTo>
                  <a:lnTo>
                    <a:pt x="89" y="27"/>
                  </a:lnTo>
                  <a:lnTo>
                    <a:pt x="91" y="28"/>
                  </a:lnTo>
                  <a:lnTo>
                    <a:pt x="104" y="24"/>
                  </a:lnTo>
                  <a:lnTo>
                    <a:pt x="96" y="15"/>
                  </a:lnTo>
                  <a:lnTo>
                    <a:pt x="83" y="11"/>
                  </a:lnTo>
                  <a:lnTo>
                    <a:pt x="69" y="9"/>
                  </a:lnTo>
                  <a:lnTo>
                    <a:pt x="53" y="9"/>
                  </a:lnTo>
                  <a:lnTo>
                    <a:pt x="37" y="7"/>
                  </a:lnTo>
                  <a:lnTo>
                    <a:pt x="24" y="5"/>
                  </a:lnTo>
                  <a:lnTo>
                    <a:pt x="16"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7" name="Freeform 226">
              <a:extLst>
                <a:ext uri="{FF2B5EF4-FFF2-40B4-BE49-F238E27FC236}">
                  <a16:creationId xmlns:a16="http://schemas.microsoft.com/office/drawing/2014/main" id="{6AD68500-86CA-F5A7-4721-C33EA64A84A9}"/>
                </a:ext>
              </a:extLst>
            </p:cNvPr>
            <p:cNvSpPr>
              <a:spLocks/>
            </p:cNvSpPr>
            <p:nvPr/>
          </p:nvSpPr>
          <p:spPr bwMode="auto">
            <a:xfrm>
              <a:off x="2051" y="1717"/>
              <a:ext cx="137" cy="74"/>
            </a:xfrm>
            <a:custGeom>
              <a:avLst/>
              <a:gdLst>
                <a:gd name="T0" fmla="*/ 2566051 w 83"/>
                <a:gd name="T1" fmla="*/ 93 h 64"/>
                <a:gd name="T2" fmla="*/ 2519400 w 83"/>
                <a:gd name="T3" fmla="*/ 108 h 64"/>
                <a:gd name="T4" fmla="*/ 2289995 w 83"/>
                <a:gd name="T5" fmla="*/ 243 h 64"/>
                <a:gd name="T6" fmla="*/ 1894573 w 83"/>
                <a:gd name="T7" fmla="*/ 383 h 64"/>
                <a:gd name="T8" fmla="*/ 1385413 w 83"/>
                <a:gd name="T9" fmla="*/ 535 h 64"/>
                <a:gd name="T10" fmla="*/ 901473 w 83"/>
                <a:gd name="T11" fmla="*/ 685 h 64"/>
                <a:gd name="T12" fmla="*/ 416000 w 83"/>
                <a:gd name="T13" fmla="*/ 844 h 64"/>
                <a:gd name="T14" fmla="*/ 39192 w 83"/>
                <a:gd name="T15" fmla="*/ 1059 h 64"/>
                <a:gd name="T16" fmla="*/ 0 w 83"/>
                <a:gd name="T17" fmla="*/ 1319 h 64"/>
                <a:gd name="T18" fmla="*/ 480180 w 83"/>
                <a:gd name="T19" fmla="*/ 1234 h 64"/>
                <a:gd name="T20" fmla="*/ 480180 w 83"/>
                <a:gd name="T21" fmla="*/ 1190 h 64"/>
                <a:gd name="T22" fmla="*/ 695387 w 83"/>
                <a:gd name="T23" fmla="*/ 1067 h 64"/>
                <a:gd name="T24" fmla="*/ 1133388 w 83"/>
                <a:gd name="T25" fmla="*/ 923 h 64"/>
                <a:gd name="T26" fmla="*/ 1639289 w 83"/>
                <a:gd name="T27" fmla="*/ 792 h 64"/>
                <a:gd name="T28" fmla="*/ 2118581 w 83"/>
                <a:gd name="T29" fmla="*/ 619 h 64"/>
                <a:gd name="T30" fmla="*/ 2603804 w 83"/>
                <a:gd name="T31" fmla="*/ 463 h 64"/>
                <a:gd name="T32" fmla="*/ 2935213 w 83"/>
                <a:gd name="T33" fmla="*/ 281 h 64"/>
                <a:gd name="T34" fmla="*/ 3041930 w 83"/>
                <a:gd name="T35" fmla="*/ 0 h 64"/>
                <a:gd name="T36" fmla="*/ 2566051 w 83"/>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7" y="25"/>
                  </a:lnTo>
                  <a:lnTo>
                    <a:pt x="24" y="32"/>
                  </a:lnTo>
                  <a:lnTo>
                    <a:pt x="11" y="40"/>
                  </a:lnTo>
                  <a:lnTo>
                    <a:pt x="1" y="50"/>
                  </a:lnTo>
                  <a:lnTo>
                    <a:pt x="0" y="63"/>
                  </a:lnTo>
                  <a:lnTo>
                    <a:pt x="13" y="59"/>
                  </a:lnTo>
                  <a:lnTo>
                    <a:pt x="13" y="56"/>
                  </a:lnTo>
                  <a:lnTo>
                    <a:pt x="19" y="51"/>
                  </a:lnTo>
                  <a:lnTo>
                    <a:pt x="30" y="44"/>
                  </a:lnTo>
                  <a:lnTo>
                    <a:pt x="44" y="37"/>
                  </a:lnTo>
                  <a:lnTo>
                    <a:pt x="57"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8" name="Freeform 227">
              <a:extLst>
                <a:ext uri="{FF2B5EF4-FFF2-40B4-BE49-F238E27FC236}">
                  <a16:creationId xmlns:a16="http://schemas.microsoft.com/office/drawing/2014/main" id="{FE38C3BF-7FC2-7C92-B97E-14233191C756}"/>
                </a:ext>
              </a:extLst>
            </p:cNvPr>
            <p:cNvSpPr>
              <a:spLocks/>
            </p:cNvSpPr>
            <p:nvPr/>
          </p:nvSpPr>
          <p:spPr bwMode="auto">
            <a:xfrm>
              <a:off x="2016" y="1690"/>
              <a:ext cx="172" cy="33"/>
            </a:xfrm>
            <a:custGeom>
              <a:avLst/>
              <a:gdLst>
                <a:gd name="T0" fmla="*/ 0 w 105"/>
                <a:gd name="T1" fmla="*/ 68 h 29"/>
                <a:gd name="T2" fmla="*/ 247472 w 105"/>
                <a:gd name="T3" fmla="*/ 207 h 29"/>
                <a:gd name="T4" fmla="*/ 664056 w 105"/>
                <a:gd name="T5" fmla="*/ 281 h 29"/>
                <a:gd name="T6" fmla="*/ 1144996 w 105"/>
                <a:gd name="T7" fmla="*/ 316 h 29"/>
                <a:gd name="T8" fmla="*/ 1642575 w 105"/>
                <a:gd name="T9" fmla="*/ 316 h 29"/>
                <a:gd name="T10" fmla="*/ 2126746 w 105"/>
                <a:gd name="T11" fmla="*/ 320 h 29"/>
                <a:gd name="T12" fmla="*/ 2574242 w 105"/>
                <a:gd name="T13" fmla="*/ 360 h 29"/>
                <a:gd name="T14" fmla="*/ 2827108 w 105"/>
                <a:gd name="T15" fmla="*/ 410 h 29"/>
                <a:gd name="T16" fmla="*/ 2885372 w 105"/>
                <a:gd name="T17" fmla="*/ 414 h 29"/>
                <a:gd name="T18" fmla="*/ 3278466 w 105"/>
                <a:gd name="T19" fmla="*/ 364 h 29"/>
                <a:gd name="T20" fmla="*/ 3037405 w 105"/>
                <a:gd name="T21" fmla="*/ 217 h 29"/>
                <a:gd name="T22" fmla="*/ 2633720 w 105"/>
                <a:gd name="T23" fmla="*/ 168 h 29"/>
                <a:gd name="T24" fmla="*/ 2147610 w 105"/>
                <a:gd name="T25" fmla="*/ 130 h 29"/>
                <a:gd name="T26" fmla="*/ 1642575 w 105"/>
                <a:gd name="T27" fmla="*/ 114 h 29"/>
                <a:gd name="T28" fmla="*/ 1185358 w 105"/>
                <a:gd name="T29" fmla="*/ 114 h 29"/>
                <a:gd name="T30" fmla="*/ 758238 w 105"/>
                <a:gd name="T31" fmla="*/ 88 h 29"/>
                <a:gd name="T32" fmla="*/ 506031 w 105"/>
                <a:gd name="T33" fmla="*/ 2 h 29"/>
                <a:gd name="T34" fmla="*/ 405383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1" y="19"/>
                  </a:lnTo>
                  <a:lnTo>
                    <a:pt x="36" y="21"/>
                  </a:lnTo>
                  <a:lnTo>
                    <a:pt x="52" y="21"/>
                  </a:lnTo>
                  <a:lnTo>
                    <a:pt x="67" y="22"/>
                  </a:lnTo>
                  <a:lnTo>
                    <a:pt x="81" y="24"/>
                  </a:lnTo>
                  <a:lnTo>
                    <a:pt x="89" y="27"/>
                  </a:lnTo>
                  <a:lnTo>
                    <a:pt x="91" y="28"/>
                  </a:lnTo>
                  <a:lnTo>
                    <a:pt x="104" y="25"/>
                  </a:lnTo>
                  <a:lnTo>
                    <a:pt x="96" y="15"/>
                  </a:lnTo>
                  <a:lnTo>
                    <a:pt x="83" y="11"/>
                  </a:lnTo>
                  <a:lnTo>
                    <a:pt x="68" y="9"/>
                  </a:lnTo>
                  <a:lnTo>
                    <a:pt x="52" y="8"/>
                  </a:lnTo>
                  <a:lnTo>
                    <a:pt x="37" y="8"/>
                  </a:lnTo>
                  <a:lnTo>
                    <a:pt x="24" y="6"/>
                  </a:lnTo>
                  <a:lnTo>
                    <a:pt x="1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9" name="Freeform 228">
              <a:extLst>
                <a:ext uri="{FF2B5EF4-FFF2-40B4-BE49-F238E27FC236}">
                  <a16:creationId xmlns:a16="http://schemas.microsoft.com/office/drawing/2014/main" id="{5CA7266F-FC9D-C243-053B-3D406C8399B5}"/>
                </a:ext>
              </a:extLst>
            </p:cNvPr>
            <p:cNvSpPr>
              <a:spLocks/>
            </p:cNvSpPr>
            <p:nvPr/>
          </p:nvSpPr>
          <p:spPr bwMode="auto">
            <a:xfrm>
              <a:off x="2016" y="1622"/>
              <a:ext cx="136" cy="73"/>
            </a:xfrm>
            <a:custGeom>
              <a:avLst/>
              <a:gdLst>
                <a:gd name="T0" fmla="*/ 2195491 w 83"/>
                <a:gd name="T1" fmla="*/ 94 h 63"/>
                <a:gd name="T2" fmla="*/ 2160471 w 83"/>
                <a:gd name="T3" fmla="*/ 109 h 63"/>
                <a:gd name="T4" fmla="*/ 1987493 w 83"/>
                <a:gd name="T5" fmla="*/ 247 h 63"/>
                <a:gd name="T6" fmla="*/ 1636031 w 83"/>
                <a:gd name="T7" fmla="*/ 394 h 63"/>
                <a:gd name="T8" fmla="*/ 1212955 w 83"/>
                <a:gd name="T9" fmla="*/ 530 h 63"/>
                <a:gd name="T10" fmla="*/ 761179 w 83"/>
                <a:gd name="T11" fmla="*/ 693 h 63"/>
                <a:gd name="T12" fmla="*/ 389068 w 83"/>
                <a:gd name="T13" fmla="*/ 854 h 63"/>
                <a:gd name="T14" fmla="*/ 56548 w 83"/>
                <a:gd name="T15" fmla="*/ 1078 h 63"/>
                <a:gd name="T16" fmla="*/ 0 w 83"/>
                <a:gd name="T17" fmla="*/ 1362 h 63"/>
                <a:gd name="T18" fmla="*/ 407626 w 83"/>
                <a:gd name="T19" fmla="*/ 1283 h 63"/>
                <a:gd name="T20" fmla="*/ 451776 w 83"/>
                <a:gd name="T21" fmla="*/ 1219 h 63"/>
                <a:gd name="T22" fmla="*/ 609354 w 83"/>
                <a:gd name="T23" fmla="*/ 1078 h 63"/>
                <a:gd name="T24" fmla="*/ 949754 w 83"/>
                <a:gd name="T25" fmla="*/ 955 h 63"/>
                <a:gd name="T26" fmla="*/ 1398653 w 83"/>
                <a:gd name="T27" fmla="*/ 803 h 63"/>
                <a:gd name="T28" fmla="*/ 1855348 w 83"/>
                <a:gd name="T29" fmla="*/ 636 h 63"/>
                <a:gd name="T30" fmla="*/ 2232686 w 83"/>
                <a:gd name="T31" fmla="*/ 474 h 63"/>
                <a:gd name="T32" fmla="*/ 2508355 w 83"/>
                <a:gd name="T33" fmla="*/ 286 h 63"/>
                <a:gd name="T34" fmla="*/ 2609697 w 83"/>
                <a:gd name="T35" fmla="*/ 0 h 63"/>
                <a:gd name="T36" fmla="*/ 219549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8"/>
                  </a:lnTo>
                  <a:lnTo>
                    <a:pt x="38" y="24"/>
                  </a:lnTo>
                  <a:lnTo>
                    <a:pt x="24" y="31"/>
                  </a:lnTo>
                  <a:lnTo>
                    <a:pt x="12" y="39"/>
                  </a:lnTo>
                  <a:lnTo>
                    <a:pt x="2" y="49"/>
                  </a:lnTo>
                  <a:lnTo>
                    <a:pt x="0" y="62"/>
                  </a:lnTo>
                  <a:lnTo>
                    <a:pt x="13" y="58"/>
                  </a:lnTo>
                  <a:lnTo>
                    <a:pt x="14" y="55"/>
                  </a:lnTo>
                  <a:lnTo>
                    <a:pt x="19" y="49"/>
                  </a:lnTo>
                  <a:lnTo>
                    <a:pt x="30" y="43"/>
                  </a:lnTo>
                  <a:lnTo>
                    <a:pt x="44" y="36"/>
                  </a:lnTo>
                  <a:lnTo>
                    <a:pt x="58"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0" name="Freeform 229">
              <a:extLst>
                <a:ext uri="{FF2B5EF4-FFF2-40B4-BE49-F238E27FC236}">
                  <a16:creationId xmlns:a16="http://schemas.microsoft.com/office/drawing/2014/main" id="{A71CB525-D68E-C65B-1AC9-1E278101D198}"/>
                </a:ext>
              </a:extLst>
            </p:cNvPr>
            <p:cNvSpPr>
              <a:spLocks/>
            </p:cNvSpPr>
            <p:nvPr/>
          </p:nvSpPr>
          <p:spPr bwMode="auto">
            <a:xfrm>
              <a:off x="1979" y="1537"/>
              <a:ext cx="173" cy="91"/>
            </a:xfrm>
            <a:custGeom>
              <a:avLst/>
              <a:gdLst>
                <a:gd name="T0" fmla="*/ 504969 w 105"/>
                <a:gd name="T1" fmla="*/ 1033 h 79"/>
                <a:gd name="T2" fmla="*/ 0 w 105"/>
                <a:gd name="T3" fmla="*/ 1086 h 79"/>
                <a:gd name="T4" fmla="*/ 282272 w 105"/>
                <a:gd name="T5" fmla="*/ 1282 h 79"/>
                <a:gd name="T6" fmla="*/ 766270 w 105"/>
                <a:gd name="T7" fmla="*/ 1371 h 79"/>
                <a:gd name="T8" fmla="*/ 1329942 w 105"/>
                <a:gd name="T9" fmla="*/ 1412 h 79"/>
                <a:gd name="T10" fmla="*/ 1875692 w 105"/>
                <a:gd name="T11" fmla="*/ 1433 h 79"/>
                <a:gd name="T12" fmla="*/ 2385467 w 105"/>
                <a:gd name="T13" fmla="*/ 1433 h 79"/>
                <a:gd name="T14" fmla="*/ 2865936 w 105"/>
                <a:gd name="T15" fmla="*/ 1438 h 79"/>
                <a:gd name="T16" fmla="*/ 3191916 w 105"/>
                <a:gd name="T17" fmla="*/ 1477 h 79"/>
                <a:gd name="T18" fmla="*/ 3261172 w 105"/>
                <a:gd name="T19" fmla="*/ 1530 h 79"/>
                <a:gd name="T20" fmla="*/ 3721278 w 105"/>
                <a:gd name="T21" fmla="*/ 1438 h 79"/>
                <a:gd name="T22" fmla="*/ 3420932 w 105"/>
                <a:gd name="T23" fmla="*/ 1248 h 79"/>
                <a:gd name="T24" fmla="*/ 2979100 w 105"/>
                <a:gd name="T25" fmla="*/ 1189 h 79"/>
                <a:gd name="T26" fmla="*/ 2482473 w 105"/>
                <a:gd name="T27" fmla="*/ 1157 h 79"/>
                <a:gd name="T28" fmla="*/ 1875692 w 105"/>
                <a:gd name="T29" fmla="*/ 1147 h 79"/>
                <a:gd name="T30" fmla="*/ 1329942 w 105"/>
                <a:gd name="T31" fmla="*/ 1153 h 79"/>
                <a:gd name="T32" fmla="*/ 875703 w 105"/>
                <a:gd name="T33" fmla="*/ 1147 h 79"/>
                <a:gd name="T34" fmla="*/ 569066 w 105"/>
                <a:gd name="T35" fmla="*/ 1080 h 79"/>
                <a:gd name="T36" fmla="*/ 465077 w 105"/>
                <a:gd name="T37" fmla="*/ 1004 h 79"/>
                <a:gd name="T38" fmla="*/ 0 w 105"/>
                <a:gd name="T39" fmla="*/ 1033 h 79"/>
                <a:gd name="T40" fmla="*/ 465077 w 105"/>
                <a:gd name="T41" fmla="*/ 1004 h 79"/>
                <a:gd name="T42" fmla="*/ 0 w 105"/>
                <a:gd name="T43" fmla="*/ 0 h 79"/>
                <a:gd name="T44" fmla="*/ 0 w 105"/>
                <a:gd name="T45" fmla="*/ 1033 h 79"/>
                <a:gd name="T46" fmla="*/ 504969 w 105"/>
                <a:gd name="T47" fmla="*/ 1033 h 7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79"/>
                <a:gd name="T74" fmla="*/ 105 w 105"/>
                <a:gd name="T75" fmla="*/ 79 h 7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79">
                  <a:moveTo>
                    <a:pt x="14" y="54"/>
                  </a:moveTo>
                  <a:lnTo>
                    <a:pt x="0" y="56"/>
                  </a:lnTo>
                  <a:lnTo>
                    <a:pt x="8" y="66"/>
                  </a:lnTo>
                  <a:lnTo>
                    <a:pt x="21" y="71"/>
                  </a:lnTo>
                  <a:lnTo>
                    <a:pt x="37" y="72"/>
                  </a:lnTo>
                  <a:lnTo>
                    <a:pt x="52" y="73"/>
                  </a:lnTo>
                  <a:lnTo>
                    <a:pt x="67" y="73"/>
                  </a:lnTo>
                  <a:lnTo>
                    <a:pt x="80" y="74"/>
                  </a:lnTo>
                  <a:lnTo>
                    <a:pt x="89" y="76"/>
                  </a:lnTo>
                  <a:lnTo>
                    <a:pt x="91" y="78"/>
                  </a:lnTo>
                  <a:lnTo>
                    <a:pt x="104" y="74"/>
                  </a:lnTo>
                  <a:lnTo>
                    <a:pt x="95" y="64"/>
                  </a:lnTo>
                  <a:lnTo>
                    <a:pt x="83" y="61"/>
                  </a:lnTo>
                  <a:lnTo>
                    <a:pt x="69" y="60"/>
                  </a:lnTo>
                  <a:lnTo>
                    <a:pt x="52" y="58"/>
                  </a:lnTo>
                  <a:lnTo>
                    <a:pt x="37" y="59"/>
                  </a:lnTo>
                  <a:lnTo>
                    <a:pt x="24" y="58"/>
                  </a:lnTo>
                  <a:lnTo>
                    <a:pt x="16" y="55"/>
                  </a:lnTo>
                  <a:lnTo>
                    <a:pt x="13" y="52"/>
                  </a:lnTo>
                  <a:lnTo>
                    <a:pt x="0" y="54"/>
                  </a:lnTo>
                  <a:lnTo>
                    <a:pt x="13" y="52"/>
                  </a:lnTo>
                  <a:lnTo>
                    <a:pt x="0" y="0"/>
                  </a:lnTo>
                  <a:lnTo>
                    <a:pt x="0" y="54"/>
                  </a:lnTo>
                  <a:lnTo>
                    <a:pt x="14" y="5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1" name="Freeform 230">
              <a:extLst>
                <a:ext uri="{FF2B5EF4-FFF2-40B4-BE49-F238E27FC236}">
                  <a16:creationId xmlns:a16="http://schemas.microsoft.com/office/drawing/2014/main" id="{10F4DCC5-D693-698D-6C33-9FEB8B358F86}"/>
                </a:ext>
              </a:extLst>
            </p:cNvPr>
            <p:cNvSpPr>
              <a:spLocks/>
            </p:cNvSpPr>
            <p:nvPr/>
          </p:nvSpPr>
          <p:spPr bwMode="auto">
            <a:xfrm>
              <a:off x="1979" y="1598"/>
              <a:ext cx="25" cy="55"/>
            </a:xfrm>
            <a:custGeom>
              <a:avLst/>
              <a:gdLst>
                <a:gd name="T0" fmla="*/ 0 w 15"/>
                <a:gd name="T1" fmla="*/ 74 h 48"/>
                <a:gd name="T2" fmla="*/ 621467 w 15"/>
                <a:gd name="T3" fmla="*/ 2 h 48"/>
                <a:gd name="T4" fmla="*/ 621467 w 15"/>
                <a:gd name="T5" fmla="*/ 0 h 48"/>
                <a:gd name="T6" fmla="*/ 0 w 15"/>
                <a:gd name="T7" fmla="*/ 0 h 48"/>
                <a:gd name="T8" fmla="*/ 0 w 15"/>
                <a:gd name="T9" fmla="*/ 2 h 48"/>
                <a:gd name="T10" fmla="*/ 609953 w 15"/>
                <a:gd name="T11" fmla="*/ 0 h 48"/>
                <a:gd name="T12" fmla="*/ 0 w 15"/>
                <a:gd name="T13" fmla="*/ 74 h 48"/>
                <a:gd name="T14" fmla="*/ 621467 w 15"/>
                <a:gd name="T15" fmla="*/ 835 h 48"/>
                <a:gd name="T16" fmla="*/ 621467 w 15"/>
                <a:gd name="T17" fmla="*/ 2 h 48"/>
                <a:gd name="T18" fmla="*/ 0 w 15"/>
                <a:gd name="T19" fmla="*/ 74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48"/>
                <a:gd name="T32" fmla="*/ 15 w 15"/>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48">
                  <a:moveTo>
                    <a:pt x="0" y="4"/>
                  </a:moveTo>
                  <a:lnTo>
                    <a:pt x="14" y="2"/>
                  </a:lnTo>
                  <a:lnTo>
                    <a:pt x="14" y="0"/>
                  </a:lnTo>
                  <a:lnTo>
                    <a:pt x="0" y="0"/>
                  </a:lnTo>
                  <a:lnTo>
                    <a:pt x="0" y="2"/>
                  </a:lnTo>
                  <a:lnTo>
                    <a:pt x="13" y="0"/>
                  </a:lnTo>
                  <a:lnTo>
                    <a:pt x="0" y="4"/>
                  </a:lnTo>
                  <a:lnTo>
                    <a:pt x="14" y="47"/>
                  </a:lnTo>
                  <a:lnTo>
                    <a:pt x="14" y="2"/>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2" name="Freeform 231">
              <a:extLst>
                <a:ext uri="{FF2B5EF4-FFF2-40B4-BE49-F238E27FC236}">
                  <a16:creationId xmlns:a16="http://schemas.microsoft.com/office/drawing/2014/main" id="{465F1CDE-4888-42EB-61FC-E7376B071CEC}"/>
                </a:ext>
              </a:extLst>
            </p:cNvPr>
            <p:cNvSpPr>
              <a:spLocks/>
            </p:cNvSpPr>
            <p:nvPr/>
          </p:nvSpPr>
          <p:spPr bwMode="auto">
            <a:xfrm>
              <a:off x="1979" y="1532"/>
              <a:ext cx="139" cy="72"/>
            </a:xfrm>
            <a:custGeom>
              <a:avLst/>
              <a:gdLst>
                <a:gd name="T0" fmla="*/ 2750315 w 84"/>
                <a:gd name="T1" fmla="*/ 73 h 63"/>
                <a:gd name="T2" fmla="*/ 2707808 w 84"/>
                <a:gd name="T3" fmla="*/ 83 h 63"/>
                <a:gd name="T4" fmla="*/ 2468110 w 84"/>
                <a:gd name="T5" fmla="*/ 143 h 63"/>
                <a:gd name="T6" fmla="*/ 1992016 w 84"/>
                <a:gd name="T7" fmla="*/ 231 h 63"/>
                <a:gd name="T8" fmla="*/ 1491520 w 84"/>
                <a:gd name="T9" fmla="*/ 326 h 63"/>
                <a:gd name="T10" fmla="*/ 901350 w 84"/>
                <a:gd name="T11" fmla="*/ 450 h 63"/>
                <a:gd name="T12" fmla="*/ 399678 w 84"/>
                <a:gd name="T13" fmla="*/ 587 h 63"/>
                <a:gd name="T14" fmla="*/ 41669 w 84"/>
                <a:gd name="T15" fmla="*/ 790 h 63"/>
                <a:gd name="T16" fmla="*/ 0 w 84"/>
                <a:gd name="T17" fmla="*/ 1032 h 63"/>
                <a:gd name="T18" fmla="*/ 516999 w 84"/>
                <a:gd name="T19" fmla="*/ 951 h 63"/>
                <a:gd name="T20" fmla="*/ 544701 w 84"/>
                <a:gd name="T21" fmla="*/ 848 h 63"/>
                <a:gd name="T22" fmla="*/ 727481 w 84"/>
                <a:gd name="T23" fmla="*/ 728 h 63"/>
                <a:gd name="T24" fmla="*/ 1134836 w 84"/>
                <a:gd name="T25" fmla="*/ 637 h 63"/>
                <a:gd name="T26" fmla="*/ 1679818 w 84"/>
                <a:gd name="T27" fmla="*/ 542 h 63"/>
                <a:gd name="T28" fmla="*/ 2235062 w 84"/>
                <a:gd name="T29" fmla="*/ 450 h 63"/>
                <a:gd name="T30" fmla="*/ 2750315 w 84"/>
                <a:gd name="T31" fmla="*/ 345 h 63"/>
                <a:gd name="T32" fmla="*/ 3107449 w 84"/>
                <a:gd name="T33" fmla="*/ 202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9"/>
                  </a:lnTo>
                  <a:lnTo>
                    <a:pt x="51" y="14"/>
                  </a:lnTo>
                  <a:lnTo>
                    <a:pt x="38" y="20"/>
                  </a:lnTo>
                  <a:lnTo>
                    <a:pt x="23" y="27"/>
                  </a:lnTo>
                  <a:lnTo>
                    <a:pt x="10" y="35"/>
                  </a:lnTo>
                  <a:lnTo>
                    <a:pt x="1" y="47"/>
                  </a:lnTo>
                  <a:lnTo>
                    <a:pt x="0" y="62"/>
                  </a:lnTo>
                  <a:lnTo>
                    <a:pt x="13" y="58"/>
                  </a:lnTo>
                  <a:lnTo>
                    <a:pt x="14" y="52"/>
                  </a:lnTo>
                  <a:lnTo>
                    <a:pt x="19" y="45"/>
                  </a:lnTo>
                  <a:lnTo>
                    <a:pt x="29" y="39"/>
                  </a:lnTo>
                  <a:lnTo>
                    <a:pt x="43" y="33"/>
                  </a:lnTo>
                  <a:lnTo>
                    <a:pt x="57" y="27"/>
                  </a:lnTo>
                  <a:lnTo>
                    <a:pt x="70" y="21"/>
                  </a:lnTo>
                  <a:lnTo>
                    <a:pt x="79" y="12"/>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3" name="Freeform 232">
              <a:extLst>
                <a:ext uri="{FF2B5EF4-FFF2-40B4-BE49-F238E27FC236}">
                  <a16:creationId xmlns:a16="http://schemas.microsoft.com/office/drawing/2014/main" id="{279B4F6E-DB68-3AE9-D803-C38FD04B902E}"/>
                </a:ext>
              </a:extLst>
            </p:cNvPr>
            <p:cNvSpPr>
              <a:spLocks/>
            </p:cNvSpPr>
            <p:nvPr/>
          </p:nvSpPr>
          <p:spPr bwMode="auto">
            <a:xfrm>
              <a:off x="1943" y="1503"/>
              <a:ext cx="175" cy="34"/>
            </a:xfrm>
            <a:custGeom>
              <a:avLst/>
              <a:gdLst>
                <a:gd name="T0" fmla="*/ 0 w 106"/>
                <a:gd name="T1" fmla="*/ 61 h 30"/>
                <a:gd name="T2" fmla="*/ 291842 w 106"/>
                <a:gd name="T3" fmla="*/ 186 h 30"/>
                <a:gd name="T4" fmla="*/ 795449 w 106"/>
                <a:gd name="T5" fmla="*/ 239 h 30"/>
                <a:gd name="T6" fmla="*/ 1328805 w 106"/>
                <a:gd name="T7" fmla="*/ 271 h 30"/>
                <a:gd name="T8" fmla="*/ 1941196 w 106"/>
                <a:gd name="T9" fmla="*/ 299 h 30"/>
                <a:gd name="T10" fmla="*/ 2508326 w 106"/>
                <a:gd name="T11" fmla="*/ 299 h 30"/>
                <a:gd name="T12" fmla="*/ 3033331 w 106"/>
                <a:gd name="T13" fmla="*/ 338 h 30"/>
                <a:gd name="T14" fmla="*/ 3369257 w 106"/>
                <a:gd name="T15" fmla="*/ 383 h 30"/>
                <a:gd name="T16" fmla="*/ 3435385 w 106"/>
                <a:gd name="T17" fmla="*/ 394 h 30"/>
                <a:gd name="T18" fmla="*/ 3917132 w 106"/>
                <a:gd name="T19" fmla="*/ 339 h 30"/>
                <a:gd name="T20" fmla="*/ 3579389 w 106"/>
                <a:gd name="T21" fmla="*/ 206 h 30"/>
                <a:gd name="T22" fmla="*/ 3136520 w 106"/>
                <a:gd name="T23" fmla="*/ 145 h 30"/>
                <a:gd name="T24" fmla="*/ 2573651 w 106"/>
                <a:gd name="T25" fmla="*/ 113 h 30"/>
                <a:gd name="T26" fmla="*/ 1984779 w 106"/>
                <a:gd name="T27" fmla="*/ 113 h 30"/>
                <a:gd name="T28" fmla="*/ 1389091 w 106"/>
                <a:gd name="T29" fmla="*/ 88 h 30"/>
                <a:gd name="T30" fmla="*/ 904506 w 106"/>
                <a:gd name="T31" fmla="*/ 78 h 30"/>
                <a:gd name="T32" fmla="*/ 563155 w 106"/>
                <a:gd name="T33" fmla="*/ 2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2"/>
                  </a:lnTo>
                  <a:lnTo>
                    <a:pt x="67" y="22"/>
                  </a:lnTo>
                  <a:lnTo>
                    <a:pt x="81" y="24"/>
                  </a:lnTo>
                  <a:lnTo>
                    <a:pt x="90" y="27"/>
                  </a:lnTo>
                  <a:lnTo>
                    <a:pt x="92" y="29"/>
                  </a:lnTo>
                  <a:lnTo>
                    <a:pt x="105" y="25"/>
                  </a:lnTo>
                  <a:lnTo>
                    <a:pt x="96" y="15"/>
                  </a:lnTo>
                  <a:lnTo>
                    <a:pt x="84" y="11"/>
                  </a:lnTo>
                  <a:lnTo>
                    <a:pt x="69" y="9"/>
                  </a:lnTo>
                  <a:lnTo>
                    <a:pt x="53" y="9"/>
                  </a:lnTo>
                  <a:lnTo>
                    <a:pt x="37" y="7"/>
                  </a:lnTo>
                  <a:lnTo>
                    <a:pt x="24" y="6"/>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4" name="Freeform 233">
              <a:extLst>
                <a:ext uri="{FF2B5EF4-FFF2-40B4-BE49-F238E27FC236}">
                  <a16:creationId xmlns:a16="http://schemas.microsoft.com/office/drawing/2014/main" id="{6711B79E-5DE7-DDCC-16C6-4A8B93D4844E}"/>
                </a:ext>
              </a:extLst>
            </p:cNvPr>
            <p:cNvSpPr>
              <a:spLocks/>
            </p:cNvSpPr>
            <p:nvPr/>
          </p:nvSpPr>
          <p:spPr bwMode="auto">
            <a:xfrm>
              <a:off x="1943" y="1436"/>
              <a:ext cx="137" cy="73"/>
            </a:xfrm>
            <a:custGeom>
              <a:avLst/>
              <a:gdLst>
                <a:gd name="T0" fmla="*/ 2566051 w 83"/>
                <a:gd name="T1" fmla="*/ 94 h 63"/>
                <a:gd name="T2" fmla="*/ 2495618 w 83"/>
                <a:gd name="T3" fmla="*/ 109 h 63"/>
                <a:gd name="T4" fmla="*/ 2289995 w 83"/>
                <a:gd name="T5" fmla="*/ 247 h 63"/>
                <a:gd name="T6" fmla="*/ 1894573 w 83"/>
                <a:gd name="T7" fmla="*/ 384 h 63"/>
                <a:gd name="T8" fmla="*/ 1423684 w 83"/>
                <a:gd name="T9" fmla="*/ 549 h 63"/>
                <a:gd name="T10" fmla="*/ 901473 w 83"/>
                <a:gd name="T11" fmla="*/ 711 h 63"/>
                <a:gd name="T12" fmla="*/ 446998 w 83"/>
                <a:gd name="T13" fmla="*/ 854 h 63"/>
                <a:gd name="T14" fmla="*/ 64690 w 83"/>
                <a:gd name="T15" fmla="*/ 1078 h 63"/>
                <a:gd name="T16" fmla="*/ 0 w 83"/>
                <a:gd name="T17" fmla="*/ 1362 h 63"/>
                <a:gd name="T18" fmla="*/ 480180 w 83"/>
                <a:gd name="T19" fmla="*/ 1283 h 63"/>
                <a:gd name="T20" fmla="*/ 522551 w 83"/>
                <a:gd name="T21" fmla="*/ 1219 h 63"/>
                <a:gd name="T22" fmla="*/ 695387 w 83"/>
                <a:gd name="T23" fmla="*/ 1107 h 63"/>
                <a:gd name="T24" fmla="*/ 1133388 w 83"/>
                <a:gd name="T25" fmla="*/ 955 h 63"/>
                <a:gd name="T26" fmla="*/ 1639289 w 83"/>
                <a:gd name="T27" fmla="*/ 803 h 63"/>
                <a:gd name="T28" fmla="*/ 2159391 w 83"/>
                <a:gd name="T29" fmla="*/ 636 h 63"/>
                <a:gd name="T30" fmla="*/ 2603804 w 83"/>
                <a:gd name="T31" fmla="*/ 457 h 63"/>
                <a:gd name="T32" fmla="*/ 2935213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7" y="5"/>
                  </a:lnTo>
                  <a:lnTo>
                    <a:pt x="62" y="11"/>
                  </a:lnTo>
                  <a:lnTo>
                    <a:pt x="51" y="17"/>
                  </a:lnTo>
                  <a:lnTo>
                    <a:pt x="38" y="25"/>
                  </a:lnTo>
                  <a:lnTo>
                    <a:pt x="24" y="32"/>
                  </a:lnTo>
                  <a:lnTo>
                    <a:pt x="12" y="39"/>
                  </a:lnTo>
                  <a:lnTo>
                    <a:pt x="2" y="49"/>
                  </a:lnTo>
                  <a:lnTo>
                    <a:pt x="0" y="62"/>
                  </a:lnTo>
                  <a:lnTo>
                    <a:pt x="13" y="58"/>
                  </a:lnTo>
                  <a:lnTo>
                    <a:pt x="14" y="55"/>
                  </a:lnTo>
                  <a:lnTo>
                    <a:pt x="19" y="50"/>
                  </a:lnTo>
                  <a:lnTo>
                    <a:pt x="30" y="43"/>
                  </a:lnTo>
                  <a:lnTo>
                    <a:pt x="44" y="36"/>
                  </a:lnTo>
                  <a:lnTo>
                    <a:pt x="58" y="29"/>
                  </a:lnTo>
                  <a:lnTo>
                    <a:pt x="70"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5" name="Freeform 234">
              <a:extLst>
                <a:ext uri="{FF2B5EF4-FFF2-40B4-BE49-F238E27FC236}">
                  <a16:creationId xmlns:a16="http://schemas.microsoft.com/office/drawing/2014/main" id="{A22B5CF6-3453-9787-969B-E3ABD4C4684D}"/>
                </a:ext>
              </a:extLst>
            </p:cNvPr>
            <p:cNvSpPr>
              <a:spLocks/>
            </p:cNvSpPr>
            <p:nvPr/>
          </p:nvSpPr>
          <p:spPr bwMode="auto">
            <a:xfrm>
              <a:off x="2524" y="2893"/>
              <a:ext cx="119" cy="124"/>
            </a:xfrm>
            <a:custGeom>
              <a:avLst/>
              <a:gdLst>
                <a:gd name="T0" fmla="*/ 1176100 w 73"/>
                <a:gd name="T1" fmla="*/ 493 h 108"/>
                <a:gd name="T2" fmla="*/ 1917204 w 73"/>
                <a:gd name="T3" fmla="*/ 0 h 108"/>
                <a:gd name="T4" fmla="*/ 1949150 w 73"/>
                <a:gd name="T5" fmla="*/ 0 h 108"/>
                <a:gd name="T6" fmla="*/ 1865433 w 73"/>
                <a:gd name="T7" fmla="*/ 984 h 108"/>
                <a:gd name="T8" fmla="*/ 1865433 w 73"/>
                <a:gd name="T9" fmla="*/ 1106 h 108"/>
                <a:gd name="T10" fmla="*/ 1917204 w 73"/>
                <a:gd name="T11" fmla="*/ 1216 h 108"/>
                <a:gd name="T12" fmla="*/ 1917204 w 73"/>
                <a:gd name="T13" fmla="*/ 1350 h 108"/>
                <a:gd name="T14" fmla="*/ 1969315 w 73"/>
                <a:gd name="T15" fmla="*/ 1458 h 108"/>
                <a:gd name="T16" fmla="*/ 1969315 w 73"/>
                <a:gd name="T17" fmla="*/ 1594 h 108"/>
                <a:gd name="T18" fmla="*/ 2033019 w 73"/>
                <a:gd name="T19" fmla="*/ 1710 h 108"/>
                <a:gd name="T20" fmla="*/ 2033019 w 73"/>
                <a:gd name="T21" fmla="*/ 1830 h 108"/>
                <a:gd name="T22" fmla="*/ 2053024 w 73"/>
                <a:gd name="T23" fmla="*/ 1951 h 108"/>
                <a:gd name="T24" fmla="*/ 1949150 w 73"/>
                <a:gd name="T25" fmla="*/ 1840 h 108"/>
                <a:gd name="T26" fmla="*/ 1832183 w 73"/>
                <a:gd name="T27" fmla="*/ 1736 h 108"/>
                <a:gd name="T28" fmla="*/ 1723674 w 73"/>
                <a:gd name="T29" fmla="*/ 1621 h 108"/>
                <a:gd name="T30" fmla="*/ 1593263 w 73"/>
                <a:gd name="T31" fmla="*/ 1512 h 108"/>
                <a:gd name="T32" fmla="*/ 1498684 w 73"/>
                <a:gd name="T33" fmla="*/ 1427 h 108"/>
                <a:gd name="T34" fmla="*/ 1364712 w 73"/>
                <a:gd name="T35" fmla="*/ 1317 h 108"/>
                <a:gd name="T36" fmla="*/ 1259418 w 73"/>
                <a:gd name="T37" fmla="*/ 1216 h 108"/>
                <a:gd name="T38" fmla="*/ 1144341 w 73"/>
                <a:gd name="T39" fmla="*/ 1106 h 108"/>
                <a:gd name="T40" fmla="*/ 0 w 73"/>
                <a:gd name="T41" fmla="*/ 377 h 108"/>
                <a:gd name="T42" fmla="*/ 0 w 73"/>
                <a:gd name="T43" fmla="*/ 355 h 108"/>
                <a:gd name="T44" fmla="*/ 1176100 w 73"/>
                <a:gd name="T45" fmla="*/ 493 h 10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8"/>
                <a:gd name="T71" fmla="*/ 73 w 73"/>
                <a:gd name="T72" fmla="*/ 108 h 10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8">
                  <a:moveTo>
                    <a:pt x="41" y="27"/>
                  </a:moveTo>
                  <a:lnTo>
                    <a:pt x="67" y="0"/>
                  </a:lnTo>
                  <a:lnTo>
                    <a:pt x="68" y="0"/>
                  </a:lnTo>
                  <a:lnTo>
                    <a:pt x="65" y="54"/>
                  </a:lnTo>
                  <a:lnTo>
                    <a:pt x="65" y="61"/>
                  </a:lnTo>
                  <a:lnTo>
                    <a:pt x="67" y="67"/>
                  </a:lnTo>
                  <a:lnTo>
                    <a:pt x="67" y="74"/>
                  </a:lnTo>
                  <a:lnTo>
                    <a:pt x="69" y="80"/>
                  </a:lnTo>
                  <a:lnTo>
                    <a:pt x="69" y="87"/>
                  </a:lnTo>
                  <a:lnTo>
                    <a:pt x="71" y="94"/>
                  </a:lnTo>
                  <a:lnTo>
                    <a:pt x="71" y="100"/>
                  </a:lnTo>
                  <a:lnTo>
                    <a:pt x="72" y="107"/>
                  </a:lnTo>
                  <a:lnTo>
                    <a:pt x="68" y="101"/>
                  </a:lnTo>
                  <a:lnTo>
                    <a:pt x="64" y="96"/>
                  </a:lnTo>
                  <a:lnTo>
                    <a:pt x="60" y="90"/>
                  </a:lnTo>
                  <a:lnTo>
                    <a:pt x="56" y="84"/>
                  </a:lnTo>
                  <a:lnTo>
                    <a:pt x="52" y="79"/>
                  </a:lnTo>
                  <a:lnTo>
                    <a:pt x="48" y="73"/>
                  </a:lnTo>
                  <a:lnTo>
                    <a:pt x="44" y="67"/>
                  </a:lnTo>
                  <a:lnTo>
                    <a:pt x="40" y="61"/>
                  </a:lnTo>
                  <a:lnTo>
                    <a:pt x="0" y="21"/>
                  </a:lnTo>
                  <a:lnTo>
                    <a:pt x="0" y="19"/>
                  </a:lnTo>
                  <a:lnTo>
                    <a:pt x="41" y="2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sp>
        <p:nvSpPr>
          <p:cNvPr id="22538" name="Freeform 235">
            <a:extLst>
              <a:ext uri="{FF2B5EF4-FFF2-40B4-BE49-F238E27FC236}">
                <a16:creationId xmlns:a16="http://schemas.microsoft.com/office/drawing/2014/main" id="{109F15CD-2C7D-A59B-6E92-D0080435C243}"/>
              </a:ext>
            </a:extLst>
          </p:cNvPr>
          <p:cNvSpPr>
            <a:spLocks/>
          </p:cNvSpPr>
          <p:nvPr/>
        </p:nvSpPr>
        <p:spPr bwMode="auto">
          <a:xfrm>
            <a:off x="6754813" y="4843523"/>
            <a:ext cx="36512" cy="1588"/>
          </a:xfrm>
          <a:custGeom>
            <a:avLst/>
            <a:gdLst>
              <a:gd name="T0" fmla="*/ 2147483646 w 16"/>
              <a:gd name="T1" fmla="*/ 0 h 1"/>
              <a:gd name="T2" fmla="*/ 2147483646 w 16"/>
              <a:gd name="T3" fmla="*/ 0 h 1"/>
              <a:gd name="T4" fmla="*/ 0 w 16"/>
              <a:gd name="T5" fmla="*/ 0 h 1"/>
              <a:gd name="T6" fmla="*/ 2147483646 w 16"/>
              <a:gd name="T7" fmla="*/ 0 h 1"/>
              <a:gd name="T8" fmla="*/ 0 60000 65536"/>
              <a:gd name="T9" fmla="*/ 0 60000 65536"/>
              <a:gd name="T10" fmla="*/ 0 60000 65536"/>
              <a:gd name="T11" fmla="*/ 0 60000 65536"/>
              <a:gd name="T12" fmla="*/ 0 w 16"/>
              <a:gd name="T13" fmla="*/ 0 h 1"/>
              <a:gd name="T14" fmla="*/ 16 w 16"/>
              <a:gd name="T15" fmla="*/ 1 h 1"/>
            </a:gdLst>
            <a:ahLst/>
            <a:cxnLst>
              <a:cxn ang="T8">
                <a:pos x="T0" y="T1"/>
              </a:cxn>
              <a:cxn ang="T9">
                <a:pos x="T2" y="T3"/>
              </a:cxn>
              <a:cxn ang="T10">
                <a:pos x="T4" y="T5"/>
              </a:cxn>
              <a:cxn ang="T11">
                <a:pos x="T6" y="T7"/>
              </a:cxn>
            </a:cxnLst>
            <a:rect l="T12" t="T13" r="T14" b="T15"/>
            <a:pathLst>
              <a:path w="16" h="1">
                <a:moveTo>
                  <a:pt x="15" y="0"/>
                </a:moveTo>
                <a:lnTo>
                  <a:pt x="7" y="0"/>
                </a:lnTo>
                <a:lnTo>
                  <a:pt x="0" y="0"/>
                </a:lnTo>
                <a:lnTo>
                  <a:pt x="15"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nvGrpSpPr>
          <p:cNvPr id="6" name="Group 236">
            <a:extLst>
              <a:ext uri="{FF2B5EF4-FFF2-40B4-BE49-F238E27FC236}">
                <a16:creationId xmlns:a16="http://schemas.microsoft.com/office/drawing/2014/main" id="{11934D4D-FCBA-840F-4C2B-96D92DA0CC2C}"/>
              </a:ext>
            </a:extLst>
          </p:cNvPr>
          <p:cNvGrpSpPr>
            <a:grpSpLocks/>
          </p:cNvGrpSpPr>
          <p:nvPr/>
        </p:nvGrpSpPr>
        <p:grpSpPr bwMode="auto">
          <a:xfrm>
            <a:off x="4522788" y="2779773"/>
            <a:ext cx="3432175" cy="2887663"/>
            <a:chOff x="2869" y="1857"/>
            <a:chExt cx="2038" cy="1995"/>
          </a:xfrm>
        </p:grpSpPr>
        <p:sp>
          <p:nvSpPr>
            <p:cNvPr id="22589" name="Freeform 237">
              <a:extLst>
                <a:ext uri="{FF2B5EF4-FFF2-40B4-BE49-F238E27FC236}">
                  <a16:creationId xmlns:a16="http://schemas.microsoft.com/office/drawing/2014/main" id="{F2E04F14-0227-9CEE-7CFA-C3A8FB16B833}"/>
                </a:ext>
              </a:extLst>
            </p:cNvPr>
            <p:cNvSpPr>
              <a:spLocks/>
            </p:cNvSpPr>
            <p:nvPr/>
          </p:nvSpPr>
          <p:spPr bwMode="auto">
            <a:xfrm>
              <a:off x="3822" y="1885"/>
              <a:ext cx="90" cy="158"/>
            </a:xfrm>
            <a:custGeom>
              <a:avLst/>
              <a:gdLst>
                <a:gd name="T0" fmla="*/ 1389 w 72"/>
                <a:gd name="T1" fmla="*/ 760 h 146"/>
                <a:gd name="T2" fmla="*/ 1451 w 72"/>
                <a:gd name="T3" fmla="*/ 717 h 146"/>
                <a:gd name="T4" fmla="*/ 1736 w 72"/>
                <a:gd name="T5" fmla="*/ 698 h 146"/>
                <a:gd name="T6" fmla="*/ 2018 w 72"/>
                <a:gd name="T7" fmla="*/ 663 h 146"/>
                <a:gd name="T8" fmla="*/ 2424 w 72"/>
                <a:gd name="T9" fmla="*/ 649 h 146"/>
                <a:gd name="T10" fmla="*/ 2805 w 72"/>
                <a:gd name="T11" fmla="*/ 637 h 146"/>
                <a:gd name="T12" fmla="*/ 3391 w 72"/>
                <a:gd name="T13" fmla="*/ 613 h 146"/>
                <a:gd name="T14" fmla="*/ 3970 w 72"/>
                <a:gd name="T15" fmla="*/ 590 h 146"/>
                <a:gd name="T16" fmla="*/ 4794 w 72"/>
                <a:gd name="T17" fmla="*/ 566 h 146"/>
                <a:gd name="T18" fmla="*/ 5360 w 72"/>
                <a:gd name="T19" fmla="*/ 536 h 146"/>
                <a:gd name="T20" fmla="*/ 6104 w 72"/>
                <a:gd name="T21" fmla="*/ 503 h 146"/>
                <a:gd name="T22" fmla="*/ 6624 w 72"/>
                <a:gd name="T23" fmla="*/ 446 h 146"/>
                <a:gd name="T24" fmla="*/ 6979 w 72"/>
                <a:gd name="T25" fmla="*/ 390 h 146"/>
                <a:gd name="T26" fmla="*/ 7350 w 72"/>
                <a:gd name="T27" fmla="*/ 317 h 146"/>
                <a:gd name="T28" fmla="*/ 7630 w 72"/>
                <a:gd name="T29" fmla="*/ 232 h 146"/>
                <a:gd name="T30" fmla="*/ 7755 w 72"/>
                <a:gd name="T31" fmla="*/ 122 h 146"/>
                <a:gd name="T32" fmla="*/ 7491 w 72"/>
                <a:gd name="T33" fmla="*/ 0 h 146"/>
                <a:gd name="T34" fmla="*/ 6104 w 72"/>
                <a:gd name="T35" fmla="*/ 1 h 146"/>
                <a:gd name="T36" fmla="*/ 6204 w 72"/>
                <a:gd name="T37" fmla="*/ 122 h 146"/>
                <a:gd name="T38" fmla="*/ 6204 w 72"/>
                <a:gd name="T39" fmla="*/ 219 h 146"/>
                <a:gd name="T40" fmla="*/ 5993 w 72"/>
                <a:gd name="T41" fmla="*/ 300 h 146"/>
                <a:gd name="T42" fmla="*/ 5650 w 72"/>
                <a:gd name="T43" fmla="*/ 371 h 146"/>
                <a:gd name="T44" fmla="*/ 5220 w 72"/>
                <a:gd name="T45" fmla="*/ 422 h 146"/>
                <a:gd name="T46" fmla="*/ 4794 w 72"/>
                <a:gd name="T47" fmla="*/ 457 h 146"/>
                <a:gd name="T48" fmla="*/ 4288 w 72"/>
                <a:gd name="T49" fmla="*/ 488 h 146"/>
                <a:gd name="T50" fmla="*/ 3845 w 72"/>
                <a:gd name="T51" fmla="*/ 512 h 146"/>
                <a:gd name="T52" fmla="*/ 3154 w 72"/>
                <a:gd name="T53" fmla="*/ 536 h 146"/>
                <a:gd name="T54" fmla="*/ 2541 w 72"/>
                <a:gd name="T55" fmla="*/ 553 h 146"/>
                <a:gd name="T56" fmla="*/ 2018 w 72"/>
                <a:gd name="T57" fmla="*/ 580 h 146"/>
                <a:gd name="T58" fmla="*/ 1389 w 72"/>
                <a:gd name="T59" fmla="*/ 598 h 146"/>
                <a:gd name="T60" fmla="*/ 744 w 72"/>
                <a:gd name="T61" fmla="*/ 637 h 146"/>
                <a:gd name="T62" fmla="*/ 338 w 72"/>
                <a:gd name="T63" fmla="*/ 663 h 146"/>
                <a:gd name="T64" fmla="*/ 1 w 72"/>
                <a:gd name="T65" fmla="*/ 707 h 146"/>
                <a:gd name="T66" fmla="*/ 0 w 72"/>
                <a:gd name="T67" fmla="*/ 760 h 146"/>
                <a:gd name="T68" fmla="*/ 1389 w 72"/>
                <a:gd name="T69" fmla="*/ 760 h 14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2"/>
                <a:gd name="T106" fmla="*/ 0 h 146"/>
                <a:gd name="T107" fmla="*/ 72 w 72"/>
                <a:gd name="T108" fmla="*/ 146 h 14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2" h="146">
                  <a:moveTo>
                    <a:pt x="13" y="145"/>
                  </a:moveTo>
                  <a:lnTo>
                    <a:pt x="14" y="137"/>
                  </a:lnTo>
                  <a:lnTo>
                    <a:pt x="16" y="132"/>
                  </a:lnTo>
                  <a:lnTo>
                    <a:pt x="18" y="127"/>
                  </a:lnTo>
                  <a:lnTo>
                    <a:pt x="22" y="124"/>
                  </a:lnTo>
                  <a:lnTo>
                    <a:pt x="26" y="120"/>
                  </a:lnTo>
                  <a:lnTo>
                    <a:pt x="31" y="117"/>
                  </a:lnTo>
                  <a:lnTo>
                    <a:pt x="37" y="112"/>
                  </a:lnTo>
                  <a:lnTo>
                    <a:pt x="44" y="108"/>
                  </a:lnTo>
                  <a:lnTo>
                    <a:pt x="50" y="102"/>
                  </a:lnTo>
                  <a:lnTo>
                    <a:pt x="56" y="95"/>
                  </a:lnTo>
                  <a:lnTo>
                    <a:pt x="61" y="85"/>
                  </a:lnTo>
                  <a:lnTo>
                    <a:pt x="65" y="74"/>
                  </a:lnTo>
                  <a:lnTo>
                    <a:pt x="68" y="60"/>
                  </a:lnTo>
                  <a:lnTo>
                    <a:pt x="70" y="44"/>
                  </a:lnTo>
                  <a:lnTo>
                    <a:pt x="71" y="23"/>
                  </a:lnTo>
                  <a:lnTo>
                    <a:pt x="69" y="0"/>
                  </a:lnTo>
                  <a:lnTo>
                    <a:pt x="56" y="1"/>
                  </a:lnTo>
                  <a:lnTo>
                    <a:pt x="57" y="23"/>
                  </a:lnTo>
                  <a:lnTo>
                    <a:pt x="57" y="42"/>
                  </a:lnTo>
                  <a:lnTo>
                    <a:pt x="55" y="57"/>
                  </a:lnTo>
                  <a:lnTo>
                    <a:pt x="52" y="70"/>
                  </a:lnTo>
                  <a:lnTo>
                    <a:pt x="48" y="80"/>
                  </a:lnTo>
                  <a:lnTo>
                    <a:pt x="44" y="87"/>
                  </a:lnTo>
                  <a:lnTo>
                    <a:pt x="40" y="93"/>
                  </a:lnTo>
                  <a:lnTo>
                    <a:pt x="35" y="98"/>
                  </a:lnTo>
                  <a:lnTo>
                    <a:pt x="29" y="102"/>
                  </a:lnTo>
                  <a:lnTo>
                    <a:pt x="24" y="105"/>
                  </a:lnTo>
                  <a:lnTo>
                    <a:pt x="18" y="110"/>
                  </a:lnTo>
                  <a:lnTo>
                    <a:pt x="13" y="114"/>
                  </a:lnTo>
                  <a:lnTo>
                    <a:pt x="7" y="120"/>
                  </a:lnTo>
                  <a:lnTo>
                    <a:pt x="3" y="127"/>
                  </a:lnTo>
                  <a:lnTo>
                    <a:pt x="1" y="135"/>
                  </a:lnTo>
                  <a:lnTo>
                    <a:pt x="0" y="145"/>
                  </a:lnTo>
                  <a:lnTo>
                    <a:pt x="13" y="14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0" name="Freeform 238">
              <a:extLst>
                <a:ext uri="{FF2B5EF4-FFF2-40B4-BE49-F238E27FC236}">
                  <a16:creationId xmlns:a16="http://schemas.microsoft.com/office/drawing/2014/main" id="{C2885090-5680-DAC9-5BD8-1C3CF84A5F18}"/>
                </a:ext>
              </a:extLst>
            </p:cNvPr>
            <p:cNvSpPr>
              <a:spLocks/>
            </p:cNvSpPr>
            <p:nvPr/>
          </p:nvSpPr>
          <p:spPr bwMode="auto">
            <a:xfrm>
              <a:off x="3822" y="2042"/>
              <a:ext cx="136" cy="121"/>
            </a:xfrm>
            <a:custGeom>
              <a:avLst/>
              <a:gdLst>
                <a:gd name="T0" fmla="*/ 9753 w 109"/>
                <a:gd name="T1" fmla="*/ 557 h 112"/>
                <a:gd name="T2" fmla="*/ 11269 w 109"/>
                <a:gd name="T3" fmla="*/ 557 h 112"/>
                <a:gd name="T4" fmla="*/ 11093 w 109"/>
                <a:gd name="T5" fmla="*/ 511 h 112"/>
                <a:gd name="T6" fmla="*/ 10816 w 109"/>
                <a:gd name="T7" fmla="*/ 454 h 112"/>
                <a:gd name="T8" fmla="*/ 10124 w 109"/>
                <a:gd name="T9" fmla="*/ 417 h 112"/>
                <a:gd name="T10" fmla="*/ 9384 w 109"/>
                <a:gd name="T11" fmla="*/ 379 h 112"/>
                <a:gd name="T12" fmla="*/ 8684 w 109"/>
                <a:gd name="T13" fmla="*/ 344 h 112"/>
                <a:gd name="T14" fmla="*/ 7817 w 109"/>
                <a:gd name="T15" fmla="*/ 317 h 112"/>
                <a:gd name="T16" fmla="*/ 6801 w 109"/>
                <a:gd name="T17" fmla="*/ 285 h 112"/>
                <a:gd name="T18" fmla="*/ 5937 w 109"/>
                <a:gd name="T19" fmla="*/ 258 h 112"/>
                <a:gd name="T20" fmla="*/ 5021 w 109"/>
                <a:gd name="T21" fmla="*/ 232 h 112"/>
                <a:gd name="T22" fmla="*/ 4141 w 109"/>
                <a:gd name="T23" fmla="*/ 209 h 112"/>
                <a:gd name="T24" fmla="*/ 3457 w 109"/>
                <a:gd name="T25" fmla="*/ 171 h 112"/>
                <a:gd name="T26" fmla="*/ 2633 w 109"/>
                <a:gd name="T27" fmla="*/ 145 h 112"/>
                <a:gd name="T28" fmla="*/ 2110 w 109"/>
                <a:gd name="T29" fmla="*/ 115 h 112"/>
                <a:gd name="T30" fmla="*/ 1709 w 109"/>
                <a:gd name="T31" fmla="*/ 78 h 112"/>
                <a:gd name="T32" fmla="*/ 1370 w 109"/>
                <a:gd name="T33" fmla="*/ 42 h 112"/>
                <a:gd name="T34" fmla="*/ 1355 w 109"/>
                <a:gd name="T35" fmla="*/ 0 h 112"/>
                <a:gd name="T36" fmla="*/ 0 w 109"/>
                <a:gd name="T37" fmla="*/ 0 h 112"/>
                <a:gd name="T38" fmla="*/ 1 w 109"/>
                <a:gd name="T39" fmla="*/ 53 h 112"/>
                <a:gd name="T40" fmla="*/ 363 w 109"/>
                <a:gd name="T41" fmla="*/ 106 h 112"/>
                <a:gd name="T42" fmla="*/ 1011 w 109"/>
                <a:gd name="T43" fmla="*/ 154 h 112"/>
                <a:gd name="T44" fmla="*/ 1691 w 109"/>
                <a:gd name="T45" fmla="*/ 193 h 112"/>
                <a:gd name="T46" fmla="*/ 2426 w 109"/>
                <a:gd name="T47" fmla="*/ 232 h 112"/>
                <a:gd name="T48" fmla="*/ 3319 w 109"/>
                <a:gd name="T49" fmla="*/ 258 h 112"/>
                <a:gd name="T50" fmla="*/ 4141 w 109"/>
                <a:gd name="T51" fmla="*/ 293 h 112"/>
                <a:gd name="T52" fmla="*/ 5114 w 109"/>
                <a:gd name="T53" fmla="*/ 318 h 112"/>
                <a:gd name="T54" fmla="*/ 6028 w 109"/>
                <a:gd name="T55" fmla="*/ 344 h 112"/>
                <a:gd name="T56" fmla="*/ 7008 w 109"/>
                <a:gd name="T57" fmla="*/ 373 h 112"/>
                <a:gd name="T58" fmla="*/ 7817 w 109"/>
                <a:gd name="T59" fmla="*/ 402 h 112"/>
                <a:gd name="T60" fmla="*/ 8463 w 109"/>
                <a:gd name="T61" fmla="*/ 431 h 112"/>
                <a:gd name="T62" fmla="*/ 8957 w 109"/>
                <a:gd name="T63" fmla="*/ 466 h 112"/>
                <a:gd name="T64" fmla="*/ 9501 w 109"/>
                <a:gd name="T65" fmla="*/ 490 h 112"/>
                <a:gd name="T66" fmla="*/ 9731 w 109"/>
                <a:gd name="T67" fmla="*/ 516 h 112"/>
                <a:gd name="T68" fmla="*/ 9753 w 109"/>
                <a:gd name="T69" fmla="*/ 557 h 112"/>
                <a:gd name="T70" fmla="*/ 11269 w 109"/>
                <a:gd name="T71" fmla="*/ 557 h 112"/>
                <a:gd name="T72" fmla="*/ 9753 w 109"/>
                <a:gd name="T73" fmla="*/ 557 h 11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9"/>
                <a:gd name="T112" fmla="*/ 0 h 112"/>
                <a:gd name="T113" fmla="*/ 109 w 109"/>
                <a:gd name="T114" fmla="*/ 112 h 11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9" h="112">
                  <a:moveTo>
                    <a:pt x="94" y="111"/>
                  </a:moveTo>
                  <a:lnTo>
                    <a:pt x="108" y="111"/>
                  </a:lnTo>
                  <a:lnTo>
                    <a:pt x="106" y="101"/>
                  </a:lnTo>
                  <a:lnTo>
                    <a:pt x="103" y="90"/>
                  </a:lnTo>
                  <a:lnTo>
                    <a:pt x="97" y="82"/>
                  </a:lnTo>
                  <a:lnTo>
                    <a:pt x="90" y="75"/>
                  </a:lnTo>
                  <a:lnTo>
                    <a:pt x="83" y="68"/>
                  </a:lnTo>
                  <a:lnTo>
                    <a:pt x="75" y="62"/>
                  </a:lnTo>
                  <a:lnTo>
                    <a:pt x="66" y="56"/>
                  </a:lnTo>
                  <a:lnTo>
                    <a:pt x="57" y="51"/>
                  </a:lnTo>
                  <a:lnTo>
                    <a:pt x="48" y="45"/>
                  </a:lnTo>
                  <a:lnTo>
                    <a:pt x="40" y="41"/>
                  </a:lnTo>
                  <a:lnTo>
                    <a:pt x="33" y="34"/>
                  </a:lnTo>
                  <a:lnTo>
                    <a:pt x="25" y="29"/>
                  </a:lnTo>
                  <a:lnTo>
                    <a:pt x="20" y="23"/>
                  </a:lnTo>
                  <a:lnTo>
                    <a:pt x="17" y="16"/>
                  </a:lnTo>
                  <a:lnTo>
                    <a:pt x="14" y="8"/>
                  </a:lnTo>
                  <a:lnTo>
                    <a:pt x="13" y="0"/>
                  </a:lnTo>
                  <a:lnTo>
                    <a:pt x="0" y="0"/>
                  </a:lnTo>
                  <a:lnTo>
                    <a:pt x="1" y="11"/>
                  </a:lnTo>
                  <a:lnTo>
                    <a:pt x="4" y="21"/>
                  </a:lnTo>
                  <a:lnTo>
                    <a:pt x="10" y="30"/>
                  </a:lnTo>
                  <a:lnTo>
                    <a:pt x="16" y="38"/>
                  </a:lnTo>
                  <a:lnTo>
                    <a:pt x="23" y="45"/>
                  </a:lnTo>
                  <a:lnTo>
                    <a:pt x="32" y="51"/>
                  </a:lnTo>
                  <a:lnTo>
                    <a:pt x="40" y="57"/>
                  </a:lnTo>
                  <a:lnTo>
                    <a:pt x="49" y="63"/>
                  </a:lnTo>
                  <a:lnTo>
                    <a:pt x="58" y="68"/>
                  </a:lnTo>
                  <a:lnTo>
                    <a:pt x="67" y="74"/>
                  </a:lnTo>
                  <a:lnTo>
                    <a:pt x="75" y="79"/>
                  </a:lnTo>
                  <a:lnTo>
                    <a:pt x="81" y="84"/>
                  </a:lnTo>
                  <a:lnTo>
                    <a:pt x="86" y="91"/>
                  </a:lnTo>
                  <a:lnTo>
                    <a:pt x="91" y="97"/>
                  </a:lnTo>
                  <a:lnTo>
                    <a:pt x="93" y="103"/>
                  </a:lnTo>
                  <a:lnTo>
                    <a:pt x="94" y="111"/>
                  </a:lnTo>
                  <a:lnTo>
                    <a:pt x="108" y="111"/>
                  </a:lnTo>
                  <a:lnTo>
                    <a:pt x="94" y="11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1" name="Freeform 239">
              <a:extLst>
                <a:ext uri="{FF2B5EF4-FFF2-40B4-BE49-F238E27FC236}">
                  <a16:creationId xmlns:a16="http://schemas.microsoft.com/office/drawing/2014/main" id="{DC52DAC3-4295-2B95-D46D-5DE72FAD9C3C}"/>
                </a:ext>
              </a:extLst>
            </p:cNvPr>
            <p:cNvSpPr>
              <a:spLocks/>
            </p:cNvSpPr>
            <p:nvPr/>
          </p:nvSpPr>
          <p:spPr bwMode="auto">
            <a:xfrm>
              <a:off x="3938" y="2162"/>
              <a:ext cx="20" cy="2"/>
            </a:xfrm>
            <a:custGeom>
              <a:avLst/>
              <a:gdLst>
                <a:gd name="T0" fmla="*/ 1673 w 16"/>
                <a:gd name="T1" fmla="*/ 0 h 2"/>
                <a:gd name="T2" fmla="*/ 0 w 16"/>
                <a:gd name="T3" fmla="*/ 0 h 2"/>
                <a:gd name="T4" fmla="*/ 0 w 16"/>
                <a:gd name="T5" fmla="*/ 1 h 2"/>
                <a:gd name="T6" fmla="*/ 1673 w 16"/>
                <a:gd name="T7" fmla="*/ 1 h 2"/>
                <a:gd name="T8" fmla="*/ 1673 w 16"/>
                <a:gd name="T9" fmla="*/ 0 h 2"/>
                <a:gd name="T10" fmla="*/ 0 w 16"/>
                <a:gd name="T11" fmla="*/ 0 h 2"/>
                <a:gd name="T12" fmla="*/ 1673 w 16"/>
                <a:gd name="T13" fmla="*/ 0 h 2"/>
                <a:gd name="T14" fmla="*/ 0 60000 65536"/>
                <a:gd name="T15" fmla="*/ 0 60000 65536"/>
                <a:gd name="T16" fmla="*/ 0 60000 65536"/>
                <a:gd name="T17" fmla="*/ 0 60000 65536"/>
                <a:gd name="T18" fmla="*/ 0 60000 65536"/>
                <a:gd name="T19" fmla="*/ 0 60000 65536"/>
                <a:gd name="T20" fmla="*/ 0 60000 65536"/>
                <a:gd name="T21" fmla="*/ 0 w 16"/>
                <a:gd name="T22" fmla="*/ 0 h 2"/>
                <a:gd name="T23" fmla="*/ 16 w 16"/>
                <a:gd name="T24" fmla="*/ 2 h 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2">
                  <a:moveTo>
                    <a:pt x="15" y="0"/>
                  </a:moveTo>
                  <a:lnTo>
                    <a:pt x="0" y="0"/>
                  </a:lnTo>
                  <a:lnTo>
                    <a:pt x="0" y="1"/>
                  </a:lnTo>
                  <a:lnTo>
                    <a:pt x="15" y="1"/>
                  </a:lnTo>
                  <a:lnTo>
                    <a:pt x="15" y="0"/>
                  </a:lnTo>
                  <a:lnTo>
                    <a:pt x="0" y="0"/>
                  </a:lnTo>
                  <a:lnTo>
                    <a:pt x="15"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2" name="Freeform 240">
              <a:extLst>
                <a:ext uri="{FF2B5EF4-FFF2-40B4-BE49-F238E27FC236}">
                  <a16:creationId xmlns:a16="http://schemas.microsoft.com/office/drawing/2014/main" id="{54B6C5E0-7829-D135-DEDE-DFE2664B75BC}"/>
                </a:ext>
              </a:extLst>
            </p:cNvPr>
            <p:cNvSpPr>
              <a:spLocks/>
            </p:cNvSpPr>
            <p:nvPr/>
          </p:nvSpPr>
          <p:spPr bwMode="auto">
            <a:xfrm>
              <a:off x="3820" y="2162"/>
              <a:ext cx="138" cy="114"/>
            </a:xfrm>
            <a:custGeom>
              <a:avLst/>
              <a:gdLst>
                <a:gd name="T0" fmla="*/ 1791 w 110"/>
                <a:gd name="T1" fmla="*/ 482 h 106"/>
                <a:gd name="T2" fmla="*/ 1791 w 110"/>
                <a:gd name="T3" fmla="*/ 443 h 106"/>
                <a:gd name="T4" fmla="*/ 1901 w 110"/>
                <a:gd name="T5" fmla="*/ 424 h 106"/>
                <a:gd name="T6" fmla="*/ 2385 w 110"/>
                <a:gd name="T7" fmla="*/ 394 h 106"/>
                <a:gd name="T8" fmla="*/ 3209 w 110"/>
                <a:gd name="T9" fmla="*/ 377 h 106"/>
                <a:gd name="T10" fmla="*/ 4026 w 110"/>
                <a:gd name="T11" fmla="*/ 351 h 106"/>
                <a:gd name="T12" fmla="*/ 4710 w 110"/>
                <a:gd name="T13" fmla="*/ 326 h 106"/>
                <a:gd name="T14" fmla="*/ 5761 w 110"/>
                <a:gd name="T15" fmla="*/ 303 h 106"/>
                <a:gd name="T16" fmla="*/ 6821 w 110"/>
                <a:gd name="T17" fmla="*/ 282 h 106"/>
                <a:gd name="T18" fmla="*/ 7813 w 110"/>
                <a:gd name="T19" fmla="*/ 251 h 106"/>
                <a:gd name="T20" fmla="*/ 8841 w 110"/>
                <a:gd name="T21" fmla="*/ 229 h 106"/>
                <a:gd name="T22" fmla="*/ 9802 w 110"/>
                <a:gd name="T23" fmla="*/ 202 h 106"/>
                <a:gd name="T24" fmla="*/ 10625 w 110"/>
                <a:gd name="T25" fmla="*/ 175 h 106"/>
                <a:gd name="T26" fmla="*/ 11650 w 110"/>
                <a:gd name="T27" fmla="*/ 137 h 106"/>
                <a:gd name="T28" fmla="*/ 12119 w 110"/>
                <a:gd name="T29" fmla="*/ 98 h 106"/>
                <a:gd name="T30" fmla="*/ 12513 w 110"/>
                <a:gd name="T31" fmla="*/ 49 h 106"/>
                <a:gd name="T32" fmla="*/ 12819 w 110"/>
                <a:gd name="T33" fmla="*/ 0 h 106"/>
                <a:gd name="T34" fmla="*/ 11091 w 110"/>
                <a:gd name="T35" fmla="*/ 0 h 106"/>
                <a:gd name="T36" fmla="*/ 10990 w 110"/>
                <a:gd name="T37" fmla="*/ 40 h 106"/>
                <a:gd name="T38" fmla="*/ 10625 w 110"/>
                <a:gd name="T39" fmla="*/ 66 h 106"/>
                <a:gd name="T40" fmla="*/ 10246 w 110"/>
                <a:gd name="T41" fmla="*/ 102 h 106"/>
                <a:gd name="T42" fmla="*/ 9595 w 110"/>
                <a:gd name="T43" fmla="*/ 122 h 106"/>
                <a:gd name="T44" fmla="*/ 8841 w 110"/>
                <a:gd name="T45" fmla="*/ 158 h 106"/>
                <a:gd name="T46" fmla="*/ 7950 w 110"/>
                <a:gd name="T47" fmla="*/ 175 h 106"/>
                <a:gd name="T48" fmla="*/ 6983 w 110"/>
                <a:gd name="T49" fmla="*/ 197 h 106"/>
                <a:gd name="T50" fmla="*/ 6096 w 110"/>
                <a:gd name="T51" fmla="*/ 228 h 106"/>
                <a:gd name="T52" fmla="*/ 5051 w 110"/>
                <a:gd name="T53" fmla="*/ 245 h 106"/>
                <a:gd name="T54" fmla="*/ 4026 w 110"/>
                <a:gd name="T55" fmla="*/ 265 h 106"/>
                <a:gd name="T56" fmla="*/ 2992 w 110"/>
                <a:gd name="T57" fmla="*/ 294 h 106"/>
                <a:gd name="T58" fmla="*/ 2095 w 110"/>
                <a:gd name="T59" fmla="*/ 326 h 106"/>
                <a:gd name="T60" fmla="*/ 1331 w 110"/>
                <a:gd name="T61" fmla="*/ 355 h 106"/>
                <a:gd name="T62" fmla="*/ 748 w 110"/>
                <a:gd name="T63" fmla="*/ 388 h 106"/>
                <a:gd name="T64" fmla="*/ 302 w 110"/>
                <a:gd name="T65" fmla="*/ 439 h 106"/>
                <a:gd name="T66" fmla="*/ 0 w 110"/>
                <a:gd name="T67" fmla="*/ 482 h 106"/>
                <a:gd name="T68" fmla="*/ 1791 w 110"/>
                <a:gd name="T69" fmla="*/ 482 h 10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6"/>
                <a:gd name="T107" fmla="*/ 110 w 110"/>
                <a:gd name="T108" fmla="*/ 106 h 10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6">
                  <a:moveTo>
                    <a:pt x="15" y="105"/>
                  </a:moveTo>
                  <a:lnTo>
                    <a:pt x="15" y="97"/>
                  </a:lnTo>
                  <a:lnTo>
                    <a:pt x="17" y="92"/>
                  </a:lnTo>
                  <a:lnTo>
                    <a:pt x="21" y="86"/>
                  </a:lnTo>
                  <a:lnTo>
                    <a:pt x="27" y="81"/>
                  </a:lnTo>
                  <a:lnTo>
                    <a:pt x="34" y="75"/>
                  </a:lnTo>
                  <a:lnTo>
                    <a:pt x="41" y="70"/>
                  </a:lnTo>
                  <a:lnTo>
                    <a:pt x="49" y="65"/>
                  </a:lnTo>
                  <a:lnTo>
                    <a:pt x="58" y="60"/>
                  </a:lnTo>
                  <a:lnTo>
                    <a:pt x="67" y="55"/>
                  </a:lnTo>
                  <a:lnTo>
                    <a:pt x="76" y="50"/>
                  </a:lnTo>
                  <a:lnTo>
                    <a:pt x="84" y="44"/>
                  </a:lnTo>
                  <a:lnTo>
                    <a:pt x="91" y="38"/>
                  </a:lnTo>
                  <a:lnTo>
                    <a:pt x="99" y="30"/>
                  </a:lnTo>
                  <a:lnTo>
                    <a:pt x="104" y="21"/>
                  </a:lnTo>
                  <a:lnTo>
                    <a:pt x="107" y="11"/>
                  </a:lnTo>
                  <a:lnTo>
                    <a:pt x="109" y="0"/>
                  </a:lnTo>
                  <a:lnTo>
                    <a:pt x="95" y="0"/>
                  </a:lnTo>
                  <a:lnTo>
                    <a:pt x="94" y="8"/>
                  </a:lnTo>
                  <a:lnTo>
                    <a:pt x="91" y="15"/>
                  </a:lnTo>
                  <a:lnTo>
                    <a:pt x="88" y="22"/>
                  </a:lnTo>
                  <a:lnTo>
                    <a:pt x="82" y="27"/>
                  </a:lnTo>
                  <a:lnTo>
                    <a:pt x="76" y="34"/>
                  </a:lnTo>
                  <a:lnTo>
                    <a:pt x="68" y="38"/>
                  </a:lnTo>
                  <a:lnTo>
                    <a:pt x="60" y="43"/>
                  </a:lnTo>
                  <a:lnTo>
                    <a:pt x="52" y="49"/>
                  </a:lnTo>
                  <a:lnTo>
                    <a:pt x="43" y="53"/>
                  </a:lnTo>
                  <a:lnTo>
                    <a:pt x="34" y="58"/>
                  </a:lnTo>
                  <a:lnTo>
                    <a:pt x="26" y="64"/>
                  </a:lnTo>
                  <a:lnTo>
                    <a:pt x="18" y="70"/>
                  </a:lnTo>
                  <a:lnTo>
                    <a:pt x="11" y="77"/>
                  </a:lnTo>
                  <a:lnTo>
                    <a:pt x="6" y="85"/>
                  </a:lnTo>
                  <a:lnTo>
                    <a:pt x="2" y="95"/>
                  </a:lnTo>
                  <a:lnTo>
                    <a:pt x="0" y="105"/>
                  </a:lnTo>
                  <a:lnTo>
                    <a:pt x="15" y="10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3" name="Freeform 241">
              <a:extLst>
                <a:ext uri="{FF2B5EF4-FFF2-40B4-BE49-F238E27FC236}">
                  <a16:creationId xmlns:a16="http://schemas.microsoft.com/office/drawing/2014/main" id="{212AB63F-4C48-FC8C-D901-99E37F12B796}"/>
                </a:ext>
              </a:extLst>
            </p:cNvPr>
            <p:cNvSpPr>
              <a:spLocks/>
            </p:cNvSpPr>
            <p:nvPr/>
          </p:nvSpPr>
          <p:spPr bwMode="auto">
            <a:xfrm>
              <a:off x="3820" y="2275"/>
              <a:ext cx="138" cy="117"/>
            </a:xfrm>
            <a:custGeom>
              <a:avLst/>
              <a:gdLst>
                <a:gd name="T0" fmla="*/ 12819 w 110"/>
                <a:gd name="T1" fmla="*/ 569 h 108"/>
                <a:gd name="T2" fmla="*/ 12513 w 110"/>
                <a:gd name="T3" fmla="*/ 517 h 108"/>
                <a:gd name="T4" fmla="*/ 12119 w 110"/>
                <a:gd name="T5" fmla="*/ 464 h 108"/>
                <a:gd name="T6" fmla="*/ 11650 w 110"/>
                <a:gd name="T7" fmla="*/ 412 h 108"/>
                <a:gd name="T8" fmla="*/ 10625 w 110"/>
                <a:gd name="T9" fmla="*/ 372 h 108"/>
                <a:gd name="T10" fmla="*/ 9802 w 110"/>
                <a:gd name="T11" fmla="*/ 339 h 108"/>
                <a:gd name="T12" fmla="*/ 8841 w 110"/>
                <a:gd name="T13" fmla="*/ 311 h 108"/>
                <a:gd name="T14" fmla="*/ 7813 w 110"/>
                <a:gd name="T15" fmla="*/ 286 h 108"/>
                <a:gd name="T16" fmla="*/ 6821 w 110"/>
                <a:gd name="T17" fmla="*/ 249 h 108"/>
                <a:gd name="T18" fmla="*/ 5761 w 110"/>
                <a:gd name="T19" fmla="*/ 225 h 108"/>
                <a:gd name="T20" fmla="*/ 4710 w 110"/>
                <a:gd name="T21" fmla="*/ 194 h 108"/>
                <a:gd name="T22" fmla="*/ 4026 w 110"/>
                <a:gd name="T23" fmla="*/ 168 h 108"/>
                <a:gd name="T24" fmla="*/ 3209 w 110"/>
                <a:gd name="T25" fmla="*/ 138 h 108"/>
                <a:gd name="T26" fmla="*/ 2385 w 110"/>
                <a:gd name="T27" fmla="*/ 110 h 108"/>
                <a:gd name="T28" fmla="*/ 1901 w 110"/>
                <a:gd name="T29" fmla="*/ 74 h 108"/>
                <a:gd name="T30" fmla="*/ 1791 w 110"/>
                <a:gd name="T31" fmla="*/ 46 h 108"/>
                <a:gd name="T32" fmla="*/ 1791 w 110"/>
                <a:gd name="T33" fmla="*/ 0 h 108"/>
                <a:gd name="T34" fmla="*/ 0 w 110"/>
                <a:gd name="T35" fmla="*/ 0 h 108"/>
                <a:gd name="T36" fmla="*/ 302 w 110"/>
                <a:gd name="T37" fmla="*/ 58 h 108"/>
                <a:gd name="T38" fmla="*/ 748 w 110"/>
                <a:gd name="T39" fmla="*/ 110 h 108"/>
                <a:gd name="T40" fmla="*/ 1331 w 110"/>
                <a:gd name="T41" fmla="*/ 155 h 108"/>
                <a:gd name="T42" fmla="*/ 2095 w 110"/>
                <a:gd name="T43" fmla="*/ 194 h 108"/>
                <a:gd name="T44" fmla="*/ 2992 w 110"/>
                <a:gd name="T45" fmla="*/ 230 h 108"/>
                <a:gd name="T46" fmla="*/ 4026 w 110"/>
                <a:gd name="T47" fmla="*/ 264 h 108"/>
                <a:gd name="T48" fmla="*/ 5051 w 110"/>
                <a:gd name="T49" fmla="*/ 287 h 108"/>
                <a:gd name="T50" fmla="*/ 6096 w 110"/>
                <a:gd name="T51" fmla="*/ 313 h 108"/>
                <a:gd name="T52" fmla="*/ 6983 w 110"/>
                <a:gd name="T53" fmla="*/ 339 h 108"/>
                <a:gd name="T54" fmla="*/ 7950 w 110"/>
                <a:gd name="T55" fmla="*/ 367 h 108"/>
                <a:gd name="T56" fmla="*/ 8841 w 110"/>
                <a:gd name="T57" fmla="*/ 395 h 108"/>
                <a:gd name="T58" fmla="*/ 9595 w 110"/>
                <a:gd name="T59" fmla="*/ 428 h 108"/>
                <a:gd name="T60" fmla="*/ 10246 w 110"/>
                <a:gd name="T61" fmla="*/ 463 h 108"/>
                <a:gd name="T62" fmla="*/ 10625 w 110"/>
                <a:gd name="T63" fmla="*/ 490 h 108"/>
                <a:gd name="T64" fmla="*/ 10990 w 110"/>
                <a:gd name="T65" fmla="*/ 523 h 108"/>
                <a:gd name="T66" fmla="*/ 11091 w 110"/>
                <a:gd name="T67" fmla="*/ 569 h 108"/>
                <a:gd name="T68" fmla="*/ 12819 w 110"/>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8"/>
                <a:gd name="T107" fmla="*/ 110 w 110"/>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8">
                  <a:moveTo>
                    <a:pt x="109" y="107"/>
                  </a:moveTo>
                  <a:lnTo>
                    <a:pt x="107" y="96"/>
                  </a:lnTo>
                  <a:lnTo>
                    <a:pt x="104" y="86"/>
                  </a:lnTo>
                  <a:lnTo>
                    <a:pt x="99" y="77"/>
                  </a:lnTo>
                  <a:lnTo>
                    <a:pt x="91" y="69"/>
                  </a:lnTo>
                  <a:lnTo>
                    <a:pt x="84" y="63"/>
                  </a:lnTo>
                  <a:lnTo>
                    <a:pt x="76" y="57"/>
                  </a:lnTo>
                  <a:lnTo>
                    <a:pt x="67" y="52"/>
                  </a:lnTo>
                  <a:lnTo>
                    <a:pt x="58" y="46"/>
                  </a:lnTo>
                  <a:lnTo>
                    <a:pt x="49" y="41"/>
                  </a:lnTo>
                  <a:lnTo>
                    <a:pt x="41" y="36"/>
                  </a:lnTo>
                  <a:lnTo>
                    <a:pt x="34" y="31"/>
                  </a:lnTo>
                  <a:lnTo>
                    <a:pt x="27" y="26"/>
                  </a:lnTo>
                  <a:lnTo>
                    <a:pt x="21" y="20"/>
                  </a:lnTo>
                  <a:lnTo>
                    <a:pt x="17" y="14"/>
                  </a:lnTo>
                  <a:lnTo>
                    <a:pt x="15" y="8"/>
                  </a:lnTo>
                  <a:lnTo>
                    <a:pt x="15" y="0"/>
                  </a:lnTo>
                  <a:lnTo>
                    <a:pt x="0" y="0"/>
                  </a:lnTo>
                  <a:lnTo>
                    <a:pt x="2" y="11"/>
                  </a:lnTo>
                  <a:lnTo>
                    <a:pt x="6" y="20"/>
                  </a:lnTo>
                  <a:lnTo>
                    <a:pt x="11" y="29"/>
                  </a:lnTo>
                  <a:lnTo>
                    <a:pt x="18" y="36"/>
                  </a:lnTo>
                  <a:lnTo>
                    <a:pt x="26" y="42"/>
                  </a:lnTo>
                  <a:lnTo>
                    <a:pt x="34" y="48"/>
                  </a:lnTo>
                  <a:lnTo>
                    <a:pt x="43" y="53"/>
                  </a:lnTo>
                  <a:lnTo>
                    <a:pt x="52" y="58"/>
                  </a:lnTo>
                  <a:lnTo>
                    <a:pt x="60" y="63"/>
                  </a:lnTo>
                  <a:lnTo>
                    <a:pt x="68" y="68"/>
                  </a:lnTo>
                  <a:lnTo>
                    <a:pt x="76" y="73"/>
                  </a:lnTo>
                  <a:lnTo>
                    <a:pt x="82" y="79"/>
                  </a:lnTo>
                  <a:lnTo>
                    <a:pt x="88" y="85"/>
                  </a:lnTo>
                  <a:lnTo>
                    <a:pt x="91" y="91"/>
                  </a:lnTo>
                  <a:lnTo>
                    <a:pt x="94" y="98"/>
                  </a:lnTo>
                  <a:lnTo>
                    <a:pt x="95" y="107"/>
                  </a:lnTo>
                  <a:lnTo>
                    <a:pt x="109"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4" name="Freeform 242">
              <a:extLst>
                <a:ext uri="{FF2B5EF4-FFF2-40B4-BE49-F238E27FC236}">
                  <a16:creationId xmlns:a16="http://schemas.microsoft.com/office/drawing/2014/main" id="{455D5AAB-3A44-3450-466D-6CBD368F511A}"/>
                </a:ext>
              </a:extLst>
            </p:cNvPr>
            <p:cNvSpPr>
              <a:spLocks/>
            </p:cNvSpPr>
            <p:nvPr/>
          </p:nvSpPr>
          <p:spPr bwMode="auto">
            <a:xfrm>
              <a:off x="3820" y="2391"/>
              <a:ext cx="138" cy="116"/>
            </a:xfrm>
            <a:custGeom>
              <a:avLst/>
              <a:gdLst>
                <a:gd name="T0" fmla="*/ 1791 w 110"/>
                <a:gd name="T1" fmla="*/ 576 h 107"/>
                <a:gd name="T2" fmla="*/ 1791 w 110"/>
                <a:gd name="T3" fmla="*/ 531 h 107"/>
                <a:gd name="T4" fmla="*/ 1901 w 110"/>
                <a:gd name="T5" fmla="*/ 504 h 107"/>
                <a:gd name="T6" fmla="*/ 2385 w 110"/>
                <a:gd name="T7" fmla="*/ 469 h 107"/>
                <a:gd name="T8" fmla="*/ 3209 w 110"/>
                <a:gd name="T9" fmla="*/ 438 h 107"/>
                <a:gd name="T10" fmla="*/ 4026 w 110"/>
                <a:gd name="T11" fmla="*/ 404 h 107"/>
                <a:gd name="T12" fmla="*/ 4710 w 110"/>
                <a:gd name="T13" fmla="*/ 378 h 107"/>
                <a:gd name="T14" fmla="*/ 5761 w 110"/>
                <a:gd name="T15" fmla="*/ 349 h 107"/>
                <a:gd name="T16" fmla="*/ 6821 w 110"/>
                <a:gd name="T17" fmla="*/ 322 h 107"/>
                <a:gd name="T18" fmla="*/ 7813 w 110"/>
                <a:gd name="T19" fmla="*/ 297 h 107"/>
                <a:gd name="T20" fmla="*/ 8841 w 110"/>
                <a:gd name="T21" fmla="*/ 270 h 107"/>
                <a:gd name="T22" fmla="*/ 9802 w 110"/>
                <a:gd name="T23" fmla="*/ 233 h 107"/>
                <a:gd name="T24" fmla="*/ 10625 w 110"/>
                <a:gd name="T25" fmla="*/ 198 h 107"/>
                <a:gd name="T26" fmla="*/ 11650 w 110"/>
                <a:gd name="T27" fmla="*/ 156 h 107"/>
                <a:gd name="T28" fmla="*/ 12119 w 110"/>
                <a:gd name="T29" fmla="*/ 113 h 107"/>
                <a:gd name="T30" fmla="*/ 12513 w 110"/>
                <a:gd name="T31" fmla="*/ 59 h 107"/>
                <a:gd name="T32" fmla="*/ 12819 w 110"/>
                <a:gd name="T33" fmla="*/ 0 h 107"/>
                <a:gd name="T34" fmla="*/ 11091 w 110"/>
                <a:gd name="T35" fmla="*/ 0 h 107"/>
                <a:gd name="T36" fmla="*/ 10990 w 110"/>
                <a:gd name="T37" fmla="*/ 46 h 107"/>
                <a:gd name="T38" fmla="*/ 10625 w 110"/>
                <a:gd name="T39" fmla="*/ 81 h 107"/>
                <a:gd name="T40" fmla="*/ 10246 w 110"/>
                <a:gd name="T41" fmla="*/ 113 h 107"/>
                <a:gd name="T42" fmla="*/ 9595 w 110"/>
                <a:gd name="T43" fmla="*/ 144 h 107"/>
                <a:gd name="T44" fmla="*/ 8841 w 110"/>
                <a:gd name="T45" fmla="*/ 181 h 107"/>
                <a:gd name="T46" fmla="*/ 7950 w 110"/>
                <a:gd name="T47" fmla="*/ 208 h 107"/>
                <a:gd name="T48" fmla="*/ 6983 w 110"/>
                <a:gd name="T49" fmla="*/ 233 h 107"/>
                <a:gd name="T50" fmla="*/ 6096 w 110"/>
                <a:gd name="T51" fmla="*/ 265 h 107"/>
                <a:gd name="T52" fmla="*/ 5051 w 110"/>
                <a:gd name="T53" fmla="*/ 289 h 107"/>
                <a:gd name="T54" fmla="*/ 4026 w 110"/>
                <a:gd name="T55" fmla="*/ 317 h 107"/>
                <a:gd name="T56" fmla="*/ 2992 w 110"/>
                <a:gd name="T57" fmla="*/ 345 h 107"/>
                <a:gd name="T58" fmla="*/ 2095 w 110"/>
                <a:gd name="T59" fmla="*/ 378 h 107"/>
                <a:gd name="T60" fmla="*/ 1331 w 110"/>
                <a:gd name="T61" fmla="*/ 417 h 107"/>
                <a:gd name="T62" fmla="*/ 748 w 110"/>
                <a:gd name="T63" fmla="*/ 469 h 107"/>
                <a:gd name="T64" fmla="*/ 302 w 110"/>
                <a:gd name="T65" fmla="*/ 516 h 107"/>
                <a:gd name="T66" fmla="*/ 0 w 110"/>
                <a:gd name="T67" fmla="*/ 576 h 107"/>
                <a:gd name="T68" fmla="*/ 1791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7" y="92"/>
                  </a:lnTo>
                  <a:lnTo>
                    <a:pt x="21" y="86"/>
                  </a:lnTo>
                  <a:lnTo>
                    <a:pt x="27" y="80"/>
                  </a:lnTo>
                  <a:lnTo>
                    <a:pt x="34" y="74"/>
                  </a:lnTo>
                  <a:lnTo>
                    <a:pt x="41" y="70"/>
                  </a:lnTo>
                  <a:lnTo>
                    <a:pt x="49" y="65"/>
                  </a:lnTo>
                  <a:lnTo>
                    <a:pt x="58" y="60"/>
                  </a:lnTo>
                  <a:lnTo>
                    <a:pt x="67" y="55"/>
                  </a:lnTo>
                  <a:lnTo>
                    <a:pt x="76" y="50"/>
                  </a:lnTo>
                  <a:lnTo>
                    <a:pt x="84" y="43"/>
                  </a:lnTo>
                  <a:lnTo>
                    <a:pt x="91" y="37"/>
                  </a:lnTo>
                  <a:lnTo>
                    <a:pt x="99" y="29"/>
                  </a:lnTo>
                  <a:lnTo>
                    <a:pt x="104" y="21"/>
                  </a:lnTo>
                  <a:lnTo>
                    <a:pt x="107" y="11"/>
                  </a:lnTo>
                  <a:lnTo>
                    <a:pt x="109" y="0"/>
                  </a:lnTo>
                  <a:lnTo>
                    <a:pt x="95" y="0"/>
                  </a:lnTo>
                  <a:lnTo>
                    <a:pt x="94" y="8"/>
                  </a:lnTo>
                  <a:lnTo>
                    <a:pt x="91" y="15"/>
                  </a:lnTo>
                  <a:lnTo>
                    <a:pt x="88" y="21"/>
                  </a:lnTo>
                  <a:lnTo>
                    <a:pt x="82" y="27"/>
                  </a:lnTo>
                  <a:lnTo>
                    <a:pt x="76" y="33"/>
                  </a:lnTo>
                  <a:lnTo>
                    <a:pt x="68" y="38"/>
                  </a:lnTo>
                  <a:lnTo>
                    <a:pt x="60" y="43"/>
                  </a:lnTo>
                  <a:lnTo>
                    <a:pt x="52" y="48"/>
                  </a:lnTo>
                  <a:lnTo>
                    <a:pt x="43" y="53"/>
                  </a:lnTo>
                  <a:lnTo>
                    <a:pt x="34" y="58"/>
                  </a:lnTo>
                  <a:lnTo>
                    <a:pt x="26" y="64"/>
                  </a:lnTo>
                  <a:lnTo>
                    <a:pt x="18" y="70"/>
                  </a:lnTo>
                  <a:lnTo>
                    <a:pt x="11" y="77"/>
                  </a:lnTo>
                  <a:lnTo>
                    <a:pt x="6" y="86"/>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5" name="Freeform 243">
              <a:extLst>
                <a:ext uri="{FF2B5EF4-FFF2-40B4-BE49-F238E27FC236}">
                  <a16:creationId xmlns:a16="http://schemas.microsoft.com/office/drawing/2014/main" id="{E411E29E-B036-2E8D-D50F-85CAC0C16A9A}"/>
                </a:ext>
              </a:extLst>
            </p:cNvPr>
            <p:cNvSpPr>
              <a:spLocks/>
            </p:cNvSpPr>
            <p:nvPr/>
          </p:nvSpPr>
          <p:spPr bwMode="auto">
            <a:xfrm>
              <a:off x="3820" y="2505"/>
              <a:ext cx="138" cy="103"/>
            </a:xfrm>
            <a:custGeom>
              <a:avLst/>
              <a:gdLst>
                <a:gd name="T0" fmla="*/ 12819 w 110"/>
                <a:gd name="T1" fmla="*/ 515 h 95"/>
                <a:gd name="T2" fmla="*/ 12119 w 110"/>
                <a:gd name="T3" fmla="*/ 417 h 95"/>
                <a:gd name="T4" fmla="*/ 10625 w 110"/>
                <a:gd name="T5" fmla="*/ 349 h 95"/>
                <a:gd name="T6" fmla="*/ 8760 w 110"/>
                <a:gd name="T7" fmla="*/ 297 h 95"/>
                <a:gd name="T8" fmla="*/ 6821 w 110"/>
                <a:gd name="T9" fmla="*/ 250 h 95"/>
                <a:gd name="T10" fmla="*/ 4710 w 110"/>
                <a:gd name="T11" fmla="*/ 196 h 95"/>
                <a:gd name="T12" fmla="*/ 3209 w 110"/>
                <a:gd name="T13" fmla="*/ 142 h 95"/>
                <a:gd name="T14" fmla="*/ 1901 w 110"/>
                <a:gd name="T15" fmla="*/ 69 h 95"/>
                <a:gd name="T16" fmla="*/ 1791 w 110"/>
                <a:gd name="T17" fmla="*/ 0 h 95"/>
                <a:gd name="T18" fmla="*/ 0 w 110"/>
                <a:gd name="T19" fmla="*/ 0 h 95"/>
                <a:gd name="T20" fmla="*/ 748 w 110"/>
                <a:gd name="T21" fmla="*/ 112 h 95"/>
                <a:gd name="T22" fmla="*/ 2095 w 110"/>
                <a:gd name="T23" fmla="*/ 196 h 95"/>
                <a:gd name="T24" fmla="*/ 4026 w 110"/>
                <a:gd name="T25" fmla="*/ 266 h 95"/>
                <a:gd name="T26" fmla="*/ 6096 w 110"/>
                <a:gd name="T27" fmla="*/ 316 h 95"/>
                <a:gd name="T28" fmla="*/ 8145 w 110"/>
                <a:gd name="T29" fmla="*/ 372 h 95"/>
                <a:gd name="T30" fmla="*/ 9660 w 110"/>
                <a:gd name="T31" fmla="*/ 407 h 95"/>
                <a:gd name="T32" fmla="*/ 10735 w 110"/>
                <a:gd name="T33" fmla="*/ 466 h 95"/>
                <a:gd name="T34" fmla="*/ 11091 w 110"/>
                <a:gd name="T35" fmla="*/ 515 h 95"/>
                <a:gd name="T36" fmla="*/ 12819 w 110"/>
                <a:gd name="T37" fmla="*/ 515 h 9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0"/>
                <a:gd name="T58" fmla="*/ 0 h 95"/>
                <a:gd name="T59" fmla="*/ 110 w 110"/>
                <a:gd name="T60" fmla="*/ 95 h 9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0" h="95">
                  <a:moveTo>
                    <a:pt x="109" y="94"/>
                  </a:moveTo>
                  <a:lnTo>
                    <a:pt x="104" y="77"/>
                  </a:lnTo>
                  <a:lnTo>
                    <a:pt x="91" y="65"/>
                  </a:lnTo>
                  <a:lnTo>
                    <a:pt x="75" y="55"/>
                  </a:lnTo>
                  <a:lnTo>
                    <a:pt x="58" y="46"/>
                  </a:lnTo>
                  <a:lnTo>
                    <a:pt x="41" y="36"/>
                  </a:lnTo>
                  <a:lnTo>
                    <a:pt x="27" y="26"/>
                  </a:lnTo>
                  <a:lnTo>
                    <a:pt x="17" y="13"/>
                  </a:lnTo>
                  <a:lnTo>
                    <a:pt x="15" y="0"/>
                  </a:lnTo>
                  <a:lnTo>
                    <a:pt x="0" y="0"/>
                  </a:lnTo>
                  <a:lnTo>
                    <a:pt x="6" y="20"/>
                  </a:lnTo>
                  <a:lnTo>
                    <a:pt x="18" y="36"/>
                  </a:lnTo>
                  <a:lnTo>
                    <a:pt x="34" y="48"/>
                  </a:lnTo>
                  <a:lnTo>
                    <a:pt x="52" y="57"/>
                  </a:lnTo>
                  <a:lnTo>
                    <a:pt x="69" y="67"/>
                  </a:lnTo>
                  <a:lnTo>
                    <a:pt x="83" y="75"/>
                  </a:lnTo>
                  <a:lnTo>
                    <a:pt x="92" y="85"/>
                  </a:lnTo>
                  <a:lnTo>
                    <a:pt x="95" y="94"/>
                  </a:lnTo>
                  <a:lnTo>
                    <a:pt x="109" y="9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6" name="Freeform 244">
              <a:extLst>
                <a:ext uri="{FF2B5EF4-FFF2-40B4-BE49-F238E27FC236}">
                  <a16:creationId xmlns:a16="http://schemas.microsoft.com/office/drawing/2014/main" id="{B20687AE-119F-9412-6003-F716B7838160}"/>
                </a:ext>
              </a:extLst>
            </p:cNvPr>
            <p:cNvSpPr>
              <a:spLocks/>
            </p:cNvSpPr>
            <p:nvPr/>
          </p:nvSpPr>
          <p:spPr bwMode="auto">
            <a:xfrm>
              <a:off x="3938" y="2607"/>
              <a:ext cx="20" cy="5"/>
            </a:xfrm>
            <a:custGeom>
              <a:avLst/>
              <a:gdLst>
                <a:gd name="T0" fmla="*/ 1673 w 16"/>
                <a:gd name="T1" fmla="*/ 4 h 5"/>
                <a:gd name="T2" fmla="*/ 1673 w 16"/>
                <a:gd name="T3" fmla="*/ 0 h 5"/>
                <a:gd name="T4" fmla="*/ 0 w 16"/>
                <a:gd name="T5" fmla="*/ 0 h 5"/>
                <a:gd name="T6" fmla="*/ 0 w 16"/>
                <a:gd name="T7" fmla="*/ 4 h 5"/>
                <a:gd name="T8" fmla="*/ 1673 w 16"/>
                <a:gd name="T9" fmla="*/ 4 h 5"/>
                <a:gd name="T10" fmla="*/ 0 60000 65536"/>
                <a:gd name="T11" fmla="*/ 0 60000 65536"/>
                <a:gd name="T12" fmla="*/ 0 60000 65536"/>
                <a:gd name="T13" fmla="*/ 0 60000 65536"/>
                <a:gd name="T14" fmla="*/ 0 60000 65536"/>
                <a:gd name="T15" fmla="*/ 0 w 16"/>
                <a:gd name="T16" fmla="*/ 0 h 5"/>
                <a:gd name="T17" fmla="*/ 16 w 16"/>
                <a:gd name="T18" fmla="*/ 5 h 5"/>
              </a:gdLst>
              <a:ahLst/>
              <a:cxnLst>
                <a:cxn ang="T10">
                  <a:pos x="T0" y="T1"/>
                </a:cxn>
                <a:cxn ang="T11">
                  <a:pos x="T2" y="T3"/>
                </a:cxn>
                <a:cxn ang="T12">
                  <a:pos x="T4" y="T5"/>
                </a:cxn>
                <a:cxn ang="T13">
                  <a:pos x="T6" y="T7"/>
                </a:cxn>
                <a:cxn ang="T14">
                  <a:pos x="T8" y="T9"/>
                </a:cxn>
              </a:cxnLst>
              <a:rect l="T15" t="T16" r="T17" b="T18"/>
              <a:pathLst>
                <a:path w="16" h="5">
                  <a:moveTo>
                    <a:pt x="15" y="4"/>
                  </a:moveTo>
                  <a:lnTo>
                    <a:pt x="15" y="0"/>
                  </a:lnTo>
                  <a:lnTo>
                    <a:pt x="0" y="0"/>
                  </a:lnTo>
                  <a:lnTo>
                    <a:pt x="0" y="4"/>
                  </a:lnTo>
                  <a:lnTo>
                    <a:pt x="15" y="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7" name="Freeform 245">
              <a:extLst>
                <a:ext uri="{FF2B5EF4-FFF2-40B4-BE49-F238E27FC236}">
                  <a16:creationId xmlns:a16="http://schemas.microsoft.com/office/drawing/2014/main" id="{EEFFFC61-3727-9D7A-5A13-98B505939904}"/>
                </a:ext>
              </a:extLst>
            </p:cNvPr>
            <p:cNvSpPr>
              <a:spLocks/>
            </p:cNvSpPr>
            <p:nvPr/>
          </p:nvSpPr>
          <p:spPr bwMode="auto">
            <a:xfrm>
              <a:off x="3820" y="2611"/>
              <a:ext cx="138" cy="116"/>
            </a:xfrm>
            <a:custGeom>
              <a:avLst/>
              <a:gdLst>
                <a:gd name="T0" fmla="*/ 1791 w 110"/>
                <a:gd name="T1" fmla="*/ 576 h 107"/>
                <a:gd name="T2" fmla="*/ 1791 w 110"/>
                <a:gd name="T3" fmla="*/ 531 h 107"/>
                <a:gd name="T4" fmla="*/ 2095 w 110"/>
                <a:gd name="T5" fmla="*/ 502 h 107"/>
                <a:gd name="T6" fmla="*/ 2385 w 110"/>
                <a:gd name="T7" fmla="*/ 463 h 107"/>
                <a:gd name="T8" fmla="*/ 3209 w 110"/>
                <a:gd name="T9" fmla="*/ 429 h 107"/>
                <a:gd name="T10" fmla="*/ 4026 w 110"/>
                <a:gd name="T11" fmla="*/ 396 h 107"/>
                <a:gd name="T12" fmla="*/ 4710 w 110"/>
                <a:gd name="T13" fmla="*/ 368 h 107"/>
                <a:gd name="T14" fmla="*/ 5900 w 110"/>
                <a:gd name="T15" fmla="*/ 337 h 107"/>
                <a:gd name="T16" fmla="*/ 6821 w 110"/>
                <a:gd name="T17" fmla="*/ 311 h 107"/>
                <a:gd name="T18" fmla="*/ 7813 w 110"/>
                <a:gd name="T19" fmla="*/ 274 h 107"/>
                <a:gd name="T20" fmla="*/ 8841 w 110"/>
                <a:gd name="T21" fmla="*/ 249 h 107"/>
                <a:gd name="T22" fmla="*/ 9802 w 110"/>
                <a:gd name="T23" fmla="*/ 212 h 107"/>
                <a:gd name="T24" fmla="*/ 10625 w 110"/>
                <a:gd name="T25" fmla="*/ 181 h 107"/>
                <a:gd name="T26" fmla="*/ 11650 w 110"/>
                <a:gd name="T27" fmla="*/ 144 h 107"/>
                <a:gd name="T28" fmla="*/ 12119 w 110"/>
                <a:gd name="T29" fmla="*/ 104 h 107"/>
                <a:gd name="T30" fmla="*/ 12513 w 110"/>
                <a:gd name="T31" fmla="*/ 50 h 107"/>
                <a:gd name="T32" fmla="*/ 12819 w 110"/>
                <a:gd name="T33" fmla="*/ 0 h 107"/>
                <a:gd name="T34" fmla="*/ 11091 w 110"/>
                <a:gd name="T35" fmla="*/ 0 h 107"/>
                <a:gd name="T36" fmla="*/ 10990 w 110"/>
                <a:gd name="T37" fmla="*/ 42 h 107"/>
                <a:gd name="T38" fmla="*/ 10735 w 110"/>
                <a:gd name="T39" fmla="*/ 69 h 107"/>
                <a:gd name="T40" fmla="*/ 10246 w 110"/>
                <a:gd name="T41" fmla="*/ 103 h 107"/>
                <a:gd name="T42" fmla="*/ 9595 w 110"/>
                <a:gd name="T43" fmla="*/ 123 h 107"/>
                <a:gd name="T44" fmla="*/ 8841 w 110"/>
                <a:gd name="T45" fmla="*/ 156 h 107"/>
                <a:gd name="T46" fmla="*/ 7950 w 110"/>
                <a:gd name="T47" fmla="*/ 183 h 107"/>
                <a:gd name="T48" fmla="*/ 6983 w 110"/>
                <a:gd name="T49" fmla="*/ 212 h 107"/>
                <a:gd name="T50" fmla="*/ 6096 w 110"/>
                <a:gd name="T51" fmla="*/ 244 h 107"/>
                <a:gd name="T52" fmla="*/ 4893 w 110"/>
                <a:gd name="T53" fmla="*/ 270 h 107"/>
                <a:gd name="T54" fmla="*/ 4026 w 110"/>
                <a:gd name="T55" fmla="*/ 297 h 107"/>
                <a:gd name="T56" fmla="*/ 2917 w 110"/>
                <a:gd name="T57" fmla="*/ 337 h 107"/>
                <a:gd name="T58" fmla="*/ 2095 w 110"/>
                <a:gd name="T59" fmla="*/ 374 h 107"/>
                <a:gd name="T60" fmla="*/ 1331 w 110"/>
                <a:gd name="T61" fmla="*/ 410 h 107"/>
                <a:gd name="T62" fmla="*/ 596 w 110"/>
                <a:gd name="T63" fmla="*/ 465 h 107"/>
                <a:gd name="T64" fmla="*/ 302 w 110"/>
                <a:gd name="T65" fmla="*/ 516 h 107"/>
                <a:gd name="T66" fmla="*/ 0 w 110"/>
                <a:gd name="T67" fmla="*/ 576 h 107"/>
                <a:gd name="T68" fmla="*/ 1791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8" y="91"/>
                  </a:lnTo>
                  <a:lnTo>
                    <a:pt x="21" y="84"/>
                  </a:lnTo>
                  <a:lnTo>
                    <a:pt x="27" y="78"/>
                  </a:lnTo>
                  <a:lnTo>
                    <a:pt x="34" y="72"/>
                  </a:lnTo>
                  <a:lnTo>
                    <a:pt x="41" y="67"/>
                  </a:lnTo>
                  <a:lnTo>
                    <a:pt x="50" y="61"/>
                  </a:lnTo>
                  <a:lnTo>
                    <a:pt x="58" y="56"/>
                  </a:lnTo>
                  <a:lnTo>
                    <a:pt x="67" y="51"/>
                  </a:lnTo>
                  <a:lnTo>
                    <a:pt x="76" y="46"/>
                  </a:lnTo>
                  <a:lnTo>
                    <a:pt x="84" y="39"/>
                  </a:lnTo>
                  <a:lnTo>
                    <a:pt x="91" y="33"/>
                  </a:lnTo>
                  <a:lnTo>
                    <a:pt x="99" y="27"/>
                  </a:lnTo>
                  <a:lnTo>
                    <a:pt x="104" y="19"/>
                  </a:lnTo>
                  <a:lnTo>
                    <a:pt x="107" y="9"/>
                  </a:lnTo>
                  <a:lnTo>
                    <a:pt x="109" y="0"/>
                  </a:lnTo>
                  <a:lnTo>
                    <a:pt x="95" y="0"/>
                  </a:lnTo>
                  <a:lnTo>
                    <a:pt x="94" y="7"/>
                  </a:lnTo>
                  <a:lnTo>
                    <a:pt x="92" y="13"/>
                  </a:lnTo>
                  <a:lnTo>
                    <a:pt x="88" y="18"/>
                  </a:lnTo>
                  <a:lnTo>
                    <a:pt x="82" y="23"/>
                  </a:lnTo>
                  <a:lnTo>
                    <a:pt x="76" y="29"/>
                  </a:lnTo>
                  <a:lnTo>
                    <a:pt x="68" y="34"/>
                  </a:lnTo>
                  <a:lnTo>
                    <a:pt x="60" y="39"/>
                  </a:lnTo>
                  <a:lnTo>
                    <a:pt x="52" y="44"/>
                  </a:lnTo>
                  <a:lnTo>
                    <a:pt x="42" y="50"/>
                  </a:lnTo>
                  <a:lnTo>
                    <a:pt x="34" y="55"/>
                  </a:lnTo>
                  <a:lnTo>
                    <a:pt x="25" y="61"/>
                  </a:lnTo>
                  <a:lnTo>
                    <a:pt x="18" y="69"/>
                  </a:lnTo>
                  <a:lnTo>
                    <a:pt x="11" y="76"/>
                  </a:lnTo>
                  <a:lnTo>
                    <a:pt x="5" y="85"/>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8" name="Freeform 246">
              <a:extLst>
                <a:ext uri="{FF2B5EF4-FFF2-40B4-BE49-F238E27FC236}">
                  <a16:creationId xmlns:a16="http://schemas.microsoft.com/office/drawing/2014/main" id="{ABA2D970-CF6A-2F43-2416-973D1FA432AC}"/>
                </a:ext>
              </a:extLst>
            </p:cNvPr>
            <p:cNvSpPr>
              <a:spLocks/>
            </p:cNvSpPr>
            <p:nvPr/>
          </p:nvSpPr>
          <p:spPr bwMode="auto">
            <a:xfrm>
              <a:off x="3820" y="2726"/>
              <a:ext cx="138" cy="116"/>
            </a:xfrm>
            <a:custGeom>
              <a:avLst/>
              <a:gdLst>
                <a:gd name="T0" fmla="*/ 12819 w 110"/>
                <a:gd name="T1" fmla="*/ 576 h 107"/>
                <a:gd name="T2" fmla="*/ 12513 w 110"/>
                <a:gd name="T3" fmla="*/ 516 h 107"/>
                <a:gd name="T4" fmla="*/ 12119 w 110"/>
                <a:gd name="T5" fmla="*/ 465 h 107"/>
                <a:gd name="T6" fmla="*/ 11650 w 110"/>
                <a:gd name="T7" fmla="*/ 417 h 107"/>
                <a:gd name="T8" fmla="*/ 10625 w 110"/>
                <a:gd name="T9" fmla="*/ 378 h 107"/>
                <a:gd name="T10" fmla="*/ 9802 w 110"/>
                <a:gd name="T11" fmla="*/ 345 h 107"/>
                <a:gd name="T12" fmla="*/ 8841 w 110"/>
                <a:gd name="T13" fmla="*/ 317 h 107"/>
                <a:gd name="T14" fmla="*/ 7813 w 110"/>
                <a:gd name="T15" fmla="*/ 289 h 107"/>
                <a:gd name="T16" fmla="*/ 6821 w 110"/>
                <a:gd name="T17" fmla="*/ 265 h 107"/>
                <a:gd name="T18" fmla="*/ 5761 w 110"/>
                <a:gd name="T19" fmla="*/ 233 h 107"/>
                <a:gd name="T20" fmla="*/ 4710 w 110"/>
                <a:gd name="T21" fmla="*/ 208 h 107"/>
                <a:gd name="T22" fmla="*/ 4026 w 110"/>
                <a:gd name="T23" fmla="*/ 181 h 107"/>
                <a:gd name="T24" fmla="*/ 3209 w 110"/>
                <a:gd name="T25" fmla="*/ 144 h 107"/>
                <a:gd name="T26" fmla="*/ 2385 w 110"/>
                <a:gd name="T27" fmla="*/ 113 h 107"/>
                <a:gd name="T28" fmla="*/ 2095 w 110"/>
                <a:gd name="T29" fmla="*/ 81 h 107"/>
                <a:gd name="T30" fmla="*/ 1791 w 110"/>
                <a:gd name="T31" fmla="*/ 46 h 107"/>
                <a:gd name="T32" fmla="*/ 1791 w 110"/>
                <a:gd name="T33" fmla="*/ 0 h 107"/>
                <a:gd name="T34" fmla="*/ 0 w 110"/>
                <a:gd name="T35" fmla="*/ 0 h 107"/>
                <a:gd name="T36" fmla="*/ 302 w 110"/>
                <a:gd name="T37" fmla="*/ 59 h 107"/>
                <a:gd name="T38" fmla="*/ 596 w 110"/>
                <a:gd name="T39" fmla="*/ 113 h 107"/>
                <a:gd name="T40" fmla="*/ 1331 w 110"/>
                <a:gd name="T41" fmla="*/ 156 h 107"/>
                <a:gd name="T42" fmla="*/ 2095 w 110"/>
                <a:gd name="T43" fmla="*/ 198 h 107"/>
                <a:gd name="T44" fmla="*/ 2992 w 110"/>
                <a:gd name="T45" fmla="*/ 233 h 107"/>
                <a:gd name="T46" fmla="*/ 4026 w 110"/>
                <a:gd name="T47" fmla="*/ 270 h 107"/>
                <a:gd name="T48" fmla="*/ 5051 w 110"/>
                <a:gd name="T49" fmla="*/ 297 h 107"/>
                <a:gd name="T50" fmla="*/ 6096 w 110"/>
                <a:gd name="T51" fmla="*/ 318 h 107"/>
                <a:gd name="T52" fmla="*/ 6983 w 110"/>
                <a:gd name="T53" fmla="*/ 349 h 107"/>
                <a:gd name="T54" fmla="*/ 7950 w 110"/>
                <a:gd name="T55" fmla="*/ 378 h 107"/>
                <a:gd name="T56" fmla="*/ 8841 w 110"/>
                <a:gd name="T57" fmla="*/ 404 h 107"/>
                <a:gd name="T58" fmla="*/ 9595 w 110"/>
                <a:gd name="T59" fmla="*/ 438 h 107"/>
                <a:gd name="T60" fmla="*/ 10246 w 110"/>
                <a:gd name="T61" fmla="*/ 469 h 107"/>
                <a:gd name="T62" fmla="*/ 10735 w 110"/>
                <a:gd name="T63" fmla="*/ 504 h 107"/>
                <a:gd name="T64" fmla="*/ 10990 w 110"/>
                <a:gd name="T65" fmla="*/ 531 h 107"/>
                <a:gd name="T66" fmla="*/ 11091 w 110"/>
                <a:gd name="T67" fmla="*/ 576 h 107"/>
                <a:gd name="T68" fmla="*/ 12819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09" y="106"/>
                  </a:moveTo>
                  <a:lnTo>
                    <a:pt x="107" y="95"/>
                  </a:lnTo>
                  <a:lnTo>
                    <a:pt x="104" y="85"/>
                  </a:lnTo>
                  <a:lnTo>
                    <a:pt x="99" y="77"/>
                  </a:lnTo>
                  <a:lnTo>
                    <a:pt x="91" y="70"/>
                  </a:lnTo>
                  <a:lnTo>
                    <a:pt x="84" y="64"/>
                  </a:lnTo>
                  <a:lnTo>
                    <a:pt x="76" y="58"/>
                  </a:lnTo>
                  <a:lnTo>
                    <a:pt x="67" y="53"/>
                  </a:lnTo>
                  <a:lnTo>
                    <a:pt x="58" y="48"/>
                  </a:lnTo>
                  <a:lnTo>
                    <a:pt x="49" y="43"/>
                  </a:lnTo>
                  <a:lnTo>
                    <a:pt x="41" y="38"/>
                  </a:lnTo>
                  <a:lnTo>
                    <a:pt x="34" y="33"/>
                  </a:lnTo>
                  <a:lnTo>
                    <a:pt x="27" y="27"/>
                  </a:lnTo>
                  <a:lnTo>
                    <a:pt x="21" y="21"/>
                  </a:lnTo>
                  <a:lnTo>
                    <a:pt x="18" y="15"/>
                  </a:lnTo>
                  <a:lnTo>
                    <a:pt x="15" y="8"/>
                  </a:lnTo>
                  <a:lnTo>
                    <a:pt x="15" y="0"/>
                  </a:lnTo>
                  <a:lnTo>
                    <a:pt x="0" y="0"/>
                  </a:lnTo>
                  <a:lnTo>
                    <a:pt x="2" y="11"/>
                  </a:lnTo>
                  <a:lnTo>
                    <a:pt x="5" y="21"/>
                  </a:lnTo>
                  <a:lnTo>
                    <a:pt x="11" y="29"/>
                  </a:lnTo>
                  <a:lnTo>
                    <a:pt x="18" y="37"/>
                  </a:lnTo>
                  <a:lnTo>
                    <a:pt x="26" y="43"/>
                  </a:lnTo>
                  <a:lnTo>
                    <a:pt x="34" y="50"/>
                  </a:lnTo>
                  <a:lnTo>
                    <a:pt x="43" y="55"/>
                  </a:lnTo>
                  <a:lnTo>
                    <a:pt x="52" y="59"/>
                  </a:lnTo>
                  <a:lnTo>
                    <a:pt x="60" y="65"/>
                  </a:lnTo>
                  <a:lnTo>
                    <a:pt x="68" y="70"/>
                  </a:lnTo>
                  <a:lnTo>
                    <a:pt x="76" y="74"/>
                  </a:lnTo>
                  <a:lnTo>
                    <a:pt x="82" y="80"/>
                  </a:lnTo>
                  <a:lnTo>
                    <a:pt x="88" y="86"/>
                  </a:lnTo>
                  <a:lnTo>
                    <a:pt x="92" y="92"/>
                  </a:lnTo>
                  <a:lnTo>
                    <a:pt x="94" y="98"/>
                  </a:lnTo>
                  <a:lnTo>
                    <a:pt x="95" y="106"/>
                  </a:lnTo>
                  <a:lnTo>
                    <a:pt x="109"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9" name="Freeform 247">
              <a:extLst>
                <a:ext uri="{FF2B5EF4-FFF2-40B4-BE49-F238E27FC236}">
                  <a16:creationId xmlns:a16="http://schemas.microsoft.com/office/drawing/2014/main" id="{5E60C9AF-7A71-4747-551F-B628795AEE4F}"/>
                </a:ext>
              </a:extLst>
            </p:cNvPr>
            <p:cNvSpPr>
              <a:spLocks/>
            </p:cNvSpPr>
            <p:nvPr/>
          </p:nvSpPr>
          <p:spPr bwMode="auto">
            <a:xfrm>
              <a:off x="3820" y="2841"/>
              <a:ext cx="138" cy="115"/>
            </a:xfrm>
            <a:custGeom>
              <a:avLst/>
              <a:gdLst>
                <a:gd name="T0" fmla="*/ 1791 w 110"/>
                <a:gd name="T1" fmla="*/ 480 h 107"/>
                <a:gd name="T2" fmla="*/ 1791 w 110"/>
                <a:gd name="T3" fmla="*/ 443 h 107"/>
                <a:gd name="T4" fmla="*/ 2095 w 110"/>
                <a:gd name="T5" fmla="*/ 408 h 107"/>
                <a:gd name="T6" fmla="*/ 2385 w 110"/>
                <a:gd name="T7" fmla="*/ 383 h 107"/>
                <a:gd name="T8" fmla="*/ 3209 w 110"/>
                <a:gd name="T9" fmla="*/ 356 h 107"/>
                <a:gd name="T10" fmla="*/ 4026 w 110"/>
                <a:gd name="T11" fmla="*/ 329 h 107"/>
                <a:gd name="T12" fmla="*/ 4710 w 110"/>
                <a:gd name="T13" fmla="*/ 306 h 107"/>
                <a:gd name="T14" fmla="*/ 5761 w 110"/>
                <a:gd name="T15" fmla="*/ 284 h 107"/>
                <a:gd name="T16" fmla="*/ 6821 w 110"/>
                <a:gd name="T17" fmla="*/ 264 h 107"/>
                <a:gd name="T18" fmla="*/ 7813 w 110"/>
                <a:gd name="T19" fmla="*/ 244 h 107"/>
                <a:gd name="T20" fmla="*/ 8841 w 110"/>
                <a:gd name="T21" fmla="*/ 218 h 107"/>
                <a:gd name="T22" fmla="*/ 9802 w 110"/>
                <a:gd name="T23" fmla="*/ 189 h 107"/>
                <a:gd name="T24" fmla="*/ 10625 w 110"/>
                <a:gd name="T25" fmla="*/ 164 h 107"/>
                <a:gd name="T26" fmla="*/ 11650 w 110"/>
                <a:gd name="T27" fmla="*/ 129 h 107"/>
                <a:gd name="T28" fmla="*/ 12119 w 110"/>
                <a:gd name="T29" fmla="*/ 90 h 107"/>
                <a:gd name="T30" fmla="*/ 12513 w 110"/>
                <a:gd name="T31" fmla="*/ 44 h 107"/>
                <a:gd name="T32" fmla="*/ 12819 w 110"/>
                <a:gd name="T33" fmla="*/ 0 h 107"/>
                <a:gd name="T34" fmla="*/ 11091 w 110"/>
                <a:gd name="T35" fmla="*/ 0 h 107"/>
                <a:gd name="T36" fmla="*/ 10990 w 110"/>
                <a:gd name="T37" fmla="*/ 38 h 107"/>
                <a:gd name="T38" fmla="*/ 10735 w 110"/>
                <a:gd name="T39" fmla="*/ 59 h 107"/>
                <a:gd name="T40" fmla="*/ 10246 w 110"/>
                <a:gd name="T41" fmla="*/ 90 h 107"/>
                <a:gd name="T42" fmla="*/ 9595 w 110"/>
                <a:gd name="T43" fmla="*/ 112 h 107"/>
                <a:gd name="T44" fmla="*/ 8841 w 110"/>
                <a:gd name="T45" fmla="*/ 139 h 107"/>
                <a:gd name="T46" fmla="*/ 7950 w 110"/>
                <a:gd name="T47" fmla="*/ 164 h 107"/>
                <a:gd name="T48" fmla="*/ 6983 w 110"/>
                <a:gd name="T49" fmla="*/ 185 h 107"/>
                <a:gd name="T50" fmla="*/ 6096 w 110"/>
                <a:gd name="T51" fmla="*/ 211 h 107"/>
                <a:gd name="T52" fmla="*/ 5051 w 110"/>
                <a:gd name="T53" fmla="*/ 230 h 107"/>
                <a:gd name="T54" fmla="*/ 4026 w 110"/>
                <a:gd name="T55" fmla="*/ 251 h 107"/>
                <a:gd name="T56" fmla="*/ 2992 w 110"/>
                <a:gd name="T57" fmla="*/ 284 h 107"/>
                <a:gd name="T58" fmla="*/ 2095 w 110"/>
                <a:gd name="T59" fmla="*/ 306 h 107"/>
                <a:gd name="T60" fmla="*/ 1331 w 110"/>
                <a:gd name="T61" fmla="*/ 353 h 107"/>
                <a:gd name="T62" fmla="*/ 596 w 110"/>
                <a:gd name="T63" fmla="*/ 383 h 107"/>
                <a:gd name="T64" fmla="*/ 302 w 110"/>
                <a:gd name="T65" fmla="*/ 434 h 107"/>
                <a:gd name="T66" fmla="*/ 0 w 110"/>
                <a:gd name="T67" fmla="*/ 480 h 107"/>
                <a:gd name="T68" fmla="*/ 1791 w 110"/>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8" y="90"/>
                  </a:lnTo>
                  <a:lnTo>
                    <a:pt x="21" y="85"/>
                  </a:lnTo>
                  <a:lnTo>
                    <a:pt x="27" y="79"/>
                  </a:lnTo>
                  <a:lnTo>
                    <a:pt x="34" y="73"/>
                  </a:lnTo>
                  <a:lnTo>
                    <a:pt x="41" y="68"/>
                  </a:lnTo>
                  <a:lnTo>
                    <a:pt x="49" y="62"/>
                  </a:lnTo>
                  <a:lnTo>
                    <a:pt x="58" y="58"/>
                  </a:lnTo>
                  <a:lnTo>
                    <a:pt x="67" y="53"/>
                  </a:lnTo>
                  <a:lnTo>
                    <a:pt x="76" y="48"/>
                  </a:lnTo>
                  <a:lnTo>
                    <a:pt x="84" y="42"/>
                  </a:lnTo>
                  <a:lnTo>
                    <a:pt x="91" y="36"/>
                  </a:lnTo>
                  <a:lnTo>
                    <a:pt x="99" y="29"/>
                  </a:lnTo>
                  <a:lnTo>
                    <a:pt x="104" y="20"/>
                  </a:lnTo>
                  <a:lnTo>
                    <a:pt x="107" y="10"/>
                  </a:lnTo>
                  <a:lnTo>
                    <a:pt x="109" y="0"/>
                  </a:lnTo>
                  <a:lnTo>
                    <a:pt x="95" y="0"/>
                  </a:lnTo>
                  <a:lnTo>
                    <a:pt x="94" y="8"/>
                  </a:lnTo>
                  <a:lnTo>
                    <a:pt x="92" y="14"/>
                  </a:lnTo>
                  <a:lnTo>
                    <a:pt x="88" y="20"/>
                  </a:lnTo>
                  <a:lnTo>
                    <a:pt x="82" y="25"/>
                  </a:lnTo>
                  <a:lnTo>
                    <a:pt x="76" y="31"/>
                  </a:lnTo>
                  <a:lnTo>
                    <a:pt x="68" y="36"/>
                  </a:lnTo>
                  <a:lnTo>
                    <a:pt x="60" y="41"/>
                  </a:lnTo>
                  <a:lnTo>
                    <a:pt x="52" y="46"/>
                  </a:lnTo>
                  <a:lnTo>
                    <a:pt x="43" y="51"/>
                  </a:lnTo>
                  <a:lnTo>
                    <a:pt x="34" y="56"/>
                  </a:lnTo>
                  <a:lnTo>
                    <a:pt x="26" y="62"/>
                  </a:lnTo>
                  <a:lnTo>
                    <a:pt x="18" y="68"/>
                  </a:lnTo>
                  <a:lnTo>
                    <a:pt x="11" y="77"/>
                  </a:lnTo>
                  <a:lnTo>
                    <a:pt x="5" y="85"/>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0" name="Freeform 248">
              <a:extLst>
                <a:ext uri="{FF2B5EF4-FFF2-40B4-BE49-F238E27FC236}">
                  <a16:creationId xmlns:a16="http://schemas.microsoft.com/office/drawing/2014/main" id="{914CDCCA-CA1F-53A3-253A-21332D2EDB68}"/>
                </a:ext>
              </a:extLst>
            </p:cNvPr>
            <p:cNvSpPr>
              <a:spLocks/>
            </p:cNvSpPr>
            <p:nvPr/>
          </p:nvSpPr>
          <p:spPr bwMode="auto">
            <a:xfrm>
              <a:off x="3820" y="2955"/>
              <a:ext cx="138" cy="117"/>
            </a:xfrm>
            <a:custGeom>
              <a:avLst/>
              <a:gdLst>
                <a:gd name="T0" fmla="*/ 12819 w 110"/>
                <a:gd name="T1" fmla="*/ 569 h 108"/>
                <a:gd name="T2" fmla="*/ 12513 w 110"/>
                <a:gd name="T3" fmla="*/ 518 h 108"/>
                <a:gd name="T4" fmla="*/ 12119 w 110"/>
                <a:gd name="T5" fmla="*/ 469 h 108"/>
                <a:gd name="T6" fmla="*/ 11650 w 110"/>
                <a:gd name="T7" fmla="*/ 427 h 108"/>
                <a:gd name="T8" fmla="*/ 10625 w 110"/>
                <a:gd name="T9" fmla="*/ 380 h 108"/>
                <a:gd name="T10" fmla="*/ 9802 w 110"/>
                <a:gd name="T11" fmla="*/ 346 h 108"/>
                <a:gd name="T12" fmla="*/ 8841 w 110"/>
                <a:gd name="T13" fmla="*/ 319 h 108"/>
                <a:gd name="T14" fmla="*/ 7813 w 110"/>
                <a:gd name="T15" fmla="*/ 293 h 108"/>
                <a:gd name="T16" fmla="*/ 6821 w 110"/>
                <a:gd name="T17" fmla="*/ 265 h 108"/>
                <a:gd name="T18" fmla="*/ 5761 w 110"/>
                <a:gd name="T19" fmla="*/ 244 h 108"/>
                <a:gd name="T20" fmla="*/ 4710 w 110"/>
                <a:gd name="T21" fmla="*/ 210 h 108"/>
                <a:gd name="T22" fmla="*/ 4026 w 110"/>
                <a:gd name="T23" fmla="*/ 182 h 108"/>
                <a:gd name="T24" fmla="*/ 3209 w 110"/>
                <a:gd name="T25" fmla="*/ 150 h 108"/>
                <a:gd name="T26" fmla="*/ 2385 w 110"/>
                <a:gd name="T27" fmla="*/ 122 h 108"/>
                <a:gd name="T28" fmla="*/ 2095 w 110"/>
                <a:gd name="T29" fmla="*/ 87 h 108"/>
                <a:gd name="T30" fmla="*/ 1791 w 110"/>
                <a:gd name="T31" fmla="*/ 50 h 108"/>
                <a:gd name="T32" fmla="*/ 1791 w 110"/>
                <a:gd name="T33" fmla="*/ 0 h 108"/>
                <a:gd name="T34" fmla="*/ 0 w 110"/>
                <a:gd name="T35" fmla="*/ 0 h 108"/>
                <a:gd name="T36" fmla="*/ 302 w 110"/>
                <a:gd name="T37" fmla="*/ 63 h 108"/>
                <a:gd name="T38" fmla="*/ 596 w 110"/>
                <a:gd name="T39" fmla="*/ 113 h 108"/>
                <a:gd name="T40" fmla="*/ 1331 w 110"/>
                <a:gd name="T41" fmla="*/ 163 h 108"/>
                <a:gd name="T42" fmla="*/ 2095 w 110"/>
                <a:gd name="T43" fmla="*/ 208 h 108"/>
                <a:gd name="T44" fmla="*/ 2992 w 110"/>
                <a:gd name="T45" fmla="*/ 245 h 108"/>
                <a:gd name="T46" fmla="*/ 4026 w 110"/>
                <a:gd name="T47" fmla="*/ 270 h 108"/>
                <a:gd name="T48" fmla="*/ 5051 w 110"/>
                <a:gd name="T49" fmla="*/ 310 h 108"/>
                <a:gd name="T50" fmla="*/ 6096 w 110"/>
                <a:gd name="T51" fmla="*/ 336 h 108"/>
                <a:gd name="T52" fmla="*/ 6983 w 110"/>
                <a:gd name="T53" fmla="*/ 364 h 108"/>
                <a:gd name="T54" fmla="*/ 7950 w 110"/>
                <a:gd name="T55" fmla="*/ 380 h 108"/>
                <a:gd name="T56" fmla="*/ 8841 w 110"/>
                <a:gd name="T57" fmla="*/ 406 h 108"/>
                <a:gd name="T58" fmla="*/ 9595 w 110"/>
                <a:gd name="T59" fmla="*/ 440 h 108"/>
                <a:gd name="T60" fmla="*/ 10246 w 110"/>
                <a:gd name="T61" fmla="*/ 473 h 108"/>
                <a:gd name="T62" fmla="*/ 10735 w 110"/>
                <a:gd name="T63" fmla="*/ 503 h 108"/>
                <a:gd name="T64" fmla="*/ 10990 w 110"/>
                <a:gd name="T65" fmla="*/ 525 h 108"/>
                <a:gd name="T66" fmla="*/ 11091 w 110"/>
                <a:gd name="T67" fmla="*/ 569 h 108"/>
                <a:gd name="T68" fmla="*/ 12819 w 110"/>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8"/>
                <a:gd name="T107" fmla="*/ 110 w 110"/>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8">
                  <a:moveTo>
                    <a:pt x="109" y="107"/>
                  </a:moveTo>
                  <a:lnTo>
                    <a:pt x="107" y="97"/>
                  </a:lnTo>
                  <a:lnTo>
                    <a:pt x="104" y="87"/>
                  </a:lnTo>
                  <a:lnTo>
                    <a:pt x="99" y="78"/>
                  </a:lnTo>
                  <a:lnTo>
                    <a:pt x="91" y="71"/>
                  </a:lnTo>
                  <a:lnTo>
                    <a:pt x="84" y="65"/>
                  </a:lnTo>
                  <a:lnTo>
                    <a:pt x="76" y="60"/>
                  </a:lnTo>
                  <a:lnTo>
                    <a:pt x="67" y="54"/>
                  </a:lnTo>
                  <a:lnTo>
                    <a:pt x="58" y="49"/>
                  </a:lnTo>
                  <a:lnTo>
                    <a:pt x="49" y="44"/>
                  </a:lnTo>
                  <a:lnTo>
                    <a:pt x="41" y="39"/>
                  </a:lnTo>
                  <a:lnTo>
                    <a:pt x="34" y="34"/>
                  </a:lnTo>
                  <a:lnTo>
                    <a:pt x="27" y="28"/>
                  </a:lnTo>
                  <a:lnTo>
                    <a:pt x="21" y="23"/>
                  </a:lnTo>
                  <a:lnTo>
                    <a:pt x="18" y="16"/>
                  </a:lnTo>
                  <a:lnTo>
                    <a:pt x="15" y="9"/>
                  </a:lnTo>
                  <a:lnTo>
                    <a:pt x="15" y="0"/>
                  </a:lnTo>
                  <a:lnTo>
                    <a:pt x="0" y="0"/>
                  </a:lnTo>
                  <a:lnTo>
                    <a:pt x="2" y="12"/>
                  </a:lnTo>
                  <a:lnTo>
                    <a:pt x="5" y="21"/>
                  </a:lnTo>
                  <a:lnTo>
                    <a:pt x="11" y="30"/>
                  </a:lnTo>
                  <a:lnTo>
                    <a:pt x="18" y="38"/>
                  </a:lnTo>
                  <a:lnTo>
                    <a:pt x="26" y="45"/>
                  </a:lnTo>
                  <a:lnTo>
                    <a:pt x="34" y="50"/>
                  </a:lnTo>
                  <a:lnTo>
                    <a:pt x="43" y="56"/>
                  </a:lnTo>
                  <a:lnTo>
                    <a:pt x="52" y="61"/>
                  </a:lnTo>
                  <a:lnTo>
                    <a:pt x="60" y="66"/>
                  </a:lnTo>
                  <a:lnTo>
                    <a:pt x="68" y="71"/>
                  </a:lnTo>
                  <a:lnTo>
                    <a:pt x="76" y="76"/>
                  </a:lnTo>
                  <a:lnTo>
                    <a:pt x="82" y="82"/>
                  </a:lnTo>
                  <a:lnTo>
                    <a:pt x="88" y="88"/>
                  </a:lnTo>
                  <a:lnTo>
                    <a:pt x="92" y="93"/>
                  </a:lnTo>
                  <a:lnTo>
                    <a:pt x="94" y="99"/>
                  </a:lnTo>
                  <a:lnTo>
                    <a:pt x="95" y="107"/>
                  </a:lnTo>
                  <a:lnTo>
                    <a:pt x="109"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1" name="Freeform 249">
              <a:extLst>
                <a:ext uri="{FF2B5EF4-FFF2-40B4-BE49-F238E27FC236}">
                  <a16:creationId xmlns:a16="http://schemas.microsoft.com/office/drawing/2014/main" id="{26A0F622-359A-7502-1887-E064DA88B959}"/>
                </a:ext>
              </a:extLst>
            </p:cNvPr>
            <p:cNvSpPr>
              <a:spLocks/>
            </p:cNvSpPr>
            <p:nvPr/>
          </p:nvSpPr>
          <p:spPr bwMode="auto">
            <a:xfrm>
              <a:off x="3820" y="3071"/>
              <a:ext cx="138" cy="100"/>
            </a:xfrm>
            <a:custGeom>
              <a:avLst/>
              <a:gdLst>
                <a:gd name="T0" fmla="*/ 1791 w 110"/>
                <a:gd name="T1" fmla="*/ 419 h 93"/>
                <a:gd name="T2" fmla="*/ 1901 w 110"/>
                <a:gd name="T3" fmla="*/ 378 h 93"/>
                <a:gd name="T4" fmla="*/ 2992 w 110"/>
                <a:gd name="T5" fmla="*/ 331 h 93"/>
                <a:gd name="T6" fmla="*/ 4710 w 110"/>
                <a:gd name="T7" fmla="*/ 292 h 93"/>
                <a:gd name="T8" fmla="*/ 6821 w 110"/>
                <a:gd name="T9" fmla="*/ 261 h 93"/>
                <a:gd name="T10" fmla="*/ 8841 w 110"/>
                <a:gd name="T11" fmla="*/ 214 h 93"/>
                <a:gd name="T12" fmla="*/ 10625 w 110"/>
                <a:gd name="T13" fmla="*/ 160 h 93"/>
                <a:gd name="T14" fmla="*/ 12119 w 110"/>
                <a:gd name="T15" fmla="*/ 95 h 93"/>
                <a:gd name="T16" fmla="*/ 12819 w 110"/>
                <a:gd name="T17" fmla="*/ 0 h 93"/>
                <a:gd name="T18" fmla="*/ 11091 w 110"/>
                <a:gd name="T19" fmla="*/ 0 h 93"/>
                <a:gd name="T20" fmla="*/ 10735 w 110"/>
                <a:gd name="T21" fmla="*/ 61 h 93"/>
                <a:gd name="T22" fmla="*/ 9595 w 110"/>
                <a:gd name="T23" fmla="*/ 112 h 93"/>
                <a:gd name="T24" fmla="*/ 7950 w 110"/>
                <a:gd name="T25" fmla="*/ 160 h 93"/>
                <a:gd name="T26" fmla="*/ 6096 w 110"/>
                <a:gd name="T27" fmla="*/ 199 h 93"/>
                <a:gd name="T28" fmla="*/ 4026 w 110"/>
                <a:gd name="T29" fmla="*/ 245 h 93"/>
                <a:gd name="T30" fmla="*/ 2247 w 110"/>
                <a:gd name="T31" fmla="*/ 286 h 93"/>
                <a:gd name="T32" fmla="*/ 748 w 110"/>
                <a:gd name="T33" fmla="*/ 349 h 93"/>
                <a:gd name="T34" fmla="*/ 0 w 110"/>
                <a:gd name="T35" fmla="*/ 419 h 93"/>
                <a:gd name="T36" fmla="*/ 1791 w 110"/>
                <a:gd name="T37" fmla="*/ 419 h 9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0"/>
                <a:gd name="T58" fmla="*/ 0 h 93"/>
                <a:gd name="T59" fmla="*/ 110 w 110"/>
                <a:gd name="T60" fmla="*/ 93 h 9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0" h="93">
                  <a:moveTo>
                    <a:pt x="15" y="92"/>
                  </a:moveTo>
                  <a:lnTo>
                    <a:pt x="17" y="82"/>
                  </a:lnTo>
                  <a:lnTo>
                    <a:pt x="26" y="73"/>
                  </a:lnTo>
                  <a:lnTo>
                    <a:pt x="41" y="64"/>
                  </a:lnTo>
                  <a:lnTo>
                    <a:pt x="58" y="56"/>
                  </a:lnTo>
                  <a:lnTo>
                    <a:pt x="76" y="47"/>
                  </a:lnTo>
                  <a:lnTo>
                    <a:pt x="91" y="35"/>
                  </a:lnTo>
                  <a:lnTo>
                    <a:pt x="104" y="20"/>
                  </a:lnTo>
                  <a:lnTo>
                    <a:pt x="109" y="0"/>
                  </a:lnTo>
                  <a:lnTo>
                    <a:pt x="95" y="0"/>
                  </a:lnTo>
                  <a:lnTo>
                    <a:pt x="92" y="14"/>
                  </a:lnTo>
                  <a:lnTo>
                    <a:pt x="82" y="25"/>
                  </a:lnTo>
                  <a:lnTo>
                    <a:pt x="68" y="35"/>
                  </a:lnTo>
                  <a:lnTo>
                    <a:pt x="52" y="44"/>
                  </a:lnTo>
                  <a:lnTo>
                    <a:pt x="34" y="53"/>
                  </a:lnTo>
                  <a:lnTo>
                    <a:pt x="19" y="63"/>
                  </a:lnTo>
                  <a:lnTo>
                    <a:pt x="6" y="75"/>
                  </a:lnTo>
                  <a:lnTo>
                    <a:pt x="0" y="92"/>
                  </a:lnTo>
                  <a:lnTo>
                    <a:pt x="15" y="92"/>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2" name="Freeform 250">
              <a:extLst>
                <a:ext uri="{FF2B5EF4-FFF2-40B4-BE49-F238E27FC236}">
                  <a16:creationId xmlns:a16="http://schemas.microsoft.com/office/drawing/2014/main" id="{3B115AC9-43A6-A3B3-019F-5EBD930669AE}"/>
                </a:ext>
              </a:extLst>
            </p:cNvPr>
            <p:cNvSpPr>
              <a:spLocks/>
            </p:cNvSpPr>
            <p:nvPr/>
          </p:nvSpPr>
          <p:spPr bwMode="auto">
            <a:xfrm>
              <a:off x="3820" y="3170"/>
              <a:ext cx="19" cy="2"/>
            </a:xfrm>
            <a:custGeom>
              <a:avLst/>
              <a:gdLst>
                <a:gd name="T0" fmla="*/ 2080 w 15"/>
                <a:gd name="T1" fmla="*/ 1 h 2"/>
                <a:gd name="T2" fmla="*/ 2080 w 15"/>
                <a:gd name="T3" fmla="*/ 0 h 2"/>
                <a:gd name="T4" fmla="*/ 0 w 15"/>
                <a:gd name="T5" fmla="*/ 0 h 2"/>
                <a:gd name="T6" fmla="*/ 0 w 15"/>
                <a:gd name="T7" fmla="*/ 1 h 2"/>
                <a:gd name="T8" fmla="*/ 2080 w 15"/>
                <a:gd name="T9" fmla="*/ 1 h 2"/>
                <a:gd name="T10" fmla="*/ 0 60000 65536"/>
                <a:gd name="T11" fmla="*/ 0 60000 65536"/>
                <a:gd name="T12" fmla="*/ 0 60000 65536"/>
                <a:gd name="T13" fmla="*/ 0 60000 65536"/>
                <a:gd name="T14" fmla="*/ 0 60000 65536"/>
                <a:gd name="T15" fmla="*/ 0 w 15"/>
                <a:gd name="T16" fmla="*/ 0 h 2"/>
                <a:gd name="T17" fmla="*/ 15 w 15"/>
                <a:gd name="T18" fmla="*/ 2 h 2"/>
              </a:gdLst>
              <a:ahLst/>
              <a:cxnLst>
                <a:cxn ang="T10">
                  <a:pos x="T0" y="T1"/>
                </a:cxn>
                <a:cxn ang="T11">
                  <a:pos x="T2" y="T3"/>
                </a:cxn>
                <a:cxn ang="T12">
                  <a:pos x="T4" y="T5"/>
                </a:cxn>
                <a:cxn ang="T13">
                  <a:pos x="T6" y="T7"/>
                </a:cxn>
                <a:cxn ang="T14">
                  <a:pos x="T8" y="T9"/>
                </a:cxn>
              </a:cxnLst>
              <a:rect l="T15" t="T16" r="T17" b="T18"/>
              <a:pathLst>
                <a:path w="15" h="2">
                  <a:moveTo>
                    <a:pt x="14" y="1"/>
                  </a:moveTo>
                  <a:lnTo>
                    <a:pt x="14" y="0"/>
                  </a:lnTo>
                  <a:lnTo>
                    <a:pt x="0" y="0"/>
                  </a:lnTo>
                  <a:lnTo>
                    <a:pt x="0" y="1"/>
                  </a:lnTo>
                  <a:lnTo>
                    <a:pt x="14" y="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3" name="Freeform 251">
              <a:extLst>
                <a:ext uri="{FF2B5EF4-FFF2-40B4-BE49-F238E27FC236}">
                  <a16:creationId xmlns:a16="http://schemas.microsoft.com/office/drawing/2014/main" id="{145D190E-2E37-9A9A-48F3-66BDD40EE17B}"/>
                </a:ext>
              </a:extLst>
            </p:cNvPr>
            <p:cNvSpPr>
              <a:spLocks/>
            </p:cNvSpPr>
            <p:nvPr/>
          </p:nvSpPr>
          <p:spPr bwMode="auto">
            <a:xfrm>
              <a:off x="3820" y="3171"/>
              <a:ext cx="138" cy="116"/>
            </a:xfrm>
            <a:custGeom>
              <a:avLst/>
              <a:gdLst>
                <a:gd name="T0" fmla="*/ 12819 w 110"/>
                <a:gd name="T1" fmla="*/ 576 h 107"/>
                <a:gd name="T2" fmla="*/ 12513 w 110"/>
                <a:gd name="T3" fmla="*/ 521 h 107"/>
                <a:gd name="T4" fmla="*/ 12119 w 110"/>
                <a:gd name="T5" fmla="*/ 469 h 107"/>
                <a:gd name="T6" fmla="*/ 11650 w 110"/>
                <a:gd name="T7" fmla="*/ 433 h 107"/>
                <a:gd name="T8" fmla="*/ 10625 w 110"/>
                <a:gd name="T9" fmla="*/ 399 h 107"/>
                <a:gd name="T10" fmla="*/ 9660 w 110"/>
                <a:gd name="T11" fmla="*/ 368 h 107"/>
                <a:gd name="T12" fmla="*/ 8760 w 110"/>
                <a:gd name="T13" fmla="*/ 344 h 107"/>
                <a:gd name="T14" fmla="*/ 7813 w 110"/>
                <a:gd name="T15" fmla="*/ 317 h 107"/>
                <a:gd name="T16" fmla="*/ 6821 w 110"/>
                <a:gd name="T17" fmla="*/ 297 h 107"/>
                <a:gd name="T18" fmla="*/ 5761 w 110"/>
                <a:gd name="T19" fmla="*/ 270 h 107"/>
                <a:gd name="T20" fmla="*/ 4710 w 110"/>
                <a:gd name="T21" fmla="*/ 246 h 107"/>
                <a:gd name="T22" fmla="*/ 4026 w 110"/>
                <a:gd name="T23" fmla="*/ 215 h 107"/>
                <a:gd name="T24" fmla="*/ 3288 w 110"/>
                <a:gd name="T25" fmla="*/ 183 h 107"/>
                <a:gd name="T26" fmla="*/ 2621 w 110"/>
                <a:gd name="T27" fmla="*/ 144 h 107"/>
                <a:gd name="T28" fmla="*/ 2095 w 110"/>
                <a:gd name="T29" fmla="*/ 112 h 107"/>
                <a:gd name="T30" fmla="*/ 1791 w 110"/>
                <a:gd name="T31" fmla="*/ 59 h 107"/>
                <a:gd name="T32" fmla="*/ 1791 w 110"/>
                <a:gd name="T33" fmla="*/ 0 h 107"/>
                <a:gd name="T34" fmla="*/ 0 w 110"/>
                <a:gd name="T35" fmla="*/ 0 h 107"/>
                <a:gd name="T36" fmla="*/ 302 w 110"/>
                <a:gd name="T37" fmla="*/ 75 h 107"/>
                <a:gd name="T38" fmla="*/ 596 w 110"/>
                <a:gd name="T39" fmla="*/ 133 h 107"/>
                <a:gd name="T40" fmla="*/ 1177 w 110"/>
                <a:gd name="T41" fmla="*/ 192 h 107"/>
                <a:gd name="T42" fmla="*/ 1901 w 110"/>
                <a:gd name="T43" fmla="*/ 244 h 107"/>
                <a:gd name="T44" fmla="*/ 2992 w 110"/>
                <a:gd name="T45" fmla="*/ 274 h 107"/>
                <a:gd name="T46" fmla="*/ 4026 w 110"/>
                <a:gd name="T47" fmla="*/ 313 h 107"/>
                <a:gd name="T48" fmla="*/ 5051 w 110"/>
                <a:gd name="T49" fmla="*/ 339 h 107"/>
                <a:gd name="T50" fmla="*/ 6096 w 110"/>
                <a:gd name="T51" fmla="*/ 365 h 107"/>
                <a:gd name="T52" fmla="*/ 6983 w 110"/>
                <a:gd name="T53" fmla="*/ 378 h 107"/>
                <a:gd name="T54" fmla="*/ 8145 w 110"/>
                <a:gd name="T55" fmla="*/ 405 h 107"/>
                <a:gd name="T56" fmla="*/ 8841 w 110"/>
                <a:gd name="T57" fmla="*/ 433 h 107"/>
                <a:gd name="T58" fmla="*/ 9660 w 110"/>
                <a:gd name="T59" fmla="*/ 452 h 107"/>
                <a:gd name="T60" fmla="*/ 10246 w 110"/>
                <a:gd name="T61" fmla="*/ 476 h 107"/>
                <a:gd name="T62" fmla="*/ 10735 w 110"/>
                <a:gd name="T63" fmla="*/ 508 h 107"/>
                <a:gd name="T64" fmla="*/ 10990 w 110"/>
                <a:gd name="T65" fmla="*/ 544 h 107"/>
                <a:gd name="T66" fmla="*/ 11091 w 110"/>
                <a:gd name="T67" fmla="*/ 576 h 107"/>
                <a:gd name="T68" fmla="*/ 12819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09" y="106"/>
                  </a:moveTo>
                  <a:lnTo>
                    <a:pt x="107" y="96"/>
                  </a:lnTo>
                  <a:lnTo>
                    <a:pt x="104" y="86"/>
                  </a:lnTo>
                  <a:lnTo>
                    <a:pt x="99" y="79"/>
                  </a:lnTo>
                  <a:lnTo>
                    <a:pt x="91" y="73"/>
                  </a:lnTo>
                  <a:lnTo>
                    <a:pt x="83" y="67"/>
                  </a:lnTo>
                  <a:lnTo>
                    <a:pt x="75" y="63"/>
                  </a:lnTo>
                  <a:lnTo>
                    <a:pt x="67" y="58"/>
                  </a:lnTo>
                  <a:lnTo>
                    <a:pt x="58" y="55"/>
                  </a:lnTo>
                  <a:lnTo>
                    <a:pt x="49" y="50"/>
                  </a:lnTo>
                  <a:lnTo>
                    <a:pt x="41" y="45"/>
                  </a:lnTo>
                  <a:lnTo>
                    <a:pt x="34" y="40"/>
                  </a:lnTo>
                  <a:lnTo>
                    <a:pt x="28" y="34"/>
                  </a:lnTo>
                  <a:lnTo>
                    <a:pt x="22" y="27"/>
                  </a:lnTo>
                  <a:lnTo>
                    <a:pt x="18" y="20"/>
                  </a:lnTo>
                  <a:lnTo>
                    <a:pt x="15" y="11"/>
                  </a:lnTo>
                  <a:lnTo>
                    <a:pt x="15" y="0"/>
                  </a:lnTo>
                  <a:lnTo>
                    <a:pt x="0" y="0"/>
                  </a:lnTo>
                  <a:lnTo>
                    <a:pt x="2" y="14"/>
                  </a:lnTo>
                  <a:lnTo>
                    <a:pt x="5" y="25"/>
                  </a:lnTo>
                  <a:lnTo>
                    <a:pt x="10" y="35"/>
                  </a:lnTo>
                  <a:lnTo>
                    <a:pt x="17" y="44"/>
                  </a:lnTo>
                  <a:lnTo>
                    <a:pt x="26" y="51"/>
                  </a:lnTo>
                  <a:lnTo>
                    <a:pt x="34" y="57"/>
                  </a:lnTo>
                  <a:lnTo>
                    <a:pt x="43" y="62"/>
                  </a:lnTo>
                  <a:lnTo>
                    <a:pt x="52" y="66"/>
                  </a:lnTo>
                  <a:lnTo>
                    <a:pt x="60" y="70"/>
                  </a:lnTo>
                  <a:lnTo>
                    <a:pt x="69" y="75"/>
                  </a:lnTo>
                  <a:lnTo>
                    <a:pt x="76" y="79"/>
                  </a:lnTo>
                  <a:lnTo>
                    <a:pt x="83" y="83"/>
                  </a:lnTo>
                  <a:lnTo>
                    <a:pt x="88" y="88"/>
                  </a:lnTo>
                  <a:lnTo>
                    <a:pt x="92" y="93"/>
                  </a:lnTo>
                  <a:lnTo>
                    <a:pt x="94" y="99"/>
                  </a:lnTo>
                  <a:lnTo>
                    <a:pt x="95" y="106"/>
                  </a:lnTo>
                  <a:lnTo>
                    <a:pt x="109"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4" name="Freeform 252">
              <a:extLst>
                <a:ext uri="{FF2B5EF4-FFF2-40B4-BE49-F238E27FC236}">
                  <a16:creationId xmlns:a16="http://schemas.microsoft.com/office/drawing/2014/main" id="{146076C9-4FD8-098D-01E9-02C335573F91}"/>
                </a:ext>
              </a:extLst>
            </p:cNvPr>
            <p:cNvSpPr>
              <a:spLocks/>
            </p:cNvSpPr>
            <p:nvPr/>
          </p:nvSpPr>
          <p:spPr bwMode="auto">
            <a:xfrm>
              <a:off x="3820" y="3286"/>
              <a:ext cx="138" cy="117"/>
            </a:xfrm>
            <a:custGeom>
              <a:avLst/>
              <a:gdLst>
                <a:gd name="T0" fmla="*/ 1791 w 110"/>
                <a:gd name="T1" fmla="*/ 569 h 108"/>
                <a:gd name="T2" fmla="*/ 1791 w 110"/>
                <a:gd name="T3" fmla="*/ 523 h 108"/>
                <a:gd name="T4" fmla="*/ 2095 w 110"/>
                <a:gd name="T5" fmla="*/ 490 h 108"/>
                <a:gd name="T6" fmla="*/ 2385 w 110"/>
                <a:gd name="T7" fmla="*/ 463 h 108"/>
                <a:gd name="T8" fmla="*/ 3209 w 110"/>
                <a:gd name="T9" fmla="*/ 433 h 108"/>
                <a:gd name="T10" fmla="*/ 4026 w 110"/>
                <a:gd name="T11" fmla="*/ 395 h 108"/>
                <a:gd name="T12" fmla="*/ 4710 w 110"/>
                <a:gd name="T13" fmla="*/ 372 h 108"/>
                <a:gd name="T14" fmla="*/ 5761 w 110"/>
                <a:gd name="T15" fmla="*/ 339 h 108"/>
                <a:gd name="T16" fmla="*/ 6821 w 110"/>
                <a:gd name="T17" fmla="*/ 313 h 108"/>
                <a:gd name="T18" fmla="*/ 7813 w 110"/>
                <a:gd name="T19" fmla="*/ 287 h 108"/>
                <a:gd name="T20" fmla="*/ 8841 w 110"/>
                <a:gd name="T21" fmla="*/ 264 h 108"/>
                <a:gd name="T22" fmla="*/ 9802 w 110"/>
                <a:gd name="T23" fmla="*/ 230 h 108"/>
                <a:gd name="T24" fmla="*/ 10625 w 110"/>
                <a:gd name="T25" fmla="*/ 194 h 108"/>
                <a:gd name="T26" fmla="*/ 11650 w 110"/>
                <a:gd name="T27" fmla="*/ 155 h 108"/>
                <a:gd name="T28" fmla="*/ 12119 w 110"/>
                <a:gd name="T29" fmla="*/ 113 h 108"/>
                <a:gd name="T30" fmla="*/ 12513 w 110"/>
                <a:gd name="T31" fmla="*/ 58 h 108"/>
                <a:gd name="T32" fmla="*/ 12819 w 110"/>
                <a:gd name="T33" fmla="*/ 0 h 108"/>
                <a:gd name="T34" fmla="*/ 11091 w 110"/>
                <a:gd name="T35" fmla="*/ 0 h 108"/>
                <a:gd name="T36" fmla="*/ 10990 w 110"/>
                <a:gd name="T37" fmla="*/ 46 h 108"/>
                <a:gd name="T38" fmla="*/ 10735 w 110"/>
                <a:gd name="T39" fmla="*/ 74 h 108"/>
                <a:gd name="T40" fmla="*/ 10246 w 110"/>
                <a:gd name="T41" fmla="*/ 110 h 108"/>
                <a:gd name="T42" fmla="*/ 9595 w 110"/>
                <a:gd name="T43" fmla="*/ 138 h 108"/>
                <a:gd name="T44" fmla="*/ 8841 w 110"/>
                <a:gd name="T45" fmla="*/ 177 h 108"/>
                <a:gd name="T46" fmla="*/ 7950 w 110"/>
                <a:gd name="T47" fmla="*/ 194 h 108"/>
                <a:gd name="T48" fmla="*/ 6983 w 110"/>
                <a:gd name="T49" fmla="*/ 225 h 108"/>
                <a:gd name="T50" fmla="*/ 6096 w 110"/>
                <a:gd name="T51" fmla="*/ 250 h 108"/>
                <a:gd name="T52" fmla="*/ 5051 w 110"/>
                <a:gd name="T53" fmla="*/ 286 h 108"/>
                <a:gd name="T54" fmla="*/ 4026 w 110"/>
                <a:gd name="T55" fmla="*/ 311 h 108"/>
                <a:gd name="T56" fmla="*/ 2992 w 110"/>
                <a:gd name="T57" fmla="*/ 339 h 108"/>
                <a:gd name="T58" fmla="*/ 2095 w 110"/>
                <a:gd name="T59" fmla="*/ 372 h 108"/>
                <a:gd name="T60" fmla="*/ 1331 w 110"/>
                <a:gd name="T61" fmla="*/ 412 h 108"/>
                <a:gd name="T62" fmla="*/ 596 w 110"/>
                <a:gd name="T63" fmla="*/ 464 h 108"/>
                <a:gd name="T64" fmla="*/ 302 w 110"/>
                <a:gd name="T65" fmla="*/ 517 h 108"/>
                <a:gd name="T66" fmla="*/ 0 w 110"/>
                <a:gd name="T67" fmla="*/ 569 h 108"/>
                <a:gd name="T68" fmla="*/ 1791 w 110"/>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8"/>
                <a:gd name="T107" fmla="*/ 110 w 110"/>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8">
                  <a:moveTo>
                    <a:pt x="15" y="107"/>
                  </a:moveTo>
                  <a:lnTo>
                    <a:pt x="15" y="98"/>
                  </a:lnTo>
                  <a:lnTo>
                    <a:pt x="18" y="91"/>
                  </a:lnTo>
                  <a:lnTo>
                    <a:pt x="21" y="85"/>
                  </a:lnTo>
                  <a:lnTo>
                    <a:pt x="27" y="80"/>
                  </a:lnTo>
                  <a:lnTo>
                    <a:pt x="34" y="73"/>
                  </a:lnTo>
                  <a:lnTo>
                    <a:pt x="41" y="69"/>
                  </a:lnTo>
                  <a:lnTo>
                    <a:pt x="49" y="63"/>
                  </a:lnTo>
                  <a:lnTo>
                    <a:pt x="58" y="58"/>
                  </a:lnTo>
                  <a:lnTo>
                    <a:pt x="67" y="53"/>
                  </a:lnTo>
                  <a:lnTo>
                    <a:pt x="76" y="48"/>
                  </a:lnTo>
                  <a:lnTo>
                    <a:pt x="84" y="42"/>
                  </a:lnTo>
                  <a:lnTo>
                    <a:pt x="91" y="36"/>
                  </a:lnTo>
                  <a:lnTo>
                    <a:pt x="99" y="29"/>
                  </a:lnTo>
                  <a:lnTo>
                    <a:pt x="104" y="21"/>
                  </a:lnTo>
                  <a:lnTo>
                    <a:pt x="107" y="11"/>
                  </a:lnTo>
                  <a:lnTo>
                    <a:pt x="109" y="0"/>
                  </a:lnTo>
                  <a:lnTo>
                    <a:pt x="95" y="0"/>
                  </a:lnTo>
                  <a:lnTo>
                    <a:pt x="94" y="8"/>
                  </a:lnTo>
                  <a:lnTo>
                    <a:pt x="92" y="14"/>
                  </a:lnTo>
                  <a:lnTo>
                    <a:pt x="88" y="20"/>
                  </a:lnTo>
                  <a:lnTo>
                    <a:pt x="82" y="26"/>
                  </a:lnTo>
                  <a:lnTo>
                    <a:pt x="76" y="32"/>
                  </a:lnTo>
                  <a:lnTo>
                    <a:pt x="68" y="36"/>
                  </a:lnTo>
                  <a:lnTo>
                    <a:pt x="60" y="41"/>
                  </a:lnTo>
                  <a:lnTo>
                    <a:pt x="52" y="47"/>
                  </a:lnTo>
                  <a:lnTo>
                    <a:pt x="43" y="52"/>
                  </a:lnTo>
                  <a:lnTo>
                    <a:pt x="34" y="57"/>
                  </a:lnTo>
                  <a:lnTo>
                    <a:pt x="26" y="63"/>
                  </a:lnTo>
                  <a:lnTo>
                    <a:pt x="18" y="69"/>
                  </a:lnTo>
                  <a:lnTo>
                    <a:pt x="11" y="77"/>
                  </a:lnTo>
                  <a:lnTo>
                    <a:pt x="5" y="86"/>
                  </a:lnTo>
                  <a:lnTo>
                    <a:pt x="2" y="96"/>
                  </a:lnTo>
                  <a:lnTo>
                    <a:pt x="0" y="107"/>
                  </a:lnTo>
                  <a:lnTo>
                    <a:pt x="15"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5" name="Freeform 253">
              <a:extLst>
                <a:ext uri="{FF2B5EF4-FFF2-40B4-BE49-F238E27FC236}">
                  <a16:creationId xmlns:a16="http://schemas.microsoft.com/office/drawing/2014/main" id="{24A8C7A9-3797-0528-0545-5CD532D6D780}"/>
                </a:ext>
              </a:extLst>
            </p:cNvPr>
            <p:cNvSpPr>
              <a:spLocks/>
            </p:cNvSpPr>
            <p:nvPr/>
          </p:nvSpPr>
          <p:spPr bwMode="auto">
            <a:xfrm>
              <a:off x="3820" y="3402"/>
              <a:ext cx="138" cy="115"/>
            </a:xfrm>
            <a:custGeom>
              <a:avLst/>
              <a:gdLst>
                <a:gd name="T0" fmla="*/ 12819 w 110"/>
                <a:gd name="T1" fmla="*/ 480 h 107"/>
                <a:gd name="T2" fmla="*/ 12513 w 110"/>
                <a:gd name="T3" fmla="*/ 434 h 107"/>
                <a:gd name="T4" fmla="*/ 12119 w 110"/>
                <a:gd name="T5" fmla="*/ 387 h 107"/>
                <a:gd name="T6" fmla="*/ 11650 w 110"/>
                <a:gd name="T7" fmla="*/ 353 h 107"/>
                <a:gd name="T8" fmla="*/ 10625 w 110"/>
                <a:gd name="T9" fmla="*/ 325 h 107"/>
                <a:gd name="T10" fmla="*/ 9802 w 110"/>
                <a:gd name="T11" fmla="*/ 290 h 107"/>
                <a:gd name="T12" fmla="*/ 8841 w 110"/>
                <a:gd name="T13" fmla="*/ 264 h 107"/>
                <a:gd name="T14" fmla="*/ 7813 w 110"/>
                <a:gd name="T15" fmla="*/ 244 h 107"/>
                <a:gd name="T16" fmla="*/ 6821 w 110"/>
                <a:gd name="T17" fmla="*/ 218 h 107"/>
                <a:gd name="T18" fmla="*/ 5761 w 110"/>
                <a:gd name="T19" fmla="*/ 196 h 107"/>
                <a:gd name="T20" fmla="*/ 4710 w 110"/>
                <a:gd name="T21" fmla="*/ 172 h 107"/>
                <a:gd name="T22" fmla="*/ 4026 w 110"/>
                <a:gd name="T23" fmla="*/ 149 h 107"/>
                <a:gd name="T24" fmla="*/ 3209 w 110"/>
                <a:gd name="T25" fmla="*/ 120 h 107"/>
                <a:gd name="T26" fmla="*/ 2385 w 110"/>
                <a:gd name="T27" fmla="*/ 97 h 107"/>
                <a:gd name="T28" fmla="*/ 2095 w 110"/>
                <a:gd name="T29" fmla="*/ 63 h 107"/>
                <a:gd name="T30" fmla="*/ 1791 w 110"/>
                <a:gd name="T31" fmla="*/ 38 h 107"/>
                <a:gd name="T32" fmla="*/ 1791 w 110"/>
                <a:gd name="T33" fmla="*/ 0 h 107"/>
                <a:gd name="T34" fmla="*/ 0 w 110"/>
                <a:gd name="T35" fmla="*/ 0 h 107"/>
                <a:gd name="T36" fmla="*/ 302 w 110"/>
                <a:gd name="T37" fmla="*/ 47 h 107"/>
                <a:gd name="T38" fmla="*/ 596 w 110"/>
                <a:gd name="T39" fmla="*/ 97 h 107"/>
                <a:gd name="T40" fmla="*/ 1331 w 110"/>
                <a:gd name="T41" fmla="*/ 129 h 107"/>
                <a:gd name="T42" fmla="*/ 2095 w 110"/>
                <a:gd name="T43" fmla="*/ 172 h 107"/>
                <a:gd name="T44" fmla="*/ 2992 w 110"/>
                <a:gd name="T45" fmla="*/ 196 h 107"/>
                <a:gd name="T46" fmla="*/ 4026 w 110"/>
                <a:gd name="T47" fmla="*/ 229 h 107"/>
                <a:gd name="T48" fmla="*/ 5051 w 110"/>
                <a:gd name="T49" fmla="*/ 247 h 107"/>
                <a:gd name="T50" fmla="*/ 6096 w 110"/>
                <a:gd name="T51" fmla="*/ 270 h 107"/>
                <a:gd name="T52" fmla="*/ 6983 w 110"/>
                <a:gd name="T53" fmla="*/ 302 h 107"/>
                <a:gd name="T54" fmla="*/ 7950 w 110"/>
                <a:gd name="T55" fmla="*/ 325 h 107"/>
                <a:gd name="T56" fmla="*/ 8841 w 110"/>
                <a:gd name="T57" fmla="*/ 349 h 107"/>
                <a:gd name="T58" fmla="*/ 9595 w 110"/>
                <a:gd name="T59" fmla="*/ 360 h 107"/>
                <a:gd name="T60" fmla="*/ 10246 w 110"/>
                <a:gd name="T61" fmla="*/ 387 h 107"/>
                <a:gd name="T62" fmla="*/ 10735 w 110"/>
                <a:gd name="T63" fmla="*/ 416 h 107"/>
                <a:gd name="T64" fmla="*/ 10990 w 110"/>
                <a:gd name="T65" fmla="*/ 443 h 107"/>
                <a:gd name="T66" fmla="*/ 11091 w 110"/>
                <a:gd name="T67" fmla="*/ 480 h 107"/>
                <a:gd name="T68" fmla="*/ 12819 w 110"/>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09" y="106"/>
                  </a:moveTo>
                  <a:lnTo>
                    <a:pt x="107" y="95"/>
                  </a:lnTo>
                  <a:lnTo>
                    <a:pt x="104" y="86"/>
                  </a:lnTo>
                  <a:lnTo>
                    <a:pt x="99" y="77"/>
                  </a:lnTo>
                  <a:lnTo>
                    <a:pt x="91" y="70"/>
                  </a:lnTo>
                  <a:lnTo>
                    <a:pt x="84" y="64"/>
                  </a:lnTo>
                  <a:lnTo>
                    <a:pt x="76" y="58"/>
                  </a:lnTo>
                  <a:lnTo>
                    <a:pt x="67" y="53"/>
                  </a:lnTo>
                  <a:lnTo>
                    <a:pt x="58" y="48"/>
                  </a:lnTo>
                  <a:lnTo>
                    <a:pt x="49" y="43"/>
                  </a:lnTo>
                  <a:lnTo>
                    <a:pt x="41" y="38"/>
                  </a:lnTo>
                  <a:lnTo>
                    <a:pt x="34" y="33"/>
                  </a:lnTo>
                  <a:lnTo>
                    <a:pt x="27" y="27"/>
                  </a:lnTo>
                  <a:lnTo>
                    <a:pt x="21" y="21"/>
                  </a:lnTo>
                  <a:lnTo>
                    <a:pt x="18" y="15"/>
                  </a:lnTo>
                  <a:lnTo>
                    <a:pt x="15" y="8"/>
                  </a:lnTo>
                  <a:lnTo>
                    <a:pt x="15" y="0"/>
                  </a:lnTo>
                  <a:lnTo>
                    <a:pt x="0" y="0"/>
                  </a:lnTo>
                  <a:lnTo>
                    <a:pt x="2" y="11"/>
                  </a:lnTo>
                  <a:lnTo>
                    <a:pt x="5" y="21"/>
                  </a:lnTo>
                  <a:lnTo>
                    <a:pt x="11" y="29"/>
                  </a:lnTo>
                  <a:lnTo>
                    <a:pt x="18" y="38"/>
                  </a:lnTo>
                  <a:lnTo>
                    <a:pt x="26" y="43"/>
                  </a:lnTo>
                  <a:lnTo>
                    <a:pt x="34" y="50"/>
                  </a:lnTo>
                  <a:lnTo>
                    <a:pt x="43" y="55"/>
                  </a:lnTo>
                  <a:lnTo>
                    <a:pt x="52" y="60"/>
                  </a:lnTo>
                  <a:lnTo>
                    <a:pt x="60" y="65"/>
                  </a:lnTo>
                  <a:lnTo>
                    <a:pt x="68" y="70"/>
                  </a:lnTo>
                  <a:lnTo>
                    <a:pt x="76" y="75"/>
                  </a:lnTo>
                  <a:lnTo>
                    <a:pt x="82" y="80"/>
                  </a:lnTo>
                  <a:lnTo>
                    <a:pt x="88" y="86"/>
                  </a:lnTo>
                  <a:lnTo>
                    <a:pt x="92" y="92"/>
                  </a:lnTo>
                  <a:lnTo>
                    <a:pt x="94" y="98"/>
                  </a:lnTo>
                  <a:lnTo>
                    <a:pt x="95" y="106"/>
                  </a:lnTo>
                  <a:lnTo>
                    <a:pt x="109"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6" name="Freeform 254">
              <a:extLst>
                <a:ext uri="{FF2B5EF4-FFF2-40B4-BE49-F238E27FC236}">
                  <a16:creationId xmlns:a16="http://schemas.microsoft.com/office/drawing/2014/main" id="{9EB43AA7-DDC7-422E-8C9C-740DD09D4AFB}"/>
                </a:ext>
              </a:extLst>
            </p:cNvPr>
            <p:cNvSpPr>
              <a:spLocks/>
            </p:cNvSpPr>
            <p:nvPr/>
          </p:nvSpPr>
          <p:spPr bwMode="auto">
            <a:xfrm>
              <a:off x="3820" y="3516"/>
              <a:ext cx="138" cy="103"/>
            </a:xfrm>
            <a:custGeom>
              <a:avLst/>
              <a:gdLst>
                <a:gd name="T0" fmla="*/ 1791 w 110"/>
                <a:gd name="T1" fmla="*/ 515 h 95"/>
                <a:gd name="T2" fmla="*/ 1901 w 110"/>
                <a:gd name="T3" fmla="*/ 466 h 95"/>
                <a:gd name="T4" fmla="*/ 2992 w 110"/>
                <a:gd name="T5" fmla="*/ 407 h 95"/>
                <a:gd name="T6" fmla="*/ 4710 w 110"/>
                <a:gd name="T7" fmla="*/ 372 h 95"/>
                <a:gd name="T8" fmla="*/ 6821 w 110"/>
                <a:gd name="T9" fmla="*/ 317 h 95"/>
                <a:gd name="T10" fmla="*/ 8841 w 110"/>
                <a:gd name="T11" fmla="*/ 266 h 95"/>
                <a:gd name="T12" fmla="*/ 10625 w 110"/>
                <a:gd name="T13" fmla="*/ 196 h 95"/>
                <a:gd name="T14" fmla="*/ 12119 w 110"/>
                <a:gd name="T15" fmla="*/ 112 h 95"/>
                <a:gd name="T16" fmla="*/ 12819 w 110"/>
                <a:gd name="T17" fmla="*/ 0 h 95"/>
                <a:gd name="T18" fmla="*/ 11091 w 110"/>
                <a:gd name="T19" fmla="*/ 0 h 95"/>
                <a:gd name="T20" fmla="*/ 10735 w 110"/>
                <a:gd name="T21" fmla="*/ 69 h 95"/>
                <a:gd name="T22" fmla="*/ 9595 w 110"/>
                <a:gd name="T23" fmla="*/ 142 h 95"/>
                <a:gd name="T24" fmla="*/ 7950 w 110"/>
                <a:gd name="T25" fmla="*/ 196 h 95"/>
                <a:gd name="T26" fmla="*/ 6096 w 110"/>
                <a:gd name="T27" fmla="*/ 250 h 95"/>
                <a:gd name="T28" fmla="*/ 4026 w 110"/>
                <a:gd name="T29" fmla="*/ 297 h 95"/>
                <a:gd name="T30" fmla="*/ 2247 w 110"/>
                <a:gd name="T31" fmla="*/ 349 h 95"/>
                <a:gd name="T32" fmla="*/ 748 w 110"/>
                <a:gd name="T33" fmla="*/ 417 h 95"/>
                <a:gd name="T34" fmla="*/ 0 w 110"/>
                <a:gd name="T35" fmla="*/ 515 h 95"/>
                <a:gd name="T36" fmla="*/ 1791 w 110"/>
                <a:gd name="T37" fmla="*/ 515 h 9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0"/>
                <a:gd name="T58" fmla="*/ 0 h 95"/>
                <a:gd name="T59" fmla="*/ 110 w 110"/>
                <a:gd name="T60" fmla="*/ 95 h 9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0" h="95">
                  <a:moveTo>
                    <a:pt x="15" y="94"/>
                  </a:moveTo>
                  <a:lnTo>
                    <a:pt x="17" y="85"/>
                  </a:lnTo>
                  <a:lnTo>
                    <a:pt x="26" y="75"/>
                  </a:lnTo>
                  <a:lnTo>
                    <a:pt x="41" y="67"/>
                  </a:lnTo>
                  <a:lnTo>
                    <a:pt x="58" y="58"/>
                  </a:lnTo>
                  <a:lnTo>
                    <a:pt x="76" y="48"/>
                  </a:lnTo>
                  <a:lnTo>
                    <a:pt x="91" y="36"/>
                  </a:lnTo>
                  <a:lnTo>
                    <a:pt x="104" y="20"/>
                  </a:lnTo>
                  <a:lnTo>
                    <a:pt x="109" y="0"/>
                  </a:lnTo>
                  <a:lnTo>
                    <a:pt x="95" y="0"/>
                  </a:lnTo>
                  <a:lnTo>
                    <a:pt x="92" y="13"/>
                  </a:lnTo>
                  <a:lnTo>
                    <a:pt x="82" y="26"/>
                  </a:lnTo>
                  <a:lnTo>
                    <a:pt x="68" y="36"/>
                  </a:lnTo>
                  <a:lnTo>
                    <a:pt x="52" y="46"/>
                  </a:lnTo>
                  <a:lnTo>
                    <a:pt x="34" y="55"/>
                  </a:lnTo>
                  <a:lnTo>
                    <a:pt x="19" y="65"/>
                  </a:lnTo>
                  <a:lnTo>
                    <a:pt x="6" y="77"/>
                  </a:lnTo>
                  <a:lnTo>
                    <a:pt x="0" y="94"/>
                  </a:lnTo>
                  <a:lnTo>
                    <a:pt x="15" y="9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7" name="Freeform 255">
              <a:extLst>
                <a:ext uri="{FF2B5EF4-FFF2-40B4-BE49-F238E27FC236}">
                  <a16:creationId xmlns:a16="http://schemas.microsoft.com/office/drawing/2014/main" id="{B0309A5D-0248-C43E-617E-E5FBB1C6251D}"/>
                </a:ext>
              </a:extLst>
            </p:cNvPr>
            <p:cNvSpPr>
              <a:spLocks/>
            </p:cNvSpPr>
            <p:nvPr/>
          </p:nvSpPr>
          <p:spPr bwMode="auto">
            <a:xfrm>
              <a:off x="3820" y="3618"/>
              <a:ext cx="19" cy="3"/>
            </a:xfrm>
            <a:custGeom>
              <a:avLst/>
              <a:gdLst>
                <a:gd name="T0" fmla="*/ 2080 w 15"/>
                <a:gd name="T1" fmla="*/ 2 h 3"/>
                <a:gd name="T2" fmla="*/ 2080 w 15"/>
                <a:gd name="T3" fmla="*/ 0 h 3"/>
                <a:gd name="T4" fmla="*/ 0 w 15"/>
                <a:gd name="T5" fmla="*/ 0 h 3"/>
                <a:gd name="T6" fmla="*/ 0 w 15"/>
                <a:gd name="T7" fmla="*/ 2 h 3"/>
                <a:gd name="T8" fmla="*/ 2080 w 15"/>
                <a:gd name="T9" fmla="*/ 2 h 3"/>
                <a:gd name="T10" fmla="*/ 0 60000 65536"/>
                <a:gd name="T11" fmla="*/ 0 60000 65536"/>
                <a:gd name="T12" fmla="*/ 0 60000 65536"/>
                <a:gd name="T13" fmla="*/ 0 60000 65536"/>
                <a:gd name="T14" fmla="*/ 0 60000 65536"/>
                <a:gd name="T15" fmla="*/ 0 w 15"/>
                <a:gd name="T16" fmla="*/ 0 h 3"/>
                <a:gd name="T17" fmla="*/ 15 w 15"/>
                <a:gd name="T18" fmla="*/ 3 h 3"/>
              </a:gdLst>
              <a:ahLst/>
              <a:cxnLst>
                <a:cxn ang="T10">
                  <a:pos x="T0" y="T1"/>
                </a:cxn>
                <a:cxn ang="T11">
                  <a:pos x="T2" y="T3"/>
                </a:cxn>
                <a:cxn ang="T12">
                  <a:pos x="T4" y="T5"/>
                </a:cxn>
                <a:cxn ang="T13">
                  <a:pos x="T6" y="T7"/>
                </a:cxn>
                <a:cxn ang="T14">
                  <a:pos x="T8" y="T9"/>
                </a:cxn>
              </a:cxnLst>
              <a:rect l="T15" t="T16" r="T17" b="T18"/>
              <a:pathLst>
                <a:path w="15" h="3">
                  <a:moveTo>
                    <a:pt x="14" y="2"/>
                  </a:moveTo>
                  <a:lnTo>
                    <a:pt x="14" y="0"/>
                  </a:lnTo>
                  <a:lnTo>
                    <a:pt x="0" y="0"/>
                  </a:lnTo>
                  <a:lnTo>
                    <a:pt x="0" y="2"/>
                  </a:lnTo>
                  <a:lnTo>
                    <a:pt x="14" y="2"/>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8" name="Freeform 256">
              <a:extLst>
                <a:ext uri="{FF2B5EF4-FFF2-40B4-BE49-F238E27FC236}">
                  <a16:creationId xmlns:a16="http://schemas.microsoft.com/office/drawing/2014/main" id="{DD540734-757D-B9EF-7D1C-D4FCD6574291}"/>
                </a:ext>
              </a:extLst>
            </p:cNvPr>
            <p:cNvSpPr>
              <a:spLocks/>
            </p:cNvSpPr>
            <p:nvPr/>
          </p:nvSpPr>
          <p:spPr bwMode="auto">
            <a:xfrm>
              <a:off x="3820" y="3620"/>
              <a:ext cx="138" cy="118"/>
            </a:xfrm>
            <a:custGeom>
              <a:avLst/>
              <a:gdLst>
                <a:gd name="T0" fmla="*/ 12819 w 110"/>
                <a:gd name="T1" fmla="*/ 568 h 109"/>
                <a:gd name="T2" fmla="*/ 12513 w 110"/>
                <a:gd name="T3" fmla="*/ 511 h 109"/>
                <a:gd name="T4" fmla="*/ 12119 w 110"/>
                <a:gd name="T5" fmla="*/ 464 h 109"/>
                <a:gd name="T6" fmla="*/ 11650 w 110"/>
                <a:gd name="T7" fmla="*/ 411 h 109"/>
                <a:gd name="T8" fmla="*/ 10625 w 110"/>
                <a:gd name="T9" fmla="*/ 371 h 109"/>
                <a:gd name="T10" fmla="*/ 9802 w 110"/>
                <a:gd name="T11" fmla="*/ 338 h 109"/>
                <a:gd name="T12" fmla="*/ 8841 w 110"/>
                <a:gd name="T13" fmla="*/ 304 h 109"/>
                <a:gd name="T14" fmla="*/ 7813 w 110"/>
                <a:gd name="T15" fmla="*/ 271 h 109"/>
                <a:gd name="T16" fmla="*/ 6943 w 110"/>
                <a:gd name="T17" fmla="*/ 240 h 109"/>
                <a:gd name="T18" fmla="*/ 5900 w 110"/>
                <a:gd name="T19" fmla="*/ 213 h 109"/>
                <a:gd name="T20" fmla="*/ 4710 w 110"/>
                <a:gd name="T21" fmla="*/ 182 h 109"/>
                <a:gd name="T22" fmla="*/ 4026 w 110"/>
                <a:gd name="T23" fmla="*/ 156 h 109"/>
                <a:gd name="T24" fmla="*/ 3209 w 110"/>
                <a:gd name="T25" fmla="*/ 123 h 109"/>
                <a:gd name="T26" fmla="*/ 2385 w 110"/>
                <a:gd name="T27" fmla="*/ 96 h 109"/>
                <a:gd name="T28" fmla="*/ 1901 w 110"/>
                <a:gd name="T29" fmla="*/ 60 h 109"/>
                <a:gd name="T30" fmla="*/ 1791 w 110"/>
                <a:gd name="T31" fmla="*/ 6 h 109"/>
                <a:gd name="T32" fmla="*/ 1791 w 110"/>
                <a:gd name="T33" fmla="*/ 0 h 109"/>
                <a:gd name="T34" fmla="*/ 0 w 110"/>
                <a:gd name="T35" fmla="*/ 0 h 109"/>
                <a:gd name="T36" fmla="*/ 302 w 110"/>
                <a:gd name="T37" fmla="*/ 51 h 109"/>
                <a:gd name="T38" fmla="*/ 748 w 110"/>
                <a:gd name="T39" fmla="*/ 104 h 109"/>
                <a:gd name="T40" fmla="*/ 1331 w 110"/>
                <a:gd name="T41" fmla="*/ 143 h 109"/>
                <a:gd name="T42" fmla="*/ 2095 w 110"/>
                <a:gd name="T43" fmla="*/ 182 h 109"/>
                <a:gd name="T44" fmla="*/ 2992 w 110"/>
                <a:gd name="T45" fmla="*/ 213 h 109"/>
                <a:gd name="T46" fmla="*/ 4026 w 110"/>
                <a:gd name="T47" fmla="*/ 246 h 109"/>
                <a:gd name="T48" fmla="*/ 4893 w 110"/>
                <a:gd name="T49" fmla="*/ 271 h 109"/>
                <a:gd name="T50" fmla="*/ 5909 w 110"/>
                <a:gd name="T51" fmla="*/ 304 h 109"/>
                <a:gd name="T52" fmla="*/ 6983 w 110"/>
                <a:gd name="T53" fmla="*/ 329 h 109"/>
                <a:gd name="T54" fmla="*/ 7950 w 110"/>
                <a:gd name="T55" fmla="*/ 356 h 109"/>
                <a:gd name="T56" fmla="*/ 8760 w 110"/>
                <a:gd name="T57" fmla="*/ 385 h 109"/>
                <a:gd name="T58" fmla="*/ 9595 w 110"/>
                <a:gd name="T59" fmla="*/ 417 h 109"/>
                <a:gd name="T60" fmla="*/ 10246 w 110"/>
                <a:gd name="T61" fmla="*/ 451 h 109"/>
                <a:gd name="T62" fmla="*/ 10625 w 110"/>
                <a:gd name="T63" fmla="*/ 485 h 109"/>
                <a:gd name="T64" fmla="*/ 10990 w 110"/>
                <a:gd name="T65" fmla="*/ 525 h 109"/>
                <a:gd name="T66" fmla="*/ 11091 w 110"/>
                <a:gd name="T67" fmla="*/ 568 h 109"/>
                <a:gd name="T68" fmla="*/ 12819 w 110"/>
                <a:gd name="T69" fmla="*/ 568 h 10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9"/>
                <a:gd name="T107" fmla="*/ 110 w 110"/>
                <a:gd name="T108" fmla="*/ 109 h 10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9">
                  <a:moveTo>
                    <a:pt x="109" y="108"/>
                  </a:moveTo>
                  <a:lnTo>
                    <a:pt x="107" y="97"/>
                  </a:lnTo>
                  <a:lnTo>
                    <a:pt x="104" y="87"/>
                  </a:lnTo>
                  <a:lnTo>
                    <a:pt x="99" y="78"/>
                  </a:lnTo>
                  <a:lnTo>
                    <a:pt x="91" y="70"/>
                  </a:lnTo>
                  <a:lnTo>
                    <a:pt x="84" y="63"/>
                  </a:lnTo>
                  <a:lnTo>
                    <a:pt x="76" y="57"/>
                  </a:lnTo>
                  <a:lnTo>
                    <a:pt x="67" y="51"/>
                  </a:lnTo>
                  <a:lnTo>
                    <a:pt x="59" y="45"/>
                  </a:lnTo>
                  <a:lnTo>
                    <a:pt x="50" y="40"/>
                  </a:lnTo>
                  <a:lnTo>
                    <a:pt x="41" y="34"/>
                  </a:lnTo>
                  <a:lnTo>
                    <a:pt x="34" y="30"/>
                  </a:lnTo>
                  <a:lnTo>
                    <a:pt x="27" y="24"/>
                  </a:lnTo>
                  <a:lnTo>
                    <a:pt x="21" y="18"/>
                  </a:lnTo>
                  <a:lnTo>
                    <a:pt x="17" y="12"/>
                  </a:lnTo>
                  <a:lnTo>
                    <a:pt x="15" y="6"/>
                  </a:lnTo>
                  <a:lnTo>
                    <a:pt x="15" y="0"/>
                  </a:lnTo>
                  <a:lnTo>
                    <a:pt x="0" y="0"/>
                  </a:lnTo>
                  <a:lnTo>
                    <a:pt x="2" y="10"/>
                  </a:lnTo>
                  <a:lnTo>
                    <a:pt x="6" y="19"/>
                  </a:lnTo>
                  <a:lnTo>
                    <a:pt x="11" y="27"/>
                  </a:lnTo>
                  <a:lnTo>
                    <a:pt x="18" y="34"/>
                  </a:lnTo>
                  <a:lnTo>
                    <a:pt x="26" y="40"/>
                  </a:lnTo>
                  <a:lnTo>
                    <a:pt x="34" y="46"/>
                  </a:lnTo>
                  <a:lnTo>
                    <a:pt x="42" y="51"/>
                  </a:lnTo>
                  <a:lnTo>
                    <a:pt x="51" y="57"/>
                  </a:lnTo>
                  <a:lnTo>
                    <a:pt x="60" y="62"/>
                  </a:lnTo>
                  <a:lnTo>
                    <a:pt x="68" y="67"/>
                  </a:lnTo>
                  <a:lnTo>
                    <a:pt x="75" y="73"/>
                  </a:lnTo>
                  <a:lnTo>
                    <a:pt x="82" y="79"/>
                  </a:lnTo>
                  <a:lnTo>
                    <a:pt x="88" y="86"/>
                  </a:lnTo>
                  <a:lnTo>
                    <a:pt x="91" y="92"/>
                  </a:lnTo>
                  <a:lnTo>
                    <a:pt x="94" y="100"/>
                  </a:lnTo>
                  <a:lnTo>
                    <a:pt x="95" y="108"/>
                  </a:lnTo>
                  <a:lnTo>
                    <a:pt x="109" y="10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9" name="Freeform 257">
              <a:extLst>
                <a:ext uri="{FF2B5EF4-FFF2-40B4-BE49-F238E27FC236}">
                  <a16:creationId xmlns:a16="http://schemas.microsoft.com/office/drawing/2014/main" id="{C4EC1C28-AE51-2638-4F14-FF3B6B829E60}"/>
                </a:ext>
              </a:extLst>
            </p:cNvPr>
            <p:cNvSpPr>
              <a:spLocks/>
            </p:cNvSpPr>
            <p:nvPr/>
          </p:nvSpPr>
          <p:spPr bwMode="auto">
            <a:xfrm>
              <a:off x="3820" y="3737"/>
              <a:ext cx="138" cy="115"/>
            </a:xfrm>
            <a:custGeom>
              <a:avLst/>
              <a:gdLst>
                <a:gd name="T0" fmla="*/ 1791 w 110"/>
                <a:gd name="T1" fmla="*/ 480 h 107"/>
                <a:gd name="T2" fmla="*/ 1791 w 110"/>
                <a:gd name="T3" fmla="*/ 443 h 107"/>
                <a:gd name="T4" fmla="*/ 1901 w 110"/>
                <a:gd name="T5" fmla="*/ 416 h 107"/>
                <a:gd name="T6" fmla="*/ 2385 w 110"/>
                <a:gd name="T7" fmla="*/ 387 h 107"/>
                <a:gd name="T8" fmla="*/ 3209 w 110"/>
                <a:gd name="T9" fmla="*/ 360 h 107"/>
                <a:gd name="T10" fmla="*/ 4026 w 110"/>
                <a:gd name="T11" fmla="*/ 349 h 107"/>
                <a:gd name="T12" fmla="*/ 4710 w 110"/>
                <a:gd name="T13" fmla="*/ 325 h 107"/>
                <a:gd name="T14" fmla="*/ 5761 w 110"/>
                <a:gd name="T15" fmla="*/ 302 h 107"/>
                <a:gd name="T16" fmla="*/ 6821 w 110"/>
                <a:gd name="T17" fmla="*/ 270 h 107"/>
                <a:gd name="T18" fmla="*/ 7813 w 110"/>
                <a:gd name="T19" fmla="*/ 247 h 107"/>
                <a:gd name="T20" fmla="*/ 8841 w 110"/>
                <a:gd name="T21" fmla="*/ 229 h 107"/>
                <a:gd name="T22" fmla="*/ 9802 w 110"/>
                <a:gd name="T23" fmla="*/ 196 h 107"/>
                <a:gd name="T24" fmla="*/ 10625 w 110"/>
                <a:gd name="T25" fmla="*/ 172 h 107"/>
                <a:gd name="T26" fmla="*/ 11650 w 110"/>
                <a:gd name="T27" fmla="*/ 129 h 107"/>
                <a:gd name="T28" fmla="*/ 12119 w 110"/>
                <a:gd name="T29" fmla="*/ 97 h 107"/>
                <a:gd name="T30" fmla="*/ 12513 w 110"/>
                <a:gd name="T31" fmla="*/ 47 h 107"/>
                <a:gd name="T32" fmla="*/ 12819 w 110"/>
                <a:gd name="T33" fmla="*/ 0 h 107"/>
                <a:gd name="T34" fmla="*/ 11091 w 110"/>
                <a:gd name="T35" fmla="*/ 0 h 107"/>
                <a:gd name="T36" fmla="*/ 10990 w 110"/>
                <a:gd name="T37" fmla="*/ 38 h 107"/>
                <a:gd name="T38" fmla="*/ 10625 w 110"/>
                <a:gd name="T39" fmla="*/ 63 h 107"/>
                <a:gd name="T40" fmla="*/ 10246 w 110"/>
                <a:gd name="T41" fmla="*/ 97 h 107"/>
                <a:gd name="T42" fmla="*/ 9595 w 110"/>
                <a:gd name="T43" fmla="*/ 120 h 107"/>
                <a:gd name="T44" fmla="*/ 8841 w 110"/>
                <a:gd name="T45" fmla="*/ 149 h 107"/>
                <a:gd name="T46" fmla="*/ 7950 w 110"/>
                <a:gd name="T47" fmla="*/ 172 h 107"/>
                <a:gd name="T48" fmla="*/ 6983 w 110"/>
                <a:gd name="T49" fmla="*/ 196 h 107"/>
                <a:gd name="T50" fmla="*/ 6096 w 110"/>
                <a:gd name="T51" fmla="*/ 218 h 107"/>
                <a:gd name="T52" fmla="*/ 5051 w 110"/>
                <a:gd name="T53" fmla="*/ 244 h 107"/>
                <a:gd name="T54" fmla="*/ 4026 w 110"/>
                <a:gd name="T55" fmla="*/ 264 h 107"/>
                <a:gd name="T56" fmla="*/ 2992 w 110"/>
                <a:gd name="T57" fmla="*/ 290 h 107"/>
                <a:gd name="T58" fmla="*/ 2095 w 110"/>
                <a:gd name="T59" fmla="*/ 325 h 107"/>
                <a:gd name="T60" fmla="*/ 1331 w 110"/>
                <a:gd name="T61" fmla="*/ 353 h 107"/>
                <a:gd name="T62" fmla="*/ 748 w 110"/>
                <a:gd name="T63" fmla="*/ 387 h 107"/>
                <a:gd name="T64" fmla="*/ 302 w 110"/>
                <a:gd name="T65" fmla="*/ 434 h 107"/>
                <a:gd name="T66" fmla="*/ 0 w 110"/>
                <a:gd name="T67" fmla="*/ 480 h 107"/>
                <a:gd name="T68" fmla="*/ 1791 w 110"/>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7" y="92"/>
                  </a:lnTo>
                  <a:lnTo>
                    <a:pt x="21" y="86"/>
                  </a:lnTo>
                  <a:lnTo>
                    <a:pt x="27" y="80"/>
                  </a:lnTo>
                  <a:lnTo>
                    <a:pt x="34" y="75"/>
                  </a:lnTo>
                  <a:lnTo>
                    <a:pt x="41" y="70"/>
                  </a:lnTo>
                  <a:lnTo>
                    <a:pt x="49" y="65"/>
                  </a:lnTo>
                  <a:lnTo>
                    <a:pt x="58" y="60"/>
                  </a:lnTo>
                  <a:lnTo>
                    <a:pt x="67" y="55"/>
                  </a:lnTo>
                  <a:lnTo>
                    <a:pt x="76" y="50"/>
                  </a:lnTo>
                  <a:lnTo>
                    <a:pt x="84" y="43"/>
                  </a:lnTo>
                  <a:lnTo>
                    <a:pt x="91" y="38"/>
                  </a:lnTo>
                  <a:lnTo>
                    <a:pt x="99" y="29"/>
                  </a:lnTo>
                  <a:lnTo>
                    <a:pt x="104" y="21"/>
                  </a:lnTo>
                  <a:lnTo>
                    <a:pt x="107" y="11"/>
                  </a:lnTo>
                  <a:lnTo>
                    <a:pt x="109" y="0"/>
                  </a:lnTo>
                  <a:lnTo>
                    <a:pt x="95" y="0"/>
                  </a:lnTo>
                  <a:lnTo>
                    <a:pt x="94" y="8"/>
                  </a:lnTo>
                  <a:lnTo>
                    <a:pt x="91" y="15"/>
                  </a:lnTo>
                  <a:lnTo>
                    <a:pt x="88" y="21"/>
                  </a:lnTo>
                  <a:lnTo>
                    <a:pt x="82" y="27"/>
                  </a:lnTo>
                  <a:lnTo>
                    <a:pt x="76" y="33"/>
                  </a:lnTo>
                  <a:lnTo>
                    <a:pt x="68" y="38"/>
                  </a:lnTo>
                  <a:lnTo>
                    <a:pt x="60" y="43"/>
                  </a:lnTo>
                  <a:lnTo>
                    <a:pt x="52" y="48"/>
                  </a:lnTo>
                  <a:lnTo>
                    <a:pt x="43" y="53"/>
                  </a:lnTo>
                  <a:lnTo>
                    <a:pt x="34" y="58"/>
                  </a:lnTo>
                  <a:lnTo>
                    <a:pt x="26" y="64"/>
                  </a:lnTo>
                  <a:lnTo>
                    <a:pt x="18" y="70"/>
                  </a:lnTo>
                  <a:lnTo>
                    <a:pt x="11" y="77"/>
                  </a:lnTo>
                  <a:lnTo>
                    <a:pt x="6" y="86"/>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0" name="Freeform 258">
              <a:extLst>
                <a:ext uri="{FF2B5EF4-FFF2-40B4-BE49-F238E27FC236}">
                  <a16:creationId xmlns:a16="http://schemas.microsoft.com/office/drawing/2014/main" id="{5E4B0F84-411F-910E-F400-FF25E034A867}"/>
                </a:ext>
              </a:extLst>
            </p:cNvPr>
            <p:cNvSpPr>
              <a:spLocks/>
            </p:cNvSpPr>
            <p:nvPr/>
          </p:nvSpPr>
          <p:spPr bwMode="auto">
            <a:xfrm>
              <a:off x="3852" y="1857"/>
              <a:ext cx="91" cy="113"/>
            </a:xfrm>
            <a:custGeom>
              <a:avLst/>
              <a:gdLst>
                <a:gd name="T0" fmla="*/ 3674 w 73"/>
                <a:gd name="T1" fmla="*/ 393 h 105"/>
                <a:gd name="T2" fmla="*/ 0 w 73"/>
                <a:gd name="T3" fmla="*/ 475 h 105"/>
                <a:gd name="T4" fmla="*/ 0 w 73"/>
                <a:gd name="T5" fmla="*/ 471 h 105"/>
                <a:gd name="T6" fmla="*/ 2418 w 73"/>
                <a:gd name="T7" fmla="*/ 244 h 105"/>
                <a:gd name="T8" fmla="*/ 2633 w 73"/>
                <a:gd name="T9" fmla="*/ 211 h 105"/>
                <a:gd name="T10" fmla="*/ 2917 w 73"/>
                <a:gd name="T11" fmla="*/ 182 h 105"/>
                <a:gd name="T12" fmla="*/ 3014 w 73"/>
                <a:gd name="T13" fmla="*/ 149 h 105"/>
                <a:gd name="T14" fmla="*/ 3282 w 73"/>
                <a:gd name="T15" fmla="*/ 119 h 105"/>
                <a:gd name="T16" fmla="*/ 3409 w 73"/>
                <a:gd name="T17" fmla="*/ 89 h 105"/>
                <a:gd name="T18" fmla="*/ 3636 w 73"/>
                <a:gd name="T19" fmla="*/ 58 h 105"/>
                <a:gd name="T20" fmla="*/ 3757 w 73"/>
                <a:gd name="T21" fmla="*/ 6 h 105"/>
                <a:gd name="T22" fmla="*/ 4002 w 73"/>
                <a:gd name="T23" fmla="*/ 0 h 105"/>
                <a:gd name="T24" fmla="*/ 4250 w 73"/>
                <a:gd name="T25" fmla="*/ 6 h 105"/>
                <a:gd name="T26" fmla="*/ 4273 w 73"/>
                <a:gd name="T27" fmla="*/ 58 h 105"/>
                <a:gd name="T28" fmla="*/ 4533 w 73"/>
                <a:gd name="T29" fmla="*/ 89 h 105"/>
                <a:gd name="T30" fmla="*/ 4580 w 73"/>
                <a:gd name="T31" fmla="*/ 119 h 105"/>
                <a:gd name="T32" fmla="*/ 4683 w 73"/>
                <a:gd name="T33" fmla="*/ 157 h 105"/>
                <a:gd name="T34" fmla="*/ 4958 w 73"/>
                <a:gd name="T35" fmla="*/ 182 h 105"/>
                <a:gd name="T36" fmla="*/ 4989 w 73"/>
                <a:gd name="T37" fmla="*/ 214 h 105"/>
                <a:gd name="T38" fmla="*/ 5100 w 73"/>
                <a:gd name="T39" fmla="*/ 244 h 105"/>
                <a:gd name="T40" fmla="*/ 7423 w 73"/>
                <a:gd name="T41" fmla="*/ 475 h 105"/>
                <a:gd name="T42" fmla="*/ 7278 w 73"/>
                <a:gd name="T43" fmla="*/ 489 h 105"/>
                <a:gd name="T44" fmla="*/ 3674 w 73"/>
                <a:gd name="T45" fmla="*/ 393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5"/>
                <a:gd name="T71" fmla="*/ 73 w 73"/>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5">
                  <a:moveTo>
                    <a:pt x="36" y="85"/>
                  </a:moveTo>
                  <a:lnTo>
                    <a:pt x="0" y="102"/>
                  </a:lnTo>
                  <a:lnTo>
                    <a:pt x="0" y="100"/>
                  </a:lnTo>
                  <a:lnTo>
                    <a:pt x="24" y="52"/>
                  </a:lnTo>
                  <a:lnTo>
                    <a:pt x="26" y="45"/>
                  </a:lnTo>
                  <a:lnTo>
                    <a:pt x="28" y="39"/>
                  </a:lnTo>
                  <a:lnTo>
                    <a:pt x="30" y="32"/>
                  </a:lnTo>
                  <a:lnTo>
                    <a:pt x="32" y="26"/>
                  </a:lnTo>
                  <a:lnTo>
                    <a:pt x="33" y="19"/>
                  </a:lnTo>
                  <a:lnTo>
                    <a:pt x="35" y="13"/>
                  </a:lnTo>
                  <a:lnTo>
                    <a:pt x="37" y="6"/>
                  </a:lnTo>
                  <a:lnTo>
                    <a:pt x="39" y="0"/>
                  </a:lnTo>
                  <a:lnTo>
                    <a:pt x="41" y="6"/>
                  </a:lnTo>
                  <a:lnTo>
                    <a:pt x="42" y="13"/>
                  </a:lnTo>
                  <a:lnTo>
                    <a:pt x="44" y="19"/>
                  </a:lnTo>
                  <a:lnTo>
                    <a:pt x="45" y="26"/>
                  </a:lnTo>
                  <a:lnTo>
                    <a:pt x="46" y="33"/>
                  </a:lnTo>
                  <a:lnTo>
                    <a:pt x="48" y="39"/>
                  </a:lnTo>
                  <a:lnTo>
                    <a:pt x="49" y="46"/>
                  </a:lnTo>
                  <a:lnTo>
                    <a:pt x="50" y="52"/>
                  </a:lnTo>
                  <a:lnTo>
                    <a:pt x="72" y="102"/>
                  </a:lnTo>
                  <a:lnTo>
                    <a:pt x="71" y="104"/>
                  </a:lnTo>
                  <a:lnTo>
                    <a:pt x="36" y="8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1" name="Freeform 259">
              <a:extLst>
                <a:ext uri="{FF2B5EF4-FFF2-40B4-BE49-F238E27FC236}">
                  <a16:creationId xmlns:a16="http://schemas.microsoft.com/office/drawing/2014/main" id="{4896EC72-F456-4B65-C118-7CDD80322CC0}"/>
                </a:ext>
              </a:extLst>
            </p:cNvPr>
            <p:cNvSpPr>
              <a:spLocks/>
            </p:cNvSpPr>
            <p:nvPr/>
          </p:nvSpPr>
          <p:spPr bwMode="auto">
            <a:xfrm>
              <a:off x="3953" y="2811"/>
              <a:ext cx="91" cy="157"/>
            </a:xfrm>
            <a:custGeom>
              <a:avLst/>
              <a:gdLst>
                <a:gd name="T0" fmla="*/ 1329 w 73"/>
                <a:gd name="T1" fmla="*/ 671 h 146"/>
                <a:gd name="T2" fmla="*/ 1359 w 73"/>
                <a:gd name="T3" fmla="*/ 633 h 146"/>
                <a:gd name="T4" fmla="*/ 1657 w 73"/>
                <a:gd name="T5" fmla="*/ 610 h 146"/>
                <a:gd name="T6" fmla="*/ 1770 w 73"/>
                <a:gd name="T7" fmla="*/ 589 h 146"/>
                <a:gd name="T8" fmla="*/ 2206 w 73"/>
                <a:gd name="T9" fmla="*/ 579 h 146"/>
                <a:gd name="T10" fmla="*/ 2750 w 73"/>
                <a:gd name="T11" fmla="*/ 554 h 146"/>
                <a:gd name="T12" fmla="*/ 3282 w 73"/>
                <a:gd name="T13" fmla="*/ 539 h 146"/>
                <a:gd name="T14" fmla="*/ 3896 w 73"/>
                <a:gd name="T15" fmla="*/ 518 h 146"/>
                <a:gd name="T16" fmla="*/ 4533 w 73"/>
                <a:gd name="T17" fmla="*/ 500 h 146"/>
                <a:gd name="T18" fmla="*/ 5298 w 73"/>
                <a:gd name="T19" fmla="*/ 474 h 146"/>
                <a:gd name="T20" fmla="*/ 5838 w 73"/>
                <a:gd name="T21" fmla="*/ 439 h 146"/>
                <a:gd name="T22" fmla="*/ 6358 w 73"/>
                <a:gd name="T23" fmla="*/ 388 h 146"/>
                <a:gd name="T24" fmla="*/ 6723 w 73"/>
                <a:gd name="T25" fmla="*/ 340 h 146"/>
                <a:gd name="T26" fmla="*/ 7044 w 73"/>
                <a:gd name="T27" fmla="*/ 281 h 146"/>
                <a:gd name="T28" fmla="*/ 7278 w 73"/>
                <a:gd name="T29" fmla="*/ 197 h 146"/>
                <a:gd name="T30" fmla="*/ 7423 w 73"/>
                <a:gd name="T31" fmla="*/ 105 h 146"/>
                <a:gd name="T32" fmla="*/ 7117 w 73"/>
                <a:gd name="T33" fmla="*/ 0 h 146"/>
                <a:gd name="T34" fmla="*/ 5838 w 73"/>
                <a:gd name="T35" fmla="*/ 1 h 146"/>
                <a:gd name="T36" fmla="*/ 5838 w 73"/>
                <a:gd name="T37" fmla="*/ 105 h 146"/>
                <a:gd name="T38" fmla="*/ 5955 w 73"/>
                <a:gd name="T39" fmla="*/ 195 h 146"/>
                <a:gd name="T40" fmla="*/ 5709 w 73"/>
                <a:gd name="T41" fmla="*/ 265 h 146"/>
                <a:gd name="T42" fmla="*/ 5393 w 73"/>
                <a:gd name="T43" fmla="*/ 325 h 146"/>
                <a:gd name="T44" fmla="*/ 4989 w 73"/>
                <a:gd name="T45" fmla="*/ 366 h 146"/>
                <a:gd name="T46" fmla="*/ 4580 w 73"/>
                <a:gd name="T47" fmla="*/ 403 h 146"/>
                <a:gd name="T48" fmla="*/ 4091 w 73"/>
                <a:gd name="T49" fmla="*/ 432 h 146"/>
                <a:gd name="T50" fmla="*/ 3636 w 73"/>
                <a:gd name="T51" fmla="*/ 448 h 146"/>
                <a:gd name="T52" fmla="*/ 3014 w 73"/>
                <a:gd name="T53" fmla="*/ 474 h 146"/>
                <a:gd name="T54" fmla="*/ 2418 w 73"/>
                <a:gd name="T55" fmla="*/ 490 h 146"/>
                <a:gd name="T56" fmla="*/ 1940 w 73"/>
                <a:gd name="T57" fmla="*/ 508 h 146"/>
                <a:gd name="T58" fmla="*/ 1329 w 73"/>
                <a:gd name="T59" fmla="*/ 527 h 146"/>
                <a:gd name="T60" fmla="*/ 803 w 73"/>
                <a:gd name="T61" fmla="*/ 551 h 146"/>
                <a:gd name="T62" fmla="*/ 290 w 73"/>
                <a:gd name="T63" fmla="*/ 587 h 146"/>
                <a:gd name="T64" fmla="*/ 1 w 73"/>
                <a:gd name="T65" fmla="*/ 624 h 146"/>
                <a:gd name="T66" fmla="*/ 0 w 73"/>
                <a:gd name="T67" fmla="*/ 671 h 146"/>
                <a:gd name="T68" fmla="*/ 1329 w 73"/>
                <a:gd name="T69" fmla="*/ 671 h 14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3"/>
                <a:gd name="T106" fmla="*/ 0 h 146"/>
                <a:gd name="T107" fmla="*/ 73 w 73"/>
                <a:gd name="T108" fmla="*/ 146 h 14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3" h="146">
                  <a:moveTo>
                    <a:pt x="13" y="145"/>
                  </a:moveTo>
                  <a:lnTo>
                    <a:pt x="14" y="138"/>
                  </a:lnTo>
                  <a:lnTo>
                    <a:pt x="16" y="132"/>
                  </a:lnTo>
                  <a:lnTo>
                    <a:pt x="18" y="128"/>
                  </a:lnTo>
                  <a:lnTo>
                    <a:pt x="22" y="125"/>
                  </a:lnTo>
                  <a:lnTo>
                    <a:pt x="27" y="121"/>
                  </a:lnTo>
                  <a:lnTo>
                    <a:pt x="32" y="117"/>
                  </a:lnTo>
                  <a:lnTo>
                    <a:pt x="38" y="113"/>
                  </a:lnTo>
                  <a:lnTo>
                    <a:pt x="44" y="108"/>
                  </a:lnTo>
                  <a:lnTo>
                    <a:pt x="51" y="103"/>
                  </a:lnTo>
                  <a:lnTo>
                    <a:pt x="57" y="95"/>
                  </a:lnTo>
                  <a:lnTo>
                    <a:pt x="62" y="85"/>
                  </a:lnTo>
                  <a:lnTo>
                    <a:pt x="66" y="74"/>
                  </a:lnTo>
                  <a:lnTo>
                    <a:pt x="69" y="60"/>
                  </a:lnTo>
                  <a:lnTo>
                    <a:pt x="71" y="43"/>
                  </a:lnTo>
                  <a:lnTo>
                    <a:pt x="72" y="23"/>
                  </a:lnTo>
                  <a:lnTo>
                    <a:pt x="70" y="0"/>
                  </a:lnTo>
                  <a:lnTo>
                    <a:pt x="57" y="1"/>
                  </a:lnTo>
                  <a:lnTo>
                    <a:pt x="57" y="23"/>
                  </a:lnTo>
                  <a:lnTo>
                    <a:pt x="58" y="42"/>
                  </a:lnTo>
                  <a:lnTo>
                    <a:pt x="56" y="58"/>
                  </a:lnTo>
                  <a:lnTo>
                    <a:pt x="53" y="70"/>
                  </a:lnTo>
                  <a:lnTo>
                    <a:pt x="49" y="80"/>
                  </a:lnTo>
                  <a:lnTo>
                    <a:pt x="45" y="87"/>
                  </a:lnTo>
                  <a:lnTo>
                    <a:pt x="40" y="93"/>
                  </a:lnTo>
                  <a:lnTo>
                    <a:pt x="35" y="98"/>
                  </a:lnTo>
                  <a:lnTo>
                    <a:pt x="30" y="103"/>
                  </a:lnTo>
                  <a:lnTo>
                    <a:pt x="24" y="106"/>
                  </a:lnTo>
                  <a:lnTo>
                    <a:pt x="19" y="110"/>
                  </a:lnTo>
                  <a:lnTo>
                    <a:pt x="13" y="114"/>
                  </a:lnTo>
                  <a:lnTo>
                    <a:pt x="8" y="120"/>
                  </a:lnTo>
                  <a:lnTo>
                    <a:pt x="3" y="127"/>
                  </a:lnTo>
                  <a:lnTo>
                    <a:pt x="1" y="135"/>
                  </a:lnTo>
                  <a:lnTo>
                    <a:pt x="0" y="145"/>
                  </a:lnTo>
                  <a:lnTo>
                    <a:pt x="13" y="14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2" name="Freeform 260">
              <a:extLst>
                <a:ext uri="{FF2B5EF4-FFF2-40B4-BE49-F238E27FC236}">
                  <a16:creationId xmlns:a16="http://schemas.microsoft.com/office/drawing/2014/main" id="{5F721185-FF17-9978-EC1B-AE8208BD7C90}"/>
                </a:ext>
              </a:extLst>
            </p:cNvPr>
            <p:cNvSpPr>
              <a:spLocks/>
            </p:cNvSpPr>
            <p:nvPr/>
          </p:nvSpPr>
          <p:spPr bwMode="auto">
            <a:xfrm>
              <a:off x="3953" y="2967"/>
              <a:ext cx="137" cy="121"/>
            </a:xfrm>
            <a:custGeom>
              <a:avLst/>
              <a:gdLst>
                <a:gd name="T0" fmla="*/ 13137 w 109"/>
                <a:gd name="T1" fmla="*/ 557 h 112"/>
                <a:gd name="T2" fmla="*/ 12867 w 109"/>
                <a:gd name="T3" fmla="*/ 508 h 112"/>
                <a:gd name="T4" fmla="*/ 12503 w 109"/>
                <a:gd name="T5" fmla="*/ 466 h 112"/>
                <a:gd name="T6" fmla="*/ 11758 w 109"/>
                <a:gd name="T7" fmla="*/ 420 h 112"/>
                <a:gd name="T8" fmla="*/ 10930 w 109"/>
                <a:gd name="T9" fmla="*/ 379 h 112"/>
                <a:gd name="T10" fmla="*/ 9948 w 109"/>
                <a:gd name="T11" fmla="*/ 351 h 112"/>
                <a:gd name="T12" fmla="*/ 9083 w 109"/>
                <a:gd name="T13" fmla="*/ 317 h 112"/>
                <a:gd name="T14" fmla="*/ 7915 w 109"/>
                <a:gd name="T15" fmla="*/ 293 h 112"/>
                <a:gd name="T16" fmla="*/ 6919 w 109"/>
                <a:gd name="T17" fmla="*/ 264 h 112"/>
                <a:gd name="T18" fmla="*/ 5750 w 109"/>
                <a:gd name="T19" fmla="*/ 233 h 112"/>
                <a:gd name="T20" fmla="*/ 4784 w 109"/>
                <a:gd name="T21" fmla="*/ 209 h 112"/>
                <a:gd name="T22" fmla="*/ 3818 w 109"/>
                <a:gd name="T23" fmla="*/ 179 h 112"/>
                <a:gd name="T24" fmla="*/ 3028 w 109"/>
                <a:gd name="T25" fmla="*/ 145 h 112"/>
                <a:gd name="T26" fmla="*/ 2409 w 109"/>
                <a:gd name="T27" fmla="*/ 115 h 112"/>
                <a:gd name="T28" fmla="*/ 1917 w 109"/>
                <a:gd name="T29" fmla="*/ 84 h 112"/>
                <a:gd name="T30" fmla="*/ 1755 w 109"/>
                <a:gd name="T31" fmla="*/ 45 h 112"/>
                <a:gd name="T32" fmla="*/ 1525 w 109"/>
                <a:gd name="T33" fmla="*/ 0 h 112"/>
                <a:gd name="T34" fmla="*/ 0 w 109"/>
                <a:gd name="T35" fmla="*/ 0 h 112"/>
                <a:gd name="T36" fmla="*/ 1 w 109"/>
                <a:gd name="T37" fmla="*/ 53 h 112"/>
                <a:gd name="T38" fmla="*/ 387 w 109"/>
                <a:gd name="T39" fmla="*/ 113 h 112"/>
                <a:gd name="T40" fmla="*/ 1111 w 109"/>
                <a:gd name="T41" fmla="*/ 157 h 112"/>
                <a:gd name="T42" fmla="*/ 1917 w 109"/>
                <a:gd name="T43" fmla="*/ 193 h 112"/>
                <a:gd name="T44" fmla="*/ 2773 w 109"/>
                <a:gd name="T45" fmla="*/ 232 h 112"/>
                <a:gd name="T46" fmla="*/ 3806 w 109"/>
                <a:gd name="T47" fmla="*/ 264 h 112"/>
                <a:gd name="T48" fmla="*/ 4799 w 109"/>
                <a:gd name="T49" fmla="*/ 294 h 112"/>
                <a:gd name="T50" fmla="*/ 6013 w 109"/>
                <a:gd name="T51" fmla="*/ 318 h 112"/>
                <a:gd name="T52" fmla="*/ 7121 w 109"/>
                <a:gd name="T53" fmla="*/ 351 h 112"/>
                <a:gd name="T54" fmla="*/ 8145 w 109"/>
                <a:gd name="T55" fmla="*/ 373 h 112"/>
                <a:gd name="T56" fmla="*/ 9083 w 109"/>
                <a:gd name="T57" fmla="*/ 402 h 112"/>
                <a:gd name="T58" fmla="*/ 9840 w 109"/>
                <a:gd name="T59" fmla="*/ 431 h 112"/>
                <a:gd name="T60" fmla="*/ 10452 w 109"/>
                <a:gd name="T61" fmla="*/ 466 h 112"/>
                <a:gd name="T62" fmla="*/ 11025 w 109"/>
                <a:gd name="T63" fmla="*/ 490 h 112"/>
                <a:gd name="T64" fmla="*/ 11372 w 109"/>
                <a:gd name="T65" fmla="*/ 516 h 112"/>
                <a:gd name="T66" fmla="*/ 11416 w 109"/>
                <a:gd name="T67" fmla="*/ 557 h 112"/>
                <a:gd name="T68" fmla="*/ 13137 w 109"/>
                <a:gd name="T69" fmla="*/ 557 h 11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12"/>
                <a:gd name="T107" fmla="*/ 109 w 109"/>
                <a:gd name="T108" fmla="*/ 112 h 11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12">
                  <a:moveTo>
                    <a:pt x="108" y="111"/>
                  </a:moveTo>
                  <a:lnTo>
                    <a:pt x="106" y="100"/>
                  </a:lnTo>
                  <a:lnTo>
                    <a:pt x="103" y="91"/>
                  </a:lnTo>
                  <a:lnTo>
                    <a:pt x="97" y="83"/>
                  </a:lnTo>
                  <a:lnTo>
                    <a:pt x="90" y="75"/>
                  </a:lnTo>
                  <a:lnTo>
                    <a:pt x="82" y="69"/>
                  </a:lnTo>
                  <a:lnTo>
                    <a:pt x="75" y="62"/>
                  </a:lnTo>
                  <a:lnTo>
                    <a:pt x="65" y="57"/>
                  </a:lnTo>
                  <a:lnTo>
                    <a:pt x="57" y="52"/>
                  </a:lnTo>
                  <a:lnTo>
                    <a:pt x="48" y="46"/>
                  </a:lnTo>
                  <a:lnTo>
                    <a:pt x="39" y="41"/>
                  </a:lnTo>
                  <a:lnTo>
                    <a:pt x="32" y="35"/>
                  </a:lnTo>
                  <a:lnTo>
                    <a:pt x="25" y="29"/>
                  </a:lnTo>
                  <a:lnTo>
                    <a:pt x="20" y="23"/>
                  </a:lnTo>
                  <a:lnTo>
                    <a:pt x="16" y="17"/>
                  </a:lnTo>
                  <a:lnTo>
                    <a:pt x="14" y="9"/>
                  </a:lnTo>
                  <a:lnTo>
                    <a:pt x="13" y="0"/>
                  </a:lnTo>
                  <a:lnTo>
                    <a:pt x="0" y="0"/>
                  </a:lnTo>
                  <a:lnTo>
                    <a:pt x="1" y="11"/>
                  </a:lnTo>
                  <a:lnTo>
                    <a:pt x="3" y="22"/>
                  </a:lnTo>
                  <a:lnTo>
                    <a:pt x="9" y="31"/>
                  </a:lnTo>
                  <a:lnTo>
                    <a:pt x="16" y="38"/>
                  </a:lnTo>
                  <a:lnTo>
                    <a:pt x="23" y="45"/>
                  </a:lnTo>
                  <a:lnTo>
                    <a:pt x="31" y="52"/>
                  </a:lnTo>
                  <a:lnTo>
                    <a:pt x="40" y="58"/>
                  </a:lnTo>
                  <a:lnTo>
                    <a:pt x="49" y="63"/>
                  </a:lnTo>
                  <a:lnTo>
                    <a:pt x="58" y="69"/>
                  </a:lnTo>
                  <a:lnTo>
                    <a:pt x="67" y="74"/>
                  </a:lnTo>
                  <a:lnTo>
                    <a:pt x="75" y="79"/>
                  </a:lnTo>
                  <a:lnTo>
                    <a:pt x="81" y="84"/>
                  </a:lnTo>
                  <a:lnTo>
                    <a:pt x="86" y="91"/>
                  </a:lnTo>
                  <a:lnTo>
                    <a:pt x="91" y="97"/>
                  </a:lnTo>
                  <a:lnTo>
                    <a:pt x="93" y="103"/>
                  </a:lnTo>
                  <a:lnTo>
                    <a:pt x="94" y="111"/>
                  </a:lnTo>
                  <a:lnTo>
                    <a:pt x="108" y="11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3" name="Freeform 261">
              <a:extLst>
                <a:ext uri="{FF2B5EF4-FFF2-40B4-BE49-F238E27FC236}">
                  <a16:creationId xmlns:a16="http://schemas.microsoft.com/office/drawing/2014/main" id="{C8230259-CB8E-6C21-ADD9-C96480343661}"/>
                </a:ext>
              </a:extLst>
            </p:cNvPr>
            <p:cNvSpPr>
              <a:spLocks/>
            </p:cNvSpPr>
            <p:nvPr/>
          </p:nvSpPr>
          <p:spPr bwMode="auto">
            <a:xfrm>
              <a:off x="3953" y="3087"/>
              <a:ext cx="137" cy="115"/>
            </a:xfrm>
            <a:custGeom>
              <a:avLst/>
              <a:gdLst>
                <a:gd name="T0" fmla="*/ 1755 w 109"/>
                <a:gd name="T1" fmla="*/ 584 h 106"/>
                <a:gd name="T2" fmla="*/ 1833 w 109"/>
                <a:gd name="T3" fmla="*/ 538 h 106"/>
                <a:gd name="T4" fmla="*/ 2007 w 109"/>
                <a:gd name="T5" fmla="*/ 512 h 106"/>
                <a:gd name="T6" fmla="*/ 2523 w 109"/>
                <a:gd name="T7" fmla="*/ 475 h 106"/>
                <a:gd name="T8" fmla="*/ 3283 w 109"/>
                <a:gd name="T9" fmla="*/ 442 h 106"/>
                <a:gd name="T10" fmla="*/ 3818 w 109"/>
                <a:gd name="T11" fmla="*/ 410 h 106"/>
                <a:gd name="T12" fmla="*/ 5010 w 109"/>
                <a:gd name="T13" fmla="*/ 378 h 106"/>
                <a:gd name="T14" fmla="*/ 6013 w 109"/>
                <a:gd name="T15" fmla="*/ 348 h 106"/>
                <a:gd name="T16" fmla="*/ 6919 w 109"/>
                <a:gd name="T17" fmla="*/ 338 h 106"/>
                <a:gd name="T18" fmla="*/ 8044 w 109"/>
                <a:gd name="T19" fmla="*/ 312 h 106"/>
                <a:gd name="T20" fmla="*/ 9083 w 109"/>
                <a:gd name="T21" fmla="*/ 273 h 106"/>
                <a:gd name="T22" fmla="*/ 10110 w 109"/>
                <a:gd name="T23" fmla="*/ 244 h 106"/>
                <a:gd name="T24" fmla="*/ 11025 w 109"/>
                <a:gd name="T25" fmla="*/ 207 h 106"/>
                <a:gd name="T26" fmla="*/ 11758 w 109"/>
                <a:gd name="T27" fmla="*/ 168 h 106"/>
                <a:gd name="T28" fmla="*/ 12503 w 109"/>
                <a:gd name="T29" fmla="*/ 116 h 106"/>
                <a:gd name="T30" fmla="*/ 12867 w 109"/>
                <a:gd name="T31" fmla="*/ 59 h 106"/>
                <a:gd name="T32" fmla="*/ 13137 w 109"/>
                <a:gd name="T33" fmla="*/ 0 h 106"/>
                <a:gd name="T34" fmla="*/ 11416 w 109"/>
                <a:gd name="T35" fmla="*/ 0 h 106"/>
                <a:gd name="T36" fmla="*/ 11372 w 109"/>
                <a:gd name="T37" fmla="*/ 46 h 106"/>
                <a:gd name="T38" fmla="*/ 10930 w 109"/>
                <a:gd name="T39" fmla="*/ 81 h 106"/>
                <a:gd name="T40" fmla="*/ 10529 w 109"/>
                <a:gd name="T41" fmla="*/ 122 h 106"/>
                <a:gd name="T42" fmla="*/ 9948 w 109"/>
                <a:gd name="T43" fmla="*/ 149 h 106"/>
                <a:gd name="T44" fmla="*/ 9083 w 109"/>
                <a:gd name="T45" fmla="*/ 182 h 106"/>
                <a:gd name="T46" fmla="*/ 8145 w 109"/>
                <a:gd name="T47" fmla="*/ 208 h 106"/>
                <a:gd name="T48" fmla="*/ 7199 w 109"/>
                <a:gd name="T49" fmla="*/ 244 h 106"/>
                <a:gd name="T50" fmla="*/ 6215 w 109"/>
                <a:gd name="T51" fmla="*/ 271 h 106"/>
                <a:gd name="T52" fmla="*/ 5156 w 109"/>
                <a:gd name="T53" fmla="*/ 294 h 106"/>
                <a:gd name="T54" fmla="*/ 3986 w 109"/>
                <a:gd name="T55" fmla="*/ 319 h 106"/>
                <a:gd name="T56" fmla="*/ 3028 w 109"/>
                <a:gd name="T57" fmla="*/ 348 h 106"/>
                <a:gd name="T58" fmla="*/ 2206 w 109"/>
                <a:gd name="T59" fmla="*/ 378 h 106"/>
                <a:gd name="T60" fmla="*/ 1213 w 109"/>
                <a:gd name="T61" fmla="*/ 432 h 106"/>
                <a:gd name="T62" fmla="*/ 611 w 109"/>
                <a:gd name="T63" fmla="*/ 472 h 106"/>
                <a:gd name="T64" fmla="*/ 308 w 109"/>
                <a:gd name="T65" fmla="*/ 524 h 106"/>
                <a:gd name="T66" fmla="*/ 0 w 109"/>
                <a:gd name="T67" fmla="*/ 584 h 106"/>
                <a:gd name="T68" fmla="*/ 1755 w 109"/>
                <a:gd name="T69" fmla="*/ 584 h 10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6"/>
                <a:gd name="T107" fmla="*/ 109 w 109"/>
                <a:gd name="T108" fmla="*/ 106 h 10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6">
                  <a:moveTo>
                    <a:pt x="14" y="105"/>
                  </a:moveTo>
                  <a:lnTo>
                    <a:pt x="15" y="97"/>
                  </a:lnTo>
                  <a:lnTo>
                    <a:pt x="17" y="92"/>
                  </a:lnTo>
                  <a:lnTo>
                    <a:pt x="21" y="86"/>
                  </a:lnTo>
                  <a:lnTo>
                    <a:pt x="27" y="80"/>
                  </a:lnTo>
                  <a:lnTo>
                    <a:pt x="32" y="75"/>
                  </a:lnTo>
                  <a:lnTo>
                    <a:pt x="41" y="69"/>
                  </a:lnTo>
                  <a:lnTo>
                    <a:pt x="49" y="64"/>
                  </a:lnTo>
                  <a:lnTo>
                    <a:pt x="57" y="60"/>
                  </a:lnTo>
                  <a:lnTo>
                    <a:pt x="66" y="55"/>
                  </a:lnTo>
                  <a:lnTo>
                    <a:pt x="75" y="50"/>
                  </a:lnTo>
                  <a:lnTo>
                    <a:pt x="83" y="43"/>
                  </a:lnTo>
                  <a:lnTo>
                    <a:pt x="91" y="37"/>
                  </a:lnTo>
                  <a:lnTo>
                    <a:pt x="97" y="30"/>
                  </a:lnTo>
                  <a:lnTo>
                    <a:pt x="103" y="21"/>
                  </a:lnTo>
                  <a:lnTo>
                    <a:pt x="106" y="11"/>
                  </a:lnTo>
                  <a:lnTo>
                    <a:pt x="108" y="0"/>
                  </a:lnTo>
                  <a:lnTo>
                    <a:pt x="94" y="0"/>
                  </a:lnTo>
                  <a:lnTo>
                    <a:pt x="93" y="8"/>
                  </a:lnTo>
                  <a:lnTo>
                    <a:pt x="90" y="15"/>
                  </a:lnTo>
                  <a:lnTo>
                    <a:pt x="87" y="22"/>
                  </a:lnTo>
                  <a:lnTo>
                    <a:pt x="82" y="27"/>
                  </a:lnTo>
                  <a:lnTo>
                    <a:pt x="75" y="33"/>
                  </a:lnTo>
                  <a:lnTo>
                    <a:pt x="67" y="38"/>
                  </a:lnTo>
                  <a:lnTo>
                    <a:pt x="59" y="43"/>
                  </a:lnTo>
                  <a:lnTo>
                    <a:pt x="51" y="49"/>
                  </a:lnTo>
                  <a:lnTo>
                    <a:pt x="42" y="53"/>
                  </a:lnTo>
                  <a:lnTo>
                    <a:pt x="33" y="58"/>
                  </a:lnTo>
                  <a:lnTo>
                    <a:pt x="25" y="64"/>
                  </a:lnTo>
                  <a:lnTo>
                    <a:pt x="18" y="69"/>
                  </a:lnTo>
                  <a:lnTo>
                    <a:pt x="10" y="77"/>
                  </a:lnTo>
                  <a:lnTo>
                    <a:pt x="5" y="85"/>
                  </a:lnTo>
                  <a:lnTo>
                    <a:pt x="2" y="95"/>
                  </a:lnTo>
                  <a:lnTo>
                    <a:pt x="0" y="105"/>
                  </a:lnTo>
                  <a:lnTo>
                    <a:pt x="14" y="10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4" name="Freeform 262">
              <a:extLst>
                <a:ext uri="{FF2B5EF4-FFF2-40B4-BE49-F238E27FC236}">
                  <a16:creationId xmlns:a16="http://schemas.microsoft.com/office/drawing/2014/main" id="{8A26363C-1633-938D-05E2-3823CB07BBA8}"/>
                </a:ext>
              </a:extLst>
            </p:cNvPr>
            <p:cNvSpPr>
              <a:spLocks/>
            </p:cNvSpPr>
            <p:nvPr/>
          </p:nvSpPr>
          <p:spPr bwMode="auto">
            <a:xfrm>
              <a:off x="3953" y="3201"/>
              <a:ext cx="137" cy="116"/>
            </a:xfrm>
            <a:custGeom>
              <a:avLst/>
              <a:gdLst>
                <a:gd name="T0" fmla="*/ 13137 w 109"/>
                <a:gd name="T1" fmla="*/ 576 h 107"/>
                <a:gd name="T2" fmla="*/ 12867 w 109"/>
                <a:gd name="T3" fmla="*/ 515 h 107"/>
                <a:gd name="T4" fmla="*/ 12503 w 109"/>
                <a:gd name="T5" fmla="*/ 465 h 107"/>
                <a:gd name="T6" fmla="*/ 11758 w 109"/>
                <a:gd name="T7" fmla="*/ 410 h 107"/>
                <a:gd name="T8" fmla="*/ 11025 w 109"/>
                <a:gd name="T9" fmla="*/ 374 h 107"/>
                <a:gd name="T10" fmla="*/ 10110 w 109"/>
                <a:gd name="T11" fmla="*/ 339 h 107"/>
                <a:gd name="T12" fmla="*/ 9083 w 109"/>
                <a:gd name="T13" fmla="*/ 311 h 107"/>
                <a:gd name="T14" fmla="*/ 8044 w 109"/>
                <a:gd name="T15" fmla="*/ 270 h 107"/>
                <a:gd name="T16" fmla="*/ 6919 w 109"/>
                <a:gd name="T17" fmla="*/ 249 h 107"/>
                <a:gd name="T18" fmla="*/ 6013 w 109"/>
                <a:gd name="T19" fmla="*/ 225 h 107"/>
                <a:gd name="T20" fmla="*/ 4799 w 109"/>
                <a:gd name="T21" fmla="*/ 192 h 107"/>
                <a:gd name="T22" fmla="*/ 3818 w 109"/>
                <a:gd name="T23" fmla="*/ 169 h 107"/>
                <a:gd name="T24" fmla="*/ 3283 w 109"/>
                <a:gd name="T25" fmla="*/ 133 h 107"/>
                <a:gd name="T26" fmla="*/ 2523 w 109"/>
                <a:gd name="T27" fmla="*/ 104 h 107"/>
                <a:gd name="T28" fmla="*/ 2007 w 109"/>
                <a:gd name="T29" fmla="*/ 69 h 107"/>
                <a:gd name="T30" fmla="*/ 1833 w 109"/>
                <a:gd name="T31" fmla="*/ 42 h 107"/>
                <a:gd name="T32" fmla="*/ 1755 w 109"/>
                <a:gd name="T33" fmla="*/ 0 h 107"/>
                <a:gd name="T34" fmla="*/ 0 w 109"/>
                <a:gd name="T35" fmla="*/ 0 h 107"/>
                <a:gd name="T36" fmla="*/ 308 w 109"/>
                <a:gd name="T37" fmla="*/ 54 h 107"/>
                <a:gd name="T38" fmla="*/ 611 w 109"/>
                <a:gd name="T39" fmla="*/ 112 h 107"/>
                <a:gd name="T40" fmla="*/ 1213 w 109"/>
                <a:gd name="T41" fmla="*/ 154 h 107"/>
                <a:gd name="T42" fmla="*/ 2206 w 109"/>
                <a:gd name="T43" fmla="*/ 192 h 107"/>
                <a:gd name="T44" fmla="*/ 3028 w 109"/>
                <a:gd name="T45" fmla="*/ 225 h 107"/>
                <a:gd name="T46" fmla="*/ 4126 w 109"/>
                <a:gd name="T47" fmla="*/ 253 h 107"/>
                <a:gd name="T48" fmla="*/ 5156 w 109"/>
                <a:gd name="T49" fmla="*/ 287 h 107"/>
                <a:gd name="T50" fmla="*/ 6215 w 109"/>
                <a:gd name="T51" fmla="*/ 313 h 107"/>
                <a:gd name="T52" fmla="*/ 7199 w 109"/>
                <a:gd name="T53" fmla="*/ 339 h 107"/>
                <a:gd name="T54" fmla="*/ 8145 w 109"/>
                <a:gd name="T55" fmla="*/ 368 h 107"/>
                <a:gd name="T56" fmla="*/ 9083 w 109"/>
                <a:gd name="T57" fmla="*/ 396 h 107"/>
                <a:gd name="T58" fmla="*/ 9948 w 109"/>
                <a:gd name="T59" fmla="*/ 429 h 107"/>
                <a:gd name="T60" fmla="*/ 10529 w 109"/>
                <a:gd name="T61" fmla="*/ 463 h 107"/>
                <a:gd name="T62" fmla="*/ 10930 w 109"/>
                <a:gd name="T63" fmla="*/ 490 h 107"/>
                <a:gd name="T64" fmla="*/ 11372 w 109"/>
                <a:gd name="T65" fmla="*/ 525 h 107"/>
                <a:gd name="T66" fmla="*/ 11416 w 109"/>
                <a:gd name="T67" fmla="*/ 576 h 107"/>
                <a:gd name="T68" fmla="*/ 13137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08" y="106"/>
                  </a:moveTo>
                  <a:lnTo>
                    <a:pt x="106" y="94"/>
                  </a:lnTo>
                  <a:lnTo>
                    <a:pt x="103" y="85"/>
                  </a:lnTo>
                  <a:lnTo>
                    <a:pt x="97" y="76"/>
                  </a:lnTo>
                  <a:lnTo>
                    <a:pt x="91" y="69"/>
                  </a:lnTo>
                  <a:lnTo>
                    <a:pt x="83" y="62"/>
                  </a:lnTo>
                  <a:lnTo>
                    <a:pt x="75" y="56"/>
                  </a:lnTo>
                  <a:lnTo>
                    <a:pt x="66" y="50"/>
                  </a:lnTo>
                  <a:lnTo>
                    <a:pt x="57" y="46"/>
                  </a:lnTo>
                  <a:lnTo>
                    <a:pt x="49" y="41"/>
                  </a:lnTo>
                  <a:lnTo>
                    <a:pt x="40" y="35"/>
                  </a:lnTo>
                  <a:lnTo>
                    <a:pt x="32" y="31"/>
                  </a:lnTo>
                  <a:lnTo>
                    <a:pt x="27" y="25"/>
                  </a:lnTo>
                  <a:lnTo>
                    <a:pt x="21" y="19"/>
                  </a:lnTo>
                  <a:lnTo>
                    <a:pt x="17" y="13"/>
                  </a:lnTo>
                  <a:lnTo>
                    <a:pt x="15" y="7"/>
                  </a:lnTo>
                  <a:lnTo>
                    <a:pt x="14" y="0"/>
                  </a:lnTo>
                  <a:lnTo>
                    <a:pt x="0" y="0"/>
                  </a:lnTo>
                  <a:lnTo>
                    <a:pt x="2" y="10"/>
                  </a:lnTo>
                  <a:lnTo>
                    <a:pt x="5" y="20"/>
                  </a:lnTo>
                  <a:lnTo>
                    <a:pt x="10" y="28"/>
                  </a:lnTo>
                  <a:lnTo>
                    <a:pt x="18" y="35"/>
                  </a:lnTo>
                  <a:lnTo>
                    <a:pt x="25" y="41"/>
                  </a:lnTo>
                  <a:lnTo>
                    <a:pt x="34" y="47"/>
                  </a:lnTo>
                  <a:lnTo>
                    <a:pt x="42" y="52"/>
                  </a:lnTo>
                  <a:lnTo>
                    <a:pt x="51" y="57"/>
                  </a:lnTo>
                  <a:lnTo>
                    <a:pt x="59" y="62"/>
                  </a:lnTo>
                  <a:lnTo>
                    <a:pt x="67" y="67"/>
                  </a:lnTo>
                  <a:lnTo>
                    <a:pt x="75" y="72"/>
                  </a:lnTo>
                  <a:lnTo>
                    <a:pt x="82" y="78"/>
                  </a:lnTo>
                  <a:lnTo>
                    <a:pt x="87" y="84"/>
                  </a:lnTo>
                  <a:lnTo>
                    <a:pt x="90" y="90"/>
                  </a:lnTo>
                  <a:lnTo>
                    <a:pt x="93" y="97"/>
                  </a:lnTo>
                  <a:lnTo>
                    <a:pt x="94" y="106"/>
                  </a:lnTo>
                  <a:lnTo>
                    <a:pt x="108"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5" name="Freeform 263">
              <a:extLst>
                <a:ext uri="{FF2B5EF4-FFF2-40B4-BE49-F238E27FC236}">
                  <a16:creationId xmlns:a16="http://schemas.microsoft.com/office/drawing/2014/main" id="{F164AD17-082A-1C79-3258-0FAEFF3676DE}"/>
                </a:ext>
              </a:extLst>
            </p:cNvPr>
            <p:cNvSpPr>
              <a:spLocks/>
            </p:cNvSpPr>
            <p:nvPr/>
          </p:nvSpPr>
          <p:spPr bwMode="auto">
            <a:xfrm>
              <a:off x="3953" y="3315"/>
              <a:ext cx="137" cy="117"/>
            </a:xfrm>
            <a:custGeom>
              <a:avLst/>
              <a:gdLst>
                <a:gd name="T0" fmla="*/ 1755 w 109"/>
                <a:gd name="T1" fmla="*/ 569 h 108"/>
                <a:gd name="T2" fmla="*/ 1833 w 109"/>
                <a:gd name="T3" fmla="*/ 525 h 108"/>
                <a:gd name="T4" fmla="*/ 2007 w 109"/>
                <a:gd name="T5" fmla="*/ 503 h 108"/>
                <a:gd name="T6" fmla="*/ 2523 w 109"/>
                <a:gd name="T7" fmla="*/ 469 h 108"/>
                <a:gd name="T8" fmla="*/ 3283 w 109"/>
                <a:gd name="T9" fmla="*/ 437 h 108"/>
                <a:gd name="T10" fmla="*/ 3818 w 109"/>
                <a:gd name="T11" fmla="*/ 403 h 108"/>
                <a:gd name="T12" fmla="*/ 4799 w 109"/>
                <a:gd name="T13" fmla="*/ 380 h 108"/>
                <a:gd name="T14" fmla="*/ 6013 w 109"/>
                <a:gd name="T15" fmla="*/ 364 h 108"/>
                <a:gd name="T16" fmla="*/ 6919 w 109"/>
                <a:gd name="T17" fmla="*/ 319 h 108"/>
                <a:gd name="T18" fmla="*/ 8044 w 109"/>
                <a:gd name="T19" fmla="*/ 294 h 108"/>
                <a:gd name="T20" fmla="*/ 9048 w 109"/>
                <a:gd name="T21" fmla="*/ 270 h 108"/>
                <a:gd name="T22" fmla="*/ 10110 w 109"/>
                <a:gd name="T23" fmla="*/ 244 h 108"/>
                <a:gd name="T24" fmla="*/ 11025 w 109"/>
                <a:gd name="T25" fmla="*/ 197 h 108"/>
                <a:gd name="T26" fmla="*/ 11758 w 109"/>
                <a:gd name="T27" fmla="*/ 163 h 108"/>
                <a:gd name="T28" fmla="*/ 12503 w 109"/>
                <a:gd name="T29" fmla="*/ 113 h 108"/>
                <a:gd name="T30" fmla="*/ 12867 w 109"/>
                <a:gd name="T31" fmla="*/ 58 h 108"/>
                <a:gd name="T32" fmla="*/ 13137 w 109"/>
                <a:gd name="T33" fmla="*/ 0 h 108"/>
                <a:gd name="T34" fmla="*/ 11416 w 109"/>
                <a:gd name="T35" fmla="*/ 0 h 108"/>
                <a:gd name="T36" fmla="*/ 11372 w 109"/>
                <a:gd name="T37" fmla="*/ 46 h 108"/>
                <a:gd name="T38" fmla="*/ 10930 w 109"/>
                <a:gd name="T39" fmla="*/ 87 h 108"/>
                <a:gd name="T40" fmla="*/ 10529 w 109"/>
                <a:gd name="T41" fmla="*/ 119 h 108"/>
                <a:gd name="T42" fmla="*/ 9948 w 109"/>
                <a:gd name="T43" fmla="*/ 150 h 108"/>
                <a:gd name="T44" fmla="*/ 9083 w 109"/>
                <a:gd name="T45" fmla="*/ 182 h 108"/>
                <a:gd name="T46" fmla="*/ 8192 w 109"/>
                <a:gd name="T47" fmla="*/ 208 h 108"/>
                <a:gd name="T48" fmla="*/ 7199 w 109"/>
                <a:gd name="T49" fmla="*/ 244 h 108"/>
                <a:gd name="T50" fmla="*/ 6215 w 109"/>
                <a:gd name="T51" fmla="*/ 265 h 108"/>
                <a:gd name="T52" fmla="*/ 5156 w 109"/>
                <a:gd name="T53" fmla="*/ 293 h 108"/>
                <a:gd name="T54" fmla="*/ 4126 w 109"/>
                <a:gd name="T55" fmla="*/ 317 h 108"/>
                <a:gd name="T56" fmla="*/ 3028 w 109"/>
                <a:gd name="T57" fmla="*/ 346 h 108"/>
                <a:gd name="T58" fmla="*/ 2206 w 109"/>
                <a:gd name="T59" fmla="*/ 380 h 108"/>
                <a:gd name="T60" fmla="*/ 1213 w 109"/>
                <a:gd name="T61" fmla="*/ 427 h 108"/>
                <a:gd name="T62" fmla="*/ 611 w 109"/>
                <a:gd name="T63" fmla="*/ 464 h 108"/>
                <a:gd name="T64" fmla="*/ 308 w 109"/>
                <a:gd name="T65" fmla="*/ 517 h 108"/>
                <a:gd name="T66" fmla="*/ 0 w 109"/>
                <a:gd name="T67" fmla="*/ 569 h 108"/>
                <a:gd name="T68" fmla="*/ 1755 w 109"/>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8"/>
                <a:gd name="T107" fmla="*/ 109 w 109"/>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8">
                  <a:moveTo>
                    <a:pt x="14" y="107"/>
                  </a:moveTo>
                  <a:lnTo>
                    <a:pt x="15" y="99"/>
                  </a:lnTo>
                  <a:lnTo>
                    <a:pt x="17" y="93"/>
                  </a:lnTo>
                  <a:lnTo>
                    <a:pt x="21" y="87"/>
                  </a:lnTo>
                  <a:lnTo>
                    <a:pt x="27" y="81"/>
                  </a:lnTo>
                  <a:lnTo>
                    <a:pt x="32" y="75"/>
                  </a:lnTo>
                  <a:lnTo>
                    <a:pt x="40" y="71"/>
                  </a:lnTo>
                  <a:lnTo>
                    <a:pt x="49" y="66"/>
                  </a:lnTo>
                  <a:lnTo>
                    <a:pt x="57" y="60"/>
                  </a:lnTo>
                  <a:lnTo>
                    <a:pt x="66" y="55"/>
                  </a:lnTo>
                  <a:lnTo>
                    <a:pt x="74" y="50"/>
                  </a:lnTo>
                  <a:lnTo>
                    <a:pt x="83" y="44"/>
                  </a:lnTo>
                  <a:lnTo>
                    <a:pt x="91" y="37"/>
                  </a:lnTo>
                  <a:lnTo>
                    <a:pt x="97" y="30"/>
                  </a:lnTo>
                  <a:lnTo>
                    <a:pt x="103" y="21"/>
                  </a:lnTo>
                  <a:lnTo>
                    <a:pt x="106" y="11"/>
                  </a:lnTo>
                  <a:lnTo>
                    <a:pt x="108" y="0"/>
                  </a:lnTo>
                  <a:lnTo>
                    <a:pt x="94" y="0"/>
                  </a:lnTo>
                  <a:lnTo>
                    <a:pt x="93" y="8"/>
                  </a:lnTo>
                  <a:lnTo>
                    <a:pt x="90" y="16"/>
                  </a:lnTo>
                  <a:lnTo>
                    <a:pt x="87" y="22"/>
                  </a:lnTo>
                  <a:lnTo>
                    <a:pt x="82" y="28"/>
                  </a:lnTo>
                  <a:lnTo>
                    <a:pt x="75" y="34"/>
                  </a:lnTo>
                  <a:lnTo>
                    <a:pt x="68" y="38"/>
                  </a:lnTo>
                  <a:lnTo>
                    <a:pt x="59" y="44"/>
                  </a:lnTo>
                  <a:lnTo>
                    <a:pt x="51" y="49"/>
                  </a:lnTo>
                  <a:lnTo>
                    <a:pt x="42" y="54"/>
                  </a:lnTo>
                  <a:lnTo>
                    <a:pt x="34" y="59"/>
                  </a:lnTo>
                  <a:lnTo>
                    <a:pt x="25" y="65"/>
                  </a:lnTo>
                  <a:lnTo>
                    <a:pt x="18" y="71"/>
                  </a:lnTo>
                  <a:lnTo>
                    <a:pt x="10" y="78"/>
                  </a:lnTo>
                  <a:lnTo>
                    <a:pt x="5" y="86"/>
                  </a:lnTo>
                  <a:lnTo>
                    <a:pt x="2" y="96"/>
                  </a:lnTo>
                  <a:lnTo>
                    <a:pt x="0" y="107"/>
                  </a:lnTo>
                  <a:lnTo>
                    <a:pt x="14"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6" name="Freeform 264">
              <a:extLst>
                <a:ext uri="{FF2B5EF4-FFF2-40B4-BE49-F238E27FC236}">
                  <a16:creationId xmlns:a16="http://schemas.microsoft.com/office/drawing/2014/main" id="{8C304960-32D3-5E93-ACF1-5448008B1542}"/>
                </a:ext>
              </a:extLst>
            </p:cNvPr>
            <p:cNvSpPr>
              <a:spLocks/>
            </p:cNvSpPr>
            <p:nvPr/>
          </p:nvSpPr>
          <p:spPr bwMode="auto">
            <a:xfrm>
              <a:off x="3953" y="3431"/>
              <a:ext cx="137" cy="103"/>
            </a:xfrm>
            <a:custGeom>
              <a:avLst/>
              <a:gdLst>
                <a:gd name="T0" fmla="*/ 13137 w 109"/>
                <a:gd name="T1" fmla="*/ 515 h 95"/>
                <a:gd name="T2" fmla="*/ 12503 w 109"/>
                <a:gd name="T3" fmla="*/ 417 h 95"/>
                <a:gd name="T4" fmla="*/ 10930 w 109"/>
                <a:gd name="T5" fmla="*/ 349 h 95"/>
                <a:gd name="T6" fmla="*/ 9048 w 109"/>
                <a:gd name="T7" fmla="*/ 294 h 95"/>
                <a:gd name="T8" fmla="*/ 6919 w 109"/>
                <a:gd name="T9" fmla="*/ 247 h 95"/>
                <a:gd name="T10" fmla="*/ 5010 w 109"/>
                <a:gd name="T11" fmla="*/ 192 h 95"/>
                <a:gd name="T12" fmla="*/ 3283 w 109"/>
                <a:gd name="T13" fmla="*/ 133 h 95"/>
                <a:gd name="T14" fmla="*/ 2007 w 109"/>
                <a:gd name="T15" fmla="*/ 69 h 95"/>
                <a:gd name="T16" fmla="*/ 1755 w 109"/>
                <a:gd name="T17" fmla="*/ 0 h 95"/>
                <a:gd name="T18" fmla="*/ 0 w 109"/>
                <a:gd name="T19" fmla="*/ 0 h 95"/>
                <a:gd name="T20" fmla="*/ 611 w 109"/>
                <a:gd name="T21" fmla="*/ 112 h 95"/>
                <a:gd name="T22" fmla="*/ 2206 w 109"/>
                <a:gd name="T23" fmla="*/ 192 h 95"/>
                <a:gd name="T24" fmla="*/ 3986 w 109"/>
                <a:gd name="T25" fmla="*/ 253 h 95"/>
                <a:gd name="T26" fmla="*/ 6215 w 109"/>
                <a:gd name="T27" fmla="*/ 316 h 95"/>
                <a:gd name="T28" fmla="*/ 8192 w 109"/>
                <a:gd name="T29" fmla="*/ 366 h 95"/>
                <a:gd name="T30" fmla="*/ 9948 w 109"/>
                <a:gd name="T31" fmla="*/ 407 h 95"/>
                <a:gd name="T32" fmla="*/ 11025 w 109"/>
                <a:gd name="T33" fmla="*/ 452 h 95"/>
                <a:gd name="T34" fmla="*/ 11416 w 109"/>
                <a:gd name="T35" fmla="*/ 515 h 95"/>
                <a:gd name="T36" fmla="*/ 13137 w 109"/>
                <a:gd name="T37" fmla="*/ 515 h 9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9"/>
                <a:gd name="T58" fmla="*/ 0 h 95"/>
                <a:gd name="T59" fmla="*/ 109 w 109"/>
                <a:gd name="T60" fmla="*/ 95 h 9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9" h="95">
                  <a:moveTo>
                    <a:pt x="108" y="94"/>
                  </a:moveTo>
                  <a:lnTo>
                    <a:pt x="103" y="77"/>
                  </a:lnTo>
                  <a:lnTo>
                    <a:pt x="90" y="65"/>
                  </a:lnTo>
                  <a:lnTo>
                    <a:pt x="74" y="54"/>
                  </a:lnTo>
                  <a:lnTo>
                    <a:pt x="57" y="45"/>
                  </a:lnTo>
                  <a:lnTo>
                    <a:pt x="41" y="35"/>
                  </a:lnTo>
                  <a:lnTo>
                    <a:pt x="27" y="25"/>
                  </a:lnTo>
                  <a:lnTo>
                    <a:pt x="17" y="13"/>
                  </a:lnTo>
                  <a:lnTo>
                    <a:pt x="14" y="0"/>
                  </a:lnTo>
                  <a:lnTo>
                    <a:pt x="0" y="0"/>
                  </a:lnTo>
                  <a:lnTo>
                    <a:pt x="5" y="20"/>
                  </a:lnTo>
                  <a:lnTo>
                    <a:pt x="18" y="35"/>
                  </a:lnTo>
                  <a:lnTo>
                    <a:pt x="33" y="47"/>
                  </a:lnTo>
                  <a:lnTo>
                    <a:pt x="51" y="57"/>
                  </a:lnTo>
                  <a:lnTo>
                    <a:pt x="68" y="66"/>
                  </a:lnTo>
                  <a:lnTo>
                    <a:pt x="82" y="75"/>
                  </a:lnTo>
                  <a:lnTo>
                    <a:pt x="91" y="83"/>
                  </a:lnTo>
                  <a:lnTo>
                    <a:pt x="94" y="94"/>
                  </a:lnTo>
                  <a:lnTo>
                    <a:pt x="108" y="9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7" name="Freeform 265">
              <a:extLst>
                <a:ext uri="{FF2B5EF4-FFF2-40B4-BE49-F238E27FC236}">
                  <a16:creationId xmlns:a16="http://schemas.microsoft.com/office/drawing/2014/main" id="{832B8D6C-0CA8-8BCC-0C80-FD8AD9FBD74F}"/>
                </a:ext>
              </a:extLst>
            </p:cNvPr>
            <p:cNvSpPr>
              <a:spLocks/>
            </p:cNvSpPr>
            <p:nvPr/>
          </p:nvSpPr>
          <p:spPr bwMode="auto">
            <a:xfrm>
              <a:off x="4069" y="3533"/>
              <a:ext cx="21" cy="5"/>
            </a:xfrm>
            <a:custGeom>
              <a:avLst/>
              <a:gdLst>
                <a:gd name="T0" fmla="*/ 4582 w 16"/>
                <a:gd name="T1" fmla="*/ 4 h 5"/>
                <a:gd name="T2" fmla="*/ 4582 w 16"/>
                <a:gd name="T3" fmla="*/ 0 h 5"/>
                <a:gd name="T4" fmla="*/ 0 w 16"/>
                <a:gd name="T5" fmla="*/ 0 h 5"/>
                <a:gd name="T6" fmla="*/ 0 w 16"/>
                <a:gd name="T7" fmla="*/ 4 h 5"/>
                <a:gd name="T8" fmla="*/ 4582 w 16"/>
                <a:gd name="T9" fmla="*/ 4 h 5"/>
                <a:gd name="T10" fmla="*/ 0 60000 65536"/>
                <a:gd name="T11" fmla="*/ 0 60000 65536"/>
                <a:gd name="T12" fmla="*/ 0 60000 65536"/>
                <a:gd name="T13" fmla="*/ 0 60000 65536"/>
                <a:gd name="T14" fmla="*/ 0 60000 65536"/>
                <a:gd name="T15" fmla="*/ 0 w 16"/>
                <a:gd name="T16" fmla="*/ 0 h 5"/>
                <a:gd name="T17" fmla="*/ 16 w 16"/>
                <a:gd name="T18" fmla="*/ 5 h 5"/>
              </a:gdLst>
              <a:ahLst/>
              <a:cxnLst>
                <a:cxn ang="T10">
                  <a:pos x="T0" y="T1"/>
                </a:cxn>
                <a:cxn ang="T11">
                  <a:pos x="T2" y="T3"/>
                </a:cxn>
                <a:cxn ang="T12">
                  <a:pos x="T4" y="T5"/>
                </a:cxn>
                <a:cxn ang="T13">
                  <a:pos x="T6" y="T7"/>
                </a:cxn>
                <a:cxn ang="T14">
                  <a:pos x="T8" y="T9"/>
                </a:cxn>
              </a:cxnLst>
              <a:rect l="T15" t="T16" r="T17" b="T18"/>
              <a:pathLst>
                <a:path w="16" h="5">
                  <a:moveTo>
                    <a:pt x="15" y="4"/>
                  </a:moveTo>
                  <a:lnTo>
                    <a:pt x="15" y="0"/>
                  </a:lnTo>
                  <a:lnTo>
                    <a:pt x="0" y="0"/>
                  </a:lnTo>
                  <a:lnTo>
                    <a:pt x="0" y="4"/>
                  </a:lnTo>
                  <a:lnTo>
                    <a:pt x="15" y="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8" name="Freeform 266">
              <a:extLst>
                <a:ext uri="{FF2B5EF4-FFF2-40B4-BE49-F238E27FC236}">
                  <a16:creationId xmlns:a16="http://schemas.microsoft.com/office/drawing/2014/main" id="{3264A1FA-1B05-58D8-24F7-A7744F70BBCB}"/>
                </a:ext>
              </a:extLst>
            </p:cNvPr>
            <p:cNvSpPr>
              <a:spLocks/>
            </p:cNvSpPr>
            <p:nvPr/>
          </p:nvSpPr>
          <p:spPr bwMode="auto">
            <a:xfrm>
              <a:off x="3953" y="3537"/>
              <a:ext cx="137" cy="116"/>
            </a:xfrm>
            <a:custGeom>
              <a:avLst/>
              <a:gdLst>
                <a:gd name="T0" fmla="*/ 1755 w 109"/>
                <a:gd name="T1" fmla="*/ 576 h 107"/>
                <a:gd name="T2" fmla="*/ 1833 w 109"/>
                <a:gd name="T3" fmla="*/ 525 h 107"/>
                <a:gd name="T4" fmla="*/ 2206 w 109"/>
                <a:gd name="T5" fmla="*/ 490 h 107"/>
                <a:gd name="T6" fmla="*/ 2523 w 109"/>
                <a:gd name="T7" fmla="*/ 452 h 107"/>
                <a:gd name="T8" fmla="*/ 3283 w 109"/>
                <a:gd name="T9" fmla="*/ 417 h 107"/>
                <a:gd name="T10" fmla="*/ 3818 w 109"/>
                <a:gd name="T11" fmla="*/ 396 h 107"/>
                <a:gd name="T12" fmla="*/ 5010 w 109"/>
                <a:gd name="T13" fmla="*/ 368 h 107"/>
                <a:gd name="T14" fmla="*/ 6013 w 109"/>
                <a:gd name="T15" fmla="*/ 337 h 107"/>
                <a:gd name="T16" fmla="*/ 6919 w 109"/>
                <a:gd name="T17" fmla="*/ 297 h 107"/>
                <a:gd name="T18" fmla="*/ 8044 w 109"/>
                <a:gd name="T19" fmla="*/ 270 h 107"/>
                <a:gd name="T20" fmla="*/ 9048 w 109"/>
                <a:gd name="T21" fmla="*/ 249 h 107"/>
                <a:gd name="T22" fmla="*/ 10110 w 109"/>
                <a:gd name="T23" fmla="*/ 212 h 107"/>
                <a:gd name="T24" fmla="*/ 11025 w 109"/>
                <a:gd name="T25" fmla="*/ 181 h 107"/>
                <a:gd name="T26" fmla="*/ 11758 w 109"/>
                <a:gd name="T27" fmla="*/ 144 h 107"/>
                <a:gd name="T28" fmla="*/ 12503 w 109"/>
                <a:gd name="T29" fmla="*/ 104 h 107"/>
                <a:gd name="T30" fmla="*/ 12867 w 109"/>
                <a:gd name="T31" fmla="*/ 50 h 107"/>
                <a:gd name="T32" fmla="*/ 13137 w 109"/>
                <a:gd name="T33" fmla="*/ 0 h 107"/>
                <a:gd name="T34" fmla="*/ 11416 w 109"/>
                <a:gd name="T35" fmla="*/ 0 h 107"/>
                <a:gd name="T36" fmla="*/ 11372 w 109"/>
                <a:gd name="T37" fmla="*/ 42 h 107"/>
                <a:gd name="T38" fmla="*/ 11025 w 109"/>
                <a:gd name="T39" fmla="*/ 69 h 107"/>
                <a:gd name="T40" fmla="*/ 10529 w 109"/>
                <a:gd name="T41" fmla="*/ 103 h 107"/>
                <a:gd name="T42" fmla="*/ 9948 w 109"/>
                <a:gd name="T43" fmla="*/ 123 h 107"/>
                <a:gd name="T44" fmla="*/ 9083 w 109"/>
                <a:gd name="T45" fmla="*/ 156 h 107"/>
                <a:gd name="T46" fmla="*/ 8192 w 109"/>
                <a:gd name="T47" fmla="*/ 183 h 107"/>
                <a:gd name="T48" fmla="*/ 7199 w 109"/>
                <a:gd name="T49" fmla="*/ 212 h 107"/>
                <a:gd name="T50" fmla="*/ 6215 w 109"/>
                <a:gd name="T51" fmla="*/ 244 h 107"/>
                <a:gd name="T52" fmla="*/ 5156 w 109"/>
                <a:gd name="T53" fmla="*/ 267 h 107"/>
                <a:gd name="T54" fmla="*/ 3986 w 109"/>
                <a:gd name="T55" fmla="*/ 297 h 107"/>
                <a:gd name="T56" fmla="*/ 3028 w 109"/>
                <a:gd name="T57" fmla="*/ 337 h 107"/>
                <a:gd name="T58" fmla="*/ 2206 w 109"/>
                <a:gd name="T59" fmla="*/ 373 h 107"/>
                <a:gd name="T60" fmla="*/ 1213 w 109"/>
                <a:gd name="T61" fmla="*/ 410 h 107"/>
                <a:gd name="T62" fmla="*/ 611 w 109"/>
                <a:gd name="T63" fmla="*/ 465 h 107"/>
                <a:gd name="T64" fmla="*/ 308 w 109"/>
                <a:gd name="T65" fmla="*/ 515 h 107"/>
                <a:gd name="T66" fmla="*/ 0 w 109"/>
                <a:gd name="T67" fmla="*/ 576 h 107"/>
                <a:gd name="T68" fmla="*/ 1755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4" y="106"/>
                  </a:moveTo>
                  <a:lnTo>
                    <a:pt x="15" y="97"/>
                  </a:lnTo>
                  <a:lnTo>
                    <a:pt x="18" y="90"/>
                  </a:lnTo>
                  <a:lnTo>
                    <a:pt x="21" y="83"/>
                  </a:lnTo>
                  <a:lnTo>
                    <a:pt x="27" y="77"/>
                  </a:lnTo>
                  <a:lnTo>
                    <a:pt x="32" y="72"/>
                  </a:lnTo>
                  <a:lnTo>
                    <a:pt x="41" y="67"/>
                  </a:lnTo>
                  <a:lnTo>
                    <a:pt x="49" y="61"/>
                  </a:lnTo>
                  <a:lnTo>
                    <a:pt x="57" y="55"/>
                  </a:lnTo>
                  <a:lnTo>
                    <a:pt x="66" y="50"/>
                  </a:lnTo>
                  <a:lnTo>
                    <a:pt x="74" y="46"/>
                  </a:lnTo>
                  <a:lnTo>
                    <a:pt x="83" y="39"/>
                  </a:lnTo>
                  <a:lnTo>
                    <a:pt x="91" y="33"/>
                  </a:lnTo>
                  <a:lnTo>
                    <a:pt x="97" y="27"/>
                  </a:lnTo>
                  <a:lnTo>
                    <a:pt x="103" y="19"/>
                  </a:lnTo>
                  <a:lnTo>
                    <a:pt x="106" y="9"/>
                  </a:lnTo>
                  <a:lnTo>
                    <a:pt x="108" y="0"/>
                  </a:lnTo>
                  <a:lnTo>
                    <a:pt x="94" y="0"/>
                  </a:lnTo>
                  <a:lnTo>
                    <a:pt x="93" y="7"/>
                  </a:lnTo>
                  <a:lnTo>
                    <a:pt x="91" y="13"/>
                  </a:lnTo>
                  <a:lnTo>
                    <a:pt x="87" y="18"/>
                  </a:lnTo>
                  <a:lnTo>
                    <a:pt x="82" y="23"/>
                  </a:lnTo>
                  <a:lnTo>
                    <a:pt x="75" y="29"/>
                  </a:lnTo>
                  <a:lnTo>
                    <a:pt x="68" y="34"/>
                  </a:lnTo>
                  <a:lnTo>
                    <a:pt x="59" y="39"/>
                  </a:lnTo>
                  <a:lnTo>
                    <a:pt x="51" y="44"/>
                  </a:lnTo>
                  <a:lnTo>
                    <a:pt x="42" y="49"/>
                  </a:lnTo>
                  <a:lnTo>
                    <a:pt x="33" y="55"/>
                  </a:lnTo>
                  <a:lnTo>
                    <a:pt x="25" y="61"/>
                  </a:lnTo>
                  <a:lnTo>
                    <a:pt x="18" y="68"/>
                  </a:lnTo>
                  <a:lnTo>
                    <a:pt x="10" y="76"/>
                  </a:lnTo>
                  <a:lnTo>
                    <a:pt x="5" y="85"/>
                  </a:lnTo>
                  <a:lnTo>
                    <a:pt x="2" y="94"/>
                  </a:lnTo>
                  <a:lnTo>
                    <a:pt x="0" y="106"/>
                  </a:lnTo>
                  <a:lnTo>
                    <a:pt x="14"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9" name="Freeform 267">
              <a:extLst>
                <a:ext uri="{FF2B5EF4-FFF2-40B4-BE49-F238E27FC236}">
                  <a16:creationId xmlns:a16="http://schemas.microsoft.com/office/drawing/2014/main" id="{A8EA1B9E-1229-23AE-79EA-65472953ECBE}"/>
                </a:ext>
              </a:extLst>
            </p:cNvPr>
            <p:cNvSpPr>
              <a:spLocks/>
            </p:cNvSpPr>
            <p:nvPr/>
          </p:nvSpPr>
          <p:spPr bwMode="auto">
            <a:xfrm>
              <a:off x="3953" y="3652"/>
              <a:ext cx="137" cy="115"/>
            </a:xfrm>
            <a:custGeom>
              <a:avLst/>
              <a:gdLst>
                <a:gd name="T0" fmla="*/ 13137 w 109"/>
                <a:gd name="T1" fmla="*/ 480 h 107"/>
                <a:gd name="T2" fmla="*/ 12867 w 109"/>
                <a:gd name="T3" fmla="*/ 437 h 107"/>
                <a:gd name="T4" fmla="*/ 12503 w 109"/>
                <a:gd name="T5" fmla="*/ 387 h 107"/>
                <a:gd name="T6" fmla="*/ 11758 w 109"/>
                <a:gd name="T7" fmla="*/ 354 h 107"/>
                <a:gd name="T8" fmla="*/ 11025 w 109"/>
                <a:gd name="T9" fmla="*/ 325 h 107"/>
                <a:gd name="T10" fmla="*/ 10110 w 109"/>
                <a:gd name="T11" fmla="*/ 290 h 107"/>
                <a:gd name="T12" fmla="*/ 9048 w 109"/>
                <a:gd name="T13" fmla="*/ 265 h 107"/>
                <a:gd name="T14" fmla="*/ 8044 w 109"/>
                <a:gd name="T15" fmla="*/ 244 h 107"/>
                <a:gd name="T16" fmla="*/ 6919 w 109"/>
                <a:gd name="T17" fmla="*/ 218 h 107"/>
                <a:gd name="T18" fmla="*/ 6013 w 109"/>
                <a:gd name="T19" fmla="*/ 196 h 107"/>
                <a:gd name="T20" fmla="*/ 4799 w 109"/>
                <a:gd name="T21" fmla="*/ 172 h 107"/>
                <a:gd name="T22" fmla="*/ 3818 w 109"/>
                <a:gd name="T23" fmla="*/ 149 h 107"/>
                <a:gd name="T24" fmla="*/ 3283 w 109"/>
                <a:gd name="T25" fmla="*/ 120 h 107"/>
                <a:gd name="T26" fmla="*/ 2523 w 109"/>
                <a:gd name="T27" fmla="*/ 102 h 107"/>
                <a:gd name="T28" fmla="*/ 2206 w 109"/>
                <a:gd name="T29" fmla="*/ 63 h 107"/>
                <a:gd name="T30" fmla="*/ 1833 w 109"/>
                <a:gd name="T31" fmla="*/ 38 h 107"/>
                <a:gd name="T32" fmla="*/ 1755 w 109"/>
                <a:gd name="T33" fmla="*/ 0 h 107"/>
                <a:gd name="T34" fmla="*/ 0 w 109"/>
                <a:gd name="T35" fmla="*/ 0 h 107"/>
                <a:gd name="T36" fmla="*/ 308 w 109"/>
                <a:gd name="T37" fmla="*/ 47 h 107"/>
                <a:gd name="T38" fmla="*/ 611 w 109"/>
                <a:gd name="T39" fmla="*/ 90 h 107"/>
                <a:gd name="T40" fmla="*/ 1213 w 109"/>
                <a:gd name="T41" fmla="*/ 129 h 107"/>
                <a:gd name="T42" fmla="*/ 2206 w 109"/>
                <a:gd name="T43" fmla="*/ 169 h 107"/>
                <a:gd name="T44" fmla="*/ 3028 w 109"/>
                <a:gd name="T45" fmla="*/ 199 h 107"/>
                <a:gd name="T46" fmla="*/ 4126 w 109"/>
                <a:gd name="T47" fmla="*/ 229 h 107"/>
                <a:gd name="T48" fmla="*/ 5156 w 109"/>
                <a:gd name="T49" fmla="*/ 247 h 107"/>
                <a:gd name="T50" fmla="*/ 6215 w 109"/>
                <a:gd name="T51" fmla="*/ 270 h 107"/>
                <a:gd name="T52" fmla="*/ 7199 w 109"/>
                <a:gd name="T53" fmla="*/ 302 h 107"/>
                <a:gd name="T54" fmla="*/ 8192 w 109"/>
                <a:gd name="T55" fmla="*/ 325 h 107"/>
                <a:gd name="T56" fmla="*/ 9083 w 109"/>
                <a:gd name="T57" fmla="*/ 349 h 107"/>
                <a:gd name="T58" fmla="*/ 9948 w 109"/>
                <a:gd name="T59" fmla="*/ 375 h 107"/>
                <a:gd name="T60" fmla="*/ 10529 w 109"/>
                <a:gd name="T61" fmla="*/ 387 h 107"/>
                <a:gd name="T62" fmla="*/ 11025 w 109"/>
                <a:gd name="T63" fmla="*/ 416 h 107"/>
                <a:gd name="T64" fmla="*/ 11372 w 109"/>
                <a:gd name="T65" fmla="*/ 443 h 107"/>
                <a:gd name="T66" fmla="*/ 11416 w 109"/>
                <a:gd name="T67" fmla="*/ 480 h 107"/>
                <a:gd name="T68" fmla="*/ 13137 w 109"/>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08" y="106"/>
                  </a:moveTo>
                  <a:lnTo>
                    <a:pt x="106" y="96"/>
                  </a:lnTo>
                  <a:lnTo>
                    <a:pt x="103" y="86"/>
                  </a:lnTo>
                  <a:lnTo>
                    <a:pt x="97" y="78"/>
                  </a:lnTo>
                  <a:lnTo>
                    <a:pt x="91" y="70"/>
                  </a:lnTo>
                  <a:lnTo>
                    <a:pt x="83" y="64"/>
                  </a:lnTo>
                  <a:lnTo>
                    <a:pt x="74" y="59"/>
                  </a:lnTo>
                  <a:lnTo>
                    <a:pt x="66" y="53"/>
                  </a:lnTo>
                  <a:lnTo>
                    <a:pt x="57" y="48"/>
                  </a:lnTo>
                  <a:lnTo>
                    <a:pt x="49" y="43"/>
                  </a:lnTo>
                  <a:lnTo>
                    <a:pt x="40" y="38"/>
                  </a:lnTo>
                  <a:lnTo>
                    <a:pt x="32" y="33"/>
                  </a:lnTo>
                  <a:lnTo>
                    <a:pt x="27" y="27"/>
                  </a:lnTo>
                  <a:lnTo>
                    <a:pt x="21" y="22"/>
                  </a:lnTo>
                  <a:lnTo>
                    <a:pt x="18" y="15"/>
                  </a:lnTo>
                  <a:lnTo>
                    <a:pt x="15" y="8"/>
                  </a:lnTo>
                  <a:lnTo>
                    <a:pt x="14" y="0"/>
                  </a:lnTo>
                  <a:lnTo>
                    <a:pt x="0" y="0"/>
                  </a:lnTo>
                  <a:lnTo>
                    <a:pt x="2" y="11"/>
                  </a:lnTo>
                  <a:lnTo>
                    <a:pt x="5" y="20"/>
                  </a:lnTo>
                  <a:lnTo>
                    <a:pt x="10" y="29"/>
                  </a:lnTo>
                  <a:lnTo>
                    <a:pt x="18" y="37"/>
                  </a:lnTo>
                  <a:lnTo>
                    <a:pt x="25" y="44"/>
                  </a:lnTo>
                  <a:lnTo>
                    <a:pt x="34" y="50"/>
                  </a:lnTo>
                  <a:lnTo>
                    <a:pt x="42" y="55"/>
                  </a:lnTo>
                  <a:lnTo>
                    <a:pt x="51" y="60"/>
                  </a:lnTo>
                  <a:lnTo>
                    <a:pt x="59" y="65"/>
                  </a:lnTo>
                  <a:lnTo>
                    <a:pt x="68" y="70"/>
                  </a:lnTo>
                  <a:lnTo>
                    <a:pt x="75" y="75"/>
                  </a:lnTo>
                  <a:lnTo>
                    <a:pt x="82" y="81"/>
                  </a:lnTo>
                  <a:lnTo>
                    <a:pt x="87" y="86"/>
                  </a:lnTo>
                  <a:lnTo>
                    <a:pt x="91" y="92"/>
                  </a:lnTo>
                  <a:lnTo>
                    <a:pt x="93" y="98"/>
                  </a:lnTo>
                  <a:lnTo>
                    <a:pt x="94" y="106"/>
                  </a:lnTo>
                  <a:lnTo>
                    <a:pt x="108"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0" name="Freeform 268">
              <a:extLst>
                <a:ext uri="{FF2B5EF4-FFF2-40B4-BE49-F238E27FC236}">
                  <a16:creationId xmlns:a16="http://schemas.microsoft.com/office/drawing/2014/main" id="{23F7BE64-1E7B-1C55-958E-BF9C44007E17}"/>
                </a:ext>
              </a:extLst>
            </p:cNvPr>
            <p:cNvSpPr>
              <a:spLocks/>
            </p:cNvSpPr>
            <p:nvPr/>
          </p:nvSpPr>
          <p:spPr bwMode="auto">
            <a:xfrm>
              <a:off x="3983" y="2782"/>
              <a:ext cx="92" cy="114"/>
            </a:xfrm>
            <a:custGeom>
              <a:avLst/>
              <a:gdLst>
                <a:gd name="T0" fmla="*/ 4737 w 73"/>
                <a:gd name="T1" fmla="*/ 472 h 105"/>
                <a:gd name="T2" fmla="*/ 1 w 73"/>
                <a:gd name="T3" fmla="*/ 573 h 105"/>
                <a:gd name="T4" fmla="*/ 0 w 73"/>
                <a:gd name="T5" fmla="*/ 566 h 105"/>
                <a:gd name="T6" fmla="*/ 3081 w 73"/>
                <a:gd name="T7" fmla="*/ 292 h 105"/>
                <a:gd name="T8" fmla="*/ 3419 w 73"/>
                <a:gd name="T9" fmla="*/ 252 h 105"/>
                <a:gd name="T10" fmla="*/ 3568 w 73"/>
                <a:gd name="T11" fmla="*/ 218 h 105"/>
                <a:gd name="T12" fmla="*/ 3883 w 73"/>
                <a:gd name="T13" fmla="*/ 181 h 105"/>
                <a:gd name="T14" fmla="*/ 4052 w 73"/>
                <a:gd name="T15" fmla="*/ 145 h 105"/>
                <a:gd name="T16" fmla="*/ 4369 w 73"/>
                <a:gd name="T17" fmla="*/ 107 h 105"/>
                <a:gd name="T18" fmla="*/ 4691 w 73"/>
                <a:gd name="T19" fmla="*/ 69 h 105"/>
                <a:gd name="T20" fmla="*/ 4894 w 73"/>
                <a:gd name="T21" fmla="*/ 39 h 105"/>
                <a:gd name="T22" fmla="*/ 5107 w 73"/>
                <a:gd name="T23" fmla="*/ 0 h 105"/>
                <a:gd name="T24" fmla="*/ 5322 w 73"/>
                <a:gd name="T25" fmla="*/ 39 h 105"/>
                <a:gd name="T26" fmla="*/ 5431 w 73"/>
                <a:gd name="T27" fmla="*/ 69 h 105"/>
                <a:gd name="T28" fmla="*/ 5667 w 73"/>
                <a:gd name="T29" fmla="*/ 107 h 105"/>
                <a:gd name="T30" fmla="*/ 5912 w 73"/>
                <a:gd name="T31" fmla="*/ 145 h 105"/>
                <a:gd name="T32" fmla="*/ 5913 w 73"/>
                <a:gd name="T33" fmla="*/ 185 h 105"/>
                <a:gd name="T34" fmla="*/ 6168 w 73"/>
                <a:gd name="T35" fmla="*/ 225 h 105"/>
                <a:gd name="T36" fmla="*/ 6436 w 73"/>
                <a:gd name="T37" fmla="*/ 257 h 105"/>
                <a:gd name="T38" fmla="*/ 6592 w 73"/>
                <a:gd name="T39" fmla="*/ 297 h 105"/>
                <a:gd name="T40" fmla="*/ 9390 w 73"/>
                <a:gd name="T41" fmla="*/ 579 h 105"/>
                <a:gd name="T42" fmla="*/ 9050 w 73"/>
                <a:gd name="T43" fmla="*/ 585 h 105"/>
                <a:gd name="T44" fmla="*/ 4737 w 73"/>
                <a:gd name="T45" fmla="*/ 47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5"/>
                <a:gd name="T71" fmla="*/ 73 w 73"/>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5">
                  <a:moveTo>
                    <a:pt x="37" y="84"/>
                  </a:moveTo>
                  <a:lnTo>
                    <a:pt x="1" y="102"/>
                  </a:lnTo>
                  <a:lnTo>
                    <a:pt x="0" y="101"/>
                  </a:lnTo>
                  <a:lnTo>
                    <a:pt x="24" y="52"/>
                  </a:lnTo>
                  <a:lnTo>
                    <a:pt x="26" y="45"/>
                  </a:lnTo>
                  <a:lnTo>
                    <a:pt x="28" y="39"/>
                  </a:lnTo>
                  <a:lnTo>
                    <a:pt x="30" y="32"/>
                  </a:lnTo>
                  <a:lnTo>
                    <a:pt x="32" y="26"/>
                  </a:lnTo>
                  <a:lnTo>
                    <a:pt x="34" y="19"/>
                  </a:lnTo>
                  <a:lnTo>
                    <a:pt x="36" y="13"/>
                  </a:lnTo>
                  <a:lnTo>
                    <a:pt x="38" y="6"/>
                  </a:lnTo>
                  <a:lnTo>
                    <a:pt x="40" y="0"/>
                  </a:lnTo>
                  <a:lnTo>
                    <a:pt x="41" y="6"/>
                  </a:lnTo>
                  <a:lnTo>
                    <a:pt x="42" y="13"/>
                  </a:lnTo>
                  <a:lnTo>
                    <a:pt x="44" y="19"/>
                  </a:lnTo>
                  <a:lnTo>
                    <a:pt x="45" y="26"/>
                  </a:lnTo>
                  <a:lnTo>
                    <a:pt x="46" y="33"/>
                  </a:lnTo>
                  <a:lnTo>
                    <a:pt x="48" y="40"/>
                  </a:lnTo>
                  <a:lnTo>
                    <a:pt x="50" y="46"/>
                  </a:lnTo>
                  <a:lnTo>
                    <a:pt x="51" y="53"/>
                  </a:lnTo>
                  <a:lnTo>
                    <a:pt x="72" y="103"/>
                  </a:lnTo>
                  <a:lnTo>
                    <a:pt x="71" y="104"/>
                  </a:lnTo>
                  <a:lnTo>
                    <a:pt x="37" y="8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1" name="Freeform 269">
              <a:extLst>
                <a:ext uri="{FF2B5EF4-FFF2-40B4-BE49-F238E27FC236}">
                  <a16:creationId xmlns:a16="http://schemas.microsoft.com/office/drawing/2014/main" id="{939DA701-A416-BD35-7225-266C9D6E467B}"/>
                </a:ext>
              </a:extLst>
            </p:cNvPr>
            <p:cNvSpPr>
              <a:spLocks/>
            </p:cNvSpPr>
            <p:nvPr/>
          </p:nvSpPr>
          <p:spPr bwMode="auto">
            <a:xfrm>
              <a:off x="3735" y="3034"/>
              <a:ext cx="90" cy="159"/>
            </a:xfrm>
            <a:custGeom>
              <a:avLst/>
              <a:gdLst>
                <a:gd name="T0" fmla="*/ 1389 w 72"/>
                <a:gd name="T1" fmla="*/ 759 h 147"/>
                <a:gd name="T2" fmla="*/ 1451 w 72"/>
                <a:gd name="T3" fmla="*/ 715 h 147"/>
                <a:gd name="T4" fmla="*/ 1736 w 72"/>
                <a:gd name="T5" fmla="*/ 691 h 147"/>
                <a:gd name="T6" fmla="*/ 2018 w 72"/>
                <a:gd name="T7" fmla="*/ 661 h 147"/>
                <a:gd name="T8" fmla="*/ 2424 w 72"/>
                <a:gd name="T9" fmla="*/ 647 h 147"/>
                <a:gd name="T10" fmla="*/ 2805 w 72"/>
                <a:gd name="T11" fmla="*/ 624 h 147"/>
                <a:gd name="T12" fmla="*/ 3430 w 72"/>
                <a:gd name="T13" fmla="*/ 604 h 147"/>
                <a:gd name="T14" fmla="*/ 4093 w 72"/>
                <a:gd name="T15" fmla="*/ 591 h 147"/>
                <a:gd name="T16" fmla="*/ 4794 w 72"/>
                <a:gd name="T17" fmla="*/ 558 h 147"/>
                <a:gd name="T18" fmla="*/ 5549 w 72"/>
                <a:gd name="T19" fmla="*/ 529 h 147"/>
                <a:gd name="T20" fmla="*/ 6104 w 72"/>
                <a:gd name="T21" fmla="*/ 493 h 147"/>
                <a:gd name="T22" fmla="*/ 6700 w 72"/>
                <a:gd name="T23" fmla="*/ 441 h 147"/>
                <a:gd name="T24" fmla="*/ 6979 w 72"/>
                <a:gd name="T25" fmla="*/ 386 h 147"/>
                <a:gd name="T26" fmla="*/ 7491 w 72"/>
                <a:gd name="T27" fmla="*/ 314 h 147"/>
                <a:gd name="T28" fmla="*/ 7755 w 72"/>
                <a:gd name="T29" fmla="*/ 226 h 147"/>
                <a:gd name="T30" fmla="*/ 7755 w 72"/>
                <a:gd name="T31" fmla="*/ 123 h 147"/>
                <a:gd name="T32" fmla="*/ 7491 w 72"/>
                <a:gd name="T33" fmla="*/ 0 h 147"/>
                <a:gd name="T34" fmla="*/ 6104 w 72"/>
                <a:gd name="T35" fmla="*/ 1 h 147"/>
                <a:gd name="T36" fmla="*/ 6204 w 72"/>
                <a:gd name="T37" fmla="*/ 123 h 147"/>
                <a:gd name="T38" fmla="*/ 6250 w 72"/>
                <a:gd name="T39" fmla="*/ 215 h 147"/>
                <a:gd name="T40" fmla="*/ 6104 w 72"/>
                <a:gd name="T41" fmla="*/ 295 h 147"/>
                <a:gd name="T42" fmla="*/ 5650 w 72"/>
                <a:gd name="T43" fmla="*/ 368 h 147"/>
                <a:gd name="T44" fmla="*/ 5299 w 72"/>
                <a:gd name="T45" fmla="*/ 418 h 147"/>
                <a:gd name="T46" fmla="*/ 4929 w 72"/>
                <a:gd name="T47" fmla="*/ 452 h 147"/>
                <a:gd name="T48" fmla="*/ 4288 w 72"/>
                <a:gd name="T49" fmla="*/ 483 h 147"/>
                <a:gd name="T50" fmla="*/ 3845 w 72"/>
                <a:gd name="T51" fmla="*/ 511 h 147"/>
                <a:gd name="T52" fmla="*/ 3176 w 72"/>
                <a:gd name="T53" fmla="*/ 529 h 147"/>
                <a:gd name="T54" fmla="*/ 2541 w 72"/>
                <a:gd name="T55" fmla="*/ 547 h 147"/>
                <a:gd name="T56" fmla="*/ 2091 w 72"/>
                <a:gd name="T57" fmla="*/ 572 h 147"/>
                <a:gd name="T58" fmla="*/ 1389 w 72"/>
                <a:gd name="T59" fmla="*/ 592 h 147"/>
                <a:gd name="T60" fmla="*/ 881 w 72"/>
                <a:gd name="T61" fmla="*/ 624 h 147"/>
                <a:gd name="T62" fmla="*/ 338 w 72"/>
                <a:gd name="T63" fmla="*/ 653 h 147"/>
                <a:gd name="T64" fmla="*/ 1 w 72"/>
                <a:gd name="T65" fmla="*/ 702 h 147"/>
                <a:gd name="T66" fmla="*/ 0 w 72"/>
                <a:gd name="T67" fmla="*/ 759 h 147"/>
                <a:gd name="T68" fmla="*/ 1389 w 72"/>
                <a:gd name="T69" fmla="*/ 759 h 14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2"/>
                <a:gd name="T106" fmla="*/ 0 h 147"/>
                <a:gd name="T107" fmla="*/ 72 w 72"/>
                <a:gd name="T108" fmla="*/ 147 h 14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2" h="147">
                  <a:moveTo>
                    <a:pt x="13" y="146"/>
                  </a:moveTo>
                  <a:lnTo>
                    <a:pt x="14" y="138"/>
                  </a:lnTo>
                  <a:lnTo>
                    <a:pt x="16" y="132"/>
                  </a:lnTo>
                  <a:lnTo>
                    <a:pt x="18" y="128"/>
                  </a:lnTo>
                  <a:lnTo>
                    <a:pt x="22" y="124"/>
                  </a:lnTo>
                  <a:lnTo>
                    <a:pt x="26" y="120"/>
                  </a:lnTo>
                  <a:lnTo>
                    <a:pt x="32" y="117"/>
                  </a:lnTo>
                  <a:lnTo>
                    <a:pt x="38" y="113"/>
                  </a:lnTo>
                  <a:lnTo>
                    <a:pt x="44" y="108"/>
                  </a:lnTo>
                  <a:lnTo>
                    <a:pt x="51" y="102"/>
                  </a:lnTo>
                  <a:lnTo>
                    <a:pt x="56" y="95"/>
                  </a:lnTo>
                  <a:lnTo>
                    <a:pt x="62" y="85"/>
                  </a:lnTo>
                  <a:lnTo>
                    <a:pt x="65" y="74"/>
                  </a:lnTo>
                  <a:lnTo>
                    <a:pt x="69" y="60"/>
                  </a:lnTo>
                  <a:lnTo>
                    <a:pt x="71" y="43"/>
                  </a:lnTo>
                  <a:lnTo>
                    <a:pt x="71" y="24"/>
                  </a:lnTo>
                  <a:lnTo>
                    <a:pt x="69" y="0"/>
                  </a:lnTo>
                  <a:lnTo>
                    <a:pt x="56" y="1"/>
                  </a:lnTo>
                  <a:lnTo>
                    <a:pt x="57" y="24"/>
                  </a:lnTo>
                  <a:lnTo>
                    <a:pt x="58" y="42"/>
                  </a:lnTo>
                  <a:lnTo>
                    <a:pt x="56" y="57"/>
                  </a:lnTo>
                  <a:lnTo>
                    <a:pt x="52" y="70"/>
                  </a:lnTo>
                  <a:lnTo>
                    <a:pt x="49" y="80"/>
                  </a:lnTo>
                  <a:lnTo>
                    <a:pt x="45" y="87"/>
                  </a:lnTo>
                  <a:lnTo>
                    <a:pt x="40" y="93"/>
                  </a:lnTo>
                  <a:lnTo>
                    <a:pt x="35" y="98"/>
                  </a:lnTo>
                  <a:lnTo>
                    <a:pt x="30" y="102"/>
                  </a:lnTo>
                  <a:lnTo>
                    <a:pt x="24" y="105"/>
                  </a:lnTo>
                  <a:lnTo>
                    <a:pt x="19" y="110"/>
                  </a:lnTo>
                  <a:lnTo>
                    <a:pt x="13" y="114"/>
                  </a:lnTo>
                  <a:lnTo>
                    <a:pt x="8" y="120"/>
                  </a:lnTo>
                  <a:lnTo>
                    <a:pt x="3" y="127"/>
                  </a:lnTo>
                  <a:lnTo>
                    <a:pt x="1" y="135"/>
                  </a:lnTo>
                  <a:lnTo>
                    <a:pt x="0" y="146"/>
                  </a:lnTo>
                  <a:lnTo>
                    <a:pt x="13" y="14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2" name="Freeform 270">
              <a:extLst>
                <a:ext uri="{FF2B5EF4-FFF2-40B4-BE49-F238E27FC236}">
                  <a16:creationId xmlns:a16="http://schemas.microsoft.com/office/drawing/2014/main" id="{FDB79319-F146-0119-5270-1BA27D494CB0}"/>
                </a:ext>
              </a:extLst>
            </p:cNvPr>
            <p:cNvSpPr>
              <a:spLocks/>
            </p:cNvSpPr>
            <p:nvPr/>
          </p:nvSpPr>
          <p:spPr bwMode="auto">
            <a:xfrm>
              <a:off x="3735" y="3192"/>
              <a:ext cx="135" cy="120"/>
            </a:xfrm>
            <a:custGeom>
              <a:avLst/>
              <a:gdLst>
                <a:gd name="T0" fmla="*/ 10091 w 108"/>
                <a:gd name="T1" fmla="*/ 562 h 111"/>
                <a:gd name="T2" fmla="*/ 11705 w 108"/>
                <a:gd name="T3" fmla="*/ 562 h 111"/>
                <a:gd name="T4" fmla="*/ 11366 w 108"/>
                <a:gd name="T5" fmla="*/ 512 h 111"/>
                <a:gd name="T6" fmla="*/ 11124 w 108"/>
                <a:gd name="T7" fmla="*/ 456 h 111"/>
                <a:gd name="T8" fmla="*/ 10469 w 108"/>
                <a:gd name="T9" fmla="*/ 417 h 111"/>
                <a:gd name="T10" fmla="*/ 9798 w 108"/>
                <a:gd name="T11" fmla="*/ 377 h 111"/>
                <a:gd name="T12" fmla="*/ 8944 w 108"/>
                <a:gd name="T13" fmla="*/ 343 h 111"/>
                <a:gd name="T14" fmla="*/ 8073 w 108"/>
                <a:gd name="T15" fmla="*/ 316 h 111"/>
                <a:gd name="T16" fmla="*/ 6979 w 108"/>
                <a:gd name="T17" fmla="*/ 292 h 111"/>
                <a:gd name="T18" fmla="*/ 6104 w 108"/>
                <a:gd name="T19" fmla="*/ 256 h 111"/>
                <a:gd name="T20" fmla="*/ 5250 w 108"/>
                <a:gd name="T21" fmla="*/ 232 h 111"/>
                <a:gd name="T22" fmla="*/ 4239 w 108"/>
                <a:gd name="T23" fmla="*/ 203 h 111"/>
                <a:gd name="T24" fmla="*/ 3544 w 108"/>
                <a:gd name="T25" fmla="*/ 174 h 111"/>
                <a:gd name="T26" fmla="*/ 2841 w 108"/>
                <a:gd name="T27" fmla="*/ 144 h 111"/>
                <a:gd name="T28" fmla="*/ 2273 w 108"/>
                <a:gd name="T29" fmla="*/ 114 h 111"/>
                <a:gd name="T30" fmla="*/ 1736 w 108"/>
                <a:gd name="T31" fmla="*/ 74 h 111"/>
                <a:gd name="T32" fmla="*/ 1454 w 108"/>
                <a:gd name="T33" fmla="*/ 43 h 111"/>
                <a:gd name="T34" fmla="*/ 1389 w 108"/>
                <a:gd name="T35" fmla="*/ 0 h 111"/>
                <a:gd name="T36" fmla="*/ 0 w 108"/>
                <a:gd name="T37" fmla="*/ 0 h 111"/>
                <a:gd name="T38" fmla="*/ 1 w 108"/>
                <a:gd name="T39" fmla="*/ 54 h 111"/>
                <a:gd name="T40" fmla="*/ 455 w 108"/>
                <a:gd name="T41" fmla="*/ 109 h 111"/>
                <a:gd name="T42" fmla="*/ 930 w 108"/>
                <a:gd name="T43" fmla="*/ 156 h 111"/>
                <a:gd name="T44" fmla="*/ 1673 w 108"/>
                <a:gd name="T45" fmla="*/ 188 h 111"/>
                <a:gd name="T46" fmla="*/ 2523 w 108"/>
                <a:gd name="T47" fmla="*/ 232 h 111"/>
                <a:gd name="T48" fmla="*/ 3544 w 108"/>
                <a:gd name="T49" fmla="*/ 256 h 111"/>
                <a:gd name="T50" fmla="*/ 4430 w 108"/>
                <a:gd name="T51" fmla="*/ 293 h 111"/>
                <a:gd name="T52" fmla="*/ 5538 w 108"/>
                <a:gd name="T53" fmla="*/ 317 h 111"/>
                <a:gd name="T54" fmla="*/ 6204 w 108"/>
                <a:gd name="T55" fmla="*/ 343 h 111"/>
                <a:gd name="T56" fmla="*/ 7266 w 108"/>
                <a:gd name="T57" fmla="*/ 374 h 111"/>
                <a:gd name="T58" fmla="*/ 8073 w 108"/>
                <a:gd name="T59" fmla="*/ 401 h 111"/>
                <a:gd name="T60" fmla="*/ 8724 w 108"/>
                <a:gd name="T61" fmla="*/ 434 h 111"/>
                <a:gd name="T62" fmla="*/ 9388 w 108"/>
                <a:gd name="T63" fmla="*/ 467 h 111"/>
                <a:gd name="T64" fmla="*/ 9798 w 108"/>
                <a:gd name="T65" fmla="*/ 493 h 111"/>
                <a:gd name="T66" fmla="*/ 9993 w 108"/>
                <a:gd name="T67" fmla="*/ 520 h 111"/>
                <a:gd name="T68" fmla="*/ 10091 w 108"/>
                <a:gd name="T69" fmla="*/ 562 h 111"/>
                <a:gd name="T70" fmla="*/ 11705 w 108"/>
                <a:gd name="T71" fmla="*/ 562 h 111"/>
                <a:gd name="T72" fmla="*/ 10091 w 108"/>
                <a:gd name="T73" fmla="*/ 562 h 11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111"/>
                <a:gd name="T113" fmla="*/ 108 w 108"/>
                <a:gd name="T114" fmla="*/ 111 h 11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111">
                  <a:moveTo>
                    <a:pt x="93" y="110"/>
                  </a:moveTo>
                  <a:lnTo>
                    <a:pt x="107" y="110"/>
                  </a:lnTo>
                  <a:lnTo>
                    <a:pt x="105" y="100"/>
                  </a:lnTo>
                  <a:lnTo>
                    <a:pt x="102" y="89"/>
                  </a:lnTo>
                  <a:lnTo>
                    <a:pt x="96" y="81"/>
                  </a:lnTo>
                  <a:lnTo>
                    <a:pt x="90" y="74"/>
                  </a:lnTo>
                  <a:lnTo>
                    <a:pt x="82" y="67"/>
                  </a:lnTo>
                  <a:lnTo>
                    <a:pt x="74" y="61"/>
                  </a:lnTo>
                  <a:lnTo>
                    <a:pt x="65" y="56"/>
                  </a:lnTo>
                  <a:lnTo>
                    <a:pt x="56" y="50"/>
                  </a:lnTo>
                  <a:lnTo>
                    <a:pt x="48" y="45"/>
                  </a:lnTo>
                  <a:lnTo>
                    <a:pt x="39" y="40"/>
                  </a:lnTo>
                  <a:lnTo>
                    <a:pt x="32" y="34"/>
                  </a:lnTo>
                  <a:lnTo>
                    <a:pt x="26" y="28"/>
                  </a:lnTo>
                  <a:lnTo>
                    <a:pt x="21" y="22"/>
                  </a:lnTo>
                  <a:lnTo>
                    <a:pt x="16" y="15"/>
                  </a:lnTo>
                  <a:lnTo>
                    <a:pt x="14" y="8"/>
                  </a:lnTo>
                  <a:lnTo>
                    <a:pt x="13" y="0"/>
                  </a:lnTo>
                  <a:lnTo>
                    <a:pt x="0" y="0"/>
                  </a:lnTo>
                  <a:lnTo>
                    <a:pt x="1" y="11"/>
                  </a:lnTo>
                  <a:lnTo>
                    <a:pt x="4" y="21"/>
                  </a:lnTo>
                  <a:lnTo>
                    <a:pt x="9" y="30"/>
                  </a:lnTo>
                  <a:lnTo>
                    <a:pt x="15" y="37"/>
                  </a:lnTo>
                  <a:lnTo>
                    <a:pt x="23" y="45"/>
                  </a:lnTo>
                  <a:lnTo>
                    <a:pt x="32" y="50"/>
                  </a:lnTo>
                  <a:lnTo>
                    <a:pt x="40" y="57"/>
                  </a:lnTo>
                  <a:lnTo>
                    <a:pt x="50" y="62"/>
                  </a:lnTo>
                  <a:lnTo>
                    <a:pt x="57" y="67"/>
                  </a:lnTo>
                  <a:lnTo>
                    <a:pt x="66" y="73"/>
                  </a:lnTo>
                  <a:lnTo>
                    <a:pt x="74" y="78"/>
                  </a:lnTo>
                  <a:lnTo>
                    <a:pt x="81" y="84"/>
                  </a:lnTo>
                  <a:lnTo>
                    <a:pt x="86" y="90"/>
                  </a:lnTo>
                  <a:lnTo>
                    <a:pt x="90" y="96"/>
                  </a:lnTo>
                  <a:lnTo>
                    <a:pt x="92" y="102"/>
                  </a:lnTo>
                  <a:lnTo>
                    <a:pt x="93" y="110"/>
                  </a:lnTo>
                  <a:lnTo>
                    <a:pt x="107" y="110"/>
                  </a:lnTo>
                  <a:lnTo>
                    <a:pt x="93" y="11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3" name="Freeform 271">
              <a:extLst>
                <a:ext uri="{FF2B5EF4-FFF2-40B4-BE49-F238E27FC236}">
                  <a16:creationId xmlns:a16="http://schemas.microsoft.com/office/drawing/2014/main" id="{68C0C31C-039D-1F18-CD0B-DF887D02AD50}"/>
                </a:ext>
              </a:extLst>
            </p:cNvPr>
            <p:cNvSpPr>
              <a:spLocks/>
            </p:cNvSpPr>
            <p:nvPr/>
          </p:nvSpPr>
          <p:spPr bwMode="auto">
            <a:xfrm>
              <a:off x="3852" y="3311"/>
              <a:ext cx="18" cy="2"/>
            </a:xfrm>
            <a:custGeom>
              <a:avLst/>
              <a:gdLst>
                <a:gd name="T0" fmla="*/ 642 w 15"/>
                <a:gd name="T1" fmla="*/ 0 h 2"/>
                <a:gd name="T2" fmla="*/ 0 w 15"/>
                <a:gd name="T3" fmla="*/ 0 h 2"/>
                <a:gd name="T4" fmla="*/ 0 w 15"/>
                <a:gd name="T5" fmla="*/ 1 h 2"/>
                <a:gd name="T6" fmla="*/ 642 w 15"/>
                <a:gd name="T7" fmla="*/ 1 h 2"/>
                <a:gd name="T8" fmla="*/ 642 w 15"/>
                <a:gd name="T9" fmla="*/ 0 h 2"/>
                <a:gd name="T10" fmla="*/ 0 w 15"/>
                <a:gd name="T11" fmla="*/ 0 h 2"/>
                <a:gd name="T12" fmla="*/ 642 w 15"/>
                <a:gd name="T13" fmla="*/ 0 h 2"/>
                <a:gd name="T14" fmla="*/ 0 60000 65536"/>
                <a:gd name="T15" fmla="*/ 0 60000 65536"/>
                <a:gd name="T16" fmla="*/ 0 60000 65536"/>
                <a:gd name="T17" fmla="*/ 0 60000 65536"/>
                <a:gd name="T18" fmla="*/ 0 60000 65536"/>
                <a:gd name="T19" fmla="*/ 0 60000 65536"/>
                <a:gd name="T20" fmla="*/ 0 60000 65536"/>
                <a:gd name="T21" fmla="*/ 0 w 15"/>
                <a:gd name="T22" fmla="*/ 0 h 2"/>
                <a:gd name="T23" fmla="*/ 15 w 15"/>
                <a:gd name="T24" fmla="*/ 2 h 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2">
                  <a:moveTo>
                    <a:pt x="14" y="0"/>
                  </a:moveTo>
                  <a:lnTo>
                    <a:pt x="0" y="0"/>
                  </a:lnTo>
                  <a:lnTo>
                    <a:pt x="0" y="1"/>
                  </a:lnTo>
                  <a:lnTo>
                    <a:pt x="14" y="1"/>
                  </a:lnTo>
                  <a:lnTo>
                    <a:pt x="14" y="0"/>
                  </a:lnTo>
                  <a:lnTo>
                    <a:pt x="0" y="0"/>
                  </a:lnTo>
                  <a:lnTo>
                    <a:pt x="14"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4" name="Freeform 272">
              <a:extLst>
                <a:ext uri="{FF2B5EF4-FFF2-40B4-BE49-F238E27FC236}">
                  <a16:creationId xmlns:a16="http://schemas.microsoft.com/office/drawing/2014/main" id="{F4B7D543-37D7-260F-2DEF-B72BF2C39676}"/>
                </a:ext>
              </a:extLst>
            </p:cNvPr>
            <p:cNvSpPr>
              <a:spLocks/>
            </p:cNvSpPr>
            <p:nvPr/>
          </p:nvSpPr>
          <p:spPr bwMode="auto">
            <a:xfrm>
              <a:off x="3734" y="3311"/>
              <a:ext cx="136" cy="116"/>
            </a:xfrm>
            <a:custGeom>
              <a:avLst/>
              <a:gdLst>
                <a:gd name="T0" fmla="*/ 1370 w 109"/>
                <a:gd name="T1" fmla="*/ 576 h 107"/>
                <a:gd name="T2" fmla="*/ 1573 w 109"/>
                <a:gd name="T3" fmla="*/ 531 h 107"/>
                <a:gd name="T4" fmla="*/ 1709 w 109"/>
                <a:gd name="T5" fmla="*/ 504 h 107"/>
                <a:gd name="T6" fmla="*/ 2132 w 109"/>
                <a:gd name="T7" fmla="*/ 475 h 107"/>
                <a:gd name="T8" fmla="*/ 2660 w 109"/>
                <a:gd name="T9" fmla="*/ 439 h 107"/>
                <a:gd name="T10" fmla="*/ 3457 w 109"/>
                <a:gd name="T11" fmla="*/ 405 h 107"/>
                <a:gd name="T12" fmla="*/ 4313 w 109"/>
                <a:gd name="T13" fmla="*/ 378 h 107"/>
                <a:gd name="T14" fmla="*/ 5021 w 109"/>
                <a:gd name="T15" fmla="*/ 349 h 107"/>
                <a:gd name="T16" fmla="*/ 6028 w 109"/>
                <a:gd name="T17" fmla="*/ 322 h 107"/>
                <a:gd name="T18" fmla="*/ 6801 w 109"/>
                <a:gd name="T19" fmla="*/ 297 h 107"/>
                <a:gd name="T20" fmla="*/ 7817 w 109"/>
                <a:gd name="T21" fmla="*/ 270 h 107"/>
                <a:gd name="T22" fmla="*/ 8684 w 109"/>
                <a:gd name="T23" fmla="*/ 244 h 107"/>
                <a:gd name="T24" fmla="*/ 9501 w 109"/>
                <a:gd name="T25" fmla="*/ 208 h 107"/>
                <a:gd name="T26" fmla="*/ 10188 w 109"/>
                <a:gd name="T27" fmla="*/ 167 h 107"/>
                <a:gd name="T28" fmla="*/ 10835 w 109"/>
                <a:gd name="T29" fmla="*/ 113 h 107"/>
                <a:gd name="T30" fmla="*/ 11093 w 109"/>
                <a:gd name="T31" fmla="*/ 59 h 107"/>
                <a:gd name="T32" fmla="*/ 11269 w 109"/>
                <a:gd name="T33" fmla="*/ 0 h 107"/>
                <a:gd name="T34" fmla="*/ 9753 w 109"/>
                <a:gd name="T35" fmla="*/ 0 h 107"/>
                <a:gd name="T36" fmla="*/ 9731 w 109"/>
                <a:gd name="T37" fmla="*/ 46 h 107"/>
                <a:gd name="T38" fmla="*/ 9501 w 109"/>
                <a:gd name="T39" fmla="*/ 88 h 107"/>
                <a:gd name="T40" fmla="*/ 9154 w 109"/>
                <a:gd name="T41" fmla="*/ 121 h 107"/>
                <a:gd name="T42" fmla="*/ 8486 w 109"/>
                <a:gd name="T43" fmla="*/ 144 h 107"/>
                <a:gd name="T44" fmla="*/ 7817 w 109"/>
                <a:gd name="T45" fmla="*/ 183 h 107"/>
                <a:gd name="T46" fmla="*/ 7008 w 109"/>
                <a:gd name="T47" fmla="*/ 208 h 107"/>
                <a:gd name="T48" fmla="*/ 6155 w 109"/>
                <a:gd name="T49" fmla="*/ 244 h 107"/>
                <a:gd name="T50" fmla="*/ 5381 w 109"/>
                <a:gd name="T51" fmla="*/ 267 h 107"/>
                <a:gd name="T52" fmla="*/ 4357 w 109"/>
                <a:gd name="T53" fmla="*/ 289 h 107"/>
                <a:gd name="T54" fmla="*/ 3457 w 109"/>
                <a:gd name="T55" fmla="*/ 318 h 107"/>
                <a:gd name="T56" fmla="*/ 2633 w 109"/>
                <a:gd name="T57" fmla="*/ 345 h 107"/>
                <a:gd name="T58" fmla="*/ 1709 w 109"/>
                <a:gd name="T59" fmla="*/ 378 h 107"/>
                <a:gd name="T60" fmla="*/ 1011 w 109"/>
                <a:gd name="T61" fmla="*/ 417 h 107"/>
                <a:gd name="T62" fmla="*/ 453 w 109"/>
                <a:gd name="T63" fmla="*/ 469 h 107"/>
                <a:gd name="T64" fmla="*/ 2 w 109"/>
                <a:gd name="T65" fmla="*/ 521 h 107"/>
                <a:gd name="T66" fmla="*/ 0 w 109"/>
                <a:gd name="T67" fmla="*/ 576 h 107"/>
                <a:gd name="T68" fmla="*/ 1370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4" y="106"/>
                  </a:moveTo>
                  <a:lnTo>
                    <a:pt x="15" y="98"/>
                  </a:lnTo>
                  <a:lnTo>
                    <a:pt x="17" y="92"/>
                  </a:lnTo>
                  <a:lnTo>
                    <a:pt x="21" y="87"/>
                  </a:lnTo>
                  <a:lnTo>
                    <a:pt x="26" y="81"/>
                  </a:lnTo>
                  <a:lnTo>
                    <a:pt x="33" y="75"/>
                  </a:lnTo>
                  <a:lnTo>
                    <a:pt x="41" y="70"/>
                  </a:lnTo>
                  <a:lnTo>
                    <a:pt x="48" y="65"/>
                  </a:lnTo>
                  <a:lnTo>
                    <a:pt x="58" y="60"/>
                  </a:lnTo>
                  <a:lnTo>
                    <a:pt x="66" y="55"/>
                  </a:lnTo>
                  <a:lnTo>
                    <a:pt x="75" y="50"/>
                  </a:lnTo>
                  <a:lnTo>
                    <a:pt x="83" y="44"/>
                  </a:lnTo>
                  <a:lnTo>
                    <a:pt x="91" y="38"/>
                  </a:lnTo>
                  <a:lnTo>
                    <a:pt x="98" y="30"/>
                  </a:lnTo>
                  <a:lnTo>
                    <a:pt x="104" y="21"/>
                  </a:lnTo>
                  <a:lnTo>
                    <a:pt x="106" y="11"/>
                  </a:lnTo>
                  <a:lnTo>
                    <a:pt x="108" y="0"/>
                  </a:lnTo>
                  <a:lnTo>
                    <a:pt x="94" y="0"/>
                  </a:lnTo>
                  <a:lnTo>
                    <a:pt x="93" y="8"/>
                  </a:lnTo>
                  <a:lnTo>
                    <a:pt x="91" y="16"/>
                  </a:lnTo>
                  <a:lnTo>
                    <a:pt x="87" y="22"/>
                  </a:lnTo>
                  <a:lnTo>
                    <a:pt x="82" y="27"/>
                  </a:lnTo>
                  <a:lnTo>
                    <a:pt x="75" y="34"/>
                  </a:lnTo>
                  <a:lnTo>
                    <a:pt x="67" y="38"/>
                  </a:lnTo>
                  <a:lnTo>
                    <a:pt x="59" y="44"/>
                  </a:lnTo>
                  <a:lnTo>
                    <a:pt x="51" y="49"/>
                  </a:lnTo>
                  <a:lnTo>
                    <a:pt x="42" y="53"/>
                  </a:lnTo>
                  <a:lnTo>
                    <a:pt x="33" y="59"/>
                  </a:lnTo>
                  <a:lnTo>
                    <a:pt x="25" y="64"/>
                  </a:lnTo>
                  <a:lnTo>
                    <a:pt x="17" y="70"/>
                  </a:lnTo>
                  <a:lnTo>
                    <a:pt x="10" y="77"/>
                  </a:lnTo>
                  <a:lnTo>
                    <a:pt x="5" y="86"/>
                  </a:lnTo>
                  <a:lnTo>
                    <a:pt x="2" y="96"/>
                  </a:lnTo>
                  <a:lnTo>
                    <a:pt x="0" y="106"/>
                  </a:lnTo>
                  <a:lnTo>
                    <a:pt x="14"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5" name="Freeform 273">
              <a:extLst>
                <a:ext uri="{FF2B5EF4-FFF2-40B4-BE49-F238E27FC236}">
                  <a16:creationId xmlns:a16="http://schemas.microsoft.com/office/drawing/2014/main" id="{4FA1CD43-B7E1-E1E0-2850-51AA8874560A}"/>
                </a:ext>
              </a:extLst>
            </p:cNvPr>
            <p:cNvSpPr>
              <a:spLocks/>
            </p:cNvSpPr>
            <p:nvPr/>
          </p:nvSpPr>
          <p:spPr bwMode="auto">
            <a:xfrm>
              <a:off x="3734" y="3426"/>
              <a:ext cx="136" cy="115"/>
            </a:xfrm>
            <a:custGeom>
              <a:avLst/>
              <a:gdLst>
                <a:gd name="T0" fmla="*/ 11269 w 109"/>
                <a:gd name="T1" fmla="*/ 480 h 107"/>
                <a:gd name="T2" fmla="*/ 11093 w 109"/>
                <a:gd name="T3" fmla="*/ 434 h 107"/>
                <a:gd name="T4" fmla="*/ 10835 w 109"/>
                <a:gd name="T5" fmla="*/ 383 h 107"/>
                <a:gd name="T6" fmla="*/ 10188 w 109"/>
                <a:gd name="T7" fmla="*/ 350 h 107"/>
                <a:gd name="T8" fmla="*/ 9501 w 109"/>
                <a:gd name="T9" fmla="*/ 306 h 107"/>
                <a:gd name="T10" fmla="*/ 8684 w 109"/>
                <a:gd name="T11" fmla="*/ 284 h 107"/>
                <a:gd name="T12" fmla="*/ 7817 w 109"/>
                <a:gd name="T13" fmla="*/ 251 h 107"/>
                <a:gd name="T14" fmla="*/ 6801 w 109"/>
                <a:gd name="T15" fmla="*/ 230 h 107"/>
                <a:gd name="T16" fmla="*/ 6028 w 109"/>
                <a:gd name="T17" fmla="*/ 203 h 107"/>
                <a:gd name="T18" fmla="*/ 5021 w 109"/>
                <a:gd name="T19" fmla="*/ 182 h 107"/>
                <a:gd name="T20" fmla="*/ 4313 w 109"/>
                <a:gd name="T21" fmla="*/ 160 h 107"/>
                <a:gd name="T22" fmla="*/ 3457 w 109"/>
                <a:gd name="T23" fmla="*/ 139 h 107"/>
                <a:gd name="T24" fmla="*/ 2660 w 109"/>
                <a:gd name="T25" fmla="*/ 112 h 107"/>
                <a:gd name="T26" fmla="*/ 2132 w 109"/>
                <a:gd name="T27" fmla="*/ 84 h 107"/>
                <a:gd name="T28" fmla="*/ 1709 w 109"/>
                <a:gd name="T29" fmla="*/ 59 h 107"/>
                <a:gd name="T30" fmla="*/ 1573 w 109"/>
                <a:gd name="T31" fmla="*/ 38 h 107"/>
                <a:gd name="T32" fmla="*/ 1370 w 109"/>
                <a:gd name="T33" fmla="*/ 0 h 107"/>
                <a:gd name="T34" fmla="*/ 0 w 109"/>
                <a:gd name="T35" fmla="*/ 0 h 107"/>
                <a:gd name="T36" fmla="*/ 2 w 109"/>
                <a:gd name="T37" fmla="*/ 44 h 107"/>
                <a:gd name="T38" fmla="*/ 453 w 109"/>
                <a:gd name="T39" fmla="*/ 90 h 107"/>
                <a:gd name="T40" fmla="*/ 1011 w 109"/>
                <a:gd name="T41" fmla="*/ 129 h 107"/>
                <a:gd name="T42" fmla="*/ 1709 w 109"/>
                <a:gd name="T43" fmla="*/ 160 h 107"/>
                <a:gd name="T44" fmla="*/ 2633 w 109"/>
                <a:gd name="T45" fmla="*/ 185 h 107"/>
                <a:gd name="T46" fmla="*/ 3457 w 109"/>
                <a:gd name="T47" fmla="*/ 214 h 107"/>
                <a:gd name="T48" fmla="*/ 4357 w 109"/>
                <a:gd name="T49" fmla="*/ 234 h 107"/>
                <a:gd name="T50" fmla="*/ 5381 w 109"/>
                <a:gd name="T51" fmla="*/ 262 h 107"/>
                <a:gd name="T52" fmla="*/ 6155 w 109"/>
                <a:gd name="T53" fmla="*/ 284 h 107"/>
                <a:gd name="T54" fmla="*/ 7008 w 109"/>
                <a:gd name="T55" fmla="*/ 306 h 107"/>
                <a:gd name="T56" fmla="*/ 7817 w 109"/>
                <a:gd name="T57" fmla="*/ 328 h 107"/>
                <a:gd name="T58" fmla="*/ 8486 w 109"/>
                <a:gd name="T59" fmla="*/ 356 h 107"/>
                <a:gd name="T60" fmla="*/ 9154 w 109"/>
                <a:gd name="T61" fmla="*/ 380 h 107"/>
                <a:gd name="T62" fmla="*/ 9501 w 109"/>
                <a:gd name="T63" fmla="*/ 408 h 107"/>
                <a:gd name="T64" fmla="*/ 9731 w 109"/>
                <a:gd name="T65" fmla="*/ 439 h 107"/>
                <a:gd name="T66" fmla="*/ 9753 w 109"/>
                <a:gd name="T67" fmla="*/ 480 h 107"/>
                <a:gd name="T68" fmla="*/ 11269 w 109"/>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08" y="106"/>
                  </a:moveTo>
                  <a:lnTo>
                    <a:pt x="106" y="95"/>
                  </a:lnTo>
                  <a:lnTo>
                    <a:pt x="104" y="85"/>
                  </a:lnTo>
                  <a:lnTo>
                    <a:pt x="98" y="76"/>
                  </a:lnTo>
                  <a:lnTo>
                    <a:pt x="91" y="68"/>
                  </a:lnTo>
                  <a:lnTo>
                    <a:pt x="83" y="62"/>
                  </a:lnTo>
                  <a:lnTo>
                    <a:pt x="75" y="56"/>
                  </a:lnTo>
                  <a:lnTo>
                    <a:pt x="66" y="51"/>
                  </a:lnTo>
                  <a:lnTo>
                    <a:pt x="58" y="45"/>
                  </a:lnTo>
                  <a:lnTo>
                    <a:pt x="48" y="40"/>
                  </a:lnTo>
                  <a:lnTo>
                    <a:pt x="41" y="35"/>
                  </a:lnTo>
                  <a:lnTo>
                    <a:pt x="33" y="31"/>
                  </a:lnTo>
                  <a:lnTo>
                    <a:pt x="26" y="25"/>
                  </a:lnTo>
                  <a:lnTo>
                    <a:pt x="21" y="19"/>
                  </a:lnTo>
                  <a:lnTo>
                    <a:pt x="17" y="14"/>
                  </a:lnTo>
                  <a:lnTo>
                    <a:pt x="15" y="8"/>
                  </a:lnTo>
                  <a:lnTo>
                    <a:pt x="14" y="0"/>
                  </a:lnTo>
                  <a:lnTo>
                    <a:pt x="0" y="0"/>
                  </a:lnTo>
                  <a:lnTo>
                    <a:pt x="2" y="10"/>
                  </a:lnTo>
                  <a:lnTo>
                    <a:pt x="5" y="20"/>
                  </a:lnTo>
                  <a:lnTo>
                    <a:pt x="10" y="29"/>
                  </a:lnTo>
                  <a:lnTo>
                    <a:pt x="17" y="35"/>
                  </a:lnTo>
                  <a:lnTo>
                    <a:pt x="25" y="41"/>
                  </a:lnTo>
                  <a:lnTo>
                    <a:pt x="33" y="47"/>
                  </a:lnTo>
                  <a:lnTo>
                    <a:pt x="42" y="52"/>
                  </a:lnTo>
                  <a:lnTo>
                    <a:pt x="51" y="57"/>
                  </a:lnTo>
                  <a:lnTo>
                    <a:pt x="59" y="62"/>
                  </a:lnTo>
                  <a:lnTo>
                    <a:pt x="67" y="68"/>
                  </a:lnTo>
                  <a:lnTo>
                    <a:pt x="75" y="72"/>
                  </a:lnTo>
                  <a:lnTo>
                    <a:pt x="82" y="79"/>
                  </a:lnTo>
                  <a:lnTo>
                    <a:pt x="87" y="84"/>
                  </a:lnTo>
                  <a:lnTo>
                    <a:pt x="91" y="90"/>
                  </a:lnTo>
                  <a:lnTo>
                    <a:pt x="93" y="97"/>
                  </a:lnTo>
                  <a:lnTo>
                    <a:pt x="94" y="106"/>
                  </a:lnTo>
                  <a:lnTo>
                    <a:pt x="108"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6" name="Freeform 274">
              <a:extLst>
                <a:ext uri="{FF2B5EF4-FFF2-40B4-BE49-F238E27FC236}">
                  <a16:creationId xmlns:a16="http://schemas.microsoft.com/office/drawing/2014/main" id="{E5DDD8A6-D5AC-E413-E7F2-C127C17DCBB3}"/>
                </a:ext>
              </a:extLst>
            </p:cNvPr>
            <p:cNvSpPr>
              <a:spLocks/>
            </p:cNvSpPr>
            <p:nvPr/>
          </p:nvSpPr>
          <p:spPr bwMode="auto">
            <a:xfrm>
              <a:off x="3734" y="3540"/>
              <a:ext cx="136" cy="116"/>
            </a:xfrm>
            <a:custGeom>
              <a:avLst/>
              <a:gdLst>
                <a:gd name="T0" fmla="*/ 1370 w 109"/>
                <a:gd name="T1" fmla="*/ 576 h 107"/>
                <a:gd name="T2" fmla="*/ 1573 w 109"/>
                <a:gd name="T3" fmla="*/ 531 h 107"/>
                <a:gd name="T4" fmla="*/ 1709 w 109"/>
                <a:gd name="T5" fmla="*/ 504 h 107"/>
                <a:gd name="T6" fmla="*/ 2132 w 109"/>
                <a:gd name="T7" fmla="*/ 469 h 107"/>
                <a:gd name="T8" fmla="*/ 2660 w 109"/>
                <a:gd name="T9" fmla="*/ 439 h 107"/>
                <a:gd name="T10" fmla="*/ 3457 w 109"/>
                <a:gd name="T11" fmla="*/ 405 h 107"/>
                <a:gd name="T12" fmla="*/ 4313 w 109"/>
                <a:gd name="T13" fmla="*/ 385 h 107"/>
                <a:gd name="T14" fmla="*/ 5021 w 109"/>
                <a:gd name="T15" fmla="*/ 349 h 107"/>
                <a:gd name="T16" fmla="*/ 6028 w 109"/>
                <a:gd name="T17" fmla="*/ 322 h 107"/>
                <a:gd name="T18" fmla="*/ 6801 w 109"/>
                <a:gd name="T19" fmla="*/ 297 h 107"/>
                <a:gd name="T20" fmla="*/ 7817 w 109"/>
                <a:gd name="T21" fmla="*/ 270 h 107"/>
                <a:gd name="T22" fmla="*/ 8684 w 109"/>
                <a:gd name="T23" fmla="*/ 244 h 107"/>
                <a:gd name="T24" fmla="*/ 9501 w 109"/>
                <a:gd name="T25" fmla="*/ 208 h 107"/>
                <a:gd name="T26" fmla="*/ 10188 w 109"/>
                <a:gd name="T27" fmla="*/ 167 h 107"/>
                <a:gd name="T28" fmla="*/ 10835 w 109"/>
                <a:gd name="T29" fmla="*/ 113 h 107"/>
                <a:gd name="T30" fmla="*/ 11093 w 109"/>
                <a:gd name="T31" fmla="*/ 59 h 107"/>
                <a:gd name="T32" fmla="*/ 11269 w 109"/>
                <a:gd name="T33" fmla="*/ 0 h 107"/>
                <a:gd name="T34" fmla="*/ 9753 w 109"/>
                <a:gd name="T35" fmla="*/ 0 h 107"/>
                <a:gd name="T36" fmla="*/ 9731 w 109"/>
                <a:gd name="T37" fmla="*/ 46 h 107"/>
                <a:gd name="T38" fmla="*/ 9501 w 109"/>
                <a:gd name="T39" fmla="*/ 81 h 107"/>
                <a:gd name="T40" fmla="*/ 9154 w 109"/>
                <a:gd name="T41" fmla="*/ 121 h 107"/>
                <a:gd name="T42" fmla="*/ 8486 w 109"/>
                <a:gd name="T43" fmla="*/ 144 h 107"/>
                <a:gd name="T44" fmla="*/ 7817 w 109"/>
                <a:gd name="T45" fmla="*/ 183 h 107"/>
                <a:gd name="T46" fmla="*/ 7008 w 109"/>
                <a:gd name="T47" fmla="*/ 208 h 107"/>
                <a:gd name="T48" fmla="*/ 6155 w 109"/>
                <a:gd name="T49" fmla="*/ 233 h 107"/>
                <a:gd name="T50" fmla="*/ 5381 w 109"/>
                <a:gd name="T51" fmla="*/ 267 h 107"/>
                <a:gd name="T52" fmla="*/ 4357 w 109"/>
                <a:gd name="T53" fmla="*/ 293 h 107"/>
                <a:gd name="T54" fmla="*/ 3457 w 109"/>
                <a:gd name="T55" fmla="*/ 318 h 107"/>
                <a:gd name="T56" fmla="*/ 2633 w 109"/>
                <a:gd name="T57" fmla="*/ 349 h 107"/>
                <a:gd name="T58" fmla="*/ 1709 w 109"/>
                <a:gd name="T59" fmla="*/ 385 h 107"/>
                <a:gd name="T60" fmla="*/ 1011 w 109"/>
                <a:gd name="T61" fmla="*/ 417 h 107"/>
                <a:gd name="T62" fmla="*/ 453 w 109"/>
                <a:gd name="T63" fmla="*/ 469 h 107"/>
                <a:gd name="T64" fmla="*/ 2 w 109"/>
                <a:gd name="T65" fmla="*/ 516 h 107"/>
                <a:gd name="T66" fmla="*/ 0 w 109"/>
                <a:gd name="T67" fmla="*/ 576 h 107"/>
                <a:gd name="T68" fmla="*/ 1370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4" y="106"/>
                  </a:moveTo>
                  <a:lnTo>
                    <a:pt x="15" y="98"/>
                  </a:lnTo>
                  <a:lnTo>
                    <a:pt x="17" y="92"/>
                  </a:lnTo>
                  <a:lnTo>
                    <a:pt x="21" y="86"/>
                  </a:lnTo>
                  <a:lnTo>
                    <a:pt x="26" y="81"/>
                  </a:lnTo>
                  <a:lnTo>
                    <a:pt x="33" y="75"/>
                  </a:lnTo>
                  <a:lnTo>
                    <a:pt x="41" y="71"/>
                  </a:lnTo>
                  <a:lnTo>
                    <a:pt x="48" y="65"/>
                  </a:lnTo>
                  <a:lnTo>
                    <a:pt x="58" y="60"/>
                  </a:lnTo>
                  <a:lnTo>
                    <a:pt x="66" y="55"/>
                  </a:lnTo>
                  <a:lnTo>
                    <a:pt x="75" y="50"/>
                  </a:lnTo>
                  <a:lnTo>
                    <a:pt x="83" y="44"/>
                  </a:lnTo>
                  <a:lnTo>
                    <a:pt x="91" y="38"/>
                  </a:lnTo>
                  <a:lnTo>
                    <a:pt x="98" y="30"/>
                  </a:lnTo>
                  <a:lnTo>
                    <a:pt x="104" y="21"/>
                  </a:lnTo>
                  <a:lnTo>
                    <a:pt x="106" y="11"/>
                  </a:lnTo>
                  <a:lnTo>
                    <a:pt x="108" y="0"/>
                  </a:lnTo>
                  <a:lnTo>
                    <a:pt x="94" y="0"/>
                  </a:lnTo>
                  <a:lnTo>
                    <a:pt x="93" y="8"/>
                  </a:lnTo>
                  <a:lnTo>
                    <a:pt x="91" y="15"/>
                  </a:lnTo>
                  <a:lnTo>
                    <a:pt x="87" y="22"/>
                  </a:lnTo>
                  <a:lnTo>
                    <a:pt x="82" y="27"/>
                  </a:lnTo>
                  <a:lnTo>
                    <a:pt x="75" y="34"/>
                  </a:lnTo>
                  <a:lnTo>
                    <a:pt x="67" y="38"/>
                  </a:lnTo>
                  <a:lnTo>
                    <a:pt x="59" y="43"/>
                  </a:lnTo>
                  <a:lnTo>
                    <a:pt x="51" y="49"/>
                  </a:lnTo>
                  <a:lnTo>
                    <a:pt x="42" y="54"/>
                  </a:lnTo>
                  <a:lnTo>
                    <a:pt x="33" y="59"/>
                  </a:lnTo>
                  <a:lnTo>
                    <a:pt x="25" y="65"/>
                  </a:lnTo>
                  <a:lnTo>
                    <a:pt x="17" y="71"/>
                  </a:lnTo>
                  <a:lnTo>
                    <a:pt x="10" y="77"/>
                  </a:lnTo>
                  <a:lnTo>
                    <a:pt x="5" y="86"/>
                  </a:lnTo>
                  <a:lnTo>
                    <a:pt x="2" y="95"/>
                  </a:lnTo>
                  <a:lnTo>
                    <a:pt x="0" y="106"/>
                  </a:lnTo>
                  <a:lnTo>
                    <a:pt x="14"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7" name="Freeform 275">
              <a:extLst>
                <a:ext uri="{FF2B5EF4-FFF2-40B4-BE49-F238E27FC236}">
                  <a16:creationId xmlns:a16="http://schemas.microsoft.com/office/drawing/2014/main" id="{8F9F7D6D-2620-B30A-4249-D1D596A318F1}"/>
                </a:ext>
              </a:extLst>
            </p:cNvPr>
            <p:cNvSpPr>
              <a:spLocks/>
            </p:cNvSpPr>
            <p:nvPr/>
          </p:nvSpPr>
          <p:spPr bwMode="auto">
            <a:xfrm>
              <a:off x="3734" y="3655"/>
              <a:ext cx="136" cy="104"/>
            </a:xfrm>
            <a:custGeom>
              <a:avLst/>
              <a:gdLst>
                <a:gd name="T0" fmla="*/ 11269 w 109"/>
                <a:gd name="T1" fmla="*/ 512 h 96"/>
                <a:gd name="T2" fmla="*/ 10816 w 109"/>
                <a:gd name="T3" fmla="*/ 412 h 96"/>
                <a:gd name="T4" fmla="*/ 9384 w 109"/>
                <a:gd name="T5" fmla="*/ 346 h 96"/>
                <a:gd name="T6" fmla="*/ 7680 w 109"/>
                <a:gd name="T7" fmla="*/ 294 h 96"/>
                <a:gd name="T8" fmla="*/ 6028 w 109"/>
                <a:gd name="T9" fmla="*/ 246 h 96"/>
                <a:gd name="T10" fmla="*/ 4313 w 109"/>
                <a:gd name="T11" fmla="*/ 194 h 96"/>
                <a:gd name="T12" fmla="*/ 2660 w 109"/>
                <a:gd name="T13" fmla="*/ 138 h 96"/>
                <a:gd name="T14" fmla="*/ 1709 w 109"/>
                <a:gd name="T15" fmla="*/ 68 h 96"/>
                <a:gd name="T16" fmla="*/ 1370 w 109"/>
                <a:gd name="T17" fmla="*/ 0 h 96"/>
                <a:gd name="T18" fmla="*/ 0 w 109"/>
                <a:gd name="T19" fmla="*/ 0 h 96"/>
                <a:gd name="T20" fmla="*/ 453 w 109"/>
                <a:gd name="T21" fmla="*/ 110 h 96"/>
                <a:gd name="T22" fmla="*/ 1709 w 109"/>
                <a:gd name="T23" fmla="*/ 194 h 96"/>
                <a:gd name="T24" fmla="*/ 3457 w 109"/>
                <a:gd name="T25" fmla="*/ 264 h 96"/>
                <a:gd name="T26" fmla="*/ 5381 w 109"/>
                <a:gd name="T27" fmla="*/ 313 h 96"/>
                <a:gd name="T28" fmla="*/ 7126 w 109"/>
                <a:gd name="T29" fmla="*/ 365 h 96"/>
                <a:gd name="T30" fmla="*/ 8486 w 109"/>
                <a:gd name="T31" fmla="*/ 406 h 96"/>
                <a:gd name="T32" fmla="*/ 9501 w 109"/>
                <a:gd name="T33" fmla="*/ 463 h 96"/>
                <a:gd name="T34" fmla="*/ 9753 w 109"/>
                <a:gd name="T35" fmla="*/ 512 h 96"/>
                <a:gd name="T36" fmla="*/ 11269 w 109"/>
                <a:gd name="T37" fmla="*/ 512 h 9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9"/>
                <a:gd name="T58" fmla="*/ 0 h 96"/>
                <a:gd name="T59" fmla="*/ 109 w 109"/>
                <a:gd name="T60" fmla="*/ 96 h 9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9" h="96">
                  <a:moveTo>
                    <a:pt x="108" y="95"/>
                  </a:moveTo>
                  <a:lnTo>
                    <a:pt x="103" y="77"/>
                  </a:lnTo>
                  <a:lnTo>
                    <a:pt x="90" y="65"/>
                  </a:lnTo>
                  <a:lnTo>
                    <a:pt x="74" y="55"/>
                  </a:lnTo>
                  <a:lnTo>
                    <a:pt x="58" y="46"/>
                  </a:lnTo>
                  <a:lnTo>
                    <a:pt x="41" y="36"/>
                  </a:lnTo>
                  <a:lnTo>
                    <a:pt x="26" y="26"/>
                  </a:lnTo>
                  <a:lnTo>
                    <a:pt x="17" y="13"/>
                  </a:lnTo>
                  <a:lnTo>
                    <a:pt x="14" y="0"/>
                  </a:lnTo>
                  <a:lnTo>
                    <a:pt x="0" y="0"/>
                  </a:lnTo>
                  <a:lnTo>
                    <a:pt x="5" y="20"/>
                  </a:lnTo>
                  <a:lnTo>
                    <a:pt x="17" y="36"/>
                  </a:lnTo>
                  <a:lnTo>
                    <a:pt x="33" y="48"/>
                  </a:lnTo>
                  <a:lnTo>
                    <a:pt x="51" y="58"/>
                  </a:lnTo>
                  <a:lnTo>
                    <a:pt x="68" y="67"/>
                  </a:lnTo>
                  <a:lnTo>
                    <a:pt x="82" y="76"/>
                  </a:lnTo>
                  <a:lnTo>
                    <a:pt x="91" y="85"/>
                  </a:lnTo>
                  <a:lnTo>
                    <a:pt x="94" y="95"/>
                  </a:lnTo>
                  <a:lnTo>
                    <a:pt x="108" y="9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8" name="Freeform 276">
              <a:extLst>
                <a:ext uri="{FF2B5EF4-FFF2-40B4-BE49-F238E27FC236}">
                  <a16:creationId xmlns:a16="http://schemas.microsoft.com/office/drawing/2014/main" id="{09C51F8C-41F9-6F6F-D58F-EB4A2590E997}"/>
                </a:ext>
              </a:extLst>
            </p:cNvPr>
            <p:cNvSpPr>
              <a:spLocks/>
            </p:cNvSpPr>
            <p:nvPr/>
          </p:nvSpPr>
          <p:spPr bwMode="auto">
            <a:xfrm>
              <a:off x="3852" y="3758"/>
              <a:ext cx="18" cy="5"/>
            </a:xfrm>
            <a:custGeom>
              <a:avLst/>
              <a:gdLst>
                <a:gd name="T0" fmla="*/ 310 w 15"/>
                <a:gd name="T1" fmla="*/ 4 h 5"/>
                <a:gd name="T2" fmla="*/ 642 w 15"/>
                <a:gd name="T3" fmla="*/ 4 h 5"/>
                <a:gd name="T4" fmla="*/ 642 w 15"/>
                <a:gd name="T5" fmla="*/ 0 h 5"/>
                <a:gd name="T6" fmla="*/ 0 w 15"/>
                <a:gd name="T7" fmla="*/ 0 h 5"/>
                <a:gd name="T8" fmla="*/ 0 w 15"/>
                <a:gd name="T9" fmla="*/ 4 h 5"/>
                <a:gd name="T10" fmla="*/ 310 w 15"/>
                <a:gd name="T11" fmla="*/ 4 h 5"/>
                <a:gd name="T12" fmla="*/ 0 60000 65536"/>
                <a:gd name="T13" fmla="*/ 0 60000 65536"/>
                <a:gd name="T14" fmla="*/ 0 60000 65536"/>
                <a:gd name="T15" fmla="*/ 0 60000 65536"/>
                <a:gd name="T16" fmla="*/ 0 60000 65536"/>
                <a:gd name="T17" fmla="*/ 0 60000 65536"/>
                <a:gd name="T18" fmla="*/ 0 w 15"/>
                <a:gd name="T19" fmla="*/ 0 h 5"/>
                <a:gd name="T20" fmla="*/ 15 w 15"/>
                <a:gd name="T21" fmla="*/ 5 h 5"/>
              </a:gdLst>
              <a:ahLst/>
              <a:cxnLst>
                <a:cxn ang="T12">
                  <a:pos x="T0" y="T1"/>
                </a:cxn>
                <a:cxn ang="T13">
                  <a:pos x="T2" y="T3"/>
                </a:cxn>
                <a:cxn ang="T14">
                  <a:pos x="T4" y="T5"/>
                </a:cxn>
                <a:cxn ang="T15">
                  <a:pos x="T6" y="T7"/>
                </a:cxn>
                <a:cxn ang="T16">
                  <a:pos x="T8" y="T9"/>
                </a:cxn>
                <a:cxn ang="T17">
                  <a:pos x="T10" y="T11"/>
                </a:cxn>
              </a:cxnLst>
              <a:rect l="T18" t="T19" r="T20" b="T21"/>
              <a:pathLst>
                <a:path w="15" h="5">
                  <a:moveTo>
                    <a:pt x="7" y="4"/>
                  </a:moveTo>
                  <a:lnTo>
                    <a:pt x="14" y="4"/>
                  </a:lnTo>
                  <a:lnTo>
                    <a:pt x="14" y="0"/>
                  </a:lnTo>
                  <a:lnTo>
                    <a:pt x="0" y="0"/>
                  </a:lnTo>
                  <a:lnTo>
                    <a:pt x="0" y="4"/>
                  </a:lnTo>
                  <a:lnTo>
                    <a:pt x="7" y="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9" name="Freeform 277">
              <a:extLst>
                <a:ext uri="{FF2B5EF4-FFF2-40B4-BE49-F238E27FC236}">
                  <a16:creationId xmlns:a16="http://schemas.microsoft.com/office/drawing/2014/main" id="{459CC6FC-94A5-5A5A-D70F-37FDA806155E}"/>
                </a:ext>
              </a:extLst>
            </p:cNvPr>
            <p:cNvSpPr>
              <a:spLocks/>
            </p:cNvSpPr>
            <p:nvPr/>
          </p:nvSpPr>
          <p:spPr bwMode="auto">
            <a:xfrm>
              <a:off x="3765" y="3006"/>
              <a:ext cx="92" cy="114"/>
            </a:xfrm>
            <a:custGeom>
              <a:avLst/>
              <a:gdLst>
                <a:gd name="T0" fmla="*/ 4691 w 73"/>
                <a:gd name="T1" fmla="*/ 478 h 105"/>
                <a:gd name="T2" fmla="*/ 1 w 73"/>
                <a:gd name="T3" fmla="*/ 573 h 105"/>
                <a:gd name="T4" fmla="*/ 0 w 73"/>
                <a:gd name="T5" fmla="*/ 566 h 105"/>
                <a:gd name="T6" fmla="*/ 3215 w 73"/>
                <a:gd name="T7" fmla="*/ 292 h 105"/>
                <a:gd name="T8" fmla="*/ 3467 w 73"/>
                <a:gd name="T9" fmla="*/ 252 h 105"/>
                <a:gd name="T10" fmla="*/ 3568 w 73"/>
                <a:gd name="T11" fmla="*/ 218 h 105"/>
                <a:gd name="T12" fmla="*/ 3883 w 73"/>
                <a:gd name="T13" fmla="*/ 181 h 105"/>
                <a:gd name="T14" fmla="*/ 4052 w 73"/>
                <a:gd name="T15" fmla="*/ 145 h 105"/>
                <a:gd name="T16" fmla="*/ 4369 w 73"/>
                <a:gd name="T17" fmla="*/ 107 h 105"/>
                <a:gd name="T18" fmla="*/ 4691 w 73"/>
                <a:gd name="T19" fmla="*/ 69 h 105"/>
                <a:gd name="T20" fmla="*/ 4894 w 73"/>
                <a:gd name="T21" fmla="*/ 39 h 105"/>
                <a:gd name="T22" fmla="*/ 5107 w 73"/>
                <a:gd name="T23" fmla="*/ 0 h 105"/>
                <a:gd name="T24" fmla="*/ 5322 w 73"/>
                <a:gd name="T25" fmla="*/ 39 h 105"/>
                <a:gd name="T26" fmla="*/ 5431 w 73"/>
                <a:gd name="T27" fmla="*/ 69 h 105"/>
                <a:gd name="T28" fmla="*/ 5667 w 73"/>
                <a:gd name="T29" fmla="*/ 107 h 105"/>
                <a:gd name="T30" fmla="*/ 5912 w 73"/>
                <a:gd name="T31" fmla="*/ 145 h 105"/>
                <a:gd name="T32" fmla="*/ 5970 w 73"/>
                <a:gd name="T33" fmla="*/ 185 h 105"/>
                <a:gd name="T34" fmla="*/ 6168 w 73"/>
                <a:gd name="T35" fmla="*/ 218 h 105"/>
                <a:gd name="T36" fmla="*/ 6328 w 73"/>
                <a:gd name="T37" fmla="*/ 257 h 105"/>
                <a:gd name="T38" fmla="*/ 6592 w 73"/>
                <a:gd name="T39" fmla="*/ 292 h 105"/>
                <a:gd name="T40" fmla="*/ 9390 w 73"/>
                <a:gd name="T41" fmla="*/ 579 h 105"/>
                <a:gd name="T42" fmla="*/ 9050 w 73"/>
                <a:gd name="T43" fmla="*/ 585 h 105"/>
                <a:gd name="T44" fmla="*/ 4691 w 73"/>
                <a:gd name="T45" fmla="*/ 478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5"/>
                <a:gd name="T71" fmla="*/ 73 w 73"/>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5">
                  <a:moveTo>
                    <a:pt x="36" y="85"/>
                  </a:moveTo>
                  <a:lnTo>
                    <a:pt x="1" y="102"/>
                  </a:lnTo>
                  <a:lnTo>
                    <a:pt x="0" y="101"/>
                  </a:lnTo>
                  <a:lnTo>
                    <a:pt x="25" y="52"/>
                  </a:lnTo>
                  <a:lnTo>
                    <a:pt x="27" y="45"/>
                  </a:lnTo>
                  <a:lnTo>
                    <a:pt x="28" y="39"/>
                  </a:lnTo>
                  <a:lnTo>
                    <a:pt x="30" y="32"/>
                  </a:lnTo>
                  <a:lnTo>
                    <a:pt x="32" y="26"/>
                  </a:lnTo>
                  <a:lnTo>
                    <a:pt x="34" y="19"/>
                  </a:lnTo>
                  <a:lnTo>
                    <a:pt x="36" y="13"/>
                  </a:lnTo>
                  <a:lnTo>
                    <a:pt x="38" y="6"/>
                  </a:lnTo>
                  <a:lnTo>
                    <a:pt x="40" y="0"/>
                  </a:lnTo>
                  <a:lnTo>
                    <a:pt x="41" y="6"/>
                  </a:lnTo>
                  <a:lnTo>
                    <a:pt x="42" y="13"/>
                  </a:lnTo>
                  <a:lnTo>
                    <a:pt x="44" y="19"/>
                  </a:lnTo>
                  <a:lnTo>
                    <a:pt x="45" y="26"/>
                  </a:lnTo>
                  <a:lnTo>
                    <a:pt x="47" y="33"/>
                  </a:lnTo>
                  <a:lnTo>
                    <a:pt x="48" y="39"/>
                  </a:lnTo>
                  <a:lnTo>
                    <a:pt x="49" y="46"/>
                  </a:lnTo>
                  <a:lnTo>
                    <a:pt x="51" y="52"/>
                  </a:lnTo>
                  <a:lnTo>
                    <a:pt x="72" y="103"/>
                  </a:lnTo>
                  <a:lnTo>
                    <a:pt x="71" y="104"/>
                  </a:lnTo>
                  <a:lnTo>
                    <a:pt x="36" y="8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0" name="Freeform 278">
              <a:extLst>
                <a:ext uri="{FF2B5EF4-FFF2-40B4-BE49-F238E27FC236}">
                  <a16:creationId xmlns:a16="http://schemas.microsoft.com/office/drawing/2014/main" id="{284C7BF5-4B04-14BE-F178-579E69A40A6A}"/>
                </a:ext>
              </a:extLst>
            </p:cNvPr>
            <p:cNvSpPr>
              <a:spLocks/>
            </p:cNvSpPr>
            <p:nvPr/>
          </p:nvSpPr>
          <p:spPr bwMode="auto">
            <a:xfrm>
              <a:off x="4652" y="2392"/>
              <a:ext cx="225" cy="49"/>
            </a:xfrm>
            <a:custGeom>
              <a:avLst/>
              <a:gdLst>
                <a:gd name="T0" fmla="*/ 529 w 180"/>
                <a:gd name="T1" fmla="*/ 208 h 45"/>
                <a:gd name="T2" fmla="*/ 1451 w 180"/>
                <a:gd name="T3" fmla="*/ 191 h 45"/>
                <a:gd name="T4" fmla="*/ 2170 w 180"/>
                <a:gd name="T5" fmla="*/ 177 h 45"/>
                <a:gd name="T6" fmla="*/ 2979 w 180"/>
                <a:gd name="T7" fmla="*/ 177 h 45"/>
                <a:gd name="T8" fmla="*/ 3430 w 180"/>
                <a:gd name="T9" fmla="*/ 191 h 45"/>
                <a:gd name="T10" fmla="*/ 4239 w 180"/>
                <a:gd name="T11" fmla="*/ 206 h 45"/>
                <a:gd name="T12" fmla="*/ 4806 w 180"/>
                <a:gd name="T13" fmla="*/ 210 h 45"/>
                <a:gd name="T14" fmla="*/ 5650 w 180"/>
                <a:gd name="T15" fmla="*/ 229 h 45"/>
                <a:gd name="T16" fmla="*/ 6458 w 180"/>
                <a:gd name="T17" fmla="*/ 246 h 45"/>
                <a:gd name="T18" fmla="*/ 7274 w 180"/>
                <a:gd name="T19" fmla="*/ 259 h 45"/>
                <a:gd name="T20" fmla="*/ 8486 w 180"/>
                <a:gd name="T21" fmla="*/ 266 h 45"/>
                <a:gd name="T22" fmla="*/ 9694 w 180"/>
                <a:gd name="T23" fmla="*/ 266 h 45"/>
                <a:gd name="T24" fmla="*/ 11180 w 180"/>
                <a:gd name="T25" fmla="*/ 249 h 45"/>
                <a:gd name="T26" fmla="*/ 12755 w 180"/>
                <a:gd name="T27" fmla="*/ 226 h 45"/>
                <a:gd name="T28" fmla="*/ 14786 w 180"/>
                <a:gd name="T29" fmla="*/ 191 h 45"/>
                <a:gd name="T30" fmla="*/ 16935 w 180"/>
                <a:gd name="T31" fmla="*/ 136 h 45"/>
                <a:gd name="T32" fmla="*/ 19481 w 180"/>
                <a:gd name="T33" fmla="*/ 63 h 45"/>
                <a:gd name="T34" fmla="*/ 18635 w 180"/>
                <a:gd name="T35" fmla="*/ 0 h 45"/>
                <a:gd name="T36" fmla="*/ 16358 w 180"/>
                <a:gd name="T37" fmla="*/ 63 h 45"/>
                <a:gd name="T38" fmla="*/ 14208 w 180"/>
                <a:gd name="T39" fmla="*/ 115 h 45"/>
                <a:gd name="T40" fmla="*/ 12393 w 180"/>
                <a:gd name="T41" fmla="*/ 148 h 45"/>
                <a:gd name="T42" fmla="*/ 10838 w 180"/>
                <a:gd name="T43" fmla="*/ 175 h 45"/>
                <a:gd name="T44" fmla="*/ 9538 w 180"/>
                <a:gd name="T45" fmla="*/ 189 h 45"/>
                <a:gd name="T46" fmla="*/ 8654 w 180"/>
                <a:gd name="T47" fmla="*/ 189 h 45"/>
                <a:gd name="T48" fmla="*/ 7630 w 180"/>
                <a:gd name="T49" fmla="*/ 177 h 45"/>
                <a:gd name="T50" fmla="*/ 6923 w 180"/>
                <a:gd name="T51" fmla="*/ 163 h 45"/>
                <a:gd name="T52" fmla="*/ 6008 w 180"/>
                <a:gd name="T53" fmla="*/ 150 h 45"/>
                <a:gd name="T54" fmla="*/ 5360 w 180"/>
                <a:gd name="T55" fmla="*/ 136 h 45"/>
                <a:gd name="T56" fmla="*/ 4650 w 180"/>
                <a:gd name="T57" fmla="*/ 125 h 45"/>
                <a:gd name="T58" fmla="*/ 3943 w 180"/>
                <a:gd name="T59" fmla="*/ 115 h 45"/>
                <a:gd name="T60" fmla="*/ 3076 w 180"/>
                <a:gd name="T61" fmla="*/ 106 h 45"/>
                <a:gd name="T62" fmla="*/ 2091 w 180"/>
                <a:gd name="T63" fmla="*/ 106 h 45"/>
                <a:gd name="T64" fmla="*/ 1111 w 180"/>
                <a:gd name="T65" fmla="*/ 115 h 45"/>
                <a:gd name="T66" fmla="*/ 0 w 180"/>
                <a:gd name="T67" fmla="*/ 127 h 45"/>
                <a:gd name="T68" fmla="*/ 529 w 180"/>
                <a:gd name="T69" fmla="*/ 208 h 4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0"/>
                <a:gd name="T106" fmla="*/ 0 h 45"/>
                <a:gd name="T107" fmla="*/ 180 w 180"/>
                <a:gd name="T108" fmla="*/ 45 h 4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0" h="45">
                  <a:moveTo>
                    <a:pt x="5" y="35"/>
                  </a:moveTo>
                  <a:lnTo>
                    <a:pt x="14" y="32"/>
                  </a:lnTo>
                  <a:lnTo>
                    <a:pt x="20" y="30"/>
                  </a:lnTo>
                  <a:lnTo>
                    <a:pt x="27" y="30"/>
                  </a:lnTo>
                  <a:lnTo>
                    <a:pt x="32" y="32"/>
                  </a:lnTo>
                  <a:lnTo>
                    <a:pt x="39" y="34"/>
                  </a:lnTo>
                  <a:lnTo>
                    <a:pt x="44" y="36"/>
                  </a:lnTo>
                  <a:lnTo>
                    <a:pt x="52" y="39"/>
                  </a:lnTo>
                  <a:lnTo>
                    <a:pt x="59" y="41"/>
                  </a:lnTo>
                  <a:lnTo>
                    <a:pt x="67" y="43"/>
                  </a:lnTo>
                  <a:lnTo>
                    <a:pt x="78" y="44"/>
                  </a:lnTo>
                  <a:lnTo>
                    <a:pt x="89" y="44"/>
                  </a:lnTo>
                  <a:lnTo>
                    <a:pt x="103" y="42"/>
                  </a:lnTo>
                  <a:lnTo>
                    <a:pt x="118" y="38"/>
                  </a:lnTo>
                  <a:lnTo>
                    <a:pt x="136" y="32"/>
                  </a:lnTo>
                  <a:lnTo>
                    <a:pt x="156" y="23"/>
                  </a:lnTo>
                  <a:lnTo>
                    <a:pt x="179" y="11"/>
                  </a:lnTo>
                  <a:lnTo>
                    <a:pt x="172" y="0"/>
                  </a:lnTo>
                  <a:lnTo>
                    <a:pt x="150" y="11"/>
                  </a:lnTo>
                  <a:lnTo>
                    <a:pt x="131" y="19"/>
                  </a:lnTo>
                  <a:lnTo>
                    <a:pt x="114" y="25"/>
                  </a:lnTo>
                  <a:lnTo>
                    <a:pt x="100" y="29"/>
                  </a:lnTo>
                  <a:lnTo>
                    <a:pt x="88" y="31"/>
                  </a:lnTo>
                  <a:lnTo>
                    <a:pt x="79" y="31"/>
                  </a:lnTo>
                  <a:lnTo>
                    <a:pt x="70" y="30"/>
                  </a:lnTo>
                  <a:lnTo>
                    <a:pt x="63" y="28"/>
                  </a:lnTo>
                  <a:lnTo>
                    <a:pt x="55" y="26"/>
                  </a:lnTo>
                  <a:lnTo>
                    <a:pt x="50" y="23"/>
                  </a:lnTo>
                  <a:lnTo>
                    <a:pt x="42" y="21"/>
                  </a:lnTo>
                  <a:lnTo>
                    <a:pt x="36" y="19"/>
                  </a:lnTo>
                  <a:lnTo>
                    <a:pt x="28" y="17"/>
                  </a:lnTo>
                  <a:lnTo>
                    <a:pt x="19" y="17"/>
                  </a:lnTo>
                  <a:lnTo>
                    <a:pt x="10" y="19"/>
                  </a:lnTo>
                  <a:lnTo>
                    <a:pt x="0" y="22"/>
                  </a:lnTo>
                  <a:lnTo>
                    <a:pt x="5" y="3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1" name="Freeform 279">
              <a:extLst>
                <a:ext uri="{FF2B5EF4-FFF2-40B4-BE49-F238E27FC236}">
                  <a16:creationId xmlns:a16="http://schemas.microsoft.com/office/drawing/2014/main" id="{8BA2894D-0944-F83F-8AA4-BC907AE7779B}"/>
                </a:ext>
              </a:extLst>
            </p:cNvPr>
            <p:cNvSpPr>
              <a:spLocks/>
            </p:cNvSpPr>
            <p:nvPr/>
          </p:nvSpPr>
          <p:spPr bwMode="auto">
            <a:xfrm>
              <a:off x="4565" y="2416"/>
              <a:ext cx="94" cy="148"/>
            </a:xfrm>
            <a:custGeom>
              <a:avLst/>
              <a:gdLst>
                <a:gd name="T0" fmla="*/ 577 w 75"/>
                <a:gd name="T1" fmla="*/ 692 h 137"/>
                <a:gd name="T2" fmla="*/ 1772 w 75"/>
                <a:gd name="T3" fmla="*/ 649 h 137"/>
                <a:gd name="T4" fmla="*/ 2602 w 75"/>
                <a:gd name="T5" fmla="*/ 629 h 137"/>
                <a:gd name="T6" fmla="*/ 3261 w 75"/>
                <a:gd name="T7" fmla="*/ 587 h 137"/>
                <a:gd name="T8" fmla="*/ 3722 w 75"/>
                <a:gd name="T9" fmla="*/ 543 h 137"/>
                <a:gd name="T10" fmla="*/ 4221 w 75"/>
                <a:gd name="T11" fmla="*/ 489 h 137"/>
                <a:gd name="T12" fmla="*/ 4404 w 75"/>
                <a:gd name="T13" fmla="*/ 442 h 137"/>
                <a:gd name="T14" fmla="*/ 4578 w 75"/>
                <a:gd name="T15" fmla="*/ 399 h 137"/>
                <a:gd name="T16" fmla="*/ 4665 w 75"/>
                <a:gd name="T17" fmla="*/ 351 h 137"/>
                <a:gd name="T18" fmla="*/ 4972 w 75"/>
                <a:gd name="T19" fmla="*/ 305 h 137"/>
                <a:gd name="T20" fmla="*/ 5122 w 75"/>
                <a:gd name="T21" fmla="*/ 258 h 137"/>
                <a:gd name="T22" fmla="*/ 5448 w 75"/>
                <a:gd name="T23" fmla="*/ 216 h 137"/>
                <a:gd name="T24" fmla="*/ 5738 w 75"/>
                <a:gd name="T25" fmla="*/ 184 h 137"/>
                <a:gd name="T26" fmla="*/ 6232 w 75"/>
                <a:gd name="T27" fmla="*/ 142 h 137"/>
                <a:gd name="T28" fmla="*/ 6828 w 75"/>
                <a:gd name="T29" fmla="*/ 112 h 137"/>
                <a:gd name="T30" fmla="*/ 7467 w 75"/>
                <a:gd name="T31" fmla="*/ 84 h 137"/>
                <a:gd name="T32" fmla="*/ 8558 w 75"/>
                <a:gd name="T33" fmla="*/ 62 h 137"/>
                <a:gd name="T34" fmla="*/ 7858 w 75"/>
                <a:gd name="T35" fmla="*/ 0 h 137"/>
                <a:gd name="T36" fmla="*/ 6630 w 75"/>
                <a:gd name="T37" fmla="*/ 6 h 137"/>
                <a:gd name="T38" fmla="*/ 5738 w 75"/>
                <a:gd name="T39" fmla="*/ 62 h 137"/>
                <a:gd name="T40" fmla="*/ 4972 w 75"/>
                <a:gd name="T41" fmla="*/ 106 h 137"/>
                <a:gd name="T42" fmla="*/ 4373 w 75"/>
                <a:gd name="T43" fmla="*/ 145 h 137"/>
                <a:gd name="T44" fmla="*/ 3967 w 75"/>
                <a:gd name="T45" fmla="*/ 199 h 137"/>
                <a:gd name="T46" fmla="*/ 3653 w 75"/>
                <a:gd name="T47" fmla="*/ 251 h 137"/>
                <a:gd name="T48" fmla="*/ 3489 w 75"/>
                <a:gd name="T49" fmla="*/ 294 h 137"/>
                <a:gd name="T50" fmla="*/ 3185 w 75"/>
                <a:gd name="T51" fmla="*/ 342 h 137"/>
                <a:gd name="T52" fmla="*/ 3165 w 75"/>
                <a:gd name="T53" fmla="*/ 388 h 137"/>
                <a:gd name="T54" fmla="*/ 2970 w 75"/>
                <a:gd name="T55" fmla="*/ 435 h 137"/>
                <a:gd name="T56" fmla="*/ 2784 w 75"/>
                <a:gd name="T57" fmla="*/ 470 h 137"/>
                <a:gd name="T58" fmla="*/ 2237 w 75"/>
                <a:gd name="T59" fmla="*/ 511 h 137"/>
                <a:gd name="T60" fmla="*/ 1891 w 75"/>
                <a:gd name="T61" fmla="*/ 549 h 137"/>
                <a:gd name="T62" fmla="*/ 1424 w 75"/>
                <a:gd name="T63" fmla="*/ 582 h 137"/>
                <a:gd name="T64" fmla="*/ 841 w 75"/>
                <a:gd name="T65" fmla="*/ 600 h 137"/>
                <a:gd name="T66" fmla="*/ 0 w 75"/>
                <a:gd name="T67" fmla="*/ 629 h 137"/>
                <a:gd name="T68" fmla="*/ 577 w 75"/>
                <a:gd name="T69" fmla="*/ 692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5"/>
                <a:gd name="T106" fmla="*/ 0 h 137"/>
                <a:gd name="T107" fmla="*/ 75 w 75"/>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5" h="137">
                  <a:moveTo>
                    <a:pt x="5" y="136"/>
                  </a:moveTo>
                  <a:lnTo>
                    <a:pt x="15" y="130"/>
                  </a:lnTo>
                  <a:lnTo>
                    <a:pt x="23" y="123"/>
                  </a:lnTo>
                  <a:lnTo>
                    <a:pt x="29" y="115"/>
                  </a:lnTo>
                  <a:lnTo>
                    <a:pt x="33" y="106"/>
                  </a:lnTo>
                  <a:lnTo>
                    <a:pt x="37" y="97"/>
                  </a:lnTo>
                  <a:lnTo>
                    <a:pt x="39" y="88"/>
                  </a:lnTo>
                  <a:lnTo>
                    <a:pt x="40" y="78"/>
                  </a:lnTo>
                  <a:lnTo>
                    <a:pt x="41" y="69"/>
                  </a:lnTo>
                  <a:lnTo>
                    <a:pt x="43" y="60"/>
                  </a:lnTo>
                  <a:lnTo>
                    <a:pt x="45" y="51"/>
                  </a:lnTo>
                  <a:lnTo>
                    <a:pt x="47" y="43"/>
                  </a:lnTo>
                  <a:lnTo>
                    <a:pt x="50" y="36"/>
                  </a:lnTo>
                  <a:lnTo>
                    <a:pt x="54" y="28"/>
                  </a:lnTo>
                  <a:lnTo>
                    <a:pt x="59" y="22"/>
                  </a:lnTo>
                  <a:lnTo>
                    <a:pt x="65" y="17"/>
                  </a:lnTo>
                  <a:lnTo>
                    <a:pt x="74" y="13"/>
                  </a:lnTo>
                  <a:lnTo>
                    <a:pt x="69" y="0"/>
                  </a:lnTo>
                  <a:lnTo>
                    <a:pt x="58" y="6"/>
                  </a:lnTo>
                  <a:lnTo>
                    <a:pt x="50" y="13"/>
                  </a:lnTo>
                  <a:lnTo>
                    <a:pt x="43" y="21"/>
                  </a:lnTo>
                  <a:lnTo>
                    <a:pt x="38" y="29"/>
                  </a:lnTo>
                  <a:lnTo>
                    <a:pt x="34" y="39"/>
                  </a:lnTo>
                  <a:lnTo>
                    <a:pt x="32" y="49"/>
                  </a:lnTo>
                  <a:lnTo>
                    <a:pt x="30" y="58"/>
                  </a:lnTo>
                  <a:lnTo>
                    <a:pt x="28" y="67"/>
                  </a:lnTo>
                  <a:lnTo>
                    <a:pt x="27" y="77"/>
                  </a:lnTo>
                  <a:lnTo>
                    <a:pt x="26" y="86"/>
                  </a:lnTo>
                  <a:lnTo>
                    <a:pt x="24" y="93"/>
                  </a:lnTo>
                  <a:lnTo>
                    <a:pt x="20" y="101"/>
                  </a:lnTo>
                  <a:lnTo>
                    <a:pt x="17" y="108"/>
                  </a:lnTo>
                  <a:lnTo>
                    <a:pt x="13" y="114"/>
                  </a:lnTo>
                  <a:lnTo>
                    <a:pt x="7" y="119"/>
                  </a:lnTo>
                  <a:lnTo>
                    <a:pt x="0" y="123"/>
                  </a:lnTo>
                  <a:lnTo>
                    <a:pt x="5" y="13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2" name="Freeform 280">
              <a:extLst>
                <a:ext uri="{FF2B5EF4-FFF2-40B4-BE49-F238E27FC236}">
                  <a16:creationId xmlns:a16="http://schemas.microsoft.com/office/drawing/2014/main" id="{84F6F88D-DF50-AC56-E48D-F419FC11736D}"/>
                </a:ext>
              </a:extLst>
            </p:cNvPr>
            <p:cNvSpPr>
              <a:spLocks/>
            </p:cNvSpPr>
            <p:nvPr/>
          </p:nvSpPr>
          <p:spPr bwMode="auto">
            <a:xfrm>
              <a:off x="4565" y="2549"/>
              <a:ext cx="8" cy="15"/>
            </a:xfrm>
            <a:custGeom>
              <a:avLst/>
              <a:gdLst>
                <a:gd name="T0" fmla="*/ 2069 w 6"/>
                <a:gd name="T1" fmla="*/ 54 h 14"/>
                <a:gd name="T2" fmla="*/ 873 w 6"/>
                <a:gd name="T3" fmla="*/ 6 h 14"/>
                <a:gd name="T4" fmla="*/ 0 w 6"/>
                <a:gd name="T5" fmla="*/ 0 h 14"/>
                <a:gd name="T6" fmla="*/ 2069 w 6"/>
                <a:gd name="T7" fmla="*/ 54 h 14"/>
                <a:gd name="T8" fmla="*/ 0 60000 65536"/>
                <a:gd name="T9" fmla="*/ 0 60000 65536"/>
                <a:gd name="T10" fmla="*/ 0 60000 65536"/>
                <a:gd name="T11" fmla="*/ 0 60000 65536"/>
                <a:gd name="T12" fmla="*/ 0 w 6"/>
                <a:gd name="T13" fmla="*/ 0 h 14"/>
                <a:gd name="T14" fmla="*/ 6 w 6"/>
                <a:gd name="T15" fmla="*/ 14 h 14"/>
              </a:gdLst>
              <a:ahLst/>
              <a:cxnLst>
                <a:cxn ang="T8">
                  <a:pos x="T0" y="T1"/>
                </a:cxn>
                <a:cxn ang="T9">
                  <a:pos x="T2" y="T3"/>
                </a:cxn>
                <a:cxn ang="T10">
                  <a:pos x="T4" y="T5"/>
                </a:cxn>
                <a:cxn ang="T11">
                  <a:pos x="T6" y="T7"/>
                </a:cxn>
              </a:cxnLst>
              <a:rect l="T12" t="T13" r="T14" b="T15"/>
              <a:pathLst>
                <a:path w="6" h="14">
                  <a:moveTo>
                    <a:pt x="5" y="13"/>
                  </a:moveTo>
                  <a:lnTo>
                    <a:pt x="2" y="6"/>
                  </a:lnTo>
                  <a:lnTo>
                    <a:pt x="0" y="0"/>
                  </a:lnTo>
                  <a:lnTo>
                    <a:pt x="5" y="13"/>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3" name="Freeform 281">
              <a:extLst>
                <a:ext uri="{FF2B5EF4-FFF2-40B4-BE49-F238E27FC236}">
                  <a16:creationId xmlns:a16="http://schemas.microsoft.com/office/drawing/2014/main" id="{0AA89FCE-63E7-4D0A-F970-4D26F1310769}"/>
                </a:ext>
              </a:extLst>
            </p:cNvPr>
            <p:cNvSpPr>
              <a:spLocks/>
            </p:cNvSpPr>
            <p:nvPr/>
          </p:nvSpPr>
          <p:spPr bwMode="auto">
            <a:xfrm>
              <a:off x="4376" y="2518"/>
              <a:ext cx="197" cy="51"/>
            </a:xfrm>
            <a:custGeom>
              <a:avLst/>
              <a:gdLst>
                <a:gd name="T0" fmla="*/ 597 w 157"/>
                <a:gd name="T1" fmla="*/ 62 h 48"/>
                <a:gd name="T2" fmla="*/ 1673 w 157"/>
                <a:gd name="T3" fmla="*/ 49 h 48"/>
                <a:gd name="T4" fmla="*/ 2626 w 157"/>
                <a:gd name="T5" fmla="*/ 46 h 48"/>
                <a:gd name="T6" fmla="*/ 3666 w 157"/>
                <a:gd name="T7" fmla="*/ 46 h 48"/>
                <a:gd name="T8" fmla="*/ 4443 w 157"/>
                <a:gd name="T9" fmla="*/ 52 h 48"/>
                <a:gd name="T10" fmla="*/ 5544 w 157"/>
                <a:gd name="T11" fmla="*/ 62 h 48"/>
                <a:gd name="T12" fmla="*/ 6530 w 157"/>
                <a:gd name="T13" fmla="*/ 79 h 48"/>
                <a:gd name="T14" fmla="*/ 7435 w 157"/>
                <a:gd name="T15" fmla="*/ 95 h 48"/>
                <a:gd name="T16" fmla="*/ 8570 w 157"/>
                <a:gd name="T17" fmla="*/ 107 h 48"/>
                <a:gd name="T18" fmla="*/ 9684 w 157"/>
                <a:gd name="T19" fmla="*/ 125 h 48"/>
                <a:gd name="T20" fmla="*/ 10753 w 157"/>
                <a:gd name="T21" fmla="*/ 141 h 48"/>
                <a:gd name="T22" fmla="*/ 11959 w 157"/>
                <a:gd name="T23" fmla="*/ 154 h 48"/>
                <a:gd name="T24" fmla="*/ 13207 w 157"/>
                <a:gd name="T25" fmla="*/ 165 h 48"/>
                <a:gd name="T26" fmla="*/ 14399 w 157"/>
                <a:gd name="T27" fmla="*/ 166 h 48"/>
                <a:gd name="T28" fmla="*/ 15789 w 157"/>
                <a:gd name="T29" fmla="*/ 166 h 48"/>
                <a:gd name="T30" fmla="*/ 17015 w 157"/>
                <a:gd name="T31" fmla="*/ 165 h 48"/>
                <a:gd name="T32" fmla="*/ 18396 w 157"/>
                <a:gd name="T33" fmla="*/ 154 h 48"/>
                <a:gd name="T34" fmla="*/ 17681 w 157"/>
                <a:gd name="T35" fmla="*/ 104 h 48"/>
                <a:gd name="T36" fmla="*/ 16572 w 157"/>
                <a:gd name="T37" fmla="*/ 118 h 48"/>
                <a:gd name="T38" fmla="*/ 15685 w 157"/>
                <a:gd name="T39" fmla="*/ 121 h 48"/>
                <a:gd name="T40" fmla="*/ 14661 w 157"/>
                <a:gd name="T41" fmla="*/ 121 h 48"/>
                <a:gd name="T42" fmla="*/ 13493 w 157"/>
                <a:gd name="T43" fmla="*/ 118 h 48"/>
                <a:gd name="T44" fmla="*/ 12500 w 157"/>
                <a:gd name="T45" fmla="*/ 104 h 48"/>
                <a:gd name="T46" fmla="*/ 11403 w 157"/>
                <a:gd name="T47" fmla="*/ 95 h 48"/>
                <a:gd name="T48" fmla="*/ 10282 w 157"/>
                <a:gd name="T49" fmla="*/ 79 h 48"/>
                <a:gd name="T50" fmla="*/ 9329 w 157"/>
                <a:gd name="T51" fmla="*/ 62 h 48"/>
                <a:gd name="T52" fmla="*/ 8388 w 157"/>
                <a:gd name="T53" fmla="*/ 49 h 48"/>
                <a:gd name="T54" fmla="*/ 7243 w 157"/>
                <a:gd name="T55" fmla="*/ 36 h 48"/>
                <a:gd name="T56" fmla="*/ 6117 w 157"/>
                <a:gd name="T57" fmla="*/ 5 h 48"/>
                <a:gd name="T58" fmla="*/ 4973 w 157"/>
                <a:gd name="T59" fmla="*/ 2 h 48"/>
                <a:gd name="T60" fmla="*/ 3756 w 157"/>
                <a:gd name="T61" fmla="*/ 0 h 48"/>
                <a:gd name="T62" fmla="*/ 2390 w 157"/>
                <a:gd name="T63" fmla="*/ 0 h 48"/>
                <a:gd name="T64" fmla="*/ 1333 w 157"/>
                <a:gd name="T65" fmla="*/ 1 h 48"/>
                <a:gd name="T66" fmla="*/ 0 w 157"/>
                <a:gd name="T67" fmla="*/ 5 h 48"/>
                <a:gd name="T68" fmla="*/ 597 w 157"/>
                <a:gd name="T69" fmla="*/ 62 h 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48"/>
                <a:gd name="T107" fmla="*/ 157 w 157"/>
                <a:gd name="T108" fmla="*/ 48 h 4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48">
                  <a:moveTo>
                    <a:pt x="5" y="18"/>
                  </a:moveTo>
                  <a:lnTo>
                    <a:pt x="14" y="14"/>
                  </a:lnTo>
                  <a:lnTo>
                    <a:pt x="22" y="13"/>
                  </a:lnTo>
                  <a:lnTo>
                    <a:pt x="31" y="13"/>
                  </a:lnTo>
                  <a:lnTo>
                    <a:pt x="38" y="15"/>
                  </a:lnTo>
                  <a:lnTo>
                    <a:pt x="47" y="18"/>
                  </a:lnTo>
                  <a:lnTo>
                    <a:pt x="56" y="22"/>
                  </a:lnTo>
                  <a:lnTo>
                    <a:pt x="64" y="26"/>
                  </a:lnTo>
                  <a:lnTo>
                    <a:pt x="73" y="30"/>
                  </a:lnTo>
                  <a:lnTo>
                    <a:pt x="83" y="35"/>
                  </a:lnTo>
                  <a:lnTo>
                    <a:pt x="92" y="39"/>
                  </a:lnTo>
                  <a:lnTo>
                    <a:pt x="102" y="42"/>
                  </a:lnTo>
                  <a:lnTo>
                    <a:pt x="112" y="46"/>
                  </a:lnTo>
                  <a:lnTo>
                    <a:pt x="123" y="47"/>
                  </a:lnTo>
                  <a:lnTo>
                    <a:pt x="134" y="47"/>
                  </a:lnTo>
                  <a:lnTo>
                    <a:pt x="145" y="46"/>
                  </a:lnTo>
                  <a:lnTo>
                    <a:pt x="156" y="42"/>
                  </a:lnTo>
                  <a:lnTo>
                    <a:pt x="151" y="29"/>
                  </a:lnTo>
                  <a:lnTo>
                    <a:pt x="141" y="33"/>
                  </a:lnTo>
                  <a:lnTo>
                    <a:pt x="133" y="34"/>
                  </a:lnTo>
                  <a:lnTo>
                    <a:pt x="124" y="34"/>
                  </a:lnTo>
                  <a:lnTo>
                    <a:pt x="115" y="33"/>
                  </a:lnTo>
                  <a:lnTo>
                    <a:pt x="106" y="29"/>
                  </a:lnTo>
                  <a:lnTo>
                    <a:pt x="97" y="26"/>
                  </a:lnTo>
                  <a:lnTo>
                    <a:pt x="88" y="22"/>
                  </a:lnTo>
                  <a:lnTo>
                    <a:pt x="80" y="18"/>
                  </a:lnTo>
                  <a:lnTo>
                    <a:pt x="71" y="14"/>
                  </a:lnTo>
                  <a:lnTo>
                    <a:pt x="61" y="9"/>
                  </a:lnTo>
                  <a:lnTo>
                    <a:pt x="52" y="5"/>
                  </a:lnTo>
                  <a:lnTo>
                    <a:pt x="42" y="2"/>
                  </a:lnTo>
                  <a:lnTo>
                    <a:pt x="32" y="0"/>
                  </a:lnTo>
                  <a:lnTo>
                    <a:pt x="21" y="0"/>
                  </a:lnTo>
                  <a:lnTo>
                    <a:pt x="11" y="1"/>
                  </a:lnTo>
                  <a:lnTo>
                    <a:pt x="0" y="5"/>
                  </a:lnTo>
                  <a:lnTo>
                    <a:pt x="5" y="1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4" name="Freeform 282">
              <a:extLst>
                <a:ext uri="{FF2B5EF4-FFF2-40B4-BE49-F238E27FC236}">
                  <a16:creationId xmlns:a16="http://schemas.microsoft.com/office/drawing/2014/main" id="{3DDC1A71-E53E-4548-0520-BD3A35A1D4A8}"/>
                </a:ext>
              </a:extLst>
            </p:cNvPr>
            <p:cNvSpPr>
              <a:spLocks/>
            </p:cNvSpPr>
            <p:nvPr/>
          </p:nvSpPr>
          <p:spPr bwMode="auto">
            <a:xfrm>
              <a:off x="4296" y="2523"/>
              <a:ext cx="88" cy="146"/>
            </a:xfrm>
            <a:custGeom>
              <a:avLst/>
              <a:gdLst>
                <a:gd name="T0" fmla="*/ 612 w 70"/>
                <a:gd name="T1" fmla="*/ 699 h 135"/>
                <a:gd name="T2" fmla="*/ 1837 w 70"/>
                <a:gd name="T3" fmla="*/ 661 h 135"/>
                <a:gd name="T4" fmla="*/ 2903 w 70"/>
                <a:gd name="T5" fmla="*/ 636 h 135"/>
                <a:gd name="T6" fmla="*/ 3649 w 70"/>
                <a:gd name="T7" fmla="*/ 590 h 135"/>
                <a:gd name="T8" fmla="*/ 4242 w 70"/>
                <a:gd name="T9" fmla="*/ 544 h 135"/>
                <a:gd name="T10" fmla="*/ 4587 w 70"/>
                <a:gd name="T11" fmla="*/ 490 h 135"/>
                <a:gd name="T12" fmla="*/ 4807 w 70"/>
                <a:gd name="T13" fmla="*/ 437 h 135"/>
                <a:gd name="T14" fmla="*/ 5021 w 70"/>
                <a:gd name="T15" fmla="*/ 398 h 135"/>
                <a:gd name="T16" fmla="*/ 5265 w 70"/>
                <a:gd name="T17" fmla="*/ 345 h 135"/>
                <a:gd name="T18" fmla="*/ 5265 w 70"/>
                <a:gd name="T19" fmla="*/ 304 h 135"/>
                <a:gd name="T20" fmla="*/ 5333 w 70"/>
                <a:gd name="T21" fmla="*/ 260 h 135"/>
                <a:gd name="T22" fmla="*/ 5680 w 70"/>
                <a:gd name="T23" fmla="*/ 214 h 135"/>
                <a:gd name="T24" fmla="*/ 6034 w 70"/>
                <a:gd name="T25" fmla="*/ 177 h 135"/>
                <a:gd name="T26" fmla="*/ 6312 w 70"/>
                <a:gd name="T27" fmla="*/ 141 h 135"/>
                <a:gd name="T28" fmla="*/ 6836 w 70"/>
                <a:gd name="T29" fmla="*/ 114 h 135"/>
                <a:gd name="T30" fmla="*/ 7586 w 70"/>
                <a:gd name="T31" fmla="*/ 88 h 135"/>
                <a:gd name="T32" fmla="*/ 8428 w 70"/>
                <a:gd name="T33" fmla="*/ 64 h 135"/>
                <a:gd name="T34" fmla="*/ 7836 w 70"/>
                <a:gd name="T35" fmla="*/ 0 h 135"/>
                <a:gd name="T36" fmla="*/ 6619 w 70"/>
                <a:gd name="T37" fmla="*/ 6 h 135"/>
                <a:gd name="T38" fmla="*/ 5680 w 70"/>
                <a:gd name="T39" fmla="*/ 64 h 135"/>
                <a:gd name="T40" fmla="*/ 5021 w 70"/>
                <a:gd name="T41" fmla="*/ 111 h 135"/>
                <a:gd name="T42" fmla="*/ 4420 w 70"/>
                <a:gd name="T43" fmla="*/ 152 h 135"/>
                <a:gd name="T44" fmla="*/ 3994 w 70"/>
                <a:gd name="T45" fmla="*/ 191 h 135"/>
                <a:gd name="T46" fmla="*/ 3818 w 70"/>
                <a:gd name="T47" fmla="*/ 242 h 135"/>
                <a:gd name="T48" fmla="*/ 3649 w 70"/>
                <a:gd name="T49" fmla="*/ 292 h 135"/>
                <a:gd name="T50" fmla="*/ 3649 w 70"/>
                <a:gd name="T51" fmla="*/ 340 h 135"/>
                <a:gd name="T52" fmla="*/ 3374 w 70"/>
                <a:gd name="T53" fmla="*/ 385 h 135"/>
                <a:gd name="T54" fmla="*/ 3331 w 70"/>
                <a:gd name="T55" fmla="*/ 433 h 135"/>
                <a:gd name="T56" fmla="*/ 3037 w 70"/>
                <a:gd name="T57" fmla="*/ 472 h 135"/>
                <a:gd name="T58" fmla="*/ 2684 w 70"/>
                <a:gd name="T59" fmla="*/ 510 h 135"/>
                <a:gd name="T60" fmla="*/ 2225 w 70"/>
                <a:gd name="T61" fmla="*/ 547 h 135"/>
                <a:gd name="T62" fmla="*/ 1770 w 70"/>
                <a:gd name="T63" fmla="*/ 573 h 135"/>
                <a:gd name="T64" fmla="*/ 891 w 70"/>
                <a:gd name="T65" fmla="*/ 602 h 135"/>
                <a:gd name="T66" fmla="*/ 0 w 70"/>
                <a:gd name="T67" fmla="*/ 636 h 135"/>
                <a:gd name="T68" fmla="*/ 612 w 70"/>
                <a:gd name="T69" fmla="*/ 699 h 13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0"/>
                <a:gd name="T106" fmla="*/ 0 h 135"/>
                <a:gd name="T107" fmla="*/ 70 w 70"/>
                <a:gd name="T108" fmla="*/ 135 h 13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0" h="135">
                  <a:moveTo>
                    <a:pt x="5" y="134"/>
                  </a:moveTo>
                  <a:lnTo>
                    <a:pt x="15" y="128"/>
                  </a:lnTo>
                  <a:lnTo>
                    <a:pt x="24" y="121"/>
                  </a:lnTo>
                  <a:lnTo>
                    <a:pt x="30" y="113"/>
                  </a:lnTo>
                  <a:lnTo>
                    <a:pt x="35" y="104"/>
                  </a:lnTo>
                  <a:lnTo>
                    <a:pt x="38" y="95"/>
                  </a:lnTo>
                  <a:lnTo>
                    <a:pt x="40" y="85"/>
                  </a:lnTo>
                  <a:lnTo>
                    <a:pt x="41" y="76"/>
                  </a:lnTo>
                  <a:lnTo>
                    <a:pt x="43" y="67"/>
                  </a:lnTo>
                  <a:lnTo>
                    <a:pt x="43" y="58"/>
                  </a:lnTo>
                  <a:lnTo>
                    <a:pt x="44" y="50"/>
                  </a:lnTo>
                  <a:lnTo>
                    <a:pt x="46" y="41"/>
                  </a:lnTo>
                  <a:lnTo>
                    <a:pt x="49" y="34"/>
                  </a:lnTo>
                  <a:lnTo>
                    <a:pt x="52" y="27"/>
                  </a:lnTo>
                  <a:lnTo>
                    <a:pt x="56" y="22"/>
                  </a:lnTo>
                  <a:lnTo>
                    <a:pt x="62" y="17"/>
                  </a:lnTo>
                  <a:lnTo>
                    <a:pt x="69" y="13"/>
                  </a:lnTo>
                  <a:lnTo>
                    <a:pt x="64" y="0"/>
                  </a:lnTo>
                  <a:lnTo>
                    <a:pt x="54" y="6"/>
                  </a:lnTo>
                  <a:lnTo>
                    <a:pt x="46" y="13"/>
                  </a:lnTo>
                  <a:lnTo>
                    <a:pt x="41" y="21"/>
                  </a:lnTo>
                  <a:lnTo>
                    <a:pt x="36" y="29"/>
                  </a:lnTo>
                  <a:lnTo>
                    <a:pt x="33" y="37"/>
                  </a:lnTo>
                  <a:lnTo>
                    <a:pt x="31" y="47"/>
                  </a:lnTo>
                  <a:lnTo>
                    <a:pt x="30" y="56"/>
                  </a:lnTo>
                  <a:lnTo>
                    <a:pt x="30" y="65"/>
                  </a:lnTo>
                  <a:lnTo>
                    <a:pt x="28" y="74"/>
                  </a:lnTo>
                  <a:lnTo>
                    <a:pt x="27" y="83"/>
                  </a:lnTo>
                  <a:lnTo>
                    <a:pt x="25" y="91"/>
                  </a:lnTo>
                  <a:lnTo>
                    <a:pt x="22" y="98"/>
                  </a:lnTo>
                  <a:lnTo>
                    <a:pt x="18" y="105"/>
                  </a:lnTo>
                  <a:lnTo>
                    <a:pt x="14" y="111"/>
                  </a:lnTo>
                  <a:lnTo>
                    <a:pt x="7" y="117"/>
                  </a:lnTo>
                  <a:lnTo>
                    <a:pt x="0" y="121"/>
                  </a:lnTo>
                  <a:lnTo>
                    <a:pt x="5" y="13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5" name="Freeform 283">
              <a:extLst>
                <a:ext uri="{FF2B5EF4-FFF2-40B4-BE49-F238E27FC236}">
                  <a16:creationId xmlns:a16="http://schemas.microsoft.com/office/drawing/2014/main" id="{83E45094-DFD0-2886-98AA-4BB4F79991E6}"/>
                </a:ext>
              </a:extLst>
            </p:cNvPr>
            <p:cNvSpPr>
              <a:spLocks/>
            </p:cNvSpPr>
            <p:nvPr/>
          </p:nvSpPr>
          <p:spPr bwMode="auto">
            <a:xfrm>
              <a:off x="4107" y="2624"/>
              <a:ext cx="197" cy="51"/>
            </a:xfrm>
            <a:custGeom>
              <a:avLst/>
              <a:gdLst>
                <a:gd name="T0" fmla="*/ 597 w 157"/>
                <a:gd name="T1" fmla="*/ 62 h 48"/>
                <a:gd name="T2" fmla="*/ 1479 w 157"/>
                <a:gd name="T3" fmla="*/ 49 h 48"/>
                <a:gd name="T4" fmla="*/ 2626 w 157"/>
                <a:gd name="T5" fmla="*/ 46 h 48"/>
                <a:gd name="T6" fmla="*/ 3541 w 157"/>
                <a:gd name="T7" fmla="*/ 46 h 48"/>
                <a:gd name="T8" fmla="*/ 4443 w 157"/>
                <a:gd name="T9" fmla="*/ 52 h 48"/>
                <a:gd name="T10" fmla="*/ 5544 w 157"/>
                <a:gd name="T11" fmla="*/ 62 h 48"/>
                <a:gd name="T12" fmla="*/ 6530 w 157"/>
                <a:gd name="T13" fmla="*/ 79 h 48"/>
                <a:gd name="T14" fmla="*/ 7435 w 157"/>
                <a:gd name="T15" fmla="*/ 92 h 48"/>
                <a:gd name="T16" fmla="*/ 8570 w 157"/>
                <a:gd name="T17" fmla="*/ 107 h 48"/>
                <a:gd name="T18" fmla="*/ 9684 w 157"/>
                <a:gd name="T19" fmla="*/ 125 h 48"/>
                <a:gd name="T20" fmla="*/ 10952 w 157"/>
                <a:gd name="T21" fmla="*/ 141 h 48"/>
                <a:gd name="T22" fmla="*/ 11959 w 157"/>
                <a:gd name="T23" fmla="*/ 154 h 48"/>
                <a:gd name="T24" fmla="*/ 13258 w 157"/>
                <a:gd name="T25" fmla="*/ 165 h 48"/>
                <a:gd name="T26" fmla="*/ 14399 w 157"/>
                <a:gd name="T27" fmla="*/ 166 h 48"/>
                <a:gd name="T28" fmla="*/ 15789 w 157"/>
                <a:gd name="T29" fmla="*/ 166 h 48"/>
                <a:gd name="T30" fmla="*/ 17015 w 157"/>
                <a:gd name="T31" fmla="*/ 165 h 48"/>
                <a:gd name="T32" fmla="*/ 18396 w 157"/>
                <a:gd name="T33" fmla="*/ 154 h 48"/>
                <a:gd name="T34" fmla="*/ 17681 w 157"/>
                <a:gd name="T35" fmla="*/ 104 h 48"/>
                <a:gd name="T36" fmla="*/ 16572 w 157"/>
                <a:gd name="T37" fmla="*/ 118 h 48"/>
                <a:gd name="T38" fmla="*/ 15685 w 157"/>
                <a:gd name="T39" fmla="*/ 121 h 48"/>
                <a:gd name="T40" fmla="*/ 14661 w 157"/>
                <a:gd name="T41" fmla="*/ 121 h 48"/>
                <a:gd name="T42" fmla="*/ 13493 w 157"/>
                <a:gd name="T43" fmla="*/ 118 h 48"/>
                <a:gd name="T44" fmla="*/ 12500 w 157"/>
                <a:gd name="T45" fmla="*/ 104 h 48"/>
                <a:gd name="T46" fmla="*/ 11475 w 157"/>
                <a:gd name="T47" fmla="*/ 95 h 48"/>
                <a:gd name="T48" fmla="*/ 10282 w 157"/>
                <a:gd name="T49" fmla="*/ 79 h 48"/>
                <a:gd name="T50" fmla="*/ 9329 w 157"/>
                <a:gd name="T51" fmla="*/ 62 h 48"/>
                <a:gd name="T52" fmla="*/ 8388 w 157"/>
                <a:gd name="T53" fmla="*/ 49 h 48"/>
                <a:gd name="T54" fmla="*/ 7243 w 157"/>
                <a:gd name="T55" fmla="*/ 36 h 48"/>
                <a:gd name="T56" fmla="*/ 6117 w 157"/>
                <a:gd name="T57" fmla="*/ 5 h 48"/>
                <a:gd name="T58" fmla="*/ 4973 w 157"/>
                <a:gd name="T59" fmla="*/ 2 h 48"/>
                <a:gd name="T60" fmla="*/ 3756 w 157"/>
                <a:gd name="T61" fmla="*/ 0 h 48"/>
                <a:gd name="T62" fmla="*/ 2390 w 157"/>
                <a:gd name="T63" fmla="*/ 0 h 48"/>
                <a:gd name="T64" fmla="*/ 1333 w 157"/>
                <a:gd name="T65" fmla="*/ 1 h 48"/>
                <a:gd name="T66" fmla="*/ 0 w 157"/>
                <a:gd name="T67" fmla="*/ 5 h 48"/>
                <a:gd name="T68" fmla="*/ 597 w 157"/>
                <a:gd name="T69" fmla="*/ 62 h 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48"/>
                <a:gd name="T107" fmla="*/ 157 w 157"/>
                <a:gd name="T108" fmla="*/ 48 h 4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48">
                  <a:moveTo>
                    <a:pt x="5" y="18"/>
                  </a:moveTo>
                  <a:lnTo>
                    <a:pt x="13" y="14"/>
                  </a:lnTo>
                  <a:lnTo>
                    <a:pt x="22" y="13"/>
                  </a:lnTo>
                  <a:lnTo>
                    <a:pt x="30" y="13"/>
                  </a:lnTo>
                  <a:lnTo>
                    <a:pt x="38" y="15"/>
                  </a:lnTo>
                  <a:lnTo>
                    <a:pt x="47" y="18"/>
                  </a:lnTo>
                  <a:lnTo>
                    <a:pt x="56" y="22"/>
                  </a:lnTo>
                  <a:lnTo>
                    <a:pt x="64" y="25"/>
                  </a:lnTo>
                  <a:lnTo>
                    <a:pt x="73" y="30"/>
                  </a:lnTo>
                  <a:lnTo>
                    <a:pt x="83" y="35"/>
                  </a:lnTo>
                  <a:lnTo>
                    <a:pt x="93" y="39"/>
                  </a:lnTo>
                  <a:lnTo>
                    <a:pt x="102" y="42"/>
                  </a:lnTo>
                  <a:lnTo>
                    <a:pt x="113" y="46"/>
                  </a:lnTo>
                  <a:lnTo>
                    <a:pt x="123" y="47"/>
                  </a:lnTo>
                  <a:lnTo>
                    <a:pt x="134" y="47"/>
                  </a:lnTo>
                  <a:lnTo>
                    <a:pt x="145" y="46"/>
                  </a:lnTo>
                  <a:lnTo>
                    <a:pt x="156" y="42"/>
                  </a:lnTo>
                  <a:lnTo>
                    <a:pt x="151" y="29"/>
                  </a:lnTo>
                  <a:lnTo>
                    <a:pt x="141" y="33"/>
                  </a:lnTo>
                  <a:lnTo>
                    <a:pt x="133" y="34"/>
                  </a:lnTo>
                  <a:lnTo>
                    <a:pt x="124" y="34"/>
                  </a:lnTo>
                  <a:lnTo>
                    <a:pt x="115" y="33"/>
                  </a:lnTo>
                  <a:lnTo>
                    <a:pt x="106" y="29"/>
                  </a:lnTo>
                  <a:lnTo>
                    <a:pt x="98" y="26"/>
                  </a:lnTo>
                  <a:lnTo>
                    <a:pt x="88" y="22"/>
                  </a:lnTo>
                  <a:lnTo>
                    <a:pt x="80" y="18"/>
                  </a:lnTo>
                  <a:lnTo>
                    <a:pt x="71" y="14"/>
                  </a:lnTo>
                  <a:lnTo>
                    <a:pt x="61" y="9"/>
                  </a:lnTo>
                  <a:lnTo>
                    <a:pt x="52" y="5"/>
                  </a:lnTo>
                  <a:lnTo>
                    <a:pt x="42" y="2"/>
                  </a:lnTo>
                  <a:lnTo>
                    <a:pt x="32" y="0"/>
                  </a:lnTo>
                  <a:lnTo>
                    <a:pt x="21" y="0"/>
                  </a:lnTo>
                  <a:lnTo>
                    <a:pt x="11" y="1"/>
                  </a:lnTo>
                  <a:lnTo>
                    <a:pt x="0" y="5"/>
                  </a:lnTo>
                  <a:lnTo>
                    <a:pt x="5" y="1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6" name="Freeform 284">
              <a:extLst>
                <a:ext uri="{FF2B5EF4-FFF2-40B4-BE49-F238E27FC236}">
                  <a16:creationId xmlns:a16="http://schemas.microsoft.com/office/drawing/2014/main" id="{B7A8C2AB-5597-6809-BC1F-409B2E05EAAB}"/>
                </a:ext>
              </a:extLst>
            </p:cNvPr>
            <p:cNvSpPr>
              <a:spLocks/>
            </p:cNvSpPr>
            <p:nvPr/>
          </p:nvSpPr>
          <p:spPr bwMode="auto">
            <a:xfrm>
              <a:off x="4039" y="2628"/>
              <a:ext cx="76" cy="141"/>
            </a:xfrm>
            <a:custGeom>
              <a:avLst/>
              <a:gdLst>
                <a:gd name="T0" fmla="*/ 1023 w 60"/>
                <a:gd name="T1" fmla="*/ 601 h 131"/>
                <a:gd name="T2" fmla="*/ 889 w 60"/>
                <a:gd name="T3" fmla="*/ 609 h 131"/>
                <a:gd name="T4" fmla="*/ 2080 w 60"/>
                <a:gd name="T5" fmla="*/ 590 h 131"/>
                <a:gd name="T6" fmla="*/ 2986 w 60"/>
                <a:gd name="T7" fmla="*/ 550 h 131"/>
                <a:gd name="T8" fmla="*/ 3671 w 60"/>
                <a:gd name="T9" fmla="*/ 517 h 131"/>
                <a:gd name="T10" fmla="*/ 3947 w 60"/>
                <a:gd name="T11" fmla="*/ 480 h 131"/>
                <a:gd name="T12" fmla="*/ 4303 w 60"/>
                <a:gd name="T13" fmla="*/ 440 h 131"/>
                <a:gd name="T14" fmla="*/ 4399 w 60"/>
                <a:gd name="T15" fmla="*/ 408 h 131"/>
                <a:gd name="T16" fmla="*/ 4650 w 60"/>
                <a:gd name="T17" fmla="*/ 358 h 131"/>
                <a:gd name="T18" fmla="*/ 4650 w 60"/>
                <a:gd name="T19" fmla="*/ 321 h 131"/>
                <a:gd name="T20" fmla="*/ 4751 w 60"/>
                <a:gd name="T21" fmla="*/ 282 h 131"/>
                <a:gd name="T22" fmla="*/ 4791 w 60"/>
                <a:gd name="T23" fmla="*/ 230 h 131"/>
                <a:gd name="T24" fmla="*/ 5114 w 60"/>
                <a:gd name="T25" fmla="*/ 196 h 131"/>
                <a:gd name="T26" fmla="*/ 5450 w 60"/>
                <a:gd name="T27" fmla="*/ 168 h 131"/>
                <a:gd name="T28" fmla="*/ 5890 w 60"/>
                <a:gd name="T29" fmla="*/ 128 h 131"/>
                <a:gd name="T30" fmla="*/ 6400 w 60"/>
                <a:gd name="T31" fmla="*/ 103 h 131"/>
                <a:gd name="T32" fmla="*/ 7461 w 60"/>
                <a:gd name="T33" fmla="*/ 83 h 131"/>
                <a:gd name="T34" fmla="*/ 8440 w 60"/>
                <a:gd name="T35" fmla="*/ 58 h 131"/>
                <a:gd name="T36" fmla="*/ 7687 w 60"/>
                <a:gd name="T37" fmla="*/ 0 h 131"/>
                <a:gd name="T38" fmla="*/ 6333 w 60"/>
                <a:gd name="T39" fmla="*/ 6 h 131"/>
                <a:gd name="T40" fmla="*/ 5114 w 60"/>
                <a:gd name="T41" fmla="*/ 58 h 131"/>
                <a:gd name="T42" fmla="*/ 4303 w 60"/>
                <a:gd name="T43" fmla="*/ 96 h 131"/>
                <a:gd name="T44" fmla="*/ 3671 w 60"/>
                <a:gd name="T45" fmla="*/ 136 h 131"/>
                <a:gd name="T46" fmla="*/ 3338 w 60"/>
                <a:gd name="T47" fmla="*/ 182 h 131"/>
                <a:gd name="T48" fmla="*/ 2986 w 60"/>
                <a:gd name="T49" fmla="*/ 227 h 131"/>
                <a:gd name="T50" fmla="*/ 2898 w 60"/>
                <a:gd name="T51" fmla="*/ 264 h 131"/>
                <a:gd name="T52" fmla="*/ 2682 w 60"/>
                <a:gd name="T53" fmla="*/ 306 h 131"/>
                <a:gd name="T54" fmla="*/ 2682 w 60"/>
                <a:gd name="T55" fmla="*/ 353 h 131"/>
                <a:gd name="T56" fmla="*/ 2635 w 60"/>
                <a:gd name="T57" fmla="*/ 392 h 131"/>
                <a:gd name="T58" fmla="*/ 2460 w 60"/>
                <a:gd name="T59" fmla="*/ 435 h 131"/>
                <a:gd name="T60" fmla="*/ 2117 w 60"/>
                <a:gd name="T61" fmla="*/ 468 h 131"/>
                <a:gd name="T62" fmla="*/ 1806 w 60"/>
                <a:gd name="T63" fmla="*/ 499 h 131"/>
                <a:gd name="T64" fmla="*/ 1426 w 60"/>
                <a:gd name="T65" fmla="*/ 511 h 131"/>
                <a:gd name="T66" fmla="*/ 889 w 60"/>
                <a:gd name="T67" fmla="*/ 538 h 131"/>
                <a:gd name="T68" fmla="*/ 1 w 60"/>
                <a:gd name="T69" fmla="*/ 549 h 131"/>
                <a:gd name="T70" fmla="*/ 0 w 60"/>
                <a:gd name="T71" fmla="*/ 550 h 131"/>
                <a:gd name="T72" fmla="*/ 1 w 60"/>
                <a:gd name="T73" fmla="*/ 549 h 131"/>
                <a:gd name="T74" fmla="*/ 1 w 60"/>
                <a:gd name="T75" fmla="*/ 550 h 131"/>
                <a:gd name="T76" fmla="*/ 0 w 60"/>
                <a:gd name="T77" fmla="*/ 550 h 131"/>
                <a:gd name="T78" fmla="*/ 1023 w 60"/>
                <a:gd name="T79" fmla="*/ 601 h 13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0"/>
                <a:gd name="T121" fmla="*/ 0 h 131"/>
                <a:gd name="T122" fmla="*/ 60 w 60"/>
                <a:gd name="T123" fmla="*/ 131 h 13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0" h="131">
                  <a:moveTo>
                    <a:pt x="7" y="129"/>
                  </a:moveTo>
                  <a:lnTo>
                    <a:pt x="6" y="130"/>
                  </a:lnTo>
                  <a:lnTo>
                    <a:pt x="14" y="125"/>
                  </a:lnTo>
                  <a:lnTo>
                    <a:pt x="21" y="118"/>
                  </a:lnTo>
                  <a:lnTo>
                    <a:pt x="25" y="111"/>
                  </a:lnTo>
                  <a:lnTo>
                    <a:pt x="28" y="103"/>
                  </a:lnTo>
                  <a:lnTo>
                    <a:pt x="30" y="94"/>
                  </a:lnTo>
                  <a:lnTo>
                    <a:pt x="31" y="86"/>
                  </a:lnTo>
                  <a:lnTo>
                    <a:pt x="32" y="77"/>
                  </a:lnTo>
                  <a:lnTo>
                    <a:pt x="32" y="68"/>
                  </a:lnTo>
                  <a:lnTo>
                    <a:pt x="33" y="59"/>
                  </a:lnTo>
                  <a:lnTo>
                    <a:pt x="34" y="50"/>
                  </a:lnTo>
                  <a:lnTo>
                    <a:pt x="36" y="42"/>
                  </a:lnTo>
                  <a:lnTo>
                    <a:pt x="38" y="35"/>
                  </a:lnTo>
                  <a:lnTo>
                    <a:pt x="41" y="28"/>
                  </a:lnTo>
                  <a:lnTo>
                    <a:pt x="45" y="22"/>
                  </a:lnTo>
                  <a:lnTo>
                    <a:pt x="52" y="18"/>
                  </a:lnTo>
                  <a:lnTo>
                    <a:pt x="59" y="13"/>
                  </a:lnTo>
                  <a:lnTo>
                    <a:pt x="54" y="0"/>
                  </a:lnTo>
                  <a:lnTo>
                    <a:pt x="44" y="6"/>
                  </a:lnTo>
                  <a:lnTo>
                    <a:pt x="36" y="13"/>
                  </a:lnTo>
                  <a:lnTo>
                    <a:pt x="30" y="20"/>
                  </a:lnTo>
                  <a:lnTo>
                    <a:pt x="25" y="29"/>
                  </a:lnTo>
                  <a:lnTo>
                    <a:pt x="23" y="39"/>
                  </a:lnTo>
                  <a:lnTo>
                    <a:pt x="21" y="48"/>
                  </a:lnTo>
                  <a:lnTo>
                    <a:pt x="20" y="57"/>
                  </a:lnTo>
                  <a:lnTo>
                    <a:pt x="19" y="66"/>
                  </a:lnTo>
                  <a:lnTo>
                    <a:pt x="19" y="75"/>
                  </a:lnTo>
                  <a:lnTo>
                    <a:pt x="18" y="84"/>
                  </a:lnTo>
                  <a:lnTo>
                    <a:pt x="17" y="92"/>
                  </a:lnTo>
                  <a:lnTo>
                    <a:pt x="15" y="99"/>
                  </a:lnTo>
                  <a:lnTo>
                    <a:pt x="13" y="105"/>
                  </a:lnTo>
                  <a:lnTo>
                    <a:pt x="10" y="110"/>
                  </a:lnTo>
                  <a:lnTo>
                    <a:pt x="6" y="114"/>
                  </a:lnTo>
                  <a:lnTo>
                    <a:pt x="1" y="117"/>
                  </a:lnTo>
                  <a:lnTo>
                    <a:pt x="0" y="118"/>
                  </a:lnTo>
                  <a:lnTo>
                    <a:pt x="1" y="117"/>
                  </a:lnTo>
                  <a:lnTo>
                    <a:pt x="1" y="118"/>
                  </a:lnTo>
                  <a:lnTo>
                    <a:pt x="0" y="118"/>
                  </a:lnTo>
                  <a:lnTo>
                    <a:pt x="7" y="129"/>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7" name="Freeform 285">
              <a:extLst>
                <a:ext uri="{FF2B5EF4-FFF2-40B4-BE49-F238E27FC236}">
                  <a16:creationId xmlns:a16="http://schemas.microsoft.com/office/drawing/2014/main" id="{BC242605-24F1-9780-93BD-ABDE726BE96E}"/>
                </a:ext>
              </a:extLst>
            </p:cNvPr>
            <p:cNvSpPr>
              <a:spLocks/>
            </p:cNvSpPr>
            <p:nvPr/>
          </p:nvSpPr>
          <p:spPr bwMode="auto">
            <a:xfrm>
              <a:off x="4034" y="2754"/>
              <a:ext cx="15" cy="17"/>
            </a:xfrm>
            <a:custGeom>
              <a:avLst/>
              <a:gdLst>
                <a:gd name="T0" fmla="*/ 364 w 12"/>
                <a:gd name="T1" fmla="*/ 100 h 15"/>
                <a:gd name="T2" fmla="*/ 744 w 12"/>
                <a:gd name="T3" fmla="*/ 186 h 15"/>
                <a:gd name="T4" fmla="*/ 1163 w 12"/>
                <a:gd name="T5" fmla="*/ 164 h 15"/>
                <a:gd name="T6" fmla="*/ 455 w 12"/>
                <a:gd name="T7" fmla="*/ 0 h 15"/>
                <a:gd name="T8" fmla="*/ 0 w 12"/>
                <a:gd name="T9" fmla="*/ 2 h 15"/>
                <a:gd name="T10" fmla="*/ 364 w 12"/>
                <a:gd name="T11" fmla="*/ 100 h 15"/>
                <a:gd name="T12" fmla="*/ 0 60000 65536"/>
                <a:gd name="T13" fmla="*/ 0 60000 65536"/>
                <a:gd name="T14" fmla="*/ 0 60000 65536"/>
                <a:gd name="T15" fmla="*/ 0 60000 65536"/>
                <a:gd name="T16" fmla="*/ 0 60000 65536"/>
                <a:gd name="T17" fmla="*/ 0 60000 65536"/>
                <a:gd name="T18" fmla="*/ 0 w 12"/>
                <a:gd name="T19" fmla="*/ 0 h 15"/>
                <a:gd name="T20" fmla="*/ 12 w 12"/>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2" h="15">
                  <a:moveTo>
                    <a:pt x="3" y="8"/>
                  </a:moveTo>
                  <a:lnTo>
                    <a:pt x="7" y="14"/>
                  </a:lnTo>
                  <a:lnTo>
                    <a:pt x="11" y="12"/>
                  </a:lnTo>
                  <a:lnTo>
                    <a:pt x="4" y="0"/>
                  </a:lnTo>
                  <a:lnTo>
                    <a:pt x="0" y="2"/>
                  </a:lnTo>
                  <a:lnTo>
                    <a:pt x="3" y="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8" name="Freeform 286">
              <a:extLst>
                <a:ext uri="{FF2B5EF4-FFF2-40B4-BE49-F238E27FC236}">
                  <a16:creationId xmlns:a16="http://schemas.microsoft.com/office/drawing/2014/main" id="{19EC78EB-6825-6B5E-0EC4-AECD90212369}"/>
                </a:ext>
              </a:extLst>
            </p:cNvPr>
            <p:cNvSpPr>
              <a:spLocks/>
            </p:cNvSpPr>
            <p:nvPr/>
          </p:nvSpPr>
          <p:spPr bwMode="auto">
            <a:xfrm>
              <a:off x="4755" y="2386"/>
              <a:ext cx="152" cy="79"/>
            </a:xfrm>
            <a:custGeom>
              <a:avLst/>
              <a:gdLst>
                <a:gd name="T0" fmla="*/ 3418 w 122"/>
                <a:gd name="T1" fmla="*/ 187 h 73"/>
                <a:gd name="T2" fmla="*/ 0 w 122"/>
                <a:gd name="T3" fmla="*/ 89 h 73"/>
                <a:gd name="T4" fmla="*/ 1 w 122"/>
                <a:gd name="T5" fmla="*/ 82 h 73"/>
                <a:gd name="T6" fmla="*/ 6299 w 122"/>
                <a:gd name="T7" fmla="*/ 60 h 73"/>
                <a:gd name="T8" fmla="*/ 6961 w 122"/>
                <a:gd name="T9" fmla="*/ 51 h 73"/>
                <a:gd name="T10" fmla="*/ 7848 w 122"/>
                <a:gd name="T11" fmla="*/ 43 h 73"/>
                <a:gd name="T12" fmla="*/ 8505 w 122"/>
                <a:gd name="T13" fmla="*/ 40 h 73"/>
                <a:gd name="T14" fmla="*/ 9349 w 122"/>
                <a:gd name="T15" fmla="*/ 6 h 73"/>
                <a:gd name="T16" fmla="*/ 10006 w 122"/>
                <a:gd name="T17" fmla="*/ 4 h 73"/>
                <a:gd name="T18" fmla="*/ 10650 w 122"/>
                <a:gd name="T19" fmla="*/ 3 h 73"/>
                <a:gd name="T20" fmla="*/ 11553 w 122"/>
                <a:gd name="T21" fmla="*/ 1 h 73"/>
                <a:gd name="T22" fmla="*/ 12285 w 122"/>
                <a:gd name="T23" fmla="*/ 0 h 73"/>
                <a:gd name="T24" fmla="*/ 11829 w 122"/>
                <a:gd name="T25" fmla="*/ 4 h 73"/>
                <a:gd name="T26" fmla="*/ 11112 w 122"/>
                <a:gd name="T27" fmla="*/ 43 h 73"/>
                <a:gd name="T28" fmla="*/ 10584 w 122"/>
                <a:gd name="T29" fmla="*/ 60 h 73"/>
                <a:gd name="T30" fmla="*/ 9860 w 122"/>
                <a:gd name="T31" fmla="*/ 82 h 73"/>
                <a:gd name="T32" fmla="*/ 9349 w 122"/>
                <a:gd name="T33" fmla="*/ 105 h 73"/>
                <a:gd name="T34" fmla="*/ 8673 w 122"/>
                <a:gd name="T35" fmla="*/ 123 h 73"/>
                <a:gd name="T36" fmla="*/ 7935 w 122"/>
                <a:gd name="T37" fmla="*/ 155 h 73"/>
                <a:gd name="T38" fmla="*/ 7391 w 122"/>
                <a:gd name="T39" fmla="*/ 169 h 73"/>
                <a:gd name="T40" fmla="*/ 3257 w 122"/>
                <a:gd name="T41" fmla="*/ 373 h 73"/>
                <a:gd name="T42" fmla="*/ 2971 w 122"/>
                <a:gd name="T43" fmla="*/ 373 h 73"/>
                <a:gd name="T44" fmla="*/ 3418 w 122"/>
                <a:gd name="T45" fmla="*/ 187 h 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2"/>
                <a:gd name="T70" fmla="*/ 0 h 73"/>
                <a:gd name="T71" fmla="*/ 122 w 122"/>
                <a:gd name="T72" fmla="*/ 73 h 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2" h="73">
                  <a:moveTo>
                    <a:pt x="34" y="36"/>
                  </a:moveTo>
                  <a:lnTo>
                    <a:pt x="0" y="17"/>
                  </a:lnTo>
                  <a:lnTo>
                    <a:pt x="1" y="16"/>
                  </a:lnTo>
                  <a:lnTo>
                    <a:pt x="62" y="12"/>
                  </a:lnTo>
                  <a:lnTo>
                    <a:pt x="69" y="10"/>
                  </a:lnTo>
                  <a:lnTo>
                    <a:pt x="77" y="8"/>
                  </a:lnTo>
                  <a:lnTo>
                    <a:pt x="84" y="7"/>
                  </a:lnTo>
                  <a:lnTo>
                    <a:pt x="92" y="6"/>
                  </a:lnTo>
                  <a:lnTo>
                    <a:pt x="99" y="4"/>
                  </a:lnTo>
                  <a:lnTo>
                    <a:pt x="106" y="3"/>
                  </a:lnTo>
                  <a:lnTo>
                    <a:pt x="114" y="1"/>
                  </a:lnTo>
                  <a:lnTo>
                    <a:pt x="121" y="0"/>
                  </a:lnTo>
                  <a:lnTo>
                    <a:pt x="116" y="4"/>
                  </a:lnTo>
                  <a:lnTo>
                    <a:pt x="110" y="8"/>
                  </a:lnTo>
                  <a:lnTo>
                    <a:pt x="104" y="12"/>
                  </a:lnTo>
                  <a:lnTo>
                    <a:pt x="97" y="16"/>
                  </a:lnTo>
                  <a:lnTo>
                    <a:pt x="92" y="20"/>
                  </a:lnTo>
                  <a:lnTo>
                    <a:pt x="86" y="24"/>
                  </a:lnTo>
                  <a:lnTo>
                    <a:pt x="79" y="29"/>
                  </a:lnTo>
                  <a:lnTo>
                    <a:pt x="73" y="32"/>
                  </a:lnTo>
                  <a:lnTo>
                    <a:pt x="32" y="72"/>
                  </a:lnTo>
                  <a:lnTo>
                    <a:pt x="30" y="72"/>
                  </a:lnTo>
                  <a:lnTo>
                    <a:pt x="34" y="3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9" name="Freeform 287">
              <a:extLst>
                <a:ext uri="{FF2B5EF4-FFF2-40B4-BE49-F238E27FC236}">
                  <a16:creationId xmlns:a16="http://schemas.microsoft.com/office/drawing/2014/main" id="{12715789-C07C-C8E1-FBD8-99742978A5DB}"/>
                </a:ext>
              </a:extLst>
            </p:cNvPr>
            <p:cNvSpPr>
              <a:spLocks/>
            </p:cNvSpPr>
            <p:nvPr/>
          </p:nvSpPr>
          <p:spPr bwMode="auto">
            <a:xfrm>
              <a:off x="2950" y="3206"/>
              <a:ext cx="146" cy="143"/>
            </a:xfrm>
            <a:custGeom>
              <a:avLst/>
              <a:gdLst>
                <a:gd name="T0" fmla="*/ 11484 w 117"/>
                <a:gd name="T1" fmla="*/ 0 h 132"/>
                <a:gd name="T2" fmla="*/ 10586 w 117"/>
                <a:gd name="T3" fmla="*/ 28 h 132"/>
                <a:gd name="T4" fmla="*/ 9767 w 117"/>
                <a:gd name="T5" fmla="*/ 63 h 132"/>
                <a:gd name="T6" fmla="*/ 9390 w 117"/>
                <a:gd name="T7" fmla="*/ 104 h 132"/>
                <a:gd name="T8" fmla="*/ 9166 w 117"/>
                <a:gd name="T9" fmla="*/ 138 h 132"/>
                <a:gd name="T10" fmla="*/ 8971 w 117"/>
                <a:gd name="T11" fmla="*/ 177 h 132"/>
                <a:gd name="T12" fmla="*/ 8900 w 117"/>
                <a:gd name="T13" fmla="*/ 209 h 132"/>
                <a:gd name="T14" fmla="*/ 8756 w 117"/>
                <a:gd name="T15" fmla="*/ 245 h 132"/>
                <a:gd name="T16" fmla="*/ 8756 w 117"/>
                <a:gd name="T17" fmla="*/ 286 h 132"/>
                <a:gd name="T18" fmla="*/ 8483 w 117"/>
                <a:gd name="T19" fmla="*/ 313 h 132"/>
                <a:gd name="T20" fmla="*/ 8119 w 117"/>
                <a:gd name="T21" fmla="*/ 343 h 132"/>
                <a:gd name="T22" fmla="*/ 7638 w 117"/>
                <a:gd name="T23" fmla="*/ 376 h 132"/>
                <a:gd name="T24" fmla="*/ 6810 w 117"/>
                <a:gd name="T25" fmla="*/ 428 h 132"/>
                <a:gd name="T26" fmla="*/ 5761 w 117"/>
                <a:gd name="T27" fmla="*/ 473 h 132"/>
                <a:gd name="T28" fmla="*/ 4321 w 117"/>
                <a:gd name="T29" fmla="*/ 518 h 132"/>
                <a:gd name="T30" fmla="*/ 2427 w 117"/>
                <a:gd name="T31" fmla="*/ 581 h 132"/>
                <a:gd name="T32" fmla="*/ 0 w 117"/>
                <a:gd name="T33" fmla="*/ 639 h 132"/>
                <a:gd name="T34" fmla="*/ 453 w 117"/>
                <a:gd name="T35" fmla="*/ 705 h 132"/>
                <a:gd name="T36" fmla="*/ 3029 w 117"/>
                <a:gd name="T37" fmla="*/ 644 h 132"/>
                <a:gd name="T38" fmla="*/ 5008 w 117"/>
                <a:gd name="T39" fmla="*/ 590 h 132"/>
                <a:gd name="T40" fmla="*/ 6689 w 117"/>
                <a:gd name="T41" fmla="*/ 523 h 132"/>
                <a:gd name="T42" fmla="*/ 7827 w 117"/>
                <a:gd name="T43" fmla="*/ 477 h 132"/>
                <a:gd name="T44" fmla="*/ 8756 w 117"/>
                <a:gd name="T45" fmla="*/ 431 h 132"/>
                <a:gd name="T46" fmla="*/ 9390 w 117"/>
                <a:gd name="T47" fmla="*/ 376 h 132"/>
                <a:gd name="T48" fmla="*/ 9767 w 117"/>
                <a:gd name="T49" fmla="*/ 339 h 132"/>
                <a:gd name="T50" fmla="*/ 10131 w 117"/>
                <a:gd name="T51" fmla="*/ 289 h 132"/>
                <a:gd name="T52" fmla="*/ 10131 w 117"/>
                <a:gd name="T53" fmla="*/ 246 h 132"/>
                <a:gd name="T54" fmla="*/ 10204 w 117"/>
                <a:gd name="T55" fmla="*/ 225 h 132"/>
                <a:gd name="T56" fmla="*/ 10416 w 117"/>
                <a:gd name="T57" fmla="*/ 192 h 132"/>
                <a:gd name="T58" fmla="*/ 10477 w 117"/>
                <a:gd name="T59" fmla="*/ 163 h 132"/>
                <a:gd name="T60" fmla="*/ 10604 w 117"/>
                <a:gd name="T61" fmla="*/ 132 h 132"/>
                <a:gd name="T62" fmla="*/ 10856 w 117"/>
                <a:gd name="T63" fmla="*/ 113 h 132"/>
                <a:gd name="T64" fmla="*/ 11484 w 117"/>
                <a:gd name="T65" fmla="*/ 82 h 132"/>
                <a:gd name="T66" fmla="*/ 12173 w 117"/>
                <a:gd name="T67" fmla="*/ 58 h 132"/>
                <a:gd name="T68" fmla="*/ 11484 w 117"/>
                <a:gd name="T69" fmla="*/ 0 h 13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7"/>
                <a:gd name="T106" fmla="*/ 0 h 132"/>
                <a:gd name="T107" fmla="*/ 117 w 117"/>
                <a:gd name="T108" fmla="*/ 132 h 13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7" h="132">
                  <a:moveTo>
                    <a:pt x="110" y="0"/>
                  </a:moveTo>
                  <a:lnTo>
                    <a:pt x="101" y="6"/>
                  </a:lnTo>
                  <a:lnTo>
                    <a:pt x="94" y="12"/>
                  </a:lnTo>
                  <a:lnTo>
                    <a:pt x="90" y="19"/>
                  </a:lnTo>
                  <a:lnTo>
                    <a:pt x="87" y="26"/>
                  </a:lnTo>
                  <a:lnTo>
                    <a:pt x="86" y="32"/>
                  </a:lnTo>
                  <a:lnTo>
                    <a:pt x="85" y="39"/>
                  </a:lnTo>
                  <a:lnTo>
                    <a:pt x="84" y="45"/>
                  </a:lnTo>
                  <a:lnTo>
                    <a:pt x="84" y="52"/>
                  </a:lnTo>
                  <a:lnTo>
                    <a:pt x="81" y="58"/>
                  </a:lnTo>
                  <a:lnTo>
                    <a:pt x="78" y="64"/>
                  </a:lnTo>
                  <a:lnTo>
                    <a:pt x="73" y="71"/>
                  </a:lnTo>
                  <a:lnTo>
                    <a:pt x="66" y="79"/>
                  </a:lnTo>
                  <a:lnTo>
                    <a:pt x="55" y="88"/>
                  </a:lnTo>
                  <a:lnTo>
                    <a:pt x="41" y="97"/>
                  </a:lnTo>
                  <a:lnTo>
                    <a:pt x="23" y="108"/>
                  </a:lnTo>
                  <a:lnTo>
                    <a:pt x="0" y="118"/>
                  </a:lnTo>
                  <a:lnTo>
                    <a:pt x="5" y="131"/>
                  </a:lnTo>
                  <a:lnTo>
                    <a:pt x="29" y="119"/>
                  </a:lnTo>
                  <a:lnTo>
                    <a:pt x="47" y="109"/>
                  </a:lnTo>
                  <a:lnTo>
                    <a:pt x="63" y="98"/>
                  </a:lnTo>
                  <a:lnTo>
                    <a:pt x="75" y="89"/>
                  </a:lnTo>
                  <a:lnTo>
                    <a:pt x="84" y="80"/>
                  </a:lnTo>
                  <a:lnTo>
                    <a:pt x="90" y="71"/>
                  </a:lnTo>
                  <a:lnTo>
                    <a:pt x="94" y="63"/>
                  </a:lnTo>
                  <a:lnTo>
                    <a:pt x="97" y="54"/>
                  </a:lnTo>
                  <a:lnTo>
                    <a:pt x="97" y="46"/>
                  </a:lnTo>
                  <a:lnTo>
                    <a:pt x="98" y="41"/>
                  </a:lnTo>
                  <a:lnTo>
                    <a:pt x="99" y="35"/>
                  </a:lnTo>
                  <a:lnTo>
                    <a:pt x="100" y="30"/>
                  </a:lnTo>
                  <a:lnTo>
                    <a:pt x="102" y="25"/>
                  </a:lnTo>
                  <a:lnTo>
                    <a:pt x="104" y="21"/>
                  </a:lnTo>
                  <a:lnTo>
                    <a:pt x="110" y="16"/>
                  </a:lnTo>
                  <a:lnTo>
                    <a:pt x="116" y="11"/>
                  </a:lnTo>
                  <a:lnTo>
                    <a:pt x="110"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0" name="Freeform 288">
              <a:extLst>
                <a:ext uri="{FF2B5EF4-FFF2-40B4-BE49-F238E27FC236}">
                  <a16:creationId xmlns:a16="http://schemas.microsoft.com/office/drawing/2014/main" id="{8E633571-9C48-51BC-9EB7-71EEE2690B79}"/>
                </a:ext>
              </a:extLst>
            </p:cNvPr>
            <p:cNvSpPr>
              <a:spLocks/>
            </p:cNvSpPr>
            <p:nvPr/>
          </p:nvSpPr>
          <p:spPr bwMode="auto">
            <a:xfrm>
              <a:off x="3086" y="3197"/>
              <a:ext cx="207" cy="43"/>
            </a:xfrm>
            <a:custGeom>
              <a:avLst/>
              <a:gdLst>
                <a:gd name="T0" fmla="*/ 18363 w 165"/>
                <a:gd name="T1" fmla="*/ 95 h 40"/>
                <a:gd name="T2" fmla="*/ 17480 w 165"/>
                <a:gd name="T3" fmla="*/ 104 h 40"/>
                <a:gd name="T4" fmla="*/ 16540 w 165"/>
                <a:gd name="T5" fmla="*/ 112 h 40"/>
                <a:gd name="T6" fmla="*/ 15427 w 165"/>
                <a:gd name="T7" fmla="*/ 112 h 40"/>
                <a:gd name="T8" fmla="*/ 14615 w 165"/>
                <a:gd name="T9" fmla="*/ 110 h 40"/>
                <a:gd name="T10" fmla="*/ 13468 w 165"/>
                <a:gd name="T11" fmla="*/ 102 h 40"/>
                <a:gd name="T12" fmla="*/ 12297 w 165"/>
                <a:gd name="T13" fmla="*/ 88 h 40"/>
                <a:gd name="T14" fmla="*/ 11184 w 165"/>
                <a:gd name="T15" fmla="*/ 71 h 40"/>
                <a:gd name="T16" fmla="*/ 10031 w 165"/>
                <a:gd name="T17" fmla="*/ 53 h 40"/>
                <a:gd name="T18" fmla="*/ 8841 w 165"/>
                <a:gd name="T19" fmla="*/ 43 h 40"/>
                <a:gd name="T20" fmla="*/ 7648 w 165"/>
                <a:gd name="T21" fmla="*/ 5 h 40"/>
                <a:gd name="T22" fmla="*/ 6492 w 165"/>
                <a:gd name="T23" fmla="*/ 2 h 40"/>
                <a:gd name="T24" fmla="*/ 5175 w 165"/>
                <a:gd name="T25" fmla="*/ 1 h 40"/>
                <a:gd name="T26" fmla="*/ 3754 w 165"/>
                <a:gd name="T27" fmla="*/ 0 h 40"/>
                <a:gd name="T28" fmla="*/ 2621 w 165"/>
                <a:gd name="T29" fmla="*/ 1 h 40"/>
                <a:gd name="T30" fmla="*/ 1331 w 165"/>
                <a:gd name="T31" fmla="*/ 4 h 40"/>
                <a:gd name="T32" fmla="*/ 0 w 165"/>
                <a:gd name="T33" fmla="*/ 43 h 40"/>
                <a:gd name="T34" fmla="*/ 846 w 165"/>
                <a:gd name="T35" fmla="*/ 95 h 40"/>
                <a:gd name="T36" fmla="*/ 1791 w 165"/>
                <a:gd name="T37" fmla="*/ 76 h 40"/>
                <a:gd name="T38" fmla="*/ 2917 w 165"/>
                <a:gd name="T39" fmla="*/ 61 h 40"/>
                <a:gd name="T40" fmla="*/ 3754 w 165"/>
                <a:gd name="T41" fmla="*/ 61 h 40"/>
                <a:gd name="T42" fmla="*/ 4893 w 165"/>
                <a:gd name="T43" fmla="*/ 61 h 40"/>
                <a:gd name="T44" fmla="*/ 6096 w 165"/>
                <a:gd name="T45" fmla="*/ 66 h 40"/>
                <a:gd name="T46" fmla="*/ 7227 w 165"/>
                <a:gd name="T47" fmla="*/ 82 h 40"/>
                <a:gd name="T48" fmla="*/ 8390 w 165"/>
                <a:gd name="T49" fmla="*/ 102 h 40"/>
                <a:gd name="T50" fmla="*/ 9516 w 165"/>
                <a:gd name="T51" fmla="*/ 112 h 40"/>
                <a:gd name="T52" fmla="*/ 10625 w 165"/>
                <a:gd name="T53" fmla="*/ 129 h 40"/>
                <a:gd name="T54" fmla="*/ 11824 w 165"/>
                <a:gd name="T55" fmla="*/ 147 h 40"/>
                <a:gd name="T56" fmla="*/ 12892 w 165"/>
                <a:gd name="T57" fmla="*/ 160 h 40"/>
                <a:gd name="T58" fmla="*/ 14270 w 165"/>
                <a:gd name="T59" fmla="*/ 170 h 40"/>
                <a:gd name="T60" fmla="*/ 15427 w 165"/>
                <a:gd name="T61" fmla="*/ 181 h 40"/>
                <a:gd name="T62" fmla="*/ 16566 w 165"/>
                <a:gd name="T63" fmla="*/ 172 h 40"/>
                <a:gd name="T64" fmla="*/ 18029 w 165"/>
                <a:gd name="T65" fmla="*/ 168 h 40"/>
                <a:gd name="T66" fmla="*/ 19181 w 165"/>
                <a:gd name="T67" fmla="*/ 139 h 40"/>
                <a:gd name="T68" fmla="*/ 18363 w 165"/>
                <a:gd name="T69" fmla="*/ 95 h 4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5"/>
                <a:gd name="T106" fmla="*/ 0 h 40"/>
                <a:gd name="T107" fmla="*/ 165 w 165"/>
                <a:gd name="T108" fmla="*/ 40 h 4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5" h="40">
                  <a:moveTo>
                    <a:pt x="157" y="20"/>
                  </a:moveTo>
                  <a:lnTo>
                    <a:pt x="150" y="23"/>
                  </a:lnTo>
                  <a:lnTo>
                    <a:pt x="141" y="25"/>
                  </a:lnTo>
                  <a:lnTo>
                    <a:pt x="132" y="25"/>
                  </a:lnTo>
                  <a:lnTo>
                    <a:pt x="124" y="24"/>
                  </a:lnTo>
                  <a:lnTo>
                    <a:pt x="115" y="22"/>
                  </a:lnTo>
                  <a:lnTo>
                    <a:pt x="105" y="19"/>
                  </a:lnTo>
                  <a:lnTo>
                    <a:pt x="96" y="16"/>
                  </a:lnTo>
                  <a:lnTo>
                    <a:pt x="86" y="12"/>
                  </a:lnTo>
                  <a:lnTo>
                    <a:pt x="76" y="9"/>
                  </a:lnTo>
                  <a:lnTo>
                    <a:pt x="65" y="5"/>
                  </a:lnTo>
                  <a:lnTo>
                    <a:pt x="55" y="2"/>
                  </a:lnTo>
                  <a:lnTo>
                    <a:pt x="44" y="1"/>
                  </a:lnTo>
                  <a:lnTo>
                    <a:pt x="33" y="0"/>
                  </a:lnTo>
                  <a:lnTo>
                    <a:pt x="22" y="1"/>
                  </a:lnTo>
                  <a:lnTo>
                    <a:pt x="11" y="4"/>
                  </a:lnTo>
                  <a:lnTo>
                    <a:pt x="0" y="9"/>
                  </a:lnTo>
                  <a:lnTo>
                    <a:pt x="7" y="20"/>
                  </a:lnTo>
                  <a:lnTo>
                    <a:pt x="15" y="17"/>
                  </a:lnTo>
                  <a:lnTo>
                    <a:pt x="25" y="14"/>
                  </a:lnTo>
                  <a:lnTo>
                    <a:pt x="33" y="14"/>
                  </a:lnTo>
                  <a:lnTo>
                    <a:pt x="42" y="14"/>
                  </a:lnTo>
                  <a:lnTo>
                    <a:pt x="52" y="15"/>
                  </a:lnTo>
                  <a:lnTo>
                    <a:pt x="61" y="18"/>
                  </a:lnTo>
                  <a:lnTo>
                    <a:pt x="72" y="22"/>
                  </a:lnTo>
                  <a:lnTo>
                    <a:pt x="81" y="25"/>
                  </a:lnTo>
                  <a:lnTo>
                    <a:pt x="91" y="29"/>
                  </a:lnTo>
                  <a:lnTo>
                    <a:pt x="101" y="32"/>
                  </a:lnTo>
                  <a:lnTo>
                    <a:pt x="111" y="35"/>
                  </a:lnTo>
                  <a:lnTo>
                    <a:pt x="122" y="37"/>
                  </a:lnTo>
                  <a:lnTo>
                    <a:pt x="132" y="39"/>
                  </a:lnTo>
                  <a:lnTo>
                    <a:pt x="142" y="38"/>
                  </a:lnTo>
                  <a:lnTo>
                    <a:pt x="154" y="36"/>
                  </a:lnTo>
                  <a:lnTo>
                    <a:pt x="164" y="31"/>
                  </a:lnTo>
                  <a:lnTo>
                    <a:pt x="157" y="2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1" name="Freeform 289">
              <a:extLst>
                <a:ext uri="{FF2B5EF4-FFF2-40B4-BE49-F238E27FC236}">
                  <a16:creationId xmlns:a16="http://schemas.microsoft.com/office/drawing/2014/main" id="{0A3562D7-D431-3F7F-89A5-477032FF51D2}"/>
                </a:ext>
              </a:extLst>
            </p:cNvPr>
            <p:cNvSpPr>
              <a:spLocks/>
            </p:cNvSpPr>
            <p:nvPr/>
          </p:nvSpPr>
          <p:spPr bwMode="auto">
            <a:xfrm>
              <a:off x="3284" y="3218"/>
              <a:ext cx="9" cy="14"/>
            </a:xfrm>
            <a:custGeom>
              <a:avLst/>
              <a:gdLst>
                <a:gd name="T0" fmla="*/ 0 w 7"/>
                <a:gd name="T1" fmla="*/ 0 h 13"/>
                <a:gd name="T2" fmla="*/ 567 w 7"/>
                <a:gd name="T3" fmla="*/ 6 h 13"/>
                <a:gd name="T4" fmla="*/ 1205 w 7"/>
                <a:gd name="T5" fmla="*/ 54 h 13"/>
                <a:gd name="T6" fmla="*/ 0 w 7"/>
                <a:gd name="T7" fmla="*/ 0 h 13"/>
                <a:gd name="T8" fmla="*/ 0 60000 65536"/>
                <a:gd name="T9" fmla="*/ 0 60000 65536"/>
                <a:gd name="T10" fmla="*/ 0 60000 65536"/>
                <a:gd name="T11" fmla="*/ 0 60000 65536"/>
                <a:gd name="T12" fmla="*/ 0 w 7"/>
                <a:gd name="T13" fmla="*/ 0 h 13"/>
                <a:gd name="T14" fmla="*/ 7 w 7"/>
                <a:gd name="T15" fmla="*/ 13 h 13"/>
              </a:gdLst>
              <a:ahLst/>
              <a:cxnLst>
                <a:cxn ang="T8">
                  <a:pos x="T0" y="T1"/>
                </a:cxn>
                <a:cxn ang="T9">
                  <a:pos x="T2" y="T3"/>
                </a:cxn>
                <a:cxn ang="T10">
                  <a:pos x="T4" y="T5"/>
                </a:cxn>
                <a:cxn ang="T11">
                  <a:pos x="T6" y="T7"/>
                </a:cxn>
              </a:cxnLst>
              <a:rect l="T12" t="T13" r="T14" b="T15"/>
              <a:pathLst>
                <a:path w="7" h="13">
                  <a:moveTo>
                    <a:pt x="0" y="0"/>
                  </a:moveTo>
                  <a:lnTo>
                    <a:pt x="3" y="6"/>
                  </a:lnTo>
                  <a:lnTo>
                    <a:pt x="6" y="12"/>
                  </a:lnTo>
                  <a:lnTo>
                    <a:pt x="0"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2" name="Freeform 290">
              <a:extLst>
                <a:ext uri="{FF2B5EF4-FFF2-40B4-BE49-F238E27FC236}">
                  <a16:creationId xmlns:a16="http://schemas.microsoft.com/office/drawing/2014/main" id="{D3F9238A-6A4E-CE27-9E21-6C9FADE83B3E}"/>
                </a:ext>
              </a:extLst>
            </p:cNvPr>
            <p:cNvSpPr>
              <a:spLocks/>
            </p:cNvSpPr>
            <p:nvPr/>
          </p:nvSpPr>
          <p:spPr bwMode="auto">
            <a:xfrm>
              <a:off x="3284" y="3082"/>
              <a:ext cx="75" cy="150"/>
            </a:xfrm>
            <a:custGeom>
              <a:avLst/>
              <a:gdLst>
                <a:gd name="T0" fmla="*/ 5813 w 60"/>
                <a:gd name="T1" fmla="*/ 0 h 139"/>
                <a:gd name="T2" fmla="*/ 4735 w 60"/>
                <a:gd name="T3" fmla="*/ 39 h 139"/>
                <a:gd name="T4" fmla="*/ 3943 w 60"/>
                <a:gd name="T5" fmla="*/ 72 h 139"/>
                <a:gd name="T6" fmla="*/ 3391 w 60"/>
                <a:gd name="T7" fmla="*/ 108 h 139"/>
                <a:gd name="T8" fmla="*/ 3076 w 60"/>
                <a:gd name="T9" fmla="*/ 155 h 139"/>
                <a:gd name="T10" fmla="*/ 2841 w 60"/>
                <a:gd name="T11" fmla="*/ 201 h 139"/>
                <a:gd name="T12" fmla="*/ 2713 w 60"/>
                <a:gd name="T13" fmla="*/ 245 h 139"/>
                <a:gd name="T14" fmla="*/ 2688 w 60"/>
                <a:gd name="T15" fmla="*/ 295 h 139"/>
                <a:gd name="T16" fmla="*/ 2688 w 60"/>
                <a:gd name="T17" fmla="*/ 332 h 139"/>
                <a:gd name="T18" fmla="*/ 2523 w 60"/>
                <a:gd name="T19" fmla="*/ 384 h 139"/>
                <a:gd name="T20" fmla="*/ 2688 w 60"/>
                <a:gd name="T21" fmla="*/ 431 h 139"/>
                <a:gd name="T22" fmla="*/ 2523 w 60"/>
                <a:gd name="T23" fmla="*/ 466 h 139"/>
                <a:gd name="T24" fmla="*/ 2273 w 60"/>
                <a:gd name="T25" fmla="*/ 506 h 139"/>
                <a:gd name="T26" fmla="*/ 1818 w 60"/>
                <a:gd name="T27" fmla="*/ 543 h 139"/>
                <a:gd name="T28" fmla="*/ 1614 w 60"/>
                <a:gd name="T29" fmla="*/ 565 h 139"/>
                <a:gd name="T30" fmla="*/ 889 w 60"/>
                <a:gd name="T31" fmla="*/ 599 h 139"/>
                <a:gd name="T32" fmla="*/ 0 w 60"/>
                <a:gd name="T33" fmla="*/ 631 h 139"/>
                <a:gd name="T34" fmla="*/ 711 w 60"/>
                <a:gd name="T35" fmla="*/ 686 h 139"/>
                <a:gd name="T36" fmla="*/ 1818 w 60"/>
                <a:gd name="T37" fmla="*/ 646 h 139"/>
                <a:gd name="T38" fmla="*/ 2688 w 60"/>
                <a:gd name="T39" fmla="*/ 605 h 139"/>
                <a:gd name="T40" fmla="*/ 3154 w 60"/>
                <a:gd name="T41" fmla="*/ 565 h 139"/>
                <a:gd name="T42" fmla="*/ 3788 w 60"/>
                <a:gd name="T43" fmla="*/ 524 h 139"/>
                <a:gd name="T44" fmla="*/ 3943 w 60"/>
                <a:gd name="T45" fmla="*/ 479 h 139"/>
                <a:gd name="T46" fmla="*/ 4085 w 60"/>
                <a:gd name="T47" fmla="*/ 432 h 139"/>
                <a:gd name="T48" fmla="*/ 4200 w 60"/>
                <a:gd name="T49" fmla="*/ 384 h 139"/>
                <a:gd name="T50" fmla="*/ 4200 w 60"/>
                <a:gd name="T51" fmla="*/ 332 h 139"/>
                <a:gd name="T52" fmla="*/ 4200 w 60"/>
                <a:gd name="T53" fmla="*/ 295 h 139"/>
                <a:gd name="T54" fmla="*/ 4200 w 60"/>
                <a:gd name="T55" fmla="*/ 253 h 139"/>
                <a:gd name="T56" fmla="*/ 4239 w 60"/>
                <a:gd name="T57" fmla="*/ 210 h 139"/>
                <a:gd name="T58" fmla="*/ 4439 w 60"/>
                <a:gd name="T59" fmla="*/ 172 h 139"/>
                <a:gd name="T60" fmla="*/ 4735 w 60"/>
                <a:gd name="T61" fmla="*/ 144 h 139"/>
                <a:gd name="T62" fmla="*/ 5166 w 60"/>
                <a:gd name="T63" fmla="*/ 108 h 139"/>
                <a:gd name="T64" fmla="*/ 5650 w 60"/>
                <a:gd name="T65" fmla="*/ 84 h 139"/>
                <a:gd name="T66" fmla="*/ 6458 w 60"/>
                <a:gd name="T67" fmla="*/ 57 h 139"/>
                <a:gd name="T68" fmla="*/ 5813 w 60"/>
                <a:gd name="T69" fmla="*/ 0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0"/>
                <a:gd name="T106" fmla="*/ 0 h 139"/>
                <a:gd name="T107" fmla="*/ 60 w 60"/>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0" h="139">
                  <a:moveTo>
                    <a:pt x="53" y="0"/>
                  </a:moveTo>
                  <a:lnTo>
                    <a:pt x="43" y="7"/>
                  </a:lnTo>
                  <a:lnTo>
                    <a:pt x="36" y="15"/>
                  </a:lnTo>
                  <a:lnTo>
                    <a:pt x="31" y="22"/>
                  </a:lnTo>
                  <a:lnTo>
                    <a:pt x="28" y="31"/>
                  </a:lnTo>
                  <a:lnTo>
                    <a:pt x="26" y="41"/>
                  </a:lnTo>
                  <a:lnTo>
                    <a:pt x="25" y="50"/>
                  </a:lnTo>
                  <a:lnTo>
                    <a:pt x="24" y="59"/>
                  </a:lnTo>
                  <a:lnTo>
                    <a:pt x="24" y="68"/>
                  </a:lnTo>
                  <a:lnTo>
                    <a:pt x="23" y="78"/>
                  </a:lnTo>
                  <a:lnTo>
                    <a:pt x="24" y="86"/>
                  </a:lnTo>
                  <a:lnTo>
                    <a:pt x="23" y="94"/>
                  </a:lnTo>
                  <a:lnTo>
                    <a:pt x="21" y="102"/>
                  </a:lnTo>
                  <a:lnTo>
                    <a:pt x="17" y="109"/>
                  </a:lnTo>
                  <a:lnTo>
                    <a:pt x="14" y="115"/>
                  </a:lnTo>
                  <a:lnTo>
                    <a:pt x="8" y="121"/>
                  </a:lnTo>
                  <a:lnTo>
                    <a:pt x="0" y="126"/>
                  </a:lnTo>
                  <a:lnTo>
                    <a:pt x="6" y="138"/>
                  </a:lnTo>
                  <a:lnTo>
                    <a:pt x="17" y="131"/>
                  </a:lnTo>
                  <a:lnTo>
                    <a:pt x="24" y="123"/>
                  </a:lnTo>
                  <a:lnTo>
                    <a:pt x="29" y="115"/>
                  </a:lnTo>
                  <a:lnTo>
                    <a:pt x="34" y="107"/>
                  </a:lnTo>
                  <a:lnTo>
                    <a:pt x="36" y="97"/>
                  </a:lnTo>
                  <a:lnTo>
                    <a:pt x="37" y="87"/>
                  </a:lnTo>
                  <a:lnTo>
                    <a:pt x="38" y="78"/>
                  </a:lnTo>
                  <a:lnTo>
                    <a:pt x="38" y="68"/>
                  </a:lnTo>
                  <a:lnTo>
                    <a:pt x="38" y="59"/>
                  </a:lnTo>
                  <a:lnTo>
                    <a:pt x="38" y="51"/>
                  </a:lnTo>
                  <a:lnTo>
                    <a:pt x="39" y="43"/>
                  </a:lnTo>
                  <a:lnTo>
                    <a:pt x="41" y="35"/>
                  </a:lnTo>
                  <a:lnTo>
                    <a:pt x="43" y="29"/>
                  </a:lnTo>
                  <a:lnTo>
                    <a:pt x="47" y="22"/>
                  </a:lnTo>
                  <a:lnTo>
                    <a:pt x="52" y="17"/>
                  </a:lnTo>
                  <a:lnTo>
                    <a:pt x="59" y="12"/>
                  </a:lnTo>
                  <a:lnTo>
                    <a:pt x="53"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3" name="Freeform 291">
              <a:extLst>
                <a:ext uri="{FF2B5EF4-FFF2-40B4-BE49-F238E27FC236}">
                  <a16:creationId xmlns:a16="http://schemas.microsoft.com/office/drawing/2014/main" id="{C7D40F0D-28A3-B50A-8BD2-3767DC220DD7}"/>
                </a:ext>
              </a:extLst>
            </p:cNvPr>
            <p:cNvSpPr>
              <a:spLocks/>
            </p:cNvSpPr>
            <p:nvPr/>
          </p:nvSpPr>
          <p:spPr bwMode="auto">
            <a:xfrm>
              <a:off x="3349" y="3073"/>
              <a:ext cx="201" cy="46"/>
            </a:xfrm>
            <a:custGeom>
              <a:avLst/>
              <a:gdLst>
                <a:gd name="T0" fmla="*/ 18273 w 160"/>
                <a:gd name="T1" fmla="*/ 138 h 42"/>
                <a:gd name="T2" fmla="*/ 17312 w 160"/>
                <a:gd name="T3" fmla="*/ 165 h 42"/>
                <a:gd name="T4" fmla="*/ 16361 w 160"/>
                <a:gd name="T5" fmla="*/ 181 h 42"/>
                <a:gd name="T6" fmla="*/ 15133 w 160"/>
                <a:gd name="T7" fmla="*/ 181 h 42"/>
                <a:gd name="T8" fmla="*/ 13986 w 160"/>
                <a:gd name="T9" fmla="*/ 181 h 42"/>
                <a:gd name="T10" fmla="*/ 13042 w 160"/>
                <a:gd name="T11" fmla="*/ 165 h 42"/>
                <a:gd name="T12" fmla="*/ 11885 w 160"/>
                <a:gd name="T13" fmla="*/ 138 h 42"/>
                <a:gd name="T14" fmla="*/ 10806 w 160"/>
                <a:gd name="T15" fmla="*/ 123 h 42"/>
                <a:gd name="T16" fmla="*/ 9708 w 160"/>
                <a:gd name="T17" fmla="*/ 93 h 42"/>
                <a:gd name="T18" fmla="*/ 8548 w 160"/>
                <a:gd name="T19" fmla="*/ 65 h 42"/>
                <a:gd name="T20" fmla="*/ 7403 w 160"/>
                <a:gd name="T21" fmla="*/ 49 h 42"/>
                <a:gd name="T22" fmla="*/ 6261 w 160"/>
                <a:gd name="T23" fmla="*/ 4 h 42"/>
                <a:gd name="T24" fmla="*/ 4984 w 160"/>
                <a:gd name="T25" fmla="*/ 2 h 42"/>
                <a:gd name="T26" fmla="*/ 3793 w 160"/>
                <a:gd name="T27" fmla="*/ 0 h 42"/>
                <a:gd name="T28" fmla="*/ 2514 w 160"/>
                <a:gd name="T29" fmla="*/ 1 h 42"/>
                <a:gd name="T30" fmla="*/ 1212 w 160"/>
                <a:gd name="T31" fmla="*/ 3 h 42"/>
                <a:gd name="T32" fmla="*/ 0 w 160"/>
                <a:gd name="T33" fmla="*/ 54 h 42"/>
                <a:gd name="T34" fmla="*/ 768 w 160"/>
                <a:gd name="T35" fmla="*/ 126 h 42"/>
                <a:gd name="T36" fmla="*/ 1742 w 160"/>
                <a:gd name="T37" fmla="*/ 112 h 42"/>
                <a:gd name="T38" fmla="*/ 2644 w 160"/>
                <a:gd name="T39" fmla="*/ 93 h 42"/>
                <a:gd name="T40" fmla="*/ 3793 w 160"/>
                <a:gd name="T41" fmla="*/ 93 h 42"/>
                <a:gd name="T42" fmla="*/ 4765 w 160"/>
                <a:gd name="T43" fmla="*/ 102 h 42"/>
                <a:gd name="T44" fmla="*/ 5705 w 160"/>
                <a:gd name="T45" fmla="*/ 115 h 42"/>
                <a:gd name="T46" fmla="*/ 6847 w 160"/>
                <a:gd name="T47" fmla="*/ 135 h 42"/>
                <a:gd name="T48" fmla="*/ 7971 w 160"/>
                <a:gd name="T49" fmla="*/ 151 h 42"/>
                <a:gd name="T50" fmla="*/ 9004 w 160"/>
                <a:gd name="T51" fmla="*/ 181 h 42"/>
                <a:gd name="T52" fmla="*/ 10192 w 160"/>
                <a:gd name="T53" fmla="*/ 212 h 42"/>
                <a:gd name="T54" fmla="*/ 11351 w 160"/>
                <a:gd name="T55" fmla="*/ 232 h 42"/>
                <a:gd name="T56" fmla="*/ 12580 w 160"/>
                <a:gd name="T57" fmla="*/ 260 h 42"/>
                <a:gd name="T58" fmla="*/ 13781 w 160"/>
                <a:gd name="T59" fmla="*/ 277 h 42"/>
                <a:gd name="T60" fmla="*/ 15133 w 160"/>
                <a:gd name="T61" fmla="*/ 278 h 42"/>
                <a:gd name="T62" fmla="*/ 16384 w 160"/>
                <a:gd name="T63" fmla="*/ 277 h 42"/>
                <a:gd name="T64" fmla="*/ 17850 w 160"/>
                <a:gd name="T65" fmla="*/ 260 h 42"/>
                <a:gd name="T66" fmla="*/ 19100 w 160"/>
                <a:gd name="T67" fmla="*/ 216 h 42"/>
                <a:gd name="T68" fmla="*/ 18273 w 160"/>
                <a:gd name="T69" fmla="*/ 138 h 4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0"/>
                <a:gd name="T106" fmla="*/ 0 h 42"/>
                <a:gd name="T107" fmla="*/ 160 w 160"/>
                <a:gd name="T108" fmla="*/ 42 h 4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0" h="42">
                  <a:moveTo>
                    <a:pt x="152" y="21"/>
                  </a:moveTo>
                  <a:lnTo>
                    <a:pt x="144" y="25"/>
                  </a:lnTo>
                  <a:lnTo>
                    <a:pt x="135" y="27"/>
                  </a:lnTo>
                  <a:lnTo>
                    <a:pt x="126" y="27"/>
                  </a:lnTo>
                  <a:lnTo>
                    <a:pt x="116" y="27"/>
                  </a:lnTo>
                  <a:lnTo>
                    <a:pt x="108" y="25"/>
                  </a:lnTo>
                  <a:lnTo>
                    <a:pt x="99" y="21"/>
                  </a:lnTo>
                  <a:lnTo>
                    <a:pt x="90" y="18"/>
                  </a:lnTo>
                  <a:lnTo>
                    <a:pt x="80" y="14"/>
                  </a:lnTo>
                  <a:lnTo>
                    <a:pt x="71" y="10"/>
                  </a:lnTo>
                  <a:lnTo>
                    <a:pt x="61" y="7"/>
                  </a:lnTo>
                  <a:lnTo>
                    <a:pt x="52" y="4"/>
                  </a:lnTo>
                  <a:lnTo>
                    <a:pt x="41" y="2"/>
                  </a:lnTo>
                  <a:lnTo>
                    <a:pt x="31" y="0"/>
                  </a:lnTo>
                  <a:lnTo>
                    <a:pt x="21" y="1"/>
                  </a:lnTo>
                  <a:lnTo>
                    <a:pt x="10" y="3"/>
                  </a:lnTo>
                  <a:lnTo>
                    <a:pt x="0" y="8"/>
                  </a:lnTo>
                  <a:lnTo>
                    <a:pt x="6" y="19"/>
                  </a:lnTo>
                  <a:lnTo>
                    <a:pt x="14" y="16"/>
                  </a:lnTo>
                  <a:lnTo>
                    <a:pt x="22" y="14"/>
                  </a:lnTo>
                  <a:lnTo>
                    <a:pt x="31" y="14"/>
                  </a:lnTo>
                  <a:lnTo>
                    <a:pt x="39" y="15"/>
                  </a:lnTo>
                  <a:lnTo>
                    <a:pt x="48" y="17"/>
                  </a:lnTo>
                  <a:lnTo>
                    <a:pt x="57" y="20"/>
                  </a:lnTo>
                  <a:lnTo>
                    <a:pt x="66" y="23"/>
                  </a:lnTo>
                  <a:lnTo>
                    <a:pt x="75" y="27"/>
                  </a:lnTo>
                  <a:lnTo>
                    <a:pt x="85" y="31"/>
                  </a:lnTo>
                  <a:lnTo>
                    <a:pt x="95" y="34"/>
                  </a:lnTo>
                  <a:lnTo>
                    <a:pt x="104" y="38"/>
                  </a:lnTo>
                  <a:lnTo>
                    <a:pt x="115" y="40"/>
                  </a:lnTo>
                  <a:lnTo>
                    <a:pt x="126" y="41"/>
                  </a:lnTo>
                  <a:lnTo>
                    <a:pt x="136" y="40"/>
                  </a:lnTo>
                  <a:lnTo>
                    <a:pt x="148" y="38"/>
                  </a:lnTo>
                  <a:lnTo>
                    <a:pt x="159" y="32"/>
                  </a:lnTo>
                  <a:lnTo>
                    <a:pt x="152" y="2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4" name="Freeform 292">
              <a:extLst>
                <a:ext uri="{FF2B5EF4-FFF2-40B4-BE49-F238E27FC236}">
                  <a16:creationId xmlns:a16="http://schemas.microsoft.com/office/drawing/2014/main" id="{8FEF8B64-166F-9F4B-A6E8-E94B27132BA4}"/>
                </a:ext>
              </a:extLst>
            </p:cNvPr>
            <p:cNvSpPr>
              <a:spLocks/>
            </p:cNvSpPr>
            <p:nvPr/>
          </p:nvSpPr>
          <p:spPr bwMode="auto">
            <a:xfrm>
              <a:off x="3541" y="2960"/>
              <a:ext cx="75" cy="150"/>
            </a:xfrm>
            <a:custGeom>
              <a:avLst/>
              <a:gdLst>
                <a:gd name="T0" fmla="*/ 5650 w 60"/>
                <a:gd name="T1" fmla="*/ 0 h 139"/>
                <a:gd name="T2" fmla="*/ 4735 w 60"/>
                <a:gd name="T3" fmla="*/ 39 h 139"/>
                <a:gd name="T4" fmla="*/ 3943 w 60"/>
                <a:gd name="T5" fmla="*/ 72 h 139"/>
                <a:gd name="T6" fmla="*/ 3391 w 60"/>
                <a:gd name="T7" fmla="*/ 108 h 139"/>
                <a:gd name="T8" fmla="*/ 3076 w 60"/>
                <a:gd name="T9" fmla="*/ 155 h 139"/>
                <a:gd name="T10" fmla="*/ 2841 w 60"/>
                <a:gd name="T11" fmla="*/ 201 h 139"/>
                <a:gd name="T12" fmla="*/ 2713 w 60"/>
                <a:gd name="T13" fmla="*/ 245 h 139"/>
                <a:gd name="T14" fmla="*/ 2688 w 60"/>
                <a:gd name="T15" fmla="*/ 295 h 139"/>
                <a:gd name="T16" fmla="*/ 2688 w 60"/>
                <a:gd name="T17" fmla="*/ 332 h 139"/>
                <a:gd name="T18" fmla="*/ 2523 w 60"/>
                <a:gd name="T19" fmla="*/ 384 h 139"/>
                <a:gd name="T20" fmla="*/ 2688 w 60"/>
                <a:gd name="T21" fmla="*/ 431 h 139"/>
                <a:gd name="T22" fmla="*/ 2461 w 60"/>
                <a:gd name="T23" fmla="*/ 466 h 139"/>
                <a:gd name="T24" fmla="*/ 2273 w 60"/>
                <a:gd name="T25" fmla="*/ 506 h 139"/>
                <a:gd name="T26" fmla="*/ 1818 w 60"/>
                <a:gd name="T27" fmla="*/ 543 h 139"/>
                <a:gd name="T28" fmla="*/ 1389 w 60"/>
                <a:gd name="T29" fmla="*/ 565 h 139"/>
                <a:gd name="T30" fmla="*/ 889 w 60"/>
                <a:gd name="T31" fmla="*/ 599 h 139"/>
                <a:gd name="T32" fmla="*/ 0 w 60"/>
                <a:gd name="T33" fmla="*/ 631 h 139"/>
                <a:gd name="T34" fmla="*/ 711 w 60"/>
                <a:gd name="T35" fmla="*/ 686 h 139"/>
                <a:gd name="T36" fmla="*/ 1818 w 60"/>
                <a:gd name="T37" fmla="*/ 646 h 139"/>
                <a:gd name="T38" fmla="*/ 2688 w 60"/>
                <a:gd name="T39" fmla="*/ 605 h 139"/>
                <a:gd name="T40" fmla="*/ 3154 w 60"/>
                <a:gd name="T41" fmla="*/ 565 h 139"/>
                <a:gd name="T42" fmla="*/ 3788 w 60"/>
                <a:gd name="T43" fmla="*/ 524 h 139"/>
                <a:gd name="T44" fmla="*/ 3845 w 60"/>
                <a:gd name="T45" fmla="*/ 479 h 139"/>
                <a:gd name="T46" fmla="*/ 4085 w 60"/>
                <a:gd name="T47" fmla="*/ 432 h 139"/>
                <a:gd name="T48" fmla="*/ 4085 w 60"/>
                <a:gd name="T49" fmla="*/ 384 h 139"/>
                <a:gd name="T50" fmla="*/ 4200 w 60"/>
                <a:gd name="T51" fmla="*/ 332 h 139"/>
                <a:gd name="T52" fmla="*/ 4200 w 60"/>
                <a:gd name="T53" fmla="*/ 295 h 139"/>
                <a:gd name="T54" fmla="*/ 4200 w 60"/>
                <a:gd name="T55" fmla="*/ 253 h 139"/>
                <a:gd name="T56" fmla="*/ 4239 w 60"/>
                <a:gd name="T57" fmla="*/ 210 h 139"/>
                <a:gd name="T58" fmla="*/ 4439 w 60"/>
                <a:gd name="T59" fmla="*/ 172 h 139"/>
                <a:gd name="T60" fmla="*/ 4735 w 60"/>
                <a:gd name="T61" fmla="*/ 144 h 139"/>
                <a:gd name="T62" fmla="*/ 5166 w 60"/>
                <a:gd name="T63" fmla="*/ 108 h 139"/>
                <a:gd name="T64" fmla="*/ 5650 w 60"/>
                <a:gd name="T65" fmla="*/ 84 h 139"/>
                <a:gd name="T66" fmla="*/ 6458 w 60"/>
                <a:gd name="T67" fmla="*/ 57 h 139"/>
                <a:gd name="T68" fmla="*/ 5650 w 60"/>
                <a:gd name="T69" fmla="*/ 0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0"/>
                <a:gd name="T106" fmla="*/ 0 h 139"/>
                <a:gd name="T107" fmla="*/ 60 w 60"/>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0" h="139">
                  <a:moveTo>
                    <a:pt x="52" y="0"/>
                  </a:moveTo>
                  <a:lnTo>
                    <a:pt x="43" y="7"/>
                  </a:lnTo>
                  <a:lnTo>
                    <a:pt x="36" y="15"/>
                  </a:lnTo>
                  <a:lnTo>
                    <a:pt x="31" y="22"/>
                  </a:lnTo>
                  <a:lnTo>
                    <a:pt x="28" y="31"/>
                  </a:lnTo>
                  <a:lnTo>
                    <a:pt x="26" y="41"/>
                  </a:lnTo>
                  <a:lnTo>
                    <a:pt x="25" y="50"/>
                  </a:lnTo>
                  <a:lnTo>
                    <a:pt x="24" y="59"/>
                  </a:lnTo>
                  <a:lnTo>
                    <a:pt x="24" y="68"/>
                  </a:lnTo>
                  <a:lnTo>
                    <a:pt x="23" y="78"/>
                  </a:lnTo>
                  <a:lnTo>
                    <a:pt x="24" y="86"/>
                  </a:lnTo>
                  <a:lnTo>
                    <a:pt x="22" y="94"/>
                  </a:lnTo>
                  <a:lnTo>
                    <a:pt x="21" y="102"/>
                  </a:lnTo>
                  <a:lnTo>
                    <a:pt x="17" y="109"/>
                  </a:lnTo>
                  <a:lnTo>
                    <a:pt x="13" y="115"/>
                  </a:lnTo>
                  <a:lnTo>
                    <a:pt x="8" y="121"/>
                  </a:lnTo>
                  <a:lnTo>
                    <a:pt x="0" y="126"/>
                  </a:lnTo>
                  <a:lnTo>
                    <a:pt x="6" y="138"/>
                  </a:lnTo>
                  <a:lnTo>
                    <a:pt x="17" y="131"/>
                  </a:lnTo>
                  <a:lnTo>
                    <a:pt x="24" y="123"/>
                  </a:lnTo>
                  <a:lnTo>
                    <a:pt x="29" y="115"/>
                  </a:lnTo>
                  <a:lnTo>
                    <a:pt x="34" y="107"/>
                  </a:lnTo>
                  <a:lnTo>
                    <a:pt x="35" y="97"/>
                  </a:lnTo>
                  <a:lnTo>
                    <a:pt x="37" y="87"/>
                  </a:lnTo>
                  <a:lnTo>
                    <a:pt x="37" y="78"/>
                  </a:lnTo>
                  <a:lnTo>
                    <a:pt x="38" y="68"/>
                  </a:lnTo>
                  <a:lnTo>
                    <a:pt x="38" y="59"/>
                  </a:lnTo>
                  <a:lnTo>
                    <a:pt x="38" y="51"/>
                  </a:lnTo>
                  <a:lnTo>
                    <a:pt x="39" y="43"/>
                  </a:lnTo>
                  <a:lnTo>
                    <a:pt x="41" y="35"/>
                  </a:lnTo>
                  <a:lnTo>
                    <a:pt x="43" y="29"/>
                  </a:lnTo>
                  <a:lnTo>
                    <a:pt x="47" y="22"/>
                  </a:lnTo>
                  <a:lnTo>
                    <a:pt x="52" y="17"/>
                  </a:lnTo>
                  <a:lnTo>
                    <a:pt x="59" y="12"/>
                  </a:lnTo>
                  <a:lnTo>
                    <a:pt x="52"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5" name="Freeform 293">
              <a:extLst>
                <a:ext uri="{FF2B5EF4-FFF2-40B4-BE49-F238E27FC236}">
                  <a16:creationId xmlns:a16="http://schemas.microsoft.com/office/drawing/2014/main" id="{8A770764-163B-650A-E84A-3D5E0F713976}"/>
                </a:ext>
              </a:extLst>
            </p:cNvPr>
            <p:cNvSpPr>
              <a:spLocks/>
            </p:cNvSpPr>
            <p:nvPr/>
          </p:nvSpPr>
          <p:spPr bwMode="auto">
            <a:xfrm>
              <a:off x="3607" y="2951"/>
              <a:ext cx="187" cy="49"/>
            </a:xfrm>
            <a:custGeom>
              <a:avLst/>
              <a:gdLst>
                <a:gd name="T0" fmla="*/ 16637 w 149"/>
                <a:gd name="T1" fmla="*/ 163 h 45"/>
                <a:gd name="T2" fmla="*/ 16091 w 149"/>
                <a:gd name="T3" fmla="*/ 177 h 45"/>
                <a:gd name="T4" fmla="*/ 15256 w 149"/>
                <a:gd name="T5" fmla="*/ 189 h 45"/>
                <a:gd name="T6" fmla="*/ 14447 w 149"/>
                <a:gd name="T7" fmla="*/ 189 h 45"/>
                <a:gd name="T8" fmla="*/ 13756 w 149"/>
                <a:gd name="T9" fmla="*/ 175 h 45"/>
                <a:gd name="T10" fmla="*/ 12821 w 149"/>
                <a:gd name="T11" fmla="*/ 150 h 45"/>
                <a:gd name="T12" fmla="*/ 11722 w 149"/>
                <a:gd name="T13" fmla="*/ 136 h 45"/>
                <a:gd name="T14" fmla="*/ 10599 w 149"/>
                <a:gd name="T15" fmla="*/ 115 h 45"/>
                <a:gd name="T16" fmla="*/ 9629 w 149"/>
                <a:gd name="T17" fmla="*/ 89 h 45"/>
                <a:gd name="T18" fmla="*/ 8445 w 149"/>
                <a:gd name="T19" fmla="*/ 63 h 45"/>
                <a:gd name="T20" fmla="*/ 7308 w 149"/>
                <a:gd name="T21" fmla="*/ 45 h 45"/>
                <a:gd name="T22" fmla="*/ 6150 w 149"/>
                <a:gd name="T23" fmla="*/ 4 h 45"/>
                <a:gd name="T24" fmla="*/ 5016 w 149"/>
                <a:gd name="T25" fmla="*/ 2 h 45"/>
                <a:gd name="T26" fmla="*/ 3765 w 149"/>
                <a:gd name="T27" fmla="*/ 0 h 45"/>
                <a:gd name="T28" fmla="*/ 2402 w 149"/>
                <a:gd name="T29" fmla="*/ 2 h 45"/>
                <a:gd name="T30" fmla="*/ 1180 w 149"/>
                <a:gd name="T31" fmla="*/ 4 h 45"/>
                <a:gd name="T32" fmla="*/ 0 w 149"/>
                <a:gd name="T33" fmla="*/ 49 h 45"/>
                <a:gd name="T34" fmla="*/ 749 w 149"/>
                <a:gd name="T35" fmla="*/ 117 h 45"/>
                <a:gd name="T36" fmla="*/ 1673 w 149"/>
                <a:gd name="T37" fmla="*/ 106 h 45"/>
                <a:gd name="T38" fmla="*/ 2636 w 149"/>
                <a:gd name="T39" fmla="*/ 89 h 45"/>
                <a:gd name="T40" fmla="*/ 3765 w 149"/>
                <a:gd name="T41" fmla="*/ 89 h 45"/>
                <a:gd name="T42" fmla="*/ 4612 w 149"/>
                <a:gd name="T43" fmla="*/ 89 h 45"/>
                <a:gd name="T44" fmla="*/ 5788 w 149"/>
                <a:gd name="T45" fmla="*/ 106 h 45"/>
                <a:gd name="T46" fmla="*/ 6869 w 149"/>
                <a:gd name="T47" fmla="*/ 117 h 45"/>
                <a:gd name="T48" fmla="*/ 7900 w 149"/>
                <a:gd name="T49" fmla="*/ 138 h 45"/>
                <a:gd name="T50" fmla="*/ 8883 w 149"/>
                <a:gd name="T51" fmla="*/ 163 h 45"/>
                <a:gd name="T52" fmla="*/ 10062 w 149"/>
                <a:gd name="T53" fmla="*/ 191 h 45"/>
                <a:gd name="T54" fmla="*/ 11000 w 149"/>
                <a:gd name="T55" fmla="*/ 210 h 45"/>
                <a:gd name="T56" fmla="*/ 12156 w 149"/>
                <a:gd name="T57" fmla="*/ 229 h 45"/>
                <a:gd name="T58" fmla="*/ 13256 w 149"/>
                <a:gd name="T59" fmla="*/ 249 h 45"/>
                <a:gd name="T60" fmla="*/ 14322 w 149"/>
                <a:gd name="T61" fmla="*/ 266 h 45"/>
                <a:gd name="T62" fmla="*/ 15349 w 149"/>
                <a:gd name="T63" fmla="*/ 266 h 45"/>
                <a:gd name="T64" fmla="*/ 16535 w 149"/>
                <a:gd name="T65" fmla="*/ 259 h 45"/>
                <a:gd name="T66" fmla="*/ 17377 w 149"/>
                <a:gd name="T67" fmla="*/ 229 h 45"/>
                <a:gd name="T68" fmla="*/ 16637 w 149"/>
                <a:gd name="T69" fmla="*/ 163 h 4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9"/>
                <a:gd name="T106" fmla="*/ 0 h 45"/>
                <a:gd name="T107" fmla="*/ 149 w 149"/>
                <a:gd name="T108" fmla="*/ 45 h 4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9" h="45">
                  <a:moveTo>
                    <a:pt x="141" y="28"/>
                  </a:moveTo>
                  <a:lnTo>
                    <a:pt x="136" y="30"/>
                  </a:lnTo>
                  <a:lnTo>
                    <a:pt x="129" y="31"/>
                  </a:lnTo>
                  <a:lnTo>
                    <a:pt x="123" y="31"/>
                  </a:lnTo>
                  <a:lnTo>
                    <a:pt x="116" y="29"/>
                  </a:lnTo>
                  <a:lnTo>
                    <a:pt x="108" y="26"/>
                  </a:lnTo>
                  <a:lnTo>
                    <a:pt x="99" y="23"/>
                  </a:lnTo>
                  <a:lnTo>
                    <a:pt x="90" y="19"/>
                  </a:lnTo>
                  <a:lnTo>
                    <a:pt x="81" y="15"/>
                  </a:lnTo>
                  <a:lnTo>
                    <a:pt x="72" y="11"/>
                  </a:lnTo>
                  <a:lnTo>
                    <a:pt x="62" y="7"/>
                  </a:lnTo>
                  <a:lnTo>
                    <a:pt x="52" y="4"/>
                  </a:lnTo>
                  <a:lnTo>
                    <a:pt x="42" y="2"/>
                  </a:lnTo>
                  <a:lnTo>
                    <a:pt x="32" y="0"/>
                  </a:lnTo>
                  <a:lnTo>
                    <a:pt x="21" y="2"/>
                  </a:lnTo>
                  <a:lnTo>
                    <a:pt x="10" y="4"/>
                  </a:lnTo>
                  <a:lnTo>
                    <a:pt x="0" y="8"/>
                  </a:lnTo>
                  <a:lnTo>
                    <a:pt x="6" y="20"/>
                  </a:lnTo>
                  <a:lnTo>
                    <a:pt x="14" y="17"/>
                  </a:lnTo>
                  <a:lnTo>
                    <a:pt x="23" y="15"/>
                  </a:lnTo>
                  <a:lnTo>
                    <a:pt x="32" y="15"/>
                  </a:lnTo>
                  <a:lnTo>
                    <a:pt x="39" y="15"/>
                  </a:lnTo>
                  <a:lnTo>
                    <a:pt x="49" y="17"/>
                  </a:lnTo>
                  <a:lnTo>
                    <a:pt x="58" y="20"/>
                  </a:lnTo>
                  <a:lnTo>
                    <a:pt x="67" y="24"/>
                  </a:lnTo>
                  <a:lnTo>
                    <a:pt x="76" y="28"/>
                  </a:lnTo>
                  <a:lnTo>
                    <a:pt x="85" y="32"/>
                  </a:lnTo>
                  <a:lnTo>
                    <a:pt x="93" y="36"/>
                  </a:lnTo>
                  <a:lnTo>
                    <a:pt x="103" y="39"/>
                  </a:lnTo>
                  <a:lnTo>
                    <a:pt x="112" y="42"/>
                  </a:lnTo>
                  <a:lnTo>
                    <a:pt x="121" y="44"/>
                  </a:lnTo>
                  <a:lnTo>
                    <a:pt x="130" y="44"/>
                  </a:lnTo>
                  <a:lnTo>
                    <a:pt x="140" y="43"/>
                  </a:lnTo>
                  <a:lnTo>
                    <a:pt x="148" y="39"/>
                  </a:lnTo>
                  <a:lnTo>
                    <a:pt x="141" y="2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6" name="Freeform 294">
              <a:extLst>
                <a:ext uri="{FF2B5EF4-FFF2-40B4-BE49-F238E27FC236}">
                  <a16:creationId xmlns:a16="http://schemas.microsoft.com/office/drawing/2014/main" id="{F51AC43F-2A6B-242C-C7ED-E31DF8FB851F}"/>
                </a:ext>
              </a:extLst>
            </p:cNvPr>
            <p:cNvSpPr>
              <a:spLocks/>
            </p:cNvSpPr>
            <p:nvPr/>
          </p:nvSpPr>
          <p:spPr bwMode="auto">
            <a:xfrm>
              <a:off x="3784" y="2979"/>
              <a:ext cx="15" cy="15"/>
            </a:xfrm>
            <a:custGeom>
              <a:avLst/>
              <a:gdLst>
                <a:gd name="T0" fmla="*/ 889 w 12"/>
                <a:gd name="T1" fmla="*/ 6 h 14"/>
                <a:gd name="T2" fmla="*/ 455 w 12"/>
                <a:gd name="T3" fmla="*/ 0 h 14"/>
                <a:gd name="T4" fmla="*/ 0 w 12"/>
                <a:gd name="T5" fmla="*/ 2 h 14"/>
                <a:gd name="T6" fmla="*/ 744 w 12"/>
                <a:gd name="T7" fmla="*/ 54 h 14"/>
                <a:gd name="T8" fmla="*/ 1163 w 12"/>
                <a:gd name="T9" fmla="*/ 47 h 14"/>
                <a:gd name="T10" fmla="*/ 889 w 12"/>
                <a:gd name="T11" fmla="*/ 6 h 14"/>
                <a:gd name="T12" fmla="*/ 0 60000 65536"/>
                <a:gd name="T13" fmla="*/ 0 60000 65536"/>
                <a:gd name="T14" fmla="*/ 0 60000 65536"/>
                <a:gd name="T15" fmla="*/ 0 60000 65536"/>
                <a:gd name="T16" fmla="*/ 0 60000 65536"/>
                <a:gd name="T17" fmla="*/ 0 60000 65536"/>
                <a:gd name="T18" fmla="*/ 0 w 12"/>
                <a:gd name="T19" fmla="*/ 0 h 14"/>
                <a:gd name="T20" fmla="*/ 12 w 12"/>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12" h="14">
                  <a:moveTo>
                    <a:pt x="8" y="6"/>
                  </a:moveTo>
                  <a:lnTo>
                    <a:pt x="4" y="0"/>
                  </a:lnTo>
                  <a:lnTo>
                    <a:pt x="0" y="2"/>
                  </a:lnTo>
                  <a:lnTo>
                    <a:pt x="7" y="13"/>
                  </a:lnTo>
                  <a:lnTo>
                    <a:pt x="11" y="11"/>
                  </a:lnTo>
                  <a:lnTo>
                    <a:pt x="8" y="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7" name="Freeform 295">
              <a:extLst>
                <a:ext uri="{FF2B5EF4-FFF2-40B4-BE49-F238E27FC236}">
                  <a16:creationId xmlns:a16="http://schemas.microsoft.com/office/drawing/2014/main" id="{9FB7E7DB-BF49-2BB6-EF3E-28130A0A5616}"/>
                </a:ext>
              </a:extLst>
            </p:cNvPr>
            <p:cNvSpPr>
              <a:spLocks/>
            </p:cNvSpPr>
            <p:nvPr/>
          </p:nvSpPr>
          <p:spPr bwMode="auto">
            <a:xfrm>
              <a:off x="2869" y="3295"/>
              <a:ext cx="149" cy="104"/>
            </a:xfrm>
            <a:custGeom>
              <a:avLst/>
              <a:gdLst>
                <a:gd name="T0" fmla="*/ 9018 w 119"/>
                <a:gd name="T1" fmla="*/ 225 h 96"/>
                <a:gd name="T2" fmla="*/ 8836 w 119"/>
                <a:gd name="T3" fmla="*/ 0 h 96"/>
                <a:gd name="T4" fmla="*/ 8558 w 119"/>
                <a:gd name="T5" fmla="*/ 0 h 96"/>
                <a:gd name="T6" fmla="*/ 4739 w 119"/>
                <a:gd name="T7" fmla="*/ 271 h 96"/>
                <a:gd name="T8" fmla="*/ 4049 w 119"/>
                <a:gd name="T9" fmla="*/ 311 h 96"/>
                <a:gd name="T10" fmla="*/ 3481 w 119"/>
                <a:gd name="T11" fmla="*/ 337 h 96"/>
                <a:gd name="T12" fmla="*/ 2930 w 119"/>
                <a:gd name="T13" fmla="*/ 367 h 96"/>
                <a:gd name="T14" fmla="*/ 2340 w 119"/>
                <a:gd name="T15" fmla="*/ 395 h 96"/>
                <a:gd name="T16" fmla="*/ 1773 w 119"/>
                <a:gd name="T17" fmla="*/ 428 h 96"/>
                <a:gd name="T18" fmla="*/ 1131 w 119"/>
                <a:gd name="T19" fmla="*/ 452 h 96"/>
                <a:gd name="T20" fmla="*/ 576 w 119"/>
                <a:gd name="T21" fmla="*/ 483 h 96"/>
                <a:gd name="T22" fmla="*/ 0 w 119"/>
                <a:gd name="T23" fmla="*/ 512 h 96"/>
                <a:gd name="T24" fmla="*/ 839 w 119"/>
                <a:gd name="T25" fmla="*/ 502 h 96"/>
                <a:gd name="T26" fmla="*/ 1648 w 119"/>
                <a:gd name="T27" fmla="*/ 483 h 96"/>
                <a:gd name="T28" fmla="*/ 2340 w 119"/>
                <a:gd name="T29" fmla="*/ 464 h 96"/>
                <a:gd name="T30" fmla="*/ 3147 w 119"/>
                <a:gd name="T31" fmla="*/ 452 h 96"/>
                <a:gd name="T32" fmla="*/ 3940 w 119"/>
                <a:gd name="T33" fmla="*/ 437 h 96"/>
                <a:gd name="T34" fmla="*/ 4739 w 119"/>
                <a:gd name="T35" fmla="*/ 427 h 96"/>
                <a:gd name="T36" fmla="*/ 5458 w 119"/>
                <a:gd name="T37" fmla="*/ 403 h 96"/>
                <a:gd name="T38" fmla="*/ 6356 w 119"/>
                <a:gd name="T39" fmla="*/ 395 h 96"/>
                <a:gd name="T40" fmla="*/ 13113 w 119"/>
                <a:gd name="T41" fmla="*/ 319 h 96"/>
                <a:gd name="T42" fmla="*/ 13269 w 119"/>
                <a:gd name="T43" fmla="*/ 317 h 96"/>
                <a:gd name="T44" fmla="*/ 9018 w 119"/>
                <a:gd name="T45" fmla="*/ 225 h 9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9"/>
                <a:gd name="T70" fmla="*/ 0 h 96"/>
                <a:gd name="T71" fmla="*/ 119 w 119"/>
                <a:gd name="T72" fmla="*/ 96 h 9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9" h="96">
                  <a:moveTo>
                    <a:pt x="80" y="41"/>
                  </a:moveTo>
                  <a:lnTo>
                    <a:pt x="78" y="0"/>
                  </a:lnTo>
                  <a:lnTo>
                    <a:pt x="77" y="0"/>
                  </a:lnTo>
                  <a:lnTo>
                    <a:pt x="42" y="51"/>
                  </a:lnTo>
                  <a:lnTo>
                    <a:pt x="36" y="57"/>
                  </a:lnTo>
                  <a:lnTo>
                    <a:pt x="31" y="62"/>
                  </a:lnTo>
                  <a:lnTo>
                    <a:pt x="26" y="68"/>
                  </a:lnTo>
                  <a:lnTo>
                    <a:pt x="21" y="73"/>
                  </a:lnTo>
                  <a:lnTo>
                    <a:pt x="16" y="79"/>
                  </a:lnTo>
                  <a:lnTo>
                    <a:pt x="10" y="84"/>
                  </a:lnTo>
                  <a:lnTo>
                    <a:pt x="5" y="90"/>
                  </a:lnTo>
                  <a:lnTo>
                    <a:pt x="0" y="95"/>
                  </a:lnTo>
                  <a:lnTo>
                    <a:pt x="7" y="92"/>
                  </a:lnTo>
                  <a:lnTo>
                    <a:pt x="14" y="90"/>
                  </a:lnTo>
                  <a:lnTo>
                    <a:pt x="21" y="86"/>
                  </a:lnTo>
                  <a:lnTo>
                    <a:pt x="28" y="84"/>
                  </a:lnTo>
                  <a:lnTo>
                    <a:pt x="35" y="81"/>
                  </a:lnTo>
                  <a:lnTo>
                    <a:pt x="42" y="78"/>
                  </a:lnTo>
                  <a:lnTo>
                    <a:pt x="49" y="75"/>
                  </a:lnTo>
                  <a:lnTo>
                    <a:pt x="57" y="73"/>
                  </a:lnTo>
                  <a:lnTo>
                    <a:pt x="117" y="60"/>
                  </a:lnTo>
                  <a:lnTo>
                    <a:pt x="118" y="59"/>
                  </a:lnTo>
                  <a:lnTo>
                    <a:pt x="80" y="4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grpSp>
        <p:nvGrpSpPr>
          <p:cNvPr id="7" name="Group 296">
            <a:extLst>
              <a:ext uri="{FF2B5EF4-FFF2-40B4-BE49-F238E27FC236}">
                <a16:creationId xmlns:a16="http://schemas.microsoft.com/office/drawing/2014/main" id="{B42586FA-2AAB-9910-14B0-1AEC81BD6CCA}"/>
              </a:ext>
            </a:extLst>
          </p:cNvPr>
          <p:cNvGrpSpPr>
            <a:grpSpLocks/>
          </p:cNvGrpSpPr>
          <p:nvPr/>
        </p:nvGrpSpPr>
        <p:grpSpPr bwMode="auto">
          <a:xfrm>
            <a:off x="1738313" y="1914586"/>
            <a:ext cx="1122362" cy="833437"/>
            <a:chOff x="1341" y="978"/>
            <a:chExt cx="875" cy="612"/>
          </a:xfrm>
        </p:grpSpPr>
        <p:sp>
          <p:nvSpPr>
            <p:cNvPr id="22587" name="Freeform 297">
              <a:extLst>
                <a:ext uri="{FF2B5EF4-FFF2-40B4-BE49-F238E27FC236}">
                  <a16:creationId xmlns:a16="http://schemas.microsoft.com/office/drawing/2014/main" id="{15001CE5-480E-AD3B-9F87-6953DBC8BA5A}"/>
                </a:ext>
              </a:extLst>
            </p:cNvPr>
            <p:cNvSpPr>
              <a:spLocks/>
            </p:cNvSpPr>
            <p:nvPr/>
          </p:nvSpPr>
          <p:spPr bwMode="auto">
            <a:xfrm>
              <a:off x="1341" y="978"/>
              <a:ext cx="875" cy="612"/>
            </a:xfrm>
            <a:custGeom>
              <a:avLst/>
              <a:gdLst>
                <a:gd name="T0" fmla="*/ 10117291 w 532"/>
                <a:gd name="T1" fmla="*/ 10021 h 532"/>
                <a:gd name="T2" fmla="*/ 11875194 w 532"/>
                <a:gd name="T3" fmla="*/ 9832 h 532"/>
                <a:gd name="T4" fmla="*/ 13535286 w 532"/>
                <a:gd name="T5" fmla="*/ 9448 h 532"/>
                <a:gd name="T6" fmla="*/ 14981413 w 532"/>
                <a:gd name="T7" fmla="*/ 8921 h 532"/>
                <a:gd name="T8" fmla="*/ 16217197 w 532"/>
                <a:gd name="T9" fmla="*/ 8213 h 532"/>
                <a:gd name="T10" fmla="*/ 17221863 w 532"/>
                <a:gd name="T11" fmla="*/ 7430 h 532"/>
                <a:gd name="T12" fmla="*/ 17929457 w 532"/>
                <a:gd name="T13" fmla="*/ 6540 h 532"/>
                <a:gd name="T14" fmla="*/ 18262549 w 532"/>
                <a:gd name="T15" fmla="*/ 5537 h 532"/>
                <a:gd name="T16" fmla="*/ 18262549 w 532"/>
                <a:gd name="T17" fmla="*/ 4505 h 532"/>
                <a:gd name="T18" fmla="*/ 17929457 w 532"/>
                <a:gd name="T19" fmla="*/ 3532 h 532"/>
                <a:gd name="T20" fmla="*/ 17221863 w 532"/>
                <a:gd name="T21" fmla="*/ 2644 h 532"/>
                <a:gd name="T22" fmla="*/ 16217197 w 532"/>
                <a:gd name="T23" fmla="*/ 1839 h 532"/>
                <a:gd name="T24" fmla="*/ 14981413 w 532"/>
                <a:gd name="T25" fmla="*/ 1141 h 532"/>
                <a:gd name="T26" fmla="*/ 13535286 w 532"/>
                <a:gd name="T27" fmla="*/ 610 h 532"/>
                <a:gd name="T28" fmla="*/ 11875194 w 532"/>
                <a:gd name="T29" fmla="*/ 229 h 532"/>
                <a:gd name="T30" fmla="*/ 10117291 w 532"/>
                <a:gd name="T31" fmla="*/ 1 h 532"/>
                <a:gd name="T32" fmla="*/ 8207439 w 532"/>
                <a:gd name="T33" fmla="*/ 1 h 532"/>
                <a:gd name="T34" fmla="*/ 6414414 w 532"/>
                <a:gd name="T35" fmla="*/ 229 h 532"/>
                <a:gd name="T36" fmla="*/ 4811548 w 532"/>
                <a:gd name="T37" fmla="*/ 610 h 532"/>
                <a:gd name="T38" fmla="*/ 3358850 w 532"/>
                <a:gd name="T39" fmla="*/ 1141 h 532"/>
                <a:gd name="T40" fmla="*/ 2078640 w 532"/>
                <a:gd name="T41" fmla="*/ 1839 h 532"/>
                <a:gd name="T42" fmla="*/ 1111309 w 532"/>
                <a:gd name="T43" fmla="*/ 2644 h 532"/>
                <a:gd name="T44" fmla="*/ 418803 w 532"/>
                <a:gd name="T45" fmla="*/ 3532 h 532"/>
                <a:gd name="T46" fmla="*/ 37276 w 532"/>
                <a:gd name="T47" fmla="*/ 4505 h 532"/>
                <a:gd name="T48" fmla="*/ 37276 w 532"/>
                <a:gd name="T49" fmla="*/ 5537 h 532"/>
                <a:gd name="T50" fmla="*/ 418803 w 532"/>
                <a:gd name="T51" fmla="*/ 6540 h 532"/>
                <a:gd name="T52" fmla="*/ 1111309 w 532"/>
                <a:gd name="T53" fmla="*/ 7430 h 532"/>
                <a:gd name="T54" fmla="*/ 2078640 w 532"/>
                <a:gd name="T55" fmla="*/ 8213 h 532"/>
                <a:gd name="T56" fmla="*/ 3358850 w 532"/>
                <a:gd name="T57" fmla="*/ 8921 h 532"/>
                <a:gd name="T58" fmla="*/ 4811548 w 532"/>
                <a:gd name="T59" fmla="*/ 9448 h 532"/>
                <a:gd name="T60" fmla="*/ 6414414 w 532"/>
                <a:gd name="T61" fmla="*/ 9832 h 532"/>
                <a:gd name="T62" fmla="*/ 8207439 w 532"/>
                <a:gd name="T63" fmla="*/ 10021 h 53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32"/>
                <a:gd name="T97" fmla="*/ 0 h 532"/>
                <a:gd name="T98" fmla="*/ 532 w 532"/>
                <a:gd name="T99" fmla="*/ 532 h 53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32" h="532">
                  <a:moveTo>
                    <a:pt x="266" y="531"/>
                  </a:moveTo>
                  <a:lnTo>
                    <a:pt x="293" y="529"/>
                  </a:lnTo>
                  <a:lnTo>
                    <a:pt x="319" y="526"/>
                  </a:lnTo>
                  <a:lnTo>
                    <a:pt x="344" y="519"/>
                  </a:lnTo>
                  <a:lnTo>
                    <a:pt x="369" y="510"/>
                  </a:lnTo>
                  <a:lnTo>
                    <a:pt x="392" y="499"/>
                  </a:lnTo>
                  <a:lnTo>
                    <a:pt x="414" y="485"/>
                  </a:lnTo>
                  <a:lnTo>
                    <a:pt x="434" y="470"/>
                  </a:lnTo>
                  <a:lnTo>
                    <a:pt x="453" y="453"/>
                  </a:lnTo>
                  <a:lnTo>
                    <a:pt x="470" y="434"/>
                  </a:lnTo>
                  <a:lnTo>
                    <a:pt x="485" y="414"/>
                  </a:lnTo>
                  <a:lnTo>
                    <a:pt x="499" y="392"/>
                  </a:lnTo>
                  <a:lnTo>
                    <a:pt x="510" y="368"/>
                  </a:lnTo>
                  <a:lnTo>
                    <a:pt x="519" y="344"/>
                  </a:lnTo>
                  <a:lnTo>
                    <a:pt x="526" y="318"/>
                  </a:lnTo>
                  <a:lnTo>
                    <a:pt x="529" y="292"/>
                  </a:lnTo>
                  <a:lnTo>
                    <a:pt x="531" y="265"/>
                  </a:lnTo>
                  <a:lnTo>
                    <a:pt x="529" y="238"/>
                  </a:lnTo>
                  <a:lnTo>
                    <a:pt x="526" y="212"/>
                  </a:lnTo>
                  <a:lnTo>
                    <a:pt x="519" y="186"/>
                  </a:lnTo>
                  <a:lnTo>
                    <a:pt x="510" y="162"/>
                  </a:lnTo>
                  <a:lnTo>
                    <a:pt x="499" y="139"/>
                  </a:lnTo>
                  <a:lnTo>
                    <a:pt x="485" y="117"/>
                  </a:lnTo>
                  <a:lnTo>
                    <a:pt x="470" y="97"/>
                  </a:lnTo>
                  <a:lnTo>
                    <a:pt x="453" y="78"/>
                  </a:lnTo>
                  <a:lnTo>
                    <a:pt x="434" y="60"/>
                  </a:lnTo>
                  <a:lnTo>
                    <a:pt x="414" y="46"/>
                  </a:lnTo>
                  <a:lnTo>
                    <a:pt x="392" y="32"/>
                  </a:lnTo>
                  <a:lnTo>
                    <a:pt x="369" y="21"/>
                  </a:lnTo>
                  <a:lnTo>
                    <a:pt x="344" y="12"/>
                  </a:lnTo>
                  <a:lnTo>
                    <a:pt x="319" y="5"/>
                  </a:lnTo>
                  <a:lnTo>
                    <a:pt x="293" y="1"/>
                  </a:lnTo>
                  <a:lnTo>
                    <a:pt x="266" y="0"/>
                  </a:lnTo>
                  <a:lnTo>
                    <a:pt x="238" y="1"/>
                  </a:lnTo>
                  <a:lnTo>
                    <a:pt x="212" y="5"/>
                  </a:lnTo>
                  <a:lnTo>
                    <a:pt x="186" y="12"/>
                  </a:lnTo>
                  <a:lnTo>
                    <a:pt x="162" y="21"/>
                  </a:lnTo>
                  <a:lnTo>
                    <a:pt x="139" y="32"/>
                  </a:lnTo>
                  <a:lnTo>
                    <a:pt x="117" y="46"/>
                  </a:lnTo>
                  <a:lnTo>
                    <a:pt x="97" y="60"/>
                  </a:lnTo>
                  <a:lnTo>
                    <a:pt x="78" y="78"/>
                  </a:lnTo>
                  <a:lnTo>
                    <a:pt x="60" y="97"/>
                  </a:lnTo>
                  <a:lnTo>
                    <a:pt x="45" y="117"/>
                  </a:lnTo>
                  <a:lnTo>
                    <a:pt x="32" y="139"/>
                  </a:lnTo>
                  <a:lnTo>
                    <a:pt x="21" y="162"/>
                  </a:lnTo>
                  <a:lnTo>
                    <a:pt x="12" y="186"/>
                  </a:lnTo>
                  <a:lnTo>
                    <a:pt x="5" y="212"/>
                  </a:lnTo>
                  <a:lnTo>
                    <a:pt x="1" y="238"/>
                  </a:lnTo>
                  <a:lnTo>
                    <a:pt x="0" y="265"/>
                  </a:lnTo>
                  <a:lnTo>
                    <a:pt x="1" y="292"/>
                  </a:lnTo>
                  <a:lnTo>
                    <a:pt x="5" y="318"/>
                  </a:lnTo>
                  <a:lnTo>
                    <a:pt x="12" y="344"/>
                  </a:lnTo>
                  <a:lnTo>
                    <a:pt x="21" y="368"/>
                  </a:lnTo>
                  <a:lnTo>
                    <a:pt x="32" y="392"/>
                  </a:lnTo>
                  <a:lnTo>
                    <a:pt x="45" y="414"/>
                  </a:lnTo>
                  <a:lnTo>
                    <a:pt x="60" y="434"/>
                  </a:lnTo>
                  <a:lnTo>
                    <a:pt x="78" y="453"/>
                  </a:lnTo>
                  <a:lnTo>
                    <a:pt x="97" y="470"/>
                  </a:lnTo>
                  <a:lnTo>
                    <a:pt x="117" y="485"/>
                  </a:lnTo>
                  <a:lnTo>
                    <a:pt x="139" y="499"/>
                  </a:lnTo>
                  <a:lnTo>
                    <a:pt x="162" y="510"/>
                  </a:lnTo>
                  <a:lnTo>
                    <a:pt x="186" y="519"/>
                  </a:lnTo>
                  <a:lnTo>
                    <a:pt x="212" y="526"/>
                  </a:lnTo>
                  <a:lnTo>
                    <a:pt x="238" y="529"/>
                  </a:lnTo>
                  <a:lnTo>
                    <a:pt x="266" y="531"/>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8" name="Rectangle 298">
              <a:extLst>
                <a:ext uri="{FF2B5EF4-FFF2-40B4-BE49-F238E27FC236}">
                  <a16:creationId xmlns:a16="http://schemas.microsoft.com/office/drawing/2014/main" id="{D40D8783-02DF-C981-0626-AE145A14B4AB}"/>
                </a:ext>
              </a:extLst>
            </p:cNvPr>
            <p:cNvSpPr>
              <a:spLocks noChangeArrowheads="1"/>
            </p:cNvSpPr>
            <p:nvPr/>
          </p:nvSpPr>
          <p:spPr bwMode="auto">
            <a:xfrm>
              <a:off x="1559" y="1158"/>
              <a:ext cx="43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600" b="1">
                  <a:solidFill>
                    <a:srgbClr val="FC0128"/>
                  </a:solidFill>
                  <a:latin typeface="Arial" panose="020B0604020202020204" pitchFamily="34" charset="0"/>
                </a:rPr>
                <a:t>SUN</a:t>
              </a:r>
              <a:endParaRPr lang="en-GB" altLang="en-US" sz="1100" b="1">
                <a:solidFill>
                  <a:srgbClr val="FC0128"/>
                </a:solidFill>
                <a:latin typeface="Arial" panose="020B0604020202020204" pitchFamily="34" charset="0"/>
              </a:endParaRPr>
            </a:p>
          </p:txBody>
        </p:sp>
      </p:grpSp>
      <p:sp>
        <p:nvSpPr>
          <p:cNvPr id="139563" name="Rectangle 299">
            <a:extLst>
              <a:ext uri="{FF2B5EF4-FFF2-40B4-BE49-F238E27FC236}">
                <a16:creationId xmlns:a16="http://schemas.microsoft.com/office/drawing/2014/main" id="{17751170-EBBC-65B3-B275-AF0B065163E1}"/>
              </a:ext>
            </a:extLst>
          </p:cNvPr>
          <p:cNvSpPr>
            <a:spLocks noChangeArrowheads="1"/>
          </p:cNvSpPr>
          <p:nvPr/>
        </p:nvSpPr>
        <p:spPr bwMode="auto">
          <a:xfrm>
            <a:off x="3203575" y="2449573"/>
            <a:ext cx="2759075"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Some solar radiation is</a:t>
            </a:r>
          </a:p>
          <a:p>
            <a:pPr algn="ctr">
              <a:lnSpc>
                <a:spcPct val="100000"/>
              </a:lnSpc>
              <a:spcBef>
                <a:spcPct val="0"/>
              </a:spcBef>
              <a:buFontTx/>
              <a:buNone/>
            </a:pPr>
            <a:r>
              <a:rPr lang="en-GB" altLang="en-US" sz="1200" b="1">
                <a:solidFill>
                  <a:srgbClr val="000000"/>
                </a:solidFill>
                <a:latin typeface="Arial" panose="020B0604020202020204" pitchFamily="34" charset="0"/>
              </a:rPr>
              <a:t>reflected by the earth’s</a:t>
            </a:r>
          </a:p>
          <a:p>
            <a:pPr algn="ctr">
              <a:lnSpc>
                <a:spcPct val="100000"/>
              </a:lnSpc>
              <a:spcBef>
                <a:spcPct val="0"/>
              </a:spcBef>
              <a:buFontTx/>
              <a:buNone/>
            </a:pPr>
            <a:r>
              <a:rPr lang="en-GB" altLang="en-US" sz="1200" b="1">
                <a:solidFill>
                  <a:srgbClr val="000000"/>
                </a:solidFill>
                <a:latin typeface="Arial" panose="020B0604020202020204" pitchFamily="34" charset="0"/>
              </a:rPr>
              <a:t>surface, clouds and the atmosphere</a:t>
            </a:r>
            <a:endParaRPr lang="en-GB" altLang="en-US" sz="1300" b="1">
              <a:solidFill>
                <a:srgbClr val="000000"/>
              </a:solidFill>
              <a:latin typeface="Arial" panose="020B0604020202020204" pitchFamily="34" charset="0"/>
            </a:endParaRPr>
          </a:p>
        </p:txBody>
      </p:sp>
      <p:sp>
        <p:nvSpPr>
          <p:cNvPr id="139564" name="Rectangle 300">
            <a:extLst>
              <a:ext uri="{FF2B5EF4-FFF2-40B4-BE49-F238E27FC236}">
                <a16:creationId xmlns:a16="http://schemas.microsoft.com/office/drawing/2014/main" id="{8087911E-D9A3-6542-F4E4-AA52848068D9}"/>
              </a:ext>
            </a:extLst>
          </p:cNvPr>
          <p:cNvSpPr>
            <a:spLocks noChangeArrowheads="1"/>
          </p:cNvSpPr>
          <p:nvPr/>
        </p:nvSpPr>
        <p:spPr bwMode="auto">
          <a:xfrm>
            <a:off x="4368800" y="4027548"/>
            <a:ext cx="13795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1400" b="1">
                <a:latin typeface="Arial" panose="020B0604020202020204" pitchFamily="34" charset="0"/>
              </a:rPr>
              <a:t>ATMOSPHERE</a:t>
            </a:r>
          </a:p>
        </p:txBody>
      </p:sp>
      <p:sp>
        <p:nvSpPr>
          <p:cNvPr id="139565" name="Rectangle 301">
            <a:extLst>
              <a:ext uri="{FF2B5EF4-FFF2-40B4-BE49-F238E27FC236}">
                <a16:creationId xmlns:a16="http://schemas.microsoft.com/office/drawing/2014/main" id="{FB055E97-325B-6D87-0670-BE364335F81B}"/>
              </a:ext>
            </a:extLst>
          </p:cNvPr>
          <p:cNvSpPr>
            <a:spLocks noChangeArrowheads="1"/>
          </p:cNvSpPr>
          <p:nvPr/>
        </p:nvSpPr>
        <p:spPr bwMode="auto">
          <a:xfrm>
            <a:off x="2297113" y="5742048"/>
            <a:ext cx="14954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and is absorbed to</a:t>
            </a:r>
          </a:p>
          <a:p>
            <a:pPr algn="ctr">
              <a:lnSpc>
                <a:spcPct val="100000"/>
              </a:lnSpc>
              <a:spcBef>
                <a:spcPct val="0"/>
              </a:spcBef>
              <a:buFontTx/>
              <a:buNone/>
            </a:pPr>
            <a:r>
              <a:rPr lang="en-GB" altLang="en-US" sz="1200" b="1">
                <a:solidFill>
                  <a:srgbClr val="000000"/>
                </a:solidFill>
                <a:latin typeface="Arial" panose="020B0604020202020204" pitchFamily="34" charset="0"/>
              </a:rPr>
              <a:t> warm the surface</a:t>
            </a:r>
          </a:p>
        </p:txBody>
      </p:sp>
      <p:sp>
        <p:nvSpPr>
          <p:cNvPr id="139566" name="Rectangle 302">
            <a:extLst>
              <a:ext uri="{FF2B5EF4-FFF2-40B4-BE49-F238E27FC236}">
                <a16:creationId xmlns:a16="http://schemas.microsoft.com/office/drawing/2014/main" id="{3E751BA1-A1FC-096A-9B67-561303E91854}"/>
              </a:ext>
            </a:extLst>
          </p:cNvPr>
          <p:cNvSpPr>
            <a:spLocks noChangeArrowheads="1"/>
          </p:cNvSpPr>
          <p:nvPr/>
        </p:nvSpPr>
        <p:spPr bwMode="auto">
          <a:xfrm>
            <a:off x="6586538" y="1793936"/>
            <a:ext cx="209708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Some of the infrared</a:t>
            </a:r>
          </a:p>
          <a:p>
            <a:pPr algn="ctr">
              <a:lnSpc>
                <a:spcPct val="100000"/>
              </a:lnSpc>
              <a:spcBef>
                <a:spcPct val="0"/>
              </a:spcBef>
              <a:buFontTx/>
              <a:buNone/>
            </a:pPr>
            <a:r>
              <a:rPr lang="en-GB" altLang="en-US" sz="1200" b="1">
                <a:solidFill>
                  <a:srgbClr val="000000"/>
                </a:solidFill>
                <a:latin typeface="Arial" panose="020B0604020202020204" pitchFamily="34" charset="0"/>
              </a:rPr>
              <a:t>radiation is absorbed</a:t>
            </a:r>
          </a:p>
          <a:p>
            <a:pPr algn="ctr">
              <a:lnSpc>
                <a:spcPct val="100000"/>
              </a:lnSpc>
              <a:spcBef>
                <a:spcPct val="0"/>
              </a:spcBef>
              <a:buFontTx/>
              <a:buNone/>
            </a:pPr>
            <a:r>
              <a:rPr lang="en-GB" altLang="en-US" sz="1200" b="1">
                <a:solidFill>
                  <a:srgbClr val="000000"/>
                </a:solidFill>
                <a:latin typeface="Arial" panose="020B0604020202020204" pitchFamily="34" charset="0"/>
              </a:rPr>
              <a:t>and re-emitted by the</a:t>
            </a:r>
          </a:p>
          <a:p>
            <a:pPr algn="ctr">
              <a:lnSpc>
                <a:spcPct val="100000"/>
              </a:lnSpc>
              <a:spcBef>
                <a:spcPct val="0"/>
              </a:spcBef>
              <a:buFontTx/>
              <a:buNone/>
            </a:pPr>
            <a:r>
              <a:rPr lang="en-GB" altLang="en-US" sz="1200" b="1">
                <a:solidFill>
                  <a:srgbClr val="000000"/>
                </a:solidFill>
                <a:latin typeface="Arial" panose="020B0604020202020204" pitchFamily="34" charset="0"/>
              </a:rPr>
              <a:t>greenhouse gases.</a:t>
            </a:r>
          </a:p>
        </p:txBody>
      </p:sp>
      <p:sp>
        <p:nvSpPr>
          <p:cNvPr id="139567" name="Rectangle 303">
            <a:extLst>
              <a:ext uri="{FF2B5EF4-FFF2-40B4-BE49-F238E27FC236}">
                <a16:creationId xmlns:a16="http://schemas.microsoft.com/office/drawing/2014/main" id="{F09051D0-102E-12E8-9D96-546A5A7F9C8D}"/>
              </a:ext>
            </a:extLst>
          </p:cNvPr>
          <p:cNvSpPr>
            <a:spLocks noChangeArrowheads="1"/>
          </p:cNvSpPr>
          <p:nvPr/>
        </p:nvSpPr>
        <p:spPr bwMode="auto">
          <a:xfrm>
            <a:off x="6861175" y="4289486"/>
            <a:ext cx="1946275"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Terrestrial radiation</a:t>
            </a:r>
          </a:p>
          <a:p>
            <a:pPr algn="ctr">
              <a:lnSpc>
                <a:spcPct val="100000"/>
              </a:lnSpc>
              <a:spcBef>
                <a:spcPct val="0"/>
              </a:spcBef>
              <a:buFontTx/>
              <a:buNone/>
            </a:pPr>
            <a:r>
              <a:rPr lang="en-GB" altLang="en-US" sz="1200" b="1">
                <a:solidFill>
                  <a:srgbClr val="000000"/>
                </a:solidFill>
                <a:latin typeface="Arial" panose="020B0604020202020204" pitchFamily="34" charset="0"/>
              </a:rPr>
              <a:t> low temperature source </a:t>
            </a:r>
          </a:p>
          <a:p>
            <a:pPr algn="ctr">
              <a:lnSpc>
                <a:spcPct val="100000"/>
              </a:lnSpc>
              <a:spcBef>
                <a:spcPct val="0"/>
              </a:spcBef>
              <a:buFontTx/>
              <a:buNone/>
            </a:pPr>
            <a:r>
              <a:rPr lang="en-GB" altLang="en-US" sz="1200" b="1">
                <a:solidFill>
                  <a:srgbClr val="FF0066"/>
                </a:solidFill>
                <a:latin typeface="Arial" panose="020B0604020202020204" pitchFamily="34" charset="0"/>
              </a:rPr>
              <a:t> Long Waves</a:t>
            </a:r>
            <a:endParaRPr lang="en-GB" altLang="en-US" sz="1200" b="1">
              <a:solidFill>
                <a:srgbClr val="000000"/>
              </a:solidFill>
              <a:latin typeface="Arial" panose="020B0604020202020204" pitchFamily="34" charset="0"/>
            </a:endParaRPr>
          </a:p>
        </p:txBody>
      </p:sp>
      <p:sp>
        <p:nvSpPr>
          <p:cNvPr id="22546" name="Text Box 304">
            <a:extLst>
              <a:ext uri="{FF2B5EF4-FFF2-40B4-BE49-F238E27FC236}">
                <a16:creationId xmlns:a16="http://schemas.microsoft.com/office/drawing/2014/main" id="{5FC3BCD6-2706-1CC0-9893-813FC3B33ACE}"/>
              </a:ext>
            </a:extLst>
          </p:cNvPr>
          <p:cNvSpPr txBox="1">
            <a:spLocks noChangeArrowheads="1"/>
          </p:cNvSpPr>
          <p:nvPr/>
        </p:nvSpPr>
        <p:spPr bwMode="auto">
          <a:xfrm>
            <a:off x="395288" y="1351023"/>
            <a:ext cx="125412"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741" tIns="31371" rIns="62741" bIns="31371">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600" b="1">
              <a:solidFill>
                <a:srgbClr val="000000"/>
              </a:solidFill>
              <a:latin typeface="Arial" panose="020B0604020202020204" pitchFamily="34" charset="0"/>
            </a:endParaRPr>
          </a:p>
        </p:txBody>
      </p:sp>
      <p:sp>
        <p:nvSpPr>
          <p:cNvPr id="139570" name="Rectangle 306">
            <a:extLst>
              <a:ext uri="{FF2B5EF4-FFF2-40B4-BE49-F238E27FC236}">
                <a16:creationId xmlns:a16="http://schemas.microsoft.com/office/drawing/2014/main" id="{B18B9D23-E4BE-284F-104D-0B4877950B4B}"/>
              </a:ext>
            </a:extLst>
          </p:cNvPr>
          <p:cNvSpPr>
            <a:spLocks noChangeArrowheads="1"/>
          </p:cNvSpPr>
          <p:nvPr/>
        </p:nvSpPr>
        <p:spPr bwMode="auto">
          <a:xfrm>
            <a:off x="1574800" y="1360548"/>
            <a:ext cx="1487488"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Solar radiation</a:t>
            </a:r>
          </a:p>
          <a:p>
            <a:pPr algn="ctr">
              <a:lnSpc>
                <a:spcPct val="100000"/>
              </a:lnSpc>
              <a:spcBef>
                <a:spcPct val="0"/>
              </a:spcBef>
              <a:buFontTx/>
              <a:buNone/>
            </a:pPr>
            <a:r>
              <a:rPr lang="en-GB" altLang="en-US" sz="1200" b="1">
                <a:solidFill>
                  <a:srgbClr val="000000"/>
                </a:solidFill>
                <a:latin typeface="Arial" panose="020B0604020202020204" pitchFamily="34" charset="0"/>
              </a:rPr>
              <a:t>high temp’ source </a:t>
            </a:r>
          </a:p>
          <a:p>
            <a:pPr algn="ctr">
              <a:lnSpc>
                <a:spcPct val="100000"/>
              </a:lnSpc>
              <a:spcBef>
                <a:spcPct val="0"/>
              </a:spcBef>
              <a:buFontTx/>
              <a:buNone/>
            </a:pPr>
            <a:r>
              <a:rPr lang="en-GB" altLang="en-US" sz="1200" b="1">
                <a:solidFill>
                  <a:srgbClr val="FF0066"/>
                </a:solidFill>
                <a:latin typeface="Arial" panose="020B0604020202020204" pitchFamily="34" charset="0"/>
              </a:rPr>
              <a:t>Short Waves</a:t>
            </a:r>
          </a:p>
        </p:txBody>
      </p:sp>
      <p:sp>
        <p:nvSpPr>
          <p:cNvPr id="139571" name="Rectangle 307">
            <a:extLst>
              <a:ext uri="{FF2B5EF4-FFF2-40B4-BE49-F238E27FC236}">
                <a16:creationId xmlns:a16="http://schemas.microsoft.com/office/drawing/2014/main" id="{ABB708EA-5D24-35EC-16AE-B45647CD630A}"/>
              </a:ext>
            </a:extLst>
          </p:cNvPr>
          <p:cNvSpPr>
            <a:spLocks noChangeArrowheads="1"/>
          </p:cNvSpPr>
          <p:nvPr/>
        </p:nvSpPr>
        <p:spPr bwMode="auto">
          <a:xfrm>
            <a:off x="4471988" y="1666936"/>
            <a:ext cx="1350962"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1400" b="1">
                <a:latin typeface="Arial" panose="020B0604020202020204" pitchFamily="34" charset="0"/>
              </a:rPr>
              <a:t>SPACE</a:t>
            </a:r>
          </a:p>
        </p:txBody>
      </p:sp>
      <p:grpSp>
        <p:nvGrpSpPr>
          <p:cNvPr id="8" name="Group 308">
            <a:extLst>
              <a:ext uri="{FF2B5EF4-FFF2-40B4-BE49-F238E27FC236}">
                <a16:creationId xmlns:a16="http://schemas.microsoft.com/office/drawing/2014/main" id="{6C4660CE-20C7-7840-DC32-CAD7EAED23C0}"/>
              </a:ext>
            </a:extLst>
          </p:cNvPr>
          <p:cNvGrpSpPr>
            <a:grpSpLocks/>
          </p:cNvGrpSpPr>
          <p:nvPr/>
        </p:nvGrpSpPr>
        <p:grpSpPr bwMode="auto">
          <a:xfrm>
            <a:off x="1725613" y="2640073"/>
            <a:ext cx="711200" cy="1558925"/>
            <a:chOff x="1331" y="1511"/>
            <a:chExt cx="555" cy="1145"/>
          </a:xfrm>
        </p:grpSpPr>
        <p:grpSp>
          <p:nvGrpSpPr>
            <p:cNvPr id="22558" name="Group 309">
              <a:extLst>
                <a:ext uri="{FF2B5EF4-FFF2-40B4-BE49-F238E27FC236}">
                  <a16:creationId xmlns:a16="http://schemas.microsoft.com/office/drawing/2014/main" id="{78502FB8-0C54-12F5-436D-C7DF405DB596}"/>
                </a:ext>
              </a:extLst>
            </p:cNvPr>
            <p:cNvGrpSpPr>
              <a:grpSpLocks/>
            </p:cNvGrpSpPr>
            <p:nvPr/>
          </p:nvGrpSpPr>
          <p:grpSpPr bwMode="auto">
            <a:xfrm>
              <a:off x="1331" y="1511"/>
              <a:ext cx="543" cy="1061"/>
              <a:chOff x="1745" y="2574"/>
              <a:chExt cx="543" cy="1061"/>
            </a:xfrm>
          </p:grpSpPr>
          <p:sp>
            <p:nvSpPr>
              <p:cNvPr id="22560" name="Freeform 310">
                <a:extLst>
                  <a:ext uri="{FF2B5EF4-FFF2-40B4-BE49-F238E27FC236}">
                    <a16:creationId xmlns:a16="http://schemas.microsoft.com/office/drawing/2014/main" id="{49D49E81-9221-B2CC-310A-852620646F25}"/>
                  </a:ext>
                </a:extLst>
              </p:cNvPr>
              <p:cNvSpPr>
                <a:spLocks/>
              </p:cNvSpPr>
              <p:nvPr/>
            </p:nvSpPr>
            <p:spPr bwMode="auto">
              <a:xfrm>
                <a:off x="2210" y="3547"/>
                <a:ext cx="78" cy="88"/>
              </a:xfrm>
              <a:custGeom>
                <a:avLst/>
                <a:gdLst>
                  <a:gd name="T0" fmla="*/ 1379691 w 47"/>
                  <a:gd name="T1" fmla="*/ 93 h 76"/>
                  <a:gd name="T2" fmla="*/ 1379691 w 47"/>
                  <a:gd name="T3" fmla="*/ 125 h 76"/>
                  <a:gd name="T4" fmla="*/ 1285052 w 47"/>
                  <a:gd name="T5" fmla="*/ 125 h 76"/>
                  <a:gd name="T6" fmla="*/ 1007239 w 47"/>
                  <a:gd name="T7" fmla="*/ 226 h 76"/>
                  <a:gd name="T8" fmla="*/ 683071 w 47"/>
                  <a:gd name="T9" fmla="*/ 303 h 76"/>
                  <a:gd name="T10" fmla="*/ 301850 w 47"/>
                  <a:gd name="T11" fmla="*/ 470 h 76"/>
                  <a:gd name="T12" fmla="*/ 44208 w 47"/>
                  <a:gd name="T13" fmla="*/ 729 h 76"/>
                  <a:gd name="T14" fmla="*/ 0 w 47"/>
                  <a:gd name="T15" fmla="*/ 1131 h 76"/>
                  <a:gd name="T16" fmla="*/ 121756 w 47"/>
                  <a:gd name="T17" fmla="*/ 1630 h 76"/>
                  <a:gd name="T18" fmla="*/ 683071 w 47"/>
                  <a:gd name="T19" fmla="*/ 1537 h 76"/>
                  <a:gd name="T20" fmla="*/ 556520 w 47"/>
                  <a:gd name="T21" fmla="*/ 1079 h 76"/>
                  <a:gd name="T22" fmla="*/ 577434 w 47"/>
                  <a:gd name="T23" fmla="*/ 819 h 76"/>
                  <a:gd name="T24" fmla="*/ 758525 w 47"/>
                  <a:gd name="T25" fmla="*/ 659 h 76"/>
                  <a:gd name="T26" fmla="*/ 1007239 w 47"/>
                  <a:gd name="T27" fmla="*/ 569 h 76"/>
                  <a:gd name="T28" fmla="*/ 1285052 w 47"/>
                  <a:gd name="T29" fmla="*/ 447 h 76"/>
                  <a:gd name="T30" fmla="*/ 1590362 w 47"/>
                  <a:gd name="T31" fmla="*/ 386 h 76"/>
                  <a:gd name="T32" fmla="*/ 1907917 w 47"/>
                  <a:gd name="T33" fmla="*/ 247 h 76"/>
                  <a:gd name="T34" fmla="*/ 1907917 w 47"/>
                  <a:gd name="T35" fmla="*/ 0 h 76"/>
                  <a:gd name="T36" fmla="*/ 1379691 w 47"/>
                  <a:gd name="T37" fmla="*/ 93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76"/>
                  <a:gd name="T59" fmla="*/ 47 w 47"/>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76">
                    <a:moveTo>
                      <a:pt x="33" y="4"/>
                    </a:moveTo>
                    <a:lnTo>
                      <a:pt x="33" y="6"/>
                    </a:lnTo>
                    <a:lnTo>
                      <a:pt x="31" y="6"/>
                    </a:lnTo>
                    <a:lnTo>
                      <a:pt x="24" y="10"/>
                    </a:lnTo>
                    <a:lnTo>
                      <a:pt x="16" y="14"/>
                    </a:lnTo>
                    <a:lnTo>
                      <a:pt x="7" y="22"/>
                    </a:lnTo>
                    <a:lnTo>
                      <a:pt x="1" y="34"/>
                    </a:lnTo>
                    <a:lnTo>
                      <a:pt x="0" y="52"/>
                    </a:lnTo>
                    <a:lnTo>
                      <a:pt x="3" y="75"/>
                    </a:lnTo>
                    <a:lnTo>
                      <a:pt x="16" y="71"/>
                    </a:lnTo>
                    <a:lnTo>
                      <a:pt x="13" y="50"/>
                    </a:lnTo>
                    <a:lnTo>
                      <a:pt x="14" y="38"/>
                    </a:lnTo>
                    <a:lnTo>
                      <a:pt x="18" y="30"/>
                    </a:lnTo>
                    <a:lnTo>
                      <a:pt x="24" y="26"/>
                    </a:lnTo>
                    <a:lnTo>
                      <a:pt x="31" y="21"/>
                    </a:lnTo>
                    <a:lnTo>
                      <a:pt x="38" y="18"/>
                    </a:lnTo>
                    <a:lnTo>
                      <a:pt x="46" y="11"/>
                    </a:lnTo>
                    <a:lnTo>
                      <a:pt x="46" y="0"/>
                    </a:lnTo>
                    <a:lnTo>
                      <a:pt x="3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1" name="Freeform 311">
                <a:extLst>
                  <a:ext uri="{FF2B5EF4-FFF2-40B4-BE49-F238E27FC236}">
                    <a16:creationId xmlns:a16="http://schemas.microsoft.com/office/drawing/2014/main" id="{86EEAEAD-DE8D-46CA-6C41-B527FD1EEFC9}"/>
                  </a:ext>
                </a:extLst>
              </p:cNvPr>
              <p:cNvSpPr>
                <a:spLocks/>
              </p:cNvSpPr>
              <p:nvPr/>
            </p:nvSpPr>
            <p:spPr bwMode="auto">
              <a:xfrm>
                <a:off x="2114" y="3516"/>
                <a:ext cx="174" cy="37"/>
              </a:xfrm>
              <a:custGeom>
                <a:avLst/>
                <a:gdLst>
                  <a:gd name="T0" fmla="*/ 0 w 105"/>
                  <a:gd name="T1" fmla="*/ 93 h 32"/>
                  <a:gd name="T2" fmla="*/ 320394 w 105"/>
                  <a:gd name="T3" fmla="*/ 299 h 32"/>
                  <a:gd name="T4" fmla="*/ 851120 w 105"/>
                  <a:gd name="T5" fmla="*/ 383 h 32"/>
                  <a:gd name="T6" fmla="*/ 1410427 w 105"/>
                  <a:gd name="T7" fmla="*/ 435 h 32"/>
                  <a:gd name="T8" fmla="*/ 2080606 w 105"/>
                  <a:gd name="T9" fmla="*/ 463 h 32"/>
                  <a:gd name="T10" fmla="*/ 2706298 w 105"/>
                  <a:gd name="T11" fmla="*/ 503 h 32"/>
                  <a:gd name="T12" fmla="*/ 3243486 w 105"/>
                  <a:gd name="T13" fmla="*/ 535 h 32"/>
                  <a:gd name="T14" fmla="*/ 3564453 w 105"/>
                  <a:gd name="T15" fmla="*/ 592 h 32"/>
                  <a:gd name="T16" fmla="*/ 3677016 w 105"/>
                  <a:gd name="T17" fmla="*/ 673 h 32"/>
                  <a:gd name="T18" fmla="*/ 4192184 w 105"/>
                  <a:gd name="T19" fmla="*/ 582 h 32"/>
                  <a:gd name="T20" fmla="*/ 3873205 w 105"/>
                  <a:gd name="T21" fmla="*/ 346 h 32"/>
                  <a:gd name="T22" fmla="*/ 3311643 w 105"/>
                  <a:gd name="T23" fmla="*/ 259 h 32"/>
                  <a:gd name="T24" fmla="*/ 2755964 w 105"/>
                  <a:gd name="T25" fmla="*/ 224 h 32"/>
                  <a:gd name="T26" fmla="*/ 2105818 w 105"/>
                  <a:gd name="T27" fmla="*/ 194 h 32"/>
                  <a:gd name="T28" fmla="*/ 1458024 w 105"/>
                  <a:gd name="T29" fmla="*/ 145 h 32"/>
                  <a:gd name="T30" fmla="*/ 921214 w 105"/>
                  <a:gd name="T31" fmla="*/ 108 h 32"/>
                  <a:gd name="T32" fmla="*/ 605611 w 105"/>
                  <a:gd name="T33" fmla="*/ 2 h 32"/>
                  <a:gd name="T34" fmla="*/ 530939 w 105"/>
                  <a:gd name="T35" fmla="*/ 0 h 32"/>
                  <a:gd name="T36" fmla="*/ 0 w 105"/>
                  <a:gd name="T37" fmla="*/ 93 h 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2"/>
                  <a:gd name="T59" fmla="*/ 105 w 105"/>
                  <a:gd name="T60" fmla="*/ 32 h 3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2">
                    <a:moveTo>
                      <a:pt x="0" y="4"/>
                    </a:moveTo>
                    <a:lnTo>
                      <a:pt x="8" y="14"/>
                    </a:lnTo>
                    <a:lnTo>
                      <a:pt x="21" y="18"/>
                    </a:lnTo>
                    <a:lnTo>
                      <a:pt x="35" y="20"/>
                    </a:lnTo>
                    <a:lnTo>
                      <a:pt x="51" y="22"/>
                    </a:lnTo>
                    <a:lnTo>
                      <a:pt x="67" y="23"/>
                    </a:lnTo>
                    <a:lnTo>
                      <a:pt x="80" y="25"/>
                    </a:lnTo>
                    <a:lnTo>
                      <a:pt x="88" y="28"/>
                    </a:lnTo>
                    <a:lnTo>
                      <a:pt x="91" y="31"/>
                    </a:lnTo>
                    <a:lnTo>
                      <a:pt x="104" y="27"/>
                    </a:lnTo>
                    <a:lnTo>
                      <a:pt x="96" y="16"/>
                    </a:lnTo>
                    <a:lnTo>
                      <a:pt x="82" y="12"/>
                    </a:lnTo>
                    <a:lnTo>
                      <a:pt x="68" y="10"/>
                    </a:lnTo>
                    <a:lnTo>
                      <a:pt x="52" y="9"/>
                    </a:lnTo>
                    <a:lnTo>
                      <a:pt x="36"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2" name="Freeform 312">
                <a:extLst>
                  <a:ext uri="{FF2B5EF4-FFF2-40B4-BE49-F238E27FC236}">
                    <a16:creationId xmlns:a16="http://schemas.microsoft.com/office/drawing/2014/main" id="{E37BC57F-0243-42A6-737B-9B1CA6C53D96}"/>
                  </a:ext>
                </a:extLst>
              </p:cNvPr>
              <p:cNvSpPr>
                <a:spLocks/>
              </p:cNvSpPr>
              <p:nvPr/>
            </p:nvSpPr>
            <p:spPr bwMode="auto">
              <a:xfrm>
                <a:off x="2114" y="3516"/>
                <a:ext cx="24" cy="6"/>
              </a:xfrm>
              <a:custGeom>
                <a:avLst/>
                <a:gdLst>
                  <a:gd name="T0" fmla="*/ 0 w 14"/>
                  <a:gd name="T1" fmla="*/ 179 h 5"/>
                  <a:gd name="T2" fmla="*/ 477204 w 14"/>
                  <a:gd name="T3" fmla="*/ 2 h 5"/>
                  <a:gd name="T4" fmla="*/ 1057803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3" name="Freeform 313">
                <a:extLst>
                  <a:ext uri="{FF2B5EF4-FFF2-40B4-BE49-F238E27FC236}">
                    <a16:creationId xmlns:a16="http://schemas.microsoft.com/office/drawing/2014/main" id="{8812AF30-4515-8E82-CF4C-5196C43CFB30}"/>
                  </a:ext>
                </a:extLst>
              </p:cNvPr>
              <p:cNvSpPr>
                <a:spLocks/>
              </p:cNvSpPr>
              <p:nvPr/>
            </p:nvSpPr>
            <p:spPr bwMode="auto">
              <a:xfrm>
                <a:off x="2114" y="3450"/>
                <a:ext cx="139" cy="72"/>
              </a:xfrm>
              <a:custGeom>
                <a:avLst/>
                <a:gdLst>
                  <a:gd name="T0" fmla="*/ 2750315 w 84"/>
                  <a:gd name="T1" fmla="*/ 73 h 63"/>
                  <a:gd name="T2" fmla="*/ 2674282 w 84"/>
                  <a:gd name="T3" fmla="*/ 83 h 63"/>
                  <a:gd name="T4" fmla="*/ 2468110 w 84"/>
                  <a:gd name="T5" fmla="*/ 186 h 63"/>
                  <a:gd name="T6" fmla="*/ 2035863 w 84"/>
                  <a:gd name="T7" fmla="*/ 278 h 63"/>
                  <a:gd name="T8" fmla="*/ 1491520 w 84"/>
                  <a:gd name="T9" fmla="*/ 394 h 63"/>
                  <a:gd name="T10" fmla="*/ 941823 w 84"/>
                  <a:gd name="T11" fmla="*/ 530 h 63"/>
                  <a:gd name="T12" fmla="*/ 477822 w 84"/>
                  <a:gd name="T13" fmla="*/ 637 h 63"/>
                  <a:gd name="T14" fmla="*/ 68952 w 84"/>
                  <a:gd name="T15" fmla="*/ 808 h 63"/>
                  <a:gd name="T16" fmla="*/ 0 w 84"/>
                  <a:gd name="T17" fmla="*/ 1032 h 63"/>
                  <a:gd name="T18" fmla="*/ 516999 w 84"/>
                  <a:gd name="T19" fmla="*/ 951 h 63"/>
                  <a:gd name="T20" fmla="*/ 544701 w 84"/>
                  <a:gd name="T21" fmla="*/ 923 h 63"/>
                  <a:gd name="T22" fmla="*/ 790682 w 84"/>
                  <a:gd name="T23" fmla="*/ 823 h 63"/>
                  <a:gd name="T24" fmla="*/ 1203808 w 84"/>
                  <a:gd name="T25" fmla="*/ 707 h 63"/>
                  <a:gd name="T26" fmla="*/ 1732518 w 84"/>
                  <a:gd name="T27" fmla="*/ 605 h 63"/>
                  <a:gd name="T28" fmla="*/ 2275245 w 84"/>
                  <a:gd name="T29" fmla="*/ 474 h 63"/>
                  <a:gd name="T30" fmla="*/ 2750315 w 84"/>
                  <a:gd name="T31" fmla="*/ 345 h 63"/>
                  <a:gd name="T32" fmla="*/ 3123646 w 84"/>
                  <a:gd name="T33" fmla="*/ 213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4" name="Freeform 314">
                <a:extLst>
                  <a:ext uri="{FF2B5EF4-FFF2-40B4-BE49-F238E27FC236}">
                    <a16:creationId xmlns:a16="http://schemas.microsoft.com/office/drawing/2014/main" id="{B6668978-11C9-9C0C-FE78-AF3B06A9C6B0}"/>
                  </a:ext>
                </a:extLst>
              </p:cNvPr>
              <p:cNvSpPr>
                <a:spLocks/>
              </p:cNvSpPr>
              <p:nvPr/>
            </p:nvSpPr>
            <p:spPr bwMode="auto">
              <a:xfrm>
                <a:off x="2077" y="3421"/>
                <a:ext cx="176" cy="34"/>
              </a:xfrm>
              <a:custGeom>
                <a:avLst/>
                <a:gdLst>
                  <a:gd name="T0" fmla="*/ 0 w 107"/>
                  <a:gd name="T1" fmla="*/ 61 h 30"/>
                  <a:gd name="T2" fmla="*/ 272945 w 107"/>
                  <a:gd name="T3" fmla="*/ 186 h 30"/>
                  <a:gd name="T4" fmla="*/ 738470 w 107"/>
                  <a:gd name="T5" fmla="*/ 264 h 30"/>
                  <a:gd name="T6" fmla="*/ 1242572 w 107"/>
                  <a:gd name="T7" fmla="*/ 298 h 30"/>
                  <a:gd name="T8" fmla="*/ 1829721 w 107"/>
                  <a:gd name="T9" fmla="*/ 298 h 30"/>
                  <a:gd name="T10" fmla="*/ 2351955 w 107"/>
                  <a:gd name="T11" fmla="*/ 299 h 30"/>
                  <a:gd name="T12" fmla="*/ 2833329 w 107"/>
                  <a:gd name="T13" fmla="*/ 338 h 30"/>
                  <a:gd name="T14" fmla="*/ 3156192 w 107"/>
                  <a:gd name="T15" fmla="*/ 383 h 30"/>
                  <a:gd name="T16" fmla="*/ 3223782 w 107"/>
                  <a:gd name="T17" fmla="*/ 394 h 30"/>
                  <a:gd name="T18" fmla="*/ 3649694 w 107"/>
                  <a:gd name="T19" fmla="*/ 339 h 30"/>
                  <a:gd name="T20" fmla="*/ 3361858 w 107"/>
                  <a:gd name="T21" fmla="*/ 206 h 30"/>
                  <a:gd name="T22" fmla="*/ 2899460 w 107"/>
                  <a:gd name="T23" fmla="*/ 145 h 30"/>
                  <a:gd name="T24" fmla="*/ 2374059 w 107"/>
                  <a:gd name="T25" fmla="*/ 113 h 30"/>
                  <a:gd name="T26" fmla="*/ 1829721 w 107"/>
                  <a:gd name="T27" fmla="*/ 100 h 30"/>
                  <a:gd name="T28" fmla="*/ 1326479 w 107"/>
                  <a:gd name="T29" fmla="*/ 100 h 30"/>
                  <a:gd name="T30" fmla="*/ 818282 w 107"/>
                  <a:gd name="T31" fmla="*/ 78 h 30"/>
                  <a:gd name="T32" fmla="*/ 551648 w 107"/>
                  <a:gd name="T33" fmla="*/ 3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9"/>
                    </a:lnTo>
                    <a:lnTo>
                      <a:pt x="36" y="21"/>
                    </a:lnTo>
                    <a:lnTo>
                      <a:pt x="53" y="21"/>
                    </a:lnTo>
                    <a:lnTo>
                      <a:pt x="68" y="22"/>
                    </a:lnTo>
                    <a:lnTo>
                      <a:pt x="82" y="24"/>
                    </a:lnTo>
                    <a:lnTo>
                      <a:pt x="91" y="27"/>
                    </a:lnTo>
                    <a:lnTo>
                      <a:pt x="93" y="29"/>
                    </a:lnTo>
                    <a:lnTo>
                      <a:pt x="106" y="25"/>
                    </a:lnTo>
                    <a:lnTo>
                      <a:pt x="97" y="15"/>
                    </a:lnTo>
                    <a:lnTo>
                      <a:pt x="84" y="11"/>
                    </a:lnTo>
                    <a:lnTo>
                      <a:pt x="69" y="9"/>
                    </a:lnTo>
                    <a:lnTo>
                      <a:pt x="53" y="8"/>
                    </a:lnTo>
                    <a:lnTo>
                      <a:pt x="38"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5" name="Freeform 315">
                <a:extLst>
                  <a:ext uri="{FF2B5EF4-FFF2-40B4-BE49-F238E27FC236}">
                    <a16:creationId xmlns:a16="http://schemas.microsoft.com/office/drawing/2014/main" id="{F5EE55BD-3534-C5CA-8081-2C6874585B19}"/>
                  </a:ext>
                </a:extLst>
              </p:cNvPr>
              <p:cNvSpPr>
                <a:spLocks/>
              </p:cNvSpPr>
              <p:nvPr/>
            </p:nvSpPr>
            <p:spPr bwMode="auto">
              <a:xfrm>
                <a:off x="2077" y="3354"/>
                <a:ext cx="138" cy="72"/>
              </a:xfrm>
              <a:custGeom>
                <a:avLst/>
                <a:gdLst>
                  <a:gd name="T0" fmla="*/ 2353327 w 84"/>
                  <a:gd name="T1" fmla="*/ 73 h 63"/>
                  <a:gd name="T2" fmla="*/ 2294899 w 84"/>
                  <a:gd name="T3" fmla="*/ 83 h 63"/>
                  <a:gd name="T4" fmla="*/ 2095021 w 84"/>
                  <a:gd name="T5" fmla="*/ 186 h 63"/>
                  <a:gd name="T6" fmla="*/ 1725639 w 84"/>
                  <a:gd name="T7" fmla="*/ 302 h 63"/>
                  <a:gd name="T8" fmla="*/ 1275230 w 84"/>
                  <a:gd name="T9" fmla="*/ 394 h 63"/>
                  <a:gd name="T10" fmla="*/ 797119 w 84"/>
                  <a:gd name="T11" fmla="*/ 514 h 63"/>
                  <a:gd name="T12" fmla="*/ 410755 w 84"/>
                  <a:gd name="T13" fmla="*/ 637 h 63"/>
                  <a:gd name="T14" fmla="*/ 60339 w 84"/>
                  <a:gd name="T15" fmla="*/ 808 h 63"/>
                  <a:gd name="T16" fmla="*/ 0 w 84"/>
                  <a:gd name="T17" fmla="*/ 1032 h 63"/>
                  <a:gd name="T18" fmla="*/ 439537 w 84"/>
                  <a:gd name="T19" fmla="*/ 951 h 63"/>
                  <a:gd name="T20" fmla="*/ 472486 w 84"/>
                  <a:gd name="T21" fmla="*/ 905 h 63"/>
                  <a:gd name="T22" fmla="*/ 639367 w 84"/>
                  <a:gd name="T23" fmla="*/ 823 h 63"/>
                  <a:gd name="T24" fmla="*/ 1050389 w 84"/>
                  <a:gd name="T25" fmla="*/ 707 h 63"/>
                  <a:gd name="T26" fmla="*/ 1476779 w 84"/>
                  <a:gd name="T27" fmla="*/ 605 h 63"/>
                  <a:gd name="T28" fmla="*/ 1948925 w 84"/>
                  <a:gd name="T29" fmla="*/ 474 h 63"/>
                  <a:gd name="T30" fmla="*/ 2353327 w 84"/>
                  <a:gd name="T31" fmla="*/ 363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2" y="11"/>
                    </a:lnTo>
                    <a:lnTo>
                      <a:pt x="51" y="18"/>
                    </a:lnTo>
                    <a:lnTo>
                      <a:pt x="38" y="24"/>
                    </a:lnTo>
                    <a:lnTo>
                      <a:pt x="24" y="31"/>
                    </a:lnTo>
                    <a:lnTo>
                      <a:pt x="12" y="39"/>
                    </a:lnTo>
                    <a:lnTo>
                      <a:pt x="2" y="49"/>
                    </a:lnTo>
                    <a:lnTo>
                      <a:pt x="0" y="62"/>
                    </a:lnTo>
                    <a:lnTo>
                      <a:pt x="13" y="58"/>
                    </a:lnTo>
                    <a:lnTo>
                      <a:pt x="14" y="55"/>
                    </a:lnTo>
                    <a:lnTo>
                      <a:pt x="19" y="50"/>
                    </a:lnTo>
                    <a:lnTo>
                      <a:pt x="31" y="43"/>
                    </a:lnTo>
                    <a:lnTo>
                      <a:pt x="44" y="36"/>
                    </a:lnTo>
                    <a:lnTo>
                      <a:pt x="58" y="29"/>
                    </a:lnTo>
                    <a:lnTo>
                      <a:pt x="70" y="22"/>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6" name="Freeform 316">
                <a:extLst>
                  <a:ext uri="{FF2B5EF4-FFF2-40B4-BE49-F238E27FC236}">
                    <a16:creationId xmlns:a16="http://schemas.microsoft.com/office/drawing/2014/main" id="{86A7E4BE-A554-088F-108A-E2D58F73F9F0}"/>
                  </a:ext>
                </a:extLst>
              </p:cNvPr>
              <p:cNvSpPr>
                <a:spLocks/>
              </p:cNvSpPr>
              <p:nvPr/>
            </p:nvSpPr>
            <p:spPr bwMode="auto">
              <a:xfrm>
                <a:off x="2042" y="3331"/>
                <a:ext cx="173" cy="28"/>
              </a:xfrm>
              <a:custGeom>
                <a:avLst/>
                <a:gdLst>
                  <a:gd name="T0" fmla="*/ 0 w 105"/>
                  <a:gd name="T1" fmla="*/ 4 h 25"/>
                  <a:gd name="T2" fmla="*/ 331885 w 105"/>
                  <a:gd name="T3" fmla="*/ 148 h 25"/>
                  <a:gd name="T4" fmla="*/ 766270 w 105"/>
                  <a:gd name="T5" fmla="*/ 166 h 25"/>
                  <a:gd name="T6" fmla="*/ 1283006 w 105"/>
                  <a:gd name="T7" fmla="*/ 170 h 25"/>
                  <a:gd name="T8" fmla="*/ 1875692 w 105"/>
                  <a:gd name="T9" fmla="*/ 170 h 25"/>
                  <a:gd name="T10" fmla="*/ 2377226 w 105"/>
                  <a:gd name="T11" fmla="*/ 186 h 25"/>
                  <a:gd name="T12" fmla="*/ 2865936 w 105"/>
                  <a:gd name="T13" fmla="*/ 190 h 25"/>
                  <a:gd name="T14" fmla="*/ 3152065 w 105"/>
                  <a:gd name="T15" fmla="*/ 239 h 25"/>
                  <a:gd name="T16" fmla="*/ 3261172 w 105"/>
                  <a:gd name="T17" fmla="*/ 261 h 25"/>
                  <a:gd name="T18" fmla="*/ 3721278 w 105"/>
                  <a:gd name="T19" fmla="*/ 213 h 25"/>
                  <a:gd name="T20" fmla="*/ 3427301 w 105"/>
                  <a:gd name="T21" fmla="*/ 105 h 25"/>
                  <a:gd name="T22" fmla="*/ 2979100 w 105"/>
                  <a:gd name="T23" fmla="*/ 60 h 25"/>
                  <a:gd name="T24" fmla="*/ 2445765 w 105"/>
                  <a:gd name="T25" fmla="*/ 4 h 25"/>
                  <a:gd name="T26" fmla="*/ 1875692 w 105"/>
                  <a:gd name="T27" fmla="*/ 3 h 25"/>
                  <a:gd name="T28" fmla="*/ 1283006 w 105"/>
                  <a:gd name="T29" fmla="*/ 3 h 25"/>
                  <a:gd name="T30" fmla="*/ 778703 w 105"/>
                  <a:gd name="T31" fmla="*/ 2 h 25"/>
                  <a:gd name="T32" fmla="*/ 504969 w 105"/>
                  <a:gd name="T33" fmla="*/ 0 h 25"/>
                  <a:gd name="T34" fmla="*/ 465077 w 105"/>
                  <a:gd name="T35" fmla="*/ 0 h 25"/>
                  <a:gd name="T36" fmla="*/ 0 w 105"/>
                  <a:gd name="T37" fmla="*/ 4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5"/>
                  <a:gd name="T59" fmla="*/ 105 w 105"/>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5">
                    <a:moveTo>
                      <a:pt x="0" y="4"/>
                    </a:moveTo>
                    <a:lnTo>
                      <a:pt x="9" y="13"/>
                    </a:lnTo>
                    <a:lnTo>
                      <a:pt x="21" y="15"/>
                    </a:lnTo>
                    <a:lnTo>
                      <a:pt x="36" y="16"/>
                    </a:lnTo>
                    <a:lnTo>
                      <a:pt x="52" y="16"/>
                    </a:lnTo>
                    <a:lnTo>
                      <a:pt x="66" y="17"/>
                    </a:lnTo>
                    <a:lnTo>
                      <a:pt x="80" y="18"/>
                    </a:lnTo>
                    <a:lnTo>
                      <a:pt x="88" y="22"/>
                    </a:lnTo>
                    <a:lnTo>
                      <a:pt x="91" y="24"/>
                    </a:lnTo>
                    <a:lnTo>
                      <a:pt x="104" y="20"/>
                    </a:lnTo>
                    <a:lnTo>
                      <a:pt x="96" y="10"/>
                    </a:lnTo>
                    <a:lnTo>
                      <a:pt x="83" y="5"/>
                    </a:lnTo>
                    <a:lnTo>
                      <a:pt x="68" y="4"/>
                    </a:lnTo>
                    <a:lnTo>
                      <a:pt x="52" y="3"/>
                    </a:lnTo>
                    <a:lnTo>
                      <a:pt x="36" y="3"/>
                    </a:lnTo>
                    <a:lnTo>
                      <a:pt x="22" y="2"/>
                    </a:lnTo>
                    <a:lnTo>
                      <a:pt x="14" y="0"/>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7" name="Freeform 317">
                <a:extLst>
                  <a:ext uri="{FF2B5EF4-FFF2-40B4-BE49-F238E27FC236}">
                    <a16:creationId xmlns:a16="http://schemas.microsoft.com/office/drawing/2014/main" id="{EABA814C-EDB7-FE81-8A28-A592A66DB83E}"/>
                  </a:ext>
                </a:extLst>
              </p:cNvPr>
              <p:cNvSpPr>
                <a:spLocks/>
              </p:cNvSpPr>
              <p:nvPr/>
            </p:nvSpPr>
            <p:spPr bwMode="auto">
              <a:xfrm>
                <a:off x="2042" y="3329"/>
                <a:ext cx="24" cy="8"/>
              </a:xfrm>
              <a:custGeom>
                <a:avLst/>
                <a:gdLst>
                  <a:gd name="T0" fmla="*/ 0 w 14"/>
                  <a:gd name="T1" fmla="*/ 73 h 7"/>
                  <a:gd name="T2" fmla="*/ 0 w 14"/>
                  <a:gd name="T3" fmla="*/ 95 h 7"/>
                  <a:gd name="T4" fmla="*/ 1057803 w 14"/>
                  <a:gd name="T5" fmla="*/ 2 h 7"/>
                  <a:gd name="T6" fmla="*/ 1057803 w 14"/>
                  <a:gd name="T7" fmla="*/ 0 h 7"/>
                  <a:gd name="T8" fmla="*/ 0 w 14"/>
                  <a:gd name="T9" fmla="*/ 73 h 7"/>
                  <a:gd name="T10" fmla="*/ 0 60000 65536"/>
                  <a:gd name="T11" fmla="*/ 0 60000 65536"/>
                  <a:gd name="T12" fmla="*/ 0 60000 65536"/>
                  <a:gd name="T13" fmla="*/ 0 60000 65536"/>
                  <a:gd name="T14" fmla="*/ 0 60000 65536"/>
                  <a:gd name="T15" fmla="*/ 0 w 14"/>
                  <a:gd name="T16" fmla="*/ 0 h 7"/>
                  <a:gd name="T17" fmla="*/ 14 w 14"/>
                  <a:gd name="T18" fmla="*/ 7 h 7"/>
                </a:gdLst>
                <a:ahLst/>
                <a:cxnLst>
                  <a:cxn ang="T10">
                    <a:pos x="T0" y="T1"/>
                  </a:cxn>
                  <a:cxn ang="T11">
                    <a:pos x="T2" y="T3"/>
                  </a:cxn>
                  <a:cxn ang="T12">
                    <a:pos x="T4" y="T5"/>
                  </a:cxn>
                  <a:cxn ang="T13">
                    <a:pos x="T6" y="T7"/>
                  </a:cxn>
                  <a:cxn ang="T14">
                    <a:pos x="T8" y="T9"/>
                  </a:cxn>
                </a:cxnLst>
                <a:rect l="T15" t="T16" r="T17" b="T18"/>
                <a:pathLst>
                  <a:path w="14" h="7">
                    <a:moveTo>
                      <a:pt x="0" y="4"/>
                    </a:moveTo>
                    <a:lnTo>
                      <a:pt x="0" y="6"/>
                    </a:lnTo>
                    <a:lnTo>
                      <a:pt x="13"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8" name="Freeform 318">
                <a:extLst>
                  <a:ext uri="{FF2B5EF4-FFF2-40B4-BE49-F238E27FC236}">
                    <a16:creationId xmlns:a16="http://schemas.microsoft.com/office/drawing/2014/main" id="{3B6F3259-884E-4AEE-AFE9-9E849CA4E501}"/>
                  </a:ext>
                </a:extLst>
              </p:cNvPr>
              <p:cNvSpPr>
                <a:spLocks/>
              </p:cNvSpPr>
              <p:nvPr/>
            </p:nvSpPr>
            <p:spPr bwMode="auto">
              <a:xfrm>
                <a:off x="2042" y="3263"/>
                <a:ext cx="134" cy="71"/>
              </a:xfrm>
              <a:custGeom>
                <a:avLst/>
                <a:gdLst>
                  <a:gd name="T0" fmla="*/ 2617430 w 81"/>
                  <a:gd name="T1" fmla="*/ 74 h 62"/>
                  <a:gd name="T2" fmla="*/ 2567830 w 81"/>
                  <a:gd name="T3" fmla="*/ 97 h 62"/>
                  <a:gd name="T4" fmla="*/ 2379895 w 81"/>
                  <a:gd name="T5" fmla="*/ 211 h 62"/>
                  <a:gd name="T6" fmla="*/ 1957614 w 81"/>
                  <a:gd name="T7" fmla="*/ 328 h 62"/>
                  <a:gd name="T8" fmla="*/ 1438593 w 81"/>
                  <a:gd name="T9" fmla="*/ 462 h 62"/>
                  <a:gd name="T10" fmla="*/ 938268 w 81"/>
                  <a:gd name="T11" fmla="*/ 554 h 62"/>
                  <a:gd name="T12" fmla="*/ 432382 w 81"/>
                  <a:gd name="T13" fmla="*/ 696 h 62"/>
                  <a:gd name="T14" fmla="*/ 68764 w 81"/>
                  <a:gd name="T15" fmla="*/ 831 h 62"/>
                  <a:gd name="T16" fmla="*/ 0 w 81"/>
                  <a:gd name="T17" fmla="*/ 1046 h 62"/>
                  <a:gd name="T18" fmla="*/ 515040 w 81"/>
                  <a:gd name="T19" fmla="*/ 973 h 62"/>
                  <a:gd name="T20" fmla="*/ 541520 w 81"/>
                  <a:gd name="T21" fmla="*/ 960 h 62"/>
                  <a:gd name="T22" fmla="*/ 723636 w 81"/>
                  <a:gd name="T23" fmla="*/ 882 h 62"/>
                  <a:gd name="T24" fmla="*/ 1183334 w 81"/>
                  <a:gd name="T25" fmla="*/ 742 h 62"/>
                  <a:gd name="T26" fmla="*/ 1724337 w 81"/>
                  <a:gd name="T27" fmla="*/ 634 h 62"/>
                  <a:gd name="T28" fmla="*/ 2221424 w 81"/>
                  <a:gd name="T29" fmla="*/ 529 h 62"/>
                  <a:gd name="T30" fmla="*/ 2738029 w 81"/>
                  <a:gd name="T31" fmla="*/ 403 h 62"/>
                  <a:gd name="T32" fmla="*/ 3029758 w 81"/>
                  <a:gd name="T33" fmla="*/ 218 h 62"/>
                  <a:gd name="T34" fmla="*/ 3108525 w 81"/>
                  <a:gd name="T35" fmla="*/ 0 h 62"/>
                  <a:gd name="T36" fmla="*/ 2617430 w 81"/>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2"/>
                  <a:gd name="T59" fmla="*/ 81 w 8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2">
                    <a:moveTo>
                      <a:pt x="67" y="4"/>
                    </a:moveTo>
                    <a:lnTo>
                      <a:pt x="66" y="6"/>
                    </a:lnTo>
                    <a:lnTo>
                      <a:pt x="61" y="12"/>
                    </a:lnTo>
                    <a:lnTo>
                      <a:pt x="50" y="19"/>
                    </a:lnTo>
                    <a:lnTo>
                      <a:pt x="37" y="26"/>
                    </a:lnTo>
                    <a:lnTo>
                      <a:pt x="24" y="32"/>
                    </a:lnTo>
                    <a:lnTo>
                      <a:pt x="11" y="40"/>
                    </a:lnTo>
                    <a:lnTo>
                      <a:pt x="2" y="48"/>
                    </a:lnTo>
                    <a:lnTo>
                      <a:pt x="0" y="61"/>
                    </a:lnTo>
                    <a:lnTo>
                      <a:pt x="13" y="57"/>
                    </a:lnTo>
                    <a:lnTo>
                      <a:pt x="14" y="56"/>
                    </a:lnTo>
                    <a:lnTo>
                      <a:pt x="19" y="51"/>
                    </a:lnTo>
                    <a:lnTo>
                      <a:pt x="30" y="44"/>
                    </a:lnTo>
                    <a:lnTo>
                      <a:pt x="44" y="37"/>
                    </a:lnTo>
                    <a:lnTo>
                      <a:pt x="57" y="30"/>
                    </a:lnTo>
                    <a:lnTo>
                      <a:pt x="70" y="23"/>
                    </a:lnTo>
                    <a:lnTo>
                      <a:pt x="78" y="13"/>
                    </a:lnTo>
                    <a:lnTo>
                      <a:pt x="80" y="0"/>
                    </a:lnTo>
                    <a:lnTo>
                      <a:pt x="6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9" name="Freeform 319">
                <a:extLst>
                  <a:ext uri="{FF2B5EF4-FFF2-40B4-BE49-F238E27FC236}">
                    <a16:creationId xmlns:a16="http://schemas.microsoft.com/office/drawing/2014/main" id="{4B6FA4BA-706E-86F0-DDE1-8D544FE37F66}"/>
                  </a:ext>
                </a:extLst>
              </p:cNvPr>
              <p:cNvSpPr>
                <a:spLocks/>
              </p:cNvSpPr>
              <p:nvPr/>
            </p:nvSpPr>
            <p:spPr bwMode="auto">
              <a:xfrm>
                <a:off x="2002" y="3234"/>
                <a:ext cx="174" cy="34"/>
              </a:xfrm>
              <a:custGeom>
                <a:avLst/>
                <a:gdLst>
                  <a:gd name="T0" fmla="*/ 0 w 105"/>
                  <a:gd name="T1" fmla="*/ 121 h 29"/>
                  <a:gd name="T2" fmla="*/ 320394 w 105"/>
                  <a:gd name="T3" fmla="*/ 368 h 29"/>
                  <a:gd name="T4" fmla="*/ 851120 w 105"/>
                  <a:gd name="T5" fmla="*/ 494 h 29"/>
                  <a:gd name="T6" fmla="*/ 1410427 w 105"/>
                  <a:gd name="T7" fmla="*/ 516 h 29"/>
                  <a:gd name="T8" fmla="*/ 2105818 w 105"/>
                  <a:gd name="T9" fmla="*/ 579 h 29"/>
                  <a:gd name="T10" fmla="*/ 2706298 w 105"/>
                  <a:gd name="T11" fmla="*/ 592 h 29"/>
                  <a:gd name="T12" fmla="*/ 3243486 w 105"/>
                  <a:gd name="T13" fmla="*/ 605 h 29"/>
                  <a:gd name="T14" fmla="*/ 3587389 w 105"/>
                  <a:gd name="T15" fmla="*/ 709 h 29"/>
                  <a:gd name="T16" fmla="*/ 3677016 w 105"/>
                  <a:gd name="T17" fmla="*/ 810 h 29"/>
                  <a:gd name="T18" fmla="*/ 4192184 w 105"/>
                  <a:gd name="T19" fmla="*/ 691 h 29"/>
                  <a:gd name="T20" fmla="*/ 3873205 w 105"/>
                  <a:gd name="T21" fmla="*/ 375 h 29"/>
                  <a:gd name="T22" fmla="*/ 3367531 w 105"/>
                  <a:gd name="T23" fmla="*/ 268 h 29"/>
                  <a:gd name="T24" fmla="*/ 2755964 w 105"/>
                  <a:gd name="T25" fmla="*/ 229 h 29"/>
                  <a:gd name="T26" fmla="*/ 2150963 w 105"/>
                  <a:gd name="T27" fmla="*/ 195 h 29"/>
                  <a:gd name="T28" fmla="*/ 1485145 w 105"/>
                  <a:gd name="T29" fmla="*/ 166 h 29"/>
                  <a:gd name="T30" fmla="*/ 970032 w 105"/>
                  <a:gd name="T31" fmla="*/ 121 h 29"/>
                  <a:gd name="T32" fmla="*/ 555905 w 105"/>
                  <a:gd name="T33" fmla="*/ 2 h 29"/>
                  <a:gd name="T34" fmla="*/ 530939 w 105"/>
                  <a:gd name="T35" fmla="*/ 0 h 29"/>
                  <a:gd name="T36" fmla="*/ 0 w 105"/>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3"/>
                    </a:lnTo>
                    <a:lnTo>
                      <a:pt x="21" y="17"/>
                    </a:lnTo>
                    <a:lnTo>
                      <a:pt x="35" y="19"/>
                    </a:lnTo>
                    <a:lnTo>
                      <a:pt x="52" y="20"/>
                    </a:lnTo>
                    <a:lnTo>
                      <a:pt x="67" y="21"/>
                    </a:lnTo>
                    <a:lnTo>
                      <a:pt x="80" y="22"/>
                    </a:lnTo>
                    <a:lnTo>
                      <a:pt x="89" y="26"/>
                    </a:lnTo>
                    <a:lnTo>
                      <a:pt x="91" y="28"/>
                    </a:lnTo>
                    <a:lnTo>
                      <a:pt x="104" y="24"/>
                    </a:lnTo>
                    <a:lnTo>
                      <a:pt x="96" y="14"/>
                    </a:lnTo>
                    <a:lnTo>
                      <a:pt x="83" y="9"/>
                    </a:lnTo>
                    <a:lnTo>
                      <a:pt x="68" y="8"/>
                    </a:lnTo>
                    <a:lnTo>
                      <a:pt x="53" y="7"/>
                    </a:lnTo>
                    <a:lnTo>
                      <a:pt x="37" y="6"/>
                    </a:lnTo>
                    <a:lnTo>
                      <a:pt x="24" y="4"/>
                    </a:lnTo>
                    <a:lnTo>
                      <a:pt x="14"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0" name="Freeform 320">
                <a:extLst>
                  <a:ext uri="{FF2B5EF4-FFF2-40B4-BE49-F238E27FC236}">
                    <a16:creationId xmlns:a16="http://schemas.microsoft.com/office/drawing/2014/main" id="{E95F4F65-F7E5-CB8E-CCF7-EF88ECB4A645}"/>
                  </a:ext>
                </a:extLst>
              </p:cNvPr>
              <p:cNvSpPr>
                <a:spLocks/>
              </p:cNvSpPr>
              <p:nvPr/>
            </p:nvSpPr>
            <p:spPr bwMode="auto">
              <a:xfrm>
                <a:off x="2002" y="3167"/>
                <a:ext cx="137" cy="73"/>
              </a:xfrm>
              <a:custGeom>
                <a:avLst/>
                <a:gdLst>
                  <a:gd name="T0" fmla="*/ 2566051 w 83"/>
                  <a:gd name="T1" fmla="*/ 73 h 64"/>
                  <a:gd name="T2" fmla="*/ 2519400 w 83"/>
                  <a:gd name="T3" fmla="*/ 108 h 64"/>
                  <a:gd name="T4" fmla="*/ 2349936 w 83"/>
                  <a:gd name="T5" fmla="*/ 209 h 64"/>
                  <a:gd name="T6" fmla="*/ 1933123 w 83"/>
                  <a:gd name="T7" fmla="*/ 309 h 64"/>
                  <a:gd name="T8" fmla="*/ 1423684 w 83"/>
                  <a:gd name="T9" fmla="*/ 409 h 64"/>
                  <a:gd name="T10" fmla="*/ 901473 w 83"/>
                  <a:gd name="T11" fmla="*/ 524 h 64"/>
                  <a:gd name="T12" fmla="*/ 446998 w 83"/>
                  <a:gd name="T13" fmla="*/ 627 h 64"/>
                  <a:gd name="T14" fmla="*/ 64690 w 83"/>
                  <a:gd name="T15" fmla="*/ 792 h 64"/>
                  <a:gd name="T16" fmla="*/ 0 w 83"/>
                  <a:gd name="T17" fmla="*/ 1000 h 64"/>
                  <a:gd name="T18" fmla="*/ 480180 w 83"/>
                  <a:gd name="T19" fmla="*/ 931 h 64"/>
                  <a:gd name="T20" fmla="*/ 522551 w 83"/>
                  <a:gd name="T21" fmla="*/ 903 h 64"/>
                  <a:gd name="T22" fmla="*/ 737816 w 83"/>
                  <a:gd name="T23" fmla="*/ 811 h 64"/>
                  <a:gd name="T24" fmla="*/ 1147807 w 83"/>
                  <a:gd name="T25" fmla="*/ 711 h 64"/>
                  <a:gd name="T26" fmla="*/ 1639289 w 83"/>
                  <a:gd name="T27" fmla="*/ 598 h 64"/>
                  <a:gd name="T28" fmla="*/ 2159391 w 83"/>
                  <a:gd name="T29" fmla="*/ 482 h 64"/>
                  <a:gd name="T30" fmla="*/ 2603804 w 83"/>
                  <a:gd name="T31" fmla="*/ 359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7"/>
                    </a:lnTo>
                    <a:lnTo>
                      <a:pt x="63" y="13"/>
                    </a:lnTo>
                    <a:lnTo>
                      <a:pt x="52" y="19"/>
                    </a:lnTo>
                    <a:lnTo>
                      <a:pt x="38" y="26"/>
                    </a:lnTo>
                    <a:lnTo>
                      <a:pt x="24" y="33"/>
                    </a:lnTo>
                    <a:lnTo>
                      <a:pt x="12" y="40"/>
                    </a:lnTo>
                    <a:lnTo>
                      <a:pt x="2" y="50"/>
                    </a:lnTo>
                    <a:lnTo>
                      <a:pt x="0" y="63"/>
                    </a:lnTo>
                    <a:lnTo>
                      <a:pt x="13" y="59"/>
                    </a:lnTo>
                    <a:lnTo>
                      <a:pt x="14" y="57"/>
                    </a:lnTo>
                    <a:lnTo>
                      <a:pt x="20" y="51"/>
                    </a:lnTo>
                    <a:lnTo>
                      <a:pt x="31"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1" name="Freeform 321">
                <a:extLst>
                  <a:ext uri="{FF2B5EF4-FFF2-40B4-BE49-F238E27FC236}">
                    <a16:creationId xmlns:a16="http://schemas.microsoft.com/office/drawing/2014/main" id="{790416CE-5144-99BC-CC82-987515D1EA32}"/>
                  </a:ext>
                </a:extLst>
              </p:cNvPr>
              <p:cNvSpPr>
                <a:spLocks/>
              </p:cNvSpPr>
              <p:nvPr/>
            </p:nvSpPr>
            <p:spPr bwMode="auto">
              <a:xfrm>
                <a:off x="1964" y="3139"/>
                <a:ext cx="175" cy="33"/>
              </a:xfrm>
              <a:custGeom>
                <a:avLst/>
                <a:gdLst>
                  <a:gd name="T0" fmla="*/ 0 w 106"/>
                  <a:gd name="T1" fmla="*/ 3 h 29"/>
                  <a:gd name="T2" fmla="*/ 291842 w 106"/>
                  <a:gd name="T3" fmla="*/ 191 h 29"/>
                  <a:gd name="T4" fmla="*/ 795449 w 106"/>
                  <a:gd name="T5" fmla="*/ 247 h 29"/>
                  <a:gd name="T6" fmla="*/ 1328805 w 106"/>
                  <a:gd name="T7" fmla="*/ 281 h 29"/>
                  <a:gd name="T8" fmla="*/ 1941196 w 106"/>
                  <a:gd name="T9" fmla="*/ 306 h 29"/>
                  <a:gd name="T10" fmla="*/ 2508326 w 106"/>
                  <a:gd name="T11" fmla="*/ 316 h 29"/>
                  <a:gd name="T12" fmla="*/ 3033331 w 106"/>
                  <a:gd name="T13" fmla="*/ 320 h 29"/>
                  <a:gd name="T14" fmla="*/ 3328313 w 106"/>
                  <a:gd name="T15" fmla="*/ 396 h 29"/>
                  <a:gd name="T16" fmla="*/ 3435385 w 106"/>
                  <a:gd name="T17" fmla="*/ 414 h 29"/>
                  <a:gd name="T18" fmla="*/ 3917132 w 106"/>
                  <a:gd name="T19" fmla="*/ 360 h 29"/>
                  <a:gd name="T20" fmla="*/ 3621810 w 106"/>
                  <a:gd name="T21" fmla="*/ 207 h 29"/>
                  <a:gd name="T22" fmla="*/ 3136520 w 106"/>
                  <a:gd name="T23" fmla="*/ 130 h 29"/>
                  <a:gd name="T24" fmla="*/ 2573651 w 106"/>
                  <a:gd name="T25" fmla="*/ 114 h 29"/>
                  <a:gd name="T26" fmla="*/ 1984779 w 106"/>
                  <a:gd name="T27" fmla="*/ 100 h 29"/>
                  <a:gd name="T28" fmla="*/ 1389091 w 106"/>
                  <a:gd name="T29" fmla="*/ 88 h 29"/>
                  <a:gd name="T30" fmla="*/ 904506 w 106"/>
                  <a:gd name="T31" fmla="*/ 68 h 29"/>
                  <a:gd name="T32" fmla="*/ 563155 w 106"/>
                  <a:gd name="T33" fmla="*/ 1 h 29"/>
                  <a:gd name="T34" fmla="*/ 481815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1"/>
                    </a:lnTo>
                    <a:lnTo>
                      <a:pt x="81" y="22"/>
                    </a:lnTo>
                    <a:lnTo>
                      <a:pt x="89" y="26"/>
                    </a:lnTo>
                    <a:lnTo>
                      <a:pt x="92" y="28"/>
                    </a:lnTo>
                    <a:lnTo>
                      <a:pt x="105" y="24"/>
                    </a:lnTo>
                    <a:lnTo>
                      <a:pt x="97" y="14"/>
                    </a:lnTo>
                    <a:lnTo>
                      <a:pt x="84" y="9"/>
                    </a:lnTo>
                    <a:lnTo>
                      <a:pt x="69" y="8"/>
                    </a:lnTo>
                    <a:lnTo>
                      <a:pt x="53"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2" name="Freeform 322">
                <a:extLst>
                  <a:ext uri="{FF2B5EF4-FFF2-40B4-BE49-F238E27FC236}">
                    <a16:creationId xmlns:a16="http://schemas.microsoft.com/office/drawing/2014/main" id="{06159B2A-5BC1-6C2E-E948-9FE5D67A4D80}"/>
                  </a:ext>
                </a:extLst>
              </p:cNvPr>
              <p:cNvSpPr>
                <a:spLocks/>
              </p:cNvSpPr>
              <p:nvPr/>
            </p:nvSpPr>
            <p:spPr bwMode="auto">
              <a:xfrm>
                <a:off x="1964" y="3077"/>
                <a:ext cx="141" cy="67"/>
              </a:xfrm>
              <a:custGeom>
                <a:avLst/>
                <a:gdLst>
                  <a:gd name="T0" fmla="*/ 2953782 w 85"/>
                  <a:gd name="T1" fmla="*/ 158 h 58"/>
                  <a:gd name="T2" fmla="*/ 2938929 w 85"/>
                  <a:gd name="T3" fmla="*/ 119 h 58"/>
                  <a:gd name="T4" fmla="*/ 2639817 w 85"/>
                  <a:gd name="T5" fmla="*/ 241 h 58"/>
                  <a:gd name="T6" fmla="*/ 2235172 w 85"/>
                  <a:gd name="T7" fmla="*/ 371 h 58"/>
                  <a:gd name="T8" fmla="*/ 1620969 w 85"/>
                  <a:gd name="T9" fmla="*/ 496 h 58"/>
                  <a:gd name="T10" fmla="*/ 1018839 w 85"/>
                  <a:gd name="T11" fmla="*/ 596 h 58"/>
                  <a:gd name="T12" fmla="*/ 495429 w 85"/>
                  <a:gd name="T13" fmla="*/ 714 h 58"/>
                  <a:gd name="T14" fmla="*/ 71877 w 85"/>
                  <a:gd name="T15" fmla="*/ 917 h 58"/>
                  <a:gd name="T16" fmla="*/ 0 w 85"/>
                  <a:gd name="T17" fmla="*/ 1179 h 58"/>
                  <a:gd name="T18" fmla="*/ 544238 w 85"/>
                  <a:gd name="T19" fmla="*/ 1101 h 58"/>
                  <a:gd name="T20" fmla="*/ 572706 w 85"/>
                  <a:gd name="T21" fmla="*/ 1060 h 58"/>
                  <a:gd name="T22" fmla="*/ 821829 w 85"/>
                  <a:gd name="T23" fmla="*/ 968 h 58"/>
                  <a:gd name="T24" fmla="*/ 1248079 w 85"/>
                  <a:gd name="T25" fmla="*/ 838 h 58"/>
                  <a:gd name="T26" fmla="*/ 1864649 w 85"/>
                  <a:gd name="T27" fmla="*/ 714 h 58"/>
                  <a:gd name="T28" fmla="*/ 2442656 w 85"/>
                  <a:gd name="T29" fmla="*/ 596 h 58"/>
                  <a:gd name="T30" fmla="*/ 2953782 w 85"/>
                  <a:gd name="T31" fmla="*/ 496 h 58"/>
                  <a:gd name="T32" fmla="*/ 3327053 w 85"/>
                  <a:gd name="T33" fmla="*/ 282 h 58"/>
                  <a:gd name="T34" fmla="*/ 3461437 w 85"/>
                  <a:gd name="T35" fmla="*/ 2 h 58"/>
                  <a:gd name="T36" fmla="*/ 3461437 w 85"/>
                  <a:gd name="T37" fmla="*/ 0 h 58"/>
                  <a:gd name="T38" fmla="*/ 3461437 w 85"/>
                  <a:gd name="T39" fmla="*/ 2 h 58"/>
                  <a:gd name="T40" fmla="*/ 3461437 w 85"/>
                  <a:gd name="T41" fmla="*/ 1 h 58"/>
                  <a:gd name="T42" fmla="*/ 3461437 w 85"/>
                  <a:gd name="T43" fmla="*/ 0 h 58"/>
                  <a:gd name="T44" fmla="*/ 2953782 w 85"/>
                  <a:gd name="T45" fmla="*/ 158 h 5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8"/>
                  <a:gd name="T71" fmla="*/ 85 w 85"/>
                  <a:gd name="T72" fmla="*/ 58 h 5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8">
                    <a:moveTo>
                      <a:pt x="72" y="8"/>
                    </a:moveTo>
                    <a:lnTo>
                      <a:pt x="71" y="6"/>
                    </a:lnTo>
                    <a:lnTo>
                      <a:pt x="64" y="11"/>
                    </a:lnTo>
                    <a:lnTo>
                      <a:pt x="54" y="17"/>
                    </a:lnTo>
                    <a:lnTo>
                      <a:pt x="39" y="23"/>
                    </a:lnTo>
                    <a:lnTo>
                      <a:pt x="25" y="29"/>
                    </a:lnTo>
                    <a:lnTo>
                      <a:pt x="12" y="35"/>
                    </a:lnTo>
                    <a:lnTo>
                      <a:pt x="2" y="44"/>
                    </a:lnTo>
                    <a:lnTo>
                      <a:pt x="0" y="57"/>
                    </a:lnTo>
                    <a:lnTo>
                      <a:pt x="13" y="53"/>
                    </a:lnTo>
                    <a:lnTo>
                      <a:pt x="14" y="52"/>
                    </a:lnTo>
                    <a:lnTo>
                      <a:pt x="20" y="47"/>
                    </a:lnTo>
                    <a:lnTo>
                      <a:pt x="30" y="41"/>
                    </a:lnTo>
                    <a:lnTo>
                      <a:pt x="45" y="35"/>
                    </a:lnTo>
                    <a:lnTo>
                      <a:pt x="59" y="29"/>
                    </a:lnTo>
                    <a:lnTo>
                      <a:pt x="72" y="23"/>
                    </a:lnTo>
                    <a:lnTo>
                      <a:pt x="81" y="14"/>
                    </a:lnTo>
                    <a:lnTo>
                      <a:pt x="84" y="2"/>
                    </a:lnTo>
                    <a:lnTo>
                      <a:pt x="84" y="0"/>
                    </a:lnTo>
                    <a:lnTo>
                      <a:pt x="84" y="2"/>
                    </a:lnTo>
                    <a:lnTo>
                      <a:pt x="84" y="1"/>
                    </a:lnTo>
                    <a:lnTo>
                      <a:pt x="84" y="0"/>
                    </a:lnTo>
                    <a:lnTo>
                      <a:pt x="72"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3" name="Freeform 323">
                <a:extLst>
                  <a:ext uri="{FF2B5EF4-FFF2-40B4-BE49-F238E27FC236}">
                    <a16:creationId xmlns:a16="http://schemas.microsoft.com/office/drawing/2014/main" id="{E397C13D-449E-3E30-B1C3-30FCB2C597BA}"/>
                  </a:ext>
                </a:extLst>
              </p:cNvPr>
              <p:cNvSpPr>
                <a:spLocks/>
              </p:cNvSpPr>
              <p:nvPr/>
            </p:nvSpPr>
            <p:spPr bwMode="auto">
              <a:xfrm>
                <a:off x="2080" y="3075"/>
                <a:ext cx="25" cy="12"/>
              </a:xfrm>
              <a:custGeom>
                <a:avLst/>
                <a:gdLst>
                  <a:gd name="T0" fmla="*/ 0 w 15"/>
                  <a:gd name="T1" fmla="*/ 215 h 10"/>
                  <a:gd name="T2" fmla="*/ 47430 w 15"/>
                  <a:gd name="T3" fmla="*/ 310 h 10"/>
                  <a:gd name="T4" fmla="*/ 79050 w 15"/>
                  <a:gd name="T5" fmla="*/ 434 h 10"/>
                  <a:gd name="T6" fmla="*/ 621467 w 15"/>
                  <a:gd name="T7" fmla="*/ 2 h 10"/>
                  <a:gd name="T8" fmla="*/ 542092 w 15"/>
                  <a:gd name="T9" fmla="*/ 0 h 10"/>
                  <a:gd name="T10" fmla="*/ 609953 w 15"/>
                  <a:gd name="T11" fmla="*/ 2 h 10"/>
                  <a:gd name="T12" fmla="*/ 0 w 15"/>
                  <a:gd name="T13" fmla="*/ 215 h 10"/>
                  <a:gd name="T14" fmla="*/ 0 w 15"/>
                  <a:gd name="T15" fmla="*/ 258 h 10"/>
                  <a:gd name="T16" fmla="*/ 47430 w 15"/>
                  <a:gd name="T17" fmla="*/ 310 h 10"/>
                  <a:gd name="T18" fmla="*/ 0 w 15"/>
                  <a:gd name="T19" fmla="*/ 215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0"/>
                  <a:gd name="T32" fmla="*/ 15 w 15"/>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0">
                    <a:moveTo>
                      <a:pt x="0" y="5"/>
                    </a:moveTo>
                    <a:lnTo>
                      <a:pt x="1" y="7"/>
                    </a:lnTo>
                    <a:lnTo>
                      <a:pt x="2" y="9"/>
                    </a:lnTo>
                    <a:lnTo>
                      <a:pt x="14" y="2"/>
                    </a:lnTo>
                    <a:lnTo>
                      <a:pt x="12" y="0"/>
                    </a:lnTo>
                    <a:lnTo>
                      <a:pt x="13" y="2"/>
                    </a:lnTo>
                    <a:lnTo>
                      <a:pt x="0" y="5"/>
                    </a:lnTo>
                    <a:lnTo>
                      <a:pt x="0" y="6"/>
                    </a:lnTo>
                    <a:lnTo>
                      <a:pt x="1"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4" name="Freeform 324">
                <a:extLst>
                  <a:ext uri="{FF2B5EF4-FFF2-40B4-BE49-F238E27FC236}">
                    <a16:creationId xmlns:a16="http://schemas.microsoft.com/office/drawing/2014/main" id="{E7F1F0A3-66DA-B3AD-1334-D2FA94507DAB}"/>
                  </a:ext>
                </a:extLst>
              </p:cNvPr>
              <p:cNvSpPr>
                <a:spLocks/>
              </p:cNvSpPr>
              <p:nvPr/>
            </p:nvSpPr>
            <p:spPr bwMode="auto">
              <a:xfrm>
                <a:off x="1930" y="3049"/>
                <a:ext cx="174" cy="34"/>
              </a:xfrm>
              <a:custGeom>
                <a:avLst/>
                <a:gdLst>
                  <a:gd name="T0" fmla="*/ 0 w 105"/>
                  <a:gd name="T1" fmla="*/ 103 h 29"/>
                  <a:gd name="T2" fmla="*/ 320394 w 105"/>
                  <a:gd name="T3" fmla="*/ 368 h 29"/>
                  <a:gd name="T4" fmla="*/ 851120 w 105"/>
                  <a:gd name="T5" fmla="*/ 440 h 29"/>
                  <a:gd name="T6" fmla="*/ 1458024 w 105"/>
                  <a:gd name="T7" fmla="*/ 505 h 29"/>
                  <a:gd name="T8" fmla="*/ 2080606 w 105"/>
                  <a:gd name="T9" fmla="*/ 505 h 29"/>
                  <a:gd name="T10" fmla="*/ 2706298 w 105"/>
                  <a:gd name="T11" fmla="*/ 505 h 29"/>
                  <a:gd name="T12" fmla="*/ 3199048 w 105"/>
                  <a:gd name="T13" fmla="*/ 579 h 29"/>
                  <a:gd name="T14" fmla="*/ 3564453 w 105"/>
                  <a:gd name="T15" fmla="*/ 691 h 29"/>
                  <a:gd name="T16" fmla="*/ 3677016 w 105"/>
                  <a:gd name="T17" fmla="*/ 810 h 29"/>
                  <a:gd name="T18" fmla="*/ 4192184 w 105"/>
                  <a:gd name="T19" fmla="*/ 691 h 29"/>
                  <a:gd name="T20" fmla="*/ 3873205 w 105"/>
                  <a:gd name="T21" fmla="*/ 368 h 29"/>
                  <a:gd name="T22" fmla="*/ 3367531 w 105"/>
                  <a:gd name="T23" fmla="*/ 195 h 29"/>
                  <a:gd name="T24" fmla="*/ 2755964 w 105"/>
                  <a:gd name="T25" fmla="*/ 142 h 29"/>
                  <a:gd name="T26" fmla="*/ 2080606 w 105"/>
                  <a:gd name="T27" fmla="*/ 121 h 29"/>
                  <a:gd name="T28" fmla="*/ 1458024 w 105"/>
                  <a:gd name="T29" fmla="*/ 142 h 29"/>
                  <a:gd name="T30" fmla="*/ 921214 w 105"/>
                  <a:gd name="T31" fmla="*/ 103 h 29"/>
                  <a:gd name="T32" fmla="*/ 605611 w 105"/>
                  <a:gd name="T33" fmla="*/ 2 h 29"/>
                  <a:gd name="T34" fmla="*/ 530939 w 105"/>
                  <a:gd name="T35" fmla="*/ 0 h 29"/>
                  <a:gd name="T36" fmla="*/ 0 w 105"/>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3"/>
                    </a:moveTo>
                    <a:lnTo>
                      <a:pt x="8" y="13"/>
                    </a:lnTo>
                    <a:lnTo>
                      <a:pt x="21" y="16"/>
                    </a:lnTo>
                    <a:lnTo>
                      <a:pt x="36" y="18"/>
                    </a:lnTo>
                    <a:lnTo>
                      <a:pt x="51" y="18"/>
                    </a:lnTo>
                    <a:lnTo>
                      <a:pt x="67" y="18"/>
                    </a:lnTo>
                    <a:lnTo>
                      <a:pt x="79" y="20"/>
                    </a:lnTo>
                    <a:lnTo>
                      <a:pt x="88" y="24"/>
                    </a:lnTo>
                    <a:lnTo>
                      <a:pt x="91" y="28"/>
                    </a:lnTo>
                    <a:lnTo>
                      <a:pt x="104" y="24"/>
                    </a:lnTo>
                    <a:lnTo>
                      <a:pt x="96" y="13"/>
                    </a:lnTo>
                    <a:lnTo>
                      <a:pt x="83" y="7"/>
                    </a:lnTo>
                    <a:lnTo>
                      <a:pt x="68" y="5"/>
                    </a:lnTo>
                    <a:lnTo>
                      <a:pt x="51" y="4"/>
                    </a:lnTo>
                    <a:lnTo>
                      <a:pt x="36" y="5"/>
                    </a:lnTo>
                    <a:lnTo>
                      <a:pt x="23" y="3"/>
                    </a:lnTo>
                    <a:lnTo>
                      <a:pt x="15"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5" name="Freeform 325">
                <a:extLst>
                  <a:ext uri="{FF2B5EF4-FFF2-40B4-BE49-F238E27FC236}">
                    <a16:creationId xmlns:a16="http://schemas.microsoft.com/office/drawing/2014/main" id="{FE8ACDE3-8903-BE3C-4C93-8B361CE4B5E7}"/>
                  </a:ext>
                </a:extLst>
              </p:cNvPr>
              <p:cNvSpPr>
                <a:spLocks/>
              </p:cNvSpPr>
              <p:nvPr/>
            </p:nvSpPr>
            <p:spPr bwMode="auto">
              <a:xfrm>
                <a:off x="1930" y="2982"/>
                <a:ext cx="136" cy="73"/>
              </a:xfrm>
              <a:custGeom>
                <a:avLst/>
                <a:gdLst>
                  <a:gd name="T0" fmla="*/ 2793281 w 82"/>
                  <a:gd name="T1" fmla="*/ 73 h 64"/>
                  <a:gd name="T2" fmla="*/ 2793281 w 82"/>
                  <a:gd name="T3" fmla="*/ 108 h 64"/>
                  <a:gd name="T4" fmla="*/ 2559870 w 82"/>
                  <a:gd name="T5" fmla="*/ 192 h 64"/>
                  <a:gd name="T6" fmla="*/ 2110216 w 82"/>
                  <a:gd name="T7" fmla="*/ 309 h 64"/>
                  <a:gd name="T8" fmla="*/ 1549208 w 82"/>
                  <a:gd name="T9" fmla="*/ 409 h 64"/>
                  <a:gd name="T10" fmla="*/ 984142 w 82"/>
                  <a:gd name="T11" fmla="*/ 533 h 64"/>
                  <a:gd name="T12" fmla="*/ 494159 w 82"/>
                  <a:gd name="T13" fmla="*/ 674 h 64"/>
                  <a:gd name="T14" fmla="*/ 71808 w 82"/>
                  <a:gd name="T15" fmla="*/ 792 h 64"/>
                  <a:gd name="T16" fmla="*/ 0 w 82"/>
                  <a:gd name="T17" fmla="*/ 1000 h 64"/>
                  <a:gd name="T18" fmla="*/ 543340 w 82"/>
                  <a:gd name="T19" fmla="*/ 931 h 64"/>
                  <a:gd name="T20" fmla="*/ 543340 w 82"/>
                  <a:gd name="T21" fmla="*/ 925 h 64"/>
                  <a:gd name="T22" fmla="*/ 792167 w 82"/>
                  <a:gd name="T23" fmla="*/ 816 h 64"/>
                  <a:gd name="T24" fmla="*/ 1245083 w 82"/>
                  <a:gd name="T25" fmla="*/ 711 h 64"/>
                  <a:gd name="T26" fmla="*/ 1809896 w 82"/>
                  <a:gd name="T27" fmla="*/ 598 h 64"/>
                  <a:gd name="T28" fmla="*/ 2364446 w 82"/>
                  <a:gd name="T29" fmla="*/ 482 h 64"/>
                  <a:gd name="T30" fmla="*/ 2866162 w 82"/>
                  <a:gd name="T31" fmla="*/ 359 h 64"/>
                  <a:gd name="T32" fmla="*/ 3244615 w 82"/>
                  <a:gd name="T33" fmla="*/ 209 h 64"/>
                  <a:gd name="T34" fmla="*/ 3316748 w 82"/>
                  <a:gd name="T35" fmla="*/ 0 h 64"/>
                  <a:gd name="T36" fmla="*/ 2793281 w 82"/>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4"/>
                  <a:gd name="T59" fmla="*/ 82 w 82"/>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4">
                    <a:moveTo>
                      <a:pt x="68" y="4"/>
                    </a:moveTo>
                    <a:lnTo>
                      <a:pt x="68" y="7"/>
                    </a:lnTo>
                    <a:lnTo>
                      <a:pt x="62" y="12"/>
                    </a:lnTo>
                    <a:lnTo>
                      <a:pt x="51" y="19"/>
                    </a:lnTo>
                    <a:lnTo>
                      <a:pt x="38" y="26"/>
                    </a:lnTo>
                    <a:lnTo>
                      <a:pt x="24" y="34"/>
                    </a:lnTo>
                    <a:lnTo>
                      <a:pt x="12" y="42"/>
                    </a:lnTo>
                    <a:lnTo>
                      <a:pt x="2" y="50"/>
                    </a:lnTo>
                    <a:lnTo>
                      <a:pt x="0" y="63"/>
                    </a:lnTo>
                    <a:lnTo>
                      <a:pt x="13" y="59"/>
                    </a:lnTo>
                    <a:lnTo>
                      <a:pt x="13" y="58"/>
                    </a:lnTo>
                    <a:lnTo>
                      <a:pt x="19" y="52"/>
                    </a:lnTo>
                    <a:lnTo>
                      <a:pt x="30" y="45"/>
                    </a:lnTo>
                    <a:lnTo>
                      <a:pt x="44" y="38"/>
                    </a:lnTo>
                    <a:lnTo>
                      <a:pt x="57" y="31"/>
                    </a:lnTo>
                    <a:lnTo>
                      <a:pt x="70" y="23"/>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6" name="Freeform 326">
                <a:extLst>
                  <a:ext uri="{FF2B5EF4-FFF2-40B4-BE49-F238E27FC236}">
                    <a16:creationId xmlns:a16="http://schemas.microsoft.com/office/drawing/2014/main" id="{DFE05785-BBD6-7A84-52CE-42B06466B585}"/>
                  </a:ext>
                </a:extLst>
              </p:cNvPr>
              <p:cNvSpPr>
                <a:spLocks/>
              </p:cNvSpPr>
              <p:nvPr/>
            </p:nvSpPr>
            <p:spPr bwMode="auto">
              <a:xfrm>
                <a:off x="1892" y="2954"/>
                <a:ext cx="174" cy="33"/>
              </a:xfrm>
              <a:custGeom>
                <a:avLst/>
                <a:gdLst>
                  <a:gd name="T0" fmla="*/ 0 w 105"/>
                  <a:gd name="T1" fmla="*/ 68 h 29"/>
                  <a:gd name="T2" fmla="*/ 320394 w 105"/>
                  <a:gd name="T3" fmla="*/ 207 h 29"/>
                  <a:gd name="T4" fmla="*/ 808008 w 105"/>
                  <a:gd name="T5" fmla="*/ 247 h 29"/>
                  <a:gd name="T6" fmla="*/ 1410427 w 105"/>
                  <a:gd name="T7" fmla="*/ 281 h 29"/>
                  <a:gd name="T8" fmla="*/ 2080606 w 105"/>
                  <a:gd name="T9" fmla="*/ 306 h 29"/>
                  <a:gd name="T10" fmla="*/ 2706298 w 105"/>
                  <a:gd name="T11" fmla="*/ 316 h 29"/>
                  <a:gd name="T12" fmla="*/ 3243486 w 105"/>
                  <a:gd name="T13" fmla="*/ 320 h 29"/>
                  <a:gd name="T14" fmla="*/ 3587389 w 105"/>
                  <a:gd name="T15" fmla="*/ 364 h 29"/>
                  <a:gd name="T16" fmla="*/ 3677016 w 105"/>
                  <a:gd name="T17" fmla="*/ 414 h 29"/>
                  <a:gd name="T18" fmla="*/ 4192184 w 105"/>
                  <a:gd name="T19" fmla="*/ 360 h 29"/>
                  <a:gd name="T20" fmla="*/ 3873205 w 105"/>
                  <a:gd name="T21" fmla="*/ 207 h 29"/>
                  <a:gd name="T22" fmla="*/ 3367531 w 105"/>
                  <a:gd name="T23" fmla="*/ 148 h 29"/>
                  <a:gd name="T24" fmla="*/ 2755964 w 105"/>
                  <a:gd name="T25" fmla="*/ 114 h 29"/>
                  <a:gd name="T26" fmla="*/ 2105818 w 105"/>
                  <a:gd name="T27" fmla="*/ 100 h 29"/>
                  <a:gd name="T28" fmla="*/ 1485145 w 105"/>
                  <a:gd name="T29" fmla="*/ 88 h 29"/>
                  <a:gd name="T30" fmla="*/ 921214 w 105"/>
                  <a:gd name="T31" fmla="*/ 77 h 29"/>
                  <a:gd name="T32" fmla="*/ 605611 w 105"/>
                  <a:gd name="T33" fmla="*/ 2 h 29"/>
                  <a:gd name="T34" fmla="*/ 530939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0" y="17"/>
                    </a:lnTo>
                    <a:lnTo>
                      <a:pt x="35" y="19"/>
                    </a:lnTo>
                    <a:lnTo>
                      <a:pt x="51" y="20"/>
                    </a:lnTo>
                    <a:lnTo>
                      <a:pt x="67" y="21"/>
                    </a:lnTo>
                    <a:lnTo>
                      <a:pt x="80" y="22"/>
                    </a:lnTo>
                    <a:lnTo>
                      <a:pt x="89" y="25"/>
                    </a:lnTo>
                    <a:lnTo>
                      <a:pt x="91" y="28"/>
                    </a:lnTo>
                    <a:lnTo>
                      <a:pt x="104" y="24"/>
                    </a:lnTo>
                    <a:lnTo>
                      <a:pt x="96" y="14"/>
                    </a:lnTo>
                    <a:lnTo>
                      <a:pt x="83" y="10"/>
                    </a:lnTo>
                    <a:lnTo>
                      <a:pt x="68" y="8"/>
                    </a:lnTo>
                    <a:lnTo>
                      <a:pt x="52" y="7"/>
                    </a:lnTo>
                    <a:lnTo>
                      <a:pt x="37" y="6"/>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7" name="Freeform 327">
                <a:extLst>
                  <a:ext uri="{FF2B5EF4-FFF2-40B4-BE49-F238E27FC236}">
                    <a16:creationId xmlns:a16="http://schemas.microsoft.com/office/drawing/2014/main" id="{3CE2B3AD-F553-D09E-9851-575F1175A5EC}"/>
                  </a:ext>
                </a:extLst>
              </p:cNvPr>
              <p:cNvSpPr>
                <a:spLocks/>
              </p:cNvSpPr>
              <p:nvPr/>
            </p:nvSpPr>
            <p:spPr bwMode="auto">
              <a:xfrm>
                <a:off x="1892" y="2889"/>
                <a:ext cx="141" cy="70"/>
              </a:xfrm>
              <a:custGeom>
                <a:avLst/>
                <a:gdLst>
                  <a:gd name="T0" fmla="*/ 3010083 w 85"/>
                  <a:gd name="T1" fmla="*/ 157 h 61"/>
                  <a:gd name="T2" fmla="*/ 2938929 w 85"/>
                  <a:gd name="T3" fmla="*/ 119 h 61"/>
                  <a:gd name="T4" fmla="*/ 2878991 w 85"/>
                  <a:gd name="T5" fmla="*/ 104 h 61"/>
                  <a:gd name="T6" fmla="*/ 2639817 w 85"/>
                  <a:gd name="T7" fmla="*/ 180 h 61"/>
                  <a:gd name="T8" fmla="*/ 2144595 w 85"/>
                  <a:gd name="T9" fmla="*/ 313 h 61"/>
                  <a:gd name="T10" fmla="*/ 1575912 w 85"/>
                  <a:gd name="T11" fmla="*/ 412 h 61"/>
                  <a:gd name="T12" fmla="*/ 1018839 w 85"/>
                  <a:gd name="T13" fmla="*/ 555 h 61"/>
                  <a:gd name="T14" fmla="*/ 495429 w 85"/>
                  <a:gd name="T15" fmla="*/ 678 h 61"/>
                  <a:gd name="T16" fmla="*/ 119231 w 85"/>
                  <a:gd name="T17" fmla="*/ 839 h 61"/>
                  <a:gd name="T18" fmla="*/ 0 w 85"/>
                  <a:gd name="T19" fmla="*/ 1080 h 61"/>
                  <a:gd name="T20" fmla="*/ 544238 w 85"/>
                  <a:gd name="T21" fmla="*/ 990 h 61"/>
                  <a:gd name="T22" fmla="*/ 572706 w 85"/>
                  <a:gd name="T23" fmla="*/ 982 h 61"/>
                  <a:gd name="T24" fmla="*/ 821829 w 85"/>
                  <a:gd name="T25" fmla="*/ 863 h 61"/>
                  <a:gd name="T26" fmla="*/ 1275833 w 85"/>
                  <a:gd name="T27" fmla="*/ 746 h 61"/>
                  <a:gd name="T28" fmla="*/ 1864649 w 85"/>
                  <a:gd name="T29" fmla="*/ 636 h 61"/>
                  <a:gd name="T30" fmla="*/ 2442656 w 85"/>
                  <a:gd name="T31" fmla="*/ 515 h 61"/>
                  <a:gd name="T32" fmla="*/ 2878991 w 85"/>
                  <a:gd name="T33" fmla="*/ 391 h 61"/>
                  <a:gd name="T34" fmla="*/ 3327053 w 85"/>
                  <a:gd name="T35" fmla="*/ 273 h 61"/>
                  <a:gd name="T36" fmla="*/ 3461437 w 85"/>
                  <a:gd name="T37" fmla="*/ 3 h 61"/>
                  <a:gd name="T38" fmla="*/ 3392672 w 85"/>
                  <a:gd name="T39" fmla="*/ 0 h 61"/>
                  <a:gd name="T40" fmla="*/ 3461437 w 85"/>
                  <a:gd name="T41" fmla="*/ 3 h 61"/>
                  <a:gd name="T42" fmla="*/ 3434334 w 85"/>
                  <a:gd name="T43" fmla="*/ 1 h 61"/>
                  <a:gd name="T44" fmla="*/ 3392672 w 85"/>
                  <a:gd name="T45" fmla="*/ 0 h 61"/>
                  <a:gd name="T46" fmla="*/ 3010083 w 85"/>
                  <a:gd name="T47" fmla="*/ 157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
                  <a:gd name="T73" fmla="*/ 0 h 61"/>
                  <a:gd name="T74" fmla="*/ 85 w 85"/>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 h="61">
                    <a:moveTo>
                      <a:pt x="73" y="9"/>
                    </a:moveTo>
                    <a:lnTo>
                      <a:pt x="71" y="7"/>
                    </a:lnTo>
                    <a:lnTo>
                      <a:pt x="70" y="6"/>
                    </a:lnTo>
                    <a:lnTo>
                      <a:pt x="64" y="10"/>
                    </a:lnTo>
                    <a:lnTo>
                      <a:pt x="52" y="17"/>
                    </a:lnTo>
                    <a:lnTo>
                      <a:pt x="38" y="23"/>
                    </a:lnTo>
                    <a:lnTo>
                      <a:pt x="25" y="31"/>
                    </a:lnTo>
                    <a:lnTo>
                      <a:pt x="12" y="38"/>
                    </a:lnTo>
                    <a:lnTo>
                      <a:pt x="3" y="47"/>
                    </a:lnTo>
                    <a:lnTo>
                      <a:pt x="0" y="60"/>
                    </a:lnTo>
                    <a:lnTo>
                      <a:pt x="13" y="56"/>
                    </a:lnTo>
                    <a:lnTo>
                      <a:pt x="14" y="55"/>
                    </a:lnTo>
                    <a:lnTo>
                      <a:pt x="20" y="49"/>
                    </a:lnTo>
                    <a:lnTo>
                      <a:pt x="31" y="42"/>
                    </a:lnTo>
                    <a:lnTo>
                      <a:pt x="45" y="35"/>
                    </a:lnTo>
                    <a:lnTo>
                      <a:pt x="59" y="29"/>
                    </a:lnTo>
                    <a:lnTo>
                      <a:pt x="70" y="22"/>
                    </a:lnTo>
                    <a:lnTo>
                      <a:pt x="81" y="15"/>
                    </a:lnTo>
                    <a:lnTo>
                      <a:pt x="84" y="3"/>
                    </a:lnTo>
                    <a:lnTo>
                      <a:pt x="82" y="0"/>
                    </a:lnTo>
                    <a:lnTo>
                      <a:pt x="84" y="3"/>
                    </a:lnTo>
                    <a:lnTo>
                      <a:pt x="83" y="1"/>
                    </a:lnTo>
                    <a:lnTo>
                      <a:pt x="82" y="0"/>
                    </a:lnTo>
                    <a:lnTo>
                      <a:pt x="73"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8" name="Freeform 328">
                <a:extLst>
                  <a:ext uri="{FF2B5EF4-FFF2-40B4-BE49-F238E27FC236}">
                    <a16:creationId xmlns:a16="http://schemas.microsoft.com/office/drawing/2014/main" id="{2F22A8A6-47B9-44F1-C10C-323ECD425800}"/>
                  </a:ext>
                </a:extLst>
              </p:cNvPr>
              <p:cNvSpPr>
                <a:spLocks/>
              </p:cNvSpPr>
              <p:nvPr/>
            </p:nvSpPr>
            <p:spPr bwMode="auto">
              <a:xfrm>
                <a:off x="2008" y="2888"/>
                <a:ext cx="23" cy="13"/>
              </a:xfrm>
              <a:custGeom>
                <a:avLst/>
                <a:gdLst>
                  <a:gd name="T0" fmla="*/ 0 w 14"/>
                  <a:gd name="T1" fmla="*/ 182 h 11"/>
                  <a:gd name="T2" fmla="*/ 60339 w 14"/>
                  <a:gd name="T3" fmla="*/ 300 h 11"/>
                  <a:gd name="T4" fmla="*/ 60339 w 14"/>
                  <a:gd name="T5" fmla="*/ 343 h 11"/>
                  <a:gd name="T6" fmla="*/ 375225 w 14"/>
                  <a:gd name="T7" fmla="*/ 1 h 11"/>
                  <a:gd name="T8" fmla="*/ 375225 w 14"/>
                  <a:gd name="T9" fmla="*/ 0 h 11"/>
                  <a:gd name="T10" fmla="*/ 439537 w 14"/>
                  <a:gd name="T11" fmla="*/ 110 h 11"/>
                  <a:gd name="T12" fmla="*/ 0 w 14"/>
                  <a:gd name="T13" fmla="*/ 182 h 11"/>
                  <a:gd name="T14" fmla="*/ 0 w 14"/>
                  <a:gd name="T15" fmla="*/ 254 h 11"/>
                  <a:gd name="T16" fmla="*/ 60339 w 14"/>
                  <a:gd name="T17" fmla="*/ 300 h 11"/>
                  <a:gd name="T18" fmla="*/ 0 w 14"/>
                  <a:gd name="T19" fmla="*/ 182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1"/>
                  <a:gd name="T32" fmla="*/ 14 w 14"/>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1">
                    <a:moveTo>
                      <a:pt x="0" y="6"/>
                    </a:moveTo>
                    <a:lnTo>
                      <a:pt x="2" y="9"/>
                    </a:lnTo>
                    <a:lnTo>
                      <a:pt x="2" y="10"/>
                    </a:lnTo>
                    <a:lnTo>
                      <a:pt x="11" y="1"/>
                    </a:lnTo>
                    <a:lnTo>
                      <a:pt x="11" y="0"/>
                    </a:lnTo>
                    <a:lnTo>
                      <a:pt x="13" y="3"/>
                    </a:lnTo>
                    <a:lnTo>
                      <a:pt x="0" y="6"/>
                    </a:lnTo>
                    <a:lnTo>
                      <a:pt x="0" y="8"/>
                    </a:lnTo>
                    <a:lnTo>
                      <a:pt x="2" y="9"/>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9" name="Freeform 329">
                <a:extLst>
                  <a:ext uri="{FF2B5EF4-FFF2-40B4-BE49-F238E27FC236}">
                    <a16:creationId xmlns:a16="http://schemas.microsoft.com/office/drawing/2014/main" id="{722D6559-0A5F-5FD4-B54D-788B7F341EFB}"/>
                  </a:ext>
                </a:extLst>
              </p:cNvPr>
              <p:cNvSpPr>
                <a:spLocks/>
              </p:cNvSpPr>
              <p:nvPr/>
            </p:nvSpPr>
            <p:spPr bwMode="auto">
              <a:xfrm>
                <a:off x="1859" y="2861"/>
                <a:ext cx="172" cy="36"/>
              </a:xfrm>
              <a:custGeom>
                <a:avLst/>
                <a:gdLst>
                  <a:gd name="T0" fmla="*/ 0 w 104"/>
                  <a:gd name="T1" fmla="*/ 149 h 30"/>
                  <a:gd name="T2" fmla="*/ 310460 w 104"/>
                  <a:gd name="T3" fmla="*/ 642 h 30"/>
                  <a:gd name="T4" fmla="*/ 823227 w 104"/>
                  <a:gd name="T5" fmla="*/ 820 h 30"/>
                  <a:gd name="T6" fmla="*/ 1404400 w 104"/>
                  <a:gd name="T7" fmla="*/ 953 h 30"/>
                  <a:gd name="T8" fmla="*/ 1967544 w 104"/>
                  <a:gd name="T9" fmla="*/ 984 h 30"/>
                  <a:gd name="T10" fmla="*/ 2606496 w 104"/>
                  <a:gd name="T11" fmla="*/ 1080 h 30"/>
                  <a:gd name="T12" fmla="*/ 3143882 w 104"/>
                  <a:gd name="T13" fmla="*/ 1144 h 30"/>
                  <a:gd name="T14" fmla="*/ 3421168 w 104"/>
                  <a:gd name="T15" fmla="*/ 1219 h 30"/>
                  <a:gd name="T16" fmla="*/ 3487763 w 104"/>
                  <a:gd name="T17" fmla="*/ 1331 h 30"/>
                  <a:gd name="T18" fmla="*/ 3985470 w 104"/>
                  <a:gd name="T19" fmla="*/ 1181 h 30"/>
                  <a:gd name="T20" fmla="*/ 3684152 w 104"/>
                  <a:gd name="T21" fmla="*/ 750 h 30"/>
                  <a:gd name="T22" fmla="*/ 3210488 w 104"/>
                  <a:gd name="T23" fmla="*/ 535 h 30"/>
                  <a:gd name="T24" fmla="*/ 2621895 w 104"/>
                  <a:gd name="T25" fmla="*/ 446 h 30"/>
                  <a:gd name="T26" fmla="*/ 2068613 w 104"/>
                  <a:gd name="T27" fmla="*/ 434 h 30"/>
                  <a:gd name="T28" fmla="*/ 1428035 w 104"/>
                  <a:gd name="T29" fmla="*/ 372 h 30"/>
                  <a:gd name="T30" fmla="*/ 958573 w 104"/>
                  <a:gd name="T31" fmla="*/ 215 h 30"/>
                  <a:gd name="T32" fmla="*/ 607874 w 104"/>
                  <a:gd name="T33" fmla="*/ 2 h 30"/>
                  <a:gd name="T34" fmla="*/ 513453 w 104"/>
                  <a:gd name="T35" fmla="*/ 0 h 30"/>
                  <a:gd name="T36" fmla="*/ 0 w 104"/>
                  <a:gd name="T37" fmla="*/ 149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30"/>
                  <a:gd name="T59" fmla="*/ 104 w 104"/>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30">
                    <a:moveTo>
                      <a:pt x="0" y="3"/>
                    </a:moveTo>
                    <a:lnTo>
                      <a:pt x="8" y="14"/>
                    </a:lnTo>
                    <a:lnTo>
                      <a:pt x="21" y="18"/>
                    </a:lnTo>
                    <a:lnTo>
                      <a:pt x="36" y="21"/>
                    </a:lnTo>
                    <a:lnTo>
                      <a:pt x="51" y="22"/>
                    </a:lnTo>
                    <a:lnTo>
                      <a:pt x="67" y="23"/>
                    </a:lnTo>
                    <a:lnTo>
                      <a:pt x="81" y="25"/>
                    </a:lnTo>
                    <a:lnTo>
                      <a:pt x="88" y="27"/>
                    </a:lnTo>
                    <a:lnTo>
                      <a:pt x="90" y="29"/>
                    </a:lnTo>
                    <a:lnTo>
                      <a:pt x="103" y="26"/>
                    </a:lnTo>
                    <a:lnTo>
                      <a:pt x="95" y="16"/>
                    </a:lnTo>
                    <a:lnTo>
                      <a:pt x="83" y="12"/>
                    </a:lnTo>
                    <a:lnTo>
                      <a:pt x="68" y="10"/>
                    </a:lnTo>
                    <a:lnTo>
                      <a:pt x="53" y="9"/>
                    </a:lnTo>
                    <a:lnTo>
                      <a:pt x="37" y="8"/>
                    </a:lnTo>
                    <a:lnTo>
                      <a:pt x="25" y="5"/>
                    </a:lnTo>
                    <a:lnTo>
                      <a:pt x="16"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0" name="Freeform 330">
                <a:extLst>
                  <a:ext uri="{FF2B5EF4-FFF2-40B4-BE49-F238E27FC236}">
                    <a16:creationId xmlns:a16="http://schemas.microsoft.com/office/drawing/2014/main" id="{1A280CEC-CFED-F1A8-213E-4FC21A6E4DFF}"/>
                  </a:ext>
                </a:extLst>
              </p:cNvPr>
              <p:cNvSpPr>
                <a:spLocks/>
              </p:cNvSpPr>
              <p:nvPr/>
            </p:nvSpPr>
            <p:spPr bwMode="auto">
              <a:xfrm>
                <a:off x="1859" y="2793"/>
                <a:ext cx="137" cy="75"/>
              </a:xfrm>
              <a:custGeom>
                <a:avLst/>
                <a:gdLst>
                  <a:gd name="T0" fmla="*/ 2566051 w 83"/>
                  <a:gd name="T1" fmla="*/ 121 h 64"/>
                  <a:gd name="T2" fmla="*/ 2519400 w 83"/>
                  <a:gd name="T3" fmla="*/ 142 h 64"/>
                  <a:gd name="T4" fmla="*/ 2289995 w 83"/>
                  <a:gd name="T5" fmla="*/ 314 h 64"/>
                  <a:gd name="T6" fmla="*/ 1894573 w 83"/>
                  <a:gd name="T7" fmla="*/ 505 h 64"/>
                  <a:gd name="T8" fmla="*/ 1423684 w 83"/>
                  <a:gd name="T9" fmla="*/ 694 h 64"/>
                  <a:gd name="T10" fmla="*/ 901473 w 83"/>
                  <a:gd name="T11" fmla="*/ 929 h 64"/>
                  <a:gd name="T12" fmla="*/ 446998 w 83"/>
                  <a:gd name="T13" fmla="*/ 1117 h 64"/>
                  <a:gd name="T14" fmla="*/ 64690 w 83"/>
                  <a:gd name="T15" fmla="*/ 1402 h 64"/>
                  <a:gd name="T16" fmla="*/ 0 w 83"/>
                  <a:gd name="T17" fmla="*/ 1779 h 64"/>
                  <a:gd name="T18" fmla="*/ 480180 w 83"/>
                  <a:gd name="T19" fmla="*/ 1643 h 64"/>
                  <a:gd name="T20" fmla="*/ 522551 w 83"/>
                  <a:gd name="T21" fmla="*/ 1556 h 64"/>
                  <a:gd name="T22" fmla="*/ 695387 w 83"/>
                  <a:gd name="T23" fmla="*/ 1430 h 64"/>
                  <a:gd name="T24" fmla="*/ 1147807 w 83"/>
                  <a:gd name="T25" fmla="*/ 1236 h 64"/>
                  <a:gd name="T26" fmla="*/ 1639289 w 83"/>
                  <a:gd name="T27" fmla="*/ 1021 h 64"/>
                  <a:gd name="T28" fmla="*/ 2159391 w 83"/>
                  <a:gd name="T29" fmla="*/ 813 h 64"/>
                  <a:gd name="T30" fmla="*/ 2603804 w 83"/>
                  <a:gd name="T31" fmla="*/ 601 h 64"/>
                  <a:gd name="T32" fmla="*/ 2935213 w 83"/>
                  <a:gd name="T33" fmla="*/ 368 h 64"/>
                  <a:gd name="T34" fmla="*/ 3041930 w 83"/>
                  <a:gd name="T35" fmla="*/ 0 h 64"/>
                  <a:gd name="T36" fmla="*/ 2566051 w 83"/>
                  <a:gd name="T37" fmla="*/ 121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1" y="44"/>
                    </a:lnTo>
                    <a:lnTo>
                      <a:pt x="44" y="37"/>
                    </a:lnTo>
                    <a:lnTo>
                      <a:pt x="58"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1" name="Freeform 331">
                <a:extLst>
                  <a:ext uri="{FF2B5EF4-FFF2-40B4-BE49-F238E27FC236}">
                    <a16:creationId xmlns:a16="http://schemas.microsoft.com/office/drawing/2014/main" id="{B691025C-4D20-F46F-D629-78EFD02131F1}"/>
                  </a:ext>
                </a:extLst>
              </p:cNvPr>
              <p:cNvSpPr>
                <a:spLocks/>
              </p:cNvSpPr>
              <p:nvPr/>
            </p:nvSpPr>
            <p:spPr bwMode="auto">
              <a:xfrm>
                <a:off x="1823" y="2766"/>
                <a:ext cx="173" cy="34"/>
              </a:xfrm>
              <a:custGeom>
                <a:avLst/>
                <a:gdLst>
                  <a:gd name="T0" fmla="*/ 0 w 106"/>
                  <a:gd name="T1" fmla="*/ 121 h 29"/>
                  <a:gd name="T2" fmla="*/ 228735 w 106"/>
                  <a:gd name="T3" fmla="*/ 375 h 29"/>
                  <a:gd name="T4" fmla="*/ 648884 w 106"/>
                  <a:gd name="T5" fmla="*/ 505 h 29"/>
                  <a:gd name="T6" fmla="*/ 1059028 w 106"/>
                  <a:gd name="T7" fmla="*/ 579 h 29"/>
                  <a:gd name="T8" fmla="*/ 1568018 w 106"/>
                  <a:gd name="T9" fmla="*/ 592 h 29"/>
                  <a:gd name="T10" fmla="*/ 1989524 w 106"/>
                  <a:gd name="T11" fmla="*/ 605 h 29"/>
                  <a:gd name="T12" fmla="*/ 2370041 w 106"/>
                  <a:gd name="T13" fmla="*/ 679 h 29"/>
                  <a:gd name="T14" fmla="*/ 2648708 w 106"/>
                  <a:gd name="T15" fmla="*/ 709 h 29"/>
                  <a:gd name="T16" fmla="*/ 2702097 w 106"/>
                  <a:gd name="T17" fmla="*/ 810 h 29"/>
                  <a:gd name="T18" fmla="*/ 3075039 w 106"/>
                  <a:gd name="T19" fmla="*/ 691 h 29"/>
                  <a:gd name="T20" fmla="*/ 2820902 w 106"/>
                  <a:gd name="T21" fmla="*/ 375 h 29"/>
                  <a:gd name="T22" fmla="*/ 2468792 w 106"/>
                  <a:gd name="T23" fmla="*/ 314 h 29"/>
                  <a:gd name="T24" fmla="*/ 2027495 w 106"/>
                  <a:gd name="T25" fmla="*/ 268 h 29"/>
                  <a:gd name="T26" fmla="*/ 1568018 w 106"/>
                  <a:gd name="T27" fmla="*/ 229 h 29"/>
                  <a:gd name="T28" fmla="*/ 1079154 w 106"/>
                  <a:gd name="T29" fmla="*/ 229 h 29"/>
                  <a:gd name="T30" fmla="*/ 701815 w 106"/>
                  <a:gd name="T31" fmla="*/ 166 h 29"/>
                  <a:gd name="T32" fmla="*/ 466379 w 106"/>
                  <a:gd name="T33" fmla="*/ 103 h 29"/>
                  <a:gd name="T34" fmla="*/ 373313 w 106"/>
                  <a:gd name="T35" fmla="*/ 0 h 29"/>
                  <a:gd name="T36" fmla="*/ 0 w 106"/>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2" y="18"/>
                    </a:lnTo>
                    <a:lnTo>
                      <a:pt x="36" y="20"/>
                    </a:lnTo>
                    <a:lnTo>
                      <a:pt x="53" y="21"/>
                    </a:lnTo>
                    <a:lnTo>
                      <a:pt x="68" y="22"/>
                    </a:lnTo>
                    <a:lnTo>
                      <a:pt x="81" y="23"/>
                    </a:lnTo>
                    <a:lnTo>
                      <a:pt x="90" y="26"/>
                    </a:lnTo>
                    <a:lnTo>
                      <a:pt x="92" y="28"/>
                    </a:lnTo>
                    <a:lnTo>
                      <a:pt x="105" y="24"/>
                    </a:lnTo>
                    <a:lnTo>
                      <a:pt x="96" y="14"/>
                    </a:lnTo>
                    <a:lnTo>
                      <a:pt x="84" y="11"/>
                    </a:lnTo>
                    <a:lnTo>
                      <a:pt x="69" y="9"/>
                    </a:lnTo>
                    <a:lnTo>
                      <a:pt x="53" y="8"/>
                    </a:lnTo>
                    <a:lnTo>
                      <a:pt x="37"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2" name="Freeform 332">
                <a:extLst>
                  <a:ext uri="{FF2B5EF4-FFF2-40B4-BE49-F238E27FC236}">
                    <a16:creationId xmlns:a16="http://schemas.microsoft.com/office/drawing/2014/main" id="{2988822B-C51C-0B1D-03A6-4393163EA7AD}"/>
                  </a:ext>
                </a:extLst>
              </p:cNvPr>
              <p:cNvSpPr>
                <a:spLocks/>
              </p:cNvSpPr>
              <p:nvPr/>
            </p:nvSpPr>
            <p:spPr bwMode="auto">
              <a:xfrm>
                <a:off x="1823" y="2698"/>
                <a:ext cx="134" cy="74"/>
              </a:xfrm>
              <a:custGeom>
                <a:avLst/>
                <a:gdLst>
                  <a:gd name="T0" fmla="*/ 2046276 w 82"/>
                  <a:gd name="T1" fmla="*/ 69 h 65"/>
                  <a:gd name="T2" fmla="*/ 1991258 w 82"/>
                  <a:gd name="T3" fmla="*/ 90 h 65"/>
                  <a:gd name="T4" fmla="*/ 1839080 w 82"/>
                  <a:gd name="T5" fmla="*/ 183 h 65"/>
                  <a:gd name="T6" fmla="*/ 1513180 w 82"/>
                  <a:gd name="T7" fmla="*/ 270 h 65"/>
                  <a:gd name="T8" fmla="*/ 1105410 w 82"/>
                  <a:gd name="T9" fmla="*/ 398 h 65"/>
                  <a:gd name="T10" fmla="*/ 726393 w 82"/>
                  <a:gd name="T11" fmla="*/ 508 h 65"/>
                  <a:gd name="T12" fmla="*/ 326445 w 82"/>
                  <a:gd name="T13" fmla="*/ 627 h 65"/>
                  <a:gd name="T14" fmla="*/ 54362 w 82"/>
                  <a:gd name="T15" fmla="*/ 767 h 65"/>
                  <a:gd name="T16" fmla="*/ 0 w 82"/>
                  <a:gd name="T17" fmla="*/ 971 h 65"/>
                  <a:gd name="T18" fmla="*/ 387664 w 82"/>
                  <a:gd name="T19" fmla="*/ 899 h 65"/>
                  <a:gd name="T20" fmla="*/ 427217 w 82"/>
                  <a:gd name="T21" fmla="*/ 865 h 65"/>
                  <a:gd name="T22" fmla="*/ 608172 w 82"/>
                  <a:gd name="T23" fmla="*/ 767 h 65"/>
                  <a:gd name="T24" fmla="*/ 905400 w 82"/>
                  <a:gd name="T25" fmla="*/ 674 h 65"/>
                  <a:gd name="T26" fmla="*/ 1332638 w 82"/>
                  <a:gd name="T27" fmla="*/ 575 h 65"/>
                  <a:gd name="T28" fmla="*/ 1712129 w 82"/>
                  <a:gd name="T29" fmla="*/ 453 h 65"/>
                  <a:gd name="T30" fmla="*/ 2100009 w 82"/>
                  <a:gd name="T31" fmla="*/ 328 h 65"/>
                  <a:gd name="T32" fmla="*/ 2350329 w 82"/>
                  <a:gd name="T33" fmla="*/ 195 h 65"/>
                  <a:gd name="T34" fmla="*/ 2438921 w 82"/>
                  <a:gd name="T35" fmla="*/ 0 h 65"/>
                  <a:gd name="T36" fmla="*/ 2046276 w 82"/>
                  <a:gd name="T37" fmla="*/ 6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5"/>
                  <a:gd name="T59" fmla="*/ 82 w 82"/>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5">
                    <a:moveTo>
                      <a:pt x="68" y="4"/>
                    </a:moveTo>
                    <a:lnTo>
                      <a:pt x="66" y="6"/>
                    </a:lnTo>
                    <a:lnTo>
                      <a:pt x="61" y="12"/>
                    </a:lnTo>
                    <a:lnTo>
                      <a:pt x="50" y="18"/>
                    </a:lnTo>
                    <a:lnTo>
                      <a:pt x="37" y="26"/>
                    </a:lnTo>
                    <a:lnTo>
                      <a:pt x="24" y="33"/>
                    </a:lnTo>
                    <a:lnTo>
                      <a:pt x="11" y="41"/>
                    </a:lnTo>
                    <a:lnTo>
                      <a:pt x="2" y="51"/>
                    </a:lnTo>
                    <a:lnTo>
                      <a:pt x="0" y="64"/>
                    </a:lnTo>
                    <a:lnTo>
                      <a:pt x="13" y="60"/>
                    </a:lnTo>
                    <a:lnTo>
                      <a:pt x="14" y="57"/>
                    </a:lnTo>
                    <a:lnTo>
                      <a:pt x="20" y="51"/>
                    </a:lnTo>
                    <a:lnTo>
                      <a:pt x="30" y="45"/>
                    </a:lnTo>
                    <a:lnTo>
                      <a:pt x="44" y="37"/>
                    </a:lnTo>
                    <a:lnTo>
                      <a:pt x="57" y="30"/>
                    </a:lnTo>
                    <a:lnTo>
                      <a:pt x="70" y="22"/>
                    </a:lnTo>
                    <a:lnTo>
                      <a:pt x="78"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3" name="Freeform 333">
                <a:extLst>
                  <a:ext uri="{FF2B5EF4-FFF2-40B4-BE49-F238E27FC236}">
                    <a16:creationId xmlns:a16="http://schemas.microsoft.com/office/drawing/2014/main" id="{28B68E40-F174-D6F0-4A70-88F6CD955D16}"/>
                  </a:ext>
                </a:extLst>
              </p:cNvPr>
              <p:cNvSpPr>
                <a:spLocks/>
              </p:cNvSpPr>
              <p:nvPr/>
            </p:nvSpPr>
            <p:spPr bwMode="auto">
              <a:xfrm>
                <a:off x="1934" y="2698"/>
                <a:ext cx="23" cy="5"/>
              </a:xfrm>
              <a:custGeom>
                <a:avLst/>
                <a:gdLst>
                  <a:gd name="T0" fmla="*/ 0 w 14"/>
                  <a:gd name="T1" fmla="*/ 4 h 5"/>
                  <a:gd name="T2" fmla="*/ 200264 w 14"/>
                  <a:gd name="T3" fmla="*/ 2 h 5"/>
                  <a:gd name="T4" fmla="*/ 439537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4" name="Freeform 334">
                <a:extLst>
                  <a:ext uri="{FF2B5EF4-FFF2-40B4-BE49-F238E27FC236}">
                    <a16:creationId xmlns:a16="http://schemas.microsoft.com/office/drawing/2014/main" id="{8B39FD26-9002-D19E-A304-5849C6A02AB6}"/>
                  </a:ext>
                </a:extLst>
              </p:cNvPr>
              <p:cNvSpPr>
                <a:spLocks/>
              </p:cNvSpPr>
              <p:nvPr/>
            </p:nvSpPr>
            <p:spPr bwMode="auto">
              <a:xfrm>
                <a:off x="1781" y="2669"/>
                <a:ext cx="176" cy="34"/>
              </a:xfrm>
              <a:custGeom>
                <a:avLst/>
                <a:gdLst>
                  <a:gd name="T0" fmla="*/ 0 w 107"/>
                  <a:gd name="T1" fmla="*/ 61 h 30"/>
                  <a:gd name="T2" fmla="*/ 272945 w 107"/>
                  <a:gd name="T3" fmla="*/ 186 h 30"/>
                  <a:gd name="T4" fmla="*/ 738470 w 107"/>
                  <a:gd name="T5" fmla="*/ 239 h 30"/>
                  <a:gd name="T6" fmla="*/ 1242572 w 107"/>
                  <a:gd name="T7" fmla="*/ 264 h 30"/>
                  <a:gd name="T8" fmla="*/ 1803036 w 107"/>
                  <a:gd name="T9" fmla="*/ 271 h 30"/>
                  <a:gd name="T10" fmla="*/ 2351955 w 107"/>
                  <a:gd name="T11" fmla="*/ 298 h 30"/>
                  <a:gd name="T12" fmla="*/ 2833329 w 107"/>
                  <a:gd name="T13" fmla="*/ 307 h 30"/>
                  <a:gd name="T14" fmla="*/ 3107351 w 107"/>
                  <a:gd name="T15" fmla="*/ 348 h 30"/>
                  <a:gd name="T16" fmla="*/ 3223782 w 107"/>
                  <a:gd name="T17" fmla="*/ 394 h 30"/>
                  <a:gd name="T18" fmla="*/ 3649694 w 107"/>
                  <a:gd name="T19" fmla="*/ 339 h 30"/>
                  <a:gd name="T20" fmla="*/ 3383873 w 107"/>
                  <a:gd name="T21" fmla="*/ 186 h 30"/>
                  <a:gd name="T22" fmla="*/ 2899460 w 107"/>
                  <a:gd name="T23" fmla="*/ 128 h 30"/>
                  <a:gd name="T24" fmla="*/ 2374059 w 107"/>
                  <a:gd name="T25" fmla="*/ 100 h 30"/>
                  <a:gd name="T26" fmla="*/ 1865939 w 107"/>
                  <a:gd name="T27" fmla="*/ 88 h 30"/>
                  <a:gd name="T28" fmla="*/ 1326479 w 107"/>
                  <a:gd name="T29" fmla="*/ 78 h 30"/>
                  <a:gd name="T30" fmla="*/ 818282 w 107"/>
                  <a:gd name="T31" fmla="*/ 69 h 30"/>
                  <a:gd name="T32" fmla="*/ 520021 w 107"/>
                  <a:gd name="T33" fmla="*/ 2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8"/>
                    </a:lnTo>
                    <a:lnTo>
                      <a:pt x="36" y="19"/>
                    </a:lnTo>
                    <a:lnTo>
                      <a:pt x="52" y="20"/>
                    </a:lnTo>
                    <a:lnTo>
                      <a:pt x="68" y="21"/>
                    </a:lnTo>
                    <a:lnTo>
                      <a:pt x="82" y="23"/>
                    </a:lnTo>
                    <a:lnTo>
                      <a:pt x="90" y="26"/>
                    </a:lnTo>
                    <a:lnTo>
                      <a:pt x="93" y="29"/>
                    </a:lnTo>
                    <a:lnTo>
                      <a:pt x="106" y="25"/>
                    </a:lnTo>
                    <a:lnTo>
                      <a:pt x="98" y="14"/>
                    </a:lnTo>
                    <a:lnTo>
                      <a:pt x="84" y="10"/>
                    </a:lnTo>
                    <a:lnTo>
                      <a:pt x="69" y="8"/>
                    </a:lnTo>
                    <a:lnTo>
                      <a:pt x="54" y="7"/>
                    </a:lnTo>
                    <a:lnTo>
                      <a:pt x="38" y="6"/>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5" name="Freeform 335">
                <a:extLst>
                  <a:ext uri="{FF2B5EF4-FFF2-40B4-BE49-F238E27FC236}">
                    <a16:creationId xmlns:a16="http://schemas.microsoft.com/office/drawing/2014/main" id="{C842C160-B23C-444F-91A7-621A70AD43A4}"/>
                  </a:ext>
                </a:extLst>
              </p:cNvPr>
              <p:cNvSpPr>
                <a:spLocks/>
              </p:cNvSpPr>
              <p:nvPr/>
            </p:nvSpPr>
            <p:spPr bwMode="auto">
              <a:xfrm>
                <a:off x="1781" y="2602"/>
                <a:ext cx="137" cy="72"/>
              </a:xfrm>
              <a:custGeom>
                <a:avLst/>
                <a:gdLst>
                  <a:gd name="T0" fmla="*/ 2021003 w 84"/>
                  <a:gd name="T1" fmla="*/ 73 h 63"/>
                  <a:gd name="T2" fmla="*/ 2001462 w 84"/>
                  <a:gd name="T3" fmla="*/ 109 h 63"/>
                  <a:gd name="T4" fmla="*/ 1826807 w 84"/>
                  <a:gd name="T5" fmla="*/ 213 h 63"/>
                  <a:gd name="T6" fmla="*/ 1510138 w 84"/>
                  <a:gd name="T7" fmla="*/ 318 h 63"/>
                  <a:gd name="T8" fmla="*/ 1100537 w 84"/>
                  <a:gd name="T9" fmla="*/ 426 h 63"/>
                  <a:gd name="T10" fmla="*/ 726030 w 84"/>
                  <a:gd name="T11" fmla="*/ 542 h 63"/>
                  <a:gd name="T12" fmla="*/ 361054 w 84"/>
                  <a:gd name="T13" fmla="*/ 671 h 63"/>
                  <a:gd name="T14" fmla="*/ 84992 w 84"/>
                  <a:gd name="T15" fmla="*/ 808 h 63"/>
                  <a:gd name="T16" fmla="*/ 0 w 84"/>
                  <a:gd name="T17" fmla="*/ 1032 h 63"/>
                  <a:gd name="T18" fmla="*/ 368724 w 84"/>
                  <a:gd name="T19" fmla="*/ 951 h 63"/>
                  <a:gd name="T20" fmla="*/ 413735 w 84"/>
                  <a:gd name="T21" fmla="*/ 941 h 63"/>
                  <a:gd name="T22" fmla="*/ 588862 w 84"/>
                  <a:gd name="T23" fmla="*/ 832 h 63"/>
                  <a:gd name="T24" fmla="*/ 900861 w 84"/>
                  <a:gd name="T25" fmla="*/ 720 h 63"/>
                  <a:gd name="T26" fmla="*/ 1290855 w 84"/>
                  <a:gd name="T27" fmla="*/ 619 h 63"/>
                  <a:gd name="T28" fmla="*/ 1709551 w 84"/>
                  <a:gd name="T29" fmla="*/ 514 h 63"/>
                  <a:gd name="T30" fmla="*/ 2053106 w 84"/>
                  <a:gd name="T31" fmla="*/ 373 h 63"/>
                  <a:gd name="T32" fmla="*/ 2338756 w 84"/>
                  <a:gd name="T33" fmla="*/ 213 h 63"/>
                  <a:gd name="T34" fmla="*/ 2396295 w 84"/>
                  <a:gd name="T35" fmla="*/ 0 h 63"/>
                  <a:gd name="T36" fmla="*/ 2021003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7"/>
                    </a:lnTo>
                    <a:lnTo>
                      <a:pt x="63" y="13"/>
                    </a:lnTo>
                    <a:lnTo>
                      <a:pt x="52" y="19"/>
                    </a:lnTo>
                    <a:lnTo>
                      <a:pt x="38" y="26"/>
                    </a:lnTo>
                    <a:lnTo>
                      <a:pt x="25" y="33"/>
                    </a:lnTo>
                    <a:lnTo>
                      <a:pt x="12" y="40"/>
                    </a:lnTo>
                    <a:lnTo>
                      <a:pt x="3" y="49"/>
                    </a:lnTo>
                    <a:lnTo>
                      <a:pt x="0" y="62"/>
                    </a:lnTo>
                    <a:lnTo>
                      <a:pt x="13" y="58"/>
                    </a:lnTo>
                    <a:lnTo>
                      <a:pt x="14" y="57"/>
                    </a:lnTo>
                    <a:lnTo>
                      <a:pt x="20" y="51"/>
                    </a:lnTo>
                    <a:lnTo>
                      <a:pt x="31" y="44"/>
                    </a:lnTo>
                    <a:lnTo>
                      <a:pt x="45" y="38"/>
                    </a:lnTo>
                    <a:lnTo>
                      <a:pt x="59" y="31"/>
                    </a:lnTo>
                    <a:lnTo>
                      <a:pt x="71" y="23"/>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6" name="Freeform 336">
                <a:extLst>
                  <a:ext uri="{FF2B5EF4-FFF2-40B4-BE49-F238E27FC236}">
                    <a16:creationId xmlns:a16="http://schemas.microsoft.com/office/drawing/2014/main" id="{4855AFF6-BC3E-138B-B668-C20EB9F570C1}"/>
                  </a:ext>
                </a:extLst>
              </p:cNvPr>
              <p:cNvSpPr>
                <a:spLocks/>
              </p:cNvSpPr>
              <p:nvPr/>
            </p:nvSpPr>
            <p:spPr bwMode="auto">
              <a:xfrm>
                <a:off x="1745" y="2574"/>
                <a:ext cx="173" cy="33"/>
              </a:xfrm>
              <a:custGeom>
                <a:avLst/>
                <a:gdLst>
                  <a:gd name="T0" fmla="*/ 0 w 106"/>
                  <a:gd name="T1" fmla="*/ 3 h 29"/>
                  <a:gd name="T2" fmla="*/ 228735 w 106"/>
                  <a:gd name="T3" fmla="*/ 191 h 29"/>
                  <a:gd name="T4" fmla="*/ 609275 w 106"/>
                  <a:gd name="T5" fmla="*/ 247 h 29"/>
                  <a:gd name="T6" fmla="*/ 1059028 w 106"/>
                  <a:gd name="T7" fmla="*/ 281 h 29"/>
                  <a:gd name="T8" fmla="*/ 1530828 w 106"/>
                  <a:gd name="T9" fmla="*/ 306 h 29"/>
                  <a:gd name="T10" fmla="*/ 1964446 w 106"/>
                  <a:gd name="T11" fmla="*/ 306 h 29"/>
                  <a:gd name="T12" fmla="*/ 2370041 w 106"/>
                  <a:gd name="T13" fmla="*/ 320 h 29"/>
                  <a:gd name="T14" fmla="*/ 2613447 w 106"/>
                  <a:gd name="T15" fmla="*/ 364 h 29"/>
                  <a:gd name="T16" fmla="*/ 2702097 w 106"/>
                  <a:gd name="T17" fmla="*/ 414 h 29"/>
                  <a:gd name="T18" fmla="*/ 3075039 w 106"/>
                  <a:gd name="T19" fmla="*/ 360 h 29"/>
                  <a:gd name="T20" fmla="*/ 2841860 w 106"/>
                  <a:gd name="T21" fmla="*/ 207 h 29"/>
                  <a:gd name="T22" fmla="*/ 2468792 w 106"/>
                  <a:gd name="T23" fmla="*/ 130 h 29"/>
                  <a:gd name="T24" fmla="*/ 2027495 w 106"/>
                  <a:gd name="T25" fmla="*/ 100 h 29"/>
                  <a:gd name="T26" fmla="*/ 1530828 w 106"/>
                  <a:gd name="T27" fmla="*/ 100 h 29"/>
                  <a:gd name="T28" fmla="*/ 1079154 w 106"/>
                  <a:gd name="T29" fmla="*/ 88 h 29"/>
                  <a:gd name="T30" fmla="*/ 701815 w 106"/>
                  <a:gd name="T31" fmla="*/ 68 h 29"/>
                  <a:gd name="T32" fmla="*/ 430014 w 106"/>
                  <a:gd name="T33" fmla="*/ 1 h 29"/>
                  <a:gd name="T34" fmla="*/ 373313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0"/>
                    </a:lnTo>
                    <a:lnTo>
                      <a:pt x="81" y="22"/>
                    </a:lnTo>
                    <a:lnTo>
                      <a:pt x="89" y="25"/>
                    </a:lnTo>
                    <a:lnTo>
                      <a:pt x="92" y="28"/>
                    </a:lnTo>
                    <a:lnTo>
                      <a:pt x="105" y="24"/>
                    </a:lnTo>
                    <a:lnTo>
                      <a:pt x="97" y="14"/>
                    </a:lnTo>
                    <a:lnTo>
                      <a:pt x="84" y="9"/>
                    </a:lnTo>
                    <a:lnTo>
                      <a:pt x="69" y="7"/>
                    </a:lnTo>
                    <a:lnTo>
                      <a:pt x="52"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sp>
          <p:nvSpPr>
            <p:cNvPr id="22559" name="Line 337">
              <a:extLst>
                <a:ext uri="{FF2B5EF4-FFF2-40B4-BE49-F238E27FC236}">
                  <a16:creationId xmlns:a16="http://schemas.microsoft.com/office/drawing/2014/main" id="{E659F188-6BD5-CECB-1D50-C2B3EBE752E8}"/>
                </a:ext>
              </a:extLst>
            </p:cNvPr>
            <p:cNvSpPr>
              <a:spLocks noChangeShapeType="1"/>
            </p:cNvSpPr>
            <p:nvPr/>
          </p:nvSpPr>
          <p:spPr bwMode="auto">
            <a:xfrm>
              <a:off x="1795" y="2520"/>
              <a:ext cx="91" cy="136"/>
            </a:xfrm>
            <a:prstGeom prst="line">
              <a:avLst/>
            </a:prstGeom>
            <a:noFill/>
            <a:ln w="41275">
              <a:solidFill>
                <a:srgbClr val="FFCC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39602" name="Rectangle 338">
            <a:extLst>
              <a:ext uri="{FF2B5EF4-FFF2-40B4-BE49-F238E27FC236}">
                <a16:creationId xmlns:a16="http://schemas.microsoft.com/office/drawing/2014/main" id="{4735A623-DB0B-578B-3C53-C74E6C87E75D}"/>
              </a:ext>
            </a:extLst>
          </p:cNvPr>
          <p:cNvSpPr>
            <a:spLocks noChangeArrowheads="1"/>
          </p:cNvSpPr>
          <p:nvPr/>
        </p:nvSpPr>
        <p:spPr bwMode="auto">
          <a:xfrm>
            <a:off x="457200" y="3579873"/>
            <a:ext cx="174625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Some solar radiation is absorbed by clouds and other gases</a:t>
            </a:r>
          </a:p>
        </p:txBody>
      </p:sp>
      <p:sp>
        <p:nvSpPr>
          <p:cNvPr id="139603" name="Rectangle 339">
            <a:extLst>
              <a:ext uri="{FF2B5EF4-FFF2-40B4-BE49-F238E27FC236}">
                <a16:creationId xmlns:a16="http://schemas.microsoft.com/office/drawing/2014/main" id="{1B295B5C-01E1-58E2-F954-486610532D1B}"/>
              </a:ext>
            </a:extLst>
          </p:cNvPr>
          <p:cNvSpPr>
            <a:spLocks noChangeArrowheads="1"/>
          </p:cNvSpPr>
          <p:nvPr/>
        </p:nvSpPr>
        <p:spPr bwMode="auto">
          <a:xfrm>
            <a:off x="6742113" y="2840098"/>
            <a:ext cx="180340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This </a:t>
            </a:r>
            <a:r>
              <a:rPr lang="en-GB" altLang="en-US" sz="1200" b="1">
                <a:solidFill>
                  <a:srgbClr val="FF0000"/>
                </a:solidFill>
                <a:latin typeface="Arial" panose="020B0604020202020204" pitchFamily="34" charset="0"/>
              </a:rPr>
              <a:t>warms</a:t>
            </a:r>
            <a:r>
              <a:rPr lang="en-GB" altLang="en-US" sz="1200" b="1">
                <a:solidFill>
                  <a:srgbClr val="000000"/>
                </a:solidFill>
                <a:latin typeface="Arial" panose="020B0604020202020204" pitchFamily="34" charset="0"/>
              </a:rPr>
              <a:t> the surface and the atmosphere</a:t>
            </a:r>
          </a:p>
        </p:txBody>
      </p:sp>
      <p:sp>
        <p:nvSpPr>
          <p:cNvPr id="139604" name="Line 340">
            <a:extLst>
              <a:ext uri="{FF2B5EF4-FFF2-40B4-BE49-F238E27FC236}">
                <a16:creationId xmlns:a16="http://schemas.microsoft.com/office/drawing/2014/main" id="{FE21747B-4C82-1721-9854-754DD2E72A2F}"/>
              </a:ext>
            </a:extLst>
          </p:cNvPr>
          <p:cNvSpPr>
            <a:spLocks noChangeShapeType="1"/>
          </p:cNvSpPr>
          <p:nvPr/>
        </p:nvSpPr>
        <p:spPr bwMode="auto">
          <a:xfrm>
            <a:off x="400050" y="3548123"/>
            <a:ext cx="8553450" cy="0"/>
          </a:xfrm>
          <a:prstGeom prst="line">
            <a:avLst/>
          </a:prstGeom>
          <a:noFill/>
          <a:ln w="15875">
            <a:solidFill>
              <a:srgbClr val="99CC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9605" name="Rectangle 341">
            <a:extLst>
              <a:ext uri="{FF2B5EF4-FFF2-40B4-BE49-F238E27FC236}">
                <a16:creationId xmlns:a16="http://schemas.microsoft.com/office/drawing/2014/main" id="{0F08C7CD-88A0-191B-C0D7-C88A70880BD2}"/>
              </a:ext>
            </a:extLst>
          </p:cNvPr>
          <p:cNvSpPr>
            <a:spLocks noChangeArrowheads="1"/>
          </p:cNvSpPr>
          <p:nvPr/>
        </p:nvSpPr>
        <p:spPr bwMode="auto">
          <a:xfrm>
            <a:off x="4452938" y="5742048"/>
            <a:ext cx="8302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600" b="1">
                <a:solidFill>
                  <a:srgbClr val="712000"/>
                </a:solidFill>
                <a:latin typeface="Arial" panose="020B0604020202020204" pitchFamily="34" charset="0"/>
              </a:rPr>
              <a:t>EARTH</a:t>
            </a:r>
          </a:p>
          <a:p>
            <a:pPr algn="ctr">
              <a:lnSpc>
                <a:spcPct val="100000"/>
              </a:lnSpc>
              <a:spcBef>
                <a:spcPct val="0"/>
              </a:spcBef>
              <a:buFontTx/>
              <a:buNone/>
            </a:pPr>
            <a:endParaRPr lang="en-GB" altLang="en-US" sz="1400" b="1">
              <a:solidFill>
                <a:srgbClr val="712000"/>
              </a:solidFill>
              <a:latin typeface="Arial" panose="020B0604020202020204" pitchFamily="34" charset="0"/>
            </a:endParaRPr>
          </a:p>
        </p:txBody>
      </p:sp>
      <p:sp>
        <p:nvSpPr>
          <p:cNvPr id="139607" name="Rectangle 343">
            <a:extLst>
              <a:ext uri="{FF2B5EF4-FFF2-40B4-BE49-F238E27FC236}">
                <a16:creationId xmlns:a16="http://schemas.microsoft.com/office/drawing/2014/main" id="{57B9166E-A3AB-1986-A0EC-4962A85F6D44}"/>
              </a:ext>
            </a:extLst>
          </p:cNvPr>
          <p:cNvSpPr>
            <a:spLocks noChangeArrowheads="1"/>
          </p:cNvSpPr>
          <p:nvPr/>
        </p:nvSpPr>
        <p:spPr bwMode="auto">
          <a:xfrm>
            <a:off x="1096963" y="5000686"/>
            <a:ext cx="17875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Most solar radiation</a:t>
            </a:r>
          </a:p>
          <a:p>
            <a:pPr algn="ctr">
              <a:lnSpc>
                <a:spcPct val="100000"/>
              </a:lnSpc>
              <a:spcBef>
                <a:spcPct val="0"/>
              </a:spcBef>
              <a:buFontTx/>
              <a:buNone/>
            </a:pPr>
            <a:r>
              <a:rPr lang="en-GB" altLang="en-US" sz="1200" b="1">
                <a:solidFill>
                  <a:srgbClr val="000000"/>
                </a:solidFill>
                <a:latin typeface="Arial" panose="020B0604020202020204" pitchFamily="34" charset="0"/>
              </a:rPr>
              <a:t>Passes straight through the atmosphere</a:t>
            </a:r>
          </a:p>
        </p:txBody>
      </p:sp>
      <p:sp>
        <p:nvSpPr>
          <p:cNvPr id="9" name="Freeform 13">
            <a:extLst>
              <a:ext uri="{FF2B5EF4-FFF2-40B4-BE49-F238E27FC236}">
                <a16:creationId xmlns:a16="http://schemas.microsoft.com/office/drawing/2014/main" id="{D8B3C5BC-4E54-2575-8C58-16AD7838C89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11" name="TextBox 14">
            <a:extLst>
              <a:ext uri="{FF2B5EF4-FFF2-40B4-BE49-F238E27FC236}">
                <a16:creationId xmlns:a16="http://schemas.microsoft.com/office/drawing/2014/main" id="{C083A62F-BDCA-8A94-BC91-0E443F16BA48}"/>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Greenhouse Effect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139268"/>
                                        </p:tgtEl>
                                        <p:attrNameLst>
                                          <p:attrName>style.visibility</p:attrName>
                                        </p:attrNameLst>
                                      </p:cBhvr>
                                      <p:to>
                                        <p:strVal val="visible"/>
                                      </p:to>
                                    </p:set>
                                    <p:anim calcmode="lin" valueType="num">
                                      <p:cBhvr additive="base">
                                        <p:cTn id="7" dur="500" fill="hold"/>
                                        <p:tgtEl>
                                          <p:spTgt spid="139268"/>
                                        </p:tgtEl>
                                        <p:attrNameLst>
                                          <p:attrName>ppt_x</p:attrName>
                                        </p:attrNameLst>
                                      </p:cBhvr>
                                      <p:tavLst>
                                        <p:tav tm="0">
                                          <p:val>
                                            <p:strVal val="#ppt_x"/>
                                          </p:val>
                                        </p:tav>
                                        <p:tav tm="100000">
                                          <p:val>
                                            <p:strVal val="#ppt_x"/>
                                          </p:val>
                                        </p:tav>
                                      </p:tavLst>
                                    </p:anim>
                                    <p:anim calcmode="lin" valueType="num">
                                      <p:cBhvr additive="base">
                                        <p:cTn id="8" dur="500" fill="hold"/>
                                        <p:tgtEl>
                                          <p:spTgt spid="13926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9605"/>
                                        </p:tgtEl>
                                        <p:attrNameLst>
                                          <p:attrName>style.visibility</p:attrName>
                                        </p:attrNameLst>
                                      </p:cBhvr>
                                      <p:to>
                                        <p:strVal val="visible"/>
                                      </p:to>
                                    </p:set>
                                    <p:anim calcmode="lin" valueType="num">
                                      <p:cBhvr additive="base">
                                        <p:cTn id="11" dur="500" fill="hold"/>
                                        <p:tgtEl>
                                          <p:spTgt spid="139605"/>
                                        </p:tgtEl>
                                        <p:attrNameLst>
                                          <p:attrName>ppt_x</p:attrName>
                                        </p:attrNameLst>
                                      </p:cBhvr>
                                      <p:tavLst>
                                        <p:tav tm="0">
                                          <p:val>
                                            <p:strVal val="#ppt_x"/>
                                          </p:val>
                                        </p:tav>
                                        <p:tav tm="100000">
                                          <p:val>
                                            <p:strVal val="#ppt_x"/>
                                          </p:val>
                                        </p:tav>
                                      </p:tavLst>
                                    </p:anim>
                                    <p:anim calcmode="lin" valueType="num">
                                      <p:cBhvr additive="base">
                                        <p:cTn id="12" dur="500" fill="hold"/>
                                        <p:tgtEl>
                                          <p:spTgt spid="139605"/>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200"/>
                                  </p:stCondLst>
                                  <p:childTnLst>
                                    <p:set>
                                      <p:cBhvr>
                                        <p:cTn id="15" dur="1" fill="hold">
                                          <p:stCondLst>
                                            <p:cond delay="0"/>
                                          </p:stCondLst>
                                        </p:cTn>
                                        <p:tgtEl>
                                          <p:spTgt spid="139266"/>
                                        </p:tgtEl>
                                        <p:attrNameLst>
                                          <p:attrName>style.visibility</p:attrName>
                                        </p:attrNameLst>
                                      </p:cBhvr>
                                      <p:to>
                                        <p:strVal val="visible"/>
                                      </p:to>
                                    </p:set>
                                    <p:anim calcmode="lin" valueType="num">
                                      <p:cBhvr additive="base">
                                        <p:cTn id="16" dur="500" fill="hold"/>
                                        <p:tgtEl>
                                          <p:spTgt spid="139266"/>
                                        </p:tgtEl>
                                        <p:attrNameLst>
                                          <p:attrName>ppt_x</p:attrName>
                                        </p:attrNameLst>
                                      </p:cBhvr>
                                      <p:tavLst>
                                        <p:tav tm="0">
                                          <p:val>
                                            <p:strVal val="#ppt_x"/>
                                          </p:val>
                                        </p:tav>
                                        <p:tav tm="100000">
                                          <p:val>
                                            <p:strVal val="#ppt_x"/>
                                          </p:val>
                                        </p:tav>
                                      </p:tavLst>
                                    </p:anim>
                                    <p:anim calcmode="lin" valueType="num">
                                      <p:cBhvr additive="base">
                                        <p:cTn id="17" dur="500" fill="hold"/>
                                        <p:tgtEl>
                                          <p:spTgt spid="139266"/>
                                        </p:tgtEl>
                                        <p:attrNameLst>
                                          <p:attrName>ppt_y</p:attrName>
                                        </p:attrNameLst>
                                      </p:cBhvr>
                                      <p:tavLst>
                                        <p:tav tm="0">
                                          <p:val>
                                            <p:strVal val="0-#ppt_h/2"/>
                                          </p:val>
                                        </p:tav>
                                        <p:tav tm="100000">
                                          <p:val>
                                            <p:strVal val="#ppt_y"/>
                                          </p:val>
                                        </p:tav>
                                      </p:tavLst>
                                    </p:anim>
                                  </p:childTnLst>
                                </p:cTn>
                              </p:par>
                              <p:par>
                                <p:cTn id="18" presetID="2" presetClass="entr" presetSubtype="1" fill="hold" grpId="0" nodeType="withEffect">
                                  <p:stCondLst>
                                    <p:cond delay="0"/>
                                  </p:stCondLst>
                                  <p:childTnLst>
                                    <p:set>
                                      <p:cBhvr>
                                        <p:cTn id="19" dur="1" fill="hold">
                                          <p:stCondLst>
                                            <p:cond delay="0"/>
                                          </p:stCondLst>
                                        </p:cTn>
                                        <p:tgtEl>
                                          <p:spTgt spid="139571"/>
                                        </p:tgtEl>
                                        <p:attrNameLst>
                                          <p:attrName>style.visibility</p:attrName>
                                        </p:attrNameLst>
                                      </p:cBhvr>
                                      <p:to>
                                        <p:strVal val="visible"/>
                                      </p:to>
                                    </p:set>
                                    <p:anim calcmode="lin" valueType="num">
                                      <p:cBhvr additive="base">
                                        <p:cTn id="20" dur="500" fill="hold"/>
                                        <p:tgtEl>
                                          <p:spTgt spid="139571"/>
                                        </p:tgtEl>
                                        <p:attrNameLst>
                                          <p:attrName>ppt_x</p:attrName>
                                        </p:attrNameLst>
                                      </p:cBhvr>
                                      <p:tavLst>
                                        <p:tav tm="0">
                                          <p:val>
                                            <p:strVal val="#ppt_x"/>
                                          </p:val>
                                        </p:tav>
                                        <p:tav tm="100000">
                                          <p:val>
                                            <p:strVal val="#ppt_x"/>
                                          </p:val>
                                        </p:tav>
                                      </p:tavLst>
                                    </p:anim>
                                    <p:anim calcmode="lin" valueType="num">
                                      <p:cBhvr additive="base">
                                        <p:cTn id="21" dur="500" fill="hold"/>
                                        <p:tgtEl>
                                          <p:spTgt spid="139571"/>
                                        </p:tgtEl>
                                        <p:attrNameLst>
                                          <p:attrName>ppt_y</p:attrName>
                                        </p:attrNameLst>
                                      </p:cBhvr>
                                      <p:tavLst>
                                        <p:tav tm="0">
                                          <p:val>
                                            <p:strVal val="0-#ppt_h/2"/>
                                          </p:val>
                                        </p:tav>
                                        <p:tav tm="100000">
                                          <p:val>
                                            <p:strVal val="#ppt_y"/>
                                          </p:val>
                                        </p:tav>
                                      </p:tavLst>
                                    </p:anim>
                                  </p:childTnLst>
                                </p:cTn>
                              </p:par>
                            </p:childTnLst>
                          </p:cTn>
                        </p:par>
                        <p:par>
                          <p:cTn id="22" fill="hold" nodeType="afterGroup">
                            <p:stCondLst>
                              <p:cond delay="1200"/>
                            </p:stCondLst>
                            <p:childTnLst>
                              <p:par>
                                <p:cTn id="23" presetID="3" presetClass="entr" presetSubtype="10" fill="hold" grpId="0" nodeType="afterEffect">
                                  <p:stCondLst>
                                    <p:cond delay="200"/>
                                  </p:stCondLst>
                                  <p:childTnLst>
                                    <p:set>
                                      <p:cBhvr>
                                        <p:cTn id="24" dur="1" fill="hold">
                                          <p:stCondLst>
                                            <p:cond delay="0"/>
                                          </p:stCondLst>
                                        </p:cTn>
                                        <p:tgtEl>
                                          <p:spTgt spid="139267"/>
                                        </p:tgtEl>
                                        <p:attrNameLst>
                                          <p:attrName>style.visibility</p:attrName>
                                        </p:attrNameLst>
                                      </p:cBhvr>
                                      <p:to>
                                        <p:strVal val="visible"/>
                                      </p:to>
                                    </p:set>
                                    <p:animEffect transition="in" filter="blinds(horizontal)">
                                      <p:cBhvr>
                                        <p:cTn id="25" dur="500"/>
                                        <p:tgtEl>
                                          <p:spTgt spid="139267"/>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9564"/>
                                        </p:tgtEl>
                                        <p:attrNameLst>
                                          <p:attrName>style.visibility</p:attrName>
                                        </p:attrNameLst>
                                      </p:cBhvr>
                                      <p:to>
                                        <p:strVal val="visible"/>
                                      </p:to>
                                    </p:set>
                                    <p:animEffect transition="in" filter="blinds(horizontal)">
                                      <p:cBhvr>
                                        <p:cTn id="28" dur="500"/>
                                        <p:tgtEl>
                                          <p:spTgt spid="139564"/>
                                        </p:tgtEl>
                                      </p:cBhvr>
                                    </p:animEffect>
                                  </p:childTnLst>
                                </p:cTn>
                              </p:par>
                              <p:par>
                                <p:cTn id="29" presetID="1" presetClass="entr" presetSubtype="0" fill="hold" nodeType="withEffect">
                                  <p:stCondLst>
                                    <p:cond delay="0"/>
                                  </p:stCondLst>
                                  <p:childTnLst>
                                    <p:set>
                                      <p:cBhvr>
                                        <p:cTn id="30" dur="1" fill="hold">
                                          <p:stCondLst>
                                            <p:cond delay="0"/>
                                          </p:stCondLst>
                                        </p:cTn>
                                        <p:tgtEl>
                                          <p:spTgt spid="139604"/>
                                        </p:tgtEl>
                                        <p:attrNameLst>
                                          <p:attrName>style.visibility</p:attrName>
                                        </p:attrNameLst>
                                      </p:cBhvr>
                                      <p:to>
                                        <p:strVal val="visible"/>
                                      </p:to>
                                    </p:set>
                                  </p:childTnLst>
                                </p:cTn>
                              </p:par>
                            </p:childTnLst>
                          </p:cTn>
                        </p:par>
                        <p:par>
                          <p:cTn id="31" fill="hold" nodeType="afterGroup">
                            <p:stCondLst>
                              <p:cond delay="1900"/>
                            </p:stCondLst>
                            <p:childTnLst>
                              <p:par>
                                <p:cTn id="32" presetID="6" presetClass="entr" presetSubtype="16" fill="hold" nodeType="afterEffect">
                                  <p:stCondLst>
                                    <p:cond delay="200"/>
                                  </p:stCondLst>
                                  <p:childTnLst>
                                    <p:set>
                                      <p:cBhvr>
                                        <p:cTn id="33" dur="1" fill="hold">
                                          <p:stCondLst>
                                            <p:cond delay="0"/>
                                          </p:stCondLst>
                                        </p:cTn>
                                        <p:tgtEl>
                                          <p:spTgt spid="7"/>
                                        </p:tgtEl>
                                        <p:attrNameLst>
                                          <p:attrName>style.visibility</p:attrName>
                                        </p:attrNameLst>
                                      </p:cBhvr>
                                      <p:to>
                                        <p:strVal val="visible"/>
                                      </p:to>
                                    </p:set>
                                    <p:animEffect transition="in" filter="circle(in)">
                                      <p:cBhvr>
                                        <p:cTn id="34" dur="500"/>
                                        <p:tgtEl>
                                          <p:spTgt spid="7"/>
                                        </p:tgtEl>
                                      </p:cBhvr>
                                    </p:animEffect>
                                  </p:childTnLst>
                                </p:cTn>
                              </p:par>
                              <p:par>
                                <p:cTn id="35" presetID="1" presetClass="entr" presetSubtype="0" fill="hold" grpId="0" nodeType="withEffect">
                                  <p:stCondLst>
                                    <p:cond delay="200"/>
                                  </p:stCondLst>
                                  <p:childTnLst>
                                    <p:set>
                                      <p:cBhvr>
                                        <p:cTn id="36" dur="1" fill="hold">
                                          <p:stCondLst>
                                            <p:cond delay="0"/>
                                          </p:stCondLst>
                                        </p:cTn>
                                        <p:tgtEl>
                                          <p:spTgt spid="139570"/>
                                        </p:tgtEl>
                                        <p:attrNameLst>
                                          <p:attrName>style.visibility</p:attrName>
                                        </p:attrNameLst>
                                      </p:cBhvr>
                                      <p:to>
                                        <p:strVal val="visible"/>
                                      </p:to>
                                    </p:set>
                                  </p:childTnLst>
                                  <p:subTnLst>
                                    <p:animClr clrSpc="rgb" dir="cw">
                                      <p:cBhvr override="childStyle">
                                        <p:cTn dur="1" fill="hold" display="0" masterRel="nextClick" afterEffect="1"/>
                                        <p:tgtEl>
                                          <p:spTgt spid="139570"/>
                                        </p:tgtEl>
                                        <p:attrNameLst>
                                          <p:attrName>ppt_c</p:attrName>
                                        </p:attrNameLst>
                                      </p:cBhvr>
                                      <p:to>
                                        <a:srgbClr val="FFCC66"/>
                                      </p:to>
                                    </p:animClr>
                                  </p:sub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9607"/>
                                        </p:tgtEl>
                                        <p:attrNameLst>
                                          <p:attrName>style.visibility</p:attrName>
                                        </p:attrNameLst>
                                      </p:cBhvr>
                                      <p:to>
                                        <p:strVal val="visible"/>
                                      </p:to>
                                    </p:set>
                                    <p:animEffect transition="in" filter="fade">
                                      <p:cBhvr>
                                        <p:cTn id="41" dur="500"/>
                                        <p:tgtEl>
                                          <p:spTgt spid="139607"/>
                                        </p:tgtEl>
                                      </p:cBhvr>
                                    </p:animEffect>
                                  </p:childTnLst>
                                </p:cTn>
                              </p:par>
                            </p:childTnLst>
                          </p:cTn>
                        </p:par>
                        <p:par>
                          <p:cTn id="42" fill="hold" nodeType="afterGroup">
                            <p:stCondLst>
                              <p:cond delay="500"/>
                            </p:stCondLst>
                            <p:childTnLst>
                              <p:par>
                                <p:cTn id="43" presetID="22" presetClass="entr" presetSubtype="1" fill="hold" nodeType="afterEffect">
                                  <p:stCondLst>
                                    <p:cond delay="500"/>
                                  </p:stCondLst>
                                  <p:childTnLst>
                                    <p:set>
                                      <p:cBhvr>
                                        <p:cTn id="44" dur="1" fill="hold">
                                          <p:stCondLst>
                                            <p:cond delay="0"/>
                                          </p:stCondLst>
                                        </p:cTn>
                                        <p:tgtEl>
                                          <p:spTgt spid="4"/>
                                        </p:tgtEl>
                                        <p:attrNameLst>
                                          <p:attrName>style.visibility</p:attrName>
                                        </p:attrNameLst>
                                      </p:cBhvr>
                                      <p:to>
                                        <p:strVal val="visible"/>
                                      </p:to>
                                    </p:set>
                                    <p:animEffect transition="in" filter="wipe(up)">
                                      <p:cBhvr>
                                        <p:cTn id="45" dur="2000"/>
                                        <p:tgtEl>
                                          <p:spTgt spid="4"/>
                                        </p:tgtEl>
                                      </p:cBhvr>
                                    </p:animEffect>
                                  </p:childTnLst>
                                </p:cTn>
                              </p:par>
                            </p:childTnLst>
                          </p:cTn>
                        </p:par>
                        <p:par>
                          <p:cTn id="46" fill="hold" nodeType="afterGroup">
                            <p:stCondLst>
                              <p:cond delay="3000"/>
                            </p:stCondLst>
                            <p:childTnLst>
                              <p:par>
                                <p:cTn id="47" presetID="1" presetClass="entr" presetSubtype="0" fill="hold" nodeType="afterEffect">
                                  <p:stCondLst>
                                    <p:cond delay="500"/>
                                  </p:stCondLst>
                                  <p:childTnLst>
                                    <p:set>
                                      <p:cBhvr>
                                        <p:cTn id="48" dur="1" fill="hold">
                                          <p:stCondLst>
                                            <p:cond delay="0"/>
                                          </p:stCondLst>
                                        </p:cTn>
                                        <p:tgtEl>
                                          <p:spTgt spid="139565"/>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mph" presetSubtype="0" grpId="1" nodeType="clickEffect">
                                  <p:stCondLst>
                                    <p:cond delay="0"/>
                                  </p:stCondLst>
                                  <p:childTnLst>
                                    <p:set>
                                      <p:cBhvr rctx="PPT">
                                        <p:cTn id="52" dur="indefinite"/>
                                        <p:tgtEl>
                                          <p:spTgt spid="139607"/>
                                        </p:tgtEl>
                                        <p:attrNameLst>
                                          <p:attrName>style.opacity</p:attrName>
                                        </p:attrNameLst>
                                      </p:cBhvr>
                                      <p:to>
                                        <p:strVal val="0.5"/>
                                      </p:to>
                                    </p:set>
                                    <p:animEffect filter="image" prLst="opacity: 0.5">
                                      <p:cBhvr rctx="IE">
                                        <p:cTn id="53" dur="indefinite"/>
                                        <p:tgtEl>
                                          <p:spTgt spid="139607"/>
                                        </p:tgtEl>
                                      </p:cBhvr>
                                    </p:animEffect>
                                  </p:childTnLst>
                                </p:cTn>
                              </p:par>
                              <p:par>
                                <p:cTn id="54" presetID="9" presetClass="emph" presetSubtype="0" grpId="0" nodeType="withEffect">
                                  <p:stCondLst>
                                    <p:cond delay="0"/>
                                  </p:stCondLst>
                                  <p:childTnLst>
                                    <p:set>
                                      <p:cBhvr rctx="PPT">
                                        <p:cTn id="55" dur="indefinite"/>
                                        <p:tgtEl>
                                          <p:spTgt spid="139565"/>
                                        </p:tgtEl>
                                        <p:attrNameLst>
                                          <p:attrName>style.opacity</p:attrName>
                                        </p:attrNameLst>
                                      </p:cBhvr>
                                      <p:to>
                                        <p:strVal val="0.5"/>
                                      </p:to>
                                    </p:set>
                                    <p:animEffect filter="image" prLst="opacity: 0.5">
                                      <p:cBhvr rctx="IE">
                                        <p:cTn id="56" dur="indefinite"/>
                                        <p:tgtEl>
                                          <p:spTgt spid="139565"/>
                                        </p:tgtEl>
                                      </p:cBhvr>
                                    </p:animEffect>
                                  </p:childTnLst>
                                </p:cTn>
                              </p:par>
                              <p:par>
                                <p:cTn id="57" presetID="1" presetClass="entr" presetSubtype="0" fill="hold" grpId="0" nodeType="withEffect">
                                  <p:stCondLst>
                                    <p:cond delay="0"/>
                                  </p:stCondLst>
                                  <p:childTnLst>
                                    <p:set>
                                      <p:cBhvr>
                                        <p:cTn id="58" dur="1" fill="hold">
                                          <p:stCondLst>
                                            <p:cond delay="0"/>
                                          </p:stCondLst>
                                        </p:cTn>
                                        <p:tgtEl>
                                          <p:spTgt spid="139563"/>
                                        </p:tgtEl>
                                        <p:attrNameLst>
                                          <p:attrName>style.visibility</p:attrName>
                                        </p:attrNameLst>
                                      </p:cBhvr>
                                      <p:to>
                                        <p:strVal val="visible"/>
                                      </p:to>
                                    </p:set>
                                  </p:childTnLst>
                                </p:cTn>
                              </p:par>
                            </p:childTnLst>
                          </p:cTn>
                        </p:par>
                        <p:par>
                          <p:cTn id="59" fill="hold" nodeType="afterGroup">
                            <p:stCondLst>
                              <p:cond delay="0"/>
                            </p:stCondLst>
                            <p:childTnLst>
                              <p:par>
                                <p:cTn id="60" presetID="22" presetClass="entr" presetSubtype="1" fill="hold" nodeType="afterEffect">
                                  <p:stCondLst>
                                    <p:cond delay="300"/>
                                  </p:stCondLst>
                                  <p:childTnLst>
                                    <p:set>
                                      <p:cBhvr>
                                        <p:cTn id="61" dur="1" fill="hold">
                                          <p:stCondLst>
                                            <p:cond delay="0"/>
                                          </p:stCondLst>
                                        </p:cTn>
                                        <p:tgtEl>
                                          <p:spTgt spid="3"/>
                                        </p:tgtEl>
                                        <p:attrNameLst>
                                          <p:attrName>style.visibility</p:attrName>
                                        </p:attrNameLst>
                                      </p:cBhvr>
                                      <p:to>
                                        <p:strVal val="visible"/>
                                      </p:to>
                                    </p:set>
                                    <p:animEffect transition="in" filter="wipe(up)">
                                      <p:cBhvr>
                                        <p:cTn id="62" dur="2000"/>
                                        <p:tgtEl>
                                          <p:spTgt spid="3"/>
                                        </p:tgtEl>
                                      </p:cBhvr>
                                    </p:animEffect>
                                  </p:childTnLst>
                                </p:cTn>
                              </p:par>
                              <p:par>
                                <p:cTn id="63" presetID="22" presetClass="entr" presetSubtype="4" fill="hold" nodeType="withEffect">
                                  <p:stCondLst>
                                    <p:cond delay="0"/>
                                  </p:stCondLst>
                                  <p:childTnLst>
                                    <p:set>
                                      <p:cBhvr>
                                        <p:cTn id="64" dur="1" fill="hold">
                                          <p:stCondLst>
                                            <p:cond delay="0"/>
                                          </p:stCondLst>
                                        </p:cTn>
                                        <p:tgtEl>
                                          <p:spTgt spid="2"/>
                                        </p:tgtEl>
                                        <p:attrNameLst>
                                          <p:attrName>style.visibility</p:attrName>
                                        </p:attrNameLst>
                                      </p:cBhvr>
                                      <p:to>
                                        <p:strVal val="visible"/>
                                      </p:to>
                                    </p:set>
                                    <p:animEffect transition="in" filter="wipe(down)">
                                      <p:cBhvr>
                                        <p:cTn id="65" dur="2000"/>
                                        <p:tgtEl>
                                          <p:spTgt spid="2"/>
                                        </p:tgtEl>
                                      </p:cBhvr>
                                    </p:animEffect>
                                  </p:childTnLst>
                                </p:cTn>
                              </p:par>
                              <p:par>
                                <p:cTn id="66" presetID="1" presetClass="entr" presetSubtype="0" fill="hold" nodeType="withEffect">
                                  <p:stCondLst>
                                    <p:cond delay="0"/>
                                  </p:stCondLst>
                                  <p:childTnLst>
                                    <p:set>
                                      <p:cBhvr>
                                        <p:cTn id="67" dur="1" fill="hold">
                                          <p:stCondLst>
                                            <p:cond delay="0"/>
                                          </p:stCondLst>
                                        </p:cTn>
                                        <p:tgtEl>
                                          <p:spTgt spid="139571"/>
                                        </p:tgtEl>
                                        <p:attrNameLst>
                                          <p:attrName>style.visibility</p:attrName>
                                        </p:attrNameLst>
                                      </p:cBhvr>
                                      <p:to>
                                        <p:strVal val="visible"/>
                                      </p:to>
                                    </p:set>
                                  </p:childTnLst>
                                </p:cTn>
                              </p:par>
                            </p:childTnLst>
                          </p:cTn>
                        </p:par>
                        <p:par>
                          <p:cTn id="68" fill="hold" nodeType="afterGroup">
                            <p:stCondLst>
                              <p:cond delay="2300"/>
                            </p:stCondLst>
                            <p:childTnLst>
                              <p:par>
                                <p:cTn id="69" presetID="22" presetClass="entr" presetSubtype="8" fill="hold" nodeType="afterEffect">
                                  <p:stCondLst>
                                    <p:cond delay="300"/>
                                  </p:stCondLst>
                                  <p:childTnLst>
                                    <p:set>
                                      <p:cBhvr>
                                        <p:cTn id="70" dur="1" fill="hold">
                                          <p:stCondLst>
                                            <p:cond delay="0"/>
                                          </p:stCondLst>
                                        </p:cTn>
                                        <p:tgtEl>
                                          <p:spTgt spid="5"/>
                                        </p:tgtEl>
                                        <p:attrNameLst>
                                          <p:attrName>style.visibility</p:attrName>
                                        </p:attrNameLst>
                                      </p:cBhvr>
                                      <p:to>
                                        <p:strVal val="visible"/>
                                      </p:to>
                                    </p:set>
                                    <p:animEffect transition="in" filter="wipe(left)">
                                      <p:cBhvr>
                                        <p:cTn id="71" dur="2000"/>
                                        <p:tgtEl>
                                          <p:spTgt spid="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39602"/>
                                        </p:tgtEl>
                                        <p:attrNameLst>
                                          <p:attrName>style.visibility</p:attrName>
                                        </p:attrNameLst>
                                      </p:cBhvr>
                                      <p:to>
                                        <p:strVal val="visible"/>
                                      </p:to>
                                    </p:set>
                                  </p:childTnLst>
                                </p:cTn>
                              </p:par>
                              <p:par>
                                <p:cTn id="76" presetID="9" presetClass="emph" presetSubtype="0" grpId="1" nodeType="withEffect">
                                  <p:stCondLst>
                                    <p:cond delay="0"/>
                                  </p:stCondLst>
                                  <p:childTnLst>
                                    <p:set>
                                      <p:cBhvr rctx="PPT">
                                        <p:cTn id="77" dur="indefinite"/>
                                        <p:tgtEl>
                                          <p:spTgt spid="139563"/>
                                        </p:tgtEl>
                                        <p:attrNameLst>
                                          <p:attrName>style.opacity</p:attrName>
                                        </p:attrNameLst>
                                      </p:cBhvr>
                                      <p:to>
                                        <p:strVal val="0.5"/>
                                      </p:to>
                                    </p:set>
                                    <p:animEffect filter="image" prLst="opacity: 0.5">
                                      <p:cBhvr rctx="IE">
                                        <p:cTn id="78" dur="indefinite"/>
                                        <p:tgtEl>
                                          <p:spTgt spid="139563"/>
                                        </p:tgtEl>
                                      </p:cBhvr>
                                    </p:animEffect>
                                  </p:childTnLst>
                                </p:cTn>
                              </p:par>
                            </p:childTnLst>
                          </p:cTn>
                        </p:par>
                        <p:par>
                          <p:cTn id="79" fill="hold" nodeType="afterGroup">
                            <p:stCondLst>
                              <p:cond delay="0"/>
                            </p:stCondLst>
                            <p:childTnLst>
                              <p:par>
                                <p:cTn id="80" presetID="22" presetClass="entr" presetSubtype="1" fill="hold" nodeType="afterEffect">
                                  <p:stCondLst>
                                    <p:cond delay="200"/>
                                  </p:stCondLst>
                                  <p:childTnLst>
                                    <p:set>
                                      <p:cBhvr>
                                        <p:cTn id="81" dur="1" fill="hold">
                                          <p:stCondLst>
                                            <p:cond delay="0"/>
                                          </p:stCondLst>
                                        </p:cTn>
                                        <p:tgtEl>
                                          <p:spTgt spid="8"/>
                                        </p:tgtEl>
                                        <p:attrNameLst>
                                          <p:attrName>style.visibility</p:attrName>
                                        </p:attrNameLst>
                                      </p:cBhvr>
                                      <p:to>
                                        <p:strVal val="visible"/>
                                      </p:to>
                                    </p:set>
                                    <p:animEffect transition="in" filter="wipe(up)">
                                      <p:cBhvr>
                                        <p:cTn id="82" dur="500"/>
                                        <p:tgtEl>
                                          <p:spTgt spid="8"/>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mph" presetSubtype="0" grpId="1" nodeType="clickEffect">
                                  <p:stCondLst>
                                    <p:cond delay="0"/>
                                  </p:stCondLst>
                                  <p:childTnLst>
                                    <p:set>
                                      <p:cBhvr rctx="PPT">
                                        <p:cTn id="86" dur="indefinite"/>
                                        <p:tgtEl>
                                          <p:spTgt spid="139602"/>
                                        </p:tgtEl>
                                        <p:attrNameLst>
                                          <p:attrName>style.opacity</p:attrName>
                                        </p:attrNameLst>
                                      </p:cBhvr>
                                      <p:to>
                                        <p:strVal val="0.5"/>
                                      </p:to>
                                    </p:set>
                                    <p:animEffect filter="image" prLst="opacity: 0.5">
                                      <p:cBhvr rctx="IE">
                                        <p:cTn id="87" dur="indefinite"/>
                                        <p:tgtEl>
                                          <p:spTgt spid="139602"/>
                                        </p:tgtEl>
                                      </p:cBhvr>
                                    </p:animEffect>
                                  </p:childTnLst>
                                </p:cTn>
                              </p:par>
                              <p:par>
                                <p:cTn id="88" presetID="1" presetClass="entr" presetSubtype="0" fill="hold" grpId="0" nodeType="withEffect">
                                  <p:stCondLst>
                                    <p:cond delay="0"/>
                                  </p:stCondLst>
                                  <p:childTnLst>
                                    <p:set>
                                      <p:cBhvr>
                                        <p:cTn id="89" dur="1" fill="hold">
                                          <p:stCondLst>
                                            <p:cond delay="0"/>
                                          </p:stCondLst>
                                        </p:cTn>
                                        <p:tgtEl>
                                          <p:spTgt spid="139567"/>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6"/>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139566"/>
                                        </p:tgtEl>
                                        <p:attrNameLst>
                                          <p:attrName>style.visibility</p:attrName>
                                        </p:attrNameLst>
                                      </p:cBhvr>
                                      <p:to>
                                        <p:strVal val="visible"/>
                                      </p:to>
                                    </p:set>
                                  </p:childTnLst>
                                </p:cTn>
                              </p:par>
                            </p:childTnLst>
                          </p:cTn>
                        </p:par>
                      </p:childTnLst>
                    </p:cTn>
                  </p:par>
                  <p:par>
                    <p:cTn id="96" fill="hold" nodeType="clickPar">
                      <p:stCondLst>
                        <p:cond delay="indefinite"/>
                      </p:stCondLst>
                      <p:childTnLst>
                        <p:par>
                          <p:cTn id="97" fill="hold" nodeType="withGroup">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139603"/>
                                        </p:tgtEl>
                                        <p:attrNameLst>
                                          <p:attrName>style.visibility</p:attrName>
                                        </p:attrNameLst>
                                      </p:cBhvr>
                                      <p:to>
                                        <p:strVal val="visible"/>
                                      </p:to>
                                    </p:set>
                                  </p:childTnLst>
                                </p:cTn>
                              </p:par>
                            </p:childTnLst>
                          </p:cTn>
                        </p:par>
                        <p:par>
                          <p:cTn id="100" fill="hold" nodeType="afterGroup">
                            <p:stCondLst>
                              <p:cond delay="0"/>
                            </p:stCondLst>
                            <p:childTnLst>
                              <p:par>
                                <p:cTn id="101" presetID="10" presetClass="exit" presetSubtype="0" fill="hold" grpId="1" nodeType="afterEffect">
                                  <p:stCondLst>
                                    <p:cond delay="0"/>
                                  </p:stCondLst>
                                  <p:childTnLst>
                                    <p:animEffect transition="out" filter="fade">
                                      <p:cBhvr>
                                        <p:cTn id="102" dur="2000"/>
                                        <p:tgtEl>
                                          <p:spTgt spid="139267"/>
                                        </p:tgtEl>
                                      </p:cBhvr>
                                    </p:animEffect>
                                    <p:set>
                                      <p:cBhvr>
                                        <p:cTn id="103" dur="1" fill="hold">
                                          <p:stCondLst>
                                            <p:cond delay="1999"/>
                                          </p:stCondLst>
                                        </p:cTn>
                                        <p:tgtEl>
                                          <p:spTgt spid="139267"/>
                                        </p:tgtEl>
                                        <p:attrNameLst>
                                          <p:attrName>style.visibility</p:attrName>
                                        </p:attrNameLst>
                                      </p:cBhvr>
                                      <p:to>
                                        <p:strVal val="hidden"/>
                                      </p:to>
                                    </p:set>
                                  </p:childTnLst>
                                </p:cTn>
                              </p:par>
                            </p:childTnLst>
                          </p:cTn>
                        </p:par>
                        <p:par>
                          <p:cTn id="104" fill="hold" nodeType="afterGroup">
                            <p:stCondLst>
                              <p:cond delay="2000"/>
                            </p:stCondLst>
                            <p:childTnLst>
                              <p:par>
                                <p:cTn id="105" presetID="10" presetClass="entr" presetSubtype="0" fill="hold" nodeType="afterEffect">
                                  <p:stCondLst>
                                    <p:cond delay="0"/>
                                  </p:stCondLst>
                                  <p:childTnLst>
                                    <p:set>
                                      <p:cBhvr>
                                        <p:cTn id="106" dur="1" fill="hold">
                                          <p:stCondLst>
                                            <p:cond delay="0"/>
                                          </p:stCondLst>
                                        </p:cTn>
                                        <p:tgtEl>
                                          <p:spTgt spid="139269"/>
                                        </p:tgtEl>
                                        <p:attrNameLst>
                                          <p:attrName>style.visibility</p:attrName>
                                        </p:attrNameLst>
                                      </p:cBhvr>
                                      <p:to>
                                        <p:strVal val="visible"/>
                                      </p:to>
                                    </p:set>
                                    <p:animEffect transition="in" filter="fade">
                                      <p:cBhvr>
                                        <p:cTn id="107" dur="2000"/>
                                        <p:tgtEl>
                                          <p:spTgt spid="139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animBg="1"/>
      <p:bldP spid="139267" grpId="0" animBg="1"/>
      <p:bldP spid="139267" grpId="1" animBg="1"/>
      <p:bldP spid="139563" grpId="0"/>
      <p:bldP spid="139563" grpId="1"/>
      <p:bldP spid="139564" grpId="0"/>
      <p:bldP spid="139565" grpId="0"/>
      <p:bldP spid="139566" grpId="0"/>
      <p:bldP spid="139567" grpId="0"/>
      <p:bldP spid="139570" grpId="0"/>
      <p:bldP spid="139571" grpId="0"/>
      <p:bldP spid="139602" grpId="0"/>
      <p:bldP spid="139602" grpId="1"/>
      <p:bldP spid="139603" grpId="0"/>
      <p:bldP spid="139605" grpId="0"/>
      <p:bldP spid="139607" grpId="0"/>
      <p:bldP spid="139607"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DC463-1C26-10BE-ED65-F463D3F1BE1F}"/>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D3550725-8B49-DAEF-6BF5-CACE9DC435F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4" name="TextBox 14">
            <a:extLst>
              <a:ext uri="{FF2B5EF4-FFF2-40B4-BE49-F238E27FC236}">
                <a16:creationId xmlns:a16="http://schemas.microsoft.com/office/drawing/2014/main" id="{5C3DD3FD-2154-F5A1-FF6C-B059AFD43568}"/>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Electromagnetic Radiation</a:t>
            </a:r>
          </a:p>
        </p:txBody>
      </p:sp>
      <p:pic>
        <p:nvPicPr>
          <p:cNvPr id="13" name="Picture 12" descr="A diagram of a waveform&#10;&#10;AI-generated content may be incorrect.">
            <a:extLst>
              <a:ext uri="{FF2B5EF4-FFF2-40B4-BE49-F238E27FC236}">
                <a16:creationId xmlns:a16="http://schemas.microsoft.com/office/drawing/2014/main" id="{075B3F28-6380-7327-0A2F-3F068B880F0B}"/>
              </a:ext>
            </a:extLst>
          </p:cNvPr>
          <p:cNvPicPr>
            <a:picLocks noChangeAspect="1"/>
          </p:cNvPicPr>
          <p:nvPr/>
        </p:nvPicPr>
        <p:blipFill>
          <a:blip r:embed="rId4"/>
          <a:stretch>
            <a:fillRect/>
          </a:stretch>
        </p:blipFill>
        <p:spPr>
          <a:xfrm>
            <a:off x="7880598" y="1449052"/>
            <a:ext cx="3454400" cy="4978400"/>
          </a:xfrm>
          <a:prstGeom prst="rect">
            <a:avLst/>
          </a:prstGeom>
        </p:spPr>
      </p:pic>
      <p:graphicFrame>
        <p:nvGraphicFramePr>
          <p:cNvPr id="15" name="TextBox 9">
            <a:extLst>
              <a:ext uri="{FF2B5EF4-FFF2-40B4-BE49-F238E27FC236}">
                <a16:creationId xmlns:a16="http://schemas.microsoft.com/office/drawing/2014/main" id="{247730B6-3257-ACA4-9B1A-3952F85ED6FE}"/>
              </a:ext>
            </a:extLst>
          </p:cNvPr>
          <p:cNvGraphicFramePr/>
          <p:nvPr>
            <p:extLst>
              <p:ext uri="{D42A27DB-BD31-4B8C-83A1-F6EECF244321}">
                <p14:modId xmlns:p14="http://schemas.microsoft.com/office/powerpoint/2010/main" val="3813576360"/>
              </p:ext>
            </p:extLst>
          </p:nvPr>
        </p:nvGraphicFramePr>
        <p:xfrm>
          <a:off x="389465" y="1643432"/>
          <a:ext cx="7218346" cy="480131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864173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5" name="Rectangle 9">
            <a:extLst>
              <a:ext uri="{FF2B5EF4-FFF2-40B4-BE49-F238E27FC236}">
                <a16:creationId xmlns:a16="http://schemas.microsoft.com/office/drawing/2014/main" id="{1DB00810-A8B8-A77D-5DD2-E78F84435FC3}"/>
              </a:ext>
            </a:extLst>
          </p:cNvPr>
          <p:cNvSpPr>
            <a:spLocks noGrp="1" noChangeArrowheads="1"/>
          </p:cNvSpPr>
          <p:nvPr>
            <p:ph type="body" sz="half" idx="1"/>
          </p:nvPr>
        </p:nvSpPr>
        <p:spPr>
          <a:xfrm>
            <a:off x="389464" y="1404597"/>
            <a:ext cx="3845699" cy="2409825"/>
          </a:xfrm>
        </p:spPr>
        <p:txBody>
          <a:bodyPr lIns="91429" tIns="45715" rIns="91429" bIns="45715" rtlCol="0">
            <a:normAutofit/>
          </a:bodyPr>
          <a:lstStyle/>
          <a:p>
            <a:pPr marL="0" indent="0" eaLnBrk="1" fontAlgn="auto" hangingPunct="1">
              <a:spcAft>
                <a:spcPts val="0"/>
              </a:spcAft>
              <a:buFont typeface="Arial" panose="020B0604020202020204" pitchFamily="34" charset="0"/>
              <a:buNone/>
              <a:defRPr/>
            </a:pPr>
            <a:r>
              <a:rPr lang="en-US" altLang="en-US" sz="2400" dirty="0" err="1">
                <a:latin typeface="Calibri" panose="020F0502020204030204" pitchFamily="34" charset="0"/>
                <a:cs typeface="Calibri" panose="020F0502020204030204" pitchFamily="34" charset="0"/>
              </a:rPr>
              <a:t>f</a:t>
            </a:r>
            <a:r>
              <a:rPr lang="en-US" altLang="en-US" sz="2400" dirty="0" err="1">
                <a:latin typeface="Symbol" panose="05050102010706020507" pitchFamily="18" charset="2"/>
              </a:rPr>
              <a:t>l</a:t>
            </a:r>
            <a:r>
              <a:rPr lang="en-US" altLang="en-US" sz="2400" dirty="0">
                <a:latin typeface="Calibri" panose="020F0502020204030204" pitchFamily="34" charset="0"/>
                <a:cs typeface="Calibri" panose="020F0502020204030204" pitchFamily="34" charset="0"/>
              </a:rPr>
              <a:t>= c</a:t>
            </a:r>
          </a:p>
          <a:p>
            <a:pPr marL="0" indent="0" eaLnBrk="1" fontAlgn="auto" hangingPunct="1">
              <a:spcAft>
                <a:spcPts val="0"/>
              </a:spcAft>
              <a:buFont typeface="Arial" panose="020B0604020202020204" pitchFamily="34" charset="0"/>
              <a:buNone/>
              <a:defRPr/>
            </a:pPr>
            <a:r>
              <a:rPr lang="en-US" altLang="en-US" sz="2400" dirty="0">
                <a:latin typeface="Calibri" panose="020F0502020204030204" pitchFamily="34" charset="0"/>
                <a:cs typeface="Calibri" panose="020F0502020204030204" pitchFamily="34" charset="0"/>
              </a:rPr>
              <a:t>	</a:t>
            </a:r>
          </a:p>
          <a:p>
            <a:pPr marL="0" indent="0" eaLnBrk="1" fontAlgn="auto" hangingPunct="1">
              <a:spcAft>
                <a:spcPts val="0"/>
              </a:spcAft>
              <a:buFont typeface="Arial" panose="020B0604020202020204" pitchFamily="34" charset="0"/>
              <a:buNone/>
              <a:defRPr/>
            </a:pPr>
            <a:r>
              <a:rPr lang="en-US" altLang="en-US" sz="2400" dirty="0">
                <a:latin typeface="Calibri" panose="020F0502020204030204" pitchFamily="34" charset="0"/>
                <a:cs typeface="Calibri" panose="020F0502020204030204" pitchFamily="34" charset="0"/>
              </a:rPr>
              <a:t>f = frequency</a:t>
            </a:r>
          </a:p>
          <a:p>
            <a:pPr marL="0" indent="0" eaLnBrk="1" fontAlgn="auto" hangingPunct="1">
              <a:spcAft>
                <a:spcPts val="0"/>
              </a:spcAft>
              <a:buFont typeface="Arial" panose="020B0604020202020204" pitchFamily="34" charset="0"/>
              <a:buNone/>
              <a:defRPr/>
            </a:pPr>
            <a:r>
              <a:rPr lang="en-US" altLang="en-US" sz="2400" dirty="0">
                <a:latin typeface="Symbol" panose="05050102010706020507" pitchFamily="18" charset="2"/>
              </a:rPr>
              <a:t>l</a:t>
            </a:r>
            <a:r>
              <a:rPr lang="en-US" altLang="en-US" sz="2400" dirty="0"/>
              <a:t> </a:t>
            </a:r>
            <a:r>
              <a:rPr lang="en-US" altLang="en-US" sz="2400" dirty="0">
                <a:latin typeface="Calibri" panose="020F0502020204030204" pitchFamily="34" charset="0"/>
                <a:cs typeface="Calibri" panose="020F0502020204030204" pitchFamily="34" charset="0"/>
              </a:rPr>
              <a:t>= wavelength</a:t>
            </a:r>
          </a:p>
          <a:p>
            <a:pPr marL="0" indent="0" eaLnBrk="1" fontAlgn="auto" hangingPunct="1">
              <a:spcAft>
                <a:spcPts val="0"/>
              </a:spcAft>
              <a:buFont typeface="Arial" panose="020B0604020202020204" pitchFamily="34" charset="0"/>
              <a:buNone/>
              <a:defRPr/>
            </a:pPr>
            <a:r>
              <a:rPr lang="en-US" altLang="en-US" sz="2400" dirty="0">
                <a:latin typeface="Calibri" panose="020F0502020204030204" pitchFamily="34" charset="0"/>
                <a:cs typeface="Calibri" panose="020F0502020204030204" pitchFamily="34" charset="0"/>
              </a:rPr>
              <a:t>c  = speed of light</a:t>
            </a:r>
          </a:p>
        </p:txBody>
      </p:sp>
      <p:pic>
        <p:nvPicPr>
          <p:cNvPr id="24579" name="Picture 7" descr="fig_07_02">
            <a:extLst>
              <a:ext uri="{FF2B5EF4-FFF2-40B4-BE49-F238E27FC236}">
                <a16:creationId xmlns:a16="http://schemas.microsoft.com/office/drawing/2014/main" id="{D10FD1B8-4D33-90B7-B2A5-91760B85687B}"/>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r="4346" b="4261"/>
          <a:stretch>
            <a:fillRect/>
          </a:stretch>
        </p:blipFill>
        <p:spPr>
          <a:xfrm>
            <a:off x="6896615" y="1541663"/>
            <a:ext cx="4200172" cy="4000266"/>
          </a:xfrm>
          <a:noFill/>
        </p:spPr>
      </p:pic>
      <p:sp>
        <p:nvSpPr>
          <p:cNvPr id="2" name="TextBox 1">
            <a:extLst>
              <a:ext uri="{FF2B5EF4-FFF2-40B4-BE49-F238E27FC236}">
                <a16:creationId xmlns:a16="http://schemas.microsoft.com/office/drawing/2014/main" id="{CC33DF49-DFAC-5568-3E18-064531B5ECD3}"/>
              </a:ext>
            </a:extLst>
          </p:cNvPr>
          <p:cNvSpPr txBox="1">
            <a:spLocks noChangeArrowheads="1"/>
          </p:cNvSpPr>
          <p:nvPr/>
        </p:nvSpPr>
        <p:spPr bwMode="auto">
          <a:xfrm>
            <a:off x="389464" y="3802773"/>
            <a:ext cx="11352877"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400" dirty="0">
                <a:cs typeface="Calibri" panose="020F0502020204030204" pitchFamily="34" charset="0"/>
              </a:rPr>
              <a:t>Speed of radiation is a constant, but energy is not!</a:t>
            </a:r>
          </a:p>
          <a:p>
            <a:pPr>
              <a:lnSpc>
                <a:spcPct val="100000"/>
              </a:lnSpc>
              <a:spcBef>
                <a:spcPct val="0"/>
              </a:spcBef>
              <a:buFontTx/>
              <a:buNone/>
            </a:pPr>
            <a:endParaRPr lang="en-GB" altLang="en-US" sz="2400" dirty="0">
              <a:cs typeface="Calibri" panose="020F0502020204030204" pitchFamily="34" charset="0"/>
            </a:endParaRPr>
          </a:p>
          <a:p>
            <a:pPr>
              <a:lnSpc>
                <a:spcPct val="100000"/>
              </a:lnSpc>
              <a:spcBef>
                <a:spcPct val="0"/>
              </a:spcBef>
              <a:buFontTx/>
              <a:buNone/>
            </a:pPr>
            <a:r>
              <a:rPr lang="en-GB" altLang="en-US" sz="2400" dirty="0">
                <a:cs typeface="Calibri" panose="020F0502020204030204" pitchFamily="34" charset="0"/>
              </a:rPr>
              <a:t>E = hf</a:t>
            </a:r>
          </a:p>
          <a:p>
            <a:pPr>
              <a:lnSpc>
                <a:spcPct val="100000"/>
              </a:lnSpc>
              <a:spcBef>
                <a:spcPct val="0"/>
              </a:spcBef>
              <a:buFontTx/>
              <a:buNone/>
            </a:pPr>
            <a:endParaRPr lang="en-GB" altLang="en-US" sz="2400" dirty="0">
              <a:cs typeface="Calibri" panose="020F0502020204030204" pitchFamily="34" charset="0"/>
            </a:endParaRPr>
          </a:p>
          <a:p>
            <a:pPr>
              <a:lnSpc>
                <a:spcPct val="100000"/>
              </a:lnSpc>
              <a:spcBef>
                <a:spcPct val="0"/>
              </a:spcBef>
              <a:buFontTx/>
              <a:buNone/>
            </a:pPr>
            <a:r>
              <a:rPr lang="en-GB" altLang="en-US" sz="2400" dirty="0">
                <a:cs typeface="Calibri" panose="020F0502020204030204" pitchFamily="34" charset="0"/>
              </a:rPr>
              <a:t>E = Energy	</a:t>
            </a:r>
          </a:p>
          <a:p>
            <a:pPr>
              <a:lnSpc>
                <a:spcPct val="100000"/>
              </a:lnSpc>
              <a:spcBef>
                <a:spcPct val="0"/>
              </a:spcBef>
              <a:buNone/>
            </a:pPr>
            <a:r>
              <a:rPr lang="en-GB" altLang="en-US" sz="2400" dirty="0">
                <a:cs typeface="Calibri" panose="020F0502020204030204" pitchFamily="34" charset="0"/>
              </a:rPr>
              <a:t>h = Planck's constant </a:t>
            </a:r>
            <a:r>
              <a:rPr lang="en-GB" altLang="en-US" sz="1200" dirty="0">
                <a:cs typeface="Calibri" panose="020F0502020204030204" pitchFamily="34" charset="0"/>
              </a:rPr>
              <a:t>(</a:t>
            </a:r>
            <a:r>
              <a:rPr lang="en-US" sz="1200" dirty="0"/>
              <a:t>physical constant, that relates a photon's energy to its frequency)</a:t>
            </a:r>
          </a:p>
          <a:p>
            <a:pPr>
              <a:lnSpc>
                <a:spcPct val="100000"/>
              </a:lnSpc>
              <a:spcBef>
                <a:spcPct val="0"/>
              </a:spcBef>
              <a:buNone/>
            </a:pPr>
            <a:r>
              <a:rPr lang="en-US" altLang="en-US" sz="2400" dirty="0">
                <a:cs typeface="Calibri" panose="020F0502020204030204" pitchFamily="34" charset="0"/>
              </a:rPr>
              <a:t>f  = frequency</a:t>
            </a:r>
          </a:p>
          <a:p>
            <a:pPr>
              <a:lnSpc>
                <a:spcPct val="100000"/>
              </a:lnSpc>
              <a:spcBef>
                <a:spcPct val="0"/>
              </a:spcBef>
              <a:buFontTx/>
              <a:buNone/>
            </a:pPr>
            <a:endParaRPr lang="en-GB" altLang="en-US" sz="2400" dirty="0">
              <a:cs typeface="Calibri" panose="020F0502020204030204" pitchFamily="34" charset="0"/>
            </a:endParaRPr>
          </a:p>
          <a:p>
            <a:pPr>
              <a:lnSpc>
                <a:spcPct val="100000"/>
              </a:lnSpc>
              <a:spcBef>
                <a:spcPct val="0"/>
              </a:spcBef>
              <a:buFontTx/>
              <a:buNone/>
            </a:pPr>
            <a:r>
              <a:rPr lang="en-GB" altLang="en-US" sz="2400" dirty="0">
                <a:latin typeface="Times New Roman" panose="02020603050405020304" pitchFamily="18" charset="0"/>
              </a:rPr>
              <a:t>	</a:t>
            </a:r>
          </a:p>
        </p:txBody>
      </p:sp>
      <p:sp>
        <p:nvSpPr>
          <p:cNvPr id="3" name="Freeform 13">
            <a:extLst>
              <a:ext uri="{FF2B5EF4-FFF2-40B4-BE49-F238E27FC236}">
                <a16:creationId xmlns:a16="http://schemas.microsoft.com/office/drawing/2014/main" id="{8973D51A-D9EF-60B0-5C7A-0E5768D006B7}"/>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4" name="TextBox 14">
            <a:extLst>
              <a:ext uri="{FF2B5EF4-FFF2-40B4-BE49-F238E27FC236}">
                <a16:creationId xmlns:a16="http://schemas.microsoft.com/office/drawing/2014/main" id="{AF435DB8-90D2-B3AE-A39D-EC9636C7440F}"/>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Electromagnetic Radiation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38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38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138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138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7" name="Graphic 4">
            <a:extLst>
              <a:ext uri="{FF2B5EF4-FFF2-40B4-BE49-F238E27FC236}">
                <a16:creationId xmlns:a16="http://schemas.microsoft.com/office/drawing/2014/main" id="{E8C48137-2D2E-54ED-A45D-2089162F1F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464" y="1990418"/>
            <a:ext cx="9103058" cy="3542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CAB59DFB-5956-24C1-FF66-05BA5222B94B}"/>
              </a:ext>
            </a:extLst>
          </p:cNvPr>
          <p:cNvSpPr txBox="1">
            <a:spLocks noChangeArrowheads="1"/>
          </p:cNvSpPr>
          <p:nvPr/>
        </p:nvSpPr>
        <p:spPr bwMode="auto">
          <a:xfrm>
            <a:off x="389464" y="5533038"/>
            <a:ext cx="1073974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indent="-342900">
              <a:lnSpc>
                <a:spcPct val="100000"/>
              </a:lnSpc>
              <a:spcBef>
                <a:spcPct val="0"/>
              </a:spcBef>
            </a:pPr>
            <a:r>
              <a:rPr lang="en-GB" altLang="en-US" sz="2000" dirty="0">
                <a:cs typeface="Calibri" panose="020F0502020204030204" pitchFamily="34" charset="0"/>
              </a:rPr>
              <a:t>Any object warmer than 0 K will emit radiation.</a:t>
            </a:r>
          </a:p>
          <a:p>
            <a:pPr marL="342900" indent="-342900">
              <a:lnSpc>
                <a:spcPct val="100000"/>
              </a:lnSpc>
              <a:spcBef>
                <a:spcPct val="0"/>
              </a:spcBef>
            </a:pPr>
            <a:r>
              <a:rPr lang="en-GB" altLang="en-US" sz="2000" dirty="0"/>
              <a:t>The Sun radiates over the entire electromagnetic spectrum but as we shall see not all the energy is radiated equally at all wavelengths.</a:t>
            </a:r>
          </a:p>
          <a:p>
            <a:pPr>
              <a:lnSpc>
                <a:spcPct val="100000"/>
              </a:lnSpc>
              <a:spcBef>
                <a:spcPct val="0"/>
              </a:spcBef>
              <a:buFontTx/>
              <a:buNone/>
            </a:pPr>
            <a:endParaRPr lang="en-GB" altLang="en-US" sz="2000" dirty="0">
              <a:cs typeface="Calibri" panose="020F0502020204030204" pitchFamily="34" charset="0"/>
            </a:endParaRPr>
          </a:p>
        </p:txBody>
      </p:sp>
      <p:sp>
        <p:nvSpPr>
          <p:cNvPr id="2" name="Freeform 13">
            <a:extLst>
              <a:ext uri="{FF2B5EF4-FFF2-40B4-BE49-F238E27FC236}">
                <a16:creationId xmlns:a16="http://schemas.microsoft.com/office/drawing/2014/main" id="{CECB4F98-BE3B-0207-8BFF-284B182EDC61}"/>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F57CAAFE-5332-24DB-B2EC-BBAA26C63644}"/>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Electromagnetic Spectrum</a:t>
            </a:r>
          </a:p>
        </p:txBody>
      </p:sp>
      <p:sp>
        <p:nvSpPr>
          <p:cNvPr id="3" name="TextBox 2">
            <a:extLst>
              <a:ext uri="{FF2B5EF4-FFF2-40B4-BE49-F238E27FC236}">
                <a16:creationId xmlns:a16="http://schemas.microsoft.com/office/drawing/2014/main" id="{17E88FF3-A953-82AE-3F01-5A3659D63E66}"/>
              </a:ext>
            </a:extLst>
          </p:cNvPr>
          <p:cNvSpPr txBox="1"/>
          <p:nvPr/>
        </p:nvSpPr>
        <p:spPr>
          <a:xfrm>
            <a:off x="389464" y="1425269"/>
            <a:ext cx="11141275" cy="400110"/>
          </a:xfrm>
          <a:prstGeom prst="rect">
            <a:avLst/>
          </a:prstGeom>
          <a:noFill/>
        </p:spPr>
        <p:txBody>
          <a:bodyPr wrap="square">
            <a:spAutoFit/>
          </a:bodyPr>
          <a:lstStyle/>
          <a:p>
            <a:r>
              <a:rPr lang="en-GB" sz="2000" b="0" i="0" u="none" strike="noStrike" dirty="0">
                <a:solidFill>
                  <a:srgbClr val="000000"/>
                </a:solidFill>
                <a:effectLst/>
                <a:latin typeface="Calibri" panose="020F0502020204030204" pitchFamily="34" charset="0"/>
                <a:cs typeface="Calibri" panose="020F0502020204030204" pitchFamily="34" charset="0"/>
              </a:rPr>
              <a:t>The electromagnetic spectrum represents the complete range of electromagnetic radiation. </a:t>
            </a:r>
            <a:endParaRPr lang="en-US" sz="2000" dirty="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8" name="Rectangle 4">
            <a:extLst>
              <a:ext uri="{FF2B5EF4-FFF2-40B4-BE49-F238E27FC236}">
                <a16:creationId xmlns:a16="http://schemas.microsoft.com/office/drawing/2014/main" id="{8E1CF2EB-1E26-00AC-2AB6-7D679D9015A4}"/>
              </a:ext>
            </a:extLst>
          </p:cNvPr>
          <p:cNvSpPr>
            <a:spLocks noGrp="1" noChangeArrowheads="1"/>
          </p:cNvSpPr>
          <p:nvPr>
            <p:ph type="body" idx="1"/>
          </p:nvPr>
        </p:nvSpPr>
        <p:spPr>
          <a:xfrm>
            <a:off x="361464" y="1657535"/>
            <a:ext cx="10659462" cy="4828477"/>
          </a:xfrm>
          <a:noFill/>
        </p:spPr>
        <p:txBody>
          <a:bodyPr vert="horz" wrap="square" lIns="91429" tIns="45715" rIns="91429" bIns="45715" numCol="1" anchor="t" anchorCtr="0" compatLnSpc="1">
            <a:prstTxWarp prst="textNoShape">
              <a:avLst/>
            </a:prstTxWarp>
            <a:normAutofit/>
          </a:bodyPr>
          <a:lstStyle/>
          <a:p>
            <a:pPr marL="0" indent="0" eaLnBrk="1" hangingPunct="1">
              <a:buNone/>
            </a:pPr>
            <a:r>
              <a:rPr lang="en-US" altLang="en-US" sz="2000" dirty="0">
                <a:latin typeface="Calibri" panose="020F0502020204030204" pitchFamily="34" charset="0"/>
                <a:cs typeface="Calibri" panose="020F0502020204030204" pitchFamily="34" charset="0"/>
              </a:rPr>
              <a:t>What emits radiation?</a:t>
            </a:r>
          </a:p>
          <a:p>
            <a:pPr marL="304815" lvl="1" indent="0" eaLnBrk="1" hangingPunct="1">
              <a:buNone/>
            </a:pPr>
            <a:r>
              <a:rPr lang="en-US" altLang="en-US" sz="2000" dirty="0">
                <a:latin typeface="Calibri" panose="020F0502020204030204" pitchFamily="34" charset="0"/>
                <a:cs typeface="Calibri" panose="020F0502020204030204" pitchFamily="34" charset="0"/>
              </a:rPr>
              <a:t>All objects with a temperature greater than 0 K emit some type of radiation (energy)</a:t>
            </a:r>
          </a:p>
          <a:p>
            <a:pPr marL="304815" lvl="1" indent="0" eaLnBrk="1" hangingPunct="1">
              <a:buNone/>
            </a:pPr>
            <a:r>
              <a:rPr lang="en-US" altLang="en-US" sz="2000" dirty="0">
                <a:latin typeface="Calibri" panose="020F0502020204030204" pitchFamily="34" charset="0"/>
                <a:cs typeface="Calibri" panose="020F0502020204030204" pitchFamily="34" charset="0"/>
              </a:rPr>
              <a:t>This is viewed as an energy spectrum </a:t>
            </a:r>
          </a:p>
          <a:p>
            <a:pPr marL="0" indent="0" eaLnBrk="1" hangingPunct="1">
              <a:buNone/>
            </a:pPr>
            <a:endParaRPr lang="en-US" altLang="en-US" sz="2000" dirty="0">
              <a:latin typeface="Calibri" panose="020F0502020204030204" pitchFamily="34" charset="0"/>
              <a:cs typeface="Calibri" panose="020F0502020204030204" pitchFamily="34" charset="0"/>
            </a:endParaRPr>
          </a:p>
          <a:p>
            <a:pPr marL="0" indent="0" eaLnBrk="1" hangingPunct="1">
              <a:buNone/>
            </a:pPr>
            <a:endParaRPr lang="en-US" altLang="en-US" sz="2000" dirty="0">
              <a:latin typeface="Calibri" panose="020F0502020204030204" pitchFamily="34" charset="0"/>
              <a:cs typeface="Calibri" panose="020F0502020204030204" pitchFamily="34" charset="0"/>
            </a:endParaRPr>
          </a:p>
          <a:p>
            <a:pPr marL="0" indent="0" eaLnBrk="1" hangingPunct="1">
              <a:buNone/>
            </a:pPr>
            <a:endParaRPr lang="en-US" altLang="en-US" sz="2000" dirty="0">
              <a:latin typeface="Calibri" panose="020F0502020204030204" pitchFamily="34" charset="0"/>
              <a:cs typeface="Calibri" panose="020F0502020204030204" pitchFamily="34" charset="0"/>
            </a:endParaRPr>
          </a:p>
          <a:p>
            <a:pPr marL="0" indent="0" eaLnBrk="1" hangingPunct="1">
              <a:buNone/>
            </a:pPr>
            <a:endParaRPr lang="en-US" altLang="en-US" sz="2000" dirty="0">
              <a:latin typeface="Calibri" panose="020F0502020204030204" pitchFamily="34" charset="0"/>
              <a:cs typeface="Calibri" panose="020F0502020204030204" pitchFamily="34" charset="0"/>
            </a:endParaRPr>
          </a:p>
          <a:p>
            <a:pPr marL="0" indent="0" eaLnBrk="1" hangingPunct="1">
              <a:buNone/>
            </a:pPr>
            <a:endParaRPr lang="en-US" altLang="en-US" sz="2000" dirty="0">
              <a:latin typeface="Calibri" panose="020F0502020204030204" pitchFamily="34" charset="0"/>
              <a:cs typeface="Calibri" panose="020F0502020204030204" pitchFamily="34" charset="0"/>
            </a:endParaRPr>
          </a:p>
          <a:p>
            <a:pPr marL="0" indent="0" eaLnBrk="1" hangingPunct="1">
              <a:buNone/>
            </a:pPr>
            <a:endParaRPr lang="en-US" altLang="en-US" sz="2000" dirty="0">
              <a:latin typeface="Calibri" panose="020F0502020204030204" pitchFamily="34" charset="0"/>
              <a:cs typeface="Calibri" panose="020F0502020204030204" pitchFamily="34" charset="0"/>
            </a:endParaRPr>
          </a:p>
          <a:p>
            <a:pPr marL="0" indent="0" eaLnBrk="1" hangingPunct="1">
              <a:buNone/>
            </a:pPr>
            <a:r>
              <a:rPr lang="en-US" altLang="en-US" sz="2000" dirty="0">
                <a:latin typeface="Calibri" panose="020F0502020204030204" pitchFamily="34" charset="0"/>
                <a:cs typeface="Calibri" panose="020F0502020204030204" pitchFamily="34" charset="0"/>
              </a:rPr>
              <a:t>Radiation laws:</a:t>
            </a:r>
          </a:p>
          <a:p>
            <a:pPr lvl="1">
              <a:buFont typeface="Arial" panose="020B0604020202020204" pitchFamily="34" charset="0"/>
              <a:buChar char="•"/>
            </a:pPr>
            <a:r>
              <a:rPr lang="en-US" altLang="en-US" sz="2000" dirty="0">
                <a:latin typeface="Calibri" panose="020F0502020204030204" pitchFamily="34" charset="0"/>
                <a:cs typeface="Calibri" panose="020F0502020204030204" pitchFamily="34" charset="0"/>
              </a:rPr>
              <a:t>Warmer objects emit more intensely than cold objects. (Stefan-Boltzmann Law)</a:t>
            </a:r>
          </a:p>
          <a:p>
            <a:pPr lvl="1">
              <a:buFont typeface="Arial" panose="020B0604020202020204" pitchFamily="34" charset="0"/>
              <a:buChar char="•"/>
            </a:pPr>
            <a:r>
              <a:rPr lang="en-US" altLang="en-US" sz="2000" dirty="0">
                <a:latin typeface="Calibri" panose="020F0502020204030204" pitchFamily="34" charset="0"/>
                <a:cs typeface="Calibri" panose="020F0502020204030204" pitchFamily="34" charset="0"/>
              </a:rPr>
              <a:t>Warmer objects emit a higher proportion of their energy at short wavelengths.  (Wien’s Law)</a:t>
            </a:r>
          </a:p>
        </p:txBody>
      </p:sp>
      <p:sp>
        <p:nvSpPr>
          <p:cNvPr id="2" name="Freeform 13">
            <a:extLst>
              <a:ext uri="{FF2B5EF4-FFF2-40B4-BE49-F238E27FC236}">
                <a16:creationId xmlns:a16="http://schemas.microsoft.com/office/drawing/2014/main" id="{69AD0F7B-F916-8405-540D-3318AA87B326}"/>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35C246E0-A80E-5FFA-62D9-12C46BE9997B}"/>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Electromagnetic Radiation</a:t>
            </a:r>
          </a:p>
        </p:txBody>
      </p:sp>
      <p:pic>
        <p:nvPicPr>
          <p:cNvPr id="6" name="Picture 5" descr="A diagram of a spectrum&#10;&#10;AI-generated content may be incorrect.">
            <a:extLst>
              <a:ext uri="{FF2B5EF4-FFF2-40B4-BE49-F238E27FC236}">
                <a16:creationId xmlns:a16="http://schemas.microsoft.com/office/drawing/2014/main" id="{8B6D12DD-A56F-2BD7-B09E-DF37A918DF74}"/>
              </a:ext>
            </a:extLst>
          </p:cNvPr>
          <p:cNvPicPr>
            <a:picLocks noChangeAspect="1"/>
          </p:cNvPicPr>
          <p:nvPr/>
        </p:nvPicPr>
        <p:blipFill>
          <a:blip r:embed="rId4"/>
          <a:stretch>
            <a:fillRect/>
          </a:stretch>
        </p:blipFill>
        <p:spPr>
          <a:xfrm>
            <a:off x="4868779" y="2506595"/>
            <a:ext cx="3738214" cy="26938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08548">
                                            <p:txEl>
                                              <p:pRg st="0" end="0"/>
                                            </p:txEl>
                                          </p:spTgt>
                                        </p:tgtEl>
                                        <p:attrNameLst>
                                          <p:attrName>style.visibility</p:attrName>
                                        </p:attrNameLst>
                                      </p:cBhvr>
                                      <p:to>
                                        <p:strVal val="visible"/>
                                      </p:to>
                                    </p:set>
                                    <p:animEffect transition="in" filter="wipe(left)">
                                      <p:cBhvr>
                                        <p:cTn id="7" dur="500"/>
                                        <p:tgtEl>
                                          <p:spTgt spid="10854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8548">
                                            <p:txEl>
                                              <p:pRg st="1" end="1"/>
                                            </p:txEl>
                                          </p:spTgt>
                                        </p:tgtEl>
                                        <p:attrNameLst>
                                          <p:attrName>style.visibility</p:attrName>
                                        </p:attrNameLst>
                                      </p:cBhvr>
                                      <p:to>
                                        <p:strVal val="visible"/>
                                      </p:to>
                                    </p:set>
                                    <p:animEffect transition="in" filter="wipe(left)">
                                      <p:cBhvr>
                                        <p:cTn id="12" dur="500"/>
                                        <p:tgtEl>
                                          <p:spTgt spid="10854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8548">
                                            <p:txEl>
                                              <p:pRg st="2" end="2"/>
                                            </p:txEl>
                                          </p:spTgt>
                                        </p:tgtEl>
                                        <p:attrNameLst>
                                          <p:attrName>style.visibility</p:attrName>
                                        </p:attrNameLst>
                                      </p:cBhvr>
                                      <p:to>
                                        <p:strVal val="visible"/>
                                      </p:to>
                                    </p:set>
                                    <p:animEffect transition="in" filter="wipe(left)">
                                      <p:cBhvr>
                                        <p:cTn id="17" dur="500"/>
                                        <p:tgtEl>
                                          <p:spTgt spid="10854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8548">
                                            <p:txEl>
                                              <p:pRg st="9" end="9"/>
                                            </p:txEl>
                                          </p:spTgt>
                                        </p:tgtEl>
                                        <p:attrNameLst>
                                          <p:attrName>style.visibility</p:attrName>
                                        </p:attrNameLst>
                                      </p:cBhvr>
                                      <p:to>
                                        <p:strVal val="visible"/>
                                      </p:to>
                                    </p:set>
                                    <p:animEffect transition="in" filter="wipe(left)">
                                      <p:cBhvr>
                                        <p:cTn id="26" dur="500"/>
                                        <p:tgtEl>
                                          <p:spTgt spid="108548">
                                            <p:txEl>
                                              <p:pRg st="9" end="9"/>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08548">
                                            <p:txEl>
                                              <p:pRg st="10" end="10"/>
                                            </p:txEl>
                                          </p:spTgt>
                                        </p:tgtEl>
                                        <p:attrNameLst>
                                          <p:attrName>style.visibility</p:attrName>
                                        </p:attrNameLst>
                                      </p:cBhvr>
                                      <p:to>
                                        <p:strVal val="visible"/>
                                      </p:to>
                                    </p:set>
                                    <p:animEffect transition="in" filter="wipe(left)">
                                      <p:cBhvr>
                                        <p:cTn id="31" dur="500"/>
                                        <p:tgtEl>
                                          <p:spTgt spid="108548">
                                            <p:txEl>
                                              <p:pRg st="10" end="1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08548">
                                            <p:txEl>
                                              <p:pRg st="11" end="11"/>
                                            </p:txEl>
                                          </p:spTgt>
                                        </p:tgtEl>
                                        <p:attrNameLst>
                                          <p:attrName>style.visibility</p:attrName>
                                        </p:attrNameLst>
                                      </p:cBhvr>
                                      <p:to>
                                        <p:strVal val="visible"/>
                                      </p:to>
                                    </p:set>
                                    <p:animEffect transition="in" filter="wipe(left)">
                                      <p:cBhvr>
                                        <p:cTn id="36" dur="500"/>
                                        <p:tgtEl>
                                          <p:spTgt spid="10854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8"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Content Placeholder 2">
            <a:extLst>
              <a:ext uri="{FF2B5EF4-FFF2-40B4-BE49-F238E27FC236}">
                <a16:creationId xmlns:a16="http://schemas.microsoft.com/office/drawing/2014/main" id="{97F5BE23-A35E-7AB8-E42E-CB3EA3D1C0BA}"/>
              </a:ext>
            </a:extLst>
          </p:cNvPr>
          <p:cNvSpPr>
            <a:spLocks noGrp="1" noChangeArrowheads="1"/>
          </p:cNvSpPr>
          <p:nvPr>
            <p:ph idx="1"/>
          </p:nvPr>
        </p:nvSpPr>
        <p:spPr>
          <a:xfrm>
            <a:off x="5910221" y="1898766"/>
            <a:ext cx="6131526" cy="4573381"/>
          </a:xfrm>
        </p:spPr>
        <p:txBody>
          <a:bodyPr/>
          <a:lstStyle/>
          <a:p>
            <a:pPr marL="0" indent="0">
              <a:buNone/>
            </a:pPr>
            <a:r>
              <a:rPr lang="en-GB" altLang="en-US" sz="2000" b="1" dirty="0">
                <a:latin typeface="Calibri" panose="020F0502020204030204" pitchFamily="34" charset="0"/>
                <a:cs typeface="Calibri" panose="020F0502020204030204" pitchFamily="34" charset="0"/>
              </a:rPr>
              <a:t>The Sun and Earth behave approximately like a black body</a:t>
            </a:r>
          </a:p>
          <a:p>
            <a:pPr marL="0" indent="0" eaLnBrk="1" hangingPunct="1">
              <a:buFont typeface="Arial" panose="020B0604020202020204" pitchFamily="34" charset="0"/>
              <a:buNone/>
            </a:pPr>
            <a:endParaRPr lang="en-GB" altLang="en-US" sz="2000" b="1"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r>
              <a:rPr lang="en-GB" altLang="en-US" sz="2000" b="1" dirty="0">
                <a:latin typeface="Calibri" panose="020F0502020204030204" pitchFamily="34" charset="0"/>
                <a:cs typeface="Calibri" panose="020F0502020204030204" pitchFamily="34" charset="0"/>
              </a:rPr>
              <a:t>A Black body</a:t>
            </a:r>
          </a:p>
          <a:p>
            <a:pPr marL="0" indent="0" eaLnBrk="1" hangingPunct="1">
              <a:buFont typeface="Arial" panose="020B0604020202020204" pitchFamily="34" charset="0"/>
              <a:buNone/>
            </a:pPr>
            <a:r>
              <a:rPr lang="en-GB" altLang="en-US" sz="2000" dirty="0">
                <a:latin typeface="Calibri" panose="020F0502020204030204" pitchFamily="34" charset="0"/>
                <a:cs typeface="Calibri" panose="020F0502020204030204" pitchFamily="34" charset="0"/>
              </a:rPr>
              <a:t>absorbs all radiation falling on it...</a:t>
            </a:r>
          </a:p>
          <a:p>
            <a:pPr marL="0" indent="0" eaLnBrk="1" hangingPunct="1">
              <a:buFont typeface="Arial" panose="020B0604020202020204" pitchFamily="34" charset="0"/>
              <a:buNone/>
            </a:pPr>
            <a:endParaRPr lang="en-GB" altLang="en-US" sz="2000"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r>
              <a:rPr lang="en-GB" altLang="en-US" sz="2000" dirty="0">
                <a:latin typeface="Calibri" panose="020F0502020204030204" pitchFamily="34" charset="0"/>
                <a:cs typeface="Calibri" panose="020F0502020204030204" pitchFamily="34" charset="0"/>
              </a:rPr>
              <a:t>...and reemits it as a function of its surface temperature</a:t>
            </a:r>
          </a:p>
          <a:p>
            <a:pPr marL="0" indent="0" eaLnBrk="1" hangingPunct="1">
              <a:buFont typeface="Arial" panose="020B0604020202020204" pitchFamily="34" charset="0"/>
              <a:buNone/>
            </a:pPr>
            <a:endParaRPr lang="en-GB" altLang="en-US" sz="2000" b="1" dirty="0">
              <a:latin typeface="Calibri" panose="020F0502020204030204" pitchFamily="34" charset="0"/>
              <a:cs typeface="Calibri" panose="020F0502020204030204" pitchFamily="34" charset="0"/>
            </a:endParaRPr>
          </a:p>
          <a:p>
            <a:pPr marL="0" indent="0">
              <a:buNone/>
              <a:defRPr/>
            </a:pPr>
            <a:r>
              <a:rPr lang="en-GB" altLang="en-US" sz="2000" dirty="0">
                <a:latin typeface="Calibri" panose="020F0502020204030204" pitchFamily="34" charset="0"/>
                <a:cs typeface="Calibri" panose="020F0502020204030204" pitchFamily="34" charset="0"/>
              </a:rPr>
              <a:t>Governed by two radiation laws:</a:t>
            </a:r>
          </a:p>
          <a:p>
            <a:pPr>
              <a:defRPr/>
            </a:pPr>
            <a:r>
              <a:rPr lang="en-GB" altLang="en-US" sz="2000" dirty="0">
                <a:latin typeface="Calibri" panose="020F0502020204030204" pitchFamily="34" charset="0"/>
                <a:cs typeface="Calibri" panose="020F0502020204030204" pitchFamily="34" charset="0"/>
              </a:rPr>
              <a:t>Stefan-Boltzmann law</a:t>
            </a:r>
          </a:p>
          <a:p>
            <a:pPr>
              <a:defRPr/>
            </a:pPr>
            <a:r>
              <a:rPr lang="en-GB" altLang="en-US" sz="2000" dirty="0">
                <a:latin typeface="Calibri" panose="020F0502020204030204" pitchFamily="34" charset="0"/>
                <a:cs typeface="Calibri" panose="020F0502020204030204" pitchFamily="34" charset="0"/>
              </a:rPr>
              <a:t>Wien’s law</a:t>
            </a:r>
          </a:p>
        </p:txBody>
      </p:sp>
      <p:sp>
        <p:nvSpPr>
          <p:cNvPr id="3" name="TextBox 14">
            <a:extLst>
              <a:ext uri="{FF2B5EF4-FFF2-40B4-BE49-F238E27FC236}">
                <a16:creationId xmlns:a16="http://schemas.microsoft.com/office/drawing/2014/main" id="{8DA4A2DC-35CE-D1C5-5ED5-391ACF8FC48D}"/>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Blackbody Radiation</a:t>
            </a:r>
          </a:p>
        </p:txBody>
      </p:sp>
      <p:pic>
        <p:nvPicPr>
          <p:cNvPr id="8" name="Picture 7" descr="A graph of a solar spectrum&#10;&#10;AI-generated content may be incorrect.">
            <a:extLst>
              <a:ext uri="{FF2B5EF4-FFF2-40B4-BE49-F238E27FC236}">
                <a16:creationId xmlns:a16="http://schemas.microsoft.com/office/drawing/2014/main" id="{210C81C1-E4B9-6725-4E46-917976DED0A3}"/>
              </a:ext>
            </a:extLst>
          </p:cNvPr>
          <p:cNvPicPr>
            <a:picLocks noChangeAspect="1"/>
          </p:cNvPicPr>
          <p:nvPr/>
        </p:nvPicPr>
        <p:blipFill>
          <a:blip r:embed="rId3"/>
          <a:srcRect l="4966" t="2145" r="2269"/>
          <a:stretch>
            <a:fillRect/>
          </a:stretch>
        </p:blipFill>
        <p:spPr>
          <a:xfrm>
            <a:off x="520262" y="1273996"/>
            <a:ext cx="5155325" cy="5198151"/>
          </a:xfrm>
          <a:prstGeom prst="rect">
            <a:avLst/>
          </a:prstGeom>
        </p:spPr>
      </p:pic>
      <p:sp>
        <p:nvSpPr>
          <p:cNvPr id="4" name="Freeform 13">
            <a:extLst>
              <a:ext uri="{FF2B5EF4-FFF2-40B4-BE49-F238E27FC236}">
                <a16:creationId xmlns:a16="http://schemas.microsoft.com/office/drawing/2014/main" id="{329444A3-30F7-E6CC-977F-56172EAF74E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174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1747">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174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747">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1747">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174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59E25-DA49-7818-C0B1-2D9BFCE1117A}"/>
            </a:ext>
          </a:extLst>
        </p:cNvPr>
        <p:cNvGrpSpPr/>
        <p:nvPr/>
      </p:nvGrpSpPr>
      <p:grpSpPr>
        <a:xfrm>
          <a:off x="0" y="0"/>
          <a:ext cx="0" cy="0"/>
          <a:chOff x="0" y="0"/>
          <a:chExt cx="0" cy="0"/>
        </a:xfrm>
      </p:grpSpPr>
      <p:sp>
        <p:nvSpPr>
          <p:cNvPr id="31747" name="Content Placeholder 2">
            <a:extLst>
              <a:ext uri="{FF2B5EF4-FFF2-40B4-BE49-F238E27FC236}">
                <a16:creationId xmlns:a16="http://schemas.microsoft.com/office/drawing/2014/main" id="{9FDFEC8D-3202-6876-12CC-9F4FCE7904B2}"/>
              </a:ext>
            </a:extLst>
          </p:cNvPr>
          <p:cNvSpPr>
            <a:spLocks noGrp="1" noChangeArrowheads="1"/>
          </p:cNvSpPr>
          <p:nvPr>
            <p:ph idx="1"/>
          </p:nvPr>
        </p:nvSpPr>
        <p:spPr>
          <a:xfrm>
            <a:off x="389465" y="1508818"/>
            <a:ext cx="11352876" cy="4835525"/>
          </a:xfrm>
        </p:spPr>
        <p:txBody>
          <a:bodyPr>
            <a:normAutofit fontScale="77500" lnSpcReduction="20000"/>
          </a:bodyPr>
          <a:lstStyle/>
          <a:p>
            <a:pPr marL="0" indent="0">
              <a:buNone/>
            </a:pPr>
            <a:r>
              <a:rPr lang="en-US" altLang="en-US" sz="2400" dirty="0">
                <a:latin typeface="Calibri" panose="020F0502020204030204" pitchFamily="34" charset="0"/>
                <a:cs typeface="Calibri" panose="020F0502020204030204" pitchFamily="34" charset="0"/>
              </a:rPr>
              <a:t>All bodies radiate energy as electromagnetic radiation.</a:t>
            </a:r>
          </a:p>
          <a:p>
            <a:pPr marL="0" indent="0">
              <a:buNone/>
            </a:pPr>
            <a:r>
              <a:rPr lang="en-US" altLang="en-US" sz="2400" dirty="0">
                <a:latin typeface="Calibri" panose="020F0502020204030204" pitchFamily="34" charset="0"/>
                <a:cs typeface="Calibri" panose="020F0502020204030204" pitchFamily="34" charset="0"/>
              </a:rPr>
              <a:t> </a:t>
            </a:r>
          </a:p>
          <a:p>
            <a:pPr marL="0" indent="0">
              <a:buNone/>
            </a:pPr>
            <a:r>
              <a:rPr lang="en-US" altLang="en-US" sz="2400" dirty="0">
                <a:latin typeface="Calibri" panose="020F0502020204030204" pitchFamily="34" charset="0"/>
                <a:cs typeface="Calibri" panose="020F0502020204030204" pitchFamily="34" charset="0"/>
              </a:rPr>
              <a:t>A black body absorbs all radiation falling on it and it emits radiation as a function of its surface temperature.</a:t>
            </a:r>
          </a:p>
          <a:p>
            <a:pPr marL="0" indent="0">
              <a:buNone/>
            </a:pPr>
            <a:r>
              <a:rPr lang="en-US" altLang="en-US" sz="2400" b="1" dirty="0">
                <a:latin typeface="Calibri" panose="020F0502020204030204" pitchFamily="34" charset="0"/>
                <a:cs typeface="Calibri" panose="020F0502020204030204" pitchFamily="34" charset="0"/>
              </a:rPr>
              <a:t> </a:t>
            </a:r>
          </a:p>
          <a:p>
            <a:pPr marL="0" indent="0" eaLnBrk="1" hangingPunct="1">
              <a:buFont typeface="Arial" panose="020B0604020202020204" pitchFamily="34" charset="0"/>
              <a:buNone/>
            </a:pPr>
            <a:r>
              <a:rPr lang="en-US" altLang="en-US" sz="2400" b="1" dirty="0">
                <a:latin typeface="Calibri" panose="020F0502020204030204" pitchFamily="34" charset="0"/>
                <a:cs typeface="Calibri" panose="020F0502020204030204" pitchFamily="34" charset="0"/>
              </a:rPr>
              <a:t>Stefan-Boltzmann Law</a:t>
            </a:r>
          </a:p>
          <a:p>
            <a:pPr marL="0" indent="0" eaLnBrk="1" hangingPunct="1">
              <a:buFont typeface="Arial" panose="020B0604020202020204" pitchFamily="34" charset="0"/>
              <a:buNone/>
            </a:pPr>
            <a:endParaRPr lang="en-US" altLang="en-US" sz="2400" b="1"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r>
              <a:rPr lang="en-US" altLang="en-US" sz="2400" dirty="0">
                <a:latin typeface="Calibri" panose="020F0502020204030204" pitchFamily="34" charset="0"/>
                <a:cs typeface="Calibri" panose="020F0502020204030204" pitchFamily="34" charset="0"/>
              </a:rPr>
              <a:t>Total energy is related to temperature by:</a:t>
            </a:r>
          </a:p>
          <a:p>
            <a:pPr marL="0" indent="0" eaLnBrk="1" hangingPunct="1">
              <a:buFont typeface="Arial" panose="020B0604020202020204" pitchFamily="34" charset="0"/>
              <a:buNone/>
            </a:pPr>
            <a:endParaRPr lang="en-US" altLang="en-US" sz="2400"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endParaRPr lang="en-US" altLang="en-US" sz="2400"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endParaRPr lang="en-US" altLang="en-US" sz="2400"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r>
              <a:rPr lang="en-US" altLang="en-US" sz="2400" dirty="0">
                <a:latin typeface="Calibri" panose="020F0502020204030204" pitchFamily="34" charset="0"/>
                <a:cs typeface="Calibri" panose="020F0502020204030204" pitchFamily="34" charset="0"/>
              </a:rPr>
              <a:t>where:</a:t>
            </a:r>
          </a:p>
          <a:p>
            <a:pPr marL="0" indent="0" eaLnBrk="1" hangingPunct="1">
              <a:buFont typeface="Arial" panose="020B0604020202020204" pitchFamily="34" charset="0"/>
              <a:buNone/>
            </a:pPr>
            <a:r>
              <a:rPr lang="en-US" altLang="en-US" sz="2400" dirty="0">
                <a:latin typeface="Calibri" panose="020F0502020204030204" pitchFamily="34" charset="0"/>
                <a:cs typeface="Calibri" panose="020F0502020204030204" pitchFamily="34" charset="0"/>
              </a:rPr>
              <a:t>I  = E</a:t>
            </a:r>
            <a:r>
              <a:rPr lang="en-GB" altLang="en-US" sz="2400" dirty="0" err="1">
                <a:latin typeface="Calibri" panose="020F0502020204030204" pitchFamily="34" charset="0"/>
                <a:cs typeface="Calibri" panose="020F0502020204030204" pitchFamily="34" charset="0"/>
              </a:rPr>
              <a:t>nergy</a:t>
            </a:r>
            <a:r>
              <a:rPr lang="en-GB" altLang="en-US" sz="2400" dirty="0">
                <a:latin typeface="Calibri" panose="020F0502020204030204" pitchFamily="34" charset="0"/>
                <a:cs typeface="Calibri" panose="020F0502020204030204" pitchFamily="34" charset="0"/>
              </a:rPr>
              <a:t> per unit area emitted per second (W m</a:t>
            </a:r>
            <a:r>
              <a:rPr lang="en-GB" altLang="en-US" sz="2400" baseline="30000" dirty="0">
                <a:latin typeface="Calibri" panose="020F0502020204030204" pitchFamily="34" charset="0"/>
                <a:cs typeface="Calibri" panose="020F0502020204030204" pitchFamily="34" charset="0"/>
              </a:rPr>
              <a:t>-2</a:t>
            </a:r>
            <a:r>
              <a:rPr lang="en-US" altLang="en-US" sz="2400" dirty="0">
                <a:latin typeface="Calibri" panose="020F0502020204030204" pitchFamily="34" charset="0"/>
                <a:cs typeface="Calibri" panose="020F0502020204030204" pitchFamily="34" charset="0"/>
              </a:rPr>
              <a:t>)</a:t>
            </a:r>
          </a:p>
          <a:p>
            <a:pPr marL="0" indent="0" eaLnBrk="1" hangingPunct="1">
              <a:buFont typeface="Arial" panose="020B0604020202020204" pitchFamily="34" charset="0"/>
              <a:buNone/>
            </a:pPr>
            <a:r>
              <a:rPr lang="en-US" altLang="en-US" sz="2400" dirty="0">
                <a:latin typeface="Calibri" panose="020F0502020204030204" pitchFamily="34" charset="0"/>
                <a:cs typeface="Calibri" panose="020F0502020204030204" pitchFamily="34" charset="0"/>
              </a:rPr>
              <a:t>T = Equivalent black body Temperature (K)</a:t>
            </a:r>
          </a:p>
          <a:p>
            <a:pPr marL="0" indent="0" eaLnBrk="1" hangingPunct="1">
              <a:buFont typeface="Arial" panose="020B0604020202020204" pitchFamily="34" charset="0"/>
              <a:buNone/>
            </a:pPr>
            <a:r>
              <a:rPr lang="el-GR" altLang="en-US" sz="2400" b="1" dirty="0">
                <a:solidFill>
                  <a:srgbClr val="FF0000"/>
                </a:solidFill>
                <a:latin typeface="Calibri" panose="020F0502020204030204" pitchFamily="34" charset="0"/>
                <a:cs typeface="Calibri" panose="020F0502020204030204" pitchFamily="34" charset="0"/>
              </a:rPr>
              <a:t>σ</a:t>
            </a:r>
            <a:r>
              <a:rPr lang="en-GB" altLang="en-US" sz="2400" b="1" dirty="0">
                <a:solidFill>
                  <a:srgbClr val="FF0000"/>
                </a:solidFill>
                <a:latin typeface="Calibri" panose="020F0502020204030204" pitchFamily="34" charset="0"/>
                <a:cs typeface="Calibri" panose="020F0502020204030204" pitchFamily="34" charset="0"/>
              </a:rPr>
              <a:t> = Stefan-Boltzmann constant (</a:t>
            </a:r>
            <a:r>
              <a:rPr lang="pl-PL" altLang="en-US" sz="2400" b="1" dirty="0">
                <a:solidFill>
                  <a:srgbClr val="FF0000"/>
                </a:solidFill>
                <a:latin typeface="Calibri" panose="020F0502020204030204" pitchFamily="34" charset="0"/>
                <a:cs typeface="Calibri" panose="020F0502020204030204" pitchFamily="34" charset="0"/>
              </a:rPr>
              <a:t>5.67 x 10</a:t>
            </a:r>
            <a:r>
              <a:rPr lang="pl-PL" altLang="en-US" sz="2400" b="1" baseline="30000" dirty="0">
                <a:solidFill>
                  <a:srgbClr val="FF0000"/>
                </a:solidFill>
                <a:latin typeface="Calibri" panose="020F0502020204030204" pitchFamily="34" charset="0"/>
                <a:cs typeface="Calibri" panose="020F0502020204030204" pitchFamily="34" charset="0"/>
              </a:rPr>
              <a:t>-8</a:t>
            </a:r>
            <a:r>
              <a:rPr lang="pl-PL" altLang="en-US" sz="2400" b="1" dirty="0">
                <a:solidFill>
                  <a:srgbClr val="FF0000"/>
                </a:solidFill>
                <a:latin typeface="Calibri" panose="020F0502020204030204" pitchFamily="34" charset="0"/>
                <a:cs typeface="Calibri" panose="020F0502020204030204" pitchFamily="34" charset="0"/>
              </a:rPr>
              <a:t> W m</a:t>
            </a:r>
            <a:r>
              <a:rPr lang="pl-PL" altLang="en-US" sz="2400" b="1" baseline="30000" dirty="0">
                <a:solidFill>
                  <a:srgbClr val="FF0000"/>
                </a:solidFill>
                <a:latin typeface="Calibri" panose="020F0502020204030204" pitchFamily="34" charset="0"/>
                <a:cs typeface="Calibri" panose="020F0502020204030204" pitchFamily="34" charset="0"/>
              </a:rPr>
              <a:t>-2</a:t>
            </a:r>
            <a:r>
              <a:rPr lang="pl-PL" altLang="en-US" sz="2400" b="1" dirty="0">
                <a:solidFill>
                  <a:srgbClr val="FF0000"/>
                </a:solidFill>
                <a:latin typeface="Calibri" panose="020F0502020204030204" pitchFamily="34" charset="0"/>
                <a:cs typeface="Calibri" panose="020F0502020204030204" pitchFamily="34" charset="0"/>
              </a:rPr>
              <a:t> K</a:t>
            </a:r>
            <a:r>
              <a:rPr lang="pl-PL" altLang="en-US" sz="2400" b="1" baseline="30000" dirty="0">
                <a:solidFill>
                  <a:srgbClr val="FF0000"/>
                </a:solidFill>
                <a:latin typeface="Calibri" panose="020F0502020204030204" pitchFamily="34" charset="0"/>
                <a:cs typeface="Calibri" panose="020F0502020204030204" pitchFamily="34" charset="0"/>
              </a:rPr>
              <a:t>-4</a:t>
            </a:r>
            <a:r>
              <a:rPr lang="en-GB" altLang="en-US" sz="2400" b="1" dirty="0">
                <a:solidFill>
                  <a:srgbClr val="FF0000"/>
                </a:solidFill>
                <a:latin typeface="Calibri" panose="020F0502020204030204" pitchFamily="34" charset="0"/>
                <a:cs typeface="Calibri" panose="020F0502020204030204" pitchFamily="34" charset="0"/>
              </a:rPr>
              <a:t>)</a:t>
            </a:r>
          </a:p>
          <a:p>
            <a:pPr marL="0" indent="0" eaLnBrk="1" hangingPunct="1">
              <a:buFont typeface="Arial" panose="020B0604020202020204" pitchFamily="34" charset="0"/>
              <a:buNone/>
            </a:pPr>
            <a:endParaRPr lang="en-US" altLang="en-US" sz="2400"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r>
              <a:rPr lang="en-US" altLang="en-US" sz="2400" b="1" dirty="0">
                <a:latin typeface="Calibri" panose="020F0502020204030204" pitchFamily="34" charset="0"/>
                <a:cs typeface="Calibri" panose="020F0502020204030204" pitchFamily="34" charset="0"/>
              </a:rPr>
              <a:t>Warmer objects emit energy more intensely than cold objects.</a:t>
            </a:r>
          </a:p>
          <a:p>
            <a:pPr marL="0" indent="0" eaLnBrk="1" hangingPunct="1">
              <a:buFont typeface="Arial" panose="020B0604020202020204" pitchFamily="34" charset="0"/>
              <a:buNone/>
            </a:pPr>
            <a:endParaRPr lang="en-US" altLang="en-US" sz="2400" b="1"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endParaRPr lang="en-GB" altLang="en-US" sz="2400" b="1" dirty="0">
              <a:latin typeface="Calibri" panose="020F0502020204030204" pitchFamily="34" charset="0"/>
              <a:cs typeface="Calibri" panose="020F0502020204030204" pitchFamily="34" charset="0"/>
            </a:endParaRPr>
          </a:p>
        </p:txBody>
      </p:sp>
      <p:sp>
        <p:nvSpPr>
          <p:cNvPr id="2" name="Freeform 13">
            <a:extLst>
              <a:ext uri="{FF2B5EF4-FFF2-40B4-BE49-F238E27FC236}">
                <a16:creationId xmlns:a16="http://schemas.microsoft.com/office/drawing/2014/main" id="{FA4291BB-2015-0EA8-0E4A-D8642A24B01F}"/>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0AB4A39E-BE6E-DC17-4B88-C6E4EB2029C2}"/>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Radiation Laws</a:t>
            </a:r>
          </a:p>
        </p:txBody>
      </p:sp>
      <p:graphicFrame>
        <p:nvGraphicFramePr>
          <p:cNvPr id="4" name="Object 6">
            <a:extLst>
              <a:ext uri="{FF2B5EF4-FFF2-40B4-BE49-F238E27FC236}">
                <a16:creationId xmlns:a16="http://schemas.microsoft.com/office/drawing/2014/main" id="{08D63008-BCAA-0DCF-45FF-5BB3BA6DE7B3}"/>
              </a:ext>
            </a:extLst>
          </p:cNvPr>
          <p:cNvGraphicFramePr>
            <a:graphicFrameLocks noChangeAspect="1"/>
          </p:cNvGraphicFramePr>
          <p:nvPr/>
        </p:nvGraphicFramePr>
        <p:xfrm>
          <a:off x="389465" y="3514624"/>
          <a:ext cx="2590800" cy="823912"/>
        </p:xfrm>
        <a:graphic>
          <a:graphicData uri="http://schemas.openxmlformats.org/presentationml/2006/ole">
            <mc:AlternateContent xmlns:mc="http://schemas.openxmlformats.org/markup-compatibility/2006">
              <mc:Choice xmlns:v="urn:schemas-microsoft-com:vml" Requires="v">
                <p:oleObj name="Equation" r:id="rId4" imgW="16383000" imgH="5270500" progId="Equation.3">
                  <p:embed/>
                </p:oleObj>
              </mc:Choice>
              <mc:Fallback>
                <p:oleObj name="Equation" r:id="rId4" imgW="16383000" imgH="5270500" progId="Equation.3">
                  <p:embed/>
                  <p:pic>
                    <p:nvPicPr>
                      <p:cNvPr id="4" name="Object 6">
                        <a:extLst>
                          <a:ext uri="{FF2B5EF4-FFF2-40B4-BE49-F238E27FC236}">
                            <a16:creationId xmlns:a16="http://schemas.microsoft.com/office/drawing/2014/main" id="{69FED68F-6882-8F2A-06CB-CAA0E6ABC0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465" y="3514624"/>
                        <a:ext cx="2590800" cy="82391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183538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7">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7">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747">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747">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747">
                                            <p:txEl>
                                              <p:pRg st="13" end="1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1747">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Content Placeholder 2">
            <a:extLst>
              <a:ext uri="{FF2B5EF4-FFF2-40B4-BE49-F238E27FC236}">
                <a16:creationId xmlns:a16="http://schemas.microsoft.com/office/drawing/2014/main" id="{DE2B9917-C7E8-D172-D333-EEA1A3F40F27}"/>
              </a:ext>
            </a:extLst>
          </p:cNvPr>
          <p:cNvSpPr>
            <a:spLocks noGrp="1" noChangeArrowheads="1"/>
          </p:cNvSpPr>
          <p:nvPr>
            <p:ph idx="1"/>
          </p:nvPr>
        </p:nvSpPr>
        <p:spPr>
          <a:xfrm>
            <a:off x="350827" y="1584414"/>
            <a:ext cx="11554885" cy="4835525"/>
          </a:xfrm>
        </p:spPr>
        <p:txBody>
          <a:bodyPr/>
          <a:lstStyle/>
          <a:p>
            <a:pPr marL="0" indent="0" eaLnBrk="1" hangingPunct="1">
              <a:buFont typeface="Arial" panose="020B0604020202020204" pitchFamily="34" charset="0"/>
              <a:buNone/>
            </a:pPr>
            <a:r>
              <a:rPr lang="en-US" altLang="en-US" sz="2200" b="1" dirty="0">
                <a:latin typeface="Calibri" panose="020F0502020204030204" pitchFamily="34" charset="0"/>
                <a:cs typeface="Calibri" panose="020F0502020204030204" pitchFamily="34" charset="0"/>
              </a:rPr>
              <a:t>Wien’s Law</a:t>
            </a:r>
          </a:p>
          <a:p>
            <a:pPr marL="0" indent="0" eaLnBrk="1" hangingPunct="1">
              <a:buFont typeface="Arial" panose="020B0604020202020204" pitchFamily="34" charset="0"/>
              <a:buNone/>
            </a:pPr>
            <a:endParaRPr lang="en-US" altLang="en-US" sz="2200" b="1"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r>
              <a:rPr lang="en-US" altLang="en-US" sz="2200" dirty="0">
                <a:latin typeface="Calibri" panose="020F0502020204030204" pitchFamily="34" charset="0"/>
                <a:cs typeface="Calibri" panose="020F0502020204030204" pitchFamily="34" charset="0"/>
              </a:rPr>
              <a:t>The wavelength which emits the most energy is related to temperature by:</a:t>
            </a:r>
          </a:p>
          <a:p>
            <a:pPr marL="0" indent="0" eaLnBrk="1" hangingPunct="1">
              <a:buFont typeface="Arial" panose="020B0604020202020204" pitchFamily="34" charset="0"/>
              <a:buNone/>
            </a:pPr>
            <a:endParaRPr lang="en-US" altLang="en-US" sz="2200"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endParaRPr lang="en-US" altLang="en-US" sz="2200"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endParaRPr lang="en-US" altLang="en-US" sz="2200"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r>
              <a:rPr lang="en-US" altLang="en-US" sz="2200" dirty="0">
                <a:latin typeface="Calibri" panose="020F0502020204030204" pitchFamily="34" charset="0"/>
                <a:cs typeface="Calibri" panose="020F0502020204030204" pitchFamily="34" charset="0"/>
              </a:rPr>
              <a:t>where:</a:t>
            </a:r>
          </a:p>
          <a:p>
            <a:pPr marL="0" indent="0" eaLnBrk="1" hangingPunct="1">
              <a:buFont typeface="Arial" panose="020B0604020202020204" pitchFamily="34" charset="0"/>
              <a:buNone/>
            </a:pPr>
            <a:r>
              <a:rPr lang="en-US" altLang="en-US" sz="2200" i="1" dirty="0" err="1">
                <a:latin typeface="Calibri" panose="020F0502020204030204" pitchFamily="34" charset="0"/>
                <a:cs typeface="Calibri" panose="020F0502020204030204" pitchFamily="34" charset="0"/>
              </a:rPr>
              <a:t>λ</a:t>
            </a:r>
            <a:r>
              <a:rPr lang="en-US" altLang="en-US" sz="2200" i="1" baseline="-25000" dirty="0" err="1">
                <a:latin typeface="Calibri" panose="020F0502020204030204" pitchFamily="34" charset="0"/>
                <a:cs typeface="Calibri" panose="020F0502020204030204" pitchFamily="34" charset="0"/>
              </a:rPr>
              <a:t>max</a:t>
            </a:r>
            <a:r>
              <a:rPr lang="en-US" altLang="en-US" sz="2200" i="1" dirty="0">
                <a:latin typeface="Calibri" panose="020F0502020204030204" pitchFamily="34" charset="0"/>
                <a:cs typeface="Calibri" panose="020F0502020204030204" pitchFamily="34" charset="0"/>
              </a:rPr>
              <a:t> = </a:t>
            </a:r>
            <a:r>
              <a:rPr lang="en-US" altLang="en-US" sz="2200" dirty="0">
                <a:latin typeface="Calibri" panose="020F0502020204030204" pitchFamily="34" charset="0"/>
                <a:cs typeface="Calibri" panose="020F0502020204030204" pitchFamily="34" charset="0"/>
              </a:rPr>
              <a:t>Wavelength in nm</a:t>
            </a:r>
            <a:endParaRPr lang="en-US" altLang="en-US" sz="2200" i="1"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r>
              <a:rPr lang="en-US" altLang="en-US" sz="2200" i="1" dirty="0">
                <a:latin typeface="Calibri" panose="020F0502020204030204" pitchFamily="34" charset="0"/>
                <a:cs typeface="Calibri" panose="020F0502020204030204" pitchFamily="34" charset="0"/>
              </a:rPr>
              <a:t>T = </a:t>
            </a:r>
            <a:r>
              <a:rPr lang="en-US" altLang="en-US" sz="2200" dirty="0">
                <a:latin typeface="Calibri" panose="020F0502020204030204" pitchFamily="34" charset="0"/>
                <a:cs typeface="Calibri" panose="020F0502020204030204" pitchFamily="34" charset="0"/>
              </a:rPr>
              <a:t>Temperature (K)</a:t>
            </a:r>
            <a:endParaRPr lang="en-US" altLang="en-US" sz="2200" i="1"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endParaRPr lang="en-US" altLang="en-US" sz="2200"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r>
              <a:rPr lang="en-GB" altLang="en-US" sz="2200" b="1" dirty="0">
                <a:latin typeface="Calibri" panose="020F0502020204030204" pitchFamily="34" charset="0"/>
                <a:cs typeface="Calibri" panose="020F0502020204030204" pitchFamily="34" charset="0"/>
              </a:rPr>
              <a:t>Warmer objects emit a higher proportion of their energy at short wavelengths than cold objects</a:t>
            </a:r>
            <a:endParaRPr lang="en-US" altLang="en-US" sz="2200" b="1" dirty="0">
              <a:latin typeface="Calibri" panose="020F0502020204030204" pitchFamily="34" charset="0"/>
              <a:cs typeface="Calibri" panose="020F0502020204030204" pitchFamily="34" charset="0"/>
            </a:endParaRPr>
          </a:p>
          <a:p>
            <a:pPr marL="0" indent="0" eaLnBrk="1" hangingPunct="1">
              <a:buFont typeface="Arial" panose="020B0604020202020204" pitchFamily="34" charset="0"/>
              <a:buNone/>
            </a:pPr>
            <a:endParaRPr lang="en-GB" altLang="en-US" b="1" dirty="0"/>
          </a:p>
        </p:txBody>
      </p:sp>
      <p:sp>
        <p:nvSpPr>
          <p:cNvPr id="2" name="Freeform 13">
            <a:extLst>
              <a:ext uri="{FF2B5EF4-FFF2-40B4-BE49-F238E27FC236}">
                <a16:creationId xmlns:a16="http://schemas.microsoft.com/office/drawing/2014/main" id="{16761A2B-8DD7-22CD-1AEE-A2D18942DF4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7" name="TextBox 14">
            <a:extLst>
              <a:ext uri="{FF2B5EF4-FFF2-40B4-BE49-F238E27FC236}">
                <a16:creationId xmlns:a16="http://schemas.microsoft.com/office/drawing/2014/main" id="{7582797A-DE13-6DEF-0D84-CF37D65901AA}"/>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Radiation Laws</a:t>
            </a:r>
          </a:p>
        </p:txBody>
      </p:sp>
      <p:pic>
        <p:nvPicPr>
          <p:cNvPr id="4" name="Picture 3" descr="A number with black text&#10;&#10;AI-generated content may be incorrect.">
            <a:extLst>
              <a:ext uri="{FF2B5EF4-FFF2-40B4-BE49-F238E27FC236}">
                <a16:creationId xmlns:a16="http://schemas.microsoft.com/office/drawing/2014/main" id="{4E6F513C-93DE-42A3-E96F-4DF52504512A}"/>
              </a:ext>
            </a:extLst>
          </p:cNvPr>
          <p:cNvPicPr>
            <a:picLocks noChangeAspect="1"/>
          </p:cNvPicPr>
          <p:nvPr/>
        </p:nvPicPr>
        <p:blipFill>
          <a:blip r:embed="rId4"/>
          <a:srcRect l="8029" b="16901"/>
          <a:stretch>
            <a:fillRect/>
          </a:stretch>
        </p:blipFill>
        <p:spPr>
          <a:xfrm>
            <a:off x="494762" y="2908300"/>
            <a:ext cx="4485215" cy="749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4" descr="Chart, histogram&#10;&#10;Description automatically generated">
            <a:extLst>
              <a:ext uri="{FF2B5EF4-FFF2-40B4-BE49-F238E27FC236}">
                <a16:creationId xmlns:a16="http://schemas.microsoft.com/office/drawing/2014/main" id="{653448A1-75FA-0CCF-098A-71E0A97E74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465" y="1463948"/>
            <a:ext cx="5877966" cy="489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a:extLst>
              <a:ext uri="{FF2B5EF4-FFF2-40B4-BE49-F238E27FC236}">
                <a16:creationId xmlns:a16="http://schemas.microsoft.com/office/drawing/2014/main" id="{B99F9141-8AE3-DB4B-AED8-09C7C1ECE776}"/>
              </a:ext>
            </a:extLst>
          </p:cNvPr>
          <p:cNvSpPr>
            <a:spLocks noGrp="1"/>
          </p:cNvSpPr>
          <p:nvPr>
            <p:ph idx="1"/>
          </p:nvPr>
        </p:nvSpPr>
        <p:spPr>
          <a:xfrm>
            <a:off x="6267431" y="1579857"/>
            <a:ext cx="5329237" cy="2089150"/>
          </a:xfrm>
        </p:spPr>
        <p:txBody>
          <a:bodyPr rtlCol="0">
            <a:noAutofit/>
          </a:bodyPr>
          <a:lstStyle/>
          <a:p>
            <a:pPr marL="0" indent="0" eaLnBrk="1" fontAlgn="auto" hangingPunct="1">
              <a:spcAft>
                <a:spcPts val="0"/>
              </a:spcAft>
              <a:buFont typeface="Arial" panose="020B0604020202020204" pitchFamily="34" charset="0"/>
              <a:buNone/>
              <a:defRPr/>
            </a:pPr>
            <a:r>
              <a:rPr lang="en-US" altLang="en-US" sz="2400" dirty="0">
                <a:latin typeface="Calibri" panose="020F0502020204030204" pitchFamily="34" charset="0"/>
                <a:cs typeface="Calibri" panose="020F0502020204030204" pitchFamily="34" charset="0"/>
              </a:rPr>
              <a:t>As temperature increases:</a:t>
            </a:r>
          </a:p>
          <a:p>
            <a:pPr>
              <a:defRPr/>
            </a:pPr>
            <a:r>
              <a:rPr lang="en-US" altLang="en-US" sz="2400" dirty="0">
                <a:latin typeface="Calibri" panose="020F0502020204030204" pitchFamily="34" charset="0"/>
                <a:cs typeface="Calibri" panose="020F0502020204030204" pitchFamily="34" charset="0"/>
              </a:rPr>
              <a:t>Total energy increases</a:t>
            </a:r>
          </a:p>
          <a:p>
            <a:pPr>
              <a:defRPr/>
            </a:pPr>
            <a:r>
              <a:rPr lang="en-US" altLang="en-US" sz="2400" dirty="0">
                <a:latin typeface="Calibri" panose="020F0502020204030204" pitchFamily="34" charset="0"/>
                <a:cs typeface="Calibri" panose="020F0502020204030204" pitchFamily="34" charset="0"/>
              </a:rPr>
              <a:t>Peak wavelength decreases</a:t>
            </a:r>
            <a:endParaRPr lang="en-US" sz="2400" b="1" dirty="0">
              <a:latin typeface="Calibri" panose="020F0502020204030204" pitchFamily="34" charset="0"/>
              <a:cs typeface="Calibri" panose="020F0502020204030204" pitchFamily="34" charset="0"/>
            </a:endParaRPr>
          </a:p>
        </p:txBody>
      </p:sp>
      <p:sp>
        <p:nvSpPr>
          <p:cNvPr id="2" name="Freeform 13">
            <a:extLst>
              <a:ext uri="{FF2B5EF4-FFF2-40B4-BE49-F238E27FC236}">
                <a16:creationId xmlns:a16="http://schemas.microsoft.com/office/drawing/2014/main" id="{6D567399-11DC-6CFD-830C-94752BF33B1E}"/>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96B1CD82-2BD3-C256-7CE3-617B02E2427E}"/>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Radiation Laws Combined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a:extLst>
              <a:ext uri="{FF2B5EF4-FFF2-40B4-BE49-F238E27FC236}">
                <a16:creationId xmlns:a16="http://schemas.microsoft.com/office/drawing/2014/main" id="{D49ED4A4-1403-69A4-459D-B0C54A0D670D}"/>
              </a:ext>
            </a:extLst>
          </p:cNvPr>
          <p:cNvSpPr txBox="1">
            <a:spLocks noChangeArrowheads="1"/>
          </p:cNvSpPr>
          <p:nvPr/>
        </p:nvSpPr>
        <p:spPr bwMode="auto">
          <a:xfrm>
            <a:off x="449658" y="1558032"/>
            <a:ext cx="11742341" cy="823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9" tIns="45715" rIns="91429" bIns="45715">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eaLnBrk="1" hangingPunct="1">
              <a:spcBef>
                <a:spcPct val="50000"/>
              </a:spcBef>
            </a:pPr>
            <a:r>
              <a:rPr lang="en-GB" altLang="en-US" sz="1900" dirty="0">
                <a:latin typeface="Calibri" panose="020F0502020204030204" pitchFamily="34" charset="0"/>
                <a:cs typeface="Calibri" panose="020F0502020204030204" pitchFamily="34" charset="0"/>
              </a:rPr>
              <a:t>The Earth also acts as a blackbody radiator</a:t>
            </a:r>
          </a:p>
          <a:p>
            <a:pPr eaLnBrk="1" hangingPunct="1">
              <a:spcBef>
                <a:spcPct val="50000"/>
              </a:spcBef>
            </a:pPr>
            <a:r>
              <a:rPr lang="en-GB" altLang="en-US" sz="1900" dirty="0" err="1">
                <a:latin typeface="Calibri" panose="020F0502020204030204" pitchFamily="34" charset="0"/>
                <a:cs typeface="Calibri" panose="020F0502020204030204" pitchFamily="34" charset="0"/>
              </a:rPr>
              <a:t>T</a:t>
            </a:r>
            <a:r>
              <a:rPr lang="en-GB" altLang="en-US" sz="1900" baseline="-30000" dirty="0" err="1">
                <a:latin typeface="Calibri" panose="020F0502020204030204" pitchFamily="34" charset="0"/>
                <a:cs typeface="Calibri" panose="020F0502020204030204" pitchFamily="34" charset="0"/>
              </a:rPr>
              <a:t>e</a:t>
            </a:r>
            <a:r>
              <a:rPr lang="en-GB" altLang="en-US" sz="1900" dirty="0">
                <a:latin typeface="Calibri" panose="020F0502020204030204" pitchFamily="34" charset="0"/>
                <a:cs typeface="Calibri" panose="020F0502020204030204" pitchFamily="34" charset="0"/>
              </a:rPr>
              <a:t> = 288 K so most of the irradiance from the Earth is in the infra-red part of the spectrum and peaks at about 10 </a:t>
            </a:r>
            <a:r>
              <a:rPr lang="en-GB" altLang="en-US" sz="1900" i="1" dirty="0">
                <a:latin typeface="Calibri" panose="020F0502020204030204" pitchFamily="34" charset="0"/>
                <a:cs typeface="Calibri" panose="020F0502020204030204" pitchFamily="34" charset="0"/>
                <a:sym typeface="Symbol" pitchFamily="2" charset="2"/>
              </a:rPr>
              <a:t></a:t>
            </a:r>
            <a:r>
              <a:rPr lang="en-GB" altLang="en-US" sz="1900" dirty="0">
                <a:latin typeface="Calibri" panose="020F0502020204030204" pitchFamily="34" charset="0"/>
                <a:cs typeface="Calibri" panose="020F0502020204030204" pitchFamily="34" charset="0"/>
              </a:rPr>
              <a:t>m.</a:t>
            </a:r>
          </a:p>
        </p:txBody>
      </p:sp>
      <p:grpSp>
        <p:nvGrpSpPr>
          <p:cNvPr id="23555" name="Group 12">
            <a:extLst>
              <a:ext uri="{FF2B5EF4-FFF2-40B4-BE49-F238E27FC236}">
                <a16:creationId xmlns:a16="http://schemas.microsoft.com/office/drawing/2014/main" id="{A41F9450-7AE5-F183-36FA-F4B25020D55B}"/>
              </a:ext>
            </a:extLst>
          </p:cNvPr>
          <p:cNvGrpSpPr>
            <a:grpSpLocks/>
          </p:cNvGrpSpPr>
          <p:nvPr/>
        </p:nvGrpSpPr>
        <p:grpSpPr bwMode="auto">
          <a:xfrm>
            <a:off x="449658" y="2731479"/>
            <a:ext cx="5435384" cy="3490395"/>
            <a:chOff x="480" y="1296"/>
            <a:chExt cx="3591" cy="2678"/>
          </a:xfrm>
        </p:grpSpPr>
        <p:graphicFrame>
          <p:nvGraphicFramePr>
            <p:cNvPr id="23558" name="Object 4">
              <a:extLst>
                <a:ext uri="{FF2B5EF4-FFF2-40B4-BE49-F238E27FC236}">
                  <a16:creationId xmlns:a16="http://schemas.microsoft.com/office/drawing/2014/main" id="{7CAD74E5-C4AC-39D8-9E52-2FDCEFDF3760}"/>
                </a:ext>
              </a:extLst>
            </p:cNvPr>
            <p:cNvGraphicFramePr>
              <a:graphicFrameLocks noChangeAspect="1"/>
            </p:cNvGraphicFramePr>
            <p:nvPr>
              <p:extLst>
                <p:ext uri="{D42A27DB-BD31-4B8C-83A1-F6EECF244321}">
                  <p14:modId xmlns:p14="http://schemas.microsoft.com/office/powerpoint/2010/main" val="1598955934"/>
                </p:ext>
              </p:extLst>
            </p:nvPr>
          </p:nvGraphicFramePr>
          <p:xfrm>
            <a:off x="480" y="1536"/>
            <a:ext cx="3216" cy="2339"/>
          </p:xfrm>
          <a:graphic>
            <a:graphicData uri="http://schemas.openxmlformats.org/presentationml/2006/ole">
              <mc:AlternateContent xmlns:mc="http://schemas.openxmlformats.org/markup-compatibility/2006">
                <mc:Choice xmlns:v="urn:schemas-microsoft-com:vml" Requires="v">
                  <p:oleObj name="Photo Editor Photo" r:id="rId2" imgW="2794000" imgH="2032000" progId="MSPhotoEd.3">
                    <p:embed/>
                  </p:oleObj>
                </mc:Choice>
                <mc:Fallback>
                  <p:oleObj name="Photo Editor Photo" r:id="rId2" imgW="2794000" imgH="2032000" progId="MSPhotoEd.3">
                    <p:embed/>
                    <p:pic>
                      <p:nvPicPr>
                        <p:cNvPr id="23558" name="Object 4">
                          <a:extLst>
                            <a:ext uri="{FF2B5EF4-FFF2-40B4-BE49-F238E27FC236}">
                              <a16:creationId xmlns:a16="http://schemas.microsoft.com/office/drawing/2014/main" id="{7CAD74E5-C4AC-39D8-9E52-2FDCEFDF37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 y="1536"/>
                          <a:ext cx="3216" cy="2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559" name="Line 5">
              <a:extLst>
                <a:ext uri="{FF2B5EF4-FFF2-40B4-BE49-F238E27FC236}">
                  <a16:creationId xmlns:a16="http://schemas.microsoft.com/office/drawing/2014/main" id="{B44A9648-C02A-565B-99C3-71799AB0CCAD}"/>
                </a:ext>
              </a:extLst>
            </p:cNvPr>
            <p:cNvSpPr>
              <a:spLocks noChangeShapeType="1"/>
            </p:cNvSpPr>
            <p:nvPr/>
          </p:nvSpPr>
          <p:spPr bwMode="auto">
            <a:xfrm flipH="1" flipV="1">
              <a:off x="1392" y="1536"/>
              <a:ext cx="192" cy="432"/>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sz="1900">
                <a:latin typeface="Calibri" panose="020F0502020204030204" pitchFamily="34" charset="0"/>
                <a:cs typeface="Calibri" panose="020F0502020204030204" pitchFamily="34" charset="0"/>
              </a:endParaRPr>
            </a:p>
          </p:txBody>
        </p:sp>
        <p:sp>
          <p:nvSpPr>
            <p:cNvPr id="23560" name="Line 6">
              <a:extLst>
                <a:ext uri="{FF2B5EF4-FFF2-40B4-BE49-F238E27FC236}">
                  <a16:creationId xmlns:a16="http://schemas.microsoft.com/office/drawing/2014/main" id="{9032F169-DCB5-B8ED-ABC8-6F09D8C3D3CC}"/>
                </a:ext>
              </a:extLst>
            </p:cNvPr>
            <p:cNvSpPr>
              <a:spLocks noChangeShapeType="1"/>
            </p:cNvSpPr>
            <p:nvPr/>
          </p:nvSpPr>
          <p:spPr bwMode="auto">
            <a:xfrm flipH="1" flipV="1">
              <a:off x="2592" y="1536"/>
              <a:ext cx="192" cy="432"/>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sz="1900">
                <a:latin typeface="Calibri" panose="020F0502020204030204" pitchFamily="34" charset="0"/>
                <a:cs typeface="Calibri" panose="020F0502020204030204" pitchFamily="34" charset="0"/>
              </a:endParaRPr>
            </a:p>
          </p:txBody>
        </p:sp>
        <p:sp>
          <p:nvSpPr>
            <p:cNvPr id="23561" name="Line 7">
              <a:extLst>
                <a:ext uri="{FF2B5EF4-FFF2-40B4-BE49-F238E27FC236}">
                  <a16:creationId xmlns:a16="http://schemas.microsoft.com/office/drawing/2014/main" id="{B50C1BCA-51FB-B38E-171C-4597F7CDC7D9}"/>
                </a:ext>
              </a:extLst>
            </p:cNvPr>
            <p:cNvSpPr>
              <a:spLocks noChangeShapeType="1"/>
            </p:cNvSpPr>
            <p:nvPr/>
          </p:nvSpPr>
          <p:spPr bwMode="auto">
            <a:xfrm>
              <a:off x="1776" y="2559"/>
              <a:ext cx="816" cy="0"/>
            </a:xfrm>
            <a:prstGeom prst="line">
              <a:avLst/>
            </a:prstGeom>
            <a:noFill/>
            <a:ln w="28575">
              <a:solidFill>
                <a:srgbClr val="FF0000"/>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en-US" sz="1900">
                <a:latin typeface="Calibri" panose="020F0502020204030204" pitchFamily="34" charset="0"/>
                <a:cs typeface="Calibri" panose="020F0502020204030204" pitchFamily="34" charset="0"/>
              </a:endParaRPr>
            </a:p>
          </p:txBody>
        </p:sp>
        <p:sp>
          <p:nvSpPr>
            <p:cNvPr id="23562" name="Text Box 8">
              <a:extLst>
                <a:ext uri="{FF2B5EF4-FFF2-40B4-BE49-F238E27FC236}">
                  <a16:creationId xmlns:a16="http://schemas.microsoft.com/office/drawing/2014/main" id="{97EF2534-113C-8F98-212A-8F8DEF04052F}"/>
                </a:ext>
              </a:extLst>
            </p:cNvPr>
            <p:cNvSpPr txBox="1">
              <a:spLocks noChangeArrowheads="1"/>
            </p:cNvSpPr>
            <p:nvPr/>
          </p:nvSpPr>
          <p:spPr bwMode="auto">
            <a:xfrm>
              <a:off x="480" y="1296"/>
              <a:ext cx="359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9" tIns="45715" rIns="91429" bIns="45715">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eaLnBrk="1" hangingPunct="1">
                <a:spcBef>
                  <a:spcPct val="50000"/>
                </a:spcBef>
              </a:pPr>
              <a:r>
                <a:rPr lang="en-GB" altLang="en-US" sz="1900" dirty="0">
                  <a:latin typeface="Calibri" panose="020F0502020204030204" pitchFamily="34" charset="0"/>
                  <a:cs typeface="Calibri" panose="020F0502020204030204" pitchFamily="34" charset="0"/>
                </a:rPr>
                <a:t>Solar Radiation 5</a:t>
              </a:r>
              <a:r>
                <a:rPr lang="en-US" altLang="en-US" sz="1900" dirty="0">
                  <a:latin typeface="Calibri" panose="020F0502020204030204" pitchFamily="34" charset="0"/>
                  <a:cs typeface="Calibri" panose="020F0502020204030204" pitchFamily="34" charset="0"/>
                </a:rPr>
                <a:t>900K</a:t>
              </a:r>
              <a:r>
                <a:rPr lang="en-GB" altLang="en-US" sz="1900" dirty="0">
                  <a:latin typeface="Calibri" panose="020F0502020204030204" pitchFamily="34" charset="0"/>
                  <a:cs typeface="Calibri" panose="020F0502020204030204" pitchFamily="34" charset="0"/>
                </a:rPr>
                <a:t>     Terrestrial </a:t>
              </a:r>
              <a:r>
                <a:rPr lang="en-US" altLang="en-US" sz="1900" dirty="0">
                  <a:latin typeface="Calibri" panose="020F0502020204030204" pitchFamily="34" charset="0"/>
                  <a:cs typeface="Calibri" panose="020F0502020204030204" pitchFamily="34" charset="0"/>
                </a:rPr>
                <a:t>R</a:t>
              </a:r>
              <a:r>
                <a:rPr lang="en-GB" altLang="en-US" sz="1900" dirty="0">
                  <a:latin typeface="Calibri" panose="020F0502020204030204" pitchFamily="34" charset="0"/>
                  <a:cs typeface="Calibri" panose="020F0502020204030204" pitchFamily="34" charset="0"/>
                </a:rPr>
                <a:t>adiation 288 K</a:t>
              </a:r>
            </a:p>
          </p:txBody>
        </p:sp>
        <p:sp>
          <p:nvSpPr>
            <p:cNvPr id="23563" name="Text Box 9">
              <a:extLst>
                <a:ext uri="{FF2B5EF4-FFF2-40B4-BE49-F238E27FC236}">
                  <a16:creationId xmlns:a16="http://schemas.microsoft.com/office/drawing/2014/main" id="{BEBE4096-304A-95D0-2C9F-C7889ACE6417}"/>
                </a:ext>
              </a:extLst>
            </p:cNvPr>
            <p:cNvSpPr txBox="1">
              <a:spLocks noChangeArrowheads="1"/>
            </p:cNvSpPr>
            <p:nvPr/>
          </p:nvSpPr>
          <p:spPr bwMode="auto">
            <a:xfrm>
              <a:off x="1640" y="3679"/>
              <a:ext cx="1204"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9" tIns="45715" rIns="91429" bIns="45715">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eaLnBrk="1" hangingPunct="1">
                <a:spcBef>
                  <a:spcPct val="0"/>
                </a:spcBef>
              </a:pPr>
              <a:r>
                <a:rPr lang="en-US" altLang="en-US" sz="1900" dirty="0">
                  <a:latin typeface="Calibri" panose="020F0502020204030204" pitchFamily="34" charset="0"/>
                  <a:cs typeface="Calibri" panose="020F0502020204030204" pitchFamily="34" charset="0"/>
                  <a:sym typeface="Symbol" pitchFamily="2" charset="2"/>
                </a:rPr>
                <a:t>Wavelength </a:t>
              </a:r>
              <a:r>
                <a:rPr lang="en-GB" altLang="en-US" sz="1900" i="1" dirty="0">
                  <a:latin typeface="Calibri" panose="020F0502020204030204" pitchFamily="34" charset="0"/>
                  <a:cs typeface="Calibri" panose="020F0502020204030204" pitchFamily="34" charset="0"/>
                  <a:sym typeface="Symbol" pitchFamily="2" charset="2"/>
                </a:rPr>
                <a:t></a:t>
              </a:r>
              <a:r>
                <a:rPr lang="en-GB" altLang="en-US" sz="1900" dirty="0">
                  <a:latin typeface="Calibri" panose="020F0502020204030204" pitchFamily="34" charset="0"/>
                  <a:cs typeface="Calibri" panose="020F0502020204030204" pitchFamily="34" charset="0"/>
                </a:rPr>
                <a:t>m</a:t>
              </a:r>
            </a:p>
          </p:txBody>
        </p:sp>
      </p:grpSp>
      <p:sp>
        <p:nvSpPr>
          <p:cNvPr id="2" name="Freeform 13">
            <a:extLst>
              <a:ext uri="{FF2B5EF4-FFF2-40B4-BE49-F238E27FC236}">
                <a16:creationId xmlns:a16="http://schemas.microsoft.com/office/drawing/2014/main" id="{64FA8ECF-0A1A-8DFA-ABEB-AB397FF2DCAA}"/>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ACEBBD01-EB2F-4CB8-54FB-C3697D6414EB}"/>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Terrestrial Radiation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8434">
                                            <p:txEl>
                                              <p:pRg st="1" end="1"/>
                                            </p:txEl>
                                          </p:spTgt>
                                        </p:tgtEl>
                                        <p:attrNameLst>
                                          <p:attrName>style.visibility</p:attrName>
                                        </p:attrNameLst>
                                      </p:cBhvr>
                                      <p:to>
                                        <p:strVal val="visible"/>
                                      </p:to>
                                    </p:set>
                                    <p:animEffect transition="in" filter="fade">
                                      <p:cBhvr>
                                        <p:cTn id="7" dur="500"/>
                                        <p:tgtEl>
                                          <p:spTgt spid="1843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11" descr="solar_vs_terrestrial">
            <a:extLst>
              <a:ext uri="{FF2B5EF4-FFF2-40B4-BE49-F238E27FC236}">
                <a16:creationId xmlns:a16="http://schemas.microsoft.com/office/drawing/2014/main" id="{69222C9B-F060-36FF-4886-2FCC2E6683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076"/>
          <a:stretch>
            <a:fillRect/>
          </a:stretch>
        </p:blipFill>
        <p:spPr bwMode="auto">
          <a:xfrm>
            <a:off x="447316" y="1499333"/>
            <a:ext cx="6753337" cy="4797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TextBox 1">
            <a:extLst>
              <a:ext uri="{FF2B5EF4-FFF2-40B4-BE49-F238E27FC236}">
                <a16:creationId xmlns:a16="http://schemas.microsoft.com/office/drawing/2014/main" id="{1D1B1E6A-3ABB-9F53-BA6C-CCD3EA5C4176}"/>
              </a:ext>
            </a:extLst>
          </p:cNvPr>
          <p:cNvSpPr txBox="1">
            <a:spLocks noChangeArrowheads="1"/>
          </p:cNvSpPr>
          <p:nvPr/>
        </p:nvSpPr>
        <p:spPr bwMode="auto">
          <a:xfrm>
            <a:off x="3532679" y="4048290"/>
            <a:ext cx="582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000" b="1" dirty="0">
                <a:latin typeface="Times New Roman" panose="02020603050405020304" pitchFamily="18" charset="0"/>
              </a:rPr>
              <a:t>SW</a:t>
            </a:r>
          </a:p>
        </p:txBody>
      </p:sp>
      <p:sp>
        <p:nvSpPr>
          <p:cNvPr id="38917" name="TextBox 4">
            <a:extLst>
              <a:ext uri="{FF2B5EF4-FFF2-40B4-BE49-F238E27FC236}">
                <a16:creationId xmlns:a16="http://schemas.microsoft.com/office/drawing/2014/main" id="{9DF83966-7EBB-E80F-F5FE-BFCA0F046C20}"/>
              </a:ext>
            </a:extLst>
          </p:cNvPr>
          <p:cNvSpPr txBox="1">
            <a:spLocks noChangeArrowheads="1"/>
          </p:cNvSpPr>
          <p:nvPr/>
        </p:nvSpPr>
        <p:spPr bwMode="auto">
          <a:xfrm>
            <a:off x="5236670" y="4448340"/>
            <a:ext cx="588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000" b="1" dirty="0">
                <a:latin typeface="Times New Roman" panose="02020603050405020304" pitchFamily="18" charset="0"/>
              </a:rPr>
              <a:t>LW</a:t>
            </a:r>
          </a:p>
        </p:txBody>
      </p:sp>
      <p:sp>
        <p:nvSpPr>
          <p:cNvPr id="2" name="Freeform 13">
            <a:extLst>
              <a:ext uri="{FF2B5EF4-FFF2-40B4-BE49-F238E27FC236}">
                <a16:creationId xmlns:a16="http://schemas.microsoft.com/office/drawing/2014/main" id="{927B573B-BCF9-D335-F6B4-DC1BD5D2852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2000">
              <a:solidFill>
                <a:prstClr val="black"/>
              </a:solidFill>
              <a:latin typeface="Calibri" panose="020F0502020204030204" pitchFamily="34" charset="0"/>
              <a:cs typeface="Calibri" panose="020F0502020204030204" pitchFamily="34" charset="0"/>
            </a:endParaRPr>
          </a:p>
        </p:txBody>
      </p:sp>
      <p:sp>
        <p:nvSpPr>
          <p:cNvPr id="3" name="TextBox 14">
            <a:extLst>
              <a:ext uri="{FF2B5EF4-FFF2-40B4-BE49-F238E27FC236}">
                <a16:creationId xmlns:a16="http://schemas.microsoft.com/office/drawing/2014/main" id="{767F088A-FEFF-8D66-A0EF-BC2F1BB07903}"/>
              </a:ext>
            </a:extLst>
          </p:cNvPr>
          <p:cNvSpPr txBox="1"/>
          <p:nvPr/>
        </p:nvSpPr>
        <p:spPr>
          <a:xfrm>
            <a:off x="389465" y="684091"/>
            <a:ext cx="7336552" cy="1179810"/>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Solar and Earth Spectrums</a:t>
            </a:r>
          </a:p>
          <a:p>
            <a:pPr defTabSz="609630">
              <a:lnSpc>
                <a:spcPts val="4573"/>
              </a:lnSpc>
              <a:defRPr/>
            </a:pPr>
            <a:endParaRPr lang="en-US" sz="4000" i="1" spc="-275" dirty="0">
              <a:solidFill>
                <a:srgbClr val="46245A"/>
              </a:solidFill>
              <a:latin typeface="DM Sans Bold"/>
            </a:endParaRPr>
          </a:p>
        </p:txBody>
      </p:sp>
      <p:sp>
        <p:nvSpPr>
          <p:cNvPr id="4" name="Content Placeholder 2">
            <a:extLst>
              <a:ext uri="{FF2B5EF4-FFF2-40B4-BE49-F238E27FC236}">
                <a16:creationId xmlns:a16="http://schemas.microsoft.com/office/drawing/2014/main" id="{A467C5DA-A8DA-6EFB-6AE4-0469BCAF1101}"/>
              </a:ext>
            </a:extLst>
          </p:cNvPr>
          <p:cNvSpPr txBox="1">
            <a:spLocks/>
          </p:cNvSpPr>
          <p:nvPr/>
        </p:nvSpPr>
        <p:spPr>
          <a:xfrm>
            <a:off x="7465166" y="1627423"/>
            <a:ext cx="5329237" cy="2089150"/>
          </a:xfrm>
          <a:prstGeom prst="rect">
            <a:avLst/>
          </a:prstGeom>
        </p:spPr>
        <p:txBody>
          <a:bodyPr rtlCol="0">
            <a:noAutofit/>
          </a:bodyPr>
          <a:lst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a:lstStyle>
          <a:p>
            <a:pPr marL="0" indent="0">
              <a:buFont typeface="Arial" panose="020B0604020202020204" pitchFamily="34" charset="0"/>
              <a:buNone/>
              <a:defRPr/>
            </a:pPr>
            <a:r>
              <a:rPr lang="en-US" altLang="en-US" sz="2000" dirty="0">
                <a:latin typeface="Calibri" panose="020F0502020204030204" pitchFamily="34" charset="0"/>
                <a:cs typeface="Calibri" panose="020F0502020204030204" pitchFamily="34" charset="0"/>
              </a:rPr>
              <a:t>As temperature increases:</a:t>
            </a:r>
          </a:p>
          <a:p>
            <a:pPr>
              <a:defRPr/>
            </a:pPr>
            <a:r>
              <a:rPr lang="en-US" altLang="en-US" sz="2000" dirty="0">
                <a:latin typeface="Calibri" panose="020F0502020204030204" pitchFamily="34" charset="0"/>
                <a:cs typeface="Calibri" panose="020F0502020204030204" pitchFamily="34" charset="0"/>
              </a:rPr>
              <a:t>Total energy increases</a:t>
            </a:r>
          </a:p>
          <a:p>
            <a:pPr>
              <a:defRPr/>
            </a:pPr>
            <a:r>
              <a:rPr lang="en-US" altLang="en-US" sz="2000" dirty="0">
                <a:latin typeface="Calibri" panose="020F0502020204030204" pitchFamily="34" charset="0"/>
                <a:cs typeface="Calibri" panose="020F0502020204030204" pitchFamily="34" charset="0"/>
              </a:rPr>
              <a:t>Peak wavelength decreases</a:t>
            </a:r>
            <a:endParaRPr lang="en-US" sz="2000" b="1" dirty="0">
              <a:latin typeface="Calibri" panose="020F0502020204030204" pitchFamily="34" charset="0"/>
              <a:cs typeface="Calibri" panose="020F0502020204030204" pitchFamily="34" charset="0"/>
            </a:endParaRPr>
          </a:p>
        </p:txBody>
      </p:sp>
      <p:sp>
        <p:nvSpPr>
          <p:cNvPr id="5" name="Rectangle 11">
            <a:extLst>
              <a:ext uri="{FF2B5EF4-FFF2-40B4-BE49-F238E27FC236}">
                <a16:creationId xmlns:a16="http://schemas.microsoft.com/office/drawing/2014/main" id="{4E7591A9-B14A-C995-DDFF-57471C29E129}"/>
              </a:ext>
            </a:extLst>
          </p:cNvPr>
          <p:cNvSpPr>
            <a:spLocks noChangeArrowheads="1"/>
          </p:cNvSpPr>
          <p:nvPr/>
        </p:nvSpPr>
        <p:spPr bwMode="auto">
          <a:xfrm>
            <a:off x="7410904" y="3709681"/>
            <a:ext cx="4524841" cy="147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9" tIns="45715" rIns="91429" bIns="45715">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eaLnBrk="1" hangingPunct="1">
              <a:spcBef>
                <a:spcPct val="50000"/>
              </a:spcBef>
            </a:pPr>
            <a:r>
              <a:rPr lang="en-GB" altLang="en-US" sz="2000" dirty="0">
                <a:latin typeface="Calibri" panose="020F0502020204030204" pitchFamily="34" charset="0"/>
                <a:cs typeface="Calibri" panose="020F0502020204030204" pitchFamily="34" charset="0"/>
              </a:rPr>
              <a:t>Little overlap between the incoming solar radiation and the outgoing infra-red radiation from the Earth’s surface.  </a:t>
            </a:r>
          </a:p>
          <a:p>
            <a:pPr eaLnBrk="1" hangingPunct="1">
              <a:spcBef>
                <a:spcPct val="50000"/>
              </a:spcBef>
            </a:pPr>
            <a:r>
              <a:rPr lang="en-GB" altLang="en-US" sz="2000" dirty="0">
                <a:latin typeface="Calibri" panose="020F0502020204030204" pitchFamily="34" charset="0"/>
                <a:cs typeface="Calibri" panose="020F0502020204030204" pitchFamily="34" charset="0"/>
              </a:rPr>
              <a:t>Separated by a gap at around 4 </a:t>
            </a:r>
            <a:r>
              <a:rPr lang="en-GB" altLang="en-US" sz="2000" dirty="0">
                <a:latin typeface="Calibri" panose="020F0502020204030204" pitchFamily="34" charset="0"/>
                <a:cs typeface="Calibri" panose="020F0502020204030204" pitchFamily="34" charset="0"/>
                <a:sym typeface="Symbol" pitchFamily="2" charset="2"/>
              </a:rPr>
              <a:t></a:t>
            </a:r>
            <a:r>
              <a:rPr lang="en-GB" altLang="en-US" sz="2000" dirty="0">
                <a:latin typeface="Calibri" panose="020F0502020204030204" pitchFamily="34" charset="0"/>
                <a:cs typeface="Calibri" panose="020F0502020204030204" pitchFamily="34" charset="0"/>
              </a:rPr>
              <a:t>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Line 6">
            <a:extLst>
              <a:ext uri="{FF2B5EF4-FFF2-40B4-BE49-F238E27FC236}">
                <a16:creationId xmlns:a16="http://schemas.microsoft.com/office/drawing/2014/main" id="{A765FFC9-5111-A8FB-A35F-A1E8DE603749}"/>
              </a:ext>
            </a:extLst>
          </p:cNvPr>
          <p:cNvSpPr>
            <a:spLocks noChangeShapeType="1"/>
          </p:cNvSpPr>
          <p:nvPr/>
        </p:nvSpPr>
        <p:spPr bwMode="auto">
          <a:xfrm>
            <a:off x="1568976" y="5068087"/>
            <a:ext cx="5181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21508" name="Line 7">
            <a:extLst>
              <a:ext uri="{FF2B5EF4-FFF2-40B4-BE49-F238E27FC236}">
                <a16:creationId xmlns:a16="http://schemas.microsoft.com/office/drawing/2014/main" id="{61703924-4CB0-8495-8718-773637701BCF}"/>
              </a:ext>
            </a:extLst>
          </p:cNvPr>
          <p:cNvSpPr>
            <a:spLocks noChangeShapeType="1"/>
          </p:cNvSpPr>
          <p:nvPr/>
        </p:nvSpPr>
        <p:spPr bwMode="auto">
          <a:xfrm>
            <a:off x="1973789" y="2599524"/>
            <a:ext cx="0" cy="2446338"/>
          </a:xfrm>
          <a:prstGeom prst="line">
            <a:avLst/>
          </a:prstGeom>
          <a:noFill/>
          <a:ln w="12700">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21509" name="Text Box 4">
            <a:extLst>
              <a:ext uri="{FF2B5EF4-FFF2-40B4-BE49-F238E27FC236}">
                <a16:creationId xmlns:a16="http://schemas.microsoft.com/office/drawing/2014/main" id="{A48EE82D-079B-B802-F883-2EFF183CFCBB}"/>
              </a:ext>
            </a:extLst>
          </p:cNvPr>
          <p:cNvSpPr txBox="1">
            <a:spLocks noChangeArrowheads="1"/>
          </p:cNvSpPr>
          <p:nvPr/>
        </p:nvSpPr>
        <p:spPr bwMode="auto">
          <a:xfrm>
            <a:off x="389464" y="1518437"/>
            <a:ext cx="316865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dirty="0">
                <a:cs typeface="Calibri" panose="020F0502020204030204" pitchFamily="34" charset="0"/>
              </a:rPr>
              <a:t>Energy entering top of atmosphere</a:t>
            </a:r>
          </a:p>
        </p:txBody>
      </p:sp>
      <p:sp>
        <p:nvSpPr>
          <p:cNvPr id="109573" name="Text Box 5">
            <a:extLst>
              <a:ext uri="{FF2B5EF4-FFF2-40B4-BE49-F238E27FC236}">
                <a16:creationId xmlns:a16="http://schemas.microsoft.com/office/drawing/2014/main" id="{91034F01-34BD-2F47-3016-DD7C17905589}"/>
              </a:ext>
            </a:extLst>
          </p:cNvPr>
          <p:cNvSpPr txBox="1">
            <a:spLocks noChangeArrowheads="1"/>
          </p:cNvSpPr>
          <p:nvPr/>
        </p:nvSpPr>
        <p:spPr bwMode="auto">
          <a:xfrm>
            <a:off x="4853514" y="3405974"/>
            <a:ext cx="28622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a:cs typeface="Calibri" panose="020F0502020204030204" pitchFamily="34" charset="0"/>
              </a:rPr>
              <a:t>Energy leaving Earth’s surface</a:t>
            </a:r>
          </a:p>
        </p:txBody>
      </p:sp>
      <p:sp>
        <p:nvSpPr>
          <p:cNvPr id="21511" name="Line 9">
            <a:extLst>
              <a:ext uri="{FF2B5EF4-FFF2-40B4-BE49-F238E27FC236}">
                <a16:creationId xmlns:a16="http://schemas.microsoft.com/office/drawing/2014/main" id="{469656CB-C536-6E65-16B7-8255438A50C8}"/>
              </a:ext>
            </a:extLst>
          </p:cNvPr>
          <p:cNvSpPr>
            <a:spLocks noChangeShapeType="1"/>
          </p:cNvSpPr>
          <p:nvPr/>
        </p:nvSpPr>
        <p:spPr bwMode="auto">
          <a:xfrm>
            <a:off x="4739214" y="3542499"/>
            <a:ext cx="0" cy="1517650"/>
          </a:xfrm>
          <a:prstGeom prst="line">
            <a:avLst/>
          </a:prstGeom>
          <a:noFill/>
          <a:ln w="12700">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109579" name="Text Box 11">
            <a:extLst>
              <a:ext uri="{FF2B5EF4-FFF2-40B4-BE49-F238E27FC236}">
                <a16:creationId xmlns:a16="http://schemas.microsoft.com/office/drawing/2014/main" id="{1043623A-B6F3-6981-4289-580352B186AD}"/>
              </a:ext>
            </a:extLst>
          </p:cNvPr>
          <p:cNvSpPr txBox="1">
            <a:spLocks noChangeArrowheads="1"/>
          </p:cNvSpPr>
          <p:nvPr/>
        </p:nvSpPr>
        <p:spPr bwMode="auto">
          <a:xfrm>
            <a:off x="586795" y="5650699"/>
            <a:ext cx="6163781" cy="523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dirty="0">
                <a:solidFill>
                  <a:srgbClr val="FF0000"/>
                </a:solidFill>
                <a:cs typeface="Calibri" panose="020F0502020204030204" pitchFamily="34" charset="0"/>
              </a:rPr>
              <a:t>Temperature of surface remains constant</a:t>
            </a:r>
          </a:p>
        </p:txBody>
      </p:sp>
      <p:sp>
        <p:nvSpPr>
          <p:cNvPr id="3" name="TextBox 2">
            <a:extLst>
              <a:ext uri="{FF2B5EF4-FFF2-40B4-BE49-F238E27FC236}">
                <a16:creationId xmlns:a16="http://schemas.microsoft.com/office/drawing/2014/main" id="{7554F54E-4950-8E88-7970-153939653809}"/>
              </a:ext>
            </a:extLst>
          </p:cNvPr>
          <p:cNvSpPr txBox="1">
            <a:spLocks noChangeArrowheads="1"/>
          </p:cNvSpPr>
          <p:nvPr/>
        </p:nvSpPr>
        <p:spPr bwMode="auto">
          <a:xfrm>
            <a:off x="3802589" y="1816887"/>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400" b="1">
                <a:cs typeface="Calibri" panose="020F0502020204030204" pitchFamily="34" charset="0"/>
              </a:rPr>
              <a:t>=</a:t>
            </a:r>
          </a:p>
        </p:txBody>
      </p:sp>
      <p:sp>
        <p:nvSpPr>
          <p:cNvPr id="2" name="Freeform 13">
            <a:extLst>
              <a:ext uri="{FF2B5EF4-FFF2-40B4-BE49-F238E27FC236}">
                <a16:creationId xmlns:a16="http://schemas.microsoft.com/office/drawing/2014/main" id="{D9814E43-36F6-BF32-5192-E06EC55E17F5}"/>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6" name="TextBox 14">
            <a:extLst>
              <a:ext uri="{FF2B5EF4-FFF2-40B4-BE49-F238E27FC236}">
                <a16:creationId xmlns:a16="http://schemas.microsoft.com/office/drawing/2014/main" id="{10C6B94F-43C1-0C80-7E71-AD170CB0BC3E}"/>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Earth’s Energy Balance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5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7" presetClass="path" presetSubtype="0" accel="50000" decel="50000" fill="hold" grpId="0" nodeType="clickEffect">
                                  <p:stCondLst>
                                    <p:cond delay="0"/>
                                  </p:stCondLst>
                                  <p:childTnLst>
                                    <p:animMotion origin="layout" path="M -0.00039 -0.00024 L 0.01328 -0.08912 C 0.01667 -0.10811 0.01562 -0.13218 0.01146 -0.15556 C 0.00599 -0.18287 -0.00208 -0.20116 -0.01159 -0.21181 L -0.05456 -0.26412 " pathEditMode="relative" rAng="15000000" ptsTypes="AAAAA">
                                      <p:cBhvr>
                                        <p:cTn id="10" dur="1000" fill="hold"/>
                                        <p:tgtEl>
                                          <p:spTgt spid="109573"/>
                                        </p:tgtEl>
                                        <p:attrNameLst>
                                          <p:attrName>ppt_x</p:attrName>
                                          <p:attrName>ppt_y</p:attrName>
                                        </p:attrNameLst>
                                      </p:cBhvr>
                                      <p:rCtr x="-781" y="-14444"/>
                                    </p:animMotion>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3" grpId="0"/>
      <p:bldP spid="109579"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6" name="TextBox 13">
            <a:extLst>
              <a:ext uri="{FF2B5EF4-FFF2-40B4-BE49-F238E27FC236}">
                <a16:creationId xmlns:a16="http://schemas.microsoft.com/office/drawing/2014/main" id="{1C290A94-4EC9-D9E8-A67B-A7B27623D76C}"/>
              </a:ext>
            </a:extLst>
          </p:cNvPr>
          <p:cNvSpPr txBox="1">
            <a:spLocks noChangeArrowheads="1"/>
          </p:cNvSpPr>
          <p:nvPr/>
        </p:nvSpPr>
        <p:spPr bwMode="auto">
          <a:xfrm>
            <a:off x="389464" y="5470012"/>
            <a:ext cx="108743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2400" dirty="0">
                <a:cs typeface="Calibri" panose="020F0502020204030204" pitchFamily="34" charset="0"/>
              </a:rPr>
              <a:t>T</a:t>
            </a:r>
            <a:r>
              <a:rPr lang="en-US" altLang="en-US" sz="2400" baseline="-25000" dirty="0">
                <a:cs typeface="Calibri" panose="020F0502020204030204" pitchFamily="34" charset="0"/>
              </a:rPr>
              <a:t>E</a:t>
            </a:r>
            <a:r>
              <a:rPr lang="en-US" altLang="en-US" sz="2400" dirty="0">
                <a:cs typeface="Calibri" panose="020F0502020204030204" pitchFamily="34" charset="0"/>
              </a:rPr>
              <a:t> changes quite little from year to year </a:t>
            </a:r>
            <a:r>
              <a:rPr lang="en-US" altLang="en-US" sz="2400" dirty="0">
                <a:cs typeface="Calibri" panose="020F0502020204030204" pitchFamily="34" charset="0"/>
                <a:sym typeface="Wingdings" pitchFamily="2" charset="2"/>
              </a:rPr>
              <a:t> system is in equilibrium</a:t>
            </a:r>
            <a:endParaRPr lang="en-US" altLang="en-US" sz="2400" dirty="0">
              <a:cs typeface="Calibri" panose="020F0502020204030204" pitchFamily="34" charset="0"/>
            </a:endParaRPr>
          </a:p>
          <a:p>
            <a:pPr eaLnBrk="1" hangingPunct="1">
              <a:lnSpc>
                <a:spcPct val="100000"/>
              </a:lnSpc>
              <a:spcBef>
                <a:spcPct val="50000"/>
              </a:spcBef>
              <a:buFontTx/>
              <a:buNone/>
            </a:pPr>
            <a:r>
              <a:rPr lang="en-US" altLang="en-US" sz="2400" dirty="0">
                <a:cs typeface="Calibri" panose="020F0502020204030204" pitchFamily="34" charset="0"/>
              </a:rPr>
              <a:t>i.e. energy inputs must be balanced approximately by energy losses.</a:t>
            </a:r>
            <a:r>
              <a:rPr lang="en-GB" altLang="en-US" sz="2400" dirty="0">
                <a:cs typeface="Calibri" panose="020F0502020204030204" pitchFamily="34" charset="0"/>
              </a:rPr>
              <a:t> </a:t>
            </a:r>
          </a:p>
        </p:txBody>
      </p:sp>
      <p:sp>
        <p:nvSpPr>
          <p:cNvPr id="2" name="Freeform 13">
            <a:extLst>
              <a:ext uri="{FF2B5EF4-FFF2-40B4-BE49-F238E27FC236}">
                <a16:creationId xmlns:a16="http://schemas.microsoft.com/office/drawing/2014/main" id="{D8D6F68D-5124-B37F-C4F2-C5FF15246D34}"/>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6" name="TextBox 14">
            <a:extLst>
              <a:ext uri="{FF2B5EF4-FFF2-40B4-BE49-F238E27FC236}">
                <a16:creationId xmlns:a16="http://schemas.microsoft.com/office/drawing/2014/main" id="{B7DB6727-E408-C33D-259C-917DC83BBC37}"/>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Energy Balance – Steady State Temp</a:t>
            </a:r>
          </a:p>
        </p:txBody>
      </p:sp>
      <p:pic>
        <p:nvPicPr>
          <p:cNvPr id="7" name="Picture 6" descr="A silhouette of a city at night&#10;&#10;AI-generated content may be incorrect.">
            <a:extLst>
              <a:ext uri="{FF2B5EF4-FFF2-40B4-BE49-F238E27FC236}">
                <a16:creationId xmlns:a16="http://schemas.microsoft.com/office/drawing/2014/main" id="{24A19499-D64C-EAA2-0084-E46338873093}"/>
              </a:ext>
            </a:extLst>
          </p:cNvPr>
          <p:cNvPicPr>
            <a:picLocks noChangeAspect="1"/>
          </p:cNvPicPr>
          <p:nvPr/>
        </p:nvPicPr>
        <p:blipFill>
          <a:blip r:embed="rId4"/>
          <a:srcRect r="916"/>
          <a:stretch>
            <a:fillRect/>
          </a:stretch>
        </p:blipFill>
        <p:spPr>
          <a:xfrm>
            <a:off x="389464" y="1339494"/>
            <a:ext cx="7356607" cy="40650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922E98EF-554D-88CD-39E0-C1AEC6E3EB12}"/>
              </a:ext>
            </a:extLst>
          </p:cNvPr>
          <p:cNvSpPr>
            <a:spLocks noChangeArrowheads="1"/>
          </p:cNvSpPr>
          <p:nvPr/>
        </p:nvSpPr>
        <p:spPr bwMode="auto">
          <a:xfrm>
            <a:off x="3648076" y="3429000"/>
            <a:ext cx="5480158" cy="3117850"/>
          </a:xfrm>
          <a:prstGeom prst="rect">
            <a:avLst/>
          </a:prstGeom>
          <a:solidFill>
            <a:srgbClr val="FFFF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11" name="Oval 7">
            <a:extLst>
              <a:ext uri="{FF2B5EF4-FFF2-40B4-BE49-F238E27FC236}">
                <a16:creationId xmlns:a16="http://schemas.microsoft.com/office/drawing/2014/main" id="{84C1FD71-F9C6-C146-E147-B4ECF8849B00}"/>
              </a:ext>
            </a:extLst>
          </p:cNvPr>
          <p:cNvSpPr>
            <a:spLocks noChangeArrowheads="1"/>
          </p:cNvSpPr>
          <p:nvPr/>
        </p:nvSpPr>
        <p:spPr bwMode="auto">
          <a:xfrm>
            <a:off x="6932613" y="4444170"/>
            <a:ext cx="1108737" cy="1126368"/>
          </a:xfrm>
          <a:prstGeom prst="ellipse">
            <a:avLst/>
          </a:prstGeom>
          <a:solidFill>
            <a:srgbClr val="3366FF"/>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12" name="Rectangle 8">
            <a:extLst>
              <a:ext uri="{FF2B5EF4-FFF2-40B4-BE49-F238E27FC236}">
                <a16:creationId xmlns:a16="http://schemas.microsoft.com/office/drawing/2014/main" id="{7799DF59-0A6D-C6C3-D206-CD000CD1F717}"/>
              </a:ext>
            </a:extLst>
          </p:cNvPr>
          <p:cNvSpPr>
            <a:spLocks noChangeArrowheads="1"/>
          </p:cNvSpPr>
          <p:nvPr/>
        </p:nvSpPr>
        <p:spPr bwMode="auto">
          <a:xfrm>
            <a:off x="4294188" y="4444170"/>
            <a:ext cx="3031255" cy="1126368"/>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13" name="Rectangle 9">
            <a:extLst>
              <a:ext uri="{FF2B5EF4-FFF2-40B4-BE49-F238E27FC236}">
                <a16:creationId xmlns:a16="http://schemas.microsoft.com/office/drawing/2014/main" id="{B8C38087-37BF-780E-19A5-FF3FCF1EE689}"/>
              </a:ext>
            </a:extLst>
          </p:cNvPr>
          <p:cNvSpPr>
            <a:spLocks noChangeArrowheads="1"/>
          </p:cNvSpPr>
          <p:nvPr/>
        </p:nvSpPr>
        <p:spPr bwMode="auto">
          <a:xfrm>
            <a:off x="7475539" y="4444377"/>
            <a:ext cx="1652694" cy="1140448"/>
          </a:xfrm>
          <a:prstGeom prst="rect">
            <a:avLst/>
          </a:prstGeom>
          <a:solidFill>
            <a:schemeClr val="bg2">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14" name="Line 10">
            <a:extLst>
              <a:ext uri="{FF2B5EF4-FFF2-40B4-BE49-F238E27FC236}">
                <a16:creationId xmlns:a16="http://schemas.microsoft.com/office/drawing/2014/main" id="{9C83CD83-0486-8625-B059-46C45E3E7C79}"/>
              </a:ext>
            </a:extLst>
          </p:cNvPr>
          <p:cNvSpPr>
            <a:spLocks noChangeShapeType="1"/>
          </p:cNvSpPr>
          <p:nvPr/>
        </p:nvSpPr>
        <p:spPr bwMode="auto">
          <a:xfrm>
            <a:off x="5535613" y="3306712"/>
            <a:ext cx="518822" cy="15018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a:latin typeface="Calibri" panose="020F0502020204030204" pitchFamily="34" charset="0"/>
              <a:cs typeface="Calibri" panose="020F0502020204030204" pitchFamily="34" charset="0"/>
            </a:endParaRPr>
          </a:p>
        </p:txBody>
      </p:sp>
      <p:sp>
        <p:nvSpPr>
          <p:cNvPr id="15" name="AutoShape 15">
            <a:extLst>
              <a:ext uri="{FF2B5EF4-FFF2-40B4-BE49-F238E27FC236}">
                <a16:creationId xmlns:a16="http://schemas.microsoft.com/office/drawing/2014/main" id="{4590ACDB-56CF-7826-9933-351B86FE4364}"/>
              </a:ext>
            </a:extLst>
          </p:cNvPr>
          <p:cNvSpPr>
            <a:spLocks noChangeArrowheads="1"/>
          </p:cNvSpPr>
          <p:nvPr/>
        </p:nvSpPr>
        <p:spPr bwMode="auto">
          <a:xfrm>
            <a:off x="2122489" y="3407306"/>
            <a:ext cx="2883020" cy="3153832"/>
          </a:xfrm>
          <a:prstGeom prst="star16">
            <a:avLst>
              <a:gd name="adj" fmla="val 375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a:cs typeface="Calibri" panose="020F0502020204030204" pitchFamily="34" charset="0"/>
              </a:rPr>
              <a:t>Solar constant:</a:t>
            </a:r>
          </a:p>
          <a:p>
            <a:pPr algn="ctr" eaLnBrk="1" hangingPunct="1">
              <a:lnSpc>
                <a:spcPct val="100000"/>
              </a:lnSpc>
              <a:spcBef>
                <a:spcPct val="0"/>
              </a:spcBef>
              <a:buFontTx/>
              <a:buNone/>
            </a:pPr>
            <a:r>
              <a:rPr lang="en-US" altLang="en-US" sz="2400">
                <a:cs typeface="Calibri" panose="020F0502020204030204" pitchFamily="34" charset="0"/>
              </a:rPr>
              <a:t>S</a:t>
            </a:r>
            <a:r>
              <a:rPr lang="en-US" altLang="en-US" sz="2400" baseline="-25000">
                <a:cs typeface="Calibri" panose="020F0502020204030204" pitchFamily="34" charset="0"/>
              </a:rPr>
              <a:t>0</a:t>
            </a:r>
            <a:r>
              <a:rPr lang="en-US" altLang="en-US" sz="2400">
                <a:cs typeface="Calibri" panose="020F0502020204030204" pitchFamily="34" charset="0"/>
              </a:rPr>
              <a:t>=1370 W m</a:t>
            </a:r>
            <a:r>
              <a:rPr lang="en-US" altLang="en-US" sz="2400" baseline="30000">
                <a:cs typeface="Calibri" panose="020F0502020204030204" pitchFamily="34" charset="0"/>
              </a:rPr>
              <a:t>2</a:t>
            </a:r>
            <a:endParaRPr lang="en-US" altLang="en-US" sz="2400">
              <a:cs typeface="Calibri" panose="020F0502020204030204" pitchFamily="34" charset="0"/>
            </a:endParaRPr>
          </a:p>
        </p:txBody>
      </p:sp>
      <p:sp>
        <p:nvSpPr>
          <p:cNvPr id="18" name="Oval 19">
            <a:extLst>
              <a:ext uri="{FF2B5EF4-FFF2-40B4-BE49-F238E27FC236}">
                <a16:creationId xmlns:a16="http://schemas.microsoft.com/office/drawing/2014/main" id="{49C341C4-3F43-3B35-0FAD-A20F2FD2FCC3}"/>
              </a:ext>
            </a:extLst>
          </p:cNvPr>
          <p:cNvSpPr>
            <a:spLocks noChangeArrowheads="1"/>
          </p:cNvSpPr>
          <p:nvPr/>
        </p:nvSpPr>
        <p:spPr bwMode="auto">
          <a:xfrm>
            <a:off x="6002338" y="4444170"/>
            <a:ext cx="294957" cy="1126368"/>
          </a:xfrm>
          <a:prstGeom prst="ellipse">
            <a:avLst/>
          </a:prstGeom>
          <a:solidFill>
            <a:srgbClr val="FFFF00"/>
          </a:solidFill>
          <a:ln w="1587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grpSp>
        <p:nvGrpSpPr>
          <p:cNvPr id="22" name="Group 23">
            <a:extLst>
              <a:ext uri="{FF2B5EF4-FFF2-40B4-BE49-F238E27FC236}">
                <a16:creationId xmlns:a16="http://schemas.microsoft.com/office/drawing/2014/main" id="{4D57AF97-8B60-7E0D-C06C-A4DDA922153C}"/>
              </a:ext>
            </a:extLst>
          </p:cNvPr>
          <p:cNvGrpSpPr>
            <a:grpSpLocks/>
          </p:cNvGrpSpPr>
          <p:nvPr/>
        </p:nvGrpSpPr>
        <p:grpSpPr bwMode="auto">
          <a:xfrm rot="-7565088">
            <a:off x="2270351" y="3805019"/>
            <a:ext cx="1201460" cy="296470"/>
            <a:chOff x="288" y="1296"/>
            <a:chExt cx="768" cy="192"/>
          </a:xfrm>
        </p:grpSpPr>
        <p:sp>
          <p:nvSpPr>
            <p:cNvPr id="25621" name="AutoShape 24">
              <a:extLst>
                <a:ext uri="{FF2B5EF4-FFF2-40B4-BE49-F238E27FC236}">
                  <a16:creationId xmlns:a16="http://schemas.microsoft.com/office/drawing/2014/main" id="{1D7EA3EB-EBD3-D27D-D2A1-6866C838A688}"/>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25622" name="AutoShape 25">
              <a:extLst>
                <a:ext uri="{FF2B5EF4-FFF2-40B4-BE49-F238E27FC236}">
                  <a16:creationId xmlns:a16="http://schemas.microsoft.com/office/drawing/2014/main" id="{EC7005E0-4B34-5CB7-2072-1D1B584D6246}"/>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grpSp>
      <p:grpSp>
        <p:nvGrpSpPr>
          <p:cNvPr id="25" name="Group 23">
            <a:extLst>
              <a:ext uri="{FF2B5EF4-FFF2-40B4-BE49-F238E27FC236}">
                <a16:creationId xmlns:a16="http://schemas.microsoft.com/office/drawing/2014/main" id="{B1C6F64B-4166-52D5-B865-5B8520E6C8FE}"/>
              </a:ext>
            </a:extLst>
          </p:cNvPr>
          <p:cNvGrpSpPr>
            <a:grpSpLocks/>
          </p:cNvGrpSpPr>
          <p:nvPr/>
        </p:nvGrpSpPr>
        <p:grpSpPr bwMode="auto">
          <a:xfrm rot="8363423">
            <a:off x="1868950" y="6064727"/>
            <a:ext cx="1161678" cy="306623"/>
            <a:chOff x="288" y="1296"/>
            <a:chExt cx="768" cy="192"/>
          </a:xfrm>
        </p:grpSpPr>
        <p:sp>
          <p:nvSpPr>
            <p:cNvPr id="25619" name="AutoShape 24">
              <a:extLst>
                <a:ext uri="{FF2B5EF4-FFF2-40B4-BE49-F238E27FC236}">
                  <a16:creationId xmlns:a16="http://schemas.microsoft.com/office/drawing/2014/main" id="{E7B2D3E0-C2E6-4B28-D1CC-6A618A0D6F0F}"/>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25620" name="AutoShape 25">
              <a:extLst>
                <a:ext uri="{FF2B5EF4-FFF2-40B4-BE49-F238E27FC236}">
                  <a16:creationId xmlns:a16="http://schemas.microsoft.com/office/drawing/2014/main" id="{BF4832AB-9333-83E7-6607-7E4CB387942C}"/>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grpSp>
      <p:grpSp>
        <p:nvGrpSpPr>
          <p:cNvPr id="28" name="Group 23">
            <a:extLst>
              <a:ext uri="{FF2B5EF4-FFF2-40B4-BE49-F238E27FC236}">
                <a16:creationId xmlns:a16="http://schemas.microsoft.com/office/drawing/2014/main" id="{99364D00-8FD8-37CE-8DCA-CE43183FEA8A}"/>
              </a:ext>
            </a:extLst>
          </p:cNvPr>
          <p:cNvGrpSpPr>
            <a:grpSpLocks/>
          </p:cNvGrpSpPr>
          <p:nvPr/>
        </p:nvGrpSpPr>
        <p:grpSpPr bwMode="auto">
          <a:xfrm rot="2991088">
            <a:off x="4007891" y="6094216"/>
            <a:ext cx="1201460" cy="296470"/>
            <a:chOff x="288" y="1296"/>
            <a:chExt cx="768" cy="192"/>
          </a:xfrm>
        </p:grpSpPr>
        <p:sp>
          <p:nvSpPr>
            <p:cNvPr id="25617" name="AutoShape 24">
              <a:extLst>
                <a:ext uri="{FF2B5EF4-FFF2-40B4-BE49-F238E27FC236}">
                  <a16:creationId xmlns:a16="http://schemas.microsoft.com/office/drawing/2014/main" id="{C24906FC-CE96-053E-5AD8-11E54646EED5}"/>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25618" name="AutoShape 25">
              <a:extLst>
                <a:ext uri="{FF2B5EF4-FFF2-40B4-BE49-F238E27FC236}">
                  <a16:creationId xmlns:a16="http://schemas.microsoft.com/office/drawing/2014/main" id="{CE3126E5-161E-92E4-96B5-AA33E67EF65D}"/>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grpSp>
      <p:grpSp>
        <p:nvGrpSpPr>
          <p:cNvPr id="31" name="Group 23">
            <a:extLst>
              <a:ext uri="{FF2B5EF4-FFF2-40B4-BE49-F238E27FC236}">
                <a16:creationId xmlns:a16="http://schemas.microsoft.com/office/drawing/2014/main" id="{DB2D44A1-21B6-D69E-7A6F-9659E9BC9338}"/>
              </a:ext>
            </a:extLst>
          </p:cNvPr>
          <p:cNvGrpSpPr>
            <a:grpSpLocks/>
          </p:cNvGrpSpPr>
          <p:nvPr/>
        </p:nvGrpSpPr>
        <p:grpSpPr bwMode="auto">
          <a:xfrm rot="-3073854">
            <a:off x="3921893" y="3622809"/>
            <a:ext cx="1201460" cy="296470"/>
            <a:chOff x="288" y="1296"/>
            <a:chExt cx="768" cy="192"/>
          </a:xfrm>
        </p:grpSpPr>
        <p:sp>
          <p:nvSpPr>
            <p:cNvPr id="25615" name="AutoShape 24">
              <a:extLst>
                <a:ext uri="{FF2B5EF4-FFF2-40B4-BE49-F238E27FC236}">
                  <a16:creationId xmlns:a16="http://schemas.microsoft.com/office/drawing/2014/main" id="{14AF61E1-59DC-E39F-3481-1FA6C2094C49}"/>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25616" name="AutoShape 25">
              <a:extLst>
                <a:ext uri="{FF2B5EF4-FFF2-40B4-BE49-F238E27FC236}">
                  <a16:creationId xmlns:a16="http://schemas.microsoft.com/office/drawing/2014/main" id="{B1C31941-8F77-9D19-08E9-46CAF9346CE9}"/>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grpSp>
      <p:sp>
        <p:nvSpPr>
          <p:cNvPr id="35" name="TextBox 34">
            <a:extLst>
              <a:ext uri="{FF2B5EF4-FFF2-40B4-BE49-F238E27FC236}">
                <a16:creationId xmlns:a16="http://schemas.microsoft.com/office/drawing/2014/main" id="{BB9EC66C-2862-69D7-66D0-A79716DAEFC4}"/>
              </a:ext>
            </a:extLst>
          </p:cNvPr>
          <p:cNvSpPr txBox="1">
            <a:spLocks noChangeArrowheads="1"/>
          </p:cNvSpPr>
          <p:nvPr/>
        </p:nvSpPr>
        <p:spPr bwMode="auto">
          <a:xfrm>
            <a:off x="300038" y="1274032"/>
            <a:ext cx="110156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271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9271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9271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9271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9271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400" dirty="0">
                <a:solidFill>
                  <a:srgbClr val="FF0000"/>
                </a:solidFill>
                <a:cs typeface="Calibri" panose="020F0502020204030204" pitchFamily="34" charset="0"/>
              </a:rPr>
              <a:t>Energy In: </a:t>
            </a:r>
            <a:r>
              <a:rPr lang="en-US" altLang="en-US" sz="2400" dirty="0">
                <a:cs typeface="Calibri" panose="020F0502020204030204" pitchFamily="34" charset="0"/>
              </a:rPr>
              <a:t>Incoming solar radiation	= S</a:t>
            </a:r>
            <a:r>
              <a:rPr lang="en-US" altLang="en-US" sz="2400" baseline="-25000" dirty="0">
                <a:cs typeface="Calibri" panose="020F0502020204030204" pitchFamily="34" charset="0"/>
              </a:rPr>
              <a:t>o</a:t>
            </a:r>
            <a:r>
              <a:rPr lang="en-US" altLang="en-US" sz="2400" dirty="0">
                <a:cs typeface="Calibri" panose="020F0502020204030204" pitchFamily="34" charset="0"/>
              </a:rPr>
              <a:t> x Area (A)</a:t>
            </a:r>
          </a:p>
          <a:p>
            <a:pPr>
              <a:lnSpc>
                <a:spcPct val="100000"/>
              </a:lnSpc>
              <a:spcBef>
                <a:spcPct val="0"/>
              </a:spcBef>
              <a:buFontTx/>
              <a:buNone/>
            </a:pPr>
            <a:r>
              <a:rPr lang="en-US" altLang="en-US" sz="2400" dirty="0">
                <a:cs typeface="Calibri" panose="020F0502020204030204" pitchFamily="34" charset="0"/>
              </a:rPr>
              <a:t>					= S</a:t>
            </a:r>
            <a:r>
              <a:rPr lang="en-US" altLang="en-US" sz="2400" baseline="-25000" dirty="0">
                <a:cs typeface="Calibri" panose="020F0502020204030204" pitchFamily="34" charset="0"/>
              </a:rPr>
              <a:t>o</a:t>
            </a:r>
            <a:r>
              <a:rPr lang="en-US" altLang="en-US" sz="2400" dirty="0">
                <a:cs typeface="Calibri" panose="020F0502020204030204" pitchFamily="34" charset="0"/>
              </a:rPr>
              <a:t> x </a:t>
            </a:r>
            <a:r>
              <a:rPr lang="en-GB" altLang="en-US" sz="2400" dirty="0">
                <a:cs typeface="Calibri" panose="020F0502020204030204" pitchFamily="34" charset="0"/>
              </a:rPr>
              <a:t>πr</a:t>
            </a:r>
            <a:r>
              <a:rPr lang="en-GB" altLang="en-US" sz="2400" baseline="-25000" dirty="0">
                <a:cs typeface="Calibri" panose="020F0502020204030204" pitchFamily="34" charset="0"/>
              </a:rPr>
              <a:t>e</a:t>
            </a:r>
            <a:r>
              <a:rPr lang="en-GB" altLang="en-US" sz="2400" baseline="30000" dirty="0">
                <a:cs typeface="Calibri" panose="020F0502020204030204" pitchFamily="34" charset="0"/>
              </a:rPr>
              <a:t>2</a:t>
            </a:r>
          </a:p>
        </p:txBody>
      </p:sp>
      <p:sp>
        <p:nvSpPr>
          <p:cNvPr id="36" name="Text Box 12">
            <a:extLst>
              <a:ext uri="{FF2B5EF4-FFF2-40B4-BE49-F238E27FC236}">
                <a16:creationId xmlns:a16="http://schemas.microsoft.com/office/drawing/2014/main" id="{CA77F08A-8E08-4918-1BA1-C5A44F61224C}"/>
              </a:ext>
            </a:extLst>
          </p:cNvPr>
          <p:cNvSpPr txBox="1">
            <a:spLocks noChangeArrowheads="1"/>
          </p:cNvSpPr>
          <p:nvPr/>
        </p:nvSpPr>
        <p:spPr bwMode="auto">
          <a:xfrm>
            <a:off x="2959535" y="2215818"/>
            <a:ext cx="6562725" cy="1015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GB" altLang="en-US" sz="2400" dirty="0">
                <a:cs typeface="Calibri" panose="020F0502020204030204" pitchFamily="34" charset="0"/>
              </a:rPr>
              <a:t>Area of Earth perpendicular to solar radiation:</a:t>
            </a:r>
          </a:p>
          <a:p>
            <a:pPr eaLnBrk="1" hangingPunct="1">
              <a:lnSpc>
                <a:spcPct val="100000"/>
              </a:lnSpc>
              <a:spcBef>
                <a:spcPct val="50000"/>
              </a:spcBef>
              <a:buFontTx/>
              <a:buNone/>
            </a:pPr>
            <a:r>
              <a:rPr lang="en-US" altLang="en-US" sz="2400" dirty="0">
                <a:cs typeface="Calibri" panose="020F0502020204030204" pitchFamily="34" charset="0"/>
              </a:rPr>
              <a:t>A </a:t>
            </a:r>
            <a:r>
              <a:rPr lang="en-GB" altLang="en-US" sz="2400" dirty="0">
                <a:cs typeface="Calibri" panose="020F0502020204030204" pitchFamily="34" charset="0"/>
              </a:rPr>
              <a:t>= πr</a:t>
            </a:r>
            <a:r>
              <a:rPr lang="en-US" altLang="en-US" sz="2400" baseline="-25000" dirty="0">
                <a:cs typeface="Calibri" panose="020F0502020204030204" pitchFamily="34" charset="0"/>
              </a:rPr>
              <a:t>e</a:t>
            </a:r>
            <a:r>
              <a:rPr lang="en-GB" altLang="en-US" sz="2400" baseline="30000" dirty="0">
                <a:cs typeface="Calibri" panose="020F0502020204030204" pitchFamily="34" charset="0"/>
              </a:rPr>
              <a:t>2</a:t>
            </a:r>
            <a:r>
              <a:rPr lang="en-GB" altLang="en-US" sz="2400" dirty="0">
                <a:cs typeface="Calibri" panose="020F0502020204030204" pitchFamily="34" charset="0"/>
              </a:rPr>
              <a:t>           where r</a:t>
            </a:r>
            <a:r>
              <a:rPr lang="en-GB" altLang="en-US" sz="2400" baseline="-25000" dirty="0">
                <a:cs typeface="Calibri" panose="020F0502020204030204" pitchFamily="34" charset="0"/>
              </a:rPr>
              <a:t>e</a:t>
            </a:r>
            <a:r>
              <a:rPr lang="en-GB" altLang="en-US" sz="2400" dirty="0">
                <a:cs typeface="Calibri" panose="020F0502020204030204" pitchFamily="34" charset="0"/>
              </a:rPr>
              <a:t> = radius of Earth = 6370 km</a:t>
            </a:r>
          </a:p>
        </p:txBody>
      </p:sp>
      <p:sp>
        <p:nvSpPr>
          <p:cNvPr id="2" name="Freeform 13">
            <a:extLst>
              <a:ext uri="{FF2B5EF4-FFF2-40B4-BE49-F238E27FC236}">
                <a16:creationId xmlns:a16="http://schemas.microsoft.com/office/drawing/2014/main" id="{DAE474B6-8BBD-4D11-DC0B-CBA0A1F69EF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D9EC014E-3674-B240-1D40-DD7FC3404E71}"/>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Earth’s Energy Balance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par>
                                <p:cTn id="17" presetID="10"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par>
                                <p:cTn id="20" presetID="10" presetClass="entr" presetSubtype="0"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500"/>
                                        <p:tgtEl>
                                          <p:spTgt spid="3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3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5" grpId="0" animBg="1"/>
      <p:bldP spid="18" grpId="0" animBg="1"/>
      <p:bldP spid="3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7" name="Picture 3" descr="chile_nasaeo_lg">
            <a:extLst>
              <a:ext uri="{FF2B5EF4-FFF2-40B4-BE49-F238E27FC236}">
                <a16:creationId xmlns:a16="http://schemas.microsoft.com/office/drawing/2014/main" id="{8CB08CE7-5435-60C8-3FA7-F9DFE79D5A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464" y="2726197"/>
            <a:ext cx="5697014" cy="379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Line 5">
            <a:extLst>
              <a:ext uri="{FF2B5EF4-FFF2-40B4-BE49-F238E27FC236}">
                <a16:creationId xmlns:a16="http://schemas.microsoft.com/office/drawing/2014/main" id="{A6871067-7A37-E50D-EDEC-B8AEC08FE1D3}"/>
              </a:ext>
            </a:extLst>
          </p:cNvPr>
          <p:cNvSpPr>
            <a:spLocks noChangeShapeType="1"/>
          </p:cNvSpPr>
          <p:nvPr/>
        </p:nvSpPr>
        <p:spPr bwMode="auto">
          <a:xfrm flipV="1">
            <a:off x="4493481" y="2501247"/>
            <a:ext cx="0" cy="574675"/>
          </a:xfrm>
          <a:prstGeom prst="line">
            <a:avLst/>
          </a:prstGeom>
          <a:noFill/>
          <a:ln w="7302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47109" name="Line 6">
            <a:extLst>
              <a:ext uri="{FF2B5EF4-FFF2-40B4-BE49-F238E27FC236}">
                <a16:creationId xmlns:a16="http://schemas.microsoft.com/office/drawing/2014/main" id="{F213016B-9C60-0875-C01C-3C16CC012940}"/>
              </a:ext>
            </a:extLst>
          </p:cNvPr>
          <p:cNvSpPr>
            <a:spLocks noChangeShapeType="1"/>
          </p:cNvSpPr>
          <p:nvPr/>
        </p:nvSpPr>
        <p:spPr bwMode="auto">
          <a:xfrm flipV="1">
            <a:off x="4757006" y="2618722"/>
            <a:ext cx="1587" cy="647700"/>
          </a:xfrm>
          <a:prstGeom prst="line">
            <a:avLst/>
          </a:prstGeom>
          <a:noFill/>
          <a:ln w="7302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47110" name="Line 7">
            <a:extLst>
              <a:ext uri="{FF2B5EF4-FFF2-40B4-BE49-F238E27FC236}">
                <a16:creationId xmlns:a16="http://schemas.microsoft.com/office/drawing/2014/main" id="{635146BF-B373-C538-482B-F26514817511}"/>
              </a:ext>
            </a:extLst>
          </p:cNvPr>
          <p:cNvSpPr>
            <a:spLocks noChangeShapeType="1"/>
          </p:cNvSpPr>
          <p:nvPr/>
        </p:nvSpPr>
        <p:spPr bwMode="auto">
          <a:xfrm flipV="1">
            <a:off x="4998306" y="2777472"/>
            <a:ext cx="0" cy="574675"/>
          </a:xfrm>
          <a:prstGeom prst="line">
            <a:avLst/>
          </a:prstGeom>
          <a:noFill/>
          <a:ln w="7302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47111" name="Line 8">
            <a:extLst>
              <a:ext uri="{FF2B5EF4-FFF2-40B4-BE49-F238E27FC236}">
                <a16:creationId xmlns:a16="http://schemas.microsoft.com/office/drawing/2014/main" id="{62D5754B-36D6-0E61-E538-792554635AAF}"/>
              </a:ext>
            </a:extLst>
          </p:cNvPr>
          <p:cNvSpPr>
            <a:spLocks noChangeShapeType="1"/>
          </p:cNvSpPr>
          <p:nvPr/>
        </p:nvSpPr>
        <p:spPr bwMode="auto">
          <a:xfrm flipV="1">
            <a:off x="2883425" y="3699018"/>
            <a:ext cx="0" cy="574675"/>
          </a:xfrm>
          <a:prstGeom prst="line">
            <a:avLst/>
          </a:prstGeom>
          <a:noFill/>
          <a:ln w="730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47112" name="Line 9">
            <a:extLst>
              <a:ext uri="{FF2B5EF4-FFF2-40B4-BE49-F238E27FC236}">
                <a16:creationId xmlns:a16="http://schemas.microsoft.com/office/drawing/2014/main" id="{4F55C048-D7FF-75A9-DFA3-11DC4B7C4B61}"/>
              </a:ext>
            </a:extLst>
          </p:cNvPr>
          <p:cNvSpPr>
            <a:spLocks noChangeShapeType="1"/>
          </p:cNvSpPr>
          <p:nvPr/>
        </p:nvSpPr>
        <p:spPr bwMode="auto">
          <a:xfrm flipV="1">
            <a:off x="3099325" y="3624405"/>
            <a:ext cx="1588" cy="647700"/>
          </a:xfrm>
          <a:prstGeom prst="line">
            <a:avLst/>
          </a:prstGeom>
          <a:noFill/>
          <a:ln w="730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47113" name="Line 10">
            <a:extLst>
              <a:ext uri="{FF2B5EF4-FFF2-40B4-BE49-F238E27FC236}">
                <a16:creationId xmlns:a16="http://schemas.microsoft.com/office/drawing/2014/main" id="{4051D384-14D2-FA34-F0B4-FDF72FFF4EC5}"/>
              </a:ext>
            </a:extLst>
          </p:cNvPr>
          <p:cNvSpPr>
            <a:spLocks noChangeShapeType="1"/>
          </p:cNvSpPr>
          <p:nvPr/>
        </p:nvSpPr>
        <p:spPr bwMode="auto">
          <a:xfrm flipV="1">
            <a:off x="3340625" y="3783155"/>
            <a:ext cx="0" cy="574675"/>
          </a:xfrm>
          <a:prstGeom prst="line">
            <a:avLst/>
          </a:prstGeom>
          <a:noFill/>
          <a:ln w="730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1AD4AFD-D083-E858-96AD-075FEF12700D}"/>
              </a:ext>
            </a:extLst>
          </p:cNvPr>
          <p:cNvSpPr txBox="1">
            <a:spLocks noChangeArrowheads="1"/>
          </p:cNvSpPr>
          <p:nvPr/>
        </p:nvSpPr>
        <p:spPr bwMode="auto">
          <a:xfrm>
            <a:off x="6301975" y="2804096"/>
            <a:ext cx="3255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400" dirty="0">
                <a:cs typeface="Calibri" panose="020F0502020204030204" pitchFamily="34" charset="0"/>
              </a:rPr>
              <a:t>Dark surfaces have </a:t>
            </a:r>
            <a:r>
              <a:rPr lang="el-GR" altLang="en-US" sz="2400" dirty="0">
                <a:cs typeface="Calibri" panose="020F0502020204030204" pitchFamily="34" charset="0"/>
              </a:rPr>
              <a:t>α</a:t>
            </a:r>
            <a:r>
              <a:rPr lang="en-GB" altLang="en-US" sz="2400" dirty="0">
                <a:cs typeface="Calibri" panose="020F0502020204030204" pitchFamily="34" charset="0"/>
              </a:rPr>
              <a:t> ~ 0</a:t>
            </a:r>
          </a:p>
        </p:txBody>
      </p:sp>
      <p:sp>
        <p:nvSpPr>
          <p:cNvPr id="12" name="TextBox 11">
            <a:extLst>
              <a:ext uri="{FF2B5EF4-FFF2-40B4-BE49-F238E27FC236}">
                <a16:creationId xmlns:a16="http://schemas.microsoft.com/office/drawing/2014/main" id="{010519C0-2980-A254-C147-72FC83974618}"/>
              </a:ext>
            </a:extLst>
          </p:cNvPr>
          <p:cNvSpPr txBox="1">
            <a:spLocks noChangeArrowheads="1"/>
          </p:cNvSpPr>
          <p:nvPr/>
        </p:nvSpPr>
        <p:spPr bwMode="auto">
          <a:xfrm>
            <a:off x="389463" y="3095768"/>
            <a:ext cx="3305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400">
                <a:solidFill>
                  <a:schemeClr val="bg1"/>
                </a:solidFill>
                <a:cs typeface="Calibri" panose="020F0502020204030204" pitchFamily="34" charset="0"/>
              </a:rPr>
              <a:t>Light surfaces have </a:t>
            </a:r>
            <a:r>
              <a:rPr lang="el-GR" altLang="en-US" sz="2400">
                <a:solidFill>
                  <a:schemeClr val="bg1"/>
                </a:solidFill>
                <a:cs typeface="Calibri" panose="020F0502020204030204" pitchFamily="34" charset="0"/>
              </a:rPr>
              <a:t>α</a:t>
            </a:r>
            <a:r>
              <a:rPr lang="en-GB" altLang="en-US" sz="2400">
                <a:solidFill>
                  <a:schemeClr val="bg1"/>
                </a:solidFill>
                <a:cs typeface="Calibri" panose="020F0502020204030204" pitchFamily="34" charset="0"/>
              </a:rPr>
              <a:t> ~ 1</a:t>
            </a:r>
          </a:p>
        </p:txBody>
      </p:sp>
      <p:sp>
        <p:nvSpPr>
          <p:cNvPr id="27659" name="Text Box 2">
            <a:extLst>
              <a:ext uri="{FF2B5EF4-FFF2-40B4-BE49-F238E27FC236}">
                <a16:creationId xmlns:a16="http://schemas.microsoft.com/office/drawing/2014/main" id="{7A619743-38B8-8C68-54A3-38A031BCDE45}"/>
              </a:ext>
            </a:extLst>
          </p:cNvPr>
          <p:cNvSpPr txBox="1">
            <a:spLocks noChangeArrowheads="1"/>
          </p:cNvSpPr>
          <p:nvPr/>
        </p:nvSpPr>
        <p:spPr bwMode="auto">
          <a:xfrm>
            <a:off x="282255" y="1402544"/>
            <a:ext cx="11491536" cy="1015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2400" dirty="0">
                <a:cs typeface="Calibri" panose="020F0502020204030204" pitchFamily="34" charset="0"/>
              </a:rPr>
              <a:t>But some of the Sun’s radiation is reflected away!</a:t>
            </a:r>
          </a:p>
          <a:p>
            <a:pPr eaLnBrk="1" hangingPunct="1">
              <a:lnSpc>
                <a:spcPct val="100000"/>
              </a:lnSpc>
              <a:spcBef>
                <a:spcPct val="50000"/>
              </a:spcBef>
              <a:buFontTx/>
              <a:buNone/>
            </a:pPr>
            <a:r>
              <a:rPr lang="en-US" altLang="en-US" sz="2400" b="1" dirty="0">
                <a:cs typeface="Calibri" panose="020F0502020204030204" pitchFamily="34" charset="0"/>
              </a:rPr>
              <a:t>Albedo (</a:t>
            </a:r>
            <a:r>
              <a:rPr lang="el-GR" altLang="en-US" sz="2400" b="1" dirty="0">
                <a:cs typeface="Calibri" panose="020F0502020204030204" pitchFamily="34" charset="0"/>
              </a:rPr>
              <a:t>α</a:t>
            </a:r>
            <a:r>
              <a:rPr lang="en-GB" altLang="en-US" sz="2400" b="1" dirty="0">
                <a:cs typeface="Calibri" panose="020F0502020204030204" pitchFamily="34" charset="0"/>
              </a:rPr>
              <a:t>)</a:t>
            </a:r>
            <a:r>
              <a:rPr lang="en-US" altLang="en-US" sz="2400" b="1" dirty="0">
                <a:cs typeface="Calibri" panose="020F0502020204030204" pitchFamily="34" charset="0"/>
              </a:rPr>
              <a:t>: </a:t>
            </a:r>
            <a:r>
              <a:rPr lang="en-US" altLang="en-US" sz="2400" dirty="0">
                <a:cs typeface="Calibri" panose="020F0502020204030204" pitchFamily="34" charset="0"/>
              </a:rPr>
              <a:t>Fraction of energy that is reflected away</a:t>
            </a:r>
            <a:endParaRPr lang="en-GB" altLang="en-US" sz="2000" dirty="0">
              <a:cs typeface="Calibri" panose="020F0502020204030204" pitchFamily="34" charset="0"/>
            </a:endParaRPr>
          </a:p>
        </p:txBody>
      </p:sp>
      <p:sp>
        <p:nvSpPr>
          <p:cNvPr id="3" name="Freeform 13">
            <a:extLst>
              <a:ext uri="{FF2B5EF4-FFF2-40B4-BE49-F238E27FC236}">
                <a16:creationId xmlns:a16="http://schemas.microsoft.com/office/drawing/2014/main" id="{1F4485A2-EA5D-05FC-0693-5BA005800B46}"/>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4" name="TextBox 14">
            <a:extLst>
              <a:ext uri="{FF2B5EF4-FFF2-40B4-BE49-F238E27FC236}">
                <a16:creationId xmlns:a16="http://schemas.microsoft.com/office/drawing/2014/main" id="{5BAC8B3F-2332-84BA-B793-9A888E1AB693}"/>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Earth’s Energy Balance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71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10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10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1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71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1" descr="s_earth%20from%20space">
            <a:extLst>
              <a:ext uri="{FF2B5EF4-FFF2-40B4-BE49-F238E27FC236}">
                <a16:creationId xmlns:a16="http://schemas.microsoft.com/office/drawing/2014/main" id="{64C0D97D-94A4-0ABE-B7FD-1357E76A77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464" y="1704888"/>
            <a:ext cx="4240925" cy="4240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TextBox 2">
            <a:extLst>
              <a:ext uri="{FF2B5EF4-FFF2-40B4-BE49-F238E27FC236}">
                <a16:creationId xmlns:a16="http://schemas.microsoft.com/office/drawing/2014/main" id="{01690503-B0B5-E290-14E4-BFC4FC513AAC}"/>
              </a:ext>
            </a:extLst>
          </p:cNvPr>
          <p:cNvSpPr txBox="1">
            <a:spLocks noChangeArrowheads="1"/>
          </p:cNvSpPr>
          <p:nvPr/>
        </p:nvSpPr>
        <p:spPr bwMode="auto">
          <a:xfrm>
            <a:off x="4775200" y="2329753"/>
            <a:ext cx="3850285"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spcAft>
                <a:spcPts val="1200"/>
              </a:spcAft>
              <a:buFontTx/>
              <a:buNone/>
            </a:pPr>
            <a:r>
              <a:rPr lang="en-GB" altLang="en-US" sz="2200" b="1" dirty="0">
                <a:cs typeface="Calibri" panose="020F0502020204030204" pitchFamily="34" charset="0"/>
              </a:rPr>
              <a:t>Reflection of solar radiation</a:t>
            </a:r>
          </a:p>
          <a:p>
            <a:pPr>
              <a:lnSpc>
                <a:spcPct val="100000"/>
              </a:lnSpc>
              <a:spcBef>
                <a:spcPct val="0"/>
              </a:spcBef>
              <a:spcAft>
                <a:spcPts val="1200"/>
              </a:spcAft>
              <a:buFontTx/>
              <a:buNone/>
            </a:pPr>
            <a:r>
              <a:rPr lang="en-GB" altLang="en-US" sz="2200" dirty="0">
                <a:cs typeface="Calibri" panose="020F0502020204030204" pitchFamily="34" charset="0"/>
              </a:rPr>
              <a:t>5% from land and ocean surface</a:t>
            </a:r>
          </a:p>
          <a:p>
            <a:pPr>
              <a:lnSpc>
                <a:spcPct val="100000"/>
              </a:lnSpc>
              <a:spcBef>
                <a:spcPct val="0"/>
              </a:spcBef>
              <a:spcAft>
                <a:spcPts val="1200"/>
              </a:spcAft>
              <a:buFontTx/>
              <a:buNone/>
            </a:pPr>
            <a:r>
              <a:rPr lang="en-GB" altLang="en-US" sz="2200" dirty="0">
                <a:cs typeface="Calibri" panose="020F0502020204030204" pitchFamily="34" charset="0"/>
              </a:rPr>
              <a:t>20% from clouds</a:t>
            </a:r>
          </a:p>
          <a:p>
            <a:pPr>
              <a:lnSpc>
                <a:spcPct val="100000"/>
              </a:lnSpc>
              <a:spcBef>
                <a:spcPct val="0"/>
              </a:spcBef>
              <a:spcAft>
                <a:spcPts val="1200"/>
              </a:spcAft>
              <a:buFontTx/>
              <a:buNone/>
            </a:pPr>
            <a:r>
              <a:rPr lang="en-GB" altLang="en-US" sz="2200" dirty="0">
                <a:cs typeface="Calibri" panose="020F0502020204030204" pitchFamily="34" charset="0"/>
              </a:rPr>
              <a:t>6% scattered by air</a:t>
            </a:r>
          </a:p>
          <a:p>
            <a:pPr>
              <a:lnSpc>
                <a:spcPct val="100000"/>
              </a:lnSpc>
              <a:spcBef>
                <a:spcPct val="0"/>
              </a:spcBef>
              <a:spcAft>
                <a:spcPts val="1200"/>
              </a:spcAft>
              <a:buFontTx/>
              <a:buNone/>
            </a:pPr>
            <a:r>
              <a:rPr lang="en-GB" altLang="en-US" sz="2200" b="1" dirty="0">
                <a:cs typeface="Calibri" panose="020F0502020204030204" pitchFamily="34" charset="0"/>
              </a:rPr>
              <a:t>Total: ~30% </a:t>
            </a:r>
          </a:p>
        </p:txBody>
      </p:sp>
      <p:sp>
        <p:nvSpPr>
          <p:cNvPr id="29700" name="Text Box 2">
            <a:extLst>
              <a:ext uri="{FF2B5EF4-FFF2-40B4-BE49-F238E27FC236}">
                <a16:creationId xmlns:a16="http://schemas.microsoft.com/office/drawing/2014/main" id="{A6ECE91E-2D30-59F0-B4E5-DEDC9FADC222}"/>
              </a:ext>
            </a:extLst>
          </p:cNvPr>
          <p:cNvSpPr txBox="1">
            <a:spLocks noChangeArrowheads="1"/>
          </p:cNvSpPr>
          <p:nvPr/>
        </p:nvSpPr>
        <p:spPr bwMode="auto">
          <a:xfrm>
            <a:off x="4758848" y="1648717"/>
            <a:ext cx="7416800" cy="43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2200" b="1" dirty="0">
                <a:cs typeface="Calibri" panose="020F0502020204030204" pitchFamily="34" charset="0"/>
              </a:rPr>
              <a:t>Albedo (</a:t>
            </a:r>
            <a:r>
              <a:rPr lang="el-GR" altLang="en-US" sz="2200" b="1" dirty="0">
                <a:cs typeface="Calibri" panose="020F0502020204030204" pitchFamily="34" charset="0"/>
              </a:rPr>
              <a:t>α</a:t>
            </a:r>
            <a:r>
              <a:rPr lang="en-GB" altLang="en-US" sz="2200" b="1" dirty="0">
                <a:cs typeface="Calibri" panose="020F0502020204030204" pitchFamily="34" charset="0"/>
              </a:rPr>
              <a:t>)</a:t>
            </a:r>
            <a:r>
              <a:rPr lang="en-US" altLang="en-US" sz="2200" b="1" dirty="0">
                <a:cs typeface="Calibri" panose="020F0502020204030204" pitchFamily="34" charset="0"/>
              </a:rPr>
              <a:t>: </a:t>
            </a:r>
            <a:r>
              <a:rPr lang="en-US" altLang="en-US" sz="2200" dirty="0">
                <a:cs typeface="Calibri" panose="020F0502020204030204" pitchFamily="34" charset="0"/>
              </a:rPr>
              <a:t>Fraction of energy that is reflected away</a:t>
            </a:r>
            <a:endParaRPr lang="en-GB" altLang="en-US" sz="2200" dirty="0">
              <a:cs typeface="Calibri" panose="020F0502020204030204" pitchFamily="34" charset="0"/>
            </a:endParaRPr>
          </a:p>
        </p:txBody>
      </p:sp>
      <p:sp>
        <p:nvSpPr>
          <p:cNvPr id="2" name="Freeform 13">
            <a:extLst>
              <a:ext uri="{FF2B5EF4-FFF2-40B4-BE49-F238E27FC236}">
                <a16:creationId xmlns:a16="http://schemas.microsoft.com/office/drawing/2014/main" id="{C2C3CB08-4583-E1BA-1FBD-80A3026822BD}"/>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1A0F8834-4A62-9104-9B7A-B13E4F69CEE5}"/>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Earth’s Energy Balance</a:t>
            </a:r>
          </a:p>
        </p:txBody>
      </p:sp>
      <p:sp>
        <p:nvSpPr>
          <p:cNvPr id="6" name="TextBox 5">
            <a:extLst>
              <a:ext uri="{FF2B5EF4-FFF2-40B4-BE49-F238E27FC236}">
                <a16:creationId xmlns:a16="http://schemas.microsoft.com/office/drawing/2014/main" id="{4B6C94E2-16AD-E520-3204-5289A50CDF68}"/>
              </a:ext>
            </a:extLst>
          </p:cNvPr>
          <p:cNvSpPr txBox="1"/>
          <p:nvPr/>
        </p:nvSpPr>
        <p:spPr>
          <a:xfrm>
            <a:off x="4775200" y="4919609"/>
            <a:ext cx="7027336" cy="1107996"/>
          </a:xfrm>
          <a:prstGeom prst="rect">
            <a:avLst/>
          </a:prstGeom>
          <a:noFill/>
        </p:spPr>
        <p:txBody>
          <a:bodyPr wrap="square">
            <a:spAutoFit/>
          </a:bodyPr>
          <a:lstStyle/>
          <a:p>
            <a:r>
              <a:rPr lang="en-GB" sz="2200" b="0" i="0" u="none" strike="noStrike" kern="1200" dirty="0">
                <a:solidFill>
                  <a:schemeClr val="tx1"/>
                </a:solidFill>
                <a:effectLst/>
                <a:latin typeface="Calibri" panose="020F0502020204030204" pitchFamily="34" charset="0"/>
                <a:cs typeface="Calibri" panose="020F0502020204030204" pitchFamily="34" charset="0"/>
              </a:rPr>
              <a:t>Land-use change driven by human activity modifies surface reflectivity, changing the proportion of solar radiation reflected back to space </a:t>
            </a:r>
            <a:r>
              <a:rPr lang="en-GB" sz="2200" b="0" i="1" u="none" strike="noStrike" kern="1200" dirty="0">
                <a:solidFill>
                  <a:srgbClr val="FF0000"/>
                </a:solidFill>
                <a:effectLst/>
                <a:latin typeface="Calibri" panose="020F0502020204030204" pitchFamily="34" charset="0"/>
                <a:cs typeface="Calibri" panose="020F0502020204030204" pitchFamily="34" charset="0"/>
              </a:rPr>
              <a:t>– Week 4</a:t>
            </a:r>
            <a:endParaRPr lang="en-GB" altLang="en-US" sz="2200" i="1" dirty="0">
              <a:solidFill>
                <a:srgbClr val="FF0000"/>
              </a:solidFill>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96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35024B0-940A-D854-0B28-0E48559FE3A1}"/>
            </a:ext>
          </a:extLst>
        </p:cNvPr>
        <p:cNvGrpSpPr/>
        <p:nvPr/>
      </p:nvGrpSpPr>
      <p:grpSpPr>
        <a:xfrm>
          <a:off x="0" y="0"/>
          <a:ext cx="0" cy="0"/>
          <a:chOff x="0" y="0"/>
          <a:chExt cx="0" cy="0"/>
        </a:xfrm>
      </p:grpSpPr>
      <p:sp>
        <p:nvSpPr>
          <p:cNvPr id="10" name="Rectangle 6">
            <a:extLst>
              <a:ext uri="{FF2B5EF4-FFF2-40B4-BE49-F238E27FC236}">
                <a16:creationId xmlns:a16="http://schemas.microsoft.com/office/drawing/2014/main" id="{386A8594-4CBC-C0E0-698F-2F114EC32109}"/>
              </a:ext>
            </a:extLst>
          </p:cNvPr>
          <p:cNvSpPr>
            <a:spLocks noChangeArrowheads="1"/>
          </p:cNvSpPr>
          <p:nvPr/>
        </p:nvSpPr>
        <p:spPr bwMode="auto">
          <a:xfrm>
            <a:off x="3648076" y="3429000"/>
            <a:ext cx="5480158" cy="3117850"/>
          </a:xfrm>
          <a:prstGeom prst="rect">
            <a:avLst/>
          </a:prstGeom>
          <a:solidFill>
            <a:srgbClr val="FFFF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11" name="Oval 7">
            <a:extLst>
              <a:ext uri="{FF2B5EF4-FFF2-40B4-BE49-F238E27FC236}">
                <a16:creationId xmlns:a16="http://schemas.microsoft.com/office/drawing/2014/main" id="{F4EFADCA-189F-A982-E62C-CCD4571F67D8}"/>
              </a:ext>
            </a:extLst>
          </p:cNvPr>
          <p:cNvSpPr>
            <a:spLocks noChangeArrowheads="1"/>
          </p:cNvSpPr>
          <p:nvPr/>
        </p:nvSpPr>
        <p:spPr bwMode="auto">
          <a:xfrm>
            <a:off x="6932613" y="4444170"/>
            <a:ext cx="1108737" cy="1126368"/>
          </a:xfrm>
          <a:prstGeom prst="ellipse">
            <a:avLst/>
          </a:prstGeom>
          <a:solidFill>
            <a:srgbClr val="3366FF"/>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12" name="Rectangle 8">
            <a:extLst>
              <a:ext uri="{FF2B5EF4-FFF2-40B4-BE49-F238E27FC236}">
                <a16:creationId xmlns:a16="http://schemas.microsoft.com/office/drawing/2014/main" id="{03A0B5F9-0579-5BC2-62D5-E10B97E71BAB}"/>
              </a:ext>
            </a:extLst>
          </p:cNvPr>
          <p:cNvSpPr>
            <a:spLocks noChangeArrowheads="1"/>
          </p:cNvSpPr>
          <p:nvPr/>
        </p:nvSpPr>
        <p:spPr bwMode="auto">
          <a:xfrm>
            <a:off x="4294188" y="4444170"/>
            <a:ext cx="3031255" cy="1126368"/>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13" name="Rectangle 9">
            <a:extLst>
              <a:ext uri="{FF2B5EF4-FFF2-40B4-BE49-F238E27FC236}">
                <a16:creationId xmlns:a16="http://schemas.microsoft.com/office/drawing/2014/main" id="{D8E35E10-FCF5-634A-E6F2-01AC264AB3FD}"/>
              </a:ext>
            </a:extLst>
          </p:cNvPr>
          <p:cNvSpPr>
            <a:spLocks noChangeArrowheads="1"/>
          </p:cNvSpPr>
          <p:nvPr/>
        </p:nvSpPr>
        <p:spPr bwMode="auto">
          <a:xfrm>
            <a:off x="7475539" y="4444377"/>
            <a:ext cx="1652694" cy="1140448"/>
          </a:xfrm>
          <a:prstGeom prst="rect">
            <a:avLst/>
          </a:prstGeom>
          <a:solidFill>
            <a:schemeClr val="bg2">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14" name="Line 10">
            <a:extLst>
              <a:ext uri="{FF2B5EF4-FFF2-40B4-BE49-F238E27FC236}">
                <a16:creationId xmlns:a16="http://schemas.microsoft.com/office/drawing/2014/main" id="{0C8C8516-CB99-DC75-39BC-0240693482FD}"/>
              </a:ext>
            </a:extLst>
          </p:cNvPr>
          <p:cNvSpPr>
            <a:spLocks noChangeShapeType="1"/>
          </p:cNvSpPr>
          <p:nvPr/>
        </p:nvSpPr>
        <p:spPr bwMode="auto">
          <a:xfrm>
            <a:off x="5535613" y="3306712"/>
            <a:ext cx="518822" cy="15018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a:latin typeface="Calibri" panose="020F0502020204030204" pitchFamily="34" charset="0"/>
              <a:cs typeface="Calibri" panose="020F0502020204030204" pitchFamily="34" charset="0"/>
            </a:endParaRPr>
          </a:p>
        </p:txBody>
      </p:sp>
      <p:sp>
        <p:nvSpPr>
          <p:cNvPr id="15" name="AutoShape 15">
            <a:extLst>
              <a:ext uri="{FF2B5EF4-FFF2-40B4-BE49-F238E27FC236}">
                <a16:creationId xmlns:a16="http://schemas.microsoft.com/office/drawing/2014/main" id="{58F6052C-40AF-4D8F-703F-16E44032E492}"/>
              </a:ext>
            </a:extLst>
          </p:cNvPr>
          <p:cNvSpPr>
            <a:spLocks noChangeArrowheads="1"/>
          </p:cNvSpPr>
          <p:nvPr/>
        </p:nvSpPr>
        <p:spPr bwMode="auto">
          <a:xfrm>
            <a:off x="2122489" y="3407306"/>
            <a:ext cx="2883020" cy="3153832"/>
          </a:xfrm>
          <a:prstGeom prst="star16">
            <a:avLst>
              <a:gd name="adj" fmla="val 375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a:cs typeface="Calibri" panose="020F0502020204030204" pitchFamily="34" charset="0"/>
              </a:rPr>
              <a:t>Solar constant:</a:t>
            </a:r>
          </a:p>
          <a:p>
            <a:pPr algn="ctr" eaLnBrk="1" hangingPunct="1">
              <a:lnSpc>
                <a:spcPct val="100000"/>
              </a:lnSpc>
              <a:spcBef>
                <a:spcPct val="0"/>
              </a:spcBef>
              <a:buFontTx/>
              <a:buNone/>
            </a:pPr>
            <a:r>
              <a:rPr lang="en-US" altLang="en-US" sz="2400">
                <a:cs typeface="Calibri" panose="020F0502020204030204" pitchFamily="34" charset="0"/>
              </a:rPr>
              <a:t>S</a:t>
            </a:r>
            <a:r>
              <a:rPr lang="en-US" altLang="en-US" sz="2400" baseline="-25000">
                <a:cs typeface="Calibri" panose="020F0502020204030204" pitchFamily="34" charset="0"/>
              </a:rPr>
              <a:t>0</a:t>
            </a:r>
            <a:r>
              <a:rPr lang="en-US" altLang="en-US" sz="2400">
                <a:cs typeface="Calibri" panose="020F0502020204030204" pitchFamily="34" charset="0"/>
              </a:rPr>
              <a:t>=1370 W m</a:t>
            </a:r>
            <a:r>
              <a:rPr lang="en-US" altLang="en-US" sz="2400" baseline="30000">
                <a:cs typeface="Calibri" panose="020F0502020204030204" pitchFamily="34" charset="0"/>
              </a:rPr>
              <a:t>2</a:t>
            </a:r>
            <a:endParaRPr lang="en-US" altLang="en-US" sz="2400">
              <a:cs typeface="Calibri" panose="020F0502020204030204" pitchFamily="34" charset="0"/>
            </a:endParaRPr>
          </a:p>
        </p:txBody>
      </p:sp>
      <p:sp>
        <p:nvSpPr>
          <p:cNvPr id="18" name="Oval 19">
            <a:extLst>
              <a:ext uri="{FF2B5EF4-FFF2-40B4-BE49-F238E27FC236}">
                <a16:creationId xmlns:a16="http://schemas.microsoft.com/office/drawing/2014/main" id="{2776716E-39FE-BB24-A443-7830EE89C1E0}"/>
              </a:ext>
            </a:extLst>
          </p:cNvPr>
          <p:cNvSpPr>
            <a:spLocks noChangeArrowheads="1"/>
          </p:cNvSpPr>
          <p:nvPr/>
        </p:nvSpPr>
        <p:spPr bwMode="auto">
          <a:xfrm>
            <a:off x="6002338" y="4444170"/>
            <a:ext cx="294957" cy="1126368"/>
          </a:xfrm>
          <a:prstGeom prst="ellipse">
            <a:avLst/>
          </a:prstGeom>
          <a:solidFill>
            <a:srgbClr val="FFFF00"/>
          </a:solidFill>
          <a:ln w="1587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grpSp>
        <p:nvGrpSpPr>
          <p:cNvPr id="22" name="Group 23">
            <a:extLst>
              <a:ext uri="{FF2B5EF4-FFF2-40B4-BE49-F238E27FC236}">
                <a16:creationId xmlns:a16="http://schemas.microsoft.com/office/drawing/2014/main" id="{D9CB2614-622F-9953-57D8-F232E75269A1}"/>
              </a:ext>
            </a:extLst>
          </p:cNvPr>
          <p:cNvGrpSpPr>
            <a:grpSpLocks/>
          </p:cNvGrpSpPr>
          <p:nvPr/>
        </p:nvGrpSpPr>
        <p:grpSpPr bwMode="auto">
          <a:xfrm rot="-7565088">
            <a:off x="2270351" y="3805019"/>
            <a:ext cx="1201460" cy="296470"/>
            <a:chOff x="288" y="1296"/>
            <a:chExt cx="768" cy="192"/>
          </a:xfrm>
        </p:grpSpPr>
        <p:sp>
          <p:nvSpPr>
            <p:cNvPr id="25621" name="AutoShape 24">
              <a:extLst>
                <a:ext uri="{FF2B5EF4-FFF2-40B4-BE49-F238E27FC236}">
                  <a16:creationId xmlns:a16="http://schemas.microsoft.com/office/drawing/2014/main" id="{2A7EBB8A-C3F7-C485-8B45-9C6E0CFD0B12}"/>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25622" name="AutoShape 25">
              <a:extLst>
                <a:ext uri="{FF2B5EF4-FFF2-40B4-BE49-F238E27FC236}">
                  <a16:creationId xmlns:a16="http://schemas.microsoft.com/office/drawing/2014/main" id="{52A1CED8-8CCF-052F-C4B6-D3188ED36EA9}"/>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grpSp>
      <p:grpSp>
        <p:nvGrpSpPr>
          <p:cNvPr id="25" name="Group 23">
            <a:extLst>
              <a:ext uri="{FF2B5EF4-FFF2-40B4-BE49-F238E27FC236}">
                <a16:creationId xmlns:a16="http://schemas.microsoft.com/office/drawing/2014/main" id="{54E47180-1301-7A18-E15D-EA55E76583E3}"/>
              </a:ext>
            </a:extLst>
          </p:cNvPr>
          <p:cNvGrpSpPr>
            <a:grpSpLocks/>
          </p:cNvGrpSpPr>
          <p:nvPr/>
        </p:nvGrpSpPr>
        <p:grpSpPr bwMode="auto">
          <a:xfrm rot="8363423">
            <a:off x="1868950" y="6064727"/>
            <a:ext cx="1161678" cy="306623"/>
            <a:chOff x="288" y="1296"/>
            <a:chExt cx="768" cy="192"/>
          </a:xfrm>
        </p:grpSpPr>
        <p:sp>
          <p:nvSpPr>
            <p:cNvPr id="25619" name="AutoShape 24">
              <a:extLst>
                <a:ext uri="{FF2B5EF4-FFF2-40B4-BE49-F238E27FC236}">
                  <a16:creationId xmlns:a16="http://schemas.microsoft.com/office/drawing/2014/main" id="{66BF11EC-D3DA-857E-DD52-C1B90F86E56A}"/>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25620" name="AutoShape 25">
              <a:extLst>
                <a:ext uri="{FF2B5EF4-FFF2-40B4-BE49-F238E27FC236}">
                  <a16:creationId xmlns:a16="http://schemas.microsoft.com/office/drawing/2014/main" id="{33AC7800-3814-71DF-C9EF-333690182607}"/>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grpSp>
      <p:grpSp>
        <p:nvGrpSpPr>
          <p:cNvPr id="28" name="Group 23">
            <a:extLst>
              <a:ext uri="{FF2B5EF4-FFF2-40B4-BE49-F238E27FC236}">
                <a16:creationId xmlns:a16="http://schemas.microsoft.com/office/drawing/2014/main" id="{A56388D5-BEF5-2231-05E0-844B60E31BBB}"/>
              </a:ext>
            </a:extLst>
          </p:cNvPr>
          <p:cNvGrpSpPr>
            <a:grpSpLocks/>
          </p:cNvGrpSpPr>
          <p:nvPr/>
        </p:nvGrpSpPr>
        <p:grpSpPr bwMode="auto">
          <a:xfrm rot="2991088">
            <a:off x="4007891" y="6094216"/>
            <a:ext cx="1201460" cy="296470"/>
            <a:chOff x="288" y="1296"/>
            <a:chExt cx="768" cy="192"/>
          </a:xfrm>
        </p:grpSpPr>
        <p:sp>
          <p:nvSpPr>
            <p:cNvPr id="25617" name="AutoShape 24">
              <a:extLst>
                <a:ext uri="{FF2B5EF4-FFF2-40B4-BE49-F238E27FC236}">
                  <a16:creationId xmlns:a16="http://schemas.microsoft.com/office/drawing/2014/main" id="{1011B958-B262-AE79-13FE-7FA75C9FEE3D}"/>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25618" name="AutoShape 25">
              <a:extLst>
                <a:ext uri="{FF2B5EF4-FFF2-40B4-BE49-F238E27FC236}">
                  <a16:creationId xmlns:a16="http://schemas.microsoft.com/office/drawing/2014/main" id="{0A26C11A-C5E6-399C-34DF-CA814E76D5C9}"/>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grpSp>
      <p:grpSp>
        <p:nvGrpSpPr>
          <p:cNvPr id="31" name="Group 23">
            <a:extLst>
              <a:ext uri="{FF2B5EF4-FFF2-40B4-BE49-F238E27FC236}">
                <a16:creationId xmlns:a16="http://schemas.microsoft.com/office/drawing/2014/main" id="{39096A9B-D847-1A9B-5C4C-E9FC7A764821}"/>
              </a:ext>
            </a:extLst>
          </p:cNvPr>
          <p:cNvGrpSpPr>
            <a:grpSpLocks/>
          </p:cNvGrpSpPr>
          <p:nvPr/>
        </p:nvGrpSpPr>
        <p:grpSpPr bwMode="auto">
          <a:xfrm rot="-3073854">
            <a:off x="3921893" y="3622809"/>
            <a:ext cx="1201460" cy="296470"/>
            <a:chOff x="288" y="1296"/>
            <a:chExt cx="768" cy="192"/>
          </a:xfrm>
        </p:grpSpPr>
        <p:sp>
          <p:nvSpPr>
            <p:cNvPr id="25615" name="AutoShape 24">
              <a:extLst>
                <a:ext uri="{FF2B5EF4-FFF2-40B4-BE49-F238E27FC236}">
                  <a16:creationId xmlns:a16="http://schemas.microsoft.com/office/drawing/2014/main" id="{52F64324-0EA9-0A15-5BD8-2CEA5A9EE534}"/>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sp>
          <p:nvSpPr>
            <p:cNvPr id="25616" name="AutoShape 25">
              <a:extLst>
                <a:ext uri="{FF2B5EF4-FFF2-40B4-BE49-F238E27FC236}">
                  <a16:creationId xmlns:a16="http://schemas.microsoft.com/office/drawing/2014/main" id="{CC8497E7-EFE6-7930-70A1-7A7FB41A1FDE}"/>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cs typeface="Calibri" panose="020F0502020204030204" pitchFamily="34" charset="0"/>
              </a:endParaRPr>
            </a:p>
          </p:txBody>
        </p:sp>
      </p:grpSp>
      <p:sp>
        <p:nvSpPr>
          <p:cNvPr id="35" name="TextBox 34">
            <a:extLst>
              <a:ext uri="{FF2B5EF4-FFF2-40B4-BE49-F238E27FC236}">
                <a16:creationId xmlns:a16="http://schemas.microsoft.com/office/drawing/2014/main" id="{8054C603-F7F1-4183-7A4F-6F518E11760F}"/>
              </a:ext>
            </a:extLst>
          </p:cNvPr>
          <p:cNvSpPr txBox="1">
            <a:spLocks noChangeArrowheads="1"/>
          </p:cNvSpPr>
          <p:nvPr/>
        </p:nvSpPr>
        <p:spPr bwMode="auto">
          <a:xfrm>
            <a:off x="300038" y="1274032"/>
            <a:ext cx="110156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271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9271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9271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9271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9271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400" dirty="0">
                <a:solidFill>
                  <a:srgbClr val="FF0000"/>
                </a:solidFill>
                <a:cs typeface="Calibri" panose="020F0502020204030204" pitchFamily="34" charset="0"/>
              </a:rPr>
              <a:t>Energy In: </a:t>
            </a:r>
            <a:r>
              <a:rPr lang="en-US" altLang="en-US" sz="2400" dirty="0">
                <a:cs typeface="Calibri" panose="020F0502020204030204" pitchFamily="34" charset="0"/>
              </a:rPr>
              <a:t>Incoming solar radiation	= S</a:t>
            </a:r>
            <a:r>
              <a:rPr lang="en-US" altLang="en-US" sz="2400" baseline="-25000" dirty="0">
                <a:cs typeface="Calibri" panose="020F0502020204030204" pitchFamily="34" charset="0"/>
              </a:rPr>
              <a:t>o</a:t>
            </a:r>
            <a:r>
              <a:rPr lang="en-US" altLang="en-US" sz="2400" dirty="0">
                <a:cs typeface="Calibri" panose="020F0502020204030204" pitchFamily="34" charset="0"/>
              </a:rPr>
              <a:t> x Area (A)</a:t>
            </a:r>
          </a:p>
          <a:p>
            <a:pPr>
              <a:lnSpc>
                <a:spcPct val="100000"/>
              </a:lnSpc>
              <a:spcBef>
                <a:spcPct val="0"/>
              </a:spcBef>
              <a:buFontTx/>
              <a:buNone/>
            </a:pPr>
            <a:r>
              <a:rPr lang="en-US" altLang="en-US" sz="2400" dirty="0">
                <a:cs typeface="Calibri" panose="020F0502020204030204" pitchFamily="34" charset="0"/>
              </a:rPr>
              <a:t>					= S</a:t>
            </a:r>
            <a:r>
              <a:rPr lang="en-US" altLang="en-US" sz="2400" baseline="-25000" dirty="0">
                <a:cs typeface="Calibri" panose="020F0502020204030204" pitchFamily="34" charset="0"/>
              </a:rPr>
              <a:t>o</a:t>
            </a:r>
            <a:r>
              <a:rPr lang="en-US" altLang="en-US" sz="2400" dirty="0">
                <a:cs typeface="Calibri" panose="020F0502020204030204" pitchFamily="34" charset="0"/>
              </a:rPr>
              <a:t> x </a:t>
            </a:r>
            <a:r>
              <a:rPr lang="en-GB" altLang="en-US" sz="2400" dirty="0">
                <a:cs typeface="Calibri" panose="020F0502020204030204" pitchFamily="34" charset="0"/>
              </a:rPr>
              <a:t>πr</a:t>
            </a:r>
            <a:r>
              <a:rPr lang="en-GB" altLang="en-US" sz="2400" baseline="-25000" dirty="0">
                <a:cs typeface="Calibri" panose="020F0502020204030204" pitchFamily="34" charset="0"/>
              </a:rPr>
              <a:t>e</a:t>
            </a:r>
            <a:r>
              <a:rPr lang="en-GB" altLang="en-US" sz="2400" baseline="30000" dirty="0">
                <a:cs typeface="Calibri" panose="020F0502020204030204" pitchFamily="34" charset="0"/>
              </a:rPr>
              <a:t>2</a:t>
            </a:r>
          </a:p>
        </p:txBody>
      </p:sp>
      <p:sp>
        <p:nvSpPr>
          <p:cNvPr id="36" name="Text Box 12">
            <a:extLst>
              <a:ext uri="{FF2B5EF4-FFF2-40B4-BE49-F238E27FC236}">
                <a16:creationId xmlns:a16="http://schemas.microsoft.com/office/drawing/2014/main" id="{79116560-2987-CDD5-B8D3-F543B4B5B6C4}"/>
              </a:ext>
            </a:extLst>
          </p:cNvPr>
          <p:cNvSpPr txBox="1">
            <a:spLocks noChangeArrowheads="1"/>
          </p:cNvSpPr>
          <p:nvPr/>
        </p:nvSpPr>
        <p:spPr bwMode="auto">
          <a:xfrm>
            <a:off x="2959535" y="2215818"/>
            <a:ext cx="6562725" cy="1015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GB" altLang="en-US" sz="2400" dirty="0">
                <a:cs typeface="Calibri" panose="020F0502020204030204" pitchFamily="34" charset="0"/>
              </a:rPr>
              <a:t>Area of Earth perpendicular to solar radiation:</a:t>
            </a:r>
          </a:p>
          <a:p>
            <a:pPr eaLnBrk="1" hangingPunct="1">
              <a:lnSpc>
                <a:spcPct val="100000"/>
              </a:lnSpc>
              <a:spcBef>
                <a:spcPct val="50000"/>
              </a:spcBef>
              <a:buFontTx/>
              <a:buNone/>
            </a:pPr>
            <a:r>
              <a:rPr lang="en-US" altLang="en-US" sz="2400" dirty="0">
                <a:cs typeface="Calibri" panose="020F0502020204030204" pitchFamily="34" charset="0"/>
              </a:rPr>
              <a:t>A </a:t>
            </a:r>
            <a:r>
              <a:rPr lang="en-GB" altLang="en-US" sz="2400" dirty="0">
                <a:cs typeface="Calibri" panose="020F0502020204030204" pitchFamily="34" charset="0"/>
              </a:rPr>
              <a:t>= πr</a:t>
            </a:r>
            <a:r>
              <a:rPr lang="en-US" altLang="en-US" sz="2400" baseline="-25000" dirty="0">
                <a:cs typeface="Calibri" panose="020F0502020204030204" pitchFamily="34" charset="0"/>
              </a:rPr>
              <a:t>e</a:t>
            </a:r>
            <a:r>
              <a:rPr lang="en-GB" altLang="en-US" sz="2400" baseline="30000" dirty="0">
                <a:cs typeface="Calibri" panose="020F0502020204030204" pitchFamily="34" charset="0"/>
              </a:rPr>
              <a:t>2</a:t>
            </a:r>
            <a:r>
              <a:rPr lang="en-GB" altLang="en-US" sz="2400" dirty="0">
                <a:cs typeface="Calibri" panose="020F0502020204030204" pitchFamily="34" charset="0"/>
              </a:rPr>
              <a:t>           where r</a:t>
            </a:r>
            <a:r>
              <a:rPr lang="en-GB" altLang="en-US" sz="2400" baseline="-25000" dirty="0">
                <a:cs typeface="Calibri" panose="020F0502020204030204" pitchFamily="34" charset="0"/>
              </a:rPr>
              <a:t>e</a:t>
            </a:r>
            <a:r>
              <a:rPr lang="en-GB" altLang="en-US" sz="2400" dirty="0">
                <a:cs typeface="Calibri" panose="020F0502020204030204" pitchFamily="34" charset="0"/>
              </a:rPr>
              <a:t> = radius of Earth</a:t>
            </a:r>
          </a:p>
        </p:txBody>
      </p:sp>
      <p:sp>
        <p:nvSpPr>
          <p:cNvPr id="2" name="Freeform 13">
            <a:extLst>
              <a:ext uri="{FF2B5EF4-FFF2-40B4-BE49-F238E27FC236}">
                <a16:creationId xmlns:a16="http://schemas.microsoft.com/office/drawing/2014/main" id="{E26FFEBF-81D6-045F-C647-693DDB966AB1}"/>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F08B85DB-E06C-9494-AF03-701019F91388}"/>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Earth’s Energy Balance</a:t>
            </a:r>
          </a:p>
        </p:txBody>
      </p:sp>
    </p:spTree>
    <p:extLst>
      <p:ext uri="{BB962C8B-B14F-4D97-AF65-F5344CB8AC3E}">
        <p14:creationId xmlns:p14="http://schemas.microsoft.com/office/powerpoint/2010/main" val="13359412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par>
                                <p:cTn id="17" presetID="10"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par>
                                <p:cTn id="20" presetID="10" presetClass="entr" presetSubtype="0"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500"/>
                                        <p:tgtEl>
                                          <p:spTgt spid="3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3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5" grpId="0" animBg="1"/>
      <p:bldP spid="18" grpId="0" animBg="1"/>
      <p:bldP spid="36"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6">
            <a:extLst>
              <a:ext uri="{FF2B5EF4-FFF2-40B4-BE49-F238E27FC236}">
                <a16:creationId xmlns:a16="http://schemas.microsoft.com/office/drawing/2014/main" id="{80847ADC-C8E4-780A-5744-70F3B8DE11E2}"/>
              </a:ext>
            </a:extLst>
          </p:cNvPr>
          <p:cNvSpPr>
            <a:spLocks noChangeArrowheads="1"/>
          </p:cNvSpPr>
          <p:nvPr/>
        </p:nvSpPr>
        <p:spPr bwMode="auto">
          <a:xfrm>
            <a:off x="2131438" y="2759660"/>
            <a:ext cx="5751513" cy="3163887"/>
          </a:xfrm>
          <a:prstGeom prst="rect">
            <a:avLst/>
          </a:prstGeom>
          <a:solidFill>
            <a:srgbClr val="FFFF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1747" name="Oval 7">
            <a:extLst>
              <a:ext uri="{FF2B5EF4-FFF2-40B4-BE49-F238E27FC236}">
                <a16:creationId xmlns:a16="http://schemas.microsoft.com/office/drawing/2014/main" id="{97EA314B-8ED9-96C7-044E-A59DBC1DAFDF}"/>
              </a:ext>
            </a:extLst>
          </p:cNvPr>
          <p:cNvSpPr>
            <a:spLocks noChangeArrowheads="1"/>
          </p:cNvSpPr>
          <p:nvPr/>
        </p:nvSpPr>
        <p:spPr bwMode="auto">
          <a:xfrm>
            <a:off x="5415976" y="3804235"/>
            <a:ext cx="1163637" cy="1143000"/>
          </a:xfrm>
          <a:prstGeom prst="ellipse">
            <a:avLst/>
          </a:prstGeom>
          <a:solidFill>
            <a:srgbClr val="3366FF"/>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1748" name="Rectangle 8">
            <a:extLst>
              <a:ext uri="{FF2B5EF4-FFF2-40B4-BE49-F238E27FC236}">
                <a16:creationId xmlns:a16="http://schemas.microsoft.com/office/drawing/2014/main" id="{588B0F34-821B-8B77-EBB8-58B7A26732CF}"/>
              </a:ext>
            </a:extLst>
          </p:cNvPr>
          <p:cNvSpPr>
            <a:spLocks noChangeArrowheads="1"/>
          </p:cNvSpPr>
          <p:nvPr/>
        </p:nvSpPr>
        <p:spPr bwMode="auto">
          <a:xfrm>
            <a:off x="2777551" y="3804235"/>
            <a:ext cx="3181350" cy="11430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1749" name="Rectangle 9">
            <a:extLst>
              <a:ext uri="{FF2B5EF4-FFF2-40B4-BE49-F238E27FC236}">
                <a16:creationId xmlns:a16="http://schemas.microsoft.com/office/drawing/2014/main" id="{5B7DB451-8853-C0A0-6FC1-6272DBD08C51}"/>
              </a:ext>
            </a:extLst>
          </p:cNvPr>
          <p:cNvSpPr>
            <a:spLocks noChangeArrowheads="1"/>
          </p:cNvSpPr>
          <p:nvPr/>
        </p:nvSpPr>
        <p:spPr bwMode="auto">
          <a:xfrm>
            <a:off x="5958901" y="3804235"/>
            <a:ext cx="1939925" cy="1157287"/>
          </a:xfrm>
          <a:prstGeom prst="rect">
            <a:avLst/>
          </a:prstGeom>
          <a:solidFill>
            <a:schemeClr val="bg2">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1750" name="AutoShape 15">
            <a:extLst>
              <a:ext uri="{FF2B5EF4-FFF2-40B4-BE49-F238E27FC236}">
                <a16:creationId xmlns:a16="http://schemas.microsoft.com/office/drawing/2014/main" id="{0C6BE425-4FCB-C250-65F2-7005BF9E51FD}"/>
              </a:ext>
            </a:extLst>
          </p:cNvPr>
          <p:cNvSpPr>
            <a:spLocks noChangeArrowheads="1"/>
          </p:cNvSpPr>
          <p:nvPr/>
        </p:nvSpPr>
        <p:spPr bwMode="auto">
          <a:xfrm>
            <a:off x="605851" y="2737435"/>
            <a:ext cx="3025775" cy="3200400"/>
          </a:xfrm>
          <a:prstGeom prst="star16">
            <a:avLst>
              <a:gd name="adj" fmla="val 375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dirty="0">
                <a:cs typeface="Calibri" panose="020F0502020204030204" pitchFamily="34" charset="0"/>
              </a:rPr>
              <a:t>Solar constant:</a:t>
            </a:r>
          </a:p>
          <a:p>
            <a:pPr algn="ctr" eaLnBrk="1" hangingPunct="1">
              <a:lnSpc>
                <a:spcPct val="100000"/>
              </a:lnSpc>
              <a:spcBef>
                <a:spcPct val="0"/>
              </a:spcBef>
              <a:buFontTx/>
              <a:buNone/>
            </a:pPr>
            <a:r>
              <a:rPr lang="en-US" altLang="en-US" sz="2400" dirty="0">
                <a:cs typeface="Calibri" panose="020F0502020204030204" pitchFamily="34" charset="0"/>
              </a:rPr>
              <a:t>S</a:t>
            </a:r>
            <a:r>
              <a:rPr lang="en-US" altLang="en-US" sz="2400" baseline="-25000" dirty="0">
                <a:cs typeface="Calibri" panose="020F0502020204030204" pitchFamily="34" charset="0"/>
              </a:rPr>
              <a:t>0</a:t>
            </a:r>
            <a:r>
              <a:rPr lang="en-US" altLang="en-US" sz="2400" dirty="0">
                <a:cs typeface="Calibri" panose="020F0502020204030204" pitchFamily="34" charset="0"/>
              </a:rPr>
              <a:t>=1370 W m</a:t>
            </a:r>
            <a:r>
              <a:rPr lang="en-US" altLang="en-US" sz="2400" baseline="30000" dirty="0">
                <a:cs typeface="Calibri" panose="020F0502020204030204" pitchFamily="34" charset="0"/>
              </a:rPr>
              <a:t>2</a:t>
            </a:r>
            <a:endParaRPr lang="en-US" altLang="en-US" sz="2400" dirty="0">
              <a:cs typeface="Calibri" panose="020F0502020204030204" pitchFamily="34" charset="0"/>
            </a:endParaRPr>
          </a:p>
        </p:txBody>
      </p:sp>
      <p:sp>
        <p:nvSpPr>
          <p:cNvPr id="31751" name="Oval 19">
            <a:extLst>
              <a:ext uri="{FF2B5EF4-FFF2-40B4-BE49-F238E27FC236}">
                <a16:creationId xmlns:a16="http://schemas.microsoft.com/office/drawing/2014/main" id="{50484546-C210-99C9-36EB-EC220B249998}"/>
              </a:ext>
            </a:extLst>
          </p:cNvPr>
          <p:cNvSpPr>
            <a:spLocks noChangeArrowheads="1"/>
          </p:cNvSpPr>
          <p:nvPr/>
        </p:nvSpPr>
        <p:spPr bwMode="auto">
          <a:xfrm>
            <a:off x="4485701" y="3804235"/>
            <a:ext cx="309562" cy="1143000"/>
          </a:xfrm>
          <a:prstGeom prst="ellipse">
            <a:avLst/>
          </a:prstGeom>
          <a:solidFill>
            <a:srgbClr val="FFFF00"/>
          </a:solidFill>
          <a:ln w="1587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grpSp>
        <p:nvGrpSpPr>
          <p:cNvPr id="31752" name="Group 23">
            <a:extLst>
              <a:ext uri="{FF2B5EF4-FFF2-40B4-BE49-F238E27FC236}">
                <a16:creationId xmlns:a16="http://schemas.microsoft.com/office/drawing/2014/main" id="{511ED082-E141-2056-B830-05E6BAFD4FA7}"/>
              </a:ext>
            </a:extLst>
          </p:cNvPr>
          <p:cNvGrpSpPr>
            <a:grpSpLocks/>
          </p:cNvGrpSpPr>
          <p:nvPr/>
        </p:nvGrpSpPr>
        <p:grpSpPr bwMode="auto">
          <a:xfrm rot="-7565088">
            <a:off x="745551" y="3162885"/>
            <a:ext cx="1219200" cy="311150"/>
            <a:chOff x="288" y="1296"/>
            <a:chExt cx="768" cy="192"/>
          </a:xfrm>
        </p:grpSpPr>
        <p:sp>
          <p:nvSpPr>
            <p:cNvPr id="31763" name="AutoShape 24">
              <a:extLst>
                <a:ext uri="{FF2B5EF4-FFF2-40B4-BE49-F238E27FC236}">
                  <a16:creationId xmlns:a16="http://schemas.microsoft.com/office/drawing/2014/main" id="{8C581A6A-AEAC-E4CC-9B8D-68A4C5E71581}"/>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1764" name="AutoShape 25">
              <a:extLst>
                <a:ext uri="{FF2B5EF4-FFF2-40B4-BE49-F238E27FC236}">
                  <a16:creationId xmlns:a16="http://schemas.microsoft.com/office/drawing/2014/main" id="{57D8417C-F6E1-2C37-4864-6F137E754862}"/>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grpSp>
      <p:grpSp>
        <p:nvGrpSpPr>
          <p:cNvPr id="31753" name="Group 23">
            <a:extLst>
              <a:ext uri="{FF2B5EF4-FFF2-40B4-BE49-F238E27FC236}">
                <a16:creationId xmlns:a16="http://schemas.microsoft.com/office/drawing/2014/main" id="{C9972B48-CC2F-CEC9-FB2B-0CE2EA622701}"/>
              </a:ext>
            </a:extLst>
          </p:cNvPr>
          <p:cNvGrpSpPr>
            <a:grpSpLocks/>
          </p:cNvGrpSpPr>
          <p:nvPr/>
        </p:nvGrpSpPr>
        <p:grpSpPr bwMode="auto">
          <a:xfrm rot="8363423">
            <a:off x="343913" y="5418722"/>
            <a:ext cx="1219200" cy="311150"/>
            <a:chOff x="288" y="1296"/>
            <a:chExt cx="768" cy="192"/>
          </a:xfrm>
        </p:grpSpPr>
        <p:sp>
          <p:nvSpPr>
            <p:cNvPr id="31761" name="AutoShape 24">
              <a:extLst>
                <a:ext uri="{FF2B5EF4-FFF2-40B4-BE49-F238E27FC236}">
                  <a16:creationId xmlns:a16="http://schemas.microsoft.com/office/drawing/2014/main" id="{54382E5A-05D2-9628-DB51-DCD9291C6128}"/>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1762" name="AutoShape 25">
              <a:extLst>
                <a:ext uri="{FF2B5EF4-FFF2-40B4-BE49-F238E27FC236}">
                  <a16:creationId xmlns:a16="http://schemas.microsoft.com/office/drawing/2014/main" id="{1537A960-6E7E-DBFE-3851-09D85BCFB9EC}"/>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grpSp>
      <p:grpSp>
        <p:nvGrpSpPr>
          <p:cNvPr id="31754" name="Group 23">
            <a:extLst>
              <a:ext uri="{FF2B5EF4-FFF2-40B4-BE49-F238E27FC236}">
                <a16:creationId xmlns:a16="http://schemas.microsoft.com/office/drawing/2014/main" id="{5F4C3E25-1D8B-900B-FFA8-64C6E823A5FE}"/>
              </a:ext>
            </a:extLst>
          </p:cNvPr>
          <p:cNvGrpSpPr>
            <a:grpSpLocks/>
          </p:cNvGrpSpPr>
          <p:nvPr/>
        </p:nvGrpSpPr>
        <p:grpSpPr bwMode="auto">
          <a:xfrm rot="2991088">
            <a:off x="2482276" y="5452060"/>
            <a:ext cx="1219200" cy="311150"/>
            <a:chOff x="288" y="1296"/>
            <a:chExt cx="768" cy="192"/>
          </a:xfrm>
        </p:grpSpPr>
        <p:sp>
          <p:nvSpPr>
            <p:cNvPr id="31759" name="AutoShape 24">
              <a:extLst>
                <a:ext uri="{FF2B5EF4-FFF2-40B4-BE49-F238E27FC236}">
                  <a16:creationId xmlns:a16="http://schemas.microsoft.com/office/drawing/2014/main" id="{D84CC883-6A9F-FB14-9FBC-9C479D3A6C0C}"/>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1760" name="AutoShape 25">
              <a:extLst>
                <a:ext uri="{FF2B5EF4-FFF2-40B4-BE49-F238E27FC236}">
                  <a16:creationId xmlns:a16="http://schemas.microsoft.com/office/drawing/2014/main" id="{E1AAB1D0-8099-11BD-C462-68F601CE63F3}"/>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grpSp>
      <p:grpSp>
        <p:nvGrpSpPr>
          <p:cNvPr id="31755" name="Group 23">
            <a:extLst>
              <a:ext uri="{FF2B5EF4-FFF2-40B4-BE49-F238E27FC236}">
                <a16:creationId xmlns:a16="http://schemas.microsoft.com/office/drawing/2014/main" id="{355627D5-1B68-32F4-A881-7812AFA371E2}"/>
              </a:ext>
            </a:extLst>
          </p:cNvPr>
          <p:cNvGrpSpPr>
            <a:grpSpLocks/>
          </p:cNvGrpSpPr>
          <p:nvPr/>
        </p:nvGrpSpPr>
        <p:grpSpPr bwMode="auto">
          <a:xfrm rot="-3073854">
            <a:off x="2407663" y="2989847"/>
            <a:ext cx="1219200" cy="311150"/>
            <a:chOff x="288" y="1296"/>
            <a:chExt cx="768" cy="192"/>
          </a:xfrm>
        </p:grpSpPr>
        <p:sp>
          <p:nvSpPr>
            <p:cNvPr id="31757" name="AutoShape 24">
              <a:extLst>
                <a:ext uri="{FF2B5EF4-FFF2-40B4-BE49-F238E27FC236}">
                  <a16:creationId xmlns:a16="http://schemas.microsoft.com/office/drawing/2014/main" id="{44D4D41F-E0C1-D097-8BD0-6ECBE3E4245F}"/>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1758" name="AutoShape 25">
              <a:extLst>
                <a:ext uri="{FF2B5EF4-FFF2-40B4-BE49-F238E27FC236}">
                  <a16:creationId xmlns:a16="http://schemas.microsoft.com/office/drawing/2014/main" id="{73C7B61E-6DFF-9DF9-7E2A-F1B303F3AD34}"/>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grpSp>
      <p:sp>
        <p:nvSpPr>
          <p:cNvPr id="31756" name="TextBox 34">
            <a:extLst>
              <a:ext uri="{FF2B5EF4-FFF2-40B4-BE49-F238E27FC236}">
                <a16:creationId xmlns:a16="http://schemas.microsoft.com/office/drawing/2014/main" id="{732D0948-90CF-2BE3-FC34-D8B586302D58}"/>
              </a:ext>
            </a:extLst>
          </p:cNvPr>
          <p:cNvSpPr txBox="1">
            <a:spLocks noChangeArrowheads="1"/>
          </p:cNvSpPr>
          <p:nvPr/>
        </p:nvSpPr>
        <p:spPr bwMode="auto">
          <a:xfrm>
            <a:off x="389464" y="1489630"/>
            <a:ext cx="110156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271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9271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9271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9271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9271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400" dirty="0">
                <a:solidFill>
                  <a:srgbClr val="FF0000"/>
                </a:solidFill>
                <a:cs typeface="Calibri" panose="020F0502020204030204" pitchFamily="34" charset="0"/>
              </a:rPr>
              <a:t>Energy In: </a:t>
            </a:r>
            <a:r>
              <a:rPr lang="en-US" altLang="en-US" sz="2400" dirty="0">
                <a:cs typeface="Calibri" panose="020F0502020204030204" pitchFamily="34" charset="0"/>
              </a:rPr>
              <a:t>Incoming solar radiation	= S</a:t>
            </a:r>
            <a:r>
              <a:rPr lang="en-US" altLang="en-US" sz="2400" baseline="-25000" dirty="0">
                <a:cs typeface="Calibri" panose="020F0502020204030204" pitchFamily="34" charset="0"/>
              </a:rPr>
              <a:t>o</a:t>
            </a:r>
            <a:r>
              <a:rPr lang="en-US" altLang="en-US" sz="2400" dirty="0">
                <a:cs typeface="Calibri" panose="020F0502020204030204" pitchFamily="34" charset="0"/>
              </a:rPr>
              <a:t> x Area (A) </a:t>
            </a:r>
            <a:r>
              <a:rPr lang="en-US" altLang="en-US" sz="2400" dirty="0">
                <a:solidFill>
                  <a:srgbClr val="FF0000"/>
                </a:solidFill>
                <a:cs typeface="Calibri" panose="020F0502020204030204" pitchFamily="34" charset="0"/>
              </a:rPr>
              <a:t>x albedo</a:t>
            </a:r>
          </a:p>
          <a:p>
            <a:pPr>
              <a:lnSpc>
                <a:spcPct val="100000"/>
              </a:lnSpc>
              <a:spcBef>
                <a:spcPct val="0"/>
              </a:spcBef>
              <a:buFontTx/>
              <a:buNone/>
            </a:pPr>
            <a:r>
              <a:rPr lang="en-US" altLang="en-US" sz="2400" dirty="0">
                <a:cs typeface="Calibri" panose="020F0502020204030204" pitchFamily="34" charset="0"/>
              </a:rPr>
              <a:t>					= </a:t>
            </a:r>
            <a:r>
              <a:rPr lang="en-US" altLang="en-US" sz="2400" dirty="0">
                <a:solidFill>
                  <a:srgbClr val="FF0000"/>
                </a:solidFill>
                <a:cs typeface="Calibri" panose="020F0502020204030204" pitchFamily="34" charset="0"/>
              </a:rPr>
              <a:t>0.7 x </a:t>
            </a:r>
            <a:r>
              <a:rPr lang="en-US" altLang="en-US" sz="2400" dirty="0">
                <a:cs typeface="Calibri" panose="020F0502020204030204" pitchFamily="34" charset="0"/>
              </a:rPr>
              <a:t>S</a:t>
            </a:r>
            <a:r>
              <a:rPr lang="en-US" altLang="en-US" sz="2400" baseline="-25000" dirty="0">
                <a:cs typeface="Calibri" panose="020F0502020204030204" pitchFamily="34" charset="0"/>
              </a:rPr>
              <a:t>o</a:t>
            </a:r>
            <a:r>
              <a:rPr lang="en-US" altLang="en-US" sz="2400" dirty="0">
                <a:cs typeface="Calibri" panose="020F0502020204030204" pitchFamily="34" charset="0"/>
              </a:rPr>
              <a:t> x </a:t>
            </a:r>
            <a:r>
              <a:rPr lang="en-GB" altLang="en-US" sz="2400" dirty="0">
                <a:cs typeface="Calibri" panose="020F0502020204030204" pitchFamily="34" charset="0"/>
              </a:rPr>
              <a:t>πr</a:t>
            </a:r>
            <a:r>
              <a:rPr lang="en-GB" altLang="en-US" sz="2400" baseline="-25000" dirty="0">
                <a:cs typeface="Calibri" panose="020F0502020204030204" pitchFamily="34" charset="0"/>
              </a:rPr>
              <a:t>e</a:t>
            </a:r>
            <a:r>
              <a:rPr lang="en-GB" altLang="en-US" sz="2400" baseline="30000" dirty="0">
                <a:cs typeface="Calibri" panose="020F0502020204030204" pitchFamily="34" charset="0"/>
              </a:rPr>
              <a:t>2</a:t>
            </a:r>
          </a:p>
        </p:txBody>
      </p:sp>
      <p:sp>
        <p:nvSpPr>
          <p:cNvPr id="2" name="Freeform 13">
            <a:extLst>
              <a:ext uri="{FF2B5EF4-FFF2-40B4-BE49-F238E27FC236}">
                <a16:creationId xmlns:a16="http://schemas.microsoft.com/office/drawing/2014/main" id="{3E961CBF-4516-F1D2-079E-A2AB46332377}"/>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1E00099B-A3E6-43A9-8EE0-E611699094C1}"/>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Earth’s Energy Balance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9B0552C-D56D-D61E-6D3D-98B361765323}"/>
            </a:ext>
          </a:extLst>
        </p:cNvPr>
        <p:cNvGrpSpPr/>
        <p:nvPr/>
      </p:nvGrpSpPr>
      <p:grpSpPr>
        <a:xfrm>
          <a:off x="0" y="0"/>
          <a:ext cx="0" cy="0"/>
          <a:chOff x="0" y="0"/>
          <a:chExt cx="0" cy="0"/>
        </a:xfrm>
      </p:grpSpPr>
      <p:sp>
        <p:nvSpPr>
          <p:cNvPr id="21507" name="Line 6">
            <a:extLst>
              <a:ext uri="{FF2B5EF4-FFF2-40B4-BE49-F238E27FC236}">
                <a16:creationId xmlns:a16="http://schemas.microsoft.com/office/drawing/2014/main" id="{F30A7275-960A-872A-A43F-71E5C4D453AE}"/>
              </a:ext>
            </a:extLst>
          </p:cNvPr>
          <p:cNvSpPr>
            <a:spLocks noChangeShapeType="1"/>
          </p:cNvSpPr>
          <p:nvPr/>
        </p:nvSpPr>
        <p:spPr bwMode="auto">
          <a:xfrm>
            <a:off x="1568976" y="5068087"/>
            <a:ext cx="5181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21508" name="Line 7">
            <a:extLst>
              <a:ext uri="{FF2B5EF4-FFF2-40B4-BE49-F238E27FC236}">
                <a16:creationId xmlns:a16="http://schemas.microsoft.com/office/drawing/2014/main" id="{C3DDADD7-CC15-5F9F-618F-90FBCEA17439}"/>
              </a:ext>
            </a:extLst>
          </p:cNvPr>
          <p:cNvSpPr>
            <a:spLocks noChangeShapeType="1"/>
          </p:cNvSpPr>
          <p:nvPr/>
        </p:nvSpPr>
        <p:spPr bwMode="auto">
          <a:xfrm>
            <a:off x="1973789" y="2599524"/>
            <a:ext cx="0" cy="2446338"/>
          </a:xfrm>
          <a:prstGeom prst="line">
            <a:avLst/>
          </a:prstGeom>
          <a:noFill/>
          <a:ln w="12700">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21509" name="Text Box 4">
            <a:extLst>
              <a:ext uri="{FF2B5EF4-FFF2-40B4-BE49-F238E27FC236}">
                <a16:creationId xmlns:a16="http://schemas.microsoft.com/office/drawing/2014/main" id="{5100FF45-50C1-E458-35E7-544232C7C5DD}"/>
              </a:ext>
            </a:extLst>
          </p:cNvPr>
          <p:cNvSpPr txBox="1">
            <a:spLocks noChangeArrowheads="1"/>
          </p:cNvSpPr>
          <p:nvPr/>
        </p:nvSpPr>
        <p:spPr bwMode="auto">
          <a:xfrm>
            <a:off x="389464" y="1518437"/>
            <a:ext cx="316865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dirty="0">
                <a:cs typeface="Calibri" panose="020F0502020204030204" pitchFamily="34" charset="0"/>
              </a:rPr>
              <a:t>Energy entering top of atmosphere</a:t>
            </a:r>
          </a:p>
        </p:txBody>
      </p:sp>
      <p:sp>
        <p:nvSpPr>
          <p:cNvPr id="109573" name="Text Box 5">
            <a:extLst>
              <a:ext uri="{FF2B5EF4-FFF2-40B4-BE49-F238E27FC236}">
                <a16:creationId xmlns:a16="http://schemas.microsoft.com/office/drawing/2014/main" id="{AF4AE398-B20D-86D5-A30B-2F296EE5F301}"/>
              </a:ext>
            </a:extLst>
          </p:cNvPr>
          <p:cNvSpPr txBox="1">
            <a:spLocks noChangeArrowheads="1"/>
          </p:cNvSpPr>
          <p:nvPr/>
        </p:nvSpPr>
        <p:spPr bwMode="auto">
          <a:xfrm>
            <a:off x="4853514" y="3405974"/>
            <a:ext cx="28622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a:cs typeface="Calibri" panose="020F0502020204030204" pitchFamily="34" charset="0"/>
              </a:rPr>
              <a:t>Energy leaving Earth’s surface</a:t>
            </a:r>
          </a:p>
        </p:txBody>
      </p:sp>
      <p:sp>
        <p:nvSpPr>
          <p:cNvPr id="21511" name="Line 9">
            <a:extLst>
              <a:ext uri="{FF2B5EF4-FFF2-40B4-BE49-F238E27FC236}">
                <a16:creationId xmlns:a16="http://schemas.microsoft.com/office/drawing/2014/main" id="{AC3C7446-8781-3F75-A758-E52CB0CEB27C}"/>
              </a:ext>
            </a:extLst>
          </p:cNvPr>
          <p:cNvSpPr>
            <a:spLocks noChangeShapeType="1"/>
          </p:cNvSpPr>
          <p:nvPr/>
        </p:nvSpPr>
        <p:spPr bwMode="auto">
          <a:xfrm>
            <a:off x="4739214" y="3542499"/>
            <a:ext cx="0" cy="1517650"/>
          </a:xfrm>
          <a:prstGeom prst="line">
            <a:avLst/>
          </a:prstGeom>
          <a:noFill/>
          <a:ln w="12700">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109579" name="Text Box 11">
            <a:extLst>
              <a:ext uri="{FF2B5EF4-FFF2-40B4-BE49-F238E27FC236}">
                <a16:creationId xmlns:a16="http://schemas.microsoft.com/office/drawing/2014/main" id="{2E38BD4A-C221-065B-DEB1-85A1784B6104}"/>
              </a:ext>
            </a:extLst>
          </p:cNvPr>
          <p:cNvSpPr txBox="1">
            <a:spLocks noChangeArrowheads="1"/>
          </p:cNvSpPr>
          <p:nvPr/>
        </p:nvSpPr>
        <p:spPr bwMode="auto">
          <a:xfrm>
            <a:off x="586795" y="5650699"/>
            <a:ext cx="6163781" cy="523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dirty="0">
                <a:solidFill>
                  <a:srgbClr val="FF0000"/>
                </a:solidFill>
                <a:cs typeface="Calibri" panose="020F0502020204030204" pitchFamily="34" charset="0"/>
              </a:rPr>
              <a:t>Temperature of surface remains constant</a:t>
            </a:r>
          </a:p>
        </p:txBody>
      </p:sp>
      <p:sp>
        <p:nvSpPr>
          <p:cNvPr id="3" name="TextBox 2">
            <a:extLst>
              <a:ext uri="{FF2B5EF4-FFF2-40B4-BE49-F238E27FC236}">
                <a16:creationId xmlns:a16="http://schemas.microsoft.com/office/drawing/2014/main" id="{464B3EB2-D3FD-1CC9-5204-2824BCADA82D}"/>
              </a:ext>
            </a:extLst>
          </p:cNvPr>
          <p:cNvSpPr txBox="1">
            <a:spLocks noChangeArrowheads="1"/>
          </p:cNvSpPr>
          <p:nvPr/>
        </p:nvSpPr>
        <p:spPr bwMode="auto">
          <a:xfrm>
            <a:off x="3802589" y="1816887"/>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400" b="1">
                <a:cs typeface="Calibri" panose="020F0502020204030204" pitchFamily="34" charset="0"/>
              </a:rPr>
              <a:t>=</a:t>
            </a:r>
          </a:p>
        </p:txBody>
      </p:sp>
      <p:sp>
        <p:nvSpPr>
          <p:cNvPr id="2" name="Freeform 13">
            <a:extLst>
              <a:ext uri="{FF2B5EF4-FFF2-40B4-BE49-F238E27FC236}">
                <a16:creationId xmlns:a16="http://schemas.microsoft.com/office/drawing/2014/main" id="{D58E69B4-B825-65A1-CC5F-B3F2C0354D0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6" name="TextBox 14">
            <a:extLst>
              <a:ext uri="{FF2B5EF4-FFF2-40B4-BE49-F238E27FC236}">
                <a16:creationId xmlns:a16="http://schemas.microsoft.com/office/drawing/2014/main" id="{BB9E0D60-B880-1DA4-0788-81DF511218D1}"/>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Earth’s Energy Balance</a:t>
            </a:r>
          </a:p>
        </p:txBody>
      </p:sp>
    </p:spTree>
    <p:extLst>
      <p:ext uri="{BB962C8B-B14F-4D97-AF65-F5344CB8AC3E}">
        <p14:creationId xmlns:p14="http://schemas.microsoft.com/office/powerpoint/2010/main" val="34295701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5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7" presetClass="path" presetSubtype="0" accel="50000" decel="50000" fill="hold" grpId="0" nodeType="clickEffect">
                                  <p:stCondLst>
                                    <p:cond delay="0"/>
                                  </p:stCondLst>
                                  <p:childTnLst>
                                    <p:animMotion origin="layout" path="M -0.00039 -0.00024 L 0.01328 -0.08912 C 0.01667 -0.10811 0.01562 -0.13218 0.01146 -0.15556 C 0.00599 -0.18287 -0.00208 -0.20116 -0.01159 -0.21181 L -0.05456 -0.26412 " pathEditMode="relative" rAng="15000000" ptsTypes="AAAAA">
                                      <p:cBhvr>
                                        <p:cTn id="10" dur="1000" fill="hold"/>
                                        <p:tgtEl>
                                          <p:spTgt spid="109573"/>
                                        </p:tgtEl>
                                        <p:attrNameLst>
                                          <p:attrName>ppt_x</p:attrName>
                                          <p:attrName>ppt_y</p:attrName>
                                        </p:attrNameLst>
                                      </p:cBhvr>
                                      <p:rCtr x="-781" y="-14444"/>
                                    </p:animMotion>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3" grpId="0"/>
      <p:bldP spid="109579"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6">
            <a:extLst>
              <a:ext uri="{FF2B5EF4-FFF2-40B4-BE49-F238E27FC236}">
                <a16:creationId xmlns:a16="http://schemas.microsoft.com/office/drawing/2014/main" id="{BD040107-160D-113D-D648-CF64CE6B255B}"/>
              </a:ext>
            </a:extLst>
          </p:cNvPr>
          <p:cNvSpPr>
            <a:spLocks noChangeArrowheads="1"/>
          </p:cNvSpPr>
          <p:nvPr/>
        </p:nvSpPr>
        <p:spPr bwMode="auto">
          <a:xfrm>
            <a:off x="2107054" y="3279391"/>
            <a:ext cx="5751513" cy="3163887"/>
          </a:xfrm>
          <a:prstGeom prst="rect">
            <a:avLst/>
          </a:prstGeom>
          <a:solidFill>
            <a:srgbClr val="FFFF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3795" name="Oval 7">
            <a:extLst>
              <a:ext uri="{FF2B5EF4-FFF2-40B4-BE49-F238E27FC236}">
                <a16:creationId xmlns:a16="http://schemas.microsoft.com/office/drawing/2014/main" id="{51CD8C94-9D2C-024B-37C8-29DFC78DB759}"/>
              </a:ext>
            </a:extLst>
          </p:cNvPr>
          <p:cNvSpPr>
            <a:spLocks noChangeArrowheads="1"/>
          </p:cNvSpPr>
          <p:nvPr/>
        </p:nvSpPr>
        <p:spPr bwMode="auto">
          <a:xfrm>
            <a:off x="5391592" y="4323966"/>
            <a:ext cx="1163637" cy="1143000"/>
          </a:xfrm>
          <a:prstGeom prst="ellipse">
            <a:avLst/>
          </a:prstGeom>
          <a:solidFill>
            <a:srgbClr val="3366FF"/>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3796" name="AutoShape 15">
            <a:extLst>
              <a:ext uri="{FF2B5EF4-FFF2-40B4-BE49-F238E27FC236}">
                <a16:creationId xmlns:a16="http://schemas.microsoft.com/office/drawing/2014/main" id="{80E839D4-6998-283C-70F5-6CECA33A7624}"/>
              </a:ext>
            </a:extLst>
          </p:cNvPr>
          <p:cNvSpPr>
            <a:spLocks noChangeArrowheads="1"/>
          </p:cNvSpPr>
          <p:nvPr/>
        </p:nvSpPr>
        <p:spPr bwMode="auto">
          <a:xfrm>
            <a:off x="581467" y="3257166"/>
            <a:ext cx="3025775" cy="3200400"/>
          </a:xfrm>
          <a:prstGeom prst="star16">
            <a:avLst>
              <a:gd name="adj" fmla="val 375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dirty="0">
                <a:cs typeface="Calibri" panose="020F0502020204030204" pitchFamily="34" charset="0"/>
              </a:rPr>
              <a:t>Solar constant:</a:t>
            </a:r>
          </a:p>
          <a:p>
            <a:pPr algn="ctr" eaLnBrk="1" hangingPunct="1">
              <a:lnSpc>
                <a:spcPct val="100000"/>
              </a:lnSpc>
              <a:spcBef>
                <a:spcPct val="0"/>
              </a:spcBef>
              <a:buFontTx/>
              <a:buNone/>
            </a:pPr>
            <a:r>
              <a:rPr lang="en-US" altLang="en-US" sz="2400" dirty="0">
                <a:cs typeface="Calibri" panose="020F0502020204030204" pitchFamily="34" charset="0"/>
              </a:rPr>
              <a:t>S</a:t>
            </a:r>
            <a:r>
              <a:rPr lang="en-US" altLang="en-US" sz="2400" baseline="-25000" dirty="0">
                <a:cs typeface="Calibri" panose="020F0502020204030204" pitchFamily="34" charset="0"/>
              </a:rPr>
              <a:t>0</a:t>
            </a:r>
            <a:r>
              <a:rPr lang="en-US" altLang="en-US" sz="2400" dirty="0">
                <a:cs typeface="Calibri" panose="020F0502020204030204" pitchFamily="34" charset="0"/>
              </a:rPr>
              <a:t>=1370 W m</a:t>
            </a:r>
            <a:r>
              <a:rPr lang="en-US" altLang="en-US" sz="2400" baseline="30000" dirty="0">
                <a:cs typeface="Calibri" panose="020F0502020204030204" pitchFamily="34" charset="0"/>
              </a:rPr>
              <a:t>2</a:t>
            </a:r>
            <a:endParaRPr lang="en-US" altLang="en-US" sz="2400" dirty="0">
              <a:cs typeface="Calibri" panose="020F0502020204030204" pitchFamily="34" charset="0"/>
            </a:endParaRPr>
          </a:p>
        </p:txBody>
      </p:sp>
      <p:grpSp>
        <p:nvGrpSpPr>
          <p:cNvPr id="33797" name="Group 23">
            <a:extLst>
              <a:ext uri="{FF2B5EF4-FFF2-40B4-BE49-F238E27FC236}">
                <a16:creationId xmlns:a16="http://schemas.microsoft.com/office/drawing/2014/main" id="{78D5BFE3-B025-7173-C7C5-141636C3841C}"/>
              </a:ext>
            </a:extLst>
          </p:cNvPr>
          <p:cNvGrpSpPr>
            <a:grpSpLocks/>
          </p:cNvGrpSpPr>
          <p:nvPr/>
        </p:nvGrpSpPr>
        <p:grpSpPr bwMode="auto">
          <a:xfrm rot="-7565088">
            <a:off x="721167" y="3682616"/>
            <a:ext cx="1219200" cy="311150"/>
            <a:chOff x="288" y="1296"/>
            <a:chExt cx="768" cy="192"/>
          </a:xfrm>
        </p:grpSpPr>
        <p:sp>
          <p:nvSpPr>
            <p:cNvPr id="33823" name="AutoShape 24">
              <a:extLst>
                <a:ext uri="{FF2B5EF4-FFF2-40B4-BE49-F238E27FC236}">
                  <a16:creationId xmlns:a16="http://schemas.microsoft.com/office/drawing/2014/main" id="{922FCF4B-B394-70DC-FCEC-19B338C1300E}"/>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3824" name="AutoShape 25">
              <a:extLst>
                <a:ext uri="{FF2B5EF4-FFF2-40B4-BE49-F238E27FC236}">
                  <a16:creationId xmlns:a16="http://schemas.microsoft.com/office/drawing/2014/main" id="{6652514B-CB90-729E-E303-AD427DC8FF98}"/>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grpSp>
      <p:grpSp>
        <p:nvGrpSpPr>
          <p:cNvPr id="33798" name="Group 23">
            <a:extLst>
              <a:ext uri="{FF2B5EF4-FFF2-40B4-BE49-F238E27FC236}">
                <a16:creationId xmlns:a16="http://schemas.microsoft.com/office/drawing/2014/main" id="{E9519654-A5B3-52A7-2C17-1B362C5C3B2A}"/>
              </a:ext>
            </a:extLst>
          </p:cNvPr>
          <p:cNvGrpSpPr>
            <a:grpSpLocks/>
          </p:cNvGrpSpPr>
          <p:nvPr/>
        </p:nvGrpSpPr>
        <p:grpSpPr bwMode="auto">
          <a:xfrm rot="8363423">
            <a:off x="319529" y="5938453"/>
            <a:ext cx="1219200" cy="311150"/>
            <a:chOff x="288" y="1296"/>
            <a:chExt cx="768" cy="192"/>
          </a:xfrm>
        </p:grpSpPr>
        <p:sp>
          <p:nvSpPr>
            <p:cNvPr id="33821" name="AutoShape 24">
              <a:extLst>
                <a:ext uri="{FF2B5EF4-FFF2-40B4-BE49-F238E27FC236}">
                  <a16:creationId xmlns:a16="http://schemas.microsoft.com/office/drawing/2014/main" id="{6D34D52D-21D6-4DB4-893A-E159B3CB451B}"/>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3822" name="AutoShape 25">
              <a:extLst>
                <a:ext uri="{FF2B5EF4-FFF2-40B4-BE49-F238E27FC236}">
                  <a16:creationId xmlns:a16="http://schemas.microsoft.com/office/drawing/2014/main" id="{FDE40C81-BBFC-B6EC-7CE5-B40886A00B4A}"/>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grpSp>
      <p:grpSp>
        <p:nvGrpSpPr>
          <p:cNvPr id="33799" name="Group 23">
            <a:extLst>
              <a:ext uri="{FF2B5EF4-FFF2-40B4-BE49-F238E27FC236}">
                <a16:creationId xmlns:a16="http://schemas.microsoft.com/office/drawing/2014/main" id="{22E294B2-1979-93F4-544D-5CA334B6A7DC}"/>
              </a:ext>
            </a:extLst>
          </p:cNvPr>
          <p:cNvGrpSpPr>
            <a:grpSpLocks/>
          </p:cNvGrpSpPr>
          <p:nvPr/>
        </p:nvGrpSpPr>
        <p:grpSpPr bwMode="auto">
          <a:xfrm rot="2991088">
            <a:off x="2457892" y="5971791"/>
            <a:ext cx="1219200" cy="311150"/>
            <a:chOff x="288" y="1296"/>
            <a:chExt cx="768" cy="192"/>
          </a:xfrm>
        </p:grpSpPr>
        <p:sp>
          <p:nvSpPr>
            <p:cNvPr id="33819" name="AutoShape 24">
              <a:extLst>
                <a:ext uri="{FF2B5EF4-FFF2-40B4-BE49-F238E27FC236}">
                  <a16:creationId xmlns:a16="http://schemas.microsoft.com/office/drawing/2014/main" id="{11E1C644-3033-9AD7-5E65-C21B9225350A}"/>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3820" name="AutoShape 25">
              <a:extLst>
                <a:ext uri="{FF2B5EF4-FFF2-40B4-BE49-F238E27FC236}">
                  <a16:creationId xmlns:a16="http://schemas.microsoft.com/office/drawing/2014/main" id="{B6905CE9-B0EF-A337-AFB6-8F3CE587D5EB}"/>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grpSp>
      <p:grpSp>
        <p:nvGrpSpPr>
          <p:cNvPr id="33800" name="Group 23">
            <a:extLst>
              <a:ext uri="{FF2B5EF4-FFF2-40B4-BE49-F238E27FC236}">
                <a16:creationId xmlns:a16="http://schemas.microsoft.com/office/drawing/2014/main" id="{2471C55D-237C-E288-FCFC-8C5F7DF8CCD7}"/>
              </a:ext>
            </a:extLst>
          </p:cNvPr>
          <p:cNvGrpSpPr>
            <a:grpSpLocks/>
          </p:cNvGrpSpPr>
          <p:nvPr/>
        </p:nvGrpSpPr>
        <p:grpSpPr bwMode="auto">
          <a:xfrm rot="-3073854">
            <a:off x="2383279" y="3509578"/>
            <a:ext cx="1219200" cy="311150"/>
            <a:chOff x="288" y="1296"/>
            <a:chExt cx="768" cy="192"/>
          </a:xfrm>
        </p:grpSpPr>
        <p:sp>
          <p:nvSpPr>
            <p:cNvPr id="33817" name="AutoShape 24">
              <a:extLst>
                <a:ext uri="{FF2B5EF4-FFF2-40B4-BE49-F238E27FC236}">
                  <a16:creationId xmlns:a16="http://schemas.microsoft.com/office/drawing/2014/main" id="{8E769BB2-1FA7-2CA1-BC38-4E3A994F2BA3}"/>
                </a:ext>
              </a:extLst>
            </p:cNvPr>
            <p:cNvSpPr>
              <a:spLocks noChangeArrowheads="1"/>
            </p:cNvSpPr>
            <p:nvPr/>
          </p:nvSpPr>
          <p:spPr bwMode="auto">
            <a:xfrm>
              <a:off x="288" y="1344"/>
              <a:ext cx="576" cy="96"/>
            </a:xfrm>
            <a:prstGeom prst="wave">
              <a:avLst>
                <a:gd name="adj1" fmla="val 13005"/>
                <a:gd name="adj2" fmla="val 0"/>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3818" name="AutoShape 25">
              <a:extLst>
                <a:ext uri="{FF2B5EF4-FFF2-40B4-BE49-F238E27FC236}">
                  <a16:creationId xmlns:a16="http://schemas.microsoft.com/office/drawing/2014/main" id="{44913363-77EF-B862-A274-27F3B50AFD61}"/>
                </a:ext>
              </a:extLst>
            </p:cNvPr>
            <p:cNvSpPr>
              <a:spLocks noChangeArrowheads="1"/>
            </p:cNvSpPr>
            <p:nvPr/>
          </p:nvSpPr>
          <p:spPr bwMode="auto">
            <a:xfrm rot="5382002">
              <a:off x="864" y="1296"/>
              <a:ext cx="192" cy="192"/>
            </a:xfrm>
            <a:prstGeom prst="triangle">
              <a:avLst>
                <a:gd name="adj" fmla="val 50000"/>
              </a:avLst>
            </a:prstGeom>
            <a:solidFill>
              <a:srgbClr val="FFFF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grpSp>
      <p:sp>
        <p:nvSpPr>
          <p:cNvPr id="35" name="TextBox 34">
            <a:extLst>
              <a:ext uri="{FF2B5EF4-FFF2-40B4-BE49-F238E27FC236}">
                <a16:creationId xmlns:a16="http://schemas.microsoft.com/office/drawing/2014/main" id="{7121DB47-61C5-E6D2-6F51-F9FF597E7E4A}"/>
              </a:ext>
            </a:extLst>
          </p:cNvPr>
          <p:cNvSpPr txBox="1">
            <a:spLocks noChangeArrowheads="1"/>
          </p:cNvSpPr>
          <p:nvPr/>
        </p:nvSpPr>
        <p:spPr bwMode="auto">
          <a:xfrm>
            <a:off x="332297" y="1283099"/>
            <a:ext cx="11015662"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271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9271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9271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9271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9271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9271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400" dirty="0">
                <a:solidFill>
                  <a:srgbClr val="FF0000"/>
                </a:solidFill>
                <a:cs typeface="Calibri" panose="020F0502020204030204" pitchFamily="34" charset="0"/>
              </a:rPr>
              <a:t>Energy In: </a:t>
            </a:r>
            <a:r>
              <a:rPr lang="en-US" altLang="en-US" sz="2400" dirty="0">
                <a:cs typeface="Calibri" panose="020F0502020204030204" pitchFamily="34" charset="0"/>
              </a:rPr>
              <a:t>Incoming solar radiation	= S</a:t>
            </a:r>
            <a:r>
              <a:rPr lang="en-US" altLang="en-US" sz="2400" baseline="-25000" dirty="0">
                <a:cs typeface="Calibri" panose="020F0502020204030204" pitchFamily="34" charset="0"/>
              </a:rPr>
              <a:t>o</a:t>
            </a:r>
            <a:r>
              <a:rPr lang="en-US" altLang="en-US" sz="2400" dirty="0">
                <a:cs typeface="Calibri" panose="020F0502020204030204" pitchFamily="34" charset="0"/>
              </a:rPr>
              <a:t> x Area (A) x albedo</a:t>
            </a:r>
          </a:p>
          <a:p>
            <a:pPr>
              <a:lnSpc>
                <a:spcPct val="100000"/>
              </a:lnSpc>
              <a:spcBef>
                <a:spcPct val="0"/>
              </a:spcBef>
              <a:buFontTx/>
              <a:buNone/>
            </a:pPr>
            <a:r>
              <a:rPr lang="en-US" altLang="en-US" sz="2400" dirty="0">
                <a:cs typeface="Calibri" panose="020F0502020204030204" pitchFamily="34" charset="0"/>
              </a:rPr>
              <a:t>					= 0.7 x</a:t>
            </a:r>
            <a:r>
              <a:rPr lang="en-US" altLang="en-US" sz="2400" dirty="0">
                <a:solidFill>
                  <a:srgbClr val="FF0000"/>
                </a:solidFill>
                <a:cs typeface="Calibri" panose="020F0502020204030204" pitchFamily="34" charset="0"/>
              </a:rPr>
              <a:t> </a:t>
            </a:r>
            <a:r>
              <a:rPr lang="en-US" altLang="en-US" sz="2400" dirty="0">
                <a:cs typeface="Calibri" panose="020F0502020204030204" pitchFamily="34" charset="0"/>
              </a:rPr>
              <a:t>S</a:t>
            </a:r>
            <a:r>
              <a:rPr lang="en-US" altLang="en-US" sz="2400" baseline="-25000" dirty="0">
                <a:cs typeface="Calibri" panose="020F0502020204030204" pitchFamily="34" charset="0"/>
              </a:rPr>
              <a:t>o</a:t>
            </a:r>
            <a:r>
              <a:rPr lang="en-US" altLang="en-US" sz="2400" dirty="0">
                <a:cs typeface="Calibri" panose="020F0502020204030204" pitchFamily="34" charset="0"/>
              </a:rPr>
              <a:t> x </a:t>
            </a:r>
            <a:r>
              <a:rPr lang="en-GB" altLang="en-US" sz="2400" dirty="0">
                <a:cs typeface="Calibri" panose="020F0502020204030204" pitchFamily="34" charset="0"/>
              </a:rPr>
              <a:t>πr</a:t>
            </a:r>
            <a:r>
              <a:rPr lang="en-GB" altLang="en-US" sz="2400" baseline="-25000" dirty="0">
                <a:cs typeface="Calibri" panose="020F0502020204030204" pitchFamily="34" charset="0"/>
              </a:rPr>
              <a:t>e</a:t>
            </a:r>
            <a:r>
              <a:rPr lang="en-GB" altLang="en-US" sz="2400" baseline="30000" dirty="0">
                <a:cs typeface="Calibri" panose="020F0502020204030204" pitchFamily="34" charset="0"/>
              </a:rPr>
              <a:t>2</a:t>
            </a:r>
          </a:p>
          <a:p>
            <a:pPr>
              <a:lnSpc>
                <a:spcPct val="100000"/>
              </a:lnSpc>
              <a:spcBef>
                <a:spcPct val="0"/>
              </a:spcBef>
              <a:buFontTx/>
              <a:buNone/>
            </a:pPr>
            <a:endParaRPr lang="en-GB" altLang="en-US" sz="2400" baseline="30000" dirty="0">
              <a:cs typeface="Calibri" panose="020F0502020204030204" pitchFamily="34" charset="0"/>
            </a:endParaRPr>
          </a:p>
          <a:p>
            <a:pPr>
              <a:lnSpc>
                <a:spcPct val="100000"/>
              </a:lnSpc>
              <a:spcBef>
                <a:spcPct val="0"/>
              </a:spcBef>
              <a:buFontTx/>
              <a:buNone/>
            </a:pPr>
            <a:r>
              <a:rPr lang="en-GB" altLang="en-US" sz="2400" dirty="0">
                <a:solidFill>
                  <a:srgbClr val="FF0000"/>
                </a:solidFill>
                <a:cs typeface="Calibri" panose="020F0502020204030204" pitchFamily="34" charset="0"/>
              </a:rPr>
              <a:t>Energy Out:</a:t>
            </a:r>
            <a:r>
              <a:rPr lang="en-GB" altLang="en-US" sz="2400" dirty="0">
                <a:cs typeface="Calibri" panose="020F0502020204030204" pitchFamily="34" charset="0"/>
              </a:rPr>
              <a:t> Outgoing Terrestrial radiation = </a:t>
            </a:r>
            <a:r>
              <a:rPr lang="en-US" altLang="en-US" sz="2400" dirty="0">
                <a:cs typeface="Calibri" panose="020F0502020204030204" pitchFamily="34" charset="0"/>
                <a:sym typeface="Symbol" pitchFamily="2" charset="2"/>
              </a:rPr>
              <a:t>T</a:t>
            </a:r>
            <a:r>
              <a:rPr lang="en-US" altLang="en-US" sz="2400" baseline="-25000" dirty="0">
                <a:cs typeface="Calibri" panose="020F0502020204030204" pitchFamily="34" charset="0"/>
                <a:sym typeface="Symbol" pitchFamily="2" charset="2"/>
              </a:rPr>
              <a:t>E</a:t>
            </a:r>
            <a:r>
              <a:rPr lang="en-US" altLang="en-US" sz="2400" baseline="30000" dirty="0">
                <a:cs typeface="Calibri" panose="020F0502020204030204" pitchFamily="34" charset="0"/>
                <a:sym typeface="Symbol" pitchFamily="2" charset="2"/>
              </a:rPr>
              <a:t>4</a:t>
            </a:r>
            <a:r>
              <a:rPr lang="en-US" altLang="en-US" sz="2400" dirty="0">
                <a:cs typeface="Calibri" panose="020F0502020204030204" pitchFamily="34" charset="0"/>
                <a:sym typeface="Symbol" pitchFamily="2" charset="2"/>
              </a:rPr>
              <a:t> </a:t>
            </a:r>
            <a:r>
              <a:rPr lang="en-GB" altLang="en-US" sz="2400" dirty="0">
                <a:cs typeface="Calibri" panose="020F0502020204030204" pitchFamily="34" charset="0"/>
              </a:rPr>
              <a:t>4πr</a:t>
            </a:r>
            <a:r>
              <a:rPr lang="en-US" altLang="en-US" sz="2400" baseline="-25000" dirty="0">
                <a:cs typeface="Calibri" panose="020F0502020204030204" pitchFamily="34" charset="0"/>
              </a:rPr>
              <a:t>e</a:t>
            </a:r>
            <a:r>
              <a:rPr lang="en-GB" altLang="en-US" sz="2400" baseline="30000" dirty="0">
                <a:cs typeface="Calibri" panose="020F0502020204030204" pitchFamily="34" charset="0"/>
              </a:rPr>
              <a:t>2</a:t>
            </a:r>
            <a:endParaRPr lang="en-GB" altLang="en-US" sz="2400" dirty="0">
              <a:solidFill>
                <a:srgbClr val="FF0000"/>
              </a:solidFill>
              <a:cs typeface="Calibri" panose="020F0502020204030204" pitchFamily="34" charset="0"/>
            </a:endParaRPr>
          </a:p>
        </p:txBody>
      </p:sp>
      <p:sp>
        <p:nvSpPr>
          <p:cNvPr id="34" name="TextBox 33">
            <a:extLst>
              <a:ext uri="{FF2B5EF4-FFF2-40B4-BE49-F238E27FC236}">
                <a16:creationId xmlns:a16="http://schemas.microsoft.com/office/drawing/2014/main" id="{33593F34-540E-4459-A158-E5669217CAD9}"/>
              </a:ext>
            </a:extLst>
          </p:cNvPr>
          <p:cNvSpPr txBox="1">
            <a:spLocks noChangeArrowheads="1"/>
          </p:cNvSpPr>
          <p:nvPr/>
        </p:nvSpPr>
        <p:spPr bwMode="auto">
          <a:xfrm>
            <a:off x="5563042" y="4620828"/>
            <a:ext cx="863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400">
                <a:solidFill>
                  <a:schemeClr val="bg1"/>
                </a:solidFill>
                <a:latin typeface="Verdana" panose="020B0604030504040204" pitchFamily="34" charset="0"/>
                <a:sym typeface="Symbol" pitchFamily="2" charset="2"/>
              </a:rPr>
              <a:t>T</a:t>
            </a:r>
            <a:r>
              <a:rPr lang="en-US" altLang="en-US" sz="2400" baseline="-25000">
                <a:solidFill>
                  <a:schemeClr val="bg1"/>
                </a:solidFill>
                <a:latin typeface="Verdana" panose="020B0604030504040204" pitchFamily="34" charset="0"/>
                <a:sym typeface="Symbol" pitchFamily="2" charset="2"/>
              </a:rPr>
              <a:t>E</a:t>
            </a:r>
            <a:r>
              <a:rPr lang="en-US" altLang="en-US" sz="2400" baseline="30000">
                <a:solidFill>
                  <a:schemeClr val="bg1"/>
                </a:solidFill>
                <a:latin typeface="Verdana" panose="020B0604030504040204" pitchFamily="34" charset="0"/>
                <a:sym typeface="Symbol" pitchFamily="2" charset="2"/>
              </a:rPr>
              <a:t>4</a:t>
            </a:r>
            <a:r>
              <a:rPr lang="en-US" altLang="en-US" sz="2400">
                <a:solidFill>
                  <a:schemeClr val="bg1"/>
                </a:solidFill>
                <a:latin typeface="Verdana" panose="020B0604030504040204" pitchFamily="34" charset="0"/>
                <a:sym typeface="Symbol" pitchFamily="2" charset="2"/>
              </a:rPr>
              <a:t> </a:t>
            </a:r>
            <a:endParaRPr lang="en-GB" altLang="en-US" sz="2400">
              <a:solidFill>
                <a:schemeClr val="bg1"/>
              </a:solidFill>
              <a:latin typeface="Times New Roman" panose="02020603050405020304" pitchFamily="18" charset="0"/>
            </a:endParaRPr>
          </a:p>
        </p:txBody>
      </p:sp>
      <p:grpSp>
        <p:nvGrpSpPr>
          <p:cNvPr id="36" name="Group 20">
            <a:extLst>
              <a:ext uri="{FF2B5EF4-FFF2-40B4-BE49-F238E27FC236}">
                <a16:creationId xmlns:a16="http://schemas.microsoft.com/office/drawing/2014/main" id="{CFFEAF18-473B-344A-DA5B-E96C4F66FEBD}"/>
              </a:ext>
            </a:extLst>
          </p:cNvPr>
          <p:cNvGrpSpPr>
            <a:grpSpLocks/>
          </p:cNvGrpSpPr>
          <p:nvPr/>
        </p:nvGrpSpPr>
        <p:grpSpPr bwMode="auto">
          <a:xfrm rot="-2264003">
            <a:off x="6380604" y="4263641"/>
            <a:ext cx="546100" cy="196850"/>
            <a:chOff x="288" y="1296"/>
            <a:chExt cx="768" cy="192"/>
          </a:xfrm>
        </p:grpSpPr>
        <p:sp>
          <p:nvSpPr>
            <p:cNvPr id="33815" name="AutoShape 21">
              <a:extLst>
                <a:ext uri="{FF2B5EF4-FFF2-40B4-BE49-F238E27FC236}">
                  <a16:creationId xmlns:a16="http://schemas.microsoft.com/office/drawing/2014/main" id="{494333BA-2DCE-849D-16E1-9199EE80144F}"/>
                </a:ext>
              </a:extLst>
            </p:cNvPr>
            <p:cNvSpPr>
              <a:spLocks noChangeArrowheads="1"/>
            </p:cNvSpPr>
            <p:nvPr/>
          </p:nvSpPr>
          <p:spPr bwMode="auto">
            <a:xfrm>
              <a:off x="288" y="1344"/>
              <a:ext cx="576" cy="96"/>
            </a:xfrm>
            <a:prstGeom prst="wave">
              <a:avLst>
                <a:gd name="adj1" fmla="val 13005"/>
                <a:gd name="adj2" fmla="val 0"/>
              </a:avLst>
            </a:prstGeom>
            <a:solidFill>
              <a:srgbClr val="FF00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3816" name="AutoShape 22">
              <a:extLst>
                <a:ext uri="{FF2B5EF4-FFF2-40B4-BE49-F238E27FC236}">
                  <a16:creationId xmlns:a16="http://schemas.microsoft.com/office/drawing/2014/main" id="{65EF5BA3-F626-6F7F-2AAC-1DC5AE8FD78C}"/>
                </a:ext>
              </a:extLst>
            </p:cNvPr>
            <p:cNvSpPr>
              <a:spLocks noChangeArrowheads="1"/>
            </p:cNvSpPr>
            <p:nvPr/>
          </p:nvSpPr>
          <p:spPr bwMode="auto">
            <a:xfrm rot="5382002">
              <a:off x="864" y="1296"/>
              <a:ext cx="192" cy="192"/>
            </a:xfrm>
            <a:prstGeom prst="triangle">
              <a:avLst>
                <a:gd name="adj" fmla="val 50000"/>
              </a:avLst>
            </a:prstGeom>
            <a:solidFill>
              <a:srgbClr val="FF00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grpSp>
      <p:grpSp>
        <p:nvGrpSpPr>
          <p:cNvPr id="39" name="Group 20">
            <a:extLst>
              <a:ext uri="{FF2B5EF4-FFF2-40B4-BE49-F238E27FC236}">
                <a16:creationId xmlns:a16="http://schemas.microsoft.com/office/drawing/2014/main" id="{1EEF1301-D28F-C9E9-42D7-508DCB49ACFC}"/>
              </a:ext>
            </a:extLst>
          </p:cNvPr>
          <p:cNvGrpSpPr>
            <a:grpSpLocks/>
          </p:cNvGrpSpPr>
          <p:nvPr/>
        </p:nvGrpSpPr>
        <p:grpSpPr bwMode="auto">
          <a:xfrm rot="-7997959">
            <a:off x="5119336" y="4172359"/>
            <a:ext cx="546100" cy="198437"/>
            <a:chOff x="288" y="1296"/>
            <a:chExt cx="768" cy="192"/>
          </a:xfrm>
        </p:grpSpPr>
        <p:sp>
          <p:nvSpPr>
            <p:cNvPr id="33813" name="AutoShape 21">
              <a:extLst>
                <a:ext uri="{FF2B5EF4-FFF2-40B4-BE49-F238E27FC236}">
                  <a16:creationId xmlns:a16="http://schemas.microsoft.com/office/drawing/2014/main" id="{9BB76B77-8250-D2AA-144D-EE0B427BF936}"/>
                </a:ext>
              </a:extLst>
            </p:cNvPr>
            <p:cNvSpPr>
              <a:spLocks noChangeArrowheads="1"/>
            </p:cNvSpPr>
            <p:nvPr/>
          </p:nvSpPr>
          <p:spPr bwMode="auto">
            <a:xfrm>
              <a:off x="288" y="1344"/>
              <a:ext cx="576" cy="96"/>
            </a:xfrm>
            <a:prstGeom prst="wave">
              <a:avLst>
                <a:gd name="adj1" fmla="val 13005"/>
                <a:gd name="adj2" fmla="val 0"/>
              </a:avLst>
            </a:prstGeom>
            <a:solidFill>
              <a:srgbClr val="FF00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3814" name="AutoShape 22">
              <a:extLst>
                <a:ext uri="{FF2B5EF4-FFF2-40B4-BE49-F238E27FC236}">
                  <a16:creationId xmlns:a16="http://schemas.microsoft.com/office/drawing/2014/main" id="{6F287344-417C-630F-2062-8862EFB1F754}"/>
                </a:ext>
              </a:extLst>
            </p:cNvPr>
            <p:cNvSpPr>
              <a:spLocks noChangeArrowheads="1"/>
            </p:cNvSpPr>
            <p:nvPr/>
          </p:nvSpPr>
          <p:spPr bwMode="auto">
            <a:xfrm rot="5382002">
              <a:off x="864" y="1296"/>
              <a:ext cx="192" cy="192"/>
            </a:xfrm>
            <a:prstGeom prst="triangle">
              <a:avLst>
                <a:gd name="adj" fmla="val 50000"/>
              </a:avLst>
            </a:prstGeom>
            <a:solidFill>
              <a:srgbClr val="FF00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grpSp>
      <p:grpSp>
        <p:nvGrpSpPr>
          <p:cNvPr id="42" name="Group 20">
            <a:extLst>
              <a:ext uri="{FF2B5EF4-FFF2-40B4-BE49-F238E27FC236}">
                <a16:creationId xmlns:a16="http://schemas.microsoft.com/office/drawing/2014/main" id="{F2C92519-0FB1-DF86-D499-B441212BFD28}"/>
              </a:ext>
            </a:extLst>
          </p:cNvPr>
          <p:cNvGrpSpPr>
            <a:grpSpLocks/>
          </p:cNvGrpSpPr>
          <p:nvPr/>
        </p:nvGrpSpPr>
        <p:grpSpPr bwMode="auto">
          <a:xfrm rot="2300079">
            <a:off x="6355204" y="5325678"/>
            <a:ext cx="546100" cy="196850"/>
            <a:chOff x="288" y="1296"/>
            <a:chExt cx="768" cy="192"/>
          </a:xfrm>
        </p:grpSpPr>
        <p:sp>
          <p:nvSpPr>
            <p:cNvPr id="33811" name="AutoShape 21">
              <a:extLst>
                <a:ext uri="{FF2B5EF4-FFF2-40B4-BE49-F238E27FC236}">
                  <a16:creationId xmlns:a16="http://schemas.microsoft.com/office/drawing/2014/main" id="{7DD3EE8E-36B7-08DB-110E-6A523028F9A6}"/>
                </a:ext>
              </a:extLst>
            </p:cNvPr>
            <p:cNvSpPr>
              <a:spLocks noChangeArrowheads="1"/>
            </p:cNvSpPr>
            <p:nvPr/>
          </p:nvSpPr>
          <p:spPr bwMode="auto">
            <a:xfrm>
              <a:off x="288" y="1344"/>
              <a:ext cx="576" cy="96"/>
            </a:xfrm>
            <a:prstGeom prst="wave">
              <a:avLst>
                <a:gd name="adj1" fmla="val 13005"/>
                <a:gd name="adj2" fmla="val 0"/>
              </a:avLst>
            </a:prstGeom>
            <a:solidFill>
              <a:srgbClr val="FF00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3812" name="AutoShape 22">
              <a:extLst>
                <a:ext uri="{FF2B5EF4-FFF2-40B4-BE49-F238E27FC236}">
                  <a16:creationId xmlns:a16="http://schemas.microsoft.com/office/drawing/2014/main" id="{FB962F25-4247-8A22-8572-0C2EE81BA3A0}"/>
                </a:ext>
              </a:extLst>
            </p:cNvPr>
            <p:cNvSpPr>
              <a:spLocks noChangeArrowheads="1"/>
            </p:cNvSpPr>
            <p:nvPr/>
          </p:nvSpPr>
          <p:spPr bwMode="auto">
            <a:xfrm rot="5382002">
              <a:off x="864" y="1296"/>
              <a:ext cx="192" cy="192"/>
            </a:xfrm>
            <a:prstGeom prst="triangle">
              <a:avLst>
                <a:gd name="adj" fmla="val 50000"/>
              </a:avLst>
            </a:prstGeom>
            <a:solidFill>
              <a:srgbClr val="FF00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grpSp>
      <p:grpSp>
        <p:nvGrpSpPr>
          <p:cNvPr id="45" name="Group 20">
            <a:extLst>
              <a:ext uri="{FF2B5EF4-FFF2-40B4-BE49-F238E27FC236}">
                <a16:creationId xmlns:a16="http://schemas.microsoft.com/office/drawing/2014/main" id="{7941A49B-11FE-F113-E766-A553AEC28718}"/>
              </a:ext>
            </a:extLst>
          </p:cNvPr>
          <p:cNvGrpSpPr>
            <a:grpSpLocks/>
          </p:cNvGrpSpPr>
          <p:nvPr/>
        </p:nvGrpSpPr>
        <p:grpSpPr bwMode="auto">
          <a:xfrm rot="8236640">
            <a:off x="5026467" y="5320916"/>
            <a:ext cx="544512" cy="198437"/>
            <a:chOff x="288" y="1296"/>
            <a:chExt cx="768" cy="192"/>
          </a:xfrm>
        </p:grpSpPr>
        <p:sp>
          <p:nvSpPr>
            <p:cNvPr id="33809" name="AutoShape 21">
              <a:extLst>
                <a:ext uri="{FF2B5EF4-FFF2-40B4-BE49-F238E27FC236}">
                  <a16:creationId xmlns:a16="http://schemas.microsoft.com/office/drawing/2014/main" id="{C06DF669-2009-0DB4-5ECE-398D8EDC799B}"/>
                </a:ext>
              </a:extLst>
            </p:cNvPr>
            <p:cNvSpPr>
              <a:spLocks noChangeArrowheads="1"/>
            </p:cNvSpPr>
            <p:nvPr/>
          </p:nvSpPr>
          <p:spPr bwMode="auto">
            <a:xfrm>
              <a:off x="288" y="1344"/>
              <a:ext cx="576" cy="96"/>
            </a:xfrm>
            <a:prstGeom prst="wave">
              <a:avLst>
                <a:gd name="adj1" fmla="val 13005"/>
                <a:gd name="adj2" fmla="val 0"/>
              </a:avLst>
            </a:prstGeom>
            <a:solidFill>
              <a:srgbClr val="FF00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33810" name="AutoShape 22">
              <a:extLst>
                <a:ext uri="{FF2B5EF4-FFF2-40B4-BE49-F238E27FC236}">
                  <a16:creationId xmlns:a16="http://schemas.microsoft.com/office/drawing/2014/main" id="{2E4D33DE-905F-FBB9-8A81-B5FD78E1B983}"/>
                </a:ext>
              </a:extLst>
            </p:cNvPr>
            <p:cNvSpPr>
              <a:spLocks noChangeArrowheads="1"/>
            </p:cNvSpPr>
            <p:nvPr/>
          </p:nvSpPr>
          <p:spPr bwMode="auto">
            <a:xfrm rot="5382002">
              <a:off x="864" y="1296"/>
              <a:ext cx="192" cy="192"/>
            </a:xfrm>
            <a:prstGeom prst="triangle">
              <a:avLst>
                <a:gd name="adj" fmla="val 50000"/>
              </a:avLst>
            </a:prstGeom>
            <a:solidFill>
              <a:srgbClr val="FF000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grpSp>
      <p:sp>
        <p:nvSpPr>
          <p:cNvPr id="48" name="Line 11">
            <a:extLst>
              <a:ext uri="{FF2B5EF4-FFF2-40B4-BE49-F238E27FC236}">
                <a16:creationId xmlns:a16="http://schemas.microsoft.com/office/drawing/2014/main" id="{388A0E8A-5BD6-3AAC-DDF3-E1098F3B763D}"/>
              </a:ext>
            </a:extLst>
          </p:cNvPr>
          <p:cNvSpPr>
            <a:spLocks noChangeShapeType="1"/>
          </p:cNvSpPr>
          <p:nvPr/>
        </p:nvSpPr>
        <p:spPr bwMode="auto">
          <a:xfrm flipH="1">
            <a:off x="5961503" y="3161035"/>
            <a:ext cx="446086" cy="115181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 name="Text Box 13">
            <a:extLst>
              <a:ext uri="{FF2B5EF4-FFF2-40B4-BE49-F238E27FC236}">
                <a16:creationId xmlns:a16="http://schemas.microsoft.com/office/drawing/2014/main" id="{A232B2D5-9E40-AFDC-80F3-E9B0654BDB80}"/>
              </a:ext>
            </a:extLst>
          </p:cNvPr>
          <p:cNvSpPr txBox="1">
            <a:spLocks noChangeArrowheads="1"/>
          </p:cNvSpPr>
          <p:nvPr/>
        </p:nvSpPr>
        <p:spPr bwMode="auto">
          <a:xfrm>
            <a:off x="6426642" y="2794323"/>
            <a:ext cx="4363278"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GB" altLang="en-US" sz="2400" dirty="0">
                <a:cs typeface="Calibri" panose="020F0502020204030204" pitchFamily="34" charset="0"/>
              </a:rPr>
              <a:t>Surface area of Earth =  4πr</a:t>
            </a:r>
            <a:r>
              <a:rPr lang="en-US" altLang="en-US" sz="2400" baseline="-25000" dirty="0">
                <a:cs typeface="Calibri" panose="020F0502020204030204" pitchFamily="34" charset="0"/>
              </a:rPr>
              <a:t>e</a:t>
            </a:r>
            <a:r>
              <a:rPr lang="en-GB" altLang="en-US" sz="2400" baseline="30000" dirty="0">
                <a:cs typeface="Calibri" panose="020F0502020204030204" pitchFamily="34" charset="0"/>
              </a:rPr>
              <a:t>2</a:t>
            </a:r>
          </a:p>
        </p:txBody>
      </p:sp>
      <p:sp>
        <p:nvSpPr>
          <p:cNvPr id="2" name="Freeform 13">
            <a:extLst>
              <a:ext uri="{FF2B5EF4-FFF2-40B4-BE49-F238E27FC236}">
                <a16:creationId xmlns:a16="http://schemas.microsoft.com/office/drawing/2014/main" id="{0E70FD50-3D27-B714-2CEC-36836264386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814B316F-15D9-EABE-B58F-6C16D5F9A58A}"/>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Earth’s Energy Balance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500"/>
                                        <p:tgtEl>
                                          <p:spTgt spid="36"/>
                                        </p:tgtEl>
                                      </p:cBhvr>
                                    </p:animEffect>
                                  </p:childTnLst>
                                </p:cTn>
                              </p:par>
                              <p:par>
                                <p:cTn id="12" presetID="10" presetClass="entr" presetSubtype="0" fill="hold" nodeType="with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500"/>
                                        <p:tgtEl>
                                          <p:spTgt spid="39"/>
                                        </p:tgtEl>
                                      </p:cBhvr>
                                    </p:animEffect>
                                  </p:childTnLst>
                                </p:cTn>
                              </p:par>
                              <p:par>
                                <p:cTn id="15" presetID="10" presetClass="entr" presetSubtype="0" fill="hold" nodeType="with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p:tgtEl>
                                          <p:spTgt spid="42"/>
                                        </p:tgtEl>
                                      </p:cBhvr>
                                    </p:animEffect>
                                  </p:childTnLst>
                                </p:cTn>
                              </p:par>
                              <p:par>
                                <p:cTn id="18" presetID="10" presetClass="entr" presetSubtype="0" fill="hold" nodeType="with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fade">
                                      <p:cBhvr>
                                        <p:cTn id="20" dur="500"/>
                                        <p:tgtEl>
                                          <p:spTgt spid="4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26" presetID="10" presetClass="entr" presetSubtype="0" fill="hold" nodeType="with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500"/>
                                        <p:tgtEl>
                                          <p:spTgt spid="4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4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6FA3CCC-601F-4DB4-22B3-A2DFE059E2DB}"/>
                  </a:ext>
                </a:extLst>
              </p:cNvPr>
              <p:cNvSpPr txBox="1"/>
              <p:nvPr/>
            </p:nvSpPr>
            <p:spPr>
              <a:xfrm>
                <a:off x="389464" y="1389989"/>
                <a:ext cx="11164104" cy="5244513"/>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1a. Assuming steady state, calculate the blackbody temperature of Earth with the information I have just given you</a:t>
                </a:r>
              </a:p>
              <a:p>
                <a:endParaRPr lang="en-US" b="1"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Stefan–Boltzmann constant, </a:t>
                </a:r>
                <a14:m>
                  <m:oMath xmlns:m="http://schemas.openxmlformats.org/officeDocument/2006/math">
                    <m:r>
                      <a:rPr lang="en-GB" i="1">
                        <a:latin typeface="Cambria Math" panose="02040503050406030204" pitchFamily="18" charset="0"/>
                      </a:rPr>
                      <m:t>𝜎</m:t>
                    </m:r>
                    <m:r>
                      <a:rPr lang="en-GB">
                        <a:latin typeface="Cambria Math" panose="02040503050406030204" pitchFamily="18" charset="0"/>
                      </a:rPr>
                      <m:t>=5.67×</m:t>
                    </m:r>
                    <m:sSup>
                      <m:sSupPr>
                        <m:ctrlPr>
                          <a:rPr lang="ar-AE" i="1" smtClean="0">
                            <a:latin typeface="Cambria Math" panose="02040503050406030204" pitchFamily="18" charset="0"/>
                          </a:rPr>
                        </m:ctrlPr>
                      </m:sSupPr>
                      <m:e>
                        <m:r>
                          <a:rPr lang="ar-AE">
                            <a:latin typeface="Cambria Math" panose="02040503050406030204" pitchFamily="18" charset="0"/>
                          </a:rPr>
                          <m:t>10</m:t>
                        </m:r>
                      </m:e>
                      <m:sup>
                        <m:r>
                          <a:rPr lang="ar-AE">
                            <a:latin typeface="Cambria Math" panose="02040503050406030204" pitchFamily="18" charset="0"/>
                          </a:rPr>
                          <m:t>−8</m:t>
                        </m:r>
                        <m:r>
                          <a:rPr lang="en-GB" b="0" i="0" smtClean="0">
                            <a:latin typeface="Cambria Math" panose="02040503050406030204" pitchFamily="18" charset="0"/>
                          </a:rPr>
                          <m:t>  </m:t>
                        </m:r>
                      </m:sup>
                    </m:sSup>
                    <m:sSup>
                      <m:sSupPr>
                        <m:ctrlPr>
                          <a:rPr lang="ar-AE" i="1">
                            <a:latin typeface="Cambria Math" panose="02040503050406030204" pitchFamily="18" charset="0"/>
                          </a:rPr>
                        </m:ctrlPr>
                      </m:sSupPr>
                      <m:e>
                        <m:r>
                          <m:rPr>
                            <m:nor/>
                          </m:rPr>
                          <a:rPr lang="en-GB" i="1">
                            <a:latin typeface="Calibri" panose="020F0502020204030204" pitchFamily="34" charset="0"/>
                            <a:cs typeface="Calibri" panose="020F0502020204030204" pitchFamily="34" charset="0"/>
                          </a:rPr>
                          <m:t>W</m:t>
                        </m:r>
                        <m:r>
                          <m:rPr>
                            <m:nor/>
                          </m:rPr>
                          <a:rPr lang="en-GB" i="1">
                            <a:latin typeface="Calibri" panose="020F0502020204030204" pitchFamily="34" charset="0"/>
                            <a:cs typeface="Calibri" panose="020F0502020204030204" pitchFamily="34" charset="0"/>
                          </a:rPr>
                          <m:t> </m:t>
                        </m:r>
                        <m:r>
                          <m:rPr>
                            <m:nor/>
                          </m:rPr>
                          <a:rPr lang="en-GB" i="1">
                            <a:latin typeface="Calibri" panose="020F0502020204030204" pitchFamily="34" charset="0"/>
                            <a:cs typeface="Calibri" panose="020F0502020204030204" pitchFamily="34" charset="0"/>
                          </a:rPr>
                          <m:t>m</m:t>
                        </m:r>
                      </m:e>
                      <m:sup>
                        <m:r>
                          <a:rPr lang="ar-AE">
                            <a:latin typeface="Cambria Math" panose="02040503050406030204" pitchFamily="18" charset="0"/>
                          </a:rPr>
                          <m:t>−2</m:t>
                        </m:r>
                      </m:sup>
                    </m:sSup>
                    <m:sSup>
                      <m:sSupPr>
                        <m:ctrlPr>
                          <a:rPr lang="ar-AE" i="1">
                            <a:latin typeface="Cambria Math" panose="02040503050406030204" pitchFamily="18" charset="0"/>
                          </a:rPr>
                        </m:ctrlPr>
                      </m:sSupPr>
                      <m:e>
                        <m:r>
                          <m:rPr>
                            <m:nor/>
                          </m:rPr>
                          <a:rPr lang="en-GB" i="1">
                            <a:latin typeface="Calibri" panose="020F0502020204030204" pitchFamily="34" charset="0"/>
                            <a:cs typeface="Calibri" panose="020F0502020204030204" pitchFamily="34" charset="0"/>
                          </a:rPr>
                          <m:t>K</m:t>
                        </m:r>
                      </m:e>
                      <m:sup>
                        <m:r>
                          <a:rPr lang="ar-AE">
                            <a:latin typeface="Cambria Math" panose="02040503050406030204" pitchFamily="18" charset="0"/>
                          </a:rPr>
                          <m:t>−4</m:t>
                        </m:r>
                      </m:sup>
                    </m:sSup>
                  </m:oMath>
                </a14:m>
                <a:endParaRPr lang="en-US" b="1"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pPr>
                  <a:lnSpc>
                    <a:spcPct val="90000"/>
                  </a:lnSpc>
                  <a:spcAft>
                    <a:spcPts val="600"/>
                  </a:spcAft>
                </a:pPr>
                <a:r>
                  <a:rPr lang="en-US" b="1" dirty="0">
                    <a:latin typeface="Calibri" panose="020F0502020204030204" pitchFamily="34" charset="0"/>
                    <a:cs typeface="Calibri" panose="020F0502020204030204" pitchFamily="34" charset="0"/>
                  </a:rPr>
                  <a:t>1b. Can you use the following information to estimate the surface temperature of Mars?</a:t>
                </a:r>
                <a:endParaRPr lang="en-US" dirty="0">
                  <a:latin typeface="Calibri" panose="020F0502020204030204" pitchFamily="34" charset="0"/>
                  <a:cs typeface="Calibri" panose="020F0502020204030204" pitchFamily="34" charset="0"/>
                </a:endParaRPr>
              </a:p>
              <a:p>
                <a:pPr indent="-228600">
                  <a:lnSpc>
                    <a:spcPct val="90000"/>
                  </a:lnSpc>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Radius = 3,389.5 km</a:t>
                </a:r>
              </a:p>
              <a:p>
                <a:pPr indent="-228600">
                  <a:lnSpc>
                    <a:spcPct val="90000"/>
                  </a:lnSpc>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Solar constant = 590 W m</a:t>
                </a:r>
                <a:r>
                  <a:rPr lang="en-US" baseline="30000" dirty="0">
                    <a:latin typeface="Calibri" panose="020F0502020204030204" pitchFamily="34" charset="0"/>
                    <a:cs typeface="Calibri" panose="020F0502020204030204" pitchFamily="34" charset="0"/>
                  </a:rPr>
                  <a:t>2</a:t>
                </a:r>
                <a:r>
                  <a:rPr lang="en-US" dirty="0">
                    <a:latin typeface="Calibri" panose="020F0502020204030204" pitchFamily="34" charset="0"/>
                    <a:cs typeface="Calibri" panose="020F0502020204030204" pitchFamily="34" charset="0"/>
                  </a:rPr>
                  <a:t> </a:t>
                </a:r>
              </a:p>
              <a:p>
                <a:pPr indent="-228600">
                  <a:lnSpc>
                    <a:spcPct val="90000"/>
                  </a:lnSpc>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Albedo =  0.16</a:t>
                </a:r>
              </a:p>
              <a:p>
                <a:pPr indent="-228600">
                  <a:lnSpc>
                    <a:spcPct val="90000"/>
                  </a:lnSpc>
                  <a:spcAft>
                    <a:spcPts val="600"/>
                  </a:spcAft>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a:lnSpc>
                    <a:spcPct val="90000"/>
                  </a:lnSpc>
                  <a:spcAft>
                    <a:spcPts val="600"/>
                  </a:spcAft>
                </a:pPr>
                <a:r>
                  <a:rPr lang="en-US" b="1" dirty="0">
                    <a:latin typeface="Calibri" panose="020F0502020204030204" pitchFamily="34" charset="0"/>
                    <a:cs typeface="Calibri" panose="020F0502020204030204" pitchFamily="34" charset="0"/>
                  </a:rPr>
                  <a:t>1c. Can you use the following information to estimate the surface temperature of Venus?</a:t>
                </a:r>
                <a:endParaRPr lang="en-US" dirty="0">
                  <a:latin typeface="Calibri" panose="020F0502020204030204" pitchFamily="34" charset="0"/>
                  <a:cs typeface="Calibri" panose="020F0502020204030204" pitchFamily="34" charset="0"/>
                </a:endParaRPr>
              </a:p>
              <a:p>
                <a:pPr indent="-228600">
                  <a:lnSpc>
                    <a:spcPct val="90000"/>
                  </a:lnSpc>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Radius = 6052 km</a:t>
                </a:r>
              </a:p>
              <a:p>
                <a:pPr indent="-228600">
                  <a:lnSpc>
                    <a:spcPct val="90000"/>
                  </a:lnSpc>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Solar constant = 2637 W m</a:t>
                </a:r>
                <a:r>
                  <a:rPr lang="en-US" baseline="30000" dirty="0">
                    <a:latin typeface="Calibri" panose="020F0502020204030204" pitchFamily="34" charset="0"/>
                    <a:cs typeface="Calibri" panose="020F0502020204030204" pitchFamily="34" charset="0"/>
                  </a:rPr>
                  <a:t>2</a:t>
                </a:r>
                <a:r>
                  <a:rPr lang="en-US" dirty="0">
                    <a:latin typeface="Calibri" panose="020F0502020204030204" pitchFamily="34" charset="0"/>
                    <a:cs typeface="Calibri" panose="020F0502020204030204" pitchFamily="34" charset="0"/>
                  </a:rPr>
                  <a:t> </a:t>
                </a:r>
              </a:p>
              <a:p>
                <a:pPr indent="-228600">
                  <a:lnSpc>
                    <a:spcPct val="90000"/>
                  </a:lnSpc>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Albedo =  0.75</a:t>
                </a:r>
              </a:p>
              <a:p>
                <a:endParaRPr lang="en-US"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2</a:t>
                </a:r>
                <a:r>
                  <a:rPr lang="en-GB" b="1" dirty="0">
                    <a:latin typeface="Calibri" panose="020F0502020204030204" pitchFamily="34" charset="0"/>
                    <a:cs typeface="Calibri" panose="020F0502020204030204" pitchFamily="34" charset="0"/>
                  </a:rPr>
                  <a:t>. You know the rough average temp of the Earth, Mars is 218K and Venus is 735K. Why do you think there is a difference between your calculated values and the average measured temp?</a:t>
                </a:r>
              </a:p>
              <a:p>
                <a:endParaRPr lang="en-US" dirty="0"/>
              </a:p>
            </p:txBody>
          </p:sp>
        </mc:Choice>
        <mc:Fallback xmlns="">
          <p:sp>
            <p:nvSpPr>
              <p:cNvPr id="4" name="TextBox 3">
                <a:extLst>
                  <a:ext uri="{FF2B5EF4-FFF2-40B4-BE49-F238E27FC236}">
                    <a16:creationId xmlns:a16="http://schemas.microsoft.com/office/drawing/2014/main" id="{F6FA3CCC-601F-4DB4-22B3-A2DFE059E2DB}"/>
                  </a:ext>
                </a:extLst>
              </p:cNvPr>
              <p:cNvSpPr txBox="1">
                <a:spLocks noRot="1" noChangeAspect="1" noMove="1" noResize="1" noEditPoints="1" noAdjustHandles="1" noChangeArrowheads="1" noChangeShapeType="1" noTextEdit="1"/>
              </p:cNvSpPr>
              <p:nvPr/>
            </p:nvSpPr>
            <p:spPr>
              <a:xfrm>
                <a:off x="389464" y="1389989"/>
                <a:ext cx="11164104" cy="5244513"/>
              </a:xfrm>
              <a:prstGeom prst="rect">
                <a:avLst/>
              </a:prstGeom>
              <a:blipFill>
                <a:blip r:embed="rId3"/>
                <a:stretch>
                  <a:fillRect l="-455" t="-483"/>
                </a:stretch>
              </a:blipFill>
            </p:spPr>
            <p:txBody>
              <a:bodyPr/>
              <a:lstStyle/>
              <a:p>
                <a:r>
                  <a:rPr lang="en-US">
                    <a:noFill/>
                  </a:rPr>
                  <a:t> </a:t>
                </a:r>
              </a:p>
            </p:txBody>
          </p:sp>
        </mc:Fallback>
      </mc:AlternateContent>
      <p:sp>
        <p:nvSpPr>
          <p:cNvPr id="5" name="TextBox 14">
            <a:extLst>
              <a:ext uri="{FF2B5EF4-FFF2-40B4-BE49-F238E27FC236}">
                <a16:creationId xmlns:a16="http://schemas.microsoft.com/office/drawing/2014/main" id="{8EDB024D-BA72-B62B-EDCF-7FE70506FD65}"/>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Workshop 1</a:t>
            </a:r>
          </a:p>
        </p:txBody>
      </p:sp>
    </p:spTree>
    <p:extLst>
      <p:ext uri="{BB962C8B-B14F-4D97-AF65-F5344CB8AC3E}">
        <p14:creationId xmlns:p14="http://schemas.microsoft.com/office/powerpoint/2010/main" val="25945243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4">
            <a:extLst>
              <a:ext uri="{FF2B5EF4-FFF2-40B4-BE49-F238E27FC236}">
                <a16:creationId xmlns:a16="http://schemas.microsoft.com/office/drawing/2014/main" id="{CEBFBB68-F43D-5412-DA41-3C00E03B6E12}"/>
              </a:ext>
            </a:extLst>
          </p:cNvPr>
          <p:cNvSpPr txBox="1">
            <a:spLocks noChangeArrowheads="1"/>
          </p:cNvSpPr>
          <p:nvPr/>
        </p:nvSpPr>
        <p:spPr bwMode="auto">
          <a:xfrm>
            <a:off x="317726" y="1544689"/>
            <a:ext cx="5238524"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400" dirty="0">
                <a:cs typeface="Calibri" panose="020F0502020204030204" pitchFamily="34" charset="0"/>
              </a:rPr>
              <a:t>Energy entering top of atmosphere</a:t>
            </a:r>
          </a:p>
        </p:txBody>
      </p:sp>
      <p:sp>
        <p:nvSpPr>
          <p:cNvPr id="19459" name="Text Box 5">
            <a:extLst>
              <a:ext uri="{FF2B5EF4-FFF2-40B4-BE49-F238E27FC236}">
                <a16:creationId xmlns:a16="http://schemas.microsoft.com/office/drawing/2014/main" id="{60091CC6-9046-3C6B-ACAC-FC75EA24C93C}"/>
              </a:ext>
            </a:extLst>
          </p:cNvPr>
          <p:cNvSpPr txBox="1">
            <a:spLocks noChangeArrowheads="1"/>
          </p:cNvSpPr>
          <p:nvPr/>
        </p:nvSpPr>
        <p:spPr bwMode="auto">
          <a:xfrm>
            <a:off x="5411787" y="1537276"/>
            <a:ext cx="5005330"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400" dirty="0">
                <a:cs typeface="Calibri" panose="020F0502020204030204" pitchFamily="34" charset="0"/>
              </a:rPr>
              <a:t>Energy leaving Earth’s surface</a:t>
            </a:r>
          </a:p>
        </p:txBody>
      </p:sp>
      <p:sp>
        <p:nvSpPr>
          <p:cNvPr id="19460" name="TextBox 5">
            <a:extLst>
              <a:ext uri="{FF2B5EF4-FFF2-40B4-BE49-F238E27FC236}">
                <a16:creationId xmlns:a16="http://schemas.microsoft.com/office/drawing/2014/main" id="{18B3EBF5-3818-B862-8D9B-848F83821900}"/>
              </a:ext>
            </a:extLst>
          </p:cNvPr>
          <p:cNvSpPr txBox="1">
            <a:spLocks noChangeArrowheads="1"/>
          </p:cNvSpPr>
          <p:nvPr/>
        </p:nvSpPr>
        <p:spPr bwMode="auto">
          <a:xfrm>
            <a:off x="4955270" y="1541144"/>
            <a:ext cx="16804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400" b="1" dirty="0">
                <a:cs typeface="Calibri" panose="020F0502020204030204" pitchFamily="34" charset="0"/>
              </a:rPr>
              <a:t>=</a:t>
            </a:r>
          </a:p>
        </p:txBody>
      </p:sp>
      <p:sp>
        <p:nvSpPr>
          <p:cNvPr id="8" name="TextBox 7">
            <a:extLst>
              <a:ext uri="{FF2B5EF4-FFF2-40B4-BE49-F238E27FC236}">
                <a16:creationId xmlns:a16="http://schemas.microsoft.com/office/drawing/2014/main" id="{807D63F9-34CD-64A2-1B18-3A97C3EEF86D}"/>
              </a:ext>
            </a:extLst>
          </p:cNvPr>
          <p:cNvSpPr txBox="1"/>
          <p:nvPr/>
        </p:nvSpPr>
        <p:spPr>
          <a:xfrm>
            <a:off x="338571" y="3850196"/>
            <a:ext cx="9857507" cy="2323713"/>
          </a:xfrm>
          <a:prstGeom prst="rect">
            <a:avLst/>
          </a:prstGeom>
          <a:noFill/>
        </p:spPr>
        <p:txBody>
          <a:bodyPr wrap="none">
            <a:spAutoFit/>
          </a:bodyPr>
          <a:lstStyle/>
          <a:p>
            <a:pPr>
              <a:spcAft>
                <a:spcPts val="600"/>
              </a:spcAft>
              <a:defRPr/>
            </a:pPr>
            <a:r>
              <a:rPr lang="en-GB" sz="2000" b="1" dirty="0">
                <a:latin typeface="Calibri" panose="020F0502020204030204" pitchFamily="34" charset="0"/>
                <a:cs typeface="Calibri" panose="020F0502020204030204" pitchFamily="34" charset="0"/>
              </a:rPr>
              <a:t>The Greenhouse Effect:</a:t>
            </a:r>
            <a:r>
              <a:rPr lang="en-GB" sz="2000" dirty="0">
                <a:latin typeface="Calibri" panose="020F0502020204030204" pitchFamily="34" charset="0"/>
                <a:cs typeface="Calibri" panose="020F0502020204030204" pitchFamily="34" charset="0"/>
              </a:rPr>
              <a:t> </a:t>
            </a:r>
          </a:p>
          <a:p>
            <a:pPr marL="342900" indent="-342900">
              <a:buFont typeface="Arial" panose="020B0604020202020204" pitchFamily="34" charset="0"/>
              <a:buChar char="•"/>
              <a:defRPr/>
            </a:pPr>
            <a:r>
              <a:rPr lang="en-GB" sz="2000" dirty="0">
                <a:latin typeface="Calibri" panose="020F0502020204030204" pitchFamily="34" charset="0"/>
                <a:cs typeface="Calibri" panose="020F0502020204030204" pitchFamily="34" charset="0"/>
              </a:rPr>
              <a:t>Different molecules absorb radiation at specific wavelengths.</a:t>
            </a:r>
          </a:p>
          <a:p>
            <a:pPr marL="342900" indent="-342900">
              <a:buFont typeface="Arial" panose="020B0604020202020204" pitchFamily="34" charset="0"/>
              <a:buChar char="•"/>
              <a:defRPr/>
            </a:pPr>
            <a:r>
              <a:rPr lang="en-GB" sz="2000" dirty="0">
                <a:latin typeface="Calibri" panose="020F0502020204030204" pitchFamily="34" charset="0"/>
                <a:cs typeface="Calibri" panose="020F0502020204030204" pitchFamily="34" charset="0"/>
              </a:rPr>
              <a:t>Several molecules in the atmosphere absorb strongly in the infrared </a:t>
            </a:r>
            <a:r>
              <a:rPr lang="en-GB" sz="2000" dirty="0">
                <a:latin typeface="Calibri" panose="020F0502020204030204" pitchFamily="34" charset="0"/>
                <a:cs typeface="Calibri" panose="020F0502020204030204" pitchFamily="34" charset="0"/>
                <a:sym typeface="Wingdings" panose="05000000000000000000" pitchFamily="2" charset="2"/>
              </a:rPr>
              <a:t> Greenhouse gases</a:t>
            </a:r>
          </a:p>
          <a:p>
            <a:pPr marL="342900" indent="-342900">
              <a:buFont typeface="Arial" panose="020B0604020202020204" pitchFamily="34" charset="0"/>
              <a:buChar char="•"/>
              <a:defRPr/>
            </a:pPr>
            <a:endParaRPr lang="en-GB" sz="20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defRPr/>
            </a:pPr>
            <a:endParaRPr lang="en-GB" sz="20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defRPr/>
            </a:pPr>
            <a:endParaRPr lang="en-GB" sz="2000" dirty="0">
              <a:latin typeface="Calibri" panose="020F0502020204030204" pitchFamily="34" charset="0"/>
              <a:cs typeface="Calibri" panose="020F0502020204030204" pitchFamily="34" charset="0"/>
            </a:endParaRPr>
          </a:p>
          <a:p>
            <a:pPr algn="ctr">
              <a:defRPr/>
            </a:pPr>
            <a:r>
              <a:rPr lang="en-GB" sz="2000" dirty="0">
                <a:latin typeface="Calibri" panose="020F0502020204030204" pitchFamily="34" charset="0"/>
                <a:cs typeface="Calibri" panose="020F0502020204030204" pitchFamily="34" charset="0"/>
              </a:rPr>
              <a:t>The atmosphere is nearly transparent to SW radiation, but absorbs LW.</a:t>
            </a:r>
          </a:p>
        </p:txBody>
      </p:sp>
      <p:sp>
        <p:nvSpPr>
          <p:cNvPr id="9" name="Arrow: Down 8">
            <a:extLst>
              <a:ext uri="{FF2B5EF4-FFF2-40B4-BE49-F238E27FC236}">
                <a16:creationId xmlns:a16="http://schemas.microsoft.com/office/drawing/2014/main" id="{D84BC52A-D0D4-9B99-F3C1-9112D4D000EE}"/>
              </a:ext>
            </a:extLst>
          </p:cNvPr>
          <p:cNvSpPr/>
          <p:nvPr/>
        </p:nvSpPr>
        <p:spPr>
          <a:xfrm>
            <a:off x="5122861" y="5105348"/>
            <a:ext cx="288926" cy="58425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200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03EA3D77-E5CD-7297-431C-4F02F25661FD}"/>
              </a:ext>
            </a:extLst>
          </p:cNvPr>
          <p:cNvSpPr txBox="1"/>
          <p:nvPr/>
        </p:nvSpPr>
        <p:spPr>
          <a:xfrm>
            <a:off x="317726" y="2269624"/>
            <a:ext cx="10426474" cy="707886"/>
          </a:xfrm>
          <a:prstGeom prst="rect">
            <a:avLst/>
          </a:prstGeom>
          <a:noFill/>
        </p:spPr>
        <p:txBody>
          <a:bodyPr wrap="square">
            <a:spAutoFit/>
          </a:bodyPr>
          <a:lstStyle/>
          <a:p>
            <a:pPr eaLnBrk="1" hangingPunct="1"/>
            <a:r>
              <a:rPr lang="en-GB" altLang="en-US" sz="2000" dirty="0">
                <a:latin typeface="Calibri" panose="020F0502020204030204" pitchFamily="34" charset="0"/>
                <a:cs typeface="Calibri" panose="020F0502020204030204" pitchFamily="34" charset="0"/>
              </a:rPr>
              <a:t>If </a:t>
            </a:r>
            <a:r>
              <a:rPr lang="en-GB" altLang="en-US" sz="2000" dirty="0" err="1">
                <a:latin typeface="Calibri" panose="020F0502020204030204" pitchFamily="34" charset="0"/>
                <a:cs typeface="Calibri" panose="020F0502020204030204" pitchFamily="34" charset="0"/>
              </a:rPr>
              <a:t>T</a:t>
            </a:r>
            <a:r>
              <a:rPr lang="en-GB" altLang="en-US" sz="2000" baseline="-25000" dirty="0" err="1">
                <a:latin typeface="Calibri" panose="020F0502020204030204" pitchFamily="34" charset="0"/>
                <a:cs typeface="Calibri" panose="020F0502020204030204" pitchFamily="34" charset="0"/>
              </a:rPr>
              <a:t>e</a:t>
            </a:r>
            <a:r>
              <a:rPr lang="en-GB" altLang="en-US" sz="2000" dirty="0">
                <a:latin typeface="Calibri" panose="020F0502020204030204" pitchFamily="34" charset="0"/>
                <a:cs typeface="Calibri" panose="020F0502020204030204" pitchFamily="34" charset="0"/>
              </a:rPr>
              <a:t> = 255K (-18</a:t>
            </a:r>
            <a:r>
              <a:rPr lang="en-US" altLang="en-US" sz="2000" dirty="0">
                <a:latin typeface="Calibri" panose="020F0502020204030204" pitchFamily="34" charset="0"/>
                <a:cs typeface="Calibri" panose="020F0502020204030204" pitchFamily="34" charset="0"/>
              </a:rPr>
              <a:t>º</a:t>
            </a:r>
            <a:r>
              <a:rPr lang="en-GB" altLang="en-US" sz="2000" dirty="0">
                <a:latin typeface="Calibri" panose="020F0502020204030204" pitchFamily="34" charset="0"/>
                <a:cs typeface="Calibri" panose="020F0502020204030204" pitchFamily="34" charset="0"/>
              </a:rPr>
              <a:t>C), why is the global mean surface temperature of the earth actually 288K (+15</a:t>
            </a:r>
            <a:r>
              <a:rPr lang="en-US" altLang="en-US" sz="2000" dirty="0">
                <a:latin typeface="Calibri" panose="020F0502020204030204" pitchFamily="34" charset="0"/>
                <a:cs typeface="Calibri" panose="020F0502020204030204" pitchFamily="34" charset="0"/>
              </a:rPr>
              <a:t>º</a:t>
            </a:r>
            <a:r>
              <a:rPr lang="en-GB" altLang="en-US" sz="2000" dirty="0">
                <a:latin typeface="Calibri" panose="020F0502020204030204" pitchFamily="34" charset="0"/>
                <a:cs typeface="Calibri" panose="020F0502020204030204" pitchFamily="34" charset="0"/>
              </a:rPr>
              <a:t>C), why are we not freezing?!</a:t>
            </a:r>
            <a:endParaRPr lang="en-US" altLang="en-US" sz="20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EE0AE44-CC20-A567-BA23-D2FC45074781}"/>
              </a:ext>
            </a:extLst>
          </p:cNvPr>
          <p:cNvSpPr txBox="1"/>
          <p:nvPr/>
        </p:nvSpPr>
        <p:spPr>
          <a:xfrm>
            <a:off x="317726" y="3168980"/>
            <a:ext cx="11417074" cy="400110"/>
          </a:xfrm>
          <a:prstGeom prst="rect">
            <a:avLst/>
          </a:prstGeom>
          <a:noFill/>
        </p:spPr>
        <p:txBody>
          <a:bodyPr wrap="square">
            <a:spAutoFit/>
          </a:bodyPr>
          <a:lstStyle/>
          <a:p>
            <a:pPr eaLnBrk="1" hangingPunct="1"/>
            <a:r>
              <a:rPr lang="en-US" altLang="en-US" sz="2000" dirty="0">
                <a:latin typeface="Calibri" panose="020F0502020204030204" pitchFamily="34" charset="0"/>
                <a:cs typeface="Calibri" panose="020F0502020204030204" pitchFamily="34" charset="0"/>
                <a:sym typeface="Symbol" pitchFamily="2" charset="2"/>
              </a:rPr>
              <a:t>Down to the different ways the atmosphere processes shortwave (solar) and longwave (terrestrial) radiation</a:t>
            </a:r>
          </a:p>
        </p:txBody>
      </p:sp>
      <p:sp>
        <p:nvSpPr>
          <p:cNvPr id="7" name="TextBox 14">
            <a:extLst>
              <a:ext uri="{FF2B5EF4-FFF2-40B4-BE49-F238E27FC236}">
                <a16:creationId xmlns:a16="http://schemas.microsoft.com/office/drawing/2014/main" id="{82867E46-2E62-B31F-0F84-1DBD1613F39B}"/>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Energy Balance - why is there a gap?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12" descr="A picture containing text&#10;&#10;Description automatically generated">
            <a:extLst>
              <a:ext uri="{FF2B5EF4-FFF2-40B4-BE49-F238E27FC236}">
                <a16:creationId xmlns:a16="http://schemas.microsoft.com/office/drawing/2014/main" id="{E96025A1-C416-C573-8D83-35CAE9C0B7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054" y="1614259"/>
            <a:ext cx="10526713" cy="334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Straight Arrow Connector 14">
            <a:extLst>
              <a:ext uri="{FF2B5EF4-FFF2-40B4-BE49-F238E27FC236}">
                <a16:creationId xmlns:a16="http://schemas.microsoft.com/office/drawing/2014/main" id="{46467F0E-DAAA-7D69-868C-FBEA10D84147}"/>
              </a:ext>
            </a:extLst>
          </p:cNvPr>
          <p:cNvCxnSpPr>
            <a:cxnSpLocks/>
          </p:cNvCxnSpPr>
          <p:nvPr/>
        </p:nvCxnSpPr>
        <p:spPr>
          <a:xfrm>
            <a:off x="6315529" y="3638322"/>
            <a:ext cx="1008063" cy="0"/>
          </a:xfrm>
          <a:prstGeom prst="straightConnector1">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AD36EEE-035C-5682-049F-64DD09568D68}"/>
              </a:ext>
            </a:extLst>
          </p:cNvPr>
          <p:cNvCxnSpPr>
            <a:cxnSpLocks/>
          </p:cNvCxnSpPr>
          <p:nvPr/>
        </p:nvCxnSpPr>
        <p:spPr>
          <a:xfrm>
            <a:off x="5451929" y="3646259"/>
            <a:ext cx="576263" cy="0"/>
          </a:xfrm>
          <a:prstGeom prst="straightConnector1">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653C3ED-4302-66ED-0002-8BC69BD956BB}"/>
              </a:ext>
            </a:extLst>
          </p:cNvPr>
          <p:cNvCxnSpPr>
            <a:cxnSpLocks/>
          </p:cNvCxnSpPr>
          <p:nvPr/>
        </p:nvCxnSpPr>
        <p:spPr>
          <a:xfrm>
            <a:off x="8115754" y="3646259"/>
            <a:ext cx="2447925" cy="0"/>
          </a:xfrm>
          <a:prstGeom prst="straightConnector1">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88E7A02-5B5C-E093-7AB1-79F14CE24CDF}"/>
              </a:ext>
            </a:extLst>
          </p:cNvPr>
          <p:cNvCxnSpPr>
            <a:cxnSpLocks/>
          </p:cNvCxnSpPr>
          <p:nvPr/>
        </p:nvCxnSpPr>
        <p:spPr>
          <a:xfrm>
            <a:off x="1635579" y="3638322"/>
            <a:ext cx="935038" cy="0"/>
          </a:xfrm>
          <a:prstGeom prst="straightConnector1">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A5A17E4-BD55-C0A2-2C96-51A6024AC820}"/>
              </a:ext>
            </a:extLst>
          </p:cNvPr>
          <p:cNvSpPr txBox="1">
            <a:spLocks noChangeArrowheads="1"/>
          </p:cNvSpPr>
          <p:nvPr/>
        </p:nvSpPr>
        <p:spPr bwMode="auto">
          <a:xfrm>
            <a:off x="483054" y="5081607"/>
            <a:ext cx="1031376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400" dirty="0">
                <a:solidFill>
                  <a:srgbClr val="FF0000"/>
                </a:solidFill>
                <a:cs typeface="Calibri" panose="020F0502020204030204" pitchFamily="34" charset="0"/>
              </a:rPr>
              <a:t>Radiation is absorbed by the atmosphere......and reradiated in all directions</a:t>
            </a:r>
          </a:p>
          <a:p>
            <a:pPr>
              <a:lnSpc>
                <a:spcPct val="100000"/>
              </a:lnSpc>
              <a:spcBef>
                <a:spcPct val="0"/>
              </a:spcBef>
              <a:buFontTx/>
              <a:buNone/>
            </a:pPr>
            <a:endParaRPr lang="en-GB" altLang="en-US" sz="2400" dirty="0">
              <a:solidFill>
                <a:srgbClr val="FF0000"/>
              </a:solidFill>
              <a:cs typeface="Calibri" panose="020F0502020204030204" pitchFamily="34" charset="0"/>
            </a:endParaRPr>
          </a:p>
          <a:p>
            <a:pPr>
              <a:lnSpc>
                <a:spcPct val="100000"/>
              </a:lnSpc>
              <a:spcBef>
                <a:spcPct val="0"/>
              </a:spcBef>
              <a:buFontTx/>
              <a:buNone/>
            </a:pPr>
            <a:r>
              <a:rPr lang="en-GB" altLang="en-US" sz="2400" dirty="0">
                <a:solidFill>
                  <a:schemeClr val="accent1"/>
                </a:solidFill>
                <a:cs typeface="Calibri" panose="020F0502020204030204" pitchFamily="34" charset="0"/>
              </a:rPr>
              <a:t>Radiation can go through: </a:t>
            </a:r>
            <a:r>
              <a:rPr lang="en-GB" altLang="en-US" sz="2400" b="1" dirty="0">
                <a:solidFill>
                  <a:schemeClr val="accent1"/>
                </a:solidFill>
                <a:cs typeface="Calibri" panose="020F0502020204030204" pitchFamily="34" charset="0"/>
              </a:rPr>
              <a:t>the atmospheric window</a:t>
            </a:r>
          </a:p>
        </p:txBody>
      </p:sp>
      <p:cxnSp>
        <p:nvCxnSpPr>
          <p:cNvPr id="35" name="Straight Arrow Connector 34">
            <a:extLst>
              <a:ext uri="{FF2B5EF4-FFF2-40B4-BE49-F238E27FC236}">
                <a16:creationId xmlns:a16="http://schemas.microsoft.com/office/drawing/2014/main" id="{428E2BA2-65F0-2B15-3FD5-30DF2893CD3C}"/>
              </a:ext>
            </a:extLst>
          </p:cNvPr>
          <p:cNvCxnSpPr>
            <a:cxnSpLocks/>
          </p:cNvCxnSpPr>
          <p:nvPr/>
        </p:nvCxnSpPr>
        <p:spPr>
          <a:xfrm>
            <a:off x="4988379" y="3646259"/>
            <a:ext cx="215900" cy="0"/>
          </a:xfrm>
          <a:prstGeom prst="straightConnector1">
            <a:avLst/>
          </a:prstGeom>
          <a:ln w="19050">
            <a:solidFill>
              <a:srgbClr val="FF0000"/>
            </a:solidFill>
            <a:headEnd type="arrow" w="sm" len="sm"/>
            <a:tailEnd type="arrow" w="sm" len="sm"/>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D63D52C-03C8-8D52-8041-3C594ACA5882}"/>
              </a:ext>
            </a:extLst>
          </p:cNvPr>
          <p:cNvCxnSpPr>
            <a:cxnSpLocks/>
          </p:cNvCxnSpPr>
          <p:nvPr/>
        </p:nvCxnSpPr>
        <p:spPr>
          <a:xfrm>
            <a:off x="4515304" y="3646259"/>
            <a:ext cx="215900" cy="0"/>
          </a:xfrm>
          <a:prstGeom prst="straightConnector1">
            <a:avLst/>
          </a:prstGeom>
          <a:ln w="19050">
            <a:solidFill>
              <a:srgbClr val="FF0000"/>
            </a:solidFill>
            <a:headEnd type="arrow" w="sm" len="sm"/>
            <a:tailEnd type="arrow" w="sm" len="sm"/>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C34A6EC-BFB5-526D-0D80-F661C7924F25}"/>
              </a:ext>
            </a:extLst>
          </p:cNvPr>
          <p:cNvCxnSpPr>
            <a:cxnSpLocks/>
          </p:cNvCxnSpPr>
          <p:nvPr/>
        </p:nvCxnSpPr>
        <p:spPr>
          <a:xfrm>
            <a:off x="2427742" y="2846159"/>
            <a:ext cx="1439862" cy="0"/>
          </a:xfrm>
          <a:prstGeom prst="straightConnector1">
            <a:avLst/>
          </a:prstGeom>
          <a:ln w="28575">
            <a:solidFill>
              <a:schemeClr val="accent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CCC29CA-FCB1-399B-7E92-532BB05F76C2}"/>
              </a:ext>
            </a:extLst>
          </p:cNvPr>
          <p:cNvCxnSpPr>
            <a:cxnSpLocks/>
          </p:cNvCxnSpPr>
          <p:nvPr/>
        </p:nvCxnSpPr>
        <p:spPr>
          <a:xfrm>
            <a:off x="7417254" y="2990622"/>
            <a:ext cx="698500" cy="0"/>
          </a:xfrm>
          <a:prstGeom prst="straightConnector1">
            <a:avLst/>
          </a:prstGeom>
          <a:ln w="28575">
            <a:solidFill>
              <a:schemeClr val="accent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7" name="TextBox 14">
            <a:extLst>
              <a:ext uri="{FF2B5EF4-FFF2-40B4-BE49-F238E27FC236}">
                <a16:creationId xmlns:a16="http://schemas.microsoft.com/office/drawing/2014/main" id="{59123F96-9AD1-27EC-60AC-E984796750AF}"/>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Energy Balance - why is there a gap?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6">
            <a:extLst>
              <a:ext uri="{FF2B5EF4-FFF2-40B4-BE49-F238E27FC236}">
                <a16:creationId xmlns:a16="http://schemas.microsoft.com/office/drawing/2014/main" id="{7A960E5E-ABD4-E039-3ACF-7598C94AA6D5}"/>
              </a:ext>
            </a:extLst>
          </p:cNvPr>
          <p:cNvSpPr>
            <a:spLocks noChangeArrowheads="1"/>
          </p:cNvSpPr>
          <p:nvPr/>
        </p:nvSpPr>
        <p:spPr bwMode="auto">
          <a:xfrm>
            <a:off x="353369" y="1363772"/>
            <a:ext cx="10050045" cy="2923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9" tIns="45715" rIns="91429" bIns="45715">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eaLnBrk="1" hangingPunct="1">
              <a:spcBef>
                <a:spcPct val="0"/>
              </a:spcBef>
            </a:pPr>
            <a:r>
              <a:rPr lang="en-GB" altLang="en-US" sz="2000" dirty="0">
                <a:latin typeface="Calibri" panose="020F0502020204030204" pitchFamily="34" charset="0"/>
                <a:cs typeface="Calibri" panose="020F0502020204030204" pitchFamily="34" charset="0"/>
              </a:rPr>
              <a:t>For high energy radiation (&lt;UV) a molecule can only absorb radiant energy if the wavelength of the radiation corresponds to the difference between two of its energy levels</a:t>
            </a:r>
          </a:p>
          <a:p>
            <a:pPr eaLnBrk="1" hangingPunct="1">
              <a:spcBef>
                <a:spcPct val="0"/>
              </a:spcBef>
            </a:pPr>
            <a:endParaRPr lang="en-GB" altLang="en-US" sz="2000" dirty="0">
              <a:latin typeface="Calibri" panose="020F0502020204030204" pitchFamily="34" charset="0"/>
              <a:cs typeface="Calibri" panose="020F0502020204030204" pitchFamily="34" charset="0"/>
            </a:endParaRPr>
          </a:p>
          <a:p>
            <a:pPr eaLnBrk="1" hangingPunct="1">
              <a:spcBef>
                <a:spcPct val="0"/>
              </a:spcBef>
            </a:pPr>
            <a:endParaRPr lang="en-GB" altLang="en-US" sz="2000" dirty="0">
              <a:latin typeface="Calibri" panose="020F0502020204030204" pitchFamily="34" charset="0"/>
              <a:cs typeface="Calibri" panose="020F0502020204030204" pitchFamily="34" charset="0"/>
            </a:endParaRPr>
          </a:p>
          <a:p>
            <a:pPr eaLnBrk="1" hangingPunct="1">
              <a:spcBef>
                <a:spcPct val="0"/>
              </a:spcBef>
            </a:pPr>
            <a:endParaRPr lang="en-GB" altLang="en-US" sz="2000" dirty="0">
              <a:latin typeface="Calibri" panose="020F0502020204030204" pitchFamily="34" charset="0"/>
              <a:cs typeface="Calibri" panose="020F0502020204030204" pitchFamily="34" charset="0"/>
            </a:endParaRPr>
          </a:p>
          <a:p>
            <a:pPr eaLnBrk="1" hangingPunct="1">
              <a:spcBef>
                <a:spcPct val="0"/>
              </a:spcBef>
            </a:pPr>
            <a:r>
              <a:rPr lang="en-GB" altLang="en-US" sz="2000" dirty="0">
                <a:latin typeface="Calibri" panose="020F0502020204030204" pitchFamily="34" charset="0"/>
                <a:cs typeface="Calibri" panose="020F0502020204030204" pitchFamily="34" charset="0"/>
              </a:rPr>
              <a:t>For different molecules (of different composition and shape) the spacing between energy levels is different and so the absorption of radiant energy by molecules of differing structure occurs in different regions of the electromagnetic spectrum.</a:t>
            </a:r>
          </a:p>
          <a:p>
            <a:pPr eaLnBrk="1" hangingPunct="1">
              <a:spcBef>
                <a:spcPct val="0"/>
              </a:spcBef>
            </a:pPr>
            <a:endParaRPr lang="en-GB" altLang="en-US" sz="2400" dirty="0">
              <a:latin typeface="Times New Roman" panose="02020603050405020304" pitchFamily="18" charset="0"/>
            </a:endParaRPr>
          </a:p>
        </p:txBody>
      </p:sp>
      <p:graphicFrame>
        <p:nvGraphicFramePr>
          <p:cNvPr id="41987" name="Object 5">
            <a:extLst>
              <a:ext uri="{FF2B5EF4-FFF2-40B4-BE49-F238E27FC236}">
                <a16:creationId xmlns:a16="http://schemas.microsoft.com/office/drawing/2014/main" id="{9650958E-4D78-3734-6F1C-5E60EF30EC21}"/>
              </a:ext>
            </a:extLst>
          </p:cNvPr>
          <p:cNvGraphicFramePr>
            <a:graphicFrameLocks noChangeAspect="1"/>
          </p:cNvGraphicFramePr>
          <p:nvPr>
            <p:extLst>
              <p:ext uri="{D42A27DB-BD31-4B8C-83A1-F6EECF244321}">
                <p14:modId xmlns:p14="http://schemas.microsoft.com/office/powerpoint/2010/main" val="275052111"/>
              </p:ext>
            </p:extLst>
          </p:nvPr>
        </p:nvGraphicFramePr>
        <p:xfrm>
          <a:off x="353369" y="2165672"/>
          <a:ext cx="1714500" cy="571500"/>
        </p:xfrm>
        <a:graphic>
          <a:graphicData uri="http://schemas.openxmlformats.org/presentationml/2006/ole">
            <mc:AlternateContent xmlns:mc="http://schemas.openxmlformats.org/markup-compatibility/2006">
              <mc:Choice xmlns:v="urn:schemas-microsoft-com:vml" Requires="v">
                <p:oleObj name="Equation" r:id="rId2" imgW="12293600" imgH="4102100" progId="Equation.DSMT4">
                  <p:embed/>
                </p:oleObj>
              </mc:Choice>
              <mc:Fallback>
                <p:oleObj name="Equation" r:id="rId2" imgW="12293600" imgH="4102100" progId="Equation.DSMT4">
                  <p:embed/>
                  <p:pic>
                    <p:nvPicPr>
                      <p:cNvPr id="41987" name="Object 5">
                        <a:extLst>
                          <a:ext uri="{FF2B5EF4-FFF2-40B4-BE49-F238E27FC236}">
                            <a16:creationId xmlns:a16="http://schemas.microsoft.com/office/drawing/2014/main" id="{9650958E-4D78-3734-6F1C-5E60EF30EC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369" y="2165672"/>
                        <a:ext cx="17145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Freeform 13">
            <a:extLst>
              <a:ext uri="{FF2B5EF4-FFF2-40B4-BE49-F238E27FC236}">
                <a16:creationId xmlns:a16="http://schemas.microsoft.com/office/drawing/2014/main" id="{9BDF0D7A-CC55-A26B-8429-B0C61B59EAD4}"/>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FDB609EF-5DFE-36F2-2889-FFAFE3C0A428}"/>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Energy Balance - why is there a gap?</a:t>
            </a:r>
          </a:p>
        </p:txBody>
      </p:sp>
      <p:pic>
        <p:nvPicPr>
          <p:cNvPr id="5" name="Picture 8">
            <a:extLst>
              <a:ext uri="{FF2B5EF4-FFF2-40B4-BE49-F238E27FC236}">
                <a16:creationId xmlns:a16="http://schemas.microsoft.com/office/drawing/2014/main" id="{D93F8A8A-FC24-3565-3FD3-E4D3D2C4719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3569" b="12697"/>
          <a:stretch>
            <a:fillRect/>
          </a:stretch>
        </p:blipFill>
        <p:spPr bwMode="auto">
          <a:xfrm>
            <a:off x="6641358" y="4210335"/>
            <a:ext cx="3762056" cy="2275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D56BCA21-3743-CE47-DEA2-76349A3646F4}"/>
              </a:ext>
            </a:extLst>
          </p:cNvPr>
          <p:cNvSpPr txBox="1"/>
          <p:nvPr/>
        </p:nvSpPr>
        <p:spPr>
          <a:xfrm>
            <a:off x="353368" y="4287639"/>
            <a:ext cx="6287989" cy="2062103"/>
          </a:xfrm>
          <a:prstGeom prst="rect">
            <a:avLst/>
          </a:prstGeom>
          <a:noFill/>
        </p:spPr>
        <p:txBody>
          <a:bodyPr wrap="square">
            <a:spAutoFit/>
          </a:bodyPr>
          <a:lstStyle/>
          <a:p>
            <a:pPr>
              <a:spcBef>
                <a:spcPct val="0"/>
              </a:spcBef>
            </a:pPr>
            <a:r>
              <a:rPr lang="en-GB" altLang="en-US" sz="2800" b="1" dirty="0">
                <a:latin typeface="Calibri" panose="020F0502020204030204" pitchFamily="34" charset="0"/>
                <a:cs typeface="Calibri" panose="020F0502020204030204" pitchFamily="34" charset="0"/>
              </a:rPr>
              <a:t>Absorption</a:t>
            </a:r>
          </a:p>
          <a:p>
            <a:pPr>
              <a:spcBef>
                <a:spcPct val="0"/>
              </a:spcBef>
            </a:pPr>
            <a:endParaRPr lang="en-GB" altLang="en-US" sz="2000" dirty="0">
              <a:latin typeface="Calibri" panose="020F0502020204030204" pitchFamily="34" charset="0"/>
              <a:cs typeface="Calibri" panose="020F0502020204030204" pitchFamily="34" charset="0"/>
            </a:endParaRPr>
          </a:p>
          <a:p>
            <a:pPr>
              <a:spcBef>
                <a:spcPct val="0"/>
              </a:spcBef>
            </a:pPr>
            <a:r>
              <a:rPr lang="en-GB" altLang="en-US" sz="2000" dirty="0">
                <a:latin typeface="Calibri" panose="020F0502020204030204" pitchFamily="34" charset="0"/>
                <a:cs typeface="Calibri" panose="020F0502020204030204" pitchFamily="34" charset="0"/>
              </a:rPr>
              <a:t>The molecule is raised from state </a:t>
            </a:r>
            <a:r>
              <a:rPr lang="en-GB" altLang="en-US" sz="2000" dirty="0" err="1">
                <a:latin typeface="Calibri" panose="020F0502020204030204" pitchFamily="34" charset="0"/>
                <a:cs typeface="Calibri" panose="020F0502020204030204" pitchFamily="34" charset="0"/>
              </a:rPr>
              <a:t>i</a:t>
            </a:r>
            <a:r>
              <a:rPr lang="en-GB" altLang="en-US" sz="2000" dirty="0">
                <a:latin typeface="Calibri" panose="020F0502020204030204" pitchFamily="34" charset="0"/>
                <a:cs typeface="Calibri" panose="020F0502020204030204" pitchFamily="34" charset="0"/>
              </a:rPr>
              <a:t> to a higher state f by absorbing a photon whose energy is equal to </a:t>
            </a:r>
          </a:p>
          <a:p>
            <a:pPr>
              <a:spcBef>
                <a:spcPct val="0"/>
              </a:spcBef>
            </a:pPr>
            <a:endParaRPr lang="en-GB" altLang="en-US" sz="2000" dirty="0">
              <a:latin typeface="Calibri" panose="020F0502020204030204" pitchFamily="34" charset="0"/>
              <a:cs typeface="Calibri" panose="020F0502020204030204" pitchFamily="34" charset="0"/>
            </a:endParaRPr>
          </a:p>
          <a:p>
            <a:pPr>
              <a:spcBef>
                <a:spcPct val="0"/>
              </a:spcBef>
            </a:pPr>
            <a:r>
              <a:rPr lang="en-GB" altLang="en-US" sz="2000" dirty="0">
                <a:latin typeface="Symbol" pitchFamily="2" charset="2"/>
              </a:rPr>
              <a:t></a:t>
            </a:r>
            <a:r>
              <a:rPr lang="en-GB" altLang="en-US" sz="2000" dirty="0">
                <a:latin typeface="Calibri" panose="020F0502020204030204" pitchFamily="34" charset="0"/>
                <a:cs typeface="Calibri" panose="020F0502020204030204" pitchFamily="34" charset="0"/>
              </a:rPr>
              <a:t>E   =  E</a:t>
            </a:r>
            <a:r>
              <a:rPr lang="en-GB" altLang="en-US" sz="2000" baseline="-25000" dirty="0">
                <a:latin typeface="Calibri" panose="020F0502020204030204" pitchFamily="34" charset="0"/>
                <a:cs typeface="Calibri" panose="020F0502020204030204" pitchFamily="34" charset="0"/>
              </a:rPr>
              <a:t>f</a:t>
            </a:r>
            <a:r>
              <a:rPr lang="en-GB" altLang="en-US" sz="2000" dirty="0">
                <a:latin typeface="Calibri" panose="020F0502020204030204" pitchFamily="34" charset="0"/>
                <a:cs typeface="Calibri" panose="020F0502020204030204" pitchFamily="34" charset="0"/>
              </a:rPr>
              <a:t> – E</a:t>
            </a:r>
            <a:r>
              <a:rPr lang="en-GB" altLang="en-US" sz="2000" baseline="-25000" dirty="0">
                <a:latin typeface="Calibri" panose="020F0502020204030204" pitchFamily="34" charset="0"/>
                <a:cs typeface="Calibri" panose="020F0502020204030204" pitchFamily="34" charset="0"/>
              </a:rPr>
              <a:t>i   </a:t>
            </a:r>
            <a:r>
              <a:rPr lang="en-GB" altLang="en-US" sz="2000" dirty="0">
                <a:latin typeface="Calibri" panose="020F0502020204030204" pitchFamily="34" charset="0"/>
                <a:cs typeface="Calibri" panose="020F0502020204030204" pitchFamily="34" charset="0"/>
              </a:rPr>
              <a:t>=  hv</a:t>
            </a:r>
          </a:p>
        </p:txBody>
      </p:sp>
      <p:cxnSp>
        <p:nvCxnSpPr>
          <p:cNvPr id="10" name="Straight Connector 9">
            <a:extLst>
              <a:ext uri="{FF2B5EF4-FFF2-40B4-BE49-F238E27FC236}">
                <a16:creationId xmlns:a16="http://schemas.microsoft.com/office/drawing/2014/main" id="{732BC12D-C7BB-0345-D189-21130D188D9B}"/>
              </a:ext>
            </a:extLst>
          </p:cNvPr>
          <p:cNvCxnSpPr/>
          <p:nvPr/>
        </p:nvCxnSpPr>
        <p:spPr>
          <a:xfrm>
            <a:off x="389464" y="4064000"/>
            <a:ext cx="10210803" cy="0"/>
          </a:xfrm>
          <a:prstGeom prst="line">
            <a:avLst/>
          </a:prstGeom>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305F3-9796-4569-3E56-6063048EE1DC}"/>
            </a:ext>
          </a:extLst>
        </p:cNvPr>
        <p:cNvGrpSpPr/>
        <p:nvPr/>
      </p:nvGrpSpPr>
      <p:grpSpPr>
        <a:xfrm>
          <a:off x="0" y="0"/>
          <a:ext cx="0" cy="0"/>
          <a:chOff x="0" y="0"/>
          <a:chExt cx="0" cy="0"/>
        </a:xfrm>
      </p:grpSpPr>
      <p:sp>
        <p:nvSpPr>
          <p:cNvPr id="41986" name="Rectangle 6">
            <a:extLst>
              <a:ext uri="{FF2B5EF4-FFF2-40B4-BE49-F238E27FC236}">
                <a16:creationId xmlns:a16="http://schemas.microsoft.com/office/drawing/2014/main" id="{5C5F5E54-E212-A617-EFF6-4C0157F2394E}"/>
              </a:ext>
            </a:extLst>
          </p:cNvPr>
          <p:cNvSpPr>
            <a:spLocks noChangeArrowheads="1"/>
          </p:cNvSpPr>
          <p:nvPr/>
        </p:nvSpPr>
        <p:spPr bwMode="auto">
          <a:xfrm>
            <a:off x="353369" y="1363772"/>
            <a:ext cx="10050045" cy="2923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9" tIns="45715" rIns="91429" bIns="45715">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eaLnBrk="1" hangingPunct="1">
              <a:spcBef>
                <a:spcPct val="0"/>
              </a:spcBef>
            </a:pPr>
            <a:r>
              <a:rPr lang="en-GB" altLang="en-US" sz="2000" dirty="0">
                <a:latin typeface="Calibri" panose="020F0502020204030204" pitchFamily="34" charset="0"/>
                <a:cs typeface="Calibri" panose="020F0502020204030204" pitchFamily="34" charset="0"/>
              </a:rPr>
              <a:t>For high energy radiation (&lt;UV) a molecule can only absorb radiant energy if the wavelength of the radiation corresponds to the difference between two of its energy levels</a:t>
            </a:r>
          </a:p>
          <a:p>
            <a:pPr eaLnBrk="1" hangingPunct="1">
              <a:spcBef>
                <a:spcPct val="0"/>
              </a:spcBef>
            </a:pPr>
            <a:endParaRPr lang="en-GB" altLang="en-US" sz="2000" dirty="0">
              <a:latin typeface="Calibri" panose="020F0502020204030204" pitchFamily="34" charset="0"/>
              <a:cs typeface="Calibri" panose="020F0502020204030204" pitchFamily="34" charset="0"/>
            </a:endParaRPr>
          </a:p>
          <a:p>
            <a:pPr eaLnBrk="1" hangingPunct="1">
              <a:spcBef>
                <a:spcPct val="0"/>
              </a:spcBef>
            </a:pPr>
            <a:endParaRPr lang="en-GB" altLang="en-US" sz="2000" dirty="0">
              <a:latin typeface="Calibri" panose="020F0502020204030204" pitchFamily="34" charset="0"/>
              <a:cs typeface="Calibri" panose="020F0502020204030204" pitchFamily="34" charset="0"/>
            </a:endParaRPr>
          </a:p>
          <a:p>
            <a:pPr eaLnBrk="1" hangingPunct="1">
              <a:spcBef>
                <a:spcPct val="0"/>
              </a:spcBef>
            </a:pPr>
            <a:endParaRPr lang="en-GB" altLang="en-US" sz="2000" dirty="0">
              <a:latin typeface="Calibri" panose="020F0502020204030204" pitchFamily="34" charset="0"/>
              <a:cs typeface="Calibri" panose="020F0502020204030204" pitchFamily="34" charset="0"/>
            </a:endParaRPr>
          </a:p>
          <a:p>
            <a:pPr eaLnBrk="1" hangingPunct="1">
              <a:spcBef>
                <a:spcPct val="0"/>
              </a:spcBef>
            </a:pPr>
            <a:r>
              <a:rPr lang="en-GB" altLang="en-US" sz="2000" dirty="0">
                <a:latin typeface="Calibri" panose="020F0502020204030204" pitchFamily="34" charset="0"/>
                <a:cs typeface="Calibri" panose="020F0502020204030204" pitchFamily="34" charset="0"/>
              </a:rPr>
              <a:t>For different molecules (of different composition and shape) the spacing between energy levels is different and so the absorption of radiant energy by molecules of differing structure occurs in different regions of the electromagnetic spectrum.</a:t>
            </a:r>
          </a:p>
          <a:p>
            <a:pPr eaLnBrk="1" hangingPunct="1">
              <a:spcBef>
                <a:spcPct val="0"/>
              </a:spcBef>
            </a:pPr>
            <a:endParaRPr lang="en-GB" altLang="en-US" sz="2400" dirty="0">
              <a:latin typeface="Times New Roman" panose="02020603050405020304" pitchFamily="18" charset="0"/>
            </a:endParaRPr>
          </a:p>
        </p:txBody>
      </p:sp>
      <p:graphicFrame>
        <p:nvGraphicFramePr>
          <p:cNvPr id="41987" name="Object 5">
            <a:extLst>
              <a:ext uri="{FF2B5EF4-FFF2-40B4-BE49-F238E27FC236}">
                <a16:creationId xmlns:a16="http://schemas.microsoft.com/office/drawing/2014/main" id="{7501CF27-4E31-8199-FF5C-0205C7E969E4}"/>
              </a:ext>
            </a:extLst>
          </p:cNvPr>
          <p:cNvGraphicFramePr>
            <a:graphicFrameLocks noChangeAspect="1"/>
          </p:cNvGraphicFramePr>
          <p:nvPr/>
        </p:nvGraphicFramePr>
        <p:xfrm>
          <a:off x="353369" y="2165672"/>
          <a:ext cx="1714500" cy="571500"/>
        </p:xfrm>
        <a:graphic>
          <a:graphicData uri="http://schemas.openxmlformats.org/presentationml/2006/ole">
            <mc:AlternateContent xmlns:mc="http://schemas.openxmlformats.org/markup-compatibility/2006">
              <mc:Choice xmlns:v="urn:schemas-microsoft-com:vml" Requires="v">
                <p:oleObj name="Equation" r:id="rId2" imgW="12293600" imgH="4102100" progId="Equation.DSMT4">
                  <p:embed/>
                </p:oleObj>
              </mc:Choice>
              <mc:Fallback>
                <p:oleObj name="Equation" r:id="rId2" imgW="12293600" imgH="4102100" progId="Equation.DSMT4">
                  <p:embed/>
                  <p:pic>
                    <p:nvPicPr>
                      <p:cNvPr id="41987" name="Object 5">
                        <a:extLst>
                          <a:ext uri="{FF2B5EF4-FFF2-40B4-BE49-F238E27FC236}">
                            <a16:creationId xmlns:a16="http://schemas.microsoft.com/office/drawing/2014/main" id="{9650958E-4D78-3734-6F1C-5E60EF30EC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369" y="2165672"/>
                        <a:ext cx="17145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Freeform 13">
            <a:extLst>
              <a:ext uri="{FF2B5EF4-FFF2-40B4-BE49-F238E27FC236}">
                <a16:creationId xmlns:a16="http://schemas.microsoft.com/office/drawing/2014/main" id="{D3BFFF8C-FEA3-6C56-B85D-615D9652046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03A51AB5-8224-0540-EE2D-951DC11F17C2}"/>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Energy Balance - why is there a gap?</a:t>
            </a:r>
          </a:p>
        </p:txBody>
      </p:sp>
      <p:sp>
        <p:nvSpPr>
          <p:cNvPr id="8" name="TextBox 7">
            <a:extLst>
              <a:ext uri="{FF2B5EF4-FFF2-40B4-BE49-F238E27FC236}">
                <a16:creationId xmlns:a16="http://schemas.microsoft.com/office/drawing/2014/main" id="{6F82358F-4E87-5C67-0B44-E7326CD34BDF}"/>
              </a:ext>
            </a:extLst>
          </p:cNvPr>
          <p:cNvSpPr txBox="1"/>
          <p:nvPr/>
        </p:nvSpPr>
        <p:spPr>
          <a:xfrm>
            <a:off x="353368" y="4287639"/>
            <a:ext cx="6287989" cy="2062103"/>
          </a:xfrm>
          <a:prstGeom prst="rect">
            <a:avLst/>
          </a:prstGeom>
          <a:noFill/>
        </p:spPr>
        <p:txBody>
          <a:bodyPr wrap="square">
            <a:spAutoFit/>
          </a:bodyPr>
          <a:lstStyle/>
          <a:p>
            <a:pPr>
              <a:spcBef>
                <a:spcPct val="0"/>
              </a:spcBef>
            </a:pPr>
            <a:r>
              <a:rPr lang="en-GB" altLang="en-US" sz="2800" b="1" dirty="0">
                <a:latin typeface="Calibri" panose="020F0502020204030204" pitchFamily="34" charset="0"/>
                <a:cs typeface="Calibri" panose="020F0502020204030204" pitchFamily="34" charset="0"/>
              </a:rPr>
              <a:t>Emission</a:t>
            </a:r>
          </a:p>
          <a:p>
            <a:pPr>
              <a:spcBef>
                <a:spcPct val="0"/>
              </a:spcBef>
            </a:pPr>
            <a:endParaRPr lang="en-GB" altLang="en-US" sz="2000" dirty="0">
              <a:latin typeface="Calibri" panose="020F0502020204030204" pitchFamily="34" charset="0"/>
              <a:cs typeface="Calibri" panose="020F0502020204030204" pitchFamily="34" charset="0"/>
            </a:endParaRPr>
          </a:p>
          <a:p>
            <a:pPr>
              <a:spcBef>
                <a:spcPct val="0"/>
              </a:spcBef>
            </a:pPr>
            <a:r>
              <a:rPr lang="en-GB" altLang="en-US" sz="2000" dirty="0">
                <a:latin typeface="Calibri" panose="020F0502020204030204" pitchFamily="34" charset="0"/>
                <a:cs typeface="Calibri" panose="020F0502020204030204" pitchFamily="34" charset="0"/>
              </a:rPr>
              <a:t>The molecule drops from a higher energy level or state to a lower energy state. It will emit a photon whose energy is</a:t>
            </a:r>
          </a:p>
          <a:p>
            <a:pPr>
              <a:spcBef>
                <a:spcPct val="0"/>
              </a:spcBef>
            </a:pPr>
            <a:r>
              <a:rPr lang="en-GB" altLang="en-US" sz="2000" dirty="0">
                <a:latin typeface="Calibri" panose="020F0502020204030204" pitchFamily="34" charset="0"/>
                <a:cs typeface="Calibri" panose="020F0502020204030204" pitchFamily="34" charset="0"/>
              </a:rPr>
              <a:t> </a:t>
            </a:r>
          </a:p>
          <a:p>
            <a:pPr>
              <a:spcBef>
                <a:spcPct val="0"/>
              </a:spcBef>
            </a:pPr>
            <a:r>
              <a:rPr lang="en-GB" altLang="en-US" sz="2000" dirty="0">
                <a:latin typeface="Symbol" pitchFamily="2" charset="2"/>
              </a:rPr>
              <a:t></a:t>
            </a:r>
            <a:r>
              <a:rPr lang="en-GB" altLang="en-US" sz="2000" dirty="0">
                <a:latin typeface="Calibri" panose="020F0502020204030204" pitchFamily="34" charset="0"/>
                <a:cs typeface="Calibri" panose="020F0502020204030204" pitchFamily="34" charset="0"/>
              </a:rPr>
              <a:t>E   =  E</a:t>
            </a:r>
            <a:r>
              <a:rPr lang="en-GB" altLang="en-US" sz="2000" baseline="-25000" dirty="0">
                <a:latin typeface="Calibri" panose="020F0502020204030204" pitchFamily="34" charset="0"/>
                <a:cs typeface="Calibri" panose="020F0502020204030204" pitchFamily="34" charset="0"/>
              </a:rPr>
              <a:t>i</a:t>
            </a:r>
            <a:r>
              <a:rPr lang="en-GB" altLang="en-US" sz="2000" dirty="0">
                <a:latin typeface="Calibri" panose="020F0502020204030204" pitchFamily="34" charset="0"/>
                <a:cs typeface="Calibri" panose="020F0502020204030204" pitchFamily="34" charset="0"/>
              </a:rPr>
              <a:t> – E</a:t>
            </a:r>
            <a:r>
              <a:rPr lang="en-GB" altLang="en-US" sz="2000" baseline="-25000" dirty="0">
                <a:latin typeface="Calibri" panose="020F0502020204030204" pitchFamily="34" charset="0"/>
                <a:cs typeface="Calibri" panose="020F0502020204030204" pitchFamily="34" charset="0"/>
              </a:rPr>
              <a:t>f   </a:t>
            </a:r>
            <a:r>
              <a:rPr lang="en-GB" altLang="en-US" sz="2000" dirty="0">
                <a:latin typeface="Calibri" panose="020F0502020204030204" pitchFamily="34" charset="0"/>
                <a:cs typeface="Calibri" panose="020F0502020204030204" pitchFamily="34" charset="0"/>
              </a:rPr>
              <a:t>=  hv</a:t>
            </a:r>
          </a:p>
        </p:txBody>
      </p:sp>
      <p:cxnSp>
        <p:nvCxnSpPr>
          <p:cNvPr id="10" name="Straight Connector 9">
            <a:extLst>
              <a:ext uri="{FF2B5EF4-FFF2-40B4-BE49-F238E27FC236}">
                <a16:creationId xmlns:a16="http://schemas.microsoft.com/office/drawing/2014/main" id="{5BCE58ED-5555-835A-3A39-0A212776A5B1}"/>
              </a:ext>
            </a:extLst>
          </p:cNvPr>
          <p:cNvCxnSpPr/>
          <p:nvPr/>
        </p:nvCxnSpPr>
        <p:spPr>
          <a:xfrm>
            <a:off x="389464" y="4064000"/>
            <a:ext cx="10210803" cy="0"/>
          </a:xfrm>
          <a:prstGeom prst="line">
            <a:avLst/>
          </a:prstGeom>
        </p:spPr>
        <p:style>
          <a:lnRef idx="3">
            <a:schemeClr val="accent2"/>
          </a:lnRef>
          <a:fillRef idx="0">
            <a:schemeClr val="accent2"/>
          </a:fillRef>
          <a:effectRef idx="2">
            <a:schemeClr val="accent2"/>
          </a:effectRef>
          <a:fontRef idx="minor">
            <a:schemeClr val="tx1"/>
          </a:fontRef>
        </p:style>
      </p:cxnSp>
      <p:pic>
        <p:nvPicPr>
          <p:cNvPr id="4" name="Picture 9">
            <a:extLst>
              <a:ext uri="{FF2B5EF4-FFF2-40B4-BE49-F238E27FC236}">
                <a16:creationId xmlns:a16="http://schemas.microsoft.com/office/drawing/2014/main" id="{A330A170-7C9D-8FB4-3EF3-8D4BFAF3A1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6132" y="4309053"/>
            <a:ext cx="3829622" cy="2062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89366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icture containing sky, ball&#10;&#10;Description automatically generated">
            <a:extLst>
              <a:ext uri="{FF2B5EF4-FFF2-40B4-BE49-F238E27FC236}">
                <a16:creationId xmlns:a16="http://schemas.microsoft.com/office/drawing/2014/main" id="{7D09BFC0-B802-4F1C-BBC8-D1D52D2A431B}"/>
              </a:ext>
            </a:extLst>
          </p:cNvPr>
          <p:cNvPicPr>
            <a:picLocks noChangeAspect="1"/>
          </p:cNvPicPr>
          <p:nvPr/>
        </p:nvPicPr>
        <p:blipFill>
          <a:blip r:embed="rId3">
            <a:extLst>
              <a:ext uri="{28A0092B-C50C-407E-A947-70E740481C1C}">
                <a14:useLocalDpi xmlns:a14="http://schemas.microsoft.com/office/drawing/2010/main" val="0"/>
              </a:ext>
            </a:extLst>
          </a:blip>
          <a:srcRect b="14092"/>
          <a:stretch/>
        </p:blipFill>
        <p:spPr>
          <a:xfrm>
            <a:off x="389463" y="2396901"/>
            <a:ext cx="6102195" cy="3931710"/>
          </a:xfrm>
          <a:prstGeom prst="rect">
            <a:avLst/>
          </a:prstGeom>
          <a:ln>
            <a:solidFill>
              <a:schemeClr val="tx1"/>
            </a:solidFill>
          </a:ln>
        </p:spPr>
      </p:pic>
      <p:sp>
        <p:nvSpPr>
          <p:cNvPr id="4" name="Freeform 13">
            <a:extLst>
              <a:ext uri="{FF2B5EF4-FFF2-40B4-BE49-F238E27FC236}">
                <a16:creationId xmlns:a16="http://schemas.microsoft.com/office/drawing/2014/main" id="{1C8E8E54-028C-E8AB-1925-2DE6BA71FCE1}"/>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BB7B5229-319A-55D3-166F-56F9386ACBC2}"/>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Energy Balance</a:t>
            </a:r>
          </a:p>
        </p:txBody>
      </p:sp>
      <p:sp>
        <p:nvSpPr>
          <p:cNvPr id="8" name="TextBox 7">
            <a:extLst>
              <a:ext uri="{FF2B5EF4-FFF2-40B4-BE49-F238E27FC236}">
                <a16:creationId xmlns:a16="http://schemas.microsoft.com/office/drawing/2014/main" id="{74F821A6-FBDF-F7DA-0348-AF473CD86808}"/>
              </a:ext>
            </a:extLst>
          </p:cNvPr>
          <p:cNvSpPr txBox="1"/>
          <p:nvPr/>
        </p:nvSpPr>
        <p:spPr>
          <a:xfrm>
            <a:off x="279311" y="1512283"/>
            <a:ext cx="9609756" cy="707886"/>
          </a:xfrm>
          <a:prstGeom prst="rect">
            <a:avLst/>
          </a:prstGeom>
          <a:noFill/>
        </p:spPr>
        <p:txBody>
          <a:bodyPr wrap="square">
            <a:spAutoFit/>
          </a:bodyPr>
          <a:lstStyle/>
          <a:p>
            <a:pPr eaLnBrk="1" hangingPunct="1">
              <a:spcBef>
                <a:spcPct val="0"/>
              </a:spcBef>
            </a:pPr>
            <a:r>
              <a:rPr lang="en-GB" altLang="en-US" sz="2000" dirty="0">
                <a:latin typeface="Calibri" panose="020F0502020204030204" pitchFamily="34" charset="0"/>
                <a:cs typeface="Calibri" panose="020F0502020204030204" pitchFamily="34" charset="0"/>
              </a:rPr>
              <a:t>For infrared radiation, there is not enough energy to change energy levels, instead molecules rotate, vibrate, stretch and bend, and then reradiate.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CE9C3-158C-2148-6DF6-FF12843B9A03}"/>
            </a:ext>
          </a:extLst>
        </p:cNvPr>
        <p:cNvGrpSpPr/>
        <p:nvPr/>
      </p:nvGrpSpPr>
      <p:grpSpPr>
        <a:xfrm>
          <a:off x="0" y="0"/>
          <a:ext cx="0" cy="0"/>
          <a:chOff x="0" y="0"/>
          <a:chExt cx="0" cy="0"/>
        </a:xfrm>
      </p:grpSpPr>
      <p:pic>
        <p:nvPicPr>
          <p:cNvPr id="25602" name="Picture 9">
            <a:extLst>
              <a:ext uri="{FF2B5EF4-FFF2-40B4-BE49-F238E27FC236}">
                <a16:creationId xmlns:a16="http://schemas.microsoft.com/office/drawing/2014/main" id="{F86FA2C0-1C2B-D9ED-CE9C-37F010C346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862" y="1273997"/>
            <a:ext cx="7893844"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reeform 13">
            <a:extLst>
              <a:ext uri="{FF2B5EF4-FFF2-40B4-BE49-F238E27FC236}">
                <a16:creationId xmlns:a16="http://schemas.microsoft.com/office/drawing/2014/main" id="{00C0FE34-22A8-95F1-A2F2-6854F77E0BC5}"/>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4" name="TextBox 3">
            <a:extLst>
              <a:ext uri="{FF2B5EF4-FFF2-40B4-BE49-F238E27FC236}">
                <a16:creationId xmlns:a16="http://schemas.microsoft.com/office/drawing/2014/main" id="{0FAA90EF-0348-8B59-0AC0-37693A9E61CF}"/>
              </a:ext>
            </a:extLst>
          </p:cNvPr>
          <p:cNvSpPr txBox="1"/>
          <p:nvPr/>
        </p:nvSpPr>
        <p:spPr>
          <a:xfrm>
            <a:off x="8006706" y="2259929"/>
            <a:ext cx="3735635" cy="2862322"/>
          </a:xfrm>
          <a:prstGeom prst="rect">
            <a:avLst/>
          </a:prstGeom>
          <a:noFill/>
        </p:spPr>
        <p:txBody>
          <a:bodyPr wrap="square">
            <a:spAutoFit/>
          </a:bodyPr>
          <a:lstStyle/>
          <a:p>
            <a:pPr eaLnBrk="1" hangingPunct="1">
              <a:spcBef>
                <a:spcPct val="0"/>
              </a:spcBef>
            </a:pPr>
            <a:r>
              <a:rPr lang="en-US" altLang="en-US" sz="2000" dirty="0">
                <a:latin typeface="Calibri" panose="020F0502020204030204" pitchFamily="34" charset="0"/>
                <a:cs typeface="Calibri" panose="020F0502020204030204" pitchFamily="34" charset="0"/>
              </a:rPr>
              <a:t>At sea level atmospheric gases have removed sections of the spectrum according to their absorption bands.</a:t>
            </a:r>
          </a:p>
          <a:p>
            <a:pPr eaLnBrk="1" hangingPunct="1">
              <a:spcBef>
                <a:spcPct val="0"/>
              </a:spcBef>
            </a:pPr>
            <a:endParaRPr lang="en-US" altLang="en-US" sz="2000" dirty="0">
              <a:latin typeface="Calibri" panose="020F0502020204030204" pitchFamily="34" charset="0"/>
              <a:cs typeface="Calibri" panose="020F0502020204030204" pitchFamily="34" charset="0"/>
            </a:endParaRPr>
          </a:p>
          <a:p>
            <a:pPr eaLnBrk="1" hangingPunct="1">
              <a:spcBef>
                <a:spcPct val="0"/>
              </a:spcBef>
            </a:pPr>
            <a:r>
              <a:rPr lang="en-US" altLang="en-US" sz="2000" dirty="0">
                <a:latin typeface="Calibri" panose="020F0502020204030204" pitchFamily="34" charset="0"/>
                <a:cs typeface="Calibri" panose="020F0502020204030204" pitchFamily="34" charset="0"/>
              </a:rPr>
              <a:t>Note especially the strong absorption of infrared radiation by water </a:t>
            </a:r>
            <a:r>
              <a:rPr lang="en-US" altLang="en-US" sz="2000" dirty="0" err="1">
                <a:latin typeface="Calibri" panose="020F0502020204030204" pitchFamily="34" charset="0"/>
                <a:cs typeface="Calibri" panose="020F0502020204030204" pitchFamily="34" charset="0"/>
              </a:rPr>
              <a:t>vapour</a:t>
            </a:r>
            <a:r>
              <a:rPr lang="en-US" altLang="en-US" sz="2000" dirty="0">
                <a:latin typeface="Calibri" panose="020F0502020204030204" pitchFamily="34" charset="0"/>
                <a:cs typeface="Calibri" panose="020F0502020204030204" pitchFamily="34" charset="0"/>
              </a:rPr>
              <a:t> and carbon dioxide.</a:t>
            </a:r>
          </a:p>
        </p:txBody>
      </p:sp>
      <p:sp>
        <p:nvSpPr>
          <p:cNvPr id="3" name="TextBox 14">
            <a:extLst>
              <a:ext uri="{FF2B5EF4-FFF2-40B4-BE49-F238E27FC236}">
                <a16:creationId xmlns:a16="http://schemas.microsoft.com/office/drawing/2014/main" id="{EBC6C22D-9CD6-25C2-3396-6DC40AE67B39}"/>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Energy Balance - Key Gasses</a:t>
            </a:r>
          </a:p>
        </p:txBody>
      </p:sp>
    </p:spTree>
    <p:extLst>
      <p:ext uri="{BB962C8B-B14F-4D97-AF65-F5344CB8AC3E}">
        <p14:creationId xmlns:p14="http://schemas.microsoft.com/office/powerpoint/2010/main" val="537480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4" descr="A picture containing chart&#10;&#10;Description automatically generated">
            <a:extLst>
              <a:ext uri="{FF2B5EF4-FFF2-40B4-BE49-F238E27FC236}">
                <a16:creationId xmlns:a16="http://schemas.microsoft.com/office/drawing/2014/main" id="{DC8182D7-B86B-6E26-8604-0911EE618F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464" y="1426396"/>
            <a:ext cx="7695718" cy="489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4">
            <a:extLst>
              <a:ext uri="{FF2B5EF4-FFF2-40B4-BE49-F238E27FC236}">
                <a16:creationId xmlns:a16="http://schemas.microsoft.com/office/drawing/2014/main" id="{CF6207CA-F980-7462-D193-0D061FF0EFED}"/>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Energy Balance</a:t>
            </a:r>
          </a:p>
        </p:txBody>
      </p:sp>
      <p:sp>
        <p:nvSpPr>
          <p:cNvPr id="3" name="Freeform 13">
            <a:extLst>
              <a:ext uri="{FF2B5EF4-FFF2-40B4-BE49-F238E27FC236}">
                <a16:creationId xmlns:a16="http://schemas.microsoft.com/office/drawing/2014/main" id="{94876D69-0B74-EFDF-5FA1-0A439776401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23B78-3488-0AD7-A914-93B24291F0F4}"/>
            </a:ext>
          </a:extLst>
        </p:cNvPr>
        <p:cNvGrpSpPr/>
        <p:nvPr/>
      </p:nvGrpSpPr>
      <p:grpSpPr>
        <a:xfrm>
          <a:off x="0" y="0"/>
          <a:ext cx="0" cy="0"/>
          <a:chOff x="0" y="0"/>
          <a:chExt cx="0" cy="0"/>
        </a:xfrm>
      </p:grpSpPr>
      <p:sp>
        <p:nvSpPr>
          <p:cNvPr id="139266" name="Rectangle 2">
            <a:extLst>
              <a:ext uri="{FF2B5EF4-FFF2-40B4-BE49-F238E27FC236}">
                <a16:creationId xmlns:a16="http://schemas.microsoft.com/office/drawing/2014/main" id="{630C0DCD-6602-2B05-C629-53EDDA7DBCD4}"/>
              </a:ext>
            </a:extLst>
          </p:cNvPr>
          <p:cNvSpPr>
            <a:spLocks noChangeArrowheads="1"/>
          </p:cNvSpPr>
          <p:nvPr/>
        </p:nvSpPr>
        <p:spPr bwMode="auto">
          <a:xfrm>
            <a:off x="422275" y="1417698"/>
            <a:ext cx="8531225" cy="4324350"/>
          </a:xfrm>
          <a:prstGeom prst="rect">
            <a:avLst/>
          </a:prstGeom>
          <a:solidFill>
            <a:srgbClr val="FFFF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139267" name="Rectangle 3">
            <a:extLst>
              <a:ext uri="{FF2B5EF4-FFF2-40B4-BE49-F238E27FC236}">
                <a16:creationId xmlns:a16="http://schemas.microsoft.com/office/drawing/2014/main" id="{354CA7AB-EBDD-AA37-0612-F59720564DA6}"/>
              </a:ext>
            </a:extLst>
          </p:cNvPr>
          <p:cNvSpPr>
            <a:spLocks noChangeArrowheads="1"/>
          </p:cNvSpPr>
          <p:nvPr/>
        </p:nvSpPr>
        <p:spPr bwMode="auto">
          <a:xfrm>
            <a:off x="415925" y="3544948"/>
            <a:ext cx="8537575" cy="227806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a:latin typeface="Times New Roman" panose="02020603050405020304" pitchFamily="18" charset="0"/>
            </a:endParaRPr>
          </a:p>
        </p:txBody>
      </p:sp>
      <p:sp>
        <p:nvSpPr>
          <p:cNvPr id="139268" name="Freeform 4">
            <a:extLst>
              <a:ext uri="{FF2B5EF4-FFF2-40B4-BE49-F238E27FC236}">
                <a16:creationId xmlns:a16="http://schemas.microsoft.com/office/drawing/2014/main" id="{AD268640-A3EE-EFB6-3933-49755B5414CE}"/>
              </a:ext>
            </a:extLst>
          </p:cNvPr>
          <p:cNvSpPr>
            <a:spLocks/>
          </p:cNvSpPr>
          <p:nvPr/>
        </p:nvSpPr>
        <p:spPr bwMode="auto">
          <a:xfrm>
            <a:off x="407988" y="5591236"/>
            <a:ext cx="8534400" cy="800100"/>
          </a:xfrm>
          <a:custGeom>
            <a:avLst/>
            <a:gdLst>
              <a:gd name="T0" fmla="*/ 2147483646 w 4189"/>
              <a:gd name="T1" fmla="*/ 2147483646 h 534"/>
              <a:gd name="T2" fmla="*/ 2147483646 w 4189"/>
              <a:gd name="T3" fmla="*/ 2147483646 h 534"/>
              <a:gd name="T4" fmla="*/ 0 w 4189"/>
              <a:gd name="T5" fmla="*/ 2147483646 h 534"/>
              <a:gd name="T6" fmla="*/ 0 w 4189"/>
              <a:gd name="T7" fmla="*/ 2147483646 h 534"/>
              <a:gd name="T8" fmla="*/ 0 w 4189"/>
              <a:gd name="T9" fmla="*/ 2147483646 h 534"/>
              <a:gd name="T10" fmla="*/ 2147483646 w 4189"/>
              <a:gd name="T11" fmla="*/ 2147483646 h 534"/>
              <a:gd name="T12" fmla="*/ 2147483646 w 4189"/>
              <a:gd name="T13" fmla="*/ 2147483646 h 534"/>
              <a:gd name="T14" fmla="*/ 2147483646 w 4189"/>
              <a:gd name="T15" fmla="*/ 2147483646 h 534"/>
              <a:gd name="T16" fmla="*/ 2147483646 w 4189"/>
              <a:gd name="T17" fmla="*/ 2147483646 h 534"/>
              <a:gd name="T18" fmla="*/ 2147483646 w 4189"/>
              <a:gd name="T19" fmla="*/ 2147483646 h 534"/>
              <a:gd name="T20" fmla="*/ 2147483646 w 4189"/>
              <a:gd name="T21" fmla="*/ 2147483646 h 534"/>
              <a:gd name="T22" fmla="*/ 2147483646 w 4189"/>
              <a:gd name="T23" fmla="*/ 2147483646 h 534"/>
              <a:gd name="T24" fmla="*/ 2147483646 w 4189"/>
              <a:gd name="T25" fmla="*/ 2147483646 h 534"/>
              <a:gd name="T26" fmla="*/ 2147483646 w 4189"/>
              <a:gd name="T27" fmla="*/ 2147483646 h 534"/>
              <a:gd name="T28" fmla="*/ 2147483646 w 4189"/>
              <a:gd name="T29" fmla="*/ 2147483646 h 534"/>
              <a:gd name="T30" fmla="*/ 2147483646 w 4189"/>
              <a:gd name="T31" fmla="*/ 2147483646 h 534"/>
              <a:gd name="T32" fmla="*/ 2147483646 w 4189"/>
              <a:gd name="T33" fmla="*/ 2147483646 h 534"/>
              <a:gd name="T34" fmla="*/ 2147483646 w 4189"/>
              <a:gd name="T35" fmla="*/ 2147483646 h 534"/>
              <a:gd name="T36" fmla="*/ 2147483646 w 4189"/>
              <a:gd name="T37" fmla="*/ 2147483646 h 534"/>
              <a:gd name="T38" fmla="*/ 2147483646 w 4189"/>
              <a:gd name="T39" fmla="*/ 0 h 534"/>
              <a:gd name="T40" fmla="*/ 2147483646 w 4189"/>
              <a:gd name="T41" fmla="*/ 0 h 534"/>
              <a:gd name="T42" fmla="*/ 2147483646 w 4189"/>
              <a:gd name="T43" fmla="*/ 0 h 534"/>
              <a:gd name="T44" fmla="*/ 2147483646 w 4189"/>
              <a:gd name="T45" fmla="*/ 2147483646 h 534"/>
              <a:gd name="T46" fmla="*/ 2147483646 w 4189"/>
              <a:gd name="T47" fmla="*/ 2147483646 h 534"/>
              <a:gd name="T48" fmla="*/ 2147483646 w 4189"/>
              <a:gd name="T49" fmla="*/ 2147483646 h 534"/>
              <a:gd name="T50" fmla="*/ 2147483646 w 4189"/>
              <a:gd name="T51" fmla="*/ 2147483646 h 534"/>
              <a:gd name="T52" fmla="*/ 2147483646 w 4189"/>
              <a:gd name="T53" fmla="*/ 2147483646 h 534"/>
              <a:gd name="T54" fmla="*/ 2147483646 w 4189"/>
              <a:gd name="T55" fmla="*/ 2147483646 h 534"/>
              <a:gd name="T56" fmla="*/ 2147483646 w 4189"/>
              <a:gd name="T57" fmla="*/ 2147483646 h 534"/>
              <a:gd name="T58" fmla="*/ 2147483646 w 4189"/>
              <a:gd name="T59" fmla="*/ 2147483646 h 534"/>
              <a:gd name="T60" fmla="*/ 2147483646 w 4189"/>
              <a:gd name="T61" fmla="*/ 2147483646 h 534"/>
              <a:gd name="T62" fmla="*/ 2147483646 w 4189"/>
              <a:gd name="T63" fmla="*/ 2147483646 h 534"/>
              <a:gd name="T64" fmla="*/ 2147483646 w 4189"/>
              <a:gd name="T65" fmla="*/ 2147483646 h 534"/>
              <a:gd name="T66" fmla="*/ 2147483646 w 4189"/>
              <a:gd name="T67" fmla="*/ 2147483646 h 534"/>
              <a:gd name="T68" fmla="*/ 2147483646 w 4189"/>
              <a:gd name="T69" fmla="*/ 2147483646 h 534"/>
              <a:gd name="T70" fmla="*/ 2147483646 w 4189"/>
              <a:gd name="T71" fmla="*/ 2147483646 h 534"/>
              <a:gd name="T72" fmla="*/ 2147483646 w 4189"/>
              <a:gd name="T73" fmla="*/ 2147483646 h 534"/>
              <a:gd name="T74" fmla="*/ 2147483646 w 4189"/>
              <a:gd name="T75" fmla="*/ 2147483646 h 5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189"/>
              <a:gd name="T115" fmla="*/ 0 h 534"/>
              <a:gd name="T116" fmla="*/ 4189 w 4189"/>
              <a:gd name="T117" fmla="*/ 534 h 5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189" h="534">
                <a:moveTo>
                  <a:pt x="4188" y="112"/>
                </a:moveTo>
                <a:lnTo>
                  <a:pt x="4188" y="533"/>
                </a:lnTo>
                <a:lnTo>
                  <a:pt x="0" y="533"/>
                </a:lnTo>
                <a:lnTo>
                  <a:pt x="0" y="112"/>
                </a:lnTo>
                <a:lnTo>
                  <a:pt x="0" y="97"/>
                </a:lnTo>
                <a:lnTo>
                  <a:pt x="108" y="86"/>
                </a:lnTo>
                <a:lnTo>
                  <a:pt x="219" y="75"/>
                </a:lnTo>
                <a:lnTo>
                  <a:pt x="334" y="65"/>
                </a:lnTo>
                <a:lnTo>
                  <a:pt x="453" y="56"/>
                </a:lnTo>
                <a:lnTo>
                  <a:pt x="574" y="48"/>
                </a:lnTo>
                <a:lnTo>
                  <a:pt x="699" y="40"/>
                </a:lnTo>
                <a:lnTo>
                  <a:pt x="826" y="32"/>
                </a:lnTo>
                <a:lnTo>
                  <a:pt x="956" y="25"/>
                </a:lnTo>
                <a:lnTo>
                  <a:pt x="1089" y="20"/>
                </a:lnTo>
                <a:lnTo>
                  <a:pt x="1222" y="15"/>
                </a:lnTo>
                <a:lnTo>
                  <a:pt x="1358" y="11"/>
                </a:lnTo>
                <a:lnTo>
                  <a:pt x="1496" y="7"/>
                </a:lnTo>
                <a:lnTo>
                  <a:pt x="1634" y="4"/>
                </a:lnTo>
                <a:lnTo>
                  <a:pt x="1774" y="2"/>
                </a:lnTo>
                <a:lnTo>
                  <a:pt x="1914" y="0"/>
                </a:lnTo>
                <a:lnTo>
                  <a:pt x="2055" y="0"/>
                </a:lnTo>
                <a:lnTo>
                  <a:pt x="2197" y="0"/>
                </a:lnTo>
                <a:lnTo>
                  <a:pt x="2338" y="1"/>
                </a:lnTo>
                <a:lnTo>
                  <a:pt x="2479" y="2"/>
                </a:lnTo>
                <a:lnTo>
                  <a:pt x="2620" y="5"/>
                </a:lnTo>
                <a:lnTo>
                  <a:pt x="2760" y="8"/>
                </a:lnTo>
                <a:lnTo>
                  <a:pt x="2899" y="12"/>
                </a:lnTo>
                <a:lnTo>
                  <a:pt x="3037" y="16"/>
                </a:lnTo>
                <a:lnTo>
                  <a:pt x="3174" y="22"/>
                </a:lnTo>
                <a:lnTo>
                  <a:pt x="3309" y="29"/>
                </a:lnTo>
                <a:lnTo>
                  <a:pt x="3442" y="36"/>
                </a:lnTo>
                <a:lnTo>
                  <a:pt x="3573" y="44"/>
                </a:lnTo>
                <a:lnTo>
                  <a:pt x="3702" y="53"/>
                </a:lnTo>
                <a:lnTo>
                  <a:pt x="3828" y="63"/>
                </a:lnTo>
                <a:lnTo>
                  <a:pt x="3951" y="73"/>
                </a:lnTo>
                <a:lnTo>
                  <a:pt x="4071" y="85"/>
                </a:lnTo>
                <a:lnTo>
                  <a:pt x="4188" y="97"/>
                </a:lnTo>
                <a:lnTo>
                  <a:pt x="4188" y="112"/>
                </a:lnTo>
              </a:path>
            </a:pathLst>
          </a:custGeom>
          <a:solidFill>
            <a:srgbClr val="40F2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139269" name="Freeform 5">
            <a:extLst>
              <a:ext uri="{FF2B5EF4-FFF2-40B4-BE49-F238E27FC236}">
                <a16:creationId xmlns:a16="http://schemas.microsoft.com/office/drawing/2014/main" id="{4BD084F0-BBB5-DBFF-E3D7-4AFF77AB3DD3}"/>
              </a:ext>
            </a:extLst>
          </p:cNvPr>
          <p:cNvSpPr>
            <a:spLocks/>
          </p:cNvSpPr>
          <p:nvPr/>
        </p:nvSpPr>
        <p:spPr bwMode="auto">
          <a:xfrm>
            <a:off x="407988" y="5594411"/>
            <a:ext cx="8535987" cy="800100"/>
          </a:xfrm>
          <a:custGeom>
            <a:avLst/>
            <a:gdLst>
              <a:gd name="T0" fmla="*/ 2147483646 w 4189"/>
              <a:gd name="T1" fmla="*/ 2147483646 h 534"/>
              <a:gd name="T2" fmla="*/ 2147483646 w 4189"/>
              <a:gd name="T3" fmla="*/ 2147483646 h 534"/>
              <a:gd name="T4" fmla="*/ 0 w 4189"/>
              <a:gd name="T5" fmla="*/ 2147483646 h 534"/>
              <a:gd name="T6" fmla="*/ 0 w 4189"/>
              <a:gd name="T7" fmla="*/ 2147483646 h 534"/>
              <a:gd name="T8" fmla="*/ 0 w 4189"/>
              <a:gd name="T9" fmla="*/ 2147483646 h 534"/>
              <a:gd name="T10" fmla="*/ 2147483646 w 4189"/>
              <a:gd name="T11" fmla="*/ 2147483646 h 534"/>
              <a:gd name="T12" fmla="*/ 2147483646 w 4189"/>
              <a:gd name="T13" fmla="*/ 2147483646 h 534"/>
              <a:gd name="T14" fmla="*/ 2147483646 w 4189"/>
              <a:gd name="T15" fmla="*/ 2147483646 h 534"/>
              <a:gd name="T16" fmla="*/ 2147483646 w 4189"/>
              <a:gd name="T17" fmla="*/ 2147483646 h 534"/>
              <a:gd name="T18" fmla="*/ 2147483646 w 4189"/>
              <a:gd name="T19" fmla="*/ 2147483646 h 534"/>
              <a:gd name="T20" fmla="*/ 2147483646 w 4189"/>
              <a:gd name="T21" fmla="*/ 2147483646 h 534"/>
              <a:gd name="T22" fmla="*/ 2147483646 w 4189"/>
              <a:gd name="T23" fmla="*/ 2147483646 h 534"/>
              <a:gd name="T24" fmla="*/ 2147483646 w 4189"/>
              <a:gd name="T25" fmla="*/ 2147483646 h 534"/>
              <a:gd name="T26" fmla="*/ 2147483646 w 4189"/>
              <a:gd name="T27" fmla="*/ 2147483646 h 534"/>
              <a:gd name="T28" fmla="*/ 2147483646 w 4189"/>
              <a:gd name="T29" fmla="*/ 2147483646 h 534"/>
              <a:gd name="T30" fmla="*/ 2147483646 w 4189"/>
              <a:gd name="T31" fmla="*/ 2147483646 h 534"/>
              <a:gd name="T32" fmla="*/ 2147483646 w 4189"/>
              <a:gd name="T33" fmla="*/ 2147483646 h 534"/>
              <a:gd name="T34" fmla="*/ 2147483646 w 4189"/>
              <a:gd name="T35" fmla="*/ 2147483646 h 534"/>
              <a:gd name="T36" fmla="*/ 2147483646 w 4189"/>
              <a:gd name="T37" fmla="*/ 2147483646 h 534"/>
              <a:gd name="T38" fmla="*/ 2147483646 w 4189"/>
              <a:gd name="T39" fmla="*/ 0 h 534"/>
              <a:gd name="T40" fmla="*/ 2147483646 w 4189"/>
              <a:gd name="T41" fmla="*/ 0 h 534"/>
              <a:gd name="T42" fmla="*/ 2147483646 w 4189"/>
              <a:gd name="T43" fmla="*/ 0 h 534"/>
              <a:gd name="T44" fmla="*/ 2147483646 w 4189"/>
              <a:gd name="T45" fmla="*/ 2147483646 h 534"/>
              <a:gd name="T46" fmla="*/ 2147483646 w 4189"/>
              <a:gd name="T47" fmla="*/ 2147483646 h 534"/>
              <a:gd name="T48" fmla="*/ 2147483646 w 4189"/>
              <a:gd name="T49" fmla="*/ 2147483646 h 534"/>
              <a:gd name="T50" fmla="*/ 2147483646 w 4189"/>
              <a:gd name="T51" fmla="*/ 2147483646 h 534"/>
              <a:gd name="T52" fmla="*/ 2147483646 w 4189"/>
              <a:gd name="T53" fmla="*/ 2147483646 h 534"/>
              <a:gd name="T54" fmla="*/ 2147483646 w 4189"/>
              <a:gd name="T55" fmla="*/ 2147483646 h 534"/>
              <a:gd name="T56" fmla="*/ 2147483646 w 4189"/>
              <a:gd name="T57" fmla="*/ 2147483646 h 534"/>
              <a:gd name="T58" fmla="*/ 2147483646 w 4189"/>
              <a:gd name="T59" fmla="*/ 2147483646 h 534"/>
              <a:gd name="T60" fmla="*/ 2147483646 w 4189"/>
              <a:gd name="T61" fmla="*/ 2147483646 h 534"/>
              <a:gd name="T62" fmla="*/ 2147483646 w 4189"/>
              <a:gd name="T63" fmla="*/ 2147483646 h 534"/>
              <a:gd name="T64" fmla="*/ 2147483646 w 4189"/>
              <a:gd name="T65" fmla="*/ 2147483646 h 534"/>
              <a:gd name="T66" fmla="*/ 2147483646 w 4189"/>
              <a:gd name="T67" fmla="*/ 2147483646 h 534"/>
              <a:gd name="T68" fmla="*/ 2147483646 w 4189"/>
              <a:gd name="T69" fmla="*/ 2147483646 h 534"/>
              <a:gd name="T70" fmla="*/ 2147483646 w 4189"/>
              <a:gd name="T71" fmla="*/ 2147483646 h 534"/>
              <a:gd name="T72" fmla="*/ 2147483646 w 4189"/>
              <a:gd name="T73" fmla="*/ 2147483646 h 534"/>
              <a:gd name="T74" fmla="*/ 2147483646 w 4189"/>
              <a:gd name="T75" fmla="*/ 2147483646 h 5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189"/>
              <a:gd name="T115" fmla="*/ 0 h 534"/>
              <a:gd name="T116" fmla="*/ 4189 w 4189"/>
              <a:gd name="T117" fmla="*/ 534 h 5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189" h="534">
                <a:moveTo>
                  <a:pt x="4188" y="112"/>
                </a:moveTo>
                <a:lnTo>
                  <a:pt x="4188" y="533"/>
                </a:lnTo>
                <a:lnTo>
                  <a:pt x="0" y="533"/>
                </a:lnTo>
                <a:lnTo>
                  <a:pt x="0" y="112"/>
                </a:lnTo>
                <a:lnTo>
                  <a:pt x="0" y="97"/>
                </a:lnTo>
                <a:lnTo>
                  <a:pt x="108" y="86"/>
                </a:lnTo>
                <a:lnTo>
                  <a:pt x="219" y="75"/>
                </a:lnTo>
                <a:lnTo>
                  <a:pt x="334" y="65"/>
                </a:lnTo>
                <a:lnTo>
                  <a:pt x="453" y="56"/>
                </a:lnTo>
                <a:lnTo>
                  <a:pt x="574" y="48"/>
                </a:lnTo>
                <a:lnTo>
                  <a:pt x="699" y="40"/>
                </a:lnTo>
                <a:lnTo>
                  <a:pt x="826" y="32"/>
                </a:lnTo>
                <a:lnTo>
                  <a:pt x="956" y="25"/>
                </a:lnTo>
                <a:lnTo>
                  <a:pt x="1089" y="20"/>
                </a:lnTo>
                <a:lnTo>
                  <a:pt x="1222" y="15"/>
                </a:lnTo>
                <a:lnTo>
                  <a:pt x="1358" y="11"/>
                </a:lnTo>
                <a:lnTo>
                  <a:pt x="1496" y="7"/>
                </a:lnTo>
                <a:lnTo>
                  <a:pt x="1634" y="4"/>
                </a:lnTo>
                <a:lnTo>
                  <a:pt x="1774" y="2"/>
                </a:lnTo>
                <a:lnTo>
                  <a:pt x="1914" y="0"/>
                </a:lnTo>
                <a:lnTo>
                  <a:pt x="2055" y="0"/>
                </a:lnTo>
                <a:lnTo>
                  <a:pt x="2197" y="0"/>
                </a:lnTo>
                <a:lnTo>
                  <a:pt x="2338" y="1"/>
                </a:lnTo>
                <a:lnTo>
                  <a:pt x="2479" y="2"/>
                </a:lnTo>
                <a:lnTo>
                  <a:pt x="2620" y="5"/>
                </a:lnTo>
                <a:lnTo>
                  <a:pt x="2760" y="8"/>
                </a:lnTo>
                <a:lnTo>
                  <a:pt x="2899" y="12"/>
                </a:lnTo>
                <a:lnTo>
                  <a:pt x="3037" y="16"/>
                </a:lnTo>
                <a:lnTo>
                  <a:pt x="3174" y="22"/>
                </a:lnTo>
                <a:lnTo>
                  <a:pt x="3309" y="29"/>
                </a:lnTo>
                <a:lnTo>
                  <a:pt x="3442" y="36"/>
                </a:lnTo>
                <a:lnTo>
                  <a:pt x="3573" y="44"/>
                </a:lnTo>
                <a:lnTo>
                  <a:pt x="3702" y="53"/>
                </a:lnTo>
                <a:lnTo>
                  <a:pt x="3828" y="63"/>
                </a:lnTo>
                <a:lnTo>
                  <a:pt x="3951" y="73"/>
                </a:lnTo>
                <a:lnTo>
                  <a:pt x="4071" y="85"/>
                </a:lnTo>
                <a:lnTo>
                  <a:pt x="4188" y="97"/>
                </a:lnTo>
                <a:lnTo>
                  <a:pt x="4188" y="112"/>
                </a:lnTo>
              </a:path>
            </a:pathLst>
          </a:custGeom>
          <a:solidFill>
            <a:srgbClr val="FFCC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nvGrpSpPr>
          <p:cNvPr id="2" name="Group 6">
            <a:extLst>
              <a:ext uri="{FF2B5EF4-FFF2-40B4-BE49-F238E27FC236}">
                <a16:creationId xmlns:a16="http://schemas.microsoft.com/office/drawing/2014/main" id="{A8269745-25E1-A2F3-8A38-582F5EC97D55}"/>
              </a:ext>
            </a:extLst>
          </p:cNvPr>
          <p:cNvGrpSpPr>
            <a:grpSpLocks/>
          </p:cNvGrpSpPr>
          <p:nvPr/>
        </p:nvGrpSpPr>
        <p:grpSpPr bwMode="auto">
          <a:xfrm>
            <a:off x="3454400" y="3238561"/>
            <a:ext cx="1220788" cy="2379662"/>
            <a:chOff x="2679" y="1951"/>
            <a:chExt cx="952" cy="1748"/>
          </a:xfrm>
        </p:grpSpPr>
        <p:sp>
          <p:nvSpPr>
            <p:cNvPr id="22828" name="Freeform 7">
              <a:extLst>
                <a:ext uri="{FF2B5EF4-FFF2-40B4-BE49-F238E27FC236}">
                  <a16:creationId xmlns:a16="http://schemas.microsoft.com/office/drawing/2014/main" id="{A10D3A07-5055-FBCA-754B-3849AE0C9984}"/>
                </a:ext>
              </a:extLst>
            </p:cNvPr>
            <p:cNvSpPr>
              <a:spLocks/>
            </p:cNvSpPr>
            <p:nvPr/>
          </p:nvSpPr>
          <p:spPr bwMode="auto">
            <a:xfrm>
              <a:off x="3500" y="2022"/>
              <a:ext cx="131" cy="77"/>
            </a:xfrm>
            <a:custGeom>
              <a:avLst/>
              <a:gdLst>
                <a:gd name="T0" fmla="*/ 2480706 w 80"/>
                <a:gd name="T1" fmla="*/ 918 h 68"/>
                <a:gd name="T2" fmla="*/ 2415525 w 80"/>
                <a:gd name="T3" fmla="*/ 734 h 68"/>
                <a:gd name="T4" fmla="*/ 2134954 w 80"/>
                <a:gd name="T5" fmla="*/ 610 h 68"/>
                <a:gd name="T6" fmla="*/ 1727965 w 80"/>
                <a:gd name="T7" fmla="*/ 493 h 68"/>
                <a:gd name="T8" fmla="*/ 1325320 w 80"/>
                <a:gd name="T9" fmla="*/ 384 h 68"/>
                <a:gd name="T10" fmla="*/ 880220 w 80"/>
                <a:gd name="T11" fmla="*/ 293 h 68"/>
                <a:gd name="T12" fmla="*/ 550133 w 80"/>
                <a:gd name="T13" fmla="*/ 186 h 68"/>
                <a:gd name="T14" fmla="*/ 402943 w 80"/>
                <a:gd name="T15" fmla="*/ 100 h 68"/>
                <a:gd name="T16" fmla="*/ 402943 w 80"/>
                <a:gd name="T17" fmla="*/ 88 h 68"/>
                <a:gd name="T18" fmla="*/ 34225 w 80"/>
                <a:gd name="T19" fmla="*/ 0 h 68"/>
                <a:gd name="T20" fmla="*/ 0 w 80"/>
                <a:gd name="T21" fmla="*/ 186 h 68"/>
                <a:gd name="T22" fmla="*/ 293974 w 80"/>
                <a:gd name="T23" fmla="*/ 332 h 68"/>
                <a:gd name="T24" fmla="*/ 695772 w 80"/>
                <a:gd name="T25" fmla="*/ 446 h 68"/>
                <a:gd name="T26" fmla="*/ 1090198 w 80"/>
                <a:gd name="T27" fmla="*/ 546 h 68"/>
                <a:gd name="T28" fmla="*/ 1538762 w 80"/>
                <a:gd name="T29" fmla="*/ 638 h 68"/>
                <a:gd name="T30" fmla="*/ 1865648 w 80"/>
                <a:gd name="T31" fmla="*/ 735 h 68"/>
                <a:gd name="T32" fmla="*/ 2045165 w 80"/>
                <a:gd name="T33" fmla="*/ 818 h 68"/>
                <a:gd name="T34" fmla="*/ 2079299 w 80"/>
                <a:gd name="T35" fmla="*/ 847 h 68"/>
                <a:gd name="T36" fmla="*/ 2480706 w 80"/>
                <a:gd name="T37" fmla="*/ 918 h 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8"/>
                <a:gd name="T59" fmla="*/ 80 w 80"/>
                <a:gd name="T60" fmla="*/ 68 h 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8">
                  <a:moveTo>
                    <a:pt x="79" y="67"/>
                  </a:moveTo>
                  <a:lnTo>
                    <a:pt x="77" y="54"/>
                  </a:lnTo>
                  <a:lnTo>
                    <a:pt x="68" y="44"/>
                  </a:lnTo>
                  <a:lnTo>
                    <a:pt x="55" y="36"/>
                  </a:lnTo>
                  <a:lnTo>
                    <a:pt x="42" y="28"/>
                  </a:lnTo>
                  <a:lnTo>
                    <a:pt x="28" y="21"/>
                  </a:lnTo>
                  <a:lnTo>
                    <a:pt x="18" y="14"/>
                  </a:lnTo>
                  <a:lnTo>
                    <a:pt x="13" y="8"/>
                  </a:lnTo>
                  <a:lnTo>
                    <a:pt x="13" y="7"/>
                  </a:lnTo>
                  <a:lnTo>
                    <a:pt x="1" y="0"/>
                  </a:lnTo>
                  <a:lnTo>
                    <a:pt x="0" y="14"/>
                  </a:lnTo>
                  <a:lnTo>
                    <a:pt x="9" y="24"/>
                  </a:lnTo>
                  <a:lnTo>
                    <a:pt x="22" y="33"/>
                  </a:lnTo>
                  <a:lnTo>
                    <a:pt x="35" y="40"/>
                  </a:lnTo>
                  <a:lnTo>
                    <a:pt x="49" y="47"/>
                  </a:lnTo>
                  <a:lnTo>
                    <a:pt x="59" y="55"/>
                  </a:lnTo>
                  <a:lnTo>
                    <a:pt x="65" y="60"/>
                  </a:lnTo>
                  <a:lnTo>
                    <a:pt x="66" y="63"/>
                  </a:lnTo>
                  <a:lnTo>
                    <a:pt x="79" y="6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9" name="Freeform 8">
              <a:extLst>
                <a:ext uri="{FF2B5EF4-FFF2-40B4-BE49-F238E27FC236}">
                  <a16:creationId xmlns:a16="http://schemas.microsoft.com/office/drawing/2014/main" id="{655718AC-770D-250F-4158-644B2AAC4309}"/>
                </a:ext>
              </a:extLst>
            </p:cNvPr>
            <p:cNvSpPr>
              <a:spLocks/>
            </p:cNvSpPr>
            <p:nvPr/>
          </p:nvSpPr>
          <p:spPr bwMode="auto">
            <a:xfrm>
              <a:off x="3456" y="2094"/>
              <a:ext cx="175" cy="21"/>
            </a:xfrm>
            <a:custGeom>
              <a:avLst/>
              <a:gdLst>
                <a:gd name="T0" fmla="*/ 563155 w 106"/>
                <a:gd name="T1" fmla="*/ 368 h 18"/>
                <a:gd name="T2" fmla="*/ 523912 w 106"/>
                <a:gd name="T3" fmla="*/ 426 h 18"/>
                <a:gd name="T4" fmla="*/ 563155 w 106"/>
                <a:gd name="T5" fmla="*/ 418 h 18"/>
                <a:gd name="T6" fmla="*/ 904506 w 106"/>
                <a:gd name="T7" fmla="*/ 358 h 18"/>
                <a:gd name="T8" fmla="*/ 1389091 w 106"/>
                <a:gd name="T9" fmla="*/ 368 h 18"/>
                <a:gd name="T10" fmla="*/ 1984779 w 106"/>
                <a:gd name="T11" fmla="*/ 368 h 18"/>
                <a:gd name="T12" fmla="*/ 2534104 w 106"/>
                <a:gd name="T13" fmla="*/ 418 h 18"/>
                <a:gd name="T14" fmla="*/ 3097518 w 106"/>
                <a:gd name="T15" fmla="*/ 418 h 18"/>
                <a:gd name="T16" fmla="*/ 3579389 w 106"/>
                <a:gd name="T17" fmla="*/ 315 h 18"/>
                <a:gd name="T18" fmla="*/ 3917132 w 106"/>
                <a:gd name="T19" fmla="*/ 55 h 18"/>
                <a:gd name="T20" fmla="*/ 3435385 w 106"/>
                <a:gd name="T21" fmla="*/ 0 h 18"/>
                <a:gd name="T22" fmla="*/ 3369257 w 106"/>
                <a:gd name="T23" fmla="*/ 1 h 18"/>
                <a:gd name="T24" fmla="*/ 3033331 w 106"/>
                <a:gd name="T25" fmla="*/ 55 h 18"/>
                <a:gd name="T26" fmla="*/ 2534104 w 106"/>
                <a:gd name="T27" fmla="*/ 2 h 18"/>
                <a:gd name="T28" fmla="*/ 1984779 w 106"/>
                <a:gd name="T29" fmla="*/ 2 h 18"/>
                <a:gd name="T30" fmla="*/ 1389091 w 106"/>
                <a:gd name="T31" fmla="*/ 1 h 18"/>
                <a:gd name="T32" fmla="*/ 864949 w 106"/>
                <a:gd name="T33" fmla="*/ 2 h 18"/>
                <a:gd name="T34" fmla="*/ 379656 w 106"/>
                <a:gd name="T35" fmla="*/ 55 h 18"/>
                <a:gd name="T36" fmla="*/ 39284 w 106"/>
                <a:gd name="T37" fmla="*/ 315 h 18"/>
                <a:gd name="T38" fmla="*/ 0 w 106"/>
                <a:gd name="T39" fmla="*/ 368 h 18"/>
                <a:gd name="T40" fmla="*/ 39284 w 106"/>
                <a:gd name="T41" fmla="*/ 315 h 18"/>
                <a:gd name="T42" fmla="*/ 0 w 106"/>
                <a:gd name="T43" fmla="*/ 358 h 18"/>
                <a:gd name="T44" fmla="*/ 0 w 106"/>
                <a:gd name="T45" fmla="*/ 368 h 18"/>
                <a:gd name="T46" fmla="*/ 563155 w 106"/>
                <a:gd name="T47" fmla="*/ 368 h 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6"/>
                <a:gd name="T73" fmla="*/ 0 h 18"/>
                <a:gd name="T74" fmla="*/ 106 w 106"/>
                <a:gd name="T75" fmla="*/ 18 h 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6" h="18">
                  <a:moveTo>
                    <a:pt x="15" y="15"/>
                  </a:moveTo>
                  <a:lnTo>
                    <a:pt x="14" y="17"/>
                  </a:lnTo>
                  <a:lnTo>
                    <a:pt x="15" y="16"/>
                  </a:lnTo>
                  <a:lnTo>
                    <a:pt x="24" y="14"/>
                  </a:lnTo>
                  <a:lnTo>
                    <a:pt x="37" y="15"/>
                  </a:lnTo>
                  <a:lnTo>
                    <a:pt x="53" y="15"/>
                  </a:lnTo>
                  <a:lnTo>
                    <a:pt x="68" y="16"/>
                  </a:lnTo>
                  <a:lnTo>
                    <a:pt x="83" y="16"/>
                  </a:lnTo>
                  <a:lnTo>
                    <a:pt x="96" y="13"/>
                  </a:lnTo>
                  <a:lnTo>
                    <a:pt x="105" y="3"/>
                  </a:lnTo>
                  <a:lnTo>
                    <a:pt x="92" y="0"/>
                  </a:lnTo>
                  <a:lnTo>
                    <a:pt x="90" y="1"/>
                  </a:lnTo>
                  <a:lnTo>
                    <a:pt x="81" y="3"/>
                  </a:lnTo>
                  <a:lnTo>
                    <a:pt x="68" y="2"/>
                  </a:lnTo>
                  <a:lnTo>
                    <a:pt x="53" y="2"/>
                  </a:lnTo>
                  <a:lnTo>
                    <a:pt x="37" y="1"/>
                  </a:lnTo>
                  <a:lnTo>
                    <a:pt x="23" y="2"/>
                  </a:lnTo>
                  <a:lnTo>
                    <a:pt x="10" y="3"/>
                  </a:lnTo>
                  <a:lnTo>
                    <a:pt x="1" y="13"/>
                  </a:lnTo>
                  <a:lnTo>
                    <a:pt x="0" y="15"/>
                  </a:lnTo>
                  <a:lnTo>
                    <a:pt x="1" y="13"/>
                  </a:lnTo>
                  <a:lnTo>
                    <a:pt x="0" y="14"/>
                  </a:lnTo>
                  <a:lnTo>
                    <a:pt x="0" y="15"/>
                  </a:lnTo>
                  <a:lnTo>
                    <a:pt x="15" y="1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0" name="Freeform 9">
              <a:extLst>
                <a:ext uri="{FF2B5EF4-FFF2-40B4-BE49-F238E27FC236}">
                  <a16:creationId xmlns:a16="http://schemas.microsoft.com/office/drawing/2014/main" id="{FA4033C3-D449-D8DE-8974-201A9FF11532}"/>
                </a:ext>
              </a:extLst>
            </p:cNvPr>
            <p:cNvSpPr>
              <a:spLocks/>
            </p:cNvSpPr>
            <p:nvPr/>
          </p:nvSpPr>
          <p:spPr bwMode="auto">
            <a:xfrm>
              <a:off x="3456" y="2111"/>
              <a:ext cx="27" cy="6"/>
            </a:xfrm>
            <a:custGeom>
              <a:avLst/>
              <a:gdLst>
                <a:gd name="T0" fmla="*/ 824491 w 16"/>
                <a:gd name="T1" fmla="*/ 179 h 5"/>
                <a:gd name="T2" fmla="*/ 879388 w 16"/>
                <a:gd name="T3" fmla="*/ 2 h 5"/>
                <a:gd name="T4" fmla="*/ 879388 w 16"/>
                <a:gd name="T5" fmla="*/ 0 h 5"/>
                <a:gd name="T6" fmla="*/ 0 w 16"/>
                <a:gd name="T7" fmla="*/ 0 h 5"/>
                <a:gd name="T8" fmla="*/ 0 w 16"/>
                <a:gd name="T9" fmla="*/ 2 h 5"/>
                <a:gd name="T10" fmla="*/ 62006 w 16"/>
                <a:gd name="T11" fmla="*/ 0 h 5"/>
                <a:gd name="T12" fmla="*/ 824491 w 16"/>
                <a:gd name="T13" fmla="*/ 179 h 5"/>
                <a:gd name="T14" fmla="*/ 824491 w 16"/>
                <a:gd name="T15" fmla="*/ 149 h 5"/>
                <a:gd name="T16" fmla="*/ 879388 w 16"/>
                <a:gd name="T17" fmla="*/ 2 h 5"/>
                <a:gd name="T18" fmla="*/ 824491 w 16"/>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5"/>
                <a:gd name="T32" fmla="*/ 16 w 16"/>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5">
                  <a:moveTo>
                    <a:pt x="14" y="4"/>
                  </a:moveTo>
                  <a:lnTo>
                    <a:pt x="15" y="2"/>
                  </a:lnTo>
                  <a:lnTo>
                    <a:pt x="15" y="0"/>
                  </a:lnTo>
                  <a:lnTo>
                    <a:pt x="0" y="0"/>
                  </a:lnTo>
                  <a:lnTo>
                    <a:pt x="0" y="2"/>
                  </a:lnTo>
                  <a:lnTo>
                    <a:pt x="1" y="0"/>
                  </a:lnTo>
                  <a:lnTo>
                    <a:pt x="14" y="4"/>
                  </a:lnTo>
                  <a:lnTo>
                    <a:pt x="14" y="3"/>
                  </a:lnTo>
                  <a:lnTo>
                    <a:pt x="15" y="2"/>
                  </a:lnTo>
                  <a:lnTo>
                    <a:pt x="14"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1" name="Freeform 10">
              <a:extLst>
                <a:ext uri="{FF2B5EF4-FFF2-40B4-BE49-F238E27FC236}">
                  <a16:creationId xmlns:a16="http://schemas.microsoft.com/office/drawing/2014/main" id="{F7C15EAA-1855-262E-8823-285D99BBA076}"/>
                </a:ext>
              </a:extLst>
            </p:cNvPr>
            <p:cNvSpPr>
              <a:spLocks/>
            </p:cNvSpPr>
            <p:nvPr/>
          </p:nvSpPr>
          <p:spPr bwMode="auto">
            <a:xfrm>
              <a:off x="3458" y="2111"/>
              <a:ext cx="132" cy="77"/>
            </a:xfrm>
            <a:custGeom>
              <a:avLst/>
              <a:gdLst>
                <a:gd name="T0" fmla="*/ 2918860 w 80"/>
                <a:gd name="T1" fmla="*/ 1675 h 66"/>
                <a:gd name="T2" fmla="*/ 2842721 w 80"/>
                <a:gd name="T3" fmla="*/ 1341 h 66"/>
                <a:gd name="T4" fmla="*/ 2480000 w 80"/>
                <a:gd name="T5" fmla="*/ 1104 h 66"/>
                <a:gd name="T6" fmla="*/ 2062134 w 80"/>
                <a:gd name="T7" fmla="*/ 921 h 66"/>
                <a:gd name="T8" fmla="*/ 1545345 w 80"/>
                <a:gd name="T9" fmla="*/ 762 h 66"/>
                <a:gd name="T10" fmla="*/ 1026680 w 80"/>
                <a:gd name="T11" fmla="*/ 569 h 66"/>
                <a:gd name="T12" fmla="*/ 692147 w 80"/>
                <a:gd name="T13" fmla="*/ 368 h 66"/>
                <a:gd name="T14" fmla="*/ 520035 w 80"/>
                <a:gd name="T15" fmla="*/ 225 h 66"/>
                <a:gd name="T16" fmla="*/ 477527 w 80"/>
                <a:gd name="T17" fmla="*/ 120 h 66"/>
                <a:gd name="T18" fmla="*/ 0 w 80"/>
                <a:gd name="T19" fmla="*/ 0 h 66"/>
                <a:gd name="T20" fmla="*/ 39046 w 80"/>
                <a:gd name="T21" fmla="*/ 358 h 66"/>
                <a:gd name="T22" fmla="*/ 338181 w 80"/>
                <a:gd name="T23" fmla="*/ 653 h 66"/>
                <a:gd name="T24" fmla="*/ 796859 w 80"/>
                <a:gd name="T25" fmla="*/ 844 h 66"/>
                <a:gd name="T26" fmla="*/ 1300068 w 80"/>
                <a:gd name="T27" fmla="*/ 1055 h 66"/>
                <a:gd name="T28" fmla="*/ 1816008 w 80"/>
                <a:gd name="T29" fmla="*/ 1231 h 66"/>
                <a:gd name="T30" fmla="*/ 2211957 w 80"/>
                <a:gd name="T31" fmla="*/ 1373 h 66"/>
                <a:gd name="T32" fmla="*/ 2399955 w 80"/>
                <a:gd name="T33" fmla="*/ 1496 h 66"/>
                <a:gd name="T34" fmla="*/ 2442464 w 80"/>
                <a:gd name="T35" fmla="*/ 1565 h 66"/>
                <a:gd name="T36" fmla="*/ 2918860 w 80"/>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7" y="44"/>
                  </a:lnTo>
                  <a:lnTo>
                    <a:pt x="56" y="36"/>
                  </a:lnTo>
                  <a:lnTo>
                    <a:pt x="42" y="29"/>
                  </a:lnTo>
                  <a:lnTo>
                    <a:pt x="28" y="22"/>
                  </a:lnTo>
                  <a:lnTo>
                    <a:pt x="19" y="15"/>
                  </a:lnTo>
                  <a:lnTo>
                    <a:pt x="14" y="9"/>
                  </a:lnTo>
                  <a:lnTo>
                    <a:pt x="13" y="4"/>
                  </a:lnTo>
                  <a:lnTo>
                    <a:pt x="0" y="0"/>
                  </a:lnTo>
                  <a:lnTo>
                    <a:pt x="1" y="14"/>
                  </a:lnTo>
                  <a:lnTo>
                    <a:pt x="9" y="25"/>
                  </a:lnTo>
                  <a:lnTo>
                    <a:pt x="22" y="33"/>
                  </a:lnTo>
                  <a:lnTo>
                    <a:pt x="35" y="41"/>
                  </a:lnTo>
                  <a:lnTo>
                    <a:pt x="49" y="48"/>
                  </a:lnTo>
                  <a:lnTo>
                    <a:pt x="60" y="54"/>
                  </a:lnTo>
                  <a:lnTo>
                    <a:pt x="65" y="59"/>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2" name="Freeform 11">
              <a:extLst>
                <a:ext uri="{FF2B5EF4-FFF2-40B4-BE49-F238E27FC236}">
                  <a16:creationId xmlns:a16="http://schemas.microsoft.com/office/drawing/2014/main" id="{C94092FC-7D61-865D-FE30-1ABDA507DB2F}"/>
                </a:ext>
              </a:extLst>
            </p:cNvPr>
            <p:cNvSpPr>
              <a:spLocks/>
            </p:cNvSpPr>
            <p:nvPr/>
          </p:nvSpPr>
          <p:spPr bwMode="auto">
            <a:xfrm>
              <a:off x="3412" y="2181"/>
              <a:ext cx="178" cy="30"/>
            </a:xfrm>
            <a:custGeom>
              <a:avLst/>
              <a:gdLst>
                <a:gd name="T0" fmla="*/ 467977 w 108"/>
                <a:gd name="T1" fmla="*/ 496 h 26"/>
                <a:gd name="T2" fmla="*/ 572069 w 108"/>
                <a:gd name="T3" fmla="*/ 430 h 26"/>
                <a:gd name="T4" fmla="*/ 904365 w 108"/>
                <a:gd name="T5" fmla="*/ 404 h 26"/>
                <a:gd name="T6" fmla="*/ 1377308 w 108"/>
                <a:gd name="T7" fmla="*/ 373 h 26"/>
                <a:gd name="T8" fmla="*/ 1950046 w 108"/>
                <a:gd name="T9" fmla="*/ 373 h 26"/>
                <a:gd name="T10" fmla="*/ 2520165 w 108"/>
                <a:gd name="T11" fmla="*/ 372 h 26"/>
                <a:gd name="T12" fmla="*/ 3106008 w 108"/>
                <a:gd name="T13" fmla="*/ 350 h 26"/>
                <a:gd name="T14" fmla="*/ 3543764 w 108"/>
                <a:gd name="T15" fmla="*/ 279 h 26"/>
                <a:gd name="T16" fmla="*/ 3851116 w 108"/>
                <a:gd name="T17" fmla="*/ 89 h 26"/>
                <a:gd name="T18" fmla="*/ 3382615 w 108"/>
                <a:gd name="T19" fmla="*/ 0 h 26"/>
                <a:gd name="T20" fmla="*/ 3279487 w 108"/>
                <a:gd name="T21" fmla="*/ 2 h 26"/>
                <a:gd name="T22" fmla="*/ 2995110 w 108"/>
                <a:gd name="T23" fmla="*/ 89 h 26"/>
                <a:gd name="T24" fmla="*/ 2520165 w 108"/>
                <a:gd name="T25" fmla="*/ 103 h 26"/>
                <a:gd name="T26" fmla="*/ 1950046 w 108"/>
                <a:gd name="T27" fmla="*/ 103 h 26"/>
                <a:gd name="T28" fmla="*/ 1377308 w 108"/>
                <a:gd name="T29" fmla="*/ 119 h 26"/>
                <a:gd name="T30" fmla="*/ 835670 w 108"/>
                <a:gd name="T31" fmla="*/ 137 h 26"/>
                <a:gd name="T32" fmla="*/ 347098 w 108"/>
                <a:gd name="T33" fmla="*/ 228 h 26"/>
                <a:gd name="T34" fmla="*/ 0 w 108"/>
                <a:gd name="T35" fmla="*/ 429 h 26"/>
                <a:gd name="T36" fmla="*/ 467977 w 108"/>
                <a:gd name="T37" fmla="*/ 496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6"/>
                <a:gd name="T59" fmla="*/ 108 w 108"/>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6">
                  <a:moveTo>
                    <a:pt x="13" y="25"/>
                  </a:moveTo>
                  <a:lnTo>
                    <a:pt x="16" y="22"/>
                  </a:lnTo>
                  <a:lnTo>
                    <a:pt x="25" y="20"/>
                  </a:lnTo>
                  <a:lnTo>
                    <a:pt x="38" y="19"/>
                  </a:lnTo>
                  <a:lnTo>
                    <a:pt x="54" y="19"/>
                  </a:lnTo>
                  <a:lnTo>
                    <a:pt x="70" y="18"/>
                  </a:lnTo>
                  <a:lnTo>
                    <a:pt x="86" y="17"/>
                  </a:lnTo>
                  <a:lnTo>
                    <a:pt x="98" y="14"/>
                  </a:lnTo>
                  <a:lnTo>
                    <a:pt x="107" y="4"/>
                  </a:lnTo>
                  <a:lnTo>
                    <a:pt x="94" y="0"/>
                  </a:lnTo>
                  <a:lnTo>
                    <a:pt x="91" y="2"/>
                  </a:lnTo>
                  <a:lnTo>
                    <a:pt x="83" y="4"/>
                  </a:lnTo>
                  <a:lnTo>
                    <a:pt x="70" y="5"/>
                  </a:lnTo>
                  <a:lnTo>
                    <a:pt x="54" y="5"/>
                  </a:lnTo>
                  <a:lnTo>
                    <a:pt x="38" y="6"/>
                  </a:lnTo>
                  <a:lnTo>
                    <a:pt x="23" y="7"/>
                  </a:lnTo>
                  <a:lnTo>
                    <a:pt x="10"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3" name="Freeform 12">
              <a:extLst>
                <a:ext uri="{FF2B5EF4-FFF2-40B4-BE49-F238E27FC236}">
                  <a16:creationId xmlns:a16="http://schemas.microsoft.com/office/drawing/2014/main" id="{45C99F83-9896-514E-8C27-D7E82F487199}"/>
                </a:ext>
              </a:extLst>
            </p:cNvPr>
            <p:cNvSpPr>
              <a:spLocks/>
            </p:cNvSpPr>
            <p:nvPr/>
          </p:nvSpPr>
          <p:spPr bwMode="auto">
            <a:xfrm>
              <a:off x="3412" y="2206"/>
              <a:ext cx="131" cy="76"/>
            </a:xfrm>
            <a:custGeom>
              <a:avLst/>
              <a:gdLst>
                <a:gd name="T0" fmla="*/ 2480706 w 80"/>
                <a:gd name="T1" fmla="*/ 922 h 67"/>
                <a:gd name="T2" fmla="*/ 2480706 w 80"/>
                <a:gd name="T3" fmla="*/ 932 h 67"/>
                <a:gd name="T4" fmla="*/ 2415525 w 80"/>
                <a:gd name="T5" fmla="*/ 740 h 67"/>
                <a:gd name="T6" fmla="*/ 2134954 w 80"/>
                <a:gd name="T7" fmla="*/ 620 h 67"/>
                <a:gd name="T8" fmla="*/ 1769243 w 80"/>
                <a:gd name="T9" fmla="*/ 496 h 67"/>
                <a:gd name="T10" fmla="*/ 1346184 w 80"/>
                <a:gd name="T11" fmla="*/ 385 h 67"/>
                <a:gd name="T12" fmla="*/ 939702 w 80"/>
                <a:gd name="T13" fmla="*/ 270 h 67"/>
                <a:gd name="T14" fmla="*/ 603561 w 80"/>
                <a:gd name="T15" fmla="*/ 164 h 67"/>
                <a:gd name="T16" fmla="*/ 445495 w 80"/>
                <a:gd name="T17" fmla="*/ 78 h 67"/>
                <a:gd name="T18" fmla="*/ 402943 w 80"/>
                <a:gd name="T19" fmla="*/ 61 h 67"/>
                <a:gd name="T20" fmla="*/ 0 w 80"/>
                <a:gd name="T21" fmla="*/ 0 h 67"/>
                <a:gd name="T22" fmla="*/ 56043 w 80"/>
                <a:gd name="T23" fmla="*/ 185 h 67"/>
                <a:gd name="T24" fmla="*/ 306592 w 80"/>
                <a:gd name="T25" fmla="*/ 307 h 67"/>
                <a:gd name="T26" fmla="*/ 695772 w 80"/>
                <a:gd name="T27" fmla="*/ 437 h 67"/>
                <a:gd name="T28" fmla="*/ 1139327 w 80"/>
                <a:gd name="T29" fmla="*/ 557 h 67"/>
                <a:gd name="T30" fmla="*/ 1538762 w 80"/>
                <a:gd name="T31" fmla="*/ 652 h 67"/>
                <a:gd name="T32" fmla="*/ 1865648 w 80"/>
                <a:gd name="T33" fmla="*/ 740 h 67"/>
                <a:gd name="T34" fmla="*/ 2045165 w 80"/>
                <a:gd name="T35" fmla="*/ 836 h 67"/>
                <a:gd name="T36" fmla="*/ 2079299 w 80"/>
                <a:gd name="T37" fmla="*/ 839 h 67"/>
                <a:gd name="T38" fmla="*/ 2079299 w 80"/>
                <a:gd name="T39" fmla="*/ 841 h 67"/>
                <a:gd name="T40" fmla="*/ 2480706 w 80"/>
                <a:gd name="T41" fmla="*/ 922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67"/>
                <a:gd name="T65" fmla="*/ 80 w 8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67">
                  <a:moveTo>
                    <a:pt x="79" y="65"/>
                  </a:moveTo>
                  <a:lnTo>
                    <a:pt x="79" y="66"/>
                  </a:lnTo>
                  <a:lnTo>
                    <a:pt x="77" y="53"/>
                  </a:lnTo>
                  <a:lnTo>
                    <a:pt x="68" y="43"/>
                  </a:lnTo>
                  <a:lnTo>
                    <a:pt x="56" y="35"/>
                  </a:lnTo>
                  <a:lnTo>
                    <a:pt x="43" y="27"/>
                  </a:lnTo>
                  <a:lnTo>
                    <a:pt x="30" y="19"/>
                  </a:lnTo>
                  <a:lnTo>
                    <a:pt x="19" y="12"/>
                  </a:lnTo>
                  <a:lnTo>
                    <a:pt x="14" y="6"/>
                  </a:lnTo>
                  <a:lnTo>
                    <a:pt x="13" y="4"/>
                  </a:lnTo>
                  <a:lnTo>
                    <a:pt x="0" y="0"/>
                  </a:lnTo>
                  <a:lnTo>
                    <a:pt x="2" y="13"/>
                  </a:lnTo>
                  <a:lnTo>
                    <a:pt x="10" y="23"/>
                  </a:lnTo>
                  <a:lnTo>
                    <a:pt x="22" y="31"/>
                  </a:lnTo>
                  <a:lnTo>
                    <a:pt x="36" y="39"/>
                  </a:lnTo>
                  <a:lnTo>
                    <a:pt x="49" y="47"/>
                  </a:lnTo>
                  <a:lnTo>
                    <a:pt x="59" y="53"/>
                  </a:lnTo>
                  <a:lnTo>
                    <a:pt x="65" y="59"/>
                  </a:lnTo>
                  <a:lnTo>
                    <a:pt x="66" y="60"/>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4" name="Freeform 13">
              <a:extLst>
                <a:ext uri="{FF2B5EF4-FFF2-40B4-BE49-F238E27FC236}">
                  <a16:creationId xmlns:a16="http://schemas.microsoft.com/office/drawing/2014/main" id="{4EF0BD0C-017A-25CC-54FB-DD0493AA095A}"/>
                </a:ext>
              </a:extLst>
            </p:cNvPr>
            <p:cNvSpPr>
              <a:spLocks/>
            </p:cNvSpPr>
            <p:nvPr/>
          </p:nvSpPr>
          <p:spPr bwMode="auto">
            <a:xfrm>
              <a:off x="3370" y="2276"/>
              <a:ext cx="173" cy="24"/>
            </a:xfrm>
            <a:custGeom>
              <a:avLst/>
              <a:gdLst>
                <a:gd name="T0" fmla="*/ 417519 w 106"/>
                <a:gd name="T1" fmla="*/ 302 h 21"/>
                <a:gd name="T2" fmla="*/ 373313 w 106"/>
                <a:gd name="T3" fmla="*/ 326 h 21"/>
                <a:gd name="T4" fmla="*/ 430014 w 106"/>
                <a:gd name="T5" fmla="*/ 326 h 21"/>
                <a:gd name="T6" fmla="*/ 681423 w 106"/>
                <a:gd name="T7" fmla="*/ 302 h 21"/>
                <a:gd name="T8" fmla="*/ 1059028 w 106"/>
                <a:gd name="T9" fmla="*/ 302 h 21"/>
                <a:gd name="T10" fmla="*/ 1530828 w 106"/>
                <a:gd name="T11" fmla="*/ 302 h 21"/>
                <a:gd name="T12" fmla="*/ 1989524 w 106"/>
                <a:gd name="T13" fmla="*/ 302 h 21"/>
                <a:gd name="T14" fmla="*/ 2468792 w 106"/>
                <a:gd name="T15" fmla="*/ 278 h 21"/>
                <a:gd name="T16" fmla="*/ 2820902 w 106"/>
                <a:gd name="T17" fmla="*/ 213 h 21"/>
                <a:gd name="T18" fmla="*/ 3075039 w 106"/>
                <a:gd name="T19" fmla="*/ 3 h 21"/>
                <a:gd name="T20" fmla="*/ 2702097 w 106"/>
                <a:gd name="T21" fmla="*/ 0 h 21"/>
                <a:gd name="T22" fmla="*/ 2613447 w 106"/>
                <a:gd name="T23" fmla="*/ 1 h 21"/>
                <a:gd name="T24" fmla="*/ 2370041 w 106"/>
                <a:gd name="T25" fmla="*/ 73 h 21"/>
                <a:gd name="T26" fmla="*/ 1989524 w 106"/>
                <a:gd name="T27" fmla="*/ 73 h 21"/>
                <a:gd name="T28" fmla="*/ 1530828 w 106"/>
                <a:gd name="T29" fmla="*/ 73 h 21"/>
                <a:gd name="T30" fmla="*/ 1059028 w 106"/>
                <a:gd name="T31" fmla="*/ 73 h 21"/>
                <a:gd name="T32" fmla="*/ 648884 w 106"/>
                <a:gd name="T33" fmla="*/ 83 h 21"/>
                <a:gd name="T34" fmla="*/ 285758 w 106"/>
                <a:gd name="T35" fmla="*/ 109 h 21"/>
                <a:gd name="T36" fmla="*/ 0 w 106"/>
                <a:gd name="T37" fmla="*/ 264 h 21"/>
                <a:gd name="T38" fmla="*/ 0 w 106"/>
                <a:gd name="T39" fmla="*/ 302 h 21"/>
                <a:gd name="T40" fmla="*/ 0 w 106"/>
                <a:gd name="T41" fmla="*/ 264 h 21"/>
                <a:gd name="T42" fmla="*/ 0 w 106"/>
                <a:gd name="T43" fmla="*/ 302 h 21"/>
                <a:gd name="T44" fmla="*/ 417519 w 106"/>
                <a:gd name="T45" fmla="*/ 302 h 2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6"/>
                <a:gd name="T70" fmla="*/ 0 h 21"/>
                <a:gd name="T71" fmla="*/ 106 w 106"/>
                <a:gd name="T72" fmla="*/ 21 h 2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6" h="21">
                  <a:moveTo>
                    <a:pt x="14" y="18"/>
                  </a:moveTo>
                  <a:lnTo>
                    <a:pt x="13" y="20"/>
                  </a:lnTo>
                  <a:lnTo>
                    <a:pt x="15" y="20"/>
                  </a:lnTo>
                  <a:lnTo>
                    <a:pt x="23" y="18"/>
                  </a:lnTo>
                  <a:lnTo>
                    <a:pt x="36" y="18"/>
                  </a:lnTo>
                  <a:lnTo>
                    <a:pt x="52" y="18"/>
                  </a:lnTo>
                  <a:lnTo>
                    <a:pt x="68" y="18"/>
                  </a:lnTo>
                  <a:lnTo>
                    <a:pt x="84" y="17"/>
                  </a:lnTo>
                  <a:lnTo>
                    <a:pt x="96" y="13"/>
                  </a:lnTo>
                  <a:lnTo>
                    <a:pt x="105" y="3"/>
                  </a:lnTo>
                  <a:lnTo>
                    <a:pt x="92" y="0"/>
                  </a:lnTo>
                  <a:lnTo>
                    <a:pt x="89" y="1"/>
                  </a:lnTo>
                  <a:lnTo>
                    <a:pt x="81" y="4"/>
                  </a:lnTo>
                  <a:lnTo>
                    <a:pt x="68" y="4"/>
                  </a:lnTo>
                  <a:lnTo>
                    <a:pt x="52" y="4"/>
                  </a:lnTo>
                  <a:lnTo>
                    <a:pt x="36" y="4"/>
                  </a:lnTo>
                  <a:lnTo>
                    <a:pt x="22" y="5"/>
                  </a:lnTo>
                  <a:lnTo>
                    <a:pt x="10" y="7"/>
                  </a:lnTo>
                  <a:lnTo>
                    <a:pt x="0" y="16"/>
                  </a:lnTo>
                  <a:lnTo>
                    <a:pt x="0" y="18"/>
                  </a:lnTo>
                  <a:lnTo>
                    <a:pt x="0" y="16"/>
                  </a:lnTo>
                  <a:lnTo>
                    <a:pt x="0" y="18"/>
                  </a:lnTo>
                  <a:lnTo>
                    <a:pt x="14" y="1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5" name="Freeform 14">
              <a:extLst>
                <a:ext uri="{FF2B5EF4-FFF2-40B4-BE49-F238E27FC236}">
                  <a16:creationId xmlns:a16="http://schemas.microsoft.com/office/drawing/2014/main" id="{5A408DF3-AF85-2DBB-3247-5581612E7883}"/>
                </a:ext>
              </a:extLst>
            </p:cNvPr>
            <p:cNvSpPr>
              <a:spLocks/>
            </p:cNvSpPr>
            <p:nvPr/>
          </p:nvSpPr>
          <p:spPr bwMode="auto">
            <a:xfrm>
              <a:off x="3370" y="2295"/>
              <a:ext cx="23" cy="7"/>
            </a:xfrm>
            <a:custGeom>
              <a:avLst/>
              <a:gdLst>
                <a:gd name="T0" fmla="*/ 105177 w 15"/>
                <a:gd name="T1" fmla="*/ 140 h 6"/>
                <a:gd name="T2" fmla="*/ 107243 w 15"/>
                <a:gd name="T3" fmla="*/ 2 h 6"/>
                <a:gd name="T4" fmla="*/ 0 w 15"/>
                <a:gd name="T5" fmla="*/ 2 h 6"/>
                <a:gd name="T6" fmla="*/ 0 w 15"/>
                <a:gd name="T7" fmla="*/ 0 h 6"/>
                <a:gd name="T8" fmla="*/ 105177 w 15"/>
                <a:gd name="T9" fmla="*/ 140 h 6"/>
                <a:gd name="T10" fmla="*/ 107243 w 15"/>
                <a:gd name="T11" fmla="*/ 120 h 6"/>
                <a:gd name="T12" fmla="*/ 107243 w 15"/>
                <a:gd name="T13" fmla="*/ 2 h 6"/>
                <a:gd name="T14" fmla="*/ 105177 w 15"/>
                <a:gd name="T15" fmla="*/ 140 h 6"/>
                <a:gd name="T16" fmla="*/ 0 60000 65536"/>
                <a:gd name="T17" fmla="*/ 0 60000 65536"/>
                <a:gd name="T18" fmla="*/ 0 60000 65536"/>
                <a:gd name="T19" fmla="*/ 0 60000 65536"/>
                <a:gd name="T20" fmla="*/ 0 60000 65536"/>
                <a:gd name="T21" fmla="*/ 0 60000 65536"/>
                <a:gd name="T22" fmla="*/ 0 60000 65536"/>
                <a:gd name="T23" fmla="*/ 0 60000 65536"/>
                <a:gd name="T24" fmla="*/ 0 w 15"/>
                <a:gd name="T25" fmla="*/ 0 h 6"/>
                <a:gd name="T26" fmla="*/ 15 w 15"/>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 h="6">
                  <a:moveTo>
                    <a:pt x="13" y="5"/>
                  </a:moveTo>
                  <a:lnTo>
                    <a:pt x="14" y="2"/>
                  </a:lnTo>
                  <a:lnTo>
                    <a:pt x="0" y="2"/>
                  </a:lnTo>
                  <a:lnTo>
                    <a:pt x="0" y="0"/>
                  </a:lnTo>
                  <a:lnTo>
                    <a:pt x="13" y="5"/>
                  </a:lnTo>
                  <a:lnTo>
                    <a:pt x="14" y="4"/>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6" name="Freeform 15">
              <a:extLst>
                <a:ext uri="{FF2B5EF4-FFF2-40B4-BE49-F238E27FC236}">
                  <a16:creationId xmlns:a16="http://schemas.microsoft.com/office/drawing/2014/main" id="{9005509A-E182-7B5C-EF63-E42E21530446}"/>
                </a:ext>
              </a:extLst>
            </p:cNvPr>
            <p:cNvSpPr>
              <a:spLocks/>
            </p:cNvSpPr>
            <p:nvPr/>
          </p:nvSpPr>
          <p:spPr bwMode="auto">
            <a:xfrm>
              <a:off x="3370" y="2295"/>
              <a:ext cx="127" cy="78"/>
            </a:xfrm>
            <a:custGeom>
              <a:avLst/>
              <a:gdLst>
                <a:gd name="T0" fmla="*/ 2148934 w 78"/>
                <a:gd name="T1" fmla="*/ 1621 h 67"/>
                <a:gd name="T2" fmla="*/ 2097509 w 78"/>
                <a:gd name="T3" fmla="*/ 1299 h 67"/>
                <a:gd name="T4" fmla="*/ 1863481 w 78"/>
                <a:gd name="T5" fmla="*/ 1056 h 67"/>
                <a:gd name="T6" fmla="*/ 1545582 w 78"/>
                <a:gd name="T7" fmla="*/ 845 h 67"/>
                <a:gd name="T8" fmla="*/ 1171616 w 78"/>
                <a:gd name="T9" fmla="*/ 637 h 67"/>
                <a:gd name="T10" fmla="*/ 842106 w 78"/>
                <a:gd name="T11" fmla="*/ 470 h 67"/>
                <a:gd name="T12" fmla="*/ 524450 w 78"/>
                <a:gd name="T13" fmla="*/ 261 h 67"/>
                <a:gd name="T14" fmla="*/ 391253 w 78"/>
                <a:gd name="T15" fmla="*/ 139 h 67"/>
                <a:gd name="T16" fmla="*/ 358067 w 78"/>
                <a:gd name="T17" fmla="*/ 119 h 67"/>
                <a:gd name="T18" fmla="*/ 0 w 78"/>
                <a:gd name="T19" fmla="*/ 0 h 67"/>
                <a:gd name="T20" fmla="*/ 50948 w 78"/>
                <a:gd name="T21" fmla="*/ 304 h 67"/>
                <a:gd name="T22" fmla="*/ 271430 w 78"/>
                <a:gd name="T23" fmla="*/ 547 h 67"/>
                <a:gd name="T24" fmla="*/ 620047 w 78"/>
                <a:gd name="T25" fmla="*/ 742 h 67"/>
                <a:gd name="T26" fmla="*/ 978183 w 78"/>
                <a:gd name="T27" fmla="*/ 910 h 67"/>
                <a:gd name="T28" fmla="*/ 1319818 w 78"/>
                <a:gd name="T29" fmla="*/ 1132 h 67"/>
                <a:gd name="T30" fmla="*/ 1607587 w 78"/>
                <a:gd name="T31" fmla="*/ 1299 h 67"/>
                <a:gd name="T32" fmla="*/ 1778832 w 78"/>
                <a:gd name="T33" fmla="*/ 1442 h 67"/>
                <a:gd name="T34" fmla="*/ 1778832 w 78"/>
                <a:gd name="T35" fmla="*/ 1512 h 67"/>
                <a:gd name="T36" fmla="*/ 2148934 w 78"/>
                <a:gd name="T37" fmla="*/ 1621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67"/>
                <a:gd name="T59" fmla="*/ 78 w 78"/>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67">
                  <a:moveTo>
                    <a:pt x="77" y="66"/>
                  </a:moveTo>
                  <a:lnTo>
                    <a:pt x="75" y="53"/>
                  </a:lnTo>
                  <a:lnTo>
                    <a:pt x="67" y="43"/>
                  </a:lnTo>
                  <a:lnTo>
                    <a:pt x="55" y="34"/>
                  </a:lnTo>
                  <a:lnTo>
                    <a:pt x="42" y="26"/>
                  </a:lnTo>
                  <a:lnTo>
                    <a:pt x="30" y="19"/>
                  </a:lnTo>
                  <a:lnTo>
                    <a:pt x="19" y="11"/>
                  </a:lnTo>
                  <a:lnTo>
                    <a:pt x="14" y="6"/>
                  </a:lnTo>
                  <a:lnTo>
                    <a:pt x="13" y="5"/>
                  </a:lnTo>
                  <a:lnTo>
                    <a:pt x="0" y="0"/>
                  </a:lnTo>
                  <a:lnTo>
                    <a:pt x="2" y="13"/>
                  </a:lnTo>
                  <a:lnTo>
                    <a:pt x="10" y="22"/>
                  </a:lnTo>
                  <a:lnTo>
                    <a:pt x="22" y="30"/>
                  </a:lnTo>
                  <a:lnTo>
                    <a:pt x="35" y="38"/>
                  </a:lnTo>
                  <a:lnTo>
                    <a:pt x="47" y="46"/>
                  </a:lnTo>
                  <a:lnTo>
                    <a:pt x="58" y="53"/>
                  </a:lnTo>
                  <a:lnTo>
                    <a:pt x="64" y="60"/>
                  </a:lnTo>
                  <a:lnTo>
                    <a:pt x="64" y="62"/>
                  </a:lnTo>
                  <a:lnTo>
                    <a:pt x="77"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7" name="Freeform 16">
              <a:extLst>
                <a:ext uri="{FF2B5EF4-FFF2-40B4-BE49-F238E27FC236}">
                  <a16:creationId xmlns:a16="http://schemas.microsoft.com/office/drawing/2014/main" id="{6E108AF2-8CA0-F83F-3831-BAC5F8D825A4}"/>
                </a:ext>
              </a:extLst>
            </p:cNvPr>
            <p:cNvSpPr>
              <a:spLocks/>
            </p:cNvSpPr>
            <p:nvPr/>
          </p:nvSpPr>
          <p:spPr bwMode="auto">
            <a:xfrm>
              <a:off x="3321" y="2366"/>
              <a:ext cx="176" cy="29"/>
            </a:xfrm>
            <a:custGeom>
              <a:avLst/>
              <a:gdLst>
                <a:gd name="T0" fmla="*/ 448956 w 107"/>
                <a:gd name="T1" fmla="*/ 530 h 25"/>
                <a:gd name="T2" fmla="*/ 520021 w 107"/>
                <a:gd name="T3" fmla="*/ 516 h 25"/>
                <a:gd name="T4" fmla="*/ 806439 w 107"/>
                <a:gd name="T5" fmla="*/ 455 h 25"/>
                <a:gd name="T6" fmla="*/ 1274250 w 107"/>
                <a:gd name="T7" fmla="*/ 455 h 25"/>
                <a:gd name="T8" fmla="*/ 1803036 w 107"/>
                <a:gd name="T9" fmla="*/ 455 h 25"/>
                <a:gd name="T10" fmla="*/ 2374059 w 107"/>
                <a:gd name="T11" fmla="*/ 394 h 25"/>
                <a:gd name="T12" fmla="*/ 2899460 w 107"/>
                <a:gd name="T13" fmla="*/ 394 h 25"/>
                <a:gd name="T14" fmla="*/ 3361858 w 107"/>
                <a:gd name="T15" fmla="*/ 331 h 25"/>
                <a:gd name="T16" fmla="*/ 3649694 w 107"/>
                <a:gd name="T17" fmla="*/ 101 h 25"/>
                <a:gd name="T18" fmla="*/ 3223782 w 107"/>
                <a:gd name="T19" fmla="*/ 0 h 25"/>
                <a:gd name="T20" fmla="*/ 3107351 w 107"/>
                <a:gd name="T21" fmla="*/ 2 h 25"/>
                <a:gd name="T22" fmla="*/ 2796262 w 107"/>
                <a:gd name="T23" fmla="*/ 117 h 25"/>
                <a:gd name="T24" fmla="*/ 2374059 w 107"/>
                <a:gd name="T25" fmla="*/ 117 h 25"/>
                <a:gd name="T26" fmla="*/ 1803036 w 107"/>
                <a:gd name="T27" fmla="*/ 117 h 25"/>
                <a:gd name="T28" fmla="*/ 1274250 w 107"/>
                <a:gd name="T29" fmla="*/ 117 h 25"/>
                <a:gd name="T30" fmla="*/ 755427 w 107"/>
                <a:gd name="T31" fmla="*/ 158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3" y="20"/>
                  </a:lnTo>
                  <a:lnTo>
                    <a:pt x="37" y="20"/>
                  </a:lnTo>
                  <a:lnTo>
                    <a:pt x="52" y="20"/>
                  </a:lnTo>
                  <a:lnTo>
                    <a:pt x="69" y="18"/>
                  </a:lnTo>
                  <a:lnTo>
                    <a:pt x="84" y="18"/>
                  </a:lnTo>
                  <a:lnTo>
                    <a:pt x="97" y="14"/>
                  </a:lnTo>
                  <a:lnTo>
                    <a:pt x="106" y="4"/>
                  </a:lnTo>
                  <a:lnTo>
                    <a:pt x="93" y="0"/>
                  </a:lnTo>
                  <a:lnTo>
                    <a:pt x="90" y="2"/>
                  </a:lnTo>
                  <a:lnTo>
                    <a:pt x="81" y="5"/>
                  </a:lnTo>
                  <a:lnTo>
                    <a:pt x="69" y="5"/>
                  </a:lnTo>
                  <a:lnTo>
                    <a:pt x="52" y="5"/>
                  </a:lnTo>
                  <a:lnTo>
                    <a:pt x="37" y="5"/>
                  </a:lnTo>
                  <a:lnTo>
                    <a:pt x="22"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8" name="Freeform 17">
              <a:extLst>
                <a:ext uri="{FF2B5EF4-FFF2-40B4-BE49-F238E27FC236}">
                  <a16:creationId xmlns:a16="http://schemas.microsoft.com/office/drawing/2014/main" id="{42A28B0A-B995-125A-FF64-807B1BE10412}"/>
                </a:ext>
              </a:extLst>
            </p:cNvPr>
            <p:cNvSpPr>
              <a:spLocks/>
            </p:cNvSpPr>
            <p:nvPr/>
          </p:nvSpPr>
          <p:spPr bwMode="auto">
            <a:xfrm>
              <a:off x="3321" y="2390"/>
              <a:ext cx="133" cy="76"/>
            </a:xfrm>
            <a:custGeom>
              <a:avLst/>
              <a:gdLst>
                <a:gd name="T0" fmla="*/ 3407716 w 80"/>
                <a:gd name="T1" fmla="*/ 932 h 67"/>
                <a:gd name="T2" fmla="*/ 3335106 w 80"/>
                <a:gd name="T3" fmla="*/ 740 h 67"/>
                <a:gd name="T4" fmla="*/ 2945860 w 80"/>
                <a:gd name="T5" fmla="*/ 620 h 67"/>
                <a:gd name="T6" fmla="*/ 2476974 w 80"/>
                <a:gd name="T7" fmla="*/ 496 h 67"/>
                <a:gd name="T8" fmla="*/ 1845656 w 80"/>
                <a:gd name="T9" fmla="*/ 385 h 67"/>
                <a:gd name="T10" fmla="*/ 1296454 w 80"/>
                <a:gd name="T11" fmla="*/ 270 h 67"/>
                <a:gd name="T12" fmla="*/ 853740 w 80"/>
                <a:gd name="T13" fmla="*/ 164 h 67"/>
                <a:gd name="T14" fmla="*/ 596282 w 80"/>
                <a:gd name="T15" fmla="*/ 88 h 67"/>
                <a:gd name="T16" fmla="*/ 581923 w 80"/>
                <a:gd name="T17" fmla="*/ 61 h 67"/>
                <a:gd name="T18" fmla="*/ 0 w 80"/>
                <a:gd name="T19" fmla="*/ 0 h 67"/>
                <a:gd name="T20" fmla="*/ 76176 w 80"/>
                <a:gd name="T21" fmla="*/ 185 h 67"/>
                <a:gd name="T22" fmla="*/ 469066 w 80"/>
                <a:gd name="T23" fmla="*/ 306 h 67"/>
                <a:gd name="T24" fmla="*/ 967447 w 80"/>
                <a:gd name="T25" fmla="*/ 437 h 67"/>
                <a:gd name="T26" fmla="*/ 1608381 w 80"/>
                <a:gd name="T27" fmla="*/ 557 h 67"/>
                <a:gd name="T28" fmla="*/ 2103488 w 80"/>
                <a:gd name="T29" fmla="*/ 650 h 67"/>
                <a:gd name="T30" fmla="*/ 2553944 w 80"/>
                <a:gd name="T31" fmla="*/ 741 h 67"/>
                <a:gd name="T32" fmla="*/ 2812677 w 80"/>
                <a:gd name="T33" fmla="*/ 836 h 67"/>
                <a:gd name="T34" fmla="*/ 2862423 w 80"/>
                <a:gd name="T35" fmla="*/ 876 h 67"/>
                <a:gd name="T36" fmla="*/ 3407716 w 80"/>
                <a:gd name="T37" fmla="*/ 932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7"/>
                <a:gd name="T59" fmla="*/ 80 w 80"/>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7">
                  <a:moveTo>
                    <a:pt x="79" y="66"/>
                  </a:moveTo>
                  <a:lnTo>
                    <a:pt x="77" y="53"/>
                  </a:lnTo>
                  <a:lnTo>
                    <a:pt x="68" y="43"/>
                  </a:lnTo>
                  <a:lnTo>
                    <a:pt x="57" y="35"/>
                  </a:lnTo>
                  <a:lnTo>
                    <a:pt x="43" y="27"/>
                  </a:lnTo>
                  <a:lnTo>
                    <a:pt x="30" y="19"/>
                  </a:lnTo>
                  <a:lnTo>
                    <a:pt x="20" y="12"/>
                  </a:lnTo>
                  <a:lnTo>
                    <a:pt x="14" y="7"/>
                  </a:lnTo>
                  <a:lnTo>
                    <a:pt x="13" y="4"/>
                  </a:lnTo>
                  <a:lnTo>
                    <a:pt x="0" y="0"/>
                  </a:lnTo>
                  <a:lnTo>
                    <a:pt x="2" y="13"/>
                  </a:lnTo>
                  <a:lnTo>
                    <a:pt x="11" y="22"/>
                  </a:lnTo>
                  <a:lnTo>
                    <a:pt x="22" y="31"/>
                  </a:lnTo>
                  <a:lnTo>
                    <a:pt x="37" y="39"/>
                  </a:lnTo>
                  <a:lnTo>
                    <a:pt x="49" y="46"/>
                  </a:lnTo>
                  <a:lnTo>
                    <a:pt x="59" y="54"/>
                  </a:lnTo>
                  <a:lnTo>
                    <a:pt x="65" y="59"/>
                  </a:lnTo>
                  <a:lnTo>
                    <a:pt x="66" y="62"/>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39" name="Freeform 18">
              <a:extLst>
                <a:ext uri="{FF2B5EF4-FFF2-40B4-BE49-F238E27FC236}">
                  <a16:creationId xmlns:a16="http://schemas.microsoft.com/office/drawing/2014/main" id="{FCFF87A2-1A86-3363-D68B-A7F121F390B5}"/>
                </a:ext>
              </a:extLst>
            </p:cNvPr>
            <p:cNvSpPr>
              <a:spLocks/>
            </p:cNvSpPr>
            <p:nvPr/>
          </p:nvSpPr>
          <p:spPr bwMode="auto">
            <a:xfrm>
              <a:off x="3275" y="2461"/>
              <a:ext cx="179" cy="76"/>
            </a:xfrm>
            <a:custGeom>
              <a:avLst/>
              <a:gdLst>
                <a:gd name="T0" fmla="*/ 0 w 108"/>
                <a:gd name="T1" fmla="*/ 492 h 66"/>
                <a:gd name="T2" fmla="*/ 556841 w 108"/>
                <a:gd name="T3" fmla="*/ 510 h 66"/>
                <a:gd name="T4" fmla="*/ 676721 w 108"/>
                <a:gd name="T5" fmla="*/ 492 h 66"/>
                <a:gd name="T6" fmla="*/ 1005330 w 108"/>
                <a:gd name="T7" fmla="*/ 427 h 66"/>
                <a:gd name="T8" fmla="*/ 1594666 w 108"/>
                <a:gd name="T9" fmla="*/ 415 h 66"/>
                <a:gd name="T10" fmla="*/ 2199267 w 108"/>
                <a:gd name="T11" fmla="*/ 383 h 66"/>
                <a:gd name="T12" fmla="*/ 2830250 w 108"/>
                <a:gd name="T13" fmla="*/ 371 h 66"/>
                <a:gd name="T14" fmla="*/ 3457649 w 108"/>
                <a:gd name="T15" fmla="*/ 360 h 66"/>
                <a:gd name="T16" fmla="*/ 3971546 w 108"/>
                <a:gd name="T17" fmla="*/ 272 h 66"/>
                <a:gd name="T18" fmla="*/ 4325681 w 108"/>
                <a:gd name="T19" fmla="*/ 89 h 66"/>
                <a:gd name="T20" fmla="*/ 3818552 w 108"/>
                <a:gd name="T21" fmla="*/ 0 h 66"/>
                <a:gd name="T22" fmla="*/ 3686323 w 108"/>
                <a:gd name="T23" fmla="*/ 3 h 66"/>
                <a:gd name="T24" fmla="*/ 3320183 w 108"/>
                <a:gd name="T25" fmla="*/ 102 h 66"/>
                <a:gd name="T26" fmla="*/ 2788180 w 108"/>
                <a:gd name="T27" fmla="*/ 117 h 66"/>
                <a:gd name="T28" fmla="*/ 2199267 w 108"/>
                <a:gd name="T29" fmla="*/ 135 h 66"/>
                <a:gd name="T30" fmla="*/ 1488305 w 108"/>
                <a:gd name="T31" fmla="*/ 155 h 66"/>
                <a:gd name="T32" fmla="*/ 881741 w 108"/>
                <a:gd name="T33" fmla="*/ 178 h 66"/>
                <a:gd name="T34" fmla="*/ 408301 w 108"/>
                <a:gd name="T35" fmla="*/ 251 h 66"/>
                <a:gd name="T36" fmla="*/ 42537 w 108"/>
                <a:gd name="T37" fmla="*/ 441 h 66"/>
                <a:gd name="T38" fmla="*/ 606568 w 108"/>
                <a:gd name="T39" fmla="*/ 492 h 66"/>
                <a:gd name="T40" fmla="*/ 0 w 108"/>
                <a:gd name="T41" fmla="*/ 492 h 66"/>
                <a:gd name="T42" fmla="*/ 0 w 108"/>
                <a:gd name="T43" fmla="*/ 1246 h 66"/>
                <a:gd name="T44" fmla="*/ 556841 w 108"/>
                <a:gd name="T45" fmla="*/ 510 h 66"/>
                <a:gd name="T46" fmla="*/ 0 w 108"/>
                <a:gd name="T47" fmla="*/ 492 h 6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
                <a:gd name="T73" fmla="*/ 0 h 66"/>
                <a:gd name="T74" fmla="*/ 108 w 108"/>
                <a:gd name="T75" fmla="*/ 66 h 6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 h="66">
                  <a:moveTo>
                    <a:pt x="0" y="25"/>
                  </a:moveTo>
                  <a:lnTo>
                    <a:pt x="14" y="27"/>
                  </a:lnTo>
                  <a:lnTo>
                    <a:pt x="17" y="25"/>
                  </a:lnTo>
                  <a:lnTo>
                    <a:pt x="25" y="22"/>
                  </a:lnTo>
                  <a:lnTo>
                    <a:pt x="39" y="21"/>
                  </a:lnTo>
                  <a:lnTo>
                    <a:pt x="54" y="20"/>
                  </a:lnTo>
                  <a:lnTo>
                    <a:pt x="70" y="19"/>
                  </a:lnTo>
                  <a:lnTo>
                    <a:pt x="85" y="18"/>
                  </a:lnTo>
                  <a:lnTo>
                    <a:pt x="98" y="14"/>
                  </a:lnTo>
                  <a:lnTo>
                    <a:pt x="107" y="4"/>
                  </a:lnTo>
                  <a:lnTo>
                    <a:pt x="94" y="0"/>
                  </a:lnTo>
                  <a:lnTo>
                    <a:pt x="91" y="3"/>
                  </a:lnTo>
                  <a:lnTo>
                    <a:pt x="82" y="5"/>
                  </a:lnTo>
                  <a:lnTo>
                    <a:pt x="69" y="6"/>
                  </a:lnTo>
                  <a:lnTo>
                    <a:pt x="54" y="7"/>
                  </a:lnTo>
                  <a:lnTo>
                    <a:pt x="37" y="8"/>
                  </a:lnTo>
                  <a:lnTo>
                    <a:pt x="22" y="9"/>
                  </a:lnTo>
                  <a:lnTo>
                    <a:pt x="10" y="13"/>
                  </a:lnTo>
                  <a:lnTo>
                    <a:pt x="1" y="23"/>
                  </a:lnTo>
                  <a:lnTo>
                    <a:pt x="15" y="25"/>
                  </a:lnTo>
                  <a:lnTo>
                    <a:pt x="0" y="25"/>
                  </a:lnTo>
                  <a:lnTo>
                    <a:pt x="0" y="65"/>
                  </a:lnTo>
                  <a:lnTo>
                    <a:pt x="14" y="27"/>
                  </a:lnTo>
                  <a:lnTo>
                    <a:pt x="0"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0" name="Freeform 19">
              <a:extLst>
                <a:ext uri="{FF2B5EF4-FFF2-40B4-BE49-F238E27FC236}">
                  <a16:creationId xmlns:a16="http://schemas.microsoft.com/office/drawing/2014/main" id="{762936EF-9287-ACAF-C404-7153A4B56E13}"/>
                </a:ext>
              </a:extLst>
            </p:cNvPr>
            <p:cNvSpPr>
              <a:spLocks/>
            </p:cNvSpPr>
            <p:nvPr/>
          </p:nvSpPr>
          <p:spPr bwMode="auto">
            <a:xfrm>
              <a:off x="3275" y="2444"/>
              <a:ext cx="25" cy="48"/>
            </a:xfrm>
            <a:custGeom>
              <a:avLst/>
              <a:gdLst>
                <a:gd name="T0" fmla="*/ 609953 w 15"/>
                <a:gd name="T1" fmla="*/ 691 h 42"/>
                <a:gd name="T2" fmla="*/ 0 w 15"/>
                <a:gd name="T3" fmla="*/ 637 h 42"/>
                <a:gd name="T4" fmla="*/ 0 w 15"/>
                <a:gd name="T5" fmla="*/ 671 h 42"/>
                <a:gd name="T6" fmla="*/ 621467 w 15"/>
                <a:gd name="T7" fmla="*/ 671 h 42"/>
                <a:gd name="T8" fmla="*/ 621467 w 15"/>
                <a:gd name="T9" fmla="*/ 637 h 42"/>
                <a:gd name="T10" fmla="*/ 0 w 15"/>
                <a:gd name="T11" fmla="*/ 606 h 42"/>
                <a:gd name="T12" fmla="*/ 621467 w 15"/>
                <a:gd name="T13" fmla="*/ 637 h 42"/>
                <a:gd name="T14" fmla="*/ 621467 w 15"/>
                <a:gd name="T15" fmla="*/ 0 h 42"/>
                <a:gd name="T16" fmla="*/ 0 w 15"/>
                <a:gd name="T17" fmla="*/ 606 h 42"/>
                <a:gd name="T18" fmla="*/ 609953 w 15"/>
                <a:gd name="T19" fmla="*/ 69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42"/>
                <a:gd name="T32" fmla="*/ 15 w 1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42">
                  <a:moveTo>
                    <a:pt x="13" y="41"/>
                  </a:moveTo>
                  <a:lnTo>
                    <a:pt x="0" y="39"/>
                  </a:lnTo>
                  <a:lnTo>
                    <a:pt x="0" y="40"/>
                  </a:lnTo>
                  <a:lnTo>
                    <a:pt x="14" y="40"/>
                  </a:lnTo>
                  <a:lnTo>
                    <a:pt x="14" y="39"/>
                  </a:lnTo>
                  <a:lnTo>
                    <a:pt x="0" y="37"/>
                  </a:lnTo>
                  <a:lnTo>
                    <a:pt x="14" y="39"/>
                  </a:lnTo>
                  <a:lnTo>
                    <a:pt x="14" y="0"/>
                  </a:lnTo>
                  <a:lnTo>
                    <a:pt x="0" y="37"/>
                  </a:lnTo>
                  <a:lnTo>
                    <a:pt x="13" y="41"/>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1" name="Freeform 20">
              <a:extLst>
                <a:ext uri="{FF2B5EF4-FFF2-40B4-BE49-F238E27FC236}">
                  <a16:creationId xmlns:a16="http://schemas.microsoft.com/office/drawing/2014/main" id="{0B1E856D-E1E4-BE37-BACC-9E5B817BC80C}"/>
                </a:ext>
              </a:extLst>
            </p:cNvPr>
            <p:cNvSpPr>
              <a:spLocks/>
            </p:cNvSpPr>
            <p:nvPr/>
          </p:nvSpPr>
          <p:spPr bwMode="auto">
            <a:xfrm>
              <a:off x="3278" y="2487"/>
              <a:ext cx="130" cy="75"/>
            </a:xfrm>
            <a:custGeom>
              <a:avLst/>
              <a:gdLst>
                <a:gd name="T0" fmla="*/ 2718437 w 79"/>
                <a:gd name="T1" fmla="*/ 955 h 66"/>
                <a:gd name="T2" fmla="*/ 2654305 w 79"/>
                <a:gd name="T3" fmla="*/ 768 h 66"/>
                <a:gd name="T4" fmla="*/ 2373138 w 79"/>
                <a:gd name="T5" fmla="*/ 648 h 66"/>
                <a:gd name="T6" fmla="*/ 1930358 w 79"/>
                <a:gd name="T7" fmla="*/ 509 h 66"/>
                <a:gd name="T8" fmla="*/ 1468965 w 79"/>
                <a:gd name="T9" fmla="*/ 394 h 66"/>
                <a:gd name="T10" fmla="*/ 1040012 w 79"/>
                <a:gd name="T11" fmla="*/ 302 h 66"/>
                <a:gd name="T12" fmla="*/ 656503 w 79"/>
                <a:gd name="T13" fmla="*/ 191 h 66"/>
                <a:gd name="T14" fmla="*/ 493266 w 79"/>
                <a:gd name="T15" fmla="*/ 88 h 66"/>
                <a:gd name="T16" fmla="*/ 451334 w 79"/>
                <a:gd name="T17" fmla="*/ 3 h 66"/>
                <a:gd name="T18" fmla="*/ 0 w 79"/>
                <a:gd name="T19" fmla="*/ 0 h 66"/>
                <a:gd name="T20" fmla="*/ 61551 w 79"/>
                <a:gd name="T21" fmla="*/ 191 h 66"/>
                <a:gd name="T22" fmla="*/ 339473 w 79"/>
                <a:gd name="T23" fmla="*/ 343 h 66"/>
                <a:gd name="T24" fmla="*/ 760939 w 79"/>
                <a:gd name="T25" fmla="*/ 448 h 66"/>
                <a:gd name="T26" fmla="*/ 1252178 w 79"/>
                <a:gd name="T27" fmla="*/ 572 h 66"/>
                <a:gd name="T28" fmla="*/ 1711412 w 79"/>
                <a:gd name="T29" fmla="*/ 665 h 66"/>
                <a:gd name="T30" fmla="*/ 2060546 w 79"/>
                <a:gd name="T31" fmla="*/ 768 h 66"/>
                <a:gd name="T32" fmla="*/ 2231208 w 79"/>
                <a:gd name="T33" fmla="*/ 859 h 66"/>
                <a:gd name="T34" fmla="*/ 2269433 w 79"/>
                <a:gd name="T35" fmla="*/ 891 h 66"/>
                <a:gd name="T36" fmla="*/ 2718437 w 79"/>
                <a:gd name="T37" fmla="*/ 95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3"/>
                  </a:lnTo>
                  <a:lnTo>
                    <a:pt x="68" y="43"/>
                  </a:lnTo>
                  <a:lnTo>
                    <a:pt x="55" y="35"/>
                  </a:lnTo>
                  <a:lnTo>
                    <a:pt x="42" y="27"/>
                  </a:lnTo>
                  <a:lnTo>
                    <a:pt x="30" y="20"/>
                  </a:lnTo>
                  <a:lnTo>
                    <a:pt x="19" y="13"/>
                  </a:lnTo>
                  <a:lnTo>
                    <a:pt x="14" y="6"/>
                  </a:lnTo>
                  <a:lnTo>
                    <a:pt x="13" y="3"/>
                  </a:lnTo>
                  <a:lnTo>
                    <a:pt x="0" y="0"/>
                  </a:lnTo>
                  <a:lnTo>
                    <a:pt x="2" y="13"/>
                  </a:lnTo>
                  <a:lnTo>
                    <a:pt x="10" y="23"/>
                  </a:lnTo>
                  <a:lnTo>
                    <a:pt x="22" y="31"/>
                  </a:lnTo>
                  <a:lnTo>
                    <a:pt x="36" y="39"/>
                  </a:lnTo>
                  <a:lnTo>
                    <a:pt x="49" y="46"/>
                  </a:lnTo>
                  <a:lnTo>
                    <a:pt x="59" y="53"/>
                  </a:lnTo>
                  <a:lnTo>
                    <a:pt x="64" y="59"/>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2" name="Freeform 21">
              <a:extLst>
                <a:ext uri="{FF2B5EF4-FFF2-40B4-BE49-F238E27FC236}">
                  <a16:creationId xmlns:a16="http://schemas.microsoft.com/office/drawing/2014/main" id="{112EDE3F-5B7D-6E20-081A-5F90C5422FD8}"/>
                </a:ext>
              </a:extLst>
            </p:cNvPr>
            <p:cNvSpPr>
              <a:spLocks/>
            </p:cNvSpPr>
            <p:nvPr/>
          </p:nvSpPr>
          <p:spPr bwMode="auto">
            <a:xfrm>
              <a:off x="3232" y="2558"/>
              <a:ext cx="176" cy="29"/>
            </a:xfrm>
            <a:custGeom>
              <a:avLst/>
              <a:gdLst>
                <a:gd name="T0" fmla="*/ 448956 w 107"/>
                <a:gd name="T1" fmla="*/ 530 h 25"/>
                <a:gd name="T2" fmla="*/ 520021 w 107"/>
                <a:gd name="T3" fmla="*/ 516 h 25"/>
                <a:gd name="T4" fmla="*/ 818282 w 107"/>
                <a:gd name="T5" fmla="*/ 445 h 25"/>
                <a:gd name="T6" fmla="*/ 1274250 w 107"/>
                <a:gd name="T7" fmla="*/ 394 h 25"/>
                <a:gd name="T8" fmla="*/ 1829721 w 107"/>
                <a:gd name="T9" fmla="*/ 445 h 25"/>
                <a:gd name="T10" fmla="*/ 2374059 w 107"/>
                <a:gd name="T11" fmla="*/ 394 h 25"/>
                <a:gd name="T12" fmla="*/ 2899460 w 107"/>
                <a:gd name="T13" fmla="*/ 392 h 25"/>
                <a:gd name="T14" fmla="*/ 3324719 w 107"/>
                <a:gd name="T15" fmla="*/ 291 h 25"/>
                <a:gd name="T16" fmla="*/ 3649694 w 107"/>
                <a:gd name="T17" fmla="*/ 101 h 25"/>
                <a:gd name="T18" fmla="*/ 3223782 w 107"/>
                <a:gd name="T19" fmla="*/ 0 h 25"/>
                <a:gd name="T20" fmla="*/ 3107351 w 107"/>
                <a:gd name="T21" fmla="*/ 2 h 25"/>
                <a:gd name="T22" fmla="*/ 2833329 w 107"/>
                <a:gd name="T23" fmla="*/ 101 h 25"/>
                <a:gd name="T24" fmla="*/ 2374059 w 107"/>
                <a:gd name="T25" fmla="*/ 117 h 25"/>
                <a:gd name="T26" fmla="*/ 1829721 w 107"/>
                <a:gd name="T27" fmla="*/ 101 h 25"/>
                <a:gd name="T28" fmla="*/ 1274250 w 107"/>
                <a:gd name="T29" fmla="*/ 117 h 25"/>
                <a:gd name="T30" fmla="*/ 755427 w 107"/>
                <a:gd name="T31" fmla="*/ 136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4" y="19"/>
                  </a:lnTo>
                  <a:lnTo>
                    <a:pt x="37" y="18"/>
                  </a:lnTo>
                  <a:lnTo>
                    <a:pt x="53" y="19"/>
                  </a:lnTo>
                  <a:lnTo>
                    <a:pt x="69" y="18"/>
                  </a:lnTo>
                  <a:lnTo>
                    <a:pt x="84" y="17"/>
                  </a:lnTo>
                  <a:lnTo>
                    <a:pt x="96" y="13"/>
                  </a:lnTo>
                  <a:lnTo>
                    <a:pt x="106" y="4"/>
                  </a:lnTo>
                  <a:lnTo>
                    <a:pt x="93" y="0"/>
                  </a:lnTo>
                  <a:lnTo>
                    <a:pt x="90" y="2"/>
                  </a:lnTo>
                  <a:lnTo>
                    <a:pt x="82" y="4"/>
                  </a:lnTo>
                  <a:lnTo>
                    <a:pt x="69" y="5"/>
                  </a:lnTo>
                  <a:lnTo>
                    <a:pt x="53" y="4"/>
                  </a:lnTo>
                  <a:lnTo>
                    <a:pt x="37" y="5"/>
                  </a:lnTo>
                  <a:lnTo>
                    <a:pt x="22" y="6"/>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3" name="Freeform 22">
              <a:extLst>
                <a:ext uri="{FF2B5EF4-FFF2-40B4-BE49-F238E27FC236}">
                  <a16:creationId xmlns:a16="http://schemas.microsoft.com/office/drawing/2014/main" id="{B76EF349-5FE6-8443-851B-7FF2ECB0EE1E}"/>
                </a:ext>
              </a:extLst>
            </p:cNvPr>
            <p:cNvSpPr>
              <a:spLocks/>
            </p:cNvSpPr>
            <p:nvPr/>
          </p:nvSpPr>
          <p:spPr bwMode="auto">
            <a:xfrm>
              <a:off x="3232" y="2580"/>
              <a:ext cx="131" cy="78"/>
            </a:xfrm>
            <a:custGeom>
              <a:avLst/>
              <a:gdLst>
                <a:gd name="T0" fmla="*/ 2480706 w 80"/>
                <a:gd name="T1" fmla="*/ 1621 h 67"/>
                <a:gd name="T2" fmla="*/ 2480706 w 80"/>
                <a:gd name="T3" fmla="*/ 1587 h 67"/>
                <a:gd name="T4" fmla="*/ 2415525 w 80"/>
                <a:gd name="T5" fmla="*/ 1299 h 67"/>
                <a:gd name="T6" fmla="*/ 2134954 w 80"/>
                <a:gd name="T7" fmla="*/ 1056 h 67"/>
                <a:gd name="T8" fmla="*/ 1769243 w 80"/>
                <a:gd name="T9" fmla="*/ 864 h 67"/>
                <a:gd name="T10" fmla="*/ 1325320 w 80"/>
                <a:gd name="T11" fmla="*/ 672 h 67"/>
                <a:gd name="T12" fmla="*/ 939702 w 80"/>
                <a:gd name="T13" fmla="*/ 480 h 67"/>
                <a:gd name="T14" fmla="*/ 630154 w 80"/>
                <a:gd name="T15" fmla="*/ 304 h 67"/>
                <a:gd name="T16" fmla="*/ 445495 w 80"/>
                <a:gd name="T17" fmla="*/ 139 h 67"/>
                <a:gd name="T18" fmla="*/ 402943 w 80"/>
                <a:gd name="T19" fmla="*/ 102 h 67"/>
                <a:gd name="T20" fmla="*/ 0 w 80"/>
                <a:gd name="T21" fmla="*/ 0 h 67"/>
                <a:gd name="T22" fmla="*/ 56043 w 80"/>
                <a:gd name="T23" fmla="*/ 304 h 67"/>
                <a:gd name="T24" fmla="*/ 335959 w 80"/>
                <a:gd name="T25" fmla="*/ 559 h 67"/>
                <a:gd name="T26" fmla="*/ 695772 w 80"/>
                <a:gd name="T27" fmla="*/ 779 h 67"/>
                <a:gd name="T28" fmla="*/ 1139327 w 80"/>
                <a:gd name="T29" fmla="*/ 984 h 67"/>
                <a:gd name="T30" fmla="*/ 1571389 w 80"/>
                <a:gd name="T31" fmla="*/ 1146 h 67"/>
                <a:gd name="T32" fmla="*/ 1865648 w 80"/>
                <a:gd name="T33" fmla="*/ 1318 h 67"/>
                <a:gd name="T34" fmla="*/ 2045165 w 80"/>
                <a:gd name="T35" fmla="*/ 1442 h 67"/>
                <a:gd name="T36" fmla="*/ 2079299 w 80"/>
                <a:gd name="T37" fmla="*/ 1512 h 67"/>
                <a:gd name="T38" fmla="*/ 2079299 w 80"/>
                <a:gd name="T39" fmla="*/ 1501 h 67"/>
                <a:gd name="T40" fmla="*/ 2480706 w 80"/>
                <a:gd name="T41" fmla="*/ 1621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67"/>
                <a:gd name="T65" fmla="*/ 80 w 8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67">
                  <a:moveTo>
                    <a:pt x="79" y="66"/>
                  </a:moveTo>
                  <a:lnTo>
                    <a:pt x="79" y="65"/>
                  </a:lnTo>
                  <a:lnTo>
                    <a:pt x="77" y="53"/>
                  </a:lnTo>
                  <a:lnTo>
                    <a:pt x="68" y="43"/>
                  </a:lnTo>
                  <a:lnTo>
                    <a:pt x="56" y="35"/>
                  </a:lnTo>
                  <a:lnTo>
                    <a:pt x="42" y="28"/>
                  </a:lnTo>
                  <a:lnTo>
                    <a:pt x="30" y="20"/>
                  </a:lnTo>
                  <a:lnTo>
                    <a:pt x="20" y="13"/>
                  </a:lnTo>
                  <a:lnTo>
                    <a:pt x="14" y="6"/>
                  </a:lnTo>
                  <a:lnTo>
                    <a:pt x="13" y="4"/>
                  </a:lnTo>
                  <a:lnTo>
                    <a:pt x="0" y="0"/>
                  </a:lnTo>
                  <a:lnTo>
                    <a:pt x="2" y="13"/>
                  </a:lnTo>
                  <a:lnTo>
                    <a:pt x="11" y="23"/>
                  </a:lnTo>
                  <a:lnTo>
                    <a:pt x="22" y="32"/>
                  </a:lnTo>
                  <a:lnTo>
                    <a:pt x="36" y="40"/>
                  </a:lnTo>
                  <a:lnTo>
                    <a:pt x="50" y="47"/>
                  </a:lnTo>
                  <a:lnTo>
                    <a:pt x="59" y="54"/>
                  </a:lnTo>
                  <a:lnTo>
                    <a:pt x="65" y="60"/>
                  </a:lnTo>
                  <a:lnTo>
                    <a:pt x="66" y="62"/>
                  </a:lnTo>
                  <a:lnTo>
                    <a:pt x="66" y="61"/>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4" name="Freeform 23">
              <a:extLst>
                <a:ext uri="{FF2B5EF4-FFF2-40B4-BE49-F238E27FC236}">
                  <a16:creationId xmlns:a16="http://schemas.microsoft.com/office/drawing/2014/main" id="{6A8B6EAE-AE60-DB7C-97D4-BACB0CBD045F}"/>
                </a:ext>
              </a:extLst>
            </p:cNvPr>
            <p:cNvSpPr>
              <a:spLocks/>
            </p:cNvSpPr>
            <p:nvPr/>
          </p:nvSpPr>
          <p:spPr bwMode="auto">
            <a:xfrm>
              <a:off x="3187" y="2650"/>
              <a:ext cx="176" cy="25"/>
            </a:xfrm>
            <a:custGeom>
              <a:avLst/>
              <a:gdLst>
                <a:gd name="T0" fmla="*/ 490278 w 107"/>
                <a:gd name="T1" fmla="*/ 714 h 21"/>
                <a:gd name="T2" fmla="*/ 448956 w 107"/>
                <a:gd name="T3" fmla="*/ 813 h 21"/>
                <a:gd name="T4" fmla="*/ 520021 w 107"/>
                <a:gd name="T5" fmla="*/ 813 h 21"/>
                <a:gd name="T6" fmla="*/ 806439 w 107"/>
                <a:gd name="T7" fmla="*/ 714 h 21"/>
                <a:gd name="T8" fmla="*/ 1274250 w 107"/>
                <a:gd name="T9" fmla="*/ 714 h 21"/>
                <a:gd name="T10" fmla="*/ 1803036 w 107"/>
                <a:gd name="T11" fmla="*/ 727 h 21"/>
                <a:gd name="T12" fmla="*/ 2351955 w 107"/>
                <a:gd name="T13" fmla="*/ 714 h 21"/>
                <a:gd name="T14" fmla="*/ 2899460 w 107"/>
                <a:gd name="T15" fmla="*/ 683 h 21"/>
                <a:gd name="T16" fmla="*/ 3361858 w 107"/>
                <a:gd name="T17" fmla="*/ 574 h 21"/>
                <a:gd name="T18" fmla="*/ 3649694 w 107"/>
                <a:gd name="T19" fmla="*/ 202 h 21"/>
                <a:gd name="T20" fmla="*/ 3223782 w 107"/>
                <a:gd name="T21" fmla="*/ 0 h 21"/>
                <a:gd name="T22" fmla="*/ 3107351 w 107"/>
                <a:gd name="T23" fmla="*/ 143 h 21"/>
                <a:gd name="T24" fmla="*/ 2796262 w 107"/>
                <a:gd name="T25" fmla="*/ 170 h 21"/>
                <a:gd name="T26" fmla="*/ 2351955 w 107"/>
                <a:gd name="T27" fmla="*/ 240 h 21"/>
                <a:gd name="T28" fmla="*/ 1803036 w 107"/>
                <a:gd name="T29" fmla="*/ 202 h 21"/>
                <a:gd name="T30" fmla="*/ 1274250 w 107"/>
                <a:gd name="T31" fmla="*/ 170 h 21"/>
                <a:gd name="T32" fmla="*/ 755427 w 107"/>
                <a:gd name="T33" fmla="*/ 240 h 21"/>
                <a:gd name="T34" fmla="*/ 335377 w 107"/>
                <a:gd name="T35" fmla="*/ 340 h 21"/>
                <a:gd name="T36" fmla="*/ 37287 w 107"/>
                <a:gd name="T37" fmla="*/ 611 h 21"/>
                <a:gd name="T38" fmla="*/ 0 w 107"/>
                <a:gd name="T39" fmla="*/ 714 h 21"/>
                <a:gd name="T40" fmla="*/ 37287 w 107"/>
                <a:gd name="T41" fmla="*/ 611 h 21"/>
                <a:gd name="T42" fmla="*/ 0 w 107"/>
                <a:gd name="T43" fmla="*/ 611 h 21"/>
                <a:gd name="T44" fmla="*/ 0 w 107"/>
                <a:gd name="T45" fmla="*/ 714 h 21"/>
                <a:gd name="T46" fmla="*/ 490278 w 107"/>
                <a:gd name="T47" fmla="*/ 714 h 2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7"/>
                <a:gd name="T73" fmla="*/ 0 h 21"/>
                <a:gd name="T74" fmla="*/ 107 w 107"/>
                <a:gd name="T75" fmla="*/ 21 h 2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7" h="21">
                  <a:moveTo>
                    <a:pt x="14" y="18"/>
                  </a:moveTo>
                  <a:lnTo>
                    <a:pt x="13" y="20"/>
                  </a:lnTo>
                  <a:lnTo>
                    <a:pt x="15" y="20"/>
                  </a:lnTo>
                  <a:lnTo>
                    <a:pt x="23" y="18"/>
                  </a:lnTo>
                  <a:lnTo>
                    <a:pt x="37" y="18"/>
                  </a:lnTo>
                  <a:lnTo>
                    <a:pt x="52" y="19"/>
                  </a:lnTo>
                  <a:lnTo>
                    <a:pt x="68" y="18"/>
                  </a:lnTo>
                  <a:lnTo>
                    <a:pt x="84" y="17"/>
                  </a:lnTo>
                  <a:lnTo>
                    <a:pt x="97" y="14"/>
                  </a:lnTo>
                  <a:lnTo>
                    <a:pt x="106" y="5"/>
                  </a:lnTo>
                  <a:lnTo>
                    <a:pt x="93" y="0"/>
                  </a:lnTo>
                  <a:lnTo>
                    <a:pt x="90" y="3"/>
                  </a:lnTo>
                  <a:lnTo>
                    <a:pt x="81" y="4"/>
                  </a:lnTo>
                  <a:lnTo>
                    <a:pt x="68" y="6"/>
                  </a:lnTo>
                  <a:lnTo>
                    <a:pt x="52" y="5"/>
                  </a:lnTo>
                  <a:lnTo>
                    <a:pt x="37" y="4"/>
                  </a:lnTo>
                  <a:lnTo>
                    <a:pt x="22" y="6"/>
                  </a:lnTo>
                  <a:lnTo>
                    <a:pt x="10" y="8"/>
                  </a:lnTo>
                  <a:lnTo>
                    <a:pt x="1" y="16"/>
                  </a:lnTo>
                  <a:lnTo>
                    <a:pt x="0" y="18"/>
                  </a:lnTo>
                  <a:lnTo>
                    <a:pt x="1" y="16"/>
                  </a:lnTo>
                  <a:lnTo>
                    <a:pt x="0" y="16"/>
                  </a:lnTo>
                  <a:lnTo>
                    <a:pt x="0" y="18"/>
                  </a:lnTo>
                  <a:lnTo>
                    <a:pt x="14" y="1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5" name="Freeform 24">
              <a:extLst>
                <a:ext uri="{FF2B5EF4-FFF2-40B4-BE49-F238E27FC236}">
                  <a16:creationId xmlns:a16="http://schemas.microsoft.com/office/drawing/2014/main" id="{ABA4F79B-4286-2C8E-53F9-6A1B9498565C}"/>
                </a:ext>
              </a:extLst>
            </p:cNvPr>
            <p:cNvSpPr>
              <a:spLocks/>
            </p:cNvSpPr>
            <p:nvPr/>
          </p:nvSpPr>
          <p:spPr bwMode="auto">
            <a:xfrm>
              <a:off x="3187" y="2671"/>
              <a:ext cx="24" cy="6"/>
            </a:xfrm>
            <a:custGeom>
              <a:avLst/>
              <a:gdLst>
                <a:gd name="T0" fmla="*/ 255066 w 15"/>
                <a:gd name="T1" fmla="*/ 5 h 6"/>
                <a:gd name="T2" fmla="*/ 265134 w 15"/>
                <a:gd name="T3" fmla="*/ 2 h 6"/>
                <a:gd name="T4" fmla="*/ 265134 w 15"/>
                <a:gd name="T5" fmla="*/ 1 h 6"/>
                <a:gd name="T6" fmla="*/ 0 w 15"/>
                <a:gd name="T7" fmla="*/ 1 h 6"/>
                <a:gd name="T8" fmla="*/ 0 w 15"/>
                <a:gd name="T9" fmla="*/ 2 h 6"/>
                <a:gd name="T10" fmla="*/ 24325 w 15"/>
                <a:gd name="T11" fmla="*/ 0 h 6"/>
                <a:gd name="T12" fmla="*/ 255066 w 15"/>
                <a:gd name="T13" fmla="*/ 5 h 6"/>
                <a:gd name="T14" fmla="*/ 265134 w 15"/>
                <a:gd name="T15" fmla="*/ 4 h 6"/>
                <a:gd name="T16" fmla="*/ 265134 w 15"/>
                <a:gd name="T17" fmla="*/ 2 h 6"/>
                <a:gd name="T18" fmla="*/ 255066 w 15"/>
                <a:gd name="T19" fmla="*/ 5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6"/>
                <a:gd name="T32" fmla="*/ 15 w 15"/>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6">
                  <a:moveTo>
                    <a:pt x="13" y="5"/>
                  </a:moveTo>
                  <a:lnTo>
                    <a:pt x="14" y="2"/>
                  </a:lnTo>
                  <a:lnTo>
                    <a:pt x="14" y="1"/>
                  </a:lnTo>
                  <a:lnTo>
                    <a:pt x="0" y="1"/>
                  </a:lnTo>
                  <a:lnTo>
                    <a:pt x="0" y="2"/>
                  </a:lnTo>
                  <a:lnTo>
                    <a:pt x="1" y="0"/>
                  </a:lnTo>
                  <a:lnTo>
                    <a:pt x="13" y="5"/>
                  </a:lnTo>
                  <a:lnTo>
                    <a:pt x="14" y="4"/>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6" name="Freeform 25">
              <a:extLst>
                <a:ext uri="{FF2B5EF4-FFF2-40B4-BE49-F238E27FC236}">
                  <a16:creationId xmlns:a16="http://schemas.microsoft.com/office/drawing/2014/main" id="{4FF78FA9-A50B-09D7-9726-F360A7784FBA}"/>
                </a:ext>
              </a:extLst>
            </p:cNvPr>
            <p:cNvSpPr>
              <a:spLocks/>
            </p:cNvSpPr>
            <p:nvPr/>
          </p:nvSpPr>
          <p:spPr bwMode="auto">
            <a:xfrm>
              <a:off x="3189" y="2671"/>
              <a:ext cx="128" cy="76"/>
            </a:xfrm>
            <a:custGeom>
              <a:avLst/>
              <a:gdLst>
                <a:gd name="T0" fmla="*/ 2532882 w 78"/>
                <a:gd name="T1" fmla="*/ 932 h 67"/>
                <a:gd name="T2" fmla="*/ 2464373 w 78"/>
                <a:gd name="T3" fmla="*/ 740 h 67"/>
                <a:gd name="T4" fmla="*/ 2209400 w 78"/>
                <a:gd name="T5" fmla="*/ 620 h 67"/>
                <a:gd name="T6" fmla="*/ 1812188 w 78"/>
                <a:gd name="T7" fmla="*/ 491 h 67"/>
                <a:gd name="T8" fmla="*/ 1380721 w 78"/>
                <a:gd name="T9" fmla="*/ 348 h 67"/>
                <a:gd name="T10" fmla="*/ 967606 w 78"/>
                <a:gd name="T11" fmla="*/ 270 h 67"/>
                <a:gd name="T12" fmla="*/ 625104 w 78"/>
                <a:gd name="T13" fmla="*/ 164 h 67"/>
                <a:gd name="T14" fmla="*/ 418066 w 78"/>
                <a:gd name="T15" fmla="*/ 78 h 67"/>
                <a:gd name="T16" fmla="*/ 405022 w 78"/>
                <a:gd name="T17" fmla="*/ 69 h 67"/>
                <a:gd name="T18" fmla="*/ 0 w 78"/>
                <a:gd name="T19" fmla="*/ 0 h 67"/>
                <a:gd name="T20" fmla="*/ 35129 w 78"/>
                <a:gd name="T21" fmla="*/ 185 h 67"/>
                <a:gd name="T22" fmla="*/ 323513 w 78"/>
                <a:gd name="T23" fmla="*/ 306 h 67"/>
                <a:gd name="T24" fmla="*/ 720891 w 78"/>
                <a:gd name="T25" fmla="*/ 433 h 67"/>
                <a:gd name="T26" fmla="*/ 1148299 w 78"/>
                <a:gd name="T27" fmla="*/ 547 h 67"/>
                <a:gd name="T28" fmla="*/ 1587866 w 78"/>
                <a:gd name="T29" fmla="*/ 650 h 67"/>
                <a:gd name="T30" fmla="*/ 1906471 w 78"/>
                <a:gd name="T31" fmla="*/ 740 h 67"/>
                <a:gd name="T32" fmla="*/ 2066934 w 78"/>
                <a:gd name="T33" fmla="*/ 839 h 67"/>
                <a:gd name="T34" fmla="*/ 2101908 w 78"/>
                <a:gd name="T35" fmla="*/ 876 h 67"/>
                <a:gd name="T36" fmla="*/ 2532882 w 78"/>
                <a:gd name="T37" fmla="*/ 932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67"/>
                <a:gd name="T59" fmla="*/ 78 w 78"/>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67">
                  <a:moveTo>
                    <a:pt x="77" y="66"/>
                  </a:moveTo>
                  <a:lnTo>
                    <a:pt x="75" y="53"/>
                  </a:lnTo>
                  <a:lnTo>
                    <a:pt x="67" y="43"/>
                  </a:lnTo>
                  <a:lnTo>
                    <a:pt x="55" y="34"/>
                  </a:lnTo>
                  <a:lnTo>
                    <a:pt x="42" y="26"/>
                  </a:lnTo>
                  <a:lnTo>
                    <a:pt x="29" y="19"/>
                  </a:lnTo>
                  <a:lnTo>
                    <a:pt x="19" y="12"/>
                  </a:lnTo>
                  <a:lnTo>
                    <a:pt x="13" y="6"/>
                  </a:lnTo>
                  <a:lnTo>
                    <a:pt x="12" y="5"/>
                  </a:lnTo>
                  <a:lnTo>
                    <a:pt x="0" y="0"/>
                  </a:lnTo>
                  <a:lnTo>
                    <a:pt x="1" y="13"/>
                  </a:lnTo>
                  <a:lnTo>
                    <a:pt x="10" y="22"/>
                  </a:lnTo>
                  <a:lnTo>
                    <a:pt x="22" y="30"/>
                  </a:lnTo>
                  <a:lnTo>
                    <a:pt x="35" y="38"/>
                  </a:lnTo>
                  <a:lnTo>
                    <a:pt x="48" y="46"/>
                  </a:lnTo>
                  <a:lnTo>
                    <a:pt x="58" y="53"/>
                  </a:lnTo>
                  <a:lnTo>
                    <a:pt x="63" y="60"/>
                  </a:lnTo>
                  <a:lnTo>
                    <a:pt x="64" y="62"/>
                  </a:lnTo>
                  <a:lnTo>
                    <a:pt x="77"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7" name="Freeform 26">
              <a:extLst>
                <a:ext uri="{FF2B5EF4-FFF2-40B4-BE49-F238E27FC236}">
                  <a16:creationId xmlns:a16="http://schemas.microsoft.com/office/drawing/2014/main" id="{7C211411-0FC7-D15C-64EA-098D186CACFD}"/>
                </a:ext>
              </a:extLst>
            </p:cNvPr>
            <p:cNvSpPr>
              <a:spLocks/>
            </p:cNvSpPr>
            <p:nvPr/>
          </p:nvSpPr>
          <p:spPr bwMode="auto">
            <a:xfrm>
              <a:off x="3141" y="2742"/>
              <a:ext cx="176" cy="29"/>
            </a:xfrm>
            <a:custGeom>
              <a:avLst/>
              <a:gdLst>
                <a:gd name="T0" fmla="*/ 448956 w 107"/>
                <a:gd name="T1" fmla="*/ 530 h 25"/>
                <a:gd name="T2" fmla="*/ 520021 w 107"/>
                <a:gd name="T3" fmla="*/ 516 h 25"/>
                <a:gd name="T4" fmla="*/ 818282 w 107"/>
                <a:gd name="T5" fmla="*/ 455 h 25"/>
                <a:gd name="T6" fmla="*/ 1274250 w 107"/>
                <a:gd name="T7" fmla="*/ 445 h 25"/>
                <a:gd name="T8" fmla="*/ 1829721 w 107"/>
                <a:gd name="T9" fmla="*/ 445 h 25"/>
                <a:gd name="T10" fmla="*/ 2374059 w 107"/>
                <a:gd name="T11" fmla="*/ 445 h 25"/>
                <a:gd name="T12" fmla="*/ 2899460 w 107"/>
                <a:gd name="T13" fmla="*/ 392 h 25"/>
                <a:gd name="T14" fmla="*/ 3361858 w 107"/>
                <a:gd name="T15" fmla="*/ 291 h 25"/>
                <a:gd name="T16" fmla="*/ 3649694 w 107"/>
                <a:gd name="T17" fmla="*/ 101 h 25"/>
                <a:gd name="T18" fmla="*/ 3223782 w 107"/>
                <a:gd name="T19" fmla="*/ 0 h 25"/>
                <a:gd name="T20" fmla="*/ 3156192 w 107"/>
                <a:gd name="T21" fmla="*/ 2 h 25"/>
                <a:gd name="T22" fmla="*/ 2833329 w 107"/>
                <a:gd name="T23" fmla="*/ 101 h 25"/>
                <a:gd name="T24" fmla="*/ 2374059 w 107"/>
                <a:gd name="T25" fmla="*/ 136 h 25"/>
                <a:gd name="T26" fmla="*/ 1829721 w 107"/>
                <a:gd name="T27" fmla="*/ 117 h 25"/>
                <a:gd name="T28" fmla="*/ 1274250 w 107"/>
                <a:gd name="T29" fmla="*/ 136 h 25"/>
                <a:gd name="T30" fmla="*/ 738470 w 107"/>
                <a:gd name="T31" fmla="*/ 158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4" y="20"/>
                  </a:lnTo>
                  <a:lnTo>
                    <a:pt x="37" y="19"/>
                  </a:lnTo>
                  <a:lnTo>
                    <a:pt x="53" y="19"/>
                  </a:lnTo>
                  <a:lnTo>
                    <a:pt x="69" y="19"/>
                  </a:lnTo>
                  <a:lnTo>
                    <a:pt x="84" y="17"/>
                  </a:lnTo>
                  <a:lnTo>
                    <a:pt x="97" y="13"/>
                  </a:lnTo>
                  <a:lnTo>
                    <a:pt x="106" y="4"/>
                  </a:lnTo>
                  <a:lnTo>
                    <a:pt x="93" y="0"/>
                  </a:lnTo>
                  <a:lnTo>
                    <a:pt x="91" y="2"/>
                  </a:lnTo>
                  <a:lnTo>
                    <a:pt x="82" y="4"/>
                  </a:lnTo>
                  <a:lnTo>
                    <a:pt x="69" y="6"/>
                  </a:lnTo>
                  <a:lnTo>
                    <a:pt x="53" y="5"/>
                  </a:lnTo>
                  <a:lnTo>
                    <a:pt x="37" y="6"/>
                  </a:lnTo>
                  <a:lnTo>
                    <a:pt x="21"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8" name="Freeform 27">
              <a:extLst>
                <a:ext uri="{FF2B5EF4-FFF2-40B4-BE49-F238E27FC236}">
                  <a16:creationId xmlns:a16="http://schemas.microsoft.com/office/drawing/2014/main" id="{594B09B1-0FDE-C53D-9865-045EF337B11A}"/>
                </a:ext>
              </a:extLst>
            </p:cNvPr>
            <p:cNvSpPr>
              <a:spLocks/>
            </p:cNvSpPr>
            <p:nvPr/>
          </p:nvSpPr>
          <p:spPr bwMode="auto">
            <a:xfrm>
              <a:off x="3141" y="2764"/>
              <a:ext cx="130" cy="77"/>
            </a:xfrm>
            <a:custGeom>
              <a:avLst/>
              <a:gdLst>
                <a:gd name="T0" fmla="*/ 2718437 w 79"/>
                <a:gd name="T1" fmla="*/ 1675 h 66"/>
                <a:gd name="T2" fmla="*/ 2654305 w 79"/>
                <a:gd name="T3" fmla="*/ 1341 h 66"/>
                <a:gd name="T4" fmla="*/ 2373138 w 79"/>
                <a:gd name="T5" fmla="*/ 1075 h 66"/>
                <a:gd name="T6" fmla="*/ 1939821 w 79"/>
                <a:gd name="T7" fmla="*/ 889 h 66"/>
                <a:gd name="T8" fmla="*/ 1512703 w 79"/>
                <a:gd name="T9" fmla="*/ 664 h 66"/>
                <a:gd name="T10" fmla="*/ 1017350 w 79"/>
                <a:gd name="T11" fmla="*/ 470 h 66"/>
                <a:gd name="T12" fmla="*/ 656503 w 79"/>
                <a:gd name="T13" fmla="*/ 307 h 66"/>
                <a:gd name="T14" fmla="*/ 451334 w 79"/>
                <a:gd name="T15" fmla="*/ 141 h 66"/>
                <a:gd name="T16" fmla="*/ 451334 w 79"/>
                <a:gd name="T17" fmla="*/ 120 h 66"/>
                <a:gd name="T18" fmla="*/ 0 w 79"/>
                <a:gd name="T19" fmla="*/ 0 h 66"/>
                <a:gd name="T20" fmla="*/ 61551 w 79"/>
                <a:gd name="T21" fmla="*/ 307 h 66"/>
                <a:gd name="T22" fmla="*/ 339473 w 79"/>
                <a:gd name="T23" fmla="*/ 569 h 66"/>
                <a:gd name="T24" fmla="*/ 811704 w 79"/>
                <a:gd name="T25" fmla="*/ 775 h 66"/>
                <a:gd name="T26" fmla="*/ 1252178 w 79"/>
                <a:gd name="T27" fmla="*/ 930 h 66"/>
                <a:gd name="T28" fmla="*/ 1674120 w 79"/>
                <a:gd name="T29" fmla="*/ 1149 h 66"/>
                <a:gd name="T30" fmla="*/ 2060546 w 79"/>
                <a:gd name="T31" fmla="*/ 1341 h 66"/>
                <a:gd name="T32" fmla="*/ 2269433 w 79"/>
                <a:gd name="T33" fmla="*/ 1477 h 66"/>
                <a:gd name="T34" fmla="*/ 2269433 w 79"/>
                <a:gd name="T35" fmla="*/ 1565 h 66"/>
                <a:gd name="T36" fmla="*/ 2718437 w 79"/>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2"/>
                  </a:lnTo>
                  <a:lnTo>
                    <a:pt x="68" y="42"/>
                  </a:lnTo>
                  <a:lnTo>
                    <a:pt x="56" y="34"/>
                  </a:lnTo>
                  <a:lnTo>
                    <a:pt x="43" y="26"/>
                  </a:lnTo>
                  <a:lnTo>
                    <a:pt x="29" y="18"/>
                  </a:lnTo>
                  <a:lnTo>
                    <a:pt x="19" y="12"/>
                  </a:lnTo>
                  <a:lnTo>
                    <a:pt x="13" y="6"/>
                  </a:lnTo>
                  <a:lnTo>
                    <a:pt x="13" y="4"/>
                  </a:lnTo>
                  <a:lnTo>
                    <a:pt x="0" y="0"/>
                  </a:lnTo>
                  <a:lnTo>
                    <a:pt x="2" y="12"/>
                  </a:lnTo>
                  <a:lnTo>
                    <a:pt x="10" y="22"/>
                  </a:lnTo>
                  <a:lnTo>
                    <a:pt x="23" y="30"/>
                  </a:lnTo>
                  <a:lnTo>
                    <a:pt x="36" y="37"/>
                  </a:lnTo>
                  <a:lnTo>
                    <a:pt x="48" y="45"/>
                  </a:lnTo>
                  <a:lnTo>
                    <a:pt x="59" y="52"/>
                  </a:lnTo>
                  <a:lnTo>
                    <a:pt x="65" y="58"/>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49" name="Freeform 28">
              <a:extLst>
                <a:ext uri="{FF2B5EF4-FFF2-40B4-BE49-F238E27FC236}">
                  <a16:creationId xmlns:a16="http://schemas.microsoft.com/office/drawing/2014/main" id="{BFD3C99B-E1C9-F5CF-6F05-DEE0071715C5}"/>
                </a:ext>
              </a:extLst>
            </p:cNvPr>
            <p:cNvSpPr>
              <a:spLocks/>
            </p:cNvSpPr>
            <p:nvPr/>
          </p:nvSpPr>
          <p:spPr bwMode="auto">
            <a:xfrm>
              <a:off x="3095" y="2835"/>
              <a:ext cx="176" cy="29"/>
            </a:xfrm>
            <a:custGeom>
              <a:avLst/>
              <a:gdLst>
                <a:gd name="T0" fmla="*/ 448956 w 107"/>
                <a:gd name="T1" fmla="*/ 254 h 26"/>
                <a:gd name="T2" fmla="*/ 520021 w 107"/>
                <a:gd name="T3" fmla="*/ 229 h 26"/>
                <a:gd name="T4" fmla="*/ 855362 w 107"/>
                <a:gd name="T5" fmla="*/ 205 h 26"/>
                <a:gd name="T6" fmla="*/ 1274250 w 107"/>
                <a:gd name="T7" fmla="*/ 184 h 26"/>
                <a:gd name="T8" fmla="*/ 1829721 w 107"/>
                <a:gd name="T9" fmla="*/ 204 h 26"/>
                <a:gd name="T10" fmla="*/ 2374059 w 107"/>
                <a:gd name="T11" fmla="*/ 184 h 26"/>
                <a:gd name="T12" fmla="*/ 2899460 w 107"/>
                <a:gd name="T13" fmla="*/ 183 h 26"/>
                <a:gd name="T14" fmla="*/ 3361858 w 107"/>
                <a:gd name="T15" fmla="*/ 147 h 26"/>
                <a:gd name="T16" fmla="*/ 3649694 w 107"/>
                <a:gd name="T17" fmla="*/ 4 h 26"/>
                <a:gd name="T18" fmla="*/ 3223782 w 107"/>
                <a:gd name="T19" fmla="*/ 0 h 26"/>
                <a:gd name="T20" fmla="*/ 3156192 w 107"/>
                <a:gd name="T21" fmla="*/ 2 h 26"/>
                <a:gd name="T22" fmla="*/ 2833329 w 107"/>
                <a:gd name="T23" fmla="*/ 56 h 26"/>
                <a:gd name="T24" fmla="*/ 2374059 w 107"/>
                <a:gd name="T25" fmla="*/ 62 h 26"/>
                <a:gd name="T26" fmla="*/ 1829721 w 107"/>
                <a:gd name="T27" fmla="*/ 62 h 26"/>
                <a:gd name="T28" fmla="*/ 1274250 w 107"/>
                <a:gd name="T29" fmla="*/ 62 h 26"/>
                <a:gd name="T30" fmla="*/ 755427 w 107"/>
                <a:gd name="T31" fmla="*/ 77 h 26"/>
                <a:gd name="T32" fmla="*/ 316149 w 107"/>
                <a:gd name="T33" fmla="*/ 107 h 26"/>
                <a:gd name="T34" fmla="*/ 0 w 107"/>
                <a:gd name="T35" fmla="*/ 205 h 26"/>
                <a:gd name="T36" fmla="*/ 448956 w 107"/>
                <a:gd name="T37" fmla="*/ 254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3"/>
                  </a:lnTo>
                  <a:lnTo>
                    <a:pt x="25" y="21"/>
                  </a:lnTo>
                  <a:lnTo>
                    <a:pt x="37" y="19"/>
                  </a:lnTo>
                  <a:lnTo>
                    <a:pt x="53" y="20"/>
                  </a:lnTo>
                  <a:lnTo>
                    <a:pt x="69" y="19"/>
                  </a:lnTo>
                  <a:lnTo>
                    <a:pt x="84" y="18"/>
                  </a:lnTo>
                  <a:lnTo>
                    <a:pt x="97" y="14"/>
                  </a:lnTo>
                  <a:lnTo>
                    <a:pt x="106" y="4"/>
                  </a:lnTo>
                  <a:lnTo>
                    <a:pt x="93" y="0"/>
                  </a:lnTo>
                  <a:lnTo>
                    <a:pt x="91" y="2"/>
                  </a:lnTo>
                  <a:lnTo>
                    <a:pt x="82" y="5"/>
                  </a:lnTo>
                  <a:lnTo>
                    <a:pt x="69" y="6"/>
                  </a:lnTo>
                  <a:lnTo>
                    <a:pt x="53" y="6"/>
                  </a:lnTo>
                  <a:lnTo>
                    <a:pt x="37" y="6"/>
                  </a:lnTo>
                  <a:lnTo>
                    <a:pt x="22" y="8"/>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0" name="Freeform 29">
              <a:extLst>
                <a:ext uri="{FF2B5EF4-FFF2-40B4-BE49-F238E27FC236}">
                  <a16:creationId xmlns:a16="http://schemas.microsoft.com/office/drawing/2014/main" id="{631EA3DB-CA68-8AC9-0AF1-6BAB212FFB99}"/>
                </a:ext>
              </a:extLst>
            </p:cNvPr>
            <p:cNvSpPr>
              <a:spLocks/>
            </p:cNvSpPr>
            <p:nvPr/>
          </p:nvSpPr>
          <p:spPr bwMode="auto">
            <a:xfrm>
              <a:off x="3095" y="2859"/>
              <a:ext cx="132" cy="115"/>
            </a:xfrm>
            <a:custGeom>
              <a:avLst/>
              <a:gdLst>
                <a:gd name="T0" fmla="*/ 2480000 w 80"/>
                <a:gd name="T1" fmla="*/ 1061 h 100"/>
                <a:gd name="T2" fmla="*/ 2918860 w 80"/>
                <a:gd name="T3" fmla="*/ 1143 h 100"/>
                <a:gd name="T4" fmla="*/ 2882474 w 80"/>
                <a:gd name="T5" fmla="*/ 890 h 100"/>
                <a:gd name="T6" fmla="*/ 2549819 w 80"/>
                <a:gd name="T7" fmla="*/ 747 h 100"/>
                <a:gd name="T8" fmla="*/ 2062134 w 80"/>
                <a:gd name="T9" fmla="*/ 580 h 100"/>
                <a:gd name="T10" fmla="*/ 1584345 w 80"/>
                <a:gd name="T11" fmla="*/ 459 h 100"/>
                <a:gd name="T12" fmla="*/ 1100611 w 80"/>
                <a:gd name="T13" fmla="*/ 325 h 100"/>
                <a:gd name="T14" fmla="*/ 692147 w 80"/>
                <a:gd name="T15" fmla="*/ 214 h 100"/>
                <a:gd name="T16" fmla="*/ 477527 w 80"/>
                <a:gd name="T17" fmla="*/ 113 h 100"/>
                <a:gd name="T18" fmla="*/ 477527 w 80"/>
                <a:gd name="T19" fmla="*/ 85 h 100"/>
                <a:gd name="T20" fmla="*/ 0 w 80"/>
                <a:gd name="T21" fmla="*/ 0 h 100"/>
                <a:gd name="T22" fmla="*/ 64426 w 80"/>
                <a:gd name="T23" fmla="*/ 229 h 100"/>
                <a:gd name="T24" fmla="*/ 404265 w 80"/>
                <a:gd name="T25" fmla="*/ 399 h 100"/>
                <a:gd name="T26" fmla="*/ 858058 w 80"/>
                <a:gd name="T27" fmla="*/ 528 h 100"/>
                <a:gd name="T28" fmla="*/ 1373354 w 80"/>
                <a:gd name="T29" fmla="*/ 653 h 100"/>
                <a:gd name="T30" fmla="*/ 1832330 w 80"/>
                <a:gd name="T31" fmla="*/ 803 h 100"/>
                <a:gd name="T32" fmla="*/ 2211957 w 80"/>
                <a:gd name="T33" fmla="*/ 923 h 100"/>
                <a:gd name="T34" fmla="*/ 2442464 w 80"/>
                <a:gd name="T35" fmla="*/ 1023 h 100"/>
                <a:gd name="T36" fmla="*/ 2442464 w 80"/>
                <a:gd name="T37" fmla="*/ 1076 h 100"/>
                <a:gd name="T38" fmla="*/ 2882474 w 80"/>
                <a:gd name="T39" fmla="*/ 1176 h 100"/>
                <a:gd name="T40" fmla="*/ 2442464 w 80"/>
                <a:gd name="T41" fmla="*/ 1076 h 100"/>
                <a:gd name="T42" fmla="*/ 1922549 w 80"/>
                <a:gd name="T43" fmla="*/ 1879 h 100"/>
                <a:gd name="T44" fmla="*/ 2882474 w 80"/>
                <a:gd name="T45" fmla="*/ 1176 h 100"/>
                <a:gd name="T46" fmla="*/ 2480000 w 80"/>
                <a:gd name="T47" fmla="*/ 1061 h 10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0"/>
                <a:gd name="T73" fmla="*/ 0 h 100"/>
                <a:gd name="T74" fmla="*/ 80 w 80"/>
                <a:gd name="T75" fmla="*/ 100 h 10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0" h="100">
                  <a:moveTo>
                    <a:pt x="67" y="56"/>
                  </a:moveTo>
                  <a:lnTo>
                    <a:pt x="79" y="61"/>
                  </a:lnTo>
                  <a:lnTo>
                    <a:pt x="78" y="48"/>
                  </a:lnTo>
                  <a:lnTo>
                    <a:pt x="69" y="39"/>
                  </a:lnTo>
                  <a:lnTo>
                    <a:pt x="56" y="31"/>
                  </a:lnTo>
                  <a:lnTo>
                    <a:pt x="43" y="24"/>
                  </a:lnTo>
                  <a:lnTo>
                    <a:pt x="30" y="17"/>
                  </a:lnTo>
                  <a:lnTo>
                    <a:pt x="19" y="11"/>
                  </a:lnTo>
                  <a:lnTo>
                    <a:pt x="13" y="6"/>
                  </a:lnTo>
                  <a:lnTo>
                    <a:pt x="13" y="4"/>
                  </a:lnTo>
                  <a:lnTo>
                    <a:pt x="0" y="0"/>
                  </a:lnTo>
                  <a:lnTo>
                    <a:pt x="2" y="12"/>
                  </a:lnTo>
                  <a:lnTo>
                    <a:pt x="11" y="21"/>
                  </a:lnTo>
                  <a:lnTo>
                    <a:pt x="23" y="28"/>
                  </a:lnTo>
                  <a:lnTo>
                    <a:pt x="37" y="35"/>
                  </a:lnTo>
                  <a:lnTo>
                    <a:pt x="50" y="43"/>
                  </a:lnTo>
                  <a:lnTo>
                    <a:pt x="60" y="49"/>
                  </a:lnTo>
                  <a:lnTo>
                    <a:pt x="66" y="55"/>
                  </a:lnTo>
                  <a:lnTo>
                    <a:pt x="66" y="57"/>
                  </a:lnTo>
                  <a:lnTo>
                    <a:pt x="78" y="63"/>
                  </a:lnTo>
                  <a:lnTo>
                    <a:pt x="66" y="57"/>
                  </a:lnTo>
                  <a:lnTo>
                    <a:pt x="52" y="99"/>
                  </a:lnTo>
                  <a:lnTo>
                    <a:pt x="78" y="63"/>
                  </a:lnTo>
                  <a:lnTo>
                    <a:pt x="67" y="5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1" name="Freeform 30">
              <a:extLst>
                <a:ext uri="{FF2B5EF4-FFF2-40B4-BE49-F238E27FC236}">
                  <a16:creationId xmlns:a16="http://schemas.microsoft.com/office/drawing/2014/main" id="{1514CFE6-59B6-4B7E-5C18-0488853BE0AA}"/>
                </a:ext>
              </a:extLst>
            </p:cNvPr>
            <p:cNvSpPr>
              <a:spLocks/>
            </p:cNvSpPr>
            <p:nvPr/>
          </p:nvSpPr>
          <p:spPr bwMode="auto">
            <a:xfrm>
              <a:off x="3203" y="2884"/>
              <a:ext cx="42" cy="48"/>
            </a:xfrm>
            <a:custGeom>
              <a:avLst/>
              <a:gdLst>
                <a:gd name="T0" fmla="*/ 704740 w 25"/>
                <a:gd name="T1" fmla="*/ 396 h 43"/>
                <a:gd name="T2" fmla="*/ 52660 w 25"/>
                <a:gd name="T3" fmla="*/ 336 h 43"/>
                <a:gd name="T4" fmla="*/ 0 w 25"/>
                <a:gd name="T5" fmla="*/ 355 h 43"/>
                <a:gd name="T6" fmla="*/ 648168 w 25"/>
                <a:gd name="T7" fmla="*/ 419 h 43"/>
                <a:gd name="T8" fmla="*/ 704740 w 25"/>
                <a:gd name="T9" fmla="*/ 409 h 43"/>
                <a:gd name="T10" fmla="*/ 0 w 25"/>
                <a:gd name="T11" fmla="*/ 355 h 43"/>
                <a:gd name="T12" fmla="*/ 704740 w 25"/>
                <a:gd name="T13" fmla="*/ 396 h 43"/>
                <a:gd name="T14" fmla="*/ 1283958 w 25"/>
                <a:gd name="T15" fmla="*/ 0 h 43"/>
                <a:gd name="T16" fmla="*/ 52660 w 25"/>
                <a:gd name="T17" fmla="*/ 336 h 43"/>
                <a:gd name="T18" fmla="*/ 704740 w 25"/>
                <a:gd name="T19" fmla="*/ 396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43"/>
                <a:gd name="T32" fmla="*/ 25 w 25"/>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43">
                  <a:moveTo>
                    <a:pt x="13" y="39"/>
                  </a:moveTo>
                  <a:lnTo>
                    <a:pt x="1" y="34"/>
                  </a:lnTo>
                  <a:lnTo>
                    <a:pt x="0" y="35"/>
                  </a:lnTo>
                  <a:lnTo>
                    <a:pt x="12" y="42"/>
                  </a:lnTo>
                  <a:lnTo>
                    <a:pt x="13" y="40"/>
                  </a:lnTo>
                  <a:lnTo>
                    <a:pt x="0" y="35"/>
                  </a:lnTo>
                  <a:lnTo>
                    <a:pt x="13" y="39"/>
                  </a:lnTo>
                  <a:lnTo>
                    <a:pt x="24" y="0"/>
                  </a:lnTo>
                  <a:lnTo>
                    <a:pt x="1" y="34"/>
                  </a:lnTo>
                  <a:lnTo>
                    <a:pt x="13" y="3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2" name="Freeform 31">
              <a:extLst>
                <a:ext uri="{FF2B5EF4-FFF2-40B4-BE49-F238E27FC236}">
                  <a16:creationId xmlns:a16="http://schemas.microsoft.com/office/drawing/2014/main" id="{06F3FB2F-9E1A-7D6E-E831-7E9B453D3674}"/>
                </a:ext>
              </a:extLst>
            </p:cNvPr>
            <p:cNvSpPr>
              <a:spLocks/>
            </p:cNvSpPr>
            <p:nvPr/>
          </p:nvSpPr>
          <p:spPr bwMode="auto">
            <a:xfrm>
              <a:off x="3051" y="2923"/>
              <a:ext cx="176" cy="31"/>
            </a:xfrm>
            <a:custGeom>
              <a:avLst/>
              <a:gdLst>
                <a:gd name="T0" fmla="*/ 448956 w 107"/>
                <a:gd name="T1" fmla="*/ 1019 h 26"/>
                <a:gd name="T2" fmla="*/ 520021 w 107"/>
                <a:gd name="T3" fmla="*/ 1017 h 26"/>
                <a:gd name="T4" fmla="*/ 806439 w 107"/>
                <a:gd name="T5" fmla="*/ 867 h 26"/>
                <a:gd name="T6" fmla="*/ 1242572 w 107"/>
                <a:gd name="T7" fmla="*/ 906 h 26"/>
                <a:gd name="T8" fmla="*/ 1803036 w 107"/>
                <a:gd name="T9" fmla="*/ 906 h 26"/>
                <a:gd name="T10" fmla="*/ 2314237 w 107"/>
                <a:gd name="T11" fmla="*/ 1017 h 26"/>
                <a:gd name="T12" fmla="*/ 2876529 w 107"/>
                <a:gd name="T13" fmla="*/ 867 h 26"/>
                <a:gd name="T14" fmla="*/ 3361858 w 107"/>
                <a:gd name="T15" fmla="*/ 637 h 26"/>
                <a:gd name="T16" fmla="*/ 3649694 w 107"/>
                <a:gd name="T17" fmla="*/ 175 h 26"/>
                <a:gd name="T18" fmla="*/ 3223782 w 107"/>
                <a:gd name="T19" fmla="*/ 0 h 26"/>
                <a:gd name="T20" fmla="*/ 3069208 w 107"/>
                <a:gd name="T21" fmla="*/ 249 h 26"/>
                <a:gd name="T22" fmla="*/ 2774242 w 107"/>
                <a:gd name="T23" fmla="*/ 376 h 26"/>
                <a:gd name="T24" fmla="*/ 2314237 w 107"/>
                <a:gd name="T25" fmla="*/ 422 h 26"/>
                <a:gd name="T26" fmla="*/ 1803036 w 107"/>
                <a:gd name="T27" fmla="*/ 422 h 26"/>
                <a:gd name="T28" fmla="*/ 1242572 w 107"/>
                <a:gd name="T29" fmla="*/ 376 h 26"/>
                <a:gd name="T30" fmla="*/ 755427 w 107"/>
                <a:gd name="T31" fmla="*/ 376 h 26"/>
                <a:gd name="T32" fmla="*/ 316149 w 107"/>
                <a:gd name="T33" fmla="*/ 448 h 26"/>
                <a:gd name="T34" fmla="*/ 0 w 107"/>
                <a:gd name="T35" fmla="*/ 855 h 26"/>
                <a:gd name="T36" fmla="*/ 448956 w 107"/>
                <a:gd name="T37" fmla="*/ 1019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4"/>
                  </a:lnTo>
                  <a:lnTo>
                    <a:pt x="23" y="22"/>
                  </a:lnTo>
                  <a:lnTo>
                    <a:pt x="36" y="23"/>
                  </a:lnTo>
                  <a:lnTo>
                    <a:pt x="52" y="23"/>
                  </a:lnTo>
                  <a:lnTo>
                    <a:pt x="67" y="24"/>
                  </a:lnTo>
                  <a:lnTo>
                    <a:pt x="83" y="22"/>
                  </a:lnTo>
                  <a:lnTo>
                    <a:pt x="97" y="16"/>
                  </a:lnTo>
                  <a:lnTo>
                    <a:pt x="106" y="4"/>
                  </a:lnTo>
                  <a:lnTo>
                    <a:pt x="93" y="0"/>
                  </a:lnTo>
                  <a:lnTo>
                    <a:pt x="89" y="6"/>
                  </a:lnTo>
                  <a:lnTo>
                    <a:pt x="80" y="9"/>
                  </a:lnTo>
                  <a:lnTo>
                    <a:pt x="67" y="10"/>
                  </a:lnTo>
                  <a:lnTo>
                    <a:pt x="52" y="10"/>
                  </a:lnTo>
                  <a:lnTo>
                    <a:pt x="36" y="9"/>
                  </a:lnTo>
                  <a:lnTo>
                    <a:pt x="22" y="9"/>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3" name="Freeform 32">
              <a:extLst>
                <a:ext uri="{FF2B5EF4-FFF2-40B4-BE49-F238E27FC236}">
                  <a16:creationId xmlns:a16="http://schemas.microsoft.com/office/drawing/2014/main" id="{C77B1992-5A6F-5713-A0BD-58DBB0160EDA}"/>
                </a:ext>
              </a:extLst>
            </p:cNvPr>
            <p:cNvSpPr>
              <a:spLocks/>
            </p:cNvSpPr>
            <p:nvPr/>
          </p:nvSpPr>
          <p:spPr bwMode="auto">
            <a:xfrm>
              <a:off x="3051" y="2947"/>
              <a:ext cx="131" cy="77"/>
            </a:xfrm>
            <a:custGeom>
              <a:avLst/>
              <a:gdLst>
                <a:gd name="T0" fmla="*/ 2480706 w 80"/>
                <a:gd name="T1" fmla="*/ 1675 h 66"/>
                <a:gd name="T2" fmla="*/ 2415525 w 80"/>
                <a:gd name="T3" fmla="*/ 1341 h 66"/>
                <a:gd name="T4" fmla="*/ 2134954 w 80"/>
                <a:gd name="T5" fmla="*/ 1075 h 66"/>
                <a:gd name="T6" fmla="*/ 1785199 w 80"/>
                <a:gd name="T7" fmla="*/ 889 h 66"/>
                <a:gd name="T8" fmla="*/ 1346184 w 80"/>
                <a:gd name="T9" fmla="*/ 664 h 66"/>
                <a:gd name="T10" fmla="*/ 900843 w 80"/>
                <a:gd name="T11" fmla="*/ 470 h 66"/>
                <a:gd name="T12" fmla="*/ 630154 w 80"/>
                <a:gd name="T13" fmla="*/ 307 h 66"/>
                <a:gd name="T14" fmla="*/ 445495 w 80"/>
                <a:gd name="T15" fmla="*/ 141 h 66"/>
                <a:gd name="T16" fmla="*/ 402943 w 80"/>
                <a:gd name="T17" fmla="*/ 120 h 66"/>
                <a:gd name="T18" fmla="*/ 0 w 80"/>
                <a:gd name="T19" fmla="*/ 0 h 66"/>
                <a:gd name="T20" fmla="*/ 56043 w 80"/>
                <a:gd name="T21" fmla="*/ 307 h 66"/>
                <a:gd name="T22" fmla="*/ 335959 w 80"/>
                <a:gd name="T23" fmla="*/ 569 h 66"/>
                <a:gd name="T24" fmla="*/ 729498 w 80"/>
                <a:gd name="T25" fmla="*/ 775 h 66"/>
                <a:gd name="T26" fmla="*/ 1177164 w 80"/>
                <a:gd name="T27" fmla="*/ 970 h 66"/>
                <a:gd name="T28" fmla="*/ 1538762 w 80"/>
                <a:gd name="T29" fmla="*/ 1149 h 66"/>
                <a:gd name="T30" fmla="*/ 1865648 w 80"/>
                <a:gd name="T31" fmla="*/ 1344 h 66"/>
                <a:gd name="T32" fmla="*/ 2045165 w 80"/>
                <a:gd name="T33" fmla="*/ 1477 h 66"/>
                <a:gd name="T34" fmla="*/ 2079299 w 80"/>
                <a:gd name="T35" fmla="*/ 1565 h 66"/>
                <a:gd name="T36" fmla="*/ 2480706 w 80"/>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2"/>
                  </a:lnTo>
                  <a:lnTo>
                    <a:pt x="57" y="34"/>
                  </a:lnTo>
                  <a:lnTo>
                    <a:pt x="43" y="26"/>
                  </a:lnTo>
                  <a:lnTo>
                    <a:pt x="29" y="18"/>
                  </a:lnTo>
                  <a:lnTo>
                    <a:pt x="20" y="12"/>
                  </a:lnTo>
                  <a:lnTo>
                    <a:pt x="14" y="6"/>
                  </a:lnTo>
                  <a:lnTo>
                    <a:pt x="13" y="4"/>
                  </a:lnTo>
                  <a:lnTo>
                    <a:pt x="0" y="0"/>
                  </a:lnTo>
                  <a:lnTo>
                    <a:pt x="2" y="12"/>
                  </a:lnTo>
                  <a:lnTo>
                    <a:pt x="11" y="22"/>
                  </a:lnTo>
                  <a:lnTo>
                    <a:pt x="23" y="30"/>
                  </a:lnTo>
                  <a:lnTo>
                    <a:pt x="37" y="38"/>
                  </a:lnTo>
                  <a:lnTo>
                    <a:pt x="49" y="45"/>
                  </a:lnTo>
                  <a:lnTo>
                    <a:pt x="59" y="53"/>
                  </a:lnTo>
                  <a:lnTo>
                    <a:pt x="65" y="58"/>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4" name="Freeform 33">
              <a:extLst>
                <a:ext uri="{FF2B5EF4-FFF2-40B4-BE49-F238E27FC236}">
                  <a16:creationId xmlns:a16="http://schemas.microsoft.com/office/drawing/2014/main" id="{9C5D8476-54AA-DDEB-9E9B-EC395CE2A2AD}"/>
                </a:ext>
              </a:extLst>
            </p:cNvPr>
            <p:cNvSpPr>
              <a:spLocks/>
            </p:cNvSpPr>
            <p:nvPr/>
          </p:nvSpPr>
          <p:spPr bwMode="auto">
            <a:xfrm>
              <a:off x="3006" y="3018"/>
              <a:ext cx="176" cy="29"/>
            </a:xfrm>
            <a:custGeom>
              <a:avLst/>
              <a:gdLst>
                <a:gd name="T0" fmla="*/ 448956 w 107"/>
                <a:gd name="T1" fmla="*/ 254 h 26"/>
                <a:gd name="T2" fmla="*/ 520021 w 107"/>
                <a:gd name="T3" fmla="*/ 229 h 26"/>
                <a:gd name="T4" fmla="*/ 818282 w 107"/>
                <a:gd name="T5" fmla="*/ 205 h 26"/>
                <a:gd name="T6" fmla="*/ 1274250 w 107"/>
                <a:gd name="T7" fmla="*/ 184 h 26"/>
                <a:gd name="T8" fmla="*/ 1829721 w 107"/>
                <a:gd name="T9" fmla="*/ 204 h 26"/>
                <a:gd name="T10" fmla="*/ 2374059 w 107"/>
                <a:gd name="T11" fmla="*/ 184 h 26"/>
                <a:gd name="T12" fmla="*/ 2899460 w 107"/>
                <a:gd name="T13" fmla="*/ 183 h 26"/>
                <a:gd name="T14" fmla="*/ 3361858 w 107"/>
                <a:gd name="T15" fmla="*/ 147 h 26"/>
                <a:gd name="T16" fmla="*/ 3649694 w 107"/>
                <a:gd name="T17" fmla="*/ 4 h 26"/>
                <a:gd name="T18" fmla="*/ 3223782 w 107"/>
                <a:gd name="T19" fmla="*/ 0 h 26"/>
                <a:gd name="T20" fmla="*/ 3107351 w 107"/>
                <a:gd name="T21" fmla="*/ 3 h 26"/>
                <a:gd name="T22" fmla="*/ 2796262 w 107"/>
                <a:gd name="T23" fmla="*/ 56 h 26"/>
                <a:gd name="T24" fmla="*/ 2374059 w 107"/>
                <a:gd name="T25" fmla="*/ 62 h 26"/>
                <a:gd name="T26" fmla="*/ 1829721 w 107"/>
                <a:gd name="T27" fmla="*/ 62 h 26"/>
                <a:gd name="T28" fmla="*/ 1274250 w 107"/>
                <a:gd name="T29" fmla="*/ 62 h 26"/>
                <a:gd name="T30" fmla="*/ 738470 w 107"/>
                <a:gd name="T31" fmla="*/ 77 h 26"/>
                <a:gd name="T32" fmla="*/ 316149 w 107"/>
                <a:gd name="T33" fmla="*/ 107 h 26"/>
                <a:gd name="T34" fmla="*/ 0 w 107"/>
                <a:gd name="T35" fmla="*/ 205 h 26"/>
                <a:gd name="T36" fmla="*/ 448956 w 107"/>
                <a:gd name="T37" fmla="*/ 254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3"/>
                  </a:lnTo>
                  <a:lnTo>
                    <a:pt x="24" y="21"/>
                  </a:lnTo>
                  <a:lnTo>
                    <a:pt x="37" y="19"/>
                  </a:lnTo>
                  <a:lnTo>
                    <a:pt x="53" y="20"/>
                  </a:lnTo>
                  <a:lnTo>
                    <a:pt x="69" y="19"/>
                  </a:lnTo>
                  <a:lnTo>
                    <a:pt x="84" y="18"/>
                  </a:lnTo>
                  <a:lnTo>
                    <a:pt x="97" y="14"/>
                  </a:lnTo>
                  <a:lnTo>
                    <a:pt x="106" y="4"/>
                  </a:lnTo>
                  <a:lnTo>
                    <a:pt x="93" y="0"/>
                  </a:lnTo>
                  <a:lnTo>
                    <a:pt x="90" y="3"/>
                  </a:lnTo>
                  <a:lnTo>
                    <a:pt x="81" y="5"/>
                  </a:lnTo>
                  <a:lnTo>
                    <a:pt x="69" y="6"/>
                  </a:lnTo>
                  <a:lnTo>
                    <a:pt x="53" y="6"/>
                  </a:lnTo>
                  <a:lnTo>
                    <a:pt x="37" y="6"/>
                  </a:lnTo>
                  <a:lnTo>
                    <a:pt x="21" y="8"/>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5" name="Freeform 34">
              <a:extLst>
                <a:ext uri="{FF2B5EF4-FFF2-40B4-BE49-F238E27FC236}">
                  <a16:creationId xmlns:a16="http://schemas.microsoft.com/office/drawing/2014/main" id="{B24AAF39-1C15-1334-0C92-575E1059CB6F}"/>
                </a:ext>
              </a:extLst>
            </p:cNvPr>
            <p:cNvSpPr>
              <a:spLocks/>
            </p:cNvSpPr>
            <p:nvPr/>
          </p:nvSpPr>
          <p:spPr bwMode="auto">
            <a:xfrm>
              <a:off x="3006" y="3042"/>
              <a:ext cx="133" cy="70"/>
            </a:xfrm>
            <a:custGeom>
              <a:avLst/>
              <a:gdLst>
                <a:gd name="T0" fmla="*/ 2656836 w 81"/>
                <a:gd name="T1" fmla="*/ 1053 h 61"/>
                <a:gd name="T2" fmla="*/ 2656836 w 81"/>
                <a:gd name="T3" fmla="*/ 1080 h 61"/>
                <a:gd name="T4" fmla="*/ 2558027 w 81"/>
                <a:gd name="T5" fmla="*/ 863 h 61"/>
                <a:gd name="T6" fmla="*/ 2272793 w 81"/>
                <a:gd name="T7" fmla="*/ 731 h 61"/>
                <a:gd name="T8" fmla="*/ 1864660 w 81"/>
                <a:gd name="T9" fmla="*/ 591 h 61"/>
                <a:gd name="T10" fmla="*/ 1443431 w 81"/>
                <a:gd name="T11" fmla="*/ 473 h 61"/>
                <a:gd name="T12" fmla="*/ 977473 w 81"/>
                <a:gd name="T13" fmla="*/ 341 h 61"/>
                <a:gd name="T14" fmla="*/ 633671 w 81"/>
                <a:gd name="T15" fmla="*/ 207 h 61"/>
                <a:gd name="T16" fmla="*/ 465961 w 81"/>
                <a:gd name="T17" fmla="*/ 104 h 61"/>
                <a:gd name="T18" fmla="*/ 421211 w 81"/>
                <a:gd name="T19" fmla="*/ 79 h 61"/>
                <a:gd name="T20" fmla="*/ 0 w 81"/>
                <a:gd name="T21" fmla="*/ 0 h 61"/>
                <a:gd name="T22" fmla="*/ 57947 w 81"/>
                <a:gd name="T23" fmla="*/ 216 h 61"/>
                <a:gd name="T24" fmla="*/ 326059 w 81"/>
                <a:gd name="T25" fmla="*/ 391 h 61"/>
                <a:gd name="T26" fmla="*/ 765096 w 81"/>
                <a:gd name="T27" fmla="*/ 543 h 61"/>
                <a:gd name="T28" fmla="*/ 1196621 w 81"/>
                <a:gd name="T29" fmla="*/ 650 h 61"/>
                <a:gd name="T30" fmla="*/ 1618073 w 81"/>
                <a:gd name="T31" fmla="*/ 820 h 61"/>
                <a:gd name="T32" fmla="*/ 2015988 w 81"/>
                <a:gd name="T33" fmla="*/ 930 h 61"/>
                <a:gd name="T34" fmla="*/ 2192131 w 81"/>
                <a:gd name="T35" fmla="*/ 990 h 61"/>
                <a:gd name="T36" fmla="*/ 2235597 w 81"/>
                <a:gd name="T37" fmla="*/ 990 h 61"/>
                <a:gd name="T38" fmla="*/ 2192131 w 81"/>
                <a:gd name="T39" fmla="*/ 1053 h 61"/>
                <a:gd name="T40" fmla="*/ 2235597 w 81"/>
                <a:gd name="T41" fmla="*/ 990 h 61"/>
                <a:gd name="T42" fmla="*/ 2192131 w 81"/>
                <a:gd name="T43" fmla="*/ 1025 h 61"/>
                <a:gd name="T44" fmla="*/ 2192131 w 81"/>
                <a:gd name="T45" fmla="*/ 1053 h 61"/>
                <a:gd name="T46" fmla="*/ 2656836 w 81"/>
                <a:gd name="T47" fmla="*/ 1053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1"/>
                <a:gd name="T73" fmla="*/ 0 h 61"/>
                <a:gd name="T74" fmla="*/ 81 w 81"/>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1" h="61">
                  <a:moveTo>
                    <a:pt x="80" y="58"/>
                  </a:moveTo>
                  <a:lnTo>
                    <a:pt x="80" y="60"/>
                  </a:lnTo>
                  <a:lnTo>
                    <a:pt x="77" y="49"/>
                  </a:lnTo>
                  <a:lnTo>
                    <a:pt x="68" y="41"/>
                  </a:lnTo>
                  <a:lnTo>
                    <a:pt x="56" y="33"/>
                  </a:lnTo>
                  <a:lnTo>
                    <a:pt x="43" y="26"/>
                  </a:lnTo>
                  <a:lnTo>
                    <a:pt x="29" y="19"/>
                  </a:lnTo>
                  <a:lnTo>
                    <a:pt x="19" y="11"/>
                  </a:lnTo>
                  <a:lnTo>
                    <a:pt x="14" y="6"/>
                  </a:lnTo>
                  <a:lnTo>
                    <a:pt x="13" y="4"/>
                  </a:lnTo>
                  <a:lnTo>
                    <a:pt x="0" y="0"/>
                  </a:lnTo>
                  <a:lnTo>
                    <a:pt x="2" y="12"/>
                  </a:lnTo>
                  <a:lnTo>
                    <a:pt x="10" y="22"/>
                  </a:lnTo>
                  <a:lnTo>
                    <a:pt x="23" y="30"/>
                  </a:lnTo>
                  <a:lnTo>
                    <a:pt x="36" y="37"/>
                  </a:lnTo>
                  <a:lnTo>
                    <a:pt x="49" y="45"/>
                  </a:lnTo>
                  <a:lnTo>
                    <a:pt x="60" y="51"/>
                  </a:lnTo>
                  <a:lnTo>
                    <a:pt x="66" y="56"/>
                  </a:lnTo>
                  <a:lnTo>
                    <a:pt x="67" y="56"/>
                  </a:lnTo>
                  <a:lnTo>
                    <a:pt x="66" y="58"/>
                  </a:lnTo>
                  <a:lnTo>
                    <a:pt x="67" y="56"/>
                  </a:lnTo>
                  <a:lnTo>
                    <a:pt x="66" y="57"/>
                  </a:lnTo>
                  <a:lnTo>
                    <a:pt x="66" y="58"/>
                  </a:lnTo>
                  <a:lnTo>
                    <a:pt x="80" y="5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6" name="Freeform 35">
              <a:extLst>
                <a:ext uri="{FF2B5EF4-FFF2-40B4-BE49-F238E27FC236}">
                  <a16:creationId xmlns:a16="http://schemas.microsoft.com/office/drawing/2014/main" id="{3C8A4874-F674-2AD3-BAF5-11D7C701DE84}"/>
                </a:ext>
              </a:extLst>
            </p:cNvPr>
            <p:cNvSpPr>
              <a:spLocks/>
            </p:cNvSpPr>
            <p:nvPr/>
          </p:nvSpPr>
          <p:spPr bwMode="auto">
            <a:xfrm>
              <a:off x="3115" y="3107"/>
              <a:ext cx="24" cy="7"/>
            </a:xfrm>
            <a:custGeom>
              <a:avLst/>
              <a:gdLst>
                <a:gd name="T0" fmla="*/ 255066 w 15"/>
                <a:gd name="T1" fmla="*/ 140 h 6"/>
                <a:gd name="T2" fmla="*/ 265134 w 15"/>
                <a:gd name="T3" fmla="*/ 2 h 6"/>
                <a:gd name="T4" fmla="*/ 0 w 15"/>
                <a:gd name="T5" fmla="*/ 2 h 6"/>
                <a:gd name="T6" fmla="*/ 0 w 15"/>
                <a:gd name="T7" fmla="*/ 0 h 6"/>
                <a:gd name="T8" fmla="*/ 255066 w 15"/>
                <a:gd name="T9" fmla="*/ 140 h 6"/>
                <a:gd name="T10" fmla="*/ 265134 w 15"/>
                <a:gd name="T11" fmla="*/ 120 h 6"/>
                <a:gd name="T12" fmla="*/ 265134 w 15"/>
                <a:gd name="T13" fmla="*/ 2 h 6"/>
                <a:gd name="T14" fmla="*/ 255066 w 15"/>
                <a:gd name="T15" fmla="*/ 140 h 6"/>
                <a:gd name="T16" fmla="*/ 0 60000 65536"/>
                <a:gd name="T17" fmla="*/ 0 60000 65536"/>
                <a:gd name="T18" fmla="*/ 0 60000 65536"/>
                <a:gd name="T19" fmla="*/ 0 60000 65536"/>
                <a:gd name="T20" fmla="*/ 0 60000 65536"/>
                <a:gd name="T21" fmla="*/ 0 60000 65536"/>
                <a:gd name="T22" fmla="*/ 0 60000 65536"/>
                <a:gd name="T23" fmla="*/ 0 60000 65536"/>
                <a:gd name="T24" fmla="*/ 0 w 15"/>
                <a:gd name="T25" fmla="*/ 0 h 6"/>
                <a:gd name="T26" fmla="*/ 15 w 15"/>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 h="6">
                  <a:moveTo>
                    <a:pt x="13" y="5"/>
                  </a:moveTo>
                  <a:lnTo>
                    <a:pt x="14" y="2"/>
                  </a:lnTo>
                  <a:lnTo>
                    <a:pt x="0" y="2"/>
                  </a:lnTo>
                  <a:lnTo>
                    <a:pt x="0" y="0"/>
                  </a:lnTo>
                  <a:lnTo>
                    <a:pt x="13" y="5"/>
                  </a:lnTo>
                  <a:lnTo>
                    <a:pt x="14" y="4"/>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7" name="Freeform 36">
              <a:extLst>
                <a:ext uri="{FF2B5EF4-FFF2-40B4-BE49-F238E27FC236}">
                  <a16:creationId xmlns:a16="http://schemas.microsoft.com/office/drawing/2014/main" id="{5C9F6E0D-1FDF-1495-ED5C-D6782260FDFC}"/>
                </a:ext>
              </a:extLst>
            </p:cNvPr>
            <p:cNvSpPr>
              <a:spLocks/>
            </p:cNvSpPr>
            <p:nvPr/>
          </p:nvSpPr>
          <p:spPr bwMode="auto">
            <a:xfrm>
              <a:off x="2963" y="3107"/>
              <a:ext cx="176" cy="32"/>
            </a:xfrm>
            <a:custGeom>
              <a:avLst/>
              <a:gdLst>
                <a:gd name="T0" fmla="*/ 448956 w 107"/>
                <a:gd name="T1" fmla="*/ 943 h 27"/>
                <a:gd name="T2" fmla="*/ 551648 w 107"/>
                <a:gd name="T3" fmla="*/ 828 h 27"/>
                <a:gd name="T4" fmla="*/ 818282 w 107"/>
                <a:gd name="T5" fmla="*/ 774 h 27"/>
                <a:gd name="T6" fmla="*/ 1326479 w 107"/>
                <a:gd name="T7" fmla="*/ 677 h 27"/>
                <a:gd name="T8" fmla="*/ 1829721 w 107"/>
                <a:gd name="T9" fmla="*/ 677 h 27"/>
                <a:gd name="T10" fmla="*/ 2417273 w 107"/>
                <a:gd name="T11" fmla="*/ 653 h 27"/>
                <a:gd name="T12" fmla="*/ 2899460 w 107"/>
                <a:gd name="T13" fmla="*/ 590 h 27"/>
                <a:gd name="T14" fmla="*/ 3361858 w 107"/>
                <a:gd name="T15" fmla="*/ 465 h 27"/>
                <a:gd name="T16" fmla="*/ 3649694 w 107"/>
                <a:gd name="T17" fmla="*/ 167 h 27"/>
                <a:gd name="T18" fmla="*/ 3223782 w 107"/>
                <a:gd name="T19" fmla="*/ 0 h 27"/>
                <a:gd name="T20" fmla="*/ 3107351 w 107"/>
                <a:gd name="T21" fmla="*/ 2 h 27"/>
                <a:gd name="T22" fmla="*/ 2833329 w 107"/>
                <a:gd name="T23" fmla="*/ 141 h 27"/>
                <a:gd name="T24" fmla="*/ 2374059 w 107"/>
                <a:gd name="T25" fmla="*/ 167 h 27"/>
                <a:gd name="T26" fmla="*/ 1829721 w 107"/>
                <a:gd name="T27" fmla="*/ 198 h 27"/>
                <a:gd name="T28" fmla="*/ 1242572 w 107"/>
                <a:gd name="T29" fmla="*/ 198 h 27"/>
                <a:gd name="T30" fmla="*/ 755427 w 107"/>
                <a:gd name="T31" fmla="*/ 279 h 27"/>
                <a:gd name="T32" fmla="*/ 316149 w 107"/>
                <a:gd name="T33" fmla="*/ 420 h 27"/>
                <a:gd name="T34" fmla="*/ 0 w 107"/>
                <a:gd name="T35" fmla="*/ 796 h 27"/>
                <a:gd name="T36" fmla="*/ 448956 w 107"/>
                <a:gd name="T37" fmla="*/ 94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7"/>
                <a:gd name="T59" fmla="*/ 107 w 107"/>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7">
                  <a:moveTo>
                    <a:pt x="13" y="26"/>
                  </a:moveTo>
                  <a:lnTo>
                    <a:pt x="16" y="24"/>
                  </a:lnTo>
                  <a:lnTo>
                    <a:pt x="24" y="21"/>
                  </a:lnTo>
                  <a:lnTo>
                    <a:pt x="38" y="19"/>
                  </a:lnTo>
                  <a:lnTo>
                    <a:pt x="53" y="19"/>
                  </a:lnTo>
                  <a:lnTo>
                    <a:pt x="70" y="18"/>
                  </a:lnTo>
                  <a:lnTo>
                    <a:pt x="84" y="17"/>
                  </a:lnTo>
                  <a:lnTo>
                    <a:pt x="97" y="13"/>
                  </a:lnTo>
                  <a:lnTo>
                    <a:pt x="106" y="5"/>
                  </a:lnTo>
                  <a:lnTo>
                    <a:pt x="93" y="0"/>
                  </a:lnTo>
                  <a:lnTo>
                    <a:pt x="90" y="2"/>
                  </a:lnTo>
                  <a:lnTo>
                    <a:pt x="82" y="4"/>
                  </a:lnTo>
                  <a:lnTo>
                    <a:pt x="69" y="5"/>
                  </a:lnTo>
                  <a:lnTo>
                    <a:pt x="53" y="6"/>
                  </a:lnTo>
                  <a:lnTo>
                    <a:pt x="36" y="6"/>
                  </a:lnTo>
                  <a:lnTo>
                    <a:pt x="22" y="8"/>
                  </a:lnTo>
                  <a:lnTo>
                    <a:pt x="9" y="12"/>
                  </a:lnTo>
                  <a:lnTo>
                    <a:pt x="0" y="22"/>
                  </a:lnTo>
                  <a:lnTo>
                    <a:pt x="13" y="2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8" name="Freeform 37">
              <a:extLst>
                <a:ext uri="{FF2B5EF4-FFF2-40B4-BE49-F238E27FC236}">
                  <a16:creationId xmlns:a16="http://schemas.microsoft.com/office/drawing/2014/main" id="{6F55C34C-4905-3B75-FDBE-443B9AEB80BC}"/>
                </a:ext>
              </a:extLst>
            </p:cNvPr>
            <p:cNvSpPr>
              <a:spLocks/>
            </p:cNvSpPr>
            <p:nvPr/>
          </p:nvSpPr>
          <p:spPr bwMode="auto">
            <a:xfrm>
              <a:off x="2963" y="3133"/>
              <a:ext cx="132" cy="77"/>
            </a:xfrm>
            <a:custGeom>
              <a:avLst/>
              <a:gdLst>
                <a:gd name="T0" fmla="*/ 2918860 w 80"/>
                <a:gd name="T1" fmla="*/ 1224 h 67"/>
                <a:gd name="T2" fmla="*/ 2918860 w 80"/>
                <a:gd name="T3" fmla="*/ 1219 h 67"/>
                <a:gd name="T4" fmla="*/ 2842721 w 80"/>
                <a:gd name="T5" fmla="*/ 985 h 67"/>
                <a:gd name="T6" fmla="*/ 2506601 w 80"/>
                <a:gd name="T7" fmla="*/ 793 h 67"/>
                <a:gd name="T8" fmla="*/ 2062134 w 80"/>
                <a:gd name="T9" fmla="*/ 649 h 67"/>
                <a:gd name="T10" fmla="*/ 1545345 w 80"/>
                <a:gd name="T11" fmla="*/ 522 h 67"/>
                <a:gd name="T12" fmla="*/ 1100611 w 80"/>
                <a:gd name="T13" fmla="*/ 367 h 67"/>
                <a:gd name="T14" fmla="*/ 733570 w 80"/>
                <a:gd name="T15" fmla="*/ 242 h 67"/>
                <a:gd name="T16" fmla="*/ 520035 w 80"/>
                <a:gd name="T17" fmla="*/ 105 h 67"/>
                <a:gd name="T18" fmla="*/ 477527 w 80"/>
                <a:gd name="T19" fmla="*/ 79 h 67"/>
                <a:gd name="T20" fmla="*/ 0 w 80"/>
                <a:gd name="T21" fmla="*/ 0 h 67"/>
                <a:gd name="T22" fmla="*/ 64426 w 80"/>
                <a:gd name="T23" fmla="*/ 242 h 67"/>
                <a:gd name="T24" fmla="*/ 377109 w 80"/>
                <a:gd name="T25" fmla="*/ 422 h 67"/>
                <a:gd name="T26" fmla="*/ 796859 w 80"/>
                <a:gd name="T27" fmla="*/ 600 h 67"/>
                <a:gd name="T28" fmla="*/ 1314817 w 80"/>
                <a:gd name="T29" fmla="*/ 736 h 67"/>
                <a:gd name="T30" fmla="*/ 1816008 w 80"/>
                <a:gd name="T31" fmla="*/ 868 h 67"/>
                <a:gd name="T32" fmla="*/ 2169448 w 80"/>
                <a:gd name="T33" fmla="*/ 998 h 67"/>
                <a:gd name="T34" fmla="*/ 2399955 w 80"/>
                <a:gd name="T35" fmla="*/ 1117 h 67"/>
                <a:gd name="T36" fmla="*/ 2442464 w 80"/>
                <a:gd name="T37" fmla="*/ 1147 h 67"/>
                <a:gd name="T38" fmla="*/ 2442464 w 80"/>
                <a:gd name="T39" fmla="*/ 1132 h 67"/>
                <a:gd name="T40" fmla="*/ 2918860 w 80"/>
                <a:gd name="T41" fmla="*/ 1224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67"/>
                <a:gd name="T65" fmla="*/ 80 w 8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67">
                  <a:moveTo>
                    <a:pt x="79" y="66"/>
                  </a:moveTo>
                  <a:lnTo>
                    <a:pt x="79" y="65"/>
                  </a:lnTo>
                  <a:lnTo>
                    <a:pt x="77" y="53"/>
                  </a:lnTo>
                  <a:lnTo>
                    <a:pt x="68" y="43"/>
                  </a:lnTo>
                  <a:lnTo>
                    <a:pt x="56" y="35"/>
                  </a:lnTo>
                  <a:lnTo>
                    <a:pt x="42" y="28"/>
                  </a:lnTo>
                  <a:lnTo>
                    <a:pt x="30" y="20"/>
                  </a:lnTo>
                  <a:lnTo>
                    <a:pt x="20" y="13"/>
                  </a:lnTo>
                  <a:lnTo>
                    <a:pt x="14" y="6"/>
                  </a:lnTo>
                  <a:lnTo>
                    <a:pt x="13" y="4"/>
                  </a:lnTo>
                  <a:lnTo>
                    <a:pt x="0" y="0"/>
                  </a:lnTo>
                  <a:lnTo>
                    <a:pt x="2" y="13"/>
                  </a:lnTo>
                  <a:lnTo>
                    <a:pt x="10" y="23"/>
                  </a:lnTo>
                  <a:lnTo>
                    <a:pt x="22" y="32"/>
                  </a:lnTo>
                  <a:lnTo>
                    <a:pt x="36" y="39"/>
                  </a:lnTo>
                  <a:lnTo>
                    <a:pt x="49" y="47"/>
                  </a:lnTo>
                  <a:lnTo>
                    <a:pt x="59" y="54"/>
                  </a:lnTo>
                  <a:lnTo>
                    <a:pt x="65" y="60"/>
                  </a:lnTo>
                  <a:lnTo>
                    <a:pt x="66" y="62"/>
                  </a:lnTo>
                  <a:lnTo>
                    <a:pt x="66" y="61"/>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59" name="Freeform 38">
              <a:extLst>
                <a:ext uri="{FF2B5EF4-FFF2-40B4-BE49-F238E27FC236}">
                  <a16:creationId xmlns:a16="http://schemas.microsoft.com/office/drawing/2014/main" id="{FE088366-47E4-585F-1CA7-559AFA979E32}"/>
                </a:ext>
              </a:extLst>
            </p:cNvPr>
            <p:cNvSpPr>
              <a:spLocks/>
            </p:cNvSpPr>
            <p:nvPr/>
          </p:nvSpPr>
          <p:spPr bwMode="auto">
            <a:xfrm>
              <a:off x="2917" y="3203"/>
              <a:ext cx="178" cy="29"/>
            </a:xfrm>
            <a:custGeom>
              <a:avLst/>
              <a:gdLst>
                <a:gd name="T0" fmla="*/ 467977 w 108"/>
                <a:gd name="T1" fmla="*/ 530 h 25"/>
                <a:gd name="T2" fmla="*/ 572069 w 108"/>
                <a:gd name="T3" fmla="*/ 516 h 25"/>
                <a:gd name="T4" fmla="*/ 904365 w 108"/>
                <a:gd name="T5" fmla="*/ 455 h 25"/>
                <a:gd name="T6" fmla="*/ 1340297 w 108"/>
                <a:gd name="T7" fmla="*/ 394 h 25"/>
                <a:gd name="T8" fmla="*/ 1899138 w 108"/>
                <a:gd name="T9" fmla="*/ 445 h 25"/>
                <a:gd name="T10" fmla="*/ 2520165 w 108"/>
                <a:gd name="T11" fmla="*/ 394 h 25"/>
                <a:gd name="T12" fmla="*/ 3068888 w 108"/>
                <a:gd name="T13" fmla="*/ 392 h 25"/>
                <a:gd name="T14" fmla="*/ 3543764 w 108"/>
                <a:gd name="T15" fmla="*/ 331 h 25"/>
                <a:gd name="T16" fmla="*/ 3851116 w 108"/>
                <a:gd name="T17" fmla="*/ 117 h 25"/>
                <a:gd name="T18" fmla="*/ 3382615 w 108"/>
                <a:gd name="T19" fmla="*/ 0 h 25"/>
                <a:gd name="T20" fmla="*/ 3279487 w 108"/>
                <a:gd name="T21" fmla="*/ 3 h 25"/>
                <a:gd name="T22" fmla="*/ 2963647 w 108"/>
                <a:gd name="T23" fmla="*/ 101 h 25"/>
                <a:gd name="T24" fmla="*/ 2520165 w 108"/>
                <a:gd name="T25" fmla="*/ 136 h 25"/>
                <a:gd name="T26" fmla="*/ 1899138 w 108"/>
                <a:gd name="T27" fmla="*/ 117 h 25"/>
                <a:gd name="T28" fmla="*/ 1340297 w 108"/>
                <a:gd name="T29" fmla="*/ 136 h 25"/>
                <a:gd name="T30" fmla="*/ 782669 w 108"/>
                <a:gd name="T31" fmla="*/ 158 h 25"/>
                <a:gd name="T32" fmla="*/ 332929 w 108"/>
                <a:gd name="T33" fmla="*/ 251 h 25"/>
                <a:gd name="T34" fmla="*/ 0 w 108"/>
                <a:gd name="T35" fmla="*/ 455 h 25"/>
                <a:gd name="T36" fmla="*/ 467977 w 108"/>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5"/>
                <a:gd name="T59" fmla="*/ 108 w 108"/>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5">
                  <a:moveTo>
                    <a:pt x="13" y="24"/>
                  </a:moveTo>
                  <a:lnTo>
                    <a:pt x="16" y="22"/>
                  </a:lnTo>
                  <a:lnTo>
                    <a:pt x="25" y="20"/>
                  </a:lnTo>
                  <a:lnTo>
                    <a:pt x="37" y="18"/>
                  </a:lnTo>
                  <a:lnTo>
                    <a:pt x="53" y="19"/>
                  </a:lnTo>
                  <a:lnTo>
                    <a:pt x="70" y="18"/>
                  </a:lnTo>
                  <a:lnTo>
                    <a:pt x="85" y="17"/>
                  </a:lnTo>
                  <a:lnTo>
                    <a:pt x="98" y="14"/>
                  </a:lnTo>
                  <a:lnTo>
                    <a:pt x="107" y="5"/>
                  </a:lnTo>
                  <a:lnTo>
                    <a:pt x="94" y="0"/>
                  </a:lnTo>
                  <a:lnTo>
                    <a:pt x="91" y="3"/>
                  </a:lnTo>
                  <a:lnTo>
                    <a:pt x="82" y="4"/>
                  </a:lnTo>
                  <a:lnTo>
                    <a:pt x="70" y="6"/>
                  </a:lnTo>
                  <a:lnTo>
                    <a:pt x="53" y="5"/>
                  </a:lnTo>
                  <a:lnTo>
                    <a:pt x="37" y="6"/>
                  </a:lnTo>
                  <a:lnTo>
                    <a:pt x="22" y="7"/>
                  </a:lnTo>
                  <a:lnTo>
                    <a:pt x="9" y="11"/>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0" name="Freeform 39">
              <a:extLst>
                <a:ext uri="{FF2B5EF4-FFF2-40B4-BE49-F238E27FC236}">
                  <a16:creationId xmlns:a16="http://schemas.microsoft.com/office/drawing/2014/main" id="{4DEFED02-BB4A-1146-A8EB-F9991EE76382}"/>
                </a:ext>
              </a:extLst>
            </p:cNvPr>
            <p:cNvSpPr>
              <a:spLocks/>
            </p:cNvSpPr>
            <p:nvPr/>
          </p:nvSpPr>
          <p:spPr bwMode="auto">
            <a:xfrm>
              <a:off x="2917" y="3226"/>
              <a:ext cx="128" cy="79"/>
            </a:xfrm>
            <a:custGeom>
              <a:avLst/>
              <a:gdLst>
                <a:gd name="T0" fmla="*/ 2532882 w 78"/>
                <a:gd name="T1" fmla="*/ 1158 h 69"/>
                <a:gd name="T2" fmla="*/ 2532882 w 78"/>
                <a:gd name="T3" fmla="*/ 1161 h 69"/>
                <a:gd name="T4" fmla="*/ 2464373 w 78"/>
                <a:gd name="T5" fmla="*/ 950 h 69"/>
                <a:gd name="T6" fmla="*/ 2209400 w 78"/>
                <a:gd name="T7" fmla="*/ 787 h 69"/>
                <a:gd name="T8" fmla="*/ 1812188 w 78"/>
                <a:gd name="T9" fmla="*/ 633 h 69"/>
                <a:gd name="T10" fmla="*/ 1380721 w 78"/>
                <a:gd name="T11" fmla="*/ 490 h 69"/>
                <a:gd name="T12" fmla="*/ 967606 w 78"/>
                <a:gd name="T13" fmla="*/ 349 h 69"/>
                <a:gd name="T14" fmla="*/ 625104 w 78"/>
                <a:gd name="T15" fmla="*/ 218 h 69"/>
                <a:gd name="T16" fmla="*/ 461814 w 78"/>
                <a:gd name="T17" fmla="*/ 111 h 69"/>
                <a:gd name="T18" fmla="*/ 418066 w 78"/>
                <a:gd name="T19" fmla="*/ 74 h 69"/>
                <a:gd name="T20" fmla="*/ 0 w 78"/>
                <a:gd name="T21" fmla="*/ 0 h 69"/>
                <a:gd name="T22" fmla="*/ 57648 w 78"/>
                <a:gd name="T23" fmla="*/ 218 h 69"/>
                <a:gd name="T24" fmla="*/ 323513 w 78"/>
                <a:gd name="T25" fmla="*/ 405 h 69"/>
                <a:gd name="T26" fmla="*/ 720891 w 78"/>
                <a:gd name="T27" fmla="*/ 553 h 69"/>
                <a:gd name="T28" fmla="*/ 1148299 w 78"/>
                <a:gd name="T29" fmla="*/ 696 h 69"/>
                <a:gd name="T30" fmla="*/ 1587866 w 78"/>
                <a:gd name="T31" fmla="*/ 830 h 69"/>
                <a:gd name="T32" fmla="*/ 1906471 w 78"/>
                <a:gd name="T33" fmla="*/ 950 h 69"/>
                <a:gd name="T34" fmla="*/ 2066934 w 78"/>
                <a:gd name="T35" fmla="*/ 1045 h 69"/>
                <a:gd name="T36" fmla="*/ 2101908 w 78"/>
                <a:gd name="T37" fmla="*/ 1088 h 69"/>
                <a:gd name="T38" fmla="*/ 2532882 w 78"/>
                <a:gd name="T39" fmla="*/ 1158 h 6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8"/>
                <a:gd name="T61" fmla="*/ 0 h 69"/>
                <a:gd name="T62" fmla="*/ 78 w 78"/>
                <a:gd name="T63" fmla="*/ 69 h 6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8" h="69">
                  <a:moveTo>
                    <a:pt x="77" y="67"/>
                  </a:moveTo>
                  <a:lnTo>
                    <a:pt x="77" y="68"/>
                  </a:lnTo>
                  <a:lnTo>
                    <a:pt x="75" y="55"/>
                  </a:lnTo>
                  <a:lnTo>
                    <a:pt x="67" y="45"/>
                  </a:lnTo>
                  <a:lnTo>
                    <a:pt x="55" y="37"/>
                  </a:lnTo>
                  <a:lnTo>
                    <a:pt x="42" y="29"/>
                  </a:lnTo>
                  <a:lnTo>
                    <a:pt x="29" y="20"/>
                  </a:lnTo>
                  <a:lnTo>
                    <a:pt x="19" y="13"/>
                  </a:lnTo>
                  <a:lnTo>
                    <a:pt x="14" y="7"/>
                  </a:lnTo>
                  <a:lnTo>
                    <a:pt x="13" y="4"/>
                  </a:lnTo>
                  <a:lnTo>
                    <a:pt x="0" y="0"/>
                  </a:lnTo>
                  <a:lnTo>
                    <a:pt x="2" y="13"/>
                  </a:lnTo>
                  <a:lnTo>
                    <a:pt x="10" y="24"/>
                  </a:lnTo>
                  <a:lnTo>
                    <a:pt x="22" y="32"/>
                  </a:lnTo>
                  <a:lnTo>
                    <a:pt x="35" y="40"/>
                  </a:lnTo>
                  <a:lnTo>
                    <a:pt x="48" y="48"/>
                  </a:lnTo>
                  <a:lnTo>
                    <a:pt x="58" y="55"/>
                  </a:lnTo>
                  <a:lnTo>
                    <a:pt x="63" y="61"/>
                  </a:lnTo>
                  <a:lnTo>
                    <a:pt x="64" y="63"/>
                  </a:lnTo>
                  <a:lnTo>
                    <a:pt x="77" y="6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1" name="Freeform 40">
              <a:extLst>
                <a:ext uri="{FF2B5EF4-FFF2-40B4-BE49-F238E27FC236}">
                  <a16:creationId xmlns:a16="http://schemas.microsoft.com/office/drawing/2014/main" id="{05A3FC01-332F-8B81-993A-954A61889DFF}"/>
                </a:ext>
              </a:extLst>
            </p:cNvPr>
            <p:cNvSpPr>
              <a:spLocks/>
            </p:cNvSpPr>
            <p:nvPr/>
          </p:nvSpPr>
          <p:spPr bwMode="auto">
            <a:xfrm>
              <a:off x="3022" y="3299"/>
              <a:ext cx="23" cy="5"/>
            </a:xfrm>
            <a:custGeom>
              <a:avLst/>
              <a:gdLst>
                <a:gd name="T0" fmla="*/ 439537 w 14"/>
                <a:gd name="T1" fmla="*/ 4 h 5"/>
                <a:gd name="T2" fmla="*/ 200264 w 14"/>
                <a:gd name="T3" fmla="*/ 2 h 5"/>
                <a:gd name="T4" fmla="*/ 0 w 14"/>
                <a:gd name="T5" fmla="*/ 0 h 5"/>
                <a:gd name="T6" fmla="*/ 439537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13" y="4"/>
                  </a:moveTo>
                  <a:lnTo>
                    <a:pt x="6" y="2"/>
                  </a:lnTo>
                  <a:lnTo>
                    <a:pt x="0" y="0"/>
                  </a:lnTo>
                  <a:lnTo>
                    <a:pt x="1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2" name="Freeform 41">
              <a:extLst>
                <a:ext uri="{FF2B5EF4-FFF2-40B4-BE49-F238E27FC236}">
                  <a16:creationId xmlns:a16="http://schemas.microsoft.com/office/drawing/2014/main" id="{B50EE9C9-C5BF-D52A-0293-951C31A2FA86}"/>
                </a:ext>
              </a:extLst>
            </p:cNvPr>
            <p:cNvSpPr>
              <a:spLocks/>
            </p:cNvSpPr>
            <p:nvPr/>
          </p:nvSpPr>
          <p:spPr bwMode="auto">
            <a:xfrm>
              <a:off x="2869" y="3299"/>
              <a:ext cx="176" cy="29"/>
            </a:xfrm>
            <a:custGeom>
              <a:avLst/>
              <a:gdLst>
                <a:gd name="T0" fmla="*/ 448956 w 107"/>
                <a:gd name="T1" fmla="*/ 254 h 26"/>
                <a:gd name="T2" fmla="*/ 520021 w 107"/>
                <a:gd name="T3" fmla="*/ 229 h 26"/>
                <a:gd name="T4" fmla="*/ 818282 w 107"/>
                <a:gd name="T5" fmla="*/ 205 h 26"/>
                <a:gd name="T6" fmla="*/ 1274250 w 107"/>
                <a:gd name="T7" fmla="*/ 204 h 26"/>
                <a:gd name="T8" fmla="*/ 1829721 w 107"/>
                <a:gd name="T9" fmla="*/ 204 h 26"/>
                <a:gd name="T10" fmla="*/ 2374059 w 107"/>
                <a:gd name="T11" fmla="*/ 204 h 26"/>
                <a:gd name="T12" fmla="*/ 2899460 w 107"/>
                <a:gd name="T13" fmla="*/ 183 h 26"/>
                <a:gd name="T14" fmla="*/ 3361858 w 107"/>
                <a:gd name="T15" fmla="*/ 147 h 26"/>
                <a:gd name="T16" fmla="*/ 3649694 w 107"/>
                <a:gd name="T17" fmla="*/ 4 h 26"/>
                <a:gd name="T18" fmla="*/ 3223782 w 107"/>
                <a:gd name="T19" fmla="*/ 0 h 26"/>
                <a:gd name="T20" fmla="*/ 3107351 w 107"/>
                <a:gd name="T21" fmla="*/ 2 h 26"/>
                <a:gd name="T22" fmla="*/ 2796262 w 107"/>
                <a:gd name="T23" fmla="*/ 56 h 26"/>
                <a:gd name="T24" fmla="*/ 2374059 w 107"/>
                <a:gd name="T25" fmla="*/ 62 h 26"/>
                <a:gd name="T26" fmla="*/ 1829721 w 107"/>
                <a:gd name="T27" fmla="*/ 56 h 26"/>
                <a:gd name="T28" fmla="*/ 1274250 w 107"/>
                <a:gd name="T29" fmla="*/ 62 h 26"/>
                <a:gd name="T30" fmla="*/ 738470 w 107"/>
                <a:gd name="T31" fmla="*/ 69 h 26"/>
                <a:gd name="T32" fmla="*/ 316149 w 107"/>
                <a:gd name="T33" fmla="*/ 107 h 26"/>
                <a:gd name="T34" fmla="*/ 0 w 107"/>
                <a:gd name="T35" fmla="*/ 205 h 26"/>
                <a:gd name="T36" fmla="*/ 448956 w 107"/>
                <a:gd name="T37" fmla="*/ 254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3"/>
                  </a:lnTo>
                  <a:lnTo>
                    <a:pt x="24" y="21"/>
                  </a:lnTo>
                  <a:lnTo>
                    <a:pt x="37" y="20"/>
                  </a:lnTo>
                  <a:lnTo>
                    <a:pt x="53" y="20"/>
                  </a:lnTo>
                  <a:lnTo>
                    <a:pt x="69" y="20"/>
                  </a:lnTo>
                  <a:lnTo>
                    <a:pt x="84" y="18"/>
                  </a:lnTo>
                  <a:lnTo>
                    <a:pt x="97" y="14"/>
                  </a:lnTo>
                  <a:lnTo>
                    <a:pt x="106" y="4"/>
                  </a:lnTo>
                  <a:lnTo>
                    <a:pt x="93" y="0"/>
                  </a:lnTo>
                  <a:lnTo>
                    <a:pt x="90" y="2"/>
                  </a:lnTo>
                  <a:lnTo>
                    <a:pt x="81" y="5"/>
                  </a:lnTo>
                  <a:lnTo>
                    <a:pt x="69" y="6"/>
                  </a:lnTo>
                  <a:lnTo>
                    <a:pt x="53" y="5"/>
                  </a:lnTo>
                  <a:lnTo>
                    <a:pt x="37" y="6"/>
                  </a:lnTo>
                  <a:lnTo>
                    <a:pt x="21" y="7"/>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3" name="Freeform 42">
              <a:extLst>
                <a:ext uri="{FF2B5EF4-FFF2-40B4-BE49-F238E27FC236}">
                  <a16:creationId xmlns:a16="http://schemas.microsoft.com/office/drawing/2014/main" id="{E6490735-1E5A-593D-12F6-4EF56CCAD8BC}"/>
                </a:ext>
              </a:extLst>
            </p:cNvPr>
            <p:cNvSpPr>
              <a:spLocks/>
            </p:cNvSpPr>
            <p:nvPr/>
          </p:nvSpPr>
          <p:spPr bwMode="auto">
            <a:xfrm>
              <a:off x="2869" y="3323"/>
              <a:ext cx="132" cy="76"/>
            </a:xfrm>
            <a:custGeom>
              <a:avLst/>
              <a:gdLst>
                <a:gd name="T0" fmla="*/ 2918860 w 80"/>
                <a:gd name="T1" fmla="*/ 1246 h 66"/>
                <a:gd name="T2" fmla="*/ 2842721 w 80"/>
                <a:gd name="T3" fmla="*/ 1001 h 66"/>
                <a:gd name="T4" fmla="*/ 2506601 w 80"/>
                <a:gd name="T5" fmla="*/ 839 h 66"/>
                <a:gd name="T6" fmla="*/ 2062134 w 80"/>
                <a:gd name="T7" fmla="*/ 656 h 66"/>
                <a:gd name="T8" fmla="*/ 1584345 w 80"/>
                <a:gd name="T9" fmla="*/ 508 h 66"/>
                <a:gd name="T10" fmla="*/ 1100611 w 80"/>
                <a:gd name="T11" fmla="*/ 371 h 66"/>
                <a:gd name="T12" fmla="*/ 692147 w 80"/>
                <a:gd name="T13" fmla="*/ 236 h 66"/>
                <a:gd name="T14" fmla="*/ 520035 w 80"/>
                <a:gd name="T15" fmla="*/ 117 h 66"/>
                <a:gd name="T16" fmla="*/ 477527 w 80"/>
                <a:gd name="T17" fmla="*/ 89 h 66"/>
                <a:gd name="T18" fmla="*/ 0 w 80"/>
                <a:gd name="T19" fmla="*/ 0 h 66"/>
                <a:gd name="T20" fmla="*/ 64426 w 80"/>
                <a:gd name="T21" fmla="*/ 251 h 66"/>
                <a:gd name="T22" fmla="*/ 377109 w 80"/>
                <a:gd name="T23" fmla="*/ 427 h 66"/>
                <a:gd name="T24" fmla="*/ 796859 w 80"/>
                <a:gd name="T25" fmla="*/ 585 h 66"/>
                <a:gd name="T26" fmla="*/ 1314817 w 80"/>
                <a:gd name="T27" fmla="*/ 752 h 66"/>
                <a:gd name="T28" fmla="*/ 1816008 w 80"/>
                <a:gd name="T29" fmla="*/ 894 h 66"/>
                <a:gd name="T30" fmla="*/ 2169448 w 80"/>
                <a:gd name="T31" fmla="*/ 1029 h 66"/>
                <a:gd name="T32" fmla="*/ 2399955 w 80"/>
                <a:gd name="T33" fmla="*/ 1148 h 66"/>
                <a:gd name="T34" fmla="*/ 2442464 w 80"/>
                <a:gd name="T35" fmla="*/ 1188 h 66"/>
                <a:gd name="T36" fmla="*/ 2918860 w 80"/>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3"/>
                  </a:lnTo>
                  <a:lnTo>
                    <a:pt x="56" y="34"/>
                  </a:lnTo>
                  <a:lnTo>
                    <a:pt x="43" y="26"/>
                  </a:lnTo>
                  <a:lnTo>
                    <a:pt x="30" y="19"/>
                  </a:lnTo>
                  <a:lnTo>
                    <a:pt x="19" y="12"/>
                  </a:lnTo>
                  <a:lnTo>
                    <a:pt x="14" y="6"/>
                  </a:lnTo>
                  <a:lnTo>
                    <a:pt x="13" y="4"/>
                  </a:lnTo>
                  <a:lnTo>
                    <a:pt x="0" y="0"/>
                  </a:lnTo>
                  <a:lnTo>
                    <a:pt x="2" y="13"/>
                  </a:lnTo>
                  <a:lnTo>
                    <a:pt x="10" y="22"/>
                  </a:lnTo>
                  <a:lnTo>
                    <a:pt x="22" y="30"/>
                  </a:lnTo>
                  <a:lnTo>
                    <a:pt x="36" y="38"/>
                  </a:lnTo>
                  <a:lnTo>
                    <a:pt x="49" y="46"/>
                  </a:lnTo>
                  <a:lnTo>
                    <a:pt x="59" y="53"/>
                  </a:lnTo>
                  <a:lnTo>
                    <a:pt x="65" y="59"/>
                  </a:lnTo>
                  <a:lnTo>
                    <a:pt x="66" y="62"/>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4" name="Freeform 43">
              <a:extLst>
                <a:ext uri="{FF2B5EF4-FFF2-40B4-BE49-F238E27FC236}">
                  <a16:creationId xmlns:a16="http://schemas.microsoft.com/office/drawing/2014/main" id="{0600A7E4-9361-5146-3707-BE4666C497C0}"/>
                </a:ext>
              </a:extLst>
            </p:cNvPr>
            <p:cNvSpPr>
              <a:spLocks/>
            </p:cNvSpPr>
            <p:nvPr/>
          </p:nvSpPr>
          <p:spPr bwMode="auto">
            <a:xfrm>
              <a:off x="2823" y="3393"/>
              <a:ext cx="178" cy="29"/>
            </a:xfrm>
            <a:custGeom>
              <a:avLst/>
              <a:gdLst>
                <a:gd name="T0" fmla="*/ 467977 w 108"/>
                <a:gd name="T1" fmla="*/ 530 h 25"/>
                <a:gd name="T2" fmla="*/ 572069 w 108"/>
                <a:gd name="T3" fmla="*/ 516 h 25"/>
                <a:gd name="T4" fmla="*/ 881942 w 108"/>
                <a:gd name="T5" fmla="*/ 455 h 25"/>
                <a:gd name="T6" fmla="*/ 1340297 w 108"/>
                <a:gd name="T7" fmla="*/ 394 h 25"/>
                <a:gd name="T8" fmla="*/ 1899138 w 108"/>
                <a:gd name="T9" fmla="*/ 445 h 25"/>
                <a:gd name="T10" fmla="*/ 2496818 w 108"/>
                <a:gd name="T11" fmla="*/ 394 h 25"/>
                <a:gd name="T12" fmla="*/ 3008657 w 108"/>
                <a:gd name="T13" fmla="*/ 392 h 25"/>
                <a:gd name="T14" fmla="*/ 3504021 w 108"/>
                <a:gd name="T15" fmla="*/ 291 h 25"/>
                <a:gd name="T16" fmla="*/ 3851116 w 108"/>
                <a:gd name="T17" fmla="*/ 3 h 25"/>
                <a:gd name="T18" fmla="*/ 3382615 w 108"/>
                <a:gd name="T19" fmla="*/ 0 h 25"/>
                <a:gd name="T20" fmla="*/ 3279487 w 108"/>
                <a:gd name="T21" fmla="*/ 2 h 25"/>
                <a:gd name="T22" fmla="*/ 2963647 w 108"/>
                <a:gd name="T23" fmla="*/ 101 h 25"/>
                <a:gd name="T24" fmla="*/ 2496818 w 108"/>
                <a:gd name="T25" fmla="*/ 117 h 25"/>
                <a:gd name="T26" fmla="*/ 1899138 w 108"/>
                <a:gd name="T27" fmla="*/ 117 h 25"/>
                <a:gd name="T28" fmla="*/ 1340297 w 108"/>
                <a:gd name="T29" fmla="*/ 117 h 25"/>
                <a:gd name="T30" fmla="*/ 771295 w 108"/>
                <a:gd name="T31" fmla="*/ 158 h 25"/>
                <a:gd name="T32" fmla="*/ 332929 w 108"/>
                <a:gd name="T33" fmla="*/ 246 h 25"/>
                <a:gd name="T34" fmla="*/ 0 w 108"/>
                <a:gd name="T35" fmla="*/ 455 h 25"/>
                <a:gd name="T36" fmla="*/ 467977 w 108"/>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5"/>
                <a:gd name="T59" fmla="*/ 108 w 108"/>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5">
                  <a:moveTo>
                    <a:pt x="13" y="24"/>
                  </a:moveTo>
                  <a:lnTo>
                    <a:pt x="16" y="22"/>
                  </a:lnTo>
                  <a:lnTo>
                    <a:pt x="24" y="20"/>
                  </a:lnTo>
                  <a:lnTo>
                    <a:pt x="37" y="18"/>
                  </a:lnTo>
                  <a:lnTo>
                    <a:pt x="53" y="19"/>
                  </a:lnTo>
                  <a:lnTo>
                    <a:pt x="69" y="18"/>
                  </a:lnTo>
                  <a:lnTo>
                    <a:pt x="84" y="17"/>
                  </a:lnTo>
                  <a:lnTo>
                    <a:pt x="97" y="13"/>
                  </a:lnTo>
                  <a:lnTo>
                    <a:pt x="107" y="3"/>
                  </a:lnTo>
                  <a:lnTo>
                    <a:pt x="94" y="0"/>
                  </a:lnTo>
                  <a:lnTo>
                    <a:pt x="91" y="2"/>
                  </a:lnTo>
                  <a:lnTo>
                    <a:pt x="82" y="4"/>
                  </a:lnTo>
                  <a:lnTo>
                    <a:pt x="69" y="5"/>
                  </a:lnTo>
                  <a:lnTo>
                    <a:pt x="53" y="5"/>
                  </a:lnTo>
                  <a:lnTo>
                    <a:pt x="37" y="5"/>
                  </a:lnTo>
                  <a:lnTo>
                    <a:pt x="21"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5" name="Freeform 44">
              <a:extLst>
                <a:ext uri="{FF2B5EF4-FFF2-40B4-BE49-F238E27FC236}">
                  <a16:creationId xmlns:a16="http://schemas.microsoft.com/office/drawing/2014/main" id="{39D94603-630C-3AC1-59B5-495AB129BCEF}"/>
                </a:ext>
              </a:extLst>
            </p:cNvPr>
            <p:cNvSpPr>
              <a:spLocks/>
            </p:cNvSpPr>
            <p:nvPr/>
          </p:nvSpPr>
          <p:spPr bwMode="auto">
            <a:xfrm>
              <a:off x="2823" y="3416"/>
              <a:ext cx="136" cy="71"/>
            </a:xfrm>
            <a:custGeom>
              <a:avLst/>
              <a:gdLst>
                <a:gd name="T0" fmla="*/ 3316748 w 82"/>
                <a:gd name="T1" fmla="*/ 1017 h 62"/>
                <a:gd name="T2" fmla="*/ 3310262 w 82"/>
                <a:gd name="T3" fmla="*/ 1046 h 62"/>
                <a:gd name="T4" fmla="*/ 3175910 w 82"/>
                <a:gd name="T5" fmla="*/ 838 h 62"/>
                <a:gd name="T6" fmla="*/ 2793281 w 82"/>
                <a:gd name="T7" fmla="*/ 715 h 62"/>
                <a:gd name="T8" fmla="*/ 2301297 w 82"/>
                <a:gd name="T9" fmla="*/ 566 h 62"/>
                <a:gd name="T10" fmla="*/ 1767504 w 82"/>
                <a:gd name="T11" fmla="*/ 462 h 62"/>
                <a:gd name="T12" fmla="*/ 1203406 w 82"/>
                <a:gd name="T13" fmla="*/ 328 h 62"/>
                <a:gd name="T14" fmla="*/ 792167 w 82"/>
                <a:gd name="T15" fmla="*/ 190 h 62"/>
                <a:gd name="T16" fmla="*/ 563196 w 82"/>
                <a:gd name="T17" fmla="*/ 97 h 62"/>
                <a:gd name="T18" fmla="*/ 543340 w 82"/>
                <a:gd name="T19" fmla="*/ 74 h 62"/>
                <a:gd name="T20" fmla="*/ 0 w 82"/>
                <a:gd name="T21" fmla="*/ 0 h 62"/>
                <a:gd name="T22" fmla="*/ 71808 w 82"/>
                <a:gd name="T23" fmla="*/ 211 h 62"/>
                <a:gd name="T24" fmla="*/ 413734 w 82"/>
                <a:gd name="T25" fmla="*/ 376 h 62"/>
                <a:gd name="T26" fmla="*/ 934081 w 82"/>
                <a:gd name="T27" fmla="*/ 529 h 62"/>
                <a:gd name="T28" fmla="*/ 1494589 w 82"/>
                <a:gd name="T29" fmla="*/ 634 h 62"/>
                <a:gd name="T30" fmla="*/ 1999804 w 82"/>
                <a:gd name="T31" fmla="*/ 795 h 62"/>
                <a:gd name="T32" fmla="*/ 2478831 w 82"/>
                <a:gd name="T33" fmla="*/ 882 h 62"/>
                <a:gd name="T34" fmla="*/ 2707123 w 82"/>
                <a:gd name="T35" fmla="*/ 973 h 62"/>
                <a:gd name="T36" fmla="*/ 2751824 w 82"/>
                <a:gd name="T37" fmla="*/ 973 h 62"/>
                <a:gd name="T38" fmla="*/ 2707123 w 82"/>
                <a:gd name="T39" fmla="*/ 1017 h 62"/>
                <a:gd name="T40" fmla="*/ 2751824 w 82"/>
                <a:gd name="T41" fmla="*/ 973 h 62"/>
                <a:gd name="T42" fmla="*/ 2707123 w 82"/>
                <a:gd name="T43" fmla="*/ 1017 h 62"/>
                <a:gd name="T44" fmla="*/ 3316748 w 82"/>
                <a:gd name="T45" fmla="*/ 1017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2"/>
                <a:gd name="T70" fmla="*/ 0 h 62"/>
                <a:gd name="T71" fmla="*/ 82 w 82"/>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2" h="62">
                  <a:moveTo>
                    <a:pt x="81" y="59"/>
                  </a:moveTo>
                  <a:lnTo>
                    <a:pt x="80" y="61"/>
                  </a:lnTo>
                  <a:lnTo>
                    <a:pt x="77" y="49"/>
                  </a:lnTo>
                  <a:lnTo>
                    <a:pt x="68" y="41"/>
                  </a:lnTo>
                  <a:lnTo>
                    <a:pt x="56" y="33"/>
                  </a:lnTo>
                  <a:lnTo>
                    <a:pt x="43" y="26"/>
                  </a:lnTo>
                  <a:lnTo>
                    <a:pt x="29" y="19"/>
                  </a:lnTo>
                  <a:lnTo>
                    <a:pt x="19" y="11"/>
                  </a:lnTo>
                  <a:lnTo>
                    <a:pt x="14" y="6"/>
                  </a:lnTo>
                  <a:lnTo>
                    <a:pt x="13" y="4"/>
                  </a:lnTo>
                  <a:lnTo>
                    <a:pt x="0" y="0"/>
                  </a:lnTo>
                  <a:lnTo>
                    <a:pt x="2" y="12"/>
                  </a:lnTo>
                  <a:lnTo>
                    <a:pt x="10" y="22"/>
                  </a:lnTo>
                  <a:lnTo>
                    <a:pt x="23" y="30"/>
                  </a:lnTo>
                  <a:lnTo>
                    <a:pt x="36" y="37"/>
                  </a:lnTo>
                  <a:lnTo>
                    <a:pt x="49" y="45"/>
                  </a:lnTo>
                  <a:lnTo>
                    <a:pt x="60" y="51"/>
                  </a:lnTo>
                  <a:lnTo>
                    <a:pt x="66" y="57"/>
                  </a:lnTo>
                  <a:lnTo>
                    <a:pt x="67" y="57"/>
                  </a:lnTo>
                  <a:lnTo>
                    <a:pt x="66" y="59"/>
                  </a:lnTo>
                  <a:lnTo>
                    <a:pt x="67" y="57"/>
                  </a:lnTo>
                  <a:lnTo>
                    <a:pt x="66" y="59"/>
                  </a:lnTo>
                  <a:lnTo>
                    <a:pt x="81" y="5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6" name="Freeform 45">
              <a:extLst>
                <a:ext uri="{FF2B5EF4-FFF2-40B4-BE49-F238E27FC236}">
                  <a16:creationId xmlns:a16="http://schemas.microsoft.com/office/drawing/2014/main" id="{279DB385-93E0-F511-CB4F-89ADB4AEB732}"/>
                </a:ext>
              </a:extLst>
            </p:cNvPr>
            <p:cNvSpPr>
              <a:spLocks/>
            </p:cNvSpPr>
            <p:nvPr/>
          </p:nvSpPr>
          <p:spPr bwMode="auto">
            <a:xfrm>
              <a:off x="2932" y="3483"/>
              <a:ext cx="27" cy="6"/>
            </a:xfrm>
            <a:custGeom>
              <a:avLst/>
              <a:gdLst>
                <a:gd name="T0" fmla="*/ 824491 w 16"/>
                <a:gd name="T1" fmla="*/ 5 h 6"/>
                <a:gd name="T2" fmla="*/ 879388 w 16"/>
                <a:gd name="T3" fmla="*/ 3 h 6"/>
                <a:gd name="T4" fmla="*/ 879388 w 16"/>
                <a:gd name="T5" fmla="*/ 1 h 6"/>
                <a:gd name="T6" fmla="*/ 0 w 16"/>
                <a:gd name="T7" fmla="*/ 1 h 6"/>
                <a:gd name="T8" fmla="*/ 0 w 16"/>
                <a:gd name="T9" fmla="*/ 3 h 6"/>
                <a:gd name="T10" fmla="*/ 62006 w 16"/>
                <a:gd name="T11" fmla="*/ 0 h 6"/>
                <a:gd name="T12" fmla="*/ 824491 w 16"/>
                <a:gd name="T13" fmla="*/ 5 h 6"/>
                <a:gd name="T14" fmla="*/ 879388 w 16"/>
                <a:gd name="T15" fmla="*/ 4 h 6"/>
                <a:gd name="T16" fmla="*/ 879388 w 16"/>
                <a:gd name="T17" fmla="*/ 3 h 6"/>
                <a:gd name="T18" fmla="*/ 824491 w 16"/>
                <a:gd name="T19" fmla="*/ 5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6"/>
                <a:gd name="T32" fmla="*/ 16 w 16"/>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6">
                  <a:moveTo>
                    <a:pt x="14" y="5"/>
                  </a:moveTo>
                  <a:lnTo>
                    <a:pt x="15" y="3"/>
                  </a:lnTo>
                  <a:lnTo>
                    <a:pt x="15" y="1"/>
                  </a:lnTo>
                  <a:lnTo>
                    <a:pt x="0" y="1"/>
                  </a:lnTo>
                  <a:lnTo>
                    <a:pt x="0" y="3"/>
                  </a:lnTo>
                  <a:lnTo>
                    <a:pt x="1" y="0"/>
                  </a:lnTo>
                  <a:lnTo>
                    <a:pt x="14" y="5"/>
                  </a:lnTo>
                  <a:lnTo>
                    <a:pt x="15" y="4"/>
                  </a:lnTo>
                  <a:lnTo>
                    <a:pt x="15" y="3"/>
                  </a:lnTo>
                  <a:lnTo>
                    <a:pt x="14"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7" name="Freeform 46">
              <a:extLst>
                <a:ext uri="{FF2B5EF4-FFF2-40B4-BE49-F238E27FC236}">
                  <a16:creationId xmlns:a16="http://schemas.microsoft.com/office/drawing/2014/main" id="{B7E20F93-0380-9FCE-93E7-761FE44CC7D4}"/>
                </a:ext>
              </a:extLst>
            </p:cNvPr>
            <p:cNvSpPr>
              <a:spLocks/>
            </p:cNvSpPr>
            <p:nvPr/>
          </p:nvSpPr>
          <p:spPr bwMode="auto">
            <a:xfrm>
              <a:off x="2783" y="3483"/>
              <a:ext cx="173" cy="31"/>
            </a:xfrm>
            <a:custGeom>
              <a:avLst/>
              <a:gdLst>
                <a:gd name="T0" fmla="*/ 373313 w 106"/>
                <a:gd name="T1" fmla="*/ 473 h 27"/>
                <a:gd name="T2" fmla="*/ 430014 w 106"/>
                <a:gd name="T3" fmla="*/ 412 h 27"/>
                <a:gd name="T4" fmla="*/ 701815 w 106"/>
                <a:gd name="T5" fmla="*/ 377 h 27"/>
                <a:gd name="T6" fmla="*/ 1079154 w 106"/>
                <a:gd name="T7" fmla="*/ 355 h 27"/>
                <a:gd name="T8" fmla="*/ 1530828 w 106"/>
                <a:gd name="T9" fmla="*/ 355 h 27"/>
                <a:gd name="T10" fmla="*/ 1989524 w 106"/>
                <a:gd name="T11" fmla="*/ 355 h 27"/>
                <a:gd name="T12" fmla="*/ 2421995 w 106"/>
                <a:gd name="T13" fmla="*/ 313 h 27"/>
                <a:gd name="T14" fmla="*/ 2820902 w 106"/>
                <a:gd name="T15" fmla="*/ 249 h 27"/>
                <a:gd name="T16" fmla="*/ 3075039 w 106"/>
                <a:gd name="T17" fmla="*/ 104 h 27"/>
                <a:gd name="T18" fmla="*/ 2702097 w 106"/>
                <a:gd name="T19" fmla="*/ 0 h 27"/>
                <a:gd name="T20" fmla="*/ 2613447 w 106"/>
                <a:gd name="T21" fmla="*/ 2 h 27"/>
                <a:gd name="T22" fmla="*/ 2370041 w 106"/>
                <a:gd name="T23" fmla="*/ 79 h 27"/>
                <a:gd name="T24" fmla="*/ 1989524 w 106"/>
                <a:gd name="T25" fmla="*/ 104 h 27"/>
                <a:gd name="T26" fmla="*/ 1530828 w 106"/>
                <a:gd name="T27" fmla="*/ 91 h 27"/>
                <a:gd name="T28" fmla="*/ 1059028 w 106"/>
                <a:gd name="T29" fmla="*/ 104 h 27"/>
                <a:gd name="T30" fmla="*/ 609275 w 106"/>
                <a:gd name="T31" fmla="*/ 137 h 27"/>
                <a:gd name="T32" fmla="*/ 263477 w 106"/>
                <a:gd name="T33" fmla="*/ 217 h 27"/>
                <a:gd name="T34" fmla="*/ 0 w 106"/>
                <a:gd name="T35" fmla="*/ 408 h 27"/>
                <a:gd name="T36" fmla="*/ 373313 w 106"/>
                <a:gd name="T37" fmla="*/ 47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7"/>
                <a:gd name="T59" fmla="*/ 106 w 106"/>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7">
                  <a:moveTo>
                    <a:pt x="13" y="26"/>
                  </a:moveTo>
                  <a:lnTo>
                    <a:pt x="15" y="23"/>
                  </a:lnTo>
                  <a:lnTo>
                    <a:pt x="24" y="21"/>
                  </a:lnTo>
                  <a:lnTo>
                    <a:pt x="37" y="19"/>
                  </a:lnTo>
                  <a:lnTo>
                    <a:pt x="52" y="19"/>
                  </a:lnTo>
                  <a:lnTo>
                    <a:pt x="68" y="19"/>
                  </a:lnTo>
                  <a:lnTo>
                    <a:pt x="83" y="17"/>
                  </a:lnTo>
                  <a:lnTo>
                    <a:pt x="96" y="14"/>
                  </a:lnTo>
                  <a:lnTo>
                    <a:pt x="105" y="6"/>
                  </a:lnTo>
                  <a:lnTo>
                    <a:pt x="92" y="0"/>
                  </a:lnTo>
                  <a:lnTo>
                    <a:pt x="89" y="2"/>
                  </a:lnTo>
                  <a:lnTo>
                    <a:pt x="81" y="4"/>
                  </a:lnTo>
                  <a:lnTo>
                    <a:pt x="68" y="6"/>
                  </a:lnTo>
                  <a:lnTo>
                    <a:pt x="52" y="5"/>
                  </a:lnTo>
                  <a:lnTo>
                    <a:pt x="36" y="6"/>
                  </a:lnTo>
                  <a:lnTo>
                    <a:pt x="21" y="8"/>
                  </a:lnTo>
                  <a:lnTo>
                    <a:pt x="9" y="12"/>
                  </a:lnTo>
                  <a:lnTo>
                    <a:pt x="0" y="22"/>
                  </a:lnTo>
                  <a:lnTo>
                    <a:pt x="13" y="2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8" name="Freeform 47">
              <a:extLst>
                <a:ext uri="{FF2B5EF4-FFF2-40B4-BE49-F238E27FC236}">
                  <a16:creationId xmlns:a16="http://schemas.microsoft.com/office/drawing/2014/main" id="{C9FC3718-4677-E784-251D-28245DDCE37C}"/>
                </a:ext>
              </a:extLst>
            </p:cNvPr>
            <p:cNvSpPr>
              <a:spLocks/>
            </p:cNvSpPr>
            <p:nvPr/>
          </p:nvSpPr>
          <p:spPr bwMode="auto">
            <a:xfrm>
              <a:off x="2783" y="3508"/>
              <a:ext cx="130" cy="76"/>
            </a:xfrm>
            <a:custGeom>
              <a:avLst/>
              <a:gdLst>
                <a:gd name="T0" fmla="*/ 2718437 w 79"/>
                <a:gd name="T1" fmla="*/ 1246 h 66"/>
                <a:gd name="T2" fmla="*/ 2654305 w 79"/>
                <a:gd name="T3" fmla="*/ 1029 h 66"/>
                <a:gd name="T4" fmla="*/ 2373138 w 79"/>
                <a:gd name="T5" fmla="*/ 839 h 66"/>
                <a:gd name="T6" fmla="*/ 1930358 w 79"/>
                <a:gd name="T7" fmla="*/ 674 h 66"/>
                <a:gd name="T8" fmla="*/ 1468965 w 79"/>
                <a:gd name="T9" fmla="*/ 510 h 66"/>
                <a:gd name="T10" fmla="*/ 1040012 w 79"/>
                <a:gd name="T11" fmla="*/ 371 h 66"/>
                <a:gd name="T12" fmla="*/ 656503 w 79"/>
                <a:gd name="T13" fmla="*/ 236 h 66"/>
                <a:gd name="T14" fmla="*/ 451334 w 79"/>
                <a:gd name="T15" fmla="*/ 117 h 66"/>
                <a:gd name="T16" fmla="*/ 451334 w 79"/>
                <a:gd name="T17" fmla="*/ 89 h 66"/>
                <a:gd name="T18" fmla="*/ 0 w 79"/>
                <a:gd name="T19" fmla="*/ 0 h 66"/>
                <a:gd name="T20" fmla="*/ 61551 w 79"/>
                <a:gd name="T21" fmla="*/ 251 h 66"/>
                <a:gd name="T22" fmla="*/ 339473 w 79"/>
                <a:gd name="T23" fmla="*/ 441 h 66"/>
                <a:gd name="T24" fmla="*/ 760939 w 79"/>
                <a:gd name="T25" fmla="*/ 587 h 66"/>
                <a:gd name="T26" fmla="*/ 1222168 w 79"/>
                <a:gd name="T27" fmla="*/ 755 h 66"/>
                <a:gd name="T28" fmla="*/ 1711412 w 79"/>
                <a:gd name="T29" fmla="*/ 896 h 66"/>
                <a:gd name="T30" fmla="*/ 2060546 w 79"/>
                <a:gd name="T31" fmla="*/ 1029 h 66"/>
                <a:gd name="T32" fmla="*/ 2269433 w 79"/>
                <a:gd name="T33" fmla="*/ 1148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3"/>
                  </a:lnTo>
                  <a:lnTo>
                    <a:pt x="68" y="43"/>
                  </a:lnTo>
                  <a:lnTo>
                    <a:pt x="55" y="35"/>
                  </a:lnTo>
                  <a:lnTo>
                    <a:pt x="42" y="27"/>
                  </a:lnTo>
                  <a:lnTo>
                    <a:pt x="30" y="19"/>
                  </a:lnTo>
                  <a:lnTo>
                    <a:pt x="19" y="12"/>
                  </a:lnTo>
                  <a:lnTo>
                    <a:pt x="13" y="6"/>
                  </a:lnTo>
                  <a:lnTo>
                    <a:pt x="13" y="4"/>
                  </a:lnTo>
                  <a:lnTo>
                    <a:pt x="0" y="0"/>
                  </a:lnTo>
                  <a:lnTo>
                    <a:pt x="2" y="13"/>
                  </a:lnTo>
                  <a:lnTo>
                    <a:pt x="10" y="23"/>
                  </a:lnTo>
                  <a:lnTo>
                    <a:pt x="22" y="31"/>
                  </a:lnTo>
                  <a:lnTo>
                    <a:pt x="35" y="39"/>
                  </a:lnTo>
                  <a:lnTo>
                    <a:pt x="49" y="47"/>
                  </a:lnTo>
                  <a:lnTo>
                    <a:pt x="59" y="53"/>
                  </a:lnTo>
                  <a:lnTo>
                    <a:pt x="65" y="59"/>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69" name="Freeform 48">
              <a:extLst>
                <a:ext uri="{FF2B5EF4-FFF2-40B4-BE49-F238E27FC236}">
                  <a16:creationId xmlns:a16="http://schemas.microsoft.com/office/drawing/2014/main" id="{ED31551E-B50B-9C29-1D74-AC8AC7144C4C}"/>
                </a:ext>
              </a:extLst>
            </p:cNvPr>
            <p:cNvSpPr>
              <a:spLocks/>
            </p:cNvSpPr>
            <p:nvPr/>
          </p:nvSpPr>
          <p:spPr bwMode="auto">
            <a:xfrm>
              <a:off x="2737" y="3578"/>
              <a:ext cx="176" cy="29"/>
            </a:xfrm>
            <a:custGeom>
              <a:avLst/>
              <a:gdLst>
                <a:gd name="T0" fmla="*/ 448956 w 107"/>
                <a:gd name="T1" fmla="*/ 530 h 25"/>
                <a:gd name="T2" fmla="*/ 520021 w 107"/>
                <a:gd name="T3" fmla="*/ 516 h 25"/>
                <a:gd name="T4" fmla="*/ 818282 w 107"/>
                <a:gd name="T5" fmla="*/ 445 h 25"/>
                <a:gd name="T6" fmla="*/ 1274250 w 107"/>
                <a:gd name="T7" fmla="*/ 394 h 25"/>
                <a:gd name="T8" fmla="*/ 1829721 w 107"/>
                <a:gd name="T9" fmla="*/ 394 h 25"/>
                <a:gd name="T10" fmla="*/ 2374059 w 107"/>
                <a:gd name="T11" fmla="*/ 394 h 25"/>
                <a:gd name="T12" fmla="*/ 2937350 w 107"/>
                <a:gd name="T13" fmla="*/ 384 h 25"/>
                <a:gd name="T14" fmla="*/ 3361858 w 107"/>
                <a:gd name="T15" fmla="*/ 291 h 25"/>
                <a:gd name="T16" fmla="*/ 3649694 w 107"/>
                <a:gd name="T17" fmla="*/ 101 h 25"/>
                <a:gd name="T18" fmla="*/ 3223782 w 107"/>
                <a:gd name="T19" fmla="*/ 0 h 25"/>
                <a:gd name="T20" fmla="*/ 3156192 w 107"/>
                <a:gd name="T21" fmla="*/ 2 h 25"/>
                <a:gd name="T22" fmla="*/ 2833329 w 107"/>
                <a:gd name="T23" fmla="*/ 101 h 25"/>
                <a:gd name="T24" fmla="*/ 2374059 w 107"/>
                <a:gd name="T25" fmla="*/ 117 h 25"/>
                <a:gd name="T26" fmla="*/ 1829721 w 107"/>
                <a:gd name="T27" fmla="*/ 117 h 25"/>
                <a:gd name="T28" fmla="*/ 1274250 w 107"/>
                <a:gd name="T29" fmla="*/ 136 h 25"/>
                <a:gd name="T30" fmla="*/ 755427 w 107"/>
                <a:gd name="T31" fmla="*/ 136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4" y="19"/>
                  </a:lnTo>
                  <a:lnTo>
                    <a:pt x="37" y="18"/>
                  </a:lnTo>
                  <a:lnTo>
                    <a:pt x="53" y="18"/>
                  </a:lnTo>
                  <a:lnTo>
                    <a:pt x="69" y="18"/>
                  </a:lnTo>
                  <a:lnTo>
                    <a:pt x="85" y="16"/>
                  </a:lnTo>
                  <a:lnTo>
                    <a:pt x="97" y="13"/>
                  </a:lnTo>
                  <a:lnTo>
                    <a:pt x="106" y="4"/>
                  </a:lnTo>
                  <a:lnTo>
                    <a:pt x="93" y="0"/>
                  </a:lnTo>
                  <a:lnTo>
                    <a:pt x="91" y="2"/>
                  </a:lnTo>
                  <a:lnTo>
                    <a:pt x="82" y="4"/>
                  </a:lnTo>
                  <a:lnTo>
                    <a:pt x="69" y="5"/>
                  </a:lnTo>
                  <a:lnTo>
                    <a:pt x="53" y="5"/>
                  </a:lnTo>
                  <a:lnTo>
                    <a:pt x="37" y="6"/>
                  </a:lnTo>
                  <a:lnTo>
                    <a:pt x="22" y="6"/>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70" name="Freeform 49">
              <a:extLst>
                <a:ext uri="{FF2B5EF4-FFF2-40B4-BE49-F238E27FC236}">
                  <a16:creationId xmlns:a16="http://schemas.microsoft.com/office/drawing/2014/main" id="{7DFF6E17-AB47-4BA4-B3DE-A74B9A3949D6}"/>
                </a:ext>
              </a:extLst>
            </p:cNvPr>
            <p:cNvSpPr>
              <a:spLocks/>
            </p:cNvSpPr>
            <p:nvPr/>
          </p:nvSpPr>
          <p:spPr bwMode="auto">
            <a:xfrm>
              <a:off x="2737" y="3602"/>
              <a:ext cx="131" cy="76"/>
            </a:xfrm>
            <a:custGeom>
              <a:avLst/>
              <a:gdLst>
                <a:gd name="T0" fmla="*/ 2480706 w 80"/>
                <a:gd name="T1" fmla="*/ 1246 h 66"/>
                <a:gd name="T2" fmla="*/ 2415525 w 80"/>
                <a:gd name="T3" fmla="*/ 1001 h 66"/>
                <a:gd name="T4" fmla="*/ 2134954 w 80"/>
                <a:gd name="T5" fmla="*/ 839 h 66"/>
                <a:gd name="T6" fmla="*/ 1785199 w 80"/>
                <a:gd name="T7" fmla="*/ 674 h 66"/>
                <a:gd name="T8" fmla="*/ 1346184 w 80"/>
                <a:gd name="T9" fmla="*/ 510 h 66"/>
                <a:gd name="T10" fmla="*/ 939702 w 80"/>
                <a:gd name="T11" fmla="*/ 371 h 66"/>
                <a:gd name="T12" fmla="*/ 630154 w 80"/>
                <a:gd name="T13" fmla="*/ 236 h 66"/>
                <a:gd name="T14" fmla="*/ 445495 w 80"/>
                <a:gd name="T15" fmla="*/ 117 h 66"/>
                <a:gd name="T16" fmla="*/ 402943 w 80"/>
                <a:gd name="T17" fmla="*/ 89 h 66"/>
                <a:gd name="T18" fmla="*/ 0 w 80"/>
                <a:gd name="T19" fmla="*/ 0 h 66"/>
                <a:gd name="T20" fmla="*/ 56043 w 80"/>
                <a:gd name="T21" fmla="*/ 251 h 66"/>
                <a:gd name="T22" fmla="*/ 335959 w 80"/>
                <a:gd name="T23" fmla="*/ 441 h 66"/>
                <a:gd name="T24" fmla="*/ 695772 w 80"/>
                <a:gd name="T25" fmla="*/ 587 h 66"/>
                <a:gd name="T26" fmla="*/ 1177164 w 80"/>
                <a:gd name="T27" fmla="*/ 755 h 66"/>
                <a:gd name="T28" fmla="*/ 1538762 w 80"/>
                <a:gd name="T29" fmla="*/ 896 h 66"/>
                <a:gd name="T30" fmla="*/ 1865648 w 80"/>
                <a:gd name="T31" fmla="*/ 1029 h 66"/>
                <a:gd name="T32" fmla="*/ 2045165 w 80"/>
                <a:gd name="T33" fmla="*/ 1148 h 66"/>
                <a:gd name="T34" fmla="*/ 2079299 w 80"/>
                <a:gd name="T35" fmla="*/ 1153 h 66"/>
                <a:gd name="T36" fmla="*/ 2079299 w 80"/>
                <a:gd name="T37" fmla="*/ 1185 h 66"/>
                <a:gd name="T38" fmla="*/ 2480706 w 80"/>
                <a:gd name="T39" fmla="*/ 1246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0"/>
                <a:gd name="T61" fmla="*/ 0 h 66"/>
                <a:gd name="T62" fmla="*/ 80 w 80"/>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0" h="66">
                  <a:moveTo>
                    <a:pt x="79" y="65"/>
                  </a:moveTo>
                  <a:lnTo>
                    <a:pt x="77" y="52"/>
                  </a:lnTo>
                  <a:lnTo>
                    <a:pt x="68" y="43"/>
                  </a:lnTo>
                  <a:lnTo>
                    <a:pt x="57" y="35"/>
                  </a:lnTo>
                  <a:lnTo>
                    <a:pt x="43" y="27"/>
                  </a:lnTo>
                  <a:lnTo>
                    <a:pt x="30" y="19"/>
                  </a:lnTo>
                  <a:lnTo>
                    <a:pt x="20" y="12"/>
                  </a:lnTo>
                  <a:lnTo>
                    <a:pt x="14" y="6"/>
                  </a:lnTo>
                  <a:lnTo>
                    <a:pt x="13" y="4"/>
                  </a:lnTo>
                  <a:lnTo>
                    <a:pt x="0" y="0"/>
                  </a:lnTo>
                  <a:lnTo>
                    <a:pt x="2" y="13"/>
                  </a:lnTo>
                  <a:lnTo>
                    <a:pt x="11" y="23"/>
                  </a:lnTo>
                  <a:lnTo>
                    <a:pt x="22" y="31"/>
                  </a:lnTo>
                  <a:lnTo>
                    <a:pt x="37" y="39"/>
                  </a:lnTo>
                  <a:lnTo>
                    <a:pt x="49" y="47"/>
                  </a:lnTo>
                  <a:lnTo>
                    <a:pt x="59" y="53"/>
                  </a:lnTo>
                  <a:lnTo>
                    <a:pt x="65" y="59"/>
                  </a:lnTo>
                  <a:lnTo>
                    <a:pt x="66" y="60"/>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71" name="Freeform 50">
              <a:extLst>
                <a:ext uri="{FF2B5EF4-FFF2-40B4-BE49-F238E27FC236}">
                  <a16:creationId xmlns:a16="http://schemas.microsoft.com/office/drawing/2014/main" id="{EB2CE042-8C91-0396-3AB8-6CFA6388A27A}"/>
                </a:ext>
              </a:extLst>
            </p:cNvPr>
            <p:cNvSpPr>
              <a:spLocks/>
            </p:cNvSpPr>
            <p:nvPr/>
          </p:nvSpPr>
          <p:spPr bwMode="auto">
            <a:xfrm>
              <a:off x="2679" y="3672"/>
              <a:ext cx="189" cy="27"/>
            </a:xfrm>
            <a:custGeom>
              <a:avLst/>
              <a:gdLst>
                <a:gd name="T0" fmla="*/ 441678 w 115"/>
                <a:gd name="T1" fmla="*/ 639 h 23"/>
                <a:gd name="T2" fmla="*/ 511833 w 115"/>
                <a:gd name="T3" fmla="*/ 639 h 23"/>
                <a:gd name="T4" fmla="*/ 805456 w 115"/>
                <a:gd name="T5" fmla="*/ 593 h 23"/>
                <a:gd name="T6" fmla="*/ 1323749 w 115"/>
                <a:gd name="T7" fmla="*/ 544 h 23"/>
                <a:gd name="T8" fmla="*/ 1937644 w 115"/>
                <a:gd name="T9" fmla="*/ 544 h 23"/>
                <a:gd name="T10" fmla="*/ 2540566 w 115"/>
                <a:gd name="T11" fmla="*/ 514 h 23"/>
                <a:gd name="T12" fmla="*/ 3104818 w 115"/>
                <a:gd name="T13" fmla="*/ 505 h 23"/>
                <a:gd name="T14" fmla="*/ 3575474 w 115"/>
                <a:gd name="T15" fmla="*/ 373 h 23"/>
                <a:gd name="T16" fmla="*/ 3864861 w 115"/>
                <a:gd name="T17" fmla="*/ 122 h 23"/>
                <a:gd name="T18" fmla="*/ 3437182 w 115"/>
                <a:gd name="T19" fmla="*/ 0 h 23"/>
                <a:gd name="T20" fmla="*/ 3337567 w 115"/>
                <a:gd name="T21" fmla="*/ 2 h 23"/>
                <a:gd name="T22" fmla="*/ 2994209 w 115"/>
                <a:gd name="T23" fmla="*/ 122 h 23"/>
                <a:gd name="T24" fmla="*/ 2523166 w 115"/>
                <a:gd name="T25" fmla="*/ 168 h 23"/>
                <a:gd name="T26" fmla="*/ 1937644 w 115"/>
                <a:gd name="T27" fmla="*/ 168 h 23"/>
                <a:gd name="T28" fmla="*/ 1323749 w 115"/>
                <a:gd name="T29" fmla="*/ 168 h 23"/>
                <a:gd name="T30" fmla="*/ 782457 w 115"/>
                <a:gd name="T31" fmla="*/ 231 h 23"/>
                <a:gd name="T32" fmla="*/ 331274 w 115"/>
                <a:gd name="T33" fmla="*/ 286 h 23"/>
                <a:gd name="T34" fmla="*/ 0 w 115"/>
                <a:gd name="T35" fmla="*/ 514 h 23"/>
                <a:gd name="T36" fmla="*/ 441678 w 115"/>
                <a:gd name="T37" fmla="*/ 639 h 2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5"/>
                <a:gd name="T58" fmla="*/ 0 h 23"/>
                <a:gd name="T59" fmla="*/ 115 w 115"/>
                <a:gd name="T60" fmla="*/ 23 h 2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5" h="23">
                  <a:moveTo>
                    <a:pt x="13" y="22"/>
                  </a:moveTo>
                  <a:lnTo>
                    <a:pt x="15" y="22"/>
                  </a:lnTo>
                  <a:lnTo>
                    <a:pt x="24" y="20"/>
                  </a:lnTo>
                  <a:lnTo>
                    <a:pt x="39" y="19"/>
                  </a:lnTo>
                  <a:lnTo>
                    <a:pt x="57" y="19"/>
                  </a:lnTo>
                  <a:lnTo>
                    <a:pt x="75" y="18"/>
                  </a:lnTo>
                  <a:lnTo>
                    <a:pt x="91" y="17"/>
                  </a:lnTo>
                  <a:lnTo>
                    <a:pt x="105" y="13"/>
                  </a:lnTo>
                  <a:lnTo>
                    <a:pt x="114" y="4"/>
                  </a:lnTo>
                  <a:lnTo>
                    <a:pt x="101" y="0"/>
                  </a:lnTo>
                  <a:lnTo>
                    <a:pt x="98" y="2"/>
                  </a:lnTo>
                  <a:lnTo>
                    <a:pt x="88" y="4"/>
                  </a:lnTo>
                  <a:lnTo>
                    <a:pt x="74" y="6"/>
                  </a:lnTo>
                  <a:lnTo>
                    <a:pt x="57" y="6"/>
                  </a:lnTo>
                  <a:lnTo>
                    <a:pt x="39" y="6"/>
                  </a:lnTo>
                  <a:lnTo>
                    <a:pt x="23" y="8"/>
                  </a:lnTo>
                  <a:lnTo>
                    <a:pt x="10" y="10"/>
                  </a:lnTo>
                  <a:lnTo>
                    <a:pt x="0" y="18"/>
                  </a:lnTo>
                  <a:lnTo>
                    <a:pt x="13" y="2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72" name="Freeform 51">
              <a:extLst>
                <a:ext uri="{FF2B5EF4-FFF2-40B4-BE49-F238E27FC236}">
                  <a16:creationId xmlns:a16="http://schemas.microsoft.com/office/drawing/2014/main" id="{583A26CB-C37F-9C96-84D6-120B0C29CCDD}"/>
                </a:ext>
              </a:extLst>
            </p:cNvPr>
            <p:cNvSpPr>
              <a:spLocks/>
            </p:cNvSpPr>
            <p:nvPr/>
          </p:nvSpPr>
          <p:spPr bwMode="auto">
            <a:xfrm>
              <a:off x="3453" y="1951"/>
              <a:ext cx="133" cy="125"/>
            </a:xfrm>
            <a:custGeom>
              <a:avLst/>
              <a:gdLst>
                <a:gd name="T0" fmla="*/ 1361529 w 81"/>
                <a:gd name="T1" fmla="*/ 1662 h 108"/>
                <a:gd name="T2" fmla="*/ 0 w 81"/>
                <a:gd name="T3" fmla="*/ 1771 h 108"/>
                <a:gd name="T4" fmla="*/ 0 w 81"/>
                <a:gd name="T5" fmla="*/ 1755 h 108"/>
                <a:gd name="T6" fmla="*/ 1461685 w 81"/>
                <a:gd name="T7" fmla="*/ 926 h 108"/>
                <a:gd name="T8" fmla="*/ 1618073 w 81"/>
                <a:gd name="T9" fmla="*/ 815 h 108"/>
                <a:gd name="T10" fmla="*/ 1769539 w 81"/>
                <a:gd name="T11" fmla="*/ 691 h 108"/>
                <a:gd name="T12" fmla="*/ 1926232 w 81"/>
                <a:gd name="T13" fmla="*/ 594 h 108"/>
                <a:gd name="T14" fmla="*/ 2062763 w 81"/>
                <a:gd name="T15" fmla="*/ 466 h 108"/>
                <a:gd name="T16" fmla="*/ 2235597 w 81"/>
                <a:gd name="T17" fmla="*/ 348 h 108"/>
                <a:gd name="T18" fmla="*/ 2370078 w 81"/>
                <a:gd name="T19" fmla="*/ 247 h 108"/>
                <a:gd name="T20" fmla="*/ 2535189 w 81"/>
                <a:gd name="T21" fmla="*/ 108 h 108"/>
                <a:gd name="T22" fmla="*/ 2656836 w 81"/>
                <a:gd name="T23" fmla="*/ 0 h 108"/>
                <a:gd name="T24" fmla="*/ 2635349 w 81"/>
                <a:gd name="T25" fmla="*/ 145 h 108"/>
                <a:gd name="T26" fmla="*/ 2558027 w 81"/>
                <a:gd name="T27" fmla="*/ 286 h 108"/>
                <a:gd name="T28" fmla="*/ 2535189 w 81"/>
                <a:gd name="T29" fmla="*/ 443 h 108"/>
                <a:gd name="T30" fmla="*/ 2499894 w 81"/>
                <a:gd name="T31" fmla="*/ 561 h 108"/>
                <a:gd name="T32" fmla="*/ 2429082 w 81"/>
                <a:gd name="T33" fmla="*/ 704 h 108"/>
                <a:gd name="T34" fmla="*/ 2370078 w 81"/>
                <a:gd name="T35" fmla="*/ 853 h 108"/>
                <a:gd name="T36" fmla="*/ 2333873 w 81"/>
                <a:gd name="T37" fmla="*/ 987 h 108"/>
                <a:gd name="T38" fmla="*/ 2272793 w 81"/>
                <a:gd name="T39" fmla="*/ 1142 h 108"/>
                <a:gd name="T40" fmla="*/ 2177657 w 81"/>
                <a:gd name="T41" fmla="*/ 2279 h 108"/>
                <a:gd name="T42" fmla="*/ 2121517 w 81"/>
                <a:gd name="T43" fmla="*/ 2313 h 108"/>
                <a:gd name="T44" fmla="*/ 1361529 w 81"/>
                <a:gd name="T45" fmla="*/ 1662 h 10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1"/>
                <a:gd name="T70" fmla="*/ 0 h 108"/>
                <a:gd name="T71" fmla="*/ 81 w 81"/>
                <a:gd name="T72" fmla="*/ 108 h 10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1" h="108">
                  <a:moveTo>
                    <a:pt x="41" y="78"/>
                  </a:moveTo>
                  <a:lnTo>
                    <a:pt x="0" y="82"/>
                  </a:lnTo>
                  <a:lnTo>
                    <a:pt x="0" y="81"/>
                  </a:lnTo>
                  <a:lnTo>
                    <a:pt x="44" y="43"/>
                  </a:lnTo>
                  <a:lnTo>
                    <a:pt x="49" y="38"/>
                  </a:lnTo>
                  <a:lnTo>
                    <a:pt x="53" y="32"/>
                  </a:lnTo>
                  <a:lnTo>
                    <a:pt x="58" y="27"/>
                  </a:lnTo>
                  <a:lnTo>
                    <a:pt x="62" y="22"/>
                  </a:lnTo>
                  <a:lnTo>
                    <a:pt x="67" y="16"/>
                  </a:lnTo>
                  <a:lnTo>
                    <a:pt x="71" y="11"/>
                  </a:lnTo>
                  <a:lnTo>
                    <a:pt x="76" y="5"/>
                  </a:lnTo>
                  <a:lnTo>
                    <a:pt x="80" y="0"/>
                  </a:lnTo>
                  <a:lnTo>
                    <a:pt x="79" y="7"/>
                  </a:lnTo>
                  <a:lnTo>
                    <a:pt x="77" y="13"/>
                  </a:lnTo>
                  <a:lnTo>
                    <a:pt x="76" y="20"/>
                  </a:lnTo>
                  <a:lnTo>
                    <a:pt x="75" y="26"/>
                  </a:lnTo>
                  <a:lnTo>
                    <a:pt x="73" y="33"/>
                  </a:lnTo>
                  <a:lnTo>
                    <a:pt x="71" y="40"/>
                  </a:lnTo>
                  <a:lnTo>
                    <a:pt x="70" y="46"/>
                  </a:lnTo>
                  <a:lnTo>
                    <a:pt x="68" y="53"/>
                  </a:lnTo>
                  <a:lnTo>
                    <a:pt x="65" y="106"/>
                  </a:lnTo>
                  <a:lnTo>
                    <a:pt x="64" y="107"/>
                  </a:lnTo>
                  <a:lnTo>
                    <a:pt x="41" y="7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grpSp>
        <p:nvGrpSpPr>
          <p:cNvPr id="3" name="Group 52">
            <a:extLst>
              <a:ext uri="{FF2B5EF4-FFF2-40B4-BE49-F238E27FC236}">
                <a16:creationId xmlns:a16="http://schemas.microsoft.com/office/drawing/2014/main" id="{57C167B2-863B-E86F-C9C6-A0B57F931C46}"/>
              </a:ext>
            </a:extLst>
          </p:cNvPr>
          <p:cNvGrpSpPr>
            <a:grpSpLocks/>
          </p:cNvGrpSpPr>
          <p:nvPr/>
        </p:nvGrpSpPr>
        <p:grpSpPr bwMode="auto">
          <a:xfrm>
            <a:off x="2257425" y="2603561"/>
            <a:ext cx="1239838" cy="3071812"/>
            <a:chOff x="1746" y="1484"/>
            <a:chExt cx="967" cy="2258"/>
          </a:xfrm>
        </p:grpSpPr>
        <p:sp>
          <p:nvSpPr>
            <p:cNvPr id="22772" name="Freeform 53">
              <a:extLst>
                <a:ext uri="{FF2B5EF4-FFF2-40B4-BE49-F238E27FC236}">
                  <a16:creationId xmlns:a16="http://schemas.microsoft.com/office/drawing/2014/main" id="{8F9B6797-D86A-AD81-7CFB-85066BD5CE73}"/>
                </a:ext>
              </a:extLst>
            </p:cNvPr>
            <p:cNvSpPr>
              <a:spLocks/>
            </p:cNvSpPr>
            <p:nvPr/>
          </p:nvSpPr>
          <p:spPr bwMode="auto">
            <a:xfrm>
              <a:off x="2621" y="3548"/>
              <a:ext cx="67" cy="90"/>
            </a:xfrm>
            <a:custGeom>
              <a:avLst/>
              <a:gdLst>
                <a:gd name="T0" fmla="*/ 815495 w 41"/>
                <a:gd name="T1" fmla="*/ 89 h 78"/>
                <a:gd name="T2" fmla="*/ 815495 w 41"/>
                <a:gd name="T3" fmla="*/ 119 h 78"/>
                <a:gd name="T4" fmla="*/ 753162 w 41"/>
                <a:gd name="T5" fmla="*/ 158 h 78"/>
                <a:gd name="T6" fmla="*/ 574165 w 41"/>
                <a:gd name="T7" fmla="*/ 228 h 78"/>
                <a:gd name="T8" fmla="*/ 326445 w 41"/>
                <a:gd name="T9" fmla="*/ 322 h 78"/>
                <a:gd name="T10" fmla="*/ 122244 w 41"/>
                <a:gd name="T11" fmla="*/ 496 h 78"/>
                <a:gd name="T12" fmla="*/ 0 w 41"/>
                <a:gd name="T13" fmla="*/ 762 h 78"/>
                <a:gd name="T14" fmla="*/ 88835 w 41"/>
                <a:gd name="T15" fmla="*/ 1101 h 78"/>
                <a:gd name="T16" fmla="*/ 387664 w 41"/>
                <a:gd name="T17" fmla="*/ 1555 h 78"/>
                <a:gd name="T18" fmla="*/ 726393 w 41"/>
                <a:gd name="T19" fmla="*/ 1409 h 78"/>
                <a:gd name="T20" fmla="*/ 478285 w 41"/>
                <a:gd name="T21" fmla="*/ 1014 h 78"/>
                <a:gd name="T22" fmla="*/ 427217 w 41"/>
                <a:gd name="T23" fmla="*/ 762 h 78"/>
                <a:gd name="T24" fmla="*/ 478285 w 41"/>
                <a:gd name="T25" fmla="*/ 621 h 78"/>
                <a:gd name="T26" fmla="*/ 608172 w 41"/>
                <a:gd name="T27" fmla="*/ 517 h 78"/>
                <a:gd name="T28" fmla="*/ 753162 w 41"/>
                <a:gd name="T29" fmla="*/ 466 h 78"/>
                <a:gd name="T30" fmla="*/ 993842 w 41"/>
                <a:gd name="T31" fmla="*/ 372 h 78"/>
                <a:gd name="T32" fmla="*/ 1195376 w 41"/>
                <a:gd name="T33" fmla="*/ 228 h 78"/>
                <a:gd name="T34" fmla="*/ 1195376 w 41"/>
                <a:gd name="T35" fmla="*/ 0 h 78"/>
                <a:gd name="T36" fmla="*/ 815495 w 41"/>
                <a:gd name="T37" fmla="*/ 89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1"/>
                <a:gd name="T58" fmla="*/ 0 h 78"/>
                <a:gd name="T59" fmla="*/ 41 w 41"/>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1" h="78">
                  <a:moveTo>
                    <a:pt x="27" y="4"/>
                  </a:moveTo>
                  <a:lnTo>
                    <a:pt x="27" y="6"/>
                  </a:lnTo>
                  <a:lnTo>
                    <a:pt x="25" y="8"/>
                  </a:lnTo>
                  <a:lnTo>
                    <a:pt x="19" y="11"/>
                  </a:lnTo>
                  <a:lnTo>
                    <a:pt x="11" y="16"/>
                  </a:lnTo>
                  <a:lnTo>
                    <a:pt x="4" y="25"/>
                  </a:lnTo>
                  <a:lnTo>
                    <a:pt x="0" y="38"/>
                  </a:lnTo>
                  <a:lnTo>
                    <a:pt x="3" y="55"/>
                  </a:lnTo>
                  <a:lnTo>
                    <a:pt x="13" y="77"/>
                  </a:lnTo>
                  <a:lnTo>
                    <a:pt x="24" y="70"/>
                  </a:lnTo>
                  <a:lnTo>
                    <a:pt x="16" y="51"/>
                  </a:lnTo>
                  <a:lnTo>
                    <a:pt x="14" y="38"/>
                  </a:lnTo>
                  <a:lnTo>
                    <a:pt x="16" y="31"/>
                  </a:lnTo>
                  <a:lnTo>
                    <a:pt x="20" y="26"/>
                  </a:lnTo>
                  <a:lnTo>
                    <a:pt x="25" y="23"/>
                  </a:lnTo>
                  <a:lnTo>
                    <a:pt x="33" y="18"/>
                  </a:lnTo>
                  <a:lnTo>
                    <a:pt x="40" y="11"/>
                  </a:lnTo>
                  <a:lnTo>
                    <a:pt x="40" y="0"/>
                  </a:lnTo>
                  <a:lnTo>
                    <a:pt x="2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3" name="Freeform 54">
              <a:extLst>
                <a:ext uri="{FF2B5EF4-FFF2-40B4-BE49-F238E27FC236}">
                  <a16:creationId xmlns:a16="http://schemas.microsoft.com/office/drawing/2014/main" id="{42D35B72-5E19-BF93-CFE5-32498E4961EE}"/>
                </a:ext>
              </a:extLst>
            </p:cNvPr>
            <p:cNvSpPr>
              <a:spLocks/>
            </p:cNvSpPr>
            <p:nvPr/>
          </p:nvSpPr>
          <p:spPr bwMode="auto">
            <a:xfrm>
              <a:off x="2519" y="3524"/>
              <a:ext cx="169" cy="30"/>
            </a:xfrm>
            <a:custGeom>
              <a:avLst/>
              <a:gdLst>
                <a:gd name="T0" fmla="*/ 0 w 103"/>
                <a:gd name="T1" fmla="*/ 89 h 26"/>
                <a:gd name="T2" fmla="*/ 254227 w 103"/>
                <a:gd name="T3" fmla="*/ 263 h 26"/>
                <a:gd name="T4" fmla="*/ 684417 w 103"/>
                <a:gd name="T5" fmla="*/ 350 h 26"/>
                <a:gd name="T6" fmla="*/ 1180545 w 103"/>
                <a:gd name="T7" fmla="*/ 372 h 26"/>
                <a:gd name="T8" fmla="*/ 1679717 w 103"/>
                <a:gd name="T9" fmla="*/ 373 h 26"/>
                <a:gd name="T10" fmla="*/ 2154414 w 103"/>
                <a:gd name="T11" fmla="*/ 373 h 26"/>
                <a:gd name="T12" fmla="*/ 2563751 w 103"/>
                <a:gd name="T13" fmla="*/ 404 h 26"/>
                <a:gd name="T14" fmla="*/ 2816456 w 103"/>
                <a:gd name="T15" fmla="*/ 430 h 26"/>
                <a:gd name="T16" fmla="*/ 2923762 w 103"/>
                <a:gd name="T17" fmla="*/ 496 h 26"/>
                <a:gd name="T18" fmla="*/ 3341514 w 103"/>
                <a:gd name="T19" fmla="*/ 429 h 26"/>
                <a:gd name="T20" fmla="*/ 3082571 w 103"/>
                <a:gd name="T21" fmla="*/ 228 h 26"/>
                <a:gd name="T22" fmla="*/ 2656472 w 103"/>
                <a:gd name="T23" fmla="*/ 137 h 26"/>
                <a:gd name="T24" fmla="*/ 2154414 w 103"/>
                <a:gd name="T25" fmla="*/ 119 h 26"/>
                <a:gd name="T26" fmla="*/ 1679717 w 103"/>
                <a:gd name="T27" fmla="*/ 103 h 26"/>
                <a:gd name="T28" fmla="*/ 1180545 w 103"/>
                <a:gd name="T29" fmla="*/ 103 h 26"/>
                <a:gd name="T30" fmla="*/ 756475 w 103"/>
                <a:gd name="T31" fmla="*/ 89 h 26"/>
                <a:gd name="T32" fmla="*/ 496066 w 103"/>
                <a:gd name="T33" fmla="*/ 2 h 26"/>
                <a:gd name="T34" fmla="*/ 417130 w 103"/>
                <a:gd name="T35" fmla="*/ 0 h 26"/>
                <a:gd name="T36" fmla="*/ 0 w 103"/>
                <a:gd name="T37" fmla="*/ 89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3"/>
                <a:gd name="T58" fmla="*/ 0 h 26"/>
                <a:gd name="T59" fmla="*/ 103 w 103"/>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3" h="26">
                  <a:moveTo>
                    <a:pt x="0" y="4"/>
                  </a:moveTo>
                  <a:lnTo>
                    <a:pt x="8" y="13"/>
                  </a:lnTo>
                  <a:lnTo>
                    <a:pt x="21" y="17"/>
                  </a:lnTo>
                  <a:lnTo>
                    <a:pt x="36" y="18"/>
                  </a:lnTo>
                  <a:lnTo>
                    <a:pt x="51" y="19"/>
                  </a:lnTo>
                  <a:lnTo>
                    <a:pt x="66" y="19"/>
                  </a:lnTo>
                  <a:lnTo>
                    <a:pt x="78" y="20"/>
                  </a:lnTo>
                  <a:lnTo>
                    <a:pt x="86" y="22"/>
                  </a:lnTo>
                  <a:lnTo>
                    <a:pt x="89" y="25"/>
                  </a:lnTo>
                  <a:lnTo>
                    <a:pt x="102" y="21"/>
                  </a:lnTo>
                  <a:lnTo>
                    <a:pt x="94" y="11"/>
                  </a:lnTo>
                  <a:lnTo>
                    <a:pt x="81" y="7"/>
                  </a:lnTo>
                  <a:lnTo>
                    <a:pt x="66" y="6"/>
                  </a:lnTo>
                  <a:lnTo>
                    <a:pt x="51" y="5"/>
                  </a:lnTo>
                  <a:lnTo>
                    <a:pt x="36" y="5"/>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4" name="Freeform 55">
              <a:extLst>
                <a:ext uri="{FF2B5EF4-FFF2-40B4-BE49-F238E27FC236}">
                  <a16:creationId xmlns:a16="http://schemas.microsoft.com/office/drawing/2014/main" id="{303C0DEB-C0DD-A38F-934A-336FCFD6C79C}"/>
                </a:ext>
              </a:extLst>
            </p:cNvPr>
            <p:cNvSpPr>
              <a:spLocks/>
            </p:cNvSpPr>
            <p:nvPr/>
          </p:nvSpPr>
          <p:spPr bwMode="auto">
            <a:xfrm>
              <a:off x="2519" y="3524"/>
              <a:ext cx="23" cy="5"/>
            </a:xfrm>
            <a:custGeom>
              <a:avLst/>
              <a:gdLst>
                <a:gd name="T0" fmla="*/ 0 w 14"/>
                <a:gd name="T1" fmla="*/ 4 h 5"/>
                <a:gd name="T2" fmla="*/ 200264 w 14"/>
                <a:gd name="T3" fmla="*/ 2 h 5"/>
                <a:gd name="T4" fmla="*/ 439537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5" name="Freeform 56">
              <a:extLst>
                <a:ext uri="{FF2B5EF4-FFF2-40B4-BE49-F238E27FC236}">
                  <a16:creationId xmlns:a16="http://schemas.microsoft.com/office/drawing/2014/main" id="{397331A7-B6D5-7BDE-00F0-49F681300629}"/>
                </a:ext>
              </a:extLst>
            </p:cNvPr>
            <p:cNvSpPr>
              <a:spLocks/>
            </p:cNvSpPr>
            <p:nvPr/>
          </p:nvSpPr>
          <p:spPr bwMode="auto">
            <a:xfrm>
              <a:off x="2519" y="3457"/>
              <a:ext cx="138" cy="72"/>
            </a:xfrm>
            <a:custGeom>
              <a:avLst/>
              <a:gdLst>
                <a:gd name="T0" fmla="*/ 2353327 w 84"/>
                <a:gd name="T1" fmla="*/ 73 h 63"/>
                <a:gd name="T2" fmla="*/ 2325254 w 84"/>
                <a:gd name="T3" fmla="*/ 83 h 63"/>
                <a:gd name="T4" fmla="*/ 2114707 w 84"/>
                <a:gd name="T5" fmla="*/ 186 h 63"/>
                <a:gd name="T6" fmla="*/ 1748426 w 84"/>
                <a:gd name="T7" fmla="*/ 278 h 63"/>
                <a:gd name="T8" fmla="*/ 1275230 w 84"/>
                <a:gd name="T9" fmla="*/ 394 h 63"/>
                <a:gd name="T10" fmla="*/ 797119 w 84"/>
                <a:gd name="T11" fmla="*/ 514 h 63"/>
                <a:gd name="T12" fmla="*/ 410755 w 84"/>
                <a:gd name="T13" fmla="*/ 637 h 63"/>
                <a:gd name="T14" fmla="*/ 60339 w 84"/>
                <a:gd name="T15" fmla="*/ 808 h 63"/>
                <a:gd name="T16" fmla="*/ 0 w 84"/>
                <a:gd name="T17" fmla="*/ 1032 h 63"/>
                <a:gd name="T18" fmla="*/ 439537 w 84"/>
                <a:gd name="T19" fmla="*/ 951 h 63"/>
                <a:gd name="T20" fmla="*/ 472486 w 84"/>
                <a:gd name="T21" fmla="*/ 905 h 63"/>
                <a:gd name="T22" fmla="*/ 674812 w 84"/>
                <a:gd name="T23" fmla="*/ 808 h 63"/>
                <a:gd name="T24" fmla="*/ 1050389 w 84"/>
                <a:gd name="T25" fmla="*/ 707 h 63"/>
                <a:gd name="T26" fmla="*/ 1476779 w 84"/>
                <a:gd name="T27" fmla="*/ 605 h 63"/>
                <a:gd name="T28" fmla="*/ 1948925 w 84"/>
                <a:gd name="T29" fmla="*/ 474 h 63"/>
                <a:gd name="T30" fmla="*/ 2353327 w 84"/>
                <a:gd name="T31" fmla="*/ 345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11"/>
                  </a:lnTo>
                  <a:lnTo>
                    <a:pt x="52" y="17"/>
                  </a:lnTo>
                  <a:lnTo>
                    <a:pt x="38" y="24"/>
                  </a:lnTo>
                  <a:lnTo>
                    <a:pt x="24" y="31"/>
                  </a:lnTo>
                  <a:lnTo>
                    <a:pt x="12" y="39"/>
                  </a:lnTo>
                  <a:lnTo>
                    <a:pt x="2" y="49"/>
                  </a:lnTo>
                  <a:lnTo>
                    <a:pt x="0" y="62"/>
                  </a:lnTo>
                  <a:lnTo>
                    <a:pt x="13" y="58"/>
                  </a:lnTo>
                  <a:lnTo>
                    <a:pt x="14" y="55"/>
                  </a:lnTo>
                  <a:lnTo>
                    <a:pt x="20" y="49"/>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6" name="Freeform 57">
              <a:extLst>
                <a:ext uri="{FF2B5EF4-FFF2-40B4-BE49-F238E27FC236}">
                  <a16:creationId xmlns:a16="http://schemas.microsoft.com/office/drawing/2014/main" id="{AF666D9F-9F35-11C2-8D3A-F33A24FCFAA2}"/>
                </a:ext>
              </a:extLst>
            </p:cNvPr>
            <p:cNvSpPr>
              <a:spLocks/>
            </p:cNvSpPr>
            <p:nvPr/>
          </p:nvSpPr>
          <p:spPr bwMode="auto">
            <a:xfrm>
              <a:off x="2483" y="3428"/>
              <a:ext cx="174" cy="34"/>
            </a:xfrm>
            <a:custGeom>
              <a:avLst/>
              <a:gdLst>
                <a:gd name="T0" fmla="*/ 0 w 106"/>
                <a:gd name="T1" fmla="*/ 61 h 30"/>
                <a:gd name="T2" fmla="*/ 306683 w 106"/>
                <a:gd name="T3" fmla="*/ 206 h 30"/>
                <a:gd name="T4" fmla="*/ 724886 w 106"/>
                <a:gd name="T5" fmla="*/ 239 h 30"/>
                <a:gd name="T6" fmla="*/ 1189907 w 106"/>
                <a:gd name="T7" fmla="*/ 271 h 30"/>
                <a:gd name="T8" fmla="*/ 1723619 w 106"/>
                <a:gd name="T9" fmla="*/ 299 h 30"/>
                <a:gd name="T10" fmla="*/ 2261872 w 106"/>
                <a:gd name="T11" fmla="*/ 299 h 30"/>
                <a:gd name="T12" fmla="*/ 2681420 w 106"/>
                <a:gd name="T13" fmla="*/ 338 h 30"/>
                <a:gd name="T14" fmla="*/ 2987436 w 106"/>
                <a:gd name="T15" fmla="*/ 383 h 30"/>
                <a:gd name="T16" fmla="*/ 3048815 w 106"/>
                <a:gd name="T17" fmla="*/ 394 h 30"/>
                <a:gd name="T18" fmla="*/ 3468237 w 106"/>
                <a:gd name="T19" fmla="*/ 339 h 30"/>
                <a:gd name="T20" fmla="*/ 3184802 w 106"/>
                <a:gd name="T21" fmla="*/ 206 h 30"/>
                <a:gd name="T22" fmla="*/ 2792912 w 106"/>
                <a:gd name="T23" fmla="*/ 145 h 30"/>
                <a:gd name="T24" fmla="*/ 2274976 w 106"/>
                <a:gd name="T25" fmla="*/ 113 h 30"/>
                <a:gd name="T26" fmla="*/ 1762354 w 106"/>
                <a:gd name="T27" fmla="*/ 113 h 30"/>
                <a:gd name="T28" fmla="*/ 1229571 w 106"/>
                <a:gd name="T29" fmla="*/ 88 h 30"/>
                <a:gd name="T30" fmla="*/ 784113 w 106"/>
                <a:gd name="T31" fmla="*/ 69 h 30"/>
                <a:gd name="T32" fmla="*/ 503423 w 106"/>
                <a:gd name="T33" fmla="*/ 3 h 30"/>
                <a:gd name="T34" fmla="*/ 419911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9" y="15"/>
                  </a:lnTo>
                  <a:lnTo>
                    <a:pt x="22" y="18"/>
                  </a:lnTo>
                  <a:lnTo>
                    <a:pt x="36" y="20"/>
                  </a:lnTo>
                  <a:lnTo>
                    <a:pt x="52" y="22"/>
                  </a:lnTo>
                  <a:lnTo>
                    <a:pt x="68" y="22"/>
                  </a:lnTo>
                  <a:lnTo>
                    <a:pt x="81" y="24"/>
                  </a:lnTo>
                  <a:lnTo>
                    <a:pt x="90" y="27"/>
                  </a:lnTo>
                  <a:lnTo>
                    <a:pt x="92" y="29"/>
                  </a:lnTo>
                  <a:lnTo>
                    <a:pt x="105" y="25"/>
                  </a:lnTo>
                  <a:lnTo>
                    <a:pt x="96" y="15"/>
                  </a:lnTo>
                  <a:lnTo>
                    <a:pt x="84" y="11"/>
                  </a:lnTo>
                  <a:lnTo>
                    <a:pt x="69" y="9"/>
                  </a:lnTo>
                  <a:lnTo>
                    <a:pt x="53" y="9"/>
                  </a:lnTo>
                  <a:lnTo>
                    <a:pt x="37"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7" name="Freeform 58">
              <a:extLst>
                <a:ext uri="{FF2B5EF4-FFF2-40B4-BE49-F238E27FC236}">
                  <a16:creationId xmlns:a16="http://schemas.microsoft.com/office/drawing/2014/main" id="{23B21993-30B4-9A0A-C711-EA8B4B37C6C5}"/>
                </a:ext>
              </a:extLst>
            </p:cNvPr>
            <p:cNvSpPr>
              <a:spLocks/>
            </p:cNvSpPr>
            <p:nvPr/>
          </p:nvSpPr>
          <p:spPr bwMode="auto">
            <a:xfrm>
              <a:off x="2483" y="3361"/>
              <a:ext cx="137" cy="73"/>
            </a:xfrm>
            <a:custGeom>
              <a:avLst/>
              <a:gdLst>
                <a:gd name="T0" fmla="*/ 2566051 w 83"/>
                <a:gd name="T1" fmla="*/ 94 h 63"/>
                <a:gd name="T2" fmla="*/ 2519400 w 83"/>
                <a:gd name="T3" fmla="*/ 109 h 63"/>
                <a:gd name="T4" fmla="*/ 2289995 w 83"/>
                <a:gd name="T5" fmla="*/ 247 h 63"/>
                <a:gd name="T6" fmla="*/ 1894573 w 83"/>
                <a:gd name="T7" fmla="*/ 384 h 63"/>
                <a:gd name="T8" fmla="*/ 1385413 w 83"/>
                <a:gd name="T9" fmla="*/ 530 h 63"/>
                <a:gd name="T10" fmla="*/ 901473 w 83"/>
                <a:gd name="T11" fmla="*/ 711 h 63"/>
                <a:gd name="T12" fmla="*/ 416000 w 83"/>
                <a:gd name="T13" fmla="*/ 854 h 63"/>
                <a:gd name="T14" fmla="*/ 64690 w 83"/>
                <a:gd name="T15" fmla="*/ 1078 h 63"/>
                <a:gd name="T16" fmla="*/ 0 w 83"/>
                <a:gd name="T17" fmla="*/ 1362 h 63"/>
                <a:gd name="T18" fmla="*/ 480180 w 83"/>
                <a:gd name="T19" fmla="*/ 1283 h 63"/>
                <a:gd name="T20" fmla="*/ 480180 w 83"/>
                <a:gd name="T21" fmla="*/ 1241 h 63"/>
                <a:gd name="T22" fmla="*/ 695387 w 83"/>
                <a:gd name="T23" fmla="*/ 1107 h 63"/>
                <a:gd name="T24" fmla="*/ 1133388 w 83"/>
                <a:gd name="T25" fmla="*/ 955 h 63"/>
                <a:gd name="T26" fmla="*/ 1639289 w 83"/>
                <a:gd name="T27" fmla="*/ 803 h 63"/>
                <a:gd name="T28" fmla="*/ 2159391 w 83"/>
                <a:gd name="T29" fmla="*/ 636 h 63"/>
                <a:gd name="T30" fmla="*/ 2603804 w 83"/>
                <a:gd name="T31" fmla="*/ 457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7"/>
                  </a:lnTo>
                  <a:lnTo>
                    <a:pt x="37" y="24"/>
                  </a:lnTo>
                  <a:lnTo>
                    <a:pt x="24" y="32"/>
                  </a:lnTo>
                  <a:lnTo>
                    <a:pt x="11" y="39"/>
                  </a:lnTo>
                  <a:lnTo>
                    <a:pt x="2" y="49"/>
                  </a:lnTo>
                  <a:lnTo>
                    <a:pt x="0" y="62"/>
                  </a:lnTo>
                  <a:lnTo>
                    <a:pt x="13" y="58"/>
                  </a:lnTo>
                  <a:lnTo>
                    <a:pt x="13" y="56"/>
                  </a:lnTo>
                  <a:lnTo>
                    <a:pt x="19" y="50"/>
                  </a:lnTo>
                  <a:lnTo>
                    <a:pt x="30"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8" name="Freeform 59">
              <a:extLst>
                <a:ext uri="{FF2B5EF4-FFF2-40B4-BE49-F238E27FC236}">
                  <a16:creationId xmlns:a16="http://schemas.microsoft.com/office/drawing/2014/main" id="{C021A166-2ED4-A7DD-4AB5-577B8F40C515}"/>
                </a:ext>
              </a:extLst>
            </p:cNvPr>
            <p:cNvSpPr>
              <a:spLocks/>
            </p:cNvSpPr>
            <p:nvPr/>
          </p:nvSpPr>
          <p:spPr bwMode="auto">
            <a:xfrm>
              <a:off x="2448" y="3338"/>
              <a:ext cx="172" cy="30"/>
            </a:xfrm>
            <a:custGeom>
              <a:avLst/>
              <a:gdLst>
                <a:gd name="T0" fmla="*/ 0 w 104"/>
                <a:gd name="T1" fmla="*/ 119 h 26"/>
                <a:gd name="T2" fmla="*/ 0 w 104"/>
                <a:gd name="T3" fmla="*/ 103 h 26"/>
                <a:gd name="T4" fmla="*/ 310460 w 104"/>
                <a:gd name="T5" fmla="*/ 263 h 26"/>
                <a:gd name="T6" fmla="*/ 823227 w 104"/>
                <a:gd name="T7" fmla="*/ 350 h 26"/>
                <a:gd name="T8" fmla="*/ 1361491 w 104"/>
                <a:gd name="T9" fmla="*/ 350 h 26"/>
                <a:gd name="T10" fmla="*/ 1967544 w 104"/>
                <a:gd name="T11" fmla="*/ 372 h 26"/>
                <a:gd name="T12" fmla="*/ 2552581 w 104"/>
                <a:gd name="T13" fmla="*/ 373 h 26"/>
                <a:gd name="T14" fmla="*/ 3091373 w 104"/>
                <a:gd name="T15" fmla="*/ 404 h 26"/>
                <a:gd name="T16" fmla="*/ 3377511 w 104"/>
                <a:gd name="T17" fmla="*/ 466 h 26"/>
                <a:gd name="T18" fmla="*/ 3487763 w 104"/>
                <a:gd name="T19" fmla="*/ 496 h 26"/>
                <a:gd name="T20" fmla="*/ 3985470 w 104"/>
                <a:gd name="T21" fmla="*/ 429 h 26"/>
                <a:gd name="T22" fmla="*/ 3684152 w 104"/>
                <a:gd name="T23" fmla="*/ 242 h 26"/>
                <a:gd name="T24" fmla="*/ 3186115 w 104"/>
                <a:gd name="T25" fmla="*/ 137 h 26"/>
                <a:gd name="T26" fmla="*/ 2606496 w 104"/>
                <a:gd name="T27" fmla="*/ 119 h 26"/>
                <a:gd name="T28" fmla="*/ 1967544 w 104"/>
                <a:gd name="T29" fmla="*/ 103 h 26"/>
                <a:gd name="T30" fmla="*/ 1361491 w 104"/>
                <a:gd name="T31" fmla="*/ 89 h 26"/>
                <a:gd name="T32" fmla="*/ 849172 w 104"/>
                <a:gd name="T33" fmla="*/ 89 h 26"/>
                <a:gd name="T34" fmla="*/ 537993 w 104"/>
                <a:gd name="T35" fmla="*/ 2 h 26"/>
                <a:gd name="T36" fmla="*/ 513453 w 104"/>
                <a:gd name="T37" fmla="*/ 1 h 26"/>
                <a:gd name="T38" fmla="*/ 473197 w 104"/>
                <a:gd name="T39" fmla="*/ 0 h 26"/>
                <a:gd name="T40" fmla="*/ 513453 w 104"/>
                <a:gd name="T41" fmla="*/ 1 h 26"/>
                <a:gd name="T42" fmla="*/ 513453 w 104"/>
                <a:gd name="T43" fmla="*/ 0 h 26"/>
                <a:gd name="T44" fmla="*/ 473197 w 104"/>
                <a:gd name="T45" fmla="*/ 0 h 26"/>
                <a:gd name="T46" fmla="*/ 0 w 104"/>
                <a:gd name="T47" fmla="*/ 119 h 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4"/>
                <a:gd name="T73" fmla="*/ 0 h 26"/>
                <a:gd name="T74" fmla="*/ 104 w 104"/>
                <a:gd name="T75" fmla="*/ 26 h 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4" h="26">
                  <a:moveTo>
                    <a:pt x="0" y="6"/>
                  </a:moveTo>
                  <a:lnTo>
                    <a:pt x="0" y="5"/>
                  </a:lnTo>
                  <a:lnTo>
                    <a:pt x="8" y="13"/>
                  </a:lnTo>
                  <a:lnTo>
                    <a:pt x="21" y="17"/>
                  </a:lnTo>
                  <a:lnTo>
                    <a:pt x="35" y="17"/>
                  </a:lnTo>
                  <a:lnTo>
                    <a:pt x="51" y="18"/>
                  </a:lnTo>
                  <a:lnTo>
                    <a:pt x="66" y="19"/>
                  </a:lnTo>
                  <a:lnTo>
                    <a:pt x="80" y="20"/>
                  </a:lnTo>
                  <a:lnTo>
                    <a:pt x="87" y="23"/>
                  </a:lnTo>
                  <a:lnTo>
                    <a:pt x="90" y="25"/>
                  </a:lnTo>
                  <a:lnTo>
                    <a:pt x="103" y="21"/>
                  </a:lnTo>
                  <a:lnTo>
                    <a:pt x="95" y="12"/>
                  </a:lnTo>
                  <a:lnTo>
                    <a:pt x="82" y="7"/>
                  </a:lnTo>
                  <a:lnTo>
                    <a:pt x="67" y="6"/>
                  </a:lnTo>
                  <a:lnTo>
                    <a:pt x="51" y="5"/>
                  </a:lnTo>
                  <a:lnTo>
                    <a:pt x="35" y="4"/>
                  </a:lnTo>
                  <a:lnTo>
                    <a:pt x="22" y="4"/>
                  </a:lnTo>
                  <a:lnTo>
                    <a:pt x="14" y="2"/>
                  </a:lnTo>
                  <a:lnTo>
                    <a:pt x="13" y="1"/>
                  </a:lnTo>
                  <a:lnTo>
                    <a:pt x="12" y="0"/>
                  </a:lnTo>
                  <a:lnTo>
                    <a:pt x="13" y="1"/>
                  </a:lnTo>
                  <a:lnTo>
                    <a:pt x="13" y="0"/>
                  </a:lnTo>
                  <a:lnTo>
                    <a:pt x="12" y="0"/>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9" name="Freeform 60">
              <a:extLst>
                <a:ext uri="{FF2B5EF4-FFF2-40B4-BE49-F238E27FC236}">
                  <a16:creationId xmlns:a16="http://schemas.microsoft.com/office/drawing/2014/main" id="{60AD8CD9-8E52-DDA9-0087-118B20771CFD}"/>
                </a:ext>
              </a:extLst>
            </p:cNvPr>
            <p:cNvSpPr>
              <a:spLocks/>
            </p:cNvSpPr>
            <p:nvPr/>
          </p:nvSpPr>
          <p:spPr bwMode="auto">
            <a:xfrm>
              <a:off x="2446" y="3335"/>
              <a:ext cx="24" cy="10"/>
            </a:xfrm>
            <a:custGeom>
              <a:avLst/>
              <a:gdLst>
                <a:gd name="T0" fmla="*/ 0 w 14"/>
                <a:gd name="T1" fmla="*/ 51 h 9"/>
                <a:gd name="T2" fmla="*/ 0 w 14"/>
                <a:gd name="T3" fmla="*/ 63 h 9"/>
                <a:gd name="T4" fmla="*/ 84792 w 14"/>
                <a:gd name="T5" fmla="*/ 70 h 9"/>
                <a:gd name="T6" fmla="*/ 1057803 w 14"/>
                <a:gd name="T7" fmla="*/ 1 h 9"/>
                <a:gd name="T8" fmla="*/ 1012678 w 14"/>
                <a:gd name="T9" fmla="*/ 0 h 9"/>
                <a:gd name="T10" fmla="*/ 1057803 w 14"/>
                <a:gd name="T11" fmla="*/ 1 h 9"/>
                <a:gd name="T12" fmla="*/ 0 w 14"/>
                <a:gd name="T13" fmla="*/ 51 h 9"/>
                <a:gd name="T14" fmla="*/ 0 w 14"/>
                <a:gd name="T15" fmla="*/ 57 h 9"/>
                <a:gd name="T16" fmla="*/ 0 w 14"/>
                <a:gd name="T17" fmla="*/ 63 h 9"/>
                <a:gd name="T18" fmla="*/ 0 w 14"/>
                <a:gd name="T19" fmla="*/ 51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0" y="7"/>
                  </a:lnTo>
                  <a:lnTo>
                    <a:pt x="1" y="8"/>
                  </a:lnTo>
                  <a:lnTo>
                    <a:pt x="13" y="1"/>
                  </a:lnTo>
                  <a:lnTo>
                    <a:pt x="12" y="0"/>
                  </a:lnTo>
                  <a:lnTo>
                    <a:pt x="13" y="1"/>
                  </a:lnTo>
                  <a:lnTo>
                    <a:pt x="0" y="5"/>
                  </a:lnTo>
                  <a:lnTo>
                    <a:pt x="0" y="6"/>
                  </a:lnTo>
                  <a:lnTo>
                    <a:pt x="0"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0" name="Freeform 61">
              <a:extLst>
                <a:ext uri="{FF2B5EF4-FFF2-40B4-BE49-F238E27FC236}">
                  <a16:creationId xmlns:a16="http://schemas.microsoft.com/office/drawing/2014/main" id="{D972FAF8-EDDF-C0BB-4FF6-763CB06EE88A}"/>
                </a:ext>
              </a:extLst>
            </p:cNvPr>
            <p:cNvSpPr>
              <a:spLocks/>
            </p:cNvSpPr>
            <p:nvPr/>
          </p:nvSpPr>
          <p:spPr bwMode="auto">
            <a:xfrm>
              <a:off x="2446" y="3270"/>
              <a:ext cx="136" cy="72"/>
            </a:xfrm>
            <a:custGeom>
              <a:avLst/>
              <a:gdLst>
                <a:gd name="T0" fmla="*/ 2793281 w 82"/>
                <a:gd name="T1" fmla="*/ 73 h 63"/>
                <a:gd name="T2" fmla="*/ 2751824 w 82"/>
                <a:gd name="T3" fmla="*/ 95 h 63"/>
                <a:gd name="T4" fmla="*/ 2517775 w 82"/>
                <a:gd name="T5" fmla="*/ 202 h 63"/>
                <a:gd name="T6" fmla="*/ 2110216 w 82"/>
                <a:gd name="T7" fmla="*/ 318 h 63"/>
                <a:gd name="T8" fmla="*/ 1518070 w 82"/>
                <a:gd name="T9" fmla="*/ 450 h 63"/>
                <a:gd name="T10" fmla="*/ 984142 w 82"/>
                <a:gd name="T11" fmla="*/ 557 h 63"/>
                <a:gd name="T12" fmla="*/ 452635 w 82"/>
                <a:gd name="T13" fmla="*/ 691 h 63"/>
                <a:gd name="T14" fmla="*/ 71808 w 82"/>
                <a:gd name="T15" fmla="*/ 808 h 63"/>
                <a:gd name="T16" fmla="*/ 0 w 82"/>
                <a:gd name="T17" fmla="*/ 1032 h 63"/>
                <a:gd name="T18" fmla="*/ 543340 w 82"/>
                <a:gd name="T19" fmla="*/ 951 h 63"/>
                <a:gd name="T20" fmla="*/ 563196 w 82"/>
                <a:gd name="T21" fmla="*/ 941 h 63"/>
                <a:gd name="T22" fmla="*/ 792167 w 82"/>
                <a:gd name="T23" fmla="*/ 832 h 63"/>
                <a:gd name="T24" fmla="*/ 1245083 w 82"/>
                <a:gd name="T25" fmla="*/ 728 h 63"/>
                <a:gd name="T26" fmla="*/ 1809896 w 82"/>
                <a:gd name="T27" fmla="*/ 619 h 63"/>
                <a:gd name="T28" fmla="*/ 2364446 w 82"/>
                <a:gd name="T29" fmla="*/ 514 h 63"/>
                <a:gd name="T30" fmla="*/ 2866162 w 82"/>
                <a:gd name="T31" fmla="*/ 373 h 63"/>
                <a:gd name="T32" fmla="*/ 3244615 w 82"/>
                <a:gd name="T33" fmla="*/ 213 h 63"/>
                <a:gd name="T34" fmla="*/ 3316748 w 82"/>
                <a:gd name="T35" fmla="*/ 0 h 63"/>
                <a:gd name="T36" fmla="*/ 2793281 w 82"/>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3"/>
                <a:gd name="T59" fmla="*/ 82 w 82"/>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3">
                  <a:moveTo>
                    <a:pt x="68" y="4"/>
                  </a:moveTo>
                  <a:lnTo>
                    <a:pt x="67" y="6"/>
                  </a:lnTo>
                  <a:lnTo>
                    <a:pt x="61" y="12"/>
                  </a:lnTo>
                  <a:lnTo>
                    <a:pt x="51" y="19"/>
                  </a:lnTo>
                  <a:lnTo>
                    <a:pt x="37" y="27"/>
                  </a:lnTo>
                  <a:lnTo>
                    <a:pt x="24" y="34"/>
                  </a:lnTo>
                  <a:lnTo>
                    <a:pt x="11" y="41"/>
                  </a:lnTo>
                  <a:lnTo>
                    <a:pt x="2" y="49"/>
                  </a:lnTo>
                  <a:lnTo>
                    <a:pt x="0" y="62"/>
                  </a:lnTo>
                  <a:lnTo>
                    <a:pt x="13" y="58"/>
                  </a:lnTo>
                  <a:lnTo>
                    <a:pt x="14" y="57"/>
                  </a:lnTo>
                  <a:lnTo>
                    <a:pt x="19" y="51"/>
                  </a:lnTo>
                  <a:lnTo>
                    <a:pt x="30" y="45"/>
                  </a:lnTo>
                  <a:lnTo>
                    <a:pt x="44" y="38"/>
                  </a:lnTo>
                  <a:lnTo>
                    <a:pt x="57" y="31"/>
                  </a:lnTo>
                  <a:lnTo>
                    <a:pt x="70" y="23"/>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1" name="Freeform 62">
              <a:extLst>
                <a:ext uri="{FF2B5EF4-FFF2-40B4-BE49-F238E27FC236}">
                  <a16:creationId xmlns:a16="http://schemas.microsoft.com/office/drawing/2014/main" id="{9E88E173-781D-966A-ED5A-E6F89708B5D8}"/>
                </a:ext>
              </a:extLst>
            </p:cNvPr>
            <p:cNvSpPr>
              <a:spLocks/>
            </p:cNvSpPr>
            <p:nvPr/>
          </p:nvSpPr>
          <p:spPr bwMode="auto">
            <a:xfrm>
              <a:off x="2407" y="3241"/>
              <a:ext cx="175" cy="34"/>
            </a:xfrm>
            <a:custGeom>
              <a:avLst/>
              <a:gdLst>
                <a:gd name="T0" fmla="*/ 0 w 106"/>
                <a:gd name="T1" fmla="*/ 61 h 30"/>
                <a:gd name="T2" fmla="*/ 291842 w 106"/>
                <a:gd name="T3" fmla="*/ 186 h 30"/>
                <a:gd name="T4" fmla="*/ 795449 w 106"/>
                <a:gd name="T5" fmla="*/ 239 h 30"/>
                <a:gd name="T6" fmla="*/ 1328805 w 106"/>
                <a:gd name="T7" fmla="*/ 271 h 30"/>
                <a:gd name="T8" fmla="*/ 1941196 w 106"/>
                <a:gd name="T9" fmla="*/ 271 h 30"/>
                <a:gd name="T10" fmla="*/ 2508326 w 106"/>
                <a:gd name="T11" fmla="*/ 299 h 30"/>
                <a:gd name="T12" fmla="*/ 3033331 w 106"/>
                <a:gd name="T13" fmla="*/ 307 h 30"/>
                <a:gd name="T14" fmla="*/ 3328313 w 106"/>
                <a:gd name="T15" fmla="*/ 348 h 30"/>
                <a:gd name="T16" fmla="*/ 3435385 w 106"/>
                <a:gd name="T17" fmla="*/ 394 h 30"/>
                <a:gd name="T18" fmla="*/ 3917132 w 106"/>
                <a:gd name="T19" fmla="*/ 339 h 30"/>
                <a:gd name="T20" fmla="*/ 3621810 w 106"/>
                <a:gd name="T21" fmla="*/ 186 h 30"/>
                <a:gd name="T22" fmla="*/ 3097518 w 106"/>
                <a:gd name="T23" fmla="*/ 128 h 30"/>
                <a:gd name="T24" fmla="*/ 2534104 w 106"/>
                <a:gd name="T25" fmla="*/ 113 h 30"/>
                <a:gd name="T26" fmla="*/ 1984779 w 106"/>
                <a:gd name="T27" fmla="*/ 88 h 30"/>
                <a:gd name="T28" fmla="*/ 1389091 w 106"/>
                <a:gd name="T29" fmla="*/ 88 h 30"/>
                <a:gd name="T30" fmla="*/ 904506 w 106"/>
                <a:gd name="T31" fmla="*/ 69 h 30"/>
                <a:gd name="T32" fmla="*/ 563155 w 106"/>
                <a:gd name="T33" fmla="*/ 2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0"/>
                  </a:lnTo>
                  <a:lnTo>
                    <a:pt x="67" y="22"/>
                  </a:lnTo>
                  <a:lnTo>
                    <a:pt x="81" y="23"/>
                  </a:lnTo>
                  <a:lnTo>
                    <a:pt x="89" y="26"/>
                  </a:lnTo>
                  <a:lnTo>
                    <a:pt x="92" y="29"/>
                  </a:lnTo>
                  <a:lnTo>
                    <a:pt x="105" y="25"/>
                  </a:lnTo>
                  <a:lnTo>
                    <a:pt x="97" y="14"/>
                  </a:lnTo>
                  <a:lnTo>
                    <a:pt x="83" y="10"/>
                  </a:lnTo>
                  <a:lnTo>
                    <a:pt x="68" y="9"/>
                  </a:lnTo>
                  <a:lnTo>
                    <a:pt x="53" y="7"/>
                  </a:lnTo>
                  <a:lnTo>
                    <a:pt x="37"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2" name="Freeform 63">
              <a:extLst>
                <a:ext uri="{FF2B5EF4-FFF2-40B4-BE49-F238E27FC236}">
                  <a16:creationId xmlns:a16="http://schemas.microsoft.com/office/drawing/2014/main" id="{7F5822E9-9B8A-706B-49F2-71DFC82555FF}"/>
                </a:ext>
              </a:extLst>
            </p:cNvPr>
            <p:cNvSpPr>
              <a:spLocks/>
            </p:cNvSpPr>
            <p:nvPr/>
          </p:nvSpPr>
          <p:spPr bwMode="auto">
            <a:xfrm>
              <a:off x="2407" y="3175"/>
              <a:ext cx="137" cy="71"/>
            </a:xfrm>
            <a:custGeom>
              <a:avLst/>
              <a:gdLst>
                <a:gd name="T0" fmla="*/ 2566051 w 83"/>
                <a:gd name="T1" fmla="*/ 74 h 62"/>
                <a:gd name="T2" fmla="*/ 2519400 w 83"/>
                <a:gd name="T3" fmla="*/ 97 h 62"/>
                <a:gd name="T4" fmla="*/ 2349936 w 83"/>
                <a:gd name="T5" fmla="*/ 211 h 62"/>
                <a:gd name="T6" fmla="*/ 1933123 w 83"/>
                <a:gd name="T7" fmla="*/ 328 h 62"/>
                <a:gd name="T8" fmla="*/ 1423684 w 83"/>
                <a:gd name="T9" fmla="*/ 462 h 62"/>
                <a:gd name="T10" fmla="*/ 901473 w 83"/>
                <a:gd name="T11" fmla="*/ 554 h 62"/>
                <a:gd name="T12" fmla="*/ 446998 w 83"/>
                <a:gd name="T13" fmla="*/ 696 h 62"/>
                <a:gd name="T14" fmla="*/ 64690 w 83"/>
                <a:gd name="T15" fmla="*/ 831 h 62"/>
                <a:gd name="T16" fmla="*/ 0 w 83"/>
                <a:gd name="T17" fmla="*/ 1046 h 62"/>
                <a:gd name="T18" fmla="*/ 480180 w 83"/>
                <a:gd name="T19" fmla="*/ 973 h 62"/>
                <a:gd name="T20" fmla="*/ 522551 w 83"/>
                <a:gd name="T21" fmla="*/ 960 h 62"/>
                <a:gd name="T22" fmla="*/ 737816 w 83"/>
                <a:gd name="T23" fmla="*/ 850 h 62"/>
                <a:gd name="T24" fmla="*/ 1147807 w 83"/>
                <a:gd name="T25" fmla="*/ 742 h 62"/>
                <a:gd name="T26" fmla="*/ 1639289 w 83"/>
                <a:gd name="T27" fmla="*/ 634 h 62"/>
                <a:gd name="T28" fmla="*/ 2159391 w 83"/>
                <a:gd name="T29" fmla="*/ 529 h 62"/>
                <a:gd name="T30" fmla="*/ 2603804 w 83"/>
                <a:gd name="T31" fmla="*/ 403 h 62"/>
                <a:gd name="T32" fmla="*/ 2976645 w 83"/>
                <a:gd name="T33" fmla="*/ 218 h 62"/>
                <a:gd name="T34" fmla="*/ 3041930 w 83"/>
                <a:gd name="T35" fmla="*/ 0 h 62"/>
                <a:gd name="T36" fmla="*/ 2566051 w 83"/>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8" y="6"/>
                  </a:lnTo>
                  <a:lnTo>
                    <a:pt x="63" y="12"/>
                  </a:lnTo>
                  <a:lnTo>
                    <a:pt x="52" y="19"/>
                  </a:lnTo>
                  <a:lnTo>
                    <a:pt x="38" y="26"/>
                  </a:lnTo>
                  <a:lnTo>
                    <a:pt x="24" y="32"/>
                  </a:lnTo>
                  <a:lnTo>
                    <a:pt x="12" y="40"/>
                  </a:lnTo>
                  <a:lnTo>
                    <a:pt x="2" y="48"/>
                  </a:lnTo>
                  <a:lnTo>
                    <a:pt x="0" y="61"/>
                  </a:lnTo>
                  <a:lnTo>
                    <a:pt x="13" y="57"/>
                  </a:lnTo>
                  <a:lnTo>
                    <a:pt x="14" y="56"/>
                  </a:lnTo>
                  <a:lnTo>
                    <a:pt x="20" y="50"/>
                  </a:lnTo>
                  <a:lnTo>
                    <a:pt x="31" y="44"/>
                  </a:lnTo>
                  <a:lnTo>
                    <a:pt x="44" y="37"/>
                  </a:lnTo>
                  <a:lnTo>
                    <a:pt x="58" y="30"/>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3" name="Freeform 64">
              <a:extLst>
                <a:ext uri="{FF2B5EF4-FFF2-40B4-BE49-F238E27FC236}">
                  <a16:creationId xmlns:a16="http://schemas.microsoft.com/office/drawing/2014/main" id="{DE8731D5-CC81-5738-34A7-5C5189A05D69}"/>
                </a:ext>
              </a:extLst>
            </p:cNvPr>
            <p:cNvSpPr>
              <a:spLocks/>
            </p:cNvSpPr>
            <p:nvPr/>
          </p:nvSpPr>
          <p:spPr bwMode="auto">
            <a:xfrm>
              <a:off x="2372" y="3146"/>
              <a:ext cx="172" cy="35"/>
            </a:xfrm>
            <a:custGeom>
              <a:avLst/>
              <a:gdLst>
                <a:gd name="T0" fmla="*/ 0 w 105"/>
                <a:gd name="T1" fmla="*/ 120 h 30"/>
                <a:gd name="T2" fmla="*/ 247472 w 105"/>
                <a:gd name="T3" fmla="*/ 358 h 30"/>
                <a:gd name="T4" fmla="*/ 664056 w 105"/>
                <a:gd name="T5" fmla="*/ 480 h 30"/>
                <a:gd name="T6" fmla="*/ 1144996 w 105"/>
                <a:gd name="T7" fmla="*/ 501 h 30"/>
                <a:gd name="T8" fmla="*/ 1642575 w 105"/>
                <a:gd name="T9" fmla="*/ 501 h 30"/>
                <a:gd name="T10" fmla="*/ 2126746 w 105"/>
                <a:gd name="T11" fmla="*/ 560 h 30"/>
                <a:gd name="T12" fmla="*/ 2540392 w 105"/>
                <a:gd name="T13" fmla="*/ 585 h 30"/>
                <a:gd name="T14" fmla="*/ 2792890 w 105"/>
                <a:gd name="T15" fmla="*/ 664 h 30"/>
                <a:gd name="T16" fmla="*/ 2885372 w 105"/>
                <a:gd name="T17" fmla="*/ 762 h 30"/>
                <a:gd name="T18" fmla="*/ 3278466 w 105"/>
                <a:gd name="T19" fmla="*/ 653 h 30"/>
                <a:gd name="T20" fmla="*/ 3037405 w 105"/>
                <a:gd name="T21" fmla="*/ 411 h 30"/>
                <a:gd name="T22" fmla="*/ 2633720 w 105"/>
                <a:gd name="T23" fmla="*/ 263 h 30"/>
                <a:gd name="T24" fmla="*/ 2147610 w 105"/>
                <a:gd name="T25" fmla="*/ 222 h 30"/>
                <a:gd name="T26" fmla="*/ 1642575 w 105"/>
                <a:gd name="T27" fmla="*/ 190 h 30"/>
                <a:gd name="T28" fmla="*/ 1185358 w 105"/>
                <a:gd name="T29" fmla="*/ 190 h 30"/>
                <a:gd name="T30" fmla="*/ 737762 w 105"/>
                <a:gd name="T31" fmla="*/ 140 h 30"/>
                <a:gd name="T32" fmla="*/ 483836 w 105"/>
                <a:gd name="T33" fmla="*/ 2 h 30"/>
                <a:gd name="T34" fmla="*/ 405383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8"/>
                  </a:lnTo>
                  <a:lnTo>
                    <a:pt x="36" y="20"/>
                  </a:lnTo>
                  <a:lnTo>
                    <a:pt x="52" y="20"/>
                  </a:lnTo>
                  <a:lnTo>
                    <a:pt x="67" y="21"/>
                  </a:lnTo>
                  <a:lnTo>
                    <a:pt x="80" y="23"/>
                  </a:lnTo>
                  <a:lnTo>
                    <a:pt x="88" y="26"/>
                  </a:lnTo>
                  <a:lnTo>
                    <a:pt x="91" y="29"/>
                  </a:lnTo>
                  <a:lnTo>
                    <a:pt x="104" y="25"/>
                  </a:lnTo>
                  <a:lnTo>
                    <a:pt x="96" y="15"/>
                  </a:lnTo>
                  <a:lnTo>
                    <a:pt x="83" y="10"/>
                  </a:lnTo>
                  <a:lnTo>
                    <a:pt x="68" y="8"/>
                  </a:lnTo>
                  <a:lnTo>
                    <a:pt x="52" y="7"/>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4" name="Freeform 65">
              <a:extLst>
                <a:ext uri="{FF2B5EF4-FFF2-40B4-BE49-F238E27FC236}">
                  <a16:creationId xmlns:a16="http://schemas.microsoft.com/office/drawing/2014/main" id="{DF5D284B-5A99-8F2B-16ED-0E143E56F4B9}"/>
                </a:ext>
              </a:extLst>
            </p:cNvPr>
            <p:cNvSpPr>
              <a:spLocks/>
            </p:cNvSpPr>
            <p:nvPr/>
          </p:nvSpPr>
          <p:spPr bwMode="auto">
            <a:xfrm>
              <a:off x="2372" y="3085"/>
              <a:ext cx="139" cy="68"/>
            </a:xfrm>
            <a:custGeom>
              <a:avLst/>
              <a:gdLst>
                <a:gd name="T0" fmla="*/ 2176640 w 85"/>
                <a:gd name="T1" fmla="*/ 158 h 59"/>
                <a:gd name="T2" fmla="*/ 2176640 w 85"/>
                <a:gd name="T3" fmla="*/ 119 h 59"/>
                <a:gd name="T4" fmla="*/ 2115439 w 85"/>
                <a:gd name="T5" fmla="*/ 137 h 59"/>
                <a:gd name="T6" fmla="*/ 1966865 w 85"/>
                <a:gd name="T7" fmla="*/ 242 h 59"/>
                <a:gd name="T8" fmla="*/ 1621167 w 85"/>
                <a:gd name="T9" fmla="*/ 339 h 59"/>
                <a:gd name="T10" fmla="*/ 1202759 w 85"/>
                <a:gd name="T11" fmla="*/ 451 h 59"/>
                <a:gd name="T12" fmla="*/ 769815 w 85"/>
                <a:gd name="T13" fmla="*/ 589 h 59"/>
                <a:gd name="T14" fmla="*/ 375593 w 85"/>
                <a:gd name="T15" fmla="*/ 690 h 59"/>
                <a:gd name="T16" fmla="*/ 54877 w 85"/>
                <a:gd name="T17" fmla="*/ 896 h 59"/>
                <a:gd name="T18" fmla="*/ 0 w 85"/>
                <a:gd name="T19" fmla="*/ 1156 h 59"/>
                <a:gd name="T20" fmla="*/ 392440 w 85"/>
                <a:gd name="T21" fmla="*/ 1056 h 59"/>
                <a:gd name="T22" fmla="*/ 432295 w 85"/>
                <a:gd name="T23" fmla="*/ 1033 h 59"/>
                <a:gd name="T24" fmla="*/ 580820 w 85"/>
                <a:gd name="T25" fmla="*/ 942 h 59"/>
                <a:gd name="T26" fmla="*/ 949812 w 85"/>
                <a:gd name="T27" fmla="*/ 795 h 59"/>
                <a:gd name="T28" fmla="*/ 1351688 w 85"/>
                <a:gd name="T29" fmla="*/ 690 h 59"/>
                <a:gd name="T30" fmla="*/ 1770119 w 85"/>
                <a:gd name="T31" fmla="*/ 569 h 59"/>
                <a:gd name="T32" fmla="*/ 2176640 w 85"/>
                <a:gd name="T33" fmla="*/ 451 h 59"/>
                <a:gd name="T34" fmla="*/ 2469536 w 85"/>
                <a:gd name="T35" fmla="*/ 294 h 59"/>
                <a:gd name="T36" fmla="*/ 2563417 w 85"/>
                <a:gd name="T37" fmla="*/ 2 h 59"/>
                <a:gd name="T38" fmla="*/ 2539975 w 85"/>
                <a:gd name="T39" fmla="*/ 0 h 59"/>
                <a:gd name="T40" fmla="*/ 2563417 w 85"/>
                <a:gd name="T41" fmla="*/ 2 h 59"/>
                <a:gd name="T42" fmla="*/ 2563417 w 85"/>
                <a:gd name="T43" fmla="*/ 1 h 59"/>
                <a:gd name="T44" fmla="*/ 2539975 w 85"/>
                <a:gd name="T45" fmla="*/ 0 h 59"/>
                <a:gd name="T46" fmla="*/ 2176640 w 85"/>
                <a:gd name="T47" fmla="*/ 158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
                <a:gd name="T73" fmla="*/ 0 h 59"/>
                <a:gd name="T74" fmla="*/ 85 w 85"/>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 h="59">
                  <a:moveTo>
                    <a:pt x="71" y="8"/>
                  </a:moveTo>
                  <a:lnTo>
                    <a:pt x="71" y="6"/>
                  </a:lnTo>
                  <a:lnTo>
                    <a:pt x="69" y="7"/>
                  </a:lnTo>
                  <a:lnTo>
                    <a:pt x="64" y="12"/>
                  </a:lnTo>
                  <a:lnTo>
                    <a:pt x="53" y="17"/>
                  </a:lnTo>
                  <a:lnTo>
                    <a:pt x="39" y="23"/>
                  </a:lnTo>
                  <a:lnTo>
                    <a:pt x="25" y="30"/>
                  </a:lnTo>
                  <a:lnTo>
                    <a:pt x="12" y="36"/>
                  </a:lnTo>
                  <a:lnTo>
                    <a:pt x="2" y="45"/>
                  </a:lnTo>
                  <a:lnTo>
                    <a:pt x="0" y="58"/>
                  </a:lnTo>
                  <a:lnTo>
                    <a:pt x="13" y="54"/>
                  </a:lnTo>
                  <a:lnTo>
                    <a:pt x="14" y="52"/>
                  </a:lnTo>
                  <a:lnTo>
                    <a:pt x="19" y="48"/>
                  </a:lnTo>
                  <a:lnTo>
                    <a:pt x="31" y="41"/>
                  </a:lnTo>
                  <a:lnTo>
                    <a:pt x="44" y="36"/>
                  </a:lnTo>
                  <a:lnTo>
                    <a:pt x="58" y="29"/>
                  </a:lnTo>
                  <a:lnTo>
                    <a:pt x="71" y="23"/>
                  </a:lnTo>
                  <a:lnTo>
                    <a:pt x="81" y="15"/>
                  </a:lnTo>
                  <a:lnTo>
                    <a:pt x="84" y="2"/>
                  </a:lnTo>
                  <a:lnTo>
                    <a:pt x="83" y="0"/>
                  </a:lnTo>
                  <a:lnTo>
                    <a:pt x="84" y="2"/>
                  </a:lnTo>
                  <a:lnTo>
                    <a:pt x="84" y="1"/>
                  </a:lnTo>
                  <a:lnTo>
                    <a:pt x="83" y="0"/>
                  </a:lnTo>
                  <a:lnTo>
                    <a:pt x="71"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5" name="Freeform 66">
              <a:extLst>
                <a:ext uri="{FF2B5EF4-FFF2-40B4-BE49-F238E27FC236}">
                  <a16:creationId xmlns:a16="http://schemas.microsoft.com/office/drawing/2014/main" id="{458DED8E-5B98-AA8D-58EF-CAC162D2A719}"/>
                </a:ext>
              </a:extLst>
            </p:cNvPr>
            <p:cNvSpPr>
              <a:spLocks/>
            </p:cNvSpPr>
            <p:nvPr/>
          </p:nvSpPr>
          <p:spPr bwMode="auto">
            <a:xfrm>
              <a:off x="2485" y="3083"/>
              <a:ext cx="24" cy="12"/>
            </a:xfrm>
            <a:custGeom>
              <a:avLst/>
              <a:gdLst>
                <a:gd name="T0" fmla="*/ 0 w 15"/>
                <a:gd name="T1" fmla="*/ 41 h 11"/>
                <a:gd name="T2" fmla="*/ 24325 w 15"/>
                <a:gd name="T3" fmla="*/ 49 h 11"/>
                <a:gd name="T4" fmla="*/ 38920 w 15"/>
                <a:gd name="T5" fmla="*/ 58 h 11"/>
                <a:gd name="T6" fmla="*/ 265134 w 15"/>
                <a:gd name="T7" fmla="*/ 2 h 11"/>
                <a:gd name="T8" fmla="*/ 226910 w 15"/>
                <a:gd name="T9" fmla="*/ 0 h 11"/>
                <a:gd name="T10" fmla="*/ 255066 w 15"/>
                <a:gd name="T11" fmla="*/ 2 h 11"/>
                <a:gd name="T12" fmla="*/ 0 w 15"/>
                <a:gd name="T13" fmla="*/ 41 h 11"/>
                <a:gd name="T14" fmla="*/ 24325 w 15"/>
                <a:gd name="T15" fmla="*/ 49 h 11"/>
                <a:gd name="T16" fmla="*/ 0 w 15"/>
                <a:gd name="T17" fmla="*/ 41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1"/>
                <a:gd name="T29" fmla="*/ 15 w 15"/>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1">
                  <a:moveTo>
                    <a:pt x="0" y="6"/>
                  </a:moveTo>
                  <a:lnTo>
                    <a:pt x="1" y="8"/>
                  </a:lnTo>
                  <a:lnTo>
                    <a:pt x="2" y="10"/>
                  </a:lnTo>
                  <a:lnTo>
                    <a:pt x="14" y="2"/>
                  </a:lnTo>
                  <a:lnTo>
                    <a:pt x="12" y="0"/>
                  </a:lnTo>
                  <a:lnTo>
                    <a:pt x="13" y="2"/>
                  </a:lnTo>
                  <a:lnTo>
                    <a:pt x="0" y="6"/>
                  </a:lnTo>
                  <a:lnTo>
                    <a:pt x="1" y="8"/>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6" name="Freeform 67">
              <a:extLst>
                <a:ext uri="{FF2B5EF4-FFF2-40B4-BE49-F238E27FC236}">
                  <a16:creationId xmlns:a16="http://schemas.microsoft.com/office/drawing/2014/main" id="{83C57F8E-C534-4C55-17EF-476DCD53A4AC}"/>
                </a:ext>
              </a:extLst>
            </p:cNvPr>
            <p:cNvSpPr>
              <a:spLocks/>
            </p:cNvSpPr>
            <p:nvPr/>
          </p:nvSpPr>
          <p:spPr bwMode="auto">
            <a:xfrm>
              <a:off x="2335" y="3056"/>
              <a:ext cx="172" cy="34"/>
            </a:xfrm>
            <a:custGeom>
              <a:avLst/>
              <a:gdLst>
                <a:gd name="T0" fmla="*/ 0 w 105"/>
                <a:gd name="T1" fmla="*/ 61 h 30"/>
                <a:gd name="T2" fmla="*/ 247472 w 105"/>
                <a:gd name="T3" fmla="*/ 186 h 30"/>
                <a:gd name="T4" fmla="*/ 664056 w 105"/>
                <a:gd name="T5" fmla="*/ 233 h 30"/>
                <a:gd name="T6" fmla="*/ 1144996 w 105"/>
                <a:gd name="T7" fmla="*/ 239 h 30"/>
                <a:gd name="T8" fmla="*/ 1629916 w 105"/>
                <a:gd name="T9" fmla="*/ 264 h 30"/>
                <a:gd name="T10" fmla="*/ 2126746 w 105"/>
                <a:gd name="T11" fmla="*/ 264 h 30"/>
                <a:gd name="T12" fmla="*/ 2497456 w 105"/>
                <a:gd name="T13" fmla="*/ 298 h 30"/>
                <a:gd name="T14" fmla="*/ 2792890 w 105"/>
                <a:gd name="T15" fmla="*/ 338 h 30"/>
                <a:gd name="T16" fmla="*/ 2885372 w 105"/>
                <a:gd name="T17" fmla="*/ 394 h 30"/>
                <a:gd name="T18" fmla="*/ 3278466 w 105"/>
                <a:gd name="T19" fmla="*/ 339 h 30"/>
                <a:gd name="T20" fmla="*/ 3037405 w 105"/>
                <a:gd name="T21" fmla="*/ 186 h 30"/>
                <a:gd name="T22" fmla="*/ 2633720 w 105"/>
                <a:gd name="T23" fmla="*/ 100 h 30"/>
                <a:gd name="T24" fmla="*/ 2147610 w 105"/>
                <a:gd name="T25" fmla="*/ 78 h 30"/>
                <a:gd name="T26" fmla="*/ 1629916 w 105"/>
                <a:gd name="T27" fmla="*/ 69 h 30"/>
                <a:gd name="T28" fmla="*/ 1144996 w 105"/>
                <a:gd name="T29" fmla="*/ 69 h 30"/>
                <a:gd name="T30" fmla="*/ 737762 w 105"/>
                <a:gd name="T31" fmla="*/ 61 h 30"/>
                <a:gd name="T32" fmla="*/ 483836 w 105"/>
                <a:gd name="T33" fmla="*/ 2 h 30"/>
                <a:gd name="T34" fmla="*/ 405383 w 105"/>
                <a:gd name="T35" fmla="*/ 0 h 30"/>
                <a:gd name="T36" fmla="*/ 0 w 105"/>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7"/>
                  </a:lnTo>
                  <a:lnTo>
                    <a:pt x="36" y="18"/>
                  </a:lnTo>
                  <a:lnTo>
                    <a:pt x="51" y="19"/>
                  </a:lnTo>
                  <a:lnTo>
                    <a:pt x="67" y="19"/>
                  </a:lnTo>
                  <a:lnTo>
                    <a:pt x="79" y="21"/>
                  </a:lnTo>
                  <a:lnTo>
                    <a:pt x="88" y="24"/>
                  </a:lnTo>
                  <a:lnTo>
                    <a:pt x="91" y="29"/>
                  </a:lnTo>
                  <a:lnTo>
                    <a:pt x="104" y="25"/>
                  </a:lnTo>
                  <a:lnTo>
                    <a:pt x="96" y="14"/>
                  </a:lnTo>
                  <a:lnTo>
                    <a:pt x="83" y="8"/>
                  </a:lnTo>
                  <a:lnTo>
                    <a:pt x="68" y="6"/>
                  </a:lnTo>
                  <a:lnTo>
                    <a:pt x="51" y="5"/>
                  </a:lnTo>
                  <a:lnTo>
                    <a:pt x="36" y="5"/>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7" name="Freeform 68">
              <a:extLst>
                <a:ext uri="{FF2B5EF4-FFF2-40B4-BE49-F238E27FC236}">
                  <a16:creationId xmlns:a16="http://schemas.microsoft.com/office/drawing/2014/main" id="{7C34701C-CC88-D042-7FCF-0207A4497F53}"/>
                </a:ext>
              </a:extLst>
            </p:cNvPr>
            <p:cNvSpPr>
              <a:spLocks/>
            </p:cNvSpPr>
            <p:nvPr/>
          </p:nvSpPr>
          <p:spPr bwMode="auto">
            <a:xfrm>
              <a:off x="2335" y="2990"/>
              <a:ext cx="136" cy="71"/>
            </a:xfrm>
            <a:custGeom>
              <a:avLst/>
              <a:gdLst>
                <a:gd name="T0" fmla="*/ 2195491 w 83"/>
                <a:gd name="T1" fmla="*/ 74 h 62"/>
                <a:gd name="T2" fmla="*/ 2195491 w 83"/>
                <a:gd name="T3" fmla="*/ 97 h 62"/>
                <a:gd name="T4" fmla="*/ 2008007 w 83"/>
                <a:gd name="T5" fmla="*/ 211 h 62"/>
                <a:gd name="T6" fmla="*/ 1654163 w 83"/>
                <a:gd name="T7" fmla="*/ 328 h 62"/>
                <a:gd name="T8" fmla="*/ 1212955 w 83"/>
                <a:gd name="T9" fmla="*/ 462 h 62"/>
                <a:gd name="T10" fmla="*/ 795492 w 83"/>
                <a:gd name="T11" fmla="*/ 554 h 62"/>
                <a:gd name="T12" fmla="*/ 389068 w 83"/>
                <a:gd name="T13" fmla="*/ 696 h 62"/>
                <a:gd name="T14" fmla="*/ 56548 w 83"/>
                <a:gd name="T15" fmla="*/ 831 h 62"/>
                <a:gd name="T16" fmla="*/ 0 w 83"/>
                <a:gd name="T17" fmla="*/ 1046 h 62"/>
                <a:gd name="T18" fmla="*/ 407626 w 83"/>
                <a:gd name="T19" fmla="*/ 973 h 62"/>
                <a:gd name="T20" fmla="*/ 451776 w 83"/>
                <a:gd name="T21" fmla="*/ 960 h 62"/>
                <a:gd name="T22" fmla="*/ 637509 w 83"/>
                <a:gd name="T23" fmla="*/ 850 h 62"/>
                <a:gd name="T24" fmla="*/ 998460 w 83"/>
                <a:gd name="T25" fmla="*/ 732 h 62"/>
                <a:gd name="T26" fmla="*/ 1434145 w 83"/>
                <a:gd name="T27" fmla="*/ 634 h 62"/>
                <a:gd name="T28" fmla="*/ 1855348 w 83"/>
                <a:gd name="T29" fmla="*/ 529 h 62"/>
                <a:gd name="T30" fmla="*/ 2257806 w 83"/>
                <a:gd name="T31" fmla="*/ 403 h 62"/>
                <a:gd name="T32" fmla="*/ 2549956 w 83"/>
                <a:gd name="T33" fmla="*/ 218 h 62"/>
                <a:gd name="T34" fmla="*/ 2609697 w 83"/>
                <a:gd name="T35" fmla="*/ 0 h 62"/>
                <a:gd name="T36" fmla="*/ 2195491 w 83"/>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9" y="6"/>
                  </a:lnTo>
                  <a:lnTo>
                    <a:pt x="63" y="12"/>
                  </a:lnTo>
                  <a:lnTo>
                    <a:pt x="52" y="19"/>
                  </a:lnTo>
                  <a:lnTo>
                    <a:pt x="38" y="26"/>
                  </a:lnTo>
                  <a:lnTo>
                    <a:pt x="25" y="32"/>
                  </a:lnTo>
                  <a:lnTo>
                    <a:pt x="12" y="40"/>
                  </a:lnTo>
                  <a:lnTo>
                    <a:pt x="2" y="48"/>
                  </a:lnTo>
                  <a:lnTo>
                    <a:pt x="0" y="61"/>
                  </a:lnTo>
                  <a:lnTo>
                    <a:pt x="13" y="57"/>
                  </a:lnTo>
                  <a:lnTo>
                    <a:pt x="14" y="56"/>
                  </a:lnTo>
                  <a:lnTo>
                    <a:pt x="20" y="50"/>
                  </a:lnTo>
                  <a:lnTo>
                    <a:pt x="31" y="43"/>
                  </a:lnTo>
                  <a:lnTo>
                    <a:pt x="45" y="37"/>
                  </a:lnTo>
                  <a:lnTo>
                    <a:pt x="58" y="30"/>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8" name="Freeform 69">
              <a:extLst>
                <a:ext uri="{FF2B5EF4-FFF2-40B4-BE49-F238E27FC236}">
                  <a16:creationId xmlns:a16="http://schemas.microsoft.com/office/drawing/2014/main" id="{9729EB35-88F5-E174-1255-A73830959AFB}"/>
                </a:ext>
              </a:extLst>
            </p:cNvPr>
            <p:cNvSpPr>
              <a:spLocks/>
            </p:cNvSpPr>
            <p:nvPr/>
          </p:nvSpPr>
          <p:spPr bwMode="auto">
            <a:xfrm>
              <a:off x="2297" y="2961"/>
              <a:ext cx="174" cy="33"/>
            </a:xfrm>
            <a:custGeom>
              <a:avLst/>
              <a:gdLst>
                <a:gd name="T0" fmla="*/ 0 w 106"/>
                <a:gd name="T1" fmla="*/ 68 h 29"/>
                <a:gd name="T2" fmla="*/ 255808 w 106"/>
                <a:gd name="T3" fmla="*/ 191 h 29"/>
                <a:gd name="T4" fmla="*/ 689288 w 106"/>
                <a:gd name="T5" fmla="*/ 247 h 29"/>
                <a:gd name="T6" fmla="*/ 1189907 w 106"/>
                <a:gd name="T7" fmla="*/ 281 h 29"/>
                <a:gd name="T8" fmla="*/ 1723619 w 106"/>
                <a:gd name="T9" fmla="*/ 306 h 29"/>
                <a:gd name="T10" fmla="*/ 2226709 w 106"/>
                <a:gd name="T11" fmla="*/ 306 h 29"/>
                <a:gd name="T12" fmla="*/ 2681420 w 106"/>
                <a:gd name="T13" fmla="*/ 320 h 29"/>
                <a:gd name="T14" fmla="*/ 2950607 w 106"/>
                <a:gd name="T15" fmla="*/ 396 h 29"/>
                <a:gd name="T16" fmla="*/ 3048815 w 106"/>
                <a:gd name="T17" fmla="*/ 414 h 29"/>
                <a:gd name="T18" fmla="*/ 3468237 w 106"/>
                <a:gd name="T19" fmla="*/ 360 h 29"/>
                <a:gd name="T20" fmla="*/ 3206268 w 106"/>
                <a:gd name="T21" fmla="*/ 207 h 29"/>
                <a:gd name="T22" fmla="*/ 2742357 w 106"/>
                <a:gd name="T23" fmla="*/ 130 h 29"/>
                <a:gd name="T24" fmla="*/ 2274976 w 106"/>
                <a:gd name="T25" fmla="*/ 100 h 29"/>
                <a:gd name="T26" fmla="*/ 1723619 w 106"/>
                <a:gd name="T27" fmla="*/ 100 h 29"/>
                <a:gd name="T28" fmla="*/ 1229571 w 106"/>
                <a:gd name="T29" fmla="*/ 88 h 29"/>
                <a:gd name="T30" fmla="*/ 784113 w 106"/>
                <a:gd name="T31" fmla="*/ 68 h 29"/>
                <a:gd name="T32" fmla="*/ 503423 w 106"/>
                <a:gd name="T33" fmla="*/ 2 h 29"/>
                <a:gd name="T34" fmla="*/ 419911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3"/>
                  </a:lnTo>
                  <a:lnTo>
                    <a:pt x="21" y="17"/>
                  </a:lnTo>
                  <a:lnTo>
                    <a:pt x="36" y="19"/>
                  </a:lnTo>
                  <a:lnTo>
                    <a:pt x="52" y="20"/>
                  </a:lnTo>
                  <a:lnTo>
                    <a:pt x="67" y="20"/>
                  </a:lnTo>
                  <a:lnTo>
                    <a:pt x="81" y="22"/>
                  </a:lnTo>
                  <a:lnTo>
                    <a:pt x="89" y="26"/>
                  </a:lnTo>
                  <a:lnTo>
                    <a:pt x="92" y="28"/>
                  </a:lnTo>
                  <a:lnTo>
                    <a:pt x="105" y="24"/>
                  </a:lnTo>
                  <a:lnTo>
                    <a:pt x="97" y="14"/>
                  </a:lnTo>
                  <a:lnTo>
                    <a:pt x="83" y="9"/>
                  </a:lnTo>
                  <a:lnTo>
                    <a:pt x="69" y="7"/>
                  </a:lnTo>
                  <a:lnTo>
                    <a:pt x="52" y="7"/>
                  </a:lnTo>
                  <a:lnTo>
                    <a:pt x="37" y="6"/>
                  </a:lnTo>
                  <a:lnTo>
                    <a:pt x="24"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89" name="Freeform 70">
              <a:extLst>
                <a:ext uri="{FF2B5EF4-FFF2-40B4-BE49-F238E27FC236}">
                  <a16:creationId xmlns:a16="http://schemas.microsoft.com/office/drawing/2014/main" id="{1B97E493-60F1-CB84-E97E-C7F381889095}"/>
                </a:ext>
              </a:extLst>
            </p:cNvPr>
            <p:cNvSpPr>
              <a:spLocks/>
            </p:cNvSpPr>
            <p:nvPr/>
          </p:nvSpPr>
          <p:spPr bwMode="auto">
            <a:xfrm>
              <a:off x="2297" y="2899"/>
              <a:ext cx="140" cy="69"/>
            </a:xfrm>
            <a:custGeom>
              <a:avLst/>
              <a:gdLst>
                <a:gd name="T0" fmla="*/ 2471399 w 85"/>
                <a:gd name="T1" fmla="*/ 2 h 59"/>
                <a:gd name="T2" fmla="*/ 2471399 w 85"/>
                <a:gd name="T3" fmla="*/ 120 h 59"/>
                <a:gd name="T4" fmla="*/ 2471399 w 85"/>
                <a:gd name="T5" fmla="*/ 103 h 59"/>
                <a:gd name="T6" fmla="*/ 2240237 w 85"/>
                <a:gd name="T7" fmla="*/ 225 h 59"/>
                <a:gd name="T8" fmla="*/ 1859732 w 85"/>
                <a:gd name="T9" fmla="*/ 421 h 59"/>
                <a:gd name="T10" fmla="*/ 1360144 w 85"/>
                <a:gd name="T11" fmla="*/ 575 h 59"/>
                <a:gd name="T12" fmla="*/ 869214 w 85"/>
                <a:gd name="T13" fmla="*/ 782 h 59"/>
                <a:gd name="T14" fmla="*/ 431225 w 85"/>
                <a:gd name="T15" fmla="*/ 934 h 59"/>
                <a:gd name="T16" fmla="*/ 62872 w 85"/>
                <a:gd name="T17" fmla="*/ 1221 h 59"/>
                <a:gd name="T18" fmla="*/ 0 w 85"/>
                <a:gd name="T19" fmla="*/ 1587 h 59"/>
                <a:gd name="T20" fmla="*/ 462695 w 85"/>
                <a:gd name="T21" fmla="*/ 1463 h 59"/>
                <a:gd name="T22" fmla="*/ 501380 w 85"/>
                <a:gd name="T23" fmla="*/ 1381 h 59"/>
                <a:gd name="T24" fmla="*/ 710253 w 85"/>
                <a:gd name="T25" fmla="*/ 1251 h 59"/>
                <a:gd name="T26" fmla="*/ 1097633 w 85"/>
                <a:gd name="T27" fmla="*/ 1070 h 59"/>
                <a:gd name="T28" fmla="*/ 1560340 w 85"/>
                <a:gd name="T29" fmla="*/ 915 h 59"/>
                <a:gd name="T30" fmla="*/ 2067388 w 85"/>
                <a:gd name="T31" fmla="*/ 683 h 59"/>
                <a:gd name="T32" fmla="*/ 2471399 w 85"/>
                <a:gd name="T33" fmla="*/ 530 h 59"/>
                <a:gd name="T34" fmla="*/ 2838541 w 85"/>
                <a:gd name="T35" fmla="*/ 312 h 59"/>
                <a:gd name="T36" fmla="*/ 2963864 w 85"/>
                <a:gd name="T37" fmla="*/ 0 h 59"/>
                <a:gd name="T38" fmla="*/ 2977662 w 85"/>
                <a:gd name="T39" fmla="*/ 2 h 59"/>
                <a:gd name="T40" fmla="*/ 2471399 w 85"/>
                <a:gd name="T41" fmla="*/ 2 h 59"/>
                <a:gd name="T42" fmla="*/ 2471399 w 85"/>
                <a:gd name="T43" fmla="*/ 120 h 59"/>
                <a:gd name="T44" fmla="*/ 2471399 w 85"/>
                <a:gd name="T45" fmla="*/ 2 h 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9"/>
                <a:gd name="T71" fmla="*/ 85 w 85"/>
                <a:gd name="T72" fmla="*/ 59 h 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9">
                  <a:moveTo>
                    <a:pt x="70" y="2"/>
                  </a:moveTo>
                  <a:lnTo>
                    <a:pt x="70" y="4"/>
                  </a:lnTo>
                  <a:lnTo>
                    <a:pt x="70" y="3"/>
                  </a:lnTo>
                  <a:lnTo>
                    <a:pt x="63" y="8"/>
                  </a:lnTo>
                  <a:lnTo>
                    <a:pt x="52" y="15"/>
                  </a:lnTo>
                  <a:lnTo>
                    <a:pt x="38" y="21"/>
                  </a:lnTo>
                  <a:lnTo>
                    <a:pt x="24" y="28"/>
                  </a:lnTo>
                  <a:lnTo>
                    <a:pt x="12" y="35"/>
                  </a:lnTo>
                  <a:lnTo>
                    <a:pt x="2" y="45"/>
                  </a:lnTo>
                  <a:lnTo>
                    <a:pt x="0" y="58"/>
                  </a:lnTo>
                  <a:lnTo>
                    <a:pt x="13" y="54"/>
                  </a:lnTo>
                  <a:lnTo>
                    <a:pt x="14" y="52"/>
                  </a:lnTo>
                  <a:lnTo>
                    <a:pt x="20" y="46"/>
                  </a:lnTo>
                  <a:lnTo>
                    <a:pt x="31" y="39"/>
                  </a:lnTo>
                  <a:lnTo>
                    <a:pt x="44" y="33"/>
                  </a:lnTo>
                  <a:lnTo>
                    <a:pt x="58" y="26"/>
                  </a:lnTo>
                  <a:lnTo>
                    <a:pt x="70" y="20"/>
                  </a:lnTo>
                  <a:lnTo>
                    <a:pt x="80" y="12"/>
                  </a:lnTo>
                  <a:lnTo>
                    <a:pt x="83" y="0"/>
                  </a:lnTo>
                  <a:lnTo>
                    <a:pt x="84" y="2"/>
                  </a:lnTo>
                  <a:lnTo>
                    <a:pt x="70" y="2"/>
                  </a:lnTo>
                  <a:lnTo>
                    <a:pt x="70" y="4"/>
                  </a:lnTo>
                  <a:lnTo>
                    <a:pt x="70"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0" name="Freeform 71">
              <a:extLst>
                <a:ext uri="{FF2B5EF4-FFF2-40B4-BE49-F238E27FC236}">
                  <a16:creationId xmlns:a16="http://schemas.microsoft.com/office/drawing/2014/main" id="{44901F06-8270-96F3-33FB-83C6A4D0EC34}"/>
                </a:ext>
              </a:extLst>
            </p:cNvPr>
            <p:cNvSpPr>
              <a:spLocks/>
            </p:cNvSpPr>
            <p:nvPr/>
          </p:nvSpPr>
          <p:spPr bwMode="auto">
            <a:xfrm>
              <a:off x="2412" y="2898"/>
              <a:ext cx="25" cy="6"/>
            </a:xfrm>
            <a:custGeom>
              <a:avLst/>
              <a:gdLst>
                <a:gd name="T0" fmla="*/ 0 w 15"/>
                <a:gd name="T1" fmla="*/ 179 h 5"/>
                <a:gd name="T2" fmla="*/ 0 w 15"/>
                <a:gd name="T3" fmla="*/ 2 h 5"/>
                <a:gd name="T4" fmla="*/ 0 w 15"/>
                <a:gd name="T5" fmla="*/ 149 h 5"/>
                <a:gd name="T6" fmla="*/ 621467 w 15"/>
                <a:gd name="T7" fmla="*/ 14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3"/>
                  </a:lnTo>
                  <a:lnTo>
                    <a:pt x="14" y="3"/>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1" name="Freeform 72">
              <a:extLst>
                <a:ext uri="{FF2B5EF4-FFF2-40B4-BE49-F238E27FC236}">
                  <a16:creationId xmlns:a16="http://schemas.microsoft.com/office/drawing/2014/main" id="{340D6D8F-D97E-F478-642D-75FB42ABA3BD}"/>
                </a:ext>
              </a:extLst>
            </p:cNvPr>
            <p:cNvSpPr>
              <a:spLocks/>
            </p:cNvSpPr>
            <p:nvPr/>
          </p:nvSpPr>
          <p:spPr bwMode="auto">
            <a:xfrm>
              <a:off x="2264" y="2869"/>
              <a:ext cx="173" cy="35"/>
            </a:xfrm>
            <a:custGeom>
              <a:avLst/>
              <a:gdLst>
                <a:gd name="T0" fmla="*/ 0 w 105"/>
                <a:gd name="T1" fmla="*/ 60 h 31"/>
                <a:gd name="T2" fmla="*/ 282272 w 105"/>
                <a:gd name="T3" fmla="*/ 180 h 31"/>
                <a:gd name="T4" fmla="*/ 766270 w 105"/>
                <a:gd name="T5" fmla="*/ 236 h 31"/>
                <a:gd name="T6" fmla="*/ 1283006 w 105"/>
                <a:gd name="T7" fmla="*/ 289 h 31"/>
                <a:gd name="T8" fmla="*/ 1816719 w 105"/>
                <a:gd name="T9" fmla="*/ 292 h 31"/>
                <a:gd name="T10" fmla="*/ 2445765 w 105"/>
                <a:gd name="T11" fmla="*/ 300 h 31"/>
                <a:gd name="T12" fmla="*/ 2890764 w 105"/>
                <a:gd name="T13" fmla="*/ 330 h 31"/>
                <a:gd name="T14" fmla="*/ 3191916 w 105"/>
                <a:gd name="T15" fmla="*/ 373 h 31"/>
                <a:gd name="T16" fmla="*/ 3261172 w 105"/>
                <a:gd name="T17" fmla="*/ 383 h 31"/>
                <a:gd name="T18" fmla="*/ 3721278 w 105"/>
                <a:gd name="T19" fmla="*/ 330 h 31"/>
                <a:gd name="T20" fmla="*/ 3427301 w 105"/>
                <a:gd name="T21" fmla="*/ 209 h 31"/>
                <a:gd name="T22" fmla="*/ 2979100 w 105"/>
                <a:gd name="T23" fmla="*/ 164 h 31"/>
                <a:gd name="T24" fmla="*/ 2482473 w 105"/>
                <a:gd name="T25" fmla="*/ 141 h 31"/>
                <a:gd name="T26" fmla="*/ 1890361 w 105"/>
                <a:gd name="T27" fmla="*/ 125 h 31"/>
                <a:gd name="T28" fmla="*/ 1329942 w 105"/>
                <a:gd name="T29" fmla="*/ 111 h 31"/>
                <a:gd name="T30" fmla="*/ 900951 w 105"/>
                <a:gd name="T31" fmla="*/ 77 h 31"/>
                <a:gd name="T32" fmla="*/ 569066 w 105"/>
                <a:gd name="T33" fmla="*/ 3 h 31"/>
                <a:gd name="T34" fmla="*/ 465077 w 105"/>
                <a:gd name="T35" fmla="*/ 0 h 31"/>
                <a:gd name="T36" fmla="*/ 0 w 105"/>
                <a:gd name="T37" fmla="*/ 60 h 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1"/>
                <a:gd name="T59" fmla="*/ 105 w 105"/>
                <a:gd name="T60" fmla="*/ 31 h 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1">
                  <a:moveTo>
                    <a:pt x="0" y="4"/>
                  </a:moveTo>
                  <a:lnTo>
                    <a:pt x="8" y="14"/>
                  </a:lnTo>
                  <a:lnTo>
                    <a:pt x="21" y="19"/>
                  </a:lnTo>
                  <a:lnTo>
                    <a:pt x="36" y="22"/>
                  </a:lnTo>
                  <a:lnTo>
                    <a:pt x="51" y="23"/>
                  </a:lnTo>
                  <a:lnTo>
                    <a:pt x="68" y="24"/>
                  </a:lnTo>
                  <a:lnTo>
                    <a:pt x="81" y="26"/>
                  </a:lnTo>
                  <a:lnTo>
                    <a:pt x="89" y="29"/>
                  </a:lnTo>
                  <a:lnTo>
                    <a:pt x="91" y="30"/>
                  </a:lnTo>
                  <a:lnTo>
                    <a:pt x="104" y="26"/>
                  </a:lnTo>
                  <a:lnTo>
                    <a:pt x="96" y="17"/>
                  </a:lnTo>
                  <a:lnTo>
                    <a:pt x="83" y="13"/>
                  </a:lnTo>
                  <a:lnTo>
                    <a:pt x="69" y="11"/>
                  </a:lnTo>
                  <a:lnTo>
                    <a:pt x="53" y="10"/>
                  </a:lnTo>
                  <a:lnTo>
                    <a:pt x="37" y="9"/>
                  </a:lnTo>
                  <a:lnTo>
                    <a:pt x="25"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2" name="Freeform 73">
              <a:extLst>
                <a:ext uri="{FF2B5EF4-FFF2-40B4-BE49-F238E27FC236}">
                  <a16:creationId xmlns:a16="http://schemas.microsoft.com/office/drawing/2014/main" id="{075D2D2C-14A7-0274-A1C3-3520963B40CE}"/>
                </a:ext>
              </a:extLst>
            </p:cNvPr>
            <p:cNvSpPr>
              <a:spLocks/>
            </p:cNvSpPr>
            <p:nvPr/>
          </p:nvSpPr>
          <p:spPr bwMode="auto">
            <a:xfrm>
              <a:off x="2264" y="2803"/>
              <a:ext cx="136" cy="71"/>
            </a:xfrm>
            <a:custGeom>
              <a:avLst/>
              <a:gdLst>
                <a:gd name="T0" fmla="*/ 2195491 w 83"/>
                <a:gd name="T1" fmla="*/ 74 h 62"/>
                <a:gd name="T2" fmla="*/ 2160471 w 83"/>
                <a:gd name="T3" fmla="*/ 85 h 62"/>
                <a:gd name="T4" fmla="*/ 1987493 w 83"/>
                <a:gd name="T5" fmla="*/ 190 h 62"/>
                <a:gd name="T6" fmla="*/ 1636031 w 83"/>
                <a:gd name="T7" fmla="*/ 286 h 62"/>
                <a:gd name="T8" fmla="*/ 1212955 w 83"/>
                <a:gd name="T9" fmla="*/ 416 h 62"/>
                <a:gd name="T10" fmla="*/ 761179 w 83"/>
                <a:gd name="T11" fmla="*/ 545 h 62"/>
                <a:gd name="T12" fmla="*/ 389068 w 83"/>
                <a:gd name="T13" fmla="*/ 694 h 62"/>
                <a:gd name="T14" fmla="*/ 56548 w 83"/>
                <a:gd name="T15" fmla="*/ 838 h 62"/>
                <a:gd name="T16" fmla="*/ 0 w 83"/>
                <a:gd name="T17" fmla="*/ 1046 h 62"/>
                <a:gd name="T18" fmla="*/ 407626 w 83"/>
                <a:gd name="T19" fmla="*/ 1010 h 62"/>
                <a:gd name="T20" fmla="*/ 451776 w 83"/>
                <a:gd name="T21" fmla="*/ 952 h 62"/>
                <a:gd name="T22" fmla="*/ 609354 w 83"/>
                <a:gd name="T23" fmla="*/ 838 h 62"/>
                <a:gd name="T24" fmla="*/ 998460 w 83"/>
                <a:gd name="T25" fmla="*/ 732 h 62"/>
                <a:gd name="T26" fmla="*/ 1398653 w 83"/>
                <a:gd name="T27" fmla="*/ 624 h 62"/>
                <a:gd name="T28" fmla="*/ 1855348 w 83"/>
                <a:gd name="T29" fmla="*/ 494 h 62"/>
                <a:gd name="T30" fmla="*/ 2232686 w 83"/>
                <a:gd name="T31" fmla="*/ 363 h 62"/>
                <a:gd name="T32" fmla="*/ 2549956 w 83"/>
                <a:gd name="T33" fmla="*/ 218 h 62"/>
                <a:gd name="T34" fmla="*/ 2609697 w 83"/>
                <a:gd name="T35" fmla="*/ 0 h 62"/>
                <a:gd name="T36" fmla="*/ 2195491 w 83"/>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8" y="5"/>
                  </a:lnTo>
                  <a:lnTo>
                    <a:pt x="62" y="11"/>
                  </a:lnTo>
                  <a:lnTo>
                    <a:pt x="51" y="17"/>
                  </a:lnTo>
                  <a:lnTo>
                    <a:pt x="38" y="24"/>
                  </a:lnTo>
                  <a:lnTo>
                    <a:pt x="24" y="31"/>
                  </a:lnTo>
                  <a:lnTo>
                    <a:pt x="12" y="39"/>
                  </a:lnTo>
                  <a:lnTo>
                    <a:pt x="2" y="49"/>
                  </a:lnTo>
                  <a:lnTo>
                    <a:pt x="0" y="61"/>
                  </a:lnTo>
                  <a:lnTo>
                    <a:pt x="13" y="58"/>
                  </a:lnTo>
                  <a:lnTo>
                    <a:pt x="14" y="55"/>
                  </a:lnTo>
                  <a:lnTo>
                    <a:pt x="19" y="49"/>
                  </a:lnTo>
                  <a:lnTo>
                    <a:pt x="31"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3" name="Freeform 74">
              <a:extLst>
                <a:ext uri="{FF2B5EF4-FFF2-40B4-BE49-F238E27FC236}">
                  <a16:creationId xmlns:a16="http://schemas.microsoft.com/office/drawing/2014/main" id="{B302201C-3379-53AC-C85F-9045AED5FFE1}"/>
                </a:ext>
              </a:extLst>
            </p:cNvPr>
            <p:cNvSpPr>
              <a:spLocks/>
            </p:cNvSpPr>
            <p:nvPr/>
          </p:nvSpPr>
          <p:spPr bwMode="auto">
            <a:xfrm>
              <a:off x="2226" y="2774"/>
              <a:ext cx="174" cy="33"/>
            </a:xfrm>
            <a:custGeom>
              <a:avLst/>
              <a:gdLst>
                <a:gd name="T0" fmla="*/ 0 w 106"/>
                <a:gd name="T1" fmla="*/ 68 h 29"/>
                <a:gd name="T2" fmla="*/ 306683 w 106"/>
                <a:gd name="T3" fmla="*/ 207 h 29"/>
                <a:gd name="T4" fmla="*/ 724886 w 106"/>
                <a:gd name="T5" fmla="*/ 269 h 29"/>
                <a:gd name="T6" fmla="*/ 1189907 w 106"/>
                <a:gd name="T7" fmla="*/ 306 h 29"/>
                <a:gd name="T8" fmla="*/ 1723619 w 106"/>
                <a:gd name="T9" fmla="*/ 316 h 29"/>
                <a:gd name="T10" fmla="*/ 2261872 w 106"/>
                <a:gd name="T11" fmla="*/ 320 h 29"/>
                <a:gd name="T12" fmla="*/ 2681420 w 106"/>
                <a:gd name="T13" fmla="*/ 360 h 29"/>
                <a:gd name="T14" fmla="*/ 2987436 w 106"/>
                <a:gd name="T15" fmla="*/ 396 h 29"/>
                <a:gd name="T16" fmla="*/ 3048815 w 106"/>
                <a:gd name="T17" fmla="*/ 414 h 29"/>
                <a:gd name="T18" fmla="*/ 3468237 w 106"/>
                <a:gd name="T19" fmla="*/ 360 h 29"/>
                <a:gd name="T20" fmla="*/ 3184802 w 106"/>
                <a:gd name="T21" fmla="*/ 217 h 29"/>
                <a:gd name="T22" fmla="*/ 2792912 w 106"/>
                <a:gd name="T23" fmla="*/ 168 h 29"/>
                <a:gd name="T24" fmla="*/ 2274976 w 106"/>
                <a:gd name="T25" fmla="*/ 130 h 29"/>
                <a:gd name="T26" fmla="*/ 1797496 w 106"/>
                <a:gd name="T27" fmla="*/ 114 h 29"/>
                <a:gd name="T28" fmla="*/ 1229571 w 106"/>
                <a:gd name="T29" fmla="*/ 100 h 29"/>
                <a:gd name="T30" fmla="*/ 784113 w 106"/>
                <a:gd name="T31" fmla="*/ 77 h 29"/>
                <a:gd name="T32" fmla="*/ 503423 w 106"/>
                <a:gd name="T33" fmla="*/ 2 h 29"/>
                <a:gd name="T34" fmla="*/ 419911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9" y="14"/>
                  </a:lnTo>
                  <a:lnTo>
                    <a:pt x="22" y="18"/>
                  </a:lnTo>
                  <a:lnTo>
                    <a:pt x="36" y="20"/>
                  </a:lnTo>
                  <a:lnTo>
                    <a:pt x="52" y="21"/>
                  </a:lnTo>
                  <a:lnTo>
                    <a:pt x="68" y="22"/>
                  </a:lnTo>
                  <a:lnTo>
                    <a:pt x="81" y="24"/>
                  </a:lnTo>
                  <a:lnTo>
                    <a:pt x="90" y="26"/>
                  </a:lnTo>
                  <a:lnTo>
                    <a:pt x="92" y="28"/>
                  </a:lnTo>
                  <a:lnTo>
                    <a:pt x="105" y="24"/>
                  </a:lnTo>
                  <a:lnTo>
                    <a:pt x="96" y="15"/>
                  </a:lnTo>
                  <a:lnTo>
                    <a:pt x="84" y="11"/>
                  </a:lnTo>
                  <a:lnTo>
                    <a:pt x="69" y="9"/>
                  </a:lnTo>
                  <a:lnTo>
                    <a:pt x="54" y="8"/>
                  </a:lnTo>
                  <a:lnTo>
                    <a:pt x="37"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4" name="Freeform 75">
              <a:extLst>
                <a:ext uri="{FF2B5EF4-FFF2-40B4-BE49-F238E27FC236}">
                  <a16:creationId xmlns:a16="http://schemas.microsoft.com/office/drawing/2014/main" id="{E55EEE80-2D0F-6E43-5F2C-FBFF3A766E29}"/>
                </a:ext>
              </a:extLst>
            </p:cNvPr>
            <p:cNvSpPr>
              <a:spLocks/>
            </p:cNvSpPr>
            <p:nvPr/>
          </p:nvSpPr>
          <p:spPr bwMode="auto">
            <a:xfrm>
              <a:off x="2226" y="2705"/>
              <a:ext cx="135" cy="74"/>
            </a:xfrm>
            <a:custGeom>
              <a:avLst/>
              <a:gdLst>
                <a:gd name="T0" fmla="*/ 2394339 w 82"/>
                <a:gd name="T1" fmla="*/ 69 h 65"/>
                <a:gd name="T2" fmla="*/ 2353109 w 82"/>
                <a:gd name="T3" fmla="*/ 79 h 65"/>
                <a:gd name="T4" fmla="*/ 2149498 w 82"/>
                <a:gd name="T5" fmla="*/ 171 h 65"/>
                <a:gd name="T6" fmla="*/ 1749470 w 82"/>
                <a:gd name="T7" fmla="*/ 253 h 65"/>
                <a:gd name="T8" fmla="*/ 1305621 w 82"/>
                <a:gd name="T9" fmla="*/ 373 h 65"/>
                <a:gd name="T10" fmla="*/ 859589 w 82"/>
                <a:gd name="T11" fmla="*/ 484 h 65"/>
                <a:gd name="T12" fmla="*/ 387796 w 82"/>
                <a:gd name="T13" fmla="*/ 609 h 65"/>
                <a:gd name="T14" fmla="*/ 61866 w 82"/>
                <a:gd name="T15" fmla="*/ 767 h 65"/>
                <a:gd name="T16" fmla="*/ 0 w 82"/>
                <a:gd name="T17" fmla="*/ 971 h 65"/>
                <a:gd name="T18" fmla="*/ 454501 w 82"/>
                <a:gd name="T19" fmla="*/ 899 h 65"/>
                <a:gd name="T20" fmla="*/ 498843 w 82"/>
                <a:gd name="T21" fmla="*/ 865 h 65"/>
                <a:gd name="T22" fmla="*/ 703836 w 82"/>
                <a:gd name="T23" fmla="*/ 767 h 65"/>
                <a:gd name="T24" fmla="*/ 1051098 w 82"/>
                <a:gd name="T25" fmla="*/ 668 h 65"/>
                <a:gd name="T26" fmla="*/ 1549621 w 82"/>
                <a:gd name="T27" fmla="*/ 551 h 65"/>
                <a:gd name="T28" fmla="*/ 2013884 w 82"/>
                <a:gd name="T29" fmla="*/ 446 h 65"/>
                <a:gd name="T30" fmla="*/ 2447031 w 82"/>
                <a:gd name="T31" fmla="*/ 319 h 65"/>
                <a:gd name="T32" fmla="*/ 2739716 w 82"/>
                <a:gd name="T33" fmla="*/ 195 h 65"/>
                <a:gd name="T34" fmla="*/ 2848938 w 82"/>
                <a:gd name="T35" fmla="*/ 0 h 65"/>
                <a:gd name="T36" fmla="*/ 2394339 w 82"/>
                <a:gd name="T37" fmla="*/ 6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5"/>
                <a:gd name="T59" fmla="*/ 82 w 82"/>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5">
                  <a:moveTo>
                    <a:pt x="68" y="4"/>
                  </a:moveTo>
                  <a:lnTo>
                    <a:pt x="67" y="5"/>
                  </a:lnTo>
                  <a:lnTo>
                    <a:pt x="61" y="11"/>
                  </a:lnTo>
                  <a:lnTo>
                    <a:pt x="50" y="17"/>
                  </a:lnTo>
                  <a:lnTo>
                    <a:pt x="37" y="25"/>
                  </a:lnTo>
                  <a:lnTo>
                    <a:pt x="24" y="32"/>
                  </a:lnTo>
                  <a:lnTo>
                    <a:pt x="11" y="40"/>
                  </a:lnTo>
                  <a:lnTo>
                    <a:pt x="2" y="51"/>
                  </a:lnTo>
                  <a:lnTo>
                    <a:pt x="0" y="64"/>
                  </a:lnTo>
                  <a:lnTo>
                    <a:pt x="13" y="60"/>
                  </a:lnTo>
                  <a:lnTo>
                    <a:pt x="14" y="57"/>
                  </a:lnTo>
                  <a:lnTo>
                    <a:pt x="20" y="51"/>
                  </a:lnTo>
                  <a:lnTo>
                    <a:pt x="30" y="44"/>
                  </a:lnTo>
                  <a:lnTo>
                    <a:pt x="44" y="36"/>
                  </a:lnTo>
                  <a:lnTo>
                    <a:pt x="57" y="29"/>
                  </a:lnTo>
                  <a:lnTo>
                    <a:pt x="69" y="21"/>
                  </a:lnTo>
                  <a:lnTo>
                    <a:pt x="78"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5" name="Freeform 76">
              <a:extLst>
                <a:ext uri="{FF2B5EF4-FFF2-40B4-BE49-F238E27FC236}">
                  <a16:creationId xmlns:a16="http://schemas.microsoft.com/office/drawing/2014/main" id="{04585B30-2350-2CB2-4BD5-203B0BD07B47}"/>
                </a:ext>
              </a:extLst>
            </p:cNvPr>
            <p:cNvSpPr>
              <a:spLocks/>
            </p:cNvSpPr>
            <p:nvPr/>
          </p:nvSpPr>
          <p:spPr bwMode="auto">
            <a:xfrm>
              <a:off x="2337" y="2705"/>
              <a:ext cx="24" cy="5"/>
            </a:xfrm>
            <a:custGeom>
              <a:avLst/>
              <a:gdLst>
                <a:gd name="T0" fmla="*/ 0 w 14"/>
                <a:gd name="T1" fmla="*/ 4 h 5"/>
                <a:gd name="T2" fmla="*/ 477204 w 14"/>
                <a:gd name="T3" fmla="*/ 2 h 5"/>
                <a:gd name="T4" fmla="*/ 1057803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6" name="Freeform 77">
              <a:extLst>
                <a:ext uri="{FF2B5EF4-FFF2-40B4-BE49-F238E27FC236}">
                  <a16:creationId xmlns:a16="http://schemas.microsoft.com/office/drawing/2014/main" id="{9DD2D18E-B594-F469-AD72-3EEE6969AF8F}"/>
                </a:ext>
              </a:extLst>
            </p:cNvPr>
            <p:cNvSpPr>
              <a:spLocks/>
            </p:cNvSpPr>
            <p:nvPr/>
          </p:nvSpPr>
          <p:spPr bwMode="auto">
            <a:xfrm>
              <a:off x="2185" y="2676"/>
              <a:ext cx="176" cy="34"/>
            </a:xfrm>
            <a:custGeom>
              <a:avLst/>
              <a:gdLst>
                <a:gd name="T0" fmla="*/ 0 w 107"/>
                <a:gd name="T1" fmla="*/ 61 h 30"/>
                <a:gd name="T2" fmla="*/ 316149 w 107"/>
                <a:gd name="T3" fmla="*/ 186 h 30"/>
                <a:gd name="T4" fmla="*/ 755427 w 107"/>
                <a:gd name="T5" fmla="*/ 239 h 30"/>
                <a:gd name="T6" fmla="*/ 1242572 w 107"/>
                <a:gd name="T7" fmla="*/ 271 h 30"/>
                <a:gd name="T8" fmla="*/ 1829721 w 107"/>
                <a:gd name="T9" fmla="*/ 271 h 30"/>
                <a:gd name="T10" fmla="*/ 2351955 w 107"/>
                <a:gd name="T11" fmla="*/ 298 h 30"/>
                <a:gd name="T12" fmla="*/ 2833329 w 107"/>
                <a:gd name="T13" fmla="*/ 307 h 30"/>
                <a:gd name="T14" fmla="*/ 3107351 w 107"/>
                <a:gd name="T15" fmla="*/ 348 h 30"/>
                <a:gd name="T16" fmla="*/ 3223782 w 107"/>
                <a:gd name="T17" fmla="*/ 394 h 30"/>
                <a:gd name="T18" fmla="*/ 3649694 w 107"/>
                <a:gd name="T19" fmla="*/ 339 h 30"/>
                <a:gd name="T20" fmla="*/ 3383873 w 107"/>
                <a:gd name="T21" fmla="*/ 186 h 30"/>
                <a:gd name="T22" fmla="*/ 2899460 w 107"/>
                <a:gd name="T23" fmla="*/ 128 h 30"/>
                <a:gd name="T24" fmla="*/ 2374059 w 107"/>
                <a:gd name="T25" fmla="*/ 100 h 30"/>
                <a:gd name="T26" fmla="*/ 1829721 w 107"/>
                <a:gd name="T27" fmla="*/ 88 h 30"/>
                <a:gd name="T28" fmla="*/ 1326479 w 107"/>
                <a:gd name="T29" fmla="*/ 88 h 30"/>
                <a:gd name="T30" fmla="*/ 818282 w 107"/>
                <a:gd name="T31" fmla="*/ 69 h 30"/>
                <a:gd name="T32" fmla="*/ 520021 w 107"/>
                <a:gd name="T33" fmla="*/ 2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9" y="14"/>
                  </a:lnTo>
                  <a:lnTo>
                    <a:pt x="22" y="18"/>
                  </a:lnTo>
                  <a:lnTo>
                    <a:pt x="36" y="20"/>
                  </a:lnTo>
                  <a:lnTo>
                    <a:pt x="53" y="20"/>
                  </a:lnTo>
                  <a:lnTo>
                    <a:pt x="68" y="21"/>
                  </a:lnTo>
                  <a:lnTo>
                    <a:pt x="82" y="23"/>
                  </a:lnTo>
                  <a:lnTo>
                    <a:pt x="90" y="26"/>
                  </a:lnTo>
                  <a:lnTo>
                    <a:pt x="93" y="29"/>
                  </a:lnTo>
                  <a:lnTo>
                    <a:pt x="106" y="25"/>
                  </a:lnTo>
                  <a:lnTo>
                    <a:pt x="98" y="14"/>
                  </a:lnTo>
                  <a:lnTo>
                    <a:pt x="84" y="10"/>
                  </a:lnTo>
                  <a:lnTo>
                    <a:pt x="69" y="8"/>
                  </a:lnTo>
                  <a:lnTo>
                    <a:pt x="53" y="7"/>
                  </a:lnTo>
                  <a:lnTo>
                    <a:pt x="38"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7" name="Freeform 78">
              <a:extLst>
                <a:ext uri="{FF2B5EF4-FFF2-40B4-BE49-F238E27FC236}">
                  <a16:creationId xmlns:a16="http://schemas.microsoft.com/office/drawing/2014/main" id="{A5001F30-5290-AE11-6930-85534C867AD1}"/>
                </a:ext>
              </a:extLst>
            </p:cNvPr>
            <p:cNvSpPr>
              <a:spLocks/>
            </p:cNvSpPr>
            <p:nvPr/>
          </p:nvSpPr>
          <p:spPr bwMode="auto">
            <a:xfrm>
              <a:off x="2185" y="2609"/>
              <a:ext cx="138" cy="72"/>
            </a:xfrm>
            <a:custGeom>
              <a:avLst/>
              <a:gdLst>
                <a:gd name="T0" fmla="*/ 2353327 w 84"/>
                <a:gd name="T1" fmla="*/ 73 h 63"/>
                <a:gd name="T2" fmla="*/ 2325254 w 84"/>
                <a:gd name="T3" fmla="*/ 95 h 63"/>
                <a:gd name="T4" fmla="*/ 2114707 w 84"/>
                <a:gd name="T5" fmla="*/ 202 h 63"/>
                <a:gd name="T6" fmla="*/ 1748426 w 84"/>
                <a:gd name="T7" fmla="*/ 318 h 63"/>
                <a:gd name="T8" fmla="*/ 1275230 w 84"/>
                <a:gd name="T9" fmla="*/ 426 h 63"/>
                <a:gd name="T10" fmla="*/ 836973 w 84"/>
                <a:gd name="T11" fmla="*/ 542 h 63"/>
                <a:gd name="T12" fmla="*/ 410755 w 84"/>
                <a:gd name="T13" fmla="*/ 671 h 63"/>
                <a:gd name="T14" fmla="*/ 99128 w 84"/>
                <a:gd name="T15" fmla="*/ 808 h 63"/>
                <a:gd name="T16" fmla="*/ 0 w 84"/>
                <a:gd name="T17" fmla="*/ 1032 h 63"/>
                <a:gd name="T18" fmla="*/ 439537 w 84"/>
                <a:gd name="T19" fmla="*/ 951 h 63"/>
                <a:gd name="T20" fmla="*/ 472486 w 84"/>
                <a:gd name="T21" fmla="*/ 941 h 63"/>
                <a:gd name="T22" fmla="*/ 674812 w 84"/>
                <a:gd name="T23" fmla="*/ 823 h 63"/>
                <a:gd name="T24" fmla="*/ 1050389 w 84"/>
                <a:gd name="T25" fmla="*/ 728 h 63"/>
                <a:gd name="T26" fmla="*/ 1524090 w 84"/>
                <a:gd name="T27" fmla="*/ 606 h 63"/>
                <a:gd name="T28" fmla="*/ 1984371 w 84"/>
                <a:gd name="T29" fmla="*/ 487 h 63"/>
                <a:gd name="T30" fmla="*/ 2396631 w 84"/>
                <a:gd name="T31" fmla="*/ 363 h 63"/>
                <a:gd name="T32" fmla="*/ 2733325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6"/>
                  </a:lnTo>
                  <a:lnTo>
                    <a:pt x="63" y="12"/>
                  </a:lnTo>
                  <a:lnTo>
                    <a:pt x="52" y="19"/>
                  </a:lnTo>
                  <a:lnTo>
                    <a:pt x="38" y="26"/>
                  </a:lnTo>
                  <a:lnTo>
                    <a:pt x="25" y="33"/>
                  </a:lnTo>
                  <a:lnTo>
                    <a:pt x="12" y="40"/>
                  </a:lnTo>
                  <a:lnTo>
                    <a:pt x="3" y="49"/>
                  </a:lnTo>
                  <a:lnTo>
                    <a:pt x="0" y="62"/>
                  </a:lnTo>
                  <a:lnTo>
                    <a:pt x="13" y="58"/>
                  </a:lnTo>
                  <a:lnTo>
                    <a:pt x="14" y="57"/>
                  </a:lnTo>
                  <a:lnTo>
                    <a:pt x="20" y="50"/>
                  </a:lnTo>
                  <a:lnTo>
                    <a:pt x="31" y="45"/>
                  </a:lnTo>
                  <a:lnTo>
                    <a:pt x="45" y="37"/>
                  </a:lnTo>
                  <a:lnTo>
                    <a:pt x="59" y="30"/>
                  </a:lnTo>
                  <a:lnTo>
                    <a:pt x="71" y="22"/>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8" name="Freeform 79">
              <a:extLst>
                <a:ext uri="{FF2B5EF4-FFF2-40B4-BE49-F238E27FC236}">
                  <a16:creationId xmlns:a16="http://schemas.microsoft.com/office/drawing/2014/main" id="{B0A67C21-6ED7-9926-FC4A-333BB5447630}"/>
                </a:ext>
              </a:extLst>
            </p:cNvPr>
            <p:cNvSpPr>
              <a:spLocks/>
            </p:cNvSpPr>
            <p:nvPr/>
          </p:nvSpPr>
          <p:spPr bwMode="auto">
            <a:xfrm>
              <a:off x="2148" y="2580"/>
              <a:ext cx="175" cy="35"/>
            </a:xfrm>
            <a:custGeom>
              <a:avLst/>
              <a:gdLst>
                <a:gd name="T0" fmla="*/ 0 w 106"/>
                <a:gd name="T1" fmla="*/ 120 h 30"/>
                <a:gd name="T2" fmla="*/ 291842 w 106"/>
                <a:gd name="T3" fmla="*/ 358 h 30"/>
                <a:gd name="T4" fmla="*/ 795449 w 106"/>
                <a:gd name="T5" fmla="*/ 480 h 30"/>
                <a:gd name="T6" fmla="*/ 1328805 w 106"/>
                <a:gd name="T7" fmla="*/ 501 h 30"/>
                <a:gd name="T8" fmla="*/ 1899835 w 106"/>
                <a:gd name="T9" fmla="*/ 501 h 30"/>
                <a:gd name="T10" fmla="*/ 2534104 w 106"/>
                <a:gd name="T11" fmla="*/ 560 h 30"/>
                <a:gd name="T12" fmla="*/ 3033331 w 106"/>
                <a:gd name="T13" fmla="*/ 585 h 30"/>
                <a:gd name="T14" fmla="*/ 3328313 w 106"/>
                <a:gd name="T15" fmla="*/ 664 h 30"/>
                <a:gd name="T16" fmla="*/ 3435385 w 106"/>
                <a:gd name="T17" fmla="*/ 762 h 30"/>
                <a:gd name="T18" fmla="*/ 3917132 w 106"/>
                <a:gd name="T19" fmla="*/ 653 h 30"/>
                <a:gd name="T20" fmla="*/ 3621810 w 106"/>
                <a:gd name="T21" fmla="*/ 358 h 30"/>
                <a:gd name="T22" fmla="*/ 3097518 w 106"/>
                <a:gd name="T23" fmla="*/ 263 h 30"/>
                <a:gd name="T24" fmla="*/ 2573651 w 106"/>
                <a:gd name="T25" fmla="*/ 222 h 30"/>
                <a:gd name="T26" fmla="*/ 1984779 w 106"/>
                <a:gd name="T27" fmla="*/ 190 h 30"/>
                <a:gd name="T28" fmla="*/ 1389091 w 106"/>
                <a:gd name="T29" fmla="*/ 190 h 30"/>
                <a:gd name="T30" fmla="*/ 864949 w 106"/>
                <a:gd name="T31" fmla="*/ 140 h 30"/>
                <a:gd name="T32" fmla="*/ 563155 w 106"/>
                <a:gd name="T33" fmla="*/ 2 h 30"/>
                <a:gd name="T34" fmla="*/ 481815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1" y="20"/>
                  </a:lnTo>
                  <a:lnTo>
                    <a:pt x="68" y="21"/>
                  </a:lnTo>
                  <a:lnTo>
                    <a:pt x="81" y="23"/>
                  </a:lnTo>
                  <a:lnTo>
                    <a:pt x="89" y="26"/>
                  </a:lnTo>
                  <a:lnTo>
                    <a:pt x="92" y="29"/>
                  </a:lnTo>
                  <a:lnTo>
                    <a:pt x="105" y="25"/>
                  </a:lnTo>
                  <a:lnTo>
                    <a:pt x="97" y="14"/>
                  </a:lnTo>
                  <a:lnTo>
                    <a:pt x="83" y="10"/>
                  </a:lnTo>
                  <a:lnTo>
                    <a:pt x="69" y="8"/>
                  </a:lnTo>
                  <a:lnTo>
                    <a:pt x="53" y="7"/>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99" name="Freeform 80">
              <a:extLst>
                <a:ext uri="{FF2B5EF4-FFF2-40B4-BE49-F238E27FC236}">
                  <a16:creationId xmlns:a16="http://schemas.microsoft.com/office/drawing/2014/main" id="{C35CA4B6-481F-0495-C5E1-98540B847399}"/>
                </a:ext>
              </a:extLst>
            </p:cNvPr>
            <p:cNvSpPr>
              <a:spLocks/>
            </p:cNvSpPr>
            <p:nvPr/>
          </p:nvSpPr>
          <p:spPr bwMode="auto">
            <a:xfrm>
              <a:off x="2148" y="2519"/>
              <a:ext cx="141" cy="68"/>
            </a:xfrm>
            <a:custGeom>
              <a:avLst/>
              <a:gdLst>
                <a:gd name="T0" fmla="*/ 2878991 w 85"/>
                <a:gd name="T1" fmla="*/ 2 h 59"/>
                <a:gd name="T2" fmla="*/ 2878991 w 85"/>
                <a:gd name="T3" fmla="*/ 89 h 59"/>
                <a:gd name="T4" fmla="*/ 2614160 w 85"/>
                <a:gd name="T5" fmla="*/ 182 h 59"/>
                <a:gd name="T6" fmla="*/ 2144595 w 85"/>
                <a:gd name="T7" fmla="*/ 294 h 59"/>
                <a:gd name="T8" fmla="*/ 1575912 w 85"/>
                <a:gd name="T9" fmla="*/ 428 h 59"/>
                <a:gd name="T10" fmla="*/ 986829 w 85"/>
                <a:gd name="T11" fmla="*/ 568 h 59"/>
                <a:gd name="T12" fmla="*/ 495429 w 85"/>
                <a:gd name="T13" fmla="*/ 690 h 59"/>
                <a:gd name="T14" fmla="*/ 71877 w 85"/>
                <a:gd name="T15" fmla="*/ 902 h 59"/>
                <a:gd name="T16" fmla="*/ 0 w 85"/>
                <a:gd name="T17" fmla="*/ 1156 h 59"/>
                <a:gd name="T18" fmla="*/ 544238 w 85"/>
                <a:gd name="T19" fmla="*/ 1056 h 59"/>
                <a:gd name="T20" fmla="*/ 572706 w 85"/>
                <a:gd name="T21" fmla="*/ 1033 h 59"/>
                <a:gd name="T22" fmla="*/ 794518 w 85"/>
                <a:gd name="T23" fmla="*/ 902 h 59"/>
                <a:gd name="T24" fmla="*/ 1275833 w 85"/>
                <a:gd name="T25" fmla="*/ 783 h 59"/>
                <a:gd name="T26" fmla="*/ 1814589 w 85"/>
                <a:gd name="T27" fmla="*/ 674 h 59"/>
                <a:gd name="T28" fmla="*/ 2390096 w 85"/>
                <a:gd name="T29" fmla="*/ 520 h 59"/>
                <a:gd name="T30" fmla="*/ 2938929 w 85"/>
                <a:gd name="T31" fmla="*/ 391 h 59"/>
                <a:gd name="T32" fmla="*/ 3319634 w 85"/>
                <a:gd name="T33" fmla="*/ 242 h 59"/>
                <a:gd name="T34" fmla="*/ 3434334 w 85"/>
                <a:gd name="T35" fmla="*/ 0 h 59"/>
                <a:gd name="T36" fmla="*/ 3461437 w 85"/>
                <a:gd name="T37" fmla="*/ 2 h 59"/>
                <a:gd name="T38" fmla="*/ 2878991 w 85"/>
                <a:gd name="T39" fmla="*/ 2 h 59"/>
                <a:gd name="T40" fmla="*/ 2878991 w 85"/>
                <a:gd name="T41" fmla="*/ 3 h 59"/>
                <a:gd name="T42" fmla="*/ 2878991 w 85"/>
                <a:gd name="T43" fmla="*/ 89 h 59"/>
                <a:gd name="T44" fmla="*/ 2878991 w 85"/>
                <a:gd name="T45" fmla="*/ 2 h 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9"/>
                <a:gd name="T71" fmla="*/ 85 w 85"/>
                <a:gd name="T72" fmla="*/ 59 h 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9">
                  <a:moveTo>
                    <a:pt x="70" y="2"/>
                  </a:moveTo>
                  <a:lnTo>
                    <a:pt x="70" y="4"/>
                  </a:lnTo>
                  <a:lnTo>
                    <a:pt x="63" y="9"/>
                  </a:lnTo>
                  <a:lnTo>
                    <a:pt x="52" y="15"/>
                  </a:lnTo>
                  <a:lnTo>
                    <a:pt x="38" y="21"/>
                  </a:lnTo>
                  <a:lnTo>
                    <a:pt x="24" y="28"/>
                  </a:lnTo>
                  <a:lnTo>
                    <a:pt x="12" y="36"/>
                  </a:lnTo>
                  <a:lnTo>
                    <a:pt x="2" y="46"/>
                  </a:lnTo>
                  <a:lnTo>
                    <a:pt x="0" y="58"/>
                  </a:lnTo>
                  <a:lnTo>
                    <a:pt x="13" y="54"/>
                  </a:lnTo>
                  <a:lnTo>
                    <a:pt x="14" y="52"/>
                  </a:lnTo>
                  <a:lnTo>
                    <a:pt x="19" y="46"/>
                  </a:lnTo>
                  <a:lnTo>
                    <a:pt x="31" y="40"/>
                  </a:lnTo>
                  <a:lnTo>
                    <a:pt x="44" y="34"/>
                  </a:lnTo>
                  <a:lnTo>
                    <a:pt x="58" y="27"/>
                  </a:lnTo>
                  <a:lnTo>
                    <a:pt x="71" y="20"/>
                  </a:lnTo>
                  <a:lnTo>
                    <a:pt x="80" y="12"/>
                  </a:lnTo>
                  <a:lnTo>
                    <a:pt x="83" y="0"/>
                  </a:lnTo>
                  <a:lnTo>
                    <a:pt x="84" y="2"/>
                  </a:lnTo>
                  <a:lnTo>
                    <a:pt x="70" y="2"/>
                  </a:lnTo>
                  <a:lnTo>
                    <a:pt x="70" y="3"/>
                  </a:lnTo>
                  <a:lnTo>
                    <a:pt x="70" y="4"/>
                  </a:lnTo>
                  <a:lnTo>
                    <a:pt x="70"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0" name="Freeform 81">
              <a:extLst>
                <a:ext uri="{FF2B5EF4-FFF2-40B4-BE49-F238E27FC236}">
                  <a16:creationId xmlns:a16="http://schemas.microsoft.com/office/drawing/2014/main" id="{F94F469C-C873-01DA-6287-AEEF0A74F743}"/>
                </a:ext>
              </a:extLst>
            </p:cNvPr>
            <p:cNvSpPr>
              <a:spLocks/>
            </p:cNvSpPr>
            <p:nvPr/>
          </p:nvSpPr>
          <p:spPr bwMode="auto">
            <a:xfrm>
              <a:off x="2264" y="2517"/>
              <a:ext cx="25" cy="6"/>
            </a:xfrm>
            <a:custGeom>
              <a:avLst/>
              <a:gdLst>
                <a:gd name="T0" fmla="*/ 0 w 15"/>
                <a:gd name="T1" fmla="*/ 179 h 5"/>
                <a:gd name="T2" fmla="*/ 0 w 15"/>
                <a:gd name="T3" fmla="*/ 2 h 5"/>
                <a:gd name="T4" fmla="*/ 0 w 15"/>
                <a:gd name="T5" fmla="*/ 149 h 5"/>
                <a:gd name="T6" fmla="*/ 621467 w 15"/>
                <a:gd name="T7" fmla="*/ 14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3"/>
                  </a:lnTo>
                  <a:lnTo>
                    <a:pt x="14" y="3"/>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1" name="Freeform 82">
              <a:extLst>
                <a:ext uri="{FF2B5EF4-FFF2-40B4-BE49-F238E27FC236}">
                  <a16:creationId xmlns:a16="http://schemas.microsoft.com/office/drawing/2014/main" id="{191534DB-AECB-E4B5-3B5B-0A0458B38F13}"/>
                </a:ext>
              </a:extLst>
            </p:cNvPr>
            <p:cNvSpPr>
              <a:spLocks/>
            </p:cNvSpPr>
            <p:nvPr/>
          </p:nvSpPr>
          <p:spPr bwMode="auto">
            <a:xfrm>
              <a:off x="2114" y="2489"/>
              <a:ext cx="173" cy="34"/>
            </a:xfrm>
            <a:custGeom>
              <a:avLst/>
              <a:gdLst>
                <a:gd name="T0" fmla="*/ 0 w 105"/>
                <a:gd name="T1" fmla="*/ 61 h 30"/>
                <a:gd name="T2" fmla="*/ 262886 w 105"/>
                <a:gd name="T3" fmla="*/ 186 h 30"/>
                <a:gd name="T4" fmla="*/ 766270 w 105"/>
                <a:gd name="T5" fmla="*/ 264 h 30"/>
                <a:gd name="T6" fmla="*/ 1262521 w 105"/>
                <a:gd name="T7" fmla="*/ 298 h 30"/>
                <a:gd name="T8" fmla="*/ 1816719 w 105"/>
                <a:gd name="T9" fmla="*/ 299 h 30"/>
                <a:gd name="T10" fmla="*/ 2385467 w 105"/>
                <a:gd name="T11" fmla="*/ 307 h 30"/>
                <a:gd name="T12" fmla="*/ 2865936 w 105"/>
                <a:gd name="T13" fmla="*/ 339 h 30"/>
                <a:gd name="T14" fmla="*/ 3191916 w 105"/>
                <a:gd name="T15" fmla="*/ 383 h 30"/>
                <a:gd name="T16" fmla="*/ 3261172 w 105"/>
                <a:gd name="T17" fmla="*/ 394 h 30"/>
                <a:gd name="T18" fmla="*/ 3721278 w 105"/>
                <a:gd name="T19" fmla="*/ 339 h 30"/>
                <a:gd name="T20" fmla="*/ 3420932 w 105"/>
                <a:gd name="T21" fmla="*/ 211 h 30"/>
                <a:gd name="T22" fmla="*/ 2979100 w 105"/>
                <a:gd name="T23" fmla="*/ 164 h 30"/>
                <a:gd name="T24" fmla="*/ 2482473 w 105"/>
                <a:gd name="T25" fmla="*/ 128 h 30"/>
                <a:gd name="T26" fmla="*/ 1875692 w 105"/>
                <a:gd name="T27" fmla="*/ 113 h 30"/>
                <a:gd name="T28" fmla="*/ 1329942 w 105"/>
                <a:gd name="T29" fmla="*/ 100 h 30"/>
                <a:gd name="T30" fmla="*/ 875703 w 105"/>
                <a:gd name="T31" fmla="*/ 78 h 30"/>
                <a:gd name="T32" fmla="*/ 546820 w 105"/>
                <a:gd name="T33" fmla="*/ 3 h 30"/>
                <a:gd name="T34" fmla="*/ 465077 w 105"/>
                <a:gd name="T35" fmla="*/ 0 h 30"/>
                <a:gd name="T36" fmla="*/ 0 w 105"/>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7" y="14"/>
                  </a:lnTo>
                  <a:lnTo>
                    <a:pt x="21" y="19"/>
                  </a:lnTo>
                  <a:lnTo>
                    <a:pt x="35" y="21"/>
                  </a:lnTo>
                  <a:lnTo>
                    <a:pt x="51" y="22"/>
                  </a:lnTo>
                  <a:lnTo>
                    <a:pt x="67" y="23"/>
                  </a:lnTo>
                  <a:lnTo>
                    <a:pt x="80" y="25"/>
                  </a:lnTo>
                  <a:lnTo>
                    <a:pt x="89" y="27"/>
                  </a:lnTo>
                  <a:lnTo>
                    <a:pt x="91" y="29"/>
                  </a:lnTo>
                  <a:lnTo>
                    <a:pt x="104" y="25"/>
                  </a:lnTo>
                  <a:lnTo>
                    <a:pt x="95" y="16"/>
                  </a:lnTo>
                  <a:lnTo>
                    <a:pt x="83" y="12"/>
                  </a:lnTo>
                  <a:lnTo>
                    <a:pt x="69" y="10"/>
                  </a:lnTo>
                  <a:lnTo>
                    <a:pt x="52" y="9"/>
                  </a:lnTo>
                  <a:lnTo>
                    <a:pt x="37" y="8"/>
                  </a:lnTo>
                  <a:lnTo>
                    <a:pt x="24" y="6"/>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2" name="Freeform 83">
              <a:extLst>
                <a:ext uri="{FF2B5EF4-FFF2-40B4-BE49-F238E27FC236}">
                  <a16:creationId xmlns:a16="http://schemas.microsoft.com/office/drawing/2014/main" id="{497527E7-9039-436A-5E02-6DC18EC6878F}"/>
                </a:ext>
              </a:extLst>
            </p:cNvPr>
            <p:cNvSpPr>
              <a:spLocks/>
            </p:cNvSpPr>
            <p:nvPr/>
          </p:nvSpPr>
          <p:spPr bwMode="auto">
            <a:xfrm>
              <a:off x="2114" y="2422"/>
              <a:ext cx="138" cy="72"/>
            </a:xfrm>
            <a:custGeom>
              <a:avLst/>
              <a:gdLst>
                <a:gd name="T0" fmla="*/ 2353327 w 84"/>
                <a:gd name="T1" fmla="*/ 73 h 63"/>
                <a:gd name="T2" fmla="*/ 2294899 w 84"/>
                <a:gd name="T3" fmla="*/ 83 h 63"/>
                <a:gd name="T4" fmla="*/ 2114707 w 84"/>
                <a:gd name="T5" fmla="*/ 186 h 63"/>
                <a:gd name="T6" fmla="*/ 1748426 w 84"/>
                <a:gd name="T7" fmla="*/ 278 h 63"/>
                <a:gd name="T8" fmla="*/ 1275230 w 84"/>
                <a:gd name="T9" fmla="*/ 394 h 63"/>
                <a:gd name="T10" fmla="*/ 797119 w 84"/>
                <a:gd name="T11" fmla="*/ 530 h 63"/>
                <a:gd name="T12" fmla="*/ 410755 w 84"/>
                <a:gd name="T13" fmla="*/ 637 h 63"/>
                <a:gd name="T14" fmla="*/ 60339 w 84"/>
                <a:gd name="T15" fmla="*/ 808 h 63"/>
                <a:gd name="T16" fmla="*/ 0 w 84"/>
                <a:gd name="T17" fmla="*/ 1032 h 63"/>
                <a:gd name="T18" fmla="*/ 439537 w 84"/>
                <a:gd name="T19" fmla="*/ 951 h 63"/>
                <a:gd name="T20" fmla="*/ 472486 w 84"/>
                <a:gd name="T21" fmla="*/ 923 h 63"/>
                <a:gd name="T22" fmla="*/ 674812 w 84"/>
                <a:gd name="T23" fmla="*/ 823 h 63"/>
                <a:gd name="T24" fmla="*/ 1050389 w 84"/>
                <a:gd name="T25" fmla="*/ 707 h 63"/>
                <a:gd name="T26" fmla="*/ 1476779 w 84"/>
                <a:gd name="T27" fmla="*/ 605 h 63"/>
                <a:gd name="T28" fmla="*/ 1948925 w 84"/>
                <a:gd name="T29" fmla="*/ 474 h 63"/>
                <a:gd name="T30" fmla="*/ 2353327 w 84"/>
                <a:gd name="T31" fmla="*/ 345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3" name="Freeform 84">
              <a:extLst>
                <a:ext uri="{FF2B5EF4-FFF2-40B4-BE49-F238E27FC236}">
                  <a16:creationId xmlns:a16="http://schemas.microsoft.com/office/drawing/2014/main" id="{34C3600E-3B1D-9F53-66DC-2FC109E22308}"/>
                </a:ext>
              </a:extLst>
            </p:cNvPr>
            <p:cNvSpPr>
              <a:spLocks/>
            </p:cNvSpPr>
            <p:nvPr/>
          </p:nvSpPr>
          <p:spPr bwMode="auto">
            <a:xfrm>
              <a:off x="2079" y="2393"/>
              <a:ext cx="173" cy="35"/>
            </a:xfrm>
            <a:custGeom>
              <a:avLst/>
              <a:gdLst>
                <a:gd name="T0" fmla="*/ 0 w 106"/>
                <a:gd name="T1" fmla="*/ 120 h 30"/>
                <a:gd name="T2" fmla="*/ 228735 w 106"/>
                <a:gd name="T3" fmla="*/ 358 h 30"/>
                <a:gd name="T4" fmla="*/ 609275 w 106"/>
                <a:gd name="T5" fmla="*/ 480 h 30"/>
                <a:gd name="T6" fmla="*/ 1059028 w 106"/>
                <a:gd name="T7" fmla="*/ 501 h 30"/>
                <a:gd name="T8" fmla="*/ 1530828 w 106"/>
                <a:gd name="T9" fmla="*/ 560 h 30"/>
                <a:gd name="T10" fmla="*/ 1989524 w 106"/>
                <a:gd name="T11" fmla="*/ 569 h 30"/>
                <a:gd name="T12" fmla="*/ 2370041 w 106"/>
                <a:gd name="T13" fmla="*/ 639 h 30"/>
                <a:gd name="T14" fmla="*/ 2648708 w 106"/>
                <a:gd name="T15" fmla="*/ 683 h 30"/>
                <a:gd name="T16" fmla="*/ 2702097 w 106"/>
                <a:gd name="T17" fmla="*/ 762 h 30"/>
                <a:gd name="T18" fmla="*/ 3075039 w 106"/>
                <a:gd name="T19" fmla="*/ 653 h 30"/>
                <a:gd name="T20" fmla="*/ 2841860 w 106"/>
                <a:gd name="T21" fmla="*/ 411 h 30"/>
                <a:gd name="T22" fmla="*/ 2468792 w 106"/>
                <a:gd name="T23" fmla="*/ 302 h 30"/>
                <a:gd name="T24" fmla="*/ 2027495 w 106"/>
                <a:gd name="T25" fmla="*/ 259 h 30"/>
                <a:gd name="T26" fmla="*/ 1568018 w 106"/>
                <a:gd name="T27" fmla="*/ 222 h 30"/>
                <a:gd name="T28" fmla="*/ 1112134 w 106"/>
                <a:gd name="T29" fmla="*/ 190 h 30"/>
                <a:gd name="T30" fmla="*/ 701815 w 106"/>
                <a:gd name="T31" fmla="*/ 140 h 30"/>
                <a:gd name="T32" fmla="*/ 430014 w 106"/>
                <a:gd name="T33" fmla="*/ 103 h 30"/>
                <a:gd name="T34" fmla="*/ 373313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1"/>
                  </a:lnTo>
                  <a:lnTo>
                    <a:pt x="68" y="22"/>
                  </a:lnTo>
                  <a:lnTo>
                    <a:pt x="81" y="24"/>
                  </a:lnTo>
                  <a:lnTo>
                    <a:pt x="90" y="27"/>
                  </a:lnTo>
                  <a:lnTo>
                    <a:pt x="92" y="29"/>
                  </a:lnTo>
                  <a:lnTo>
                    <a:pt x="105" y="25"/>
                  </a:lnTo>
                  <a:lnTo>
                    <a:pt x="97" y="15"/>
                  </a:lnTo>
                  <a:lnTo>
                    <a:pt x="84" y="11"/>
                  </a:lnTo>
                  <a:lnTo>
                    <a:pt x="69" y="9"/>
                  </a:lnTo>
                  <a:lnTo>
                    <a:pt x="53" y="8"/>
                  </a:lnTo>
                  <a:lnTo>
                    <a:pt x="38"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4" name="Freeform 85">
              <a:extLst>
                <a:ext uri="{FF2B5EF4-FFF2-40B4-BE49-F238E27FC236}">
                  <a16:creationId xmlns:a16="http://schemas.microsoft.com/office/drawing/2014/main" id="{556D8E91-8DB5-3874-E1BB-B7A2C5C9DCA9}"/>
                </a:ext>
              </a:extLst>
            </p:cNvPr>
            <p:cNvSpPr>
              <a:spLocks/>
            </p:cNvSpPr>
            <p:nvPr/>
          </p:nvSpPr>
          <p:spPr bwMode="auto">
            <a:xfrm>
              <a:off x="2079" y="2326"/>
              <a:ext cx="136" cy="73"/>
            </a:xfrm>
            <a:custGeom>
              <a:avLst/>
              <a:gdLst>
                <a:gd name="T0" fmla="*/ 2195491 w 83"/>
                <a:gd name="T1" fmla="*/ 3 h 63"/>
                <a:gd name="T2" fmla="*/ 2160471 w 83"/>
                <a:gd name="T3" fmla="*/ 109 h 63"/>
                <a:gd name="T4" fmla="*/ 1987493 w 83"/>
                <a:gd name="T5" fmla="*/ 247 h 63"/>
                <a:gd name="T6" fmla="*/ 1636031 w 83"/>
                <a:gd name="T7" fmla="*/ 384 h 63"/>
                <a:gd name="T8" fmla="*/ 1212955 w 83"/>
                <a:gd name="T9" fmla="*/ 530 h 63"/>
                <a:gd name="T10" fmla="*/ 761179 w 83"/>
                <a:gd name="T11" fmla="*/ 693 h 63"/>
                <a:gd name="T12" fmla="*/ 389068 w 83"/>
                <a:gd name="T13" fmla="*/ 854 h 63"/>
                <a:gd name="T14" fmla="*/ 56548 w 83"/>
                <a:gd name="T15" fmla="*/ 1078 h 63"/>
                <a:gd name="T16" fmla="*/ 0 w 83"/>
                <a:gd name="T17" fmla="*/ 1362 h 63"/>
                <a:gd name="T18" fmla="*/ 407626 w 83"/>
                <a:gd name="T19" fmla="*/ 1283 h 63"/>
                <a:gd name="T20" fmla="*/ 451776 w 83"/>
                <a:gd name="T21" fmla="*/ 1219 h 63"/>
                <a:gd name="T22" fmla="*/ 609354 w 83"/>
                <a:gd name="T23" fmla="*/ 1107 h 63"/>
                <a:gd name="T24" fmla="*/ 949754 w 83"/>
                <a:gd name="T25" fmla="*/ 955 h 63"/>
                <a:gd name="T26" fmla="*/ 1398653 w 83"/>
                <a:gd name="T27" fmla="*/ 803 h 63"/>
                <a:gd name="T28" fmla="*/ 1855348 w 83"/>
                <a:gd name="T29" fmla="*/ 636 h 63"/>
                <a:gd name="T30" fmla="*/ 2232686 w 83"/>
                <a:gd name="T31" fmla="*/ 457 h 63"/>
                <a:gd name="T32" fmla="*/ 2549956 w 83"/>
                <a:gd name="T33" fmla="*/ 286 h 63"/>
                <a:gd name="T34" fmla="*/ 2609697 w 83"/>
                <a:gd name="T35" fmla="*/ 0 h 63"/>
                <a:gd name="T36" fmla="*/ 2195491 w 83"/>
                <a:gd name="T37" fmla="*/ 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3"/>
                  </a:moveTo>
                  <a:lnTo>
                    <a:pt x="68" y="5"/>
                  </a:lnTo>
                  <a:lnTo>
                    <a:pt x="62" y="11"/>
                  </a:lnTo>
                  <a:lnTo>
                    <a:pt x="51" y="17"/>
                  </a:lnTo>
                  <a:lnTo>
                    <a:pt x="38" y="24"/>
                  </a:lnTo>
                  <a:lnTo>
                    <a:pt x="24" y="31"/>
                  </a:lnTo>
                  <a:lnTo>
                    <a:pt x="12" y="39"/>
                  </a:lnTo>
                  <a:lnTo>
                    <a:pt x="2" y="49"/>
                  </a:lnTo>
                  <a:lnTo>
                    <a:pt x="0" y="62"/>
                  </a:lnTo>
                  <a:lnTo>
                    <a:pt x="13" y="58"/>
                  </a:lnTo>
                  <a:lnTo>
                    <a:pt x="14" y="55"/>
                  </a:lnTo>
                  <a:lnTo>
                    <a:pt x="19" y="50"/>
                  </a:lnTo>
                  <a:lnTo>
                    <a:pt x="30" y="43"/>
                  </a:lnTo>
                  <a:lnTo>
                    <a:pt x="44" y="36"/>
                  </a:lnTo>
                  <a:lnTo>
                    <a:pt x="58" y="29"/>
                  </a:lnTo>
                  <a:lnTo>
                    <a:pt x="70" y="21"/>
                  </a:lnTo>
                  <a:lnTo>
                    <a:pt x="80" y="13"/>
                  </a:lnTo>
                  <a:lnTo>
                    <a:pt x="82" y="0"/>
                  </a:lnTo>
                  <a:lnTo>
                    <a:pt x="69"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5" name="Freeform 86">
              <a:extLst>
                <a:ext uri="{FF2B5EF4-FFF2-40B4-BE49-F238E27FC236}">
                  <a16:creationId xmlns:a16="http://schemas.microsoft.com/office/drawing/2014/main" id="{599A1AD7-24B2-204D-DCF3-282E1BDB2342}"/>
                </a:ext>
              </a:extLst>
            </p:cNvPr>
            <p:cNvSpPr>
              <a:spLocks/>
            </p:cNvSpPr>
            <p:nvPr/>
          </p:nvSpPr>
          <p:spPr bwMode="auto">
            <a:xfrm>
              <a:off x="2042" y="2241"/>
              <a:ext cx="173" cy="91"/>
            </a:xfrm>
            <a:custGeom>
              <a:avLst/>
              <a:gdLst>
                <a:gd name="T0" fmla="*/ 504969 w 105"/>
                <a:gd name="T1" fmla="*/ 1080 h 79"/>
                <a:gd name="T2" fmla="*/ 38304 w 105"/>
                <a:gd name="T3" fmla="*/ 1113 h 79"/>
                <a:gd name="T4" fmla="*/ 282272 w 105"/>
                <a:gd name="T5" fmla="*/ 1321 h 79"/>
                <a:gd name="T6" fmla="*/ 766270 w 105"/>
                <a:gd name="T7" fmla="*/ 1371 h 79"/>
                <a:gd name="T8" fmla="*/ 1329942 w 105"/>
                <a:gd name="T9" fmla="*/ 1433 h 79"/>
                <a:gd name="T10" fmla="*/ 1890361 w 105"/>
                <a:gd name="T11" fmla="*/ 1433 h 79"/>
                <a:gd name="T12" fmla="*/ 2445765 w 105"/>
                <a:gd name="T13" fmla="*/ 1433 h 79"/>
                <a:gd name="T14" fmla="*/ 2890764 w 105"/>
                <a:gd name="T15" fmla="*/ 1438 h 79"/>
                <a:gd name="T16" fmla="*/ 3191916 w 105"/>
                <a:gd name="T17" fmla="*/ 1477 h 79"/>
                <a:gd name="T18" fmla="*/ 3261172 w 105"/>
                <a:gd name="T19" fmla="*/ 1530 h 79"/>
                <a:gd name="T20" fmla="*/ 3721278 w 105"/>
                <a:gd name="T21" fmla="*/ 1438 h 79"/>
                <a:gd name="T22" fmla="*/ 3427301 w 105"/>
                <a:gd name="T23" fmla="*/ 1248 h 79"/>
                <a:gd name="T24" fmla="*/ 2979100 w 105"/>
                <a:gd name="T25" fmla="*/ 1189 h 79"/>
                <a:gd name="T26" fmla="*/ 2445765 w 105"/>
                <a:gd name="T27" fmla="*/ 1157 h 79"/>
                <a:gd name="T28" fmla="*/ 1890361 w 105"/>
                <a:gd name="T29" fmla="*/ 1153 h 79"/>
                <a:gd name="T30" fmla="*/ 1329942 w 105"/>
                <a:gd name="T31" fmla="*/ 1157 h 79"/>
                <a:gd name="T32" fmla="*/ 875703 w 105"/>
                <a:gd name="T33" fmla="*/ 1147 h 79"/>
                <a:gd name="T34" fmla="*/ 569066 w 105"/>
                <a:gd name="T35" fmla="*/ 1080 h 79"/>
                <a:gd name="T36" fmla="*/ 504969 w 105"/>
                <a:gd name="T37" fmla="*/ 1032 h 79"/>
                <a:gd name="T38" fmla="*/ 0 w 105"/>
                <a:gd name="T39" fmla="*/ 1080 h 79"/>
                <a:gd name="T40" fmla="*/ 504969 w 105"/>
                <a:gd name="T41" fmla="*/ 1032 h 79"/>
                <a:gd name="T42" fmla="*/ 0 w 105"/>
                <a:gd name="T43" fmla="*/ 0 h 79"/>
                <a:gd name="T44" fmla="*/ 0 w 105"/>
                <a:gd name="T45" fmla="*/ 1080 h 79"/>
                <a:gd name="T46" fmla="*/ 504969 w 105"/>
                <a:gd name="T47" fmla="*/ 1080 h 7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79"/>
                <a:gd name="T74" fmla="*/ 105 w 105"/>
                <a:gd name="T75" fmla="*/ 79 h 7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79">
                  <a:moveTo>
                    <a:pt x="14" y="55"/>
                  </a:moveTo>
                  <a:lnTo>
                    <a:pt x="1" y="57"/>
                  </a:lnTo>
                  <a:lnTo>
                    <a:pt x="8" y="67"/>
                  </a:lnTo>
                  <a:lnTo>
                    <a:pt x="21" y="71"/>
                  </a:lnTo>
                  <a:lnTo>
                    <a:pt x="37" y="73"/>
                  </a:lnTo>
                  <a:lnTo>
                    <a:pt x="53" y="73"/>
                  </a:lnTo>
                  <a:lnTo>
                    <a:pt x="68" y="73"/>
                  </a:lnTo>
                  <a:lnTo>
                    <a:pt x="81" y="74"/>
                  </a:lnTo>
                  <a:lnTo>
                    <a:pt x="89" y="76"/>
                  </a:lnTo>
                  <a:lnTo>
                    <a:pt x="91" y="78"/>
                  </a:lnTo>
                  <a:lnTo>
                    <a:pt x="104" y="74"/>
                  </a:lnTo>
                  <a:lnTo>
                    <a:pt x="96" y="64"/>
                  </a:lnTo>
                  <a:lnTo>
                    <a:pt x="83" y="61"/>
                  </a:lnTo>
                  <a:lnTo>
                    <a:pt x="68" y="60"/>
                  </a:lnTo>
                  <a:lnTo>
                    <a:pt x="53" y="59"/>
                  </a:lnTo>
                  <a:lnTo>
                    <a:pt x="37" y="60"/>
                  </a:lnTo>
                  <a:lnTo>
                    <a:pt x="24" y="58"/>
                  </a:lnTo>
                  <a:lnTo>
                    <a:pt x="16" y="55"/>
                  </a:lnTo>
                  <a:lnTo>
                    <a:pt x="14" y="53"/>
                  </a:lnTo>
                  <a:lnTo>
                    <a:pt x="0" y="55"/>
                  </a:lnTo>
                  <a:lnTo>
                    <a:pt x="14" y="53"/>
                  </a:lnTo>
                  <a:lnTo>
                    <a:pt x="0" y="0"/>
                  </a:lnTo>
                  <a:lnTo>
                    <a:pt x="0" y="55"/>
                  </a:lnTo>
                  <a:lnTo>
                    <a:pt x="14" y="5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6" name="Freeform 87">
              <a:extLst>
                <a:ext uri="{FF2B5EF4-FFF2-40B4-BE49-F238E27FC236}">
                  <a16:creationId xmlns:a16="http://schemas.microsoft.com/office/drawing/2014/main" id="{3A823897-267C-CF49-D10E-E835CE0E30F3}"/>
                </a:ext>
              </a:extLst>
            </p:cNvPr>
            <p:cNvSpPr>
              <a:spLocks/>
            </p:cNvSpPr>
            <p:nvPr/>
          </p:nvSpPr>
          <p:spPr bwMode="auto">
            <a:xfrm>
              <a:off x="2042" y="2304"/>
              <a:ext cx="26" cy="54"/>
            </a:xfrm>
            <a:custGeom>
              <a:avLst/>
              <a:gdLst>
                <a:gd name="T0" fmla="*/ 30347 w 16"/>
                <a:gd name="T1" fmla="*/ 79 h 47"/>
                <a:gd name="T2" fmla="*/ 392938 w 16"/>
                <a:gd name="T3" fmla="*/ 2 h 47"/>
                <a:gd name="T4" fmla="*/ 392938 w 16"/>
                <a:gd name="T5" fmla="*/ 1 h 47"/>
                <a:gd name="T6" fmla="*/ 0 w 16"/>
                <a:gd name="T7" fmla="*/ 1 h 47"/>
                <a:gd name="T8" fmla="*/ 0 w 16"/>
                <a:gd name="T9" fmla="*/ 2 h 47"/>
                <a:gd name="T10" fmla="*/ 373888 w 16"/>
                <a:gd name="T11" fmla="*/ 0 h 47"/>
                <a:gd name="T12" fmla="*/ 30347 w 16"/>
                <a:gd name="T13" fmla="*/ 79 h 47"/>
                <a:gd name="T14" fmla="*/ 392938 w 16"/>
                <a:gd name="T15" fmla="*/ 853 h 47"/>
                <a:gd name="T16" fmla="*/ 392938 w 16"/>
                <a:gd name="T17" fmla="*/ 2 h 47"/>
                <a:gd name="T18" fmla="*/ 30347 w 16"/>
                <a:gd name="T19" fmla="*/ 79 h 4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47"/>
                <a:gd name="T32" fmla="*/ 16 w 16"/>
                <a:gd name="T33" fmla="*/ 47 h 4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47">
                  <a:moveTo>
                    <a:pt x="1" y="4"/>
                  </a:moveTo>
                  <a:lnTo>
                    <a:pt x="15" y="2"/>
                  </a:lnTo>
                  <a:lnTo>
                    <a:pt x="15" y="1"/>
                  </a:lnTo>
                  <a:lnTo>
                    <a:pt x="0" y="1"/>
                  </a:lnTo>
                  <a:lnTo>
                    <a:pt x="0" y="2"/>
                  </a:lnTo>
                  <a:lnTo>
                    <a:pt x="14" y="0"/>
                  </a:lnTo>
                  <a:lnTo>
                    <a:pt x="1" y="4"/>
                  </a:lnTo>
                  <a:lnTo>
                    <a:pt x="15" y="46"/>
                  </a:lnTo>
                  <a:lnTo>
                    <a:pt x="15" y="2"/>
                  </a:lnTo>
                  <a:lnTo>
                    <a:pt x="1"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7" name="Freeform 88">
              <a:extLst>
                <a:ext uri="{FF2B5EF4-FFF2-40B4-BE49-F238E27FC236}">
                  <a16:creationId xmlns:a16="http://schemas.microsoft.com/office/drawing/2014/main" id="{503B7D6A-B165-D641-4BC9-861CD8F59757}"/>
                </a:ext>
              </a:extLst>
            </p:cNvPr>
            <p:cNvSpPr>
              <a:spLocks/>
            </p:cNvSpPr>
            <p:nvPr/>
          </p:nvSpPr>
          <p:spPr bwMode="auto">
            <a:xfrm>
              <a:off x="2043" y="2235"/>
              <a:ext cx="137" cy="74"/>
            </a:xfrm>
            <a:custGeom>
              <a:avLst/>
              <a:gdLst>
                <a:gd name="T0" fmla="*/ 2566051 w 83"/>
                <a:gd name="T1" fmla="*/ 93 h 64"/>
                <a:gd name="T2" fmla="*/ 2566051 w 83"/>
                <a:gd name="T3" fmla="*/ 125 h 64"/>
                <a:gd name="T4" fmla="*/ 2349936 w 83"/>
                <a:gd name="T5" fmla="*/ 224 h 64"/>
                <a:gd name="T6" fmla="*/ 1894573 w 83"/>
                <a:gd name="T7" fmla="*/ 325 h 64"/>
                <a:gd name="T8" fmla="*/ 1385413 w 83"/>
                <a:gd name="T9" fmla="*/ 443 h 64"/>
                <a:gd name="T10" fmla="*/ 802089 w 83"/>
                <a:gd name="T11" fmla="*/ 592 h 64"/>
                <a:gd name="T12" fmla="*/ 339412 w 83"/>
                <a:gd name="T13" fmla="*/ 778 h 64"/>
                <a:gd name="T14" fmla="*/ 0 w 83"/>
                <a:gd name="T15" fmla="*/ 1015 h 64"/>
                <a:gd name="T16" fmla="*/ 0 w 83"/>
                <a:gd name="T17" fmla="*/ 1319 h 64"/>
                <a:gd name="T18" fmla="*/ 480180 w 83"/>
                <a:gd name="T19" fmla="*/ 1234 h 64"/>
                <a:gd name="T20" fmla="*/ 480180 w 83"/>
                <a:gd name="T21" fmla="*/ 1129 h 64"/>
                <a:gd name="T22" fmla="*/ 695387 w 83"/>
                <a:gd name="T23" fmla="*/ 977 h 64"/>
                <a:gd name="T24" fmla="*/ 1077345 w 83"/>
                <a:gd name="T25" fmla="*/ 844 h 64"/>
                <a:gd name="T26" fmla="*/ 1599909 w 83"/>
                <a:gd name="T27" fmla="*/ 716 h 64"/>
                <a:gd name="T28" fmla="*/ 2072477 w 83"/>
                <a:gd name="T29" fmla="*/ 582 h 64"/>
                <a:gd name="T30" fmla="*/ 2566051 w 83"/>
                <a:gd name="T31" fmla="*/ 443 h 64"/>
                <a:gd name="T32" fmla="*/ 2935213 w 83"/>
                <a:gd name="T33" fmla="*/ 281 h 64"/>
                <a:gd name="T34" fmla="*/ 3041930 w 83"/>
                <a:gd name="T35" fmla="*/ 0 h 64"/>
                <a:gd name="T36" fmla="*/ 2566051 w 83"/>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9" y="6"/>
                  </a:lnTo>
                  <a:lnTo>
                    <a:pt x="63" y="10"/>
                  </a:lnTo>
                  <a:lnTo>
                    <a:pt x="51" y="15"/>
                  </a:lnTo>
                  <a:lnTo>
                    <a:pt x="37" y="21"/>
                  </a:lnTo>
                  <a:lnTo>
                    <a:pt x="22" y="28"/>
                  </a:lnTo>
                  <a:lnTo>
                    <a:pt x="9" y="36"/>
                  </a:lnTo>
                  <a:lnTo>
                    <a:pt x="0" y="48"/>
                  </a:lnTo>
                  <a:lnTo>
                    <a:pt x="0" y="63"/>
                  </a:lnTo>
                  <a:lnTo>
                    <a:pt x="13" y="59"/>
                  </a:lnTo>
                  <a:lnTo>
                    <a:pt x="13" y="53"/>
                  </a:lnTo>
                  <a:lnTo>
                    <a:pt x="19" y="47"/>
                  </a:lnTo>
                  <a:lnTo>
                    <a:pt x="29" y="40"/>
                  </a:lnTo>
                  <a:lnTo>
                    <a:pt x="43" y="34"/>
                  </a:lnTo>
                  <a:lnTo>
                    <a:pt x="56" y="27"/>
                  </a:lnTo>
                  <a:lnTo>
                    <a:pt x="69"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8" name="Freeform 89">
              <a:extLst>
                <a:ext uri="{FF2B5EF4-FFF2-40B4-BE49-F238E27FC236}">
                  <a16:creationId xmlns:a16="http://schemas.microsoft.com/office/drawing/2014/main" id="{8F2D39AF-7E85-1A63-6CAE-07F0BB8D1E02}"/>
                </a:ext>
              </a:extLst>
            </p:cNvPr>
            <p:cNvSpPr>
              <a:spLocks/>
            </p:cNvSpPr>
            <p:nvPr/>
          </p:nvSpPr>
          <p:spPr bwMode="auto">
            <a:xfrm>
              <a:off x="2005" y="2208"/>
              <a:ext cx="175" cy="33"/>
            </a:xfrm>
            <a:custGeom>
              <a:avLst/>
              <a:gdLst>
                <a:gd name="T0" fmla="*/ 0 w 106"/>
                <a:gd name="T1" fmla="*/ 68 h 29"/>
                <a:gd name="T2" fmla="*/ 291842 w 106"/>
                <a:gd name="T3" fmla="*/ 207 h 29"/>
                <a:gd name="T4" fmla="*/ 795449 w 106"/>
                <a:gd name="T5" fmla="*/ 269 h 29"/>
                <a:gd name="T6" fmla="*/ 1328805 w 106"/>
                <a:gd name="T7" fmla="*/ 306 h 29"/>
                <a:gd name="T8" fmla="*/ 1941196 w 106"/>
                <a:gd name="T9" fmla="*/ 316 h 29"/>
                <a:gd name="T10" fmla="*/ 2508326 w 106"/>
                <a:gd name="T11" fmla="*/ 320 h 29"/>
                <a:gd name="T12" fmla="*/ 3033331 w 106"/>
                <a:gd name="T13" fmla="*/ 360 h 29"/>
                <a:gd name="T14" fmla="*/ 3369257 w 106"/>
                <a:gd name="T15" fmla="*/ 396 h 29"/>
                <a:gd name="T16" fmla="*/ 3435385 w 106"/>
                <a:gd name="T17" fmla="*/ 414 h 29"/>
                <a:gd name="T18" fmla="*/ 3917132 w 106"/>
                <a:gd name="T19" fmla="*/ 360 h 29"/>
                <a:gd name="T20" fmla="*/ 3621810 w 106"/>
                <a:gd name="T21" fmla="*/ 217 h 29"/>
                <a:gd name="T22" fmla="*/ 3136520 w 106"/>
                <a:gd name="T23" fmla="*/ 168 h 29"/>
                <a:gd name="T24" fmla="*/ 2573651 w 106"/>
                <a:gd name="T25" fmla="*/ 130 h 29"/>
                <a:gd name="T26" fmla="*/ 1984779 w 106"/>
                <a:gd name="T27" fmla="*/ 114 h 29"/>
                <a:gd name="T28" fmla="*/ 1427982 w 106"/>
                <a:gd name="T29" fmla="*/ 100 h 29"/>
                <a:gd name="T30" fmla="*/ 904506 w 106"/>
                <a:gd name="T31" fmla="*/ 77 h 29"/>
                <a:gd name="T32" fmla="*/ 563155 w 106"/>
                <a:gd name="T33" fmla="*/ 2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1" y="18"/>
                  </a:lnTo>
                  <a:lnTo>
                    <a:pt x="36" y="20"/>
                  </a:lnTo>
                  <a:lnTo>
                    <a:pt x="52" y="21"/>
                  </a:lnTo>
                  <a:lnTo>
                    <a:pt x="67" y="22"/>
                  </a:lnTo>
                  <a:lnTo>
                    <a:pt x="81" y="24"/>
                  </a:lnTo>
                  <a:lnTo>
                    <a:pt x="90" y="26"/>
                  </a:lnTo>
                  <a:lnTo>
                    <a:pt x="92" y="28"/>
                  </a:lnTo>
                  <a:lnTo>
                    <a:pt x="105" y="24"/>
                  </a:lnTo>
                  <a:lnTo>
                    <a:pt x="97" y="15"/>
                  </a:lnTo>
                  <a:lnTo>
                    <a:pt x="84" y="11"/>
                  </a:lnTo>
                  <a:lnTo>
                    <a:pt x="69" y="9"/>
                  </a:lnTo>
                  <a:lnTo>
                    <a:pt x="53" y="8"/>
                  </a:lnTo>
                  <a:lnTo>
                    <a:pt x="38"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09" name="Freeform 90">
              <a:extLst>
                <a:ext uri="{FF2B5EF4-FFF2-40B4-BE49-F238E27FC236}">
                  <a16:creationId xmlns:a16="http://schemas.microsoft.com/office/drawing/2014/main" id="{7D8D4501-A15F-E6A2-15DB-EC36E12F61F8}"/>
                </a:ext>
              </a:extLst>
            </p:cNvPr>
            <p:cNvSpPr>
              <a:spLocks/>
            </p:cNvSpPr>
            <p:nvPr/>
          </p:nvSpPr>
          <p:spPr bwMode="auto">
            <a:xfrm>
              <a:off x="2005" y="2140"/>
              <a:ext cx="139" cy="72"/>
            </a:xfrm>
            <a:custGeom>
              <a:avLst/>
              <a:gdLst>
                <a:gd name="T0" fmla="*/ 2750315 w 84"/>
                <a:gd name="T1" fmla="*/ 73 h 63"/>
                <a:gd name="T2" fmla="*/ 2707808 w 84"/>
                <a:gd name="T3" fmla="*/ 83 h 63"/>
                <a:gd name="T4" fmla="*/ 2468110 w 84"/>
                <a:gd name="T5" fmla="*/ 186 h 63"/>
                <a:gd name="T6" fmla="*/ 2035863 w 84"/>
                <a:gd name="T7" fmla="*/ 278 h 63"/>
                <a:gd name="T8" fmla="*/ 1491520 w 84"/>
                <a:gd name="T9" fmla="*/ 415 h 63"/>
                <a:gd name="T10" fmla="*/ 941823 w 84"/>
                <a:gd name="T11" fmla="*/ 530 h 63"/>
                <a:gd name="T12" fmla="*/ 477822 w 84"/>
                <a:gd name="T13" fmla="*/ 637 h 63"/>
                <a:gd name="T14" fmla="*/ 68952 w 84"/>
                <a:gd name="T15" fmla="*/ 808 h 63"/>
                <a:gd name="T16" fmla="*/ 0 w 84"/>
                <a:gd name="T17" fmla="*/ 1032 h 63"/>
                <a:gd name="T18" fmla="*/ 516999 w 84"/>
                <a:gd name="T19" fmla="*/ 951 h 63"/>
                <a:gd name="T20" fmla="*/ 544701 w 84"/>
                <a:gd name="T21" fmla="*/ 923 h 63"/>
                <a:gd name="T22" fmla="*/ 790682 w 84"/>
                <a:gd name="T23" fmla="*/ 823 h 63"/>
                <a:gd name="T24" fmla="*/ 1203808 w 84"/>
                <a:gd name="T25" fmla="*/ 707 h 63"/>
                <a:gd name="T26" fmla="*/ 1747280 w 84"/>
                <a:gd name="T27" fmla="*/ 605 h 63"/>
                <a:gd name="T28" fmla="*/ 2275245 w 84"/>
                <a:gd name="T29" fmla="*/ 474 h 63"/>
                <a:gd name="T30" fmla="*/ 2779699 w 84"/>
                <a:gd name="T31" fmla="*/ 345 h 63"/>
                <a:gd name="T32" fmla="*/ 3123646 w 84"/>
                <a:gd name="T33" fmla="*/ 213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11"/>
                  </a:lnTo>
                  <a:lnTo>
                    <a:pt x="52" y="17"/>
                  </a:lnTo>
                  <a:lnTo>
                    <a:pt x="38" y="25"/>
                  </a:lnTo>
                  <a:lnTo>
                    <a:pt x="24" y="32"/>
                  </a:lnTo>
                  <a:lnTo>
                    <a:pt x="12" y="39"/>
                  </a:lnTo>
                  <a:lnTo>
                    <a:pt x="2" y="49"/>
                  </a:lnTo>
                  <a:lnTo>
                    <a:pt x="0" y="62"/>
                  </a:lnTo>
                  <a:lnTo>
                    <a:pt x="13" y="58"/>
                  </a:lnTo>
                  <a:lnTo>
                    <a:pt x="14" y="56"/>
                  </a:lnTo>
                  <a:lnTo>
                    <a:pt x="20" y="50"/>
                  </a:lnTo>
                  <a:lnTo>
                    <a:pt x="31" y="43"/>
                  </a:lnTo>
                  <a:lnTo>
                    <a:pt x="45" y="36"/>
                  </a:lnTo>
                  <a:lnTo>
                    <a:pt x="58" y="29"/>
                  </a:lnTo>
                  <a:lnTo>
                    <a:pt x="71"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0" name="Freeform 91">
              <a:extLst>
                <a:ext uri="{FF2B5EF4-FFF2-40B4-BE49-F238E27FC236}">
                  <a16:creationId xmlns:a16="http://schemas.microsoft.com/office/drawing/2014/main" id="{D00F62B6-17D9-9A13-1FFF-5E6ECE5ABD62}"/>
                </a:ext>
              </a:extLst>
            </p:cNvPr>
            <p:cNvSpPr>
              <a:spLocks/>
            </p:cNvSpPr>
            <p:nvPr/>
          </p:nvSpPr>
          <p:spPr bwMode="auto">
            <a:xfrm>
              <a:off x="1971" y="2113"/>
              <a:ext cx="173" cy="33"/>
            </a:xfrm>
            <a:custGeom>
              <a:avLst/>
              <a:gdLst>
                <a:gd name="T0" fmla="*/ 63110 w 105"/>
                <a:gd name="T1" fmla="*/ 288 h 28"/>
                <a:gd name="T2" fmla="*/ 0 w 105"/>
                <a:gd name="T3" fmla="*/ 207 h 28"/>
                <a:gd name="T4" fmla="*/ 282272 w 105"/>
                <a:gd name="T5" fmla="*/ 471 h 28"/>
                <a:gd name="T6" fmla="*/ 766270 w 105"/>
                <a:gd name="T7" fmla="*/ 555 h 28"/>
                <a:gd name="T8" fmla="*/ 1283006 w 105"/>
                <a:gd name="T9" fmla="*/ 608 h 28"/>
                <a:gd name="T10" fmla="*/ 1816719 w 105"/>
                <a:gd name="T11" fmla="*/ 639 h 28"/>
                <a:gd name="T12" fmla="*/ 2385467 w 105"/>
                <a:gd name="T13" fmla="*/ 639 h 28"/>
                <a:gd name="T14" fmla="*/ 2890764 w 105"/>
                <a:gd name="T15" fmla="*/ 717 h 28"/>
                <a:gd name="T16" fmla="*/ 3191916 w 105"/>
                <a:gd name="T17" fmla="*/ 771 h 28"/>
                <a:gd name="T18" fmla="*/ 3261172 w 105"/>
                <a:gd name="T19" fmla="*/ 853 h 28"/>
                <a:gd name="T20" fmla="*/ 3721278 w 105"/>
                <a:gd name="T21" fmla="*/ 724 h 28"/>
                <a:gd name="T22" fmla="*/ 3420932 w 105"/>
                <a:gd name="T23" fmla="*/ 400 h 28"/>
                <a:gd name="T24" fmla="*/ 2979100 w 105"/>
                <a:gd name="T25" fmla="*/ 288 h 28"/>
                <a:gd name="T26" fmla="*/ 2445765 w 105"/>
                <a:gd name="T27" fmla="*/ 207 h 28"/>
                <a:gd name="T28" fmla="*/ 1816719 w 105"/>
                <a:gd name="T29" fmla="*/ 207 h 28"/>
                <a:gd name="T30" fmla="*/ 1283006 w 105"/>
                <a:gd name="T31" fmla="*/ 176 h 28"/>
                <a:gd name="T32" fmla="*/ 778703 w 105"/>
                <a:gd name="T33" fmla="*/ 149 h 28"/>
                <a:gd name="T34" fmla="*/ 504969 w 105"/>
                <a:gd name="T35" fmla="*/ 107 h 28"/>
                <a:gd name="T36" fmla="*/ 465077 w 105"/>
                <a:gd name="T37" fmla="*/ 107 h 28"/>
                <a:gd name="T38" fmla="*/ 392270 w 105"/>
                <a:gd name="T39" fmla="*/ 0 h 28"/>
                <a:gd name="T40" fmla="*/ 465077 w 105"/>
                <a:gd name="T41" fmla="*/ 107 h 28"/>
                <a:gd name="T42" fmla="*/ 433136 w 105"/>
                <a:gd name="T43" fmla="*/ 1 h 28"/>
                <a:gd name="T44" fmla="*/ 392270 w 105"/>
                <a:gd name="T45" fmla="*/ 0 h 28"/>
                <a:gd name="T46" fmla="*/ 63110 w 105"/>
                <a:gd name="T47" fmla="*/ 288 h 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28"/>
                <a:gd name="T74" fmla="*/ 105 w 105"/>
                <a:gd name="T75" fmla="*/ 28 h 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28">
                  <a:moveTo>
                    <a:pt x="2" y="9"/>
                  </a:moveTo>
                  <a:lnTo>
                    <a:pt x="0" y="7"/>
                  </a:lnTo>
                  <a:lnTo>
                    <a:pt x="8" y="15"/>
                  </a:lnTo>
                  <a:lnTo>
                    <a:pt x="21" y="18"/>
                  </a:lnTo>
                  <a:lnTo>
                    <a:pt x="36" y="19"/>
                  </a:lnTo>
                  <a:lnTo>
                    <a:pt x="51" y="20"/>
                  </a:lnTo>
                  <a:lnTo>
                    <a:pt x="67" y="20"/>
                  </a:lnTo>
                  <a:lnTo>
                    <a:pt x="81" y="22"/>
                  </a:lnTo>
                  <a:lnTo>
                    <a:pt x="89" y="25"/>
                  </a:lnTo>
                  <a:lnTo>
                    <a:pt x="91" y="27"/>
                  </a:lnTo>
                  <a:lnTo>
                    <a:pt x="104" y="23"/>
                  </a:lnTo>
                  <a:lnTo>
                    <a:pt x="95" y="13"/>
                  </a:lnTo>
                  <a:lnTo>
                    <a:pt x="83" y="9"/>
                  </a:lnTo>
                  <a:lnTo>
                    <a:pt x="68" y="7"/>
                  </a:lnTo>
                  <a:lnTo>
                    <a:pt x="51" y="7"/>
                  </a:lnTo>
                  <a:lnTo>
                    <a:pt x="36" y="6"/>
                  </a:lnTo>
                  <a:lnTo>
                    <a:pt x="22" y="5"/>
                  </a:lnTo>
                  <a:lnTo>
                    <a:pt x="14" y="3"/>
                  </a:lnTo>
                  <a:lnTo>
                    <a:pt x="13" y="3"/>
                  </a:lnTo>
                  <a:lnTo>
                    <a:pt x="11" y="0"/>
                  </a:lnTo>
                  <a:lnTo>
                    <a:pt x="13" y="3"/>
                  </a:lnTo>
                  <a:lnTo>
                    <a:pt x="12" y="1"/>
                  </a:lnTo>
                  <a:lnTo>
                    <a:pt x="11" y="0"/>
                  </a:lnTo>
                  <a:lnTo>
                    <a:pt x="2"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1" name="Freeform 92">
              <a:extLst>
                <a:ext uri="{FF2B5EF4-FFF2-40B4-BE49-F238E27FC236}">
                  <a16:creationId xmlns:a16="http://schemas.microsoft.com/office/drawing/2014/main" id="{3169B1F9-2BAF-3BD2-3969-4AB7B2F0F224}"/>
                </a:ext>
              </a:extLst>
            </p:cNvPr>
            <p:cNvSpPr>
              <a:spLocks/>
            </p:cNvSpPr>
            <p:nvPr/>
          </p:nvSpPr>
          <p:spPr bwMode="auto">
            <a:xfrm>
              <a:off x="1971" y="2113"/>
              <a:ext cx="24" cy="12"/>
            </a:xfrm>
            <a:custGeom>
              <a:avLst/>
              <a:gdLst>
                <a:gd name="T0" fmla="*/ 0 w 14"/>
                <a:gd name="T1" fmla="*/ 258 h 10"/>
                <a:gd name="T2" fmla="*/ 145358 w 14"/>
                <a:gd name="T3" fmla="*/ 434 h 10"/>
                <a:gd name="T4" fmla="*/ 249185 w 14"/>
                <a:gd name="T5" fmla="*/ 434 h 10"/>
                <a:gd name="T6" fmla="*/ 1012678 w 14"/>
                <a:gd name="T7" fmla="*/ 1 h 10"/>
                <a:gd name="T8" fmla="*/ 935321 w 14"/>
                <a:gd name="T9" fmla="*/ 0 h 10"/>
                <a:gd name="T10" fmla="*/ 1057803 w 14"/>
                <a:gd name="T11" fmla="*/ 149 h 10"/>
                <a:gd name="T12" fmla="*/ 0 w 14"/>
                <a:gd name="T13" fmla="*/ 258 h 10"/>
                <a:gd name="T14" fmla="*/ 84792 w 14"/>
                <a:gd name="T15" fmla="*/ 310 h 10"/>
                <a:gd name="T16" fmla="*/ 145358 w 14"/>
                <a:gd name="T17" fmla="*/ 434 h 10"/>
                <a:gd name="T18" fmla="*/ 0 w 14"/>
                <a:gd name="T19" fmla="*/ 258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0"/>
                <a:gd name="T32" fmla="*/ 14 w 14"/>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0">
                  <a:moveTo>
                    <a:pt x="0" y="6"/>
                  </a:moveTo>
                  <a:lnTo>
                    <a:pt x="2" y="9"/>
                  </a:lnTo>
                  <a:lnTo>
                    <a:pt x="3" y="9"/>
                  </a:lnTo>
                  <a:lnTo>
                    <a:pt x="12" y="1"/>
                  </a:lnTo>
                  <a:lnTo>
                    <a:pt x="11" y="0"/>
                  </a:lnTo>
                  <a:lnTo>
                    <a:pt x="13" y="3"/>
                  </a:lnTo>
                  <a:lnTo>
                    <a:pt x="0" y="6"/>
                  </a:lnTo>
                  <a:lnTo>
                    <a:pt x="1" y="7"/>
                  </a:lnTo>
                  <a:lnTo>
                    <a:pt x="2" y="9"/>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2" name="Freeform 93">
              <a:extLst>
                <a:ext uri="{FF2B5EF4-FFF2-40B4-BE49-F238E27FC236}">
                  <a16:creationId xmlns:a16="http://schemas.microsoft.com/office/drawing/2014/main" id="{1EBB4F5E-F40B-7300-EC65-24B60D4C83B4}"/>
                </a:ext>
              </a:extLst>
            </p:cNvPr>
            <p:cNvSpPr>
              <a:spLocks/>
            </p:cNvSpPr>
            <p:nvPr/>
          </p:nvSpPr>
          <p:spPr bwMode="auto">
            <a:xfrm>
              <a:off x="1971" y="2049"/>
              <a:ext cx="134" cy="73"/>
            </a:xfrm>
            <a:custGeom>
              <a:avLst/>
              <a:gdLst>
                <a:gd name="T0" fmla="*/ 2617430 w 81"/>
                <a:gd name="T1" fmla="*/ 3 h 63"/>
                <a:gd name="T2" fmla="*/ 2567830 w 81"/>
                <a:gd name="T3" fmla="*/ 126 h 63"/>
                <a:gd name="T4" fmla="*/ 2331846 w 81"/>
                <a:gd name="T5" fmla="*/ 263 h 63"/>
                <a:gd name="T6" fmla="*/ 1957614 w 81"/>
                <a:gd name="T7" fmla="*/ 409 h 63"/>
                <a:gd name="T8" fmla="*/ 1438593 w 81"/>
                <a:gd name="T9" fmla="*/ 594 h 63"/>
                <a:gd name="T10" fmla="*/ 938268 w 81"/>
                <a:gd name="T11" fmla="*/ 732 h 63"/>
                <a:gd name="T12" fmla="*/ 475903 w 81"/>
                <a:gd name="T13" fmla="*/ 924 h 63"/>
                <a:gd name="T14" fmla="*/ 113758 w 81"/>
                <a:gd name="T15" fmla="*/ 1078 h 63"/>
                <a:gd name="T16" fmla="*/ 0 w 81"/>
                <a:gd name="T17" fmla="*/ 1362 h 63"/>
                <a:gd name="T18" fmla="*/ 515040 w 81"/>
                <a:gd name="T19" fmla="*/ 1283 h 63"/>
                <a:gd name="T20" fmla="*/ 541520 w 81"/>
                <a:gd name="T21" fmla="*/ 1249 h 63"/>
                <a:gd name="T22" fmla="*/ 723636 w 81"/>
                <a:gd name="T23" fmla="*/ 1147 h 63"/>
                <a:gd name="T24" fmla="*/ 1197126 w 81"/>
                <a:gd name="T25" fmla="*/ 990 h 63"/>
                <a:gd name="T26" fmla="*/ 1669796 w 81"/>
                <a:gd name="T27" fmla="*/ 848 h 63"/>
                <a:gd name="T28" fmla="*/ 2221424 w 81"/>
                <a:gd name="T29" fmla="*/ 693 h 63"/>
                <a:gd name="T30" fmla="*/ 2697708 w 81"/>
                <a:gd name="T31" fmla="*/ 474 h 63"/>
                <a:gd name="T32" fmla="*/ 3029758 w 81"/>
                <a:gd name="T33" fmla="*/ 286 h 63"/>
                <a:gd name="T34" fmla="*/ 3108525 w 81"/>
                <a:gd name="T35" fmla="*/ 0 h 63"/>
                <a:gd name="T36" fmla="*/ 2617430 w 81"/>
                <a:gd name="T37" fmla="*/ 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3"/>
                <a:gd name="T59" fmla="*/ 81 w 81"/>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3">
                  <a:moveTo>
                    <a:pt x="67" y="3"/>
                  </a:moveTo>
                  <a:lnTo>
                    <a:pt x="66" y="6"/>
                  </a:lnTo>
                  <a:lnTo>
                    <a:pt x="60" y="12"/>
                  </a:lnTo>
                  <a:lnTo>
                    <a:pt x="50" y="19"/>
                  </a:lnTo>
                  <a:lnTo>
                    <a:pt x="37" y="26"/>
                  </a:lnTo>
                  <a:lnTo>
                    <a:pt x="24" y="33"/>
                  </a:lnTo>
                  <a:lnTo>
                    <a:pt x="12" y="41"/>
                  </a:lnTo>
                  <a:lnTo>
                    <a:pt x="3" y="49"/>
                  </a:lnTo>
                  <a:lnTo>
                    <a:pt x="0" y="62"/>
                  </a:lnTo>
                  <a:lnTo>
                    <a:pt x="13" y="58"/>
                  </a:lnTo>
                  <a:lnTo>
                    <a:pt x="14" y="57"/>
                  </a:lnTo>
                  <a:lnTo>
                    <a:pt x="19" y="52"/>
                  </a:lnTo>
                  <a:lnTo>
                    <a:pt x="31" y="45"/>
                  </a:lnTo>
                  <a:lnTo>
                    <a:pt x="43" y="38"/>
                  </a:lnTo>
                  <a:lnTo>
                    <a:pt x="57" y="31"/>
                  </a:lnTo>
                  <a:lnTo>
                    <a:pt x="69" y="22"/>
                  </a:lnTo>
                  <a:lnTo>
                    <a:pt x="78" y="13"/>
                  </a:lnTo>
                  <a:lnTo>
                    <a:pt x="80" y="0"/>
                  </a:lnTo>
                  <a:lnTo>
                    <a:pt x="67"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3" name="Freeform 94">
              <a:extLst>
                <a:ext uri="{FF2B5EF4-FFF2-40B4-BE49-F238E27FC236}">
                  <a16:creationId xmlns:a16="http://schemas.microsoft.com/office/drawing/2014/main" id="{FE0FA7F3-0322-92CE-F006-C61B2FCEBE28}"/>
                </a:ext>
              </a:extLst>
            </p:cNvPr>
            <p:cNvSpPr>
              <a:spLocks/>
            </p:cNvSpPr>
            <p:nvPr/>
          </p:nvSpPr>
          <p:spPr bwMode="auto">
            <a:xfrm>
              <a:off x="1932" y="2020"/>
              <a:ext cx="173" cy="35"/>
            </a:xfrm>
            <a:custGeom>
              <a:avLst/>
              <a:gdLst>
                <a:gd name="T0" fmla="*/ 0 w 105"/>
                <a:gd name="T1" fmla="*/ 120 h 30"/>
                <a:gd name="T2" fmla="*/ 282272 w 105"/>
                <a:gd name="T3" fmla="*/ 358 h 30"/>
                <a:gd name="T4" fmla="*/ 766270 w 105"/>
                <a:gd name="T5" fmla="*/ 480 h 30"/>
                <a:gd name="T6" fmla="*/ 1283006 w 105"/>
                <a:gd name="T7" fmla="*/ 501 h 30"/>
                <a:gd name="T8" fmla="*/ 1816719 w 105"/>
                <a:gd name="T9" fmla="*/ 560 h 30"/>
                <a:gd name="T10" fmla="*/ 2385467 w 105"/>
                <a:gd name="T11" fmla="*/ 569 h 30"/>
                <a:gd name="T12" fmla="*/ 2865936 w 105"/>
                <a:gd name="T13" fmla="*/ 585 h 30"/>
                <a:gd name="T14" fmla="*/ 3152065 w 105"/>
                <a:gd name="T15" fmla="*/ 664 h 30"/>
                <a:gd name="T16" fmla="*/ 3261172 w 105"/>
                <a:gd name="T17" fmla="*/ 762 h 30"/>
                <a:gd name="T18" fmla="*/ 3721278 w 105"/>
                <a:gd name="T19" fmla="*/ 653 h 30"/>
                <a:gd name="T20" fmla="*/ 3427301 w 105"/>
                <a:gd name="T21" fmla="*/ 411 h 30"/>
                <a:gd name="T22" fmla="*/ 2979100 w 105"/>
                <a:gd name="T23" fmla="*/ 263 h 30"/>
                <a:gd name="T24" fmla="*/ 2445765 w 105"/>
                <a:gd name="T25" fmla="*/ 259 h 30"/>
                <a:gd name="T26" fmla="*/ 1875692 w 105"/>
                <a:gd name="T27" fmla="*/ 222 h 30"/>
                <a:gd name="T28" fmla="*/ 1329942 w 105"/>
                <a:gd name="T29" fmla="*/ 190 h 30"/>
                <a:gd name="T30" fmla="*/ 831997 w 105"/>
                <a:gd name="T31" fmla="*/ 140 h 30"/>
                <a:gd name="T32" fmla="*/ 546820 w 105"/>
                <a:gd name="T33" fmla="*/ 2 h 30"/>
                <a:gd name="T34" fmla="*/ 465077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8"/>
                  </a:lnTo>
                  <a:lnTo>
                    <a:pt x="36" y="20"/>
                  </a:lnTo>
                  <a:lnTo>
                    <a:pt x="51" y="21"/>
                  </a:lnTo>
                  <a:lnTo>
                    <a:pt x="67" y="22"/>
                  </a:lnTo>
                  <a:lnTo>
                    <a:pt x="80" y="23"/>
                  </a:lnTo>
                  <a:lnTo>
                    <a:pt x="88" y="26"/>
                  </a:lnTo>
                  <a:lnTo>
                    <a:pt x="91" y="29"/>
                  </a:lnTo>
                  <a:lnTo>
                    <a:pt x="104" y="25"/>
                  </a:lnTo>
                  <a:lnTo>
                    <a:pt x="96" y="15"/>
                  </a:lnTo>
                  <a:lnTo>
                    <a:pt x="83" y="10"/>
                  </a:lnTo>
                  <a:lnTo>
                    <a:pt x="68" y="9"/>
                  </a:lnTo>
                  <a:lnTo>
                    <a:pt x="52" y="8"/>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4" name="Freeform 95">
              <a:extLst>
                <a:ext uri="{FF2B5EF4-FFF2-40B4-BE49-F238E27FC236}">
                  <a16:creationId xmlns:a16="http://schemas.microsoft.com/office/drawing/2014/main" id="{EB9BBECC-5641-C2FA-FDCF-89EF040AC88F}"/>
                </a:ext>
              </a:extLst>
            </p:cNvPr>
            <p:cNvSpPr>
              <a:spLocks/>
            </p:cNvSpPr>
            <p:nvPr/>
          </p:nvSpPr>
          <p:spPr bwMode="auto">
            <a:xfrm>
              <a:off x="1932" y="1953"/>
              <a:ext cx="136" cy="73"/>
            </a:xfrm>
            <a:custGeom>
              <a:avLst/>
              <a:gdLst>
                <a:gd name="T0" fmla="*/ 2195491 w 83"/>
                <a:gd name="T1" fmla="*/ 94 h 63"/>
                <a:gd name="T2" fmla="*/ 2195491 w 83"/>
                <a:gd name="T3" fmla="*/ 126 h 63"/>
                <a:gd name="T4" fmla="*/ 2008007 w 83"/>
                <a:gd name="T5" fmla="*/ 263 h 63"/>
                <a:gd name="T6" fmla="*/ 1654163 w 83"/>
                <a:gd name="T7" fmla="*/ 409 h 63"/>
                <a:gd name="T8" fmla="*/ 1212955 w 83"/>
                <a:gd name="T9" fmla="*/ 594 h 63"/>
                <a:gd name="T10" fmla="*/ 795492 w 83"/>
                <a:gd name="T11" fmla="*/ 732 h 63"/>
                <a:gd name="T12" fmla="*/ 389068 w 83"/>
                <a:gd name="T13" fmla="*/ 860 h 63"/>
                <a:gd name="T14" fmla="*/ 92657 w 83"/>
                <a:gd name="T15" fmla="*/ 1078 h 63"/>
                <a:gd name="T16" fmla="*/ 0 w 83"/>
                <a:gd name="T17" fmla="*/ 1362 h 63"/>
                <a:gd name="T18" fmla="*/ 407626 w 83"/>
                <a:gd name="T19" fmla="*/ 1283 h 63"/>
                <a:gd name="T20" fmla="*/ 451776 w 83"/>
                <a:gd name="T21" fmla="*/ 1249 h 63"/>
                <a:gd name="T22" fmla="*/ 637509 w 83"/>
                <a:gd name="T23" fmla="*/ 1139 h 63"/>
                <a:gd name="T24" fmla="*/ 998460 w 83"/>
                <a:gd name="T25" fmla="*/ 990 h 63"/>
                <a:gd name="T26" fmla="*/ 1434145 w 83"/>
                <a:gd name="T27" fmla="*/ 848 h 63"/>
                <a:gd name="T28" fmla="*/ 1855348 w 83"/>
                <a:gd name="T29" fmla="*/ 688 h 63"/>
                <a:gd name="T30" fmla="*/ 2257806 w 83"/>
                <a:gd name="T31" fmla="*/ 516 h 63"/>
                <a:gd name="T32" fmla="*/ 2588608 w 83"/>
                <a:gd name="T33" fmla="*/ 286 h 63"/>
                <a:gd name="T34" fmla="*/ 2609697 w 83"/>
                <a:gd name="T35" fmla="*/ 0 h 63"/>
                <a:gd name="T36" fmla="*/ 219549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9" y="6"/>
                  </a:lnTo>
                  <a:lnTo>
                    <a:pt x="63" y="12"/>
                  </a:lnTo>
                  <a:lnTo>
                    <a:pt x="52" y="19"/>
                  </a:lnTo>
                  <a:lnTo>
                    <a:pt x="38" y="26"/>
                  </a:lnTo>
                  <a:lnTo>
                    <a:pt x="25" y="33"/>
                  </a:lnTo>
                  <a:lnTo>
                    <a:pt x="12" y="40"/>
                  </a:lnTo>
                  <a:lnTo>
                    <a:pt x="3" y="49"/>
                  </a:lnTo>
                  <a:lnTo>
                    <a:pt x="0" y="62"/>
                  </a:lnTo>
                  <a:lnTo>
                    <a:pt x="13" y="58"/>
                  </a:lnTo>
                  <a:lnTo>
                    <a:pt x="14" y="57"/>
                  </a:lnTo>
                  <a:lnTo>
                    <a:pt x="20" y="51"/>
                  </a:lnTo>
                  <a:lnTo>
                    <a:pt x="31" y="45"/>
                  </a:lnTo>
                  <a:lnTo>
                    <a:pt x="45" y="38"/>
                  </a:lnTo>
                  <a:lnTo>
                    <a:pt x="58" y="30"/>
                  </a:lnTo>
                  <a:lnTo>
                    <a:pt x="71" y="23"/>
                  </a:lnTo>
                  <a:lnTo>
                    <a:pt x="81"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5" name="Freeform 96">
              <a:extLst>
                <a:ext uri="{FF2B5EF4-FFF2-40B4-BE49-F238E27FC236}">
                  <a16:creationId xmlns:a16="http://schemas.microsoft.com/office/drawing/2014/main" id="{D8071148-E979-EF80-9908-E0E1D060C861}"/>
                </a:ext>
              </a:extLst>
            </p:cNvPr>
            <p:cNvSpPr>
              <a:spLocks/>
            </p:cNvSpPr>
            <p:nvPr/>
          </p:nvSpPr>
          <p:spPr bwMode="auto">
            <a:xfrm>
              <a:off x="1891" y="1918"/>
              <a:ext cx="177" cy="42"/>
            </a:xfrm>
            <a:custGeom>
              <a:avLst/>
              <a:gdLst>
                <a:gd name="T0" fmla="*/ 297347 w 108"/>
                <a:gd name="T1" fmla="*/ 0 h 36"/>
                <a:gd name="T2" fmla="*/ 56629 w 108"/>
                <a:gd name="T3" fmla="*/ 231 h 36"/>
                <a:gd name="T4" fmla="*/ 355105 w 108"/>
                <a:gd name="T5" fmla="*/ 488 h 36"/>
                <a:gd name="T6" fmla="*/ 763839 w 108"/>
                <a:gd name="T7" fmla="*/ 580 h 36"/>
                <a:gd name="T8" fmla="*/ 1216593 w 108"/>
                <a:gd name="T9" fmla="*/ 621 h 36"/>
                <a:gd name="T10" fmla="*/ 1738474 w 108"/>
                <a:gd name="T11" fmla="*/ 664 h 36"/>
                <a:gd name="T12" fmla="*/ 2243232 w 108"/>
                <a:gd name="T13" fmla="*/ 677 h 36"/>
                <a:gd name="T14" fmla="*/ 2654780 w 108"/>
                <a:gd name="T15" fmla="*/ 762 h 36"/>
                <a:gd name="T16" fmla="*/ 2912671 w 108"/>
                <a:gd name="T17" fmla="*/ 797 h 36"/>
                <a:gd name="T18" fmla="*/ 3006856 w 108"/>
                <a:gd name="T19" fmla="*/ 904 h 36"/>
                <a:gd name="T20" fmla="*/ 3417618 w 108"/>
                <a:gd name="T21" fmla="*/ 790 h 36"/>
                <a:gd name="T22" fmla="*/ 3174761 w 108"/>
                <a:gd name="T23" fmla="*/ 548 h 36"/>
                <a:gd name="T24" fmla="*/ 2757663 w 108"/>
                <a:gd name="T25" fmla="*/ 418 h 36"/>
                <a:gd name="T26" fmla="*/ 2263832 w 108"/>
                <a:gd name="T27" fmla="*/ 358 h 36"/>
                <a:gd name="T28" fmla="*/ 1798415 w 108"/>
                <a:gd name="T29" fmla="*/ 315 h 36"/>
                <a:gd name="T30" fmla="*/ 1251847 w 108"/>
                <a:gd name="T31" fmla="*/ 270 h 36"/>
                <a:gd name="T32" fmla="*/ 835171 w 108"/>
                <a:gd name="T33" fmla="*/ 263 h 36"/>
                <a:gd name="T34" fmla="*/ 546453 w 108"/>
                <a:gd name="T35" fmla="*/ 190 h 36"/>
                <a:gd name="T36" fmla="*/ 487319 w 108"/>
                <a:gd name="T37" fmla="*/ 140 h 36"/>
                <a:gd name="T38" fmla="*/ 297347 w 108"/>
                <a:gd name="T39" fmla="*/ 358 h 36"/>
                <a:gd name="T40" fmla="*/ 297347 w 108"/>
                <a:gd name="T41" fmla="*/ 0 h 36"/>
                <a:gd name="T42" fmla="*/ 0 w 108"/>
                <a:gd name="T43" fmla="*/ 0 h 36"/>
                <a:gd name="T44" fmla="*/ 56629 w 108"/>
                <a:gd name="T45" fmla="*/ 231 h 36"/>
                <a:gd name="T46" fmla="*/ 297347 w 108"/>
                <a:gd name="T47" fmla="*/ 0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
                <a:gd name="T73" fmla="*/ 0 h 36"/>
                <a:gd name="T74" fmla="*/ 108 w 108"/>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 h="36">
                  <a:moveTo>
                    <a:pt x="9" y="0"/>
                  </a:moveTo>
                  <a:lnTo>
                    <a:pt x="2" y="9"/>
                  </a:lnTo>
                  <a:lnTo>
                    <a:pt x="11" y="19"/>
                  </a:lnTo>
                  <a:lnTo>
                    <a:pt x="24" y="23"/>
                  </a:lnTo>
                  <a:lnTo>
                    <a:pt x="38" y="24"/>
                  </a:lnTo>
                  <a:lnTo>
                    <a:pt x="54" y="26"/>
                  </a:lnTo>
                  <a:lnTo>
                    <a:pt x="70" y="27"/>
                  </a:lnTo>
                  <a:lnTo>
                    <a:pt x="83" y="29"/>
                  </a:lnTo>
                  <a:lnTo>
                    <a:pt x="91" y="32"/>
                  </a:lnTo>
                  <a:lnTo>
                    <a:pt x="94" y="35"/>
                  </a:lnTo>
                  <a:lnTo>
                    <a:pt x="107" y="31"/>
                  </a:lnTo>
                  <a:lnTo>
                    <a:pt x="99" y="21"/>
                  </a:lnTo>
                  <a:lnTo>
                    <a:pt x="86" y="16"/>
                  </a:lnTo>
                  <a:lnTo>
                    <a:pt x="71" y="14"/>
                  </a:lnTo>
                  <a:lnTo>
                    <a:pt x="56" y="13"/>
                  </a:lnTo>
                  <a:lnTo>
                    <a:pt x="39" y="11"/>
                  </a:lnTo>
                  <a:lnTo>
                    <a:pt x="26" y="10"/>
                  </a:lnTo>
                  <a:lnTo>
                    <a:pt x="17" y="7"/>
                  </a:lnTo>
                  <a:lnTo>
                    <a:pt x="15" y="5"/>
                  </a:lnTo>
                  <a:lnTo>
                    <a:pt x="9" y="14"/>
                  </a:lnTo>
                  <a:lnTo>
                    <a:pt x="9" y="0"/>
                  </a:lnTo>
                  <a:lnTo>
                    <a:pt x="0" y="0"/>
                  </a:lnTo>
                  <a:lnTo>
                    <a:pt x="2" y="9"/>
                  </a:lnTo>
                  <a:lnTo>
                    <a:pt x="9" y="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6" name="Freeform 97">
              <a:extLst>
                <a:ext uri="{FF2B5EF4-FFF2-40B4-BE49-F238E27FC236}">
                  <a16:creationId xmlns:a16="http://schemas.microsoft.com/office/drawing/2014/main" id="{BEAEF0A6-39E9-DE54-B0A6-E33919F3788E}"/>
                </a:ext>
              </a:extLst>
            </p:cNvPr>
            <p:cNvSpPr>
              <a:spLocks/>
            </p:cNvSpPr>
            <p:nvPr/>
          </p:nvSpPr>
          <p:spPr bwMode="auto">
            <a:xfrm>
              <a:off x="1896" y="1918"/>
              <a:ext cx="28" cy="17"/>
            </a:xfrm>
            <a:custGeom>
              <a:avLst/>
              <a:gdLst>
                <a:gd name="T0" fmla="*/ 0 w 17"/>
                <a:gd name="T1" fmla="*/ 113 h 15"/>
                <a:gd name="T2" fmla="*/ 261815 w 17"/>
                <a:gd name="T3" fmla="*/ 0 h 15"/>
                <a:gd name="T4" fmla="*/ 208753 w 17"/>
                <a:gd name="T5" fmla="*/ 0 h 15"/>
                <a:gd name="T6" fmla="*/ 208753 w 17"/>
                <a:gd name="T7" fmla="*/ 186 h 15"/>
                <a:gd name="T8" fmla="*/ 261815 w 17"/>
                <a:gd name="T9" fmla="*/ 186 h 15"/>
                <a:gd name="T10" fmla="*/ 462695 w 17"/>
                <a:gd name="T11" fmla="*/ 69 h 15"/>
                <a:gd name="T12" fmla="*/ 261815 w 17"/>
                <a:gd name="T13" fmla="*/ 186 h 15"/>
                <a:gd name="T14" fmla="*/ 566305 w 17"/>
                <a:gd name="T15" fmla="*/ 182 h 15"/>
                <a:gd name="T16" fmla="*/ 462695 w 17"/>
                <a:gd name="T17" fmla="*/ 69 h 15"/>
                <a:gd name="T18" fmla="*/ 0 w 17"/>
                <a:gd name="T19" fmla="*/ 113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5"/>
                <a:gd name="T32" fmla="*/ 17 w 17"/>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5">
                  <a:moveTo>
                    <a:pt x="0" y="9"/>
                  </a:moveTo>
                  <a:lnTo>
                    <a:pt x="7" y="0"/>
                  </a:lnTo>
                  <a:lnTo>
                    <a:pt x="6" y="0"/>
                  </a:lnTo>
                  <a:lnTo>
                    <a:pt x="6" y="14"/>
                  </a:lnTo>
                  <a:lnTo>
                    <a:pt x="7" y="14"/>
                  </a:lnTo>
                  <a:lnTo>
                    <a:pt x="13" y="5"/>
                  </a:lnTo>
                  <a:lnTo>
                    <a:pt x="7" y="14"/>
                  </a:lnTo>
                  <a:lnTo>
                    <a:pt x="16" y="13"/>
                  </a:lnTo>
                  <a:lnTo>
                    <a:pt x="13" y="5"/>
                  </a:lnTo>
                  <a:lnTo>
                    <a:pt x="0"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7" name="Freeform 98">
              <a:extLst>
                <a:ext uri="{FF2B5EF4-FFF2-40B4-BE49-F238E27FC236}">
                  <a16:creationId xmlns:a16="http://schemas.microsoft.com/office/drawing/2014/main" id="{75BEBBEF-2C27-ED29-A2C3-B5B80DB6B224}"/>
                </a:ext>
              </a:extLst>
            </p:cNvPr>
            <p:cNvSpPr>
              <a:spLocks/>
            </p:cNvSpPr>
            <p:nvPr/>
          </p:nvSpPr>
          <p:spPr bwMode="auto">
            <a:xfrm>
              <a:off x="1896" y="1856"/>
              <a:ext cx="137" cy="73"/>
            </a:xfrm>
            <a:custGeom>
              <a:avLst/>
              <a:gdLst>
                <a:gd name="T0" fmla="*/ 2566051 w 83"/>
                <a:gd name="T1" fmla="*/ 73 h 64"/>
                <a:gd name="T2" fmla="*/ 2519400 w 83"/>
                <a:gd name="T3" fmla="*/ 83 h 64"/>
                <a:gd name="T4" fmla="*/ 2289995 w 83"/>
                <a:gd name="T5" fmla="*/ 183 h 64"/>
                <a:gd name="T6" fmla="*/ 1894573 w 83"/>
                <a:gd name="T7" fmla="*/ 285 h 64"/>
                <a:gd name="T8" fmla="*/ 1423684 w 83"/>
                <a:gd name="T9" fmla="*/ 402 h 64"/>
                <a:gd name="T10" fmla="*/ 901473 w 83"/>
                <a:gd name="T11" fmla="*/ 518 h 64"/>
                <a:gd name="T12" fmla="*/ 446998 w 83"/>
                <a:gd name="T13" fmla="*/ 627 h 64"/>
                <a:gd name="T14" fmla="*/ 64690 w 83"/>
                <a:gd name="T15" fmla="*/ 792 h 64"/>
                <a:gd name="T16" fmla="*/ 0 w 83"/>
                <a:gd name="T17" fmla="*/ 1000 h 64"/>
                <a:gd name="T18" fmla="*/ 480180 w 83"/>
                <a:gd name="T19" fmla="*/ 931 h 64"/>
                <a:gd name="T20" fmla="*/ 522551 w 83"/>
                <a:gd name="T21" fmla="*/ 887 h 64"/>
                <a:gd name="T22" fmla="*/ 695387 w 83"/>
                <a:gd name="T23" fmla="*/ 811 h 64"/>
                <a:gd name="T24" fmla="*/ 1147807 w 83"/>
                <a:gd name="T25" fmla="*/ 694 h 64"/>
                <a:gd name="T26" fmla="*/ 1639289 w 83"/>
                <a:gd name="T27" fmla="*/ 591 h 64"/>
                <a:gd name="T28" fmla="*/ 2159391 w 83"/>
                <a:gd name="T29" fmla="*/ 459 h 64"/>
                <a:gd name="T30" fmla="*/ 2603804 w 83"/>
                <a:gd name="T31" fmla="*/ 325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1" y="44"/>
                  </a:lnTo>
                  <a:lnTo>
                    <a:pt x="44" y="37"/>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8" name="Freeform 99">
              <a:extLst>
                <a:ext uri="{FF2B5EF4-FFF2-40B4-BE49-F238E27FC236}">
                  <a16:creationId xmlns:a16="http://schemas.microsoft.com/office/drawing/2014/main" id="{07CFBCD7-F9B6-5901-2957-3161050F2573}"/>
                </a:ext>
              </a:extLst>
            </p:cNvPr>
            <p:cNvSpPr>
              <a:spLocks/>
            </p:cNvSpPr>
            <p:nvPr/>
          </p:nvSpPr>
          <p:spPr bwMode="auto">
            <a:xfrm>
              <a:off x="1859" y="1828"/>
              <a:ext cx="174" cy="34"/>
            </a:xfrm>
            <a:custGeom>
              <a:avLst/>
              <a:gdLst>
                <a:gd name="T0" fmla="*/ 0 w 105"/>
                <a:gd name="T1" fmla="*/ 121 h 29"/>
                <a:gd name="T2" fmla="*/ 320394 w 105"/>
                <a:gd name="T3" fmla="*/ 375 h 29"/>
                <a:gd name="T4" fmla="*/ 851120 w 105"/>
                <a:gd name="T5" fmla="*/ 516 h 29"/>
                <a:gd name="T6" fmla="*/ 1458024 w 105"/>
                <a:gd name="T7" fmla="*/ 592 h 29"/>
                <a:gd name="T8" fmla="*/ 2105818 w 105"/>
                <a:gd name="T9" fmla="*/ 592 h 29"/>
                <a:gd name="T10" fmla="*/ 2706298 w 105"/>
                <a:gd name="T11" fmla="*/ 605 h 29"/>
                <a:gd name="T12" fmla="*/ 3269143 w 105"/>
                <a:gd name="T13" fmla="*/ 691 h 29"/>
                <a:gd name="T14" fmla="*/ 3587389 w 105"/>
                <a:gd name="T15" fmla="*/ 709 h 29"/>
                <a:gd name="T16" fmla="*/ 3677016 w 105"/>
                <a:gd name="T17" fmla="*/ 810 h 29"/>
                <a:gd name="T18" fmla="*/ 4192184 w 105"/>
                <a:gd name="T19" fmla="*/ 694 h 29"/>
                <a:gd name="T20" fmla="*/ 3873205 w 105"/>
                <a:gd name="T21" fmla="*/ 431 h 29"/>
                <a:gd name="T22" fmla="*/ 3382020 w 105"/>
                <a:gd name="T23" fmla="*/ 314 h 29"/>
                <a:gd name="T24" fmla="*/ 2780749 w 105"/>
                <a:gd name="T25" fmla="*/ 268 h 29"/>
                <a:gd name="T26" fmla="*/ 2105818 w 105"/>
                <a:gd name="T27" fmla="*/ 229 h 29"/>
                <a:gd name="T28" fmla="*/ 1485145 w 105"/>
                <a:gd name="T29" fmla="*/ 229 h 29"/>
                <a:gd name="T30" fmla="*/ 970032 w 105"/>
                <a:gd name="T31" fmla="*/ 166 h 29"/>
                <a:gd name="T32" fmla="*/ 605611 w 105"/>
                <a:gd name="T33" fmla="*/ 2 h 29"/>
                <a:gd name="T34" fmla="*/ 530939 w 105"/>
                <a:gd name="T35" fmla="*/ 0 h 29"/>
                <a:gd name="T36" fmla="*/ 0 w 105"/>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1" y="19"/>
                  </a:lnTo>
                  <a:lnTo>
                    <a:pt x="36" y="21"/>
                  </a:lnTo>
                  <a:lnTo>
                    <a:pt x="52" y="21"/>
                  </a:lnTo>
                  <a:lnTo>
                    <a:pt x="67" y="22"/>
                  </a:lnTo>
                  <a:lnTo>
                    <a:pt x="81" y="24"/>
                  </a:lnTo>
                  <a:lnTo>
                    <a:pt x="89" y="26"/>
                  </a:lnTo>
                  <a:lnTo>
                    <a:pt x="91" y="28"/>
                  </a:lnTo>
                  <a:lnTo>
                    <a:pt x="104" y="25"/>
                  </a:lnTo>
                  <a:lnTo>
                    <a:pt x="96" y="15"/>
                  </a:lnTo>
                  <a:lnTo>
                    <a:pt x="84" y="11"/>
                  </a:lnTo>
                  <a:lnTo>
                    <a:pt x="69" y="9"/>
                  </a:lnTo>
                  <a:lnTo>
                    <a:pt x="52" y="8"/>
                  </a:lnTo>
                  <a:lnTo>
                    <a:pt x="37" y="8"/>
                  </a:lnTo>
                  <a:lnTo>
                    <a:pt x="24" y="6"/>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19" name="Freeform 100">
              <a:extLst>
                <a:ext uri="{FF2B5EF4-FFF2-40B4-BE49-F238E27FC236}">
                  <a16:creationId xmlns:a16="http://schemas.microsoft.com/office/drawing/2014/main" id="{187065D7-913C-79F1-64AE-810CF3BC4859}"/>
                </a:ext>
              </a:extLst>
            </p:cNvPr>
            <p:cNvSpPr>
              <a:spLocks/>
            </p:cNvSpPr>
            <p:nvPr/>
          </p:nvSpPr>
          <p:spPr bwMode="auto">
            <a:xfrm>
              <a:off x="1859" y="1762"/>
              <a:ext cx="136" cy="71"/>
            </a:xfrm>
            <a:custGeom>
              <a:avLst/>
              <a:gdLst>
                <a:gd name="T0" fmla="*/ 2793281 w 82"/>
                <a:gd name="T1" fmla="*/ 3 h 62"/>
                <a:gd name="T2" fmla="*/ 2751824 w 82"/>
                <a:gd name="T3" fmla="*/ 85 h 62"/>
                <a:gd name="T4" fmla="*/ 2559870 w 82"/>
                <a:gd name="T5" fmla="*/ 190 h 62"/>
                <a:gd name="T6" fmla="*/ 2110216 w 82"/>
                <a:gd name="T7" fmla="*/ 286 h 62"/>
                <a:gd name="T8" fmla="*/ 1518070 w 82"/>
                <a:gd name="T9" fmla="*/ 416 h 62"/>
                <a:gd name="T10" fmla="*/ 984142 w 82"/>
                <a:gd name="T11" fmla="*/ 545 h 62"/>
                <a:gd name="T12" fmla="*/ 452635 w 82"/>
                <a:gd name="T13" fmla="*/ 648 h 62"/>
                <a:gd name="T14" fmla="*/ 71808 w 82"/>
                <a:gd name="T15" fmla="*/ 831 h 62"/>
                <a:gd name="T16" fmla="*/ 0 w 82"/>
                <a:gd name="T17" fmla="*/ 1046 h 62"/>
                <a:gd name="T18" fmla="*/ 543340 w 82"/>
                <a:gd name="T19" fmla="*/ 973 h 62"/>
                <a:gd name="T20" fmla="*/ 543340 w 82"/>
                <a:gd name="T21" fmla="*/ 952 h 62"/>
                <a:gd name="T22" fmla="*/ 792167 w 82"/>
                <a:gd name="T23" fmla="*/ 838 h 62"/>
                <a:gd name="T24" fmla="*/ 1245083 w 82"/>
                <a:gd name="T25" fmla="*/ 726 h 62"/>
                <a:gd name="T26" fmla="*/ 1767504 w 82"/>
                <a:gd name="T27" fmla="*/ 608 h 62"/>
                <a:gd name="T28" fmla="*/ 2364446 w 82"/>
                <a:gd name="T29" fmla="*/ 494 h 62"/>
                <a:gd name="T30" fmla="*/ 2821559 w 82"/>
                <a:gd name="T31" fmla="*/ 363 h 62"/>
                <a:gd name="T32" fmla="*/ 3244615 w 82"/>
                <a:gd name="T33" fmla="*/ 218 h 62"/>
                <a:gd name="T34" fmla="*/ 3316748 w 82"/>
                <a:gd name="T35" fmla="*/ 0 h 62"/>
                <a:gd name="T36" fmla="*/ 2793281 w 82"/>
                <a:gd name="T37" fmla="*/ 3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2"/>
                <a:gd name="T59" fmla="*/ 82 w 82"/>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2">
                  <a:moveTo>
                    <a:pt x="68" y="3"/>
                  </a:moveTo>
                  <a:lnTo>
                    <a:pt x="67" y="5"/>
                  </a:lnTo>
                  <a:lnTo>
                    <a:pt x="62" y="11"/>
                  </a:lnTo>
                  <a:lnTo>
                    <a:pt x="51" y="17"/>
                  </a:lnTo>
                  <a:lnTo>
                    <a:pt x="37" y="24"/>
                  </a:lnTo>
                  <a:lnTo>
                    <a:pt x="24" y="31"/>
                  </a:lnTo>
                  <a:lnTo>
                    <a:pt x="11" y="38"/>
                  </a:lnTo>
                  <a:lnTo>
                    <a:pt x="2" y="48"/>
                  </a:lnTo>
                  <a:lnTo>
                    <a:pt x="0" y="61"/>
                  </a:lnTo>
                  <a:lnTo>
                    <a:pt x="13" y="57"/>
                  </a:lnTo>
                  <a:lnTo>
                    <a:pt x="13" y="55"/>
                  </a:lnTo>
                  <a:lnTo>
                    <a:pt x="19" y="49"/>
                  </a:lnTo>
                  <a:lnTo>
                    <a:pt x="30" y="42"/>
                  </a:lnTo>
                  <a:lnTo>
                    <a:pt x="43" y="35"/>
                  </a:lnTo>
                  <a:lnTo>
                    <a:pt x="57" y="29"/>
                  </a:lnTo>
                  <a:lnTo>
                    <a:pt x="69" y="21"/>
                  </a:lnTo>
                  <a:lnTo>
                    <a:pt x="79" y="13"/>
                  </a:lnTo>
                  <a:lnTo>
                    <a:pt x="81" y="0"/>
                  </a:lnTo>
                  <a:lnTo>
                    <a:pt x="68"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0" name="Freeform 101">
              <a:extLst>
                <a:ext uri="{FF2B5EF4-FFF2-40B4-BE49-F238E27FC236}">
                  <a16:creationId xmlns:a16="http://schemas.microsoft.com/office/drawing/2014/main" id="{AEE5E460-C30F-B227-8436-A911FDF5C709}"/>
                </a:ext>
              </a:extLst>
            </p:cNvPr>
            <p:cNvSpPr>
              <a:spLocks/>
            </p:cNvSpPr>
            <p:nvPr/>
          </p:nvSpPr>
          <p:spPr bwMode="auto">
            <a:xfrm>
              <a:off x="1823" y="1738"/>
              <a:ext cx="172" cy="29"/>
            </a:xfrm>
            <a:custGeom>
              <a:avLst/>
              <a:gdLst>
                <a:gd name="T0" fmla="*/ 0 w 104"/>
                <a:gd name="T1" fmla="*/ 101 h 25"/>
                <a:gd name="T2" fmla="*/ 310460 w 104"/>
                <a:gd name="T3" fmla="*/ 291 h 25"/>
                <a:gd name="T4" fmla="*/ 823227 w 104"/>
                <a:gd name="T5" fmla="*/ 338 h 25"/>
                <a:gd name="T6" fmla="*/ 1404400 w 104"/>
                <a:gd name="T7" fmla="*/ 384 h 25"/>
                <a:gd name="T8" fmla="*/ 1967544 w 104"/>
                <a:gd name="T9" fmla="*/ 384 h 25"/>
                <a:gd name="T10" fmla="*/ 2552581 w 104"/>
                <a:gd name="T11" fmla="*/ 392 h 25"/>
                <a:gd name="T12" fmla="*/ 3091373 w 104"/>
                <a:gd name="T13" fmla="*/ 445 h 25"/>
                <a:gd name="T14" fmla="*/ 3421168 w 104"/>
                <a:gd name="T15" fmla="*/ 516 h 25"/>
                <a:gd name="T16" fmla="*/ 3487763 w 104"/>
                <a:gd name="T17" fmla="*/ 530 h 25"/>
                <a:gd name="T18" fmla="*/ 3985470 w 104"/>
                <a:gd name="T19" fmla="*/ 455 h 25"/>
                <a:gd name="T20" fmla="*/ 3684152 w 104"/>
                <a:gd name="T21" fmla="*/ 246 h 25"/>
                <a:gd name="T22" fmla="*/ 3186115 w 104"/>
                <a:gd name="T23" fmla="*/ 136 h 25"/>
                <a:gd name="T24" fmla="*/ 2606496 w 104"/>
                <a:gd name="T25" fmla="*/ 101 h 25"/>
                <a:gd name="T26" fmla="*/ 1967544 w 104"/>
                <a:gd name="T27" fmla="*/ 3 h 25"/>
                <a:gd name="T28" fmla="*/ 1404400 w 104"/>
                <a:gd name="T29" fmla="*/ 3 h 25"/>
                <a:gd name="T30" fmla="*/ 849172 w 104"/>
                <a:gd name="T31" fmla="*/ 2 h 25"/>
                <a:gd name="T32" fmla="*/ 513453 w 104"/>
                <a:gd name="T33" fmla="*/ 0 h 25"/>
                <a:gd name="T34" fmla="*/ 0 w 104"/>
                <a:gd name="T35" fmla="*/ 101 h 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4"/>
                <a:gd name="T55" fmla="*/ 0 h 25"/>
                <a:gd name="T56" fmla="*/ 104 w 104"/>
                <a:gd name="T57" fmla="*/ 25 h 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4" h="25">
                  <a:moveTo>
                    <a:pt x="0" y="4"/>
                  </a:moveTo>
                  <a:lnTo>
                    <a:pt x="8" y="13"/>
                  </a:lnTo>
                  <a:lnTo>
                    <a:pt x="21" y="15"/>
                  </a:lnTo>
                  <a:lnTo>
                    <a:pt x="36" y="16"/>
                  </a:lnTo>
                  <a:lnTo>
                    <a:pt x="51" y="16"/>
                  </a:lnTo>
                  <a:lnTo>
                    <a:pt x="66" y="17"/>
                  </a:lnTo>
                  <a:lnTo>
                    <a:pt x="80" y="19"/>
                  </a:lnTo>
                  <a:lnTo>
                    <a:pt x="88" y="22"/>
                  </a:lnTo>
                  <a:lnTo>
                    <a:pt x="90" y="24"/>
                  </a:lnTo>
                  <a:lnTo>
                    <a:pt x="103" y="20"/>
                  </a:lnTo>
                  <a:lnTo>
                    <a:pt x="95" y="10"/>
                  </a:lnTo>
                  <a:lnTo>
                    <a:pt x="82" y="6"/>
                  </a:lnTo>
                  <a:lnTo>
                    <a:pt x="67" y="4"/>
                  </a:lnTo>
                  <a:lnTo>
                    <a:pt x="51" y="3"/>
                  </a:lnTo>
                  <a:lnTo>
                    <a:pt x="36" y="3"/>
                  </a:lnTo>
                  <a:lnTo>
                    <a:pt x="22"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1" name="Freeform 102">
              <a:extLst>
                <a:ext uri="{FF2B5EF4-FFF2-40B4-BE49-F238E27FC236}">
                  <a16:creationId xmlns:a16="http://schemas.microsoft.com/office/drawing/2014/main" id="{AC14A513-6738-823C-F96F-29043524A2CF}"/>
                </a:ext>
              </a:extLst>
            </p:cNvPr>
            <p:cNvSpPr>
              <a:spLocks/>
            </p:cNvSpPr>
            <p:nvPr/>
          </p:nvSpPr>
          <p:spPr bwMode="auto">
            <a:xfrm>
              <a:off x="1821" y="1736"/>
              <a:ext cx="25" cy="8"/>
            </a:xfrm>
            <a:custGeom>
              <a:avLst/>
              <a:gdLst>
                <a:gd name="T0" fmla="*/ 0 w 15"/>
                <a:gd name="T1" fmla="*/ 73 h 7"/>
                <a:gd name="T2" fmla="*/ 47430 w 15"/>
                <a:gd name="T3" fmla="*/ 95 h 7"/>
                <a:gd name="T4" fmla="*/ 621467 w 15"/>
                <a:gd name="T5" fmla="*/ 2 h 7"/>
                <a:gd name="T6" fmla="*/ 609953 w 15"/>
                <a:gd name="T7" fmla="*/ 0 h 7"/>
                <a:gd name="T8" fmla="*/ 0 w 15"/>
                <a:gd name="T9" fmla="*/ 73 h 7"/>
                <a:gd name="T10" fmla="*/ 0 60000 65536"/>
                <a:gd name="T11" fmla="*/ 0 60000 65536"/>
                <a:gd name="T12" fmla="*/ 0 60000 65536"/>
                <a:gd name="T13" fmla="*/ 0 60000 65536"/>
                <a:gd name="T14" fmla="*/ 0 60000 65536"/>
                <a:gd name="T15" fmla="*/ 0 w 15"/>
                <a:gd name="T16" fmla="*/ 0 h 7"/>
                <a:gd name="T17" fmla="*/ 15 w 15"/>
                <a:gd name="T18" fmla="*/ 7 h 7"/>
              </a:gdLst>
              <a:ahLst/>
              <a:cxnLst>
                <a:cxn ang="T10">
                  <a:pos x="T0" y="T1"/>
                </a:cxn>
                <a:cxn ang="T11">
                  <a:pos x="T2" y="T3"/>
                </a:cxn>
                <a:cxn ang="T12">
                  <a:pos x="T4" y="T5"/>
                </a:cxn>
                <a:cxn ang="T13">
                  <a:pos x="T6" y="T7"/>
                </a:cxn>
                <a:cxn ang="T14">
                  <a:pos x="T8" y="T9"/>
                </a:cxn>
              </a:cxnLst>
              <a:rect l="T15" t="T16" r="T17" b="T18"/>
              <a:pathLst>
                <a:path w="15" h="7">
                  <a:moveTo>
                    <a:pt x="0" y="4"/>
                  </a:moveTo>
                  <a:lnTo>
                    <a:pt x="1" y="6"/>
                  </a:lnTo>
                  <a:lnTo>
                    <a:pt x="14"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2" name="Freeform 103">
              <a:extLst>
                <a:ext uri="{FF2B5EF4-FFF2-40B4-BE49-F238E27FC236}">
                  <a16:creationId xmlns:a16="http://schemas.microsoft.com/office/drawing/2014/main" id="{EB0F8095-2C02-35A0-F2A3-5ADF3A0D2A75}"/>
                </a:ext>
              </a:extLst>
            </p:cNvPr>
            <p:cNvSpPr>
              <a:spLocks/>
            </p:cNvSpPr>
            <p:nvPr/>
          </p:nvSpPr>
          <p:spPr bwMode="auto">
            <a:xfrm>
              <a:off x="1821" y="1669"/>
              <a:ext cx="137" cy="73"/>
            </a:xfrm>
            <a:custGeom>
              <a:avLst/>
              <a:gdLst>
                <a:gd name="T0" fmla="*/ 2566051 w 83"/>
                <a:gd name="T1" fmla="*/ 94 h 63"/>
                <a:gd name="T2" fmla="*/ 2519400 w 83"/>
                <a:gd name="T3" fmla="*/ 146 h 63"/>
                <a:gd name="T4" fmla="*/ 2289995 w 83"/>
                <a:gd name="T5" fmla="*/ 263 h 63"/>
                <a:gd name="T6" fmla="*/ 1933123 w 83"/>
                <a:gd name="T7" fmla="*/ 409 h 63"/>
                <a:gd name="T8" fmla="*/ 1423684 w 83"/>
                <a:gd name="T9" fmla="*/ 594 h 63"/>
                <a:gd name="T10" fmla="*/ 901473 w 83"/>
                <a:gd name="T11" fmla="*/ 732 h 63"/>
                <a:gd name="T12" fmla="*/ 446998 w 83"/>
                <a:gd name="T13" fmla="*/ 924 h 63"/>
                <a:gd name="T14" fmla="*/ 106777 w 83"/>
                <a:gd name="T15" fmla="*/ 1078 h 63"/>
                <a:gd name="T16" fmla="*/ 0 w 83"/>
                <a:gd name="T17" fmla="*/ 1362 h 63"/>
                <a:gd name="T18" fmla="*/ 480180 w 83"/>
                <a:gd name="T19" fmla="*/ 1283 h 63"/>
                <a:gd name="T20" fmla="*/ 522551 w 83"/>
                <a:gd name="T21" fmla="*/ 1249 h 63"/>
                <a:gd name="T22" fmla="*/ 737816 w 83"/>
                <a:gd name="T23" fmla="*/ 1139 h 63"/>
                <a:gd name="T24" fmla="*/ 1147807 w 83"/>
                <a:gd name="T25" fmla="*/ 990 h 63"/>
                <a:gd name="T26" fmla="*/ 1664712 w 83"/>
                <a:gd name="T27" fmla="*/ 848 h 63"/>
                <a:gd name="T28" fmla="*/ 2185282 w 83"/>
                <a:gd name="T29" fmla="*/ 693 h 63"/>
                <a:gd name="T30" fmla="*/ 264081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7"/>
                  </a:lnTo>
                  <a:lnTo>
                    <a:pt x="62" y="12"/>
                  </a:lnTo>
                  <a:lnTo>
                    <a:pt x="52" y="19"/>
                  </a:lnTo>
                  <a:lnTo>
                    <a:pt x="38" y="26"/>
                  </a:lnTo>
                  <a:lnTo>
                    <a:pt x="24" y="33"/>
                  </a:lnTo>
                  <a:lnTo>
                    <a:pt x="12" y="41"/>
                  </a:lnTo>
                  <a:lnTo>
                    <a:pt x="3" y="49"/>
                  </a:lnTo>
                  <a:lnTo>
                    <a:pt x="0" y="62"/>
                  </a:lnTo>
                  <a:lnTo>
                    <a:pt x="13" y="58"/>
                  </a:lnTo>
                  <a:lnTo>
                    <a:pt x="14" y="57"/>
                  </a:lnTo>
                  <a:lnTo>
                    <a:pt x="20" y="51"/>
                  </a:lnTo>
                  <a:lnTo>
                    <a:pt x="31" y="45"/>
                  </a:lnTo>
                  <a:lnTo>
                    <a:pt x="45" y="38"/>
                  </a:lnTo>
                  <a:lnTo>
                    <a:pt x="59" y="31"/>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3" name="Freeform 104">
              <a:extLst>
                <a:ext uri="{FF2B5EF4-FFF2-40B4-BE49-F238E27FC236}">
                  <a16:creationId xmlns:a16="http://schemas.microsoft.com/office/drawing/2014/main" id="{298E1046-6C04-684A-61CB-3FA12F9D72A5}"/>
                </a:ext>
              </a:extLst>
            </p:cNvPr>
            <p:cNvSpPr>
              <a:spLocks/>
            </p:cNvSpPr>
            <p:nvPr/>
          </p:nvSpPr>
          <p:spPr bwMode="auto">
            <a:xfrm>
              <a:off x="1783" y="1641"/>
              <a:ext cx="175" cy="35"/>
            </a:xfrm>
            <a:custGeom>
              <a:avLst/>
              <a:gdLst>
                <a:gd name="T0" fmla="*/ 0 w 106"/>
                <a:gd name="T1" fmla="*/ 120 h 30"/>
                <a:gd name="T2" fmla="*/ 341111 w 106"/>
                <a:gd name="T3" fmla="*/ 358 h 30"/>
                <a:gd name="T4" fmla="*/ 795449 w 106"/>
                <a:gd name="T5" fmla="*/ 429 h 30"/>
                <a:gd name="T6" fmla="*/ 1328805 w 106"/>
                <a:gd name="T7" fmla="*/ 488 h 30"/>
                <a:gd name="T8" fmla="*/ 1941196 w 106"/>
                <a:gd name="T9" fmla="*/ 501 h 30"/>
                <a:gd name="T10" fmla="*/ 2534104 w 106"/>
                <a:gd name="T11" fmla="*/ 560 h 30"/>
                <a:gd name="T12" fmla="*/ 3033331 w 106"/>
                <a:gd name="T13" fmla="*/ 585 h 30"/>
                <a:gd name="T14" fmla="*/ 3328313 w 106"/>
                <a:gd name="T15" fmla="*/ 664 h 30"/>
                <a:gd name="T16" fmla="*/ 3435385 w 106"/>
                <a:gd name="T17" fmla="*/ 762 h 30"/>
                <a:gd name="T18" fmla="*/ 3917132 w 106"/>
                <a:gd name="T19" fmla="*/ 653 h 30"/>
                <a:gd name="T20" fmla="*/ 3621810 w 106"/>
                <a:gd name="T21" fmla="*/ 358 h 30"/>
                <a:gd name="T22" fmla="*/ 3097518 w 106"/>
                <a:gd name="T23" fmla="*/ 263 h 30"/>
                <a:gd name="T24" fmla="*/ 2573651 w 106"/>
                <a:gd name="T25" fmla="*/ 222 h 30"/>
                <a:gd name="T26" fmla="*/ 1984779 w 106"/>
                <a:gd name="T27" fmla="*/ 190 h 30"/>
                <a:gd name="T28" fmla="*/ 1389091 w 106"/>
                <a:gd name="T29" fmla="*/ 163 h 30"/>
                <a:gd name="T30" fmla="*/ 904506 w 106"/>
                <a:gd name="T31" fmla="*/ 140 h 30"/>
                <a:gd name="T32" fmla="*/ 563155 w 106"/>
                <a:gd name="T33" fmla="*/ 2 h 30"/>
                <a:gd name="T34" fmla="*/ 481815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9" y="14"/>
                  </a:lnTo>
                  <a:lnTo>
                    <a:pt x="21" y="17"/>
                  </a:lnTo>
                  <a:lnTo>
                    <a:pt x="36" y="19"/>
                  </a:lnTo>
                  <a:lnTo>
                    <a:pt x="52" y="20"/>
                  </a:lnTo>
                  <a:lnTo>
                    <a:pt x="68" y="21"/>
                  </a:lnTo>
                  <a:lnTo>
                    <a:pt x="81" y="23"/>
                  </a:lnTo>
                  <a:lnTo>
                    <a:pt x="89" y="26"/>
                  </a:lnTo>
                  <a:lnTo>
                    <a:pt x="92" y="29"/>
                  </a:lnTo>
                  <a:lnTo>
                    <a:pt x="105" y="25"/>
                  </a:lnTo>
                  <a:lnTo>
                    <a:pt x="97" y="14"/>
                  </a:lnTo>
                  <a:lnTo>
                    <a:pt x="83" y="10"/>
                  </a:lnTo>
                  <a:lnTo>
                    <a:pt x="69" y="8"/>
                  </a:lnTo>
                  <a:lnTo>
                    <a:pt x="53" y="7"/>
                  </a:lnTo>
                  <a:lnTo>
                    <a:pt x="37" y="6"/>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4" name="Freeform 105">
              <a:extLst>
                <a:ext uri="{FF2B5EF4-FFF2-40B4-BE49-F238E27FC236}">
                  <a16:creationId xmlns:a16="http://schemas.microsoft.com/office/drawing/2014/main" id="{81874169-0545-CFE3-6870-016A1E9FD299}"/>
                </a:ext>
              </a:extLst>
            </p:cNvPr>
            <p:cNvSpPr>
              <a:spLocks/>
            </p:cNvSpPr>
            <p:nvPr/>
          </p:nvSpPr>
          <p:spPr bwMode="auto">
            <a:xfrm>
              <a:off x="1783" y="1574"/>
              <a:ext cx="137" cy="73"/>
            </a:xfrm>
            <a:custGeom>
              <a:avLst/>
              <a:gdLst>
                <a:gd name="T0" fmla="*/ 2566051 w 83"/>
                <a:gd name="T1" fmla="*/ 94 h 63"/>
                <a:gd name="T2" fmla="*/ 2519400 w 83"/>
                <a:gd name="T3" fmla="*/ 126 h 63"/>
                <a:gd name="T4" fmla="*/ 2289995 w 83"/>
                <a:gd name="T5" fmla="*/ 263 h 63"/>
                <a:gd name="T6" fmla="*/ 1894573 w 83"/>
                <a:gd name="T7" fmla="*/ 409 h 63"/>
                <a:gd name="T8" fmla="*/ 1385413 w 83"/>
                <a:gd name="T9" fmla="*/ 594 h 63"/>
                <a:gd name="T10" fmla="*/ 901473 w 83"/>
                <a:gd name="T11" fmla="*/ 732 h 63"/>
                <a:gd name="T12" fmla="*/ 416000 w 83"/>
                <a:gd name="T13" fmla="*/ 924 h 63"/>
                <a:gd name="T14" fmla="*/ 64690 w 83"/>
                <a:gd name="T15" fmla="*/ 1078 h 63"/>
                <a:gd name="T16" fmla="*/ 0 w 83"/>
                <a:gd name="T17" fmla="*/ 1362 h 63"/>
                <a:gd name="T18" fmla="*/ 480180 w 83"/>
                <a:gd name="T19" fmla="*/ 1283 h 63"/>
                <a:gd name="T20" fmla="*/ 480180 w 83"/>
                <a:gd name="T21" fmla="*/ 1249 h 63"/>
                <a:gd name="T22" fmla="*/ 695387 w 83"/>
                <a:gd name="T23" fmla="*/ 1139 h 63"/>
                <a:gd name="T24" fmla="*/ 1133388 w 83"/>
                <a:gd name="T25" fmla="*/ 990 h 63"/>
                <a:gd name="T26" fmla="*/ 1639289 w 83"/>
                <a:gd name="T27" fmla="*/ 848 h 63"/>
                <a:gd name="T28" fmla="*/ 2159391 w 83"/>
                <a:gd name="T29" fmla="*/ 693 h 63"/>
                <a:gd name="T30" fmla="*/ 260380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6"/>
                  </a:lnTo>
                  <a:lnTo>
                    <a:pt x="62" y="12"/>
                  </a:lnTo>
                  <a:lnTo>
                    <a:pt x="51" y="19"/>
                  </a:lnTo>
                  <a:lnTo>
                    <a:pt x="37" y="26"/>
                  </a:lnTo>
                  <a:lnTo>
                    <a:pt x="24" y="33"/>
                  </a:lnTo>
                  <a:lnTo>
                    <a:pt x="11" y="41"/>
                  </a:lnTo>
                  <a:lnTo>
                    <a:pt x="2" y="49"/>
                  </a:lnTo>
                  <a:lnTo>
                    <a:pt x="0" y="62"/>
                  </a:lnTo>
                  <a:lnTo>
                    <a:pt x="13" y="58"/>
                  </a:lnTo>
                  <a:lnTo>
                    <a:pt x="13" y="57"/>
                  </a:lnTo>
                  <a:lnTo>
                    <a:pt x="19" y="51"/>
                  </a:lnTo>
                  <a:lnTo>
                    <a:pt x="30"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5" name="Freeform 106">
              <a:extLst>
                <a:ext uri="{FF2B5EF4-FFF2-40B4-BE49-F238E27FC236}">
                  <a16:creationId xmlns:a16="http://schemas.microsoft.com/office/drawing/2014/main" id="{0B5BBC42-A39E-7996-8102-8AF8790556E5}"/>
                </a:ext>
              </a:extLst>
            </p:cNvPr>
            <p:cNvSpPr>
              <a:spLocks/>
            </p:cNvSpPr>
            <p:nvPr/>
          </p:nvSpPr>
          <p:spPr bwMode="auto">
            <a:xfrm>
              <a:off x="1746" y="1545"/>
              <a:ext cx="174" cy="35"/>
            </a:xfrm>
            <a:custGeom>
              <a:avLst/>
              <a:gdLst>
                <a:gd name="T0" fmla="*/ 0 w 106"/>
                <a:gd name="T1" fmla="*/ 120 h 30"/>
                <a:gd name="T2" fmla="*/ 255808 w 106"/>
                <a:gd name="T3" fmla="*/ 358 h 30"/>
                <a:gd name="T4" fmla="*/ 689288 w 106"/>
                <a:gd name="T5" fmla="*/ 480 h 30"/>
                <a:gd name="T6" fmla="*/ 1189907 w 106"/>
                <a:gd name="T7" fmla="*/ 501 h 30"/>
                <a:gd name="T8" fmla="*/ 1701429 w 106"/>
                <a:gd name="T9" fmla="*/ 501 h 30"/>
                <a:gd name="T10" fmla="*/ 2261872 w 106"/>
                <a:gd name="T11" fmla="*/ 569 h 30"/>
                <a:gd name="T12" fmla="*/ 2681420 w 106"/>
                <a:gd name="T13" fmla="*/ 585 h 30"/>
                <a:gd name="T14" fmla="*/ 2950607 w 106"/>
                <a:gd name="T15" fmla="*/ 664 h 30"/>
                <a:gd name="T16" fmla="*/ 3048815 w 106"/>
                <a:gd name="T17" fmla="*/ 762 h 30"/>
                <a:gd name="T18" fmla="*/ 3468237 w 106"/>
                <a:gd name="T19" fmla="*/ 653 h 30"/>
                <a:gd name="T20" fmla="*/ 3206268 w 106"/>
                <a:gd name="T21" fmla="*/ 411 h 30"/>
                <a:gd name="T22" fmla="*/ 2742357 w 106"/>
                <a:gd name="T23" fmla="*/ 263 h 30"/>
                <a:gd name="T24" fmla="*/ 2274976 w 106"/>
                <a:gd name="T25" fmla="*/ 259 h 30"/>
                <a:gd name="T26" fmla="*/ 1762354 w 106"/>
                <a:gd name="T27" fmla="*/ 190 h 30"/>
                <a:gd name="T28" fmla="*/ 1229571 w 106"/>
                <a:gd name="T29" fmla="*/ 190 h 30"/>
                <a:gd name="T30" fmla="*/ 761928 w 106"/>
                <a:gd name="T31" fmla="*/ 140 h 30"/>
                <a:gd name="T32" fmla="*/ 503423 w 106"/>
                <a:gd name="T33" fmla="*/ 2 h 30"/>
                <a:gd name="T34" fmla="*/ 419911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1" y="20"/>
                  </a:lnTo>
                  <a:lnTo>
                    <a:pt x="68" y="22"/>
                  </a:lnTo>
                  <a:lnTo>
                    <a:pt x="81" y="23"/>
                  </a:lnTo>
                  <a:lnTo>
                    <a:pt x="89" y="26"/>
                  </a:lnTo>
                  <a:lnTo>
                    <a:pt x="92" y="29"/>
                  </a:lnTo>
                  <a:lnTo>
                    <a:pt x="105" y="25"/>
                  </a:lnTo>
                  <a:lnTo>
                    <a:pt x="97" y="15"/>
                  </a:lnTo>
                  <a:lnTo>
                    <a:pt x="83" y="10"/>
                  </a:lnTo>
                  <a:lnTo>
                    <a:pt x="69" y="9"/>
                  </a:lnTo>
                  <a:lnTo>
                    <a:pt x="53" y="7"/>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6" name="Freeform 107">
              <a:extLst>
                <a:ext uri="{FF2B5EF4-FFF2-40B4-BE49-F238E27FC236}">
                  <a16:creationId xmlns:a16="http://schemas.microsoft.com/office/drawing/2014/main" id="{6AE9692C-0309-35A9-0108-E533AFF874FE}"/>
                </a:ext>
              </a:extLst>
            </p:cNvPr>
            <p:cNvSpPr>
              <a:spLocks/>
            </p:cNvSpPr>
            <p:nvPr/>
          </p:nvSpPr>
          <p:spPr bwMode="auto">
            <a:xfrm>
              <a:off x="1746" y="1484"/>
              <a:ext cx="138" cy="67"/>
            </a:xfrm>
            <a:custGeom>
              <a:avLst/>
              <a:gdLst>
                <a:gd name="T0" fmla="*/ 2353327 w 84"/>
                <a:gd name="T1" fmla="*/ 3 h 58"/>
                <a:gd name="T2" fmla="*/ 2325254 w 84"/>
                <a:gd name="T3" fmla="*/ 3 h 58"/>
                <a:gd name="T4" fmla="*/ 2114707 w 84"/>
                <a:gd name="T5" fmla="*/ 137 h 58"/>
                <a:gd name="T6" fmla="*/ 1748426 w 84"/>
                <a:gd name="T7" fmla="*/ 282 h 58"/>
                <a:gd name="T8" fmla="*/ 1244737 w 84"/>
                <a:gd name="T9" fmla="*/ 429 h 58"/>
                <a:gd name="T10" fmla="*/ 797119 w 84"/>
                <a:gd name="T11" fmla="*/ 573 h 58"/>
                <a:gd name="T12" fmla="*/ 368478 w 84"/>
                <a:gd name="T13" fmla="*/ 714 h 58"/>
                <a:gd name="T14" fmla="*/ 36728 w 84"/>
                <a:gd name="T15" fmla="*/ 917 h 58"/>
                <a:gd name="T16" fmla="*/ 0 w 84"/>
                <a:gd name="T17" fmla="*/ 1179 h 58"/>
                <a:gd name="T18" fmla="*/ 439537 w 84"/>
                <a:gd name="T19" fmla="*/ 1101 h 58"/>
                <a:gd name="T20" fmla="*/ 439537 w 84"/>
                <a:gd name="T21" fmla="*/ 1060 h 58"/>
                <a:gd name="T22" fmla="*/ 639367 w 84"/>
                <a:gd name="T23" fmla="*/ 953 h 58"/>
                <a:gd name="T24" fmla="*/ 994515 w 84"/>
                <a:gd name="T25" fmla="*/ 795 h 58"/>
                <a:gd name="T26" fmla="*/ 1476779 w 84"/>
                <a:gd name="T27" fmla="*/ 672 h 58"/>
                <a:gd name="T28" fmla="*/ 1948925 w 84"/>
                <a:gd name="T29" fmla="*/ 535 h 58"/>
                <a:gd name="T30" fmla="*/ 2353327 w 84"/>
                <a:gd name="T31" fmla="*/ 387 h 58"/>
                <a:gd name="T32" fmla="*/ 2676132 w 84"/>
                <a:gd name="T33" fmla="*/ 244 h 58"/>
                <a:gd name="T34" fmla="*/ 2779841 w 84"/>
                <a:gd name="T35" fmla="*/ 0 h 58"/>
                <a:gd name="T36" fmla="*/ 2353327 w 84"/>
                <a:gd name="T37" fmla="*/ 3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58"/>
                <a:gd name="T59" fmla="*/ 84 w 84"/>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58">
                  <a:moveTo>
                    <a:pt x="70" y="3"/>
                  </a:moveTo>
                  <a:lnTo>
                    <a:pt x="69" y="3"/>
                  </a:lnTo>
                  <a:lnTo>
                    <a:pt x="63" y="7"/>
                  </a:lnTo>
                  <a:lnTo>
                    <a:pt x="52" y="14"/>
                  </a:lnTo>
                  <a:lnTo>
                    <a:pt x="37" y="20"/>
                  </a:lnTo>
                  <a:lnTo>
                    <a:pt x="24" y="27"/>
                  </a:lnTo>
                  <a:lnTo>
                    <a:pt x="11" y="35"/>
                  </a:lnTo>
                  <a:lnTo>
                    <a:pt x="1" y="44"/>
                  </a:lnTo>
                  <a:lnTo>
                    <a:pt x="0" y="57"/>
                  </a:lnTo>
                  <a:lnTo>
                    <a:pt x="13" y="53"/>
                  </a:lnTo>
                  <a:lnTo>
                    <a:pt x="13" y="52"/>
                  </a:lnTo>
                  <a:lnTo>
                    <a:pt x="19" y="46"/>
                  </a:lnTo>
                  <a:lnTo>
                    <a:pt x="30" y="39"/>
                  </a:lnTo>
                  <a:lnTo>
                    <a:pt x="44" y="32"/>
                  </a:lnTo>
                  <a:lnTo>
                    <a:pt x="58" y="26"/>
                  </a:lnTo>
                  <a:lnTo>
                    <a:pt x="70" y="19"/>
                  </a:lnTo>
                  <a:lnTo>
                    <a:pt x="79" y="12"/>
                  </a:lnTo>
                  <a:lnTo>
                    <a:pt x="83" y="0"/>
                  </a:lnTo>
                  <a:lnTo>
                    <a:pt x="7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827" name="Freeform 108">
              <a:extLst>
                <a:ext uri="{FF2B5EF4-FFF2-40B4-BE49-F238E27FC236}">
                  <a16:creationId xmlns:a16="http://schemas.microsoft.com/office/drawing/2014/main" id="{E1B0B419-8DEF-470D-49A7-36858E442267}"/>
                </a:ext>
              </a:extLst>
            </p:cNvPr>
            <p:cNvSpPr>
              <a:spLocks/>
            </p:cNvSpPr>
            <p:nvPr/>
          </p:nvSpPr>
          <p:spPr bwMode="auto">
            <a:xfrm>
              <a:off x="2597" y="3600"/>
              <a:ext cx="116" cy="142"/>
            </a:xfrm>
            <a:custGeom>
              <a:avLst/>
              <a:gdLst>
                <a:gd name="T0" fmla="*/ 1607482 w 70"/>
                <a:gd name="T1" fmla="*/ 529 h 124"/>
                <a:gd name="T2" fmla="*/ 2755964 w 70"/>
                <a:gd name="T3" fmla="*/ 0 h 124"/>
                <a:gd name="T4" fmla="*/ 2780749 w 70"/>
                <a:gd name="T5" fmla="*/ 0 h 124"/>
                <a:gd name="T6" fmla="*/ 2529766 w 70"/>
                <a:gd name="T7" fmla="*/ 1074 h 124"/>
                <a:gd name="T8" fmla="*/ 2593430 w 70"/>
                <a:gd name="T9" fmla="*/ 1198 h 124"/>
                <a:gd name="T10" fmla="*/ 2593430 w 70"/>
                <a:gd name="T11" fmla="*/ 1328 h 124"/>
                <a:gd name="T12" fmla="*/ 2593430 w 70"/>
                <a:gd name="T13" fmla="*/ 1461 h 124"/>
                <a:gd name="T14" fmla="*/ 2636716 w 70"/>
                <a:gd name="T15" fmla="*/ 1614 h 124"/>
                <a:gd name="T16" fmla="*/ 2663827 w 70"/>
                <a:gd name="T17" fmla="*/ 1737 h 124"/>
                <a:gd name="T18" fmla="*/ 2663827 w 70"/>
                <a:gd name="T19" fmla="*/ 1873 h 124"/>
                <a:gd name="T20" fmla="*/ 2663827 w 70"/>
                <a:gd name="T21" fmla="*/ 1989 h 124"/>
                <a:gd name="T22" fmla="*/ 2706298 w 70"/>
                <a:gd name="T23" fmla="*/ 2116 h 124"/>
                <a:gd name="T24" fmla="*/ 2529766 w 70"/>
                <a:gd name="T25" fmla="*/ 2004 h 124"/>
                <a:gd name="T26" fmla="*/ 2416154 w 70"/>
                <a:gd name="T27" fmla="*/ 1891 h 124"/>
                <a:gd name="T28" fmla="*/ 2268645 w 70"/>
                <a:gd name="T29" fmla="*/ 1791 h 124"/>
                <a:gd name="T30" fmla="*/ 2150963 w 70"/>
                <a:gd name="T31" fmla="*/ 1651 h 124"/>
                <a:gd name="T32" fmla="*/ 1972759 w 70"/>
                <a:gd name="T33" fmla="*/ 1528 h 124"/>
                <a:gd name="T34" fmla="*/ 1820902 w 70"/>
                <a:gd name="T35" fmla="*/ 1439 h 124"/>
                <a:gd name="T36" fmla="*/ 1704144 w 70"/>
                <a:gd name="T37" fmla="*/ 1325 h 124"/>
                <a:gd name="T38" fmla="*/ 1526583 w 70"/>
                <a:gd name="T39" fmla="*/ 1193 h 124"/>
                <a:gd name="T40" fmla="*/ 0 w 70"/>
                <a:gd name="T41" fmla="*/ 363 h 124"/>
                <a:gd name="T42" fmla="*/ 0 w 70"/>
                <a:gd name="T43" fmla="*/ 328 h 124"/>
                <a:gd name="T44" fmla="*/ 1607482 w 70"/>
                <a:gd name="T45" fmla="*/ 529 h 12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0"/>
                <a:gd name="T70" fmla="*/ 0 h 124"/>
                <a:gd name="T71" fmla="*/ 70 w 70"/>
                <a:gd name="T72" fmla="*/ 124 h 12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0" h="124">
                  <a:moveTo>
                    <a:pt x="40" y="30"/>
                  </a:moveTo>
                  <a:lnTo>
                    <a:pt x="68" y="0"/>
                  </a:lnTo>
                  <a:lnTo>
                    <a:pt x="69" y="0"/>
                  </a:lnTo>
                  <a:lnTo>
                    <a:pt x="63" y="62"/>
                  </a:lnTo>
                  <a:lnTo>
                    <a:pt x="64" y="70"/>
                  </a:lnTo>
                  <a:lnTo>
                    <a:pt x="64" y="77"/>
                  </a:lnTo>
                  <a:lnTo>
                    <a:pt x="64" y="85"/>
                  </a:lnTo>
                  <a:lnTo>
                    <a:pt x="65" y="93"/>
                  </a:lnTo>
                  <a:lnTo>
                    <a:pt x="66" y="100"/>
                  </a:lnTo>
                  <a:lnTo>
                    <a:pt x="66" y="108"/>
                  </a:lnTo>
                  <a:lnTo>
                    <a:pt x="66" y="115"/>
                  </a:lnTo>
                  <a:lnTo>
                    <a:pt x="67" y="123"/>
                  </a:lnTo>
                  <a:lnTo>
                    <a:pt x="63" y="117"/>
                  </a:lnTo>
                  <a:lnTo>
                    <a:pt x="60" y="110"/>
                  </a:lnTo>
                  <a:lnTo>
                    <a:pt x="56" y="103"/>
                  </a:lnTo>
                  <a:lnTo>
                    <a:pt x="53" y="96"/>
                  </a:lnTo>
                  <a:lnTo>
                    <a:pt x="49" y="89"/>
                  </a:lnTo>
                  <a:lnTo>
                    <a:pt x="45" y="83"/>
                  </a:lnTo>
                  <a:lnTo>
                    <a:pt x="42" y="76"/>
                  </a:lnTo>
                  <a:lnTo>
                    <a:pt x="38" y="69"/>
                  </a:lnTo>
                  <a:lnTo>
                    <a:pt x="0" y="21"/>
                  </a:lnTo>
                  <a:lnTo>
                    <a:pt x="0" y="19"/>
                  </a:lnTo>
                  <a:lnTo>
                    <a:pt x="40" y="3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grpSp>
        <p:nvGrpSpPr>
          <p:cNvPr id="4" name="Group 109">
            <a:extLst>
              <a:ext uri="{FF2B5EF4-FFF2-40B4-BE49-F238E27FC236}">
                <a16:creationId xmlns:a16="http://schemas.microsoft.com/office/drawing/2014/main" id="{F65C03D8-FA91-2291-08C6-567CB2FE8D10}"/>
              </a:ext>
            </a:extLst>
          </p:cNvPr>
          <p:cNvGrpSpPr>
            <a:grpSpLocks/>
          </p:cNvGrpSpPr>
          <p:nvPr/>
        </p:nvGrpSpPr>
        <p:grpSpPr bwMode="auto">
          <a:xfrm>
            <a:off x="1992313" y="2576573"/>
            <a:ext cx="1220787" cy="3103563"/>
            <a:chOff x="1539" y="1464"/>
            <a:chExt cx="952" cy="2281"/>
          </a:xfrm>
        </p:grpSpPr>
        <p:sp>
          <p:nvSpPr>
            <p:cNvPr id="22716" name="Freeform 110">
              <a:extLst>
                <a:ext uri="{FF2B5EF4-FFF2-40B4-BE49-F238E27FC236}">
                  <a16:creationId xmlns:a16="http://schemas.microsoft.com/office/drawing/2014/main" id="{899B88FF-5889-8AB0-35DB-2FDA54617000}"/>
                </a:ext>
              </a:extLst>
            </p:cNvPr>
            <p:cNvSpPr>
              <a:spLocks/>
            </p:cNvSpPr>
            <p:nvPr/>
          </p:nvSpPr>
          <p:spPr bwMode="auto">
            <a:xfrm>
              <a:off x="2407" y="3534"/>
              <a:ext cx="78" cy="88"/>
            </a:xfrm>
            <a:custGeom>
              <a:avLst/>
              <a:gdLst>
                <a:gd name="T0" fmla="*/ 1379691 w 47"/>
                <a:gd name="T1" fmla="*/ 93 h 76"/>
                <a:gd name="T2" fmla="*/ 1379691 w 47"/>
                <a:gd name="T3" fmla="*/ 125 h 76"/>
                <a:gd name="T4" fmla="*/ 1285052 w 47"/>
                <a:gd name="T5" fmla="*/ 125 h 76"/>
                <a:gd name="T6" fmla="*/ 1007239 w 47"/>
                <a:gd name="T7" fmla="*/ 226 h 76"/>
                <a:gd name="T8" fmla="*/ 683071 w 47"/>
                <a:gd name="T9" fmla="*/ 303 h 76"/>
                <a:gd name="T10" fmla="*/ 301850 w 47"/>
                <a:gd name="T11" fmla="*/ 470 h 76"/>
                <a:gd name="T12" fmla="*/ 44208 w 47"/>
                <a:gd name="T13" fmla="*/ 729 h 76"/>
                <a:gd name="T14" fmla="*/ 0 w 47"/>
                <a:gd name="T15" fmla="*/ 1131 h 76"/>
                <a:gd name="T16" fmla="*/ 121756 w 47"/>
                <a:gd name="T17" fmla="*/ 1630 h 76"/>
                <a:gd name="T18" fmla="*/ 683071 w 47"/>
                <a:gd name="T19" fmla="*/ 1537 h 76"/>
                <a:gd name="T20" fmla="*/ 556520 w 47"/>
                <a:gd name="T21" fmla="*/ 1079 h 76"/>
                <a:gd name="T22" fmla="*/ 577434 w 47"/>
                <a:gd name="T23" fmla="*/ 819 h 76"/>
                <a:gd name="T24" fmla="*/ 758525 w 47"/>
                <a:gd name="T25" fmla="*/ 659 h 76"/>
                <a:gd name="T26" fmla="*/ 1007239 w 47"/>
                <a:gd name="T27" fmla="*/ 569 h 76"/>
                <a:gd name="T28" fmla="*/ 1285052 w 47"/>
                <a:gd name="T29" fmla="*/ 447 h 76"/>
                <a:gd name="T30" fmla="*/ 1590362 w 47"/>
                <a:gd name="T31" fmla="*/ 386 h 76"/>
                <a:gd name="T32" fmla="*/ 1907917 w 47"/>
                <a:gd name="T33" fmla="*/ 247 h 76"/>
                <a:gd name="T34" fmla="*/ 1907917 w 47"/>
                <a:gd name="T35" fmla="*/ 0 h 76"/>
                <a:gd name="T36" fmla="*/ 1379691 w 47"/>
                <a:gd name="T37" fmla="*/ 93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76"/>
                <a:gd name="T59" fmla="*/ 47 w 47"/>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76">
                  <a:moveTo>
                    <a:pt x="33" y="4"/>
                  </a:moveTo>
                  <a:lnTo>
                    <a:pt x="33" y="6"/>
                  </a:lnTo>
                  <a:lnTo>
                    <a:pt x="31" y="6"/>
                  </a:lnTo>
                  <a:lnTo>
                    <a:pt x="24" y="10"/>
                  </a:lnTo>
                  <a:lnTo>
                    <a:pt x="16" y="14"/>
                  </a:lnTo>
                  <a:lnTo>
                    <a:pt x="7" y="22"/>
                  </a:lnTo>
                  <a:lnTo>
                    <a:pt x="1" y="34"/>
                  </a:lnTo>
                  <a:lnTo>
                    <a:pt x="0" y="52"/>
                  </a:lnTo>
                  <a:lnTo>
                    <a:pt x="3" y="75"/>
                  </a:lnTo>
                  <a:lnTo>
                    <a:pt x="16" y="71"/>
                  </a:lnTo>
                  <a:lnTo>
                    <a:pt x="13" y="50"/>
                  </a:lnTo>
                  <a:lnTo>
                    <a:pt x="14" y="38"/>
                  </a:lnTo>
                  <a:lnTo>
                    <a:pt x="18" y="30"/>
                  </a:lnTo>
                  <a:lnTo>
                    <a:pt x="24" y="26"/>
                  </a:lnTo>
                  <a:lnTo>
                    <a:pt x="31" y="21"/>
                  </a:lnTo>
                  <a:lnTo>
                    <a:pt x="38" y="18"/>
                  </a:lnTo>
                  <a:lnTo>
                    <a:pt x="46" y="11"/>
                  </a:lnTo>
                  <a:lnTo>
                    <a:pt x="46" y="0"/>
                  </a:lnTo>
                  <a:lnTo>
                    <a:pt x="3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7" name="Freeform 111">
              <a:extLst>
                <a:ext uri="{FF2B5EF4-FFF2-40B4-BE49-F238E27FC236}">
                  <a16:creationId xmlns:a16="http://schemas.microsoft.com/office/drawing/2014/main" id="{11AD7CCD-0DF7-BC0E-C9CD-21C3B12CCC0E}"/>
                </a:ext>
              </a:extLst>
            </p:cNvPr>
            <p:cNvSpPr>
              <a:spLocks/>
            </p:cNvSpPr>
            <p:nvPr/>
          </p:nvSpPr>
          <p:spPr bwMode="auto">
            <a:xfrm>
              <a:off x="2311" y="3503"/>
              <a:ext cx="174" cy="37"/>
            </a:xfrm>
            <a:custGeom>
              <a:avLst/>
              <a:gdLst>
                <a:gd name="T0" fmla="*/ 0 w 105"/>
                <a:gd name="T1" fmla="*/ 93 h 32"/>
                <a:gd name="T2" fmla="*/ 320394 w 105"/>
                <a:gd name="T3" fmla="*/ 299 h 32"/>
                <a:gd name="T4" fmla="*/ 851120 w 105"/>
                <a:gd name="T5" fmla="*/ 383 h 32"/>
                <a:gd name="T6" fmla="*/ 1410427 w 105"/>
                <a:gd name="T7" fmla="*/ 435 h 32"/>
                <a:gd name="T8" fmla="*/ 2080606 w 105"/>
                <a:gd name="T9" fmla="*/ 463 h 32"/>
                <a:gd name="T10" fmla="*/ 2706298 w 105"/>
                <a:gd name="T11" fmla="*/ 503 h 32"/>
                <a:gd name="T12" fmla="*/ 3243486 w 105"/>
                <a:gd name="T13" fmla="*/ 535 h 32"/>
                <a:gd name="T14" fmla="*/ 3564453 w 105"/>
                <a:gd name="T15" fmla="*/ 592 h 32"/>
                <a:gd name="T16" fmla="*/ 3677016 w 105"/>
                <a:gd name="T17" fmla="*/ 673 h 32"/>
                <a:gd name="T18" fmla="*/ 4192184 w 105"/>
                <a:gd name="T19" fmla="*/ 582 h 32"/>
                <a:gd name="T20" fmla="*/ 3873205 w 105"/>
                <a:gd name="T21" fmla="*/ 346 h 32"/>
                <a:gd name="T22" fmla="*/ 3311643 w 105"/>
                <a:gd name="T23" fmla="*/ 259 h 32"/>
                <a:gd name="T24" fmla="*/ 2755964 w 105"/>
                <a:gd name="T25" fmla="*/ 224 h 32"/>
                <a:gd name="T26" fmla="*/ 2105818 w 105"/>
                <a:gd name="T27" fmla="*/ 194 h 32"/>
                <a:gd name="T28" fmla="*/ 1458024 w 105"/>
                <a:gd name="T29" fmla="*/ 145 h 32"/>
                <a:gd name="T30" fmla="*/ 921214 w 105"/>
                <a:gd name="T31" fmla="*/ 108 h 32"/>
                <a:gd name="T32" fmla="*/ 605611 w 105"/>
                <a:gd name="T33" fmla="*/ 2 h 32"/>
                <a:gd name="T34" fmla="*/ 530939 w 105"/>
                <a:gd name="T35" fmla="*/ 0 h 32"/>
                <a:gd name="T36" fmla="*/ 0 w 105"/>
                <a:gd name="T37" fmla="*/ 93 h 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2"/>
                <a:gd name="T59" fmla="*/ 105 w 105"/>
                <a:gd name="T60" fmla="*/ 32 h 3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2">
                  <a:moveTo>
                    <a:pt x="0" y="4"/>
                  </a:moveTo>
                  <a:lnTo>
                    <a:pt x="8" y="14"/>
                  </a:lnTo>
                  <a:lnTo>
                    <a:pt x="21" y="18"/>
                  </a:lnTo>
                  <a:lnTo>
                    <a:pt x="35" y="20"/>
                  </a:lnTo>
                  <a:lnTo>
                    <a:pt x="51" y="22"/>
                  </a:lnTo>
                  <a:lnTo>
                    <a:pt x="67" y="23"/>
                  </a:lnTo>
                  <a:lnTo>
                    <a:pt x="80" y="25"/>
                  </a:lnTo>
                  <a:lnTo>
                    <a:pt x="88" y="28"/>
                  </a:lnTo>
                  <a:lnTo>
                    <a:pt x="91" y="31"/>
                  </a:lnTo>
                  <a:lnTo>
                    <a:pt x="104" y="27"/>
                  </a:lnTo>
                  <a:lnTo>
                    <a:pt x="96" y="16"/>
                  </a:lnTo>
                  <a:lnTo>
                    <a:pt x="82" y="12"/>
                  </a:lnTo>
                  <a:lnTo>
                    <a:pt x="68" y="10"/>
                  </a:lnTo>
                  <a:lnTo>
                    <a:pt x="52" y="9"/>
                  </a:lnTo>
                  <a:lnTo>
                    <a:pt x="36"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8" name="Freeform 112">
              <a:extLst>
                <a:ext uri="{FF2B5EF4-FFF2-40B4-BE49-F238E27FC236}">
                  <a16:creationId xmlns:a16="http://schemas.microsoft.com/office/drawing/2014/main" id="{4DC711E6-1802-7D29-CC0D-F7230E3BB8AF}"/>
                </a:ext>
              </a:extLst>
            </p:cNvPr>
            <p:cNvSpPr>
              <a:spLocks/>
            </p:cNvSpPr>
            <p:nvPr/>
          </p:nvSpPr>
          <p:spPr bwMode="auto">
            <a:xfrm>
              <a:off x="2311" y="3503"/>
              <a:ext cx="24" cy="6"/>
            </a:xfrm>
            <a:custGeom>
              <a:avLst/>
              <a:gdLst>
                <a:gd name="T0" fmla="*/ 0 w 14"/>
                <a:gd name="T1" fmla="*/ 179 h 5"/>
                <a:gd name="T2" fmla="*/ 477204 w 14"/>
                <a:gd name="T3" fmla="*/ 2 h 5"/>
                <a:gd name="T4" fmla="*/ 1057803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9" name="Freeform 113">
              <a:extLst>
                <a:ext uri="{FF2B5EF4-FFF2-40B4-BE49-F238E27FC236}">
                  <a16:creationId xmlns:a16="http://schemas.microsoft.com/office/drawing/2014/main" id="{377B8928-A509-CCF0-41D6-DE24DD1E437F}"/>
                </a:ext>
              </a:extLst>
            </p:cNvPr>
            <p:cNvSpPr>
              <a:spLocks/>
            </p:cNvSpPr>
            <p:nvPr/>
          </p:nvSpPr>
          <p:spPr bwMode="auto">
            <a:xfrm>
              <a:off x="2311" y="3437"/>
              <a:ext cx="139" cy="72"/>
            </a:xfrm>
            <a:custGeom>
              <a:avLst/>
              <a:gdLst>
                <a:gd name="T0" fmla="*/ 2750315 w 84"/>
                <a:gd name="T1" fmla="*/ 73 h 63"/>
                <a:gd name="T2" fmla="*/ 2674282 w 84"/>
                <a:gd name="T3" fmla="*/ 83 h 63"/>
                <a:gd name="T4" fmla="*/ 2468110 w 84"/>
                <a:gd name="T5" fmla="*/ 186 h 63"/>
                <a:gd name="T6" fmla="*/ 2035863 w 84"/>
                <a:gd name="T7" fmla="*/ 278 h 63"/>
                <a:gd name="T8" fmla="*/ 1491520 w 84"/>
                <a:gd name="T9" fmla="*/ 394 h 63"/>
                <a:gd name="T10" fmla="*/ 941823 w 84"/>
                <a:gd name="T11" fmla="*/ 530 h 63"/>
                <a:gd name="T12" fmla="*/ 477822 w 84"/>
                <a:gd name="T13" fmla="*/ 637 h 63"/>
                <a:gd name="T14" fmla="*/ 68952 w 84"/>
                <a:gd name="T15" fmla="*/ 808 h 63"/>
                <a:gd name="T16" fmla="*/ 0 w 84"/>
                <a:gd name="T17" fmla="*/ 1032 h 63"/>
                <a:gd name="T18" fmla="*/ 516999 w 84"/>
                <a:gd name="T19" fmla="*/ 951 h 63"/>
                <a:gd name="T20" fmla="*/ 544701 w 84"/>
                <a:gd name="T21" fmla="*/ 923 h 63"/>
                <a:gd name="T22" fmla="*/ 790682 w 84"/>
                <a:gd name="T23" fmla="*/ 823 h 63"/>
                <a:gd name="T24" fmla="*/ 1203808 w 84"/>
                <a:gd name="T25" fmla="*/ 707 h 63"/>
                <a:gd name="T26" fmla="*/ 1732518 w 84"/>
                <a:gd name="T27" fmla="*/ 605 h 63"/>
                <a:gd name="T28" fmla="*/ 2275245 w 84"/>
                <a:gd name="T29" fmla="*/ 474 h 63"/>
                <a:gd name="T30" fmla="*/ 2750315 w 84"/>
                <a:gd name="T31" fmla="*/ 345 h 63"/>
                <a:gd name="T32" fmla="*/ 3123646 w 84"/>
                <a:gd name="T33" fmla="*/ 213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0" name="Freeform 114">
              <a:extLst>
                <a:ext uri="{FF2B5EF4-FFF2-40B4-BE49-F238E27FC236}">
                  <a16:creationId xmlns:a16="http://schemas.microsoft.com/office/drawing/2014/main" id="{D229DB2D-5639-3941-B353-5BD93C14E81E}"/>
                </a:ext>
              </a:extLst>
            </p:cNvPr>
            <p:cNvSpPr>
              <a:spLocks/>
            </p:cNvSpPr>
            <p:nvPr/>
          </p:nvSpPr>
          <p:spPr bwMode="auto">
            <a:xfrm>
              <a:off x="2274" y="3408"/>
              <a:ext cx="176" cy="34"/>
            </a:xfrm>
            <a:custGeom>
              <a:avLst/>
              <a:gdLst>
                <a:gd name="T0" fmla="*/ 0 w 107"/>
                <a:gd name="T1" fmla="*/ 61 h 30"/>
                <a:gd name="T2" fmla="*/ 272945 w 107"/>
                <a:gd name="T3" fmla="*/ 186 h 30"/>
                <a:gd name="T4" fmla="*/ 738470 w 107"/>
                <a:gd name="T5" fmla="*/ 264 h 30"/>
                <a:gd name="T6" fmla="*/ 1242572 w 107"/>
                <a:gd name="T7" fmla="*/ 298 h 30"/>
                <a:gd name="T8" fmla="*/ 1829721 w 107"/>
                <a:gd name="T9" fmla="*/ 298 h 30"/>
                <a:gd name="T10" fmla="*/ 2351955 w 107"/>
                <a:gd name="T11" fmla="*/ 299 h 30"/>
                <a:gd name="T12" fmla="*/ 2833329 w 107"/>
                <a:gd name="T13" fmla="*/ 338 h 30"/>
                <a:gd name="T14" fmla="*/ 3156192 w 107"/>
                <a:gd name="T15" fmla="*/ 383 h 30"/>
                <a:gd name="T16" fmla="*/ 3223782 w 107"/>
                <a:gd name="T17" fmla="*/ 394 h 30"/>
                <a:gd name="T18" fmla="*/ 3649694 w 107"/>
                <a:gd name="T19" fmla="*/ 339 h 30"/>
                <a:gd name="T20" fmla="*/ 3361858 w 107"/>
                <a:gd name="T21" fmla="*/ 206 h 30"/>
                <a:gd name="T22" fmla="*/ 2899460 w 107"/>
                <a:gd name="T23" fmla="*/ 145 h 30"/>
                <a:gd name="T24" fmla="*/ 2374059 w 107"/>
                <a:gd name="T25" fmla="*/ 113 h 30"/>
                <a:gd name="T26" fmla="*/ 1829721 w 107"/>
                <a:gd name="T27" fmla="*/ 100 h 30"/>
                <a:gd name="T28" fmla="*/ 1326479 w 107"/>
                <a:gd name="T29" fmla="*/ 100 h 30"/>
                <a:gd name="T30" fmla="*/ 818282 w 107"/>
                <a:gd name="T31" fmla="*/ 78 h 30"/>
                <a:gd name="T32" fmla="*/ 551648 w 107"/>
                <a:gd name="T33" fmla="*/ 3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9"/>
                  </a:lnTo>
                  <a:lnTo>
                    <a:pt x="36" y="21"/>
                  </a:lnTo>
                  <a:lnTo>
                    <a:pt x="53" y="21"/>
                  </a:lnTo>
                  <a:lnTo>
                    <a:pt x="68" y="22"/>
                  </a:lnTo>
                  <a:lnTo>
                    <a:pt x="82" y="24"/>
                  </a:lnTo>
                  <a:lnTo>
                    <a:pt x="91" y="27"/>
                  </a:lnTo>
                  <a:lnTo>
                    <a:pt x="93" y="29"/>
                  </a:lnTo>
                  <a:lnTo>
                    <a:pt x="106" y="25"/>
                  </a:lnTo>
                  <a:lnTo>
                    <a:pt x="97" y="15"/>
                  </a:lnTo>
                  <a:lnTo>
                    <a:pt x="84" y="11"/>
                  </a:lnTo>
                  <a:lnTo>
                    <a:pt x="69" y="9"/>
                  </a:lnTo>
                  <a:lnTo>
                    <a:pt x="53" y="8"/>
                  </a:lnTo>
                  <a:lnTo>
                    <a:pt x="38"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1" name="Freeform 115">
              <a:extLst>
                <a:ext uri="{FF2B5EF4-FFF2-40B4-BE49-F238E27FC236}">
                  <a16:creationId xmlns:a16="http://schemas.microsoft.com/office/drawing/2014/main" id="{FB90FC36-E717-EB6D-E4D0-19BFAAAD1D8F}"/>
                </a:ext>
              </a:extLst>
            </p:cNvPr>
            <p:cNvSpPr>
              <a:spLocks/>
            </p:cNvSpPr>
            <p:nvPr/>
          </p:nvSpPr>
          <p:spPr bwMode="auto">
            <a:xfrm>
              <a:off x="2274" y="3341"/>
              <a:ext cx="138" cy="72"/>
            </a:xfrm>
            <a:custGeom>
              <a:avLst/>
              <a:gdLst>
                <a:gd name="T0" fmla="*/ 2353327 w 84"/>
                <a:gd name="T1" fmla="*/ 73 h 63"/>
                <a:gd name="T2" fmla="*/ 2294899 w 84"/>
                <a:gd name="T3" fmla="*/ 83 h 63"/>
                <a:gd name="T4" fmla="*/ 2095021 w 84"/>
                <a:gd name="T5" fmla="*/ 186 h 63"/>
                <a:gd name="T6" fmla="*/ 1725639 w 84"/>
                <a:gd name="T7" fmla="*/ 302 h 63"/>
                <a:gd name="T8" fmla="*/ 1275230 w 84"/>
                <a:gd name="T9" fmla="*/ 394 h 63"/>
                <a:gd name="T10" fmla="*/ 797119 w 84"/>
                <a:gd name="T11" fmla="*/ 514 h 63"/>
                <a:gd name="T12" fmla="*/ 410755 w 84"/>
                <a:gd name="T13" fmla="*/ 637 h 63"/>
                <a:gd name="T14" fmla="*/ 60339 w 84"/>
                <a:gd name="T15" fmla="*/ 808 h 63"/>
                <a:gd name="T16" fmla="*/ 0 w 84"/>
                <a:gd name="T17" fmla="*/ 1032 h 63"/>
                <a:gd name="T18" fmla="*/ 439537 w 84"/>
                <a:gd name="T19" fmla="*/ 951 h 63"/>
                <a:gd name="T20" fmla="*/ 472486 w 84"/>
                <a:gd name="T21" fmla="*/ 905 h 63"/>
                <a:gd name="T22" fmla="*/ 639367 w 84"/>
                <a:gd name="T23" fmla="*/ 823 h 63"/>
                <a:gd name="T24" fmla="*/ 1050389 w 84"/>
                <a:gd name="T25" fmla="*/ 707 h 63"/>
                <a:gd name="T26" fmla="*/ 1476779 w 84"/>
                <a:gd name="T27" fmla="*/ 605 h 63"/>
                <a:gd name="T28" fmla="*/ 1948925 w 84"/>
                <a:gd name="T29" fmla="*/ 474 h 63"/>
                <a:gd name="T30" fmla="*/ 2353327 w 84"/>
                <a:gd name="T31" fmla="*/ 363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2" y="11"/>
                  </a:lnTo>
                  <a:lnTo>
                    <a:pt x="51" y="18"/>
                  </a:lnTo>
                  <a:lnTo>
                    <a:pt x="38" y="24"/>
                  </a:lnTo>
                  <a:lnTo>
                    <a:pt x="24" y="31"/>
                  </a:lnTo>
                  <a:lnTo>
                    <a:pt x="12" y="39"/>
                  </a:lnTo>
                  <a:lnTo>
                    <a:pt x="2" y="49"/>
                  </a:lnTo>
                  <a:lnTo>
                    <a:pt x="0" y="62"/>
                  </a:lnTo>
                  <a:lnTo>
                    <a:pt x="13" y="58"/>
                  </a:lnTo>
                  <a:lnTo>
                    <a:pt x="14" y="55"/>
                  </a:lnTo>
                  <a:lnTo>
                    <a:pt x="19" y="50"/>
                  </a:lnTo>
                  <a:lnTo>
                    <a:pt x="31" y="43"/>
                  </a:lnTo>
                  <a:lnTo>
                    <a:pt x="44" y="36"/>
                  </a:lnTo>
                  <a:lnTo>
                    <a:pt x="58" y="29"/>
                  </a:lnTo>
                  <a:lnTo>
                    <a:pt x="70" y="22"/>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2" name="Freeform 116">
              <a:extLst>
                <a:ext uri="{FF2B5EF4-FFF2-40B4-BE49-F238E27FC236}">
                  <a16:creationId xmlns:a16="http://schemas.microsoft.com/office/drawing/2014/main" id="{B5F2BBF4-0091-33D2-D80C-9DE3AAB7048D}"/>
                </a:ext>
              </a:extLst>
            </p:cNvPr>
            <p:cNvSpPr>
              <a:spLocks/>
            </p:cNvSpPr>
            <p:nvPr/>
          </p:nvSpPr>
          <p:spPr bwMode="auto">
            <a:xfrm>
              <a:off x="2239" y="3318"/>
              <a:ext cx="173" cy="28"/>
            </a:xfrm>
            <a:custGeom>
              <a:avLst/>
              <a:gdLst>
                <a:gd name="T0" fmla="*/ 0 w 105"/>
                <a:gd name="T1" fmla="*/ 4 h 25"/>
                <a:gd name="T2" fmla="*/ 331885 w 105"/>
                <a:gd name="T3" fmla="*/ 148 h 25"/>
                <a:gd name="T4" fmla="*/ 766270 w 105"/>
                <a:gd name="T5" fmla="*/ 166 h 25"/>
                <a:gd name="T6" fmla="*/ 1283006 w 105"/>
                <a:gd name="T7" fmla="*/ 170 h 25"/>
                <a:gd name="T8" fmla="*/ 1875692 w 105"/>
                <a:gd name="T9" fmla="*/ 170 h 25"/>
                <a:gd name="T10" fmla="*/ 2377226 w 105"/>
                <a:gd name="T11" fmla="*/ 186 h 25"/>
                <a:gd name="T12" fmla="*/ 2865936 w 105"/>
                <a:gd name="T13" fmla="*/ 190 h 25"/>
                <a:gd name="T14" fmla="*/ 3152065 w 105"/>
                <a:gd name="T15" fmla="*/ 239 h 25"/>
                <a:gd name="T16" fmla="*/ 3261172 w 105"/>
                <a:gd name="T17" fmla="*/ 261 h 25"/>
                <a:gd name="T18" fmla="*/ 3721278 w 105"/>
                <a:gd name="T19" fmla="*/ 213 h 25"/>
                <a:gd name="T20" fmla="*/ 3427301 w 105"/>
                <a:gd name="T21" fmla="*/ 105 h 25"/>
                <a:gd name="T22" fmla="*/ 2979100 w 105"/>
                <a:gd name="T23" fmla="*/ 60 h 25"/>
                <a:gd name="T24" fmla="*/ 2445765 w 105"/>
                <a:gd name="T25" fmla="*/ 4 h 25"/>
                <a:gd name="T26" fmla="*/ 1875692 w 105"/>
                <a:gd name="T27" fmla="*/ 3 h 25"/>
                <a:gd name="T28" fmla="*/ 1283006 w 105"/>
                <a:gd name="T29" fmla="*/ 3 h 25"/>
                <a:gd name="T30" fmla="*/ 778703 w 105"/>
                <a:gd name="T31" fmla="*/ 2 h 25"/>
                <a:gd name="T32" fmla="*/ 504969 w 105"/>
                <a:gd name="T33" fmla="*/ 0 h 25"/>
                <a:gd name="T34" fmla="*/ 465077 w 105"/>
                <a:gd name="T35" fmla="*/ 0 h 25"/>
                <a:gd name="T36" fmla="*/ 0 w 105"/>
                <a:gd name="T37" fmla="*/ 4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5"/>
                <a:gd name="T59" fmla="*/ 105 w 105"/>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5">
                  <a:moveTo>
                    <a:pt x="0" y="4"/>
                  </a:moveTo>
                  <a:lnTo>
                    <a:pt x="9" y="13"/>
                  </a:lnTo>
                  <a:lnTo>
                    <a:pt x="21" y="15"/>
                  </a:lnTo>
                  <a:lnTo>
                    <a:pt x="36" y="16"/>
                  </a:lnTo>
                  <a:lnTo>
                    <a:pt x="52" y="16"/>
                  </a:lnTo>
                  <a:lnTo>
                    <a:pt x="66" y="17"/>
                  </a:lnTo>
                  <a:lnTo>
                    <a:pt x="80" y="18"/>
                  </a:lnTo>
                  <a:lnTo>
                    <a:pt x="88" y="22"/>
                  </a:lnTo>
                  <a:lnTo>
                    <a:pt x="91" y="24"/>
                  </a:lnTo>
                  <a:lnTo>
                    <a:pt x="104" y="20"/>
                  </a:lnTo>
                  <a:lnTo>
                    <a:pt x="96" y="10"/>
                  </a:lnTo>
                  <a:lnTo>
                    <a:pt x="83" y="5"/>
                  </a:lnTo>
                  <a:lnTo>
                    <a:pt x="68" y="4"/>
                  </a:lnTo>
                  <a:lnTo>
                    <a:pt x="52" y="3"/>
                  </a:lnTo>
                  <a:lnTo>
                    <a:pt x="36" y="3"/>
                  </a:lnTo>
                  <a:lnTo>
                    <a:pt x="22" y="2"/>
                  </a:lnTo>
                  <a:lnTo>
                    <a:pt x="14" y="0"/>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3" name="Freeform 117">
              <a:extLst>
                <a:ext uri="{FF2B5EF4-FFF2-40B4-BE49-F238E27FC236}">
                  <a16:creationId xmlns:a16="http://schemas.microsoft.com/office/drawing/2014/main" id="{534D0A9A-3F50-4AC4-96F1-ED44078E7340}"/>
                </a:ext>
              </a:extLst>
            </p:cNvPr>
            <p:cNvSpPr>
              <a:spLocks/>
            </p:cNvSpPr>
            <p:nvPr/>
          </p:nvSpPr>
          <p:spPr bwMode="auto">
            <a:xfrm>
              <a:off x="2239" y="3316"/>
              <a:ext cx="24" cy="8"/>
            </a:xfrm>
            <a:custGeom>
              <a:avLst/>
              <a:gdLst>
                <a:gd name="T0" fmla="*/ 0 w 14"/>
                <a:gd name="T1" fmla="*/ 73 h 7"/>
                <a:gd name="T2" fmla="*/ 0 w 14"/>
                <a:gd name="T3" fmla="*/ 95 h 7"/>
                <a:gd name="T4" fmla="*/ 1057803 w 14"/>
                <a:gd name="T5" fmla="*/ 2 h 7"/>
                <a:gd name="T6" fmla="*/ 1057803 w 14"/>
                <a:gd name="T7" fmla="*/ 0 h 7"/>
                <a:gd name="T8" fmla="*/ 0 w 14"/>
                <a:gd name="T9" fmla="*/ 73 h 7"/>
                <a:gd name="T10" fmla="*/ 0 60000 65536"/>
                <a:gd name="T11" fmla="*/ 0 60000 65536"/>
                <a:gd name="T12" fmla="*/ 0 60000 65536"/>
                <a:gd name="T13" fmla="*/ 0 60000 65536"/>
                <a:gd name="T14" fmla="*/ 0 60000 65536"/>
                <a:gd name="T15" fmla="*/ 0 w 14"/>
                <a:gd name="T16" fmla="*/ 0 h 7"/>
                <a:gd name="T17" fmla="*/ 14 w 14"/>
                <a:gd name="T18" fmla="*/ 7 h 7"/>
              </a:gdLst>
              <a:ahLst/>
              <a:cxnLst>
                <a:cxn ang="T10">
                  <a:pos x="T0" y="T1"/>
                </a:cxn>
                <a:cxn ang="T11">
                  <a:pos x="T2" y="T3"/>
                </a:cxn>
                <a:cxn ang="T12">
                  <a:pos x="T4" y="T5"/>
                </a:cxn>
                <a:cxn ang="T13">
                  <a:pos x="T6" y="T7"/>
                </a:cxn>
                <a:cxn ang="T14">
                  <a:pos x="T8" y="T9"/>
                </a:cxn>
              </a:cxnLst>
              <a:rect l="T15" t="T16" r="T17" b="T18"/>
              <a:pathLst>
                <a:path w="14" h="7">
                  <a:moveTo>
                    <a:pt x="0" y="4"/>
                  </a:moveTo>
                  <a:lnTo>
                    <a:pt x="0" y="6"/>
                  </a:lnTo>
                  <a:lnTo>
                    <a:pt x="13"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4" name="Freeform 118">
              <a:extLst>
                <a:ext uri="{FF2B5EF4-FFF2-40B4-BE49-F238E27FC236}">
                  <a16:creationId xmlns:a16="http://schemas.microsoft.com/office/drawing/2014/main" id="{DE3334F4-6103-3141-3C66-CCE3B9475AC0}"/>
                </a:ext>
              </a:extLst>
            </p:cNvPr>
            <p:cNvSpPr>
              <a:spLocks/>
            </p:cNvSpPr>
            <p:nvPr/>
          </p:nvSpPr>
          <p:spPr bwMode="auto">
            <a:xfrm>
              <a:off x="2239" y="3250"/>
              <a:ext cx="134" cy="71"/>
            </a:xfrm>
            <a:custGeom>
              <a:avLst/>
              <a:gdLst>
                <a:gd name="T0" fmla="*/ 2617430 w 81"/>
                <a:gd name="T1" fmla="*/ 74 h 62"/>
                <a:gd name="T2" fmla="*/ 2567830 w 81"/>
                <a:gd name="T3" fmla="*/ 97 h 62"/>
                <a:gd name="T4" fmla="*/ 2379895 w 81"/>
                <a:gd name="T5" fmla="*/ 211 h 62"/>
                <a:gd name="T6" fmla="*/ 1957614 w 81"/>
                <a:gd name="T7" fmla="*/ 328 h 62"/>
                <a:gd name="T8" fmla="*/ 1438593 w 81"/>
                <a:gd name="T9" fmla="*/ 462 h 62"/>
                <a:gd name="T10" fmla="*/ 938268 w 81"/>
                <a:gd name="T11" fmla="*/ 554 h 62"/>
                <a:gd name="T12" fmla="*/ 432382 w 81"/>
                <a:gd name="T13" fmla="*/ 696 h 62"/>
                <a:gd name="T14" fmla="*/ 68764 w 81"/>
                <a:gd name="T15" fmla="*/ 831 h 62"/>
                <a:gd name="T16" fmla="*/ 0 w 81"/>
                <a:gd name="T17" fmla="*/ 1046 h 62"/>
                <a:gd name="T18" fmla="*/ 515040 w 81"/>
                <a:gd name="T19" fmla="*/ 973 h 62"/>
                <a:gd name="T20" fmla="*/ 541520 w 81"/>
                <a:gd name="T21" fmla="*/ 960 h 62"/>
                <a:gd name="T22" fmla="*/ 723636 w 81"/>
                <a:gd name="T23" fmla="*/ 882 h 62"/>
                <a:gd name="T24" fmla="*/ 1183334 w 81"/>
                <a:gd name="T25" fmla="*/ 742 h 62"/>
                <a:gd name="T26" fmla="*/ 1724337 w 81"/>
                <a:gd name="T27" fmla="*/ 634 h 62"/>
                <a:gd name="T28" fmla="*/ 2221424 w 81"/>
                <a:gd name="T29" fmla="*/ 529 h 62"/>
                <a:gd name="T30" fmla="*/ 2738029 w 81"/>
                <a:gd name="T31" fmla="*/ 403 h 62"/>
                <a:gd name="T32" fmla="*/ 3029758 w 81"/>
                <a:gd name="T33" fmla="*/ 218 h 62"/>
                <a:gd name="T34" fmla="*/ 3108525 w 81"/>
                <a:gd name="T35" fmla="*/ 0 h 62"/>
                <a:gd name="T36" fmla="*/ 2617430 w 81"/>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2"/>
                <a:gd name="T59" fmla="*/ 81 w 8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2">
                  <a:moveTo>
                    <a:pt x="67" y="4"/>
                  </a:moveTo>
                  <a:lnTo>
                    <a:pt x="66" y="6"/>
                  </a:lnTo>
                  <a:lnTo>
                    <a:pt x="61" y="12"/>
                  </a:lnTo>
                  <a:lnTo>
                    <a:pt x="50" y="19"/>
                  </a:lnTo>
                  <a:lnTo>
                    <a:pt x="37" y="26"/>
                  </a:lnTo>
                  <a:lnTo>
                    <a:pt x="24" y="32"/>
                  </a:lnTo>
                  <a:lnTo>
                    <a:pt x="11" y="40"/>
                  </a:lnTo>
                  <a:lnTo>
                    <a:pt x="2" y="48"/>
                  </a:lnTo>
                  <a:lnTo>
                    <a:pt x="0" y="61"/>
                  </a:lnTo>
                  <a:lnTo>
                    <a:pt x="13" y="57"/>
                  </a:lnTo>
                  <a:lnTo>
                    <a:pt x="14" y="56"/>
                  </a:lnTo>
                  <a:lnTo>
                    <a:pt x="19" y="51"/>
                  </a:lnTo>
                  <a:lnTo>
                    <a:pt x="30" y="44"/>
                  </a:lnTo>
                  <a:lnTo>
                    <a:pt x="44" y="37"/>
                  </a:lnTo>
                  <a:lnTo>
                    <a:pt x="57" y="30"/>
                  </a:lnTo>
                  <a:lnTo>
                    <a:pt x="70" y="23"/>
                  </a:lnTo>
                  <a:lnTo>
                    <a:pt x="78" y="13"/>
                  </a:lnTo>
                  <a:lnTo>
                    <a:pt x="80" y="0"/>
                  </a:lnTo>
                  <a:lnTo>
                    <a:pt x="6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5" name="Freeform 119">
              <a:extLst>
                <a:ext uri="{FF2B5EF4-FFF2-40B4-BE49-F238E27FC236}">
                  <a16:creationId xmlns:a16="http://schemas.microsoft.com/office/drawing/2014/main" id="{5AF33F8F-BB32-38D8-A43C-8A8AB6C6C5C6}"/>
                </a:ext>
              </a:extLst>
            </p:cNvPr>
            <p:cNvSpPr>
              <a:spLocks/>
            </p:cNvSpPr>
            <p:nvPr/>
          </p:nvSpPr>
          <p:spPr bwMode="auto">
            <a:xfrm>
              <a:off x="2199" y="3221"/>
              <a:ext cx="174" cy="34"/>
            </a:xfrm>
            <a:custGeom>
              <a:avLst/>
              <a:gdLst>
                <a:gd name="T0" fmla="*/ 0 w 105"/>
                <a:gd name="T1" fmla="*/ 121 h 29"/>
                <a:gd name="T2" fmla="*/ 320394 w 105"/>
                <a:gd name="T3" fmla="*/ 368 h 29"/>
                <a:gd name="T4" fmla="*/ 851120 w 105"/>
                <a:gd name="T5" fmla="*/ 494 h 29"/>
                <a:gd name="T6" fmla="*/ 1410427 w 105"/>
                <a:gd name="T7" fmla="*/ 516 h 29"/>
                <a:gd name="T8" fmla="*/ 2105818 w 105"/>
                <a:gd name="T9" fmla="*/ 579 h 29"/>
                <a:gd name="T10" fmla="*/ 2706298 w 105"/>
                <a:gd name="T11" fmla="*/ 592 h 29"/>
                <a:gd name="T12" fmla="*/ 3243486 w 105"/>
                <a:gd name="T13" fmla="*/ 605 h 29"/>
                <a:gd name="T14" fmla="*/ 3587389 w 105"/>
                <a:gd name="T15" fmla="*/ 709 h 29"/>
                <a:gd name="T16" fmla="*/ 3677016 w 105"/>
                <a:gd name="T17" fmla="*/ 810 h 29"/>
                <a:gd name="T18" fmla="*/ 4192184 w 105"/>
                <a:gd name="T19" fmla="*/ 691 h 29"/>
                <a:gd name="T20" fmla="*/ 3873205 w 105"/>
                <a:gd name="T21" fmla="*/ 375 h 29"/>
                <a:gd name="T22" fmla="*/ 3367531 w 105"/>
                <a:gd name="T23" fmla="*/ 268 h 29"/>
                <a:gd name="T24" fmla="*/ 2755964 w 105"/>
                <a:gd name="T25" fmla="*/ 229 h 29"/>
                <a:gd name="T26" fmla="*/ 2150963 w 105"/>
                <a:gd name="T27" fmla="*/ 195 h 29"/>
                <a:gd name="T28" fmla="*/ 1485145 w 105"/>
                <a:gd name="T29" fmla="*/ 166 h 29"/>
                <a:gd name="T30" fmla="*/ 970032 w 105"/>
                <a:gd name="T31" fmla="*/ 121 h 29"/>
                <a:gd name="T32" fmla="*/ 555905 w 105"/>
                <a:gd name="T33" fmla="*/ 2 h 29"/>
                <a:gd name="T34" fmla="*/ 530939 w 105"/>
                <a:gd name="T35" fmla="*/ 0 h 29"/>
                <a:gd name="T36" fmla="*/ 0 w 105"/>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3"/>
                  </a:lnTo>
                  <a:lnTo>
                    <a:pt x="21" y="17"/>
                  </a:lnTo>
                  <a:lnTo>
                    <a:pt x="35" y="19"/>
                  </a:lnTo>
                  <a:lnTo>
                    <a:pt x="52" y="20"/>
                  </a:lnTo>
                  <a:lnTo>
                    <a:pt x="67" y="21"/>
                  </a:lnTo>
                  <a:lnTo>
                    <a:pt x="80" y="22"/>
                  </a:lnTo>
                  <a:lnTo>
                    <a:pt x="89" y="26"/>
                  </a:lnTo>
                  <a:lnTo>
                    <a:pt x="91" y="28"/>
                  </a:lnTo>
                  <a:lnTo>
                    <a:pt x="104" y="24"/>
                  </a:lnTo>
                  <a:lnTo>
                    <a:pt x="96" y="14"/>
                  </a:lnTo>
                  <a:lnTo>
                    <a:pt x="83" y="9"/>
                  </a:lnTo>
                  <a:lnTo>
                    <a:pt x="68" y="8"/>
                  </a:lnTo>
                  <a:lnTo>
                    <a:pt x="53" y="7"/>
                  </a:lnTo>
                  <a:lnTo>
                    <a:pt x="37" y="6"/>
                  </a:lnTo>
                  <a:lnTo>
                    <a:pt x="24" y="4"/>
                  </a:lnTo>
                  <a:lnTo>
                    <a:pt x="14"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6" name="Freeform 120">
              <a:extLst>
                <a:ext uri="{FF2B5EF4-FFF2-40B4-BE49-F238E27FC236}">
                  <a16:creationId xmlns:a16="http://schemas.microsoft.com/office/drawing/2014/main" id="{F1E2F679-E93A-A5A4-D6B3-DC8A59A1B0AC}"/>
                </a:ext>
              </a:extLst>
            </p:cNvPr>
            <p:cNvSpPr>
              <a:spLocks/>
            </p:cNvSpPr>
            <p:nvPr/>
          </p:nvSpPr>
          <p:spPr bwMode="auto">
            <a:xfrm>
              <a:off x="2199" y="3154"/>
              <a:ext cx="137" cy="73"/>
            </a:xfrm>
            <a:custGeom>
              <a:avLst/>
              <a:gdLst>
                <a:gd name="T0" fmla="*/ 2566051 w 83"/>
                <a:gd name="T1" fmla="*/ 73 h 64"/>
                <a:gd name="T2" fmla="*/ 2519400 w 83"/>
                <a:gd name="T3" fmla="*/ 108 h 64"/>
                <a:gd name="T4" fmla="*/ 2349936 w 83"/>
                <a:gd name="T5" fmla="*/ 209 h 64"/>
                <a:gd name="T6" fmla="*/ 1933123 w 83"/>
                <a:gd name="T7" fmla="*/ 309 h 64"/>
                <a:gd name="T8" fmla="*/ 1423684 w 83"/>
                <a:gd name="T9" fmla="*/ 409 h 64"/>
                <a:gd name="T10" fmla="*/ 901473 w 83"/>
                <a:gd name="T11" fmla="*/ 524 h 64"/>
                <a:gd name="T12" fmla="*/ 446998 w 83"/>
                <a:gd name="T13" fmla="*/ 627 h 64"/>
                <a:gd name="T14" fmla="*/ 64690 w 83"/>
                <a:gd name="T15" fmla="*/ 792 h 64"/>
                <a:gd name="T16" fmla="*/ 0 w 83"/>
                <a:gd name="T17" fmla="*/ 1000 h 64"/>
                <a:gd name="T18" fmla="*/ 480180 w 83"/>
                <a:gd name="T19" fmla="*/ 931 h 64"/>
                <a:gd name="T20" fmla="*/ 522551 w 83"/>
                <a:gd name="T21" fmla="*/ 903 h 64"/>
                <a:gd name="T22" fmla="*/ 737816 w 83"/>
                <a:gd name="T23" fmla="*/ 811 h 64"/>
                <a:gd name="T24" fmla="*/ 1147807 w 83"/>
                <a:gd name="T25" fmla="*/ 711 h 64"/>
                <a:gd name="T26" fmla="*/ 1639289 w 83"/>
                <a:gd name="T27" fmla="*/ 598 h 64"/>
                <a:gd name="T28" fmla="*/ 2159391 w 83"/>
                <a:gd name="T29" fmla="*/ 482 h 64"/>
                <a:gd name="T30" fmla="*/ 2603804 w 83"/>
                <a:gd name="T31" fmla="*/ 359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7"/>
                  </a:lnTo>
                  <a:lnTo>
                    <a:pt x="63" y="13"/>
                  </a:lnTo>
                  <a:lnTo>
                    <a:pt x="52" y="19"/>
                  </a:lnTo>
                  <a:lnTo>
                    <a:pt x="38" y="26"/>
                  </a:lnTo>
                  <a:lnTo>
                    <a:pt x="24" y="33"/>
                  </a:lnTo>
                  <a:lnTo>
                    <a:pt x="12" y="40"/>
                  </a:lnTo>
                  <a:lnTo>
                    <a:pt x="2" y="50"/>
                  </a:lnTo>
                  <a:lnTo>
                    <a:pt x="0" y="63"/>
                  </a:lnTo>
                  <a:lnTo>
                    <a:pt x="13" y="59"/>
                  </a:lnTo>
                  <a:lnTo>
                    <a:pt x="14" y="57"/>
                  </a:lnTo>
                  <a:lnTo>
                    <a:pt x="20" y="51"/>
                  </a:lnTo>
                  <a:lnTo>
                    <a:pt x="31"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7" name="Freeform 121">
              <a:extLst>
                <a:ext uri="{FF2B5EF4-FFF2-40B4-BE49-F238E27FC236}">
                  <a16:creationId xmlns:a16="http://schemas.microsoft.com/office/drawing/2014/main" id="{E1677678-BCF0-8455-F05E-16D2D40EB1D3}"/>
                </a:ext>
              </a:extLst>
            </p:cNvPr>
            <p:cNvSpPr>
              <a:spLocks/>
            </p:cNvSpPr>
            <p:nvPr/>
          </p:nvSpPr>
          <p:spPr bwMode="auto">
            <a:xfrm>
              <a:off x="2161" y="3126"/>
              <a:ext cx="175" cy="33"/>
            </a:xfrm>
            <a:custGeom>
              <a:avLst/>
              <a:gdLst>
                <a:gd name="T0" fmla="*/ 0 w 106"/>
                <a:gd name="T1" fmla="*/ 3 h 29"/>
                <a:gd name="T2" fmla="*/ 291842 w 106"/>
                <a:gd name="T3" fmla="*/ 191 h 29"/>
                <a:gd name="T4" fmla="*/ 795449 w 106"/>
                <a:gd name="T5" fmla="*/ 247 h 29"/>
                <a:gd name="T6" fmla="*/ 1328805 w 106"/>
                <a:gd name="T7" fmla="*/ 281 h 29"/>
                <a:gd name="T8" fmla="*/ 1941196 w 106"/>
                <a:gd name="T9" fmla="*/ 306 h 29"/>
                <a:gd name="T10" fmla="*/ 2508326 w 106"/>
                <a:gd name="T11" fmla="*/ 316 h 29"/>
                <a:gd name="T12" fmla="*/ 3033331 w 106"/>
                <a:gd name="T13" fmla="*/ 320 h 29"/>
                <a:gd name="T14" fmla="*/ 3328313 w 106"/>
                <a:gd name="T15" fmla="*/ 396 h 29"/>
                <a:gd name="T16" fmla="*/ 3435385 w 106"/>
                <a:gd name="T17" fmla="*/ 414 h 29"/>
                <a:gd name="T18" fmla="*/ 3917132 w 106"/>
                <a:gd name="T19" fmla="*/ 360 h 29"/>
                <a:gd name="T20" fmla="*/ 3621810 w 106"/>
                <a:gd name="T21" fmla="*/ 207 h 29"/>
                <a:gd name="T22" fmla="*/ 3136520 w 106"/>
                <a:gd name="T23" fmla="*/ 130 h 29"/>
                <a:gd name="T24" fmla="*/ 2573651 w 106"/>
                <a:gd name="T25" fmla="*/ 114 h 29"/>
                <a:gd name="T26" fmla="*/ 1984779 w 106"/>
                <a:gd name="T27" fmla="*/ 100 h 29"/>
                <a:gd name="T28" fmla="*/ 1389091 w 106"/>
                <a:gd name="T29" fmla="*/ 88 h 29"/>
                <a:gd name="T30" fmla="*/ 904506 w 106"/>
                <a:gd name="T31" fmla="*/ 68 h 29"/>
                <a:gd name="T32" fmla="*/ 563155 w 106"/>
                <a:gd name="T33" fmla="*/ 1 h 29"/>
                <a:gd name="T34" fmla="*/ 481815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1"/>
                  </a:lnTo>
                  <a:lnTo>
                    <a:pt x="81" y="22"/>
                  </a:lnTo>
                  <a:lnTo>
                    <a:pt x="89" y="26"/>
                  </a:lnTo>
                  <a:lnTo>
                    <a:pt x="92" y="28"/>
                  </a:lnTo>
                  <a:lnTo>
                    <a:pt x="105" y="24"/>
                  </a:lnTo>
                  <a:lnTo>
                    <a:pt x="97" y="14"/>
                  </a:lnTo>
                  <a:lnTo>
                    <a:pt x="84" y="9"/>
                  </a:lnTo>
                  <a:lnTo>
                    <a:pt x="69" y="8"/>
                  </a:lnTo>
                  <a:lnTo>
                    <a:pt x="53"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8" name="Freeform 122">
              <a:extLst>
                <a:ext uri="{FF2B5EF4-FFF2-40B4-BE49-F238E27FC236}">
                  <a16:creationId xmlns:a16="http://schemas.microsoft.com/office/drawing/2014/main" id="{4C325EC8-B526-E067-417B-29F4A0189E67}"/>
                </a:ext>
              </a:extLst>
            </p:cNvPr>
            <p:cNvSpPr>
              <a:spLocks/>
            </p:cNvSpPr>
            <p:nvPr/>
          </p:nvSpPr>
          <p:spPr bwMode="auto">
            <a:xfrm>
              <a:off x="2161" y="3064"/>
              <a:ext cx="141" cy="67"/>
            </a:xfrm>
            <a:custGeom>
              <a:avLst/>
              <a:gdLst>
                <a:gd name="T0" fmla="*/ 2953782 w 85"/>
                <a:gd name="T1" fmla="*/ 158 h 58"/>
                <a:gd name="T2" fmla="*/ 2938929 w 85"/>
                <a:gd name="T3" fmla="*/ 119 h 58"/>
                <a:gd name="T4" fmla="*/ 2639817 w 85"/>
                <a:gd name="T5" fmla="*/ 241 h 58"/>
                <a:gd name="T6" fmla="*/ 2235172 w 85"/>
                <a:gd name="T7" fmla="*/ 371 h 58"/>
                <a:gd name="T8" fmla="*/ 1620969 w 85"/>
                <a:gd name="T9" fmla="*/ 496 h 58"/>
                <a:gd name="T10" fmla="*/ 1018839 w 85"/>
                <a:gd name="T11" fmla="*/ 596 h 58"/>
                <a:gd name="T12" fmla="*/ 495429 w 85"/>
                <a:gd name="T13" fmla="*/ 714 h 58"/>
                <a:gd name="T14" fmla="*/ 71877 w 85"/>
                <a:gd name="T15" fmla="*/ 917 h 58"/>
                <a:gd name="T16" fmla="*/ 0 w 85"/>
                <a:gd name="T17" fmla="*/ 1179 h 58"/>
                <a:gd name="T18" fmla="*/ 544238 w 85"/>
                <a:gd name="T19" fmla="*/ 1101 h 58"/>
                <a:gd name="T20" fmla="*/ 572706 w 85"/>
                <a:gd name="T21" fmla="*/ 1060 h 58"/>
                <a:gd name="T22" fmla="*/ 821829 w 85"/>
                <a:gd name="T23" fmla="*/ 968 h 58"/>
                <a:gd name="T24" fmla="*/ 1248079 w 85"/>
                <a:gd name="T25" fmla="*/ 838 h 58"/>
                <a:gd name="T26" fmla="*/ 1864649 w 85"/>
                <a:gd name="T27" fmla="*/ 714 h 58"/>
                <a:gd name="T28" fmla="*/ 2442656 w 85"/>
                <a:gd name="T29" fmla="*/ 596 h 58"/>
                <a:gd name="T30" fmla="*/ 2953782 w 85"/>
                <a:gd name="T31" fmla="*/ 496 h 58"/>
                <a:gd name="T32" fmla="*/ 3327053 w 85"/>
                <a:gd name="T33" fmla="*/ 282 h 58"/>
                <a:gd name="T34" fmla="*/ 3461437 w 85"/>
                <a:gd name="T35" fmla="*/ 2 h 58"/>
                <a:gd name="T36" fmla="*/ 3461437 w 85"/>
                <a:gd name="T37" fmla="*/ 0 h 58"/>
                <a:gd name="T38" fmla="*/ 3461437 w 85"/>
                <a:gd name="T39" fmla="*/ 2 h 58"/>
                <a:gd name="T40" fmla="*/ 3461437 w 85"/>
                <a:gd name="T41" fmla="*/ 1 h 58"/>
                <a:gd name="T42" fmla="*/ 3461437 w 85"/>
                <a:gd name="T43" fmla="*/ 0 h 58"/>
                <a:gd name="T44" fmla="*/ 2953782 w 85"/>
                <a:gd name="T45" fmla="*/ 158 h 5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8"/>
                <a:gd name="T71" fmla="*/ 85 w 85"/>
                <a:gd name="T72" fmla="*/ 58 h 5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8">
                  <a:moveTo>
                    <a:pt x="72" y="8"/>
                  </a:moveTo>
                  <a:lnTo>
                    <a:pt x="71" y="6"/>
                  </a:lnTo>
                  <a:lnTo>
                    <a:pt x="64" y="11"/>
                  </a:lnTo>
                  <a:lnTo>
                    <a:pt x="54" y="17"/>
                  </a:lnTo>
                  <a:lnTo>
                    <a:pt x="39" y="23"/>
                  </a:lnTo>
                  <a:lnTo>
                    <a:pt x="25" y="29"/>
                  </a:lnTo>
                  <a:lnTo>
                    <a:pt x="12" y="35"/>
                  </a:lnTo>
                  <a:lnTo>
                    <a:pt x="2" y="44"/>
                  </a:lnTo>
                  <a:lnTo>
                    <a:pt x="0" y="57"/>
                  </a:lnTo>
                  <a:lnTo>
                    <a:pt x="13" y="53"/>
                  </a:lnTo>
                  <a:lnTo>
                    <a:pt x="14" y="52"/>
                  </a:lnTo>
                  <a:lnTo>
                    <a:pt x="20" y="47"/>
                  </a:lnTo>
                  <a:lnTo>
                    <a:pt x="30" y="41"/>
                  </a:lnTo>
                  <a:lnTo>
                    <a:pt x="45" y="35"/>
                  </a:lnTo>
                  <a:lnTo>
                    <a:pt x="59" y="29"/>
                  </a:lnTo>
                  <a:lnTo>
                    <a:pt x="72" y="23"/>
                  </a:lnTo>
                  <a:lnTo>
                    <a:pt x="81" y="14"/>
                  </a:lnTo>
                  <a:lnTo>
                    <a:pt x="84" y="2"/>
                  </a:lnTo>
                  <a:lnTo>
                    <a:pt x="84" y="0"/>
                  </a:lnTo>
                  <a:lnTo>
                    <a:pt x="84" y="2"/>
                  </a:lnTo>
                  <a:lnTo>
                    <a:pt x="84" y="1"/>
                  </a:lnTo>
                  <a:lnTo>
                    <a:pt x="84" y="0"/>
                  </a:lnTo>
                  <a:lnTo>
                    <a:pt x="72"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29" name="Freeform 123">
              <a:extLst>
                <a:ext uri="{FF2B5EF4-FFF2-40B4-BE49-F238E27FC236}">
                  <a16:creationId xmlns:a16="http://schemas.microsoft.com/office/drawing/2014/main" id="{2AA62B15-A1F5-8B75-6E24-04CB8C4A1763}"/>
                </a:ext>
              </a:extLst>
            </p:cNvPr>
            <p:cNvSpPr>
              <a:spLocks/>
            </p:cNvSpPr>
            <p:nvPr/>
          </p:nvSpPr>
          <p:spPr bwMode="auto">
            <a:xfrm>
              <a:off x="2277" y="3062"/>
              <a:ext cx="25" cy="12"/>
            </a:xfrm>
            <a:custGeom>
              <a:avLst/>
              <a:gdLst>
                <a:gd name="T0" fmla="*/ 0 w 15"/>
                <a:gd name="T1" fmla="*/ 215 h 10"/>
                <a:gd name="T2" fmla="*/ 47430 w 15"/>
                <a:gd name="T3" fmla="*/ 310 h 10"/>
                <a:gd name="T4" fmla="*/ 79050 w 15"/>
                <a:gd name="T5" fmla="*/ 434 h 10"/>
                <a:gd name="T6" fmla="*/ 621467 w 15"/>
                <a:gd name="T7" fmla="*/ 2 h 10"/>
                <a:gd name="T8" fmla="*/ 542092 w 15"/>
                <a:gd name="T9" fmla="*/ 0 h 10"/>
                <a:gd name="T10" fmla="*/ 609953 w 15"/>
                <a:gd name="T11" fmla="*/ 2 h 10"/>
                <a:gd name="T12" fmla="*/ 0 w 15"/>
                <a:gd name="T13" fmla="*/ 215 h 10"/>
                <a:gd name="T14" fmla="*/ 0 w 15"/>
                <a:gd name="T15" fmla="*/ 258 h 10"/>
                <a:gd name="T16" fmla="*/ 47430 w 15"/>
                <a:gd name="T17" fmla="*/ 310 h 10"/>
                <a:gd name="T18" fmla="*/ 0 w 15"/>
                <a:gd name="T19" fmla="*/ 215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0"/>
                <a:gd name="T32" fmla="*/ 15 w 15"/>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0">
                  <a:moveTo>
                    <a:pt x="0" y="5"/>
                  </a:moveTo>
                  <a:lnTo>
                    <a:pt x="1" y="7"/>
                  </a:lnTo>
                  <a:lnTo>
                    <a:pt x="2" y="9"/>
                  </a:lnTo>
                  <a:lnTo>
                    <a:pt x="14" y="2"/>
                  </a:lnTo>
                  <a:lnTo>
                    <a:pt x="12" y="0"/>
                  </a:lnTo>
                  <a:lnTo>
                    <a:pt x="13" y="2"/>
                  </a:lnTo>
                  <a:lnTo>
                    <a:pt x="0" y="5"/>
                  </a:lnTo>
                  <a:lnTo>
                    <a:pt x="0" y="6"/>
                  </a:lnTo>
                  <a:lnTo>
                    <a:pt x="1"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0" name="Freeform 124">
              <a:extLst>
                <a:ext uri="{FF2B5EF4-FFF2-40B4-BE49-F238E27FC236}">
                  <a16:creationId xmlns:a16="http://schemas.microsoft.com/office/drawing/2014/main" id="{8459E6EC-4994-4A3D-D704-B024DF5F738E}"/>
                </a:ext>
              </a:extLst>
            </p:cNvPr>
            <p:cNvSpPr>
              <a:spLocks/>
            </p:cNvSpPr>
            <p:nvPr/>
          </p:nvSpPr>
          <p:spPr bwMode="auto">
            <a:xfrm>
              <a:off x="2127" y="3036"/>
              <a:ext cx="174" cy="34"/>
            </a:xfrm>
            <a:custGeom>
              <a:avLst/>
              <a:gdLst>
                <a:gd name="T0" fmla="*/ 0 w 105"/>
                <a:gd name="T1" fmla="*/ 103 h 29"/>
                <a:gd name="T2" fmla="*/ 320394 w 105"/>
                <a:gd name="T3" fmla="*/ 368 h 29"/>
                <a:gd name="T4" fmla="*/ 851120 w 105"/>
                <a:gd name="T5" fmla="*/ 440 h 29"/>
                <a:gd name="T6" fmla="*/ 1458024 w 105"/>
                <a:gd name="T7" fmla="*/ 505 h 29"/>
                <a:gd name="T8" fmla="*/ 2080606 w 105"/>
                <a:gd name="T9" fmla="*/ 505 h 29"/>
                <a:gd name="T10" fmla="*/ 2706298 w 105"/>
                <a:gd name="T11" fmla="*/ 505 h 29"/>
                <a:gd name="T12" fmla="*/ 3199048 w 105"/>
                <a:gd name="T13" fmla="*/ 579 h 29"/>
                <a:gd name="T14" fmla="*/ 3564453 w 105"/>
                <a:gd name="T15" fmla="*/ 691 h 29"/>
                <a:gd name="T16" fmla="*/ 3677016 w 105"/>
                <a:gd name="T17" fmla="*/ 810 h 29"/>
                <a:gd name="T18" fmla="*/ 4192184 w 105"/>
                <a:gd name="T19" fmla="*/ 691 h 29"/>
                <a:gd name="T20" fmla="*/ 3873205 w 105"/>
                <a:gd name="T21" fmla="*/ 368 h 29"/>
                <a:gd name="T22" fmla="*/ 3367531 w 105"/>
                <a:gd name="T23" fmla="*/ 195 h 29"/>
                <a:gd name="T24" fmla="*/ 2755964 w 105"/>
                <a:gd name="T25" fmla="*/ 142 h 29"/>
                <a:gd name="T26" fmla="*/ 2080606 w 105"/>
                <a:gd name="T27" fmla="*/ 121 h 29"/>
                <a:gd name="T28" fmla="*/ 1458024 w 105"/>
                <a:gd name="T29" fmla="*/ 142 h 29"/>
                <a:gd name="T30" fmla="*/ 921214 w 105"/>
                <a:gd name="T31" fmla="*/ 103 h 29"/>
                <a:gd name="T32" fmla="*/ 605611 w 105"/>
                <a:gd name="T33" fmla="*/ 2 h 29"/>
                <a:gd name="T34" fmla="*/ 530939 w 105"/>
                <a:gd name="T35" fmla="*/ 0 h 29"/>
                <a:gd name="T36" fmla="*/ 0 w 105"/>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3"/>
                  </a:moveTo>
                  <a:lnTo>
                    <a:pt x="8" y="13"/>
                  </a:lnTo>
                  <a:lnTo>
                    <a:pt x="21" y="16"/>
                  </a:lnTo>
                  <a:lnTo>
                    <a:pt x="36" y="18"/>
                  </a:lnTo>
                  <a:lnTo>
                    <a:pt x="51" y="18"/>
                  </a:lnTo>
                  <a:lnTo>
                    <a:pt x="67" y="18"/>
                  </a:lnTo>
                  <a:lnTo>
                    <a:pt x="79" y="20"/>
                  </a:lnTo>
                  <a:lnTo>
                    <a:pt x="88" y="24"/>
                  </a:lnTo>
                  <a:lnTo>
                    <a:pt x="91" y="28"/>
                  </a:lnTo>
                  <a:lnTo>
                    <a:pt x="104" y="24"/>
                  </a:lnTo>
                  <a:lnTo>
                    <a:pt x="96" y="13"/>
                  </a:lnTo>
                  <a:lnTo>
                    <a:pt x="83" y="7"/>
                  </a:lnTo>
                  <a:lnTo>
                    <a:pt x="68" y="5"/>
                  </a:lnTo>
                  <a:lnTo>
                    <a:pt x="51" y="4"/>
                  </a:lnTo>
                  <a:lnTo>
                    <a:pt x="36" y="5"/>
                  </a:lnTo>
                  <a:lnTo>
                    <a:pt x="23" y="3"/>
                  </a:lnTo>
                  <a:lnTo>
                    <a:pt x="15"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1" name="Freeform 125">
              <a:extLst>
                <a:ext uri="{FF2B5EF4-FFF2-40B4-BE49-F238E27FC236}">
                  <a16:creationId xmlns:a16="http://schemas.microsoft.com/office/drawing/2014/main" id="{BFA4E51F-1058-6D30-F52C-F6715450D56C}"/>
                </a:ext>
              </a:extLst>
            </p:cNvPr>
            <p:cNvSpPr>
              <a:spLocks/>
            </p:cNvSpPr>
            <p:nvPr/>
          </p:nvSpPr>
          <p:spPr bwMode="auto">
            <a:xfrm>
              <a:off x="2127" y="2969"/>
              <a:ext cx="136" cy="73"/>
            </a:xfrm>
            <a:custGeom>
              <a:avLst/>
              <a:gdLst>
                <a:gd name="T0" fmla="*/ 2793281 w 82"/>
                <a:gd name="T1" fmla="*/ 73 h 64"/>
                <a:gd name="T2" fmla="*/ 2793281 w 82"/>
                <a:gd name="T3" fmla="*/ 108 h 64"/>
                <a:gd name="T4" fmla="*/ 2559870 w 82"/>
                <a:gd name="T5" fmla="*/ 192 h 64"/>
                <a:gd name="T6" fmla="*/ 2110216 w 82"/>
                <a:gd name="T7" fmla="*/ 309 h 64"/>
                <a:gd name="T8" fmla="*/ 1549208 w 82"/>
                <a:gd name="T9" fmla="*/ 409 h 64"/>
                <a:gd name="T10" fmla="*/ 984142 w 82"/>
                <a:gd name="T11" fmla="*/ 533 h 64"/>
                <a:gd name="T12" fmla="*/ 494159 w 82"/>
                <a:gd name="T13" fmla="*/ 674 h 64"/>
                <a:gd name="T14" fmla="*/ 71808 w 82"/>
                <a:gd name="T15" fmla="*/ 792 h 64"/>
                <a:gd name="T16" fmla="*/ 0 w 82"/>
                <a:gd name="T17" fmla="*/ 1000 h 64"/>
                <a:gd name="T18" fmla="*/ 543340 w 82"/>
                <a:gd name="T19" fmla="*/ 931 h 64"/>
                <a:gd name="T20" fmla="*/ 543340 w 82"/>
                <a:gd name="T21" fmla="*/ 925 h 64"/>
                <a:gd name="T22" fmla="*/ 792167 w 82"/>
                <a:gd name="T23" fmla="*/ 816 h 64"/>
                <a:gd name="T24" fmla="*/ 1245083 w 82"/>
                <a:gd name="T25" fmla="*/ 711 h 64"/>
                <a:gd name="T26" fmla="*/ 1809896 w 82"/>
                <a:gd name="T27" fmla="*/ 598 h 64"/>
                <a:gd name="T28" fmla="*/ 2364446 w 82"/>
                <a:gd name="T29" fmla="*/ 482 h 64"/>
                <a:gd name="T30" fmla="*/ 2866162 w 82"/>
                <a:gd name="T31" fmla="*/ 359 h 64"/>
                <a:gd name="T32" fmla="*/ 3244615 w 82"/>
                <a:gd name="T33" fmla="*/ 209 h 64"/>
                <a:gd name="T34" fmla="*/ 3316748 w 82"/>
                <a:gd name="T35" fmla="*/ 0 h 64"/>
                <a:gd name="T36" fmla="*/ 2793281 w 82"/>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4"/>
                <a:gd name="T59" fmla="*/ 82 w 82"/>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4">
                  <a:moveTo>
                    <a:pt x="68" y="4"/>
                  </a:moveTo>
                  <a:lnTo>
                    <a:pt x="68" y="7"/>
                  </a:lnTo>
                  <a:lnTo>
                    <a:pt x="62" y="12"/>
                  </a:lnTo>
                  <a:lnTo>
                    <a:pt x="51" y="19"/>
                  </a:lnTo>
                  <a:lnTo>
                    <a:pt x="38" y="26"/>
                  </a:lnTo>
                  <a:lnTo>
                    <a:pt x="24" y="34"/>
                  </a:lnTo>
                  <a:lnTo>
                    <a:pt x="12" y="42"/>
                  </a:lnTo>
                  <a:lnTo>
                    <a:pt x="2" y="50"/>
                  </a:lnTo>
                  <a:lnTo>
                    <a:pt x="0" y="63"/>
                  </a:lnTo>
                  <a:lnTo>
                    <a:pt x="13" y="59"/>
                  </a:lnTo>
                  <a:lnTo>
                    <a:pt x="13" y="58"/>
                  </a:lnTo>
                  <a:lnTo>
                    <a:pt x="19" y="52"/>
                  </a:lnTo>
                  <a:lnTo>
                    <a:pt x="30" y="45"/>
                  </a:lnTo>
                  <a:lnTo>
                    <a:pt x="44" y="38"/>
                  </a:lnTo>
                  <a:lnTo>
                    <a:pt x="57" y="31"/>
                  </a:lnTo>
                  <a:lnTo>
                    <a:pt x="70" y="23"/>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2" name="Freeform 126">
              <a:extLst>
                <a:ext uri="{FF2B5EF4-FFF2-40B4-BE49-F238E27FC236}">
                  <a16:creationId xmlns:a16="http://schemas.microsoft.com/office/drawing/2014/main" id="{D59291A1-DCEE-C269-BE42-8911626089CC}"/>
                </a:ext>
              </a:extLst>
            </p:cNvPr>
            <p:cNvSpPr>
              <a:spLocks/>
            </p:cNvSpPr>
            <p:nvPr/>
          </p:nvSpPr>
          <p:spPr bwMode="auto">
            <a:xfrm>
              <a:off x="2089" y="2941"/>
              <a:ext cx="174" cy="33"/>
            </a:xfrm>
            <a:custGeom>
              <a:avLst/>
              <a:gdLst>
                <a:gd name="T0" fmla="*/ 0 w 105"/>
                <a:gd name="T1" fmla="*/ 68 h 29"/>
                <a:gd name="T2" fmla="*/ 320394 w 105"/>
                <a:gd name="T3" fmla="*/ 207 h 29"/>
                <a:gd name="T4" fmla="*/ 808008 w 105"/>
                <a:gd name="T5" fmla="*/ 247 h 29"/>
                <a:gd name="T6" fmla="*/ 1410427 w 105"/>
                <a:gd name="T7" fmla="*/ 281 h 29"/>
                <a:gd name="T8" fmla="*/ 2080606 w 105"/>
                <a:gd name="T9" fmla="*/ 306 h 29"/>
                <a:gd name="T10" fmla="*/ 2706298 w 105"/>
                <a:gd name="T11" fmla="*/ 316 h 29"/>
                <a:gd name="T12" fmla="*/ 3243486 w 105"/>
                <a:gd name="T13" fmla="*/ 320 h 29"/>
                <a:gd name="T14" fmla="*/ 3587389 w 105"/>
                <a:gd name="T15" fmla="*/ 364 h 29"/>
                <a:gd name="T16" fmla="*/ 3677016 w 105"/>
                <a:gd name="T17" fmla="*/ 414 h 29"/>
                <a:gd name="T18" fmla="*/ 4192184 w 105"/>
                <a:gd name="T19" fmla="*/ 360 h 29"/>
                <a:gd name="T20" fmla="*/ 3873205 w 105"/>
                <a:gd name="T21" fmla="*/ 207 h 29"/>
                <a:gd name="T22" fmla="*/ 3367531 w 105"/>
                <a:gd name="T23" fmla="*/ 148 h 29"/>
                <a:gd name="T24" fmla="*/ 2755964 w 105"/>
                <a:gd name="T25" fmla="*/ 114 h 29"/>
                <a:gd name="T26" fmla="*/ 2105818 w 105"/>
                <a:gd name="T27" fmla="*/ 100 h 29"/>
                <a:gd name="T28" fmla="*/ 1485145 w 105"/>
                <a:gd name="T29" fmla="*/ 88 h 29"/>
                <a:gd name="T30" fmla="*/ 921214 w 105"/>
                <a:gd name="T31" fmla="*/ 77 h 29"/>
                <a:gd name="T32" fmla="*/ 605611 w 105"/>
                <a:gd name="T33" fmla="*/ 2 h 29"/>
                <a:gd name="T34" fmla="*/ 530939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0" y="17"/>
                  </a:lnTo>
                  <a:lnTo>
                    <a:pt x="35" y="19"/>
                  </a:lnTo>
                  <a:lnTo>
                    <a:pt x="51" y="20"/>
                  </a:lnTo>
                  <a:lnTo>
                    <a:pt x="67" y="21"/>
                  </a:lnTo>
                  <a:lnTo>
                    <a:pt x="80" y="22"/>
                  </a:lnTo>
                  <a:lnTo>
                    <a:pt x="89" y="25"/>
                  </a:lnTo>
                  <a:lnTo>
                    <a:pt x="91" y="28"/>
                  </a:lnTo>
                  <a:lnTo>
                    <a:pt x="104" y="24"/>
                  </a:lnTo>
                  <a:lnTo>
                    <a:pt x="96" y="14"/>
                  </a:lnTo>
                  <a:lnTo>
                    <a:pt x="83" y="10"/>
                  </a:lnTo>
                  <a:lnTo>
                    <a:pt x="68" y="8"/>
                  </a:lnTo>
                  <a:lnTo>
                    <a:pt x="52" y="7"/>
                  </a:lnTo>
                  <a:lnTo>
                    <a:pt x="37" y="6"/>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3" name="Freeform 127">
              <a:extLst>
                <a:ext uri="{FF2B5EF4-FFF2-40B4-BE49-F238E27FC236}">
                  <a16:creationId xmlns:a16="http://schemas.microsoft.com/office/drawing/2014/main" id="{9CF584EE-6C00-0938-92D3-CF6D50FD7914}"/>
                </a:ext>
              </a:extLst>
            </p:cNvPr>
            <p:cNvSpPr>
              <a:spLocks/>
            </p:cNvSpPr>
            <p:nvPr/>
          </p:nvSpPr>
          <p:spPr bwMode="auto">
            <a:xfrm>
              <a:off x="2089" y="2876"/>
              <a:ext cx="141" cy="70"/>
            </a:xfrm>
            <a:custGeom>
              <a:avLst/>
              <a:gdLst>
                <a:gd name="T0" fmla="*/ 3010083 w 85"/>
                <a:gd name="T1" fmla="*/ 157 h 61"/>
                <a:gd name="T2" fmla="*/ 2938929 w 85"/>
                <a:gd name="T3" fmla="*/ 119 h 61"/>
                <a:gd name="T4" fmla="*/ 2878991 w 85"/>
                <a:gd name="T5" fmla="*/ 104 h 61"/>
                <a:gd name="T6" fmla="*/ 2639817 w 85"/>
                <a:gd name="T7" fmla="*/ 180 h 61"/>
                <a:gd name="T8" fmla="*/ 2144595 w 85"/>
                <a:gd name="T9" fmla="*/ 313 h 61"/>
                <a:gd name="T10" fmla="*/ 1575912 w 85"/>
                <a:gd name="T11" fmla="*/ 412 h 61"/>
                <a:gd name="T12" fmla="*/ 1018839 w 85"/>
                <a:gd name="T13" fmla="*/ 555 h 61"/>
                <a:gd name="T14" fmla="*/ 495429 w 85"/>
                <a:gd name="T15" fmla="*/ 678 h 61"/>
                <a:gd name="T16" fmla="*/ 119231 w 85"/>
                <a:gd name="T17" fmla="*/ 839 h 61"/>
                <a:gd name="T18" fmla="*/ 0 w 85"/>
                <a:gd name="T19" fmla="*/ 1080 h 61"/>
                <a:gd name="T20" fmla="*/ 544238 w 85"/>
                <a:gd name="T21" fmla="*/ 990 h 61"/>
                <a:gd name="T22" fmla="*/ 572706 w 85"/>
                <a:gd name="T23" fmla="*/ 982 h 61"/>
                <a:gd name="T24" fmla="*/ 821829 w 85"/>
                <a:gd name="T25" fmla="*/ 863 h 61"/>
                <a:gd name="T26" fmla="*/ 1275833 w 85"/>
                <a:gd name="T27" fmla="*/ 746 h 61"/>
                <a:gd name="T28" fmla="*/ 1864649 w 85"/>
                <a:gd name="T29" fmla="*/ 636 h 61"/>
                <a:gd name="T30" fmla="*/ 2442656 w 85"/>
                <a:gd name="T31" fmla="*/ 515 h 61"/>
                <a:gd name="T32" fmla="*/ 2878991 w 85"/>
                <a:gd name="T33" fmla="*/ 391 h 61"/>
                <a:gd name="T34" fmla="*/ 3327053 w 85"/>
                <a:gd name="T35" fmla="*/ 273 h 61"/>
                <a:gd name="T36" fmla="*/ 3461437 w 85"/>
                <a:gd name="T37" fmla="*/ 3 h 61"/>
                <a:gd name="T38" fmla="*/ 3392672 w 85"/>
                <a:gd name="T39" fmla="*/ 0 h 61"/>
                <a:gd name="T40" fmla="*/ 3461437 w 85"/>
                <a:gd name="T41" fmla="*/ 3 h 61"/>
                <a:gd name="T42" fmla="*/ 3434334 w 85"/>
                <a:gd name="T43" fmla="*/ 1 h 61"/>
                <a:gd name="T44" fmla="*/ 3392672 w 85"/>
                <a:gd name="T45" fmla="*/ 0 h 61"/>
                <a:gd name="T46" fmla="*/ 3010083 w 85"/>
                <a:gd name="T47" fmla="*/ 157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
                <a:gd name="T73" fmla="*/ 0 h 61"/>
                <a:gd name="T74" fmla="*/ 85 w 85"/>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 h="61">
                  <a:moveTo>
                    <a:pt x="73" y="9"/>
                  </a:moveTo>
                  <a:lnTo>
                    <a:pt x="71" y="7"/>
                  </a:lnTo>
                  <a:lnTo>
                    <a:pt x="70" y="6"/>
                  </a:lnTo>
                  <a:lnTo>
                    <a:pt x="64" y="10"/>
                  </a:lnTo>
                  <a:lnTo>
                    <a:pt x="52" y="17"/>
                  </a:lnTo>
                  <a:lnTo>
                    <a:pt x="38" y="23"/>
                  </a:lnTo>
                  <a:lnTo>
                    <a:pt x="25" y="31"/>
                  </a:lnTo>
                  <a:lnTo>
                    <a:pt x="12" y="38"/>
                  </a:lnTo>
                  <a:lnTo>
                    <a:pt x="3" y="47"/>
                  </a:lnTo>
                  <a:lnTo>
                    <a:pt x="0" y="60"/>
                  </a:lnTo>
                  <a:lnTo>
                    <a:pt x="13" y="56"/>
                  </a:lnTo>
                  <a:lnTo>
                    <a:pt x="14" y="55"/>
                  </a:lnTo>
                  <a:lnTo>
                    <a:pt x="20" y="49"/>
                  </a:lnTo>
                  <a:lnTo>
                    <a:pt x="31" y="42"/>
                  </a:lnTo>
                  <a:lnTo>
                    <a:pt x="45" y="35"/>
                  </a:lnTo>
                  <a:lnTo>
                    <a:pt x="59" y="29"/>
                  </a:lnTo>
                  <a:lnTo>
                    <a:pt x="70" y="22"/>
                  </a:lnTo>
                  <a:lnTo>
                    <a:pt x="81" y="15"/>
                  </a:lnTo>
                  <a:lnTo>
                    <a:pt x="84" y="3"/>
                  </a:lnTo>
                  <a:lnTo>
                    <a:pt x="82" y="0"/>
                  </a:lnTo>
                  <a:lnTo>
                    <a:pt x="84" y="3"/>
                  </a:lnTo>
                  <a:lnTo>
                    <a:pt x="83" y="1"/>
                  </a:lnTo>
                  <a:lnTo>
                    <a:pt x="82" y="0"/>
                  </a:lnTo>
                  <a:lnTo>
                    <a:pt x="73"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4" name="Freeform 128">
              <a:extLst>
                <a:ext uri="{FF2B5EF4-FFF2-40B4-BE49-F238E27FC236}">
                  <a16:creationId xmlns:a16="http://schemas.microsoft.com/office/drawing/2014/main" id="{9511ED8C-132A-388A-24A9-4487EC34B591}"/>
                </a:ext>
              </a:extLst>
            </p:cNvPr>
            <p:cNvSpPr>
              <a:spLocks/>
            </p:cNvSpPr>
            <p:nvPr/>
          </p:nvSpPr>
          <p:spPr bwMode="auto">
            <a:xfrm>
              <a:off x="2205" y="2875"/>
              <a:ext cx="23" cy="13"/>
            </a:xfrm>
            <a:custGeom>
              <a:avLst/>
              <a:gdLst>
                <a:gd name="T0" fmla="*/ 0 w 14"/>
                <a:gd name="T1" fmla="*/ 182 h 11"/>
                <a:gd name="T2" fmla="*/ 60339 w 14"/>
                <a:gd name="T3" fmla="*/ 300 h 11"/>
                <a:gd name="T4" fmla="*/ 60339 w 14"/>
                <a:gd name="T5" fmla="*/ 343 h 11"/>
                <a:gd name="T6" fmla="*/ 375225 w 14"/>
                <a:gd name="T7" fmla="*/ 1 h 11"/>
                <a:gd name="T8" fmla="*/ 375225 w 14"/>
                <a:gd name="T9" fmla="*/ 0 h 11"/>
                <a:gd name="T10" fmla="*/ 439537 w 14"/>
                <a:gd name="T11" fmla="*/ 110 h 11"/>
                <a:gd name="T12" fmla="*/ 0 w 14"/>
                <a:gd name="T13" fmla="*/ 182 h 11"/>
                <a:gd name="T14" fmla="*/ 0 w 14"/>
                <a:gd name="T15" fmla="*/ 254 h 11"/>
                <a:gd name="T16" fmla="*/ 60339 w 14"/>
                <a:gd name="T17" fmla="*/ 300 h 11"/>
                <a:gd name="T18" fmla="*/ 0 w 14"/>
                <a:gd name="T19" fmla="*/ 182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1"/>
                <a:gd name="T32" fmla="*/ 14 w 14"/>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1">
                  <a:moveTo>
                    <a:pt x="0" y="6"/>
                  </a:moveTo>
                  <a:lnTo>
                    <a:pt x="2" y="9"/>
                  </a:lnTo>
                  <a:lnTo>
                    <a:pt x="2" y="10"/>
                  </a:lnTo>
                  <a:lnTo>
                    <a:pt x="11" y="1"/>
                  </a:lnTo>
                  <a:lnTo>
                    <a:pt x="11" y="0"/>
                  </a:lnTo>
                  <a:lnTo>
                    <a:pt x="13" y="3"/>
                  </a:lnTo>
                  <a:lnTo>
                    <a:pt x="0" y="6"/>
                  </a:lnTo>
                  <a:lnTo>
                    <a:pt x="0" y="8"/>
                  </a:lnTo>
                  <a:lnTo>
                    <a:pt x="2" y="9"/>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5" name="Freeform 129">
              <a:extLst>
                <a:ext uri="{FF2B5EF4-FFF2-40B4-BE49-F238E27FC236}">
                  <a16:creationId xmlns:a16="http://schemas.microsoft.com/office/drawing/2014/main" id="{A40BC383-E473-C247-E8F7-2B0A4A1FA862}"/>
                </a:ext>
              </a:extLst>
            </p:cNvPr>
            <p:cNvSpPr>
              <a:spLocks/>
            </p:cNvSpPr>
            <p:nvPr/>
          </p:nvSpPr>
          <p:spPr bwMode="auto">
            <a:xfrm>
              <a:off x="2056" y="2848"/>
              <a:ext cx="172" cy="36"/>
            </a:xfrm>
            <a:custGeom>
              <a:avLst/>
              <a:gdLst>
                <a:gd name="T0" fmla="*/ 0 w 104"/>
                <a:gd name="T1" fmla="*/ 149 h 30"/>
                <a:gd name="T2" fmla="*/ 310460 w 104"/>
                <a:gd name="T3" fmla="*/ 642 h 30"/>
                <a:gd name="T4" fmla="*/ 823227 w 104"/>
                <a:gd name="T5" fmla="*/ 820 h 30"/>
                <a:gd name="T6" fmla="*/ 1404400 w 104"/>
                <a:gd name="T7" fmla="*/ 953 h 30"/>
                <a:gd name="T8" fmla="*/ 1967544 w 104"/>
                <a:gd name="T9" fmla="*/ 984 h 30"/>
                <a:gd name="T10" fmla="*/ 2606496 w 104"/>
                <a:gd name="T11" fmla="*/ 1080 h 30"/>
                <a:gd name="T12" fmla="*/ 3143882 w 104"/>
                <a:gd name="T13" fmla="*/ 1144 h 30"/>
                <a:gd name="T14" fmla="*/ 3421168 w 104"/>
                <a:gd name="T15" fmla="*/ 1219 h 30"/>
                <a:gd name="T16" fmla="*/ 3487763 w 104"/>
                <a:gd name="T17" fmla="*/ 1331 h 30"/>
                <a:gd name="T18" fmla="*/ 3985470 w 104"/>
                <a:gd name="T19" fmla="*/ 1181 h 30"/>
                <a:gd name="T20" fmla="*/ 3684152 w 104"/>
                <a:gd name="T21" fmla="*/ 750 h 30"/>
                <a:gd name="T22" fmla="*/ 3210488 w 104"/>
                <a:gd name="T23" fmla="*/ 535 h 30"/>
                <a:gd name="T24" fmla="*/ 2621895 w 104"/>
                <a:gd name="T25" fmla="*/ 446 h 30"/>
                <a:gd name="T26" fmla="*/ 2068613 w 104"/>
                <a:gd name="T27" fmla="*/ 434 h 30"/>
                <a:gd name="T28" fmla="*/ 1428035 w 104"/>
                <a:gd name="T29" fmla="*/ 372 h 30"/>
                <a:gd name="T30" fmla="*/ 958573 w 104"/>
                <a:gd name="T31" fmla="*/ 215 h 30"/>
                <a:gd name="T32" fmla="*/ 607874 w 104"/>
                <a:gd name="T33" fmla="*/ 2 h 30"/>
                <a:gd name="T34" fmla="*/ 513453 w 104"/>
                <a:gd name="T35" fmla="*/ 0 h 30"/>
                <a:gd name="T36" fmla="*/ 0 w 104"/>
                <a:gd name="T37" fmla="*/ 149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30"/>
                <a:gd name="T59" fmla="*/ 104 w 104"/>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30">
                  <a:moveTo>
                    <a:pt x="0" y="3"/>
                  </a:moveTo>
                  <a:lnTo>
                    <a:pt x="8" y="14"/>
                  </a:lnTo>
                  <a:lnTo>
                    <a:pt x="21" y="18"/>
                  </a:lnTo>
                  <a:lnTo>
                    <a:pt x="36" y="21"/>
                  </a:lnTo>
                  <a:lnTo>
                    <a:pt x="51" y="22"/>
                  </a:lnTo>
                  <a:lnTo>
                    <a:pt x="67" y="23"/>
                  </a:lnTo>
                  <a:lnTo>
                    <a:pt x="81" y="25"/>
                  </a:lnTo>
                  <a:lnTo>
                    <a:pt x="88" y="27"/>
                  </a:lnTo>
                  <a:lnTo>
                    <a:pt x="90" y="29"/>
                  </a:lnTo>
                  <a:lnTo>
                    <a:pt x="103" y="26"/>
                  </a:lnTo>
                  <a:lnTo>
                    <a:pt x="95" y="16"/>
                  </a:lnTo>
                  <a:lnTo>
                    <a:pt x="83" y="12"/>
                  </a:lnTo>
                  <a:lnTo>
                    <a:pt x="68" y="10"/>
                  </a:lnTo>
                  <a:lnTo>
                    <a:pt x="53" y="9"/>
                  </a:lnTo>
                  <a:lnTo>
                    <a:pt x="37" y="8"/>
                  </a:lnTo>
                  <a:lnTo>
                    <a:pt x="25" y="5"/>
                  </a:lnTo>
                  <a:lnTo>
                    <a:pt x="16"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6" name="Freeform 130">
              <a:extLst>
                <a:ext uri="{FF2B5EF4-FFF2-40B4-BE49-F238E27FC236}">
                  <a16:creationId xmlns:a16="http://schemas.microsoft.com/office/drawing/2014/main" id="{FC0C81D9-95E8-003B-7428-2E22E71354E6}"/>
                </a:ext>
              </a:extLst>
            </p:cNvPr>
            <p:cNvSpPr>
              <a:spLocks/>
            </p:cNvSpPr>
            <p:nvPr/>
          </p:nvSpPr>
          <p:spPr bwMode="auto">
            <a:xfrm>
              <a:off x="2056" y="2780"/>
              <a:ext cx="137" cy="75"/>
            </a:xfrm>
            <a:custGeom>
              <a:avLst/>
              <a:gdLst>
                <a:gd name="T0" fmla="*/ 2566051 w 83"/>
                <a:gd name="T1" fmla="*/ 121 h 64"/>
                <a:gd name="T2" fmla="*/ 2519400 w 83"/>
                <a:gd name="T3" fmla="*/ 142 h 64"/>
                <a:gd name="T4" fmla="*/ 2289995 w 83"/>
                <a:gd name="T5" fmla="*/ 314 h 64"/>
                <a:gd name="T6" fmla="*/ 1894573 w 83"/>
                <a:gd name="T7" fmla="*/ 505 h 64"/>
                <a:gd name="T8" fmla="*/ 1423684 w 83"/>
                <a:gd name="T9" fmla="*/ 694 h 64"/>
                <a:gd name="T10" fmla="*/ 901473 w 83"/>
                <a:gd name="T11" fmla="*/ 929 h 64"/>
                <a:gd name="T12" fmla="*/ 446998 w 83"/>
                <a:gd name="T13" fmla="*/ 1117 h 64"/>
                <a:gd name="T14" fmla="*/ 64690 w 83"/>
                <a:gd name="T15" fmla="*/ 1402 h 64"/>
                <a:gd name="T16" fmla="*/ 0 w 83"/>
                <a:gd name="T17" fmla="*/ 1779 h 64"/>
                <a:gd name="T18" fmla="*/ 480180 w 83"/>
                <a:gd name="T19" fmla="*/ 1643 h 64"/>
                <a:gd name="T20" fmla="*/ 522551 w 83"/>
                <a:gd name="T21" fmla="*/ 1556 h 64"/>
                <a:gd name="T22" fmla="*/ 695387 w 83"/>
                <a:gd name="T23" fmla="*/ 1430 h 64"/>
                <a:gd name="T24" fmla="*/ 1147807 w 83"/>
                <a:gd name="T25" fmla="*/ 1236 h 64"/>
                <a:gd name="T26" fmla="*/ 1639289 w 83"/>
                <a:gd name="T27" fmla="*/ 1021 h 64"/>
                <a:gd name="T28" fmla="*/ 2159391 w 83"/>
                <a:gd name="T29" fmla="*/ 813 h 64"/>
                <a:gd name="T30" fmla="*/ 2603804 w 83"/>
                <a:gd name="T31" fmla="*/ 601 h 64"/>
                <a:gd name="T32" fmla="*/ 2935213 w 83"/>
                <a:gd name="T33" fmla="*/ 368 h 64"/>
                <a:gd name="T34" fmla="*/ 3041930 w 83"/>
                <a:gd name="T35" fmla="*/ 0 h 64"/>
                <a:gd name="T36" fmla="*/ 2566051 w 83"/>
                <a:gd name="T37" fmla="*/ 121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1" y="44"/>
                  </a:lnTo>
                  <a:lnTo>
                    <a:pt x="44" y="37"/>
                  </a:lnTo>
                  <a:lnTo>
                    <a:pt x="58"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7" name="Freeform 131">
              <a:extLst>
                <a:ext uri="{FF2B5EF4-FFF2-40B4-BE49-F238E27FC236}">
                  <a16:creationId xmlns:a16="http://schemas.microsoft.com/office/drawing/2014/main" id="{5E315437-5F69-43FD-AE52-3243E41C389B}"/>
                </a:ext>
              </a:extLst>
            </p:cNvPr>
            <p:cNvSpPr>
              <a:spLocks/>
            </p:cNvSpPr>
            <p:nvPr/>
          </p:nvSpPr>
          <p:spPr bwMode="auto">
            <a:xfrm>
              <a:off x="2020" y="2753"/>
              <a:ext cx="173" cy="34"/>
            </a:xfrm>
            <a:custGeom>
              <a:avLst/>
              <a:gdLst>
                <a:gd name="T0" fmla="*/ 0 w 106"/>
                <a:gd name="T1" fmla="*/ 121 h 29"/>
                <a:gd name="T2" fmla="*/ 228735 w 106"/>
                <a:gd name="T3" fmla="*/ 375 h 29"/>
                <a:gd name="T4" fmla="*/ 648884 w 106"/>
                <a:gd name="T5" fmla="*/ 505 h 29"/>
                <a:gd name="T6" fmla="*/ 1059028 w 106"/>
                <a:gd name="T7" fmla="*/ 579 h 29"/>
                <a:gd name="T8" fmla="*/ 1568018 w 106"/>
                <a:gd name="T9" fmla="*/ 592 h 29"/>
                <a:gd name="T10" fmla="*/ 1989524 w 106"/>
                <a:gd name="T11" fmla="*/ 605 h 29"/>
                <a:gd name="T12" fmla="*/ 2370041 w 106"/>
                <a:gd name="T13" fmla="*/ 679 h 29"/>
                <a:gd name="T14" fmla="*/ 2648708 w 106"/>
                <a:gd name="T15" fmla="*/ 709 h 29"/>
                <a:gd name="T16" fmla="*/ 2702097 w 106"/>
                <a:gd name="T17" fmla="*/ 810 h 29"/>
                <a:gd name="T18" fmla="*/ 3075039 w 106"/>
                <a:gd name="T19" fmla="*/ 691 h 29"/>
                <a:gd name="T20" fmla="*/ 2820902 w 106"/>
                <a:gd name="T21" fmla="*/ 375 h 29"/>
                <a:gd name="T22" fmla="*/ 2468792 w 106"/>
                <a:gd name="T23" fmla="*/ 314 h 29"/>
                <a:gd name="T24" fmla="*/ 2027495 w 106"/>
                <a:gd name="T25" fmla="*/ 268 h 29"/>
                <a:gd name="T26" fmla="*/ 1568018 w 106"/>
                <a:gd name="T27" fmla="*/ 229 h 29"/>
                <a:gd name="T28" fmla="*/ 1079154 w 106"/>
                <a:gd name="T29" fmla="*/ 229 h 29"/>
                <a:gd name="T30" fmla="*/ 701815 w 106"/>
                <a:gd name="T31" fmla="*/ 166 h 29"/>
                <a:gd name="T32" fmla="*/ 466379 w 106"/>
                <a:gd name="T33" fmla="*/ 103 h 29"/>
                <a:gd name="T34" fmla="*/ 373313 w 106"/>
                <a:gd name="T35" fmla="*/ 0 h 29"/>
                <a:gd name="T36" fmla="*/ 0 w 106"/>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2" y="18"/>
                  </a:lnTo>
                  <a:lnTo>
                    <a:pt x="36" y="20"/>
                  </a:lnTo>
                  <a:lnTo>
                    <a:pt x="53" y="21"/>
                  </a:lnTo>
                  <a:lnTo>
                    <a:pt x="68" y="22"/>
                  </a:lnTo>
                  <a:lnTo>
                    <a:pt x="81" y="23"/>
                  </a:lnTo>
                  <a:lnTo>
                    <a:pt x="90" y="26"/>
                  </a:lnTo>
                  <a:lnTo>
                    <a:pt x="92" y="28"/>
                  </a:lnTo>
                  <a:lnTo>
                    <a:pt x="105" y="24"/>
                  </a:lnTo>
                  <a:lnTo>
                    <a:pt x="96" y="14"/>
                  </a:lnTo>
                  <a:lnTo>
                    <a:pt x="84" y="11"/>
                  </a:lnTo>
                  <a:lnTo>
                    <a:pt x="69" y="9"/>
                  </a:lnTo>
                  <a:lnTo>
                    <a:pt x="53" y="8"/>
                  </a:lnTo>
                  <a:lnTo>
                    <a:pt x="37"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8" name="Freeform 132">
              <a:extLst>
                <a:ext uri="{FF2B5EF4-FFF2-40B4-BE49-F238E27FC236}">
                  <a16:creationId xmlns:a16="http://schemas.microsoft.com/office/drawing/2014/main" id="{F5C74A53-1924-FE69-85F9-9FAC68901DC3}"/>
                </a:ext>
              </a:extLst>
            </p:cNvPr>
            <p:cNvSpPr>
              <a:spLocks/>
            </p:cNvSpPr>
            <p:nvPr/>
          </p:nvSpPr>
          <p:spPr bwMode="auto">
            <a:xfrm>
              <a:off x="2020" y="2685"/>
              <a:ext cx="134" cy="74"/>
            </a:xfrm>
            <a:custGeom>
              <a:avLst/>
              <a:gdLst>
                <a:gd name="T0" fmla="*/ 2046276 w 82"/>
                <a:gd name="T1" fmla="*/ 69 h 65"/>
                <a:gd name="T2" fmla="*/ 1991258 w 82"/>
                <a:gd name="T3" fmla="*/ 90 h 65"/>
                <a:gd name="T4" fmla="*/ 1839080 w 82"/>
                <a:gd name="T5" fmla="*/ 183 h 65"/>
                <a:gd name="T6" fmla="*/ 1513180 w 82"/>
                <a:gd name="T7" fmla="*/ 270 h 65"/>
                <a:gd name="T8" fmla="*/ 1105410 w 82"/>
                <a:gd name="T9" fmla="*/ 398 h 65"/>
                <a:gd name="T10" fmla="*/ 726393 w 82"/>
                <a:gd name="T11" fmla="*/ 508 h 65"/>
                <a:gd name="T12" fmla="*/ 326445 w 82"/>
                <a:gd name="T13" fmla="*/ 627 h 65"/>
                <a:gd name="T14" fmla="*/ 54362 w 82"/>
                <a:gd name="T15" fmla="*/ 767 h 65"/>
                <a:gd name="T16" fmla="*/ 0 w 82"/>
                <a:gd name="T17" fmla="*/ 971 h 65"/>
                <a:gd name="T18" fmla="*/ 387664 w 82"/>
                <a:gd name="T19" fmla="*/ 899 h 65"/>
                <a:gd name="T20" fmla="*/ 427217 w 82"/>
                <a:gd name="T21" fmla="*/ 865 h 65"/>
                <a:gd name="T22" fmla="*/ 608172 w 82"/>
                <a:gd name="T23" fmla="*/ 767 h 65"/>
                <a:gd name="T24" fmla="*/ 905400 w 82"/>
                <a:gd name="T25" fmla="*/ 674 h 65"/>
                <a:gd name="T26" fmla="*/ 1332638 w 82"/>
                <a:gd name="T27" fmla="*/ 575 h 65"/>
                <a:gd name="T28" fmla="*/ 1712129 w 82"/>
                <a:gd name="T29" fmla="*/ 453 h 65"/>
                <a:gd name="T30" fmla="*/ 2100009 w 82"/>
                <a:gd name="T31" fmla="*/ 328 h 65"/>
                <a:gd name="T32" fmla="*/ 2350329 w 82"/>
                <a:gd name="T33" fmla="*/ 195 h 65"/>
                <a:gd name="T34" fmla="*/ 2438921 w 82"/>
                <a:gd name="T35" fmla="*/ 0 h 65"/>
                <a:gd name="T36" fmla="*/ 2046276 w 82"/>
                <a:gd name="T37" fmla="*/ 6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5"/>
                <a:gd name="T59" fmla="*/ 82 w 82"/>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5">
                  <a:moveTo>
                    <a:pt x="68" y="4"/>
                  </a:moveTo>
                  <a:lnTo>
                    <a:pt x="66" y="6"/>
                  </a:lnTo>
                  <a:lnTo>
                    <a:pt x="61" y="12"/>
                  </a:lnTo>
                  <a:lnTo>
                    <a:pt x="50" y="18"/>
                  </a:lnTo>
                  <a:lnTo>
                    <a:pt x="37" y="26"/>
                  </a:lnTo>
                  <a:lnTo>
                    <a:pt x="24" y="33"/>
                  </a:lnTo>
                  <a:lnTo>
                    <a:pt x="11" y="41"/>
                  </a:lnTo>
                  <a:lnTo>
                    <a:pt x="2" y="51"/>
                  </a:lnTo>
                  <a:lnTo>
                    <a:pt x="0" y="64"/>
                  </a:lnTo>
                  <a:lnTo>
                    <a:pt x="13" y="60"/>
                  </a:lnTo>
                  <a:lnTo>
                    <a:pt x="14" y="57"/>
                  </a:lnTo>
                  <a:lnTo>
                    <a:pt x="20" y="51"/>
                  </a:lnTo>
                  <a:lnTo>
                    <a:pt x="30" y="45"/>
                  </a:lnTo>
                  <a:lnTo>
                    <a:pt x="44" y="37"/>
                  </a:lnTo>
                  <a:lnTo>
                    <a:pt x="57" y="30"/>
                  </a:lnTo>
                  <a:lnTo>
                    <a:pt x="70" y="22"/>
                  </a:lnTo>
                  <a:lnTo>
                    <a:pt x="78"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39" name="Freeform 133">
              <a:extLst>
                <a:ext uri="{FF2B5EF4-FFF2-40B4-BE49-F238E27FC236}">
                  <a16:creationId xmlns:a16="http://schemas.microsoft.com/office/drawing/2014/main" id="{3171E57A-7D7A-BC6A-09CB-31C3AA0A9AF1}"/>
                </a:ext>
              </a:extLst>
            </p:cNvPr>
            <p:cNvSpPr>
              <a:spLocks/>
            </p:cNvSpPr>
            <p:nvPr/>
          </p:nvSpPr>
          <p:spPr bwMode="auto">
            <a:xfrm>
              <a:off x="2131" y="2685"/>
              <a:ext cx="23" cy="5"/>
            </a:xfrm>
            <a:custGeom>
              <a:avLst/>
              <a:gdLst>
                <a:gd name="T0" fmla="*/ 0 w 14"/>
                <a:gd name="T1" fmla="*/ 4 h 5"/>
                <a:gd name="T2" fmla="*/ 200264 w 14"/>
                <a:gd name="T3" fmla="*/ 2 h 5"/>
                <a:gd name="T4" fmla="*/ 439537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0" name="Freeform 134">
              <a:extLst>
                <a:ext uri="{FF2B5EF4-FFF2-40B4-BE49-F238E27FC236}">
                  <a16:creationId xmlns:a16="http://schemas.microsoft.com/office/drawing/2014/main" id="{B566FFC8-B8A0-89E5-3B14-AC39173F88A6}"/>
                </a:ext>
              </a:extLst>
            </p:cNvPr>
            <p:cNvSpPr>
              <a:spLocks/>
            </p:cNvSpPr>
            <p:nvPr/>
          </p:nvSpPr>
          <p:spPr bwMode="auto">
            <a:xfrm>
              <a:off x="1978" y="2656"/>
              <a:ext cx="176" cy="34"/>
            </a:xfrm>
            <a:custGeom>
              <a:avLst/>
              <a:gdLst>
                <a:gd name="T0" fmla="*/ 0 w 107"/>
                <a:gd name="T1" fmla="*/ 61 h 30"/>
                <a:gd name="T2" fmla="*/ 272945 w 107"/>
                <a:gd name="T3" fmla="*/ 186 h 30"/>
                <a:gd name="T4" fmla="*/ 738470 w 107"/>
                <a:gd name="T5" fmla="*/ 239 h 30"/>
                <a:gd name="T6" fmla="*/ 1242572 w 107"/>
                <a:gd name="T7" fmla="*/ 264 h 30"/>
                <a:gd name="T8" fmla="*/ 1803036 w 107"/>
                <a:gd name="T9" fmla="*/ 271 h 30"/>
                <a:gd name="T10" fmla="*/ 2351955 w 107"/>
                <a:gd name="T11" fmla="*/ 298 h 30"/>
                <a:gd name="T12" fmla="*/ 2833329 w 107"/>
                <a:gd name="T13" fmla="*/ 307 h 30"/>
                <a:gd name="T14" fmla="*/ 3107351 w 107"/>
                <a:gd name="T15" fmla="*/ 348 h 30"/>
                <a:gd name="T16" fmla="*/ 3223782 w 107"/>
                <a:gd name="T17" fmla="*/ 394 h 30"/>
                <a:gd name="T18" fmla="*/ 3649694 w 107"/>
                <a:gd name="T19" fmla="*/ 339 h 30"/>
                <a:gd name="T20" fmla="*/ 3383873 w 107"/>
                <a:gd name="T21" fmla="*/ 186 h 30"/>
                <a:gd name="T22" fmla="*/ 2899460 w 107"/>
                <a:gd name="T23" fmla="*/ 128 h 30"/>
                <a:gd name="T24" fmla="*/ 2374059 w 107"/>
                <a:gd name="T25" fmla="*/ 100 h 30"/>
                <a:gd name="T26" fmla="*/ 1865939 w 107"/>
                <a:gd name="T27" fmla="*/ 88 h 30"/>
                <a:gd name="T28" fmla="*/ 1326479 w 107"/>
                <a:gd name="T29" fmla="*/ 78 h 30"/>
                <a:gd name="T30" fmla="*/ 818282 w 107"/>
                <a:gd name="T31" fmla="*/ 69 h 30"/>
                <a:gd name="T32" fmla="*/ 520021 w 107"/>
                <a:gd name="T33" fmla="*/ 2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8"/>
                  </a:lnTo>
                  <a:lnTo>
                    <a:pt x="36" y="19"/>
                  </a:lnTo>
                  <a:lnTo>
                    <a:pt x="52" y="20"/>
                  </a:lnTo>
                  <a:lnTo>
                    <a:pt x="68" y="21"/>
                  </a:lnTo>
                  <a:lnTo>
                    <a:pt x="82" y="23"/>
                  </a:lnTo>
                  <a:lnTo>
                    <a:pt x="90" y="26"/>
                  </a:lnTo>
                  <a:lnTo>
                    <a:pt x="93" y="29"/>
                  </a:lnTo>
                  <a:lnTo>
                    <a:pt x="106" y="25"/>
                  </a:lnTo>
                  <a:lnTo>
                    <a:pt x="98" y="14"/>
                  </a:lnTo>
                  <a:lnTo>
                    <a:pt x="84" y="10"/>
                  </a:lnTo>
                  <a:lnTo>
                    <a:pt x="69" y="8"/>
                  </a:lnTo>
                  <a:lnTo>
                    <a:pt x="54" y="7"/>
                  </a:lnTo>
                  <a:lnTo>
                    <a:pt x="38" y="6"/>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1" name="Freeform 135">
              <a:extLst>
                <a:ext uri="{FF2B5EF4-FFF2-40B4-BE49-F238E27FC236}">
                  <a16:creationId xmlns:a16="http://schemas.microsoft.com/office/drawing/2014/main" id="{C07B88E6-F087-EAD0-6EC2-4239B0D6A40C}"/>
                </a:ext>
              </a:extLst>
            </p:cNvPr>
            <p:cNvSpPr>
              <a:spLocks/>
            </p:cNvSpPr>
            <p:nvPr/>
          </p:nvSpPr>
          <p:spPr bwMode="auto">
            <a:xfrm>
              <a:off x="1978" y="2589"/>
              <a:ext cx="137" cy="72"/>
            </a:xfrm>
            <a:custGeom>
              <a:avLst/>
              <a:gdLst>
                <a:gd name="T0" fmla="*/ 2021003 w 84"/>
                <a:gd name="T1" fmla="*/ 73 h 63"/>
                <a:gd name="T2" fmla="*/ 2001462 w 84"/>
                <a:gd name="T3" fmla="*/ 109 h 63"/>
                <a:gd name="T4" fmla="*/ 1826807 w 84"/>
                <a:gd name="T5" fmla="*/ 213 h 63"/>
                <a:gd name="T6" fmla="*/ 1510138 w 84"/>
                <a:gd name="T7" fmla="*/ 318 h 63"/>
                <a:gd name="T8" fmla="*/ 1100537 w 84"/>
                <a:gd name="T9" fmla="*/ 426 h 63"/>
                <a:gd name="T10" fmla="*/ 726030 w 84"/>
                <a:gd name="T11" fmla="*/ 542 h 63"/>
                <a:gd name="T12" fmla="*/ 361054 w 84"/>
                <a:gd name="T13" fmla="*/ 671 h 63"/>
                <a:gd name="T14" fmla="*/ 84992 w 84"/>
                <a:gd name="T15" fmla="*/ 808 h 63"/>
                <a:gd name="T16" fmla="*/ 0 w 84"/>
                <a:gd name="T17" fmla="*/ 1032 h 63"/>
                <a:gd name="T18" fmla="*/ 368724 w 84"/>
                <a:gd name="T19" fmla="*/ 951 h 63"/>
                <a:gd name="T20" fmla="*/ 413735 w 84"/>
                <a:gd name="T21" fmla="*/ 941 h 63"/>
                <a:gd name="T22" fmla="*/ 588862 w 84"/>
                <a:gd name="T23" fmla="*/ 832 h 63"/>
                <a:gd name="T24" fmla="*/ 900861 w 84"/>
                <a:gd name="T25" fmla="*/ 720 h 63"/>
                <a:gd name="T26" fmla="*/ 1290855 w 84"/>
                <a:gd name="T27" fmla="*/ 619 h 63"/>
                <a:gd name="T28" fmla="*/ 1709551 w 84"/>
                <a:gd name="T29" fmla="*/ 514 h 63"/>
                <a:gd name="T30" fmla="*/ 2053106 w 84"/>
                <a:gd name="T31" fmla="*/ 373 h 63"/>
                <a:gd name="T32" fmla="*/ 2338756 w 84"/>
                <a:gd name="T33" fmla="*/ 213 h 63"/>
                <a:gd name="T34" fmla="*/ 2396295 w 84"/>
                <a:gd name="T35" fmla="*/ 0 h 63"/>
                <a:gd name="T36" fmla="*/ 2021003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7"/>
                  </a:lnTo>
                  <a:lnTo>
                    <a:pt x="63" y="13"/>
                  </a:lnTo>
                  <a:lnTo>
                    <a:pt x="52" y="19"/>
                  </a:lnTo>
                  <a:lnTo>
                    <a:pt x="38" y="26"/>
                  </a:lnTo>
                  <a:lnTo>
                    <a:pt x="25" y="33"/>
                  </a:lnTo>
                  <a:lnTo>
                    <a:pt x="12" y="40"/>
                  </a:lnTo>
                  <a:lnTo>
                    <a:pt x="3" y="49"/>
                  </a:lnTo>
                  <a:lnTo>
                    <a:pt x="0" y="62"/>
                  </a:lnTo>
                  <a:lnTo>
                    <a:pt x="13" y="58"/>
                  </a:lnTo>
                  <a:lnTo>
                    <a:pt x="14" y="57"/>
                  </a:lnTo>
                  <a:lnTo>
                    <a:pt x="20" y="51"/>
                  </a:lnTo>
                  <a:lnTo>
                    <a:pt x="31" y="44"/>
                  </a:lnTo>
                  <a:lnTo>
                    <a:pt x="45" y="38"/>
                  </a:lnTo>
                  <a:lnTo>
                    <a:pt x="59" y="31"/>
                  </a:lnTo>
                  <a:lnTo>
                    <a:pt x="71" y="23"/>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2" name="Freeform 136">
              <a:extLst>
                <a:ext uri="{FF2B5EF4-FFF2-40B4-BE49-F238E27FC236}">
                  <a16:creationId xmlns:a16="http://schemas.microsoft.com/office/drawing/2014/main" id="{2C39E93A-E2AA-D010-3D52-E88FDAD16EB6}"/>
                </a:ext>
              </a:extLst>
            </p:cNvPr>
            <p:cNvSpPr>
              <a:spLocks/>
            </p:cNvSpPr>
            <p:nvPr/>
          </p:nvSpPr>
          <p:spPr bwMode="auto">
            <a:xfrm>
              <a:off x="1942" y="2561"/>
              <a:ext cx="173" cy="33"/>
            </a:xfrm>
            <a:custGeom>
              <a:avLst/>
              <a:gdLst>
                <a:gd name="T0" fmla="*/ 0 w 106"/>
                <a:gd name="T1" fmla="*/ 3 h 29"/>
                <a:gd name="T2" fmla="*/ 228735 w 106"/>
                <a:gd name="T3" fmla="*/ 191 h 29"/>
                <a:gd name="T4" fmla="*/ 609275 w 106"/>
                <a:gd name="T5" fmla="*/ 247 h 29"/>
                <a:gd name="T6" fmla="*/ 1059028 w 106"/>
                <a:gd name="T7" fmla="*/ 281 h 29"/>
                <a:gd name="T8" fmla="*/ 1530828 w 106"/>
                <a:gd name="T9" fmla="*/ 306 h 29"/>
                <a:gd name="T10" fmla="*/ 1964446 w 106"/>
                <a:gd name="T11" fmla="*/ 306 h 29"/>
                <a:gd name="T12" fmla="*/ 2370041 w 106"/>
                <a:gd name="T13" fmla="*/ 320 h 29"/>
                <a:gd name="T14" fmla="*/ 2613447 w 106"/>
                <a:gd name="T15" fmla="*/ 364 h 29"/>
                <a:gd name="T16" fmla="*/ 2702097 w 106"/>
                <a:gd name="T17" fmla="*/ 414 h 29"/>
                <a:gd name="T18" fmla="*/ 3075039 w 106"/>
                <a:gd name="T19" fmla="*/ 360 h 29"/>
                <a:gd name="T20" fmla="*/ 2841860 w 106"/>
                <a:gd name="T21" fmla="*/ 207 h 29"/>
                <a:gd name="T22" fmla="*/ 2468792 w 106"/>
                <a:gd name="T23" fmla="*/ 130 h 29"/>
                <a:gd name="T24" fmla="*/ 2027495 w 106"/>
                <a:gd name="T25" fmla="*/ 100 h 29"/>
                <a:gd name="T26" fmla="*/ 1530828 w 106"/>
                <a:gd name="T27" fmla="*/ 100 h 29"/>
                <a:gd name="T28" fmla="*/ 1079154 w 106"/>
                <a:gd name="T29" fmla="*/ 88 h 29"/>
                <a:gd name="T30" fmla="*/ 701815 w 106"/>
                <a:gd name="T31" fmla="*/ 68 h 29"/>
                <a:gd name="T32" fmla="*/ 430014 w 106"/>
                <a:gd name="T33" fmla="*/ 1 h 29"/>
                <a:gd name="T34" fmla="*/ 373313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0"/>
                  </a:lnTo>
                  <a:lnTo>
                    <a:pt x="81" y="22"/>
                  </a:lnTo>
                  <a:lnTo>
                    <a:pt x="89" y="25"/>
                  </a:lnTo>
                  <a:lnTo>
                    <a:pt x="92" y="28"/>
                  </a:lnTo>
                  <a:lnTo>
                    <a:pt x="105" y="24"/>
                  </a:lnTo>
                  <a:lnTo>
                    <a:pt x="97" y="14"/>
                  </a:lnTo>
                  <a:lnTo>
                    <a:pt x="84" y="9"/>
                  </a:lnTo>
                  <a:lnTo>
                    <a:pt x="69" y="7"/>
                  </a:lnTo>
                  <a:lnTo>
                    <a:pt x="52"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3" name="Freeform 137">
              <a:extLst>
                <a:ext uri="{FF2B5EF4-FFF2-40B4-BE49-F238E27FC236}">
                  <a16:creationId xmlns:a16="http://schemas.microsoft.com/office/drawing/2014/main" id="{96082391-C76F-8992-9263-9864833382F7}"/>
                </a:ext>
              </a:extLst>
            </p:cNvPr>
            <p:cNvSpPr>
              <a:spLocks/>
            </p:cNvSpPr>
            <p:nvPr/>
          </p:nvSpPr>
          <p:spPr bwMode="auto">
            <a:xfrm>
              <a:off x="1942" y="2497"/>
              <a:ext cx="138" cy="69"/>
            </a:xfrm>
            <a:custGeom>
              <a:avLst/>
              <a:gdLst>
                <a:gd name="T0" fmla="*/ 2396631 w 84"/>
                <a:gd name="T1" fmla="*/ 113 h 60"/>
                <a:gd name="T2" fmla="*/ 2353327 w 84"/>
                <a:gd name="T3" fmla="*/ 98 h 60"/>
                <a:gd name="T4" fmla="*/ 2325254 w 84"/>
                <a:gd name="T5" fmla="*/ 85 h 60"/>
                <a:gd name="T6" fmla="*/ 2095021 w 84"/>
                <a:gd name="T7" fmla="*/ 199 h 60"/>
                <a:gd name="T8" fmla="*/ 1725639 w 84"/>
                <a:gd name="T9" fmla="*/ 302 h 60"/>
                <a:gd name="T10" fmla="*/ 1275230 w 84"/>
                <a:gd name="T11" fmla="*/ 430 h 60"/>
                <a:gd name="T12" fmla="*/ 797119 w 84"/>
                <a:gd name="T13" fmla="*/ 549 h 60"/>
                <a:gd name="T14" fmla="*/ 410755 w 84"/>
                <a:gd name="T15" fmla="*/ 698 h 60"/>
                <a:gd name="T16" fmla="*/ 60339 w 84"/>
                <a:gd name="T17" fmla="*/ 864 h 60"/>
                <a:gd name="T18" fmla="*/ 0 w 84"/>
                <a:gd name="T19" fmla="*/ 1122 h 60"/>
                <a:gd name="T20" fmla="*/ 439537 w 84"/>
                <a:gd name="T21" fmla="*/ 1023 h 60"/>
                <a:gd name="T22" fmla="*/ 472486 w 84"/>
                <a:gd name="T23" fmla="*/ 1014 h 60"/>
                <a:gd name="T24" fmla="*/ 674812 w 84"/>
                <a:gd name="T25" fmla="*/ 882 h 60"/>
                <a:gd name="T26" fmla="*/ 1050389 w 84"/>
                <a:gd name="T27" fmla="*/ 767 h 60"/>
                <a:gd name="T28" fmla="*/ 1476779 w 84"/>
                <a:gd name="T29" fmla="*/ 650 h 60"/>
                <a:gd name="T30" fmla="*/ 1948925 w 84"/>
                <a:gd name="T31" fmla="*/ 528 h 60"/>
                <a:gd name="T32" fmla="*/ 2353327 w 84"/>
                <a:gd name="T33" fmla="*/ 399 h 60"/>
                <a:gd name="T34" fmla="*/ 2684176 w 84"/>
                <a:gd name="T35" fmla="*/ 246 h 60"/>
                <a:gd name="T36" fmla="*/ 2779841 w 84"/>
                <a:gd name="T37" fmla="*/ 1 h 60"/>
                <a:gd name="T38" fmla="*/ 2776586 w 84"/>
                <a:gd name="T39" fmla="*/ 0 h 60"/>
                <a:gd name="T40" fmla="*/ 2779841 w 84"/>
                <a:gd name="T41" fmla="*/ 1 h 60"/>
                <a:gd name="T42" fmla="*/ 2779841 w 84"/>
                <a:gd name="T43" fmla="*/ 0 h 60"/>
                <a:gd name="T44" fmla="*/ 2776586 w 84"/>
                <a:gd name="T45" fmla="*/ 0 h 60"/>
                <a:gd name="T46" fmla="*/ 2396631 w 84"/>
                <a:gd name="T47" fmla="*/ 113 h 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4"/>
                <a:gd name="T73" fmla="*/ 0 h 60"/>
                <a:gd name="T74" fmla="*/ 84 w 84"/>
                <a:gd name="T75" fmla="*/ 60 h 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4" h="60">
                  <a:moveTo>
                    <a:pt x="71" y="6"/>
                  </a:moveTo>
                  <a:lnTo>
                    <a:pt x="70" y="5"/>
                  </a:lnTo>
                  <a:lnTo>
                    <a:pt x="69" y="4"/>
                  </a:lnTo>
                  <a:lnTo>
                    <a:pt x="62" y="10"/>
                  </a:lnTo>
                  <a:lnTo>
                    <a:pt x="51" y="16"/>
                  </a:lnTo>
                  <a:lnTo>
                    <a:pt x="38" y="23"/>
                  </a:lnTo>
                  <a:lnTo>
                    <a:pt x="24" y="29"/>
                  </a:lnTo>
                  <a:lnTo>
                    <a:pt x="12" y="37"/>
                  </a:lnTo>
                  <a:lnTo>
                    <a:pt x="2" y="46"/>
                  </a:lnTo>
                  <a:lnTo>
                    <a:pt x="0" y="59"/>
                  </a:lnTo>
                  <a:lnTo>
                    <a:pt x="13" y="55"/>
                  </a:lnTo>
                  <a:lnTo>
                    <a:pt x="14" y="54"/>
                  </a:lnTo>
                  <a:lnTo>
                    <a:pt x="20" y="47"/>
                  </a:lnTo>
                  <a:lnTo>
                    <a:pt x="31" y="41"/>
                  </a:lnTo>
                  <a:lnTo>
                    <a:pt x="44" y="34"/>
                  </a:lnTo>
                  <a:lnTo>
                    <a:pt x="58" y="28"/>
                  </a:lnTo>
                  <a:lnTo>
                    <a:pt x="70" y="21"/>
                  </a:lnTo>
                  <a:lnTo>
                    <a:pt x="80" y="13"/>
                  </a:lnTo>
                  <a:lnTo>
                    <a:pt x="83" y="1"/>
                  </a:lnTo>
                  <a:lnTo>
                    <a:pt x="82" y="0"/>
                  </a:lnTo>
                  <a:lnTo>
                    <a:pt x="83" y="1"/>
                  </a:lnTo>
                  <a:lnTo>
                    <a:pt x="83" y="0"/>
                  </a:lnTo>
                  <a:lnTo>
                    <a:pt x="82" y="0"/>
                  </a:lnTo>
                  <a:lnTo>
                    <a:pt x="71"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4" name="Freeform 138">
              <a:extLst>
                <a:ext uri="{FF2B5EF4-FFF2-40B4-BE49-F238E27FC236}">
                  <a16:creationId xmlns:a16="http://schemas.microsoft.com/office/drawing/2014/main" id="{412AE317-410D-CC42-A72A-539D03B5ECE3}"/>
                </a:ext>
              </a:extLst>
            </p:cNvPr>
            <p:cNvSpPr>
              <a:spLocks/>
            </p:cNvSpPr>
            <p:nvPr/>
          </p:nvSpPr>
          <p:spPr bwMode="auto">
            <a:xfrm>
              <a:off x="2056" y="2495"/>
              <a:ext cx="24" cy="11"/>
            </a:xfrm>
            <a:custGeom>
              <a:avLst/>
              <a:gdLst>
                <a:gd name="T0" fmla="*/ 0 w 14"/>
                <a:gd name="T1" fmla="*/ 323 h 9"/>
                <a:gd name="T2" fmla="*/ 84792 w 14"/>
                <a:gd name="T3" fmla="*/ 395 h 9"/>
                <a:gd name="T4" fmla="*/ 84792 w 14"/>
                <a:gd name="T5" fmla="*/ 543 h 9"/>
                <a:gd name="T6" fmla="*/ 1057803 w 14"/>
                <a:gd name="T7" fmla="*/ 1 h 9"/>
                <a:gd name="T8" fmla="*/ 1012678 w 14"/>
                <a:gd name="T9" fmla="*/ 0 h 9"/>
                <a:gd name="T10" fmla="*/ 1057803 w 14"/>
                <a:gd name="T11" fmla="*/ 2 h 9"/>
                <a:gd name="T12" fmla="*/ 0 w 14"/>
                <a:gd name="T13" fmla="*/ 323 h 9"/>
                <a:gd name="T14" fmla="*/ 0 w 14"/>
                <a:gd name="T15" fmla="*/ 395 h 9"/>
                <a:gd name="T16" fmla="*/ 84792 w 14"/>
                <a:gd name="T17" fmla="*/ 395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1" y="6"/>
                  </a:lnTo>
                  <a:lnTo>
                    <a:pt x="1" y="8"/>
                  </a:lnTo>
                  <a:lnTo>
                    <a:pt x="13" y="1"/>
                  </a:lnTo>
                  <a:lnTo>
                    <a:pt x="12" y="0"/>
                  </a:lnTo>
                  <a:lnTo>
                    <a:pt x="13" y="2"/>
                  </a:lnTo>
                  <a:lnTo>
                    <a:pt x="0" y="5"/>
                  </a:lnTo>
                  <a:lnTo>
                    <a:pt x="0" y="6"/>
                  </a:lnTo>
                  <a:lnTo>
                    <a:pt x="1" y="6"/>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5" name="Freeform 139">
              <a:extLst>
                <a:ext uri="{FF2B5EF4-FFF2-40B4-BE49-F238E27FC236}">
                  <a16:creationId xmlns:a16="http://schemas.microsoft.com/office/drawing/2014/main" id="{03F1A31C-21AF-D61C-D17B-3F83955DC9B1}"/>
                </a:ext>
              </a:extLst>
            </p:cNvPr>
            <p:cNvSpPr>
              <a:spLocks/>
            </p:cNvSpPr>
            <p:nvPr/>
          </p:nvSpPr>
          <p:spPr bwMode="auto">
            <a:xfrm>
              <a:off x="1907" y="2467"/>
              <a:ext cx="173" cy="36"/>
            </a:xfrm>
            <a:custGeom>
              <a:avLst/>
              <a:gdLst>
                <a:gd name="T0" fmla="*/ 0 w 105"/>
                <a:gd name="T1" fmla="*/ 179 h 30"/>
                <a:gd name="T2" fmla="*/ 282272 w 105"/>
                <a:gd name="T3" fmla="*/ 642 h 30"/>
                <a:gd name="T4" fmla="*/ 778703 w 105"/>
                <a:gd name="T5" fmla="*/ 900 h 30"/>
                <a:gd name="T6" fmla="*/ 1283006 w 105"/>
                <a:gd name="T7" fmla="*/ 953 h 30"/>
                <a:gd name="T8" fmla="*/ 1816719 w 105"/>
                <a:gd name="T9" fmla="*/ 984 h 30"/>
                <a:gd name="T10" fmla="*/ 2445765 w 105"/>
                <a:gd name="T11" fmla="*/ 1080 h 30"/>
                <a:gd name="T12" fmla="*/ 2890764 w 105"/>
                <a:gd name="T13" fmla="*/ 1144 h 30"/>
                <a:gd name="T14" fmla="*/ 3191916 w 105"/>
                <a:gd name="T15" fmla="*/ 1219 h 30"/>
                <a:gd name="T16" fmla="*/ 3261172 w 105"/>
                <a:gd name="T17" fmla="*/ 1331 h 30"/>
                <a:gd name="T18" fmla="*/ 3721278 w 105"/>
                <a:gd name="T19" fmla="*/ 1181 h 30"/>
                <a:gd name="T20" fmla="*/ 3427301 w 105"/>
                <a:gd name="T21" fmla="*/ 750 h 30"/>
                <a:gd name="T22" fmla="*/ 2993261 w 105"/>
                <a:gd name="T23" fmla="*/ 535 h 30"/>
                <a:gd name="T24" fmla="*/ 2482473 w 105"/>
                <a:gd name="T25" fmla="*/ 446 h 30"/>
                <a:gd name="T26" fmla="*/ 1890361 w 105"/>
                <a:gd name="T27" fmla="*/ 434 h 30"/>
                <a:gd name="T28" fmla="*/ 1329942 w 105"/>
                <a:gd name="T29" fmla="*/ 372 h 30"/>
                <a:gd name="T30" fmla="*/ 875703 w 105"/>
                <a:gd name="T31" fmla="*/ 258 h 30"/>
                <a:gd name="T32" fmla="*/ 569066 w 105"/>
                <a:gd name="T33" fmla="*/ 149 h 30"/>
                <a:gd name="T34" fmla="*/ 465077 w 105"/>
                <a:gd name="T35" fmla="*/ 0 h 30"/>
                <a:gd name="T36" fmla="*/ 0 w 105"/>
                <a:gd name="T37" fmla="*/ 179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2" y="19"/>
                  </a:lnTo>
                  <a:lnTo>
                    <a:pt x="36" y="21"/>
                  </a:lnTo>
                  <a:lnTo>
                    <a:pt x="51" y="22"/>
                  </a:lnTo>
                  <a:lnTo>
                    <a:pt x="68" y="23"/>
                  </a:lnTo>
                  <a:lnTo>
                    <a:pt x="81" y="25"/>
                  </a:lnTo>
                  <a:lnTo>
                    <a:pt x="89" y="27"/>
                  </a:lnTo>
                  <a:lnTo>
                    <a:pt x="91" y="29"/>
                  </a:lnTo>
                  <a:lnTo>
                    <a:pt x="104" y="26"/>
                  </a:lnTo>
                  <a:lnTo>
                    <a:pt x="96" y="16"/>
                  </a:lnTo>
                  <a:lnTo>
                    <a:pt x="84" y="12"/>
                  </a:lnTo>
                  <a:lnTo>
                    <a:pt x="69" y="10"/>
                  </a:lnTo>
                  <a:lnTo>
                    <a:pt x="53" y="9"/>
                  </a:lnTo>
                  <a:lnTo>
                    <a:pt x="37"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6" name="Freeform 140">
              <a:extLst>
                <a:ext uri="{FF2B5EF4-FFF2-40B4-BE49-F238E27FC236}">
                  <a16:creationId xmlns:a16="http://schemas.microsoft.com/office/drawing/2014/main" id="{9E8A9A10-4090-4C40-560E-7EC5EBAE8126}"/>
                </a:ext>
              </a:extLst>
            </p:cNvPr>
            <p:cNvSpPr>
              <a:spLocks/>
            </p:cNvSpPr>
            <p:nvPr/>
          </p:nvSpPr>
          <p:spPr bwMode="auto">
            <a:xfrm>
              <a:off x="1907" y="2401"/>
              <a:ext cx="139" cy="73"/>
            </a:xfrm>
            <a:custGeom>
              <a:avLst/>
              <a:gdLst>
                <a:gd name="T0" fmla="*/ 2750315 w 84"/>
                <a:gd name="T1" fmla="*/ 94 h 63"/>
                <a:gd name="T2" fmla="*/ 2674282 w 84"/>
                <a:gd name="T3" fmla="*/ 109 h 63"/>
                <a:gd name="T4" fmla="*/ 2468110 w 84"/>
                <a:gd name="T5" fmla="*/ 247 h 63"/>
                <a:gd name="T6" fmla="*/ 1992016 w 84"/>
                <a:gd name="T7" fmla="*/ 394 h 63"/>
                <a:gd name="T8" fmla="*/ 1491520 w 84"/>
                <a:gd name="T9" fmla="*/ 530 h 63"/>
                <a:gd name="T10" fmla="*/ 941823 w 84"/>
                <a:gd name="T11" fmla="*/ 693 h 63"/>
                <a:gd name="T12" fmla="*/ 477822 w 84"/>
                <a:gd name="T13" fmla="*/ 854 h 63"/>
                <a:gd name="T14" fmla="*/ 68952 w 84"/>
                <a:gd name="T15" fmla="*/ 1078 h 63"/>
                <a:gd name="T16" fmla="*/ 0 w 84"/>
                <a:gd name="T17" fmla="*/ 1362 h 63"/>
                <a:gd name="T18" fmla="*/ 516999 w 84"/>
                <a:gd name="T19" fmla="*/ 1283 h 63"/>
                <a:gd name="T20" fmla="*/ 544701 w 84"/>
                <a:gd name="T21" fmla="*/ 1219 h 63"/>
                <a:gd name="T22" fmla="*/ 790682 w 84"/>
                <a:gd name="T23" fmla="*/ 1107 h 63"/>
                <a:gd name="T24" fmla="*/ 1203808 w 84"/>
                <a:gd name="T25" fmla="*/ 955 h 63"/>
                <a:gd name="T26" fmla="*/ 1732518 w 84"/>
                <a:gd name="T27" fmla="*/ 803 h 63"/>
                <a:gd name="T28" fmla="*/ 2275245 w 84"/>
                <a:gd name="T29" fmla="*/ 636 h 63"/>
                <a:gd name="T30" fmla="*/ 2750315 w 84"/>
                <a:gd name="T31" fmla="*/ 474 h 63"/>
                <a:gd name="T32" fmla="*/ 3123646 w 84"/>
                <a:gd name="T33" fmla="*/ 286 h 63"/>
                <a:gd name="T34" fmla="*/ 3252527 w 84"/>
                <a:gd name="T35" fmla="*/ 0 h 63"/>
                <a:gd name="T36" fmla="*/ 2750315 w 84"/>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1" y="18"/>
                  </a:lnTo>
                  <a:lnTo>
                    <a:pt x="38" y="24"/>
                  </a:lnTo>
                  <a:lnTo>
                    <a:pt x="24" y="31"/>
                  </a:lnTo>
                  <a:lnTo>
                    <a:pt x="12" y="39"/>
                  </a:lnTo>
                  <a:lnTo>
                    <a:pt x="2" y="49"/>
                  </a:lnTo>
                  <a:lnTo>
                    <a:pt x="0" y="62"/>
                  </a:lnTo>
                  <a:lnTo>
                    <a:pt x="13" y="58"/>
                  </a:lnTo>
                  <a:lnTo>
                    <a:pt x="14" y="55"/>
                  </a:lnTo>
                  <a:lnTo>
                    <a:pt x="20" y="50"/>
                  </a:lnTo>
                  <a:lnTo>
                    <a:pt x="31" y="43"/>
                  </a:lnTo>
                  <a:lnTo>
                    <a:pt x="44" y="36"/>
                  </a:lnTo>
                  <a:lnTo>
                    <a:pt x="58" y="29"/>
                  </a:lnTo>
                  <a:lnTo>
                    <a:pt x="70" y="22"/>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7" name="Freeform 141">
              <a:extLst>
                <a:ext uri="{FF2B5EF4-FFF2-40B4-BE49-F238E27FC236}">
                  <a16:creationId xmlns:a16="http://schemas.microsoft.com/office/drawing/2014/main" id="{55258304-E9CC-E77B-A437-DDFFDF52FF93}"/>
                </a:ext>
              </a:extLst>
            </p:cNvPr>
            <p:cNvSpPr>
              <a:spLocks/>
            </p:cNvSpPr>
            <p:nvPr/>
          </p:nvSpPr>
          <p:spPr bwMode="auto">
            <a:xfrm>
              <a:off x="1871" y="2374"/>
              <a:ext cx="175" cy="33"/>
            </a:xfrm>
            <a:custGeom>
              <a:avLst/>
              <a:gdLst>
                <a:gd name="T0" fmla="*/ 0 w 106"/>
                <a:gd name="T1" fmla="*/ 68 h 29"/>
                <a:gd name="T2" fmla="*/ 291842 w 106"/>
                <a:gd name="T3" fmla="*/ 207 h 29"/>
                <a:gd name="T4" fmla="*/ 795449 w 106"/>
                <a:gd name="T5" fmla="*/ 269 h 29"/>
                <a:gd name="T6" fmla="*/ 1328805 w 106"/>
                <a:gd name="T7" fmla="*/ 306 h 29"/>
                <a:gd name="T8" fmla="*/ 1941196 w 106"/>
                <a:gd name="T9" fmla="*/ 316 h 29"/>
                <a:gd name="T10" fmla="*/ 2508326 w 106"/>
                <a:gd name="T11" fmla="*/ 320 h 29"/>
                <a:gd name="T12" fmla="*/ 3033331 w 106"/>
                <a:gd name="T13" fmla="*/ 360 h 29"/>
                <a:gd name="T14" fmla="*/ 3369257 w 106"/>
                <a:gd name="T15" fmla="*/ 396 h 29"/>
                <a:gd name="T16" fmla="*/ 3435385 w 106"/>
                <a:gd name="T17" fmla="*/ 414 h 29"/>
                <a:gd name="T18" fmla="*/ 3917132 w 106"/>
                <a:gd name="T19" fmla="*/ 360 h 29"/>
                <a:gd name="T20" fmla="*/ 3621810 w 106"/>
                <a:gd name="T21" fmla="*/ 207 h 29"/>
                <a:gd name="T22" fmla="*/ 3136520 w 106"/>
                <a:gd name="T23" fmla="*/ 168 h 29"/>
                <a:gd name="T24" fmla="*/ 2573651 w 106"/>
                <a:gd name="T25" fmla="*/ 130 h 29"/>
                <a:gd name="T26" fmla="*/ 1984779 w 106"/>
                <a:gd name="T27" fmla="*/ 114 h 29"/>
                <a:gd name="T28" fmla="*/ 1427982 w 106"/>
                <a:gd name="T29" fmla="*/ 100 h 29"/>
                <a:gd name="T30" fmla="*/ 904506 w 106"/>
                <a:gd name="T31" fmla="*/ 77 h 29"/>
                <a:gd name="T32" fmla="*/ 563155 w 106"/>
                <a:gd name="T33" fmla="*/ 3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1" y="18"/>
                  </a:lnTo>
                  <a:lnTo>
                    <a:pt x="36" y="20"/>
                  </a:lnTo>
                  <a:lnTo>
                    <a:pt x="52" y="21"/>
                  </a:lnTo>
                  <a:lnTo>
                    <a:pt x="67" y="22"/>
                  </a:lnTo>
                  <a:lnTo>
                    <a:pt x="81" y="24"/>
                  </a:lnTo>
                  <a:lnTo>
                    <a:pt x="90" y="26"/>
                  </a:lnTo>
                  <a:lnTo>
                    <a:pt x="92" y="28"/>
                  </a:lnTo>
                  <a:lnTo>
                    <a:pt x="105" y="24"/>
                  </a:lnTo>
                  <a:lnTo>
                    <a:pt x="97" y="14"/>
                  </a:lnTo>
                  <a:lnTo>
                    <a:pt x="84" y="11"/>
                  </a:lnTo>
                  <a:lnTo>
                    <a:pt x="69" y="9"/>
                  </a:lnTo>
                  <a:lnTo>
                    <a:pt x="53" y="8"/>
                  </a:lnTo>
                  <a:lnTo>
                    <a:pt x="38"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8" name="Freeform 142">
              <a:extLst>
                <a:ext uri="{FF2B5EF4-FFF2-40B4-BE49-F238E27FC236}">
                  <a16:creationId xmlns:a16="http://schemas.microsoft.com/office/drawing/2014/main" id="{821646F2-EA51-FC6C-5B88-5DE25B1EAFE6}"/>
                </a:ext>
              </a:extLst>
            </p:cNvPr>
            <p:cNvSpPr>
              <a:spLocks/>
            </p:cNvSpPr>
            <p:nvPr/>
          </p:nvSpPr>
          <p:spPr bwMode="auto">
            <a:xfrm>
              <a:off x="1871" y="2306"/>
              <a:ext cx="137" cy="73"/>
            </a:xfrm>
            <a:custGeom>
              <a:avLst/>
              <a:gdLst>
                <a:gd name="T0" fmla="*/ 2566051 w 83"/>
                <a:gd name="T1" fmla="*/ 73 h 64"/>
                <a:gd name="T2" fmla="*/ 2519400 w 83"/>
                <a:gd name="T3" fmla="*/ 83 h 64"/>
                <a:gd name="T4" fmla="*/ 2289995 w 83"/>
                <a:gd name="T5" fmla="*/ 183 h 64"/>
                <a:gd name="T6" fmla="*/ 1894573 w 83"/>
                <a:gd name="T7" fmla="*/ 285 h 64"/>
                <a:gd name="T8" fmla="*/ 1423684 w 83"/>
                <a:gd name="T9" fmla="*/ 402 h 64"/>
                <a:gd name="T10" fmla="*/ 901473 w 83"/>
                <a:gd name="T11" fmla="*/ 518 h 64"/>
                <a:gd name="T12" fmla="*/ 446998 w 83"/>
                <a:gd name="T13" fmla="*/ 627 h 64"/>
                <a:gd name="T14" fmla="*/ 64690 w 83"/>
                <a:gd name="T15" fmla="*/ 792 h 64"/>
                <a:gd name="T16" fmla="*/ 0 w 83"/>
                <a:gd name="T17" fmla="*/ 1000 h 64"/>
                <a:gd name="T18" fmla="*/ 480180 w 83"/>
                <a:gd name="T19" fmla="*/ 931 h 64"/>
                <a:gd name="T20" fmla="*/ 522551 w 83"/>
                <a:gd name="T21" fmla="*/ 887 h 64"/>
                <a:gd name="T22" fmla="*/ 695387 w 83"/>
                <a:gd name="T23" fmla="*/ 811 h 64"/>
                <a:gd name="T24" fmla="*/ 1133388 w 83"/>
                <a:gd name="T25" fmla="*/ 694 h 64"/>
                <a:gd name="T26" fmla="*/ 1639289 w 83"/>
                <a:gd name="T27" fmla="*/ 591 h 64"/>
                <a:gd name="T28" fmla="*/ 2159391 w 83"/>
                <a:gd name="T29" fmla="*/ 459 h 64"/>
                <a:gd name="T30" fmla="*/ 2603804 w 83"/>
                <a:gd name="T31" fmla="*/ 325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0" y="44"/>
                  </a:lnTo>
                  <a:lnTo>
                    <a:pt x="44" y="37"/>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49" name="Freeform 143">
              <a:extLst>
                <a:ext uri="{FF2B5EF4-FFF2-40B4-BE49-F238E27FC236}">
                  <a16:creationId xmlns:a16="http://schemas.microsoft.com/office/drawing/2014/main" id="{C9E5256A-1610-0E2B-EDF3-B31D21617780}"/>
                </a:ext>
              </a:extLst>
            </p:cNvPr>
            <p:cNvSpPr>
              <a:spLocks/>
            </p:cNvSpPr>
            <p:nvPr/>
          </p:nvSpPr>
          <p:spPr bwMode="auto">
            <a:xfrm>
              <a:off x="1834" y="2221"/>
              <a:ext cx="174" cy="90"/>
            </a:xfrm>
            <a:custGeom>
              <a:avLst/>
              <a:gdLst>
                <a:gd name="T0" fmla="*/ 555905 w 105"/>
                <a:gd name="T1" fmla="*/ 851 h 79"/>
                <a:gd name="T2" fmla="*/ 42486 w 105"/>
                <a:gd name="T3" fmla="*/ 864 h 79"/>
                <a:gd name="T4" fmla="*/ 320394 w 105"/>
                <a:gd name="T5" fmla="*/ 1020 h 79"/>
                <a:gd name="T6" fmla="*/ 851120 w 105"/>
                <a:gd name="T7" fmla="*/ 1104 h 79"/>
                <a:gd name="T8" fmla="*/ 1485145 w 105"/>
                <a:gd name="T9" fmla="*/ 1108 h 79"/>
                <a:gd name="T10" fmla="*/ 2150963 w 105"/>
                <a:gd name="T11" fmla="*/ 1121 h 79"/>
                <a:gd name="T12" fmla="*/ 2706298 w 105"/>
                <a:gd name="T13" fmla="*/ 1121 h 79"/>
                <a:gd name="T14" fmla="*/ 3269143 w 105"/>
                <a:gd name="T15" fmla="*/ 1135 h 79"/>
                <a:gd name="T16" fmla="*/ 3587389 w 105"/>
                <a:gd name="T17" fmla="*/ 1176 h 79"/>
                <a:gd name="T18" fmla="*/ 3677016 w 105"/>
                <a:gd name="T19" fmla="*/ 1204 h 79"/>
                <a:gd name="T20" fmla="*/ 4192184 w 105"/>
                <a:gd name="T21" fmla="*/ 1135 h 79"/>
                <a:gd name="T22" fmla="*/ 3825019 w 105"/>
                <a:gd name="T23" fmla="*/ 984 h 79"/>
                <a:gd name="T24" fmla="*/ 3367531 w 105"/>
                <a:gd name="T25" fmla="*/ 942 h 79"/>
                <a:gd name="T26" fmla="*/ 2755964 w 105"/>
                <a:gd name="T27" fmla="*/ 924 h 79"/>
                <a:gd name="T28" fmla="*/ 2150963 w 105"/>
                <a:gd name="T29" fmla="*/ 895 h 79"/>
                <a:gd name="T30" fmla="*/ 1485145 w 105"/>
                <a:gd name="T31" fmla="*/ 906 h 79"/>
                <a:gd name="T32" fmla="*/ 970032 w 105"/>
                <a:gd name="T33" fmla="*/ 895 h 79"/>
                <a:gd name="T34" fmla="*/ 663081 w 105"/>
                <a:gd name="T35" fmla="*/ 854 h 79"/>
                <a:gd name="T36" fmla="*/ 555905 w 105"/>
                <a:gd name="T37" fmla="*/ 795 h 79"/>
                <a:gd name="T38" fmla="*/ 0 w 105"/>
                <a:gd name="T39" fmla="*/ 851 h 79"/>
                <a:gd name="T40" fmla="*/ 555905 w 105"/>
                <a:gd name="T41" fmla="*/ 795 h 79"/>
                <a:gd name="T42" fmla="*/ 0 w 105"/>
                <a:gd name="T43" fmla="*/ 0 h 79"/>
                <a:gd name="T44" fmla="*/ 0 w 105"/>
                <a:gd name="T45" fmla="*/ 851 h 79"/>
                <a:gd name="T46" fmla="*/ 555905 w 105"/>
                <a:gd name="T47" fmla="*/ 851 h 7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79"/>
                <a:gd name="T74" fmla="*/ 105 w 105"/>
                <a:gd name="T75" fmla="*/ 79 h 7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79">
                  <a:moveTo>
                    <a:pt x="14" y="54"/>
                  </a:moveTo>
                  <a:lnTo>
                    <a:pt x="1" y="56"/>
                  </a:lnTo>
                  <a:lnTo>
                    <a:pt x="8" y="66"/>
                  </a:lnTo>
                  <a:lnTo>
                    <a:pt x="21" y="71"/>
                  </a:lnTo>
                  <a:lnTo>
                    <a:pt x="37" y="72"/>
                  </a:lnTo>
                  <a:lnTo>
                    <a:pt x="53" y="73"/>
                  </a:lnTo>
                  <a:lnTo>
                    <a:pt x="67" y="73"/>
                  </a:lnTo>
                  <a:lnTo>
                    <a:pt x="81" y="74"/>
                  </a:lnTo>
                  <a:lnTo>
                    <a:pt x="89" y="76"/>
                  </a:lnTo>
                  <a:lnTo>
                    <a:pt x="91" y="78"/>
                  </a:lnTo>
                  <a:lnTo>
                    <a:pt x="104" y="74"/>
                  </a:lnTo>
                  <a:lnTo>
                    <a:pt x="95" y="64"/>
                  </a:lnTo>
                  <a:lnTo>
                    <a:pt x="83" y="61"/>
                  </a:lnTo>
                  <a:lnTo>
                    <a:pt x="68" y="60"/>
                  </a:lnTo>
                  <a:lnTo>
                    <a:pt x="53" y="58"/>
                  </a:lnTo>
                  <a:lnTo>
                    <a:pt x="37" y="59"/>
                  </a:lnTo>
                  <a:lnTo>
                    <a:pt x="24" y="58"/>
                  </a:lnTo>
                  <a:lnTo>
                    <a:pt x="16" y="55"/>
                  </a:lnTo>
                  <a:lnTo>
                    <a:pt x="14" y="52"/>
                  </a:lnTo>
                  <a:lnTo>
                    <a:pt x="0" y="54"/>
                  </a:lnTo>
                  <a:lnTo>
                    <a:pt x="14" y="52"/>
                  </a:lnTo>
                  <a:lnTo>
                    <a:pt x="0" y="0"/>
                  </a:lnTo>
                  <a:lnTo>
                    <a:pt x="0" y="54"/>
                  </a:lnTo>
                  <a:lnTo>
                    <a:pt x="14" y="5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0" name="Freeform 144">
              <a:extLst>
                <a:ext uri="{FF2B5EF4-FFF2-40B4-BE49-F238E27FC236}">
                  <a16:creationId xmlns:a16="http://schemas.microsoft.com/office/drawing/2014/main" id="{ACE2F2A9-7BDD-16E1-E4F1-68F7CAC834AC}"/>
                </a:ext>
              </a:extLst>
            </p:cNvPr>
            <p:cNvSpPr>
              <a:spLocks/>
            </p:cNvSpPr>
            <p:nvPr/>
          </p:nvSpPr>
          <p:spPr bwMode="auto">
            <a:xfrm>
              <a:off x="1834" y="2281"/>
              <a:ext cx="27" cy="56"/>
            </a:xfrm>
            <a:custGeom>
              <a:avLst/>
              <a:gdLst>
                <a:gd name="T0" fmla="*/ 62006 w 16"/>
                <a:gd name="T1" fmla="*/ 120 h 48"/>
                <a:gd name="T2" fmla="*/ 879388 w 16"/>
                <a:gd name="T3" fmla="*/ 2 h 48"/>
                <a:gd name="T4" fmla="*/ 879388 w 16"/>
                <a:gd name="T5" fmla="*/ 1 h 48"/>
                <a:gd name="T6" fmla="*/ 0 w 16"/>
                <a:gd name="T7" fmla="*/ 1 h 48"/>
                <a:gd name="T8" fmla="*/ 0 w 16"/>
                <a:gd name="T9" fmla="*/ 2 h 48"/>
                <a:gd name="T10" fmla="*/ 824491 w 16"/>
                <a:gd name="T11" fmla="*/ 0 h 48"/>
                <a:gd name="T12" fmla="*/ 62006 w 16"/>
                <a:gd name="T13" fmla="*/ 120 h 48"/>
                <a:gd name="T14" fmla="*/ 879388 w 16"/>
                <a:gd name="T15" fmla="*/ 1210 h 48"/>
                <a:gd name="T16" fmla="*/ 879388 w 16"/>
                <a:gd name="T17" fmla="*/ 2 h 48"/>
                <a:gd name="T18" fmla="*/ 62006 w 16"/>
                <a:gd name="T19" fmla="*/ 120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48"/>
                <a:gd name="T32" fmla="*/ 16 w 16"/>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48">
                  <a:moveTo>
                    <a:pt x="1" y="4"/>
                  </a:moveTo>
                  <a:lnTo>
                    <a:pt x="15" y="2"/>
                  </a:lnTo>
                  <a:lnTo>
                    <a:pt x="15" y="1"/>
                  </a:lnTo>
                  <a:lnTo>
                    <a:pt x="0" y="1"/>
                  </a:lnTo>
                  <a:lnTo>
                    <a:pt x="0" y="2"/>
                  </a:lnTo>
                  <a:lnTo>
                    <a:pt x="14" y="0"/>
                  </a:lnTo>
                  <a:lnTo>
                    <a:pt x="1" y="4"/>
                  </a:lnTo>
                  <a:lnTo>
                    <a:pt x="15" y="47"/>
                  </a:lnTo>
                  <a:lnTo>
                    <a:pt x="15" y="2"/>
                  </a:lnTo>
                  <a:lnTo>
                    <a:pt x="1"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1" name="Freeform 145">
              <a:extLst>
                <a:ext uri="{FF2B5EF4-FFF2-40B4-BE49-F238E27FC236}">
                  <a16:creationId xmlns:a16="http://schemas.microsoft.com/office/drawing/2014/main" id="{BC4CA7D6-3114-6E6B-DE64-6922B3AFF6E0}"/>
                </a:ext>
              </a:extLst>
            </p:cNvPr>
            <p:cNvSpPr>
              <a:spLocks/>
            </p:cNvSpPr>
            <p:nvPr/>
          </p:nvSpPr>
          <p:spPr bwMode="auto">
            <a:xfrm>
              <a:off x="1836" y="2216"/>
              <a:ext cx="136" cy="72"/>
            </a:xfrm>
            <a:custGeom>
              <a:avLst/>
              <a:gdLst>
                <a:gd name="T0" fmla="*/ 2195491 w 83"/>
                <a:gd name="T1" fmla="*/ 101 h 62"/>
                <a:gd name="T2" fmla="*/ 2160471 w 83"/>
                <a:gd name="T3" fmla="*/ 117 h 62"/>
                <a:gd name="T4" fmla="*/ 2008007 w 83"/>
                <a:gd name="T5" fmla="*/ 213 h 62"/>
                <a:gd name="T6" fmla="*/ 1636031 w 83"/>
                <a:gd name="T7" fmla="*/ 333 h 62"/>
                <a:gd name="T8" fmla="*/ 1191799 w 83"/>
                <a:gd name="T9" fmla="*/ 459 h 62"/>
                <a:gd name="T10" fmla="*/ 705219 w 83"/>
                <a:gd name="T11" fmla="*/ 619 h 62"/>
                <a:gd name="T12" fmla="*/ 296288 w 83"/>
                <a:gd name="T13" fmla="*/ 816 h 62"/>
                <a:gd name="T14" fmla="*/ 0 w 83"/>
                <a:gd name="T15" fmla="*/ 1071 h 62"/>
                <a:gd name="T16" fmla="*/ 0 w 83"/>
                <a:gd name="T17" fmla="*/ 1410 h 62"/>
                <a:gd name="T18" fmla="*/ 407626 w 83"/>
                <a:gd name="T19" fmla="*/ 1308 h 62"/>
                <a:gd name="T20" fmla="*/ 407626 w 83"/>
                <a:gd name="T21" fmla="*/ 1168 h 62"/>
                <a:gd name="T22" fmla="*/ 570173 w 83"/>
                <a:gd name="T23" fmla="*/ 1029 h 62"/>
                <a:gd name="T24" fmla="*/ 934259 w 83"/>
                <a:gd name="T25" fmla="*/ 866 h 62"/>
                <a:gd name="T26" fmla="*/ 1362595 w 83"/>
                <a:gd name="T27" fmla="*/ 746 h 62"/>
                <a:gd name="T28" fmla="*/ 1793263 w 83"/>
                <a:gd name="T29" fmla="*/ 619 h 62"/>
                <a:gd name="T30" fmla="*/ 2195491 w 83"/>
                <a:gd name="T31" fmla="*/ 476 h 62"/>
                <a:gd name="T32" fmla="*/ 2508355 w 83"/>
                <a:gd name="T33" fmla="*/ 293 h 62"/>
                <a:gd name="T34" fmla="*/ 2609697 w 83"/>
                <a:gd name="T35" fmla="*/ 0 h 62"/>
                <a:gd name="T36" fmla="*/ 2195491 w 83"/>
                <a:gd name="T37" fmla="*/ 10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8" y="5"/>
                  </a:lnTo>
                  <a:lnTo>
                    <a:pt x="63" y="9"/>
                  </a:lnTo>
                  <a:lnTo>
                    <a:pt x="51" y="14"/>
                  </a:lnTo>
                  <a:lnTo>
                    <a:pt x="37" y="20"/>
                  </a:lnTo>
                  <a:lnTo>
                    <a:pt x="22" y="27"/>
                  </a:lnTo>
                  <a:lnTo>
                    <a:pt x="9" y="35"/>
                  </a:lnTo>
                  <a:lnTo>
                    <a:pt x="0" y="46"/>
                  </a:lnTo>
                  <a:lnTo>
                    <a:pt x="0" y="61"/>
                  </a:lnTo>
                  <a:lnTo>
                    <a:pt x="13" y="57"/>
                  </a:lnTo>
                  <a:lnTo>
                    <a:pt x="13" y="51"/>
                  </a:lnTo>
                  <a:lnTo>
                    <a:pt x="18" y="45"/>
                  </a:lnTo>
                  <a:lnTo>
                    <a:pt x="29" y="38"/>
                  </a:lnTo>
                  <a:lnTo>
                    <a:pt x="43" y="33"/>
                  </a:lnTo>
                  <a:lnTo>
                    <a:pt x="56" y="27"/>
                  </a:lnTo>
                  <a:lnTo>
                    <a:pt x="69"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2" name="Freeform 146">
              <a:extLst>
                <a:ext uri="{FF2B5EF4-FFF2-40B4-BE49-F238E27FC236}">
                  <a16:creationId xmlns:a16="http://schemas.microsoft.com/office/drawing/2014/main" id="{5D795AB3-8B48-61A4-4949-13004C04B336}"/>
                </a:ext>
              </a:extLst>
            </p:cNvPr>
            <p:cNvSpPr>
              <a:spLocks/>
            </p:cNvSpPr>
            <p:nvPr/>
          </p:nvSpPr>
          <p:spPr bwMode="auto">
            <a:xfrm>
              <a:off x="1799" y="2188"/>
              <a:ext cx="173" cy="34"/>
            </a:xfrm>
            <a:custGeom>
              <a:avLst/>
              <a:gdLst>
                <a:gd name="T0" fmla="*/ 0 w 106"/>
                <a:gd name="T1" fmla="*/ 61 h 30"/>
                <a:gd name="T2" fmla="*/ 228735 w 106"/>
                <a:gd name="T3" fmla="*/ 206 h 30"/>
                <a:gd name="T4" fmla="*/ 609275 w 106"/>
                <a:gd name="T5" fmla="*/ 239 h 30"/>
                <a:gd name="T6" fmla="*/ 1059028 w 106"/>
                <a:gd name="T7" fmla="*/ 271 h 30"/>
                <a:gd name="T8" fmla="*/ 1530828 w 106"/>
                <a:gd name="T9" fmla="*/ 299 h 30"/>
                <a:gd name="T10" fmla="*/ 1964446 w 106"/>
                <a:gd name="T11" fmla="*/ 299 h 30"/>
                <a:gd name="T12" fmla="*/ 2370041 w 106"/>
                <a:gd name="T13" fmla="*/ 338 h 30"/>
                <a:gd name="T14" fmla="*/ 2648708 w 106"/>
                <a:gd name="T15" fmla="*/ 383 h 30"/>
                <a:gd name="T16" fmla="*/ 2702097 w 106"/>
                <a:gd name="T17" fmla="*/ 394 h 30"/>
                <a:gd name="T18" fmla="*/ 3075039 w 106"/>
                <a:gd name="T19" fmla="*/ 339 h 30"/>
                <a:gd name="T20" fmla="*/ 2841860 w 106"/>
                <a:gd name="T21" fmla="*/ 206 h 30"/>
                <a:gd name="T22" fmla="*/ 2468792 w 106"/>
                <a:gd name="T23" fmla="*/ 145 h 30"/>
                <a:gd name="T24" fmla="*/ 2027495 w 106"/>
                <a:gd name="T25" fmla="*/ 113 h 30"/>
                <a:gd name="T26" fmla="*/ 1568018 w 106"/>
                <a:gd name="T27" fmla="*/ 113 h 30"/>
                <a:gd name="T28" fmla="*/ 1112134 w 106"/>
                <a:gd name="T29" fmla="*/ 88 h 30"/>
                <a:gd name="T30" fmla="*/ 701815 w 106"/>
                <a:gd name="T31" fmla="*/ 69 h 30"/>
                <a:gd name="T32" fmla="*/ 430014 w 106"/>
                <a:gd name="T33" fmla="*/ 3 h 30"/>
                <a:gd name="T34" fmla="*/ 373313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5"/>
                  </a:lnTo>
                  <a:lnTo>
                    <a:pt x="21" y="18"/>
                  </a:lnTo>
                  <a:lnTo>
                    <a:pt x="36" y="20"/>
                  </a:lnTo>
                  <a:lnTo>
                    <a:pt x="52" y="22"/>
                  </a:lnTo>
                  <a:lnTo>
                    <a:pt x="67" y="22"/>
                  </a:lnTo>
                  <a:lnTo>
                    <a:pt x="81" y="24"/>
                  </a:lnTo>
                  <a:lnTo>
                    <a:pt x="90" y="27"/>
                  </a:lnTo>
                  <a:lnTo>
                    <a:pt x="92" y="29"/>
                  </a:lnTo>
                  <a:lnTo>
                    <a:pt x="105" y="25"/>
                  </a:lnTo>
                  <a:lnTo>
                    <a:pt x="97" y="15"/>
                  </a:lnTo>
                  <a:lnTo>
                    <a:pt x="84" y="11"/>
                  </a:lnTo>
                  <a:lnTo>
                    <a:pt x="69" y="9"/>
                  </a:lnTo>
                  <a:lnTo>
                    <a:pt x="53" y="9"/>
                  </a:lnTo>
                  <a:lnTo>
                    <a:pt x="38"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3" name="Freeform 147">
              <a:extLst>
                <a:ext uri="{FF2B5EF4-FFF2-40B4-BE49-F238E27FC236}">
                  <a16:creationId xmlns:a16="http://schemas.microsoft.com/office/drawing/2014/main" id="{C2F4052B-EA41-0985-1CE1-DAB57CF13DE4}"/>
                </a:ext>
              </a:extLst>
            </p:cNvPr>
            <p:cNvSpPr>
              <a:spLocks/>
            </p:cNvSpPr>
            <p:nvPr/>
          </p:nvSpPr>
          <p:spPr bwMode="auto">
            <a:xfrm>
              <a:off x="1799" y="2121"/>
              <a:ext cx="138" cy="72"/>
            </a:xfrm>
            <a:custGeom>
              <a:avLst/>
              <a:gdLst>
                <a:gd name="T0" fmla="*/ 2353327 w 84"/>
                <a:gd name="T1" fmla="*/ 73 h 63"/>
                <a:gd name="T2" fmla="*/ 2325254 w 84"/>
                <a:gd name="T3" fmla="*/ 83 h 63"/>
                <a:gd name="T4" fmla="*/ 2114707 w 84"/>
                <a:gd name="T5" fmla="*/ 186 h 63"/>
                <a:gd name="T6" fmla="*/ 1748426 w 84"/>
                <a:gd name="T7" fmla="*/ 278 h 63"/>
                <a:gd name="T8" fmla="*/ 1275230 w 84"/>
                <a:gd name="T9" fmla="*/ 394 h 63"/>
                <a:gd name="T10" fmla="*/ 797119 w 84"/>
                <a:gd name="T11" fmla="*/ 530 h 63"/>
                <a:gd name="T12" fmla="*/ 410755 w 84"/>
                <a:gd name="T13" fmla="*/ 637 h 63"/>
                <a:gd name="T14" fmla="*/ 60339 w 84"/>
                <a:gd name="T15" fmla="*/ 808 h 63"/>
                <a:gd name="T16" fmla="*/ 0 w 84"/>
                <a:gd name="T17" fmla="*/ 1032 h 63"/>
                <a:gd name="T18" fmla="*/ 439537 w 84"/>
                <a:gd name="T19" fmla="*/ 951 h 63"/>
                <a:gd name="T20" fmla="*/ 472486 w 84"/>
                <a:gd name="T21" fmla="*/ 923 h 63"/>
                <a:gd name="T22" fmla="*/ 674812 w 84"/>
                <a:gd name="T23" fmla="*/ 823 h 63"/>
                <a:gd name="T24" fmla="*/ 1050389 w 84"/>
                <a:gd name="T25" fmla="*/ 707 h 63"/>
                <a:gd name="T26" fmla="*/ 1524090 w 84"/>
                <a:gd name="T27" fmla="*/ 605 h 63"/>
                <a:gd name="T28" fmla="*/ 1948925 w 84"/>
                <a:gd name="T29" fmla="*/ 474 h 63"/>
                <a:gd name="T30" fmla="*/ 2396631 w 84"/>
                <a:gd name="T31" fmla="*/ 345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5" y="36"/>
                  </a:lnTo>
                  <a:lnTo>
                    <a:pt x="58" y="29"/>
                  </a:lnTo>
                  <a:lnTo>
                    <a:pt x="71"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4" name="Freeform 148">
              <a:extLst>
                <a:ext uri="{FF2B5EF4-FFF2-40B4-BE49-F238E27FC236}">
                  <a16:creationId xmlns:a16="http://schemas.microsoft.com/office/drawing/2014/main" id="{B3F8C2AB-E6D4-B335-1EBE-52A274E12E54}"/>
                </a:ext>
              </a:extLst>
            </p:cNvPr>
            <p:cNvSpPr>
              <a:spLocks/>
            </p:cNvSpPr>
            <p:nvPr/>
          </p:nvSpPr>
          <p:spPr bwMode="auto">
            <a:xfrm>
              <a:off x="1762" y="2096"/>
              <a:ext cx="175" cy="29"/>
            </a:xfrm>
            <a:custGeom>
              <a:avLst/>
              <a:gdLst>
                <a:gd name="T0" fmla="*/ 0 w 106"/>
                <a:gd name="T1" fmla="*/ 2 h 25"/>
                <a:gd name="T2" fmla="*/ 39284 w 106"/>
                <a:gd name="T3" fmla="*/ 101 h 25"/>
                <a:gd name="T4" fmla="*/ 379656 w 106"/>
                <a:gd name="T5" fmla="*/ 291 h 25"/>
                <a:gd name="T6" fmla="*/ 804876 w 106"/>
                <a:gd name="T7" fmla="*/ 338 h 25"/>
                <a:gd name="T8" fmla="*/ 1389091 w 106"/>
                <a:gd name="T9" fmla="*/ 384 h 25"/>
                <a:gd name="T10" fmla="*/ 1941196 w 106"/>
                <a:gd name="T11" fmla="*/ 392 h 25"/>
                <a:gd name="T12" fmla="*/ 2534104 w 106"/>
                <a:gd name="T13" fmla="*/ 392 h 25"/>
                <a:gd name="T14" fmla="*/ 3033331 w 106"/>
                <a:gd name="T15" fmla="*/ 394 h 25"/>
                <a:gd name="T16" fmla="*/ 3369257 w 106"/>
                <a:gd name="T17" fmla="*/ 516 h 25"/>
                <a:gd name="T18" fmla="*/ 3435385 w 106"/>
                <a:gd name="T19" fmla="*/ 530 h 25"/>
                <a:gd name="T20" fmla="*/ 3917132 w 106"/>
                <a:gd name="T21" fmla="*/ 455 h 25"/>
                <a:gd name="T22" fmla="*/ 3579389 w 106"/>
                <a:gd name="T23" fmla="*/ 246 h 25"/>
                <a:gd name="T24" fmla="*/ 3097518 w 106"/>
                <a:gd name="T25" fmla="*/ 136 h 25"/>
                <a:gd name="T26" fmla="*/ 2573651 w 106"/>
                <a:gd name="T27" fmla="*/ 101 h 25"/>
                <a:gd name="T28" fmla="*/ 1941196 w 106"/>
                <a:gd name="T29" fmla="*/ 101 h 25"/>
                <a:gd name="T30" fmla="*/ 1389091 w 106"/>
                <a:gd name="T31" fmla="*/ 3 h 25"/>
                <a:gd name="T32" fmla="*/ 904506 w 106"/>
                <a:gd name="T33" fmla="*/ 2 h 25"/>
                <a:gd name="T34" fmla="*/ 563155 w 106"/>
                <a:gd name="T35" fmla="*/ 0 h 25"/>
                <a:gd name="T36" fmla="*/ 523912 w 106"/>
                <a:gd name="T37" fmla="*/ 0 h 25"/>
                <a:gd name="T38" fmla="*/ 563155 w 106"/>
                <a:gd name="T39" fmla="*/ 2 h 25"/>
                <a:gd name="T40" fmla="*/ 0 w 106"/>
                <a:gd name="T41" fmla="*/ 2 h 25"/>
                <a:gd name="T42" fmla="*/ 39284 w 106"/>
                <a:gd name="T43" fmla="*/ 2 h 25"/>
                <a:gd name="T44" fmla="*/ 39284 w 106"/>
                <a:gd name="T45" fmla="*/ 101 h 25"/>
                <a:gd name="T46" fmla="*/ 0 w 106"/>
                <a:gd name="T47" fmla="*/ 2 h 2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6"/>
                <a:gd name="T73" fmla="*/ 0 h 25"/>
                <a:gd name="T74" fmla="*/ 106 w 106"/>
                <a:gd name="T75" fmla="*/ 25 h 2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6" h="25">
                  <a:moveTo>
                    <a:pt x="0" y="2"/>
                  </a:moveTo>
                  <a:lnTo>
                    <a:pt x="1" y="4"/>
                  </a:lnTo>
                  <a:lnTo>
                    <a:pt x="10" y="13"/>
                  </a:lnTo>
                  <a:lnTo>
                    <a:pt x="22" y="15"/>
                  </a:lnTo>
                  <a:lnTo>
                    <a:pt x="37" y="16"/>
                  </a:lnTo>
                  <a:lnTo>
                    <a:pt x="52" y="17"/>
                  </a:lnTo>
                  <a:lnTo>
                    <a:pt x="68" y="17"/>
                  </a:lnTo>
                  <a:lnTo>
                    <a:pt x="81" y="18"/>
                  </a:lnTo>
                  <a:lnTo>
                    <a:pt x="90" y="22"/>
                  </a:lnTo>
                  <a:lnTo>
                    <a:pt x="92" y="24"/>
                  </a:lnTo>
                  <a:lnTo>
                    <a:pt x="105" y="20"/>
                  </a:lnTo>
                  <a:lnTo>
                    <a:pt x="96" y="10"/>
                  </a:lnTo>
                  <a:lnTo>
                    <a:pt x="83" y="6"/>
                  </a:lnTo>
                  <a:lnTo>
                    <a:pt x="69" y="4"/>
                  </a:lnTo>
                  <a:lnTo>
                    <a:pt x="52" y="4"/>
                  </a:lnTo>
                  <a:lnTo>
                    <a:pt x="37" y="3"/>
                  </a:lnTo>
                  <a:lnTo>
                    <a:pt x="24" y="2"/>
                  </a:lnTo>
                  <a:lnTo>
                    <a:pt x="15" y="0"/>
                  </a:lnTo>
                  <a:lnTo>
                    <a:pt x="14" y="0"/>
                  </a:lnTo>
                  <a:lnTo>
                    <a:pt x="15" y="2"/>
                  </a:lnTo>
                  <a:lnTo>
                    <a:pt x="0" y="2"/>
                  </a:lnTo>
                  <a:lnTo>
                    <a:pt x="1" y="2"/>
                  </a:lnTo>
                  <a:lnTo>
                    <a:pt x="1" y="4"/>
                  </a:lnTo>
                  <a:lnTo>
                    <a:pt x="0"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5" name="Freeform 149">
              <a:extLst>
                <a:ext uri="{FF2B5EF4-FFF2-40B4-BE49-F238E27FC236}">
                  <a16:creationId xmlns:a16="http://schemas.microsoft.com/office/drawing/2014/main" id="{61FD90E7-AC18-0800-EF17-C1A02B11F79E}"/>
                </a:ext>
              </a:extLst>
            </p:cNvPr>
            <p:cNvSpPr>
              <a:spLocks/>
            </p:cNvSpPr>
            <p:nvPr/>
          </p:nvSpPr>
          <p:spPr bwMode="auto">
            <a:xfrm>
              <a:off x="1762" y="2096"/>
              <a:ext cx="25" cy="6"/>
            </a:xfrm>
            <a:custGeom>
              <a:avLst/>
              <a:gdLst>
                <a:gd name="T0" fmla="*/ 0 w 15"/>
                <a:gd name="T1" fmla="*/ 179 h 5"/>
                <a:gd name="T2" fmla="*/ 0 w 15"/>
                <a:gd name="T3" fmla="*/ 2 h 5"/>
                <a:gd name="T4" fmla="*/ 0 w 15"/>
                <a:gd name="T5" fmla="*/ 149 h 5"/>
                <a:gd name="T6" fmla="*/ 621467 w 15"/>
                <a:gd name="T7" fmla="*/ 14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3"/>
                  </a:lnTo>
                  <a:lnTo>
                    <a:pt x="14" y="3"/>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6" name="Freeform 150">
              <a:extLst>
                <a:ext uri="{FF2B5EF4-FFF2-40B4-BE49-F238E27FC236}">
                  <a16:creationId xmlns:a16="http://schemas.microsoft.com/office/drawing/2014/main" id="{96F156D4-4E57-D5AB-0EAA-ADDE53DD02FC}"/>
                </a:ext>
              </a:extLst>
            </p:cNvPr>
            <p:cNvSpPr>
              <a:spLocks/>
            </p:cNvSpPr>
            <p:nvPr/>
          </p:nvSpPr>
          <p:spPr bwMode="auto">
            <a:xfrm>
              <a:off x="1763" y="2028"/>
              <a:ext cx="134" cy="74"/>
            </a:xfrm>
            <a:custGeom>
              <a:avLst/>
              <a:gdLst>
                <a:gd name="T0" fmla="*/ 2617430 w 81"/>
                <a:gd name="T1" fmla="*/ 93 h 64"/>
                <a:gd name="T2" fmla="*/ 2567830 w 81"/>
                <a:gd name="T3" fmla="*/ 145 h 64"/>
                <a:gd name="T4" fmla="*/ 2331846 w 81"/>
                <a:gd name="T5" fmla="*/ 259 h 64"/>
                <a:gd name="T6" fmla="*/ 1957614 w 81"/>
                <a:gd name="T7" fmla="*/ 435 h 64"/>
                <a:gd name="T8" fmla="*/ 1438593 w 81"/>
                <a:gd name="T9" fmla="*/ 582 h 64"/>
                <a:gd name="T10" fmla="*/ 938268 w 81"/>
                <a:gd name="T11" fmla="*/ 716 h 64"/>
                <a:gd name="T12" fmla="*/ 475903 w 81"/>
                <a:gd name="T13" fmla="*/ 900 h 64"/>
                <a:gd name="T14" fmla="*/ 113758 w 81"/>
                <a:gd name="T15" fmla="*/ 1059 h 64"/>
                <a:gd name="T16" fmla="*/ 0 w 81"/>
                <a:gd name="T17" fmla="*/ 1319 h 64"/>
                <a:gd name="T18" fmla="*/ 515040 w 81"/>
                <a:gd name="T19" fmla="*/ 1234 h 64"/>
                <a:gd name="T20" fmla="*/ 541520 w 81"/>
                <a:gd name="T21" fmla="*/ 1224 h 64"/>
                <a:gd name="T22" fmla="*/ 723636 w 81"/>
                <a:gd name="T23" fmla="*/ 1129 h 64"/>
                <a:gd name="T24" fmla="*/ 1183334 w 81"/>
                <a:gd name="T25" fmla="*/ 976 h 64"/>
                <a:gd name="T26" fmla="*/ 1669796 w 81"/>
                <a:gd name="T27" fmla="*/ 828 h 64"/>
                <a:gd name="T28" fmla="*/ 2221424 w 81"/>
                <a:gd name="T29" fmla="*/ 673 h 64"/>
                <a:gd name="T30" fmla="*/ 2697708 w 81"/>
                <a:gd name="T31" fmla="*/ 503 h 64"/>
                <a:gd name="T32" fmla="*/ 3029758 w 81"/>
                <a:gd name="T33" fmla="*/ 281 h 64"/>
                <a:gd name="T34" fmla="*/ 3108525 w 81"/>
                <a:gd name="T35" fmla="*/ 0 h 64"/>
                <a:gd name="T36" fmla="*/ 2617430 w 81"/>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4"/>
                <a:gd name="T59" fmla="*/ 81 w 81"/>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4">
                  <a:moveTo>
                    <a:pt x="67" y="4"/>
                  </a:moveTo>
                  <a:lnTo>
                    <a:pt x="66" y="7"/>
                  </a:lnTo>
                  <a:lnTo>
                    <a:pt x="60" y="12"/>
                  </a:lnTo>
                  <a:lnTo>
                    <a:pt x="50" y="20"/>
                  </a:lnTo>
                  <a:lnTo>
                    <a:pt x="37" y="27"/>
                  </a:lnTo>
                  <a:lnTo>
                    <a:pt x="24" y="34"/>
                  </a:lnTo>
                  <a:lnTo>
                    <a:pt x="12" y="42"/>
                  </a:lnTo>
                  <a:lnTo>
                    <a:pt x="3" y="50"/>
                  </a:lnTo>
                  <a:lnTo>
                    <a:pt x="0" y="63"/>
                  </a:lnTo>
                  <a:lnTo>
                    <a:pt x="13" y="59"/>
                  </a:lnTo>
                  <a:lnTo>
                    <a:pt x="14" y="58"/>
                  </a:lnTo>
                  <a:lnTo>
                    <a:pt x="19" y="53"/>
                  </a:lnTo>
                  <a:lnTo>
                    <a:pt x="30" y="46"/>
                  </a:lnTo>
                  <a:lnTo>
                    <a:pt x="43" y="39"/>
                  </a:lnTo>
                  <a:lnTo>
                    <a:pt x="57" y="31"/>
                  </a:lnTo>
                  <a:lnTo>
                    <a:pt x="69" y="23"/>
                  </a:lnTo>
                  <a:lnTo>
                    <a:pt x="78" y="13"/>
                  </a:lnTo>
                  <a:lnTo>
                    <a:pt x="80" y="0"/>
                  </a:lnTo>
                  <a:lnTo>
                    <a:pt x="6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7" name="Freeform 151">
              <a:extLst>
                <a:ext uri="{FF2B5EF4-FFF2-40B4-BE49-F238E27FC236}">
                  <a16:creationId xmlns:a16="http://schemas.microsoft.com/office/drawing/2014/main" id="{1CAC09B5-9E4A-E77D-4F07-93DD12CC5517}"/>
                </a:ext>
              </a:extLst>
            </p:cNvPr>
            <p:cNvSpPr>
              <a:spLocks/>
            </p:cNvSpPr>
            <p:nvPr/>
          </p:nvSpPr>
          <p:spPr bwMode="auto">
            <a:xfrm>
              <a:off x="1724" y="1999"/>
              <a:ext cx="173" cy="35"/>
            </a:xfrm>
            <a:custGeom>
              <a:avLst/>
              <a:gdLst>
                <a:gd name="T0" fmla="*/ 0 w 105"/>
                <a:gd name="T1" fmla="*/ 120 h 30"/>
                <a:gd name="T2" fmla="*/ 282272 w 105"/>
                <a:gd name="T3" fmla="*/ 352 h 30"/>
                <a:gd name="T4" fmla="*/ 766270 w 105"/>
                <a:gd name="T5" fmla="*/ 429 h 30"/>
                <a:gd name="T6" fmla="*/ 1283006 w 105"/>
                <a:gd name="T7" fmla="*/ 488 h 30"/>
                <a:gd name="T8" fmla="*/ 1816719 w 105"/>
                <a:gd name="T9" fmla="*/ 501 h 30"/>
                <a:gd name="T10" fmla="*/ 2385467 w 105"/>
                <a:gd name="T11" fmla="*/ 560 h 30"/>
                <a:gd name="T12" fmla="*/ 2865936 w 105"/>
                <a:gd name="T13" fmla="*/ 585 h 30"/>
                <a:gd name="T14" fmla="*/ 3152065 w 105"/>
                <a:gd name="T15" fmla="*/ 664 h 30"/>
                <a:gd name="T16" fmla="*/ 3261172 w 105"/>
                <a:gd name="T17" fmla="*/ 762 h 30"/>
                <a:gd name="T18" fmla="*/ 3721278 w 105"/>
                <a:gd name="T19" fmla="*/ 653 h 30"/>
                <a:gd name="T20" fmla="*/ 3427301 w 105"/>
                <a:gd name="T21" fmla="*/ 411 h 30"/>
                <a:gd name="T22" fmla="*/ 2979100 w 105"/>
                <a:gd name="T23" fmla="*/ 263 h 30"/>
                <a:gd name="T24" fmla="*/ 2445765 w 105"/>
                <a:gd name="T25" fmla="*/ 222 h 30"/>
                <a:gd name="T26" fmla="*/ 1875692 w 105"/>
                <a:gd name="T27" fmla="*/ 190 h 30"/>
                <a:gd name="T28" fmla="*/ 1329942 w 105"/>
                <a:gd name="T29" fmla="*/ 163 h 30"/>
                <a:gd name="T30" fmla="*/ 831997 w 105"/>
                <a:gd name="T31" fmla="*/ 120 h 30"/>
                <a:gd name="T32" fmla="*/ 546820 w 105"/>
                <a:gd name="T33" fmla="*/ 2 h 30"/>
                <a:gd name="T34" fmla="*/ 465077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3"/>
                  </a:lnTo>
                  <a:lnTo>
                    <a:pt x="21" y="17"/>
                  </a:lnTo>
                  <a:lnTo>
                    <a:pt x="36" y="19"/>
                  </a:lnTo>
                  <a:lnTo>
                    <a:pt x="51" y="20"/>
                  </a:lnTo>
                  <a:lnTo>
                    <a:pt x="67" y="21"/>
                  </a:lnTo>
                  <a:lnTo>
                    <a:pt x="80" y="23"/>
                  </a:lnTo>
                  <a:lnTo>
                    <a:pt x="88" y="26"/>
                  </a:lnTo>
                  <a:lnTo>
                    <a:pt x="91" y="29"/>
                  </a:lnTo>
                  <a:lnTo>
                    <a:pt x="104" y="25"/>
                  </a:lnTo>
                  <a:lnTo>
                    <a:pt x="96" y="15"/>
                  </a:lnTo>
                  <a:lnTo>
                    <a:pt x="83" y="10"/>
                  </a:lnTo>
                  <a:lnTo>
                    <a:pt x="68" y="8"/>
                  </a:lnTo>
                  <a:lnTo>
                    <a:pt x="52" y="7"/>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8" name="Freeform 152">
              <a:extLst>
                <a:ext uri="{FF2B5EF4-FFF2-40B4-BE49-F238E27FC236}">
                  <a16:creationId xmlns:a16="http://schemas.microsoft.com/office/drawing/2014/main" id="{46ED8D58-1658-16BA-B014-8EEECB90C666}"/>
                </a:ext>
              </a:extLst>
            </p:cNvPr>
            <p:cNvSpPr>
              <a:spLocks/>
            </p:cNvSpPr>
            <p:nvPr/>
          </p:nvSpPr>
          <p:spPr bwMode="auto">
            <a:xfrm>
              <a:off x="1724" y="1933"/>
              <a:ext cx="137" cy="73"/>
            </a:xfrm>
            <a:custGeom>
              <a:avLst/>
              <a:gdLst>
                <a:gd name="T0" fmla="*/ 2566051 w 83"/>
                <a:gd name="T1" fmla="*/ 94 h 63"/>
                <a:gd name="T2" fmla="*/ 2566051 w 83"/>
                <a:gd name="T3" fmla="*/ 126 h 63"/>
                <a:gd name="T4" fmla="*/ 2349936 w 83"/>
                <a:gd name="T5" fmla="*/ 263 h 63"/>
                <a:gd name="T6" fmla="*/ 1933123 w 83"/>
                <a:gd name="T7" fmla="*/ 409 h 63"/>
                <a:gd name="T8" fmla="*/ 1423684 w 83"/>
                <a:gd name="T9" fmla="*/ 594 h 63"/>
                <a:gd name="T10" fmla="*/ 924724 w 83"/>
                <a:gd name="T11" fmla="*/ 711 h 63"/>
                <a:gd name="T12" fmla="*/ 446998 w 83"/>
                <a:gd name="T13" fmla="*/ 860 h 63"/>
                <a:gd name="T14" fmla="*/ 106777 w 83"/>
                <a:gd name="T15" fmla="*/ 1078 h 63"/>
                <a:gd name="T16" fmla="*/ 0 w 83"/>
                <a:gd name="T17" fmla="*/ 1362 h 63"/>
                <a:gd name="T18" fmla="*/ 480180 w 83"/>
                <a:gd name="T19" fmla="*/ 1283 h 63"/>
                <a:gd name="T20" fmla="*/ 522551 w 83"/>
                <a:gd name="T21" fmla="*/ 1241 h 63"/>
                <a:gd name="T22" fmla="*/ 737816 w 83"/>
                <a:gd name="T23" fmla="*/ 1139 h 63"/>
                <a:gd name="T24" fmla="*/ 1147807 w 83"/>
                <a:gd name="T25" fmla="*/ 983 h 63"/>
                <a:gd name="T26" fmla="*/ 1664712 w 83"/>
                <a:gd name="T27" fmla="*/ 848 h 63"/>
                <a:gd name="T28" fmla="*/ 2159391 w 83"/>
                <a:gd name="T29" fmla="*/ 688 h 63"/>
                <a:gd name="T30" fmla="*/ 264081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9" y="6"/>
                  </a:lnTo>
                  <a:lnTo>
                    <a:pt x="63" y="12"/>
                  </a:lnTo>
                  <a:lnTo>
                    <a:pt x="52" y="19"/>
                  </a:lnTo>
                  <a:lnTo>
                    <a:pt x="38" y="26"/>
                  </a:lnTo>
                  <a:lnTo>
                    <a:pt x="25" y="32"/>
                  </a:lnTo>
                  <a:lnTo>
                    <a:pt x="12" y="40"/>
                  </a:lnTo>
                  <a:lnTo>
                    <a:pt x="3" y="49"/>
                  </a:lnTo>
                  <a:lnTo>
                    <a:pt x="0" y="62"/>
                  </a:lnTo>
                  <a:lnTo>
                    <a:pt x="13" y="58"/>
                  </a:lnTo>
                  <a:lnTo>
                    <a:pt x="14" y="56"/>
                  </a:lnTo>
                  <a:lnTo>
                    <a:pt x="20" y="51"/>
                  </a:lnTo>
                  <a:lnTo>
                    <a:pt x="31" y="44"/>
                  </a:lnTo>
                  <a:lnTo>
                    <a:pt x="45" y="38"/>
                  </a:lnTo>
                  <a:lnTo>
                    <a:pt x="58" y="30"/>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59" name="Freeform 153">
              <a:extLst>
                <a:ext uri="{FF2B5EF4-FFF2-40B4-BE49-F238E27FC236}">
                  <a16:creationId xmlns:a16="http://schemas.microsoft.com/office/drawing/2014/main" id="{306F8E52-AD3A-2D6D-13AE-B8F7A1BB0697}"/>
                </a:ext>
              </a:extLst>
            </p:cNvPr>
            <p:cNvSpPr>
              <a:spLocks/>
            </p:cNvSpPr>
            <p:nvPr/>
          </p:nvSpPr>
          <p:spPr bwMode="auto">
            <a:xfrm>
              <a:off x="1689" y="1903"/>
              <a:ext cx="172" cy="36"/>
            </a:xfrm>
            <a:custGeom>
              <a:avLst/>
              <a:gdLst>
                <a:gd name="T0" fmla="*/ 0 w 105"/>
                <a:gd name="T1" fmla="*/ 101 h 31"/>
                <a:gd name="T2" fmla="*/ 247472 w 105"/>
                <a:gd name="T3" fmla="*/ 333 h 31"/>
                <a:gd name="T4" fmla="*/ 664056 w 105"/>
                <a:gd name="T5" fmla="*/ 395 h 31"/>
                <a:gd name="T6" fmla="*/ 1144996 w 105"/>
                <a:gd name="T7" fmla="*/ 449 h 31"/>
                <a:gd name="T8" fmla="*/ 1629916 w 105"/>
                <a:gd name="T9" fmla="*/ 476 h 31"/>
                <a:gd name="T10" fmla="*/ 2126746 w 105"/>
                <a:gd name="T11" fmla="*/ 521 h 31"/>
                <a:gd name="T12" fmla="*/ 2540392 w 105"/>
                <a:gd name="T13" fmla="*/ 553 h 31"/>
                <a:gd name="T14" fmla="*/ 2792890 w 105"/>
                <a:gd name="T15" fmla="*/ 619 h 31"/>
                <a:gd name="T16" fmla="*/ 2885372 w 105"/>
                <a:gd name="T17" fmla="*/ 703 h 31"/>
                <a:gd name="T18" fmla="*/ 3278466 w 105"/>
                <a:gd name="T19" fmla="*/ 605 h 31"/>
                <a:gd name="T20" fmla="*/ 3037405 w 105"/>
                <a:gd name="T21" fmla="*/ 387 h 31"/>
                <a:gd name="T22" fmla="*/ 2633720 w 105"/>
                <a:gd name="T23" fmla="*/ 252 h 31"/>
                <a:gd name="T24" fmla="*/ 2147610 w 105"/>
                <a:gd name="T25" fmla="*/ 213 h 31"/>
                <a:gd name="T26" fmla="*/ 1642575 w 105"/>
                <a:gd name="T27" fmla="*/ 183 h 31"/>
                <a:gd name="T28" fmla="*/ 1185358 w 105"/>
                <a:gd name="T29" fmla="*/ 136 h 31"/>
                <a:gd name="T30" fmla="*/ 737762 w 105"/>
                <a:gd name="T31" fmla="*/ 101 h 31"/>
                <a:gd name="T32" fmla="*/ 483836 w 105"/>
                <a:gd name="T33" fmla="*/ 2 h 31"/>
                <a:gd name="T34" fmla="*/ 405383 w 105"/>
                <a:gd name="T35" fmla="*/ 0 h 31"/>
                <a:gd name="T36" fmla="*/ 0 w 105"/>
                <a:gd name="T37" fmla="*/ 101 h 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1"/>
                <a:gd name="T59" fmla="*/ 105 w 105"/>
                <a:gd name="T60" fmla="*/ 31 h 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1">
                  <a:moveTo>
                    <a:pt x="0" y="4"/>
                  </a:moveTo>
                  <a:lnTo>
                    <a:pt x="8" y="14"/>
                  </a:lnTo>
                  <a:lnTo>
                    <a:pt x="21" y="17"/>
                  </a:lnTo>
                  <a:lnTo>
                    <a:pt x="36" y="19"/>
                  </a:lnTo>
                  <a:lnTo>
                    <a:pt x="51" y="21"/>
                  </a:lnTo>
                  <a:lnTo>
                    <a:pt x="67" y="22"/>
                  </a:lnTo>
                  <a:lnTo>
                    <a:pt x="80" y="24"/>
                  </a:lnTo>
                  <a:lnTo>
                    <a:pt x="88" y="27"/>
                  </a:lnTo>
                  <a:lnTo>
                    <a:pt x="91" y="30"/>
                  </a:lnTo>
                  <a:lnTo>
                    <a:pt x="104" y="26"/>
                  </a:lnTo>
                  <a:lnTo>
                    <a:pt x="96" y="16"/>
                  </a:lnTo>
                  <a:lnTo>
                    <a:pt x="83" y="11"/>
                  </a:lnTo>
                  <a:lnTo>
                    <a:pt x="68" y="9"/>
                  </a:lnTo>
                  <a:lnTo>
                    <a:pt x="52" y="8"/>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0" name="Freeform 154">
              <a:extLst>
                <a:ext uri="{FF2B5EF4-FFF2-40B4-BE49-F238E27FC236}">
                  <a16:creationId xmlns:a16="http://schemas.microsoft.com/office/drawing/2014/main" id="{3D82BA93-58EE-6C3A-4A36-DFECE8783BC1}"/>
                </a:ext>
              </a:extLst>
            </p:cNvPr>
            <p:cNvSpPr>
              <a:spLocks/>
            </p:cNvSpPr>
            <p:nvPr/>
          </p:nvSpPr>
          <p:spPr bwMode="auto">
            <a:xfrm>
              <a:off x="1689" y="1903"/>
              <a:ext cx="22" cy="6"/>
            </a:xfrm>
            <a:custGeom>
              <a:avLst/>
              <a:gdLst>
                <a:gd name="T0" fmla="*/ 0 w 14"/>
                <a:gd name="T1" fmla="*/ 179 h 5"/>
                <a:gd name="T2" fmla="*/ 75491 w 14"/>
                <a:gd name="T3" fmla="*/ 2 h 5"/>
                <a:gd name="T4" fmla="*/ 167489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1" name="Freeform 155">
              <a:extLst>
                <a:ext uri="{FF2B5EF4-FFF2-40B4-BE49-F238E27FC236}">
                  <a16:creationId xmlns:a16="http://schemas.microsoft.com/office/drawing/2014/main" id="{7B841C42-6190-B238-8444-D47012054E81}"/>
                </a:ext>
              </a:extLst>
            </p:cNvPr>
            <p:cNvSpPr>
              <a:spLocks/>
            </p:cNvSpPr>
            <p:nvPr/>
          </p:nvSpPr>
          <p:spPr bwMode="auto">
            <a:xfrm>
              <a:off x="1689" y="1836"/>
              <a:ext cx="136" cy="73"/>
            </a:xfrm>
            <a:custGeom>
              <a:avLst/>
              <a:gdLst>
                <a:gd name="T0" fmla="*/ 2195491 w 83"/>
                <a:gd name="T1" fmla="*/ 94 h 63"/>
                <a:gd name="T2" fmla="*/ 2160471 w 83"/>
                <a:gd name="T3" fmla="*/ 109 h 63"/>
                <a:gd name="T4" fmla="*/ 1987493 w 83"/>
                <a:gd name="T5" fmla="*/ 247 h 63"/>
                <a:gd name="T6" fmla="*/ 1636031 w 83"/>
                <a:gd name="T7" fmla="*/ 394 h 63"/>
                <a:gd name="T8" fmla="*/ 1191799 w 83"/>
                <a:gd name="T9" fmla="*/ 549 h 63"/>
                <a:gd name="T10" fmla="*/ 761179 w 83"/>
                <a:gd name="T11" fmla="*/ 711 h 63"/>
                <a:gd name="T12" fmla="*/ 389068 w 83"/>
                <a:gd name="T13" fmla="*/ 860 h 63"/>
                <a:gd name="T14" fmla="*/ 56548 w 83"/>
                <a:gd name="T15" fmla="*/ 1078 h 63"/>
                <a:gd name="T16" fmla="*/ 0 w 83"/>
                <a:gd name="T17" fmla="*/ 1362 h 63"/>
                <a:gd name="T18" fmla="*/ 407626 w 83"/>
                <a:gd name="T19" fmla="*/ 1283 h 63"/>
                <a:gd name="T20" fmla="*/ 407626 w 83"/>
                <a:gd name="T21" fmla="*/ 1241 h 63"/>
                <a:gd name="T22" fmla="*/ 609354 w 83"/>
                <a:gd name="T23" fmla="*/ 1107 h 63"/>
                <a:gd name="T24" fmla="*/ 949754 w 83"/>
                <a:gd name="T25" fmla="*/ 955 h 63"/>
                <a:gd name="T26" fmla="*/ 1398653 w 83"/>
                <a:gd name="T27" fmla="*/ 803 h 63"/>
                <a:gd name="T28" fmla="*/ 1855348 w 83"/>
                <a:gd name="T29" fmla="*/ 636 h 63"/>
                <a:gd name="T30" fmla="*/ 2232686 w 83"/>
                <a:gd name="T31" fmla="*/ 457 h 63"/>
                <a:gd name="T32" fmla="*/ 2549956 w 83"/>
                <a:gd name="T33" fmla="*/ 286 h 63"/>
                <a:gd name="T34" fmla="*/ 2609697 w 83"/>
                <a:gd name="T35" fmla="*/ 0 h 63"/>
                <a:gd name="T36" fmla="*/ 219549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8"/>
                  </a:lnTo>
                  <a:lnTo>
                    <a:pt x="37" y="25"/>
                  </a:lnTo>
                  <a:lnTo>
                    <a:pt x="24" y="32"/>
                  </a:lnTo>
                  <a:lnTo>
                    <a:pt x="12" y="40"/>
                  </a:lnTo>
                  <a:lnTo>
                    <a:pt x="2" y="49"/>
                  </a:lnTo>
                  <a:lnTo>
                    <a:pt x="0" y="62"/>
                  </a:lnTo>
                  <a:lnTo>
                    <a:pt x="13" y="58"/>
                  </a:lnTo>
                  <a:lnTo>
                    <a:pt x="13" y="56"/>
                  </a:lnTo>
                  <a:lnTo>
                    <a:pt x="19" y="50"/>
                  </a:lnTo>
                  <a:lnTo>
                    <a:pt x="30"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2" name="Freeform 156">
              <a:extLst>
                <a:ext uri="{FF2B5EF4-FFF2-40B4-BE49-F238E27FC236}">
                  <a16:creationId xmlns:a16="http://schemas.microsoft.com/office/drawing/2014/main" id="{66BFC1C3-693B-1F47-9EAA-9BDBCC78A53F}"/>
                </a:ext>
              </a:extLst>
            </p:cNvPr>
            <p:cNvSpPr>
              <a:spLocks/>
            </p:cNvSpPr>
            <p:nvPr/>
          </p:nvSpPr>
          <p:spPr bwMode="auto">
            <a:xfrm>
              <a:off x="1650" y="1808"/>
              <a:ext cx="175" cy="34"/>
            </a:xfrm>
            <a:custGeom>
              <a:avLst/>
              <a:gdLst>
                <a:gd name="T0" fmla="*/ 0 w 106"/>
                <a:gd name="T1" fmla="*/ 61 h 30"/>
                <a:gd name="T2" fmla="*/ 341111 w 106"/>
                <a:gd name="T3" fmla="*/ 206 h 30"/>
                <a:gd name="T4" fmla="*/ 804876 w 106"/>
                <a:gd name="T5" fmla="*/ 239 h 30"/>
                <a:gd name="T6" fmla="*/ 1328805 w 106"/>
                <a:gd name="T7" fmla="*/ 271 h 30"/>
                <a:gd name="T8" fmla="*/ 1941196 w 106"/>
                <a:gd name="T9" fmla="*/ 299 h 30"/>
                <a:gd name="T10" fmla="*/ 2534104 w 106"/>
                <a:gd name="T11" fmla="*/ 299 h 30"/>
                <a:gd name="T12" fmla="*/ 3033331 w 106"/>
                <a:gd name="T13" fmla="*/ 338 h 30"/>
                <a:gd name="T14" fmla="*/ 3369257 w 106"/>
                <a:gd name="T15" fmla="*/ 383 h 30"/>
                <a:gd name="T16" fmla="*/ 3435385 w 106"/>
                <a:gd name="T17" fmla="*/ 394 h 30"/>
                <a:gd name="T18" fmla="*/ 3917132 w 106"/>
                <a:gd name="T19" fmla="*/ 339 h 30"/>
                <a:gd name="T20" fmla="*/ 3579389 w 106"/>
                <a:gd name="T21" fmla="*/ 206 h 30"/>
                <a:gd name="T22" fmla="*/ 3136520 w 106"/>
                <a:gd name="T23" fmla="*/ 145 h 30"/>
                <a:gd name="T24" fmla="*/ 2573651 w 106"/>
                <a:gd name="T25" fmla="*/ 113 h 30"/>
                <a:gd name="T26" fmla="*/ 2016007 w 106"/>
                <a:gd name="T27" fmla="*/ 113 h 30"/>
                <a:gd name="T28" fmla="*/ 1389091 w 106"/>
                <a:gd name="T29" fmla="*/ 88 h 30"/>
                <a:gd name="T30" fmla="*/ 904506 w 106"/>
                <a:gd name="T31" fmla="*/ 69 h 30"/>
                <a:gd name="T32" fmla="*/ 563155 w 106"/>
                <a:gd name="T33" fmla="*/ 3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9" y="15"/>
                  </a:lnTo>
                  <a:lnTo>
                    <a:pt x="22" y="18"/>
                  </a:lnTo>
                  <a:lnTo>
                    <a:pt x="36" y="20"/>
                  </a:lnTo>
                  <a:lnTo>
                    <a:pt x="52" y="22"/>
                  </a:lnTo>
                  <a:lnTo>
                    <a:pt x="68" y="22"/>
                  </a:lnTo>
                  <a:lnTo>
                    <a:pt x="81" y="24"/>
                  </a:lnTo>
                  <a:lnTo>
                    <a:pt x="90" y="27"/>
                  </a:lnTo>
                  <a:lnTo>
                    <a:pt x="92" y="29"/>
                  </a:lnTo>
                  <a:lnTo>
                    <a:pt x="105" y="25"/>
                  </a:lnTo>
                  <a:lnTo>
                    <a:pt x="96" y="15"/>
                  </a:lnTo>
                  <a:lnTo>
                    <a:pt x="84" y="11"/>
                  </a:lnTo>
                  <a:lnTo>
                    <a:pt x="69" y="9"/>
                  </a:lnTo>
                  <a:lnTo>
                    <a:pt x="54" y="9"/>
                  </a:lnTo>
                  <a:lnTo>
                    <a:pt x="37"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3" name="Freeform 157">
              <a:extLst>
                <a:ext uri="{FF2B5EF4-FFF2-40B4-BE49-F238E27FC236}">
                  <a16:creationId xmlns:a16="http://schemas.microsoft.com/office/drawing/2014/main" id="{E4177850-5CD0-1FCC-847B-1E432EA11A88}"/>
                </a:ext>
              </a:extLst>
            </p:cNvPr>
            <p:cNvSpPr>
              <a:spLocks/>
            </p:cNvSpPr>
            <p:nvPr/>
          </p:nvSpPr>
          <p:spPr bwMode="auto">
            <a:xfrm>
              <a:off x="1650" y="1741"/>
              <a:ext cx="137" cy="72"/>
            </a:xfrm>
            <a:custGeom>
              <a:avLst/>
              <a:gdLst>
                <a:gd name="T0" fmla="*/ 2566051 w 83"/>
                <a:gd name="T1" fmla="*/ 73 h 63"/>
                <a:gd name="T2" fmla="*/ 2519400 w 83"/>
                <a:gd name="T3" fmla="*/ 83 h 63"/>
                <a:gd name="T4" fmla="*/ 2289995 w 83"/>
                <a:gd name="T5" fmla="*/ 186 h 63"/>
                <a:gd name="T6" fmla="*/ 1894573 w 83"/>
                <a:gd name="T7" fmla="*/ 278 h 63"/>
                <a:gd name="T8" fmla="*/ 1385413 w 83"/>
                <a:gd name="T9" fmla="*/ 415 h 63"/>
                <a:gd name="T10" fmla="*/ 901473 w 83"/>
                <a:gd name="T11" fmla="*/ 530 h 63"/>
                <a:gd name="T12" fmla="*/ 416000 w 83"/>
                <a:gd name="T13" fmla="*/ 637 h 63"/>
                <a:gd name="T14" fmla="*/ 64690 w 83"/>
                <a:gd name="T15" fmla="*/ 808 h 63"/>
                <a:gd name="T16" fmla="*/ 0 w 83"/>
                <a:gd name="T17" fmla="*/ 1032 h 63"/>
                <a:gd name="T18" fmla="*/ 480180 w 83"/>
                <a:gd name="T19" fmla="*/ 951 h 63"/>
                <a:gd name="T20" fmla="*/ 480180 w 83"/>
                <a:gd name="T21" fmla="*/ 923 h 63"/>
                <a:gd name="T22" fmla="*/ 695387 w 83"/>
                <a:gd name="T23" fmla="*/ 823 h 63"/>
                <a:gd name="T24" fmla="*/ 1133388 w 83"/>
                <a:gd name="T25" fmla="*/ 707 h 63"/>
                <a:gd name="T26" fmla="*/ 1639289 w 83"/>
                <a:gd name="T27" fmla="*/ 605 h 63"/>
                <a:gd name="T28" fmla="*/ 2159391 w 83"/>
                <a:gd name="T29" fmla="*/ 474 h 63"/>
                <a:gd name="T30" fmla="*/ 2603804 w 83"/>
                <a:gd name="T31" fmla="*/ 345 h 63"/>
                <a:gd name="T32" fmla="*/ 2976645 w 83"/>
                <a:gd name="T33" fmla="*/ 213 h 63"/>
                <a:gd name="T34" fmla="*/ 3041930 w 83"/>
                <a:gd name="T35" fmla="*/ 0 h 63"/>
                <a:gd name="T36" fmla="*/ 2566051 w 83"/>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7"/>
                  </a:lnTo>
                  <a:lnTo>
                    <a:pt x="37" y="25"/>
                  </a:lnTo>
                  <a:lnTo>
                    <a:pt x="24" y="32"/>
                  </a:lnTo>
                  <a:lnTo>
                    <a:pt x="11" y="39"/>
                  </a:lnTo>
                  <a:lnTo>
                    <a:pt x="2" y="49"/>
                  </a:lnTo>
                  <a:lnTo>
                    <a:pt x="0" y="62"/>
                  </a:lnTo>
                  <a:lnTo>
                    <a:pt x="13" y="58"/>
                  </a:lnTo>
                  <a:lnTo>
                    <a:pt x="13" y="56"/>
                  </a:lnTo>
                  <a:lnTo>
                    <a:pt x="19" y="50"/>
                  </a:lnTo>
                  <a:lnTo>
                    <a:pt x="30"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4" name="Freeform 158">
              <a:extLst>
                <a:ext uri="{FF2B5EF4-FFF2-40B4-BE49-F238E27FC236}">
                  <a16:creationId xmlns:a16="http://schemas.microsoft.com/office/drawing/2014/main" id="{7001587C-E209-CA33-791E-E94D20CCF733}"/>
                </a:ext>
              </a:extLst>
            </p:cNvPr>
            <p:cNvSpPr>
              <a:spLocks/>
            </p:cNvSpPr>
            <p:nvPr/>
          </p:nvSpPr>
          <p:spPr bwMode="auto">
            <a:xfrm>
              <a:off x="1616" y="1715"/>
              <a:ext cx="171" cy="31"/>
            </a:xfrm>
            <a:custGeom>
              <a:avLst/>
              <a:gdLst>
                <a:gd name="T0" fmla="*/ 0 w 104"/>
                <a:gd name="T1" fmla="*/ 249 h 26"/>
                <a:gd name="T2" fmla="*/ 0 w 104"/>
                <a:gd name="T3" fmla="*/ 209 h 26"/>
                <a:gd name="T4" fmla="*/ 271714 w 104"/>
                <a:gd name="T5" fmla="*/ 600 h 26"/>
                <a:gd name="T6" fmla="*/ 734578 w 104"/>
                <a:gd name="T7" fmla="*/ 715 h 26"/>
                <a:gd name="T8" fmla="*/ 1223666 w 104"/>
                <a:gd name="T9" fmla="*/ 715 h 26"/>
                <a:gd name="T10" fmla="*/ 1748953 w 104"/>
                <a:gd name="T11" fmla="*/ 717 h 26"/>
                <a:gd name="T12" fmla="*/ 2266127 w 104"/>
                <a:gd name="T13" fmla="*/ 760 h 26"/>
                <a:gd name="T14" fmla="*/ 2754045 w 104"/>
                <a:gd name="T15" fmla="*/ 855 h 26"/>
                <a:gd name="T16" fmla="*/ 3016486 w 104"/>
                <a:gd name="T17" fmla="*/ 906 h 26"/>
                <a:gd name="T18" fmla="*/ 3087293 w 104"/>
                <a:gd name="T19" fmla="*/ 1019 h 26"/>
                <a:gd name="T20" fmla="*/ 3524433 w 104"/>
                <a:gd name="T21" fmla="*/ 855 h 26"/>
                <a:gd name="T22" fmla="*/ 3265324 w 104"/>
                <a:gd name="T23" fmla="*/ 503 h 26"/>
                <a:gd name="T24" fmla="*/ 2817034 w 104"/>
                <a:gd name="T25" fmla="*/ 354 h 26"/>
                <a:gd name="T26" fmla="*/ 2300055 w 104"/>
                <a:gd name="T27" fmla="*/ 249 h 26"/>
                <a:gd name="T28" fmla="*/ 1748953 w 104"/>
                <a:gd name="T29" fmla="*/ 209 h 26"/>
                <a:gd name="T30" fmla="*/ 1223666 w 104"/>
                <a:gd name="T31" fmla="*/ 175 h 26"/>
                <a:gd name="T32" fmla="*/ 744218 w 104"/>
                <a:gd name="T33" fmla="*/ 175 h 26"/>
                <a:gd name="T34" fmla="*/ 478846 w 104"/>
                <a:gd name="T35" fmla="*/ 2 h 26"/>
                <a:gd name="T36" fmla="*/ 446761 w 104"/>
                <a:gd name="T37" fmla="*/ 1 h 26"/>
                <a:gd name="T38" fmla="*/ 416512 w 104"/>
                <a:gd name="T39" fmla="*/ 0 h 26"/>
                <a:gd name="T40" fmla="*/ 446761 w 104"/>
                <a:gd name="T41" fmla="*/ 1 h 26"/>
                <a:gd name="T42" fmla="*/ 416512 w 104"/>
                <a:gd name="T43" fmla="*/ 0 h 26"/>
                <a:gd name="T44" fmla="*/ 0 w 104"/>
                <a:gd name="T45" fmla="*/ 249 h 2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4"/>
                <a:gd name="T70" fmla="*/ 0 h 26"/>
                <a:gd name="T71" fmla="*/ 104 w 104"/>
                <a:gd name="T72" fmla="*/ 26 h 2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4" h="26">
                  <a:moveTo>
                    <a:pt x="0" y="6"/>
                  </a:moveTo>
                  <a:lnTo>
                    <a:pt x="0" y="5"/>
                  </a:lnTo>
                  <a:lnTo>
                    <a:pt x="8" y="14"/>
                  </a:lnTo>
                  <a:lnTo>
                    <a:pt x="21" y="17"/>
                  </a:lnTo>
                  <a:lnTo>
                    <a:pt x="36" y="17"/>
                  </a:lnTo>
                  <a:lnTo>
                    <a:pt x="51" y="18"/>
                  </a:lnTo>
                  <a:lnTo>
                    <a:pt x="66" y="19"/>
                  </a:lnTo>
                  <a:lnTo>
                    <a:pt x="80" y="21"/>
                  </a:lnTo>
                  <a:lnTo>
                    <a:pt x="88" y="23"/>
                  </a:lnTo>
                  <a:lnTo>
                    <a:pt x="90" y="25"/>
                  </a:lnTo>
                  <a:lnTo>
                    <a:pt x="103" y="21"/>
                  </a:lnTo>
                  <a:lnTo>
                    <a:pt x="95" y="12"/>
                  </a:lnTo>
                  <a:lnTo>
                    <a:pt x="82" y="8"/>
                  </a:lnTo>
                  <a:lnTo>
                    <a:pt x="67" y="6"/>
                  </a:lnTo>
                  <a:lnTo>
                    <a:pt x="51" y="5"/>
                  </a:lnTo>
                  <a:lnTo>
                    <a:pt x="36" y="4"/>
                  </a:lnTo>
                  <a:lnTo>
                    <a:pt x="22" y="4"/>
                  </a:lnTo>
                  <a:lnTo>
                    <a:pt x="14" y="2"/>
                  </a:lnTo>
                  <a:lnTo>
                    <a:pt x="13" y="1"/>
                  </a:lnTo>
                  <a:lnTo>
                    <a:pt x="12" y="0"/>
                  </a:lnTo>
                  <a:lnTo>
                    <a:pt x="13" y="1"/>
                  </a:lnTo>
                  <a:lnTo>
                    <a:pt x="12" y="0"/>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5" name="Freeform 159">
              <a:extLst>
                <a:ext uri="{FF2B5EF4-FFF2-40B4-BE49-F238E27FC236}">
                  <a16:creationId xmlns:a16="http://schemas.microsoft.com/office/drawing/2014/main" id="{1B01FA83-25D7-84BC-5268-FF66704CF3B2}"/>
                </a:ext>
              </a:extLst>
            </p:cNvPr>
            <p:cNvSpPr>
              <a:spLocks/>
            </p:cNvSpPr>
            <p:nvPr/>
          </p:nvSpPr>
          <p:spPr bwMode="auto">
            <a:xfrm>
              <a:off x="1614" y="1714"/>
              <a:ext cx="23" cy="11"/>
            </a:xfrm>
            <a:custGeom>
              <a:avLst/>
              <a:gdLst>
                <a:gd name="T0" fmla="*/ 0 w 14"/>
                <a:gd name="T1" fmla="*/ 323 h 9"/>
                <a:gd name="T2" fmla="*/ 0 w 14"/>
                <a:gd name="T3" fmla="*/ 483 h 9"/>
                <a:gd name="T4" fmla="*/ 36728 w 14"/>
                <a:gd name="T5" fmla="*/ 543 h 9"/>
                <a:gd name="T6" fmla="*/ 439537 w 14"/>
                <a:gd name="T7" fmla="*/ 1 h 9"/>
                <a:gd name="T8" fmla="*/ 410755 w 14"/>
                <a:gd name="T9" fmla="*/ 0 h 9"/>
                <a:gd name="T10" fmla="*/ 439537 w 14"/>
                <a:gd name="T11" fmla="*/ 1 h 9"/>
                <a:gd name="T12" fmla="*/ 0 w 14"/>
                <a:gd name="T13" fmla="*/ 323 h 9"/>
                <a:gd name="T14" fmla="*/ 0 w 14"/>
                <a:gd name="T15" fmla="*/ 395 h 9"/>
                <a:gd name="T16" fmla="*/ 0 w 14"/>
                <a:gd name="T17" fmla="*/ 483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0" y="7"/>
                  </a:lnTo>
                  <a:lnTo>
                    <a:pt x="1" y="8"/>
                  </a:lnTo>
                  <a:lnTo>
                    <a:pt x="13" y="1"/>
                  </a:lnTo>
                  <a:lnTo>
                    <a:pt x="12" y="0"/>
                  </a:lnTo>
                  <a:lnTo>
                    <a:pt x="13" y="1"/>
                  </a:lnTo>
                  <a:lnTo>
                    <a:pt x="0" y="5"/>
                  </a:lnTo>
                  <a:lnTo>
                    <a:pt x="0" y="6"/>
                  </a:lnTo>
                  <a:lnTo>
                    <a:pt x="0"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6" name="Freeform 160">
              <a:extLst>
                <a:ext uri="{FF2B5EF4-FFF2-40B4-BE49-F238E27FC236}">
                  <a16:creationId xmlns:a16="http://schemas.microsoft.com/office/drawing/2014/main" id="{AB9BE38C-4581-B8CE-0ABA-F0E1ABDAF3A8}"/>
                </a:ext>
              </a:extLst>
            </p:cNvPr>
            <p:cNvSpPr>
              <a:spLocks/>
            </p:cNvSpPr>
            <p:nvPr/>
          </p:nvSpPr>
          <p:spPr bwMode="auto">
            <a:xfrm>
              <a:off x="1614" y="1649"/>
              <a:ext cx="136" cy="72"/>
            </a:xfrm>
            <a:custGeom>
              <a:avLst/>
              <a:gdLst>
                <a:gd name="T0" fmla="*/ 2195491 w 83"/>
                <a:gd name="T1" fmla="*/ 73 h 63"/>
                <a:gd name="T2" fmla="*/ 2160471 w 83"/>
                <a:gd name="T3" fmla="*/ 109 h 63"/>
                <a:gd name="T4" fmla="*/ 1987493 w 83"/>
                <a:gd name="T5" fmla="*/ 202 h 63"/>
                <a:gd name="T6" fmla="*/ 1654163 w 83"/>
                <a:gd name="T7" fmla="*/ 318 h 63"/>
                <a:gd name="T8" fmla="*/ 1212955 w 83"/>
                <a:gd name="T9" fmla="*/ 426 h 63"/>
                <a:gd name="T10" fmla="*/ 761179 w 83"/>
                <a:gd name="T11" fmla="*/ 542 h 63"/>
                <a:gd name="T12" fmla="*/ 389068 w 83"/>
                <a:gd name="T13" fmla="*/ 691 h 63"/>
                <a:gd name="T14" fmla="*/ 92657 w 83"/>
                <a:gd name="T15" fmla="*/ 808 h 63"/>
                <a:gd name="T16" fmla="*/ 0 w 83"/>
                <a:gd name="T17" fmla="*/ 1032 h 63"/>
                <a:gd name="T18" fmla="*/ 407626 w 83"/>
                <a:gd name="T19" fmla="*/ 951 h 63"/>
                <a:gd name="T20" fmla="*/ 451776 w 83"/>
                <a:gd name="T21" fmla="*/ 941 h 63"/>
                <a:gd name="T22" fmla="*/ 637509 w 83"/>
                <a:gd name="T23" fmla="*/ 832 h 63"/>
                <a:gd name="T24" fmla="*/ 998460 w 83"/>
                <a:gd name="T25" fmla="*/ 728 h 63"/>
                <a:gd name="T26" fmla="*/ 1434145 w 83"/>
                <a:gd name="T27" fmla="*/ 619 h 63"/>
                <a:gd name="T28" fmla="*/ 1855348 w 83"/>
                <a:gd name="T29" fmla="*/ 514 h 63"/>
                <a:gd name="T30" fmla="*/ 2257806 w 83"/>
                <a:gd name="T31" fmla="*/ 373 h 63"/>
                <a:gd name="T32" fmla="*/ 2549956 w 83"/>
                <a:gd name="T33" fmla="*/ 213 h 63"/>
                <a:gd name="T34" fmla="*/ 2609697 w 83"/>
                <a:gd name="T35" fmla="*/ 0 h 63"/>
                <a:gd name="T36" fmla="*/ 2195491 w 83"/>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7"/>
                  </a:lnTo>
                  <a:lnTo>
                    <a:pt x="62" y="12"/>
                  </a:lnTo>
                  <a:lnTo>
                    <a:pt x="52" y="19"/>
                  </a:lnTo>
                  <a:lnTo>
                    <a:pt x="38" y="26"/>
                  </a:lnTo>
                  <a:lnTo>
                    <a:pt x="24" y="33"/>
                  </a:lnTo>
                  <a:lnTo>
                    <a:pt x="12" y="41"/>
                  </a:lnTo>
                  <a:lnTo>
                    <a:pt x="3" y="49"/>
                  </a:lnTo>
                  <a:lnTo>
                    <a:pt x="0" y="62"/>
                  </a:lnTo>
                  <a:lnTo>
                    <a:pt x="13" y="58"/>
                  </a:lnTo>
                  <a:lnTo>
                    <a:pt x="14" y="57"/>
                  </a:lnTo>
                  <a:lnTo>
                    <a:pt x="20" y="51"/>
                  </a:lnTo>
                  <a:lnTo>
                    <a:pt x="31" y="45"/>
                  </a:lnTo>
                  <a:lnTo>
                    <a:pt x="45" y="38"/>
                  </a:lnTo>
                  <a:lnTo>
                    <a:pt x="58" y="31"/>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7" name="Freeform 161">
              <a:extLst>
                <a:ext uri="{FF2B5EF4-FFF2-40B4-BE49-F238E27FC236}">
                  <a16:creationId xmlns:a16="http://schemas.microsoft.com/office/drawing/2014/main" id="{1DC7665D-E13F-9825-69D0-2D8C9CA6AC2E}"/>
                </a:ext>
              </a:extLst>
            </p:cNvPr>
            <p:cNvSpPr>
              <a:spLocks/>
            </p:cNvSpPr>
            <p:nvPr/>
          </p:nvSpPr>
          <p:spPr bwMode="auto">
            <a:xfrm>
              <a:off x="1586" y="1601"/>
              <a:ext cx="164" cy="53"/>
            </a:xfrm>
            <a:custGeom>
              <a:avLst/>
              <a:gdLst>
                <a:gd name="T0" fmla="*/ 0 w 100"/>
                <a:gd name="T1" fmla="*/ 89 h 46"/>
                <a:gd name="T2" fmla="*/ 252478 w 100"/>
                <a:gd name="T3" fmla="*/ 279 h 46"/>
                <a:gd name="T4" fmla="*/ 618874 w 100"/>
                <a:gd name="T5" fmla="*/ 385 h 46"/>
                <a:gd name="T6" fmla="*/ 1074074 w 100"/>
                <a:gd name="T7" fmla="*/ 494 h 46"/>
                <a:gd name="T8" fmla="*/ 1565657 w 100"/>
                <a:gd name="T9" fmla="*/ 569 h 46"/>
                <a:gd name="T10" fmla="*/ 2015065 w 100"/>
                <a:gd name="T11" fmla="*/ 656 h 46"/>
                <a:gd name="T12" fmla="*/ 2439375 w 100"/>
                <a:gd name="T13" fmla="*/ 751 h 46"/>
                <a:gd name="T14" fmla="*/ 2694894 w 100"/>
                <a:gd name="T15" fmla="*/ 783 h 46"/>
                <a:gd name="T16" fmla="*/ 2793637 w 100"/>
                <a:gd name="T17" fmla="*/ 891 h 46"/>
                <a:gd name="T18" fmla="*/ 3211983 w 100"/>
                <a:gd name="T19" fmla="*/ 783 h 46"/>
                <a:gd name="T20" fmla="*/ 2995319 w 100"/>
                <a:gd name="T21" fmla="*/ 590 h 46"/>
                <a:gd name="T22" fmla="*/ 2601443 w 100"/>
                <a:gd name="T23" fmla="*/ 491 h 46"/>
                <a:gd name="T24" fmla="*/ 2139329 w 100"/>
                <a:gd name="T25" fmla="*/ 385 h 46"/>
                <a:gd name="T26" fmla="*/ 1664523 w 100"/>
                <a:gd name="T27" fmla="*/ 321 h 46"/>
                <a:gd name="T28" fmla="*/ 1171885 w 100"/>
                <a:gd name="T29" fmla="*/ 242 h 46"/>
                <a:gd name="T30" fmla="*/ 771874 w 100"/>
                <a:gd name="T31" fmla="*/ 137 h 46"/>
                <a:gd name="T32" fmla="*/ 521648 w 100"/>
                <a:gd name="T33" fmla="*/ 3 h 46"/>
                <a:gd name="T34" fmla="*/ 414064 w 100"/>
                <a:gd name="T35" fmla="*/ 0 h 46"/>
                <a:gd name="T36" fmla="*/ 0 w 100"/>
                <a:gd name="T37" fmla="*/ 89 h 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0"/>
                <a:gd name="T58" fmla="*/ 0 h 46"/>
                <a:gd name="T59" fmla="*/ 100 w 100"/>
                <a:gd name="T60" fmla="*/ 46 h 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0" h="46">
                  <a:moveTo>
                    <a:pt x="0" y="4"/>
                  </a:moveTo>
                  <a:lnTo>
                    <a:pt x="8" y="14"/>
                  </a:lnTo>
                  <a:lnTo>
                    <a:pt x="19" y="20"/>
                  </a:lnTo>
                  <a:lnTo>
                    <a:pt x="33" y="25"/>
                  </a:lnTo>
                  <a:lnTo>
                    <a:pt x="48" y="29"/>
                  </a:lnTo>
                  <a:lnTo>
                    <a:pt x="62" y="33"/>
                  </a:lnTo>
                  <a:lnTo>
                    <a:pt x="75" y="37"/>
                  </a:lnTo>
                  <a:lnTo>
                    <a:pt x="83" y="41"/>
                  </a:lnTo>
                  <a:lnTo>
                    <a:pt x="86" y="45"/>
                  </a:lnTo>
                  <a:lnTo>
                    <a:pt x="99" y="41"/>
                  </a:lnTo>
                  <a:lnTo>
                    <a:pt x="92" y="31"/>
                  </a:lnTo>
                  <a:lnTo>
                    <a:pt x="80" y="24"/>
                  </a:lnTo>
                  <a:lnTo>
                    <a:pt x="66" y="20"/>
                  </a:lnTo>
                  <a:lnTo>
                    <a:pt x="51" y="16"/>
                  </a:lnTo>
                  <a:lnTo>
                    <a:pt x="36" y="12"/>
                  </a:lnTo>
                  <a:lnTo>
                    <a:pt x="24" y="7"/>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8" name="Freeform 162">
              <a:extLst>
                <a:ext uri="{FF2B5EF4-FFF2-40B4-BE49-F238E27FC236}">
                  <a16:creationId xmlns:a16="http://schemas.microsoft.com/office/drawing/2014/main" id="{D468736B-ECEA-CD0D-1746-A5A8E2796F20}"/>
                </a:ext>
              </a:extLst>
            </p:cNvPr>
            <p:cNvSpPr>
              <a:spLocks/>
            </p:cNvSpPr>
            <p:nvPr/>
          </p:nvSpPr>
          <p:spPr bwMode="auto">
            <a:xfrm>
              <a:off x="1586" y="1553"/>
              <a:ext cx="128" cy="55"/>
            </a:xfrm>
            <a:custGeom>
              <a:avLst/>
              <a:gdLst>
                <a:gd name="T0" fmla="*/ 2736711 w 77"/>
                <a:gd name="T1" fmla="*/ 121 h 47"/>
                <a:gd name="T2" fmla="*/ 2669048 w 77"/>
                <a:gd name="T3" fmla="*/ 142 h 47"/>
                <a:gd name="T4" fmla="*/ 2468611 w 77"/>
                <a:gd name="T5" fmla="*/ 266 h 47"/>
                <a:gd name="T6" fmla="*/ 2074799 w 77"/>
                <a:gd name="T7" fmla="*/ 364 h 47"/>
                <a:gd name="T8" fmla="*/ 1560232 w 77"/>
                <a:gd name="T9" fmla="*/ 455 h 47"/>
                <a:gd name="T10" fmla="*/ 965868 w 77"/>
                <a:gd name="T11" fmla="*/ 584 h 47"/>
                <a:gd name="T12" fmla="*/ 468364 w 77"/>
                <a:gd name="T13" fmla="*/ 729 h 47"/>
                <a:gd name="T14" fmla="*/ 76089 w 77"/>
                <a:gd name="T15" fmla="*/ 935 h 47"/>
                <a:gd name="T16" fmla="*/ 0 w 77"/>
                <a:gd name="T17" fmla="*/ 1263 h 47"/>
                <a:gd name="T18" fmla="*/ 581030 w 77"/>
                <a:gd name="T19" fmla="*/ 1120 h 47"/>
                <a:gd name="T20" fmla="*/ 778579 w 77"/>
                <a:gd name="T21" fmla="*/ 1009 h 47"/>
                <a:gd name="T22" fmla="*/ 1220468 w 77"/>
                <a:gd name="T23" fmla="*/ 935 h 47"/>
                <a:gd name="T24" fmla="*/ 1716412 w 77"/>
                <a:gd name="T25" fmla="*/ 813 h 47"/>
                <a:gd name="T26" fmla="*/ 2285111 w 77"/>
                <a:gd name="T27" fmla="*/ 695 h 47"/>
                <a:gd name="T28" fmla="*/ 2753694 w 77"/>
                <a:gd name="T29" fmla="*/ 584 h 47"/>
                <a:gd name="T30" fmla="*/ 3189403 w 77"/>
                <a:gd name="T31" fmla="*/ 364 h 47"/>
                <a:gd name="T32" fmla="*/ 3260700 w 77"/>
                <a:gd name="T33" fmla="*/ 0 h 47"/>
                <a:gd name="T34" fmla="*/ 2736711 w 77"/>
                <a:gd name="T35" fmla="*/ 121 h 4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7"/>
                <a:gd name="T55" fmla="*/ 0 h 47"/>
                <a:gd name="T56" fmla="*/ 77 w 77"/>
                <a:gd name="T57" fmla="*/ 47 h 4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7" h="47">
                  <a:moveTo>
                    <a:pt x="63" y="4"/>
                  </a:moveTo>
                  <a:lnTo>
                    <a:pt x="62" y="5"/>
                  </a:lnTo>
                  <a:lnTo>
                    <a:pt x="57" y="9"/>
                  </a:lnTo>
                  <a:lnTo>
                    <a:pt x="48" y="13"/>
                  </a:lnTo>
                  <a:lnTo>
                    <a:pt x="36" y="17"/>
                  </a:lnTo>
                  <a:lnTo>
                    <a:pt x="22" y="21"/>
                  </a:lnTo>
                  <a:lnTo>
                    <a:pt x="11" y="27"/>
                  </a:lnTo>
                  <a:lnTo>
                    <a:pt x="2" y="34"/>
                  </a:lnTo>
                  <a:lnTo>
                    <a:pt x="0" y="46"/>
                  </a:lnTo>
                  <a:lnTo>
                    <a:pt x="13" y="42"/>
                  </a:lnTo>
                  <a:lnTo>
                    <a:pt x="18" y="38"/>
                  </a:lnTo>
                  <a:lnTo>
                    <a:pt x="28" y="34"/>
                  </a:lnTo>
                  <a:lnTo>
                    <a:pt x="40" y="30"/>
                  </a:lnTo>
                  <a:lnTo>
                    <a:pt x="53" y="26"/>
                  </a:lnTo>
                  <a:lnTo>
                    <a:pt x="64" y="21"/>
                  </a:lnTo>
                  <a:lnTo>
                    <a:pt x="74" y="13"/>
                  </a:lnTo>
                  <a:lnTo>
                    <a:pt x="76" y="0"/>
                  </a:lnTo>
                  <a:lnTo>
                    <a:pt x="6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69" name="Freeform 163">
              <a:extLst>
                <a:ext uri="{FF2B5EF4-FFF2-40B4-BE49-F238E27FC236}">
                  <a16:creationId xmlns:a16="http://schemas.microsoft.com/office/drawing/2014/main" id="{D4F04472-017E-F3E9-4E15-0A7CADA51EDF}"/>
                </a:ext>
              </a:extLst>
            </p:cNvPr>
            <p:cNvSpPr>
              <a:spLocks/>
            </p:cNvSpPr>
            <p:nvPr/>
          </p:nvSpPr>
          <p:spPr bwMode="auto">
            <a:xfrm>
              <a:off x="1539" y="1526"/>
              <a:ext cx="175" cy="33"/>
            </a:xfrm>
            <a:custGeom>
              <a:avLst/>
              <a:gdLst>
                <a:gd name="T0" fmla="*/ 0 w 106"/>
                <a:gd name="T1" fmla="*/ 68 h 29"/>
                <a:gd name="T2" fmla="*/ 291842 w 106"/>
                <a:gd name="T3" fmla="*/ 191 h 29"/>
                <a:gd name="T4" fmla="*/ 795449 w 106"/>
                <a:gd name="T5" fmla="*/ 247 h 29"/>
                <a:gd name="T6" fmla="*/ 1328805 w 106"/>
                <a:gd name="T7" fmla="*/ 281 h 29"/>
                <a:gd name="T8" fmla="*/ 1899835 w 106"/>
                <a:gd name="T9" fmla="*/ 306 h 29"/>
                <a:gd name="T10" fmla="*/ 2534104 w 106"/>
                <a:gd name="T11" fmla="*/ 316 h 29"/>
                <a:gd name="T12" fmla="*/ 3033331 w 106"/>
                <a:gd name="T13" fmla="*/ 348 h 29"/>
                <a:gd name="T14" fmla="*/ 3328313 w 106"/>
                <a:gd name="T15" fmla="*/ 396 h 29"/>
                <a:gd name="T16" fmla="*/ 3435385 w 106"/>
                <a:gd name="T17" fmla="*/ 414 h 29"/>
                <a:gd name="T18" fmla="*/ 3917132 w 106"/>
                <a:gd name="T19" fmla="*/ 360 h 29"/>
                <a:gd name="T20" fmla="*/ 3621810 w 106"/>
                <a:gd name="T21" fmla="*/ 207 h 29"/>
                <a:gd name="T22" fmla="*/ 3097518 w 106"/>
                <a:gd name="T23" fmla="*/ 148 h 29"/>
                <a:gd name="T24" fmla="*/ 2573651 w 106"/>
                <a:gd name="T25" fmla="*/ 114 h 29"/>
                <a:gd name="T26" fmla="*/ 1984779 w 106"/>
                <a:gd name="T27" fmla="*/ 100 h 29"/>
                <a:gd name="T28" fmla="*/ 1389091 w 106"/>
                <a:gd name="T29" fmla="*/ 88 h 29"/>
                <a:gd name="T30" fmla="*/ 864949 w 106"/>
                <a:gd name="T31" fmla="*/ 68 h 29"/>
                <a:gd name="T32" fmla="*/ 563155 w 106"/>
                <a:gd name="T33" fmla="*/ 2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3"/>
                  </a:lnTo>
                  <a:lnTo>
                    <a:pt x="21" y="17"/>
                  </a:lnTo>
                  <a:lnTo>
                    <a:pt x="36" y="19"/>
                  </a:lnTo>
                  <a:lnTo>
                    <a:pt x="51" y="20"/>
                  </a:lnTo>
                  <a:lnTo>
                    <a:pt x="68" y="21"/>
                  </a:lnTo>
                  <a:lnTo>
                    <a:pt x="81" y="23"/>
                  </a:lnTo>
                  <a:lnTo>
                    <a:pt x="89" y="26"/>
                  </a:lnTo>
                  <a:lnTo>
                    <a:pt x="92" y="28"/>
                  </a:lnTo>
                  <a:lnTo>
                    <a:pt x="105" y="24"/>
                  </a:lnTo>
                  <a:lnTo>
                    <a:pt x="97" y="14"/>
                  </a:lnTo>
                  <a:lnTo>
                    <a:pt x="83" y="10"/>
                  </a:lnTo>
                  <a:lnTo>
                    <a:pt x="69" y="8"/>
                  </a:lnTo>
                  <a:lnTo>
                    <a:pt x="53" y="7"/>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0" name="Freeform 164">
              <a:extLst>
                <a:ext uri="{FF2B5EF4-FFF2-40B4-BE49-F238E27FC236}">
                  <a16:creationId xmlns:a16="http://schemas.microsoft.com/office/drawing/2014/main" id="{02293FF9-D860-D051-7735-6C95673DC13A}"/>
                </a:ext>
              </a:extLst>
            </p:cNvPr>
            <p:cNvSpPr>
              <a:spLocks/>
            </p:cNvSpPr>
            <p:nvPr/>
          </p:nvSpPr>
          <p:spPr bwMode="auto">
            <a:xfrm>
              <a:off x="1539" y="1464"/>
              <a:ext cx="138" cy="66"/>
            </a:xfrm>
            <a:custGeom>
              <a:avLst/>
              <a:gdLst>
                <a:gd name="T0" fmla="*/ 2353327 w 84"/>
                <a:gd name="T1" fmla="*/ 68 h 58"/>
                <a:gd name="T2" fmla="*/ 2325254 w 84"/>
                <a:gd name="T3" fmla="*/ 68 h 58"/>
                <a:gd name="T4" fmla="*/ 2114707 w 84"/>
                <a:gd name="T5" fmla="*/ 114 h 58"/>
                <a:gd name="T6" fmla="*/ 1725639 w 84"/>
                <a:gd name="T7" fmla="*/ 217 h 58"/>
                <a:gd name="T8" fmla="*/ 1275230 w 84"/>
                <a:gd name="T9" fmla="*/ 316 h 58"/>
                <a:gd name="T10" fmla="*/ 797119 w 84"/>
                <a:gd name="T11" fmla="*/ 414 h 58"/>
                <a:gd name="T12" fmla="*/ 368478 w 84"/>
                <a:gd name="T13" fmla="*/ 531 h 58"/>
                <a:gd name="T14" fmla="*/ 36728 w 84"/>
                <a:gd name="T15" fmla="*/ 667 h 58"/>
                <a:gd name="T16" fmla="*/ 0 w 84"/>
                <a:gd name="T17" fmla="*/ 861 h 58"/>
                <a:gd name="T18" fmla="*/ 439537 w 84"/>
                <a:gd name="T19" fmla="*/ 790 h 58"/>
                <a:gd name="T20" fmla="*/ 439537 w 84"/>
                <a:gd name="T21" fmla="*/ 759 h 58"/>
                <a:gd name="T22" fmla="*/ 639367 w 84"/>
                <a:gd name="T23" fmla="*/ 667 h 58"/>
                <a:gd name="T24" fmla="*/ 994515 w 84"/>
                <a:gd name="T25" fmla="*/ 584 h 58"/>
                <a:gd name="T26" fmla="*/ 1458819 w 84"/>
                <a:gd name="T27" fmla="*/ 506 h 58"/>
                <a:gd name="T28" fmla="*/ 1948925 w 84"/>
                <a:gd name="T29" fmla="*/ 410 h 58"/>
                <a:gd name="T30" fmla="*/ 2353327 w 84"/>
                <a:gd name="T31" fmla="*/ 306 h 58"/>
                <a:gd name="T32" fmla="*/ 2676132 w 84"/>
                <a:gd name="T33" fmla="*/ 182 h 58"/>
                <a:gd name="T34" fmla="*/ 2779841 w 84"/>
                <a:gd name="T35" fmla="*/ 0 h 58"/>
                <a:gd name="T36" fmla="*/ 2353327 w 84"/>
                <a:gd name="T37" fmla="*/ 68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58"/>
                <a:gd name="T59" fmla="*/ 84 w 84"/>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58">
                  <a:moveTo>
                    <a:pt x="70" y="4"/>
                  </a:moveTo>
                  <a:lnTo>
                    <a:pt x="69" y="4"/>
                  </a:lnTo>
                  <a:lnTo>
                    <a:pt x="63" y="8"/>
                  </a:lnTo>
                  <a:lnTo>
                    <a:pt x="51" y="15"/>
                  </a:lnTo>
                  <a:lnTo>
                    <a:pt x="38" y="21"/>
                  </a:lnTo>
                  <a:lnTo>
                    <a:pt x="24" y="28"/>
                  </a:lnTo>
                  <a:lnTo>
                    <a:pt x="11" y="35"/>
                  </a:lnTo>
                  <a:lnTo>
                    <a:pt x="1" y="45"/>
                  </a:lnTo>
                  <a:lnTo>
                    <a:pt x="0" y="57"/>
                  </a:lnTo>
                  <a:lnTo>
                    <a:pt x="13" y="53"/>
                  </a:lnTo>
                  <a:lnTo>
                    <a:pt x="13" y="51"/>
                  </a:lnTo>
                  <a:lnTo>
                    <a:pt x="19" y="45"/>
                  </a:lnTo>
                  <a:lnTo>
                    <a:pt x="30" y="39"/>
                  </a:lnTo>
                  <a:lnTo>
                    <a:pt x="43" y="33"/>
                  </a:lnTo>
                  <a:lnTo>
                    <a:pt x="58" y="27"/>
                  </a:lnTo>
                  <a:lnTo>
                    <a:pt x="70" y="20"/>
                  </a:lnTo>
                  <a:lnTo>
                    <a:pt x="79" y="12"/>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71" name="Freeform 165">
              <a:extLst>
                <a:ext uri="{FF2B5EF4-FFF2-40B4-BE49-F238E27FC236}">
                  <a16:creationId xmlns:a16="http://schemas.microsoft.com/office/drawing/2014/main" id="{E2DDA339-3CEB-F9C3-FA4E-4D35D65839B9}"/>
                </a:ext>
              </a:extLst>
            </p:cNvPr>
            <p:cNvSpPr>
              <a:spLocks/>
            </p:cNvSpPr>
            <p:nvPr/>
          </p:nvSpPr>
          <p:spPr bwMode="auto">
            <a:xfrm>
              <a:off x="2376" y="3603"/>
              <a:ext cx="115" cy="142"/>
            </a:xfrm>
            <a:custGeom>
              <a:avLst/>
              <a:gdLst>
                <a:gd name="T0" fmla="*/ 1345633 w 70"/>
                <a:gd name="T1" fmla="*/ 529 h 124"/>
                <a:gd name="T2" fmla="*/ 2294899 w 70"/>
                <a:gd name="T3" fmla="*/ 0 h 124"/>
                <a:gd name="T4" fmla="*/ 2325254 w 70"/>
                <a:gd name="T5" fmla="*/ 1 h 124"/>
                <a:gd name="T6" fmla="*/ 2114707 w 70"/>
                <a:gd name="T7" fmla="*/ 1074 h 124"/>
                <a:gd name="T8" fmla="*/ 2151409 w 70"/>
                <a:gd name="T9" fmla="*/ 1198 h 124"/>
                <a:gd name="T10" fmla="*/ 2151409 w 70"/>
                <a:gd name="T11" fmla="*/ 1334 h 124"/>
                <a:gd name="T12" fmla="*/ 2151409 w 70"/>
                <a:gd name="T13" fmla="*/ 1470 h 124"/>
                <a:gd name="T14" fmla="*/ 2196006 w 70"/>
                <a:gd name="T15" fmla="*/ 1614 h 124"/>
                <a:gd name="T16" fmla="*/ 2210683 w 70"/>
                <a:gd name="T17" fmla="*/ 1737 h 124"/>
                <a:gd name="T18" fmla="*/ 2210683 w 70"/>
                <a:gd name="T19" fmla="*/ 1873 h 124"/>
                <a:gd name="T20" fmla="*/ 2210683 w 70"/>
                <a:gd name="T21" fmla="*/ 1989 h 124"/>
                <a:gd name="T22" fmla="*/ 2258973 w 70"/>
                <a:gd name="T23" fmla="*/ 2116 h 124"/>
                <a:gd name="T24" fmla="*/ 2114707 w 70"/>
                <a:gd name="T25" fmla="*/ 2004 h 124"/>
                <a:gd name="T26" fmla="*/ 2036691 w 70"/>
                <a:gd name="T27" fmla="*/ 1891 h 124"/>
                <a:gd name="T28" fmla="*/ 1883894 w 70"/>
                <a:gd name="T29" fmla="*/ 1791 h 124"/>
                <a:gd name="T30" fmla="*/ 1786333 w 70"/>
                <a:gd name="T31" fmla="*/ 1673 h 124"/>
                <a:gd name="T32" fmla="*/ 1633846 w 70"/>
                <a:gd name="T33" fmla="*/ 1528 h 124"/>
                <a:gd name="T34" fmla="*/ 1524090 w 70"/>
                <a:gd name="T35" fmla="*/ 1439 h 124"/>
                <a:gd name="T36" fmla="*/ 1375027 w 70"/>
                <a:gd name="T37" fmla="*/ 1325 h 124"/>
                <a:gd name="T38" fmla="*/ 1275230 w 70"/>
                <a:gd name="T39" fmla="*/ 1193 h 124"/>
                <a:gd name="T40" fmla="*/ 0 w 70"/>
                <a:gd name="T41" fmla="*/ 363 h 124"/>
                <a:gd name="T42" fmla="*/ 36728 w 70"/>
                <a:gd name="T43" fmla="*/ 328 h 124"/>
                <a:gd name="T44" fmla="*/ 1345633 w 70"/>
                <a:gd name="T45" fmla="*/ 529 h 12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0"/>
                <a:gd name="T70" fmla="*/ 0 h 124"/>
                <a:gd name="T71" fmla="*/ 70 w 70"/>
                <a:gd name="T72" fmla="*/ 124 h 12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0" h="124">
                  <a:moveTo>
                    <a:pt x="40" y="30"/>
                  </a:moveTo>
                  <a:lnTo>
                    <a:pt x="68" y="0"/>
                  </a:lnTo>
                  <a:lnTo>
                    <a:pt x="69" y="1"/>
                  </a:lnTo>
                  <a:lnTo>
                    <a:pt x="63" y="62"/>
                  </a:lnTo>
                  <a:lnTo>
                    <a:pt x="64" y="70"/>
                  </a:lnTo>
                  <a:lnTo>
                    <a:pt x="64" y="78"/>
                  </a:lnTo>
                  <a:lnTo>
                    <a:pt x="64" y="86"/>
                  </a:lnTo>
                  <a:lnTo>
                    <a:pt x="65" y="93"/>
                  </a:lnTo>
                  <a:lnTo>
                    <a:pt x="66" y="100"/>
                  </a:lnTo>
                  <a:lnTo>
                    <a:pt x="66" y="108"/>
                  </a:lnTo>
                  <a:lnTo>
                    <a:pt x="66" y="115"/>
                  </a:lnTo>
                  <a:lnTo>
                    <a:pt x="67" y="123"/>
                  </a:lnTo>
                  <a:lnTo>
                    <a:pt x="63" y="117"/>
                  </a:lnTo>
                  <a:lnTo>
                    <a:pt x="60" y="110"/>
                  </a:lnTo>
                  <a:lnTo>
                    <a:pt x="56" y="103"/>
                  </a:lnTo>
                  <a:lnTo>
                    <a:pt x="53" y="97"/>
                  </a:lnTo>
                  <a:lnTo>
                    <a:pt x="49" y="89"/>
                  </a:lnTo>
                  <a:lnTo>
                    <a:pt x="45" y="83"/>
                  </a:lnTo>
                  <a:lnTo>
                    <a:pt x="41" y="76"/>
                  </a:lnTo>
                  <a:lnTo>
                    <a:pt x="38" y="69"/>
                  </a:lnTo>
                  <a:lnTo>
                    <a:pt x="0" y="21"/>
                  </a:lnTo>
                  <a:lnTo>
                    <a:pt x="1" y="19"/>
                  </a:lnTo>
                  <a:lnTo>
                    <a:pt x="40" y="3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grpSp>
        <p:nvGrpSpPr>
          <p:cNvPr id="5" name="Group 166">
            <a:extLst>
              <a:ext uri="{FF2B5EF4-FFF2-40B4-BE49-F238E27FC236}">
                <a16:creationId xmlns:a16="http://schemas.microsoft.com/office/drawing/2014/main" id="{BDFD76B3-6AFF-D76B-CDEA-6D6296E28052}"/>
              </a:ext>
            </a:extLst>
          </p:cNvPr>
          <p:cNvGrpSpPr>
            <a:grpSpLocks/>
          </p:cNvGrpSpPr>
          <p:nvPr/>
        </p:nvGrpSpPr>
        <p:grpSpPr bwMode="auto">
          <a:xfrm>
            <a:off x="2509838" y="2538473"/>
            <a:ext cx="1762125" cy="2151063"/>
            <a:chOff x="1943" y="1436"/>
            <a:chExt cx="1374" cy="1581"/>
          </a:xfrm>
        </p:grpSpPr>
        <p:sp>
          <p:nvSpPr>
            <p:cNvPr id="22648" name="Freeform 167">
              <a:extLst>
                <a:ext uri="{FF2B5EF4-FFF2-40B4-BE49-F238E27FC236}">
                  <a16:creationId xmlns:a16="http://schemas.microsoft.com/office/drawing/2014/main" id="{DD154CFC-08AA-064D-8EC0-85B40F656F89}"/>
                </a:ext>
              </a:extLst>
            </p:cNvPr>
            <p:cNvSpPr>
              <a:spLocks/>
            </p:cNvSpPr>
            <p:nvPr/>
          </p:nvSpPr>
          <p:spPr bwMode="auto">
            <a:xfrm>
              <a:off x="3182" y="1825"/>
              <a:ext cx="135" cy="124"/>
            </a:xfrm>
            <a:custGeom>
              <a:avLst/>
              <a:gdLst>
                <a:gd name="T0" fmla="*/ 1454339 w 82"/>
                <a:gd name="T1" fmla="*/ 1412 h 108"/>
                <a:gd name="T2" fmla="*/ 0 w 82"/>
                <a:gd name="T3" fmla="*/ 1480 h 108"/>
                <a:gd name="T4" fmla="*/ 1549621 w 82"/>
                <a:gd name="T5" fmla="*/ 758 h 108"/>
                <a:gd name="T6" fmla="*/ 1689515 w 82"/>
                <a:gd name="T7" fmla="*/ 708 h 108"/>
                <a:gd name="T8" fmla="*/ 1856077 w 82"/>
                <a:gd name="T9" fmla="*/ 571 h 108"/>
                <a:gd name="T10" fmla="*/ 2013884 w 82"/>
                <a:gd name="T11" fmla="*/ 493 h 108"/>
                <a:gd name="T12" fmla="*/ 2225992 w 82"/>
                <a:gd name="T13" fmla="*/ 408 h 108"/>
                <a:gd name="T14" fmla="*/ 2353109 w 82"/>
                <a:gd name="T15" fmla="*/ 286 h 108"/>
                <a:gd name="T16" fmla="*/ 2551205 w 82"/>
                <a:gd name="T17" fmla="*/ 207 h 108"/>
                <a:gd name="T18" fmla="*/ 2677154 w 82"/>
                <a:gd name="T19" fmla="*/ 91 h 108"/>
                <a:gd name="T20" fmla="*/ 2848938 w 82"/>
                <a:gd name="T21" fmla="*/ 0 h 108"/>
                <a:gd name="T22" fmla="*/ 2781519 w 82"/>
                <a:gd name="T23" fmla="*/ 119 h 108"/>
                <a:gd name="T24" fmla="*/ 2739716 w 82"/>
                <a:gd name="T25" fmla="*/ 238 h 108"/>
                <a:gd name="T26" fmla="*/ 2677154 w 82"/>
                <a:gd name="T27" fmla="*/ 359 h 108"/>
                <a:gd name="T28" fmla="*/ 2613799 w 82"/>
                <a:gd name="T29" fmla="*/ 473 h 108"/>
                <a:gd name="T30" fmla="*/ 2574035 w 82"/>
                <a:gd name="T31" fmla="*/ 617 h 108"/>
                <a:gd name="T32" fmla="*/ 2513833 w 82"/>
                <a:gd name="T33" fmla="*/ 731 h 108"/>
                <a:gd name="T34" fmla="*/ 2455820 w 82"/>
                <a:gd name="T35" fmla="*/ 839 h 108"/>
                <a:gd name="T36" fmla="*/ 2394339 w 82"/>
                <a:gd name="T37" fmla="*/ 963 h 108"/>
                <a:gd name="T38" fmla="*/ 2285685 w 82"/>
                <a:gd name="T39" fmla="*/ 1922 h 108"/>
                <a:gd name="T40" fmla="*/ 2249465 w 82"/>
                <a:gd name="T41" fmla="*/ 1951 h 108"/>
                <a:gd name="T42" fmla="*/ 1454339 w 82"/>
                <a:gd name="T43" fmla="*/ 1412 h 1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2"/>
                <a:gd name="T67" fmla="*/ 0 h 108"/>
                <a:gd name="T68" fmla="*/ 82 w 82"/>
                <a:gd name="T69" fmla="*/ 108 h 1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2" h="108">
                  <a:moveTo>
                    <a:pt x="41" y="78"/>
                  </a:moveTo>
                  <a:lnTo>
                    <a:pt x="0" y="81"/>
                  </a:lnTo>
                  <a:lnTo>
                    <a:pt x="44" y="43"/>
                  </a:lnTo>
                  <a:lnTo>
                    <a:pt x="48" y="38"/>
                  </a:lnTo>
                  <a:lnTo>
                    <a:pt x="53" y="32"/>
                  </a:lnTo>
                  <a:lnTo>
                    <a:pt x="57" y="27"/>
                  </a:lnTo>
                  <a:lnTo>
                    <a:pt x="63" y="22"/>
                  </a:lnTo>
                  <a:lnTo>
                    <a:pt x="67" y="16"/>
                  </a:lnTo>
                  <a:lnTo>
                    <a:pt x="72" y="11"/>
                  </a:lnTo>
                  <a:lnTo>
                    <a:pt x="76" y="5"/>
                  </a:lnTo>
                  <a:lnTo>
                    <a:pt x="81" y="0"/>
                  </a:lnTo>
                  <a:lnTo>
                    <a:pt x="79" y="7"/>
                  </a:lnTo>
                  <a:lnTo>
                    <a:pt x="78" y="13"/>
                  </a:lnTo>
                  <a:lnTo>
                    <a:pt x="76" y="20"/>
                  </a:lnTo>
                  <a:lnTo>
                    <a:pt x="74" y="26"/>
                  </a:lnTo>
                  <a:lnTo>
                    <a:pt x="73" y="33"/>
                  </a:lnTo>
                  <a:lnTo>
                    <a:pt x="71" y="40"/>
                  </a:lnTo>
                  <a:lnTo>
                    <a:pt x="70" y="46"/>
                  </a:lnTo>
                  <a:lnTo>
                    <a:pt x="68" y="53"/>
                  </a:lnTo>
                  <a:lnTo>
                    <a:pt x="65" y="106"/>
                  </a:lnTo>
                  <a:lnTo>
                    <a:pt x="64" y="107"/>
                  </a:lnTo>
                  <a:lnTo>
                    <a:pt x="41" y="7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9" name="Freeform 168">
              <a:extLst>
                <a:ext uri="{FF2B5EF4-FFF2-40B4-BE49-F238E27FC236}">
                  <a16:creationId xmlns:a16="http://schemas.microsoft.com/office/drawing/2014/main" id="{E10329E0-B200-A8D5-6FE0-4207C82514FE}"/>
                </a:ext>
              </a:extLst>
            </p:cNvPr>
            <p:cNvSpPr>
              <a:spLocks/>
            </p:cNvSpPr>
            <p:nvPr/>
          </p:nvSpPr>
          <p:spPr bwMode="auto">
            <a:xfrm>
              <a:off x="3110" y="1911"/>
              <a:ext cx="148" cy="51"/>
            </a:xfrm>
            <a:custGeom>
              <a:avLst/>
              <a:gdLst>
                <a:gd name="T0" fmla="*/ 418059 w 90"/>
                <a:gd name="T1" fmla="*/ 956 h 44"/>
                <a:gd name="T2" fmla="*/ 480135 w 90"/>
                <a:gd name="T3" fmla="*/ 872 h 44"/>
                <a:gd name="T4" fmla="*/ 687475 w 90"/>
                <a:gd name="T5" fmla="*/ 859 h 44"/>
                <a:gd name="T6" fmla="*/ 968543 w 90"/>
                <a:gd name="T7" fmla="*/ 872 h 44"/>
                <a:gd name="T8" fmla="*/ 1298379 w 90"/>
                <a:gd name="T9" fmla="*/ 872 h 44"/>
                <a:gd name="T10" fmla="*/ 1753134 w 90"/>
                <a:gd name="T11" fmla="*/ 852 h 44"/>
                <a:gd name="T12" fmla="*/ 2196628 w 90"/>
                <a:gd name="T13" fmla="*/ 735 h 44"/>
                <a:gd name="T14" fmla="*/ 2663053 w 90"/>
                <a:gd name="T15" fmla="*/ 518 h 44"/>
                <a:gd name="T16" fmla="*/ 3057132 w 90"/>
                <a:gd name="T17" fmla="*/ 158 h 44"/>
                <a:gd name="T18" fmla="*/ 2663053 w 90"/>
                <a:gd name="T19" fmla="*/ 0 h 44"/>
                <a:gd name="T20" fmla="*/ 2304061 w 90"/>
                <a:gd name="T21" fmla="*/ 305 h 44"/>
                <a:gd name="T22" fmla="*/ 1990834 w 90"/>
                <a:gd name="T23" fmla="*/ 457 h 44"/>
                <a:gd name="T24" fmla="*/ 1655750 w 90"/>
                <a:gd name="T25" fmla="*/ 551 h 44"/>
                <a:gd name="T26" fmla="*/ 1298379 w 90"/>
                <a:gd name="T27" fmla="*/ 551 h 44"/>
                <a:gd name="T28" fmla="*/ 968543 w 90"/>
                <a:gd name="T29" fmla="*/ 551 h 44"/>
                <a:gd name="T30" fmla="*/ 626313 w 90"/>
                <a:gd name="T31" fmla="*/ 597 h 44"/>
                <a:gd name="T32" fmla="*/ 272244 w 90"/>
                <a:gd name="T33" fmla="*/ 639 h 44"/>
                <a:gd name="T34" fmla="*/ 0 w 90"/>
                <a:gd name="T35" fmla="*/ 806 h 44"/>
                <a:gd name="T36" fmla="*/ 418059 w 90"/>
                <a:gd name="T37" fmla="*/ 956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0"/>
                <a:gd name="T58" fmla="*/ 0 h 44"/>
                <a:gd name="T59" fmla="*/ 90 w 90"/>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0" h="44">
                  <a:moveTo>
                    <a:pt x="12" y="43"/>
                  </a:moveTo>
                  <a:lnTo>
                    <a:pt x="14" y="40"/>
                  </a:lnTo>
                  <a:lnTo>
                    <a:pt x="20" y="39"/>
                  </a:lnTo>
                  <a:lnTo>
                    <a:pt x="28" y="40"/>
                  </a:lnTo>
                  <a:lnTo>
                    <a:pt x="38" y="40"/>
                  </a:lnTo>
                  <a:lnTo>
                    <a:pt x="51" y="38"/>
                  </a:lnTo>
                  <a:lnTo>
                    <a:pt x="64" y="33"/>
                  </a:lnTo>
                  <a:lnTo>
                    <a:pt x="77" y="23"/>
                  </a:lnTo>
                  <a:lnTo>
                    <a:pt x="89" y="7"/>
                  </a:lnTo>
                  <a:lnTo>
                    <a:pt x="77" y="0"/>
                  </a:lnTo>
                  <a:lnTo>
                    <a:pt x="67" y="14"/>
                  </a:lnTo>
                  <a:lnTo>
                    <a:pt x="58" y="21"/>
                  </a:lnTo>
                  <a:lnTo>
                    <a:pt x="48" y="25"/>
                  </a:lnTo>
                  <a:lnTo>
                    <a:pt x="38" y="25"/>
                  </a:lnTo>
                  <a:lnTo>
                    <a:pt x="28" y="25"/>
                  </a:lnTo>
                  <a:lnTo>
                    <a:pt x="18" y="26"/>
                  </a:lnTo>
                  <a:lnTo>
                    <a:pt x="8" y="29"/>
                  </a:lnTo>
                  <a:lnTo>
                    <a:pt x="0" y="36"/>
                  </a:lnTo>
                  <a:lnTo>
                    <a:pt x="12" y="4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0" name="Freeform 169">
              <a:extLst>
                <a:ext uri="{FF2B5EF4-FFF2-40B4-BE49-F238E27FC236}">
                  <a16:creationId xmlns:a16="http://schemas.microsoft.com/office/drawing/2014/main" id="{2333484C-A6D5-A6F5-5698-5D9074AE013B}"/>
                </a:ext>
              </a:extLst>
            </p:cNvPr>
            <p:cNvSpPr>
              <a:spLocks/>
            </p:cNvSpPr>
            <p:nvPr/>
          </p:nvSpPr>
          <p:spPr bwMode="auto">
            <a:xfrm>
              <a:off x="3110" y="1952"/>
              <a:ext cx="130" cy="78"/>
            </a:xfrm>
            <a:custGeom>
              <a:avLst/>
              <a:gdLst>
                <a:gd name="T0" fmla="*/ 2718437 w 79"/>
                <a:gd name="T1" fmla="*/ 1621 h 67"/>
                <a:gd name="T2" fmla="*/ 2654305 w 79"/>
                <a:gd name="T3" fmla="*/ 1318 h 67"/>
                <a:gd name="T4" fmla="*/ 2329860 w 79"/>
                <a:gd name="T5" fmla="*/ 1059 h 67"/>
                <a:gd name="T6" fmla="*/ 1880305 w 79"/>
                <a:gd name="T7" fmla="*/ 882 h 67"/>
                <a:gd name="T8" fmla="*/ 1402150 w 79"/>
                <a:gd name="T9" fmla="*/ 672 h 67"/>
                <a:gd name="T10" fmla="*/ 980208 w 79"/>
                <a:gd name="T11" fmla="*/ 480 h 67"/>
                <a:gd name="T12" fmla="*/ 595665 w 79"/>
                <a:gd name="T13" fmla="*/ 304 h 67"/>
                <a:gd name="T14" fmla="*/ 451334 w 79"/>
                <a:gd name="T15" fmla="*/ 189 h 67"/>
                <a:gd name="T16" fmla="*/ 421968 w 79"/>
                <a:gd name="T17" fmla="*/ 139 h 67"/>
                <a:gd name="T18" fmla="*/ 37404 w 79"/>
                <a:gd name="T19" fmla="*/ 0 h 67"/>
                <a:gd name="T20" fmla="*/ 0 w 79"/>
                <a:gd name="T21" fmla="*/ 304 h 67"/>
                <a:gd name="T22" fmla="*/ 274272 w 79"/>
                <a:gd name="T23" fmla="*/ 559 h 67"/>
                <a:gd name="T24" fmla="*/ 694378 w 79"/>
                <a:gd name="T25" fmla="*/ 779 h 67"/>
                <a:gd name="T26" fmla="*/ 1178814 w 79"/>
                <a:gd name="T27" fmla="*/ 951 h 67"/>
                <a:gd name="T28" fmla="*/ 1674120 w 79"/>
                <a:gd name="T29" fmla="*/ 1146 h 67"/>
                <a:gd name="T30" fmla="*/ 2011163 w 79"/>
                <a:gd name="T31" fmla="*/ 1318 h 67"/>
                <a:gd name="T32" fmla="*/ 2231208 w 79"/>
                <a:gd name="T33" fmla="*/ 1442 h 67"/>
                <a:gd name="T34" fmla="*/ 2269433 w 79"/>
                <a:gd name="T35" fmla="*/ 1512 h 67"/>
                <a:gd name="T36" fmla="*/ 2718437 w 79"/>
                <a:gd name="T37" fmla="*/ 1621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7"/>
                <a:gd name="T59" fmla="*/ 79 w 79"/>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7">
                  <a:moveTo>
                    <a:pt x="78" y="66"/>
                  </a:moveTo>
                  <a:lnTo>
                    <a:pt x="76" y="54"/>
                  </a:lnTo>
                  <a:lnTo>
                    <a:pt x="67" y="44"/>
                  </a:lnTo>
                  <a:lnTo>
                    <a:pt x="54" y="36"/>
                  </a:lnTo>
                  <a:lnTo>
                    <a:pt x="40" y="28"/>
                  </a:lnTo>
                  <a:lnTo>
                    <a:pt x="28" y="20"/>
                  </a:lnTo>
                  <a:lnTo>
                    <a:pt x="17" y="13"/>
                  </a:lnTo>
                  <a:lnTo>
                    <a:pt x="13" y="8"/>
                  </a:lnTo>
                  <a:lnTo>
                    <a:pt x="12" y="6"/>
                  </a:lnTo>
                  <a:lnTo>
                    <a:pt x="1" y="0"/>
                  </a:lnTo>
                  <a:lnTo>
                    <a:pt x="0" y="13"/>
                  </a:lnTo>
                  <a:lnTo>
                    <a:pt x="8" y="23"/>
                  </a:lnTo>
                  <a:lnTo>
                    <a:pt x="20" y="32"/>
                  </a:lnTo>
                  <a:lnTo>
                    <a:pt x="34" y="39"/>
                  </a:lnTo>
                  <a:lnTo>
                    <a:pt x="48" y="47"/>
                  </a:lnTo>
                  <a:lnTo>
                    <a:pt x="58" y="54"/>
                  </a:lnTo>
                  <a:lnTo>
                    <a:pt x="64" y="60"/>
                  </a:lnTo>
                  <a:lnTo>
                    <a:pt x="65" y="62"/>
                  </a:lnTo>
                  <a:lnTo>
                    <a:pt x="78"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1" name="Freeform 170">
              <a:extLst>
                <a:ext uri="{FF2B5EF4-FFF2-40B4-BE49-F238E27FC236}">
                  <a16:creationId xmlns:a16="http://schemas.microsoft.com/office/drawing/2014/main" id="{4C60EC61-1BA0-9519-126B-2E177B046071}"/>
                </a:ext>
              </a:extLst>
            </p:cNvPr>
            <p:cNvSpPr>
              <a:spLocks/>
            </p:cNvSpPr>
            <p:nvPr/>
          </p:nvSpPr>
          <p:spPr bwMode="auto">
            <a:xfrm>
              <a:off x="3064" y="2024"/>
              <a:ext cx="176" cy="28"/>
            </a:xfrm>
            <a:custGeom>
              <a:avLst/>
              <a:gdLst>
                <a:gd name="T0" fmla="*/ 448956 w 107"/>
                <a:gd name="T1" fmla="*/ 261 h 25"/>
                <a:gd name="T2" fmla="*/ 551648 w 107"/>
                <a:gd name="T3" fmla="*/ 239 h 25"/>
                <a:gd name="T4" fmla="*/ 855362 w 107"/>
                <a:gd name="T5" fmla="*/ 208 h 25"/>
                <a:gd name="T6" fmla="*/ 1326479 w 107"/>
                <a:gd name="T7" fmla="*/ 190 h 25"/>
                <a:gd name="T8" fmla="*/ 1829721 w 107"/>
                <a:gd name="T9" fmla="*/ 190 h 25"/>
                <a:gd name="T10" fmla="*/ 2374059 w 107"/>
                <a:gd name="T11" fmla="*/ 190 h 25"/>
                <a:gd name="T12" fmla="*/ 2937350 w 107"/>
                <a:gd name="T13" fmla="*/ 186 h 25"/>
                <a:gd name="T14" fmla="*/ 3361858 w 107"/>
                <a:gd name="T15" fmla="*/ 148 h 25"/>
                <a:gd name="T16" fmla="*/ 3649694 w 107"/>
                <a:gd name="T17" fmla="*/ 4 h 25"/>
                <a:gd name="T18" fmla="*/ 3223782 w 107"/>
                <a:gd name="T19" fmla="*/ 0 h 25"/>
                <a:gd name="T20" fmla="*/ 3107351 w 107"/>
                <a:gd name="T21" fmla="*/ 2 h 25"/>
                <a:gd name="T22" fmla="*/ 2833329 w 107"/>
                <a:gd name="T23" fmla="*/ 4 h 25"/>
                <a:gd name="T24" fmla="*/ 2374059 w 107"/>
                <a:gd name="T25" fmla="*/ 60 h 25"/>
                <a:gd name="T26" fmla="*/ 1829721 w 107"/>
                <a:gd name="T27" fmla="*/ 4 h 25"/>
                <a:gd name="T28" fmla="*/ 1326479 w 107"/>
                <a:gd name="T29" fmla="*/ 60 h 25"/>
                <a:gd name="T30" fmla="*/ 755427 w 107"/>
                <a:gd name="T31" fmla="*/ 67 h 25"/>
                <a:gd name="T32" fmla="*/ 316149 w 107"/>
                <a:gd name="T33" fmla="*/ 105 h 25"/>
                <a:gd name="T34" fmla="*/ 0 w 107"/>
                <a:gd name="T35" fmla="*/ 213 h 25"/>
                <a:gd name="T36" fmla="*/ 448956 w 107"/>
                <a:gd name="T37" fmla="*/ 261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6" y="22"/>
                  </a:lnTo>
                  <a:lnTo>
                    <a:pt x="25" y="19"/>
                  </a:lnTo>
                  <a:lnTo>
                    <a:pt x="38" y="18"/>
                  </a:lnTo>
                  <a:lnTo>
                    <a:pt x="53" y="18"/>
                  </a:lnTo>
                  <a:lnTo>
                    <a:pt x="69" y="18"/>
                  </a:lnTo>
                  <a:lnTo>
                    <a:pt x="85" y="17"/>
                  </a:lnTo>
                  <a:lnTo>
                    <a:pt x="97" y="13"/>
                  </a:lnTo>
                  <a:lnTo>
                    <a:pt x="106" y="4"/>
                  </a:lnTo>
                  <a:lnTo>
                    <a:pt x="93" y="0"/>
                  </a:lnTo>
                  <a:lnTo>
                    <a:pt x="90" y="2"/>
                  </a:lnTo>
                  <a:lnTo>
                    <a:pt x="82" y="4"/>
                  </a:lnTo>
                  <a:lnTo>
                    <a:pt x="69" y="5"/>
                  </a:lnTo>
                  <a:lnTo>
                    <a:pt x="53" y="4"/>
                  </a:lnTo>
                  <a:lnTo>
                    <a:pt x="38" y="5"/>
                  </a:lnTo>
                  <a:lnTo>
                    <a:pt x="22" y="6"/>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2" name="Freeform 171">
              <a:extLst>
                <a:ext uri="{FF2B5EF4-FFF2-40B4-BE49-F238E27FC236}">
                  <a16:creationId xmlns:a16="http://schemas.microsoft.com/office/drawing/2014/main" id="{5CB5F8B1-D71E-AE62-FDE3-12E7A1661451}"/>
                </a:ext>
              </a:extLst>
            </p:cNvPr>
            <p:cNvSpPr>
              <a:spLocks/>
            </p:cNvSpPr>
            <p:nvPr/>
          </p:nvSpPr>
          <p:spPr bwMode="auto">
            <a:xfrm>
              <a:off x="3064" y="2048"/>
              <a:ext cx="130" cy="76"/>
            </a:xfrm>
            <a:custGeom>
              <a:avLst/>
              <a:gdLst>
                <a:gd name="T0" fmla="*/ 2718437 w 79"/>
                <a:gd name="T1" fmla="*/ 1246 h 66"/>
                <a:gd name="T2" fmla="*/ 2654305 w 79"/>
                <a:gd name="T3" fmla="*/ 1029 h 66"/>
                <a:gd name="T4" fmla="*/ 2373138 w 79"/>
                <a:gd name="T5" fmla="*/ 839 h 66"/>
                <a:gd name="T6" fmla="*/ 1930358 w 79"/>
                <a:gd name="T7" fmla="*/ 674 h 66"/>
                <a:gd name="T8" fmla="*/ 1468965 w 79"/>
                <a:gd name="T9" fmla="*/ 550 h 66"/>
                <a:gd name="T10" fmla="*/ 1040012 w 79"/>
                <a:gd name="T11" fmla="*/ 383 h 66"/>
                <a:gd name="T12" fmla="*/ 656503 w 79"/>
                <a:gd name="T13" fmla="*/ 251 h 66"/>
                <a:gd name="T14" fmla="*/ 493266 w 79"/>
                <a:gd name="T15" fmla="*/ 117 h 66"/>
                <a:gd name="T16" fmla="*/ 451334 w 79"/>
                <a:gd name="T17" fmla="*/ 89 h 66"/>
                <a:gd name="T18" fmla="*/ 0 w 79"/>
                <a:gd name="T19" fmla="*/ 0 h 66"/>
                <a:gd name="T20" fmla="*/ 61551 w 79"/>
                <a:gd name="T21" fmla="*/ 251 h 66"/>
                <a:gd name="T22" fmla="*/ 339473 w 79"/>
                <a:gd name="T23" fmla="*/ 441 h 66"/>
                <a:gd name="T24" fmla="*/ 760939 w 79"/>
                <a:gd name="T25" fmla="*/ 633 h 66"/>
                <a:gd name="T26" fmla="*/ 1252178 w 79"/>
                <a:gd name="T27" fmla="*/ 755 h 66"/>
                <a:gd name="T28" fmla="*/ 1711412 w 79"/>
                <a:gd name="T29" fmla="*/ 896 h 66"/>
                <a:gd name="T30" fmla="*/ 2060546 w 79"/>
                <a:gd name="T31" fmla="*/ 1032 h 66"/>
                <a:gd name="T32" fmla="*/ 2231208 w 79"/>
                <a:gd name="T33" fmla="*/ 1153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3"/>
                  </a:lnTo>
                  <a:lnTo>
                    <a:pt x="68" y="43"/>
                  </a:lnTo>
                  <a:lnTo>
                    <a:pt x="55" y="35"/>
                  </a:lnTo>
                  <a:lnTo>
                    <a:pt x="42" y="28"/>
                  </a:lnTo>
                  <a:lnTo>
                    <a:pt x="30" y="20"/>
                  </a:lnTo>
                  <a:lnTo>
                    <a:pt x="19" y="13"/>
                  </a:lnTo>
                  <a:lnTo>
                    <a:pt x="14" y="6"/>
                  </a:lnTo>
                  <a:lnTo>
                    <a:pt x="13" y="4"/>
                  </a:lnTo>
                  <a:lnTo>
                    <a:pt x="0" y="0"/>
                  </a:lnTo>
                  <a:lnTo>
                    <a:pt x="2" y="13"/>
                  </a:lnTo>
                  <a:lnTo>
                    <a:pt x="10" y="23"/>
                  </a:lnTo>
                  <a:lnTo>
                    <a:pt x="22" y="32"/>
                  </a:lnTo>
                  <a:lnTo>
                    <a:pt x="36" y="39"/>
                  </a:lnTo>
                  <a:lnTo>
                    <a:pt x="49" y="47"/>
                  </a:lnTo>
                  <a:lnTo>
                    <a:pt x="59" y="54"/>
                  </a:lnTo>
                  <a:lnTo>
                    <a:pt x="64" y="60"/>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3" name="Freeform 172">
              <a:extLst>
                <a:ext uri="{FF2B5EF4-FFF2-40B4-BE49-F238E27FC236}">
                  <a16:creationId xmlns:a16="http://schemas.microsoft.com/office/drawing/2014/main" id="{226BBE8A-3480-BC03-8720-76DA6FA604D7}"/>
                </a:ext>
              </a:extLst>
            </p:cNvPr>
            <p:cNvSpPr>
              <a:spLocks/>
            </p:cNvSpPr>
            <p:nvPr/>
          </p:nvSpPr>
          <p:spPr bwMode="auto">
            <a:xfrm>
              <a:off x="3020" y="2118"/>
              <a:ext cx="174" cy="27"/>
            </a:xfrm>
            <a:custGeom>
              <a:avLst/>
              <a:gdLst>
                <a:gd name="T0" fmla="*/ 555905 w 105"/>
                <a:gd name="T1" fmla="*/ 463 h 23"/>
                <a:gd name="T2" fmla="*/ 555905 w 105"/>
                <a:gd name="T3" fmla="*/ 514 h 23"/>
                <a:gd name="T4" fmla="*/ 605611 w 105"/>
                <a:gd name="T5" fmla="*/ 505 h 23"/>
                <a:gd name="T6" fmla="*/ 970032 w 105"/>
                <a:gd name="T7" fmla="*/ 438 h 23"/>
                <a:gd name="T8" fmla="*/ 1485145 w 105"/>
                <a:gd name="T9" fmla="*/ 463 h 23"/>
                <a:gd name="T10" fmla="*/ 2105818 w 105"/>
                <a:gd name="T11" fmla="*/ 463 h 23"/>
                <a:gd name="T12" fmla="*/ 2755964 w 105"/>
                <a:gd name="T13" fmla="*/ 505 h 23"/>
                <a:gd name="T14" fmla="*/ 3311643 w 105"/>
                <a:gd name="T15" fmla="*/ 463 h 23"/>
                <a:gd name="T16" fmla="*/ 3873205 w 105"/>
                <a:gd name="T17" fmla="*/ 373 h 23"/>
                <a:gd name="T18" fmla="*/ 4192184 w 105"/>
                <a:gd name="T19" fmla="*/ 122 h 23"/>
                <a:gd name="T20" fmla="*/ 3677016 w 105"/>
                <a:gd name="T21" fmla="*/ 0 h 23"/>
                <a:gd name="T22" fmla="*/ 3587389 w 105"/>
                <a:gd name="T23" fmla="*/ 1 h 23"/>
                <a:gd name="T24" fmla="*/ 3269143 w 105"/>
                <a:gd name="T25" fmla="*/ 104 h 23"/>
                <a:gd name="T26" fmla="*/ 2755964 w 105"/>
                <a:gd name="T27" fmla="*/ 104 h 23"/>
                <a:gd name="T28" fmla="*/ 2105818 w 105"/>
                <a:gd name="T29" fmla="*/ 104 h 23"/>
                <a:gd name="T30" fmla="*/ 1485145 w 105"/>
                <a:gd name="T31" fmla="*/ 1 h 23"/>
                <a:gd name="T32" fmla="*/ 921214 w 105"/>
                <a:gd name="T33" fmla="*/ 2 h 23"/>
                <a:gd name="T34" fmla="*/ 407286 w 105"/>
                <a:gd name="T35" fmla="*/ 122 h 23"/>
                <a:gd name="T36" fmla="*/ 42486 w 105"/>
                <a:gd name="T37" fmla="*/ 394 h 23"/>
                <a:gd name="T38" fmla="*/ 0 w 105"/>
                <a:gd name="T39" fmla="*/ 463 h 23"/>
                <a:gd name="T40" fmla="*/ 42486 w 105"/>
                <a:gd name="T41" fmla="*/ 394 h 23"/>
                <a:gd name="T42" fmla="*/ 42486 w 105"/>
                <a:gd name="T43" fmla="*/ 544 h 23"/>
                <a:gd name="T44" fmla="*/ 193341 w 105"/>
                <a:gd name="T45" fmla="*/ 639 h 23"/>
                <a:gd name="T46" fmla="*/ 407286 w 105"/>
                <a:gd name="T47" fmla="*/ 603 h 23"/>
                <a:gd name="T48" fmla="*/ 555905 w 105"/>
                <a:gd name="T49" fmla="*/ 514 h 23"/>
                <a:gd name="T50" fmla="*/ 555905 w 105"/>
                <a:gd name="T51" fmla="*/ 463 h 2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5"/>
                <a:gd name="T79" fmla="*/ 0 h 23"/>
                <a:gd name="T80" fmla="*/ 105 w 105"/>
                <a:gd name="T81" fmla="*/ 23 h 2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5" h="23">
                  <a:moveTo>
                    <a:pt x="14" y="16"/>
                  </a:moveTo>
                  <a:lnTo>
                    <a:pt x="14" y="18"/>
                  </a:lnTo>
                  <a:lnTo>
                    <a:pt x="15" y="17"/>
                  </a:lnTo>
                  <a:lnTo>
                    <a:pt x="24" y="15"/>
                  </a:lnTo>
                  <a:lnTo>
                    <a:pt x="37" y="16"/>
                  </a:lnTo>
                  <a:lnTo>
                    <a:pt x="52" y="16"/>
                  </a:lnTo>
                  <a:lnTo>
                    <a:pt x="68" y="17"/>
                  </a:lnTo>
                  <a:lnTo>
                    <a:pt x="82" y="16"/>
                  </a:lnTo>
                  <a:lnTo>
                    <a:pt x="96" y="13"/>
                  </a:lnTo>
                  <a:lnTo>
                    <a:pt x="104" y="4"/>
                  </a:lnTo>
                  <a:lnTo>
                    <a:pt x="91" y="0"/>
                  </a:lnTo>
                  <a:lnTo>
                    <a:pt x="89" y="1"/>
                  </a:lnTo>
                  <a:lnTo>
                    <a:pt x="81" y="3"/>
                  </a:lnTo>
                  <a:lnTo>
                    <a:pt x="68" y="3"/>
                  </a:lnTo>
                  <a:lnTo>
                    <a:pt x="52" y="3"/>
                  </a:lnTo>
                  <a:lnTo>
                    <a:pt x="37" y="1"/>
                  </a:lnTo>
                  <a:lnTo>
                    <a:pt x="23" y="2"/>
                  </a:lnTo>
                  <a:lnTo>
                    <a:pt x="10" y="4"/>
                  </a:lnTo>
                  <a:lnTo>
                    <a:pt x="1" y="14"/>
                  </a:lnTo>
                  <a:lnTo>
                    <a:pt x="0" y="16"/>
                  </a:lnTo>
                  <a:lnTo>
                    <a:pt x="1" y="14"/>
                  </a:lnTo>
                  <a:lnTo>
                    <a:pt x="1" y="19"/>
                  </a:lnTo>
                  <a:lnTo>
                    <a:pt x="5" y="22"/>
                  </a:lnTo>
                  <a:lnTo>
                    <a:pt x="10" y="21"/>
                  </a:lnTo>
                  <a:lnTo>
                    <a:pt x="14" y="18"/>
                  </a:lnTo>
                  <a:lnTo>
                    <a:pt x="14" y="1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4" name="Freeform 173">
              <a:extLst>
                <a:ext uri="{FF2B5EF4-FFF2-40B4-BE49-F238E27FC236}">
                  <a16:creationId xmlns:a16="http://schemas.microsoft.com/office/drawing/2014/main" id="{830F9CBC-DFB3-2CA7-D877-85FBFFBBD7F5}"/>
                </a:ext>
              </a:extLst>
            </p:cNvPr>
            <p:cNvSpPr>
              <a:spLocks/>
            </p:cNvSpPr>
            <p:nvPr/>
          </p:nvSpPr>
          <p:spPr bwMode="auto">
            <a:xfrm>
              <a:off x="3020" y="2136"/>
              <a:ext cx="25" cy="11"/>
            </a:xfrm>
            <a:custGeom>
              <a:avLst/>
              <a:gdLst>
                <a:gd name="T0" fmla="*/ 621467 w 15"/>
                <a:gd name="T1" fmla="*/ 216 h 9"/>
                <a:gd name="T2" fmla="*/ 621467 w 15"/>
                <a:gd name="T3" fmla="*/ 2 h 9"/>
                <a:gd name="T4" fmla="*/ 621467 w 15"/>
                <a:gd name="T5" fmla="*/ 0 h 9"/>
                <a:gd name="T6" fmla="*/ 0 w 15"/>
                <a:gd name="T7" fmla="*/ 0 h 9"/>
                <a:gd name="T8" fmla="*/ 0 w 15"/>
                <a:gd name="T9" fmla="*/ 2 h 9"/>
                <a:gd name="T10" fmla="*/ 47430 w 15"/>
                <a:gd name="T11" fmla="*/ 0 h 9"/>
                <a:gd name="T12" fmla="*/ 0 w 15"/>
                <a:gd name="T13" fmla="*/ 2 h 9"/>
                <a:gd name="T14" fmla="*/ 79050 w 15"/>
                <a:gd name="T15" fmla="*/ 483 h 9"/>
                <a:gd name="T16" fmla="*/ 325255 w 15"/>
                <a:gd name="T17" fmla="*/ 543 h 9"/>
                <a:gd name="T18" fmla="*/ 542092 w 15"/>
                <a:gd name="T19" fmla="*/ 483 h 9"/>
                <a:gd name="T20" fmla="*/ 621467 w 15"/>
                <a:gd name="T21" fmla="*/ 2 h 9"/>
                <a:gd name="T22" fmla="*/ 621467 w 15"/>
                <a:gd name="T23" fmla="*/ 216 h 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9"/>
                <a:gd name="T38" fmla="*/ 15 w 15"/>
                <a:gd name="T39" fmla="*/ 9 h 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9">
                  <a:moveTo>
                    <a:pt x="14" y="3"/>
                  </a:moveTo>
                  <a:lnTo>
                    <a:pt x="14" y="2"/>
                  </a:lnTo>
                  <a:lnTo>
                    <a:pt x="14" y="0"/>
                  </a:lnTo>
                  <a:lnTo>
                    <a:pt x="0" y="0"/>
                  </a:lnTo>
                  <a:lnTo>
                    <a:pt x="0" y="2"/>
                  </a:lnTo>
                  <a:lnTo>
                    <a:pt x="1" y="0"/>
                  </a:lnTo>
                  <a:lnTo>
                    <a:pt x="0" y="2"/>
                  </a:lnTo>
                  <a:lnTo>
                    <a:pt x="2" y="7"/>
                  </a:lnTo>
                  <a:lnTo>
                    <a:pt x="7" y="8"/>
                  </a:lnTo>
                  <a:lnTo>
                    <a:pt x="12" y="7"/>
                  </a:lnTo>
                  <a:lnTo>
                    <a:pt x="14" y="2"/>
                  </a:lnTo>
                  <a:lnTo>
                    <a:pt x="14"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5" name="Freeform 174">
              <a:extLst>
                <a:ext uri="{FF2B5EF4-FFF2-40B4-BE49-F238E27FC236}">
                  <a16:creationId xmlns:a16="http://schemas.microsoft.com/office/drawing/2014/main" id="{7F27A117-629E-443B-7620-5B12F21F429C}"/>
                </a:ext>
              </a:extLst>
            </p:cNvPr>
            <p:cNvSpPr>
              <a:spLocks/>
            </p:cNvSpPr>
            <p:nvPr/>
          </p:nvSpPr>
          <p:spPr bwMode="auto">
            <a:xfrm>
              <a:off x="3020" y="2136"/>
              <a:ext cx="132" cy="77"/>
            </a:xfrm>
            <a:custGeom>
              <a:avLst/>
              <a:gdLst>
                <a:gd name="T0" fmla="*/ 2918860 w 80"/>
                <a:gd name="T1" fmla="*/ 1224 h 67"/>
                <a:gd name="T2" fmla="*/ 2918860 w 80"/>
                <a:gd name="T3" fmla="*/ 1219 h 67"/>
                <a:gd name="T4" fmla="*/ 2842721 w 80"/>
                <a:gd name="T5" fmla="*/ 972 h 67"/>
                <a:gd name="T6" fmla="*/ 2480000 w 80"/>
                <a:gd name="T7" fmla="*/ 831 h 67"/>
                <a:gd name="T8" fmla="*/ 2037753 w 80"/>
                <a:gd name="T9" fmla="*/ 690 h 67"/>
                <a:gd name="T10" fmla="*/ 1545345 w 80"/>
                <a:gd name="T11" fmla="*/ 547 h 67"/>
                <a:gd name="T12" fmla="*/ 1072125 w 80"/>
                <a:gd name="T13" fmla="*/ 414 h 67"/>
                <a:gd name="T14" fmla="*/ 667037 w 80"/>
                <a:gd name="T15" fmla="*/ 278 h 67"/>
                <a:gd name="T16" fmla="*/ 520035 w 80"/>
                <a:gd name="T17" fmla="*/ 160 h 67"/>
                <a:gd name="T18" fmla="*/ 477527 w 80"/>
                <a:gd name="T19" fmla="*/ 3 h 67"/>
                <a:gd name="T20" fmla="*/ 0 w 80"/>
                <a:gd name="T21" fmla="*/ 0 h 67"/>
                <a:gd name="T22" fmla="*/ 39046 w 80"/>
                <a:gd name="T23" fmla="*/ 260 h 67"/>
                <a:gd name="T24" fmla="*/ 338181 w 80"/>
                <a:gd name="T25" fmla="*/ 476 h 67"/>
                <a:gd name="T26" fmla="*/ 787920 w 80"/>
                <a:gd name="T27" fmla="*/ 640 h 67"/>
                <a:gd name="T28" fmla="*/ 1300068 w 80"/>
                <a:gd name="T29" fmla="*/ 755 h 67"/>
                <a:gd name="T30" fmla="*/ 1816008 w 80"/>
                <a:gd name="T31" fmla="*/ 876 h 67"/>
                <a:gd name="T32" fmla="*/ 2169448 w 80"/>
                <a:gd name="T33" fmla="*/ 998 h 67"/>
                <a:gd name="T34" fmla="*/ 2399955 w 80"/>
                <a:gd name="T35" fmla="*/ 1117 h 67"/>
                <a:gd name="T36" fmla="*/ 2442464 w 80"/>
                <a:gd name="T37" fmla="*/ 1132 h 67"/>
                <a:gd name="T38" fmla="*/ 2918860 w 80"/>
                <a:gd name="T39" fmla="*/ 1224 h 6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0"/>
                <a:gd name="T61" fmla="*/ 0 h 67"/>
                <a:gd name="T62" fmla="*/ 80 w 80"/>
                <a:gd name="T63" fmla="*/ 67 h 6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0" h="67">
                  <a:moveTo>
                    <a:pt x="79" y="66"/>
                  </a:moveTo>
                  <a:lnTo>
                    <a:pt x="79" y="65"/>
                  </a:lnTo>
                  <a:lnTo>
                    <a:pt x="77" y="52"/>
                  </a:lnTo>
                  <a:lnTo>
                    <a:pt x="67" y="44"/>
                  </a:lnTo>
                  <a:lnTo>
                    <a:pt x="55" y="37"/>
                  </a:lnTo>
                  <a:lnTo>
                    <a:pt x="42" y="29"/>
                  </a:lnTo>
                  <a:lnTo>
                    <a:pt x="29" y="22"/>
                  </a:lnTo>
                  <a:lnTo>
                    <a:pt x="18" y="15"/>
                  </a:lnTo>
                  <a:lnTo>
                    <a:pt x="14" y="9"/>
                  </a:lnTo>
                  <a:lnTo>
                    <a:pt x="13" y="3"/>
                  </a:lnTo>
                  <a:lnTo>
                    <a:pt x="0" y="0"/>
                  </a:lnTo>
                  <a:lnTo>
                    <a:pt x="1" y="14"/>
                  </a:lnTo>
                  <a:lnTo>
                    <a:pt x="9" y="25"/>
                  </a:lnTo>
                  <a:lnTo>
                    <a:pt x="21" y="34"/>
                  </a:lnTo>
                  <a:lnTo>
                    <a:pt x="35" y="41"/>
                  </a:lnTo>
                  <a:lnTo>
                    <a:pt x="49" y="48"/>
                  </a:lnTo>
                  <a:lnTo>
                    <a:pt x="59" y="54"/>
                  </a:lnTo>
                  <a:lnTo>
                    <a:pt x="65" y="60"/>
                  </a:lnTo>
                  <a:lnTo>
                    <a:pt x="66" y="61"/>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6" name="Freeform 175">
              <a:extLst>
                <a:ext uri="{FF2B5EF4-FFF2-40B4-BE49-F238E27FC236}">
                  <a16:creationId xmlns:a16="http://schemas.microsoft.com/office/drawing/2014/main" id="{78DB3531-E28A-11FA-3584-892A8CE6363B}"/>
                </a:ext>
              </a:extLst>
            </p:cNvPr>
            <p:cNvSpPr>
              <a:spLocks/>
            </p:cNvSpPr>
            <p:nvPr/>
          </p:nvSpPr>
          <p:spPr bwMode="auto">
            <a:xfrm>
              <a:off x="2974" y="2207"/>
              <a:ext cx="178" cy="30"/>
            </a:xfrm>
            <a:custGeom>
              <a:avLst/>
              <a:gdLst>
                <a:gd name="T0" fmla="*/ 467977 w 108"/>
                <a:gd name="T1" fmla="*/ 496 h 26"/>
                <a:gd name="T2" fmla="*/ 572069 w 108"/>
                <a:gd name="T3" fmla="*/ 466 h 26"/>
                <a:gd name="T4" fmla="*/ 904365 w 108"/>
                <a:gd name="T5" fmla="*/ 404 h 26"/>
                <a:gd name="T6" fmla="*/ 1340297 w 108"/>
                <a:gd name="T7" fmla="*/ 373 h 26"/>
                <a:gd name="T8" fmla="*/ 1899138 w 108"/>
                <a:gd name="T9" fmla="*/ 404 h 26"/>
                <a:gd name="T10" fmla="*/ 2520165 w 108"/>
                <a:gd name="T11" fmla="*/ 373 h 26"/>
                <a:gd name="T12" fmla="*/ 3068888 w 108"/>
                <a:gd name="T13" fmla="*/ 372 h 26"/>
                <a:gd name="T14" fmla="*/ 3543764 w 108"/>
                <a:gd name="T15" fmla="*/ 279 h 26"/>
                <a:gd name="T16" fmla="*/ 3851116 w 108"/>
                <a:gd name="T17" fmla="*/ 103 h 26"/>
                <a:gd name="T18" fmla="*/ 3382615 w 108"/>
                <a:gd name="T19" fmla="*/ 0 h 26"/>
                <a:gd name="T20" fmla="*/ 3279487 w 108"/>
                <a:gd name="T21" fmla="*/ 3 h 26"/>
                <a:gd name="T22" fmla="*/ 2963647 w 108"/>
                <a:gd name="T23" fmla="*/ 103 h 26"/>
                <a:gd name="T24" fmla="*/ 2520165 w 108"/>
                <a:gd name="T25" fmla="*/ 119 h 26"/>
                <a:gd name="T26" fmla="*/ 1899138 w 108"/>
                <a:gd name="T27" fmla="*/ 103 h 26"/>
                <a:gd name="T28" fmla="*/ 1340297 w 108"/>
                <a:gd name="T29" fmla="*/ 119 h 26"/>
                <a:gd name="T30" fmla="*/ 782669 w 108"/>
                <a:gd name="T31" fmla="*/ 137 h 26"/>
                <a:gd name="T32" fmla="*/ 332929 w 108"/>
                <a:gd name="T33" fmla="*/ 228 h 26"/>
                <a:gd name="T34" fmla="*/ 0 w 108"/>
                <a:gd name="T35" fmla="*/ 429 h 26"/>
                <a:gd name="T36" fmla="*/ 467977 w 108"/>
                <a:gd name="T37" fmla="*/ 496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6"/>
                <a:gd name="T59" fmla="*/ 108 w 108"/>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6">
                  <a:moveTo>
                    <a:pt x="13" y="25"/>
                  </a:moveTo>
                  <a:lnTo>
                    <a:pt x="16" y="23"/>
                  </a:lnTo>
                  <a:lnTo>
                    <a:pt x="25" y="20"/>
                  </a:lnTo>
                  <a:lnTo>
                    <a:pt x="37" y="19"/>
                  </a:lnTo>
                  <a:lnTo>
                    <a:pt x="53" y="20"/>
                  </a:lnTo>
                  <a:lnTo>
                    <a:pt x="70" y="19"/>
                  </a:lnTo>
                  <a:lnTo>
                    <a:pt x="85" y="18"/>
                  </a:lnTo>
                  <a:lnTo>
                    <a:pt x="98" y="14"/>
                  </a:lnTo>
                  <a:lnTo>
                    <a:pt x="107" y="5"/>
                  </a:lnTo>
                  <a:lnTo>
                    <a:pt x="94" y="0"/>
                  </a:lnTo>
                  <a:lnTo>
                    <a:pt x="91" y="3"/>
                  </a:lnTo>
                  <a:lnTo>
                    <a:pt x="82" y="5"/>
                  </a:lnTo>
                  <a:lnTo>
                    <a:pt x="70" y="6"/>
                  </a:lnTo>
                  <a:lnTo>
                    <a:pt x="53" y="5"/>
                  </a:lnTo>
                  <a:lnTo>
                    <a:pt x="37" y="6"/>
                  </a:lnTo>
                  <a:lnTo>
                    <a:pt x="22" y="7"/>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7" name="Freeform 176">
              <a:extLst>
                <a:ext uri="{FF2B5EF4-FFF2-40B4-BE49-F238E27FC236}">
                  <a16:creationId xmlns:a16="http://schemas.microsoft.com/office/drawing/2014/main" id="{BFE1C62D-57B5-1548-72F5-166207377691}"/>
                </a:ext>
              </a:extLst>
            </p:cNvPr>
            <p:cNvSpPr>
              <a:spLocks/>
            </p:cNvSpPr>
            <p:nvPr/>
          </p:nvSpPr>
          <p:spPr bwMode="auto">
            <a:xfrm>
              <a:off x="2974" y="2231"/>
              <a:ext cx="132" cy="76"/>
            </a:xfrm>
            <a:custGeom>
              <a:avLst/>
              <a:gdLst>
                <a:gd name="T0" fmla="*/ 2918860 w 80"/>
                <a:gd name="T1" fmla="*/ 1246 h 66"/>
                <a:gd name="T2" fmla="*/ 2842721 w 80"/>
                <a:gd name="T3" fmla="*/ 1001 h 66"/>
                <a:gd name="T4" fmla="*/ 2506601 w 80"/>
                <a:gd name="T5" fmla="*/ 839 h 66"/>
                <a:gd name="T6" fmla="*/ 2099480 w 80"/>
                <a:gd name="T7" fmla="*/ 656 h 66"/>
                <a:gd name="T8" fmla="*/ 1545345 w 80"/>
                <a:gd name="T9" fmla="*/ 510 h 66"/>
                <a:gd name="T10" fmla="*/ 1100611 w 80"/>
                <a:gd name="T11" fmla="*/ 371 h 66"/>
                <a:gd name="T12" fmla="*/ 733570 w 80"/>
                <a:gd name="T13" fmla="*/ 236 h 66"/>
                <a:gd name="T14" fmla="*/ 520035 w 80"/>
                <a:gd name="T15" fmla="*/ 117 h 66"/>
                <a:gd name="T16" fmla="*/ 477527 w 80"/>
                <a:gd name="T17" fmla="*/ 89 h 66"/>
                <a:gd name="T18" fmla="*/ 0 w 80"/>
                <a:gd name="T19" fmla="*/ 0 h 66"/>
                <a:gd name="T20" fmla="*/ 64426 w 80"/>
                <a:gd name="T21" fmla="*/ 251 h 66"/>
                <a:gd name="T22" fmla="*/ 404265 w 80"/>
                <a:gd name="T23" fmla="*/ 441 h 66"/>
                <a:gd name="T24" fmla="*/ 796859 w 80"/>
                <a:gd name="T25" fmla="*/ 587 h 66"/>
                <a:gd name="T26" fmla="*/ 1314817 w 80"/>
                <a:gd name="T27" fmla="*/ 752 h 66"/>
                <a:gd name="T28" fmla="*/ 1816008 w 80"/>
                <a:gd name="T29" fmla="*/ 894 h 66"/>
                <a:gd name="T30" fmla="*/ 2169448 w 80"/>
                <a:gd name="T31" fmla="*/ 1029 h 66"/>
                <a:gd name="T32" fmla="*/ 2399955 w 80"/>
                <a:gd name="T33" fmla="*/ 1148 h 66"/>
                <a:gd name="T34" fmla="*/ 2442464 w 80"/>
                <a:gd name="T35" fmla="*/ 1185 h 66"/>
                <a:gd name="T36" fmla="*/ 2918860 w 80"/>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3"/>
                  </a:lnTo>
                  <a:lnTo>
                    <a:pt x="57" y="34"/>
                  </a:lnTo>
                  <a:lnTo>
                    <a:pt x="42" y="27"/>
                  </a:lnTo>
                  <a:lnTo>
                    <a:pt x="30" y="19"/>
                  </a:lnTo>
                  <a:lnTo>
                    <a:pt x="20" y="12"/>
                  </a:lnTo>
                  <a:lnTo>
                    <a:pt x="14" y="6"/>
                  </a:lnTo>
                  <a:lnTo>
                    <a:pt x="13" y="4"/>
                  </a:lnTo>
                  <a:lnTo>
                    <a:pt x="0" y="0"/>
                  </a:lnTo>
                  <a:lnTo>
                    <a:pt x="2" y="13"/>
                  </a:lnTo>
                  <a:lnTo>
                    <a:pt x="11" y="23"/>
                  </a:lnTo>
                  <a:lnTo>
                    <a:pt x="22" y="31"/>
                  </a:lnTo>
                  <a:lnTo>
                    <a:pt x="36" y="38"/>
                  </a:lnTo>
                  <a:lnTo>
                    <a:pt x="49" y="46"/>
                  </a:lnTo>
                  <a:lnTo>
                    <a:pt x="59" y="53"/>
                  </a:lnTo>
                  <a:lnTo>
                    <a:pt x="65" y="59"/>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8" name="Freeform 177">
              <a:extLst>
                <a:ext uri="{FF2B5EF4-FFF2-40B4-BE49-F238E27FC236}">
                  <a16:creationId xmlns:a16="http://schemas.microsoft.com/office/drawing/2014/main" id="{84BC7F38-E3C1-D4C7-A9AD-102C9E9C328D}"/>
                </a:ext>
              </a:extLst>
            </p:cNvPr>
            <p:cNvSpPr>
              <a:spLocks/>
            </p:cNvSpPr>
            <p:nvPr/>
          </p:nvSpPr>
          <p:spPr bwMode="auto">
            <a:xfrm>
              <a:off x="2932" y="2301"/>
              <a:ext cx="174" cy="29"/>
            </a:xfrm>
            <a:custGeom>
              <a:avLst/>
              <a:gdLst>
                <a:gd name="T0" fmla="*/ 464163 w 106"/>
                <a:gd name="T1" fmla="*/ 392 h 25"/>
                <a:gd name="T2" fmla="*/ 419911 w 106"/>
                <a:gd name="T3" fmla="*/ 445 h 25"/>
                <a:gd name="T4" fmla="*/ 503423 w 106"/>
                <a:gd name="T5" fmla="*/ 455 h 25"/>
                <a:gd name="T6" fmla="*/ 761928 w 106"/>
                <a:gd name="T7" fmla="*/ 394 h 25"/>
                <a:gd name="T8" fmla="*/ 1189907 w 106"/>
                <a:gd name="T9" fmla="*/ 394 h 25"/>
                <a:gd name="T10" fmla="*/ 1723619 w 106"/>
                <a:gd name="T11" fmla="*/ 394 h 25"/>
                <a:gd name="T12" fmla="*/ 2261872 w 106"/>
                <a:gd name="T13" fmla="*/ 394 h 25"/>
                <a:gd name="T14" fmla="*/ 2742357 w 106"/>
                <a:gd name="T15" fmla="*/ 392 h 25"/>
                <a:gd name="T16" fmla="*/ 3184802 w 106"/>
                <a:gd name="T17" fmla="*/ 291 h 25"/>
                <a:gd name="T18" fmla="*/ 3468237 w 106"/>
                <a:gd name="T19" fmla="*/ 101 h 25"/>
                <a:gd name="T20" fmla="*/ 3048815 w 106"/>
                <a:gd name="T21" fmla="*/ 0 h 25"/>
                <a:gd name="T22" fmla="*/ 2950607 w 106"/>
                <a:gd name="T23" fmla="*/ 2 h 25"/>
                <a:gd name="T24" fmla="*/ 2681420 w 106"/>
                <a:gd name="T25" fmla="*/ 101 h 25"/>
                <a:gd name="T26" fmla="*/ 2261872 w 106"/>
                <a:gd name="T27" fmla="*/ 117 h 25"/>
                <a:gd name="T28" fmla="*/ 1723619 w 106"/>
                <a:gd name="T29" fmla="*/ 101 h 25"/>
                <a:gd name="T30" fmla="*/ 1189907 w 106"/>
                <a:gd name="T31" fmla="*/ 101 h 25"/>
                <a:gd name="T32" fmla="*/ 724886 w 106"/>
                <a:gd name="T33" fmla="*/ 117 h 25"/>
                <a:gd name="T34" fmla="*/ 306683 w 106"/>
                <a:gd name="T35" fmla="*/ 158 h 25"/>
                <a:gd name="T36" fmla="*/ 0 w 106"/>
                <a:gd name="T37" fmla="*/ 338 h 25"/>
                <a:gd name="T38" fmla="*/ 0 w 106"/>
                <a:gd name="T39" fmla="*/ 392 h 25"/>
                <a:gd name="T40" fmla="*/ 0 w 106"/>
                <a:gd name="T41" fmla="*/ 338 h 25"/>
                <a:gd name="T42" fmla="*/ 35232 w 106"/>
                <a:gd name="T43" fmla="*/ 455 h 25"/>
                <a:gd name="T44" fmla="*/ 155837 w 106"/>
                <a:gd name="T45" fmla="*/ 530 h 25"/>
                <a:gd name="T46" fmla="*/ 325065 w 106"/>
                <a:gd name="T47" fmla="*/ 528 h 25"/>
                <a:gd name="T48" fmla="*/ 419911 w 106"/>
                <a:gd name="T49" fmla="*/ 445 h 25"/>
                <a:gd name="T50" fmla="*/ 464163 w 106"/>
                <a:gd name="T51" fmla="*/ 392 h 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6"/>
                <a:gd name="T79" fmla="*/ 0 h 25"/>
                <a:gd name="T80" fmla="*/ 106 w 106"/>
                <a:gd name="T81" fmla="*/ 25 h 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6" h="25">
                  <a:moveTo>
                    <a:pt x="14" y="17"/>
                  </a:moveTo>
                  <a:lnTo>
                    <a:pt x="13" y="19"/>
                  </a:lnTo>
                  <a:lnTo>
                    <a:pt x="15" y="20"/>
                  </a:lnTo>
                  <a:lnTo>
                    <a:pt x="23" y="18"/>
                  </a:lnTo>
                  <a:lnTo>
                    <a:pt x="36" y="18"/>
                  </a:lnTo>
                  <a:lnTo>
                    <a:pt x="52" y="18"/>
                  </a:lnTo>
                  <a:lnTo>
                    <a:pt x="68" y="18"/>
                  </a:lnTo>
                  <a:lnTo>
                    <a:pt x="83" y="17"/>
                  </a:lnTo>
                  <a:lnTo>
                    <a:pt x="96" y="13"/>
                  </a:lnTo>
                  <a:lnTo>
                    <a:pt x="105" y="4"/>
                  </a:lnTo>
                  <a:lnTo>
                    <a:pt x="92" y="0"/>
                  </a:lnTo>
                  <a:lnTo>
                    <a:pt x="89" y="2"/>
                  </a:lnTo>
                  <a:lnTo>
                    <a:pt x="81" y="4"/>
                  </a:lnTo>
                  <a:lnTo>
                    <a:pt x="68" y="5"/>
                  </a:lnTo>
                  <a:lnTo>
                    <a:pt x="52" y="4"/>
                  </a:lnTo>
                  <a:lnTo>
                    <a:pt x="36" y="4"/>
                  </a:lnTo>
                  <a:lnTo>
                    <a:pt x="22" y="5"/>
                  </a:lnTo>
                  <a:lnTo>
                    <a:pt x="9" y="7"/>
                  </a:lnTo>
                  <a:lnTo>
                    <a:pt x="0" y="15"/>
                  </a:lnTo>
                  <a:lnTo>
                    <a:pt x="0" y="17"/>
                  </a:lnTo>
                  <a:lnTo>
                    <a:pt x="0" y="15"/>
                  </a:lnTo>
                  <a:lnTo>
                    <a:pt x="1" y="20"/>
                  </a:lnTo>
                  <a:lnTo>
                    <a:pt x="5" y="24"/>
                  </a:lnTo>
                  <a:lnTo>
                    <a:pt x="10" y="23"/>
                  </a:lnTo>
                  <a:lnTo>
                    <a:pt x="13" y="19"/>
                  </a:lnTo>
                  <a:lnTo>
                    <a:pt x="14" y="1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59" name="Freeform 178">
              <a:extLst>
                <a:ext uri="{FF2B5EF4-FFF2-40B4-BE49-F238E27FC236}">
                  <a16:creationId xmlns:a16="http://schemas.microsoft.com/office/drawing/2014/main" id="{618615F9-1AB3-3225-8603-13AF94C8C7FA}"/>
                </a:ext>
              </a:extLst>
            </p:cNvPr>
            <p:cNvSpPr>
              <a:spLocks/>
            </p:cNvSpPr>
            <p:nvPr/>
          </p:nvSpPr>
          <p:spPr bwMode="auto">
            <a:xfrm>
              <a:off x="2932" y="2320"/>
              <a:ext cx="24" cy="11"/>
            </a:xfrm>
            <a:custGeom>
              <a:avLst/>
              <a:gdLst>
                <a:gd name="T0" fmla="*/ 255066 w 15"/>
                <a:gd name="T1" fmla="*/ 45 h 10"/>
                <a:gd name="T2" fmla="*/ 265134 w 15"/>
                <a:gd name="T3" fmla="*/ 2 h 10"/>
                <a:gd name="T4" fmla="*/ 0 w 15"/>
                <a:gd name="T5" fmla="*/ 2 h 10"/>
                <a:gd name="T6" fmla="*/ 0 w 15"/>
                <a:gd name="T7" fmla="*/ 0 h 10"/>
                <a:gd name="T8" fmla="*/ 0 w 15"/>
                <a:gd name="T9" fmla="*/ 2 h 10"/>
                <a:gd name="T10" fmla="*/ 38920 w 15"/>
                <a:gd name="T11" fmla="*/ 61 h 10"/>
                <a:gd name="T12" fmla="*/ 136000 w 15"/>
                <a:gd name="T13" fmla="*/ 67 h 10"/>
                <a:gd name="T14" fmla="*/ 226910 w 15"/>
                <a:gd name="T15" fmla="*/ 61 h 10"/>
                <a:gd name="T16" fmla="*/ 265134 w 15"/>
                <a:gd name="T17" fmla="*/ 2 h 10"/>
                <a:gd name="T18" fmla="*/ 255066 w 15"/>
                <a:gd name="T19" fmla="*/ 45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0"/>
                <a:gd name="T32" fmla="*/ 15 w 15"/>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0">
                  <a:moveTo>
                    <a:pt x="13" y="5"/>
                  </a:moveTo>
                  <a:lnTo>
                    <a:pt x="14" y="2"/>
                  </a:lnTo>
                  <a:lnTo>
                    <a:pt x="0" y="2"/>
                  </a:lnTo>
                  <a:lnTo>
                    <a:pt x="0" y="0"/>
                  </a:lnTo>
                  <a:lnTo>
                    <a:pt x="0" y="2"/>
                  </a:lnTo>
                  <a:lnTo>
                    <a:pt x="2" y="8"/>
                  </a:lnTo>
                  <a:lnTo>
                    <a:pt x="7" y="9"/>
                  </a:lnTo>
                  <a:lnTo>
                    <a:pt x="12" y="8"/>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0" name="Freeform 179">
              <a:extLst>
                <a:ext uri="{FF2B5EF4-FFF2-40B4-BE49-F238E27FC236}">
                  <a16:creationId xmlns:a16="http://schemas.microsoft.com/office/drawing/2014/main" id="{5503C808-95E3-5AAF-48D8-AA8116A0A43E}"/>
                </a:ext>
              </a:extLst>
            </p:cNvPr>
            <p:cNvSpPr>
              <a:spLocks/>
            </p:cNvSpPr>
            <p:nvPr/>
          </p:nvSpPr>
          <p:spPr bwMode="auto">
            <a:xfrm>
              <a:off x="2932" y="2320"/>
              <a:ext cx="128" cy="76"/>
            </a:xfrm>
            <a:custGeom>
              <a:avLst/>
              <a:gdLst>
                <a:gd name="T0" fmla="*/ 2532882 w 78"/>
                <a:gd name="T1" fmla="*/ 932 h 67"/>
                <a:gd name="T2" fmla="*/ 2499568 w 78"/>
                <a:gd name="T3" fmla="*/ 740 h 67"/>
                <a:gd name="T4" fmla="*/ 2209400 w 78"/>
                <a:gd name="T5" fmla="*/ 620 h 67"/>
                <a:gd name="T6" fmla="*/ 1812188 w 78"/>
                <a:gd name="T7" fmla="*/ 491 h 67"/>
                <a:gd name="T8" fmla="*/ 1380721 w 78"/>
                <a:gd name="T9" fmla="*/ 348 h 67"/>
                <a:gd name="T10" fmla="*/ 975677 w 78"/>
                <a:gd name="T11" fmla="*/ 270 h 67"/>
                <a:gd name="T12" fmla="*/ 664651 w 78"/>
                <a:gd name="T13" fmla="*/ 145 h 67"/>
                <a:gd name="T14" fmla="*/ 461814 w 78"/>
                <a:gd name="T15" fmla="*/ 78 h 67"/>
                <a:gd name="T16" fmla="*/ 418066 w 78"/>
                <a:gd name="T17" fmla="*/ 69 h 67"/>
                <a:gd name="T18" fmla="*/ 0 w 78"/>
                <a:gd name="T19" fmla="*/ 0 h 67"/>
                <a:gd name="T20" fmla="*/ 57648 w 78"/>
                <a:gd name="T21" fmla="*/ 185 h 67"/>
                <a:gd name="T22" fmla="*/ 362306 w 78"/>
                <a:gd name="T23" fmla="*/ 306 h 67"/>
                <a:gd name="T24" fmla="*/ 720891 w 78"/>
                <a:gd name="T25" fmla="*/ 433 h 67"/>
                <a:gd name="T26" fmla="*/ 1148299 w 78"/>
                <a:gd name="T27" fmla="*/ 547 h 67"/>
                <a:gd name="T28" fmla="*/ 1587866 w 78"/>
                <a:gd name="T29" fmla="*/ 650 h 67"/>
                <a:gd name="T30" fmla="*/ 1906471 w 78"/>
                <a:gd name="T31" fmla="*/ 741 h 67"/>
                <a:gd name="T32" fmla="*/ 2101908 w 78"/>
                <a:gd name="T33" fmla="*/ 836 h 67"/>
                <a:gd name="T34" fmla="*/ 2101908 w 78"/>
                <a:gd name="T35" fmla="*/ 876 h 67"/>
                <a:gd name="T36" fmla="*/ 2532882 w 78"/>
                <a:gd name="T37" fmla="*/ 932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67"/>
                <a:gd name="T59" fmla="*/ 78 w 78"/>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67">
                  <a:moveTo>
                    <a:pt x="77" y="66"/>
                  </a:moveTo>
                  <a:lnTo>
                    <a:pt x="76" y="53"/>
                  </a:lnTo>
                  <a:lnTo>
                    <a:pt x="67" y="43"/>
                  </a:lnTo>
                  <a:lnTo>
                    <a:pt x="55" y="34"/>
                  </a:lnTo>
                  <a:lnTo>
                    <a:pt x="42" y="26"/>
                  </a:lnTo>
                  <a:lnTo>
                    <a:pt x="30" y="19"/>
                  </a:lnTo>
                  <a:lnTo>
                    <a:pt x="20" y="11"/>
                  </a:lnTo>
                  <a:lnTo>
                    <a:pt x="14" y="6"/>
                  </a:lnTo>
                  <a:lnTo>
                    <a:pt x="13" y="5"/>
                  </a:lnTo>
                  <a:lnTo>
                    <a:pt x="0" y="0"/>
                  </a:lnTo>
                  <a:lnTo>
                    <a:pt x="2" y="13"/>
                  </a:lnTo>
                  <a:lnTo>
                    <a:pt x="11" y="22"/>
                  </a:lnTo>
                  <a:lnTo>
                    <a:pt x="22" y="30"/>
                  </a:lnTo>
                  <a:lnTo>
                    <a:pt x="35" y="38"/>
                  </a:lnTo>
                  <a:lnTo>
                    <a:pt x="48" y="46"/>
                  </a:lnTo>
                  <a:lnTo>
                    <a:pt x="58" y="54"/>
                  </a:lnTo>
                  <a:lnTo>
                    <a:pt x="64" y="59"/>
                  </a:lnTo>
                  <a:lnTo>
                    <a:pt x="64" y="62"/>
                  </a:lnTo>
                  <a:lnTo>
                    <a:pt x="77"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1" name="Freeform 180">
              <a:extLst>
                <a:ext uri="{FF2B5EF4-FFF2-40B4-BE49-F238E27FC236}">
                  <a16:creationId xmlns:a16="http://schemas.microsoft.com/office/drawing/2014/main" id="{CDBBFE16-69F8-749D-158E-2641C9051248}"/>
                </a:ext>
              </a:extLst>
            </p:cNvPr>
            <p:cNvSpPr>
              <a:spLocks/>
            </p:cNvSpPr>
            <p:nvPr/>
          </p:nvSpPr>
          <p:spPr bwMode="auto">
            <a:xfrm>
              <a:off x="2884" y="2391"/>
              <a:ext cx="176" cy="31"/>
            </a:xfrm>
            <a:custGeom>
              <a:avLst/>
              <a:gdLst>
                <a:gd name="T0" fmla="*/ 448956 w 107"/>
                <a:gd name="T1" fmla="*/ 473 h 27"/>
                <a:gd name="T2" fmla="*/ 448956 w 107"/>
                <a:gd name="T3" fmla="*/ 468 h 27"/>
                <a:gd name="T4" fmla="*/ 551648 w 107"/>
                <a:gd name="T5" fmla="*/ 412 h 27"/>
                <a:gd name="T6" fmla="*/ 818282 w 107"/>
                <a:gd name="T7" fmla="*/ 377 h 27"/>
                <a:gd name="T8" fmla="*/ 1274250 w 107"/>
                <a:gd name="T9" fmla="*/ 359 h 27"/>
                <a:gd name="T10" fmla="*/ 1829721 w 107"/>
                <a:gd name="T11" fmla="*/ 377 h 27"/>
                <a:gd name="T12" fmla="*/ 2374059 w 107"/>
                <a:gd name="T13" fmla="*/ 359 h 27"/>
                <a:gd name="T14" fmla="*/ 2899460 w 107"/>
                <a:gd name="T15" fmla="*/ 355 h 27"/>
                <a:gd name="T16" fmla="*/ 3361858 w 107"/>
                <a:gd name="T17" fmla="*/ 273 h 27"/>
                <a:gd name="T18" fmla="*/ 3649694 w 107"/>
                <a:gd name="T19" fmla="*/ 79 h 27"/>
                <a:gd name="T20" fmla="*/ 3223782 w 107"/>
                <a:gd name="T21" fmla="*/ 0 h 27"/>
                <a:gd name="T22" fmla="*/ 3107351 w 107"/>
                <a:gd name="T23" fmla="*/ 3 h 27"/>
                <a:gd name="T24" fmla="*/ 2796262 w 107"/>
                <a:gd name="T25" fmla="*/ 91 h 27"/>
                <a:gd name="T26" fmla="*/ 2374059 w 107"/>
                <a:gd name="T27" fmla="*/ 119 h 27"/>
                <a:gd name="T28" fmla="*/ 1829721 w 107"/>
                <a:gd name="T29" fmla="*/ 104 h 27"/>
                <a:gd name="T30" fmla="*/ 1274250 w 107"/>
                <a:gd name="T31" fmla="*/ 119 h 27"/>
                <a:gd name="T32" fmla="*/ 738470 w 107"/>
                <a:gd name="T33" fmla="*/ 137 h 27"/>
                <a:gd name="T34" fmla="*/ 316149 w 107"/>
                <a:gd name="T35" fmla="*/ 207 h 27"/>
                <a:gd name="T36" fmla="*/ 0 w 107"/>
                <a:gd name="T37" fmla="*/ 377 h 27"/>
                <a:gd name="T38" fmla="*/ 448956 w 107"/>
                <a:gd name="T39" fmla="*/ 473 h 2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7"/>
                <a:gd name="T61" fmla="*/ 0 h 27"/>
                <a:gd name="T62" fmla="*/ 107 w 107"/>
                <a:gd name="T63" fmla="*/ 27 h 2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7" h="27">
                  <a:moveTo>
                    <a:pt x="13" y="26"/>
                  </a:moveTo>
                  <a:lnTo>
                    <a:pt x="13" y="25"/>
                  </a:lnTo>
                  <a:lnTo>
                    <a:pt x="16" y="23"/>
                  </a:lnTo>
                  <a:lnTo>
                    <a:pt x="24" y="21"/>
                  </a:lnTo>
                  <a:lnTo>
                    <a:pt x="37" y="20"/>
                  </a:lnTo>
                  <a:lnTo>
                    <a:pt x="53" y="21"/>
                  </a:lnTo>
                  <a:lnTo>
                    <a:pt x="69" y="20"/>
                  </a:lnTo>
                  <a:lnTo>
                    <a:pt x="84" y="19"/>
                  </a:lnTo>
                  <a:lnTo>
                    <a:pt x="97" y="15"/>
                  </a:lnTo>
                  <a:lnTo>
                    <a:pt x="106" y="4"/>
                  </a:lnTo>
                  <a:lnTo>
                    <a:pt x="93" y="0"/>
                  </a:lnTo>
                  <a:lnTo>
                    <a:pt x="90" y="3"/>
                  </a:lnTo>
                  <a:lnTo>
                    <a:pt x="81" y="5"/>
                  </a:lnTo>
                  <a:lnTo>
                    <a:pt x="69" y="7"/>
                  </a:lnTo>
                  <a:lnTo>
                    <a:pt x="53" y="6"/>
                  </a:lnTo>
                  <a:lnTo>
                    <a:pt x="37" y="7"/>
                  </a:lnTo>
                  <a:lnTo>
                    <a:pt x="21" y="8"/>
                  </a:lnTo>
                  <a:lnTo>
                    <a:pt x="9" y="11"/>
                  </a:lnTo>
                  <a:lnTo>
                    <a:pt x="0" y="21"/>
                  </a:lnTo>
                  <a:lnTo>
                    <a:pt x="13" y="2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2" name="Freeform 181">
              <a:extLst>
                <a:ext uri="{FF2B5EF4-FFF2-40B4-BE49-F238E27FC236}">
                  <a16:creationId xmlns:a16="http://schemas.microsoft.com/office/drawing/2014/main" id="{7B146C3A-2823-1E66-E93D-5D247967FA35}"/>
                </a:ext>
              </a:extLst>
            </p:cNvPr>
            <p:cNvSpPr>
              <a:spLocks/>
            </p:cNvSpPr>
            <p:nvPr/>
          </p:nvSpPr>
          <p:spPr bwMode="auto">
            <a:xfrm>
              <a:off x="2884" y="2414"/>
              <a:ext cx="131" cy="78"/>
            </a:xfrm>
            <a:custGeom>
              <a:avLst/>
              <a:gdLst>
                <a:gd name="T0" fmla="*/ 2480706 w 80"/>
                <a:gd name="T1" fmla="*/ 1202 h 68"/>
                <a:gd name="T2" fmla="*/ 2480706 w 80"/>
                <a:gd name="T3" fmla="*/ 1176 h 68"/>
                <a:gd name="T4" fmla="*/ 2415525 w 80"/>
                <a:gd name="T5" fmla="*/ 958 h 68"/>
                <a:gd name="T6" fmla="*/ 2134954 w 80"/>
                <a:gd name="T7" fmla="*/ 777 h 68"/>
                <a:gd name="T8" fmla="*/ 1785199 w 80"/>
                <a:gd name="T9" fmla="*/ 635 h 68"/>
                <a:gd name="T10" fmla="*/ 1346184 w 80"/>
                <a:gd name="T11" fmla="*/ 484 h 68"/>
                <a:gd name="T12" fmla="*/ 900843 w 80"/>
                <a:gd name="T13" fmla="*/ 341 h 68"/>
                <a:gd name="T14" fmla="*/ 603561 w 80"/>
                <a:gd name="T15" fmla="*/ 236 h 68"/>
                <a:gd name="T16" fmla="*/ 445495 w 80"/>
                <a:gd name="T17" fmla="*/ 119 h 68"/>
                <a:gd name="T18" fmla="*/ 402943 w 80"/>
                <a:gd name="T19" fmla="*/ 91 h 68"/>
                <a:gd name="T20" fmla="*/ 0 w 80"/>
                <a:gd name="T21" fmla="*/ 0 h 68"/>
                <a:gd name="T22" fmla="*/ 56043 w 80"/>
                <a:gd name="T23" fmla="*/ 236 h 68"/>
                <a:gd name="T24" fmla="*/ 306592 w 80"/>
                <a:gd name="T25" fmla="*/ 410 h 68"/>
                <a:gd name="T26" fmla="*/ 729498 w 80"/>
                <a:gd name="T27" fmla="*/ 555 h 68"/>
                <a:gd name="T28" fmla="*/ 1139327 w 80"/>
                <a:gd name="T29" fmla="*/ 709 h 68"/>
                <a:gd name="T30" fmla="*/ 1538762 w 80"/>
                <a:gd name="T31" fmla="*/ 838 h 68"/>
                <a:gd name="T32" fmla="*/ 1865648 w 80"/>
                <a:gd name="T33" fmla="*/ 961 h 68"/>
                <a:gd name="T34" fmla="*/ 2045165 w 80"/>
                <a:gd name="T35" fmla="*/ 1070 h 68"/>
                <a:gd name="T36" fmla="*/ 2079299 w 80"/>
                <a:gd name="T37" fmla="*/ 1102 h 68"/>
                <a:gd name="T38" fmla="*/ 2480706 w 80"/>
                <a:gd name="T39" fmla="*/ 1202 h 6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0"/>
                <a:gd name="T61" fmla="*/ 0 h 68"/>
                <a:gd name="T62" fmla="*/ 80 w 80"/>
                <a:gd name="T63" fmla="*/ 68 h 6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0" h="68">
                  <a:moveTo>
                    <a:pt x="79" y="67"/>
                  </a:moveTo>
                  <a:lnTo>
                    <a:pt x="79" y="66"/>
                  </a:lnTo>
                  <a:lnTo>
                    <a:pt x="77" y="53"/>
                  </a:lnTo>
                  <a:lnTo>
                    <a:pt x="68" y="44"/>
                  </a:lnTo>
                  <a:lnTo>
                    <a:pt x="57" y="35"/>
                  </a:lnTo>
                  <a:lnTo>
                    <a:pt x="43" y="27"/>
                  </a:lnTo>
                  <a:lnTo>
                    <a:pt x="29" y="19"/>
                  </a:lnTo>
                  <a:lnTo>
                    <a:pt x="19" y="13"/>
                  </a:lnTo>
                  <a:lnTo>
                    <a:pt x="14" y="7"/>
                  </a:lnTo>
                  <a:lnTo>
                    <a:pt x="13" y="5"/>
                  </a:lnTo>
                  <a:lnTo>
                    <a:pt x="0" y="0"/>
                  </a:lnTo>
                  <a:lnTo>
                    <a:pt x="2" y="13"/>
                  </a:lnTo>
                  <a:lnTo>
                    <a:pt x="10" y="23"/>
                  </a:lnTo>
                  <a:lnTo>
                    <a:pt x="23" y="31"/>
                  </a:lnTo>
                  <a:lnTo>
                    <a:pt x="36" y="39"/>
                  </a:lnTo>
                  <a:lnTo>
                    <a:pt x="49" y="47"/>
                  </a:lnTo>
                  <a:lnTo>
                    <a:pt x="59" y="54"/>
                  </a:lnTo>
                  <a:lnTo>
                    <a:pt x="65" y="60"/>
                  </a:lnTo>
                  <a:lnTo>
                    <a:pt x="66" y="62"/>
                  </a:lnTo>
                  <a:lnTo>
                    <a:pt x="79" y="6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3" name="Freeform 182">
              <a:extLst>
                <a:ext uri="{FF2B5EF4-FFF2-40B4-BE49-F238E27FC236}">
                  <a16:creationId xmlns:a16="http://schemas.microsoft.com/office/drawing/2014/main" id="{824912E6-8C66-C267-62F1-AE144664A8DC}"/>
                </a:ext>
              </a:extLst>
            </p:cNvPr>
            <p:cNvSpPr>
              <a:spLocks/>
            </p:cNvSpPr>
            <p:nvPr/>
          </p:nvSpPr>
          <p:spPr bwMode="auto">
            <a:xfrm>
              <a:off x="2839" y="2486"/>
              <a:ext cx="176" cy="36"/>
            </a:xfrm>
            <a:custGeom>
              <a:avLst/>
              <a:gdLst>
                <a:gd name="T0" fmla="*/ 448956 w 107"/>
                <a:gd name="T1" fmla="*/ 322 h 32"/>
                <a:gd name="T2" fmla="*/ 520021 w 107"/>
                <a:gd name="T3" fmla="*/ 293 h 32"/>
                <a:gd name="T4" fmla="*/ 818282 w 107"/>
                <a:gd name="T5" fmla="*/ 285 h 32"/>
                <a:gd name="T6" fmla="*/ 1274250 w 107"/>
                <a:gd name="T7" fmla="*/ 254 h 32"/>
                <a:gd name="T8" fmla="*/ 1803036 w 107"/>
                <a:gd name="T9" fmla="*/ 254 h 32"/>
                <a:gd name="T10" fmla="*/ 2374059 w 107"/>
                <a:gd name="T11" fmla="*/ 231 h 32"/>
                <a:gd name="T12" fmla="*/ 2899460 w 107"/>
                <a:gd name="T13" fmla="*/ 214 h 32"/>
                <a:gd name="T14" fmla="*/ 3361858 w 107"/>
                <a:gd name="T15" fmla="*/ 179 h 32"/>
                <a:gd name="T16" fmla="*/ 3649694 w 107"/>
                <a:gd name="T17" fmla="*/ 68 h 32"/>
                <a:gd name="T18" fmla="*/ 3223782 w 107"/>
                <a:gd name="T19" fmla="*/ 0 h 32"/>
                <a:gd name="T20" fmla="*/ 3107351 w 107"/>
                <a:gd name="T21" fmla="*/ 3 h 32"/>
                <a:gd name="T22" fmla="*/ 2796262 w 107"/>
                <a:gd name="T23" fmla="*/ 77 h 32"/>
                <a:gd name="T24" fmla="*/ 2314237 w 107"/>
                <a:gd name="T25" fmla="*/ 98 h 32"/>
                <a:gd name="T26" fmla="*/ 1803036 w 107"/>
                <a:gd name="T27" fmla="*/ 98 h 32"/>
                <a:gd name="T28" fmla="*/ 1214680 w 107"/>
                <a:gd name="T29" fmla="*/ 98 h 32"/>
                <a:gd name="T30" fmla="*/ 738470 w 107"/>
                <a:gd name="T31" fmla="*/ 111 h 32"/>
                <a:gd name="T32" fmla="*/ 316149 w 107"/>
                <a:gd name="T33" fmla="*/ 159 h 32"/>
                <a:gd name="T34" fmla="*/ 0 w 107"/>
                <a:gd name="T35" fmla="*/ 285 h 32"/>
                <a:gd name="T36" fmla="*/ 0 w 107"/>
                <a:gd name="T37" fmla="*/ 330 h 32"/>
                <a:gd name="T38" fmla="*/ 154972 w 107"/>
                <a:gd name="T39" fmla="*/ 368 h 32"/>
                <a:gd name="T40" fmla="*/ 316149 w 107"/>
                <a:gd name="T41" fmla="*/ 362 h 32"/>
                <a:gd name="T42" fmla="*/ 448956 w 107"/>
                <a:gd name="T43" fmla="*/ 322 h 3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7"/>
                <a:gd name="T67" fmla="*/ 0 h 32"/>
                <a:gd name="T68" fmla="*/ 107 w 107"/>
                <a:gd name="T69" fmla="*/ 32 h 3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7" h="32">
                  <a:moveTo>
                    <a:pt x="13" y="27"/>
                  </a:moveTo>
                  <a:lnTo>
                    <a:pt x="15" y="25"/>
                  </a:lnTo>
                  <a:lnTo>
                    <a:pt x="24" y="23"/>
                  </a:lnTo>
                  <a:lnTo>
                    <a:pt x="37" y="21"/>
                  </a:lnTo>
                  <a:lnTo>
                    <a:pt x="52" y="21"/>
                  </a:lnTo>
                  <a:lnTo>
                    <a:pt x="69" y="20"/>
                  </a:lnTo>
                  <a:lnTo>
                    <a:pt x="84" y="18"/>
                  </a:lnTo>
                  <a:lnTo>
                    <a:pt x="97" y="15"/>
                  </a:lnTo>
                  <a:lnTo>
                    <a:pt x="106" y="5"/>
                  </a:lnTo>
                  <a:lnTo>
                    <a:pt x="93" y="0"/>
                  </a:lnTo>
                  <a:lnTo>
                    <a:pt x="90" y="3"/>
                  </a:lnTo>
                  <a:lnTo>
                    <a:pt x="81" y="6"/>
                  </a:lnTo>
                  <a:lnTo>
                    <a:pt x="67" y="8"/>
                  </a:lnTo>
                  <a:lnTo>
                    <a:pt x="52" y="8"/>
                  </a:lnTo>
                  <a:lnTo>
                    <a:pt x="35" y="8"/>
                  </a:lnTo>
                  <a:lnTo>
                    <a:pt x="21" y="10"/>
                  </a:lnTo>
                  <a:lnTo>
                    <a:pt x="9" y="13"/>
                  </a:lnTo>
                  <a:lnTo>
                    <a:pt x="0" y="23"/>
                  </a:lnTo>
                  <a:lnTo>
                    <a:pt x="0" y="28"/>
                  </a:lnTo>
                  <a:lnTo>
                    <a:pt x="4" y="31"/>
                  </a:lnTo>
                  <a:lnTo>
                    <a:pt x="9" y="30"/>
                  </a:lnTo>
                  <a:lnTo>
                    <a:pt x="13" y="2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4" name="Freeform 183">
              <a:extLst>
                <a:ext uri="{FF2B5EF4-FFF2-40B4-BE49-F238E27FC236}">
                  <a16:creationId xmlns:a16="http://schemas.microsoft.com/office/drawing/2014/main" id="{AE32D5D8-4A85-6112-3221-459D88E068C8}"/>
                </a:ext>
              </a:extLst>
            </p:cNvPr>
            <p:cNvSpPr>
              <a:spLocks/>
            </p:cNvSpPr>
            <p:nvPr/>
          </p:nvSpPr>
          <p:spPr bwMode="auto">
            <a:xfrm>
              <a:off x="2839" y="2511"/>
              <a:ext cx="24" cy="11"/>
            </a:xfrm>
            <a:custGeom>
              <a:avLst/>
              <a:gdLst>
                <a:gd name="T0" fmla="*/ 1057803 w 14"/>
                <a:gd name="T1" fmla="*/ 264 h 9"/>
                <a:gd name="T2" fmla="*/ 477204 w 14"/>
                <a:gd name="T3" fmla="*/ 2 h 9"/>
                <a:gd name="T4" fmla="*/ 0 w 14"/>
                <a:gd name="T5" fmla="*/ 0 h 9"/>
                <a:gd name="T6" fmla="*/ 0 w 14"/>
                <a:gd name="T7" fmla="*/ 323 h 9"/>
                <a:gd name="T8" fmla="*/ 344592 w 14"/>
                <a:gd name="T9" fmla="*/ 543 h 9"/>
                <a:gd name="T10" fmla="*/ 732298 w 14"/>
                <a:gd name="T11" fmla="*/ 483 h 9"/>
                <a:gd name="T12" fmla="*/ 1057803 w 14"/>
                <a:gd name="T13" fmla="*/ 264 h 9"/>
                <a:gd name="T14" fmla="*/ 0 60000 65536"/>
                <a:gd name="T15" fmla="*/ 0 60000 65536"/>
                <a:gd name="T16" fmla="*/ 0 60000 65536"/>
                <a:gd name="T17" fmla="*/ 0 60000 65536"/>
                <a:gd name="T18" fmla="*/ 0 60000 65536"/>
                <a:gd name="T19" fmla="*/ 0 60000 65536"/>
                <a:gd name="T20" fmla="*/ 0 60000 65536"/>
                <a:gd name="T21" fmla="*/ 0 w 14"/>
                <a:gd name="T22" fmla="*/ 0 h 9"/>
                <a:gd name="T23" fmla="*/ 14 w 1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9">
                  <a:moveTo>
                    <a:pt x="13" y="4"/>
                  </a:moveTo>
                  <a:lnTo>
                    <a:pt x="6" y="2"/>
                  </a:lnTo>
                  <a:lnTo>
                    <a:pt x="0" y="0"/>
                  </a:lnTo>
                  <a:lnTo>
                    <a:pt x="0" y="5"/>
                  </a:lnTo>
                  <a:lnTo>
                    <a:pt x="4" y="8"/>
                  </a:lnTo>
                  <a:lnTo>
                    <a:pt x="9" y="7"/>
                  </a:lnTo>
                  <a:lnTo>
                    <a:pt x="1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5" name="Freeform 184">
              <a:extLst>
                <a:ext uri="{FF2B5EF4-FFF2-40B4-BE49-F238E27FC236}">
                  <a16:creationId xmlns:a16="http://schemas.microsoft.com/office/drawing/2014/main" id="{5C2BE09B-F119-CF9B-D329-681021FC3726}"/>
                </a:ext>
              </a:extLst>
            </p:cNvPr>
            <p:cNvSpPr>
              <a:spLocks/>
            </p:cNvSpPr>
            <p:nvPr/>
          </p:nvSpPr>
          <p:spPr bwMode="auto">
            <a:xfrm>
              <a:off x="2839" y="2511"/>
              <a:ext cx="133" cy="77"/>
            </a:xfrm>
            <a:custGeom>
              <a:avLst/>
              <a:gdLst>
                <a:gd name="T0" fmla="*/ 3407716 w 80"/>
                <a:gd name="T1" fmla="*/ 1675 h 66"/>
                <a:gd name="T2" fmla="*/ 3335106 w 80"/>
                <a:gd name="T3" fmla="*/ 1341 h 66"/>
                <a:gd name="T4" fmla="*/ 2945860 w 80"/>
                <a:gd name="T5" fmla="*/ 1085 h 66"/>
                <a:gd name="T6" fmla="*/ 2427302 w 80"/>
                <a:gd name="T7" fmla="*/ 904 h 66"/>
                <a:gd name="T8" fmla="*/ 1818905 w 80"/>
                <a:gd name="T9" fmla="*/ 677 h 66"/>
                <a:gd name="T10" fmla="*/ 1296454 w 80"/>
                <a:gd name="T11" fmla="*/ 488 h 66"/>
                <a:gd name="T12" fmla="*/ 853740 w 80"/>
                <a:gd name="T13" fmla="*/ 307 h 66"/>
                <a:gd name="T14" fmla="*/ 596282 w 80"/>
                <a:gd name="T15" fmla="*/ 141 h 66"/>
                <a:gd name="T16" fmla="*/ 581923 w 80"/>
                <a:gd name="T17" fmla="*/ 120 h 66"/>
                <a:gd name="T18" fmla="*/ 0 w 80"/>
                <a:gd name="T19" fmla="*/ 0 h 66"/>
                <a:gd name="T20" fmla="*/ 76176 w 80"/>
                <a:gd name="T21" fmla="*/ 315 h 66"/>
                <a:gd name="T22" fmla="*/ 469066 w 80"/>
                <a:gd name="T23" fmla="*/ 569 h 66"/>
                <a:gd name="T24" fmla="*/ 967447 w 80"/>
                <a:gd name="T25" fmla="*/ 790 h 66"/>
                <a:gd name="T26" fmla="*/ 1562494 w 80"/>
                <a:gd name="T27" fmla="*/ 985 h 66"/>
                <a:gd name="T28" fmla="*/ 2155355 w 80"/>
                <a:gd name="T29" fmla="*/ 1177 h 66"/>
                <a:gd name="T30" fmla="*/ 2553944 w 80"/>
                <a:gd name="T31" fmla="*/ 1344 h 66"/>
                <a:gd name="T32" fmla="*/ 2812677 w 80"/>
                <a:gd name="T33" fmla="*/ 1496 h 66"/>
                <a:gd name="T34" fmla="*/ 2862423 w 80"/>
                <a:gd name="T35" fmla="*/ 1565 h 66"/>
                <a:gd name="T36" fmla="*/ 3407716 w 80"/>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3"/>
                  </a:lnTo>
                  <a:lnTo>
                    <a:pt x="56" y="35"/>
                  </a:lnTo>
                  <a:lnTo>
                    <a:pt x="42" y="27"/>
                  </a:lnTo>
                  <a:lnTo>
                    <a:pt x="30" y="19"/>
                  </a:lnTo>
                  <a:lnTo>
                    <a:pt x="20" y="12"/>
                  </a:lnTo>
                  <a:lnTo>
                    <a:pt x="14" y="6"/>
                  </a:lnTo>
                  <a:lnTo>
                    <a:pt x="13" y="4"/>
                  </a:lnTo>
                  <a:lnTo>
                    <a:pt x="0" y="0"/>
                  </a:lnTo>
                  <a:lnTo>
                    <a:pt x="2" y="13"/>
                  </a:lnTo>
                  <a:lnTo>
                    <a:pt x="11" y="22"/>
                  </a:lnTo>
                  <a:lnTo>
                    <a:pt x="22" y="31"/>
                  </a:lnTo>
                  <a:lnTo>
                    <a:pt x="36" y="39"/>
                  </a:lnTo>
                  <a:lnTo>
                    <a:pt x="50" y="46"/>
                  </a:lnTo>
                  <a:lnTo>
                    <a:pt x="59" y="53"/>
                  </a:lnTo>
                  <a:lnTo>
                    <a:pt x="65" y="59"/>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6" name="Freeform 185">
              <a:extLst>
                <a:ext uri="{FF2B5EF4-FFF2-40B4-BE49-F238E27FC236}">
                  <a16:creationId xmlns:a16="http://schemas.microsoft.com/office/drawing/2014/main" id="{53214467-191A-BE3C-D9C2-32744D78207A}"/>
                </a:ext>
              </a:extLst>
            </p:cNvPr>
            <p:cNvSpPr>
              <a:spLocks/>
            </p:cNvSpPr>
            <p:nvPr/>
          </p:nvSpPr>
          <p:spPr bwMode="auto">
            <a:xfrm>
              <a:off x="2816" y="2605"/>
              <a:ext cx="176" cy="30"/>
            </a:xfrm>
            <a:custGeom>
              <a:avLst/>
              <a:gdLst>
                <a:gd name="T0" fmla="*/ 448956 w 107"/>
                <a:gd name="T1" fmla="*/ 496 h 26"/>
                <a:gd name="T2" fmla="*/ 551648 w 107"/>
                <a:gd name="T3" fmla="*/ 430 h 26"/>
                <a:gd name="T4" fmla="*/ 855362 w 107"/>
                <a:gd name="T5" fmla="*/ 404 h 26"/>
                <a:gd name="T6" fmla="*/ 1274250 w 107"/>
                <a:gd name="T7" fmla="*/ 373 h 26"/>
                <a:gd name="T8" fmla="*/ 1829721 w 107"/>
                <a:gd name="T9" fmla="*/ 373 h 26"/>
                <a:gd name="T10" fmla="*/ 2374059 w 107"/>
                <a:gd name="T11" fmla="*/ 372 h 26"/>
                <a:gd name="T12" fmla="*/ 2899460 w 107"/>
                <a:gd name="T13" fmla="*/ 350 h 26"/>
                <a:gd name="T14" fmla="*/ 3361858 w 107"/>
                <a:gd name="T15" fmla="*/ 279 h 26"/>
                <a:gd name="T16" fmla="*/ 3649694 w 107"/>
                <a:gd name="T17" fmla="*/ 89 h 26"/>
                <a:gd name="T18" fmla="*/ 3223782 w 107"/>
                <a:gd name="T19" fmla="*/ 0 h 26"/>
                <a:gd name="T20" fmla="*/ 3107351 w 107"/>
                <a:gd name="T21" fmla="*/ 2 h 26"/>
                <a:gd name="T22" fmla="*/ 2833329 w 107"/>
                <a:gd name="T23" fmla="*/ 89 h 26"/>
                <a:gd name="T24" fmla="*/ 2374059 w 107"/>
                <a:gd name="T25" fmla="*/ 103 h 26"/>
                <a:gd name="T26" fmla="*/ 1829721 w 107"/>
                <a:gd name="T27" fmla="*/ 103 h 26"/>
                <a:gd name="T28" fmla="*/ 1274250 w 107"/>
                <a:gd name="T29" fmla="*/ 119 h 26"/>
                <a:gd name="T30" fmla="*/ 755427 w 107"/>
                <a:gd name="T31" fmla="*/ 137 h 26"/>
                <a:gd name="T32" fmla="*/ 316149 w 107"/>
                <a:gd name="T33" fmla="*/ 228 h 26"/>
                <a:gd name="T34" fmla="*/ 0 w 107"/>
                <a:gd name="T35" fmla="*/ 429 h 26"/>
                <a:gd name="T36" fmla="*/ 448956 w 107"/>
                <a:gd name="T37" fmla="*/ 496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6" y="22"/>
                  </a:lnTo>
                  <a:lnTo>
                    <a:pt x="25" y="20"/>
                  </a:lnTo>
                  <a:lnTo>
                    <a:pt x="37" y="19"/>
                  </a:lnTo>
                  <a:lnTo>
                    <a:pt x="53" y="19"/>
                  </a:lnTo>
                  <a:lnTo>
                    <a:pt x="69" y="18"/>
                  </a:lnTo>
                  <a:lnTo>
                    <a:pt x="84" y="17"/>
                  </a:lnTo>
                  <a:lnTo>
                    <a:pt x="97" y="14"/>
                  </a:lnTo>
                  <a:lnTo>
                    <a:pt x="106" y="4"/>
                  </a:lnTo>
                  <a:lnTo>
                    <a:pt x="93" y="0"/>
                  </a:lnTo>
                  <a:lnTo>
                    <a:pt x="90" y="2"/>
                  </a:lnTo>
                  <a:lnTo>
                    <a:pt x="82" y="4"/>
                  </a:lnTo>
                  <a:lnTo>
                    <a:pt x="69" y="5"/>
                  </a:lnTo>
                  <a:lnTo>
                    <a:pt x="53" y="5"/>
                  </a:lnTo>
                  <a:lnTo>
                    <a:pt x="37" y="6"/>
                  </a:lnTo>
                  <a:lnTo>
                    <a:pt x="22" y="7"/>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7" name="Freeform 186">
              <a:extLst>
                <a:ext uri="{FF2B5EF4-FFF2-40B4-BE49-F238E27FC236}">
                  <a16:creationId xmlns:a16="http://schemas.microsoft.com/office/drawing/2014/main" id="{528896C1-D31D-3CAC-97F7-02FC4CFF225B}"/>
                </a:ext>
              </a:extLst>
            </p:cNvPr>
            <p:cNvSpPr>
              <a:spLocks/>
            </p:cNvSpPr>
            <p:nvPr/>
          </p:nvSpPr>
          <p:spPr bwMode="auto">
            <a:xfrm>
              <a:off x="2816" y="2629"/>
              <a:ext cx="128" cy="76"/>
            </a:xfrm>
            <a:custGeom>
              <a:avLst/>
              <a:gdLst>
                <a:gd name="T0" fmla="*/ 1957454 w 79"/>
                <a:gd name="T1" fmla="*/ 1244 h 66"/>
                <a:gd name="T2" fmla="*/ 1957454 w 79"/>
                <a:gd name="T3" fmla="*/ 1246 h 66"/>
                <a:gd name="T4" fmla="*/ 1908755 w 79"/>
                <a:gd name="T5" fmla="*/ 1001 h 66"/>
                <a:gd name="T6" fmla="*/ 1698912 w 79"/>
                <a:gd name="T7" fmla="*/ 814 h 66"/>
                <a:gd name="T8" fmla="*/ 1410071 w 79"/>
                <a:gd name="T9" fmla="*/ 674 h 66"/>
                <a:gd name="T10" fmla="*/ 1054367 w 79"/>
                <a:gd name="T11" fmla="*/ 510 h 66"/>
                <a:gd name="T12" fmla="*/ 756250 w 79"/>
                <a:gd name="T13" fmla="*/ 371 h 66"/>
                <a:gd name="T14" fmla="*/ 478052 w 79"/>
                <a:gd name="T15" fmla="*/ 236 h 66"/>
                <a:gd name="T16" fmla="*/ 354140 w 79"/>
                <a:gd name="T17" fmla="*/ 117 h 66"/>
                <a:gd name="T18" fmla="*/ 324684 w 79"/>
                <a:gd name="T19" fmla="*/ 89 h 66"/>
                <a:gd name="T20" fmla="*/ 0 w 79"/>
                <a:gd name="T21" fmla="*/ 0 h 66"/>
                <a:gd name="T22" fmla="*/ 47112 w 79"/>
                <a:gd name="T23" fmla="*/ 251 h 66"/>
                <a:gd name="T24" fmla="*/ 247881 w 79"/>
                <a:gd name="T25" fmla="*/ 441 h 66"/>
                <a:gd name="T26" fmla="*/ 555092 w 79"/>
                <a:gd name="T27" fmla="*/ 587 h 66"/>
                <a:gd name="T28" fmla="*/ 899390 w 79"/>
                <a:gd name="T29" fmla="*/ 752 h 66"/>
                <a:gd name="T30" fmla="*/ 1208116 w 79"/>
                <a:gd name="T31" fmla="*/ 894 h 66"/>
                <a:gd name="T32" fmla="*/ 1457239 w 79"/>
                <a:gd name="T33" fmla="*/ 1029 h 66"/>
                <a:gd name="T34" fmla="*/ 1622345 w 79"/>
                <a:gd name="T35" fmla="*/ 1148 h 66"/>
                <a:gd name="T36" fmla="*/ 1630312 w 79"/>
                <a:gd name="T37" fmla="*/ 1153 h 66"/>
                <a:gd name="T38" fmla="*/ 1630312 w 79"/>
                <a:gd name="T39" fmla="*/ 1185 h 66"/>
                <a:gd name="T40" fmla="*/ 1957454 w 79"/>
                <a:gd name="T41" fmla="*/ 1244 h 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9"/>
                <a:gd name="T64" fmla="*/ 0 h 66"/>
                <a:gd name="T65" fmla="*/ 79 w 79"/>
                <a:gd name="T66" fmla="*/ 66 h 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9" h="66">
                  <a:moveTo>
                    <a:pt x="78" y="64"/>
                  </a:moveTo>
                  <a:lnTo>
                    <a:pt x="78" y="65"/>
                  </a:lnTo>
                  <a:lnTo>
                    <a:pt x="76" y="52"/>
                  </a:lnTo>
                  <a:lnTo>
                    <a:pt x="67" y="42"/>
                  </a:lnTo>
                  <a:lnTo>
                    <a:pt x="56" y="35"/>
                  </a:lnTo>
                  <a:lnTo>
                    <a:pt x="42" y="27"/>
                  </a:lnTo>
                  <a:lnTo>
                    <a:pt x="30" y="19"/>
                  </a:lnTo>
                  <a:lnTo>
                    <a:pt x="19" y="12"/>
                  </a:lnTo>
                  <a:lnTo>
                    <a:pt x="14" y="6"/>
                  </a:lnTo>
                  <a:lnTo>
                    <a:pt x="13" y="4"/>
                  </a:lnTo>
                  <a:lnTo>
                    <a:pt x="0" y="0"/>
                  </a:lnTo>
                  <a:lnTo>
                    <a:pt x="2" y="13"/>
                  </a:lnTo>
                  <a:lnTo>
                    <a:pt x="10" y="23"/>
                  </a:lnTo>
                  <a:lnTo>
                    <a:pt x="22" y="31"/>
                  </a:lnTo>
                  <a:lnTo>
                    <a:pt x="36" y="38"/>
                  </a:lnTo>
                  <a:lnTo>
                    <a:pt x="48" y="46"/>
                  </a:lnTo>
                  <a:lnTo>
                    <a:pt x="58" y="53"/>
                  </a:lnTo>
                  <a:lnTo>
                    <a:pt x="64" y="59"/>
                  </a:lnTo>
                  <a:lnTo>
                    <a:pt x="65" y="60"/>
                  </a:lnTo>
                  <a:lnTo>
                    <a:pt x="65" y="61"/>
                  </a:lnTo>
                  <a:lnTo>
                    <a:pt x="78" y="6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8" name="Freeform 187">
              <a:extLst>
                <a:ext uri="{FF2B5EF4-FFF2-40B4-BE49-F238E27FC236}">
                  <a16:creationId xmlns:a16="http://schemas.microsoft.com/office/drawing/2014/main" id="{4BAAC240-5EEA-0C4E-0D3F-C4D68257F0F4}"/>
                </a:ext>
              </a:extLst>
            </p:cNvPr>
            <p:cNvSpPr>
              <a:spLocks/>
            </p:cNvSpPr>
            <p:nvPr/>
          </p:nvSpPr>
          <p:spPr bwMode="auto">
            <a:xfrm>
              <a:off x="2771" y="2699"/>
              <a:ext cx="173" cy="29"/>
            </a:xfrm>
            <a:custGeom>
              <a:avLst/>
              <a:gdLst>
                <a:gd name="T0" fmla="*/ 373313 w 106"/>
                <a:gd name="T1" fmla="*/ 457 h 25"/>
                <a:gd name="T2" fmla="*/ 373313 w 106"/>
                <a:gd name="T3" fmla="*/ 455 h 25"/>
                <a:gd name="T4" fmla="*/ 430014 w 106"/>
                <a:gd name="T5" fmla="*/ 455 h 25"/>
                <a:gd name="T6" fmla="*/ 681423 w 106"/>
                <a:gd name="T7" fmla="*/ 394 h 25"/>
                <a:gd name="T8" fmla="*/ 1059028 w 106"/>
                <a:gd name="T9" fmla="*/ 394 h 25"/>
                <a:gd name="T10" fmla="*/ 1530828 w 106"/>
                <a:gd name="T11" fmla="*/ 394 h 25"/>
                <a:gd name="T12" fmla="*/ 1989524 w 106"/>
                <a:gd name="T13" fmla="*/ 394 h 25"/>
                <a:gd name="T14" fmla="*/ 2421995 w 106"/>
                <a:gd name="T15" fmla="*/ 392 h 25"/>
                <a:gd name="T16" fmla="*/ 2820902 w 106"/>
                <a:gd name="T17" fmla="*/ 291 h 25"/>
                <a:gd name="T18" fmla="*/ 3075039 w 106"/>
                <a:gd name="T19" fmla="*/ 3 h 25"/>
                <a:gd name="T20" fmla="*/ 2702097 w 106"/>
                <a:gd name="T21" fmla="*/ 0 h 25"/>
                <a:gd name="T22" fmla="*/ 2613447 w 106"/>
                <a:gd name="T23" fmla="*/ 1 h 25"/>
                <a:gd name="T24" fmla="*/ 2370041 w 106"/>
                <a:gd name="T25" fmla="*/ 101 h 25"/>
                <a:gd name="T26" fmla="*/ 1989524 w 106"/>
                <a:gd name="T27" fmla="*/ 101 h 25"/>
                <a:gd name="T28" fmla="*/ 1530828 w 106"/>
                <a:gd name="T29" fmla="*/ 101 h 25"/>
                <a:gd name="T30" fmla="*/ 1059028 w 106"/>
                <a:gd name="T31" fmla="*/ 101 h 25"/>
                <a:gd name="T32" fmla="*/ 648884 w 106"/>
                <a:gd name="T33" fmla="*/ 117 h 25"/>
                <a:gd name="T34" fmla="*/ 263477 w 106"/>
                <a:gd name="T35" fmla="*/ 158 h 25"/>
                <a:gd name="T36" fmla="*/ 0 w 106"/>
                <a:gd name="T37" fmla="*/ 384 h 25"/>
                <a:gd name="T38" fmla="*/ 32238 w 106"/>
                <a:gd name="T39" fmla="*/ 331 h 25"/>
                <a:gd name="T40" fmla="*/ 0 w 106"/>
                <a:gd name="T41" fmla="*/ 384 h 25"/>
                <a:gd name="T42" fmla="*/ 32238 w 106"/>
                <a:gd name="T43" fmla="*/ 457 h 25"/>
                <a:gd name="T44" fmla="*/ 140150 w 106"/>
                <a:gd name="T45" fmla="*/ 530 h 25"/>
                <a:gd name="T46" fmla="*/ 285758 w 106"/>
                <a:gd name="T47" fmla="*/ 530 h 25"/>
                <a:gd name="T48" fmla="*/ 373313 w 106"/>
                <a:gd name="T49" fmla="*/ 455 h 25"/>
                <a:gd name="T50" fmla="*/ 373313 w 106"/>
                <a:gd name="T51" fmla="*/ 457 h 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6"/>
                <a:gd name="T79" fmla="*/ 0 h 25"/>
                <a:gd name="T80" fmla="*/ 106 w 106"/>
                <a:gd name="T81" fmla="*/ 25 h 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6" h="25">
                  <a:moveTo>
                    <a:pt x="13" y="21"/>
                  </a:moveTo>
                  <a:lnTo>
                    <a:pt x="13" y="20"/>
                  </a:lnTo>
                  <a:lnTo>
                    <a:pt x="15" y="20"/>
                  </a:lnTo>
                  <a:lnTo>
                    <a:pt x="23" y="18"/>
                  </a:lnTo>
                  <a:lnTo>
                    <a:pt x="36" y="18"/>
                  </a:lnTo>
                  <a:lnTo>
                    <a:pt x="52" y="18"/>
                  </a:lnTo>
                  <a:lnTo>
                    <a:pt x="68" y="18"/>
                  </a:lnTo>
                  <a:lnTo>
                    <a:pt x="83" y="17"/>
                  </a:lnTo>
                  <a:lnTo>
                    <a:pt x="96" y="13"/>
                  </a:lnTo>
                  <a:lnTo>
                    <a:pt x="105" y="3"/>
                  </a:lnTo>
                  <a:lnTo>
                    <a:pt x="92" y="0"/>
                  </a:lnTo>
                  <a:lnTo>
                    <a:pt x="89" y="1"/>
                  </a:lnTo>
                  <a:lnTo>
                    <a:pt x="81" y="4"/>
                  </a:lnTo>
                  <a:lnTo>
                    <a:pt x="68" y="4"/>
                  </a:lnTo>
                  <a:lnTo>
                    <a:pt x="52" y="4"/>
                  </a:lnTo>
                  <a:lnTo>
                    <a:pt x="36" y="4"/>
                  </a:lnTo>
                  <a:lnTo>
                    <a:pt x="22" y="5"/>
                  </a:lnTo>
                  <a:lnTo>
                    <a:pt x="9" y="7"/>
                  </a:lnTo>
                  <a:lnTo>
                    <a:pt x="0" y="16"/>
                  </a:lnTo>
                  <a:lnTo>
                    <a:pt x="1" y="14"/>
                  </a:lnTo>
                  <a:lnTo>
                    <a:pt x="0" y="16"/>
                  </a:lnTo>
                  <a:lnTo>
                    <a:pt x="1" y="21"/>
                  </a:lnTo>
                  <a:lnTo>
                    <a:pt x="5" y="24"/>
                  </a:lnTo>
                  <a:lnTo>
                    <a:pt x="10" y="24"/>
                  </a:lnTo>
                  <a:lnTo>
                    <a:pt x="13" y="20"/>
                  </a:lnTo>
                  <a:lnTo>
                    <a:pt x="13" y="21"/>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69" name="Freeform 188">
              <a:extLst>
                <a:ext uri="{FF2B5EF4-FFF2-40B4-BE49-F238E27FC236}">
                  <a16:creationId xmlns:a16="http://schemas.microsoft.com/office/drawing/2014/main" id="{648C8742-AF19-CB61-2E70-CF64CF58F61A}"/>
                </a:ext>
              </a:extLst>
            </p:cNvPr>
            <p:cNvSpPr>
              <a:spLocks/>
            </p:cNvSpPr>
            <p:nvPr/>
          </p:nvSpPr>
          <p:spPr bwMode="auto">
            <a:xfrm>
              <a:off x="2768" y="2716"/>
              <a:ext cx="24" cy="14"/>
            </a:xfrm>
            <a:custGeom>
              <a:avLst/>
              <a:gdLst>
                <a:gd name="T0" fmla="*/ 1057803 w 14"/>
                <a:gd name="T1" fmla="*/ 163 h 12"/>
                <a:gd name="T2" fmla="*/ 1012678 w 14"/>
                <a:gd name="T3" fmla="*/ 222 h 12"/>
                <a:gd name="T4" fmla="*/ 1057803 w 14"/>
                <a:gd name="T5" fmla="*/ 163 h 12"/>
                <a:gd name="T6" fmla="*/ 84792 w 14"/>
                <a:gd name="T7" fmla="*/ 0 h 12"/>
                <a:gd name="T8" fmla="*/ 0 w 14"/>
                <a:gd name="T9" fmla="*/ 1 h 12"/>
                <a:gd name="T10" fmla="*/ 0 w 14"/>
                <a:gd name="T11" fmla="*/ 103 h 12"/>
                <a:gd name="T12" fmla="*/ 0 w 14"/>
                <a:gd name="T13" fmla="*/ 1 h 12"/>
                <a:gd name="T14" fmla="*/ 0 w 14"/>
                <a:gd name="T15" fmla="*/ 163 h 12"/>
                <a:gd name="T16" fmla="*/ 344592 w 14"/>
                <a:gd name="T17" fmla="*/ 263 h 12"/>
                <a:gd name="T18" fmla="*/ 668086 w 14"/>
                <a:gd name="T19" fmla="*/ 270 h 12"/>
                <a:gd name="T20" fmla="*/ 1012678 w 14"/>
                <a:gd name="T21" fmla="*/ 222 h 12"/>
                <a:gd name="T22" fmla="*/ 1057803 w 14"/>
                <a:gd name="T23" fmla="*/ 163 h 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
                <a:gd name="T37" fmla="*/ 0 h 12"/>
                <a:gd name="T38" fmla="*/ 14 w 14"/>
                <a:gd name="T39" fmla="*/ 12 h 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 h="12">
                  <a:moveTo>
                    <a:pt x="13" y="6"/>
                  </a:moveTo>
                  <a:lnTo>
                    <a:pt x="12" y="8"/>
                  </a:lnTo>
                  <a:lnTo>
                    <a:pt x="13" y="6"/>
                  </a:lnTo>
                  <a:lnTo>
                    <a:pt x="1" y="0"/>
                  </a:lnTo>
                  <a:lnTo>
                    <a:pt x="0" y="1"/>
                  </a:lnTo>
                  <a:lnTo>
                    <a:pt x="0" y="3"/>
                  </a:lnTo>
                  <a:lnTo>
                    <a:pt x="0" y="1"/>
                  </a:lnTo>
                  <a:lnTo>
                    <a:pt x="0" y="6"/>
                  </a:lnTo>
                  <a:lnTo>
                    <a:pt x="4" y="10"/>
                  </a:lnTo>
                  <a:lnTo>
                    <a:pt x="8" y="11"/>
                  </a:lnTo>
                  <a:lnTo>
                    <a:pt x="12" y="8"/>
                  </a:lnTo>
                  <a:lnTo>
                    <a:pt x="13"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0" name="Freeform 189">
              <a:extLst>
                <a:ext uri="{FF2B5EF4-FFF2-40B4-BE49-F238E27FC236}">
                  <a16:creationId xmlns:a16="http://schemas.microsoft.com/office/drawing/2014/main" id="{DDECFEA0-7C85-56EE-8D90-33007209A0B3}"/>
                </a:ext>
              </a:extLst>
            </p:cNvPr>
            <p:cNvSpPr>
              <a:spLocks/>
            </p:cNvSpPr>
            <p:nvPr/>
          </p:nvSpPr>
          <p:spPr bwMode="auto">
            <a:xfrm>
              <a:off x="2768" y="2719"/>
              <a:ext cx="130" cy="76"/>
            </a:xfrm>
            <a:custGeom>
              <a:avLst/>
              <a:gdLst>
                <a:gd name="T0" fmla="*/ 2718437 w 79"/>
                <a:gd name="T1" fmla="*/ 1246 h 66"/>
                <a:gd name="T2" fmla="*/ 2691392 w 79"/>
                <a:gd name="T3" fmla="*/ 1001 h 66"/>
                <a:gd name="T4" fmla="*/ 2373138 w 79"/>
                <a:gd name="T5" fmla="*/ 778 h 66"/>
                <a:gd name="T6" fmla="*/ 1939821 w 79"/>
                <a:gd name="T7" fmla="*/ 653 h 66"/>
                <a:gd name="T8" fmla="*/ 1512703 w 79"/>
                <a:gd name="T9" fmla="*/ 492 h 66"/>
                <a:gd name="T10" fmla="*/ 1040012 w 79"/>
                <a:gd name="T11" fmla="*/ 333 h 66"/>
                <a:gd name="T12" fmla="*/ 656503 w 79"/>
                <a:gd name="T13" fmla="*/ 218 h 66"/>
                <a:gd name="T14" fmla="*/ 493266 w 79"/>
                <a:gd name="T15" fmla="*/ 102 h 66"/>
                <a:gd name="T16" fmla="*/ 451334 w 79"/>
                <a:gd name="T17" fmla="*/ 3 h 66"/>
                <a:gd name="T18" fmla="*/ 0 w 79"/>
                <a:gd name="T19" fmla="*/ 0 h 66"/>
                <a:gd name="T20" fmla="*/ 61551 w 79"/>
                <a:gd name="T21" fmla="*/ 236 h 66"/>
                <a:gd name="T22" fmla="*/ 384066 w 79"/>
                <a:gd name="T23" fmla="*/ 415 h 66"/>
                <a:gd name="T24" fmla="*/ 760939 w 79"/>
                <a:gd name="T25" fmla="*/ 567 h 66"/>
                <a:gd name="T26" fmla="*/ 1252178 w 79"/>
                <a:gd name="T27" fmla="*/ 729 h 66"/>
                <a:gd name="T28" fmla="*/ 1711412 w 79"/>
                <a:gd name="T29" fmla="*/ 866 h 66"/>
                <a:gd name="T30" fmla="*/ 2060546 w 79"/>
                <a:gd name="T31" fmla="*/ 1001 h 66"/>
                <a:gd name="T32" fmla="*/ 2269433 w 79"/>
                <a:gd name="T33" fmla="*/ 1112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7" y="52"/>
                  </a:lnTo>
                  <a:lnTo>
                    <a:pt x="68" y="41"/>
                  </a:lnTo>
                  <a:lnTo>
                    <a:pt x="56" y="33"/>
                  </a:lnTo>
                  <a:lnTo>
                    <a:pt x="43" y="25"/>
                  </a:lnTo>
                  <a:lnTo>
                    <a:pt x="30" y="17"/>
                  </a:lnTo>
                  <a:lnTo>
                    <a:pt x="19" y="11"/>
                  </a:lnTo>
                  <a:lnTo>
                    <a:pt x="14" y="5"/>
                  </a:lnTo>
                  <a:lnTo>
                    <a:pt x="13" y="3"/>
                  </a:lnTo>
                  <a:lnTo>
                    <a:pt x="0" y="0"/>
                  </a:lnTo>
                  <a:lnTo>
                    <a:pt x="2" y="12"/>
                  </a:lnTo>
                  <a:lnTo>
                    <a:pt x="11" y="21"/>
                  </a:lnTo>
                  <a:lnTo>
                    <a:pt x="22" y="29"/>
                  </a:lnTo>
                  <a:lnTo>
                    <a:pt x="36" y="37"/>
                  </a:lnTo>
                  <a:lnTo>
                    <a:pt x="49" y="44"/>
                  </a:lnTo>
                  <a:lnTo>
                    <a:pt x="59" y="52"/>
                  </a:lnTo>
                  <a:lnTo>
                    <a:pt x="65" y="58"/>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1" name="Freeform 190">
              <a:extLst>
                <a:ext uri="{FF2B5EF4-FFF2-40B4-BE49-F238E27FC236}">
                  <a16:creationId xmlns:a16="http://schemas.microsoft.com/office/drawing/2014/main" id="{BC460ABA-C052-C67C-41AB-C8064F38C1AF}"/>
                </a:ext>
              </a:extLst>
            </p:cNvPr>
            <p:cNvSpPr>
              <a:spLocks/>
            </p:cNvSpPr>
            <p:nvPr/>
          </p:nvSpPr>
          <p:spPr bwMode="auto">
            <a:xfrm>
              <a:off x="2722" y="2789"/>
              <a:ext cx="176" cy="29"/>
            </a:xfrm>
            <a:custGeom>
              <a:avLst/>
              <a:gdLst>
                <a:gd name="T0" fmla="*/ 448956 w 107"/>
                <a:gd name="T1" fmla="*/ 530 h 25"/>
                <a:gd name="T2" fmla="*/ 551648 w 107"/>
                <a:gd name="T3" fmla="*/ 516 h 25"/>
                <a:gd name="T4" fmla="*/ 806439 w 107"/>
                <a:gd name="T5" fmla="*/ 455 h 25"/>
                <a:gd name="T6" fmla="*/ 1274250 w 107"/>
                <a:gd name="T7" fmla="*/ 455 h 25"/>
                <a:gd name="T8" fmla="*/ 1829721 w 107"/>
                <a:gd name="T9" fmla="*/ 455 h 25"/>
                <a:gd name="T10" fmla="*/ 2374059 w 107"/>
                <a:gd name="T11" fmla="*/ 394 h 25"/>
                <a:gd name="T12" fmla="*/ 2899460 w 107"/>
                <a:gd name="T13" fmla="*/ 394 h 25"/>
                <a:gd name="T14" fmla="*/ 3361858 w 107"/>
                <a:gd name="T15" fmla="*/ 331 h 25"/>
                <a:gd name="T16" fmla="*/ 3649694 w 107"/>
                <a:gd name="T17" fmla="*/ 101 h 25"/>
                <a:gd name="T18" fmla="*/ 3223782 w 107"/>
                <a:gd name="T19" fmla="*/ 0 h 25"/>
                <a:gd name="T20" fmla="*/ 3107351 w 107"/>
                <a:gd name="T21" fmla="*/ 2 h 25"/>
                <a:gd name="T22" fmla="*/ 2796262 w 107"/>
                <a:gd name="T23" fmla="*/ 117 h 25"/>
                <a:gd name="T24" fmla="*/ 2374059 w 107"/>
                <a:gd name="T25" fmla="*/ 117 h 25"/>
                <a:gd name="T26" fmla="*/ 1829721 w 107"/>
                <a:gd name="T27" fmla="*/ 117 h 25"/>
                <a:gd name="T28" fmla="*/ 1274250 w 107"/>
                <a:gd name="T29" fmla="*/ 117 h 25"/>
                <a:gd name="T30" fmla="*/ 755427 w 107"/>
                <a:gd name="T31" fmla="*/ 158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6" y="22"/>
                  </a:lnTo>
                  <a:lnTo>
                    <a:pt x="23" y="20"/>
                  </a:lnTo>
                  <a:lnTo>
                    <a:pt x="37" y="20"/>
                  </a:lnTo>
                  <a:lnTo>
                    <a:pt x="53" y="20"/>
                  </a:lnTo>
                  <a:lnTo>
                    <a:pt x="69" y="18"/>
                  </a:lnTo>
                  <a:lnTo>
                    <a:pt x="84" y="18"/>
                  </a:lnTo>
                  <a:lnTo>
                    <a:pt x="97" y="14"/>
                  </a:lnTo>
                  <a:lnTo>
                    <a:pt x="106" y="4"/>
                  </a:lnTo>
                  <a:lnTo>
                    <a:pt x="93" y="0"/>
                  </a:lnTo>
                  <a:lnTo>
                    <a:pt x="90" y="2"/>
                  </a:lnTo>
                  <a:lnTo>
                    <a:pt x="81" y="5"/>
                  </a:lnTo>
                  <a:lnTo>
                    <a:pt x="69" y="5"/>
                  </a:lnTo>
                  <a:lnTo>
                    <a:pt x="53" y="5"/>
                  </a:lnTo>
                  <a:lnTo>
                    <a:pt x="37" y="5"/>
                  </a:lnTo>
                  <a:lnTo>
                    <a:pt x="22"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2" name="Freeform 191">
              <a:extLst>
                <a:ext uri="{FF2B5EF4-FFF2-40B4-BE49-F238E27FC236}">
                  <a16:creationId xmlns:a16="http://schemas.microsoft.com/office/drawing/2014/main" id="{1648A340-9231-468D-F7A5-5F56FC4456EB}"/>
                </a:ext>
              </a:extLst>
            </p:cNvPr>
            <p:cNvSpPr>
              <a:spLocks/>
            </p:cNvSpPr>
            <p:nvPr/>
          </p:nvSpPr>
          <p:spPr bwMode="auto">
            <a:xfrm>
              <a:off x="2722" y="2813"/>
              <a:ext cx="130" cy="76"/>
            </a:xfrm>
            <a:custGeom>
              <a:avLst/>
              <a:gdLst>
                <a:gd name="T0" fmla="*/ 2718437 w 79"/>
                <a:gd name="T1" fmla="*/ 1246 h 66"/>
                <a:gd name="T2" fmla="*/ 2654305 w 79"/>
                <a:gd name="T3" fmla="*/ 1001 h 66"/>
                <a:gd name="T4" fmla="*/ 2373138 w 79"/>
                <a:gd name="T5" fmla="*/ 839 h 66"/>
                <a:gd name="T6" fmla="*/ 1939821 w 79"/>
                <a:gd name="T7" fmla="*/ 656 h 66"/>
                <a:gd name="T8" fmla="*/ 1468965 w 79"/>
                <a:gd name="T9" fmla="*/ 508 h 66"/>
                <a:gd name="T10" fmla="*/ 1017350 w 79"/>
                <a:gd name="T11" fmla="*/ 371 h 66"/>
                <a:gd name="T12" fmla="*/ 656503 w 79"/>
                <a:gd name="T13" fmla="*/ 218 h 66"/>
                <a:gd name="T14" fmla="*/ 451334 w 79"/>
                <a:gd name="T15" fmla="*/ 117 h 66"/>
                <a:gd name="T16" fmla="*/ 451334 w 79"/>
                <a:gd name="T17" fmla="*/ 89 h 66"/>
                <a:gd name="T18" fmla="*/ 0 w 79"/>
                <a:gd name="T19" fmla="*/ 0 h 66"/>
                <a:gd name="T20" fmla="*/ 37404 w 79"/>
                <a:gd name="T21" fmla="*/ 251 h 66"/>
                <a:gd name="T22" fmla="*/ 339473 w 79"/>
                <a:gd name="T23" fmla="*/ 427 h 66"/>
                <a:gd name="T24" fmla="*/ 760939 w 79"/>
                <a:gd name="T25" fmla="*/ 585 h 66"/>
                <a:gd name="T26" fmla="*/ 1252178 w 79"/>
                <a:gd name="T27" fmla="*/ 752 h 66"/>
                <a:gd name="T28" fmla="*/ 1674120 w 79"/>
                <a:gd name="T29" fmla="*/ 894 h 66"/>
                <a:gd name="T30" fmla="*/ 2060546 w 79"/>
                <a:gd name="T31" fmla="*/ 1029 h 66"/>
                <a:gd name="T32" fmla="*/ 2269433 w 79"/>
                <a:gd name="T33" fmla="*/ 1148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2"/>
                  </a:lnTo>
                  <a:lnTo>
                    <a:pt x="68" y="43"/>
                  </a:lnTo>
                  <a:lnTo>
                    <a:pt x="56" y="34"/>
                  </a:lnTo>
                  <a:lnTo>
                    <a:pt x="42" y="26"/>
                  </a:lnTo>
                  <a:lnTo>
                    <a:pt x="29" y="19"/>
                  </a:lnTo>
                  <a:lnTo>
                    <a:pt x="19" y="11"/>
                  </a:lnTo>
                  <a:lnTo>
                    <a:pt x="13" y="6"/>
                  </a:lnTo>
                  <a:lnTo>
                    <a:pt x="13" y="4"/>
                  </a:lnTo>
                  <a:lnTo>
                    <a:pt x="0" y="0"/>
                  </a:lnTo>
                  <a:lnTo>
                    <a:pt x="1" y="13"/>
                  </a:lnTo>
                  <a:lnTo>
                    <a:pt x="10" y="22"/>
                  </a:lnTo>
                  <a:lnTo>
                    <a:pt x="22" y="30"/>
                  </a:lnTo>
                  <a:lnTo>
                    <a:pt x="36" y="38"/>
                  </a:lnTo>
                  <a:lnTo>
                    <a:pt x="48" y="46"/>
                  </a:lnTo>
                  <a:lnTo>
                    <a:pt x="59" y="53"/>
                  </a:lnTo>
                  <a:lnTo>
                    <a:pt x="65" y="59"/>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3" name="Freeform 192">
              <a:extLst>
                <a:ext uri="{FF2B5EF4-FFF2-40B4-BE49-F238E27FC236}">
                  <a16:creationId xmlns:a16="http://schemas.microsoft.com/office/drawing/2014/main" id="{131DDD1B-FD10-E2C3-DF39-FA5EB877287D}"/>
                </a:ext>
              </a:extLst>
            </p:cNvPr>
            <p:cNvSpPr>
              <a:spLocks/>
            </p:cNvSpPr>
            <p:nvPr/>
          </p:nvSpPr>
          <p:spPr bwMode="auto">
            <a:xfrm>
              <a:off x="2676" y="2884"/>
              <a:ext cx="176" cy="29"/>
            </a:xfrm>
            <a:custGeom>
              <a:avLst/>
              <a:gdLst>
                <a:gd name="T0" fmla="*/ 448956 w 107"/>
                <a:gd name="T1" fmla="*/ 236 h 26"/>
                <a:gd name="T2" fmla="*/ 448956 w 107"/>
                <a:gd name="T3" fmla="*/ 254 h 26"/>
                <a:gd name="T4" fmla="*/ 520021 w 107"/>
                <a:gd name="T5" fmla="*/ 228 h 26"/>
                <a:gd name="T6" fmla="*/ 818282 w 107"/>
                <a:gd name="T7" fmla="*/ 204 h 26"/>
                <a:gd name="T8" fmla="*/ 1274250 w 107"/>
                <a:gd name="T9" fmla="*/ 184 h 26"/>
                <a:gd name="T10" fmla="*/ 1829721 w 107"/>
                <a:gd name="T11" fmla="*/ 184 h 26"/>
                <a:gd name="T12" fmla="*/ 2374059 w 107"/>
                <a:gd name="T13" fmla="*/ 184 h 26"/>
                <a:gd name="T14" fmla="*/ 2899460 w 107"/>
                <a:gd name="T15" fmla="*/ 165 h 26"/>
                <a:gd name="T16" fmla="*/ 3361858 w 107"/>
                <a:gd name="T17" fmla="*/ 147 h 26"/>
                <a:gd name="T18" fmla="*/ 3649694 w 107"/>
                <a:gd name="T19" fmla="*/ 4 h 26"/>
                <a:gd name="T20" fmla="*/ 3223782 w 107"/>
                <a:gd name="T21" fmla="*/ 0 h 26"/>
                <a:gd name="T22" fmla="*/ 3156192 w 107"/>
                <a:gd name="T23" fmla="*/ 2 h 26"/>
                <a:gd name="T24" fmla="*/ 2796262 w 107"/>
                <a:gd name="T25" fmla="*/ 56 h 26"/>
                <a:gd name="T26" fmla="*/ 2374059 w 107"/>
                <a:gd name="T27" fmla="*/ 62 h 26"/>
                <a:gd name="T28" fmla="*/ 1829721 w 107"/>
                <a:gd name="T29" fmla="*/ 56 h 26"/>
                <a:gd name="T30" fmla="*/ 1274250 w 107"/>
                <a:gd name="T31" fmla="*/ 62 h 26"/>
                <a:gd name="T32" fmla="*/ 755427 w 107"/>
                <a:gd name="T33" fmla="*/ 69 h 26"/>
                <a:gd name="T34" fmla="*/ 316149 w 107"/>
                <a:gd name="T35" fmla="*/ 96 h 26"/>
                <a:gd name="T36" fmla="*/ 0 w 107"/>
                <a:gd name="T37" fmla="*/ 184 h 26"/>
                <a:gd name="T38" fmla="*/ 0 w 107"/>
                <a:gd name="T39" fmla="*/ 204 h 26"/>
                <a:gd name="T40" fmla="*/ 448956 w 107"/>
                <a:gd name="T41" fmla="*/ 236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7"/>
                <a:gd name="T64" fmla="*/ 0 h 26"/>
                <a:gd name="T65" fmla="*/ 107 w 107"/>
                <a:gd name="T66" fmla="*/ 26 h 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7" h="26">
                  <a:moveTo>
                    <a:pt x="13" y="24"/>
                  </a:moveTo>
                  <a:lnTo>
                    <a:pt x="13" y="25"/>
                  </a:lnTo>
                  <a:lnTo>
                    <a:pt x="15" y="22"/>
                  </a:lnTo>
                  <a:lnTo>
                    <a:pt x="24" y="20"/>
                  </a:lnTo>
                  <a:lnTo>
                    <a:pt x="37" y="19"/>
                  </a:lnTo>
                  <a:lnTo>
                    <a:pt x="53" y="19"/>
                  </a:lnTo>
                  <a:lnTo>
                    <a:pt x="69" y="19"/>
                  </a:lnTo>
                  <a:lnTo>
                    <a:pt x="84" y="17"/>
                  </a:lnTo>
                  <a:lnTo>
                    <a:pt x="97" y="14"/>
                  </a:lnTo>
                  <a:lnTo>
                    <a:pt x="106" y="4"/>
                  </a:lnTo>
                  <a:lnTo>
                    <a:pt x="93" y="0"/>
                  </a:lnTo>
                  <a:lnTo>
                    <a:pt x="91" y="2"/>
                  </a:lnTo>
                  <a:lnTo>
                    <a:pt x="81" y="5"/>
                  </a:lnTo>
                  <a:lnTo>
                    <a:pt x="69" y="6"/>
                  </a:lnTo>
                  <a:lnTo>
                    <a:pt x="53" y="5"/>
                  </a:lnTo>
                  <a:lnTo>
                    <a:pt x="37" y="6"/>
                  </a:lnTo>
                  <a:lnTo>
                    <a:pt x="22" y="7"/>
                  </a:lnTo>
                  <a:lnTo>
                    <a:pt x="9" y="10"/>
                  </a:lnTo>
                  <a:lnTo>
                    <a:pt x="0" y="19"/>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4" name="Freeform 193">
              <a:extLst>
                <a:ext uri="{FF2B5EF4-FFF2-40B4-BE49-F238E27FC236}">
                  <a16:creationId xmlns:a16="http://schemas.microsoft.com/office/drawing/2014/main" id="{423ABDED-CEC1-5B44-7D3D-0E162B49FD00}"/>
                </a:ext>
              </a:extLst>
            </p:cNvPr>
            <p:cNvSpPr>
              <a:spLocks/>
            </p:cNvSpPr>
            <p:nvPr/>
          </p:nvSpPr>
          <p:spPr bwMode="auto">
            <a:xfrm>
              <a:off x="2676" y="2906"/>
              <a:ext cx="133" cy="79"/>
            </a:xfrm>
            <a:custGeom>
              <a:avLst/>
              <a:gdLst>
                <a:gd name="T0" fmla="*/ 2897663 w 80"/>
                <a:gd name="T1" fmla="*/ 1309 h 68"/>
                <a:gd name="T2" fmla="*/ 3407716 w 80"/>
                <a:gd name="T3" fmla="*/ 1451 h 68"/>
                <a:gd name="T4" fmla="*/ 3382665 w 80"/>
                <a:gd name="T5" fmla="*/ 1127 h 68"/>
                <a:gd name="T6" fmla="*/ 2992608 w 80"/>
                <a:gd name="T7" fmla="*/ 899 h 68"/>
                <a:gd name="T8" fmla="*/ 2427302 w 80"/>
                <a:gd name="T9" fmla="*/ 719 h 68"/>
                <a:gd name="T10" fmla="*/ 1845656 w 80"/>
                <a:gd name="T11" fmla="*/ 560 h 68"/>
                <a:gd name="T12" fmla="*/ 1249478 w 80"/>
                <a:gd name="T13" fmla="*/ 395 h 68"/>
                <a:gd name="T14" fmla="*/ 779822 w 80"/>
                <a:gd name="T15" fmla="*/ 252 h 68"/>
                <a:gd name="T16" fmla="*/ 581923 w 80"/>
                <a:gd name="T17" fmla="*/ 138 h 68"/>
                <a:gd name="T18" fmla="*/ 581923 w 80"/>
                <a:gd name="T19" fmla="*/ 102 h 68"/>
                <a:gd name="T20" fmla="*/ 0 w 80"/>
                <a:gd name="T21" fmla="*/ 0 h 68"/>
                <a:gd name="T22" fmla="*/ 76176 w 80"/>
                <a:gd name="T23" fmla="*/ 292 h 68"/>
                <a:gd name="T24" fmla="*/ 469066 w 80"/>
                <a:gd name="T25" fmla="*/ 532 h 68"/>
                <a:gd name="T26" fmla="*/ 991319 w 80"/>
                <a:gd name="T27" fmla="*/ 685 h 68"/>
                <a:gd name="T28" fmla="*/ 1608381 w 80"/>
                <a:gd name="T29" fmla="*/ 835 h 68"/>
                <a:gd name="T30" fmla="*/ 2155355 w 80"/>
                <a:gd name="T31" fmla="*/ 1004 h 68"/>
                <a:gd name="T32" fmla="*/ 2597646 w 80"/>
                <a:gd name="T33" fmla="*/ 1127 h 68"/>
                <a:gd name="T34" fmla="*/ 2862423 w 80"/>
                <a:gd name="T35" fmla="*/ 1277 h 68"/>
                <a:gd name="T36" fmla="*/ 2862423 w 80"/>
                <a:gd name="T37" fmla="*/ 1377 h 68"/>
                <a:gd name="T38" fmla="*/ 3382665 w 80"/>
                <a:gd name="T39" fmla="*/ 1484 h 68"/>
                <a:gd name="T40" fmla="*/ 2862423 w 80"/>
                <a:gd name="T41" fmla="*/ 1377 h 68"/>
                <a:gd name="T42" fmla="*/ 2897663 w 80"/>
                <a:gd name="T43" fmla="*/ 1484 h 68"/>
                <a:gd name="T44" fmla="*/ 3023930 w 80"/>
                <a:gd name="T45" fmla="*/ 1574 h 68"/>
                <a:gd name="T46" fmla="*/ 3265532 w 80"/>
                <a:gd name="T47" fmla="*/ 1521 h 68"/>
                <a:gd name="T48" fmla="*/ 3407716 w 80"/>
                <a:gd name="T49" fmla="*/ 1451 h 68"/>
                <a:gd name="T50" fmla="*/ 2897663 w 80"/>
                <a:gd name="T51" fmla="*/ 1309 h 6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0"/>
                <a:gd name="T79" fmla="*/ 0 h 68"/>
                <a:gd name="T80" fmla="*/ 80 w 80"/>
                <a:gd name="T81" fmla="*/ 68 h 6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0" h="68">
                  <a:moveTo>
                    <a:pt x="67" y="57"/>
                  </a:moveTo>
                  <a:lnTo>
                    <a:pt x="79" y="62"/>
                  </a:lnTo>
                  <a:lnTo>
                    <a:pt x="78" y="49"/>
                  </a:lnTo>
                  <a:lnTo>
                    <a:pt x="69" y="39"/>
                  </a:lnTo>
                  <a:lnTo>
                    <a:pt x="56" y="31"/>
                  </a:lnTo>
                  <a:lnTo>
                    <a:pt x="43" y="24"/>
                  </a:lnTo>
                  <a:lnTo>
                    <a:pt x="29" y="17"/>
                  </a:lnTo>
                  <a:lnTo>
                    <a:pt x="18" y="11"/>
                  </a:lnTo>
                  <a:lnTo>
                    <a:pt x="13" y="6"/>
                  </a:lnTo>
                  <a:lnTo>
                    <a:pt x="13" y="4"/>
                  </a:lnTo>
                  <a:lnTo>
                    <a:pt x="0" y="0"/>
                  </a:lnTo>
                  <a:lnTo>
                    <a:pt x="2" y="12"/>
                  </a:lnTo>
                  <a:lnTo>
                    <a:pt x="11" y="22"/>
                  </a:lnTo>
                  <a:lnTo>
                    <a:pt x="23" y="29"/>
                  </a:lnTo>
                  <a:lnTo>
                    <a:pt x="37" y="36"/>
                  </a:lnTo>
                  <a:lnTo>
                    <a:pt x="50" y="43"/>
                  </a:lnTo>
                  <a:lnTo>
                    <a:pt x="60" y="49"/>
                  </a:lnTo>
                  <a:lnTo>
                    <a:pt x="66" y="55"/>
                  </a:lnTo>
                  <a:lnTo>
                    <a:pt x="66" y="59"/>
                  </a:lnTo>
                  <a:lnTo>
                    <a:pt x="78" y="64"/>
                  </a:lnTo>
                  <a:lnTo>
                    <a:pt x="66" y="59"/>
                  </a:lnTo>
                  <a:lnTo>
                    <a:pt x="67" y="64"/>
                  </a:lnTo>
                  <a:lnTo>
                    <a:pt x="70" y="67"/>
                  </a:lnTo>
                  <a:lnTo>
                    <a:pt x="76" y="66"/>
                  </a:lnTo>
                  <a:lnTo>
                    <a:pt x="79" y="62"/>
                  </a:lnTo>
                  <a:lnTo>
                    <a:pt x="67" y="5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5" name="Freeform 194">
              <a:extLst>
                <a:ext uri="{FF2B5EF4-FFF2-40B4-BE49-F238E27FC236}">
                  <a16:creationId xmlns:a16="http://schemas.microsoft.com/office/drawing/2014/main" id="{D2FCE258-BE1D-D140-B685-2B27F69BD663}"/>
                </a:ext>
              </a:extLst>
            </p:cNvPr>
            <p:cNvSpPr>
              <a:spLocks/>
            </p:cNvSpPr>
            <p:nvPr/>
          </p:nvSpPr>
          <p:spPr bwMode="auto">
            <a:xfrm>
              <a:off x="2787" y="2968"/>
              <a:ext cx="23" cy="13"/>
            </a:xfrm>
            <a:custGeom>
              <a:avLst/>
              <a:gdLst>
                <a:gd name="T0" fmla="*/ 439537 w 14"/>
                <a:gd name="T1" fmla="*/ 46 h 12"/>
                <a:gd name="T2" fmla="*/ 0 w 14"/>
                <a:gd name="T3" fmla="*/ 3 h 12"/>
                <a:gd name="T4" fmla="*/ 0 w 14"/>
                <a:gd name="T5" fmla="*/ 4 h 12"/>
                <a:gd name="T6" fmla="*/ 375225 w 14"/>
                <a:gd name="T7" fmla="*/ 58 h 12"/>
                <a:gd name="T8" fmla="*/ 410755 w 14"/>
                <a:gd name="T9" fmla="*/ 50 h 12"/>
                <a:gd name="T10" fmla="*/ 0 w 14"/>
                <a:gd name="T11" fmla="*/ 4 h 12"/>
                <a:gd name="T12" fmla="*/ 410755 w 14"/>
                <a:gd name="T13" fmla="*/ 50 h 12"/>
                <a:gd name="T14" fmla="*/ 439537 w 14"/>
                <a:gd name="T15" fmla="*/ 4 h 12"/>
                <a:gd name="T16" fmla="*/ 310107 w 14"/>
                <a:gd name="T17" fmla="*/ 0 h 12"/>
                <a:gd name="T18" fmla="*/ 152189 w 14"/>
                <a:gd name="T19" fmla="*/ 0 h 12"/>
                <a:gd name="T20" fmla="*/ 0 w 14"/>
                <a:gd name="T21" fmla="*/ 3 h 12"/>
                <a:gd name="T22" fmla="*/ 439537 w 14"/>
                <a:gd name="T23" fmla="*/ 46 h 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
                <a:gd name="T37" fmla="*/ 0 h 12"/>
                <a:gd name="T38" fmla="*/ 14 w 14"/>
                <a:gd name="T39" fmla="*/ 12 h 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 h="12">
                  <a:moveTo>
                    <a:pt x="13" y="8"/>
                  </a:moveTo>
                  <a:lnTo>
                    <a:pt x="0" y="3"/>
                  </a:lnTo>
                  <a:lnTo>
                    <a:pt x="0" y="4"/>
                  </a:lnTo>
                  <a:lnTo>
                    <a:pt x="11" y="11"/>
                  </a:lnTo>
                  <a:lnTo>
                    <a:pt x="12" y="9"/>
                  </a:lnTo>
                  <a:lnTo>
                    <a:pt x="0" y="4"/>
                  </a:lnTo>
                  <a:lnTo>
                    <a:pt x="12" y="9"/>
                  </a:lnTo>
                  <a:lnTo>
                    <a:pt x="13" y="4"/>
                  </a:lnTo>
                  <a:lnTo>
                    <a:pt x="9" y="0"/>
                  </a:lnTo>
                  <a:lnTo>
                    <a:pt x="4" y="0"/>
                  </a:lnTo>
                  <a:lnTo>
                    <a:pt x="0" y="3"/>
                  </a:lnTo>
                  <a:lnTo>
                    <a:pt x="13"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6" name="Freeform 195">
              <a:extLst>
                <a:ext uri="{FF2B5EF4-FFF2-40B4-BE49-F238E27FC236}">
                  <a16:creationId xmlns:a16="http://schemas.microsoft.com/office/drawing/2014/main" id="{18EE7E5E-F68E-EE0E-0EBF-D0D9320435D6}"/>
                </a:ext>
              </a:extLst>
            </p:cNvPr>
            <p:cNvSpPr>
              <a:spLocks/>
            </p:cNvSpPr>
            <p:nvPr/>
          </p:nvSpPr>
          <p:spPr bwMode="auto">
            <a:xfrm>
              <a:off x="2637" y="2972"/>
              <a:ext cx="173" cy="41"/>
            </a:xfrm>
            <a:custGeom>
              <a:avLst/>
              <a:gdLst>
                <a:gd name="T0" fmla="*/ 465077 w 105"/>
                <a:gd name="T1" fmla="*/ 535 h 36"/>
                <a:gd name="T2" fmla="*/ 546820 w 105"/>
                <a:gd name="T3" fmla="*/ 513 h 36"/>
                <a:gd name="T4" fmla="*/ 831997 w 105"/>
                <a:gd name="T5" fmla="*/ 470 h 36"/>
                <a:gd name="T6" fmla="*/ 1262521 w 105"/>
                <a:gd name="T7" fmla="*/ 450 h 36"/>
                <a:gd name="T8" fmla="*/ 1816719 w 105"/>
                <a:gd name="T9" fmla="*/ 444 h 36"/>
                <a:gd name="T10" fmla="*/ 2377226 w 105"/>
                <a:gd name="T11" fmla="*/ 413 h 36"/>
                <a:gd name="T12" fmla="*/ 2932253 w 105"/>
                <a:gd name="T13" fmla="*/ 363 h 36"/>
                <a:gd name="T14" fmla="*/ 3420932 w 105"/>
                <a:gd name="T15" fmla="*/ 246 h 36"/>
                <a:gd name="T16" fmla="*/ 3721278 w 105"/>
                <a:gd name="T17" fmla="*/ 71 h 36"/>
                <a:gd name="T18" fmla="*/ 3261172 w 105"/>
                <a:gd name="T19" fmla="*/ 0 h 36"/>
                <a:gd name="T20" fmla="*/ 3090426 w 105"/>
                <a:gd name="T21" fmla="*/ 92 h 36"/>
                <a:gd name="T22" fmla="*/ 2754923 w 105"/>
                <a:gd name="T23" fmla="*/ 178 h 36"/>
                <a:gd name="T24" fmla="*/ 2282748 w 105"/>
                <a:gd name="T25" fmla="*/ 216 h 36"/>
                <a:gd name="T26" fmla="*/ 1779691 w 105"/>
                <a:gd name="T27" fmla="*/ 231 h 36"/>
                <a:gd name="T28" fmla="*/ 1215650 w 105"/>
                <a:gd name="T29" fmla="*/ 246 h 36"/>
                <a:gd name="T30" fmla="*/ 713643 w 105"/>
                <a:gd name="T31" fmla="*/ 280 h 36"/>
                <a:gd name="T32" fmla="*/ 282272 w 105"/>
                <a:gd name="T33" fmla="*/ 319 h 36"/>
                <a:gd name="T34" fmla="*/ 0 w 105"/>
                <a:gd name="T35" fmla="*/ 470 h 36"/>
                <a:gd name="T36" fmla="*/ 465077 w 105"/>
                <a:gd name="T37" fmla="*/ 535 h 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6"/>
                <a:gd name="T59" fmla="*/ 105 w 105"/>
                <a:gd name="T60" fmla="*/ 36 h 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6">
                  <a:moveTo>
                    <a:pt x="13" y="35"/>
                  </a:moveTo>
                  <a:lnTo>
                    <a:pt x="15" y="33"/>
                  </a:lnTo>
                  <a:lnTo>
                    <a:pt x="23" y="31"/>
                  </a:lnTo>
                  <a:lnTo>
                    <a:pt x="35" y="29"/>
                  </a:lnTo>
                  <a:lnTo>
                    <a:pt x="51" y="28"/>
                  </a:lnTo>
                  <a:lnTo>
                    <a:pt x="66" y="27"/>
                  </a:lnTo>
                  <a:lnTo>
                    <a:pt x="82" y="24"/>
                  </a:lnTo>
                  <a:lnTo>
                    <a:pt x="95" y="16"/>
                  </a:lnTo>
                  <a:lnTo>
                    <a:pt x="104" y="4"/>
                  </a:lnTo>
                  <a:lnTo>
                    <a:pt x="91" y="0"/>
                  </a:lnTo>
                  <a:lnTo>
                    <a:pt x="86" y="6"/>
                  </a:lnTo>
                  <a:lnTo>
                    <a:pt x="77" y="11"/>
                  </a:lnTo>
                  <a:lnTo>
                    <a:pt x="64" y="14"/>
                  </a:lnTo>
                  <a:lnTo>
                    <a:pt x="50" y="15"/>
                  </a:lnTo>
                  <a:lnTo>
                    <a:pt x="34" y="16"/>
                  </a:lnTo>
                  <a:lnTo>
                    <a:pt x="20" y="18"/>
                  </a:lnTo>
                  <a:lnTo>
                    <a:pt x="8" y="21"/>
                  </a:lnTo>
                  <a:lnTo>
                    <a:pt x="0" y="31"/>
                  </a:lnTo>
                  <a:lnTo>
                    <a:pt x="13" y="3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7" name="Freeform 196">
              <a:extLst>
                <a:ext uri="{FF2B5EF4-FFF2-40B4-BE49-F238E27FC236}">
                  <a16:creationId xmlns:a16="http://schemas.microsoft.com/office/drawing/2014/main" id="{2F044126-F031-E325-EF28-8F721E136E6C}"/>
                </a:ext>
              </a:extLst>
            </p:cNvPr>
            <p:cNvSpPr>
              <a:spLocks/>
            </p:cNvSpPr>
            <p:nvPr/>
          </p:nvSpPr>
          <p:spPr bwMode="auto">
            <a:xfrm>
              <a:off x="2566" y="2851"/>
              <a:ext cx="63" cy="81"/>
            </a:xfrm>
            <a:custGeom>
              <a:avLst/>
              <a:gdLst>
                <a:gd name="T0" fmla="*/ 976515 w 38"/>
                <a:gd name="T1" fmla="*/ 60 h 72"/>
                <a:gd name="T2" fmla="*/ 976515 w 38"/>
                <a:gd name="T3" fmla="*/ 77 h 72"/>
                <a:gd name="T4" fmla="*/ 886621 w 38"/>
                <a:gd name="T5" fmla="*/ 77 h 72"/>
                <a:gd name="T6" fmla="*/ 746378 w 38"/>
                <a:gd name="T7" fmla="*/ 99 h 72"/>
                <a:gd name="T8" fmla="*/ 450196 w 38"/>
                <a:gd name="T9" fmla="*/ 159 h 72"/>
                <a:gd name="T10" fmla="*/ 178371 w 38"/>
                <a:gd name="T11" fmla="*/ 254 h 72"/>
                <a:gd name="T12" fmla="*/ 0 w 38"/>
                <a:gd name="T13" fmla="*/ 386 h 72"/>
                <a:gd name="T14" fmla="*/ 0 w 38"/>
                <a:gd name="T15" fmla="*/ 579 h 72"/>
                <a:gd name="T16" fmla="*/ 247837 w 38"/>
                <a:gd name="T17" fmla="*/ 846 h 72"/>
                <a:gd name="T18" fmla="*/ 788611 w 38"/>
                <a:gd name="T19" fmla="*/ 763 h 72"/>
                <a:gd name="T20" fmla="*/ 534787 w 38"/>
                <a:gd name="T21" fmla="*/ 548 h 72"/>
                <a:gd name="T22" fmla="*/ 534787 w 38"/>
                <a:gd name="T23" fmla="*/ 407 h 72"/>
                <a:gd name="T24" fmla="*/ 609278 w 38"/>
                <a:gd name="T25" fmla="*/ 322 h 72"/>
                <a:gd name="T26" fmla="*/ 788611 w 38"/>
                <a:gd name="T27" fmla="*/ 285 h 72"/>
                <a:gd name="T28" fmla="*/ 976515 w 38"/>
                <a:gd name="T29" fmla="*/ 254 h 72"/>
                <a:gd name="T30" fmla="*/ 1237416 w 38"/>
                <a:gd name="T31" fmla="*/ 214 h 72"/>
                <a:gd name="T32" fmla="*/ 1495574 w 38"/>
                <a:gd name="T33" fmla="*/ 125 h 72"/>
                <a:gd name="T34" fmla="*/ 1495574 w 38"/>
                <a:gd name="T35" fmla="*/ 0 h 72"/>
                <a:gd name="T36" fmla="*/ 976515 w 38"/>
                <a:gd name="T37" fmla="*/ 60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72"/>
                <a:gd name="T59" fmla="*/ 38 w 38"/>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72">
                  <a:moveTo>
                    <a:pt x="24" y="4"/>
                  </a:moveTo>
                  <a:lnTo>
                    <a:pt x="24" y="6"/>
                  </a:lnTo>
                  <a:lnTo>
                    <a:pt x="22" y="6"/>
                  </a:lnTo>
                  <a:lnTo>
                    <a:pt x="18" y="9"/>
                  </a:lnTo>
                  <a:lnTo>
                    <a:pt x="11" y="13"/>
                  </a:lnTo>
                  <a:lnTo>
                    <a:pt x="4" y="21"/>
                  </a:lnTo>
                  <a:lnTo>
                    <a:pt x="0" y="32"/>
                  </a:lnTo>
                  <a:lnTo>
                    <a:pt x="0" y="48"/>
                  </a:lnTo>
                  <a:lnTo>
                    <a:pt x="6" y="71"/>
                  </a:lnTo>
                  <a:lnTo>
                    <a:pt x="19" y="65"/>
                  </a:lnTo>
                  <a:lnTo>
                    <a:pt x="13" y="46"/>
                  </a:lnTo>
                  <a:lnTo>
                    <a:pt x="13" y="34"/>
                  </a:lnTo>
                  <a:lnTo>
                    <a:pt x="15" y="27"/>
                  </a:lnTo>
                  <a:lnTo>
                    <a:pt x="19" y="23"/>
                  </a:lnTo>
                  <a:lnTo>
                    <a:pt x="24" y="21"/>
                  </a:lnTo>
                  <a:lnTo>
                    <a:pt x="30" y="18"/>
                  </a:lnTo>
                  <a:lnTo>
                    <a:pt x="37" y="11"/>
                  </a:lnTo>
                  <a:lnTo>
                    <a:pt x="37" y="0"/>
                  </a:lnTo>
                  <a:lnTo>
                    <a:pt x="24"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8" name="Freeform 197">
              <a:extLst>
                <a:ext uri="{FF2B5EF4-FFF2-40B4-BE49-F238E27FC236}">
                  <a16:creationId xmlns:a16="http://schemas.microsoft.com/office/drawing/2014/main" id="{811E1799-5423-9DF0-6092-2BF8A12AB181}"/>
                </a:ext>
              </a:extLst>
            </p:cNvPr>
            <p:cNvSpPr>
              <a:spLocks/>
            </p:cNvSpPr>
            <p:nvPr/>
          </p:nvSpPr>
          <p:spPr bwMode="auto">
            <a:xfrm>
              <a:off x="2452" y="2813"/>
              <a:ext cx="177" cy="43"/>
            </a:xfrm>
            <a:custGeom>
              <a:avLst/>
              <a:gdLst>
                <a:gd name="T0" fmla="*/ 297347 w 108"/>
                <a:gd name="T1" fmla="*/ 0 h 37"/>
                <a:gd name="T2" fmla="*/ 56629 w 108"/>
                <a:gd name="T3" fmla="*/ 216 h 37"/>
                <a:gd name="T4" fmla="*/ 355105 w 108"/>
                <a:gd name="T5" fmla="*/ 458 h 37"/>
                <a:gd name="T6" fmla="*/ 763839 w 108"/>
                <a:gd name="T7" fmla="*/ 536 h 37"/>
                <a:gd name="T8" fmla="*/ 1216593 w 108"/>
                <a:gd name="T9" fmla="*/ 593 h 37"/>
                <a:gd name="T10" fmla="*/ 1738474 w 108"/>
                <a:gd name="T11" fmla="*/ 618 h 37"/>
                <a:gd name="T12" fmla="*/ 2243232 w 108"/>
                <a:gd name="T13" fmla="*/ 623 h 37"/>
                <a:gd name="T14" fmla="*/ 2628324 w 108"/>
                <a:gd name="T15" fmla="*/ 718 h 37"/>
                <a:gd name="T16" fmla="*/ 2912671 w 108"/>
                <a:gd name="T17" fmla="*/ 764 h 37"/>
                <a:gd name="T18" fmla="*/ 3006856 w 108"/>
                <a:gd name="T19" fmla="*/ 841 h 37"/>
                <a:gd name="T20" fmla="*/ 3417618 w 108"/>
                <a:gd name="T21" fmla="*/ 744 h 37"/>
                <a:gd name="T22" fmla="*/ 3174761 w 108"/>
                <a:gd name="T23" fmla="*/ 486 h 37"/>
                <a:gd name="T24" fmla="*/ 2757663 w 108"/>
                <a:gd name="T25" fmla="*/ 397 h 37"/>
                <a:gd name="T26" fmla="*/ 2263832 w 108"/>
                <a:gd name="T27" fmla="*/ 339 h 37"/>
                <a:gd name="T28" fmla="*/ 1766653 w 108"/>
                <a:gd name="T29" fmla="*/ 294 h 37"/>
                <a:gd name="T30" fmla="*/ 1251847 w 108"/>
                <a:gd name="T31" fmla="*/ 292 h 37"/>
                <a:gd name="T32" fmla="*/ 835171 w 108"/>
                <a:gd name="T33" fmla="*/ 251 h 37"/>
                <a:gd name="T34" fmla="*/ 546453 w 108"/>
                <a:gd name="T35" fmla="*/ 160 h 37"/>
                <a:gd name="T36" fmla="*/ 487319 w 108"/>
                <a:gd name="T37" fmla="*/ 119 h 37"/>
                <a:gd name="T38" fmla="*/ 297347 w 108"/>
                <a:gd name="T39" fmla="*/ 339 h 37"/>
                <a:gd name="T40" fmla="*/ 297347 w 108"/>
                <a:gd name="T41" fmla="*/ 0 h 37"/>
                <a:gd name="T42" fmla="*/ 0 w 108"/>
                <a:gd name="T43" fmla="*/ 1 h 37"/>
                <a:gd name="T44" fmla="*/ 56629 w 108"/>
                <a:gd name="T45" fmla="*/ 216 h 37"/>
                <a:gd name="T46" fmla="*/ 297347 w 108"/>
                <a:gd name="T47" fmla="*/ 0 h 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
                <a:gd name="T73" fmla="*/ 0 h 37"/>
                <a:gd name="T74" fmla="*/ 108 w 108"/>
                <a:gd name="T75" fmla="*/ 37 h 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 h="37">
                  <a:moveTo>
                    <a:pt x="9" y="0"/>
                  </a:moveTo>
                  <a:lnTo>
                    <a:pt x="2" y="9"/>
                  </a:lnTo>
                  <a:lnTo>
                    <a:pt x="11" y="19"/>
                  </a:lnTo>
                  <a:lnTo>
                    <a:pt x="24" y="23"/>
                  </a:lnTo>
                  <a:lnTo>
                    <a:pt x="38" y="25"/>
                  </a:lnTo>
                  <a:lnTo>
                    <a:pt x="54" y="26"/>
                  </a:lnTo>
                  <a:lnTo>
                    <a:pt x="70" y="27"/>
                  </a:lnTo>
                  <a:lnTo>
                    <a:pt x="82" y="30"/>
                  </a:lnTo>
                  <a:lnTo>
                    <a:pt x="91" y="33"/>
                  </a:lnTo>
                  <a:lnTo>
                    <a:pt x="94" y="36"/>
                  </a:lnTo>
                  <a:lnTo>
                    <a:pt x="107" y="32"/>
                  </a:lnTo>
                  <a:lnTo>
                    <a:pt x="99" y="21"/>
                  </a:lnTo>
                  <a:lnTo>
                    <a:pt x="86" y="17"/>
                  </a:lnTo>
                  <a:lnTo>
                    <a:pt x="71" y="14"/>
                  </a:lnTo>
                  <a:lnTo>
                    <a:pt x="55" y="13"/>
                  </a:lnTo>
                  <a:lnTo>
                    <a:pt x="39" y="12"/>
                  </a:lnTo>
                  <a:lnTo>
                    <a:pt x="26" y="10"/>
                  </a:lnTo>
                  <a:lnTo>
                    <a:pt x="17" y="7"/>
                  </a:lnTo>
                  <a:lnTo>
                    <a:pt x="15" y="5"/>
                  </a:lnTo>
                  <a:lnTo>
                    <a:pt x="9" y="14"/>
                  </a:lnTo>
                  <a:lnTo>
                    <a:pt x="9" y="0"/>
                  </a:lnTo>
                  <a:lnTo>
                    <a:pt x="0" y="1"/>
                  </a:lnTo>
                  <a:lnTo>
                    <a:pt x="2" y="9"/>
                  </a:lnTo>
                  <a:lnTo>
                    <a:pt x="9" y="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79" name="Freeform 198">
              <a:extLst>
                <a:ext uri="{FF2B5EF4-FFF2-40B4-BE49-F238E27FC236}">
                  <a16:creationId xmlns:a16="http://schemas.microsoft.com/office/drawing/2014/main" id="{5A2E7A7C-11DE-EC52-68CC-CDF447A6EDCB}"/>
                </a:ext>
              </a:extLst>
            </p:cNvPr>
            <p:cNvSpPr>
              <a:spLocks/>
            </p:cNvSpPr>
            <p:nvPr/>
          </p:nvSpPr>
          <p:spPr bwMode="auto">
            <a:xfrm>
              <a:off x="2457" y="2813"/>
              <a:ext cx="28" cy="17"/>
            </a:xfrm>
            <a:custGeom>
              <a:avLst/>
              <a:gdLst>
                <a:gd name="T0" fmla="*/ 0 w 17"/>
                <a:gd name="T1" fmla="*/ 113 h 15"/>
                <a:gd name="T2" fmla="*/ 261815 w 17"/>
                <a:gd name="T3" fmla="*/ 0 h 15"/>
                <a:gd name="T4" fmla="*/ 208753 w 17"/>
                <a:gd name="T5" fmla="*/ 0 h 15"/>
                <a:gd name="T6" fmla="*/ 208753 w 17"/>
                <a:gd name="T7" fmla="*/ 186 h 15"/>
                <a:gd name="T8" fmla="*/ 261815 w 17"/>
                <a:gd name="T9" fmla="*/ 186 h 15"/>
                <a:gd name="T10" fmla="*/ 462695 w 17"/>
                <a:gd name="T11" fmla="*/ 69 h 15"/>
                <a:gd name="T12" fmla="*/ 261815 w 17"/>
                <a:gd name="T13" fmla="*/ 186 h 15"/>
                <a:gd name="T14" fmla="*/ 566305 w 17"/>
                <a:gd name="T15" fmla="*/ 186 h 15"/>
                <a:gd name="T16" fmla="*/ 462695 w 17"/>
                <a:gd name="T17" fmla="*/ 69 h 15"/>
                <a:gd name="T18" fmla="*/ 0 w 17"/>
                <a:gd name="T19" fmla="*/ 113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5"/>
                <a:gd name="T32" fmla="*/ 17 w 17"/>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5">
                  <a:moveTo>
                    <a:pt x="0" y="9"/>
                  </a:moveTo>
                  <a:lnTo>
                    <a:pt x="7" y="0"/>
                  </a:lnTo>
                  <a:lnTo>
                    <a:pt x="6" y="0"/>
                  </a:lnTo>
                  <a:lnTo>
                    <a:pt x="6" y="14"/>
                  </a:lnTo>
                  <a:lnTo>
                    <a:pt x="7" y="14"/>
                  </a:lnTo>
                  <a:lnTo>
                    <a:pt x="13" y="5"/>
                  </a:lnTo>
                  <a:lnTo>
                    <a:pt x="7" y="14"/>
                  </a:lnTo>
                  <a:lnTo>
                    <a:pt x="16" y="14"/>
                  </a:lnTo>
                  <a:lnTo>
                    <a:pt x="13" y="5"/>
                  </a:lnTo>
                  <a:lnTo>
                    <a:pt x="0"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0" name="Freeform 199">
              <a:extLst>
                <a:ext uri="{FF2B5EF4-FFF2-40B4-BE49-F238E27FC236}">
                  <a16:creationId xmlns:a16="http://schemas.microsoft.com/office/drawing/2014/main" id="{0BF9764E-4D5F-9120-F58A-A36665410F61}"/>
                </a:ext>
              </a:extLst>
            </p:cNvPr>
            <p:cNvSpPr>
              <a:spLocks/>
            </p:cNvSpPr>
            <p:nvPr/>
          </p:nvSpPr>
          <p:spPr bwMode="auto">
            <a:xfrm>
              <a:off x="2457" y="2753"/>
              <a:ext cx="135" cy="72"/>
            </a:xfrm>
            <a:custGeom>
              <a:avLst/>
              <a:gdLst>
                <a:gd name="T0" fmla="*/ 1876263 w 83"/>
                <a:gd name="T1" fmla="*/ 73 h 63"/>
                <a:gd name="T2" fmla="*/ 1826529 w 83"/>
                <a:gd name="T3" fmla="*/ 83 h 63"/>
                <a:gd name="T4" fmla="*/ 1693565 w 83"/>
                <a:gd name="T5" fmla="*/ 186 h 63"/>
                <a:gd name="T6" fmla="*/ 1396547 w 83"/>
                <a:gd name="T7" fmla="*/ 278 h 63"/>
                <a:gd name="T8" fmla="*/ 1010226 w 83"/>
                <a:gd name="T9" fmla="*/ 394 h 63"/>
                <a:gd name="T10" fmla="*/ 647263 w 83"/>
                <a:gd name="T11" fmla="*/ 514 h 63"/>
                <a:gd name="T12" fmla="*/ 298311 w 83"/>
                <a:gd name="T13" fmla="*/ 637 h 63"/>
                <a:gd name="T14" fmla="*/ 49802 w 83"/>
                <a:gd name="T15" fmla="*/ 808 h 63"/>
                <a:gd name="T16" fmla="*/ 0 w 83"/>
                <a:gd name="T17" fmla="*/ 1032 h 63"/>
                <a:gd name="T18" fmla="*/ 348552 w 83"/>
                <a:gd name="T19" fmla="*/ 951 h 63"/>
                <a:gd name="T20" fmla="*/ 348552 w 83"/>
                <a:gd name="T21" fmla="*/ 923 h 63"/>
                <a:gd name="T22" fmla="*/ 516027 w 83"/>
                <a:gd name="T23" fmla="*/ 823 h 63"/>
                <a:gd name="T24" fmla="*/ 823515 w 83"/>
                <a:gd name="T25" fmla="*/ 707 h 63"/>
                <a:gd name="T26" fmla="*/ 1206051 w 83"/>
                <a:gd name="T27" fmla="*/ 605 h 63"/>
                <a:gd name="T28" fmla="*/ 1581854 w 83"/>
                <a:gd name="T29" fmla="*/ 474 h 63"/>
                <a:gd name="T30" fmla="*/ 1911842 w 83"/>
                <a:gd name="T31" fmla="*/ 345 h 63"/>
                <a:gd name="T32" fmla="*/ 2147751 w 83"/>
                <a:gd name="T33" fmla="*/ 213 h 63"/>
                <a:gd name="T34" fmla="*/ 2229344 w 83"/>
                <a:gd name="T35" fmla="*/ 0 h 63"/>
                <a:gd name="T36" fmla="*/ 1876263 w 83"/>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7" y="5"/>
                  </a:lnTo>
                  <a:lnTo>
                    <a:pt x="62" y="11"/>
                  </a:lnTo>
                  <a:lnTo>
                    <a:pt x="51" y="17"/>
                  </a:lnTo>
                  <a:lnTo>
                    <a:pt x="37" y="24"/>
                  </a:lnTo>
                  <a:lnTo>
                    <a:pt x="24" y="31"/>
                  </a:lnTo>
                  <a:lnTo>
                    <a:pt x="11" y="39"/>
                  </a:lnTo>
                  <a:lnTo>
                    <a:pt x="2" y="49"/>
                  </a:lnTo>
                  <a:lnTo>
                    <a:pt x="0" y="62"/>
                  </a:lnTo>
                  <a:lnTo>
                    <a:pt x="13" y="58"/>
                  </a:lnTo>
                  <a:lnTo>
                    <a:pt x="13" y="56"/>
                  </a:lnTo>
                  <a:lnTo>
                    <a:pt x="19" y="50"/>
                  </a:lnTo>
                  <a:lnTo>
                    <a:pt x="30" y="43"/>
                  </a:lnTo>
                  <a:lnTo>
                    <a:pt x="44" y="36"/>
                  </a:lnTo>
                  <a:lnTo>
                    <a:pt x="58" y="29"/>
                  </a:lnTo>
                  <a:lnTo>
                    <a:pt x="70"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1" name="Freeform 200">
              <a:extLst>
                <a:ext uri="{FF2B5EF4-FFF2-40B4-BE49-F238E27FC236}">
                  <a16:creationId xmlns:a16="http://schemas.microsoft.com/office/drawing/2014/main" id="{5513D764-20CC-CB03-F61B-35C1CF8077C6}"/>
                </a:ext>
              </a:extLst>
            </p:cNvPr>
            <p:cNvSpPr>
              <a:spLocks/>
            </p:cNvSpPr>
            <p:nvPr/>
          </p:nvSpPr>
          <p:spPr bwMode="auto">
            <a:xfrm>
              <a:off x="2419" y="2724"/>
              <a:ext cx="173" cy="34"/>
            </a:xfrm>
            <a:custGeom>
              <a:avLst/>
              <a:gdLst>
                <a:gd name="T0" fmla="*/ 0 w 106"/>
                <a:gd name="T1" fmla="*/ 61 h 30"/>
                <a:gd name="T2" fmla="*/ 228735 w 106"/>
                <a:gd name="T3" fmla="*/ 186 h 30"/>
                <a:gd name="T4" fmla="*/ 609275 w 106"/>
                <a:gd name="T5" fmla="*/ 239 h 30"/>
                <a:gd name="T6" fmla="*/ 1059028 w 106"/>
                <a:gd name="T7" fmla="*/ 271 h 30"/>
                <a:gd name="T8" fmla="*/ 1530828 w 106"/>
                <a:gd name="T9" fmla="*/ 298 h 30"/>
                <a:gd name="T10" fmla="*/ 1989524 w 106"/>
                <a:gd name="T11" fmla="*/ 299 h 30"/>
                <a:gd name="T12" fmla="*/ 2370041 w 106"/>
                <a:gd name="T13" fmla="*/ 338 h 30"/>
                <a:gd name="T14" fmla="*/ 2648708 w 106"/>
                <a:gd name="T15" fmla="*/ 383 h 30"/>
                <a:gd name="T16" fmla="*/ 2702097 w 106"/>
                <a:gd name="T17" fmla="*/ 394 h 30"/>
                <a:gd name="T18" fmla="*/ 3075039 w 106"/>
                <a:gd name="T19" fmla="*/ 339 h 30"/>
                <a:gd name="T20" fmla="*/ 2820902 w 106"/>
                <a:gd name="T21" fmla="*/ 206 h 30"/>
                <a:gd name="T22" fmla="*/ 2468792 w 106"/>
                <a:gd name="T23" fmla="*/ 145 h 30"/>
                <a:gd name="T24" fmla="*/ 2027495 w 106"/>
                <a:gd name="T25" fmla="*/ 113 h 30"/>
                <a:gd name="T26" fmla="*/ 1568018 w 106"/>
                <a:gd name="T27" fmla="*/ 100 h 30"/>
                <a:gd name="T28" fmla="*/ 1079154 w 106"/>
                <a:gd name="T29" fmla="*/ 88 h 30"/>
                <a:gd name="T30" fmla="*/ 701815 w 106"/>
                <a:gd name="T31" fmla="*/ 69 h 30"/>
                <a:gd name="T32" fmla="*/ 430014 w 106"/>
                <a:gd name="T33" fmla="*/ 3 h 30"/>
                <a:gd name="T34" fmla="*/ 373313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1"/>
                  </a:lnTo>
                  <a:lnTo>
                    <a:pt x="68" y="22"/>
                  </a:lnTo>
                  <a:lnTo>
                    <a:pt x="81" y="24"/>
                  </a:lnTo>
                  <a:lnTo>
                    <a:pt x="90" y="27"/>
                  </a:lnTo>
                  <a:lnTo>
                    <a:pt x="92" y="29"/>
                  </a:lnTo>
                  <a:lnTo>
                    <a:pt x="105" y="25"/>
                  </a:lnTo>
                  <a:lnTo>
                    <a:pt x="96" y="15"/>
                  </a:lnTo>
                  <a:lnTo>
                    <a:pt x="84" y="11"/>
                  </a:lnTo>
                  <a:lnTo>
                    <a:pt x="69" y="9"/>
                  </a:lnTo>
                  <a:lnTo>
                    <a:pt x="53" y="8"/>
                  </a:lnTo>
                  <a:lnTo>
                    <a:pt x="37"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2" name="Freeform 201">
              <a:extLst>
                <a:ext uri="{FF2B5EF4-FFF2-40B4-BE49-F238E27FC236}">
                  <a16:creationId xmlns:a16="http://schemas.microsoft.com/office/drawing/2014/main" id="{541262BD-4D5C-F24F-C7C8-0F362C7D1DD5}"/>
                </a:ext>
              </a:extLst>
            </p:cNvPr>
            <p:cNvSpPr>
              <a:spLocks/>
            </p:cNvSpPr>
            <p:nvPr/>
          </p:nvSpPr>
          <p:spPr bwMode="auto">
            <a:xfrm>
              <a:off x="2419" y="2657"/>
              <a:ext cx="136" cy="72"/>
            </a:xfrm>
            <a:custGeom>
              <a:avLst/>
              <a:gdLst>
                <a:gd name="T0" fmla="*/ 2195491 w 83"/>
                <a:gd name="T1" fmla="*/ 3 h 63"/>
                <a:gd name="T2" fmla="*/ 2160471 w 83"/>
                <a:gd name="T3" fmla="*/ 83 h 63"/>
                <a:gd name="T4" fmla="*/ 1987493 w 83"/>
                <a:gd name="T5" fmla="*/ 186 h 63"/>
                <a:gd name="T6" fmla="*/ 1636031 w 83"/>
                <a:gd name="T7" fmla="*/ 278 h 63"/>
                <a:gd name="T8" fmla="*/ 1212955 w 83"/>
                <a:gd name="T9" fmla="*/ 394 h 63"/>
                <a:gd name="T10" fmla="*/ 761179 w 83"/>
                <a:gd name="T11" fmla="*/ 514 h 63"/>
                <a:gd name="T12" fmla="*/ 389068 w 83"/>
                <a:gd name="T13" fmla="*/ 637 h 63"/>
                <a:gd name="T14" fmla="*/ 56548 w 83"/>
                <a:gd name="T15" fmla="*/ 808 h 63"/>
                <a:gd name="T16" fmla="*/ 0 w 83"/>
                <a:gd name="T17" fmla="*/ 1032 h 63"/>
                <a:gd name="T18" fmla="*/ 407626 w 83"/>
                <a:gd name="T19" fmla="*/ 951 h 63"/>
                <a:gd name="T20" fmla="*/ 451776 w 83"/>
                <a:gd name="T21" fmla="*/ 905 h 63"/>
                <a:gd name="T22" fmla="*/ 637509 w 83"/>
                <a:gd name="T23" fmla="*/ 823 h 63"/>
                <a:gd name="T24" fmla="*/ 998460 w 83"/>
                <a:gd name="T25" fmla="*/ 707 h 63"/>
                <a:gd name="T26" fmla="*/ 1398653 w 83"/>
                <a:gd name="T27" fmla="*/ 605 h 63"/>
                <a:gd name="T28" fmla="*/ 1855348 w 83"/>
                <a:gd name="T29" fmla="*/ 474 h 63"/>
                <a:gd name="T30" fmla="*/ 2232686 w 83"/>
                <a:gd name="T31" fmla="*/ 345 h 63"/>
                <a:gd name="T32" fmla="*/ 2549956 w 83"/>
                <a:gd name="T33" fmla="*/ 202 h 63"/>
                <a:gd name="T34" fmla="*/ 2609697 w 83"/>
                <a:gd name="T35" fmla="*/ 0 h 63"/>
                <a:gd name="T36" fmla="*/ 2195491 w 83"/>
                <a:gd name="T37" fmla="*/ 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3"/>
                  </a:moveTo>
                  <a:lnTo>
                    <a:pt x="68" y="5"/>
                  </a:lnTo>
                  <a:lnTo>
                    <a:pt x="62" y="11"/>
                  </a:lnTo>
                  <a:lnTo>
                    <a:pt x="51" y="17"/>
                  </a:lnTo>
                  <a:lnTo>
                    <a:pt x="38" y="24"/>
                  </a:lnTo>
                  <a:lnTo>
                    <a:pt x="24" y="31"/>
                  </a:lnTo>
                  <a:lnTo>
                    <a:pt x="12" y="39"/>
                  </a:lnTo>
                  <a:lnTo>
                    <a:pt x="2" y="49"/>
                  </a:lnTo>
                  <a:lnTo>
                    <a:pt x="0" y="62"/>
                  </a:lnTo>
                  <a:lnTo>
                    <a:pt x="13" y="58"/>
                  </a:lnTo>
                  <a:lnTo>
                    <a:pt x="14" y="55"/>
                  </a:lnTo>
                  <a:lnTo>
                    <a:pt x="20" y="50"/>
                  </a:lnTo>
                  <a:lnTo>
                    <a:pt x="31" y="43"/>
                  </a:lnTo>
                  <a:lnTo>
                    <a:pt x="44" y="36"/>
                  </a:lnTo>
                  <a:lnTo>
                    <a:pt x="58" y="29"/>
                  </a:lnTo>
                  <a:lnTo>
                    <a:pt x="70" y="21"/>
                  </a:lnTo>
                  <a:lnTo>
                    <a:pt x="80" y="12"/>
                  </a:lnTo>
                  <a:lnTo>
                    <a:pt x="82" y="0"/>
                  </a:lnTo>
                  <a:lnTo>
                    <a:pt x="69"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3" name="Freeform 202">
              <a:extLst>
                <a:ext uri="{FF2B5EF4-FFF2-40B4-BE49-F238E27FC236}">
                  <a16:creationId xmlns:a16="http://schemas.microsoft.com/office/drawing/2014/main" id="{959CF9CA-360B-5EAA-AECF-111EA127611F}"/>
                </a:ext>
              </a:extLst>
            </p:cNvPr>
            <p:cNvSpPr>
              <a:spLocks/>
            </p:cNvSpPr>
            <p:nvPr/>
          </p:nvSpPr>
          <p:spPr bwMode="auto">
            <a:xfrm>
              <a:off x="2383" y="2631"/>
              <a:ext cx="172" cy="31"/>
            </a:xfrm>
            <a:custGeom>
              <a:avLst/>
              <a:gdLst>
                <a:gd name="T0" fmla="*/ 0 w 104"/>
                <a:gd name="T1" fmla="*/ 119 h 27"/>
                <a:gd name="T2" fmla="*/ 0 w 104"/>
                <a:gd name="T3" fmla="*/ 91 h 27"/>
                <a:gd name="T4" fmla="*/ 286119 w 104"/>
                <a:gd name="T5" fmla="*/ 249 h 27"/>
                <a:gd name="T6" fmla="*/ 782595 w 104"/>
                <a:gd name="T7" fmla="*/ 313 h 27"/>
                <a:gd name="T8" fmla="*/ 1361491 w 104"/>
                <a:gd name="T9" fmla="*/ 328 h 27"/>
                <a:gd name="T10" fmla="*/ 1967544 w 104"/>
                <a:gd name="T11" fmla="*/ 355 h 27"/>
                <a:gd name="T12" fmla="*/ 2552581 w 104"/>
                <a:gd name="T13" fmla="*/ 355 h 27"/>
                <a:gd name="T14" fmla="*/ 3076101 w 104"/>
                <a:gd name="T15" fmla="*/ 377 h 27"/>
                <a:gd name="T16" fmla="*/ 3421168 w 104"/>
                <a:gd name="T17" fmla="*/ 433 h 27"/>
                <a:gd name="T18" fmla="*/ 3487763 w 104"/>
                <a:gd name="T19" fmla="*/ 473 h 27"/>
                <a:gd name="T20" fmla="*/ 3985470 w 104"/>
                <a:gd name="T21" fmla="*/ 408 h 27"/>
                <a:gd name="T22" fmla="*/ 3627508 w 104"/>
                <a:gd name="T23" fmla="*/ 217 h 27"/>
                <a:gd name="T24" fmla="*/ 3186115 w 104"/>
                <a:gd name="T25" fmla="*/ 137 h 27"/>
                <a:gd name="T26" fmla="*/ 2606496 w 104"/>
                <a:gd name="T27" fmla="*/ 104 h 27"/>
                <a:gd name="T28" fmla="*/ 1967544 w 104"/>
                <a:gd name="T29" fmla="*/ 91 h 27"/>
                <a:gd name="T30" fmla="*/ 1361491 w 104"/>
                <a:gd name="T31" fmla="*/ 91 h 27"/>
                <a:gd name="T32" fmla="*/ 849172 w 104"/>
                <a:gd name="T33" fmla="*/ 79 h 27"/>
                <a:gd name="T34" fmla="*/ 537993 w 104"/>
                <a:gd name="T35" fmla="*/ 2 h 27"/>
                <a:gd name="T36" fmla="*/ 513453 w 104"/>
                <a:gd name="T37" fmla="*/ 1 h 27"/>
                <a:gd name="T38" fmla="*/ 473197 w 104"/>
                <a:gd name="T39" fmla="*/ 0 h 27"/>
                <a:gd name="T40" fmla="*/ 513453 w 104"/>
                <a:gd name="T41" fmla="*/ 1 h 27"/>
                <a:gd name="T42" fmla="*/ 473197 w 104"/>
                <a:gd name="T43" fmla="*/ 0 h 27"/>
                <a:gd name="T44" fmla="*/ 0 w 104"/>
                <a:gd name="T45" fmla="*/ 119 h 2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4"/>
                <a:gd name="T70" fmla="*/ 0 h 27"/>
                <a:gd name="T71" fmla="*/ 104 w 104"/>
                <a:gd name="T72" fmla="*/ 27 h 2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4" h="27">
                  <a:moveTo>
                    <a:pt x="0" y="7"/>
                  </a:moveTo>
                  <a:lnTo>
                    <a:pt x="0" y="5"/>
                  </a:lnTo>
                  <a:lnTo>
                    <a:pt x="7" y="14"/>
                  </a:lnTo>
                  <a:lnTo>
                    <a:pt x="20" y="17"/>
                  </a:lnTo>
                  <a:lnTo>
                    <a:pt x="35" y="18"/>
                  </a:lnTo>
                  <a:lnTo>
                    <a:pt x="51" y="19"/>
                  </a:lnTo>
                  <a:lnTo>
                    <a:pt x="66" y="19"/>
                  </a:lnTo>
                  <a:lnTo>
                    <a:pt x="79" y="21"/>
                  </a:lnTo>
                  <a:lnTo>
                    <a:pt x="88" y="24"/>
                  </a:lnTo>
                  <a:lnTo>
                    <a:pt x="90" y="26"/>
                  </a:lnTo>
                  <a:lnTo>
                    <a:pt x="103" y="22"/>
                  </a:lnTo>
                  <a:lnTo>
                    <a:pt x="94" y="12"/>
                  </a:lnTo>
                  <a:lnTo>
                    <a:pt x="82" y="8"/>
                  </a:lnTo>
                  <a:lnTo>
                    <a:pt x="67" y="6"/>
                  </a:lnTo>
                  <a:lnTo>
                    <a:pt x="51" y="5"/>
                  </a:lnTo>
                  <a:lnTo>
                    <a:pt x="35" y="5"/>
                  </a:lnTo>
                  <a:lnTo>
                    <a:pt x="22" y="4"/>
                  </a:lnTo>
                  <a:lnTo>
                    <a:pt x="14" y="2"/>
                  </a:lnTo>
                  <a:lnTo>
                    <a:pt x="13" y="1"/>
                  </a:lnTo>
                  <a:lnTo>
                    <a:pt x="12" y="0"/>
                  </a:lnTo>
                  <a:lnTo>
                    <a:pt x="13" y="1"/>
                  </a:lnTo>
                  <a:lnTo>
                    <a:pt x="12" y="0"/>
                  </a:lnTo>
                  <a:lnTo>
                    <a:pt x="0" y="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4" name="Freeform 203">
              <a:extLst>
                <a:ext uri="{FF2B5EF4-FFF2-40B4-BE49-F238E27FC236}">
                  <a16:creationId xmlns:a16="http://schemas.microsoft.com/office/drawing/2014/main" id="{8929F2DB-3E7C-63AF-69B1-A82CBF18D7D8}"/>
                </a:ext>
              </a:extLst>
            </p:cNvPr>
            <p:cNvSpPr>
              <a:spLocks/>
            </p:cNvSpPr>
            <p:nvPr/>
          </p:nvSpPr>
          <p:spPr bwMode="auto">
            <a:xfrm>
              <a:off x="2382" y="2630"/>
              <a:ext cx="24" cy="11"/>
            </a:xfrm>
            <a:custGeom>
              <a:avLst/>
              <a:gdLst>
                <a:gd name="T0" fmla="*/ 0 w 14"/>
                <a:gd name="T1" fmla="*/ 323 h 9"/>
                <a:gd name="T2" fmla="*/ 84792 w 14"/>
                <a:gd name="T3" fmla="*/ 395 h 9"/>
                <a:gd name="T4" fmla="*/ 84792 w 14"/>
                <a:gd name="T5" fmla="*/ 543 h 9"/>
                <a:gd name="T6" fmla="*/ 1057803 w 14"/>
                <a:gd name="T7" fmla="*/ 1 h 9"/>
                <a:gd name="T8" fmla="*/ 1012678 w 14"/>
                <a:gd name="T9" fmla="*/ 0 h 9"/>
                <a:gd name="T10" fmla="*/ 1057803 w 14"/>
                <a:gd name="T11" fmla="*/ 1 h 9"/>
                <a:gd name="T12" fmla="*/ 0 w 14"/>
                <a:gd name="T13" fmla="*/ 323 h 9"/>
                <a:gd name="T14" fmla="*/ 0 w 14"/>
                <a:gd name="T15" fmla="*/ 395 h 9"/>
                <a:gd name="T16" fmla="*/ 84792 w 14"/>
                <a:gd name="T17" fmla="*/ 395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1" y="6"/>
                  </a:lnTo>
                  <a:lnTo>
                    <a:pt x="1" y="8"/>
                  </a:lnTo>
                  <a:lnTo>
                    <a:pt x="13" y="1"/>
                  </a:lnTo>
                  <a:lnTo>
                    <a:pt x="12" y="0"/>
                  </a:lnTo>
                  <a:lnTo>
                    <a:pt x="13" y="1"/>
                  </a:lnTo>
                  <a:lnTo>
                    <a:pt x="0" y="5"/>
                  </a:lnTo>
                  <a:lnTo>
                    <a:pt x="0" y="6"/>
                  </a:lnTo>
                  <a:lnTo>
                    <a:pt x="1" y="6"/>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5" name="Freeform 204">
              <a:extLst>
                <a:ext uri="{FF2B5EF4-FFF2-40B4-BE49-F238E27FC236}">
                  <a16:creationId xmlns:a16="http://schemas.microsoft.com/office/drawing/2014/main" id="{32D66E9E-D898-DCF0-5861-EA5679846205}"/>
                </a:ext>
              </a:extLst>
            </p:cNvPr>
            <p:cNvSpPr>
              <a:spLocks/>
            </p:cNvSpPr>
            <p:nvPr/>
          </p:nvSpPr>
          <p:spPr bwMode="auto">
            <a:xfrm>
              <a:off x="2382" y="2565"/>
              <a:ext cx="135" cy="73"/>
            </a:xfrm>
            <a:custGeom>
              <a:avLst/>
              <a:gdLst>
                <a:gd name="T0" fmla="*/ 2394339 w 82"/>
                <a:gd name="T1" fmla="*/ 126 h 62"/>
                <a:gd name="T2" fmla="*/ 2353109 w 82"/>
                <a:gd name="T3" fmla="*/ 174 h 62"/>
                <a:gd name="T4" fmla="*/ 2149498 w 82"/>
                <a:gd name="T5" fmla="*/ 370 h 62"/>
                <a:gd name="T6" fmla="*/ 1793710 w 82"/>
                <a:gd name="T7" fmla="*/ 604 h 62"/>
                <a:gd name="T8" fmla="*/ 1352084 w 82"/>
                <a:gd name="T9" fmla="*/ 837 h 62"/>
                <a:gd name="T10" fmla="*/ 859589 w 82"/>
                <a:gd name="T11" fmla="*/ 1022 h 62"/>
                <a:gd name="T12" fmla="*/ 427515 w 82"/>
                <a:gd name="T13" fmla="*/ 1276 h 62"/>
                <a:gd name="T14" fmla="*/ 101853 w 82"/>
                <a:gd name="T15" fmla="*/ 1502 h 62"/>
                <a:gd name="T16" fmla="*/ 0 w 82"/>
                <a:gd name="T17" fmla="*/ 1896 h 62"/>
                <a:gd name="T18" fmla="*/ 454501 w 82"/>
                <a:gd name="T19" fmla="*/ 1787 h 62"/>
                <a:gd name="T20" fmla="*/ 498843 w 82"/>
                <a:gd name="T21" fmla="*/ 1736 h 62"/>
                <a:gd name="T22" fmla="*/ 661778 w 82"/>
                <a:gd name="T23" fmla="*/ 1594 h 62"/>
                <a:gd name="T24" fmla="*/ 1051098 w 82"/>
                <a:gd name="T25" fmla="*/ 1376 h 62"/>
                <a:gd name="T26" fmla="*/ 1549621 w 82"/>
                <a:gd name="T27" fmla="*/ 1161 h 62"/>
                <a:gd name="T28" fmla="*/ 2028125 w 82"/>
                <a:gd name="T29" fmla="*/ 921 h 62"/>
                <a:gd name="T30" fmla="*/ 2455820 w 82"/>
                <a:gd name="T31" fmla="*/ 711 h 62"/>
                <a:gd name="T32" fmla="*/ 2781519 w 82"/>
                <a:gd name="T33" fmla="*/ 393 h 62"/>
                <a:gd name="T34" fmla="*/ 2848938 w 82"/>
                <a:gd name="T35" fmla="*/ 0 h 62"/>
                <a:gd name="T36" fmla="*/ 2394339 w 82"/>
                <a:gd name="T37" fmla="*/ 126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2"/>
                <a:gd name="T59" fmla="*/ 82 w 82"/>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2">
                  <a:moveTo>
                    <a:pt x="68" y="4"/>
                  </a:moveTo>
                  <a:lnTo>
                    <a:pt x="67" y="6"/>
                  </a:lnTo>
                  <a:lnTo>
                    <a:pt x="61" y="12"/>
                  </a:lnTo>
                  <a:lnTo>
                    <a:pt x="51" y="19"/>
                  </a:lnTo>
                  <a:lnTo>
                    <a:pt x="38" y="26"/>
                  </a:lnTo>
                  <a:lnTo>
                    <a:pt x="24" y="33"/>
                  </a:lnTo>
                  <a:lnTo>
                    <a:pt x="12" y="41"/>
                  </a:lnTo>
                  <a:lnTo>
                    <a:pt x="3" y="48"/>
                  </a:lnTo>
                  <a:lnTo>
                    <a:pt x="0" y="61"/>
                  </a:lnTo>
                  <a:lnTo>
                    <a:pt x="13" y="58"/>
                  </a:lnTo>
                  <a:lnTo>
                    <a:pt x="14" y="56"/>
                  </a:lnTo>
                  <a:lnTo>
                    <a:pt x="19" y="51"/>
                  </a:lnTo>
                  <a:lnTo>
                    <a:pt x="30" y="45"/>
                  </a:lnTo>
                  <a:lnTo>
                    <a:pt x="44" y="37"/>
                  </a:lnTo>
                  <a:lnTo>
                    <a:pt x="58" y="30"/>
                  </a:lnTo>
                  <a:lnTo>
                    <a:pt x="70" y="22"/>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6" name="Freeform 205">
              <a:extLst>
                <a:ext uri="{FF2B5EF4-FFF2-40B4-BE49-F238E27FC236}">
                  <a16:creationId xmlns:a16="http://schemas.microsoft.com/office/drawing/2014/main" id="{00EA9C73-8D03-C80D-C969-317EBC921BB2}"/>
                </a:ext>
              </a:extLst>
            </p:cNvPr>
            <p:cNvSpPr>
              <a:spLocks/>
            </p:cNvSpPr>
            <p:nvPr/>
          </p:nvSpPr>
          <p:spPr bwMode="auto">
            <a:xfrm>
              <a:off x="2343" y="2537"/>
              <a:ext cx="174" cy="34"/>
            </a:xfrm>
            <a:custGeom>
              <a:avLst/>
              <a:gdLst>
                <a:gd name="T0" fmla="*/ 0 w 106"/>
                <a:gd name="T1" fmla="*/ 103 h 29"/>
                <a:gd name="T2" fmla="*/ 255808 w 106"/>
                <a:gd name="T3" fmla="*/ 368 h 29"/>
                <a:gd name="T4" fmla="*/ 689288 w 106"/>
                <a:gd name="T5" fmla="*/ 494 h 29"/>
                <a:gd name="T6" fmla="*/ 1189907 w 106"/>
                <a:gd name="T7" fmla="*/ 516 h 29"/>
                <a:gd name="T8" fmla="*/ 1762354 w 106"/>
                <a:gd name="T9" fmla="*/ 579 h 29"/>
                <a:gd name="T10" fmla="*/ 2226709 w 106"/>
                <a:gd name="T11" fmla="*/ 579 h 29"/>
                <a:gd name="T12" fmla="*/ 2681420 w 106"/>
                <a:gd name="T13" fmla="*/ 605 h 29"/>
                <a:gd name="T14" fmla="*/ 2987436 w 106"/>
                <a:gd name="T15" fmla="*/ 709 h 29"/>
                <a:gd name="T16" fmla="*/ 3048815 w 106"/>
                <a:gd name="T17" fmla="*/ 810 h 29"/>
                <a:gd name="T18" fmla="*/ 3468237 w 106"/>
                <a:gd name="T19" fmla="*/ 691 h 29"/>
                <a:gd name="T20" fmla="*/ 3206268 w 106"/>
                <a:gd name="T21" fmla="*/ 375 h 29"/>
                <a:gd name="T22" fmla="*/ 2792912 w 106"/>
                <a:gd name="T23" fmla="*/ 268 h 29"/>
                <a:gd name="T24" fmla="*/ 2274976 w 106"/>
                <a:gd name="T25" fmla="*/ 195 h 29"/>
                <a:gd name="T26" fmla="*/ 1762354 w 106"/>
                <a:gd name="T27" fmla="*/ 195 h 29"/>
                <a:gd name="T28" fmla="*/ 1250712 w 106"/>
                <a:gd name="T29" fmla="*/ 166 h 29"/>
                <a:gd name="T30" fmla="*/ 784113 w 106"/>
                <a:gd name="T31" fmla="*/ 121 h 29"/>
                <a:gd name="T32" fmla="*/ 503423 w 106"/>
                <a:gd name="T33" fmla="*/ 2 h 29"/>
                <a:gd name="T34" fmla="*/ 419911 w 106"/>
                <a:gd name="T35" fmla="*/ 0 h 29"/>
                <a:gd name="T36" fmla="*/ 0 w 106"/>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3" y="20"/>
                  </a:lnTo>
                  <a:lnTo>
                    <a:pt x="67" y="20"/>
                  </a:lnTo>
                  <a:lnTo>
                    <a:pt x="81" y="22"/>
                  </a:lnTo>
                  <a:lnTo>
                    <a:pt x="90" y="26"/>
                  </a:lnTo>
                  <a:lnTo>
                    <a:pt x="92" y="28"/>
                  </a:lnTo>
                  <a:lnTo>
                    <a:pt x="105" y="24"/>
                  </a:lnTo>
                  <a:lnTo>
                    <a:pt x="97" y="14"/>
                  </a:lnTo>
                  <a:lnTo>
                    <a:pt x="84" y="9"/>
                  </a:lnTo>
                  <a:lnTo>
                    <a:pt x="69" y="7"/>
                  </a:lnTo>
                  <a:lnTo>
                    <a:pt x="53" y="7"/>
                  </a:lnTo>
                  <a:lnTo>
                    <a:pt x="38" y="6"/>
                  </a:lnTo>
                  <a:lnTo>
                    <a:pt x="24" y="4"/>
                  </a:lnTo>
                  <a:lnTo>
                    <a:pt x="15"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7" name="Freeform 206">
              <a:extLst>
                <a:ext uri="{FF2B5EF4-FFF2-40B4-BE49-F238E27FC236}">
                  <a16:creationId xmlns:a16="http://schemas.microsoft.com/office/drawing/2014/main" id="{15F6B6AD-161E-F83C-A0C5-BD292D45C5FD}"/>
                </a:ext>
              </a:extLst>
            </p:cNvPr>
            <p:cNvSpPr>
              <a:spLocks/>
            </p:cNvSpPr>
            <p:nvPr/>
          </p:nvSpPr>
          <p:spPr bwMode="auto">
            <a:xfrm>
              <a:off x="2343" y="2470"/>
              <a:ext cx="138" cy="73"/>
            </a:xfrm>
            <a:custGeom>
              <a:avLst/>
              <a:gdLst>
                <a:gd name="T0" fmla="*/ 2353327 w 84"/>
                <a:gd name="T1" fmla="*/ 73 h 64"/>
                <a:gd name="T2" fmla="*/ 2325254 w 84"/>
                <a:gd name="T3" fmla="*/ 108 h 64"/>
                <a:gd name="T4" fmla="*/ 2114707 w 84"/>
                <a:gd name="T5" fmla="*/ 192 h 64"/>
                <a:gd name="T6" fmla="*/ 1748426 w 84"/>
                <a:gd name="T7" fmla="*/ 309 h 64"/>
                <a:gd name="T8" fmla="*/ 1309553 w 84"/>
                <a:gd name="T9" fmla="*/ 409 h 64"/>
                <a:gd name="T10" fmla="*/ 836973 w 84"/>
                <a:gd name="T11" fmla="*/ 533 h 64"/>
                <a:gd name="T12" fmla="*/ 439537 w 84"/>
                <a:gd name="T13" fmla="*/ 664 h 64"/>
                <a:gd name="T14" fmla="*/ 99128 w 84"/>
                <a:gd name="T15" fmla="*/ 792 h 64"/>
                <a:gd name="T16" fmla="*/ 0 w 84"/>
                <a:gd name="T17" fmla="*/ 1000 h 64"/>
                <a:gd name="T18" fmla="*/ 439537 w 84"/>
                <a:gd name="T19" fmla="*/ 931 h 64"/>
                <a:gd name="T20" fmla="*/ 509462 w 84"/>
                <a:gd name="T21" fmla="*/ 925 h 64"/>
                <a:gd name="T22" fmla="*/ 722097 w 84"/>
                <a:gd name="T23" fmla="*/ 811 h 64"/>
                <a:gd name="T24" fmla="*/ 1087333 w 84"/>
                <a:gd name="T25" fmla="*/ 711 h 64"/>
                <a:gd name="T26" fmla="*/ 1524090 w 84"/>
                <a:gd name="T27" fmla="*/ 598 h 64"/>
                <a:gd name="T28" fmla="*/ 1984371 w 84"/>
                <a:gd name="T29" fmla="*/ 482 h 64"/>
                <a:gd name="T30" fmla="*/ 2396631 w 84"/>
                <a:gd name="T31" fmla="*/ 359 h 64"/>
                <a:gd name="T32" fmla="*/ 2733325 w 84"/>
                <a:gd name="T33" fmla="*/ 209 h 64"/>
                <a:gd name="T34" fmla="*/ 2779841 w 84"/>
                <a:gd name="T35" fmla="*/ 0 h 64"/>
                <a:gd name="T36" fmla="*/ 2353327 w 84"/>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4"/>
                <a:gd name="T59" fmla="*/ 84 w 84"/>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4">
                  <a:moveTo>
                    <a:pt x="70" y="4"/>
                  </a:moveTo>
                  <a:lnTo>
                    <a:pt x="69" y="7"/>
                  </a:lnTo>
                  <a:lnTo>
                    <a:pt x="63" y="12"/>
                  </a:lnTo>
                  <a:lnTo>
                    <a:pt x="52" y="19"/>
                  </a:lnTo>
                  <a:lnTo>
                    <a:pt x="39" y="26"/>
                  </a:lnTo>
                  <a:lnTo>
                    <a:pt x="25" y="34"/>
                  </a:lnTo>
                  <a:lnTo>
                    <a:pt x="13" y="41"/>
                  </a:lnTo>
                  <a:lnTo>
                    <a:pt x="3" y="50"/>
                  </a:lnTo>
                  <a:lnTo>
                    <a:pt x="0" y="63"/>
                  </a:lnTo>
                  <a:lnTo>
                    <a:pt x="13" y="59"/>
                  </a:lnTo>
                  <a:lnTo>
                    <a:pt x="15" y="58"/>
                  </a:lnTo>
                  <a:lnTo>
                    <a:pt x="21" y="51"/>
                  </a:lnTo>
                  <a:lnTo>
                    <a:pt x="32" y="45"/>
                  </a:lnTo>
                  <a:lnTo>
                    <a:pt x="45" y="38"/>
                  </a:lnTo>
                  <a:lnTo>
                    <a:pt x="59" y="31"/>
                  </a:lnTo>
                  <a:lnTo>
                    <a:pt x="71" y="23"/>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8" name="Freeform 207">
              <a:extLst>
                <a:ext uri="{FF2B5EF4-FFF2-40B4-BE49-F238E27FC236}">
                  <a16:creationId xmlns:a16="http://schemas.microsoft.com/office/drawing/2014/main" id="{ACA82998-A453-C940-DACF-70F1986F5C89}"/>
                </a:ext>
              </a:extLst>
            </p:cNvPr>
            <p:cNvSpPr>
              <a:spLocks/>
            </p:cNvSpPr>
            <p:nvPr/>
          </p:nvSpPr>
          <p:spPr bwMode="auto">
            <a:xfrm>
              <a:off x="2307" y="2442"/>
              <a:ext cx="174" cy="33"/>
            </a:xfrm>
            <a:custGeom>
              <a:avLst/>
              <a:gdLst>
                <a:gd name="T0" fmla="*/ 0 w 106"/>
                <a:gd name="T1" fmla="*/ 68 h 29"/>
                <a:gd name="T2" fmla="*/ 306683 w 106"/>
                <a:gd name="T3" fmla="*/ 207 h 29"/>
                <a:gd name="T4" fmla="*/ 689288 w 106"/>
                <a:gd name="T5" fmla="*/ 247 h 29"/>
                <a:gd name="T6" fmla="*/ 1189907 w 106"/>
                <a:gd name="T7" fmla="*/ 281 h 29"/>
                <a:gd name="T8" fmla="*/ 1723619 w 106"/>
                <a:gd name="T9" fmla="*/ 306 h 29"/>
                <a:gd name="T10" fmla="*/ 2261872 w 106"/>
                <a:gd name="T11" fmla="*/ 316 h 29"/>
                <a:gd name="T12" fmla="*/ 2681420 w 106"/>
                <a:gd name="T13" fmla="*/ 320 h 29"/>
                <a:gd name="T14" fmla="*/ 2950607 w 106"/>
                <a:gd name="T15" fmla="*/ 364 h 29"/>
                <a:gd name="T16" fmla="*/ 3048815 w 106"/>
                <a:gd name="T17" fmla="*/ 414 h 29"/>
                <a:gd name="T18" fmla="*/ 3468237 w 106"/>
                <a:gd name="T19" fmla="*/ 360 h 29"/>
                <a:gd name="T20" fmla="*/ 3206268 w 106"/>
                <a:gd name="T21" fmla="*/ 207 h 29"/>
                <a:gd name="T22" fmla="*/ 2742357 w 106"/>
                <a:gd name="T23" fmla="*/ 148 h 29"/>
                <a:gd name="T24" fmla="*/ 2274976 w 106"/>
                <a:gd name="T25" fmla="*/ 114 h 29"/>
                <a:gd name="T26" fmla="*/ 1762354 w 106"/>
                <a:gd name="T27" fmla="*/ 100 h 29"/>
                <a:gd name="T28" fmla="*/ 1229571 w 106"/>
                <a:gd name="T29" fmla="*/ 88 h 29"/>
                <a:gd name="T30" fmla="*/ 784113 w 106"/>
                <a:gd name="T31" fmla="*/ 68 h 29"/>
                <a:gd name="T32" fmla="*/ 503423 w 106"/>
                <a:gd name="T33" fmla="*/ 2 h 29"/>
                <a:gd name="T34" fmla="*/ 419911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9" y="14"/>
                  </a:lnTo>
                  <a:lnTo>
                    <a:pt x="21" y="17"/>
                  </a:lnTo>
                  <a:lnTo>
                    <a:pt x="36" y="19"/>
                  </a:lnTo>
                  <a:lnTo>
                    <a:pt x="52" y="20"/>
                  </a:lnTo>
                  <a:lnTo>
                    <a:pt x="68" y="21"/>
                  </a:lnTo>
                  <a:lnTo>
                    <a:pt x="81" y="22"/>
                  </a:lnTo>
                  <a:lnTo>
                    <a:pt x="89" y="25"/>
                  </a:lnTo>
                  <a:lnTo>
                    <a:pt x="92" y="28"/>
                  </a:lnTo>
                  <a:lnTo>
                    <a:pt x="105" y="24"/>
                  </a:lnTo>
                  <a:lnTo>
                    <a:pt x="97" y="14"/>
                  </a:lnTo>
                  <a:lnTo>
                    <a:pt x="83" y="10"/>
                  </a:lnTo>
                  <a:lnTo>
                    <a:pt x="69" y="8"/>
                  </a:lnTo>
                  <a:lnTo>
                    <a:pt x="53" y="7"/>
                  </a:lnTo>
                  <a:lnTo>
                    <a:pt x="37" y="6"/>
                  </a:lnTo>
                  <a:lnTo>
                    <a:pt x="24"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89" name="Freeform 208">
              <a:extLst>
                <a:ext uri="{FF2B5EF4-FFF2-40B4-BE49-F238E27FC236}">
                  <a16:creationId xmlns:a16="http://schemas.microsoft.com/office/drawing/2014/main" id="{C672408C-9E4C-097C-1CED-4477EFF6FA3B}"/>
                </a:ext>
              </a:extLst>
            </p:cNvPr>
            <p:cNvSpPr>
              <a:spLocks/>
            </p:cNvSpPr>
            <p:nvPr/>
          </p:nvSpPr>
          <p:spPr bwMode="auto">
            <a:xfrm>
              <a:off x="2307" y="2379"/>
              <a:ext cx="139" cy="68"/>
            </a:xfrm>
            <a:custGeom>
              <a:avLst/>
              <a:gdLst>
                <a:gd name="T0" fmla="*/ 2176640 w 85"/>
                <a:gd name="T1" fmla="*/ 137 h 59"/>
                <a:gd name="T2" fmla="*/ 2176640 w 85"/>
                <a:gd name="T3" fmla="*/ 103 h 59"/>
                <a:gd name="T4" fmla="*/ 2115439 w 85"/>
                <a:gd name="T5" fmla="*/ 137 h 59"/>
                <a:gd name="T6" fmla="*/ 1925866 w 85"/>
                <a:gd name="T7" fmla="*/ 221 h 59"/>
                <a:gd name="T8" fmla="*/ 1621167 w 85"/>
                <a:gd name="T9" fmla="*/ 339 h 59"/>
                <a:gd name="T10" fmla="*/ 1202759 w 85"/>
                <a:gd name="T11" fmla="*/ 451 h 59"/>
                <a:gd name="T12" fmla="*/ 769815 w 85"/>
                <a:gd name="T13" fmla="*/ 589 h 59"/>
                <a:gd name="T14" fmla="*/ 329412 w 85"/>
                <a:gd name="T15" fmla="*/ 690 h 59"/>
                <a:gd name="T16" fmla="*/ 54877 w 85"/>
                <a:gd name="T17" fmla="*/ 896 h 59"/>
                <a:gd name="T18" fmla="*/ 0 w 85"/>
                <a:gd name="T19" fmla="*/ 1156 h 59"/>
                <a:gd name="T20" fmla="*/ 392440 w 85"/>
                <a:gd name="T21" fmla="*/ 1056 h 59"/>
                <a:gd name="T22" fmla="*/ 392440 w 85"/>
                <a:gd name="T23" fmla="*/ 1040 h 59"/>
                <a:gd name="T24" fmla="*/ 580820 w 85"/>
                <a:gd name="T25" fmla="*/ 942 h 59"/>
                <a:gd name="T26" fmla="*/ 914232 w 85"/>
                <a:gd name="T27" fmla="*/ 817 h 59"/>
                <a:gd name="T28" fmla="*/ 1351688 w 85"/>
                <a:gd name="T29" fmla="*/ 690 h 59"/>
                <a:gd name="T30" fmla="*/ 1770119 w 85"/>
                <a:gd name="T31" fmla="*/ 569 h 59"/>
                <a:gd name="T32" fmla="*/ 2176640 w 85"/>
                <a:gd name="T33" fmla="*/ 451 h 59"/>
                <a:gd name="T34" fmla="*/ 2469536 w 85"/>
                <a:gd name="T35" fmla="*/ 279 h 59"/>
                <a:gd name="T36" fmla="*/ 2563417 w 85"/>
                <a:gd name="T37" fmla="*/ 1 h 59"/>
                <a:gd name="T38" fmla="*/ 2539975 w 85"/>
                <a:gd name="T39" fmla="*/ 0 h 59"/>
                <a:gd name="T40" fmla="*/ 2563417 w 85"/>
                <a:gd name="T41" fmla="*/ 1 h 59"/>
                <a:gd name="T42" fmla="*/ 2539975 w 85"/>
                <a:gd name="T43" fmla="*/ 0 h 59"/>
                <a:gd name="T44" fmla="*/ 2176640 w 85"/>
                <a:gd name="T45" fmla="*/ 137 h 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9"/>
                <a:gd name="T71" fmla="*/ 85 w 85"/>
                <a:gd name="T72" fmla="*/ 59 h 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9">
                  <a:moveTo>
                    <a:pt x="71" y="7"/>
                  </a:moveTo>
                  <a:lnTo>
                    <a:pt x="71" y="5"/>
                  </a:lnTo>
                  <a:lnTo>
                    <a:pt x="69" y="7"/>
                  </a:lnTo>
                  <a:lnTo>
                    <a:pt x="63" y="11"/>
                  </a:lnTo>
                  <a:lnTo>
                    <a:pt x="53" y="17"/>
                  </a:lnTo>
                  <a:lnTo>
                    <a:pt x="39" y="23"/>
                  </a:lnTo>
                  <a:lnTo>
                    <a:pt x="25" y="30"/>
                  </a:lnTo>
                  <a:lnTo>
                    <a:pt x="11" y="36"/>
                  </a:lnTo>
                  <a:lnTo>
                    <a:pt x="2" y="45"/>
                  </a:lnTo>
                  <a:lnTo>
                    <a:pt x="0" y="58"/>
                  </a:lnTo>
                  <a:lnTo>
                    <a:pt x="13" y="54"/>
                  </a:lnTo>
                  <a:lnTo>
                    <a:pt x="13" y="53"/>
                  </a:lnTo>
                  <a:lnTo>
                    <a:pt x="19" y="48"/>
                  </a:lnTo>
                  <a:lnTo>
                    <a:pt x="30" y="42"/>
                  </a:lnTo>
                  <a:lnTo>
                    <a:pt x="44" y="36"/>
                  </a:lnTo>
                  <a:lnTo>
                    <a:pt x="58" y="29"/>
                  </a:lnTo>
                  <a:lnTo>
                    <a:pt x="71" y="23"/>
                  </a:lnTo>
                  <a:lnTo>
                    <a:pt x="81" y="14"/>
                  </a:lnTo>
                  <a:lnTo>
                    <a:pt x="84" y="1"/>
                  </a:lnTo>
                  <a:lnTo>
                    <a:pt x="83" y="0"/>
                  </a:lnTo>
                  <a:lnTo>
                    <a:pt x="84" y="1"/>
                  </a:lnTo>
                  <a:lnTo>
                    <a:pt x="83" y="0"/>
                  </a:lnTo>
                  <a:lnTo>
                    <a:pt x="71" y="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0" name="Freeform 209">
              <a:extLst>
                <a:ext uri="{FF2B5EF4-FFF2-40B4-BE49-F238E27FC236}">
                  <a16:creationId xmlns:a16="http://schemas.microsoft.com/office/drawing/2014/main" id="{7578CCB2-2716-1938-2EEB-881D010670DF}"/>
                </a:ext>
              </a:extLst>
            </p:cNvPr>
            <p:cNvSpPr>
              <a:spLocks/>
            </p:cNvSpPr>
            <p:nvPr/>
          </p:nvSpPr>
          <p:spPr bwMode="auto">
            <a:xfrm>
              <a:off x="2421" y="2378"/>
              <a:ext cx="24" cy="11"/>
            </a:xfrm>
            <a:custGeom>
              <a:avLst/>
              <a:gdLst>
                <a:gd name="T0" fmla="*/ 0 w 14"/>
                <a:gd name="T1" fmla="*/ 323 h 9"/>
                <a:gd name="T2" fmla="*/ 84792 w 14"/>
                <a:gd name="T3" fmla="*/ 395 h 9"/>
                <a:gd name="T4" fmla="*/ 84792 w 14"/>
                <a:gd name="T5" fmla="*/ 543 h 9"/>
                <a:gd name="T6" fmla="*/ 1057803 w 14"/>
                <a:gd name="T7" fmla="*/ 1 h 9"/>
                <a:gd name="T8" fmla="*/ 1012678 w 14"/>
                <a:gd name="T9" fmla="*/ 0 h 9"/>
                <a:gd name="T10" fmla="*/ 1057803 w 14"/>
                <a:gd name="T11" fmla="*/ 1 h 9"/>
                <a:gd name="T12" fmla="*/ 0 w 14"/>
                <a:gd name="T13" fmla="*/ 323 h 9"/>
                <a:gd name="T14" fmla="*/ 0 w 14"/>
                <a:gd name="T15" fmla="*/ 395 h 9"/>
                <a:gd name="T16" fmla="*/ 84792 w 14"/>
                <a:gd name="T17" fmla="*/ 395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1" y="6"/>
                  </a:lnTo>
                  <a:lnTo>
                    <a:pt x="1" y="8"/>
                  </a:lnTo>
                  <a:lnTo>
                    <a:pt x="13" y="1"/>
                  </a:lnTo>
                  <a:lnTo>
                    <a:pt x="12" y="0"/>
                  </a:lnTo>
                  <a:lnTo>
                    <a:pt x="13" y="1"/>
                  </a:lnTo>
                  <a:lnTo>
                    <a:pt x="0" y="5"/>
                  </a:lnTo>
                  <a:lnTo>
                    <a:pt x="0" y="6"/>
                  </a:lnTo>
                  <a:lnTo>
                    <a:pt x="1" y="6"/>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1" name="Freeform 210">
              <a:extLst>
                <a:ext uri="{FF2B5EF4-FFF2-40B4-BE49-F238E27FC236}">
                  <a16:creationId xmlns:a16="http://schemas.microsoft.com/office/drawing/2014/main" id="{CC0BC531-A12B-3DF1-9347-5BB9B93DBFA9}"/>
                </a:ext>
              </a:extLst>
            </p:cNvPr>
            <p:cNvSpPr>
              <a:spLocks/>
            </p:cNvSpPr>
            <p:nvPr/>
          </p:nvSpPr>
          <p:spPr bwMode="auto">
            <a:xfrm>
              <a:off x="2270" y="2351"/>
              <a:ext cx="175" cy="35"/>
            </a:xfrm>
            <a:custGeom>
              <a:avLst/>
              <a:gdLst>
                <a:gd name="T0" fmla="*/ 0 w 106"/>
                <a:gd name="T1" fmla="*/ 162 h 29"/>
                <a:gd name="T2" fmla="*/ 291842 w 106"/>
                <a:gd name="T3" fmla="*/ 683 h 29"/>
                <a:gd name="T4" fmla="*/ 795449 w 106"/>
                <a:gd name="T5" fmla="*/ 824 h 29"/>
                <a:gd name="T6" fmla="*/ 1328805 w 106"/>
                <a:gd name="T7" fmla="*/ 962 h 29"/>
                <a:gd name="T8" fmla="*/ 1941196 w 106"/>
                <a:gd name="T9" fmla="*/ 962 h 29"/>
                <a:gd name="T10" fmla="*/ 2508326 w 106"/>
                <a:gd name="T11" fmla="*/ 962 h 29"/>
                <a:gd name="T12" fmla="*/ 2989299 w 106"/>
                <a:gd name="T13" fmla="*/ 1050 h 29"/>
                <a:gd name="T14" fmla="*/ 3328313 w 106"/>
                <a:gd name="T15" fmla="*/ 1267 h 29"/>
                <a:gd name="T16" fmla="*/ 3435385 w 106"/>
                <a:gd name="T17" fmla="*/ 1448 h 29"/>
                <a:gd name="T18" fmla="*/ 3917132 w 106"/>
                <a:gd name="T19" fmla="*/ 1267 h 29"/>
                <a:gd name="T20" fmla="*/ 3621810 w 106"/>
                <a:gd name="T21" fmla="*/ 683 h 29"/>
                <a:gd name="T22" fmla="*/ 3136520 w 106"/>
                <a:gd name="T23" fmla="*/ 345 h 29"/>
                <a:gd name="T24" fmla="*/ 2534104 w 106"/>
                <a:gd name="T25" fmla="*/ 237 h 29"/>
                <a:gd name="T26" fmla="*/ 1941196 w 106"/>
                <a:gd name="T27" fmla="*/ 162 h 29"/>
                <a:gd name="T28" fmla="*/ 1328805 w 106"/>
                <a:gd name="T29" fmla="*/ 162 h 29"/>
                <a:gd name="T30" fmla="*/ 804876 w 106"/>
                <a:gd name="T31" fmla="*/ 162 h 29"/>
                <a:gd name="T32" fmla="*/ 563155 w 106"/>
                <a:gd name="T33" fmla="*/ 1 h 29"/>
                <a:gd name="T34" fmla="*/ 481815 w 106"/>
                <a:gd name="T35" fmla="*/ 0 h 29"/>
                <a:gd name="T36" fmla="*/ 0 w 106"/>
                <a:gd name="T37" fmla="*/ 162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6"/>
                  </a:lnTo>
                  <a:lnTo>
                    <a:pt x="36" y="18"/>
                  </a:lnTo>
                  <a:lnTo>
                    <a:pt x="52" y="18"/>
                  </a:lnTo>
                  <a:lnTo>
                    <a:pt x="67" y="18"/>
                  </a:lnTo>
                  <a:lnTo>
                    <a:pt x="80" y="20"/>
                  </a:lnTo>
                  <a:lnTo>
                    <a:pt x="89" y="24"/>
                  </a:lnTo>
                  <a:lnTo>
                    <a:pt x="92" y="28"/>
                  </a:lnTo>
                  <a:lnTo>
                    <a:pt x="105" y="24"/>
                  </a:lnTo>
                  <a:lnTo>
                    <a:pt x="97" y="13"/>
                  </a:lnTo>
                  <a:lnTo>
                    <a:pt x="84" y="7"/>
                  </a:lnTo>
                  <a:lnTo>
                    <a:pt x="68" y="5"/>
                  </a:lnTo>
                  <a:lnTo>
                    <a:pt x="52" y="3"/>
                  </a:lnTo>
                  <a:lnTo>
                    <a:pt x="36" y="3"/>
                  </a:lnTo>
                  <a:lnTo>
                    <a:pt x="22" y="3"/>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2" name="Freeform 211">
              <a:extLst>
                <a:ext uri="{FF2B5EF4-FFF2-40B4-BE49-F238E27FC236}">
                  <a16:creationId xmlns:a16="http://schemas.microsoft.com/office/drawing/2014/main" id="{3B2AE7CB-297E-D10A-DFB2-7928D01A2012}"/>
                </a:ext>
              </a:extLst>
            </p:cNvPr>
            <p:cNvSpPr>
              <a:spLocks/>
            </p:cNvSpPr>
            <p:nvPr/>
          </p:nvSpPr>
          <p:spPr bwMode="auto">
            <a:xfrm>
              <a:off x="2270" y="2284"/>
              <a:ext cx="137" cy="74"/>
            </a:xfrm>
            <a:custGeom>
              <a:avLst/>
              <a:gdLst>
                <a:gd name="T0" fmla="*/ 2566051 w 83"/>
                <a:gd name="T1" fmla="*/ 93 h 64"/>
                <a:gd name="T2" fmla="*/ 2566051 w 83"/>
                <a:gd name="T3" fmla="*/ 145 h 64"/>
                <a:gd name="T4" fmla="*/ 2349936 w 83"/>
                <a:gd name="T5" fmla="*/ 259 h 64"/>
                <a:gd name="T6" fmla="*/ 1933123 w 83"/>
                <a:gd name="T7" fmla="*/ 400 h 64"/>
                <a:gd name="T8" fmla="*/ 1423684 w 83"/>
                <a:gd name="T9" fmla="*/ 546 h 64"/>
                <a:gd name="T10" fmla="*/ 901473 w 83"/>
                <a:gd name="T11" fmla="*/ 716 h 64"/>
                <a:gd name="T12" fmla="*/ 446998 w 83"/>
                <a:gd name="T13" fmla="*/ 845 h 64"/>
                <a:gd name="T14" fmla="*/ 64690 w 83"/>
                <a:gd name="T15" fmla="*/ 1059 h 64"/>
                <a:gd name="T16" fmla="*/ 0 w 83"/>
                <a:gd name="T17" fmla="*/ 1319 h 64"/>
                <a:gd name="T18" fmla="*/ 480180 w 83"/>
                <a:gd name="T19" fmla="*/ 1234 h 64"/>
                <a:gd name="T20" fmla="*/ 522551 w 83"/>
                <a:gd name="T21" fmla="*/ 1224 h 64"/>
                <a:gd name="T22" fmla="*/ 737816 w 83"/>
                <a:gd name="T23" fmla="*/ 1067 h 64"/>
                <a:gd name="T24" fmla="*/ 1147807 w 83"/>
                <a:gd name="T25" fmla="*/ 957 h 64"/>
                <a:gd name="T26" fmla="*/ 1664712 w 83"/>
                <a:gd name="T27" fmla="*/ 798 h 64"/>
                <a:gd name="T28" fmla="*/ 2159391 w 83"/>
                <a:gd name="T29" fmla="*/ 673 h 64"/>
                <a:gd name="T30" fmla="*/ 2640814 w 83"/>
                <a:gd name="T31" fmla="*/ 503 h 64"/>
                <a:gd name="T32" fmla="*/ 2976645 w 83"/>
                <a:gd name="T33" fmla="*/ 281 h 64"/>
                <a:gd name="T34" fmla="*/ 3041930 w 83"/>
                <a:gd name="T35" fmla="*/ 0 h 64"/>
                <a:gd name="T36" fmla="*/ 2566051 w 83"/>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9" y="7"/>
                  </a:lnTo>
                  <a:lnTo>
                    <a:pt x="63" y="12"/>
                  </a:lnTo>
                  <a:lnTo>
                    <a:pt x="52" y="19"/>
                  </a:lnTo>
                  <a:lnTo>
                    <a:pt x="38" y="26"/>
                  </a:lnTo>
                  <a:lnTo>
                    <a:pt x="24" y="34"/>
                  </a:lnTo>
                  <a:lnTo>
                    <a:pt x="12" y="41"/>
                  </a:lnTo>
                  <a:lnTo>
                    <a:pt x="2" y="50"/>
                  </a:lnTo>
                  <a:lnTo>
                    <a:pt x="0" y="63"/>
                  </a:lnTo>
                  <a:lnTo>
                    <a:pt x="13" y="59"/>
                  </a:lnTo>
                  <a:lnTo>
                    <a:pt x="14" y="58"/>
                  </a:lnTo>
                  <a:lnTo>
                    <a:pt x="20" y="51"/>
                  </a:lnTo>
                  <a:lnTo>
                    <a:pt x="31" y="45"/>
                  </a:lnTo>
                  <a:lnTo>
                    <a:pt x="45" y="38"/>
                  </a:lnTo>
                  <a:lnTo>
                    <a:pt x="58" y="31"/>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3" name="Freeform 212">
              <a:extLst>
                <a:ext uri="{FF2B5EF4-FFF2-40B4-BE49-F238E27FC236}">
                  <a16:creationId xmlns:a16="http://schemas.microsoft.com/office/drawing/2014/main" id="{8A41AA53-BA5E-4951-D986-08E377CBD7EF}"/>
                </a:ext>
              </a:extLst>
            </p:cNvPr>
            <p:cNvSpPr>
              <a:spLocks/>
            </p:cNvSpPr>
            <p:nvPr/>
          </p:nvSpPr>
          <p:spPr bwMode="auto">
            <a:xfrm>
              <a:off x="2232" y="2257"/>
              <a:ext cx="175" cy="33"/>
            </a:xfrm>
            <a:custGeom>
              <a:avLst/>
              <a:gdLst>
                <a:gd name="T0" fmla="*/ 0 w 106"/>
                <a:gd name="T1" fmla="*/ 68 h 29"/>
                <a:gd name="T2" fmla="*/ 291842 w 106"/>
                <a:gd name="T3" fmla="*/ 207 h 29"/>
                <a:gd name="T4" fmla="*/ 795449 w 106"/>
                <a:gd name="T5" fmla="*/ 247 h 29"/>
                <a:gd name="T6" fmla="*/ 1328805 w 106"/>
                <a:gd name="T7" fmla="*/ 281 h 29"/>
                <a:gd name="T8" fmla="*/ 1941196 w 106"/>
                <a:gd name="T9" fmla="*/ 306 h 29"/>
                <a:gd name="T10" fmla="*/ 2534104 w 106"/>
                <a:gd name="T11" fmla="*/ 316 h 29"/>
                <a:gd name="T12" fmla="*/ 3033331 w 106"/>
                <a:gd name="T13" fmla="*/ 348 h 29"/>
                <a:gd name="T14" fmla="*/ 3369257 w 106"/>
                <a:gd name="T15" fmla="*/ 396 h 29"/>
                <a:gd name="T16" fmla="*/ 3435385 w 106"/>
                <a:gd name="T17" fmla="*/ 414 h 29"/>
                <a:gd name="T18" fmla="*/ 3917132 w 106"/>
                <a:gd name="T19" fmla="*/ 364 h 29"/>
                <a:gd name="T20" fmla="*/ 3621810 w 106"/>
                <a:gd name="T21" fmla="*/ 207 h 29"/>
                <a:gd name="T22" fmla="*/ 3136520 w 106"/>
                <a:gd name="T23" fmla="*/ 148 h 29"/>
                <a:gd name="T24" fmla="*/ 2573651 w 106"/>
                <a:gd name="T25" fmla="*/ 114 h 29"/>
                <a:gd name="T26" fmla="*/ 1984779 w 106"/>
                <a:gd name="T27" fmla="*/ 100 h 29"/>
                <a:gd name="T28" fmla="*/ 1427982 w 106"/>
                <a:gd name="T29" fmla="*/ 88 h 29"/>
                <a:gd name="T30" fmla="*/ 904506 w 106"/>
                <a:gd name="T31" fmla="*/ 68 h 29"/>
                <a:gd name="T32" fmla="*/ 563155 w 106"/>
                <a:gd name="T33" fmla="*/ 2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1" y="17"/>
                  </a:lnTo>
                  <a:lnTo>
                    <a:pt x="36" y="19"/>
                  </a:lnTo>
                  <a:lnTo>
                    <a:pt x="52" y="20"/>
                  </a:lnTo>
                  <a:lnTo>
                    <a:pt x="68" y="21"/>
                  </a:lnTo>
                  <a:lnTo>
                    <a:pt x="81" y="23"/>
                  </a:lnTo>
                  <a:lnTo>
                    <a:pt x="90" y="26"/>
                  </a:lnTo>
                  <a:lnTo>
                    <a:pt x="92" y="28"/>
                  </a:lnTo>
                  <a:lnTo>
                    <a:pt x="105" y="25"/>
                  </a:lnTo>
                  <a:lnTo>
                    <a:pt x="97" y="14"/>
                  </a:lnTo>
                  <a:lnTo>
                    <a:pt x="84" y="10"/>
                  </a:lnTo>
                  <a:lnTo>
                    <a:pt x="69" y="8"/>
                  </a:lnTo>
                  <a:lnTo>
                    <a:pt x="53" y="7"/>
                  </a:lnTo>
                  <a:lnTo>
                    <a:pt x="38" y="6"/>
                  </a:lnTo>
                  <a:lnTo>
                    <a:pt x="24"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4" name="Freeform 213">
              <a:extLst>
                <a:ext uri="{FF2B5EF4-FFF2-40B4-BE49-F238E27FC236}">
                  <a16:creationId xmlns:a16="http://schemas.microsoft.com/office/drawing/2014/main" id="{A2436FFE-1E3C-81DC-43F0-1F9EA44B0664}"/>
                </a:ext>
              </a:extLst>
            </p:cNvPr>
            <p:cNvSpPr>
              <a:spLocks/>
            </p:cNvSpPr>
            <p:nvPr/>
          </p:nvSpPr>
          <p:spPr bwMode="auto">
            <a:xfrm>
              <a:off x="2232" y="2194"/>
              <a:ext cx="142" cy="68"/>
            </a:xfrm>
            <a:custGeom>
              <a:avLst/>
              <a:gdLst>
                <a:gd name="T0" fmla="*/ 2656439 w 86"/>
                <a:gd name="T1" fmla="*/ 2 h 59"/>
                <a:gd name="T2" fmla="*/ 2656439 w 86"/>
                <a:gd name="T3" fmla="*/ 89 h 59"/>
                <a:gd name="T4" fmla="*/ 2656439 w 86"/>
                <a:gd name="T5" fmla="*/ 3 h 59"/>
                <a:gd name="T6" fmla="*/ 2362437 w 86"/>
                <a:gd name="T7" fmla="*/ 158 h 59"/>
                <a:gd name="T8" fmla="*/ 1944896 w 86"/>
                <a:gd name="T9" fmla="*/ 294 h 59"/>
                <a:gd name="T10" fmla="*/ 1456690 w 86"/>
                <a:gd name="T11" fmla="*/ 428 h 59"/>
                <a:gd name="T12" fmla="*/ 931604 w 86"/>
                <a:gd name="T13" fmla="*/ 568 h 59"/>
                <a:gd name="T14" fmla="*/ 486253 w 86"/>
                <a:gd name="T15" fmla="*/ 690 h 59"/>
                <a:gd name="T16" fmla="*/ 108017 w 86"/>
                <a:gd name="T17" fmla="*/ 896 h 59"/>
                <a:gd name="T18" fmla="*/ 0 w 86"/>
                <a:gd name="T19" fmla="*/ 1156 h 59"/>
                <a:gd name="T20" fmla="*/ 486253 w 86"/>
                <a:gd name="T21" fmla="*/ 1056 h 59"/>
                <a:gd name="T22" fmla="*/ 564211 w 86"/>
                <a:gd name="T23" fmla="*/ 1040 h 59"/>
                <a:gd name="T24" fmla="*/ 802883 w 86"/>
                <a:gd name="T25" fmla="*/ 902 h 59"/>
                <a:gd name="T26" fmla="*/ 1205805 w 86"/>
                <a:gd name="T27" fmla="*/ 783 h 59"/>
                <a:gd name="T28" fmla="*/ 1672585 w 86"/>
                <a:gd name="T29" fmla="*/ 656 h 59"/>
                <a:gd name="T30" fmla="*/ 2197344 w 86"/>
                <a:gd name="T31" fmla="*/ 520 h 59"/>
                <a:gd name="T32" fmla="*/ 2656439 w 86"/>
                <a:gd name="T33" fmla="*/ 391 h 59"/>
                <a:gd name="T34" fmla="*/ 3040971 w 86"/>
                <a:gd name="T35" fmla="*/ 242 h 59"/>
                <a:gd name="T36" fmla="*/ 3159540 w 86"/>
                <a:gd name="T37" fmla="*/ 0 h 59"/>
                <a:gd name="T38" fmla="*/ 3172037 w 86"/>
                <a:gd name="T39" fmla="*/ 2 h 59"/>
                <a:gd name="T40" fmla="*/ 2656439 w 86"/>
                <a:gd name="T41" fmla="*/ 2 h 59"/>
                <a:gd name="T42" fmla="*/ 2656439 w 86"/>
                <a:gd name="T43" fmla="*/ 3 h 59"/>
                <a:gd name="T44" fmla="*/ 2656439 w 86"/>
                <a:gd name="T45" fmla="*/ 89 h 59"/>
                <a:gd name="T46" fmla="*/ 2656439 w 86"/>
                <a:gd name="T47" fmla="*/ 2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6"/>
                <a:gd name="T73" fmla="*/ 0 h 59"/>
                <a:gd name="T74" fmla="*/ 86 w 86"/>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6" h="59">
                  <a:moveTo>
                    <a:pt x="71" y="2"/>
                  </a:moveTo>
                  <a:lnTo>
                    <a:pt x="71" y="4"/>
                  </a:lnTo>
                  <a:lnTo>
                    <a:pt x="71" y="3"/>
                  </a:lnTo>
                  <a:lnTo>
                    <a:pt x="63" y="8"/>
                  </a:lnTo>
                  <a:lnTo>
                    <a:pt x="52" y="15"/>
                  </a:lnTo>
                  <a:lnTo>
                    <a:pt x="39" y="21"/>
                  </a:lnTo>
                  <a:lnTo>
                    <a:pt x="25" y="28"/>
                  </a:lnTo>
                  <a:lnTo>
                    <a:pt x="13" y="36"/>
                  </a:lnTo>
                  <a:lnTo>
                    <a:pt x="3" y="45"/>
                  </a:lnTo>
                  <a:lnTo>
                    <a:pt x="0" y="58"/>
                  </a:lnTo>
                  <a:lnTo>
                    <a:pt x="13" y="54"/>
                  </a:lnTo>
                  <a:lnTo>
                    <a:pt x="15" y="53"/>
                  </a:lnTo>
                  <a:lnTo>
                    <a:pt x="21" y="46"/>
                  </a:lnTo>
                  <a:lnTo>
                    <a:pt x="32" y="40"/>
                  </a:lnTo>
                  <a:lnTo>
                    <a:pt x="45" y="33"/>
                  </a:lnTo>
                  <a:lnTo>
                    <a:pt x="59" y="27"/>
                  </a:lnTo>
                  <a:lnTo>
                    <a:pt x="71" y="20"/>
                  </a:lnTo>
                  <a:lnTo>
                    <a:pt x="81" y="12"/>
                  </a:lnTo>
                  <a:lnTo>
                    <a:pt x="84" y="0"/>
                  </a:lnTo>
                  <a:lnTo>
                    <a:pt x="85" y="2"/>
                  </a:lnTo>
                  <a:lnTo>
                    <a:pt x="71" y="2"/>
                  </a:lnTo>
                  <a:lnTo>
                    <a:pt x="71" y="3"/>
                  </a:lnTo>
                  <a:lnTo>
                    <a:pt x="71" y="4"/>
                  </a:lnTo>
                  <a:lnTo>
                    <a:pt x="71"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5" name="Freeform 214">
              <a:extLst>
                <a:ext uri="{FF2B5EF4-FFF2-40B4-BE49-F238E27FC236}">
                  <a16:creationId xmlns:a16="http://schemas.microsoft.com/office/drawing/2014/main" id="{8B0C43F4-F70B-AA5E-C76B-9B6089F36E82}"/>
                </a:ext>
              </a:extLst>
            </p:cNvPr>
            <p:cNvSpPr>
              <a:spLocks/>
            </p:cNvSpPr>
            <p:nvPr/>
          </p:nvSpPr>
          <p:spPr bwMode="auto">
            <a:xfrm>
              <a:off x="2348" y="2193"/>
              <a:ext cx="26" cy="6"/>
            </a:xfrm>
            <a:custGeom>
              <a:avLst/>
              <a:gdLst>
                <a:gd name="T0" fmla="*/ 30347 w 16"/>
                <a:gd name="T1" fmla="*/ 179 h 5"/>
                <a:gd name="T2" fmla="*/ 0 w 16"/>
                <a:gd name="T3" fmla="*/ 2 h 5"/>
                <a:gd name="T4" fmla="*/ 392938 w 16"/>
                <a:gd name="T5" fmla="*/ 2 h 5"/>
                <a:gd name="T6" fmla="*/ 373888 w 16"/>
                <a:gd name="T7" fmla="*/ 0 h 5"/>
                <a:gd name="T8" fmla="*/ 392938 w 16"/>
                <a:gd name="T9" fmla="*/ 2 h 5"/>
                <a:gd name="T10" fmla="*/ 392938 w 16"/>
                <a:gd name="T11" fmla="*/ 1 h 5"/>
                <a:gd name="T12" fmla="*/ 373888 w 16"/>
                <a:gd name="T13" fmla="*/ 0 h 5"/>
                <a:gd name="T14" fmla="*/ 30347 w 16"/>
                <a:gd name="T15" fmla="*/ 179 h 5"/>
                <a:gd name="T16" fmla="*/ 0 60000 65536"/>
                <a:gd name="T17" fmla="*/ 0 60000 65536"/>
                <a:gd name="T18" fmla="*/ 0 60000 65536"/>
                <a:gd name="T19" fmla="*/ 0 60000 65536"/>
                <a:gd name="T20" fmla="*/ 0 60000 65536"/>
                <a:gd name="T21" fmla="*/ 0 60000 65536"/>
                <a:gd name="T22" fmla="*/ 0 60000 65536"/>
                <a:gd name="T23" fmla="*/ 0 60000 65536"/>
                <a:gd name="T24" fmla="*/ 0 w 16"/>
                <a:gd name="T25" fmla="*/ 0 h 5"/>
                <a:gd name="T26" fmla="*/ 16 w 16"/>
                <a:gd name="T27" fmla="*/ 5 h 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 h="5">
                  <a:moveTo>
                    <a:pt x="1" y="4"/>
                  </a:moveTo>
                  <a:lnTo>
                    <a:pt x="0" y="2"/>
                  </a:lnTo>
                  <a:lnTo>
                    <a:pt x="15" y="2"/>
                  </a:lnTo>
                  <a:lnTo>
                    <a:pt x="14" y="0"/>
                  </a:lnTo>
                  <a:lnTo>
                    <a:pt x="15" y="2"/>
                  </a:lnTo>
                  <a:lnTo>
                    <a:pt x="15" y="1"/>
                  </a:lnTo>
                  <a:lnTo>
                    <a:pt x="14" y="0"/>
                  </a:lnTo>
                  <a:lnTo>
                    <a:pt x="1"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6" name="Freeform 215">
              <a:extLst>
                <a:ext uri="{FF2B5EF4-FFF2-40B4-BE49-F238E27FC236}">
                  <a16:creationId xmlns:a16="http://schemas.microsoft.com/office/drawing/2014/main" id="{452AFEB5-C6B6-E532-8F88-E21BC204C69C}"/>
                </a:ext>
              </a:extLst>
            </p:cNvPr>
            <p:cNvSpPr>
              <a:spLocks/>
            </p:cNvSpPr>
            <p:nvPr/>
          </p:nvSpPr>
          <p:spPr bwMode="auto">
            <a:xfrm>
              <a:off x="2199" y="2164"/>
              <a:ext cx="174" cy="35"/>
            </a:xfrm>
            <a:custGeom>
              <a:avLst/>
              <a:gdLst>
                <a:gd name="T0" fmla="*/ 0 w 105"/>
                <a:gd name="T1" fmla="*/ 120 h 30"/>
                <a:gd name="T2" fmla="*/ 320394 w 105"/>
                <a:gd name="T3" fmla="*/ 358 h 30"/>
                <a:gd name="T4" fmla="*/ 851120 w 105"/>
                <a:gd name="T5" fmla="*/ 488 h 30"/>
                <a:gd name="T6" fmla="*/ 1458024 w 105"/>
                <a:gd name="T7" fmla="*/ 560 h 30"/>
                <a:gd name="T8" fmla="*/ 2080606 w 105"/>
                <a:gd name="T9" fmla="*/ 569 h 30"/>
                <a:gd name="T10" fmla="*/ 2706298 w 105"/>
                <a:gd name="T11" fmla="*/ 585 h 30"/>
                <a:gd name="T12" fmla="*/ 3243486 w 105"/>
                <a:gd name="T13" fmla="*/ 653 h 30"/>
                <a:gd name="T14" fmla="*/ 3587389 w 105"/>
                <a:gd name="T15" fmla="*/ 746 h 30"/>
                <a:gd name="T16" fmla="*/ 3677016 w 105"/>
                <a:gd name="T17" fmla="*/ 762 h 30"/>
                <a:gd name="T18" fmla="*/ 4192184 w 105"/>
                <a:gd name="T19" fmla="*/ 653 h 30"/>
                <a:gd name="T20" fmla="*/ 3825019 w 105"/>
                <a:gd name="T21" fmla="*/ 418 h 30"/>
                <a:gd name="T22" fmla="*/ 3367531 w 105"/>
                <a:gd name="T23" fmla="*/ 307 h 30"/>
                <a:gd name="T24" fmla="*/ 2780749 w 105"/>
                <a:gd name="T25" fmla="*/ 263 h 30"/>
                <a:gd name="T26" fmla="*/ 2105818 w 105"/>
                <a:gd name="T27" fmla="*/ 259 h 30"/>
                <a:gd name="T28" fmla="*/ 1485145 w 105"/>
                <a:gd name="T29" fmla="*/ 222 h 30"/>
                <a:gd name="T30" fmla="*/ 970032 w 105"/>
                <a:gd name="T31" fmla="*/ 163 h 30"/>
                <a:gd name="T32" fmla="*/ 605611 w 105"/>
                <a:gd name="T33" fmla="*/ 103 h 30"/>
                <a:gd name="T34" fmla="*/ 530939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9"/>
                  </a:lnTo>
                  <a:lnTo>
                    <a:pt x="36" y="21"/>
                  </a:lnTo>
                  <a:lnTo>
                    <a:pt x="51" y="22"/>
                  </a:lnTo>
                  <a:lnTo>
                    <a:pt x="67" y="23"/>
                  </a:lnTo>
                  <a:lnTo>
                    <a:pt x="80" y="25"/>
                  </a:lnTo>
                  <a:lnTo>
                    <a:pt x="89" y="28"/>
                  </a:lnTo>
                  <a:lnTo>
                    <a:pt x="91" y="29"/>
                  </a:lnTo>
                  <a:lnTo>
                    <a:pt x="104" y="25"/>
                  </a:lnTo>
                  <a:lnTo>
                    <a:pt x="95" y="16"/>
                  </a:lnTo>
                  <a:lnTo>
                    <a:pt x="83" y="12"/>
                  </a:lnTo>
                  <a:lnTo>
                    <a:pt x="69" y="10"/>
                  </a:lnTo>
                  <a:lnTo>
                    <a:pt x="52" y="9"/>
                  </a:lnTo>
                  <a:lnTo>
                    <a:pt x="37" y="8"/>
                  </a:lnTo>
                  <a:lnTo>
                    <a:pt x="24" y="6"/>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7" name="Freeform 216">
              <a:extLst>
                <a:ext uri="{FF2B5EF4-FFF2-40B4-BE49-F238E27FC236}">
                  <a16:creationId xmlns:a16="http://schemas.microsoft.com/office/drawing/2014/main" id="{FC410507-6E65-0650-4E30-F7609A24C341}"/>
                </a:ext>
              </a:extLst>
            </p:cNvPr>
            <p:cNvSpPr>
              <a:spLocks/>
            </p:cNvSpPr>
            <p:nvPr/>
          </p:nvSpPr>
          <p:spPr bwMode="auto">
            <a:xfrm>
              <a:off x="2199" y="2096"/>
              <a:ext cx="137" cy="75"/>
            </a:xfrm>
            <a:custGeom>
              <a:avLst/>
              <a:gdLst>
                <a:gd name="T0" fmla="*/ 2566051 w 83"/>
                <a:gd name="T1" fmla="*/ 121 h 64"/>
                <a:gd name="T2" fmla="*/ 2519400 w 83"/>
                <a:gd name="T3" fmla="*/ 142 h 64"/>
                <a:gd name="T4" fmla="*/ 2289995 w 83"/>
                <a:gd name="T5" fmla="*/ 314 h 64"/>
                <a:gd name="T6" fmla="*/ 1894573 w 83"/>
                <a:gd name="T7" fmla="*/ 505 h 64"/>
                <a:gd name="T8" fmla="*/ 1423684 w 83"/>
                <a:gd name="T9" fmla="*/ 694 h 64"/>
                <a:gd name="T10" fmla="*/ 901473 w 83"/>
                <a:gd name="T11" fmla="*/ 929 h 64"/>
                <a:gd name="T12" fmla="*/ 446998 w 83"/>
                <a:gd name="T13" fmla="*/ 1117 h 64"/>
                <a:gd name="T14" fmla="*/ 64690 w 83"/>
                <a:gd name="T15" fmla="*/ 1402 h 64"/>
                <a:gd name="T16" fmla="*/ 0 w 83"/>
                <a:gd name="T17" fmla="*/ 1779 h 64"/>
                <a:gd name="T18" fmla="*/ 480180 w 83"/>
                <a:gd name="T19" fmla="*/ 1643 h 64"/>
                <a:gd name="T20" fmla="*/ 480180 w 83"/>
                <a:gd name="T21" fmla="*/ 1556 h 64"/>
                <a:gd name="T22" fmla="*/ 695387 w 83"/>
                <a:gd name="T23" fmla="*/ 1430 h 64"/>
                <a:gd name="T24" fmla="*/ 1133388 w 83"/>
                <a:gd name="T25" fmla="*/ 1236 h 64"/>
                <a:gd name="T26" fmla="*/ 1639289 w 83"/>
                <a:gd name="T27" fmla="*/ 1021 h 64"/>
                <a:gd name="T28" fmla="*/ 2159391 w 83"/>
                <a:gd name="T29" fmla="*/ 813 h 64"/>
                <a:gd name="T30" fmla="*/ 2603804 w 83"/>
                <a:gd name="T31" fmla="*/ 592 h 64"/>
                <a:gd name="T32" fmla="*/ 2976645 w 83"/>
                <a:gd name="T33" fmla="*/ 368 h 64"/>
                <a:gd name="T34" fmla="*/ 3041930 w 83"/>
                <a:gd name="T35" fmla="*/ 0 h 64"/>
                <a:gd name="T36" fmla="*/ 2566051 w 83"/>
                <a:gd name="T37" fmla="*/ 121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3" y="56"/>
                  </a:lnTo>
                  <a:lnTo>
                    <a:pt x="19" y="51"/>
                  </a:lnTo>
                  <a:lnTo>
                    <a:pt x="30" y="44"/>
                  </a:lnTo>
                  <a:lnTo>
                    <a:pt x="44" y="37"/>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8" name="Freeform 217">
              <a:extLst>
                <a:ext uri="{FF2B5EF4-FFF2-40B4-BE49-F238E27FC236}">
                  <a16:creationId xmlns:a16="http://schemas.microsoft.com/office/drawing/2014/main" id="{387BD56A-C739-33ED-5D49-281CD4E4ACE6}"/>
                </a:ext>
              </a:extLst>
            </p:cNvPr>
            <p:cNvSpPr>
              <a:spLocks/>
            </p:cNvSpPr>
            <p:nvPr/>
          </p:nvSpPr>
          <p:spPr bwMode="auto">
            <a:xfrm>
              <a:off x="2161" y="2068"/>
              <a:ext cx="175" cy="34"/>
            </a:xfrm>
            <a:custGeom>
              <a:avLst/>
              <a:gdLst>
                <a:gd name="T0" fmla="*/ 0 w 106"/>
                <a:gd name="T1" fmla="*/ 121 h 29"/>
                <a:gd name="T2" fmla="*/ 341111 w 106"/>
                <a:gd name="T3" fmla="*/ 375 h 29"/>
                <a:gd name="T4" fmla="*/ 804876 w 106"/>
                <a:gd name="T5" fmla="*/ 505 h 29"/>
                <a:gd name="T6" fmla="*/ 1328805 w 106"/>
                <a:gd name="T7" fmla="*/ 579 h 29"/>
                <a:gd name="T8" fmla="*/ 1941196 w 106"/>
                <a:gd name="T9" fmla="*/ 592 h 29"/>
                <a:gd name="T10" fmla="*/ 2534104 w 106"/>
                <a:gd name="T11" fmla="*/ 605 h 29"/>
                <a:gd name="T12" fmla="*/ 3033331 w 106"/>
                <a:gd name="T13" fmla="*/ 691 h 29"/>
                <a:gd name="T14" fmla="*/ 3369257 w 106"/>
                <a:gd name="T15" fmla="*/ 709 h 29"/>
                <a:gd name="T16" fmla="*/ 3435385 w 106"/>
                <a:gd name="T17" fmla="*/ 810 h 29"/>
                <a:gd name="T18" fmla="*/ 3917132 w 106"/>
                <a:gd name="T19" fmla="*/ 694 h 29"/>
                <a:gd name="T20" fmla="*/ 3579389 w 106"/>
                <a:gd name="T21" fmla="*/ 431 h 29"/>
                <a:gd name="T22" fmla="*/ 3136520 w 106"/>
                <a:gd name="T23" fmla="*/ 314 h 29"/>
                <a:gd name="T24" fmla="*/ 2573651 w 106"/>
                <a:gd name="T25" fmla="*/ 268 h 29"/>
                <a:gd name="T26" fmla="*/ 1984779 w 106"/>
                <a:gd name="T27" fmla="*/ 229 h 29"/>
                <a:gd name="T28" fmla="*/ 1389091 w 106"/>
                <a:gd name="T29" fmla="*/ 195 h 29"/>
                <a:gd name="T30" fmla="*/ 904506 w 106"/>
                <a:gd name="T31" fmla="*/ 142 h 29"/>
                <a:gd name="T32" fmla="*/ 563155 w 106"/>
                <a:gd name="T33" fmla="*/ 2 h 29"/>
                <a:gd name="T34" fmla="*/ 481815 w 106"/>
                <a:gd name="T35" fmla="*/ 0 h 29"/>
                <a:gd name="T36" fmla="*/ 0 w 106"/>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9" y="14"/>
                  </a:lnTo>
                  <a:lnTo>
                    <a:pt x="22" y="18"/>
                  </a:lnTo>
                  <a:lnTo>
                    <a:pt x="36" y="20"/>
                  </a:lnTo>
                  <a:lnTo>
                    <a:pt x="52" y="21"/>
                  </a:lnTo>
                  <a:lnTo>
                    <a:pt x="68" y="22"/>
                  </a:lnTo>
                  <a:lnTo>
                    <a:pt x="81" y="24"/>
                  </a:lnTo>
                  <a:lnTo>
                    <a:pt x="90" y="26"/>
                  </a:lnTo>
                  <a:lnTo>
                    <a:pt x="92" y="28"/>
                  </a:lnTo>
                  <a:lnTo>
                    <a:pt x="105" y="25"/>
                  </a:lnTo>
                  <a:lnTo>
                    <a:pt x="96" y="15"/>
                  </a:lnTo>
                  <a:lnTo>
                    <a:pt x="84" y="11"/>
                  </a:lnTo>
                  <a:lnTo>
                    <a:pt x="69" y="9"/>
                  </a:lnTo>
                  <a:lnTo>
                    <a:pt x="53" y="8"/>
                  </a:lnTo>
                  <a:lnTo>
                    <a:pt x="37"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99" name="Freeform 218">
              <a:extLst>
                <a:ext uri="{FF2B5EF4-FFF2-40B4-BE49-F238E27FC236}">
                  <a16:creationId xmlns:a16="http://schemas.microsoft.com/office/drawing/2014/main" id="{3155EC5B-C002-DB36-3E2D-DE623B252D7A}"/>
                </a:ext>
              </a:extLst>
            </p:cNvPr>
            <p:cNvSpPr>
              <a:spLocks/>
            </p:cNvSpPr>
            <p:nvPr/>
          </p:nvSpPr>
          <p:spPr bwMode="auto">
            <a:xfrm>
              <a:off x="2161" y="2000"/>
              <a:ext cx="136" cy="74"/>
            </a:xfrm>
            <a:custGeom>
              <a:avLst/>
              <a:gdLst>
                <a:gd name="T0" fmla="*/ 2793281 w 82"/>
                <a:gd name="T1" fmla="*/ 3 h 64"/>
                <a:gd name="T2" fmla="*/ 2707123 w 82"/>
                <a:gd name="T3" fmla="*/ 108 h 64"/>
                <a:gd name="T4" fmla="*/ 2517775 w 82"/>
                <a:gd name="T5" fmla="*/ 243 h 64"/>
                <a:gd name="T6" fmla="*/ 2065016 w 82"/>
                <a:gd name="T7" fmla="*/ 383 h 64"/>
                <a:gd name="T8" fmla="*/ 1518070 w 82"/>
                <a:gd name="T9" fmla="*/ 535 h 64"/>
                <a:gd name="T10" fmla="*/ 934081 w 82"/>
                <a:gd name="T11" fmla="*/ 690 h 64"/>
                <a:gd name="T12" fmla="*/ 452635 w 82"/>
                <a:gd name="T13" fmla="*/ 845 h 64"/>
                <a:gd name="T14" fmla="*/ 71808 w 82"/>
                <a:gd name="T15" fmla="*/ 1059 h 64"/>
                <a:gd name="T16" fmla="*/ 0 w 82"/>
                <a:gd name="T17" fmla="*/ 1319 h 64"/>
                <a:gd name="T18" fmla="*/ 543340 w 82"/>
                <a:gd name="T19" fmla="*/ 1234 h 64"/>
                <a:gd name="T20" fmla="*/ 563196 w 82"/>
                <a:gd name="T21" fmla="*/ 1204 h 64"/>
                <a:gd name="T22" fmla="*/ 819581 w 82"/>
                <a:gd name="T23" fmla="*/ 1067 h 64"/>
                <a:gd name="T24" fmla="*/ 1245083 w 82"/>
                <a:gd name="T25" fmla="*/ 923 h 64"/>
                <a:gd name="T26" fmla="*/ 1809896 w 82"/>
                <a:gd name="T27" fmla="*/ 792 h 64"/>
                <a:gd name="T28" fmla="*/ 2364446 w 82"/>
                <a:gd name="T29" fmla="*/ 619 h 64"/>
                <a:gd name="T30" fmla="*/ 2866162 w 82"/>
                <a:gd name="T31" fmla="*/ 463 h 64"/>
                <a:gd name="T32" fmla="*/ 3201544 w 82"/>
                <a:gd name="T33" fmla="*/ 259 h 64"/>
                <a:gd name="T34" fmla="*/ 3316748 w 82"/>
                <a:gd name="T35" fmla="*/ 0 h 64"/>
                <a:gd name="T36" fmla="*/ 2793281 w 82"/>
                <a:gd name="T37" fmla="*/ 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4"/>
                <a:gd name="T59" fmla="*/ 82 w 82"/>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4">
                  <a:moveTo>
                    <a:pt x="68" y="3"/>
                  </a:moveTo>
                  <a:lnTo>
                    <a:pt x="66" y="5"/>
                  </a:lnTo>
                  <a:lnTo>
                    <a:pt x="61" y="11"/>
                  </a:lnTo>
                  <a:lnTo>
                    <a:pt x="50" y="18"/>
                  </a:lnTo>
                  <a:lnTo>
                    <a:pt x="37" y="25"/>
                  </a:lnTo>
                  <a:lnTo>
                    <a:pt x="23" y="33"/>
                  </a:lnTo>
                  <a:lnTo>
                    <a:pt x="11" y="41"/>
                  </a:lnTo>
                  <a:lnTo>
                    <a:pt x="2" y="50"/>
                  </a:lnTo>
                  <a:lnTo>
                    <a:pt x="0" y="63"/>
                  </a:lnTo>
                  <a:lnTo>
                    <a:pt x="13" y="59"/>
                  </a:lnTo>
                  <a:lnTo>
                    <a:pt x="14" y="57"/>
                  </a:lnTo>
                  <a:lnTo>
                    <a:pt x="20" y="51"/>
                  </a:lnTo>
                  <a:lnTo>
                    <a:pt x="30" y="44"/>
                  </a:lnTo>
                  <a:lnTo>
                    <a:pt x="44" y="37"/>
                  </a:lnTo>
                  <a:lnTo>
                    <a:pt x="57" y="29"/>
                  </a:lnTo>
                  <a:lnTo>
                    <a:pt x="70" y="22"/>
                  </a:lnTo>
                  <a:lnTo>
                    <a:pt x="78" y="12"/>
                  </a:lnTo>
                  <a:lnTo>
                    <a:pt x="81" y="0"/>
                  </a:lnTo>
                  <a:lnTo>
                    <a:pt x="68"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0" name="Freeform 219">
              <a:extLst>
                <a:ext uri="{FF2B5EF4-FFF2-40B4-BE49-F238E27FC236}">
                  <a16:creationId xmlns:a16="http://schemas.microsoft.com/office/drawing/2014/main" id="{3732739E-571D-5A4E-0A2D-5CE1A24FF63A}"/>
                </a:ext>
              </a:extLst>
            </p:cNvPr>
            <p:cNvSpPr>
              <a:spLocks/>
            </p:cNvSpPr>
            <p:nvPr/>
          </p:nvSpPr>
          <p:spPr bwMode="auto">
            <a:xfrm>
              <a:off x="2274" y="2000"/>
              <a:ext cx="23" cy="6"/>
            </a:xfrm>
            <a:custGeom>
              <a:avLst/>
              <a:gdLst>
                <a:gd name="T0" fmla="*/ 0 w 14"/>
                <a:gd name="T1" fmla="*/ 179 h 5"/>
                <a:gd name="T2" fmla="*/ 200264 w 14"/>
                <a:gd name="T3" fmla="*/ 2 h 5"/>
                <a:gd name="T4" fmla="*/ 439537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1" name="Freeform 220">
              <a:extLst>
                <a:ext uri="{FF2B5EF4-FFF2-40B4-BE49-F238E27FC236}">
                  <a16:creationId xmlns:a16="http://schemas.microsoft.com/office/drawing/2014/main" id="{BCF95580-8925-86C8-70EA-69D95E8DD2DB}"/>
                </a:ext>
              </a:extLst>
            </p:cNvPr>
            <p:cNvSpPr>
              <a:spLocks/>
            </p:cNvSpPr>
            <p:nvPr/>
          </p:nvSpPr>
          <p:spPr bwMode="auto">
            <a:xfrm>
              <a:off x="2122" y="1972"/>
              <a:ext cx="175" cy="34"/>
            </a:xfrm>
            <a:custGeom>
              <a:avLst/>
              <a:gdLst>
                <a:gd name="T0" fmla="*/ 0 w 106"/>
                <a:gd name="T1" fmla="*/ 61 h 30"/>
                <a:gd name="T2" fmla="*/ 291842 w 106"/>
                <a:gd name="T3" fmla="*/ 186 h 30"/>
                <a:gd name="T4" fmla="*/ 795449 w 106"/>
                <a:gd name="T5" fmla="*/ 239 h 30"/>
                <a:gd name="T6" fmla="*/ 1328805 w 106"/>
                <a:gd name="T7" fmla="*/ 271 h 30"/>
                <a:gd name="T8" fmla="*/ 1899835 w 106"/>
                <a:gd name="T9" fmla="*/ 298 h 30"/>
                <a:gd name="T10" fmla="*/ 2534104 w 106"/>
                <a:gd name="T11" fmla="*/ 299 h 30"/>
                <a:gd name="T12" fmla="*/ 3033331 w 106"/>
                <a:gd name="T13" fmla="*/ 307 h 30"/>
                <a:gd name="T14" fmla="*/ 3328313 w 106"/>
                <a:gd name="T15" fmla="*/ 348 h 30"/>
                <a:gd name="T16" fmla="*/ 3435385 w 106"/>
                <a:gd name="T17" fmla="*/ 394 h 30"/>
                <a:gd name="T18" fmla="*/ 3917132 w 106"/>
                <a:gd name="T19" fmla="*/ 339 h 30"/>
                <a:gd name="T20" fmla="*/ 3621810 w 106"/>
                <a:gd name="T21" fmla="*/ 206 h 30"/>
                <a:gd name="T22" fmla="*/ 3097518 w 106"/>
                <a:gd name="T23" fmla="*/ 128 h 30"/>
                <a:gd name="T24" fmla="*/ 2573651 w 106"/>
                <a:gd name="T25" fmla="*/ 113 h 30"/>
                <a:gd name="T26" fmla="*/ 1984779 w 106"/>
                <a:gd name="T27" fmla="*/ 100 h 30"/>
                <a:gd name="T28" fmla="*/ 1389091 w 106"/>
                <a:gd name="T29" fmla="*/ 88 h 30"/>
                <a:gd name="T30" fmla="*/ 864949 w 106"/>
                <a:gd name="T31" fmla="*/ 69 h 30"/>
                <a:gd name="T32" fmla="*/ 563155 w 106"/>
                <a:gd name="T33" fmla="*/ 2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1" y="21"/>
                  </a:lnTo>
                  <a:lnTo>
                    <a:pt x="68" y="22"/>
                  </a:lnTo>
                  <a:lnTo>
                    <a:pt x="81" y="23"/>
                  </a:lnTo>
                  <a:lnTo>
                    <a:pt x="89" y="26"/>
                  </a:lnTo>
                  <a:lnTo>
                    <a:pt x="92" y="29"/>
                  </a:lnTo>
                  <a:lnTo>
                    <a:pt x="105" y="25"/>
                  </a:lnTo>
                  <a:lnTo>
                    <a:pt x="97" y="15"/>
                  </a:lnTo>
                  <a:lnTo>
                    <a:pt x="83" y="10"/>
                  </a:lnTo>
                  <a:lnTo>
                    <a:pt x="69" y="9"/>
                  </a:lnTo>
                  <a:lnTo>
                    <a:pt x="53" y="8"/>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2" name="Freeform 221">
              <a:extLst>
                <a:ext uri="{FF2B5EF4-FFF2-40B4-BE49-F238E27FC236}">
                  <a16:creationId xmlns:a16="http://schemas.microsoft.com/office/drawing/2014/main" id="{59EB5AF2-00E1-1CA3-8B32-F3D5258385FB}"/>
                </a:ext>
              </a:extLst>
            </p:cNvPr>
            <p:cNvSpPr>
              <a:spLocks/>
            </p:cNvSpPr>
            <p:nvPr/>
          </p:nvSpPr>
          <p:spPr bwMode="auto">
            <a:xfrm>
              <a:off x="2122" y="1904"/>
              <a:ext cx="137" cy="73"/>
            </a:xfrm>
            <a:custGeom>
              <a:avLst/>
              <a:gdLst>
                <a:gd name="T0" fmla="*/ 2566051 w 83"/>
                <a:gd name="T1" fmla="*/ 94 h 63"/>
                <a:gd name="T2" fmla="*/ 2519400 w 83"/>
                <a:gd name="T3" fmla="*/ 146 h 63"/>
                <a:gd name="T4" fmla="*/ 2289995 w 83"/>
                <a:gd name="T5" fmla="*/ 263 h 63"/>
                <a:gd name="T6" fmla="*/ 1894573 w 83"/>
                <a:gd name="T7" fmla="*/ 409 h 63"/>
                <a:gd name="T8" fmla="*/ 1423684 w 83"/>
                <a:gd name="T9" fmla="*/ 594 h 63"/>
                <a:gd name="T10" fmla="*/ 901473 w 83"/>
                <a:gd name="T11" fmla="*/ 732 h 63"/>
                <a:gd name="T12" fmla="*/ 446998 w 83"/>
                <a:gd name="T13" fmla="*/ 860 h 63"/>
                <a:gd name="T14" fmla="*/ 64690 w 83"/>
                <a:gd name="T15" fmla="*/ 1078 h 63"/>
                <a:gd name="T16" fmla="*/ 0 w 83"/>
                <a:gd name="T17" fmla="*/ 1362 h 63"/>
                <a:gd name="T18" fmla="*/ 480180 w 83"/>
                <a:gd name="T19" fmla="*/ 1283 h 63"/>
                <a:gd name="T20" fmla="*/ 522551 w 83"/>
                <a:gd name="T21" fmla="*/ 1249 h 63"/>
                <a:gd name="T22" fmla="*/ 737816 w 83"/>
                <a:gd name="T23" fmla="*/ 1139 h 63"/>
                <a:gd name="T24" fmla="*/ 1147807 w 83"/>
                <a:gd name="T25" fmla="*/ 990 h 63"/>
                <a:gd name="T26" fmla="*/ 1639289 w 83"/>
                <a:gd name="T27" fmla="*/ 848 h 63"/>
                <a:gd name="T28" fmla="*/ 2159391 w 83"/>
                <a:gd name="T29" fmla="*/ 693 h 63"/>
                <a:gd name="T30" fmla="*/ 260380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7"/>
                  </a:lnTo>
                  <a:lnTo>
                    <a:pt x="62" y="12"/>
                  </a:lnTo>
                  <a:lnTo>
                    <a:pt x="51" y="19"/>
                  </a:lnTo>
                  <a:lnTo>
                    <a:pt x="38" y="26"/>
                  </a:lnTo>
                  <a:lnTo>
                    <a:pt x="24" y="33"/>
                  </a:lnTo>
                  <a:lnTo>
                    <a:pt x="12" y="40"/>
                  </a:lnTo>
                  <a:lnTo>
                    <a:pt x="2" y="49"/>
                  </a:lnTo>
                  <a:lnTo>
                    <a:pt x="0" y="62"/>
                  </a:lnTo>
                  <a:lnTo>
                    <a:pt x="13" y="58"/>
                  </a:lnTo>
                  <a:lnTo>
                    <a:pt x="14" y="57"/>
                  </a:lnTo>
                  <a:lnTo>
                    <a:pt x="20" y="51"/>
                  </a:lnTo>
                  <a:lnTo>
                    <a:pt x="31"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3" name="Freeform 222">
              <a:extLst>
                <a:ext uri="{FF2B5EF4-FFF2-40B4-BE49-F238E27FC236}">
                  <a16:creationId xmlns:a16="http://schemas.microsoft.com/office/drawing/2014/main" id="{CAF91DEC-18B0-C3A7-C0ED-D2AB6EFB657B}"/>
                </a:ext>
              </a:extLst>
            </p:cNvPr>
            <p:cNvSpPr>
              <a:spLocks/>
            </p:cNvSpPr>
            <p:nvPr/>
          </p:nvSpPr>
          <p:spPr bwMode="auto">
            <a:xfrm>
              <a:off x="2087" y="1877"/>
              <a:ext cx="172" cy="33"/>
            </a:xfrm>
            <a:custGeom>
              <a:avLst/>
              <a:gdLst>
                <a:gd name="T0" fmla="*/ 0 w 105"/>
                <a:gd name="T1" fmla="*/ 68 h 29"/>
                <a:gd name="T2" fmla="*/ 247472 w 105"/>
                <a:gd name="T3" fmla="*/ 207 h 29"/>
                <a:gd name="T4" fmla="*/ 664056 w 105"/>
                <a:gd name="T5" fmla="*/ 247 h 29"/>
                <a:gd name="T6" fmla="*/ 1144996 w 105"/>
                <a:gd name="T7" fmla="*/ 281 h 29"/>
                <a:gd name="T8" fmla="*/ 1629916 w 105"/>
                <a:gd name="T9" fmla="*/ 306 h 29"/>
                <a:gd name="T10" fmla="*/ 2126746 w 105"/>
                <a:gd name="T11" fmla="*/ 316 h 29"/>
                <a:gd name="T12" fmla="*/ 2540392 w 105"/>
                <a:gd name="T13" fmla="*/ 348 h 29"/>
                <a:gd name="T14" fmla="*/ 2827108 w 105"/>
                <a:gd name="T15" fmla="*/ 396 h 29"/>
                <a:gd name="T16" fmla="*/ 2885372 w 105"/>
                <a:gd name="T17" fmla="*/ 414 h 29"/>
                <a:gd name="T18" fmla="*/ 3278466 w 105"/>
                <a:gd name="T19" fmla="*/ 364 h 29"/>
                <a:gd name="T20" fmla="*/ 3072431 w 105"/>
                <a:gd name="T21" fmla="*/ 207 h 29"/>
                <a:gd name="T22" fmla="*/ 2633720 w 105"/>
                <a:gd name="T23" fmla="*/ 148 h 29"/>
                <a:gd name="T24" fmla="*/ 2182239 w 105"/>
                <a:gd name="T25" fmla="*/ 114 h 29"/>
                <a:gd name="T26" fmla="*/ 1642575 w 105"/>
                <a:gd name="T27" fmla="*/ 100 h 29"/>
                <a:gd name="T28" fmla="*/ 1185358 w 105"/>
                <a:gd name="T29" fmla="*/ 88 h 29"/>
                <a:gd name="T30" fmla="*/ 737762 w 105"/>
                <a:gd name="T31" fmla="*/ 68 h 29"/>
                <a:gd name="T32" fmla="*/ 483836 w 105"/>
                <a:gd name="T33" fmla="*/ 2 h 29"/>
                <a:gd name="T34" fmla="*/ 405383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1" y="17"/>
                  </a:lnTo>
                  <a:lnTo>
                    <a:pt x="36" y="19"/>
                  </a:lnTo>
                  <a:lnTo>
                    <a:pt x="51" y="20"/>
                  </a:lnTo>
                  <a:lnTo>
                    <a:pt x="67" y="21"/>
                  </a:lnTo>
                  <a:lnTo>
                    <a:pt x="80" y="23"/>
                  </a:lnTo>
                  <a:lnTo>
                    <a:pt x="89" y="26"/>
                  </a:lnTo>
                  <a:lnTo>
                    <a:pt x="91" y="28"/>
                  </a:lnTo>
                  <a:lnTo>
                    <a:pt x="104" y="25"/>
                  </a:lnTo>
                  <a:lnTo>
                    <a:pt x="97" y="14"/>
                  </a:lnTo>
                  <a:lnTo>
                    <a:pt x="83" y="10"/>
                  </a:lnTo>
                  <a:lnTo>
                    <a:pt x="69" y="8"/>
                  </a:lnTo>
                  <a:lnTo>
                    <a:pt x="52" y="7"/>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4" name="Freeform 223">
              <a:extLst>
                <a:ext uri="{FF2B5EF4-FFF2-40B4-BE49-F238E27FC236}">
                  <a16:creationId xmlns:a16="http://schemas.microsoft.com/office/drawing/2014/main" id="{8C931EB0-DF58-B045-0F4F-EB1BD5D5AC5F}"/>
                </a:ext>
              </a:extLst>
            </p:cNvPr>
            <p:cNvSpPr>
              <a:spLocks/>
            </p:cNvSpPr>
            <p:nvPr/>
          </p:nvSpPr>
          <p:spPr bwMode="auto">
            <a:xfrm>
              <a:off x="2087" y="1814"/>
              <a:ext cx="137" cy="68"/>
            </a:xfrm>
            <a:custGeom>
              <a:avLst/>
              <a:gdLst>
                <a:gd name="T0" fmla="*/ 2001462 w 84"/>
                <a:gd name="T1" fmla="*/ 2 h 59"/>
                <a:gd name="T2" fmla="*/ 2001462 w 84"/>
                <a:gd name="T3" fmla="*/ 89 h 59"/>
                <a:gd name="T4" fmla="*/ 2001462 w 84"/>
                <a:gd name="T5" fmla="*/ 3 h 59"/>
                <a:gd name="T6" fmla="*/ 1794923 w 84"/>
                <a:gd name="T7" fmla="*/ 158 h 59"/>
                <a:gd name="T8" fmla="*/ 1469261 w 84"/>
                <a:gd name="T9" fmla="*/ 279 h 59"/>
                <a:gd name="T10" fmla="*/ 1068825 w 84"/>
                <a:gd name="T11" fmla="*/ 428 h 59"/>
                <a:gd name="T12" fmla="*/ 694386 w 84"/>
                <a:gd name="T13" fmla="*/ 568 h 59"/>
                <a:gd name="T14" fmla="*/ 361054 w 84"/>
                <a:gd name="T15" fmla="*/ 690 h 59"/>
                <a:gd name="T16" fmla="*/ 52112 w 84"/>
                <a:gd name="T17" fmla="*/ 896 h 59"/>
                <a:gd name="T18" fmla="*/ 0 w 84"/>
                <a:gd name="T19" fmla="*/ 1156 h 59"/>
                <a:gd name="T20" fmla="*/ 368724 w 84"/>
                <a:gd name="T21" fmla="*/ 1056 h 59"/>
                <a:gd name="T22" fmla="*/ 368724 w 84"/>
                <a:gd name="T23" fmla="*/ 1040 h 59"/>
                <a:gd name="T24" fmla="*/ 552353 w 84"/>
                <a:gd name="T25" fmla="*/ 916 h 59"/>
                <a:gd name="T26" fmla="*/ 866412 w 84"/>
                <a:gd name="T27" fmla="*/ 783 h 59"/>
                <a:gd name="T28" fmla="*/ 1239155 w 84"/>
                <a:gd name="T29" fmla="*/ 656 h 59"/>
                <a:gd name="T30" fmla="*/ 1688734 w 84"/>
                <a:gd name="T31" fmla="*/ 511 h 59"/>
                <a:gd name="T32" fmla="*/ 2021003 w 84"/>
                <a:gd name="T33" fmla="*/ 391 h 59"/>
                <a:gd name="T34" fmla="*/ 2280138 w 84"/>
                <a:gd name="T35" fmla="*/ 242 h 59"/>
                <a:gd name="T36" fmla="*/ 2378982 w 84"/>
                <a:gd name="T37" fmla="*/ 0 h 59"/>
                <a:gd name="T38" fmla="*/ 2396295 w 84"/>
                <a:gd name="T39" fmla="*/ 2 h 59"/>
                <a:gd name="T40" fmla="*/ 2001462 w 84"/>
                <a:gd name="T41" fmla="*/ 2 h 59"/>
                <a:gd name="T42" fmla="*/ 2001462 w 84"/>
                <a:gd name="T43" fmla="*/ 3 h 59"/>
                <a:gd name="T44" fmla="*/ 2001462 w 84"/>
                <a:gd name="T45" fmla="*/ 89 h 59"/>
                <a:gd name="T46" fmla="*/ 2001462 w 84"/>
                <a:gd name="T47" fmla="*/ 2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4"/>
                <a:gd name="T73" fmla="*/ 0 h 59"/>
                <a:gd name="T74" fmla="*/ 84 w 84"/>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4" h="59">
                  <a:moveTo>
                    <a:pt x="69" y="2"/>
                  </a:moveTo>
                  <a:lnTo>
                    <a:pt x="69" y="4"/>
                  </a:lnTo>
                  <a:lnTo>
                    <a:pt x="69" y="3"/>
                  </a:lnTo>
                  <a:lnTo>
                    <a:pt x="62" y="8"/>
                  </a:lnTo>
                  <a:lnTo>
                    <a:pt x="51" y="14"/>
                  </a:lnTo>
                  <a:lnTo>
                    <a:pt x="37" y="21"/>
                  </a:lnTo>
                  <a:lnTo>
                    <a:pt x="24" y="28"/>
                  </a:lnTo>
                  <a:lnTo>
                    <a:pt x="12" y="36"/>
                  </a:lnTo>
                  <a:lnTo>
                    <a:pt x="2" y="45"/>
                  </a:lnTo>
                  <a:lnTo>
                    <a:pt x="0" y="58"/>
                  </a:lnTo>
                  <a:lnTo>
                    <a:pt x="13" y="54"/>
                  </a:lnTo>
                  <a:lnTo>
                    <a:pt x="13" y="53"/>
                  </a:lnTo>
                  <a:lnTo>
                    <a:pt x="19" y="47"/>
                  </a:lnTo>
                  <a:lnTo>
                    <a:pt x="30" y="40"/>
                  </a:lnTo>
                  <a:lnTo>
                    <a:pt x="43" y="33"/>
                  </a:lnTo>
                  <a:lnTo>
                    <a:pt x="58" y="26"/>
                  </a:lnTo>
                  <a:lnTo>
                    <a:pt x="70" y="20"/>
                  </a:lnTo>
                  <a:lnTo>
                    <a:pt x="79" y="12"/>
                  </a:lnTo>
                  <a:lnTo>
                    <a:pt x="82" y="0"/>
                  </a:lnTo>
                  <a:lnTo>
                    <a:pt x="83" y="2"/>
                  </a:lnTo>
                  <a:lnTo>
                    <a:pt x="69" y="2"/>
                  </a:lnTo>
                  <a:lnTo>
                    <a:pt x="69" y="3"/>
                  </a:lnTo>
                  <a:lnTo>
                    <a:pt x="69" y="4"/>
                  </a:lnTo>
                  <a:lnTo>
                    <a:pt x="69"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5" name="Freeform 224">
              <a:extLst>
                <a:ext uri="{FF2B5EF4-FFF2-40B4-BE49-F238E27FC236}">
                  <a16:creationId xmlns:a16="http://schemas.microsoft.com/office/drawing/2014/main" id="{90F8D7D4-7567-0037-78B2-6E218F43149A}"/>
                </a:ext>
              </a:extLst>
            </p:cNvPr>
            <p:cNvSpPr>
              <a:spLocks/>
            </p:cNvSpPr>
            <p:nvPr/>
          </p:nvSpPr>
          <p:spPr bwMode="auto">
            <a:xfrm>
              <a:off x="2199" y="1812"/>
              <a:ext cx="25" cy="6"/>
            </a:xfrm>
            <a:custGeom>
              <a:avLst/>
              <a:gdLst>
                <a:gd name="T0" fmla="*/ 0 w 15"/>
                <a:gd name="T1" fmla="*/ 179 h 5"/>
                <a:gd name="T2" fmla="*/ 0 w 15"/>
                <a:gd name="T3" fmla="*/ 2 h 5"/>
                <a:gd name="T4" fmla="*/ 0 w 15"/>
                <a:gd name="T5" fmla="*/ 179 h 5"/>
                <a:gd name="T6" fmla="*/ 621467 w 15"/>
                <a:gd name="T7" fmla="*/ 17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4"/>
                  </a:lnTo>
                  <a:lnTo>
                    <a:pt x="14" y="4"/>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6" name="Freeform 225">
              <a:extLst>
                <a:ext uri="{FF2B5EF4-FFF2-40B4-BE49-F238E27FC236}">
                  <a16:creationId xmlns:a16="http://schemas.microsoft.com/office/drawing/2014/main" id="{5E78BE30-44A3-A5A5-9619-5A8C1517A7D9}"/>
                </a:ext>
              </a:extLst>
            </p:cNvPr>
            <p:cNvSpPr>
              <a:spLocks/>
            </p:cNvSpPr>
            <p:nvPr/>
          </p:nvSpPr>
          <p:spPr bwMode="auto">
            <a:xfrm>
              <a:off x="2051" y="1784"/>
              <a:ext cx="173" cy="34"/>
            </a:xfrm>
            <a:custGeom>
              <a:avLst/>
              <a:gdLst>
                <a:gd name="T0" fmla="*/ 0 w 105"/>
                <a:gd name="T1" fmla="*/ 103 h 29"/>
                <a:gd name="T2" fmla="*/ 282272 w 105"/>
                <a:gd name="T3" fmla="*/ 375 h 29"/>
                <a:gd name="T4" fmla="*/ 766270 w 105"/>
                <a:gd name="T5" fmla="*/ 505 h 29"/>
                <a:gd name="T6" fmla="*/ 1283006 w 105"/>
                <a:gd name="T7" fmla="*/ 579 h 29"/>
                <a:gd name="T8" fmla="*/ 1816719 w 105"/>
                <a:gd name="T9" fmla="*/ 605 h 29"/>
                <a:gd name="T10" fmla="*/ 2445765 w 105"/>
                <a:gd name="T11" fmla="*/ 605 h 29"/>
                <a:gd name="T12" fmla="*/ 2890764 w 105"/>
                <a:gd name="T13" fmla="*/ 691 h 29"/>
                <a:gd name="T14" fmla="*/ 3191916 w 105"/>
                <a:gd name="T15" fmla="*/ 796 h 29"/>
                <a:gd name="T16" fmla="*/ 3261172 w 105"/>
                <a:gd name="T17" fmla="*/ 810 h 29"/>
                <a:gd name="T18" fmla="*/ 3721278 w 105"/>
                <a:gd name="T19" fmla="*/ 691 h 29"/>
                <a:gd name="T20" fmla="*/ 3427301 w 105"/>
                <a:gd name="T21" fmla="*/ 431 h 29"/>
                <a:gd name="T22" fmla="*/ 2979100 w 105"/>
                <a:gd name="T23" fmla="*/ 314 h 29"/>
                <a:gd name="T24" fmla="*/ 2482473 w 105"/>
                <a:gd name="T25" fmla="*/ 268 h 29"/>
                <a:gd name="T26" fmla="*/ 1890361 w 105"/>
                <a:gd name="T27" fmla="*/ 268 h 29"/>
                <a:gd name="T28" fmla="*/ 1329942 w 105"/>
                <a:gd name="T29" fmla="*/ 195 h 29"/>
                <a:gd name="T30" fmla="*/ 875703 w 105"/>
                <a:gd name="T31" fmla="*/ 142 h 29"/>
                <a:gd name="T32" fmla="*/ 569066 w 105"/>
                <a:gd name="T33" fmla="*/ 2 h 29"/>
                <a:gd name="T34" fmla="*/ 465077 w 105"/>
                <a:gd name="T35" fmla="*/ 0 h 29"/>
                <a:gd name="T36" fmla="*/ 0 w 105"/>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3"/>
                  </a:moveTo>
                  <a:lnTo>
                    <a:pt x="8" y="14"/>
                  </a:lnTo>
                  <a:lnTo>
                    <a:pt x="21" y="18"/>
                  </a:lnTo>
                  <a:lnTo>
                    <a:pt x="36" y="20"/>
                  </a:lnTo>
                  <a:lnTo>
                    <a:pt x="51" y="22"/>
                  </a:lnTo>
                  <a:lnTo>
                    <a:pt x="68" y="22"/>
                  </a:lnTo>
                  <a:lnTo>
                    <a:pt x="81" y="24"/>
                  </a:lnTo>
                  <a:lnTo>
                    <a:pt x="89" y="27"/>
                  </a:lnTo>
                  <a:lnTo>
                    <a:pt x="91" y="28"/>
                  </a:lnTo>
                  <a:lnTo>
                    <a:pt x="104" y="24"/>
                  </a:lnTo>
                  <a:lnTo>
                    <a:pt x="96" y="15"/>
                  </a:lnTo>
                  <a:lnTo>
                    <a:pt x="83" y="11"/>
                  </a:lnTo>
                  <a:lnTo>
                    <a:pt x="69" y="9"/>
                  </a:lnTo>
                  <a:lnTo>
                    <a:pt x="53" y="9"/>
                  </a:lnTo>
                  <a:lnTo>
                    <a:pt x="37" y="7"/>
                  </a:lnTo>
                  <a:lnTo>
                    <a:pt x="24" y="5"/>
                  </a:lnTo>
                  <a:lnTo>
                    <a:pt x="16"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7" name="Freeform 226">
              <a:extLst>
                <a:ext uri="{FF2B5EF4-FFF2-40B4-BE49-F238E27FC236}">
                  <a16:creationId xmlns:a16="http://schemas.microsoft.com/office/drawing/2014/main" id="{D21B6F55-8CB8-83E4-98A8-4567839A1C62}"/>
                </a:ext>
              </a:extLst>
            </p:cNvPr>
            <p:cNvSpPr>
              <a:spLocks/>
            </p:cNvSpPr>
            <p:nvPr/>
          </p:nvSpPr>
          <p:spPr bwMode="auto">
            <a:xfrm>
              <a:off x="2051" y="1717"/>
              <a:ext cx="137" cy="74"/>
            </a:xfrm>
            <a:custGeom>
              <a:avLst/>
              <a:gdLst>
                <a:gd name="T0" fmla="*/ 2566051 w 83"/>
                <a:gd name="T1" fmla="*/ 93 h 64"/>
                <a:gd name="T2" fmla="*/ 2519400 w 83"/>
                <a:gd name="T3" fmla="*/ 108 h 64"/>
                <a:gd name="T4" fmla="*/ 2289995 w 83"/>
                <a:gd name="T5" fmla="*/ 243 h 64"/>
                <a:gd name="T6" fmla="*/ 1894573 w 83"/>
                <a:gd name="T7" fmla="*/ 383 h 64"/>
                <a:gd name="T8" fmla="*/ 1385413 w 83"/>
                <a:gd name="T9" fmla="*/ 535 h 64"/>
                <a:gd name="T10" fmla="*/ 901473 w 83"/>
                <a:gd name="T11" fmla="*/ 685 h 64"/>
                <a:gd name="T12" fmla="*/ 416000 w 83"/>
                <a:gd name="T13" fmla="*/ 844 h 64"/>
                <a:gd name="T14" fmla="*/ 39192 w 83"/>
                <a:gd name="T15" fmla="*/ 1059 h 64"/>
                <a:gd name="T16" fmla="*/ 0 w 83"/>
                <a:gd name="T17" fmla="*/ 1319 h 64"/>
                <a:gd name="T18" fmla="*/ 480180 w 83"/>
                <a:gd name="T19" fmla="*/ 1234 h 64"/>
                <a:gd name="T20" fmla="*/ 480180 w 83"/>
                <a:gd name="T21" fmla="*/ 1190 h 64"/>
                <a:gd name="T22" fmla="*/ 695387 w 83"/>
                <a:gd name="T23" fmla="*/ 1067 h 64"/>
                <a:gd name="T24" fmla="*/ 1133388 w 83"/>
                <a:gd name="T25" fmla="*/ 923 h 64"/>
                <a:gd name="T26" fmla="*/ 1639289 w 83"/>
                <a:gd name="T27" fmla="*/ 792 h 64"/>
                <a:gd name="T28" fmla="*/ 2118581 w 83"/>
                <a:gd name="T29" fmla="*/ 619 h 64"/>
                <a:gd name="T30" fmla="*/ 2603804 w 83"/>
                <a:gd name="T31" fmla="*/ 463 h 64"/>
                <a:gd name="T32" fmla="*/ 2935213 w 83"/>
                <a:gd name="T33" fmla="*/ 281 h 64"/>
                <a:gd name="T34" fmla="*/ 3041930 w 83"/>
                <a:gd name="T35" fmla="*/ 0 h 64"/>
                <a:gd name="T36" fmla="*/ 2566051 w 83"/>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7" y="25"/>
                  </a:lnTo>
                  <a:lnTo>
                    <a:pt x="24" y="32"/>
                  </a:lnTo>
                  <a:lnTo>
                    <a:pt x="11" y="40"/>
                  </a:lnTo>
                  <a:lnTo>
                    <a:pt x="1" y="50"/>
                  </a:lnTo>
                  <a:lnTo>
                    <a:pt x="0" y="63"/>
                  </a:lnTo>
                  <a:lnTo>
                    <a:pt x="13" y="59"/>
                  </a:lnTo>
                  <a:lnTo>
                    <a:pt x="13" y="56"/>
                  </a:lnTo>
                  <a:lnTo>
                    <a:pt x="19" y="51"/>
                  </a:lnTo>
                  <a:lnTo>
                    <a:pt x="30" y="44"/>
                  </a:lnTo>
                  <a:lnTo>
                    <a:pt x="44" y="37"/>
                  </a:lnTo>
                  <a:lnTo>
                    <a:pt x="57"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8" name="Freeform 227">
              <a:extLst>
                <a:ext uri="{FF2B5EF4-FFF2-40B4-BE49-F238E27FC236}">
                  <a16:creationId xmlns:a16="http://schemas.microsoft.com/office/drawing/2014/main" id="{C15A0222-BB16-C729-DAC3-DCC114C3AE39}"/>
                </a:ext>
              </a:extLst>
            </p:cNvPr>
            <p:cNvSpPr>
              <a:spLocks/>
            </p:cNvSpPr>
            <p:nvPr/>
          </p:nvSpPr>
          <p:spPr bwMode="auto">
            <a:xfrm>
              <a:off x="2016" y="1690"/>
              <a:ext cx="172" cy="33"/>
            </a:xfrm>
            <a:custGeom>
              <a:avLst/>
              <a:gdLst>
                <a:gd name="T0" fmla="*/ 0 w 105"/>
                <a:gd name="T1" fmla="*/ 68 h 29"/>
                <a:gd name="T2" fmla="*/ 247472 w 105"/>
                <a:gd name="T3" fmla="*/ 207 h 29"/>
                <a:gd name="T4" fmla="*/ 664056 w 105"/>
                <a:gd name="T5" fmla="*/ 281 h 29"/>
                <a:gd name="T6" fmla="*/ 1144996 w 105"/>
                <a:gd name="T7" fmla="*/ 316 h 29"/>
                <a:gd name="T8" fmla="*/ 1642575 w 105"/>
                <a:gd name="T9" fmla="*/ 316 h 29"/>
                <a:gd name="T10" fmla="*/ 2126746 w 105"/>
                <a:gd name="T11" fmla="*/ 320 h 29"/>
                <a:gd name="T12" fmla="*/ 2574242 w 105"/>
                <a:gd name="T13" fmla="*/ 360 h 29"/>
                <a:gd name="T14" fmla="*/ 2827108 w 105"/>
                <a:gd name="T15" fmla="*/ 410 h 29"/>
                <a:gd name="T16" fmla="*/ 2885372 w 105"/>
                <a:gd name="T17" fmla="*/ 414 h 29"/>
                <a:gd name="T18" fmla="*/ 3278466 w 105"/>
                <a:gd name="T19" fmla="*/ 364 h 29"/>
                <a:gd name="T20" fmla="*/ 3037405 w 105"/>
                <a:gd name="T21" fmla="*/ 217 h 29"/>
                <a:gd name="T22" fmla="*/ 2633720 w 105"/>
                <a:gd name="T23" fmla="*/ 168 h 29"/>
                <a:gd name="T24" fmla="*/ 2147610 w 105"/>
                <a:gd name="T25" fmla="*/ 130 h 29"/>
                <a:gd name="T26" fmla="*/ 1642575 w 105"/>
                <a:gd name="T27" fmla="*/ 114 h 29"/>
                <a:gd name="T28" fmla="*/ 1185358 w 105"/>
                <a:gd name="T29" fmla="*/ 114 h 29"/>
                <a:gd name="T30" fmla="*/ 758238 w 105"/>
                <a:gd name="T31" fmla="*/ 88 h 29"/>
                <a:gd name="T32" fmla="*/ 506031 w 105"/>
                <a:gd name="T33" fmla="*/ 2 h 29"/>
                <a:gd name="T34" fmla="*/ 405383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1" y="19"/>
                  </a:lnTo>
                  <a:lnTo>
                    <a:pt x="36" y="21"/>
                  </a:lnTo>
                  <a:lnTo>
                    <a:pt x="52" y="21"/>
                  </a:lnTo>
                  <a:lnTo>
                    <a:pt x="67" y="22"/>
                  </a:lnTo>
                  <a:lnTo>
                    <a:pt x="81" y="24"/>
                  </a:lnTo>
                  <a:lnTo>
                    <a:pt x="89" y="27"/>
                  </a:lnTo>
                  <a:lnTo>
                    <a:pt x="91" y="28"/>
                  </a:lnTo>
                  <a:lnTo>
                    <a:pt x="104" y="25"/>
                  </a:lnTo>
                  <a:lnTo>
                    <a:pt x="96" y="15"/>
                  </a:lnTo>
                  <a:lnTo>
                    <a:pt x="83" y="11"/>
                  </a:lnTo>
                  <a:lnTo>
                    <a:pt x="68" y="9"/>
                  </a:lnTo>
                  <a:lnTo>
                    <a:pt x="52" y="8"/>
                  </a:lnTo>
                  <a:lnTo>
                    <a:pt x="37" y="8"/>
                  </a:lnTo>
                  <a:lnTo>
                    <a:pt x="24" y="6"/>
                  </a:lnTo>
                  <a:lnTo>
                    <a:pt x="1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09" name="Freeform 228">
              <a:extLst>
                <a:ext uri="{FF2B5EF4-FFF2-40B4-BE49-F238E27FC236}">
                  <a16:creationId xmlns:a16="http://schemas.microsoft.com/office/drawing/2014/main" id="{4EF9ADE4-116C-F3AE-E7A3-81A682E4D5A3}"/>
                </a:ext>
              </a:extLst>
            </p:cNvPr>
            <p:cNvSpPr>
              <a:spLocks/>
            </p:cNvSpPr>
            <p:nvPr/>
          </p:nvSpPr>
          <p:spPr bwMode="auto">
            <a:xfrm>
              <a:off x="2016" y="1622"/>
              <a:ext cx="136" cy="73"/>
            </a:xfrm>
            <a:custGeom>
              <a:avLst/>
              <a:gdLst>
                <a:gd name="T0" fmla="*/ 2195491 w 83"/>
                <a:gd name="T1" fmla="*/ 94 h 63"/>
                <a:gd name="T2" fmla="*/ 2160471 w 83"/>
                <a:gd name="T3" fmla="*/ 109 h 63"/>
                <a:gd name="T4" fmla="*/ 1987493 w 83"/>
                <a:gd name="T5" fmla="*/ 247 h 63"/>
                <a:gd name="T6" fmla="*/ 1636031 w 83"/>
                <a:gd name="T7" fmla="*/ 394 h 63"/>
                <a:gd name="T8" fmla="*/ 1212955 w 83"/>
                <a:gd name="T9" fmla="*/ 530 h 63"/>
                <a:gd name="T10" fmla="*/ 761179 w 83"/>
                <a:gd name="T11" fmla="*/ 693 h 63"/>
                <a:gd name="T12" fmla="*/ 389068 w 83"/>
                <a:gd name="T13" fmla="*/ 854 h 63"/>
                <a:gd name="T14" fmla="*/ 56548 w 83"/>
                <a:gd name="T15" fmla="*/ 1078 h 63"/>
                <a:gd name="T16" fmla="*/ 0 w 83"/>
                <a:gd name="T17" fmla="*/ 1362 h 63"/>
                <a:gd name="T18" fmla="*/ 407626 w 83"/>
                <a:gd name="T19" fmla="*/ 1283 h 63"/>
                <a:gd name="T20" fmla="*/ 451776 w 83"/>
                <a:gd name="T21" fmla="*/ 1219 h 63"/>
                <a:gd name="T22" fmla="*/ 609354 w 83"/>
                <a:gd name="T23" fmla="*/ 1078 h 63"/>
                <a:gd name="T24" fmla="*/ 949754 w 83"/>
                <a:gd name="T25" fmla="*/ 955 h 63"/>
                <a:gd name="T26" fmla="*/ 1398653 w 83"/>
                <a:gd name="T27" fmla="*/ 803 h 63"/>
                <a:gd name="T28" fmla="*/ 1855348 w 83"/>
                <a:gd name="T29" fmla="*/ 636 h 63"/>
                <a:gd name="T30" fmla="*/ 2232686 w 83"/>
                <a:gd name="T31" fmla="*/ 474 h 63"/>
                <a:gd name="T32" fmla="*/ 2508355 w 83"/>
                <a:gd name="T33" fmla="*/ 286 h 63"/>
                <a:gd name="T34" fmla="*/ 2609697 w 83"/>
                <a:gd name="T35" fmla="*/ 0 h 63"/>
                <a:gd name="T36" fmla="*/ 219549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8"/>
                  </a:lnTo>
                  <a:lnTo>
                    <a:pt x="38" y="24"/>
                  </a:lnTo>
                  <a:lnTo>
                    <a:pt x="24" y="31"/>
                  </a:lnTo>
                  <a:lnTo>
                    <a:pt x="12" y="39"/>
                  </a:lnTo>
                  <a:lnTo>
                    <a:pt x="2" y="49"/>
                  </a:lnTo>
                  <a:lnTo>
                    <a:pt x="0" y="62"/>
                  </a:lnTo>
                  <a:lnTo>
                    <a:pt x="13" y="58"/>
                  </a:lnTo>
                  <a:lnTo>
                    <a:pt x="14" y="55"/>
                  </a:lnTo>
                  <a:lnTo>
                    <a:pt x="19" y="49"/>
                  </a:lnTo>
                  <a:lnTo>
                    <a:pt x="30" y="43"/>
                  </a:lnTo>
                  <a:lnTo>
                    <a:pt x="44" y="36"/>
                  </a:lnTo>
                  <a:lnTo>
                    <a:pt x="58"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0" name="Freeform 229">
              <a:extLst>
                <a:ext uri="{FF2B5EF4-FFF2-40B4-BE49-F238E27FC236}">
                  <a16:creationId xmlns:a16="http://schemas.microsoft.com/office/drawing/2014/main" id="{E1A5286F-8948-DC32-7050-7B9821DCE476}"/>
                </a:ext>
              </a:extLst>
            </p:cNvPr>
            <p:cNvSpPr>
              <a:spLocks/>
            </p:cNvSpPr>
            <p:nvPr/>
          </p:nvSpPr>
          <p:spPr bwMode="auto">
            <a:xfrm>
              <a:off x="1979" y="1537"/>
              <a:ext cx="173" cy="91"/>
            </a:xfrm>
            <a:custGeom>
              <a:avLst/>
              <a:gdLst>
                <a:gd name="T0" fmla="*/ 504969 w 105"/>
                <a:gd name="T1" fmla="*/ 1033 h 79"/>
                <a:gd name="T2" fmla="*/ 0 w 105"/>
                <a:gd name="T3" fmla="*/ 1086 h 79"/>
                <a:gd name="T4" fmla="*/ 282272 w 105"/>
                <a:gd name="T5" fmla="*/ 1282 h 79"/>
                <a:gd name="T6" fmla="*/ 766270 w 105"/>
                <a:gd name="T7" fmla="*/ 1371 h 79"/>
                <a:gd name="T8" fmla="*/ 1329942 w 105"/>
                <a:gd name="T9" fmla="*/ 1412 h 79"/>
                <a:gd name="T10" fmla="*/ 1875692 w 105"/>
                <a:gd name="T11" fmla="*/ 1433 h 79"/>
                <a:gd name="T12" fmla="*/ 2385467 w 105"/>
                <a:gd name="T13" fmla="*/ 1433 h 79"/>
                <a:gd name="T14" fmla="*/ 2865936 w 105"/>
                <a:gd name="T15" fmla="*/ 1438 h 79"/>
                <a:gd name="T16" fmla="*/ 3191916 w 105"/>
                <a:gd name="T17" fmla="*/ 1477 h 79"/>
                <a:gd name="T18" fmla="*/ 3261172 w 105"/>
                <a:gd name="T19" fmla="*/ 1530 h 79"/>
                <a:gd name="T20" fmla="*/ 3721278 w 105"/>
                <a:gd name="T21" fmla="*/ 1438 h 79"/>
                <a:gd name="T22" fmla="*/ 3420932 w 105"/>
                <a:gd name="T23" fmla="*/ 1248 h 79"/>
                <a:gd name="T24" fmla="*/ 2979100 w 105"/>
                <a:gd name="T25" fmla="*/ 1189 h 79"/>
                <a:gd name="T26" fmla="*/ 2482473 w 105"/>
                <a:gd name="T27" fmla="*/ 1157 h 79"/>
                <a:gd name="T28" fmla="*/ 1875692 w 105"/>
                <a:gd name="T29" fmla="*/ 1147 h 79"/>
                <a:gd name="T30" fmla="*/ 1329942 w 105"/>
                <a:gd name="T31" fmla="*/ 1153 h 79"/>
                <a:gd name="T32" fmla="*/ 875703 w 105"/>
                <a:gd name="T33" fmla="*/ 1147 h 79"/>
                <a:gd name="T34" fmla="*/ 569066 w 105"/>
                <a:gd name="T35" fmla="*/ 1080 h 79"/>
                <a:gd name="T36" fmla="*/ 465077 w 105"/>
                <a:gd name="T37" fmla="*/ 1004 h 79"/>
                <a:gd name="T38" fmla="*/ 0 w 105"/>
                <a:gd name="T39" fmla="*/ 1033 h 79"/>
                <a:gd name="T40" fmla="*/ 465077 w 105"/>
                <a:gd name="T41" fmla="*/ 1004 h 79"/>
                <a:gd name="T42" fmla="*/ 0 w 105"/>
                <a:gd name="T43" fmla="*/ 0 h 79"/>
                <a:gd name="T44" fmla="*/ 0 w 105"/>
                <a:gd name="T45" fmla="*/ 1033 h 79"/>
                <a:gd name="T46" fmla="*/ 504969 w 105"/>
                <a:gd name="T47" fmla="*/ 1033 h 7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79"/>
                <a:gd name="T74" fmla="*/ 105 w 105"/>
                <a:gd name="T75" fmla="*/ 79 h 7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79">
                  <a:moveTo>
                    <a:pt x="14" y="54"/>
                  </a:moveTo>
                  <a:lnTo>
                    <a:pt x="0" y="56"/>
                  </a:lnTo>
                  <a:lnTo>
                    <a:pt x="8" y="66"/>
                  </a:lnTo>
                  <a:lnTo>
                    <a:pt x="21" y="71"/>
                  </a:lnTo>
                  <a:lnTo>
                    <a:pt x="37" y="72"/>
                  </a:lnTo>
                  <a:lnTo>
                    <a:pt x="52" y="73"/>
                  </a:lnTo>
                  <a:lnTo>
                    <a:pt x="67" y="73"/>
                  </a:lnTo>
                  <a:lnTo>
                    <a:pt x="80" y="74"/>
                  </a:lnTo>
                  <a:lnTo>
                    <a:pt x="89" y="76"/>
                  </a:lnTo>
                  <a:lnTo>
                    <a:pt x="91" y="78"/>
                  </a:lnTo>
                  <a:lnTo>
                    <a:pt x="104" y="74"/>
                  </a:lnTo>
                  <a:lnTo>
                    <a:pt x="95" y="64"/>
                  </a:lnTo>
                  <a:lnTo>
                    <a:pt x="83" y="61"/>
                  </a:lnTo>
                  <a:lnTo>
                    <a:pt x="69" y="60"/>
                  </a:lnTo>
                  <a:lnTo>
                    <a:pt x="52" y="58"/>
                  </a:lnTo>
                  <a:lnTo>
                    <a:pt x="37" y="59"/>
                  </a:lnTo>
                  <a:lnTo>
                    <a:pt x="24" y="58"/>
                  </a:lnTo>
                  <a:lnTo>
                    <a:pt x="16" y="55"/>
                  </a:lnTo>
                  <a:lnTo>
                    <a:pt x="13" y="52"/>
                  </a:lnTo>
                  <a:lnTo>
                    <a:pt x="0" y="54"/>
                  </a:lnTo>
                  <a:lnTo>
                    <a:pt x="13" y="52"/>
                  </a:lnTo>
                  <a:lnTo>
                    <a:pt x="0" y="0"/>
                  </a:lnTo>
                  <a:lnTo>
                    <a:pt x="0" y="54"/>
                  </a:lnTo>
                  <a:lnTo>
                    <a:pt x="14" y="5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1" name="Freeform 230">
              <a:extLst>
                <a:ext uri="{FF2B5EF4-FFF2-40B4-BE49-F238E27FC236}">
                  <a16:creationId xmlns:a16="http://schemas.microsoft.com/office/drawing/2014/main" id="{6D4C7FC0-25EF-5120-482D-504DCAD2C429}"/>
                </a:ext>
              </a:extLst>
            </p:cNvPr>
            <p:cNvSpPr>
              <a:spLocks/>
            </p:cNvSpPr>
            <p:nvPr/>
          </p:nvSpPr>
          <p:spPr bwMode="auto">
            <a:xfrm>
              <a:off x="1979" y="1598"/>
              <a:ext cx="25" cy="55"/>
            </a:xfrm>
            <a:custGeom>
              <a:avLst/>
              <a:gdLst>
                <a:gd name="T0" fmla="*/ 0 w 15"/>
                <a:gd name="T1" fmla="*/ 74 h 48"/>
                <a:gd name="T2" fmla="*/ 621467 w 15"/>
                <a:gd name="T3" fmla="*/ 2 h 48"/>
                <a:gd name="T4" fmla="*/ 621467 w 15"/>
                <a:gd name="T5" fmla="*/ 0 h 48"/>
                <a:gd name="T6" fmla="*/ 0 w 15"/>
                <a:gd name="T7" fmla="*/ 0 h 48"/>
                <a:gd name="T8" fmla="*/ 0 w 15"/>
                <a:gd name="T9" fmla="*/ 2 h 48"/>
                <a:gd name="T10" fmla="*/ 609953 w 15"/>
                <a:gd name="T11" fmla="*/ 0 h 48"/>
                <a:gd name="T12" fmla="*/ 0 w 15"/>
                <a:gd name="T13" fmla="*/ 74 h 48"/>
                <a:gd name="T14" fmla="*/ 621467 w 15"/>
                <a:gd name="T15" fmla="*/ 835 h 48"/>
                <a:gd name="T16" fmla="*/ 621467 w 15"/>
                <a:gd name="T17" fmla="*/ 2 h 48"/>
                <a:gd name="T18" fmla="*/ 0 w 15"/>
                <a:gd name="T19" fmla="*/ 74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48"/>
                <a:gd name="T32" fmla="*/ 15 w 15"/>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48">
                  <a:moveTo>
                    <a:pt x="0" y="4"/>
                  </a:moveTo>
                  <a:lnTo>
                    <a:pt x="14" y="2"/>
                  </a:lnTo>
                  <a:lnTo>
                    <a:pt x="14" y="0"/>
                  </a:lnTo>
                  <a:lnTo>
                    <a:pt x="0" y="0"/>
                  </a:lnTo>
                  <a:lnTo>
                    <a:pt x="0" y="2"/>
                  </a:lnTo>
                  <a:lnTo>
                    <a:pt x="13" y="0"/>
                  </a:lnTo>
                  <a:lnTo>
                    <a:pt x="0" y="4"/>
                  </a:lnTo>
                  <a:lnTo>
                    <a:pt x="14" y="47"/>
                  </a:lnTo>
                  <a:lnTo>
                    <a:pt x="14" y="2"/>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2" name="Freeform 231">
              <a:extLst>
                <a:ext uri="{FF2B5EF4-FFF2-40B4-BE49-F238E27FC236}">
                  <a16:creationId xmlns:a16="http://schemas.microsoft.com/office/drawing/2014/main" id="{5D13A42D-BC63-C8E6-A822-7A6D54545E92}"/>
                </a:ext>
              </a:extLst>
            </p:cNvPr>
            <p:cNvSpPr>
              <a:spLocks/>
            </p:cNvSpPr>
            <p:nvPr/>
          </p:nvSpPr>
          <p:spPr bwMode="auto">
            <a:xfrm>
              <a:off x="1979" y="1532"/>
              <a:ext cx="139" cy="72"/>
            </a:xfrm>
            <a:custGeom>
              <a:avLst/>
              <a:gdLst>
                <a:gd name="T0" fmla="*/ 2750315 w 84"/>
                <a:gd name="T1" fmla="*/ 73 h 63"/>
                <a:gd name="T2" fmla="*/ 2707808 w 84"/>
                <a:gd name="T3" fmla="*/ 83 h 63"/>
                <a:gd name="T4" fmla="*/ 2468110 w 84"/>
                <a:gd name="T5" fmla="*/ 143 h 63"/>
                <a:gd name="T6" fmla="*/ 1992016 w 84"/>
                <a:gd name="T7" fmla="*/ 231 h 63"/>
                <a:gd name="T8" fmla="*/ 1491520 w 84"/>
                <a:gd name="T9" fmla="*/ 326 h 63"/>
                <a:gd name="T10" fmla="*/ 901350 w 84"/>
                <a:gd name="T11" fmla="*/ 450 h 63"/>
                <a:gd name="T12" fmla="*/ 399678 w 84"/>
                <a:gd name="T13" fmla="*/ 587 h 63"/>
                <a:gd name="T14" fmla="*/ 41669 w 84"/>
                <a:gd name="T15" fmla="*/ 790 h 63"/>
                <a:gd name="T16" fmla="*/ 0 w 84"/>
                <a:gd name="T17" fmla="*/ 1032 h 63"/>
                <a:gd name="T18" fmla="*/ 516999 w 84"/>
                <a:gd name="T19" fmla="*/ 951 h 63"/>
                <a:gd name="T20" fmla="*/ 544701 w 84"/>
                <a:gd name="T21" fmla="*/ 848 h 63"/>
                <a:gd name="T22" fmla="*/ 727481 w 84"/>
                <a:gd name="T23" fmla="*/ 728 h 63"/>
                <a:gd name="T24" fmla="*/ 1134836 w 84"/>
                <a:gd name="T25" fmla="*/ 637 h 63"/>
                <a:gd name="T26" fmla="*/ 1679818 w 84"/>
                <a:gd name="T27" fmla="*/ 542 h 63"/>
                <a:gd name="T28" fmla="*/ 2235062 w 84"/>
                <a:gd name="T29" fmla="*/ 450 h 63"/>
                <a:gd name="T30" fmla="*/ 2750315 w 84"/>
                <a:gd name="T31" fmla="*/ 345 h 63"/>
                <a:gd name="T32" fmla="*/ 3107449 w 84"/>
                <a:gd name="T33" fmla="*/ 202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9"/>
                  </a:lnTo>
                  <a:lnTo>
                    <a:pt x="51" y="14"/>
                  </a:lnTo>
                  <a:lnTo>
                    <a:pt x="38" y="20"/>
                  </a:lnTo>
                  <a:lnTo>
                    <a:pt x="23" y="27"/>
                  </a:lnTo>
                  <a:lnTo>
                    <a:pt x="10" y="35"/>
                  </a:lnTo>
                  <a:lnTo>
                    <a:pt x="1" y="47"/>
                  </a:lnTo>
                  <a:lnTo>
                    <a:pt x="0" y="62"/>
                  </a:lnTo>
                  <a:lnTo>
                    <a:pt x="13" y="58"/>
                  </a:lnTo>
                  <a:lnTo>
                    <a:pt x="14" y="52"/>
                  </a:lnTo>
                  <a:lnTo>
                    <a:pt x="19" y="45"/>
                  </a:lnTo>
                  <a:lnTo>
                    <a:pt x="29" y="39"/>
                  </a:lnTo>
                  <a:lnTo>
                    <a:pt x="43" y="33"/>
                  </a:lnTo>
                  <a:lnTo>
                    <a:pt x="57" y="27"/>
                  </a:lnTo>
                  <a:lnTo>
                    <a:pt x="70" y="21"/>
                  </a:lnTo>
                  <a:lnTo>
                    <a:pt x="79" y="12"/>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3" name="Freeform 232">
              <a:extLst>
                <a:ext uri="{FF2B5EF4-FFF2-40B4-BE49-F238E27FC236}">
                  <a16:creationId xmlns:a16="http://schemas.microsoft.com/office/drawing/2014/main" id="{0FE3A6CD-DEA7-59CB-5937-407DB9F68701}"/>
                </a:ext>
              </a:extLst>
            </p:cNvPr>
            <p:cNvSpPr>
              <a:spLocks/>
            </p:cNvSpPr>
            <p:nvPr/>
          </p:nvSpPr>
          <p:spPr bwMode="auto">
            <a:xfrm>
              <a:off x="1943" y="1503"/>
              <a:ext cx="175" cy="34"/>
            </a:xfrm>
            <a:custGeom>
              <a:avLst/>
              <a:gdLst>
                <a:gd name="T0" fmla="*/ 0 w 106"/>
                <a:gd name="T1" fmla="*/ 61 h 30"/>
                <a:gd name="T2" fmla="*/ 291842 w 106"/>
                <a:gd name="T3" fmla="*/ 186 h 30"/>
                <a:gd name="T4" fmla="*/ 795449 w 106"/>
                <a:gd name="T5" fmla="*/ 239 h 30"/>
                <a:gd name="T6" fmla="*/ 1328805 w 106"/>
                <a:gd name="T7" fmla="*/ 271 h 30"/>
                <a:gd name="T8" fmla="*/ 1941196 w 106"/>
                <a:gd name="T9" fmla="*/ 299 h 30"/>
                <a:gd name="T10" fmla="*/ 2508326 w 106"/>
                <a:gd name="T11" fmla="*/ 299 h 30"/>
                <a:gd name="T12" fmla="*/ 3033331 w 106"/>
                <a:gd name="T13" fmla="*/ 338 h 30"/>
                <a:gd name="T14" fmla="*/ 3369257 w 106"/>
                <a:gd name="T15" fmla="*/ 383 h 30"/>
                <a:gd name="T16" fmla="*/ 3435385 w 106"/>
                <a:gd name="T17" fmla="*/ 394 h 30"/>
                <a:gd name="T18" fmla="*/ 3917132 w 106"/>
                <a:gd name="T19" fmla="*/ 339 h 30"/>
                <a:gd name="T20" fmla="*/ 3579389 w 106"/>
                <a:gd name="T21" fmla="*/ 206 h 30"/>
                <a:gd name="T22" fmla="*/ 3136520 w 106"/>
                <a:gd name="T23" fmla="*/ 145 h 30"/>
                <a:gd name="T24" fmla="*/ 2573651 w 106"/>
                <a:gd name="T25" fmla="*/ 113 h 30"/>
                <a:gd name="T26" fmla="*/ 1984779 w 106"/>
                <a:gd name="T27" fmla="*/ 113 h 30"/>
                <a:gd name="T28" fmla="*/ 1389091 w 106"/>
                <a:gd name="T29" fmla="*/ 88 h 30"/>
                <a:gd name="T30" fmla="*/ 904506 w 106"/>
                <a:gd name="T31" fmla="*/ 78 h 30"/>
                <a:gd name="T32" fmla="*/ 563155 w 106"/>
                <a:gd name="T33" fmla="*/ 2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2"/>
                  </a:lnTo>
                  <a:lnTo>
                    <a:pt x="67" y="22"/>
                  </a:lnTo>
                  <a:lnTo>
                    <a:pt x="81" y="24"/>
                  </a:lnTo>
                  <a:lnTo>
                    <a:pt x="90" y="27"/>
                  </a:lnTo>
                  <a:lnTo>
                    <a:pt x="92" y="29"/>
                  </a:lnTo>
                  <a:lnTo>
                    <a:pt x="105" y="25"/>
                  </a:lnTo>
                  <a:lnTo>
                    <a:pt x="96" y="15"/>
                  </a:lnTo>
                  <a:lnTo>
                    <a:pt x="84" y="11"/>
                  </a:lnTo>
                  <a:lnTo>
                    <a:pt x="69" y="9"/>
                  </a:lnTo>
                  <a:lnTo>
                    <a:pt x="53" y="9"/>
                  </a:lnTo>
                  <a:lnTo>
                    <a:pt x="37" y="7"/>
                  </a:lnTo>
                  <a:lnTo>
                    <a:pt x="24" y="6"/>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4" name="Freeform 233">
              <a:extLst>
                <a:ext uri="{FF2B5EF4-FFF2-40B4-BE49-F238E27FC236}">
                  <a16:creationId xmlns:a16="http://schemas.microsoft.com/office/drawing/2014/main" id="{3BF88894-E359-FA7C-458E-553416A4956A}"/>
                </a:ext>
              </a:extLst>
            </p:cNvPr>
            <p:cNvSpPr>
              <a:spLocks/>
            </p:cNvSpPr>
            <p:nvPr/>
          </p:nvSpPr>
          <p:spPr bwMode="auto">
            <a:xfrm>
              <a:off x="1943" y="1436"/>
              <a:ext cx="137" cy="73"/>
            </a:xfrm>
            <a:custGeom>
              <a:avLst/>
              <a:gdLst>
                <a:gd name="T0" fmla="*/ 2566051 w 83"/>
                <a:gd name="T1" fmla="*/ 94 h 63"/>
                <a:gd name="T2" fmla="*/ 2495618 w 83"/>
                <a:gd name="T3" fmla="*/ 109 h 63"/>
                <a:gd name="T4" fmla="*/ 2289995 w 83"/>
                <a:gd name="T5" fmla="*/ 247 h 63"/>
                <a:gd name="T6" fmla="*/ 1894573 w 83"/>
                <a:gd name="T7" fmla="*/ 384 h 63"/>
                <a:gd name="T8" fmla="*/ 1423684 w 83"/>
                <a:gd name="T9" fmla="*/ 549 h 63"/>
                <a:gd name="T10" fmla="*/ 901473 w 83"/>
                <a:gd name="T11" fmla="*/ 711 h 63"/>
                <a:gd name="T12" fmla="*/ 446998 w 83"/>
                <a:gd name="T13" fmla="*/ 854 h 63"/>
                <a:gd name="T14" fmla="*/ 64690 w 83"/>
                <a:gd name="T15" fmla="*/ 1078 h 63"/>
                <a:gd name="T16" fmla="*/ 0 w 83"/>
                <a:gd name="T17" fmla="*/ 1362 h 63"/>
                <a:gd name="T18" fmla="*/ 480180 w 83"/>
                <a:gd name="T19" fmla="*/ 1283 h 63"/>
                <a:gd name="T20" fmla="*/ 522551 w 83"/>
                <a:gd name="T21" fmla="*/ 1219 h 63"/>
                <a:gd name="T22" fmla="*/ 695387 w 83"/>
                <a:gd name="T23" fmla="*/ 1107 h 63"/>
                <a:gd name="T24" fmla="*/ 1133388 w 83"/>
                <a:gd name="T25" fmla="*/ 955 h 63"/>
                <a:gd name="T26" fmla="*/ 1639289 w 83"/>
                <a:gd name="T27" fmla="*/ 803 h 63"/>
                <a:gd name="T28" fmla="*/ 2159391 w 83"/>
                <a:gd name="T29" fmla="*/ 636 h 63"/>
                <a:gd name="T30" fmla="*/ 2603804 w 83"/>
                <a:gd name="T31" fmla="*/ 457 h 63"/>
                <a:gd name="T32" fmla="*/ 2935213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7" y="5"/>
                  </a:lnTo>
                  <a:lnTo>
                    <a:pt x="62" y="11"/>
                  </a:lnTo>
                  <a:lnTo>
                    <a:pt x="51" y="17"/>
                  </a:lnTo>
                  <a:lnTo>
                    <a:pt x="38" y="25"/>
                  </a:lnTo>
                  <a:lnTo>
                    <a:pt x="24" y="32"/>
                  </a:lnTo>
                  <a:lnTo>
                    <a:pt x="12" y="39"/>
                  </a:lnTo>
                  <a:lnTo>
                    <a:pt x="2" y="49"/>
                  </a:lnTo>
                  <a:lnTo>
                    <a:pt x="0" y="62"/>
                  </a:lnTo>
                  <a:lnTo>
                    <a:pt x="13" y="58"/>
                  </a:lnTo>
                  <a:lnTo>
                    <a:pt x="14" y="55"/>
                  </a:lnTo>
                  <a:lnTo>
                    <a:pt x="19" y="50"/>
                  </a:lnTo>
                  <a:lnTo>
                    <a:pt x="30" y="43"/>
                  </a:lnTo>
                  <a:lnTo>
                    <a:pt x="44" y="36"/>
                  </a:lnTo>
                  <a:lnTo>
                    <a:pt x="58" y="29"/>
                  </a:lnTo>
                  <a:lnTo>
                    <a:pt x="70"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715" name="Freeform 234">
              <a:extLst>
                <a:ext uri="{FF2B5EF4-FFF2-40B4-BE49-F238E27FC236}">
                  <a16:creationId xmlns:a16="http://schemas.microsoft.com/office/drawing/2014/main" id="{497F4D5D-6985-E621-9885-CE8CE4DA708C}"/>
                </a:ext>
              </a:extLst>
            </p:cNvPr>
            <p:cNvSpPr>
              <a:spLocks/>
            </p:cNvSpPr>
            <p:nvPr/>
          </p:nvSpPr>
          <p:spPr bwMode="auto">
            <a:xfrm>
              <a:off x="2524" y="2893"/>
              <a:ext cx="119" cy="124"/>
            </a:xfrm>
            <a:custGeom>
              <a:avLst/>
              <a:gdLst>
                <a:gd name="T0" fmla="*/ 1176100 w 73"/>
                <a:gd name="T1" fmla="*/ 493 h 108"/>
                <a:gd name="T2" fmla="*/ 1917204 w 73"/>
                <a:gd name="T3" fmla="*/ 0 h 108"/>
                <a:gd name="T4" fmla="*/ 1949150 w 73"/>
                <a:gd name="T5" fmla="*/ 0 h 108"/>
                <a:gd name="T6" fmla="*/ 1865433 w 73"/>
                <a:gd name="T7" fmla="*/ 984 h 108"/>
                <a:gd name="T8" fmla="*/ 1865433 w 73"/>
                <a:gd name="T9" fmla="*/ 1106 h 108"/>
                <a:gd name="T10" fmla="*/ 1917204 w 73"/>
                <a:gd name="T11" fmla="*/ 1216 h 108"/>
                <a:gd name="T12" fmla="*/ 1917204 w 73"/>
                <a:gd name="T13" fmla="*/ 1350 h 108"/>
                <a:gd name="T14" fmla="*/ 1969315 w 73"/>
                <a:gd name="T15" fmla="*/ 1458 h 108"/>
                <a:gd name="T16" fmla="*/ 1969315 w 73"/>
                <a:gd name="T17" fmla="*/ 1594 h 108"/>
                <a:gd name="T18" fmla="*/ 2033019 w 73"/>
                <a:gd name="T19" fmla="*/ 1710 h 108"/>
                <a:gd name="T20" fmla="*/ 2033019 w 73"/>
                <a:gd name="T21" fmla="*/ 1830 h 108"/>
                <a:gd name="T22" fmla="*/ 2053024 w 73"/>
                <a:gd name="T23" fmla="*/ 1951 h 108"/>
                <a:gd name="T24" fmla="*/ 1949150 w 73"/>
                <a:gd name="T25" fmla="*/ 1840 h 108"/>
                <a:gd name="T26" fmla="*/ 1832183 w 73"/>
                <a:gd name="T27" fmla="*/ 1736 h 108"/>
                <a:gd name="T28" fmla="*/ 1723674 w 73"/>
                <a:gd name="T29" fmla="*/ 1621 h 108"/>
                <a:gd name="T30" fmla="*/ 1593263 w 73"/>
                <a:gd name="T31" fmla="*/ 1512 h 108"/>
                <a:gd name="T32" fmla="*/ 1498684 w 73"/>
                <a:gd name="T33" fmla="*/ 1427 h 108"/>
                <a:gd name="T34" fmla="*/ 1364712 w 73"/>
                <a:gd name="T35" fmla="*/ 1317 h 108"/>
                <a:gd name="T36" fmla="*/ 1259418 w 73"/>
                <a:gd name="T37" fmla="*/ 1216 h 108"/>
                <a:gd name="T38" fmla="*/ 1144341 w 73"/>
                <a:gd name="T39" fmla="*/ 1106 h 108"/>
                <a:gd name="T40" fmla="*/ 0 w 73"/>
                <a:gd name="T41" fmla="*/ 377 h 108"/>
                <a:gd name="T42" fmla="*/ 0 w 73"/>
                <a:gd name="T43" fmla="*/ 355 h 108"/>
                <a:gd name="T44" fmla="*/ 1176100 w 73"/>
                <a:gd name="T45" fmla="*/ 493 h 10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8"/>
                <a:gd name="T71" fmla="*/ 73 w 73"/>
                <a:gd name="T72" fmla="*/ 108 h 10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8">
                  <a:moveTo>
                    <a:pt x="41" y="27"/>
                  </a:moveTo>
                  <a:lnTo>
                    <a:pt x="67" y="0"/>
                  </a:lnTo>
                  <a:lnTo>
                    <a:pt x="68" y="0"/>
                  </a:lnTo>
                  <a:lnTo>
                    <a:pt x="65" y="54"/>
                  </a:lnTo>
                  <a:lnTo>
                    <a:pt x="65" y="61"/>
                  </a:lnTo>
                  <a:lnTo>
                    <a:pt x="67" y="67"/>
                  </a:lnTo>
                  <a:lnTo>
                    <a:pt x="67" y="74"/>
                  </a:lnTo>
                  <a:lnTo>
                    <a:pt x="69" y="80"/>
                  </a:lnTo>
                  <a:lnTo>
                    <a:pt x="69" y="87"/>
                  </a:lnTo>
                  <a:lnTo>
                    <a:pt x="71" y="94"/>
                  </a:lnTo>
                  <a:lnTo>
                    <a:pt x="71" y="100"/>
                  </a:lnTo>
                  <a:lnTo>
                    <a:pt x="72" y="107"/>
                  </a:lnTo>
                  <a:lnTo>
                    <a:pt x="68" y="101"/>
                  </a:lnTo>
                  <a:lnTo>
                    <a:pt x="64" y="96"/>
                  </a:lnTo>
                  <a:lnTo>
                    <a:pt x="60" y="90"/>
                  </a:lnTo>
                  <a:lnTo>
                    <a:pt x="56" y="84"/>
                  </a:lnTo>
                  <a:lnTo>
                    <a:pt x="52" y="79"/>
                  </a:lnTo>
                  <a:lnTo>
                    <a:pt x="48" y="73"/>
                  </a:lnTo>
                  <a:lnTo>
                    <a:pt x="44" y="67"/>
                  </a:lnTo>
                  <a:lnTo>
                    <a:pt x="40" y="61"/>
                  </a:lnTo>
                  <a:lnTo>
                    <a:pt x="0" y="21"/>
                  </a:lnTo>
                  <a:lnTo>
                    <a:pt x="0" y="19"/>
                  </a:lnTo>
                  <a:lnTo>
                    <a:pt x="41" y="2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sp>
        <p:nvSpPr>
          <p:cNvPr id="22538" name="Freeform 235">
            <a:extLst>
              <a:ext uri="{FF2B5EF4-FFF2-40B4-BE49-F238E27FC236}">
                <a16:creationId xmlns:a16="http://schemas.microsoft.com/office/drawing/2014/main" id="{3C9234BD-AEAE-C240-47C8-F472BAAEFB83}"/>
              </a:ext>
            </a:extLst>
          </p:cNvPr>
          <p:cNvSpPr>
            <a:spLocks/>
          </p:cNvSpPr>
          <p:nvPr/>
        </p:nvSpPr>
        <p:spPr bwMode="auto">
          <a:xfrm>
            <a:off x="6754813" y="4843523"/>
            <a:ext cx="36512" cy="1588"/>
          </a:xfrm>
          <a:custGeom>
            <a:avLst/>
            <a:gdLst>
              <a:gd name="T0" fmla="*/ 2147483646 w 16"/>
              <a:gd name="T1" fmla="*/ 0 h 1"/>
              <a:gd name="T2" fmla="*/ 2147483646 w 16"/>
              <a:gd name="T3" fmla="*/ 0 h 1"/>
              <a:gd name="T4" fmla="*/ 0 w 16"/>
              <a:gd name="T5" fmla="*/ 0 h 1"/>
              <a:gd name="T6" fmla="*/ 2147483646 w 16"/>
              <a:gd name="T7" fmla="*/ 0 h 1"/>
              <a:gd name="T8" fmla="*/ 0 60000 65536"/>
              <a:gd name="T9" fmla="*/ 0 60000 65536"/>
              <a:gd name="T10" fmla="*/ 0 60000 65536"/>
              <a:gd name="T11" fmla="*/ 0 60000 65536"/>
              <a:gd name="T12" fmla="*/ 0 w 16"/>
              <a:gd name="T13" fmla="*/ 0 h 1"/>
              <a:gd name="T14" fmla="*/ 16 w 16"/>
              <a:gd name="T15" fmla="*/ 1 h 1"/>
            </a:gdLst>
            <a:ahLst/>
            <a:cxnLst>
              <a:cxn ang="T8">
                <a:pos x="T0" y="T1"/>
              </a:cxn>
              <a:cxn ang="T9">
                <a:pos x="T2" y="T3"/>
              </a:cxn>
              <a:cxn ang="T10">
                <a:pos x="T4" y="T5"/>
              </a:cxn>
              <a:cxn ang="T11">
                <a:pos x="T6" y="T7"/>
              </a:cxn>
            </a:cxnLst>
            <a:rect l="T12" t="T13" r="T14" b="T15"/>
            <a:pathLst>
              <a:path w="16" h="1">
                <a:moveTo>
                  <a:pt x="15" y="0"/>
                </a:moveTo>
                <a:lnTo>
                  <a:pt x="7" y="0"/>
                </a:lnTo>
                <a:lnTo>
                  <a:pt x="0" y="0"/>
                </a:lnTo>
                <a:lnTo>
                  <a:pt x="15"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nvGrpSpPr>
          <p:cNvPr id="6" name="Group 236">
            <a:extLst>
              <a:ext uri="{FF2B5EF4-FFF2-40B4-BE49-F238E27FC236}">
                <a16:creationId xmlns:a16="http://schemas.microsoft.com/office/drawing/2014/main" id="{88BB4FD4-5486-FE2E-4DF2-D315E8930FCC}"/>
              </a:ext>
            </a:extLst>
          </p:cNvPr>
          <p:cNvGrpSpPr>
            <a:grpSpLocks/>
          </p:cNvGrpSpPr>
          <p:nvPr/>
        </p:nvGrpSpPr>
        <p:grpSpPr bwMode="auto">
          <a:xfrm>
            <a:off x="4522788" y="2779773"/>
            <a:ext cx="3432175" cy="2887663"/>
            <a:chOff x="2869" y="1857"/>
            <a:chExt cx="2038" cy="1995"/>
          </a:xfrm>
        </p:grpSpPr>
        <p:sp>
          <p:nvSpPr>
            <p:cNvPr id="22589" name="Freeform 237">
              <a:extLst>
                <a:ext uri="{FF2B5EF4-FFF2-40B4-BE49-F238E27FC236}">
                  <a16:creationId xmlns:a16="http://schemas.microsoft.com/office/drawing/2014/main" id="{0CE9F1FC-66E6-D044-BAF2-2EAF0727F933}"/>
                </a:ext>
              </a:extLst>
            </p:cNvPr>
            <p:cNvSpPr>
              <a:spLocks/>
            </p:cNvSpPr>
            <p:nvPr/>
          </p:nvSpPr>
          <p:spPr bwMode="auto">
            <a:xfrm>
              <a:off x="3822" y="1885"/>
              <a:ext cx="90" cy="158"/>
            </a:xfrm>
            <a:custGeom>
              <a:avLst/>
              <a:gdLst>
                <a:gd name="T0" fmla="*/ 1389 w 72"/>
                <a:gd name="T1" fmla="*/ 760 h 146"/>
                <a:gd name="T2" fmla="*/ 1451 w 72"/>
                <a:gd name="T3" fmla="*/ 717 h 146"/>
                <a:gd name="T4" fmla="*/ 1736 w 72"/>
                <a:gd name="T5" fmla="*/ 698 h 146"/>
                <a:gd name="T6" fmla="*/ 2018 w 72"/>
                <a:gd name="T7" fmla="*/ 663 h 146"/>
                <a:gd name="T8" fmla="*/ 2424 w 72"/>
                <a:gd name="T9" fmla="*/ 649 h 146"/>
                <a:gd name="T10" fmla="*/ 2805 w 72"/>
                <a:gd name="T11" fmla="*/ 637 h 146"/>
                <a:gd name="T12" fmla="*/ 3391 w 72"/>
                <a:gd name="T13" fmla="*/ 613 h 146"/>
                <a:gd name="T14" fmla="*/ 3970 w 72"/>
                <a:gd name="T15" fmla="*/ 590 h 146"/>
                <a:gd name="T16" fmla="*/ 4794 w 72"/>
                <a:gd name="T17" fmla="*/ 566 h 146"/>
                <a:gd name="T18" fmla="*/ 5360 w 72"/>
                <a:gd name="T19" fmla="*/ 536 h 146"/>
                <a:gd name="T20" fmla="*/ 6104 w 72"/>
                <a:gd name="T21" fmla="*/ 503 h 146"/>
                <a:gd name="T22" fmla="*/ 6624 w 72"/>
                <a:gd name="T23" fmla="*/ 446 h 146"/>
                <a:gd name="T24" fmla="*/ 6979 w 72"/>
                <a:gd name="T25" fmla="*/ 390 h 146"/>
                <a:gd name="T26" fmla="*/ 7350 w 72"/>
                <a:gd name="T27" fmla="*/ 317 h 146"/>
                <a:gd name="T28" fmla="*/ 7630 w 72"/>
                <a:gd name="T29" fmla="*/ 232 h 146"/>
                <a:gd name="T30" fmla="*/ 7755 w 72"/>
                <a:gd name="T31" fmla="*/ 122 h 146"/>
                <a:gd name="T32" fmla="*/ 7491 w 72"/>
                <a:gd name="T33" fmla="*/ 0 h 146"/>
                <a:gd name="T34" fmla="*/ 6104 w 72"/>
                <a:gd name="T35" fmla="*/ 1 h 146"/>
                <a:gd name="T36" fmla="*/ 6204 w 72"/>
                <a:gd name="T37" fmla="*/ 122 h 146"/>
                <a:gd name="T38" fmla="*/ 6204 w 72"/>
                <a:gd name="T39" fmla="*/ 219 h 146"/>
                <a:gd name="T40" fmla="*/ 5993 w 72"/>
                <a:gd name="T41" fmla="*/ 300 h 146"/>
                <a:gd name="T42" fmla="*/ 5650 w 72"/>
                <a:gd name="T43" fmla="*/ 371 h 146"/>
                <a:gd name="T44" fmla="*/ 5220 w 72"/>
                <a:gd name="T45" fmla="*/ 422 h 146"/>
                <a:gd name="T46" fmla="*/ 4794 w 72"/>
                <a:gd name="T47" fmla="*/ 457 h 146"/>
                <a:gd name="T48" fmla="*/ 4288 w 72"/>
                <a:gd name="T49" fmla="*/ 488 h 146"/>
                <a:gd name="T50" fmla="*/ 3845 w 72"/>
                <a:gd name="T51" fmla="*/ 512 h 146"/>
                <a:gd name="T52" fmla="*/ 3154 w 72"/>
                <a:gd name="T53" fmla="*/ 536 h 146"/>
                <a:gd name="T54" fmla="*/ 2541 w 72"/>
                <a:gd name="T55" fmla="*/ 553 h 146"/>
                <a:gd name="T56" fmla="*/ 2018 w 72"/>
                <a:gd name="T57" fmla="*/ 580 h 146"/>
                <a:gd name="T58" fmla="*/ 1389 w 72"/>
                <a:gd name="T59" fmla="*/ 598 h 146"/>
                <a:gd name="T60" fmla="*/ 744 w 72"/>
                <a:gd name="T61" fmla="*/ 637 h 146"/>
                <a:gd name="T62" fmla="*/ 338 w 72"/>
                <a:gd name="T63" fmla="*/ 663 h 146"/>
                <a:gd name="T64" fmla="*/ 1 w 72"/>
                <a:gd name="T65" fmla="*/ 707 h 146"/>
                <a:gd name="T66" fmla="*/ 0 w 72"/>
                <a:gd name="T67" fmla="*/ 760 h 146"/>
                <a:gd name="T68" fmla="*/ 1389 w 72"/>
                <a:gd name="T69" fmla="*/ 760 h 14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2"/>
                <a:gd name="T106" fmla="*/ 0 h 146"/>
                <a:gd name="T107" fmla="*/ 72 w 72"/>
                <a:gd name="T108" fmla="*/ 146 h 14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2" h="146">
                  <a:moveTo>
                    <a:pt x="13" y="145"/>
                  </a:moveTo>
                  <a:lnTo>
                    <a:pt x="14" y="137"/>
                  </a:lnTo>
                  <a:lnTo>
                    <a:pt x="16" y="132"/>
                  </a:lnTo>
                  <a:lnTo>
                    <a:pt x="18" y="127"/>
                  </a:lnTo>
                  <a:lnTo>
                    <a:pt x="22" y="124"/>
                  </a:lnTo>
                  <a:lnTo>
                    <a:pt x="26" y="120"/>
                  </a:lnTo>
                  <a:lnTo>
                    <a:pt x="31" y="117"/>
                  </a:lnTo>
                  <a:lnTo>
                    <a:pt x="37" y="112"/>
                  </a:lnTo>
                  <a:lnTo>
                    <a:pt x="44" y="108"/>
                  </a:lnTo>
                  <a:lnTo>
                    <a:pt x="50" y="102"/>
                  </a:lnTo>
                  <a:lnTo>
                    <a:pt x="56" y="95"/>
                  </a:lnTo>
                  <a:lnTo>
                    <a:pt x="61" y="85"/>
                  </a:lnTo>
                  <a:lnTo>
                    <a:pt x="65" y="74"/>
                  </a:lnTo>
                  <a:lnTo>
                    <a:pt x="68" y="60"/>
                  </a:lnTo>
                  <a:lnTo>
                    <a:pt x="70" y="44"/>
                  </a:lnTo>
                  <a:lnTo>
                    <a:pt x="71" y="23"/>
                  </a:lnTo>
                  <a:lnTo>
                    <a:pt x="69" y="0"/>
                  </a:lnTo>
                  <a:lnTo>
                    <a:pt x="56" y="1"/>
                  </a:lnTo>
                  <a:lnTo>
                    <a:pt x="57" y="23"/>
                  </a:lnTo>
                  <a:lnTo>
                    <a:pt x="57" y="42"/>
                  </a:lnTo>
                  <a:lnTo>
                    <a:pt x="55" y="57"/>
                  </a:lnTo>
                  <a:lnTo>
                    <a:pt x="52" y="70"/>
                  </a:lnTo>
                  <a:lnTo>
                    <a:pt x="48" y="80"/>
                  </a:lnTo>
                  <a:lnTo>
                    <a:pt x="44" y="87"/>
                  </a:lnTo>
                  <a:lnTo>
                    <a:pt x="40" y="93"/>
                  </a:lnTo>
                  <a:lnTo>
                    <a:pt x="35" y="98"/>
                  </a:lnTo>
                  <a:lnTo>
                    <a:pt x="29" y="102"/>
                  </a:lnTo>
                  <a:lnTo>
                    <a:pt x="24" y="105"/>
                  </a:lnTo>
                  <a:lnTo>
                    <a:pt x="18" y="110"/>
                  </a:lnTo>
                  <a:lnTo>
                    <a:pt x="13" y="114"/>
                  </a:lnTo>
                  <a:lnTo>
                    <a:pt x="7" y="120"/>
                  </a:lnTo>
                  <a:lnTo>
                    <a:pt x="3" y="127"/>
                  </a:lnTo>
                  <a:lnTo>
                    <a:pt x="1" y="135"/>
                  </a:lnTo>
                  <a:lnTo>
                    <a:pt x="0" y="145"/>
                  </a:lnTo>
                  <a:lnTo>
                    <a:pt x="13" y="14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0" name="Freeform 238">
              <a:extLst>
                <a:ext uri="{FF2B5EF4-FFF2-40B4-BE49-F238E27FC236}">
                  <a16:creationId xmlns:a16="http://schemas.microsoft.com/office/drawing/2014/main" id="{3E7D22CC-0370-386A-0695-0909BF847A38}"/>
                </a:ext>
              </a:extLst>
            </p:cNvPr>
            <p:cNvSpPr>
              <a:spLocks/>
            </p:cNvSpPr>
            <p:nvPr/>
          </p:nvSpPr>
          <p:spPr bwMode="auto">
            <a:xfrm>
              <a:off x="3822" y="2042"/>
              <a:ext cx="136" cy="121"/>
            </a:xfrm>
            <a:custGeom>
              <a:avLst/>
              <a:gdLst>
                <a:gd name="T0" fmla="*/ 9753 w 109"/>
                <a:gd name="T1" fmla="*/ 557 h 112"/>
                <a:gd name="T2" fmla="*/ 11269 w 109"/>
                <a:gd name="T3" fmla="*/ 557 h 112"/>
                <a:gd name="T4" fmla="*/ 11093 w 109"/>
                <a:gd name="T5" fmla="*/ 511 h 112"/>
                <a:gd name="T6" fmla="*/ 10816 w 109"/>
                <a:gd name="T7" fmla="*/ 454 h 112"/>
                <a:gd name="T8" fmla="*/ 10124 w 109"/>
                <a:gd name="T9" fmla="*/ 417 h 112"/>
                <a:gd name="T10" fmla="*/ 9384 w 109"/>
                <a:gd name="T11" fmla="*/ 379 h 112"/>
                <a:gd name="T12" fmla="*/ 8684 w 109"/>
                <a:gd name="T13" fmla="*/ 344 h 112"/>
                <a:gd name="T14" fmla="*/ 7817 w 109"/>
                <a:gd name="T15" fmla="*/ 317 h 112"/>
                <a:gd name="T16" fmla="*/ 6801 w 109"/>
                <a:gd name="T17" fmla="*/ 285 h 112"/>
                <a:gd name="T18" fmla="*/ 5937 w 109"/>
                <a:gd name="T19" fmla="*/ 258 h 112"/>
                <a:gd name="T20" fmla="*/ 5021 w 109"/>
                <a:gd name="T21" fmla="*/ 232 h 112"/>
                <a:gd name="T22" fmla="*/ 4141 w 109"/>
                <a:gd name="T23" fmla="*/ 209 h 112"/>
                <a:gd name="T24" fmla="*/ 3457 w 109"/>
                <a:gd name="T25" fmla="*/ 171 h 112"/>
                <a:gd name="T26" fmla="*/ 2633 w 109"/>
                <a:gd name="T27" fmla="*/ 145 h 112"/>
                <a:gd name="T28" fmla="*/ 2110 w 109"/>
                <a:gd name="T29" fmla="*/ 115 h 112"/>
                <a:gd name="T30" fmla="*/ 1709 w 109"/>
                <a:gd name="T31" fmla="*/ 78 h 112"/>
                <a:gd name="T32" fmla="*/ 1370 w 109"/>
                <a:gd name="T33" fmla="*/ 42 h 112"/>
                <a:gd name="T34" fmla="*/ 1355 w 109"/>
                <a:gd name="T35" fmla="*/ 0 h 112"/>
                <a:gd name="T36" fmla="*/ 0 w 109"/>
                <a:gd name="T37" fmla="*/ 0 h 112"/>
                <a:gd name="T38" fmla="*/ 1 w 109"/>
                <a:gd name="T39" fmla="*/ 53 h 112"/>
                <a:gd name="T40" fmla="*/ 363 w 109"/>
                <a:gd name="T41" fmla="*/ 106 h 112"/>
                <a:gd name="T42" fmla="*/ 1011 w 109"/>
                <a:gd name="T43" fmla="*/ 154 h 112"/>
                <a:gd name="T44" fmla="*/ 1691 w 109"/>
                <a:gd name="T45" fmla="*/ 193 h 112"/>
                <a:gd name="T46" fmla="*/ 2426 w 109"/>
                <a:gd name="T47" fmla="*/ 232 h 112"/>
                <a:gd name="T48" fmla="*/ 3319 w 109"/>
                <a:gd name="T49" fmla="*/ 258 h 112"/>
                <a:gd name="T50" fmla="*/ 4141 w 109"/>
                <a:gd name="T51" fmla="*/ 293 h 112"/>
                <a:gd name="T52" fmla="*/ 5114 w 109"/>
                <a:gd name="T53" fmla="*/ 318 h 112"/>
                <a:gd name="T54" fmla="*/ 6028 w 109"/>
                <a:gd name="T55" fmla="*/ 344 h 112"/>
                <a:gd name="T56" fmla="*/ 7008 w 109"/>
                <a:gd name="T57" fmla="*/ 373 h 112"/>
                <a:gd name="T58" fmla="*/ 7817 w 109"/>
                <a:gd name="T59" fmla="*/ 402 h 112"/>
                <a:gd name="T60" fmla="*/ 8463 w 109"/>
                <a:gd name="T61" fmla="*/ 431 h 112"/>
                <a:gd name="T62" fmla="*/ 8957 w 109"/>
                <a:gd name="T63" fmla="*/ 466 h 112"/>
                <a:gd name="T64" fmla="*/ 9501 w 109"/>
                <a:gd name="T65" fmla="*/ 490 h 112"/>
                <a:gd name="T66" fmla="*/ 9731 w 109"/>
                <a:gd name="T67" fmla="*/ 516 h 112"/>
                <a:gd name="T68" fmla="*/ 9753 w 109"/>
                <a:gd name="T69" fmla="*/ 557 h 112"/>
                <a:gd name="T70" fmla="*/ 11269 w 109"/>
                <a:gd name="T71" fmla="*/ 557 h 112"/>
                <a:gd name="T72" fmla="*/ 9753 w 109"/>
                <a:gd name="T73" fmla="*/ 557 h 11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9"/>
                <a:gd name="T112" fmla="*/ 0 h 112"/>
                <a:gd name="T113" fmla="*/ 109 w 109"/>
                <a:gd name="T114" fmla="*/ 112 h 11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9" h="112">
                  <a:moveTo>
                    <a:pt x="94" y="111"/>
                  </a:moveTo>
                  <a:lnTo>
                    <a:pt x="108" y="111"/>
                  </a:lnTo>
                  <a:lnTo>
                    <a:pt x="106" y="101"/>
                  </a:lnTo>
                  <a:lnTo>
                    <a:pt x="103" y="90"/>
                  </a:lnTo>
                  <a:lnTo>
                    <a:pt x="97" y="82"/>
                  </a:lnTo>
                  <a:lnTo>
                    <a:pt x="90" y="75"/>
                  </a:lnTo>
                  <a:lnTo>
                    <a:pt x="83" y="68"/>
                  </a:lnTo>
                  <a:lnTo>
                    <a:pt x="75" y="62"/>
                  </a:lnTo>
                  <a:lnTo>
                    <a:pt x="66" y="56"/>
                  </a:lnTo>
                  <a:lnTo>
                    <a:pt x="57" y="51"/>
                  </a:lnTo>
                  <a:lnTo>
                    <a:pt x="48" y="45"/>
                  </a:lnTo>
                  <a:lnTo>
                    <a:pt x="40" y="41"/>
                  </a:lnTo>
                  <a:lnTo>
                    <a:pt x="33" y="34"/>
                  </a:lnTo>
                  <a:lnTo>
                    <a:pt x="25" y="29"/>
                  </a:lnTo>
                  <a:lnTo>
                    <a:pt x="20" y="23"/>
                  </a:lnTo>
                  <a:lnTo>
                    <a:pt x="17" y="16"/>
                  </a:lnTo>
                  <a:lnTo>
                    <a:pt x="14" y="8"/>
                  </a:lnTo>
                  <a:lnTo>
                    <a:pt x="13" y="0"/>
                  </a:lnTo>
                  <a:lnTo>
                    <a:pt x="0" y="0"/>
                  </a:lnTo>
                  <a:lnTo>
                    <a:pt x="1" y="11"/>
                  </a:lnTo>
                  <a:lnTo>
                    <a:pt x="4" y="21"/>
                  </a:lnTo>
                  <a:lnTo>
                    <a:pt x="10" y="30"/>
                  </a:lnTo>
                  <a:lnTo>
                    <a:pt x="16" y="38"/>
                  </a:lnTo>
                  <a:lnTo>
                    <a:pt x="23" y="45"/>
                  </a:lnTo>
                  <a:lnTo>
                    <a:pt x="32" y="51"/>
                  </a:lnTo>
                  <a:lnTo>
                    <a:pt x="40" y="57"/>
                  </a:lnTo>
                  <a:lnTo>
                    <a:pt x="49" y="63"/>
                  </a:lnTo>
                  <a:lnTo>
                    <a:pt x="58" y="68"/>
                  </a:lnTo>
                  <a:lnTo>
                    <a:pt x="67" y="74"/>
                  </a:lnTo>
                  <a:lnTo>
                    <a:pt x="75" y="79"/>
                  </a:lnTo>
                  <a:lnTo>
                    <a:pt x="81" y="84"/>
                  </a:lnTo>
                  <a:lnTo>
                    <a:pt x="86" y="91"/>
                  </a:lnTo>
                  <a:lnTo>
                    <a:pt x="91" y="97"/>
                  </a:lnTo>
                  <a:lnTo>
                    <a:pt x="93" y="103"/>
                  </a:lnTo>
                  <a:lnTo>
                    <a:pt x="94" y="111"/>
                  </a:lnTo>
                  <a:lnTo>
                    <a:pt x="108" y="111"/>
                  </a:lnTo>
                  <a:lnTo>
                    <a:pt x="94" y="11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1" name="Freeform 239">
              <a:extLst>
                <a:ext uri="{FF2B5EF4-FFF2-40B4-BE49-F238E27FC236}">
                  <a16:creationId xmlns:a16="http://schemas.microsoft.com/office/drawing/2014/main" id="{80DCEB5F-87B5-91CE-0BD0-045D5B340E73}"/>
                </a:ext>
              </a:extLst>
            </p:cNvPr>
            <p:cNvSpPr>
              <a:spLocks/>
            </p:cNvSpPr>
            <p:nvPr/>
          </p:nvSpPr>
          <p:spPr bwMode="auto">
            <a:xfrm>
              <a:off x="3938" y="2162"/>
              <a:ext cx="20" cy="2"/>
            </a:xfrm>
            <a:custGeom>
              <a:avLst/>
              <a:gdLst>
                <a:gd name="T0" fmla="*/ 1673 w 16"/>
                <a:gd name="T1" fmla="*/ 0 h 2"/>
                <a:gd name="T2" fmla="*/ 0 w 16"/>
                <a:gd name="T3" fmla="*/ 0 h 2"/>
                <a:gd name="T4" fmla="*/ 0 w 16"/>
                <a:gd name="T5" fmla="*/ 1 h 2"/>
                <a:gd name="T6" fmla="*/ 1673 w 16"/>
                <a:gd name="T7" fmla="*/ 1 h 2"/>
                <a:gd name="T8" fmla="*/ 1673 w 16"/>
                <a:gd name="T9" fmla="*/ 0 h 2"/>
                <a:gd name="T10" fmla="*/ 0 w 16"/>
                <a:gd name="T11" fmla="*/ 0 h 2"/>
                <a:gd name="T12" fmla="*/ 1673 w 16"/>
                <a:gd name="T13" fmla="*/ 0 h 2"/>
                <a:gd name="T14" fmla="*/ 0 60000 65536"/>
                <a:gd name="T15" fmla="*/ 0 60000 65536"/>
                <a:gd name="T16" fmla="*/ 0 60000 65536"/>
                <a:gd name="T17" fmla="*/ 0 60000 65536"/>
                <a:gd name="T18" fmla="*/ 0 60000 65536"/>
                <a:gd name="T19" fmla="*/ 0 60000 65536"/>
                <a:gd name="T20" fmla="*/ 0 60000 65536"/>
                <a:gd name="T21" fmla="*/ 0 w 16"/>
                <a:gd name="T22" fmla="*/ 0 h 2"/>
                <a:gd name="T23" fmla="*/ 16 w 16"/>
                <a:gd name="T24" fmla="*/ 2 h 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2">
                  <a:moveTo>
                    <a:pt x="15" y="0"/>
                  </a:moveTo>
                  <a:lnTo>
                    <a:pt x="0" y="0"/>
                  </a:lnTo>
                  <a:lnTo>
                    <a:pt x="0" y="1"/>
                  </a:lnTo>
                  <a:lnTo>
                    <a:pt x="15" y="1"/>
                  </a:lnTo>
                  <a:lnTo>
                    <a:pt x="15" y="0"/>
                  </a:lnTo>
                  <a:lnTo>
                    <a:pt x="0" y="0"/>
                  </a:lnTo>
                  <a:lnTo>
                    <a:pt x="15"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2" name="Freeform 240">
              <a:extLst>
                <a:ext uri="{FF2B5EF4-FFF2-40B4-BE49-F238E27FC236}">
                  <a16:creationId xmlns:a16="http://schemas.microsoft.com/office/drawing/2014/main" id="{D6F700ED-81CD-D6F9-2AB1-56B7C93EFCF2}"/>
                </a:ext>
              </a:extLst>
            </p:cNvPr>
            <p:cNvSpPr>
              <a:spLocks/>
            </p:cNvSpPr>
            <p:nvPr/>
          </p:nvSpPr>
          <p:spPr bwMode="auto">
            <a:xfrm>
              <a:off x="3820" y="2162"/>
              <a:ext cx="138" cy="114"/>
            </a:xfrm>
            <a:custGeom>
              <a:avLst/>
              <a:gdLst>
                <a:gd name="T0" fmla="*/ 1791 w 110"/>
                <a:gd name="T1" fmla="*/ 482 h 106"/>
                <a:gd name="T2" fmla="*/ 1791 w 110"/>
                <a:gd name="T3" fmla="*/ 443 h 106"/>
                <a:gd name="T4" fmla="*/ 1901 w 110"/>
                <a:gd name="T5" fmla="*/ 424 h 106"/>
                <a:gd name="T6" fmla="*/ 2385 w 110"/>
                <a:gd name="T7" fmla="*/ 394 h 106"/>
                <a:gd name="T8" fmla="*/ 3209 w 110"/>
                <a:gd name="T9" fmla="*/ 377 h 106"/>
                <a:gd name="T10" fmla="*/ 4026 w 110"/>
                <a:gd name="T11" fmla="*/ 351 h 106"/>
                <a:gd name="T12" fmla="*/ 4710 w 110"/>
                <a:gd name="T13" fmla="*/ 326 h 106"/>
                <a:gd name="T14" fmla="*/ 5761 w 110"/>
                <a:gd name="T15" fmla="*/ 303 h 106"/>
                <a:gd name="T16" fmla="*/ 6821 w 110"/>
                <a:gd name="T17" fmla="*/ 282 h 106"/>
                <a:gd name="T18" fmla="*/ 7813 w 110"/>
                <a:gd name="T19" fmla="*/ 251 h 106"/>
                <a:gd name="T20" fmla="*/ 8841 w 110"/>
                <a:gd name="T21" fmla="*/ 229 h 106"/>
                <a:gd name="T22" fmla="*/ 9802 w 110"/>
                <a:gd name="T23" fmla="*/ 202 h 106"/>
                <a:gd name="T24" fmla="*/ 10625 w 110"/>
                <a:gd name="T25" fmla="*/ 175 h 106"/>
                <a:gd name="T26" fmla="*/ 11650 w 110"/>
                <a:gd name="T27" fmla="*/ 137 h 106"/>
                <a:gd name="T28" fmla="*/ 12119 w 110"/>
                <a:gd name="T29" fmla="*/ 98 h 106"/>
                <a:gd name="T30" fmla="*/ 12513 w 110"/>
                <a:gd name="T31" fmla="*/ 49 h 106"/>
                <a:gd name="T32" fmla="*/ 12819 w 110"/>
                <a:gd name="T33" fmla="*/ 0 h 106"/>
                <a:gd name="T34" fmla="*/ 11091 w 110"/>
                <a:gd name="T35" fmla="*/ 0 h 106"/>
                <a:gd name="T36" fmla="*/ 10990 w 110"/>
                <a:gd name="T37" fmla="*/ 40 h 106"/>
                <a:gd name="T38" fmla="*/ 10625 w 110"/>
                <a:gd name="T39" fmla="*/ 66 h 106"/>
                <a:gd name="T40" fmla="*/ 10246 w 110"/>
                <a:gd name="T41" fmla="*/ 102 h 106"/>
                <a:gd name="T42" fmla="*/ 9595 w 110"/>
                <a:gd name="T43" fmla="*/ 122 h 106"/>
                <a:gd name="T44" fmla="*/ 8841 w 110"/>
                <a:gd name="T45" fmla="*/ 158 h 106"/>
                <a:gd name="T46" fmla="*/ 7950 w 110"/>
                <a:gd name="T47" fmla="*/ 175 h 106"/>
                <a:gd name="T48" fmla="*/ 6983 w 110"/>
                <a:gd name="T49" fmla="*/ 197 h 106"/>
                <a:gd name="T50" fmla="*/ 6096 w 110"/>
                <a:gd name="T51" fmla="*/ 228 h 106"/>
                <a:gd name="T52" fmla="*/ 5051 w 110"/>
                <a:gd name="T53" fmla="*/ 245 h 106"/>
                <a:gd name="T54" fmla="*/ 4026 w 110"/>
                <a:gd name="T55" fmla="*/ 265 h 106"/>
                <a:gd name="T56" fmla="*/ 2992 w 110"/>
                <a:gd name="T57" fmla="*/ 294 h 106"/>
                <a:gd name="T58" fmla="*/ 2095 w 110"/>
                <a:gd name="T59" fmla="*/ 326 h 106"/>
                <a:gd name="T60" fmla="*/ 1331 w 110"/>
                <a:gd name="T61" fmla="*/ 355 h 106"/>
                <a:gd name="T62" fmla="*/ 748 w 110"/>
                <a:gd name="T63" fmla="*/ 388 h 106"/>
                <a:gd name="T64" fmla="*/ 302 w 110"/>
                <a:gd name="T65" fmla="*/ 439 h 106"/>
                <a:gd name="T66" fmla="*/ 0 w 110"/>
                <a:gd name="T67" fmla="*/ 482 h 106"/>
                <a:gd name="T68" fmla="*/ 1791 w 110"/>
                <a:gd name="T69" fmla="*/ 482 h 10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6"/>
                <a:gd name="T107" fmla="*/ 110 w 110"/>
                <a:gd name="T108" fmla="*/ 106 h 10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6">
                  <a:moveTo>
                    <a:pt x="15" y="105"/>
                  </a:moveTo>
                  <a:lnTo>
                    <a:pt x="15" y="97"/>
                  </a:lnTo>
                  <a:lnTo>
                    <a:pt x="17" y="92"/>
                  </a:lnTo>
                  <a:lnTo>
                    <a:pt x="21" y="86"/>
                  </a:lnTo>
                  <a:lnTo>
                    <a:pt x="27" y="81"/>
                  </a:lnTo>
                  <a:lnTo>
                    <a:pt x="34" y="75"/>
                  </a:lnTo>
                  <a:lnTo>
                    <a:pt x="41" y="70"/>
                  </a:lnTo>
                  <a:lnTo>
                    <a:pt x="49" y="65"/>
                  </a:lnTo>
                  <a:lnTo>
                    <a:pt x="58" y="60"/>
                  </a:lnTo>
                  <a:lnTo>
                    <a:pt x="67" y="55"/>
                  </a:lnTo>
                  <a:lnTo>
                    <a:pt x="76" y="50"/>
                  </a:lnTo>
                  <a:lnTo>
                    <a:pt x="84" y="44"/>
                  </a:lnTo>
                  <a:lnTo>
                    <a:pt x="91" y="38"/>
                  </a:lnTo>
                  <a:lnTo>
                    <a:pt x="99" y="30"/>
                  </a:lnTo>
                  <a:lnTo>
                    <a:pt x="104" y="21"/>
                  </a:lnTo>
                  <a:lnTo>
                    <a:pt x="107" y="11"/>
                  </a:lnTo>
                  <a:lnTo>
                    <a:pt x="109" y="0"/>
                  </a:lnTo>
                  <a:lnTo>
                    <a:pt x="95" y="0"/>
                  </a:lnTo>
                  <a:lnTo>
                    <a:pt x="94" y="8"/>
                  </a:lnTo>
                  <a:lnTo>
                    <a:pt x="91" y="15"/>
                  </a:lnTo>
                  <a:lnTo>
                    <a:pt x="88" y="22"/>
                  </a:lnTo>
                  <a:lnTo>
                    <a:pt x="82" y="27"/>
                  </a:lnTo>
                  <a:lnTo>
                    <a:pt x="76" y="34"/>
                  </a:lnTo>
                  <a:lnTo>
                    <a:pt x="68" y="38"/>
                  </a:lnTo>
                  <a:lnTo>
                    <a:pt x="60" y="43"/>
                  </a:lnTo>
                  <a:lnTo>
                    <a:pt x="52" y="49"/>
                  </a:lnTo>
                  <a:lnTo>
                    <a:pt x="43" y="53"/>
                  </a:lnTo>
                  <a:lnTo>
                    <a:pt x="34" y="58"/>
                  </a:lnTo>
                  <a:lnTo>
                    <a:pt x="26" y="64"/>
                  </a:lnTo>
                  <a:lnTo>
                    <a:pt x="18" y="70"/>
                  </a:lnTo>
                  <a:lnTo>
                    <a:pt x="11" y="77"/>
                  </a:lnTo>
                  <a:lnTo>
                    <a:pt x="6" y="85"/>
                  </a:lnTo>
                  <a:lnTo>
                    <a:pt x="2" y="95"/>
                  </a:lnTo>
                  <a:lnTo>
                    <a:pt x="0" y="105"/>
                  </a:lnTo>
                  <a:lnTo>
                    <a:pt x="15" y="10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3" name="Freeform 241">
              <a:extLst>
                <a:ext uri="{FF2B5EF4-FFF2-40B4-BE49-F238E27FC236}">
                  <a16:creationId xmlns:a16="http://schemas.microsoft.com/office/drawing/2014/main" id="{BE5FD9A0-5BC9-9A4D-BE1C-5E3F6649BABF}"/>
                </a:ext>
              </a:extLst>
            </p:cNvPr>
            <p:cNvSpPr>
              <a:spLocks/>
            </p:cNvSpPr>
            <p:nvPr/>
          </p:nvSpPr>
          <p:spPr bwMode="auto">
            <a:xfrm>
              <a:off x="3820" y="2275"/>
              <a:ext cx="138" cy="117"/>
            </a:xfrm>
            <a:custGeom>
              <a:avLst/>
              <a:gdLst>
                <a:gd name="T0" fmla="*/ 12819 w 110"/>
                <a:gd name="T1" fmla="*/ 569 h 108"/>
                <a:gd name="T2" fmla="*/ 12513 w 110"/>
                <a:gd name="T3" fmla="*/ 517 h 108"/>
                <a:gd name="T4" fmla="*/ 12119 w 110"/>
                <a:gd name="T5" fmla="*/ 464 h 108"/>
                <a:gd name="T6" fmla="*/ 11650 w 110"/>
                <a:gd name="T7" fmla="*/ 412 h 108"/>
                <a:gd name="T8" fmla="*/ 10625 w 110"/>
                <a:gd name="T9" fmla="*/ 372 h 108"/>
                <a:gd name="T10" fmla="*/ 9802 w 110"/>
                <a:gd name="T11" fmla="*/ 339 h 108"/>
                <a:gd name="T12" fmla="*/ 8841 w 110"/>
                <a:gd name="T13" fmla="*/ 311 h 108"/>
                <a:gd name="T14" fmla="*/ 7813 w 110"/>
                <a:gd name="T15" fmla="*/ 286 h 108"/>
                <a:gd name="T16" fmla="*/ 6821 w 110"/>
                <a:gd name="T17" fmla="*/ 249 h 108"/>
                <a:gd name="T18" fmla="*/ 5761 w 110"/>
                <a:gd name="T19" fmla="*/ 225 h 108"/>
                <a:gd name="T20" fmla="*/ 4710 w 110"/>
                <a:gd name="T21" fmla="*/ 194 h 108"/>
                <a:gd name="T22" fmla="*/ 4026 w 110"/>
                <a:gd name="T23" fmla="*/ 168 h 108"/>
                <a:gd name="T24" fmla="*/ 3209 w 110"/>
                <a:gd name="T25" fmla="*/ 138 h 108"/>
                <a:gd name="T26" fmla="*/ 2385 w 110"/>
                <a:gd name="T27" fmla="*/ 110 h 108"/>
                <a:gd name="T28" fmla="*/ 1901 w 110"/>
                <a:gd name="T29" fmla="*/ 74 h 108"/>
                <a:gd name="T30" fmla="*/ 1791 w 110"/>
                <a:gd name="T31" fmla="*/ 46 h 108"/>
                <a:gd name="T32" fmla="*/ 1791 w 110"/>
                <a:gd name="T33" fmla="*/ 0 h 108"/>
                <a:gd name="T34" fmla="*/ 0 w 110"/>
                <a:gd name="T35" fmla="*/ 0 h 108"/>
                <a:gd name="T36" fmla="*/ 302 w 110"/>
                <a:gd name="T37" fmla="*/ 58 h 108"/>
                <a:gd name="T38" fmla="*/ 748 w 110"/>
                <a:gd name="T39" fmla="*/ 110 h 108"/>
                <a:gd name="T40" fmla="*/ 1331 w 110"/>
                <a:gd name="T41" fmla="*/ 155 h 108"/>
                <a:gd name="T42" fmla="*/ 2095 w 110"/>
                <a:gd name="T43" fmla="*/ 194 h 108"/>
                <a:gd name="T44" fmla="*/ 2992 w 110"/>
                <a:gd name="T45" fmla="*/ 230 h 108"/>
                <a:gd name="T46" fmla="*/ 4026 w 110"/>
                <a:gd name="T47" fmla="*/ 264 h 108"/>
                <a:gd name="T48" fmla="*/ 5051 w 110"/>
                <a:gd name="T49" fmla="*/ 287 h 108"/>
                <a:gd name="T50" fmla="*/ 6096 w 110"/>
                <a:gd name="T51" fmla="*/ 313 h 108"/>
                <a:gd name="T52" fmla="*/ 6983 w 110"/>
                <a:gd name="T53" fmla="*/ 339 h 108"/>
                <a:gd name="T54" fmla="*/ 7950 w 110"/>
                <a:gd name="T55" fmla="*/ 367 h 108"/>
                <a:gd name="T56" fmla="*/ 8841 w 110"/>
                <a:gd name="T57" fmla="*/ 395 h 108"/>
                <a:gd name="T58" fmla="*/ 9595 w 110"/>
                <a:gd name="T59" fmla="*/ 428 h 108"/>
                <a:gd name="T60" fmla="*/ 10246 w 110"/>
                <a:gd name="T61" fmla="*/ 463 h 108"/>
                <a:gd name="T62" fmla="*/ 10625 w 110"/>
                <a:gd name="T63" fmla="*/ 490 h 108"/>
                <a:gd name="T64" fmla="*/ 10990 w 110"/>
                <a:gd name="T65" fmla="*/ 523 h 108"/>
                <a:gd name="T66" fmla="*/ 11091 w 110"/>
                <a:gd name="T67" fmla="*/ 569 h 108"/>
                <a:gd name="T68" fmla="*/ 12819 w 110"/>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8"/>
                <a:gd name="T107" fmla="*/ 110 w 110"/>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8">
                  <a:moveTo>
                    <a:pt x="109" y="107"/>
                  </a:moveTo>
                  <a:lnTo>
                    <a:pt x="107" y="96"/>
                  </a:lnTo>
                  <a:lnTo>
                    <a:pt x="104" y="86"/>
                  </a:lnTo>
                  <a:lnTo>
                    <a:pt x="99" y="77"/>
                  </a:lnTo>
                  <a:lnTo>
                    <a:pt x="91" y="69"/>
                  </a:lnTo>
                  <a:lnTo>
                    <a:pt x="84" y="63"/>
                  </a:lnTo>
                  <a:lnTo>
                    <a:pt x="76" y="57"/>
                  </a:lnTo>
                  <a:lnTo>
                    <a:pt x="67" y="52"/>
                  </a:lnTo>
                  <a:lnTo>
                    <a:pt x="58" y="46"/>
                  </a:lnTo>
                  <a:lnTo>
                    <a:pt x="49" y="41"/>
                  </a:lnTo>
                  <a:lnTo>
                    <a:pt x="41" y="36"/>
                  </a:lnTo>
                  <a:lnTo>
                    <a:pt x="34" y="31"/>
                  </a:lnTo>
                  <a:lnTo>
                    <a:pt x="27" y="26"/>
                  </a:lnTo>
                  <a:lnTo>
                    <a:pt x="21" y="20"/>
                  </a:lnTo>
                  <a:lnTo>
                    <a:pt x="17" y="14"/>
                  </a:lnTo>
                  <a:lnTo>
                    <a:pt x="15" y="8"/>
                  </a:lnTo>
                  <a:lnTo>
                    <a:pt x="15" y="0"/>
                  </a:lnTo>
                  <a:lnTo>
                    <a:pt x="0" y="0"/>
                  </a:lnTo>
                  <a:lnTo>
                    <a:pt x="2" y="11"/>
                  </a:lnTo>
                  <a:lnTo>
                    <a:pt x="6" y="20"/>
                  </a:lnTo>
                  <a:lnTo>
                    <a:pt x="11" y="29"/>
                  </a:lnTo>
                  <a:lnTo>
                    <a:pt x="18" y="36"/>
                  </a:lnTo>
                  <a:lnTo>
                    <a:pt x="26" y="42"/>
                  </a:lnTo>
                  <a:lnTo>
                    <a:pt x="34" y="48"/>
                  </a:lnTo>
                  <a:lnTo>
                    <a:pt x="43" y="53"/>
                  </a:lnTo>
                  <a:lnTo>
                    <a:pt x="52" y="58"/>
                  </a:lnTo>
                  <a:lnTo>
                    <a:pt x="60" y="63"/>
                  </a:lnTo>
                  <a:lnTo>
                    <a:pt x="68" y="68"/>
                  </a:lnTo>
                  <a:lnTo>
                    <a:pt x="76" y="73"/>
                  </a:lnTo>
                  <a:lnTo>
                    <a:pt x="82" y="79"/>
                  </a:lnTo>
                  <a:lnTo>
                    <a:pt x="88" y="85"/>
                  </a:lnTo>
                  <a:lnTo>
                    <a:pt x="91" y="91"/>
                  </a:lnTo>
                  <a:lnTo>
                    <a:pt x="94" y="98"/>
                  </a:lnTo>
                  <a:lnTo>
                    <a:pt x="95" y="107"/>
                  </a:lnTo>
                  <a:lnTo>
                    <a:pt x="109"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4" name="Freeform 242">
              <a:extLst>
                <a:ext uri="{FF2B5EF4-FFF2-40B4-BE49-F238E27FC236}">
                  <a16:creationId xmlns:a16="http://schemas.microsoft.com/office/drawing/2014/main" id="{4521308D-9CE2-9B6E-F55B-4E6F065B6AA9}"/>
                </a:ext>
              </a:extLst>
            </p:cNvPr>
            <p:cNvSpPr>
              <a:spLocks/>
            </p:cNvSpPr>
            <p:nvPr/>
          </p:nvSpPr>
          <p:spPr bwMode="auto">
            <a:xfrm>
              <a:off x="3820" y="2391"/>
              <a:ext cx="138" cy="116"/>
            </a:xfrm>
            <a:custGeom>
              <a:avLst/>
              <a:gdLst>
                <a:gd name="T0" fmla="*/ 1791 w 110"/>
                <a:gd name="T1" fmla="*/ 576 h 107"/>
                <a:gd name="T2" fmla="*/ 1791 w 110"/>
                <a:gd name="T3" fmla="*/ 531 h 107"/>
                <a:gd name="T4" fmla="*/ 1901 w 110"/>
                <a:gd name="T5" fmla="*/ 504 h 107"/>
                <a:gd name="T6" fmla="*/ 2385 w 110"/>
                <a:gd name="T7" fmla="*/ 469 h 107"/>
                <a:gd name="T8" fmla="*/ 3209 w 110"/>
                <a:gd name="T9" fmla="*/ 438 h 107"/>
                <a:gd name="T10" fmla="*/ 4026 w 110"/>
                <a:gd name="T11" fmla="*/ 404 h 107"/>
                <a:gd name="T12" fmla="*/ 4710 w 110"/>
                <a:gd name="T13" fmla="*/ 378 h 107"/>
                <a:gd name="T14" fmla="*/ 5761 w 110"/>
                <a:gd name="T15" fmla="*/ 349 h 107"/>
                <a:gd name="T16" fmla="*/ 6821 w 110"/>
                <a:gd name="T17" fmla="*/ 322 h 107"/>
                <a:gd name="T18" fmla="*/ 7813 w 110"/>
                <a:gd name="T19" fmla="*/ 297 h 107"/>
                <a:gd name="T20" fmla="*/ 8841 w 110"/>
                <a:gd name="T21" fmla="*/ 270 h 107"/>
                <a:gd name="T22" fmla="*/ 9802 w 110"/>
                <a:gd name="T23" fmla="*/ 233 h 107"/>
                <a:gd name="T24" fmla="*/ 10625 w 110"/>
                <a:gd name="T25" fmla="*/ 198 h 107"/>
                <a:gd name="T26" fmla="*/ 11650 w 110"/>
                <a:gd name="T27" fmla="*/ 156 h 107"/>
                <a:gd name="T28" fmla="*/ 12119 w 110"/>
                <a:gd name="T29" fmla="*/ 113 h 107"/>
                <a:gd name="T30" fmla="*/ 12513 w 110"/>
                <a:gd name="T31" fmla="*/ 59 h 107"/>
                <a:gd name="T32" fmla="*/ 12819 w 110"/>
                <a:gd name="T33" fmla="*/ 0 h 107"/>
                <a:gd name="T34" fmla="*/ 11091 w 110"/>
                <a:gd name="T35" fmla="*/ 0 h 107"/>
                <a:gd name="T36" fmla="*/ 10990 w 110"/>
                <a:gd name="T37" fmla="*/ 46 h 107"/>
                <a:gd name="T38" fmla="*/ 10625 w 110"/>
                <a:gd name="T39" fmla="*/ 81 h 107"/>
                <a:gd name="T40" fmla="*/ 10246 w 110"/>
                <a:gd name="T41" fmla="*/ 113 h 107"/>
                <a:gd name="T42" fmla="*/ 9595 w 110"/>
                <a:gd name="T43" fmla="*/ 144 h 107"/>
                <a:gd name="T44" fmla="*/ 8841 w 110"/>
                <a:gd name="T45" fmla="*/ 181 h 107"/>
                <a:gd name="T46" fmla="*/ 7950 w 110"/>
                <a:gd name="T47" fmla="*/ 208 h 107"/>
                <a:gd name="T48" fmla="*/ 6983 w 110"/>
                <a:gd name="T49" fmla="*/ 233 h 107"/>
                <a:gd name="T50" fmla="*/ 6096 w 110"/>
                <a:gd name="T51" fmla="*/ 265 h 107"/>
                <a:gd name="T52" fmla="*/ 5051 w 110"/>
                <a:gd name="T53" fmla="*/ 289 h 107"/>
                <a:gd name="T54" fmla="*/ 4026 w 110"/>
                <a:gd name="T55" fmla="*/ 317 h 107"/>
                <a:gd name="T56" fmla="*/ 2992 w 110"/>
                <a:gd name="T57" fmla="*/ 345 h 107"/>
                <a:gd name="T58" fmla="*/ 2095 w 110"/>
                <a:gd name="T59" fmla="*/ 378 h 107"/>
                <a:gd name="T60" fmla="*/ 1331 w 110"/>
                <a:gd name="T61" fmla="*/ 417 h 107"/>
                <a:gd name="T62" fmla="*/ 748 w 110"/>
                <a:gd name="T63" fmla="*/ 469 h 107"/>
                <a:gd name="T64" fmla="*/ 302 w 110"/>
                <a:gd name="T65" fmla="*/ 516 h 107"/>
                <a:gd name="T66" fmla="*/ 0 w 110"/>
                <a:gd name="T67" fmla="*/ 576 h 107"/>
                <a:gd name="T68" fmla="*/ 1791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7" y="92"/>
                  </a:lnTo>
                  <a:lnTo>
                    <a:pt x="21" y="86"/>
                  </a:lnTo>
                  <a:lnTo>
                    <a:pt x="27" y="80"/>
                  </a:lnTo>
                  <a:lnTo>
                    <a:pt x="34" y="74"/>
                  </a:lnTo>
                  <a:lnTo>
                    <a:pt x="41" y="70"/>
                  </a:lnTo>
                  <a:lnTo>
                    <a:pt x="49" y="65"/>
                  </a:lnTo>
                  <a:lnTo>
                    <a:pt x="58" y="60"/>
                  </a:lnTo>
                  <a:lnTo>
                    <a:pt x="67" y="55"/>
                  </a:lnTo>
                  <a:lnTo>
                    <a:pt x="76" y="50"/>
                  </a:lnTo>
                  <a:lnTo>
                    <a:pt x="84" y="43"/>
                  </a:lnTo>
                  <a:lnTo>
                    <a:pt x="91" y="37"/>
                  </a:lnTo>
                  <a:lnTo>
                    <a:pt x="99" y="29"/>
                  </a:lnTo>
                  <a:lnTo>
                    <a:pt x="104" y="21"/>
                  </a:lnTo>
                  <a:lnTo>
                    <a:pt x="107" y="11"/>
                  </a:lnTo>
                  <a:lnTo>
                    <a:pt x="109" y="0"/>
                  </a:lnTo>
                  <a:lnTo>
                    <a:pt x="95" y="0"/>
                  </a:lnTo>
                  <a:lnTo>
                    <a:pt x="94" y="8"/>
                  </a:lnTo>
                  <a:lnTo>
                    <a:pt x="91" y="15"/>
                  </a:lnTo>
                  <a:lnTo>
                    <a:pt x="88" y="21"/>
                  </a:lnTo>
                  <a:lnTo>
                    <a:pt x="82" y="27"/>
                  </a:lnTo>
                  <a:lnTo>
                    <a:pt x="76" y="33"/>
                  </a:lnTo>
                  <a:lnTo>
                    <a:pt x="68" y="38"/>
                  </a:lnTo>
                  <a:lnTo>
                    <a:pt x="60" y="43"/>
                  </a:lnTo>
                  <a:lnTo>
                    <a:pt x="52" y="48"/>
                  </a:lnTo>
                  <a:lnTo>
                    <a:pt x="43" y="53"/>
                  </a:lnTo>
                  <a:lnTo>
                    <a:pt x="34" y="58"/>
                  </a:lnTo>
                  <a:lnTo>
                    <a:pt x="26" y="64"/>
                  </a:lnTo>
                  <a:lnTo>
                    <a:pt x="18" y="70"/>
                  </a:lnTo>
                  <a:lnTo>
                    <a:pt x="11" y="77"/>
                  </a:lnTo>
                  <a:lnTo>
                    <a:pt x="6" y="86"/>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5" name="Freeform 243">
              <a:extLst>
                <a:ext uri="{FF2B5EF4-FFF2-40B4-BE49-F238E27FC236}">
                  <a16:creationId xmlns:a16="http://schemas.microsoft.com/office/drawing/2014/main" id="{53B4117F-2932-F50D-A265-CD876DD5DBFC}"/>
                </a:ext>
              </a:extLst>
            </p:cNvPr>
            <p:cNvSpPr>
              <a:spLocks/>
            </p:cNvSpPr>
            <p:nvPr/>
          </p:nvSpPr>
          <p:spPr bwMode="auto">
            <a:xfrm>
              <a:off x="3820" y="2505"/>
              <a:ext cx="138" cy="103"/>
            </a:xfrm>
            <a:custGeom>
              <a:avLst/>
              <a:gdLst>
                <a:gd name="T0" fmla="*/ 12819 w 110"/>
                <a:gd name="T1" fmla="*/ 515 h 95"/>
                <a:gd name="T2" fmla="*/ 12119 w 110"/>
                <a:gd name="T3" fmla="*/ 417 h 95"/>
                <a:gd name="T4" fmla="*/ 10625 w 110"/>
                <a:gd name="T5" fmla="*/ 349 h 95"/>
                <a:gd name="T6" fmla="*/ 8760 w 110"/>
                <a:gd name="T7" fmla="*/ 297 h 95"/>
                <a:gd name="T8" fmla="*/ 6821 w 110"/>
                <a:gd name="T9" fmla="*/ 250 h 95"/>
                <a:gd name="T10" fmla="*/ 4710 w 110"/>
                <a:gd name="T11" fmla="*/ 196 h 95"/>
                <a:gd name="T12" fmla="*/ 3209 w 110"/>
                <a:gd name="T13" fmla="*/ 142 h 95"/>
                <a:gd name="T14" fmla="*/ 1901 w 110"/>
                <a:gd name="T15" fmla="*/ 69 h 95"/>
                <a:gd name="T16" fmla="*/ 1791 w 110"/>
                <a:gd name="T17" fmla="*/ 0 h 95"/>
                <a:gd name="T18" fmla="*/ 0 w 110"/>
                <a:gd name="T19" fmla="*/ 0 h 95"/>
                <a:gd name="T20" fmla="*/ 748 w 110"/>
                <a:gd name="T21" fmla="*/ 112 h 95"/>
                <a:gd name="T22" fmla="*/ 2095 w 110"/>
                <a:gd name="T23" fmla="*/ 196 h 95"/>
                <a:gd name="T24" fmla="*/ 4026 w 110"/>
                <a:gd name="T25" fmla="*/ 266 h 95"/>
                <a:gd name="T26" fmla="*/ 6096 w 110"/>
                <a:gd name="T27" fmla="*/ 316 h 95"/>
                <a:gd name="T28" fmla="*/ 8145 w 110"/>
                <a:gd name="T29" fmla="*/ 372 h 95"/>
                <a:gd name="T30" fmla="*/ 9660 w 110"/>
                <a:gd name="T31" fmla="*/ 407 h 95"/>
                <a:gd name="T32" fmla="*/ 10735 w 110"/>
                <a:gd name="T33" fmla="*/ 466 h 95"/>
                <a:gd name="T34" fmla="*/ 11091 w 110"/>
                <a:gd name="T35" fmla="*/ 515 h 95"/>
                <a:gd name="T36" fmla="*/ 12819 w 110"/>
                <a:gd name="T37" fmla="*/ 515 h 9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0"/>
                <a:gd name="T58" fmla="*/ 0 h 95"/>
                <a:gd name="T59" fmla="*/ 110 w 110"/>
                <a:gd name="T60" fmla="*/ 95 h 9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0" h="95">
                  <a:moveTo>
                    <a:pt x="109" y="94"/>
                  </a:moveTo>
                  <a:lnTo>
                    <a:pt x="104" y="77"/>
                  </a:lnTo>
                  <a:lnTo>
                    <a:pt x="91" y="65"/>
                  </a:lnTo>
                  <a:lnTo>
                    <a:pt x="75" y="55"/>
                  </a:lnTo>
                  <a:lnTo>
                    <a:pt x="58" y="46"/>
                  </a:lnTo>
                  <a:lnTo>
                    <a:pt x="41" y="36"/>
                  </a:lnTo>
                  <a:lnTo>
                    <a:pt x="27" y="26"/>
                  </a:lnTo>
                  <a:lnTo>
                    <a:pt x="17" y="13"/>
                  </a:lnTo>
                  <a:lnTo>
                    <a:pt x="15" y="0"/>
                  </a:lnTo>
                  <a:lnTo>
                    <a:pt x="0" y="0"/>
                  </a:lnTo>
                  <a:lnTo>
                    <a:pt x="6" y="20"/>
                  </a:lnTo>
                  <a:lnTo>
                    <a:pt x="18" y="36"/>
                  </a:lnTo>
                  <a:lnTo>
                    <a:pt x="34" y="48"/>
                  </a:lnTo>
                  <a:lnTo>
                    <a:pt x="52" y="57"/>
                  </a:lnTo>
                  <a:lnTo>
                    <a:pt x="69" y="67"/>
                  </a:lnTo>
                  <a:lnTo>
                    <a:pt x="83" y="75"/>
                  </a:lnTo>
                  <a:lnTo>
                    <a:pt x="92" y="85"/>
                  </a:lnTo>
                  <a:lnTo>
                    <a:pt x="95" y="94"/>
                  </a:lnTo>
                  <a:lnTo>
                    <a:pt x="109" y="9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6" name="Freeform 244">
              <a:extLst>
                <a:ext uri="{FF2B5EF4-FFF2-40B4-BE49-F238E27FC236}">
                  <a16:creationId xmlns:a16="http://schemas.microsoft.com/office/drawing/2014/main" id="{F4BA6AF3-EF8D-35E3-36A8-6DC4F11131E2}"/>
                </a:ext>
              </a:extLst>
            </p:cNvPr>
            <p:cNvSpPr>
              <a:spLocks/>
            </p:cNvSpPr>
            <p:nvPr/>
          </p:nvSpPr>
          <p:spPr bwMode="auto">
            <a:xfrm>
              <a:off x="3938" y="2607"/>
              <a:ext cx="20" cy="5"/>
            </a:xfrm>
            <a:custGeom>
              <a:avLst/>
              <a:gdLst>
                <a:gd name="T0" fmla="*/ 1673 w 16"/>
                <a:gd name="T1" fmla="*/ 4 h 5"/>
                <a:gd name="T2" fmla="*/ 1673 w 16"/>
                <a:gd name="T3" fmla="*/ 0 h 5"/>
                <a:gd name="T4" fmla="*/ 0 w 16"/>
                <a:gd name="T5" fmla="*/ 0 h 5"/>
                <a:gd name="T6" fmla="*/ 0 w 16"/>
                <a:gd name="T7" fmla="*/ 4 h 5"/>
                <a:gd name="T8" fmla="*/ 1673 w 16"/>
                <a:gd name="T9" fmla="*/ 4 h 5"/>
                <a:gd name="T10" fmla="*/ 0 60000 65536"/>
                <a:gd name="T11" fmla="*/ 0 60000 65536"/>
                <a:gd name="T12" fmla="*/ 0 60000 65536"/>
                <a:gd name="T13" fmla="*/ 0 60000 65536"/>
                <a:gd name="T14" fmla="*/ 0 60000 65536"/>
                <a:gd name="T15" fmla="*/ 0 w 16"/>
                <a:gd name="T16" fmla="*/ 0 h 5"/>
                <a:gd name="T17" fmla="*/ 16 w 16"/>
                <a:gd name="T18" fmla="*/ 5 h 5"/>
              </a:gdLst>
              <a:ahLst/>
              <a:cxnLst>
                <a:cxn ang="T10">
                  <a:pos x="T0" y="T1"/>
                </a:cxn>
                <a:cxn ang="T11">
                  <a:pos x="T2" y="T3"/>
                </a:cxn>
                <a:cxn ang="T12">
                  <a:pos x="T4" y="T5"/>
                </a:cxn>
                <a:cxn ang="T13">
                  <a:pos x="T6" y="T7"/>
                </a:cxn>
                <a:cxn ang="T14">
                  <a:pos x="T8" y="T9"/>
                </a:cxn>
              </a:cxnLst>
              <a:rect l="T15" t="T16" r="T17" b="T18"/>
              <a:pathLst>
                <a:path w="16" h="5">
                  <a:moveTo>
                    <a:pt x="15" y="4"/>
                  </a:moveTo>
                  <a:lnTo>
                    <a:pt x="15" y="0"/>
                  </a:lnTo>
                  <a:lnTo>
                    <a:pt x="0" y="0"/>
                  </a:lnTo>
                  <a:lnTo>
                    <a:pt x="0" y="4"/>
                  </a:lnTo>
                  <a:lnTo>
                    <a:pt x="15" y="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7" name="Freeform 245">
              <a:extLst>
                <a:ext uri="{FF2B5EF4-FFF2-40B4-BE49-F238E27FC236}">
                  <a16:creationId xmlns:a16="http://schemas.microsoft.com/office/drawing/2014/main" id="{C490205C-A42E-F4C3-2C6A-733FE26BBEEF}"/>
                </a:ext>
              </a:extLst>
            </p:cNvPr>
            <p:cNvSpPr>
              <a:spLocks/>
            </p:cNvSpPr>
            <p:nvPr/>
          </p:nvSpPr>
          <p:spPr bwMode="auto">
            <a:xfrm>
              <a:off x="3820" y="2611"/>
              <a:ext cx="138" cy="116"/>
            </a:xfrm>
            <a:custGeom>
              <a:avLst/>
              <a:gdLst>
                <a:gd name="T0" fmla="*/ 1791 w 110"/>
                <a:gd name="T1" fmla="*/ 576 h 107"/>
                <a:gd name="T2" fmla="*/ 1791 w 110"/>
                <a:gd name="T3" fmla="*/ 531 h 107"/>
                <a:gd name="T4" fmla="*/ 2095 w 110"/>
                <a:gd name="T5" fmla="*/ 502 h 107"/>
                <a:gd name="T6" fmla="*/ 2385 w 110"/>
                <a:gd name="T7" fmla="*/ 463 h 107"/>
                <a:gd name="T8" fmla="*/ 3209 w 110"/>
                <a:gd name="T9" fmla="*/ 429 h 107"/>
                <a:gd name="T10" fmla="*/ 4026 w 110"/>
                <a:gd name="T11" fmla="*/ 396 h 107"/>
                <a:gd name="T12" fmla="*/ 4710 w 110"/>
                <a:gd name="T13" fmla="*/ 368 h 107"/>
                <a:gd name="T14" fmla="*/ 5900 w 110"/>
                <a:gd name="T15" fmla="*/ 337 h 107"/>
                <a:gd name="T16" fmla="*/ 6821 w 110"/>
                <a:gd name="T17" fmla="*/ 311 h 107"/>
                <a:gd name="T18" fmla="*/ 7813 w 110"/>
                <a:gd name="T19" fmla="*/ 274 h 107"/>
                <a:gd name="T20" fmla="*/ 8841 w 110"/>
                <a:gd name="T21" fmla="*/ 249 h 107"/>
                <a:gd name="T22" fmla="*/ 9802 w 110"/>
                <a:gd name="T23" fmla="*/ 212 h 107"/>
                <a:gd name="T24" fmla="*/ 10625 w 110"/>
                <a:gd name="T25" fmla="*/ 181 h 107"/>
                <a:gd name="T26" fmla="*/ 11650 w 110"/>
                <a:gd name="T27" fmla="*/ 144 h 107"/>
                <a:gd name="T28" fmla="*/ 12119 w 110"/>
                <a:gd name="T29" fmla="*/ 104 h 107"/>
                <a:gd name="T30" fmla="*/ 12513 w 110"/>
                <a:gd name="T31" fmla="*/ 50 h 107"/>
                <a:gd name="T32" fmla="*/ 12819 w 110"/>
                <a:gd name="T33" fmla="*/ 0 h 107"/>
                <a:gd name="T34" fmla="*/ 11091 w 110"/>
                <a:gd name="T35" fmla="*/ 0 h 107"/>
                <a:gd name="T36" fmla="*/ 10990 w 110"/>
                <a:gd name="T37" fmla="*/ 42 h 107"/>
                <a:gd name="T38" fmla="*/ 10735 w 110"/>
                <a:gd name="T39" fmla="*/ 69 h 107"/>
                <a:gd name="T40" fmla="*/ 10246 w 110"/>
                <a:gd name="T41" fmla="*/ 103 h 107"/>
                <a:gd name="T42" fmla="*/ 9595 w 110"/>
                <a:gd name="T43" fmla="*/ 123 h 107"/>
                <a:gd name="T44" fmla="*/ 8841 w 110"/>
                <a:gd name="T45" fmla="*/ 156 h 107"/>
                <a:gd name="T46" fmla="*/ 7950 w 110"/>
                <a:gd name="T47" fmla="*/ 183 h 107"/>
                <a:gd name="T48" fmla="*/ 6983 w 110"/>
                <a:gd name="T49" fmla="*/ 212 h 107"/>
                <a:gd name="T50" fmla="*/ 6096 w 110"/>
                <a:gd name="T51" fmla="*/ 244 h 107"/>
                <a:gd name="T52" fmla="*/ 4893 w 110"/>
                <a:gd name="T53" fmla="*/ 270 h 107"/>
                <a:gd name="T54" fmla="*/ 4026 w 110"/>
                <a:gd name="T55" fmla="*/ 297 h 107"/>
                <a:gd name="T56" fmla="*/ 2917 w 110"/>
                <a:gd name="T57" fmla="*/ 337 h 107"/>
                <a:gd name="T58" fmla="*/ 2095 w 110"/>
                <a:gd name="T59" fmla="*/ 374 h 107"/>
                <a:gd name="T60" fmla="*/ 1331 w 110"/>
                <a:gd name="T61" fmla="*/ 410 h 107"/>
                <a:gd name="T62" fmla="*/ 596 w 110"/>
                <a:gd name="T63" fmla="*/ 465 h 107"/>
                <a:gd name="T64" fmla="*/ 302 w 110"/>
                <a:gd name="T65" fmla="*/ 516 h 107"/>
                <a:gd name="T66" fmla="*/ 0 w 110"/>
                <a:gd name="T67" fmla="*/ 576 h 107"/>
                <a:gd name="T68" fmla="*/ 1791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8" y="91"/>
                  </a:lnTo>
                  <a:lnTo>
                    <a:pt x="21" y="84"/>
                  </a:lnTo>
                  <a:lnTo>
                    <a:pt x="27" y="78"/>
                  </a:lnTo>
                  <a:lnTo>
                    <a:pt x="34" y="72"/>
                  </a:lnTo>
                  <a:lnTo>
                    <a:pt x="41" y="67"/>
                  </a:lnTo>
                  <a:lnTo>
                    <a:pt x="50" y="61"/>
                  </a:lnTo>
                  <a:lnTo>
                    <a:pt x="58" y="56"/>
                  </a:lnTo>
                  <a:lnTo>
                    <a:pt x="67" y="51"/>
                  </a:lnTo>
                  <a:lnTo>
                    <a:pt x="76" y="46"/>
                  </a:lnTo>
                  <a:lnTo>
                    <a:pt x="84" y="39"/>
                  </a:lnTo>
                  <a:lnTo>
                    <a:pt x="91" y="33"/>
                  </a:lnTo>
                  <a:lnTo>
                    <a:pt x="99" y="27"/>
                  </a:lnTo>
                  <a:lnTo>
                    <a:pt x="104" y="19"/>
                  </a:lnTo>
                  <a:lnTo>
                    <a:pt x="107" y="9"/>
                  </a:lnTo>
                  <a:lnTo>
                    <a:pt x="109" y="0"/>
                  </a:lnTo>
                  <a:lnTo>
                    <a:pt x="95" y="0"/>
                  </a:lnTo>
                  <a:lnTo>
                    <a:pt x="94" y="7"/>
                  </a:lnTo>
                  <a:lnTo>
                    <a:pt x="92" y="13"/>
                  </a:lnTo>
                  <a:lnTo>
                    <a:pt x="88" y="18"/>
                  </a:lnTo>
                  <a:lnTo>
                    <a:pt x="82" y="23"/>
                  </a:lnTo>
                  <a:lnTo>
                    <a:pt x="76" y="29"/>
                  </a:lnTo>
                  <a:lnTo>
                    <a:pt x="68" y="34"/>
                  </a:lnTo>
                  <a:lnTo>
                    <a:pt x="60" y="39"/>
                  </a:lnTo>
                  <a:lnTo>
                    <a:pt x="52" y="44"/>
                  </a:lnTo>
                  <a:lnTo>
                    <a:pt x="42" y="50"/>
                  </a:lnTo>
                  <a:lnTo>
                    <a:pt x="34" y="55"/>
                  </a:lnTo>
                  <a:lnTo>
                    <a:pt x="25" y="61"/>
                  </a:lnTo>
                  <a:lnTo>
                    <a:pt x="18" y="69"/>
                  </a:lnTo>
                  <a:lnTo>
                    <a:pt x="11" y="76"/>
                  </a:lnTo>
                  <a:lnTo>
                    <a:pt x="5" y="85"/>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8" name="Freeform 246">
              <a:extLst>
                <a:ext uri="{FF2B5EF4-FFF2-40B4-BE49-F238E27FC236}">
                  <a16:creationId xmlns:a16="http://schemas.microsoft.com/office/drawing/2014/main" id="{2A0E96B5-1B7B-2D2C-A26A-8899E904BA09}"/>
                </a:ext>
              </a:extLst>
            </p:cNvPr>
            <p:cNvSpPr>
              <a:spLocks/>
            </p:cNvSpPr>
            <p:nvPr/>
          </p:nvSpPr>
          <p:spPr bwMode="auto">
            <a:xfrm>
              <a:off x="3820" y="2726"/>
              <a:ext cx="138" cy="116"/>
            </a:xfrm>
            <a:custGeom>
              <a:avLst/>
              <a:gdLst>
                <a:gd name="T0" fmla="*/ 12819 w 110"/>
                <a:gd name="T1" fmla="*/ 576 h 107"/>
                <a:gd name="T2" fmla="*/ 12513 w 110"/>
                <a:gd name="T3" fmla="*/ 516 h 107"/>
                <a:gd name="T4" fmla="*/ 12119 w 110"/>
                <a:gd name="T5" fmla="*/ 465 h 107"/>
                <a:gd name="T6" fmla="*/ 11650 w 110"/>
                <a:gd name="T7" fmla="*/ 417 h 107"/>
                <a:gd name="T8" fmla="*/ 10625 w 110"/>
                <a:gd name="T9" fmla="*/ 378 h 107"/>
                <a:gd name="T10" fmla="*/ 9802 w 110"/>
                <a:gd name="T11" fmla="*/ 345 h 107"/>
                <a:gd name="T12" fmla="*/ 8841 w 110"/>
                <a:gd name="T13" fmla="*/ 317 h 107"/>
                <a:gd name="T14" fmla="*/ 7813 w 110"/>
                <a:gd name="T15" fmla="*/ 289 h 107"/>
                <a:gd name="T16" fmla="*/ 6821 w 110"/>
                <a:gd name="T17" fmla="*/ 265 h 107"/>
                <a:gd name="T18" fmla="*/ 5761 w 110"/>
                <a:gd name="T19" fmla="*/ 233 h 107"/>
                <a:gd name="T20" fmla="*/ 4710 w 110"/>
                <a:gd name="T21" fmla="*/ 208 h 107"/>
                <a:gd name="T22" fmla="*/ 4026 w 110"/>
                <a:gd name="T23" fmla="*/ 181 h 107"/>
                <a:gd name="T24" fmla="*/ 3209 w 110"/>
                <a:gd name="T25" fmla="*/ 144 h 107"/>
                <a:gd name="T26" fmla="*/ 2385 w 110"/>
                <a:gd name="T27" fmla="*/ 113 h 107"/>
                <a:gd name="T28" fmla="*/ 2095 w 110"/>
                <a:gd name="T29" fmla="*/ 81 h 107"/>
                <a:gd name="T30" fmla="*/ 1791 w 110"/>
                <a:gd name="T31" fmla="*/ 46 h 107"/>
                <a:gd name="T32" fmla="*/ 1791 w 110"/>
                <a:gd name="T33" fmla="*/ 0 h 107"/>
                <a:gd name="T34" fmla="*/ 0 w 110"/>
                <a:gd name="T35" fmla="*/ 0 h 107"/>
                <a:gd name="T36" fmla="*/ 302 w 110"/>
                <a:gd name="T37" fmla="*/ 59 h 107"/>
                <a:gd name="T38" fmla="*/ 596 w 110"/>
                <a:gd name="T39" fmla="*/ 113 h 107"/>
                <a:gd name="T40" fmla="*/ 1331 w 110"/>
                <a:gd name="T41" fmla="*/ 156 h 107"/>
                <a:gd name="T42" fmla="*/ 2095 w 110"/>
                <a:gd name="T43" fmla="*/ 198 h 107"/>
                <a:gd name="T44" fmla="*/ 2992 w 110"/>
                <a:gd name="T45" fmla="*/ 233 h 107"/>
                <a:gd name="T46" fmla="*/ 4026 w 110"/>
                <a:gd name="T47" fmla="*/ 270 h 107"/>
                <a:gd name="T48" fmla="*/ 5051 w 110"/>
                <a:gd name="T49" fmla="*/ 297 h 107"/>
                <a:gd name="T50" fmla="*/ 6096 w 110"/>
                <a:gd name="T51" fmla="*/ 318 h 107"/>
                <a:gd name="T52" fmla="*/ 6983 w 110"/>
                <a:gd name="T53" fmla="*/ 349 h 107"/>
                <a:gd name="T54" fmla="*/ 7950 w 110"/>
                <a:gd name="T55" fmla="*/ 378 h 107"/>
                <a:gd name="T56" fmla="*/ 8841 w 110"/>
                <a:gd name="T57" fmla="*/ 404 h 107"/>
                <a:gd name="T58" fmla="*/ 9595 w 110"/>
                <a:gd name="T59" fmla="*/ 438 h 107"/>
                <a:gd name="T60" fmla="*/ 10246 w 110"/>
                <a:gd name="T61" fmla="*/ 469 h 107"/>
                <a:gd name="T62" fmla="*/ 10735 w 110"/>
                <a:gd name="T63" fmla="*/ 504 h 107"/>
                <a:gd name="T64" fmla="*/ 10990 w 110"/>
                <a:gd name="T65" fmla="*/ 531 h 107"/>
                <a:gd name="T66" fmla="*/ 11091 w 110"/>
                <a:gd name="T67" fmla="*/ 576 h 107"/>
                <a:gd name="T68" fmla="*/ 12819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09" y="106"/>
                  </a:moveTo>
                  <a:lnTo>
                    <a:pt x="107" y="95"/>
                  </a:lnTo>
                  <a:lnTo>
                    <a:pt x="104" y="85"/>
                  </a:lnTo>
                  <a:lnTo>
                    <a:pt x="99" y="77"/>
                  </a:lnTo>
                  <a:lnTo>
                    <a:pt x="91" y="70"/>
                  </a:lnTo>
                  <a:lnTo>
                    <a:pt x="84" y="64"/>
                  </a:lnTo>
                  <a:lnTo>
                    <a:pt x="76" y="58"/>
                  </a:lnTo>
                  <a:lnTo>
                    <a:pt x="67" y="53"/>
                  </a:lnTo>
                  <a:lnTo>
                    <a:pt x="58" y="48"/>
                  </a:lnTo>
                  <a:lnTo>
                    <a:pt x="49" y="43"/>
                  </a:lnTo>
                  <a:lnTo>
                    <a:pt x="41" y="38"/>
                  </a:lnTo>
                  <a:lnTo>
                    <a:pt x="34" y="33"/>
                  </a:lnTo>
                  <a:lnTo>
                    <a:pt x="27" y="27"/>
                  </a:lnTo>
                  <a:lnTo>
                    <a:pt x="21" y="21"/>
                  </a:lnTo>
                  <a:lnTo>
                    <a:pt x="18" y="15"/>
                  </a:lnTo>
                  <a:lnTo>
                    <a:pt x="15" y="8"/>
                  </a:lnTo>
                  <a:lnTo>
                    <a:pt x="15" y="0"/>
                  </a:lnTo>
                  <a:lnTo>
                    <a:pt x="0" y="0"/>
                  </a:lnTo>
                  <a:lnTo>
                    <a:pt x="2" y="11"/>
                  </a:lnTo>
                  <a:lnTo>
                    <a:pt x="5" y="21"/>
                  </a:lnTo>
                  <a:lnTo>
                    <a:pt x="11" y="29"/>
                  </a:lnTo>
                  <a:lnTo>
                    <a:pt x="18" y="37"/>
                  </a:lnTo>
                  <a:lnTo>
                    <a:pt x="26" y="43"/>
                  </a:lnTo>
                  <a:lnTo>
                    <a:pt x="34" y="50"/>
                  </a:lnTo>
                  <a:lnTo>
                    <a:pt x="43" y="55"/>
                  </a:lnTo>
                  <a:lnTo>
                    <a:pt x="52" y="59"/>
                  </a:lnTo>
                  <a:lnTo>
                    <a:pt x="60" y="65"/>
                  </a:lnTo>
                  <a:lnTo>
                    <a:pt x="68" y="70"/>
                  </a:lnTo>
                  <a:lnTo>
                    <a:pt x="76" y="74"/>
                  </a:lnTo>
                  <a:lnTo>
                    <a:pt x="82" y="80"/>
                  </a:lnTo>
                  <a:lnTo>
                    <a:pt x="88" y="86"/>
                  </a:lnTo>
                  <a:lnTo>
                    <a:pt x="92" y="92"/>
                  </a:lnTo>
                  <a:lnTo>
                    <a:pt x="94" y="98"/>
                  </a:lnTo>
                  <a:lnTo>
                    <a:pt x="95" y="106"/>
                  </a:lnTo>
                  <a:lnTo>
                    <a:pt x="109"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99" name="Freeform 247">
              <a:extLst>
                <a:ext uri="{FF2B5EF4-FFF2-40B4-BE49-F238E27FC236}">
                  <a16:creationId xmlns:a16="http://schemas.microsoft.com/office/drawing/2014/main" id="{AA1D9D60-D39F-782B-4F21-916BC9A1C8BA}"/>
                </a:ext>
              </a:extLst>
            </p:cNvPr>
            <p:cNvSpPr>
              <a:spLocks/>
            </p:cNvSpPr>
            <p:nvPr/>
          </p:nvSpPr>
          <p:spPr bwMode="auto">
            <a:xfrm>
              <a:off x="3820" y="2841"/>
              <a:ext cx="138" cy="115"/>
            </a:xfrm>
            <a:custGeom>
              <a:avLst/>
              <a:gdLst>
                <a:gd name="T0" fmla="*/ 1791 w 110"/>
                <a:gd name="T1" fmla="*/ 480 h 107"/>
                <a:gd name="T2" fmla="*/ 1791 w 110"/>
                <a:gd name="T3" fmla="*/ 443 h 107"/>
                <a:gd name="T4" fmla="*/ 2095 w 110"/>
                <a:gd name="T5" fmla="*/ 408 h 107"/>
                <a:gd name="T6" fmla="*/ 2385 w 110"/>
                <a:gd name="T7" fmla="*/ 383 h 107"/>
                <a:gd name="T8" fmla="*/ 3209 w 110"/>
                <a:gd name="T9" fmla="*/ 356 h 107"/>
                <a:gd name="T10" fmla="*/ 4026 w 110"/>
                <a:gd name="T11" fmla="*/ 329 h 107"/>
                <a:gd name="T12" fmla="*/ 4710 w 110"/>
                <a:gd name="T13" fmla="*/ 306 h 107"/>
                <a:gd name="T14" fmla="*/ 5761 w 110"/>
                <a:gd name="T15" fmla="*/ 284 h 107"/>
                <a:gd name="T16" fmla="*/ 6821 w 110"/>
                <a:gd name="T17" fmla="*/ 264 h 107"/>
                <a:gd name="T18" fmla="*/ 7813 w 110"/>
                <a:gd name="T19" fmla="*/ 244 h 107"/>
                <a:gd name="T20" fmla="*/ 8841 w 110"/>
                <a:gd name="T21" fmla="*/ 218 h 107"/>
                <a:gd name="T22" fmla="*/ 9802 w 110"/>
                <a:gd name="T23" fmla="*/ 189 h 107"/>
                <a:gd name="T24" fmla="*/ 10625 w 110"/>
                <a:gd name="T25" fmla="*/ 164 h 107"/>
                <a:gd name="T26" fmla="*/ 11650 w 110"/>
                <a:gd name="T27" fmla="*/ 129 h 107"/>
                <a:gd name="T28" fmla="*/ 12119 w 110"/>
                <a:gd name="T29" fmla="*/ 90 h 107"/>
                <a:gd name="T30" fmla="*/ 12513 w 110"/>
                <a:gd name="T31" fmla="*/ 44 h 107"/>
                <a:gd name="T32" fmla="*/ 12819 w 110"/>
                <a:gd name="T33" fmla="*/ 0 h 107"/>
                <a:gd name="T34" fmla="*/ 11091 w 110"/>
                <a:gd name="T35" fmla="*/ 0 h 107"/>
                <a:gd name="T36" fmla="*/ 10990 w 110"/>
                <a:gd name="T37" fmla="*/ 38 h 107"/>
                <a:gd name="T38" fmla="*/ 10735 w 110"/>
                <a:gd name="T39" fmla="*/ 59 h 107"/>
                <a:gd name="T40" fmla="*/ 10246 w 110"/>
                <a:gd name="T41" fmla="*/ 90 h 107"/>
                <a:gd name="T42" fmla="*/ 9595 w 110"/>
                <a:gd name="T43" fmla="*/ 112 h 107"/>
                <a:gd name="T44" fmla="*/ 8841 w 110"/>
                <a:gd name="T45" fmla="*/ 139 h 107"/>
                <a:gd name="T46" fmla="*/ 7950 w 110"/>
                <a:gd name="T47" fmla="*/ 164 h 107"/>
                <a:gd name="T48" fmla="*/ 6983 w 110"/>
                <a:gd name="T49" fmla="*/ 185 h 107"/>
                <a:gd name="T50" fmla="*/ 6096 w 110"/>
                <a:gd name="T51" fmla="*/ 211 h 107"/>
                <a:gd name="T52" fmla="*/ 5051 w 110"/>
                <a:gd name="T53" fmla="*/ 230 h 107"/>
                <a:gd name="T54" fmla="*/ 4026 w 110"/>
                <a:gd name="T55" fmla="*/ 251 h 107"/>
                <a:gd name="T56" fmla="*/ 2992 w 110"/>
                <a:gd name="T57" fmla="*/ 284 h 107"/>
                <a:gd name="T58" fmla="*/ 2095 w 110"/>
                <a:gd name="T59" fmla="*/ 306 h 107"/>
                <a:gd name="T60" fmla="*/ 1331 w 110"/>
                <a:gd name="T61" fmla="*/ 353 h 107"/>
                <a:gd name="T62" fmla="*/ 596 w 110"/>
                <a:gd name="T63" fmla="*/ 383 h 107"/>
                <a:gd name="T64" fmla="*/ 302 w 110"/>
                <a:gd name="T65" fmla="*/ 434 h 107"/>
                <a:gd name="T66" fmla="*/ 0 w 110"/>
                <a:gd name="T67" fmla="*/ 480 h 107"/>
                <a:gd name="T68" fmla="*/ 1791 w 110"/>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8" y="90"/>
                  </a:lnTo>
                  <a:lnTo>
                    <a:pt x="21" y="85"/>
                  </a:lnTo>
                  <a:lnTo>
                    <a:pt x="27" y="79"/>
                  </a:lnTo>
                  <a:lnTo>
                    <a:pt x="34" y="73"/>
                  </a:lnTo>
                  <a:lnTo>
                    <a:pt x="41" y="68"/>
                  </a:lnTo>
                  <a:lnTo>
                    <a:pt x="49" y="62"/>
                  </a:lnTo>
                  <a:lnTo>
                    <a:pt x="58" y="58"/>
                  </a:lnTo>
                  <a:lnTo>
                    <a:pt x="67" y="53"/>
                  </a:lnTo>
                  <a:lnTo>
                    <a:pt x="76" y="48"/>
                  </a:lnTo>
                  <a:lnTo>
                    <a:pt x="84" y="42"/>
                  </a:lnTo>
                  <a:lnTo>
                    <a:pt x="91" y="36"/>
                  </a:lnTo>
                  <a:lnTo>
                    <a:pt x="99" y="29"/>
                  </a:lnTo>
                  <a:lnTo>
                    <a:pt x="104" y="20"/>
                  </a:lnTo>
                  <a:lnTo>
                    <a:pt x="107" y="10"/>
                  </a:lnTo>
                  <a:lnTo>
                    <a:pt x="109" y="0"/>
                  </a:lnTo>
                  <a:lnTo>
                    <a:pt x="95" y="0"/>
                  </a:lnTo>
                  <a:lnTo>
                    <a:pt x="94" y="8"/>
                  </a:lnTo>
                  <a:lnTo>
                    <a:pt x="92" y="14"/>
                  </a:lnTo>
                  <a:lnTo>
                    <a:pt x="88" y="20"/>
                  </a:lnTo>
                  <a:lnTo>
                    <a:pt x="82" y="25"/>
                  </a:lnTo>
                  <a:lnTo>
                    <a:pt x="76" y="31"/>
                  </a:lnTo>
                  <a:lnTo>
                    <a:pt x="68" y="36"/>
                  </a:lnTo>
                  <a:lnTo>
                    <a:pt x="60" y="41"/>
                  </a:lnTo>
                  <a:lnTo>
                    <a:pt x="52" y="46"/>
                  </a:lnTo>
                  <a:lnTo>
                    <a:pt x="43" y="51"/>
                  </a:lnTo>
                  <a:lnTo>
                    <a:pt x="34" y="56"/>
                  </a:lnTo>
                  <a:lnTo>
                    <a:pt x="26" y="62"/>
                  </a:lnTo>
                  <a:lnTo>
                    <a:pt x="18" y="68"/>
                  </a:lnTo>
                  <a:lnTo>
                    <a:pt x="11" y="77"/>
                  </a:lnTo>
                  <a:lnTo>
                    <a:pt x="5" y="85"/>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0" name="Freeform 248">
              <a:extLst>
                <a:ext uri="{FF2B5EF4-FFF2-40B4-BE49-F238E27FC236}">
                  <a16:creationId xmlns:a16="http://schemas.microsoft.com/office/drawing/2014/main" id="{0055486F-4A11-3D86-14B7-A2406EF43B36}"/>
                </a:ext>
              </a:extLst>
            </p:cNvPr>
            <p:cNvSpPr>
              <a:spLocks/>
            </p:cNvSpPr>
            <p:nvPr/>
          </p:nvSpPr>
          <p:spPr bwMode="auto">
            <a:xfrm>
              <a:off x="3820" y="2955"/>
              <a:ext cx="138" cy="117"/>
            </a:xfrm>
            <a:custGeom>
              <a:avLst/>
              <a:gdLst>
                <a:gd name="T0" fmla="*/ 12819 w 110"/>
                <a:gd name="T1" fmla="*/ 569 h 108"/>
                <a:gd name="T2" fmla="*/ 12513 w 110"/>
                <a:gd name="T3" fmla="*/ 518 h 108"/>
                <a:gd name="T4" fmla="*/ 12119 w 110"/>
                <a:gd name="T5" fmla="*/ 469 h 108"/>
                <a:gd name="T6" fmla="*/ 11650 w 110"/>
                <a:gd name="T7" fmla="*/ 427 h 108"/>
                <a:gd name="T8" fmla="*/ 10625 w 110"/>
                <a:gd name="T9" fmla="*/ 380 h 108"/>
                <a:gd name="T10" fmla="*/ 9802 w 110"/>
                <a:gd name="T11" fmla="*/ 346 h 108"/>
                <a:gd name="T12" fmla="*/ 8841 w 110"/>
                <a:gd name="T13" fmla="*/ 319 h 108"/>
                <a:gd name="T14" fmla="*/ 7813 w 110"/>
                <a:gd name="T15" fmla="*/ 293 h 108"/>
                <a:gd name="T16" fmla="*/ 6821 w 110"/>
                <a:gd name="T17" fmla="*/ 265 h 108"/>
                <a:gd name="T18" fmla="*/ 5761 w 110"/>
                <a:gd name="T19" fmla="*/ 244 h 108"/>
                <a:gd name="T20" fmla="*/ 4710 w 110"/>
                <a:gd name="T21" fmla="*/ 210 h 108"/>
                <a:gd name="T22" fmla="*/ 4026 w 110"/>
                <a:gd name="T23" fmla="*/ 182 h 108"/>
                <a:gd name="T24" fmla="*/ 3209 w 110"/>
                <a:gd name="T25" fmla="*/ 150 h 108"/>
                <a:gd name="T26" fmla="*/ 2385 w 110"/>
                <a:gd name="T27" fmla="*/ 122 h 108"/>
                <a:gd name="T28" fmla="*/ 2095 w 110"/>
                <a:gd name="T29" fmla="*/ 87 h 108"/>
                <a:gd name="T30" fmla="*/ 1791 w 110"/>
                <a:gd name="T31" fmla="*/ 50 h 108"/>
                <a:gd name="T32" fmla="*/ 1791 w 110"/>
                <a:gd name="T33" fmla="*/ 0 h 108"/>
                <a:gd name="T34" fmla="*/ 0 w 110"/>
                <a:gd name="T35" fmla="*/ 0 h 108"/>
                <a:gd name="T36" fmla="*/ 302 w 110"/>
                <a:gd name="T37" fmla="*/ 63 h 108"/>
                <a:gd name="T38" fmla="*/ 596 w 110"/>
                <a:gd name="T39" fmla="*/ 113 h 108"/>
                <a:gd name="T40" fmla="*/ 1331 w 110"/>
                <a:gd name="T41" fmla="*/ 163 h 108"/>
                <a:gd name="T42" fmla="*/ 2095 w 110"/>
                <a:gd name="T43" fmla="*/ 208 h 108"/>
                <a:gd name="T44" fmla="*/ 2992 w 110"/>
                <a:gd name="T45" fmla="*/ 245 h 108"/>
                <a:gd name="T46" fmla="*/ 4026 w 110"/>
                <a:gd name="T47" fmla="*/ 270 h 108"/>
                <a:gd name="T48" fmla="*/ 5051 w 110"/>
                <a:gd name="T49" fmla="*/ 310 h 108"/>
                <a:gd name="T50" fmla="*/ 6096 w 110"/>
                <a:gd name="T51" fmla="*/ 336 h 108"/>
                <a:gd name="T52" fmla="*/ 6983 w 110"/>
                <a:gd name="T53" fmla="*/ 364 h 108"/>
                <a:gd name="T54" fmla="*/ 7950 w 110"/>
                <a:gd name="T55" fmla="*/ 380 h 108"/>
                <a:gd name="T56" fmla="*/ 8841 w 110"/>
                <a:gd name="T57" fmla="*/ 406 h 108"/>
                <a:gd name="T58" fmla="*/ 9595 w 110"/>
                <a:gd name="T59" fmla="*/ 440 h 108"/>
                <a:gd name="T60" fmla="*/ 10246 w 110"/>
                <a:gd name="T61" fmla="*/ 473 h 108"/>
                <a:gd name="T62" fmla="*/ 10735 w 110"/>
                <a:gd name="T63" fmla="*/ 503 h 108"/>
                <a:gd name="T64" fmla="*/ 10990 w 110"/>
                <a:gd name="T65" fmla="*/ 525 h 108"/>
                <a:gd name="T66" fmla="*/ 11091 w 110"/>
                <a:gd name="T67" fmla="*/ 569 h 108"/>
                <a:gd name="T68" fmla="*/ 12819 w 110"/>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8"/>
                <a:gd name="T107" fmla="*/ 110 w 110"/>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8">
                  <a:moveTo>
                    <a:pt x="109" y="107"/>
                  </a:moveTo>
                  <a:lnTo>
                    <a:pt x="107" y="97"/>
                  </a:lnTo>
                  <a:lnTo>
                    <a:pt x="104" y="87"/>
                  </a:lnTo>
                  <a:lnTo>
                    <a:pt x="99" y="78"/>
                  </a:lnTo>
                  <a:lnTo>
                    <a:pt x="91" y="71"/>
                  </a:lnTo>
                  <a:lnTo>
                    <a:pt x="84" y="65"/>
                  </a:lnTo>
                  <a:lnTo>
                    <a:pt x="76" y="60"/>
                  </a:lnTo>
                  <a:lnTo>
                    <a:pt x="67" y="54"/>
                  </a:lnTo>
                  <a:lnTo>
                    <a:pt x="58" y="49"/>
                  </a:lnTo>
                  <a:lnTo>
                    <a:pt x="49" y="44"/>
                  </a:lnTo>
                  <a:lnTo>
                    <a:pt x="41" y="39"/>
                  </a:lnTo>
                  <a:lnTo>
                    <a:pt x="34" y="34"/>
                  </a:lnTo>
                  <a:lnTo>
                    <a:pt x="27" y="28"/>
                  </a:lnTo>
                  <a:lnTo>
                    <a:pt x="21" y="23"/>
                  </a:lnTo>
                  <a:lnTo>
                    <a:pt x="18" y="16"/>
                  </a:lnTo>
                  <a:lnTo>
                    <a:pt x="15" y="9"/>
                  </a:lnTo>
                  <a:lnTo>
                    <a:pt x="15" y="0"/>
                  </a:lnTo>
                  <a:lnTo>
                    <a:pt x="0" y="0"/>
                  </a:lnTo>
                  <a:lnTo>
                    <a:pt x="2" y="12"/>
                  </a:lnTo>
                  <a:lnTo>
                    <a:pt x="5" y="21"/>
                  </a:lnTo>
                  <a:lnTo>
                    <a:pt x="11" y="30"/>
                  </a:lnTo>
                  <a:lnTo>
                    <a:pt x="18" y="38"/>
                  </a:lnTo>
                  <a:lnTo>
                    <a:pt x="26" y="45"/>
                  </a:lnTo>
                  <a:lnTo>
                    <a:pt x="34" y="50"/>
                  </a:lnTo>
                  <a:lnTo>
                    <a:pt x="43" y="56"/>
                  </a:lnTo>
                  <a:lnTo>
                    <a:pt x="52" y="61"/>
                  </a:lnTo>
                  <a:lnTo>
                    <a:pt x="60" y="66"/>
                  </a:lnTo>
                  <a:lnTo>
                    <a:pt x="68" y="71"/>
                  </a:lnTo>
                  <a:lnTo>
                    <a:pt x="76" y="76"/>
                  </a:lnTo>
                  <a:lnTo>
                    <a:pt x="82" y="82"/>
                  </a:lnTo>
                  <a:lnTo>
                    <a:pt x="88" y="88"/>
                  </a:lnTo>
                  <a:lnTo>
                    <a:pt x="92" y="93"/>
                  </a:lnTo>
                  <a:lnTo>
                    <a:pt x="94" y="99"/>
                  </a:lnTo>
                  <a:lnTo>
                    <a:pt x="95" y="107"/>
                  </a:lnTo>
                  <a:lnTo>
                    <a:pt x="109"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1" name="Freeform 249">
              <a:extLst>
                <a:ext uri="{FF2B5EF4-FFF2-40B4-BE49-F238E27FC236}">
                  <a16:creationId xmlns:a16="http://schemas.microsoft.com/office/drawing/2014/main" id="{442443CD-11FB-5E4D-2CE3-8ADF0838600A}"/>
                </a:ext>
              </a:extLst>
            </p:cNvPr>
            <p:cNvSpPr>
              <a:spLocks/>
            </p:cNvSpPr>
            <p:nvPr/>
          </p:nvSpPr>
          <p:spPr bwMode="auto">
            <a:xfrm>
              <a:off x="3820" y="3071"/>
              <a:ext cx="138" cy="100"/>
            </a:xfrm>
            <a:custGeom>
              <a:avLst/>
              <a:gdLst>
                <a:gd name="T0" fmla="*/ 1791 w 110"/>
                <a:gd name="T1" fmla="*/ 419 h 93"/>
                <a:gd name="T2" fmla="*/ 1901 w 110"/>
                <a:gd name="T3" fmla="*/ 378 h 93"/>
                <a:gd name="T4" fmla="*/ 2992 w 110"/>
                <a:gd name="T5" fmla="*/ 331 h 93"/>
                <a:gd name="T6" fmla="*/ 4710 w 110"/>
                <a:gd name="T7" fmla="*/ 292 h 93"/>
                <a:gd name="T8" fmla="*/ 6821 w 110"/>
                <a:gd name="T9" fmla="*/ 261 h 93"/>
                <a:gd name="T10" fmla="*/ 8841 w 110"/>
                <a:gd name="T11" fmla="*/ 214 h 93"/>
                <a:gd name="T12" fmla="*/ 10625 w 110"/>
                <a:gd name="T13" fmla="*/ 160 h 93"/>
                <a:gd name="T14" fmla="*/ 12119 w 110"/>
                <a:gd name="T15" fmla="*/ 95 h 93"/>
                <a:gd name="T16" fmla="*/ 12819 w 110"/>
                <a:gd name="T17" fmla="*/ 0 h 93"/>
                <a:gd name="T18" fmla="*/ 11091 w 110"/>
                <a:gd name="T19" fmla="*/ 0 h 93"/>
                <a:gd name="T20" fmla="*/ 10735 w 110"/>
                <a:gd name="T21" fmla="*/ 61 h 93"/>
                <a:gd name="T22" fmla="*/ 9595 w 110"/>
                <a:gd name="T23" fmla="*/ 112 h 93"/>
                <a:gd name="T24" fmla="*/ 7950 w 110"/>
                <a:gd name="T25" fmla="*/ 160 h 93"/>
                <a:gd name="T26" fmla="*/ 6096 w 110"/>
                <a:gd name="T27" fmla="*/ 199 h 93"/>
                <a:gd name="T28" fmla="*/ 4026 w 110"/>
                <a:gd name="T29" fmla="*/ 245 h 93"/>
                <a:gd name="T30" fmla="*/ 2247 w 110"/>
                <a:gd name="T31" fmla="*/ 286 h 93"/>
                <a:gd name="T32" fmla="*/ 748 w 110"/>
                <a:gd name="T33" fmla="*/ 349 h 93"/>
                <a:gd name="T34" fmla="*/ 0 w 110"/>
                <a:gd name="T35" fmla="*/ 419 h 93"/>
                <a:gd name="T36" fmla="*/ 1791 w 110"/>
                <a:gd name="T37" fmla="*/ 419 h 9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0"/>
                <a:gd name="T58" fmla="*/ 0 h 93"/>
                <a:gd name="T59" fmla="*/ 110 w 110"/>
                <a:gd name="T60" fmla="*/ 93 h 9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0" h="93">
                  <a:moveTo>
                    <a:pt x="15" y="92"/>
                  </a:moveTo>
                  <a:lnTo>
                    <a:pt x="17" y="82"/>
                  </a:lnTo>
                  <a:lnTo>
                    <a:pt x="26" y="73"/>
                  </a:lnTo>
                  <a:lnTo>
                    <a:pt x="41" y="64"/>
                  </a:lnTo>
                  <a:lnTo>
                    <a:pt x="58" y="56"/>
                  </a:lnTo>
                  <a:lnTo>
                    <a:pt x="76" y="47"/>
                  </a:lnTo>
                  <a:lnTo>
                    <a:pt x="91" y="35"/>
                  </a:lnTo>
                  <a:lnTo>
                    <a:pt x="104" y="20"/>
                  </a:lnTo>
                  <a:lnTo>
                    <a:pt x="109" y="0"/>
                  </a:lnTo>
                  <a:lnTo>
                    <a:pt x="95" y="0"/>
                  </a:lnTo>
                  <a:lnTo>
                    <a:pt x="92" y="14"/>
                  </a:lnTo>
                  <a:lnTo>
                    <a:pt x="82" y="25"/>
                  </a:lnTo>
                  <a:lnTo>
                    <a:pt x="68" y="35"/>
                  </a:lnTo>
                  <a:lnTo>
                    <a:pt x="52" y="44"/>
                  </a:lnTo>
                  <a:lnTo>
                    <a:pt x="34" y="53"/>
                  </a:lnTo>
                  <a:lnTo>
                    <a:pt x="19" y="63"/>
                  </a:lnTo>
                  <a:lnTo>
                    <a:pt x="6" y="75"/>
                  </a:lnTo>
                  <a:lnTo>
                    <a:pt x="0" y="92"/>
                  </a:lnTo>
                  <a:lnTo>
                    <a:pt x="15" y="92"/>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2" name="Freeform 250">
              <a:extLst>
                <a:ext uri="{FF2B5EF4-FFF2-40B4-BE49-F238E27FC236}">
                  <a16:creationId xmlns:a16="http://schemas.microsoft.com/office/drawing/2014/main" id="{8A3D8817-92C3-16A3-C5FA-B41C00F84285}"/>
                </a:ext>
              </a:extLst>
            </p:cNvPr>
            <p:cNvSpPr>
              <a:spLocks/>
            </p:cNvSpPr>
            <p:nvPr/>
          </p:nvSpPr>
          <p:spPr bwMode="auto">
            <a:xfrm>
              <a:off x="3820" y="3170"/>
              <a:ext cx="19" cy="2"/>
            </a:xfrm>
            <a:custGeom>
              <a:avLst/>
              <a:gdLst>
                <a:gd name="T0" fmla="*/ 2080 w 15"/>
                <a:gd name="T1" fmla="*/ 1 h 2"/>
                <a:gd name="T2" fmla="*/ 2080 w 15"/>
                <a:gd name="T3" fmla="*/ 0 h 2"/>
                <a:gd name="T4" fmla="*/ 0 w 15"/>
                <a:gd name="T5" fmla="*/ 0 h 2"/>
                <a:gd name="T6" fmla="*/ 0 w 15"/>
                <a:gd name="T7" fmla="*/ 1 h 2"/>
                <a:gd name="T8" fmla="*/ 2080 w 15"/>
                <a:gd name="T9" fmla="*/ 1 h 2"/>
                <a:gd name="T10" fmla="*/ 0 60000 65536"/>
                <a:gd name="T11" fmla="*/ 0 60000 65536"/>
                <a:gd name="T12" fmla="*/ 0 60000 65536"/>
                <a:gd name="T13" fmla="*/ 0 60000 65536"/>
                <a:gd name="T14" fmla="*/ 0 60000 65536"/>
                <a:gd name="T15" fmla="*/ 0 w 15"/>
                <a:gd name="T16" fmla="*/ 0 h 2"/>
                <a:gd name="T17" fmla="*/ 15 w 15"/>
                <a:gd name="T18" fmla="*/ 2 h 2"/>
              </a:gdLst>
              <a:ahLst/>
              <a:cxnLst>
                <a:cxn ang="T10">
                  <a:pos x="T0" y="T1"/>
                </a:cxn>
                <a:cxn ang="T11">
                  <a:pos x="T2" y="T3"/>
                </a:cxn>
                <a:cxn ang="T12">
                  <a:pos x="T4" y="T5"/>
                </a:cxn>
                <a:cxn ang="T13">
                  <a:pos x="T6" y="T7"/>
                </a:cxn>
                <a:cxn ang="T14">
                  <a:pos x="T8" y="T9"/>
                </a:cxn>
              </a:cxnLst>
              <a:rect l="T15" t="T16" r="T17" b="T18"/>
              <a:pathLst>
                <a:path w="15" h="2">
                  <a:moveTo>
                    <a:pt x="14" y="1"/>
                  </a:moveTo>
                  <a:lnTo>
                    <a:pt x="14" y="0"/>
                  </a:lnTo>
                  <a:lnTo>
                    <a:pt x="0" y="0"/>
                  </a:lnTo>
                  <a:lnTo>
                    <a:pt x="0" y="1"/>
                  </a:lnTo>
                  <a:lnTo>
                    <a:pt x="14" y="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3" name="Freeform 251">
              <a:extLst>
                <a:ext uri="{FF2B5EF4-FFF2-40B4-BE49-F238E27FC236}">
                  <a16:creationId xmlns:a16="http://schemas.microsoft.com/office/drawing/2014/main" id="{9713AD8D-48B8-F01F-F444-BA5EE267DDB6}"/>
                </a:ext>
              </a:extLst>
            </p:cNvPr>
            <p:cNvSpPr>
              <a:spLocks/>
            </p:cNvSpPr>
            <p:nvPr/>
          </p:nvSpPr>
          <p:spPr bwMode="auto">
            <a:xfrm>
              <a:off x="3820" y="3171"/>
              <a:ext cx="138" cy="116"/>
            </a:xfrm>
            <a:custGeom>
              <a:avLst/>
              <a:gdLst>
                <a:gd name="T0" fmla="*/ 12819 w 110"/>
                <a:gd name="T1" fmla="*/ 576 h 107"/>
                <a:gd name="T2" fmla="*/ 12513 w 110"/>
                <a:gd name="T3" fmla="*/ 521 h 107"/>
                <a:gd name="T4" fmla="*/ 12119 w 110"/>
                <a:gd name="T5" fmla="*/ 469 h 107"/>
                <a:gd name="T6" fmla="*/ 11650 w 110"/>
                <a:gd name="T7" fmla="*/ 433 h 107"/>
                <a:gd name="T8" fmla="*/ 10625 w 110"/>
                <a:gd name="T9" fmla="*/ 399 h 107"/>
                <a:gd name="T10" fmla="*/ 9660 w 110"/>
                <a:gd name="T11" fmla="*/ 368 h 107"/>
                <a:gd name="T12" fmla="*/ 8760 w 110"/>
                <a:gd name="T13" fmla="*/ 344 h 107"/>
                <a:gd name="T14" fmla="*/ 7813 w 110"/>
                <a:gd name="T15" fmla="*/ 317 h 107"/>
                <a:gd name="T16" fmla="*/ 6821 w 110"/>
                <a:gd name="T17" fmla="*/ 297 h 107"/>
                <a:gd name="T18" fmla="*/ 5761 w 110"/>
                <a:gd name="T19" fmla="*/ 270 h 107"/>
                <a:gd name="T20" fmla="*/ 4710 w 110"/>
                <a:gd name="T21" fmla="*/ 246 h 107"/>
                <a:gd name="T22" fmla="*/ 4026 w 110"/>
                <a:gd name="T23" fmla="*/ 215 h 107"/>
                <a:gd name="T24" fmla="*/ 3288 w 110"/>
                <a:gd name="T25" fmla="*/ 183 h 107"/>
                <a:gd name="T26" fmla="*/ 2621 w 110"/>
                <a:gd name="T27" fmla="*/ 144 h 107"/>
                <a:gd name="T28" fmla="*/ 2095 w 110"/>
                <a:gd name="T29" fmla="*/ 112 h 107"/>
                <a:gd name="T30" fmla="*/ 1791 w 110"/>
                <a:gd name="T31" fmla="*/ 59 h 107"/>
                <a:gd name="T32" fmla="*/ 1791 w 110"/>
                <a:gd name="T33" fmla="*/ 0 h 107"/>
                <a:gd name="T34" fmla="*/ 0 w 110"/>
                <a:gd name="T35" fmla="*/ 0 h 107"/>
                <a:gd name="T36" fmla="*/ 302 w 110"/>
                <a:gd name="T37" fmla="*/ 75 h 107"/>
                <a:gd name="T38" fmla="*/ 596 w 110"/>
                <a:gd name="T39" fmla="*/ 133 h 107"/>
                <a:gd name="T40" fmla="*/ 1177 w 110"/>
                <a:gd name="T41" fmla="*/ 192 h 107"/>
                <a:gd name="T42" fmla="*/ 1901 w 110"/>
                <a:gd name="T43" fmla="*/ 244 h 107"/>
                <a:gd name="T44" fmla="*/ 2992 w 110"/>
                <a:gd name="T45" fmla="*/ 274 h 107"/>
                <a:gd name="T46" fmla="*/ 4026 w 110"/>
                <a:gd name="T47" fmla="*/ 313 h 107"/>
                <a:gd name="T48" fmla="*/ 5051 w 110"/>
                <a:gd name="T49" fmla="*/ 339 h 107"/>
                <a:gd name="T50" fmla="*/ 6096 w 110"/>
                <a:gd name="T51" fmla="*/ 365 h 107"/>
                <a:gd name="T52" fmla="*/ 6983 w 110"/>
                <a:gd name="T53" fmla="*/ 378 h 107"/>
                <a:gd name="T54" fmla="*/ 8145 w 110"/>
                <a:gd name="T55" fmla="*/ 405 h 107"/>
                <a:gd name="T56" fmla="*/ 8841 w 110"/>
                <a:gd name="T57" fmla="*/ 433 h 107"/>
                <a:gd name="T58" fmla="*/ 9660 w 110"/>
                <a:gd name="T59" fmla="*/ 452 h 107"/>
                <a:gd name="T60" fmla="*/ 10246 w 110"/>
                <a:gd name="T61" fmla="*/ 476 h 107"/>
                <a:gd name="T62" fmla="*/ 10735 w 110"/>
                <a:gd name="T63" fmla="*/ 508 h 107"/>
                <a:gd name="T64" fmla="*/ 10990 w 110"/>
                <a:gd name="T65" fmla="*/ 544 h 107"/>
                <a:gd name="T66" fmla="*/ 11091 w 110"/>
                <a:gd name="T67" fmla="*/ 576 h 107"/>
                <a:gd name="T68" fmla="*/ 12819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09" y="106"/>
                  </a:moveTo>
                  <a:lnTo>
                    <a:pt x="107" y="96"/>
                  </a:lnTo>
                  <a:lnTo>
                    <a:pt x="104" y="86"/>
                  </a:lnTo>
                  <a:lnTo>
                    <a:pt x="99" y="79"/>
                  </a:lnTo>
                  <a:lnTo>
                    <a:pt x="91" y="73"/>
                  </a:lnTo>
                  <a:lnTo>
                    <a:pt x="83" y="67"/>
                  </a:lnTo>
                  <a:lnTo>
                    <a:pt x="75" y="63"/>
                  </a:lnTo>
                  <a:lnTo>
                    <a:pt x="67" y="58"/>
                  </a:lnTo>
                  <a:lnTo>
                    <a:pt x="58" y="55"/>
                  </a:lnTo>
                  <a:lnTo>
                    <a:pt x="49" y="50"/>
                  </a:lnTo>
                  <a:lnTo>
                    <a:pt x="41" y="45"/>
                  </a:lnTo>
                  <a:lnTo>
                    <a:pt x="34" y="40"/>
                  </a:lnTo>
                  <a:lnTo>
                    <a:pt x="28" y="34"/>
                  </a:lnTo>
                  <a:lnTo>
                    <a:pt x="22" y="27"/>
                  </a:lnTo>
                  <a:lnTo>
                    <a:pt x="18" y="20"/>
                  </a:lnTo>
                  <a:lnTo>
                    <a:pt x="15" y="11"/>
                  </a:lnTo>
                  <a:lnTo>
                    <a:pt x="15" y="0"/>
                  </a:lnTo>
                  <a:lnTo>
                    <a:pt x="0" y="0"/>
                  </a:lnTo>
                  <a:lnTo>
                    <a:pt x="2" y="14"/>
                  </a:lnTo>
                  <a:lnTo>
                    <a:pt x="5" y="25"/>
                  </a:lnTo>
                  <a:lnTo>
                    <a:pt x="10" y="35"/>
                  </a:lnTo>
                  <a:lnTo>
                    <a:pt x="17" y="44"/>
                  </a:lnTo>
                  <a:lnTo>
                    <a:pt x="26" y="51"/>
                  </a:lnTo>
                  <a:lnTo>
                    <a:pt x="34" y="57"/>
                  </a:lnTo>
                  <a:lnTo>
                    <a:pt x="43" y="62"/>
                  </a:lnTo>
                  <a:lnTo>
                    <a:pt x="52" y="66"/>
                  </a:lnTo>
                  <a:lnTo>
                    <a:pt x="60" y="70"/>
                  </a:lnTo>
                  <a:lnTo>
                    <a:pt x="69" y="75"/>
                  </a:lnTo>
                  <a:lnTo>
                    <a:pt x="76" y="79"/>
                  </a:lnTo>
                  <a:lnTo>
                    <a:pt x="83" y="83"/>
                  </a:lnTo>
                  <a:lnTo>
                    <a:pt x="88" y="88"/>
                  </a:lnTo>
                  <a:lnTo>
                    <a:pt x="92" y="93"/>
                  </a:lnTo>
                  <a:lnTo>
                    <a:pt x="94" y="99"/>
                  </a:lnTo>
                  <a:lnTo>
                    <a:pt x="95" y="106"/>
                  </a:lnTo>
                  <a:lnTo>
                    <a:pt x="109"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4" name="Freeform 252">
              <a:extLst>
                <a:ext uri="{FF2B5EF4-FFF2-40B4-BE49-F238E27FC236}">
                  <a16:creationId xmlns:a16="http://schemas.microsoft.com/office/drawing/2014/main" id="{53F73249-3DB7-D22C-B0AC-90461BEB37F9}"/>
                </a:ext>
              </a:extLst>
            </p:cNvPr>
            <p:cNvSpPr>
              <a:spLocks/>
            </p:cNvSpPr>
            <p:nvPr/>
          </p:nvSpPr>
          <p:spPr bwMode="auto">
            <a:xfrm>
              <a:off x="3820" y="3286"/>
              <a:ext cx="138" cy="117"/>
            </a:xfrm>
            <a:custGeom>
              <a:avLst/>
              <a:gdLst>
                <a:gd name="T0" fmla="*/ 1791 w 110"/>
                <a:gd name="T1" fmla="*/ 569 h 108"/>
                <a:gd name="T2" fmla="*/ 1791 w 110"/>
                <a:gd name="T3" fmla="*/ 523 h 108"/>
                <a:gd name="T4" fmla="*/ 2095 w 110"/>
                <a:gd name="T5" fmla="*/ 490 h 108"/>
                <a:gd name="T6" fmla="*/ 2385 w 110"/>
                <a:gd name="T7" fmla="*/ 463 h 108"/>
                <a:gd name="T8" fmla="*/ 3209 w 110"/>
                <a:gd name="T9" fmla="*/ 433 h 108"/>
                <a:gd name="T10" fmla="*/ 4026 w 110"/>
                <a:gd name="T11" fmla="*/ 395 h 108"/>
                <a:gd name="T12" fmla="*/ 4710 w 110"/>
                <a:gd name="T13" fmla="*/ 372 h 108"/>
                <a:gd name="T14" fmla="*/ 5761 w 110"/>
                <a:gd name="T15" fmla="*/ 339 h 108"/>
                <a:gd name="T16" fmla="*/ 6821 w 110"/>
                <a:gd name="T17" fmla="*/ 313 h 108"/>
                <a:gd name="T18" fmla="*/ 7813 w 110"/>
                <a:gd name="T19" fmla="*/ 287 h 108"/>
                <a:gd name="T20" fmla="*/ 8841 w 110"/>
                <a:gd name="T21" fmla="*/ 264 h 108"/>
                <a:gd name="T22" fmla="*/ 9802 w 110"/>
                <a:gd name="T23" fmla="*/ 230 h 108"/>
                <a:gd name="T24" fmla="*/ 10625 w 110"/>
                <a:gd name="T25" fmla="*/ 194 h 108"/>
                <a:gd name="T26" fmla="*/ 11650 w 110"/>
                <a:gd name="T27" fmla="*/ 155 h 108"/>
                <a:gd name="T28" fmla="*/ 12119 w 110"/>
                <a:gd name="T29" fmla="*/ 113 h 108"/>
                <a:gd name="T30" fmla="*/ 12513 w 110"/>
                <a:gd name="T31" fmla="*/ 58 h 108"/>
                <a:gd name="T32" fmla="*/ 12819 w 110"/>
                <a:gd name="T33" fmla="*/ 0 h 108"/>
                <a:gd name="T34" fmla="*/ 11091 w 110"/>
                <a:gd name="T35" fmla="*/ 0 h 108"/>
                <a:gd name="T36" fmla="*/ 10990 w 110"/>
                <a:gd name="T37" fmla="*/ 46 h 108"/>
                <a:gd name="T38" fmla="*/ 10735 w 110"/>
                <a:gd name="T39" fmla="*/ 74 h 108"/>
                <a:gd name="T40" fmla="*/ 10246 w 110"/>
                <a:gd name="T41" fmla="*/ 110 h 108"/>
                <a:gd name="T42" fmla="*/ 9595 w 110"/>
                <a:gd name="T43" fmla="*/ 138 h 108"/>
                <a:gd name="T44" fmla="*/ 8841 w 110"/>
                <a:gd name="T45" fmla="*/ 177 h 108"/>
                <a:gd name="T46" fmla="*/ 7950 w 110"/>
                <a:gd name="T47" fmla="*/ 194 h 108"/>
                <a:gd name="T48" fmla="*/ 6983 w 110"/>
                <a:gd name="T49" fmla="*/ 225 h 108"/>
                <a:gd name="T50" fmla="*/ 6096 w 110"/>
                <a:gd name="T51" fmla="*/ 250 h 108"/>
                <a:gd name="T52" fmla="*/ 5051 w 110"/>
                <a:gd name="T53" fmla="*/ 286 h 108"/>
                <a:gd name="T54" fmla="*/ 4026 w 110"/>
                <a:gd name="T55" fmla="*/ 311 h 108"/>
                <a:gd name="T56" fmla="*/ 2992 w 110"/>
                <a:gd name="T57" fmla="*/ 339 h 108"/>
                <a:gd name="T58" fmla="*/ 2095 w 110"/>
                <a:gd name="T59" fmla="*/ 372 h 108"/>
                <a:gd name="T60" fmla="*/ 1331 w 110"/>
                <a:gd name="T61" fmla="*/ 412 h 108"/>
                <a:gd name="T62" fmla="*/ 596 w 110"/>
                <a:gd name="T63" fmla="*/ 464 h 108"/>
                <a:gd name="T64" fmla="*/ 302 w 110"/>
                <a:gd name="T65" fmla="*/ 517 h 108"/>
                <a:gd name="T66" fmla="*/ 0 w 110"/>
                <a:gd name="T67" fmla="*/ 569 h 108"/>
                <a:gd name="T68" fmla="*/ 1791 w 110"/>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8"/>
                <a:gd name="T107" fmla="*/ 110 w 110"/>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8">
                  <a:moveTo>
                    <a:pt x="15" y="107"/>
                  </a:moveTo>
                  <a:lnTo>
                    <a:pt x="15" y="98"/>
                  </a:lnTo>
                  <a:lnTo>
                    <a:pt x="18" y="91"/>
                  </a:lnTo>
                  <a:lnTo>
                    <a:pt x="21" y="85"/>
                  </a:lnTo>
                  <a:lnTo>
                    <a:pt x="27" y="80"/>
                  </a:lnTo>
                  <a:lnTo>
                    <a:pt x="34" y="73"/>
                  </a:lnTo>
                  <a:lnTo>
                    <a:pt x="41" y="69"/>
                  </a:lnTo>
                  <a:lnTo>
                    <a:pt x="49" y="63"/>
                  </a:lnTo>
                  <a:lnTo>
                    <a:pt x="58" y="58"/>
                  </a:lnTo>
                  <a:lnTo>
                    <a:pt x="67" y="53"/>
                  </a:lnTo>
                  <a:lnTo>
                    <a:pt x="76" y="48"/>
                  </a:lnTo>
                  <a:lnTo>
                    <a:pt x="84" y="42"/>
                  </a:lnTo>
                  <a:lnTo>
                    <a:pt x="91" y="36"/>
                  </a:lnTo>
                  <a:lnTo>
                    <a:pt x="99" y="29"/>
                  </a:lnTo>
                  <a:lnTo>
                    <a:pt x="104" y="21"/>
                  </a:lnTo>
                  <a:lnTo>
                    <a:pt x="107" y="11"/>
                  </a:lnTo>
                  <a:lnTo>
                    <a:pt x="109" y="0"/>
                  </a:lnTo>
                  <a:lnTo>
                    <a:pt x="95" y="0"/>
                  </a:lnTo>
                  <a:lnTo>
                    <a:pt x="94" y="8"/>
                  </a:lnTo>
                  <a:lnTo>
                    <a:pt x="92" y="14"/>
                  </a:lnTo>
                  <a:lnTo>
                    <a:pt x="88" y="20"/>
                  </a:lnTo>
                  <a:lnTo>
                    <a:pt x="82" y="26"/>
                  </a:lnTo>
                  <a:lnTo>
                    <a:pt x="76" y="32"/>
                  </a:lnTo>
                  <a:lnTo>
                    <a:pt x="68" y="36"/>
                  </a:lnTo>
                  <a:lnTo>
                    <a:pt x="60" y="41"/>
                  </a:lnTo>
                  <a:lnTo>
                    <a:pt x="52" y="47"/>
                  </a:lnTo>
                  <a:lnTo>
                    <a:pt x="43" y="52"/>
                  </a:lnTo>
                  <a:lnTo>
                    <a:pt x="34" y="57"/>
                  </a:lnTo>
                  <a:lnTo>
                    <a:pt x="26" y="63"/>
                  </a:lnTo>
                  <a:lnTo>
                    <a:pt x="18" y="69"/>
                  </a:lnTo>
                  <a:lnTo>
                    <a:pt x="11" y="77"/>
                  </a:lnTo>
                  <a:lnTo>
                    <a:pt x="5" y="86"/>
                  </a:lnTo>
                  <a:lnTo>
                    <a:pt x="2" y="96"/>
                  </a:lnTo>
                  <a:lnTo>
                    <a:pt x="0" y="107"/>
                  </a:lnTo>
                  <a:lnTo>
                    <a:pt x="15"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5" name="Freeform 253">
              <a:extLst>
                <a:ext uri="{FF2B5EF4-FFF2-40B4-BE49-F238E27FC236}">
                  <a16:creationId xmlns:a16="http://schemas.microsoft.com/office/drawing/2014/main" id="{EAAC9174-D0CE-C20B-C0E1-4FF2EA049634}"/>
                </a:ext>
              </a:extLst>
            </p:cNvPr>
            <p:cNvSpPr>
              <a:spLocks/>
            </p:cNvSpPr>
            <p:nvPr/>
          </p:nvSpPr>
          <p:spPr bwMode="auto">
            <a:xfrm>
              <a:off x="3820" y="3402"/>
              <a:ext cx="138" cy="115"/>
            </a:xfrm>
            <a:custGeom>
              <a:avLst/>
              <a:gdLst>
                <a:gd name="T0" fmla="*/ 12819 w 110"/>
                <a:gd name="T1" fmla="*/ 480 h 107"/>
                <a:gd name="T2" fmla="*/ 12513 w 110"/>
                <a:gd name="T3" fmla="*/ 434 h 107"/>
                <a:gd name="T4" fmla="*/ 12119 w 110"/>
                <a:gd name="T5" fmla="*/ 387 h 107"/>
                <a:gd name="T6" fmla="*/ 11650 w 110"/>
                <a:gd name="T7" fmla="*/ 353 h 107"/>
                <a:gd name="T8" fmla="*/ 10625 w 110"/>
                <a:gd name="T9" fmla="*/ 325 h 107"/>
                <a:gd name="T10" fmla="*/ 9802 w 110"/>
                <a:gd name="T11" fmla="*/ 290 h 107"/>
                <a:gd name="T12" fmla="*/ 8841 w 110"/>
                <a:gd name="T13" fmla="*/ 264 h 107"/>
                <a:gd name="T14" fmla="*/ 7813 w 110"/>
                <a:gd name="T15" fmla="*/ 244 h 107"/>
                <a:gd name="T16" fmla="*/ 6821 w 110"/>
                <a:gd name="T17" fmla="*/ 218 h 107"/>
                <a:gd name="T18" fmla="*/ 5761 w 110"/>
                <a:gd name="T19" fmla="*/ 196 h 107"/>
                <a:gd name="T20" fmla="*/ 4710 w 110"/>
                <a:gd name="T21" fmla="*/ 172 h 107"/>
                <a:gd name="T22" fmla="*/ 4026 w 110"/>
                <a:gd name="T23" fmla="*/ 149 h 107"/>
                <a:gd name="T24" fmla="*/ 3209 w 110"/>
                <a:gd name="T25" fmla="*/ 120 h 107"/>
                <a:gd name="T26" fmla="*/ 2385 w 110"/>
                <a:gd name="T27" fmla="*/ 97 h 107"/>
                <a:gd name="T28" fmla="*/ 2095 w 110"/>
                <a:gd name="T29" fmla="*/ 63 h 107"/>
                <a:gd name="T30" fmla="*/ 1791 w 110"/>
                <a:gd name="T31" fmla="*/ 38 h 107"/>
                <a:gd name="T32" fmla="*/ 1791 w 110"/>
                <a:gd name="T33" fmla="*/ 0 h 107"/>
                <a:gd name="T34" fmla="*/ 0 w 110"/>
                <a:gd name="T35" fmla="*/ 0 h 107"/>
                <a:gd name="T36" fmla="*/ 302 w 110"/>
                <a:gd name="T37" fmla="*/ 47 h 107"/>
                <a:gd name="T38" fmla="*/ 596 w 110"/>
                <a:gd name="T39" fmla="*/ 97 h 107"/>
                <a:gd name="T40" fmla="*/ 1331 w 110"/>
                <a:gd name="T41" fmla="*/ 129 h 107"/>
                <a:gd name="T42" fmla="*/ 2095 w 110"/>
                <a:gd name="T43" fmla="*/ 172 h 107"/>
                <a:gd name="T44" fmla="*/ 2992 w 110"/>
                <a:gd name="T45" fmla="*/ 196 h 107"/>
                <a:gd name="T46" fmla="*/ 4026 w 110"/>
                <a:gd name="T47" fmla="*/ 229 h 107"/>
                <a:gd name="T48" fmla="*/ 5051 w 110"/>
                <a:gd name="T49" fmla="*/ 247 h 107"/>
                <a:gd name="T50" fmla="*/ 6096 w 110"/>
                <a:gd name="T51" fmla="*/ 270 h 107"/>
                <a:gd name="T52" fmla="*/ 6983 w 110"/>
                <a:gd name="T53" fmla="*/ 302 h 107"/>
                <a:gd name="T54" fmla="*/ 7950 w 110"/>
                <a:gd name="T55" fmla="*/ 325 h 107"/>
                <a:gd name="T56" fmla="*/ 8841 w 110"/>
                <a:gd name="T57" fmla="*/ 349 h 107"/>
                <a:gd name="T58" fmla="*/ 9595 w 110"/>
                <a:gd name="T59" fmla="*/ 360 h 107"/>
                <a:gd name="T60" fmla="*/ 10246 w 110"/>
                <a:gd name="T61" fmla="*/ 387 h 107"/>
                <a:gd name="T62" fmla="*/ 10735 w 110"/>
                <a:gd name="T63" fmla="*/ 416 h 107"/>
                <a:gd name="T64" fmla="*/ 10990 w 110"/>
                <a:gd name="T65" fmla="*/ 443 h 107"/>
                <a:gd name="T66" fmla="*/ 11091 w 110"/>
                <a:gd name="T67" fmla="*/ 480 h 107"/>
                <a:gd name="T68" fmla="*/ 12819 w 110"/>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09" y="106"/>
                  </a:moveTo>
                  <a:lnTo>
                    <a:pt x="107" y="95"/>
                  </a:lnTo>
                  <a:lnTo>
                    <a:pt x="104" y="86"/>
                  </a:lnTo>
                  <a:lnTo>
                    <a:pt x="99" y="77"/>
                  </a:lnTo>
                  <a:lnTo>
                    <a:pt x="91" y="70"/>
                  </a:lnTo>
                  <a:lnTo>
                    <a:pt x="84" y="64"/>
                  </a:lnTo>
                  <a:lnTo>
                    <a:pt x="76" y="58"/>
                  </a:lnTo>
                  <a:lnTo>
                    <a:pt x="67" y="53"/>
                  </a:lnTo>
                  <a:lnTo>
                    <a:pt x="58" y="48"/>
                  </a:lnTo>
                  <a:lnTo>
                    <a:pt x="49" y="43"/>
                  </a:lnTo>
                  <a:lnTo>
                    <a:pt x="41" y="38"/>
                  </a:lnTo>
                  <a:lnTo>
                    <a:pt x="34" y="33"/>
                  </a:lnTo>
                  <a:lnTo>
                    <a:pt x="27" y="27"/>
                  </a:lnTo>
                  <a:lnTo>
                    <a:pt x="21" y="21"/>
                  </a:lnTo>
                  <a:lnTo>
                    <a:pt x="18" y="15"/>
                  </a:lnTo>
                  <a:lnTo>
                    <a:pt x="15" y="8"/>
                  </a:lnTo>
                  <a:lnTo>
                    <a:pt x="15" y="0"/>
                  </a:lnTo>
                  <a:lnTo>
                    <a:pt x="0" y="0"/>
                  </a:lnTo>
                  <a:lnTo>
                    <a:pt x="2" y="11"/>
                  </a:lnTo>
                  <a:lnTo>
                    <a:pt x="5" y="21"/>
                  </a:lnTo>
                  <a:lnTo>
                    <a:pt x="11" y="29"/>
                  </a:lnTo>
                  <a:lnTo>
                    <a:pt x="18" y="38"/>
                  </a:lnTo>
                  <a:lnTo>
                    <a:pt x="26" y="43"/>
                  </a:lnTo>
                  <a:lnTo>
                    <a:pt x="34" y="50"/>
                  </a:lnTo>
                  <a:lnTo>
                    <a:pt x="43" y="55"/>
                  </a:lnTo>
                  <a:lnTo>
                    <a:pt x="52" y="60"/>
                  </a:lnTo>
                  <a:lnTo>
                    <a:pt x="60" y="65"/>
                  </a:lnTo>
                  <a:lnTo>
                    <a:pt x="68" y="70"/>
                  </a:lnTo>
                  <a:lnTo>
                    <a:pt x="76" y="75"/>
                  </a:lnTo>
                  <a:lnTo>
                    <a:pt x="82" y="80"/>
                  </a:lnTo>
                  <a:lnTo>
                    <a:pt x="88" y="86"/>
                  </a:lnTo>
                  <a:lnTo>
                    <a:pt x="92" y="92"/>
                  </a:lnTo>
                  <a:lnTo>
                    <a:pt x="94" y="98"/>
                  </a:lnTo>
                  <a:lnTo>
                    <a:pt x="95" y="106"/>
                  </a:lnTo>
                  <a:lnTo>
                    <a:pt x="109"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6" name="Freeform 254">
              <a:extLst>
                <a:ext uri="{FF2B5EF4-FFF2-40B4-BE49-F238E27FC236}">
                  <a16:creationId xmlns:a16="http://schemas.microsoft.com/office/drawing/2014/main" id="{2C073459-87ED-5B5D-B30C-5FFD83DC60D3}"/>
                </a:ext>
              </a:extLst>
            </p:cNvPr>
            <p:cNvSpPr>
              <a:spLocks/>
            </p:cNvSpPr>
            <p:nvPr/>
          </p:nvSpPr>
          <p:spPr bwMode="auto">
            <a:xfrm>
              <a:off x="3820" y="3516"/>
              <a:ext cx="138" cy="103"/>
            </a:xfrm>
            <a:custGeom>
              <a:avLst/>
              <a:gdLst>
                <a:gd name="T0" fmla="*/ 1791 w 110"/>
                <a:gd name="T1" fmla="*/ 515 h 95"/>
                <a:gd name="T2" fmla="*/ 1901 w 110"/>
                <a:gd name="T3" fmla="*/ 466 h 95"/>
                <a:gd name="T4" fmla="*/ 2992 w 110"/>
                <a:gd name="T5" fmla="*/ 407 h 95"/>
                <a:gd name="T6" fmla="*/ 4710 w 110"/>
                <a:gd name="T7" fmla="*/ 372 h 95"/>
                <a:gd name="T8" fmla="*/ 6821 w 110"/>
                <a:gd name="T9" fmla="*/ 317 h 95"/>
                <a:gd name="T10" fmla="*/ 8841 w 110"/>
                <a:gd name="T11" fmla="*/ 266 h 95"/>
                <a:gd name="T12" fmla="*/ 10625 w 110"/>
                <a:gd name="T13" fmla="*/ 196 h 95"/>
                <a:gd name="T14" fmla="*/ 12119 w 110"/>
                <a:gd name="T15" fmla="*/ 112 h 95"/>
                <a:gd name="T16" fmla="*/ 12819 w 110"/>
                <a:gd name="T17" fmla="*/ 0 h 95"/>
                <a:gd name="T18" fmla="*/ 11091 w 110"/>
                <a:gd name="T19" fmla="*/ 0 h 95"/>
                <a:gd name="T20" fmla="*/ 10735 w 110"/>
                <a:gd name="T21" fmla="*/ 69 h 95"/>
                <a:gd name="T22" fmla="*/ 9595 w 110"/>
                <a:gd name="T23" fmla="*/ 142 h 95"/>
                <a:gd name="T24" fmla="*/ 7950 w 110"/>
                <a:gd name="T25" fmla="*/ 196 h 95"/>
                <a:gd name="T26" fmla="*/ 6096 w 110"/>
                <a:gd name="T27" fmla="*/ 250 h 95"/>
                <a:gd name="T28" fmla="*/ 4026 w 110"/>
                <a:gd name="T29" fmla="*/ 297 h 95"/>
                <a:gd name="T30" fmla="*/ 2247 w 110"/>
                <a:gd name="T31" fmla="*/ 349 h 95"/>
                <a:gd name="T32" fmla="*/ 748 w 110"/>
                <a:gd name="T33" fmla="*/ 417 h 95"/>
                <a:gd name="T34" fmla="*/ 0 w 110"/>
                <a:gd name="T35" fmla="*/ 515 h 95"/>
                <a:gd name="T36" fmla="*/ 1791 w 110"/>
                <a:gd name="T37" fmla="*/ 515 h 9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0"/>
                <a:gd name="T58" fmla="*/ 0 h 95"/>
                <a:gd name="T59" fmla="*/ 110 w 110"/>
                <a:gd name="T60" fmla="*/ 95 h 9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0" h="95">
                  <a:moveTo>
                    <a:pt x="15" y="94"/>
                  </a:moveTo>
                  <a:lnTo>
                    <a:pt x="17" y="85"/>
                  </a:lnTo>
                  <a:lnTo>
                    <a:pt x="26" y="75"/>
                  </a:lnTo>
                  <a:lnTo>
                    <a:pt x="41" y="67"/>
                  </a:lnTo>
                  <a:lnTo>
                    <a:pt x="58" y="58"/>
                  </a:lnTo>
                  <a:lnTo>
                    <a:pt x="76" y="48"/>
                  </a:lnTo>
                  <a:lnTo>
                    <a:pt x="91" y="36"/>
                  </a:lnTo>
                  <a:lnTo>
                    <a:pt x="104" y="20"/>
                  </a:lnTo>
                  <a:lnTo>
                    <a:pt x="109" y="0"/>
                  </a:lnTo>
                  <a:lnTo>
                    <a:pt x="95" y="0"/>
                  </a:lnTo>
                  <a:lnTo>
                    <a:pt x="92" y="13"/>
                  </a:lnTo>
                  <a:lnTo>
                    <a:pt x="82" y="26"/>
                  </a:lnTo>
                  <a:lnTo>
                    <a:pt x="68" y="36"/>
                  </a:lnTo>
                  <a:lnTo>
                    <a:pt x="52" y="46"/>
                  </a:lnTo>
                  <a:lnTo>
                    <a:pt x="34" y="55"/>
                  </a:lnTo>
                  <a:lnTo>
                    <a:pt x="19" y="65"/>
                  </a:lnTo>
                  <a:lnTo>
                    <a:pt x="6" y="77"/>
                  </a:lnTo>
                  <a:lnTo>
                    <a:pt x="0" y="94"/>
                  </a:lnTo>
                  <a:lnTo>
                    <a:pt x="15" y="9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7" name="Freeform 255">
              <a:extLst>
                <a:ext uri="{FF2B5EF4-FFF2-40B4-BE49-F238E27FC236}">
                  <a16:creationId xmlns:a16="http://schemas.microsoft.com/office/drawing/2014/main" id="{9B29943B-1068-6ED6-3F96-1FC7A0BF79E5}"/>
                </a:ext>
              </a:extLst>
            </p:cNvPr>
            <p:cNvSpPr>
              <a:spLocks/>
            </p:cNvSpPr>
            <p:nvPr/>
          </p:nvSpPr>
          <p:spPr bwMode="auto">
            <a:xfrm>
              <a:off x="3820" y="3618"/>
              <a:ext cx="19" cy="3"/>
            </a:xfrm>
            <a:custGeom>
              <a:avLst/>
              <a:gdLst>
                <a:gd name="T0" fmla="*/ 2080 w 15"/>
                <a:gd name="T1" fmla="*/ 2 h 3"/>
                <a:gd name="T2" fmla="*/ 2080 w 15"/>
                <a:gd name="T3" fmla="*/ 0 h 3"/>
                <a:gd name="T4" fmla="*/ 0 w 15"/>
                <a:gd name="T5" fmla="*/ 0 h 3"/>
                <a:gd name="T6" fmla="*/ 0 w 15"/>
                <a:gd name="T7" fmla="*/ 2 h 3"/>
                <a:gd name="T8" fmla="*/ 2080 w 15"/>
                <a:gd name="T9" fmla="*/ 2 h 3"/>
                <a:gd name="T10" fmla="*/ 0 60000 65536"/>
                <a:gd name="T11" fmla="*/ 0 60000 65536"/>
                <a:gd name="T12" fmla="*/ 0 60000 65536"/>
                <a:gd name="T13" fmla="*/ 0 60000 65536"/>
                <a:gd name="T14" fmla="*/ 0 60000 65536"/>
                <a:gd name="T15" fmla="*/ 0 w 15"/>
                <a:gd name="T16" fmla="*/ 0 h 3"/>
                <a:gd name="T17" fmla="*/ 15 w 15"/>
                <a:gd name="T18" fmla="*/ 3 h 3"/>
              </a:gdLst>
              <a:ahLst/>
              <a:cxnLst>
                <a:cxn ang="T10">
                  <a:pos x="T0" y="T1"/>
                </a:cxn>
                <a:cxn ang="T11">
                  <a:pos x="T2" y="T3"/>
                </a:cxn>
                <a:cxn ang="T12">
                  <a:pos x="T4" y="T5"/>
                </a:cxn>
                <a:cxn ang="T13">
                  <a:pos x="T6" y="T7"/>
                </a:cxn>
                <a:cxn ang="T14">
                  <a:pos x="T8" y="T9"/>
                </a:cxn>
              </a:cxnLst>
              <a:rect l="T15" t="T16" r="T17" b="T18"/>
              <a:pathLst>
                <a:path w="15" h="3">
                  <a:moveTo>
                    <a:pt x="14" y="2"/>
                  </a:moveTo>
                  <a:lnTo>
                    <a:pt x="14" y="0"/>
                  </a:lnTo>
                  <a:lnTo>
                    <a:pt x="0" y="0"/>
                  </a:lnTo>
                  <a:lnTo>
                    <a:pt x="0" y="2"/>
                  </a:lnTo>
                  <a:lnTo>
                    <a:pt x="14" y="2"/>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8" name="Freeform 256">
              <a:extLst>
                <a:ext uri="{FF2B5EF4-FFF2-40B4-BE49-F238E27FC236}">
                  <a16:creationId xmlns:a16="http://schemas.microsoft.com/office/drawing/2014/main" id="{C4A41FF3-33A8-5015-E8AD-61E68C991DEE}"/>
                </a:ext>
              </a:extLst>
            </p:cNvPr>
            <p:cNvSpPr>
              <a:spLocks/>
            </p:cNvSpPr>
            <p:nvPr/>
          </p:nvSpPr>
          <p:spPr bwMode="auto">
            <a:xfrm>
              <a:off x="3820" y="3620"/>
              <a:ext cx="138" cy="118"/>
            </a:xfrm>
            <a:custGeom>
              <a:avLst/>
              <a:gdLst>
                <a:gd name="T0" fmla="*/ 12819 w 110"/>
                <a:gd name="T1" fmla="*/ 568 h 109"/>
                <a:gd name="T2" fmla="*/ 12513 w 110"/>
                <a:gd name="T3" fmla="*/ 511 h 109"/>
                <a:gd name="T4" fmla="*/ 12119 w 110"/>
                <a:gd name="T5" fmla="*/ 464 h 109"/>
                <a:gd name="T6" fmla="*/ 11650 w 110"/>
                <a:gd name="T7" fmla="*/ 411 h 109"/>
                <a:gd name="T8" fmla="*/ 10625 w 110"/>
                <a:gd name="T9" fmla="*/ 371 h 109"/>
                <a:gd name="T10" fmla="*/ 9802 w 110"/>
                <a:gd name="T11" fmla="*/ 338 h 109"/>
                <a:gd name="T12" fmla="*/ 8841 w 110"/>
                <a:gd name="T13" fmla="*/ 304 h 109"/>
                <a:gd name="T14" fmla="*/ 7813 w 110"/>
                <a:gd name="T15" fmla="*/ 271 h 109"/>
                <a:gd name="T16" fmla="*/ 6943 w 110"/>
                <a:gd name="T17" fmla="*/ 240 h 109"/>
                <a:gd name="T18" fmla="*/ 5900 w 110"/>
                <a:gd name="T19" fmla="*/ 213 h 109"/>
                <a:gd name="T20" fmla="*/ 4710 w 110"/>
                <a:gd name="T21" fmla="*/ 182 h 109"/>
                <a:gd name="T22" fmla="*/ 4026 w 110"/>
                <a:gd name="T23" fmla="*/ 156 h 109"/>
                <a:gd name="T24" fmla="*/ 3209 w 110"/>
                <a:gd name="T25" fmla="*/ 123 h 109"/>
                <a:gd name="T26" fmla="*/ 2385 w 110"/>
                <a:gd name="T27" fmla="*/ 96 h 109"/>
                <a:gd name="T28" fmla="*/ 1901 w 110"/>
                <a:gd name="T29" fmla="*/ 60 h 109"/>
                <a:gd name="T30" fmla="*/ 1791 w 110"/>
                <a:gd name="T31" fmla="*/ 6 h 109"/>
                <a:gd name="T32" fmla="*/ 1791 w 110"/>
                <a:gd name="T33" fmla="*/ 0 h 109"/>
                <a:gd name="T34" fmla="*/ 0 w 110"/>
                <a:gd name="T35" fmla="*/ 0 h 109"/>
                <a:gd name="T36" fmla="*/ 302 w 110"/>
                <a:gd name="T37" fmla="*/ 51 h 109"/>
                <a:gd name="T38" fmla="*/ 748 w 110"/>
                <a:gd name="T39" fmla="*/ 104 h 109"/>
                <a:gd name="T40" fmla="*/ 1331 w 110"/>
                <a:gd name="T41" fmla="*/ 143 h 109"/>
                <a:gd name="T42" fmla="*/ 2095 w 110"/>
                <a:gd name="T43" fmla="*/ 182 h 109"/>
                <a:gd name="T44" fmla="*/ 2992 w 110"/>
                <a:gd name="T45" fmla="*/ 213 h 109"/>
                <a:gd name="T46" fmla="*/ 4026 w 110"/>
                <a:gd name="T47" fmla="*/ 246 h 109"/>
                <a:gd name="T48" fmla="*/ 4893 w 110"/>
                <a:gd name="T49" fmla="*/ 271 h 109"/>
                <a:gd name="T50" fmla="*/ 5909 w 110"/>
                <a:gd name="T51" fmla="*/ 304 h 109"/>
                <a:gd name="T52" fmla="*/ 6983 w 110"/>
                <a:gd name="T53" fmla="*/ 329 h 109"/>
                <a:gd name="T54" fmla="*/ 7950 w 110"/>
                <a:gd name="T55" fmla="*/ 356 h 109"/>
                <a:gd name="T56" fmla="*/ 8760 w 110"/>
                <a:gd name="T57" fmla="*/ 385 h 109"/>
                <a:gd name="T58" fmla="*/ 9595 w 110"/>
                <a:gd name="T59" fmla="*/ 417 h 109"/>
                <a:gd name="T60" fmla="*/ 10246 w 110"/>
                <a:gd name="T61" fmla="*/ 451 h 109"/>
                <a:gd name="T62" fmla="*/ 10625 w 110"/>
                <a:gd name="T63" fmla="*/ 485 h 109"/>
                <a:gd name="T64" fmla="*/ 10990 w 110"/>
                <a:gd name="T65" fmla="*/ 525 h 109"/>
                <a:gd name="T66" fmla="*/ 11091 w 110"/>
                <a:gd name="T67" fmla="*/ 568 h 109"/>
                <a:gd name="T68" fmla="*/ 12819 w 110"/>
                <a:gd name="T69" fmla="*/ 568 h 10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9"/>
                <a:gd name="T107" fmla="*/ 110 w 110"/>
                <a:gd name="T108" fmla="*/ 109 h 10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9">
                  <a:moveTo>
                    <a:pt x="109" y="108"/>
                  </a:moveTo>
                  <a:lnTo>
                    <a:pt x="107" y="97"/>
                  </a:lnTo>
                  <a:lnTo>
                    <a:pt x="104" y="87"/>
                  </a:lnTo>
                  <a:lnTo>
                    <a:pt x="99" y="78"/>
                  </a:lnTo>
                  <a:lnTo>
                    <a:pt x="91" y="70"/>
                  </a:lnTo>
                  <a:lnTo>
                    <a:pt x="84" y="63"/>
                  </a:lnTo>
                  <a:lnTo>
                    <a:pt x="76" y="57"/>
                  </a:lnTo>
                  <a:lnTo>
                    <a:pt x="67" y="51"/>
                  </a:lnTo>
                  <a:lnTo>
                    <a:pt x="59" y="45"/>
                  </a:lnTo>
                  <a:lnTo>
                    <a:pt x="50" y="40"/>
                  </a:lnTo>
                  <a:lnTo>
                    <a:pt x="41" y="34"/>
                  </a:lnTo>
                  <a:lnTo>
                    <a:pt x="34" y="30"/>
                  </a:lnTo>
                  <a:lnTo>
                    <a:pt x="27" y="24"/>
                  </a:lnTo>
                  <a:lnTo>
                    <a:pt x="21" y="18"/>
                  </a:lnTo>
                  <a:lnTo>
                    <a:pt x="17" y="12"/>
                  </a:lnTo>
                  <a:lnTo>
                    <a:pt x="15" y="6"/>
                  </a:lnTo>
                  <a:lnTo>
                    <a:pt x="15" y="0"/>
                  </a:lnTo>
                  <a:lnTo>
                    <a:pt x="0" y="0"/>
                  </a:lnTo>
                  <a:lnTo>
                    <a:pt x="2" y="10"/>
                  </a:lnTo>
                  <a:lnTo>
                    <a:pt x="6" y="19"/>
                  </a:lnTo>
                  <a:lnTo>
                    <a:pt x="11" y="27"/>
                  </a:lnTo>
                  <a:lnTo>
                    <a:pt x="18" y="34"/>
                  </a:lnTo>
                  <a:lnTo>
                    <a:pt x="26" y="40"/>
                  </a:lnTo>
                  <a:lnTo>
                    <a:pt x="34" y="46"/>
                  </a:lnTo>
                  <a:lnTo>
                    <a:pt x="42" y="51"/>
                  </a:lnTo>
                  <a:lnTo>
                    <a:pt x="51" y="57"/>
                  </a:lnTo>
                  <a:lnTo>
                    <a:pt x="60" y="62"/>
                  </a:lnTo>
                  <a:lnTo>
                    <a:pt x="68" y="67"/>
                  </a:lnTo>
                  <a:lnTo>
                    <a:pt x="75" y="73"/>
                  </a:lnTo>
                  <a:lnTo>
                    <a:pt x="82" y="79"/>
                  </a:lnTo>
                  <a:lnTo>
                    <a:pt x="88" y="86"/>
                  </a:lnTo>
                  <a:lnTo>
                    <a:pt x="91" y="92"/>
                  </a:lnTo>
                  <a:lnTo>
                    <a:pt x="94" y="100"/>
                  </a:lnTo>
                  <a:lnTo>
                    <a:pt x="95" y="108"/>
                  </a:lnTo>
                  <a:lnTo>
                    <a:pt x="109" y="10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09" name="Freeform 257">
              <a:extLst>
                <a:ext uri="{FF2B5EF4-FFF2-40B4-BE49-F238E27FC236}">
                  <a16:creationId xmlns:a16="http://schemas.microsoft.com/office/drawing/2014/main" id="{BC8C13CA-F8DB-F275-92B0-7E62E1184FD8}"/>
                </a:ext>
              </a:extLst>
            </p:cNvPr>
            <p:cNvSpPr>
              <a:spLocks/>
            </p:cNvSpPr>
            <p:nvPr/>
          </p:nvSpPr>
          <p:spPr bwMode="auto">
            <a:xfrm>
              <a:off x="3820" y="3737"/>
              <a:ext cx="138" cy="115"/>
            </a:xfrm>
            <a:custGeom>
              <a:avLst/>
              <a:gdLst>
                <a:gd name="T0" fmla="*/ 1791 w 110"/>
                <a:gd name="T1" fmla="*/ 480 h 107"/>
                <a:gd name="T2" fmla="*/ 1791 w 110"/>
                <a:gd name="T3" fmla="*/ 443 h 107"/>
                <a:gd name="T4" fmla="*/ 1901 w 110"/>
                <a:gd name="T5" fmla="*/ 416 h 107"/>
                <a:gd name="T6" fmla="*/ 2385 w 110"/>
                <a:gd name="T7" fmla="*/ 387 h 107"/>
                <a:gd name="T8" fmla="*/ 3209 w 110"/>
                <a:gd name="T9" fmla="*/ 360 h 107"/>
                <a:gd name="T10" fmla="*/ 4026 w 110"/>
                <a:gd name="T11" fmla="*/ 349 h 107"/>
                <a:gd name="T12" fmla="*/ 4710 w 110"/>
                <a:gd name="T13" fmla="*/ 325 h 107"/>
                <a:gd name="T14" fmla="*/ 5761 w 110"/>
                <a:gd name="T15" fmla="*/ 302 h 107"/>
                <a:gd name="T16" fmla="*/ 6821 w 110"/>
                <a:gd name="T17" fmla="*/ 270 h 107"/>
                <a:gd name="T18" fmla="*/ 7813 w 110"/>
                <a:gd name="T19" fmla="*/ 247 h 107"/>
                <a:gd name="T20" fmla="*/ 8841 w 110"/>
                <a:gd name="T21" fmla="*/ 229 h 107"/>
                <a:gd name="T22" fmla="*/ 9802 w 110"/>
                <a:gd name="T23" fmla="*/ 196 h 107"/>
                <a:gd name="T24" fmla="*/ 10625 w 110"/>
                <a:gd name="T25" fmla="*/ 172 h 107"/>
                <a:gd name="T26" fmla="*/ 11650 w 110"/>
                <a:gd name="T27" fmla="*/ 129 h 107"/>
                <a:gd name="T28" fmla="*/ 12119 w 110"/>
                <a:gd name="T29" fmla="*/ 97 h 107"/>
                <a:gd name="T30" fmla="*/ 12513 w 110"/>
                <a:gd name="T31" fmla="*/ 47 h 107"/>
                <a:gd name="T32" fmla="*/ 12819 w 110"/>
                <a:gd name="T33" fmla="*/ 0 h 107"/>
                <a:gd name="T34" fmla="*/ 11091 w 110"/>
                <a:gd name="T35" fmla="*/ 0 h 107"/>
                <a:gd name="T36" fmla="*/ 10990 w 110"/>
                <a:gd name="T37" fmla="*/ 38 h 107"/>
                <a:gd name="T38" fmla="*/ 10625 w 110"/>
                <a:gd name="T39" fmla="*/ 63 h 107"/>
                <a:gd name="T40" fmla="*/ 10246 w 110"/>
                <a:gd name="T41" fmla="*/ 97 h 107"/>
                <a:gd name="T42" fmla="*/ 9595 w 110"/>
                <a:gd name="T43" fmla="*/ 120 h 107"/>
                <a:gd name="T44" fmla="*/ 8841 w 110"/>
                <a:gd name="T45" fmla="*/ 149 h 107"/>
                <a:gd name="T46" fmla="*/ 7950 w 110"/>
                <a:gd name="T47" fmla="*/ 172 h 107"/>
                <a:gd name="T48" fmla="*/ 6983 w 110"/>
                <a:gd name="T49" fmla="*/ 196 h 107"/>
                <a:gd name="T50" fmla="*/ 6096 w 110"/>
                <a:gd name="T51" fmla="*/ 218 h 107"/>
                <a:gd name="T52" fmla="*/ 5051 w 110"/>
                <a:gd name="T53" fmla="*/ 244 h 107"/>
                <a:gd name="T54" fmla="*/ 4026 w 110"/>
                <a:gd name="T55" fmla="*/ 264 h 107"/>
                <a:gd name="T56" fmla="*/ 2992 w 110"/>
                <a:gd name="T57" fmla="*/ 290 h 107"/>
                <a:gd name="T58" fmla="*/ 2095 w 110"/>
                <a:gd name="T59" fmla="*/ 325 h 107"/>
                <a:gd name="T60" fmla="*/ 1331 w 110"/>
                <a:gd name="T61" fmla="*/ 353 h 107"/>
                <a:gd name="T62" fmla="*/ 748 w 110"/>
                <a:gd name="T63" fmla="*/ 387 h 107"/>
                <a:gd name="T64" fmla="*/ 302 w 110"/>
                <a:gd name="T65" fmla="*/ 434 h 107"/>
                <a:gd name="T66" fmla="*/ 0 w 110"/>
                <a:gd name="T67" fmla="*/ 480 h 107"/>
                <a:gd name="T68" fmla="*/ 1791 w 110"/>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7" y="92"/>
                  </a:lnTo>
                  <a:lnTo>
                    <a:pt x="21" y="86"/>
                  </a:lnTo>
                  <a:lnTo>
                    <a:pt x="27" y="80"/>
                  </a:lnTo>
                  <a:lnTo>
                    <a:pt x="34" y="75"/>
                  </a:lnTo>
                  <a:lnTo>
                    <a:pt x="41" y="70"/>
                  </a:lnTo>
                  <a:lnTo>
                    <a:pt x="49" y="65"/>
                  </a:lnTo>
                  <a:lnTo>
                    <a:pt x="58" y="60"/>
                  </a:lnTo>
                  <a:lnTo>
                    <a:pt x="67" y="55"/>
                  </a:lnTo>
                  <a:lnTo>
                    <a:pt x="76" y="50"/>
                  </a:lnTo>
                  <a:lnTo>
                    <a:pt x="84" y="43"/>
                  </a:lnTo>
                  <a:lnTo>
                    <a:pt x="91" y="38"/>
                  </a:lnTo>
                  <a:lnTo>
                    <a:pt x="99" y="29"/>
                  </a:lnTo>
                  <a:lnTo>
                    <a:pt x="104" y="21"/>
                  </a:lnTo>
                  <a:lnTo>
                    <a:pt x="107" y="11"/>
                  </a:lnTo>
                  <a:lnTo>
                    <a:pt x="109" y="0"/>
                  </a:lnTo>
                  <a:lnTo>
                    <a:pt x="95" y="0"/>
                  </a:lnTo>
                  <a:lnTo>
                    <a:pt x="94" y="8"/>
                  </a:lnTo>
                  <a:lnTo>
                    <a:pt x="91" y="15"/>
                  </a:lnTo>
                  <a:lnTo>
                    <a:pt x="88" y="21"/>
                  </a:lnTo>
                  <a:lnTo>
                    <a:pt x="82" y="27"/>
                  </a:lnTo>
                  <a:lnTo>
                    <a:pt x="76" y="33"/>
                  </a:lnTo>
                  <a:lnTo>
                    <a:pt x="68" y="38"/>
                  </a:lnTo>
                  <a:lnTo>
                    <a:pt x="60" y="43"/>
                  </a:lnTo>
                  <a:lnTo>
                    <a:pt x="52" y="48"/>
                  </a:lnTo>
                  <a:lnTo>
                    <a:pt x="43" y="53"/>
                  </a:lnTo>
                  <a:lnTo>
                    <a:pt x="34" y="58"/>
                  </a:lnTo>
                  <a:lnTo>
                    <a:pt x="26" y="64"/>
                  </a:lnTo>
                  <a:lnTo>
                    <a:pt x="18" y="70"/>
                  </a:lnTo>
                  <a:lnTo>
                    <a:pt x="11" y="77"/>
                  </a:lnTo>
                  <a:lnTo>
                    <a:pt x="6" y="86"/>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0" name="Freeform 258">
              <a:extLst>
                <a:ext uri="{FF2B5EF4-FFF2-40B4-BE49-F238E27FC236}">
                  <a16:creationId xmlns:a16="http://schemas.microsoft.com/office/drawing/2014/main" id="{401BDADD-508F-705D-8D1E-AD17FEA4BBC4}"/>
                </a:ext>
              </a:extLst>
            </p:cNvPr>
            <p:cNvSpPr>
              <a:spLocks/>
            </p:cNvSpPr>
            <p:nvPr/>
          </p:nvSpPr>
          <p:spPr bwMode="auto">
            <a:xfrm>
              <a:off x="3852" y="1857"/>
              <a:ext cx="91" cy="113"/>
            </a:xfrm>
            <a:custGeom>
              <a:avLst/>
              <a:gdLst>
                <a:gd name="T0" fmla="*/ 3674 w 73"/>
                <a:gd name="T1" fmla="*/ 393 h 105"/>
                <a:gd name="T2" fmla="*/ 0 w 73"/>
                <a:gd name="T3" fmla="*/ 475 h 105"/>
                <a:gd name="T4" fmla="*/ 0 w 73"/>
                <a:gd name="T5" fmla="*/ 471 h 105"/>
                <a:gd name="T6" fmla="*/ 2418 w 73"/>
                <a:gd name="T7" fmla="*/ 244 h 105"/>
                <a:gd name="T8" fmla="*/ 2633 w 73"/>
                <a:gd name="T9" fmla="*/ 211 h 105"/>
                <a:gd name="T10" fmla="*/ 2917 w 73"/>
                <a:gd name="T11" fmla="*/ 182 h 105"/>
                <a:gd name="T12" fmla="*/ 3014 w 73"/>
                <a:gd name="T13" fmla="*/ 149 h 105"/>
                <a:gd name="T14" fmla="*/ 3282 w 73"/>
                <a:gd name="T15" fmla="*/ 119 h 105"/>
                <a:gd name="T16" fmla="*/ 3409 w 73"/>
                <a:gd name="T17" fmla="*/ 89 h 105"/>
                <a:gd name="T18" fmla="*/ 3636 w 73"/>
                <a:gd name="T19" fmla="*/ 58 h 105"/>
                <a:gd name="T20" fmla="*/ 3757 w 73"/>
                <a:gd name="T21" fmla="*/ 6 h 105"/>
                <a:gd name="T22" fmla="*/ 4002 w 73"/>
                <a:gd name="T23" fmla="*/ 0 h 105"/>
                <a:gd name="T24" fmla="*/ 4250 w 73"/>
                <a:gd name="T25" fmla="*/ 6 h 105"/>
                <a:gd name="T26" fmla="*/ 4273 w 73"/>
                <a:gd name="T27" fmla="*/ 58 h 105"/>
                <a:gd name="T28" fmla="*/ 4533 w 73"/>
                <a:gd name="T29" fmla="*/ 89 h 105"/>
                <a:gd name="T30" fmla="*/ 4580 w 73"/>
                <a:gd name="T31" fmla="*/ 119 h 105"/>
                <a:gd name="T32" fmla="*/ 4683 w 73"/>
                <a:gd name="T33" fmla="*/ 157 h 105"/>
                <a:gd name="T34" fmla="*/ 4958 w 73"/>
                <a:gd name="T35" fmla="*/ 182 h 105"/>
                <a:gd name="T36" fmla="*/ 4989 w 73"/>
                <a:gd name="T37" fmla="*/ 214 h 105"/>
                <a:gd name="T38" fmla="*/ 5100 w 73"/>
                <a:gd name="T39" fmla="*/ 244 h 105"/>
                <a:gd name="T40" fmla="*/ 7423 w 73"/>
                <a:gd name="T41" fmla="*/ 475 h 105"/>
                <a:gd name="T42" fmla="*/ 7278 w 73"/>
                <a:gd name="T43" fmla="*/ 489 h 105"/>
                <a:gd name="T44" fmla="*/ 3674 w 73"/>
                <a:gd name="T45" fmla="*/ 393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5"/>
                <a:gd name="T71" fmla="*/ 73 w 73"/>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5">
                  <a:moveTo>
                    <a:pt x="36" y="85"/>
                  </a:moveTo>
                  <a:lnTo>
                    <a:pt x="0" y="102"/>
                  </a:lnTo>
                  <a:lnTo>
                    <a:pt x="0" y="100"/>
                  </a:lnTo>
                  <a:lnTo>
                    <a:pt x="24" y="52"/>
                  </a:lnTo>
                  <a:lnTo>
                    <a:pt x="26" y="45"/>
                  </a:lnTo>
                  <a:lnTo>
                    <a:pt x="28" y="39"/>
                  </a:lnTo>
                  <a:lnTo>
                    <a:pt x="30" y="32"/>
                  </a:lnTo>
                  <a:lnTo>
                    <a:pt x="32" y="26"/>
                  </a:lnTo>
                  <a:lnTo>
                    <a:pt x="33" y="19"/>
                  </a:lnTo>
                  <a:lnTo>
                    <a:pt x="35" y="13"/>
                  </a:lnTo>
                  <a:lnTo>
                    <a:pt x="37" y="6"/>
                  </a:lnTo>
                  <a:lnTo>
                    <a:pt x="39" y="0"/>
                  </a:lnTo>
                  <a:lnTo>
                    <a:pt x="41" y="6"/>
                  </a:lnTo>
                  <a:lnTo>
                    <a:pt x="42" y="13"/>
                  </a:lnTo>
                  <a:lnTo>
                    <a:pt x="44" y="19"/>
                  </a:lnTo>
                  <a:lnTo>
                    <a:pt x="45" y="26"/>
                  </a:lnTo>
                  <a:lnTo>
                    <a:pt x="46" y="33"/>
                  </a:lnTo>
                  <a:lnTo>
                    <a:pt x="48" y="39"/>
                  </a:lnTo>
                  <a:lnTo>
                    <a:pt x="49" y="46"/>
                  </a:lnTo>
                  <a:lnTo>
                    <a:pt x="50" y="52"/>
                  </a:lnTo>
                  <a:lnTo>
                    <a:pt x="72" y="102"/>
                  </a:lnTo>
                  <a:lnTo>
                    <a:pt x="71" y="104"/>
                  </a:lnTo>
                  <a:lnTo>
                    <a:pt x="36" y="8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1" name="Freeform 259">
              <a:extLst>
                <a:ext uri="{FF2B5EF4-FFF2-40B4-BE49-F238E27FC236}">
                  <a16:creationId xmlns:a16="http://schemas.microsoft.com/office/drawing/2014/main" id="{50FADFCB-5233-6DC6-0786-449CE8947C99}"/>
                </a:ext>
              </a:extLst>
            </p:cNvPr>
            <p:cNvSpPr>
              <a:spLocks/>
            </p:cNvSpPr>
            <p:nvPr/>
          </p:nvSpPr>
          <p:spPr bwMode="auto">
            <a:xfrm>
              <a:off x="3953" y="2811"/>
              <a:ext cx="91" cy="157"/>
            </a:xfrm>
            <a:custGeom>
              <a:avLst/>
              <a:gdLst>
                <a:gd name="T0" fmla="*/ 1329 w 73"/>
                <a:gd name="T1" fmla="*/ 671 h 146"/>
                <a:gd name="T2" fmla="*/ 1359 w 73"/>
                <a:gd name="T3" fmla="*/ 633 h 146"/>
                <a:gd name="T4" fmla="*/ 1657 w 73"/>
                <a:gd name="T5" fmla="*/ 610 h 146"/>
                <a:gd name="T6" fmla="*/ 1770 w 73"/>
                <a:gd name="T7" fmla="*/ 589 h 146"/>
                <a:gd name="T8" fmla="*/ 2206 w 73"/>
                <a:gd name="T9" fmla="*/ 579 h 146"/>
                <a:gd name="T10" fmla="*/ 2750 w 73"/>
                <a:gd name="T11" fmla="*/ 554 h 146"/>
                <a:gd name="T12" fmla="*/ 3282 w 73"/>
                <a:gd name="T13" fmla="*/ 539 h 146"/>
                <a:gd name="T14" fmla="*/ 3896 w 73"/>
                <a:gd name="T15" fmla="*/ 518 h 146"/>
                <a:gd name="T16" fmla="*/ 4533 w 73"/>
                <a:gd name="T17" fmla="*/ 500 h 146"/>
                <a:gd name="T18" fmla="*/ 5298 w 73"/>
                <a:gd name="T19" fmla="*/ 474 h 146"/>
                <a:gd name="T20" fmla="*/ 5838 w 73"/>
                <a:gd name="T21" fmla="*/ 439 h 146"/>
                <a:gd name="T22" fmla="*/ 6358 w 73"/>
                <a:gd name="T23" fmla="*/ 388 h 146"/>
                <a:gd name="T24" fmla="*/ 6723 w 73"/>
                <a:gd name="T25" fmla="*/ 340 h 146"/>
                <a:gd name="T26" fmla="*/ 7044 w 73"/>
                <a:gd name="T27" fmla="*/ 281 h 146"/>
                <a:gd name="T28" fmla="*/ 7278 w 73"/>
                <a:gd name="T29" fmla="*/ 197 h 146"/>
                <a:gd name="T30" fmla="*/ 7423 w 73"/>
                <a:gd name="T31" fmla="*/ 105 h 146"/>
                <a:gd name="T32" fmla="*/ 7117 w 73"/>
                <a:gd name="T33" fmla="*/ 0 h 146"/>
                <a:gd name="T34" fmla="*/ 5838 w 73"/>
                <a:gd name="T35" fmla="*/ 1 h 146"/>
                <a:gd name="T36" fmla="*/ 5838 w 73"/>
                <a:gd name="T37" fmla="*/ 105 h 146"/>
                <a:gd name="T38" fmla="*/ 5955 w 73"/>
                <a:gd name="T39" fmla="*/ 195 h 146"/>
                <a:gd name="T40" fmla="*/ 5709 w 73"/>
                <a:gd name="T41" fmla="*/ 265 h 146"/>
                <a:gd name="T42" fmla="*/ 5393 w 73"/>
                <a:gd name="T43" fmla="*/ 325 h 146"/>
                <a:gd name="T44" fmla="*/ 4989 w 73"/>
                <a:gd name="T45" fmla="*/ 366 h 146"/>
                <a:gd name="T46" fmla="*/ 4580 w 73"/>
                <a:gd name="T47" fmla="*/ 403 h 146"/>
                <a:gd name="T48" fmla="*/ 4091 w 73"/>
                <a:gd name="T49" fmla="*/ 432 h 146"/>
                <a:gd name="T50" fmla="*/ 3636 w 73"/>
                <a:gd name="T51" fmla="*/ 448 h 146"/>
                <a:gd name="T52" fmla="*/ 3014 w 73"/>
                <a:gd name="T53" fmla="*/ 474 h 146"/>
                <a:gd name="T54" fmla="*/ 2418 w 73"/>
                <a:gd name="T55" fmla="*/ 490 h 146"/>
                <a:gd name="T56" fmla="*/ 1940 w 73"/>
                <a:gd name="T57" fmla="*/ 508 h 146"/>
                <a:gd name="T58" fmla="*/ 1329 w 73"/>
                <a:gd name="T59" fmla="*/ 527 h 146"/>
                <a:gd name="T60" fmla="*/ 803 w 73"/>
                <a:gd name="T61" fmla="*/ 551 h 146"/>
                <a:gd name="T62" fmla="*/ 290 w 73"/>
                <a:gd name="T63" fmla="*/ 587 h 146"/>
                <a:gd name="T64" fmla="*/ 1 w 73"/>
                <a:gd name="T65" fmla="*/ 624 h 146"/>
                <a:gd name="T66" fmla="*/ 0 w 73"/>
                <a:gd name="T67" fmla="*/ 671 h 146"/>
                <a:gd name="T68" fmla="*/ 1329 w 73"/>
                <a:gd name="T69" fmla="*/ 671 h 14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3"/>
                <a:gd name="T106" fmla="*/ 0 h 146"/>
                <a:gd name="T107" fmla="*/ 73 w 73"/>
                <a:gd name="T108" fmla="*/ 146 h 14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3" h="146">
                  <a:moveTo>
                    <a:pt x="13" y="145"/>
                  </a:moveTo>
                  <a:lnTo>
                    <a:pt x="14" y="138"/>
                  </a:lnTo>
                  <a:lnTo>
                    <a:pt x="16" y="132"/>
                  </a:lnTo>
                  <a:lnTo>
                    <a:pt x="18" y="128"/>
                  </a:lnTo>
                  <a:lnTo>
                    <a:pt x="22" y="125"/>
                  </a:lnTo>
                  <a:lnTo>
                    <a:pt x="27" y="121"/>
                  </a:lnTo>
                  <a:lnTo>
                    <a:pt x="32" y="117"/>
                  </a:lnTo>
                  <a:lnTo>
                    <a:pt x="38" y="113"/>
                  </a:lnTo>
                  <a:lnTo>
                    <a:pt x="44" y="108"/>
                  </a:lnTo>
                  <a:lnTo>
                    <a:pt x="51" y="103"/>
                  </a:lnTo>
                  <a:lnTo>
                    <a:pt x="57" y="95"/>
                  </a:lnTo>
                  <a:lnTo>
                    <a:pt x="62" y="85"/>
                  </a:lnTo>
                  <a:lnTo>
                    <a:pt x="66" y="74"/>
                  </a:lnTo>
                  <a:lnTo>
                    <a:pt x="69" y="60"/>
                  </a:lnTo>
                  <a:lnTo>
                    <a:pt x="71" y="43"/>
                  </a:lnTo>
                  <a:lnTo>
                    <a:pt x="72" y="23"/>
                  </a:lnTo>
                  <a:lnTo>
                    <a:pt x="70" y="0"/>
                  </a:lnTo>
                  <a:lnTo>
                    <a:pt x="57" y="1"/>
                  </a:lnTo>
                  <a:lnTo>
                    <a:pt x="57" y="23"/>
                  </a:lnTo>
                  <a:lnTo>
                    <a:pt x="58" y="42"/>
                  </a:lnTo>
                  <a:lnTo>
                    <a:pt x="56" y="58"/>
                  </a:lnTo>
                  <a:lnTo>
                    <a:pt x="53" y="70"/>
                  </a:lnTo>
                  <a:lnTo>
                    <a:pt x="49" y="80"/>
                  </a:lnTo>
                  <a:lnTo>
                    <a:pt x="45" y="87"/>
                  </a:lnTo>
                  <a:lnTo>
                    <a:pt x="40" y="93"/>
                  </a:lnTo>
                  <a:lnTo>
                    <a:pt x="35" y="98"/>
                  </a:lnTo>
                  <a:lnTo>
                    <a:pt x="30" y="103"/>
                  </a:lnTo>
                  <a:lnTo>
                    <a:pt x="24" y="106"/>
                  </a:lnTo>
                  <a:lnTo>
                    <a:pt x="19" y="110"/>
                  </a:lnTo>
                  <a:lnTo>
                    <a:pt x="13" y="114"/>
                  </a:lnTo>
                  <a:lnTo>
                    <a:pt x="8" y="120"/>
                  </a:lnTo>
                  <a:lnTo>
                    <a:pt x="3" y="127"/>
                  </a:lnTo>
                  <a:lnTo>
                    <a:pt x="1" y="135"/>
                  </a:lnTo>
                  <a:lnTo>
                    <a:pt x="0" y="145"/>
                  </a:lnTo>
                  <a:lnTo>
                    <a:pt x="13" y="14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2" name="Freeform 260">
              <a:extLst>
                <a:ext uri="{FF2B5EF4-FFF2-40B4-BE49-F238E27FC236}">
                  <a16:creationId xmlns:a16="http://schemas.microsoft.com/office/drawing/2014/main" id="{24BA4E2C-9D86-E1D3-F4BA-D8332A2B3638}"/>
                </a:ext>
              </a:extLst>
            </p:cNvPr>
            <p:cNvSpPr>
              <a:spLocks/>
            </p:cNvSpPr>
            <p:nvPr/>
          </p:nvSpPr>
          <p:spPr bwMode="auto">
            <a:xfrm>
              <a:off x="3953" y="2967"/>
              <a:ext cx="137" cy="121"/>
            </a:xfrm>
            <a:custGeom>
              <a:avLst/>
              <a:gdLst>
                <a:gd name="T0" fmla="*/ 13137 w 109"/>
                <a:gd name="T1" fmla="*/ 557 h 112"/>
                <a:gd name="T2" fmla="*/ 12867 w 109"/>
                <a:gd name="T3" fmla="*/ 508 h 112"/>
                <a:gd name="T4" fmla="*/ 12503 w 109"/>
                <a:gd name="T5" fmla="*/ 466 h 112"/>
                <a:gd name="T6" fmla="*/ 11758 w 109"/>
                <a:gd name="T7" fmla="*/ 420 h 112"/>
                <a:gd name="T8" fmla="*/ 10930 w 109"/>
                <a:gd name="T9" fmla="*/ 379 h 112"/>
                <a:gd name="T10" fmla="*/ 9948 w 109"/>
                <a:gd name="T11" fmla="*/ 351 h 112"/>
                <a:gd name="T12" fmla="*/ 9083 w 109"/>
                <a:gd name="T13" fmla="*/ 317 h 112"/>
                <a:gd name="T14" fmla="*/ 7915 w 109"/>
                <a:gd name="T15" fmla="*/ 293 h 112"/>
                <a:gd name="T16" fmla="*/ 6919 w 109"/>
                <a:gd name="T17" fmla="*/ 264 h 112"/>
                <a:gd name="T18" fmla="*/ 5750 w 109"/>
                <a:gd name="T19" fmla="*/ 233 h 112"/>
                <a:gd name="T20" fmla="*/ 4784 w 109"/>
                <a:gd name="T21" fmla="*/ 209 h 112"/>
                <a:gd name="T22" fmla="*/ 3818 w 109"/>
                <a:gd name="T23" fmla="*/ 179 h 112"/>
                <a:gd name="T24" fmla="*/ 3028 w 109"/>
                <a:gd name="T25" fmla="*/ 145 h 112"/>
                <a:gd name="T26" fmla="*/ 2409 w 109"/>
                <a:gd name="T27" fmla="*/ 115 h 112"/>
                <a:gd name="T28" fmla="*/ 1917 w 109"/>
                <a:gd name="T29" fmla="*/ 84 h 112"/>
                <a:gd name="T30" fmla="*/ 1755 w 109"/>
                <a:gd name="T31" fmla="*/ 45 h 112"/>
                <a:gd name="T32" fmla="*/ 1525 w 109"/>
                <a:gd name="T33" fmla="*/ 0 h 112"/>
                <a:gd name="T34" fmla="*/ 0 w 109"/>
                <a:gd name="T35" fmla="*/ 0 h 112"/>
                <a:gd name="T36" fmla="*/ 1 w 109"/>
                <a:gd name="T37" fmla="*/ 53 h 112"/>
                <a:gd name="T38" fmla="*/ 387 w 109"/>
                <a:gd name="T39" fmla="*/ 113 h 112"/>
                <a:gd name="T40" fmla="*/ 1111 w 109"/>
                <a:gd name="T41" fmla="*/ 157 h 112"/>
                <a:gd name="T42" fmla="*/ 1917 w 109"/>
                <a:gd name="T43" fmla="*/ 193 h 112"/>
                <a:gd name="T44" fmla="*/ 2773 w 109"/>
                <a:gd name="T45" fmla="*/ 232 h 112"/>
                <a:gd name="T46" fmla="*/ 3806 w 109"/>
                <a:gd name="T47" fmla="*/ 264 h 112"/>
                <a:gd name="T48" fmla="*/ 4799 w 109"/>
                <a:gd name="T49" fmla="*/ 294 h 112"/>
                <a:gd name="T50" fmla="*/ 6013 w 109"/>
                <a:gd name="T51" fmla="*/ 318 h 112"/>
                <a:gd name="T52" fmla="*/ 7121 w 109"/>
                <a:gd name="T53" fmla="*/ 351 h 112"/>
                <a:gd name="T54" fmla="*/ 8145 w 109"/>
                <a:gd name="T55" fmla="*/ 373 h 112"/>
                <a:gd name="T56" fmla="*/ 9083 w 109"/>
                <a:gd name="T57" fmla="*/ 402 h 112"/>
                <a:gd name="T58" fmla="*/ 9840 w 109"/>
                <a:gd name="T59" fmla="*/ 431 h 112"/>
                <a:gd name="T60" fmla="*/ 10452 w 109"/>
                <a:gd name="T61" fmla="*/ 466 h 112"/>
                <a:gd name="T62" fmla="*/ 11025 w 109"/>
                <a:gd name="T63" fmla="*/ 490 h 112"/>
                <a:gd name="T64" fmla="*/ 11372 w 109"/>
                <a:gd name="T65" fmla="*/ 516 h 112"/>
                <a:gd name="T66" fmla="*/ 11416 w 109"/>
                <a:gd name="T67" fmla="*/ 557 h 112"/>
                <a:gd name="T68" fmla="*/ 13137 w 109"/>
                <a:gd name="T69" fmla="*/ 557 h 11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12"/>
                <a:gd name="T107" fmla="*/ 109 w 109"/>
                <a:gd name="T108" fmla="*/ 112 h 11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12">
                  <a:moveTo>
                    <a:pt x="108" y="111"/>
                  </a:moveTo>
                  <a:lnTo>
                    <a:pt x="106" y="100"/>
                  </a:lnTo>
                  <a:lnTo>
                    <a:pt x="103" y="91"/>
                  </a:lnTo>
                  <a:lnTo>
                    <a:pt x="97" y="83"/>
                  </a:lnTo>
                  <a:lnTo>
                    <a:pt x="90" y="75"/>
                  </a:lnTo>
                  <a:lnTo>
                    <a:pt x="82" y="69"/>
                  </a:lnTo>
                  <a:lnTo>
                    <a:pt x="75" y="62"/>
                  </a:lnTo>
                  <a:lnTo>
                    <a:pt x="65" y="57"/>
                  </a:lnTo>
                  <a:lnTo>
                    <a:pt x="57" y="52"/>
                  </a:lnTo>
                  <a:lnTo>
                    <a:pt x="48" y="46"/>
                  </a:lnTo>
                  <a:lnTo>
                    <a:pt x="39" y="41"/>
                  </a:lnTo>
                  <a:lnTo>
                    <a:pt x="32" y="35"/>
                  </a:lnTo>
                  <a:lnTo>
                    <a:pt x="25" y="29"/>
                  </a:lnTo>
                  <a:lnTo>
                    <a:pt x="20" y="23"/>
                  </a:lnTo>
                  <a:lnTo>
                    <a:pt x="16" y="17"/>
                  </a:lnTo>
                  <a:lnTo>
                    <a:pt x="14" y="9"/>
                  </a:lnTo>
                  <a:lnTo>
                    <a:pt x="13" y="0"/>
                  </a:lnTo>
                  <a:lnTo>
                    <a:pt x="0" y="0"/>
                  </a:lnTo>
                  <a:lnTo>
                    <a:pt x="1" y="11"/>
                  </a:lnTo>
                  <a:lnTo>
                    <a:pt x="3" y="22"/>
                  </a:lnTo>
                  <a:lnTo>
                    <a:pt x="9" y="31"/>
                  </a:lnTo>
                  <a:lnTo>
                    <a:pt x="16" y="38"/>
                  </a:lnTo>
                  <a:lnTo>
                    <a:pt x="23" y="45"/>
                  </a:lnTo>
                  <a:lnTo>
                    <a:pt x="31" y="52"/>
                  </a:lnTo>
                  <a:lnTo>
                    <a:pt x="40" y="58"/>
                  </a:lnTo>
                  <a:lnTo>
                    <a:pt x="49" y="63"/>
                  </a:lnTo>
                  <a:lnTo>
                    <a:pt x="58" y="69"/>
                  </a:lnTo>
                  <a:lnTo>
                    <a:pt x="67" y="74"/>
                  </a:lnTo>
                  <a:lnTo>
                    <a:pt x="75" y="79"/>
                  </a:lnTo>
                  <a:lnTo>
                    <a:pt x="81" y="84"/>
                  </a:lnTo>
                  <a:lnTo>
                    <a:pt x="86" y="91"/>
                  </a:lnTo>
                  <a:lnTo>
                    <a:pt x="91" y="97"/>
                  </a:lnTo>
                  <a:lnTo>
                    <a:pt x="93" y="103"/>
                  </a:lnTo>
                  <a:lnTo>
                    <a:pt x="94" y="111"/>
                  </a:lnTo>
                  <a:lnTo>
                    <a:pt x="108" y="11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3" name="Freeform 261">
              <a:extLst>
                <a:ext uri="{FF2B5EF4-FFF2-40B4-BE49-F238E27FC236}">
                  <a16:creationId xmlns:a16="http://schemas.microsoft.com/office/drawing/2014/main" id="{62C5CAEF-083C-0D60-8238-40E494BE2AC0}"/>
                </a:ext>
              </a:extLst>
            </p:cNvPr>
            <p:cNvSpPr>
              <a:spLocks/>
            </p:cNvSpPr>
            <p:nvPr/>
          </p:nvSpPr>
          <p:spPr bwMode="auto">
            <a:xfrm>
              <a:off x="3953" y="3087"/>
              <a:ext cx="137" cy="115"/>
            </a:xfrm>
            <a:custGeom>
              <a:avLst/>
              <a:gdLst>
                <a:gd name="T0" fmla="*/ 1755 w 109"/>
                <a:gd name="T1" fmla="*/ 584 h 106"/>
                <a:gd name="T2" fmla="*/ 1833 w 109"/>
                <a:gd name="T3" fmla="*/ 538 h 106"/>
                <a:gd name="T4" fmla="*/ 2007 w 109"/>
                <a:gd name="T5" fmla="*/ 512 h 106"/>
                <a:gd name="T6" fmla="*/ 2523 w 109"/>
                <a:gd name="T7" fmla="*/ 475 h 106"/>
                <a:gd name="T8" fmla="*/ 3283 w 109"/>
                <a:gd name="T9" fmla="*/ 442 h 106"/>
                <a:gd name="T10" fmla="*/ 3818 w 109"/>
                <a:gd name="T11" fmla="*/ 410 h 106"/>
                <a:gd name="T12" fmla="*/ 5010 w 109"/>
                <a:gd name="T13" fmla="*/ 378 h 106"/>
                <a:gd name="T14" fmla="*/ 6013 w 109"/>
                <a:gd name="T15" fmla="*/ 348 h 106"/>
                <a:gd name="T16" fmla="*/ 6919 w 109"/>
                <a:gd name="T17" fmla="*/ 338 h 106"/>
                <a:gd name="T18" fmla="*/ 8044 w 109"/>
                <a:gd name="T19" fmla="*/ 312 h 106"/>
                <a:gd name="T20" fmla="*/ 9083 w 109"/>
                <a:gd name="T21" fmla="*/ 273 h 106"/>
                <a:gd name="T22" fmla="*/ 10110 w 109"/>
                <a:gd name="T23" fmla="*/ 244 h 106"/>
                <a:gd name="T24" fmla="*/ 11025 w 109"/>
                <a:gd name="T25" fmla="*/ 207 h 106"/>
                <a:gd name="T26" fmla="*/ 11758 w 109"/>
                <a:gd name="T27" fmla="*/ 168 h 106"/>
                <a:gd name="T28" fmla="*/ 12503 w 109"/>
                <a:gd name="T29" fmla="*/ 116 h 106"/>
                <a:gd name="T30" fmla="*/ 12867 w 109"/>
                <a:gd name="T31" fmla="*/ 59 h 106"/>
                <a:gd name="T32" fmla="*/ 13137 w 109"/>
                <a:gd name="T33" fmla="*/ 0 h 106"/>
                <a:gd name="T34" fmla="*/ 11416 w 109"/>
                <a:gd name="T35" fmla="*/ 0 h 106"/>
                <a:gd name="T36" fmla="*/ 11372 w 109"/>
                <a:gd name="T37" fmla="*/ 46 h 106"/>
                <a:gd name="T38" fmla="*/ 10930 w 109"/>
                <a:gd name="T39" fmla="*/ 81 h 106"/>
                <a:gd name="T40" fmla="*/ 10529 w 109"/>
                <a:gd name="T41" fmla="*/ 122 h 106"/>
                <a:gd name="T42" fmla="*/ 9948 w 109"/>
                <a:gd name="T43" fmla="*/ 149 h 106"/>
                <a:gd name="T44" fmla="*/ 9083 w 109"/>
                <a:gd name="T45" fmla="*/ 182 h 106"/>
                <a:gd name="T46" fmla="*/ 8145 w 109"/>
                <a:gd name="T47" fmla="*/ 208 h 106"/>
                <a:gd name="T48" fmla="*/ 7199 w 109"/>
                <a:gd name="T49" fmla="*/ 244 h 106"/>
                <a:gd name="T50" fmla="*/ 6215 w 109"/>
                <a:gd name="T51" fmla="*/ 271 h 106"/>
                <a:gd name="T52" fmla="*/ 5156 w 109"/>
                <a:gd name="T53" fmla="*/ 294 h 106"/>
                <a:gd name="T54" fmla="*/ 3986 w 109"/>
                <a:gd name="T55" fmla="*/ 319 h 106"/>
                <a:gd name="T56" fmla="*/ 3028 w 109"/>
                <a:gd name="T57" fmla="*/ 348 h 106"/>
                <a:gd name="T58" fmla="*/ 2206 w 109"/>
                <a:gd name="T59" fmla="*/ 378 h 106"/>
                <a:gd name="T60" fmla="*/ 1213 w 109"/>
                <a:gd name="T61" fmla="*/ 432 h 106"/>
                <a:gd name="T62" fmla="*/ 611 w 109"/>
                <a:gd name="T63" fmla="*/ 472 h 106"/>
                <a:gd name="T64" fmla="*/ 308 w 109"/>
                <a:gd name="T65" fmla="*/ 524 h 106"/>
                <a:gd name="T66" fmla="*/ 0 w 109"/>
                <a:gd name="T67" fmla="*/ 584 h 106"/>
                <a:gd name="T68" fmla="*/ 1755 w 109"/>
                <a:gd name="T69" fmla="*/ 584 h 10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6"/>
                <a:gd name="T107" fmla="*/ 109 w 109"/>
                <a:gd name="T108" fmla="*/ 106 h 10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6">
                  <a:moveTo>
                    <a:pt x="14" y="105"/>
                  </a:moveTo>
                  <a:lnTo>
                    <a:pt x="15" y="97"/>
                  </a:lnTo>
                  <a:lnTo>
                    <a:pt x="17" y="92"/>
                  </a:lnTo>
                  <a:lnTo>
                    <a:pt x="21" y="86"/>
                  </a:lnTo>
                  <a:lnTo>
                    <a:pt x="27" y="80"/>
                  </a:lnTo>
                  <a:lnTo>
                    <a:pt x="32" y="75"/>
                  </a:lnTo>
                  <a:lnTo>
                    <a:pt x="41" y="69"/>
                  </a:lnTo>
                  <a:lnTo>
                    <a:pt x="49" y="64"/>
                  </a:lnTo>
                  <a:lnTo>
                    <a:pt x="57" y="60"/>
                  </a:lnTo>
                  <a:lnTo>
                    <a:pt x="66" y="55"/>
                  </a:lnTo>
                  <a:lnTo>
                    <a:pt x="75" y="50"/>
                  </a:lnTo>
                  <a:lnTo>
                    <a:pt x="83" y="43"/>
                  </a:lnTo>
                  <a:lnTo>
                    <a:pt x="91" y="37"/>
                  </a:lnTo>
                  <a:lnTo>
                    <a:pt x="97" y="30"/>
                  </a:lnTo>
                  <a:lnTo>
                    <a:pt x="103" y="21"/>
                  </a:lnTo>
                  <a:lnTo>
                    <a:pt x="106" y="11"/>
                  </a:lnTo>
                  <a:lnTo>
                    <a:pt x="108" y="0"/>
                  </a:lnTo>
                  <a:lnTo>
                    <a:pt x="94" y="0"/>
                  </a:lnTo>
                  <a:lnTo>
                    <a:pt x="93" y="8"/>
                  </a:lnTo>
                  <a:lnTo>
                    <a:pt x="90" y="15"/>
                  </a:lnTo>
                  <a:lnTo>
                    <a:pt x="87" y="22"/>
                  </a:lnTo>
                  <a:lnTo>
                    <a:pt x="82" y="27"/>
                  </a:lnTo>
                  <a:lnTo>
                    <a:pt x="75" y="33"/>
                  </a:lnTo>
                  <a:lnTo>
                    <a:pt x="67" y="38"/>
                  </a:lnTo>
                  <a:lnTo>
                    <a:pt x="59" y="43"/>
                  </a:lnTo>
                  <a:lnTo>
                    <a:pt x="51" y="49"/>
                  </a:lnTo>
                  <a:lnTo>
                    <a:pt x="42" y="53"/>
                  </a:lnTo>
                  <a:lnTo>
                    <a:pt x="33" y="58"/>
                  </a:lnTo>
                  <a:lnTo>
                    <a:pt x="25" y="64"/>
                  </a:lnTo>
                  <a:lnTo>
                    <a:pt x="18" y="69"/>
                  </a:lnTo>
                  <a:lnTo>
                    <a:pt x="10" y="77"/>
                  </a:lnTo>
                  <a:lnTo>
                    <a:pt x="5" y="85"/>
                  </a:lnTo>
                  <a:lnTo>
                    <a:pt x="2" y="95"/>
                  </a:lnTo>
                  <a:lnTo>
                    <a:pt x="0" y="105"/>
                  </a:lnTo>
                  <a:lnTo>
                    <a:pt x="14" y="10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4" name="Freeform 262">
              <a:extLst>
                <a:ext uri="{FF2B5EF4-FFF2-40B4-BE49-F238E27FC236}">
                  <a16:creationId xmlns:a16="http://schemas.microsoft.com/office/drawing/2014/main" id="{06638DE6-F459-AD92-091D-FDAC5CB369E9}"/>
                </a:ext>
              </a:extLst>
            </p:cNvPr>
            <p:cNvSpPr>
              <a:spLocks/>
            </p:cNvSpPr>
            <p:nvPr/>
          </p:nvSpPr>
          <p:spPr bwMode="auto">
            <a:xfrm>
              <a:off x="3953" y="3201"/>
              <a:ext cx="137" cy="116"/>
            </a:xfrm>
            <a:custGeom>
              <a:avLst/>
              <a:gdLst>
                <a:gd name="T0" fmla="*/ 13137 w 109"/>
                <a:gd name="T1" fmla="*/ 576 h 107"/>
                <a:gd name="T2" fmla="*/ 12867 w 109"/>
                <a:gd name="T3" fmla="*/ 515 h 107"/>
                <a:gd name="T4" fmla="*/ 12503 w 109"/>
                <a:gd name="T5" fmla="*/ 465 h 107"/>
                <a:gd name="T6" fmla="*/ 11758 w 109"/>
                <a:gd name="T7" fmla="*/ 410 h 107"/>
                <a:gd name="T8" fmla="*/ 11025 w 109"/>
                <a:gd name="T9" fmla="*/ 374 h 107"/>
                <a:gd name="T10" fmla="*/ 10110 w 109"/>
                <a:gd name="T11" fmla="*/ 339 h 107"/>
                <a:gd name="T12" fmla="*/ 9083 w 109"/>
                <a:gd name="T13" fmla="*/ 311 h 107"/>
                <a:gd name="T14" fmla="*/ 8044 w 109"/>
                <a:gd name="T15" fmla="*/ 270 h 107"/>
                <a:gd name="T16" fmla="*/ 6919 w 109"/>
                <a:gd name="T17" fmla="*/ 249 h 107"/>
                <a:gd name="T18" fmla="*/ 6013 w 109"/>
                <a:gd name="T19" fmla="*/ 225 h 107"/>
                <a:gd name="T20" fmla="*/ 4799 w 109"/>
                <a:gd name="T21" fmla="*/ 192 h 107"/>
                <a:gd name="T22" fmla="*/ 3818 w 109"/>
                <a:gd name="T23" fmla="*/ 169 h 107"/>
                <a:gd name="T24" fmla="*/ 3283 w 109"/>
                <a:gd name="T25" fmla="*/ 133 h 107"/>
                <a:gd name="T26" fmla="*/ 2523 w 109"/>
                <a:gd name="T27" fmla="*/ 104 h 107"/>
                <a:gd name="T28" fmla="*/ 2007 w 109"/>
                <a:gd name="T29" fmla="*/ 69 h 107"/>
                <a:gd name="T30" fmla="*/ 1833 w 109"/>
                <a:gd name="T31" fmla="*/ 42 h 107"/>
                <a:gd name="T32" fmla="*/ 1755 w 109"/>
                <a:gd name="T33" fmla="*/ 0 h 107"/>
                <a:gd name="T34" fmla="*/ 0 w 109"/>
                <a:gd name="T35" fmla="*/ 0 h 107"/>
                <a:gd name="T36" fmla="*/ 308 w 109"/>
                <a:gd name="T37" fmla="*/ 54 h 107"/>
                <a:gd name="T38" fmla="*/ 611 w 109"/>
                <a:gd name="T39" fmla="*/ 112 h 107"/>
                <a:gd name="T40" fmla="*/ 1213 w 109"/>
                <a:gd name="T41" fmla="*/ 154 h 107"/>
                <a:gd name="T42" fmla="*/ 2206 w 109"/>
                <a:gd name="T43" fmla="*/ 192 h 107"/>
                <a:gd name="T44" fmla="*/ 3028 w 109"/>
                <a:gd name="T45" fmla="*/ 225 h 107"/>
                <a:gd name="T46" fmla="*/ 4126 w 109"/>
                <a:gd name="T47" fmla="*/ 253 h 107"/>
                <a:gd name="T48" fmla="*/ 5156 w 109"/>
                <a:gd name="T49" fmla="*/ 287 h 107"/>
                <a:gd name="T50" fmla="*/ 6215 w 109"/>
                <a:gd name="T51" fmla="*/ 313 h 107"/>
                <a:gd name="T52" fmla="*/ 7199 w 109"/>
                <a:gd name="T53" fmla="*/ 339 h 107"/>
                <a:gd name="T54" fmla="*/ 8145 w 109"/>
                <a:gd name="T55" fmla="*/ 368 h 107"/>
                <a:gd name="T56" fmla="*/ 9083 w 109"/>
                <a:gd name="T57" fmla="*/ 396 h 107"/>
                <a:gd name="T58" fmla="*/ 9948 w 109"/>
                <a:gd name="T59" fmla="*/ 429 h 107"/>
                <a:gd name="T60" fmla="*/ 10529 w 109"/>
                <a:gd name="T61" fmla="*/ 463 h 107"/>
                <a:gd name="T62" fmla="*/ 10930 w 109"/>
                <a:gd name="T63" fmla="*/ 490 h 107"/>
                <a:gd name="T64" fmla="*/ 11372 w 109"/>
                <a:gd name="T65" fmla="*/ 525 h 107"/>
                <a:gd name="T66" fmla="*/ 11416 w 109"/>
                <a:gd name="T67" fmla="*/ 576 h 107"/>
                <a:gd name="T68" fmla="*/ 13137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08" y="106"/>
                  </a:moveTo>
                  <a:lnTo>
                    <a:pt x="106" y="94"/>
                  </a:lnTo>
                  <a:lnTo>
                    <a:pt x="103" y="85"/>
                  </a:lnTo>
                  <a:lnTo>
                    <a:pt x="97" y="76"/>
                  </a:lnTo>
                  <a:lnTo>
                    <a:pt x="91" y="69"/>
                  </a:lnTo>
                  <a:lnTo>
                    <a:pt x="83" y="62"/>
                  </a:lnTo>
                  <a:lnTo>
                    <a:pt x="75" y="56"/>
                  </a:lnTo>
                  <a:lnTo>
                    <a:pt x="66" y="50"/>
                  </a:lnTo>
                  <a:lnTo>
                    <a:pt x="57" y="46"/>
                  </a:lnTo>
                  <a:lnTo>
                    <a:pt x="49" y="41"/>
                  </a:lnTo>
                  <a:lnTo>
                    <a:pt x="40" y="35"/>
                  </a:lnTo>
                  <a:lnTo>
                    <a:pt x="32" y="31"/>
                  </a:lnTo>
                  <a:lnTo>
                    <a:pt x="27" y="25"/>
                  </a:lnTo>
                  <a:lnTo>
                    <a:pt x="21" y="19"/>
                  </a:lnTo>
                  <a:lnTo>
                    <a:pt x="17" y="13"/>
                  </a:lnTo>
                  <a:lnTo>
                    <a:pt x="15" y="7"/>
                  </a:lnTo>
                  <a:lnTo>
                    <a:pt x="14" y="0"/>
                  </a:lnTo>
                  <a:lnTo>
                    <a:pt x="0" y="0"/>
                  </a:lnTo>
                  <a:lnTo>
                    <a:pt x="2" y="10"/>
                  </a:lnTo>
                  <a:lnTo>
                    <a:pt x="5" y="20"/>
                  </a:lnTo>
                  <a:lnTo>
                    <a:pt x="10" y="28"/>
                  </a:lnTo>
                  <a:lnTo>
                    <a:pt x="18" y="35"/>
                  </a:lnTo>
                  <a:lnTo>
                    <a:pt x="25" y="41"/>
                  </a:lnTo>
                  <a:lnTo>
                    <a:pt x="34" y="47"/>
                  </a:lnTo>
                  <a:lnTo>
                    <a:pt x="42" y="52"/>
                  </a:lnTo>
                  <a:lnTo>
                    <a:pt x="51" y="57"/>
                  </a:lnTo>
                  <a:lnTo>
                    <a:pt x="59" y="62"/>
                  </a:lnTo>
                  <a:lnTo>
                    <a:pt x="67" y="67"/>
                  </a:lnTo>
                  <a:lnTo>
                    <a:pt x="75" y="72"/>
                  </a:lnTo>
                  <a:lnTo>
                    <a:pt x="82" y="78"/>
                  </a:lnTo>
                  <a:lnTo>
                    <a:pt x="87" y="84"/>
                  </a:lnTo>
                  <a:lnTo>
                    <a:pt x="90" y="90"/>
                  </a:lnTo>
                  <a:lnTo>
                    <a:pt x="93" y="97"/>
                  </a:lnTo>
                  <a:lnTo>
                    <a:pt x="94" y="106"/>
                  </a:lnTo>
                  <a:lnTo>
                    <a:pt x="108"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5" name="Freeform 263">
              <a:extLst>
                <a:ext uri="{FF2B5EF4-FFF2-40B4-BE49-F238E27FC236}">
                  <a16:creationId xmlns:a16="http://schemas.microsoft.com/office/drawing/2014/main" id="{5EA24085-020D-8133-C132-8F28F35AE61A}"/>
                </a:ext>
              </a:extLst>
            </p:cNvPr>
            <p:cNvSpPr>
              <a:spLocks/>
            </p:cNvSpPr>
            <p:nvPr/>
          </p:nvSpPr>
          <p:spPr bwMode="auto">
            <a:xfrm>
              <a:off x="3953" y="3315"/>
              <a:ext cx="137" cy="117"/>
            </a:xfrm>
            <a:custGeom>
              <a:avLst/>
              <a:gdLst>
                <a:gd name="T0" fmla="*/ 1755 w 109"/>
                <a:gd name="T1" fmla="*/ 569 h 108"/>
                <a:gd name="T2" fmla="*/ 1833 w 109"/>
                <a:gd name="T3" fmla="*/ 525 h 108"/>
                <a:gd name="T4" fmla="*/ 2007 w 109"/>
                <a:gd name="T5" fmla="*/ 503 h 108"/>
                <a:gd name="T6" fmla="*/ 2523 w 109"/>
                <a:gd name="T7" fmla="*/ 469 h 108"/>
                <a:gd name="T8" fmla="*/ 3283 w 109"/>
                <a:gd name="T9" fmla="*/ 437 h 108"/>
                <a:gd name="T10" fmla="*/ 3818 w 109"/>
                <a:gd name="T11" fmla="*/ 403 h 108"/>
                <a:gd name="T12" fmla="*/ 4799 w 109"/>
                <a:gd name="T13" fmla="*/ 380 h 108"/>
                <a:gd name="T14" fmla="*/ 6013 w 109"/>
                <a:gd name="T15" fmla="*/ 364 h 108"/>
                <a:gd name="T16" fmla="*/ 6919 w 109"/>
                <a:gd name="T17" fmla="*/ 319 h 108"/>
                <a:gd name="T18" fmla="*/ 8044 w 109"/>
                <a:gd name="T19" fmla="*/ 294 h 108"/>
                <a:gd name="T20" fmla="*/ 9048 w 109"/>
                <a:gd name="T21" fmla="*/ 270 h 108"/>
                <a:gd name="T22" fmla="*/ 10110 w 109"/>
                <a:gd name="T23" fmla="*/ 244 h 108"/>
                <a:gd name="T24" fmla="*/ 11025 w 109"/>
                <a:gd name="T25" fmla="*/ 197 h 108"/>
                <a:gd name="T26" fmla="*/ 11758 w 109"/>
                <a:gd name="T27" fmla="*/ 163 h 108"/>
                <a:gd name="T28" fmla="*/ 12503 w 109"/>
                <a:gd name="T29" fmla="*/ 113 h 108"/>
                <a:gd name="T30" fmla="*/ 12867 w 109"/>
                <a:gd name="T31" fmla="*/ 58 h 108"/>
                <a:gd name="T32" fmla="*/ 13137 w 109"/>
                <a:gd name="T33" fmla="*/ 0 h 108"/>
                <a:gd name="T34" fmla="*/ 11416 w 109"/>
                <a:gd name="T35" fmla="*/ 0 h 108"/>
                <a:gd name="T36" fmla="*/ 11372 w 109"/>
                <a:gd name="T37" fmla="*/ 46 h 108"/>
                <a:gd name="T38" fmla="*/ 10930 w 109"/>
                <a:gd name="T39" fmla="*/ 87 h 108"/>
                <a:gd name="T40" fmla="*/ 10529 w 109"/>
                <a:gd name="T41" fmla="*/ 119 h 108"/>
                <a:gd name="T42" fmla="*/ 9948 w 109"/>
                <a:gd name="T43" fmla="*/ 150 h 108"/>
                <a:gd name="T44" fmla="*/ 9083 w 109"/>
                <a:gd name="T45" fmla="*/ 182 h 108"/>
                <a:gd name="T46" fmla="*/ 8192 w 109"/>
                <a:gd name="T47" fmla="*/ 208 h 108"/>
                <a:gd name="T48" fmla="*/ 7199 w 109"/>
                <a:gd name="T49" fmla="*/ 244 h 108"/>
                <a:gd name="T50" fmla="*/ 6215 w 109"/>
                <a:gd name="T51" fmla="*/ 265 h 108"/>
                <a:gd name="T52" fmla="*/ 5156 w 109"/>
                <a:gd name="T53" fmla="*/ 293 h 108"/>
                <a:gd name="T54" fmla="*/ 4126 w 109"/>
                <a:gd name="T55" fmla="*/ 317 h 108"/>
                <a:gd name="T56" fmla="*/ 3028 w 109"/>
                <a:gd name="T57" fmla="*/ 346 h 108"/>
                <a:gd name="T58" fmla="*/ 2206 w 109"/>
                <a:gd name="T59" fmla="*/ 380 h 108"/>
                <a:gd name="T60" fmla="*/ 1213 w 109"/>
                <a:gd name="T61" fmla="*/ 427 h 108"/>
                <a:gd name="T62" fmla="*/ 611 w 109"/>
                <a:gd name="T63" fmla="*/ 464 h 108"/>
                <a:gd name="T64" fmla="*/ 308 w 109"/>
                <a:gd name="T65" fmla="*/ 517 h 108"/>
                <a:gd name="T66" fmla="*/ 0 w 109"/>
                <a:gd name="T67" fmla="*/ 569 h 108"/>
                <a:gd name="T68" fmla="*/ 1755 w 109"/>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8"/>
                <a:gd name="T107" fmla="*/ 109 w 109"/>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8">
                  <a:moveTo>
                    <a:pt x="14" y="107"/>
                  </a:moveTo>
                  <a:lnTo>
                    <a:pt x="15" y="99"/>
                  </a:lnTo>
                  <a:lnTo>
                    <a:pt x="17" y="93"/>
                  </a:lnTo>
                  <a:lnTo>
                    <a:pt x="21" y="87"/>
                  </a:lnTo>
                  <a:lnTo>
                    <a:pt x="27" y="81"/>
                  </a:lnTo>
                  <a:lnTo>
                    <a:pt x="32" y="75"/>
                  </a:lnTo>
                  <a:lnTo>
                    <a:pt x="40" y="71"/>
                  </a:lnTo>
                  <a:lnTo>
                    <a:pt x="49" y="66"/>
                  </a:lnTo>
                  <a:lnTo>
                    <a:pt x="57" y="60"/>
                  </a:lnTo>
                  <a:lnTo>
                    <a:pt x="66" y="55"/>
                  </a:lnTo>
                  <a:lnTo>
                    <a:pt x="74" y="50"/>
                  </a:lnTo>
                  <a:lnTo>
                    <a:pt x="83" y="44"/>
                  </a:lnTo>
                  <a:lnTo>
                    <a:pt x="91" y="37"/>
                  </a:lnTo>
                  <a:lnTo>
                    <a:pt x="97" y="30"/>
                  </a:lnTo>
                  <a:lnTo>
                    <a:pt x="103" y="21"/>
                  </a:lnTo>
                  <a:lnTo>
                    <a:pt x="106" y="11"/>
                  </a:lnTo>
                  <a:lnTo>
                    <a:pt x="108" y="0"/>
                  </a:lnTo>
                  <a:lnTo>
                    <a:pt x="94" y="0"/>
                  </a:lnTo>
                  <a:lnTo>
                    <a:pt x="93" y="8"/>
                  </a:lnTo>
                  <a:lnTo>
                    <a:pt x="90" y="16"/>
                  </a:lnTo>
                  <a:lnTo>
                    <a:pt x="87" y="22"/>
                  </a:lnTo>
                  <a:lnTo>
                    <a:pt x="82" y="28"/>
                  </a:lnTo>
                  <a:lnTo>
                    <a:pt x="75" y="34"/>
                  </a:lnTo>
                  <a:lnTo>
                    <a:pt x="68" y="38"/>
                  </a:lnTo>
                  <a:lnTo>
                    <a:pt x="59" y="44"/>
                  </a:lnTo>
                  <a:lnTo>
                    <a:pt x="51" y="49"/>
                  </a:lnTo>
                  <a:lnTo>
                    <a:pt x="42" y="54"/>
                  </a:lnTo>
                  <a:lnTo>
                    <a:pt x="34" y="59"/>
                  </a:lnTo>
                  <a:lnTo>
                    <a:pt x="25" y="65"/>
                  </a:lnTo>
                  <a:lnTo>
                    <a:pt x="18" y="71"/>
                  </a:lnTo>
                  <a:lnTo>
                    <a:pt x="10" y="78"/>
                  </a:lnTo>
                  <a:lnTo>
                    <a:pt x="5" y="86"/>
                  </a:lnTo>
                  <a:lnTo>
                    <a:pt x="2" y="96"/>
                  </a:lnTo>
                  <a:lnTo>
                    <a:pt x="0" y="107"/>
                  </a:lnTo>
                  <a:lnTo>
                    <a:pt x="14"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6" name="Freeform 264">
              <a:extLst>
                <a:ext uri="{FF2B5EF4-FFF2-40B4-BE49-F238E27FC236}">
                  <a16:creationId xmlns:a16="http://schemas.microsoft.com/office/drawing/2014/main" id="{14D49E8A-E89B-C9A5-32B3-BEADFDB753F0}"/>
                </a:ext>
              </a:extLst>
            </p:cNvPr>
            <p:cNvSpPr>
              <a:spLocks/>
            </p:cNvSpPr>
            <p:nvPr/>
          </p:nvSpPr>
          <p:spPr bwMode="auto">
            <a:xfrm>
              <a:off x="3953" y="3431"/>
              <a:ext cx="137" cy="103"/>
            </a:xfrm>
            <a:custGeom>
              <a:avLst/>
              <a:gdLst>
                <a:gd name="T0" fmla="*/ 13137 w 109"/>
                <a:gd name="T1" fmla="*/ 515 h 95"/>
                <a:gd name="T2" fmla="*/ 12503 w 109"/>
                <a:gd name="T3" fmla="*/ 417 h 95"/>
                <a:gd name="T4" fmla="*/ 10930 w 109"/>
                <a:gd name="T5" fmla="*/ 349 h 95"/>
                <a:gd name="T6" fmla="*/ 9048 w 109"/>
                <a:gd name="T7" fmla="*/ 294 h 95"/>
                <a:gd name="T8" fmla="*/ 6919 w 109"/>
                <a:gd name="T9" fmla="*/ 247 h 95"/>
                <a:gd name="T10" fmla="*/ 5010 w 109"/>
                <a:gd name="T11" fmla="*/ 192 h 95"/>
                <a:gd name="T12" fmla="*/ 3283 w 109"/>
                <a:gd name="T13" fmla="*/ 133 h 95"/>
                <a:gd name="T14" fmla="*/ 2007 w 109"/>
                <a:gd name="T15" fmla="*/ 69 h 95"/>
                <a:gd name="T16" fmla="*/ 1755 w 109"/>
                <a:gd name="T17" fmla="*/ 0 h 95"/>
                <a:gd name="T18" fmla="*/ 0 w 109"/>
                <a:gd name="T19" fmla="*/ 0 h 95"/>
                <a:gd name="T20" fmla="*/ 611 w 109"/>
                <a:gd name="T21" fmla="*/ 112 h 95"/>
                <a:gd name="T22" fmla="*/ 2206 w 109"/>
                <a:gd name="T23" fmla="*/ 192 h 95"/>
                <a:gd name="T24" fmla="*/ 3986 w 109"/>
                <a:gd name="T25" fmla="*/ 253 h 95"/>
                <a:gd name="T26" fmla="*/ 6215 w 109"/>
                <a:gd name="T27" fmla="*/ 316 h 95"/>
                <a:gd name="T28" fmla="*/ 8192 w 109"/>
                <a:gd name="T29" fmla="*/ 366 h 95"/>
                <a:gd name="T30" fmla="*/ 9948 w 109"/>
                <a:gd name="T31" fmla="*/ 407 h 95"/>
                <a:gd name="T32" fmla="*/ 11025 w 109"/>
                <a:gd name="T33" fmla="*/ 452 h 95"/>
                <a:gd name="T34" fmla="*/ 11416 w 109"/>
                <a:gd name="T35" fmla="*/ 515 h 95"/>
                <a:gd name="T36" fmla="*/ 13137 w 109"/>
                <a:gd name="T37" fmla="*/ 515 h 9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9"/>
                <a:gd name="T58" fmla="*/ 0 h 95"/>
                <a:gd name="T59" fmla="*/ 109 w 109"/>
                <a:gd name="T60" fmla="*/ 95 h 9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9" h="95">
                  <a:moveTo>
                    <a:pt x="108" y="94"/>
                  </a:moveTo>
                  <a:lnTo>
                    <a:pt x="103" y="77"/>
                  </a:lnTo>
                  <a:lnTo>
                    <a:pt x="90" y="65"/>
                  </a:lnTo>
                  <a:lnTo>
                    <a:pt x="74" y="54"/>
                  </a:lnTo>
                  <a:lnTo>
                    <a:pt x="57" y="45"/>
                  </a:lnTo>
                  <a:lnTo>
                    <a:pt x="41" y="35"/>
                  </a:lnTo>
                  <a:lnTo>
                    <a:pt x="27" y="25"/>
                  </a:lnTo>
                  <a:lnTo>
                    <a:pt x="17" y="13"/>
                  </a:lnTo>
                  <a:lnTo>
                    <a:pt x="14" y="0"/>
                  </a:lnTo>
                  <a:lnTo>
                    <a:pt x="0" y="0"/>
                  </a:lnTo>
                  <a:lnTo>
                    <a:pt x="5" y="20"/>
                  </a:lnTo>
                  <a:lnTo>
                    <a:pt x="18" y="35"/>
                  </a:lnTo>
                  <a:lnTo>
                    <a:pt x="33" y="47"/>
                  </a:lnTo>
                  <a:lnTo>
                    <a:pt x="51" y="57"/>
                  </a:lnTo>
                  <a:lnTo>
                    <a:pt x="68" y="66"/>
                  </a:lnTo>
                  <a:lnTo>
                    <a:pt x="82" y="75"/>
                  </a:lnTo>
                  <a:lnTo>
                    <a:pt x="91" y="83"/>
                  </a:lnTo>
                  <a:lnTo>
                    <a:pt x="94" y="94"/>
                  </a:lnTo>
                  <a:lnTo>
                    <a:pt x="108" y="9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7" name="Freeform 265">
              <a:extLst>
                <a:ext uri="{FF2B5EF4-FFF2-40B4-BE49-F238E27FC236}">
                  <a16:creationId xmlns:a16="http://schemas.microsoft.com/office/drawing/2014/main" id="{2825B086-D491-1324-BB1A-6CAA1472355C}"/>
                </a:ext>
              </a:extLst>
            </p:cNvPr>
            <p:cNvSpPr>
              <a:spLocks/>
            </p:cNvSpPr>
            <p:nvPr/>
          </p:nvSpPr>
          <p:spPr bwMode="auto">
            <a:xfrm>
              <a:off x="4069" y="3533"/>
              <a:ext cx="21" cy="5"/>
            </a:xfrm>
            <a:custGeom>
              <a:avLst/>
              <a:gdLst>
                <a:gd name="T0" fmla="*/ 4582 w 16"/>
                <a:gd name="T1" fmla="*/ 4 h 5"/>
                <a:gd name="T2" fmla="*/ 4582 w 16"/>
                <a:gd name="T3" fmla="*/ 0 h 5"/>
                <a:gd name="T4" fmla="*/ 0 w 16"/>
                <a:gd name="T5" fmla="*/ 0 h 5"/>
                <a:gd name="T6" fmla="*/ 0 w 16"/>
                <a:gd name="T7" fmla="*/ 4 h 5"/>
                <a:gd name="T8" fmla="*/ 4582 w 16"/>
                <a:gd name="T9" fmla="*/ 4 h 5"/>
                <a:gd name="T10" fmla="*/ 0 60000 65536"/>
                <a:gd name="T11" fmla="*/ 0 60000 65536"/>
                <a:gd name="T12" fmla="*/ 0 60000 65536"/>
                <a:gd name="T13" fmla="*/ 0 60000 65536"/>
                <a:gd name="T14" fmla="*/ 0 60000 65536"/>
                <a:gd name="T15" fmla="*/ 0 w 16"/>
                <a:gd name="T16" fmla="*/ 0 h 5"/>
                <a:gd name="T17" fmla="*/ 16 w 16"/>
                <a:gd name="T18" fmla="*/ 5 h 5"/>
              </a:gdLst>
              <a:ahLst/>
              <a:cxnLst>
                <a:cxn ang="T10">
                  <a:pos x="T0" y="T1"/>
                </a:cxn>
                <a:cxn ang="T11">
                  <a:pos x="T2" y="T3"/>
                </a:cxn>
                <a:cxn ang="T12">
                  <a:pos x="T4" y="T5"/>
                </a:cxn>
                <a:cxn ang="T13">
                  <a:pos x="T6" y="T7"/>
                </a:cxn>
                <a:cxn ang="T14">
                  <a:pos x="T8" y="T9"/>
                </a:cxn>
              </a:cxnLst>
              <a:rect l="T15" t="T16" r="T17" b="T18"/>
              <a:pathLst>
                <a:path w="16" h="5">
                  <a:moveTo>
                    <a:pt x="15" y="4"/>
                  </a:moveTo>
                  <a:lnTo>
                    <a:pt x="15" y="0"/>
                  </a:lnTo>
                  <a:lnTo>
                    <a:pt x="0" y="0"/>
                  </a:lnTo>
                  <a:lnTo>
                    <a:pt x="0" y="4"/>
                  </a:lnTo>
                  <a:lnTo>
                    <a:pt x="15" y="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8" name="Freeform 266">
              <a:extLst>
                <a:ext uri="{FF2B5EF4-FFF2-40B4-BE49-F238E27FC236}">
                  <a16:creationId xmlns:a16="http://schemas.microsoft.com/office/drawing/2014/main" id="{0C850B74-88DE-AA5B-6F02-B4237870E8DF}"/>
                </a:ext>
              </a:extLst>
            </p:cNvPr>
            <p:cNvSpPr>
              <a:spLocks/>
            </p:cNvSpPr>
            <p:nvPr/>
          </p:nvSpPr>
          <p:spPr bwMode="auto">
            <a:xfrm>
              <a:off x="3953" y="3537"/>
              <a:ext cx="137" cy="116"/>
            </a:xfrm>
            <a:custGeom>
              <a:avLst/>
              <a:gdLst>
                <a:gd name="T0" fmla="*/ 1755 w 109"/>
                <a:gd name="T1" fmla="*/ 576 h 107"/>
                <a:gd name="T2" fmla="*/ 1833 w 109"/>
                <a:gd name="T3" fmla="*/ 525 h 107"/>
                <a:gd name="T4" fmla="*/ 2206 w 109"/>
                <a:gd name="T5" fmla="*/ 490 h 107"/>
                <a:gd name="T6" fmla="*/ 2523 w 109"/>
                <a:gd name="T7" fmla="*/ 452 h 107"/>
                <a:gd name="T8" fmla="*/ 3283 w 109"/>
                <a:gd name="T9" fmla="*/ 417 h 107"/>
                <a:gd name="T10" fmla="*/ 3818 w 109"/>
                <a:gd name="T11" fmla="*/ 396 h 107"/>
                <a:gd name="T12" fmla="*/ 5010 w 109"/>
                <a:gd name="T13" fmla="*/ 368 h 107"/>
                <a:gd name="T14" fmla="*/ 6013 w 109"/>
                <a:gd name="T15" fmla="*/ 337 h 107"/>
                <a:gd name="T16" fmla="*/ 6919 w 109"/>
                <a:gd name="T17" fmla="*/ 297 h 107"/>
                <a:gd name="T18" fmla="*/ 8044 w 109"/>
                <a:gd name="T19" fmla="*/ 270 h 107"/>
                <a:gd name="T20" fmla="*/ 9048 w 109"/>
                <a:gd name="T21" fmla="*/ 249 h 107"/>
                <a:gd name="T22" fmla="*/ 10110 w 109"/>
                <a:gd name="T23" fmla="*/ 212 h 107"/>
                <a:gd name="T24" fmla="*/ 11025 w 109"/>
                <a:gd name="T25" fmla="*/ 181 h 107"/>
                <a:gd name="T26" fmla="*/ 11758 w 109"/>
                <a:gd name="T27" fmla="*/ 144 h 107"/>
                <a:gd name="T28" fmla="*/ 12503 w 109"/>
                <a:gd name="T29" fmla="*/ 104 h 107"/>
                <a:gd name="T30" fmla="*/ 12867 w 109"/>
                <a:gd name="T31" fmla="*/ 50 h 107"/>
                <a:gd name="T32" fmla="*/ 13137 w 109"/>
                <a:gd name="T33" fmla="*/ 0 h 107"/>
                <a:gd name="T34" fmla="*/ 11416 w 109"/>
                <a:gd name="T35" fmla="*/ 0 h 107"/>
                <a:gd name="T36" fmla="*/ 11372 w 109"/>
                <a:gd name="T37" fmla="*/ 42 h 107"/>
                <a:gd name="T38" fmla="*/ 11025 w 109"/>
                <a:gd name="T39" fmla="*/ 69 h 107"/>
                <a:gd name="T40" fmla="*/ 10529 w 109"/>
                <a:gd name="T41" fmla="*/ 103 h 107"/>
                <a:gd name="T42" fmla="*/ 9948 w 109"/>
                <a:gd name="T43" fmla="*/ 123 h 107"/>
                <a:gd name="T44" fmla="*/ 9083 w 109"/>
                <a:gd name="T45" fmla="*/ 156 h 107"/>
                <a:gd name="T46" fmla="*/ 8192 w 109"/>
                <a:gd name="T47" fmla="*/ 183 h 107"/>
                <a:gd name="T48" fmla="*/ 7199 w 109"/>
                <a:gd name="T49" fmla="*/ 212 h 107"/>
                <a:gd name="T50" fmla="*/ 6215 w 109"/>
                <a:gd name="T51" fmla="*/ 244 h 107"/>
                <a:gd name="T52" fmla="*/ 5156 w 109"/>
                <a:gd name="T53" fmla="*/ 267 h 107"/>
                <a:gd name="T54" fmla="*/ 3986 w 109"/>
                <a:gd name="T55" fmla="*/ 297 h 107"/>
                <a:gd name="T56" fmla="*/ 3028 w 109"/>
                <a:gd name="T57" fmla="*/ 337 h 107"/>
                <a:gd name="T58" fmla="*/ 2206 w 109"/>
                <a:gd name="T59" fmla="*/ 373 h 107"/>
                <a:gd name="T60" fmla="*/ 1213 w 109"/>
                <a:gd name="T61" fmla="*/ 410 h 107"/>
                <a:gd name="T62" fmla="*/ 611 w 109"/>
                <a:gd name="T63" fmla="*/ 465 h 107"/>
                <a:gd name="T64" fmla="*/ 308 w 109"/>
                <a:gd name="T65" fmla="*/ 515 h 107"/>
                <a:gd name="T66" fmla="*/ 0 w 109"/>
                <a:gd name="T67" fmla="*/ 576 h 107"/>
                <a:gd name="T68" fmla="*/ 1755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4" y="106"/>
                  </a:moveTo>
                  <a:lnTo>
                    <a:pt x="15" y="97"/>
                  </a:lnTo>
                  <a:lnTo>
                    <a:pt x="18" y="90"/>
                  </a:lnTo>
                  <a:lnTo>
                    <a:pt x="21" y="83"/>
                  </a:lnTo>
                  <a:lnTo>
                    <a:pt x="27" y="77"/>
                  </a:lnTo>
                  <a:lnTo>
                    <a:pt x="32" y="72"/>
                  </a:lnTo>
                  <a:lnTo>
                    <a:pt x="41" y="67"/>
                  </a:lnTo>
                  <a:lnTo>
                    <a:pt x="49" y="61"/>
                  </a:lnTo>
                  <a:lnTo>
                    <a:pt x="57" y="55"/>
                  </a:lnTo>
                  <a:lnTo>
                    <a:pt x="66" y="50"/>
                  </a:lnTo>
                  <a:lnTo>
                    <a:pt x="74" y="46"/>
                  </a:lnTo>
                  <a:lnTo>
                    <a:pt x="83" y="39"/>
                  </a:lnTo>
                  <a:lnTo>
                    <a:pt x="91" y="33"/>
                  </a:lnTo>
                  <a:lnTo>
                    <a:pt x="97" y="27"/>
                  </a:lnTo>
                  <a:lnTo>
                    <a:pt x="103" y="19"/>
                  </a:lnTo>
                  <a:lnTo>
                    <a:pt x="106" y="9"/>
                  </a:lnTo>
                  <a:lnTo>
                    <a:pt x="108" y="0"/>
                  </a:lnTo>
                  <a:lnTo>
                    <a:pt x="94" y="0"/>
                  </a:lnTo>
                  <a:lnTo>
                    <a:pt x="93" y="7"/>
                  </a:lnTo>
                  <a:lnTo>
                    <a:pt x="91" y="13"/>
                  </a:lnTo>
                  <a:lnTo>
                    <a:pt x="87" y="18"/>
                  </a:lnTo>
                  <a:lnTo>
                    <a:pt x="82" y="23"/>
                  </a:lnTo>
                  <a:lnTo>
                    <a:pt x="75" y="29"/>
                  </a:lnTo>
                  <a:lnTo>
                    <a:pt x="68" y="34"/>
                  </a:lnTo>
                  <a:lnTo>
                    <a:pt x="59" y="39"/>
                  </a:lnTo>
                  <a:lnTo>
                    <a:pt x="51" y="44"/>
                  </a:lnTo>
                  <a:lnTo>
                    <a:pt x="42" y="49"/>
                  </a:lnTo>
                  <a:lnTo>
                    <a:pt x="33" y="55"/>
                  </a:lnTo>
                  <a:lnTo>
                    <a:pt x="25" y="61"/>
                  </a:lnTo>
                  <a:lnTo>
                    <a:pt x="18" y="68"/>
                  </a:lnTo>
                  <a:lnTo>
                    <a:pt x="10" y="76"/>
                  </a:lnTo>
                  <a:lnTo>
                    <a:pt x="5" y="85"/>
                  </a:lnTo>
                  <a:lnTo>
                    <a:pt x="2" y="94"/>
                  </a:lnTo>
                  <a:lnTo>
                    <a:pt x="0" y="106"/>
                  </a:lnTo>
                  <a:lnTo>
                    <a:pt x="14"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19" name="Freeform 267">
              <a:extLst>
                <a:ext uri="{FF2B5EF4-FFF2-40B4-BE49-F238E27FC236}">
                  <a16:creationId xmlns:a16="http://schemas.microsoft.com/office/drawing/2014/main" id="{A8089BC2-C834-0D73-BB18-1C1FAF9E8010}"/>
                </a:ext>
              </a:extLst>
            </p:cNvPr>
            <p:cNvSpPr>
              <a:spLocks/>
            </p:cNvSpPr>
            <p:nvPr/>
          </p:nvSpPr>
          <p:spPr bwMode="auto">
            <a:xfrm>
              <a:off x="3953" y="3652"/>
              <a:ext cx="137" cy="115"/>
            </a:xfrm>
            <a:custGeom>
              <a:avLst/>
              <a:gdLst>
                <a:gd name="T0" fmla="*/ 13137 w 109"/>
                <a:gd name="T1" fmla="*/ 480 h 107"/>
                <a:gd name="T2" fmla="*/ 12867 w 109"/>
                <a:gd name="T3" fmla="*/ 437 h 107"/>
                <a:gd name="T4" fmla="*/ 12503 w 109"/>
                <a:gd name="T5" fmla="*/ 387 h 107"/>
                <a:gd name="T6" fmla="*/ 11758 w 109"/>
                <a:gd name="T7" fmla="*/ 354 h 107"/>
                <a:gd name="T8" fmla="*/ 11025 w 109"/>
                <a:gd name="T9" fmla="*/ 325 h 107"/>
                <a:gd name="T10" fmla="*/ 10110 w 109"/>
                <a:gd name="T11" fmla="*/ 290 h 107"/>
                <a:gd name="T12" fmla="*/ 9048 w 109"/>
                <a:gd name="T13" fmla="*/ 265 h 107"/>
                <a:gd name="T14" fmla="*/ 8044 w 109"/>
                <a:gd name="T15" fmla="*/ 244 h 107"/>
                <a:gd name="T16" fmla="*/ 6919 w 109"/>
                <a:gd name="T17" fmla="*/ 218 h 107"/>
                <a:gd name="T18" fmla="*/ 6013 w 109"/>
                <a:gd name="T19" fmla="*/ 196 h 107"/>
                <a:gd name="T20" fmla="*/ 4799 w 109"/>
                <a:gd name="T21" fmla="*/ 172 h 107"/>
                <a:gd name="T22" fmla="*/ 3818 w 109"/>
                <a:gd name="T23" fmla="*/ 149 h 107"/>
                <a:gd name="T24" fmla="*/ 3283 w 109"/>
                <a:gd name="T25" fmla="*/ 120 h 107"/>
                <a:gd name="T26" fmla="*/ 2523 w 109"/>
                <a:gd name="T27" fmla="*/ 102 h 107"/>
                <a:gd name="T28" fmla="*/ 2206 w 109"/>
                <a:gd name="T29" fmla="*/ 63 h 107"/>
                <a:gd name="T30" fmla="*/ 1833 w 109"/>
                <a:gd name="T31" fmla="*/ 38 h 107"/>
                <a:gd name="T32" fmla="*/ 1755 w 109"/>
                <a:gd name="T33" fmla="*/ 0 h 107"/>
                <a:gd name="T34" fmla="*/ 0 w 109"/>
                <a:gd name="T35" fmla="*/ 0 h 107"/>
                <a:gd name="T36" fmla="*/ 308 w 109"/>
                <a:gd name="T37" fmla="*/ 47 h 107"/>
                <a:gd name="T38" fmla="*/ 611 w 109"/>
                <a:gd name="T39" fmla="*/ 90 h 107"/>
                <a:gd name="T40" fmla="*/ 1213 w 109"/>
                <a:gd name="T41" fmla="*/ 129 h 107"/>
                <a:gd name="T42" fmla="*/ 2206 w 109"/>
                <a:gd name="T43" fmla="*/ 169 h 107"/>
                <a:gd name="T44" fmla="*/ 3028 w 109"/>
                <a:gd name="T45" fmla="*/ 199 h 107"/>
                <a:gd name="T46" fmla="*/ 4126 w 109"/>
                <a:gd name="T47" fmla="*/ 229 h 107"/>
                <a:gd name="T48" fmla="*/ 5156 w 109"/>
                <a:gd name="T49" fmla="*/ 247 h 107"/>
                <a:gd name="T50" fmla="*/ 6215 w 109"/>
                <a:gd name="T51" fmla="*/ 270 h 107"/>
                <a:gd name="T52" fmla="*/ 7199 w 109"/>
                <a:gd name="T53" fmla="*/ 302 h 107"/>
                <a:gd name="T54" fmla="*/ 8192 w 109"/>
                <a:gd name="T55" fmla="*/ 325 h 107"/>
                <a:gd name="T56" fmla="*/ 9083 w 109"/>
                <a:gd name="T57" fmla="*/ 349 h 107"/>
                <a:gd name="T58" fmla="*/ 9948 w 109"/>
                <a:gd name="T59" fmla="*/ 375 h 107"/>
                <a:gd name="T60" fmla="*/ 10529 w 109"/>
                <a:gd name="T61" fmla="*/ 387 h 107"/>
                <a:gd name="T62" fmla="*/ 11025 w 109"/>
                <a:gd name="T63" fmla="*/ 416 h 107"/>
                <a:gd name="T64" fmla="*/ 11372 w 109"/>
                <a:gd name="T65" fmla="*/ 443 h 107"/>
                <a:gd name="T66" fmla="*/ 11416 w 109"/>
                <a:gd name="T67" fmla="*/ 480 h 107"/>
                <a:gd name="T68" fmla="*/ 13137 w 109"/>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08" y="106"/>
                  </a:moveTo>
                  <a:lnTo>
                    <a:pt x="106" y="96"/>
                  </a:lnTo>
                  <a:lnTo>
                    <a:pt x="103" y="86"/>
                  </a:lnTo>
                  <a:lnTo>
                    <a:pt x="97" y="78"/>
                  </a:lnTo>
                  <a:lnTo>
                    <a:pt x="91" y="70"/>
                  </a:lnTo>
                  <a:lnTo>
                    <a:pt x="83" y="64"/>
                  </a:lnTo>
                  <a:lnTo>
                    <a:pt x="74" y="59"/>
                  </a:lnTo>
                  <a:lnTo>
                    <a:pt x="66" y="53"/>
                  </a:lnTo>
                  <a:lnTo>
                    <a:pt x="57" y="48"/>
                  </a:lnTo>
                  <a:lnTo>
                    <a:pt x="49" y="43"/>
                  </a:lnTo>
                  <a:lnTo>
                    <a:pt x="40" y="38"/>
                  </a:lnTo>
                  <a:lnTo>
                    <a:pt x="32" y="33"/>
                  </a:lnTo>
                  <a:lnTo>
                    <a:pt x="27" y="27"/>
                  </a:lnTo>
                  <a:lnTo>
                    <a:pt x="21" y="22"/>
                  </a:lnTo>
                  <a:lnTo>
                    <a:pt x="18" y="15"/>
                  </a:lnTo>
                  <a:lnTo>
                    <a:pt x="15" y="8"/>
                  </a:lnTo>
                  <a:lnTo>
                    <a:pt x="14" y="0"/>
                  </a:lnTo>
                  <a:lnTo>
                    <a:pt x="0" y="0"/>
                  </a:lnTo>
                  <a:lnTo>
                    <a:pt x="2" y="11"/>
                  </a:lnTo>
                  <a:lnTo>
                    <a:pt x="5" y="20"/>
                  </a:lnTo>
                  <a:lnTo>
                    <a:pt x="10" y="29"/>
                  </a:lnTo>
                  <a:lnTo>
                    <a:pt x="18" y="37"/>
                  </a:lnTo>
                  <a:lnTo>
                    <a:pt x="25" y="44"/>
                  </a:lnTo>
                  <a:lnTo>
                    <a:pt x="34" y="50"/>
                  </a:lnTo>
                  <a:lnTo>
                    <a:pt x="42" y="55"/>
                  </a:lnTo>
                  <a:lnTo>
                    <a:pt x="51" y="60"/>
                  </a:lnTo>
                  <a:lnTo>
                    <a:pt x="59" y="65"/>
                  </a:lnTo>
                  <a:lnTo>
                    <a:pt x="68" y="70"/>
                  </a:lnTo>
                  <a:lnTo>
                    <a:pt x="75" y="75"/>
                  </a:lnTo>
                  <a:lnTo>
                    <a:pt x="82" y="81"/>
                  </a:lnTo>
                  <a:lnTo>
                    <a:pt x="87" y="86"/>
                  </a:lnTo>
                  <a:lnTo>
                    <a:pt x="91" y="92"/>
                  </a:lnTo>
                  <a:lnTo>
                    <a:pt x="93" y="98"/>
                  </a:lnTo>
                  <a:lnTo>
                    <a:pt x="94" y="106"/>
                  </a:lnTo>
                  <a:lnTo>
                    <a:pt x="108"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0" name="Freeform 268">
              <a:extLst>
                <a:ext uri="{FF2B5EF4-FFF2-40B4-BE49-F238E27FC236}">
                  <a16:creationId xmlns:a16="http://schemas.microsoft.com/office/drawing/2014/main" id="{3D9E9BDD-9C76-9D67-6455-E172077DFBC7}"/>
                </a:ext>
              </a:extLst>
            </p:cNvPr>
            <p:cNvSpPr>
              <a:spLocks/>
            </p:cNvSpPr>
            <p:nvPr/>
          </p:nvSpPr>
          <p:spPr bwMode="auto">
            <a:xfrm>
              <a:off x="3983" y="2782"/>
              <a:ext cx="92" cy="114"/>
            </a:xfrm>
            <a:custGeom>
              <a:avLst/>
              <a:gdLst>
                <a:gd name="T0" fmla="*/ 4737 w 73"/>
                <a:gd name="T1" fmla="*/ 472 h 105"/>
                <a:gd name="T2" fmla="*/ 1 w 73"/>
                <a:gd name="T3" fmla="*/ 573 h 105"/>
                <a:gd name="T4" fmla="*/ 0 w 73"/>
                <a:gd name="T5" fmla="*/ 566 h 105"/>
                <a:gd name="T6" fmla="*/ 3081 w 73"/>
                <a:gd name="T7" fmla="*/ 292 h 105"/>
                <a:gd name="T8" fmla="*/ 3419 w 73"/>
                <a:gd name="T9" fmla="*/ 252 h 105"/>
                <a:gd name="T10" fmla="*/ 3568 w 73"/>
                <a:gd name="T11" fmla="*/ 218 h 105"/>
                <a:gd name="T12" fmla="*/ 3883 w 73"/>
                <a:gd name="T13" fmla="*/ 181 h 105"/>
                <a:gd name="T14" fmla="*/ 4052 w 73"/>
                <a:gd name="T15" fmla="*/ 145 h 105"/>
                <a:gd name="T16" fmla="*/ 4369 w 73"/>
                <a:gd name="T17" fmla="*/ 107 h 105"/>
                <a:gd name="T18" fmla="*/ 4691 w 73"/>
                <a:gd name="T19" fmla="*/ 69 h 105"/>
                <a:gd name="T20" fmla="*/ 4894 w 73"/>
                <a:gd name="T21" fmla="*/ 39 h 105"/>
                <a:gd name="T22" fmla="*/ 5107 w 73"/>
                <a:gd name="T23" fmla="*/ 0 h 105"/>
                <a:gd name="T24" fmla="*/ 5322 w 73"/>
                <a:gd name="T25" fmla="*/ 39 h 105"/>
                <a:gd name="T26" fmla="*/ 5431 w 73"/>
                <a:gd name="T27" fmla="*/ 69 h 105"/>
                <a:gd name="T28" fmla="*/ 5667 w 73"/>
                <a:gd name="T29" fmla="*/ 107 h 105"/>
                <a:gd name="T30" fmla="*/ 5912 w 73"/>
                <a:gd name="T31" fmla="*/ 145 h 105"/>
                <a:gd name="T32" fmla="*/ 5913 w 73"/>
                <a:gd name="T33" fmla="*/ 185 h 105"/>
                <a:gd name="T34" fmla="*/ 6168 w 73"/>
                <a:gd name="T35" fmla="*/ 225 h 105"/>
                <a:gd name="T36" fmla="*/ 6436 w 73"/>
                <a:gd name="T37" fmla="*/ 257 h 105"/>
                <a:gd name="T38" fmla="*/ 6592 w 73"/>
                <a:gd name="T39" fmla="*/ 297 h 105"/>
                <a:gd name="T40" fmla="*/ 9390 w 73"/>
                <a:gd name="T41" fmla="*/ 579 h 105"/>
                <a:gd name="T42" fmla="*/ 9050 w 73"/>
                <a:gd name="T43" fmla="*/ 585 h 105"/>
                <a:gd name="T44" fmla="*/ 4737 w 73"/>
                <a:gd name="T45" fmla="*/ 47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5"/>
                <a:gd name="T71" fmla="*/ 73 w 73"/>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5">
                  <a:moveTo>
                    <a:pt x="37" y="84"/>
                  </a:moveTo>
                  <a:lnTo>
                    <a:pt x="1" y="102"/>
                  </a:lnTo>
                  <a:lnTo>
                    <a:pt x="0" y="101"/>
                  </a:lnTo>
                  <a:lnTo>
                    <a:pt x="24" y="52"/>
                  </a:lnTo>
                  <a:lnTo>
                    <a:pt x="26" y="45"/>
                  </a:lnTo>
                  <a:lnTo>
                    <a:pt x="28" y="39"/>
                  </a:lnTo>
                  <a:lnTo>
                    <a:pt x="30" y="32"/>
                  </a:lnTo>
                  <a:lnTo>
                    <a:pt x="32" y="26"/>
                  </a:lnTo>
                  <a:lnTo>
                    <a:pt x="34" y="19"/>
                  </a:lnTo>
                  <a:lnTo>
                    <a:pt x="36" y="13"/>
                  </a:lnTo>
                  <a:lnTo>
                    <a:pt x="38" y="6"/>
                  </a:lnTo>
                  <a:lnTo>
                    <a:pt x="40" y="0"/>
                  </a:lnTo>
                  <a:lnTo>
                    <a:pt x="41" y="6"/>
                  </a:lnTo>
                  <a:lnTo>
                    <a:pt x="42" y="13"/>
                  </a:lnTo>
                  <a:lnTo>
                    <a:pt x="44" y="19"/>
                  </a:lnTo>
                  <a:lnTo>
                    <a:pt x="45" y="26"/>
                  </a:lnTo>
                  <a:lnTo>
                    <a:pt x="46" y="33"/>
                  </a:lnTo>
                  <a:lnTo>
                    <a:pt x="48" y="40"/>
                  </a:lnTo>
                  <a:lnTo>
                    <a:pt x="50" y="46"/>
                  </a:lnTo>
                  <a:lnTo>
                    <a:pt x="51" y="53"/>
                  </a:lnTo>
                  <a:lnTo>
                    <a:pt x="72" y="103"/>
                  </a:lnTo>
                  <a:lnTo>
                    <a:pt x="71" y="104"/>
                  </a:lnTo>
                  <a:lnTo>
                    <a:pt x="37" y="8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1" name="Freeform 269">
              <a:extLst>
                <a:ext uri="{FF2B5EF4-FFF2-40B4-BE49-F238E27FC236}">
                  <a16:creationId xmlns:a16="http://schemas.microsoft.com/office/drawing/2014/main" id="{76523472-9BC7-4E36-9AE7-B066629E83A4}"/>
                </a:ext>
              </a:extLst>
            </p:cNvPr>
            <p:cNvSpPr>
              <a:spLocks/>
            </p:cNvSpPr>
            <p:nvPr/>
          </p:nvSpPr>
          <p:spPr bwMode="auto">
            <a:xfrm>
              <a:off x="3735" y="3034"/>
              <a:ext cx="90" cy="159"/>
            </a:xfrm>
            <a:custGeom>
              <a:avLst/>
              <a:gdLst>
                <a:gd name="T0" fmla="*/ 1389 w 72"/>
                <a:gd name="T1" fmla="*/ 759 h 147"/>
                <a:gd name="T2" fmla="*/ 1451 w 72"/>
                <a:gd name="T3" fmla="*/ 715 h 147"/>
                <a:gd name="T4" fmla="*/ 1736 w 72"/>
                <a:gd name="T5" fmla="*/ 691 h 147"/>
                <a:gd name="T6" fmla="*/ 2018 w 72"/>
                <a:gd name="T7" fmla="*/ 661 h 147"/>
                <a:gd name="T8" fmla="*/ 2424 w 72"/>
                <a:gd name="T9" fmla="*/ 647 h 147"/>
                <a:gd name="T10" fmla="*/ 2805 w 72"/>
                <a:gd name="T11" fmla="*/ 624 h 147"/>
                <a:gd name="T12" fmla="*/ 3430 w 72"/>
                <a:gd name="T13" fmla="*/ 604 h 147"/>
                <a:gd name="T14" fmla="*/ 4093 w 72"/>
                <a:gd name="T15" fmla="*/ 591 h 147"/>
                <a:gd name="T16" fmla="*/ 4794 w 72"/>
                <a:gd name="T17" fmla="*/ 558 h 147"/>
                <a:gd name="T18" fmla="*/ 5549 w 72"/>
                <a:gd name="T19" fmla="*/ 529 h 147"/>
                <a:gd name="T20" fmla="*/ 6104 w 72"/>
                <a:gd name="T21" fmla="*/ 493 h 147"/>
                <a:gd name="T22" fmla="*/ 6700 w 72"/>
                <a:gd name="T23" fmla="*/ 441 h 147"/>
                <a:gd name="T24" fmla="*/ 6979 w 72"/>
                <a:gd name="T25" fmla="*/ 386 h 147"/>
                <a:gd name="T26" fmla="*/ 7491 w 72"/>
                <a:gd name="T27" fmla="*/ 314 h 147"/>
                <a:gd name="T28" fmla="*/ 7755 w 72"/>
                <a:gd name="T29" fmla="*/ 226 h 147"/>
                <a:gd name="T30" fmla="*/ 7755 w 72"/>
                <a:gd name="T31" fmla="*/ 123 h 147"/>
                <a:gd name="T32" fmla="*/ 7491 w 72"/>
                <a:gd name="T33" fmla="*/ 0 h 147"/>
                <a:gd name="T34" fmla="*/ 6104 w 72"/>
                <a:gd name="T35" fmla="*/ 1 h 147"/>
                <a:gd name="T36" fmla="*/ 6204 w 72"/>
                <a:gd name="T37" fmla="*/ 123 h 147"/>
                <a:gd name="T38" fmla="*/ 6250 w 72"/>
                <a:gd name="T39" fmla="*/ 215 h 147"/>
                <a:gd name="T40" fmla="*/ 6104 w 72"/>
                <a:gd name="T41" fmla="*/ 295 h 147"/>
                <a:gd name="T42" fmla="*/ 5650 w 72"/>
                <a:gd name="T43" fmla="*/ 368 h 147"/>
                <a:gd name="T44" fmla="*/ 5299 w 72"/>
                <a:gd name="T45" fmla="*/ 418 h 147"/>
                <a:gd name="T46" fmla="*/ 4929 w 72"/>
                <a:gd name="T47" fmla="*/ 452 h 147"/>
                <a:gd name="T48" fmla="*/ 4288 w 72"/>
                <a:gd name="T49" fmla="*/ 483 h 147"/>
                <a:gd name="T50" fmla="*/ 3845 w 72"/>
                <a:gd name="T51" fmla="*/ 511 h 147"/>
                <a:gd name="T52" fmla="*/ 3176 w 72"/>
                <a:gd name="T53" fmla="*/ 529 h 147"/>
                <a:gd name="T54" fmla="*/ 2541 w 72"/>
                <a:gd name="T55" fmla="*/ 547 h 147"/>
                <a:gd name="T56" fmla="*/ 2091 w 72"/>
                <a:gd name="T57" fmla="*/ 572 h 147"/>
                <a:gd name="T58" fmla="*/ 1389 w 72"/>
                <a:gd name="T59" fmla="*/ 592 h 147"/>
                <a:gd name="T60" fmla="*/ 881 w 72"/>
                <a:gd name="T61" fmla="*/ 624 h 147"/>
                <a:gd name="T62" fmla="*/ 338 w 72"/>
                <a:gd name="T63" fmla="*/ 653 h 147"/>
                <a:gd name="T64" fmla="*/ 1 w 72"/>
                <a:gd name="T65" fmla="*/ 702 h 147"/>
                <a:gd name="T66" fmla="*/ 0 w 72"/>
                <a:gd name="T67" fmla="*/ 759 h 147"/>
                <a:gd name="T68" fmla="*/ 1389 w 72"/>
                <a:gd name="T69" fmla="*/ 759 h 14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2"/>
                <a:gd name="T106" fmla="*/ 0 h 147"/>
                <a:gd name="T107" fmla="*/ 72 w 72"/>
                <a:gd name="T108" fmla="*/ 147 h 14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2" h="147">
                  <a:moveTo>
                    <a:pt x="13" y="146"/>
                  </a:moveTo>
                  <a:lnTo>
                    <a:pt x="14" y="138"/>
                  </a:lnTo>
                  <a:lnTo>
                    <a:pt x="16" y="132"/>
                  </a:lnTo>
                  <a:lnTo>
                    <a:pt x="18" y="128"/>
                  </a:lnTo>
                  <a:lnTo>
                    <a:pt x="22" y="124"/>
                  </a:lnTo>
                  <a:lnTo>
                    <a:pt x="26" y="120"/>
                  </a:lnTo>
                  <a:lnTo>
                    <a:pt x="32" y="117"/>
                  </a:lnTo>
                  <a:lnTo>
                    <a:pt x="38" y="113"/>
                  </a:lnTo>
                  <a:lnTo>
                    <a:pt x="44" y="108"/>
                  </a:lnTo>
                  <a:lnTo>
                    <a:pt x="51" y="102"/>
                  </a:lnTo>
                  <a:lnTo>
                    <a:pt x="56" y="95"/>
                  </a:lnTo>
                  <a:lnTo>
                    <a:pt x="62" y="85"/>
                  </a:lnTo>
                  <a:lnTo>
                    <a:pt x="65" y="74"/>
                  </a:lnTo>
                  <a:lnTo>
                    <a:pt x="69" y="60"/>
                  </a:lnTo>
                  <a:lnTo>
                    <a:pt x="71" y="43"/>
                  </a:lnTo>
                  <a:lnTo>
                    <a:pt x="71" y="24"/>
                  </a:lnTo>
                  <a:lnTo>
                    <a:pt x="69" y="0"/>
                  </a:lnTo>
                  <a:lnTo>
                    <a:pt x="56" y="1"/>
                  </a:lnTo>
                  <a:lnTo>
                    <a:pt x="57" y="24"/>
                  </a:lnTo>
                  <a:lnTo>
                    <a:pt x="58" y="42"/>
                  </a:lnTo>
                  <a:lnTo>
                    <a:pt x="56" y="57"/>
                  </a:lnTo>
                  <a:lnTo>
                    <a:pt x="52" y="70"/>
                  </a:lnTo>
                  <a:lnTo>
                    <a:pt x="49" y="80"/>
                  </a:lnTo>
                  <a:lnTo>
                    <a:pt x="45" y="87"/>
                  </a:lnTo>
                  <a:lnTo>
                    <a:pt x="40" y="93"/>
                  </a:lnTo>
                  <a:lnTo>
                    <a:pt x="35" y="98"/>
                  </a:lnTo>
                  <a:lnTo>
                    <a:pt x="30" y="102"/>
                  </a:lnTo>
                  <a:lnTo>
                    <a:pt x="24" y="105"/>
                  </a:lnTo>
                  <a:lnTo>
                    <a:pt x="19" y="110"/>
                  </a:lnTo>
                  <a:lnTo>
                    <a:pt x="13" y="114"/>
                  </a:lnTo>
                  <a:lnTo>
                    <a:pt x="8" y="120"/>
                  </a:lnTo>
                  <a:lnTo>
                    <a:pt x="3" y="127"/>
                  </a:lnTo>
                  <a:lnTo>
                    <a:pt x="1" y="135"/>
                  </a:lnTo>
                  <a:lnTo>
                    <a:pt x="0" y="146"/>
                  </a:lnTo>
                  <a:lnTo>
                    <a:pt x="13" y="14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2" name="Freeform 270">
              <a:extLst>
                <a:ext uri="{FF2B5EF4-FFF2-40B4-BE49-F238E27FC236}">
                  <a16:creationId xmlns:a16="http://schemas.microsoft.com/office/drawing/2014/main" id="{87CD6123-E870-3516-C741-2B912F69A245}"/>
                </a:ext>
              </a:extLst>
            </p:cNvPr>
            <p:cNvSpPr>
              <a:spLocks/>
            </p:cNvSpPr>
            <p:nvPr/>
          </p:nvSpPr>
          <p:spPr bwMode="auto">
            <a:xfrm>
              <a:off x="3735" y="3192"/>
              <a:ext cx="135" cy="120"/>
            </a:xfrm>
            <a:custGeom>
              <a:avLst/>
              <a:gdLst>
                <a:gd name="T0" fmla="*/ 10091 w 108"/>
                <a:gd name="T1" fmla="*/ 562 h 111"/>
                <a:gd name="T2" fmla="*/ 11705 w 108"/>
                <a:gd name="T3" fmla="*/ 562 h 111"/>
                <a:gd name="T4" fmla="*/ 11366 w 108"/>
                <a:gd name="T5" fmla="*/ 512 h 111"/>
                <a:gd name="T6" fmla="*/ 11124 w 108"/>
                <a:gd name="T7" fmla="*/ 456 h 111"/>
                <a:gd name="T8" fmla="*/ 10469 w 108"/>
                <a:gd name="T9" fmla="*/ 417 h 111"/>
                <a:gd name="T10" fmla="*/ 9798 w 108"/>
                <a:gd name="T11" fmla="*/ 377 h 111"/>
                <a:gd name="T12" fmla="*/ 8944 w 108"/>
                <a:gd name="T13" fmla="*/ 343 h 111"/>
                <a:gd name="T14" fmla="*/ 8073 w 108"/>
                <a:gd name="T15" fmla="*/ 316 h 111"/>
                <a:gd name="T16" fmla="*/ 6979 w 108"/>
                <a:gd name="T17" fmla="*/ 292 h 111"/>
                <a:gd name="T18" fmla="*/ 6104 w 108"/>
                <a:gd name="T19" fmla="*/ 256 h 111"/>
                <a:gd name="T20" fmla="*/ 5250 w 108"/>
                <a:gd name="T21" fmla="*/ 232 h 111"/>
                <a:gd name="T22" fmla="*/ 4239 w 108"/>
                <a:gd name="T23" fmla="*/ 203 h 111"/>
                <a:gd name="T24" fmla="*/ 3544 w 108"/>
                <a:gd name="T25" fmla="*/ 174 h 111"/>
                <a:gd name="T26" fmla="*/ 2841 w 108"/>
                <a:gd name="T27" fmla="*/ 144 h 111"/>
                <a:gd name="T28" fmla="*/ 2273 w 108"/>
                <a:gd name="T29" fmla="*/ 114 h 111"/>
                <a:gd name="T30" fmla="*/ 1736 w 108"/>
                <a:gd name="T31" fmla="*/ 74 h 111"/>
                <a:gd name="T32" fmla="*/ 1454 w 108"/>
                <a:gd name="T33" fmla="*/ 43 h 111"/>
                <a:gd name="T34" fmla="*/ 1389 w 108"/>
                <a:gd name="T35" fmla="*/ 0 h 111"/>
                <a:gd name="T36" fmla="*/ 0 w 108"/>
                <a:gd name="T37" fmla="*/ 0 h 111"/>
                <a:gd name="T38" fmla="*/ 1 w 108"/>
                <a:gd name="T39" fmla="*/ 54 h 111"/>
                <a:gd name="T40" fmla="*/ 455 w 108"/>
                <a:gd name="T41" fmla="*/ 109 h 111"/>
                <a:gd name="T42" fmla="*/ 930 w 108"/>
                <a:gd name="T43" fmla="*/ 156 h 111"/>
                <a:gd name="T44" fmla="*/ 1673 w 108"/>
                <a:gd name="T45" fmla="*/ 188 h 111"/>
                <a:gd name="T46" fmla="*/ 2523 w 108"/>
                <a:gd name="T47" fmla="*/ 232 h 111"/>
                <a:gd name="T48" fmla="*/ 3544 w 108"/>
                <a:gd name="T49" fmla="*/ 256 h 111"/>
                <a:gd name="T50" fmla="*/ 4430 w 108"/>
                <a:gd name="T51" fmla="*/ 293 h 111"/>
                <a:gd name="T52" fmla="*/ 5538 w 108"/>
                <a:gd name="T53" fmla="*/ 317 h 111"/>
                <a:gd name="T54" fmla="*/ 6204 w 108"/>
                <a:gd name="T55" fmla="*/ 343 h 111"/>
                <a:gd name="T56" fmla="*/ 7266 w 108"/>
                <a:gd name="T57" fmla="*/ 374 h 111"/>
                <a:gd name="T58" fmla="*/ 8073 w 108"/>
                <a:gd name="T59" fmla="*/ 401 h 111"/>
                <a:gd name="T60" fmla="*/ 8724 w 108"/>
                <a:gd name="T61" fmla="*/ 434 h 111"/>
                <a:gd name="T62" fmla="*/ 9388 w 108"/>
                <a:gd name="T63" fmla="*/ 467 h 111"/>
                <a:gd name="T64" fmla="*/ 9798 w 108"/>
                <a:gd name="T65" fmla="*/ 493 h 111"/>
                <a:gd name="T66" fmla="*/ 9993 w 108"/>
                <a:gd name="T67" fmla="*/ 520 h 111"/>
                <a:gd name="T68" fmla="*/ 10091 w 108"/>
                <a:gd name="T69" fmla="*/ 562 h 111"/>
                <a:gd name="T70" fmla="*/ 11705 w 108"/>
                <a:gd name="T71" fmla="*/ 562 h 111"/>
                <a:gd name="T72" fmla="*/ 10091 w 108"/>
                <a:gd name="T73" fmla="*/ 562 h 11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111"/>
                <a:gd name="T113" fmla="*/ 108 w 108"/>
                <a:gd name="T114" fmla="*/ 111 h 11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111">
                  <a:moveTo>
                    <a:pt x="93" y="110"/>
                  </a:moveTo>
                  <a:lnTo>
                    <a:pt x="107" y="110"/>
                  </a:lnTo>
                  <a:lnTo>
                    <a:pt x="105" y="100"/>
                  </a:lnTo>
                  <a:lnTo>
                    <a:pt x="102" y="89"/>
                  </a:lnTo>
                  <a:lnTo>
                    <a:pt x="96" y="81"/>
                  </a:lnTo>
                  <a:lnTo>
                    <a:pt x="90" y="74"/>
                  </a:lnTo>
                  <a:lnTo>
                    <a:pt x="82" y="67"/>
                  </a:lnTo>
                  <a:lnTo>
                    <a:pt x="74" y="61"/>
                  </a:lnTo>
                  <a:lnTo>
                    <a:pt x="65" y="56"/>
                  </a:lnTo>
                  <a:lnTo>
                    <a:pt x="56" y="50"/>
                  </a:lnTo>
                  <a:lnTo>
                    <a:pt x="48" y="45"/>
                  </a:lnTo>
                  <a:lnTo>
                    <a:pt x="39" y="40"/>
                  </a:lnTo>
                  <a:lnTo>
                    <a:pt x="32" y="34"/>
                  </a:lnTo>
                  <a:lnTo>
                    <a:pt x="26" y="28"/>
                  </a:lnTo>
                  <a:lnTo>
                    <a:pt x="21" y="22"/>
                  </a:lnTo>
                  <a:lnTo>
                    <a:pt x="16" y="15"/>
                  </a:lnTo>
                  <a:lnTo>
                    <a:pt x="14" y="8"/>
                  </a:lnTo>
                  <a:lnTo>
                    <a:pt x="13" y="0"/>
                  </a:lnTo>
                  <a:lnTo>
                    <a:pt x="0" y="0"/>
                  </a:lnTo>
                  <a:lnTo>
                    <a:pt x="1" y="11"/>
                  </a:lnTo>
                  <a:lnTo>
                    <a:pt x="4" y="21"/>
                  </a:lnTo>
                  <a:lnTo>
                    <a:pt x="9" y="30"/>
                  </a:lnTo>
                  <a:lnTo>
                    <a:pt x="15" y="37"/>
                  </a:lnTo>
                  <a:lnTo>
                    <a:pt x="23" y="45"/>
                  </a:lnTo>
                  <a:lnTo>
                    <a:pt x="32" y="50"/>
                  </a:lnTo>
                  <a:lnTo>
                    <a:pt x="40" y="57"/>
                  </a:lnTo>
                  <a:lnTo>
                    <a:pt x="50" y="62"/>
                  </a:lnTo>
                  <a:lnTo>
                    <a:pt x="57" y="67"/>
                  </a:lnTo>
                  <a:lnTo>
                    <a:pt x="66" y="73"/>
                  </a:lnTo>
                  <a:lnTo>
                    <a:pt x="74" y="78"/>
                  </a:lnTo>
                  <a:lnTo>
                    <a:pt x="81" y="84"/>
                  </a:lnTo>
                  <a:lnTo>
                    <a:pt x="86" y="90"/>
                  </a:lnTo>
                  <a:lnTo>
                    <a:pt x="90" y="96"/>
                  </a:lnTo>
                  <a:lnTo>
                    <a:pt x="92" y="102"/>
                  </a:lnTo>
                  <a:lnTo>
                    <a:pt x="93" y="110"/>
                  </a:lnTo>
                  <a:lnTo>
                    <a:pt x="107" y="110"/>
                  </a:lnTo>
                  <a:lnTo>
                    <a:pt x="93" y="11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3" name="Freeform 271">
              <a:extLst>
                <a:ext uri="{FF2B5EF4-FFF2-40B4-BE49-F238E27FC236}">
                  <a16:creationId xmlns:a16="http://schemas.microsoft.com/office/drawing/2014/main" id="{1E0F97A9-CF36-049A-26C3-13C7FDFB39C3}"/>
                </a:ext>
              </a:extLst>
            </p:cNvPr>
            <p:cNvSpPr>
              <a:spLocks/>
            </p:cNvSpPr>
            <p:nvPr/>
          </p:nvSpPr>
          <p:spPr bwMode="auto">
            <a:xfrm>
              <a:off x="3852" y="3311"/>
              <a:ext cx="18" cy="2"/>
            </a:xfrm>
            <a:custGeom>
              <a:avLst/>
              <a:gdLst>
                <a:gd name="T0" fmla="*/ 642 w 15"/>
                <a:gd name="T1" fmla="*/ 0 h 2"/>
                <a:gd name="T2" fmla="*/ 0 w 15"/>
                <a:gd name="T3" fmla="*/ 0 h 2"/>
                <a:gd name="T4" fmla="*/ 0 w 15"/>
                <a:gd name="T5" fmla="*/ 1 h 2"/>
                <a:gd name="T6" fmla="*/ 642 w 15"/>
                <a:gd name="T7" fmla="*/ 1 h 2"/>
                <a:gd name="T8" fmla="*/ 642 w 15"/>
                <a:gd name="T9" fmla="*/ 0 h 2"/>
                <a:gd name="T10" fmla="*/ 0 w 15"/>
                <a:gd name="T11" fmla="*/ 0 h 2"/>
                <a:gd name="T12" fmla="*/ 642 w 15"/>
                <a:gd name="T13" fmla="*/ 0 h 2"/>
                <a:gd name="T14" fmla="*/ 0 60000 65536"/>
                <a:gd name="T15" fmla="*/ 0 60000 65536"/>
                <a:gd name="T16" fmla="*/ 0 60000 65536"/>
                <a:gd name="T17" fmla="*/ 0 60000 65536"/>
                <a:gd name="T18" fmla="*/ 0 60000 65536"/>
                <a:gd name="T19" fmla="*/ 0 60000 65536"/>
                <a:gd name="T20" fmla="*/ 0 60000 65536"/>
                <a:gd name="T21" fmla="*/ 0 w 15"/>
                <a:gd name="T22" fmla="*/ 0 h 2"/>
                <a:gd name="T23" fmla="*/ 15 w 15"/>
                <a:gd name="T24" fmla="*/ 2 h 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2">
                  <a:moveTo>
                    <a:pt x="14" y="0"/>
                  </a:moveTo>
                  <a:lnTo>
                    <a:pt x="0" y="0"/>
                  </a:lnTo>
                  <a:lnTo>
                    <a:pt x="0" y="1"/>
                  </a:lnTo>
                  <a:lnTo>
                    <a:pt x="14" y="1"/>
                  </a:lnTo>
                  <a:lnTo>
                    <a:pt x="14" y="0"/>
                  </a:lnTo>
                  <a:lnTo>
                    <a:pt x="0" y="0"/>
                  </a:lnTo>
                  <a:lnTo>
                    <a:pt x="14"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4" name="Freeform 272">
              <a:extLst>
                <a:ext uri="{FF2B5EF4-FFF2-40B4-BE49-F238E27FC236}">
                  <a16:creationId xmlns:a16="http://schemas.microsoft.com/office/drawing/2014/main" id="{B63C14AA-2898-6F50-4527-88F786EE5377}"/>
                </a:ext>
              </a:extLst>
            </p:cNvPr>
            <p:cNvSpPr>
              <a:spLocks/>
            </p:cNvSpPr>
            <p:nvPr/>
          </p:nvSpPr>
          <p:spPr bwMode="auto">
            <a:xfrm>
              <a:off x="3734" y="3311"/>
              <a:ext cx="136" cy="116"/>
            </a:xfrm>
            <a:custGeom>
              <a:avLst/>
              <a:gdLst>
                <a:gd name="T0" fmla="*/ 1370 w 109"/>
                <a:gd name="T1" fmla="*/ 576 h 107"/>
                <a:gd name="T2" fmla="*/ 1573 w 109"/>
                <a:gd name="T3" fmla="*/ 531 h 107"/>
                <a:gd name="T4" fmla="*/ 1709 w 109"/>
                <a:gd name="T5" fmla="*/ 504 h 107"/>
                <a:gd name="T6" fmla="*/ 2132 w 109"/>
                <a:gd name="T7" fmla="*/ 475 h 107"/>
                <a:gd name="T8" fmla="*/ 2660 w 109"/>
                <a:gd name="T9" fmla="*/ 439 h 107"/>
                <a:gd name="T10" fmla="*/ 3457 w 109"/>
                <a:gd name="T11" fmla="*/ 405 h 107"/>
                <a:gd name="T12" fmla="*/ 4313 w 109"/>
                <a:gd name="T13" fmla="*/ 378 h 107"/>
                <a:gd name="T14" fmla="*/ 5021 w 109"/>
                <a:gd name="T15" fmla="*/ 349 h 107"/>
                <a:gd name="T16" fmla="*/ 6028 w 109"/>
                <a:gd name="T17" fmla="*/ 322 h 107"/>
                <a:gd name="T18" fmla="*/ 6801 w 109"/>
                <a:gd name="T19" fmla="*/ 297 h 107"/>
                <a:gd name="T20" fmla="*/ 7817 w 109"/>
                <a:gd name="T21" fmla="*/ 270 h 107"/>
                <a:gd name="T22" fmla="*/ 8684 w 109"/>
                <a:gd name="T23" fmla="*/ 244 h 107"/>
                <a:gd name="T24" fmla="*/ 9501 w 109"/>
                <a:gd name="T25" fmla="*/ 208 h 107"/>
                <a:gd name="T26" fmla="*/ 10188 w 109"/>
                <a:gd name="T27" fmla="*/ 167 h 107"/>
                <a:gd name="T28" fmla="*/ 10835 w 109"/>
                <a:gd name="T29" fmla="*/ 113 h 107"/>
                <a:gd name="T30" fmla="*/ 11093 w 109"/>
                <a:gd name="T31" fmla="*/ 59 h 107"/>
                <a:gd name="T32" fmla="*/ 11269 w 109"/>
                <a:gd name="T33" fmla="*/ 0 h 107"/>
                <a:gd name="T34" fmla="*/ 9753 w 109"/>
                <a:gd name="T35" fmla="*/ 0 h 107"/>
                <a:gd name="T36" fmla="*/ 9731 w 109"/>
                <a:gd name="T37" fmla="*/ 46 h 107"/>
                <a:gd name="T38" fmla="*/ 9501 w 109"/>
                <a:gd name="T39" fmla="*/ 88 h 107"/>
                <a:gd name="T40" fmla="*/ 9154 w 109"/>
                <a:gd name="T41" fmla="*/ 121 h 107"/>
                <a:gd name="T42" fmla="*/ 8486 w 109"/>
                <a:gd name="T43" fmla="*/ 144 h 107"/>
                <a:gd name="T44" fmla="*/ 7817 w 109"/>
                <a:gd name="T45" fmla="*/ 183 h 107"/>
                <a:gd name="T46" fmla="*/ 7008 w 109"/>
                <a:gd name="T47" fmla="*/ 208 h 107"/>
                <a:gd name="T48" fmla="*/ 6155 w 109"/>
                <a:gd name="T49" fmla="*/ 244 h 107"/>
                <a:gd name="T50" fmla="*/ 5381 w 109"/>
                <a:gd name="T51" fmla="*/ 267 h 107"/>
                <a:gd name="T52" fmla="*/ 4357 w 109"/>
                <a:gd name="T53" fmla="*/ 289 h 107"/>
                <a:gd name="T54" fmla="*/ 3457 w 109"/>
                <a:gd name="T55" fmla="*/ 318 h 107"/>
                <a:gd name="T56" fmla="*/ 2633 w 109"/>
                <a:gd name="T57" fmla="*/ 345 h 107"/>
                <a:gd name="T58" fmla="*/ 1709 w 109"/>
                <a:gd name="T59" fmla="*/ 378 h 107"/>
                <a:gd name="T60" fmla="*/ 1011 w 109"/>
                <a:gd name="T61" fmla="*/ 417 h 107"/>
                <a:gd name="T62" fmla="*/ 453 w 109"/>
                <a:gd name="T63" fmla="*/ 469 h 107"/>
                <a:gd name="T64" fmla="*/ 2 w 109"/>
                <a:gd name="T65" fmla="*/ 521 h 107"/>
                <a:gd name="T66" fmla="*/ 0 w 109"/>
                <a:gd name="T67" fmla="*/ 576 h 107"/>
                <a:gd name="T68" fmla="*/ 1370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4" y="106"/>
                  </a:moveTo>
                  <a:lnTo>
                    <a:pt x="15" y="98"/>
                  </a:lnTo>
                  <a:lnTo>
                    <a:pt x="17" y="92"/>
                  </a:lnTo>
                  <a:lnTo>
                    <a:pt x="21" y="87"/>
                  </a:lnTo>
                  <a:lnTo>
                    <a:pt x="26" y="81"/>
                  </a:lnTo>
                  <a:lnTo>
                    <a:pt x="33" y="75"/>
                  </a:lnTo>
                  <a:lnTo>
                    <a:pt x="41" y="70"/>
                  </a:lnTo>
                  <a:lnTo>
                    <a:pt x="48" y="65"/>
                  </a:lnTo>
                  <a:lnTo>
                    <a:pt x="58" y="60"/>
                  </a:lnTo>
                  <a:lnTo>
                    <a:pt x="66" y="55"/>
                  </a:lnTo>
                  <a:lnTo>
                    <a:pt x="75" y="50"/>
                  </a:lnTo>
                  <a:lnTo>
                    <a:pt x="83" y="44"/>
                  </a:lnTo>
                  <a:lnTo>
                    <a:pt x="91" y="38"/>
                  </a:lnTo>
                  <a:lnTo>
                    <a:pt x="98" y="30"/>
                  </a:lnTo>
                  <a:lnTo>
                    <a:pt x="104" y="21"/>
                  </a:lnTo>
                  <a:lnTo>
                    <a:pt x="106" y="11"/>
                  </a:lnTo>
                  <a:lnTo>
                    <a:pt x="108" y="0"/>
                  </a:lnTo>
                  <a:lnTo>
                    <a:pt x="94" y="0"/>
                  </a:lnTo>
                  <a:lnTo>
                    <a:pt x="93" y="8"/>
                  </a:lnTo>
                  <a:lnTo>
                    <a:pt x="91" y="16"/>
                  </a:lnTo>
                  <a:lnTo>
                    <a:pt x="87" y="22"/>
                  </a:lnTo>
                  <a:lnTo>
                    <a:pt x="82" y="27"/>
                  </a:lnTo>
                  <a:lnTo>
                    <a:pt x="75" y="34"/>
                  </a:lnTo>
                  <a:lnTo>
                    <a:pt x="67" y="38"/>
                  </a:lnTo>
                  <a:lnTo>
                    <a:pt x="59" y="44"/>
                  </a:lnTo>
                  <a:lnTo>
                    <a:pt x="51" y="49"/>
                  </a:lnTo>
                  <a:lnTo>
                    <a:pt x="42" y="53"/>
                  </a:lnTo>
                  <a:lnTo>
                    <a:pt x="33" y="59"/>
                  </a:lnTo>
                  <a:lnTo>
                    <a:pt x="25" y="64"/>
                  </a:lnTo>
                  <a:lnTo>
                    <a:pt x="17" y="70"/>
                  </a:lnTo>
                  <a:lnTo>
                    <a:pt x="10" y="77"/>
                  </a:lnTo>
                  <a:lnTo>
                    <a:pt x="5" y="86"/>
                  </a:lnTo>
                  <a:lnTo>
                    <a:pt x="2" y="96"/>
                  </a:lnTo>
                  <a:lnTo>
                    <a:pt x="0" y="106"/>
                  </a:lnTo>
                  <a:lnTo>
                    <a:pt x="14"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5" name="Freeform 273">
              <a:extLst>
                <a:ext uri="{FF2B5EF4-FFF2-40B4-BE49-F238E27FC236}">
                  <a16:creationId xmlns:a16="http://schemas.microsoft.com/office/drawing/2014/main" id="{8F0B0F7D-03F3-DD27-89C1-709BF86FCA46}"/>
                </a:ext>
              </a:extLst>
            </p:cNvPr>
            <p:cNvSpPr>
              <a:spLocks/>
            </p:cNvSpPr>
            <p:nvPr/>
          </p:nvSpPr>
          <p:spPr bwMode="auto">
            <a:xfrm>
              <a:off x="3734" y="3426"/>
              <a:ext cx="136" cy="115"/>
            </a:xfrm>
            <a:custGeom>
              <a:avLst/>
              <a:gdLst>
                <a:gd name="T0" fmla="*/ 11269 w 109"/>
                <a:gd name="T1" fmla="*/ 480 h 107"/>
                <a:gd name="T2" fmla="*/ 11093 w 109"/>
                <a:gd name="T3" fmla="*/ 434 h 107"/>
                <a:gd name="T4" fmla="*/ 10835 w 109"/>
                <a:gd name="T5" fmla="*/ 383 h 107"/>
                <a:gd name="T6" fmla="*/ 10188 w 109"/>
                <a:gd name="T7" fmla="*/ 350 h 107"/>
                <a:gd name="T8" fmla="*/ 9501 w 109"/>
                <a:gd name="T9" fmla="*/ 306 h 107"/>
                <a:gd name="T10" fmla="*/ 8684 w 109"/>
                <a:gd name="T11" fmla="*/ 284 h 107"/>
                <a:gd name="T12" fmla="*/ 7817 w 109"/>
                <a:gd name="T13" fmla="*/ 251 h 107"/>
                <a:gd name="T14" fmla="*/ 6801 w 109"/>
                <a:gd name="T15" fmla="*/ 230 h 107"/>
                <a:gd name="T16" fmla="*/ 6028 w 109"/>
                <a:gd name="T17" fmla="*/ 203 h 107"/>
                <a:gd name="T18" fmla="*/ 5021 w 109"/>
                <a:gd name="T19" fmla="*/ 182 h 107"/>
                <a:gd name="T20" fmla="*/ 4313 w 109"/>
                <a:gd name="T21" fmla="*/ 160 h 107"/>
                <a:gd name="T22" fmla="*/ 3457 w 109"/>
                <a:gd name="T23" fmla="*/ 139 h 107"/>
                <a:gd name="T24" fmla="*/ 2660 w 109"/>
                <a:gd name="T25" fmla="*/ 112 h 107"/>
                <a:gd name="T26" fmla="*/ 2132 w 109"/>
                <a:gd name="T27" fmla="*/ 84 h 107"/>
                <a:gd name="T28" fmla="*/ 1709 w 109"/>
                <a:gd name="T29" fmla="*/ 59 h 107"/>
                <a:gd name="T30" fmla="*/ 1573 w 109"/>
                <a:gd name="T31" fmla="*/ 38 h 107"/>
                <a:gd name="T32" fmla="*/ 1370 w 109"/>
                <a:gd name="T33" fmla="*/ 0 h 107"/>
                <a:gd name="T34" fmla="*/ 0 w 109"/>
                <a:gd name="T35" fmla="*/ 0 h 107"/>
                <a:gd name="T36" fmla="*/ 2 w 109"/>
                <a:gd name="T37" fmla="*/ 44 h 107"/>
                <a:gd name="T38" fmla="*/ 453 w 109"/>
                <a:gd name="T39" fmla="*/ 90 h 107"/>
                <a:gd name="T40" fmla="*/ 1011 w 109"/>
                <a:gd name="T41" fmla="*/ 129 h 107"/>
                <a:gd name="T42" fmla="*/ 1709 w 109"/>
                <a:gd name="T43" fmla="*/ 160 h 107"/>
                <a:gd name="T44" fmla="*/ 2633 w 109"/>
                <a:gd name="T45" fmla="*/ 185 h 107"/>
                <a:gd name="T46" fmla="*/ 3457 w 109"/>
                <a:gd name="T47" fmla="*/ 214 h 107"/>
                <a:gd name="T48" fmla="*/ 4357 w 109"/>
                <a:gd name="T49" fmla="*/ 234 h 107"/>
                <a:gd name="T50" fmla="*/ 5381 w 109"/>
                <a:gd name="T51" fmla="*/ 262 h 107"/>
                <a:gd name="T52" fmla="*/ 6155 w 109"/>
                <a:gd name="T53" fmla="*/ 284 h 107"/>
                <a:gd name="T54" fmla="*/ 7008 w 109"/>
                <a:gd name="T55" fmla="*/ 306 h 107"/>
                <a:gd name="T56" fmla="*/ 7817 w 109"/>
                <a:gd name="T57" fmla="*/ 328 h 107"/>
                <a:gd name="T58" fmla="*/ 8486 w 109"/>
                <a:gd name="T59" fmla="*/ 356 h 107"/>
                <a:gd name="T60" fmla="*/ 9154 w 109"/>
                <a:gd name="T61" fmla="*/ 380 h 107"/>
                <a:gd name="T62" fmla="*/ 9501 w 109"/>
                <a:gd name="T63" fmla="*/ 408 h 107"/>
                <a:gd name="T64" fmla="*/ 9731 w 109"/>
                <a:gd name="T65" fmla="*/ 439 h 107"/>
                <a:gd name="T66" fmla="*/ 9753 w 109"/>
                <a:gd name="T67" fmla="*/ 480 h 107"/>
                <a:gd name="T68" fmla="*/ 11269 w 109"/>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08" y="106"/>
                  </a:moveTo>
                  <a:lnTo>
                    <a:pt x="106" y="95"/>
                  </a:lnTo>
                  <a:lnTo>
                    <a:pt x="104" y="85"/>
                  </a:lnTo>
                  <a:lnTo>
                    <a:pt x="98" y="76"/>
                  </a:lnTo>
                  <a:lnTo>
                    <a:pt x="91" y="68"/>
                  </a:lnTo>
                  <a:lnTo>
                    <a:pt x="83" y="62"/>
                  </a:lnTo>
                  <a:lnTo>
                    <a:pt x="75" y="56"/>
                  </a:lnTo>
                  <a:lnTo>
                    <a:pt x="66" y="51"/>
                  </a:lnTo>
                  <a:lnTo>
                    <a:pt x="58" y="45"/>
                  </a:lnTo>
                  <a:lnTo>
                    <a:pt x="48" y="40"/>
                  </a:lnTo>
                  <a:lnTo>
                    <a:pt x="41" y="35"/>
                  </a:lnTo>
                  <a:lnTo>
                    <a:pt x="33" y="31"/>
                  </a:lnTo>
                  <a:lnTo>
                    <a:pt x="26" y="25"/>
                  </a:lnTo>
                  <a:lnTo>
                    <a:pt x="21" y="19"/>
                  </a:lnTo>
                  <a:lnTo>
                    <a:pt x="17" y="14"/>
                  </a:lnTo>
                  <a:lnTo>
                    <a:pt x="15" y="8"/>
                  </a:lnTo>
                  <a:lnTo>
                    <a:pt x="14" y="0"/>
                  </a:lnTo>
                  <a:lnTo>
                    <a:pt x="0" y="0"/>
                  </a:lnTo>
                  <a:lnTo>
                    <a:pt x="2" y="10"/>
                  </a:lnTo>
                  <a:lnTo>
                    <a:pt x="5" y="20"/>
                  </a:lnTo>
                  <a:lnTo>
                    <a:pt x="10" y="29"/>
                  </a:lnTo>
                  <a:lnTo>
                    <a:pt x="17" y="35"/>
                  </a:lnTo>
                  <a:lnTo>
                    <a:pt x="25" y="41"/>
                  </a:lnTo>
                  <a:lnTo>
                    <a:pt x="33" y="47"/>
                  </a:lnTo>
                  <a:lnTo>
                    <a:pt x="42" y="52"/>
                  </a:lnTo>
                  <a:lnTo>
                    <a:pt x="51" y="57"/>
                  </a:lnTo>
                  <a:lnTo>
                    <a:pt x="59" y="62"/>
                  </a:lnTo>
                  <a:lnTo>
                    <a:pt x="67" y="68"/>
                  </a:lnTo>
                  <a:lnTo>
                    <a:pt x="75" y="72"/>
                  </a:lnTo>
                  <a:lnTo>
                    <a:pt x="82" y="79"/>
                  </a:lnTo>
                  <a:lnTo>
                    <a:pt x="87" y="84"/>
                  </a:lnTo>
                  <a:lnTo>
                    <a:pt x="91" y="90"/>
                  </a:lnTo>
                  <a:lnTo>
                    <a:pt x="93" y="97"/>
                  </a:lnTo>
                  <a:lnTo>
                    <a:pt x="94" y="106"/>
                  </a:lnTo>
                  <a:lnTo>
                    <a:pt x="108"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6" name="Freeform 274">
              <a:extLst>
                <a:ext uri="{FF2B5EF4-FFF2-40B4-BE49-F238E27FC236}">
                  <a16:creationId xmlns:a16="http://schemas.microsoft.com/office/drawing/2014/main" id="{0EE373CB-3DDD-CA42-DEF3-AA6E7EA5B0BC}"/>
                </a:ext>
              </a:extLst>
            </p:cNvPr>
            <p:cNvSpPr>
              <a:spLocks/>
            </p:cNvSpPr>
            <p:nvPr/>
          </p:nvSpPr>
          <p:spPr bwMode="auto">
            <a:xfrm>
              <a:off x="3734" y="3540"/>
              <a:ext cx="136" cy="116"/>
            </a:xfrm>
            <a:custGeom>
              <a:avLst/>
              <a:gdLst>
                <a:gd name="T0" fmla="*/ 1370 w 109"/>
                <a:gd name="T1" fmla="*/ 576 h 107"/>
                <a:gd name="T2" fmla="*/ 1573 w 109"/>
                <a:gd name="T3" fmla="*/ 531 h 107"/>
                <a:gd name="T4" fmla="*/ 1709 w 109"/>
                <a:gd name="T5" fmla="*/ 504 h 107"/>
                <a:gd name="T6" fmla="*/ 2132 w 109"/>
                <a:gd name="T7" fmla="*/ 469 h 107"/>
                <a:gd name="T8" fmla="*/ 2660 w 109"/>
                <a:gd name="T9" fmla="*/ 439 h 107"/>
                <a:gd name="T10" fmla="*/ 3457 w 109"/>
                <a:gd name="T11" fmla="*/ 405 h 107"/>
                <a:gd name="T12" fmla="*/ 4313 w 109"/>
                <a:gd name="T13" fmla="*/ 385 h 107"/>
                <a:gd name="T14" fmla="*/ 5021 w 109"/>
                <a:gd name="T15" fmla="*/ 349 h 107"/>
                <a:gd name="T16" fmla="*/ 6028 w 109"/>
                <a:gd name="T17" fmla="*/ 322 h 107"/>
                <a:gd name="T18" fmla="*/ 6801 w 109"/>
                <a:gd name="T19" fmla="*/ 297 h 107"/>
                <a:gd name="T20" fmla="*/ 7817 w 109"/>
                <a:gd name="T21" fmla="*/ 270 h 107"/>
                <a:gd name="T22" fmla="*/ 8684 w 109"/>
                <a:gd name="T23" fmla="*/ 244 h 107"/>
                <a:gd name="T24" fmla="*/ 9501 w 109"/>
                <a:gd name="T25" fmla="*/ 208 h 107"/>
                <a:gd name="T26" fmla="*/ 10188 w 109"/>
                <a:gd name="T27" fmla="*/ 167 h 107"/>
                <a:gd name="T28" fmla="*/ 10835 w 109"/>
                <a:gd name="T29" fmla="*/ 113 h 107"/>
                <a:gd name="T30" fmla="*/ 11093 w 109"/>
                <a:gd name="T31" fmla="*/ 59 h 107"/>
                <a:gd name="T32" fmla="*/ 11269 w 109"/>
                <a:gd name="T33" fmla="*/ 0 h 107"/>
                <a:gd name="T34" fmla="*/ 9753 w 109"/>
                <a:gd name="T35" fmla="*/ 0 h 107"/>
                <a:gd name="T36" fmla="*/ 9731 w 109"/>
                <a:gd name="T37" fmla="*/ 46 h 107"/>
                <a:gd name="T38" fmla="*/ 9501 w 109"/>
                <a:gd name="T39" fmla="*/ 81 h 107"/>
                <a:gd name="T40" fmla="*/ 9154 w 109"/>
                <a:gd name="T41" fmla="*/ 121 h 107"/>
                <a:gd name="T42" fmla="*/ 8486 w 109"/>
                <a:gd name="T43" fmla="*/ 144 h 107"/>
                <a:gd name="T44" fmla="*/ 7817 w 109"/>
                <a:gd name="T45" fmla="*/ 183 h 107"/>
                <a:gd name="T46" fmla="*/ 7008 w 109"/>
                <a:gd name="T47" fmla="*/ 208 h 107"/>
                <a:gd name="T48" fmla="*/ 6155 w 109"/>
                <a:gd name="T49" fmla="*/ 233 h 107"/>
                <a:gd name="T50" fmla="*/ 5381 w 109"/>
                <a:gd name="T51" fmla="*/ 267 h 107"/>
                <a:gd name="T52" fmla="*/ 4357 w 109"/>
                <a:gd name="T53" fmla="*/ 293 h 107"/>
                <a:gd name="T54" fmla="*/ 3457 w 109"/>
                <a:gd name="T55" fmla="*/ 318 h 107"/>
                <a:gd name="T56" fmla="*/ 2633 w 109"/>
                <a:gd name="T57" fmla="*/ 349 h 107"/>
                <a:gd name="T58" fmla="*/ 1709 w 109"/>
                <a:gd name="T59" fmla="*/ 385 h 107"/>
                <a:gd name="T60" fmla="*/ 1011 w 109"/>
                <a:gd name="T61" fmla="*/ 417 h 107"/>
                <a:gd name="T62" fmla="*/ 453 w 109"/>
                <a:gd name="T63" fmla="*/ 469 h 107"/>
                <a:gd name="T64" fmla="*/ 2 w 109"/>
                <a:gd name="T65" fmla="*/ 516 h 107"/>
                <a:gd name="T66" fmla="*/ 0 w 109"/>
                <a:gd name="T67" fmla="*/ 576 h 107"/>
                <a:gd name="T68" fmla="*/ 1370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4" y="106"/>
                  </a:moveTo>
                  <a:lnTo>
                    <a:pt x="15" y="98"/>
                  </a:lnTo>
                  <a:lnTo>
                    <a:pt x="17" y="92"/>
                  </a:lnTo>
                  <a:lnTo>
                    <a:pt x="21" y="86"/>
                  </a:lnTo>
                  <a:lnTo>
                    <a:pt x="26" y="81"/>
                  </a:lnTo>
                  <a:lnTo>
                    <a:pt x="33" y="75"/>
                  </a:lnTo>
                  <a:lnTo>
                    <a:pt x="41" y="71"/>
                  </a:lnTo>
                  <a:lnTo>
                    <a:pt x="48" y="65"/>
                  </a:lnTo>
                  <a:lnTo>
                    <a:pt x="58" y="60"/>
                  </a:lnTo>
                  <a:lnTo>
                    <a:pt x="66" y="55"/>
                  </a:lnTo>
                  <a:lnTo>
                    <a:pt x="75" y="50"/>
                  </a:lnTo>
                  <a:lnTo>
                    <a:pt x="83" y="44"/>
                  </a:lnTo>
                  <a:lnTo>
                    <a:pt x="91" y="38"/>
                  </a:lnTo>
                  <a:lnTo>
                    <a:pt x="98" y="30"/>
                  </a:lnTo>
                  <a:lnTo>
                    <a:pt x="104" y="21"/>
                  </a:lnTo>
                  <a:lnTo>
                    <a:pt x="106" y="11"/>
                  </a:lnTo>
                  <a:lnTo>
                    <a:pt x="108" y="0"/>
                  </a:lnTo>
                  <a:lnTo>
                    <a:pt x="94" y="0"/>
                  </a:lnTo>
                  <a:lnTo>
                    <a:pt x="93" y="8"/>
                  </a:lnTo>
                  <a:lnTo>
                    <a:pt x="91" y="15"/>
                  </a:lnTo>
                  <a:lnTo>
                    <a:pt x="87" y="22"/>
                  </a:lnTo>
                  <a:lnTo>
                    <a:pt x="82" y="27"/>
                  </a:lnTo>
                  <a:lnTo>
                    <a:pt x="75" y="34"/>
                  </a:lnTo>
                  <a:lnTo>
                    <a:pt x="67" y="38"/>
                  </a:lnTo>
                  <a:lnTo>
                    <a:pt x="59" y="43"/>
                  </a:lnTo>
                  <a:lnTo>
                    <a:pt x="51" y="49"/>
                  </a:lnTo>
                  <a:lnTo>
                    <a:pt x="42" y="54"/>
                  </a:lnTo>
                  <a:lnTo>
                    <a:pt x="33" y="59"/>
                  </a:lnTo>
                  <a:lnTo>
                    <a:pt x="25" y="65"/>
                  </a:lnTo>
                  <a:lnTo>
                    <a:pt x="17" y="71"/>
                  </a:lnTo>
                  <a:lnTo>
                    <a:pt x="10" y="77"/>
                  </a:lnTo>
                  <a:lnTo>
                    <a:pt x="5" y="86"/>
                  </a:lnTo>
                  <a:lnTo>
                    <a:pt x="2" y="95"/>
                  </a:lnTo>
                  <a:lnTo>
                    <a:pt x="0" y="106"/>
                  </a:lnTo>
                  <a:lnTo>
                    <a:pt x="14"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7" name="Freeform 275">
              <a:extLst>
                <a:ext uri="{FF2B5EF4-FFF2-40B4-BE49-F238E27FC236}">
                  <a16:creationId xmlns:a16="http://schemas.microsoft.com/office/drawing/2014/main" id="{8F6C8B82-1171-83F1-1D96-6402AD8159D3}"/>
                </a:ext>
              </a:extLst>
            </p:cNvPr>
            <p:cNvSpPr>
              <a:spLocks/>
            </p:cNvSpPr>
            <p:nvPr/>
          </p:nvSpPr>
          <p:spPr bwMode="auto">
            <a:xfrm>
              <a:off x="3734" y="3655"/>
              <a:ext cx="136" cy="104"/>
            </a:xfrm>
            <a:custGeom>
              <a:avLst/>
              <a:gdLst>
                <a:gd name="T0" fmla="*/ 11269 w 109"/>
                <a:gd name="T1" fmla="*/ 512 h 96"/>
                <a:gd name="T2" fmla="*/ 10816 w 109"/>
                <a:gd name="T3" fmla="*/ 412 h 96"/>
                <a:gd name="T4" fmla="*/ 9384 w 109"/>
                <a:gd name="T5" fmla="*/ 346 h 96"/>
                <a:gd name="T6" fmla="*/ 7680 w 109"/>
                <a:gd name="T7" fmla="*/ 294 h 96"/>
                <a:gd name="T8" fmla="*/ 6028 w 109"/>
                <a:gd name="T9" fmla="*/ 246 h 96"/>
                <a:gd name="T10" fmla="*/ 4313 w 109"/>
                <a:gd name="T11" fmla="*/ 194 h 96"/>
                <a:gd name="T12" fmla="*/ 2660 w 109"/>
                <a:gd name="T13" fmla="*/ 138 h 96"/>
                <a:gd name="T14" fmla="*/ 1709 w 109"/>
                <a:gd name="T15" fmla="*/ 68 h 96"/>
                <a:gd name="T16" fmla="*/ 1370 w 109"/>
                <a:gd name="T17" fmla="*/ 0 h 96"/>
                <a:gd name="T18" fmla="*/ 0 w 109"/>
                <a:gd name="T19" fmla="*/ 0 h 96"/>
                <a:gd name="T20" fmla="*/ 453 w 109"/>
                <a:gd name="T21" fmla="*/ 110 h 96"/>
                <a:gd name="T22" fmla="*/ 1709 w 109"/>
                <a:gd name="T23" fmla="*/ 194 h 96"/>
                <a:gd name="T24" fmla="*/ 3457 w 109"/>
                <a:gd name="T25" fmla="*/ 264 h 96"/>
                <a:gd name="T26" fmla="*/ 5381 w 109"/>
                <a:gd name="T27" fmla="*/ 313 h 96"/>
                <a:gd name="T28" fmla="*/ 7126 w 109"/>
                <a:gd name="T29" fmla="*/ 365 h 96"/>
                <a:gd name="T30" fmla="*/ 8486 w 109"/>
                <a:gd name="T31" fmla="*/ 406 h 96"/>
                <a:gd name="T32" fmla="*/ 9501 w 109"/>
                <a:gd name="T33" fmla="*/ 463 h 96"/>
                <a:gd name="T34" fmla="*/ 9753 w 109"/>
                <a:gd name="T35" fmla="*/ 512 h 96"/>
                <a:gd name="T36" fmla="*/ 11269 w 109"/>
                <a:gd name="T37" fmla="*/ 512 h 9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9"/>
                <a:gd name="T58" fmla="*/ 0 h 96"/>
                <a:gd name="T59" fmla="*/ 109 w 109"/>
                <a:gd name="T60" fmla="*/ 96 h 9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9" h="96">
                  <a:moveTo>
                    <a:pt x="108" y="95"/>
                  </a:moveTo>
                  <a:lnTo>
                    <a:pt x="103" y="77"/>
                  </a:lnTo>
                  <a:lnTo>
                    <a:pt x="90" y="65"/>
                  </a:lnTo>
                  <a:lnTo>
                    <a:pt x="74" y="55"/>
                  </a:lnTo>
                  <a:lnTo>
                    <a:pt x="58" y="46"/>
                  </a:lnTo>
                  <a:lnTo>
                    <a:pt x="41" y="36"/>
                  </a:lnTo>
                  <a:lnTo>
                    <a:pt x="26" y="26"/>
                  </a:lnTo>
                  <a:lnTo>
                    <a:pt x="17" y="13"/>
                  </a:lnTo>
                  <a:lnTo>
                    <a:pt x="14" y="0"/>
                  </a:lnTo>
                  <a:lnTo>
                    <a:pt x="0" y="0"/>
                  </a:lnTo>
                  <a:lnTo>
                    <a:pt x="5" y="20"/>
                  </a:lnTo>
                  <a:lnTo>
                    <a:pt x="17" y="36"/>
                  </a:lnTo>
                  <a:lnTo>
                    <a:pt x="33" y="48"/>
                  </a:lnTo>
                  <a:lnTo>
                    <a:pt x="51" y="58"/>
                  </a:lnTo>
                  <a:lnTo>
                    <a:pt x="68" y="67"/>
                  </a:lnTo>
                  <a:lnTo>
                    <a:pt x="82" y="76"/>
                  </a:lnTo>
                  <a:lnTo>
                    <a:pt x="91" y="85"/>
                  </a:lnTo>
                  <a:lnTo>
                    <a:pt x="94" y="95"/>
                  </a:lnTo>
                  <a:lnTo>
                    <a:pt x="108" y="9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8" name="Freeform 276">
              <a:extLst>
                <a:ext uri="{FF2B5EF4-FFF2-40B4-BE49-F238E27FC236}">
                  <a16:creationId xmlns:a16="http://schemas.microsoft.com/office/drawing/2014/main" id="{F9D8A974-6349-3CE1-32AB-75E6B8DBF7D6}"/>
                </a:ext>
              </a:extLst>
            </p:cNvPr>
            <p:cNvSpPr>
              <a:spLocks/>
            </p:cNvSpPr>
            <p:nvPr/>
          </p:nvSpPr>
          <p:spPr bwMode="auto">
            <a:xfrm>
              <a:off x="3852" y="3758"/>
              <a:ext cx="18" cy="5"/>
            </a:xfrm>
            <a:custGeom>
              <a:avLst/>
              <a:gdLst>
                <a:gd name="T0" fmla="*/ 310 w 15"/>
                <a:gd name="T1" fmla="*/ 4 h 5"/>
                <a:gd name="T2" fmla="*/ 642 w 15"/>
                <a:gd name="T3" fmla="*/ 4 h 5"/>
                <a:gd name="T4" fmla="*/ 642 w 15"/>
                <a:gd name="T5" fmla="*/ 0 h 5"/>
                <a:gd name="T6" fmla="*/ 0 w 15"/>
                <a:gd name="T7" fmla="*/ 0 h 5"/>
                <a:gd name="T8" fmla="*/ 0 w 15"/>
                <a:gd name="T9" fmla="*/ 4 h 5"/>
                <a:gd name="T10" fmla="*/ 310 w 15"/>
                <a:gd name="T11" fmla="*/ 4 h 5"/>
                <a:gd name="T12" fmla="*/ 0 60000 65536"/>
                <a:gd name="T13" fmla="*/ 0 60000 65536"/>
                <a:gd name="T14" fmla="*/ 0 60000 65536"/>
                <a:gd name="T15" fmla="*/ 0 60000 65536"/>
                <a:gd name="T16" fmla="*/ 0 60000 65536"/>
                <a:gd name="T17" fmla="*/ 0 60000 65536"/>
                <a:gd name="T18" fmla="*/ 0 w 15"/>
                <a:gd name="T19" fmla="*/ 0 h 5"/>
                <a:gd name="T20" fmla="*/ 15 w 15"/>
                <a:gd name="T21" fmla="*/ 5 h 5"/>
              </a:gdLst>
              <a:ahLst/>
              <a:cxnLst>
                <a:cxn ang="T12">
                  <a:pos x="T0" y="T1"/>
                </a:cxn>
                <a:cxn ang="T13">
                  <a:pos x="T2" y="T3"/>
                </a:cxn>
                <a:cxn ang="T14">
                  <a:pos x="T4" y="T5"/>
                </a:cxn>
                <a:cxn ang="T15">
                  <a:pos x="T6" y="T7"/>
                </a:cxn>
                <a:cxn ang="T16">
                  <a:pos x="T8" y="T9"/>
                </a:cxn>
                <a:cxn ang="T17">
                  <a:pos x="T10" y="T11"/>
                </a:cxn>
              </a:cxnLst>
              <a:rect l="T18" t="T19" r="T20" b="T21"/>
              <a:pathLst>
                <a:path w="15" h="5">
                  <a:moveTo>
                    <a:pt x="7" y="4"/>
                  </a:moveTo>
                  <a:lnTo>
                    <a:pt x="14" y="4"/>
                  </a:lnTo>
                  <a:lnTo>
                    <a:pt x="14" y="0"/>
                  </a:lnTo>
                  <a:lnTo>
                    <a:pt x="0" y="0"/>
                  </a:lnTo>
                  <a:lnTo>
                    <a:pt x="0" y="4"/>
                  </a:lnTo>
                  <a:lnTo>
                    <a:pt x="7" y="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29" name="Freeform 277">
              <a:extLst>
                <a:ext uri="{FF2B5EF4-FFF2-40B4-BE49-F238E27FC236}">
                  <a16:creationId xmlns:a16="http://schemas.microsoft.com/office/drawing/2014/main" id="{EBE952FE-98F0-0FCF-3B59-F05C8C5C02DB}"/>
                </a:ext>
              </a:extLst>
            </p:cNvPr>
            <p:cNvSpPr>
              <a:spLocks/>
            </p:cNvSpPr>
            <p:nvPr/>
          </p:nvSpPr>
          <p:spPr bwMode="auto">
            <a:xfrm>
              <a:off x="3765" y="3006"/>
              <a:ext cx="92" cy="114"/>
            </a:xfrm>
            <a:custGeom>
              <a:avLst/>
              <a:gdLst>
                <a:gd name="T0" fmla="*/ 4691 w 73"/>
                <a:gd name="T1" fmla="*/ 478 h 105"/>
                <a:gd name="T2" fmla="*/ 1 w 73"/>
                <a:gd name="T3" fmla="*/ 573 h 105"/>
                <a:gd name="T4" fmla="*/ 0 w 73"/>
                <a:gd name="T5" fmla="*/ 566 h 105"/>
                <a:gd name="T6" fmla="*/ 3215 w 73"/>
                <a:gd name="T7" fmla="*/ 292 h 105"/>
                <a:gd name="T8" fmla="*/ 3467 w 73"/>
                <a:gd name="T9" fmla="*/ 252 h 105"/>
                <a:gd name="T10" fmla="*/ 3568 w 73"/>
                <a:gd name="T11" fmla="*/ 218 h 105"/>
                <a:gd name="T12" fmla="*/ 3883 w 73"/>
                <a:gd name="T13" fmla="*/ 181 h 105"/>
                <a:gd name="T14" fmla="*/ 4052 w 73"/>
                <a:gd name="T15" fmla="*/ 145 h 105"/>
                <a:gd name="T16" fmla="*/ 4369 w 73"/>
                <a:gd name="T17" fmla="*/ 107 h 105"/>
                <a:gd name="T18" fmla="*/ 4691 w 73"/>
                <a:gd name="T19" fmla="*/ 69 h 105"/>
                <a:gd name="T20" fmla="*/ 4894 w 73"/>
                <a:gd name="T21" fmla="*/ 39 h 105"/>
                <a:gd name="T22" fmla="*/ 5107 w 73"/>
                <a:gd name="T23" fmla="*/ 0 h 105"/>
                <a:gd name="T24" fmla="*/ 5322 w 73"/>
                <a:gd name="T25" fmla="*/ 39 h 105"/>
                <a:gd name="T26" fmla="*/ 5431 w 73"/>
                <a:gd name="T27" fmla="*/ 69 h 105"/>
                <a:gd name="T28" fmla="*/ 5667 w 73"/>
                <a:gd name="T29" fmla="*/ 107 h 105"/>
                <a:gd name="T30" fmla="*/ 5912 w 73"/>
                <a:gd name="T31" fmla="*/ 145 h 105"/>
                <a:gd name="T32" fmla="*/ 5970 w 73"/>
                <a:gd name="T33" fmla="*/ 185 h 105"/>
                <a:gd name="T34" fmla="*/ 6168 w 73"/>
                <a:gd name="T35" fmla="*/ 218 h 105"/>
                <a:gd name="T36" fmla="*/ 6328 w 73"/>
                <a:gd name="T37" fmla="*/ 257 h 105"/>
                <a:gd name="T38" fmla="*/ 6592 w 73"/>
                <a:gd name="T39" fmla="*/ 292 h 105"/>
                <a:gd name="T40" fmla="*/ 9390 w 73"/>
                <a:gd name="T41" fmla="*/ 579 h 105"/>
                <a:gd name="T42" fmla="*/ 9050 w 73"/>
                <a:gd name="T43" fmla="*/ 585 h 105"/>
                <a:gd name="T44" fmla="*/ 4691 w 73"/>
                <a:gd name="T45" fmla="*/ 478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5"/>
                <a:gd name="T71" fmla="*/ 73 w 73"/>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5">
                  <a:moveTo>
                    <a:pt x="36" y="85"/>
                  </a:moveTo>
                  <a:lnTo>
                    <a:pt x="1" y="102"/>
                  </a:lnTo>
                  <a:lnTo>
                    <a:pt x="0" y="101"/>
                  </a:lnTo>
                  <a:lnTo>
                    <a:pt x="25" y="52"/>
                  </a:lnTo>
                  <a:lnTo>
                    <a:pt x="27" y="45"/>
                  </a:lnTo>
                  <a:lnTo>
                    <a:pt x="28" y="39"/>
                  </a:lnTo>
                  <a:lnTo>
                    <a:pt x="30" y="32"/>
                  </a:lnTo>
                  <a:lnTo>
                    <a:pt x="32" y="26"/>
                  </a:lnTo>
                  <a:lnTo>
                    <a:pt x="34" y="19"/>
                  </a:lnTo>
                  <a:lnTo>
                    <a:pt x="36" y="13"/>
                  </a:lnTo>
                  <a:lnTo>
                    <a:pt x="38" y="6"/>
                  </a:lnTo>
                  <a:lnTo>
                    <a:pt x="40" y="0"/>
                  </a:lnTo>
                  <a:lnTo>
                    <a:pt x="41" y="6"/>
                  </a:lnTo>
                  <a:lnTo>
                    <a:pt x="42" y="13"/>
                  </a:lnTo>
                  <a:lnTo>
                    <a:pt x="44" y="19"/>
                  </a:lnTo>
                  <a:lnTo>
                    <a:pt x="45" y="26"/>
                  </a:lnTo>
                  <a:lnTo>
                    <a:pt x="47" y="33"/>
                  </a:lnTo>
                  <a:lnTo>
                    <a:pt x="48" y="39"/>
                  </a:lnTo>
                  <a:lnTo>
                    <a:pt x="49" y="46"/>
                  </a:lnTo>
                  <a:lnTo>
                    <a:pt x="51" y="52"/>
                  </a:lnTo>
                  <a:lnTo>
                    <a:pt x="72" y="103"/>
                  </a:lnTo>
                  <a:lnTo>
                    <a:pt x="71" y="104"/>
                  </a:lnTo>
                  <a:lnTo>
                    <a:pt x="36" y="8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0" name="Freeform 278">
              <a:extLst>
                <a:ext uri="{FF2B5EF4-FFF2-40B4-BE49-F238E27FC236}">
                  <a16:creationId xmlns:a16="http://schemas.microsoft.com/office/drawing/2014/main" id="{5EA04DB3-1C84-2753-8D15-BCCC92CCADBC}"/>
                </a:ext>
              </a:extLst>
            </p:cNvPr>
            <p:cNvSpPr>
              <a:spLocks/>
            </p:cNvSpPr>
            <p:nvPr/>
          </p:nvSpPr>
          <p:spPr bwMode="auto">
            <a:xfrm>
              <a:off x="4652" y="2392"/>
              <a:ext cx="225" cy="49"/>
            </a:xfrm>
            <a:custGeom>
              <a:avLst/>
              <a:gdLst>
                <a:gd name="T0" fmla="*/ 529 w 180"/>
                <a:gd name="T1" fmla="*/ 208 h 45"/>
                <a:gd name="T2" fmla="*/ 1451 w 180"/>
                <a:gd name="T3" fmla="*/ 191 h 45"/>
                <a:gd name="T4" fmla="*/ 2170 w 180"/>
                <a:gd name="T5" fmla="*/ 177 h 45"/>
                <a:gd name="T6" fmla="*/ 2979 w 180"/>
                <a:gd name="T7" fmla="*/ 177 h 45"/>
                <a:gd name="T8" fmla="*/ 3430 w 180"/>
                <a:gd name="T9" fmla="*/ 191 h 45"/>
                <a:gd name="T10" fmla="*/ 4239 w 180"/>
                <a:gd name="T11" fmla="*/ 206 h 45"/>
                <a:gd name="T12" fmla="*/ 4806 w 180"/>
                <a:gd name="T13" fmla="*/ 210 h 45"/>
                <a:gd name="T14" fmla="*/ 5650 w 180"/>
                <a:gd name="T15" fmla="*/ 229 h 45"/>
                <a:gd name="T16" fmla="*/ 6458 w 180"/>
                <a:gd name="T17" fmla="*/ 246 h 45"/>
                <a:gd name="T18" fmla="*/ 7274 w 180"/>
                <a:gd name="T19" fmla="*/ 259 h 45"/>
                <a:gd name="T20" fmla="*/ 8486 w 180"/>
                <a:gd name="T21" fmla="*/ 266 h 45"/>
                <a:gd name="T22" fmla="*/ 9694 w 180"/>
                <a:gd name="T23" fmla="*/ 266 h 45"/>
                <a:gd name="T24" fmla="*/ 11180 w 180"/>
                <a:gd name="T25" fmla="*/ 249 h 45"/>
                <a:gd name="T26" fmla="*/ 12755 w 180"/>
                <a:gd name="T27" fmla="*/ 226 h 45"/>
                <a:gd name="T28" fmla="*/ 14786 w 180"/>
                <a:gd name="T29" fmla="*/ 191 h 45"/>
                <a:gd name="T30" fmla="*/ 16935 w 180"/>
                <a:gd name="T31" fmla="*/ 136 h 45"/>
                <a:gd name="T32" fmla="*/ 19481 w 180"/>
                <a:gd name="T33" fmla="*/ 63 h 45"/>
                <a:gd name="T34" fmla="*/ 18635 w 180"/>
                <a:gd name="T35" fmla="*/ 0 h 45"/>
                <a:gd name="T36" fmla="*/ 16358 w 180"/>
                <a:gd name="T37" fmla="*/ 63 h 45"/>
                <a:gd name="T38" fmla="*/ 14208 w 180"/>
                <a:gd name="T39" fmla="*/ 115 h 45"/>
                <a:gd name="T40" fmla="*/ 12393 w 180"/>
                <a:gd name="T41" fmla="*/ 148 h 45"/>
                <a:gd name="T42" fmla="*/ 10838 w 180"/>
                <a:gd name="T43" fmla="*/ 175 h 45"/>
                <a:gd name="T44" fmla="*/ 9538 w 180"/>
                <a:gd name="T45" fmla="*/ 189 h 45"/>
                <a:gd name="T46" fmla="*/ 8654 w 180"/>
                <a:gd name="T47" fmla="*/ 189 h 45"/>
                <a:gd name="T48" fmla="*/ 7630 w 180"/>
                <a:gd name="T49" fmla="*/ 177 h 45"/>
                <a:gd name="T50" fmla="*/ 6923 w 180"/>
                <a:gd name="T51" fmla="*/ 163 h 45"/>
                <a:gd name="T52" fmla="*/ 6008 w 180"/>
                <a:gd name="T53" fmla="*/ 150 h 45"/>
                <a:gd name="T54" fmla="*/ 5360 w 180"/>
                <a:gd name="T55" fmla="*/ 136 h 45"/>
                <a:gd name="T56" fmla="*/ 4650 w 180"/>
                <a:gd name="T57" fmla="*/ 125 h 45"/>
                <a:gd name="T58" fmla="*/ 3943 w 180"/>
                <a:gd name="T59" fmla="*/ 115 h 45"/>
                <a:gd name="T60" fmla="*/ 3076 w 180"/>
                <a:gd name="T61" fmla="*/ 106 h 45"/>
                <a:gd name="T62" fmla="*/ 2091 w 180"/>
                <a:gd name="T63" fmla="*/ 106 h 45"/>
                <a:gd name="T64" fmla="*/ 1111 w 180"/>
                <a:gd name="T65" fmla="*/ 115 h 45"/>
                <a:gd name="T66" fmla="*/ 0 w 180"/>
                <a:gd name="T67" fmla="*/ 127 h 45"/>
                <a:gd name="T68" fmla="*/ 529 w 180"/>
                <a:gd name="T69" fmla="*/ 208 h 4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0"/>
                <a:gd name="T106" fmla="*/ 0 h 45"/>
                <a:gd name="T107" fmla="*/ 180 w 180"/>
                <a:gd name="T108" fmla="*/ 45 h 4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0" h="45">
                  <a:moveTo>
                    <a:pt x="5" y="35"/>
                  </a:moveTo>
                  <a:lnTo>
                    <a:pt x="14" y="32"/>
                  </a:lnTo>
                  <a:lnTo>
                    <a:pt x="20" y="30"/>
                  </a:lnTo>
                  <a:lnTo>
                    <a:pt x="27" y="30"/>
                  </a:lnTo>
                  <a:lnTo>
                    <a:pt x="32" y="32"/>
                  </a:lnTo>
                  <a:lnTo>
                    <a:pt x="39" y="34"/>
                  </a:lnTo>
                  <a:lnTo>
                    <a:pt x="44" y="36"/>
                  </a:lnTo>
                  <a:lnTo>
                    <a:pt x="52" y="39"/>
                  </a:lnTo>
                  <a:lnTo>
                    <a:pt x="59" y="41"/>
                  </a:lnTo>
                  <a:lnTo>
                    <a:pt x="67" y="43"/>
                  </a:lnTo>
                  <a:lnTo>
                    <a:pt x="78" y="44"/>
                  </a:lnTo>
                  <a:lnTo>
                    <a:pt x="89" y="44"/>
                  </a:lnTo>
                  <a:lnTo>
                    <a:pt x="103" y="42"/>
                  </a:lnTo>
                  <a:lnTo>
                    <a:pt x="118" y="38"/>
                  </a:lnTo>
                  <a:lnTo>
                    <a:pt x="136" y="32"/>
                  </a:lnTo>
                  <a:lnTo>
                    <a:pt x="156" y="23"/>
                  </a:lnTo>
                  <a:lnTo>
                    <a:pt x="179" y="11"/>
                  </a:lnTo>
                  <a:lnTo>
                    <a:pt x="172" y="0"/>
                  </a:lnTo>
                  <a:lnTo>
                    <a:pt x="150" y="11"/>
                  </a:lnTo>
                  <a:lnTo>
                    <a:pt x="131" y="19"/>
                  </a:lnTo>
                  <a:lnTo>
                    <a:pt x="114" y="25"/>
                  </a:lnTo>
                  <a:lnTo>
                    <a:pt x="100" y="29"/>
                  </a:lnTo>
                  <a:lnTo>
                    <a:pt x="88" y="31"/>
                  </a:lnTo>
                  <a:lnTo>
                    <a:pt x="79" y="31"/>
                  </a:lnTo>
                  <a:lnTo>
                    <a:pt x="70" y="30"/>
                  </a:lnTo>
                  <a:lnTo>
                    <a:pt x="63" y="28"/>
                  </a:lnTo>
                  <a:lnTo>
                    <a:pt x="55" y="26"/>
                  </a:lnTo>
                  <a:lnTo>
                    <a:pt x="50" y="23"/>
                  </a:lnTo>
                  <a:lnTo>
                    <a:pt x="42" y="21"/>
                  </a:lnTo>
                  <a:lnTo>
                    <a:pt x="36" y="19"/>
                  </a:lnTo>
                  <a:lnTo>
                    <a:pt x="28" y="17"/>
                  </a:lnTo>
                  <a:lnTo>
                    <a:pt x="19" y="17"/>
                  </a:lnTo>
                  <a:lnTo>
                    <a:pt x="10" y="19"/>
                  </a:lnTo>
                  <a:lnTo>
                    <a:pt x="0" y="22"/>
                  </a:lnTo>
                  <a:lnTo>
                    <a:pt x="5" y="3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1" name="Freeform 279">
              <a:extLst>
                <a:ext uri="{FF2B5EF4-FFF2-40B4-BE49-F238E27FC236}">
                  <a16:creationId xmlns:a16="http://schemas.microsoft.com/office/drawing/2014/main" id="{031A9044-CAE5-C3F7-FC6F-265728B2CA70}"/>
                </a:ext>
              </a:extLst>
            </p:cNvPr>
            <p:cNvSpPr>
              <a:spLocks/>
            </p:cNvSpPr>
            <p:nvPr/>
          </p:nvSpPr>
          <p:spPr bwMode="auto">
            <a:xfrm>
              <a:off x="4565" y="2416"/>
              <a:ext cx="94" cy="148"/>
            </a:xfrm>
            <a:custGeom>
              <a:avLst/>
              <a:gdLst>
                <a:gd name="T0" fmla="*/ 577 w 75"/>
                <a:gd name="T1" fmla="*/ 692 h 137"/>
                <a:gd name="T2" fmla="*/ 1772 w 75"/>
                <a:gd name="T3" fmla="*/ 649 h 137"/>
                <a:gd name="T4" fmla="*/ 2602 w 75"/>
                <a:gd name="T5" fmla="*/ 629 h 137"/>
                <a:gd name="T6" fmla="*/ 3261 w 75"/>
                <a:gd name="T7" fmla="*/ 587 h 137"/>
                <a:gd name="T8" fmla="*/ 3722 w 75"/>
                <a:gd name="T9" fmla="*/ 543 h 137"/>
                <a:gd name="T10" fmla="*/ 4221 w 75"/>
                <a:gd name="T11" fmla="*/ 489 h 137"/>
                <a:gd name="T12" fmla="*/ 4404 w 75"/>
                <a:gd name="T13" fmla="*/ 442 h 137"/>
                <a:gd name="T14" fmla="*/ 4578 w 75"/>
                <a:gd name="T15" fmla="*/ 399 h 137"/>
                <a:gd name="T16" fmla="*/ 4665 w 75"/>
                <a:gd name="T17" fmla="*/ 351 h 137"/>
                <a:gd name="T18" fmla="*/ 4972 w 75"/>
                <a:gd name="T19" fmla="*/ 305 h 137"/>
                <a:gd name="T20" fmla="*/ 5122 w 75"/>
                <a:gd name="T21" fmla="*/ 258 h 137"/>
                <a:gd name="T22" fmla="*/ 5448 w 75"/>
                <a:gd name="T23" fmla="*/ 216 h 137"/>
                <a:gd name="T24" fmla="*/ 5738 w 75"/>
                <a:gd name="T25" fmla="*/ 184 h 137"/>
                <a:gd name="T26" fmla="*/ 6232 w 75"/>
                <a:gd name="T27" fmla="*/ 142 h 137"/>
                <a:gd name="T28" fmla="*/ 6828 w 75"/>
                <a:gd name="T29" fmla="*/ 112 h 137"/>
                <a:gd name="T30" fmla="*/ 7467 w 75"/>
                <a:gd name="T31" fmla="*/ 84 h 137"/>
                <a:gd name="T32" fmla="*/ 8558 w 75"/>
                <a:gd name="T33" fmla="*/ 62 h 137"/>
                <a:gd name="T34" fmla="*/ 7858 w 75"/>
                <a:gd name="T35" fmla="*/ 0 h 137"/>
                <a:gd name="T36" fmla="*/ 6630 w 75"/>
                <a:gd name="T37" fmla="*/ 6 h 137"/>
                <a:gd name="T38" fmla="*/ 5738 w 75"/>
                <a:gd name="T39" fmla="*/ 62 h 137"/>
                <a:gd name="T40" fmla="*/ 4972 w 75"/>
                <a:gd name="T41" fmla="*/ 106 h 137"/>
                <a:gd name="T42" fmla="*/ 4373 w 75"/>
                <a:gd name="T43" fmla="*/ 145 h 137"/>
                <a:gd name="T44" fmla="*/ 3967 w 75"/>
                <a:gd name="T45" fmla="*/ 199 h 137"/>
                <a:gd name="T46" fmla="*/ 3653 w 75"/>
                <a:gd name="T47" fmla="*/ 251 h 137"/>
                <a:gd name="T48" fmla="*/ 3489 w 75"/>
                <a:gd name="T49" fmla="*/ 294 h 137"/>
                <a:gd name="T50" fmla="*/ 3185 w 75"/>
                <a:gd name="T51" fmla="*/ 342 h 137"/>
                <a:gd name="T52" fmla="*/ 3165 w 75"/>
                <a:gd name="T53" fmla="*/ 388 h 137"/>
                <a:gd name="T54" fmla="*/ 2970 w 75"/>
                <a:gd name="T55" fmla="*/ 435 h 137"/>
                <a:gd name="T56" fmla="*/ 2784 w 75"/>
                <a:gd name="T57" fmla="*/ 470 h 137"/>
                <a:gd name="T58" fmla="*/ 2237 w 75"/>
                <a:gd name="T59" fmla="*/ 511 h 137"/>
                <a:gd name="T60" fmla="*/ 1891 w 75"/>
                <a:gd name="T61" fmla="*/ 549 h 137"/>
                <a:gd name="T62" fmla="*/ 1424 w 75"/>
                <a:gd name="T63" fmla="*/ 582 h 137"/>
                <a:gd name="T64" fmla="*/ 841 w 75"/>
                <a:gd name="T65" fmla="*/ 600 h 137"/>
                <a:gd name="T66" fmla="*/ 0 w 75"/>
                <a:gd name="T67" fmla="*/ 629 h 137"/>
                <a:gd name="T68" fmla="*/ 577 w 75"/>
                <a:gd name="T69" fmla="*/ 692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5"/>
                <a:gd name="T106" fmla="*/ 0 h 137"/>
                <a:gd name="T107" fmla="*/ 75 w 75"/>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5" h="137">
                  <a:moveTo>
                    <a:pt x="5" y="136"/>
                  </a:moveTo>
                  <a:lnTo>
                    <a:pt x="15" y="130"/>
                  </a:lnTo>
                  <a:lnTo>
                    <a:pt x="23" y="123"/>
                  </a:lnTo>
                  <a:lnTo>
                    <a:pt x="29" y="115"/>
                  </a:lnTo>
                  <a:lnTo>
                    <a:pt x="33" y="106"/>
                  </a:lnTo>
                  <a:lnTo>
                    <a:pt x="37" y="97"/>
                  </a:lnTo>
                  <a:lnTo>
                    <a:pt x="39" y="88"/>
                  </a:lnTo>
                  <a:lnTo>
                    <a:pt x="40" y="78"/>
                  </a:lnTo>
                  <a:lnTo>
                    <a:pt x="41" y="69"/>
                  </a:lnTo>
                  <a:lnTo>
                    <a:pt x="43" y="60"/>
                  </a:lnTo>
                  <a:lnTo>
                    <a:pt x="45" y="51"/>
                  </a:lnTo>
                  <a:lnTo>
                    <a:pt x="47" y="43"/>
                  </a:lnTo>
                  <a:lnTo>
                    <a:pt x="50" y="36"/>
                  </a:lnTo>
                  <a:lnTo>
                    <a:pt x="54" y="28"/>
                  </a:lnTo>
                  <a:lnTo>
                    <a:pt x="59" y="22"/>
                  </a:lnTo>
                  <a:lnTo>
                    <a:pt x="65" y="17"/>
                  </a:lnTo>
                  <a:lnTo>
                    <a:pt x="74" y="13"/>
                  </a:lnTo>
                  <a:lnTo>
                    <a:pt x="69" y="0"/>
                  </a:lnTo>
                  <a:lnTo>
                    <a:pt x="58" y="6"/>
                  </a:lnTo>
                  <a:lnTo>
                    <a:pt x="50" y="13"/>
                  </a:lnTo>
                  <a:lnTo>
                    <a:pt x="43" y="21"/>
                  </a:lnTo>
                  <a:lnTo>
                    <a:pt x="38" y="29"/>
                  </a:lnTo>
                  <a:lnTo>
                    <a:pt x="34" y="39"/>
                  </a:lnTo>
                  <a:lnTo>
                    <a:pt x="32" y="49"/>
                  </a:lnTo>
                  <a:lnTo>
                    <a:pt x="30" y="58"/>
                  </a:lnTo>
                  <a:lnTo>
                    <a:pt x="28" y="67"/>
                  </a:lnTo>
                  <a:lnTo>
                    <a:pt x="27" y="77"/>
                  </a:lnTo>
                  <a:lnTo>
                    <a:pt x="26" y="86"/>
                  </a:lnTo>
                  <a:lnTo>
                    <a:pt x="24" y="93"/>
                  </a:lnTo>
                  <a:lnTo>
                    <a:pt x="20" y="101"/>
                  </a:lnTo>
                  <a:lnTo>
                    <a:pt x="17" y="108"/>
                  </a:lnTo>
                  <a:lnTo>
                    <a:pt x="13" y="114"/>
                  </a:lnTo>
                  <a:lnTo>
                    <a:pt x="7" y="119"/>
                  </a:lnTo>
                  <a:lnTo>
                    <a:pt x="0" y="123"/>
                  </a:lnTo>
                  <a:lnTo>
                    <a:pt x="5" y="13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2" name="Freeform 280">
              <a:extLst>
                <a:ext uri="{FF2B5EF4-FFF2-40B4-BE49-F238E27FC236}">
                  <a16:creationId xmlns:a16="http://schemas.microsoft.com/office/drawing/2014/main" id="{0ADE5A27-5E39-98C7-0996-B8C21C5C7B89}"/>
                </a:ext>
              </a:extLst>
            </p:cNvPr>
            <p:cNvSpPr>
              <a:spLocks/>
            </p:cNvSpPr>
            <p:nvPr/>
          </p:nvSpPr>
          <p:spPr bwMode="auto">
            <a:xfrm>
              <a:off x="4565" y="2549"/>
              <a:ext cx="8" cy="15"/>
            </a:xfrm>
            <a:custGeom>
              <a:avLst/>
              <a:gdLst>
                <a:gd name="T0" fmla="*/ 2069 w 6"/>
                <a:gd name="T1" fmla="*/ 54 h 14"/>
                <a:gd name="T2" fmla="*/ 873 w 6"/>
                <a:gd name="T3" fmla="*/ 6 h 14"/>
                <a:gd name="T4" fmla="*/ 0 w 6"/>
                <a:gd name="T5" fmla="*/ 0 h 14"/>
                <a:gd name="T6" fmla="*/ 2069 w 6"/>
                <a:gd name="T7" fmla="*/ 54 h 14"/>
                <a:gd name="T8" fmla="*/ 0 60000 65536"/>
                <a:gd name="T9" fmla="*/ 0 60000 65536"/>
                <a:gd name="T10" fmla="*/ 0 60000 65536"/>
                <a:gd name="T11" fmla="*/ 0 60000 65536"/>
                <a:gd name="T12" fmla="*/ 0 w 6"/>
                <a:gd name="T13" fmla="*/ 0 h 14"/>
                <a:gd name="T14" fmla="*/ 6 w 6"/>
                <a:gd name="T15" fmla="*/ 14 h 14"/>
              </a:gdLst>
              <a:ahLst/>
              <a:cxnLst>
                <a:cxn ang="T8">
                  <a:pos x="T0" y="T1"/>
                </a:cxn>
                <a:cxn ang="T9">
                  <a:pos x="T2" y="T3"/>
                </a:cxn>
                <a:cxn ang="T10">
                  <a:pos x="T4" y="T5"/>
                </a:cxn>
                <a:cxn ang="T11">
                  <a:pos x="T6" y="T7"/>
                </a:cxn>
              </a:cxnLst>
              <a:rect l="T12" t="T13" r="T14" b="T15"/>
              <a:pathLst>
                <a:path w="6" h="14">
                  <a:moveTo>
                    <a:pt x="5" y="13"/>
                  </a:moveTo>
                  <a:lnTo>
                    <a:pt x="2" y="6"/>
                  </a:lnTo>
                  <a:lnTo>
                    <a:pt x="0" y="0"/>
                  </a:lnTo>
                  <a:lnTo>
                    <a:pt x="5" y="13"/>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3" name="Freeform 281">
              <a:extLst>
                <a:ext uri="{FF2B5EF4-FFF2-40B4-BE49-F238E27FC236}">
                  <a16:creationId xmlns:a16="http://schemas.microsoft.com/office/drawing/2014/main" id="{52DFC954-C359-4C9D-46B6-6350B215876F}"/>
                </a:ext>
              </a:extLst>
            </p:cNvPr>
            <p:cNvSpPr>
              <a:spLocks/>
            </p:cNvSpPr>
            <p:nvPr/>
          </p:nvSpPr>
          <p:spPr bwMode="auto">
            <a:xfrm>
              <a:off x="4376" y="2518"/>
              <a:ext cx="197" cy="51"/>
            </a:xfrm>
            <a:custGeom>
              <a:avLst/>
              <a:gdLst>
                <a:gd name="T0" fmla="*/ 597 w 157"/>
                <a:gd name="T1" fmla="*/ 62 h 48"/>
                <a:gd name="T2" fmla="*/ 1673 w 157"/>
                <a:gd name="T3" fmla="*/ 49 h 48"/>
                <a:gd name="T4" fmla="*/ 2626 w 157"/>
                <a:gd name="T5" fmla="*/ 46 h 48"/>
                <a:gd name="T6" fmla="*/ 3666 w 157"/>
                <a:gd name="T7" fmla="*/ 46 h 48"/>
                <a:gd name="T8" fmla="*/ 4443 w 157"/>
                <a:gd name="T9" fmla="*/ 52 h 48"/>
                <a:gd name="T10" fmla="*/ 5544 w 157"/>
                <a:gd name="T11" fmla="*/ 62 h 48"/>
                <a:gd name="T12" fmla="*/ 6530 w 157"/>
                <a:gd name="T13" fmla="*/ 79 h 48"/>
                <a:gd name="T14" fmla="*/ 7435 w 157"/>
                <a:gd name="T15" fmla="*/ 95 h 48"/>
                <a:gd name="T16" fmla="*/ 8570 w 157"/>
                <a:gd name="T17" fmla="*/ 107 h 48"/>
                <a:gd name="T18" fmla="*/ 9684 w 157"/>
                <a:gd name="T19" fmla="*/ 125 h 48"/>
                <a:gd name="T20" fmla="*/ 10753 w 157"/>
                <a:gd name="T21" fmla="*/ 141 h 48"/>
                <a:gd name="T22" fmla="*/ 11959 w 157"/>
                <a:gd name="T23" fmla="*/ 154 h 48"/>
                <a:gd name="T24" fmla="*/ 13207 w 157"/>
                <a:gd name="T25" fmla="*/ 165 h 48"/>
                <a:gd name="T26" fmla="*/ 14399 w 157"/>
                <a:gd name="T27" fmla="*/ 166 h 48"/>
                <a:gd name="T28" fmla="*/ 15789 w 157"/>
                <a:gd name="T29" fmla="*/ 166 h 48"/>
                <a:gd name="T30" fmla="*/ 17015 w 157"/>
                <a:gd name="T31" fmla="*/ 165 h 48"/>
                <a:gd name="T32" fmla="*/ 18396 w 157"/>
                <a:gd name="T33" fmla="*/ 154 h 48"/>
                <a:gd name="T34" fmla="*/ 17681 w 157"/>
                <a:gd name="T35" fmla="*/ 104 h 48"/>
                <a:gd name="T36" fmla="*/ 16572 w 157"/>
                <a:gd name="T37" fmla="*/ 118 h 48"/>
                <a:gd name="T38" fmla="*/ 15685 w 157"/>
                <a:gd name="T39" fmla="*/ 121 h 48"/>
                <a:gd name="T40" fmla="*/ 14661 w 157"/>
                <a:gd name="T41" fmla="*/ 121 h 48"/>
                <a:gd name="T42" fmla="*/ 13493 w 157"/>
                <a:gd name="T43" fmla="*/ 118 h 48"/>
                <a:gd name="T44" fmla="*/ 12500 w 157"/>
                <a:gd name="T45" fmla="*/ 104 h 48"/>
                <a:gd name="T46" fmla="*/ 11403 w 157"/>
                <a:gd name="T47" fmla="*/ 95 h 48"/>
                <a:gd name="T48" fmla="*/ 10282 w 157"/>
                <a:gd name="T49" fmla="*/ 79 h 48"/>
                <a:gd name="T50" fmla="*/ 9329 w 157"/>
                <a:gd name="T51" fmla="*/ 62 h 48"/>
                <a:gd name="T52" fmla="*/ 8388 w 157"/>
                <a:gd name="T53" fmla="*/ 49 h 48"/>
                <a:gd name="T54" fmla="*/ 7243 w 157"/>
                <a:gd name="T55" fmla="*/ 36 h 48"/>
                <a:gd name="T56" fmla="*/ 6117 w 157"/>
                <a:gd name="T57" fmla="*/ 5 h 48"/>
                <a:gd name="T58" fmla="*/ 4973 w 157"/>
                <a:gd name="T59" fmla="*/ 2 h 48"/>
                <a:gd name="T60" fmla="*/ 3756 w 157"/>
                <a:gd name="T61" fmla="*/ 0 h 48"/>
                <a:gd name="T62" fmla="*/ 2390 w 157"/>
                <a:gd name="T63" fmla="*/ 0 h 48"/>
                <a:gd name="T64" fmla="*/ 1333 w 157"/>
                <a:gd name="T65" fmla="*/ 1 h 48"/>
                <a:gd name="T66" fmla="*/ 0 w 157"/>
                <a:gd name="T67" fmla="*/ 5 h 48"/>
                <a:gd name="T68" fmla="*/ 597 w 157"/>
                <a:gd name="T69" fmla="*/ 62 h 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48"/>
                <a:gd name="T107" fmla="*/ 157 w 157"/>
                <a:gd name="T108" fmla="*/ 48 h 4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48">
                  <a:moveTo>
                    <a:pt x="5" y="18"/>
                  </a:moveTo>
                  <a:lnTo>
                    <a:pt x="14" y="14"/>
                  </a:lnTo>
                  <a:lnTo>
                    <a:pt x="22" y="13"/>
                  </a:lnTo>
                  <a:lnTo>
                    <a:pt x="31" y="13"/>
                  </a:lnTo>
                  <a:lnTo>
                    <a:pt x="38" y="15"/>
                  </a:lnTo>
                  <a:lnTo>
                    <a:pt x="47" y="18"/>
                  </a:lnTo>
                  <a:lnTo>
                    <a:pt x="56" y="22"/>
                  </a:lnTo>
                  <a:lnTo>
                    <a:pt x="64" y="26"/>
                  </a:lnTo>
                  <a:lnTo>
                    <a:pt x="73" y="30"/>
                  </a:lnTo>
                  <a:lnTo>
                    <a:pt x="83" y="35"/>
                  </a:lnTo>
                  <a:lnTo>
                    <a:pt x="92" y="39"/>
                  </a:lnTo>
                  <a:lnTo>
                    <a:pt x="102" y="42"/>
                  </a:lnTo>
                  <a:lnTo>
                    <a:pt x="112" y="46"/>
                  </a:lnTo>
                  <a:lnTo>
                    <a:pt x="123" y="47"/>
                  </a:lnTo>
                  <a:lnTo>
                    <a:pt x="134" y="47"/>
                  </a:lnTo>
                  <a:lnTo>
                    <a:pt x="145" y="46"/>
                  </a:lnTo>
                  <a:lnTo>
                    <a:pt x="156" y="42"/>
                  </a:lnTo>
                  <a:lnTo>
                    <a:pt x="151" y="29"/>
                  </a:lnTo>
                  <a:lnTo>
                    <a:pt x="141" y="33"/>
                  </a:lnTo>
                  <a:lnTo>
                    <a:pt x="133" y="34"/>
                  </a:lnTo>
                  <a:lnTo>
                    <a:pt x="124" y="34"/>
                  </a:lnTo>
                  <a:lnTo>
                    <a:pt x="115" y="33"/>
                  </a:lnTo>
                  <a:lnTo>
                    <a:pt x="106" y="29"/>
                  </a:lnTo>
                  <a:lnTo>
                    <a:pt x="97" y="26"/>
                  </a:lnTo>
                  <a:lnTo>
                    <a:pt x="88" y="22"/>
                  </a:lnTo>
                  <a:lnTo>
                    <a:pt x="80" y="18"/>
                  </a:lnTo>
                  <a:lnTo>
                    <a:pt x="71" y="14"/>
                  </a:lnTo>
                  <a:lnTo>
                    <a:pt x="61" y="9"/>
                  </a:lnTo>
                  <a:lnTo>
                    <a:pt x="52" y="5"/>
                  </a:lnTo>
                  <a:lnTo>
                    <a:pt x="42" y="2"/>
                  </a:lnTo>
                  <a:lnTo>
                    <a:pt x="32" y="0"/>
                  </a:lnTo>
                  <a:lnTo>
                    <a:pt x="21" y="0"/>
                  </a:lnTo>
                  <a:lnTo>
                    <a:pt x="11" y="1"/>
                  </a:lnTo>
                  <a:lnTo>
                    <a:pt x="0" y="5"/>
                  </a:lnTo>
                  <a:lnTo>
                    <a:pt x="5" y="1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4" name="Freeform 282">
              <a:extLst>
                <a:ext uri="{FF2B5EF4-FFF2-40B4-BE49-F238E27FC236}">
                  <a16:creationId xmlns:a16="http://schemas.microsoft.com/office/drawing/2014/main" id="{F1F2E5BA-687C-F957-67DB-0566B95680C2}"/>
                </a:ext>
              </a:extLst>
            </p:cNvPr>
            <p:cNvSpPr>
              <a:spLocks/>
            </p:cNvSpPr>
            <p:nvPr/>
          </p:nvSpPr>
          <p:spPr bwMode="auto">
            <a:xfrm>
              <a:off x="4296" y="2523"/>
              <a:ext cx="88" cy="146"/>
            </a:xfrm>
            <a:custGeom>
              <a:avLst/>
              <a:gdLst>
                <a:gd name="T0" fmla="*/ 612 w 70"/>
                <a:gd name="T1" fmla="*/ 699 h 135"/>
                <a:gd name="T2" fmla="*/ 1837 w 70"/>
                <a:gd name="T3" fmla="*/ 661 h 135"/>
                <a:gd name="T4" fmla="*/ 2903 w 70"/>
                <a:gd name="T5" fmla="*/ 636 h 135"/>
                <a:gd name="T6" fmla="*/ 3649 w 70"/>
                <a:gd name="T7" fmla="*/ 590 h 135"/>
                <a:gd name="T8" fmla="*/ 4242 w 70"/>
                <a:gd name="T9" fmla="*/ 544 h 135"/>
                <a:gd name="T10" fmla="*/ 4587 w 70"/>
                <a:gd name="T11" fmla="*/ 490 h 135"/>
                <a:gd name="T12" fmla="*/ 4807 w 70"/>
                <a:gd name="T13" fmla="*/ 437 h 135"/>
                <a:gd name="T14" fmla="*/ 5021 w 70"/>
                <a:gd name="T15" fmla="*/ 398 h 135"/>
                <a:gd name="T16" fmla="*/ 5265 w 70"/>
                <a:gd name="T17" fmla="*/ 345 h 135"/>
                <a:gd name="T18" fmla="*/ 5265 w 70"/>
                <a:gd name="T19" fmla="*/ 304 h 135"/>
                <a:gd name="T20" fmla="*/ 5333 w 70"/>
                <a:gd name="T21" fmla="*/ 260 h 135"/>
                <a:gd name="T22" fmla="*/ 5680 w 70"/>
                <a:gd name="T23" fmla="*/ 214 h 135"/>
                <a:gd name="T24" fmla="*/ 6034 w 70"/>
                <a:gd name="T25" fmla="*/ 177 h 135"/>
                <a:gd name="T26" fmla="*/ 6312 w 70"/>
                <a:gd name="T27" fmla="*/ 141 h 135"/>
                <a:gd name="T28" fmla="*/ 6836 w 70"/>
                <a:gd name="T29" fmla="*/ 114 h 135"/>
                <a:gd name="T30" fmla="*/ 7586 w 70"/>
                <a:gd name="T31" fmla="*/ 88 h 135"/>
                <a:gd name="T32" fmla="*/ 8428 w 70"/>
                <a:gd name="T33" fmla="*/ 64 h 135"/>
                <a:gd name="T34" fmla="*/ 7836 w 70"/>
                <a:gd name="T35" fmla="*/ 0 h 135"/>
                <a:gd name="T36" fmla="*/ 6619 w 70"/>
                <a:gd name="T37" fmla="*/ 6 h 135"/>
                <a:gd name="T38" fmla="*/ 5680 w 70"/>
                <a:gd name="T39" fmla="*/ 64 h 135"/>
                <a:gd name="T40" fmla="*/ 5021 w 70"/>
                <a:gd name="T41" fmla="*/ 111 h 135"/>
                <a:gd name="T42" fmla="*/ 4420 w 70"/>
                <a:gd name="T43" fmla="*/ 152 h 135"/>
                <a:gd name="T44" fmla="*/ 3994 w 70"/>
                <a:gd name="T45" fmla="*/ 191 h 135"/>
                <a:gd name="T46" fmla="*/ 3818 w 70"/>
                <a:gd name="T47" fmla="*/ 242 h 135"/>
                <a:gd name="T48" fmla="*/ 3649 w 70"/>
                <a:gd name="T49" fmla="*/ 292 h 135"/>
                <a:gd name="T50" fmla="*/ 3649 w 70"/>
                <a:gd name="T51" fmla="*/ 340 h 135"/>
                <a:gd name="T52" fmla="*/ 3374 w 70"/>
                <a:gd name="T53" fmla="*/ 385 h 135"/>
                <a:gd name="T54" fmla="*/ 3331 w 70"/>
                <a:gd name="T55" fmla="*/ 433 h 135"/>
                <a:gd name="T56" fmla="*/ 3037 w 70"/>
                <a:gd name="T57" fmla="*/ 472 h 135"/>
                <a:gd name="T58" fmla="*/ 2684 w 70"/>
                <a:gd name="T59" fmla="*/ 510 h 135"/>
                <a:gd name="T60" fmla="*/ 2225 w 70"/>
                <a:gd name="T61" fmla="*/ 547 h 135"/>
                <a:gd name="T62" fmla="*/ 1770 w 70"/>
                <a:gd name="T63" fmla="*/ 573 h 135"/>
                <a:gd name="T64" fmla="*/ 891 w 70"/>
                <a:gd name="T65" fmla="*/ 602 h 135"/>
                <a:gd name="T66" fmla="*/ 0 w 70"/>
                <a:gd name="T67" fmla="*/ 636 h 135"/>
                <a:gd name="T68" fmla="*/ 612 w 70"/>
                <a:gd name="T69" fmla="*/ 699 h 13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0"/>
                <a:gd name="T106" fmla="*/ 0 h 135"/>
                <a:gd name="T107" fmla="*/ 70 w 70"/>
                <a:gd name="T108" fmla="*/ 135 h 13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0" h="135">
                  <a:moveTo>
                    <a:pt x="5" y="134"/>
                  </a:moveTo>
                  <a:lnTo>
                    <a:pt x="15" y="128"/>
                  </a:lnTo>
                  <a:lnTo>
                    <a:pt x="24" y="121"/>
                  </a:lnTo>
                  <a:lnTo>
                    <a:pt x="30" y="113"/>
                  </a:lnTo>
                  <a:lnTo>
                    <a:pt x="35" y="104"/>
                  </a:lnTo>
                  <a:lnTo>
                    <a:pt x="38" y="95"/>
                  </a:lnTo>
                  <a:lnTo>
                    <a:pt x="40" y="85"/>
                  </a:lnTo>
                  <a:lnTo>
                    <a:pt x="41" y="76"/>
                  </a:lnTo>
                  <a:lnTo>
                    <a:pt x="43" y="67"/>
                  </a:lnTo>
                  <a:lnTo>
                    <a:pt x="43" y="58"/>
                  </a:lnTo>
                  <a:lnTo>
                    <a:pt x="44" y="50"/>
                  </a:lnTo>
                  <a:lnTo>
                    <a:pt x="46" y="41"/>
                  </a:lnTo>
                  <a:lnTo>
                    <a:pt x="49" y="34"/>
                  </a:lnTo>
                  <a:lnTo>
                    <a:pt x="52" y="27"/>
                  </a:lnTo>
                  <a:lnTo>
                    <a:pt x="56" y="22"/>
                  </a:lnTo>
                  <a:lnTo>
                    <a:pt x="62" y="17"/>
                  </a:lnTo>
                  <a:lnTo>
                    <a:pt x="69" y="13"/>
                  </a:lnTo>
                  <a:lnTo>
                    <a:pt x="64" y="0"/>
                  </a:lnTo>
                  <a:lnTo>
                    <a:pt x="54" y="6"/>
                  </a:lnTo>
                  <a:lnTo>
                    <a:pt x="46" y="13"/>
                  </a:lnTo>
                  <a:lnTo>
                    <a:pt x="41" y="21"/>
                  </a:lnTo>
                  <a:lnTo>
                    <a:pt x="36" y="29"/>
                  </a:lnTo>
                  <a:lnTo>
                    <a:pt x="33" y="37"/>
                  </a:lnTo>
                  <a:lnTo>
                    <a:pt x="31" y="47"/>
                  </a:lnTo>
                  <a:lnTo>
                    <a:pt x="30" y="56"/>
                  </a:lnTo>
                  <a:lnTo>
                    <a:pt x="30" y="65"/>
                  </a:lnTo>
                  <a:lnTo>
                    <a:pt x="28" y="74"/>
                  </a:lnTo>
                  <a:lnTo>
                    <a:pt x="27" y="83"/>
                  </a:lnTo>
                  <a:lnTo>
                    <a:pt x="25" y="91"/>
                  </a:lnTo>
                  <a:lnTo>
                    <a:pt x="22" y="98"/>
                  </a:lnTo>
                  <a:lnTo>
                    <a:pt x="18" y="105"/>
                  </a:lnTo>
                  <a:lnTo>
                    <a:pt x="14" y="111"/>
                  </a:lnTo>
                  <a:lnTo>
                    <a:pt x="7" y="117"/>
                  </a:lnTo>
                  <a:lnTo>
                    <a:pt x="0" y="121"/>
                  </a:lnTo>
                  <a:lnTo>
                    <a:pt x="5" y="13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5" name="Freeform 283">
              <a:extLst>
                <a:ext uri="{FF2B5EF4-FFF2-40B4-BE49-F238E27FC236}">
                  <a16:creationId xmlns:a16="http://schemas.microsoft.com/office/drawing/2014/main" id="{B653679E-514F-ED3E-62DE-660FBF8220E7}"/>
                </a:ext>
              </a:extLst>
            </p:cNvPr>
            <p:cNvSpPr>
              <a:spLocks/>
            </p:cNvSpPr>
            <p:nvPr/>
          </p:nvSpPr>
          <p:spPr bwMode="auto">
            <a:xfrm>
              <a:off x="4107" y="2624"/>
              <a:ext cx="197" cy="51"/>
            </a:xfrm>
            <a:custGeom>
              <a:avLst/>
              <a:gdLst>
                <a:gd name="T0" fmla="*/ 597 w 157"/>
                <a:gd name="T1" fmla="*/ 62 h 48"/>
                <a:gd name="T2" fmla="*/ 1479 w 157"/>
                <a:gd name="T3" fmla="*/ 49 h 48"/>
                <a:gd name="T4" fmla="*/ 2626 w 157"/>
                <a:gd name="T5" fmla="*/ 46 h 48"/>
                <a:gd name="T6" fmla="*/ 3541 w 157"/>
                <a:gd name="T7" fmla="*/ 46 h 48"/>
                <a:gd name="T8" fmla="*/ 4443 w 157"/>
                <a:gd name="T9" fmla="*/ 52 h 48"/>
                <a:gd name="T10" fmla="*/ 5544 w 157"/>
                <a:gd name="T11" fmla="*/ 62 h 48"/>
                <a:gd name="T12" fmla="*/ 6530 w 157"/>
                <a:gd name="T13" fmla="*/ 79 h 48"/>
                <a:gd name="T14" fmla="*/ 7435 w 157"/>
                <a:gd name="T15" fmla="*/ 92 h 48"/>
                <a:gd name="T16" fmla="*/ 8570 w 157"/>
                <a:gd name="T17" fmla="*/ 107 h 48"/>
                <a:gd name="T18" fmla="*/ 9684 w 157"/>
                <a:gd name="T19" fmla="*/ 125 h 48"/>
                <a:gd name="T20" fmla="*/ 10952 w 157"/>
                <a:gd name="T21" fmla="*/ 141 h 48"/>
                <a:gd name="T22" fmla="*/ 11959 w 157"/>
                <a:gd name="T23" fmla="*/ 154 h 48"/>
                <a:gd name="T24" fmla="*/ 13258 w 157"/>
                <a:gd name="T25" fmla="*/ 165 h 48"/>
                <a:gd name="T26" fmla="*/ 14399 w 157"/>
                <a:gd name="T27" fmla="*/ 166 h 48"/>
                <a:gd name="T28" fmla="*/ 15789 w 157"/>
                <a:gd name="T29" fmla="*/ 166 h 48"/>
                <a:gd name="T30" fmla="*/ 17015 w 157"/>
                <a:gd name="T31" fmla="*/ 165 h 48"/>
                <a:gd name="T32" fmla="*/ 18396 w 157"/>
                <a:gd name="T33" fmla="*/ 154 h 48"/>
                <a:gd name="T34" fmla="*/ 17681 w 157"/>
                <a:gd name="T35" fmla="*/ 104 h 48"/>
                <a:gd name="T36" fmla="*/ 16572 w 157"/>
                <a:gd name="T37" fmla="*/ 118 h 48"/>
                <a:gd name="T38" fmla="*/ 15685 w 157"/>
                <a:gd name="T39" fmla="*/ 121 h 48"/>
                <a:gd name="T40" fmla="*/ 14661 w 157"/>
                <a:gd name="T41" fmla="*/ 121 h 48"/>
                <a:gd name="T42" fmla="*/ 13493 w 157"/>
                <a:gd name="T43" fmla="*/ 118 h 48"/>
                <a:gd name="T44" fmla="*/ 12500 w 157"/>
                <a:gd name="T45" fmla="*/ 104 h 48"/>
                <a:gd name="T46" fmla="*/ 11475 w 157"/>
                <a:gd name="T47" fmla="*/ 95 h 48"/>
                <a:gd name="T48" fmla="*/ 10282 w 157"/>
                <a:gd name="T49" fmla="*/ 79 h 48"/>
                <a:gd name="T50" fmla="*/ 9329 w 157"/>
                <a:gd name="T51" fmla="*/ 62 h 48"/>
                <a:gd name="T52" fmla="*/ 8388 w 157"/>
                <a:gd name="T53" fmla="*/ 49 h 48"/>
                <a:gd name="T54" fmla="*/ 7243 w 157"/>
                <a:gd name="T55" fmla="*/ 36 h 48"/>
                <a:gd name="T56" fmla="*/ 6117 w 157"/>
                <a:gd name="T57" fmla="*/ 5 h 48"/>
                <a:gd name="T58" fmla="*/ 4973 w 157"/>
                <a:gd name="T59" fmla="*/ 2 h 48"/>
                <a:gd name="T60" fmla="*/ 3756 w 157"/>
                <a:gd name="T61" fmla="*/ 0 h 48"/>
                <a:gd name="T62" fmla="*/ 2390 w 157"/>
                <a:gd name="T63" fmla="*/ 0 h 48"/>
                <a:gd name="T64" fmla="*/ 1333 w 157"/>
                <a:gd name="T65" fmla="*/ 1 h 48"/>
                <a:gd name="T66" fmla="*/ 0 w 157"/>
                <a:gd name="T67" fmla="*/ 5 h 48"/>
                <a:gd name="T68" fmla="*/ 597 w 157"/>
                <a:gd name="T69" fmla="*/ 62 h 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48"/>
                <a:gd name="T107" fmla="*/ 157 w 157"/>
                <a:gd name="T108" fmla="*/ 48 h 4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48">
                  <a:moveTo>
                    <a:pt x="5" y="18"/>
                  </a:moveTo>
                  <a:lnTo>
                    <a:pt x="13" y="14"/>
                  </a:lnTo>
                  <a:lnTo>
                    <a:pt x="22" y="13"/>
                  </a:lnTo>
                  <a:lnTo>
                    <a:pt x="30" y="13"/>
                  </a:lnTo>
                  <a:lnTo>
                    <a:pt x="38" y="15"/>
                  </a:lnTo>
                  <a:lnTo>
                    <a:pt x="47" y="18"/>
                  </a:lnTo>
                  <a:lnTo>
                    <a:pt x="56" y="22"/>
                  </a:lnTo>
                  <a:lnTo>
                    <a:pt x="64" y="25"/>
                  </a:lnTo>
                  <a:lnTo>
                    <a:pt x="73" y="30"/>
                  </a:lnTo>
                  <a:lnTo>
                    <a:pt x="83" y="35"/>
                  </a:lnTo>
                  <a:lnTo>
                    <a:pt x="93" y="39"/>
                  </a:lnTo>
                  <a:lnTo>
                    <a:pt x="102" y="42"/>
                  </a:lnTo>
                  <a:lnTo>
                    <a:pt x="113" y="46"/>
                  </a:lnTo>
                  <a:lnTo>
                    <a:pt x="123" y="47"/>
                  </a:lnTo>
                  <a:lnTo>
                    <a:pt x="134" y="47"/>
                  </a:lnTo>
                  <a:lnTo>
                    <a:pt x="145" y="46"/>
                  </a:lnTo>
                  <a:lnTo>
                    <a:pt x="156" y="42"/>
                  </a:lnTo>
                  <a:lnTo>
                    <a:pt x="151" y="29"/>
                  </a:lnTo>
                  <a:lnTo>
                    <a:pt x="141" y="33"/>
                  </a:lnTo>
                  <a:lnTo>
                    <a:pt x="133" y="34"/>
                  </a:lnTo>
                  <a:lnTo>
                    <a:pt x="124" y="34"/>
                  </a:lnTo>
                  <a:lnTo>
                    <a:pt x="115" y="33"/>
                  </a:lnTo>
                  <a:lnTo>
                    <a:pt x="106" y="29"/>
                  </a:lnTo>
                  <a:lnTo>
                    <a:pt x="98" y="26"/>
                  </a:lnTo>
                  <a:lnTo>
                    <a:pt x="88" y="22"/>
                  </a:lnTo>
                  <a:lnTo>
                    <a:pt x="80" y="18"/>
                  </a:lnTo>
                  <a:lnTo>
                    <a:pt x="71" y="14"/>
                  </a:lnTo>
                  <a:lnTo>
                    <a:pt x="61" y="9"/>
                  </a:lnTo>
                  <a:lnTo>
                    <a:pt x="52" y="5"/>
                  </a:lnTo>
                  <a:lnTo>
                    <a:pt x="42" y="2"/>
                  </a:lnTo>
                  <a:lnTo>
                    <a:pt x="32" y="0"/>
                  </a:lnTo>
                  <a:lnTo>
                    <a:pt x="21" y="0"/>
                  </a:lnTo>
                  <a:lnTo>
                    <a:pt x="11" y="1"/>
                  </a:lnTo>
                  <a:lnTo>
                    <a:pt x="0" y="5"/>
                  </a:lnTo>
                  <a:lnTo>
                    <a:pt x="5" y="1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6" name="Freeform 284">
              <a:extLst>
                <a:ext uri="{FF2B5EF4-FFF2-40B4-BE49-F238E27FC236}">
                  <a16:creationId xmlns:a16="http://schemas.microsoft.com/office/drawing/2014/main" id="{2FD61B4E-2525-3E20-73FD-A80A8BCCC3F4}"/>
                </a:ext>
              </a:extLst>
            </p:cNvPr>
            <p:cNvSpPr>
              <a:spLocks/>
            </p:cNvSpPr>
            <p:nvPr/>
          </p:nvSpPr>
          <p:spPr bwMode="auto">
            <a:xfrm>
              <a:off x="4039" y="2628"/>
              <a:ext cx="76" cy="141"/>
            </a:xfrm>
            <a:custGeom>
              <a:avLst/>
              <a:gdLst>
                <a:gd name="T0" fmla="*/ 1023 w 60"/>
                <a:gd name="T1" fmla="*/ 601 h 131"/>
                <a:gd name="T2" fmla="*/ 889 w 60"/>
                <a:gd name="T3" fmla="*/ 609 h 131"/>
                <a:gd name="T4" fmla="*/ 2080 w 60"/>
                <a:gd name="T5" fmla="*/ 590 h 131"/>
                <a:gd name="T6" fmla="*/ 2986 w 60"/>
                <a:gd name="T7" fmla="*/ 550 h 131"/>
                <a:gd name="T8" fmla="*/ 3671 w 60"/>
                <a:gd name="T9" fmla="*/ 517 h 131"/>
                <a:gd name="T10" fmla="*/ 3947 w 60"/>
                <a:gd name="T11" fmla="*/ 480 h 131"/>
                <a:gd name="T12" fmla="*/ 4303 w 60"/>
                <a:gd name="T13" fmla="*/ 440 h 131"/>
                <a:gd name="T14" fmla="*/ 4399 w 60"/>
                <a:gd name="T15" fmla="*/ 408 h 131"/>
                <a:gd name="T16" fmla="*/ 4650 w 60"/>
                <a:gd name="T17" fmla="*/ 358 h 131"/>
                <a:gd name="T18" fmla="*/ 4650 w 60"/>
                <a:gd name="T19" fmla="*/ 321 h 131"/>
                <a:gd name="T20" fmla="*/ 4751 w 60"/>
                <a:gd name="T21" fmla="*/ 282 h 131"/>
                <a:gd name="T22" fmla="*/ 4791 w 60"/>
                <a:gd name="T23" fmla="*/ 230 h 131"/>
                <a:gd name="T24" fmla="*/ 5114 w 60"/>
                <a:gd name="T25" fmla="*/ 196 h 131"/>
                <a:gd name="T26" fmla="*/ 5450 w 60"/>
                <a:gd name="T27" fmla="*/ 168 h 131"/>
                <a:gd name="T28" fmla="*/ 5890 w 60"/>
                <a:gd name="T29" fmla="*/ 128 h 131"/>
                <a:gd name="T30" fmla="*/ 6400 w 60"/>
                <a:gd name="T31" fmla="*/ 103 h 131"/>
                <a:gd name="T32" fmla="*/ 7461 w 60"/>
                <a:gd name="T33" fmla="*/ 83 h 131"/>
                <a:gd name="T34" fmla="*/ 8440 w 60"/>
                <a:gd name="T35" fmla="*/ 58 h 131"/>
                <a:gd name="T36" fmla="*/ 7687 w 60"/>
                <a:gd name="T37" fmla="*/ 0 h 131"/>
                <a:gd name="T38" fmla="*/ 6333 w 60"/>
                <a:gd name="T39" fmla="*/ 6 h 131"/>
                <a:gd name="T40" fmla="*/ 5114 w 60"/>
                <a:gd name="T41" fmla="*/ 58 h 131"/>
                <a:gd name="T42" fmla="*/ 4303 w 60"/>
                <a:gd name="T43" fmla="*/ 96 h 131"/>
                <a:gd name="T44" fmla="*/ 3671 w 60"/>
                <a:gd name="T45" fmla="*/ 136 h 131"/>
                <a:gd name="T46" fmla="*/ 3338 w 60"/>
                <a:gd name="T47" fmla="*/ 182 h 131"/>
                <a:gd name="T48" fmla="*/ 2986 w 60"/>
                <a:gd name="T49" fmla="*/ 227 h 131"/>
                <a:gd name="T50" fmla="*/ 2898 w 60"/>
                <a:gd name="T51" fmla="*/ 264 h 131"/>
                <a:gd name="T52" fmla="*/ 2682 w 60"/>
                <a:gd name="T53" fmla="*/ 306 h 131"/>
                <a:gd name="T54" fmla="*/ 2682 w 60"/>
                <a:gd name="T55" fmla="*/ 353 h 131"/>
                <a:gd name="T56" fmla="*/ 2635 w 60"/>
                <a:gd name="T57" fmla="*/ 392 h 131"/>
                <a:gd name="T58" fmla="*/ 2460 w 60"/>
                <a:gd name="T59" fmla="*/ 435 h 131"/>
                <a:gd name="T60" fmla="*/ 2117 w 60"/>
                <a:gd name="T61" fmla="*/ 468 h 131"/>
                <a:gd name="T62" fmla="*/ 1806 w 60"/>
                <a:gd name="T63" fmla="*/ 499 h 131"/>
                <a:gd name="T64" fmla="*/ 1426 w 60"/>
                <a:gd name="T65" fmla="*/ 511 h 131"/>
                <a:gd name="T66" fmla="*/ 889 w 60"/>
                <a:gd name="T67" fmla="*/ 538 h 131"/>
                <a:gd name="T68" fmla="*/ 1 w 60"/>
                <a:gd name="T69" fmla="*/ 549 h 131"/>
                <a:gd name="T70" fmla="*/ 0 w 60"/>
                <a:gd name="T71" fmla="*/ 550 h 131"/>
                <a:gd name="T72" fmla="*/ 1 w 60"/>
                <a:gd name="T73" fmla="*/ 549 h 131"/>
                <a:gd name="T74" fmla="*/ 1 w 60"/>
                <a:gd name="T75" fmla="*/ 550 h 131"/>
                <a:gd name="T76" fmla="*/ 0 w 60"/>
                <a:gd name="T77" fmla="*/ 550 h 131"/>
                <a:gd name="T78" fmla="*/ 1023 w 60"/>
                <a:gd name="T79" fmla="*/ 601 h 13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0"/>
                <a:gd name="T121" fmla="*/ 0 h 131"/>
                <a:gd name="T122" fmla="*/ 60 w 60"/>
                <a:gd name="T123" fmla="*/ 131 h 13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0" h="131">
                  <a:moveTo>
                    <a:pt x="7" y="129"/>
                  </a:moveTo>
                  <a:lnTo>
                    <a:pt x="6" y="130"/>
                  </a:lnTo>
                  <a:lnTo>
                    <a:pt x="14" y="125"/>
                  </a:lnTo>
                  <a:lnTo>
                    <a:pt x="21" y="118"/>
                  </a:lnTo>
                  <a:lnTo>
                    <a:pt x="25" y="111"/>
                  </a:lnTo>
                  <a:lnTo>
                    <a:pt x="28" y="103"/>
                  </a:lnTo>
                  <a:lnTo>
                    <a:pt x="30" y="94"/>
                  </a:lnTo>
                  <a:lnTo>
                    <a:pt x="31" y="86"/>
                  </a:lnTo>
                  <a:lnTo>
                    <a:pt x="32" y="77"/>
                  </a:lnTo>
                  <a:lnTo>
                    <a:pt x="32" y="68"/>
                  </a:lnTo>
                  <a:lnTo>
                    <a:pt x="33" y="59"/>
                  </a:lnTo>
                  <a:lnTo>
                    <a:pt x="34" y="50"/>
                  </a:lnTo>
                  <a:lnTo>
                    <a:pt x="36" y="42"/>
                  </a:lnTo>
                  <a:lnTo>
                    <a:pt x="38" y="35"/>
                  </a:lnTo>
                  <a:lnTo>
                    <a:pt x="41" y="28"/>
                  </a:lnTo>
                  <a:lnTo>
                    <a:pt x="45" y="22"/>
                  </a:lnTo>
                  <a:lnTo>
                    <a:pt x="52" y="18"/>
                  </a:lnTo>
                  <a:lnTo>
                    <a:pt x="59" y="13"/>
                  </a:lnTo>
                  <a:lnTo>
                    <a:pt x="54" y="0"/>
                  </a:lnTo>
                  <a:lnTo>
                    <a:pt x="44" y="6"/>
                  </a:lnTo>
                  <a:lnTo>
                    <a:pt x="36" y="13"/>
                  </a:lnTo>
                  <a:lnTo>
                    <a:pt x="30" y="20"/>
                  </a:lnTo>
                  <a:lnTo>
                    <a:pt x="25" y="29"/>
                  </a:lnTo>
                  <a:lnTo>
                    <a:pt x="23" y="39"/>
                  </a:lnTo>
                  <a:lnTo>
                    <a:pt x="21" y="48"/>
                  </a:lnTo>
                  <a:lnTo>
                    <a:pt x="20" y="57"/>
                  </a:lnTo>
                  <a:lnTo>
                    <a:pt x="19" y="66"/>
                  </a:lnTo>
                  <a:lnTo>
                    <a:pt x="19" y="75"/>
                  </a:lnTo>
                  <a:lnTo>
                    <a:pt x="18" y="84"/>
                  </a:lnTo>
                  <a:lnTo>
                    <a:pt x="17" y="92"/>
                  </a:lnTo>
                  <a:lnTo>
                    <a:pt x="15" y="99"/>
                  </a:lnTo>
                  <a:lnTo>
                    <a:pt x="13" y="105"/>
                  </a:lnTo>
                  <a:lnTo>
                    <a:pt x="10" y="110"/>
                  </a:lnTo>
                  <a:lnTo>
                    <a:pt x="6" y="114"/>
                  </a:lnTo>
                  <a:lnTo>
                    <a:pt x="1" y="117"/>
                  </a:lnTo>
                  <a:lnTo>
                    <a:pt x="0" y="118"/>
                  </a:lnTo>
                  <a:lnTo>
                    <a:pt x="1" y="117"/>
                  </a:lnTo>
                  <a:lnTo>
                    <a:pt x="1" y="118"/>
                  </a:lnTo>
                  <a:lnTo>
                    <a:pt x="0" y="118"/>
                  </a:lnTo>
                  <a:lnTo>
                    <a:pt x="7" y="129"/>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7" name="Freeform 285">
              <a:extLst>
                <a:ext uri="{FF2B5EF4-FFF2-40B4-BE49-F238E27FC236}">
                  <a16:creationId xmlns:a16="http://schemas.microsoft.com/office/drawing/2014/main" id="{26AED710-CF3E-4989-CD38-5B934C29B798}"/>
                </a:ext>
              </a:extLst>
            </p:cNvPr>
            <p:cNvSpPr>
              <a:spLocks/>
            </p:cNvSpPr>
            <p:nvPr/>
          </p:nvSpPr>
          <p:spPr bwMode="auto">
            <a:xfrm>
              <a:off x="4034" y="2754"/>
              <a:ext cx="15" cy="17"/>
            </a:xfrm>
            <a:custGeom>
              <a:avLst/>
              <a:gdLst>
                <a:gd name="T0" fmla="*/ 364 w 12"/>
                <a:gd name="T1" fmla="*/ 100 h 15"/>
                <a:gd name="T2" fmla="*/ 744 w 12"/>
                <a:gd name="T3" fmla="*/ 186 h 15"/>
                <a:gd name="T4" fmla="*/ 1163 w 12"/>
                <a:gd name="T5" fmla="*/ 164 h 15"/>
                <a:gd name="T6" fmla="*/ 455 w 12"/>
                <a:gd name="T7" fmla="*/ 0 h 15"/>
                <a:gd name="T8" fmla="*/ 0 w 12"/>
                <a:gd name="T9" fmla="*/ 2 h 15"/>
                <a:gd name="T10" fmla="*/ 364 w 12"/>
                <a:gd name="T11" fmla="*/ 100 h 15"/>
                <a:gd name="T12" fmla="*/ 0 60000 65536"/>
                <a:gd name="T13" fmla="*/ 0 60000 65536"/>
                <a:gd name="T14" fmla="*/ 0 60000 65536"/>
                <a:gd name="T15" fmla="*/ 0 60000 65536"/>
                <a:gd name="T16" fmla="*/ 0 60000 65536"/>
                <a:gd name="T17" fmla="*/ 0 60000 65536"/>
                <a:gd name="T18" fmla="*/ 0 w 12"/>
                <a:gd name="T19" fmla="*/ 0 h 15"/>
                <a:gd name="T20" fmla="*/ 12 w 12"/>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2" h="15">
                  <a:moveTo>
                    <a:pt x="3" y="8"/>
                  </a:moveTo>
                  <a:lnTo>
                    <a:pt x="7" y="14"/>
                  </a:lnTo>
                  <a:lnTo>
                    <a:pt x="11" y="12"/>
                  </a:lnTo>
                  <a:lnTo>
                    <a:pt x="4" y="0"/>
                  </a:lnTo>
                  <a:lnTo>
                    <a:pt x="0" y="2"/>
                  </a:lnTo>
                  <a:lnTo>
                    <a:pt x="3" y="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8" name="Freeform 286">
              <a:extLst>
                <a:ext uri="{FF2B5EF4-FFF2-40B4-BE49-F238E27FC236}">
                  <a16:creationId xmlns:a16="http://schemas.microsoft.com/office/drawing/2014/main" id="{00B98BF4-2E88-7E21-9146-DB87F6C75950}"/>
                </a:ext>
              </a:extLst>
            </p:cNvPr>
            <p:cNvSpPr>
              <a:spLocks/>
            </p:cNvSpPr>
            <p:nvPr/>
          </p:nvSpPr>
          <p:spPr bwMode="auto">
            <a:xfrm>
              <a:off x="4755" y="2386"/>
              <a:ext cx="152" cy="79"/>
            </a:xfrm>
            <a:custGeom>
              <a:avLst/>
              <a:gdLst>
                <a:gd name="T0" fmla="*/ 3418 w 122"/>
                <a:gd name="T1" fmla="*/ 187 h 73"/>
                <a:gd name="T2" fmla="*/ 0 w 122"/>
                <a:gd name="T3" fmla="*/ 89 h 73"/>
                <a:gd name="T4" fmla="*/ 1 w 122"/>
                <a:gd name="T5" fmla="*/ 82 h 73"/>
                <a:gd name="T6" fmla="*/ 6299 w 122"/>
                <a:gd name="T7" fmla="*/ 60 h 73"/>
                <a:gd name="T8" fmla="*/ 6961 w 122"/>
                <a:gd name="T9" fmla="*/ 51 h 73"/>
                <a:gd name="T10" fmla="*/ 7848 w 122"/>
                <a:gd name="T11" fmla="*/ 43 h 73"/>
                <a:gd name="T12" fmla="*/ 8505 w 122"/>
                <a:gd name="T13" fmla="*/ 40 h 73"/>
                <a:gd name="T14" fmla="*/ 9349 w 122"/>
                <a:gd name="T15" fmla="*/ 6 h 73"/>
                <a:gd name="T16" fmla="*/ 10006 w 122"/>
                <a:gd name="T17" fmla="*/ 4 h 73"/>
                <a:gd name="T18" fmla="*/ 10650 w 122"/>
                <a:gd name="T19" fmla="*/ 3 h 73"/>
                <a:gd name="T20" fmla="*/ 11553 w 122"/>
                <a:gd name="T21" fmla="*/ 1 h 73"/>
                <a:gd name="T22" fmla="*/ 12285 w 122"/>
                <a:gd name="T23" fmla="*/ 0 h 73"/>
                <a:gd name="T24" fmla="*/ 11829 w 122"/>
                <a:gd name="T25" fmla="*/ 4 h 73"/>
                <a:gd name="T26" fmla="*/ 11112 w 122"/>
                <a:gd name="T27" fmla="*/ 43 h 73"/>
                <a:gd name="T28" fmla="*/ 10584 w 122"/>
                <a:gd name="T29" fmla="*/ 60 h 73"/>
                <a:gd name="T30" fmla="*/ 9860 w 122"/>
                <a:gd name="T31" fmla="*/ 82 h 73"/>
                <a:gd name="T32" fmla="*/ 9349 w 122"/>
                <a:gd name="T33" fmla="*/ 105 h 73"/>
                <a:gd name="T34" fmla="*/ 8673 w 122"/>
                <a:gd name="T35" fmla="*/ 123 h 73"/>
                <a:gd name="T36" fmla="*/ 7935 w 122"/>
                <a:gd name="T37" fmla="*/ 155 h 73"/>
                <a:gd name="T38" fmla="*/ 7391 w 122"/>
                <a:gd name="T39" fmla="*/ 169 h 73"/>
                <a:gd name="T40" fmla="*/ 3257 w 122"/>
                <a:gd name="T41" fmla="*/ 373 h 73"/>
                <a:gd name="T42" fmla="*/ 2971 w 122"/>
                <a:gd name="T43" fmla="*/ 373 h 73"/>
                <a:gd name="T44" fmla="*/ 3418 w 122"/>
                <a:gd name="T45" fmla="*/ 187 h 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2"/>
                <a:gd name="T70" fmla="*/ 0 h 73"/>
                <a:gd name="T71" fmla="*/ 122 w 122"/>
                <a:gd name="T72" fmla="*/ 73 h 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2" h="73">
                  <a:moveTo>
                    <a:pt x="34" y="36"/>
                  </a:moveTo>
                  <a:lnTo>
                    <a:pt x="0" y="17"/>
                  </a:lnTo>
                  <a:lnTo>
                    <a:pt x="1" y="16"/>
                  </a:lnTo>
                  <a:lnTo>
                    <a:pt x="62" y="12"/>
                  </a:lnTo>
                  <a:lnTo>
                    <a:pt x="69" y="10"/>
                  </a:lnTo>
                  <a:lnTo>
                    <a:pt x="77" y="8"/>
                  </a:lnTo>
                  <a:lnTo>
                    <a:pt x="84" y="7"/>
                  </a:lnTo>
                  <a:lnTo>
                    <a:pt x="92" y="6"/>
                  </a:lnTo>
                  <a:lnTo>
                    <a:pt x="99" y="4"/>
                  </a:lnTo>
                  <a:lnTo>
                    <a:pt x="106" y="3"/>
                  </a:lnTo>
                  <a:lnTo>
                    <a:pt x="114" y="1"/>
                  </a:lnTo>
                  <a:lnTo>
                    <a:pt x="121" y="0"/>
                  </a:lnTo>
                  <a:lnTo>
                    <a:pt x="116" y="4"/>
                  </a:lnTo>
                  <a:lnTo>
                    <a:pt x="110" y="8"/>
                  </a:lnTo>
                  <a:lnTo>
                    <a:pt x="104" y="12"/>
                  </a:lnTo>
                  <a:lnTo>
                    <a:pt x="97" y="16"/>
                  </a:lnTo>
                  <a:lnTo>
                    <a:pt x="92" y="20"/>
                  </a:lnTo>
                  <a:lnTo>
                    <a:pt x="86" y="24"/>
                  </a:lnTo>
                  <a:lnTo>
                    <a:pt x="79" y="29"/>
                  </a:lnTo>
                  <a:lnTo>
                    <a:pt x="73" y="32"/>
                  </a:lnTo>
                  <a:lnTo>
                    <a:pt x="32" y="72"/>
                  </a:lnTo>
                  <a:lnTo>
                    <a:pt x="30" y="72"/>
                  </a:lnTo>
                  <a:lnTo>
                    <a:pt x="34" y="3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39" name="Freeform 287">
              <a:extLst>
                <a:ext uri="{FF2B5EF4-FFF2-40B4-BE49-F238E27FC236}">
                  <a16:creationId xmlns:a16="http://schemas.microsoft.com/office/drawing/2014/main" id="{23D6A55A-8853-B413-D25A-91D42CA96EC0}"/>
                </a:ext>
              </a:extLst>
            </p:cNvPr>
            <p:cNvSpPr>
              <a:spLocks/>
            </p:cNvSpPr>
            <p:nvPr/>
          </p:nvSpPr>
          <p:spPr bwMode="auto">
            <a:xfrm>
              <a:off x="2950" y="3206"/>
              <a:ext cx="146" cy="143"/>
            </a:xfrm>
            <a:custGeom>
              <a:avLst/>
              <a:gdLst>
                <a:gd name="T0" fmla="*/ 11484 w 117"/>
                <a:gd name="T1" fmla="*/ 0 h 132"/>
                <a:gd name="T2" fmla="*/ 10586 w 117"/>
                <a:gd name="T3" fmla="*/ 28 h 132"/>
                <a:gd name="T4" fmla="*/ 9767 w 117"/>
                <a:gd name="T5" fmla="*/ 63 h 132"/>
                <a:gd name="T6" fmla="*/ 9390 w 117"/>
                <a:gd name="T7" fmla="*/ 104 h 132"/>
                <a:gd name="T8" fmla="*/ 9166 w 117"/>
                <a:gd name="T9" fmla="*/ 138 h 132"/>
                <a:gd name="T10" fmla="*/ 8971 w 117"/>
                <a:gd name="T11" fmla="*/ 177 h 132"/>
                <a:gd name="T12" fmla="*/ 8900 w 117"/>
                <a:gd name="T13" fmla="*/ 209 h 132"/>
                <a:gd name="T14" fmla="*/ 8756 w 117"/>
                <a:gd name="T15" fmla="*/ 245 h 132"/>
                <a:gd name="T16" fmla="*/ 8756 w 117"/>
                <a:gd name="T17" fmla="*/ 286 h 132"/>
                <a:gd name="T18" fmla="*/ 8483 w 117"/>
                <a:gd name="T19" fmla="*/ 313 h 132"/>
                <a:gd name="T20" fmla="*/ 8119 w 117"/>
                <a:gd name="T21" fmla="*/ 343 h 132"/>
                <a:gd name="T22" fmla="*/ 7638 w 117"/>
                <a:gd name="T23" fmla="*/ 376 h 132"/>
                <a:gd name="T24" fmla="*/ 6810 w 117"/>
                <a:gd name="T25" fmla="*/ 428 h 132"/>
                <a:gd name="T26" fmla="*/ 5761 w 117"/>
                <a:gd name="T27" fmla="*/ 473 h 132"/>
                <a:gd name="T28" fmla="*/ 4321 w 117"/>
                <a:gd name="T29" fmla="*/ 518 h 132"/>
                <a:gd name="T30" fmla="*/ 2427 w 117"/>
                <a:gd name="T31" fmla="*/ 581 h 132"/>
                <a:gd name="T32" fmla="*/ 0 w 117"/>
                <a:gd name="T33" fmla="*/ 639 h 132"/>
                <a:gd name="T34" fmla="*/ 453 w 117"/>
                <a:gd name="T35" fmla="*/ 705 h 132"/>
                <a:gd name="T36" fmla="*/ 3029 w 117"/>
                <a:gd name="T37" fmla="*/ 644 h 132"/>
                <a:gd name="T38" fmla="*/ 5008 w 117"/>
                <a:gd name="T39" fmla="*/ 590 h 132"/>
                <a:gd name="T40" fmla="*/ 6689 w 117"/>
                <a:gd name="T41" fmla="*/ 523 h 132"/>
                <a:gd name="T42" fmla="*/ 7827 w 117"/>
                <a:gd name="T43" fmla="*/ 477 h 132"/>
                <a:gd name="T44" fmla="*/ 8756 w 117"/>
                <a:gd name="T45" fmla="*/ 431 h 132"/>
                <a:gd name="T46" fmla="*/ 9390 w 117"/>
                <a:gd name="T47" fmla="*/ 376 h 132"/>
                <a:gd name="T48" fmla="*/ 9767 w 117"/>
                <a:gd name="T49" fmla="*/ 339 h 132"/>
                <a:gd name="T50" fmla="*/ 10131 w 117"/>
                <a:gd name="T51" fmla="*/ 289 h 132"/>
                <a:gd name="T52" fmla="*/ 10131 w 117"/>
                <a:gd name="T53" fmla="*/ 246 h 132"/>
                <a:gd name="T54" fmla="*/ 10204 w 117"/>
                <a:gd name="T55" fmla="*/ 225 h 132"/>
                <a:gd name="T56" fmla="*/ 10416 w 117"/>
                <a:gd name="T57" fmla="*/ 192 h 132"/>
                <a:gd name="T58" fmla="*/ 10477 w 117"/>
                <a:gd name="T59" fmla="*/ 163 h 132"/>
                <a:gd name="T60" fmla="*/ 10604 w 117"/>
                <a:gd name="T61" fmla="*/ 132 h 132"/>
                <a:gd name="T62" fmla="*/ 10856 w 117"/>
                <a:gd name="T63" fmla="*/ 113 h 132"/>
                <a:gd name="T64" fmla="*/ 11484 w 117"/>
                <a:gd name="T65" fmla="*/ 82 h 132"/>
                <a:gd name="T66" fmla="*/ 12173 w 117"/>
                <a:gd name="T67" fmla="*/ 58 h 132"/>
                <a:gd name="T68" fmla="*/ 11484 w 117"/>
                <a:gd name="T69" fmla="*/ 0 h 13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7"/>
                <a:gd name="T106" fmla="*/ 0 h 132"/>
                <a:gd name="T107" fmla="*/ 117 w 117"/>
                <a:gd name="T108" fmla="*/ 132 h 13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7" h="132">
                  <a:moveTo>
                    <a:pt x="110" y="0"/>
                  </a:moveTo>
                  <a:lnTo>
                    <a:pt x="101" y="6"/>
                  </a:lnTo>
                  <a:lnTo>
                    <a:pt x="94" y="12"/>
                  </a:lnTo>
                  <a:lnTo>
                    <a:pt x="90" y="19"/>
                  </a:lnTo>
                  <a:lnTo>
                    <a:pt x="87" y="26"/>
                  </a:lnTo>
                  <a:lnTo>
                    <a:pt x="86" y="32"/>
                  </a:lnTo>
                  <a:lnTo>
                    <a:pt x="85" y="39"/>
                  </a:lnTo>
                  <a:lnTo>
                    <a:pt x="84" y="45"/>
                  </a:lnTo>
                  <a:lnTo>
                    <a:pt x="84" y="52"/>
                  </a:lnTo>
                  <a:lnTo>
                    <a:pt x="81" y="58"/>
                  </a:lnTo>
                  <a:lnTo>
                    <a:pt x="78" y="64"/>
                  </a:lnTo>
                  <a:lnTo>
                    <a:pt x="73" y="71"/>
                  </a:lnTo>
                  <a:lnTo>
                    <a:pt x="66" y="79"/>
                  </a:lnTo>
                  <a:lnTo>
                    <a:pt x="55" y="88"/>
                  </a:lnTo>
                  <a:lnTo>
                    <a:pt x="41" y="97"/>
                  </a:lnTo>
                  <a:lnTo>
                    <a:pt x="23" y="108"/>
                  </a:lnTo>
                  <a:lnTo>
                    <a:pt x="0" y="118"/>
                  </a:lnTo>
                  <a:lnTo>
                    <a:pt x="5" y="131"/>
                  </a:lnTo>
                  <a:lnTo>
                    <a:pt x="29" y="119"/>
                  </a:lnTo>
                  <a:lnTo>
                    <a:pt x="47" y="109"/>
                  </a:lnTo>
                  <a:lnTo>
                    <a:pt x="63" y="98"/>
                  </a:lnTo>
                  <a:lnTo>
                    <a:pt x="75" y="89"/>
                  </a:lnTo>
                  <a:lnTo>
                    <a:pt x="84" y="80"/>
                  </a:lnTo>
                  <a:lnTo>
                    <a:pt x="90" y="71"/>
                  </a:lnTo>
                  <a:lnTo>
                    <a:pt x="94" y="63"/>
                  </a:lnTo>
                  <a:lnTo>
                    <a:pt x="97" y="54"/>
                  </a:lnTo>
                  <a:lnTo>
                    <a:pt x="97" y="46"/>
                  </a:lnTo>
                  <a:lnTo>
                    <a:pt x="98" y="41"/>
                  </a:lnTo>
                  <a:lnTo>
                    <a:pt x="99" y="35"/>
                  </a:lnTo>
                  <a:lnTo>
                    <a:pt x="100" y="30"/>
                  </a:lnTo>
                  <a:lnTo>
                    <a:pt x="102" y="25"/>
                  </a:lnTo>
                  <a:lnTo>
                    <a:pt x="104" y="21"/>
                  </a:lnTo>
                  <a:lnTo>
                    <a:pt x="110" y="16"/>
                  </a:lnTo>
                  <a:lnTo>
                    <a:pt x="116" y="11"/>
                  </a:lnTo>
                  <a:lnTo>
                    <a:pt x="110"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0" name="Freeform 288">
              <a:extLst>
                <a:ext uri="{FF2B5EF4-FFF2-40B4-BE49-F238E27FC236}">
                  <a16:creationId xmlns:a16="http://schemas.microsoft.com/office/drawing/2014/main" id="{F854CC6A-DE33-8456-BE37-DB9CBD231C6E}"/>
                </a:ext>
              </a:extLst>
            </p:cNvPr>
            <p:cNvSpPr>
              <a:spLocks/>
            </p:cNvSpPr>
            <p:nvPr/>
          </p:nvSpPr>
          <p:spPr bwMode="auto">
            <a:xfrm>
              <a:off x="3086" y="3197"/>
              <a:ext cx="207" cy="43"/>
            </a:xfrm>
            <a:custGeom>
              <a:avLst/>
              <a:gdLst>
                <a:gd name="T0" fmla="*/ 18363 w 165"/>
                <a:gd name="T1" fmla="*/ 95 h 40"/>
                <a:gd name="T2" fmla="*/ 17480 w 165"/>
                <a:gd name="T3" fmla="*/ 104 h 40"/>
                <a:gd name="T4" fmla="*/ 16540 w 165"/>
                <a:gd name="T5" fmla="*/ 112 h 40"/>
                <a:gd name="T6" fmla="*/ 15427 w 165"/>
                <a:gd name="T7" fmla="*/ 112 h 40"/>
                <a:gd name="T8" fmla="*/ 14615 w 165"/>
                <a:gd name="T9" fmla="*/ 110 h 40"/>
                <a:gd name="T10" fmla="*/ 13468 w 165"/>
                <a:gd name="T11" fmla="*/ 102 h 40"/>
                <a:gd name="T12" fmla="*/ 12297 w 165"/>
                <a:gd name="T13" fmla="*/ 88 h 40"/>
                <a:gd name="T14" fmla="*/ 11184 w 165"/>
                <a:gd name="T15" fmla="*/ 71 h 40"/>
                <a:gd name="T16" fmla="*/ 10031 w 165"/>
                <a:gd name="T17" fmla="*/ 53 h 40"/>
                <a:gd name="T18" fmla="*/ 8841 w 165"/>
                <a:gd name="T19" fmla="*/ 43 h 40"/>
                <a:gd name="T20" fmla="*/ 7648 w 165"/>
                <a:gd name="T21" fmla="*/ 5 h 40"/>
                <a:gd name="T22" fmla="*/ 6492 w 165"/>
                <a:gd name="T23" fmla="*/ 2 h 40"/>
                <a:gd name="T24" fmla="*/ 5175 w 165"/>
                <a:gd name="T25" fmla="*/ 1 h 40"/>
                <a:gd name="T26" fmla="*/ 3754 w 165"/>
                <a:gd name="T27" fmla="*/ 0 h 40"/>
                <a:gd name="T28" fmla="*/ 2621 w 165"/>
                <a:gd name="T29" fmla="*/ 1 h 40"/>
                <a:gd name="T30" fmla="*/ 1331 w 165"/>
                <a:gd name="T31" fmla="*/ 4 h 40"/>
                <a:gd name="T32" fmla="*/ 0 w 165"/>
                <a:gd name="T33" fmla="*/ 43 h 40"/>
                <a:gd name="T34" fmla="*/ 846 w 165"/>
                <a:gd name="T35" fmla="*/ 95 h 40"/>
                <a:gd name="T36" fmla="*/ 1791 w 165"/>
                <a:gd name="T37" fmla="*/ 76 h 40"/>
                <a:gd name="T38" fmla="*/ 2917 w 165"/>
                <a:gd name="T39" fmla="*/ 61 h 40"/>
                <a:gd name="T40" fmla="*/ 3754 w 165"/>
                <a:gd name="T41" fmla="*/ 61 h 40"/>
                <a:gd name="T42" fmla="*/ 4893 w 165"/>
                <a:gd name="T43" fmla="*/ 61 h 40"/>
                <a:gd name="T44" fmla="*/ 6096 w 165"/>
                <a:gd name="T45" fmla="*/ 66 h 40"/>
                <a:gd name="T46" fmla="*/ 7227 w 165"/>
                <a:gd name="T47" fmla="*/ 82 h 40"/>
                <a:gd name="T48" fmla="*/ 8390 w 165"/>
                <a:gd name="T49" fmla="*/ 102 h 40"/>
                <a:gd name="T50" fmla="*/ 9516 w 165"/>
                <a:gd name="T51" fmla="*/ 112 h 40"/>
                <a:gd name="T52" fmla="*/ 10625 w 165"/>
                <a:gd name="T53" fmla="*/ 129 h 40"/>
                <a:gd name="T54" fmla="*/ 11824 w 165"/>
                <a:gd name="T55" fmla="*/ 147 h 40"/>
                <a:gd name="T56" fmla="*/ 12892 w 165"/>
                <a:gd name="T57" fmla="*/ 160 h 40"/>
                <a:gd name="T58" fmla="*/ 14270 w 165"/>
                <a:gd name="T59" fmla="*/ 170 h 40"/>
                <a:gd name="T60" fmla="*/ 15427 w 165"/>
                <a:gd name="T61" fmla="*/ 181 h 40"/>
                <a:gd name="T62" fmla="*/ 16566 w 165"/>
                <a:gd name="T63" fmla="*/ 172 h 40"/>
                <a:gd name="T64" fmla="*/ 18029 w 165"/>
                <a:gd name="T65" fmla="*/ 168 h 40"/>
                <a:gd name="T66" fmla="*/ 19181 w 165"/>
                <a:gd name="T67" fmla="*/ 139 h 40"/>
                <a:gd name="T68" fmla="*/ 18363 w 165"/>
                <a:gd name="T69" fmla="*/ 95 h 4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5"/>
                <a:gd name="T106" fmla="*/ 0 h 40"/>
                <a:gd name="T107" fmla="*/ 165 w 165"/>
                <a:gd name="T108" fmla="*/ 40 h 4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5" h="40">
                  <a:moveTo>
                    <a:pt x="157" y="20"/>
                  </a:moveTo>
                  <a:lnTo>
                    <a:pt x="150" y="23"/>
                  </a:lnTo>
                  <a:lnTo>
                    <a:pt x="141" y="25"/>
                  </a:lnTo>
                  <a:lnTo>
                    <a:pt x="132" y="25"/>
                  </a:lnTo>
                  <a:lnTo>
                    <a:pt x="124" y="24"/>
                  </a:lnTo>
                  <a:lnTo>
                    <a:pt x="115" y="22"/>
                  </a:lnTo>
                  <a:lnTo>
                    <a:pt x="105" y="19"/>
                  </a:lnTo>
                  <a:lnTo>
                    <a:pt x="96" y="16"/>
                  </a:lnTo>
                  <a:lnTo>
                    <a:pt x="86" y="12"/>
                  </a:lnTo>
                  <a:lnTo>
                    <a:pt x="76" y="9"/>
                  </a:lnTo>
                  <a:lnTo>
                    <a:pt x="65" y="5"/>
                  </a:lnTo>
                  <a:lnTo>
                    <a:pt x="55" y="2"/>
                  </a:lnTo>
                  <a:lnTo>
                    <a:pt x="44" y="1"/>
                  </a:lnTo>
                  <a:lnTo>
                    <a:pt x="33" y="0"/>
                  </a:lnTo>
                  <a:lnTo>
                    <a:pt x="22" y="1"/>
                  </a:lnTo>
                  <a:lnTo>
                    <a:pt x="11" y="4"/>
                  </a:lnTo>
                  <a:lnTo>
                    <a:pt x="0" y="9"/>
                  </a:lnTo>
                  <a:lnTo>
                    <a:pt x="7" y="20"/>
                  </a:lnTo>
                  <a:lnTo>
                    <a:pt x="15" y="17"/>
                  </a:lnTo>
                  <a:lnTo>
                    <a:pt x="25" y="14"/>
                  </a:lnTo>
                  <a:lnTo>
                    <a:pt x="33" y="14"/>
                  </a:lnTo>
                  <a:lnTo>
                    <a:pt x="42" y="14"/>
                  </a:lnTo>
                  <a:lnTo>
                    <a:pt x="52" y="15"/>
                  </a:lnTo>
                  <a:lnTo>
                    <a:pt x="61" y="18"/>
                  </a:lnTo>
                  <a:lnTo>
                    <a:pt x="72" y="22"/>
                  </a:lnTo>
                  <a:lnTo>
                    <a:pt x="81" y="25"/>
                  </a:lnTo>
                  <a:lnTo>
                    <a:pt x="91" y="29"/>
                  </a:lnTo>
                  <a:lnTo>
                    <a:pt x="101" y="32"/>
                  </a:lnTo>
                  <a:lnTo>
                    <a:pt x="111" y="35"/>
                  </a:lnTo>
                  <a:lnTo>
                    <a:pt x="122" y="37"/>
                  </a:lnTo>
                  <a:lnTo>
                    <a:pt x="132" y="39"/>
                  </a:lnTo>
                  <a:lnTo>
                    <a:pt x="142" y="38"/>
                  </a:lnTo>
                  <a:lnTo>
                    <a:pt x="154" y="36"/>
                  </a:lnTo>
                  <a:lnTo>
                    <a:pt x="164" y="31"/>
                  </a:lnTo>
                  <a:lnTo>
                    <a:pt x="157" y="2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1" name="Freeform 289">
              <a:extLst>
                <a:ext uri="{FF2B5EF4-FFF2-40B4-BE49-F238E27FC236}">
                  <a16:creationId xmlns:a16="http://schemas.microsoft.com/office/drawing/2014/main" id="{DA26C3FA-8C85-D2C2-1790-D66BB2B739D5}"/>
                </a:ext>
              </a:extLst>
            </p:cNvPr>
            <p:cNvSpPr>
              <a:spLocks/>
            </p:cNvSpPr>
            <p:nvPr/>
          </p:nvSpPr>
          <p:spPr bwMode="auto">
            <a:xfrm>
              <a:off x="3284" y="3218"/>
              <a:ext cx="9" cy="14"/>
            </a:xfrm>
            <a:custGeom>
              <a:avLst/>
              <a:gdLst>
                <a:gd name="T0" fmla="*/ 0 w 7"/>
                <a:gd name="T1" fmla="*/ 0 h 13"/>
                <a:gd name="T2" fmla="*/ 567 w 7"/>
                <a:gd name="T3" fmla="*/ 6 h 13"/>
                <a:gd name="T4" fmla="*/ 1205 w 7"/>
                <a:gd name="T5" fmla="*/ 54 h 13"/>
                <a:gd name="T6" fmla="*/ 0 w 7"/>
                <a:gd name="T7" fmla="*/ 0 h 13"/>
                <a:gd name="T8" fmla="*/ 0 60000 65536"/>
                <a:gd name="T9" fmla="*/ 0 60000 65536"/>
                <a:gd name="T10" fmla="*/ 0 60000 65536"/>
                <a:gd name="T11" fmla="*/ 0 60000 65536"/>
                <a:gd name="T12" fmla="*/ 0 w 7"/>
                <a:gd name="T13" fmla="*/ 0 h 13"/>
                <a:gd name="T14" fmla="*/ 7 w 7"/>
                <a:gd name="T15" fmla="*/ 13 h 13"/>
              </a:gdLst>
              <a:ahLst/>
              <a:cxnLst>
                <a:cxn ang="T8">
                  <a:pos x="T0" y="T1"/>
                </a:cxn>
                <a:cxn ang="T9">
                  <a:pos x="T2" y="T3"/>
                </a:cxn>
                <a:cxn ang="T10">
                  <a:pos x="T4" y="T5"/>
                </a:cxn>
                <a:cxn ang="T11">
                  <a:pos x="T6" y="T7"/>
                </a:cxn>
              </a:cxnLst>
              <a:rect l="T12" t="T13" r="T14" b="T15"/>
              <a:pathLst>
                <a:path w="7" h="13">
                  <a:moveTo>
                    <a:pt x="0" y="0"/>
                  </a:moveTo>
                  <a:lnTo>
                    <a:pt x="3" y="6"/>
                  </a:lnTo>
                  <a:lnTo>
                    <a:pt x="6" y="12"/>
                  </a:lnTo>
                  <a:lnTo>
                    <a:pt x="0"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2" name="Freeform 290">
              <a:extLst>
                <a:ext uri="{FF2B5EF4-FFF2-40B4-BE49-F238E27FC236}">
                  <a16:creationId xmlns:a16="http://schemas.microsoft.com/office/drawing/2014/main" id="{6C34D9E0-2943-2636-4825-69ED51271723}"/>
                </a:ext>
              </a:extLst>
            </p:cNvPr>
            <p:cNvSpPr>
              <a:spLocks/>
            </p:cNvSpPr>
            <p:nvPr/>
          </p:nvSpPr>
          <p:spPr bwMode="auto">
            <a:xfrm>
              <a:off x="3284" y="3082"/>
              <a:ext cx="75" cy="150"/>
            </a:xfrm>
            <a:custGeom>
              <a:avLst/>
              <a:gdLst>
                <a:gd name="T0" fmla="*/ 5813 w 60"/>
                <a:gd name="T1" fmla="*/ 0 h 139"/>
                <a:gd name="T2" fmla="*/ 4735 w 60"/>
                <a:gd name="T3" fmla="*/ 39 h 139"/>
                <a:gd name="T4" fmla="*/ 3943 w 60"/>
                <a:gd name="T5" fmla="*/ 72 h 139"/>
                <a:gd name="T6" fmla="*/ 3391 w 60"/>
                <a:gd name="T7" fmla="*/ 108 h 139"/>
                <a:gd name="T8" fmla="*/ 3076 w 60"/>
                <a:gd name="T9" fmla="*/ 155 h 139"/>
                <a:gd name="T10" fmla="*/ 2841 w 60"/>
                <a:gd name="T11" fmla="*/ 201 h 139"/>
                <a:gd name="T12" fmla="*/ 2713 w 60"/>
                <a:gd name="T13" fmla="*/ 245 h 139"/>
                <a:gd name="T14" fmla="*/ 2688 w 60"/>
                <a:gd name="T15" fmla="*/ 295 h 139"/>
                <a:gd name="T16" fmla="*/ 2688 w 60"/>
                <a:gd name="T17" fmla="*/ 332 h 139"/>
                <a:gd name="T18" fmla="*/ 2523 w 60"/>
                <a:gd name="T19" fmla="*/ 384 h 139"/>
                <a:gd name="T20" fmla="*/ 2688 w 60"/>
                <a:gd name="T21" fmla="*/ 431 h 139"/>
                <a:gd name="T22" fmla="*/ 2523 w 60"/>
                <a:gd name="T23" fmla="*/ 466 h 139"/>
                <a:gd name="T24" fmla="*/ 2273 w 60"/>
                <a:gd name="T25" fmla="*/ 506 h 139"/>
                <a:gd name="T26" fmla="*/ 1818 w 60"/>
                <a:gd name="T27" fmla="*/ 543 h 139"/>
                <a:gd name="T28" fmla="*/ 1614 w 60"/>
                <a:gd name="T29" fmla="*/ 565 h 139"/>
                <a:gd name="T30" fmla="*/ 889 w 60"/>
                <a:gd name="T31" fmla="*/ 599 h 139"/>
                <a:gd name="T32" fmla="*/ 0 w 60"/>
                <a:gd name="T33" fmla="*/ 631 h 139"/>
                <a:gd name="T34" fmla="*/ 711 w 60"/>
                <a:gd name="T35" fmla="*/ 686 h 139"/>
                <a:gd name="T36" fmla="*/ 1818 w 60"/>
                <a:gd name="T37" fmla="*/ 646 h 139"/>
                <a:gd name="T38" fmla="*/ 2688 w 60"/>
                <a:gd name="T39" fmla="*/ 605 h 139"/>
                <a:gd name="T40" fmla="*/ 3154 w 60"/>
                <a:gd name="T41" fmla="*/ 565 h 139"/>
                <a:gd name="T42" fmla="*/ 3788 w 60"/>
                <a:gd name="T43" fmla="*/ 524 h 139"/>
                <a:gd name="T44" fmla="*/ 3943 w 60"/>
                <a:gd name="T45" fmla="*/ 479 h 139"/>
                <a:gd name="T46" fmla="*/ 4085 w 60"/>
                <a:gd name="T47" fmla="*/ 432 h 139"/>
                <a:gd name="T48" fmla="*/ 4200 w 60"/>
                <a:gd name="T49" fmla="*/ 384 h 139"/>
                <a:gd name="T50" fmla="*/ 4200 w 60"/>
                <a:gd name="T51" fmla="*/ 332 h 139"/>
                <a:gd name="T52" fmla="*/ 4200 w 60"/>
                <a:gd name="T53" fmla="*/ 295 h 139"/>
                <a:gd name="T54" fmla="*/ 4200 w 60"/>
                <a:gd name="T55" fmla="*/ 253 h 139"/>
                <a:gd name="T56" fmla="*/ 4239 w 60"/>
                <a:gd name="T57" fmla="*/ 210 h 139"/>
                <a:gd name="T58" fmla="*/ 4439 w 60"/>
                <a:gd name="T59" fmla="*/ 172 h 139"/>
                <a:gd name="T60" fmla="*/ 4735 w 60"/>
                <a:gd name="T61" fmla="*/ 144 h 139"/>
                <a:gd name="T62" fmla="*/ 5166 w 60"/>
                <a:gd name="T63" fmla="*/ 108 h 139"/>
                <a:gd name="T64" fmla="*/ 5650 w 60"/>
                <a:gd name="T65" fmla="*/ 84 h 139"/>
                <a:gd name="T66" fmla="*/ 6458 w 60"/>
                <a:gd name="T67" fmla="*/ 57 h 139"/>
                <a:gd name="T68" fmla="*/ 5813 w 60"/>
                <a:gd name="T69" fmla="*/ 0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0"/>
                <a:gd name="T106" fmla="*/ 0 h 139"/>
                <a:gd name="T107" fmla="*/ 60 w 60"/>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0" h="139">
                  <a:moveTo>
                    <a:pt x="53" y="0"/>
                  </a:moveTo>
                  <a:lnTo>
                    <a:pt x="43" y="7"/>
                  </a:lnTo>
                  <a:lnTo>
                    <a:pt x="36" y="15"/>
                  </a:lnTo>
                  <a:lnTo>
                    <a:pt x="31" y="22"/>
                  </a:lnTo>
                  <a:lnTo>
                    <a:pt x="28" y="31"/>
                  </a:lnTo>
                  <a:lnTo>
                    <a:pt x="26" y="41"/>
                  </a:lnTo>
                  <a:lnTo>
                    <a:pt x="25" y="50"/>
                  </a:lnTo>
                  <a:lnTo>
                    <a:pt x="24" y="59"/>
                  </a:lnTo>
                  <a:lnTo>
                    <a:pt x="24" y="68"/>
                  </a:lnTo>
                  <a:lnTo>
                    <a:pt x="23" y="78"/>
                  </a:lnTo>
                  <a:lnTo>
                    <a:pt x="24" y="86"/>
                  </a:lnTo>
                  <a:lnTo>
                    <a:pt x="23" y="94"/>
                  </a:lnTo>
                  <a:lnTo>
                    <a:pt x="21" y="102"/>
                  </a:lnTo>
                  <a:lnTo>
                    <a:pt x="17" y="109"/>
                  </a:lnTo>
                  <a:lnTo>
                    <a:pt x="14" y="115"/>
                  </a:lnTo>
                  <a:lnTo>
                    <a:pt x="8" y="121"/>
                  </a:lnTo>
                  <a:lnTo>
                    <a:pt x="0" y="126"/>
                  </a:lnTo>
                  <a:lnTo>
                    <a:pt x="6" y="138"/>
                  </a:lnTo>
                  <a:lnTo>
                    <a:pt x="17" y="131"/>
                  </a:lnTo>
                  <a:lnTo>
                    <a:pt x="24" y="123"/>
                  </a:lnTo>
                  <a:lnTo>
                    <a:pt x="29" y="115"/>
                  </a:lnTo>
                  <a:lnTo>
                    <a:pt x="34" y="107"/>
                  </a:lnTo>
                  <a:lnTo>
                    <a:pt x="36" y="97"/>
                  </a:lnTo>
                  <a:lnTo>
                    <a:pt x="37" y="87"/>
                  </a:lnTo>
                  <a:lnTo>
                    <a:pt x="38" y="78"/>
                  </a:lnTo>
                  <a:lnTo>
                    <a:pt x="38" y="68"/>
                  </a:lnTo>
                  <a:lnTo>
                    <a:pt x="38" y="59"/>
                  </a:lnTo>
                  <a:lnTo>
                    <a:pt x="38" y="51"/>
                  </a:lnTo>
                  <a:lnTo>
                    <a:pt x="39" y="43"/>
                  </a:lnTo>
                  <a:lnTo>
                    <a:pt x="41" y="35"/>
                  </a:lnTo>
                  <a:lnTo>
                    <a:pt x="43" y="29"/>
                  </a:lnTo>
                  <a:lnTo>
                    <a:pt x="47" y="22"/>
                  </a:lnTo>
                  <a:lnTo>
                    <a:pt x="52" y="17"/>
                  </a:lnTo>
                  <a:lnTo>
                    <a:pt x="59" y="12"/>
                  </a:lnTo>
                  <a:lnTo>
                    <a:pt x="53"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3" name="Freeform 291">
              <a:extLst>
                <a:ext uri="{FF2B5EF4-FFF2-40B4-BE49-F238E27FC236}">
                  <a16:creationId xmlns:a16="http://schemas.microsoft.com/office/drawing/2014/main" id="{FB39955F-39BC-CC50-690B-DF3E80584FFD}"/>
                </a:ext>
              </a:extLst>
            </p:cNvPr>
            <p:cNvSpPr>
              <a:spLocks/>
            </p:cNvSpPr>
            <p:nvPr/>
          </p:nvSpPr>
          <p:spPr bwMode="auto">
            <a:xfrm>
              <a:off x="3349" y="3073"/>
              <a:ext cx="201" cy="46"/>
            </a:xfrm>
            <a:custGeom>
              <a:avLst/>
              <a:gdLst>
                <a:gd name="T0" fmla="*/ 18273 w 160"/>
                <a:gd name="T1" fmla="*/ 138 h 42"/>
                <a:gd name="T2" fmla="*/ 17312 w 160"/>
                <a:gd name="T3" fmla="*/ 165 h 42"/>
                <a:gd name="T4" fmla="*/ 16361 w 160"/>
                <a:gd name="T5" fmla="*/ 181 h 42"/>
                <a:gd name="T6" fmla="*/ 15133 w 160"/>
                <a:gd name="T7" fmla="*/ 181 h 42"/>
                <a:gd name="T8" fmla="*/ 13986 w 160"/>
                <a:gd name="T9" fmla="*/ 181 h 42"/>
                <a:gd name="T10" fmla="*/ 13042 w 160"/>
                <a:gd name="T11" fmla="*/ 165 h 42"/>
                <a:gd name="T12" fmla="*/ 11885 w 160"/>
                <a:gd name="T13" fmla="*/ 138 h 42"/>
                <a:gd name="T14" fmla="*/ 10806 w 160"/>
                <a:gd name="T15" fmla="*/ 123 h 42"/>
                <a:gd name="T16" fmla="*/ 9708 w 160"/>
                <a:gd name="T17" fmla="*/ 93 h 42"/>
                <a:gd name="T18" fmla="*/ 8548 w 160"/>
                <a:gd name="T19" fmla="*/ 65 h 42"/>
                <a:gd name="T20" fmla="*/ 7403 w 160"/>
                <a:gd name="T21" fmla="*/ 49 h 42"/>
                <a:gd name="T22" fmla="*/ 6261 w 160"/>
                <a:gd name="T23" fmla="*/ 4 h 42"/>
                <a:gd name="T24" fmla="*/ 4984 w 160"/>
                <a:gd name="T25" fmla="*/ 2 h 42"/>
                <a:gd name="T26" fmla="*/ 3793 w 160"/>
                <a:gd name="T27" fmla="*/ 0 h 42"/>
                <a:gd name="T28" fmla="*/ 2514 w 160"/>
                <a:gd name="T29" fmla="*/ 1 h 42"/>
                <a:gd name="T30" fmla="*/ 1212 w 160"/>
                <a:gd name="T31" fmla="*/ 3 h 42"/>
                <a:gd name="T32" fmla="*/ 0 w 160"/>
                <a:gd name="T33" fmla="*/ 54 h 42"/>
                <a:gd name="T34" fmla="*/ 768 w 160"/>
                <a:gd name="T35" fmla="*/ 126 h 42"/>
                <a:gd name="T36" fmla="*/ 1742 w 160"/>
                <a:gd name="T37" fmla="*/ 112 h 42"/>
                <a:gd name="T38" fmla="*/ 2644 w 160"/>
                <a:gd name="T39" fmla="*/ 93 h 42"/>
                <a:gd name="T40" fmla="*/ 3793 w 160"/>
                <a:gd name="T41" fmla="*/ 93 h 42"/>
                <a:gd name="T42" fmla="*/ 4765 w 160"/>
                <a:gd name="T43" fmla="*/ 102 h 42"/>
                <a:gd name="T44" fmla="*/ 5705 w 160"/>
                <a:gd name="T45" fmla="*/ 115 h 42"/>
                <a:gd name="T46" fmla="*/ 6847 w 160"/>
                <a:gd name="T47" fmla="*/ 135 h 42"/>
                <a:gd name="T48" fmla="*/ 7971 w 160"/>
                <a:gd name="T49" fmla="*/ 151 h 42"/>
                <a:gd name="T50" fmla="*/ 9004 w 160"/>
                <a:gd name="T51" fmla="*/ 181 h 42"/>
                <a:gd name="T52" fmla="*/ 10192 w 160"/>
                <a:gd name="T53" fmla="*/ 212 h 42"/>
                <a:gd name="T54" fmla="*/ 11351 w 160"/>
                <a:gd name="T55" fmla="*/ 232 h 42"/>
                <a:gd name="T56" fmla="*/ 12580 w 160"/>
                <a:gd name="T57" fmla="*/ 260 h 42"/>
                <a:gd name="T58" fmla="*/ 13781 w 160"/>
                <a:gd name="T59" fmla="*/ 277 h 42"/>
                <a:gd name="T60" fmla="*/ 15133 w 160"/>
                <a:gd name="T61" fmla="*/ 278 h 42"/>
                <a:gd name="T62" fmla="*/ 16384 w 160"/>
                <a:gd name="T63" fmla="*/ 277 h 42"/>
                <a:gd name="T64" fmla="*/ 17850 w 160"/>
                <a:gd name="T65" fmla="*/ 260 h 42"/>
                <a:gd name="T66" fmla="*/ 19100 w 160"/>
                <a:gd name="T67" fmla="*/ 216 h 42"/>
                <a:gd name="T68" fmla="*/ 18273 w 160"/>
                <a:gd name="T69" fmla="*/ 138 h 4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0"/>
                <a:gd name="T106" fmla="*/ 0 h 42"/>
                <a:gd name="T107" fmla="*/ 160 w 160"/>
                <a:gd name="T108" fmla="*/ 42 h 4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0" h="42">
                  <a:moveTo>
                    <a:pt x="152" y="21"/>
                  </a:moveTo>
                  <a:lnTo>
                    <a:pt x="144" y="25"/>
                  </a:lnTo>
                  <a:lnTo>
                    <a:pt x="135" y="27"/>
                  </a:lnTo>
                  <a:lnTo>
                    <a:pt x="126" y="27"/>
                  </a:lnTo>
                  <a:lnTo>
                    <a:pt x="116" y="27"/>
                  </a:lnTo>
                  <a:lnTo>
                    <a:pt x="108" y="25"/>
                  </a:lnTo>
                  <a:lnTo>
                    <a:pt x="99" y="21"/>
                  </a:lnTo>
                  <a:lnTo>
                    <a:pt x="90" y="18"/>
                  </a:lnTo>
                  <a:lnTo>
                    <a:pt x="80" y="14"/>
                  </a:lnTo>
                  <a:lnTo>
                    <a:pt x="71" y="10"/>
                  </a:lnTo>
                  <a:lnTo>
                    <a:pt x="61" y="7"/>
                  </a:lnTo>
                  <a:lnTo>
                    <a:pt x="52" y="4"/>
                  </a:lnTo>
                  <a:lnTo>
                    <a:pt x="41" y="2"/>
                  </a:lnTo>
                  <a:lnTo>
                    <a:pt x="31" y="0"/>
                  </a:lnTo>
                  <a:lnTo>
                    <a:pt x="21" y="1"/>
                  </a:lnTo>
                  <a:lnTo>
                    <a:pt x="10" y="3"/>
                  </a:lnTo>
                  <a:lnTo>
                    <a:pt x="0" y="8"/>
                  </a:lnTo>
                  <a:lnTo>
                    <a:pt x="6" y="19"/>
                  </a:lnTo>
                  <a:lnTo>
                    <a:pt x="14" y="16"/>
                  </a:lnTo>
                  <a:lnTo>
                    <a:pt x="22" y="14"/>
                  </a:lnTo>
                  <a:lnTo>
                    <a:pt x="31" y="14"/>
                  </a:lnTo>
                  <a:lnTo>
                    <a:pt x="39" y="15"/>
                  </a:lnTo>
                  <a:lnTo>
                    <a:pt x="48" y="17"/>
                  </a:lnTo>
                  <a:lnTo>
                    <a:pt x="57" y="20"/>
                  </a:lnTo>
                  <a:lnTo>
                    <a:pt x="66" y="23"/>
                  </a:lnTo>
                  <a:lnTo>
                    <a:pt x="75" y="27"/>
                  </a:lnTo>
                  <a:lnTo>
                    <a:pt x="85" y="31"/>
                  </a:lnTo>
                  <a:lnTo>
                    <a:pt x="95" y="34"/>
                  </a:lnTo>
                  <a:lnTo>
                    <a:pt x="104" y="38"/>
                  </a:lnTo>
                  <a:lnTo>
                    <a:pt x="115" y="40"/>
                  </a:lnTo>
                  <a:lnTo>
                    <a:pt x="126" y="41"/>
                  </a:lnTo>
                  <a:lnTo>
                    <a:pt x="136" y="40"/>
                  </a:lnTo>
                  <a:lnTo>
                    <a:pt x="148" y="38"/>
                  </a:lnTo>
                  <a:lnTo>
                    <a:pt x="159" y="32"/>
                  </a:lnTo>
                  <a:lnTo>
                    <a:pt x="152" y="2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4" name="Freeform 292">
              <a:extLst>
                <a:ext uri="{FF2B5EF4-FFF2-40B4-BE49-F238E27FC236}">
                  <a16:creationId xmlns:a16="http://schemas.microsoft.com/office/drawing/2014/main" id="{83A12A32-C36E-3078-D40C-9CE9B3F6F32A}"/>
                </a:ext>
              </a:extLst>
            </p:cNvPr>
            <p:cNvSpPr>
              <a:spLocks/>
            </p:cNvSpPr>
            <p:nvPr/>
          </p:nvSpPr>
          <p:spPr bwMode="auto">
            <a:xfrm>
              <a:off x="3541" y="2960"/>
              <a:ext cx="75" cy="150"/>
            </a:xfrm>
            <a:custGeom>
              <a:avLst/>
              <a:gdLst>
                <a:gd name="T0" fmla="*/ 5650 w 60"/>
                <a:gd name="T1" fmla="*/ 0 h 139"/>
                <a:gd name="T2" fmla="*/ 4735 w 60"/>
                <a:gd name="T3" fmla="*/ 39 h 139"/>
                <a:gd name="T4" fmla="*/ 3943 w 60"/>
                <a:gd name="T5" fmla="*/ 72 h 139"/>
                <a:gd name="T6" fmla="*/ 3391 w 60"/>
                <a:gd name="T7" fmla="*/ 108 h 139"/>
                <a:gd name="T8" fmla="*/ 3076 w 60"/>
                <a:gd name="T9" fmla="*/ 155 h 139"/>
                <a:gd name="T10" fmla="*/ 2841 w 60"/>
                <a:gd name="T11" fmla="*/ 201 h 139"/>
                <a:gd name="T12" fmla="*/ 2713 w 60"/>
                <a:gd name="T13" fmla="*/ 245 h 139"/>
                <a:gd name="T14" fmla="*/ 2688 w 60"/>
                <a:gd name="T15" fmla="*/ 295 h 139"/>
                <a:gd name="T16" fmla="*/ 2688 w 60"/>
                <a:gd name="T17" fmla="*/ 332 h 139"/>
                <a:gd name="T18" fmla="*/ 2523 w 60"/>
                <a:gd name="T19" fmla="*/ 384 h 139"/>
                <a:gd name="T20" fmla="*/ 2688 w 60"/>
                <a:gd name="T21" fmla="*/ 431 h 139"/>
                <a:gd name="T22" fmla="*/ 2461 w 60"/>
                <a:gd name="T23" fmla="*/ 466 h 139"/>
                <a:gd name="T24" fmla="*/ 2273 w 60"/>
                <a:gd name="T25" fmla="*/ 506 h 139"/>
                <a:gd name="T26" fmla="*/ 1818 w 60"/>
                <a:gd name="T27" fmla="*/ 543 h 139"/>
                <a:gd name="T28" fmla="*/ 1389 w 60"/>
                <a:gd name="T29" fmla="*/ 565 h 139"/>
                <a:gd name="T30" fmla="*/ 889 w 60"/>
                <a:gd name="T31" fmla="*/ 599 h 139"/>
                <a:gd name="T32" fmla="*/ 0 w 60"/>
                <a:gd name="T33" fmla="*/ 631 h 139"/>
                <a:gd name="T34" fmla="*/ 711 w 60"/>
                <a:gd name="T35" fmla="*/ 686 h 139"/>
                <a:gd name="T36" fmla="*/ 1818 w 60"/>
                <a:gd name="T37" fmla="*/ 646 h 139"/>
                <a:gd name="T38" fmla="*/ 2688 w 60"/>
                <a:gd name="T39" fmla="*/ 605 h 139"/>
                <a:gd name="T40" fmla="*/ 3154 w 60"/>
                <a:gd name="T41" fmla="*/ 565 h 139"/>
                <a:gd name="T42" fmla="*/ 3788 w 60"/>
                <a:gd name="T43" fmla="*/ 524 h 139"/>
                <a:gd name="T44" fmla="*/ 3845 w 60"/>
                <a:gd name="T45" fmla="*/ 479 h 139"/>
                <a:gd name="T46" fmla="*/ 4085 w 60"/>
                <a:gd name="T47" fmla="*/ 432 h 139"/>
                <a:gd name="T48" fmla="*/ 4085 w 60"/>
                <a:gd name="T49" fmla="*/ 384 h 139"/>
                <a:gd name="T50" fmla="*/ 4200 w 60"/>
                <a:gd name="T51" fmla="*/ 332 h 139"/>
                <a:gd name="T52" fmla="*/ 4200 w 60"/>
                <a:gd name="T53" fmla="*/ 295 h 139"/>
                <a:gd name="T54" fmla="*/ 4200 w 60"/>
                <a:gd name="T55" fmla="*/ 253 h 139"/>
                <a:gd name="T56" fmla="*/ 4239 w 60"/>
                <a:gd name="T57" fmla="*/ 210 h 139"/>
                <a:gd name="T58" fmla="*/ 4439 w 60"/>
                <a:gd name="T59" fmla="*/ 172 h 139"/>
                <a:gd name="T60" fmla="*/ 4735 w 60"/>
                <a:gd name="T61" fmla="*/ 144 h 139"/>
                <a:gd name="T62" fmla="*/ 5166 w 60"/>
                <a:gd name="T63" fmla="*/ 108 h 139"/>
                <a:gd name="T64" fmla="*/ 5650 w 60"/>
                <a:gd name="T65" fmla="*/ 84 h 139"/>
                <a:gd name="T66" fmla="*/ 6458 w 60"/>
                <a:gd name="T67" fmla="*/ 57 h 139"/>
                <a:gd name="T68" fmla="*/ 5650 w 60"/>
                <a:gd name="T69" fmla="*/ 0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0"/>
                <a:gd name="T106" fmla="*/ 0 h 139"/>
                <a:gd name="T107" fmla="*/ 60 w 60"/>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0" h="139">
                  <a:moveTo>
                    <a:pt x="52" y="0"/>
                  </a:moveTo>
                  <a:lnTo>
                    <a:pt x="43" y="7"/>
                  </a:lnTo>
                  <a:lnTo>
                    <a:pt x="36" y="15"/>
                  </a:lnTo>
                  <a:lnTo>
                    <a:pt x="31" y="22"/>
                  </a:lnTo>
                  <a:lnTo>
                    <a:pt x="28" y="31"/>
                  </a:lnTo>
                  <a:lnTo>
                    <a:pt x="26" y="41"/>
                  </a:lnTo>
                  <a:lnTo>
                    <a:pt x="25" y="50"/>
                  </a:lnTo>
                  <a:lnTo>
                    <a:pt x="24" y="59"/>
                  </a:lnTo>
                  <a:lnTo>
                    <a:pt x="24" y="68"/>
                  </a:lnTo>
                  <a:lnTo>
                    <a:pt x="23" y="78"/>
                  </a:lnTo>
                  <a:lnTo>
                    <a:pt x="24" y="86"/>
                  </a:lnTo>
                  <a:lnTo>
                    <a:pt x="22" y="94"/>
                  </a:lnTo>
                  <a:lnTo>
                    <a:pt x="21" y="102"/>
                  </a:lnTo>
                  <a:lnTo>
                    <a:pt x="17" y="109"/>
                  </a:lnTo>
                  <a:lnTo>
                    <a:pt x="13" y="115"/>
                  </a:lnTo>
                  <a:lnTo>
                    <a:pt x="8" y="121"/>
                  </a:lnTo>
                  <a:lnTo>
                    <a:pt x="0" y="126"/>
                  </a:lnTo>
                  <a:lnTo>
                    <a:pt x="6" y="138"/>
                  </a:lnTo>
                  <a:lnTo>
                    <a:pt x="17" y="131"/>
                  </a:lnTo>
                  <a:lnTo>
                    <a:pt x="24" y="123"/>
                  </a:lnTo>
                  <a:lnTo>
                    <a:pt x="29" y="115"/>
                  </a:lnTo>
                  <a:lnTo>
                    <a:pt x="34" y="107"/>
                  </a:lnTo>
                  <a:lnTo>
                    <a:pt x="35" y="97"/>
                  </a:lnTo>
                  <a:lnTo>
                    <a:pt x="37" y="87"/>
                  </a:lnTo>
                  <a:lnTo>
                    <a:pt x="37" y="78"/>
                  </a:lnTo>
                  <a:lnTo>
                    <a:pt x="38" y="68"/>
                  </a:lnTo>
                  <a:lnTo>
                    <a:pt x="38" y="59"/>
                  </a:lnTo>
                  <a:lnTo>
                    <a:pt x="38" y="51"/>
                  </a:lnTo>
                  <a:lnTo>
                    <a:pt x="39" y="43"/>
                  </a:lnTo>
                  <a:lnTo>
                    <a:pt x="41" y="35"/>
                  </a:lnTo>
                  <a:lnTo>
                    <a:pt x="43" y="29"/>
                  </a:lnTo>
                  <a:lnTo>
                    <a:pt x="47" y="22"/>
                  </a:lnTo>
                  <a:lnTo>
                    <a:pt x="52" y="17"/>
                  </a:lnTo>
                  <a:lnTo>
                    <a:pt x="59" y="12"/>
                  </a:lnTo>
                  <a:lnTo>
                    <a:pt x="52"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5" name="Freeform 293">
              <a:extLst>
                <a:ext uri="{FF2B5EF4-FFF2-40B4-BE49-F238E27FC236}">
                  <a16:creationId xmlns:a16="http://schemas.microsoft.com/office/drawing/2014/main" id="{66A1C525-1A08-F45A-FEF7-7EAFC6712BAE}"/>
                </a:ext>
              </a:extLst>
            </p:cNvPr>
            <p:cNvSpPr>
              <a:spLocks/>
            </p:cNvSpPr>
            <p:nvPr/>
          </p:nvSpPr>
          <p:spPr bwMode="auto">
            <a:xfrm>
              <a:off x="3607" y="2951"/>
              <a:ext cx="187" cy="49"/>
            </a:xfrm>
            <a:custGeom>
              <a:avLst/>
              <a:gdLst>
                <a:gd name="T0" fmla="*/ 16637 w 149"/>
                <a:gd name="T1" fmla="*/ 163 h 45"/>
                <a:gd name="T2" fmla="*/ 16091 w 149"/>
                <a:gd name="T3" fmla="*/ 177 h 45"/>
                <a:gd name="T4" fmla="*/ 15256 w 149"/>
                <a:gd name="T5" fmla="*/ 189 h 45"/>
                <a:gd name="T6" fmla="*/ 14447 w 149"/>
                <a:gd name="T7" fmla="*/ 189 h 45"/>
                <a:gd name="T8" fmla="*/ 13756 w 149"/>
                <a:gd name="T9" fmla="*/ 175 h 45"/>
                <a:gd name="T10" fmla="*/ 12821 w 149"/>
                <a:gd name="T11" fmla="*/ 150 h 45"/>
                <a:gd name="T12" fmla="*/ 11722 w 149"/>
                <a:gd name="T13" fmla="*/ 136 h 45"/>
                <a:gd name="T14" fmla="*/ 10599 w 149"/>
                <a:gd name="T15" fmla="*/ 115 h 45"/>
                <a:gd name="T16" fmla="*/ 9629 w 149"/>
                <a:gd name="T17" fmla="*/ 89 h 45"/>
                <a:gd name="T18" fmla="*/ 8445 w 149"/>
                <a:gd name="T19" fmla="*/ 63 h 45"/>
                <a:gd name="T20" fmla="*/ 7308 w 149"/>
                <a:gd name="T21" fmla="*/ 45 h 45"/>
                <a:gd name="T22" fmla="*/ 6150 w 149"/>
                <a:gd name="T23" fmla="*/ 4 h 45"/>
                <a:gd name="T24" fmla="*/ 5016 w 149"/>
                <a:gd name="T25" fmla="*/ 2 h 45"/>
                <a:gd name="T26" fmla="*/ 3765 w 149"/>
                <a:gd name="T27" fmla="*/ 0 h 45"/>
                <a:gd name="T28" fmla="*/ 2402 w 149"/>
                <a:gd name="T29" fmla="*/ 2 h 45"/>
                <a:gd name="T30" fmla="*/ 1180 w 149"/>
                <a:gd name="T31" fmla="*/ 4 h 45"/>
                <a:gd name="T32" fmla="*/ 0 w 149"/>
                <a:gd name="T33" fmla="*/ 49 h 45"/>
                <a:gd name="T34" fmla="*/ 749 w 149"/>
                <a:gd name="T35" fmla="*/ 117 h 45"/>
                <a:gd name="T36" fmla="*/ 1673 w 149"/>
                <a:gd name="T37" fmla="*/ 106 h 45"/>
                <a:gd name="T38" fmla="*/ 2636 w 149"/>
                <a:gd name="T39" fmla="*/ 89 h 45"/>
                <a:gd name="T40" fmla="*/ 3765 w 149"/>
                <a:gd name="T41" fmla="*/ 89 h 45"/>
                <a:gd name="T42" fmla="*/ 4612 w 149"/>
                <a:gd name="T43" fmla="*/ 89 h 45"/>
                <a:gd name="T44" fmla="*/ 5788 w 149"/>
                <a:gd name="T45" fmla="*/ 106 h 45"/>
                <a:gd name="T46" fmla="*/ 6869 w 149"/>
                <a:gd name="T47" fmla="*/ 117 h 45"/>
                <a:gd name="T48" fmla="*/ 7900 w 149"/>
                <a:gd name="T49" fmla="*/ 138 h 45"/>
                <a:gd name="T50" fmla="*/ 8883 w 149"/>
                <a:gd name="T51" fmla="*/ 163 h 45"/>
                <a:gd name="T52" fmla="*/ 10062 w 149"/>
                <a:gd name="T53" fmla="*/ 191 h 45"/>
                <a:gd name="T54" fmla="*/ 11000 w 149"/>
                <a:gd name="T55" fmla="*/ 210 h 45"/>
                <a:gd name="T56" fmla="*/ 12156 w 149"/>
                <a:gd name="T57" fmla="*/ 229 h 45"/>
                <a:gd name="T58" fmla="*/ 13256 w 149"/>
                <a:gd name="T59" fmla="*/ 249 h 45"/>
                <a:gd name="T60" fmla="*/ 14322 w 149"/>
                <a:gd name="T61" fmla="*/ 266 h 45"/>
                <a:gd name="T62" fmla="*/ 15349 w 149"/>
                <a:gd name="T63" fmla="*/ 266 h 45"/>
                <a:gd name="T64" fmla="*/ 16535 w 149"/>
                <a:gd name="T65" fmla="*/ 259 h 45"/>
                <a:gd name="T66" fmla="*/ 17377 w 149"/>
                <a:gd name="T67" fmla="*/ 229 h 45"/>
                <a:gd name="T68" fmla="*/ 16637 w 149"/>
                <a:gd name="T69" fmla="*/ 163 h 4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9"/>
                <a:gd name="T106" fmla="*/ 0 h 45"/>
                <a:gd name="T107" fmla="*/ 149 w 149"/>
                <a:gd name="T108" fmla="*/ 45 h 4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9" h="45">
                  <a:moveTo>
                    <a:pt x="141" y="28"/>
                  </a:moveTo>
                  <a:lnTo>
                    <a:pt x="136" y="30"/>
                  </a:lnTo>
                  <a:lnTo>
                    <a:pt x="129" y="31"/>
                  </a:lnTo>
                  <a:lnTo>
                    <a:pt x="123" y="31"/>
                  </a:lnTo>
                  <a:lnTo>
                    <a:pt x="116" y="29"/>
                  </a:lnTo>
                  <a:lnTo>
                    <a:pt x="108" y="26"/>
                  </a:lnTo>
                  <a:lnTo>
                    <a:pt x="99" y="23"/>
                  </a:lnTo>
                  <a:lnTo>
                    <a:pt x="90" y="19"/>
                  </a:lnTo>
                  <a:lnTo>
                    <a:pt x="81" y="15"/>
                  </a:lnTo>
                  <a:lnTo>
                    <a:pt x="72" y="11"/>
                  </a:lnTo>
                  <a:lnTo>
                    <a:pt x="62" y="7"/>
                  </a:lnTo>
                  <a:lnTo>
                    <a:pt x="52" y="4"/>
                  </a:lnTo>
                  <a:lnTo>
                    <a:pt x="42" y="2"/>
                  </a:lnTo>
                  <a:lnTo>
                    <a:pt x="32" y="0"/>
                  </a:lnTo>
                  <a:lnTo>
                    <a:pt x="21" y="2"/>
                  </a:lnTo>
                  <a:lnTo>
                    <a:pt x="10" y="4"/>
                  </a:lnTo>
                  <a:lnTo>
                    <a:pt x="0" y="8"/>
                  </a:lnTo>
                  <a:lnTo>
                    <a:pt x="6" y="20"/>
                  </a:lnTo>
                  <a:lnTo>
                    <a:pt x="14" y="17"/>
                  </a:lnTo>
                  <a:lnTo>
                    <a:pt x="23" y="15"/>
                  </a:lnTo>
                  <a:lnTo>
                    <a:pt x="32" y="15"/>
                  </a:lnTo>
                  <a:lnTo>
                    <a:pt x="39" y="15"/>
                  </a:lnTo>
                  <a:lnTo>
                    <a:pt x="49" y="17"/>
                  </a:lnTo>
                  <a:lnTo>
                    <a:pt x="58" y="20"/>
                  </a:lnTo>
                  <a:lnTo>
                    <a:pt x="67" y="24"/>
                  </a:lnTo>
                  <a:lnTo>
                    <a:pt x="76" y="28"/>
                  </a:lnTo>
                  <a:lnTo>
                    <a:pt x="85" y="32"/>
                  </a:lnTo>
                  <a:lnTo>
                    <a:pt x="93" y="36"/>
                  </a:lnTo>
                  <a:lnTo>
                    <a:pt x="103" y="39"/>
                  </a:lnTo>
                  <a:lnTo>
                    <a:pt x="112" y="42"/>
                  </a:lnTo>
                  <a:lnTo>
                    <a:pt x="121" y="44"/>
                  </a:lnTo>
                  <a:lnTo>
                    <a:pt x="130" y="44"/>
                  </a:lnTo>
                  <a:lnTo>
                    <a:pt x="140" y="43"/>
                  </a:lnTo>
                  <a:lnTo>
                    <a:pt x="148" y="39"/>
                  </a:lnTo>
                  <a:lnTo>
                    <a:pt x="141" y="2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6" name="Freeform 294">
              <a:extLst>
                <a:ext uri="{FF2B5EF4-FFF2-40B4-BE49-F238E27FC236}">
                  <a16:creationId xmlns:a16="http://schemas.microsoft.com/office/drawing/2014/main" id="{59C59489-DFAD-1A64-AA56-C6E6D6ABBCC9}"/>
                </a:ext>
              </a:extLst>
            </p:cNvPr>
            <p:cNvSpPr>
              <a:spLocks/>
            </p:cNvSpPr>
            <p:nvPr/>
          </p:nvSpPr>
          <p:spPr bwMode="auto">
            <a:xfrm>
              <a:off x="3784" y="2979"/>
              <a:ext cx="15" cy="15"/>
            </a:xfrm>
            <a:custGeom>
              <a:avLst/>
              <a:gdLst>
                <a:gd name="T0" fmla="*/ 889 w 12"/>
                <a:gd name="T1" fmla="*/ 6 h 14"/>
                <a:gd name="T2" fmla="*/ 455 w 12"/>
                <a:gd name="T3" fmla="*/ 0 h 14"/>
                <a:gd name="T4" fmla="*/ 0 w 12"/>
                <a:gd name="T5" fmla="*/ 2 h 14"/>
                <a:gd name="T6" fmla="*/ 744 w 12"/>
                <a:gd name="T7" fmla="*/ 54 h 14"/>
                <a:gd name="T8" fmla="*/ 1163 w 12"/>
                <a:gd name="T9" fmla="*/ 47 h 14"/>
                <a:gd name="T10" fmla="*/ 889 w 12"/>
                <a:gd name="T11" fmla="*/ 6 h 14"/>
                <a:gd name="T12" fmla="*/ 0 60000 65536"/>
                <a:gd name="T13" fmla="*/ 0 60000 65536"/>
                <a:gd name="T14" fmla="*/ 0 60000 65536"/>
                <a:gd name="T15" fmla="*/ 0 60000 65536"/>
                <a:gd name="T16" fmla="*/ 0 60000 65536"/>
                <a:gd name="T17" fmla="*/ 0 60000 65536"/>
                <a:gd name="T18" fmla="*/ 0 w 12"/>
                <a:gd name="T19" fmla="*/ 0 h 14"/>
                <a:gd name="T20" fmla="*/ 12 w 12"/>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12" h="14">
                  <a:moveTo>
                    <a:pt x="8" y="6"/>
                  </a:moveTo>
                  <a:lnTo>
                    <a:pt x="4" y="0"/>
                  </a:lnTo>
                  <a:lnTo>
                    <a:pt x="0" y="2"/>
                  </a:lnTo>
                  <a:lnTo>
                    <a:pt x="7" y="13"/>
                  </a:lnTo>
                  <a:lnTo>
                    <a:pt x="11" y="11"/>
                  </a:lnTo>
                  <a:lnTo>
                    <a:pt x="8" y="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647" name="Freeform 295">
              <a:extLst>
                <a:ext uri="{FF2B5EF4-FFF2-40B4-BE49-F238E27FC236}">
                  <a16:creationId xmlns:a16="http://schemas.microsoft.com/office/drawing/2014/main" id="{3BEBC90C-595A-85AB-2028-992FDD9EB344}"/>
                </a:ext>
              </a:extLst>
            </p:cNvPr>
            <p:cNvSpPr>
              <a:spLocks/>
            </p:cNvSpPr>
            <p:nvPr/>
          </p:nvSpPr>
          <p:spPr bwMode="auto">
            <a:xfrm>
              <a:off x="2869" y="3295"/>
              <a:ext cx="149" cy="104"/>
            </a:xfrm>
            <a:custGeom>
              <a:avLst/>
              <a:gdLst>
                <a:gd name="T0" fmla="*/ 9018 w 119"/>
                <a:gd name="T1" fmla="*/ 225 h 96"/>
                <a:gd name="T2" fmla="*/ 8836 w 119"/>
                <a:gd name="T3" fmla="*/ 0 h 96"/>
                <a:gd name="T4" fmla="*/ 8558 w 119"/>
                <a:gd name="T5" fmla="*/ 0 h 96"/>
                <a:gd name="T6" fmla="*/ 4739 w 119"/>
                <a:gd name="T7" fmla="*/ 271 h 96"/>
                <a:gd name="T8" fmla="*/ 4049 w 119"/>
                <a:gd name="T9" fmla="*/ 311 h 96"/>
                <a:gd name="T10" fmla="*/ 3481 w 119"/>
                <a:gd name="T11" fmla="*/ 337 h 96"/>
                <a:gd name="T12" fmla="*/ 2930 w 119"/>
                <a:gd name="T13" fmla="*/ 367 h 96"/>
                <a:gd name="T14" fmla="*/ 2340 w 119"/>
                <a:gd name="T15" fmla="*/ 395 h 96"/>
                <a:gd name="T16" fmla="*/ 1773 w 119"/>
                <a:gd name="T17" fmla="*/ 428 h 96"/>
                <a:gd name="T18" fmla="*/ 1131 w 119"/>
                <a:gd name="T19" fmla="*/ 452 h 96"/>
                <a:gd name="T20" fmla="*/ 576 w 119"/>
                <a:gd name="T21" fmla="*/ 483 h 96"/>
                <a:gd name="T22" fmla="*/ 0 w 119"/>
                <a:gd name="T23" fmla="*/ 512 h 96"/>
                <a:gd name="T24" fmla="*/ 839 w 119"/>
                <a:gd name="T25" fmla="*/ 502 h 96"/>
                <a:gd name="T26" fmla="*/ 1648 w 119"/>
                <a:gd name="T27" fmla="*/ 483 h 96"/>
                <a:gd name="T28" fmla="*/ 2340 w 119"/>
                <a:gd name="T29" fmla="*/ 464 h 96"/>
                <a:gd name="T30" fmla="*/ 3147 w 119"/>
                <a:gd name="T31" fmla="*/ 452 h 96"/>
                <a:gd name="T32" fmla="*/ 3940 w 119"/>
                <a:gd name="T33" fmla="*/ 437 h 96"/>
                <a:gd name="T34" fmla="*/ 4739 w 119"/>
                <a:gd name="T35" fmla="*/ 427 h 96"/>
                <a:gd name="T36" fmla="*/ 5458 w 119"/>
                <a:gd name="T37" fmla="*/ 403 h 96"/>
                <a:gd name="T38" fmla="*/ 6356 w 119"/>
                <a:gd name="T39" fmla="*/ 395 h 96"/>
                <a:gd name="T40" fmla="*/ 13113 w 119"/>
                <a:gd name="T41" fmla="*/ 319 h 96"/>
                <a:gd name="T42" fmla="*/ 13269 w 119"/>
                <a:gd name="T43" fmla="*/ 317 h 96"/>
                <a:gd name="T44" fmla="*/ 9018 w 119"/>
                <a:gd name="T45" fmla="*/ 225 h 9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9"/>
                <a:gd name="T70" fmla="*/ 0 h 96"/>
                <a:gd name="T71" fmla="*/ 119 w 119"/>
                <a:gd name="T72" fmla="*/ 96 h 9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9" h="96">
                  <a:moveTo>
                    <a:pt x="80" y="41"/>
                  </a:moveTo>
                  <a:lnTo>
                    <a:pt x="78" y="0"/>
                  </a:lnTo>
                  <a:lnTo>
                    <a:pt x="77" y="0"/>
                  </a:lnTo>
                  <a:lnTo>
                    <a:pt x="42" y="51"/>
                  </a:lnTo>
                  <a:lnTo>
                    <a:pt x="36" y="57"/>
                  </a:lnTo>
                  <a:lnTo>
                    <a:pt x="31" y="62"/>
                  </a:lnTo>
                  <a:lnTo>
                    <a:pt x="26" y="68"/>
                  </a:lnTo>
                  <a:lnTo>
                    <a:pt x="21" y="73"/>
                  </a:lnTo>
                  <a:lnTo>
                    <a:pt x="16" y="79"/>
                  </a:lnTo>
                  <a:lnTo>
                    <a:pt x="10" y="84"/>
                  </a:lnTo>
                  <a:lnTo>
                    <a:pt x="5" y="90"/>
                  </a:lnTo>
                  <a:lnTo>
                    <a:pt x="0" y="95"/>
                  </a:lnTo>
                  <a:lnTo>
                    <a:pt x="7" y="92"/>
                  </a:lnTo>
                  <a:lnTo>
                    <a:pt x="14" y="90"/>
                  </a:lnTo>
                  <a:lnTo>
                    <a:pt x="21" y="86"/>
                  </a:lnTo>
                  <a:lnTo>
                    <a:pt x="28" y="84"/>
                  </a:lnTo>
                  <a:lnTo>
                    <a:pt x="35" y="81"/>
                  </a:lnTo>
                  <a:lnTo>
                    <a:pt x="42" y="78"/>
                  </a:lnTo>
                  <a:lnTo>
                    <a:pt x="49" y="75"/>
                  </a:lnTo>
                  <a:lnTo>
                    <a:pt x="57" y="73"/>
                  </a:lnTo>
                  <a:lnTo>
                    <a:pt x="117" y="60"/>
                  </a:lnTo>
                  <a:lnTo>
                    <a:pt x="118" y="59"/>
                  </a:lnTo>
                  <a:lnTo>
                    <a:pt x="80" y="4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grpSp>
        <p:nvGrpSpPr>
          <p:cNvPr id="7" name="Group 296">
            <a:extLst>
              <a:ext uri="{FF2B5EF4-FFF2-40B4-BE49-F238E27FC236}">
                <a16:creationId xmlns:a16="http://schemas.microsoft.com/office/drawing/2014/main" id="{46C08D4D-9B1C-1C4F-B431-4B9C5D0FF3F6}"/>
              </a:ext>
            </a:extLst>
          </p:cNvPr>
          <p:cNvGrpSpPr>
            <a:grpSpLocks/>
          </p:cNvGrpSpPr>
          <p:nvPr/>
        </p:nvGrpSpPr>
        <p:grpSpPr bwMode="auto">
          <a:xfrm>
            <a:off x="1738313" y="1914586"/>
            <a:ext cx="1122362" cy="833437"/>
            <a:chOff x="1341" y="978"/>
            <a:chExt cx="875" cy="612"/>
          </a:xfrm>
        </p:grpSpPr>
        <p:sp>
          <p:nvSpPr>
            <p:cNvPr id="22587" name="Freeform 297">
              <a:extLst>
                <a:ext uri="{FF2B5EF4-FFF2-40B4-BE49-F238E27FC236}">
                  <a16:creationId xmlns:a16="http://schemas.microsoft.com/office/drawing/2014/main" id="{224A8FA1-B9D1-747A-7729-CE91F1FA0B68}"/>
                </a:ext>
              </a:extLst>
            </p:cNvPr>
            <p:cNvSpPr>
              <a:spLocks/>
            </p:cNvSpPr>
            <p:nvPr/>
          </p:nvSpPr>
          <p:spPr bwMode="auto">
            <a:xfrm>
              <a:off x="1341" y="978"/>
              <a:ext cx="875" cy="612"/>
            </a:xfrm>
            <a:custGeom>
              <a:avLst/>
              <a:gdLst>
                <a:gd name="T0" fmla="*/ 10117291 w 532"/>
                <a:gd name="T1" fmla="*/ 10021 h 532"/>
                <a:gd name="T2" fmla="*/ 11875194 w 532"/>
                <a:gd name="T3" fmla="*/ 9832 h 532"/>
                <a:gd name="T4" fmla="*/ 13535286 w 532"/>
                <a:gd name="T5" fmla="*/ 9448 h 532"/>
                <a:gd name="T6" fmla="*/ 14981413 w 532"/>
                <a:gd name="T7" fmla="*/ 8921 h 532"/>
                <a:gd name="T8" fmla="*/ 16217197 w 532"/>
                <a:gd name="T9" fmla="*/ 8213 h 532"/>
                <a:gd name="T10" fmla="*/ 17221863 w 532"/>
                <a:gd name="T11" fmla="*/ 7430 h 532"/>
                <a:gd name="T12" fmla="*/ 17929457 w 532"/>
                <a:gd name="T13" fmla="*/ 6540 h 532"/>
                <a:gd name="T14" fmla="*/ 18262549 w 532"/>
                <a:gd name="T15" fmla="*/ 5537 h 532"/>
                <a:gd name="T16" fmla="*/ 18262549 w 532"/>
                <a:gd name="T17" fmla="*/ 4505 h 532"/>
                <a:gd name="T18" fmla="*/ 17929457 w 532"/>
                <a:gd name="T19" fmla="*/ 3532 h 532"/>
                <a:gd name="T20" fmla="*/ 17221863 w 532"/>
                <a:gd name="T21" fmla="*/ 2644 h 532"/>
                <a:gd name="T22" fmla="*/ 16217197 w 532"/>
                <a:gd name="T23" fmla="*/ 1839 h 532"/>
                <a:gd name="T24" fmla="*/ 14981413 w 532"/>
                <a:gd name="T25" fmla="*/ 1141 h 532"/>
                <a:gd name="T26" fmla="*/ 13535286 w 532"/>
                <a:gd name="T27" fmla="*/ 610 h 532"/>
                <a:gd name="T28" fmla="*/ 11875194 w 532"/>
                <a:gd name="T29" fmla="*/ 229 h 532"/>
                <a:gd name="T30" fmla="*/ 10117291 w 532"/>
                <a:gd name="T31" fmla="*/ 1 h 532"/>
                <a:gd name="T32" fmla="*/ 8207439 w 532"/>
                <a:gd name="T33" fmla="*/ 1 h 532"/>
                <a:gd name="T34" fmla="*/ 6414414 w 532"/>
                <a:gd name="T35" fmla="*/ 229 h 532"/>
                <a:gd name="T36" fmla="*/ 4811548 w 532"/>
                <a:gd name="T37" fmla="*/ 610 h 532"/>
                <a:gd name="T38" fmla="*/ 3358850 w 532"/>
                <a:gd name="T39" fmla="*/ 1141 h 532"/>
                <a:gd name="T40" fmla="*/ 2078640 w 532"/>
                <a:gd name="T41" fmla="*/ 1839 h 532"/>
                <a:gd name="T42" fmla="*/ 1111309 w 532"/>
                <a:gd name="T43" fmla="*/ 2644 h 532"/>
                <a:gd name="T44" fmla="*/ 418803 w 532"/>
                <a:gd name="T45" fmla="*/ 3532 h 532"/>
                <a:gd name="T46" fmla="*/ 37276 w 532"/>
                <a:gd name="T47" fmla="*/ 4505 h 532"/>
                <a:gd name="T48" fmla="*/ 37276 w 532"/>
                <a:gd name="T49" fmla="*/ 5537 h 532"/>
                <a:gd name="T50" fmla="*/ 418803 w 532"/>
                <a:gd name="T51" fmla="*/ 6540 h 532"/>
                <a:gd name="T52" fmla="*/ 1111309 w 532"/>
                <a:gd name="T53" fmla="*/ 7430 h 532"/>
                <a:gd name="T54" fmla="*/ 2078640 w 532"/>
                <a:gd name="T55" fmla="*/ 8213 h 532"/>
                <a:gd name="T56" fmla="*/ 3358850 w 532"/>
                <a:gd name="T57" fmla="*/ 8921 h 532"/>
                <a:gd name="T58" fmla="*/ 4811548 w 532"/>
                <a:gd name="T59" fmla="*/ 9448 h 532"/>
                <a:gd name="T60" fmla="*/ 6414414 w 532"/>
                <a:gd name="T61" fmla="*/ 9832 h 532"/>
                <a:gd name="T62" fmla="*/ 8207439 w 532"/>
                <a:gd name="T63" fmla="*/ 10021 h 53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32"/>
                <a:gd name="T97" fmla="*/ 0 h 532"/>
                <a:gd name="T98" fmla="*/ 532 w 532"/>
                <a:gd name="T99" fmla="*/ 532 h 53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32" h="532">
                  <a:moveTo>
                    <a:pt x="266" y="531"/>
                  </a:moveTo>
                  <a:lnTo>
                    <a:pt x="293" y="529"/>
                  </a:lnTo>
                  <a:lnTo>
                    <a:pt x="319" y="526"/>
                  </a:lnTo>
                  <a:lnTo>
                    <a:pt x="344" y="519"/>
                  </a:lnTo>
                  <a:lnTo>
                    <a:pt x="369" y="510"/>
                  </a:lnTo>
                  <a:lnTo>
                    <a:pt x="392" y="499"/>
                  </a:lnTo>
                  <a:lnTo>
                    <a:pt x="414" y="485"/>
                  </a:lnTo>
                  <a:lnTo>
                    <a:pt x="434" y="470"/>
                  </a:lnTo>
                  <a:lnTo>
                    <a:pt x="453" y="453"/>
                  </a:lnTo>
                  <a:lnTo>
                    <a:pt x="470" y="434"/>
                  </a:lnTo>
                  <a:lnTo>
                    <a:pt x="485" y="414"/>
                  </a:lnTo>
                  <a:lnTo>
                    <a:pt x="499" y="392"/>
                  </a:lnTo>
                  <a:lnTo>
                    <a:pt x="510" y="368"/>
                  </a:lnTo>
                  <a:lnTo>
                    <a:pt x="519" y="344"/>
                  </a:lnTo>
                  <a:lnTo>
                    <a:pt x="526" y="318"/>
                  </a:lnTo>
                  <a:lnTo>
                    <a:pt x="529" y="292"/>
                  </a:lnTo>
                  <a:lnTo>
                    <a:pt x="531" y="265"/>
                  </a:lnTo>
                  <a:lnTo>
                    <a:pt x="529" y="238"/>
                  </a:lnTo>
                  <a:lnTo>
                    <a:pt x="526" y="212"/>
                  </a:lnTo>
                  <a:lnTo>
                    <a:pt x="519" y="186"/>
                  </a:lnTo>
                  <a:lnTo>
                    <a:pt x="510" y="162"/>
                  </a:lnTo>
                  <a:lnTo>
                    <a:pt x="499" y="139"/>
                  </a:lnTo>
                  <a:lnTo>
                    <a:pt x="485" y="117"/>
                  </a:lnTo>
                  <a:lnTo>
                    <a:pt x="470" y="97"/>
                  </a:lnTo>
                  <a:lnTo>
                    <a:pt x="453" y="78"/>
                  </a:lnTo>
                  <a:lnTo>
                    <a:pt x="434" y="60"/>
                  </a:lnTo>
                  <a:lnTo>
                    <a:pt x="414" y="46"/>
                  </a:lnTo>
                  <a:lnTo>
                    <a:pt x="392" y="32"/>
                  </a:lnTo>
                  <a:lnTo>
                    <a:pt x="369" y="21"/>
                  </a:lnTo>
                  <a:lnTo>
                    <a:pt x="344" y="12"/>
                  </a:lnTo>
                  <a:lnTo>
                    <a:pt x="319" y="5"/>
                  </a:lnTo>
                  <a:lnTo>
                    <a:pt x="293" y="1"/>
                  </a:lnTo>
                  <a:lnTo>
                    <a:pt x="266" y="0"/>
                  </a:lnTo>
                  <a:lnTo>
                    <a:pt x="238" y="1"/>
                  </a:lnTo>
                  <a:lnTo>
                    <a:pt x="212" y="5"/>
                  </a:lnTo>
                  <a:lnTo>
                    <a:pt x="186" y="12"/>
                  </a:lnTo>
                  <a:lnTo>
                    <a:pt x="162" y="21"/>
                  </a:lnTo>
                  <a:lnTo>
                    <a:pt x="139" y="32"/>
                  </a:lnTo>
                  <a:lnTo>
                    <a:pt x="117" y="46"/>
                  </a:lnTo>
                  <a:lnTo>
                    <a:pt x="97" y="60"/>
                  </a:lnTo>
                  <a:lnTo>
                    <a:pt x="78" y="78"/>
                  </a:lnTo>
                  <a:lnTo>
                    <a:pt x="60" y="97"/>
                  </a:lnTo>
                  <a:lnTo>
                    <a:pt x="45" y="117"/>
                  </a:lnTo>
                  <a:lnTo>
                    <a:pt x="32" y="139"/>
                  </a:lnTo>
                  <a:lnTo>
                    <a:pt x="21" y="162"/>
                  </a:lnTo>
                  <a:lnTo>
                    <a:pt x="12" y="186"/>
                  </a:lnTo>
                  <a:lnTo>
                    <a:pt x="5" y="212"/>
                  </a:lnTo>
                  <a:lnTo>
                    <a:pt x="1" y="238"/>
                  </a:lnTo>
                  <a:lnTo>
                    <a:pt x="0" y="265"/>
                  </a:lnTo>
                  <a:lnTo>
                    <a:pt x="1" y="292"/>
                  </a:lnTo>
                  <a:lnTo>
                    <a:pt x="5" y="318"/>
                  </a:lnTo>
                  <a:lnTo>
                    <a:pt x="12" y="344"/>
                  </a:lnTo>
                  <a:lnTo>
                    <a:pt x="21" y="368"/>
                  </a:lnTo>
                  <a:lnTo>
                    <a:pt x="32" y="392"/>
                  </a:lnTo>
                  <a:lnTo>
                    <a:pt x="45" y="414"/>
                  </a:lnTo>
                  <a:lnTo>
                    <a:pt x="60" y="434"/>
                  </a:lnTo>
                  <a:lnTo>
                    <a:pt x="78" y="453"/>
                  </a:lnTo>
                  <a:lnTo>
                    <a:pt x="97" y="470"/>
                  </a:lnTo>
                  <a:lnTo>
                    <a:pt x="117" y="485"/>
                  </a:lnTo>
                  <a:lnTo>
                    <a:pt x="139" y="499"/>
                  </a:lnTo>
                  <a:lnTo>
                    <a:pt x="162" y="510"/>
                  </a:lnTo>
                  <a:lnTo>
                    <a:pt x="186" y="519"/>
                  </a:lnTo>
                  <a:lnTo>
                    <a:pt x="212" y="526"/>
                  </a:lnTo>
                  <a:lnTo>
                    <a:pt x="238" y="529"/>
                  </a:lnTo>
                  <a:lnTo>
                    <a:pt x="266" y="531"/>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8" name="Rectangle 298">
              <a:extLst>
                <a:ext uri="{FF2B5EF4-FFF2-40B4-BE49-F238E27FC236}">
                  <a16:creationId xmlns:a16="http://schemas.microsoft.com/office/drawing/2014/main" id="{7F243236-1374-9C8D-2A0D-FA522A9C24B3}"/>
                </a:ext>
              </a:extLst>
            </p:cNvPr>
            <p:cNvSpPr>
              <a:spLocks noChangeArrowheads="1"/>
            </p:cNvSpPr>
            <p:nvPr/>
          </p:nvSpPr>
          <p:spPr bwMode="auto">
            <a:xfrm>
              <a:off x="1559" y="1158"/>
              <a:ext cx="43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600" b="1">
                  <a:solidFill>
                    <a:srgbClr val="FC0128"/>
                  </a:solidFill>
                  <a:latin typeface="Arial" panose="020B0604020202020204" pitchFamily="34" charset="0"/>
                </a:rPr>
                <a:t>SUN</a:t>
              </a:r>
              <a:endParaRPr lang="en-GB" altLang="en-US" sz="1100" b="1">
                <a:solidFill>
                  <a:srgbClr val="FC0128"/>
                </a:solidFill>
                <a:latin typeface="Arial" panose="020B0604020202020204" pitchFamily="34" charset="0"/>
              </a:endParaRPr>
            </a:p>
          </p:txBody>
        </p:sp>
      </p:grpSp>
      <p:sp>
        <p:nvSpPr>
          <p:cNvPr id="139563" name="Rectangle 299">
            <a:extLst>
              <a:ext uri="{FF2B5EF4-FFF2-40B4-BE49-F238E27FC236}">
                <a16:creationId xmlns:a16="http://schemas.microsoft.com/office/drawing/2014/main" id="{A0A333C1-5369-FCC0-22BD-0BDB95C1AF58}"/>
              </a:ext>
            </a:extLst>
          </p:cNvPr>
          <p:cNvSpPr>
            <a:spLocks noChangeArrowheads="1"/>
          </p:cNvSpPr>
          <p:nvPr/>
        </p:nvSpPr>
        <p:spPr bwMode="auto">
          <a:xfrm>
            <a:off x="3203575" y="2449573"/>
            <a:ext cx="2759075"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Some solar radiation is</a:t>
            </a:r>
          </a:p>
          <a:p>
            <a:pPr algn="ctr">
              <a:lnSpc>
                <a:spcPct val="100000"/>
              </a:lnSpc>
              <a:spcBef>
                <a:spcPct val="0"/>
              </a:spcBef>
              <a:buFontTx/>
              <a:buNone/>
            </a:pPr>
            <a:r>
              <a:rPr lang="en-GB" altLang="en-US" sz="1200" b="1">
                <a:solidFill>
                  <a:srgbClr val="000000"/>
                </a:solidFill>
                <a:latin typeface="Arial" panose="020B0604020202020204" pitchFamily="34" charset="0"/>
              </a:rPr>
              <a:t>reflected by the earth’s</a:t>
            </a:r>
          </a:p>
          <a:p>
            <a:pPr algn="ctr">
              <a:lnSpc>
                <a:spcPct val="100000"/>
              </a:lnSpc>
              <a:spcBef>
                <a:spcPct val="0"/>
              </a:spcBef>
              <a:buFontTx/>
              <a:buNone/>
            </a:pPr>
            <a:r>
              <a:rPr lang="en-GB" altLang="en-US" sz="1200" b="1">
                <a:solidFill>
                  <a:srgbClr val="000000"/>
                </a:solidFill>
                <a:latin typeface="Arial" panose="020B0604020202020204" pitchFamily="34" charset="0"/>
              </a:rPr>
              <a:t>surface, clouds and the atmosphere</a:t>
            </a:r>
            <a:endParaRPr lang="en-GB" altLang="en-US" sz="1300" b="1">
              <a:solidFill>
                <a:srgbClr val="000000"/>
              </a:solidFill>
              <a:latin typeface="Arial" panose="020B0604020202020204" pitchFamily="34" charset="0"/>
            </a:endParaRPr>
          </a:p>
        </p:txBody>
      </p:sp>
      <p:sp>
        <p:nvSpPr>
          <p:cNvPr id="139564" name="Rectangle 300">
            <a:extLst>
              <a:ext uri="{FF2B5EF4-FFF2-40B4-BE49-F238E27FC236}">
                <a16:creationId xmlns:a16="http://schemas.microsoft.com/office/drawing/2014/main" id="{54667EE4-67F1-0ED0-DA21-FAC0B1366E99}"/>
              </a:ext>
            </a:extLst>
          </p:cNvPr>
          <p:cNvSpPr>
            <a:spLocks noChangeArrowheads="1"/>
          </p:cNvSpPr>
          <p:nvPr/>
        </p:nvSpPr>
        <p:spPr bwMode="auto">
          <a:xfrm>
            <a:off x="4368800" y="4027548"/>
            <a:ext cx="13795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1400" b="1">
                <a:latin typeface="Arial" panose="020B0604020202020204" pitchFamily="34" charset="0"/>
              </a:rPr>
              <a:t>ATMOSPHERE</a:t>
            </a:r>
          </a:p>
        </p:txBody>
      </p:sp>
      <p:sp>
        <p:nvSpPr>
          <p:cNvPr id="139565" name="Rectangle 301">
            <a:extLst>
              <a:ext uri="{FF2B5EF4-FFF2-40B4-BE49-F238E27FC236}">
                <a16:creationId xmlns:a16="http://schemas.microsoft.com/office/drawing/2014/main" id="{D036D7BA-5716-ED39-69D6-768A7B7935DA}"/>
              </a:ext>
            </a:extLst>
          </p:cNvPr>
          <p:cNvSpPr>
            <a:spLocks noChangeArrowheads="1"/>
          </p:cNvSpPr>
          <p:nvPr/>
        </p:nvSpPr>
        <p:spPr bwMode="auto">
          <a:xfrm>
            <a:off x="2297113" y="5742048"/>
            <a:ext cx="14954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and is absorbed to</a:t>
            </a:r>
          </a:p>
          <a:p>
            <a:pPr algn="ctr">
              <a:lnSpc>
                <a:spcPct val="100000"/>
              </a:lnSpc>
              <a:spcBef>
                <a:spcPct val="0"/>
              </a:spcBef>
              <a:buFontTx/>
              <a:buNone/>
            </a:pPr>
            <a:r>
              <a:rPr lang="en-GB" altLang="en-US" sz="1200" b="1">
                <a:solidFill>
                  <a:srgbClr val="000000"/>
                </a:solidFill>
                <a:latin typeface="Arial" panose="020B0604020202020204" pitchFamily="34" charset="0"/>
              </a:rPr>
              <a:t> warm the surface</a:t>
            </a:r>
          </a:p>
        </p:txBody>
      </p:sp>
      <p:sp>
        <p:nvSpPr>
          <p:cNvPr id="139566" name="Rectangle 302">
            <a:extLst>
              <a:ext uri="{FF2B5EF4-FFF2-40B4-BE49-F238E27FC236}">
                <a16:creationId xmlns:a16="http://schemas.microsoft.com/office/drawing/2014/main" id="{B98807E1-05D2-B670-5CD4-E89AA948A1C1}"/>
              </a:ext>
            </a:extLst>
          </p:cNvPr>
          <p:cNvSpPr>
            <a:spLocks noChangeArrowheads="1"/>
          </p:cNvSpPr>
          <p:nvPr/>
        </p:nvSpPr>
        <p:spPr bwMode="auto">
          <a:xfrm>
            <a:off x="6586538" y="1793936"/>
            <a:ext cx="209708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Some of the infrared</a:t>
            </a:r>
          </a:p>
          <a:p>
            <a:pPr algn="ctr">
              <a:lnSpc>
                <a:spcPct val="100000"/>
              </a:lnSpc>
              <a:spcBef>
                <a:spcPct val="0"/>
              </a:spcBef>
              <a:buFontTx/>
              <a:buNone/>
            </a:pPr>
            <a:r>
              <a:rPr lang="en-GB" altLang="en-US" sz="1200" b="1">
                <a:solidFill>
                  <a:srgbClr val="000000"/>
                </a:solidFill>
                <a:latin typeface="Arial" panose="020B0604020202020204" pitchFamily="34" charset="0"/>
              </a:rPr>
              <a:t>radiation is absorbed</a:t>
            </a:r>
          </a:p>
          <a:p>
            <a:pPr algn="ctr">
              <a:lnSpc>
                <a:spcPct val="100000"/>
              </a:lnSpc>
              <a:spcBef>
                <a:spcPct val="0"/>
              </a:spcBef>
              <a:buFontTx/>
              <a:buNone/>
            </a:pPr>
            <a:r>
              <a:rPr lang="en-GB" altLang="en-US" sz="1200" b="1">
                <a:solidFill>
                  <a:srgbClr val="000000"/>
                </a:solidFill>
                <a:latin typeface="Arial" panose="020B0604020202020204" pitchFamily="34" charset="0"/>
              </a:rPr>
              <a:t>and re-emitted by the</a:t>
            </a:r>
          </a:p>
          <a:p>
            <a:pPr algn="ctr">
              <a:lnSpc>
                <a:spcPct val="100000"/>
              </a:lnSpc>
              <a:spcBef>
                <a:spcPct val="0"/>
              </a:spcBef>
              <a:buFontTx/>
              <a:buNone/>
            </a:pPr>
            <a:r>
              <a:rPr lang="en-GB" altLang="en-US" sz="1200" b="1">
                <a:solidFill>
                  <a:srgbClr val="000000"/>
                </a:solidFill>
                <a:latin typeface="Arial" panose="020B0604020202020204" pitchFamily="34" charset="0"/>
              </a:rPr>
              <a:t>greenhouse gases.</a:t>
            </a:r>
          </a:p>
        </p:txBody>
      </p:sp>
      <p:sp>
        <p:nvSpPr>
          <p:cNvPr id="139567" name="Rectangle 303">
            <a:extLst>
              <a:ext uri="{FF2B5EF4-FFF2-40B4-BE49-F238E27FC236}">
                <a16:creationId xmlns:a16="http://schemas.microsoft.com/office/drawing/2014/main" id="{D7E94222-B78B-E92D-8531-62B52C3267C1}"/>
              </a:ext>
            </a:extLst>
          </p:cNvPr>
          <p:cNvSpPr>
            <a:spLocks noChangeArrowheads="1"/>
          </p:cNvSpPr>
          <p:nvPr/>
        </p:nvSpPr>
        <p:spPr bwMode="auto">
          <a:xfrm>
            <a:off x="6861175" y="4289486"/>
            <a:ext cx="1946275"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Terrestrial radiation</a:t>
            </a:r>
          </a:p>
          <a:p>
            <a:pPr algn="ctr">
              <a:lnSpc>
                <a:spcPct val="100000"/>
              </a:lnSpc>
              <a:spcBef>
                <a:spcPct val="0"/>
              </a:spcBef>
              <a:buFontTx/>
              <a:buNone/>
            </a:pPr>
            <a:r>
              <a:rPr lang="en-GB" altLang="en-US" sz="1200" b="1">
                <a:solidFill>
                  <a:srgbClr val="000000"/>
                </a:solidFill>
                <a:latin typeface="Arial" panose="020B0604020202020204" pitchFamily="34" charset="0"/>
              </a:rPr>
              <a:t> low temperature source </a:t>
            </a:r>
          </a:p>
          <a:p>
            <a:pPr algn="ctr">
              <a:lnSpc>
                <a:spcPct val="100000"/>
              </a:lnSpc>
              <a:spcBef>
                <a:spcPct val="0"/>
              </a:spcBef>
              <a:buFontTx/>
              <a:buNone/>
            </a:pPr>
            <a:r>
              <a:rPr lang="en-GB" altLang="en-US" sz="1200" b="1">
                <a:solidFill>
                  <a:srgbClr val="FF0066"/>
                </a:solidFill>
                <a:latin typeface="Arial" panose="020B0604020202020204" pitchFamily="34" charset="0"/>
              </a:rPr>
              <a:t> Long Waves</a:t>
            </a:r>
            <a:endParaRPr lang="en-GB" altLang="en-US" sz="1200" b="1">
              <a:solidFill>
                <a:srgbClr val="000000"/>
              </a:solidFill>
              <a:latin typeface="Arial" panose="020B0604020202020204" pitchFamily="34" charset="0"/>
            </a:endParaRPr>
          </a:p>
        </p:txBody>
      </p:sp>
      <p:sp>
        <p:nvSpPr>
          <p:cNvPr id="22546" name="Text Box 304">
            <a:extLst>
              <a:ext uri="{FF2B5EF4-FFF2-40B4-BE49-F238E27FC236}">
                <a16:creationId xmlns:a16="http://schemas.microsoft.com/office/drawing/2014/main" id="{074FBC89-9278-A2C3-0EE9-5244A22DDFC6}"/>
              </a:ext>
            </a:extLst>
          </p:cNvPr>
          <p:cNvSpPr txBox="1">
            <a:spLocks noChangeArrowheads="1"/>
          </p:cNvSpPr>
          <p:nvPr/>
        </p:nvSpPr>
        <p:spPr bwMode="auto">
          <a:xfrm>
            <a:off x="395288" y="1351023"/>
            <a:ext cx="125412"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741" tIns="31371" rIns="62741" bIns="31371">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600" b="1">
              <a:solidFill>
                <a:srgbClr val="000000"/>
              </a:solidFill>
              <a:latin typeface="Arial" panose="020B0604020202020204" pitchFamily="34" charset="0"/>
            </a:endParaRPr>
          </a:p>
        </p:txBody>
      </p:sp>
      <p:sp>
        <p:nvSpPr>
          <p:cNvPr id="139570" name="Rectangle 306">
            <a:extLst>
              <a:ext uri="{FF2B5EF4-FFF2-40B4-BE49-F238E27FC236}">
                <a16:creationId xmlns:a16="http://schemas.microsoft.com/office/drawing/2014/main" id="{9DF912A7-9BA9-65A3-2000-0FD6D2712015}"/>
              </a:ext>
            </a:extLst>
          </p:cNvPr>
          <p:cNvSpPr>
            <a:spLocks noChangeArrowheads="1"/>
          </p:cNvSpPr>
          <p:nvPr/>
        </p:nvSpPr>
        <p:spPr bwMode="auto">
          <a:xfrm>
            <a:off x="1574800" y="1360548"/>
            <a:ext cx="1487488"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Solar radiation</a:t>
            </a:r>
          </a:p>
          <a:p>
            <a:pPr algn="ctr">
              <a:lnSpc>
                <a:spcPct val="100000"/>
              </a:lnSpc>
              <a:spcBef>
                <a:spcPct val="0"/>
              </a:spcBef>
              <a:buFontTx/>
              <a:buNone/>
            </a:pPr>
            <a:r>
              <a:rPr lang="en-GB" altLang="en-US" sz="1200" b="1">
                <a:solidFill>
                  <a:srgbClr val="000000"/>
                </a:solidFill>
                <a:latin typeface="Arial" panose="020B0604020202020204" pitchFamily="34" charset="0"/>
              </a:rPr>
              <a:t>high temp’ source </a:t>
            </a:r>
          </a:p>
          <a:p>
            <a:pPr algn="ctr">
              <a:lnSpc>
                <a:spcPct val="100000"/>
              </a:lnSpc>
              <a:spcBef>
                <a:spcPct val="0"/>
              </a:spcBef>
              <a:buFontTx/>
              <a:buNone/>
            </a:pPr>
            <a:r>
              <a:rPr lang="en-GB" altLang="en-US" sz="1200" b="1">
                <a:solidFill>
                  <a:srgbClr val="FF0066"/>
                </a:solidFill>
                <a:latin typeface="Arial" panose="020B0604020202020204" pitchFamily="34" charset="0"/>
              </a:rPr>
              <a:t>Short Waves</a:t>
            </a:r>
          </a:p>
        </p:txBody>
      </p:sp>
      <p:sp>
        <p:nvSpPr>
          <p:cNvPr id="139571" name="Rectangle 307">
            <a:extLst>
              <a:ext uri="{FF2B5EF4-FFF2-40B4-BE49-F238E27FC236}">
                <a16:creationId xmlns:a16="http://schemas.microsoft.com/office/drawing/2014/main" id="{4607F598-E2BC-3EE5-4827-CF68DDBECD73}"/>
              </a:ext>
            </a:extLst>
          </p:cNvPr>
          <p:cNvSpPr>
            <a:spLocks noChangeArrowheads="1"/>
          </p:cNvSpPr>
          <p:nvPr/>
        </p:nvSpPr>
        <p:spPr bwMode="auto">
          <a:xfrm>
            <a:off x="4471988" y="1666936"/>
            <a:ext cx="1350962"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1400" b="1">
                <a:latin typeface="Arial" panose="020B0604020202020204" pitchFamily="34" charset="0"/>
              </a:rPr>
              <a:t>SPACE</a:t>
            </a:r>
          </a:p>
        </p:txBody>
      </p:sp>
      <p:grpSp>
        <p:nvGrpSpPr>
          <p:cNvPr id="8" name="Group 308">
            <a:extLst>
              <a:ext uri="{FF2B5EF4-FFF2-40B4-BE49-F238E27FC236}">
                <a16:creationId xmlns:a16="http://schemas.microsoft.com/office/drawing/2014/main" id="{82822473-BE74-D5CD-1E1F-EFF25A9B0A4D}"/>
              </a:ext>
            </a:extLst>
          </p:cNvPr>
          <p:cNvGrpSpPr>
            <a:grpSpLocks/>
          </p:cNvGrpSpPr>
          <p:nvPr/>
        </p:nvGrpSpPr>
        <p:grpSpPr bwMode="auto">
          <a:xfrm>
            <a:off x="1725613" y="2640073"/>
            <a:ext cx="711200" cy="1558925"/>
            <a:chOff x="1331" y="1511"/>
            <a:chExt cx="555" cy="1145"/>
          </a:xfrm>
        </p:grpSpPr>
        <p:grpSp>
          <p:nvGrpSpPr>
            <p:cNvPr id="22558" name="Group 309">
              <a:extLst>
                <a:ext uri="{FF2B5EF4-FFF2-40B4-BE49-F238E27FC236}">
                  <a16:creationId xmlns:a16="http://schemas.microsoft.com/office/drawing/2014/main" id="{7FC0BD21-987B-EA5B-8D00-E8590B01641A}"/>
                </a:ext>
              </a:extLst>
            </p:cNvPr>
            <p:cNvGrpSpPr>
              <a:grpSpLocks/>
            </p:cNvGrpSpPr>
            <p:nvPr/>
          </p:nvGrpSpPr>
          <p:grpSpPr bwMode="auto">
            <a:xfrm>
              <a:off x="1331" y="1511"/>
              <a:ext cx="543" cy="1061"/>
              <a:chOff x="1745" y="2574"/>
              <a:chExt cx="543" cy="1061"/>
            </a:xfrm>
          </p:grpSpPr>
          <p:sp>
            <p:nvSpPr>
              <p:cNvPr id="22560" name="Freeform 310">
                <a:extLst>
                  <a:ext uri="{FF2B5EF4-FFF2-40B4-BE49-F238E27FC236}">
                    <a16:creationId xmlns:a16="http://schemas.microsoft.com/office/drawing/2014/main" id="{7B8C85C0-E77E-C5D3-2716-1DA0FEBD9B2A}"/>
                  </a:ext>
                </a:extLst>
              </p:cNvPr>
              <p:cNvSpPr>
                <a:spLocks/>
              </p:cNvSpPr>
              <p:nvPr/>
            </p:nvSpPr>
            <p:spPr bwMode="auto">
              <a:xfrm>
                <a:off x="2210" y="3547"/>
                <a:ext cx="78" cy="88"/>
              </a:xfrm>
              <a:custGeom>
                <a:avLst/>
                <a:gdLst>
                  <a:gd name="T0" fmla="*/ 1379691 w 47"/>
                  <a:gd name="T1" fmla="*/ 93 h 76"/>
                  <a:gd name="T2" fmla="*/ 1379691 w 47"/>
                  <a:gd name="T3" fmla="*/ 125 h 76"/>
                  <a:gd name="T4" fmla="*/ 1285052 w 47"/>
                  <a:gd name="T5" fmla="*/ 125 h 76"/>
                  <a:gd name="T6" fmla="*/ 1007239 w 47"/>
                  <a:gd name="T7" fmla="*/ 226 h 76"/>
                  <a:gd name="T8" fmla="*/ 683071 w 47"/>
                  <a:gd name="T9" fmla="*/ 303 h 76"/>
                  <a:gd name="T10" fmla="*/ 301850 w 47"/>
                  <a:gd name="T11" fmla="*/ 470 h 76"/>
                  <a:gd name="T12" fmla="*/ 44208 w 47"/>
                  <a:gd name="T13" fmla="*/ 729 h 76"/>
                  <a:gd name="T14" fmla="*/ 0 w 47"/>
                  <a:gd name="T15" fmla="*/ 1131 h 76"/>
                  <a:gd name="T16" fmla="*/ 121756 w 47"/>
                  <a:gd name="T17" fmla="*/ 1630 h 76"/>
                  <a:gd name="T18" fmla="*/ 683071 w 47"/>
                  <a:gd name="T19" fmla="*/ 1537 h 76"/>
                  <a:gd name="T20" fmla="*/ 556520 w 47"/>
                  <a:gd name="T21" fmla="*/ 1079 h 76"/>
                  <a:gd name="T22" fmla="*/ 577434 w 47"/>
                  <a:gd name="T23" fmla="*/ 819 h 76"/>
                  <a:gd name="T24" fmla="*/ 758525 w 47"/>
                  <a:gd name="T25" fmla="*/ 659 h 76"/>
                  <a:gd name="T26" fmla="*/ 1007239 w 47"/>
                  <a:gd name="T27" fmla="*/ 569 h 76"/>
                  <a:gd name="T28" fmla="*/ 1285052 w 47"/>
                  <a:gd name="T29" fmla="*/ 447 h 76"/>
                  <a:gd name="T30" fmla="*/ 1590362 w 47"/>
                  <a:gd name="T31" fmla="*/ 386 h 76"/>
                  <a:gd name="T32" fmla="*/ 1907917 w 47"/>
                  <a:gd name="T33" fmla="*/ 247 h 76"/>
                  <a:gd name="T34" fmla="*/ 1907917 w 47"/>
                  <a:gd name="T35" fmla="*/ 0 h 76"/>
                  <a:gd name="T36" fmla="*/ 1379691 w 47"/>
                  <a:gd name="T37" fmla="*/ 93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76"/>
                  <a:gd name="T59" fmla="*/ 47 w 47"/>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76">
                    <a:moveTo>
                      <a:pt x="33" y="4"/>
                    </a:moveTo>
                    <a:lnTo>
                      <a:pt x="33" y="6"/>
                    </a:lnTo>
                    <a:lnTo>
                      <a:pt x="31" y="6"/>
                    </a:lnTo>
                    <a:lnTo>
                      <a:pt x="24" y="10"/>
                    </a:lnTo>
                    <a:lnTo>
                      <a:pt x="16" y="14"/>
                    </a:lnTo>
                    <a:lnTo>
                      <a:pt x="7" y="22"/>
                    </a:lnTo>
                    <a:lnTo>
                      <a:pt x="1" y="34"/>
                    </a:lnTo>
                    <a:lnTo>
                      <a:pt x="0" y="52"/>
                    </a:lnTo>
                    <a:lnTo>
                      <a:pt x="3" y="75"/>
                    </a:lnTo>
                    <a:lnTo>
                      <a:pt x="16" y="71"/>
                    </a:lnTo>
                    <a:lnTo>
                      <a:pt x="13" y="50"/>
                    </a:lnTo>
                    <a:lnTo>
                      <a:pt x="14" y="38"/>
                    </a:lnTo>
                    <a:lnTo>
                      <a:pt x="18" y="30"/>
                    </a:lnTo>
                    <a:lnTo>
                      <a:pt x="24" y="26"/>
                    </a:lnTo>
                    <a:lnTo>
                      <a:pt x="31" y="21"/>
                    </a:lnTo>
                    <a:lnTo>
                      <a:pt x="38" y="18"/>
                    </a:lnTo>
                    <a:lnTo>
                      <a:pt x="46" y="11"/>
                    </a:lnTo>
                    <a:lnTo>
                      <a:pt x="46" y="0"/>
                    </a:lnTo>
                    <a:lnTo>
                      <a:pt x="3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1" name="Freeform 311">
                <a:extLst>
                  <a:ext uri="{FF2B5EF4-FFF2-40B4-BE49-F238E27FC236}">
                    <a16:creationId xmlns:a16="http://schemas.microsoft.com/office/drawing/2014/main" id="{164B5307-2BB6-6311-1652-7A74C40BB67A}"/>
                  </a:ext>
                </a:extLst>
              </p:cNvPr>
              <p:cNvSpPr>
                <a:spLocks/>
              </p:cNvSpPr>
              <p:nvPr/>
            </p:nvSpPr>
            <p:spPr bwMode="auto">
              <a:xfrm>
                <a:off x="2114" y="3516"/>
                <a:ext cx="174" cy="37"/>
              </a:xfrm>
              <a:custGeom>
                <a:avLst/>
                <a:gdLst>
                  <a:gd name="T0" fmla="*/ 0 w 105"/>
                  <a:gd name="T1" fmla="*/ 93 h 32"/>
                  <a:gd name="T2" fmla="*/ 320394 w 105"/>
                  <a:gd name="T3" fmla="*/ 299 h 32"/>
                  <a:gd name="T4" fmla="*/ 851120 w 105"/>
                  <a:gd name="T5" fmla="*/ 383 h 32"/>
                  <a:gd name="T6" fmla="*/ 1410427 w 105"/>
                  <a:gd name="T7" fmla="*/ 435 h 32"/>
                  <a:gd name="T8" fmla="*/ 2080606 w 105"/>
                  <a:gd name="T9" fmla="*/ 463 h 32"/>
                  <a:gd name="T10" fmla="*/ 2706298 w 105"/>
                  <a:gd name="T11" fmla="*/ 503 h 32"/>
                  <a:gd name="T12" fmla="*/ 3243486 w 105"/>
                  <a:gd name="T13" fmla="*/ 535 h 32"/>
                  <a:gd name="T14" fmla="*/ 3564453 w 105"/>
                  <a:gd name="T15" fmla="*/ 592 h 32"/>
                  <a:gd name="T16" fmla="*/ 3677016 w 105"/>
                  <a:gd name="T17" fmla="*/ 673 h 32"/>
                  <a:gd name="T18" fmla="*/ 4192184 w 105"/>
                  <a:gd name="T19" fmla="*/ 582 h 32"/>
                  <a:gd name="T20" fmla="*/ 3873205 w 105"/>
                  <a:gd name="T21" fmla="*/ 346 h 32"/>
                  <a:gd name="T22" fmla="*/ 3311643 w 105"/>
                  <a:gd name="T23" fmla="*/ 259 h 32"/>
                  <a:gd name="T24" fmla="*/ 2755964 w 105"/>
                  <a:gd name="T25" fmla="*/ 224 h 32"/>
                  <a:gd name="T26" fmla="*/ 2105818 w 105"/>
                  <a:gd name="T27" fmla="*/ 194 h 32"/>
                  <a:gd name="T28" fmla="*/ 1458024 w 105"/>
                  <a:gd name="T29" fmla="*/ 145 h 32"/>
                  <a:gd name="T30" fmla="*/ 921214 w 105"/>
                  <a:gd name="T31" fmla="*/ 108 h 32"/>
                  <a:gd name="T32" fmla="*/ 605611 w 105"/>
                  <a:gd name="T33" fmla="*/ 2 h 32"/>
                  <a:gd name="T34" fmla="*/ 530939 w 105"/>
                  <a:gd name="T35" fmla="*/ 0 h 32"/>
                  <a:gd name="T36" fmla="*/ 0 w 105"/>
                  <a:gd name="T37" fmla="*/ 93 h 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2"/>
                  <a:gd name="T59" fmla="*/ 105 w 105"/>
                  <a:gd name="T60" fmla="*/ 32 h 3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2">
                    <a:moveTo>
                      <a:pt x="0" y="4"/>
                    </a:moveTo>
                    <a:lnTo>
                      <a:pt x="8" y="14"/>
                    </a:lnTo>
                    <a:lnTo>
                      <a:pt x="21" y="18"/>
                    </a:lnTo>
                    <a:lnTo>
                      <a:pt x="35" y="20"/>
                    </a:lnTo>
                    <a:lnTo>
                      <a:pt x="51" y="22"/>
                    </a:lnTo>
                    <a:lnTo>
                      <a:pt x="67" y="23"/>
                    </a:lnTo>
                    <a:lnTo>
                      <a:pt x="80" y="25"/>
                    </a:lnTo>
                    <a:lnTo>
                      <a:pt x="88" y="28"/>
                    </a:lnTo>
                    <a:lnTo>
                      <a:pt x="91" y="31"/>
                    </a:lnTo>
                    <a:lnTo>
                      <a:pt x="104" y="27"/>
                    </a:lnTo>
                    <a:lnTo>
                      <a:pt x="96" y="16"/>
                    </a:lnTo>
                    <a:lnTo>
                      <a:pt x="82" y="12"/>
                    </a:lnTo>
                    <a:lnTo>
                      <a:pt x="68" y="10"/>
                    </a:lnTo>
                    <a:lnTo>
                      <a:pt x="52" y="9"/>
                    </a:lnTo>
                    <a:lnTo>
                      <a:pt x="36"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2" name="Freeform 312">
                <a:extLst>
                  <a:ext uri="{FF2B5EF4-FFF2-40B4-BE49-F238E27FC236}">
                    <a16:creationId xmlns:a16="http://schemas.microsoft.com/office/drawing/2014/main" id="{F2F6DBDC-8B51-3A39-73FF-C76E86A27982}"/>
                  </a:ext>
                </a:extLst>
              </p:cNvPr>
              <p:cNvSpPr>
                <a:spLocks/>
              </p:cNvSpPr>
              <p:nvPr/>
            </p:nvSpPr>
            <p:spPr bwMode="auto">
              <a:xfrm>
                <a:off x="2114" y="3516"/>
                <a:ext cx="24" cy="6"/>
              </a:xfrm>
              <a:custGeom>
                <a:avLst/>
                <a:gdLst>
                  <a:gd name="T0" fmla="*/ 0 w 14"/>
                  <a:gd name="T1" fmla="*/ 179 h 5"/>
                  <a:gd name="T2" fmla="*/ 477204 w 14"/>
                  <a:gd name="T3" fmla="*/ 2 h 5"/>
                  <a:gd name="T4" fmla="*/ 1057803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3" name="Freeform 313">
                <a:extLst>
                  <a:ext uri="{FF2B5EF4-FFF2-40B4-BE49-F238E27FC236}">
                    <a16:creationId xmlns:a16="http://schemas.microsoft.com/office/drawing/2014/main" id="{D57C5B02-00F6-1E45-82C6-F3172A80F84B}"/>
                  </a:ext>
                </a:extLst>
              </p:cNvPr>
              <p:cNvSpPr>
                <a:spLocks/>
              </p:cNvSpPr>
              <p:nvPr/>
            </p:nvSpPr>
            <p:spPr bwMode="auto">
              <a:xfrm>
                <a:off x="2114" y="3450"/>
                <a:ext cx="139" cy="72"/>
              </a:xfrm>
              <a:custGeom>
                <a:avLst/>
                <a:gdLst>
                  <a:gd name="T0" fmla="*/ 2750315 w 84"/>
                  <a:gd name="T1" fmla="*/ 73 h 63"/>
                  <a:gd name="T2" fmla="*/ 2674282 w 84"/>
                  <a:gd name="T3" fmla="*/ 83 h 63"/>
                  <a:gd name="T4" fmla="*/ 2468110 w 84"/>
                  <a:gd name="T5" fmla="*/ 186 h 63"/>
                  <a:gd name="T6" fmla="*/ 2035863 w 84"/>
                  <a:gd name="T7" fmla="*/ 278 h 63"/>
                  <a:gd name="T8" fmla="*/ 1491520 w 84"/>
                  <a:gd name="T9" fmla="*/ 394 h 63"/>
                  <a:gd name="T10" fmla="*/ 941823 w 84"/>
                  <a:gd name="T11" fmla="*/ 530 h 63"/>
                  <a:gd name="T12" fmla="*/ 477822 w 84"/>
                  <a:gd name="T13" fmla="*/ 637 h 63"/>
                  <a:gd name="T14" fmla="*/ 68952 w 84"/>
                  <a:gd name="T15" fmla="*/ 808 h 63"/>
                  <a:gd name="T16" fmla="*/ 0 w 84"/>
                  <a:gd name="T17" fmla="*/ 1032 h 63"/>
                  <a:gd name="T18" fmla="*/ 516999 w 84"/>
                  <a:gd name="T19" fmla="*/ 951 h 63"/>
                  <a:gd name="T20" fmla="*/ 544701 w 84"/>
                  <a:gd name="T21" fmla="*/ 923 h 63"/>
                  <a:gd name="T22" fmla="*/ 790682 w 84"/>
                  <a:gd name="T23" fmla="*/ 823 h 63"/>
                  <a:gd name="T24" fmla="*/ 1203808 w 84"/>
                  <a:gd name="T25" fmla="*/ 707 h 63"/>
                  <a:gd name="T26" fmla="*/ 1732518 w 84"/>
                  <a:gd name="T27" fmla="*/ 605 h 63"/>
                  <a:gd name="T28" fmla="*/ 2275245 w 84"/>
                  <a:gd name="T29" fmla="*/ 474 h 63"/>
                  <a:gd name="T30" fmla="*/ 2750315 w 84"/>
                  <a:gd name="T31" fmla="*/ 345 h 63"/>
                  <a:gd name="T32" fmla="*/ 3123646 w 84"/>
                  <a:gd name="T33" fmla="*/ 213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4" name="Freeform 314">
                <a:extLst>
                  <a:ext uri="{FF2B5EF4-FFF2-40B4-BE49-F238E27FC236}">
                    <a16:creationId xmlns:a16="http://schemas.microsoft.com/office/drawing/2014/main" id="{D56C9A78-9B4A-B605-CE33-22CD2977D6AB}"/>
                  </a:ext>
                </a:extLst>
              </p:cNvPr>
              <p:cNvSpPr>
                <a:spLocks/>
              </p:cNvSpPr>
              <p:nvPr/>
            </p:nvSpPr>
            <p:spPr bwMode="auto">
              <a:xfrm>
                <a:off x="2077" y="3421"/>
                <a:ext cx="176" cy="34"/>
              </a:xfrm>
              <a:custGeom>
                <a:avLst/>
                <a:gdLst>
                  <a:gd name="T0" fmla="*/ 0 w 107"/>
                  <a:gd name="T1" fmla="*/ 61 h 30"/>
                  <a:gd name="T2" fmla="*/ 272945 w 107"/>
                  <a:gd name="T3" fmla="*/ 186 h 30"/>
                  <a:gd name="T4" fmla="*/ 738470 w 107"/>
                  <a:gd name="T5" fmla="*/ 264 h 30"/>
                  <a:gd name="T6" fmla="*/ 1242572 w 107"/>
                  <a:gd name="T7" fmla="*/ 298 h 30"/>
                  <a:gd name="T8" fmla="*/ 1829721 w 107"/>
                  <a:gd name="T9" fmla="*/ 298 h 30"/>
                  <a:gd name="T10" fmla="*/ 2351955 w 107"/>
                  <a:gd name="T11" fmla="*/ 299 h 30"/>
                  <a:gd name="T12" fmla="*/ 2833329 w 107"/>
                  <a:gd name="T13" fmla="*/ 338 h 30"/>
                  <a:gd name="T14" fmla="*/ 3156192 w 107"/>
                  <a:gd name="T15" fmla="*/ 383 h 30"/>
                  <a:gd name="T16" fmla="*/ 3223782 w 107"/>
                  <a:gd name="T17" fmla="*/ 394 h 30"/>
                  <a:gd name="T18" fmla="*/ 3649694 w 107"/>
                  <a:gd name="T19" fmla="*/ 339 h 30"/>
                  <a:gd name="T20" fmla="*/ 3361858 w 107"/>
                  <a:gd name="T21" fmla="*/ 206 h 30"/>
                  <a:gd name="T22" fmla="*/ 2899460 w 107"/>
                  <a:gd name="T23" fmla="*/ 145 h 30"/>
                  <a:gd name="T24" fmla="*/ 2374059 w 107"/>
                  <a:gd name="T25" fmla="*/ 113 h 30"/>
                  <a:gd name="T26" fmla="*/ 1829721 w 107"/>
                  <a:gd name="T27" fmla="*/ 100 h 30"/>
                  <a:gd name="T28" fmla="*/ 1326479 w 107"/>
                  <a:gd name="T29" fmla="*/ 100 h 30"/>
                  <a:gd name="T30" fmla="*/ 818282 w 107"/>
                  <a:gd name="T31" fmla="*/ 78 h 30"/>
                  <a:gd name="T32" fmla="*/ 551648 w 107"/>
                  <a:gd name="T33" fmla="*/ 3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9"/>
                    </a:lnTo>
                    <a:lnTo>
                      <a:pt x="36" y="21"/>
                    </a:lnTo>
                    <a:lnTo>
                      <a:pt x="53" y="21"/>
                    </a:lnTo>
                    <a:lnTo>
                      <a:pt x="68" y="22"/>
                    </a:lnTo>
                    <a:lnTo>
                      <a:pt x="82" y="24"/>
                    </a:lnTo>
                    <a:lnTo>
                      <a:pt x="91" y="27"/>
                    </a:lnTo>
                    <a:lnTo>
                      <a:pt x="93" y="29"/>
                    </a:lnTo>
                    <a:lnTo>
                      <a:pt x="106" y="25"/>
                    </a:lnTo>
                    <a:lnTo>
                      <a:pt x="97" y="15"/>
                    </a:lnTo>
                    <a:lnTo>
                      <a:pt x="84" y="11"/>
                    </a:lnTo>
                    <a:lnTo>
                      <a:pt x="69" y="9"/>
                    </a:lnTo>
                    <a:lnTo>
                      <a:pt x="53" y="8"/>
                    </a:lnTo>
                    <a:lnTo>
                      <a:pt x="38"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5" name="Freeform 315">
                <a:extLst>
                  <a:ext uri="{FF2B5EF4-FFF2-40B4-BE49-F238E27FC236}">
                    <a16:creationId xmlns:a16="http://schemas.microsoft.com/office/drawing/2014/main" id="{31E0F567-F942-B212-CEBD-B59383E54804}"/>
                  </a:ext>
                </a:extLst>
              </p:cNvPr>
              <p:cNvSpPr>
                <a:spLocks/>
              </p:cNvSpPr>
              <p:nvPr/>
            </p:nvSpPr>
            <p:spPr bwMode="auto">
              <a:xfrm>
                <a:off x="2077" y="3354"/>
                <a:ext cx="138" cy="72"/>
              </a:xfrm>
              <a:custGeom>
                <a:avLst/>
                <a:gdLst>
                  <a:gd name="T0" fmla="*/ 2353327 w 84"/>
                  <a:gd name="T1" fmla="*/ 73 h 63"/>
                  <a:gd name="T2" fmla="*/ 2294899 w 84"/>
                  <a:gd name="T3" fmla="*/ 83 h 63"/>
                  <a:gd name="T4" fmla="*/ 2095021 w 84"/>
                  <a:gd name="T5" fmla="*/ 186 h 63"/>
                  <a:gd name="T6" fmla="*/ 1725639 w 84"/>
                  <a:gd name="T7" fmla="*/ 302 h 63"/>
                  <a:gd name="T8" fmla="*/ 1275230 w 84"/>
                  <a:gd name="T9" fmla="*/ 394 h 63"/>
                  <a:gd name="T10" fmla="*/ 797119 w 84"/>
                  <a:gd name="T11" fmla="*/ 514 h 63"/>
                  <a:gd name="T12" fmla="*/ 410755 w 84"/>
                  <a:gd name="T13" fmla="*/ 637 h 63"/>
                  <a:gd name="T14" fmla="*/ 60339 w 84"/>
                  <a:gd name="T15" fmla="*/ 808 h 63"/>
                  <a:gd name="T16" fmla="*/ 0 w 84"/>
                  <a:gd name="T17" fmla="*/ 1032 h 63"/>
                  <a:gd name="T18" fmla="*/ 439537 w 84"/>
                  <a:gd name="T19" fmla="*/ 951 h 63"/>
                  <a:gd name="T20" fmla="*/ 472486 w 84"/>
                  <a:gd name="T21" fmla="*/ 905 h 63"/>
                  <a:gd name="T22" fmla="*/ 639367 w 84"/>
                  <a:gd name="T23" fmla="*/ 823 h 63"/>
                  <a:gd name="T24" fmla="*/ 1050389 w 84"/>
                  <a:gd name="T25" fmla="*/ 707 h 63"/>
                  <a:gd name="T26" fmla="*/ 1476779 w 84"/>
                  <a:gd name="T27" fmla="*/ 605 h 63"/>
                  <a:gd name="T28" fmla="*/ 1948925 w 84"/>
                  <a:gd name="T29" fmla="*/ 474 h 63"/>
                  <a:gd name="T30" fmla="*/ 2353327 w 84"/>
                  <a:gd name="T31" fmla="*/ 363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2" y="11"/>
                    </a:lnTo>
                    <a:lnTo>
                      <a:pt x="51" y="18"/>
                    </a:lnTo>
                    <a:lnTo>
                      <a:pt x="38" y="24"/>
                    </a:lnTo>
                    <a:lnTo>
                      <a:pt x="24" y="31"/>
                    </a:lnTo>
                    <a:lnTo>
                      <a:pt x="12" y="39"/>
                    </a:lnTo>
                    <a:lnTo>
                      <a:pt x="2" y="49"/>
                    </a:lnTo>
                    <a:lnTo>
                      <a:pt x="0" y="62"/>
                    </a:lnTo>
                    <a:lnTo>
                      <a:pt x="13" y="58"/>
                    </a:lnTo>
                    <a:lnTo>
                      <a:pt x="14" y="55"/>
                    </a:lnTo>
                    <a:lnTo>
                      <a:pt x="19" y="50"/>
                    </a:lnTo>
                    <a:lnTo>
                      <a:pt x="31" y="43"/>
                    </a:lnTo>
                    <a:lnTo>
                      <a:pt x="44" y="36"/>
                    </a:lnTo>
                    <a:lnTo>
                      <a:pt x="58" y="29"/>
                    </a:lnTo>
                    <a:lnTo>
                      <a:pt x="70" y="22"/>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6" name="Freeform 316">
                <a:extLst>
                  <a:ext uri="{FF2B5EF4-FFF2-40B4-BE49-F238E27FC236}">
                    <a16:creationId xmlns:a16="http://schemas.microsoft.com/office/drawing/2014/main" id="{FD8107B7-30F6-0E09-83CC-05230A70EAE7}"/>
                  </a:ext>
                </a:extLst>
              </p:cNvPr>
              <p:cNvSpPr>
                <a:spLocks/>
              </p:cNvSpPr>
              <p:nvPr/>
            </p:nvSpPr>
            <p:spPr bwMode="auto">
              <a:xfrm>
                <a:off x="2042" y="3331"/>
                <a:ext cx="173" cy="28"/>
              </a:xfrm>
              <a:custGeom>
                <a:avLst/>
                <a:gdLst>
                  <a:gd name="T0" fmla="*/ 0 w 105"/>
                  <a:gd name="T1" fmla="*/ 4 h 25"/>
                  <a:gd name="T2" fmla="*/ 331885 w 105"/>
                  <a:gd name="T3" fmla="*/ 148 h 25"/>
                  <a:gd name="T4" fmla="*/ 766270 w 105"/>
                  <a:gd name="T5" fmla="*/ 166 h 25"/>
                  <a:gd name="T6" fmla="*/ 1283006 w 105"/>
                  <a:gd name="T7" fmla="*/ 170 h 25"/>
                  <a:gd name="T8" fmla="*/ 1875692 w 105"/>
                  <a:gd name="T9" fmla="*/ 170 h 25"/>
                  <a:gd name="T10" fmla="*/ 2377226 w 105"/>
                  <a:gd name="T11" fmla="*/ 186 h 25"/>
                  <a:gd name="T12" fmla="*/ 2865936 w 105"/>
                  <a:gd name="T13" fmla="*/ 190 h 25"/>
                  <a:gd name="T14" fmla="*/ 3152065 w 105"/>
                  <a:gd name="T15" fmla="*/ 239 h 25"/>
                  <a:gd name="T16" fmla="*/ 3261172 w 105"/>
                  <a:gd name="T17" fmla="*/ 261 h 25"/>
                  <a:gd name="T18" fmla="*/ 3721278 w 105"/>
                  <a:gd name="T19" fmla="*/ 213 h 25"/>
                  <a:gd name="T20" fmla="*/ 3427301 w 105"/>
                  <a:gd name="T21" fmla="*/ 105 h 25"/>
                  <a:gd name="T22" fmla="*/ 2979100 w 105"/>
                  <a:gd name="T23" fmla="*/ 60 h 25"/>
                  <a:gd name="T24" fmla="*/ 2445765 w 105"/>
                  <a:gd name="T25" fmla="*/ 4 h 25"/>
                  <a:gd name="T26" fmla="*/ 1875692 w 105"/>
                  <a:gd name="T27" fmla="*/ 3 h 25"/>
                  <a:gd name="T28" fmla="*/ 1283006 w 105"/>
                  <a:gd name="T29" fmla="*/ 3 h 25"/>
                  <a:gd name="T30" fmla="*/ 778703 w 105"/>
                  <a:gd name="T31" fmla="*/ 2 h 25"/>
                  <a:gd name="T32" fmla="*/ 504969 w 105"/>
                  <a:gd name="T33" fmla="*/ 0 h 25"/>
                  <a:gd name="T34" fmla="*/ 465077 w 105"/>
                  <a:gd name="T35" fmla="*/ 0 h 25"/>
                  <a:gd name="T36" fmla="*/ 0 w 105"/>
                  <a:gd name="T37" fmla="*/ 4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5"/>
                  <a:gd name="T59" fmla="*/ 105 w 105"/>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5">
                    <a:moveTo>
                      <a:pt x="0" y="4"/>
                    </a:moveTo>
                    <a:lnTo>
                      <a:pt x="9" y="13"/>
                    </a:lnTo>
                    <a:lnTo>
                      <a:pt x="21" y="15"/>
                    </a:lnTo>
                    <a:lnTo>
                      <a:pt x="36" y="16"/>
                    </a:lnTo>
                    <a:lnTo>
                      <a:pt x="52" y="16"/>
                    </a:lnTo>
                    <a:lnTo>
                      <a:pt x="66" y="17"/>
                    </a:lnTo>
                    <a:lnTo>
                      <a:pt x="80" y="18"/>
                    </a:lnTo>
                    <a:lnTo>
                      <a:pt x="88" y="22"/>
                    </a:lnTo>
                    <a:lnTo>
                      <a:pt x="91" y="24"/>
                    </a:lnTo>
                    <a:lnTo>
                      <a:pt x="104" y="20"/>
                    </a:lnTo>
                    <a:lnTo>
                      <a:pt x="96" y="10"/>
                    </a:lnTo>
                    <a:lnTo>
                      <a:pt x="83" y="5"/>
                    </a:lnTo>
                    <a:lnTo>
                      <a:pt x="68" y="4"/>
                    </a:lnTo>
                    <a:lnTo>
                      <a:pt x="52" y="3"/>
                    </a:lnTo>
                    <a:lnTo>
                      <a:pt x="36" y="3"/>
                    </a:lnTo>
                    <a:lnTo>
                      <a:pt x="22" y="2"/>
                    </a:lnTo>
                    <a:lnTo>
                      <a:pt x="14" y="0"/>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7" name="Freeform 317">
                <a:extLst>
                  <a:ext uri="{FF2B5EF4-FFF2-40B4-BE49-F238E27FC236}">
                    <a16:creationId xmlns:a16="http://schemas.microsoft.com/office/drawing/2014/main" id="{79D9F802-FF95-7B12-E749-FB25B1D8D867}"/>
                  </a:ext>
                </a:extLst>
              </p:cNvPr>
              <p:cNvSpPr>
                <a:spLocks/>
              </p:cNvSpPr>
              <p:nvPr/>
            </p:nvSpPr>
            <p:spPr bwMode="auto">
              <a:xfrm>
                <a:off x="2042" y="3329"/>
                <a:ext cx="24" cy="8"/>
              </a:xfrm>
              <a:custGeom>
                <a:avLst/>
                <a:gdLst>
                  <a:gd name="T0" fmla="*/ 0 w 14"/>
                  <a:gd name="T1" fmla="*/ 73 h 7"/>
                  <a:gd name="T2" fmla="*/ 0 w 14"/>
                  <a:gd name="T3" fmla="*/ 95 h 7"/>
                  <a:gd name="T4" fmla="*/ 1057803 w 14"/>
                  <a:gd name="T5" fmla="*/ 2 h 7"/>
                  <a:gd name="T6" fmla="*/ 1057803 w 14"/>
                  <a:gd name="T7" fmla="*/ 0 h 7"/>
                  <a:gd name="T8" fmla="*/ 0 w 14"/>
                  <a:gd name="T9" fmla="*/ 73 h 7"/>
                  <a:gd name="T10" fmla="*/ 0 60000 65536"/>
                  <a:gd name="T11" fmla="*/ 0 60000 65536"/>
                  <a:gd name="T12" fmla="*/ 0 60000 65536"/>
                  <a:gd name="T13" fmla="*/ 0 60000 65536"/>
                  <a:gd name="T14" fmla="*/ 0 60000 65536"/>
                  <a:gd name="T15" fmla="*/ 0 w 14"/>
                  <a:gd name="T16" fmla="*/ 0 h 7"/>
                  <a:gd name="T17" fmla="*/ 14 w 14"/>
                  <a:gd name="T18" fmla="*/ 7 h 7"/>
                </a:gdLst>
                <a:ahLst/>
                <a:cxnLst>
                  <a:cxn ang="T10">
                    <a:pos x="T0" y="T1"/>
                  </a:cxn>
                  <a:cxn ang="T11">
                    <a:pos x="T2" y="T3"/>
                  </a:cxn>
                  <a:cxn ang="T12">
                    <a:pos x="T4" y="T5"/>
                  </a:cxn>
                  <a:cxn ang="T13">
                    <a:pos x="T6" y="T7"/>
                  </a:cxn>
                  <a:cxn ang="T14">
                    <a:pos x="T8" y="T9"/>
                  </a:cxn>
                </a:cxnLst>
                <a:rect l="T15" t="T16" r="T17" b="T18"/>
                <a:pathLst>
                  <a:path w="14" h="7">
                    <a:moveTo>
                      <a:pt x="0" y="4"/>
                    </a:moveTo>
                    <a:lnTo>
                      <a:pt x="0" y="6"/>
                    </a:lnTo>
                    <a:lnTo>
                      <a:pt x="13"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8" name="Freeform 318">
                <a:extLst>
                  <a:ext uri="{FF2B5EF4-FFF2-40B4-BE49-F238E27FC236}">
                    <a16:creationId xmlns:a16="http://schemas.microsoft.com/office/drawing/2014/main" id="{618C664D-BDD7-C59B-9398-0A66407A13B8}"/>
                  </a:ext>
                </a:extLst>
              </p:cNvPr>
              <p:cNvSpPr>
                <a:spLocks/>
              </p:cNvSpPr>
              <p:nvPr/>
            </p:nvSpPr>
            <p:spPr bwMode="auto">
              <a:xfrm>
                <a:off x="2042" y="3263"/>
                <a:ext cx="134" cy="71"/>
              </a:xfrm>
              <a:custGeom>
                <a:avLst/>
                <a:gdLst>
                  <a:gd name="T0" fmla="*/ 2617430 w 81"/>
                  <a:gd name="T1" fmla="*/ 74 h 62"/>
                  <a:gd name="T2" fmla="*/ 2567830 w 81"/>
                  <a:gd name="T3" fmla="*/ 97 h 62"/>
                  <a:gd name="T4" fmla="*/ 2379895 w 81"/>
                  <a:gd name="T5" fmla="*/ 211 h 62"/>
                  <a:gd name="T6" fmla="*/ 1957614 w 81"/>
                  <a:gd name="T7" fmla="*/ 328 h 62"/>
                  <a:gd name="T8" fmla="*/ 1438593 w 81"/>
                  <a:gd name="T9" fmla="*/ 462 h 62"/>
                  <a:gd name="T10" fmla="*/ 938268 w 81"/>
                  <a:gd name="T11" fmla="*/ 554 h 62"/>
                  <a:gd name="T12" fmla="*/ 432382 w 81"/>
                  <a:gd name="T13" fmla="*/ 696 h 62"/>
                  <a:gd name="T14" fmla="*/ 68764 w 81"/>
                  <a:gd name="T15" fmla="*/ 831 h 62"/>
                  <a:gd name="T16" fmla="*/ 0 w 81"/>
                  <a:gd name="T17" fmla="*/ 1046 h 62"/>
                  <a:gd name="T18" fmla="*/ 515040 w 81"/>
                  <a:gd name="T19" fmla="*/ 973 h 62"/>
                  <a:gd name="T20" fmla="*/ 541520 w 81"/>
                  <a:gd name="T21" fmla="*/ 960 h 62"/>
                  <a:gd name="T22" fmla="*/ 723636 w 81"/>
                  <a:gd name="T23" fmla="*/ 882 h 62"/>
                  <a:gd name="T24" fmla="*/ 1183334 w 81"/>
                  <a:gd name="T25" fmla="*/ 742 h 62"/>
                  <a:gd name="T26" fmla="*/ 1724337 w 81"/>
                  <a:gd name="T27" fmla="*/ 634 h 62"/>
                  <a:gd name="T28" fmla="*/ 2221424 w 81"/>
                  <a:gd name="T29" fmla="*/ 529 h 62"/>
                  <a:gd name="T30" fmla="*/ 2738029 w 81"/>
                  <a:gd name="T31" fmla="*/ 403 h 62"/>
                  <a:gd name="T32" fmla="*/ 3029758 w 81"/>
                  <a:gd name="T33" fmla="*/ 218 h 62"/>
                  <a:gd name="T34" fmla="*/ 3108525 w 81"/>
                  <a:gd name="T35" fmla="*/ 0 h 62"/>
                  <a:gd name="T36" fmla="*/ 2617430 w 81"/>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2"/>
                  <a:gd name="T59" fmla="*/ 81 w 8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2">
                    <a:moveTo>
                      <a:pt x="67" y="4"/>
                    </a:moveTo>
                    <a:lnTo>
                      <a:pt x="66" y="6"/>
                    </a:lnTo>
                    <a:lnTo>
                      <a:pt x="61" y="12"/>
                    </a:lnTo>
                    <a:lnTo>
                      <a:pt x="50" y="19"/>
                    </a:lnTo>
                    <a:lnTo>
                      <a:pt x="37" y="26"/>
                    </a:lnTo>
                    <a:lnTo>
                      <a:pt x="24" y="32"/>
                    </a:lnTo>
                    <a:lnTo>
                      <a:pt x="11" y="40"/>
                    </a:lnTo>
                    <a:lnTo>
                      <a:pt x="2" y="48"/>
                    </a:lnTo>
                    <a:lnTo>
                      <a:pt x="0" y="61"/>
                    </a:lnTo>
                    <a:lnTo>
                      <a:pt x="13" y="57"/>
                    </a:lnTo>
                    <a:lnTo>
                      <a:pt x="14" y="56"/>
                    </a:lnTo>
                    <a:lnTo>
                      <a:pt x="19" y="51"/>
                    </a:lnTo>
                    <a:lnTo>
                      <a:pt x="30" y="44"/>
                    </a:lnTo>
                    <a:lnTo>
                      <a:pt x="44" y="37"/>
                    </a:lnTo>
                    <a:lnTo>
                      <a:pt x="57" y="30"/>
                    </a:lnTo>
                    <a:lnTo>
                      <a:pt x="70" y="23"/>
                    </a:lnTo>
                    <a:lnTo>
                      <a:pt x="78" y="13"/>
                    </a:lnTo>
                    <a:lnTo>
                      <a:pt x="80" y="0"/>
                    </a:lnTo>
                    <a:lnTo>
                      <a:pt x="6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69" name="Freeform 319">
                <a:extLst>
                  <a:ext uri="{FF2B5EF4-FFF2-40B4-BE49-F238E27FC236}">
                    <a16:creationId xmlns:a16="http://schemas.microsoft.com/office/drawing/2014/main" id="{B3AAFD56-BCFD-0B01-74F4-6697CAB795E2}"/>
                  </a:ext>
                </a:extLst>
              </p:cNvPr>
              <p:cNvSpPr>
                <a:spLocks/>
              </p:cNvSpPr>
              <p:nvPr/>
            </p:nvSpPr>
            <p:spPr bwMode="auto">
              <a:xfrm>
                <a:off x="2002" y="3234"/>
                <a:ext cx="174" cy="34"/>
              </a:xfrm>
              <a:custGeom>
                <a:avLst/>
                <a:gdLst>
                  <a:gd name="T0" fmla="*/ 0 w 105"/>
                  <a:gd name="T1" fmla="*/ 121 h 29"/>
                  <a:gd name="T2" fmla="*/ 320394 w 105"/>
                  <a:gd name="T3" fmla="*/ 368 h 29"/>
                  <a:gd name="T4" fmla="*/ 851120 w 105"/>
                  <a:gd name="T5" fmla="*/ 494 h 29"/>
                  <a:gd name="T6" fmla="*/ 1410427 w 105"/>
                  <a:gd name="T7" fmla="*/ 516 h 29"/>
                  <a:gd name="T8" fmla="*/ 2105818 w 105"/>
                  <a:gd name="T9" fmla="*/ 579 h 29"/>
                  <a:gd name="T10" fmla="*/ 2706298 w 105"/>
                  <a:gd name="T11" fmla="*/ 592 h 29"/>
                  <a:gd name="T12" fmla="*/ 3243486 w 105"/>
                  <a:gd name="T13" fmla="*/ 605 h 29"/>
                  <a:gd name="T14" fmla="*/ 3587389 w 105"/>
                  <a:gd name="T15" fmla="*/ 709 h 29"/>
                  <a:gd name="T16" fmla="*/ 3677016 w 105"/>
                  <a:gd name="T17" fmla="*/ 810 h 29"/>
                  <a:gd name="T18" fmla="*/ 4192184 w 105"/>
                  <a:gd name="T19" fmla="*/ 691 h 29"/>
                  <a:gd name="T20" fmla="*/ 3873205 w 105"/>
                  <a:gd name="T21" fmla="*/ 375 h 29"/>
                  <a:gd name="T22" fmla="*/ 3367531 w 105"/>
                  <a:gd name="T23" fmla="*/ 268 h 29"/>
                  <a:gd name="T24" fmla="*/ 2755964 w 105"/>
                  <a:gd name="T25" fmla="*/ 229 h 29"/>
                  <a:gd name="T26" fmla="*/ 2150963 w 105"/>
                  <a:gd name="T27" fmla="*/ 195 h 29"/>
                  <a:gd name="T28" fmla="*/ 1485145 w 105"/>
                  <a:gd name="T29" fmla="*/ 166 h 29"/>
                  <a:gd name="T30" fmla="*/ 970032 w 105"/>
                  <a:gd name="T31" fmla="*/ 121 h 29"/>
                  <a:gd name="T32" fmla="*/ 555905 w 105"/>
                  <a:gd name="T33" fmla="*/ 2 h 29"/>
                  <a:gd name="T34" fmla="*/ 530939 w 105"/>
                  <a:gd name="T35" fmla="*/ 0 h 29"/>
                  <a:gd name="T36" fmla="*/ 0 w 105"/>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3"/>
                    </a:lnTo>
                    <a:lnTo>
                      <a:pt x="21" y="17"/>
                    </a:lnTo>
                    <a:lnTo>
                      <a:pt x="35" y="19"/>
                    </a:lnTo>
                    <a:lnTo>
                      <a:pt x="52" y="20"/>
                    </a:lnTo>
                    <a:lnTo>
                      <a:pt x="67" y="21"/>
                    </a:lnTo>
                    <a:lnTo>
                      <a:pt x="80" y="22"/>
                    </a:lnTo>
                    <a:lnTo>
                      <a:pt x="89" y="26"/>
                    </a:lnTo>
                    <a:lnTo>
                      <a:pt x="91" y="28"/>
                    </a:lnTo>
                    <a:lnTo>
                      <a:pt x="104" y="24"/>
                    </a:lnTo>
                    <a:lnTo>
                      <a:pt x="96" y="14"/>
                    </a:lnTo>
                    <a:lnTo>
                      <a:pt x="83" y="9"/>
                    </a:lnTo>
                    <a:lnTo>
                      <a:pt x="68" y="8"/>
                    </a:lnTo>
                    <a:lnTo>
                      <a:pt x="53" y="7"/>
                    </a:lnTo>
                    <a:lnTo>
                      <a:pt x="37" y="6"/>
                    </a:lnTo>
                    <a:lnTo>
                      <a:pt x="24" y="4"/>
                    </a:lnTo>
                    <a:lnTo>
                      <a:pt x="14"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0" name="Freeform 320">
                <a:extLst>
                  <a:ext uri="{FF2B5EF4-FFF2-40B4-BE49-F238E27FC236}">
                    <a16:creationId xmlns:a16="http://schemas.microsoft.com/office/drawing/2014/main" id="{EACFBF08-48FD-32B3-A73B-D6FE04FE70C7}"/>
                  </a:ext>
                </a:extLst>
              </p:cNvPr>
              <p:cNvSpPr>
                <a:spLocks/>
              </p:cNvSpPr>
              <p:nvPr/>
            </p:nvSpPr>
            <p:spPr bwMode="auto">
              <a:xfrm>
                <a:off x="2002" y="3167"/>
                <a:ext cx="137" cy="73"/>
              </a:xfrm>
              <a:custGeom>
                <a:avLst/>
                <a:gdLst>
                  <a:gd name="T0" fmla="*/ 2566051 w 83"/>
                  <a:gd name="T1" fmla="*/ 73 h 64"/>
                  <a:gd name="T2" fmla="*/ 2519400 w 83"/>
                  <a:gd name="T3" fmla="*/ 108 h 64"/>
                  <a:gd name="T4" fmla="*/ 2349936 w 83"/>
                  <a:gd name="T5" fmla="*/ 209 h 64"/>
                  <a:gd name="T6" fmla="*/ 1933123 w 83"/>
                  <a:gd name="T7" fmla="*/ 309 h 64"/>
                  <a:gd name="T8" fmla="*/ 1423684 w 83"/>
                  <a:gd name="T9" fmla="*/ 409 h 64"/>
                  <a:gd name="T10" fmla="*/ 901473 w 83"/>
                  <a:gd name="T11" fmla="*/ 524 h 64"/>
                  <a:gd name="T12" fmla="*/ 446998 w 83"/>
                  <a:gd name="T13" fmla="*/ 627 h 64"/>
                  <a:gd name="T14" fmla="*/ 64690 w 83"/>
                  <a:gd name="T15" fmla="*/ 792 h 64"/>
                  <a:gd name="T16" fmla="*/ 0 w 83"/>
                  <a:gd name="T17" fmla="*/ 1000 h 64"/>
                  <a:gd name="T18" fmla="*/ 480180 w 83"/>
                  <a:gd name="T19" fmla="*/ 931 h 64"/>
                  <a:gd name="T20" fmla="*/ 522551 w 83"/>
                  <a:gd name="T21" fmla="*/ 903 h 64"/>
                  <a:gd name="T22" fmla="*/ 737816 w 83"/>
                  <a:gd name="T23" fmla="*/ 811 h 64"/>
                  <a:gd name="T24" fmla="*/ 1147807 w 83"/>
                  <a:gd name="T25" fmla="*/ 711 h 64"/>
                  <a:gd name="T26" fmla="*/ 1639289 w 83"/>
                  <a:gd name="T27" fmla="*/ 598 h 64"/>
                  <a:gd name="T28" fmla="*/ 2159391 w 83"/>
                  <a:gd name="T29" fmla="*/ 482 h 64"/>
                  <a:gd name="T30" fmla="*/ 2603804 w 83"/>
                  <a:gd name="T31" fmla="*/ 359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7"/>
                    </a:lnTo>
                    <a:lnTo>
                      <a:pt x="63" y="13"/>
                    </a:lnTo>
                    <a:lnTo>
                      <a:pt x="52" y="19"/>
                    </a:lnTo>
                    <a:lnTo>
                      <a:pt x="38" y="26"/>
                    </a:lnTo>
                    <a:lnTo>
                      <a:pt x="24" y="33"/>
                    </a:lnTo>
                    <a:lnTo>
                      <a:pt x="12" y="40"/>
                    </a:lnTo>
                    <a:lnTo>
                      <a:pt x="2" y="50"/>
                    </a:lnTo>
                    <a:lnTo>
                      <a:pt x="0" y="63"/>
                    </a:lnTo>
                    <a:lnTo>
                      <a:pt x="13" y="59"/>
                    </a:lnTo>
                    <a:lnTo>
                      <a:pt x="14" y="57"/>
                    </a:lnTo>
                    <a:lnTo>
                      <a:pt x="20" y="51"/>
                    </a:lnTo>
                    <a:lnTo>
                      <a:pt x="31"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1" name="Freeform 321">
                <a:extLst>
                  <a:ext uri="{FF2B5EF4-FFF2-40B4-BE49-F238E27FC236}">
                    <a16:creationId xmlns:a16="http://schemas.microsoft.com/office/drawing/2014/main" id="{4A59E330-4DF5-49E0-532F-50C392904E54}"/>
                  </a:ext>
                </a:extLst>
              </p:cNvPr>
              <p:cNvSpPr>
                <a:spLocks/>
              </p:cNvSpPr>
              <p:nvPr/>
            </p:nvSpPr>
            <p:spPr bwMode="auto">
              <a:xfrm>
                <a:off x="1964" y="3139"/>
                <a:ext cx="175" cy="33"/>
              </a:xfrm>
              <a:custGeom>
                <a:avLst/>
                <a:gdLst>
                  <a:gd name="T0" fmla="*/ 0 w 106"/>
                  <a:gd name="T1" fmla="*/ 3 h 29"/>
                  <a:gd name="T2" fmla="*/ 291842 w 106"/>
                  <a:gd name="T3" fmla="*/ 191 h 29"/>
                  <a:gd name="T4" fmla="*/ 795449 w 106"/>
                  <a:gd name="T5" fmla="*/ 247 h 29"/>
                  <a:gd name="T6" fmla="*/ 1328805 w 106"/>
                  <a:gd name="T7" fmla="*/ 281 h 29"/>
                  <a:gd name="T8" fmla="*/ 1941196 w 106"/>
                  <a:gd name="T9" fmla="*/ 306 h 29"/>
                  <a:gd name="T10" fmla="*/ 2508326 w 106"/>
                  <a:gd name="T11" fmla="*/ 316 h 29"/>
                  <a:gd name="T12" fmla="*/ 3033331 w 106"/>
                  <a:gd name="T13" fmla="*/ 320 h 29"/>
                  <a:gd name="T14" fmla="*/ 3328313 w 106"/>
                  <a:gd name="T15" fmla="*/ 396 h 29"/>
                  <a:gd name="T16" fmla="*/ 3435385 w 106"/>
                  <a:gd name="T17" fmla="*/ 414 h 29"/>
                  <a:gd name="T18" fmla="*/ 3917132 w 106"/>
                  <a:gd name="T19" fmla="*/ 360 h 29"/>
                  <a:gd name="T20" fmla="*/ 3621810 w 106"/>
                  <a:gd name="T21" fmla="*/ 207 h 29"/>
                  <a:gd name="T22" fmla="*/ 3136520 w 106"/>
                  <a:gd name="T23" fmla="*/ 130 h 29"/>
                  <a:gd name="T24" fmla="*/ 2573651 w 106"/>
                  <a:gd name="T25" fmla="*/ 114 h 29"/>
                  <a:gd name="T26" fmla="*/ 1984779 w 106"/>
                  <a:gd name="T27" fmla="*/ 100 h 29"/>
                  <a:gd name="T28" fmla="*/ 1389091 w 106"/>
                  <a:gd name="T29" fmla="*/ 88 h 29"/>
                  <a:gd name="T30" fmla="*/ 904506 w 106"/>
                  <a:gd name="T31" fmla="*/ 68 h 29"/>
                  <a:gd name="T32" fmla="*/ 563155 w 106"/>
                  <a:gd name="T33" fmla="*/ 1 h 29"/>
                  <a:gd name="T34" fmla="*/ 481815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1"/>
                    </a:lnTo>
                    <a:lnTo>
                      <a:pt x="81" y="22"/>
                    </a:lnTo>
                    <a:lnTo>
                      <a:pt x="89" y="26"/>
                    </a:lnTo>
                    <a:lnTo>
                      <a:pt x="92" y="28"/>
                    </a:lnTo>
                    <a:lnTo>
                      <a:pt x="105" y="24"/>
                    </a:lnTo>
                    <a:lnTo>
                      <a:pt x="97" y="14"/>
                    </a:lnTo>
                    <a:lnTo>
                      <a:pt x="84" y="9"/>
                    </a:lnTo>
                    <a:lnTo>
                      <a:pt x="69" y="8"/>
                    </a:lnTo>
                    <a:lnTo>
                      <a:pt x="53"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2" name="Freeform 322">
                <a:extLst>
                  <a:ext uri="{FF2B5EF4-FFF2-40B4-BE49-F238E27FC236}">
                    <a16:creationId xmlns:a16="http://schemas.microsoft.com/office/drawing/2014/main" id="{E5FD382B-2E83-DFD8-92D1-666E81E0C991}"/>
                  </a:ext>
                </a:extLst>
              </p:cNvPr>
              <p:cNvSpPr>
                <a:spLocks/>
              </p:cNvSpPr>
              <p:nvPr/>
            </p:nvSpPr>
            <p:spPr bwMode="auto">
              <a:xfrm>
                <a:off x="1964" y="3077"/>
                <a:ext cx="141" cy="67"/>
              </a:xfrm>
              <a:custGeom>
                <a:avLst/>
                <a:gdLst>
                  <a:gd name="T0" fmla="*/ 2953782 w 85"/>
                  <a:gd name="T1" fmla="*/ 158 h 58"/>
                  <a:gd name="T2" fmla="*/ 2938929 w 85"/>
                  <a:gd name="T3" fmla="*/ 119 h 58"/>
                  <a:gd name="T4" fmla="*/ 2639817 w 85"/>
                  <a:gd name="T5" fmla="*/ 241 h 58"/>
                  <a:gd name="T6" fmla="*/ 2235172 w 85"/>
                  <a:gd name="T7" fmla="*/ 371 h 58"/>
                  <a:gd name="T8" fmla="*/ 1620969 w 85"/>
                  <a:gd name="T9" fmla="*/ 496 h 58"/>
                  <a:gd name="T10" fmla="*/ 1018839 w 85"/>
                  <a:gd name="T11" fmla="*/ 596 h 58"/>
                  <a:gd name="T12" fmla="*/ 495429 w 85"/>
                  <a:gd name="T13" fmla="*/ 714 h 58"/>
                  <a:gd name="T14" fmla="*/ 71877 w 85"/>
                  <a:gd name="T15" fmla="*/ 917 h 58"/>
                  <a:gd name="T16" fmla="*/ 0 w 85"/>
                  <a:gd name="T17" fmla="*/ 1179 h 58"/>
                  <a:gd name="T18" fmla="*/ 544238 w 85"/>
                  <a:gd name="T19" fmla="*/ 1101 h 58"/>
                  <a:gd name="T20" fmla="*/ 572706 w 85"/>
                  <a:gd name="T21" fmla="*/ 1060 h 58"/>
                  <a:gd name="T22" fmla="*/ 821829 w 85"/>
                  <a:gd name="T23" fmla="*/ 968 h 58"/>
                  <a:gd name="T24" fmla="*/ 1248079 w 85"/>
                  <a:gd name="T25" fmla="*/ 838 h 58"/>
                  <a:gd name="T26" fmla="*/ 1864649 w 85"/>
                  <a:gd name="T27" fmla="*/ 714 h 58"/>
                  <a:gd name="T28" fmla="*/ 2442656 w 85"/>
                  <a:gd name="T29" fmla="*/ 596 h 58"/>
                  <a:gd name="T30" fmla="*/ 2953782 w 85"/>
                  <a:gd name="T31" fmla="*/ 496 h 58"/>
                  <a:gd name="T32" fmla="*/ 3327053 w 85"/>
                  <a:gd name="T33" fmla="*/ 282 h 58"/>
                  <a:gd name="T34" fmla="*/ 3461437 w 85"/>
                  <a:gd name="T35" fmla="*/ 2 h 58"/>
                  <a:gd name="T36" fmla="*/ 3461437 w 85"/>
                  <a:gd name="T37" fmla="*/ 0 h 58"/>
                  <a:gd name="T38" fmla="*/ 3461437 w 85"/>
                  <a:gd name="T39" fmla="*/ 2 h 58"/>
                  <a:gd name="T40" fmla="*/ 3461437 w 85"/>
                  <a:gd name="T41" fmla="*/ 1 h 58"/>
                  <a:gd name="T42" fmla="*/ 3461437 w 85"/>
                  <a:gd name="T43" fmla="*/ 0 h 58"/>
                  <a:gd name="T44" fmla="*/ 2953782 w 85"/>
                  <a:gd name="T45" fmla="*/ 158 h 5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8"/>
                  <a:gd name="T71" fmla="*/ 85 w 85"/>
                  <a:gd name="T72" fmla="*/ 58 h 5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8">
                    <a:moveTo>
                      <a:pt x="72" y="8"/>
                    </a:moveTo>
                    <a:lnTo>
                      <a:pt x="71" y="6"/>
                    </a:lnTo>
                    <a:lnTo>
                      <a:pt x="64" y="11"/>
                    </a:lnTo>
                    <a:lnTo>
                      <a:pt x="54" y="17"/>
                    </a:lnTo>
                    <a:lnTo>
                      <a:pt x="39" y="23"/>
                    </a:lnTo>
                    <a:lnTo>
                      <a:pt x="25" y="29"/>
                    </a:lnTo>
                    <a:lnTo>
                      <a:pt x="12" y="35"/>
                    </a:lnTo>
                    <a:lnTo>
                      <a:pt x="2" y="44"/>
                    </a:lnTo>
                    <a:lnTo>
                      <a:pt x="0" y="57"/>
                    </a:lnTo>
                    <a:lnTo>
                      <a:pt x="13" y="53"/>
                    </a:lnTo>
                    <a:lnTo>
                      <a:pt x="14" y="52"/>
                    </a:lnTo>
                    <a:lnTo>
                      <a:pt x="20" y="47"/>
                    </a:lnTo>
                    <a:lnTo>
                      <a:pt x="30" y="41"/>
                    </a:lnTo>
                    <a:lnTo>
                      <a:pt x="45" y="35"/>
                    </a:lnTo>
                    <a:lnTo>
                      <a:pt x="59" y="29"/>
                    </a:lnTo>
                    <a:lnTo>
                      <a:pt x="72" y="23"/>
                    </a:lnTo>
                    <a:lnTo>
                      <a:pt x="81" y="14"/>
                    </a:lnTo>
                    <a:lnTo>
                      <a:pt x="84" y="2"/>
                    </a:lnTo>
                    <a:lnTo>
                      <a:pt x="84" y="0"/>
                    </a:lnTo>
                    <a:lnTo>
                      <a:pt x="84" y="2"/>
                    </a:lnTo>
                    <a:lnTo>
                      <a:pt x="84" y="1"/>
                    </a:lnTo>
                    <a:lnTo>
                      <a:pt x="84" y="0"/>
                    </a:lnTo>
                    <a:lnTo>
                      <a:pt x="72"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3" name="Freeform 323">
                <a:extLst>
                  <a:ext uri="{FF2B5EF4-FFF2-40B4-BE49-F238E27FC236}">
                    <a16:creationId xmlns:a16="http://schemas.microsoft.com/office/drawing/2014/main" id="{45FDB8A2-116D-48B4-14A0-D74272A9AEBC}"/>
                  </a:ext>
                </a:extLst>
              </p:cNvPr>
              <p:cNvSpPr>
                <a:spLocks/>
              </p:cNvSpPr>
              <p:nvPr/>
            </p:nvSpPr>
            <p:spPr bwMode="auto">
              <a:xfrm>
                <a:off x="2080" y="3075"/>
                <a:ext cx="25" cy="12"/>
              </a:xfrm>
              <a:custGeom>
                <a:avLst/>
                <a:gdLst>
                  <a:gd name="T0" fmla="*/ 0 w 15"/>
                  <a:gd name="T1" fmla="*/ 215 h 10"/>
                  <a:gd name="T2" fmla="*/ 47430 w 15"/>
                  <a:gd name="T3" fmla="*/ 310 h 10"/>
                  <a:gd name="T4" fmla="*/ 79050 w 15"/>
                  <a:gd name="T5" fmla="*/ 434 h 10"/>
                  <a:gd name="T6" fmla="*/ 621467 w 15"/>
                  <a:gd name="T7" fmla="*/ 2 h 10"/>
                  <a:gd name="T8" fmla="*/ 542092 w 15"/>
                  <a:gd name="T9" fmla="*/ 0 h 10"/>
                  <a:gd name="T10" fmla="*/ 609953 w 15"/>
                  <a:gd name="T11" fmla="*/ 2 h 10"/>
                  <a:gd name="T12" fmla="*/ 0 w 15"/>
                  <a:gd name="T13" fmla="*/ 215 h 10"/>
                  <a:gd name="T14" fmla="*/ 0 w 15"/>
                  <a:gd name="T15" fmla="*/ 258 h 10"/>
                  <a:gd name="T16" fmla="*/ 47430 w 15"/>
                  <a:gd name="T17" fmla="*/ 310 h 10"/>
                  <a:gd name="T18" fmla="*/ 0 w 15"/>
                  <a:gd name="T19" fmla="*/ 215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0"/>
                  <a:gd name="T32" fmla="*/ 15 w 15"/>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0">
                    <a:moveTo>
                      <a:pt x="0" y="5"/>
                    </a:moveTo>
                    <a:lnTo>
                      <a:pt x="1" y="7"/>
                    </a:lnTo>
                    <a:lnTo>
                      <a:pt x="2" y="9"/>
                    </a:lnTo>
                    <a:lnTo>
                      <a:pt x="14" y="2"/>
                    </a:lnTo>
                    <a:lnTo>
                      <a:pt x="12" y="0"/>
                    </a:lnTo>
                    <a:lnTo>
                      <a:pt x="13" y="2"/>
                    </a:lnTo>
                    <a:lnTo>
                      <a:pt x="0" y="5"/>
                    </a:lnTo>
                    <a:lnTo>
                      <a:pt x="0" y="6"/>
                    </a:lnTo>
                    <a:lnTo>
                      <a:pt x="1"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4" name="Freeform 324">
                <a:extLst>
                  <a:ext uri="{FF2B5EF4-FFF2-40B4-BE49-F238E27FC236}">
                    <a16:creationId xmlns:a16="http://schemas.microsoft.com/office/drawing/2014/main" id="{963AC6B7-9316-1119-0B1D-F73DA53BF7D9}"/>
                  </a:ext>
                </a:extLst>
              </p:cNvPr>
              <p:cNvSpPr>
                <a:spLocks/>
              </p:cNvSpPr>
              <p:nvPr/>
            </p:nvSpPr>
            <p:spPr bwMode="auto">
              <a:xfrm>
                <a:off x="1930" y="3049"/>
                <a:ext cx="174" cy="34"/>
              </a:xfrm>
              <a:custGeom>
                <a:avLst/>
                <a:gdLst>
                  <a:gd name="T0" fmla="*/ 0 w 105"/>
                  <a:gd name="T1" fmla="*/ 103 h 29"/>
                  <a:gd name="T2" fmla="*/ 320394 w 105"/>
                  <a:gd name="T3" fmla="*/ 368 h 29"/>
                  <a:gd name="T4" fmla="*/ 851120 w 105"/>
                  <a:gd name="T5" fmla="*/ 440 h 29"/>
                  <a:gd name="T6" fmla="*/ 1458024 w 105"/>
                  <a:gd name="T7" fmla="*/ 505 h 29"/>
                  <a:gd name="T8" fmla="*/ 2080606 w 105"/>
                  <a:gd name="T9" fmla="*/ 505 h 29"/>
                  <a:gd name="T10" fmla="*/ 2706298 w 105"/>
                  <a:gd name="T11" fmla="*/ 505 h 29"/>
                  <a:gd name="T12" fmla="*/ 3199048 w 105"/>
                  <a:gd name="T13" fmla="*/ 579 h 29"/>
                  <a:gd name="T14" fmla="*/ 3564453 w 105"/>
                  <a:gd name="T15" fmla="*/ 691 h 29"/>
                  <a:gd name="T16" fmla="*/ 3677016 w 105"/>
                  <a:gd name="T17" fmla="*/ 810 h 29"/>
                  <a:gd name="T18" fmla="*/ 4192184 w 105"/>
                  <a:gd name="T19" fmla="*/ 691 h 29"/>
                  <a:gd name="T20" fmla="*/ 3873205 w 105"/>
                  <a:gd name="T21" fmla="*/ 368 h 29"/>
                  <a:gd name="T22" fmla="*/ 3367531 w 105"/>
                  <a:gd name="T23" fmla="*/ 195 h 29"/>
                  <a:gd name="T24" fmla="*/ 2755964 w 105"/>
                  <a:gd name="T25" fmla="*/ 142 h 29"/>
                  <a:gd name="T26" fmla="*/ 2080606 w 105"/>
                  <a:gd name="T27" fmla="*/ 121 h 29"/>
                  <a:gd name="T28" fmla="*/ 1458024 w 105"/>
                  <a:gd name="T29" fmla="*/ 142 h 29"/>
                  <a:gd name="T30" fmla="*/ 921214 w 105"/>
                  <a:gd name="T31" fmla="*/ 103 h 29"/>
                  <a:gd name="T32" fmla="*/ 605611 w 105"/>
                  <a:gd name="T33" fmla="*/ 2 h 29"/>
                  <a:gd name="T34" fmla="*/ 530939 w 105"/>
                  <a:gd name="T35" fmla="*/ 0 h 29"/>
                  <a:gd name="T36" fmla="*/ 0 w 105"/>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3"/>
                    </a:moveTo>
                    <a:lnTo>
                      <a:pt x="8" y="13"/>
                    </a:lnTo>
                    <a:lnTo>
                      <a:pt x="21" y="16"/>
                    </a:lnTo>
                    <a:lnTo>
                      <a:pt x="36" y="18"/>
                    </a:lnTo>
                    <a:lnTo>
                      <a:pt x="51" y="18"/>
                    </a:lnTo>
                    <a:lnTo>
                      <a:pt x="67" y="18"/>
                    </a:lnTo>
                    <a:lnTo>
                      <a:pt x="79" y="20"/>
                    </a:lnTo>
                    <a:lnTo>
                      <a:pt x="88" y="24"/>
                    </a:lnTo>
                    <a:lnTo>
                      <a:pt x="91" y="28"/>
                    </a:lnTo>
                    <a:lnTo>
                      <a:pt x="104" y="24"/>
                    </a:lnTo>
                    <a:lnTo>
                      <a:pt x="96" y="13"/>
                    </a:lnTo>
                    <a:lnTo>
                      <a:pt x="83" y="7"/>
                    </a:lnTo>
                    <a:lnTo>
                      <a:pt x="68" y="5"/>
                    </a:lnTo>
                    <a:lnTo>
                      <a:pt x="51" y="4"/>
                    </a:lnTo>
                    <a:lnTo>
                      <a:pt x="36" y="5"/>
                    </a:lnTo>
                    <a:lnTo>
                      <a:pt x="23" y="3"/>
                    </a:lnTo>
                    <a:lnTo>
                      <a:pt x="15"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5" name="Freeform 325">
                <a:extLst>
                  <a:ext uri="{FF2B5EF4-FFF2-40B4-BE49-F238E27FC236}">
                    <a16:creationId xmlns:a16="http://schemas.microsoft.com/office/drawing/2014/main" id="{F854F30B-1960-8A2C-DCE4-9EB88DE71548}"/>
                  </a:ext>
                </a:extLst>
              </p:cNvPr>
              <p:cNvSpPr>
                <a:spLocks/>
              </p:cNvSpPr>
              <p:nvPr/>
            </p:nvSpPr>
            <p:spPr bwMode="auto">
              <a:xfrm>
                <a:off x="1930" y="2982"/>
                <a:ext cx="136" cy="73"/>
              </a:xfrm>
              <a:custGeom>
                <a:avLst/>
                <a:gdLst>
                  <a:gd name="T0" fmla="*/ 2793281 w 82"/>
                  <a:gd name="T1" fmla="*/ 73 h 64"/>
                  <a:gd name="T2" fmla="*/ 2793281 w 82"/>
                  <a:gd name="T3" fmla="*/ 108 h 64"/>
                  <a:gd name="T4" fmla="*/ 2559870 w 82"/>
                  <a:gd name="T5" fmla="*/ 192 h 64"/>
                  <a:gd name="T6" fmla="*/ 2110216 w 82"/>
                  <a:gd name="T7" fmla="*/ 309 h 64"/>
                  <a:gd name="T8" fmla="*/ 1549208 w 82"/>
                  <a:gd name="T9" fmla="*/ 409 h 64"/>
                  <a:gd name="T10" fmla="*/ 984142 w 82"/>
                  <a:gd name="T11" fmla="*/ 533 h 64"/>
                  <a:gd name="T12" fmla="*/ 494159 w 82"/>
                  <a:gd name="T13" fmla="*/ 674 h 64"/>
                  <a:gd name="T14" fmla="*/ 71808 w 82"/>
                  <a:gd name="T15" fmla="*/ 792 h 64"/>
                  <a:gd name="T16" fmla="*/ 0 w 82"/>
                  <a:gd name="T17" fmla="*/ 1000 h 64"/>
                  <a:gd name="T18" fmla="*/ 543340 w 82"/>
                  <a:gd name="T19" fmla="*/ 931 h 64"/>
                  <a:gd name="T20" fmla="*/ 543340 w 82"/>
                  <a:gd name="T21" fmla="*/ 925 h 64"/>
                  <a:gd name="T22" fmla="*/ 792167 w 82"/>
                  <a:gd name="T23" fmla="*/ 816 h 64"/>
                  <a:gd name="T24" fmla="*/ 1245083 w 82"/>
                  <a:gd name="T25" fmla="*/ 711 h 64"/>
                  <a:gd name="T26" fmla="*/ 1809896 w 82"/>
                  <a:gd name="T27" fmla="*/ 598 h 64"/>
                  <a:gd name="T28" fmla="*/ 2364446 w 82"/>
                  <a:gd name="T29" fmla="*/ 482 h 64"/>
                  <a:gd name="T30" fmla="*/ 2866162 w 82"/>
                  <a:gd name="T31" fmla="*/ 359 h 64"/>
                  <a:gd name="T32" fmla="*/ 3244615 w 82"/>
                  <a:gd name="T33" fmla="*/ 209 h 64"/>
                  <a:gd name="T34" fmla="*/ 3316748 w 82"/>
                  <a:gd name="T35" fmla="*/ 0 h 64"/>
                  <a:gd name="T36" fmla="*/ 2793281 w 82"/>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4"/>
                  <a:gd name="T59" fmla="*/ 82 w 82"/>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4">
                    <a:moveTo>
                      <a:pt x="68" y="4"/>
                    </a:moveTo>
                    <a:lnTo>
                      <a:pt x="68" y="7"/>
                    </a:lnTo>
                    <a:lnTo>
                      <a:pt x="62" y="12"/>
                    </a:lnTo>
                    <a:lnTo>
                      <a:pt x="51" y="19"/>
                    </a:lnTo>
                    <a:lnTo>
                      <a:pt x="38" y="26"/>
                    </a:lnTo>
                    <a:lnTo>
                      <a:pt x="24" y="34"/>
                    </a:lnTo>
                    <a:lnTo>
                      <a:pt x="12" y="42"/>
                    </a:lnTo>
                    <a:lnTo>
                      <a:pt x="2" y="50"/>
                    </a:lnTo>
                    <a:lnTo>
                      <a:pt x="0" y="63"/>
                    </a:lnTo>
                    <a:lnTo>
                      <a:pt x="13" y="59"/>
                    </a:lnTo>
                    <a:lnTo>
                      <a:pt x="13" y="58"/>
                    </a:lnTo>
                    <a:lnTo>
                      <a:pt x="19" y="52"/>
                    </a:lnTo>
                    <a:lnTo>
                      <a:pt x="30" y="45"/>
                    </a:lnTo>
                    <a:lnTo>
                      <a:pt x="44" y="38"/>
                    </a:lnTo>
                    <a:lnTo>
                      <a:pt x="57" y="31"/>
                    </a:lnTo>
                    <a:lnTo>
                      <a:pt x="70" y="23"/>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6" name="Freeform 326">
                <a:extLst>
                  <a:ext uri="{FF2B5EF4-FFF2-40B4-BE49-F238E27FC236}">
                    <a16:creationId xmlns:a16="http://schemas.microsoft.com/office/drawing/2014/main" id="{681CDEB4-BA64-AFD8-0C72-DE5F764624D0}"/>
                  </a:ext>
                </a:extLst>
              </p:cNvPr>
              <p:cNvSpPr>
                <a:spLocks/>
              </p:cNvSpPr>
              <p:nvPr/>
            </p:nvSpPr>
            <p:spPr bwMode="auto">
              <a:xfrm>
                <a:off x="1892" y="2954"/>
                <a:ext cx="174" cy="33"/>
              </a:xfrm>
              <a:custGeom>
                <a:avLst/>
                <a:gdLst>
                  <a:gd name="T0" fmla="*/ 0 w 105"/>
                  <a:gd name="T1" fmla="*/ 68 h 29"/>
                  <a:gd name="T2" fmla="*/ 320394 w 105"/>
                  <a:gd name="T3" fmla="*/ 207 h 29"/>
                  <a:gd name="T4" fmla="*/ 808008 w 105"/>
                  <a:gd name="T5" fmla="*/ 247 h 29"/>
                  <a:gd name="T6" fmla="*/ 1410427 w 105"/>
                  <a:gd name="T7" fmla="*/ 281 h 29"/>
                  <a:gd name="T8" fmla="*/ 2080606 w 105"/>
                  <a:gd name="T9" fmla="*/ 306 h 29"/>
                  <a:gd name="T10" fmla="*/ 2706298 w 105"/>
                  <a:gd name="T11" fmla="*/ 316 h 29"/>
                  <a:gd name="T12" fmla="*/ 3243486 w 105"/>
                  <a:gd name="T13" fmla="*/ 320 h 29"/>
                  <a:gd name="T14" fmla="*/ 3587389 w 105"/>
                  <a:gd name="T15" fmla="*/ 364 h 29"/>
                  <a:gd name="T16" fmla="*/ 3677016 w 105"/>
                  <a:gd name="T17" fmla="*/ 414 h 29"/>
                  <a:gd name="T18" fmla="*/ 4192184 w 105"/>
                  <a:gd name="T19" fmla="*/ 360 h 29"/>
                  <a:gd name="T20" fmla="*/ 3873205 w 105"/>
                  <a:gd name="T21" fmla="*/ 207 h 29"/>
                  <a:gd name="T22" fmla="*/ 3367531 w 105"/>
                  <a:gd name="T23" fmla="*/ 148 h 29"/>
                  <a:gd name="T24" fmla="*/ 2755964 w 105"/>
                  <a:gd name="T25" fmla="*/ 114 h 29"/>
                  <a:gd name="T26" fmla="*/ 2105818 w 105"/>
                  <a:gd name="T27" fmla="*/ 100 h 29"/>
                  <a:gd name="T28" fmla="*/ 1485145 w 105"/>
                  <a:gd name="T29" fmla="*/ 88 h 29"/>
                  <a:gd name="T30" fmla="*/ 921214 w 105"/>
                  <a:gd name="T31" fmla="*/ 77 h 29"/>
                  <a:gd name="T32" fmla="*/ 605611 w 105"/>
                  <a:gd name="T33" fmla="*/ 2 h 29"/>
                  <a:gd name="T34" fmla="*/ 530939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0" y="17"/>
                    </a:lnTo>
                    <a:lnTo>
                      <a:pt x="35" y="19"/>
                    </a:lnTo>
                    <a:lnTo>
                      <a:pt x="51" y="20"/>
                    </a:lnTo>
                    <a:lnTo>
                      <a:pt x="67" y="21"/>
                    </a:lnTo>
                    <a:lnTo>
                      <a:pt x="80" y="22"/>
                    </a:lnTo>
                    <a:lnTo>
                      <a:pt x="89" y="25"/>
                    </a:lnTo>
                    <a:lnTo>
                      <a:pt x="91" y="28"/>
                    </a:lnTo>
                    <a:lnTo>
                      <a:pt x="104" y="24"/>
                    </a:lnTo>
                    <a:lnTo>
                      <a:pt x="96" y="14"/>
                    </a:lnTo>
                    <a:lnTo>
                      <a:pt x="83" y="10"/>
                    </a:lnTo>
                    <a:lnTo>
                      <a:pt x="68" y="8"/>
                    </a:lnTo>
                    <a:lnTo>
                      <a:pt x="52" y="7"/>
                    </a:lnTo>
                    <a:lnTo>
                      <a:pt x="37" y="6"/>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7" name="Freeform 327">
                <a:extLst>
                  <a:ext uri="{FF2B5EF4-FFF2-40B4-BE49-F238E27FC236}">
                    <a16:creationId xmlns:a16="http://schemas.microsoft.com/office/drawing/2014/main" id="{613F44F9-6FC2-652D-5E3A-4EBCB1658C5D}"/>
                  </a:ext>
                </a:extLst>
              </p:cNvPr>
              <p:cNvSpPr>
                <a:spLocks/>
              </p:cNvSpPr>
              <p:nvPr/>
            </p:nvSpPr>
            <p:spPr bwMode="auto">
              <a:xfrm>
                <a:off x="1892" y="2889"/>
                <a:ext cx="141" cy="70"/>
              </a:xfrm>
              <a:custGeom>
                <a:avLst/>
                <a:gdLst>
                  <a:gd name="T0" fmla="*/ 3010083 w 85"/>
                  <a:gd name="T1" fmla="*/ 157 h 61"/>
                  <a:gd name="T2" fmla="*/ 2938929 w 85"/>
                  <a:gd name="T3" fmla="*/ 119 h 61"/>
                  <a:gd name="T4" fmla="*/ 2878991 w 85"/>
                  <a:gd name="T5" fmla="*/ 104 h 61"/>
                  <a:gd name="T6" fmla="*/ 2639817 w 85"/>
                  <a:gd name="T7" fmla="*/ 180 h 61"/>
                  <a:gd name="T8" fmla="*/ 2144595 w 85"/>
                  <a:gd name="T9" fmla="*/ 313 h 61"/>
                  <a:gd name="T10" fmla="*/ 1575912 w 85"/>
                  <a:gd name="T11" fmla="*/ 412 h 61"/>
                  <a:gd name="T12" fmla="*/ 1018839 w 85"/>
                  <a:gd name="T13" fmla="*/ 555 h 61"/>
                  <a:gd name="T14" fmla="*/ 495429 w 85"/>
                  <a:gd name="T15" fmla="*/ 678 h 61"/>
                  <a:gd name="T16" fmla="*/ 119231 w 85"/>
                  <a:gd name="T17" fmla="*/ 839 h 61"/>
                  <a:gd name="T18" fmla="*/ 0 w 85"/>
                  <a:gd name="T19" fmla="*/ 1080 h 61"/>
                  <a:gd name="T20" fmla="*/ 544238 w 85"/>
                  <a:gd name="T21" fmla="*/ 990 h 61"/>
                  <a:gd name="T22" fmla="*/ 572706 w 85"/>
                  <a:gd name="T23" fmla="*/ 982 h 61"/>
                  <a:gd name="T24" fmla="*/ 821829 w 85"/>
                  <a:gd name="T25" fmla="*/ 863 h 61"/>
                  <a:gd name="T26" fmla="*/ 1275833 w 85"/>
                  <a:gd name="T27" fmla="*/ 746 h 61"/>
                  <a:gd name="T28" fmla="*/ 1864649 w 85"/>
                  <a:gd name="T29" fmla="*/ 636 h 61"/>
                  <a:gd name="T30" fmla="*/ 2442656 w 85"/>
                  <a:gd name="T31" fmla="*/ 515 h 61"/>
                  <a:gd name="T32" fmla="*/ 2878991 w 85"/>
                  <a:gd name="T33" fmla="*/ 391 h 61"/>
                  <a:gd name="T34" fmla="*/ 3327053 w 85"/>
                  <a:gd name="T35" fmla="*/ 273 h 61"/>
                  <a:gd name="T36" fmla="*/ 3461437 w 85"/>
                  <a:gd name="T37" fmla="*/ 3 h 61"/>
                  <a:gd name="T38" fmla="*/ 3392672 w 85"/>
                  <a:gd name="T39" fmla="*/ 0 h 61"/>
                  <a:gd name="T40" fmla="*/ 3461437 w 85"/>
                  <a:gd name="T41" fmla="*/ 3 h 61"/>
                  <a:gd name="T42" fmla="*/ 3434334 w 85"/>
                  <a:gd name="T43" fmla="*/ 1 h 61"/>
                  <a:gd name="T44" fmla="*/ 3392672 w 85"/>
                  <a:gd name="T45" fmla="*/ 0 h 61"/>
                  <a:gd name="T46" fmla="*/ 3010083 w 85"/>
                  <a:gd name="T47" fmla="*/ 157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
                  <a:gd name="T73" fmla="*/ 0 h 61"/>
                  <a:gd name="T74" fmla="*/ 85 w 85"/>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 h="61">
                    <a:moveTo>
                      <a:pt x="73" y="9"/>
                    </a:moveTo>
                    <a:lnTo>
                      <a:pt x="71" y="7"/>
                    </a:lnTo>
                    <a:lnTo>
                      <a:pt x="70" y="6"/>
                    </a:lnTo>
                    <a:lnTo>
                      <a:pt x="64" y="10"/>
                    </a:lnTo>
                    <a:lnTo>
                      <a:pt x="52" y="17"/>
                    </a:lnTo>
                    <a:lnTo>
                      <a:pt x="38" y="23"/>
                    </a:lnTo>
                    <a:lnTo>
                      <a:pt x="25" y="31"/>
                    </a:lnTo>
                    <a:lnTo>
                      <a:pt x="12" y="38"/>
                    </a:lnTo>
                    <a:lnTo>
                      <a:pt x="3" y="47"/>
                    </a:lnTo>
                    <a:lnTo>
                      <a:pt x="0" y="60"/>
                    </a:lnTo>
                    <a:lnTo>
                      <a:pt x="13" y="56"/>
                    </a:lnTo>
                    <a:lnTo>
                      <a:pt x="14" y="55"/>
                    </a:lnTo>
                    <a:lnTo>
                      <a:pt x="20" y="49"/>
                    </a:lnTo>
                    <a:lnTo>
                      <a:pt x="31" y="42"/>
                    </a:lnTo>
                    <a:lnTo>
                      <a:pt x="45" y="35"/>
                    </a:lnTo>
                    <a:lnTo>
                      <a:pt x="59" y="29"/>
                    </a:lnTo>
                    <a:lnTo>
                      <a:pt x="70" y="22"/>
                    </a:lnTo>
                    <a:lnTo>
                      <a:pt x="81" y="15"/>
                    </a:lnTo>
                    <a:lnTo>
                      <a:pt x="84" y="3"/>
                    </a:lnTo>
                    <a:lnTo>
                      <a:pt x="82" y="0"/>
                    </a:lnTo>
                    <a:lnTo>
                      <a:pt x="84" y="3"/>
                    </a:lnTo>
                    <a:lnTo>
                      <a:pt x="83" y="1"/>
                    </a:lnTo>
                    <a:lnTo>
                      <a:pt x="82" y="0"/>
                    </a:lnTo>
                    <a:lnTo>
                      <a:pt x="73"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8" name="Freeform 328">
                <a:extLst>
                  <a:ext uri="{FF2B5EF4-FFF2-40B4-BE49-F238E27FC236}">
                    <a16:creationId xmlns:a16="http://schemas.microsoft.com/office/drawing/2014/main" id="{FFAFA348-BA80-EC0E-4874-CD767F63A26E}"/>
                  </a:ext>
                </a:extLst>
              </p:cNvPr>
              <p:cNvSpPr>
                <a:spLocks/>
              </p:cNvSpPr>
              <p:nvPr/>
            </p:nvSpPr>
            <p:spPr bwMode="auto">
              <a:xfrm>
                <a:off x="2008" y="2888"/>
                <a:ext cx="23" cy="13"/>
              </a:xfrm>
              <a:custGeom>
                <a:avLst/>
                <a:gdLst>
                  <a:gd name="T0" fmla="*/ 0 w 14"/>
                  <a:gd name="T1" fmla="*/ 182 h 11"/>
                  <a:gd name="T2" fmla="*/ 60339 w 14"/>
                  <a:gd name="T3" fmla="*/ 300 h 11"/>
                  <a:gd name="T4" fmla="*/ 60339 w 14"/>
                  <a:gd name="T5" fmla="*/ 343 h 11"/>
                  <a:gd name="T6" fmla="*/ 375225 w 14"/>
                  <a:gd name="T7" fmla="*/ 1 h 11"/>
                  <a:gd name="T8" fmla="*/ 375225 w 14"/>
                  <a:gd name="T9" fmla="*/ 0 h 11"/>
                  <a:gd name="T10" fmla="*/ 439537 w 14"/>
                  <a:gd name="T11" fmla="*/ 110 h 11"/>
                  <a:gd name="T12" fmla="*/ 0 w 14"/>
                  <a:gd name="T13" fmla="*/ 182 h 11"/>
                  <a:gd name="T14" fmla="*/ 0 w 14"/>
                  <a:gd name="T15" fmla="*/ 254 h 11"/>
                  <a:gd name="T16" fmla="*/ 60339 w 14"/>
                  <a:gd name="T17" fmla="*/ 300 h 11"/>
                  <a:gd name="T18" fmla="*/ 0 w 14"/>
                  <a:gd name="T19" fmla="*/ 182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1"/>
                  <a:gd name="T32" fmla="*/ 14 w 14"/>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1">
                    <a:moveTo>
                      <a:pt x="0" y="6"/>
                    </a:moveTo>
                    <a:lnTo>
                      <a:pt x="2" y="9"/>
                    </a:lnTo>
                    <a:lnTo>
                      <a:pt x="2" y="10"/>
                    </a:lnTo>
                    <a:lnTo>
                      <a:pt x="11" y="1"/>
                    </a:lnTo>
                    <a:lnTo>
                      <a:pt x="11" y="0"/>
                    </a:lnTo>
                    <a:lnTo>
                      <a:pt x="13" y="3"/>
                    </a:lnTo>
                    <a:lnTo>
                      <a:pt x="0" y="6"/>
                    </a:lnTo>
                    <a:lnTo>
                      <a:pt x="0" y="8"/>
                    </a:lnTo>
                    <a:lnTo>
                      <a:pt x="2" y="9"/>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79" name="Freeform 329">
                <a:extLst>
                  <a:ext uri="{FF2B5EF4-FFF2-40B4-BE49-F238E27FC236}">
                    <a16:creationId xmlns:a16="http://schemas.microsoft.com/office/drawing/2014/main" id="{A6822270-00D9-917C-5FB0-BFB3F54CF14C}"/>
                  </a:ext>
                </a:extLst>
              </p:cNvPr>
              <p:cNvSpPr>
                <a:spLocks/>
              </p:cNvSpPr>
              <p:nvPr/>
            </p:nvSpPr>
            <p:spPr bwMode="auto">
              <a:xfrm>
                <a:off x="1859" y="2861"/>
                <a:ext cx="172" cy="36"/>
              </a:xfrm>
              <a:custGeom>
                <a:avLst/>
                <a:gdLst>
                  <a:gd name="T0" fmla="*/ 0 w 104"/>
                  <a:gd name="T1" fmla="*/ 149 h 30"/>
                  <a:gd name="T2" fmla="*/ 310460 w 104"/>
                  <a:gd name="T3" fmla="*/ 642 h 30"/>
                  <a:gd name="T4" fmla="*/ 823227 w 104"/>
                  <a:gd name="T5" fmla="*/ 820 h 30"/>
                  <a:gd name="T6" fmla="*/ 1404400 w 104"/>
                  <a:gd name="T7" fmla="*/ 953 h 30"/>
                  <a:gd name="T8" fmla="*/ 1967544 w 104"/>
                  <a:gd name="T9" fmla="*/ 984 h 30"/>
                  <a:gd name="T10" fmla="*/ 2606496 w 104"/>
                  <a:gd name="T11" fmla="*/ 1080 h 30"/>
                  <a:gd name="T12" fmla="*/ 3143882 w 104"/>
                  <a:gd name="T13" fmla="*/ 1144 h 30"/>
                  <a:gd name="T14" fmla="*/ 3421168 w 104"/>
                  <a:gd name="T15" fmla="*/ 1219 h 30"/>
                  <a:gd name="T16" fmla="*/ 3487763 w 104"/>
                  <a:gd name="T17" fmla="*/ 1331 h 30"/>
                  <a:gd name="T18" fmla="*/ 3985470 w 104"/>
                  <a:gd name="T19" fmla="*/ 1181 h 30"/>
                  <a:gd name="T20" fmla="*/ 3684152 w 104"/>
                  <a:gd name="T21" fmla="*/ 750 h 30"/>
                  <a:gd name="T22" fmla="*/ 3210488 w 104"/>
                  <a:gd name="T23" fmla="*/ 535 h 30"/>
                  <a:gd name="T24" fmla="*/ 2621895 w 104"/>
                  <a:gd name="T25" fmla="*/ 446 h 30"/>
                  <a:gd name="T26" fmla="*/ 2068613 w 104"/>
                  <a:gd name="T27" fmla="*/ 434 h 30"/>
                  <a:gd name="T28" fmla="*/ 1428035 w 104"/>
                  <a:gd name="T29" fmla="*/ 372 h 30"/>
                  <a:gd name="T30" fmla="*/ 958573 w 104"/>
                  <a:gd name="T31" fmla="*/ 215 h 30"/>
                  <a:gd name="T32" fmla="*/ 607874 w 104"/>
                  <a:gd name="T33" fmla="*/ 2 h 30"/>
                  <a:gd name="T34" fmla="*/ 513453 w 104"/>
                  <a:gd name="T35" fmla="*/ 0 h 30"/>
                  <a:gd name="T36" fmla="*/ 0 w 104"/>
                  <a:gd name="T37" fmla="*/ 149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30"/>
                  <a:gd name="T59" fmla="*/ 104 w 104"/>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30">
                    <a:moveTo>
                      <a:pt x="0" y="3"/>
                    </a:moveTo>
                    <a:lnTo>
                      <a:pt x="8" y="14"/>
                    </a:lnTo>
                    <a:lnTo>
                      <a:pt x="21" y="18"/>
                    </a:lnTo>
                    <a:lnTo>
                      <a:pt x="36" y="21"/>
                    </a:lnTo>
                    <a:lnTo>
                      <a:pt x="51" y="22"/>
                    </a:lnTo>
                    <a:lnTo>
                      <a:pt x="67" y="23"/>
                    </a:lnTo>
                    <a:lnTo>
                      <a:pt x="81" y="25"/>
                    </a:lnTo>
                    <a:lnTo>
                      <a:pt x="88" y="27"/>
                    </a:lnTo>
                    <a:lnTo>
                      <a:pt x="90" y="29"/>
                    </a:lnTo>
                    <a:lnTo>
                      <a:pt x="103" y="26"/>
                    </a:lnTo>
                    <a:lnTo>
                      <a:pt x="95" y="16"/>
                    </a:lnTo>
                    <a:lnTo>
                      <a:pt x="83" y="12"/>
                    </a:lnTo>
                    <a:lnTo>
                      <a:pt x="68" y="10"/>
                    </a:lnTo>
                    <a:lnTo>
                      <a:pt x="53" y="9"/>
                    </a:lnTo>
                    <a:lnTo>
                      <a:pt x="37" y="8"/>
                    </a:lnTo>
                    <a:lnTo>
                      <a:pt x="25" y="5"/>
                    </a:lnTo>
                    <a:lnTo>
                      <a:pt x="16"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0" name="Freeform 330">
                <a:extLst>
                  <a:ext uri="{FF2B5EF4-FFF2-40B4-BE49-F238E27FC236}">
                    <a16:creationId xmlns:a16="http://schemas.microsoft.com/office/drawing/2014/main" id="{FAA82DBE-1189-FEB3-D9A7-E7E6EFC186B7}"/>
                  </a:ext>
                </a:extLst>
              </p:cNvPr>
              <p:cNvSpPr>
                <a:spLocks/>
              </p:cNvSpPr>
              <p:nvPr/>
            </p:nvSpPr>
            <p:spPr bwMode="auto">
              <a:xfrm>
                <a:off x="1859" y="2793"/>
                <a:ext cx="137" cy="75"/>
              </a:xfrm>
              <a:custGeom>
                <a:avLst/>
                <a:gdLst>
                  <a:gd name="T0" fmla="*/ 2566051 w 83"/>
                  <a:gd name="T1" fmla="*/ 121 h 64"/>
                  <a:gd name="T2" fmla="*/ 2519400 w 83"/>
                  <a:gd name="T3" fmla="*/ 142 h 64"/>
                  <a:gd name="T4" fmla="*/ 2289995 w 83"/>
                  <a:gd name="T5" fmla="*/ 314 h 64"/>
                  <a:gd name="T6" fmla="*/ 1894573 w 83"/>
                  <a:gd name="T7" fmla="*/ 505 h 64"/>
                  <a:gd name="T8" fmla="*/ 1423684 w 83"/>
                  <a:gd name="T9" fmla="*/ 694 h 64"/>
                  <a:gd name="T10" fmla="*/ 901473 w 83"/>
                  <a:gd name="T11" fmla="*/ 929 h 64"/>
                  <a:gd name="T12" fmla="*/ 446998 w 83"/>
                  <a:gd name="T13" fmla="*/ 1117 h 64"/>
                  <a:gd name="T14" fmla="*/ 64690 w 83"/>
                  <a:gd name="T15" fmla="*/ 1402 h 64"/>
                  <a:gd name="T16" fmla="*/ 0 w 83"/>
                  <a:gd name="T17" fmla="*/ 1779 h 64"/>
                  <a:gd name="T18" fmla="*/ 480180 w 83"/>
                  <a:gd name="T19" fmla="*/ 1643 h 64"/>
                  <a:gd name="T20" fmla="*/ 522551 w 83"/>
                  <a:gd name="T21" fmla="*/ 1556 h 64"/>
                  <a:gd name="T22" fmla="*/ 695387 w 83"/>
                  <a:gd name="T23" fmla="*/ 1430 h 64"/>
                  <a:gd name="T24" fmla="*/ 1147807 w 83"/>
                  <a:gd name="T25" fmla="*/ 1236 h 64"/>
                  <a:gd name="T26" fmla="*/ 1639289 w 83"/>
                  <a:gd name="T27" fmla="*/ 1021 h 64"/>
                  <a:gd name="T28" fmla="*/ 2159391 w 83"/>
                  <a:gd name="T29" fmla="*/ 813 h 64"/>
                  <a:gd name="T30" fmla="*/ 2603804 w 83"/>
                  <a:gd name="T31" fmla="*/ 601 h 64"/>
                  <a:gd name="T32" fmla="*/ 2935213 w 83"/>
                  <a:gd name="T33" fmla="*/ 368 h 64"/>
                  <a:gd name="T34" fmla="*/ 3041930 w 83"/>
                  <a:gd name="T35" fmla="*/ 0 h 64"/>
                  <a:gd name="T36" fmla="*/ 2566051 w 83"/>
                  <a:gd name="T37" fmla="*/ 121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1" y="44"/>
                    </a:lnTo>
                    <a:lnTo>
                      <a:pt x="44" y="37"/>
                    </a:lnTo>
                    <a:lnTo>
                      <a:pt x="58"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1" name="Freeform 331">
                <a:extLst>
                  <a:ext uri="{FF2B5EF4-FFF2-40B4-BE49-F238E27FC236}">
                    <a16:creationId xmlns:a16="http://schemas.microsoft.com/office/drawing/2014/main" id="{2B14F782-AC0A-0E2F-CBF9-4A9383A08922}"/>
                  </a:ext>
                </a:extLst>
              </p:cNvPr>
              <p:cNvSpPr>
                <a:spLocks/>
              </p:cNvSpPr>
              <p:nvPr/>
            </p:nvSpPr>
            <p:spPr bwMode="auto">
              <a:xfrm>
                <a:off x="1823" y="2766"/>
                <a:ext cx="173" cy="34"/>
              </a:xfrm>
              <a:custGeom>
                <a:avLst/>
                <a:gdLst>
                  <a:gd name="T0" fmla="*/ 0 w 106"/>
                  <a:gd name="T1" fmla="*/ 121 h 29"/>
                  <a:gd name="T2" fmla="*/ 228735 w 106"/>
                  <a:gd name="T3" fmla="*/ 375 h 29"/>
                  <a:gd name="T4" fmla="*/ 648884 w 106"/>
                  <a:gd name="T5" fmla="*/ 505 h 29"/>
                  <a:gd name="T6" fmla="*/ 1059028 w 106"/>
                  <a:gd name="T7" fmla="*/ 579 h 29"/>
                  <a:gd name="T8" fmla="*/ 1568018 w 106"/>
                  <a:gd name="T9" fmla="*/ 592 h 29"/>
                  <a:gd name="T10" fmla="*/ 1989524 w 106"/>
                  <a:gd name="T11" fmla="*/ 605 h 29"/>
                  <a:gd name="T12" fmla="*/ 2370041 w 106"/>
                  <a:gd name="T13" fmla="*/ 679 h 29"/>
                  <a:gd name="T14" fmla="*/ 2648708 w 106"/>
                  <a:gd name="T15" fmla="*/ 709 h 29"/>
                  <a:gd name="T16" fmla="*/ 2702097 w 106"/>
                  <a:gd name="T17" fmla="*/ 810 h 29"/>
                  <a:gd name="T18" fmla="*/ 3075039 w 106"/>
                  <a:gd name="T19" fmla="*/ 691 h 29"/>
                  <a:gd name="T20" fmla="*/ 2820902 w 106"/>
                  <a:gd name="T21" fmla="*/ 375 h 29"/>
                  <a:gd name="T22" fmla="*/ 2468792 w 106"/>
                  <a:gd name="T23" fmla="*/ 314 h 29"/>
                  <a:gd name="T24" fmla="*/ 2027495 w 106"/>
                  <a:gd name="T25" fmla="*/ 268 h 29"/>
                  <a:gd name="T26" fmla="*/ 1568018 w 106"/>
                  <a:gd name="T27" fmla="*/ 229 h 29"/>
                  <a:gd name="T28" fmla="*/ 1079154 w 106"/>
                  <a:gd name="T29" fmla="*/ 229 h 29"/>
                  <a:gd name="T30" fmla="*/ 701815 w 106"/>
                  <a:gd name="T31" fmla="*/ 166 h 29"/>
                  <a:gd name="T32" fmla="*/ 466379 w 106"/>
                  <a:gd name="T33" fmla="*/ 103 h 29"/>
                  <a:gd name="T34" fmla="*/ 373313 w 106"/>
                  <a:gd name="T35" fmla="*/ 0 h 29"/>
                  <a:gd name="T36" fmla="*/ 0 w 106"/>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2" y="18"/>
                    </a:lnTo>
                    <a:lnTo>
                      <a:pt x="36" y="20"/>
                    </a:lnTo>
                    <a:lnTo>
                      <a:pt x="53" y="21"/>
                    </a:lnTo>
                    <a:lnTo>
                      <a:pt x="68" y="22"/>
                    </a:lnTo>
                    <a:lnTo>
                      <a:pt x="81" y="23"/>
                    </a:lnTo>
                    <a:lnTo>
                      <a:pt x="90" y="26"/>
                    </a:lnTo>
                    <a:lnTo>
                      <a:pt x="92" y="28"/>
                    </a:lnTo>
                    <a:lnTo>
                      <a:pt x="105" y="24"/>
                    </a:lnTo>
                    <a:lnTo>
                      <a:pt x="96" y="14"/>
                    </a:lnTo>
                    <a:lnTo>
                      <a:pt x="84" y="11"/>
                    </a:lnTo>
                    <a:lnTo>
                      <a:pt x="69" y="9"/>
                    </a:lnTo>
                    <a:lnTo>
                      <a:pt x="53" y="8"/>
                    </a:lnTo>
                    <a:lnTo>
                      <a:pt x="37"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2" name="Freeform 332">
                <a:extLst>
                  <a:ext uri="{FF2B5EF4-FFF2-40B4-BE49-F238E27FC236}">
                    <a16:creationId xmlns:a16="http://schemas.microsoft.com/office/drawing/2014/main" id="{5F769B30-17C2-2F7A-B98B-5C8C7869E4A3}"/>
                  </a:ext>
                </a:extLst>
              </p:cNvPr>
              <p:cNvSpPr>
                <a:spLocks/>
              </p:cNvSpPr>
              <p:nvPr/>
            </p:nvSpPr>
            <p:spPr bwMode="auto">
              <a:xfrm>
                <a:off x="1823" y="2698"/>
                <a:ext cx="134" cy="74"/>
              </a:xfrm>
              <a:custGeom>
                <a:avLst/>
                <a:gdLst>
                  <a:gd name="T0" fmla="*/ 2046276 w 82"/>
                  <a:gd name="T1" fmla="*/ 69 h 65"/>
                  <a:gd name="T2" fmla="*/ 1991258 w 82"/>
                  <a:gd name="T3" fmla="*/ 90 h 65"/>
                  <a:gd name="T4" fmla="*/ 1839080 w 82"/>
                  <a:gd name="T5" fmla="*/ 183 h 65"/>
                  <a:gd name="T6" fmla="*/ 1513180 w 82"/>
                  <a:gd name="T7" fmla="*/ 270 h 65"/>
                  <a:gd name="T8" fmla="*/ 1105410 w 82"/>
                  <a:gd name="T9" fmla="*/ 398 h 65"/>
                  <a:gd name="T10" fmla="*/ 726393 w 82"/>
                  <a:gd name="T11" fmla="*/ 508 h 65"/>
                  <a:gd name="T12" fmla="*/ 326445 w 82"/>
                  <a:gd name="T13" fmla="*/ 627 h 65"/>
                  <a:gd name="T14" fmla="*/ 54362 w 82"/>
                  <a:gd name="T15" fmla="*/ 767 h 65"/>
                  <a:gd name="T16" fmla="*/ 0 w 82"/>
                  <a:gd name="T17" fmla="*/ 971 h 65"/>
                  <a:gd name="T18" fmla="*/ 387664 w 82"/>
                  <a:gd name="T19" fmla="*/ 899 h 65"/>
                  <a:gd name="T20" fmla="*/ 427217 w 82"/>
                  <a:gd name="T21" fmla="*/ 865 h 65"/>
                  <a:gd name="T22" fmla="*/ 608172 w 82"/>
                  <a:gd name="T23" fmla="*/ 767 h 65"/>
                  <a:gd name="T24" fmla="*/ 905400 w 82"/>
                  <a:gd name="T25" fmla="*/ 674 h 65"/>
                  <a:gd name="T26" fmla="*/ 1332638 w 82"/>
                  <a:gd name="T27" fmla="*/ 575 h 65"/>
                  <a:gd name="T28" fmla="*/ 1712129 w 82"/>
                  <a:gd name="T29" fmla="*/ 453 h 65"/>
                  <a:gd name="T30" fmla="*/ 2100009 w 82"/>
                  <a:gd name="T31" fmla="*/ 328 h 65"/>
                  <a:gd name="T32" fmla="*/ 2350329 w 82"/>
                  <a:gd name="T33" fmla="*/ 195 h 65"/>
                  <a:gd name="T34" fmla="*/ 2438921 w 82"/>
                  <a:gd name="T35" fmla="*/ 0 h 65"/>
                  <a:gd name="T36" fmla="*/ 2046276 w 82"/>
                  <a:gd name="T37" fmla="*/ 6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5"/>
                  <a:gd name="T59" fmla="*/ 82 w 82"/>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5">
                    <a:moveTo>
                      <a:pt x="68" y="4"/>
                    </a:moveTo>
                    <a:lnTo>
                      <a:pt x="66" y="6"/>
                    </a:lnTo>
                    <a:lnTo>
                      <a:pt x="61" y="12"/>
                    </a:lnTo>
                    <a:lnTo>
                      <a:pt x="50" y="18"/>
                    </a:lnTo>
                    <a:lnTo>
                      <a:pt x="37" y="26"/>
                    </a:lnTo>
                    <a:lnTo>
                      <a:pt x="24" y="33"/>
                    </a:lnTo>
                    <a:lnTo>
                      <a:pt x="11" y="41"/>
                    </a:lnTo>
                    <a:lnTo>
                      <a:pt x="2" y="51"/>
                    </a:lnTo>
                    <a:lnTo>
                      <a:pt x="0" y="64"/>
                    </a:lnTo>
                    <a:lnTo>
                      <a:pt x="13" y="60"/>
                    </a:lnTo>
                    <a:lnTo>
                      <a:pt x="14" y="57"/>
                    </a:lnTo>
                    <a:lnTo>
                      <a:pt x="20" y="51"/>
                    </a:lnTo>
                    <a:lnTo>
                      <a:pt x="30" y="45"/>
                    </a:lnTo>
                    <a:lnTo>
                      <a:pt x="44" y="37"/>
                    </a:lnTo>
                    <a:lnTo>
                      <a:pt x="57" y="30"/>
                    </a:lnTo>
                    <a:lnTo>
                      <a:pt x="70" y="22"/>
                    </a:lnTo>
                    <a:lnTo>
                      <a:pt x="78"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3" name="Freeform 333">
                <a:extLst>
                  <a:ext uri="{FF2B5EF4-FFF2-40B4-BE49-F238E27FC236}">
                    <a16:creationId xmlns:a16="http://schemas.microsoft.com/office/drawing/2014/main" id="{FB0144DF-DEED-276E-6E7E-3126337F7402}"/>
                  </a:ext>
                </a:extLst>
              </p:cNvPr>
              <p:cNvSpPr>
                <a:spLocks/>
              </p:cNvSpPr>
              <p:nvPr/>
            </p:nvSpPr>
            <p:spPr bwMode="auto">
              <a:xfrm>
                <a:off x="1934" y="2698"/>
                <a:ext cx="23" cy="5"/>
              </a:xfrm>
              <a:custGeom>
                <a:avLst/>
                <a:gdLst>
                  <a:gd name="T0" fmla="*/ 0 w 14"/>
                  <a:gd name="T1" fmla="*/ 4 h 5"/>
                  <a:gd name="T2" fmla="*/ 200264 w 14"/>
                  <a:gd name="T3" fmla="*/ 2 h 5"/>
                  <a:gd name="T4" fmla="*/ 439537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4" name="Freeform 334">
                <a:extLst>
                  <a:ext uri="{FF2B5EF4-FFF2-40B4-BE49-F238E27FC236}">
                    <a16:creationId xmlns:a16="http://schemas.microsoft.com/office/drawing/2014/main" id="{F62DCFA3-1693-3685-C215-7B35B9F3DE0A}"/>
                  </a:ext>
                </a:extLst>
              </p:cNvPr>
              <p:cNvSpPr>
                <a:spLocks/>
              </p:cNvSpPr>
              <p:nvPr/>
            </p:nvSpPr>
            <p:spPr bwMode="auto">
              <a:xfrm>
                <a:off x="1781" y="2669"/>
                <a:ext cx="176" cy="34"/>
              </a:xfrm>
              <a:custGeom>
                <a:avLst/>
                <a:gdLst>
                  <a:gd name="T0" fmla="*/ 0 w 107"/>
                  <a:gd name="T1" fmla="*/ 61 h 30"/>
                  <a:gd name="T2" fmla="*/ 272945 w 107"/>
                  <a:gd name="T3" fmla="*/ 186 h 30"/>
                  <a:gd name="T4" fmla="*/ 738470 w 107"/>
                  <a:gd name="T5" fmla="*/ 239 h 30"/>
                  <a:gd name="T6" fmla="*/ 1242572 w 107"/>
                  <a:gd name="T7" fmla="*/ 264 h 30"/>
                  <a:gd name="T8" fmla="*/ 1803036 w 107"/>
                  <a:gd name="T9" fmla="*/ 271 h 30"/>
                  <a:gd name="T10" fmla="*/ 2351955 w 107"/>
                  <a:gd name="T11" fmla="*/ 298 h 30"/>
                  <a:gd name="T12" fmla="*/ 2833329 w 107"/>
                  <a:gd name="T13" fmla="*/ 307 h 30"/>
                  <a:gd name="T14" fmla="*/ 3107351 w 107"/>
                  <a:gd name="T15" fmla="*/ 348 h 30"/>
                  <a:gd name="T16" fmla="*/ 3223782 w 107"/>
                  <a:gd name="T17" fmla="*/ 394 h 30"/>
                  <a:gd name="T18" fmla="*/ 3649694 w 107"/>
                  <a:gd name="T19" fmla="*/ 339 h 30"/>
                  <a:gd name="T20" fmla="*/ 3383873 w 107"/>
                  <a:gd name="T21" fmla="*/ 186 h 30"/>
                  <a:gd name="T22" fmla="*/ 2899460 w 107"/>
                  <a:gd name="T23" fmla="*/ 128 h 30"/>
                  <a:gd name="T24" fmla="*/ 2374059 w 107"/>
                  <a:gd name="T25" fmla="*/ 100 h 30"/>
                  <a:gd name="T26" fmla="*/ 1865939 w 107"/>
                  <a:gd name="T27" fmla="*/ 88 h 30"/>
                  <a:gd name="T28" fmla="*/ 1326479 w 107"/>
                  <a:gd name="T29" fmla="*/ 78 h 30"/>
                  <a:gd name="T30" fmla="*/ 818282 w 107"/>
                  <a:gd name="T31" fmla="*/ 69 h 30"/>
                  <a:gd name="T32" fmla="*/ 520021 w 107"/>
                  <a:gd name="T33" fmla="*/ 2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8"/>
                    </a:lnTo>
                    <a:lnTo>
                      <a:pt x="36" y="19"/>
                    </a:lnTo>
                    <a:lnTo>
                      <a:pt x="52" y="20"/>
                    </a:lnTo>
                    <a:lnTo>
                      <a:pt x="68" y="21"/>
                    </a:lnTo>
                    <a:lnTo>
                      <a:pt x="82" y="23"/>
                    </a:lnTo>
                    <a:lnTo>
                      <a:pt x="90" y="26"/>
                    </a:lnTo>
                    <a:lnTo>
                      <a:pt x="93" y="29"/>
                    </a:lnTo>
                    <a:lnTo>
                      <a:pt x="106" y="25"/>
                    </a:lnTo>
                    <a:lnTo>
                      <a:pt x="98" y="14"/>
                    </a:lnTo>
                    <a:lnTo>
                      <a:pt x="84" y="10"/>
                    </a:lnTo>
                    <a:lnTo>
                      <a:pt x="69" y="8"/>
                    </a:lnTo>
                    <a:lnTo>
                      <a:pt x="54" y="7"/>
                    </a:lnTo>
                    <a:lnTo>
                      <a:pt x="38" y="6"/>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5" name="Freeform 335">
                <a:extLst>
                  <a:ext uri="{FF2B5EF4-FFF2-40B4-BE49-F238E27FC236}">
                    <a16:creationId xmlns:a16="http://schemas.microsoft.com/office/drawing/2014/main" id="{346DD1F8-2C2D-F706-2AFB-0DB70F60FB40}"/>
                  </a:ext>
                </a:extLst>
              </p:cNvPr>
              <p:cNvSpPr>
                <a:spLocks/>
              </p:cNvSpPr>
              <p:nvPr/>
            </p:nvSpPr>
            <p:spPr bwMode="auto">
              <a:xfrm>
                <a:off x="1781" y="2602"/>
                <a:ext cx="137" cy="72"/>
              </a:xfrm>
              <a:custGeom>
                <a:avLst/>
                <a:gdLst>
                  <a:gd name="T0" fmla="*/ 2021003 w 84"/>
                  <a:gd name="T1" fmla="*/ 73 h 63"/>
                  <a:gd name="T2" fmla="*/ 2001462 w 84"/>
                  <a:gd name="T3" fmla="*/ 109 h 63"/>
                  <a:gd name="T4" fmla="*/ 1826807 w 84"/>
                  <a:gd name="T5" fmla="*/ 213 h 63"/>
                  <a:gd name="T6" fmla="*/ 1510138 w 84"/>
                  <a:gd name="T7" fmla="*/ 318 h 63"/>
                  <a:gd name="T8" fmla="*/ 1100537 w 84"/>
                  <a:gd name="T9" fmla="*/ 426 h 63"/>
                  <a:gd name="T10" fmla="*/ 726030 w 84"/>
                  <a:gd name="T11" fmla="*/ 542 h 63"/>
                  <a:gd name="T12" fmla="*/ 361054 w 84"/>
                  <a:gd name="T13" fmla="*/ 671 h 63"/>
                  <a:gd name="T14" fmla="*/ 84992 w 84"/>
                  <a:gd name="T15" fmla="*/ 808 h 63"/>
                  <a:gd name="T16" fmla="*/ 0 w 84"/>
                  <a:gd name="T17" fmla="*/ 1032 h 63"/>
                  <a:gd name="T18" fmla="*/ 368724 w 84"/>
                  <a:gd name="T19" fmla="*/ 951 h 63"/>
                  <a:gd name="T20" fmla="*/ 413735 w 84"/>
                  <a:gd name="T21" fmla="*/ 941 h 63"/>
                  <a:gd name="T22" fmla="*/ 588862 w 84"/>
                  <a:gd name="T23" fmla="*/ 832 h 63"/>
                  <a:gd name="T24" fmla="*/ 900861 w 84"/>
                  <a:gd name="T25" fmla="*/ 720 h 63"/>
                  <a:gd name="T26" fmla="*/ 1290855 w 84"/>
                  <a:gd name="T27" fmla="*/ 619 h 63"/>
                  <a:gd name="T28" fmla="*/ 1709551 w 84"/>
                  <a:gd name="T29" fmla="*/ 514 h 63"/>
                  <a:gd name="T30" fmla="*/ 2053106 w 84"/>
                  <a:gd name="T31" fmla="*/ 373 h 63"/>
                  <a:gd name="T32" fmla="*/ 2338756 w 84"/>
                  <a:gd name="T33" fmla="*/ 213 h 63"/>
                  <a:gd name="T34" fmla="*/ 2396295 w 84"/>
                  <a:gd name="T35" fmla="*/ 0 h 63"/>
                  <a:gd name="T36" fmla="*/ 2021003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7"/>
                    </a:lnTo>
                    <a:lnTo>
                      <a:pt x="63" y="13"/>
                    </a:lnTo>
                    <a:lnTo>
                      <a:pt x="52" y="19"/>
                    </a:lnTo>
                    <a:lnTo>
                      <a:pt x="38" y="26"/>
                    </a:lnTo>
                    <a:lnTo>
                      <a:pt x="25" y="33"/>
                    </a:lnTo>
                    <a:lnTo>
                      <a:pt x="12" y="40"/>
                    </a:lnTo>
                    <a:lnTo>
                      <a:pt x="3" y="49"/>
                    </a:lnTo>
                    <a:lnTo>
                      <a:pt x="0" y="62"/>
                    </a:lnTo>
                    <a:lnTo>
                      <a:pt x="13" y="58"/>
                    </a:lnTo>
                    <a:lnTo>
                      <a:pt x="14" y="57"/>
                    </a:lnTo>
                    <a:lnTo>
                      <a:pt x="20" y="51"/>
                    </a:lnTo>
                    <a:lnTo>
                      <a:pt x="31" y="44"/>
                    </a:lnTo>
                    <a:lnTo>
                      <a:pt x="45" y="38"/>
                    </a:lnTo>
                    <a:lnTo>
                      <a:pt x="59" y="31"/>
                    </a:lnTo>
                    <a:lnTo>
                      <a:pt x="71" y="23"/>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22586" name="Freeform 336">
                <a:extLst>
                  <a:ext uri="{FF2B5EF4-FFF2-40B4-BE49-F238E27FC236}">
                    <a16:creationId xmlns:a16="http://schemas.microsoft.com/office/drawing/2014/main" id="{D96921CB-02F7-E8F3-A99C-4FEE01C3CF42}"/>
                  </a:ext>
                </a:extLst>
              </p:cNvPr>
              <p:cNvSpPr>
                <a:spLocks/>
              </p:cNvSpPr>
              <p:nvPr/>
            </p:nvSpPr>
            <p:spPr bwMode="auto">
              <a:xfrm>
                <a:off x="1745" y="2574"/>
                <a:ext cx="173" cy="33"/>
              </a:xfrm>
              <a:custGeom>
                <a:avLst/>
                <a:gdLst>
                  <a:gd name="T0" fmla="*/ 0 w 106"/>
                  <a:gd name="T1" fmla="*/ 3 h 29"/>
                  <a:gd name="T2" fmla="*/ 228735 w 106"/>
                  <a:gd name="T3" fmla="*/ 191 h 29"/>
                  <a:gd name="T4" fmla="*/ 609275 w 106"/>
                  <a:gd name="T5" fmla="*/ 247 h 29"/>
                  <a:gd name="T6" fmla="*/ 1059028 w 106"/>
                  <a:gd name="T7" fmla="*/ 281 h 29"/>
                  <a:gd name="T8" fmla="*/ 1530828 w 106"/>
                  <a:gd name="T9" fmla="*/ 306 h 29"/>
                  <a:gd name="T10" fmla="*/ 1964446 w 106"/>
                  <a:gd name="T11" fmla="*/ 306 h 29"/>
                  <a:gd name="T12" fmla="*/ 2370041 w 106"/>
                  <a:gd name="T13" fmla="*/ 320 h 29"/>
                  <a:gd name="T14" fmla="*/ 2613447 w 106"/>
                  <a:gd name="T15" fmla="*/ 364 h 29"/>
                  <a:gd name="T16" fmla="*/ 2702097 w 106"/>
                  <a:gd name="T17" fmla="*/ 414 h 29"/>
                  <a:gd name="T18" fmla="*/ 3075039 w 106"/>
                  <a:gd name="T19" fmla="*/ 360 h 29"/>
                  <a:gd name="T20" fmla="*/ 2841860 w 106"/>
                  <a:gd name="T21" fmla="*/ 207 h 29"/>
                  <a:gd name="T22" fmla="*/ 2468792 w 106"/>
                  <a:gd name="T23" fmla="*/ 130 h 29"/>
                  <a:gd name="T24" fmla="*/ 2027495 w 106"/>
                  <a:gd name="T25" fmla="*/ 100 h 29"/>
                  <a:gd name="T26" fmla="*/ 1530828 w 106"/>
                  <a:gd name="T27" fmla="*/ 100 h 29"/>
                  <a:gd name="T28" fmla="*/ 1079154 w 106"/>
                  <a:gd name="T29" fmla="*/ 88 h 29"/>
                  <a:gd name="T30" fmla="*/ 701815 w 106"/>
                  <a:gd name="T31" fmla="*/ 68 h 29"/>
                  <a:gd name="T32" fmla="*/ 430014 w 106"/>
                  <a:gd name="T33" fmla="*/ 1 h 29"/>
                  <a:gd name="T34" fmla="*/ 373313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0"/>
                    </a:lnTo>
                    <a:lnTo>
                      <a:pt x="81" y="22"/>
                    </a:lnTo>
                    <a:lnTo>
                      <a:pt x="89" y="25"/>
                    </a:lnTo>
                    <a:lnTo>
                      <a:pt x="92" y="28"/>
                    </a:lnTo>
                    <a:lnTo>
                      <a:pt x="105" y="24"/>
                    </a:lnTo>
                    <a:lnTo>
                      <a:pt x="97" y="14"/>
                    </a:lnTo>
                    <a:lnTo>
                      <a:pt x="84" y="9"/>
                    </a:lnTo>
                    <a:lnTo>
                      <a:pt x="69" y="7"/>
                    </a:lnTo>
                    <a:lnTo>
                      <a:pt x="52"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grpSp>
        <p:sp>
          <p:nvSpPr>
            <p:cNvPr id="22559" name="Line 337">
              <a:extLst>
                <a:ext uri="{FF2B5EF4-FFF2-40B4-BE49-F238E27FC236}">
                  <a16:creationId xmlns:a16="http://schemas.microsoft.com/office/drawing/2014/main" id="{BE258E80-7363-CAEF-83DE-D19F39C737EE}"/>
                </a:ext>
              </a:extLst>
            </p:cNvPr>
            <p:cNvSpPr>
              <a:spLocks noChangeShapeType="1"/>
            </p:cNvSpPr>
            <p:nvPr/>
          </p:nvSpPr>
          <p:spPr bwMode="auto">
            <a:xfrm>
              <a:off x="1795" y="2520"/>
              <a:ext cx="91" cy="136"/>
            </a:xfrm>
            <a:prstGeom prst="line">
              <a:avLst/>
            </a:prstGeom>
            <a:noFill/>
            <a:ln w="41275">
              <a:solidFill>
                <a:srgbClr val="FFCC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39602" name="Rectangle 338">
            <a:extLst>
              <a:ext uri="{FF2B5EF4-FFF2-40B4-BE49-F238E27FC236}">
                <a16:creationId xmlns:a16="http://schemas.microsoft.com/office/drawing/2014/main" id="{217D7A7D-67BF-CFF6-82C3-C7F487A555A7}"/>
              </a:ext>
            </a:extLst>
          </p:cNvPr>
          <p:cNvSpPr>
            <a:spLocks noChangeArrowheads="1"/>
          </p:cNvSpPr>
          <p:nvPr/>
        </p:nvSpPr>
        <p:spPr bwMode="auto">
          <a:xfrm>
            <a:off x="457200" y="3579873"/>
            <a:ext cx="174625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Some solar radiation is absorbed by clouds and other gases</a:t>
            </a:r>
          </a:p>
        </p:txBody>
      </p:sp>
      <p:sp>
        <p:nvSpPr>
          <p:cNvPr id="139603" name="Rectangle 339">
            <a:extLst>
              <a:ext uri="{FF2B5EF4-FFF2-40B4-BE49-F238E27FC236}">
                <a16:creationId xmlns:a16="http://schemas.microsoft.com/office/drawing/2014/main" id="{C582C782-0297-6D6F-5140-DF2D90535039}"/>
              </a:ext>
            </a:extLst>
          </p:cNvPr>
          <p:cNvSpPr>
            <a:spLocks noChangeArrowheads="1"/>
          </p:cNvSpPr>
          <p:nvPr/>
        </p:nvSpPr>
        <p:spPr bwMode="auto">
          <a:xfrm>
            <a:off x="6742113" y="2840098"/>
            <a:ext cx="180340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This </a:t>
            </a:r>
            <a:r>
              <a:rPr lang="en-GB" altLang="en-US" sz="1200" b="1">
                <a:solidFill>
                  <a:srgbClr val="FF0000"/>
                </a:solidFill>
                <a:latin typeface="Arial" panose="020B0604020202020204" pitchFamily="34" charset="0"/>
              </a:rPr>
              <a:t>warms</a:t>
            </a:r>
            <a:r>
              <a:rPr lang="en-GB" altLang="en-US" sz="1200" b="1">
                <a:solidFill>
                  <a:srgbClr val="000000"/>
                </a:solidFill>
                <a:latin typeface="Arial" panose="020B0604020202020204" pitchFamily="34" charset="0"/>
              </a:rPr>
              <a:t> the surface and the atmosphere</a:t>
            </a:r>
          </a:p>
        </p:txBody>
      </p:sp>
      <p:sp>
        <p:nvSpPr>
          <p:cNvPr id="139604" name="Line 340">
            <a:extLst>
              <a:ext uri="{FF2B5EF4-FFF2-40B4-BE49-F238E27FC236}">
                <a16:creationId xmlns:a16="http://schemas.microsoft.com/office/drawing/2014/main" id="{5F97D4F3-2972-7D71-E415-022DD2937E8C}"/>
              </a:ext>
            </a:extLst>
          </p:cNvPr>
          <p:cNvSpPr>
            <a:spLocks noChangeShapeType="1"/>
          </p:cNvSpPr>
          <p:nvPr/>
        </p:nvSpPr>
        <p:spPr bwMode="auto">
          <a:xfrm>
            <a:off x="400050" y="3548123"/>
            <a:ext cx="8553450" cy="0"/>
          </a:xfrm>
          <a:prstGeom prst="line">
            <a:avLst/>
          </a:prstGeom>
          <a:noFill/>
          <a:ln w="15875">
            <a:solidFill>
              <a:srgbClr val="99CC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9605" name="Rectangle 341">
            <a:extLst>
              <a:ext uri="{FF2B5EF4-FFF2-40B4-BE49-F238E27FC236}">
                <a16:creationId xmlns:a16="http://schemas.microsoft.com/office/drawing/2014/main" id="{1AAE6511-A8B5-386E-D695-48430D77D032}"/>
              </a:ext>
            </a:extLst>
          </p:cNvPr>
          <p:cNvSpPr>
            <a:spLocks noChangeArrowheads="1"/>
          </p:cNvSpPr>
          <p:nvPr/>
        </p:nvSpPr>
        <p:spPr bwMode="auto">
          <a:xfrm>
            <a:off x="4452938" y="5742048"/>
            <a:ext cx="8302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600" b="1">
                <a:solidFill>
                  <a:srgbClr val="712000"/>
                </a:solidFill>
                <a:latin typeface="Arial" panose="020B0604020202020204" pitchFamily="34" charset="0"/>
              </a:rPr>
              <a:t>EARTH</a:t>
            </a:r>
          </a:p>
          <a:p>
            <a:pPr algn="ctr">
              <a:lnSpc>
                <a:spcPct val="100000"/>
              </a:lnSpc>
              <a:spcBef>
                <a:spcPct val="0"/>
              </a:spcBef>
              <a:buFontTx/>
              <a:buNone/>
            </a:pPr>
            <a:endParaRPr lang="en-GB" altLang="en-US" sz="1400" b="1">
              <a:solidFill>
                <a:srgbClr val="712000"/>
              </a:solidFill>
              <a:latin typeface="Arial" panose="020B0604020202020204" pitchFamily="34" charset="0"/>
            </a:endParaRPr>
          </a:p>
        </p:txBody>
      </p:sp>
      <p:sp>
        <p:nvSpPr>
          <p:cNvPr id="139607" name="Rectangle 343">
            <a:extLst>
              <a:ext uri="{FF2B5EF4-FFF2-40B4-BE49-F238E27FC236}">
                <a16:creationId xmlns:a16="http://schemas.microsoft.com/office/drawing/2014/main" id="{85FD7D25-A264-E0FD-06CD-F995EFB57C92}"/>
              </a:ext>
            </a:extLst>
          </p:cNvPr>
          <p:cNvSpPr>
            <a:spLocks noChangeArrowheads="1"/>
          </p:cNvSpPr>
          <p:nvPr/>
        </p:nvSpPr>
        <p:spPr bwMode="auto">
          <a:xfrm>
            <a:off x="1096963" y="5000686"/>
            <a:ext cx="17875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200" b="1">
                <a:solidFill>
                  <a:srgbClr val="000000"/>
                </a:solidFill>
                <a:latin typeface="Arial" panose="020B0604020202020204" pitchFamily="34" charset="0"/>
              </a:rPr>
              <a:t>Most solar radiation</a:t>
            </a:r>
          </a:p>
          <a:p>
            <a:pPr algn="ctr">
              <a:lnSpc>
                <a:spcPct val="100000"/>
              </a:lnSpc>
              <a:spcBef>
                <a:spcPct val="0"/>
              </a:spcBef>
              <a:buFontTx/>
              <a:buNone/>
            </a:pPr>
            <a:r>
              <a:rPr lang="en-GB" altLang="en-US" sz="1200" b="1">
                <a:solidFill>
                  <a:srgbClr val="000000"/>
                </a:solidFill>
                <a:latin typeface="Arial" panose="020B0604020202020204" pitchFamily="34" charset="0"/>
              </a:rPr>
              <a:t>Passes straight through the atmosphere</a:t>
            </a:r>
          </a:p>
        </p:txBody>
      </p:sp>
      <p:sp>
        <p:nvSpPr>
          <p:cNvPr id="9" name="Freeform 13">
            <a:extLst>
              <a:ext uri="{FF2B5EF4-FFF2-40B4-BE49-F238E27FC236}">
                <a16:creationId xmlns:a16="http://schemas.microsoft.com/office/drawing/2014/main" id="{EFC3F322-3640-96DE-1432-F1A0C21278F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11" name="TextBox 14">
            <a:extLst>
              <a:ext uri="{FF2B5EF4-FFF2-40B4-BE49-F238E27FC236}">
                <a16:creationId xmlns:a16="http://schemas.microsoft.com/office/drawing/2014/main" id="{A16EBE70-6B4D-4566-B0CA-D697061208B2}"/>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Greenhouse Effect - Summary</a:t>
            </a:r>
          </a:p>
        </p:txBody>
      </p:sp>
    </p:spTree>
    <p:custDataLst>
      <p:tags r:id="rId1"/>
    </p:custDataLst>
    <p:extLst>
      <p:ext uri="{BB962C8B-B14F-4D97-AF65-F5344CB8AC3E}">
        <p14:creationId xmlns:p14="http://schemas.microsoft.com/office/powerpoint/2010/main" val="27341332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139268"/>
                                        </p:tgtEl>
                                        <p:attrNameLst>
                                          <p:attrName>style.visibility</p:attrName>
                                        </p:attrNameLst>
                                      </p:cBhvr>
                                      <p:to>
                                        <p:strVal val="visible"/>
                                      </p:to>
                                    </p:set>
                                    <p:anim calcmode="lin" valueType="num">
                                      <p:cBhvr additive="base">
                                        <p:cTn id="7" dur="500" fill="hold"/>
                                        <p:tgtEl>
                                          <p:spTgt spid="139268"/>
                                        </p:tgtEl>
                                        <p:attrNameLst>
                                          <p:attrName>ppt_x</p:attrName>
                                        </p:attrNameLst>
                                      </p:cBhvr>
                                      <p:tavLst>
                                        <p:tav tm="0">
                                          <p:val>
                                            <p:strVal val="#ppt_x"/>
                                          </p:val>
                                        </p:tav>
                                        <p:tav tm="100000">
                                          <p:val>
                                            <p:strVal val="#ppt_x"/>
                                          </p:val>
                                        </p:tav>
                                      </p:tavLst>
                                    </p:anim>
                                    <p:anim calcmode="lin" valueType="num">
                                      <p:cBhvr additive="base">
                                        <p:cTn id="8" dur="500" fill="hold"/>
                                        <p:tgtEl>
                                          <p:spTgt spid="13926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9605"/>
                                        </p:tgtEl>
                                        <p:attrNameLst>
                                          <p:attrName>style.visibility</p:attrName>
                                        </p:attrNameLst>
                                      </p:cBhvr>
                                      <p:to>
                                        <p:strVal val="visible"/>
                                      </p:to>
                                    </p:set>
                                    <p:anim calcmode="lin" valueType="num">
                                      <p:cBhvr additive="base">
                                        <p:cTn id="11" dur="500" fill="hold"/>
                                        <p:tgtEl>
                                          <p:spTgt spid="139605"/>
                                        </p:tgtEl>
                                        <p:attrNameLst>
                                          <p:attrName>ppt_x</p:attrName>
                                        </p:attrNameLst>
                                      </p:cBhvr>
                                      <p:tavLst>
                                        <p:tav tm="0">
                                          <p:val>
                                            <p:strVal val="#ppt_x"/>
                                          </p:val>
                                        </p:tav>
                                        <p:tav tm="100000">
                                          <p:val>
                                            <p:strVal val="#ppt_x"/>
                                          </p:val>
                                        </p:tav>
                                      </p:tavLst>
                                    </p:anim>
                                    <p:anim calcmode="lin" valueType="num">
                                      <p:cBhvr additive="base">
                                        <p:cTn id="12" dur="500" fill="hold"/>
                                        <p:tgtEl>
                                          <p:spTgt spid="139605"/>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200"/>
                                  </p:stCondLst>
                                  <p:childTnLst>
                                    <p:set>
                                      <p:cBhvr>
                                        <p:cTn id="15" dur="1" fill="hold">
                                          <p:stCondLst>
                                            <p:cond delay="0"/>
                                          </p:stCondLst>
                                        </p:cTn>
                                        <p:tgtEl>
                                          <p:spTgt spid="139266"/>
                                        </p:tgtEl>
                                        <p:attrNameLst>
                                          <p:attrName>style.visibility</p:attrName>
                                        </p:attrNameLst>
                                      </p:cBhvr>
                                      <p:to>
                                        <p:strVal val="visible"/>
                                      </p:to>
                                    </p:set>
                                    <p:anim calcmode="lin" valueType="num">
                                      <p:cBhvr additive="base">
                                        <p:cTn id="16" dur="500" fill="hold"/>
                                        <p:tgtEl>
                                          <p:spTgt spid="139266"/>
                                        </p:tgtEl>
                                        <p:attrNameLst>
                                          <p:attrName>ppt_x</p:attrName>
                                        </p:attrNameLst>
                                      </p:cBhvr>
                                      <p:tavLst>
                                        <p:tav tm="0">
                                          <p:val>
                                            <p:strVal val="#ppt_x"/>
                                          </p:val>
                                        </p:tav>
                                        <p:tav tm="100000">
                                          <p:val>
                                            <p:strVal val="#ppt_x"/>
                                          </p:val>
                                        </p:tav>
                                      </p:tavLst>
                                    </p:anim>
                                    <p:anim calcmode="lin" valueType="num">
                                      <p:cBhvr additive="base">
                                        <p:cTn id="17" dur="500" fill="hold"/>
                                        <p:tgtEl>
                                          <p:spTgt spid="139266"/>
                                        </p:tgtEl>
                                        <p:attrNameLst>
                                          <p:attrName>ppt_y</p:attrName>
                                        </p:attrNameLst>
                                      </p:cBhvr>
                                      <p:tavLst>
                                        <p:tav tm="0">
                                          <p:val>
                                            <p:strVal val="0-#ppt_h/2"/>
                                          </p:val>
                                        </p:tav>
                                        <p:tav tm="100000">
                                          <p:val>
                                            <p:strVal val="#ppt_y"/>
                                          </p:val>
                                        </p:tav>
                                      </p:tavLst>
                                    </p:anim>
                                  </p:childTnLst>
                                </p:cTn>
                              </p:par>
                              <p:par>
                                <p:cTn id="18" presetID="2" presetClass="entr" presetSubtype="1" fill="hold" grpId="0" nodeType="withEffect">
                                  <p:stCondLst>
                                    <p:cond delay="0"/>
                                  </p:stCondLst>
                                  <p:childTnLst>
                                    <p:set>
                                      <p:cBhvr>
                                        <p:cTn id="19" dur="1" fill="hold">
                                          <p:stCondLst>
                                            <p:cond delay="0"/>
                                          </p:stCondLst>
                                        </p:cTn>
                                        <p:tgtEl>
                                          <p:spTgt spid="139571"/>
                                        </p:tgtEl>
                                        <p:attrNameLst>
                                          <p:attrName>style.visibility</p:attrName>
                                        </p:attrNameLst>
                                      </p:cBhvr>
                                      <p:to>
                                        <p:strVal val="visible"/>
                                      </p:to>
                                    </p:set>
                                    <p:anim calcmode="lin" valueType="num">
                                      <p:cBhvr additive="base">
                                        <p:cTn id="20" dur="500" fill="hold"/>
                                        <p:tgtEl>
                                          <p:spTgt spid="139571"/>
                                        </p:tgtEl>
                                        <p:attrNameLst>
                                          <p:attrName>ppt_x</p:attrName>
                                        </p:attrNameLst>
                                      </p:cBhvr>
                                      <p:tavLst>
                                        <p:tav tm="0">
                                          <p:val>
                                            <p:strVal val="#ppt_x"/>
                                          </p:val>
                                        </p:tav>
                                        <p:tav tm="100000">
                                          <p:val>
                                            <p:strVal val="#ppt_x"/>
                                          </p:val>
                                        </p:tav>
                                      </p:tavLst>
                                    </p:anim>
                                    <p:anim calcmode="lin" valueType="num">
                                      <p:cBhvr additive="base">
                                        <p:cTn id="21" dur="500" fill="hold"/>
                                        <p:tgtEl>
                                          <p:spTgt spid="139571"/>
                                        </p:tgtEl>
                                        <p:attrNameLst>
                                          <p:attrName>ppt_y</p:attrName>
                                        </p:attrNameLst>
                                      </p:cBhvr>
                                      <p:tavLst>
                                        <p:tav tm="0">
                                          <p:val>
                                            <p:strVal val="0-#ppt_h/2"/>
                                          </p:val>
                                        </p:tav>
                                        <p:tav tm="100000">
                                          <p:val>
                                            <p:strVal val="#ppt_y"/>
                                          </p:val>
                                        </p:tav>
                                      </p:tavLst>
                                    </p:anim>
                                  </p:childTnLst>
                                </p:cTn>
                              </p:par>
                            </p:childTnLst>
                          </p:cTn>
                        </p:par>
                        <p:par>
                          <p:cTn id="22" fill="hold" nodeType="afterGroup">
                            <p:stCondLst>
                              <p:cond delay="1200"/>
                            </p:stCondLst>
                            <p:childTnLst>
                              <p:par>
                                <p:cTn id="23" presetID="3" presetClass="entr" presetSubtype="10" fill="hold" grpId="0" nodeType="afterEffect">
                                  <p:stCondLst>
                                    <p:cond delay="200"/>
                                  </p:stCondLst>
                                  <p:childTnLst>
                                    <p:set>
                                      <p:cBhvr>
                                        <p:cTn id="24" dur="1" fill="hold">
                                          <p:stCondLst>
                                            <p:cond delay="0"/>
                                          </p:stCondLst>
                                        </p:cTn>
                                        <p:tgtEl>
                                          <p:spTgt spid="139267"/>
                                        </p:tgtEl>
                                        <p:attrNameLst>
                                          <p:attrName>style.visibility</p:attrName>
                                        </p:attrNameLst>
                                      </p:cBhvr>
                                      <p:to>
                                        <p:strVal val="visible"/>
                                      </p:to>
                                    </p:set>
                                    <p:animEffect transition="in" filter="blinds(horizontal)">
                                      <p:cBhvr>
                                        <p:cTn id="25" dur="500"/>
                                        <p:tgtEl>
                                          <p:spTgt spid="139267"/>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9564"/>
                                        </p:tgtEl>
                                        <p:attrNameLst>
                                          <p:attrName>style.visibility</p:attrName>
                                        </p:attrNameLst>
                                      </p:cBhvr>
                                      <p:to>
                                        <p:strVal val="visible"/>
                                      </p:to>
                                    </p:set>
                                    <p:animEffect transition="in" filter="blinds(horizontal)">
                                      <p:cBhvr>
                                        <p:cTn id="28" dur="500"/>
                                        <p:tgtEl>
                                          <p:spTgt spid="139564"/>
                                        </p:tgtEl>
                                      </p:cBhvr>
                                    </p:animEffect>
                                  </p:childTnLst>
                                </p:cTn>
                              </p:par>
                              <p:par>
                                <p:cTn id="29" presetID="1" presetClass="entr" presetSubtype="0" fill="hold" nodeType="withEffect">
                                  <p:stCondLst>
                                    <p:cond delay="0"/>
                                  </p:stCondLst>
                                  <p:childTnLst>
                                    <p:set>
                                      <p:cBhvr>
                                        <p:cTn id="30" dur="1" fill="hold">
                                          <p:stCondLst>
                                            <p:cond delay="0"/>
                                          </p:stCondLst>
                                        </p:cTn>
                                        <p:tgtEl>
                                          <p:spTgt spid="139604"/>
                                        </p:tgtEl>
                                        <p:attrNameLst>
                                          <p:attrName>style.visibility</p:attrName>
                                        </p:attrNameLst>
                                      </p:cBhvr>
                                      <p:to>
                                        <p:strVal val="visible"/>
                                      </p:to>
                                    </p:set>
                                  </p:childTnLst>
                                </p:cTn>
                              </p:par>
                            </p:childTnLst>
                          </p:cTn>
                        </p:par>
                        <p:par>
                          <p:cTn id="31" fill="hold" nodeType="afterGroup">
                            <p:stCondLst>
                              <p:cond delay="1900"/>
                            </p:stCondLst>
                            <p:childTnLst>
                              <p:par>
                                <p:cTn id="32" presetID="6" presetClass="entr" presetSubtype="16" fill="hold" nodeType="afterEffect">
                                  <p:stCondLst>
                                    <p:cond delay="200"/>
                                  </p:stCondLst>
                                  <p:childTnLst>
                                    <p:set>
                                      <p:cBhvr>
                                        <p:cTn id="33" dur="1" fill="hold">
                                          <p:stCondLst>
                                            <p:cond delay="0"/>
                                          </p:stCondLst>
                                        </p:cTn>
                                        <p:tgtEl>
                                          <p:spTgt spid="7"/>
                                        </p:tgtEl>
                                        <p:attrNameLst>
                                          <p:attrName>style.visibility</p:attrName>
                                        </p:attrNameLst>
                                      </p:cBhvr>
                                      <p:to>
                                        <p:strVal val="visible"/>
                                      </p:to>
                                    </p:set>
                                    <p:animEffect transition="in" filter="circle(in)">
                                      <p:cBhvr>
                                        <p:cTn id="34" dur="500"/>
                                        <p:tgtEl>
                                          <p:spTgt spid="7"/>
                                        </p:tgtEl>
                                      </p:cBhvr>
                                    </p:animEffect>
                                  </p:childTnLst>
                                </p:cTn>
                              </p:par>
                              <p:par>
                                <p:cTn id="35" presetID="1" presetClass="entr" presetSubtype="0" fill="hold" grpId="0" nodeType="withEffect">
                                  <p:stCondLst>
                                    <p:cond delay="200"/>
                                  </p:stCondLst>
                                  <p:childTnLst>
                                    <p:set>
                                      <p:cBhvr>
                                        <p:cTn id="36" dur="1" fill="hold">
                                          <p:stCondLst>
                                            <p:cond delay="0"/>
                                          </p:stCondLst>
                                        </p:cTn>
                                        <p:tgtEl>
                                          <p:spTgt spid="139570"/>
                                        </p:tgtEl>
                                        <p:attrNameLst>
                                          <p:attrName>style.visibility</p:attrName>
                                        </p:attrNameLst>
                                      </p:cBhvr>
                                      <p:to>
                                        <p:strVal val="visible"/>
                                      </p:to>
                                    </p:set>
                                  </p:childTnLst>
                                  <p:subTnLst>
                                    <p:animClr clrSpc="rgb" dir="cw">
                                      <p:cBhvr override="childStyle">
                                        <p:cTn dur="1" fill="hold" display="0" masterRel="nextClick" afterEffect="1"/>
                                        <p:tgtEl>
                                          <p:spTgt spid="139570"/>
                                        </p:tgtEl>
                                        <p:attrNameLst>
                                          <p:attrName>ppt_c</p:attrName>
                                        </p:attrNameLst>
                                      </p:cBhvr>
                                      <p:to>
                                        <a:srgbClr val="FFCC66"/>
                                      </p:to>
                                    </p:animClr>
                                  </p:sub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9607"/>
                                        </p:tgtEl>
                                        <p:attrNameLst>
                                          <p:attrName>style.visibility</p:attrName>
                                        </p:attrNameLst>
                                      </p:cBhvr>
                                      <p:to>
                                        <p:strVal val="visible"/>
                                      </p:to>
                                    </p:set>
                                    <p:animEffect transition="in" filter="fade">
                                      <p:cBhvr>
                                        <p:cTn id="41" dur="500"/>
                                        <p:tgtEl>
                                          <p:spTgt spid="139607"/>
                                        </p:tgtEl>
                                      </p:cBhvr>
                                    </p:animEffect>
                                  </p:childTnLst>
                                </p:cTn>
                              </p:par>
                            </p:childTnLst>
                          </p:cTn>
                        </p:par>
                        <p:par>
                          <p:cTn id="42" fill="hold" nodeType="afterGroup">
                            <p:stCondLst>
                              <p:cond delay="500"/>
                            </p:stCondLst>
                            <p:childTnLst>
                              <p:par>
                                <p:cTn id="43" presetID="22" presetClass="entr" presetSubtype="1" fill="hold" nodeType="afterEffect">
                                  <p:stCondLst>
                                    <p:cond delay="500"/>
                                  </p:stCondLst>
                                  <p:childTnLst>
                                    <p:set>
                                      <p:cBhvr>
                                        <p:cTn id="44" dur="1" fill="hold">
                                          <p:stCondLst>
                                            <p:cond delay="0"/>
                                          </p:stCondLst>
                                        </p:cTn>
                                        <p:tgtEl>
                                          <p:spTgt spid="4"/>
                                        </p:tgtEl>
                                        <p:attrNameLst>
                                          <p:attrName>style.visibility</p:attrName>
                                        </p:attrNameLst>
                                      </p:cBhvr>
                                      <p:to>
                                        <p:strVal val="visible"/>
                                      </p:to>
                                    </p:set>
                                    <p:animEffect transition="in" filter="wipe(up)">
                                      <p:cBhvr>
                                        <p:cTn id="45" dur="2000"/>
                                        <p:tgtEl>
                                          <p:spTgt spid="4"/>
                                        </p:tgtEl>
                                      </p:cBhvr>
                                    </p:animEffect>
                                  </p:childTnLst>
                                </p:cTn>
                              </p:par>
                            </p:childTnLst>
                          </p:cTn>
                        </p:par>
                        <p:par>
                          <p:cTn id="46" fill="hold" nodeType="afterGroup">
                            <p:stCondLst>
                              <p:cond delay="3000"/>
                            </p:stCondLst>
                            <p:childTnLst>
                              <p:par>
                                <p:cTn id="47" presetID="1" presetClass="entr" presetSubtype="0" fill="hold" nodeType="afterEffect">
                                  <p:stCondLst>
                                    <p:cond delay="500"/>
                                  </p:stCondLst>
                                  <p:childTnLst>
                                    <p:set>
                                      <p:cBhvr>
                                        <p:cTn id="48" dur="1" fill="hold">
                                          <p:stCondLst>
                                            <p:cond delay="0"/>
                                          </p:stCondLst>
                                        </p:cTn>
                                        <p:tgtEl>
                                          <p:spTgt spid="139565"/>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mph" presetSubtype="0" grpId="1" nodeType="clickEffect">
                                  <p:stCondLst>
                                    <p:cond delay="0"/>
                                  </p:stCondLst>
                                  <p:childTnLst>
                                    <p:set>
                                      <p:cBhvr rctx="PPT">
                                        <p:cTn id="52" dur="indefinite"/>
                                        <p:tgtEl>
                                          <p:spTgt spid="139607"/>
                                        </p:tgtEl>
                                        <p:attrNameLst>
                                          <p:attrName>style.opacity</p:attrName>
                                        </p:attrNameLst>
                                      </p:cBhvr>
                                      <p:to>
                                        <p:strVal val="0.5"/>
                                      </p:to>
                                    </p:set>
                                    <p:animEffect filter="image" prLst="opacity: 0.5">
                                      <p:cBhvr rctx="IE">
                                        <p:cTn id="53" dur="indefinite"/>
                                        <p:tgtEl>
                                          <p:spTgt spid="139607"/>
                                        </p:tgtEl>
                                      </p:cBhvr>
                                    </p:animEffect>
                                  </p:childTnLst>
                                </p:cTn>
                              </p:par>
                              <p:par>
                                <p:cTn id="54" presetID="9" presetClass="emph" presetSubtype="0" grpId="0" nodeType="withEffect">
                                  <p:stCondLst>
                                    <p:cond delay="0"/>
                                  </p:stCondLst>
                                  <p:childTnLst>
                                    <p:set>
                                      <p:cBhvr rctx="PPT">
                                        <p:cTn id="55" dur="indefinite"/>
                                        <p:tgtEl>
                                          <p:spTgt spid="139565"/>
                                        </p:tgtEl>
                                        <p:attrNameLst>
                                          <p:attrName>style.opacity</p:attrName>
                                        </p:attrNameLst>
                                      </p:cBhvr>
                                      <p:to>
                                        <p:strVal val="0.5"/>
                                      </p:to>
                                    </p:set>
                                    <p:animEffect filter="image" prLst="opacity: 0.5">
                                      <p:cBhvr rctx="IE">
                                        <p:cTn id="56" dur="indefinite"/>
                                        <p:tgtEl>
                                          <p:spTgt spid="139565"/>
                                        </p:tgtEl>
                                      </p:cBhvr>
                                    </p:animEffect>
                                  </p:childTnLst>
                                </p:cTn>
                              </p:par>
                              <p:par>
                                <p:cTn id="57" presetID="1" presetClass="entr" presetSubtype="0" fill="hold" grpId="0" nodeType="withEffect">
                                  <p:stCondLst>
                                    <p:cond delay="0"/>
                                  </p:stCondLst>
                                  <p:childTnLst>
                                    <p:set>
                                      <p:cBhvr>
                                        <p:cTn id="58" dur="1" fill="hold">
                                          <p:stCondLst>
                                            <p:cond delay="0"/>
                                          </p:stCondLst>
                                        </p:cTn>
                                        <p:tgtEl>
                                          <p:spTgt spid="139563"/>
                                        </p:tgtEl>
                                        <p:attrNameLst>
                                          <p:attrName>style.visibility</p:attrName>
                                        </p:attrNameLst>
                                      </p:cBhvr>
                                      <p:to>
                                        <p:strVal val="visible"/>
                                      </p:to>
                                    </p:set>
                                  </p:childTnLst>
                                </p:cTn>
                              </p:par>
                            </p:childTnLst>
                          </p:cTn>
                        </p:par>
                        <p:par>
                          <p:cTn id="59" fill="hold" nodeType="afterGroup">
                            <p:stCondLst>
                              <p:cond delay="0"/>
                            </p:stCondLst>
                            <p:childTnLst>
                              <p:par>
                                <p:cTn id="60" presetID="22" presetClass="entr" presetSubtype="1" fill="hold" nodeType="afterEffect">
                                  <p:stCondLst>
                                    <p:cond delay="300"/>
                                  </p:stCondLst>
                                  <p:childTnLst>
                                    <p:set>
                                      <p:cBhvr>
                                        <p:cTn id="61" dur="1" fill="hold">
                                          <p:stCondLst>
                                            <p:cond delay="0"/>
                                          </p:stCondLst>
                                        </p:cTn>
                                        <p:tgtEl>
                                          <p:spTgt spid="3"/>
                                        </p:tgtEl>
                                        <p:attrNameLst>
                                          <p:attrName>style.visibility</p:attrName>
                                        </p:attrNameLst>
                                      </p:cBhvr>
                                      <p:to>
                                        <p:strVal val="visible"/>
                                      </p:to>
                                    </p:set>
                                    <p:animEffect transition="in" filter="wipe(up)">
                                      <p:cBhvr>
                                        <p:cTn id="62" dur="2000"/>
                                        <p:tgtEl>
                                          <p:spTgt spid="3"/>
                                        </p:tgtEl>
                                      </p:cBhvr>
                                    </p:animEffect>
                                  </p:childTnLst>
                                </p:cTn>
                              </p:par>
                              <p:par>
                                <p:cTn id="63" presetID="22" presetClass="entr" presetSubtype="4" fill="hold" nodeType="withEffect">
                                  <p:stCondLst>
                                    <p:cond delay="0"/>
                                  </p:stCondLst>
                                  <p:childTnLst>
                                    <p:set>
                                      <p:cBhvr>
                                        <p:cTn id="64" dur="1" fill="hold">
                                          <p:stCondLst>
                                            <p:cond delay="0"/>
                                          </p:stCondLst>
                                        </p:cTn>
                                        <p:tgtEl>
                                          <p:spTgt spid="2"/>
                                        </p:tgtEl>
                                        <p:attrNameLst>
                                          <p:attrName>style.visibility</p:attrName>
                                        </p:attrNameLst>
                                      </p:cBhvr>
                                      <p:to>
                                        <p:strVal val="visible"/>
                                      </p:to>
                                    </p:set>
                                    <p:animEffect transition="in" filter="wipe(down)">
                                      <p:cBhvr>
                                        <p:cTn id="65" dur="2000"/>
                                        <p:tgtEl>
                                          <p:spTgt spid="2"/>
                                        </p:tgtEl>
                                      </p:cBhvr>
                                    </p:animEffect>
                                  </p:childTnLst>
                                </p:cTn>
                              </p:par>
                              <p:par>
                                <p:cTn id="66" presetID="1" presetClass="entr" presetSubtype="0" fill="hold" nodeType="withEffect">
                                  <p:stCondLst>
                                    <p:cond delay="0"/>
                                  </p:stCondLst>
                                  <p:childTnLst>
                                    <p:set>
                                      <p:cBhvr>
                                        <p:cTn id="67" dur="1" fill="hold">
                                          <p:stCondLst>
                                            <p:cond delay="0"/>
                                          </p:stCondLst>
                                        </p:cTn>
                                        <p:tgtEl>
                                          <p:spTgt spid="139571"/>
                                        </p:tgtEl>
                                        <p:attrNameLst>
                                          <p:attrName>style.visibility</p:attrName>
                                        </p:attrNameLst>
                                      </p:cBhvr>
                                      <p:to>
                                        <p:strVal val="visible"/>
                                      </p:to>
                                    </p:set>
                                  </p:childTnLst>
                                </p:cTn>
                              </p:par>
                            </p:childTnLst>
                          </p:cTn>
                        </p:par>
                        <p:par>
                          <p:cTn id="68" fill="hold" nodeType="afterGroup">
                            <p:stCondLst>
                              <p:cond delay="2300"/>
                            </p:stCondLst>
                            <p:childTnLst>
                              <p:par>
                                <p:cTn id="69" presetID="22" presetClass="entr" presetSubtype="8" fill="hold" nodeType="afterEffect">
                                  <p:stCondLst>
                                    <p:cond delay="300"/>
                                  </p:stCondLst>
                                  <p:childTnLst>
                                    <p:set>
                                      <p:cBhvr>
                                        <p:cTn id="70" dur="1" fill="hold">
                                          <p:stCondLst>
                                            <p:cond delay="0"/>
                                          </p:stCondLst>
                                        </p:cTn>
                                        <p:tgtEl>
                                          <p:spTgt spid="5"/>
                                        </p:tgtEl>
                                        <p:attrNameLst>
                                          <p:attrName>style.visibility</p:attrName>
                                        </p:attrNameLst>
                                      </p:cBhvr>
                                      <p:to>
                                        <p:strVal val="visible"/>
                                      </p:to>
                                    </p:set>
                                    <p:animEffect transition="in" filter="wipe(left)">
                                      <p:cBhvr>
                                        <p:cTn id="71" dur="2000"/>
                                        <p:tgtEl>
                                          <p:spTgt spid="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39602"/>
                                        </p:tgtEl>
                                        <p:attrNameLst>
                                          <p:attrName>style.visibility</p:attrName>
                                        </p:attrNameLst>
                                      </p:cBhvr>
                                      <p:to>
                                        <p:strVal val="visible"/>
                                      </p:to>
                                    </p:set>
                                  </p:childTnLst>
                                </p:cTn>
                              </p:par>
                              <p:par>
                                <p:cTn id="76" presetID="9" presetClass="emph" presetSubtype="0" grpId="1" nodeType="withEffect">
                                  <p:stCondLst>
                                    <p:cond delay="0"/>
                                  </p:stCondLst>
                                  <p:childTnLst>
                                    <p:set>
                                      <p:cBhvr rctx="PPT">
                                        <p:cTn id="77" dur="indefinite"/>
                                        <p:tgtEl>
                                          <p:spTgt spid="139563"/>
                                        </p:tgtEl>
                                        <p:attrNameLst>
                                          <p:attrName>style.opacity</p:attrName>
                                        </p:attrNameLst>
                                      </p:cBhvr>
                                      <p:to>
                                        <p:strVal val="0.5"/>
                                      </p:to>
                                    </p:set>
                                    <p:animEffect filter="image" prLst="opacity: 0.5">
                                      <p:cBhvr rctx="IE">
                                        <p:cTn id="78" dur="indefinite"/>
                                        <p:tgtEl>
                                          <p:spTgt spid="139563"/>
                                        </p:tgtEl>
                                      </p:cBhvr>
                                    </p:animEffect>
                                  </p:childTnLst>
                                </p:cTn>
                              </p:par>
                            </p:childTnLst>
                          </p:cTn>
                        </p:par>
                        <p:par>
                          <p:cTn id="79" fill="hold" nodeType="afterGroup">
                            <p:stCondLst>
                              <p:cond delay="0"/>
                            </p:stCondLst>
                            <p:childTnLst>
                              <p:par>
                                <p:cTn id="80" presetID="22" presetClass="entr" presetSubtype="1" fill="hold" nodeType="afterEffect">
                                  <p:stCondLst>
                                    <p:cond delay="200"/>
                                  </p:stCondLst>
                                  <p:childTnLst>
                                    <p:set>
                                      <p:cBhvr>
                                        <p:cTn id="81" dur="1" fill="hold">
                                          <p:stCondLst>
                                            <p:cond delay="0"/>
                                          </p:stCondLst>
                                        </p:cTn>
                                        <p:tgtEl>
                                          <p:spTgt spid="8"/>
                                        </p:tgtEl>
                                        <p:attrNameLst>
                                          <p:attrName>style.visibility</p:attrName>
                                        </p:attrNameLst>
                                      </p:cBhvr>
                                      <p:to>
                                        <p:strVal val="visible"/>
                                      </p:to>
                                    </p:set>
                                    <p:animEffect transition="in" filter="wipe(up)">
                                      <p:cBhvr>
                                        <p:cTn id="82" dur="500"/>
                                        <p:tgtEl>
                                          <p:spTgt spid="8"/>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mph" presetSubtype="0" grpId="1" nodeType="clickEffect">
                                  <p:stCondLst>
                                    <p:cond delay="0"/>
                                  </p:stCondLst>
                                  <p:childTnLst>
                                    <p:set>
                                      <p:cBhvr rctx="PPT">
                                        <p:cTn id="86" dur="indefinite"/>
                                        <p:tgtEl>
                                          <p:spTgt spid="139602"/>
                                        </p:tgtEl>
                                        <p:attrNameLst>
                                          <p:attrName>style.opacity</p:attrName>
                                        </p:attrNameLst>
                                      </p:cBhvr>
                                      <p:to>
                                        <p:strVal val="0.5"/>
                                      </p:to>
                                    </p:set>
                                    <p:animEffect filter="image" prLst="opacity: 0.5">
                                      <p:cBhvr rctx="IE">
                                        <p:cTn id="87" dur="indefinite"/>
                                        <p:tgtEl>
                                          <p:spTgt spid="139602"/>
                                        </p:tgtEl>
                                      </p:cBhvr>
                                    </p:animEffect>
                                  </p:childTnLst>
                                </p:cTn>
                              </p:par>
                              <p:par>
                                <p:cTn id="88" presetID="1" presetClass="entr" presetSubtype="0" fill="hold" grpId="0" nodeType="withEffect">
                                  <p:stCondLst>
                                    <p:cond delay="0"/>
                                  </p:stCondLst>
                                  <p:childTnLst>
                                    <p:set>
                                      <p:cBhvr>
                                        <p:cTn id="89" dur="1" fill="hold">
                                          <p:stCondLst>
                                            <p:cond delay="0"/>
                                          </p:stCondLst>
                                        </p:cTn>
                                        <p:tgtEl>
                                          <p:spTgt spid="139567"/>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6"/>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139566"/>
                                        </p:tgtEl>
                                        <p:attrNameLst>
                                          <p:attrName>style.visibility</p:attrName>
                                        </p:attrNameLst>
                                      </p:cBhvr>
                                      <p:to>
                                        <p:strVal val="visible"/>
                                      </p:to>
                                    </p:set>
                                  </p:childTnLst>
                                </p:cTn>
                              </p:par>
                            </p:childTnLst>
                          </p:cTn>
                        </p:par>
                      </p:childTnLst>
                    </p:cTn>
                  </p:par>
                  <p:par>
                    <p:cTn id="96" fill="hold" nodeType="clickPar">
                      <p:stCondLst>
                        <p:cond delay="indefinite"/>
                      </p:stCondLst>
                      <p:childTnLst>
                        <p:par>
                          <p:cTn id="97" fill="hold" nodeType="withGroup">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139603"/>
                                        </p:tgtEl>
                                        <p:attrNameLst>
                                          <p:attrName>style.visibility</p:attrName>
                                        </p:attrNameLst>
                                      </p:cBhvr>
                                      <p:to>
                                        <p:strVal val="visible"/>
                                      </p:to>
                                    </p:set>
                                  </p:childTnLst>
                                </p:cTn>
                              </p:par>
                            </p:childTnLst>
                          </p:cTn>
                        </p:par>
                        <p:par>
                          <p:cTn id="100" fill="hold" nodeType="afterGroup">
                            <p:stCondLst>
                              <p:cond delay="0"/>
                            </p:stCondLst>
                            <p:childTnLst>
                              <p:par>
                                <p:cTn id="101" presetID="10" presetClass="exit" presetSubtype="0" fill="hold" grpId="1" nodeType="afterEffect">
                                  <p:stCondLst>
                                    <p:cond delay="0"/>
                                  </p:stCondLst>
                                  <p:childTnLst>
                                    <p:animEffect transition="out" filter="fade">
                                      <p:cBhvr>
                                        <p:cTn id="102" dur="2000"/>
                                        <p:tgtEl>
                                          <p:spTgt spid="139267"/>
                                        </p:tgtEl>
                                      </p:cBhvr>
                                    </p:animEffect>
                                    <p:set>
                                      <p:cBhvr>
                                        <p:cTn id="103" dur="1" fill="hold">
                                          <p:stCondLst>
                                            <p:cond delay="1999"/>
                                          </p:stCondLst>
                                        </p:cTn>
                                        <p:tgtEl>
                                          <p:spTgt spid="139267"/>
                                        </p:tgtEl>
                                        <p:attrNameLst>
                                          <p:attrName>style.visibility</p:attrName>
                                        </p:attrNameLst>
                                      </p:cBhvr>
                                      <p:to>
                                        <p:strVal val="hidden"/>
                                      </p:to>
                                    </p:set>
                                  </p:childTnLst>
                                </p:cTn>
                              </p:par>
                            </p:childTnLst>
                          </p:cTn>
                        </p:par>
                        <p:par>
                          <p:cTn id="104" fill="hold" nodeType="afterGroup">
                            <p:stCondLst>
                              <p:cond delay="2000"/>
                            </p:stCondLst>
                            <p:childTnLst>
                              <p:par>
                                <p:cTn id="105" presetID="10" presetClass="entr" presetSubtype="0" fill="hold" nodeType="afterEffect">
                                  <p:stCondLst>
                                    <p:cond delay="0"/>
                                  </p:stCondLst>
                                  <p:childTnLst>
                                    <p:set>
                                      <p:cBhvr>
                                        <p:cTn id="106" dur="1" fill="hold">
                                          <p:stCondLst>
                                            <p:cond delay="0"/>
                                          </p:stCondLst>
                                        </p:cTn>
                                        <p:tgtEl>
                                          <p:spTgt spid="139269"/>
                                        </p:tgtEl>
                                        <p:attrNameLst>
                                          <p:attrName>style.visibility</p:attrName>
                                        </p:attrNameLst>
                                      </p:cBhvr>
                                      <p:to>
                                        <p:strVal val="visible"/>
                                      </p:to>
                                    </p:set>
                                    <p:animEffect transition="in" filter="fade">
                                      <p:cBhvr>
                                        <p:cTn id="107" dur="2000"/>
                                        <p:tgtEl>
                                          <p:spTgt spid="139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animBg="1"/>
      <p:bldP spid="139267" grpId="0" animBg="1"/>
      <p:bldP spid="139267" grpId="1" animBg="1"/>
      <p:bldP spid="139563" grpId="0"/>
      <p:bldP spid="139563" grpId="1"/>
      <p:bldP spid="139564" grpId="0"/>
      <p:bldP spid="139565" grpId="0"/>
      <p:bldP spid="139566" grpId="0"/>
      <p:bldP spid="139567" grpId="0"/>
      <p:bldP spid="139570" grpId="0"/>
      <p:bldP spid="139571" grpId="0"/>
      <p:bldP spid="139602" grpId="0"/>
      <p:bldP spid="139602" grpId="1"/>
      <p:bldP spid="139603" grpId="0"/>
      <p:bldP spid="139605" grpId="0"/>
      <p:bldP spid="139607" grpId="0"/>
      <p:bldP spid="139607"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67" name="Text Box 19">
            <a:extLst>
              <a:ext uri="{FF2B5EF4-FFF2-40B4-BE49-F238E27FC236}">
                <a16:creationId xmlns:a16="http://schemas.microsoft.com/office/drawing/2014/main" id="{0A0DD20D-495C-4C79-B645-623F384A0082}"/>
              </a:ext>
            </a:extLst>
          </p:cNvPr>
          <p:cNvSpPr txBox="1">
            <a:spLocks noChangeArrowheads="1"/>
          </p:cNvSpPr>
          <p:nvPr/>
        </p:nvSpPr>
        <p:spPr bwMode="auto">
          <a:xfrm>
            <a:off x="389465" y="1649594"/>
            <a:ext cx="7040035"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eaLnBrk="1" hangingPunct="1">
              <a:spcBef>
                <a:spcPct val="0"/>
              </a:spcBef>
            </a:pPr>
            <a:r>
              <a:rPr lang="en-GB" altLang="en-US" sz="2400" dirty="0">
                <a:latin typeface="Verdana" panose="020B0604030504040204" pitchFamily="34" charset="0"/>
              </a:rPr>
              <a:t>Definition of radiative forcing: </a:t>
            </a:r>
          </a:p>
          <a:p>
            <a:pPr eaLnBrk="1" hangingPunct="1">
              <a:spcBef>
                <a:spcPct val="0"/>
              </a:spcBef>
            </a:pPr>
            <a:endParaRPr lang="en-GB" altLang="en-US" sz="2400" dirty="0">
              <a:latin typeface="Verdana" panose="020B0604030504040204" pitchFamily="34" charset="0"/>
            </a:endParaRPr>
          </a:p>
          <a:p>
            <a:pPr eaLnBrk="1" hangingPunct="1">
              <a:spcBef>
                <a:spcPct val="0"/>
              </a:spcBef>
            </a:pPr>
            <a:r>
              <a:rPr lang="en-US" altLang="en-US" sz="2400" i="1" dirty="0">
                <a:latin typeface="Verdana" panose="020B0604030504040204" pitchFamily="34" charset="0"/>
              </a:rPr>
              <a:t>The change in radiation balance at the tropopause between the incoming solar radiation and the outgoing earth’s radiation (net irradiance). </a:t>
            </a:r>
          </a:p>
          <a:p>
            <a:pPr eaLnBrk="1" hangingPunct="1">
              <a:spcBef>
                <a:spcPct val="0"/>
              </a:spcBef>
            </a:pPr>
            <a:endParaRPr lang="en-US" altLang="en-US" sz="2400" i="1" dirty="0">
              <a:latin typeface="Verdana" panose="020B0604030504040204" pitchFamily="34" charset="0"/>
            </a:endParaRPr>
          </a:p>
          <a:p>
            <a:pPr eaLnBrk="1" hangingPunct="1">
              <a:spcBef>
                <a:spcPct val="0"/>
              </a:spcBef>
            </a:pPr>
            <a:r>
              <a:rPr lang="en-US" altLang="en-US" sz="2400" dirty="0">
                <a:latin typeface="Verdana" panose="020B0604030504040204" pitchFamily="34" charset="0"/>
              </a:rPr>
              <a:t>Significance: </a:t>
            </a:r>
          </a:p>
          <a:p>
            <a:pPr eaLnBrk="1" hangingPunct="1">
              <a:spcBef>
                <a:spcPct val="0"/>
              </a:spcBef>
            </a:pPr>
            <a:endParaRPr lang="en-US" altLang="en-US" sz="2400" dirty="0">
              <a:latin typeface="Verdana" panose="020B0604030504040204" pitchFamily="34" charset="0"/>
            </a:endParaRPr>
          </a:p>
          <a:p>
            <a:pPr eaLnBrk="1" hangingPunct="1">
              <a:spcBef>
                <a:spcPct val="0"/>
              </a:spcBef>
            </a:pPr>
            <a:r>
              <a:rPr lang="en-US" altLang="en-US" sz="2400" i="1" dirty="0">
                <a:latin typeface="Verdana" panose="020B0604030504040204" pitchFamily="34" charset="0"/>
              </a:rPr>
              <a:t>Increase in greenhouse gases has reduced the amount of longwave radiation leaving the troposphere –positive radiative forcing.</a:t>
            </a:r>
          </a:p>
          <a:p>
            <a:pPr eaLnBrk="1" hangingPunct="1">
              <a:spcBef>
                <a:spcPct val="0"/>
              </a:spcBef>
            </a:pPr>
            <a:endParaRPr lang="en-GB" altLang="en-US" sz="2400" dirty="0">
              <a:latin typeface="Verdana" panose="020B0604030504040204" pitchFamily="34" charset="0"/>
            </a:endParaRPr>
          </a:p>
        </p:txBody>
      </p:sp>
      <p:sp>
        <p:nvSpPr>
          <p:cNvPr id="2" name="Freeform 13">
            <a:extLst>
              <a:ext uri="{FF2B5EF4-FFF2-40B4-BE49-F238E27FC236}">
                <a16:creationId xmlns:a16="http://schemas.microsoft.com/office/drawing/2014/main" id="{46897283-F24F-B129-DF54-A9A7D03B6C3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14">
            <a:extLst>
              <a:ext uri="{FF2B5EF4-FFF2-40B4-BE49-F238E27FC236}">
                <a16:creationId xmlns:a16="http://schemas.microsoft.com/office/drawing/2014/main" id="{88B86894-FBFD-B4A2-7592-0F6297682F74}"/>
              </a:ext>
            </a:extLst>
          </p:cNvPr>
          <p:cNvSpPr txBox="1"/>
          <p:nvPr/>
        </p:nvSpPr>
        <p:spPr>
          <a:xfrm>
            <a:off x="389465" y="684091"/>
            <a:ext cx="7336552" cy="574324"/>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Radiative Forcing </a:t>
            </a:r>
          </a:p>
        </p:txBody>
      </p:sp>
      <p:pic>
        <p:nvPicPr>
          <p:cNvPr id="4" name="Picture 10">
            <a:extLst>
              <a:ext uri="{FF2B5EF4-FFF2-40B4-BE49-F238E27FC236}">
                <a16:creationId xmlns:a16="http://schemas.microsoft.com/office/drawing/2014/main" id="{C2388876-E184-BDE5-3E80-06A9EBE93E2A}"/>
              </a:ext>
            </a:extLst>
          </p:cNvPr>
          <p:cNvPicPr>
            <a:picLocks noChangeAspect="1"/>
          </p:cNvPicPr>
          <p:nvPr/>
        </p:nvPicPr>
        <p:blipFill rotWithShape="1">
          <a:blip r:embed="rId4">
            <a:extLst>
              <a:ext uri="{28A0092B-C50C-407E-A947-70E740481C1C}">
                <a14:useLocalDpi xmlns:a14="http://schemas.microsoft.com/office/drawing/2010/main" val="0"/>
              </a:ext>
            </a:extLst>
          </a:blip>
          <a:srcRect t="5820"/>
          <a:stretch/>
        </p:blipFill>
        <p:spPr bwMode="auto">
          <a:xfrm>
            <a:off x="7429500" y="2550554"/>
            <a:ext cx="4595365" cy="309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06867">
                                            <p:txEl>
                                              <p:pRg st="0" end="0"/>
                                            </p:txEl>
                                          </p:spTgt>
                                        </p:tgtEl>
                                        <p:attrNameLst>
                                          <p:attrName>style.visibility</p:attrName>
                                        </p:attrNameLst>
                                      </p:cBhvr>
                                      <p:to>
                                        <p:strVal val="visible"/>
                                      </p:to>
                                    </p:set>
                                    <p:animEffect transition="in" filter="fade">
                                      <p:cBhvr>
                                        <p:cTn id="7" dur="500"/>
                                        <p:tgtEl>
                                          <p:spTgt spid="206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06867">
                                            <p:txEl>
                                              <p:pRg st="2" end="2"/>
                                            </p:txEl>
                                          </p:spTgt>
                                        </p:tgtEl>
                                        <p:attrNameLst>
                                          <p:attrName>style.visibility</p:attrName>
                                        </p:attrNameLst>
                                      </p:cBhvr>
                                      <p:to>
                                        <p:strVal val="visible"/>
                                      </p:to>
                                    </p:set>
                                    <p:animEffect transition="in" filter="fade">
                                      <p:cBhvr>
                                        <p:cTn id="12" dur="500"/>
                                        <p:tgtEl>
                                          <p:spTgt spid="20686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06867">
                                            <p:txEl>
                                              <p:pRg st="4" end="4"/>
                                            </p:txEl>
                                          </p:spTgt>
                                        </p:tgtEl>
                                        <p:attrNameLst>
                                          <p:attrName>style.visibility</p:attrName>
                                        </p:attrNameLst>
                                      </p:cBhvr>
                                      <p:to>
                                        <p:strVal val="visible"/>
                                      </p:to>
                                    </p:set>
                                    <p:animEffect transition="in" filter="fade">
                                      <p:cBhvr>
                                        <p:cTn id="17" dur="500"/>
                                        <p:tgtEl>
                                          <p:spTgt spid="20686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206867">
                                            <p:txEl>
                                              <p:pRg st="6" end="6"/>
                                            </p:txEl>
                                          </p:spTgt>
                                        </p:tgtEl>
                                        <p:attrNameLst>
                                          <p:attrName>style.visibility</p:attrName>
                                        </p:attrNameLst>
                                      </p:cBhvr>
                                      <p:to>
                                        <p:strVal val="visible"/>
                                      </p:to>
                                    </p:set>
                                    <p:animEffect transition="in" filter="fade">
                                      <p:cBhvr>
                                        <p:cTn id="22" dur="500"/>
                                        <p:tgtEl>
                                          <p:spTgt spid="2068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6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C39B1-4B53-1808-C1EB-6EBF58FF1CD3}"/>
            </a:ext>
          </a:extLst>
        </p:cNvPr>
        <p:cNvGrpSpPr/>
        <p:nvPr/>
      </p:nvGrpSpPr>
      <p:grpSpPr>
        <a:xfrm>
          <a:off x="0" y="0"/>
          <a:ext cx="0" cy="0"/>
          <a:chOff x="0" y="0"/>
          <a:chExt cx="0" cy="0"/>
        </a:xfrm>
      </p:grpSpPr>
      <p:sp>
        <p:nvSpPr>
          <p:cNvPr id="3" name="TextBox 14">
            <a:extLst>
              <a:ext uri="{FF2B5EF4-FFF2-40B4-BE49-F238E27FC236}">
                <a16:creationId xmlns:a16="http://schemas.microsoft.com/office/drawing/2014/main" id="{656C08A7-0532-96FA-016B-421BA5DE8E95}"/>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Greenhouse Effect - Summary</a:t>
            </a:r>
          </a:p>
        </p:txBody>
      </p:sp>
      <p:pic>
        <p:nvPicPr>
          <p:cNvPr id="10" name="Picture 2" descr="Places of Climate Change">
            <a:extLst>
              <a:ext uri="{FF2B5EF4-FFF2-40B4-BE49-F238E27FC236}">
                <a16:creationId xmlns:a16="http://schemas.microsoft.com/office/drawing/2014/main" id="{5CA00ACC-4148-2934-4CFD-DAAFD6EB00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490" r="39572"/>
          <a:stretch>
            <a:fillRect/>
          </a:stretch>
        </p:blipFill>
        <p:spPr bwMode="auto">
          <a:xfrm>
            <a:off x="6832029" y="0"/>
            <a:ext cx="5356923"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11" name="Freeform 13">
            <a:extLst>
              <a:ext uri="{FF2B5EF4-FFF2-40B4-BE49-F238E27FC236}">
                <a16:creationId xmlns:a16="http://schemas.microsoft.com/office/drawing/2014/main" id="{B2890B1E-D35F-FB12-A2F7-72FD05FD450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6" name="Rectangle 3">
            <a:extLst>
              <a:ext uri="{FF2B5EF4-FFF2-40B4-BE49-F238E27FC236}">
                <a16:creationId xmlns:a16="http://schemas.microsoft.com/office/drawing/2014/main" id="{6B066C55-CD19-33E7-41F0-00B7B65F29EA}"/>
              </a:ext>
            </a:extLst>
          </p:cNvPr>
          <p:cNvSpPr txBox="1">
            <a:spLocks noChangeArrowheads="1"/>
          </p:cNvSpPr>
          <p:nvPr/>
        </p:nvSpPr>
        <p:spPr>
          <a:xfrm>
            <a:off x="304800" y="1273997"/>
            <a:ext cx="6527229" cy="5195402"/>
          </a:xfrm>
          <a:prstGeom prst="rect">
            <a:avLst/>
          </a:prstGeom>
        </p:spPr>
        <p:txBody>
          <a:bodyPr vert="horz" lIns="91440" tIns="45720" rIns="91440" bIns="45720" rtlCol="0">
            <a:normAutofit/>
          </a:bodyPr>
          <a:lst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a:lstStyle>
          <a:p>
            <a:pPr marL="0" indent="0" defTabSz="762000">
              <a:buNone/>
            </a:pPr>
            <a:endParaRPr lang="en-AU" altLang="en-US" sz="2200" dirty="0">
              <a:latin typeface="Calibri" panose="020F0502020204030204" pitchFamily="34" charset="0"/>
              <a:cs typeface="Calibri" panose="020F0502020204030204" pitchFamily="34" charset="0"/>
            </a:endParaRPr>
          </a:p>
          <a:p>
            <a:pPr marL="457200" indent="-457200" defTabSz="762000">
              <a:buFont typeface="DM Sans" pitchFamily="34" charset="0"/>
              <a:buNone/>
            </a:pPr>
            <a:r>
              <a:rPr lang="en-AU" altLang="en-US" sz="1900" dirty="0">
                <a:latin typeface="Calibri" panose="020F0502020204030204" pitchFamily="34" charset="0"/>
                <a:cs typeface="Calibri" panose="020F0502020204030204" pitchFamily="34" charset="0"/>
              </a:rPr>
              <a:t>Some solar radiation absorbed by earth’s surface and atmosphere.</a:t>
            </a:r>
          </a:p>
          <a:p>
            <a:pPr marL="457200" indent="-457200" defTabSz="762000">
              <a:buFont typeface="DM Sans" pitchFamily="34" charset="0"/>
              <a:buNone/>
            </a:pPr>
            <a:endParaRPr lang="en-AU" altLang="en-US" sz="1900" dirty="0">
              <a:latin typeface="Calibri" panose="020F0502020204030204" pitchFamily="34" charset="0"/>
              <a:cs typeface="Calibri" panose="020F0502020204030204" pitchFamily="34" charset="0"/>
            </a:endParaRPr>
          </a:p>
          <a:p>
            <a:pPr marL="457200" indent="-457200" defTabSz="762000">
              <a:buFont typeface="DM Sans" pitchFamily="34" charset="0"/>
              <a:buNone/>
            </a:pPr>
            <a:r>
              <a:rPr lang="en-AU" altLang="en-US" sz="1900" dirty="0">
                <a:latin typeface="Calibri" panose="020F0502020204030204" pitchFamily="34" charset="0"/>
                <a:cs typeface="Calibri" panose="020F0502020204030204" pitchFamily="34" charset="0"/>
              </a:rPr>
              <a:t>Earth and atmosphere emit infrared radiation.</a:t>
            </a:r>
          </a:p>
          <a:p>
            <a:pPr marL="457200" indent="-457200" defTabSz="762000">
              <a:buFont typeface="DM Sans" pitchFamily="34" charset="0"/>
              <a:buNone/>
            </a:pPr>
            <a:endParaRPr lang="en-AU" altLang="en-US" sz="1900" dirty="0">
              <a:latin typeface="Calibri" panose="020F0502020204030204" pitchFamily="34" charset="0"/>
              <a:cs typeface="Calibri" panose="020F0502020204030204" pitchFamily="34" charset="0"/>
            </a:endParaRPr>
          </a:p>
          <a:p>
            <a:pPr marL="457200" indent="-457200" defTabSz="762000">
              <a:buFont typeface="DM Sans" pitchFamily="34" charset="0"/>
              <a:buNone/>
            </a:pPr>
            <a:r>
              <a:rPr lang="en-AU" altLang="en-US" sz="1900" dirty="0">
                <a:latin typeface="Calibri" panose="020F0502020204030204" pitchFamily="34" charset="0"/>
                <a:cs typeface="Calibri" panose="020F0502020204030204" pitchFamily="34" charset="0"/>
              </a:rPr>
              <a:t>Greenhouse gases absorb some of this infrared radiation.</a:t>
            </a:r>
          </a:p>
          <a:p>
            <a:pPr marL="457200" indent="-457200" defTabSz="762000">
              <a:buFont typeface="DM Sans" pitchFamily="34" charset="0"/>
              <a:buNone/>
            </a:pPr>
            <a:endParaRPr lang="en-AU" altLang="en-US" sz="1900" dirty="0">
              <a:latin typeface="Calibri" panose="020F0502020204030204" pitchFamily="34" charset="0"/>
              <a:cs typeface="Calibri" panose="020F0502020204030204" pitchFamily="34" charset="0"/>
            </a:endParaRPr>
          </a:p>
          <a:p>
            <a:pPr marL="457200" indent="-457200" defTabSz="762000">
              <a:buFont typeface="DM Sans" pitchFamily="34" charset="0"/>
              <a:buNone/>
            </a:pPr>
            <a:r>
              <a:rPr lang="en-AU" altLang="en-US" sz="1900" dirty="0">
                <a:latin typeface="Calibri" panose="020F0502020204030204" pitchFamily="34" charset="0"/>
                <a:cs typeface="Calibri" panose="020F0502020204030204" pitchFamily="34" charset="0"/>
              </a:rPr>
              <a:t>Greenhouse gases (water, CO</a:t>
            </a:r>
            <a:r>
              <a:rPr lang="en-AU" altLang="en-US" sz="1900" baseline="-25000" dirty="0">
                <a:latin typeface="Calibri" panose="020F0502020204030204" pitchFamily="34" charset="0"/>
                <a:cs typeface="Calibri" panose="020F0502020204030204" pitchFamily="34" charset="0"/>
              </a:rPr>
              <a:t>2 </a:t>
            </a:r>
            <a:r>
              <a:rPr lang="en-AU" altLang="en-US" sz="1900" dirty="0">
                <a:latin typeface="Calibri" panose="020F0502020204030204" pitchFamily="34" charset="0"/>
                <a:cs typeface="Calibri" panose="020F0502020204030204" pitchFamily="34" charset="0"/>
              </a:rPr>
              <a:t>+ others) give off infrared radiation in all directions.</a:t>
            </a:r>
          </a:p>
          <a:p>
            <a:pPr marL="457200" indent="-457200" defTabSz="762000">
              <a:buFont typeface="DM Sans" pitchFamily="34" charset="0"/>
              <a:buNone/>
            </a:pPr>
            <a:endParaRPr lang="en-AU" altLang="en-US" sz="1900" dirty="0">
              <a:latin typeface="Calibri" panose="020F0502020204030204" pitchFamily="34" charset="0"/>
              <a:cs typeface="Calibri" panose="020F0502020204030204" pitchFamily="34" charset="0"/>
            </a:endParaRPr>
          </a:p>
          <a:p>
            <a:pPr marL="457200" indent="-457200" defTabSz="762000">
              <a:buFont typeface="DM Sans" pitchFamily="34" charset="0"/>
              <a:buNone/>
            </a:pPr>
            <a:r>
              <a:rPr lang="en-AU" altLang="en-US" sz="1900" dirty="0">
                <a:latin typeface="Calibri" panose="020F0502020204030204" pitchFamily="34" charset="0"/>
                <a:cs typeface="Calibri" panose="020F0502020204030204" pitchFamily="34" charset="0"/>
              </a:rPr>
              <a:t>Earth absorbs downward directed infrared radiation</a:t>
            </a:r>
          </a:p>
          <a:p>
            <a:pPr marL="0" indent="0" algn="just" defTabSz="762000">
              <a:buNone/>
            </a:pPr>
            <a:endParaRPr lang="en-AU" altLang="en-US" sz="1900" b="1" dirty="0">
              <a:solidFill>
                <a:srgbClr val="FF0000"/>
              </a:solidFill>
              <a:latin typeface="Calibri" panose="020F0502020204030204" pitchFamily="34" charset="0"/>
              <a:cs typeface="Calibri" panose="020F0502020204030204" pitchFamily="34" charset="0"/>
            </a:endParaRPr>
          </a:p>
          <a:p>
            <a:pPr marL="0" indent="0" algn="just" defTabSz="762000">
              <a:buNone/>
            </a:pPr>
            <a:r>
              <a:rPr lang="en-AU" altLang="en-US" sz="1900" b="1" dirty="0">
                <a:solidFill>
                  <a:srgbClr val="FF0000"/>
                </a:solidFill>
                <a:latin typeface="Calibri" panose="020F0502020204030204" pitchFamily="34" charset="0"/>
                <a:cs typeface="Calibri" panose="020F0502020204030204" pitchFamily="34" charset="0"/>
              </a:rPr>
              <a:t>Result: warmer surface temperature = 288K rather than 255K</a:t>
            </a:r>
          </a:p>
          <a:p>
            <a:pPr marL="914400" lvl="1" indent="-477838" defTabSz="762000">
              <a:buFont typeface="DM Sans" pitchFamily="34" charset="0"/>
              <a:buNone/>
            </a:pPr>
            <a:endParaRPr lang="en-AU" altLang="en-US" sz="2100" b="1" i="1" dirty="0"/>
          </a:p>
        </p:txBody>
      </p:sp>
    </p:spTree>
    <p:extLst>
      <p:ext uri="{BB962C8B-B14F-4D97-AF65-F5344CB8AC3E}">
        <p14:creationId xmlns:p14="http://schemas.microsoft.com/office/powerpoint/2010/main" val="3630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 calcmode="lin" valueType="num">
                                      <p:cBhvr additive="base">
                                        <p:cTn id="13" dur="500" fill="hold"/>
                                        <p:tgtEl>
                                          <p:spTgt spid="6">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anim calcmode="lin" valueType="num">
                                      <p:cBhvr additive="base">
                                        <p:cTn id="19" dur="500" fill="hold"/>
                                        <p:tgtEl>
                                          <p:spTgt spid="6">
                                            <p:txEl>
                                              <p:pRg st="5" end="5"/>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anim calcmode="lin" valueType="num">
                                      <p:cBhvr additive="base">
                                        <p:cTn id="25" dur="500" fill="hold"/>
                                        <p:tgtEl>
                                          <p:spTgt spid="6">
                                            <p:txEl>
                                              <p:pRg st="7" end="7"/>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anim calcmode="lin" valueType="num">
                                      <p:cBhvr additive="base">
                                        <p:cTn id="31" dur="500" fill="hold"/>
                                        <p:tgtEl>
                                          <p:spTgt spid="6">
                                            <p:txEl>
                                              <p:pRg st="9" end="9"/>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
                                            <p:txEl>
                                              <p:pRg st="11" end="11"/>
                                            </p:txEl>
                                          </p:spTgt>
                                        </p:tgtEl>
                                        <p:attrNameLst>
                                          <p:attrName>style.visibility</p:attrName>
                                        </p:attrNameLst>
                                      </p:cBhvr>
                                      <p:to>
                                        <p:strVal val="visible"/>
                                      </p:to>
                                    </p:set>
                                    <p:anim calcmode="lin" valueType="num">
                                      <p:cBhvr additive="base">
                                        <p:cTn id="37" dur="500" fill="hold"/>
                                        <p:tgtEl>
                                          <p:spTgt spid="6">
                                            <p:txEl>
                                              <p:pRg st="11" end="11"/>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4"/>
          <p:cNvSpPr>
            <a:spLocks noChangeArrowheads="1"/>
          </p:cNvSpPr>
          <p:nvPr/>
        </p:nvSpPr>
        <p:spPr bwMode="auto">
          <a:xfrm>
            <a:off x="3408957" y="2306813"/>
            <a:ext cx="5984005" cy="3050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4609" tIns="47305" rIns="94609" bIns="47305">
            <a:spAutoFit/>
          </a:bodyPr>
          <a:lstStyle/>
          <a:p>
            <a:pPr>
              <a:defRPr/>
            </a:pPr>
            <a:r>
              <a:rPr lang="en-US" sz="2400" dirty="0">
                <a:latin typeface="Calibri" panose="020F0502020204030204" pitchFamily="34" charset="0"/>
                <a:cs typeface="Calibri" panose="020F0502020204030204" pitchFamily="34" charset="0"/>
              </a:rPr>
              <a:t>N  78%</a:t>
            </a:r>
          </a:p>
          <a:p>
            <a:pPr>
              <a:defRPr/>
            </a:pPr>
            <a:r>
              <a:rPr lang="en-US" sz="2400" dirty="0">
                <a:latin typeface="Calibri" panose="020F0502020204030204" pitchFamily="34" charset="0"/>
                <a:cs typeface="Calibri" panose="020F0502020204030204" pitchFamily="34" charset="0"/>
              </a:rPr>
              <a:t>O</a:t>
            </a:r>
            <a:r>
              <a:rPr lang="en-US" sz="2400" baseline="-25000" dirty="0">
                <a:latin typeface="Calibri" panose="020F0502020204030204" pitchFamily="34" charset="0"/>
                <a:cs typeface="Calibri" panose="020F0502020204030204" pitchFamily="34" charset="0"/>
              </a:rPr>
              <a:t>2</a:t>
            </a:r>
            <a:r>
              <a:rPr lang="en-US" sz="2400" dirty="0">
                <a:latin typeface="Calibri" panose="020F0502020204030204" pitchFamily="34" charset="0"/>
                <a:cs typeface="Calibri" panose="020F0502020204030204" pitchFamily="34" charset="0"/>
              </a:rPr>
              <a:t> 21%</a:t>
            </a:r>
          </a:p>
          <a:p>
            <a:pPr>
              <a:defRPr/>
            </a:pPr>
            <a:r>
              <a:rPr lang="en-US" sz="2400" dirty="0" err="1">
                <a:latin typeface="Calibri" panose="020F0502020204030204" pitchFamily="34" charset="0"/>
                <a:cs typeface="Calibri" panose="020F0502020204030204" pitchFamily="34" charset="0"/>
              </a:rPr>
              <a:t>Ar</a:t>
            </a:r>
            <a:r>
              <a:rPr lang="en-US" sz="2400" dirty="0">
                <a:latin typeface="Calibri" panose="020F0502020204030204" pitchFamily="34" charset="0"/>
                <a:cs typeface="Calibri" panose="020F0502020204030204" pitchFamily="34" charset="0"/>
              </a:rPr>
              <a:t> 0.93%</a:t>
            </a:r>
          </a:p>
          <a:p>
            <a:pPr>
              <a:defRPr/>
            </a:pPr>
            <a:r>
              <a:rPr lang="en-US" sz="2400" dirty="0">
                <a:latin typeface="Calibri" panose="020F0502020204030204" pitchFamily="34" charset="0"/>
                <a:cs typeface="Calibri" panose="020F0502020204030204" pitchFamily="34" charset="0"/>
              </a:rPr>
              <a:t>CO</a:t>
            </a:r>
            <a:r>
              <a:rPr lang="en-US" sz="2400" baseline="-25000" dirty="0">
                <a:latin typeface="Calibri" panose="020F0502020204030204" pitchFamily="34" charset="0"/>
                <a:cs typeface="Calibri" panose="020F0502020204030204" pitchFamily="34" charset="0"/>
              </a:rPr>
              <a:t>2</a:t>
            </a:r>
            <a:r>
              <a:rPr lang="en-US" sz="2400" dirty="0">
                <a:latin typeface="Calibri" panose="020F0502020204030204" pitchFamily="34" charset="0"/>
                <a:cs typeface="Calibri" panose="020F0502020204030204" pitchFamily="34" charset="0"/>
              </a:rPr>
              <a:t> 0.03%</a:t>
            </a:r>
          </a:p>
          <a:p>
            <a:pPr>
              <a:defRPr/>
            </a:pPr>
            <a:r>
              <a:rPr lang="en-US" sz="2400" dirty="0">
                <a:latin typeface="Calibri" panose="020F0502020204030204" pitchFamily="34" charset="0"/>
                <a:cs typeface="Calibri" panose="020F0502020204030204" pitchFamily="34" charset="0"/>
              </a:rPr>
              <a:t>CH</a:t>
            </a:r>
            <a:r>
              <a:rPr lang="en-US" sz="2400" baseline="-25000" dirty="0">
                <a:latin typeface="Calibri" panose="020F0502020204030204" pitchFamily="34" charset="0"/>
                <a:cs typeface="Calibri" panose="020F0502020204030204" pitchFamily="34" charset="0"/>
              </a:rPr>
              <a:t>4</a:t>
            </a:r>
            <a:r>
              <a:rPr lang="en-US" sz="2400" dirty="0">
                <a:latin typeface="Calibri" panose="020F0502020204030204" pitchFamily="34" charset="0"/>
                <a:cs typeface="Calibri" panose="020F0502020204030204" pitchFamily="34" charset="0"/>
              </a:rPr>
              <a:t> 0.0018%</a:t>
            </a:r>
          </a:p>
          <a:p>
            <a:pPr>
              <a:defRPr/>
            </a:pPr>
            <a:endParaRPr lang="en-GB" sz="2400" dirty="0">
              <a:latin typeface="Calibri" panose="020F0502020204030204" pitchFamily="34" charset="0"/>
              <a:cs typeface="Calibri" panose="020F0502020204030204" pitchFamily="34" charset="0"/>
            </a:endParaRPr>
          </a:p>
          <a:p>
            <a:pPr>
              <a:defRPr/>
            </a:pPr>
            <a:r>
              <a:rPr lang="en-GB" sz="2400" dirty="0">
                <a:latin typeface="Calibri" panose="020F0502020204030204" pitchFamily="34" charset="0"/>
                <a:cs typeface="Calibri" panose="020F0502020204030204" pitchFamily="34" charset="0"/>
              </a:rPr>
              <a:t>Also variable amounts of water vapour:</a:t>
            </a:r>
          </a:p>
          <a:p>
            <a:pPr>
              <a:defRPr/>
            </a:pPr>
            <a:r>
              <a:rPr lang="en-US" sz="2400" dirty="0">
                <a:latin typeface="Calibri" panose="020F0502020204030204" pitchFamily="34" charset="0"/>
                <a:cs typeface="Calibri" panose="020F0502020204030204" pitchFamily="34" charset="0"/>
              </a:rPr>
              <a:t>H</a:t>
            </a:r>
            <a:r>
              <a:rPr lang="en-US" sz="2400" baseline="-25000" dirty="0">
                <a:latin typeface="Calibri" panose="020F0502020204030204" pitchFamily="34" charset="0"/>
                <a:cs typeface="Calibri" panose="020F0502020204030204" pitchFamily="34" charset="0"/>
              </a:rPr>
              <a:t>2</a:t>
            </a:r>
            <a:r>
              <a:rPr lang="en-US" sz="2400" dirty="0">
                <a:latin typeface="Calibri" panose="020F0502020204030204" pitchFamily="34" charset="0"/>
                <a:cs typeface="Calibri" panose="020F0502020204030204" pitchFamily="34" charset="0"/>
              </a:rPr>
              <a:t>O 0.2 to 2.6 %</a:t>
            </a:r>
          </a:p>
        </p:txBody>
      </p:sp>
      <p:pic>
        <p:nvPicPr>
          <p:cNvPr id="47106" name="Picture 6" descr="250px-Atmosphere_gas_propor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658" y="1352707"/>
            <a:ext cx="2614651" cy="5127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reeform 13">
            <a:extLst>
              <a:ext uri="{FF2B5EF4-FFF2-40B4-BE49-F238E27FC236}">
                <a16:creationId xmlns:a16="http://schemas.microsoft.com/office/drawing/2014/main" id="{AEAF95D0-3A92-429C-810F-692C9166EA84}"/>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DE49A8B8-491A-5462-6D33-540FEA3647C5}"/>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Our Atmosphere</a:t>
            </a:r>
          </a:p>
        </p:txBody>
      </p:sp>
    </p:spTree>
    <p:extLst>
      <p:ext uri="{BB962C8B-B14F-4D97-AF65-F5344CB8AC3E}">
        <p14:creationId xmlns:p14="http://schemas.microsoft.com/office/powerpoint/2010/main" val="7734439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61195" y="1977623"/>
            <a:ext cx="3391629" cy="3017309"/>
          </a:xfrm>
        </p:spPr>
        <p:txBody>
          <a:bodyPr>
            <a:normAutofit/>
          </a:bodyPr>
          <a:lstStyle/>
          <a:p>
            <a:r>
              <a:rPr sz="1600" dirty="0">
                <a:latin typeface="Calibri" panose="020F0502020204030204" pitchFamily="34" charset="0"/>
                <a:cs typeface="Calibri" panose="020F0502020204030204" pitchFamily="34" charset="0"/>
              </a:rPr>
              <a:t>Dominant contributor to anthropogenic radiative forcing</a:t>
            </a:r>
          </a:p>
          <a:p>
            <a:r>
              <a:rPr sz="1600" dirty="0">
                <a:latin typeface="Calibri" panose="020F0502020204030204" pitchFamily="34" charset="0"/>
                <a:cs typeface="Calibri" panose="020F0502020204030204" pitchFamily="34" charset="0"/>
              </a:rPr>
              <a:t>Primary sources: fossil fuel combustion (energy, transport, industry)</a:t>
            </a:r>
          </a:p>
          <a:p>
            <a:r>
              <a:rPr sz="1600" dirty="0">
                <a:latin typeface="Calibri" panose="020F0502020204030204" pitchFamily="34" charset="0"/>
                <a:cs typeface="Calibri" panose="020F0502020204030204" pitchFamily="34" charset="0"/>
              </a:rPr>
              <a:t>Cement production via calcination (</a:t>
            </a:r>
            <a:r>
              <a:rPr sz="1600" dirty="0" err="1">
                <a:latin typeface="Calibri" panose="020F0502020204030204" pitchFamily="34" charset="0"/>
                <a:cs typeface="Calibri" panose="020F0502020204030204" pitchFamily="34" charset="0"/>
              </a:rPr>
              <a:t>CaCO</a:t>
            </a:r>
            <a:r>
              <a:rPr sz="1600" dirty="0">
                <a:latin typeface="Calibri" panose="020F0502020204030204" pitchFamily="34" charset="0"/>
                <a:cs typeface="Calibri" panose="020F0502020204030204" pitchFamily="34" charset="0"/>
              </a:rPr>
              <a:t>₃ → CaO + CO₂)</a:t>
            </a:r>
          </a:p>
          <a:p>
            <a:r>
              <a:rPr sz="1600" dirty="0">
                <a:latin typeface="Calibri" panose="020F0502020204030204" pitchFamily="34" charset="0"/>
                <a:cs typeface="Calibri" panose="020F0502020204030204" pitchFamily="34" charset="0"/>
              </a:rPr>
              <a:t>Land-use change and deforestation reduce long-term carbon sinks</a:t>
            </a:r>
          </a:p>
          <a:p>
            <a:r>
              <a:rPr sz="1600" dirty="0">
                <a:latin typeface="Calibri" panose="020F0502020204030204" pitchFamily="34" charset="0"/>
                <a:cs typeface="Calibri" panose="020F0502020204030204" pitchFamily="34" charset="0"/>
              </a:rPr>
              <a:t>Atmospheric lifetime: centuries (with long tail effects)</a:t>
            </a:r>
            <a:endParaRPr lang="en-GB" sz="1600" dirty="0">
              <a:latin typeface="Calibri" panose="020F0502020204030204" pitchFamily="34" charset="0"/>
              <a:cs typeface="Calibri" panose="020F0502020204030204" pitchFamily="34" charset="0"/>
            </a:endParaRPr>
          </a:p>
          <a:p>
            <a:endParaRPr lang="en-GB" sz="2200" dirty="0">
              <a:latin typeface="Calibri" panose="020F0502020204030204" pitchFamily="34" charset="0"/>
              <a:cs typeface="Calibri" panose="020F0502020204030204" pitchFamily="34" charset="0"/>
            </a:endParaRPr>
          </a:p>
          <a:p>
            <a:endParaRPr sz="2200" dirty="0">
              <a:latin typeface="Calibri" panose="020F0502020204030204" pitchFamily="34" charset="0"/>
              <a:cs typeface="Calibri" panose="020F0502020204030204" pitchFamily="34" charset="0"/>
            </a:endParaRPr>
          </a:p>
        </p:txBody>
      </p:sp>
      <p:sp>
        <p:nvSpPr>
          <p:cNvPr id="6" name="TextBox 14">
            <a:extLst>
              <a:ext uri="{FF2B5EF4-FFF2-40B4-BE49-F238E27FC236}">
                <a16:creationId xmlns:a16="http://schemas.microsoft.com/office/drawing/2014/main" id="{E7C097B2-2F7C-0EA4-C521-429471244519}"/>
              </a:ext>
            </a:extLst>
          </p:cNvPr>
          <p:cNvSpPr txBox="1"/>
          <p:nvPr/>
        </p:nvSpPr>
        <p:spPr>
          <a:xfrm>
            <a:off x="389464" y="684091"/>
            <a:ext cx="9378650" cy="572273"/>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Atmospheric Composition – Carbon Dioxide (CO₂)</a:t>
            </a:r>
          </a:p>
        </p:txBody>
      </p:sp>
      <p:sp>
        <p:nvSpPr>
          <p:cNvPr id="2" name="Freeform 13">
            <a:extLst>
              <a:ext uri="{FF2B5EF4-FFF2-40B4-BE49-F238E27FC236}">
                <a16:creationId xmlns:a16="http://schemas.microsoft.com/office/drawing/2014/main" id="{6556F067-D1B2-5AF4-6B74-B8A33F44063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pic>
        <p:nvPicPr>
          <p:cNvPr id="5" name="Picture 4">
            <a:extLst>
              <a:ext uri="{FF2B5EF4-FFF2-40B4-BE49-F238E27FC236}">
                <a16:creationId xmlns:a16="http://schemas.microsoft.com/office/drawing/2014/main" id="{871CBD44-C05A-A2B5-1DC3-E314FE802D50}"/>
              </a:ext>
            </a:extLst>
          </p:cNvPr>
          <p:cNvPicPr>
            <a:picLocks noChangeAspect="1"/>
          </p:cNvPicPr>
          <p:nvPr/>
        </p:nvPicPr>
        <p:blipFill>
          <a:blip r:embed="rId3"/>
          <a:stretch>
            <a:fillRect/>
          </a:stretch>
        </p:blipFill>
        <p:spPr>
          <a:xfrm>
            <a:off x="389464" y="1256363"/>
            <a:ext cx="7908888" cy="4745333"/>
          </a:xfrm>
          <a:prstGeom prst="rect">
            <a:avLst/>
          </a:prstGeom>
        </p:spPr>
      </p:pic>
      <p:sp>
        <p:nvSpPr>
          <p:cNvPr id="10" name="TextBox 9">
            <a:extLst>
              <a:ext uri="{FF2B5EF4-FFF2-40B4-BE49-F238E27FC236}">
                <a16:creationId xmlns:a16="http://schemas.microsoft.com/office/drawing/2014/main" id="{ABFB9934-FD29-2A57-7FB0-C81975CFC324}"/>
              </a:ext>
            </a:extLst>
          </p:cNvPr>
          <p:cNvSpPr txBox="1"/>
          <p:nvPr/>
        </p:nvSpPr>
        <p:spPr>
          <a:xfrm>
            <a:off x="313836" y="6001696"/>
            <a:ext cx="9022668" cy="584775"/>
          </a:xfrm>
          <a:prstGeom prst="rect">
            <a:avLst/>
          </a:prstGeom>
          <a:noFill/>
        </p:spPr>
        <p:txBody>
          <a:bodyPr wrap="square">
            <a:spAutoFit/>
          </a:bodyPr>
          <a:lstStyle/>
          <a:p>
            <a:r>
              <a:rPr lang="en-GB" sz="1600" dirty="0">
                <a:latin typeface="Calibri" panose="020F0502020204030204" pitchFamily="34" charset="0"/>
                <a:cs typeface="Calibri" panose="020F0502020204030204" pitchFamily="34" charset="0"/>
              </a:rPr>
              <a:t>Co-benefits of reduction: CO₂ reduction via fossil fuel phase-out also lowers emissions of PM, SO₂, and NOₓ, improving urban air quality and reducing the health effects of air pollution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9687" y="1995972"/>
            <a:ext cx="3426265" cy="3017309"/>
          </a:xfrm>
        </p:spPr>
        <p:txBody>
          <a:bodyPr>
            <a:normAutofit fontScale="85000" lnSpcReduction="20000"/>
          </a:bodyPr>
          <a:lstStyle/>
          <a:p>
            <a:r>
              <a:rPr sz="2200" dirty="0">
                <a:latin typeface="Calibri" panose="020F0502020204030204" pitchFamily="34" charset="0"/>
                <a:cs typeface="Calibri" panose="020F0502020204030204" pitchFamily="34" charset="0"/>
              </a:rPr>
              <a:t>Second most important anthropogenic greenhouse gas</a:t>
            </a:r>
          </a:p>
          <a:p>
            <a:r>
              <a:rPr sz="2200" dirty="0">
                <a:latin typeface="Calibri" panose="020F0502020204030204" pitchFamily="34" charset="0"/>
                <a:cs typeface="Calibri" panose="020F0502020204030204" pitchFamily="34" charset="0"/>
              </a:rPr>
              <a:t>Major sources: fermentation in ruminants, rice paddies</a:t>
            </a:r>
          </a:p>
          <a:p>
            <a:r>
              <a:rPr sz="2200" dirty="0">
                <a:latin typeface="Calibri" panose="020F0502020204030204" pitchFamily="34" charset="0"/>
                <a:cs typeface="Calibri" panose="020F0502020204030204" pitchFamily="34" charset="0"/>
              </a:rPr>
              <a:t>Fossil fuel extraction, processing, and distribution losses</a:t>
            </a:r>
          </a:p>
          <a:p>
            <a:r>
              <a:rPr sz="2200" dirty="0">
                <a:latin typeface="Calibri" panose="020F0502020204030204" pitchFamily="34" charset="0"/>
                <a:cs typeface="Calibri" panose="020F0502020204030204" pitchFamily="34" charset="0"/>
              </a:rPr>
              <a:t>Landfills and anaerobic waste decomposition</a:t>
            </a:r>
          </a:p>
          <a:p>
            <a:r>
              <a:rPr sz="2200" dirty="0">
                <a:latin typeface="Calibri" panose="020F0502020204030204" pitchFamily="34" charset="0"/>
                <a:cs typeface="Calibri" panose="020F0502020204030204" pitchFamily="34" charset="0"/>
              </a:rPr>
              <a:t>Short atmospheric lifetime (~12 years)</a:t>
            </a:r>
            <a:endParaRPr lang="en-GB" sz="2200" dirty="0">
              <a:latin typeface="Calibri" panose="020F0502020204030204" pitchFamily="34" charset="0"/>
              <a:cs typeface="Calibri" panose="020F0502020204030204" pitchFamily="34" charset="0"/>
            </a:endParaRPr>
          </a:p>
          <a:p>
            <a:endParaRPr lang="en-GB" sz="2200" dirty="0">
              <a:latin typeface="Calibri" panose="020F0502020204030204" pitchFamily="34" charset="0"/>
              <a:cs typeface="Calibri" panose="020F0502020204030204" pitchFamily="34" charset="0"/>
            </a:endParaRPr>
          </a:p>
          <a:p>
            <a:endParaRPr lang="en-GB" sz="2200" dirty="0">
              <a:latin typeface="Calibri" panose="020F0502020204030204" pitchFamily="34" charset="0"/>
              <a:cs typeface="Calibri" panose="020F0502020204030204" pitchFamily="34" charset="0"/>
            </a:endParaRPr>
          </a:p>
          <a:p>
            <a:endParaRPr sz="2200" dirty="0">
              <a:latin typeface="Calibri" panose="020F0502020204030204" pitchFamily="34" charset="0"/>
              <a:cs typeface="Calibri" panose="020F0502020204030204" pitchFamily="34" charset="0"/>
            </a:endParaRPr>
          </a:p>
        </p:txBody>
      </p:sp>
      <p:sp>
        <p:nvSpPr>
          <p:cNvPr id="4" name="TextBox 14">
            <a:extLst>
              <a:ext uri="{FF2B5EF4-FFF2-40B4-BE49-F238E27FC236}">
                <a16:creationId xmlns:a16="http://schemas.microsoft.com/office/drawing/2014/main" id="{608CDA1F-16BE-D51E-271B-596020BBB607}"/>
              </a:ext>
            </a:extLst>
          </p:cNvPr>
          <p:cNvSpPr txBox="1"/>
          <p:nvPr/>
        </p:nvSpPr>
        <p:spPr>
          <a:xfrm>
            <a:off x="389464" y="684091"/>
            <a:ext cx="9378650" cy="572273"/>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Atmospheric Composition – Methane (CH₄)</a:t>
            </a:r>
          </a:p>
        </p:txBody>
      </p:sp>
      <p:sp>
        <p:nvSpPr>
          <p:cNvPr id="2" name="Freeform 13">
            <a:extLst>
              <a:ext uri="{FF2B5EF4-FFF2-40B4-BE49-F238E27FC236}">
                <a16:creationId xmlns:a16="http://schemas.microsoft.com/office/drawing/2014/main" id="{AE9D6B14-0DEB-5FB1-6D40-1209387954F9}"/>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pic>
        <p:nvPicPr>
          <p:cNvPr id="5" name="Picture 4">
            <a:extLst>
              <a:ext uri="{FF2B5EF4-FFF2-40B4-BE49-F238E27FC236}">
                <a16:creationId xmlns:a16="http://schemas.microsoft.com/office/drawing/2014/main" id="{90F33AE8-093B-5AEE-FF65-C2766EEC6BDB}"/>
              </a:ext>
            </a:extLst>
          </p:cNvPr>
          <p:cNvPicPr>
            <a:picLocks noChangeAspect="1"/>
          </p:cNvPicPr>
          <p:nvPr/>
        </p:nvPicPr>
        <p:blipFill>
          <a:blip r:embed="rId4"/>
          <a:stretch>
            <a:fillRect/>
          </a:stretch>
        </p:blipFill>
        <p:spPr>
          <a:xfrm>
            <a:off x="389464" y="1256364"/>
            <a:ext cx="8006115" cy="4803669"/>
          </a:xfrm>
          <a:prstGeom prst="rect">
            <a:avLst/>
          </a:prstGeom>
        </p:spPr>
      </p:pic>
      <p:sp>
        <p:nvSpPr>
          <p:cNvPr id="7" name="TextBox 6">
            <a:extLst>
              <a:ext uri="{FF2B5EF4-FFF2-40B4-BE49-F238E27FC236}">
                <a16:creationId xmlns:a16="http://schemas.microsoft.com/office/drawing/2014/main" id="{16333F9A-4D86-A594-6FFA-CBF0FC15AE46}"/>
              </a:ext>
            </a:extLst>
          </p:cNvPr>
          <p:cNvSpPr txBox="1"/>
          <p:nvPr/>
        </p:nvSpPr>
        <p:spPr>
          <a:xfrm>
            <a:off x="309383" y="5934245"/>
            <a:ext cx="7837714" cy="646331"/>
          </a:xfrm>
          <a:prstGeom prst="rect">
            <a:avLst/>
          </a:prstGeom>
          <a:noFill/>
        </p:spPr>
        <p:txBody>
          <a:bodyPr wrap="square">
            <a:spAutoFit/>
          </a:bodyPr>
          <a:lstStyle/>
          <a:p>
            <a:r>
              <a:rPr lang="en-GB" sz="1800" dirty="0">
                <a:latin typeface="Calibri" panose="020F0502020204030204" pitchFamily="34" charset="0"/>
                <a:cs typeface="Calibri" panose="020F0502020204030204" pitchFamily="34" charset="0"/>
              </a:rPr>
              <a:t>Co-benefits of reduction: </a:t>
            </a:r>
            <a:r>
              <a:rPr lang="en-GB" dirty="0">
                <a:latin typeface="Calibri" panose="020F0502020204030204" pitchFamily="34" charset="0"/>
                <a:cs typeface="Calibri" panose="020F0502020204030204" pitchFamily="34" charset="0"/>
              </a:rPr>
              <a:t>Similar to CO2 but m</a:t>
            </a:r>
            <a:r>
              <a:rPr lang="en-GB" sz="1800" dirty="0">
                <a:latin typeface="Calibri" panose="020F0502020204030204" pitchFamily="34" charset="0"/>
                <a:cs typeface="Calibri" panose="020F0502020204030204" pitchFamily="34" charset="0"/>
              </a:rPr>
              <a:t>ethane controls can reduce ground-level ozone (O₃) formation, improving respiratory health and crop yields.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6707" y="2189174"/>
            <a:ext cx="4325498" cy="3017309"/>
          </a:xfrm>
        </p:spPr>
        <p:txBody>
          <a:bodyPr>
            <a:noAutofit/>
          </a:bodyPr>
          <a:lstStyle/>
          <a:p>
            <a:r>
              <a:rPr sz="1800" dirty="0">
                <a:latin typeface="Calibri" panose="020F0502020204030204" pitchFamily="34" charset="0"/>
                <a:cs typeface="Calibri" panose="020F0502020204030204" pitchFamily="34" charset="0"/>
              </a:rPr>
              <a:t>Strong greenhouse gas with significant stratospheric ozone impacts</a:t>
            </a:r>
          </a:p>
          <a:p>
            <a:r>
              <a:rPr sz="1800" dirty="0">
                <a:latin typeface="Calibri" panose="020F0502020204030204" pitchFamily="34" charset="0"/>
                <a:cs typeface="Calibri" panose="020F0502020204030204" pitchFamily="34" charset="0"/>
              </a:rPr>
              <a:t>Primarily emitted from agricultural soils due to nitrogen </a:t>
            </a:r>
            <a:r>
              <a:rPr sz="1800" dirty="0" err="1">
                <a:latin typeface="Calibri" panose="020F0502020204030204" pitchFamily="34" charset="0"/>
                <a:cs typeface="Calibri" panose="020F0502020204030204" pitchFamily="34" charset="0"/>
              </a:rPr>
              <a:t>fertiliser</a:t>
            </a:r>
            <a:r>
              <a:rPr sz="1800" dirty="0">
                <a:latin typeface="Calibri" panose="020F0502020204030204" pitchFamily="34" charset="0"/>
                <a:cs typeface="Calibri" panose="020F0502020204030204" pitchFamily="34" charset="0"/>
              </a:rPr>
              <a:t> use</a:t>
            </a:r>
          </a:p>
          <a:p>
            <a:r>
              <a:rPr sz="1800" dirty="0">
                <a:latin typeface="Calibri" panose="020F0502020204030204" pitchFamily="34" charset="0"/>
                <a:cs typeface="Calibri" panose="020F0502020204030204" pitchFamily="34" charset="0"/>
              </a:rPr>
              <a:t>Microbial nitrification and denitrification processes</a:t>
            </a:r>
          </a:p>
          <a:p>
            <a:r>
              <a:rPr sz="1800" dirty="0">
                <a:latin typeface="Calibri" panose="020F0502020204030204" pitchFamily="34" charset="0"/>
                <a:cs typeface="Calibri" panose="020F0502020204030204" pitchFamily="34" charset="0"/>
              </a:rPr>
              <a:t>Additional sources: manure management and industrial chemical production</a:t>
            </a:r>
          </a:p>
          <a:p>
            <a:r>
              <a:rPr sz="1800" dirty="0">
                <a:latin typeface="Calibri" panose="020F0502020204030204" pitchFamily="34" charset="0"/>
                <a:cs typeface="Calibri" panose="020F0502020204030204" pitchFamily="34" charset="0"/>
              </a:rPr>
              <a:t>Very long atmospheric lifetime (~120 years)</a:t>
            </a:r>
            <a:endParaRPr lang="en-GB" sz="1800" dirty="0">
              <a:latin typeface="Calibri" panose="020F0502020204030204" pitchFamily="34" charset="0"/>
              <a:cs typeface="Calibri" panose="020F0502020204030204" pitchFamily="34" charset="0"/>
            </a:endParaRPr>
          </a:p>
        </p:txBody>
      </p:sp>
      <p:sp>
        <p:nvSpPr>
          <p:cNvPr id="4" name="TextBox 14">
            <a:extLst>
              <a:ext uri="{FF2B5EF4-FFF2-40B4-BE49-F238E27FC236}">
                <a16:creationId xmlns:a16="http://schemas.microsoft.com/office/drawing/2014/main" id="{73EB4F7D-88CA-BFEA-1D90-0546BB260976}"/>
              </a:ext>
            </a:extLst>
          </p:cNvPr>
          <p:cNvSpPr txBox="1"/>
          <p:nvPr/>
        </p:nvSpPr>
        <p:spPr>
          <a:xfrm>
            <a:off x="389464" y="684091"/>
            <a:ext cx="9378650" cy="572273"/>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Atmospheric Composition – Nitrous Oxide (N₂O)</a:t>
            </a:r>
          </a:p>
        </p:txBody>
      </p:sp>
      <p:sp>
        <p:nvSpPr>
          <p:cNvPr id="2" name="Freeform 13">
            <a:extLst>
              <a:ext uri="{FF2B5EF4-FFF2-40B4-BE49-F238E27FC236}">
                <a16:creationId xmlns:a16="http://schemas.microsoft.com/office/drawing/2014/main" id="{4E00DBC5-4CC4-DE42-3906-506A41F6E42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pic>
        <p:nvPicPr>
          <p:cNvPr id="5" name="Picture 4">
            <a:extLst>
              <a:ext uri="{FF2B5EF4-FFF2-40B4-BE49-F238E27FC236}">
                <a16:creationId xmlns:a16="http://schemas.microsoft.com/office/drawing/2014/main" id="{44571CB1-B3C0-47ED-27E0-C2FDDC2890D6}"/>
              </a:ext>
            </a:extLst>
          </p:cNvPr>
          <p:cNvPicPr>
            <a:picLocks noChangeAspect="1"/>
          </p:cNvPicPr>
          <p:nvPr/>
        </p:nvPicPr>
        <p:blipFill>
          <a:blip r:embed="rId3"/>
          <a:stretch>
            <a:fillRect/>
          </a:stretch>
        </p:blipFill>
        <p:spPr>
          <a:xfrm>
            <a:off x="389464" y="1256363"/>
            <a:ext cx="7200744" cy="4707681"/>
          </a:xfrm>
          <a:prstGeom prst="rect">
            <a:avLst/>
          </a:prstGeom>
        </p:spPr>
      </p:pic>
      <p:sp>
        <p:nvSpPr>
          <p:cNvPr id="7" name="TextBox 6">
            <a:extLst>
              <a:ext uri="{FF2B5EF4-FFF2-40B4-BE49-F238E27FC236}">
                <a16:creationId xmlns:a16="http://schemas.microsoft.com/office/drawing/2014/main" id="{78B4D521-7C7E-0638-41AD-05D040AAB01F}"/>
              </a:ext>
            </a:extLst>
          </p:cNvPr>
          <p:cNvSpPr txBox="1"/>
          <p:nvPr/>
        </p:nvSpPr>
        <p:spPr>
          <a:xfrm>
            <a:off x="318135" y="5982019"/>
            <a:ext cx="8736487" cy="646331"/>
          </a:xfrm>
          <a:prstGeom prst="rect">
            <a:avLst/>
          </a:prstGeom>
          <a:noFill/>
        </p:spPr>
        <p:txBody>
          <a:bodyPr wrap="square">
            <a:spAutoFit/>
          </a:bodyPr>
          <a:lstStyle/>
          <a:p>
            <a:r>
              <a:rPr lang="en-GB" sz="1800" dirty="0">
                <a:latin typeface="Calibri" panose="020F0502020204030204" pitchFamily="34" charset="0"/>
                <a:cs typeface="Calibri" panose="020F0502020204030204" pitchFamily="34" charset="0"/>
              </a:rPr>
              <a:t>Co-benefits of reduction:  Improved fertiliser efficiency reduces ammonia (NH₃) emissions, lowering secondary particulate matter formation.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16EE-753B-6436-8C98-D8E0AF403946}"/>
            </a:ext>
          </a:extLst>
        </p:cNvPr>
        <p:cNvGrpSpPr/>
        <p:nvPr/>
      </p:nvGrpSpPr>
      <p:grpSpPr>
        <a:xfrm>
          <a:off x="0" y="0"/>
          <a:ext cx="0" cy="0"/>
          <a:chOff x="0" y="0"/>
          <a:chExt cx="0" cy="0"/>
        </a:xfrm>
      </p:grpSpPr>
      <p:sp>
        <p:nvSpPr>
          <p:cNvPr id="10" name="TextBox 14">
            <a:extLst>
              <a:ext uri="{FF2B5EF4-FFF2-40B4-BE49-F238E27FC236}">
                <a16:creationId xmlns:a16="http://schemas.microsoft.com/office/drawing/2014/main" id="{0081B619-18F7-3068-60FF-45D8614DB6F5}"/>
              </a:ext>
            </a:extLst>
          </p:cNvPr>
          <p:cNvSpPr txBox="1"/>
          <p:nvPr/>
        </p:nvSpPr>
        <p:spPr>
          <a:xfrm>
            <a:off x="389464" y="684091"/>
            <a:ext cx="9378650" cy="574324"/>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Changing Atmospheric Composition</a:t>
            </a:r>
          </a:p>
        </p:txBody>
      </p:sp>
      <p:sp>
        <p:nvSpPr>
          <p:cNvPr id="5" name="Freeform 13">
            <a:extLst>
              <a:ext uri="{FF2B5EF4-FFF2-40B4-BE49-F238E27FC236}">
                <a16:creationId xmlns:a16="http://schemas.microsoft.com/office/drawing/2014/main" id="{247A8D65-0069-9ACC-841A-E6E01D0D1237}"/>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pic>
        <p:nvPicPr>
          <p:cNvPr id="2" name="Picture 1">
            <a:extLst>
              <a:ext uri="{FF2B5EF4-FFF2-40B4-BE49-F238E27FC236}">
                <a16:creationId xmlns:a16="http://schemas.microsoft.com/office/drawing/2014/main" id="{47F39CCE-C046-39AF-7712-7E5EBC1D0149}"/>
              </a:ext>
            </a:extLst>
          </p:cNvPr>
          <p:cNvPicPr>
            <a:picLocks noChangeAspect="1"/>
          </p:cNvPicPr>
          <p:nvPr/>
        </p:nvPicPr>
        <p:blipFill>
          <a:blip r:embed="rId4"/>
          <a:stretch>
            <a:fillRect/>
          </a:stretch>
        </p:blipFill>
        <p:spPr>
          <a:xfrm>
            <a:off x="389464" y="1403112"/>
            <a:ext cx="10177700" cy="4770797"/>
          </a:xfrm>
          <a:prstGeom prst="rect">
            <a:avLst/>
          </a:prstGeom>
        </p:spPr>
      </p:pic>
    </p:spTree>
    <p:extLst>
      <p:ext uri="{BB962C8B-B14F-4D97-AF65-F5344CB8AC3E}">
        <p14:creationId xmlns:p14="http://schemas.microsoft.com/office/powerpoint/2010/main" val="22686316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Rectangle 1">
            <a:extLst>
              <a:ext uri="{FF2B5EF4-FFF2-40B4-BE49-F238E27FC236}">
                <a16:creationId xmlns:a16="http://schemas.microsoft.com/office/drawing/2014/main" id="{ED60ED0C-0E2F-C32F-69EE-C4C355F079EA}"/>
              </a:ext>
            </a:extLst>
          </p:cNvPr>
          <p:cNvGraphicFramePr>
            <a:graphicFrameLocks noGrp="1"/>
          </p:cNvGraphicFramePr>
          <p:nvPr>
            <p:ph idx="1"/>
          </p:nvPr>
        </p:nvGraphicFramePr>
        <p:xfrm>
          <a:off x="389464" y="1479068"/>
          <a:ext cx="6587069" cy="49972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14">
            <a:extLst>
              <a:ext uri="{FF2B5EF4-FFF2-40B4-BE49-F238E27FC236}">
                <a16:creationId xmlns:a16="http://schemas.microsoft.com/office/drawing/2014/main" id="{4A262926-0015-C96A-83F6-79CBFFE9CAE3}"/>
              </a:ext>
            </a:extLst>
          </p:cNvPr>
          <p:cNvSpPr txBox="1"/>
          <p:nvPr/>
        </p:nvSpPr>
        <p:spPr>
          <a:xfrm>
            <a:off x="389464" y="684091"/>
            <a:ext cx="9059336" cy="1164229"/>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Air-Quality Co-Benefits</a:t>
            </a:r>
          </a:p>
          <a:p>
            <a:pPr defTabSz="609630">
              <a:lnSpc>
                <a:spcPts val="4573"/>
              </a:lnSpc>
              <a:defRPr/>
            </a:pPr>
            <a:endPar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endParaRPr>
          </a:p>
        </p:txBody>
      </p:sp>
      <p:pic>
        <p:nvPicPr>
          <p:cNvPr id="4" name="Picture 3" descr="A red and white smokestack&#10;&#10;AI-generated content may be incorrect.">
            <a:extLst>
              <a:ext uri="{FF2B5EF4-FFF2-40B4-BE49-F238E27FC236}">
                <a16:creationId xmlns:a16="http://schemas.microsoft.com/office/drawing/2014/main" id="{7B970BBD-28AE-1609-9040-2F2B6C52A999}"/>
              </a:ext>
            </a:extLst>
          </p:cNvPr>
          <p:cNvPicPr>
            <a:picLocks noChangeAspect="1"/>
          </p:cNvPicPr>
          <p:nvPr/>
        </p:nvPicPr>
        <p:blipFill>
          <a:blip r:embed="rId7"/>
          <a:srcRect l="39638" r="11768" b="-1"/>
          <a:stretch>
            <a:fillRect/>
          </a:stretch>
        </p:blipFill>
        <p:spPr>
          <a:xfrm>
            <a:off x="7199440" y="10"/>
            <a:ext cx="4992560" cy="6857990"/>
          </a:xfrm>
          <a:prstGeom prst="rect">
            <a:avLst/>
          </a:prstGeom>
          <a:effectLst/>
        </p:spPr>
      </p:pic>
      <p:sp>
        <p:nvSpPr>
          <p:cNvPr id="5" name="Freeform 13">
            <a:extLst>
              <a:ext uri="{FF2B5EF4-FFF2-40B4-BE49-F238E27FC236}">
                <a16:creationId xmlns:a16="http://schemas.microsoft.com/office/drawing/2014/main" id="{EBF20A4A-C2C5-5ED0-4DCE-47D4F8710664}"/>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8"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706120" y="1134008"/>
            <a:ext cx="10261600" cy="564706"/>
          </a:xfrm>
          <a:prstGeom prst="rect">
            <a:avLst/>
          </a:prstGeom>
        </p:spPr>
        <p:txBody>
          <a:bodyPr wrap="square" lIns="0" tIns="0" rIns="0" bIns="0" rtlCol="0" anchor="t">
            <a:spAutoFit/>
          </a:bodyPr>
          <a:lstStyle/>
          <a:p>
            <a:pPr>
              <a:lnSpc>
                <a:spcPts val="4480"/>
              </a:lnSpc>
            </a:pPr>
            <a:r>
              <a:rPr lang="en-US" sz="3600" dirty="0">
                <a:solidFill>
                  <a:srgbClr val="46245A"/>
                </a:solidFill>
                <a:latin typeface="DM Sans Bold"/>
              </a:rPr>
              <a:t>Understanding aerosols</a:t>
            </a:r>
          </a:p>
        </p:txBody>
      </p:sp>
      <p:sp>
        <p:nvSpPr>
          <p:cNvPr id="2" name="TextBox 1">
            <a:extLst>
              <a:ext uri="{FF2B5EF4-FFF2-40B4-BE49-F238E27FC236}">
                <a16:creationId xmlns:a16="http://schemas.microsoft.com/office/drawing/2014/main" id="{D27D2FB5-5CBD-10D9-54D4-86286718189B}"/>
              </a:ext>
            </a:extLst>
          </p:cNvPr>
          <p:cNvSpPr txBox="1"/>
          <p:nvPr/>
        </p:nvSpPr>
        <p:spPr>
          <a:xfrm>
            <a:off x="706120" y="1770913"/>
            <a:ext cx="3205480" cy="574644"/>
          </a:xfrm>
          <a:prstGeom prst="rect">
            <a:avLst/>
          </a:prstGeom>
        </p:spPr>
        <p:txBody>
          <a:bodyPr wrap="square" lIns="0" tIns="0" rIns="0" bIns="0" rtlCol="0" anchor="t">
            <a:spAutoFit/>
          </a:bodyPr>
          <a:lstStyle/>
          <a:p>
            <a:pPr>
              <a:buNone/>
            </a:pPr>
            <a:r>
              <a:rPr lang="en-GB" sz="1867">
                <a:solidFill>
                  <a:schemeClr val="tx1">
                    <a:lumMod val="85000"/>
                    <a:lumOff val="15000"/>
                  </a:schemeClr>
                </a:solidFill>
                <a:latin typeface="DM Sans" pitchFamily="2" charset="0"/>
                <a:ea typeface="+mn-lt"/>
                <a:cs typeface="+mn-lt"/>
              </a:rPr>
              <a:t>Tiny solid or liquid particles suspended in the air</a:t>
            </a:r>
            <a:endParaRPr lang="en-GB" sz="1867" b="1">
              <a:solidFill>
                <a:schemeClr val="tx1">
                  <a:lumMod val="85000"/>
                  <a:lumOff val="15000"/>
                </a:schemeClr>
              </a:solidFill>
              <a:latin typeface="DM Sans" pitchFamily="2" charset="0"/>
              <a:ea typeface="+mn-lt"/>
              <a:cs typeface="+mn-lt"/>
            </a:endParaRPr>
          </a:p>
        </p:txBody>
      </p:sp>
      <p:pic>
        <p:nvPicPr>
          <p:cNvPr id="3" name="Picture 2" descr="A diagram of a hair strand&#10;&#10;Description automatically generated">
            <a:extLst>
              <a:ext uri="{FF2B5EF4-FFF2-40B4-BE49-F238E27FC236}">
                <a16:creationId xmlns:a16="http://schemas.microsoft.com/office/drawing/2014/main" id="{4BB22D09-72F9-CADD-A4EA-55E87BC74883}"/>
              </a:ext>
            </a:extLst>
          </p:cNvPr>
          <p:cNvPicPr>
            <a:picLocks noChangeAspect="1"/>
          </p:cNvPicPr>
          <p:nvPr/>
        </p:nvPicPr>
        <p:blipFill rotWithShape="1">
          <a:blip r:embed="rId3"/>
          <a:srcRect l="3877" t="4644" r="3665" b="3715"/>
          <a:stretch/>
        </p:blipFill>
        <p:spPr>
          <a:xfrm>
            <a:off x="759838" y="2608088"/>
            <a:ext cx="4837609" cy="3581291"/>
          </a:xfrm>
          <a:prstGeom prst="rect">
            <a:avLst/>
          </a:prstGeom>
        </p:spPr>
      </p:pic>
      <p:pic>
        <p:nvPicPr>
          <p:cNvPr id="6" name="Picture 5">
            <a:extLst>
              <a:ext uri="{FF2B5EF4-FFF2-40B4-BE49-F238E27FC236}">
                <a16:creationId xmlns:a16="http://schemas.microsoft.com/office/drawing/2014/main" id="{BF04B5FF-E7AD-5310-E05C-C8C89D98988C}"/>
              </a:ext>
            </a:extLst>
          </p:cNvPr>
          <p:cNvPicPr>
            <a:picLocks noChangeAspect="1"/>
          </p:cNvPicPr>
          <p:nvPr/>
        </p:nvPicPr>
        <p:blipFill rotWithShape="1">
          <a:blip r:embed="rId4"/>
          <a:srcRect l="6069" r="-276" b="5769"/>
          <a:stretch/>
        </p:blipFill>
        <p:spPr>
          <a:xfrm>
            <a:off x="5927387" y="2468105"/>
            <a:ext cx="5541247" cy="3575461"/>
          </a:xfrm>
          <a:prstGeom prst="rect">
            <a:avLst/>
          </a:prstGeom>
        </p:spPr>
      </p:pic>
      <p:sp>
        <p:nvSpPr>
          <p:cNvPr id="7" name="Freeform 13">
            <a:extLst>
              <a:ext uri="{FF2B5EF4-FFF2-40B4-BE49-F238E27FC236}">
                <a16:creationId xmlns:a16="http://schemas.microsoft.com/office/drawing/2014/main" id="{150947E7-56E5-23B7-F782-0C15505A4B6A}"/>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Tree>
    <p:extLst>
      <p:ext uri="{BB962C8B-B14F-4D97-AF65-F5344CB8AC3E}">
        <p14:creationId xmlns:p14="http://schemas.microsoft.com/office/powerpoint/2010/main" val="10989628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4">
            <a:extLst>
              <a:ext uri="{FF2B5EF4-FFF2-40B4-BE49-F238E27FC236}">
                <a16:creationId xmlns:a16="http://schemas.microsoft.com/office/drawing/2014/main" id="{734A4C51-5E53-A98D-6FF5-B95312EBA33B}"/>
              </a:ext>
            </a:extLst>
          </p:cNvPr>
          <p:cNvSpPr txBox="1"/>
          <p:nvPr/>
        </p:nvSpPr>
        <p:spPr>
          <a:xfrm>
            <a:off x="535769" y="720667"/>
            <a:ext cx="10497991"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MS PGothic" panose="020B0600070205080204" pitchFamily="34" charset="-128"/>
                <a:cs typeface="+mn-cs"/>
              </a:rPr>
              <a:t>Health Effects and Radiative Forcing</a:t>
            </a:r>
          </a:p>
        </p:txBody>
      </p:sp>
      <p:sp>
        <p:nvSpPr>
          <p:cNvPr id="7" name="Freeform 13">
            <a:extLst>
              <a:ext uri="{FF2B5EF4-FFF2-40B4-BE49-F238E27FC236}">
                <a16:creationId xmlns:a16="http://schemas.microsoft.com/office/drawing/2014/main" id="{C71D23AC-250F-72D7-91B9-B8EB7374550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pic>
        <p:nvPicPr>
          <p:cNvPr id="3" name="Picture 2" descr="https://ars.els-cdn.com/content/image/1-s2.0-S1748013218306364-gr1_lrg.jpg">
            <a:extLst>
              <a:ext uri="{FF2B5EF4-FFF2-40B4-BE49-F238E27FC236}">
                <a16:creationId xmlns:a16="http://schemas.microsoft.com/office/drawing/2014/main" id="{8D0FEB69-A5DA-6F49-0B46-6F78FF537D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769" y="2381510"/>
            <a:ext cx="5288133" cy="3481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a:extLst>
              <a:ext uri="{FF2B5EF4-FFF2-40B4-BE49-F238E27FC236}">
                <a16:creationId xmlns:a16="http://schemas.microsoft.com/office/drawing/2014/main" id="{7BA67C80-FFAA-7DF9-13D0-59FC75F0B9E2}"/>
              </a:ext>
            </a:extLst>
          </p:cNvPr>
          <p:cNvSpPr txBox="1">
            <a:spLocks noChangeArrowheads="1"/>
          </p:cNvSpPr>
          <p:nvPr/>
        </p:nvSpPr>
        <p:spPr bwMode="auto">
          <a:xfrm>
            <a:off x="430633" y="1622676"/>
            <a:ext cx="5393269" cy="352425"/>
          </a:xfrm>
          <a:prstGeom prst="rect">
            <a:avLst/>
          </a:prstGeom>
          <a:noFill/>
          <a:ln>
            <a:noFill/>
          </a:ln>
        </p:spPr>
        <p:txBody>
          <a:bodyPr anchor="ctr"/>
          <a:lstStyle>
            <a:lvl1pPr algn="ctr" rtl="0" eaLnBrk="0" fontAlgn="base" hangingPunct="0">
              <a:spcBef>
                <a:spcPct val="0"/>
              </a:spcBef>
              <a:spcAft>
                <a:spcPct val="0"/>
              </a:spcAft>
              <a:defRPr sz="4400">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2pPr>
            <a:lvl3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3pPr>
            <a:lvl4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4pPr>
            <a:lvl5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5pPr>
            <a:lvl6pPr marL="457200" algn="ctr" rtl="0" fontAlgn="base">
              <a:spcBef>
                <a:spcPct val="0"/>
              </a:spcBef>
              <a:spcAft>
                <a:spcPct val="0"/>
              </a:spcAft>
              <a:defRPr sz="4400">
                <a:solidFill>
                  <a:schemeClr val="tx2"/>
                </a:solidFill>
                <a:latin typeface="Times New Roman" charset="0"/>
              </a:defRPr>
            </a:lvl6pPr>
            <a:lvl7pPr marL="914400" algn="ctr" rtl="0" fontAlgn="base">
              <a:spcBef>
                <a:spcPct val="0"/>
              </a:spcBef>
              <a:spcAft>
                <a:spcPct val="0"/>
              </a:spcAft>
              <a:defRPr sz="4400">
                <a:solidFill>
                  <a:schemeClr val="tx2"/>
                </a:solidFill>
                <a:latin typeface="Times New Roman" charset="0"/>
              </a:defRPr>
            </a:lvl7pPr>
            <a:lvl8pPr marL="1371600" algn="ctr" rtl="0" fontAlgn="base">
              <a:spcBef>
                <a:spcPct val="0"/>
              </a:spcBef>
              <a:spcAft>
                <a:spcPct val="0"/>
              </a:spcAft>
              <a:defRPr sz="4400">
                <a:solidFill>
                  <a:schemeClr val="tx2"/>
                </a:solidFill>
                <a:latin typeface="Times New Roman" charset="0"/>
              </a:defRPr>
            </a:lvl8pPr>
            <a:lvl9pPr marL="1828800" algn="ctr" rtl="0" fontAlgn="base">
              <a:spcBef>
                <a:spcPct val="0"/>
              </a:spcBef>
              <a:spcAft>
                <a:spcPct val="0"/>
              </a:spcAft>
              <a:defRPr sz="4400">
                <a:solidFill>
                  <a:schemeClr val="tx2"/>
                </a:solidFill>
                <a:latin typeface="Times New Roman" charset="0"/>
              </a:defRPr>
            </a:lvl9pPr>
          </a:lstStyle>
          <a:p>
            <a:pPr algn="l" eaLnBrk="1" hangingPunct="1">
              <a:defRPr/>
            </a:pPr>
            <a:r>
              <a:rPr lang="en-GB" altLang="en-US" sz="2000" b="1" kern="0" dirty="0">
                <a:solidFill>
                  <a:srgbClr val="FF0000"/>
                </a:solidFill>
                <a:latin typeface="Aptos" panose="020B0004020202020204" pitchFamily="34" charset="0"/>
                <a:ea typeface="ＭＳ Ｐゴシック" panose="020B0600070205080204" pitchFamily="34" charset="-128"/>
              </a:rPr>
              <a:t>Particle pollution is associated with disease in every organ where it has been studied </a:t>
            </a:r>
            <a:endParaRPr lang="en-US" altLang="en-US" sz="4000" b="1" kern="0" dirty="0">
              <a:solidFill>
                <a:srgbClr val="FF0000"/>
              </a:solidFill>
              <a:latin typeface="Aptos" panose="020B0004020202020204" pitchFamily="34" charset="0"/>
              <a:ea typeface="ＭＳ Ｐゴシック" panose="020B0600070205080204" pitchFamily="34" charset="-128"/>
            </a:endParaRPr>
          </a:p>
        </p:txBody>
      </p:sp>
      <p:pic>
        <p:nvPicPr>
          <p:cNvPr id="2" name="Picture 10">
            <a:extLst>
              <a:ext uri="{FF2B5EF4-FFF2-40B4-BE49-F238E27FC236}">
                <a16:creationId xmlns:a16="http://schemas.microsoft.com/office/drawing/2014/main" id="{3340662D-B5C3-831C-7458-767AB63D0A84}"/>
              </a:ext>
            </a:extLst>
          </p:cNvPr>
          <p:cNvPicPr>
            <a:picLocks noChangeAspect="1"/>
          </p:cNvPicPr>
          <p:nvPr/>
        </p:nvPicPr>
        <p:blipFill rotWithShape="1">
          <a:blip r:embed="rId5">
            <a:extLst>
              <a:ext uri="{28A0092B-C50C-407E-A947-70E740481C1C}">
                <a14:useLocalDpi xmlns:a14="http://schemas.microsoft.com/office/drawing/2010/main" val="0"/>
              </a:ext>
            </a:extLst>
          </a:blip>
          <a:srcRect t="5820"/>
          <a:stretch/>
        </p:blipFill>
        <p:spPr bwMode="auto">
          <a:xfrm>
            <a:off x="6270564" y="2381510"/>
            <a:ext cx="5582443" cy="3755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78D2E99D-EEE1-2AE1-6041-B972C4AD02CF}"/>
              </a:ext>
            </a:extLst>
          </p:cNvPr>
          <p:cNvSpPr txBox="1">
            <a:spLocks noChangeArrowheads="1"/>
          </p:cNvSpPr>
          <p:nvPr/>
        </p:nvSpPr>
        <p:spPr bwMode="auto">
          <a:xfrm>
            <a:off x="6270564" y="1627677"/>
            <a:ext cx="5393269" cy="352425"/>
          </a:xfrm>
          <a:prstGeom prst="rect">
            <a:avLst/>
          </a:prstGeom>
          <a:noFill/>
          <a:ln>
            <a:noFill/>
          </a:ln>
        </p:spPr>
        <p:txBody>
          <a:bodyPr anchor="ctr"/>
          <a:lstStyle>
            <a:lvl1pPr algn="ctr" rtl="0" eaLnBrk="0" fontAlgn="base" hangingPunct="0">
              <a:spcBef>
                <a:spcPct val="0"/>
              </a:spcBef>
              <a:spcAft>
                <a:spcPct val="0"/>
              </a:spcAft>
              <a:defRPr sz="4400">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2pPr>
            <a:lvl3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3pPr>
            <a:lvl4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4pPr>
            <a:lvl5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5pPr>
            <a:lvl6pPr marL="457200" algn="ctr" rtl="0" fontAlgn="base">
              <a:spcBef>
                <a:spcPct val="0"/>
              </a:spcBef>
              <a:spcAft>
                <a:spcPct val="0"/>
              </a:spcAft>
              <a:defRPr sz="4400">
                <a:solidFill>
                  <a:schemeClr val="tx2"/>
                </a:solidFill>
                <a:latin typeface="Times New Roman" charset="0"/>
              </a:defRPr>
            </a:lvl6pPr>
            <a:lvl7pPr marL="914400" algn="ctr" rtl="0" fontAlgn="base">
              <a:spcBef>
                <a:spcPct val="0"/>
              </a:spcBef>
              <a:spcAft>
                <a:spcPct val="0"/>
              </a:spcAft>
              <a:defRPr sz="4400">
                <a:solidFill>
                  <a:schemeClr val="tx2"/>
                </a:solidFill>
                <a:latin typeface="Times New Roman" charset="0"/>
              </a:defRPr>
            </a:lvl7pPr>
            <a:lvl8pPr marL="1371600" algn="ctr" rtl="0" fontAlgn="base">
              <a:spcBef>
                <a:spcPct val="0"/>
              </a:spcBef>
              <a:spcAft>
                <a:spcPct val="0"/>
              </a:spcAft>
              <a:defRPr sz="4400">
                <a:solidFill>
                  <a:schemeClr val="tx2"/>
                </a:solidFill>
                <a:latin typeface="Times New Roman" charset="0"/>
              </a:defRPr>
            </a:lvl8pPr>
            <a:lvl9pPr marL="1828800" algn="ctr" rtl="0" fontAlgn="base">
              <a:spcBef>
                <a:spcPct val="0"/>
              </a:spcBef>
              <a:spcAft>
                <a:spcPct val="0"/>
              </a:spcAft>
              <a:defRPr sz="4400">
                <a:solidFill>
                  <a:schemeClr val="tx2"/>
                </a:solidFill>
                <a:latin typeface="Times New Roman" charset="0"/>
              </a:defRPr>
            </a:lvl9pPr>
          </a:lstStyle>
          <a:p>
            <a:pPr algn="l" eaLnBrk="1" hangingPunct="1">
              <a:defRPr/>
            </a:pPr>
            <a:r>
              <a:rPr lang="en-GB" altLang="en-US" sz="2000" b="1" kern="0" dirty="0" err="1">
                <a:solidFill>
                  <a:srgbClr val="FF0000"/>
                </a:solidFill>
                <a:latin typeface="Aptos" panose="020B0004020202020204" pitchFamily="34" charset="0"/>
                <a:ea typeface="ＭＳ Ｐゴシック" panose="020B0600070205080204" pitchFamily="34" charset="-128"/>
              </a:rPr>
              <a:t>Aersols</a:t>
            </a:r>
            <a:r>
              <a:rPr lang="en-GB" altLang="en-US" sz="2000" b="1" kern="0" dirty="0">
                <a:solidFill>
                  <a:srgbClr val="FF0000"/>
                </a:solidFill>
                <a:latin typeface="Aptos" panose="020B0004020202020204" pitchFamily="34" charset="0"/>
                <a:ea typeface="ＭＳ Ｐゴシック" panose="020B0600070205080204" pitchFamily="34" charset="-128"/>
              </a:rPr>
              <a:t> are also a key part of radiative forcing </a:t>
            </a:r>
            <a:endParaRPr lang="en-US" altLang="en-US" sz="4000" b="1" kern="0" dirty="0">
              <a:solidFill>
                <a:srgbClr val="FF0000"/>
              </a:solidFill>
              <a:latin typeface="Aptos" panose="020B00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0092824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1291E-B584-FD23-5409-AD4E8DF9D15D}"/>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7C547AA-B51D-4EAA-2A63-0EDE0F82B3FF}"/>
              </a:ext>
            </a:extLst>
          </p:cNvPr>
          <p:cNvSpPr>
            <a:spLocks noGrp="1"/>
          </p:cNvSpPr>
          <p:nvPr>
            <p:ph idx="1"/>
          </p:nvPr>
        </p:nvSpPr>
        <p:spPr>
          <a:xfrm>
            <a:off x="389465" y="1344059"/>
            <a:ext cx="6217098" cy="5144876"/>
          </a:xfrm>
        </p:spPr>
        <p:txBody>
          <a:bodyPr rtlCol="0">
            <a:normAutofit fontScale="77500" lnSpcReduction="20000"/>
          </a:bodyPr>
          <a:lstStyle/>
          <a:p>
            <a:r>
              <a:rPr lang="en-GB" sz="1800" dirty="0">
                <a:latin typeface="Calibri" panose="020F0502020204030204" pitchFamily="34" charset="0"/>
                <a:cs typeface="Calibri" panose="020F0502020204030204" pitchFamily="34" charset="0"/>
              </a:rPr>
              <a:t>All objects with a temperature above 0 K emit electromagnetic radiation, and both the Sun and Earth behave approximately as blackbody radiators.</a:t>
            </a:r>
          </a:p>
          <a:p>
            <a:endParaRPr lang="en-GB" sz="1800" dirty="0">
              <a:latin typeface="Calibri" panose="020F0502020204030204" pitchFamily="34" charset="0"/>
              <a:cs typeface="Calibri" panose="020F0502020204030204" pitchFamily="34" charset="0"/>
            </a:endParaRPr>
          </a:p>
          <a:p>
            <a:r>
              <a:rPr lang="en-GB" sz="1800" dirty="0">
                <a:latin typeface="Calibri" panose="020F0502020204030204" pitchFamily="34" charset="0"/>
                <a:cs typeface="Calibri" panose="020F0502020204030204" pitchFamily="34" charset="0"/>
              </a:rPr>
              <a:t>Radiation laws (Stefan–Boltzmann and Wien’s Law) explain why hotter objects emit more energy and at shorter wavelengths than cooler objects.</a:t>
            </a:r>
          </a:p>
          <a:p>
            <a:endParaRPr lang="en-GB" sz="1800" dirty="0">
              <a:latin typeface="Calibri" panose="020F0502020204030204" pitchFamily="34" charset="0"/>
              <a:cs typeface="Calibri" panose="020F0502020204030204" pitchFamily="34" charset="0"/>
            </a:endParaRPr>
          </a:p>
          <a:p>
            <a:r>
              <a:rPr lang="en-GB" sz="1800" dirty="0">
                <a:latin typeface="Calibri" panose="020F0502020204030204" pitchFamily="34" charset="0"/>
                <a:cs typeface="Calibri" panose="020F0502020204030204" pitchFamily="34" charset="0"/>
              </a:rPr>
              <a:t>Earth’s energy balance is set by incoming solar radiation and outgoing terrestrial radiation; assuming blackbody equilibrium gives an effective Earth temperature of ~255 K (–18 °C).</a:t>
            </a:r>
          </a:p>
          <a:p>
            <a:endParaRPr lang="en-GB" sz="1800" dirty="0">
              <a:latin typeface="Calibri" panose="020F0502020204030204" pitchFamily="34" charset="0"/>
              <a:cs typeface="Calibri" panose="020F0502020204030204" pitchFamily="34" charset="0"/>
            </a:endParaRPr>
          </a:p>
          <a:p>
            <a:r>
              <a:rPr lang="en-GB" sz="1800" dirty="0">
                <a:latin typeface="Calibri" panose="020F0502020204030204" pitchFamily="34" charset="0"/>
                <a:cs typeface="Calibri" panose="020F0502020204030204" pitchFamily="34" charset="0"/>
              </a:rPr>
              <a:t>The observed global mean surface temperature (~288 K, +15 °C) is higher because of the greenhouse effect.</a:t>
            </a:r>
          </a:p>
          <a:p>
            <a:endParaRPr lang="en-GB" sz="1800" dirty="0">
              <a:latin typeface="Calibri" panose="020F0502020204030204" pitchFamily="34" charset="0"/>
              <a:cs typeface="Calibri" panose="020F0502020204030204" pitchFamily="34" charset="0"/>
            </a:endParaRPr>
          </a:p>
          <a:p>
            <a:r>
              <a:rPr lang="en-GB" sz="1800" dirty="0">
                <a:latin typeface="Calibri" panose="020F0502020204030204" pitchFamily="34" charset="0"/>
                <a:cs typeface="Calibri" panose="020F0502020204030204" pitchFamily="34" charset="0"/>
              </a:rPr>
              <a:t>The atmosphere is largely transparent to shortwave solar radiation, but absorbs and re-emits longwave infrared radiation emitted by the Earth.</a:t>
            </a:r>
          </a:p>
          <a:p>
            <a:endParaRPr lang="en-GB" sz="1800" dirty="0">
              <a:latin typeface="Calibri" panose="020F0502020204030204" pitchFamily="34" charset="0"/>
              <a:cs typeface="Calibri" panose="020F0502020204030204" pitchFamily="34" charset="0"/>
            </a:endParaRPr>
          </a:p>
          <a:p>
            <a:r>
              <a:rPr lang="en-GB" sz="1800" dirty="0">
                <a:latin typeface="Calibri" panose="020F0502020204030204" pitchFamily="34" charset="0"/>
                <a:cs typeface="Calibri" panose="020F0502020204030204" pitchFamily="34" charset="0"/>
              </a:rPr>
              <a:t>Greenhouse gases (e.g. H₂O, CO₂) absorb infrared radiation at specific wavelengths and re-radiate energy in all directions, warming the surface and lower atmosphere.</a:t>
            </a:r>
          </a:p>
          <a:p>
            <a:endParaRPr lang="en-GB" sz="1800" dirty="0">
              <a:latin typeface="Calibri" panose="020F0502020204030204" pitchFamily="34" charset="0"/>
              <a:cs typeface="Calibri" panose="020F0502020204030204" pitchFamily="34" charset="0"/>
            </a:endParaRPr>
          </a:p>
          <a:p>
            <a:r>
              <a:rPr lang="en-GB" sz="1800" dirty="0">
                <a:latin typeface="Calibri" panose="020F0502020204030204" pitchFamily="34" charset="0"/>
                <a:cs typeface="Calibri" panose="020F0502020204030204" pitchFamily="34" charset="0"/>
              </a:rPr>
              <a:t>Differences between planetary temperatures (e.g. Earth, Mars, Venus) illustrate how atmospheric composition and pressure control the strength of the greenhouse effect.</a:t>
            </a:r>
          </a:p>
          <a:p>
            <a:endParaRPr lang="en-GB" sz="1800" dirty="0">
              <a:latin typeface="Calibri" panose="020F0502020204030204" pitchFamily="34" charset="0"/>
              <a:cs typeface="Calibri" panose="020F0502020204030204" pitchFamily="34" charset="0"/>
            </a:endParaRPr>
          </a:p>
          <a:p>
            <a:r>
              <a:rPr lang="en-GB" sz="1800" dirty="0">
                <a:latin typeface="Calibri" panose="020F0502020204030204" pitchFamily="34" charset="0"/>
                <a:cs typeface="Calibri" panose="020F0502020204030204" pitchFamily="34" charset="0"/>
              </a:rPr>
              <a:t>Increasing greenhouse gas concentrations enhance infrared absorption, leading to positive radiative forcing and further warming.</a:t>
            </a:r>
          </a:p>
        </p:txBody>
      </p:sp>
      <p:sp>
        <p:nvSpPr>
          <p:cNvPr id="3" name="TextBox 14">
            <a:extLst>
              <a:ext uri="{FF2B5EF4-FFF2-40B4-BE49-F238E27FC236}">
                <a16:creationId xmlns:a16="http://schemas.microsoft.com/office/drawing/2014/main" id="{AF68D400-DEB6-92F7-3EDB-5A9701421D5E}"/>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a:ln>
                  <a:noFill/>
                </a:ln>
                <a:solidFill>
                  <a:srgbClr val="46245A"/>
                </a:solidFill>
                <a:effectLst/>
                <a:uLnTx/>
                <a:uFillTx/>
                <a:latin typeface="DM Sans Bold"/>
                <a:ea typeface="ＭＳ Ｐゴシック" panose="020B0600070205080204" pitchFamily="34" charset="-128"/>
                <a:cs typeface="+mn-cs"/>
              </a:rPr>
              <a:t>Lecture Summary</a:t>
            </a:r>
            <a:endPar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endParaRPr>
          </a:p>
        </p:txBody>
      </p:sp>
      <p:pic>
        <p:nvPicPr>
          <p:cNvPr id="10" name="Picture 2" descr="Places of Climate Change">
            <a:extLst>
              <a:ext uri="{FF2B5EF4-FFF2-40B4-BE49-F238E27FC236}">
                <a16:creationId xmlns:a16="http://schemas.microsoft.com/office/drawing/2014/main" id="{C0628126-DB9E-9414-769A-F262ECA340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490" r="39572"/>
          <a:stretch>
            <a:fillRect/>
          </a:stretch>
        </p:blipFill>
        <p:spPr bwMode="auto">
          <a:xfrm>
            <a:off x="6832029" y="0"/>
            <a:ext cx="5356923"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11" name="Freeform 13">
            <a:extLst>
              <a:ext uri="{FF2B5EF4-FFF2-40B4-BE49-F238E27FC236}">
                <a16:creationId xmlns:a16="http://schemas.microsoft.com/office/drawing/2014/main" id="{2F94EEC3-9338-4679-F02E-0F944C2AB3BA}"/>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Tree>
    <p:extLst>
      <p:ext uri="{BB962C8B-B14F-4D97-AF65-F5344CB8AC3E}">
        <p14:creationId xmlns:p14="http://schemas.microsoft.com/office/powerpoint/2010/main" val="38700898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2455D-9EF2-494D-209E-9E109C0A74BB}"/>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9F81932-4E4F-2E80-921C-DAC2EC93067E}"/>
              </a:ext>
            </a:extLst>
          </p:cNvPr>
          <p:cNvSpPr>
            <a:spLocks noGrp="1"/>
          </p:cNvSpPr>
          <p:nvPr>
            <p:ph idx="1"/>
          </p:nvPr>
        </p:nvSpPr>
        <p:spPr>
          <a:xfrm>
            <a:off x="293870" y="4057805"/>
            <a:ext cx="10995018" cy="2486923"/>
          </a:xfrm>
        </p:spPr>
        <p:txBody>
          <a:bodyPr rtlCol="0">
            <a:normAutofit/>
          </a:bodyPr>
          <a:lstStyle/>
          <a:p>
            <a:pPr marL="0" indent="0">
              <a:buNone/>
            </a:pPr>
            <a:r>
              <a:rPr lang="en-GB" sz="2000" b="1" dirty="0">
                <a:latin typeface="Calibri" panose="020F0502020204030204" pitchFamily="34" charset="0"/>
                <a:cs typeface="Calibri" panose="020F0502020204030204" pitchFamily="34" charset="0"/>
              </a:rPr>
              <a:t>In next week’s lecture, you will learn:</a:t>
            </a: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How Earth’s energy budget works, and what can disturb it</a:t>
            </a:r>
          </a:p>
          <a:p>
            <a:r>
              <a:rPr lang="en-GB" sz="2000" dirty="0">
                <a:latin typeface="Calibri" panose="020F0502020204030204" pitchFamily="34" charset="0"/>
                <a:cs typeface="Calibri" panose="020F0502020204030204" pitchFamily="34" charset="0"/>
              </a:rPr>
              <a:t>Human impacts on climate beyond CO₂ and methane</a:t>
            </a:r>
          </a:p>
          <a:p>
            <a:r>
              <a:rPr lang="en-GB" sz="2000" dirty="0">
                <a:latin typeface="Calibri" panose="020F0502020204030204" pitchFamily="34" charset="0"/>
                <a:cs typeface="Calibri" panose="020F0502020204030204" pitchFamily="34" charset="0"/>
              </a:rPr>
              <a:t>Which anthropogenic drivers matter most for climate change</a:t>
            </a:r>
          </a:p>
          <a:p>
            <a:r>
              <a:rPr lang="en-GB" sz="2000" dirty="0">
                <a:latin typeface="Calibri" panose="020F0502020204030204" pitchFamily="34" charset="0"/>
                <a:cs typeface="Calibri" panose="020F0502020204030204" pitchFamily="34" charset="0"/>
              </a:rPr>
              <a:t>The physical mechanisms behind these “other” human influences on climate</a:t>
            </a:r>
          </a:p>
        </p:txBody>
      </p:sp>
      <p:pic>
        <p:nvPicPr>
          <p:cNvPr id="5" name="Picture 2" descr="Places of Climate Change">
            <a:extLst>
              <a:ext uri="{FF2B5EF4-FFF2-40B4-BE49-F238E27FC236}">
                <a16:creationId xmlns:a16="http://schemas.microsoft.com/office/drawing/2014/main" id="{0E7323DA-2CFD-2387-B3D7-FFC7A6D8C7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2192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92EE434B-BF54-0D2B-1C60-07296D916036}"/>
              </a:ext>
            </a:extLst>
          </p:cNvPr>
          <p:cNvSpPr txBox="1"/>
          <p:nvPr/>
        </p:nvSpPr>
        <p:spPr>
          <a:xfrm>
            <a:off x="293870" y="2682459"/>
            <a:ext cx="12191999" cy="1179810"/>
          </a:xfrm>
          <a:prstGeom prst="rect">
            <a:avLst/>
          </a:prstGeom>
        </p:spPr>
        <p:txBody>
          <a:bodyPr wrap="square" lIns="0" tIns="0" rIns="0" bIns="0" rtlCol="0" anchor="t">
            <a:spAutoFit/>
          </a:bodyPr>
          <a:lstStyle/>
          <a:p>
            <a:pPr defTabSz="609660">
              <a:lnSpc>
                <a:spcPts val="4574"/>
              </a:lnSpc>
              <a:defRPr/>
            </a:pPr>
            <a:r>
              <a:rPr lang="en-US" sz="3600" i="1" spc="-275" dirty="0">
                <a:solidFill>
                  <a:prstClr val="white"/>
                </a:solidFill>
                <a:latin typeface="DM Sans Bold"/>
              </a:rPr>
              <a:t>Next Week: Anthropogenic Impacts </a:t>
            </a:r>
          </a:p>
          <a:p>
            <a:pPr defTabSz="609660">
              <a:lnSpc>
                <a:spcPts val="4574"/>
              </a:lnSpc>
              <a:defRPr/>
            </a:pPr>
            <a:endParaRPr lang="en-US" sz="4000" i="1" spc="-275" dirty="0">
              <a:solidFill>
                <a:prstClr val="white"/>
              </a:solidFill>
              <a:latin typeface="DM Sans Bold"/>
            </a:endParaRPr>
          </a:p>
        </p:txBody>
      </p:sp>
      <p:sp>
        <p:nvSpPr>
          <p:cNvPr id="8" name="Freeform 13">
            <a:extLst>
              <a:ext uri="{FF2B5EF4-FFF2-40B4-BE49-F238E27FC236}">
                <a16:creationId xmlns:a16="http://schemas.microsoft.com/office/drawing/2014/main" id="{3AFD2C1F-0CE2-C515-F07D-A179C1F1DDED}"/>
              </a:ext>
            </a:extLst>
          </p:cNvPr>
          <p:cNvSpPr/>
          <p:nvPr/>
        </p:nvSpPr>
        <p:spPr>
          <a:xfrm>
            <a:off x="9431867" y="371989"/>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60">
              <a:defRPr/>
            </a:pPr>
            <a:endParaRPr lang="en-GB" sz="1200">
              <a:solidFill>
                <a:prstClr val="black"/>
              </a:solidFill>
              <a:latin typeface="DM Sans" pitchFamily="2" charset="0"/>
            </a:endParaRPr>
          </a:p>
        </p:txBody>
      </p:sp>
    </p:spTree>
    <p:extLst>
      <p:ext uri="{BB962C8B-B14F-4D97-AF65-F5344CB8AC3E}">
        <p14:creationId xmlns:p14="http://schemas.microsoft.com/office/powerpoint/2010/main" val="19905022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954451E5-B158-3B70-86A4-00EDA8E3A94B}"/>
            </a:ext>
          </a:extLst>
        </p:cNvPr>
        <p:cNvGrpSpPr/>
        <p:nvPr/>
      </p:nvGrpSpPr>
      <p:grpSpPr>
        <a:xfrm>
          <a:off x="0" y="0"/>
          <a:ext cx="0" cy="0"/>
          <a:chOff x="0" y="0"/>
          <a:chExt cx="0" cy="0"/>
        </a:xfrm>
      </p:grpSpPr>
      <p:sp>
        <p:nvSpPr>
          <p:cNvPr id="13" name="Freeform 13">
            <a:extLst>
              <a:ext uri="{FF2B5EF4-FFF2-40B4-BE49-F238E27FC236}">
                <a16:creationId xmlns:a16="http://schemas.microsoft.com/office/drawing/2014/main" id="{F255A2D4-D613-BDBC-AE7F-77C87DD1367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14">
            <a:extLst>
              <a:ext uri="{FF2B5EF4-FFF2-40B4-BE49-F238E27FC236}">
                <a16:creationId xmlns:a16="http://schemas.microsoft.com/office/drawing/2014/main" id="{AA4401DC-A64F-FC89-9256-12FBBA2B2296}"/>
              </a:ext>
            </a:extLst>
          </p:cNvPr>
          <p:cNvSpPr txBox="1"/>
          <p:nvPr/>
        </p:nvSpPr>
        <p:spPr>
          <a:xfrm>
            <a:off x="914400" y="3429000"/>
            <a:ext cx="9842923" cy="917046"/>
          </a:xfrm>
          <a:prstGeom prst="rect">
            <a:avLst/>
          </a:prstGeom>
        </p:spPr>
        <p:txBody>
          <a:bodyPr wrap="square" lIns="0" tIns="0" rIns="0" bIns="0" rtlCol="0" anchor="t">
            <a:spAutoFit/>
          </a:bodyPr>
          <a:lstStyle/>
          <a:p>
            <a:pPr marL="0" marR="0" lvl="0" indent="0" algn="l" defTabSz="609630" rtl="0" eaLnBrk="1" fontAlgn="auto" latinLnBrk="0" hangingPunct="1">
              <a:lnSpc>
                <a:spcPts val="7333"/>
              </a:lnSpc>
              <a:spcBef>
                <a:spcPts val="0"/>
              </a:spcBef>
              <a:spcAft>
                <a:spcPts val="0"/>
              </a:spcAft>
              <a:buClrTx/>
              <a:buSzTx/>
              <a:buFontTx/>
              <a:buNone/>
              <a:tabLst/>
              <a:defRPr/>
            </a:pPr>
            <a:r>
              <a:rPr kumimoji="0" lang="en-GB" altLang="en-US" sz="5867" b="1" i="0" u="none" strike="noStrike" kern="1200" cap="none" spc="0" normalizeH="0" baseline="0" noProof="0" dirty="0">
                <a:ln>
                  <a:noFill/>
                </a:ln>
                <a:solidFill>
                  <a:prstClr val="white"/>
                </a:solidFill>
                <a:effectLst/>
                <a:uLnTx/>
                <a:uFillTx/>
                <a:latin typeface="DM Sans"/>
                <a:ea typeface="+mn-ea"/>
                <a:cs typeface="+mn-cs"/>
              </a:rPr>
              <a:t>Global Climate Change</a:t>
            </a:r>
            <a:endParaRPr kumimoji="0" lang="en-US" sz="5866" b="1" i="0" u="none" strike="noStrike" kern="1200" cap="none" spc="0" normalizeH="0" baseline="0" noProof="0" dirty="0">
              <a:ln>
                <a:noFill/>
              </a:ln>
              <a:solidFill>
                <a:prstClr val="white"/>
              </a:solidFill>
              <a:effectLst/>
              <a:uLnTx/>
              <a:uFillTx/>
              <a:latin typeface="DM Sans" pitchFamily="2" charset="0"/>
              <a:ea typeface="+mn-ea"/>
              <a:cs typeface="+mn-cs"/>
            </a:endParaRPr>
          </a:p>
        </p:txBody>
      </p:sp>
      <p:sp>
        <p:nvSpPr>
          <p:cNvPr id="3" name="TextBox 14">
            <a:extLst>
              <a:ext uri="{FF2B5EF4-FFF2-40B4-BE49-F238E27FC236}">
                <a16:creationId xmlns:a16="http://schemas.microsoft.com/office/drawing/2014/main" id="{E988E693-C905-C255-0B01-1B533A0EE32B}"/>
              </a:ext>
            </a:extLst>
          </p:cNvPr>
          <p:cNvSpPr txBox="1"/>
          <p:nvPr/>
        </p:nvSpPr>
        <p:spPr>
          <a:xfrm>
            <a:off x="914400" y="4170916"/>
            <a:ext cx="8207298" cy="1716432"/>
          </a:xfrm>
          <a:prstGeom prst="rect">
            <a:avLst/>
          </a:prstGeom>
        </p:spPr>
        <p:txBody>
          <a:bodyPr wrap="square" lIns="0" tIns="0" rIns="0" bIns="0" rtlCol="0" anchor="t">
            <a:spAutoFit/>
          </a:bodyPr>
          <a:lstStyle/>
          <a:p>
            <a:pPr marL="0" marR="0" lvl="0" indent="0" algn="l" defTabSz="609630" rtl="0" eaLnBrk="1" fontAlgn="auto" latinLnBrk="0" hangingPunct="1">
              <a:lnSpc>
                <a:spcPts val="7333"/>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Week 3 – Questions and Answers</a:t>
            </a:r>
          </a:p>
          <a:p>
            <a:pPr marL="0" marR="0" lvl="0" indent="0" algn="l" defTabSz="609630" rtl="0" eaLnBrk="1" fontAlgn="auto" latinLnBrk="0" hangingPunct="1">
              <a:lnSpc>
                <a:spcPts val="7333"/>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Dr Thomas </a:t>
            </a:r>
            <a:r>
              <a:rPr kumimoji="0" lang="en-US" sz="2133" b="1" i="0" u="none" strike="noStrike" kern="1200" cap="none" spc="0" normalizeH="0" baseline="0" noProof="0" dirty="0" err="1">
                <a:ln>
                  <a:noFill/>
                </a:ln>
                <a:solidFill>
                  <a:srgbClr val="FAB700"/>
                </a:solidFill>
                <a:effectLst/>
                <a:uLnTx/>
                <a:uFillTx/>
                <a:latin typeface="DM Sans" pitchFamily="2" charset="0"/>
                <a:ea typeface="+mn-ea"/>
                <a:cs typeface="+mn-cs"/>
              </a:rPr>
              <a:t>Bannan</a:t>
            </a: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 </a:t>
            </a:r>
          </a:p>
        </p:txBody>
      </p:sp>
      <p:sp>
        <p:nvSpPr>
          <p:cNvPr id="4" name="TextBox 3">
            <a:extLst>
              <a:ext uri="{FF2B5EF4-FFF2-40B4-BE49-F238E27FC236}">
                <a16:creationId xmlns:a16="http://schemas.microsoft.com/office/drawing/2014/main" id="{C35AA364-7475-E671-EE20-70A01B9FE11D}"/>
              </a:ext>
            </a:extLst>
          </p:cNvPr>
          <p:cNvSpPr txBox="1"/>
          <p:nvPr/>
        </p:nvSpPr>
        <p:spPr>
          <a:xfrm>
            <a:off x="845575" y="5983341"/>
            <a:ext cx="6031831" cy="338554"/>
          </a:xfrm>
          <a:prstGeom prst="rect">
            <a:avLst/>
          </a:prstGeom>
          <a:noFill/>
        </p:spPr>
        <p:txBody>
          <a:bodyPr wrap="square" rtlCol="0">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white"/>
                </a:solidFill>
                <a:effectLst/>
                <a:uLnTx/>
                <a:uFillTx/>
                <a:latin typeface="DM Sans"/>
                <a:ea typeface="+mn-ea"/>
                <a:cs typeface="+mn-cs"/>
              </a:rPr>
              <a:t>Thomas.Bannan@Manchester.ac.uk</a:t>
            </a:r>
            <a:endParaRPr kumimoji="0" lang="en-US" sz="1600" b="0" i="0" u="none" strike="noStrike" kern="1200" cap="none" spc="0" normalizeH="0" baseline="0" noProof="0" dirty="0">
              <a:ln>
                <a:noFill/>
              </a:ln>
              <a:solidFill>
                <a:prstClr val="white"/>
              </a:solidFill>
              <a:effectLst/>
              <a:uLnTx/>
              <a:uFillTx/>
              <a:latin typeface="DM Sans"/>
              <a:ea typeface="+mn-ea"/>
              <a:cs typeface="+mn-cs"/>
            </a:endParaRPr>
          </a:p>
        </p:txBody>
      </p:sp>
    </p:spTree>
    <p:extLst>
      <p:ext uri="{BB962C8B-B14F-4D97-AF65-F5344CB8AC3E}">
        <p14:creationId xmlns:p14="http://schemas.microsoft.com/office/powerpoint/2010/main" val="41853839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246F8-F635-4C41-E76E-93C63FF58C7A}"/>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D9D09D18-8D1B-ACAF-E3A3-5DDC26FFF41F}"/>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2F285E26-D170-C763-E2F6-20504F95C19B}"/>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Q1. </a:t>
            </a:r>
          </a:p>
        </p:txBody>
      </p:sp>
      <p:sp>
        <p:nvSpPr>
          <p:cNvPr id="6" name="TextBox 5">
            <a:extLst>
              <a:ext uri="{FF2B5EF4-FFF2-40B4-BE49-F238E27FC236}">
                <a16:creationId xmlns:a16="http://schemas.microsoft.com/office/drawing/2014/main" id="{3835EFB9-1494-DE24-35FD-6D938CFCB51C}"/>
              </a:ext>
            </a:extLst>
          </p:cNvPr>
          <p:cNvSpPr txBox="1"/>
          <p:nvPr/>
        </p:nvSpPr>
        <p:spPr>
          <a:xfrm>
            <a:off x="373943" y="1401058"/>
            <a:ext cx="10315047"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GB" dirty="0">
                <a:solidFill>
                  <a:prstClr val="black"/>
                </a:solidFill>
                <a:latin typeface="Calibri" panose="020F0502020204030204" pitchFamily="34" charset="0"/>
                <a:ea typeface="ＭＳ Ｐゴシック" charset="0"/>
                <a:cs typeface="Calibri" panose="020F0502020204030204" pitchFamily="34" charset="0"/>
              </a:rPr>
              <a:t>What is meant by climate change? </a:t>
            </a: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charset="0"/>
              <a:cs typeface="Calibri" panose="020F0502020204030204" pitchFamily="34" charset="0"/>
            </a:endParaRPr>
          </a:p>
        </p:txBody>
      </p:sp>
    </p:spTree>
    <p:extLst>
      <p:ext uri="{BB962C8B-B14F-4D97-AF65-F5344CB8AC3E}">
        <p14:creationId xmlns:p14="http://schemas.microsoft.com/office/powerpoint/2010/main" val="9174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6798-5F2D-8D6E-38E7-516582793C25}"/>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A73CCA-F1E8-5E6E-E878-5B4B6371D392}"/>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8704B95F-2664-4705-EFCB-2B03D214D28C}"/>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Q2. </a:t>
            </a:r>
          </a:p>
        </p:txBody>
      </p:sp>
      <p:sp>
        <p:nvSpPr>
          <p:cNvPr id="6" name="TextBox 5">
            <a:extLst>
              <a:ext uri="{FF2B5EF4-FFF2-40B4-BE49-F238E27FC236}">
                <a16:creationId xmlns:a16="http://schemas.microsoft.com/office/drawing/2014/main" id="{40D441AE-C80B-6F05-FF82-388656C0B210}"/>
              </a:ext>
            </a:extLst>
          </p:cNvPr>
          <p:cNvSpPr txBox="1"/>
          <p:nvPr/>
        </p:nvSpPr>
        <p:spPr>
          <a:xfrm>
            <a:off x="389465" y="1412776"/>
            <a:ext cx="6098344" cy="70788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1F1F1F"/>
                </a:solidFill>
                <a:effectLst/>
                <a:uLnTx/>
                <a:uFillTx/>
                <a:latin typeface="Calibri" panose="020F0502020204030204" pitchFamily="34" charset="0"/>
                <a:ea typeface="ＭＳ Ｐゴシック" panose="020B0600070205080204" pitchFamily="34" charset="-128"/>
                <a:cs typeface="Calibri" panose="020F0502020204030204" pitchFamily="34" charset="0"/>
              </a:rPr>
              <a:t>Discuss and provide examples of aerosol impacts on air quality and health.</a:t>
            </a: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pic>
        <p:nvPicPr>
          <p:cNvPr id="11" name="Picture 10" descr="A city with a city in the background&#10;&#10;Description automatically generated">
            <a:extLst>
              <a:ext uri="{FF2B5EF4-FFF2-40B4-BE49-F238E27FC236}">
                <a16:creationId xmlns:a16="http://schemas.microsoft.com/office/drawing/2014/main" id="{E911F40D-7092-8349-7E76-CE18E580CECD}"/>
              </a:ext>
            </a:extLst>
          </p:cNvPr>
          <p:cNvPicPr>
            <a:picLocks noChangeAspect="1"/>
          </p:cNvPicPr>
          <p:nvPr/>
        </p:nvPicPr>
        <p:blipFill>
          <a:blip r:embed="rId4"/>
          <a:stretch>
            <a:fillRect/>
          </a:stretch>
        </p:blipFill>
        <p:spPr>
          <a:xfrm>
            <a:off x="422043" y="2420888"/>
            <a:ext cx="5778231" cy="3456384"/>
          </a:xfrm>
          <a:prstGeom prst="rect">
            <a:avLst/>
          </a:prstGeom>
        </p:spPr>
      </p:pic>
    </p:spTree>
    <p:extLst>
      <p:ext uri="{BB962C8B-B14F-4D97-AF65-F5344CB8AC3E}">
        <p14:creationId xmlns:p14="http://schemas.microsoft.com/office/powerpoint/2010/main" val="37694615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1315F-41CD-CDEA-8E40-0918B950BEFB}"/>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7E9CACAA-9647-403D-AF23-6A700AA949C7}"/>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707CF0C9-AA87-BD01-02F3-3446E91D9F6E}"/>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Q3. </a:t>
            </a:r>
          </a:p>
        </p:txBody>
      </p:sp>
      <p:sp>
        <p:nvSpPr>
          <p:cNvPr id="6" name="TextBox 5">
            <a:extLst>
              <a:ext uri="{FF2B5EF4-FFF2-40B4-BE49-F238E27FC236}">
                <a16:creationId xmlns:a16="http://schemas.microsoft.com/office/drawing/2014/main" id="{1DC8F224-55EE-B43B-7F59-BA33719D2DA0}"/>
              </a:ext>
            </a:extLst>
          </p:cNvPr>
          <p:cNvSpPr txBox="1"/>
          <p:nvPr/>
        </p:nvSpPr>
        <p:spPr>
          <a:xfrm>
            <a:off x="373943" y="1401058"/>
            <a:ext cx="10315047"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GB" dirty="0">
                <a:solidFill>
                  <a:prstClr val="black"/>
                </a:solidFill>
                <a:latin typeface="Calibri" panose="020F0502020204030204" pitchFamily="34" charset="0"/>
                <a:ea typeface="ＭＳ Ｐゴシック" charset="0"/>
                <a:cs typeface="Calibri" panose="020F0502020204030204" pitchFamily="34" charset="0"/>
              </a:rPr>
              <a:t>Atmospheric particles (aerosols) such as </a:t>
            </a:r>
            <a:r>
              <a:rPr lang="en-GB" dirty="0" err="1">
                <a:solidFill>
                  <a:prstClr val="black"/>
                </a:solidFill>
                <a:latin typeface="Calibri" panose="020F0502020204030204" pitchFamily="34" charset="0"/>
                <a:ea typeface="ＭＳ Ｐゴシック" charset="0"/>
                <a:cs typeface="Calibri" panose="020F0502020204030204" pitchFamily="34" charset="0"/>
              </a:rPr>
              <a:t>sulfate</a:t>
            </a:r>
            <a:r>
              <a:rPr lang="en-GB" dirty="0">
                <a:solidFill>
                  <a:prstClr val="black"/>
                </a:solidFill>
                <a:latin typeface="Calibri" panose="020F0502020204030204" pitchFamily="34" charset="0"/>
                <a:ea typeface="ＭＳ Ｐゴシック" charset="0"/>
                <a:cs typeface="Calibri" panose="020F0502020204030204" pitchFamily="34" charset="0"/>
              </a:rPr>
              <a:t>, nitrate, organic carbon, and black carbon are a major component of air pollution and are linked to adverse human health outcomes. As a result, air-quality regulations around the world aim to reduce particle concentrations, particularly PM2.5. Why might reducing atmospheric particle concentrations lead to clear air-quality benefits but also create climate disbenefits? What effects might this have on the climate system? </a:t>
            </a:r>
          </a:p>
        </p:txBody>
      </p:sp>
    </p:spTree>
    <p:extLst>
      <p:ext uri="{BB962C8B-B14F-4D97-AF65-F5344CB8AC3E}">
        <p14:creationId xmlns:p14="http://schemas.microsoft.com/office/powerpoint/2010/main" val="7667336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06A49-469A-F92C-B400-FA78F16CF2FA}"/>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20553D8-F11A-0926-24CE-AF1F7157DA4C}"/>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FDA722D3-6445-25CE-F10A-11FF5F7BC2A2}"/>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Q4.</a:t>
            </a:r>
          </a:p>
        </p:txBody>
      </p:sp>
      <p:sp>
        <p:nvSpPr>
          <p:cNvPr id="2" name="TextBox 1">
            <a:extLst>
              <a:ext uri="{FF2B5EF4-FFF2-40B4-BE49-F238E27FC236}">
                <a16:creationId xmlns:a16="http://schemas.microsoft.com/office/drawing/2014/main" id="{251E2249-0E2F-2218-7B77-7D0BBBFD7EEE}"/>
              </a:ext>
            </a:extLst>
          </p:cNvPr>
          <p:cNvSpPr txBox="1"/>
          <p:nvPr/>
        </p:nvSpPr>
        <p:spPr>
          <a:xfrm>
            <a:off x="8333440" y="1299079"/>
            <a:ext cx="4236392" cy="163121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2000" b="0" i="0" u="none" strike="noStrike" kern="1200" cap="none" spc="0" normalizeH="0" baseline="0" noProof="0" dirty="0">
              <a:ln>
                <a:noFill/>
              </a:ln>
              <a:solidFill>
                <a:srgbClr val="C0504D"/>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 name="TextBox 3">
            <a:extLst>
              <a:ext uri="{FF2B5EF4-FFF2-40B4-BE49-F238E27FC236}">
                <a16:creationId xmlns:a16="http://schemas.microsoft.com/office/drawing/2014/main" id="{3B16140C-8BE2-E30A-2EA9-A159E340D6B2}"/>
              </a:ext>
            </a:extLst>
          </p:cNvPr>
          <p:cNvSpPr txBox="1"/>
          <p:nvPr/>
        </p:nvSpPr>
        <p:spPr>
          <a:xfrm>
            <a:off x="389464" y="1452967"/>
            <a:ext cx="10505276"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800" b="0" i="0" u="none" strike="noStrike" kern="1200" cap="none" spc="0" normalizeH="0" baseline="0" noProof="0" dirty="0" err="1">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Sulfate</a:t>
            </a: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 aerosols originates from atmospheric oxidation of SO</a:t>
            </a:r>
            <a:r>
              <a:rPr kumimoji="0" lang="en-GB" sz="1800" b="0" i="0" u="none" strike="noStrike" kern="1200" cap="none" spc="0" normalizeH="0" baseline="-2500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2</a:t>
            </a: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 This is a global picture of SO</a:t>
            </a:r>
            <a:r>
              <a:rPr kumimoji="0" lang="en-GB" sz="1800" b="0" i="0" u="none" strike="noStrike" kern="1200" cap="none" spc="0" normalizeH="0" baseline="-2500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2</a:t>
            </a: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 emissions. Recently new legislation was passed to reduce SO</a:t>
            </a:r>
            <a:r>
              <a:rPr kumimoji="0" lang="en-GB" sz="1800" b="0" i="0" u="none" strike="noStrike" kern="1200" cap="none" spc="0" normalizeH="0" baseline="-2500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2</a:t>
            </a: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 emissions from shipping.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What impact might this have? What could the unintended consequences of this be? It is worth improving air quality over the ocean? </a:t>
            </a:r>
          </a:p>
        </p:txBody>
      </p:sp>
      <p:pic>
        <p:nvPicPr>
          <p:cNvPr id="6" name="Picture 2" descr="http://edgar.jrc.ec.europa.eu/edgar_album/v431_v2/SO2/TOTALS/v431_v2_REFERENCE_SO2_2010.png">
            <a:extLst>
              <a:ext uri="{FF2B5EF4-FFF2-40B4-BE49-F238E27FC236}">
                <a16:creationId xmlns:a16="http://schemas.microsoft.com/office/drawing/2014/main" id="{7EC87435-85EA-B2E4-D6E4-C91D0AAE219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11520"/>
          <a:stretch>
            <a:fillRect/>
          </a:stretch>
        </p:blipFill>
        <p:spPr bwMode="auto">
          <a:xfrm>
            <a:off x="389464" y="3267308"/>
            <a:ext cx="7416263" cy="296845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poster of a fuel oil industry&#10;&#10;AI-generated content may be incorrect.">
            <a:extLst>
              <a:ext uri="{FF2B5EF4-FFF2-40B4-BE49-F238E27FC236}">
                <a16:creationId xmlns:a16="http://schemas.microsoft.com/office/drawing/2014/main" id="{6464E938-F670-7705-48EC-F55A5317F2CE}"/>
              </a:ext>
            </a:extLst>
          </p:cNvPr>
          <p:cNvPicPr>
            <a:picLocks noChangeAspect="1"/>
          </p:cNvPicPr>
          <p:nvPr/>
        </p:nvPicPr>
        <p:blipFill>
          <a:blip r:embed="rId5"/>
          <a:stretch>
            <a:fillRect/>
          </a:stretch>
        </p:blipFill>
        <p:spPr>
          <a:xfrm>
            <a:off x="7877940" y="3267308"/>
            <a:ext cx="4197499" cy="2968455"/>
          </a:xfrm>
          <a:prstGeom prst="rect">
            <a:avLst/>
          </a:prstGeom>
        </p:spPr>
      </p:pic>
    </p:spTree>
    <p:extLst>
      <p:ext uri="{BB962C8B-B14F-4D97-AF65-F5344CB8AC3E}">
        <p14:creationId xmlns:p14="http://schemas.microsoft.com/office/powerpoint/2010/main" val="40916268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FCE2C-BC7C-0A4F-02DD-BA0A3F616C7B}"/>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510690D-EEE9-16EB-974A-B69609B96821}"/>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67F9F8C4-E594-3575-DF78-8EF0FC26DDB4}"/>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Q5. </a:t>
            </a:r>
          </a:p>
        </p:txBody>
      </p:sp>
      <p:sp>
        <p:nvSpPr>
          <p:cNvPr id="6" name="TextBox 5">
            <a:extLst>
              <a:ext uri="{FF2B5EF4-FFF2-40B4-BE49-F238E27FC236}">
                <a16:creationId xmlns:a16="http://schemas.microsoft.com/office/drawing/2014/main" id="{603FEA0E-9FF5-3109-2851-AA499FC864EA}"/>
              </a:ext>
            </a:extLst>
          </p:cNvPr>
          <p:cNvSpPr txBox="1"/>
          <p:nvPr/>
        </p:nvSpPr>
        <p:spPr>
          <a:xfrm>
            <a:off x="373943" y="1401058"/>
            <a:ext cx="10315047"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charset="0"/>
                <a:cs typeface="Calibri" panose="020F0502020204030204" pitchFamily="34" charset="0"/>
              </a:rPr>
              <a:t>Ozone absorbs both UV and IR radiation. What is the effect on the environment of each? </a:t>
            </a:r>
            <a:b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br>
            <a:b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b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charset="0"/>
                <a:cs typeface="Calibri" panose="020F0502020204030204" pitchFamily="34" charset="0"/>
              </a:rPr>
              <a:t>How would the climate differ if the IR absorption band of ozone didn’t exist?</a:t>
            </a:r>
          </a:p>
        </p:txBody>
      </p:sp>
    </p:spTree>
    <p:extLst>
      <p:ext uri="{BB962C8B-B14F-4D97-AF65-F5344CB8AC3E}">
        <p14:creationId xmlns:p14="http://schemas.microsoft.com/office/powerpoint/2010/main" val="648388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DA019-8A57-5B6E-C698-5894A9E4D34B}"/>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D6C5280C-D9B7-157A-BC77-794AB059147F}"/>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3ACE855A-2773-6CD3-7CF0-CAE7850F3ED0}"/>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Q6. </a:t>
            </a:r>
          </a:p>
        </p:txBody>
      </p:sp>
      <p:sp>
        <p:nvSpPr>
          <p:cNvPr id="4" name="TextBox 3">
            <a:extLst>
              <a:ext uri="{FF2B5EF4-FFF2-40B4-BE49-F238E27FC236}">
                <a16:creationId xmlns:a16="http://schemas.microsoft.com/office/drawing/2014/main" id="{2E8A0995-470E-22C9-7D05-8A1225FB5AB0}"/>
              </a:ext>
            </a:extLst>
          </p:cNvPr>
          <p:cNvSpPr txBox="1"/>
          <p:nvPr/>
        </p:nvSpPr>
        <p:spPr>
          <a:xfrm>
            <a:off x="385410" y="1435600"/>
            <a:ext cx="10552338" cy="400110"/>
          </a:xfrm>
          <a:prstGeom prst="rect">
            <a:avLst/>
          </a:prstGeom>
          <a:noFill/>
        </p:spPr>
        <p:txBody>
          <a:bodyPr wrap="square">
            <a:spAutoFit/>
          </a:bodyPr>
          <a:lstStyle/>
          <a:p>
            <a:r>
              <a:rPr lang="en-GB" sz="2000" b="1" dirty="0">
                <a:latin typeface="Calibri" panose="020F0502020204030204" pitchFamily="34" charset="0"/>
                <a:cs typeface="Calibri" panose="020F0502020204030204" pitchFamily="34" charset="0"/>
              </a:rPr>
              <a:t>Can you use the graph below to estimate the surface temperature of the sun?</a:t>
            </a:r>
          </a:p>
        </p:txBody>
      </p:sp>
      <p:pic>
        <p:nvPicPr>
          <p:cNvPr id="2" name="Picture 4" descr="A picture containing chart&#10;&#10;Description automatically generated">
            <a:extLst>
              <a:ext uri="{FF2B5EF4-FFF2-40B4-BE49-F238E27FC236}">
                <a16:creationId xmlns:a16="http://schemas.microsoft.com/office/drawing/2014/main" id="{3F960E47-60D4-BB16-C890-342B777F2B0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67" t="44133"/>
          <a:stretch>
            <a:fillRect/>
          </a:stretch>
        </p:blipFill>
        <p:spPr bwMode="auto">
          <a:xfrm>
            <a:off x="385410" y="1835710"/>
            <a:ext cx="7074009" cy="265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62483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FF60E-785E-8739-F5DF-B6A54017589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939443E-626D-F817-C856-595B6DA58335}"/>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92410B6D-3810-8AC0-29D4-AE6AEC52D7CD}"/>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Q7.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F39DF1C-998F-706C-8ACC-40416ED3D467}"/>
                  </a:ext>
                </a:extLst>
              </p:cNvPr>
              <p:cNvSpPr txBox="1"/>
              <p:nvPr/>
            </p:nvSpPr>
            <p:spPr>
              <a:xfrm>
                <a:off x="389465" y="1329323"/>
                <a:ext cx="11576758" cy="2099677"/>
              </a:xfrm>
              <a:prstGeom prst="rect">
                <a:avLst/>
              </a:prstGeom>
              <a:noFill/>
            </p:spPr>
            <p:txBody>
              <a:bodyPr wrap="square">
                <a:spAutoFit/>
              </a:bodyPr>
              <a:lstStyle/>
              <a:p>
                <a:r>
                  <a:rPr lang="en-GB" sz="1800" b="0" i="0" kern="1200" dirty="0">
                    <a:solidFill>
                      <a:schemeClr val="tx1"/>
                    </a:solidFill>
                    <a:effectLst/>
                    <a:latin typeface="Calibri" panose="020F0502020204030204" pitchFamily="34" charset="0"/>
                    <a:cs typeface="Calibri" panose="020F0502020204030204" pitchFamily="34" charset="0"/>
                  </a:rPr>
                  <a:t>Radiative forcing due to changes in atmospheric CO₂ concentration can be approximated using the relationship:</a:t>
                </a:r>
              </a:p>
              <a:p>
                <a:pPr/>
                <a14:m>
                  <m:oMathPara xmlns:m="http://schemas.openxmlformats.org/officeDocument/2006/math">
                    <m:oMathParaPr>
                      <m:jc m:val="centerGroup"/>
                    </m:oMathParaPr>
                    <m:oMath xmlns:m="http://schemas.openxmlformats.org/officeDocument/2006/math">
                      <m:r>
                        <m:rPr>
                          <m:sty m:val="p"/>
                        </m:rPr>
                        <a:rPr lang="el-GR" sz="1800" kern="1200">
                          <a:solidFill>
                            <a:schemeClr val="tx1"/>
                          </a:solidFill>
                          <a:latin typeface="Cambria Math" panose="02040503050406030204" pitchFamily="18" charset="0"/>
                        </a:rPr>
                        <m:t>Δ</m:t>
                      </m:r>
                      <m:r>
                        <a:rPr lang="el-GR" sz="1800" i="1" kern="1200">
                          <a:solidFill>
                            <a:schemeClr val="tx1"/>
                          </a:solidFill>
                          <a:latin typeface="Cambria Math" panose="02040503050406030204" pitchFamily="18" charset="0"/>
                        </a:rPr>
                        <m:t>𝐹</m:t>
                      </m:r>
                      <m:r>
                        <a:rPr lang="el-GR" sz="1800" i="0" kern="1200">
                          <a:solidFill>
                            <a:schemeClr val="tx1"/>
                          </a:solidFill>
                          <a:latin typeface="Cambria Math" panose="02040503050406030204" pitchFamily="18" charset="0"/>
                        </a:rPr>
                        <m:t>=5.25×</m:t>
                      </m:r>
                      <m:func>
                        <m:funcPr>
                          <m:ctrlPr>
                            <a:rPr lang="ar-AE" sz="1800" i="1" kern="1200">
                              <a:solidFill>
                                <a:schemeClr val="tx1"/>
                              </a:solidFill>
                              <a:latin typeface="Cambria Math" panose="02040503050406030204" pitchFamily="18" charset="0"/>
                            </a:rPr>
                          </m:ctrlPr>
                        </m:funcPr>
                        <m:fName>
                          <m:r>
                            <m:rPr>
                              <m:sty m:val="p"/>
                            </m:rPr>
                            <a:rPr lang="en-GB" sz="1800" i="0" kern="1200">
                              <a:solidFill>
                                <a:schemeClr val="tx1"/>
                              </a:solidFill>
                              <a:latin typeface="Cambria Math" panose="02040503050406030204" pitchFamily="18" charset="0"/>
                            </a:rPr>
                            <m:t>ln</m:t>
                          </m:r>
                        </m:fName>
                        <m:e>
                          <m:d>
                            <m:dPr>
                              <m:ctrlPr>
                                <a:rPr lang="ar-AE" sz="1800" i="1" kern="1200">
                                  <a:solidFill>
                                    <a:schemeClr val="tx1"/>
                                  </a:solidFill>
                                  <a:latin typeface="Cambria Math" panose="02040503050406030204" pitchFamily="18" charset="0"/>
                                </a:rPr>
                              </m:ctrlPr>
                            </m:dPr>
                            <m:e>
                              <m:f>
                                <m:fPr>
                                  <m:ctrlPr>
                                    <a:rPr lang="ar-AE" sz="1800" i="1" kern="1200">
                                      <a:solidFill>
                                        <a:schemeClr val="tx1"/>
                                      </a:solidFill>
                                      <a:latin typeface="Cambria Math" panose="02040503050406030204" pitchFamily="18" charset="0"/>
                                    </a:rPr>
                                  </m:ctrlPr>
                                </m:fPr>
                                <m:num>
                                  <m:r>
                                    <a:rPr lang="ar-AE" sz="1800" i="1" kern="1200">
                                      <a:solidFill>
                                        <a:schemeClr val="tx1"/>
                                      </a:solidFill>
                                      <a:latin typeface="Cambria Math" panose="02040503050406030204" pitchFamily="18" charset="0"/>
                                    </a:rPr>
                                    <m:t>𝐶</m:t>
                                  </m:r>
                                  <m:d>
                                    <m:dPr>
                                      <m:ctrlPr>
                                        <a:rPr lang="ar-AE" sz="1800" i="1" kern="1200">
                                          <a:solidFill>
                                            <a:schemeClr val="tx1"/>
                                          </a:solidFill>
                                          <a:latin typeface="Cambria Math" panose="02040503050406030204" pitchFamily="18" charset="0"/>
                                        </a:rPr>
                                      </m:ctrlPr>
                                    </m:dPr>
                                    <m:e>
                                      <m:r>
                                        <a:rPr lang="ar-AE" sz="1800" i="1" kern="1200">
                                          <a:solidFill>
                                            <a:schemeClr val="tx1"/>
                                          </a:solidFill>
                                          <a:latin typeface="Cambria Math" panose="02040503050406030204" pitchFamily="18" charset="0"/>
                                        </a:rPr>
                                        <m:t>𝑡</m:t>
                                      </m:r>
                                    </m:e>
                                  </m:d>
                                </m:num>
                                <m:den>
                                  <m:sSub>
                                    <m:sSubPr>
                                      <m:ctrlPr>
                                        <a:rPr lang="ar-AE" sz="1800" i="1" kern="120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𝐶</m:t>
                                      </m:r>
                                    </m:e>
                                    <m:sub>
                                      <m:r>
                                        <a:rPr lang="ar-AE" sz="1800" i="0" kern="1200">
                                          <a:solidFill>
                                            <a:schemeClr val="tx1"/>
                                          </a:solidFill>
                                          <a:latin typeface="Cambria Math" panose="02040503050406030204" pitchFamily="18" charset="0"/>
                                        </a:rPr>
                                        <m:t>0</m:t>
                                      </m:r>
                                    </m:sub>
                                  </m:sSub>
                                </m:den>
                              </m:f>
                            </m:e>
                          </m:d>
                        </m:e>
                      </m:func>
                    </m:oMath>
                  </m:oMathPara>
                </a14:m>
                <a:endParaRPr lang="en-GB" dirty="0">
                  <a:latin typeface="Calibri" panose="020F0502020204030204" pitchFamily="34" charset="0"/>
                  <a:cs typeface="Calibri" panose="020F0502020204030204" pitchFamily="34" charset="0"/>
                </a:endParaRPr>
              </a:p>
              <a:p>
                <a:r>
                  <a:rPr lang="en-GB" sz="1800" b="0" i="0" kern="1200" dirty="0">
                    <a:solidFill>
                      <a:schemeClr val="tx1"/>
                    </a:solidFill>
                    <a:effectLst/>
                    <a:latin typeface="Calibri" panose="020F0502020204030204" pitchFamily="34" charset="0"/>
                    <a:cs typeface="Calibri" panose="020F0502020204030204" pitchFamily="34" charset="0"/>
                  </a:rPr>
                  <a:t>where:</a:t>
                </a:r>
              </a:p>
              <a:p>
                <a14:m>
                  <m:oMath xmlns:m="http://schemas.openxmlformats.org/officeDocument/2006/math">
                    <m:sSub>
                      <m:sSubPr>
                        <m:ctrlPr>
                          <a:rPr lang="ar-AE" sz="1800" i="1" kern="120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𝐶</m:t>
                        </m:r>
                      </m:e>
                      <m:sub>
                        <m:r>
                          <a:rPr lang="ar-AE" sz="1800" i="0" kern="1200">
                            <a:solidFill>
                              <a:schemeClr val="tx1"/>
                            </a:solidFill>
                            <a:latin typeface="Cambria Math" panose="02040503050406030204" pitchFamily="18" charset="0"/>
                          </a:rPr>
                          <m:t>0</m:t>
                        </m:r>
                      </m:sub>
                    </m:sSub>
                  </m:oMath>
                </a14:m>
                <a:r>
                  <a:rPr lang="ar-AE" sz="1800" b="0" i="0" kern="1200" dirty="0">
                    <a:solidFill>
                      <a:schemeClr val="tx1"/>
                    </a:solidFill>
                    <a:effectLst/>
                    <a:latin typeface="Calibri" panose="020F0502020204030204" pitchFamily="34" charset="0"/>
                    <a:cs typeface="Calibri" panose="020F0502020204030204" pitchFamily="34" charset="0"/>
                  </a:rPr>
                  <a:t> </a:t>
                </a:r>
                <a:r>
                  <a:rPr lang="en-GB" sz="1800" b="0" i="0" kern="1200" dirty="0">
                    <a:solidFill>
                      <a:schemeClr val="tx1"/>
                    </a:solidFill>
                    <a:effectLst/>
                    <a:latin typeface="Calibri" panose="020F0502020204030204" pitchFamily="34" charset="0"/>
                    <a:cs typeface="Calibri" panose="020F0502020204030204" pitchFamily="34" charset="0"/>
                  </a:rPr>
                  <a:t>is the initial CO₂ concentration (</a:t>
                </a:r>
                <a:r>
                  <a:rPr lang="en-GB" sz="1800" b="0" i="0" kern="1200" dirty="0" err="1">
                    <a:solidFill>
                      <a:schemeClr val="tx1"/>
                    </a:solidFill>
                    <a:effectLst/>
                    <a:latin typeface="Calibri" panose="020F0502020204030204" pitchFamily="34" charset="0"/>
                    <a:cs typeface="Calibri" panose="020F0502020204030204" pitchFamily="34" charset="0"/>
                  </a:rPr>
                  <a:t>ppmv</a:t>
                </a:r>
                <a:r>
                  <a:rPr lang="en-GB" sz="1800" b="0" i="0" kern="1200" dirty="0">
                    <a:solidFill>
                      <a:schemeClr val="tx1"/>
                    </a:solidFill>
                    <a:effectLst/>
                    <a:latin typeface="Calibri" panose="020F0502020204030204" pitchFamily="34" charset="0"/>
                    <a:cs typeface="Calibri" panose="020F0502020204030204" pitchFamily="34" charset="0"/>
                  </a:rPr>
                  <a:t>), </a:t>
                </a:r>
                <a14:m>
                  <m:oMath xmlns:m="http://schemas.openxmlformats.org/officeDocument/2006/math">
                    <m:r>
                      <a:rPr lang="en-GB" sz="1800" i="1" kern="1200">
                        <a:solidFill>
                          <a:schemeClr val="tx1"/>
                        </a:solidFill>
                        <a:latin typeface="Cambria Math" panose="02040503050406030204" pitchFamily="18" charset="0"/>
                      </a:rPr>
                      <m:t>𝐶</m:t>
                    </m:r>
                    <m:d>
                      <m:dPr>
                        <m:ctrlPr>
                          <a:rPr lang="ar-AE" sz="1800" i="1" kern="1200">
                            <a:solidFill>
                              <a:schemeClr val="tx1"/>
                            </a:solidFill>
                            <a:latin typeface="Cambria Math" panose="02040503050406030204" pitchFamily="18" charset="0"/>
                          </a:rPr>
                        </m:ctrlPr>
                      </m:dPr>
                      <m:e>
                        <m:r>
                          <a:rPr lang="ar-AE" sz="1800" i="1" kern="1200">
                            <a:solidFill>
                              <a:schemeClr val="tx1"/>
                            </a:solidFill>
                            <a:latin typeface="Cambria Math" panose="02040503050406030204" pitchFamily="18" charset="0"/>
                          </a:rPr>
                          <m:t>𝑡</m:t>
                        </m:r>
                      </m:e>
                    </m:d>
                  </m:oMath>
                </a14:m>
                <a:r>
                  <a:rPr lang="ar-AE" sz="1800" b="0" i="0" kern="1200" dirty="0">
                    <a:solidFill>
                      <a:schemeClr val="tx1"/>
                    </a:solidFill>
                    <a:effectLst/>
                    <a:latin typeface="Calibri" panose="020F0502020204030204" pitchFamily="34" charset="0"/>
                    <a:cs typeface="Calibri" panose="020F0502020204030204" pitchFamily="34" charset="0"/>
                  </a:rPr>
                  <a:t> </a:t>
                </a:r>
                <a:r>
                  <a:rPr lang="en-GB" sz="1800" b="0" i="0" kern="1200" dirty="0">
                    <a:solidFill>
                      <a:schemeClr val="tx1"/>
                    </a:solidFill>
                    <a:effectLst/>
                    <a:latin typeface="Calibri" panose="020F0502020204030204" pitchFamily="34" charset="0"/>
                    <a:cs typeface="Calibri" panose="020F0502020204030204" pitchFamily="34" charset="0"/>
                  </a:rPr>
                  <a:t>is the later CO₂ concentration (</a:t>
                </a:r>
                <a:r>
                  <a:rPr lang="en-GB" sz="1800" b="0" i="0" kern="1200" dirty="0" err="1">
                    <a:solidFill>
                      <a:schemeClr val="tx1"/>
                    </a:solidFill>
                    <a:effectLst/>
                    <a:latin typeface="Calibri" panose="020F0502020204030204" pitchFamily="34" charset="0"/>
                    <a:cs typeface="Calibri" panose="020F0502020204030204" pitchFamily="34" charset="0"/>
                  </a:rPr>
                  <a:t>ppmv</a:t>
                </a:r>
                <a:r>
                  <a:rPr lang="en-GB" sz="1800" b="0" i="0" kern="1200" dirty="0">
                    <a:solidFill>
                      <a:schemeClr val="tx1"/>
                    </a:solidFill>
                    <a:effectLst/>
                    <a:latin typeface="Calibri" panose="020F0502020204030204" pitchFamily="34" charset="0"/>
                    <a:cs typeface="Calibri" panose="020F0502020204030204" pitchFamily="34" charset="0"/>
                  </a:rPr>
                  <a:t>), </a:t>
                </a:r>
                <a14:m>
                  <m:oMath xmlns:m="http://schemas.openxmlformats.org/officeDocument/2006/math">
                    <m:r>
                      <m:rPr>
                        <m:sty m:val="p"/>
                      </m:rPr>
                      <a:rPr lang="el-GR" sz="1800" kern="1200">
                        <a:solidFill>
                          <a:schemeClr val="tx1"/>
                        </a:solidFill>
                        <a:latin typeface="Cambria Math" panose="02040503050406030204" pitchFamily="18" charset="0"/>
                      </a:rPr>
                      <m:t>Δ</m:t>
                    </m:r>
                    <m:r>
                      <a:rPr lang="el-GR" sz="1800" i="1" kern="1200">
                        <a:solidFill>
                          <a:schemeClr val="tx1"/>
                        </a:solidFill>
                        <a:latin typeface="Cambria Math" panose="02040503050406030204" pitchFamily="18" charset="0"/>
                      </a:rPr>
                      <m:t>𝐹</m:t>
                    </m:r>
                  </m:oMath>
                </a14:m>
                <a:r>
                  <a:rPr lang="el-GR" sz="1800" b="0" i="0" kern="1200" dirty="0">
                    <a:solidFill>
                      <a:schemeClr val="tx1"/>
                    </a:solidFill>
                    <a:effectLst/>
                    <a:latin typeface="Calibri" panose="020F0502020204030204" pitchFamily="34" charset="0"/>
                    <a:cs typeface="Calibri" panose="020F0502020204030204" pitchFamily="34" charset="0"/>
                  </a:rPr>
                  <a:t> </a:t>
                </a:r>
                <a:r>
                  <a:rPr lang="en-GB" sz="1800" b="0" i="0" kern="1200" dirty="0">
                    <a:solidFill>
                      <a:schemeClr val="tx1"/>
                    </a:solidFill>
                    <a:effectLst/>
                    <a:latin typeface="Calibri" panose="020F0502020204030204" pitchFamily="34" charset="0"/>
                    <a:cs typeface="Calibri" panose="020F0502020204030204" pitchFamily="34" charset="0"/>
                  </a:rPr>
                  <a:t>is the radiative forcing in W m⁻².</a:t>
                </a:r>
              </a:p>
              <a:p>
                <a:r>
                  <a:rPr lang="en-GB" sz="1800" b="0" i="0" kern="1200" dirty="0">
                    <a:solidFill>
                      <a:schemeClr val="tx1"/>
                    </a:solidFill>
                    <a:effectLst/>
                    <a:latin typeface="Calibri" panose="020F0502020204030204" pitchFamily="34" charset="0"/>
                    <a:cs typeface="Calibri" panose="020F0502020204030204" pitchFamily="34" charset="0"/>
                  </a:rPr>
                  <a:t>Atmospheric CO₂ concentration was </a:t>
                </a:r>
                <a:r>
                  <a:rPr lang="en-GB" sz="1800" b="1" i="0" kern="1200" dirty="0">
                    <a:solidFill>
                      <a:schemeClr val="tx1"/>
                    </a:solidFill>
                    <a:effectLst/>
                    <a:latin typeface="Calibri" panose="020F0502020204030204" pitchFamily="34" charset="0"/>
                    <a:cs typeface="Calibri" panose="020F0502020204030204" pitchFamily="34" charset="0"/>
                  </a:rPr>
                  <a:t>336.8 </a:t>
                </a:r>
                <a:r>
                  <a:rPr lang="en-GB" sz="1800" b="1" i="0" kern="1200" dirty="0" err="1">
                    <a:solidFill>
                      <a:schemeClr val="tx1"/>
                    </a:solidFill>
                    <a:effectLst/>
                    <a:latin typeface="Calibri" panose="020F0502020204030204" pitchFamily="34" charset="0"/>
                    <a:cs typeface="Calibri" panose="020F0502020204030204" pitchFamily="34" charset="0"/>
                  </a:rPr>
                  <a:t>ppmv</a:t>
                </a:r>
                <a:r>
                  <a:rPr lang="en-GB" sz="1800" b="1" i="0" kern="1200" dirty="0">
                    <a:solidFill>
                      <a:schemeClr val="tx1"/>
                    </a:solidFill>
                    <a:effectLst/>
                    <a:latin typeface="Calibri" panose="020F0502020204030204" pitchFamily="34" charset="0"/>
                    <a:cs typeface="Calibri" panose="020F0502020204030204" pitchFamily="34" charset="0"/>
                  </a:rPr>
                  <a:t> in 1979</a:t>
                </a:r>
                <a:r>
                  <a:rPr lang="en-GB" sz="1800" b="0" i="0" kern="1200" dirty="0">
                    <a:solidFill>
                      <a:schemeClr val="tx1"/>
                    </a:solidFill>
                    <a:effectLst/>
                    <a:latin typeface="Calibri" panose="020F0502020204030204" pitchFamily="34" charset="0"/>
                    <a:cs typeface="Calibri" panose="020F0502020204030204" pitchFamily="34" charset="0"/>
                  </a:rPr>
                  <a:t> and increased to </a:t>
                </a:r>
                <a:r>
                  <a:rPr lang="en-GB" sz="1800" b="1" i="0" kern="1200" dirty="0">
                    <a:solidFill>
                      <a:schemeClr val="tx1"/>
                    </a:solidFill>
                    <a:effectLst/>
                    <a:latin typeface="Calibri" panose="020F0502020204030204" pitchFamily="34" charset="0"/>
                    <a:cs typeface="Calibri" panose="020F0502020204030204" pitchFamily="34" charset="0"/>
                  </a:rPr>
                  <a:t>352.8 </a:t>
                </a:r>
                <a:r>
                  <a:rPr lang="en-GB" sz="1800" b="1" i="0" kern="1200" dirty="0" err="1">
                    <a:solidFill>
                      <a:schemeClr val="tx1"/>
                    </a:solidFill>
                    <a:effectLst/>
                    <a:latin typeface="Calibri" panose="020F0502020204030204" pitchFamily="34" charset="0"/>
                    <a:cs typeface="Calibri" panose="020F0502020204030204" pitchFamily="34" charset="0"/>
                  </a:rPr>
                  <a:t>ppmv</a:t>
                </a:r>
                <a:r>
                  <a:rPr lang="en-GB" sz="1800" b="1" i="0" kern="1200" dirty="0">
                    <a:solidFill>
                      <a:schemeClr val="tx1"/>
                    </a:solidFill>
                    <a:effectLst/>
                    <a:latin typeface="Calibri" panose="020F0502020204030204" pitchFamily="34" charset="0"/>
                    <a:cs typeface="Calibri" panose="020F0502020204030204" pitchFamily="34" charset="0"/>
                  </a:rPr>
                  <a:t> by 1989</a:t>
                </a:r>
                <a:r>
                  <a:rPr lang="en-GB" sz="1800" b="0" i="0" kern="1200" dirty="0">
                    <a:solidFill>
                      <a:schemeClr val="tx1"/>
                    </a:solidFill>
                    <a:effectLst/>
                    <a:latin typeface="Calibri" panose="020F0502020204030204" pitchFamily="34" charset="0"/>
                    <a:cs typeface="Calibri" panose="020F0502020204030204" pitchFamily="34" charset="0"/>
                  </a:rPr>
                  <a:t>.</a:t>
                </a:r>
              </a:p>
              <a:p>
                <a:r>
                  <a:rPr lang="en-GB" sz="1800" b="1" i="0" kern="1200" dirty="0">
                    <a:solidFill>
                      <a:schemeClr val="tx1"/>
                    </a:solidFill>
                    <a:effectLst/>
                    <a:latin typeface="Calibri" panose="020F0502020204030204" pitchFamily="34" charset="0"/>
                    <a:cs typeface="Calibri" panose="020F0502020204030204" pitchFamily="34" charset="0"/>
                  </a:rPr>
                  <a:t>Calculate the change in radiative forcing over this period and briefly explain what this value represents physically.</a:t>
                </a:r>
              </a:p>
            </p:txBody>
          </p:sp>
        </mc:Choice>
        <mc:Fallback xmlns="">
          <p:sp>
            <p:nvSpPr>
              <p:cNvPr id="8" name="TextBox 7">
                <a:extLst>
                  <a:ext uri="{FF2B5EF4-FFF2-40B4-BE49-F238E27FC236}">
                    <a16:creationId xmlns:a16="http://schemas.microsoft.com/office/drawing/2014/main" id="{FF39DF1C-998F-706C-8ACC-40416ED3D467}"/>
                  </a:ext>
                </a:extLst>
              </p:cNvPr>
              <p:cNvSpPr txBox="1">
                <a:spLocks noRot="1" noChangeAspect="1" noMove="1" noResize="1" noEditPoints="1" noAdjustHandles="1" noChangeArrowheads="1" noChangeShapeType="1" noTextEdit="1"/>
              </p:cNvSpPr>
              <p:nvPr/>
            </p:nvSpPr>
            <p:spPr>
              <a:xfrm>
                <a:off x="389465" y="1329323"/>
                <a:ext cx="11576758" cy="2099677"/>
              </a:xfrm>
              <a:prstGeom prst="rect">
                <a:avLst/>
              </a:prstGeom>
              <a:blipFill>
                <a:blip r:embed="rId4"/>
                <a:stretch>
                  <a:fillRect l="-438" t="-1198" b="-3593"/>
                </a:stretch>
              </a:blipFill>
            </p:spPr>
            <p:txBody>
              <a:bodyPr/>
              <a:lstStyle/>
              <a:p>
                <a:r>
                  <a:rPr lang="en-US">
                    <a:noFill/>
                  </a:rPr>
                  <a:t> </a:t>
                </a:r>
              </a:p>
            </p:txBody>
          </p:sp>
        </mc:Fallback>
      </mc:AlternateContent>
    </p:spTree>
    <p:extLst>
      <p:ext uri="{BB962C8B-B14F-4D97-AF65-F5344CB8AC3E}">
        <p14:creationId xmlns:p14="http://schemas.microsoft.com/office/powerpoint/2010/main" val="42042362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8F72B-A4E2-2B5E-27FA-1DE6D6CF8FF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1734B7C-FAFA-53E4-3AEB-E25DA513B5C1}"/>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37BA5DDB-8C21-F8BD-B056-F69F3C57E542}"/>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Q8.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9DD4FFF-F791-1A91-E62C-8E3247F81F01}"/>
                  </a:ext>
                </a:extLst>
              </p:cNvPr>
              <p:cNvSpPr txBox="1"/>
              <p:nvPr/>
            </p:nvSpPr>
            <p:spPr>
              <a:xfrm>
                <a:off x="389465" y="1329323"/>
                <a:ext cx="11576758" cy="164731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Using the same radiative forcing relationship: </a:t>
                </a:r>
                <a14:m>
                  <m:oMath xmlns:m="http://schemas.openxmlformats.org/officeDocument/2006/math">
                    <m:r>
                      <m:rPr>
                        <m:sty m:val="p"/>
                      </m:rPr>
                      <a:rPr lang="el-GR">
                        <a:latin typeface="Cambria Math" panose="02040503050406030204" pitchFamily="18" charset="0"/>
                      </a:rPr>
                      <m:t>Δ</m:t>
                    </m:r>
                    <m:r>
                      <a:rPr lang="el-GR" i="1">
                        <a:latin typeface="Cambria Math" panose="02040503050406030204" pitchFamily="18" charset="0"/>
                      </a:rPr>
                      <m:t>𝐹</m:t>
                    </m:r>
                    <m:r>
                      <a:rPr lang="el-GR">
                        <a:latin typeface="Cambria Math" panose="02040503050406030204" pitchFamily="18" charset="0"/>
                      </a:rPr>
                      <m:t>=5.25×</m:t>
                    </m:r>
                    <m:func>
                      <m:funcPr>
                        <m:ctrlPr>
                          <a:rPr lang="ar-AE" i="1">
                            <a:latin typeface="Cambria Math" panose="02040503050406030204" pitchFamily="18" charset="0"/>
                          </a:rPr>
                        </m:ctrlPr>
                      </m:funcPr>
                      <m:fName>
                        <m:r>
                          <m:rPr>
                            <m:sty m:val="p"/>
                          </m:rPr>
                          <a:rPr lang="en-GB">
                            <a:latin typeface="Cambria Math" panose="02040503050406030204" pitchFamily="18" charset="0"/>
                          </a:rPr>
                          <m:t>ln</m:t>
                        </m:r>
                      </m:fName>
                      <m:e>
                        <m:d>
                          <m:dPr>
                            <m:ctrlPr>
                              <a:rPr lang="ar-AE" i="1">
                                <a:latin typeface="Cambria Math" panose="02040503050406030204" pitchFamily="18" charset="0"/>
                              </a:rPr>
                            </m:ctrlPr>
                          </m:dPr>
                          <m:e>
                            <m:f>
                              <m:fPr>
                                <m:ctrlPr>
                                  <a:rPr lang="ar-AE" i="1">
                                    <a:latin typeface="Cambria Math" panose="02040503050406030204" pitchFamily="18" charset="0"/>
                                  </a:rPr>
                                </m:ctrlPr>
                              </m:fPr>
                              <m:num>
                                <m:r>
                                  <a:rPr lang="ar-AE" i="1">
                                    <a:latin typeface="Cambria Math" panose="02040503050406030204" pitchFamily="18" charset="0"/>
                                  </a:rPr>
                                  <m:t>𝐶</m:t>
                                </m:r>
                                <m:d>
                                  <m:dPr>
                                    <m:ctrlPr>
                                      <a:rPr lang="ar-AE" i="1">
                                        <a:latin typeface="Cambria Math" panose="02040503050406030204" pitchFamily="18" charset="0"/>
                                      </a:rPr>
                                    </m:ctrlPr>
                                  </m:dPr>
                                  <m:e>
                                    <m:r>
                                      <a:rPr lang="ar-AE" i="1">
                                        <a:latin typeface="Cambria Math" panose="02040503050406030204" pitchFamily="18" charset="0"/>
                                      </a:rPr>
                                      <m:t>𝑡</m:t>
                                    </m:r>
                                  </m:e>
                                </m:d>
                              </m:num>
                              <m:den>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a:latin typeface="Cambria Math" panose="02040503050406030204" pitchFamily="18" charset="0"/>
                                      </a:rPr>
                                      <m:t>0</m:t>
                                    </m:r>
                                  </m:sub>
                                </m:sSub>
                              </m:den>
                            </m:f>
                          </m:e>
                        </m:d>
                      </m:e>
                    </m:func>
                  </m:oMath>
                </a14:m>
                <a:endParaRPr lang="ar-AE"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assume atmospheric CO₂ concentration increased from </a:t>
                </a:r>
                <a:r>
                  <a:rPr lang="en-GB" b="1" dirty="0">
                    <a:latin typeface="Calibri" panose="020F0502020204030204" pitchFamily="34" charset="0"/>
                    <a:cs typeface="Calibri" panose="020F0502020204030204" pitchFamily="34" charset="0"/>
                  </a:rPr>
                  <a:t>336.8 </a:t>
                </a:r>
                <a:r>
                  <a:rPr lang="en-GB" b="1" dirty="0" err="1">
                    <a:latin typeface="Calibri" panose="020F0502020204030204" pitchFamily="34" charset="0"/>
                    <a:cs typeface="Calibri" panose="020F0502020204030204" pitchFamily="34" charset="0"/>
                  </a:rPr>
                  <a:t>ppmv</a:t>
                </a:r>
                <a:r>
                  <a:rPr lang="en-GB" b="1" dirty="0">
                    <a:latin typeface="Calibri" panose="020F0502020204030204" pitchFamily="34" charset="0"/>
                    <a:cs typeface="Calibri" panose="020F0502020204030204" pitchFamily="34" charset="0"/>
                  </a:rPr>
                  <a:t> in 1979</a:t>
                </a:r>
                <a:r>
                  <a:rPr lang="en-GB" dirty="0">
                    <a:latin typeface="Calibri" panose="020F0502020204030204" pitchFamily="34" charset="0"/>
                    <a:cs typeface="Calibri" panose="020F0502020204030204" pitchFamily="34" charset="0"/>
                  </a:rPr>
                  <a:t> to </a:t>
                </a:r>
                <a:r>
                  <a:rPr lang="en-GB" b="1" dirty="0">
                    <a:latin typeface="Calibri" panose="020F0502020204030204" pitchFamily="34" charset="0"/>
                    <a:cs typeface="Calibri" panose="020F0502020204030204" pitchFamily="34" charset="0"/>
                  </a:rPr>
                  <a:t>421 </a:t>
                </a:r>
                <a:r>
                  <a:rPr lang="en-GB" b="1" dirty="0" err="1">
                    <a:latin typeface="Calibri" panose="020F0502020204030204" pitchFamily="34" charset="0"/>
                    <a:cs typeface="Calibri" panose="020F0502020204030204" pitchFamily="34" charset="0"/>
                  </a:rPr>
                  <a:t>ppmv</a:t>
                </a:r>
                <a:r>
                  <a:rPr lang="en-GB" b="1" dirty="0">
                    <a:latin typeface="Calibri" panose="020F0502020204030204" pitchFamily="34" charset="0"/>
                    <a:cs typeface="Calibri" panose="020F0502020204030204" pitchFamily="34" charset="0"/>
                  </a:rPr>
                  <a:t> in 2025</a:t>
                </a:r>
                <a:r>
                  <a:rPr lang="en-GB" dirty="0">
                    <a:latin typeface="Calibri" panose="020F0502020204030204" pitchFamily="34" charset="0"/>
                    <a:cs typeface="Calibri" panose="020F0502020204030204" pitchFamily="34" charset="0"/>
                  </a:rPr>
                  <a:t>.</a:t>
                </a:r>
              </a:p>
              <a:p>
                <a:r>
                  <a:rPr lang="en-GB" b="1" dirty="0">
                    <a:latin typeface="Calibri" panose="020F0502020204030204" pitchFamily="34" charset="0"/>
                    <a:cs typeface="Calibri" panose="020F0502020204030204" pitchFamily="34" charset="0"/>
                  </a:rPr>
                  <a:t>(a)</a:t>
                </a:r>
                <a:r>
                  <a:rPr lang="en-GB" dirty="0">
                    <a:latin typeface="Calibri" panose="020F0502020204030204" pitchFamily="34" charset="0"/>
                    <a:cs typeface="Calibri" panose="020F0502020204030204" pitchFamily="34" charset="0"/>
                  </a:rPr>
                  <a:t> Calculate the total radiative forcing change over this period.</a:t>
                </a:r>
                <a:br>
                  <a:rPr lang="en-GB" dirty="0">
                    <a:latin typeface="Calibri" panose="020F0502020204030204" pitchFamily="34" charset="0"/>
                    <a:cs typeface="Calibri" panose="020F0502020204030204" pitchFamily="34" charset="0"/>
                  </a:rPr>
                </a:br>
                <a:r>
                  <a:rPr lang="en-GB" b="1" dirty="0">
                    <a:latin typeface="Calibri" panose="020F0502020204030204" pitchFamily="34" charset="0"/>
                    <a:cs typeface="Calibri" panose="020F0502020204030204" pitchFamily="34" charset="0"/>
                  </a:rPr>
                  <a:t>(b)</a:t>
                </a:r>
                <a:r>
                  <a:rPr lang="en-GB" dirty="0">
                    <a:latin typeface="Calibri" panose="020F0502020204030204" pitchFamily="34" charset="0"/>
                    <a:cs typeface="Calibri" panose="020F0502020204030204" pitchFamily="34" charset="0"/>
                  </a:rPr>
                  <a:t> Compare this value to the forcing associated with a 50% increase in CO₂ since pre-industrial times.</a:t>
                </a:r>
                <a:endParaRPr lang="en-GB" b="1" dirty="0">
                  <a:latin typeface="Calibri" panose="020F0502020204030204" pitchFamily="34" charset="0"/>
                  <a:cs typeface="Calibri" panose="020F0502020204030204" pitchFamily="34" charset="0"/>
                </a:endParaRPr>
              </a:p>
              <a:p>
                <a:endParaRPr lang="en-GB" sz="1800" b="0" i="0" kern="1200" dirty="0">
                  <a:solidFill>
                    <a:schemeClr val="tx1"/>
                  </a:solidFill>
                  <a:effectLst/>
                  <a:latin typeface="Calibri" panose="020F0502020204030204" pitchFamily="34" charset="0"/>
                  <a:cs typeface="Calibri" panose="020F0502020204030204" pitchFamily="34" charset="0"/>
                </a:endParaRPr>
              </a:p>
            </p:txBody>
          </p:sp>
        </mc:Choice>
        <mc:Fallback xmlns="">
          <p:sp>
            <p:nvSpPr>
              <p:cNvPr id="8" name="TextBox 7">
                <a:extLst>
                  <a:ext uri="{FF2B5EF4-FFF2-40B4-BE49-F238E27FC236}">
                    <a16:creationId xmlns:a16="http://schemas.microsoft.com/office/drawing/2014/main" id="{29DD4FFF-F791-1A91-E62C-8E3247F81F01}"/>
                  </a:ext>
                </a:extLst>
              </p:cNvPr>
              <p:cNvSpPr txBox="1">
                <a:spLocks noRot="1" noChangeAspect="1" noMove="1" noResize="1" noEditPoints="1" noAdjustHandles="1" noChangeArrowheads="1" noChangeShapeType="1" noTextEdit="1"/>
              </p:cNvSpPr>
              <p:nvPr/>
            </p:nvSpPr>
            <p:spPr>
              <a:xfrm>
                <a:off x="389465" y="1329323"/>
                <a:ext cx="11576758" cy="1647310"/>
              </a:xfrm>
              <a:prstGeom prst="rect">
                <a:avLst/>
              </a:prstGeom>
              <a:blipFill>
                <a:blip r:embed="rId4"/>
                <a:stretch>
                  <a:fillRect l="-438"/>
                </a:stretch>
              </a:blipFill>
            </p:spPr>
            <p:txBody>
              <a:bodyPr/>
              <a:lstStyle/>
              <a:p>
                <a:r>
                  <a:rPr lang="en-US">
                    <a:noFill/>
                  </a:rPr>
                  <a:t> </a:t>
                </a:r>
              </a:p>
            </p:txBody>
          </p:sp>
        </mc:Fallback>
      </mc:AlternateContent>
    </p:spTree>
    <p:extLst>
      <p:ext uri="{BB962C8B-B14F-4D97-AF65-F5344CB8AC3E}">
        <p14:creationId xmlns:p14="http://schemas.microsoft.com/office/powerpoint/2010/main" val="22839217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E367E-48BD-95C1-50DF-A4851F1E98C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C9179548-5FD0-C9DF-3DC9-2C8004144F46}"/>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B077545E-5F40-8DB4-39B7-783E9470F459}"/>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Q9.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ECE66DD-026A-7650-4FED-F34E29BC1473}"/>
                  </a:ext>
                </a:extLst>
              </p:cNvPr>
              <p:cNvSpPr txBox="1"/>
              <p:nvPr/>
            </p:nvSpPr>
            <p:spPr>
              <a:xfrm>
                <a:off x="389464" y="1497239"/>
                <a:ext cx="11339691" cy="4869666"/>
              </a:xfrm>
              <a:prstGeom prst="rect">
                <a:avLst/>
              </a:prstGeom>
              <a:noFill/>
            </p:spPr>
            <p:txBody>
              <a:bodyPr wrap="square">
                <a:spAutoFit/>
              </a:bodyPr>
              <a:lstStyle/>
              <a:p>
                <a:r>
                  <a:rPr lang="en-GB" sz="1800" b="0" i="0" kern="1200" dirty="0">
                    <a:solidFill>
                      <a:schemeClr val="tx1"/>
                    </a:solidFill>
                    <a:effectLst/>
                    <a:latin typeface="Calibri" panose="020F0502020204030204" pitchFamily="34" charset="0"/>
                    <a:cs typeface="Calibri" panose="020F0502020204030204" pitchFamily="34" charset="0"/>
                  </a:rPr>
                  <a:t>Radiative forcing due to changes in greenhouse gas concentrations can be approximated by:</a:t>
                </a:r>
              </a:p>
              <a:p>
                <a:pPr/>
                <a14:m>
                  <m:oMathPara xmlns:m="http://schemas.openxmlformats.org/officeDocument/2006/math">
                    <m:oMathParaPr>
                      <m:jc m:val="centerGroup"/>
                    </m:oMathParaPr>
                    <m:oMath xmlns:m="http://schemas.openxmlformats.org/officeDocument/2006/math">
                      <m:r>
                        <m:rPr>
                          <m:sty m:val="p"/>
                        </m:rPr>
                        <a:rPr lang="el-GR" sz="1800" kern="1200">
                          <a:solidFill>
                            <a:schemeClr val="tx1"/>
                          </a:solidFill>
                          <a:latin typeface="Cambria Math" panose="02040503050406030204" pitchFamily="18" charset="0"/>
                        </a:rPr>
                        <m:t>Δ</m:t>
                      </m:r>
                      <m:r>
                        <a:rPr lang="el-GR" sz="1800" i="1" kern="1200">
                          <a:solidFill>
                            <a:schemeClr val="tx1"/>
                          </a:solidFill>
                          <a:latin typeface="Cambria Math" panose="02040503050406030204" pitchFamily="18" charset="0"/>
                        </a:rPr>
                        <m:t>𝐹</m:t>
                      </m:r>
                      <m:r>
                        <a:rPr lang="el-GR" sz="1800" i="0" kern="1200">
                          <a:solidFill>
                            <a:schemeClr val="tx1"/>
                          </a:solidFill>
                          <a:latin typeface="Cambria Math" panose="02040503050406030204" pitchFamily="18" charset="0"/>
                        </a:rPr>
                        <m:t>=</m:t>
                      </m:r>
                      <m:r>
                        <a:rPr lang="el-GR" sz="1800" i="1" kern="1200">
                          <a:solidFill>
                            <a:schemeClr val="tx1"/>
                          </a:solidFill>
                          <a:latin typeface="Cambria Math" panose="02040503050406030204" pitchFamily="18" charset="0"/>
                        </a:rPr>
                        <m:t>𝑎</m:t>
                      </m:r>
                      <m:r>
                        <a:rPr lang="el-GR" sz="1800" i="0" kern="1200">
                          <a:solidFill>
                            <a:schemeClr val="tx1"/>
                          </a:solidFill>
                          <a:latin typeface="Cambria Math" panose="02040503050406030204" pitchFamily="18" charset="0"/>
                        </a:rPr>
                        <m:t>×</m:t>
                      </m:r>
                      <m:func>
                        <m:funcPr>
                          <m:ctrlPr>
                            <a:rPr lang="ar-AE" sz="1800" i="1" kern="1200">
                              <a:solidFill>
                                <a:schemeClr val="tx1"/>
                              </a:solidFill>
                              <a:latin typeface="Cambria Math" panose="02040503050406030204" pitchFamily="18" charset="0"/>
                            </a:rPr>
                          </m:ctrlPr>
                        </m:funcPr>
                        <m:fName>
                          <m:r>
                            <m:rPr>
                              <m:sty m:val="p"/>
                            </m:rPr>
                            <a:rPr lang="en-GB" sz="1800" i="0" kern="1200">
                              <a:solidFill>
                                <a:schemeClr val="tx1"/>
                              </a:solidFill>
                              <a:latin typeface="Cambria Math" panose="02040503050406030204" pitchFamily="18" charset="0"/>
                            </a:rPr>
                            <m:t>ln</m:t>
                          </m:r>
                        </m:fName>
                        <m:e>
                          <m:d>
                            <m:dPr>
                              <m:ctrlPr>
                                <a:rPr lang="ar-AE" sz="1800" i="1" kern="1200">
                                  <a:solidFill>
                                    <a:schemeClr val="tx1"/>
                                  </a:solidFill>
                                  <a:latin typeface="Cambria Math" panose="02040503050406030204" pitchFamily="18" charset="0"/>
                                </a:rPr>
                              </m:ctrlPr>
                            </m:dPr>
                            <m:e>
                              <m:f>
                                <m:fPr>
                                  <m:ctrlPr>
                                    <a:rPr lang="ar-AE" sz="1800" i="1" kern="1200">
                                      <a:solidFill>
                                        <a:schemeClr val="tx1"/>
                                      </a:solidFill>
                                      <a:latin typeface="Cambria Math" panose="02040503050406030204" pitchFamily="18" charset="0"/>
                                    </a:rPr>
                                  </m:ctrlPr>
                                </m:fPr>
                                <m:num>
                                  <m:r>
                                    <a:rPr lang="ar-AE" sz="1800" i="1" kern="1200">
                                      <a:solidFill>
                                        <a:schemeClr val="tx1"/>
                                      </a:solidFill>
                                      <a:latin typeface="Cambria Math" panose="02040503050406030204" pitchFamily="18" charset="0"/>
                                    </a:rPr>
                                    <m:t>𝐶</m:t>
                                  </m:r>
                                  <m:d>
                                    <m:dPr>
                                      <m:ctrlPr>
                                        <a:rPr lang="ar-AE" sz="1800" i="1" kern="1200">
                                          <a:solidFill>
                                            <a:schemeClr val="tx1"/>
                                          </a:solidFill>
                                          <a:latin typeface="Cambria Math" panose="02040503050406030204" pitchFamily="18" charset="0"/>
                                        </a:rPr>
                                      </m:ctrlPr>
                                    </m:dPr>
                                    <m:e>
                                      <m:r>
                                        <a:rPr lang="ar-AE" sz="1800" i="1" kern="1200">
                                          <a:solidFill>
                                            <a:schemeClr val="tx1"/>
                                          </a:solidFill>
                                          <a:latin typeface="Cambria Math" panose="02040503050406030204" pitchFamily="18" charset="0"/>
                                        </a:rPr>
                                        <m:t>𝑡</m:t>
                                      </m:r>
                                    </m:e>
                                  </m:d>
                                </m:num>
                                <m:den>
                                  <m:sSub>
                                    <m:sSubPr>
                                      <m:ctrlPr>
                                        <a:rPr lang="ar-AE" sz="1800" i="1" kern="120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𝐶</m:t>
                                      </m:r>
                                    </m:e>
                                    <m:sub>
                                      <m:r>
                                        <a:rPr lang="ar-AE" sz="1800" i="0" kern="1200">
                                          <a:solidFill>
                                            <a:schemeClr val="tx1"/>
                                          </a:solidFill>
                                          <a:latin typeface="Cambria Math" panose="02040503050406030204" pitchFamily="18" charset="0"/>
                                        </a:rPr>
                                        <m:t>0</m:t>
                                      </m:r>
                                    </m:sub>
                                  </m:sSub>
                                </m:den>
                              </m:f>
                            </m:e>
                          </m:d>
                        </m:e>
                      </m:func>
                    </m:oMath>
                  </m:oMathPara>
                </a14:m>
                <a:endParaRPr lang="ar-AE" dirty="0">
                  <a:latin typeface="Calibri" panose="020F0502020204030204" pitchFamily="34" charset="0"/>
                  <a:cs typeface="Calibri" panose="020F0502020204030204" pitchFamily="34" charset="0"/>
                </a:endParaRPr>
              </a:p>
              <a:p>
                <a:r>
                  <a:rPr lang="en-GB" sz="1800" b="0" i="0" kern="1200" dirty="0">
                    <a:solidFill>
                      <a:schemeClr val="tx1"/>
                    </a:solidFill>
                    <a:effectLst/>
                    <a:latin typeface="Calibri" panose="020F0502020204030204" pitchFamily="34" charset="0"/>
                    <a:cs typeface="Calibri" panose="020F0502020204030204" pitchFamily="34" charset="0"/>
                  </a:rPr>
                  <a:t>where:</a:t>
                </a:r>
              </a:p>
              <a:p>
                <a14:m>
                  <m:oMath xmlns:m="http://schemas.openxmlformats.org/officeDocument/2006/math">
                    <m:sSub>
                      <m:sSubPr>
                        <m:ctrlPr>
                          <a:rPr lang="ar-AE" sz="1800" i="1" kern="120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𝐶</m:t>
                        </m:r>
                      </m:e>
                      <m:sub>
                        <m:r>
                          <a:rPr lang="ar-AE" sz="1800" i="0" kern="1200">
                            <a:solidFill>
                              <a:schemeClr val="tx1"/>
                            </a:solidFill>
                            <a:latin typeface="Cambria Math" panose="02040503050406030204" pitchFamily="18" charset="0"/>
                          </a:rPr>
                          <m:t>0</m:t>
                        </m:r>
                      </m:sub>
                    </m:sSub>
                  </m:oMath>
                </a14:m>
                <a:r>
                  <a:rPr lang="ar-AE" sz="1800" b="0" i="0" kern="1200" dirty="0">
                    <a:solidFill>
                      <a:schemeClr val="tx1"/>
                    </a:solidFill>
                    <a:effectLst/>
                    <a:latin typeface="Calibri" panose="020F0502020204030204" pitchFamily="34" charset="0"/>
                    <a:cs typeface="Calibri" panose="020F0502020204030204" pitchFamily="34" charset="0"/>
                  </a:rPr>
                  <a:t> </a:t>
                </a:r>
                <a:r>
                  <a:rPr lang="en-GB" sz="1800" b="0" i="0" kern="1200" dirty="0">
                    <a:solidFill>
                      <a:schemeClr val="tx1"/>
                    </a:solidFill>
                    <a:effectLst/>
                    <a:latin typeface="Calibri" panose="020F0502020204030204" pitchFamily="34" charset="0"/>
                    <a:cs typeface="Calibri" panose="020F0502020204030204" pitchFamily="34" charset="0"/>
                  </a:rPr>
                  <a:t>is the initial concentration,</a:t>
                </a:r>
              </a:p>
              <a:p>
                <a14:m>
                  <m:oMath xmlns:m="http://schemas.openxmlformats.org/officeDocument/2006/math">
                    <m:r>
                      <a:rPr lang="en-GB" sz="1800" i="1" kern="1200">
                        <a:solidFill>
                          <a:schemeClr val="tx1"/>
                        </a:solidFill>
                        <a:latin typeface="Cambria Math" panose="02040503050406030204" pitchFamily="18" charset="0"/>
                      </a:rPr>
                      <m:t>𝐶</m:t>
                    </m:r>
                    <m:d>
                      <m:dPr>
                        <m:ctrlPr>
                          <a:rPr lang="ar-AE" sz="1800" i="1" kern="1200">
                            <a:solidFill>
                              <a:schemeClr val="tx1"/>
                            </a:solidFill>
                            <a:latin typeface="Cambria Math" panose="02040503050406030204" pitchFamily="18" charset="0"/>
                          </a:rPr>
                        </m:ctrlPr>
                      </m:dPr>
                      <m:e>
                        <m:r>
                          <a:rPr lang="ar-AE" sz="1800" i="1" kern="1200">
                            <a:solidFill>
                              <a:schemeClr val="tx1"/>
                            </a:solidFill>
                            <a:latin typeface="Cambria Math" panose="02040503050406030204" pitchFamily="18" charset="0"/>
                          </a:rPr>
                          <m:t>𝑡</m:t>
                        </m:r>
                      </m:e>
                    </m:d>
                  </m:oMath>
                </a14:m>
                <a:r>
                  <a:rPr lang="ar-AE" sz="1800" b="0" i="0" kern="1200" dirty="0">
                    <a:solidFill>
                      <a:schemeClr val="tx1"/>
                    </a:solidFill>
                    <a:effectLst/>
                    <a:latin typeface="Calibri" panose="020F0502020204030204" pitchFamily="34" charset="0"/>
                    <a:cs typeface="Calibri" panose="020F0502020204030204" pitchFamily="34" charset="0"/>
                  </a:rPr>
                  <a:t> </a:t>
                </a:r>
                <a:r>
                  <a:rPr lang="en-GB" sz="1800" b="0" i="0" kern="1200" dirty="0">
                    <a:solidFill>
                      <a:schemeClr val="tx1"/>
                    </a:solidFill>
                    <a:effectLst/>
                    <a:latin typeface="Calibri" panose="020F0502020204030204" pitchFamily="34" charset="0"/>
                    <a:cs typeface="Calibri" panose="020F0502020204030204" pitchFamily="34" charset="0"/>
                  </a:rPr>
                  <a:t>is the later concentration,</a:t>
                </a:r>
              </a:p>
              <a:p>
                <a14:m>
                  <m:oMath xmlns:m="http://schemas.openxmlformats.org/officeDocument/2006/math">
                    <m:r>
                      <a:rPr lang="en-GB" sz="1800" i="1" kern="1200">
                        <a:solidFill>
                          <a:schemeClr val="tx1"/>
                        </a:solidFill>
                        <a:latin typeface="Cambria Math" panose="02040503050406030204" pitchFamily="18" charset="0"/>
                      </a:rPr>
                      <m:t>𝑎</m:t>
                    </m:r>
                  </m:oMath>
                </a14:m>
                <a:r>
                  <a:rPr lang="en-GB" sz="1800" b="0" i="0" kern="1200" dirty="0">
                    <a:solidFill>
                      <a:schemeClr val="tx1"/>
                    </a:solidFill>
                    <a:effectLst/>
                    <a:latin typeface="Calibri" panose="020F0502020204030204" pitchFamily="34" charset="0"/>
                    <a:cs typeface="Calibri" panose="020F0502020204030204" pitchFamily="34" charset="0"/>
                  </a:rPr>
                  <a:t> is a gas-specific constant.</a:t>
                </a:r>
              </a:p>
              <a:p>
                <a:r>
                  <a:rPr lang="en-GB" sz="1800" b="0" i="0" kern="1200" dirty="0">
                    <a:solidFill>
                      <a:schemeClr val="tx1"/>
                    </a:solidFill>
                    <a:effectLst/>
                    <a:latin typeface="Calibri" panose="020F0502020204030204" pitchFamily="34" charset="0"/>
                    <a:cs typeface="Calibri" panose="020F0502020204030204" pitchFamily="34" charset="0"/>
                  </a:rPr>
                  <a:t>The values of </a:t>
                </a:r>
                <a14:m>
                  <m:oMath xmlns:m="http://schemas.openxmlformats.org/officeDocument/2006/math">
                    <m:r>
                      <a:rPr lang="en-GB" sz="1800" i="1" kern="1200">
                        <a:solidFill>
                          <a:schemeClr val="tx1"/>
                        </a:solidFill>
                        <a:latin typeface="Cambria Math" panose="02040503050406030204" pitchFamily="18" charset="0"/>
                      </a:rPr>
                      <m:t>𝑎</m:t>
                    </m:r>
                  </m:oMath>
                </a14:m>
                <a:r>
                  <a:rPr lang="en-GB" sz="1800" b="0" i="0" kern="1200" dirty="0">
                    <a:solidFill>
                      <a:schemeClr val="tx1"/>
                    </a:solidFill>
                    <a:effectLst/>
                    <a:latin typeface="Calibri" panose="020F0502020204030204" pitchFamily="34" charset="0"/>
                    <a:cs typeface="Calibri" panose="020F0502020204030204" pitchFamily="34" charset="0"/>
                  </a:rPr>
                  <a:t> are:</a:t>
                </a:r>
              </a:p>
              <a:p>
                <a:r>
                  <a:rPr lang="en-GB" sz="1800" b="0" i="0" kern="1200" dirty="0">
                    <a:solidFill>
                      <a:schemeClr val="tx1"/>
                    </a:solidFill>
                    <a:effectLst/>
                    <a:latin typeface="Calibri" panose="020F0502020204030204" pitchFamily="34" charset="0"/>
                    <a:cs typeface="Calibri" panose="020F0502020204030204" pitchFamily="34" charset="0"/>
                  </a:rPr>
                  <a:t>CO₂: </a:t>
                </a:r>
                <a14:m>
                  <m:oMath xmlns:m="http://schemas.openxmlformats.org/officeDocument/2006/math">
                    <m:r>
                      <a:rPr lang="en-GB" sz="1800" i="1" kern="1200">
                        <a:solidFill>
                          <a:schemeClr val="tx1"/>
                        </a:solidFill>
                        <a:latin typeface="Cambria Math" panose="02040503050406030204" pitchFamily="18" charset="0"/>
                      </a:rPr>
                      <m:t>𝑎</m:t>
                    </m:r>
                    <m:r>
                      <a:rPr lang="en-GB" sz="1800" i="0" kern="1200">
                        <a:solidFill>
                          <a:schemeClr val="tx1"/>
                        </a:solidFill>
                        <a:latin typeface="Cambria Math" panose="02040503050406030204" pitchFamily="18" charset="0"/>
                      </a:rPr>
                      <m:t>=5.35</m:t>
                    </m:r>
                    <m:r>
                      <a:rPr lang="en-GB" sz="1800" b="0" i="0" kern="1200" smtClean="0">
                        <a:solidFill>
                          <a:schemeClr val="tx1"/>
                        </a:solidFill>
                        <a:latin typeface="Cambria Math" panose="02040503050406030204" pitchFamily="18" charset="0"/>
                      </a:rPr>
                      <m:t>, </m:t>
                    </m:r>
                  </m:oMath>
                </a14:m>
                <a:r>
                  <a:rPr lang="en-GB" sz="1800" b="0" i="0" kern="1200" dirty="0">
                    <a:solidFill>
                      <a:schemeClr val="tx1"/>
                    </a:solidFill>
                    <a:effectLst/>
                    <a:latin typeface="Calibri" panose="020F0502020204030204" pitchFamily="34" charset="0"/>
                    <a:cs typeface="Calibri" panose="020F0502020204030204" pitchFamily="34" charset="0"/>
                  </a:rPr>
                  <a:t>CH₄: </a:t>
                </a:r>
                <a14:m>
                  <m:oMath xmlns:m="http://schemas.openxmlformats.org/officeDocument/2006/math">
                    <m:r>
                      <a:rPr lang="en-GB" sz="1800" i="1" kern="1200">
                        <a:solidFill>
                          <a:schemeClr val="tx1"/>
                        </a:solidFill>
                        <a:latin typeface="Cambria Math" panose="02040503050406030204" pitchFamily="18" charset="0"/>
                      </a:rPr>
                      <m:t>𝑎</m:t>
                    </m:r>
                    <m:r>
                      <a:rPr lang="en-GB" sz="1800" i="0" kern="1200">
                        <a:solidFill>
                          <a:schemeClr val="tx1"/>
                        </a:solidFill>
                        <a:latin typeface="Cambria Math" panose="02040503050406030204" pitchFamily="18" charset="0"/>
                      </a:rPr>
                      <m:t>=0.525</m:t>
                    </m:r>
                    <m:r>
                      <a:rPr lang="en-GB" sz="1800" b="0" i="0" kern="1200" smtClean="0">
                        <a:solidFill>
                          <a:schemeClr val="tx1"/>
                        </a:solidFill>
                        <a:latin typeface="Cambria Math" panose="02040503050406030204" pitchFamily="18" charset="0"/>
                      </a:rPr>
                      <m:t>, </m:t>
                    </m:r>
                  </m:oMath>
                </a14:m>
                <a:r>
                  <a:rPr lang="en-GB" sz="1800" b="0" i="0" kern="1200" dirty="0">
                    <a:solidFill>
                      <a:schemeClr val="tx1"/>
                    </a:solidFill>
                    <a:effectLst/>
                    <a:latin typeface="Calibri" panose="020F0502020204030204" pitchFamily="34" charset="0"/>
                    <a:cs typeface="Calibri" panose="020F0502020204030204" pitchFamily="34" charset="0"/>
                  </a:rPr>
                  <a:t>N₂O: </a:t>
                </a:r>
                <a14:m>
                  <m:oMath xmlns:m="http://schemas.openxmlformats.org/officeDocument/2006/math">
                    <m:r>
                      <a:rPr lang="en-GB" sz="1800" i="1" kern="1200">
                        <a:solidFill>
                          <a:schemeClr val="tx1"/>
                        </a:solidFill>
                        <a:latin typeface="Cambria Math" panose="02040503050406030204" pitchFamily="18" charset="0"/>
                      </a:rPr>
                      <m:t>𝑎</m:t>
                    </m:r>
                    <m:r>
                      <a:rPr lang="en-GB" sz="1800" i="0" kern="1200">
                        <a:solidFill>
                          <a:schemeClr val="tx1"/>
                        </a:solidFill>
                        <a:latin typeface="Cambria Math" panose="02040503050406030204" pitchFamily="18" charset="0"/>
                      </a:rPr>
                      <m:t>=0.595</m:t>
                    </m:r>
                  </m:oMath>
                </a14:m>
                <a:endParaRPr lang="en-GB" sz="1800" b="0" i="0" kern="1200" dirty="0">
                  <a:solidFill>
                    <a:schemeClr val="tx1"/>
                  </a:solidFill>
                  <a:effectLst/>
                  <a:latin typeface="Calibri" panose="020F0502020204030204" pitchFamily="34" charset="0"/>
                  <a:cs typeface="Calibri" panose="020F0502020204030204" pitchFamily="34" charset="0"/>
                </a:endParaRPr>
              </a:p>
              <a:p>
                <a:r>
                  <a:rPr lang="en-GB" sz="1800" b="0" i="0" kern="1200" dirty="0">
                    <a:solidFill>
                      <a:schemeClr val="tx1"/>
                    </a:solidFill>
                    <a:effectLst/>
                    <a:latin typeface="Calibri" panose="020F0502020204030204" pitchFamily="34" charset="0"/>
                    <a:cs typeface="Calibri" panose="020F0502020204030204" pitchFamily="34" charset="0"/>
                  </a:rPr>
                  <a:t>Assume the following </a:t>
                </a:r>
                <a:r>
                  <a:rPr lang="en-GB" sz="1800" b="1" i="0" kern="1200" dirty="0">
                    <a:solidFill>
                      <a:schemeClr val="tx1"/>
                    </a:solidFill>
                    <a:effectLst/>
                    <a:latin typeface="Calibri" panose="020F0502020204030204" pitchFamily="34" charset="0"/>
                    <a:cs typeface="Calibri" panose="020F0502020204030204" pitchFamily="34" charset="0"/>
                  </a:rPr>
                  <a:t>pre-industrial baseline concentrations</a:t>
                </a:r>
                <a:r>
                  <a:rPr lang="en-GB" sz="1800" b="0" i="0" kern="1200" dirty="0">
                    <a:solidFill>
                      <a:schemeClr val="tx1"/>
                    </a:solidFill>
                    <a:effectLst/>
                    <a:latin typeface="Calibri" panose="020F0502020204030204" pitchFamily="34" charset="0"/>
                    <a:cs typeface="Calibri" panose="020F0502020204030204" pitchFamily="34" charset="0"/>
                  </a:rPr>
                  <a:t>:</a:t>
                </a:r>
              </a:p>
              <a:p>
                <a:r>
                  <a:rPr lang="en-GB" sz="1800" b="0" i="0" kern="1200" dirty="0">
                    <a:solidFill>
                      <a:schemeClr val="tx1"/>
                    </a:solidFill>
                    <a:effectLst/>
                    <a:latin typeface="Calibri" panose="020F0502020204030204" pitchFamily="34" charset="0"/>
                    <a:cs typeface="Calibri" panose="020F0502020204030204" pitchFamily="34" charset="0"/>
                  </a:rPr>
                  <a:t>CO₂: 280 </a:t>
                </a:r>
                <a:r>
                  <a:rPr lang="en-GB" sz="1800" b="0" i="0" kern="1200" dirty="0" err="1">
                    <a:solidFill>
                      <a:schemeClr val="tx1"/>
                    </a:solidFill>
                    <a:effectLst/>
                    <a:latin typeface="Calibri" panose="020F0502020204030204" pitchFamily="34" charset="0"/>
                    <a:cs typeface="Calibri" panose="020F0502020204030204" pitchFamily="34" charset="0"/>
                  </a:rPr>
                  <a:t>ppmv</a:t>
                </a:r>
                <a:r>
                  <a:rPr lang="en-GB" dirty="0">
                    <a:latin typeface="Calibri" panose="020F0502020204030204" pitchFamily="34" charset="0"/>
                    <a:cs typeface="Calibri" panose="020F0502020204030204" pitchFamily="34" charset="0"/>
                  </a:rPr>
                  <a:t>, </a:t>
                </a:r>
                <a:r>
                  <a:rPr lang="en-GB" sz="1800" b="0" i="0" kern="1200" dirty="0">
                    <a:solidFill>
                      <a:schemeClr val="tx1"/>
                    </a:solidFill>
                    <a:effectLst/>
                    <a:latin typeface="Calibri" panose="020F0502020204030204" pitchFamily="34" charset="0"/>
                    <a:cs typeface="Calibri" panose="020F0502020204030204" pitchFamily="34" charset="0"/>
                  </a:rPr>
                  <a:t>CH₄: 722 </a:t>
                </a:r>
                <a:r>
                  <a:rPr lang="en-GB" sz="1800" b="0" i="0" kern="1200" dirty="0" err="1">
                    <a:solidFill>
                      <a:schemeClr val="tx1"/>
                    </a:solidFill>
                    <a:effectLst/>
                    <a:latin typeface="Calibri" panose="020F0502020204030204" pitchFamily="34" charset="0"/>
                    <a:cs typeface="Calibri" panose="020F0502020204030204" pitchFamily="34" charset="0"/>
                  </a:rPr>
                  <a:t>ppbv</a:t>
                </a:r>
                <a:r>
                  <a:rPr lang="en-GB" dirty="0">
                    <a:latin typeface="Calibri" panose="020F0502020204030204" pitchFamily="34" charset="0"/>
                    <a:cs typeface="Calibri" panose="020F0502020204030204" pitchFamily="34" charset="0"/>
                  </a:rPr>
                  <a:t>, </a:t>
                </a:r>
                <a:r>
                  <a:rPr lang="en-GB" sz="1800" b="0" i="0" kern="1200" dirty="0">
                    <a:solidFill>
                      <a:schemeClr val="tx1"/>
                    </a:solidFill>
                    <a:effectLst/>
                    <a:latin typeface="Calibri" panose="020F0502020204030204" pitchFamily="34" charset="0"/>
                    <a:cs typeface="Calibri" panose="020F0502020204030204" pitchFamily="34" charset="0"/>
                  </a:rPr>
                  <a:t>N₂O: 270 </a:t>
                </a:r>
                <a:r>
                  <a:rPr lang="en-GB" sz="1800" b="0" i="0" kern="1200" dirty="0" err="1">
                    <a:solidFill>
                      <a:schemeClr val="tx1"/>
                    </a:solidFill>
                    <a:effectLst/>
                    <a:latin typeface="Calibri" panose="020F0502020204030204" pitchFamily="34" charset="0"/>
                    <a:cs typeface="Calibri" panose="020F0502020204030204" pitchFamily="34" charset="0"/>
                  </a:rPr>
                  <a:t>ppbv</a:t>
                </a:r>
                <a:endParaRPr lang="en-GB" sz="1800" b="0" i="0" kern="1200" dirty="0">
                  <a:solidFill>
                    <a:schemeClr val="tx1"/>
                  </a:solidFill>
                  <a:effectLst/>
                  <a:latin typeface="Calibri" panose="020F0502020204030204" pitchFamily="34" charset="0"/>
                  <a:cs typeface="Calibri" panose="020F0502020204030204" pitchFamily="34" charset="0"/>
                </a:endParaRPr>
              </a:p>
              <a:p>
                <a:r>
                  <a:rPr lang="en-GB" sz="1800" b="0" i="0" kern="1200" dirty="0">
                    <a:solidFill>
                      <a:schemeClr val="tx1"/>
                    </a:solidFill>
                    <a:effectLst/>
                    <a:latin typeface="Calibri" panose="020F0502020204030204" pitchFamily="34" charset="0"/>
                    <a:cs typeface="Calibri" panose="020F0502020204030204" pitchFamily="34" charset="0"/>
                  </a:rPr>
                  <a:t>Now suppose that </a:t>
                </a:r>
                <a:r>
                  <a:rPr lang="en-GB" sz="1800" b="1" i="0" kern="1200" dirty="0">
                    <a:solidFill>
                      <a:schemeClr val="tx1"/>
                    </a:solidFill>
                    <a:effectLst/>
                    <a:latin typeface="Calibri" panose="020F0502020204030204" pitchFamily="34" charset="0"/>
                    <a:cs typeface="Calibri" panose="020F0502020204030204" pitchFamily="34" charset="0"/>
                  </a:rPr>
                  <a:t>each gas increases by 10% from its baseline concentration</a:t>
                </a:r>
                <a:r>
                  <a:rPr lang="en-GB" sz="1800" b="0" i="0" kern="1200" dirty="0">
                    <a:solidFill>
                      <a:schemeClr val="tx1"/>
                    </a:solidFill>
                    <a:effectLst/>
                    <a:latin typeface="Calibri" panose="020F0502020204030204" pitchFamily="34" charset="0"/>
                    <a:cs typeface="Calibri" panose="020F0502020204030204" pitchFamily="34" charset="0"/>
                  </a:rPr>
                  <a:t>.</a:t>
                </a:r>
              </a:p>
              <a:p>
                <a:r>
                  <a:rPr lang="en-GB" sz="1800" b="1" i="0" kern="1200" dirty="0">
                    <a:solidFill>
                      <a:schemeClr val="tx1"/>
                    </a:solidFill>
                    <a:effectLst/>
                    <a:latin typeface="Calibri" panose="020F0502020204030204" pitchFamily="34" charset="0"/>
                    <a:cs typeface="Calibri" panose="020F0502020204030204" pitchFamily="34" charset="0"/>
                  </a:rPr>
                  <a:t>(a)</a:t>
                </a:r>
                <a:r>
                  <a:rPr lang="en-GB" sz="1800" b="0" i="0" kern="1200" dirty="0">
                    <a:solidFill>
                      <a:schemeClr val="tx1"/>
                    </a:solidFill>
                    <a:effectLst/>
                    <a:latin typeface="Calibri" panose="020F0502020204030204" pitchFamily="34" charset="0"/>
                    <a:cs typeface="Calibri" panose="020F0502020204030204" pitchFamily="34" charset="0"/>
                  </a:rPr>
                  <a:t> Calculate the radiative forcing change associated with a 10% increase in each gas.</a:t>
                </a:r>
                <a:br>
                  <a:rPr lang="en-GB" sz="1800" b="0" i="0" kern="1200" dirty="0">
                    <a:solidFill>
                      <a:schemeClr val="tx1"/>
                    </a:solidFill>
                    <a:effectLst/>
                    <a:latin typeface="Calibri" panose="020F0502020204030204" pitchFamily="34" charset="0"/>
                    <a:cs typeface="Calibri" panose="020F0502020204030204" pitchFamily="34" charset="0"/>
                  </a:rPr>
                </a:br>
                <a:r>
                  <a:rPr lang="en-GB" sz="1800" b="1" i="0" kern="1200" dirty="0">
                    <a:solidFill>
                      <a:schemeClr val="tx1"/>
                    </a:solidFill>
                    <a:effectLst/>
                    <a:latin typeface="Calibri" panose="020F0502020204030204" pitchFamily="34" charset="0"/>
                    <a:cs typeface="Calibri" panose="020F0502020204030204" pitchFamily="34" charset="0"/>
                  </a:rPr>
                  <a:t>(b)</a:t>
                </a:r>
                <a:r>
                  <a:rPr lang="en-GB" sz="1800" b="0" i="0" kern="1200" dirty="0">
                    <a:solidFill>
                      <a:schemeClr val="tx1"/>
                    </a:solidFill>
                    <a:effectLst/>
                    <a:latin typeface="Calibri" panose="020F0502020204030204" pitchFamily="34" charset="0"/>
                    <a:cs typeface="Calibri" panose="020F0502020204030204" pitchFamily="34" charset="0"/>
                  </a:rPr>
                  <a:t> From a </a:t>
                </a:r>
                <a:r>
                  <a:rPr lang="en-GB" sz="1800" b="0" i="1" kern="1200" dirty="0">
                    <a:solidFill>
                      <a:schemeClr val="tx1"/>
                    </a:solidFill>
                    <a:effectLst/>
                    <a:latin typeface="Calibri" panose="020F0502020204030204" pitchFamily="34" charset="0"/>
                    <a:cs typeface="Calibri" panose="020F0502020204030204" pitchFamily="34" charset="0"/>
                  </a:rPr>
                  <a:t>global warming perspective</a:t>
                </a:r>
                <a:r>
                  <a:rPr lang="en-GB" sz="1800" b="0" i="0" kern="1200" dirty="0">
                    <a:solidFill>
                      <a:schemeClr val="tx1"/>
                    </a:solidFill>
                    <a:effectLst/>
                    <a:latin typeface="Calibri" panose="020F0502020204030204" pitchFamily="34" charset="0"/>
                    <a:cs typeface="Calibri" panose="020F0502020204030204" pitchFamily="34" charset="0"/>
                  </a:rPr>
                  <a:t>, which gas produces the largest radiative forcing increase for a 10% rise in concentration?</a:t>
                </a:r>
                <a:br>
                  <a:rPr lang="en-GB" sz="1800" b="0" i="0" kern="1200" dirty="0">
                    <a:solidFill>
                      <a:schemeClr val="tx1"/>
                    </a:solidFill>
                    <a:effectLst/>
                    <a:latin typeface="Calibri" panose="020F0502020204030204" pitchFamily="34" charset="0"/>
                    <a:cs typeface="Calibri" panose="020F0502020204030204" pitchFamily="34" charset="0"/>
                  </a:rPr>
                </a:br>
                <a:r>
                  <a:rPr lang="en-GB" sz="1800" b="1" i="0" kern="1200" dirty="0">
                    <a:solidFill>
                      <a:schemeClr val="tx1"/>
                    </a:solidFill>
                    <a:effectLst/>
                    <a:latin typeface="Calibri" panose="020F0502020204030204" pitchFamily="34" charset="0"/>
                    <a:cs typeface="Calibri" panose="020F0502020204030204" pitchFamily="34" charset="0"/>
                  </a:rPr>
                  <a:t>(c)</a:t>
                </a:r>
                <a:r>
                  <a:rPr lang="en-GB" sz="1800" b="0" i="0" kern="1200" dirty="0">
                    <a:solidFill>
                      <a:schemeClr val="tx1"/>
                    </a:solidFill>
                    <a:effectLst/>
                    <a:latin typeface="Calibri" panose="020F0502020204030204" pitchFamily="34" charset="0"/>
                    <a:cs typeface="Calibri" panose="020F0502020204030204" pitchFamily="34" charset="0"/>
                  </a:rPr>
                  <a:t> What does this comparison tell you about which greenhouse gases we should prioritise for mitigation, and why concentration alone is not the whole story?</a:t>
                </a:r>
              </a:p>
            </p:txBody>
          </p:sp>
        </mc:Choice>
        <mc:Fallback xmlns="">
          <p:sp>
            <p:nvSpPr>
              <p:cNvPr id="4" name="TextBox 3">
                <a:extLst>
                  <a:ext uri="{FF2B5EF4-FFF2-40B4-BE49-F238E27FC236}">
                    <a16:creationId xmlns:a16="http://schemas.microsoft.com/office/drawing/2014/main" id="{3ECE66DD-026A-7650-4FED-F34E29BC1473}"/>
                  </a:ext>
                </a:extLst>
              </p:cNvPr>
              <p:cNvSpPr txBox="1">
                <a:spLocks noRot="1" noChangeAspect="1" noMove="1" noResize="1" noEditPoints="1" noAdjustHandles="1" noChangeArrowheads="1" noChangeShapeType="1" noTextEdit="1"/>
              </p:cNvSpPr>
              <p:nvPr/>
            </p:nvSpPr>
            <p:spPr>
              <a:xfrm>
                <a:off x="389464" y="1497239"/>
                <a:ext cx="11339691" cy="4869666"/>
              </a:xfrm>
              <a:prstGeom prst="rect">
                <a:avLst/>
              </a:prstGeom>
              <a:blipFill>
                <a:blip r:embed="rId4"/>
                <a:stretch>
                  <a:fillRect l="-447" t="-781" b="-1042"/>
                </a:stretch>
              </a:blipFill>
            </p:spPr>
            <p:txBody>
              <a:bodyPr/>
              <a:lstStyle/>
              <a:p>
                <a:r>
                  <a:rPr lang="en-US">
                    <a:noFill/>
                  </a:rPr>
                  <a:t> </a:t>
                </a:r>
              </a:p>
            </p:txBody>
          </p:sp>
        </mc:Fallback>
      </mc:AlternateContent>
    </p:spTree>
    <p:extLst>
      <p:ext uri="{BB962C8B-B14F-4D97-AF65-F5344CB8AC3E}">
        <p14:creationId xmlns:p14="http://schemas.microsoft.com/office/powerpoint/2010/main" val="37136755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5|8.5|44.7|6.5|28.4|20.7"/>
</p:tagLst>
</file>

<file path=ppt/tags/tag2.xml><?xml version="1.0" encoding="utf-8"?>
<p:tagLst xmlns:a="http://schemas.openxmlformats.org/drawingml/2006/main" xmlns:r="http://schemas.openxmlformats.org/officeDocument/2006/relationships" xmlns:p="http://schemas.openxmlformats.org/presentationml/2006/main">
  <p:tag name="TIMING" val="|15.5|8.5|44.7|6.5|28.4|20.7"/>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1527</TotalTime>
  <Words>3552</Words>
  <Application>Microsoft Macintosh PowerPoint</Application>
  <PresentationFormat>Widescreen</PresentationFormat>
  <Paragraphs>493</Paragraphs>
  <Slides>59</Slides>
  <Notes>52</Notes>
  <HiddenSlides>0</HiddenSlides>
  <MMClips>0</MMClips>
  <ScaleCrop>false</ScaleCrop>
  <HeadingPairs>
    <vt:vector size="8" baseType="variant">
      <vt:variant>
        <vt:lpstr>Fonts Used</vt:lpstr>
      </vt:variant>
      <vt:variant>
        <vt:i4>10</vt:i4>
      </vt:variant>
      <vt:variant>
        <vt:lpstr>Theme</vt:lpstr>
      </vt:variant>
      <vt:variant>
        <vt:i4>3</vt:i4>
      </vt:variant>
      <vt:variant>
        <vt:lpstr>Embedded OLE Servers</vt:lpstr>
      </vt:variant>
      <vt:variant>
        <vt:i4>2</vt:i4>
      </vt:variant>
      <vt:variant>
        <vt:lpstr>Slide Titles</vt:lpstr>
      </vt:variant>
      <vt:variant>
        <vt:i4>59</vt:i4>
      </vt:variant>
    </vt:vector>
  </HeadingPairs>
  <TitlesOfParts>
    <vt:vector size="74" baseType="lpstr">
      <vt:lpstr>Aptos</vt:lpstr>
      <vt:lpstr>Arial</vt:lpstr>
      <vt:lpstr>Calibri</vt:lpstr>
      <vt:lpstr>Cambria Math</vt:lpstr>
      <vt:lpstr>DM Sans</vt:lpstr>
      <vt:lpstr>DM Sans Bold</vt:lpstr>
      <vt:lpstr>Open Sans</vt:lpstr>
      <vt:lpstr>Symbol</vt:lpstr>
      <vt:lpstr>Times New Roman</vt:lpstr>
      <vt:lpstr>Verdana</vt:lpstr>
      <vt:lpstr>1_Office Theme</vt:lpstr>
      <vt:lpstr>2_Office Theme</vt:lpstr>
      <vt:lpstr>Office Theme</vt:lpstr>
      <vt:lpstr>Equation</vt:lpstr>
      <vt:lpstr>Photo Editor Photo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Bannan</dc:creator>
  <cp:lastModifiedBy>Thomas Bannan</cp:lastModifiedBy>
  <cp:revision>59</cp:revision>
  <dcterms:created xsi:type="dcterms:W3CDTF">2025-12-11T10:10:20Z</dcterms:created>
  <dcterms:modified xsi:type="dcterms:W3CDTF">2026-02-18T15:39:26Z</dcterms:modified>
</cp:coreProperties>
</file>