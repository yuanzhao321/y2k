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6" r:id="rId3"/>
  </p:sldMasterIdLst>
  <p:notesMasterIdLst>
    <p:notesMasterId r:id="rId68"/>
  </p:notesMasterIdLst>
  <p:sldIdLst>
    <p:sldId id="894" r:id="rId4"/>
    <p:sldId id="602" r:id="rId5"/>
    <p:sldId id="895" r:id="rId6"/>
    <p:sldId id="896" r:id="rId7"/>
    <p:sldId id="1391" r:id="rId8"/>
    <p:sldId id="844" r:id="rId9"/>
    <p:sldId id="1367" r:id="rId10"/>
    <p:sldId id="868" r:id="rId11"/>
    <p:sldId id="829" r:id="rId12"/>
    <p:sldId id="830" r:id="rId13"/>
    <p:sldId id="1393" r:id="rId14"/>
    <p:sldId id="1394" r:id="rId15"/>
    <p:sldId id="1395" r:id="rId16"/>
    <p:sldId id="883" r:id="rId17"/>
    <p:sldId id="832" r:id="rId18"/>
    <p:sldId id="833" r:id="rId19"/>
    <p:sldId id="1364" r:id="rId20"/>
    <p:sldId id="835" r:id="rId21"/>
    <p:sldId id="1366" r:id="rId22"/>
    <p:sldId id="838" r:id="rId23"/>
    <p:sldId id="839" r:id="rId24"/>
    <p:sldId id="842" r:id="rId25"/>
    <p:sldId id="889" r:id="rId26"/>
    <p:sldId id="1372" r:id="rId27"/>
    <p:sldId id="1382" r:id="rId28"/>
    <p:sldId id="870" r:id="rId29"/>
    <p:sldId id="845" r:id="rId30"/>
    <p:sldId id="846" r:id="rId31"/>
    <p:sldId id="847" r:id="rId32"/>
    <p:sldId id="848" r:id="rId33"/>
    <p:sldId id="834" r:id="rId34"/>
    <p:sldId id="869" r:id="rId35"/>
    <p:sldId id="781" r:id="rId36"/>
    <p:sldId id="762" r:id="rId37"/>
    <p:sldId id="1365" r:id="rId38"/>
    <p:sldId id="840" r:id="rId39"/>
    <p:sldId id="852" r:id="rId40"/>
    <p:sldId id="853" r:id="rId41"/>
    <p:sldId id="854" r:id="rId42"/>
    <p:sldId id="855" r:id="rId43"/>
    <p:sldId id="856" r:id="rId44"/>
    <p:sldId id="1374" r:id="rId45"/>
    <p:sldId id="858" r:id="rId46"/>
    <p:sldId id="859" r:id="rId47"/>
    <p:sldId id="860" r:id="rId48"/>
    <p:sldId id="385" r:id="rId49"/>
    <p:sldId id="337" r:id="rId50"/>
    <p:sldId id="1376" r:id="rId51"/>
    <p:sldId id="865" r:id="rId52"/>
    <p:sldId id="1373" r:id="rId53"/>
    <p:sldId id="1356" r:id="rId54"/>
    <p:sldId id="1369" r:id="rId55"/>
    <p:sldId id="1388" r:id="rId56"/>
    <p:sldId id="1389" r:id="rId57"/>
    <p:sldId id="1390" r:id="rId58"/>
    <p:sldId id="1363" r:id="rId59"/>
    <p:sldId id="1284" r:id="rId60"/>
    <p:sldId id="1377" r:id="rId61"/>
    <p:sldId id="1379" r:id="rId62"/>
    <p:sldId id="1378" r:id="rId63"/>
    <p:sldId id="1396" r:id="rId64"/>
    <p:sldId id="1397" r:id="rId65"/>
    <p:sldId id="1398" r:id="rId66"/>
    <p:sldId id="139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06"/>
    <p:restoredTop sz="88045"/>
  </p:normalViewPr>
  <p:slideViewPr>
    <p:cSldViewPr snapToGrid="0">
      <p:cViewPr varScale="1">
        <p:scale>
          <a:sx n="130" d="100"/>
          <a:sy n="130" d="100"/>
        </p:scale>
        <p:origin x="8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4BA84-9B21-D747-A0CA-68A24596780C}"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3620F6-A620-434F-A292-C1BBF3E0B1C7}" type="slidenum">
              <a:rPr lang="en-US" smtClean="0"/>
              <a:t>‹#›</a:t>
            </a:fld>
            <a:endParaRPr lang="en-US"/>
          </a:p>
        </p:txBody>
      </p:sp>
    </p:spTree>
    <p:extLst>
      <p:ext uri="{BB962C8B-B14F-4D97-AF65-F5344CB8AC3E}">
        <p14:creationId xmlns:p14="http://schemas.microsoft.com/office/powerpoint/2010/main" val="171687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44274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B1B09-70DE-C898-3A81-1EAD69CD9FD4}"/>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75A9ACB-228F-4265-C871-E8C03C6B01FA}"/>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C3DE42F8-9DD0-C72E-ABE3-E01D99CCD1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917936C9-9CDD-9EF5-7EBD-A235E3EC2C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20523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4825BAAB-177C-43DD-B62F-25E1F0371754}"/>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7F081FA6-3ADA-40FB-A2D4-D820BFA4A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en-US" dirty="0"/>
          </a:p>
        </p:txBody>
      </p:sp>
      <p:sp>
        <p:nvSpPr>
          <p:cNvPr id="50180" name="Slide Number Placeholder 3">
            <a:extLst>
              <a:ext uri="{FF2B5EF4-FFF2-40B4-BE49-F238E27FC236}">
                <a16:creationId xmlns:a16="http://schemas.microsoft.com/office/drawing/2014/main" id="{AAB8A0CE-8528-4C26-83CD-BD3A9085C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D6A9393-7BBD-46A1-A4E6-3C780A9D8913}" type="slidenum">
              <a:rPr lang="en-US" altLang="en-US" smtClean="0">
                <a:solidFill>
                  <a:schemeClr val="tx1"/>
                </a:solidFill>
                <a:ea typeface="ＭＳ Ｐゴシック" panose="020B0600070205080204" pitchFamily="34" charset="-128"/>
              </a:rPr>
              <a:pPr/>
              <a:t>6</a:t>
            </a:fld>
            <a:endParaRPr lang="en-US" altLang="en-US">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2291503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B47C1-76EF-A54D-B3CA-E983EB079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B054E-5B90-E235-E2F4-1E4C73527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527EC-095D-223A-5F87-D198ABD3F5D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1BAC21-9378-922C-A2F8-05649DE5B2E8}"/>
              </a:ext>
            </a:extLst>
          </p:cNvPr>
          <p:cNvSpPr>
            <a:spLocks noGrp="1"/>
          </p:cNvSpPr>
          <p:nvPr>
            <p:ph type="sldNum" sz="quarter" idx="5"/>
          </p:nvPr>
        </p:nvSpPr>
        <p:spPr/>
        <p:txBody>
          <a:bodyPr/>
          <a:lstStyle/>
          <a:p>
            <a:fld id="{4657ABDB-F2BB-4FEE-968F-3086E12F6AE0}" type="slidenum">
              <a:rPr lang="en-GB" smtClean="0"/>
              <a:t>7</a:t>
            </a:fld>
            <a:endParaRPr lang="en-GB"/>
          </a:p>
        </p:txBody>
      </p:sp>
    </p:spTree>
    <p:extLst>
      <p:ext uri="{BB962C8B-B14F-4D97-AF65-F5344CB8AC3E}">
        <p14:creationId xmlns:p14="http://schemas.microsoft.com/office/powerpoint/2010/main" val="1530799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further back you go you get lower accuracy, but also lower temporal resolutions.</a:t>
            </a:r>
          </a:p>
          <a:p>
            <a:r>
              <a:rPr lang="en-GB" dirty="0"/>
              <a:t>Proxies in general have large uncertainties, as often other factors affect any given proxy as well.</a:t>
            </a:r>
          </a:p>
          <a:p>
            <a:endParaRPr lang="en-GB" dirty="0"/>
          </a:p>
        </p:txBody>
      </p:sp>
      <p:sp>
        <p:nvSpPr>
          <p:cNvPr id="4" name="Slide Number Placeholder 3"/>
          <p:cNvSpPr>
            <a:spLocks noGrp="1"/>
          </p:cNvSpPr>
          <p:nvPr>
            <p:ph type="sldNum" sz="quarter" idx="5"/>
          </p:nvPr>
        </p:nvSpPr>
        <p:spPr/>
        <p:txBody>
          <a:bodyPr/>
          <a:lstStyle/>
          <a:p>
            <a:fld id="{4657ABDB-F2BB-4FEE-968F-3086E12F6AE0}" type="slidenum">
              <a:rPr lang="en-GB" smtClean="0"/>
              <a:t>8</a:t>
            </a:fld>
            <a:endParaRPr lang="en-GB"/>
          </a:p>
        </p:txBody>
      </p:sp>
    </p:spTree>
    <p:extLst>
      <p:ext uri="{BB962C8B-B14F-4D97-AF65-F5344CB8AC3E}">
        <p14:creationId xmlns:p14="http://schemas.microsoft.com/office/powerpoint/2010/main" val="2883701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9</a:t>
            </a:fld>
            <a:endParaRPr lang="en-GB"/>
          </a:p>
        </p:txBody>
      </p:sp>
    </p:spTree>
    <p:extLst>
      <p:ext uri="{BB962C8B-B14F-4D97-AF65-F5344CB8AC3E}">
        <p14:creationId xmlns:p14="http://schemas.microsoft.com/office/powerpoint/2010/main" val="2038100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10</a:t>
            </a:fld>
            <a:endParaRPr lang="en-GB"/>
          </a:p>
        </p:txBody>
      </p:sp>
    </p:spTree>
    <p:extLst>
      <p:ext uri="{BB962C8B-B14F-4D97-AF65-F5344CB8AC3E}">
        <p14:creationId xmlns:p14="http://schemas.microsoft.com/office/powerpoint/2010/main" val="3730855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3ACC7-86BE-02F5-EBEC-F4B97F2D2EF4}"/>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4FF63D3B-13FE-D25F-C60C-2CA2024A31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E2E5EF-F4B0-4B90-8971-A70B6AB207D3}" type="slidenum">
              <a:rPr lang="en-GB" altLang="en-US" smtClean="0"/>
              <a:pPr>
                <a:spcBef>
                  <a:spcPct val="0"/>
                </a:spcBef>
              </a:pPr>
              <a:t>11</a:t>
            </a:fld>
            <a:endParaRPr lang="en-GB" altLang="en-US"/>
          </a:p>
        </p:txBody>
      </p:sp>
      <p:sp>
        <p:nvSpPr>
          <p:cNvPr id="26627" name="Rectangle 2">
            <a:extLst>
              <a:ext uri="{FF2B5EF4-FFF2-40B4-BE49-F238E27FC236}">
                <a16:creationId xmlns:a16="http://schemas.microsoft.com/office/drawing/2014/main" id="{4C492459-5719-18C0-C6C8-256601D97327}"/>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2FFBD6B-D2AB-8AE3-ADC9-09ADA9A08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extLst>
      <p:ext uri="{BB962C8B-B14F-4D97-AF65-F5344CB8AC3E}">
        <p14:creationId xmlns:p14="http://schemas.microsoft.com/office/powerpoint/2010/main" val="2042970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753B9-4AED-6FC5-81F5-B3BA4D3D5148}"/>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1197C9B2-57CB-3F08-A9EF-6395064FBE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E2E5EF-F4B0-4B90-8971-A70B6AB207D3}" type="slidenum">
              <a:rPr lang="en-GB" altLang="en-US" smtClean="0"/>
              <a:pPr>
                <a:spcBef>
                  <a:spcPct val="0"/>
                </a:spcBef>
              </a:pPr>
              <a:t>12</a:t>
            </a:fld>
            <a:endParaRPr lang="en-GB" altLang="en-US"/>
          </a:p>
        </p:txBody>
      </p:sp>
      <p:sp>
        <p:nvSpPr>
          <p:cNvPr id="26627" name="Rectangle 2">
            <a:extLst>
              <a:ext uri="{FF2B5EF4-FFF2-40B4-BE49-F238E27FC236}">
                <a16:creationId xmlns:a16="http://schemas.microsoft.com/office/drawing/2014/main" id="{2EB271D7-C4BA-9047-4901-6A1CDDAF9335}"/>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234257E2-9954-7BAA-2329-543832096F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extLst>
      <p:ext uri="{BB962C8B-B14F-4D97-AF65-F5344CB8AC3E}">
        <p14:creationId xmlns:p14="http://schemas.microsoft.com/office/powerpoint/2010/main" val="1929642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CF06D-B75F-B3FE-40B8-6BE6BE62792C}"/>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0DF3842B-B11D-9FE5-577F-529C8A5B0A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E2E5EF-F4B0-4B90-8971-A70B6AB207D3}" type="slidenum">
              <a:rPr lang="en-GB" altLang="en-US" smtClean="0"/>
              <a:pPr>
                <a:spcBef>
                  <a:spcPct val="0"/>
                </a:spcBef>
              </a:pPr>
              <a:t>13</a:t>
            </a:fld>
            <a:endParaRPr lang="en-GB" altLang="en-US"/>
          </a:p>
        </p:txBody>
      </p:sp>
      <p:sp>
        <p:nvSpPr>
          <p:cNvPr id="26627" name="Rectangle 2">
            <a:extLst>
              <a:ext uri="{FF2B5EF4-FFF2-40B4-BE49-F238E27FC236}">
                <a16:creationId xmlns:a16="http://schemas.microsoft.com/office/drawing/2014/main" id="{5E2B23FE-1C72-D908-169C-FB8E2F205858}"/>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96DB4DB2-1471-34B7-CA08-42577595DF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p>
        </p:txBody>
      </p:sp>
    </p:spTree>
    <p:extLst>
      <p:ext uri="{BB962C8B-B14F-4D97-AF65-F5344CB8AC3E}">
        <p14:creationId xmlns:p14="http://schemas.microsoft.com/office/powerpoint/2010/main" val="2797745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74AC5D-119C-4D09-828E-FEA636E537EF}" type="slidenum">
              <a:rPr lang="en-US" smtClean="0"/>
              <a:pPr>
                <a:defRPr/>
              </a:pPr>
              <a:t>14</a:t>
            </a:fld>
            <a:endParaRPr lang="en-US"/>
          </a:p>
        </p:txBody>
      </p:sp>
    </p:spTree>
    <p:extLst>
      <p:ext uri="{BB962C8B-B14F-4D97-AF65-F5344CB8AC3E}">
        <p14:creationId xmlns:p14="http://schemas.microsoft.com/office/powerpoint/2010/main" val="3816205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15</a:t>
            </a:fld>
            <a:endParaRPr lang="en-GB"/>
          </a:p>
        </p:txBody>
      </p:sp>
    </p:spTree>
    <p:extLst>
      <p:ext uri="{BB962C8B-B14F-4D97-AF65-F5344CB8AC3E}">
        <p14:creationId xmlns:p14="http://schemas.microsoft.com/office/powerpoint/2010/main" val="3446037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16</a:t>
            </a:fld>
            <a:endParaRPr lang="en-GB"/>
          </a:p>
        </p:txBody>
      </p:sp>
    </p:spTree>
    <p:extLst>
      <p:ext uri="{BB962C8B-B14F-4D97-AF65-F5344CB8AC3E}">
        <p14:creationId xmlns:p14="http://schemas.microsoft.com/office/powerpoint/2010/main" val="3692519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12030-AE2B-86B8-2749-BCDD6E536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B98CD-A4E0-25F4-DC3E-A5F746EE4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FDC92-E582-7700-A225-7D738594D4C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1437C88-3719-E730-0B70-03EF7B98E9AD}"/>
              </a:ext>
            </a:extLst>
          </p:cNvPr>
          <p:cNvSpPr>
            <a:spLocks noGrp="1"/>
          </p:cNvSpPr>
          <p:nvPr>
            <p:ph type="sldNum" sz="quarter" idx="5"/>
          </p:nvPr>
        </p:nvSpPr>
        <p:spPr/>
        <p:txBody>
          <a:bodyPr/>
          <a:lstStyle/>
          <a:p>
            <a:fld id="{306F6F9A-5B16-4399-BCBD-DEDC41608DB2}" type="slidenum">
              <a:rPr lang="en-GB" smtClean="0"/>
              <a:t>17</a:t>
            </a:fld>
            <a:endParaRPr lang="en-GB"/>
          </a:p>
        </p:txBody>
      </p:sp>
    </p:spTree>
    <p:extLst>
      <p:ext uri="{BB962C8B-B14F-4D97-AF65-F5344CB8AC3E}">
        <p14:creationId xmlns:p14="http://schemas.microsoft.com/office/powerpoint/2010/main" val="188743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18</a:t>
            </a:fld>
            <a:endParaRPr lang="en-GB"/>
          </a:p>
        </p:txBody>
      </p:sp>
    </p:spTree>
    <p:extLst>
      <p:ext uri="{BB962C8B-B14F-4D97-AF65-F5344CB8AC3E}">
        <p14:creationId xmlns:p14="http://schemas.microsoft.com/office/powerpoint/2010/main" val="2165343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C0E14-ECB0-84F3-C80E-C75A0CB0D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B2EAF-6F7E-544E-C7CE-512FED878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6C857-8185-EF2D-27E7-EBB50882F87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660E77E-5F6D-7ABD-C9AF-754D0C342E11}"/>
              </a:ext>
            </a:extLst>
          </p:cNvPr>
          <p:cNvSpPr>
            <a:spLocks noGrp="1"/>
          </p:cNvSpPr>
          <p:nvPr>
            <p:ph type="sldNum" sz="quarter" idx="5"/>
          </p:nvPr>
        </p:nvSpPr>
        <p:spPr/>
        <p:txBody>
          <a:bodyPr/>
          <a:lstStyle/>
          <a:p>
            <a:fld id="{306F6F9A-5B16-4399-BCBD-DEDC41608DB2}" type="slidenum">
              <a:rPr lang="en-GB" smtClean="0"/>
              <a:t>19</a:t>
            </a:fld>
            <a:endParaRPr lang="en-GB"/>
          </a:p>
        </p:txBody>
      </p:sp>
    </p:spTree>
    <p:extLst>
      <p:ext uri="{BB962C8B-B14F-4D97-AF65-F5344CB8AC3E}">
        <p14:creationId xmlns:p14="http://schemas.microsoft.com/office/powerpoint/2010/main" val="1787737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20</a:t>
            </a:fld>
            <a:endParaRPr lang="en-GB"/>
          </a:p>
        </p:txBody>
      </p:sp>
    </p:spTree>
    <p:extLst>
      <p:ext uri="{BB962C8B-B14F-4D97-AF65-F5344CB8AC3E}">
        <p14:creationId xmlns:p14="http://schemas.microsoft.com/office/powerpoint/2010/main" val="1139170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21</a:t>
            </a:fld>
            <a:endParaRPr lang="en-GB"/>
          </a:p>
        </p:txBody>
      </p:sp>
    </p:spTree>
    <p:extLst>
      <p:ext uri="{BB962C8B-B14F-4D97-AF65-F5344CB8AC3E}">
        <p14:creationId xmlns:p14="http://schemas.microsoft.com/office/powerpoint/2010/main" val="683358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06F6F9A-5B16-4399-BCBD-DEDC41608DB2}" type="slidenum">
              <a:rPr lang="en-GB" smtClean="0"/>
              <a:t>22</a:t>
            </a:fld>
            <a:endParaRPr lang="en-GB"/>
          </a:p>
        </p:txBody>
      </p:sp>
    </p:spTree>
    <p:extLst>
      <p:ext uri="{BB962C8B-B14F-4D97-AF65-F5344CB8AC3E}">
        <p14:creationId xmlns:p14="http://schemas.microsoft.com/office/powerpoint/2010/main" val="77225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474AC5D-119C-4D09-828E-FEA636E537EF}" type="slidenum">
              <a:rPr lang="en-US" smtClean="0"/>
              <a:pPr>
                <a:defRPr/>
              </a:pPr>
              <a:t>23</a:t>
            </a:fld>
            <a:endParaRPr lang="en-US"/>
          </a:p>
        </p:txBody>
      </p:sp>
    </p:spTree>
    <p:extLst>
      <p:ext uri="{BB962C8B-B14F-4D97-AF65-F5344CB8AC3E}">
        <p14:creationId xmlns:p14="http://schemas.microsoft.com/office/powerpoint/2010/main" val="3610538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9FE05-DEC4-F43B-87D1-C3975A794E82}"/>
            </a:ext>
          </a:extLst>
        </p:cNvPr>
        <p:cNvGrpSpPr/>
        <p:nvPr/>
      </p:nvGrpSpPr>
      <p:grpSpPr>
        <a:xfrm>
          <a:off x="0" y="0"/>
          <a:ext cx="0" cy="0"/>
          <a:chOff x="0" y="0"/>
          <a:chExt cx="0" cy="0"/>
        </a:xfrm>
      </p:grpSpPr>
      <p:sp>
        <p:nvSpPr>
          <p:cNvPr id="60418" name="Rectangle 7">
            <a:extLst>
              <a:ext uri="{FF2B5EF4-FFF2-40B4-BE49-F238E27FC236}">
                <a16:creationId xmlns:a16="http://schemas.microsoft.com/office/drawing/2014/main" id="{FBB9EE4D-AC6B-7DD5-FC39-4C7D21191356}"/>
              </a:ext>
            </a:extLst>
          </p:cNvPr>
          <p:cNvSpPr>
            <a:spLocks noGrp="1" noChangeArrowheads="1"/>
          </p:cNvSpPr>
          <p:nvPr>
            <p:ph type="sldNum" sz="quarter" idx="5"/>
          </p:nvPr>
        </p:nvSpPr>
        <p:spPr>
          <a:noFill/>
        </p:spPr>
        <p:txBody>
          <a:bodyPr/>
          <a:lstStyle/>
          <a:p>
            <a:fld id="{FBCB2604-47D4-4186-A38F-9BD40DD20DC2}" type="slidenum">
              <a:rPr lang="en-US" smtClean="0"/>
              <a:pPr/>
              <a:t>24</a:t>
            </a:fld>
            <a:endParaRPr lang="en-US"/>
          </a:p>
        </p:txBody>
      </p:sp>
      <p:sp>
        <p:nvSpPr>
          <p:cNvPr id="60419" name="Rectangle 2">
            <a:extLst>
              <a:ext uri="{FF2B5EF4-FFF2-40B4-BE49-F238E27FC236}">
                <a16:creationId xmlns:a16="http://schemas.microsoft.com/office/drawing/2014/main" id="{F6360253-E761-98E6-B65C-40CAA980DE66}"/>
              </a:ext>
            </a:extLst>
          </p:cNvPr>
          <p:cNvSpPr>
            <a:spLocks noGrp="1" noRot="1" noChangeAspect="1" noChangeArrowheads="1" noTextEdit="1"/>
          </p:cNvSpPr>
          <p:nvPr>
            <p:ph type="sldImg"/>
          </p:nvPr>
        </p:nvSpPr>
        <p:spPr>
          <a:xfrm>
            <a:off x="460375" y="720725"/>
            <a:ext cx="6397625" cy="3598863"/>
          </a:xfrm>
          <a:ln/>
        </p:spPr>
      </p:sp>
      <p:sp>
        <p:nvSpPr>
          <p:cNvPr id="60420" name="Rectangle 3">
            <a:extLst>
              <a:ext uri="{FF2B5EF4-FFF2-40B4-BE49-F238E27FC236}">
                <a16:creationId xmlns:a16="http://schemas.microsoft.com/office/drawing/2014/main" id="{49323A7C-1D0D-3CBB-4401-710F51F93024}"/>
              </a:ext>
            </a:extLst>
          </p:cNvPr>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269294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886F-DB72-51A5-345E-7335A9258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F61AE-1E4B-2E22-B070-869ECDD97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16AA-EA01-4595-1101-D37C4F16AE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85CF23-4833-3C52-6AA6-B3322A643D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87194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26</a:t>
            </a:fld>
            <a:endParaRPr lang="en-GB"/>
          </a:p>
        </p:txBody>
      </p:sp>
    </p:spTree>
    <p:extLst>
      <p:ext uri="{BB962C8B-B14F-4D97-AF65-F5344CB8AC3E}">
        <p14:creationId xmlns:p14="http://schemas.microsoft.com/office/powerpoint/2010/main" val="30266919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27</a:t>
            </a:fld>
            <a:endParaRPr lang="en-GB"/>
          </a:p>
        </p:txBody>
      </p:sp>
    </p:spTree>
    <p:extLst>
      <p:ext uri="{BB962C8B-B14F-4D97-AF65-F5344CB8AC3E}">
        <p14:creationId xmlns:p14="http://schemas.microsoft.com/office/powerpoint/2010/main" val="4126074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28</a:t>
            </a:fld>
            <a:endParaRPr lang="en-GB"/>
          </a:p>
        </p:txBody>
      </p:sp>
    </p:spTree>
    <p:extLst>
      <p:ext uri="{BB962C8B-B14F-4D97-AF65-F5344CB8AC3E}">
        <p14:creationId xmlns:p14="http://schemas.microsoft.com/office/powerpoint/2010/main" val="32696016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29</a:t>
            </a:fld>
            <a:endParaRPr lang="en-GB"/>
          </a:p>
        </p:txBody>
      </p:sp>
    </p:spTree>
    <p:extLst>
      <p:ext uri="{BB962C8B-B14F-4D97-AF65-F5344CB8AC3E}">
        <p14:creationId xmlns:p14="http://schemas.microsoft.com/office/powerpoint/2010/main" val="700404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30</a:t>
            </a:fld>
            <a:endParaRPr lang="en-GB"/>
          </a:p>
        </p:txBody>
      </p:sp>
    </p:spTree>
    <p:extLst>
      <p:ext uri="{BB962C8B-B14F-4D97-AF65-F5344CB8AC3E}">
        <p14:creationId xmlns:p14="http://schemas.microsoft.com/office/powerpoint/2010/main" val="17569565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31</a:t>
            </a:fld>
            <a:endParaRPr lang="en-GB"/>
          </a:p>
        </p:txBody>
      </p:sp>
    </p:spTree>
    <p:extLst>
      <p:ext uri="{BB962C8B-B14F-4D97-AF65-F5344CB8AC3E}">
        <p14:creationId xmlns:p14="http://schemas.microsoft.com/office/powerpoint/2010/main" val="3363174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32</a:t>
            </a:fld>
            <a:endParaRPr lang="en-GB"/>
          </a:p>
        </p:txBody>
      </p:sp>
    </p:spTree>
    <p:extLst>
      <p:ext uri="{BB962C8B-B14F-4D97-AF65-F5344CB8AC3E}">
        <p14:creationId xmlns:p14="http://schemas.microsoft.com/office/powerpoint/2010/main" val="28329271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3620F6-A620-434F-A292-C1BBF3E0B1C7}" type="slidenum">
              <a:rPr lang="en-US" smtClean="0"/>
              <a:t>34</a:t>
            </a:fld>
            <a:endParaRPr lang="en-US"/>
          </a:p>
        </p:txBody>
      </p:sp>
    </p:spTree>
    <p:extLst>
      <p:ext uri="{BB962C8B-B14F-4D97-AF65-F5344CB8AC3E}">
        <p14:creationId xmlns:p14="http://schemas.microsoft.com/office/powerpoint/2010/main" val="38346592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1817A-D4ED-7DB7-7E45-E9A2CBB06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68D53-2540-BD2C-3C4A-336D8E891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26C2E-DA30-AFCE-8C8C-83DD69D22F5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CFF4534-59D2-62CB-BF76-B94562AF7731}"/>
              </a:ext>
            </a:extLst>
          </p:cNvPr>
          <p:cNvSpPr>
            <a:spLocks noGrp="1"/>
          </p:cNvSpPr>
          <p:nvPr>
            <p:ph type="sldNum" sz="quarter" idx="5"/>
          </p:nvPr>
        </p:nvSpPr>
        <p:spPr/>
        <p:txBody>
          <a:bodyPr/>
          <a:lstStyle/>
          <a:p>
            <a:fld id="{4657ABDB-F2BB-4FEE-968F-3086E12F6AE0}" type="slidenum">
              <a:rPr lang="en-GB" smtClean="0"/>
              <a:t>35</a:t>
            </a:fld>
            <a:endParaRPr lang="en-GB"/>
          </a:p>
        </p:txBody>
      </p:sp>
    </p:spTree>
    <p:extLst>
      <p:ext uri="{BB962C8B-B14F-4D97-AF65-F5344CB8AC3E}">
        <p14:creationId xmlns:p14="http://schemas.microsoft.com/office/powerpoint/2010/main" val="42502857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36</a:t>
            </a:fld>
            <a:endParaRPr lang="en-GB"/>
          </a:p>
        </p:txBody>
      </p:sp>
    </p:spTree>
    <p:extLst>
      <p:ext uri="{BB962C8B-B14F-4D97-AF65-F5344CB8AC3E}">
        <p14:creationId xmlns:p14="http://schemas.microsoft.com/office/powerpoint/2010/main" val="268971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37</a:t>
            </a:fld>
            <a:endParaRPr lang="en-GB"/>
          </a:p>
        </p:txBody>
      </p:sp>
    </p:spTree>
    <p:extLst>
      <p:ext uri="{BB962C8B-B14F-4D97-AF65-F5344CB8AC3E}">
        <p14:creationId xmlns:p14="http://schemas.microsoft.com/office/powerpoint/2010/main" val="20487702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38</a:t>
            </a:fld>
            <a:endParaRPr lang="en-GB"/>
          </a:p>
        </p:txBody>
      </p:sp>
    </p:spTree>
    <p:extLst>
      <p:ext uri="{BB962C8B-B14F-4D97-AF65-F5344CB8AC3E}">
        <p14:creationId xmlns:p14="http://schemas.microsoft.com/office/powerpoint/2010/main" val="776373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39</a:t>
            </a:fld>
            <a:endParaRPr lang="en-GB"/>
          </a:p>
        </p:txBody>
      </p:sp>
    </p:spTree>
    <p:extLst>
      <p:ext uri="{BB962C8B-B14F-4D97-AF65-F5344CB8AC3E}">
        <p14:creationId xmlns:p14="http://schemas.microsoft.com/office/powerpoint/2010/main" val="18050208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40</a:t>
            </a:fld>
            <a:endParaRPr lang="en-GB"/>
          </a:p>
        </p:txBody>
      </p:sp>
    </p:spTree>
    <p:extLst>
      <p:ext uri="{BB962C8B-B14F-4D97-AF65-F5344CB8AC3E}">
        <p14:creationId xmlns:p14="http://schemas.microsoft.com/office/powerpoint/2010/main" val="38170603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41</a:t>
            </a:fld>
            <a:endParaRPr lang="en-GB"/>
          </a:p>
        </p:txBody>
      </p:sp>
    </p:spTree>
    <p:extLst>
      <p:ext uri="{BB962C8B-B14F-4D97-AF65-F5344CB8AC3E}">
        <p14:creationId xmlns:p14="http://schemas.microsoft.com/office/powerpoint/2010/main" val="14668789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56895-05C8-93D3-4E89-CD137158E0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98D64-ECA8-09BB-59BA-8A7F50BD9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0B72D-A199-3DA7-0083-1DA15E3B76D2}"/>
              </a:ext>
            </a:extLst>
          </p:cNvPr>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A5C43E82-7F6F-9EC6-AD03-FA6B70E055EB}"/>
              </a:ext>
            </a:extLst>
          </p:cNvPr>
          <p:cNvSpPr>
            <a:spLocks noGrp="1"/>
          </p:cNvSpPr>
          <p:nvPr>
            <p:ph type="sldNum" sz="quarter" idx="5"/>
          </p:nvPr>
        </p:nvSpPr>
        <p:spPr/>
        <p:txBody>
          <a:bodyPr/>
          <a:lstStyle/>
          <a:p>
            <a:fld id="{8C935868-6F4D-4776-A3B4-B0F3E883BB92}" type="slidenum">
              <a:rPr lang="en-GB" smtClean="0"/>
              <a:t>42</a:t>
            </a:fld>
            <a:endParaRPr lang="en-GB"/>
          </a:p>
        </p:txBody>
      </p:sp>
    </p:spTree>
    <p:extLst>
      <p:ext uri="{BB962C8B-B14F-4D97-AF65-F5344CB8AC3E}">
        <p14:creationId xmlns:p14="http://schemas.microsoft.com/office/powerpoint/2010/main" val="4079793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43</a:t>
            </a:fld>
            <a:endParaRPr lang="en-GB"/>
          </a:p>
        </p:txBody>
      </p:sp>
    </p:spTree>
    <p:extLst>
      <p:ext uri="{BB962C8B-B14F-4D97-AF65-F5344CB8AC3E}">
        <p14:creationId xmlns:p14="http://schemas.microsoft.com/office/powerpoint/2010/main" val="17374575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44</a:t>
            </a:fld>
            <a:endParaRPr lang="en-GB"/>
          </a:p>
        </p:txBody>
      </p:sp>
    </p:spTree>
    <p:extLst>
      <p:ext uri="{BB962C8B-B14F-4D97-AF65-F5344CB8AC3E}">
        <p14:creationId xmlns:p14="http://schemas.microsoft.com/office/powerpoint/2010/main" val="916467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45</a:t>
            </a:fld>
            <a:endParaRPr lang="en-GB"/>
          </a:p>
        </p:txBody>
      </p:sp>
    </p:spTree>
    <p:extLst>
      <p:ext uri="{BB962C8B-B14F-4D97-AF65-F5344CB8AC3E}">
        <p14:creationId xmlns:p14="http://schemas.microsoft.com/office/powerpoint/2010/main" val="11788322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5FE2A151-D7E9-2CEF-8956-F00E75480F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spcBef>
                <a:spcPct val="30000"/>
              </a:spcBef>
              <a:defRPr sz="1200">
                <a:solidFill>
                  <a:schemeClr val="tx1"/>
                </a:solidFill>
                <a:latin typeface="Times New Roman" panose="02020603050405020304" pitchFamily="18" charset="0"/>
              </a:defRPr>
            </a:lvl1pPr>
            <a:lvl2pPr marL="742950" indent="-285750" defTabSz="968375">
              <a:spcBef>
                <a:spcPct val="30000"/>
              </a:spcBef>
              <a:defRPr sz="1200">
                <a:solidFill>
                  <a:schemeClr val="tx1"/>
                </a:solidFill>
                <a:latin typeface="Times New Roman" panose="02020603050405020304" pitchFamily="18" charset="0"/>
              </a:defRPr>
            </a:lvl2pPr>
            <a:lvl3pPr marL="1143000" indent="-228600" defTabSz="968375">
              <a:spcBef>
                <a:spcPct val="30000"/>
              </a:spcBef>
              <a:defRPr sz="1200">
                <a:solidFill>
                  <a:schemeClr val="tx1"/>
                </a:solidFill>
                <a:latin typeface="Times New Roman" panose="02020603050405020304" pitchFamily="18" charset="0"/>
              </a:defRPr>
            </a:lvl3pPr>
            <a:lvl4pPr marL="1600200" indent="-228600" defTabSz="968375">
              <a:spcBef>
                <a:spcPct val="30000"/>
              </a:spcBef>
              <a:defRPr sz="1200">
                <a:solidFill>
                  <a:schemeClr val="tx1"/>
                </a:solidFill>
                <a:latin typeface="Times New Roman" panose="02020603050405020304" pitchFamily="18" charset="0"/>
              </a:defRPr>
            </a:lvl4pPr>
            <a:lvl5pPr marL="2057400" indent="-228600" defTabSz="968375">
              <a:spcBef>
                <a:spcPct val="30000"/>
              </a:spcBef>
              <a:defRPr sz="1200">
                <a:solidFill>
                  <a:schemeClr val="tx1"/>
                </a:solidFill>
                <a:latin typeface="Times New Roman" panose="02020603050405020304" pitchFamily="18" charset="0"/>
              </a:defRPr>
            </a:lvl5pPr>
            <a:lvl6pPr marL="2514600" indent="-228600" defTabSz="9683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83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83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83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34DD5CC-DAF9-5A4C-8F52-57B1CC2AC96C}" type="slidenum">
              <a:rPr lang="en-GB" altLang="en-US" sz="1300"/>
              <a:pPr>
                <a:spcBef>
                  <a:spcPct val="0"/>
                </a:spcBef>
              </a:pPr>
              <a:t>46</a:t>
            </a:fld>
            <a:endParaRPr lang="en-GB" altLang="en-US" sz="1300"/>
          </a:p>
        </p:txBody>
      </p:sp>
      <p:sp>
        <p:nvSpPr>
          <p:cNvPr id="9219" name="Rectangle 2">
            <a:extLst>
              <a:ext uri="{FF2B5EF4-FFF2-40B4-BE49-F238E27FC236}">
                <a16:creationId xmlns:a16="http://schemas.microsoft.com/office/drawing/2014/main" id="{8158AA02-B42A-CD67-0FDF-F10630492E3C}"/>
              </a:ext>
            </a:extLst>
          </p:cNvPr>
          <p:cNvSpPr>
            <a:spLocks noGrp="1" noRot="1" noChangeAspect="1" noChangeArrowheads="1" noTextEdit="1"/>
          </p:cNvSpPr>
          <p:nvPr>
            <p:ph type="sldImg"/>
          </p:nvPr>
        </p:nvSpPr>
        <p:spPr>
          <a:xfrm>
            <a:off x="457200" y="720725"/>
            <a:ext cx="6397625" cy="3598863"/>
          </a:xfrm>
          <a:ln/>
        </p:spPr>
      </p:sp>
      <p:sp>
        <p:nvSpPr>
          <p:cNvPr id="9220" name="Rectangle 3">
            <a:extLst>
              <a:ext uri="{FF2B5EF4-FFF2-40B4-BE49-F238E27FC236}">
                <a16:creationId xmlns:a16="http://schemas.microsoft.com/office/drawing/2014/main" id="{C889189D-36D8-B9B8-8B49-AF2FD15371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cs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5EAA9DB-3DCE-01AD-6509-0CEC9225EC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spcBef>
                <a:spcPct val="30000"/>
              </a:spcBef>
              <a:defRPr sz="1200">
                <a:solidFill>
                  <a:schemeClr val="tx1"/>
                </a:solidFill>
                <a:latin typeface="Times New Roman" panose="02020603050405020304" pitchFamily="18" charset="0"/>
              </a:defRPr>
            </a:lvl1pPr>
            <a:lvl2pPr marL="742950" indent="-285750" defTabSz="968375">
              <a:spcBef>
                <a:spcPct val="30000"/>
              </a:spcBef>
              <a:defRPr sz="1200">
                <a:solidFill>
                  <a:schemeClr val="tx1"/>
                </a:solidFill>
                <a:latin typeface="Times New Roman" panose="02020603050405020304" pitchFamily="18" charset="0"/>
              </a:defRPr>
            </a:lvl2pPr>
            <a:lvl3pPr marL="1143000" indent="-228600" defTabSz="968375">
              <a:spcBef>
                <a:spcPct val="30000"/>
              </a:spcBef>
              <a:defRPr sz="1200">
                <a:solidFill>
                  <a:schemeClr val="tx1"/>
                </a:solidFill>
                <a:latin typeface="Times New Roman" panose="02020603050405020304" pitchFamily="18" charset="0"/>
              </a:defRPr>
            </a:lvl3pPr>
            <a:lvl4pPr marL="1600200" indent="-228600" defTabSz="968375">
              <a:spcBef>
                <a:spcPct val="30000"/>
              </a:spcBef>
              <a:defRPr sz="1200">
                <a:solidFill>
                  <a:schemeClr val="tx1"/>
                </a:solidFill>
                <a:latin typeface="Times New Roman" panose="02020603050405020304" pitchFamily="18" charset="0"/>
              </a:defRPr>
            </a:lvl4pPr>
            <a:lvl5pPr marL="2057400" indent="-228600" defTabSz="968375">
              <a:spcBef>
                <a:spcPct val="30000"/>
              </a:spcBef>
              <a:defRPr sz="1200">
                <a:solidFill>
                  <a:schemeClr val="tx1"/>
                </a:solidFill>
                <a:latin typeface="Times New Roman" panose="02020603050405020304" pitchFamily="18" charset="0"/>
              </a:defRPr>
            </a:lvl5pPr>
            <a:lvl6pPr marL="2514600" indent="-228600" defTabSz="9683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83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83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83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8596217-71CF-9847-BC31-DDF5E4AE994E}" type="slidenum">
              <a:rPr lang="en-GB" altLang="en-US" sz="1300"/>
              <a:pPr>
                <a:spcBef>
                  <a:spcPct val="0"/>
                </a:spcBef>
              </a:pPr>
              <a:t>47</a:t>
            </a:fld>
            <a:endParaRPr lang="en-GB" altLang="en-US" sz="1300"/>
          </a:p>
        </p:txBody>
      </p:sp>
      <p:sp>
        <p:nvSpPr>
          <p:cNvPr id="21507" name="Rectangle 2">
            <a:extLst>
              <a:ext uri="{FF2B5EF4-FFF2-40B4-BE49-F238E27FC236}">
                <a16:creationId xmlns:a16="http://schemas.microsoft.com/office/drawing/2014/main" id="{F3BB62F4-63F9-DAB1-0243-31FD8D7A2855}"/>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65385BD7-8DC8-8443-0BFC-014FAD1095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64D44-5B4A-8211-D1CA-FD11DE5C932C}"/>
            </a:ext>
          </a:extLst>
        </p:cNvPr>
        <p:cNvGrpSpPr/>
        <p:nvPr/>
      </p:nvGrpSpPr>
      <p:grpSpPr>
        <a:xfrm>
          <a:off x="0" y="0"/>
          <a:ext cx="0" cy="0"/>
          <a:chOff x="0" y="0"/>
          <a:chExt cx="0" cy="0"/>
        </a:xfrm>
      </p:grpSpPr>
      <p:sp>
        <p:nvSpPr>
          <p:cNvPr id="21506" name="Rectangle 7">
            <a:extLst>
              <a:ext uri="{FF2B5EF4-FFF2-40B4-BE49-F238E27FC236}">
                <a16:creationId xmlns:a16="http://schemas.microsoft.com/office/drawing/2014/main" id="{534EDAEC-09CB-A21C-B7BE-7B5B22638B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spcBef>
                <a:spcPct val="30000"/>
              </a:spcBef>
              <a:defRPr sz="1200">
                <a:solidFill>
                  <a:schemeClr val="tx1"/>
                </a:solidFill>
                <a:latin typeface="Times New Roman" panose="02020603050405020304" pitchFamily="18" charset="0"/>
              </a:defRPr>
            </a:lvl1pPr>
            <a:lvl2pPr marL="742950" indent="-285750" defTabSz="968375">
              <a:spcBef>
                <a:spcPct val="30000"/>
              </a:spcBef>
              <a:defRPr sz="1200">
                <a:solidFill>
                  <a:schemeClr val="tx1"/>
                </a:solidFill>
                <a:latin typeface="Times New Roman" panose="02020603050405020304" pitchFamily="18" charset="0"/>
              </a:defRPr>
            </a:lvl2pPr>
            <a:lvl3pPr marL="1143000" indent="-228600" defTabSz="968375">
              <a:spcBef>
                <a:spcPct val="30000"/>
              </a:spcBef>
              <a:defRPr sz="1200">
                <a:solidFill>
                  <a:schemeClr val="tx1"/>
                </a:solidFill>
                <a:latin typeface="Times New Roman" panose="02020603050405020304" pitchFamily="18" charset="0"/>
              </a:defRPr>
            </a:lvl3pPr>
            <a:lvl4pPr marL="1600200" indent="-228600" defTabSz="968375">
              <a:spcBef>
                <a:spcPct val="30000"/>
              </a:spcBef>
              <a:defRPr sz="1200">
                <a:solidFill>
                  <a:schemeClr val="tx1"/>
                </a:solidFill>
                <a:latin typeface="Times New Roman" panose="02020603050405020304" pitchFamily="18" charset="0"/>
              </a:defRPr>
            </a:lvl4pPr>
            <a:lvl5pPr marL="2057400" indent="-228600" defTabSz="968375">
              <a:spcBef>
                <a:spcPct val="30000"/>
              </a:spcBef>
              <a:defRPr sz="1200">
                <a:solidFill>
                  <a:schemeClr val="tx1"/>
                </a:solidFill>
                <a:latin typeface="Times New Roman" panose="02020603050405020304" pitchFamily="18" charset="0"/>
              </a:defRPr>
            </a:lvl5pPr>
            <a:lvl6pPr marL="2514600" indent="-228600" defTabSz="9683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83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83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83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8596217-71CF-9847-BC31-DDF5E4AE994E}" type="slidenum">
              <a:rPr lang="en-GB" altLang="en-US" sz="1300"/>
              <a:pPr>
                <a:spcBef>
                  <a:spcPct val="0"/>
                </a:spcBef>
              </a:pPr>
              <a:t>48</a:t>
            </a:fld>
            <a:endParaRPr lang="en-GB" altLang="en-US" sz="1300"/>
          </a:p>
        </p:txBody>
      </p:sp>
      <p:sp>
        <p:nvSpPr>
          <p:cNvPr id="21507" name="Rectangle 2">
            <a:extLst>
              <a:ext uri="{FF2B5EF4-FFF2-40B4-BE49-F238E27FC236}">
                <a16:creationId xmlns:a16="http://schemas.microsoft.com/office/drawing/2014/main" id="{4DA79BA7-E1A6-CCB1-F50C-9B1FC6E2DF61}"/>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BD17FB86-4F06-900D-6BAF-A6DADCC276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Tree>
    <p:extLst>
      <p:ext uri="{BB962C8B-B14F-4D97-AF65-F5344CB8AC3E}">
        <p14:creationId xmlns:p14="http://schemas.microsoft.com/office/powerpoint/2010/main" val="42302799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8C935868-6F4D-4776-A3B4-B0F3E883BB92}" type="slidenum">
              <a:rPr lang="en-GB" smtClean="0"/>
              <a:t>49</a:t>
            </a:fld>
            <a:endParaRPr lang="en-GB"/>
          </a:p>
        </p:txBody>
      </p:sp>
    </p:spTree>
    <p:extLst>
      <p:ext uri="{BB962C8B-B14F-4D97-AF65-F5344CB8AC3E}">
        <p14:creationId xmlns:p14="http://schemas.microsoft.com/office/powerpoint/2010/main" val="37943278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CC25-9FFA-C33E-25AC-F354E5E06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5E001-0846-1628-3AEE-5CAEC4526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C990C0-4E5E-41FC-CD42-CA81C6E6AD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5BB4D933-C6F5-79DF-C310-3A7B074C44E5}"/>
              </a:ext>
            </a:extLst>
          </p:cNvPr>
          <p:cNvSpPr>
            <a:spLocks noGrp="1"/>
          </p:cNvSpPr>
          <p:nvPr>
            <p:ph type="sldNum" sz="quarter" idx="5"/>
          </p:nvPr>
        </p:nvSpPr>
        <p:spPr/>
        <p:txBody>
          <a:bodyPr/>
          <a:lstStyle/>
          <a:p>
            <a:fld id="{8C935868-6F4D-4776-A3B4-B0F3E883BB92}" type="slidenum">
              <a:rPr lang="en-GB" smtClean="0"/>
              <a:t>50</a:t>
            </a:fld>
            <a:endParaRPr lang="en-GB"/>
          </a:p>
        </p:txBody>
      </p:sp>
    </p:spTree>
    <p:extLst>
      <p:ext uri="{BB962C8B-B14F-4D97-AF65-F5344CB8AC3E}">
        <p14:creationId xmlns:p14="http://schemas.microsoft.com/office/powerpoint/2010/main" val="38574817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895840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EC0D-AD99-36FC-7A4A-EADDF39A0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A6BA8-54BB-4A7C-247F-296981BCD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2159E-3DBB-A31F-4E95-5EF30506197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368ECDF-E153-CA26-F75B-DD6E3E69DE27}"/>
              </a:ext>
            </a:extLst>
          </p:cNvPr>
          <p:cNvSpPr>
            <a:spLocks noGrp="1"/>
          </p:cNvSpPr>
          <p:nvPr>
            <p:ph type="sldNum" sz="quarter" idx="5"/>
          </p:nvPr>
        </p:nvSpPr>
        <p:spPr/>
        <p:txBody>
          <a:bodyPr/>
          <a:lstStyle/>
          <a:p>
            <a:fld id="{8C935868-6F4D-4776-A3B4-B0F3E883BB92}" type="slidenum">
              <a:rPr lang="en-GB" smtClean="0"/>
              <a:t>52</a:t>
            </a:fld>
            <a:endParaRPr lang="en-GB"/>
          </a:p>
        </p:txBody>
      </p:sp>
    </p:spTree>
    <p:extLst>
      <p:ext uri="{BB962C8B-B14F-4D97-AF65-F5344CB8AC3E}">
        <p14:creationId xmlns:p14="http://schemas.microsoft.com/office/powerpoint/2010/main" val="11257415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D3830-898C-0F7A-29CE-2E1E01735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AFD13-AD43-125F-429F-78A9F1282F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8A105-0D0A-D521-0BE7-DC4286BFFB7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0C73230-000A-E0A7-EDF8-973DA42E4F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0253809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A0CA-2C8E-1555-2AB3-C6A7D797B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8EAFF-D604-5742-0F09-B7A3676AF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32F12-BA5D-8F98-02B2-5B71467828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A9A45CC-2750-9A48-6716-7FA9A70225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8896530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3CE4-8C0B-3DFC-5FB8-B2EA7A6BEE08}"/>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2E32859-4956-0E43-CA86-D7F1E7B1A1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4656766-9178-76BB-1992-D5ECA6AC2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F69C0F02-F4F1-D1E5-5751-6BEC404B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altLang="en-US" sz="120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182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9E00-6EA3-AF8A-FCDB-A2CEC2C5B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90376-5B2A-BAC3-4094-C8C2E253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A9D93-2D50-3CE1-2B7F-FF5840004D8E}"/>
              </a:ext>
            </a:extLst>
          </p:cNvPr>
          <p:cNvSpPr>
            <a:spLocks noGrp="1"/>
          </p:cNvSpPr>
          <p:nvPr>
            <p:ph type="body" idx="1"/>
          </p:nvPr>
        </p:nvSpPr>
        <p:spPr/>
        <p:txBody>
          <a:bodyPr/>
          <a:lstStyle/>
          <a:p>
            <a:endParaRPr lang="en-GB" dirty="0">
              <a:latin typeface="DM Sans" pitchFamily="2" charset="0"/>
            </a:endParaRPr>
          </a:p>
        </p:txBody>
      </p:sp>
      <p:sp>
        <p:nvSpPr>
          <p:cNvPr id="4" name="Slide Number Placeholder 3">
            <a:extLst>
              <a:ext uri="{FF2B5EF4-FFF2-40B4-BE49-F238E27FC236}">
                <a16:creationId xmlns:a16="http://schemas.microsoft.com/office/drawing/2014/main" id="{18B8D7CB-BFD1-2F29-D02C-35E260FD00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884885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FAC5-04CC-5558-0441-1E0BF32DE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7C170-D7A7-1860-D1B7-282CBBD99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4111A-BA9B-A47D-A85B-FEAECD9A4FA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583D4F-ABE6-4606-9FE8-E85340A6D6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051326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381C3-A4F1-5C62-CA1D-F9548F13A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43786-1627-10A4-AA62-4921C24C4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D5C460-6AED-9505-A906-83D9F25747F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E86FE7-BA61-DC24-3AE7-ED47539EBC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716693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C466C-B795-9B24-7EDB-7FDAC3ACC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1B9AA-4FCF-B22D-E686-EB3ED6C6B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7BC55-7B70-9189-65CD-9C094D3877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D66D09-6E39-4918-550D-725049F4F9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7211133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5F33-5DD7-E10D-3A70-E7AE7B9BA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EEC39-805D-0719-B188-46DEAB556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20787-2315-5DC5-A159-D5E17B594DE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31A290-1C28-0809-DA2C-A29DA3568A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7324307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88669-6069-06CD-72F3-D4044627D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5880C-B364-B682-0B56-422EEFD43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5D787-0381-F921-2823-6C20195541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DEEA5F0-2E2D-85BB-29D5-D48CE38881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906848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947D-642C-4429-58AD-920639574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291F6-A713-E51C-0FE3-7DBF85630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9C4AF-F507-421D-625F-7DDF97C47A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770E438-2CF5-6B53-EB50-2F14865C5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194074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BFAA-653F-9A89-24EA-7AE0E5615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94C44-166B-B7AA-921E-45A7F1DF9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89158-4F36-AAF2-72C0-968FFA24E47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5E5A61B-2411-765D-8924-E7E329F36B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9670754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69260-1F4A-5059-2D49-8E4C52CA0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FC772-2B9E-7C66-9038-7E6C56DAD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465C8-1669-7D71-148D-3F4754CD94E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BADCB40-3A3E-C207-6FD8-4EC952398E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05439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2209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0789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5924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904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89109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059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31044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138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22720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92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82554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2131470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2192000" cy="4360127"/>
          </a:xfrm>
          <a:solidFill>
            <a:schemeClr val="bg1">
              <a:lumMod val="95000"/>
            </a:schemeClr>
          </a:solidFill>
          <a:effectLst/>
        </p:spPr>
        <p:txBody>
          <a:bodyPr>
            <a:normAutofit/>
          </a:bodyPr>
          <a:lstStyle>
            <a:lvl1pPr marL="0" indent="0">
              <a:buNone/>
              <a:defRPr sz="130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373780635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2873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139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50272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1514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84956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46553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78795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6775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14244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11663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80524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11" indent="0" algn="ctr">
              <a:buNone/>
              <a:defRPr>
                <a:solidFill>
                  <a:schemeClr val="tx1">
                    <a:tint val="75000"/>
                  </a:schemeClr>
                </a:solidFill>
              </a:defRPr>
            </a:lvl2pPr>
            <a:lvl3pPr marL="457223" indent="0" algn="ctr">
              <a:buNone/>
              <a:defRPr>
                <a:solidFill>
                  <a:schemeClr val="tx1">
                    <a:tint val="75000"/>
                  </a:schemeClr>
                </a:solidFill>
              </a:defRPr>
            </a:lvl3pPr>
            <a:lvl4pPr marL="685835" indent="0" algn="ctr">
              <a:buNone/>
              <a:defRPr>
                <a:solidFill>
                  <a:schemeClr val="tx1">
                    <a:tint val="75000"/>
                  </a:schemeClr>
                </a:solidFill>
              </a:defRPr>
            </a:lvl4pPr>
            <a:lvl5pPr marL="914446" indent="0" algn="ctr">
              <a:buNone/>
              <a:defRPr>
                <a:solidFill>
                  <a:schemeClr val="tx1">
                    <a:tint val="75000"/>
                  </a:schemeClr>
                </a:solidFill>
              </a:defRPr>
            </a:lvl5pPr>
            <a:lvl6pPr marL="1143057" indent="0" algn="ctr">
              <a:buNone/>
              <a:defRPr>
                <a:solidFill>
                  <a:schemeClr val="tx1">
                    <a:tint val="75000"/>
                  </a:schemeClr>
                </a:solidFill>
              </a:defRPr>
            </a:lvl6pPr>
            <a:lvl7pPr marL="1371668" indent="0" algn="ctr">
              <a:buNone/>
              <a:defRPr>
                <a:solidFill>
                  <a:schemeClr val="tx1">
                    <a:tint val="75000"/>
                  </a:schemeClr>
                </a:solidFill>
              </a:defRPr>
            </a:lvl7pPr>
            <a:lvl8pPr marL="1600280" indent="0" algn="ctr">
              <a:buNone/>
              <a:defRPr>
                <a:solidFill>
                  <a:schemeClr val="tx1">
                    <a:tint val="75000"/>
                  </a:schemeClr>
                </a:solidFill>
              </a:defRPr>
            </a:lvl8pPr>
            <a:lvl9pPr marL="182889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8559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7501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11" indent="0">
              <a:buNone/>
              <a:defRPr sz="900">
                <a:solidFill>
                  <a:schemeClr val="tx1">
                    <a:tint val="75000"/>
                  </a:schemeClr>
                </a:solidFill>
              </a:defRPr>
            </a:lvl2pPr>
            <a:lvl3pPr marL="457223" indent="0">
              <a:buNone/>
              <a:defRPr sz="800">
                <a:solidFill>
                  <a:schemeClr val="tx1">
                    <a:tint val="75000"/>
                  </a:schemeClr>
                </a:solidFill>
              </a:defRPr>
            </a:lvl3pPr>
            <a:lvl4pPr marL="685835" indent="0">
              <a:buNone/>
              <a:defRPr sz="700">
                <a:solidFill>
                  <a:schemeClr val="tx1">
                    <a:tint val="75000"/>
                  </a:schemeClr>
                </a:solidFill>
              </a:defRPr>
            </a:lvl4pPr>
            <a:lvl5pPr marL="914446" indent="0">
              <a:buNone/>
              <a:defRPr sz="700">
                <a:solidFill>
                  <a:schemeClr val="tx1">
                    <a:tint val="75000"/>
                  </a:schemeClr>
                </a:solidFill>
              </a:defRPr>
            </a:lvl5pPr>
            <a:lvl6pPr marL="1143057" indent="0">
              <a:buNone/>
              <a:defRPr sz="700">
                <a:solidFill>
                  <a:schemeClr val="tx1">
                    <a:tint val="75000"/>
                  </a:schemeClr>
                </a:solidFill>
              </a:defRPr>
            </a:lvl6pPr>
            <a:lvl7pPr marL="1371668" indent="0">
              <a:buNone/>
              <a:defRPr sz="700">
                <a:solidFill>
                  <a:schemeClr val="tx1">
                    <a:tint val="75000"/>
                  </a:schemeClr>
                </a:solidFill>
              </a:defRPr>
            </a:lvl7pPr>
            <a:lvl8pPr marL="1600280" indent="0">
              <a:buNone/>
              <a:defRPr sz="700">
                <a:solidFill>
                  <a:schemeClr val="tx1">
                    <a:tint val="75000"/>
                  </a:schemeClr>
                </a:solidFill>
              </a:defRPr>
            </a:lvl8pPr>
            <a:lvl9pPr marL="1828892"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46092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3667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1" y="1023409"/>
            <a:ext cx="2693459"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1"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6840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93256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65817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69" y="182036"/>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1" y="956736"/>
            <a:ext cx="2005543" cy="31273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70368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2"/>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11" indent="0">
              <a:buNone/>
              <a:defRPr sz="1400"/>
            </a:lvl2pPr>
            <a:lvl3pPr marL="457223" indent="0">
              <a:buNone/>
              <a:defRPr sz="1200"/>
            </a:lvl3pPr>
            <a:lvl4pPr marL="685835" indent="0">
              <a:buNone/>
              <a:defRPr sz="1000"/>
            </a:lvl4pPr>
            <a:lvl5pPr marL="914446" indent="0">
              <a:buNone/>
              <a:defRPr sz="1000"/>
            </a:lvl5pPr>
            <a:lvl6pPr marL="1143057" indent="0">
              <a:buNone/>
              <a:defRPr sz="1000"/>
            </a:lvl6pPr>
            <a:lvl7pPr marL="1371668" indent="0">
              <a:buNone/>
              <a:defRPr sz="1000"/>
            </a:lvl7pPr>
            <a:lvl8pPr marL="1600280" indent="0">
              <a:buNone/>
              <a:defRPr sz="1000"/>
            </a:lvl8pPr>
            <a:lvl9pPr marL="1828892" indent="0">
              <a:buNone/>
              <a:defRPr sz="1000"/>
            </a:lvl9pPr>
          </a:lstStyle>
          <a:p>
            <a:endParaRPr lang="en-US"/>
          </a:p>
        </p:txBody>
      </p:sp>
      <p:sp>
        <p:nvSpPr>
          <p:cNvPr id="4" name="Text Placeholder 3"/>
          <p:cNvSpPr>
            <a:spLocks noGrp="1"/>
          </p:cNvSpPr>
          <p:nvPr>
            <p:ph type="body" sz="half" idx="2"/>
          </p:nvPr>
        </p:nvSpPr>
        <p:spPr>
          <a:xfrm>
            <a:off x="1194859" y="3578227"/>
            <a:ext cx="3657600" cy="5365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77293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966122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050691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42233287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1765855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3/2/26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29886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3/2/26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7033567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2"/>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9"/>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3/2/26</a:t>
            </a:fld>
            <a:endParaRPr lang="en-US"/>
          </a:p>
        </p:txBody>
      </p:sp>
      <p:sp>
        <p:nvSpPr>
          <p:cNvPr id="5" name="Footer Placeholder 4"/>
          <p:cNvSpPr>
            <a:spLocks noGrp="1"/>
          </p:cNvSpPr>
          <p:nvPr>
            <p:ph type="ftr" sz="quarter" idx="3"/>
          </p:nvPr>
        </p:nvSpPr>
        <p:spPr>
          <a:xfrm>
            <a:off x="2082800" y="4237569"/>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9"/>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7842959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ctr" defTabSz="457223" rtl="0" eaLnBrk="1" latinLnBrk="0" hangingPunct="1">
        <a:spcBef>
          <a:spcPct val="0"/>
        </a:spcBef>
        <a:buNone/>
        <a:defRPr sz="2200" kern="1200">
          <a:solidFill>
            <a:schemeClr val="tx1"/>
          </a:solidFill>
          <a:latin typeface="DM Sans" pitchFamily="2" charset="0"/>
          <a:ea typeface="+mj-ea"/>
          <a:cs typeface="+mj-cs"/>
        </a:defRPr>
      </a:lvl1pPr>
    </p:titleStyle>
    <p:bodyStyle>
      <a:lvl1pPr marL="171458" indent="-171458" algn="l" defTabSz="457223"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494" indent="-142883" algn="l" defTabSz="457223"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29" indent="-114306" algn="l" defTabSz="457223"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140"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752"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363"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5974"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586"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198"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23" rtl="0" eaLnBrk="1" latinLnBrk="0" hangingPunct="1">
        <a:defRPr sz="900" kern="1200">
          <a:solidFill>
            <a:schemeClr val="tx1"/>
          </a:solidFill>
          <a:latin typeface="+mn-lt"/>
          <a:ea typeface="+mn-ea"/>
          <a:cs typeface="+mn-cs"/>
        </a:defRPr>
      </a:lvl1pPr>
      <a:lvl2pPr marL="228611" algn="l" defTabSz="457223" rtl="0" eaLnBrk="1" latinLnBrk="0" hangingPunct="1">
        <a:defRPr sz="900" kern="1200">
          <a:solidFill>
            <a:schemeClr val="tx1"/>
          </a:solidFill>
          <a:latin typeface="+mn-lt"/>
          <a:ea typeface="+mn-ea"/>
          <a:cs typeface="+mn-cs"/>
        </a:defRPr>
      </a:lvl2pPr>
      <a:lvl3pPr marL="457223" algn="l" defTabSz="457223" rtl="0" eaLnBrk="1" latinLnBrk="0" hangingPunct="1">
        <a:defRPr sz="900" kern="1200">
          <a:solidFill>
            <a:schemeClr val="tx1"/>
          </a:solidFill>
          <a:latin typeface="+mn-lt"/>
          <a:ea typeface="+mn-ea"/>
          <a:cs typeface="+mn-cs"/>
        </a:defRPr>
      </a:lvl3pPr>
      <a:lvl4pPr marL="685835" algn="l" defTabSz="457223" rtl="0" eaLnBrk="1" latinLnBrk="0" hangingPunct="1">
        <a:defRPr sz="900" kern="1200">
          <a:solidFill>
            <a:schemeClr val="tx1"/>
          </a:solidFill>
          <a:latin typeface="+mn-lt"/>
          <a:ea typeface="+mn-ea"/>
          <a:cs typeface="+mn-cs"/>
        </a:defRPr>
      </a:lvl4pPr>
      <a:lvl5pPr marL="914446" algn="l" defTabSz="457223" rtl="0" eaLnBrk="1" latinLnBrk="0" hangingPunct="1">
        <a:defRPr sz="900" kern="1200">
          <a:solidFill>
            <a:schemeClr val="tx1"/>
          </a:solidFill>
          <a:latin typeface="+mn-lt"/>
          <a:ea typeface="+mn-ea"/>
          <a:cs typeface="+mn-cs"/>
        </a:defRPr>
      </a:lvl5pPr>
      <a:lvl6pPr marL="1143057" algn="l" defTabSz="457223" rtl="0" eaLnBrk="1" latinLnBrk="0" hangingPunct="1">
        <a:defRPr sz="900" kern="1200">
          <a:solidFill>
            <a:schemeClr val="tx1"/>
          </a:solidFill>
          <a:latin typeface="+mn-lt"/>
          <a:ea typeface="+mn-ea"/>
          <a:cs typeface="+mn-cs"/>
        </a:defRPr>
      </a:lvl6pPr>
      <a:lvl7pPr marL="1371668" algn="l" defTabSz="457223" rtl="0" eaLnBrk="1" latinLnBrk="0" hangingPunct="1">
        <a:defRPr sz="900" kern="1200">
          <a:solidFill>
            <a:schemeClr val="tx1"/>
          </a:solidFill>
          <a:latin typeface="+mn-lt"/>
          <a:ea typeface="+mn-ea"/>
          <a:cs typeface="+mn-cs"/>
        </a:defRPr>
      </a:lvl7pPr>
      <a:lvl8pPr marL="1600280" algn="l" defTabSz="457223" rtl="0" eaLnBrk="1" latinLnBrk="0" hangingPunct="1">
        <a:defRPr sz="900" kern="1200">
          <a:solidFill>
            <a:schemeClr val="tx1"/>
          </a:solidFill>
          <a:latin typeface="+mn-lt"/>
          <a:ea typeface="+mn-ea"/>
          <a:cs typeface="+mn-cs"/>
        </a:defRPr>
      </a:lvl8pPr>
      <a:lvl9pPr marL="1828892" algn="l" defTabSz="457223"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0.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6.jpeg"/><Relationship Id="rId4" Type="http://schemas.openxmlformats.org/officeDocument/2006/relationships/image" Target="../media/image25.jp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keelingcurve.ucsd.edu/what-does-400-ppm-look-like/" TargetMode="Externa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31.jpg"/><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38.emf"/></Relationships>
</file>

<file path=ppt/slides/_rels/slide3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5.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3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8207298" cy="1716432"/>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5 – The Evidence Base for Climate Change</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2133"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845575" y="5983341"/>
            <a:ext cx="6031831" cy="338554"/>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1600" b="0" i="0" u="none" strike="noStrike" kern="1200" cap="none" spc="0" normalizeH="0" baseline="0" noProof="0" dirty="0">
              <a:ln>
                <a:noFill/>
              </a:ln>
              <a:solidFill>
                <a:prstClr val="white"/>
              </a:solidFill>
              <a:effectLst/>
              <a:uLnTx/>
              <a:uFillTx/>
              <a:latin typeface="DM Sans"/>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mn-ea"/>
                <a:cs typeface="+mn-cs"/>
              </a:rPr>
              <a:t>Global Climate Change - 2026</a:t>
            </a:r>
          </a:p>
        </p:txBody>
      </p:sp>
      <p:sp>
        <p:nvSpPr>
          <p:cNvPr id="2" name="TextBox 1">
            <a:extLst>
              <a:ext uri="{FF2B5EF4-FFF2-40B4-BE49-F238E27FC236}">
                <a16:creationId xmlns:a16="http://schemas.microsoft.com/office/drawing/2014/main" id="{80BD60C8-019A-F807-75A8-73ADCA403375}"/>
              </a:ext>
            </a:extLst>
          </p:cNvPr>
          <p:cNvSpPr txBox="1"/>
          <p:nvPr/>
        </p:nvSpPr>
        <p:spPr>
          <a:xfrm>
            <a:off x="339861" y="1273996"/>
            <a:ext cx="11387489" cy="5262979"/>
          </a:xfrm>
          <a:prstGeom prst="rect">
            <a:avLst/>
          </a:prstGeom>
          <a:noFill/>
        </p:spPr>
        <p:txBody>
          <a:bodyPr wrap="square">
            <a:spAutoFit/>
          </a:bodyPr>
          <a:lstStyle/>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1 – </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Introduction to climate change and its impacts </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2 – </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Natural climate variability</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(12</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3 – </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Radiation Law/Greenhouse Effect/Radiative forcing/feedbacks</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(19</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4 – A</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nthropogenic impacts </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406440" rtl="0" eaLnBrk="1" fontAlgn="auto" latinLnBrk="0" hangingPunct="1">
              <a:lnSpc>
                <a:spcPct val="100000"/>
              </a:lnSpc>
              <a:spcBef>
                <a:spcPts val="0"/>
              </a:spcBef>
              <a:spcAft>
                <a:spcPts val="0"/>
              </a:spcAft>
              <a:buClrTx/>
              <a:buSzTx/>
              <a:buFontTx/>
              <a:buNone/>
              <a:tabLst/>
              <a:defRPr/>
            </a:pP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defTabSz="406440">
              <a:defRPr/>
            </a:pP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Week 5 – </a:t>
            </a:r>
            <a:r>
              <a:rPr kumimoji="0" lang="en-GB" sz="2400" b="1" i="0" u="none" strike="noStrike" kern="120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The Evidence Base for Climate Change </a:t>
            </a: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2400" b="1" i="0" u="none" strike="noStrike" kern="100" cap="none" spc="0" normalizeH="0" baseline="3000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406440" rtl="0" eaLnBrk="1" fontAlgn="auto" latinLnBrk="0" hangingPunct="1">
              <a:lnSpc>
                <a:spcPct val="100000"/>
              </a:lnSpc>
              <a:spcBef>
                <a:spcPts val="0"/>
              </a:spcBef>
              <a:spcAft>
                <a:spcPts val="0"/>
              </a:spcAft>
              <a:buClrTx/>
              <a:buSzTx/>
              <a:buFontTx/>
              <a:buNone/>
              <a:tabLst/>
              <a:defRPr/>
            </a:pP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Week 6 – Mid Unit Test (10</a:t>
            </a:r>
            <a:r>
              <a:rPr kumimoji="0" lang="en-GB" sz="2400" b="0" i="0" u="none" strike="noStrike" kern="100" cap="none" spc="0" normalizeH="0" baseline="3000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0" i="0" u="none" strike="noStrike" kern="1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 March) </a:t>
            </a:r>
          </a:p>
          <a:p>
            <a:pPr marL="0" marR="0" lvl="0" indent="0" algn="l" defTabSz="406440" rtl="0" eaLnBrk="1" fontAlgn="auto" latinLnBrk="0" hangingPunct="1">
              <a:lnSpc>
                <a:spcPct val="100000"/>
              </a:lnSpc>
              <a:spcBef>
                <a:spcPts val="0"/>
              </a:spcBef>
              <a:spcAft>
                <a:spcPts val="0"/>
              </a:spcAft>
              <a:buClrTx/>
              <a:buSzTx/>
              <a:buFontTx/>
              <a:buNone/>
              <a:tabLst/>
              <a:defRPr/>
            </a:pP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2400" dirty="0">
                <a:solidFill>
                  <a:srgbClr val="212121"/>
                </a:solidFill>
                <a:latin typeface="Calibri" panose="020F0502020204030204" pitchFamily="34" charset="0"/>
                <a:cs typeface="Calibri" panose="020F0502020204030204" pitchFamily="34" charset="0"/>
              </a:rPr>
              <a:t>Climate Models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(19</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2400" kern="100" dirty="0">
                <a:solidFill>
                  <a:srgbClr val="212121"/>
                </a:solidFill>
                <a:latin typeface="Calibri" panose="020F0502020204030204" pitchFamily="34" charset="0"/>
                <a:ea typeface="Calibri" panose="020F0502020204030204" pitchFamily="34" charset="0"/>
                <a:cs typeface="Calibri" panose="020F0502020204030204" pitchFamily="34" charset="0"/>
              </a:rPr>
              <a:t>C</a:t>
            </a:r>
            <a:r>
              <a:rPr lang="en-GB" sz="2400" dirty="0">
                <a:solidFill>
                  <a:srgbClr val="212121"/>
                </a:solidFill>
                <a:latin typeface="Calibri" panose="020F0502020204030204" pitchFamily="34" charset="0"/>
                <a:cs typeface="Calibri" panose="020F0502020204030204" pitchFamily="34" charset="0"/>
              </a:rPr>
              <a:t>hange Adaptation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(26</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2400" dirty="0">
                <a:solidFill>
                  <a:srgbClr val="212121"/>
                </a:solidFill>
                <a:latin typeface="Calibri" panose="020F0502020204030204" pitchFamily="34" charset="0"/>
                <a:cs typeface="Calibri" panose="020F0502020204030204" pitchFamily="34" charset="0"/>
              </a:rPr>
              <a:t>Effects of Climate Change: Case Studies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(23</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rd</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a:t>
            </a:r>
            <a:r>
              <a:rPr lang="en-GB" sz="2400" dirty="0">
                <a:solidFill>
                  <a:srgbClr val="212121"/>
                </a:solidFill>
                <a:latin typeface="Calibri" panose="020F0502020204030204" pitchFamily="34" charset="0"/>
                <a:cs typeface="Calibri" panose="020F0502020204030204" pitchFamily="34" charset="0"/>
              </a:rPr>
              <a:t>Climate Change Mitigation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(30</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11 – Revision Lecture (7</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May)</a:t>
            </a:r>
          </a:p>
        </p:txBody>
      </p:sp>
      <p:pic>
        <p:nvPicPr>
          <p:cNvPr id="6" name="Picture 5" descr="A qr code with a black and white background&#10;&#10;AI-generated content may be incorrect.">
            <a:extLst>
              <a:ext uri="{FF2B5EF4-FFF2-40B4-BE49-F238E27FC236}">
                <a16:creationId xmlns:a16="http://schemas.microsoft.com/office/drawing/2014/main" id="{112BB3D5-FC58-710F-489D-C975E1C5EDA4}"/>
              </a:ext>
            </a:extLst>
          </p:cNvPr>
          <p:cNvPicPr>
            <a:picLocks noChangeAspect="1"/>
          </p:cNvPicPr>
          <p:nvPr/>
        </p:nvPicPr>
        <p:blipFill>
          <a:blip r:embed="rId5"/>
          <a:stretch>
            <a:fillRect/>
          </a:stretch>
        </p:blipFill>
        <p:spPr>
          <a:xfrm>
            <a:off x="9051132" y="3429000"/>
            <a:ext cx="2801007" cy="2801007"/>
          </a:xfrm>
          <a:prstGeom prst="rect">
            <a:avLst/>
          </a:prstGeom>
        </p:spPr>
      </p:pic>
      <p:sp>
        <p:nvSpPr>
          <p:cNvPr id="7" name="TextBox 6">
            <a:extLst>
              <a:ext uri="{FF2B5EF4-FFF2-40B4-BE49-F238E27FC236}">
                <a16:creationId xmlns:a16="http://schemas.microsoft.com/office/drawing/2014/main" id="{F327CCA7-4299-796F-6F60-9D7FE40386D5}"/>
              </a:ext>
            </a:extLst>
          </p:cNvPr>
          <p:cNvSpPr txBox="1"/>
          <p:nvPr/>
        </p:nvSpPr>
        <p:spPr>
          <a:xfrm>
            <a:off x="9051133" y="6411310"/>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Comments/Questions</a:t>
            </a:r>
          </a:p>
        </p:txBody>
      </p:sp>
    </p:spTree>
    <p:extLst>
      <p:ext uri="{BB962C8B-B14F-4D97-AF65-F5344CB8AC3E}">
        <p14:creationId xmlns:p14="http://schemas.microsoft.com/office/powerpoint/2010/main" val="179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660400" y="1447800"/>
            <a:ext cx="5329537" cy="589905"/>
          </a:xfrm>
          <a:prstGeom prst="rect">
            <a:avLst/>
          </a:prstGeom>
        </p:spPr>
        <p:txBody>
          <a:bodyPr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mn-ea"/>
                <a:cs typeface="+mn-cs"/>
              </a:rPr>
              <a:t>Today’s class</a:t>
            </a:r>
          </a:p>
        </p:txBody>
      </p:sp>
      <p:sp>
        <p:nvSpPr>
          <p:cNvPr id="3" name="Freeform 13">
            <a:extLst>
              <a:ext uri="{FF2B5EF4-FFF2-40B4-BE49-F238E27FC236}">
                <a16:creationId xmlns:a16="http://schemas.microsoft.com/office/drawing/2014/main" id="{110E8D5E-37F5-D004-AA80-8A76901C57F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5">
            <a:extLst>
              <a:ext uri="{FF2B5EF4-FFF2-40B4-BE49-F238E27FC236}">
                <a16:creationId xmlns:a16="http://schemas.microsoft.com/office/drawing/2014/main" id="{C66361C3-1D76-1661-44D6-DBA0EA683ABC}"/>
              </a:ext>
            </a:extLst>
          </p:cNvPr>
          <p:cNvSpPr txBox="1"/>
          <p:nvPr/>
        </p:nvSpPr>
        <p:spPr>
          <a:xfrm>
            <a:off x="660400" y="3429000"/>
            <a:ext cx="5660941" cy="1412310"/>
          </a:xfrm>
          <a:prstGeom prst="rect">
            <a:avLst/>
          </a:prstGeom>
        </p:spPr>
        <p:txBody>
          <a:bodyPr wrap="square" lIns="0" tIns="0" rIns="0" bIns="0" rtlCol="0" anchor="t">
            <a:spAutoFit/>
          </a:bodyPr>
          <a:lstStyle/>
          <a:p>
            <a:pPr marL="119674" marR="0" lvl="1" indent="0" algn="l" defTabSz="406440" rtl="0" eaLnBrk="1" fontAlgn="auto" latinLnBrk="0" hangingPunct="1">
              <a:lnSpc>
                <a:spcPts val="2222"/>
              </a:lnSpc>
              <a:spcBef>
                <a:spcPts val="0"/>
              </a:spcBef>
              <a:spcAft>
                <a:spcPts val="0"/>
              </a:spcAft>
              <a:buClrTx/>
              <a:buSzTx/>
              <a:buFontTx/>
              <a:buNone/>
              <a:tabLst/>
              <a:defRPr/>
            </a:pPr>
            <a:r>
              <a:rPr kumimoji="0" lang="en-US" sz="2133" b="1" i="0" u="none" strike="noStrike" kern="1200" cap="none" spc="22" normalizeH="0" baseline="0" noProof="0" dirty="0">
                <a:ln>
                  <a:noFill/>
                </a:ln>
                <a:solidFill>
                  <a:srgbClr val="FAB700"/>
                </a:solidFill>
                <a:effectLst/>
                <a:uLnTx/>
                <a:uFillTx/>
                <a:latin typeface="Calibri" panose="020F0502020204030204" pitchFamily="34" charset="0"/>
                <a:ea typeface="+mn-ea"/>
                <a:cs typeface="Calibri" panose="020F0502020204030204" pitchFamily="34" charset="0"/>
              </a:rPr>
              <a:t>Part 1: </a:t>
            </a:r>
            <a:r>
              <a:rPr kumimoji="0" lang="en-US" sz="2133" b="1" i="0" u="none" strike="noStrike" kern="1200" cap="none" spc="22"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Lecture and Workshops (50 mins)</a:t>
            </a:r>
          </a:p>
          <a:p>
            <a:pPr marL="119674" marR="0" lvl="1" indent="0" algn="l" defTabSz="406440" rtl="0" eaLnBrk="1" fontAlgn="auto" latinLnBrk="0" hangingPunct="1">
              <a:lnSpc>
                <a:spcPts val="2222"/>
              </a:lnSpc>
              <a:spcBef>
                <a:spcPts val="0"/>
              </a:spcBef>
              <a:spcAft>
                <a:spcPts val="0"/>
              </a:spcAft>
              <a:buClrTx/>
              <a:buSzTx/>
              <a:buFontTx/>
              <a:buNone/>
              <a:tabLst/>
              <a:defRPr/>
            </a:pPr>
            <a:endParaRPr kumimoji="0" lang="en-US" sz="2133" b="1" i="0" u="none" strike="noStrike" kern="1200" cap="none" spc="22" normalizeH="0" baseline="0" noProof="0" dirty="0">
              <a:ln>
                <a:noFill/>
              </a:ln>
              <a:solidFill>
                <a:srgbClr val="FAB700"/>
              </a:solidFill>
              <a:effectLst/>
              <a:uLnTx/>
              <a:uFillTx/>
              <a:latin typeface="Calibri" panose="020F0502020204030204" pitchFamily="34" charset="0"/>
              <a:ea typeface="+mn-ea"/>
              <a:cs typeface="Calibri" panose="020F0502020204030204" pitchFamily="34" charset="0"/>
            </a:endParaRPr>
          </a:p>
          <a:p>
            <a:pPr marL="119674" marR="0" lvl="1" indent="0" algn="l" defTabSz="406440" rtl="0" eaLnBrk="1" fontAlgn="auto" latinLnBrk="0" hangingPunct="1">
              <a:lnSpc>
                <a:spcPts val="2222"/>
              </a:lnSpc>
              <a:spcBef>
                <a:spcPts val="0"/>
              </a:spcBef>
              <a:spcAft>
                <a:spcPts val="0"/>
              </a:spcAft>
              <a:buClrTx/>
              <a:buSzTx/>
              <a:buFontTx/>
              <a:buNone/>
              <a:tabLst/>
              <a:defRPr/>
            </a:pPr>
            <a:r>
              <a:rPr kumimoji="0" lang="en-US" sz="2133" b="1" i="0" u="none" strike="noStrike" kern="1200" cap="none" spc="22" normalizeH="0" baseline="0" noProof="0" dirty="0">
                <a:ln>
                  <a:noFill/>
                </a:ln>
                <a:solidFill>
                  <a:srgbClr val="FAB700"/>
                </a:solidFill>
                <a:effectLst/>
                <a:uLnTx/>
                <a:uFillTx/>
                <a:latin typeface="Calibri" panose="020F0502020204030204" pitchFamily="34" charset="0"/>
                <a:ea typeface="+mn-ea"/>
                <a:cs typeface="Calibri" panose="020F0502020204030204" pitchFamily="34" charset="0"/>
              </a:rPr>
              <a:t>Part 2:</a:t>
            </a:r>
            <a:r>
              <a:rPr kumimoji="0" lang="en-US" sz="2133" b="1" i="0" u="none" strike="noStrike" kern="1200" cap="none" spc="22"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Q/A (10 mins) </a:t>
            </a:r>
            <a:endParaRPr kumimoji="0" lang="en-US" sz="2133" b="1" i="0" u="none" strike="noStrike" kern="1200" cap="none" spc="22" normalizeH="0" baseline="0" noProof="0" dirty="0">
              <a:ln>
                <a:noFill/>
              </a:ln>
              <a:solidFill>
                <a:srgbClr val="FAB700"/>
              </a:solidFill>
              <a:effectLst/>
              <a:uLnTx/>
              <a:uFillTx/>
              <a:latin typeface="Calibri" panose="020F0502020204030204" pitchFamily="34" charset="0"/>
              <a:ea typeface="+mn-ea"/>
              <a:cs typeface="Calibri" panose="020F0502020204030204" pitchFamily="34" charset="0"/>
            </a:endParaRPr>
          </a:p>
          <a:p>
            <a:pPr marL="119674" marR="0" lvl="1" indent="0" algn="l" defTabSz="406440" rtl="0" eaLnBrk="1" fontAlgn="auto" latinLnBrk="0" hangingPunct="1">
              <a:lnSpc>
                <a:spcPts val="2222"/>
              </a:lnSpc>
              <a:spcBef>
                <a:spcPts val="0"/>
              </a:spcBef>
              <a:spcAft>
                <a:spcPts val="0"/>
              </a:spcAft>
              <a:buClrTx/>
              <a:buSzTx/>
              <a:buFontTx/>
              <a:buNone/>
              <a:tabLst/>
              <a:defRPr/>
            </a:pPr>
            <a:endParaRPr kumimoji="0" lang="en-US" sz="2133" b="1" i="0" u="none" strike="noStrike" kern="1200" cap="none" spc="22"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a:p>
            <a:pPr marL="119674" marR="0" lvl="1" indent="0" algn="l" defTabSz="406440" rtl="0" eaLnBrk="1" fontAlgn="auto" latinLnBrk="0" hangingPunct="1">
              <a:lnSpc>
                <a:spcPts val="2222"/>
              </a:lnSpc>
              <a:spcBef>
                <a:spcPts val="0"/>
              </a:spcBef>
              <a:spcAft>
                <a:spcPts val="0"/>
              </a:spcAft>
              <a:buClrTx/>
              <a:buSzTx/>
              <a:buFontTx/>
              <a:buNone/>
              <a:tabLst/>
              <a:defRPr/>
            </a:pPr>
            <a:r>
              <a:rPr kumimoji="0" lang="en-US" sz="2133" b="1" i="0" u="none" strike="noStrike" kern="1200" cap="none" spc="22" normalizeH="0" baseline="0" noProof="0" dirty="0">
                <a:ln>
                  <a:noFill/>
                </a:ln>
                <a:solidFill>
                  <a:srgbClr val="FAB700"/>
                </a:solidFill>
                <a:effectLst/>
                <a:uLnTx/>
                <a:uFillTx/>
                <a:latin typeface="Calibri" panose="020F0502020204030204" pitchFamily="34" charset="0"/>
                <a:ea typeface="+mn-ea"/>
                <a:cs typeface="Calibri" panose="020F0502020204030204" pitchFamily="34" charset="0"/>
              </a:rPr>
              <a:t>Part 3: </a:t>
            </a:r>
            <a:r>
              <a:rPr kumimoji="0" lang="en-US" sz="2133" b="1" i="0" u="none" strike="noStrike" kern="1200" cap="none" spc="22"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Full workshop (50 mins)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293870" y="2682459"/>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mn-ea"/>
                <a:cs typeface="+mn-cs"/>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DDB4D602-0E49-2A1B-B490-ADA317C8939B}"/>
              </a:ext>
            </a:extLst>
          </p:cNvPr>
          <p:cNvSpPr txBox="1"/>
          <p:nvPr/>
        </p:nvSpPr>
        <p:spPr>
          <a:xfrm>
            <a:off x="293871" y="3864690"/>
            <a:ext cx="10413116" cy="2246769"/>
          </a:xfrm>
          <a:prstGeom prst="rect">
            <a:avLst/>
          </a:prstGeom>
          <a:noFill/>
        </p:spPr>
        <p:txBody>
          <a:bodyPr wrap="square">
            <a:spAutoFit/>
          </a:bodyPr>
          <a:lstStyle/>
          <a:p>
            <a:pPr marL="0" indent="0"/>
            <a:r>
              <a:rPr lang="en-GB" sz="2000" dirty="0">
                <a:latin typeface="Calibri" panose="020F0502020204030204" pitchFamily="34" charset="0"/>
                <a:cs typeface="Calibri" panose="020F0502020204030204" pitchFamily="34" charset="0"/>
              </a:rPr>
              <a:t>By the end of the week you will be able to:</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Outline the different sources of observational data for temperature and carbon dioxide, explaining over what timescales they can be used. </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Describe the different sources of evidence supporting our understanding that human impacts are driving increased temperatures.</a:t>
            </a:r>
          </a:p>
          <a:p>
            <a:pPr marL="342900" indent="-342900">
              <a:buFont typeface="Arial" panose="020B0604020202020204" pitchFamily="34" charset="0"/>
              <a:buChar char="•"/>
            </a:pPr>
            <a:r>
              <a:rPr lang="en-GB" sz="2000" dirty="0">
                <a:latin typeface="Calibri" panose="020F0502020204030204" pitchFamily="34" charset="0"/>
                <a:cs typeface="Calibri" panose="020F0502020204030204" pitchFamily="34" charset="0"/>
              </a:rPr>
              <a:t>Describe the different sources of uncertainty in our understanding of climate change, and use these to explain which aspects of climate change we understand better and why.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8BF2-3398-FA10-F1CC-49D0981859DF}"/>
            </a:ext>
          </a:extLst>
        </p:cNvPr>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C74FDCB5-5A46-C900-3687-6F086768D9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13">
            <a:extLst>
              <a:ext uri="{FF2B5EF4-FFF2-40B4-BE49-F238E27FC236}">
                <a16:creationId xmlns:a16="http://schemas.microsoft.com/office/drawing/2014/main" id="{37981C71-CE9A-A723-06E9-6069B5C665DD}"/>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6C6C3516-B50D-3AF6-7112-2A39F61D2175}"/>
              </a:ext>
            </a:extLst>
          </p:cNvPr>
          <p:cNvSpPr txBox="1"/>
          <p:nvPr/>
        </p:nvSpPr>
        <p:spPr>
          <a:xfrm>
            <a:off x="293871" y="3864690"/>
            <a:ext cx="10413116" cy="400110"/>
          </a:xfrm>
          <a:prstGeom prst="rect">
            <a:avLst/>
          </a:prstGeom>
          <a:noFill/>
        </p:spPr>
        <p:txBody>
          <a:bodyPr wrap="square">
            <a:spAutoFit/>
          </a:bodyPr>
          <a:lstStyle/>
          <a:p>
            <a:pPr marL="0" indent="0"/>
            <a:endParaRPr lang="en-GB" sz="20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70A86D1-11C7-C41A-977E-85E8D8A08D1D}"/>
              </a:ext>
            </a:extLst>
          </p:cNvPr>
          <p:cNvSpPr txBox="1"/>
          <p:nvPr/>
        </p:nvSpPr>
        <p:spPr>
          <a:xfrm>
            <a:off x="293871" y="3579931"/>
            <a:ext cx="10215943" cy="2862322"/>
          </a:xfrm>
          <a:prstGeom prst="rect">
            <a:avLst/>
          </a:prstGeom>
          <a:noFill/>
        </p:spPr>
        <p:txBody>
          <a:bodyPr wrap="square">
            <a:spAutoFit/>
          </a:bodyPr>
          <a:lstStyle/>
          <a:p>
            <a:r>
              <a:rPr lang="en-GB" sz="3600" b="0" i="0" u="none" strike="noStrike" kern="1200" dirty="0">
                <a:solidFill>
                  <a:schemeClr val="tx1"/>
                </a:solidFill>
                <a:effectLst/>
                <a:latin typeface="Calibri" panose="020F0502020204030204" pitchFamily="34" charset="0"/>
                <a:cs typeface="Calibri" panose="020F0502020204030204" pitchFamily="34" charset="0"/>
              </a:rPr>
              <a:t>“How do we know climate change is real — and how do we know it’s us?”</a:t>
            </a:r>
          </a:p>
          <a:p>
            <a:endParaRPr lang="en-GB" altLang="en-US" sz="3600" dirty="0">
              <a:latin typeface="Calibri" panose="020F0502020204030204" pitchFamily="34" charset="0"/>
              <a:cs typeface="Calibri" panose="020F0502020204030204" pitchFamily="34" charset="0"/>
            </a:endParaRPr>
          </a:p>
          <a:p>
            <a:r>
              <a:rPr lang="en-GB" sz="2400" b="1" dirty="0">
                <a:latin typeface="Calibri" panose="020F0502020204030204" pitchFamily="34" charset="0"/>
                <a:cs typeface="Calibri" panose="020F0502020204030204" pitchFamily="34" charset="0"/>
              </a:rPr>
              <a:t>Is it changing?</a:t>
            </a:r>
            <a:r>
              <a:rPr lang="en-GB" sz="2400" dirty="0">
                <a:latin typeface="Calibri" panose="020F0502020204030204" pitchFamily="34" charset="0"/>
                <a:cs typeface="Calibri" panose="020F0502020204030204" pitchFamily="34" charset="0"/>
              </a:rPr>
              <a:t> Observations</a:t>
            </a:r>
          </a:p>
          <a:p>
            <a:r>
              <a:rPr lang="en-GB" sz="2400" b="1" dirty="0">
                <a:latin typeface="Calibri" panose="020F0502020204030204" pitchFamily="34" charset="0"/>
                <a:cs typeface="Calibri" panose="020F0502020204030204" pitchFamily="34" charset="0"/>
              </a:rPr>
              <a:t>Is it unusual?</a:t>
            </a:r>
            <a:r>
              <a:rPr lang="en-GB" sz="2400" dirty="0">
                <a:latin typeface="Calibri" panose="020F0502020204030204" pitchFamily="34" charset="0"/>
                <a:cs typeface="Calibri" panose="020F0502020204030204" pitchFamily="34" charset="0"/>
              </a:rPr>
              <a:t> Context from paleoclimate </a:t>
            </a:r>
            <a:r>
              <a:rPr lang="en-GB" sz="2400" dirty="0">
                <a:solidFill>
                  <a:srgbClr val="FF0000"/>
                </a:solidFill>
                <a:latin typeface="Calibri" panose="020F0502020204030204" pitchFamily="34" charset="0"/>
                <a:cs typeface="Calibri" panose="020F0502020204030204" pitchFamily="34" charset="0"/>
              </a:rPr>
              <a:t>(week 1 and 2)</a:t>
            </a:r>
          </a:p>
          <a:p>
            <a:r>
              <a:rPr lang="en-GB" sz="2400" b="1" dirty="0">
                <a:latin typeface="Calibri" panose="020F0502020204030204" pitchFamily="34" charset="0"/>
                <a:cs typeface="Calibri" panose="020F0502020204030204" pitchFamily="34" charset="0"/>
              </a:rPr>
              <a:t>Is it us?</a:t>
            </a:r>
            <a:r>
              <a:rPr lang="en-GB" sz="2400" dirty="0">
                <a:latin typeface="Calibri" panose="020F0502020204030204" pitchFamily="34" charset="0"/>
                <a:cs typeface="Calibri" panose="020F0502020204030204" pitchFamily="34" charset="0"/>
              </a:rPr>
              <a:t> physics </a:t>
            </a:r>
            <a:r>
              <a:rPr lang="en-GB" sz="2400" dirty="0">
                <a:solidFill>
                  <a:srgbClr val="FF0000"/>
                </a:solidFill>
                <a:latin typeface="Calibri" panose="020F0502020204030204" pitchFamily="34" charset="0"/>
                <a:cs typeface="Calibri" panose="020F0502020204030204" pitchFamily="34" charset="0"/>
              </a:rPr>
              <a:t>(week 3) </a:t>
            </a:r>
            <a:r>
              <a:rPr lang="en-GB" sz="2400" dirty="0">
                <a:latin typeface="Calibri" panose="020F0502020204030204" pitchFamily="34" charset="0"/>
                <a:cs typeface="Calibri" panose="020F0502020204030204" pitchFamily="34" charset="0"/>
              </a:rPr>
              <a:t>+ models </a:t>
            </a:r>
            <a:r>
              <a:rPr lang="en-GB" sz="2400" dirty="0">
                <a:solidFill>
                  <a:srgbClr val="FF0000"/>
                </a:solidFill>
                <a:latin typeface="Calibri" panose="020F0502020204030204" pitchFamily="34" charset="0"/>
                <a:cs typeface="Calibri" panose="020F0502020204030204" pitchFamily="34" charset="0"/>
              </a:rPr>
              <a:t>(week 7) </a:t>
            </a:r>
            <a:r>
              <a:rPr lang="en-GB" sz="2400" dirty="0">
                <a:latin typeface="Calibri" panose="020F0502020204030204" pitchFamily="34" charset="0"/>
                <a:cs typeface="Calibri" panose="020F0502020204030204" pitchFamily="34" charset="0"/>
              </a:rPr>
              <a:t>+ measurements = attribution</a:t>
            </a:r>
          </a:p>
        </p:txBody>
      </p:sp>
    </p:spTree>
    <p:extLst>
      <p:ext uri="{BB962C8B-B14F-4D97-AF65-F5344CB8AC3E}">
        <p14:creationId xmlns:p14="http://schemas.microsoft.com/office/powerpoint/2010/main" val="309557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131A27-1E01-42F7-82D3-9510274B114D}"/>
              </a:ext>
            </a:extLst>
          </p:cNvPr>
          <p:cNvPicPr>
            <a:picLocks noChangeAspect="1"/>
          </p:cNvPicPr>
          <p:nvPr/>
        </p:nvPicPr>
        <p:blipFill>
          <a:blip r:embed="rId3"/>
          <a:stretch>
            <a:fillRect/>
          </a:stretch>
        </p:blipFill>
        <p:spPr>
          <a:xfrm>
            <a:off x="644287" y="3844043"/>
            <a:ext cx="5289899" cy="2310945"/>
          </a:xfrm>
          <a:prstGeom prst="rect">
            <a:avLst/>
          </a:prstGeom>
        </p:spPr>
      </p:pic>
      <p:pic>
        <p:nvPicPr>
          <p:cNvPr id="8" name="Picture 7">
            <a:extLst>
              <a:ext uri="{FF2B5EF4-FFF2-40B4-BE49-F238E27FC236}">
                <a16:creationId xmlns:a16="http://schemas.microsoft.com/office/drawing/2014/main" id="{FD126283-7B55-408D-B7F4-A15DDB83603F}"/>
              </a:ext>
            </a:extLst>
          </p:cNvPr>
          <p:cNvPicPr>
            <a:picLocks noChangeAspect="1"/>
          </p:cNvPicPr>
          <p:nvPr/>
        </p:nvPicPr>
        <p:blipFill>
          <a:blip r:embed="rId4"/>
          <a:stretch>
            <a:fillRect/>
          </a:stretch>
        </p:blipFill>
        <p:spPr>
          <a:xfrm>
            <a:off x="761375" y="1634803"/>
            <a:ext cx="5992251" cy="2219019"/>
          </a:xfrm>
          <a:prstGeom prst="rect">
            <a:avLst/>
          </a:prstGeom>
        </p:spPr>
      </p:pic>
      <p:sp>
        <p:nvSpPr>
          <p:cNvPr id="2" name="TextBox 14">
            <a:extLst>
              <a:ext uri="{FF2B5EF4-FFF2-40B4-BE49-F238E27FC236}">
                <a16:creationId xmlns:a16="http://schemas.microsoft.com/office/drawing/2014/main" id="{12CEFF30-259C-A1E8-2F42-4C482BFE1330}"/>
              </a:ext>
            </a:extLst>
          </p:cNvPr>
          <p:cNvSpPr txBox="1"/>
          <p:nvPr/>
        </p:nvSpPr>
        <p:spPr>
          <a:xfrm>
            <a:off x="389465" y="684091"/>
            <a:ext cx="8452978"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Anthropogenic climate change measured </a:t>
            </a:r>
          </a:p>
        </p:txBody>
      </p:sp>
      <p:sp>
        <p:nvSpPr>
          <p:cNvPr id="3" name="Freeform 13">
            <a:extLst>
              <a:ext uri="{FF2B5EF4-FFF2-40B4-BE49-F238E27FC236}">
                <a16:creationId xmlns:a16="http://schemas.microsoft.com/office/drawing/2014/main" id="{8AB673B5-A6AA-E77E-6CCB-D88364F768D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477555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4E6A6-716C-C1EB-3F73-AF9E20D4E53D}"/>
            </a:ext>
          </a:extLst>
        </p:cNvPr>
        <p:cNvGrpSpPr/>
        <p:nvPr/>
      </p:nvGrpSpPr>
      <p:grpSpPr>
        <a:xfrm>
          <a:off x="0" y="0"/>
          <a:ext cx="0" cy="0"/>
          <a:chOff x="0" y="0"/>
          <a:chExt cx="0" cy="0"/>
        </a:xfrm>
      </p:grpSpPr>
      <p:sp>
        <p:nvSpPr>
          <p:cNvPr id="7" name="TextBox 14">
            <a:extLst>
              <a:ext uri="{FF2B5EF4-FFF2-40B4-BE49-F238E27FC236}">
                <a16:creationId xmlns:a16="http://schemas.microsoft.com/office/drawing/2014/main" id="{196FA248-D250-B1D8-3C07-1DE086BA1801}"/>
              </a:ext>
            </a:extLst>
          </p:cNvPr>
          <p:cNvSpPr txBox="1"/>
          <p:nvPr/>
        </p:nvSpPr>
        <p:spPr>
          <a:xfrm>
            <a:off x="4380162" y="683884"/>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Measurements</a:t>
            </a:r>
          </a:p>
        </p:txBody>
      </p:sp>
      <p:pic>
        <p:nvPicPr>
          <p:cNvPr id="6" name="Picture 5" descr="A black smoke billowing from a city&#10;&#10;AI-generated content may be incorrect.">
            <a:extLst>
              <a:ext uri="{FF2B5EF4-FFF2-40B4-BE49-F238E27FC236}">
                <a16:creationId xmlns:a16="http://schemas.microsoft.com/office/drawing/2014/main" id="{700B2FB8-A539-16FF-4FB2-49A112B40F21}"/>
              </a:ext>
            </a:extLst>
          </p:cNvPr>
          <p:cNvPicPr>
            <a:picLocks noChangeAspect="1"/>
          </p:cNvPicPr>
          <p:nvPr/>
        </p:nvPicPr>
        <p:blipFill>
          <a:blip r:embed="rId3"/>
          <a:srcRect l="48356" r="17651"/>
          <a:stretch>
            <a:fillRect/>
          </a:stretch>
        </p:blipFill>
        <p:spPr>
          <a:xfrm>
            <a:off x="20" y="-1"/>
            <a:ext cx="4143544" cy="6856413"/>
          </a:xfrm>
          <a:custGeom>
            <a:avLst/>
            <a:gdLst/>
            <a:ahLst/>
            <a:cxnLst/>
            <a:rect l="l" t="t" r="r" b="b"/>
            <a:pathLst>
              <a:path w="4143564" h="6856413">
                <a:moveTo>
                  <a:pt x="0" y="0"/>
                </a:moveTo>
                <a:lnTo>
                  <a:pt x="4141667" y="0"/>
                </a:lnTo>
                <a:lnTo>
                  <a:pt x="4141086" y="145208"/>
                </a:lnTo>
                <a:cubicBezTo>
                  <a:pt x="4109790" y="1611281"/>
                  <a:pt x="3796834" y="3077353"/>
                  <a:pt x="4047199" y="4543426"/>
                </a:cubicBezTo>
                <a:cubicBezTo>
                  <a:pt x="4172382" y="5276463"/>
                  <a:pt x="4156734" y="6009499"/>
                  <a:pt x="4105878" y="6742536"/>
                </a:cubicBezTo>
                <a:lnTo>
                  <a:pt x="4096763" y="6856413"/>
                </a:lnTo>
                <a:lnTo>
                  <a:pt x="0" y="6856413"/>
                </a:lnTo>
                <a:close/>
              </a:path>
            </a:pathLst>
          </a:custGeom>
        </p:spPr>
      </p:pic>
      <p:sp>
        <p:nvSpPr>
          <p:cNvPr id="9" name="Freeform 13">
            <a:extLst>
              <a:ext uri="{FF2B5EF4-FFF2-40B4-BE49-F238E27FC236}">
                <a16:creationId xmlns:a16="http://schemas.microsoft.com/office/drawing/2014/main" id="{20341022-5D72-7DE6-D440-7D30A206AB8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8" name="Picture 6">
            <a:extLst>
              <a:ext uri="{FF2B5EF4-FFF2-40B4-BE49-F238E27FC236}">
                <a16:creationId xmlns:a16="http://schemas.microsoft.com/office/drawing/2014/main" id="{38707649-901C-B565-7665-14794A289E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4955" y="1570104"/>
            <a:ext cx="7285831" cy="4700371"/>
          </a:xfrm>
          <a:prstGeom prst="rect">
            <a:avLst/>
          </a:prstGeom>
          <a:noFill/>
          <a:ln>
            <a:solidFill>
              <a:schemeClr val="accent2"/>
            </a:solidFill>
          </a:ln>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C8DD93B3-E752-5657-C768-45A592E88108}"/>
              </a:ext>
            </a:extLst>
          </p:cNvPr>
          <p:cNvPicPr>
            <a:picLocks noChangeAspect="1"/>
          </p:cNvPicPr>
          <p:nvPr/>
        </p:nvPicPr>
        <p:blipFill>
          <a:blip r:embed="rId6"/>
          <a:stretch>
            <a:fillRect/>
          </a:stretch>
        </p:blipFill>
        <p:spPr>
          <a:xfrm>
            <a:off x="5428305" y="5084728"/>
            <a:ext cx="4725671" cy="1497643"/>
          </a:xfrm>
          <a:prstGeom prst="rect">
            <a:avLst/>
          </a:prstGeom>
        </p:spPr>
      </p:pic>
    </p:spTree>
    <p:extLst>
      <p:ext uri="{BB962C8B-B14F-4D97-AF65-F5344CB8AC3E}">
        <p14:creationId xmlns:p14="http://schemas.microsoft.com/office/powerpoint/2010/main" val="239595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293600B-4A9A-4F9C-96C0-135B81413B4B}"/>
              </a:ext>
            </a:extLst>
          </p:cNvPr>
          <p:cNvSpPr>
            <a:spLocks noGrp="1"/>
          </p:cNvSpPr>
          <p:nvPr>
            <p:ph idx="1"/>
          </p:nvPr>
        </p:nvSpPr>
        <p:spPr>
          <a:xfrm>
            <a:off x="4380162" y="1273997"/>
            <a:ext cx="7336552" cy="4640339"/>
          </a:xfrm>
        </p:spPr>
        <p:txBody>
          <a:bodyPr>
            <a:normAutofit lnSpcReduction="10000"/>
          </a:bodyPr>
          <a:lstStyle/>
          <a:p>
            <a:pPr marL="0" indent="0">
              <a:buNone/>
            </a:pPr>
            <a:r>
              <a:rPr lang="en-GB" sz="2000" b="1" dirty="0">
                <a:latin typeface="Calibri" panose="020F0502020204030204" pitchFamily="34" charset="0"/>
                <a:cs typeface="Calibri" panose="020F0502020204030204" pitchFamily="34" charset="0"/>
              </a:rPr>
              <a:t>CO</a:t>
            </a:r>
            <a:r>
              <a:rPr lang="en-GB" sz="2000" b="1" baseline="-25000" dirty="0">
                <a:latin typeface="Calibri" panose="020F0502020204030204" pitchFamily="34" charset="0"/>
                <a:cs typeface="Calibri" panose="020F0502020204030204" pitchFamily="34" charset="0"/>
              </a:rPr>
              <a:t>2</a:t>
            </a:r>
          </a:p>
          <a:p>
            <a:pPr marL="0" indent="0">
              <a:buNone/>
            </a:pP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Direct measurements (1958 – present)</a:t>
            </a:r>
          </a:p>
          <a:p>
            <a:r>
              <a:rPr lang="en-GB" sz="2000" dirty="0">
                <a:latin typeface="Calibri" panose="020F0502020204030204" pitchFamily="34" charset="0"/>
                <a:cs typeface="Calibri" panose="020F0502020204030204" pitchFamily="34" charset="0"/>
              </a:rPr>
              <a:t>Ice cores (100’000s years ago)</a:t>
            </a:r>
          </a:p>
          <a:p>
            <a:r>
              <a:rPr lang="en-GB" sz="2000" dirty="0">
                <a:latin typeface="Calibri" panose="020F0502020204030204" pitchFamily="34" charset="0"/>
                <a:cs typeface="Calibri" panose="020F0502020204030204" pitchFamily="34" charset="0"/>
              </a:rPr>
              <a:t>Proxies (10s millions years ago)</a:t>
            </a:r>
          </a:p>
          <a:p>
            <a:endParaRPr lang="en-GB" sz="2000" dirty="0">
              <a:latin typeface="Calibri" panose="020F0502020204030204" pitchFamily="34" charset="0"/>
              <a:cs typeface="Calibri" panose="020F0502020204030204" pitchFamily="34" charset="0"/>
            </a:endParaRPr>
          </a:p>
          <a:p>
            <a:pPr marL="0" indent="0">
              <a:lnSpc>
                <a:spcPct val="100000"/>
              </a:lnSpc>
              <a:buNone/>
            </a:pPr>
            <a:r>
              <a:rPr lang="en-GB" sz="2000" b="1" dirty="0">
                <a:latin typeface="Calibri" panose="020F0502020204030204" pitchFamily="34" charset="0"/>
                <a:cs typeface="Calibri" panose="020F0502020204030204" pitchFamily="34" charset="0"/>
              </a:rPr>
              <a:t>Temperature </a:t>
            </a:r>
          </a:p>
          <a:p>
            <a:pPr marL="0" indent="0">
              <a:lnSpc>
                <a:spcPct val="100000"/>
              </a:lnSpc>
              <a:buNone/>
            </a:pPr>
            <a:endParaRPr lang="en-GB" sz="2000" u="sng" dirty="0">
              <a:latin typeface="Calibri" panose="020F0502020204030204" pitchFamily="34" charset="0"/>
              <a:cs typeface="Calibri" panose="020F0502020204030204" pitchFamily="34" charset="0"/>
            </a:endParaRPr>
          </a:p>
          <a:p>
            <a:pPr marL="0" indent="0">
              <a:lnSpc>
                <a:spcPct val="100000"/>
              </a:lnSpc>
              <a:buNone/>
            </a:pPr>
            <a:r>
              <a:rPr lang="en-GB" sz="2000" dirty="0">
                <a:latin typeface="Calibri" panose="020F0502020204030204" pitchFamily="34" charset="0"/>
                <a:cs typeface="Calibri" panose="020F0502020204030204" pitchFamily="34" charset="0"/>
              </a:rPr>
              <a:t>Direct measurements (from 1850) + satellites (from 1979)</a:t>
            </a:r>
          </a:p>
          <a:p>
            <a:pPr>
              <a:lnSpc>
                <a:spcPct val="100000"/>
              </a:lnSpc>
            </a:pPr>
            <a:r>
              <a:rPr lang="en-GB" sz="2000" dirty="0">
                <a:latin typeface="Calibri" panose="020F0502020204030204" pitchFamily="34" charset="0"/>
                <a:cs typeface="Calibri" panose="020F0502020204030204" pitchFamily="34" charset="0"/>
              </a:rPr>
              <a:t>Proxies:</a:t>
            </a:r>
          </a:p>
          <a:p>
            <a:pPr lvl="1">
              <a:lnSpc>
                <a:spcPct val="100000"/>
              </a:lnSpc>
            </a:pPr>
            <a:r>
              <a:rPr lang="en-GB" sz="2000" dirty="0">
                <a:latin typeface="Calibri" panose="020F0502020204030204" pitchFamily="34" charset="0"/>
                <a:cs typeface="Calibri" panose="020F0502020204030204" pitchFamily="34" charset="0"/>
              </a:rPr>
              <a:t>Tree rings (~500 – 2000 years)</a:t>
            </a:r>
          </a:p>
          <a:p>
            <a:pPr lvl="1">
              <a:lnSpc>
                <a:spcPct val="100000"/>
              </a:lnSpc>
            </a:pPr>
            <a:r>
              <a:rPr lang="en-GB" sz="2000" dirty="0">
                <a:latin typeface="Calibri" panose="020F0502020204030204" pitchFamily="34" charset="0"/>
                <a:cs typeface="Calibri" panose="020F0502020204030204" pitchFamily="34" charset="0"/>
              </a:rPr>
              <a:t>Oxygen isotopes in ice cores (100’000s years ago)</a:t>
            </a:r>
          </a:p>
          <a:p>
            <a:pPr lvl="1">
              <a:lnSpc>
                <a:spcPct val="100000"/>
              </a:lnSpc>
            </a:pPr>
            <a:r>
              <a:rPr lang="en-GB" sz="2000" dirty="0">
                <a:latin typeface="Calibri" panose="020F0502020204030204" pitchFamily="34" charset="0"/>
                <a:cs typeface="Calibri" panose="020F0502020204030204" pitchFamily="34" charset="0"/>
              </a:rPr>
              <a:t>Isotopes in lake and ocean sediments (millions of years)</a:t>
            </a:r>
          </a:p>
          <a:p>
            <a:endParaRPr lang="en-GB" sz="2000" dirty="0">
              <a:latin typeface="Calibri" panose="020F0502020204030204" pitchFamily="34" charset="0"/>
              <a:cs typeface="Calibri" panose="020F0502020204030204" pitchFamily="34" charset="0"/>
            </a:endParaRPr>
          </a:p>
        </p:txBody>
      </p:sp>
      <p:sp>
        <p:nvSpPr>
          <p:cNvPr id="7" name="TextBox 14">
            <a:extLst>
              <a:ext uri="{FF2B5EF4-FFF2-40B4-BE49-F238E27FC236}">
                <a16:creationId xmlns:a16="http://schemas.microsoft.com/office/drawing/2014/main" id="{5ECEF5BD-1D0C-574E-7CBF-83879D1B1D8A}"/>
              </a:ext>
            </a:extLst>
          </p:cNvPr>
          <p:cNvSpPr txBox="1"/>
          <p:nvPr/>
        </p:nvSpPr>
        <p:spPr>
          <a:xfrm>
            <a:off x="4380162" y="683884"/>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Measurements</a:t>
            </a:r>
          </a:p>
        </p:txBody>
      </p:sp>
      <p:pic>
        <p:nvPicPr>
          <p:cNvPr id="6" name="Picture 5" descr="A black smoke billowing from a city&#10;&#10;AI-generated content may be incorrect.">
            <a:extLst>
              <a:ext uri="{FF2B5EF4-FFF2-40B4-BE49-F238E27FC236}">
                <a16:creationId xmlns:a16="http://schemas.microsoft.com/office/drawing/2014/main" id="{03377298-573E-DF05-589D-510853FDD79D}"/>
              </a:ext>
            </a:extLst>
          </p:cNvPr>
          <p:cNvPicPr>
            <a:picLocks noChangeAspect="1"/>
          </p:cNvPicPr>
          <p:nvPr/>
        </p:nvPicPr>
        <p:blipFill>
          <a:blip r:embed="rId3"/>
          <a:srcRect l="48356" r="17651"/>
          <a:stretch>
            <a:fillRect/>
          </a:stretch>
        </p:blipFill>
        <p:spPr>
          <a:xfrm>
            <a:off x="20" y="-1"/>
            <a:ext cx="4143544" cy="6856413"/>
          </a:xfrm>
          <a:custGeom>
            <a:avLst/>
            <a:gdLst/>
            <a:ahLst/>
            <a:cxnLst/>
            <a:rect l="l" t="t" r="r" b="b"/>
            <a:pathLst>
              <a:path w="4143564" h="6856413">
                <a:moveTo>
                  <a:pt x="0" y="0"/>
                </a:moveTo>
                <a:lnTo>
                  <a:pt x="4141667" y="0"/>
                </a:lnTo>
                <a:lnTo>
                  <a:pt x="4141086" y="145208"/>
                </a:lnTo>
                <a:cubicBezTo>
                  <a:pt x="4109790" y="1611281"/>
                  <a:pt x="3796834" y="3077353"/>
                  <a:pt x="4047199" y="4543426"/>
                </a:cubicBezTo>
                <a:cubicBezTo>
                  <a:pt x="4172382" y="5276463"/>
                  <a:pt x="4156734" y="6009499"/>
                  <a:pt x="4105878" y="6742536"/>
                </a:cubicBezTo>
                <a:lnTo>
                  <a:pt x="4096763" y="6856413"/>
                </a:lnTo>
                <a:lnTo>
                  <a:pt x="0" y="6856413"/>
                </a:lnTo>
                <a:close/>
              </a:path>
            </a:pathLst>
          </a:custGeom>
        </p:spPr>
      </p:pic>
      <p:sp>
        <p:nvSpPr>
          <p:cNvPr id="9" name="Freeform 13">
            <a:extLst>
              <a:ext uri="{FF2B5EF4-FFF2-40B4-BE49-F238E27FC236}">
                <a16:creationId xmlns:a16="http://schemas.microsoft.com/office/drawing/2014/main" id="{9834C97D-7F1A-6866-C51F-4668C5E3A25C}"/>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3DFADB42-D153-3554-FA42-18D0F25AE5E9}"/>
              </a:ext>
            </a:extLst>
          </p:cNvPr>
          <p:cNvSpPr txBox="1"/>
          <p:nvPr/>
        </p:nvSpPr>
        <p:spPr>
          <a:xfrm>
            <a:off x="4380162" y="5820173"/>
            <a:ext cx="6161714"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dirty="0">
                <a:latin typeface="Calibri" panose="020F0502020204030204" pitchFamily="34" charset="0"/>
                <a:cs typeface="Calibri" panose="020F0502020204030204" pitchFamily="34" charset="0"/>
              </a:rPr>
              <a:t>The further back you go you get lower accuracy, but also lower temporal resolutions.</a:t>
            </a:r>
          </a:p>
        </p:txBody>
      </p:sp>
    </p:spTree>
    <p:extLst>
      <p:ext uri="{BB962C8B-B14F-4D97-AF65-F5344CB8AC3E}">
        <p14:creationId xmlns:p14="http://schemas.microsoft.com/office/powerpoint/2010/main" val="1327810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outdoor, snow, nature, slope&#10;&#10;Description automatically generated">
            <a:extLst>
              <a:ext uri="{FF2B5EF4-FFF2-40B4-BE49-F238E27FC236}">
                <a16:creationId xmlns:a16="http://schemas.microsoft.com/office/drawing/2014/main" id="{75CD0B34-4157-45B8-B1FF-DD9E023EC4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51" y="1970682"/>
            <a:ext cx="5686316" cy="3807462"/>
          </a:xfrm>
          <a:prstGeom prst="rect">
            <a:avLst/>
          </a:prstGeom>
        </p:spPr>
      </p:pic>
      <p:sp>
        <p:nvSpPr>
          <p:cNvPr id="12" name="TextBox 11">
            <a:extLst>
              <a:ext uri="{FF2B5EF4-FFF2-40B4-BE49-F238E27FC236}">
                <a16:creationId xmlns:a16="http://schemas.microsoft.com/office/drawing/2014/main" id="{BB679201-DC4A-496A-9886-2329A2CAEB02}"/>
              </a:ext>
            </a:extLst>
          </p:cNvPr>
          <p:cNvSpPr txBox="1"/>
          <p:nvPr/>
        </p:nvSpPr>
        <p:spPr>
          <a:xfrm>
            <a:off x="6183624" y="1534418"/>
            <a:ext cx="5780172" cy="400110"/>
          </a:xfrm>
          <a:prstGeom prst="rect">
            <a:avLst/>
          </a:prstGeom>
          <a:noFill/>
        </p:spPr>
        <p:txBody>
          <a:bodyPr wrap="none" rtlCol="0">
            <a:spAutoFit/>
          </a:bodyPr>
          <a:lstStyle/>
          <a:p>
            <a:r>
              <a:rPr lang="en-GB" sz="2000" dirty="0">
                <a:latin typeface="Calibri" panose="020F0502020204030204" pitchFamily="34" charset="0"/>
                <a:cs typeface="Calibri" panose="020F0502020204030204" pitchFamily="34" charset="0"/>
              </a:rPr>
              <a:t>South Pole Atmospheric Research Observatory (SPO)  </a:t>
            </a:r>
          </a:p>
        </p:txBody>
      </p:sp>
      <p:pic>
        <p:nvPicPr>
          <p:cNvPr id="9" name="Picture 8" descr="A picture containing sky, outdoor, building, dome&#10;&#10;Description automatically generated">
            <a:extLst>
              <a:ext uri="{FF2B5EF4-FFF2-40B4-BE49-F238E27FC236}">
                <a16:creationId xmlns:a16="http://schemas.microsoft.com/office/drawing/2014/main" id="{F76DF3AD-BA35-4989-BF88-6B260D756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465" y="1970682"/>
            <a:ext cx="5711191" cy="3807461"/>
          </a:xfrm>
          <a:prstGeom prst="rect">
            <a:avLst/>
          </a:prstGeom>
        </p:spPr>
      </p:pic>
      <p:sp>
        <p:nvSpPr>
          <p:cNvPr id="13" name="TextBox 12">
            <a:extLst>
              <a:ext uri="{FF2B5EF4-FFF2-40B4-BE49-F238E27FC236}">
                <a16:creationId xmlns:a16="http://schemas.microsoft.com/office/drawing/2014/main" id="{493E125F-CD64-4830-9A49-3C3C1B4DCA67}"/>
              </a:ext>
            </a:extLst>
          </p:cNvPr>
          <p:cNvSpPr txBox="1"/>
          <p:nvPr/>
        </p:nvSpPr>
        <p:spPr>
          <a:xfrm>
            <a:off x="384698" y="1534418"/>
            <a:ext cx="3389967" cy="400110"/>
          </a:xfrm>
          <a:prstGeom prst="rect">
            <a:avLst/>
          </a:prstGeom>
          <a:noFill/>
        </p:spPr>
        <p:txBody>
          <a:bodyPr wrap="none" rtlCol="0">
            <a:spAutoFit/>
          </a:bodyPr>
          <a:lstStyle/>
          <a:p>
            <a:r>
              <a:rPr lang="en-GB" sz="2000" dirty="0">
                <a:latin typeface="Calibri" panose="020F0502020204030204" pitchFamily="34" charset="0"/>
                <a:cs typeface="Calibri" panose="020F0502020204030204" pitchFamily="34" charset="0"/>
              </a:rPr>
              <a:t>Mauna Loa Observatory (MLO)</a:t>
            </a:r>
          </a:p>
        </p:txBody>
      </p:sp>
      <p:sp>
        <p:nvSpPr>
          <p:cNvPr id="16" name="Content Placeholder 2">
            <a:extLst>
              <a:ext uri="{FF2B5EF4-FFF2-40B4-BE49-F238E27FC236}">
                <a16:creationId xmlns:a16="http://schemas.microsoft.com/office/drawing/2014/main" id="{CD4FC99B-5169-43C2-B4BD-A529E9D07536}"/>
              </a:ext>
            </a:extLst>
          </p:cNvPr>
          <p:cNvSpPr txBox="1">
            <a:spLocks/>
          </p:cNvSpPr>
          <p:nvPr/>
        </p:nvSpPr>
        <p:spPr>
          <a:xfrm>
            <a:off x="389465" y="5892254"/>
            <a:ext cx="7886700" cy="40011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latin typeface="Calibri" panose="020F0502020204030204" pitchFamily="34" charset="0"/>
                <a:cs typeface="Calibri" panose="020F0502020204030204" pitchFamily="34" charset="0"/>
              </a:rPr>
              <a:t>Direct measurements (from 1958)</a:t>
            </a:r>
          </a:p>
        </p:txBody>
      </p:sp>
      <p:sp>
        <p:nvSpPr>
          <p:cNvPr id="3" name="TextBox 14">
            <a:extLst>
              <a:ext uri="{FF2B5EF4-FFF2-40B4-BE49-F238E27FC236}">
                <a16:creationId xmlns:a16="http://schemas.microsoft.com/office/drawing/2014/main" id="{B3D05590-1F0B-C61B-5F12-3C6BE76F17AA}"/>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sp>
        <p:nvSpPr>
          <p:cNvPr id="2" name="Freeform 13">
            <a:extLst>
              <a:ext uri="{FF2B5EF4-FFF2-40B4-BE49-F238E27FC236}">
                <a16:creationId xmlns:a16="http://schemas.microsoft.com/office/drawing/2014/main" id="{5E5F9FC9-2593-C489-2210-C529BA0AE96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15726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0D0B1-4B1B-4FBD-88AB-C5F1620DE0CB}"/>
              </a:ext>
            </a:extLst>
          </p:cNvPr>
          <p:cNvSpPr>
            <a:spLocks noGrp="1"/>
          </p:cNvSpPr>
          <p:nvPr>
            <p:ph idx="1"/>
          </p:nvPr>
        </p:nvSpPr>
        <p:spPr>
          <a:xfrm>
            <a:off x="375578" y="1525623"/>
            <a:ext cx="10085836" cy="3263504"/>
          </a:xfrm>
        </p:spPr>
        <p:txBody>
          <a:bodyPr>
            <a:normAutofit/>
          </a:bodyPr>
          <a:lstStyle/>
          <a:p>
            <a:pPr marL="0" indent="0">
              <a:buNone/>
            </a:pPr>
            <a:r>
              <a:rPr lang="en-GB" sz="2200" dirty="0">
                <a:latin typeface="Calibri" panose="020F0502020204030204" pitchFamily="34" charset="0"/>
                <a:cs typeface="Calibri" panose="020F0502020204030204" pitchFamily="34" charset="0"/>
              </a:rPr>
              <a:t>Direct measurements (from 1958)</a:t>
            </a:r>
          </a:p>
          <a:p>
            <a:pPr marL="0" indent="0">
              <a:buNone/>
            </a:pPr>
            <a:r>
              <a:rPr lang="en-GB" sz="2200" dirty="0">
                <a:latin typeface="Calibri" panose="020F0502020204030204" pitchFamily="34" charset="0"/>
                <a:cs typeface="Calibri" panose="020F0502020204030204" pitchFamily="34" charset="0"/>
              </a:rPr>
              <a:t>Mauna Loa Observatory (MLO)</a:t>
            </a:r>
          </a:p>
        </p:txBody>
      </p:sp>
      <p:pic>
        <p:nvPicPr>
          <p:cNvPr id="14" name="Picture 13" descr="Chart, line chart&#10;&#10;Description automatically generated">
            <a:extLst>
              <a:ext uri="{FF2B5EF4-FFF2-40B4-BE49-F238E27FC236}">
                <a16:creationId xmlns:a16="http://schemas.microsoft.com/office/drawing/2014/main" id="{E14A9F5A-8112-4358-8306-4821EC1E3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1863" y="2493245"/>
            <a:ext cx="4803998" cy="3590653"/>
          </a:xfrm>
          <a:prstGeom prst="rect">
            <a:avLst/>
          </a:prstGeom>
        </p:spPr>
      </p:pic>
      <p:sp>
        <p:nvSpPr>
          <p:cNvPr id="2" name="TextBox 14">
            <a:extLst>
              <a:ext uri="{FF2B5EF4-FFF2-40B4-BE49-F238E27FC236}">
                <a16:creationId xmlns:a16="http://schemas.microsoft.com/office/drawing/2014/main" id="{1F370389-E195-021A-A2DE-5A214EE1331C}"/>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sp>
        <p:nvSpPr>
          <p:cNvPr id="4" name="Freeform 13">
            <a:extLst>
              <a:ext uri="{FF2B5EF4-FFF2-40B4-BE49-F238E27FC236}">
                <a16:creationId xmlns:a16="http://schemas.microsoft.com/office/drawing/2014/main" id="{588D384F-FC8B-5353-1702-25056E96ACBE}"/>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5" name="Picture 6" descr="Atmospheric carbon dioxide">
            <a:extLst>
              <a:ext uri="{FF2B5EF4-FFF2-40B4-BE49-F238E27FC236}">
                <a16:creationId xmlns:a16="http://schemas.microsoft.com/office/drawing/2014/main" id="{5D2CF9A3-77EB-1B3C-64CC-CCC1BEACAA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465" y="2427541"/>
            <a:ext cx="6803056" cy="3656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80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CE9C3-158C-2148-6DF6-FF12843B9A03}"/>
            </a:ext>
          </a:extLst>
        </p:cNvPr>
        <p:cNvGrpSpPr/>
        <p:nvPr/>
      </p:nvGrpSpPr>
      <p:grpSpPr>
        <a:xfrm>
          <a:off x="0" y="0"/>
          <a:ext cx="0" cy="0"/>
          <a:chOff x="0" y="0"/>
          <a:chExt cx="0" cy="0"/>
        </a:xfrm>
      </p:grpSpPr>
      <p:pic>
        <p:nvPicPr>
          <p:cNvPr id="25602" name="Picture 9">
            <a:extLst>
              <a:ext uri="{FF2B5EF4-FFF2-40B4-BE49-F238E27FC236}">
                <a16:creationId xmlns:a16="http://schemas.microsoft.com/office/drawing/2014/main" id="{F86FA2C0-1C2B-D9ED-CE9C-37F010C34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437" y="1367259"/>
            <a:ext cx="7893844"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13">
            <a:extLst>
              <a:ext uri="{FF2B5EF4-FFF2-40B4-BE49-F238E27FC236}">
                <a16:creationId xmlns:a16="http://schemas.microsoft.com/office/drawing/2014/main" id="{00C0FE34-22A8-95F1-A2F2-6854F77E0BC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EBC6C22D-9CD6-25C2-3396-6DC40AE67B39}"/>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Energy Balance - Key Gasses</a:t>
            </a:r>
          </a:p>
        </p:txBody>
      </p:sp>
      <p:sp>
        <p:nvSpPr>
          <p:cNvPr id="4" name="Rectangle 3">
            <a:extLst>
              <a:ext uri="{FF2B5EF4-FFF2-40B4-BE49-F238E27FC236}">
                <a16:creationId xmlns:a16="http://schemas.microsoft.com/office/drawing/2014/main" id="{234A7970-DF15-87BE-4047-2C3D9092E5AF}"/>
              </a:ext>
            </a:extLst>
          </p:cNvPr>
          <p:cNvSpPr/>
          <p:nvPr/>
        </p:nvSpPr>
        <p:spPr>
          <a:xfrm>
            <a:off x="389463" y="3284113"/>
            <a:ext cx="7827257" cy="32266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818F672-0C2C-675C-59AA-30ADF77557D7}"/>
              </a:ext>
            </a:extLst>
          </p:cNvPr>
          <p:cNvCxnSpPr>
            <a:cxnSpLocks/>
          </p:cNvCxnSpPr>
          <p:nvPr/>
        </p:nvCxnSpPr>
        <p:spPr>
          <a:xfrm>
            <a:off x="7920507" y="4906851"/>
            <a:ext cx="1004552" cy="0"/>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TextBox 7">
            <a:extLst>
              <a:ext uri="{FF2B5EF4-FFF2-40B4-BE49-F238E27FC236}">
                <a16:creationId xmlns:a16="http://schemas.microsoft.com/office/drawing/2014/main" id="{EB8DF87A-13B1-519F-96C0-67161FE127B9}"/>
              </a:ext>
            </a:extLst>
          </p:cNvPr>
          <p:cNvSpPr txBox="1"/>
          <p:nvPr/>
        </p:nvSpPr>
        <p:spPr>
          <a:xfrm>
            <a:off x="9038081" y="4306686"/>
            <a:ext cx="2614108"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latin typeface="Calibri" panose="020F0502020204030204" pitchFamily="34" charset="0"/>
                <a:cs typeface="Calibri" panose="020F0502020204030204" pitchFamily="34" charset="0"/>
              </a:rPr>
              <a:t>These properties can be used to make measurements of their concentrations </a:t>
            </a:r>
          </a:p>
        </p:txBody>
      </p:sp>
    </p:spTree>
    <p:extLst>
      <p:ext uri="{BB962C8B-B14F-4D97-AF65-F5344CB8AC3E}">
        <p14:creationId xmlns:p14="http://schemas.microsoft.com/office/powerpoint/2010/main" val="53748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FD184-C75A-DE1D-7BC5-0D240D6F39D0}"/>
            </a:ext>
          </a:extLst>
        </p:cNvPr>
        <p:cNvGrpSpPr/>
        <p:nvPr/>
      </p:nvGrpSpPr>
      <p:grpSpPr>
        <a:xfrm>
          <a:off x="0" y="0"/>
          <a:ext cx="0" cy="0"/>
          <a:chOff x="0" y="0"/>
          <a:chExt cx="0" cy="0"/>
        </a:xfrm>
      </p:grpSpPr>
      <p:pic>
        <p:nvPicPr>
          <p:cNvPr id="25602" name="Picture 9">
            <a:extLst>
              <a:ext uri="{FF2B5EF4-FFF2-40B4-BE49-F238E27FC236}">
                <a16:creationId xmlns:a16="http://schemas.microsoft.com/office/drawing/2014/main" id="{67346D35-2394-EC2A-905E-6C4B6E87E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4" y="1367259"/>
            <a:ext cx="4245639" cy="276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13">
            <a:extLst>
              <a:ext uri="{FF2B5EF4-FFF2-40B4-BE49-F238E27FC236}">
                <a16:creationId xmlns:a16="http://schemas.microsoft.com/office/drawing/2014/main" id="{BA653520-F18C-C99E-B794-C2DFD1C265E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5438FE3A-3C04-18AC-CD73-B448F345C0D0}"/>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Measurements</a:t>
            </a:r>
          </a:p>
        </p:txBody>
      </p:sp>
      <p:sp>
        <p:nvSpPr>
          <p:cNvPr id="6" name="TextBox 5">
            <a:extLst>
              <a:ext uri="{FF2B5EF4-FFF2-40B4-BE49-F238E27FC236}">
                <a16:creationId xmlns:a16="http://schemas.microsoft.com/office/drawing/2014/main" id="{43030B6C-E5E4-52B8-855D-0AD6BF0C2C7C}"/>
              </a:ext>
            </a:extLst>
          </p:cNvPr>
          <p:cNvSpPr txBox="1"/>
          <p:nvPr/>
        </p:nvSpPr>
        <p:spPr>
          <a:xfrm>
            <a:off x="389464" y="4226911"/>
            <a:ext cx="11104198" cy="2308324"/>
          </a:xfrm>
          <a:prstGeom prst="rect">
            <a:avLst/>
          </a:prstGeom>
          <a:noFill/>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Greenhouse gases absorb radiation at specific wavelengths (unique spectral “fingerprints” in the infrared).</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Absorption strength is proportional to concentration (</a:t>
            </a:r>
            <a:r>
              <a:rPr lang="en-GB" i="1" dirty="0">
                <a:latin typeface="Calibri" panose="020F0502020204030204" pitchFamily="34" charset="0"/>
                <a:cs typeface="Calibri" panose="020F0502020204030204" pitchFamily="34" charset="0"/>
              </a:rPr>
              <a:t>Beer–Lambert law</a:t>
            </a:r>
            <a:r>
              <a:rPr lang="en-GB" dirty="0">
                <a:latin typeface="Calibri" panose="020F0502020204030204" pitchFamily="34" charset="0"/>
                <a:cs typeface="Calibri" panose="020F0502020204030204" pitchFamily="34" charset="0"/>
              </a:rPr>
              <a:t>), allowing precise quantification of gas amounts.</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Instruments measure how much radiation is absorbed along a </a:t>
            </a:r>
            <a:r>
              <a:rPr lang="en-GB" b="1" dirty="0">
                <a:latin typeface="Calibri" panose="020F0502020204030204" pitchFamily="34" charset="0"/>
                <a:cs typeface="Calibri" panose="020F0502020204030204" pitchFamily="34" charset="0"/>
              </a:rPr>
              <a:t>known path length </a:t>
            </a:r>
          </a:p>
          <a:p>
            <a:pPr marL="285750" indent="-285750">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Different gases absorb at different wavelengths, allowing CO₂, CH₄, H₂O and others to be measured independently.</a:t>
            </a:r>
          </a:p>
        </p:txBody>
      </p:sp>
      <p:pic>
        <p:nvPicPr>
          <p:cNvPr id="8" name="Picture 7" descr="A blue and black box with black handles&#10;&#10;AI-generated content may be incorrect.">
            <a:extLst>
              <a:ext uri="{FF2B5EF4-FFF2-40B4-BE49-F238E27FC236}">
                <a16:creationId xmlns:a16="http://schemas.microsoft.com/office/drawing/2014/main" id="{26CCE592-481D-520F-25EF-024942E2CAF6}"/>
              </a:ext>
            </a:extLst>
          </p:cNvPr>
          <p:cNvPicPr>
            <a:picLocks noChangeAspect="1"/>
          </p:cNvPicPr>
          <p:nvPr/>
        </p:nvPicPr>
        <p:blipFill>
          <a:blip r:embed="rId5"/>
          <a:srcRect l="13661" t="16114" r="16025" b="17295"/>
          <a:stretch>
            <a:fillRect/>
          </a:stretch>
        </p:blipFill>
        <p:spPr>
          <a:xfrm>
            <a:off x="4677021" y="1481882"/>
            <a:ext cx="3571898" cy="2537139"/>
          </a:xfrm>
          <a:prstGeom prst="rect">
            <a:avLst/>
          </a:prstGeom>
        </p:spPr>
      </p:pic>
      <p:pic>
        <p:nvPicPr>
          <p:cNvPr id="10" name="Picture 9" descr="A yellow case with a machine inside&#10;&#10;AI-generated content may be incorrect.">
            <a:extLst>
              <a:ext uri="{FF2B5EF4-FFF2-40B4-BE49-F238E27FC236}">
                <a16:creationId xmlns:a16="http://schemas.microsoft.com/office/drawing/2014/main" id="{4F1DBEE1-06AA-A126-B7A5-BF4D25E7432F}"/>
              </a:ext>
            </a:extLst>
          </p:cNvPr>
          <p:cNvPicPr>
            <a:picLocks noChangeAspect="1"/>
          </p:cNvPicPr>
          <p:nvPr/>
        </p:nvPicPr>
        <p:blipFill>
          <a:blip r:embed="rId6"/>
          <a:stretch>
            <a:fillRect/>
          </a:stretch>
        </p:blipFill>
        <p:spPr>
          <a:xfrm>
            <a:off x="8555864" y="1481881"/>
            <a:ext cx="3382852" cy="2537139"/>
          </a:xfrm>
          <a:prstGeom prst="rect">
            <a:avLst/>
          </a:prstGeom>
        </p:spPr>
      </p:pic>
    </p:spTree>
    <p:extLst>
      <p:ext uri="{BB962C8B-B14F-4D97-AF65-F5344CB8AC3E}">
        <p14:creationId xmlns:p14="http://schemas.microsoft.com/office/powerpoint/2010/main" val="2419634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D4EA9-FE32-F8A2-8736-918A295EAE4C}"/>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22B354C9-5F9E-77AF-EBF4-14C47F24FC1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FD0943A0-F88A-5A2F-5369-3E6E58F6C0BA}"/>
              </a:ext>
            </a:extLst>
          </p:cNvPr>
          <p:cNvSpPr txBox="1"/>
          <p:nvPr/>
        </p:nvSpPr>
        <p:spPr>
          <a:xfrm>
            <a:off x="389464" y="684091"/>
            <a:ext cx="8738769" cy="589905"/>
          </a:xfrm>
          <a:prstGeom prst="rect">
            <a:avLst/>
          </a:prstGeom>
        </p:spPr>
        <p:txBody>
          <a:bodyPr wrap="square" lIns="0" tIns="0" rIns="0" bIns="0" rtlCol="0" anchor="t">
            <a:spAutoFit/>
          </a:bodyPr>
          <a:lstStyle/>
          <a:p>
            <a:pPr defTabSz="609630">
              <a:lnSpc>
                <a:spcPts val="4573"/>
              </a:lnSpc>
              <a:defRPr/>
            </a:pPr>
            <a:r>
              <a:rPr lang="en-US" sz="4000" i="1" spc="-275" dirty="0">
                <a:solidFill>
                  <a:srgbClr val="46245A"/>
                </a:solidFill>
                <a:latin typeface="DM Sans Bold"/>
              </a:rPr>
              <a:t>Measurements</a:t>
            </a:r>
          </a:p>
        </p:txBody>
      </p:sp>
      <p:sp>
        <p:nvSpPr>
          <p:cNvPr id="11" name="TextBox 10">
            <a:extLst>
              <a:ext uri="{FF2B5EF4-FFF2-40B4-BE49-F238E27FC236}">
                <a16:creationId xmlns:a16="http://schemas.microsoft.com/office/drawing/2014/main" id="{D70DF2A0-2389-0577-EA66-2EC063BE3BA1}"/>
              </a:ext>
            </a:extLst>
          </p:cNvPr>
          <p:cNvSpPr txBox="1"/>
          <p:nvPr/>
        </p:nvSpPr>
        <p:spPr>
          <a:xfrm>
            <a:off x="389464" y="1403372"/>
            <a:ext cx="8738769" cy="4893647"/>
          </a:xfrm>
          <a:prstGeom prst="rect">
            <a:avLst/>
          </a:prstGeom>
          <a:noFill/>
        </p:spPr>
        <p:txBody>
          <a:bodyPr wrap="square">
            <a:spAutoFit/>
          </a:bodyPr>
          <a:lstStyle/>
          <a:p>
            <a:r>
              <a:rPr lang="en-GB" sz="1600" b="1" i="0" kern="1200" dirty="0">
                <a:solidFill>
                  <a:schemeClr val="tx1"/>
                </a:solidFill>
                <a:effectLst/>
                <a:latin typeface="Calibri" panose="020F0502020204030204" pitchFamily="34" charset="0"/>
                <a:cs typeface="Calibri" panose="020F0502020204030204" pitchFamily="34" charset="0"/>
              </a:rPr>
              <a:t>In situ ground measurements </a:t>
            </a:r>
          </a:p>
          <a:p>
            <a:r>
              <a:rPr lang="en-GB" sz="1600" b="0" i="0" kern="1200" dirty="0">
                <a:solidFill>
                  <a:schemeClr val="tx1"/>
                </a:solidFill>
                <a:effectLst/>
                <a:latin typeface="Calibri" panose="020F0502020204030204" pitchFamily="34" charset="0"/>
                <a:cs typeface="Calibri" panose="020F0502020204030204" pitchFamily="34" charset="0"/>
              </a:rPr>
              <a:t>Air is drawn into an instrument cell.</a:t>
            </a:r>
          </a:p>
          <a:p>
            <a:r>
              <a:rPr lang="en-GB" sz="1600" b="0" i="0" kern="1200" dirty="0">
                <a:solidFill>
                  <a:schemeClr val="tx1"/>
                </a:solidFill>
                <a:effectLst/>
                <a:latin typeface="Calibri" panose="020F0502020204030204" pitchFamily="34" charset="0"/>
                <a:cs typeface="Calibri" panose="020F0502020204030204" pitchFamily="34" charset="0"/>
              </a:rPr>
              <a:t>The gas passes through a chamber of fixed length (e.g. 10–100 cm).</a:t>
            </a:r>
          </a:p>
          <a:p>
            <a:r>
              <a:rPr lang="en-GB" sz="1600" b="0" i="0" kern="1200" dirty="0">
                <a:solidFill>
                  <a:schemeClr val="tx1"/>
                </a:solidFill>
                <a:effectLst/>
                <a:latin typeface="Calibri" panose="020F0502020204030204" pitchFamily="34" charset="0"/>
                <a:cs typeface="Calibri" panose="020F0502020204030204" pitchFamily="34" charset="0"/>
              </a:rPr>
              <a:t>Infrared light passes through that chamber.</a:t>
            </a:r>
          </a:p>
          <a:p>
            <a:r>
              <a:rPr lang="en-GB" sz="1600" b="0" i="0" kern="1200" dirty="0">
                <a:solidFill>
                  <a:schemeClr val="tx1"/>
                </a:solidFill>
                <a:effectLst/>
                <a:latin typeface="Calibri" panose="020F0502020204030204" pitchFamily="34" charset="0"/>
                <a:cs typeface="Calibri" panose="020F0502020204030204" pitchFamily="34" charset="0"/>
              </a:rPr>
              <a:t>The instrument measures how much light is absorbed.</a:t>
            </a:r>
          </a:p>
          <a:p>
            <a:r>
              <a:rPr lang="en-GB" sz="1600" b="0" i="0" kern="1200" dirty="0">
                <a:solidFill>
                  <a:schemeClr val="tx1"/>
                </a:solidFill>
                <a:effectLst/>
                <a:latin typeface="Calibri" panose="020F0502020204030204" pitchFamily="34" charset="0"/>
                <a:cs typeface="Calibri" panose="020F0502020204030204" pitchFamily="34" charset="0"/>
              </a:rPr>
              <a:t>Because the chamber length is known precisely, concentration can be calculated directly.</a:t>
            </a:r>
          </a:p>
          <a:p>
            <a:r>
              <a:rPr lang="en-GB" sz="1600" b="0" i="0" kern="1200" dirty="0">
                <a:solidFill>
                  <a:schemeClr val="tx1"/>
                </a:solidFill>
                <a:effectLst/>
                <a:latin typeface="Calibri" panose="020F0502020204030204" pitchFamily="34" charset="0"/>
                <a:cs typeface="Calibri" panose="020F0502020204030204" pitchFamily="34" charset="0"/>
              </a:rPr>
              <a:t>Here the path length is the length of the measurement cell.</a:t>
            </a:r>
          </a:p>
          <a:p>
            <a:br>
              <a:rPr lang="en-GB" sz="1600" dirty="0">
                <a:latin typeface="Calibri" panose="020F0502020204030204" pitchFamily="34" charset="0"/>
                <a:cs typeface="Calibri" panose="020F0502020204030204" pitchFamily="34" charset="0"/>
              </a:rPr>
            </a:br>
            <a:endParaRPr lang="en-GB" sz="1600" dirty="0">
              <a:latin typeface="Calibri" panose="020F0502020204030204" pitchFamily="34" charset="0"/>
              <a:cs typeface="Calibri" panose="020F0502020204030204" pitchFamily="34" charset="0"/>
            </a:endParaRPr>
          </a:p>
          <a:p>
            <a:r>
              <a:rPr lang="en-GB" sz="1600" b="1" i="0" kern="1200" dirty="0">
                <a:solidFill>
                  <a:schemeClr val="tx1"/>
                </a:solidFill>
                <a:effectLst/>
                <a:latin typeface="Calibri" panose="020F0502020204030204" pitchFamily="34" charset="0"/>
                <a:cs typeface="Calibri" panose="020F0502020204030204" pitchFamily="34" charset="0"/>
              </a:rPr>
              <a:t>Open-path / remote sensing from ground</a:t>
            </a:r>
          </a:p>
          <a:p>
            <a:r>
              <a:rPr lang="en-GB" sz="1600" b="0" i="0" kern="1200" dirty="0">
                <a:solidFill>
                  <a:schemeClr val="tx1"/>
                </a:solidFill>
                <a:effectLst/>
                <a:latin typeface="Calibri" panose="020F0502020204030204" pitchFamily="34" charset="0"/>
                <a:cs typeface="Calibri" panose="020F0502020204030204" pitchFamily="34" charset="0"/>
              </a:rPr>
              <a:t>A beam may travel:</a:t>
            </a:r>
          </a:p>
          <a:p>
            <a:r>
              <a:rPr lang="en-GB" sz="1600" b="0" i="0" kern="1200" dirty="0">
                <a:solidFill>
                  <a:schemeClr val="tx1"/>
                </a:solidFill>
                <a:effectLst/>
                <a:latin typeface="Calibri" panose="020F0502020204030204" pitchFamily="34" charset="0"/>
                <a:cs typeface="Calibri" panose="020F0502020204030204" pitchFamily="34" charset="0"/>
              </a:rPr>
              <a:t>From instrument → reflector → back to detector</a:t>
            </a:r>
          </a:p>
          <a:p>
            <a:r>
              <a:rPr lang="en-GB" sz="1600" b="0" i="0" kern="1200" dirty="0">
                <a:solidFill>
                  <a:schemeClr val="tx1"/>
                </a:solidFill>
                <a:effectLst/>
                <a:latin typeface="Calibri" panose="020F0502020204030204" pitchFamily="34" charset="0"/>
                <a:cs typeface="Calibri" panose="020F0502020204030204" pitchFamily="34" charset="0"/>
              </a:rPr>
              <a:t>The distance between them is measured accurately, so total path length is known.</a:t>
            </a:r>
          </a:p>
          <a:p>
            <a:br>
              <a:rPr lang="en-GB" sz="1600" dirty="0">
                <a:latin typeface="Calibri" panose="020F0502020204030204" pitchFamily="34" charset="0"/>
                <a:cs typeface="Calibri" panose="020F0502020204030204" pitchFamily="34" charset="0"/>
              </a:rPr>
            </a:br>
            <a:endParaRPr lang="en-GB" sz="1600" dirty="0">
              <a:latin typeface="Calibri" panose="020F0502020204030204" pitchFamily="34" charset="0"/>
              <a:cs typeface="Calibri" panose="020F0502020204030204" pitchFamily="34" charset="0"/>
            </a:endParaRPr>
          </a:p>
          <a:p>
            <a:r>
              <a:rPr lang="en-GB" sz="1600" b="1" i="0" kern="1200" dirty="0">
                <a:solidFill>
                  <a:schemeClr val="tx1"/>
                </a:solidFill>
                <a:effectLst/>
                <a:latin typeface="Calibri" panose="020F0502020204030204" pitchFamily="34" charset="0"/>
                <a:cs typeface="Calibri" panose="020F0502020204030204" pitchFamily="34" charset="0"/>
              </a:rPr>
              <a:t>Satellites</a:t>
            </a:r>
          </a:p>
          <a:p>
            <a:r>
              <a:rPr lang="en-GB" sz="1600" b="0" i="0" kern="1200" dirty="0">
                <a:solidFill>
                  <a:schemeClr val="tx1"/>
                </a:solidFill>
                <a:effectLst/>
                <a:latin typeface="Calibri" panose="020F0502020204030204" pitchFamily="34" charset="0"/>
                <a:cs typeface="Calibri" panose="020F0502020204030204" pitchFamily="34" charset="0"/>
              </a:rPr>
              <a:t>Radiation travels from Earth’s surface → through the atmosphere → to the satellite.</a:t>
            </a:r>
          </a:p>
          <a:p>
            <a:r>
              <a:rPr lang="en-GB" sz="1600" b="0" i="0" kern="1200" dirty="0">
                <a:solidFill>
                  <a:schemeClr val="tx1"/>
                </a:solidFill>
                <a:effectLst/>
                <a:latin typeface="Calibri" panose="020F0502020204030204" pitchFamily="34" charset="0"/>
                <a:cs typeface="Calibri" panose="020F0502020204030204" pitchFamily="34" charset="0"/>
              </a:rPr>
              <a:t>Radiative transfer models account for pressure, temperature, and atmospheric layering.</a:t>
            </a:r>
          </a:p>
          <a:p>
            <a:r>
              <a:rPr lang="en-GB" sz="1600" b="0" i="0" kern="1200" dirty="0">
                <a:solidFill>
                  <a:schemeClr val="tx1"/>
                </a:solidFill>
                <a:effectLst/>
                <a:latin typeface="Calibri" panose="020F0502020204030204" pitchFamily="34" charset="0"/>
                <a:cs typeface="Calibri" panose="020F0502020204030204" pitchFamily="34" charset="0"/>
              </a:rPr>
              <a:t>The effective path length is calculated </a:t>
            </a:r>
          </a:p>
        </p:txBody>
      </p:sp>
      <p:pic>
        <p:nvPicPr>
          <p:cNvPr id="12" name="Picture 11" descr="A yellow case with a machine inside&#10;&#10;AI-generated content may be incorrect.">
            <a:extLst>
              <a:ext uri="{FF2B5EF4-FFF2-40B4-BE49-F238E27FC236}">
                <a16:creationId xmlns:a16="http://schemas.microsoft.com/office/drawing/2014/main" id="{F2050E02-6BC4-9E0C-ED0A-D795E02EFC24}"/>
              </a:ext>
            </a:extLst>
          </p:cNvPr>
          <p:cNvPicPr>
            <a:picLocks noChangeAspect="1"/>
          </p:cNvPicPr>
          <p:nvPr/>
        </p:nvPicPr>
        <p:blipFill>
          <a:blip r:embed="rId4"/>
          <a:stretch>
            <a:fillRect/>
          </a:stretch>
        </p:blipFill>
        <p:spPr>
          <a:xfrm>
            <a:off x="8163966" y="1273996"/>
            <a:ext cx="2558604" cy="1918953"/>
          </a:xfrm>
          <a:prstGeom prst="rect">
            <a:avLst/>
          </a:prstGeom>
        </p:spPr>
      </p:pic>
      <p:pic>
        <p:nvPicPr>
          <p:cNvPr id="14" name="Picture 13" descr="A diagram of a gas source&#10;&#10;AI-generated content may be incorrect.">
            <a:extLst>
              <a:ext uri="{FF2B5EF4-FFF2-40B4-BE49-F238E27FC236}">
                <a16:creationId xmlns:a16="http://schemas.microsoft.com/office/drawing/2014/main" id="{CD28B0A6-3A55-8D71-2BC1-684C0F587001}"/>
              </a:ext>
            </a:extLst>
          </p:cNvPr>
          <p:cNvPicPr>
            <a:picLocks noChangeAspect="1"/>
          </p:cNvPicPr>
          <p:nvPr/>
        </p:nvPicPr>
        <p:blipFill>
          <a:blip r:embed="rId5"/>
          <a:srcRect t="23064" b="22683"/>
          <a:stretch>
            <a:fillRect/>
          </a:stretch>
        </p:blipFill>
        <p:spPr>
          <a:xfrm>
            <a:off x="7602972" y="3375230"/>
            <a:ext cx="4139369" cy="1497169"/>
          </a:xfrm>
          <a:prstGeom prst="rect">
            <a:avLst/>
          </a:prstGeom>
        </p:spPr>
      </p:pic>
      <p:pic>
        <p:nvPicPr>
          <p:cNvPr id="16" name="Picture 15" descr="A satellite over the earth&#10;&#10;AI-generated content may be incorrect.">
            <a:extLst>
              <a:ext uri="{FF2B5EF4-FFF2-40B4-BE49-F238E27FC236}">
                <a16:creationId xmlns:a16="http://schemas.microsoft.com/office/drawing/2014/main" id="{9D759A06-2D4D-CAEF-558C-FCED3AEDCB67}"/>
              </a:ext>
            </a:extLst>
          </p:cNvPr>
          <p:cNvPicPr>
            <a:picLocks noChangeAspect="1"/>
          </p:cNvPicPr>
          <p:nvPr/>
        </p:nvPicPr>
        <p:blipFill>
          <a:blip r:embed="rId6"/>
          <a:stretch>
            <a:fillRect/>
          </a:stretch>
        </p:blipFill>
        <p:spPr>
          <a:xfrm>
            <a:off x="8163966" y="4882468"/>
            <a:ext cx="2702042" cy="1803319"/>
          </a:xfrm>
          <a:prstGeom prst="rect">
            <a:avLst/>
          </a:prstGeom>
        </p:spPr>
      </p:pic>
    </p:spTree>
    <p:extLst>
      <p:ext uri="{BB962C8B-B14F-4D97-AF65-F5344CB8AC3E}">
        <p14:creationId xmlns:p14="http://schemas.microsoft.com/office/powerpoint/2010/main" val="138842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16" end="1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BBE30EA0-7E43-849C-10E2-38FCC78926F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8240"/>
          <a:stretch>
            <a:fillRect/>
          </a:stretch>
        </p:blipFill>
        <p:spPr bwMode="auto">
          <a:xfrm>
            <a:off x="449660" y="1336431"/>
            <a:ext cx="8474308" cy="5141435"/>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13">
            <a:extLst>
              <a:ext uri="{FF2B5EF4-FFF2-40B4-BE49-F238E27FC236}">
                <a16:creationId xmlns:a16="http://schemas.microsoft.com/office/drawing/2014/main" id="{1938EC93-4F1B-FB92-7FA4-FF18FAFCC18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5" name="TextBox 14">
            <a:extLst>
              <a:ext uri="{FF2B5EF4-FFF2-40B4-BE49-F238E27FC236}">
                <a16:creationId xmlns:a16="http://schemas.microsoft.com/office/drawing/2014/main" id="{83B28FAA-92EF-8A9D-32A3-C1212589D334}"/>
              </a:ext>
            </a:extLst>
          </p:cNvPr>
          <p:cNvSpPr txBox="1"/>
          <p:nvPr/>
        </p:nvSpPr>
        <p:spPr>
          <a:xfrm>
            <a:off x="389465" y="684091"/>
            <a:ext cx="7336552"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 From Satellites</a:t>
            </a:r>
          </a:p>
        </p:txBody>
      </p:sp>
      <p:pic>
        <p:nvPicPr>
          <p:cNvPr id="6" name="Video 9">
            <a:hlinkClick r:id="" action="ppaction://media"/>
            <a:extLst>
              <a:ext uri="{FF2B5EF4-FFF2-40B4-BE49-F238E27FC236}">
                <a16:creationId xmlns:a16="http://schemas.microsoft.com/office/drawing/2014/main" id="{6611063A-F009-4093-C2D8-E4FD3D1A26A9}"/>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429418" y="2166083"/>
            <a:ext cx="5210053" cy="2930655"/>
          </a:xfrm>
          <a:prstGeom prst="rect">
            <a:avLst/>
          </a:prstGeom>
        </p:spPr>
      </p:pic>
      <p:sp>
        <p:nvSpPr>
          <p:cNvPr id="8" name="TextBox 7">
            <a:extLst>
              <a:ext uri="{FF2B5EF4-FFF2-40B4-BE49-F238E27FC236}">
                <a16:creationId xmlns:a16="http://schemas.microsoft.com/office/drawing/2014/main" id="{E38D3820-6AF1-4EA4-17EC-3B378620ECDB}"/>
              </a:ext>
            </a:extLst>
          </p:cNvPr>
          <p:cNvSpPr txBox="1"/>
          <p:nvPr/>
        </p:nvSpPr>
        <p:spPr>
          <a:xfrm>
            <a:off x="6429418" y="5232443"/>
            <a:ext cx="5210052"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600" dirty="0">
                <a:latin typeface="Calibri" panose="020F0502020204030204" pitchFamily="34" charset="0"/>
                <a:cs typeface="Calibri" panose="020F0502020204030204" pitchFamily="34" charset="0"/>
              </a:rPr>
              <a:t>T</a:t>
            </a:r>
            <a:r>
              <a:rPr lang="en-US" sz="1600" kern="1200" dirty="0">
                <a:solidFill>
                  <a:schemeClr val="tx1"/>
                </a:solidFill>
                <a:latin typeface="Calibri" panose="020F0502020204030204" pitchFamily="34" charset="0"/>
                <a:cs typeface="Calibri" panose="020F0502020204030204" pitchFamily="34" charset="0"/>
              </a:rPr>
              <a:t>he famous ‘saw-tooth’ line of the graph reflects the seasons: there are more trees and plants in the northern hemisphere than in the southern hemisphere, so globally the world’s land areas ‘breathe in’ during the northern spring/summer and out during the northern autumn/winter.</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4373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6"/>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5" repeatCount="indefinite" fill="hold" display="0">
                  <p:stCondLst>
                    <p:cond delay="indefinite"/>
                  </p:stCondLst>
                </p:cTn>
                <p:tgtEl>
                  <p:spTgt spid="6"/>
                </p:tgtEl>
              </p:cMediaNode>
            </p:video>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EE7E31B-0820-4224-BE49-7026C21A597E}"/>
              </a:ext>
            </a:extLst>
          </p:cNvPr>
          <p:cNvSpPr>
            <a:spLocks noGrp="1"/>
          </p:cNvSpPr>
          <p:nvPr>
            <p:ph idx="1"/>
          </p:nvPr>
        </p:nvSpPr>
        <p:spPr>
          <a:xfrm>
            <a:off x="389465" y="1373050"/>
            <a:ext cx="7886700" cy="964580"/>
          </a:xfrm>
        </p:spPr>
        <p:txBody>
          <a:bodyPr>
            <a:normAutofit/>
          </a:bodyPr>
          <a:lstStyle/>
          <a:p>
            <a:pPr marL="0" indent="0">
              <a:buNone/>
            </a:pPr>
            <a:r>
              <a:rPr lang="en-GB" sz="2400" b="1" dirty="0">
                <a:latin typeface="Calibri" panose="020F0502020204030204" pitchFamily="34" charset="0"/>
                <a:cs typeface="Calibri" panose="020F0502020204030204" pitchFamily="34" charset="0"/>
              </a:rPr>
              <a:t>Ice cores (100’000s years ago)</a:t>
            </a:r>
          </a:p>
        </p:txBody>
      </p:sp>
      <p:pic>
        <p:nvPicPr>
          <p:cNvPr id="4" name="Picture 3" descr="A picture containing snow, outdoor, sky, nature&#10;&#10;Description automatically generated">
            <a:extLst>
              <a:ext uri="{FF2B5EF4-FFF2-40B4-BE49-F238E27FC236}">
                <a16:creationId xmlns:a16="http://schemas.microsoft.com/office/drawing/2014/main" id="{29D09C1A-57D0-40B9-8518-6F649B2F8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3251" y="1999527"/>
            <a:ext cx="3340409" cy="2573159"/>
          </a:xfrm>
          <a:prstGeom prst="rect">
            <a:avLst/>
          </a:prstGeom>
        </p:spPr>
      </p:pic>
      <p:pic>
        <p:nvPicPr>
          <p:cNvPr id="7" name="Picture 6" descr="A picture containing indoor, room, seat, sofa&#10;&#10;Description automatically generated">
            <a:extLst>
              <a:ext uri="{FF2B5EF4-FFF2-40B4-BE49-F238E27FC236}">
                <a16:creationId xmlns:a16="http://schemas.microsoft.com/office/drawing/2014/main" id="{7A251528-08F7-421A-BDF4-3921A3FA64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243" y="1999529"/>
            <a:ext cx="3424931" cy="2573158"/>
          </a:xfrm>
          <a:prstGeom prst="rect">
            <a:avLst/>
          </a:prstGeom>
        </p:spPr>
      </p:pic>
      <p:pic>
        <p:nvPicPr>
          <p:cNvPr id="16" name="Picture 3" descr="Ice-core disc, Epica">
            <a:extLst>
              <a:ext uri="{FF2B5EF4-FFF2-40B4-BE49-F238E27FC236}">
                <a16:creationId xmlns:a16="http://schemas.microsoft.com/office/drawing/2014/main" id="{0CE84FD7-2093-49B9-AA34-62D35535E62B}"/>
              </a:ext>
            </a:extLst>
          </p:cNvPr>
          <p:cNvPicPr>
            <a:picLocks noChangeAspect="1" noChangeArrowheads="1"/>
          </p:cNvPicPr>
          <p:nvPr/>
        </p:nvPicPr>
        <p:blipFill>
          <a:blip r:embed="rId5" cstate="print"/>
          <a:srcRect/>
          <a:stretch>
            <a:fillRect/>
          </a:stretch>
        </p:blipFill>
        <p:spPr bwMode="auto">
          <a:xfrm>
            <a:off x="8067066" y="1999527"/>
            <a:ext cx="3643581" cy="2573159"/>
          </a:xfrm>
          <a:prstGeom prst="rect">
            <a:avLst/>
          </a:prstGeom>
          <a:noFill/>
          <a:ln w="9525">
            <a:noFill/>
            <a:miter lim="800000"/>
            <a:headEnd/>
            <a:tailEnd/>
          </a:ln>
        </p:spPr>
      </p:pic>
      <p:sp>
        <p:nvSpPr>
          <p:cNvPr id="2" name="TextBox 14">
            <a:extLst>
              <a:ext uri="{FF2B5EF4-FFF2-40B4-BE49-F238E27FC236}">
                <a16:creationId xmlns:a16="http://schemas.microsoft.com/office/drawing/2014/main" id="{36FD1D1E-CD65-0EBC-3B72-1A7C15EF82D8}"/>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sp>
        <p:nvSpPr>
          <p:cNvPr id="5" name="TextBox 4">
            <a:extLst>
              <a:ext uri="{FF2B5EF4-FFF2-40B4-BE49-F238E27FC236}">
                <a16:creationId xmlns:a16="http://schemas.microsoft.com/office/drawing/2014/main" id="{6096B2E7-F65B-188E-A69E-0F874361BCC4}"/>
              </a:ext>
            </a:extLst>
          </p:cNvPr>
          <p:cNvSpPr txBox="1"/>
          <p:nvPr/>
        </p:nvSpPr>
        <p:spPr>
          <a:xfrm>
            <a:off x="377108" y="4731646"/>
            <a:ext cx="11641291" cy="1754326"/>
          </a:xfrm>
          <a:prstGeom prst="rect">
            <a:avLst/>
          </a:prstGeom>
          <a:noFill/>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Ice cores preserve past atmospheric CO₂ in air bubbles trapped as snow compacts into ice, providing a direct record of past atmospheres.</a:t>
            </a: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These records extend back ~800,000 years, allowing long-term CO₂–climate relationships to be studied.</a:t>
            </a: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Temporal resolution decreases with depth as ice flow and </a:t>
            </a:r>
            <a:r>
              <a:rPr lang="en-GB" dirty="0" err="1">
                <a:latin typeface="Calibri" panose="020F0502020204030204" pitchFamily="34" charset="0"/>
                <a:cs typeface="Calibri" panose="020F0502020204030204" pitchFamily="34" charset="0"/>
              </a:rPr>
              <a:t>firn</a:t>
            </a:r>
            <a:r>
              <a:rPr lang="en-GB" dirty="0">
                <a:latin typeface="Calibri" panose="020F0502020204030204" pitchFamily="34" charset="0"/>
                <a:cs typeface="Calibri" panose="020F0502020204030204" pitchFamily="34" charset="0"/>
              </a:rPr>
              <a:t> diffusion smooth the signal, averaging CO₂ over longer time periods.</a:t>
            </a:r>
          </a:p>
          <a:p>
            <a:pPr marL="285750" indent="-285750">
              <a:buFont typeface="Arial" panose="020B0604020202020204" pitchFamily="34" charset="0"/>
              <a:buChar char="•"/>
            </a:pPr>
            <a:r>
              <a:rPr lang="en-GB" dirty="0">
                <a:latin typeface="Calibri" panose="020F0502020204030204" pitchFamily="34" charset="0"/>
                <a:cs typeface="Calibri" panose="020F0502020204030204" pitchFamily="34" charset="0"/>
              </a:rPr>
              <a:t>The age of the gas is younger than the surrounding ice, creating a gas–ice age offset that must be corrected for</a:t>
            </a:r>
          </a:p>
        </p:txBody>
      </p:sp>
      <p:sp>
        <p:nvSpPr>
          <p:cNvPr id="6" name="Freeform 13">
            <a:extLst>
              <a:ext uri="{FF2B5EF4-FFF2-40B4-BE49-F238E27FC236}">
                <a16:creationId xmlns:a16="http://schemas.microsoft.com/office/drawing/2014/main" id="{ECC4901A-7380-ED09-F3C2-26CF2E7C419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32504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EE7E31B-0820-4224-BE49-7026C21A597E}"/>
              </a:ext>
            </a:extLst>
          </p:cNvPr>
          <p:cNvSpPr>
            <a:spLocks noGrp="1"/>
          </p:cNvSpPr>
          <p:nvPr>
            <p:ph idx="1"/>
          </p:nvPr>
        </p:nvSpPr>
        <p:spPr>
          <a:xfrm>
            <a:off x="389465" y="1432572"/>
            <a:ext cx="7886700" cy="964580"/>
          </a:xfrm>
        </p:spPr>
        <p:txBody>
          <a:bodyPr>
            <a:normAutofit/>
          </a:bodyPr>
          <a:lstStyle/>
          <a:p>
            <a:r>
              <a:rPr lang="en-GB" sz="2200" dirty="0">
                <a:latin typeface="Calibri" panose="020F0502020204030204" pitchFamily="34" charset="0"/>
                <a:cs typeface="Calibri" panose="020F0502020204030204" pitchFamily="34" charset="0"/>
              </a:rPr>
              <a:t>Direct measurements (from 1958)</a:t>
            </a:r>
          </a:p>
          <a:p>
            <a:r>
              <a:rPr lang="en-GB" sz="2200" dirty="0">
                <a:latin typeface="Calibri" panose="020F0502020204030204" pitchFamily="34" charset="0"/>
                <a:cs typeface="Calibri" panose="020F0502020204030204" pitchFamily="34" charset="0"/>
              </a:rPr>
              <a:t>Ice cores (100’000s years ago)</a:t>
            </a:r>
          </a:p>
        </p:txBody>
      </p:sp>
      <p:pic>
        <p:nvPicPr>
          <p:cNvPr id="8" name="Picture 7">
            <a:extLst>
              <a:ext uri="{FF2B5EF4-FFF2-40B4-BE49-F238E27FC236}">
                <a16:creationId xmlns:a16="http://schemas.microsoft.com/office/drawing/2014/main" id="{63B1BFE8-57D9-4931-A37B-16133C056D31}"/>
              </a:ext>
            </a:extLst>
          </p:cNvPr>
          <p:cNvPicPr>
            <a:picLocks noChangeAspect="1"/>
          </p:cNvPicPr>
          <p:nvPr/>
        </p:nvPicPr>
        <p:blipFill>
          <a:blip r:embed="rId3"/>
          <a:stretch>
            <a:fillRect/>
          </a:stretch>
        </p:blipFill>
        <p:spPr>
          <a:xfrm>
            <a:off x="389465" y="2581311"/>
            <a:ext cx="9555922" cy="3538699"/>
          </a:xfrm>
          <a:prstGeom prst="rect">
            <a:avLst/>
          </a:prstGeom>
        </p:spPr>
      </p:pic>
      <p:sp>
        <p:nvSpPr>
          <p:cNvPr id="2" name="TextBox 14">
            <a:extLst>
              <a:ext uri="{FF2B5EF4-FFF2-40B4-BE49-F238E27FC236}">
                <a16:creationId xmlns:a16="http://schemas.microsoft.com/office/drawing/2014/main" id="{2C12C2FE-8EA3-2ABE-997A-B5D95ED73021}"/>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sp>
        <p:nvSpPr>
          <p:cNvPr id="3" name="Freeform 13">
            <a:extLst>
              <a:ext uri="{FF2B5EF4-FFF2-40B4-BE49-F238E27FC236}">
                <a16:creationId xmlns:a16="http://schemas.microsoft.com/office/drawing/2014/main" id="{08F21B10-DF08-86A5-D6C7-C8475FF824F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55869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D357-4C89-6C41-8F92-A99C7731AA55}"/>
            </a:ext>
          </a:extLst>
        </p:cNvPr>
        <p:cNvGrpSpPr/>
        <p:nvPr/>
      </p:nvGrpSpPr>
      <p:grpSpPr>
        <a:xfrm>
          <a:off x="0" y="0"/>
          <a:ext cx="0" cy="0"/>
          <a:chOff x="0" y="0"/>
          <a:chExt cx="0" cy="0"/>
        </a:xfrm>
      </p:grpSpPr>
      <p:sp>
        <p:nvSpPr>
          <p:cNvPr id="2" name="TextBox 14">
            <a:extLst>
              <a:ext uri="{FF2B5EF4-FFF2-40B4-BE49-F238E27FC236}">
                <a16:creationId xmlns:a16="http://schemas.microsoft.com/office/drawing/2014/main" id="{EB96BA18-A76B-E3A1-2F1C-471C808A4587}"/>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pic>
        <p:nvPicPr>
          <p:cNvPr id="3" name="Picture 2">
            <a:extLst>
              <a:ext uri="{FF2B5EF4-FFF2-40B4-BE49-F238E27FC236}">
                <a16:creationId xmlns:a16="http://schemas.microsoft.com/office/drawing/2014/main" id="{FA2F86AF-530A-5465-A407-AE715F1CE41D}"/>
              </a:ext>
            </a:extLst>
          </p:cNvPr>
          <p:cNvPicPr>
            <a:picLocks noChangeAspect="1"/>
          </p:cNvPicPr>
          <p:nvPr/>
        </p:nvPicPr>
        <p:blipFill>
          <a:blip r:embed="rId3"/>
          <a:srcRect b="9509"/>
          <a:stretch>
            <a:fillRect/>
          </a:stretch>
        </p:blipFill>
        <p:spPr>
          <a:xfrm>
            <a:off x="537403" y="2360448"/>
            <a:ext cx="7886700" cy="4041634"/>
          </a:xfrm>
          <a:prstGeom prst="rect">
            <a:avLst/>
          </a:prstGeom>
        </p:spPr>
      </p:pic>
      <p:sp>
        <p:nvSpPr>
          <p:cNvPr id="6" name="Content Placeholder 2">
            <a:extLst>
              <a:ext uri="{FF2B5EF4-FFF2-40B4-BE49-F238E27FC236}">
                <a16:creationId xmlns:a16="http://schemas.microsoft.com/office/drawing/2014/main" id="{ABF3DC2F-F426-34EB-35E7-288E1BBFCDF9}"/>
              </a:ext>
            </a:extLst>
          </p:cNvPr>
          <p:cNvSpPr>
            <a:spLocks noGrp="1"/>
          </p:cNvSpPr>
          <p:nvPr>
            <p:ph idx="1"/>
          </p:nvPr>
        </p:nvSpPr>
        <p:spPr>
          <a:xfrm>
            <a:off x="389465" y="1432572"/>
            <a:ext cx="7886700" cy="964580"/>
          </a:xfrm>
        </p:spPr>
        <p:txBody>
          <a:bodyPr>
            <a:normAutofit/>
          </a:bodyPr>
          <a:lstStyle/>
          <a:p>
            <a:r>
              <a:rPr lang="en-GB" sz="2200" dirty="0">
                <a:latin typeface="Calibri" panose="020F0502020204030204" pitchFamily="34" charset="0"/>
                <a:cs typeface="Calibri" panose="020F0502020204030204" pitchFamily="34" charset="0"/>
              </a:rPr>
              <a:t>Direct measurements (from 1958)</a:t>
            </a:r>
          </a:p>
          <a:p>
            <a:r>
              <a:rPr lang="en-GB" sz="2200" dirty="0">
                <a:latin typeface="Calibri" panose="020F0502020204030204" pitchFamily="34" charset="0"/>
                <a:cs typeface="Calibri" panose="020F0502020204030204" pitchFamily="34" charset="0"/>
              </a:rPr>
              <a:t>Ice cores (100’000s years ago)</a:t>
            </a:r>
          </a:p>
        </p:txBody>
      </p:sp>
      <p:sp>
        <p:nvSpPr>
          <p:cNvPr id="7" name="Freeform 13">
            <a:extLst>
              <a:ext uri="{FF2B5EF4-FFF2-40B4-BE49-F238E27FC236}">
                <a16:creationId xmlns:a16="http://schemas.microsoft.com/office/drawing/2014/main" id="{5351304B-54B5-5046-812A-F25EC38F8D2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8" name="TextBox 7">
            <a:extLst>
              <a:ext uri="{FF2B5EF4-FFF2-40B4-BE49-F238E27FC236}">
                <a16:creationId xmlns:a16="http://schemas.microsoft.com/office/drawing/2014/main" id="{4C6AFDB0-5C48-4E72-6808-2151922457F2}"/>
              </a:ext>
            </a:extLst>
          </p:cNvPr>
          <p:cNvSpPr txBox="1"/>
          <p:nvPr/>
        </p:nvSpPr>
        <p:spPr>
          <a:xfrm>
            <a:off x="8606022" y="1599902"/>
            <a:ext cx="3230494" cy="294138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r>
              <a:rPr lang="en-US" sz="2000" dirty="0">
                <a:latin typeface="Calibri" panose="020F0502020204030204" pitchFamily="34" charset="0"/>
                <a:cs typeface="Calibri" panose="020F0502020204030204" pitchFamily="34" charset="0"/>
              </a:rPr>
              <a:t>Ice cores show that during the past 800,000 years CO₂ fluctuated only within narrow constraints. The current level of 420ppm was last seen </a:t>
            </a:r>
            <a:r>
              <a:rPr lang="en-US" sz="2000" dirty="0">
                <a:latin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millions of years ago, when the world looked radically different and was much hotter. </a:t>
            </a:r>
            <a:endParaRPr lang="en-US" sz="20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D37F628-C84C-BD14-4A25-916EB226FC8E}"/>
              </a:ext>
            </a:extLst>
          </p:cNvPr>
          <p:cNvSpPr txBox="1"/>
          <p:nvPr/>
        </p:nvSpPr>
        <p:spPr>
          <a:xfrm>
            <a:off x="8606022" y="4707170"/>
            <a:ext cx="3230494" cy="19389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945650">
              <a:spcBef>
                <a:spcPct val="40000"/>
              </a:spcBef>
            </a:pPr>
            <a:r>
              <a:rPr lang="en-GB" sz="2000" dirty="0">
                <a:latin typeface="Calibri" panose="020F0502020204030204" pitchFamily="34" charset="0"/>
                <a:cs typeface="Calibri" panose="020F0502020204030204" pitchFamily="34" charset="0"/>
              </a:rPr>
              <a:t>Evidence for being man-made: CO</a:t>
            </a:r>
            <a:r>
              <a:rPr lang="en-GB" sz="2000" baseline="-25000" dirty="0">
                <a:latin typeface="Calibri" panose="020F0502020204030204" pitchFamily="34" charset="0"/>
                <a:cs typeface="Calibri" panose="020F0502020204030204" pitchFamily="34" charset="0"/>
              </a:rPr>
              <a:t>2</a:t>
            </a:r>
            <a:r>
              <a:rPr lang="en-GB" sz="2000" dirty="0">
                <a:latin typeface="Calibri" panose="020F0502020204030204" pitchFamily="34" charset="0"/>
                <a:cs typeface="Calibri" panose="020F0502020204030204" pitchFamily="34" charset="0"/>
              </a:rPr>
              <a:t> from fossil fuels contains no </a:t>
            </a:r>
            <a:r>
              <a:rPr lang="en-GB" sz="2000" baseline="30000" dirty="0">
                <a:latin typeface="Calibri" panose="020F0502020204030204" pitchFamily="34" charset="0"/>
                <a:cs typeface="Calibri" panose="020F0502020204030204" pitchFamily="34" charset="0"/>
              </a:rPr>
              <a:t>14</a:t>
            </a:r>
            <a:r>
              <a:rPr lang="en-GB" sz="2000" dirty="0">
                <a:latin typeface="Calibri" panose="020F0502020204030204" pitchFamily="34" charset="0"/>
                <a:cs typeface="Calibri" panose="020F0502020204030204" pitchFamily="34" charset="0"/>
              </a:rPr>
              <a:t>C - unlike the ‘background’. This impacts </a:t>
            </a:r>
            <a:r>
              <a:rPr lang="en-GB" sz="2000" b="1" dirty="0">
                <a:latin typeface="Calibri" panose="020F0502020204030204" pitchFamily="34" charset="0"/>
                <a:cs typeface="Calibri" panose="020F0502020204030204" pitchFamily="34" charset="0"/>
              </a:rPr>
              <a:t>the atmospheric ^14C/^12C ratio</a:t>
            </a:r>
            <a:r>
              <a:rPr lang="en-GB" sz="20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708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EE7E31B-0820-4224-BE49-7026C21A597E}"/>
              </a:ext>
            </a:extLst>
          </p:cNvPr>
          <p:cNvSpPr>
            <a:spLocks noGrp="1"/>
          </p:cNvSpPr>
          <p:nvPr>
            <p:ph idx="1"/>
          </p:nvPr>
        </p:nvSpPr>
        <p:spPr>
          <a:xfrm>
            <a:off x="389465" y="1591772"/>
            <a:ext cx="10716994" cy="4872090"/>
          </a:xfrm>
        </p:spPr>
        <p:txBody>
          <a:bodyPr>
            <a:noAutofit/>
          </a:bodyPr>
          <a:lstStyle/>
          <a:p>
            <a:r>
              <a:rPr lang="en-GB" sz="2200" dirty="0">
                <a:latin typeface="Calibri" panose="020F0502020204030204" pitchFamily="34" charset="0"/>
                <a:cs typeface="Calibri" panose="020F0502020204030204" pitchFamily="34" charset="0"/>
              </a:rPr>
              <a:t>Direct measurements (1958 – present)</a:t>
            </a:r>
          </a:p>
          <a:p>
            <a:r>
              <a:rPr lang="en-GB" sz="2200" dirty="0">
                <a:latin typeface="Calibri" panose="020F0502020204030204" pitchFamily="34" charset="0"/>
                <a:cs typeface="Calibri" panose="020F0502020204030204" pitchFamily="34" charset="0"/>
              </a:rPr>
              <a:t>Ice cores (100’000s years ago)</a:t>
            </a:r>
          </a:p>
          <a:p>
            <a:r>
              <a:rPr lang="en-GB" sz="2200" b="1" dirty="0">
                <a:solidFill>
                  <a:srgbClr val="FF0000"/>
                </a:solidFill>
                <a:latin typeface="Calibri" panose="020F0502020204030204" pitchFamily="34" charset="0"/>
                <a:cs typeface="Calibri" panose="020F0502020204030204" pitchFamily="34" charset="0"/>
              </a:rPr>
              <a:t>Proxies (10s millions years ago)</a:t>
            </a:r>
          </a:p>
          <a:p>
            <a:endParaRPr lang="en-GB" sz="2200" dirty="0">
              <a:latin typeface="Calibri" panose="020F0502020204030204" pitchFamily="34" charset="0"/>
              <a:cs typeface="Calibri" panose="020F0502020204030204" pitchFamily="34" charset="0"/>
            </a:endParaRPr>
          </a:p>
          <a:p>
            <a:pPr marL="0" indent="0">
              <a:buNone/>
            </a:pPr>
            <a:r>
              <a:rPr lang="en-GB" sz="2200" b="1" dirty="0">
                <a:latin typeface="Calibri" panose="020F0502020204030204" pitchFamily="34" charset="0"/>
                <a:cs typeface="Calibri" panose="020F0502020204030204" pitchFamily="34" charset="0"/>
              </a:rPr>
              <a:t>What is a climate proxy?</a:t>
            </a:r>
          </a:p>
          <a:p>
            <a:pPr marL="0" indent="0">
              <a:buNone/>
            </a:pPr>
            <a:endParaRPr lang="en-GB" sz="2200" dirty="0">
              <a:latin typeface="Calibri" panose="020F0502020204030204" pitchFamily="34" charset="0"/>
              <a:cs typeface="Calibri" panose="020F0502020204030204" pitchFamily="34" charset="0"/>
            </a:endParaRPr>
          </a:p>
          <a:p>
            <a:pPr marL="0" indent="0">
              <a:buNone/>
            </a:pPr>
            <a:r>
              <a:rPr lang="en-GB" sz="2200" dirty="0">
                <a:latin typeface="Calibri" panose="020F0502020204030204" pitchFamily="34" charset="0"/>
                <a:cs typeface="Calibri" panose="020F0502020204030204" pitchFamily="34" charset="0"/>
              </a:rPr>
              <a:t>An environmental indicator that can be related to a climatic variable.</a:t>
            </a:r>
          </a:p>
          <a:p>
            <a:pPr marL="0" indent="0"/>
            <a:endParaRPr lang="en-GB" sz="2200" dirty="0">
              <a:latin typeface="Calibri" panose="020F0502020204030204" pitchFamily="34" charset="0"/>
              <a:cs typeface="Calibri" panose="020F0502020204030204" pitchFamily="34" charset="0"/>
            </a:endParaRPr>
          </a:p>
          <a:p>
            <a:pPr marL="0" indent="0">
              <a:buNone/>
            </a:pPr>
            <a:r>
              <a:rPr lang="en-GB" sz="2200" dirty="0">
                <a:latin typeface="Calibri" panose="020F0502020204030204" pitchFamily="34" charset="0"/>
                <a:cs typeface="Calibri" panose="020F0502020204030204" pitchFamily="34" charset="0"/>
              </a:rPr>
              <a:t>Individual proxies are noisy and uncertain, but taken together they robustly show that atmospheric CO₂ was much higher in the past and has declined over tens of millions of years, closely linked to long-term climate cooling.</a:t>
            </a:r>
            <a:endParaRPr lang="en-GB" sz="2200" b="1" dirty="0">
              <a:latin typeface="Calibri" panose="020F0502020204030204" pitchFamily="34" charset="0"/>
              <a:cs typeface="Calibri" panose="020F0502020204030204" pitchFamily="34" charset="0"/>
            </a:endParaRPr>
          </a:p>
          <a:p>
            <a:pPr marL="0" indent="0">
              <a:buNone/>
            </a:pPr>
            <a:endParaRPr lang="en-GB" sz="2200" dirty="0">
              <a:latin typeface="Calibri" panose="020F0502020204030204" pitchFamily="34" charset="0"/>
              <a:cs typeface="Calibri" panose="020F0502020204030204" pitchFamily="34" charset="0"/>
            </a:endParaRPr>
          </a:p>
          <a:p>
            <a:pPr marL="0" indent="0"/>
            <a:endParaRPr lang="en-GB" sz="2200" dirty="0">
              <a:latin typeface="Calibri" panose="020F0502020204030204" pitchFamily="34" charset="0"/>
              <a:cs typeface="Calibri" panose="020F0502020204030204" pitchFamily="34" charset="0"/>
            </a:endParaRPr>
          </a:p>
          <a:p>
            <a:pPr marL="0" indent="0"/>
            <a:endParaRPr lang="en-GB" sz="2200" dirty="0">
              <a:latin typeface="Calibri" panose="020F0502020204030204" pitchFamily="34" charset="0"/>
              <a:cs typeface="Calibri" panose="020F0502020204030204" pitchFamily="34" charset="0"/>
            </a:endParaRPr>
          </a:p>
        </p:txBody>
      </p:sp>
      <p:sp>
        <p:nvSpPr>
          <p:cNvPr id="4" name="TextBox 14">
            <a:extLst>
              <a:ext uri="{FF2B5EF4-FFF2-40B4-BE49-F238E27FC236}">
                <a16:creationId xmlns:a16="http://schemas.microsoft.com/office/drawing/2014/main" id="{987AAEA2-9D86-F805-F51B-4D0997D27DBA}"/>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pic>
        <p:nvPicPr>
          <p:cNvPr id="3" name="Picture 2">
            <a:extLst>
              <a:ext uri="{FF2B5EF4-FFF2-40B4-BE49-F238E27FC236}">
                <a16:creationId xmlns:a16="http://schemas.microsoft.com/office/drawing/2014/main" id="{381779FF-FF7E-E3D0-BF6F-ED3BCBA79BBD}"/>
              </a:ext>
            </a:extLst>
          </p:cNvPr>
          <p:cNvPicPr>
            <a:picLocks noChangeAspect="1"/>
          </p:cNvPicPr>
          <p:nvPr/>
        </p:nvPicPr>
        <p:blipFill>
          <a:blip r:embed="rId3"/>
          <a:srcRect t="37757"/>
          <a:stretch>
            <a:fillRect/>
          </a:stretch>
        </p:blipFill>
        <p:spPr>
          <a:xfrm>
            <a:off x="6096000" y="522263"/>
            <a:ext cx="5412827" cy="3510810"/>
          </a:xfrm>
          <a:prstGeom prst="rect">
            <a:avLst/>
          </a:prstGeom>
        </p:spPr>
      </p:pic>
      <p:sp>
        <p:nvSpPr>
          <p:cNvPr id="5" name="Freeform 13">
            <a:extLst>
              <a:ext uri="{FF2B5EF4-FFF2-40B4-BE49-F238E27FC236}">
                <a16:creationId xmlns:a16="http://schemas.microsoft.com/office/drawing/2014/main" id="{AAADBBDD-BCED-8CA3-4CD7-FBEE44E4ACC9}"/>
              </a:ext>
            </a:extLst>
          </p:cNvPr>
          <p:cNvSpPr/>
          <p:nvPr/>
        </p:nvSpPr>
        <p:spPr>
          <a:xfrm>
            <a:off x="9955048" y="5844151"/>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6798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56071-0C5E-4323-5585-981926CAD0EC}"/>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9A886EB-6CD4-D7E9-4E0A-47D97265C0BF}"/>
              </a:ext>
            </a:extLst>
          </p:cNvPr>
          <p:cNvSpPr>
            <a:spLocks noGrp="1"/>
          </p:cNvSpPr>
          <p:nvPr>
            <p:ph idx="1"/>
          </p:nvPr>
        </p:nvSpPr>
        <p:spPr>
          <a:xfrm>
            <a:off x="389464" y="1591772"/>
            <a:ext cx="11355845" cy="4872090"/>
          </a:xfrm>
        </p:spPr>
        <p:txBody>
          <a:bodyPr>
            <a:noAutofit/>
          </a:bodyPr>
          <a:lstStyle/>
          <a:p>
            <a:r>
              <a:rPr lang="en-GB" sz="2200" dirty="0">
                <a:latin typeface="Calibri" panose="020F0502020204030204" pitchFamily="34" charset="0"/>
                <a:cs typeface="Calibri" panose="020F0502020204030204" pitchFamily="34" charset="0"/>
              </a:rPr>
              <a:t>Direct measurements (1958 – present)</a:t>
            </a:r>
          </a:p>
          <a:p>
            <a:r>
              <a:rPr lang="en-GB" sz="2200" dirty="0">
                <a:latin typeface="Calibri" panose="020F0502020204030204" pitchFamily="34" charset="0"/>
                <a:cs typeface="Calibri" panose="020F0502020204030204" pitchFamily="34" charset="0"/>
              </a:rPr>
              <a:t>Ice cores (100’000s years ago)</a:t>
            </a:r>
          </a:p>
          <a:p>
            <a:r>
              <a:rPr lang="en-GB" sz="2200" b="1" dirty="0">
                <a:solidFill>
                  <a:srgbClr val="FF0000"/>
                </a:solidFill>
                <a:latin typeface="Calibri" panose="020F0502020204030204" pitchFamily="34" charset="0"/>
                <a:cs typeface="Calibri" panose="020F0502020204030204" pitchFamily="34" charset="0"/>
              </a:rPr>
              <a:t>Proxies (10s millions years ago)</a:t>
            </a:r>
          </a:p>
          <a:p>
            <a:endParaRPr lang="en-GB" sz="2200" dirty="0">
              <a:latin typeface="Calibri" panose="020F0502020204030204" pitchFamily="34" charset="0"/>
              <a:cs typeface="Calibri" panose="020F0502020204030204" pitchFamily="34" charset="0"/>
            </a:endParaRPr>
          </a:p>
          <a:p>
            <a:pPr marL="0" indent="0">
              <a:buNone/>
            </a:pPr>
            <a:r>
              <a:rPr lang="en-GB" sz="2200" b="1" dirty="0">
                <a:latin typeface="Calibri" panose="020F0502020204030204" pitchFamily="34" charset="0"/>
                <a:cs typeface="Calibri" panose="020F0502020204030204" pitchFamily="34" charset="0"/>
              </a:rPr>
              <a:t>Climate Proxy Examples</a:t>
            </a:r>
          </a:p>
          <a:p>
            <a:pPr marL="0" indent="0">
              <a:buNone/>
            </a:pPr>
            <a:endParaRPr lang="en-GB" sz="2200" dirty="0">
              <a:latin typeface="Calibri" panose="020F0502020204030204" pitchFamily="34" charset="0"/>
              <a:cs typeface="Calibri" panose="020F0502020204030204" pitchFamily="34" charset="0"/>
            </a:endParaRPr>
          </a:p>
          <a:p>
            <a:r>
              <a:rPr lang="en-GB" sz="1800" b="1" dirty="0">
                <a:latin typeface="Calibri" panose="020F0502020204030204" pitchFamily="34" charset="0"/>
                <a:cs typeface="Calibri" panose="020F0502020204030204" pitchFamily="34" charset="0"/>
              </a:rPr>
              <a:t>Phytoplankton (red diamonds)</a:t>
            </a:r>
            <a:r>
              <a:rPr lang="en-GB" sz="1800" dirty="0">
                <a:latin typeface="Calibri" panose="020F0502020204030204" pitchFamily="34" charset="0"/>
                <a:cs typeface="Calibri" panose="020F0502020204030204" pitchFamily="34" charset="0"/>
              </a:rPr>
              <a:t> -CO₂ inferred from carbon isotopes in marine phytoplankton; reflects how carbon uptake varies with ambient CO₂ but is influenced by growth rate and nutrient availability.</a:t>
            </a:r>
          </a:p>
          <a:p>
            <a:r>
              <a:rPr lang="en-GB" sz="1800" b="1" dirty="0">
                <a:latin typeface="Calibri" panose="020F0502020204030204" pitchFamily="34" charset="0"/>
                <a:cs typeface="Calibri" panose="020F0502020204030204" pitchFamily="34" charset="0"/>
              </a:rPr>
              <a:t>Stomata (green squares)</a:t>
            </a:r>
            <a:r>
              <a:rPr lang="en-GB" sz="1800" dirty="0">
                <a:latin typeface="Calibri" panose="020F0502020204030204" pitchFamily="34" charset="0"/>
                <a:cs typeface="Calibri" panose="020F0502020204030204" pitchFamily="34" charset="0"/>
              </a:rPr>
              <a:t> -Based on the density of stomata on fossil leaves; plants form fewer stomata at higher CO₂, but results depend on species and environmental stress.</a:t>
            </a:r>
          </a:p>
          <a:p>
            <a:r>
              <a:rPr lang="en-GB" sz="1800" b="1" dirty="0">
                <a:latin typeface="Calibri" panose="020F0502020204030204" pitchFamily="34" charset="0"/>
                <a:cs typeface="Calibri" panose="020F0502020204030204" pitchFamily="34" charset="0"/>
              </a:rPr>
              <a:t>Boron isotopes (blue triangles)</a:t>
            </a:r>
            <a:r>
              <a:rPr lang="en-GB" sz="1800" dirty="0">
                <a:latin typeface="Calibri" panose="020F0502020204030204" pitchFamily="34" charset="0"/>
                <a:cs typeface="Calibri" panose="020F0502020204030204" pitchFamily="34" charset="0"/>
              </a:rPr>
              <a:t> -Uses the pH sensitivity of boron isotopes in marine carbonates to infer seawater pH, and hence atmospheric CO₂; sensitive to assumptions about ocean chemistry.</a:t>
            </a:r>
          </a:p>
          <a:p>
            <a:r>
              <a:rPr lang="en-GB" sz="1800" b="1" dirty="0" err="1">
                <a:latin typeface="Calibri" panose="020F0502020204030204" pitchFamily="34" charset="0"/>
                <a:cs typeface="Calibri" panose="020F0502020204030204" pitchFamily="34" charset="0"/>
              </a:rPr>
              <a:t>Paleosols</a:t>
            </a:r>
            <a:r>
              <a:rPr lang="en-GB" sz="1800" b="1" dirty="0">
                <a:latin typeface="Calibri" panose="020F0502020204030204" pitchFamily="34" charset="0"/>
                <a:cs typeface="Calibri" panose="020F0502020204030204" pitchFamily="34" charset="0"/>
              </a:rPr>
              <a:t> (grey circles)</a:t>
            </a:r>
            <a:r>
              <a:rPr lang="en-GB" sz="1800" dirty="0">
                <a:latin typeface="Calibri" panose="020F0502020204030204" pitchFamily="34" charset="0"/>
                <a:cs typeface="Calibri" panose="020F0502020204030204" pitchFamily="34" charset="0"/>
              </a:rPr>
              <a:t> - CO₂ estimated from carbon isotopes in ancient soils; integrates atmospheric CO₂ over long timescales but is influenced by soil respiration and climate.</a:t>
            </a:r>
          </a:p>
          <a:p>
            <a:pPr marL="0" indent="0">
              <a:buNone/>
            </a:pPr>
            <a:endParaRPr lang="en-GB" sz="2200" dirty="0">
              <a:latin typeface="Calibri" panose="020F0502020204030204" pitchFamily="34" charset="0"/>
              <a:cs typeface="Calibri" panose="020F0502020204030204" pitchFamily="34" charset="0"/>
            </a:endParaRPr>
          </a:p>
          <a:p>
            <a:pPr marL="0" indent="0"/>
            <a:endParaRPr lang="en-GB" sz="2200" dirty="0">
              <a:latin typeface="Calibri" panose="020F0502020204030204" pitchFamily="34" charset="0"/>
              <a:cs typeface="Calibri" panose="020F0502020204030204" pitchFamily="34" charset="0"/>
            </a:endParaRPr>
          </a:p>
          <a:p>
            <a:pPr marL="0" indent="0"/>
            <a:endParaRPr lang="en-GB" sz="22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C598877-34DB-2EC7-21B4-79C566F7D074}"/>
              </a:ext>
            </a:extLst>
          </p:cNvPr>
          <p:cNvPicPr>
            <a:picLocks noChangeAspect="1"/>
          </p:cNvPicPr>
          <p:nvPr/>
        </p:nvPicPr>
        <p:blipFill>
          <a:blip r:embed="rId3"/>
          <a:srcRect t="37757"/>
          <a:stretch>
            <a:fillRect/>
          </a:stretch>
        </p:blipFill>
        <p:spPr>
          <a:xfrm>
            <a:off x="6096000" y="522263"/>
            <a:ext cx="5412827" cy="3510810"/>
          </a:xfrm>
          <a:prstGeom prst="rect">
            <a:avLst/>
          </a:prstGeom>
        </p:spPr>
      </p:pic>
      <p:sp>
        <p:nvSpPr>
          <p:cNvPr id="4" name="TextBox 14">
            <a:extLst>
              <a:ext uri="{FF2B5EF4-FFF2-40B4-BE49-F238E27FC236}">
                <a16:creationId xmlns:a16="http://schemas.microsoft.com/office/drawing/2014/main" id="{CD8F0970-63B3-002D-52D0-16589983BD6C}"/>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CO</a:t>
            </a:r>
            <a:r>
              <a:rPr kumimoji="0" lang="en-US" sz="3600" b="0" i="1" u="none" strike="noStrike" kern="1200" cap="none" spc="-275" normalizeH="0" baseline="-25000" noProof="0" dirty="0">
                <a:ln>
                  <a:noFill/>
                </a:ln>
                <a:solidFill>
                  <a:srgbClr val="46245A"/>
                </a:solidFill>
                <a:effectLst/>
                <a:uLnTx/>
                <a:uFillTx/>
                <a:latin typeface="DM Sans Bold"/>
                <a:ea typeface="ＭＳ Ｐゴシック" panose="020B0600070205080204" pitchFamily="34" charset="-128"/>
                <a:cs typeface="+mn-cs"/>
              </a:rPr>
              <a:t>2</a:t>
            </a: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 Measurements</a:t>
            </a:r>
          </a:p>
        </p:txBody>
      </p:sp>
    </p:spTree>
    <p:extLst>
      <p:ext uri="{BB962C8B-B14F-4D97-AF65-F5344CB8AC3E}">
        <p14:creationId xmlns:p14="http://schemas.microsoft.com/office/powerpoint/2010/main" val="176520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 line chart&#10;&#10;Description automatically generated">
            <a:extLst>
              <a:ext uri="{FF2B5EF4-FFF2-40B4-BE49-F238E27FC236}">
                <a16:creationId xmlns:a16="http://schemas.microsoft.com/office/drawing/2014/main" id="{C1575465-3A46-4C48-9E64-72C349637A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7545" y="1435618"/>
            <a:ext cx="6105644" cy="3816027"/>
          </a:xfrm>
          <a:prstGeom prst="rect">
            <a:avLst/>
          </a:prstGeom>
        </p:spPr>
      </p:pic>
      <p:sp>
        <p:nvSpPr>
          <p:cNvPr id="5" name="TextBox 14">
            <a:extLst>
              <a:ext uri="{FF2B5EF4-FFF2-40B4-BE49-F238E27FC236}">
                <a16:creationId xmlns:a16="http://schemas.microsoft.com/office/drawing/2014/main" id="{ABA7B715-971C-12C4-9814-78C23757649D}"/>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Temperature Measurements</a:t>
            </a:r>
          </a:p>
        </p:txBody>
      </p:sp>
      <p:sp>
        <p:nvSpPr>
          <p:cNvPr id="2" name="Freeform 13">
            <a:extLst>
              <a:ext uri="{FF2B5EF4-FFF2-40B4-BE49-F238E27FC236}">
                <a16:creationId xmlns:a16="http://schemas.microsoft.com/office/drawing/2014/main" id="{8ADC7CD8-C21E-3E3A-F74B-F232278BB2F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7" name="Content Placeholder 2">
            <a:extLst>
              <a:ext uri="{FF2B5EF4-FFF2-40B4-BE49-F238E27FC236}">
                <a16:creationId xmlns:a16="http://schemas.microsoft.com/office/drawing/2014/main" id="{F5C61F47-8C26-30B7-BFDE-B73321396E19}"/>
              </a:ext>
            </a:extLst>
          </p:cNvPr>
          <p:cNvSpPr txBox="1">
            <a:spLocks/>
          </p:cNvSpPr>
          <p:nvPr/>
        </p:nvSpPr>
        <p:spPr>
          <a:xfrm>
            <a:off x="389465" y="1435618"/>
            <a:ext cx="5232859" cy="5064036"/>
          </a:xfrm>
          <a:prstGeom prst="rect">
            <a:avLst/>
          </a:prstGeom>
        </p:spPr>
        <p:txBody>
          <a:bodyPr vert="horz" lIns="91440" tIns="45720" rIns="91440" bIns="45720" rtlCol="0">
            <a:normAutofit fontScale="77500" lnSpcReduction="20000"/>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r>
              <a:rPr lang="en-GB" sz="2800" dirty="0">
                <a:latin typeface="Calibri" panose="020F0502020204030204" pitchFamily="34" charset="0"/>
                <a:cs typeface="Calibri" panose="020F0502020204030204" pitchFamily="34" charset="0"/>
              </a:rPr>
              <a:t>Direct measurements (from 1850)</a:t>
            </a:r>
          </a:p>
          <a:p>
            <a:r>
              <a:rPr lang="en-GB" sz="2800" dirty="0">
                <a:latin typeface="Calibri" panose="020F0502020204030204" pitchFamily="34" charset="0"/>
                <a:cs typeface="Calibri" panose="020F0502020204030204" pitchFamily="34" charset="0"/>
              </a:rPr>
              <a:t>Satellites (from 1979)</a:t>
            </a:r>
          </a:p>
          <a:p>
            <a:pPr marL="0" indent="0">
              <a:buNone/>
            </a:pPr>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Tens of thousands of temperature observations are taken across the globe each day, both on land and at sea.</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Sea surface temperature observations come from buoys deployed across the world's oceans and ships in the Voluntary Observing Ship Programme. </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Together they take around 1.5 million observations each month. </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The temperature over land comes from about 1,300 observing stations each month. </a:t>
            </a:r>
          </a:p>
          <a:p>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Stations take daily readings and use them to create a monthly average, which is then sent off for use by climate researchers. </a:t>
            </a:r>
          </a:p>
        </p:txBody>
      </p:sp>
    </p:spTree>
    <p:extLst>
      <p:ext uri="{BB962C8B-B14F-4D97-AF65-F5344CB8AC3E}">
        <p14:creationId xmlns:p14="http://schemas.microsoft.com/office/powerpoint/2010/main" val="849779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4">
            <a:extLst>
              <a:ext uri="{FF2B5EF4-FFF2-40B4-BE49-F238E27FC236}">
                <a16:creationId xmlns:a16="http://schemas.microsoft.com/office/drawing/2014/main" id="{4A67C93E-76D2-611F-BC9F-DC584D361E10}"/>
              </a:ext>
            </a:extLst>
          </p:cNvPr>
          <p:cNvSpPr txBox="1"/>
          <p:nvPr/>
        </p:nvSpPr>
        <p:spPr>
          <a:xfrm>
            <a:off x="389465" y="684091"/>
            <a:ext cx="7336552" cy="564322"/>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a:ln>
                  <a:noFill/>
                </a:ln>
                <a:solidFill>
                  <a:srgbClr val="46245A"/>
                </a:solidFill>
                <a:effectLst/>
                <a:uLnTx/>
                <a:uFillTx/>
                <a:latin typeface="DM Sans Bold"/>
                <a:ea typeface="ＭＳ Ｐゴシック" panose="020B0600070205080204" pitchFamily="34" charset="-128"/>
                <a:cs typeface="+mn-cs"/>
              </a:rPr>
              <a:t>Temperature Measurements</a:t>
            </a: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pic>
        <p:nvPicPr>
          <p:cNvPr id="6" name="Picture 5" descr="Background pattern&#10;&#10;Description automatically generated">
            <a:extLst>
              <a:ext uri="{FF2B5EF4-FFF2-40B4-BE49-F238E27FC236}">
                <a16:creationId xmlns:a16="http://schemas.microsoft.com/office/drawing/2014/main" id="{F65FA016-E329-02B8-76AC-869FE436A774}"/>
              </a:ext>
            </a:extLst>
          </p:cNvPr>
          <p:cNvPicPr>
            <a:picLocks noChangeAspect="1"/>
          </p:cNvPicPr>
          <p:nvPr/>
        </p:nvPicPr>
        <p:blipFill>
          <a:blip r:embed="rId3">
            <a:extLst>
              <a:ext uri="{28A0092B-C50C-407E-A947-70E740481C1C}">
                <a14:useLocalDpi xmlns:a14="http://schemas.microsoft.com/office/drawing/2010/main" val="0"/>
              </a:ext>
            </a:extLst>
          </a:blip>
          <a:srcRect l="2942" r="2964" b="2"/>
          <a:stretch>
            <a:fillRect/>
          </a:stretch>
        </p:blipFill>
        <p:spPr>
          <a:xfrm>
            <a:off x="8452968" y="3681465"/>
            <a:ext cx="3747932"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p:spPr>
      </p:pic>
      <p:pic>
        <p:nvPicPr>
          <p:cNvPr id="7" name="Picture 6" descr="A picture containing snow, outdoor, sky, nature&#10;&#10;Description automatically generated">
            <a:extLst>
              <a:ext uri="{FF2B5EF4-FFF2-40B4-BE49-F238E27FC236}">
                <a16:creationId xmlns:a16="http://schemas.microsoft.com/office/drawing/2014/main" id="{7A44EBF1-9178-F87A-546A-9F3B1E9310CF}"/>
              </a:ext>
            </a:extLst>
          </p:cNvPr>
          <p:cNvPicPr>
            <a:picLocks noChangeAspect="1"/>
          </p:cNvPicPr>
          <p:nvPr/>
        </p:nvPicPr>
        <p:blipFill>
          <a:blip r:embed="rId4">
            <a:extLst>
              <a:ext uri="{28A0092B-C50C-407E-A947-70E740481C1C}">
                <a14:useLocalDpi xmlns:a14="http://schemas.microsoft.com/office/drawing/2010/main" val="0"/>
              </a:ext>
            </a:extLst>
          </a:blip>
          <a:srcRect l="23396" r="4" b="4"/>
          <a:stretch>
            <a:fillRect/>
          </a:stretch>
        </p:blipFill>
        <p:spPr>
          <a:xfrm>
            <a:off x="5398276" y="2457970"/>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p:spPr>
      </p:pic>
      <p:pic>
        <p:nvPicPr>
          <p:cNvPr id="9" name="Picture 8" descr="A close up of a snail&#10;&#10;Description automatically generated with low confidence">
            <a:extLst>
              <a:ext uri="{FF2B5EF4-FFF2-40B4-BE49-F238E27FC236}">
                <a16:creationId xmlns:a16="http://schemas.microsoft.com/office/drawing/2014/main" id="{21ADFB3D-3C2F-1F96-13D0-65A49E9F2621}"/>
              </a:ext>
            </a:extLst>
          </p:cNvPr>
          <p:cNvPicPr>
            <a:picLocks noChangeAspect="1"/>
          </p:cNvPicPr>
          <p:nvPr/>
        </p:nvPicPr>
        <p:blipFill>
          <a:blip r:embed="rId5">
            <a:extLst>
              <a:ext uri="{28A0092B-C50C-407E-A947-70E740481C1C}">
                <a14:useLocalDpi xmlns:a14="http://schemas.microsoft.com/office/drawing/2010/main" val="0"/>
              </a:ext>
            </a:extLst>
          </a:blip>
          <a:srcRect l="7197" r="6683" b="-1"/>
          <a:stretch>
            <a:fillRect/>
          </a:stretch>
        </p:blipFill>
        <p:spPr>
          <a:xfrm>
            <a:off x="7621024" y="-5"/>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p:spPr>
      </p:pic>
      <p:sp>
        <p:nvSpPr>
          <p:cNvPr id="2" name="Freeform 13">
            <a:extLst>
              <a:ext uri="{FF2B5EF4-FFF2-40B4-BE49-F238E27FC236}">
                <a16:creationId xmlns:a16="http://schemas.microsoft.com/office/drawing/2014/main" id="{525D5166-9FC7-4DE7-A68D-F50322751FA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CF81E37D-B9E6-6560-70B6-04FC380F2455}"/>
              </a:ext>
            </a:extLst>
          </p:cNvPr>
          <p:cNvSpPr txBox="1"/>
          <p:nvPr/>
        </p:nvSpPr>
        <p:spPr>
          <a:xfrm>
            <a:off x="418493" y="3297174"/>
            <a:ext cx="4979783" cy="2123658"/>
          </a:xfrm>
          <a:prstGeom prst="rect">
            <a:avLst/>
          </a:prstGeom>
          <a:noFill/>
        </p:spPr>
        <p:txBody>
          <a:bodyPr wrap="square">
            <a:spAutoFit/>
          </a:bodyPr>
          <a:lstStyle/>
          <a:p>
            <a:r>
              <a:rPr lang="en-GB" sz="2200" b="1" dirty="0">
                <a:latin typeface="Calibri" panose="020F0502020204030204" pitchFamily="34" charset="0"/>
                <a:cs typeface="Calibri" panose="020F0502020204030204" pitchFamily="34" charset="0"/>
              </a:rPr>
              <a:t>Proxies:</a:t>
            </a: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Tree rings (~500 – 2000 years)</a:t>
            </a: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Oxygen isotopes in ice cores (100’000s years ago)</a:t>
            </a: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Isotopes in lake and ocean sediments (millions of years)</a:t>
            </a:r>
          </a:p>
        </p:txBody>
      </p:sp>
      <p:sp>
        <p:nvSpPr>
          <p:cNvPr id="12" name="Content Placeholder 2">
            <a:extLst>
              <a:ext uri="{FF2B5EF4-FFF2-40B4-BE49-F238E27FC236}">
                <a16:creationId xmlns:a16="http://schemas.microsoft.com/office/drawing/2014/main" id="{6C413C5C-7DFA-EF84-D720-38A6716BCDBD}"/>
              </a:ext>
            </a:extLst>
          </p:cNvPr>
          <p:cNvSpPr txBox="1">
            <a:spLocks/>
          </p:cNvSpPr>
          <p:nvPr/>
        </p:nvSpPr>
        <p:spPr>
          <a:xfrm>
            <a:off x="389465" y="1772818"/>
            <a:ext cx="4461137" cy="2793380"/>
          </a:xfrm>
          <a:prstGeom prst="rect">
            <a:avLst/>
          </a:prstGeom>
        </p:spPr>
        <p:txBody>
          <a:bodyPr vert="horz" lIns="91440" tIns="45720" rIns="91440" bIns="45720" rtlCol="0">
            <a:normAutofit/>
          </a:bodyPr>
          <a:lst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a:lstStyle>
          <a:p>
            <a:r>
              <a:rPr lang="en-GB" sz="2200">
                <a:latin typeface="Calibri" panose="020F0502020204030204" pitchFamily="34" charset="0"/>
                <a:cs typeface="Calibri" panose="020F0502020204030204" pitchFamily="34" charset="0"/>
              </a:rPr>
              <a:t>Direct measurements (from 1850)</a:t>
            </a:r>
          </a:p>
          <a:p>
            <a:r>
              <a:rPr lang="en-GB" sz="2200">
                <a:latin typeface="Calibri" panose="020F0502020204030204" pitchFamily="34" charset="0"/>
                <a:cs typeface="Calibri" panose="020F0502020204030204" pitchFamily="34" charset="0"/>
              </a:rPr>
              <a:t>Satellites (from 1979)</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3642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4">
            <a:extLst>
              <a:ext uri="{FF2B5EF4-FFF2-40B4-BE49-F238E27FC236}">
                <a16:creationId xmlns:a16="http://schemas.microsoft.com/office/drawing/2014/main" id="{FBBE0FFF-6215-2586-023C-4D8443193CF4}"/>
              </a:ext>
            </a:extLst>
          </p:cNvPr>
          <p:cNvSpPr txBox="1"/>
          <p:nvPr/>
        </p:nvSpPr>
        <p:spPr>
          <a:xfrm>
            <a:off x="389464" y="684091"/>
            <a:ext cx="9313335"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Temperature Measurements: last 6 million years</a:t>
            </a:r>
          </a:p>
        </p:txBody>
      </p:sp>
      <p:sp>
        <p:nvSpPr>
          <p:cNvPr id="3" name="Freeform 13">
            <a:extLst>
              <a:ext uri="{FF2B5EF4-FFF2-40B4-BE49-F238E27FC236}">
                <a16:creationId xmlns:a16="http://schemas.microsoft.com/office/drawing/2014/main" id="{CDBE8F16-C7B7-1F02-0692-E1A4077C50C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7" name="Rectangle 6">
            <a:extLst>
              <a:ext uri="{FF2B5EF4-FFF2-40B4-BE49-F238E27FC236}">
                <a16:creationId xmlns:a16="http://schemas.microsoft.com/office/drawing/2014/main" id="{D241FE27-E3CE-A967-F0E5-1F83815741D1}"/>
              </a:ext>
            </a:extLst>
          </p:cNvPr>
          <p:cNvSpPr/>
          <p:nvPr/>
        </p:nvSpPr>
        <p:spPr>
          <a:xfrm>
            <a:off x="8698230" y="1657350"/>
            <a:ext cx="2164822" cy="525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diagram of the world's temperature&#10;&#10;AI-generated content may be incorrect.">
            <a:extLst>
              <a:ext uri="{FF2B5EF4-FFF2-40B4-BE49-F238E27FC236}">
                <a16:creationId xmlns:a16="http://schemas.microsoft.com/office/drawing/2014/main" id="{641C2E44-6A2C-30C5-E904-DEC38BD68A1F}"/>
              </a:ext>
            </a:extLst>
          </p:cNvPr>
          <p:cNvPicPr>
            <a:picLocks noChangeAspect="1"/>
          </p:cNvPicPr>
          <p:nvPr/>
        </p:nvPicPr>
        <p:blipFill>
          <a:blip r:embed="rId4"/>
          <a:stretch>
            <a:fillRect/>
          </a:stretch>
        </p:blipFill>
        <p:spPr>
          <a:xfrm>
            <a:off x="389464" y="1440180"/>
            <a:ext cx="10321964" cy="4516559"/>
          </a:xfrm>
          <a:prstGeom prst="rect">
            <a:avLst/>
          </a:prstGeom>
        </p:spPr>
      </p:pic>
    </p:spTree>
    <p:extLst>
      <p:ext uri="{BB962C8B-B14F-4D97-AF65-F5344CB8AC3E}">
        <p14:creationId xmlns:p14="http://schemas.microsoft.com/office/powerpoint/2010/main" val="1066108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60F17-45B5-7E29-4BBB-851246644AE1}"/>
              </a:ext>
            </a:extLst>
          </p:cNvPr>
          <p:cNvSpPr txBox="1"/>
          <p:nvPr/>
        </p:nvSpPr>
        <p:spPr>
          <a:xfrm>
            <a:off x="389464" y="1566871"/>
            <a:ext cx="11352877" cy="5016758"/>
          </a:xfrm>
          <a:prstGeom prst="rect">
            <a:avLst/>
          </a:prstGeom>
          <a:noFill/>
        </p:spPr>
        <p:txBody>
          <a:bodyPr wrap="square">
            <a:spAutoFit/>
          </a:bodyPr>
          <a:lstStyle/>
          <a:p>
            <a:pPr algn="l"/>
            <a:r>
              <a:rPr lang="en-GB" sz="2000" b="1" u="sng" dirty="0">
                <a:solidFill>
                  <a:srgbClr val="0F172A"/>
                </a:solidFill>
                <a:latin typeface="Calibri" panose="020F0502020204030204" pitchFamily="34" charset="0"/>
                <a:cs typeface="Calibri" panose="020F0502020204030204" pitchFamily="34" charset="0"/>
              </a:rPr>
              <a:t>The Evidence </a:t>
            </a:r>
            <a:r>
              <a:rPr lang="en-GB" sz="2000" b="1" dirty="0">
                <a:solidFill>
                  <a:srgbClr val="0F172A"/>
                </a:solidFill>
                <a:latin typeface="Calibri" panose="020F0502020204030204" pitchFamily="34" charset="0"/>
                <a:cs typeface="Calibri" panose="020F0502020204030204" pitchFamily="34" charset="0"/>
              </a:rPr>
              <a:t>Key Points from WMO 2024</a:t>
            </a:r>
          </a:p>
          <a:p>
            <a:pPr algn="l"/>
            <a:endParaRPr lang="en-GB" sz="2000" b="1" dirty="0">
              <a:solidFill>
                <a:srgbClr val="0F172A"/>
              </a:solidFill>
              <a:latin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The past ten years 2015-2024 are now the ten warmest years on record</a:t>
            </a:r>
          </a:p>
          <a:p>
            <a:pPr marL="342900" indent="-342900" algn="l">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We have likely seen the first calendar year with a global mean temperature of more than 1.5°C above the 1850-1900 average</a:t>
            </a:r>
          </a:p>
          <a:p>
            <a:pPr marL="342900" indent="-342900" algn="l">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The evidence for this is based on SIX international datasets which reach this conclusion.</a:t>
            </a:r>
          </a:p>
          <a:p>
            <a:pPr marL="342900" indent="-342900" algn="l">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2024 saw exceptional land and sea surface temperatures and ocean heat increases.</a:t>
            </a:r>
          </a:p>
          <a:p>
            <a:pPr algn="l"/>
            <a:endParaRPr lang="en-GB" sz="2000" dirty="0">
              <a:solidFill>
                <a:srgbClr val="0F172A"/>
              </a:solidFill>
              <a:latin typeface="Calibri" panose="020F0502020204030204" pitchFamily="34" charset="0"/>
              <a:cs typeface="Calibri" panose="020F0502020204030204" pitchFamily="34" charset="0"/>
            </a:endParaRPr>
          </a:p>
          <a:p>
            <a:r>
              <a:rPr lang="en-GB" sz="2000" b="1" u="sng" dirty="0">
                <a:solidFill>
                  <a:srgbClr val="0F172A"/>
                </a:solidFill>
                <a:latin typeface="Calibri" panose="020F0502020204030204" pitchFamily="34" charset="0"/>
                <a:cs typeface="Calibri" panose="020F0502020204030204" pitchFamily="34" charset="0"/>
              </a:rPr>
              <a:t>The Evidence </a:t>
            </a:r>
            <a:r>
              <a:rPr lang="en-GB" sz="2000" b="1" dirty="0">
                <a:solidFill>
                  <a:srgbClr val="0F172A"/>
                </a:solidFill>
                <a:latin typeface="Calibri" panose="020F0502020204030204" pitchFamily="34" charset="0"/>
                <a:cs typeface="Calibri" panose="020F0502020204030204" pitchFamily="34" charset="0"/>
              </a:rPr>
              <a:t>Update from WMO January 2025</a:t>
            </a:r>
          </a:p>
          <a:p>
            <a:endParaRPr lang="en-GB" sz="2000" b="1" dirty="0">
              <a:solidFill>
                <a:srgbClr val="0F172A"/>
              </a:solidFill>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The global average surface temperature was 1.55 °C (with a margin of uncertainty of ± 0.13 °C) above the 1850-1900 average, according to WMO’s analysis of the six datasets. </a:t>
            </a:r>
          </a:p>
          <a:p>
            <a:pPr marL="342900" indent="-342900">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It is likely that we have just experienced the first calendar year with a global mean temperature of more than 1.5°C above the 1850-1900 average.</a:t>
            </a:r>
          </a:p>
          <a:p>
            <a:pPr marL="342900" indent="-342900">
              <a:buFont typeface="Arial" panose="020B0604020202020204" pitchFamily="34" charset="0"/>
              <a:buChar char="•"/>
            </a:pPr>
            <a:r>
              <a:rPr lang="en-GB" sz="2000" dirty="0">
                <a:solidFill>
                  <a:srgbClr val="0F172A"/>
                </a:solidFill>
                <a:latin typeface="Calibri" panose="020F0502020204030204" pitchFamily="34" charset="0"/>
                <a:cs typeface="Calibri" panose="020F0502020204030204" pitchFamily="34" charset="0"/>
              </a:rPr>
              <a:t>Long-term temperature goal of the Paris Agreement 1.5 °C  not yet “dead” but in grave danger</a:t>
            </a:r>
          </a:p>
          <a:p>
            <a:pPr algn="l"/>
            <a:endParaRPr lang="en-GB" sz="2000" dirty="0">
              <a:solidFill>
                <a:srgbClr val="0F172A"/>
              </a:solidFill>
              <a:latin typeface="Montserrat" pitchFamily="2" charset="77"/>
            </a:endParaRPr>
          </a:p>
        </p:txBody>
      </p:sp>
      <p:sp>
        <p:nvSpPr>
          <p:cNvPr id="4" name="Freeform 13">
            <a:extLst>
              <a:ext uri="{FF2B5EF4-FFF2-40B4-BE49-F238E27FC236}">
                <a16:creationId xmlns:a16="http://schemas.microsoft.com/office/drawing/2014/main" id="{37CB0D5F-0180-840D-EF24-F36DAC339F0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2" name="TextBox 14">
            <a:extLst>
              <a:ext uri="{FF2B5EF4-FFF2-40B4-BE49-F238E27FC236}">
                <a16:creationId xmlns:a16="http://schemas.microsoft.com/office/drawing/2014/main" id="{628080FD-D0A0-1ED1-7648-C21EEE4F3A1B}"/>
              </a:ext>
            </a:extLst>
          </p:cNvPr>
          <p:cNvSpPr txBox="1"/>
          <p:nvPr/>
        </p:nvSpPr>
        <p:spPr>
          <a:xfrm>
            <a:off x="389464" y="684091"/>
            <a:ext cx="8445925"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Temperature Measurements: </a:t>
            </a:r>
            <a:r>
              <a:rPr lang="en-US" sz="3600" i="1" spc="-275" dirty="0">
                <a:solidFill>
                  <a:srgbClr val="46245A"/>
                </a:solidFill>
                <a:latin typeface="DM Sans Bold"/>
                <a:ea typeface="ＭＳ Ｐゴシック" panose="020B0600070205080204" pitchFamily="34" charset="-128"/>
              </a:rPr>
              <a:t>Today</a:t>
            </a: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spTree>
    <p:extLst>
      <p:ext uri="{BB962C8B-B14F-4D97-AF65-F5344CB8AC3E}">
        <p14:creationId xmlns:p14="http://schemas.microsoft.com/office/powerpoint/2010/main" val="403700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3BF6-1378-6DF1-F01D-B0ABCAAD08EC}"/>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A3D62280-B32A-8DC7-9F1C-3FFF351C116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3" name="TextBox 14">
            <a:extLst>
              <a:ext uri="{FF2B5EF4-FFF2-40B4-BE49-F238E27FC236}">
                <a16:creationId xmlns:a16="http://schemas.microsoft.com/office/drawing/2014/main" id="{F55C2F21-82FF-31FC-3D3D-2E21CB3E6B94}"/>
              </a:ext>
            </a:extLst>
          </p:cNvPr>
          <p:cNvSpPr txBox="1"/>
          <p:nvPr/>
        </p:nvSpPr>
        <p:spPr>
          <a:xfrm>
            <a:off x="389464" y="684091"/>
            <a:ext cx="8445925"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Temperature Measurements: </a:t>
            </a:r>
            <a:r>
              <a:rPr lang="en-US" sz="3600" i="1" spc="-275" dirty="0">
                <a:solidFill>
                  <a:srgbClr val="46245A"/>
                </a:solidFill>
                <a:latin typeface="DM Sans Bold"/>
                <a:ea typeface="ＭＳ Ｐゴシック" panose="020B0600070205080204" pitchFamily="34" charset="-128"/>
              </a:rPr>
              <a:t>Future</a:t>
            </a: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pic>
        <p:nvPicPr>
          <p:cNvPr id="9" name="Picture 8" descr="A comparison of the temperature of the earth&#10;&#10;AI-generated content may be incorrect.">
            <a:extLst>
              <a:ext uri="{FF2B5EF4-FFF2-40B4-BE49-F238E27FC236}">
                <a16:creationId xmlns:a16="http://schemas.microsoft.com/office/drawing/2014/main" id="{58B09725-C5B7-64CF-309C-2333CE07E9C9}"/>
              </a:ext>
            </a:extLst>
          </p:cNvPr>
          <p:cNvPicPr>
            <a:picLocks noChangeAspect="1"/>
          </p:cNvPicPr>
          <p:nvPr/>
        </p:nvPicPr>
        <p:blipFill>
          <a:blip r:embed="rId4"/>
          <a:srcRect l="4747" b="1626"/>
          <a:stretch>
            <a:fillRect/>
          </a:stretch>
        </p:blipFill>
        <p:spPr>
          <a:xfrm>
            <a:off x="389464" y="1258415"/>
            <a:ext cx="8009285" cy="5138233"/>
          </a:xfrm>
          <a:prstGeom prst="rect">
            <a:avLst/>
          </a:prstGeom>
        </p:spPr>
      </p:pic>
    </p:spTree>
    <p:extLst>
      <p:ext uri="{BB962C8B-B14F-4D97-AF65-F5344CB8AC3E}">
        <p14:creationId xmlns:p14="http://schemas.microsoft.com/office/powerpoint/2010/main" val="194342530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871B-E94F-F3B0-6693-DC3CBA57AE4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096B08E-C77B-490E-CB91-38F74A58C653}"/>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33318AA-C8FE-C52E-9E0D-ED1ABE3A0478}"/>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lang="en-US" sz="4000" i="1" spc="-275" dirty="0">
                <a:solidFill>
                  <a:srgbClr val="46245A"/>
                </a:solidFill>
                <a:latin typeface="Calibri" panose="020F0502020204030204" pitchFamily="34" charset="0"/>
                <a:ea typeface="ＭＳ Ｐゴシック" panose="020B0600070205080204" pitchFamily="34" charset="-128"/>
                <a:cs typeface="Calibri" panose="020F0502020204030204" pitchFamily="34" charset="0"/>
              </a:rPr>
              <a:t>Discussion</a:t>
            </a:r>
            <a:endPar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6" name="TextBox 5">
            <a:extLst>
              <a:ext uri="{FF2B5EF4-FFF2-40B4-BE49-F238E27FC236}">
                <a16:creationId xmlns:a16="http://schemas.microsoft.com/office/drawing/2014/main" id="{22DF507C-DF0B-2AC1-C048-9A0811901ACE}"/>
              </a:ext>
            </a:extLst>
          </p:cNvPr>
          <p:cNvSpPr txBox="1"/>
          <p:nvPr/>
        </p:nvSpPr>
        <p:spPr>
          <a:xfrm>
            <a:off x="389465" y="1537674"/>
            <a:ext cx="11550287"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Argue against: “The Earth’s climate is always changing and this is nothing to do with humans.”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How might measurements support this argument? </a:t>
            </a:r>
            <a:endParaRPr lang="en-GB" dirty="0"/>
          </a:p>
        </p:txBody>
      </p:sp>
    </p:spTree>
    <p:extLst>
      <p:ext uri="{BB962C8B-B14F-4D97-AF65-F5344CB8AC3E}">
        <p14:creationId xmlns:p14="http://schemas.microsoft.com/office/powerpoint/2010/main" val="4262193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science2017.globalchange.gov/img/figure/figure3_1.png">
            <a:extLst>
              <a:ext uri="{FF2B5EF4-FFF2-40B4-BE49-F238E27FC236}">
                <a16:creationId xmlns:a16="http://schemas.microsoft.com/office/drawing/2014/main" id="{3838C564-01E1-4B9D-9A3F-16581799C04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979"/>
          <a:stretch>
            <a:fillRect/>
          </a:stretch>
        </p:blipFill>
        <p:spPr bwMode="auto">
          <a:xfrm>
            <a:off x="425552" y="1387365"/>
            <a:ext cx="8938676" cy="30502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4">
            <a:extLst>
              <a:ext uri="{FF2B5EF4-FFF2-40B4-BE49-F238E27FC236}">
                <a16:creationId xmlns:a16="http://schemas.microsoft.com/office/drawing/2014/main" id="{7FD24E1D-7969-F7F9-7210-81DA2875D15A}"/>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Are humans the cause?</a:t>
            </a:r>
          </a:p>
        </p:txBody>
      </p:sp>
      <p:sp>
        <p:nvSpPr>
          <p:cNvPr id="3" name="Freeform 13">
            <a:extLst>
              <a:ext uri="{FF2B5EF4-FFF2-40B4-BE49-F238E27FC236}">
                <a16:creationId xmlns:a16="http://schemas.microsoft.com/office/drawing/2014/main" id="{AFDD51CA-1F63-9FD7-78FB-4C04A1278BF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6" name="TextBox 5">
            <a:extLst>
              <a:ext uri="{FF2B5EF4-FFF2-40B4-BE49-F238E27FC236}">
                <a16:creationId xmlns:a16="http://schemas.microsoft.com/office/drawing/2014/main" id="{C0BCCFE0-A088-EFFF-2E41-8A52D08C8A16}"/>
              </a:ext>
            </a:extLst>
          </p:cNvPr>
          <p:cNvSpPr txBox="1"/>
          <p:nvPr/>
        </p:nvSpPr>
        <p:spPr>
          <a:xfrm>
            <a:off x="377108" y="4336596"/>
            <a:ext cx="11529266" cy="2246769"/>
          </a:xfrm>
          <a:prstGeom prst="rect">
            <a:avLst/>
          </a:prstGeom>
          <a:noFill/>
        </p:spPr>
        <p:txBody>
          <a:bodyPr wrap="square">
            <a:spAutoFit/>
          </a:bodyPr>
          <a:lstStyle/>
          <a:p>
            <a:r>
              <a:rPr lang="en-GB" sz="2000" b="1" dirty="0">
                <a:latin typeface="Calibri" panose="020F0502020204030204" pitchFamily="34" charset="0"/>
                <a:cs typeface="Calibri" panose="020F0502020204030204" pitchFamily="34" charset="0"/>
              </a:rPr>
              <a:t>Data</a:t>
            </a:r>
          </a:p>
          <a:p>
            <a:pPr marL="214313" indent="-214313">
              <a:buFont typeface="Arial" panose="020B0604020202020204" pitchFamily="34" charset="0"/>
              <a:buChar char="•"/>
            </a:pPr>
            <a:r>
              <a:rPr lang="en-GB" sz="2000" dirty="0">
                <a:latin typeface="Calibri" panose="020F0502020204030204" pitchFamily="34" charset="0"/>
                <a:cs typeface="Calibri" panose="020F0502020204030204" pitchFamily="34" charset="0"/>
              </a:rPr>
              <a:t>We know temperatures and GHGs are rising from measurements.</a:t>
            </a:r>
          </a:p>
          <a:p>
            <a:pPr marL="214313" indent="-214313">
              <a:buFont typeface="Arial" panose="020B0604020202020204" pitchFamily="34" charset="0"/>
              <a:buChar char="•"/>
            </a:pPr>
            <a:r>
              <a:rPr lang="en-GB" sz="2000" dirty="0">
                <a:latin typeface="Calibri" panose="020F0502020204030204" pitchFamily="34" charset="0"/>
                <a:cs typeface="Calibri" panose="020F0502020204030204" pitchFamily="34" charset="0"/>
              </a:rPr>
              <a:t>Climate models can reproduce past temperature rise well only if human inputs are included.</a:t>
            </a:r>
          </a:p>
          <a:p>
            <a:pPr marL="214313" indent="-214313">
              <a:buFont typeface="Arial" panose="020B0604020202020204" pitchFamily="34" charset="0"/>
              <a:buChar char="•"/>
            </a:pPr>
            <a:endParaRPr lang="en-GB" sz="2000" dirty="0">
              <a:latin typeface="Calibri" panose="020F0502020204030204" pitchFamily="34" charset="0"/>
              <a:cs typeface="Calibri" panose="020F0502020204030204" pitchFamily="34" charset="0"/>
            </a:endParaRPr>
          </a:p>
          <a:p>
            <a:r>
              <a:rPr lang="en-GB" sz="2000" b="1" dirty="0">
                <a:latin typeface="Calibri" panose="020F0502020204030204" pitchFamily="34" charset="0"/>
                <a:cs typeface="Calibri" panose="020F0502020204030204" pitchFamily="34" charset="0"/>
              </a:rPr>
              <a:t>Scientific Understanding</a:t>
            </a:r>
          </a:p>
          <a:p>
            <a:pPr marL="214313" indent="-214313">
              <a:buFont typeface="Arial" panose="020B0604020202020204" pitchFamily="34" charset="0"/>
              <a:buChar char="•"/>
            </a:pPr>
            <a:r>
              <a:rPr lang="en-GB" sz="2000" dirty="0">
                <a:latin typeface="Calibri" panose="020F0502020204030204" pitchFamily="34" charset="0"/>
                <a:cs typeface="Calibri" panose="020F0502020204030204" pitchFamily="34" charset="0"/>
              </a:rPr>
              <a:t>Greenhouse effect is well established. Logical that if GHGs go up, temperatures will go up too.</a:t>
            </a:r>
          </a:p>
          <a:p>
            <a:pPr marL="214313" indent="-214313">
              <a:buFont typeface="Arial" panose="020B0604020202020204" pitchFamily="34" charset="0"/>
              <a:buChar char="•"/>
            </a:pPr>
            <a:r>
              <a:rPr lang="en-GB" sz="2000" dirty="0">
                <a:latin typeface="Calibri" panose="020F0502020204030204" pitchFamily="34" charset="0"/>
                <a:cs typeface="Calibri" panose="020F0502020204030204" pitchFamily="34" charset="0"/>
              </a:rPr>
              <a:t>We understand other natural drivers of climate change, but they are inconsistent with what we observe.</a:t>
            </a:r>
          </a:p>
        </p:txBody>
      </p:sp>
    </p:spTree>
    <p:extLst>
      <p:ext uri="{BB962C8B-B14F-4D97-AF65-F5344CB8AC3E}">
        <p14:creationId xmlns:p14="http://schemas.microsoft.com/office/powerpoint/2010/main" val="2891212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a:extLst>
              <a:ext uri="{FF2B5EF4-FFF2-40B4-BE49-F238E27FC236}">
                <a16:creationId xmlns:a16="http://schemas.microsoft.com/office/drawing/2014/main" id="{54B51BE5-5F08-49F1-9054-632CBD1DDF45}"/>
              </a:ext>
            </a:extLst>
          </p:cNvPr>
          <p:cNvPicPr>
            <a:picLocks noChangeAspect="1"/>
          </p:cNvPicPr>
          <p:nvPr/>
        </p:nvPicPr>
        <p:blipFill rotWithShape="1">
          <a:blip r:embed="rId3">
            <a:extLst>
              <a:ext uri="{28A0092B-C50C-407E-A947-70E740481C1C}">
                <a14:useLocalDpi xmlns:a14="http://schemas.microsoft.com/office/drawing/2010/main" val="0"/>
              </a:ext>
            </a:extLst>
          </a:blip>
          <a:srcRect b="81167"/>
          <a:stretch/>
        </p:blipFill>
        <p:spPr>
          <a:xfrm>
            <a:off x="5937078" y="1539382"/>
            <a:ext cx="4455980" cy="1936778"/>
          </a:xfrm>
          <a:prstGeom prst="rect">
            <a:avLst/>
          </a:prstGeom>
        </p:spPr>
      </p:pic>
      <p:pic>
        <p:nvPicPr>
          <p:cNvPr id="7" name="Picture 6" descr="Timeline&#10;&#10;Description automatically generated">
            <a:extLst>
              <a:ext uri="{FF2B5EF4-FFF2-40B4-BE49-F238E27FC236}">
                <a16:creationId xmlns:a16="http://schemas.microsoft.com/office/drawing/2014/main" id="{D6FD317B-82A0-40C9-8FC0-AA1AAA7FB8C5}"/>
              </a:ext>
            </a:extLst>
          </p:cNvPr>
          <p:cNvPicPr>
            <a:picLocks noChangeAspect="1"/>
          </p:cNvPicPr>
          <p:nvPr/>
        </p:nvPicPr>
        <p:blipFill rotWithShape="1">
          <a:blip r:embed="rId3">
            <a:extLst>
              <a:ext uri="{28A0092B-C50C-407E-A947-70E740481C1C}">
                <a14:useLocalDpi xmlns:a14="http://schemas.microsoft.com/office/drawing/2010/main" val="0"/>
              </a:ext>
            </a:extLst>
          </a:blip>
          <a:srcRect t="95336" b="-1"/>
          <a:stretch/>
        </p:blipFill>
        <p:spPr>
          <a:xfrm>
            <a:off x="5937078" y="3539399"/>
            <a:ext cx="4455000" cy="480841"/>
          </a:xfrm>
          <a:prstGeom prst="rect">
            <a:avLst/>
          </a:prstGeom>
        </p:spPr>
      </p:pic>
      <p:sp>
        <p:nvSpPr>
          <p:cNvPr id="10" name="TextBox 9">
            <a:extLst>
              <a:ext uri="{FF2B5EF4-FFF2-40B4-BE49-F238E27FC236}">
                <a16:creationId xmlns:a16="http://schemas.microsoft.com/office/drawing/2014/main" id="{43E2A716-18CF-47AA-9E59-065482A41827}"/>
              </a:ext>
            </a:extLst>
          </p:cNvPr>
          <p:cNvSpPr txBox="1"/>
          <p:nvPr/>
        </p:nvSpPr>
        <p:spPr>
          <a:xfrm>
            <a:off x="1524000" y="5746574"/>
            <a:ext cx="2408032" cy="276999"/>
          </a:xfrm>
          <a:prstGeom prst="rect">
            <a:avLst/>
          </a:prstGeom>
          <a:noFill/>
        </p:spPr>
        <p:txBody>
          <a:bodyPr wrap="none" rtlCol="0">
            <a:spAutoFit/>
          </a:bodyPr>
          <a:lstStyle/>
          <a:p>
            <a:r>
              <a:rPr lang="en-GB" sz="1200" dirty="0"/>
              <a:t>FAQ5.1, Figure 1, AR5 Full Report</a:t>
            </a:r>
          </a:p>
        </p:txBody>
      </p:sp>
      <p:sp>
        <p:nvSpPr>
          <p:cNvPr id="2" name="TextBox 14">
            <a:extLst>
              <a:ext uri="{FF2B5EF4-FFF2-40B4-BE49-F238E27FC236}">
                <a16:creationId xmlns:a16="http://schemas.microsoft.com/office/drawing/2014/main" id="{39EF78FC-8F85-D4AD-75BB-0FA687483D5A}"/>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Other drivers of temperature change</a:t>
            </a:r>
          </a:p>
        </p:txBody>
      </p:sp>
      <p:sp>
        <p:nvSpPr>
          <p:cNvPr id="3" name="Freeform 13">
            <a:extLst>
              <a:ext uri="{FF2B5EF4-FFF2-40B4-BE49-F238E27FC236}">
                <a16:creationId xmlns:a16="http://schemas.microsoft.com/office/drawing/2014/main" id="{BF13542E-4A85-92A0-F9CF-C86356F5885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Rectangle 3">
            <a:extLst>
              <a:ext uri="{FF2B5EF4-FFF2-40B4-BE49-F238E27FC236}">
                <a16:creationId xmlns:a16="http://schemas.microsoft.com/office/drawing/2014/main" id="{FD6D3998-0F25-C809-CB28-4BA92F660A61}"/>
              </a:ext>
            </a:extLst>
          </p:cNvPr>
          <p:cNvSpPr/>
          <p:nvPr/>
        </p:nvSpPr>
        <p:spPr>
          <a:xfrm>
            <a:off x="1309816" y="5746574"/>
            <a:ext cx="3138616" cy="276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7454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a:extLst>
              <a:ext uri="{FF2B5EF4-FFF2-40B4-BE49-F238E27FC236}">
                <a16:creationId xmlns:a16="http://schemas.microsoft.com/office/drawing/2014/main" id="{54B51BE5-5F08-49F1-9054-632CBD1DDF45}"/>
              </a:ext>
            </a:extLst>
          </p:cNvPr>
          <p:cNvPicPr>
            <a:picLocks noChangeAspect="1"/>
          </p:cNvPicPr>
          <p:nvPr/>
        </p:nvPicPr>
        <p:blipFill rotWithShape="1">
          <a:blip r:embed="rId3">
            <a:extLst>
              <a:ext uri="{28A0092B-C50C-407E-A947-70E740481C1C}">
                <a14:useLocalDpi xmlns:a14="http://schemas.microsoft.com/office/drawing/2010/main" val="0"/>
              </a:ext>
            </a:extLst>
          </a:blip>
          <a:srcRect b="81167"/>
          <a:stretch/>
        </p:blipFill>
        <p:spPr>
          <a:xfrm>
            <a:off x="5937078" y="1539382"/>
            <a:ext cx="4455980" cy="1936778"/>
          </a:xfrm>
          <a:prstGeom prst="rect">
            <a:avLst/>
          </a:prstGeom>
        </p:spPr>
      </p:pic>
      <p:pic>
        <p:nvPicPr>
          <p:cNvPr id="6" name="Picture 5" descr="Timeline&#10;&#10;Description automatically generated">
            <a:extLst>
              <a:ext uri="{FF2B5EF4-FFF2-40B4-BE49-F238E27FC236}">
                <a16:creationId xmlns:a16="http://schemas.microsoft.com/office/drawing/2014/main" id="{5FD4167E-B06A-4047-AAFA-469C6F4DAB5D}"/>
              </a:ext>
            </a:extLst>
          </p:cNvPr>
          <p:cNvPicPr>
            <a:picLocks noChangeAspect="1"/>
          </p:cNvPicPr>
          <p:nvPr/>
        </p:nvPicPr>
        <p:blipFill rotWithShape="1">
          <a:blip r:embed="rId3">
            <a:extLst>
              <a:ext uri="{28A0092B-C50C-407E-A947-70E740481C1C}">
                <a14:useLocalDpi xmlns:a14="http://schemas.microsoft.com/office/drawing/2010/main" val="0"/>
              </a:ext>
            </a:extLst>
          </a:blip>
          <a:srcRect t="18558" b="61659"/>
          <a:stretch/>
        </p:blipFill>
        <p:spPr>
          <a:xfrm>
            <a:off x="5937078" y="3512348"/>
            <a:ext cx="4455000" cy="2034091"/>
          </a:xfrm>
          <a:prstGeom prst="rect">
            <a:avLst/>
          </a:prstGeom>
        </p:spPr>
      </p:pic>
      <p:pic>
        <p:nvPicPr>
          <p:cNvPr id="7" name="Picture 6" descr="Timeline&#10;&#10;Description automatically generated">
            <a:extLst>
              <a:ext uri="{FF2B5EF4-FFF2-40B4-BE49-F238E27FC236}">
                <a16:creationId xmlns:a16="http://schemas.microsoft.com/office/drawing/2014/main" id="{D6FD317B-82A0-40C9-8FC0-AA1AAA7FB8C5}"/>
              </a:ext>
            </a:extLst>
          </p:cNvPr>
          <p:cNvPicPr>
            <a:picLocks noChangeAspect="1"/>
          </p:cNvPicPr>
          <p:nvPr/>
        </p:nvPicPr>
        <p:blipFill rotWithShape="1">
          <a:blip r:embed="rId3">
            <a:extLst>
              <a:ext uri="{28A0092B-C50C-407E-A947-70E740481C1C}">
                <a14:useLocalDpi xmlns:a14="http://schemas.microsoft.com/office/drawing/2010/main" val="0"/>
              </a:ext>
            </a:extLst>
          </a:blip>
          <a:srcRect t="95336" b="-1"/>
          <a:stretch/>
        </p:blipFill>
        <p:spPr>
          <a:xfrm>
            <a:off x="5937078" y="5521501"/>
            <a:ext cx="4455000" cy="480841"/>
          </a:xfrm>
          <a:prstGeom prst="rect">
            <a:avLst/>
          </a:prstGeom>
        </p:spPr>
      </p:pic>
      <p:sp>
        <p:nvSpPr>
          <p:cNvPr id="9" name="TextBox 8">
            <a:extLst>
              <a:ext uri="{FF2B5EF4-FFF2-40B4-BE49-F238E27FC236}">
                <a16:creationId xmlns:a16="http://schemas.microsoft.com/office/drawing/2014/main" id="{0A610F8E-C25E-415B-8264-A255F0A2E6E6}"/>
              </a:ext>
            </a:extLst>
          </p:cNvPr>
          <p:cNvSpPr txBox="1"/>
          <p:nvPr/>
        </p:nvSpPr>
        <p:spPr>
          <a:xfrm>
            <a:off x="1798944" y="1940246"/>
            <a:ext cx="3146631" cy="1131079"/>
          </a:xfrm>
          <a:prstGeom prst="rect">
            <a:avLst/>
          </a:prstGeom>
          <a:noFill/>
        </p:spPr>
        <p:txBody>
          <a:bodyPr wrap="none" rtlCol="0">
            <a:spAutoFit/>
          </a:bodyPr>
          <a:lstStyle/>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Solar variability</a:t>
            </a:r>
          </a:p>
          <a:p>
            <a:pPr marL="685800" lvl="1" indent="-342900">
              <a:buFontTx/>
              <a:buChar char="-"/>
            </a:pPr>
            <a:r>
              <a:rPr lang="en-GB" sz="2000" dirty="0">
                <a:latin typeface="Calibri" panose="020F0502020204030204" pitchFamily="34" charset="0"/>
                <a:cs typeface="Calibri" panose="020F0502020204030204" pitchFamily="34" charset="0"/>
              </a:rPr>
              <a:t>11-year cycle</a:t>
            </a:r>
          </a:p>
          <a:p>
            <a:pPr marL="685800" lvl="1" indent="-342900">
              <a:buFontTx/>
              <a:buChar char="-"/>
            </a:pPr>
            <a:r>
              <a:rPr lang="en-GB" sz="2000" dirty="0">
                <a:latin typeface="Calibri" panose="020F0502020204030204" pitchFamily="34" charset="0"/>
                <a:cs typeface="Calibri" panose="020F0502020204030204" pitchFamily="34" charset="0"/>
              </a:rPr>
              <a:t>weak long-term trend</a:t>
            </a:r>
          </a:p>
        </p:txBody>
      </p:sp>
      <p:sp>
        <p:nvSpPr>
          <p:cNvPr id="10" name="TextBox 9">
            <a:extLst>
              <a:ext uri="{FF2B5EF4-FFF2-40B4-BE49-F238E27FC236}">
                <a16:creationId xmlns:a16="http://schemas.microsoft.com/office/drawing/2014/main" id="{43E2A716-18CF-47AA-9E59-065482A41827}"/>
              </a:ext>
            </a:extLst>
          </p:cNvPr>
          <p:cNvSpPr txBox="1"/>
          <p:nvPr/>
        </p:nvSpPr>
        <p:spPr>
          <a:xfrm>
            <a:off x="1524000" y="5746574"/>
            <a:ext cx="2408032" cy="276999"/>
          </a:xfrm>
          <a:prstGeom prst="rect">
            <a:avLst/>
          </a:prstGeom>
          <a:noFill/>
        </p:spPr>
        <p:txBody>
          <a:bodyPr wrap="none" rtlCol="0">
            <a:spAutoFit/>
          </a:bodyPr>
          <a:lstStyle/>
          <a:p>
            <a:r>
              <a:rPr lang="en-GB" sz="1200" dirty="0"/>
              <a:t>FAQ5.1, Figure 1, AR5 Full Report</a:t>
            </a:r>
          </a:p>
        </p:txBody>
      </p:sp>
      <p:sp>
        <p:nvSpPr>
          <p:cNvPr id="2" name="TextBox 14">
            <a:extLst>
              <a:ext uri="{FF2B5EF4-FFF2-40B4-BE49-F238E27FC236}">
                <a16:creationId xmlns:a16="http://schemas.microsoft.com/office/drawing/2014/main" id="{0964D71E-062D-1129-11C3-91F6536E1858}"/>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Other drivers of temperature change</a:t>
            </a:r>
          </a:p>
        </p:txBody>
      </p:sp>
      <p:sp>
        <p:nvSpPr>
          <p:cNvPr id="3" name="Freeform 13">
            <a:extLst>
              <a:ext uri="{FF2B5EF4-FFF2-40B4-BE49-F238E27FC236}">
                <a16:creationId xmlns:a16="http://schemas.microsoft.com/office/drawing/2014/main" id="{8A6E0644-964E-CF66-CF5D-96E044660AF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Rectangle 3">
            <a:extLst>
              <a:ext uri="{FF2B5EF4-FFF2-40B4-BE49-F238E27FC236}">
                <a16:creationId xmlns:a16="http://schemas.microsoft.com/office/drawing/2014/main" id="{90903F49-21FD-67D8-7E2F-D76709AE2931}"/>
              </a:ext>
            </a:extLst>
          </p:cNvPr>
          <p:cNvSpPr/>
          <p:nvPr/>
        </p:nvSpPr>
        <p:spPr>
          <a:xfrm>
            <a:off x="1309816" y="5746574"/>
            <a:ext cx="3138616" cy="276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1065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a:extLst>
              <a:ext uri="{FF2B5EF4-FFF2-40B4-BE49-F238E27FC236}">
                <a16:creationId xmlns:a16="http://schemas.microsoft.com/office/drawing/2014/main" id="{54B51BE5-5F08-49F1-9054-632CBD1DDF45}"/>
              </a:ext>
            </a:extLst>
          </p:cNvPr>
          <p:cNvPicPr>
            <a:picLocks noChangeAspect="1"/>
          </p:cNvPicPr>
          <p:nvPr/>
        </p:nvPicPr>
        <p:blipFill rotWithShape="1">
          <a:blip r:embed="rId3">
            <a:extLst>
              <a:ext uri="{28A0092B-C50C-407E-A947-70E740481C1C}">
                <a14:useLocalDpi xmlns:a14="http://schemas.microsoft.com/office/drawing/2010/main" val="0"/>
              </a:ext>
            </a:extLst>
          </a:blip>
          <a:srcRect b="81167"/>
          <a:stretch/>
        </p:blipFill>
        <p:spPr>
          <a:xfrm>
            <a:off x="5937078" y="1539382"/>
            <a:ext cx="4455980" cy="1936778"/>
          </a:xfrm>
          <a:prstGeom prst="rect">
            <a:avLst/>
          </a:prstGeom>
        </p:spPr>
      </p:pic>
      <p:pic>
        <p:nvPicPr>
          <p:cNvPr id="6" name="Picture 5" descr="Timeline&#10;&#10;Description automatically generated">
            <a:extLst>
              <a:ext uri="{FF2B5EF4-FFF2-40B4-BE49-F238E27FC236}">
                <a16:creationId xmlns:a16="http://schemas.microsoft.com/office/drawing/2014/main" id="{5FD4167E-B06A-4047-AAFA-469C6F4DAB5D}"/>
              </a:ext>
            </a:extLst>
          </p:cNvPr>
          <p:cNvPicPr>
            <a:picLocks noChangeAspect="1"/>
          </p:cNvPicPr>
          <p:nvPr/>
        </p:nvPicPr>
        <p:blipFill rotWithShape="1">
          <a:blip r:embed="rId3">
            <a:extLst>
              <a:ext uri="{28A0092B-C50C-407E-A947-70E740481C1C}">
                <a14:useLocalDpi xmlns:a14="http://schemas.microsoft.com/office/drawing/2010/main" val="0"/>
              </a:ext>
            </a:extLst>
          </a:blip>
          <a:srcRect t="38083" b="42134"/>
          <a:stretch/>
        </p:blipFill>
        <p:spPr>
          <a:xfrm>
            <a:off x="5937078" y="3512348"/>
            <a:ext cx="4455000" cy="2034091"/>
          </a:xfrm>
          <a:prstGeom prst="rect">
            <a:avLst/>
          </a:prstGeom>
        </p:spPr>
      </p:pic>
      <p:pic>
        <p:nvPicPr>
          <p:cNvPr id="7" name="Picture 6" descr="Timeline&#10;&#10;Description automatically generated">
            <a:extLst>
              <a:ext uri="{FF2B5EF4-FFF2-40B4-BE49-F238E27FC236}">
                <a16:creationId xmlns:a16="http://schemas.microsoft.com/office/drawing/2014/main" id="{D6FD317B-82A0-40C9-8FC0-AA1AAA7FB8C5}"/>
              </a:ext>
            </a:extLst>
          </p:cNvPr>
          <p:cNvPicPr>
            <a:picLocks noChangeAspect="1"/>
          </p:cNvPicPr>
          <p:nvPr/>
        </p:nvPicPr>
        <p:blipFill rotWithShape="1">
          <a:blip r:embed="rId3">
            <a:extLst>
              <a:ext uri="{28A0092B-C50C-407E-A947-70E740481C1C}">
                <a14:useLocalDpi xmlns:a14="http://schemas.microsoft.com/office/drawing/2010/main" val="0"/>
              </a:ext>
            </a:extLst>
          </a:blip>
          <a:srcRect t="95336" b="-1"/>
          <a:stretch/>
        </p:blipFill>
        <p:spPr>
          <a:xfrm>
            <a:off x="5937078" y="5521501"/>
            <a:ext cx="4455000" cy="480841"/>
          </a:xfrm>
          <a:prstGeom prst="rect">
            <a:avLst/>
          </a:prstGeom>
        </p:spPr>
      </p:pic>
      <p:sp>
        <p:nvSpPr>
          <p:cNvPr id="9" name="TextBox 8">
            <a:extLst>
              <a:ext uri="{FF2B5EF4-FFF2-40B4-BE49-F238E27FC236}">
                <a16:creationId xmlns:a16="http://schemas.microsoft.com/office/drawing/2014/main" id="{0A610F8E-C25E-415B-8264-A255F0A2E6E6}"/>
              </a:ext>
            </a:extLst>
          </p:cNvPr>
          <p:cNvSpPr txBox="1"/>
          <p:nvPr/>
        </p:nvSpPr>
        <p:spPr>
          <a:xfrm>
            <a:off x="1798942" y="1940246"/>
            <a:ext cx="3897523" cy="1862048"/>
          </a:xfrm>
          <a:prstGeom prst="rect">
            <a:avLst/>
          </a:prstGeom>
          <a:noFill/>
        </p:spPr>
        <p:txBody>
          <a:bodyPr wrap="square" rtlCol="0">
            <a:spAutoFit/>
          </a:bodyPr>
          <a:lstStyle/>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Solar variability</a:t>
            </a:r>
          </a:p>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Volcanoes</a:t>
            </a:r>
          </a:p>
          <a:p>
            <a:pPr marL="685800" lvl="1" indent="-342900">
              <a:buFontTx/>
              <a:buChar char="-"/>
            </a:pPr>
            <a:r>
              <a:rPr lang="en-GB" sz="2000" dirty="0">
                <a:latin typeface="Calibri" panose="020F0502020204030204" pitchFamily="34" charset="0"/>
                <a:cs typeface="Calibri" panose="020F0502020204030204" pitchFamily="34" charset="0"/>
              </a:rPr>
              <a:t>strong, but short-lived impact</a:t>
            </a:r>
          </a:p>
          <a:p>
            <a:pPr marL="685800" lvl="1" indent="-342900">
              <a:buFontTx/>
              <a:buChar char="-"/>
            </a:pPr>
            <a:r>
              <a:rPr lang="en-GB" sz="2000" dirty="0">
                <a:latin typeface="Calibri" panose="020F0502020204030204" pitchFamily="34" charset="0"/>
                <a:cs typeface="Calibri" panose="020F0502020204030204" pitchFamily="34" charset="0"/>
              </a:rPr>
              <a:t>cooling effect</a:t>
            </a:r>
          </a:p>
        </p:txBody>
      </p:sp>
      <p:sp>
        <p:nvSpPr>
          <p:cNvPr id="10" name="TextBox 9">
            <a:extLst>
              <a:ext uri="{FF2B5EF4-FFF2-40B4-BE49-F238E27FC236}">
                <a16:creationId xmlns:a16="http://schemas.microsoft.com/office/drawing/2014/main" id="{4A6855F2-282D-4E60-B68D-7CF1CCC8D786}"/>
              </a:ext>
            </a:extLst>
          </p:cNvPr>
          <p:cNvSpPr txBox="1"/>
          <p:nvPr/>
        </p:nvSpPr>
        <p:spPr>
          <a:xfrm>
            <a:off x="1524000" y="5746574"/>
            <a:ext cx="2408032" cy="276999"/>
          </a:xfrm>
          <a:prstGeom prst="rect">
            <a:avLst/>
          </a:prstGeom>
          <a:noFill/>
        </p:spPr>
        <p:txBody>
          <a:bodyPr wrap="none" rtlCol="0">
            <a:spAutoFit/>
          </a:bodyPr>
          <a:lstStyle/>
          <a:p>
            <a:r>
              <a:rPr lang="en-GB" sz="1200" dirty="0"/>
              <a:t>FAQ5.1, Figure 1, AR5 Full Report</a:t>
            </a:r>
          </a:p>
        </p:txBody>
      </p:sp>
      <p:sp>
        <p:nvSpPr>
          <p:cNvPr id="2" name="TextBox 14">
            <a:extLst>
              <a:ext uri="{FF2B5EF4-FFF2-40B4-BE49-F238E27FC236}">
                <a16:creationId xmlns:a16="http://schemas.microsoft.com/office/drawing/2014/main" id="{09513D19-8398-3264-27D4-B20967C3F241}"/>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Other drivers of temperature change</a:t>
            </a:r>
          </a:p>
        </p:txBody>
      </p:sp>
      <p:sp>
        <p:nvSpPr>
          <p:cNvPr id="3" name="Freeform 13">
            <a:extLst>
              <a:ext uri="{FF2B5EF4-FFF2-40B4-BE49-F238E27FC236}">
                <a16:creationId xmlns:a16="http://schemas.microsoft.com/office/drawing/2014/main" id="{9D3F0B44-8EB2-8DED-A620-B956D2658D8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Rectangle 3">
            <a:extLst>
              <a:ext uri="{FF2B5EF4-FFF2-40B4-BE49-F238E27FC236}">
                <a16:creationId xmlns:a16="http://schemas.microsoft.com/office/drawing/2014/main" id="{E1AB1701-10CC-8BC8-421B-B2D2EC41D2DC}"/>
              </a:ext>
            </a:extLst>
          </p:cNvPr>
          <p:cNvSpPr/>
          <p:nvPr/>
        </p:nvSpPr>
        <p:spPr>
          <a:xfrm>
            <a:off x="1309816" y="5746574"/>
            <a:ext cx="3138616" cy="276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7442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a:extLst>
              <a:ext uri="{FF2B5EF4-FFF2-40B4-BE49-F238E27FC236}">
                <a16:creationId xmlns:a16="http://schemas.microsoft.com/office/drawing/2014/main" id="{54B51BE5-5F08-49F1-9054-632CBD1DDF45}"/>
              </a:ext>
            </a:extLst>
          </p:cNvPr>
          <p:cNvPicPr>
            <a:picLocks noChangeAspect="1"/>
          </p:cNvPicPr>
          <p:nvPr/>
        </p:nvPicPr>
        <p:blipFill rotWithShape="1">
          <a:blip r:embed="rId3">
            <a:extLst>
              <a:ext uri="{28A0092B-C50C-407E-A947-70E740481C1C}">
                <a14:useLocalDpi xmlns:a14="http://schemas.microsoft.com/office/drawing/2010/main" val="0"/>
              </a:ext>
            </a:extLst>
          </a:blip>
          <a:srcRect b="81167"/>
          <a:stretch/>
        </p:blipFill>
        <p:spPr>
          <a:xfrm>
            <a:off x="5937078" y="1539382"/>
            <a:ext cx="4455980" cy="1936778"/>
          </a:xfrm>
          <a:prstGeom prst="rect">
            <a:avLst/>
          </a:prstGeom>
        </p:spPr>
      </p:pic>
      <p:pic>
        <p:nvPicPr>
          <p:cNvPr id="6" name="Picture 5" descr="Timeline&#10;&#10;Description automatically generated">
            <a:extLst>
              <a:ext uri="{FF2B5EF4-FFF2-40B4-BE49-F238E27FC236}">
                <a16:creationId xmlns:a16="http://schemas.microsoft.com/office/drawing/2014/main" id="{5FD4167E-B06A-4047-AAFA-469C6F4DAB5D}"/>
              </a:ext>
            </a:extLst>
          </p:cNvPr>
          <p:cNvPicPr>
            <a:picLocks noChangeAspect="1"/>
          </p:cNvPicPr>
          <p:nvPr/>
        </p:nvPicPr>
        <p:blipFill rotWithShape="1">
          <a:blip r:embed="rId3">
            <a:extLst>
              <a:ext uri="{28A0092B-C50C-407E-A947-70E740481C1C}">
                <a14:useLocalDpi xmlns:a14="http://schemas.microsoft.com/office/drawing/2010/main" val="0"/>
              </a:ext>
            </a:extLst>
          </a:blip>
          <a:srcRect l="-158" t="57365" r="158" b="22852"/>
          <a:stretch/>
        </p:blipFill>
        <p:spPr>
          <a:xfrm>
            <a:off x="5937078" y="3512348"/>
            <a:ext cx="4455000" cy="2034091"/>
          </a:xfrm>
          <a:prstGeom prst="rect">
            <a:avLst/>
          </a:prstGeom>
        </p:spPr>
      </p:pic>
      <p:pic>
        <p:nvPicPr>
          <p:cNvPr id="7" name="Picture 6" descr="Timeline&#10;&#10;Description automatically generated">
            <a:extLst>
              <a:ext uri="{FF2B5EF4-FFF2-40B4-BE49-F238E27FC236}">
                <a16:creationId xmlns:a16="http://schemas.microsoft.com/office/drawing/2014/main" id="{D6FD317B-82A0-40C9-8FC0-AA1AAA7FB8C5}"/>
              </a:ext>
            </a:extLst>
          </p:cNvPr>
          <p:cNvPicPr>
            <a:picLocks noChangeAspect="1"/>
          </p:cNvPicPr>
          <p:nvPr/>
        </p:nvPicPr>
        <p:blipFill rotWithShape="1">
          <a:blip r:embed="rId3">
            <a:extLst>
              <a:ext uri="{28A0092B-C50C-407E-A947-70E740481C1C}">
                <a14:useLocalDpi xmlns:a14="http://schemas.microsoft.com/office/drawing/2010/main" val="0"/>
              </a:ext>
            </a:extLst>
          </a:blip>
          <a:srcRect t="95336" b="-1"/>
          <a:stretch/>
        </p:blipFill>
        <p:spPr>
          <a:xfrm>
            <a:off x="5937078" y="5521501"/>
            <a:ext cx="4455000" cy="480841"/>
          </a:xfrm>
          <a:prstGeom prst="rect">
            <a:avLst/>
          </a:prstGeom>
        </p:spPr>
      </p:pic>
      <p:sp>
        <p:nvSpPr>
          <p:cNvPr id="9" name="TextBox 8">
            <a:extLst>
              <a:ext uri="{FF2B5EF4-FFF2-40B4-BE49-F238E27FC236}">
                <a16:creationId xmlns:a16="http://schemas.microsoft.com/office/drawing/2014/main" id="{0A610F8E-C25E-415B-8264-A255F0A2E6E6}"/>
              </a:ext>
            </a:extLst>
          </p:cNvPr>
          <p:cNvSpPr txBox="1"/>
          <p:nvPr/>
        </p:nvSpPr>
        <p:spPr>
          <a:xfrm>
            <a:off x="1798943" y="1940246"/>
            <a:ext cx="3769815" cy="1669688"/>
          </a:xfrm>
          <a:prstGeom prst="rect">
            <a:avLst/>
          </a:prstGeom>
          <a:noFill/>
        </p:spPr>
        <p:txBody>
          <a:bodyPr wrap="none" rtlCol="0">
            <a:spAutoFit/>
          </a:bodyPr>
          <a:lstStyle/>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Solar variability</a:t>
            </a:r>
          </a:p>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Volcanoes</a:t>
            </a:r>
          </a:p>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Internal variability</a:t>
            </a:r>
          </a:p>
          <a:p>
            <a:pPr marL="685800" lvl="1" indent="-342900">
              <a:buFontTx/>
              <a:buChar char="-"/>
            </a:pPr>
            <a:r>
              <a:rPr lang="en-GB" sz="2000" dirty="0">
                <a:latin typeface="Calibri" panose="020F0502020204030204" pitchFamily="34" charset="0"/>
                <a:cs typeface="Calibri" panose="020F0502020204030204" pitchFamily="34" charset="0"/>
              </a:rPr>
              <a:t>El Niño-Southern oscillation</a:t>
            </a:r>
          </a:p>
        </p:txBody>
      </p:sp>
      <p:sp>
        <p:nvSpPr>
          <p:cNvPr id="10" name="TextBox 9">
            <a:extLst>
              <a:ext uri="{FF2B5EF4-FFF2-40B4-BE49-F238E27FC236}">
                <a16:creationId xmlns:a16="http://schemas.microsoft.com/office/drawing/2014/main" id="{A6398FEF-7479-4E30-806C-D4877F8CD676}"/>
              </a:ext>
            </a:extLst>
          </p:cNvPr>
          <p:cNvSpPr txBox="1"/>
          <p:nvPr/>
        </p:nvSpPr>
        <p:spPr>
          <a:xfrm>
            <a:off x="1524000" y="5746574"/>
            <a:ext cx="2408032" cy="276999"/>
          </a:xfrm>
          <a:prstGeom prst="rect">
            <a:avLst/>
          </a:prstGeom>
          <a:noFill/>
        </p:spPr>
        <p:txBody>
          <a:bodyPr wrap="none" rtlCol="0">
            <a:spAutoFit/>
          </a:bodyPr>
          <a:lstStyle/>
          <a:p>
            <a:r>
              <a:rPr lang="en-GB" sz="1200" dirty="0"/>
              <a:t>FAQ5.1, Figure 1, AR5 Full Report</a:t>
            </a:r>
          </a:p>
        </p:txBody>
      </p:sp>
      <p:sp>
        <p:nvSpPr>
          <p:cNvPr id="2" name="TextBox 14">
            <a:extLst>
              <a:ext uri="{FF2B5EF4-FFF2-40B4-BE49-F238E27FC236}">
                <a16:creationId xmlns:a16="http://schemas.microsoft.com/office/drawing/2014/main" id="{B1DBF825-1419-EE56-A8EF-02D1AB04E70E}"/>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Other drivers of temperature change</a:t>
            </a:r>
          </a:p>
        </p:txBody>
      </p:sp>
      <p:sp>
        <p:nvSpPr>
          <p:cNvPr id="3" name="Freeform 13">
            <a:extLst>
              <a:ext uri="{FF2B5EF4-FFF2-40B4-BE49-F238E27FC236}">
                <a16:creationId xmlns:a16="http://schemas.microsoft.com/office/drawing/2014/main" id="{091AA93E-D2E1-FA8A-4E22-E45B3FFB222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Rectangle 3">
            <a:extLst>
              <a:ext uri="{FF2B5EF4-FFF2-40B4-BE49-F238E27FC236}">
                <a16:creationId xmlns:a16="http://schemas.microsoft.com/office/drawing/2014/main" id="{08214F43-CF96-7CDB-FC09-8DEF5BF9D11C}"/>
              </a:ext>
            </a:extLst>
          </p:cNvPr>
          <p:cNvSpPr/>
          <p:nvPr/>
        </p:nvSpPr>
        <p:spPr>
          <a:xfrm>
            <a:off x="1309816" y="5746574"/>
            <a:ext cx="3138616" cy="276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0372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a:extLst>
              <a:ext uri="{FF2B5EF4-FFF2-40B4-BE49-F238E27FC236}">
                <a16:creationId xmlns:a16="http://schemas.microsoft.com/office/drawing/2014/main" id="{54B51BE5-5F08-49F1-9054-632CBD1DDF45}"/>
              </a:ext>
            </a:extLst>
          </p:cNvPr>
          <p:cNvPicPr>
            <a:picLocks noChangeAspect="1"/>
          </p:cNvPicPr>
          <p:nvPr/>
        </p:nvPicPr>
        <p:blipFill rotWithShape="1">
          <a:blip r:embed="rId3">
            <a:extLst>
              <a:ext uri="{28A0092B-C50C-407E-A947-70E740481C1C}">
                <a14:useLocalDpi xmlns:a14="http://schemas.microsoft.com/office/drawing/2010/main" val="0"/>
              </a:ext>
            </a:extLst>
          </a:blip>
          <a:srcRect b="81167"/>
          <a:stretch/>
        </p:blipFill>
        <p:spPr>
          <a:xfrm>
            <a:off x="5937078" y="1539382"/>
            <a:ext cx="4455980" cy="1936778"/>
          </a:xfrm>
          <a:prstGeom prst="rect">
            <a:avLst/>
          </a:prstGeom>
        </p:spPr>
      </p:pic>
      <p:pic>
        <p:nvPicPr>
          <p:cNvPr id="6" name="Picture 5" descr="Timeline&#10;&#10;Description automatically generated">
            <a:extLst>
              <a:ext uri="{FF2B5EF4-FFF2-40B4-BE49-F238E27FC236}">
                <a16:creationId xmlns:a16="http://schemas.microsoft.com/office/drawing/2014/main" id="{5FD4167E-B06A-4047-AAFA-469C6F4DAB5D}"/>
              </a:ext>
            </a:extLst>
          </p:cNvPr>
          <p:cNvPicPr>
            <a:picLocks noChangeAspect="1"/>
          </p:cNvPicPr>
          <p:nvPr/>
        </p:nvPicPr>
        <p:blipFill rotWithShape="1">
          <a:blip r:embed="rId3">
            <a:extLst>
              <a:ext uri="{28A0092B-C50C-407E-A947-70E740481C1C}">
                <a14:useLocalDpi xmlns:a14="http://schemas.microsoft.com/office/drawing/2010/main" val="0"/>
              </a:ext>
            </a:extLst>
          </a:blip>
          <a:srcRect t="75823" b="4394"/>
          <a:stretch/>
        </p:blipFill>
        <p:spPr>
          <a:xfrm>
            <a:off x="5937078" y="3512348"/>
            <a:ext cx="4455000" cy="2034091"/>
          </a:xfrm>
          <a:prstGeom prst="rect">
            <a:avLst/>
          </a:prstGeom>
        </p:spPr>
      </p:pic>
      <p:pic>
        <p:nvPicPr>
          <p:cNvPr id="7" name="Picture 6" descr="Timeline&#10;&#10;Description automatically generated">
            <a:extLst>
              <a:ext uri="{FF2B5EF4-FFF2-40B4-BE49-F238E27FC236}">
                <a16:creationId xmlns:a16="http://schemas.microsoft.com/office/drawing/2014/main" id="{D6FD317B-82A0-40C9-8FC0-AA1AAA7FB8C5}"/>
              </a:ext>
            </a:extLst>
          </p:cNvPr>
          <p:cNvPicPr>
            <a:picLocks noChangeAspect="1"/>
          </p:cNvPicPr>
          <p:nvPr/>
        </p:nvPicPr>
        <p:blipFill rotWithShape="1">
          <a:blip r:embed="rId3">
            <a:extLst>
              <a:ext uri="{28A0092B-C50C-407E-A947-70E740481C1C}">
                <a14:useLocalDpi xmlns:a14="http://schemas.microsoft.com/office/drawing/2010/main" val="0"/>
              </a:ext>
            </a:extLst>
          </a:blip>
          <a:srcRect t="95336" b="-1"/>
          <a:stretch/>
        </p:blipFill>
        <p:spPr>
          <a:xfrm>
            <a:off x="5937078" y="5521501"/>
            <a:ext cx="4455000" cy="480841"/>
          </a:xfrm>
          <a:prstGeom prst="rect">
            <a:avLst/>
          </a:prstGeom>
        </p:spPr>
      </p:pic>
      <p:sp>
        <p:nvSpPr>
          <p:cNvPr id="9" name="TextBox 8">
            <a:extLst>
              <a:ext uri="{FF2B5EF4-FFF2-40B4-BE49-F238E27FC236}">
                <a16:creationId xmlns:a16="http://schemas.microsoft.com/office/drawing/2014/main" id="{0A610F8E-C25E-415B-8264-A255F0A2E6E6}"/>
              </a:ext>
            </a:extLst>
          </p:cNvPr>
          <p:cNvSpPr txBox="1"/>
          <p:nvPr/>
        </p:nvSpPr>
        <p:spPr>
          <a:xfrm>
            <a:off x="1798944" y="1940246"/>
            <a:ext cx="2997680" cy="1669688"/>
          </a:xfrm>
          <a:prstGeom prst="rect">
            <a:avLst/>
          </a:prstGeom>
          <a:noFill/>
        </p:spPr>
        <p:txBody>
          <a:bodyPr wrap="none" rtlCol="0">
            <a:spAutoFit/>
          </a:bodyPr>
          <a:lstStyle/>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Solar variability</a:t>
            </a:r>
          </a:p>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Volcanoes</a:t>
            </a:r>
          </a:p>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Internal variability</a:t>
            </a:r>
          </a:p>
          <a:p>
            <a:pPr marL="342900" indent="-342900">
              <a:spcAft>
                <a:spcPts val="9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Anthropogenic impacts</a:t>
            </a:r>
          </a:p>
        </p:txBody>
      </p:sp>
      <p:sp>
        <p:nvSpPr>
          <p:cNvPr id="10" name="TextBox 9">
            <a:extLst>
              <a:ext uri="{FF2B5EF4-FFF2-40B4-BE49-F238E27FC236}">
                <a16:creationId xmlns:a16="http://schemas.microsoft.com/office/drawing/2014/main" id="{6691D840-7B25-4BC3-8DCE-50E0E82BD817}"/>
              </a:ext>
            </a:extLst>
          </p:cNvPr>
          <p:cNvSpPr txBox="1"/>
          <p:nvPr/>
        </p:nvSpPr>
        <p:spPr>
          <a:xfrm>
            <a:off x="1524000" y="5746574"/>
            <a:ext cx="2408032" cy="276999"/>
          </a:xfrm>
          <a:prstGeom prst="rect">
            <a:avLst/>
          </a:prstGeom>
          <a:noFill/>
        </p:spPr>
        <p:txBody>
          <a:bodyPr wrap="none" rtlCol="0">
            <a:spAutoFit/>
          </a:bodyPr>
          <a:lstStyle/>
          <a:p>
            <a:r>
              <a:rPr lang="en-GB" sz="1200" dirty="0"/>
              <a:t>FAQ5.1, Figure 1, AR5 Full Report</a:t>
            </a:r>
          </a:p>
        </p:txBody>
      </p:sp>
      <p:sp>
        <p:nvSpPr>
          <p:cNvPr id="2" name="TextBox 14">
            <a:extLst>
              <a:ext uri="{FF2B5EF4-FFF2-40B4-BE49-F238E27FC236}">
                <a16:creationId xmlns:a16="http://schemas.microsoft.com/office/drawing/2014/main" id="{27CD63FC-2303-343D-2F13-9A2FBE0962D8}"/>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Other drivers of temperature change</a:t>
            </a:r>
          </a:p>
        </p:txBody>
      </p:sp>
      <p:sp>
        <p:nvSpPr>
          <p:cNvPr id="3" name="Freeform 13">
            <a:extLst>
              <a:ext uri="{FF2B5EF4-FFF2-40B4-BE49-F238E27FC236}">
                <a16:creationId xmlns:a16="http://schemas.microsoft.com/office/drawing/2014/main" id="{755A0844-9983-04AF-4173-E6B39A5D235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Rectangle 3">
            <a:extLst>
              <a:ext uri="{FF2B5EF4-FFF2-40B4-BE49-F238E27FC236}">
                <a16:creationId xmlns:a16="http://schemas.microsoft.com/office/drawing/2014/main" id="{8BDCB0B7-7DF8-10AF-FCC4-B42ACB8EFFFE}"/>
              </a:ext>
            </a:extLst>
          </p:cNvPr>
          <p:cNvSpPr/>
          <p:nvPr/>
        </p:nvSpPr>
        <p:spPr>
          <a:xfrm>
            <a:off x="1309816" y="5746574"/>
            <a:ext cx="3138616" cy="276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1472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imeline&#10;&#10;Description automatically generated">
            <a:extLst>
              <a:ext uri="{FF2B5EF4-FFF2-40B4-BE49-F238E27FC236}">
                <a16:creationId xmlns:a16="http://schemas.microsoft.com/office/drawing/2014/main" id="{54B51BE5-5F08-49F1-9054-632CBD1DDF45}"/>
              </a:ext>
            </a:extLst>
          </p:cNvPr>
          <p:cNvPicPr>
            <a:picLocks noChangeAspect="1"/>
          </p:cNvPicPr>
          <p:nvPr/>
        </p:nvPicPr>
        <p:blipFill rotWithShape="1">
          <a:blip r:embed="rId3">
            <a:extLst>
              <a:ext uri="{28A0092B-C50C-407E-A947-70E740481C1C}">
                <a14:useLocalDpi xmlns:a14="http://schemas.microsoft.com/office/drawing/2010/main" val="0"/>
              </a:ext>
            </a:extLst>
          </a:blip>
          <a:srcRect t="1" b="-2437"/>
          <a:stretch/>
        </p:blipFill>
        <p:spPr>
          <a:xfrm>
            <a:off x="5609968" y="474950"/>
            <a:ext cx="2255320" cy="5331848"/>
          </a:xfrm>
          <a:prstGeom prst="rect">
            <a:avLst/>
          </a:prstGeom>
        </p:spPr>
      </p:pic>
      <p:sp>
        <p:nvSpPr>
          <p:cNvPr id="9" name="TextBox 8">
            <a:extLst>
              <a:ext uri="{FF2B5EF4-FFF2-40B4-BE49-F238E27FC236}">
                <a16:creationId xmlns:a16="http://schemas.microsoft.com/office/drawing/2014/main" id="{0A610F8E-C25E-415B-8264-A255F0A2E6E6}"/>
              </a:ext>
            </a:extLst>
          </p:cNvPr>
          <p:cNvSpPr txBox="1"/>
          <p:nvPr/>
        </p:nvSpPr>
        <p:spPr>
          <a:xfrm>
            <a:off x="389465" y="1881495"/>
            <a:ext cx="4777142" cy="2885405"/>
          </a:xfrm>
          <a:prstGeom prst="rect">
            <a:avLst/>
          </a:prstGeom>
          <a:noFill/>
        </p:spPr>
        <p:txBody>
          <a:bodyPr wrap="none" rtlCol="0">
            <a:spAutoFit/>
          </a:bodyPr>
          <a:lstStyle/>
          <a:p>
            <a:pPr>
              <a:spcAft>
                <a:spcPts val="900"/>
              </a:spcAft>
            </a:pPr>
            <a:r>
              <a:rPr lang="en-GB" altLang="en-US" sz="2400" dirty="0">
                <a:latin typeface="Calibri" panose="020F0502020204030204" pitchFamily="34" charset="0"/>
                <a:cs typeface="Calibri" panose="020F0502020204030204" pitchFamily="34" charset="0"/>
              </a:rPr>
              <a:t>Other drivers of temperature change</a:t>
            </a:r>
          </a:p>
          <a:p>
            <a:pPr>
              <a:spcAft>
                <a:spcPts val="900"/>
              </a:spcAft>
            </a:pPr>
            <a:endParaRPr lang="en-GB" sz="2400" b="1" dirty="0">
              <a:latin typeface="Calibri" panose="020F0502020204030204" pitchFamily="34" charset="0"/>
              <a:cs typeface="Calibri" panose="020F0502020204030204" pitchFamily="34" charset="0"/>
            </a:endParaRPr>
          </a:p>
          <a:p>
            <a:pPr marL="342900" indent="-342900">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Solar variability</a:t>
            </a:r>
          </a:p>
          <a:p>
            <a:pPr marL="342900" indent="-342900">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Volcanoes</a:t>
            </a:r>
          </a:p>
          <a:p>
            <a:pPr marL="342900" indent="-342900">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Internal variability</a:t>
            </a:r>
          </a:p>
          <a:p>
            <a:pPr marL="342900" indent="-342900">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Anthropogenic impacts</a:t>
            </a:r>
          </a:p>
        </p:txBody>
      </p:sp>
      <p:sp>
        <p:nvSpPr>
          <p:cNvPr id="2" name="TextBox 14">
            <a:extLst>
              <a:ext uri="{FF2B5EF4-FFF2-40B4-BE49-F238E27FC236}">
                <a16:creationId xmlns:a16="http://schemas.microsoft.com/office/drawing/2014/main" id="{AA421C83-9D93-14DC-9D6D-E3647E35A568}"/>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Are humans the cause?</a:t>
            </a:r>
          </a:p>
        </p:txBody>
      </p:sp>
      <p:sp>
        <p:nvSpPr>
          <p:cNvPr id="3" name="Freeform 13">
            <a:extLst>
              <a:ext uri="{FF2B5EF4-FFF2-40B4-BE49-F238E27FC236}">
                <a16:creationId xmlns:a16="http://schemas.microsoft.com/office/drawing/2014/main" id="{4EB7C366-0E87-153B-1D6F-59540988393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6" name="TextBox 5">
            <a:extLst>
              <a:ext uri="{FF2B5EF4-FFF2-40B4-BE49-F238E27FC236}">
                <a16:creationId xmlns:a16="http://schemas.microsoft.com/office/drawing/2014/main" id="{21100EE6-E13E-3BC2-1BBB-F1EA2CB6E831}"/>
              </a:ext>
            </a:extLst>
          </p:cNvPr>
          <p:cNvSpPr txBox="1"/>
          <p:nvPr/>
        </p:nvSpPr>
        <p:spPr>
          <a:xfrm>
            <a:off x="389465" y="5767711"/>
            <a:ext cx="8099627" cy="76944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200" b="1" dirty="0">
                <a:solidFill>
                  <a:srgbClr val="FF0000"/>
                </a:solidFill>
                <a:latin typeface="Calibri" panose="020F0502020204030204" pitchFamily="34" charset="0"/>
                <a:cs typeface="Calibri" panose="020F0502020204030204" pitchFamily="34" charset="0"/>
              </a:rPr>
              <a:t>Put all these together, and the only component to have a sustained increased throughout this period is the anthropogenic one.</a:t>
            </a:r>
          </a:p>
        </p:txBody>
      </p:sp>
    </p:spTree>
    <p:extLst>
      <p:ext uri="{BB962C8B-B14F-4D97-AF65-F5344CB8AC3E}">
        <p14:creationId xmlns:p14="http://schemas.microsoft.com/office/powerpoint/2010/main" val="22339865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rcRect b="33038"/>
          <a:stretch>
            <a:fillRect/>
          </a:stretch>
        </p:blipFill>
        <p:spPr>
          <a:xfrm>
            <a:off x="389465" y="1445739"/>
            <a:ext cx="7336552" cy="4903543"/>
          </a:xfrm>
          <a:prstGeom prst="rect">
            <a:avLst/>
          </a:prstGeom>
        </p:spPr>
      </p:pic>
      <p:sp>
        <p:nvSpPr>
          <p:cNvPr id="2" name="Rectangle 1"/>
          <p:cNvSpPr/>
          <p:nvPr/>
        </p:nvSpPr>
        <p:spPr>
          <a:xfrm>
            <a:off x="7726017" y="2743348"/>
            <a:ext cx="4260037"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latin typeface="Calibri" panose="020F0502020204030204" pitchFamily="34" charset="0"/>
                <a:cs typeface="Calibri" panose="020F0502020204030204" pitchFamily="34" charset="0"/>
              </a:rPr>
              <a:t>“It is now very likely that human influence has contributed to observed global scale changes in the frequency and intensity of daily temperature extremes since the mid-20th century, and likely that human influence has more than doubled the probability of occurrence of heat waves in some locations.” IPCC</a:t>
            </a:r>
          </a:p>
        </p:txBody>
      </p:sp>
      <p:sp>
        <p:nvSpPr>
          <p:cNvPr id="3" name="Freeform 13">
            <a:extLst>
              <a:ext uri="{FF2B5EF4-FFF2-40B4-BE49-F238E27FC236}">
                <a16:creationId xmlns:a16="http://schemas.microsoft.com/office/drawing/2014/main" id="{6C6E6EAB-6DE2-0A1B-C1F3-17608E230A8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031677F3-E1C8-FA26-F130-AAD305773532}"/>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Are humans the cause?</a:t>
            </a:r>
          </a:p>
        </p:txBody>
      </p:sp>
      <p:pic>
        <p:nvPicPr>
          <p:cNvPr id="7" name="Picture 6">
            <a:extLst>
              <a:ext uri="{FF2B5EF4-FFF2-40B4-BE49-F238E27FC236}">
                <a16:creationId xmlns:a16="http://schemas.microsoft.com/office/drawing/2014/main" id="{337E7BCA-DEEA-C7E6-3BAE-A22468502453}"/>
              </a:ext>
            </a:extLst>
          </p:cNvPr>
          <p:cNvPicPr>
            <a:picLocks noChangeAspect="1"/>
          </p:cNvPicPr>
          <p:nvPr/>
        </p:nvPicPr>
        <p:blipFill>
          <a:blip r:embed="rId4"/>
          <a:srcRect l="33900" b="-3718"/>
          <a:stretch>
            <a:fillRect/>
          </a:stretch>
        </p:blipFill>
        <p:spPr>
          <a:xfrm>
            <a:off x="4200223" y="1273997"/>
            <a:ext cx="3525794" cy="434682"/>
          </a:xfrm>
          <a:prstGeom prst="rect">
            <a:avLst/>
          </a:prstGeom>
        </p:spPr>
      </p:pic>
      <p:pic>
        <p:nvPicPr>
          <p:cNvPr id="8" name="Picture 7">
            <a:extLst>
              <a:ext uri="{FF2B5EF4-FFF2-40B4-BE49-F238E27FC236}">
                <a16:creationId xmlns:a16="http://schemas.microsoft.com/office/drawing/2014/main" id="{CC4EEDD6-C5D5-98B7-D7A3-CF6D55203B98}"/>
              </a:ext>
            </a:extLst>
          </p:cNvPr>
          <p:cNvPicPr>
            <a:picLocks noChangeAspect="1"/>
          </p:cNvPicPr>
          <p:nvPr/>
        </p:nvPicPr>
        <p:blipFill>
          <a:blip r:embed="rId4"/>
          <a:srcRect l="5116" t="4603" r="70559" b="33009"/>
          <a:stretch>
            <a:fillRect/>
          </a:stretch>
        </p:blipFill>
        <p:spPr>
          <a:xfrm>
            <a:off x="4300151" y="1634538"/>
            <a:ext cx="1297459" cy="261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933575" y="-274864"/>
            <a:ext cx="8730343" cy="1143000"/>
          </a:xfrm>
          <a:prstGeom prst="rect">
            <a:avLst/>
          </a:prstGeom>
          <a:noFill/>
          <a:ln w="9525">
            <a:noFill/>
            <a:miter lim="800000"/>
            <a:headEnd/>
            <a:tailEnd/>
          </a:ln>
        </p:spPr>
        <p:txBody>
          <a:bodyPr lIns="94605" tIns="47303" rIns="94605" bIns="47303" anchor="ctr"/>
          <a:lstStyle/>
          <a:p>
            <a:pPr algn="ctr"/>
            <a:r>
              <a:rPr lang="en-GB" sz="3686" dirty="0">
                <a:solidFill>
                  <a:schemeClr val="bg1"/>
                </a:solidFill>
                <a:latin typeface="Tahoma" pitchFamily="34" charset="0"/>
              </a:rPr>
              <a:t>Latest understanding</a:t>
            </a:r>
          </a:p>
        </p:txBody>
      </p:sp>
      <p:sp>
        <p:nvSpPr>
          <p:cNvPr id="1016836" name="Text Box 4"/>
          <p:cNvSpPr txBox="1">
            <a:spLocks noChangeArrowheads="1"/>
          </p:cNvSpPr>
          <p:nvPr/>
        </p:nvSpPr>
        <p:spPr bwMode="auto">
          <a:xfrm>
            <a:off x="344542" y="1414741"/>
            <a:ext cx="9699171" cy="2371611"/>
          </a:xfrm>
          <a:prstGeom prst="rect">
            <a:avLst/>
          </a:prstGeom>
          <a:noFill/>
          <a:ln w="9525">
            <a:noFill/>
            <a:miter lim="800000"/>
            <a:headEnd/>
            <a:tailEnd/>
          </a:ln>
        </p:spPr>
        <p:txBody>
          <a:bodyPr>
            <a:spAutoFit/>
          </a:bodyPr>
          <a:lstStyle/>
          <a:p>
            <a:r>
              <a:rPr lang="en-GB" sz="2000" i="1" dirty="0">
                <a:latin typeface="Calibri" panose="020F0502020204030204" pitchFamily="34" charset="0"/>
                <a:cs typeface="Calibri" panose="020F0502020204030204" pitchFamily="34" charset="0"/>
              </a:rPr>
              <a:t>IPCC  (paraphrased)</a:t>
            </a:r>
          </a:p>
          <a:p>
            <a:r>
              <a:rPr lang="en-GB" sz="2000" dirty="0">
                <a:latin typeface="Calibri" panose="020F0502020204030204" pitchFamily="34" charset="0"/>
                <a:cs typeface="Calibri" panose="020F0502020204030204" pitchFamily="34" charset="0"/>
              </a:rPr>
              <a:t>Concentrations of greenhouse gases increased markedly</a:t>
            </a:r>
          </a:p>
          <a:p>
            <a:pPr>
              <a:spcBef>
                <a:spcPct val="40000"/>
              </a:spcBef>
            </a:pPr>
            <a:r>
              <a:rPr lang="en-GB" sz="2000" dirty="0">
                <a:latin typeface="Calibri" panose="020F0502020204030204" pitchFamily="34" charset="0"/>
                <a:cs typeface="Calibri" panose="020F0502020204030204" pitchFamily="34" charset="0"/>
              </a:rPr>
              <a:t>Most of observed temperature increase since mid-20th century very likely (90%) due to human-induced greenhouse gas increases</a:t>
            </a:r>
          </a:p>
          <a:p>
            <a:pPr>
              <a:spcBef>
                <a:spcPct val="40000"/>
              </a:spcBef>
            </a:pPr>
            <a:endParaRPr lang="en-GB" sz="2057" dirty="0">
              <a:latin typeface="Arial" charset="0"/>
            </a:endParaRPr>
          </a:p>
          <a:p>
            <a:pPr>
              <a:spcBef>
                <a:spcPct val="40000"/>
              </a:spcBef>
            </a:pPr>
            <a:endParaRPr lang="en-GB" sz="2057" dirty="0">
              <a:latin typeface="Arial" charset="0"/>
            </a:endParaRPr>
          </a:p>
        </p:txBody>
      </p:sp>
      <p:sp>
        <p:nvSpPr>
          <p:cNvPr id="1016837" name="Text Box 5"/>
          <p:cNvSpPr txBox="1">
            <a:spLocks noChangeArrowheads="1"/>
          </p:cNvSpPr>
          <p:nvPr/>
        </p:nvSpPr>
        <p:spPr bwMode="auto">
          <a:xfrm>
            <a:off x="344542" y="3311587"/>
            <a:ext cx="5293398" cy="2862322"/>
          </a:xfrm>
          <a:prstGeom prst="rect">
            <a:avLst/>
          </a:prstGeom>
          <a:noFill/>
          <a:ln w="9525">
            <a:noFill/>
            <a:miter lim="800000"/>
            <a:headEnd/>
            <a:tailEnd/>
          </a:ln>
        </p:spPr>
        <p:txBody>
          <a:bodyPr wrap="square">
            <a:spAutoFit/>
          </a:bodyPr>
          <a:lstStyle/>
          <a:p>
            <a:pPr marL="285750" indent="-285750">
              <a:spcBef>
                <a:spcPct val="4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CO</a:t>
            </a:r>
            <a:r>
              <a:rPr lang="en-GB" sz="2000" baseline="-25000" dirty="0">
                <a:latin typeface="Calibri" panose="020F0502020204030204" pitchFamily="34" charset="0"/>
                <a:cs typeface="Calibri" panose="020F0502020204030204" pitchFamily="34" charset="0"/>
              </a:rPr>
              <a:t>2</a:t>
            </a:r>
            <a:r>
              <a:rPr lang="en-GB" sz="2000" dirty="0">
                <a:latin typeface="Calibri" panose="020F0502020204030204" pitchFamily="34" charset="0"/>
                <a:cs typeface="Calibri" panose="020F0502020204030204" pitchFamily="34" charset="0"/>
              </a:rPr>
              <a:t> primarily due to fossil fuel use</a:t>
            </a:r>
          </a:p>
          <a:p>
            <a:pPr marL="285750" indent="-285750">
              <a:spcBef>
                <a:spcPct val="4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Methane &amp; Nitrous Oxide due to agriculture</a:t>
            </a:r>
          </a:p>
          <a:p>
            <a:pPr marL="285750" indent="-285750">
              <a:spcBef>
                <a:spcPct val="4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Very high confidence (90%) that average impact of humans has been warming</a:t>
            </a:r>
          </a:p>
          <a:p>
            <a:pPr marL="285750" indent="-285750">
              <a:spcBef>
                <a:spcPct val="4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Warming unequivocal</a:t>
            </a:r>
          </a:p>
          <a:p>
            <a:pPr marL="285750" indent="-285750">
              <a:spcBef>
                <a:spcPct val="4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Sea level rise unequivocal</a:t>
            </a:r>
          </a:p>
          <a:p>
            <a:pPr marL="285750" indent="-285750">
              <a:spcBef>
                <a:spcPct val="4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Melting of snow and ice unequivocal</a:t>
            </a:r>
          </a:p>
        </p:txBody>
      </p:sp>
      <p:pic>
        <p:nvPicPr>
          <p:cNvPr id="2" name="Picture 1"/>
          <p:cNvPicPr>
            <a:picLocks noChangeAspect="1"/>
          </p:cNvPicPr>
          <p:nvPr/>
        </p:nvPicPr>
        <p:blipFill>
          <a:blip r:embed="rId4"/>
          <a:srcRect l="5049"/>
          <a:stretch>
            <a:fillRect/>
          </a:stretch>
        </p:blipFill>
        <p:spPr>
          <a:xfrm>
            <a:off x="5520690" y="2721022"/>
            <a:ext cx="5965686" cy="3764990"/>
          </a:xfrm>
          <a:prstGeom prst="rect">
            <a:avLst/>
          </a:prstGeom>
          <a:solidFill>
            <a:schemeClr val="bg1"/>
          </a:solidFill>
          <a:ln>
            <a:solidFill>
              <a:schemeClr val="tx1"/>
            </a:solidFill>
          </a:ln>
        </p:spPr>
      </p:pic>
      <p:sp>
        <p:nvSpPr>
          <p:cNvPr id="3" name="Freeform 13">
            <a:extLst>
              <a:ext uri="{FF2B5EF4-FFF2-40B4-BE49-F238E27FC236}">
                <a16:creationId xmlns:a16="http://schemas.microsoft.com/office/drawing/2014/main" id="{AE8F740F-3E1F-B853-ABC5-CE7F0C004B1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defTabSz="609630">
              <a:defRPr/>
            </a:pPr>
            <a:endParaRPr lang="en-GB" sz="1200">
              <a:solidFill>
                <a:prstClr val="black"/>
              </a:solidFill>
              <a:latin typeface="DM Sans" pitchFamily="2" charset="0"/>
            </a:endParaRPr>
          </a:p>
        </p:txBody>
      </p:sp>
      <p:sp>
        <p:nvSpPr>
          <p:cNvPr id="4" name="TextBox 14">
            <a:extLst>
              <a:ext uri="{FF2B5EF4-FFF2-40B4-BE49-F238E27FC236}">
                <a16:creationId xmlns:a16="http://schemas.microsoft.com/office/drawing/2014/main" id="{2C69F331-D477-697D-7812-38E7F58967F7}"/>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Are humans the cause?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6836">
                                            <p:txEl>
                                              <p:pRg st="0" end="0"/>
                                            </p:txEl>
                                          </p:spTgt>
                                        </p:tgtEl>
                                        <p:attrNameLst>
                                          <p:attrName>style.visibility</p:attrName>
                                        </p:attrNameLst>
                                      </p:cBhvr>
                                      <p:to>
                                        <p:strVal val="visible"/>
                                      </p:to>
                                    </p:set>
                                    <p:animEffect transition="in" filter="fade">
                                      <p:cBhvr>
                                        <p:cTn id="7" dur="500"/>
                                        <p:tgtEl>
                                          <p:spTgt spid="10168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16836">
                                            <p:txEl>
                                              <p:pRg st="1" end="1"/>
                                            </p:txEl>
                                          </p:spTgt>
                                        </p:tgtEl>
                                        <p:attrNameLst>
                                          <p:attrName>style.visibility</p:attrName>
                                        </p:attrNameLst>
                                      </p:cBhvr>
                                      <p:to>
                                        <p:strVal val="visible"/>
                                      </p:to>
                                    </p:set>
                                    <p:animEffect transition="in" filter="fade">
                                      <p:cBhvr>
                                        <p:cTn id="12" dur="500"/>
                                        <p:tgtEl>
                                          <p:spTgt spid="10168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16836">
                                            <p:txEl>
                                              <p:pRg st="2" end="2"/>
                                            </p:txEl>
                                          </p:spTgt>
                                        </p:tgtEl>
                                        <p:attrNameLst>
                                          <p:attrName>style.visibility</p:attrName>
                                        </p:attrNameLst>
                                      </p:cBhvr>
                                      <p:to>
                                        <p:strVal val="visible"/>
                                      </p:to>
                                    </p:set>
                                    <p:animEffect transition="in" filter="fade">
                                      <p:cBhvr>
                                        <p:cTn id="17" dur="500"/>
                                        <p:tgtEl>
                                          <p:spTgt spid="10168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16837">
                                            <p:txEl>
                                              <p:pRg st="0" end="0"/>
                                            </p:txEl>
                                          </p:spTgt>
                                        </p:tgtEl>
                                        <p:attrNameLst>
                                          <p:attrName>style.visibility</p:attrName>
                                        </p:attrNameLst>
                                      </p:cBhvr>
                                      <p:to>
                                        <p:strVal val="visible"/>
                                      </p:to>
                                    </p:set>
                                    <p:animEffect transition="in" filter="fade">
                                      <p:cBhvr>
                                        <p:cTn id="26" dur="500"/>
                                        <p:tgtEl>
                                          <p:spTgt spid="1016837">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16837">
                                            <p:txEl>
                                              <p:pRg st="1" end="1"/>
                                            </p:txEl>
                                          </p:spTgt>
                                        </p:tgtEl>
                                        <p:attrNameLst>
                                          <p:attrName>style.visibility</p:attrName>
                                        </p:attrNameLst>
                                      </p:cBhvr>
                                      <p:to>
                                        <p:strVal val="visible"/>
                                      </p:to>
                                    </p:set>
                                    <p:animEffect transition="in" filter="fade">
                                      <p:cBhvr>
                                        <p:cTn id="31" dur="500"/>
                                        <p:tgtEl>
                                          <p:spTgt spid="1016837">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16837">
                                            <p:txEl>
                                              <p:pRg st="2" end="2"/>
                                            </p:txEl>
                                          </p:spTgt>
                                        </p:tgtEl>
                                        <p:attrNameLst>
                                          <p:attrName>style.visibility</p:attrName>
                                        </p:attrNameLst>
                                      </p:cBhvr>
                                      <p:to>
                                        <p:strVal val="visible"/>
                                      </p:to>
                                    </p:set>
                                    <p:animEffect transition="in" filter="fade">
                                      <p:cBhvr>
                                        <p:cTn id="36" dur="500"/>
                                        <p:tgtEl>
                                          <p:spTgt spid="1016837">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16837">
                                            <p:txEl>
                                              <p:pRg st="3" end="3"/>
                                            </p:txEl>
                                          </p:spTgt>
                                        </p:tgtEl>
                                        <p:attrNameLst>
                                          <p:attrName>style.visibility</p:attrName>
                                        </p:attrNameLst>
                                      </p:cBhvr>
                                      <p:to>
                                        <p:strVal val="visible"/>
                                      </p:to>
                                    </p:set>
                                    <p:animEffect transition="in" filter="fade">
                                      <p:cBhvr>
                                        <p:cTn id="41" dur="500"/>
                                        <p:tgtEl>
                                          <p:spTgt spid="1016837">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16837">
                                            <p:txEl>
                                              <p:pRg st="4" end="4"/>
                                            </p:txEl>
                                          </p:spTgt>
                                        </p:tgtEl>
                                        <p:attrNameLst>
                                          <p:attrName>style.visibility</p:attrName>
                                        </p:attrNameLst>
                                      </p:cBhvr>
                                      <p:to>
                                        <p:strVal val="visible"/>
                                      </p:to>
                                    </p:set>
                                    <p:animEffect transition="in" filter="fade">
                                      <p:cBhvr>
                                        <p:cTn id="46" dur="500"/>
                                        <p:tgtEl>
                                          <p:spTgt spid="1016837">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16837">
                                            <p:txEl>
                                              <p:pRg st="5" end="5"/>
                                            </p:txEl>
                                          </p:spTgt>
                                        </p:tgtEl>
                                        <p:attrNameLst>
                                          <p:attrName>style.visibility</p:attrName>
                                        </p:attrNameLst>
                                      </p:cBhvr>
                                      <p:to>
                                        <p:strVal val="visible"/>
                                      </p:to>
                                    </p:set>
                                    <p:animEffect transition="in" filter="fade">
                                      <p:cBhvr>
                                        <p:cTn id="51" dur="500"/>
                                        <p:tgtEl>
                                          <p:spTgt spid="101683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6836" grpId="0" build="p"/>
      <p:bldP spid="101683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07537-7671-C3C5-190C-480AF30A0734}"/>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F6E8BDC-A562-EF5D-98AF-073792020363}"/>
              </a:ext>
            </a:extLst>
          </p:cNvPr>
          <p:cNvSpPr>
            <a:spLocks noGrp="1"/>
          </p:cNvSpPr>
          <p:nvPr>
            <p:ph idx="1"/>
          </p:nvPr>
        </p:nvSpPr>
        <p:spPr>
          <a:xfrm>
            <a:off x="4380162" y="1445447"/>
            <a:ext cx="7587048" cy="4640339"/>
          </a:xfrm>
        </p:spPr>
        <p:txBody>
          <a:bodyPr>
            <a:noAutofit/>
          </a:bodyPr>
          <a:lstStyle/>
          <a:p>
            <a:r>
              <a:rPr lang="en-GB" sz="1800" b="1" dirty="0">
                <a:latin typeface="Calibri" panose="020F0502020204030204" pitchFamily="34" charset="0"/>
                <a:cs typeface="Calibri" panose="020F0502020204030204" pitchFamily="34" charset="0"/>
              </a:rPr>
              <a:t>All climate measurements contain uncertainty</a:t>
            </a:r>
            <a:r>
              <a:rPr lang="en-GB" sz="1800" dirty="0">
                <a:latin typeface="Calibri" panose="020F0502020204030204" pitchFamily="34" charset="0"/>
                <a:cs typeface="Calibri" panose="020F0502020204030204" pitchFamily="34" charset="0"/>
              </a:rPr>
              <a:t>, arising from instrument limits, calibration, and interpretation.</a:t>
            </a:r>
          </a:p>
          <a:p>
            <a:r>
              <a:rPr lang="en-GB" sz="1800" b="1" dirty="0">
                <a:latin typeface="Calibri" panose="020F0502020204030204" pitchFamily="34" charset="0"/>
                <a:cs typeface="Calibri" panose="020F0502020204030204" pitchFamily="34" charset="0"/>
              </a:rPr>
              <a:t>Uncertainty increases further back in time</a:t>
            </a:r>
            <a:r>
              <a:rPr lang="en-GB" sz="1800" dirty="0">
                <a:latin typeface="Calibri" panose="020F0502020204030204" pitchFamily="34" charset="0"/>
                <a:cs typeface="Calibri" panose="020F0502020204030204" pitchFamily="34" charset="0"/>
              </a:rPr>
              <a:t>:</a:t>
            </a:r>
          </a:p>
          <a:p>
            <a:pPr lvl="1"/>
            <a:r>
              <a:rPr lang="en-GB" sz="1800" dirty="0">
                <a:latin typeface="Calibri" panose="020F0502020204030204" pitchFamily="34" charset="0"/>
                <a:cs typeface="Calibri" panose="020F0502020204030204" pitchFamily="34" charset="0"/>
              </a:rPr>
              <a:t>Instrumental records (last ~150 years): high accuracy, high temporal resolution</a:t>
            </a:r>
          </a:p>
          <a:p>
            <a:pPr lvl="1"/>
            <a:r>
              <a:rPr lang="en-GB" sz="1800" dirty="0">
                <a:latin typeface="Calibri" panose="020F0502020204030204" pitchFamily="34" charset="0"/>
                <a:cs typeface="Calibri" panose="020F0502020204030204" pitchFamily="34" charset="0"/>
              </a:rPr>
              <a:t>Historical records: lower accuracy and lower temporal resolution</a:t>
            </a:r>
          </a:p>
          <a:p>
            <a:r>
              <a:rPr lang="en-GB" sz="1800" b="1" dirty="0">
                <a:latin typeface="Calibri" panose="020F0502020204030204" pitchFamily="34" charset="0"/>
                <a:cs typeface="Calibri" panose="020F0502020204030204" pitchFamily="34" charset="0"/>
              </a:rPr>
              <a:t>Temporal resolution decreases with age</a:t>
            </a:r>
            <a:r>
              <a:rPr lang="en-GB" sz="1800" dirty="0">
                <a:latin typeface="Calibri" panose="020F0502020204030204" pitchFamily="34" charset="0"/>
                <a:cs typeface="Calibri" panose="020F0502020204030204" pitchFamily="34" charset="0"/>
              </a:rPr>
              <a:t>:</a:t>
            </a:r>
          </a:p>
          <a:p>
            <a:pPr lvl="1"/>
            <a:r>
              <a:rPr lang="en-GB" sz="1800" dirty="0">
                <a:latin typeface="Calibri" panose="020F0502020204030204" pitchFamily="34" charset="0"/>
                <a:cs typeface="Calibri" panose="020F0502020204030204" pitchFamily="34" charset="0"/>
              </a:rPr>
              <a:t>Ice cores: annual layers near the surface → multi-decadal to millennial averaging at depth</a:t>
            </a:r>
          </a:p>
          <a:p>
            <a:pPr lvl="1"/>
            <a:r>
              <a:rPr lang="en-GB" sz="1800" dirty="0">
                <a:latin typeface="Calibri" panose="020F0502020204030204" pitchFamily="34" charset="0"/>
                <a:cs typeface="Calibri" panose="020F0502020204030204" pitchFamily="34" charset="0"/>
              </a:rPr>
              <a:t>Marine &amp; lake sediments: often integrate signals over centuries or longer</a:t>
            </a:r>
          </a:p>
          <a:p>
            <a:r>
              <a:rPr lang="en-GB" sz="1800" b="1" dirty="0">
                <a:latin typeface="Calibri" panose="020F0502020204030204" pitchFamily="34" charset="0"/>
                <a:cs typeface="Calibri" panose="020F0502020204030204" pitchFamily="34" charset="0"/>
              </a:rPr>
              <a:t>Climate proxies have intrinsic uncertainties</a:t>
            </a:r>
            <a:r>
              <a:rPr lang="en-GB" sz="1800" dirty="0">
                <a:latin typeface="Calibri" panose="020F0502020204030204" pitchFamily="34" charset="0"/>
                <a:cs typeface="Calibri" panose="020F0502020204030204" pitchFamily="34" charset="0"/>
              </a:rPr>
              <a:t>:</a:t>
            </a:r>
          </a:p>
          <a:p>
            <a:pPr lvl="1"/>
            <a:r>
              <a:rPr lang="en-GB" sz="1800" dirty="0">
                <a:latin typeface="Calibri" panose="020F0502020204030204" pitchFamily="34" charset="0"/>
                <a:cs typeface="Calibri" panose="020F0502020204030204" pitchFamily="34" charset="0"/>
              </a:rPr>
              <a:t>Proxies (e.g. tree rings, ice cores, corals, sediments) record indirect climate signals</a:t>
            </a:r>
          </a:p>
          <a:p>
            <a:pPr lvl="1"/>
            <a:r>
              <a:rPr lang="en-GB" sz="1800" dirty="0">
                <a:latin typeface="Calibri" panose="020F0502020204030204" pitchFamily="34" charset="0"/>
                <a:cs typeface="Calibri" panose="020F0502020204030204" pitchFamily="34" charset="0"/>
              </a:rPr>
              <a:t>Each proxy responds to multiple environmental factors, not just temperature e.g. tree rings reflect moisture, nutrients, CO₂, and disturbance as well as temperature</a:t>
            </a:r>
          </a:p>
        </p:txBody>
      </p:sp>
      <p:sp>
        <p:nvSpPr>
          <p:cNvPr id="7" name="TextBox 14">
            <a:extLst>
              <a:ext uri="{FF2B5EF4-FFF2-40B4-BE49-F238E27FC236}">
                <a16:creationId xmlns:a16="http://schemas.microsoft.com/office/drawing/2014/main" id="{F3E87854-1443-857B-7DAF-07862CEBB4A8}"/>
              </a:ext>
            </a:extLst>
          </p:cNvPr>
          <p:cNvSpPr txBox="1"/>
          <p:nvPr/>
        </p:nvSpPr>
        <p:spPr>
          <a:xfrm>
            <a:off x="4380162" y="683884"/>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Measurements Summary</a:t>
            </a:r>
          </a:p>
        </p:txBody>
      </p:sp>
      <p:pic>
        <p:nvPicPr>
          <p:cNvPr id="6" name="Picture 5" descr="A black smoke billowing from a city&#10;&#10;AI-generated content may be incorrect.">
            <a:extLst>
              <a:ext uri="{FF2B5EF4-FFF2-40B4-BE49-F238E27FC236}">
                <a16:creationId xmlns:a16="http://schemas.microsoft.com/office/drawing/2014/main" id="{0A67DB69-9F0A-5665-FA06-B1ADE76FAE7F}"/>
              </a:ext>
            </a:extLst>
          </p:cNvPr>
          <p:cNvPicPr>
            <a:picLocks noChangeAspect="1"/>
          </p:cNvPicPr>
          <p:nvPr/>
        </p:nvPicPr>
        <p:blipFill>
          <a:blip r:embed="rId3"/>
          <a:srcRect l="48356" r="17651"/>
          <a:stretch>
            <a:fillRect/>
          </a:stretch>
        </p:blipFill>
        <p:spPr>
          <a:xfrm>
            <a:off x="20" y="-1"/>
            <a:ext cx="4143544" cy="6856413"/>
          </a:xfrm>
          <a:custGeom>
            <a:avLst/>
            <a:gdLst/>
            <a:ahLst/>
            <a:cxnLst/>
            <a:rect l="l" t="t" r="r" b="b"/>
            <a:pathLst>
              <a:path w="4143564" h="6856413">
                <a:moveTo>
                  <a:pt x="0" y="0"/>
                </a:moveTo>
                <a:lnTo>
                  <a:pt x="4141667" y="0"/>
                </a:lnTo>
                <a:lnTo>
                  <a:pt x="4141086" y="145208"/>
                </a:lnTo>
                <a:cubicBezTo>
                  <a:pt x="4109790" y="1611281"/>
                  <a:pt x="3796834" y="3077353"/>
                  <a:pt x="4047199" y="4543426"/>
                </a:cubicBezTo>
                <a:cubicBezTo>
                  <a:pt x="4172382" y="5276463"/>
                  <a:pt x="4156734" y="6009499"/>
                  <a:pt x="4105878" y="6742536"/>
                </a:cubicBezTo>
                <a:lnTo>
                  <a:pt x="4096763" y="6856413"/>
                </a:lnTo>
                <a:lnTo>
                  <a:pt x="0" y="6856413"/>
                </a:lnTo>
                <a:close/>
              </a:path>
            </a:pathLst>
          </a:custGeom>
        </p:spPr>
      </p:pic>
    </p:spTree>
    <p:extLst>
      <p:ext uri="{BB962C8B-B14F-4D97-AF65-F5344CB8AC3E}">
        <p14:creationId xmlns:p14="http://schemas.microsoft.com/office/powerpoint/2010/main" val="3248793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4">
            <a:extLst>
              <a:ext uri="{FF2B5EF4-FFF2-40B4-BE49-F238E27FC236}">
                <a16:creationId xmlns:a16="http://schemas.microsoft.com/office/drawing/2014/main" id="{35A9852A-9097-5379-82B3-26E017E4A9B1}"/>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a:ln>
                  <a:noFill/>
                </a:ln>
                <a:solidFill>
                  <a:srgbClr val="46245A"/>
                </a:solidFill>
                <a:effectLst/>
                <a:uLnTx/>
                <a:uFillTx/>
                <a:latin typeface="DM Sans Bold"/>
                <a:ea typeface="ＭＳ Ｐゴシック" panose="020B0600070205080204" pitchFamily="34" charset="-128"/>
                <a:cs typeface="+mn-cs"/>
              </a:rPr>
              <a:t>Remaining Uncertainties </a:t>
            </a:r>
            <a:endPar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endParaRPr>
          </a:p>
        </p:txBody>
      </p:sp>
      <p:sp>
        <p:nvSpPr>
          <p:cNvPr id="4" name="TextBox 3">
            <a:extLst>
              <a:ext uri="{FF2B5EF4-FFF2-40B4-BE49-F238E27FC236}">
                <a16:creationId xmlns:a16="http://schemas.microsoft.com/office/drawing/2014/main" id="{5293B422-14C9-BC30-39F9-1A7D658F5F77}"/>
              </a:ext>
            </a:extLst>
          </p:cNvPr>
          <p:cNvSpPr txBox="1"/>
          <p:nvPr/>
        </p:nvSpPr>
        <p:spPr>
          <a:xfrm>
            <a:off x="389465" y="1512888"/>
            <a:ext cx="6041815" cy="5078313"/>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Whilst we are very certain that anthropogenic forcings are driving the climate change we are seeing, our understanding of global climate change is not perfect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Here we will discuss some remaining uncertainties we have…..some of that come from </a:t>
            </a:r>
            <a:r>
              <a:rPr lang="en-US" b="1" dirty="0">
                <a:latin typeface="Calibri" panose="020F0502020204030204" pitchFamily="34" charset="0"/>
                <a:cs typeface="Calibri" panose="020F0502020204030204" pitchFamily="34" charset="0"/>
              </a:rPr>
              <a:t>measurements</a:t>
            </a:r>
          </a:p>
          <a:p>
            <a:endParaRPr lang="en-US"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Data gaps</a:t>
            </a:r>
          </a:p>
          <a:p>
            <a:r>
              <a:rPr lang="en-GB" b="1" dirty="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We have more measurements...</a:t>
            </a:r>
            <a:endParaRPr lang="en-GB" b="1" dirty="0">
              <a:latin typeface="Calibri" panose="020F0502020204030204" pitchFamily="34" charset="0"/>
              <a:cs typeface="Calibri" panose="020F0502020204030204" pitchFamily="34" charset="0"/>
            </a:endParaRPr>
          </a:p>
          <a:p>
            <a:pPr marL="557213" lvl="1" indent="-214313">
              <a:buFont typeface="Arial" panose="020B0604020202020204" pitchFamily="34" charset="0"/>
              <a:buChar char="•"/>
            </a:pPr>
            <a:r>
              <a:rPr lang="en-GB" dirty="0">
                <a:latin typeface="Calibri" panose="020F0502020204030204" pitchFamily="34" charset="0"/>
                <a:cs typeface="Calibri" panose="020F0502020204030204" pitchFamily="34" charset="0"/>
              </a:rPr>
              <a:t>now than in the past,</a:t>
            </a:r>
          </a:p>
          <a:p>
            <a:pPr marL="557213" lvl="1" indent="-214313">
              <a:buFont typeface="Arial" panose="020B0604020202020204" pitchFamily="34" charset="0"/>
              <a:buChar char="•"/>
            </a:pPr>
            <a:r>
              <a:rPr lang="en-GB" dirty="0">
                <a:latin typeface="Calibri" panose="020F0502020204030204" pitchFamily="34" charset="0"/>
                <a:cs typeface="Calibri" panose="020F0502020204030204" pitchFamily="34" charset="0"/>
              </a:rPr>
              <a:t>close to the surface compared to higher up</a:t>
            </a:r>
          </a:p>
          <a:p>
            <a:pPr marL="557213" lvl="1" indent="-214313">
              <a:buFont typeface="Arial" panose="020B0604020202020204" pitchFamily="34" charset="0"/>
              <a:buChar char="•"/>
            </a:pPr>
            <a:r>
              <a:rPr lang="en-GB" dirty="0">
                <a:latin typeface="Calibri" panose="020F0502020204030204" pitchFamily="34" charset="0"/>
                <a:cs typeface="Calibri" panose="020F0502020204030204" pitchFamily="34" charset="0"/>
              </a:rPr>
              <a:t>Top of the ocean vs bottom </a:t>
            </a:r>
          </a:p>
          <a:p>
            <a:pPr marL="557213" lvl="1" indent="-214313">
              <a:buFont typeface="Arial" panose="020B0604020202020204" pitchFamily="34" charset="0"/>
              <a:buChar char="•"/>
            </a:pPr>
            <a:r>
              <a:rPr lang="en-GB" dirty="0">
                <a:latin typeface="Calibri" panose="020F0502020204030204" pitchFamily="34" charset="0"/>
                <a:cs typeface="Calibri" panose="020F0502020204030204" pitchFamily="34" charset="0"/>
              </a:rPr>
              <a:t>of ‘simpler’ variables (temperature, pressure) compared to ice, tree cover, etc.</a:t>
            </a:r>
          </a:p>
          <a:p>
            <a:pPr marL="557213" lvl="1" indent="-214313">
              <a:buFont typeface="Arial" panose="020B0604020202020204" pitchFamily="34" charset="0"/>
              <a:buChar char="•"/>
            </a:pPr>
            <a:r>
              <a:rPr lang="en-GB" dirty="0">
                <a:latin typeface="Calibri" panose="020F0502020204030204" pitchFamily="34" charset="0"/>
                <a:cs typeface="Calibri" panose="020F0502020204030204" pitchFamily="34" charset="0"/>
              </a:rPr>
              <a:t>over land compared to the ocean, and in the northern hemisphere, compared to the tropics and southern hemisphere.</a:t>
            </a:r>
          </a:p>
          <a:p>
            <a:endParaRPr lang="en-US" dirty="0"/>
          </a:p>
        </p:txBody>
      </p:sp>
      <p:pic>
        <p:nvPicPr>
          <p:cNvPr id="9" name="Picture 8">
            <a:extLst>
              <a:ext uri="{FF2B5EF4-FFF2-40B4-BE49-F238E27FC236}">
                <a16:creationId xmlns:a16="http://schemas.microsoft.com/office/drawing/2014/main" id="{403C3289-B475-29CB-F02F-276A3ABA33F2}"/>
              </a:ext>
            </a:extLst>
          </p:cNvPr>
          <p:cNvPicPr>
            <a:picLocks noChangeAspect="1"/>
          </p:cNvPicPr>
          <p:nvPr/>
        </p:nvPicPr>
        <p:blipFill>
          <a:blip r:embed="rId3"/>
          <a:srcRect l="10571" r="31391"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10" name="Freeform 13">
            <a:extLst>
              <a:ext uri="{FF2B5EF4-FFF2-40B4-BE49-F238E27FC236}">
                <a16:creationId xmlns:a16="http://schemas.microsoft.com/office/drawing/2014/main" id="{8BCD11A7-D988-A279-7AFC-51010C8CA2C6}"/>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13093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6452230-563B-410E-AC2F-8278A17D34C6}"/>
              </a:ext>
            </a:extLst>
          </p:cNvPr>
          <p:cNvSpPr txBox="1"/>
          <p:nvPr/>
        </p:nvSpPr>
        <p:spPr>
          <a:xfrm>
            <a:off x="1898240" y="1885950"/>
            <a:ext cx="1650324" cy="461665"/>
          </a:xfrm>
          <a:prstGeom prst="rect">
            <a:avLst/>
          </a:prstGeom>
          <a:noFill/>
        </p:spPr>
        <p:txBody>
          <a:bodyPr wrap="none" rtlCol="0">
            <a:spAutoFit/>
          </a:bodyPr>
          <a:lstStyle/>
          <a:p>
            <a:pPr marL="214313" indent="-214313">
              <a:buFont typeface="Arial" panose="020B0604020202020204" pitchFamily="34" charset="0"/>
              <a:buChar char="•"/>
            </a:pPr>
            <a:r>
              <a:rPr lang="en-GB" sz="2400" b="1" dirty="0">
                <a:latin typeface="Calibri" panose="020F0502020204030204" pitchFamily="34" charset="0"/>
                <a:cs typeface="Calibri" panose="020F0502020204030204" pitchFamily="34" charset="0"/>
              </a:rPr>
              <a:t>Data gaps</a:t>
            </a:r>
          </a:p>
        </p:txBody>
      </p:sp>
      <p:pic>
        <p:nvPicPr>
          <p:cNvPr id="4" name="Picture 3" descr="A picture containing plate&#10;&#10;Description automatically generated">
            <a:extLst>
              <a:ext uri="{FF2B5EF4-FFF2-40B4-BE49-F238E27FC236}">
                <a16:creationId xmlns:a16="http://schemas.microsoft.com/office/drawing/2014/main" id="{943B3A2D-E03E-4A4C-867B-6AD360F6E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8546" y="2454581"/>
            <a:ext cx="6371303" cy="3185651"/>
          </a:xfrm>
          <a:prstGeom prst="rect">
            <a:avLst/>
          </a:prstGeom>
        </p:spPr>
      </p:pic>
      <p:sp>
        <p:nvSpPr>
          <p:cNvPr id="3" name="TextBox 2">
            <a:extLst>
              <a:ext uri="{FF2B5EF4-FFF2-40B4-BE49-F238E27FC236}">
                <a16:creationId xmlns:a16="http://schemas.microsoft.com/office/drawing/2014/main" id="{E46E029F-CFD8-4DB0-8BCC-E073A80ACC53}"/>
              </a:ext>
            </a:extLst>
          </p:cNvPr>
          <p:cNvSpPr txBox="1"/>
          <p:nvPr/>
        </p:nvSpPr>
        <p:spPr>
          <a:xfrm>
            <a:off x="5531012" y="5734812"/>
            <a:ext cx="4788427" cy="400110"/>
          </a:xfrm>
          <a:prstGeom prst="rect">
            <a:avLst/>
          </a:prstGeom>
          <a:noFill/>
        </p:spPr>
        <p:txBody>
          <a:bodyPr wrap="none" rtlCol="0">
            <a:spAutoFit/>
          </a:bodyPr>
          <a:lstStyle/>
          <a:p>
            <a:r>
              <a:rPr lang="en-GB" sz="2000" dirty="0">
                <a:latin typeface="Calibri" panose="020F0502020204030204" pitchFamily="34" charset="0"/>
                <a:cs typeface="Calibri" panose="020F0502020204030204" pitchFamily="34" charset="0"/>
              </a:rPr>
              <a:t>Ground station coverage (image from NASA)</a:t>
            </a:r>
          </a:p>
        </p:txBody>
      </p:sp>
      <p:sp>
        <p:nvSpPr>
          <p:cNvPr id="8" name="TextBox 14">
            <a:extLst>
              <a:ext uri="{FF2B5EF4-FFF2-40B4-BE49-F238E27FC236}">
                <a16:creationId xmlns:a16="http://schemas.microsoft.com/office/drawing/2014/main" id="{2C1A8819-83BB-60E0-6854-BC03981FA72D}"/>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 Uncertainties</a:t>
            </a:r>
          </a:p>
        </p:txBody>
      </p:sp>
      <p:sp>
        <p:nvSpPr>
          <p:cNvPr id="2" name="Freeform 13">
            <a:extLst>
              <a:ext uri="{FF2B5EF4-FFF2-40B4-BE49-F238E27FC236}">
                <a16:creationId xmlns:a16="http://schemas.microsoft.com/office/drawing/2014/main" id="{124D148D-9D08-FADD-23BF-098F9458926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75978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plate&#10;&#10;Description automatically generated">
            <a:extLst>
              <a:ext uri="{FF2B5EF4-FFF2-40B4-BE49-F238E27FC236}">
                <a16:creationId xmlns:a16="http://schemas.microsoft.com/office/drawing/2014/main" id="{48760945-4A91-4E10-9232-255D7816E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8546" y="2454581"/>
            <a:ext cx="6371303" cy="3185651"/>
          </a:xfrm>
          <a:prstGeom prst="rect">
            <a:avLst/>
          </a:prstGeom>
        </p:spPr>
      </p:pic>
      <p:sp>
        <p:nvSpPr>
          <p:cNvPr id="6" name="TextBox 5">
            <a:extLst>
              <a:ext uri="{FF2B5EF4-FFF2-40B4-BE49-F238E27FC236}">
                <a16:creationId xmlns:a16="http://schemas.microsoft.com/office/drawing/2014/main" id="{56452230-563B-410E-AC2F-8278A17D34C6}"/>
              </a:ext>
            </a:extLst>
          </p:cNvPr>
          <p:cNvSpPr txBox="1"/>
          <p:nvPr/>
        </p:nvSpPr>
        <p:spPr>
          <a:xfrm>
            <a:off x="1898240" y="1885950"/>
            <a:ext cx="2503827" cy="946413"/>
          </a:xfrm>
          <a:prstGeom prst="rect">
            <a:avLst/>
          </a:prstGeom>
          <a:noFill/>
        </p:spPr>
        <p:txBody>
          <a:bodyPr wrap="none" rtlCol="0">
            <a:spAutoFit/>
          </a:bodyPr>
          <a:lstStyle/>
          <a:p>
            <a:pPr marL="214313" indent="-214313">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Data gaps</a:t>
            </a:r>
          </a:p>
          <a:p>
            <a:pPr marL="214313" indent="-214313">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Representativity</a:t>
            </a:r>
          </a:p>
        </p:txBody>
      </p:sp>
      <p:sp>
        <p:nvSpPr>
          <p:cNvPr id="7" name="TextBox 6">
            <a:extLst>
              <a:ext uri="{FF2B5EF4-FFF2-40B4-BE49-F238E27FC236}">
                <a16:creationId xmlns:a16="http://schemas.microsoft.com/office/drawing/2014/main" id="{1E63FB49-73B7-4037-9920-A2C1CE40D274}"/>
              </a:ext>
            </a:extLst>
          </p:cNvPr>
          <p:cNvSpPr txBox="1"/>
          <p:nvPr/>
        </p:nvSpPr>
        <p:spPr>
          <a:xfrm>
            <a:off x="5531012" y="5734812"/>
            <a:ext cx="4788427" cy="400110"/>
          </a:xfrm>
          <a:prstGeom prst="rect">
            <a:avLst/>
          </a:prstGeom>
          <a:noFill/>
        </p:spPr>
        <p:txBody>
          <a:bodyPr wrap="none" rtlCol="0">
            <a:spAutoFit/>
          </a:bodyPr>
          <a:lstStyle/>
          <a:p>
            <a:r>
              <a:rPr lang="en-GB" sz="2000" dirty="0">
                <a:latin typeface="Calibri" panose="020F0502020204030204" pitchFamily="34" charset="0"/>
                <a:cs typeface="Calibri" panose="020F0502020204030204" pitchFamily="34" charset="0"/>
              </a:rPr>
              <a:t>Ground station coverage (image from NASA)</a:t>
            </a:r>
          </a:p>
        </p:txBody>
      </p:sp>
      <p:sp>
        <p:nvSpPr>
          <p:cNvPr id="2" name="Freeform 13">
            <a:extLst>
              <a:ext uri="{FF2B5EF4-FFF2-40B4-BE49-F238E27FC236}">
                <a16:creationId xmlns:a16="http://schemas.microsoft.com/office/drawing/2014/main" id="{01096427-DACE-163E-AE65-75A467822ABB}"/>
              </a:ext>
            </a:extLst>
          </p:cNvPr>
          <p:cNvSpPr/>
          <p:nvPr/>
        </p:nvSpPr>
        <p:spPr>
          <a:xfrm>
            <a:off x="9762994" y="356406"/>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TextBox 14">
            <a:extLst>
              <a:ext uri="{FF2B5EF4-FFF2-40B4-BE49-F238E27FC236}">
                <a16:creationId xmlns:a16="http://schemas.microsoft.com/office/drawing/2014/main" id="{8C77B945-88E5-7D60-61FF-8457A4C553AC}"/>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 Uncertainties</a:t>
            </a:r>
          </a:p>
        </p:txBody>
      </p:sp>
    </p:spTree>
    <p:extLst>
      <p:ext uri="{BB962C8B-B14F-4D97-AF65-F5344CB8AC3E}">
        <p14:creationId xmlns:p14="http://schemas.microsoft.com/office/powerpoint/2010/main" val="2208279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6452230-563B-410E-AC2F-8278A17D34C6}"/>
              </a:ext>
            </a:extLst>
          </p:cNvPr>
          <p:cNvSpPr txBox="1"/>
          <p:nvPr/>
        </p:nvSpPr>
        <p:spPr>
          <a:xfrm>
            <a:off x="1898240" y="1885950"/>
            <a:ext cx="2503827" cy="946413"/>
          </a:xfrm>
          <a:prstGeom prst="rect">
            <a:avLst/>
          </a:prstGeom>
          <a:noFill/>
        </p:spPr>
        <p:txBody>
          <a:bodyPr wrap="none" rtlCol="0">
            <a:spAutoFit/>
          </a:bodyPr>
          <a:lstStyle/>
          <a:p>
            <a:pPr marL="214313" indent="-214313">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Data gaps</a:t>
            </a:r>
          </a:p>
          <a:p>
            <a:pPr marL="214313" indent="-214313">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Representativity</a:t>
            </a:r>
          </a:p>
        </p:txBody>
      </p:sp>
      <p:pic>
        <p:nvPicPr>
          <p:cNvPr id="8" name="Picture 7" descr="Chart, line chart&#10;&#10;Description automatically generated">
            <a:extLst>
              <a:ext uri="{FF2B5EF4-FFF2-40B4-BE49-F238E27FC236}">
                <a16:creationId xmlns:a16="http://schemas.microsoft.com/office/drawing/2014/main" id="{18FE4136-7A31-4C17-8681-11ED1FEC6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4958" y="2324164"/>
            <a:ext cx="5709398" cy="3568375"/>
          </a:xfrm>
          <a:prstGeom prst="rect">
            <a:avLst/>
          </a:prstGeom>
        </p:spPr>
      </p:pic>
      <p:sp>
        <p:nvSpPr>
          <p:cNvPr id="2" name="Freeform 13">
            <a:extLst>
              <a:ext uri="{FF2B5EF4-FFF2-40B4-BE49-F238E27FC236}">
                <a16:creationId xmlns:a16="http://schemas.microsoft.com/office/drawing/2014/main" id="{327DAF8A-3C43-2BF5-163D-487BD23EBBED}"/>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4" name="TextBox 14">
            <a:extLst>
              <a:ext uri="{FF2B5EF4-FFF2-40B4-BE49-F238E27FC236}">
                <a16:creationId xmlns:a16="http://schemas.microsoft.com/office/drawing/2014/main" id="{1B4A3E1B-2D0A-7F68-069C-AAA767751419}"/>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 Uncertainties</a:t>
            </a:r>
          </a:p>
        </p:txBody>
      </p:sp>
    </p:spTree>
    <p:extLst>
      <p:ext uri="{BB962C8B-B14F-4D97-AF65-F5344CB8AC3E}">
        <p14:creationId xmlns:p14="http://schemas.microsoft.com/office/powerpoint/2010/main" val="3649356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6452230-563B-410E-AC2F-8278A17D34C6}"/>
              </a:ext>
            </a:extLst>
          </p:cNvPr>
          <p:cNvSpPr txBox="1"/>
          <p:nvPr/>
        </p:nvSpPr>
        <p:spPr>
          <a:xfrm>
            <a:off x="1898242" y="1885950"/>
            <a:ext cx="3360343" cy="2031325"/>
          </a:xfrm>
          <a:prstGeom prst="rect">
            <a:avLst/>
          </a:prstGeom>
          <a:noFill/>
        </p:spPr>
        <p:txBody>
          <a:bodyPr wrap="none" rtlCol="0">
            <a:spAutoFit/>
          </a:bodyPr>
          <a:lstStyle/>
          <a:p>
            <a:pPr marL="214313" indent="-214313">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Data gaps</a:t>
            </a:r>
          </a:p>
          <a:p>
            <a:pPr marL="214313" indent="-214313">
              <a:spcAft>
                <a:spcPts val="900"/>
              </a:spcAft>
              <a:buFont typeface="Arial" panose="020B0604020202020204" pitchFamily="34" charset="0"/>
              <a:buChar char="•"/>
            </a:pPr>
            <a:r>
              <a:rPr lang="en-GB" sz="2400" b="1" dirty="0">
                <a:latin typeface="Calibri" panose="020F0502020204030204" pitchFamily="34" charset="0"/>
                <a:cs typeface="Calibri" panose="020F0502020204030204" pitchFamily="34" charset="0"/>
              </a:rPr>
              <a:t>Representativity</a:t>
            </a:r>
          </a:p>
          <a:p>
            <a:pPr marL="214313" indent="-214313">
              <a:buFont typeface="Arial" panose="020B0604020202020204" pitchFamily="34" charset="0"/>
              <a:buChar char="•"/>
            </a:pPr>
            <a:r>
              <a:rPr lang="en-GB" sz="2400" b="1" dirty="0">
                <a:latin typeface="Calibri" panose="020F0502020204030204" pitchFamily="34" charset="0"/>
                <a:cs typeface="Calibri" panose="020F0502020204030204" pitchFamily="34" charset="0"/>
              </a:rPr>
              <a:t>Indirect measurements</a:t>
            </a:r>
          </a:p>
          <a:p>
            <a:pPr marL="557213" lvl="1" indent="-214313">
              <a:buFont typeface="Arial" panose="020B0604020202020204" pitchFamily="34" charset="0"/>
              <a:buChar char="•"/>
            </a:pPr>
            <a:r>
              <a:rPr lang="en-GB" sz="2000" dirty="0">
                <a:latin typeface="Calibri" panose="020F0502020204030204" pitchFamily="34" charset="0"/>
                <a:cs typeface="Calibri" panose="020F0502020204030204" pitchFamily="34" charset="0"/>
              </a:rPr>
              <a:t>Climate proxies</a:t>
            </a:r>
          </a:p>
          <a:p>
            <a:pPr marL="557213" lvl="1" indent="-214313">
              <a:buFont typeface="Arial" panose="020B0604020202020204" pitchFamily="34" charset="0"/>
              <a:buChar char="•"/>
            </a:pPr>
            <a:r>
              <a:rPr lang="en-GB" sz="2000" dirty="0">
                <a:latin typeface="Calibri" panose="020F0502020204030204" pitchFamily="34" charset="0"/>
                <a:cs typeface="Calibri" panose="020F0502020204030204" pitchFamily="34" charset="0"/>
              </a:rPr>
              <a:t>Satellite data</a:t>
            </a:r>
          </a:p>
        </p:txBody>
      </p:sp>
      <p:pic>
        <p:nvPicPr>
          <p:cNvPr id="4" name="Picture 3">
            <a:extLst>
              <a:ext uri="{FF2B5EF4-FFF2-40B4-BE49-F238E27FC236}">
                <a16:creationId xmlns:a16="http://schemas.microsoft.com/office/drawing/2014/main" id="{8B3707C6-E224-4C0A-AC4F-07A75CEE88FE}"/>
              </a:ext>
            </a:extLst>
          </p:cNvPr>
          <p:cNvPicPr>
            <a:picLocks noChangeAspect="1"/>
          </p:cNvPicPr>
          <p:nvPr/>
        </p:nvPicPr>
        <p:blipFill>
          <a:blip r:embed="rId3"/>
          <a:stretch>
            <a:fillRect/>
          </a:stretch>
        </p:blipFill>
        <p:spPr>
          <a:xfrm>
            <a:off x="5439699" y="3423353"/>
            <a:ext cx="5230953" cy="2469476"/>
          </a:xfrm>
          <a:prstGeom prst="rect">
            <a:avLst/>
          </a:prstGeom>
        </p:spPr>
      </p:pic>
      <p:sp>
        <p:nvSpPr>
          <p:cNvPr id="2" name="Freeform 13">
            <a:extLst>
              <a:ext uri="{FF2B5EF4-FFF2-40B4-BE49-F238E27FC236}">
                <a16:creationId xmlns:a16="http://schemas.microsoft.com/office/drawing/2014/main" id="{4CA9165F-C286-01D4-E997-1703C96FEEE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628BBB82-3B22-351C-2B76-C191029404B2}"/>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Measurement Uncertainties</a:t>
            </a:r>
          </a:p>
        </p:txBody>
      </p:sp>
    </p:spTree>
    <p:extLst>
      <p:ext uri="{BB962C8B-B14F-4D97-AF65-F5344CB8AC3E}">
        <p14:creationId xmlns:p14="http://schemas.microsoft.com/office/powerpoint/2010/main" val="3582547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A50B4-2CBC-4F2B-8736-AF16F29C8D32}"/>
              </a:ext>
            </a:extLst>
          </p:cNvPr>
          <p:cNvSpPr txBox="1"/>
          <p:nvPr/>
        </p:nvSpPr>
        <p:spPr>
          <a:xfrm>
            <a:off x="313282" y="1408431"/>
            <a:ext cx="3021575" cy="692497"/>
          </a:xfrm>
          <a:prstGeom prst="rect">
            <a:avLst/>
          </a:prstGeom>
          <a:noFill/>
        </p:spPr>
        <p:txBody>
          <a:bodyPr wrap="square" rtlCol="0">
            <a:spAutoFit/>
          </a:bodyPr>
          <a:lstStyle/>
          <a:p>
            <a:r>
              <a:rPr lang="en-GB" sz="1950" dirty="0">
                <a:latin typeface="Calibri" panose="020F0502020204030204" pitchFamily="34" charset="0"/>
                <a:cs typeface="Calibri" panose="020F0502020204030204" pitchFamily="34" charset="0"/>
              </a:rPr>
              <a:t>Some quantities vary more due to natural causes</a:t>
            </a:r>
          </a:p>
        </p:txBody>
      </p:sp>
      <p:sp>
        <p:nvSpPr>
          <p:cNvPr id="5" name="TextBox 4">
            <a:extLst>
              <a:ext uri="{FF2B5EF4-FFF2-40B4-BE49-F238E27FC236}">
                <a16:creationId xmlns:a16="http://schemas.microsoft.com/office/drawing/2014/main" id="{CFF89CC1-BB30-4011-8DE1-9155BB01FA56}"/>
              </a:ext>
            </a:extLst>
          </p:cNvPr>
          <p:cNvSpPr txBox="1"/>
          <p:nvPr/>
        </p:nvSpPr>
        <p:spPr>
          <a:xfrm>
            <a:off x="5372899" y="1408431"/>
            <a:ext cx="2827082" cy="692497"/>
          </a:xfrm>
          <a:prstGeom prst="rect">
            <a:avLst/>
          </a:prstGeom>
          <a:noFill/>
        </p:spPr>
        <p:txBody>
          <a:bodyPr wrap="square">
            <a:spAutoFit/>
          </a:bodyPr>
          <a:lstStyle/>
          <a:p>
            <a:r>
              <a:rPr lang="en-GB" sz="1950" dirty="0">
                <a:latin typeface="Calibri" panose="020F0502020204030204" pitchFamily="34" charset="0"/>
                <a:cs typeface="Calibri" panose="020F0502020204030204" pitchFamily="34" charset="0"/>
                <a:sym typeface="Wingdings" panose="05000000000000000000" pitchFamily="2" charset="2"/>
              </a:rPr>
              <a:t>harder to attribute changes to human causes</a:t>
            </a:r>
            <a:endParaRPr lang="en-GB" sz="1950" dirty="0">
              <a:latin typeface="Calibri" panose="020F0502020204030204" pitchFamily="34" charset="0"/>
              <a:cs typeface="Calibri" panose="020F0502020204030204" pitchFamily="34" charset="0"/>
            </a:endParaRPr>
          </a:p>
        </p:txBody>
      </p:sp>
      <p:sp>
        <p:nvSpPr>
          <p:cNvPr id="6" name="Arrow: Right 5">
            <a:extLst>
              <a:ext uri="{FF2B5EF4-FFF2-40B4-BE49-F238E27FC236}">
                <a16:creationId xmlns:a16="http://schemas.microsoft.com/office/drawing/2014/main" id="{DE4CFF56-B9C7-4B80-A6DA-0B10ED0A1A4C}"/>
              </a:ext>
            </a:extLst>
          </p:cNvPr>
          <p:cNvSpPr/>
          <p:nvPr/>
        </p:nvSpPr>
        <p:spPr>
          <a:xfrm>
            <a:off x="3744124" y="1656082"/>
            <a:ext cx="1039762" cy="174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0331547F-EAEF-4D7C-B9FB-4C18EBC6DF12}"/>
              </a:ext>
            </a:extLst>
          </p:cNvPr>
          <p:cNvPicPr>
            <a:picLocks noChangeAspect="1"/>
          </p:cNvPicPr>
          <p:nvPr/>
        </p:nvPicPr>
        <p:blipFill>
          <a:blip r:embed="rId3"/>
          <a:stretch>
            <a:fillRect/>
          </a:stretch>
        </p:blipFill>
        <p:spPr>
          <a:xfrm>
            <a:off x="389465" y="2332223"/>
            <a:ext cx="9481390" cy="3922965"/>
          </a:xfrm>
          <a:prstGeom prst="rect">
            <a:avLst/>
          </a:prstGeom>
        </p:spPr>
      </p:pic>
      <p:sp>
        <p:nvSpPr>
          <p:cNvPr id="4" name="TextBox 14">
            <a:extLst>
              <a:ext uri="{FF2B5EF4-FFF2-40B4-BE49-F238E27FC236}">
                <a16:creationId xmlns:a16="http://schemas.microsoft.com/office/drawing/2014/main" id="{3CBDBF52-3C5E-0792-711D-D63C560C7128}"/>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Natural Variability</a:t>
            </a:r>
          </a:p>
        </p:txBody>
      </p:sp>
      <p:sp>
        <p:nvSpPr>
          <p:cNvPr id="2" name="Freeform 13">
            <a:extLst>
              <a:ext uri="{FF2B5EF4-FFF2-40B4-BE49-F238E27FC236}">
                <a16:creationId xmlns:a16="http://schemas.microsoft.com/office/drawing/2014/main" id="{4AE77262-263C-08EC-370B-5871911A2CB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96933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73756-9392-C80A-F6B5-FC3BD6BFF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D7E9EB-EEED-1F1D-2061-40935C2F94AC}"/>
              </a:ext>
            </a:extLst>
          </p:cNvPr>
          <p:cNvSpPr txBox="1"/>
          <p:nvPr/>
        </p:nvSpPr>
        <p:spPr>
          <a:xfrm>
            <a:off x="313282" y="1408431"/>
            <a:ext cx="3021575" cy="692497"/>
          </a:xfrm>
          <a:prstGeom prst="rect">
            <a:avLst/>
          </a:prstGeom>
          <a:noFill/>
        </p:spPr>
        <p:txBody>
          <a:bodyPr wrap="square" rtlCol="0">
            <a:spAutoFit/>
          </a:bodyPr>
          <a:lstStyle/>
          <a:p>
            <a:r>
              <a:rPr lang="en-GB" sz="1950" dirty="0">
                <a:latin typeface="Calibri" panose="020F0502020204030204" pitchFamily="34" charset="0"/>
                <a:cs typeface="Calibri" panose="020F0502020204030204" pitchFamily="34" charset="0"/>
              </a:rPr>
              <a:t>Some quantities vary more due to natural causes</a:t>
            </a:r>
          </a:p>
        </p:txBody>
      </p:sp>
      <p:sp>
        <p:nvSpPr>
          <p:cNvPr id="5" name="TextBox 4">
            <a:extLst>
              <a:ext uri="{FF2B5EF4-FFF2-40B4-BE49-F238E27FC236}">
                <a16:creationId xmlns:a16="http://schemas.microsoft.com/office/drawing/2014/main" id="{5A02F112-CEC6-14C3-37A6-7A686941986E}"/>
              </a:ext>
            </a:extLst>
          </p:cNvPr>
          <p:cNvSpPr txBox="1"/>
          <p:nvPr/>
        </p:nvSpPr>
        <p:spPr>
          <a:xfrm>
            <a:off x="5372899" y="1408431"/>
            <a:ext cx="2827082" cy="692497"/>
          </a:xfrm>
          <a:prstGeom prst="rect">
            <a:avLst/>
          </a:prstGeom>
          <a:noFill/>
        </p:spPr>
        <p:txBody>
          <a:bodyPr wrap="square">
            <a:spAutoFit/>
          </a:bodyPr>
          <a:lstStyle/>
          <a:p>
            <a:r>
              <a:rPr lang="en-GB" sz="1950" dirty="0">
                <a:latin typeface="Calibri" panose="020F0502020204030204" pitchFamily="34" charset="0"/>
                <a:cs typeface="Calibri" panose="020F0502020204030204" pitchFamily="34" charset="0"/>
                <a:sym typeface="Wingdings" panose="05000000000000000000" pitchFamily="2" charset="2"/>
              </a:rPr>
              <a:t>harder to attribute changes to human causes</a:t>
            </a:r>
            <a:endParaRPr lang="en-GB" sz="1950" dirty="0">
              <a:latin typeface="Calibri" panose="020F0502020204030204" pitchFamily="34" charset="0"/>
              <a:cs typeface="Calibri" panose="020F0502020204030204" pitchFamily="34" charset="0"/>
            </a:endParaRPr>
          </a:p>
        </p:txBody>
      </p:sp>
      <p:sp>
        <p:nvSpPr>
          <p:cNvPr id="6" name="Arrow: Right 5">
            <a:extLst>
              <a:ext uri="{FF2B5EF4-FFF2-40B4-BE49-F238E27FC236}">
                <a16:creationId xmlns:a16="http://schemas.microsoft.com/office/drawing/2014/main" id="{E6F4E5BC-D69A-E9AB-7F88-65BFF40BD7F1}"/>
              </a:ext>
            </a:extLst>
          </p:cNvPr>
          <p:cNvSpPr/>
          <p:nvPr/>
        </p:nvSpPr>
        <p:spPr>
          <a:xfrm>
            <a:off x="3744124" y="1656082"/>
            <a:ext cx="1039762" cy="174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latin typeface="Calibri" panose="020F0502020204030204" pitchFamily="34" charset="0"/>
              <a:cs typeface="Calibri" panose="020F0502020204030204" pitchFamily="34" charset="0"/>
            </a:endParaRPr>
          </a:p>
        </p:txBody>
      </p:sp>
      <p:sp>
        <p:nvSpPr>
          <p:cNvPr id="4" name="TextBox 14">
            <a:extLst>
              <a:ext uri="{FF2B5EF4-FFF2-40B4-BE49-F238E27FC236}">
                <a16:creationId xmlns:a16="http://schemas.microsoft.com/office/drawing/2014/main" id="{EC98588E-F760-A0B3-A966-D636C4EA48CE}"/>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Natural Variability</a:t>
            </a:r>
          </a:p>
        </p:txBody>
      </p:sp>
      <p:sp>
        <p:nvSpPr>
          <p:cNvPr id="2" name="Freeform 13">
            <a:extLst>
              <a:ext uri="{FF2B5EF4-FFF2-40B4-BE49-F238E27FC236}">
                <a16:creationId xmlns:a16="http://schemas.microsoft.com/office/drawing/2014/main" id="{9B2B1F7D-215E-2E88-7B33-40FCA416027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7" name="Picture 6">
            <a:extLst>
              <a:ext uri="{FF2B5EF4-FFF2-40B4-BE49-F238E27FC236}">
                <a16:creationId xmlns:a16="http://schemas.microsoft.com/office/drawing/2014/main" id="{12EB024F-727E-50E8-52C6-066026179C45}"/>
              </a:ext>
            </a:extLst>
          </p:cNvPr>
          <p:cNvPicPr>
            <a:picLocks noChangeAspect="1"/>
          </p:cNvPicPr>
          <p:nvPr/>
        </p:nvPicPr>
        <p:blipFill>
          <a:blip r:embed="rId4"/>
          <a:stretch>
            <a:fillRect/>
          </a:stretch>
        </p:blipFill>
        <p:spPr>
          <a:xfrm>
            <a:off x="389465" y="2261542"/>
            <a:ext cx="9617722" cy="4003807"/>
          </a:xfrm>
          <a:prstGeom prst="rect">
            <a:avLst/>
          </a:prstGeom>
        </p:spPr>
      </p:pic>
    </p:spTree>
    <p:extLst>
      <p:ext uri="{BB962C8B-B14F-4D97-AF65-F5344CB8AC3E}">
        <p14:creationId xmlns:p14="http://schemas.microsoft.com/office/powerpoint/2010/main" val="418571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8A39CC3-6882-4172-80E3-F496015F1F92}"/>
              </a:ext>
            </a:extLst>
          </p:cNvPr>
          <p:cNvSpPr txBox="1"/>
          <p:nvPr/>
        </p:nvSpPr>
        <p:spPr>
          <a:xfrm>
            <a:off x="313282" y="2498595"/>
            <a:ext cx="3021575" cy="692497"/>
          </a:xfrm>
          <a:prstGeom prst="rect">
            <a:avLst/>
          </a:prstGeom>
          <a:noFill/>
        </p:spPr>
        <p:txBody>
          <a:bodyPr wrap="square" rtlCol="0">
            <a:spAutoFit/>
          </a:bodyPr>
          <a:lstStyle/>
          <a:p>
            <a:r>
              <a:rPr lang="en-GB" sz="1950" dirty="0">
                <a:latin typeface="Calibri" panose="020F0502020204030204" pitchFamily="34" charset="0"/>
                <a:cs typeface="Calibri" panose="020F0502020204030204" pitchFamily="34" charset="0"/>
              </a:rPr>
              <a:t>Most quantities vary more at smaller than larger scales</a:t>
            </a:r>
          </a:p>
        </p:txBody>
      </p:sp>
      <p:sp>
        <p:nvSpPr>
          <p:cNvPr id="11" name="Arrow: Right 10">
            <a:extLst>
              <a:ext uri="{FF2B5EF4-FFF2-40B4-BE49-F238E27FC236}">
                <a16:creationId xmlns:a16="http://schemas.microsoft.com/office/drawing/2014/main" id="{B930917A-A8D7-4ACB-83CB-6C2F3E769A46}"/>
              </a:ext>
            </a:extLst>
          </p:cNvPr>
          <p:cNvSpPr/>
          <p:nvPr/>
        </p:nvSpPr>
        <p:spPr>
          <a:xfrm>
            <a:off x="3744125" y="2746245"/>
            <a:ext cx="1039762" cy="174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1B7EEE3A-A1A2-408E-8DDB-3C07B467F9EA}"/>
              </a:ext>
            </a:extLst>
          </p:cNvPr>
          <p:cNvSpPr txBox="1"/>
          <p:nvPr/>
        </p:nvSpPr>
        <p:spPr>
          <a:xfrm>
            <a:off x="5372899" y="2498595"/>
            <a:ext cx="3335902" cy="692497"/>
          </a:xfrm>
          <a:prstGeom prst="rect">
            <a:avLst/>
          </a:prstGeom>
          <a:noFill/>
        </p:spPr>
        <p:txBody>
          <a:bodyPr wrap="square">
            <a:spAutoFit/>
          </a:bodyPr>
          <a:lstStyle/>
          <a:p>
            <a:r>
              <a:rPr lang="en-GB" sz="1950" dirty="0">
                <a:latin typeface="Calibri" panose="020F0502020204030204" pitchFamily="34" charset="0"/>
                <a:cs typeface="Calibri" panose="020F0502020204030204" pitchFamily="34" charset="0"/>
                <a:sym typeface="Wingdings" panose="05000000000000000000" pitchFamily="2" charset="2"/>
              </a:rPr>
              <a:t>Less certainty on local changes compared to global changes</a:t>
            </a:r>
            <a:endParaRPr lang="en-GB" sz="1950" dirty="0">
              <a:latin typeface="Calibri" panose="020F0502020204030204" pitchFamily="34" charset="0"/>
              <a:cs typeface="Calibri" panose="020F0502020204030204" pitchFamily="34" charset="0"/>
            </a:endParaRPr>
          </a:p>
        </p:txBody>
      </p:sp>
      <p:sp>
        <p:nvSpPr>
          <p:cNvPr id="4" name="TextBox 14">
            <a:extLst>
              <a:ext uri="{FF2B5EF4-FFF2-40B4-BE49-F238E27FC236}">
                <a16:creationId xmlns:a16="http://schemas.microsoft.com/office/drawing/2014/main" id="{CB84115B-7A77-7ACD-1745-5BDB1FFF9526}"/>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Natural Variability</a:t>
            </a:r>
          </a:p>
        </p:txBody>
      </p:sp>
      <p:sp>
        <p:nvSpPr>
          <p:cNvPr id="2" name="Freeform 13">
            <a:extLst>
              <a:ext uri="{FF2B5EF4-FFF2-40B4-BE49-F238E27FC236}">
                <a16:creationId xmlns:a16="http://schemas.microsoft.com/office/drawing/2014/main" id="{ADCA1E5B-F344-5C45-4186-9C7261B3992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7" name="TextBox 6">
            <a:extLst>
              <a:ext uri="{FF2B5EF4-FFF2-40B4-BE49-F238E27FC236}">
                <a16:creationId xmlns:a16="http://schemas.microsoft.com/office/drawing/2014/main" id="{D9DAA42C-3938-D243-5D63-840D7D7B984F}"/>
              </a:ext>
            </a:extLst>
          </p:cNvPr>
          <p:cNvSpPr txBox="1"/>
          <p:nvPr/>
        </p:nvSpPr>
        <p:spPr>
          <a:xfrm>
            <a:off x="313282" y="1408431"/>
            <a:ext cx="3021575" cy="692497"/>
          </a:xfrm>
          <a:prstGeom prst="rect">
            <a:avLst/>
          </a:prstGeom>
          <a:noFill/>
        </p:spPr>
        <p:txBody>
          <a:bodyPr wrap="square" rtlCol="0">
            <a:spAutoFit/>
          </a:bodyPr>
          <a:lstStyle/>
          <a:p>
            <a:r>
              <a:rPr lang="en-GB" sz="1950" dirty="0">
                <a:latin typeface="Calibri" panose="020F0502020204030204" pitchFamily="34" charset="0"/>
                <a:cs typeface="Calibri" panose="020F0502020204030204" pitchFamily="34" charset="0"/>
              </a:rPr>
              <a:t>Some quantities vary more due to natural causes</a:t>
            </a:r>
          </a:p>
        </p:txBody>
      </p:sp>
      <p:sp>
        <p:nvSpPr>
          <p:cNvPr id="8" name="TextBox 7">
            <a:extLst>
              <a:ext uri="{FF2B5EF4-FFF2-40B4-BE49-F238E27FC236}">
                <a16:creationId xmlns:a16="http://schemas.microsoft.com/office/drawing/2014/main" id="{5DB4C0DB-B577-299B-63C2-85B939AEF6BA}"/>
              </a:ext>
            </a:extLst>
          </p:cNvPr>
          <p:cNvSpPr txBox="1"/>
          <p:nvPr/>
        </p:nvSpPr>
        <p:spPr>
          <a:xfrm>
            <a:off x="5372899" y="1408431"/>
            <a:ext cx="2827082" cy="692497"/>
          </a:xfrm>
          <a:prstGeom prst="rect">
            <a:avLst/>
          </a:prstGeom>
          <a:noFill/>
        </p:spPr>
        <p:txBody>
          <a:bodyPr wrap="square">
            <a:spAutoFit/>
          </a:bodyPr>
          <a:lstStyle/>
          <a:p>
            <a:r>
              <a:rPr lang="en-GB" sz="1950" dirty="0">
                <a:latin typeface="Calibri" panose="020F0502020204030204" pitchFamily="34" charset="0"/>
                <a:cs typeface="Calibri" panose="020F0502020204030204" pitchFamily="34" charset="0"/>
                <a:sym typeface="Wingdings" panose="05000000000000000000" pitchFamily="2" charset="2"/>
              </a:rPr>
              <a:t>harder to attribute changes to human causes</a:t>
            </a:r>
            <a:endParaRPr lang="en-GB" sz="1950" dirty="0">
              <a:latin typeface="Calibri" panose="020F0502020204030204" pitchFamily="34" charset="0"/>
              <a:cs typeface="Calibri" panose="020F0502020204030204" pitchFamily="34" charset="0"/>
            </a:endParaRPr>
          </a:p>
        </p:txBody>
      </p:sp>
      <p:sp>
        <p:nvSpPr>
          <p:cNvPr id="9" name="Arrow: Right 5">
            <a:extLst>
              <a:ext uri="{FF2B5EF4-FFF2-40B4-BE49-F238E27FC236}">
                <a16:creationId xmlns:a16="http://schemas.microsoft.com/office/drawing/2014/main" id="{40E05FD5-09AC-B939-28A7-89588886A40E}"/>
              </a:ext>
            </a:extLst>
          </p:cNvPr>
          <p:cNvSpPr/>
          <p:nvPr/>
        </p:nvSpPr>
        <p:spPr>
          <a:xfrm>
            <a:off x="3744124" y="1656082"/>
            <a:ext cx="1039762" cy="174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431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F0640F-5BFA-4AA0-B506-5CF5EB169EB0}"/>
              </a:ext>
            </a:extLst>
          </p:cNvPr>
          <p:cNvPicPr>
            <a:picLocks noChangeAspect="1"/>
          </p:cNvPicPr>
          <p:nvPr/>
        </p:nvPicPr>
        <p:blipFill>
          <a:blip r:embed="rId3"/>
          <a:stretch>
            <a:fillRect/>
          </a:stretch>
        </p:blipFill>
        <p:spPr>
          <a:xfrm>
            <a:off x="4720714" y="2079958"/>
            <a:ext cx="5312958" cy="3920792"/>
          </a:xfrm>
          <a:prstGeom prst="rect">
            <a:avLst/>
          </a:prstGeom>
        </p:spPr>
      </p:pic>
      <p:sp>
        <p:nvSpPr>
          <p:cNvPr id="6" name="TextBox 5">
            <a:extLst>
              <a:ext uri="{FF2B5EF4-FFF2-40B4-BE49-F238E27FC236}">
                <a16:creationId xmlns:a16="http://schemas.microsoft.com/office/drawing/2014/main" id="{83C25740-DFC0-4E43-9D59-2E246EEBDA70}"/>
              </a:ext>
            </a:extLst>
          </p:cNvPr>
          <p:cNvSpPr txBox="1"/>
          <p:nvPr/>
        </p:nvSpPr>
        <p:spPr>
          <a:xfrm>
            <a:off x="1898240" y="1885950"/>
            <a:ext cx="2480807" cy="438582"/>
          </a:xfrm>
          <a:prstGeom prst="rect">
            <a:avLst/>
          </a:prstGeom>
          <a:noFill/>
        </p:spPr>
        <p:txBody>
          <a:bodyPr wrap="none" rtlCol="0">
            <a:spAutoFit/>
          </a:bodyPr>
          <a:lstStyle/>
          <a:p>
            <a:pPr marL="214313" indent="-214313">
              <a:buFont typeface="Arial" panose="020B0604020202020204" pitchFamily="34" charset="0"/>
              <a:buChar char="•"/>
            </a:pPr>
            <a:r>
              <a:rPr lang="en-GB" sz="2250" b="1" dirty="0">
                <a:latin typeface="Calibri" panose="020F0502020204030204" pitchFamily="34" charset="0"/>
                <a:cs typeface="Calibri" panose="020F0502020204030204" pitchFamily="34" charset="0"/>
              </a:rPr>
              <a:t>Drivers of change</a:t>
            </a:r>
          </a:p>
        </p:txBody>
      </p:sp>
      <p:sp>
        <p:nvSpPr>
          <p:cNvPr id="4" name="Oval 3">
            <a:extLst>
              <a:ext uri="{FF2B5EF4-FFF2-40B4-BE49-F238E27FC236}">
                <a16:creationId xmlns:a16="http://schemas.microsoft.com/office/drawing/2014/main" id="{FAF05420-D669-4041-83DD-C8B902C6332F}"/>
              </a:ext>
            </a:extLst>
          </p:cNvPr>
          <p:cNvSpPr/>
          <p:nvPr/>
        </p:nvSpPr>
        <p:spPr>
          <a:xfrm>
            <a:off x="5768546" y="2534680"/>
            <a:ext cx="639462" cy="1584754"/>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Oval 6">
            <a:extLst>
              <a:ext uri="{FF2B5EF4-FFF2-40B4-BE49-F238E27FC236}">
                <a16:creationId xmlns:a16="http://schemas.microsoft.com/office/drawing/2014/main" id="{85A2BE69-1037-4CD1-90DE-DAE32FA6D242}"/>
              </a:ext>
            </a:extLst>
          </p:cNvPr>
          <p:cNvSpPr/>
          <p:nvPr/>
        </p:nvSpPr>
        <p:spPr>
          <a:xfrm>
            <a:off x="7266005" y="2901614"/>
            <a:ext cx="1319882" cy="1338299"/>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Oval 7">
            <a:extLst>
              <a:ext uri="{FF2B5EF4-FFF2-40B4-BE49-F238E27FC236}">
                <a16:creationId xmlns:a16="http://schemas.microsoft.com/office/drawing/2014/main" id="{2A4BD1EB-1A99-4271-988A-FAAB93C637FC}"/>
              </a:ext>
            </a:extLst>
          </p:cNvPr>
          <p:cNvSpPr/>
          <p:nvPr/>
        </p:nvSpPr>
        <p:spPr>
          <a:xfrm>
            <a:off x="6197545" y="3656057"/>
            <a:ext cx="414350" cy="830311"/>
          </a:xfrm>
          <a:prstGeom prst="ellipse">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Oval 8">
            <a:extLst>
              <a:ext uri="{FF2B5EF4-FFF2-40B4-BE49-F238E27FC236}">
                <a16:creationId xmlns:a16="http://schemas.microsoft.com/office/drawing/2014/main" id="{4B477584-14B4-4E92-8425-128F7238C2DA}"/>
              </a:ext>
            </a:extLst>
          </p:cNvPr>
          <p:cNvSpPr/>
          <p:nvPr/>
        </p:nvSpPr>
        <p:spPr>
          <a:xfrm>
            <a:off x="8508258" y="3507775"/>
            <a:ext cx="926110" cy="1270268"/>
          </a:xfrm>
          <a:prstGeom prst="ellipse">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0B7F45C2-E329-421F-B8F5-D308EFF6AF65}"/>
              </a:ext>
            </a:extLst>
          </p:cNvPr>
          <p:cNvSpPr txBox="1"/>
          <p:nvPr/>
        </p:nvSpPr>
        <p:spPr>
          <a:xfrm>
            <a:off x="5990968" y="1667205"/>
            <a:ext cx="2424062" cy="392415"/>
          </a:xfrm>
          <a:prstGeom prst="rect">
            <a:avLst/>
          </a:prstGeom>
          <a:noFill/>
        </p:spPr>
        <p:txBody>
          <a:bodyPr wrap="none" rtlCol="0">
            <a:spAutoFit/>
          </a:bodyPr>
          <a:lstStyle/>
          <a:p>
            <a:r>
              <a:rPr lang="en-GB" sz="1950" b="1" dirty="0">
                <a:solidFill>
                  <a:srgbClr val="00B050"/>
                </a:solidFill>
              </a:rPr>
              <a:t>Greenhouse gases</a:t>
            </a:r>
          </a:p>
        </p:txBody>
      </p:sp>
      <p:sp>
        <p:nvSpPr>
          <p:cNvPr id="11" name="TextBox 10">
            <a:extLst>
              <a:ext uri="{FF2B5EF4-FFF2-40B4-BE49-F238E27FC236}">
                <a16:creationId xmlns:a16="http://schemas.microsoft.com/office/drawing/2014/main" id="{D64958EB-8AE0-4175-9E43-8D034CCFDF3A}"/>
              </a:ext>
            </a:extLst>
          </p:cNvPr>
          <p:cNvSpPr txBox="1"/>
          <p:nvPr/>
        </p:nvSpPr>
        <p:spPr>
          <a:xfrm>
            <a:off x="8428756" y="1667204"/>
            <a:ext cx="1239442" cy="392415"/>
          </a:xfrm>
          <a:prstGeom prst="rect">
            <a:avLst/>
          </a:prstGeom>
          <a:noFill/>
        </p:spPr>
        <p:txBody>
          <a:bodyPr wrap="none" rtlCol="0">
            <a:spAutoFit/>
          </a:bodyPr>
          <a:lstStyle/>
          <a:p>
            <a:r>
              <a:rPr lang="en-GB" sz="1950" b="1" dirty="0">
                <a:solidFill>
                  <a:srgbClr val="0070C0"/>
                </a:solidFill>
              </a:rPr>
              <a:t>Aerosols</a:t>
            </a:r>
          </a:p>
        </p:txBody>
      </p:sp>
      <p:sp>
        <p:nvSpPr>
          <p:cNvPr id="12" name="TextBox 14">
            <a:extLst>
              <a:ext uri="{FF2B5EF4-FFF2-40B4-BE49-F238E27FC236}">
                <a16:creationId xmlns:a16="http://schemas.microsoft.com/office/drawing/2014/main" id="{70973FBE-4F3D-195E-9354-780FEF52E47A}"/>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Scientific Understanding </a:t>
            </a:r>
          </a:p>
        </p:txBody>
      </p:sp>
      <p:sp>
        <p:nvSpPr>
          <p:cNvPr id="2" name="Freeform 13">
            <a:extLst>
              <a:ext uri="{FF2B5EF4-FFF2-40B4-BE49-F238E27FC236}">
                <a16:creationId xmlns:a16="http://schemas.microsoft.com/office/drawing/2014/main" id="{4FF7D6AE-3BB9-9DEC-12DA-8BDF3555762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7830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7" grpId="0" animBg="1"/>
      <p:bldP spid="7" grpId="1" animBg="1"/>
      <p:bldP spid="8" grpId="0" animBg="1"/>
      <p:bldP spid="9" grpId="0" animBg="1"/>
      <p:bldP spid="10" grpId="0"/>
      <p:bldP spid="10"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3C25740-DFC0-4E43-9D59-2E246EEBDA70}"/>
              </a:ext>
            </a:extLst>
          </p:cNvPr>
          <p:cNvSpPr txBox="1"/>
          <p:nvPr/>
        </p:nvSpPr>
        <p:spPr>
          <a:xfrm>
            <a:off x="1898241" y="1885952"/>
            <a:ext cx="2821285" cy="2126223"/>
          </a:xfrm>
          <a:prstGeom prst="rect">
            <a:avLst/>
          </a:prstGeom>
          <a:noFill/>
        </p:spPr>
        <p:txBody>
          <a:bodyPr wrap="none" rtlCol="0">
            <a:spAutoFit/>
          </a:bodyPr>
          <a:lstStyle/>
          <a:p>
            <a:pPr marL="214313" indent="-214313">
              <a:spcAft>
                <a:spcPts val="900"/>
              </a:spcAft>
              <a:buFont typeface="Arial" panose="020B0604020202020204" pitchFamily="34" charset="0"/>
              <a:buChar char="•"/>
            </a:pPr>
            <a:r>
              <a:rPr lang="en-GB" sz="2250" b="1" dirty="0">
                <a:latin typeface="Calibri" panose="020F0502020204030204" pitchFamily="34" charset="0"/>
                <a:cs typeface="Calibri" panose="020F0502020204030204" pitchFamily="34" charset="0"/>
              </a:rPr>
              <a:t>Drivers of change</a:t>
            </a:r>
          </a:p>
          <a:p>
            <a:pPr marL="214313" indent="-214313">
              <a:spcAft>
                <a:spcPts val="225"/>
              </a:spcAft>
              <a:buFont typeface="Arial" panose="020B0604020202020204" pitchFamily="34" charset="0"/>
              <a:buChar char="•"/>
            </a:pPr>
            <a:r>
              <a:rPr lang="en-GB" sz="2250" b="1" dirty="0">
                <a:latin typeface="Calibri" panose="020F0502020204030204" pitchFamily="34" charset="0"/>
                <a:cs typeface="Calibri" panose="020F0502020204030204" pitchFamily="34" charset="0"/>
              </a:rPr>
              <a:t>Internal Feedbacks</a:t>
            </a:r>
          </a:p>
          <a:p>
            <a:pPr marL="557213" lvl="1" indent="-214313">
              <a:buFont typeface="Arial" panose="020B0604020202020204" pitchFamily="34" charset="0"/>
              <a:buChar char="•"/>
            </a:pPr>
            <a:r>
              <a:rPr lang="en-GB" sz="1950" dirty="0">
                <a:latin typeface="Calibri" panose="020F0502020204030204" pitchFamily="34" charset="0"/>
                <a:cs typeface="Calibri" panose="020F0502020204030204" pitchFamily="34" charset="0"/>
              </a:rPr>
              <a:t>Clouds/precipitation</a:t>
            </a:r>
          </a:p>
          <a:p>
            <a:pPr marL="557213" lvl="1" indent="-214313">
              <a:buFont typeface="Arial" panose="020B0604020202020204" pitchFamily="34" charset="0"/>
              <a:buChar char="•"/>
            </a:pPr>
            <a:r>
              <a:rPr lang="en-GB" sz="1950" dirty="0">
                <a:latin typeface="Calibri" panose="020F0502020204030204" pitchFamily="34" charset="0"/>
                <a:cs typeface="Calibri" panose="020F0502020204030204" pitchFamily="34" charset="0"/>
              </a:rPr>
              <a:t>Cryosphere</a:t>
            </a:r>
          </a:p>
          <a:p>
            <a:pPr marL="557213" lvl="1" indent="-214313">
              <a:buFont typeface="Arial" panose="020B0604020202020204" pitchFamily="34" charset="0"/>
              <a:buChar char="•"/>
            </a:pPr>
            <a:r>
              <a:rPr lang="en-GB" sz="1950" dirty="0">
                <a:latin typeface="Calibri" panose="020F0502020204030204" pitchFamily="34" charset="0"/>
                <a:cs typeface="Calibri" panose="020F0502020204030204" pitchFamily="34" charset="0"/>
              </a:rPr>
              <a:t>Biosphere</a:t>
            </a:r>
          </a:p>
          <a:p>
            <a:pPr marL="214313" indent="-214313">
              <a:spcAft>
                <a:spcPts val="900"/>
              </a:spcAft>
              <a:buFont typeface="Arial" panose="020B0604020202020204" pitchFamily="34" charset="0"/>
              <a:buChar char="•"/>
            </a:pPr>
            <a:endParaRPr lang="en-GB" sz="1950" dirty="0"/>
          </a:p>
        </p:txBody>
      </p:sp>
      <p:sp>
        <p:nvSpPr>
          <p:cNvPr id="3" name="TextBox 14">
            <a:extLst>
              <a:ext uri="{FF2B5EF4-FFF2-40B4-BE49-F238E27FC236}">
                <a16:creationId xmlns:a16="http://schemas.microsoft.com/office/drawing/2014/main" id="{5D6283E4-99D1-A14C-D712-8141BA414C04}"/>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Scientific Understanding </a:t>
            </a:r>
          </a:p>
        </p:txBody>
      </p:sp>
      <p:sp>
        <p:nvSpPr>
          <p:cNvPr id="2" name="Freeform 13">
            <a:extLst>
              <a:ext uri="{FF2B5EF4-FFF2-40B4-BE49-F238E27FC236}">
                <a16:creationId xmlns:a16="http://schemas.microsoft.com/office/drawing/2014/main" id="{B351600E-51E5-7FD6-8B5A-89CC4581D7B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7" name="TextBox 6">
            <a:extLst>
              <a:ext uri="{FF2B5EF4-FFF2-40B4-BE49-F238E27FC236}">
                <a16:creationId xmlns:a16="http://schemas.microsoft.com/office/drawing/2014/main" id="{3181CD54-7EA1-4796-00BF-68963CC79505}"/>
              </a:ext>
            </a:extLst>
          </p:cNvPr>
          <p:cNvSpPr txBox="1"/>
          <p:nvPr/>
        </p:nvSpPr>
        <p:spPr>
          <a:xfrm>
            <a:off x="389465" y="3900689"/>
            <a:ext cx="9851816" cy="2585323"/>
          </a:xfrm>
          <a:prstGeom prst="rect">
            <a:avLst/>
          </a:prstGeom>
          <a:noFill/>
        </p:spPr>
        <p:txBody>
          <a:bodyPr wrap="square">
            <a:spAutoFit/>
          </a:bodyPr>
          <a:lstStyle/>
          <a:p>
            <a:pPr marL="0" indent="0">
              <a:lnSpc>
                <a:spcPct val="90000"/>
              </a:lnSpc>
            </a:pPr>
            <a:r>
              <a:rPr lang="en-US" altLang="en-US" sz="2000" dirty="0">
                <a:latin typeface="Calibri" panose="020F0502020204030204" pitchFamily="34" charset="0"/>
                <a:cs typeface="Calibri" panose="020F0502020204030204" pitchFamily="34" charset="0"/>
              </a:rPr>
              <a:t>Earth/Atmosphere is delicate balance, largely dictated by incoming and outgoing radiation</a:t>
            </a:r>
          </a:p>
          <a:p>
            <a:pPr marL="0" indent="0">
              <a:lnSpc>
                <a:spcPct val="90000"/>
              </a:lnSpc>
            </a:pPr>
            <a:endParaRPr lang="en-US" altLang="en-US" sz="2000" dirty="0">
              <a:latin typeface="Calibri" panose="020F0502020204030204" pitchFamily="34" charset="0"/>
              <a:cs typeface="Calibri" panose="020F0502020204030204" pitchFamily="34" charset="0"/>
            </a:endParaRPr>
          </a:p>
          <a:p>
            <a:pPr marL="0" indent="0">
              <a:lnSpc>
                <a:spcPct val="90000"/>
              </a:lnSpc>
            </a:pPr>
            <a:r>
              <a:rPr lang="en-US" altLang="en-US" sz="2000" dirty="0">
                <a:latin typeface="Calibri" panose="020F0502020204030204" pitchFamily="34" charset="0"/>
                <a:cs typeface="Calibri" panose="020F0502020204030204" pitchFamily="34" charset="0"/>
              </a:rPr>
              <a:t>Slight changes in balance can cause large changes in global climate</a:t>
            </a:r>
          </a:p>
          <a:p>
            <a:pPr marL="0" indent="0">
              <a:lnSpc>
                <a:spcPct val="90000"/>
              </a:lnSpc>
            </a:pPr>
            <a:endParaRPr lang="en-US" altLang="en-US" sz="2000" dirty="0">
              <a:latin typeface="Calibri" panose="020F0502020204030204" pitchFamily="34" charset="0"/>
              <a:cs typeface="Calibri" panose="020F0502020204030204" pitchFamily="34" charset="0"/>
            </a:endParaRPr>
          </a:p>
          <a:p>
            <a:pPr marL="0" indent="0">
              <a:lnSpc>
                <a:spcPct val="90000"/>
              </a:lnSpc>
            </a:pPr>
            <a:r>
              <a:rPr lang="en-US" altLang="en-US" sz="2000" dirty="0">
                <a:latin typeface="Calibri" panose="020F0502020204030204" pitchFamily="34" charset="0"/>
                <a:cs typeface="Calibri" panose="020F0502020204030204" pitchFamily="34" charset="0"/>
              </a:rPr>
              <a:t>These changes can be enhanced or diminished by positive or negative feedbacks</a:t>
            </a:r>
          </a:p>
          <a:p>
            <a:pPr marL="0" indent="0">
              <a:lnSpc>
                <a:spcPct val="90000"/>
              </a:lnSpc>
            </a:pPr>
            <a:endParaRPr lang="en-US" altLang="en-US" sz="2000" dirty="0">
              <a:latin typeface="Calibri" panose="020F0502020204030204" pitchFamily="34" charset="0"/>
              <a:cs typeface="Calibri" panose="020F0502020204030204" pitchFamily="34" charset="0"/>
            </a:endParaRPr>
          </a:p>
          <a:p>
            <a:pPr marL="0" indent="0">
              <a:lnSpc>
                <a:spcPct val="90000"/>
              </a:lnSpc>
            </a:pPr>
            <a:r>
              <a:rPr lang="en-US" altLang="en-US" sz="2000" dirty="0">
                <a:latin typeface="Calibri" panose="020F0502020204030204" pitchFamily="34" charset="0"/>
                <a:cs typeface="Calibri" panose="020F0502020204030204" pitchFamily="34" charset="0"/>
              </a:rPr>
              <a:t>Positive feedback:</a:t>
            </a:r>
            <a:r>
              <a:rPr lang="en-US" altLang="en-US" sz="2000" dirty="0">
                <a:solidFill>
                  <a:srgbClr val="FF0000"/>
                </a:solidFill>
                <a:latin typeface="Calibri" panose="020F0502020204030204" pitchFamily="34" charset="0"/>
                <a:cs typeface="Calibri" panose="020F0502020204030204" pitchFamily="34" charset="0"/>
              </a:rPr>
              <a:t> </a:t>
            </a:r>
            <a:r>
              <a:rPr lang="en-US" altLang="en-US" sz="2000" b="1" dirty="0">
                <a:solidFill>
                  <a:srgbClr val="FF0000"/>
                </a:solidFill>
                <a:latin typeface="Calibri" panose="020F0502020204030204" pitchFamily="34" charset="0"/>
                <a:cs typeface="Calibri" panose="020F0502020204030204" pitchFamily="34" charset="0"/>
              </a:rPr>
              <a:t>initial change reinforced by another process.</a:t>
            </a:r>
          </a:p>
          <a:p>
            <a:pPr lvl="1" eaLnBrk="1" hangingPunct="1">
              <a:lnSpc>
                <a:spcPct val="90000"/>
              </a:lnSpc>
            </a:pPr>
            <a:endParaRPr lang="en-US" altLang="en-US" sz="2000" dirty="0">
              <a:solidFill>
                <a:schemeClr val="hlink"/>
              </a:solidFill>
              <a:latin typeface="Calibri" panose="020F0502020204030204" pitchFamily="34" charset="0"/>
              <a:cs typeface="Calibri" panose="020F0502020204030204" pitchFamily="34" charset="0"/>
            </a:endParaRPr>
          </a:p>
          <a:p>
            <a:pPr marL="0" indent="0">
              <a:lnSpc>
                <a:spcPct val="90000"/>
              </a:lnSpc>
            </a:pPr>
            <a:r>
              <a:rPr lang="en-US" altLang="en-US" sz="2000" dirty="0">
                <a:latin typeface="Calibri" panose="020F0502020204030204" pitchFamily="34" charset="0"/>
                <a:cs typeface="Calibri" panose="020F0502020204030204" pitchFamily="34" charset="0"/>
              </a:rPr>
              <a:t>Negative feedback: </a:t>
            </a:r>
            <a:r>
              <a:rPr lang="en-US" altLang="en-US" sz="2000" b="1" dirty="0">
                <a:solidFill>
                  <a:srgbClr val="FF0000"/>
                </a:solidFill>
                <a:latin typeface="Calibri" panose="020F0502020204030204" pitchFamily="34" charset="0"/>
                <a:cs typeface="Calibri" panose="020F0502020204030204" pitchFamily="34" charset="0"/>
              </a:rPr>
              <a:t>initial change counteracted by another process.</a:t>
            </a:r>
            <a:endParaRPr lang="en-US" altLang="en-US" sz="2000"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6434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67" name="Text Box 19">
            <a:extLst>
              <a:ext uri="{FF2B5EF4-FFF2-40B4-BE49-F238E27FC236}">
                <a16:creationId xmlns:a16="http://schemas.microsoft.com/office/drawing/2014/main" id="{0A0DD20D-495C-4C79-B645-623F384A0082}"/>
              </a:ext>
            </a:extLst>
          </p:cNvPr>
          <p:cNvSpPr txBox="1">
            <a:spLocks noChangeArrowheads="1"/>
          </p:cNvSpPr>
          <p:nvPr/>
        </p:nvSpPr>
        <p:spPr bwMode="auto">
          <a:xfrm>
            <a:off x="389465" y="1507354"/>
            <a:ext cx="113528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r>
              <a:rPr lang="en-GB" altLang="en-US" sz="2000" dirty="0">
                <a:latin typeface="Calibri" panose="020F0502020204030204" pitchFamily="34" charset="0"/>
                <a:cs typeface="Calibri" panose="020F0502020204030204" pitchFamily="34" charset="0"/>
              </a:rPr>
              <a:t>Definition of radiative forcing: </a:t>
            </a:r>
          </a:p>
          <a:p>
            <a:pPr eaLnBrk="1" hangingPunct="1">
              <a:spcBef>
                <a:spcPct val="0"/>
              </a:spcBef>
            </a:pPr>
            <a:endParaRPr lang="en-GB" altLang="en-US" sz="2000" dirty="0">
              <a:latin typeface="Calibri" panose="020F0502020204030204" pitchFamily="34" charset="0"/>
              <a:cs typeface="Calibri" panose="020F0502020204030204" pitchFamily="34" charset="0"/>
            </a:endParaRPr>
          </a:p>
          <a:p>
            <a:pPr eaLnBrk="1" hangingPunct="1">
              <a:spcBef>
                <a:spcPct val="0"/>
              </a:spcBef>
            </a:pPr>
            <a:r>
              <a:rPr lang="en-US" altLang="en-US" sz="2000" i="1" dirty="0">
                <a:latin typeface="Calibri" panose="020F0502020204030204" pitchFamily="34" charset="0"/>
                <a:cs typeface="Calibri" panose="020F0502020204030204" pitchFamily="34" charset="0"/>
              </a:rPr>
              <a:t>The change in radiation balance at the tropopause between the incoming solar radiation and the outgoing earth’s radiation (net irradiance). </a:t>
            </a:r>
          </a:p>
          <a:p>
            <a:endParaRPr lang="en-US" altLang="en-US" sz="2000" i="1" dirty="0">
              <a:latin typeface="Calibri" panose="020F0502020204030204" pitchFamily="34" charset="0"/>
              <a:cs typeface="Calibri" panose="020F0502020204030204" pitchFamily="34" charset="0"/>
            </a:endParaRPr>
          </a:p>
          <a:p>
            <a:r>
              <a:rPr lang="en-US" altLang="en-US" sz="2000" dirty="0">
                <a:latin typeface="Calibri" panose="020F0502020204030204" pitchFamily="34" charset="0"/>
                <a:cs typeface="Calibri" panose="020F0502020204030204" pitchFamily="34" charset="0"/>
              </a:rPr>
              <a:t>A positive forcing warms the climate system</a:t>
            </a:r>
          </a:p>
          <a:p>
            <a:r>
              <a:rPr lang="en-US" altLang="en-US" sz="2000" dirty="0">
                <a:latin typeface="Calibri" panose="020F0502020204030204" pitchFamily="34" charset="0"/>
                <a:cs typeface="Calibri" panose="020F0502020204030204" pitchFamily="34" charset="0"/>
              </a:rPr>
              <a:t>A negative forcing cools the climate system</a:t>
            </a:r>
            <a:endParaRPr lang="en-US" altLang="en-US" sz="2000" i="1" dirty="0">
              <a:latin typeface="Calibri" panose="020F0502020204030204" pitchFamily="34" charset="0"/>
              <a:cs typeface="Calibri" panose="020F0502020204030204" pitchFamily="34" charset="0"/>
            </a:endParaRPr>
          </a:p>
          <a:p>
            <a:pPr eaLnBrk="1" hangingPunct="1">
              <a:spcBef>
                <a:spcPct val="0"/>
              </a:spcBef>
            </a:pPr>
            <a:endParaRPr lang="en-US" altLang="en-US" sz="2000" i="1" dirty="0">
              <a:latin typeface="Calibri" panose="020F0502020204030204" pitchFamily="34" charset="0"/>
              <a:cs typeface="Calibri" panose="020F0502020204030204" pitchFamily="34" charset="0"/>
            </a:endParaRPr>
          </a:p>
          <a:p>
            <a:pPr eaLnBrk="1" hangingPunct="1">
              <a:spcBef>
                <a:spcPct val="0"/>
              </a:spcBef>
            </a:pPr>
            <a:r>
              <a:rPr lang="en-US" altLang="en-US" sz="2000" dirty="0">
                <a:latin typeface="Calibri" panose="020F0502020204030204" pitchFamily="34" charset="0"/>
                <a:cs typeface="Calibri" panose="020F0502020204030204" pitchFamily="34" charset="0"/>
              </a:rPr>
              <a:t>Significance: </a:t>
            </a:r>
          </a:p>
          <a:p>
            <a:pPr eaLnBrk="1" hangingPunct="1">
              <a:spcBef>
                <a:spcPct val="0"/>
              </a:spcBef>
            </a:pPr>
            <a:endParaRPr lang="en-US" altLang="en-US" sz="2000" dirty="0">
              <a:latin typeface="Calibri" panose="020F0502020204030204" pitchFamily="34" charset="0"/>
              <a:cs typeface="Calibri" panose="020F0502020204030204" pitchFamily="34" charset="0"/>
            </a:endParaRPr>
          </a:p>
          <a:p>
            <a:pPr eaLnBrk="1" hangingPunct="1">
              <a:spcBef>
                <a:spcPct val="0"/>
              </a:spcBef>
            </a:pPr>
            <a:r>
              <a:rPr lang="en-US" altLang="en-US" sz="2000" i="1" dirty="0">
                <a:latin typeface="Calibri" panose="020F0502020204030204" pitchFamily="34" charset="0"/>
                <a:cs typeface="Calibri" panose="020F0502020204030204" pitchFamily="34" charset="0"/>
              </a:rPr>
              <a:t>Increase in greenhouse gases has reduced the amount of longwave radiation leaving the troposphere –positive radiative forcing.</a:t>
            </a:r>
          </a:p>
          <a:p>
            <a:pPr eaLnBrk="1" hangingPunct="1">
              <a:spcBef>
                <a:spcPct val="0"/>
              </a:spcBef>
            </a:pPr>
            <a:endParaRPr lang="en-US" altLang="en-US" sz="2000" i="1" dirty="0">
              <a:latin typeface="Calibri" panose="020F0502020204030204" pitchFamily="34" charset="0"/>
              <a:cs typeface="Calibri" panose="020F0502020204030204" pitchFamily="34" charset="0"/>
            </a:endParaRPr>
          </a:p>
          <a:p>
            <a:pPr>
              <a:spcBef>
                <a:spcPct val="0"/>
              </a:spcBef>
            </a:pPr>
            <a:r>
              <a:rPr lang="en-GB" sz="2000" dirty="0">
                <a:latin typeface="Calibri" panose="020F0502020204030204" pitchFamily="34" charset="0"/>
                <a:cs typeface="Calibri" panose="020F0502020204030204" pitchFamily="34" charset="0"/>
              </a:rPr>
              <a:t>In the real atmosphere there are a number of positive and negative feedbacks that will occur and interact non-linearly with each other.</a:t>
            </a:r>
          </a:p>
          <a:p>
            <a:pPr eaLnBrk="1" hangingPunct="1">
              <a:spcBef>
                <a:spcPct val="0"/>
              </a:spcBef>
            </a:pPr>
            <a:endParaRPr lang="en-US" altLang="en-US" sz="2400" i="1" dirty="0">
              <a:latin typeface="Calibri" panose="020F0502020204030204" pitchFamily="34" charset="0"/>
              <a:cs typeface="Calibri" panose="020F0502020204030204" pitchFamily="34" charset="0"/>
            </a:endParaRPr>
          </a:p>
          <a:p>
            <a:pPr eaLnBrk="1" hangingPunct="1">
              <a:spcBef>
                <a:spcPct val="0"/>
              </a:spcBef>
            </a:pPr>
            <a:endParaRPr lang="en-GB" altLang="en-US" sz="2400" dirty="0">
              <a:latin typeface="Calibri" panose="020F0502020204030204" pitchFamily="34" charset="0"/>
              <a:cs typeface="Calibri" panose="020F0502020204030204" pitchFamily="34" charset="0"/>
            </a:endParaRPr>
          </a:p>
        </p:txBody>
      </p:sp>
      <p:sp>
        <p:nvSpPr>
          <p:cNvPr id="2" name="Freeform 13">
            <a:extLst>
              <a:ext uri="{FF2B5EF4-FFF2-40B4-BE49-F238E27FC236}">
                <a16:creationId xmlns:a16="http://schemas.microsoft.com/office/drawing/2014/main" id="{46897283-F24F-B129-DF54-A9A7D03B6C3B}"/>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88B86894-FBFD-B4A2-7592-0F6297682F74}"/>
              </a:ext>
            </a:extLst>
          </p:cNvPr>
          <p:cNvSpPr txBox="1"/>
          <p:nvPr/>
        </p:nvSpPr>
        <p:spPr>
          <a:xfrm>
            <a:off x="389465" y="684091"/>
            <a:ext cx="7336552"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Radiative Forcing </a:t>
            </a:r>
          </a:p>
        </p:txBody>
      </p:sp>
      <p:sp>
        <p:nvSpPr>
          <p:cNvPr id="6" name="AutoShape 4">
            <a:extLst>
              <a:ext uri="{FF2B5EF4-FFF2-40B4-BE49-F238E27FC236}">
                <a16:creationId xmlns:a16="http://schemas.microsoft.com/office/drawing/2014/main" id="{6186ABA4-8048-A831-99F6-EDF3EB03F16A}"/>
              </a:ext>
            </a:extLst>
          </p:cNvPr>
          <p:cNvSpPr>
            <a:spLocks noChangeArrowheads="1"/>
          </p:cNvSpPr>
          <p:nvPr/>
        </p:nvSpPr>
        <p:spPr bwMode="auto">
          <a:xfrm>
            <a:off x="5161281" y="3180080"/>
            <a:ext cx="335280" cy="326706"/>
          </a:xfrm>
          <a:prstGeom prst="plus">
            <a:avLst>
              <a:gd name="adj" fmla="val 25000"/>
            </a:avLst>
          </a:prstGeom>
          <a:solidFill>
            <a:srgbClr val="FF0000"/>
          </a:solidFill>
          <a:ln w="9525">
            <a:solidFill>
              <a:schemeClr val="tx1"/>
            </a:solidFill>
            <a:miter lim="800000"/>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endParaRPr lang="en-US" altLang="en-US" sz="2400">
              <a:latin typeface="Times New Roman" panose="02020603050405020304" pitchFamily="18" charset="0"/>
            </a:endParaRPr>
          </a:p>
        </p:txBody>
      </p:sp>
      <p:sp>
        <p:nvSpPr>
          <p:cNvPr id="7" name="Rectangle 5">
            <a:extLst>
              <a:ext uri="{FF2B5EF4-FFF2-40B4-BE49-F238E27FC236}">
                <a16:creationId xmlns:a16="http://schemas.microsoft.com/office/drawing/2014/main" id="{DA2BC564-AE0B-6084-1567-D36318DD9EF6}"/>
              </a:ext>
            </a:extLst>
          </p:cNvPr>
          <p:cNvSpPr>
            <a:spLocks noChangeArrowheads="1"/>
          </p:cNvSpPr>
          <p:nvPr/>
        </p:nvSpPr>
        <p:spPr bwMode="auto">
          <a:xfrm>
            <a:off x="5057776" y="3683152"/>
            <a:ext cx="542289" cy="113982"/>
          </a:xfrm>
          <a:prstGeom prst="rect">
            <a:avLst/>
          </a:prstGeom>
          <a:solidFill>
            <a:schemeClr val="accent2"/>
          </a:solidFill>
          <a:ln w="9525">
            <a:solidFill>
              <a:schemeClr val="tx1"/>
            </a:solidFill>
            <a:miter lim="800000"/>
            <a:headEnd/>
            <a:tailEnd/>
          </a:ln>
        </p:spPr>
        <p:txBody>
          <a:bodyPr wrap="none" anchor="ctr"/>
          <a:lstStyle>
            <a:lvl1pPr>
              <a:spcBef>
                <a:spcPct val="20000"/>
              </a:spcBef>
              <a:defRPr sz="3100">
                <a:solidFill>
                  <a:schemeClr val="tx1"/>
                </a:solidFill>
                <a:latin typeface="Arial" panose="020B0604020202020204" pitchFamily="34" charset="0"/>
              </a:defRPr>
            </a:lvl1pPr>
            <a:lvl2pPr marL="742950" indent="-285750">
              <a:spcBef>
                <a:spcPct val="20000"/>
              </a:spcBef>
              <a:buChar char="–"/>
              <a:defRPr sz="2700">
                <a:solidFill>
                  <a:schemeClr val="tx1"/>
                </a:solidFill>
                <a:latin typeface="Arial" panose="020B0604020202020204" pitchFamily="34" charset="0"/>
              </a:defRPr>
            </a:lvl2pPr>
            <a:lvl3pPr marL="1143000" indent="-228600">
              <a:spcBef>
                <a:spcPct val="20000"/>
              </a:spcBef>
              <a:buFont typeface="Wingdings" pitchFamily="2" charset="2"/>
              <a:buChar char="§"/>
              <a:defRPr sz="2300">
                <a:solidFill>
                  <a:schemeClr val="tx1"/>
                </a:solidFill>
                <a:latin typeface="Arial" panose="020B0604020202020204" pitchFamily="34" charset="0"/>
              </a:defRPr>
            </a:lvl3pPr>
            <a:lvl4pPr marL="1600200" indent="-228600">
              <a:spcBef>
                <a:spcPct val="20000"/>
              </a:spcBef>
              <a:buChar char="–"/>
              <a:defRPr sz="1900">
                <a:solidFill>
                  <a:schemeClr val="tx1"/>
                </a:solidFill>
                <a:latin typeface="Arial" panose="020B0604020202020204" pitchFamily="34" charset="0"/>
              </a:defRPr>
            </a:lvl4pPr>
            <a:lvl5pPr marL="2057400" indent="-228600">
              <a:spcBef>
                <a:spcPct val="20000"/>
              </a:spcBef>
              <a:buChar char="»"/>
              <a:defRPr sz="19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defRPr>
            </a:lvl9pPr>
          </a:lstStyle>
          <a:p>
            <a:pPr eaLnBrk="1" hangingPunct="1">
              <a:spcBef>
                <a:spcPct val="0"/>
              </a:spcBef>
            </a:pPr>
            <a:endParaRPr lang="en-US" altLang="en-US"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6867">
                                            <p:txEl>
                                              <p:pRg st="0" end="0"/>
                                            </p:txEl>
                                          </p:spTgt>
                                        </p:tgtEl>
                                        <p:attrNameLst>
                                          <p:attrName>style.visibility</p:attrName>
                                        </p:attrNameLst>
                                      </p:cBhvr>
                                      <p:to>
                                        <p:strVal val="visible"/>
                                      </p:to>
                                    </p:set>
                                    <p:animEffect transition="in" filter="fade">
                                      <p:cBhvr>
                                        <p:cTn id="7" dur="500"/>
                                        <p:tgtEl>
                                          <p:spTgt spid="206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06867">
                                            <p:txEl>
                                              <p:pRg st="2" end="2"/>
                                            </p:txEl>
                                          </p:spTgt>
                                        </p:tgtEl>
                                        <p:attrNameLst>
                                          <p:attrName>style.visibility</p:attrName>
                                        </p:attrNameLst>
                                      </p:cBhvr>
                                      <p:to>
                                        <p:strVal val="visible"/>
                                      </p:to>
                                    </p:set>
                                    <p:animEffect transition="in" filter="fade">
                                      <p:cBhvr>
                                        <p:cTn id="12" dur="500"/>
                                        <p:tgtEl>
                                          <p:spTgt spid="2068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6867">
                                            <p:txEl>
                                              <p:pRg st="4" end="4"/>
                                            </p:txEl>
                                          </p:spTgt>
                                        </p:tgtEl>
                                        <p:attrNameLst>
                                          <p:attrName>style.visibility</p:attrName>
                                        </p:attrNameLst>
                                      </p:cBhvr>
                                      <p:to>
                                        <p:strVal val="visible"/>
                                      </p:to>
                                    </p:set>
                                    <p:animEffect transition="in" filter="fade">
                                      <p:cBhvr>
                                        <p:cTn id="17" dur="500"/>
                                        <p:tgtEl>
                                          <p:spTgt spid="20686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6867">
                                            <p:txEl>
                                              <p:pRg st="5" end="5"/>
                                            </p:txEl>
                                          </p:spTgt>
                                        </p:tgtEl>
                                        <p:attrNameLst>
                                          <p:attrName>style.visibility</p:attrName>
                                        </p:attrNameLst>
                                      </p:cBhvr>
                                      <p:to>
                                        <p:strVal val="visible"/>
                                      </p:to>
                                    </p:set>
                                    <p:animEffect transition="in" filter="fade">
                                      <p:cBhvr>
                                        <p:cTn id="22" dur="500"/>
                                        <p:tgtEl>
                                          <p:spTgt spid="20686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6867">
                                            <p:txEl>
                                              <p:pRg st="7" end="7"/>
                                            </p:txEl>
                                          </p:spTgt>
                                        </p:tgtEl>
                                        <p:attrNameLst>
                                          <p:attrName>style.visibility</p:attrName>
                                        </p:attrNameLst>
                                      </p:cBhvr>
                                      <p:to>
                                        <p:strVal val="visible"/>
                                      </p:to>
                                    </p:set>
                                    <p:animEffect transition="in" filter="fade">
                                      <p:cBhvr>
                                        <p:cTn id="35" dur="500"/>
                                        <p:tgtEl>
                                          <p:spTgt spid="206867">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6867">
                                            <p:txEl>
                                              <p:pRg st="9" end="9"/>
                                            </p:txEl>
                                          </p:spTgt>
                                        </p:tgtEl>
                                        <p:attrNameLst>
                                          <p:attrName>style.visibility</p:attrName>
                                        </p:attrNameLst>
                                      </p:cBhvr>
                                      <p:to>
                                        <p:strVal val="visible"/>
                                      </p:to>
                                    </p:set>
                                    <p:animEffect transition="in" filter="fade">
                                      <p:cBhvr>
                                        <p:cTn id="40" dur="500"/>
                                        <p:tgtEl>
                                          <p:spTgt spid="206867">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06867">
                                            <p:txEl>
                                              <p:pRg st="11" end="11"/>
                                            </p:txEl>
                                          </p:spTgt>
                                        </p:tgtEl>
                                        <p:attrNameLst>
                                          <p:attrName>style.visibility</p:attrName>
                                        </p:attrNameLst>
                                      </p:cBhvr>
                                      <p:to>
                                        <p:strVal val="visible"/>
                                      </p:to>
                                    </p:set>
                                    <p:animEffect transition="in" filter="fade">
                                      <p:cBhvr>
                                        <p:cTn id="45" dur="500"/>
                                        <p:tgtEl>
                                          <p:spTgt spid="20686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67" grpId="0" build="p"/>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3">
            <a:extLst>
              <a:ext uri="{FF2B5EF4-FFF2-40B4-BE49-F238E27FC236}">
                <a16:creationId xmlns:a16="http://schemas.microsoft.com/office/drawing/2014/main" id="{9F8A02AB-BF95-7E65-ABAA-7FD5BCB48127}"/>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54DF76F5-7F9F-54FB-6D40-B0B980F8A1E8}"/>
              </a:ext>
            </a:extLst>
          </p:cNvPr>
          <p:cNvSpPr txBox="1"/>
          <p:nvPr/>
        </p:nvSpPr>
        <p:spPr>
          <a:xfrm>
            <a:off x="389464" y="684091"/>
            <a:ext cx="9313335"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Feedback – Positive Examples</a:t>
            </a:r>
          </a:p>
        </p:txBody>
      </p:sp>
      <p:sp>
        <p:nvSpPr>
          <p:cNvPr id="6" name="TextBox 5">
            <a:extLst>
              <a:ext uri="{FF2B5EF4-FFF2-40B4-BE49-F238E27FC236}">
                <a16:creationId xmlns:a16="http://schemas.microsoft.com/office/drawing/2014/main" id="{8A50EFE4-285B-6363-D77F-0B0D27462C6A}"/>
              </a:ext>
            </a:extLst>
          </p:cNvPr>
          <p:cNvSpPr txBox="1"/>
          <p:nvPr/>
        </p:nvSpPr>
        <p:spPr>
          <a:xfrm>
            <a:off x="314960" y="1502688"/>
            <a:ext cx="6929120" cy="5632311"/>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anose="020F0502020204030204" pitchFamily="34" charset="0"/>
                <a:cs typeface="Calibri" panose="020F0502020204030204" pitchFamily="34" charset="0"/>
              </a:rPr>
              <a:t>Climate feedbacks describe how components of the Earth system respond to an initial forcing, either reinforcing or counteracting the resulting climate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Calibri" panose="020F0502020204030204" pitchFamily="34" charset="0"/>
              <a:cs typeface="Calibri" panose="020F0502020204030204" pitchFamily="34" charset="0"/>
            </a:endParaRPr>
          </a:p>
          <a:p>
            <a:r>
              <a:rPr lang="en-GB" i="1" dirty="0">
                <a:latin typeface="Calibri" panose="020F0502020204030204" pitchFamily="34" charset="0"/>
                <a:cs typeface="Calibri" panose="020F0502020204030204" pitchFamily="34" charset="0"/>
              </a:rPr>
              <a:t>(Processes that amplify an initial climate change)</a:t>
            </a:r>
          </a:p>
          <a:p>
            <a:endParaRPr lang="en-GB"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Ice–albedo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Melting ice and snow reduce surface albedo, causing more solar radiation to be absorbed and further warming.</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Water vapour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Warmer air holds more water vapour, a powerful greenhouse gas, which enhances the greenhouse effect.</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Ocean carbon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As seawater warms, the oceans’ capacity to dissolve CO₂ decreases, leaving more CO₂ in the atmosphere.</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Vegetation–albedo feedback (regional)</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Expansion of darker vegetation (e.g. forests into high latitudes) lowers surface albedo, increasing heat absorption.</a:t>
            </a:r>
          </a:p>
          <a:p>
            <a:pPr>
              <a:defRPr/>
            </a:pPr>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pic>
        <p:nvPicPr>
          <p:cNvPr id="8" name="Picture 7" descr="A circular arrow with arrows and crosses&#10;&#10;AI-generated content may be incorrect.">
            <a:extLst>
              <a:ext uri="{FF2B5EF4-FFF2-40B4-BE49-F238E27FC236}">
                <a16:creationId xmlns:a16="http://schemas.microsoft.com/office/drawing/2014/main" id="{DA2EEEB7-AD7E-5873-BEB7-58B9C8526BB4}"/>
              </a:ext>
            </a:extLst>
          </p:cNvPr>
          <p:cNvPicPr>
            <a:picLocks noChangeAspect="1"/>
          </p:cNvPicPr>
          <p:nvPr/>
        </p:nvPicPr>
        <p:blipFill>
          <a:blip r:embed="rId4"/>
          <a:stretch>
            <a:fillRect/>
          </a:stretch>
        </p:blipFill>
        <p:spPr>
          <a:xfrm>
            <a:off x="7628966" y="1645919"/>
            <a:ext cx="4113375" cy="41133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B1A67-05A5-8CCD-D518-77ABB90FDAB4}"/>
            </a:ext>
          </a:extLst>
        </p:cNvPr>
        <p:cNvGrpSpPr/>
        <p:nvPr/>
      </p:nvGrpSpPr>
      <p:grpSpPr>
        <a:xfrm>
          <a:off x="0" y="0"/>
          <a:ext cx="0" cy="0"/>
          <a:chOff x="0" y="0"/>
          <a:chExt cx="0" cy="0"/>
        </a:xfrm>
      </p:grpSpPr>
      <p:sp>
        <p:nvSpPr>
          <p:cNvPr id="2" name="Freeform 13">
            <a:extLst>
              <a:ext uri="{FF2B5EF4-FFF2-40B4-BE49-F238E27FC236}">
                <a16:creationId xmlns:a16="http://schemas.microsoft.com/office/drawing/2014/main" id="{5C7EDDB5-372A-E8C5-8F43-33B4A6842CD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A271F20F-9239-9B07-E2F8-DC1035730234}"/>
              </a:ext>
            </a:extLst>
          </p:cNvPr>
          <p:cNvSpPr txBox="1"/>
          <p:nvPr/>
        </p:nvSpPr>
        <p:spPr>
          <a:xfrm>
            <a:off x="389465" y="684091"/>
            <a:ext cx="7336552" cy="574324"/>
          </a:xfrm>
          <a:prstGeom prst="rect">
            <a:avLst/>
          </a:prstGeom>
        </p:spPr>
        <p:txBody>
          <a:bodyPr wrap="square" lIns="0" tIns="0" rIns="0" bIns="0" rtlCol="0" anchor="t">
            <a:spAutoFit/>
          </a:bodyPr>
          <a:lstStyle/>
          <a:p>
            <a:pPr defTabSz="609630">
              <a:lnSpc>
                <a:spcPts val="4573"/>
              </a:lnSpc>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Feedback – Negative Examples</a:t>
            </a:r>
          </a:p>
        </p:txBody>
      </p:sp>
      <p:sp>
        <p:nvSpPr>
          <p:cNvPr id="6" name="TextBox 5">
            <a:extLst>
              <a:ext uri="{FF2B5EF4-FFF2-40B4-BE49-F238E27FC236}">
                <a16:creationId xmlns:a16="http://schemas.microsoft.com/office/drawing/2014/main" id="{1310D0DF-84F7-ADDE-F895-3E7A5A58164D}"/>
              </a:ext>
            </a:extLst>
          </p:cNvPr>
          <p:cNvSpPr txBox="1"/>
          <p:nvPr/>
        </p:nvSpPr>
        <p:spPr>
          <a:xfrm>
            <a:off x="304800" y="1416596"/>
            <a:ext cx="6929120" cy="923330"/>
          </a:xfrm>
          <a:prstGeom prst="rect">
            <a:avLst/>
          </a:prstGeom>
          <a:noFill/>
        </p:spPr>
        <p:txBody>
          <a:bodyPr wrap="square">
            <a:spAutoFit/>
          </a:bodyPr>
          <a:lstStyle/>
          <a:p>
            <a:pPr>
              <a:defRPr/>
            </a:pPr>
            <a:endParaRPr lang="en-US" altLang="en-US" dirty="0"/>
          </a:p>
          <a:p>
            <a:pPr>
              <a:defRPr/>
            </a:pPr>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pic>
        <p:nvPicPr>
          <p:cNvPr id="5" name="Picture 4" descr="A circular arrow with arrows and circles&#10;&#10;AI-generated content may be incorrect.">
            <a:extLst>
              <a:ext uri="{FF2B5EF4-FFF2-40B4-BE49-F238E27FC236}">
                <a16:creationId xmlns:a16="http://schemas.microsoft.com/office/drawing/2014/main" id="{8F1B3969-C5BA-B7CC-7CCC-15568D825BAC}"/>
              </a:ext>
            </a:extLst>
          </p:cNvPr>
          <p:cNvPicPr>
            <a:picLocks noChangeAspect="1"/>
          </p:cNvPicPr>
          <p:nvPr/>
        </p:nvPicPr>
        <p:blipFill>
          <a:blip r:embed="rId4"/>
          <a:srcRect l="6199" r="4970" b="5706"/>
          <a:stretch>
            <a:fillRect/>
          </a:stretch>
        </p:blipFill>
        <p:spPr>
          <a:xfrm>
            <a:off x="7444705" y="1525614"/>
            <a:ext cx="4213896" cy="4473096"/>
          </a:xfrm>
          <a:prstGeom prst="ellipse">
            <a:avLst/>
          </a:prstGeom>
        </p:spPr>
      </p:pic>
      <p:sp>
        <p:nvSpPr>
          <p:cNvPr id="12" name="TextBox 11">
            <a:extLst>
              <a:ext uri="{FF2B5EF4-FFF2-40B4-BE49-F238E27FC236}">
                <a16:creationId xmlns:a16="http://schemas.microsoft.com/office/drawing/2014/main" id="{DF87A69B-F1EB-8CEA-851C-9942ECB3C159}"/>
              </a:ext>
            </a:extLst>
          </p:cNvPr>
          <p:cNvSpPr txBox="1"/>
          <p:nvPr/>
        </p:nvSpPr>
        <p:spPr>
          <a:xfrm>
            <a:off x="314960" y="1502688"/>
            <a:ext cx="6929120" cy="5078313"/>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Calibri" panose="020F0502020204030204" pitchFamily="34" charset="0"/>
                <a:cs typeface="Calibri" panose="020F0502020204030204" pitchFamily="34" charset="0"/>
              </a:rPr>
              <a:t>Climate feedbacks describe how components of the Earth system respond to an initial forcing, either reinforcing or counteracting the resulting climate change.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Calibri" panose="020F0502020204030204" pitchFamily="34" charset="0"/>
              <a:cs typeface="Calibri" panose="020F0502020204030204" pitchFamily="34" charset="0"/>
            </a:endParaRPr>
          </a:p>
          <a:p>
            <a:r>
              <a:rPr lang="en-GB" i="1" dirty="0">
                <a:latin typeface="Calibri" panose="020F0502020204030204" pitchFamily="34" charset="0"/>
                <a:cs typeface="Calibri" panose="020F0502020204030204" pitchFamily="34" charset="0"/>
              </a:rPr>
              <a:t>(Processes that counteract an imposed climate change)</a:t>
            </a:r>
            <a:endParaRPr lang="en-GB" dirty="0">
              <a:latin typeface="Calibri" panose="020F0502020204030204" pitchFamily="34" charset="0"/>
              <a:cs typeface="Calibri" panose="020F0502020204030204" pitchFamily="34" charset="0"/>
            </a:endParaRPr>
          </a:p>
          <a:p>
            <a:endParaRPr lang="en-GB" b="1"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CO₂ fertilisation effect</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Higher atmospheric CO₂ can enhance plant growth, increasing carbon uptake through photosynthesis.</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Increased terrestrial carbon storage</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Warmer temperatures in some regions lengthen growing seasons, allowing greater carbon storage in soils and biomass.</a:t>
            </a:r>
          </a:p>
          <a:p>
            <a:pPr marL="285750" indent="-285750">
              <a:buFont typeface="Arial" panose="020B0604020202020204" pitchFamily="34" charset="0"/>
              <a:buChar char="•"/>
            </a:pPr>
            <a:r>
              <a:rPr lang="en-GB" b="1" dirty="0">
                <a:latin typeface="Calibri" panose="020F0502020204030204" pitchFamily="34" charset="0"/>
                <a:cs typeface="Calibri" panose="020F0502020204030204" pitchFamily="34" charset="0"/>
              </a:rPr>
              <a:t>Chemical weathering feedback</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Higher temperatures and increased rainfall enhance silicate rock weathering, which removes CO₂ from the atmosphere over long timescales.</a:t>
            </a:r>
          </a:p>
          <a:p>
            <a:pPr>
              <a:defRPr/>
            </a:pPr>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Tree>
    <p:extLst>
      <p:ext uri="{BB962C8B-B14F-4D97-AF65-F5344CB8AC3E}">
        <p14:creationId xmlns:p14="http://schemas.microsoft.com/office/powerpoint/2010/main" val="1179388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5DE993-C49F-4302-9F71-406715565E4C}"/>
              </a:ext>
            </a:extLst>
          </p:cNvPr>
          <p:cNvSpPr txBox="1"/>
          <p:nvPr/>
        </p:nvSpPr>
        <p:spPr>
          <a:xfrm>
            <a:off x="405624" y="4576759"/>
            <a:ext cx="9436804" cy="1246495"/>
          </a:xfrm>
          <a:prstGeom prst="rect">
            <a:avLst/>
          </a:prstGeom>
          <a:noFill/>
        </p:spPr>
        <p:txBody>
          <a:bodyPr wrap="square" rtlCol="0">
            <a:spAutoFit/>
          </a:bodyPr>
          <a:lstStyle/>
          <a:p>
            <a:pPr>
              <a:spcAft>
                <a:spcPts val="900"/>
              </a:spcAft>
            </a:pPr>
            <a:r>
              <a:rPr lang="en-GB" sz="2000" dirty="0">
                <a:latin typeface="Calibri" panose="020F0502020204030204" pitchFamily="34" charset="0"/>
                <a:cs typeface="Calibri" panose="020F0502020204030204" pitchFamily="34" charset="0"/>
              </a:rPr>
              <a:t>Global			Regional		Local changes</a:t>
            </a:r>
          </a:p>
          <a:p>
            <a:pPr>
              <a:spcAft>
                <a:spcPts val="900"/>
              </a:spcAft>
            </a:pPr>
            <a:r>
              <a:rPr lang="en-GB" sz="2000" dirty="0">
                <a:latin typeface="Calibri" panose="020F0502020204030204" pitchFamily="34" charset="0"/>
                <a:cs typeface="Calibri" panose="020F0502020204030204" pitchFamily="34" charset="0"/>
              </a:rPr>
              <a:t>Temperature		Precipitation	Other Earth-system changes</a:t>
            </a:r>
          </a:p>
          <a:p>
            <a:pPr>
              <a:spcAft>
                <a:spcPts val="900"/>
              </a:spcAft>
            </a:pPr>
            <a:r>
              <a:rPr lang="en-GB" sz="2000" dirty="0">
                <a:latin typeface="Calibri" panose="020F0502020204030204" pitchFamily="34" charset="0"/>
                <a:cs typeface="Calibri" panose="020F0502020204030204" pitchFamily="34" charset="0"/>
              </a:rPr>
              <a:t>Near past/future				Far past/future </a:t>
            </a:r>
          </a:p>
        </p:txBody>
      </p:sp>
      <p:sp>
        <p:nvSpPr>
          <p:cNvPr id="10" name="TextBox 9">
            <a:extLst>
              <a:ext uri="{FF2B5EF4-FFF2-40B4-BE49-F238E27FC236}">
                <a16:creationId xmlns:a16="http://schemas.microsoft.com/office/drawing/2014/main" id="{E317FD01-910F-4433-91F2-BE3B0B8C4F93}"/>
              </a:ext>
            </a:extLst>
          </p:cNvPr>
          <p:cNvSpPr txBox="1"/>
          <p:nvPr/>
        </p:nvSpPr>
        <p:spPr>
          <a:xfrm>
            <a:off x="405624" y="1742006"/>
            <a:ext cx="3571170" cy="1431161"/>
          </a:xfrm>
          <a:prstGeom prst="rect">
            <a:avLst/>
          </a:prstGeom>
          <a:noFill/>
        </p:spPr>
        <p:txBody>
          <a:bodyPr wrap="none" rtlCol="0">
            <a:spAutoFit/>
          </a:bodyPr>
          <a:lstStyle/>
          <a:p>
            <a:pPr marL="385763" indent="-385763">
              <a:spcAft>
                <a:spcPts val="900"/>
              </a:spcAft>
              <a:buAutoNum type="arabicPeriod"/>
            </a:pPr>
            <a:r>
              <a:rPr lang="en-GB" sz="2400" dirty="0">
                <a:latin typeface="Calibri" panose="020F0502020204030204" pitchFamily="34" charset="0"/>
                <a:cs typeface="Calibri" panose="020F0502020204030204" pitchFamily="34" charset="0"/>
              </a:rPr>
              <a:t>Measurements</a:t>
            </a:r>
          </a:p>
          <a:p>
            <a:pPr marL="385763" indent="-385763">
              <a:spcAft>
                <a:spcPts val="900"/>
              </a:spcAft>
              <a:buAutoNum type="arabicPeriod"/>
            </a:pPr>
            <a:r>
              <a:rPr lang="en-GB" sz="2400" dirty="0">
                <a:latin typeface="Calibri" panose="020F0502020204030204" pitchFamily="34" charset="0"/>
                <a:cs typeface="Calibri" panose="020F0502020204030204" pitchFamily="34" charset="0"/>
              </a:rPr>
              <a:t>Internal variability</a:t>
            </a:r>
          </a:p>
          <a:p>
            <a:pPr marL="385763" indent="-385763">
              <a:spcAft>
                <a:spcPts val="900"/>
              </a:spcAft>
              <a:buAutoNum type="arabicPeriod"/>
            </a:pPr>
            <a:r>
              <a:rPr lang="en-GB" sz="2400" dirty="0">
                <a:latin typeface="Calibri" panose="020F0502020204030204" pitchFamily="34" charset="0"/>
                <a:cs typeface="Calibri" panose="020F0502020204030204" pitchFamily="34" charset="0"/>
              </a:rPr>
              <a:t>Scientific understanding</a:t>
            </a:r>
          </a:p>
        </p:txBody>
      </p:sp>
      <p:sp>
        <p:nvSpPr>
          <p:cNvPr id="11" name="Arrow: Right 10">
            <a:extLst>
              <a:ext uri="{FF2B5EF4-FFF2-40B4-BE49-F238E27FC236}">
                <a16:creationId xmlns:a16="http://schemas.microsoft.com/office/drawing/2014/main" id="{F0B4CA3A-4C72-419C-BE95-396524B2A59A}"/>
              </a:ext>
            </a:extLst>
          </p:cNvPr>
          <p:cNvSpPr/>
          <p:nvPr/>
        </p:nvSpPr>
        <p:spPr>
          <a:xfrm>
            <a:off x="4135159" y="2043730"/>
            <a:ext cx="1346813" cy="735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000D116-33FA-4FAE-BFA7-6D4939469D73}"/>
              </a:ext>
            </a:extLst>
          </p:cNvPr>
          <p:cNvSpPr txBox="1"/>
          <p:nvPr/>
        </p:nvSpPr>
        <p:spPr>
          <a:xfrm>
            <a:off x="5481972" y="2180585"/>
            <a:ext cx="4858817" cy="461665"/>
          </a:xfrm>
          <a:prstGeom prst="rect">
            <a:avLst/>
          </a:prstGeom>
          <a:noFill/>
        </p:spPr>
        <p:txBody>
          <a:bodyPr wrap="square" rtlCol="0">
            <a:spAutoFit/>
          </a:bodyPr>
          <a:lstStyle/>
          <a:p>
            <a:pPr algn="ctr"/>
            <a:r>
              <a:rPr lang="en-GB" sz="2400" dirty="0">
                <a:latin typeface="Calibri" panose="020F0502020204030204" pitchFamily="34" charset="0"/>
                <a:cs typeface="Calibri" panose="020F0502020204030204" pitchFamily="34" charset="0"/>
              </a:rPr>
              <a:t>4.  Climate model uncertainty</a:t>
            </a:r>
          </a:p>
        </p:txBody>
      </p:sp>
      <p:sp>
        <p:nvSpPr>
          <p:cNvPr id="13" name="TextBox 12">
            <a:extLst>
              <a:ext uri="{FF2B5EF4-FFF2-40B4-BE49-F238E27FC236}">
                <a16:creationId xmlns:a16="http://schemas.microsoft.com/office/drawing/2014/main" id="{8C31580F-E49A-43B8-A068-D311D56F499B}"/>
              </a:ext>
            </a:extLst>
          </p:cNvPr>
          <p:cNvSpPr txBox="1"/>
          <p:nvPr/>
        </p:nvSpPr>
        <p:spPr>
          <a:xfrm>
            <a:off x="405624" y="3758427"/>
            <a:ext cx="1539076" cy="400110"/>
          </a:xfrm>
          <a:prstGeom prst="rect">
            <a:avLst/>
          </a:prstGeom>
          <a:noFill/>
        </p:spPr>
        <p:txBody>
          <a:bodyPr wrap="none" rtlCol="0">
            <a:spAutoFit/>
          </a:bodyPr>
          <a:lstStyle/>
          <a:p>
            <a:r>
              <a:rPr lang="en-GB" sz="2000" dirty="0">
                <a:solidFill>
                  <a:srgbClr val="00B050"/>
                </a:solidFill>
                <a:latin typeface="Calibri" panose="020F0502020204030204" pitchFamily="34" charset="0"/>
                <a:cs typeface="Calibri" panose="020F0502020204030204" pitchFamily="34" charset="0"/>
              </a:rPr>
              <a:t>More certain</a:t>
            </a:r>
          </a:p>
        </p:txBody>
      </p:sp>
      <p:sp>
        <p:nvSpPr>
          <p:cNvPr id="14" name="Arrow: Right 13">
            <a:extLst>
              <a:ext uri="{FF2B5EF4-FFF2-40B4-BE49-F238E27FC236}">
                <a16:creationId xmlns:a16="http://schemas.microsoft.com/office/drawing/2014/main" id="{6524C30C-7AC5-489A-A0BC-9C87AF904F12}"/>
              </a:ext>
            </a:extLst>
          </p:cNvPr>
          <p:cNvSpPr/>
          <p:nvPr/>
        </p:nvSpPr>
        <p:spPr>
          <a:xfrm>
            <a:off x="507530" y="4244256"/>
            <a:ext cx="5511188" cy="246463"/>
          </a:xfrm>
          <a:prstGeom prst="rightArrow">
            <a:avLst/>
          </a:prstGeom>
          <a:gradFill flip="none" rotWithShape="1">
            <a:gsLst>
              <a:gs pos="0">
                <a:srgbClr val="00B050"/>
              </a:gs>
              <a:gs pos="100000">
                <a:srgbClr val="FF0000"/>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18E17868-F8F0-48E6-BD48-27DC7672456B}"/>
              </a:ext>
            </a:extLst>
          </p:cNvPr>
          <p:cNvSpPr txBox="1"/>
          <p:nvPr/>
        </p:nvSpPr>
        <p:spPr>
          <a:xfrm>
            <a:off x="4420115" y="3758106"/>
            <a:ext cx="1407821" cy="400110"/>
          </a:xfrm>
          <a:prstGeom prst="rect">
            <a:avLst/>
          </a:prstGeom>
          <a:noFill/>
        </p:spPr>
        <p:txBody>
          <a:bodyPr wrap="none" rtlCol="0">
            <a:spAutoFit/>
          </a:bodyPr>
          <a:lstStyle/>
          <a:p>
            <a:r>
              <a:rPr lang="en-GB" sz="2000" dirty="0">
                <a:solidFill>
                  <a:srgbClr val="FF0000"/>
                </a:solidFill>
                <a:latin typeface="Calibri" panose="020F0502020204030204" pitchFamily="34" charset="0"/>
                <a:cs typeface="Calibri" panose="020F0502020204030204" pitchFamily="34" charset="0"/>
              </a:rPr>
              <a:t>Less certain</a:t>
            </a:r>
          </a:p>
        </p:txBody>
      </p:sp>
      <p:sp>
        <p:nvSpPr>
          <p:cNvPr id="4" name="TextBox 14">
            <a:extLst>
              <a:ext uri="{FF2B5EF4-FFF2-40B4-BE49-F238E27FC236}">
                <a16:creationId xmlns:a16="http://schemas.microsoft.com/office/drawing/2014/main" id="{83F54530-53F5-E324-9B0C-756E75B1756C}"/>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Models</a:t>
            </a:r>
          </a:p>
        </p:txBody>
      </p:sp>
      <p:sp>
        <p:nvSpPr>
          <p:cNvPr id="5" name="Freeform 13">
            <a:extLst>
              <a:ext uri="{FF2B5EF4-FFF2-40B4-BE49-F238E27FC236}">
                <a16:creationId xmlns:a16="http://schemas.microsoft.com/office/drawing/2014/main" id="{9112117A-5D3B-7C04-29DA-963CA7562DD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76597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D9515-FEA1-45E5-7A11-5CB2F760A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AF9C5-F89D-3D87-E151-6D6FB14F8600}"/>
              </a:ext>
            </a:extLst>
          </p:cNvPr>
          <p:cNvSpPr txBox="1">
            <a:spLocks/>
          </p:cNvSpPr>
          <p:nvPr/>
        </p:nvSpPr>
        <p:spPr>
          <a:xfrm>
            <a:off x="-962034" y="1022312"/>
            <a:ext cx="7886700" cy="51150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2700" dirty="0"/>
          </a:p>
        </p:txBody>
      </p:sp>
      <p:sp>
        <p:nvSpPr>
          <p:cNvPr id="4" name="TextBox 14">
            <a:extLst>
              <a:ext uri="{FF2B5EF4-FFF2-40B4-BE49-F238E27FC236}">
                <a16:creationId xmlns:a16="http://schemas.microsoft.com/office/drawing/2014/main" id="{93BAAFB5-0AF4-6511-0D19-01F670C8E14D}"/>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Climate Models - Uncertainties</a:t>
            </a:r>
          </a:p>
        </p:txBody>
      </p:sp>
      <p:sp>
        <p:nvSpPr>
          <p:cNvPr id="5" name="Freeform 13">
            <a:extLst>
              <a:ext uri="{FF2B5EF4-FFF2-40B4-BE49-F238E27FC236}">
                <a16:creationId xmlns:a16="http://schemas.microsoft.com/office/drawing/2014/main" id="{495F4AE7-9316-34DA-CEBF-8DABD87BE43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6" name="Picture 5">
            <a:extLst>
              <a:ext uri="{FF2B5EF4-FFF2-40B4-BE49-F238E27FC236}">
                <a16:creationId xmlns:a16="http://schemas.microsoft.com/office/drawing/2014/main" id="{CDC8724D-4526-8E7C-D84E-8D1D6BD4BABE}"/>
              </a:ext>
            </a:extLst>
          </p:cNvPr>
          <p:cNvPicPr>
            <a:picLocks noChangeAspect="1"/>
          </p:cNvPicPr>
          <p:nvPr/>
        </p:nvPicPr>
        <p:blipFill>
          <a:blip r:embed="rId4"/>
          <a:srcRect t="9133"/>
          <a:stretch>
            <a:fillRect/>
          </a:stretch>
        </p:blipFill>
        <p:spPr>
          <a:xfrm>
            <a:off x="438342" y="1420794"/>
            <a:ext cx="5611294" cy="4819155"/>
          </a:xfrm>
          <a:prstGeom prst="rect">
            <a:avLst/>
          </a:prstGeom>
        </p:spPr>
      </p:pic>
      <p:sp>
        <p:nvSpPr>
          <p:cNvPr id="3" name="TextBox 2">
            <a:extLst>
              <a:ext uri="{FF2B5EF4-FFF2-40B4-BE49-F238E27FC236}">
                <a16:creationId xmlns:a16="http://schemas.microsoft.com/office/drawing/2014/main" id="{CCDF03BE-FAB9-C326-CE77-644037058345}"/>
              </a:ext>
            </a:extLst>
          </p:cNvPr>
          <p:cNvSpPr txBox="1"/>
          <p:nvPr/>
        </p:nvSpPr>
        <p:spPr>
          <a:xfrm>
            <a:off x="10921284" y="6396335"/>
            <a:ext cx="1442434" cy="461665"/>
          </a:xfrm>
          <a:prstGeom prst="rect">
            <a:avLst/>
          </a:prstGeom>
          <a:noFill/>
        </p:spPr>
        <p:txBody>
          <a:bodyPr wrap="square" rtlCol="0">
            <a:spAutoFit/>
          </a:bodyPr>
          <a:lstStyle/>
          <a:p>
            <a:r>
              <a:rPr lang="en-US" sz="2400" dirty="0">
                <a:solidFill>
                  <a:srgbClr val="FF0000"/>
                </a:solidFill>
              </a:rPr>
              <a:t>Week 7</a:t>
            </a:r>
          </a:p>
        </p:txBody>
      </p:sp>
    </p:spTree>
    <p:extLst>
      <p:ext uri="{BB962C8B-B14F-4D97-AF65-F5344CB8AC3E}">
        <p14:creationId xmlns:p14="http://schemas.microsoft.com/office/powerpoint/2010/main" val="3564303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3" name="TextBox 14">
            <a:extLst>
              <a:ext uri="{FF2B5EF4-FFF2-40B4-BE49-F238E27FC236}">
                <a16:creationId xmlns:a16="http://schemas.microsoft.com/office/drawing/2014/main" id="{AF68D400-DEB6-92F7-3EDB-5A9701421D5E}"/>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Lecture Summary</a:t>
            </a: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39572"/>
          <a:stretch>
            <a:fillRect/>
          </a:stretch>
        </p:blipFill>
        <p:spPr bwMode="auto">
          <a:xfrm>
            <a:off x="6832029" y="0"/>
            <a:ext cx="5356923"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4" name="TextBox 3">
            <a:extLst>
              <a:ext uri="{FF2B5EF4-FFF2-40B4-BE49-F238E27FC236}">
                <a16:creationId xmlns:a16="http://schemas.microsoft.com/office/drawing/2014/main" id="{E70AA273-C7C1-A010-4271-E171ED172E87}"/>
              </a:ext>
            </a:extLst>
          </p:cNvPr>
          <p:cNvSpPr txBox="1"/>
          <p:nvPr/>
        </p:nvSpPr>
        <p:spPr>
          <a:xfrm>
            <a:off x="336915" y="1380279"/>
            <a:ext cx="6678940" cy="5016758"/>
          </a:xfrm>
          <a:prstGeom prst="rect">
            <a:avLst/>
          </a:prstGeom>
          <a:noFill/>
        </p:spPr>
        <p:txBody>
          <a:bodyPr wrap="square">
            <a:spAutoFit/>
          </a:bodyPr>
          <a:lstStyle/>
          <a:p>
            <a:r>
              <a:rPr lang="en-GB" sz="1600" dirty="0">
                <a:latin typeface="Calibri" panose="020F0502020204030204" pitchFamily="34" charset="0"/>
                <a:cs typeface="Calibri" panose="020F0502020204030204" pitchFamily="34" charset="0"/>
              </a:rPr>
              <a:t>Multiple independent datasets (instrumental records, satellites, ice cores, and proxies) consistently show rising CO₂ concentrations and global temperatures across timescales from decades to millions of years.</a:t>
            </a:r>
          </a:p>
          <a:p>
            <a:endParaRPr lang="en-GB" sz="1600" dirty="0">
              <a:latin typeface="Calibri" panose="020F0502020204030204" pitchFamily="34" charset="0"/>
              <a:cs typeface="Calibri" panose="020F0502020204030204" pitchFamily="34" charset="0"/>
            </a:endParaRPr>
          </a:p>
          <a:p>
            <a:r>
              <a:rPr lang="en-GB" sz="1600" dirty="0">
                <a:latin typeface="Calibri" panose="020F0502020204030204" pitchFamily="34" charset="0"/>
                <a:cs typeface="Calibri" panose="020F0502020204030204" pitchFamily="34" charset="0"/>
              </a:rPr>
              <a:t>Modern CO₂ levels (~420 ppm) are unprecedented for at least 800,000 years and likely far longer, with isotopic evidence confirming a fossil-fuel (anthropogenic) origin.</a:t>
            </a:r>
          </a:p>
          <a:p>
            <a:endParaRPr lang="en-GB" sz="1600" dirty="0">
              <a:latin typeface="Calibri" panose="020F0502020204030204" pitchFamily="34" charset="0"/>
              <a:cs typeface="Calibri" panose="020F0502020204030204" pitchFamily="34" charset="0"/>
            </a:endParaRPr>
          </a:p>
          <a:p>
            <a:r>
              <a:rPr lang="en-GB" sz="1600" dirty="0">
                <a:latin typeface="Calibri" panose="020F0502020204030204" pitchFamily="34" charset="0"/>
                <a:cs typeface="Calibri" panose="020F0502020204030204" pitchFamily="34" charset="0"/>
              </a:rPr>
              <a:t>Temperature increases since the mid-20th century are best explained by human greenhouse gas emissions; natural drivers (solar variability, volcanoes, internal variability) cannot account for the observed long-term warming.</a:t>
            </a:r>
          </a:p>
          <a:p>
            <a:endParaRPr lang="en-GB" sz="1600" dirty="0">
              <a:latin typeface="Calibri" panose="020F0502020204030204" pitchFamily="34" charset="0"/>
              <a:cs typeface="Calibri" panose="020F0502020204030204" pitchFamily="34" charset="0"/>
            </a:endParaRPr>
          </a:p>
          <a:p>
            <a:r>
              <a:rPr lang="en-GB" sz="1600" dirty="0">
                <a:latin typeface="Calibri" panose="020F0502020204030204" pitchFamily="34" charset="0"/>
                <a:cs typeface="Calibri" panose="020F0502020204030204" pitchFamily="34" charset="0"/>
              </a:rPr>
              <a:t>Radiative forcing theory links increased greenhouse gases to warming, while feedbacks (especially water vapour and clouds) amplify or modulate the response.</a:t>
            </a:r>
          </a:p>
          <a:p>
            <a:endParaRPr lang="en-GB" sz="1600" dirty="0">
              <a:latin typeface="Calibri" panose="020F0502020204030204" pitchFamily="34" charset="0"/>
              <a:cs typeface="Calibri" panose="020F0502020204030204" pitchFamily="34" charset="0"/>
            </a:endParaRPr>
          </a:p>
          <a:p>
            <a:r>
              <a:rPr lang="en-GB" sz="1600" dirty="0">
                <a:latin typeface="Calibri" panose="020F0502020204030204" pitchFamily="34" charset="0"/>
                <a:cs typeface="Calibri" panose="020F0502020204030204" pitchFamily="34" charset="0"/>
              </a:rPr>
              <a:t>Uncertainty increases backward in time and at smaller spatial scales, but confidence is very high that human activity is the dominant cause of recent global warming.</a:t>
            </a:r>
          </a:p>
        </p:txBody>
      </p:sp>
    </p:spTree>
    <p:extLst>
      <p:ext uri="{BB962C8B-B14F-4D97-AF65-F5344CB8AC3E}">
        <p14:creationId xmlns:p14="http://schemas.microsoft.com/office/powerpoint/2010/main" val="3870089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CE2A-962F-61F2-0ACA-85E1C37F3A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B6CE7F-9F18-B4C6-2982-D50342783AD0}"/>
              </a:ext>
            </a:extLst>
          </p:cNvPr>
          <p:cNvSpPr txBox="1"/>
          <p:nvPr/>
        </p:nvSpPr>
        <p:spPr>
          <a:xfrm>
            <a:off x="389465" y="2108364"/>
            <a:ext cx="10943258" cy="3046988"/>
          </a:xfrm>
          <a:prstGeom prst="rect">
            <a:avLst/>
          </a:prstGeom>
          <a:noFill/>
        </p:spPr>
        <p:txBody>
          <a:bodyPr wrap="square" rtlCol="0">
            <a:spAutoFit/>
          </a:bodyPr>
          <a:lstStyle/>
          <a:p>
            <a:pPr marL="457200" indent="-457200">
              <a:buFont typeface="+mj-lt"/>
              <a:buAutoNum type="arabicPeriod"/>
            </a:pPr>
            <a:r>
              <a:rPr lang="en-GB" sz="1600" dirty="0">
                <a:latin typeface="Calibri" panose="020F0502020204030204" pitchFamily="34" charset="0"/>
                <a:cs typeface="Calibri" panose="020F0502020204030204" pitchFamily="34" charset="0"/>
              </a:rPr>
              <a:t>Describe the sources of observational evidence used to reconstruct past atmospheric CO₂ concentrations</a:t>
            </a:r>
          </a:p>
          <a:p>
            <a:pPr marL="457200" indent="-457200">
              <a:buFont typeface="+mj-lt"/>
              <a:buAutoNum type="arabicPeriod"/>
            </a:pPr>
            <a:r>
              <a:rPr lang="en-GB" sz="1600" dirty="0">
                <a:latin typeface="Calibri" panose="020F0502020204030204" pitchFamily="34" charset="0"/>
                <a:cs typeface="Calibri" panose="020F0502020204030204" pitchFamily="34" charset="0"/>
              </a:rPr>
              <a:t>Explain how direct atmospheric CO₂ measurements are made?</a:t>
            </a:r>
          </a:p>
          <a:p>
            <a:pPr marL="457200" indent="-457200">
              <a:buFont typeface="+mj-lt"/>
              <a:buAutoNum type="arabicPeriod"/>
            </a:pPr>
            <a:r>
              <a:rPr lang="en-GB" sz="1600" dirty="0">
                <a:latin typeface="Calibri" panose="020F0502020204030204" pitchFamily="34" charset="0"/>
                <a:cs typeface="Calibri" panose="020F0502020204030204" pitchFamily="34" charset="0"/>
              </a:rPr>
              <a:t>What information do ice cores provide about past climates, and what are the key limitations?</a:t>
            </a:r>
          </a:p>
          <a:p>
            <a:pPr marL="457200" indent="-457200">
              <a:buFont typeface="+mj-lt"/>
              <a:buAutoNum type="arabicPeriod"/>
            </a:pPr>
            <a:r>
              <a:rPr lang="en-GB" sz="1600" dirty="0">
                <a:latin typeface="Calibri" panose="020F0502020204030204" pitchFamily="34" charset="0"/>
                <a:cs typeface="Calibri" panose="020F0502020204030204" pitchFamily="34" charset="0"/>
              </a:rPr>
              <a:t>Define a climate proxy and explain why multiple proxies are needed to reconstruct past climate conditions.</a:t>
            </a:r>
          </a:p>
          <a:p>
            <a:pPr marL="457200" indent="-457200">
              <a:buFont typeface="+mj-lt"/>
              <a:buAutoNum type="arabicPeriod"/>
            </a:pPr>
            <a:r>
              <a:rPr lang="en-GB" sz="1600" dirty="0">
                <a:latin typeface="Calibri" panose="020F0502020204030204" pitchFamily="34" charset="0"/>
                <a:cs typeface="Calibri" panose="020F0502020204030204" pitchFamily="34" charset="0"/>
              </a:rPr>
              <a:t>Compare and contrast instrumental temperature records with proxy-based temperature reconstructions.</a:t>
            </a:r>
          </a:p>
          <a:p>
            <a:pPr marL="457200" indent="-457200">
              <a:buFont typeface="+mj-lt"/>
              <a:buAutoNum type="arabicPeriod"/>
            </a:pPr>
            <a:r>
              <a:rPr lang="en-GB" sz="1600" dirty="0">
                <a:latin typeface="Calibri" panose="020F0502020204030204" pitchFamily="34" charset="0"/>
                <a:cs typeface="Calibri" panose="020F0502020204030204" pitchFamily="34" charset="0"/>
              </a:rPr>
              <a:t>Discuss the evidence that current atmospheric CO₂ concentrations are anomalous in the context of the last 800,000 years.</a:t>
            </a:r>
          </a:p>
          <a:p>
            <a:pPr marL="457200" indent="-457200">
              <a:buFont typeface="+mj-lt"/>
              <a:buAutoNum type="arabicPeriod"/>
            </a:pPr>
            <a:r>
              <a:rPr lang="en-GB" sz="1600" dirty="0">
                <a:latin typeface="Calibri" panose="020F0502020204030204" pitchFamily="34" charset="0"/>
                <a:cs typeface="Calibri" panose="020F0502020204030204" pitchFamily="34" charset="0"/>
              </a:rPr>
              <a:t>Outline the main lines of evidence indicating that recent climate change is primarily anthropogenic in origin.</a:t>
            </a:r>
          </a:p>
          <a:p>
            <a:pPr marL="457200" indent="-457200">
              <a:buFont typeface="+mj-lt"/>
              <a:buAutoNum type="arabicPeriod"/>
            </a:pPr>
            <a:r>
              <a:rPr lang="en-GB" sz="1600" dirty="0">
                <a:latin typeface="Calibri" panose="020F0502020204030204" pitchFamily="34" charset="0"/>
                <a:cs typeface="Calibri" panose="020F0502020204030204" pitchFamily="34" charset="0"/>
              </a:rPr>
              <a:t>Why are natural climate drivers insufficient to explain the observed warming since the mid-20th century?</a:t>
            </a:r>
          </a:p>
          <a:p>
            <a:pPr marL="457200" indent="-457200">
              <a:buFont typeface="+mj-lt"/>
              <a:buAutoNum type="arabicPeriod"/>
            </a:pPr>
            <a:r>
              <a:rPr lang="en-GB" sz="1600" dirty="0">
                <a:latin typeface="Calibri" panose="020F0502020204030204" pitchFamily="34" charset="0"/>
                <a:cs typeface="Calibri" panose="020F0502020204030204" pitchFamily="34" charset="0"/>
              </a:rPr>
              <a:t>Define radiative forcing and explain its importance in understanding climate change.</a:t>
            </a:r>
          </a:p>
          <a:p>
            <a:pPr marL="457200" indent="-457200">
              <a:buFont typeface="+mj-lt"/>
              <a:buAutoNum type="arabicPeriod"/>
            </a:pPr>
            <a:r>
              <a:rPr lang="en-GB" sz="1600" dirty="0">
                <a:latin typeface="Calibri" panose="020F0502020204030204" pitchFamily="34" charset="0"/>
                <a:cs typeface="Calibri" panose="020F0502020204030204" pitchFamily="34" charset="0"/>
              </a:rPr>
              <a:t>Explain the difference between positive and negative climate feedbacks, giving one example of each.</a:t>
            </a:r>
          </a:p>
          <a:p>
            <a:pPr marL="457200" indent="-457200">
              <a:buFont typeface="+mj-lt"/>
              <a:buAutoNum type="arabicPeriod"/>
            </a:pPr>
            <a:r>
              <a:rPr lang="en-GB" sz="1600" dirty="0">
                <a:latin typeface="Calibri" panose="020F0502020204030204" pitchFamily="34" charset="0"/>
                <a:cs typeface="Calibri" panose="020F0502020204030204" pitchFamily="34" charset="0"/>
              </a:rPr>
              <a:t>Explain why uncertainty in climate data increases further back in time and at smaller spatial scales.</a:t>
            </a:r>
          </a:p>
          <a:p>
            <a:pPr marL="457200" indent="-457200">
              <a:buFont typeface="+mj-lt"/>
              <a:buAutoNum type="arabicPeriod"/>
            </a:pPr>
            <a:r>
              <a:rPr lang="en-GB" sz="1600" dirty="0">
                <a:latin typeface="Calibri" panose="020F0502020204030204" pitchFamily="34" charset="0"/>
                <a:cs typeface="Calibri" panose="020F0502020204030204" pitchFamily="34" charset="0"/>
              </a:rPr>
              <a:t>Discuss why global-scale temperature changes are generally better understood than regional or local climate changes.</a:t>
            </a:r>
          </a:p>
        </p:txBody>
      </p:sp>
      <p:sp>
        <p:nvSpPr>
          <p:cNvPr id="3" name="TextBox 14">
            <a:extLst>
              <a:ext uri="{FF2B5EF4-FFF2-40B4-BE49-F238E27FC236}">
                <a16:creationId xmlns:a16="http://schemas.microsoft.com/office/drawing/2014/main" id="{BC302873-8663-8D75-045B-16B55E7ED34C}"/>
              </a:ext>
            </a:extLst>
          </p:cNvPr>
          <p:cNvSpPr txBox="1"/>
          <p:nvPr/>
        </p:nvSpPr>
        <p:spPr>
          <a:xfrm>
            <a:off x="389465" y="684091"/>
            <a:ext cx="7336552" cy="574324"/>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3600" b="0" i="1" u="none" strike="noStrike" kern="1200" cap="none" spc="-275" normalizeH="0" baseline="0" noProof="0" dirty="0">
                <a:ln>
                  <a:noFill/>
                </a:ln>
                <a:solidFill>
                  <a:srgbClr val="46245A"/>
                </a:solidFill>
                <a:effectLst/>
                <a:uLnTx/>
                <a:uFillTx/>
                <a:latin typeface="DM Sans Bold"/>
                <a:ea typeface="ＭＳ Ｐゴシック" panose="020B0600070205080204" pitchFamily="34" charset="-128"/>
                <a:cs typeface="+mn-cs"/>
              </a:rPr>
              <a:t>Example Exam Questions</a:t>
            </a:r>
          </a:p>
        </p:txBody>
      </p:sp>
      <p:sp>
        <p:nvSpPr>
          <p:cNvPr id="4" name="Freeform 13">
            <a:extLst>
              <a:ext uri="{FF2B5EF4-FFF2-40B4-BE49-F238E27FC236}">
                <a16:creationId xmlns:a16="http://schemas.microsoft.com/office/drawing/2014/main" id="{CA69831D-8557-8253-DFDB-74216FCD0AC2}"/>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601192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F4286-D8BD-1CE1-22C3-DC5B0C1308C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4385552-FE3E-9C1B-0F2A-E63151E537A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724D6B-5E6E-D058-DFFA-48605B50A5BE}"/>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mn-ea"/>
                <a:cs typeface="+mn-cs"/>
              </a:rPr>
              <a:t>Global Climate Change - 2026</a:t>
            </a:r>
          </a:p>
        </p:txBody>
      </p:sp>
      <p:sp>
        <p:nvSpPr>
          <p:cNvPr id="2" name="TextBox 1">
            <a:extLst>
              <a:ext uri="{FF2B5EF4-FFF2-40B4-BE49-F238E27FC236}">
                <a16:creationId xmlns:a16="http://schemas.microsoft.com/office/drawing/2014/main" id="{CCA83353-82E8-8D79-E0E5-87BF012F252E}"/>
              </a:ext>
            </a:extLst>
          </p:cNvPr>
          <p:cNvSpPr txBox="1"/>
          <p:nvPr/>
        </p:nvSpPr>
        <p:spPr>
          <a:xfrm>
            <a:off x="300256" y="1438479"/>
            <a:ext cx="11387489" cy="4893647"/>
          </a:xfrm>
          <a:prstGeom prst="rect">
            <a:avLst/>
          </a:prstGeom>
          <a:noFill/>
        </p:spPr>
        <p:txBody>
          <a:bodyPr wrap="square">
            <a:spAutoFit/>
          </a:bodyPr>
          <a:lstStyle/>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1 – </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Introduction to climate change and its impacts </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2 – </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Natural climate variability</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(12</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3 – </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Radiation Law/Greenhouse Effect/Radiative forcing/feedbacks</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(19</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4 – A</a:t>
            </a:r>
            <a:r>
              <a:rPr kumimoji="0" lang="en-GB" sz="24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nthropogenic impacts </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24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defTabSz="406440">
              <a:defRPr/>
            </a:pPr>
            <a:r>
              <a:rPr kumimoji="0" lang="en-GB" sz="2400" b="1"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5 – </a:t>
            </a:r>
            <a:r>
              <a:rPr kumimoji="0" lang="en-GB" sz="2400" b="1"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The Evidence Base for Climate Change </a:t>
            </a:r>
            <a:r>
              <a:rPr kumimoji="0" lang="en-GB" sz="2400" b="1"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2400" b="1"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1"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406440" rtl="0" eaLnBrk="1" fontAlgn="auto" latinLnBrk="0" hangingPunct="1">
              <a:lnSpc>
                <a:spcPct val="100000"/>
              </a:lnSpc>
              <a:spcBef>
                <a:spcPts val="0"/>
              </a:spcBef>
              <a:spcAft>
                <a:spcPts val="0"/>
              </a:spcAft>
              <a:buClrTx/>
              <a:buSzTx/>
              <a:buFontTx/>
              <a:buNone/>
              <a:tabLst/>
              <a:defRPr/>
            </a:pPr>
            <a:endParaRPr kumimoji="0" lang="en-GB" sz="24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Week 6 – Mid Unit Test (10</a:t>
            </a:r>
            <a:r>
              <a:rPr kumimoji="0" lang="en-GB" sz="2400" b="1" i="0" u="none" strike="noStrike" kern="100" cap="none" spc="0" normalizeH="0" baseline="3000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 March) </a:t>
            </a:r>
          </a:p>
          <a:p>
            <a:pPr defTabSz="609630">
              <a:defRPr/>
            </a:pPr>
            <a:endPar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7 – </a:t>
            </a:r>
            <a:r>
              <a:rPr lang="en-GB" sz="2400" dirty="0">
                <a:solidFill>
                  <a:srgbClr val="212121"/>
                </a:solidFill>
                <a:latin typeface="Calibri" panose="020F0502020204030204" pitchFamily="34" charset="0"/>
                <a:cs typeface="Calibri" panose="020F0502020204030204" pitchFamily="34" charset="0"/>
              </a:rPr>
              <a:t>Climate Models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(19</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8 – Climate </a:t>
            </a:r>
            <a:r>
              <a:rPr lang="en-GB" sz="2400" kern="100" dirty="0">
                <a:solidFill>
                  <a:srgbClr val="212121"/>
                </a:solidFill>
                <a:latin typeface="Calibri" panose="020F0502020204030204" pitchFamily="34" charset="0"/>
                <a:ea typeface="Calibri" panose="020F0502020204030204" pitchFamily="34" charset="0"/>
                <a:cs typeface="Calibri" panose="020F0502020204030204" pitchFamily="34" charset="0"/>
              </a:rPr>
              <a:t>C</a:t>
            </a:r>
            <a:r>
              <a:rPr lang="en-GB" sz="2400" dirty="0">
                <a:solidFill>
                  <a:srgbClr val="212121"/>
                </a:solidFill>
                <a:latin typeface="Calibri" panose="020F0502020204030204" pitchFamily="34" charset="0"/>
                <a:cs typeface="Calibri" panose="020F0502020204030204" pitchFamily="34" charset="0"/>
              </a:rPr>
              <a:t>hange Adaptation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(26</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March)</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9 – </a:t>
            </a:r>
            <a:r>
              <a:rPr lang="en-GB" sz="2400" dirty="0">
                <a:solidFill>
                  <a:srgbClr val="212121"/>
                </a:solidFill>
                <a:latin typeface="Calibri" panose="020F0502020204030204" pitchFamily="34" charset="0"/>
                <a:cs typeface="Calibri" panose="020F0502020204030204" pitchFamily="34" charset="0"/>
              </a:rPr>
              <a:t>Effects of Climate Change: Case Studies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(23</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rd</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10 – </a:t>
            </a:r>
            <a:r>
              <a:rPr lang="en-GB" sz="2400" dirty="0">
                <a:solidFill>
                  <a:srgbClr val="212121"/>
                </a:solidFill>
                <a:latin typeface="Calibri" panose="020F0502020204030204" pitchFamily="34" charset="0"/>
                <a:cs typeface="Calibri" panose="020F0502020204030204" pitchFamily="34" charset="0"/>
              </a:rPr>
              <a:t>Climate Change Mitigation </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(30</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April)</a:t>
            </a:r>
          </a:p>
          <a:p>
            <a:pPr defTabSz="609630">
              <a:defRPr/>
            </a:pP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Week 11 – Revision Lecture (7</a:t>
            </a:r>
            <a:r>
              <a:rPr lang="en-GB" sz="2400" kern="100" baseline="30000" dirty="0">
                <a:solidFill>
                  <a:prstClr val="black"/>
                </a:solidFill>
                <a:latin typeface="Calibri" panose="020F0502020204030204" pitchFamily="34" charset="0"/>
                <a:ea typeface="Calibri" panose="020F0502020204030204" pitchFamily="34" charset="0"/>
                <a:cs typeface="Calibri" panose="020F0502020204030204" pitchFamily="34" charset="0"/>
              </a:rPr>
              <a:t>th</a:t>
            </a:r>
            <a:r>
              <a:rPr lang="en-GB" sz="2400" kern="100" dirty="0">
                <a:solidFill>
                  <a:prstClr val="black"/>
                </a:solidFill>
                <a:latin typeface="Calibri" panose="020F0502020204030204" pitchFamily="34" charset="0"/>
                <a:ea typeface="Calibri" panose="020F0502020204030204" pitchFamily="34" charset="0"/>
                <a:cs typeface="Calibri" panose="020F0502020204030204" pitchFamily="34" charset="0"/>
              </a:rPr>
              <a:t> May)</a:t>
            </a:r>
          </a:p>
        </p:txBody>
      </p:sp>
      <p:pic>
        <p:nvPicPr>
          <p:cNvPr id="6" name="Picture 5" descr="A qr code with a black and white background&#10;&#10;AI-generated content may be incorrect.">
            <a:extLst>
              <a:ext uri="{FF2B5EF4-FFF2-40B4-BE49-F238E27FC236}">
                <a16:creationId xmlns:a16="http://schemas.microsoft.com/office/drawing/2014/main" id="{606D0B0B-64EE-6410-20FB-A831A2D7A390}"/>
              </a:ext>
            </a:extLst>
          </p:cNvPr>
          <p:cNvPicPr>
            <a:picLocks noChangeAspect="1"/>
          </p:cNvPicPr>
          <p:nvPr/>
        </p:nvPicPr>
        <p:blipFill>
          <a:blip r:embed="rId4"/>
          <a:stretch>
            <a:fillRect/>
          </a:stretch>
        </p:blipFill>
        <p:spPr>
          <a:xfrm>
            <a:off x="9051132" y="3429000"/>
            <a:ext cx="2801007" cy="2801007"/>
          </a:xfrm>
          <a:prstGeom prst="rect">
            <a:avLst/>
          </a:prstGeom>
        </p:spPr>
      </p:pic>
      <p:sp>
        <p:nvSpPr>
          <p:cNvPr id="7" name="TextBox 6">
            <a:extLst>
              <a:ext uri="{FF2B5EF4-FFF2-40B4-BE49-F238E27FC236}">
                <a16:creationId xmlns:a16="http://schemas.microsoft.com/office/drawing/2014/main" id="{A901A7D6-B8C0-F87E-CD7C-77FDE3B6DFDE}"/>
              </a:ext>
            </a:extLst>
          </p:cNvPr>
          <p:cNvSpPr txBox="1"/>
          <p:nvPr/>
        </p:nvSpPr>
        <p:spPr>
          <a:xfrm>
            <a:off x="9051133" y="6411310"/>
            <a:ext cx="2801006"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Comments/Questions</a:t>
            </a:r>
          </a:p>
        </p:txBody>
      </p:sp>
    </p:spTree>
    <p:extLst>
      <p:ext uri="{BB962C8B-B14F-4D97-AF65-F5344CB8AC3E}">
        <p14:creationId xmlns:p14="http://schemas.microsoft.com/office/powerpoint/2010/main" val="2441091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00230-18F1-3DC7-B994-AFD3CF086AF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5430BBC-8A9F-9E4A-2E6C-6CAB71DC0C20}"/>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3057E08F-50EB-6BD3-5534-4CA4B095E567}"/>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DM Sans Bold"/>
                <a:ea typeface="+mn-ea"/>
                <a:cs typeface="+mn-cs"/>
              </a:rPr>
              <a:t>Global Climate Change - 2026</a:t>
            </a:r>
          </a:p>
        </p:txBody>
      </p:sp>
      <p:sp>
        <p:nvSpPr>
          <p:cNvPr id="2" name="TextBox 1">
            <a:extLst>
              <a:ext uri="{FF2B5EF4-FFF2-40B4-BE49-F238E27FC236}">
                <a16:creationId xmlns:a16="http://schemas.microsoft.com/office/drawing/2014/main" id="{E88A36D4-ADBC-CD7C-7E1E-DEF082AF3D6D}"/>
              </a:ext>
            </a:extLst>
          </p:cNvPr>
          <p:cNvSpPr txBox="1"/>
          <p:nvPr/>
        </p:nvSpPr>
        <p:spPr>
          <a:xfrm>
            <a:off x="300256" y="1455299"/>
            <a:ext cx="11387489" cy="4985980"/>
          </a:xfrm>
          <a:prstGeom prst="rect">
            <a:avLst/>
          </a:prstGeom>
          <a:noFill/>
        </p:spPr>
        <p:txBody>
          <a:bodyPr wrap="square">
            <a:spAutoFit/>
          </a:bodyPr>
          <a:lstStyle/>
          <a:p>
            <a:pPr marL="0" marR="0" lvl="0" indent="0" algn="l" defTabSz="406440" rtl="0" eaLnBrk="1" fontAlgn="auto" latinLnBrk="0" hangingPunct="1">
              <a:lnSpc>
                <a:spcPct val="100000"/>
              </a:lnSpc>
              <a:spcBef>
                <a:spcPts val="0"/>
              </a:spcBef>
              <a:spcAft>
                <a:spcPts val="0"/>
              </a:spcAft>
              <a:buClrTx/>
              <a:buSzTx/>
              <a:buFontTx/>
              <a:buNone/>
              <a:tabLst/>
              <a:defRPr/>
            </a:pP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Week 6 – Mid Unit Test (10</a:t>
            </a:r>
            <a:r>
              <a:rPr kumimoji="0" lang="en-GB" sz="2400" b="1" i="0" u="none" strike="noStrike" kern="100" cap="none" spc="0" normalizeH="0" baseline="3000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406440" rtl="0" eaLnBrk="1" fontAlgn="auto" latinLnBrk="0" hangingPunct="1">
              <a:lnSpc>
                <a:spcPct val="100000"/>
              </a:lnSpc>
              <a:spcBef>
                <a:spcPts val="0"/>
              </a:spcBef>
              <a:spcAft>
                <a:spcPts val="0"/>
              </a:spcAft>
              <a:buClrTx/>
              <a:buSzTx/>
              <a:buFontTx/>
              <a:buNone/>
              <a:tabLst/>
              <a:defRPr/>
            </a:pPr>
            <a:endParaRPr lang="en-GB" sz="2400" b="1" kern="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This assessment will test your understanding of weeks 1-5 of the Global Climate Change Course</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test must be completed and submitted in person under examination conditions.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When: </a:t>
            </a:r>
            <a:r>
              <a:rPr kumimoji="0" lang="en-GB"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10th March, 14:00–15:00/15:30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Where: </a:t>
            </a:r>
            <a:r>
              <a:rPr kumimoji="0" lang="en-GB"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Room 6.004, Simon Building – Computer Cluster/DASS Students - Mansfield Cooper 2.01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Please arrive 10–15 minutes early so you have time to log in to Canvas before the test begins.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test comprises 25 multiple choice questions. </a:t>
            </a:r>
            <a:r>
              <a:rPr lang="en-GB" b="1" dirty="0">
                <a:latin typeface="Calibri" panose="020F0502020204030204" pitchFamily="34" charset="0"/>
                <a:cs typeface="Calibri" panose="020F0502020204030204" pitchFamily="34" charset="0"/>
              </a:rPr>
              <a:t>Only one submission is allowed per student</a:t>
            </a:r>
            <a:r>
              <a:rPr lang="en-GB" dirty="0">
                <a:latin typeface="Calibri" panose="020F0502020204030204" pitchFamily="34" charset="0"/>
                <a:cs typeface="Calibri" panose="020F0502020204030204" pitchFamily="34" charset="0"/>
              </a:rPr>
              <a:t> (multiple attempts are not allowed). Submit using the 'Submit' button, but only do this when you are ready to finish the test as you cannot make repeat submissions.</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For questions that are multiple answers (rather than multiple choice): </a:t>
            </a:r>
            <a:r>
              <a:rPr lang="en-GB" dirty="0">
                <a:latin typeface="Calibri" panose="020F0502020204030204" pitchFamily="34" charset="0"/>
                <a:cs typeface="Calibri" panose="020F0502020204030204" pitchFamily="34" charset="0"/>
              </a:rPr>
              <a:t>Partial credit is calculated by dividing the total points possible by the number of correct answers for the question. This amount is awarded for each correct answer selected and deducted for each incorrect answer selected. No points are awarded or deducted for answers that are not selected. Zero is the lowest possible score. </a:t>
            </a:r>
            <a:endParaRPr kumimoji="0" lang="en-GB" sz="24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39209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455D-9EF2-494D-209E-9E109C0A74B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F81932-4E4F-2E80-921C-DAC2EC93067E}"/>
              </a:ext>
            </a:extLst>
          </p:cNvPr>
          <p:cNvSpPr>
            <a:spLocks noGrp="1"/>
          </p:cNvSpPr>
          <p:nvPr>
            <p:ph idx="1"/>
          </p:nvPr>
        </p:nvSpPr>
        <p:spPr>
          <a:xfrm>
            <a:off x="293870" y="3800989"/>
            <a:ext cx="10995018" cy="2743739"/>
          </a:xfrm>
        </p:spPr>
        <p:txBody>
          <a:bodyPr rtlCol="0">
            <a:normAutofit fontScale="92500" lnSpcReduction="20000"/>
          </a:bodyPr>
          <a:lstStyle/>
          <a:p>
            <a:pPr marL="0" indent="0">
              <a:buNone/>
            </a:pPr>
            <a:r>
              <a:rPr lang="en-GB" sz="2000" dirty="0">
                <a:latin typeface="Calibri" panose="020F0502020204030204" pitchFamily="34" charset="0"/>
                <a:cs typeface="Calibri" panose="020F0502020204030204" pitchFamily="34" charset="0"/>
              </a:rPr>
              <a:t>In week 7 we will focus on climate models and how they are used to understand past, present, and future climate change.</a:t>
            </a:r>
          </a:p>
          <a:p>
            <a:pPr marL="0" indent="0">
              <a:buNone/>
            </a:pPr>
            <a:br>
              <a:rPr lang="en-GB" sz="2000" b="1" dirty="0">
                <a:latin typeface="Calibri" panose="020F0502020204030204" pitchFamily="34" charset="0"/>
                <a:cs typeface="Calibri" panose="020F0502020204030204" pitchFamily="34" charset="0"/>
              </a:rPr>
            </a:br>
            <a:r>
              <a:rPr lang="en-GB" sz="2000" b="1" dirty="0">
                <a:latin typeface="Calibri" panose="020F0502020204030204" pitchFamily="34" charset="0"/>
                <a:cs typeface="Calibri" panose="020F0502020204030204" pitchFamily="34" charset="0"/>
              </a:rPr>
              <a:t>By the end of that lecture, you will be able to:</a:t>
            </a:r>
            <a:endParaRPr lang="en-GB" sz="2000" dirty="0">
              <a:latin typeface="Calibri" panose="020F0502020204030204" pitchFamily="34" charset="0"/>
              <a:cs typeface="Calibri" panose="020F0502020204030204" pitchFamily="34" charset="0"/>
            </a:endParaRPr>
          </a:p>
          <a:p>
            <a:r>
              <a:rPr lang="en-GB" sz="2000" dirty="0">
                <a:latin typeface="Calibri" panose="020F0502020204030204" pitchFamily="34" charset="0"/>
                <a:cs typeface="Calibri" panose="020F0502020204030204" pitchFamily="34" charset="0"/>
              </a:rPr>
              <a:t>Explain why climate models are essential tools for studying and projecting climate change</a:t>
            </a:r>
          </a:p>
          <a:p>
            <a:r>
              <a:rPr lang="en-GB" sz="2000" dirty="0">
                <a:latin typeface="Calibri" panose="020F0502020204030204" pitchFamily="34" charset="0"/>
                <a:cs typeface="Calibri" panose="020F0502020204030204" pitchFamily="34" charset="0"/>
              </a:rPr>
              <a:t>Identify the main components of global climate models and describe how they interact</a:t>
            </a:r>
          </a:p>
          <a:p>
            <a:r>
              <a:rPr lang="en-GB" sz="2000" dirty="0">
                <a:latin typeface="Calibri" panose="020F0502020204030204" pitchFamily="34" charset="0"/>
                <a:cs typeface="Calibri" panose="020F0502020204030204" pitchFamily="34" charset="0"/>
              </a:rPr>
              <a:t>Discuss key sources of uncertainty in climate models, and how hindcasting is used to assess their reliability</a:t>
            </a:r>
          </a:p>
          <a:p>
            <a:r>
              <a:rPr lang="en-GB" sz="2000" dirty="0">
                <a:latin typeface="Calibri" panose="020F0502020204030204" pitchFamily="34" charset="0"/>
                <a:cs typeface="Calibri" panose="020F0502020204030204" pitchFamily="34" charset="0"/>
              </a:rPr>
              <a:t>Distinguish between natural climate variability and anthropogenic climate change</a:t>
            </a:r>
          </a:p>
          <a:p>
            <a:r>
              <a:rPr lang="en-GB" sz="2000" dirty="0">
                <a:latin typeface="Calibri" panose="020F0502020204030204" pitchFamily="34" charset="0"/>
                <a:cs typeface="Calibri" panose="020F0502020204030204" pitchFamily="34" charset="0"/>
              </a:rPr>
              <a:t>Explain how Representative Concentration Pathways (RCPs) are used to explore possible future climates</a:t>
            </a:r>
          </a:p>
        </p:txBody>
      </p:sp>
      <p:pic>
        <p:nvPicPr>
          <p:cNvPr id="5" name="Picture 2" descr="Places of Climate Change">
            <a:extLst>
              <a:ext uri="{FF2B5EF4-FFF2-40B4-BE49-F238E27FC236}">
                <a16:creationId xmlns:a16="http://schemas.microsoft.com/office/drawing/2014/main" id="{0E7323DA-2CFD-2387-B3D7-FFC7A6D8C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2192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92EE434B-BF54-0D2B-1C60-07296D916036}"/>
              </a:ext>
            </a:extLst>
          </p:cNvPr>
          <p:cNvSpPr txBox="1"/>
          <p:nvPr/>
        </p:nvSpPr>
        <p:spPr>
          <a:xfrm>
            <a:off x="293870" y="2682459"/>
            <a:ext cx="12191999" cy="1179810"/>
          </a:xfrm>
          <a:prstGeom prst="rect">
            <a:avLst/>
          </a:prstGeom>
        </p:spPr>
        <p:txBody>
          <a:bodyPr wrap="square" lIns="0" tIns="0" rIns="0" bIns="0" rtlCol="0" anchor="t">
            <a:spAutoFit/>
          </a:bodyPr>
          <a:lstStyle/>
          <a:p>
            <a:pPr defTabSz="609660">
              <a:lnSpc>
                <a:spcPts val="4574"/>
              </a:lnSpc>
              <a:defRPr/>
            </a:pPr>
            <a:r>
              <a:rPr lang="en-US" sz="3200" i="1" spc="-275" dirty="0">
                <a:solidFill>
                  <a:prstClr val="white"/>
                </a:solidFill>
                <a:latin typeface="DM Sans Bold"/>
              </a:rPr>
              <a:t>Week 7: Climate Models</a:t>
            </a:r>
          </a:p>
          <a:p>
            <a:pPr defTabSz="609660">
              <a:lnSpc>
                <a:spcPts val="4574"/>
              </a:lnSpc>
              <a:defRPr/>
            </a:pPr>
            <a:endParaRPr lang="en-US" sz="4000" i="1" spc="-275" dirty="0">
              <a:solidFill>
                <a:prstClr val="white"/>
              </a:solidFill>
              <a:latin typeface="DM Sans Bold"/>
            </a:endParaRPr>
          </a:p>
        </p:txBody>
      </p:sp>
      <p:sp>
        <p:nvSpPr>
          <p:cNvPr id="8" name="Freeform 13">
            <a:extLst>
              <a:ext uri="{FF2B5EF4-FFF2-40B4-BE49-F238E27FC236}">
                <a16:creationId xmlns:a16="http://schemas.microsoft.com/office/drawing/2014/main" id="{3AFD2C1F-0CE2-C515-F07D-A179C1F1DDED}"/>
              </a:ext>
            </a:extLst>
          </p:cNvPr>
          <p:cNvSpPr/>
          <p:nvPr/>
        </p:nvSpPr>
        <p:spPr>
          <a:xfrm>
            <a:off x="9431867" y="371989"/>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609660">
              <a:defRPr/>
            </a:pPr>
            <a:endParaRPr lang="en-GB" sz="1200">
              <a:solidFill>
                <a:prstClr val="black"/>
              </a:solidFill>
              <a:latin typeface="DM Sans" pitchFamily="2" charset="0"/>
            </a:endParaRPr>
          </a:p>
        </p:txBody>
      </p:sp>
    </p:spTree>
    <p:extLst>
      <p:ext uri="{BB962C8B-B14F-4D97-AF65-F5344CB8AC3E}">
        <p14:creationId xmlns:p14="http://schemas.microsoft.com/office/powerpoint/2010/main" val="19905022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54451E5-B158-3B70-86A4-00EDA8E3A94B}"/>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F255A2D4-D613-BDBC-AE7F-77C87DD1367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AA4401DC-A64F-FC89-9256-12FBBA2B2296}"/>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E988E693-C905-C255-0B01-1B533A0EE32B}"/>
              </a:ext>
            </a:extLst>
          </p:cNvPr>
          <p:cNvSpPr txBox="1"/>
          <p:nvPr/>
        </p:nvSpPr>
        <p:spPr>
          <a:xfrm>
            <a:off x="914400" y="4170916"/>
            <a:ext cx="8207298" cy="1716432"/>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5 – Questions and Answers</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2133"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C35AA364-7475-E671-EE20-70A01B9FE11D}"/>
              </a:ext>
            </a:extLst>
          </p:cNvPr>
          <p:cNvSpPr txBox="1"/>
          <p:nvPr/>
        </p:nvSpPr>
        <p:spPr>
          <a:xfrm>
            <a:off x="845575" y="5983341"/>
            <a:ext cx="6031831" cy="338554"/>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1600" b="0" i="0" u="none" strike="noStrike" kern="1200" cap="none" spc="0" normalizeH="0" baseline="0" noProof="0" dirty="0">
              <a:ln>
                <a:noFill/>
              </a:ln>
              <a:solidFill>
                <a:prstClr val="white"/>
              </a:solidFill>
              <a:effectLst/>
              <a:uLnTx/>
              <a:uFillTx/>
              <a:latin typeface="DM Sans"/>
              <a:ea typeface="+mn-ea"/>
              <a:cs typeface="+mn-cs"/>
            </a:endParaRPr>
          </a:p>
        </p:txBody>
      </p:sp>
    </p:spTree>
    <p:extLst>
      <p:ext uri="{BB962C8B-B14F-4D97-AF65-F5344CB8AC3E}">
        <p14:creationId xmlns:p14="http://schemas.microsoft.com/office/powerpoint/2010/main" val="41853839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CE2C-BC7C-0A4F-02DD-BA0A3F616C7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510690D-EEE9-16EB-974A-B69609B96821}"/>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67F9F8C4-E594-3575-DF78-8EF0FC26DDB4}"/>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Q1. </a:t>
            </a:r>
          </a:p>
        </p:txBody>
      </p:sp>
      <p:sp>
        <p:nvSpPr>
          <p:cNvPr id="6" name="TextBox 5">
            <a:extLst>
              <a:ext uri="{FF2B5EF4-FFF2-40B4-BE49-F238E27FC236}">
                <a16:creationId xmlns:a16="http://schemas.microsoft.com/office/drawing/2014/main" id="{3A264A14-9587-5C10-6A8C-06B7674684FB}"/>
              </a:ext>
            </a:extLst>
          </p:cNvPr>
          <p:cNvSpPr txBox="1"/>
          <p:nvPr/>
        </p:nvSpPr>
        <p:spPr>
          <a:xfrm>
            <a:off x="389465" y="1447522"/>
            <a:ext cx="11550287" cy="1200329"/>
          </a:xfrm>
          <a:prstGeom prst="rect">
            <a:avLst/>
          </a:prstGeom>
          <a:noFill/>
        </p:spPr>
        <p:txBody>
          <a:bodyPr wrap="square">
            <a:spAutoFit/>
          </a:bodyPr>
          <a:lstStyle/>
          <a:p>
            <a:r>
              <a:rPr lang="en-GB" sz="1800" i="0" kern="1200" dirty="0">
                <a:solidFill>
                  <a:schemeClr val="tx1"/>
                </a:solidFill>
                <a:effectLst/>
                <a:latin typeface="Calibri" panose="020F0502020204030204" pitchFamily="34" charset="0"/>
                <a:cs typeface="Calibri" panose="020F0502020204030204" pitchFamily="34" charset="0"/>
              </a:rPr>
              <a:t>Critically </a:t>
            </a:r>
            <a:r>
              <a:rPr lang="en-GB" sz="1800" b="0" i="0" u="none" strike="noStrike" kern="1200" dirty="0">
                <a:solidFill>
                  <a:schemeClr val="tx1"/>
                </a:solidFill>
                <a:effectLst/>
                <a:latin typeface="Calibri" panose="020F0502020204030204" pitchFamily="34" charset="0"/>
                <a:cs typeface="Calibri" panose="020F0502020204030204" pitchFamily="34" charset="0"/>
              </a:rPr>
              <a:t>compare instrumental records, ice cores, and proxy data.</a:t>
            </a:r>
            <a:endParaRPr lang="en-GB" sz="1800" b="0" i="0" kern="1200" dirty="0">
              <a:solidFill>
                <a:schemeClr val="tx1"/>
              </a:solidFill>
              <a:effectLst/>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Which type of evidence do you find most convincing, and why?</a:t>
            </a:r>
          </a:p>
          <a:p>
            <a:r>
              <a:rPr lang="en-GB" sz="1800" b="0" i="0" kern="1200" dirty="0">
                <a:solidFill>
                  <a:schemeClr val="tx1"/>
                </a:solidFill>
                <a:effectLst/>
                <a:latin typeface="Calibri" panose="020F0502020204030204" pitchFamily="34" charset="0"/>
                <a:cs typeface="Calibri" panose="020F0502020204030204" pitchFamily="34" charset="0"/>
              </a:rPr>
              <a:t>How does agreement between independent datasets increase confidence?</a:t>
            </a:r>
          </a:p>
          <a:p>
            <a:r>
              <a:rPr lang="en-GB" sz="1800" b="0" i="0" kern="1200" dirty="0">
                <a:solidFill>
                  <a:schemeClr val="tx1"/>
                </a:solidFill>
                <a:effectLst/>
                <a:latin typeface="Calibri" panose="020F0502020204030204" pitchFamily="34" charset="0"/>
                <a:cs typeface="Calibri" panose="020F0502020204030204" pitchFamily="34" charset="0"/>
              </a:rPr>
              <a:t>Are there any datasets you would trust less? On what basis?</a:t>
            </a:r>
          </a:p>
        </p:txBody>
      </p:sp>
    </p:spTree>
    <p:extLst>
      <p:ext uri="{BB962C8B-B14F-4D97-AF65-F5344CB8AC3E}">
        <p14:creationId xmlns:p14="http://schemas.microsoft.com/office/powerpoint/2010/main" val="648388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652CD-344E-3863-F7F7-08FE7996FF0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18C4F2A-B2A4-0333-5C8F-38228E18EBC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82726BC5-E06A-CE9E-9FA5-EC6DAAB16EB7}"/>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Q2. </a:t>
            </a:r>
          </a:p>
        </p:txBody>
      </p:sp>
      <p:sp>
        <p:nvSpPr>
          <p:cNvPr id="6" name="TextBox 5">
            <a:extLst>
              <a:ext uri="{FF2B5EF4-FFF2-40B4-BE49-F238E27FC236}">
                <a16:creationId xmlns:a16="http://schemas.microsoft.com/office/drawing/2014/main" id="{C1C2179E-0A27-E20B-24FF-F82D8D3594E1}"/>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Where does uncertainty in climate data come from?</a:t>
            </a:r>
          </a:p>
          <a:p>
            <a:r>
              <a:rPr lang="en-GB" sz="1800" b="0" i="0" kern="1200" dirty="0">
                <a:solidFill>
                  <a:schemeClr val="tx1"/>
                </a:solidFill>
                <a:effectLst/>
                <a:latin typeface="Calibri" panose="020F0502020204030204" pitchFamily="34" charset="0"/>
                <a:cs typeface="Calibri" panose="020F0502020204030204" pitchFamily="34" charset="0"/>
              </a:rPr>
              <a:t>Which aspects of climate change are well understood, and which are not?</a:t>
            </a:r>
          </a:p>
          <a:p>
            <a:r>
              <a:rPr lang="en-GB" sz="1800" b="0" i="0" kern="1200" dirty="0">
                <a:solidFill>
                  <a:schemeClr val="tx1"/>
                </a:solidFill>
                <a:effectLst/>
                <a:latin typeface="Calibri" panose="020F0502020204030204" pitchFamily="34" charset="0"/>
                <a:cs typeface="Calibri" panose="020F0502020204030204" pitchFamily="34" charset="0"/>
              </a:rPr>
              <a:t>How should scientists communicate uncertainty without weakening the message?</a:t>
            </a:r>
          </a:p>
        </p:txBody>
      </p:sp>
    </p:spTree>
    <p:extLst>
      <p:ext uri="{BB962C8B-B14F-4D97-AF65-F5344CB8AC3E}">
        <p14:creationId xmlns:p14="http://schemas.microsoft.com/office/powerpoint/2010/main" val="35316383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F2AE9-BE86-6594-77F8-E8E1B6A416D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AD54262-5E8F-8E9F-2FD3-49C75B3B6F6B}"/>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AD61BEAC-F45C-01A7-3E28-440BCF6A3BDC}"/>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Q3. </a:t>
            </a:r>
          </a:p>
        </p:txBody>
      </p:sp>
      <p:sp>
        <p:nvSpPr>
          <p:cNvPr id="6" name="TextBox 5">
            <a:extLst>
              <a:ext uri="{FF2B5EF4-FFF2-40B4-BE49-F238E27FC236}">
                <a16:creationId xmlns:a16="http://schemas.microsoft.com/office/drawing/2014/main" id="{BBB46A13-832C-1EDF-AE83-3D3556977DF3}"/>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Why are global trends easier to detect than local changes?</a:t>
            </a:r>
          </a:p>
          <a:p>
            <a:r>
              <a:rPr lang="en-GB" sz="1800" b="0" i="0" kern="1200" dirty="0">
                <a:solidFill>
                  <a:schemeClr val="tx1"/>
                </a:solidFill>
                <a:effectLst/>
                <a:latin typeface="Calibri" panose="020F0502020204030204" pitchFamily="34" charset="0"/>
                <a:cs typeface="Calibri" panose="020F0502020204030204" pitchFamily="34" charset="0"/>
              </a:rPr>
              <a:t>How does internal variability complicate short-term or regional analysis?</a:t>
            </a:r>
          </a:p>
          <a:p>
            <a:r>
              <a:rPr lang="en-GB" sz="1800" b="0" i="0" kern="1200" dirty="0">
                <a:solidFill>
                  <a:schemeClr val="tx1"/>
                </a:solidFill>
                <a:effectLst/>
                <a:latin typeface="Calibri" panose="020F0502020204030204" pitchFamily="34" charset="0"/>
                <a:cs typeface="Calibri" panose="020F0502020204030204" pitchFamily="34" charset="0"/>
              </a:rPr>
              <a:t>What are the implications for adaptation planning at local scales? (we will think more about this in week 8)</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48320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BC5D8-EAEF-890C-BA60-58DA144E624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5570B85-6181-43AF-C891-A99A2AAA013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266736D7-DF9B-84C6-B1E9-BE2EC9FAFE7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Q4. </a:t>
            </a:r>
          </a:p>
        </p:txBody>
      </p:sp>
      <p:sp>
        <p:nvSpPr>
          <p:cNvPr id="6" name="TextBox 5">
            <a:extLst>
              <a:ext uri="{FF2B5EF4-FFF2-40B4-BE49-F238E27FC236}">
                <a16:creationId xmlns:a16="http://schemas.microsoft.com/office/drawing/2014/main" id="{26A579C2-523B-EDF9-C0D1-28D49E4F3E5E}"/>
              </a:ext>
            </a:extLst>
          </p:cNvPr>
          <p:cNvSpPr txBox="1"/>
          <p:nvPr/>
        </p:nvSpPr>
        <p:spPr>
          <a:xfrm>
            <a:off x="389465" y="1447522"/>
            <a:ext cx="9883539" cy="923330"/>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How do scientists separate human influences from natural variability?</a:t>
            </a:r>
          </a:p>
          <a:p>
            <a:r>
              <a:rPr lang="en-GB" sz="1800" b="0" i="0" kern="1200" dirty="0">
                <a:solidFill>
                  <a:schemeClr val="tx1"/>
                </a:solidFill>
                <a:effectLst/>
                <a:latin typeface="Calibri" panose="020F0502020204030204" pitchFamily="34" charset="0"/>
                <a:cs typeface="Calibri" panose="020F0502020204030204" pitchFamily="34" charset="0"/>
              </a:rPr>
              <a:t>Why are climate models essential for attribution?</a:t>
            </a:r>
          </a:p>
          <a:p>
            <a:r>
              <a:rPr lang="en-GB" sz="1800" b="0" i="0" kern="1200" dirty="0">
                <a:solidFill>
                  <a:schemeClr val="tx1"/>
                </a:solidFill>
                <a:effectLst/>
                <a:latin typeface="Calibri" panose="020F0502020204030204" pitchFamily="34" charset="0"/>
                <a:cs typeface="Calibri" panose="020F0502020204030204" pitchFamily="34" charset="0"/>
              </a:rPr>
              <a:t>What would the climate record look like if warming were purely natural over the last 100 years?</a:t>
            </a:r>
          </a:p>
        </p:txBody>
      </p:sp>
    </p:spTree>
    <p:extLst>
      <p:ext uri="{BB962C8B-B14F-4D97-AF65-F5344CB8AC3E}">
        <p14:creationId xmlns:p14="http://schemas.microsoft.com/office/powerpoint/2010/main" val="13824117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D03F3-3B9B-E9A4-640E-7742B7A1076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4533AC5-CD21-AA0B-70A2-5C1C978EED9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ACD264A-CEA6-30C3-8677-3B8837EC631A}"/>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Q5. </a:t>
            </a:r>
          </a:p>
        </p:txBody>
      </p:sp>
      <p:sp>
        <p:nvSpPr>
          <p:cNvPr id="6" name="TextBox 5">
            <a:extLst>
              <a:ext uri="{FF2B5EF4-FFF2-40B4-BE49-F238E27FC236}">
                <a16:creationId xmlns:a16="http://schemas.microsoft.com/office/drawing/2014/main" id="{922B12C3-AE49-9748-EAE4-F1A8FF46DAD3}"/>
              </a:ext>
            </a:extLst>
          </p:cNvPr>
          <p:cNvSpPr txBox="1"/>
          <p:nvPr/>
        </p:nvSpPr>
        <p:spPr>
          <a:xfrm>
            <a:off x="320856" y="1557261"/>
            <a:ext cx="11550287" cy="707886"/>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If CO₂ is well mixed in the atmosphere, why do we measure it at remote sites like Mauna Loa or the South Pole?</a:t>
            </a:r>
          </a:p>
        </p:txBody>
      </p:sp>
    </p:spTree>
    <p:extLst>
      <p:ext uri="{BB962C8B-B14F-4D97-AF65-F5344CB8AC3E}">
        <p14:creationId xmlns:p14="http://schemas.microsoft.com/office/powerpoint/2010/main" val="2862349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B3936-C4EB-6F94-BA44-FFE3B8FA04B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6716F7E4-F26B-8F39-DFC4-8EC3B652784E}"/>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CC980E5-3119-281A-72B8-8F88D7D2A533}"/>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Q6. </a:t>
            </a:r>
          </a:p>
        </p:txBody>
      </p:sp>
      <p:sp>
        <p:nvSpPr>
          <p:cNvPr id="6" name="TextBox 5">
            <a:extLst>
              <a:ext uri="{FF2B5EF4-FFF2-40B4-BE49-F238E27FC236}">
                <a16:creationId xmlns:a16="http://schemas.microsoft.com/office/drawing/2014/main" id="{9483C35A-F667-6531-C9BC-0AC7BD5A0E81}"/>
              </a:ext>
            </a:extLst>
          </p:cNvPr>
          <p:cNvSpPr txBox="1"/>
          <p:nvPr/>
        </p:nvSpPr>
        <p:spPr>
          <a:xfrm>
            <a:off x="320856" y="1557261"/>
            <a:ext cx="11550287" cy="400110"/>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Why do we need multiple climate proxies rather than relying on just one “best” proxy?</a:t>
            </a:r>
          </a:p>
        </p:txBody>
      </p:sp>
    </p:spTree>
    <p:extLst>
      <p:ext uri="{BB962C8B-B14F-4D97-AF65-F5344CB8AC3E}">
        <p14:creationId xmlns:p14="http://schemas.microsoft.com/office/powerpoint/2010/main" val="13363369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48336-1289-387F-6563-3D8530A3D5C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35C4A2AB-1B2E-B797-B00C-D813A7B34D06}"/>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F18EB417-7441-CB28-743C-21A865C1EAE3}"/>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Q7. </a:t>
            </a:r>
          </a:p>
        </p:txBody>
      </p:sp>
      <p:sp>
        <p:nvSpPr>
          <p:cNvPr id="6" name="TextBox 5">
            <a:extLst>
              <a:ext uri="{FF2B5EF4-FFF2-40B4-BE49-F238E27FC236}">
                <a16:creationId xmlns:a16="http://schemas.microsoft.com/office/drawing/2014/main" id="{CB0B776F-C27C-2FD6-2CF5-F79F15708130}"/>
              </a:ext>
            </a:extLst>
          </p:cNvPr>
          <p:cNvSpPr txBox="1"/>
          <p:nvPr/>
        </p:nvSpPr>
        <p:spPr>
          <a:xfrm>
            <a:off x="320856" y="1557261"/>
            <a:ext cx="11550287" cy="1261884"/>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If solar variability were responsible for modern warming, what would the vertical temperature profile look like?</a:t>
            </a:r>
            <a:endParaRPr lang="en-GB" sz="1800" b="0" i="0" kern="1200" dirty="0">
              <a:solidFill>
                <a:schemeClr val="tx1"/>
              </a:solidFill>
              <a:effectLst/>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995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73665-B7DC-D169-16E3-7E87BC24490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CCDF20F-E972-74DE-8B07-B18824048899}"/>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3195B0C4-C9A8-763D-06C1-DE2BE83B950B}"/>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Q8. </a:t>
            </a:r>
          </a:p>
        </p:txBody>
      </p:sp>
      <p:sp>
        <p:nvSpPr>
          <p:cNvPr id="6" name="TextBox 5">
            <a:extLst>
              <a:ext uri="{FF2B5EF4-FFF2-40B4-BE49-F238E27FC236}">
                <a16:creationId xmlns:a16="http://schemas.microsoft.com/office/drawing/2014/main" id="{68BC3579-1056-7017-3570-6A92D352E583}"/>
              </a:ext>
            </a:extLst>
          </p:cNvPr>
          <p:cNvSpPr txBox="1"/>
          <p:nvPr/>
        </p:nvSpPr>
        <p:spPr>
          <a:xfrm>
            <a:off x="320856" y="1557261"/>
            <a:ext cx="11550287" cy="400110"/>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Why does uncertainty increase further back in time and at smaller spatial scales?</a:t>
            </a:r>
          </a:p>
        </p:txBody>
      </p:sp>
    </p:spTree>
    <p:extLst>
      <p:ext uri="{BB962C8B-B14F-4D97-AF65-F5344CB8AC3E}">
        <p14:creationId xmlns:p14="http://schemas.microsoft.com/office/powerpoint/2010/main" val="35810350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3|15.4|13.3"/>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890</TotalTime>
  <Words>3843</Words>
  <Application>Microsoft Macintosh PowerPoint</Application>
  <PresentationFormat>Widescreen</PresentationFormat>
  <Paragraphs>485</Paragraphs>
  <Slides>64</Slides>
  <Notes>63</Notes>
  <HiddenSlides>0</HiddenSlides>
  <MMClips>1</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64</vt:i4>
      </vt:variant>
    </vt:vector>
  </HeadingPairs>
  <TitlesOfParts>
    <vt:vector size="77" baseType="lpstr">
      <vt:lpstr>ＭＳ Ｐゴシック</vt:lpstr>
      <vt:lpstr>Aptos</vt:lpstr>
      <vt:lpstr>Arial</vt:lpstr>
      <vt:lpstr>Calibri</vt:lpstr>
      <vt:lpstr>DM Sans</vt:lpstr>
      <vt:lpstr>DM Sans Bold</vt:lpstr>
      <vt:lpstr>Montserrat</vt:lpstr>
      <vt:lpstr>Open Sans</vt:lpstr>
      <vt:lpstr>Tahoma</vt:lpstr>
      <vt:lpstr>Times New Roman</vt:lpstr>
      <vt:lpstr>1_Office Theme</vt:lpstr>
      <vt:lpstr>2_Office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Thomas Bannan</cp:lastModifiedBy>
  <cp:revision>47</cp:revision>
  <dcterms:created xsi:type="dcterms:W3CDTF">2025-12-10T10:28:04Z</dcterms:created>
  <dcterms:modified xsi:type="dcterms:W3CDTF">2026-03-02T10:01:21Z</dcterms:modified>
</cp:coreProperties>
</file>