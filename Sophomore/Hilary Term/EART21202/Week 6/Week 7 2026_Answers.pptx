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 id="2147483660" r:id="rId5"/>
  </p:sldMasterIdLst>
  <p:notesMasterIdLst>
    <p:notesMasterId r:id="rId30"/>
  </p:notesMasterIdLst>
  <p:sldIdLst>
    <p:sldId id="257" r:id="rId6"/>
    <p:sldId id="1382" r:id="rId7"/>
    <p:sldId id="1396" r:id="rId8"/>
    <p:sldId id="1381" r:id="rId9"/>
    <p:sldId id="1400" r:id="rId10"/>
    <p:sldId id="679" r:id="rId11"/>
    <p:sldId id="1229" r:id="rId12"/>
    <p:sldId id="1336" r:id="rId13"/>
    <p:sldId id="1230" r:id="rId14"/>
    <p:sldId id="1341" r:id="rId15"/>
    <p:sldId id="1346" r:id="rId16"/>
    <p:sldId id="723" r:id="rId17"/>
    <p:sldId id="1347" r:id="rId18"/>
    <p:sldId id="1339" r:id="rId19"/>
    <p:sldId id="1349" r:id="rId20"/>
    <p:sldId id="1231" r:id="rId21"/>
    <p:sldId id="1350" r:id="rId22"/>
    <p:sldId id="1236" r:id="rId23"/>
    <p:sldId id="1351" r:id="rId24"/>
    <p:sldId id="1338" r:id="rId25"/>
    <p:sldId id="1401" r:id="rId26"/>
    <p:sldId id="1403" r:id="rId27"/>
    <p:sldId id="1402" r:id="rId28"/>
    <p:sldId id="1404" r:id="rId29"/>
  </p:sldIdLst>
  <p:sldSz cx="18288000" cy="10287000"/>
  <p:notesSz cx="6858000" cy="9144000"/>
  <p:embeddedFontLst>
    <p:embeddedFont>
      <p:font typeface="DM Sans" pitchFamily="2" charset="77"/>
      <p:regular r:id="rId31"/>
      <p:bold r:id="rId32"/>
      <p:italic r:id="rId33"/>
      <p:boldItalic r:id="rId34"/>
    </p:embeddedFont>
    <p:embeddedFont>
      <p:font typeface="DM Sans Bold"/>
      <p:regular r:id="rId35"/>
      <p:bold r:id="rId3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B700"/>
    <a:srgbClr val="46245A"/>
    <a:srgbClr val="0E173B"/>
    <a:srgbClr val="545454"/>
    <a:srgbClr val="DEA400"/>
  </p:clrMru>
  <p:extLst>
    <p:ext uri="{E76CE94A-603C-4142-B9EB-6D1370010A27}">
      <p14:discardImageEditData xmlns:p14="http://schemas.microsoft.com/office/powerpoint/2010/main" val="1"/>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465"/>
    <p:restoredTop sz="87044"/>
  </p:normalViewPr>
  <p:slideViewPr>
    <p:cSldViewPr snapToGrid="0">
      <p:cViewPr varScale="1">
        <p:scale>
          <a:sx n="86" d="100"/>
          <a:sy n="86" d="100"/>
        </p:scale>
        <p:origin x="1080" y="20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theme" Target="theme/theme1.xml"/><Relationship Id="rId21" Type="http://schemas.openxmlformats.org/officeDocument/2006/relationships/slide" Target="slides/slide16.xml"/><Relationship Id="rId34" Type="http://schemas.openxmlformats.org/officeDocument/2006/relationships/font" Target="fonts/font4.fntdata"/><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font" Target="fonts/font3.fntdata"/><Relationship Id="rId38"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font" Target="fonts/font2.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font" Target="fonts/font6.fntdata"/><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font" Target="fonts/font1.fntdata"/><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notesMaster" Target="notesMasters/notesMaster1.xml"/><Relationship Id="rId35" Type="http://schemas.openxmlformats.org/officeDocument/2006/relationships/font" Target="fonts/font5.fntdata"/><Relationship Id="rId8" Type="http://schemas.openxmlformats.org/officeDocument/2006/relationships/slide" Target="slides/slide3.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DM Sans" pitchFamily="2" charset="0"/>
              </a:defRPr>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DM Sans" pitchFamily="2" charset="0"/>
              </a:defRPr>
            </a:lvl1pPr>
          </a:lstStyle>
          <a:p>
            <a:fld id="{62D80C2D-EE18-43D6-B2C1-C03B0D42E456}" type="datetimeFigureOut">
              <a:rPr lang="en-GB" smtClean="0"/>
              <a:pPr/>
              <a:t>18/03/2026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DM Sans" pitchFamily="2" charset="0"/>
              </a:defRPr>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DM Sans" pitchFamily="2" charset="0"/>
              </a:defRPr>
            </a:lvl1pPr>
          </a:lstStyle>
          <a:p>
            <a:fld id="{C6B3559C-4BE5-4262-A2E7-0EADDD5F845B}" type="slidenum">
              <a:rPr lang="en-GB" smtClean="0"/>
              <a:pPr/>
              <a:t>‹#›</a:t>
            </a:fld>
            <a:endParaRPr lang="en-GB"/>
          </a:p>
        </p:txBody>
      </p:sp>
    </p:spTree>
    <p:extLst>
      <p:ext uri="{BB962C8B-B14F-4D97-AF65-F5344CB8AC3E}">
        <p14:creationId xmlns:p14="http://schemas.microsoft.com/office/powerpoint/2010/main" val="20639408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DM Sans" pitchFamily="2" charset="0"/>
        <a:ea typeface="+mn-ea"/>
        <a:cs typeface="+mn-cs"/>
      </a:defRPr>
    </a:lvl1pPr>
    <a:lvl2pPr marL="457200" algn="l" defTabSz="914400" rtl="0" eaLnBrk="1" latinLnBrk="0" hangingPunct="1">
      <a:defRPr sz="1200" kern="1200">
        <a:solidFill>
          <a:schemeClr val="tx1"/>
        </a:solidFill>
        <a:latin typeface="DM Sans" pitchFamily="2" charset="0"/>
        <a:ea typeface="+mn-ea"/>
        <a:cs typeface="+mn-cs"/>
      </a:defRPr>
    </a:lvl2pPr>
    <a:lvl3pPr marL="914400" algn="l" defTabSz="914400" rtl="0" eaLnBrk="1" latinLnBrk="0" hangingPunct="1">
      <a:defRPr sz="1200" kern="1200">
        <a:solidFill>
          <a:schemeClr val="tx1"/>
        </a:solidFill>
        <a:latin typeface="DM Sans" pitchFamily="2" charset="0"/>
        <a:ea typeface="+mn-ea"/>
        <a:cs typeface="+mn-cs"/>
      </a:defRPr>
    </a:lvl3pPr>
    <a:lvl4pPr marL="1371600" algn="l" defTabSz="914400" rtl="0" eaLnBrk="1" latinLnBrk="0" hangingPunct="1">
      <a:defRPr sz="1200" kern="1200">
        <a:solidFill>
          <a:schemeClr val="tx1"/>
        </a:solidFill>
        <a:latin typeface="DM Sans" pitchFamily="2" charset="0"/>
        <a:ea typeface="+mn-ea"/>
        <a:cs typeface="+mn-cs"/>
      </a:defRPr>
    </a:lvl4pPr>
    <a:lvl5pPr marL="1828800" algn="l" defTabSz="914400" rtl="0" eaLnBrk="1" latinLnBrk="0" hangingPunct="1">
      <a:defRPr sz="1200" kern="1200">
        <a:solidFill>
          <a:schemeClr val="tx1"/>
        </a:solidFill>
        <a:latin typeface="DM Sans"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latin typeface="DM Sans" pitchFamily="2" charset="0"/>
            </a:endParaRPr>
          </a:p>
        </p:txBody>
      </p:sp>
      <p:sp>
        <p:nvSpPr>
          <p:cNvPr id="4" name="Slide Number Placeholder 3"/>
          <p:cNvSpPr>
            <a:spLocks noGrp="1"/>
          </p:cNvSpPr>
          <p:nvPr>
            <p:ph type="sldNum" sz="quarter" idx="5"/>
          </p:nvPr>
        </p:nvSpPr>
        <p:spPr/>
        <p:txBody>
          <a:bodyPr/>
          <a:lstStyle/>
          <a:p>
            <a:fld id="{C6B3559C-4BE5-4262-A2E7-0EADDD5F845B}" type="slidenum">
              <a:rPr lang="en-GB" smtClean="0"/>
              <a:t>1</a:t>
            </a:fld>
            <a:endParaRPr lang="en-GB"/>
          </a:p>
        </p:txBody>
      </p:sp>
    </p:spTree>
    <p:extLst>
      <p:ext uri="{BB962C8B-B14F-4D97-AF65-F5344CB8AC3E}">
        <p14:creationId xmlns:p14="http://schemas.microsoft.com/office/powerpoint/2010/main" val="35333203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B8886F-DB72-51A5-345E-7335A9258F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5F61AE-1E4B-2E22-B070-869ECDD970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2316AA-EA01-4595-1101-D37C4F16AE54}"/>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5785CF23-4833-3C52-6AA6-B3322A643DF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32871947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CB21A8-694B-3224-9C38-5F76C39553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2EC2EB-CD7B-F4EA-3E5C-798B080623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CEA938-CD14-4E26-4B19-2EA2AB014ABA}"/>
              </a:ext>
            </a:extLst>
          </p:cNvPr>
          <p:cNvSpPr>
            <a:spLocks noGrp="1"/>
          </p:cNvSpPr>
          <p:nvPr>
            <p:ph type="body" idx="1"/>
          </p:nvPr>
        </p:nvSpPr>
        <p:spPr/>
        <p:txBody>
          <a:bodyPr/>
          <a:lstStyle/>
          <a:p>
            <a:br>
              <a:rPr lang="en-GB" dirty="0"/>
            </a:br>
            <a:endParaRPr lang="en-US" dirty="0"/>
          </a:p>
        </p:txBody>
      </p:sp>
      <p:sp>
        <p:nvSpPr>
          <p:cNvPr id="4" name="Slide Number Placeholder 3">
            <a:extLst>
              <a:ext uri="{FF2B5EF4-FFF2-40B4-BE49-F238E27FC236}">
                <a16:creationId xmlns:a16="http://schemas.microsoft.com/office/drawing/2014/main" id="{6F4620AC-D066-581D-889A-8839D0CEA9FB}"/>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E40F24B-5F1B-CA4E-9B5E-D0AD9655A5AF}"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9371959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ADC61E-5508-DF57-A7F4-548B376787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F5A047-8814-791C-62B8-84D28F114A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141A25-C15E-8F6C-F2C8-01820D755657}"/>
              </a:ext>
            </a:extLst>
          </p:cNvPr>
          <p:cNvSpPr>
            <a:spLocks noGrp="1"/>
          </p:cNvSpPr>
          <p:nvPr>
            <p:ph type="body" idx="1"/>
          </p:nvPr>
        </p:nvSpPr>
        <p:spPr/>
        <p:txBody>
          <a:bodyPr/>
          <a:lstStyle/>
          <a:p>
            <a:br>
              <a:rPr lang="en-GB" dirty="0"/>
            </a:br>
            <a:endParaRPr lang="en-US" dirty="0"/>
          </a:p>
        </p:txBody>
      </p:sp>
      <p:sp>
        <p:nvSpPr>
          <p:cNvPr id="4" name="Slide Number Placeholder 3">
            <a:extLst>
              <a:ext uri="{FF2B5EF4-FFF2-40B4-BE49-F238E27FC236}">
                <a16:creationId xmlns:a16="http://schemas.microsoft.com/office/drawing/2014/main" id="{0F03E4F6-6B64-DA73-914B-DE4B9A5665FD}"/>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E40F24B-5F1B-CA4E-9B5E-D0AD9655A5AF}"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25249868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76CA56-576D-269F-3851-FF09DEFD50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BC67FE-9F87-6E60-DF06-E50D9417B7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F100EB-8EAC-A59B-E921-EC1C9EC079A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6BE2468-BD95-1662-E881-F2429D0011D3}"/>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E40F24B-5F1B-CA4E-9B5E-D0AD9655A5AF}"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2586348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latin typeface="DM Sans" pitchFamily="2"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S PGothic"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1200" b="0" i="0" u="none" strike="noStrike" kern="1200" cap="none" spc="0" normalizeH="0" baseline="0" noProof="0">
              <a:ln>
                <a:noFill/>
              </a:ln>
              <a:solidFill>
                <a:prstClr val="black"/>
              </a:solidFill>
              <a:effectLst/>
              <a:uLnTx/>
              <a:uFillTx/>
              <a:latin typeface="DM Sans" pitchFamily="2" charset="0"/>
              <a:ea typeface="MS PGothic" panose="020B0600070205080204" pitchFamily="34" charset="-128"/>
              <a:cs typeface="+mn-cs"/>
            </a:endParaRPr>
          </a:p>
        </p:txBody>
      </p:sp>
    </p:spTree>
    <p:extLst>
      <p:ext uri="{BB962C8B-B14F-4D97-AF65-F5344CB8AC3E}">
        <p14:creationId xmlns:p14="http://schemas.microsoft.com/office/powerpoint/2010/main" val="35333203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27200707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875A35-1295-2AF9-046D-7F9A02AB10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B8ADCC-1249-AD6B-9DBA-200E42EB0D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901DB2-24C5-0FDB-C6F6-A0D4440444B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98DBAD1-78CE-E44D-43BB-2816EB39A0D8}"/>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E40F24B-5F1B-CA4E-9B5E-D0AD9655A5AF}"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21222331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95FE1A-E3E4-852B-8546-14F06FB444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C3E90D-FDAA-DE71-E0A4-5A152E5586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767E2B-A1DB-9F1B-879D-81AF3230DFFC}"/>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6D5E7C4F-2C28-79D8-79BD-AB9CE61D094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4733535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2F572B-DFB2-B030-0AE3-7BFFCCA265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C3B896-7548-F1F2-9191-E654C2617E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0BFB84-A12E-C309-8216-AEBB5537EDC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2A8F509-A6D1-4ED7-E372-F499944CE173}"/>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E40F24B-5F1B-CA4E-9B5E-D0AD9655A5AF}"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31391750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440DCE-7278-B282-DC98-46AEAA1946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6998F8-D412-C996-A2A4-C926753E3E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CD0AC1-6725-C72B-4DB6-442DEAFF8E34}"/>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12A5F8F5-D111-9A95-F20D-C10441EB69D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735146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E40F24B-5F1B-CA4E-9B5E-D0AD9655A5AF}"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19538945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6D7559-AFC4-AD58-755D-F0D834571B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6EFD59-8A15-9AD4-52C4-CD1552CA76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A1A709-F38E-383E-4B1A-54CD1E3743A7}"/>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99B4306F-C309-132A-E9C2-60B426B147B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11575431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CB0D20-B740-6A88-2494-328C171900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512BB8-EBA6-260B-340A-43E2D1045B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501929-F168-9FEA-EA59-4D5394B15A4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08A673F-2176-C826-389B-CDAB06EE966E}"/>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E40F24B-5F1B-CA4E-9B5E-D0AD9655A5AF}"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25725913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512C0E-71BE-50B6-3F5B-A6557EBFE9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6A1B60-FFC9-0A8E-2F54-3EA2D8C3D3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7EECF8-F0E1-EE1D-8CB6-D7EA398DA8D8}"/>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91BA1900-0D12-3C90-DE38-5BFD991ACAC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36342340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17B29C-9187-2DCC-F5CB-261B520E81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10F9D5-8C11-B9D9-0679-9B5738EA2A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5BFF42-5BDD-887F-9D5E-99B16E2AA2C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8536E1C-6165-91F4-A861-77776D5DB59A}"/>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E40F24B-5F1B-CA4E-9B5E-D0AD9655A5AF}"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3069954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409925-CD66-1837-C38E-888928F6BC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45586B-4763-F42E-EB21-2146832721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AD5B6E-73E2-9CD1-31E9-B861006D64C7}"/>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3D2CF648-80EF-EA3A-E449-E33656785C5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22718865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75632E-026B-598D-A3D3-68E2D58D6C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695D1F-B238-3ADF-4042-8DCCC36DA6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B1DE68-7541-FD70-4589-4DCB6F94E76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CFE9A50-AB33-F636-B054-60576AC74F57}"/>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E40F24B-5F1B-CA4E-9B5E-D0AD9655A5AF}"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19822491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6AFA34-52E4-A133-8E32-9B5138DD65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094247-D1EF-F31B-B5BB-9E868C8398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D645DA-EE4C-EAAD-70DC-49D2B6139F1A}"/>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58184C4D-C178-EDCF-6CB7-05438F373F8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16664747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B8B687-0B2C-99C1-61DD-8E63F5709E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4F4C55-12D5-6953-70F0-966250B010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AAD091-891B-E5EA-CD63-96FE9F2FCC2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8B9A1D9-C8D7-4135-665F-EA130C4DFA52}"/>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E40F24B-5F1B-CA4E-9B5E-D0AD9655A5AF}"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20</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15672425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312565-E4F3-8F94-DEAA-F2F0326A23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25C6A3-280C-1CAF-9B71-887898B8E3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B4CC57-07CE-38B4-C413-890CFB2A98B4}"/>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09848DF5-EC0C-0BE1-3FE0-6419C62A165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102641868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E5252F-BE02-8B5B-C252-6F1F247B6A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12CC2C-CBDC-3D13-BF0E-D339E9E5EC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F1FA21-4D38-3F78-FAA4-88D0AF61B46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F3E2741-A65C-AB33-2758-271C1AA7D8DB}"/>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E40F24B-5F1B-CA4E-9B5E-D0AD9655A5AF}"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22</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352964615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56556E-AC72-FA2F-7D06-2865F3EB72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2C050A-5509-E131-9092-9A3405DC71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AAC07D-8E9B-E59E-41CD-3262513AD267}"/>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A84EC720-1D67-D0B2-CFD6-27BDC5AC41D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231986562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A494B1-75BF-9F6E-63A6-5F31071506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E85B3E-617B-D4C0-6976-F22AEF1CE4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4C1F3C-3501-B519-0E0B-E3047DA520A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4D0C1A9-2CF9-4286-E697-4F049ACB4878}"/>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E40F24B-5F1B-CA4E-9B5E-D0AD9655A5AF}"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24</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33784582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3/18/26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3/18/26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6"/>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342917" indent="0" algn="ctr">
              <a:buNone/>
              <a:defRPr>
                <a:solidFill>
                  <a:schemeClr val="tx1">
                    <a:tint val="75000"/>
                  </a:schemeClr>
                </a:solidFill>
              </a:defRPr>
            </a:lvl2pPr>
            <a:lvl3pPr marL="685835" indent="0" algn="ctr">
              <a:buNone/>
              <a:defRPr>
                <a:solidFill>
                  <a:schemeClr val="tx1">
                    <a:tint val="75000"/>
                  </a:schemeClr>
                </a:solidFill>
              </a:defRPr>
            </a:lvl3pPr>
            <a:lvl4pPr marL="1028753" indent="0" algn="ctr">
              <a:buNone/>
              <a:defRPr>
                <a:solidFill>
                  <a:schemeClr val="tx1">
                    <a:tint val="75000"/>
                  </a:schemeClr>
                </a:solidFill>
              </a:defRPr>
            </a:lvl4pPr>
            <a:lvl5pPr marL="1371669" indent="0" algn="ctr">
              <a:buNone/>
              <a:defRPr>
                <a:solidFill>
                  <a:schemeClr val="tx1">
                    <a:tint val="75000"/>
                  </a:schemeClr>
                </a:solidFill>
              </a:defRPr>
            </a:lvl5pPr>
            <a:lvl6pPr marL="1714586" indent="0" algn="ctr">
              <a:buNone/>
              <a:defRPr>
                <a:solidFill>
                  <a:schemeClr val="tx1">
                    <a:tint val="75000"/>
                  </a:schemeClr>
                </a:solidFill>
              </a:defRPr>
            </a:lvl6pPr>
            <a:lvl7pPr marL="2057502" indent="0" algn="ctr">
              <a:buNone/>
              <a:defRPr>
                <a:solidFill>
                  <a:schemeClr val="tx1">
                    <a:tint val="75000"/>
                  </a:schemeClr>
                </a:solidFill>
              </a:defRPr>
            </a:lvl7pPr>
            <a:lvl8pPr marL="2400420" indent="0" algn="ctr">
              <a:buNone/>
              <a:defRPr>
                <a:solidFill>
                  <a:schemeClr val="tx1">
                    <a:tint val="75000"/>
                  </a:schemeClr>
                </a:solidFill>
              </a:defRPr>
            </a:lvl8pPr>
            <a:lvl9pPr marL="2743338"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9299161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450533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5" y="4406901"/>
            <a:ext cx="7772400" cy="1362075"/>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5" y="2906714"/>
            <a:ext cx="7772400" cy="1500188"/>
          </a:xfrm>
        </p:spPr>
        <p:txBody>
          <a:bodyPr anchor="b"/>
          <a:lstStyle>
            <a:lvl1pPr marL="0" indent="0">
              <a:buNone/>
              <a:defRPr sz="1500">
                <a:solidFill>
                  <a:schemeClr val="tx1">
                    <a:tint val="75000"/>
                  </a:schemeClr>
                </a:solidFill>
              </a:defRPr>
            </a:lvl1pPr>
            <a:lvl2pPr marL="342917" indent="0">
              <a:buNone/>
              <a:defRPr sz="1350">
                <a:solidFill>
                  <a:schemeClr val="tx1">
                    <a:tint val="75000"/>
                  </a:schemeClr>
                </a:solidFill>
              </a:defRPr>
            </a:lvl2pPr>
            <a:lvl3pPr marL="685835" indent="0">
              <a:buNone/>
              <a:defRPr sz="1200">
                <a:solidFill>
                  <a:schemeClr val="tx1">
                    <a:tint val="75000"/>
                  </a:schemeClr>
                </a:solidFill>
              </a:defRPr>
            </a:lvl3pPr>
            <a:lvl4pPr marL="1028753" indent="0">
              <a:buNone/>
              <a:defRPr sz="1050">
                <a:solidFill>
                  <a:schemeClr val="tx1">
                    <a:tint val="75000"/>
                  </a:schemeClr>
                </a:solidFill>
              </a:defRPr>
            </a:lvl4pPr>
            <a:lvl5pPr marL="1371669" indent="0">
              <a:buNone/>
              <a:defRPr sz="1050">
                <a:solidFill>
                  <a:schemeClr val="tx1">
                    <a:tint val="75000"/>
                  </a:schemeClr>
                </a:solidFill>
              </a:defRPr>
            </a:lvl5pPr>
            <a:lvl6pPr marL="1714586" indent="0">
              <a:buNone/>
              <a:defRPr sz="1050">
                <a:solidFill>
                  <a:schemeClr val="tx1">
                    <a:tint val="75000"/>
                  </a:schemeClr>
                </a:solidFill>
              </a:defRPr>
            </a:lvl6pPr>
            <a:lvl7pPr marL="2057502" indent="0">
              <a:buNone/>
              <a:defRPr sz="1050">
                <a:solidFill>
                  <a:schemeClr val="tx1">
                    <a:tint val="75000"/>
                  </a:schemeClr>
                </a:solidFill>
              </a:defRPr>
            </a:lvl7pPr>
            <a:lvl8pPr marL="2400420" indent="0">
              <a:buNone/>
              <a:defRPr sz="1050">
                <a:solidFill>
                  <a:schemeClr val="tx1">
                    <a:tint val="75000"/>
                  </a:schemeClr>
                </a:solidFill>
              </a:defRPr>
            </a:lvl8pPr>
            <a:lvl9pPr marL="2743338"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3763121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3"/>
            <a:ext cx="4038600" cy="4525964"/>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3"/>
            <a:ext cx="4038600" cy="4525964"/>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4971653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2" y="1535114"/>
            <a:ext cx="4040189" cy="639762"/>
          </a:xfrm>
        </p:spPr>
        <p:txBody>
          <a:bodyPr anchor="b"/>
          <a:lstStyle>
            <a:lvl1pPr marL="0" indent="0">
              <a:buNone/>
              <a:defRPr sz="1800" b="1"/>
            </a:lvl1pPr>
            <a:lvl2pPr marL="342917" indent="0">
              <a:buNone/>
              <a:defRPr sz="1500" b="1"/>
            </a:lvl2pPr>
            <a:lvl3pPr marL="685835" indent="0">
              <a:buNone/>
              <a:defRPr sz="1350" b="1"/>
            </a:lvl3pPr>
            <a:lvl4pPr marL="1028753" indent="0">
              <a:buNone/>
              <a:defRPr sz="1200" b="1"/>
            </a:lvl4pPr>
            <a:lvl5pPr marL="1371669" indent="0">
              <a:buNone/>
              <a:defRPr sz="1200" b="1"/>
            </a:lvl5pPr>
            <a:lvl6pPr marL="1714586" indent="0">
              <a:buNone/>
              <a:defRPr sz="1200" b="1"/>
            </a:lvl6pPr>
            <a:lvl7pPr marL="2057502" indent="0">
              <a:buNone/>
              <a:defRPr sz="1200" b="1"/>
            </a:lvl7pPr>
            <a:lvl8pPr marL="2400420" indent="0">
              <a:buNone/>
              <a:defRPr sz="1200" b="1"/>
            </a:lvl8pPr>
            <a:lvl9pPr marL="2743338"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2" y="2174876"/>
            <a:ext cx="4040189"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4"/>
            <a:ext cx="4041776" cy="639762"/>
          </a:xfrm>
        </p:spPr>
        <p:txBody>
          <a:bodyPr anchor="b"/>
          <a:lstStyle>
            <a:lvl1pPr marL="0" indent="0">
              <a:buNone/>
              <a:defRPr sz="1800" b="1"/>
            </a:lvl1pPr>
            <a:lvl2pPr marL="342917" indent="0">
              <a:buNone/>
              <a:defRPr sz="1500" b="1"/>
            </a:lvl2pPr>
            <a:lvl3pPr marL="685835" indent="0">
              <a:buNone/>
              <a:defRPr sz="1350" b="1"/>
            </a:lvl3pPr>
            <a:lvl4pPr marL="1028753" indent="0">
              <a:buNone/>
              <a:defRPr sz="1200" b="1"/>
            </a:lvl4pPr>
            <a:lvl5pPr marL="1371669" indent="0">
              <a:buNone/>
              <a:defRPr sz="1200" b="1"/>
            </a:lvl5pPr>
            <a:lvl6pPr marL="1714586" indent="0">
              <a:buNone/>
              <a:defRPr sz="1200" b="1"/>
            </a:lvl6pPr>
            <a:lvl7pPr marL="2057502" indent="0">
              <a:buNone/>
              <a:defRPr sz="1200" b="1"/>
            </a:lvl7pPr>
            <a:lvl8pPr marL="2400420" indent="0">
              <a:buNone/>
              <a:defRPr sz="1200" b="1"/>
            </a:lvl8pPr>
            <a:lvl9pPr marL="2743338"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7" y="2174876"/>
            <a:ext cx="4041776"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3/18/26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6353863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3/18/26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4345027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55015012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50"/>
            <a:ext cx="3008315" cy="1162050"/>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4" y="273055"/>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435104"/>
            <a:ext cx="3008315" cy="4691063"/>
          </a:xfrm>
        </p:spPr>
        <p:txBody>
          <a:bodyPr/>
          <a:lstStyle>
            <a:lvl1pPr marL="0" indent="0">
              <a:buNone/>
              <a:defRPr sz="1050"/>
            </a:lvl1pPr>
            <a:lvl2pPr marL="342917" indent="0">
              <a:buNone/>
              <a:defRPr sz="900"/>
            </a:lvl2pPr>
            <a:lvl3pPr marL="685835" indent="0">
              <a:buNone/>
              <a:defRPr sz="750"/>
            </a:lvl3pPr>
            <a:lvl4pPr marL="1028753" indent="0">
              <a:buNone/>
              <a:defRPr sz="675"/>
            </a:lvl4pPr>
            <a:lvl5pPr marL="1371669" indent="0">
              <a:buNone/>
              <a:defRPr sz="675"/>
            </a:lvl5pPr>
            <a:lvl6pPr marL="1714586" indent="0">
              <a:buNone/>
              <a:defRPr sz="675"/>
            </a:lvl6pPr>
            <a:lvl7pPr marL="2057502" indent="0">
              <a:buNone/>
              <a:defRPr sz="675"/>
            </a:lvl7pPr>
            <a:lvl8pPr marL="2400420" indent="0">
              <a:buNone/>
              <a:defRPr sz="675"/>
            </a:lvl8pPr>
            <a:lvl9pPr marL="2743338"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03463052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4"/>
            <a:ext cx="5486400" cy="566738"/>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612776"/>
            <a:ext cx="5486400" cy="4114800"/>
          </a:xfrm>
        </p:spPr>
        <p:txBody>
          <a:bodyPr/>
          <a:lstStyle>
            <a:lvl1pPr marL="0" indent="0">
              <a:buNone/>
              <a:defRPr sz="2400"/>
            </a:lvl1pPr>
            <a:lvl2pPr marL="342917" indent="0">
              <a:buNone/>
              <a:defRPr sz="2100"/>
            </a:lvl2pPr>
            <a:lvl3pPr marL="685835" indent="0">
              <a:buNone/>
              <a:defRPr sz="1800"/>
            </a:lvl3pPr>
            <a:lvl4pPr marL="1028753" indent="0">
              <a:buNone/>
              <a:defRPr sz="1500"/>
            </a:lvl4pPr>
            <a:lvl5pPr marL="1371669" indent="0">
              <a:buNone/>
              <a:defRPr sz="1500"/>
            </a:lvl5pPr>
            <a:lvl6pPr marL="1714586" indent="0">
              <a:buNone/>
              <a:defRPr sz="1500"/>
            </a:lvl6pPr>
            <a:lvl7pPr marL="2057502" indent="0">
              <a:buNone/>
              <a:defRPr sz="1500"/>
            </a:lvl7pPr>
            <a:lvl8pPr marL="2400420" indent="0">
              <a:buNone/>
              <a:defRPr sz="1500"/>
            </a:lvl8pPr>
            <a:lvl9pPr marL="2743338" indent="0">
              <a:buNone/>
              <a:defRPr sz="1500"/>
            </a:lvl9pPr>
          </a:lstStyle>
          <a:p>
            <a:endParaRPr lang="en-US"/>
          </a:p>
        </p:txBody>
      </p:sp>
      <p:sp>
        <p:nvSpPr>
          <p:cNvPr id="4" name="Text Placeholder 3"/>
          <p:cNvSpPr>
            <a:spLocks noGrp="1"/>
          </p:cNvSpPr>
          <p:nvPr>
            <p:ph type="body" sz="half" idx="2"/>
          </p:nvPr>
        </p:nvSpPr>
        <p:spPr>
          <a:xfrm>
            <a:off x="1792288" y="5367341"/>
            <a:ext cx="5486400" cy="804863"/>
          </a:xfrm>
        </p:spPr>
        <p:txBody>
          <a:bodyPr/>
          <a:lstStyle>
            <a:lvl1pPr marL="0" indent="0">
              <a:buNone/>
              <a:defRPr sz="1050"/>
            </a:lvl1pPr>
            <a:lvl2pPr marL="342917" indent="0">
              <a:buNone/>
              <a:defRPr sz="900"/>
            </a:lvl2pPr>
            <a:lvl3pPr marL="685835" indent="0">
              <a:buNone/>
              <a:defRPr sz="750"/>
            </a:lvl3pPr>
            <a:lvl4pPr marL="1028753" indent="0">
              <a:buNone/>
              <a:defRPr sz="675"/>
            </a:lvl4pPr>
            <a:lvl5pPr marL="1371669" indent="0">
              <a:buNone/>
              <a:defRPr sz="675"/>
            </a:lvl5pPr>
            <a:lvl6pPr marL="1714586" indent="0">
              <a:buNone/>
              <a:defRPr sz="675"/>
            </a:lvl6pPr>
            <a:lvl7pPr marL="2057502" indent="0">
              <a:buNone/>
              <a:defRPr sz="675"/>
            </a:lvl7pPr>
            <a:lvl8pPr marL="2400420" indent="0">
              <a:buNone/>
              <a:defRPr sz="675"/>
            </a:lvl8pPr>
            <a:lvl9pPr marL="2743338"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43367302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1394512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6"/>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87733617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411957"/>
            <a:ext cx="16459200" cy="1714500"/>
          </a:xfrm>
        </p:spPr>
        <p:txBody>
          <a:bodyPr/>
          <a:lstStyle/>
          <a:p>
            <a:r>
              <a:rPr lang="en-GB"/>
              <a:t>Click to edit Master title style</a:t>
            </a:r>
            <a:endParaRPr lang="en-US"/>
          </a:p>
        </p:txBody>
      </p:sp>
      <p:sp>
        <p:nvSpPr>
          <p:cNvPr id="3" name="Text Placeholder 2"/>
          <p:cNvSpPr>
            <a:spLocks noGrp="1"/>
          </p:cNvSpPr>
          <p:nvPr>
            <p:ph type="body" sz="half" idx="1"/>
          </p:nvPr>
        </p:nvSpPr>
        <p:spPr>
          <a:xfrm>
            <a:off x="914400" y="2400305"/>
            <a:ext cx="8077200" cy="678894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9296400" y="2400305"/>
            <a:ext cx="8077200" cy="678894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Rectangle 4">
            <a:extLst>
              <a:ext uri="{FF2B5EF4-FFF2-40B4-BE49-F238E27FC236}">
                <a16:creationId xmlns:a16="http://schemas.microsoft.com/office/drawing/2014/main" id="{CA130A59-24D6-BF44-B4BD-970B6853FBFD}"/>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282DA918-BA26-C842-8E1E-1ED32CE2744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92F81648-DEEE-D640-983E-74FC943C9CDF}"/>
              </a:ext>
            </a:extLst>
          </p:cNvPr>
          <p:cNvSpPr>
            <a:spLocks noGrp="1" noChangeArrowheads="1"/>
          </p:cNvSpPr>
          <p:nvPr>
            <p:ph type="sldNum" sz="quarter" idx="12"/>
          </p:nvPr>
        </p:nvSpPr>
        <p:spPr>
          <a:ln/>
        </p:spPr>
        <p:txBody>
          <a:bodyPr/>
          <a:lstStyle>
            <a:lvl1pPr>
              <a:defRPr/>
            </a:lvl1pPr>
          </a:lstStyle>
          <a:p>
            <a:fld id="{7F318B0F-B1AF-594B-AA89-D1C92B2445CC}" type="slidenum">
              <a:rPr lang="en-US" altLang="en-US"/>
              <a:pPr/>
              <a:t>‹#›</a:t>
            </a:fld>
            <a:endParaRPr lang="en-US" altLang="en-US"/>
          </a:p>
        </p:txBody>
      </p:sp>
    </p:spTree>
    <p:extLst>
      <p:ext uri="{BB962C8B-B14F-4D97-AF65-F5344CB8AC3E}">
        <p14:creationId xmlns:p14="http://schemas.microsoft.com/office/powerpoint/2010/main" val="251353192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914400" y="411959"/>
            <a:ext cx="16459200" cy="87772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3" name="Rectangle 4">
            <a:extLst>
              <a:ext uri="{FF2B5EF4-FFF2-40B4-BE49-F238E27FC236}">
                <a16:creationId xmlns:a16="http://schemas.microsoft.com/office/drawing/2014/main" id="{A78232EC-B2A8-C143-ACB0-89F0E5D889BB}"/>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E5602903-C5EA-6C4C-B5F2-B86D2D565E1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2BF1A0A5-AD10-2340-BC89-9D16FDAD00D9}"/>
              </a:ext>
            </a:extLst>
          </p:cNvPr>
          <p:cNvSpPr>
            <a:spLocks noGrp="1" noChangeArrowheads="1"/>
          </p:cNvSpPr>
          <p:nvPr>
            <p:ph type="sldNum" sz="quarter" idx="12"/>
          </p:nvPr>
        </p:nvSpPr>
        <p:spPr>
          <a:ln/>
        </p:spPr>
        <p:txBody>
          <a:bodyPr/>
          <a:lstStyle>
            <a:lvl1pPr>
              <a:defRPr/>
            </a:lvl1pPr>
          </a:lstStyle>
          <a:p>
            <a:fld id="{96A68D32-FF93-834A-B58C-1FA432242830}" type="slidenum">
              <a:rPr lang="en-US" altLang="en-US"/>
              <a:pPr/>
              <a:t>‹#›</a:t>
            </a:fld>
            <a:endParaRPr lang="en-US" altLang="en-US"/>
          </a:p>
        </p:txBody>
      </p:sp>
    </p:spTree>
    <p:extLst>
      <p:ext uri="{BB962C8B-B14F-4D97-AF65-F5344CB8AC3E}">
        <p14:creationId xmlns:p14="http://schemas.microsoft.com/office/powerpoint/2010/main" val="41172228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1.jpe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DM Sans" pitchFamily="2" charset="0"/>
              </a:defRPr>
            </a:lvl1pPr>
          </a:lstStyle>
          <a:p>
            <a:fld id="{1D8BD707-D9CF-40AE-B4C6-C98DA3205C09}" type="datetimeFigureOut">
              <a:rPr lang="en-US" smtClean="0"/>
              <a:pPr/>
              <a:t>3/18/26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DM Sans" pitchFamily="2" charset="0"/>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DM Sans" pitchFamily="2" charset="0"/>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DM Sans" pitchFamily="2" charset="0"/>
          <a:ea typeface="+mj-ea"/>
          <a:cs typeface="+mj-cs"/>
        </a:defRPr>
      </a:lvl1pPr>
    </p:titleStyle>
    <p:bodyStyle>
      <a:lvl1pPr marL="342900" indent="-342900" algn="l" defTabSz="914400" rtl="0" eaLnBrk="1" latinLnBrk="0" hangingPunct="1">
        <a:spcBef>
          <a:spcPct val="20000"/>
        </a:spcBef>
        <a:buFont typeface="DM Sans" pitchFamily="34" charset="0"/>
        <a:buChar char="•"/>
        <a:defRPr sz="3200" kern="1200">
          <a:solidFill>
            <a:schemeClr val="tx1"/>
          </a:solidFill>
          <a:latin typeface="DM Sans" pitchFamily="2" charset="0"/>
          <a:ea typeface="+mn-ea"/>
          <a:cs typeface="+mn-cs"/>
        </a:defRPr>
      </a:lvl1pPr>
      <a:lvl2pPr marL="742950" indent="-285750" algn="l" defTabSz="914400" rtl="0" eaLnBrk="1" latinLnBrk="0" hangingPunct="1">
        <a:spcBef>
          <a:spcPct val="20000"/>
        </a:spcBef>
        <a:buFont typeface="DM Sans" pitchFamily="34" charset="0"/>
        <a:buChar char="–"/>
        <a:defRPr sz="2800" kern="1200">
          <a:solidFill>
            <a:schemeClr val="tx1"/>
          </a:solidFill>
          <a:latin typeface="DM Sans" pitchFamily="2" charset="0"/>
          <a:ea typeface="+mn-ea"/>
          <a:cs typeface="+mn-cs"/>
        </a:defRPr>
      </a:lvl2pPr>
      <a:lvl3pPr marL="1143000" indent="-228600" algn="l" defTabSz="914400" rtl="0" eaLnBrk="1" latinLnBrk="0" hangingPunct="1">
        <a:spcBef>
          <a:spcPct val="20000"/>
        </a:spcBef>
        <a:buFont typeface="DM Sans" pitchFamily="34" charset="0"/>
        <a:buChar char="•"/>
        <a:defRPr sz="2400" kern="1200">
          <a:solidFill>
            <a:schemeClr val="tx1"/>
          </a:solidFill>
          <a:latin typeface="DM Sans" pitchFamily="2" charset="0"/>
          <a:ea typeface="+mn-ea"/>
          <a:cs typeface="+mn-cs"/>
        </a:defRPr>
      </a:lvl3pPr>
      <a:lvl4pPr marL="16002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4pPr>
      <a:lvl5pPr marL="20574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5pPr>
      <a:lvl6pPr marL="25146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3"/>
            <a:ext cx="8229600" cy="452596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4"/>
            <a:ext cx="2133600" cy="365126"/>
          </a:xfrm>
          <a:prstGeom prst="rect">
            <a:avLst/>
          </a:prstGeom>
        </p:spPr>
        <p:txBody>
          <a:bodyPr vert="horz" lIns="91440" tIns="45720" rIns="91440" bIns="45720" rtlCol="0" anchor="ctr"/>
          <a:lstStyle>
            <a:lvl1pPr algn="l">
              <a:defRPr sz="900">
                <a:solidFill>
                  <a:schemeClr val="tx1">
                    <a:tint val="75000"/>
                  </a:schemeClr>
                </a:solidFill>
                <a:latin typeface="DM Sans" pitchFamily="2" charset="0"/>
              </a:defRPr>
            </a:lvl1pPr>
          </a:lstStyle>
          <a:p>
            <a:fld id="{1D8BD707-D9CF-40AE-B4C6-C98DA3205C09}" type="datetimeFigureOut">
              <a:rPr lang="en-US" smtClean="0"/>
              <a:pPr/>
              <a:t>3/18/26</a:t>
            </a:fld>
            <a:endParaRPr lang="en-US"/>
          </a:p>
        </p:txBody>
      </p:sp>
      <p:sp>
        <p:nvSpPr>
          <p:cNvPr id="5" name="Footer Placeholder 4"/>
          <p:cNvSpPr>
            <a:spLocks noGrp="1"/>
          </p:cNvSpPr>
          <p:nvPr>
            <p:ph type="ftr" sz="quarter" idx="3"/>
          </p:nvPr>
        </p:nvSpPr>
        <p:spPr>
          <a:xfrm>
            <a:off x="3124200" y="6356354"/>
            <a:ext cx="2895600" cy="365126"/>
          </a:xfrm>
          <a:prstGeom prst="rect">
            <a:avLst/>
          </a:prstGeom>
        </p:spPr>
        <p:txBody>
          <a:bodyPr vert="horz" lIns="91440" tIns="45720" rIns="91440" bIns="45720" rtlCol="0" anchor="ctr"/>
          <a:lstStyle>
            <a:lvl1pPr algn="ctr">
              <a:defRPr sz="900">
                <a:solidFill>
                  <a:schemeClr val="tx1">
                    <a:tint val="75000"/>
                  </a:schemeClr>
                </a:solidFill>
                <a:latin typeface="DM Sans" pitchFamily="2" charset="0"/>
              </a:defRPr>
            </a:lvl1pPr>
          </a:lstStyle>
          <a:p>
            <a:endParaRPr lang="en-US"/>
          </a:p>
        </p:txBody>
      </p:sp>
      <p:sp>
        <p:nvSpPr>
          <p:cNvPr id="6" name="Slide Number Placeholder 5"/>
          <p:cNvSpPr>
            <a:spLocks noGrp="1"/>
          </p:cNvSpPr>
          <p:nvPr>
            <p:ph type="sldNum" sz="quarter" idx="4"/>
          </p:nvPr>
        </p:nvSpPr>
        <p:spPr>
          <a:xfrm>
            <a:off x="6553200" y="6356354"/>
            <a:ext cx="2133600" cy="365126"/>
          </a:xfrm>
          <a:prstGeom prst="rect">
            <a:avLst/>
          </a:prstGeom>
        </p:spPr>
        <p:txBody>
          <a:bodyPr vert="horz" lIns="91440" tIns="45720" rIns="91440" bIns="45720" rtlCol="0" anchor="ctr"/>
          <a:lstStyle>
            <a:lvl1pPr algn="r">
              <a:defRPr sz="900">
                <a:solidFill>
                  <a:schemeClr val="tx1">
                    <a:tint val="75000"/>
                  </a:schemeClr>
                </a:solidFill>
                <a:latin typeface="DM Sans" pitchFamily="2" charset="0"/>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907362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ctr" defTabSz="685835" rtl="0" eaLnBrk="1" latinLnBrk="0" hangingPunct="1">
        <a:spcBef>
          <a:spcPct val="0"/>
        </a:spcBef>
        <a:buNone/>
        <a:defRPr sz="3300" kern="1200">
          <a:solidFill>
            <a:schemeClr val="tx1"/>
          </a:solidFill>
          <a:latin typeface="DM Sans" pitchFamily="2" charset="0"/>
          <a:ea typeface="+mj-ea"/>
          <a:cs typeface="+mj-cs"/>
        </a:defRPr>
      </a:lvl1pPr>
    </p:titleStyle>
    <p:bodyStyle>
      <a:lvl1pPr marL="257187" indent="-257187" algn="l" defTabSz="685835" rtl="0" eaLnBrk="1" latinLnBrk="0" hangingPunct="1">
        <a:spcBef>
          <a:spcPct val="20000"/>
        </a:spcBef>
        <a:buFont typeface="DM Sans" pitchFamily="34" charset="0"/>
        <a:buChar char="•"/>
        <a:defRPr sz="2400" kern="1200">
          <a:solidFill>
            <a:schemeClr val="tx1"/>
          </a:solidFill>
          <a:latin typeface="DM Sans" pitchFamily="2" charset="0"/>
          <a:ea typeface="+mn-ea"/>
          <a:cs typeface="+mn-cs"/>
        </a:defRPr>
      </a:lvl1pPr>
      <a:lvl2pPr marL="557241" indent="-214325" algn="l" defTabSz="685835" rtl="0" eaLnBrk="1" latinLnBrk="0" hangingPunct="1">
        <a:spcBef>
          <a:spcPct val="20000"/>
        </a:spcBef>
        <a:buFont typeface="DM Sans" pitchFamily="34" charset="0"/>
        <a:buChar char="–"/>
        <a:defRPr sz="2100" kern="1200">
          <a:solidFill>
            <a:schemeClr val="tx1"/>
          </a:solidFill>
          <a:latin typeface="DM Sans" pitchFamily="2" charset="0"/>
          <a:ea typeface="+mn-ea"/>
          <a:cs typeface="+mn-cs"/>
        </a:defRPr>
      </a:lvl2pPr>
      <a:lvl3pPr marL="857294" indent="-171459" algn="l" defTabSz="685835" rtl="0" eaLnBrk="1" latinLnBrk="0" hangingPunct="1">
        <a:spcBef>
          <a:spcPct val="20000"/>
        </a:spcBef>
        <a:buFont typeface="DM Sans" pitchFamily="34" charset="0"/>
        <a:buChar char="•"/>
        <a:defRPr sz="1800" kern="1200">
          <a:solidFill>
            <a:schemeClr val="tx1"/>
          </a:solidFill>
          <a:latin typeface="DM Sans" pitchFamily="2" charset="0"/>
          <a:ea typeface="+mn-ea"/>
          <a:cs typeface="+mn-cs"/>
        </a:defRPr>
      </a:lvl3pPr>
      <a:lvl4pPr marL="1200210" indent="-171459" algn="l" defTabSz="685835" rtl="0" eaLnBrk="1" latinLnBrk="0" hangingPunct="1">
        <a:spcBef>
          <a:spcPct val="20000"/>
        </a:spcBef>
        <a:buFont typeface="DM Sans" pitchFamily="34" charset="0"/>
        <a:buChar char="–"/>
        <a:defRPr sz="1500" kern="1200">
          <a:solidFill>
            <a:schemeClr val="tx1"/>
          </a:solidFill>
          <a:latin typeface="DM Sans" pitchFamily="2" charset="0"/>
          <a:ea typeface="+mn-ea"/>
          <a:cs typeface="+mn-cs"/>
        </a:defRPr>
      </a:lvl4pPr>
      <a:lvl5pPr marL="1543128" indent="-171459" algn="l" defTabSz="685835" rtl="0" eaLnBrk="1" latinLnBrk="0" hangingPunct="1">
        <a:spcBef>
          <a:spcPct val="20000"/>
        </a:spcBef>
        <a:buFont typeface="DM Sans" pitchFamily="34" charset="0"/>
        <a:buChar char="»"/>
        <a:defRPr sz="1500" kern="1200">
          <a:solidFill>
            <a:schemeClr val="tx1"/>
          </a:solidFill>
          <a:latin typeface="DM Sans" pitchFamily="2" charset="0"/>
          <a:ea typeface="+mn-ea"/>
          <a:cs typeface="+mn-cs"/>
        </a:defRPr>
      </a:lvl5pPr>
      <a:lvl6pPr marL="1886045" indent="-171459" algn="l" defTabSz="685835" rtl="0" eaLnBrk="1" latinLnBrk="0" hangingPunct="1">
        <a:spcBef>
          <a:spcPct val="20000"/>
        </a:spcBef>
        <a:buFont typeface="DM Sans" pitchFamily="34" charset="0"/>
        <a:buChar char="•"/>
        <a:defRPr sz="1500" kern="1200">
          <a:solidFill>
            <a:schemeClr val="tx1"/>
          </a:solidFill>
          <a:latin typeface="+mn-lt"/>
          <a:ea typeface="+mn-ea"/>
          <a:cs typeface="+mn-cs"/>
        </a:defRPr>
      </a:lvl6pPr>
      <a:lvl7pPr marL="2228961" indent="-171459" algn="l" defTabSz="685835" rtl="0" eaLnBrk="1" latinLnBrk="0" hangingPunct="1">
        <a:spcBef>
          <a:spcPct val="20000"/>
        </a:spcBef>
        <a:buFont typeface="DM Sans" pitchFamily="34" charset="0"/>
        <a:buChar char="•"/>
        <a:defRPr sz="1500" kern="1200">
          <a:solidFill>
            <a:schemeClr val="tx1"/>
          </a:solidFill>
          <a:latin typeface="+mn-lt"/>
          <a:ea typeface="+mn-ea"/>
          <a:cs typeface="+mn-cs"/>
        </a:defRPr>
      </a:lvl7pPr>
      <a:lvl8pPr marL="2571879" indent="-171459" algn="l" defTabSz="685835" rtl="0" eaLnBrk="1" latinLnBrk="0" hangingPunct="1">
        <a:spcBef>
          <a:spcPct val="20000"/>
        </a:spcBef>
        <a:buFont typeface="DM Sans" pitchFamily="34" charset="0"/>
        <a:buChar char="•"/>
        <a:defRPr sz="1500" kern="1200">
          <a:solidFill>
            <a:schemeClr val="tx1"/>
          </a:solidFill>
          <a:latin typeface="+mn-lt"/>
          <a:ea typeface="+mn-ea"/>
          <a:cs typeface="+mn-cs"/>
        </a:defRPr>
      </a:lvl8pPr>
      <a:lvl9pPr marL="2914797" indent="-171459" algn="l" defTabSz="685835" rtl="0" eaLnBrk="1" latinLnBrk="0" hangingPunct="1">
        <a:spcBef>
          <a:spcPct val="20000"/>
        </a:spcBef>
        <a:buFont typeface="DM Sans" pitchFamily="34" charset="0"/>
        <a:buChar char="•"/>
        <a:defRPr sz="1500" kern="1200">
          <a:solidFill>
            <a:schemeClr val="tx1"/>
          </a:solidFill>
          <a:latin typeface="+mn-lt"/>
          <a:ea typeface="+mn-ea"/>
          <a:cs typeface="+mn-cs"/>
        </a:defRPr>
      </a:lvl9pPr>
    </p:bodyStyle>
    <p:otherStyle>
      <a:defPPr>
        <a:defRPr lang="en-US"/>
      </a:defPPr>
      <a:lvl1pPr marL="0" algn="l" defTabSz="685835" rtl="0" eaLnBrk="1" latinLnBrk="0" hangingPunct="1">
        <a:defRPr sz="1350" kern="1200">
          <a:solidFill>
            <a:schemeClr val="tx1"/>
          </a:solidFill>
          <a:latin typeface="+mn-lt"/>
          <a:ea typeface="+mn-ea"/>
          <a:cs typeface="+mn-cs"/>
        </a:defRPr>
      </a:lvl1pPr>
      <a:lvl2pPr marL="342917" algn="l" defTabSz="685835" rtl="0" eaLnBrk="1" latinLnBrk="0" hangingPunct="1">
        <a:defRPr sz="1350" kern="1200">
          <a:solidFill>
            <a:schemeClr val="tx1"/>
          </a:solidFill>
          <a:latin typeface="+mn-lt"/>
          <a:ea typeface="+mn-ea"/>
          <a:cs typeface="+mn-cs"/>
        </a:defRPr>
      </a:lvl2pPr>
      <a:lvl3pPr marL="685835" algn="l" defTabSz="685835" rtl="0" eaLnBrk="1" latinLnBrk="0" hangingPunct="1">
        <a:defRPr sz="1350" kern="1200">
          <a:solidFill>
            <a:schemeClr val="tx1"/>
          </a:solidFill>
          <a:latin typeface="+mn-lt"/>
          <a:ea typeface="+mn-ea"/>
          <a:cs typeface="+mn-cs"/>
        </a:defRPr>
      </a:lvl3pPr>
      <a:lvl4pPr marL="1028753" algn="l" defTabSz="685835" rtl="0" eaLnBrk="1" latinLnBrk="0" hangingPunct="1">
        <a:defRPr sz="1350" kern="1200">
          <a:solidFill>
            <a:schemeClr val="tx1"/>
          </a:solidFill>
          <a:latin typeface="+mn-lt"/>
          <a:ea typeface="+mn-ea"/>
          <a:cs typeface="+mn-cs"/>
        </a:defRPr>
      </a:lvl4pPr>
      <a:lvl5pPr marL="1371669" algn="l" defTabSz="685835" rtl="0" eaLnBrk="1" latinLnBrk="0" hangingPunct="1">
        <a:defRPr sz="1350" kern="1200">
          <a:solidFill>
            <a:schemeClr val="tx1"/>
          </a:solidFill>
          <a:latin typeface="+mn-lt"/>
          <a:ea typeface="+mn-ea"/>
          <a:cs typeface="+mn-cs"/>
        </a:defRPr>
      </a:lvl5pPr>
      <a:lvl6pPr marL="1714586" algn="l" defTabSz="685835" rtl="0" eaLnBrk="1" latinLnBrk="0" hangingPunct="1">
        <a:defRPr sz="1350" kern="1200">
          <a:solidFill>
            <a:schemeClr val="tx1"/>
          </a:solidFill>
          <a:latin typeface="+mn-lt"/>
          <a:ea typeface="+mn-ea"/>
          <a:cs typeface="+mn-cs"/>
        </a:defRPr>
      </a:lvl6pPr>
      <a:lvl7pPr marL="2057502" algn="l" defTabSz="685835" rtl="0" eaLnBrk="1" latinLnBrk="0" hangingPunct="1">
        <a:defRPr sz="1350" kern="1200">
          <a:solidFill>
            <a:schemeClr val="tx1"/>
          </a:solidFill>
          <a:latin typeface="+mn-lt"/>
          <a:ea typeface="+mn-ea"/>
          <a:cs typeface="+mn-cs"/>
        </a:defRPr>
      </a:lvl7pPr>
      <a:lvl8pPr marL="2400420" algn="l" defTabSz="685835" rtl="0" eaLnBrk="1" latinLnBrk="0" hangingPunct="1">
        <a:defRPr sz="1350" kern="1200">
          <a:solidFill>
            <a:schemeClr val="tx1"/>
          </a:solidFill>
          <a:latin typeface="+mn-lt"/>
          <a:ea typeface="+mn-ea"/>
          <a:cs typeface="+mn-cs"/>
        </a:defRPr>
      </a:lvl8pPr>
      <a:lvl9pPr marL="2743338" algn="l" defTabSz="685835"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6.xml"/><Relationship Id="rId1" Type="http://schemas.openxmlformats.org/officeDocument/2006/relationships/slideLayout" Target="../slideLayouts/slideLayout7.xml"/><Relationship Id="rId5" Type="http://schemas.openxmlformats.org/officeDocument/2006/relationships/image" Target="../media/image8.jpe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8.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3" name="Freeform 13"/>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endParaRPr lang="en-GB">
              <a:latin typeface="DM Sans" pitchFamily="2" charset="0"/>
            </a:endParaRPr>
          </a:p>
        </p:txBody>
      </p:sp>
      <p:sp>
        <p:nvSpPr>
          <p:cNvPr id="2" name="TextBox 14">
            <a:extLst>
              <a:ext uri="{FF2B5EF4-FFF2-40B4-BE49-F238E27FC236}">
                <a16:creationId xmlns:a16="http://schemas.microsoft.com/office/drawing/2014/main" id="{F0DA2D17-C40D-DA25-624F-1D8A297B593A}"/>
              </a:ext>
            </a:extLst>
          </p:cNvPr>
          <p:cNvSpPr txBox="1"/>
          <p:nvPr/>
        </p:nvSpPr>
        <p:spPr>
          <a:xfrm>
            <a:off x="1371600" y="5143500"/>
            <a:ext cx="14764384" cy="1380378"/>
          </a:xfrm>
          <a:prstGeom prst="rect">
            <a:avLst/>
          </a:prstGeom>
        </p:spPr>
        <p:txBody>
          <a:bodyPr wrap="square" lIns="0" tIns="0" rIns="0" bIns="0" rtlCol="0" anchor="t">
            <a:spAutoFit/>
          </a:bodyPr>
          <a:lstStyle/>
          <a:p>
            <a:pPr>
              <a:lnSpc>
                <a:spcPts val="10999"/>
              </a:lnSpc>
            </a:pPr>
            <a:r>
              <a:rPr lang="en-GB" altLang="en-US" sz="8800" b="1" dirty="0">
                <a:solidFill>
                  <a:schemeClr val="bg1"/>
                </a:solidFill>
              </a:rPr>
              <a:t>Climate Modelling</a:t>
            </a:r>
            <a:endParaRPr lang="en-US" sz="8799" b="1" dirty="0">
              <a:solidFill>
                <a:schemeClr val="bg1"/>
              </a:solidFill>
              <a:latin typeface="DM Sans" pitchFamily="2" charset="0"/>
            </a:endParaRPr>
          </a:p>
        </p:txBody>
      </p:sp>
      <p:sp>
        <p:nvSpPr>
          <p:cNvPr id="3" name="TextBox 14">
            <a:extLst>
              <a:ext uri="{FF2B5EF4-FFF2-40B4-BE49-F238E27FC236}">
                <a16:creationId xmlns:a16="http://schemas.microsoft.com/office/drawing/2014/main" id="{4E4EAF08-B290-2C6A-BBCC-3221855F907B}"/>
              </a:ext>
            </a:extLst>
          </p:cNvPr>
          <p:cNvSpPr txBox="1"/>
          <p:nvPr/>
        </p:nvSpPr>
        <p:spPr>
          <a:xfrm>
            <a:off x="1371600" y="6256374"/>
            <a:ext cx="7772400" cy="2585901"/>
          </a:xfrm>
          <a:prstGeom prst="rect">
            <a:avLst/>
          </a:prstGeom>
        </p:spPr>
        <p:txBody>
          <a:bodyPr wrap="square" lIns="0" tIns="0" rIns="0" bIns="0" rtlCol="0" anchor="t">
            <a:spAutoFit/>
          </a:bodyPr>
          <a:lstStyle/>
          <a:p>
            <a:pPr>
              <a:lnSpc>
                <a:spcPts val="10999"/>
              </a:lnSpc>
            </a:pPr>
            <a:r>
              <a:rPr lang="en-US" sz="3200" b="1" dirty="0">
                <a:solidFill>
                  <a:srgbClr val="FAB700"/>
                </a:solidFill>
                <a:latin typeface="DM Sans" pitchFamily="2" charset="0"/>
              </a:rPr>
              <a:t>Global Climate Change – Week 7</a:t>
            </a:r>
          </a:p>
          <a:p>
            <a:pPr>
              <a:lnSpc>
                <a:spcPts val="10999"/>
              </a:lnSpc>
            </a:pPr>
            <a:r>
              <a:rPr lang="en-US" sz="3200" b="1" dirty="0">
                <a:solidFill>
                  <a:srgbClr val="FAB700"/>
                </a:solidFill>
                <a:latin typeface="DM Sans" pitchFamily="2" charset="0"/>
              </a:rPr>
              <a:t>Dr Thomas </a:t>
            </a:r>
            <a:r>
              <a:rPr lang="en-US" sz="3200" b="1" dirty="0" err="1">
                <a:solidFill>
                  <a:srgbClr val="FAB700"/>
                </a:solidFill>
                <a:latin typeface="DM Sans" pitchFamily="2" charset="0"/>
              </a:rPr>
              <a:t>Bannan</a:t>
            </a:r>
            <a:r>
              <a:rPr lang="en-US" sz="3200" b="1" dirty="0">
                <a:solidFill>
                  <a:srgbClr val="FAB700"/>
                </a:solidFill>
                <a:latin typeface="DM Sans" pitchFamily="2" charset="0"/>
              </a:rPr>
              <a:t> </a:t>
            </a:r>
          </a:p>
        </p:txBody>
      </p:sp>
      <p:sp>
        <p:nvSpPr>
          <p:cNvPr id="4" name="TextBox 3">
            <a:extLst>
              <a:ext uri="{FF2B5EF4-FFF2-40B4-BE49-F238E27FC236}">
                <a16:creationId xmlns:a16="http://schemas.microsoft.com/office/drawing/2014/main" id="{5889A0A8-15D6-C5A0-517B-A5C87EE4AF42}"/>
              </a:ext>
            </a:extLst>
          </p:cNvPr>
          <p:cNvSpPr txBox="1"/>
          <p:nvPr/>
        </p:nvSpPr>
        <p:spPr>
          <a:xfrm>
            <a:off x="1371600" y="9077406"/>
            <a:ext cx="9047747" cy="461665"/>
          </a:xfrm>
          <a:prstGeom prst="rect">
            <a:avLst/>
          </a:prstGeom>
          <a:noFill/>
        </p:spPr>
        <p:txBody>
          <a:bodyPr wrap="square" rtlCol="0">
            <a:spAutoFit/>
          </a:bodyPr>
          <a:lstStyle/>
          <a:p>
            <a:r>
              <a:rPr lang="en-US" sz="2400" dirty="0" err="1">
                <a:solidFill>
                  <a:schemeClr val="bg1"/>
                </a:solidFill>
              </a:rPr>
              <a:t>Thomas.Bannan@Manchester.ac.uk</a:t>
            </a:r>
            <a:endParaRPr lang="en-US" sz="2400"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3871B-E94F-F3B0-6693-DC3CBA57AE4C}"/>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4096B08E-C77B-490E-CB91-38F74A58C653}"/>
              </a:ext>
            </a:extLst>
          </p:cNvPr>
          <p:cNvSpPr/>
          <p:nvPr/>
        </p:nvSpPr>
        <p:spPr>
          <a:xfrm>
            <a:off x="14147800"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914445">
              <a:defRPr/>
            </a:pPr>
            <a:endParaRPr lang="en-GB">
              <a:solidFill>
                <a:prstClr val="black"/>
              </a:solidFill>
              <a:latin typeface="Calibri" panose="020F0502020204030204" pitchFamily="34" charset="0"/>
              <a:ea typeface="ＭＳ Ｐゴシック" panose="020B0600070205080204" pitchFamily="34" charset="-128"/>
              <a:cs typeface="Calibri" panose="020F0502020204030204" pitchFamily="34" charset="0"/>
            </a:endParaRPr>
          </a:p>
        </p:txBody>
      </p:sp>
      <p:sp>
        <p:nvSpPr>
          <p:cNvPr id="5" name="TextBox 14">
            <a:extLst>
              <a:ext uri="{FF2B5EF4-FFF2-40B4-BE49-F238E27FC236}">
                <a16:creationId xmlns:a16="http://schemas.microsoft.com/office/drawing/2014/main" id="{C33318AA-C8FE-C52E-9E0D-ED1ABE3A0478}"/>
              </a:ext>
            </a:extLst>
          </p:cNvPr>
          <p:cNvSpPr txBox="1"/>
          <p:nvPr/>
        </p:nvSpPr>
        <p:spPr>
          <a:xfrm>
            <a:off x="584198" y="1591155"/>
            <a:ext cx="11004828" cy="884858"/>
          </a:xfrm>
          <a:prstGeom prst="rect">
            <a:avLst/>
          </a:prstGeom>
        </p:spPr>
        <p:txBody>
          <a:bodyPr wrap="square" lIns="0" tIns="0" rIns="0" bIns="0" rtlCol="0" anchor="t">
            <a:spAutoFit/>
          </a:bodyPr>
          <a:lstStyle/>
          <a:p>
            <a:pPr defTabSz="914445">
              <a:lnSpc>
                <a:spcPts val="6860"/>
              </a:lnSpc>
              <a:defRPr/>
            </a:pPr>
            <a:r>
              <a:rPr lang="en-US" sz="6600" i="1" spc="-413" dirty="0">
                <a:solidFill>
                  <a:srgbClr val="46245A"/>
                </a:solidFill>
                <a:latin typeface="Calibri" panose="020F0502020204030204" pitchFamily="34" charset="0"/>
                <a:ea typeface="ＭＳ Ｐゴシック" panose="020B0600070205080204" pitchFamily="34" charset="-128"/>
                <a:cs typeface="Calibri" panose="020F0502020204030204" pitchFamily="34" charset="0"/>
              </a:rPr>
              <a:t>Discussion</a:t>
            </a:r>
          </a:p>
        </p:txBody>
      </p:sp>
      <p:sp>
        <p:nvSpPr>
          <p:cNvPr id="6" name="TextBox 5">
            <a:extLst>
              <a:ext uri="{FF2B5EF4-FFF2-40B4-BE49-F238E27FC236}">
                <a16:creationId xmlns:a16="http://schemas.microsoft.com/office/drawing/2014/main" id="{22DF507C-DF0B-2AC1-C048-9A0811901ACE}"/>
              </a:ext>
            </a:extLst>
          </p:cNvPr>
          <p:cNvSpPr txBox="1"/>
          <p:nvPr/>
        </p:nvSpPr>
        <p:spPr>
          <a:xfrm>
            <a:off x="584198" y="3041029"/>
            <a:ext cx="17325431" cy="1938992"/>
          </a:xfrm>
          <a:prstGeom prst="rect">
            <a:avLst/>
          </a:prstGeom>
          <a:noFill/>
        </p:spPr>
        <p:txBody>
          <a:bodyPr wrap="square">
            <a:spAutoFit/>
          </a:bodyPr>
          <a:lstStyle/>
          <a:p>
            <a:pPr defTabSz="1371600"/>
            <a:r>
              <a:rPr lang="en-GB" sz="3000" dirty="0">
                <a:solidFill>
                  <a:srgbClr val="000000"/>
                </a:solidFill>
                <a:latin typeface="Calibri" panose="020F0502020204030204" pitchFamily="34" charset="0"/>
                <a:cs typeface="Calibri" panose="020F0502020204030204" pitchFamily="34" charset="0"/>
              </a:rPr>
              <a:t>If you were building a climate model, what variables would you absolutely need to include?</a:t>
            </a:r>
            <a:endParaRPr lang="en-US" sz="3000" dirty="0">
              <a:latin typeface="Calibri" panose="020F0502020204030204" pitchFamily="34" charset="0"/>
              <a:cs typeface="Calibri" panose="020F0502020204030204" pitchFamily="34" charset="0"/>
            </a:endParaRPr>
          </a:p>
          <a:p>
            <a:pPr defTabSz="1371600"/>
            <a:endParaRPr lang="en-GB" sz="3000" dirty="0">
              <a:solidFill>
                <a:prstClr val="black"/>
              </a:solidFill>
              <a:latin typeface="Calibri" panose="020F0502020204030204" pitchFamily="34" charset="0"/>
              <a:cs typeface="Calibri" panose="020F0502020204030204" pitchFamily="34" charset="0"/>
            </a:endParaRPr>
          </a:p>
          <a:p>
            <a:pPr defTabSz="1371600"/>
            <a:endParaRPr lang="en-GB" sz="3000" dirty="0">
              <a:solidFill>
                <a:prstClr val="black"/>
              </a:solidFill>
              <a:latin typeface="Calibri" panose="020F0502020204030204" pitchFamily="34" charset="0"/>
              <a:cs typeface="Calibri" panose="020F0502020204030204" pitchFamily="34" charset="0"/>
            </a:endParaRPr>
          </a:p>
          <a:p>
            <a:pPr defTabSz="1371600"/>
            <a:r>
              <a:rPr lang="en-GB" sz="3000" dirty="0">
                <a:solidFill>
                  <a:prstClr val="black"/>
                </a:solidFill>
                <a:latin typeface="Calibri" panose="020F0502020204030204" pitchFamily="34" charset="0"/>
                <a:cs typeface="Calibri" panose="020F0502020204030204" pitchFamily="34" charset="0"/>
              </a:rPr>
              <a:t>I</a:t>
            </a:r>
            <a:r>
              <a:rPr lang="en-GB" sz="3000" dirty="0">
                <a:solidFill>
                  <a:srgbClr val="000000"/>
                </a:solidFill>
                <a:latin typeface="Calibri" panose="020F0502020204030204" pitchFamily="34" charset="0"/>
                <a:cs typeface="Calibri" panose="020F0502020204030204" pitchFamily="34" charset="0"/>
              </a:rPr>
              <a:t>f you wanted to test whether a climate model works, how would you do it?</a:t>
            </a:r>
            <a:endParaRPr lang="en-US" sz="3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621933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933B9650-7CDA-B29A-8E99-E48483D4FFAA}"/>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0D118281-5308-0895-E8A3-95E4D441BDC3}"/>
              </a:ext>
            </a:extLst>
          </p:cNvPr>
          <p:cNvSpPr/>
          <p:nvPr/>
        </p:nvSpPr>
        <p:spPr>
          <a:xfrm>
            <a:off x="14554201"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914445">
              <a:defRPr/>
            </a:pPr>
            <a:endParaRPr lang="en-GB">
              <a:solidFill>
                <a:prstClr val="black"/>
              </a:solidFill>
              <a:latin typeface="DM Sans" pitchFamily="2" charset="0"/>
              <a:ea typeface="MS PGothic" panose="020B0600070205080204" pitchFamily="34" charset="-128"/>
            </a:endParaRPr>
          </a:p>
        </p:txBody>
      </p:sp>
      <p:sp>
        <p:nvSpPr>
          <p:cNvPr id="2" name="TextBox 14">
            <a:extLst>
              <a:ext uri="{FF2B5EF4-FFF2-40B4-BE49-F238E27FC236}">
                <a16:creationId xmlns:a16="http://schemas.microsoft.com/office/drawing/2014/main" id="{83A2A2FA-D4E4-8F40-617D-893A1133641E}"/>
              </a:ext>
            </a:extLst>
          </p:cNvPr>
          <p:cNvSpPr txBox="1"/>
          <p:nvPr/>
        </p:nvSpPr>
        <p:spPr>
          <a:xfrm>
            <a:off x="584198" y="1026137"/>
            <a:ext cx="11004828" cy="884858"/>
          </a:xfrm>
          <a:prstGeom prst="rect">
            <a:avLst/>
          </a:prstGeom>
        </p:spPr>
        <p:txBody>
          <a:bodyPr wrap="square" lIns="0" tIns="0" rIns="0" bIns="0" rtlCol="0" anchor="t">
            <a:spAutoFit/>
          </a:bodyPr>
          <a:lstStyle/>
          <a:p>
            <a:pPr defTabSz="914445">
              <a:lnSpc>
                <a:spcPts val="6860"/>
              </a:lnSpc>
              <a:defRPr/>
            </a:pPr>
            <a:r>
              <a:rPr lang="en-US" sz="6000" i="1" spc="-413" dirty="0">
                <a:solidFill>
                  <a:srgbClr val="FF0000"/>
                </a:solidFill>
                <a:latin typeface="DM Sans Bold"/>
                <a:ea typeface="ＭＳ Ｐゴシック" panose="020B0600070205080204" pitchFamily="34" charset="-128"/>
              </a:rPr>
              <a:t>Brief Answer </a:t>
            </a:r>
            <a:r>
              <a:rPr lang="en-US" sz="6000" i="1" spc="-413" dirty="0">
                <a:solidFill>
                  <a:prstClr val="white"/>
                </a:solidFill>
                <a:latin typeface="DM Sans Bold"/>
                <a:ea typeface="ＭＳ Ｐゴシック" panose="020B0600070205080204" pitchFamily="34" charset="-128"/>
              </a:rPr>
              <a:t> </a:t>
            </a:r>
          </a:p>
        </p:txBody>
      </p:sp>
      <p:pic>
        <p:nvPicPr>
          <p:cNvPr id="6" name="Picture 5" descr="A diagram of different types of water cycle&#10;&#10;AI-generated content may be incorrect.">
            <a:extLst>
              <a:ext uri="{FF2B5EF4-FFF2-40B4-BE49-F238E27FC236}">
                <a16:creationId xmlns:a16="http://schemas.microsoft.com/office/drawing/2014/main" id="{908A78C7-6084-C5A6-048E-EF929AA5A9B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4538" y="2066681"/>
            <a:ext cx="16662695" cy="7886788"/>
          </a:xfrm>
          <a:prstGeom prst="rect">
            <a:avLst/>
          </a:prstGeom>
        </p:spPr>
      </p:pic>
    </p:spTree>
    <p:extLst>
      <p:ext uri="{BB962C8B-B14F-4D97-AF65-F5344CB8AC3E}">
        <p14:creationId xmlns:p14="http://schemas.microsoft.com/office/powerpoint/2010/main" val="23880555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697C6F4E-F622-14B9-D27F-A9E384023798}"/>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5895E357-A4EC-DA0E-E292-B04689106C01}"/>
              </a:ext>
            </a:extLst>
          </p:cNvPr>
          <p:cNvSpPr/>
          <p:nvPr/>
        </p:nvSpPr>
        <p:spPr>
          <a:xfrm>
            <a:off x="14554201"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914445">
              <a:defRPr/>
            </a:pPr>
            <a:endParaRPr lang="en-GB">
              <a:solidFill>
                <a:prstClr val="black"/>
              </a:solidFill>
              <a:latin typeface="DM Sans" pitchFamily="2" charset="0"/>
              <a:ea typeface="MS PGothic" panose="020B0600070205080204" pitchFamily="34" charset="-128"/>
            </a:endParaRPr>
          </a:p>
        </p:txBody>
      </p:sp>
      <p:sp>
        <p:nvSpPr>
          <p:cNvPr id="2" name="TextBox 14">
            <a:extLst>
              <a:ext uri="{FF2B5EF4-FFF2-40B4-BE49-F238E27FC236}">
                <a16:creationId xmlns:a16="http://schemas.microsoft.com/office/drawing/2014/main" id="{04F4CB4C-A7D4-BBD2-3183-E7EB08356A38}"/>
              </a:ext>
            </a:extLst>
          </p:cNvPr>
          <p:cNvSpPr txBox="1"/>
          <p:nvPr/>
        </p:nvSpPr>
        <p:spPr>
          <a:xfrm>
            <a:off x="584198" y="1026137"/>
            <a:ext cx="11004828" cy="884858"/>
          </a:xfrm>
          <a:prstGeom prst="rect">
            <a:avLst/>
          </a:prstGeom>
        </p:spPr>
        <p:txBody>
          <a:bodyPr wrap="square" lIns="0" tIns="0" rIns="0" bIns="0" rtlCol="0" anchor="t">
            <a:spAutoFit/>
          </a:bodyPr>
          <a:lstStyle/>
          <a:p>
            <a:pPr defTabSz="914445">
              <a:lnSpc>
                <a:spcPts val="6860"/>
              </a:lnSpc>
              <a:defRPr/>
            </a:pPr>
            <a:r>
              <a:rPr lang="en-US" sz="6000" i="1" spc="-413" dirty="0">
                <a:solidFill>
                  <a:srgbClr val="FF0000"/>
                </a:solidFill>
                <a:latin typeface="DM Sans Bold"/>
                <a:ea typeface="ＭＳ Ｐゴシック" panose="020B0600070205080204" pitchFamily="34" charset="-128"/>
              </a:rPr>
              <a:t>Brief Answer </a:t>
            </a:r>
            <a:r>
              <a:rPr lang="en-US" sz="6000" i="1" spc="-413" dirty="0">
                <a:solidFill>
                  <a:prstClr val="white"/>
                </a:solidFill>
                <a:latin typeface="DM Sans Bold"/>
                <a:ea typeface="ＭＳ Ｐゴシック" panose="020B0600070205080204" pitchFamily="34" charset="-128"/>
              </a:rPr>
              <a:t> </a:t>
            </a:r>
          </a:p>
        </p:txBody>
      </p:sp>
      <p:pic>
        <p:nvPicPr>
          <p:cNvPr id="5" name="Picture 4">
            <a:extLst>
              <a:ext uri="{FF2B5EF4-FFF2-40B4-BE49-F238E27FC236}">
                <a16:creationId xmlns:a16="http://schemas.microsoft.com/office/drawing/2014/main" id="{5C1BF041-F326-CCBE-4C97-D66B289C6182}"/>
              </a:ext>
            </a:extLst>
          </p:cNvPr>
          <p:cNvPicPr>
            <a:picLocks noChangeAspect="1"/>
          </p:cNvPicPr>
          <p:nvPr/>
        </p:nvPicPr>
        <p:blipFill>
          <a:blip r:embed="rId5"/>
          <a:stretch>
            <a:fillRect/>
          </a:stretch>
        </p:blipFill>
        <p:spPr>
          <a:xfrm>
            <a:off x="584197" y="1910995"/>
            <a:ext cx="11855093" cy="8078399"/>
          </a:xfrm>
          <a:prstGeom prst="rect">
            <a:avLst/>
          </a:prstGeom>
        </p:spPr>
      </p:pic>
    </p:spTree>
    <p:extLst>
      <p:ext uri="{BB962C8B-B14F-4D97-AF65-F5344CB8AC3E}">
        <p14:creationId xmlns:p14="http://schemas.microsoft.com/office/powerpoint/2010/main" val="27642545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89A66410-C055-AB80-4329-51721DBADE8B}"/>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E40533A9-C6F9-0790-1B12-7A364A727A02}"/>
              </a:ext>
            </a:extLst>
          </p:cNvPr>
          <p:cNvSpPr/>
          <p:nvPr/>
        </p:nvSpPr>
        <p:spPr>
          <a:xfrm>
            <a:off x="14554201"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914445">
              <a:defRPr/>
            </a:pPr>
            <a:endParaRPr lang="en-GB">
              <a:solidFill>
                <a:prstClr val="black"/>
              </a:solidFill>
              <a:latin typeface="DM Sans" pitchFamily="2" charset="0"/>
              <a:ea typeface="MS PGothic" panose="020B0600070205080204" pitchFamily="34" charset="-128"/>
            </a:endParaRPr>
          </a:p>
        </p:txBody>
      </p:sp>
      <p:sp>
        <p:nvSpPr>
          <p:cNvPr id="2" name="TextBox 14">
            <a:extLst>
              <a:ext uri="{FF2B5EF4-FFF2-40B4-BE49-F238E27FC236}">
                <a16:creationId xmlns:a16="http://schemas.microsoft.com/office/drawing/2014/main" id="{69AFA2B8-797F-89C0-008E-8D7AFB705CA4}"/>
              </a:ext>
            </a:extLst>
          </p:cNvPr>
          <p:cNvSpPr txBox="1"/>
          <p:nvPr/>
        </p:nvSpPr>
        <p:spPr>
          <a:xfrm>
            <a:off x="584198" y="1026137"/>
            <a:ext cx="11004828" cy="884858"/>
          </a:xfrm>
          <a:prstGeom prst="rect">
            <a:avLst/>
          </a:prstGeom>
        </p:spPr>
        <p:txBody>
          <a:bodyPr wrap="square" lIns="0" tIns="0" rIns="0" bIns="0" rtlCol="0" anchor="t">
            <a:spAutoFit/>
          </a:bodyPr>
          <a:lstStyle/>
          <a:p>
            <a:pPr defTabSz="914445">
              <a:lnSpc>
                <a:spcPts val="6860"/>
              </a:lnSpc>
              <a:defRPr/>
            </a:pPr>
            <a:r>
              <a:rPr lang="en-US" sz="6000" i="1" spc="-413" dirty="0">
                <a:solidFill>
                  <a:srgbClr val="FF0000"/>
                </a:solidFill>
                <a:latin typeface="DM Sans Bold"/>
                <a:ea typeface="ＭＳ Ｐゴシック" panose="020B0600070205080204" pitchFamily="34" charset="-128"/>
              </a:rPr>
              <a:t>Brief Answer </a:t>
            </a:r>
            <a:r>
              <a:rPr lang="en-US" sz="6000" i="1" spc="-413" dirty="0">
                <a:solidFill>
                  <a:prstClr val="white"/>
                </a:solidFill>
                <a:latin typeface="DM Sans Bold"/>
                <a:ea typeface="ＭＳ Ｐゴシック" panose="020B0600070205080204" pitchFamily="34" charset="-128"/>
              </a:rPr>
              <a:t> </a:t>
            </a:r>
          </a:p>
        </p:txBody>
      </p:sp>
      <p:sp>
        <p:nvSpPr>
          <p:cNvPr id="6" name="TextBox 5">
            <a:extLst>
              <a:ext uri="{FF2B5EF4-FFF2-40B4-BE49-F238E27FC236}">
                <a16:creationId xmlns:a16="http://schemas.microsoft.com/office/drawing/2014/main" id="{FC7B4E52-67C4-ECF0-8F3C-50AD8F58E305}"/>
              </a:ext>
            </a:extLst>
          </p:cNvPr>
          <p:cNvSpPr txBox="1"/>
          <p:nvPr/>
        </p:nvSpPr>
        <p:spPr>
          <a:xfrm>
            <a:off x="584198" y="2086841"/>
            <a:ext cx="17246603" cy="6986528"/>
          </a:xfrm>
          <a:prstGeom prst="rect">
            <a:avLst/>
          </a:prstGeom>
          <a:noFill/>
        </p:spPr>
        <p:txBody>
          <a:bodyPr wrap="square">
            <a:spAutoFit/>
          </a:bodyPr>
          <a:lstStyle/>
          <a:p>
            <a:br>
              <a:rPr lang="en-GB" sz="2800" b="1" dirty="0">
                <a:solidFill>
                  <a:schemeClr val="bg1"/>
                </a:solidFill>
                <a:latin typeface="Calibri" panose="020F0502020204030204" pitchFamily="34" charset="0"/>
                <a:cs typeface="Calibri" panose="020F0502020204030204" pitchFamily="34" charset="0"/>
              </a:rPr>
            </a:br>
            <a:r>
              <a:rPr lang="en-GB" sz="2800" b="1" i="0" kern="1200" dirty="0">
                <a:solidFill>
                  <a:schemeClr val="bg1"/>
                </a:solidFill>
                <a:effectLst/>
                <a:latin typeface="Calibri" panose="020F0502020204030204" pitchFamily="34" charset="0"/>
                <a:cs typeface="Calibri" panose="020F0502020204030204" pitchFamily="34" charset="0"/>
              </a:rPr>
              <a:t>How would you test whether a climate model works?</a:t>
            </a:r>
          </a:p>
          <a:p>
            <a:endParaRPr lang="en-GB" sz="2800" b="1" i="0" kern="1200" dirty="0">
              <a:solidFill>
                <a:schemeClr val="bg1"/>
              </a:solidFill>
              <a:effectLst/>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GB" sz="2800" i="0" kern="1200" dirty="0">
                <a:solidFill>
                  <a:schemeClr val="bg1"/>
                </a:solidFill>
                <a:effectLst/>
                <a:latin typeface="Calibri" panose="020F0502020204030204" pitchFamily="34" charset="0"/>
                <a:cs typeface="Calibri" panose="020F0502020204030204" pitchFamily="34" charset="0"/>
              </a:rPr>
              <a:t>Run the model to simulate past climate conditions rather than the future.</a:t>
            </a:r>
          </a:p>
          <a:p>
            <a:pPr marL="285750" indent="-285750">
              <a:buFont typeface="Arial" panose="020B0604020202020204" pitchFamily="34" charset="0"/>
              <a:buChar char="•"/>
            </a:pPr>
            <a:r>
              <a:rPr lang="en-GB" sz="2800" i="0" kern="1200" dirty="0">
                <a:solidFill>
                  <a:schemeClr val="bg1"/>
                </a:solidFill>
                <a:effectLst/>
                <a:latin typeface="Calibri" panose="020F0502020204030204" pitchFamily="34" charset="0"/>
                <a:cs typeface="Calibri" panose="020F0502020204030204" pitchFamily="34" charset="0"/>
              </a:rPr>
              <a:t>Compare the model output with real observations such as temperature, rainfall, and atmospheric circulation records.</a:t>
            </a:r>
          </a:p>
          <a:p>
            <a:pPr marL="285750" indent="-285750">
              <a:buFont typeface="Arial" panose="020B0604020202020204" pitchFamily="34" charset="0"/>
              <a:buChar char="•"/>
            </a:pPr>
            <a:r>
              <a:rPr lang="en-GB" sz="2800" i="0" kern="1200" dirty="0">
                <a:solidFill>
                  <a:schemeClr val="bg1"/>
                </a:solidFill>
                <a:effectLst/>
                <a:latin typeface="Calibri" panose="020F0502020204030204" pitchFamily="34" charset="0"/>
                <a:cs typeface="Calibri" panose="020F0502020204030204" pitchFamily="34" charset="0"/>
              </a:rPr>
              <a:t>Check whether the model reproduces long-term trends, seasonal cycles, and natural variability.</a:t>
            </a:r>
          </a:p>
          <a:p>
            <a:pPr marL="285750" indent="-285750">
              <a:buFont typeface="Arial" panose="020B0604020202020204" pitchFamily="34" charset="0"/>
              <a:buChar char="•"/>
            </a:pPr>
            <a:r>
              <a:rPr lang="en-GB" sz="2800" i="0" kern="1200" dirty="0">
                <a:solidFill>
                  <a:schemeClr val="bg1"/>
                </a:solidFill>
                <a:effectLst/>
                <a:latin typeface="Calibri" panose="020F0502020204030204" pitchFamily="34" charset="0"/>
                <a:cs typeface="Calibri" panose="020F0502020204030204" pitchFamily="34" charset="0"/>
              </a:rPr>
              <a:t>Test the model with and without specific forcing factors (e.g. greenhouse gases or volcanic aerosols) to see whether it captures observed changes.</a:t>
            </a:r>
          </a:p>
          <a:p>
            <a:pPr marL="285750" indent="-285750">
              <a:buFont typeface="Arial" panose="020B0604020202020204" pitchFamily="34" charset="0"/>
              <a:buChar char="•"/>
            </a:pPr>
            <a:r>
              <a:rPr lang="en-GB" sz="2800" i="0" kern="1200" dirty="0">
                <a:solidFill>
                  <a:schemeClr val="bg1"/>
                </a:solidFill>
                <a:effectLst/>
                <a:latin typeface="Calibri" panose="020F0502020204030204" pitchFamily="34" charset="0"/>
                <a:cs typeface="Calibri" panose="020F0502020204030204" pitchFamily="34" charset="0"/>
              </a:rPr>
              <a:t>Compare results with multiple independent datasets (satellite observations, weather stations, ocean measurements).</a:t>
            </a:r>
          </a:p>
          <a:p>
            <a:pPr marL="285750" indent="-285750">
              <a:buFont typeface="Arial" panose="020B0604020202020204" pitchFamily="34" charset="0"/>
              <a:buChar char="•"/>
            </a:pPr>
            <a:r>
              <a:rPr lang="en-GB" sz="2800" i="0" kern="1200" dirty="0">
                <a:solidFill>
                  <a:schemeClr val="bg1"/>
                </a:solidFill>
                <a:effectLst/>
                <a:latin typeface="Calibri" panose="020F0502020204030204" pitchFamily="34" charset="0"/>
                <a:cs typeface="Calibri" panose="020F0502020204030204" pitchFamily="34" charset="0"/>
              </a:rPr>
              <a:t>Evaluate how well the model reproduces large-scale climate patterns such as El Niño–Southern Oscillation (ENSO)</a:t>
            </a:r>
          </a:p>
          <a:p>
            <a:pPr marL="285750" indent="-285750">
              <a:buFont typeface="Arial" panose="020B0604020202020204" pitchFamily="34" charset="0"/>
              <a:buChar char="•"/>
            </a:pPr>
            <a:r>
              <a:rPr lang="en-GB" sz="2800" i="0" kern="1200" dirty="0">
                <a:solidFill>
                  <a:schemeClr val="bg1"/>
                </a:solidFill>
                <a:effectLst/>
                <a:latin typeface="Calibri" panose="020F0502020204030204" pitchFamily="34" charset="0"/>
                <a:cs typeface="Calibri" panose="020F0502020204030204" pitchFamily="34" charset="0"/>
              </a:rPr>
              <a:t>Test the model across different regions and timescales to assess where it performs well or poorly.</a:t>
            </a:r>
          </a:p>
          <a:p>
            <a:pPr marL="285750" indent="-285750">
              <a:buFont typeface="Arial" panose="020B0604020202020204" pitchFamily="34" charset="0"/>
              <a:buChar char="•"/>
            </a:pPr>
            <a:r>
              <a:rPr lang="en-GB" sz="2800" i="0" kern="1200" dirty="0">
                <a:solidFill>
                  <a:schemeClr val="bg1"/>
                </a:solidFill>
                <a:effectLst/>
                <a:latin typeface="Calibri" panose="020F0502020204030204" pitchFamily="34" charset="0"/>
                <a:cs typeface="Calibri" panose="020F0502020204030204" pitchFamily="34" charset="0"/>
              </a:rPr>
              <a:t>Compare results from multiple climate models to see whether they produce consistent outcomes.</a:t>
            </a:r>
          </a:p>
          <a:p>
            <a:pPr marL="285750" indent="-285750">
              <a:buFont typeface="Arial" panose="020B0604020202020204" pitchFamily="34" charset="0"/>
              <a:buChar char="•"/>
            </a:pPr>
            <a:r>
              <a:rPr lang="en-GB" sz="2800" i="0" kern="1200" dirty="0">
                <a:solidFill>
                  <a:schemeClr val="bg1"/>
                </a:solidFill>
                <a:effectLst/>
                <a:latin typeface="Calibri" panose="020F0502020204030204" pitchFamily="34" charset="0"/>
                <a:cs typeface="Calibri" panose="020F0502020204030204" pitchFamily="34" charset="0"/>
              </a:rPr>
              <a:t>This process is called hindcasting, and good agreement with observations increases confidence that the model can project future climate change.</a:t>
            </a:r>
          </a:p>
        </p:txBody>
      </p:sp>
    </p:spTree>
    <p:extLst>
      <p:ext uri="{BB962C8B-B14F-4D97-AF65-F5344CB8AC3E}">
        <p14:creationId xmlns:p14="http://schemas.microsoft.com/office/powerpoint/2010/main" val="10637345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3" name="Freeform 13"/>
          <p:cNvSpPr/>
          <p:nvPr/>
        </p:nvSpPr>
        <p:spPr>
          <a:xfrm>
            <a:off x="14554201"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45"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S PGothic" panose="020B0600070205080204" pitchFamily="34" charset="-128"/>
              <a:cs typeface="+mn-cs"/>
            </a:endParaRPr>
          </a:p>
        </p:txBody>
      </p:sp>
      <p:sp>
        <p:nvSpPr>
          <p:cNvPr id="2" name="TextBox 14">
            <a:extLst>
              <a:ext uri="{FF2B5EF4-FFF2-40B4-BE49-F238E27FC236}">
                <a16:creationId xmlns:a16="http://schemas.microsoft.com/office/drawing/2014/main" id="{F0DA2D17-C40D-DA25-624F-1D8A297B593A}"/>
              </a:ext>
            </a:extLst>
          </p:cNvPr>
          <p:cNvSpPr txBox="1"/>
          <p:nvPr/>
        </p:nvSpPr>
        <p:spPr>
          <a:xfrm>
            <a:off x="1371601" y="5143502"/>
            <a:ext cx="14764385" cy="1380443"/>
          </a:xfrm>
          <a:prstGeom prst="rect">
            <a:avLst/>
          </a:prstGeom>
        </p:spPr>
        <p:txBody>
          <a:bodyPr wrap="square" lIns="0" tIns="0" rIns="0" bIns="0" rtlCol="0" anchor="t">
            <a:spAutoFit/>
          </a:bodyPr>
          <a:lstStyle/>
          <a:p>
            <a:pPr marL="0" marR="0" lvl="0" indent="0" algn="l" defTabSz="914445" rtl="0" eaLnBrk="1" fontAlgn="auto" latinLnBrk="0" hangingPunct="1">
              <a:lnSpc>
                <a:spcPts val="11000"/>
              </a:lnSpc>
              <a:spcBef>
                <a:spcPts val="0"/>
              </a:spcBef>
              <a:spcAft>
                <a:spcPts val="0"/>
              </a:spcAft>
              <a:buClrTx/>
              <a:buSzTx/>
              <a:buFontTx/>
              <a:buNone/>
              <a:tabLst/>
              <a:defRPr/>
            </a:pPr>
            <a:r>
              <a:rPr kumimoji="0" lang="en-GB" altLang="en-US" sz="8801" b="1" i="0" u="none" strike="noStrike" kern="1200" cap="none" spc="0" normalizeH="0" baseline="0" noProof="0" dirty="0">
                <a:ln>
                  <a:noFill/>
                </a:ln>
                <a:solidFill>
                  <a:prstClr val="white"/>
                </a:solidFill>
                <a:effectLst/>
                <a:uLnTx/>
                <a:uFillTx/>
                <a:latin typeface="DM Sans"/>
                <a:ea typeface="MS PGothic" panose="020B0600070205080204" pitchFamily="34" charset="-128"/>
                <a:cs typeface="+mn-cs"/>
              </a:rPr>
              <a:t>Global Climate Change</a:t>
            </a:r>
            <a:endParaRPr kumimoji="0" lang="en-US" sz="8799" b="1" i="0" u="none" strike="noStrike" kern="1200" cap="none" spc="0" normalizeH="0" baseline="0" noProof="0" dirty="0">
              <a:ln>
                <a:noFill/>
              </a:ln>
              <a:solidFill>
                <a:prstClr val="white"/>
              </a:solidFill>
              <a:effectLst/>
              <a:uLnTx/>
              <a:uFillTx/>
              <a:latin typeface="DM Sans" pitchFamily="2" charset="0"/>
              <a:ea typeface="MS PGothic" panose="020B0600070205080204" pitchFamily="34" charset="-128"/>
              <a:cs typeface="+mn-cs"/>
            </a:endParaRPr>
          </a:p>
        </p:txBody>
      </p:sp>
      <p:sp>
        <p:nvSpPr>
          <p:cNvPr id="3" name="TextBox 14">
            <a:extLst>
              <a:ext uri="{FF2B5EF4-FFF2-40B4-BE49-F238E27FC236}">
                <a16:creationId xmlns:a16="http://schemas.microsoft.com/office/drawing/2014/main" id="{4E4EAF08-B290-2C6A-BBCC-3221855F907B}"/>
              </a:ext>
            </a:extLst>
          </p:cNvPr>
          <p:cNvSpPr txBox="1"/>
          <p:nvPr/>
        </p:nvSpPr>
        <p:spPr>
          <a:xfrm>
            <a:off x="1371600" y="6256375"/>
            <a:ext cx="7772400" cy="2585901"/>
          </a:xfrm>
          <a:prstGeom prst="rect">
            <a:avLst/>
          </a:prstGeom>
        </p:spPr>
        <p:txBody>
          <a:bodyPr wrap="square" lIns="0" tIns="0" rIns="0" bIns="0" rtlCol="0" anchor="t">
            <a:spAutoFit/>
          </a:bodyPr>
          <a:lstStyle/>
          <a:p>
            <a:pPr marL="0" marR="0" lvl="0" indent="0" algn="l" defTabSz="914445" rtl="0" eaLnBrk="1" fontAlgn="auto" latinLnBrk="0" hangingPunct="1">
              <a:lnSpc>
                <a:spcPts val="11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AB700"/>
                </a:solidFill>
                <a:effectLst/>
                <a:uLnTx/>
                <a:uFillTx/>
                <a:latin typeface="DM Sans" pitchFamily="2" charset="0"/>
                <a:ea typeface="MS PGothic" panose="020B0600070205080204" pitchFamily="34" charset="-128"/>
                <a:cs typeface="+mn-cs"/>
              </a:rPr>
              <a:t>Week 7, Questions and Answers</a:t>
            </a:r>
          </a:p>
          <a:p>
            <a:pPr marL="0" marR="0" lvl="0" indent="0" algn="l" defTabSz="914445" rtl="0" eaLnBrk="1" fontAlgn="auto" latinLnBrk="0" hangingPunct="1">
              <a:lnSpc>
                <a:spcPts val="11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AB700"/>
                </a:solidFill>
                <a:effectLst/>
                <a:uLnTx/>
                <a:uFillTx/>
                <a:latin typeface="DM Sans" pitchFamily="2" charset="0"/>
                <a:ea typeface="MS PGothic" panose="020B0600070205080204" pitchFamily="34" charset="-128"/>
                <a:cs typeface="+mn-cs"/>
              </a:rPr>
              <a:t>Dr Thomas </a:t>
            </a:r>
            <a:r>
              <a:rPr kumimoji="0" lang="en-US" sz="3200" b="1" i="0" u="none" strike="noStrike" kern="1200" cap="none" spc="0" normalizeH="0" baseline="0" noProof="0" dirty="0" err="1">
                <a:ln>
                  <a:noFill/>
                </a:ln>
                <a:solidFill>
                  <a:srgbClr val="FAB700"/>
                </a:solidFill>
                <a:effectLst/>
                <a:uLnTx/>
                <a:uFillTx/>
                <a:latin typeface="DM Sans" pitchFamily="2" charset="0"/>
                <a:ea typeface="MS PGothic" panose="020B0600070205080204" pitchFamily="34" charset="-128"/>
                <a:cs typeface="+mn-cs"/>
              </a:rPr>
              <a:t>Bannan</a:t>
            </a:r>
            <a:r>
              <a:rPr kumimoji="0" lang="en-US" sz="3200" b="1" i="0" u="none" strike="noStrike" kern="1200" cap="none" spc="0" normalizeH="0" baseline="0" noProof="0" dirty="0">
                <a:ln>
                  <a:noFill/>
                </a:ln>
                <a:solidFill>
                  <a:srgbClr val="FAB700"/>
                </a:solidFill>
                <a:effectLst/>
                <a:uLnTx/>
                <a:uFillTx/>
                <a:latin typeface="DM Sans" pitchFamily="2" charset="0"/>
                <a:ea typeface="MS PGothic" panose="020B0600070205080204" pitchFamily="34" charset="-128"/>
                <a:cs typeface="+mn-cs"/>
              </a:rPr>
              <a:t>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782D3E-A7C2-D4CE-6000-D69ABF52E0AC}"/>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5BEE16A5-7C45-015F-8A98-91B324DAAE94}"/>
              </a:ext>
            </a:extLst>
          </p:cNvPr>
          <p:cNvSpPr/>
          <p:nvPr/>
        </p:nvSpPr>
        <p:spPr>
          <a:xfrm>
            <a:off x="14147800"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914445"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
        <p:nvSpPr>
          <p:cNvPr id="5" name="TextBox 14">
            <a:extLst>
              <a:ext uri="{FF2B5EF4-FFF2-40B4-BE49-F238E27FC236}">
                <a16:creationId xmlns:a16="http://schemas.microsoft.com/office/drawing/2014/main" id="{CDF94BBB-12EF-E975-6BC5-CB4840BAD385}"/>
              </a:ext>
            </a:extLst>
          </p:cNvPr>
          <p:cNvSpPr txBox="1"/>
          <p:nvPr/>
        </p:nvSpPr>
        <p:spPr>
          <a:xfrm>
            <a:off x="584198" y="1026137"/>
            <a:ext cx="11004828" cy="884858"/>
          </a:xfrm>
          <a:prstGeom prst="rect">
            <a:avLst/>
          </a:prstGeom>
        </p:spPr>
        <p:txBody>
          <a:bodyPr wrap="square" lIns="0" tIns="0" rIns="0" bIns="0" rtlCol="0" anchor="t">
            <a:spAutoFit/>
          </a:bodyPr>
          <a:lstStyle/>
          <a:p>
            <a:pPr marL="0" marR="0" lvl="0" indent="0" algn="l" defTabSz="914445" rtl="0" eaLnBrk="1" fontAlgn="auto" latinLnBrk="0" hangingPunct="1">
              <a:lnSpc>
                <a:spcPts val="6860"/>
              </a:lnSpc>
              <a:spcBef>
                <a:spcPts val="0"/>
              </a:spcBef>
              <a:spcAft>
                <a:spcPts val="0"/>
              </a:spcAft>
              <a:buClrTx/>
              <a:buSzTx/>
              <a:buFontTx/>
              <a:buNone/>
              <a:tabLst/>
              <a:defRPr/>
            </a:pPr>
            <a:r>
              <a:rPr kumimoji="0" lang="en-US" sz="6000" b="0" i="1" u="none" strike="noStrike" kern="1200" cap="none" spc="-413" normalizeH="0" baseline="0" noProof="0" dirty="0">
                <a:ln>
                  <a:noFill/>
                </a:ln>
                <a:solidFill>
                  <a:srgbClr val="46245A"/>
                </a:solidFill>
                <a:effectLst/>
                <a:uLnTx/>
                <a:uFillTx/>
                <a:latin typeface="DM Sans Bold"/>
                <a:ea typeface="ＭＳ Ｐゴシック" panose="020B0600070205080204" pitchFamily="34" charset="-128"/>
                <a:cs typeface="+mn-cs"/>
              </a:rPr>
              <a:t>Q1. </a:t>
            </a:r>
          </a:p>
        </p:txBody>
      </p:sp>
      <p:sp>
        <p:nvSpPr>
          <p:cNvPr id="2" name="TextBox 1">
            <a:extLst>
              <a:ext uri="{FF2B5EF4-FFF2-40B4-BE49-F238E27FC236}">
                <a16:creationId xmlns:a16="http://schemas.microsoft.com/office/drawing/2014/main" id="{BC3862E8-6D6C-68B2-1AE0-BEEE3E69FA88}"/>
              </a:ext>
            </a:extLst>
          </p:cNvPr>
          <p:cNvSpPr txBox="1"/>
          <p:nvPr/>
        </p:nvSpPr>
        <p:spPr>
          <a:xfrm>
            <a:off x="584197" y="2135706"/>
            <a:ext cx="13572069" cy="523220"/>
          </a:xfrm>
          <a:prstGeom prst="rect">
            <a:avLst/>
          </a:prstGeom>
          <a:noFill/>
        </p:spPr>
        <p:txBody>
          <a:bodyPr wrap="square">
            <a:spAutoFit/>
          </a:bodyPr>
          <a:lstStyle/>
          <a:p>
            <a:pPr algn="l"/>
            <a:r>
              <a:rPr lang="en-GB" sz="2800" b="1" i="0" u="none" strike="noStrike" dirty="0">
                <a:effectLst/>
              </a:rPr>
              <a:t>Why do scientists use models to study climate change?</a:t>
            </a:r>
          </a:p>
        </p:txBody>
      </p:sp>
    </p:spTree>
    <p:extLst>
      <p:ext uri="{BB962C8B-B14F-4D97-AF65-F5344CB8AC3E}">
        <p14:creationId xmlns:p14="http://schemas.microsoft.com/office/powerpoint/2010/main" val="23963186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489E4E4A-77F1-A103-DFA8-98837D7294B6}"/>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56348745-BC54-889A-5C5A-8B5AA81CC0E7}"/>
              </a:ext>
            </a:extLst>
          </p:cNvPr>
          <p:cNvSpPr/>
          <p:nvPr/>
        </p:nvSpPr>
        <p:spPr>
          <a:xfrm>
            <a:off x="14554201"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45"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S PGothic" panose="020B0600070205080204" pitchFamily="34" charset="-128"/>
              <a:cs typeface="+mn-cs"/>
            </a:endParaRPr>
          </a:p>
        </p:txBody>
      </p:sp>
      <p:sp>
        <p:nvSpPr>
          <p:cNvPr id="2" name="TextBox 14">
            <a:extLst>
              <a:ext uri="{FF2B5EF4-FFF2-40B4-BE49-F238E27FC236}">
                <a16:creationId xmlns:a16="http://schemas.microsoft.com/office/drawing/2014/main" id="{475983DD-C588-3ED2-288B-CEDF44687659}"/>
              </a:ext>
            </a:extLst>
          </p:cNvPr>
          <p:cNvSpPr txBox="1"/>
          <p:nvPr/>
        </p:nvSpPr>
        <p:spPr>
          <a:xfrm>
            <a:off x="584198" y="1026137"/>
            <a:ext cx="11004828" cy="884858"/>
          </a:xfrm>
          <a:prstGeom prst="rect">
            <a:avLst/>
          </a:prstGeom>
        </p:spPr>
        <p:txBody>
          <a:bodyPr wrap="square" lIns="0" tIns="0" rIns="0" bIns="0" rtlCol="0" anchor="t">
            <a:spAutoFit/>
          </a:bodyPr>
          <a:lstStyle/>
          <a:p>
            <a:pPr marL="0" marR="0" lvl="0" indent="0" algn="l" defTabSz="914445" rtl="0" eaLnBrk="1" fontAlgn="auto" latinLnBrk="0" hangingPunct="1">
              <a:lnSpc>
                <a:spcPts val="6860"/>
              </a:lnSpc>
              <a:spcBef>
                <a:spcPts val="0"/>
              </a:spcBef>
              <a:spcAft>
                <a:spcPts val="0"/>
              </a:spcAft>
              <a:buClrTx/>
              <a:buSzTx/>
              <a:buFontTx/>
              <a:buNone/>
              <a:tabLst/>
              <a:defRPr/>
            </a:pPr>
            <a:r>
              <a:rPr kumimoji="0" lang="en-US" sz="6000" b="0" i="1" u="none" strike="noStrike" kern="1200" cap="none" spc="-413" normalizeH="0" baseline="0" noProof="0" dirty="0">
                <a:ln>
                  <a:noFill/>
                </a:ln>
                <a:solidFill>
                  <a:prstClr val="white"/>
                </a:solidFill>
                <a:effectLst/>
                <a:uLnTx/>
                <a:uFillTx/>
                <a:latin typeface="DM Sans Bold"/>
                <a:ea typeface="ＭＳ Ｐゴシック" panose="020B0600070205080204" pitchFamily="34" charset="-128"/>
                <a:cs typeface="+mn-cs"/>
              </a:rPr>
              <a:t>Q1. </a:t>
            </a:r>
            <a:r>
              <a:rPr kumimoji="0" lang="en-US" sz="6000" b="0" i="1" u="none" strike="noStrike" kern="1200" cap="none" spc="-413" normalizeH="0" baseline="0" noProof="0" dirty="0">
                <a:ln>
                  <a:noFill/>
                </a:ln>
                <a:solidFill>
                  <a:srgbClr val="FF0000"/>
                </a:solidFill>
                <a:effectLst/>
                <a:uLnTx/>
                <a:uFillTx/>
                <a:latin typeface="DM Sans Bold"/>
                <a:ea typeface="ＭＳ Ｐゴシック" panose="020B0600070205080204" pitchFamily="34" charset="-128"/>
                <a:cs typeface="+mn-cs"/>
              </a:rPr>
              <a:t>Answer </a:t>
            </a:r>
            <a:r>
              <a:rPr kumimoji="0" lang="en-US" sz="6000" b="0" i="1" u="none" strike="noStrike" kern="1200" cap="none" spc="-413" normalizeH="0" baseline="0" noProof="0" dirty="0">
                <a:ln>
                  <a:noFill/>
                </a:ln>
                <a:solidFill>
                  <a:prstClr val="white"/>
                </a:solidFill>
                <a:effectLst/>
                <a:uLnTx/>
                <a:uFillTx/>
                <a:latin typeface="DM Sans Bold"/>
                <a:ea typeface="ＭＳ Ｐゴシック" panose="020B0600070205080204" pitchFamily="34" charset="-128"/>
                <a:cs typeface="+mn-cs"/>
              </a:rPr>
              <a:t> </a:t>
            </a:r>
          </a:p>
        </p:txBody>
      </p:sp>
      <p:sp>
        <p:nvSpPr>
          <p:cNvPr id="8" name="TextBox 7">
            <a:extLst>
              <a:ext uri="{FF2B5EF4-FFF2-40B4-BE49-F238E27FC236}">
                <a16:creationId xmlns:a16="http://schemas.microsoft.com/office/drawing/2014/main" id="{76BBED8B-FFB8-1E54-F3E3-8565EC5D9DFB}"/>
              </a:ext>
            </a:extLst>
          </p:cNvPr>
          <p:cNvSpPr txBox="1"/>
          <p:nvPr/>
        </p:nvSpPr>
        <p:spPr>
          <a:xfrm>
            <a:off x="584198" y="4333896"/>
            <a:ext cx="10659535" cy="646331"/>
          </a:xfrm>
          <a:prstGeom prst="rect">
            <a:avLst/>
          </a:prstGeom>
          <a:noFill/>
        </p:spPr>
        <p:txBody>
          <a:bodyPr wrap="square">
            <a:spAutoFit/>
          </a:bodyPr>
          <a:lstStyle/>
          <a:p>
            <a:pPr algn="l"/>
            <a:br>
              <a:rPr lang="en-GB" b="0" i="0" u="none" strike="noStrike" dirty="0">
                <a:solidFill>
                  <a:srgbClr val="000000"/>
                </a:solidFill>
                <a:effectLst/>
              </a:rPr>
            </a:br>
            <a:endParaRPr lang="en-GB" b="0" i="0" u="none" strike="noStrike" dirty="0">
              <a:solidFill>
                <a:srgbClr val="000000"/>
              </a:solidFill>
              <a:effectLst/>
            </a:endParaRPr>
          </a:p>
        </p:txBody>
      </p:sp>
      <p:sp>
        <p:nvSpPr>
          <p:cNvPr id="6" name="TextBox 5">
            <a:extLst>
              <a:ext uri="{FF2B5EF4-FFF2-40B4-BE49-F238E27FC236}">
                <a16:creationId xmlns:a16="http://schemas.microsoft.com/office/drawing/2014/main" id="{A2FA34BC-F529-A2B7-50B8-130C63098FDF}"/>
              </a:ext>
            </a:extLst>
          </p:cNvPr>
          <p:cNvSpPr txBox="1"/>
          <p:nvPr/>
        </p:nvSpPr>
        <p:spPr>
          <a:xfrm>
            <a:off x="584197" y="2135706"/>
            <a:ext cx="13572069" cy="523220"/>
          </a:xfrm>
          <a:prstGeom prst="rect">
            <a:avLst/>
          </a:prstGeom>
          <a:noFill/>
        </p:spPr>
        <p:txBody>
          <a:bodyPr wrap="square">
            <a:spAutoFit/>
          </a:bodyPr>
          <a:lstStyle/>
          <a:p>
            <a:pPr algn="l"/>
            <a:r>
              <a:rPr lang="en-GB" sz="2800" b="1" i="0" u="none" strike="noStrike" dirty="0">
                <a:solidFill>
                  <a:schemeClr val="bg1"/>
                </a:solidFill>
                <a:effectLst/>
              </a:rPr>
              <a:t>Why do scientists use models to study climate change?</a:t>
            </a:r>
          </a:p>
        </p:txBody>
      </p:sp>
      <p:sp>
        <p:nvSpPr>
          <p:cNvPr id="7" name="TextBox 6">
            <a:extLst>
              <a:ext uri="{FF2B5EF4-FFF2-40B4-BE49-F238E27FC236}">
                <a16:creationId xmlns:a16="http://schemas.microsoft.com/office/drawing/2014/main" id="{A93B71CE-EF4C-99C0-91BE-E8CE817F38BD}"/>
              </a:ext>
            </a:extLst>
          </p:cNvPr>
          <p:cNvSpPr txBox="1"/>
          <p:nvPr/>
        </p:nvSpPr>
        <p:spPr>
          <a:xfrm>
            <a:off x="629342" y="3179734"/>
            <a:ext cx="15859838" cy="5262979"/>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l"/>
            <a:endParaRPr lang="en-GB" sz="2400" b="0" i="0" u="none" strike="noStrike" dirty="0">
              <a:solidFill>
                <a:schemeClr val="tx1"/>
              </a:solidFill>
              <a:effectLst/>
              <a:latin typeface="Calibri" panose="020F0502020204030204" pitchFamily="34" charset="0"/>
              <a:cs typeface="Calibri" panose="020F0502020204030204" pitchFamily="34" charset="0"/>
            </a:endParaRPr>
          </a:p>
          <a:p>
            <a:pPr algn="l"/>
            <a:r>
              <a:rPr lang="en-GB" sz="2400" b="0" i="0" u="none" strike="noStrike" dirty="0">
                <a:solidFill>
                  <a:schemeClr val="tx1"/>
                </a:solidFill>
                <a:effectLst/>
                <a:latin typeface="Calibri" panose="020F0502020204030204" pitchFamily="34" charset="0"/>
                <a:cs typeface="Calibri" panose="020F0502020204030204" pitchFamily="34" charset="0"/>
              </a:rPr>
              <a:t>Climate models are used because they allow us to develop and understanding of: </a:t>
            </a:r>
          </a:p>
          <a:p>
            <a:pPr algn="l"/>
            <a:endParaRPr lang="en-GB" sz="2400" b="0" i="0" u="none" strike="noStrike" dirty="0">
              <a:solidFill>
                <a:schemeClr val="tx1"/>
              </a:solidFill>
              <a:effectLst/>
              <a:latin typeface="Calibri" panose="020F0502020204030204" pitchFamily="34" charset="0"/>
              <a:cs typeface="Calibri" panose="020F0502020204030204" pitchFamily="34" charset="0"/>
            </a:endParaRPr>
          </a:p>
          <a:p>
            <a:pPr marL="342900" indent="-342900" algn="l">
              <a:buFont typeface="Arial" panose="020B0604020202020204" pitchFamily="34" charset="0"/>
              <a:buChar char="•"/>
            </a:pPr>
            <a:r>
              <a:rPr lang="en-GB" sz="2400" dirty="0">
                <a:solidFill>
                  <a:schemeClr val="tx1"/>
                </a:solidFill>
                <a:latin typeface="Calibri" panose="020F0502020204030204" pitchFamily="34" charset="0"/>
                <a:cs typeface="Calibri" panose="020F0502020204030204" pitchFamily="34" charset="0"/>
              </a:rPr>
              <a:t>P</a:t>
            </a:r>
            <a:r>
              <a:rPr lang="en-GB" sz="2400" b="0" i="0" u="none" strike="noStrike" dirty="0">
                <a:solidFill>
                  <a:schemeClr val="tx1"/>
                </a:solidFill>
                <a:effectLst/>
                <a:latin typeface="Calibri" panose="020F0502020204030204" pitchFamily="34" charset="0"/>
                <a:cs typeface="Calibri" panose="020F0502020204030204" pitchFamily="34" charset="0"/>
              </a:rPr>
              <a:t>ast climate changes by recreating historical conditions (hindcasting)</a:t>
            </a:r>
          </a:p>
          <a:p>
            <a:pPr marL="342900" indent="-342900" algn="l">
              <a:buFont typeface="Arial" panose="020B0604020202020204" pitchFamily="34" charset="0"/>
              <a:buChar char="•"/>
            </a:pPr>
            <a:r>
              <a:rPr lang="en-GB" sz="2400" b="0" i="0" u="none" strike="noStrike" dirty="0">
                <a:solidFill>
                  <a:schemeClr val="tx1"/>
                </a:solidFill>
                <a:effectLst/>
                <a:latin typeface="Calibri" panose="020F0502020204030204" pitchFamily="34" charset="0"/>
                <a:cs typeface="Calibri" panose="020F0502020204030204" pitchFamily="34" charset="0"/>
              </a:rPr>
              <a:t>Forecasting future climate trends under various greenhouse gas emission scenarios.</a:t>
            </a:r>
          </a:p>
          <a:p>
            <a:pPr marL="342900" indent="-342900" algn="l">
              <a:buFont typeface="Arial" panose="020B0604020202020204" pitchFamily="34" charset="0"/>
              <a:buChar char="•"/>
            </a:pPr>
            <a:r>
              <a:rPr lang="en-GB" sz="2400" b="0" i="0" u="none" strike="noStrike" dirty="0">
                <a:solidFill>
                  <a:schemeClr val="tx1"/>
                </a:solidFill>
                <a:effectLst/>
                <a:latin typeface="Calibri" panose="020F0502020204030204" pitchFamily="34" charset="0"/>
                <a:cs typeface="Calibri" panose="020F0502020204030204" pitchFamily="34" charset="0"/>
              </a:rPr>
              <a:t>Examining the impacts of different factors (e.g., GHG, aerosols, deforestation, land use change…….) on global temperature and the effect these may have</a:t>
            </a:r>
          </a:p>
          <a:p>
            <a:pPr algn="l"/>
            <a:endParaRPr lang="en-GB" sz="2400" b="0" i="0" u="none" strike="noStrike" dirty="0">
              <a:solidFill>
                <a:schemeClr val="tx1"/>
              </a:solidFill>
              <a:effectLst/>
              <a:latin typeface="Calibri" panose="020F0502020204030204" pitchFamily="34" charset="0"/>
              <a:cs typeface="Calibri" panose="020F0502020204030204" pitchFamily="34" charset="0"/>
            </a:endParaRPr>
          </a:p>
          <a:p>
            <a:pPr algn="l"/>
            <a:r>
              <a:rPr lang="en-GB" sz="2400" b="0" i="0" u="none" strike="noStrike" dirty="0">
                <a:solidFill>
                  <a:schemeClr val="tx1"/>
                </a:solidFill>
                <a:effectLst/>
                <a:latin typeface="Calibri" panose="020F0502020204030204" pitchFamily="34" charset="0"/>
                <a:cs typeface="Calibri" panose="020F0502020204030204" pitchFamily="34" charset="0"/>
              </a:rPr>
              <a:t>These models are based on physics and incorporate real-world data, improving our understanding of how climate will change into the future </a:t>
            </a:r>
          </a:p>
          <a:p>
            <a:pPr algn="l"/>
            <a:endParaRPr lang="en-GB" sz="2400" dirty="0">
              <a:solidFill>
                <a:schemeClr val="tx1"/>
              </a:solidFill>
              <a:latin typeface="Calibri" panose="020F0502020204030204" pitchFamily="34" charset="0"/>
              <a:cs typeface="Calibri" panose="020F0502020204030204" pitchFamily="34" charset="0"/>
            </a:endParaRPr>
          </a:p>
          <a:p>
            <a:pPr algn="l"/>
            <a:r>
              <a:rPr lang="en-GB" sz="2400" b="0" i="0" u="none" strike="noStrike" dirty="0">
                <a:solidFill>
                  <a:schemeClr val="tx1"/>
                </a:solidFill>
                <a:effectLst/>
                <a:latin typeface="Calibri" panose="020F0502020204030204" pitchFamily="34" charset="0"/>
                <a:cs typeface="Calibri" panose="020F0502020204030204" pitchFamily="34" charset="0"/>
              </a:rPr>
              <a:t>Accurate measurements are essential for verifying and improving the reliability of global climate models. They provide the observational data needed to test model predictions, identify uncertainties, and guide future model development.</a:t>
            </a:r>
          </a:p>
          <a:p>
            <a:pPr algn="l"/>
            <a:endParaRPr kumimoji="0" lang="en-GB" sz="2400" b="0"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85579472"/>
      </p:ext>
    </p:extLst>
  </p:cSld>
  <p:clrMapOvr>
    <a:masterClrMapping/>
  </p:clrMapOvr>
  <mc:AlternateContent xmlns:mc="http://schemas.openxmlformats.org/markup-compatibility/2006" xmlns:p14="http://schemas.microsoft.com/office/powerpoint/2010/main">
    <mc:Choice Requires="p14">
      <p:transition spd="slow" p14:dur="2000" advTm="12715"/>
    </mc:Choice>
    <mc:Fallback xmlns="">
      <p:transition spd="slow" advTm="12715"/>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FF6798-5F2D-8D6E-38E7-516582793C25}"/>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5BA73CCA-F1E8-5E6E-E878-5B4B6371D392}"/>
              </a:ext>
            </a:extLst>
          </p:cNvPr>
          <p:cNvSpPr/>
          <p:nvPr/>
        </p:nvSpPr>
        <p:spPr>
          <a:xfrm>
            <a:off x="14147800"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914445"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
        <p:nvSpPr>
          <p:cNvPr id="5" name="TextBox 14">
            <a:extLst>
              <a:ext uri="{FF2B5EF4-FFF2-40B4-BE49-F238E27FC236}">
                <a16:creationId xmlns:a16="http://schemas.microsoft.com/office/drawing/2014/main" id="{8704B95F-2664-4705-EFCB-2B03D214D28C}"/>
              </a:ext>
            </a:extLst>
          </p:cNvPr>
          <p:cNvSpPr txBox="1"/>
          <p:nvPr/>
        </p:nvSpPr>
        <p:spPr>
          <a:xfrm>
            <a:off x="584198" y="1026137"/>
            <a:ext cx="11004828" cy="884858"/>
          </a:xfrm>
          <a:prstGeom prst="rect">
            <a:avLst/>
          </a:prstGeom>
        </p:spPr>
        <p:txBody>
          <a:bodyPr wrap="square" lIns="0" tIns="0" rIns="0" bIns="0" rtlCol="0" anchor="t">
            <a:spAutoFit/>
          </a:bodyPr>
          <a:lstStyle/>
          <a:p>
            <a:pPr marL="0" marR="0" lvl="0" indent="0" algn="l" defTabSz="914445" rtl="0" eaLnBrk="1" fontAlgn="auto" latinLnBrk="0" hangingPunct="1">
              <a:lnSpc>
                <a:spcPts val="6860"/>
              </a:lnSpc>
              <a:spcBef>
                <a:spcPts val="0"/>
              </a:spcBef>
              <a:spcAft>
                <a:spcPts val="0"/>
              </a:spcAft>
              <a:buClrTx/>
              <a:buSzTx/>
              <a:buFontTx/>
              <a:buNone/>
              <a:tabLst/>
              <a:defRPr/>
            </a:pPr>
            <a:r>
              <a:rPr kumimoji="0" lang="en-US" sz="6000" b="0" i="1" u="none" strike="noStrike" kern="1200" cap="none" spc="-413" normalizeH="0" baseline="0" noProof="0" dirty="0">
                <a:ln>
                  <a:noFill/>
                </a:ln>
                <a:solidFill>
                  <a:srgbClr val="46245A"/>
                </a:solidFill>
                <a:effectLst/>
                <a:uLnTx/>
                <a:uFillTx/>
                <a:latin typeface="DM Sans Bold"/>
                <a:ea typeface="ＭＳ Ｐゴシック" panose="020B0600070205080204" pitchFamily="34" charset="-128"/>
                <a:cs typeface="+mn-cs"/>
              </a:rPr>
              <a:t>Q2. </a:t>
            </a:r>
          </a:p>
        </p:txBody>
      </p:sp>
      <p:sp>
        <p:nvSpPr>
          <p:cNvPr id="2" name="TextBox 1">
            <a:extLst>
              <a:ext uri="{FF2B5EF4-FFF2-40B4-BE49-F238E27FC236}">
                <a16:creationId xmlns:a16="http://schemas.microsoft.com/office/drawing/2014/main" id="{BF3AC924-C8BE-DFF6-336B-21684BA67B00}"/>
              </a:ext>
            </a:extLst>
          </p:cNvPr>
          <p:cNvSpPr txBox="1"/>
          <p:nvPr/>
        </p:nvSpPr>
        <p:spPr>
          <a:xfrm>
            <a:off x="584197" y="2135706"/>
            <a:ext cx="15725713" cy="523220"/>
          </a:xfrm>
          <a:prstGeom prst="rect">
            <a:avLst/>
          </a:prstGeom>
          <a:noFill/>
        </p:spPr>
        <p:txBody>
          <a:bodyPr wrap="square">
            <a:spAutoFit/>
          </a:bodyPr>
          <a:lstStyle/>
          <a:p>
            <a:pPr algn="l"/>
            <a:r>
              <a:rPr lang="en-GB" sz="2800" b="1" i="0" u="none" strike="noStrike" dirty="0">
                <a:effectLst/>
              </a:rPr>
              <a:t>What are the major uncertainties in climate models, and how can they be improved?</a:t>
            </a:r>
          </a:p>
        </p:txBody>
      </p:sp>
    </p:spTree>
    <p:extLst>
      <p:ext uri="{BB962C8B-B14F-4D97-AF65-F5344CB8AC3E}">
        <p14:creationId xmlns:p14="http://schemas.microsoft.com/office/powerpoint/2010/main" val="37694615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02C5EBE3-14D5-819A-D4D3-09F4759AD7A5}"/>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6EE32FCA-5359-14F6-9169-A0F4E1F1DCD8}"/>
              </a:ext>
            </a:extLst>
          </p:cNvPr>
          <p:cNvSpPr/>
          <p:nvPr/>
        </p:nvSpPr>
        <p:spPr>
          <a:xfrm>
            <a:off x="14554201"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45"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S PGothic" panose="020B0600070205080204" pitchFamily="34" charset="-128"/>
              <a:cs typeface="+mn-cs"/>
            </a:endParaRPr>
          </a:p>
        </p:txBody>
      </p:sp>
      <p:sp>
        <p:nvSpPr>
          <p:cNvPr id="2" name="TextBox 14">
            <a:extLst>
              <a:ext uri="{FF2B5EF4-FFF2-40B4-BE49-F238E27FC236}">
                <a16:creationId xmlns:a16="http://schemas.microsoft.com/office/drawing/2014/main" id="{EA43A809-01DC-E85C-18B6-C1A8A77ECFB6}"/>
              </a:ext>
            </a:extLst>
          </p:cNvPr>
          <p:cNvSpPr txBox="1"/>
          <p:nvPr/>
        </p:nvSpPr>
        <p:spPr>
          <a:xfrm>
            <a:off x="584198" y="1026137"/>
            <a:ext cx="11004828" cy="884858"/>
          </a:xfrm>
          <a:prstGeom prst="rect">
            <a:avLst/>
          </a:prstGeom>
        </p:spPr>
        <p:txBody>
          <a:bodyPr wrap="square" lIns="0" tIns="0" rIns="0" bIns="0" rtlCol="0" anchor="t">
            <a:spAutoFit/>
          </a:bodyPr>
          <a:lstStyle/>
          <a:p>
            <a:pPr marL="0" marR="0" lvl="0" indent="0" algn="l" defTabSz="914445" rtl="0" eaLnBrk="1" fontAlgn="auto" latinLnBrk="0" hangingPunct="1">
              <a:lnSpc>
                <a:spcPts val="6860"/>
              </a:lnSpc>
              <a:spcBef>
                <a:spcPts val="0"/>
              </a:spcBef>
              <a:spcAft>
                <a:spcPts val="0"/>
              </a:spcAft>
              <a:buClrTx/>
              <a:buSzTx/>
              <a:buFontTx/>
              <a:buNone/>
              <a:tabLst/>
              <a:defRPr/>
            </a:pPr>
            <a:r>
              <a:rPr kumimoji="0" lang="en-US" sz="6000" b="0" i="1" u="none" strike="noStrike" kern="1200" cap="none" spc="-413" normalizeH="0" baseline="0" noProof="0" dirty="0">
                <a:ln>
                  <a:noFill/>
                </a:ln>
                <a:solidFill>
                  <a:prstClr val="white"/>
                </a:solidFill>
                <a:effectLst/>
                <a:uLnTx/>
                <a:uFillTx/>
                <a:latin typeface="DM Sans Bold"/>
                <a:ea typeface="ＭＳ Ｐゴシック" panose="020B0600070205080204" pitchFamily="34" charset="-128"/>
                <a:cs typeface="+mn-cs"/>
              </a:rPr>
              <a:t>Q2. </a:t>
            </a:r>
            <a:r>
              <a:rPr kumimoji="0" lang="en-US" sz="6000" b="0" i="1" u="none" strike="noStrike" kern="1200" cap="none" spc="-413" normalizeH="0" baseline="0" noProof="0" dirty="0">
                <a:ln>
                  <a:noFill/>
                </a:ln>
                <a:solidFill>
                  <a:srgbClr val="FF0000"/>
                </a:solidFill>
                <a:effectLst/>
                <a:uLnTx/>
                <a:uFillTx/>
                <a:latin typeface="DM Sans Bold"/>
                <a:ea typeface="ＭＳ Ｐゴシック" panose="020B0600070205080204" pitchFamily="34" charset="-128"/>
                <a:cs typeface="+mn-cs"/>
              </a:rPr>
              <a:t>Answer </a:t>
            </a:r>
            <a:r>
              <a:rPr kumimoji="0" lang="en-US" sz="6000" b="0" i="1" u="none" strike="noStrike" kern="1200" cap="none" spc="-413" normalizeH="0" baseline="0" noProof="0" dirty="0">
                <a:ln>
                  <a:noFill/>
                </a:ln>
                <a:solidFill>
                  <a:prstClr val="white"/>
                </a:solidFill>
                <a:effectLst/>
                <a:uLnTx/>
                <a:uFillTx/>
                <a:latin typeface="DM Sans Bold"/>
                <a:ea typeface="ＭＳ Ｐゴシック" panose="020B0600070205080204" pitchFamily="34" charset="-128"/>
                <a:cs typeface="+mn-cs"/>
              </a:rPr>
              <a:t> </a:t>
            </a:r>
          </a:p>
        </p:txBody>
      </p:sp>
      <p:sp>
        <p:nvSpPr>
          <p:cNvPr id="5" name="TextBox 4">
            <a:extLst>
              <a:ext uri="{FF2B5EF4-FFF2-40B4-BE49-F238E27FC236}">
                <a16:creationId xmlns:a16="http://schemas.microsoft.com/office/drawing/2014/main" id="{9B0B4B62-D37C-5927-B40E-7C92E150B52D}"/>
              </a:ext>
            </a:extLst>
          </p:cNvPr>
          <p:cNvSpPr txBox="1"/>
          <p:nvPr/>
        </p:nvSpPr>
        <p:spPr>
          <a:xfrm>
            <a:off x="584197" y="2135706"/>
            <a:ext cx="15725713" cy="523220"/>
          </a:xfrm>
          <a:prstGeom prst="rect">
            <a:avLst/>
          </a:prstGeom>
          <a:noFill/>
        </p:spPr>
        <p:txBody>
          <a:bodyPr wrap="square">
            <a:spAutoFit/>
          </a:bodyPr>
          <a:lstStyle/>
          <a:p>
            <a:pPr algn="l"/>
            <a:r>
              <a:rPr lang="en-GB" sz="2800" b="1" i="0" u="none" strike="noStrike" dirty="0">
                <a:solidFill>
                  <a:schemeClr val="bg1"/>
                </a:solidFill>
                <a:effectLst/>
              </a:rPr>
              <a:t>What are the major uncertainties in climate models, and how can they be improved?</a:t>
            </a:r>
          </a:p>
        </p:txBody>
      </p:sp>
      <p:sp>
        <p:nvSpPr>
          <p:cNvPr id="10" name="TextBox 9">
            <a:extLst>
              <a:ext uri="{FF2B5EF4-FFF2-40B4-BE49-F238E27FC236}">
                <a16:creationId xmlns:a16="http://schemas.microsoft.com/office/drawing/2014/main" id="{74111DF6-5866-5B87-30A0-3B520354E60C}"/>
              </a:ext>
            </a:extLst>
          </p:cNvPr>
          <p:cNvSpPr txBox="1"/>
          <p:nvPr/>
        </p:nvSpPr>
        <p:spPr>
          <a:xfrm>
            <a:off x="584197" y="3331507"/>
            <a:ext cx="17029316" cy="4154984"/>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marR="0" lvl="0" algn="l" defTabSz="914400" rtl="0" eaLnBrk="1" fontAlgn="auto" latinLnBrk="0" hangingPunct="1">
              <a:lnSpc>
                <a:spcPct val="100000"/>
              </a:lnSpc>
              <a:spcBef>
                <a:spcPts val="0"/>
              </a:spcBef>
              <a:spcAft>
                <a:spcPts val="0"/>
              </a:spcAft>
              <a:buClrTx/>
              <a:buSzTx/>
              <a:tabLst/>
              <a:defRPr/>
            </a:pPr>
            <a:endParaRPr kumimoji="0" lang="en-GB" sz="2400" i="0" u="none" strike="noStrike" kern="1200" normalizeH="0" baseline="0" noProof="0" dirty="0">
              <a:solidFill>
                <a:schemeClr val="tx1"/>
              </a:solidFill>
              <a:uLnTx/>
              <a:uFillTx/>
              <a:latin typeface="Calibri" panose="020F0502020204030204" pitchFamily="34" charset="0"/>
              <a:cs typeface="Calibri" panose="020F0502020204030204" pitchFamily="34" charset="0"/>
            </a:endParaRPr>
          </a:p>
          <a:p>
            <a:pPr marR="0" lvl="0" algn="l" defTabSz="914400" rtl="0" eaLnBrk="1" fontAlgn="auto" latinLnBrk="0" hangingPunct="1">
              <a:lnSpc>
                <a:spcPct val="100000"/>
              </a:lnSpc>
              <a:spcBef>
                <a:spcPts val="0"/>
              </a:spcBef>
              <a:spcAft>
                <a:spcPts val="0"/>
              </a:spcAft>
              <a:buClrTx/>
              <a:buSzTx/>
              <a:tabLst/>
              <a:defRPr/>
            </a:pPr>
            <a:r>
              <a:rPr kumimoji="0" lang="en-GB" sz="2400" i="0" u="none" strike="noStrike" kern="1200" normalizeH="0" baseline="0" noProof="0" dirty="0">
                <a:solidFill>
                  <a:schemeClr val="tx1"/>
                </a:solidFill>
                <a:uLnTx/>
                <a:uFillTx/>
                <a:latin typeface="Calibri" panose="020F0502020204030204" pitchFamily="34" charset="0"/>
                <a:cs typeface="Calibri" panose="020F0502020204030204" pitchFamily="34" charset="0"/>
              </a:rPr>
              <a:t>Sources of uncertainty include but are not limited to:</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400" i="0" u="none" strike="noStrike" kern="1200" normalizeH="0" baseline="0" noProof="0" dirty="0">
                <a:solidFill>
                  <a:schemeClr val="tx1"/>
                </a:solidFill>
                <a:uLnTx/>
                <a:uFillTx/>
                <a:latin typeface="Calibri" panose="020F0502020204030204" pitchFamily="34" charset="0"/>
                <a:cs typeface="Calibri" panose="020F0502020204030204" pitchFamily="34" charset="0"/>
              </a:rPr>
              <a:t>Cloud representation: Clouds contribute to both warming and cooling, but small-scale cloud processes are challenging to model. This is a very active are of research at the University. </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400" i="0" u="none" strike="noStrike" kern="1200" normalizeH="0" baseline="0" noProof="0" dirty="0">
                <a:solidFill>
                  <a:schemeClr val="tx1"/>
                </a:solidFill>
                <a:uLnTx/>
                <a:uFillTx/>
                <a:latin typeface="Calibri" panose="020F0502020204030204" pitchFamily="34" charset="0"/>
                <a:cs typeface="Calibri" panose="020F0502020204030204" pitchFamily="34" charset="0"/>
              </a:rPr>
              <a:t>Aerosol effects: The cooling impact of aerosols (e.g., from pollution or volcanic eruptions) is not yet fully understood. Again, this is a very active area of research at the University. </a:t>
            </a:r>
          </a:p>
          <a:p>
            <a:pPr marL="342900" indent="-342900">
              <a:buFont typeface="Arial" panose="020B0604020202020204" pitchFamily="34" charset="0"/>
              <a:buChar char="•"/>
              <a:defRPr/>
            </a:pPr>
            <a:r>
              <a:rPr kumimoji="0" lang="en-GB" sz="2400" i="0" u="none" strike="noStrike" kern="1200" normalizeH="0" baseline="0" noProof="0" dirty="0">
                <a:solidFill>
                  <a:schemeClr val="tx1"/>
                </a:solidFill>
                <a:uLnTx/>
                <a:uFillTx/>
                <a:latin typeface="Calibri" panose="020F0502020204030204" pitchFamily="34" charset="0"/>
                <a:cs typeface="Calibri" panose="020F0502020204030204" pitchFamily="34" charset="0"/>
              </a:rPr>
              <a:t>Regional climate responses: Model resolution limits accuracy at a local scale, particularly for extreme weather events. This makes identifying local impacts challenging.  </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400" i="0" u="none" strike="noStrike" kern="1200" normalizeH="0" baseline="0" noProof="0" dirty="0">
                <a:solidFill>
                  <a:schemeClr val="tx1"/>
                </a:solidFill>
                <a:uLnTx/>
                <a:uFillTx/>
                <a:latin typeface="Calibri" panose="020F0502020204030204" pitchFamily="34" charset="0"/>
                <a:cs typeface="Calibri" panose="020F0502020204030204" pitchFamily="34" charset="0"/>
              </a:rPr>
              <a:t>Advances can be made through higher-resolution models, enhanced observational data (e.g., satellite measurements or more dense ground-based observations), and maybe the use of artificial intelligence to refine operations.</a:t>
            </a:r>
          </a:p>
          <a:p>
            <a:pPr marL="285750" indent="-285750">
              <a:buFont typeface="Arial" panose="020B0604020202020204" pitchFamily="34" charset="0"/>
              <a:buChar char="•"/>
              <a:defRPr/>
            </a:pPr>
            <a:endParaRPr kumimoji="0" lang="en-GB" sz="2400" b="0" i="0" u="none" strike="noStrike" kern="1200" cap="none" spc="0" normalizeH="0" baseline="0" noProof="0" dirty="0">
              <a:ln>
                <a:noFill/>
              </a:ln>
              <a:solidFill>
                <a:srgbClr val="FF0000"/>
              </a:solidFill>
              <a:effectLst/>
              <a:uLnTx/>
              <a:uFillTx/>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42304296"/>
      </p:ext>
    </p:extLst>
  </p:cSld>
  <p:clrMapOvr>
    <a:masterClrMapping/>
  </p:clrMapOvr>
  <mc:AlternateContent xmlns:mc="http://schemas.openxmlformats.org/markup-compatibility/2006" xmlns:p14="http://schemas.microsoft.com/office/powerpoint/2010/main">
    <mc:Choice Requires="p14">
      <p:transition spd="slow" p14:dur="2000" advTm="12715"/>
    </mc:Choice>
    <mc:Fallback xmlns="">
      <p:transition spd="slow" advTm="12715"/>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0C2C8-E7A9-257A-E555-8CBF8FE78603}"/>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39C3E47D-5219-EC54-867E-B8242F7D15EB}"/>
              </a:ext>
            </a:extLst>
          </p:cNvPr>
          <p:cNvSpPr/>
          <p:nvPr/>
        </p:nvSpPr>
        <p:spPr>
          <a:xfrm>
            <a:off x="14147800"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914445"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
        <p:nvSpPr>
          <p:cNvPr id="5" name="TextBox 14">
            <a:extLst>
              <a:ext uri="{FF2B5EF4-FFF2-40B4-BE49-F238E27FC236}">
                <a16:creationId xmlns:a16="http://schemas.microsoft.com/office/drawing/2014/main" id="{68519FFB-0080-20DA-4B83-55A24C63A89C}"/>
              </a:ext>
            </a:extLst>
          </p:cNvPr>
          <p:cNvSpPr txBox="1"/>
          <p:nvPr/>
        </p:nvSpPr>
        <p:spPr>
          <a:xfrm>
            <a:off x="584198" y="1026137"/>
            <a:ext cx="11004828" cy="884858"/>
          </a:xfrm>
          <a:prstGeom prst="rect">
            <a:avLst/>
          </a:prstGeom>
        </p:spPr>
        <p:txBody>
          <a:bodyPr wrap="square" lIns="0" tIns="0" rIns="0" bIns="0" rtlCol="0" anchor="t">
            <a:spAutoFit/>
          </a:bodyPr>
          <a:lstStyle/>
          <a:p>
            <a:pPr marL="0" marR="0" lvl="0" indent="0" algn="l" defTabSz="914445" rtl="0" eaLnBrk="1" fontAlgn="auto" latinLnBrk="0" hangingPunct="1">
              <a:lnSpc>
                <a:spcPts val="6860"/>
              </a:lnSpc>
              <a:spcBef>
                <a:spcPts val="0"/>
              </a:spcBef>
              <a:spcAft>
                <a:spcPts val="0"/>
              </a:spcAft>
              <a:buClrTx/>
              <a:buSzTx/>
              <a:buFontTx/>
              <a:buNone/>
              <a:tabLst/>
              <a:defRPr/>
            </a:pPr>
            <a:r>
              <a:rPr kumimoji="0" lang="en-US" sz="6000" b="0" i="1" u="none" strike="noStrike" kern="1200" cap="none" spc="-413" normalizeH="0" baseline="0" noProof="0" dirty="0">
                <a:ln>
                  <a:noFill/>
                </a:ln>
                <a:solidFill>
                  <a:srgbClr val="46245A"/>
                </a:solidFill>
                <a:effectLst/>
                <a:uLnTx/>
                <a:uFillTx/>
                <a:latin typeface="DM Sans Bold"/>
                <a:ea typeface="ＭＳ Ｐゴシック" panose="020B0600070205080204" pitchFamily="34" charset="-128"/>
                <a:cs typeface="+mn-cs"/>
              </a:rPr>
              <a:t>Q3.</a:t>
            </a:r>
          </a:p>
        </p:txBody>
      </p:sp>
      <p:sp>
        <p:nvSpPr>
          <p:cNvPr id="2" name="TextBox 1">
            <a:extLst>
              <a:ext uri="{FF2B5EF4-FFF2-40B4-BE49-F238E27FC236}">
                <a16:creationId xmlns:a16="http://schemas.microsoft.com/office/drawing/2014/main" id="{88B1BAA8-4D19-0548-5F70-6A6065725F0E}"/>
              </a:ext>
            </a:extLst>
          </p:cNvPr>
          <p:cNvSpPr txBox="1"/>
          <p:nvPr/>
        </p:nvSpPr>
        <p:spPr>
          <a:xfrm>
            <a:off x="584197" y="2181125"/>
            <a:ext cx="15651068" cy="95410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dirty="0">
                <a:ln>
                  <a:noFill/>
                </a:ln>
                <a:effectLst/>
                <a:uLnTx/>
                <a:uFillTx/>
                <a:latin typeface="DM Sans"/>
                <a:ea typeface="+mn-ea"/>
                <a:cs typeface="+mn-cs"/>
              </a:rPr>
              <a:t>What is the difference between natural variability and human-induced climate change? How do we model their effects in climate studies?</a:t>
            </a:r>
          </a:p>
        </p:txBody>
      </p:sp>
    </p:spTree>
    <p:extLst>
      <p:ext uri="{BB962C8B-B14F-4D97-AF65-F5344CB8AC3E}">
        <p14:creationId xmlns:p14="http://schemas.microsoft.com/office/powerpoint/2010/main" val="38784516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0FD39F18-9092-6B46-5F44-8920DE86A55B}"/>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268038F9-BDF9-928D-95D3-E7C1AE997699}"/>
              </a:ext>
            </a:extLst>
          </p:cNvPr>
          <p:cNvSpPr/>
          <p:nvPr/>
        </p:nvSpPr>
        <p:spPr>
          <a:xfrm>
            <a:off x="14554201"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45"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S PGothic" panose="020B0600070205080204" pitchFamily="34" charset="-128"/>
              <a:cs typeface="+mn-cs"/>
            </a:endParaRPr>
          </a:p>
        </p:txBody>
      </p:sp>
      <p:sp>
        <p:nvSpPr>
          <p:cNvPr id="2" name="TextBox 14">
            <a:extLst>
              <a:ext uri="{FF2B5EF4-FFF2-40B4-BE49-F238E27FC236}">
                <a16:creationId xmlns:a16="http://schemas.microsoft.com/office/drawing/2014/main" id="{F8191ACB-7CF4-01F6-7749-E693409166DF}"/>
              </a:ext>
            </a:extLst>
          </p:cNvPr>
          <p:cNvSpPr txBox="1"/>
          <p:nvPr/>
        </p:nvSpPr>
        <p:spPr>
          <a:xfrm>
            <a:off x="584198" y="1026137"/>
            <a:ext cx="11004828" cy="884858"/>
          </a:xfrm>
          <a:prstGeom prst="rect">
            <a:avLst/>
          </a:prstGeom>
        </p:spPr>
        <p:txBody>
          <a:bodyPr wrap="square" lIns="0" tIns="0" rIns="0" bIns="0" rtlCol="0" anchor="t">
            <a:spAutoFit/>
          </a:bodyPr>
          <a:lstStyle/>
          <a:p>
            <a:pPr marL="0" marR="0" lvl="0" indent="0" algn="l" defTabSz="914445" rtl="0" eaLnBrk="1" fontAlgn="auto" latinLnBrk="0" hangingPunct="1">
              <a:lnSpc>
                <a:spcPts val="6860"/>
              </a:lnSpc>
              <a:spcBef>
                <a:spcPts val="0"/>
              </a:spcBef>
              <a:spcAft>
                <a:spcPts val="0"/>
              </a:spcAft>
              <a:buClrTx/>
              <a:buSzTx/>
              <a:buFontTx/>
              <a:buNone/>
              <a:tabLst/>
              <a:defRPr/>
            </a:pPr>
            <a:r>
              <a:rPr kumimoji="0" lang="en-US" sz="6000" b="0" i="1" u="none" strike="noStrike" kern="1200" cap="none" spc="-413" normalizeH="0" baseline="0" noProof="0" dirty="0">
                <a:ln>
                  <a:noFill/>
                </a:ln>
                <a:solidFill>
                  <a:prstClr val="white"/>
                </a:solidFill>
                <a:effectLst/>
                <a:uLnTx/>
                <a:uFillTx/>
                <a:latin typeface="DM Sans Bold"/>
                <a:ea typeface="ＭＳ Ｐゴシック" panose="020B0600070205080204" pitchFamily="34" charset="-128"/>
                <a:cs typeface="+mn-cs"/>
              </a:rPr>
              <a:t>Q3. </a:t>
            </a:r>
            <a:r>
              <a:rPr kumimoji="0" lang="en-US" sz="6000" b="0" i="1" u="none" strike="noStrike" kern="1200" cap="none" spc="-413" normalizeH="0" baseline="0" noProof="0" dirty="0">
                <a:ln>
                  <a:noFill/>
                </a:ln>
                <a:solidFill>
                  <a:srgbClr val="FF0000"/>
                </a:solidFill>
                <a:effectLst/>
                <a:uLnTx/>
                <a:uFillTx/>
                <a:latin typeface="DM Sans Bold"/>
                <a:ea typeface="ＭＳ Ｐゴシック" panose="020B0600070205080204" pitchFamily="34" charset="-128"/>
                <a:cs typeface="+mn-cs"/>
              </a:rPr>
              <a:t>Answer </a:t>
            </a:r>
            <a:r>
              <a:rPr kumimoji="0" lang="en-US" sz="6000" b="0" i="1" u="none" strike="noStrike" kern="1200" cap="none" spc="-413" normalizeH="0" baseline="0" noProof="0" dirty="0">
                <a:ln>
                  <a:noFill/>
                </a:ln>
                <a:solidFill>
                  <a:prstClr val="white"/>
                </a:solidFill>
                <a:effectLst/>
                <a:uLnTx/>
                <a:uFillTx/>
                <a:latin typeface="DM Sans Bold"/>
                <a:ea typeface="ＭＳ Ｐゴシック" panose="020B0600070205080204" pitchFamily="34" charset="-128"/>
                <a:cs typeface="+mn-cs"/>
              </a:rPr>
              <a:t> </a:t>
            </a:r>
          </a:p>
        </p:txBody>
      </p:sp>
      <p:sp>
        <p:nvSpPr>
          <p:cNvPr id="7" name="TextBox 6">
            <a:extLst>
              <a:ext uri="{FF2B5EF4-FFF2-40B4-BE49-F238E27FC236}">
                <a16:creationId xmlns:a16="http://schemas.microsoft.com/office/drawing/2014/main" id="{AEEEB59D-4EA4-E052-2925-00A23125638D}"/>
              </a:ext>
            </a:extLst>
          </p:cNvPr>
          <p:cNvSpPr txBox="1"/>
          <p:nvPr/>
        </p:nvSpPr>
        <p:spPr>
          <a:xfrm>
            <a:off x="584197" y="2181125"/>
            <a:ext cx="15651068" cy="95410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dirty="0">
                <a:ln>
                  <a:noFill/>
                </a:ln>
                <a:solidFill>
                  <a:prstClr val="white"/>
                </a:solidFill>
                <a:effectLst/>
                <a:uLnTx/>
                <a:uFillTx/>
                <a:latin typeface="DM Sans"/>
                <a:ea typeface="+mn-ea"/>
                <a:cs typeface="+mn-cs"/>
              </a:rPr>
              <a:t>What is the difference between natural variability and human induced climate change? How do we model their effects in climate studies?</a:t>
            </a:r>
          </a:p>
        </p:txBody>
      </p:sp>
      <p:sp>
        <p:nvSpPr>
          <p:cNvPr id="8" name="TextBox 7">
            <a:extLst>
              <a:ext uri="{FF2B5EF4-FFF2-40B4-BE49-F238E27FC236}">
                <a16:creationId xmlns:a16="http://schemas.microsoft.com/office/drawing/2014/main" id="{BECB54D3-2734-DE7F-F2B9-296241CE9C21}"/>
              </a:ext>
            </a:extLst>
          </p:cNvPr>
          <p:cNvSpPr txBox="1"/>
          <p:nvPr/>
        </p:nvSpPr>
        <p:spPr>
          <a:xfrm>
            <a:off x="584197" y="3405360"/>
            <a:ext cx="11557003" cy="4893647"/>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marR="0" lvl="0" algn="l" defTabSz="914400" rtl="0" eaLnBrk="1" fontAlgn="auto" latinLnBrk="0" hangingPunct="1">
              <a:lnSpc>
                <a:spcPct val="100000"/>
              </a:lnSpc>
              <a:spcBef>
                <a:spcPts val="0"/>
              </a:spcBef>
              <a:spcAft>
                <a:spcPts val="0"/>
              </a:spcAft>
              <a:buClrTx/>
              <a:buSzTx/>
              <a:tabLst/>
              <a:defRPr/>
            </a:pPr>
            <a:endParaRPr lang="en-GB" sz="2400" b="1" dirty="0">
              <a:solidFill>
                <a:schemeClr val="tx1"/>
              </a:solidFill>
              <a:latin typeface="Calibri" panose="020F0502020204030204" pitchFamily="34" charset="0"/>
              <a:cs typeface="Calibri" panose="020F0502020204030204" pitchFamily="34" charset="0"/>
            </a:endParaRPr>
          </a:p>
          <a:p>
            <a:pPr marR="0" lvl="0" algn="l" defTabSz="914400" rtl="0" eaLnBrk="1" fontAlgn="auto" latinLnBrk="0" hangingPunct="1">
              <a:lnSpc>
                <a:spcPct val="100000"/>
              </a:lnSpc>
              <a:spcBef>
                <a:spcPts val="0"/>
              </a:spcBef>
              <a:spcAft>
                <a:spcPts val="0"/>
              </a:spcAft>
              <a:buClrTx/>
              <a:buSzTx/>
              <a:tabLst/>
              <a:defRPr/>
            </a:pPr>
            <a:r>
              <a:rPr lang="en-GB" sz="2400" b="1" dirty="0">
                <a:solidFill>
                  <a:schemeClr val="tx1"/>
                </a:solidFill>
                <a:latin typeface="Calibri" panose="020F0502020204030204" pitchFamily="34" charset="0"/>
                <a:cs typeface="Calibri" panose="020F0502020204030204" pitchFamily="34" charset="0"/>
              </a:rPr>
              <a:t>Natural variability</a:t>
            </a:r>
            <a:r>
              <a:rPr lang="en-GB" sz="2400" dirty="0">
                <a:solidFill>
                  <a:schemeClr val="tx1"/>
                </a:solidFill>
                <a:latin typeface="Calibri" panose="020F0502020204030204" pitchFamily="34" charset="0"/>
                <a:cs typeface="Calibri" panose="020F0502020204030204" pitchFamily="34" charset="0"/>
              </a:rPr>
              <a:t> refers to fluctuations in the climate system caused by processes such as ocean circulation, solar activity, solar input and volcanic eruptions.</a:t>
            </a:r>
          </a:p>
          <a:p>
            <a:pPr marR="0" lvl="0" algn="l" defTabSz="914400" rtl="0" eaLnBrk="1" fontAlgn="auto" latinLnBrk="0" hangingPunct="1">
              <a:lnSpc>
                <a:spcPct val="100000"/>
              </a:lnSpc>
              <a:spcBef>
                <a:spcPts val="0"/>
              </a:spcBef>
              <a:spcAft>
                <a:spcPts val="0"/>
              </a:spcAft>
              <a:buClrTx/>
              <a:buSzTx/>
              <a:tabLst/>
              <a:defRPr/>
            </a:pPr>
            <a:endParaRPr lang="en-GB" sz="2400" b="1" dirty="0">
              <a:solidFill>
                <a:schemeClr val="tx1"/>
              </a:solidFill>
              <a:latin typeface="Calibri" panose="020F0502020204030204" pitchFamily="34" charset="0"/>
              <a:cs typeface="Calibri" panose="020F0502020204030204" pitchFamily="34" charset="0"/>
            </a:endParaRPr>
          </a:p>
          <a:p>
            <a:pPr marR="0" lvl="0" algn="l" defTabSz="914400" rtl="0" eaLnBrk="1" fontAlgn="auto" latinLnBrk="0" hangingPunct="1">
              <a:lnSpc>
                <a:spcPct val="100000"/>
              </a:lnSpc>
              <a:spcBef>
                <a:spcPts val="0"/>
              </a:spcBef>
              <a:spcAft>
                <a:spcPts val="0"/>
              </a:spcAft>
              <a:buClrTx/>
              <a:buSzTx/>
              <a:tabLst/>
              <a:defRPr/>
            </a:pPr>
            <a:r>
              <a:rPr lang="en-GB" sz="2400" b="1" dirty="0">
                <a:solidFill>
                  <a:schemeClr val="tx1"/>
                </a:solidFill>
                <a:latin typeface="Calibri" panose="020F0502020204030204" pitchFamily="34" charset="0"/>
                <a:cs typeface="Calibri" panose="020F0502020204030204" pitchFamily="34" charset="0"/>
              </a:rPr>
              <a:t>Human induced climate change</a:t>
            </a:r>
            <a:r>
              <a:rPr lang="en-GB" sz="2400" dirty="0">
                <a:solidFill>
                  <a:schemeClr val="tx1"/>
                </a:solidFill>
                <a:latin typeface="Calibri" panose="020F0502020204030204" pitchFamily="34" charset="0"/>
                <a:cs typeface="Calibri" panose="020F0502020204030204" pitchFamily="34" charset="0"/>
              </a:rPr>
              <a:t>, by contrast, results from activities such as burning fossil fuels, deforestation, and industrial emissions, which alter greenhouse gas concentrations.</a:t>
            </a:r>
          </a:p>
          <a:p>
            <a:pPr marR="0" lvl="0" algn="l" defTabSz="914400" rtl="0" eaLnBrk="1" fontAlgn="auto" latinLnBrk="0" hangingPunct="1">
              <a:lnSpc>
                <a:spcPct val="100000"/>
              </a:lnSpc>
              <a:spcBef>
                <a:spcPts val="0"/>
              </a:spcBef>
              <a:spcAft>
                <a:spcPts val="0"/>
              </a:spcAft>
              <a:buClrTx/>
              <a:buSzTx/>
              <a:tabLst/>
              <a:defRPr/>
            </a:pPr>
            <a:endParaRPr lang="en-GB" sz="2400" b="1" dirty="0">
              <a:solidFill>
                <a:schemeClr val="tx1"/>
              </a:solidFill>
              <a:latin typeface="Calibri" panose="020F0502020204030204" pitchFamily="34" charset="0"/>
              <a:cs typeface="Calibri" panose="020F0502020204030204" pitchFamily="34" charset="0"/>
            </a:endParaRPr>
          </a:p>
          <a:p>
            <a:pPr marR="0" lvl="0" algn="l" defTabSz="914400" rtl="0" eaLnBrk="1" fontAlgn="auto" latinLnBrk="0" hangingPunct="1">
              <a:lnSpc>
                <a:spcPct val="100000"/>
              </a:lnSpc>
              <a:spcBef>
                <a:spcPts val="0"/>
              </a:spcBef>
              <a:spcAft>
                <a:spcPts val="0"/>
              </a:spcAft>
              <a:buClrTx/>
              <a:buSzTx/>
              <a:tabLst/>
              <a:defRPr/>
            </a:pPr>
            <a:r>
              <a:rPr lang="en-GB" sz="2400" b="1" dirty="0">
                <a:solidFill>
                  <a:schemeClr val="tx1"/>
                </a:solidFill>
                <a:latin typeface="Calibri" panose="020F0502020204030204" pitchFamily="34" charset="0"/>
                <a:cs typeface="Calibri" panose="020F0502020204030204" pitchFamily="34" charset="0"/>
              </a:rPr>
              <a:t>Observational records</a:t>
            </a:r>
            <a:r>
              <a:rPr lang="en-GB" sz="2400" dirty="0">
                <a:solidFill>
                  <a:schemeClr val="tx1"/>
                </a:solidFill>
                <a:latin typeface="Calibri" panose="020F0502020204030204" pitchFamily="34" charset="0"/>
                <a:cs typeface="Calibri" panose="020F0502020204030204" pitchFamily="34" charset="0"/>
              </a:rPr>
              <a:t>, including temperature and precipitation data, are compared with </a:t>
            </a:r>
            <a:r>
              <a:rPr lang="en-GB" sz="2400" b="1" dirty="0">
                <a:solidFill>
                  <a:schemeClr val="tx1"/>
                </a:solidFill>
                <a:latin typeface="Calibri" panose="020F0502020204030204" pitchFamily="34" charset="0"/>
                <a:cs typeface="Calibri" panose="020F0502020204030204" pitchFamily="34" charset="0"/>
              </a:rPr>
              <a:t>climate models</a:t>
            </a:r>
            <a:r>
              <a:rPr lang="en-GB" sz="2400" dirty="0">
                <a:solidFill>
                  <a:schemeClr val="tx1"/>
                </a:solidFill>
                <a:latin typeface="Calibri" panose="020F0502020204030204" pitchFamily="34" charset="0"/>
                <a:cs typeface="Calibri" panose="020F0502020204030204" pitchFamily="34" charset="0"/>
              </a:rPr>
              <a:t> to distinguish natural variability from anthropogenic effects.</a:t>
            </a:r>
          </a:p>
          <a:p>
            <a:pPr marR="0" lvl="0" algn="l" defTabSz="914400" rtl="0" eaLnBrk="1" fontAlgn="auto" latinLnBrk="0" hangingPunct="1">
              <a:lnSpc>
                <a:spcPct val="100000"/>
              </a:lnSpc>
              <a:spcBef>
                <a:spcPts val="0"/>
              </a:spcBef>
              <a:spcAft>
                <a:spcPts val="0"/>
              </a:spcAft>
              <a:buClrTx/>
              <a:buSzTx/>
              <a:tabLst/>
              <a:defRPr/>
            </a:pPr>
            <a:endParaRPr lang="en-GB" sz="2400" b="1" dirty="0">
              <a:solidFill>
                <a:schemeClr val="tx1"/>
              </a:solidFill>
              <a:latin typeface="Calibri" panose="020F0502020204030204" pitchFamily="34" charset="0"/>
              <a:cs typeface="Calibri" panose="020F0502020204030204" pitchFamily="34" charset="0"/>
            </a:endParaRPr>
          </a:p>
          <a:p>
            <a:pPr marR="0" lvl="0" algn="l" defTabSz="914400" rtl="0" eaLnBrk="1" fontAlgn="auto" latinLnBrk="0" hangingPunct="1">
              <a:lnSpc>
                <a:spcPct val="100000"/>
              </a:lnSpc>
              <a:spcBef>
                <a:spcPts val="0"/>
              </a:spcBef>
              <a:spcAft>
                <a:spcPts val="0"/>
              </a:spcAft>
              <a:buClrTx/>
              <a:buSzTx/>
              <a:tabLst/>
              <a:defRPr/>
            </a:pPr>
            <a:r>
              <a:rPr lang="en-GB" sz="2400" b="1" dirty="0">
                <a:solidFill>
                  <a:schemeClr val="tx1"/>
                </a:solidFill>
                <a:latin typeface="Calibri" panose="020F0502020204030204" pitchFamily="34" charset="0"/>
                <a:cs typeface="Calibri" panose="020F0502020204030204" pitchFamily="34" charset="0"/>
              </a:rPr>
              <a:t>Climate models</a:t>
            </a:r>
            <a:r>
              <a:rPr lang="en-GB" sz="2400" dirty="0">
                <a:solidFill>
                  <a:schemeClr val="tx1"/>
                </a:solidFill>
                <a:latin typeface="Calibri" panose="020F0502020204030204" pitchFamily="34" charset="0"/>
                <a:cs typeface="Calibri" panose="020F0502020204030204" pitchFamily="34" charset="0"/>
              </a:rPr>
              <a:t> can also be run with and without anthropogenic inputs to differentiate between the two types of processes.</a:t>
            </a:r>
          </a:p>
          <a:p>
            <a:pPr marR="0" lvl="0" algn="l" defTabSz="914400" rtl="0" eaLnBrk="1" fontAlgn="auto" latinLnBrk="0" hangingPunct="1">
              <a:lnSpc>
                <a:spcPct val="100000"/>
              </a:lnSpc>
              <a:spcBef>
                <a:spcPts val="0"/>
              </a:spcBef>
              <a:spcAft>
                <a:spcPts val="0"/>
              </a:spcAft>
              <a:buClrTx/>
              <a:buSzTx/>
              <a:tabLst/>
              <a:defRPr/>
            </a:pPr>
            <a:endParaRPr kumimoji="0" lang="en-GB" sz="2400" b="0"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pic>
        <p:nvPicPr>
          <p:cNvPr id="9" name="Picture 8">
            <a:extLst>
              <a:ext uri="{FF2B5EF4-FFF2-40B4-BE49-F238E27FC236}">
                <a16:creationId xmlns:a16="http://schemas.microsoft.com/office/drawing/2014/main" id="{9DCA67D0-AC14-336F-543C-532C00DBA3B5}"/>
              </a:ext>
            </a:extLst>
          </p:cNvPr>
          <p:cNvPicPr>
            <a:picLocks noChangeAspect="1"/>
          </p:cNvPicPr>
          <p:nvPr/>
        </p:nvPicPr>
        <p:blipFill>
          <a:blip r:embed="rId5"/>
          <a:stretch>
            <a:fillRect/>
          </a:stretch>
        </p:blipFill>
        <p:spPr>
          <a:xfrm>
            <a:off x="12546767" y="3403744"/>
            <a:ext cx="4892031" cy="4892031"/>
          </a:xfrm>
          <a:prstGeom prst="rect">
            <a:avLst/>
          </a:prstGeom>
        </p:spPr>
      </p:pic>
    </p:spTree>
    <p:extLst>
      <p:ext uri="{BB962C8B-B14F-4D97-AF65-F5344CB8AC3E}">
        <p14:creationId xmlns:p14="http://schemas.microsoft.com/office/powerpoint/2010/main" val="2843723110"/>
      </p:ext>
    </p:extLst>
  </p:cSld>
  <p:clrMapOvr>
    <a:masterClrMapping/>
  </p:clrMapOvr>
  <mc:AlternateContent xmlns:mc="http://schemas.openxmlformats.org/markup-compatibility/2006" xmlns:p14="http://schemas.microsoft.com/office/powerpoint/2010/main">
    <mc:Choice Requires="p14">
      <p:transition spd="slow" p14:dur="2000" advTm="12715"/>
    </mc:Choice>
    <mc:Fallback xmlns="">
      <p:transition spd="slow" advTm="12715"/>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52295-3D0B-5407-2EE3-8593731958C0}"/>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FD72082A-481A-B70C-F8B6-9B16EA38E186}"/>
              </a:ext>
            </a:extLst>
          </p:cNvPr>
          <p:cNvSpPr/>
          <p:nvPr/>
        </p:nvSpPr>
        <p:spPr>
          <a:xfrm>
            <a:off x="14147800"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914445"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
        <p:nvSpPr>
          <p:cNvPr id="5" name="TextBox 14">
            <a:extLst>
              <a:ext uri="{FF2B5EF4-FFF2-40B4-BE49-F238E27FC236}">
                <a16:creationId xmlns:a16="http://schemas.microsoft.com/office/drawing/2014/main" id="{8C65C5A9-C140-D51C-2949-0EE4E8FF3951}"/>
              </a:ext>
            </a:extLst>
          </p:cNvPr>
          <p:cNvSpPr txBox="1"/>
          <p:nvPr/>
        </p:nvSpPr>
        <p:spPr>
          <a:xfrm>
            <a:off x="584198" y="1026137"/>
            <a:ext cx="11004828" cy="884858"/>
          </a:xfrm>
          <a:prstGeom prst="rect">
            <a:avLst/>
          </a:prstGeom>
        </p:spPr>
        <p:txBody>
          <a:bodyPr wrap="square" lIns="0" tIns="0" rIns="0" bIns="0" rtlCol="0" anchor="t">
            <a:spAutoFit/>
          </a:bodyPr>
          <a:lstStyle/>
          <a:p>
            <a:pPr marL="0" marR="0" lvl="0" indent="0" algn="l" defTabSz="914445" rtl="0" eaLnBrk="1" fontAlgn="auto" latinLnBrk="0" hangingPunct="1">
              <a:lnSpc>
                <a:spcPts val="6860"/>
              </a:lnSpc>
              <a:spcBef>
                <a:spcPts val="0"/>
              </a:spcBef>
              <a:spcAft>
                <a:spcPts val="0"/>
              </a:spcAft>
              <a:buClrTx/>
              <a:buSzTx/>
              <a:buFontTx/>
              <a:buNone/>
              <a:tabLst/>
              <a:defRPr/>
            </a:pPr>
            <a:r>
              <a:rPr kumimoji="0" lang="en-US" sz="6000" b="0" i="1" u="none" strike="noStrike" kern="1200" cap="none" spc="-413" normalizeH="0" baseline="0" noProof="0" dirty="0">
                <a:ln>
                  <a:noFill/>
                </a:ln>
                <a:solidFill>
                  <a:srgbClr val="46245A"/>
                </a:solidFill>
                <a:effectLst/>
                <a:uLnTx/>
                <a:uFillTx/>
                <a:latin typeface="DM Sans Bold"/>
                <a:ea typeface="ＭＳ Ｐゴシック" panose="020B0600070205080204" pitchFamily="34" charset="-128"/>
                <a:cs typeface="+mn-cs"/>
              </a:rPr>
              <a:t>Q4. </a:t>
            </a:r>
          </a:p>
        </p:txBody>
      </p:sp>
      <p:sp>
        <p:nvSpPr>
          <p:cNvPr id="2" name="TextBox 1">
            <a:extLst>
              <a:ext uri="{FF2B5EF4-FFF2-40B4-BE49-F238E27FC236}">
                <a16:creationId xmlns:a16="http://schemas.microsoft.com/office/drawing/2014/main" id="{73B311C4-7FAF-9238-48DD-2DFF9EED044F}"/>
              </a:ext>
            </a:extLst>
          </p:cNvPr>
          <p:cNvSpPr txBox="1"/>
          <p:nvPr/>
        </p:nvSpPr>
        <p:spPr>
          <a:xfrm>
            <a:off x="584197" y="2135706"/>
            <a:ext cx="13572069" cy="95410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effectLst/>
                <a:uLnTx/>
                <a:uFillTx/>
                <a:latin typeface="DM Sans Bold"/>
                <a:ea typeface="+mn-ea"/>
                <a:cs typeface="+mn-cs"/>
              </a:rPr>
              <a:t>What are the key components of a Global Climate Model, and why is coupling different models important?</a:t>
            </a:r>
          </a:p>
        </p:txBody>
      </p:sp>
    </p:spTree>
    <p:extLst>
      <p:ext uri="{BB962C8B-B14F-4D97-AF65-F5344CB8AC3E}">
        <p14:creationId xmlns:p14="http://schemas.microsoft.com/office/powerpoint/2010/main" val="34865059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835FA695-22EE-0D2F-A7DD-A36A80811BFE}"/>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8A4E1529-58A7-1BF3-4CD9-A82DA5B8CBF8}"/>
              </a:ext>
            </a:extLst>
          </p:cNvPr>
          <p:cNvSpPr/>
          <p:nvPr/>
        </p:nvSpPr>
        <p:spPr>
          <a:xfrm>
            <a:off x="14554201"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45"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S PGothic" panose="020B0600070205080204" pitchFamily="34" charset="-128"/>
              <a:cs typeface="+mn-cs"/>
            </a:endParaRPr>
          </a:p>
        </p:txBody>
      </p:sp>
      <p:sp>
        <p:nvSpPr>
          <p:cNvPr id="2" name="TextBox 14">
            <a:extLst>
              <a:ext uri="{FF2B5EF4-FFF2-40B4-BE49-F238E27FC236}">
                <a16:creationId xmlns:a16="http://schemas.microsoft.com/office/drawing/2014/main" id="{4FA93971-91A7-FE8D-50AF-F2D573D38C45}"/>
              </a:ext>
            </a:extLst>
          </p:cNvPr>
          <p:cNvSpPr txBox="1"/>
          <p:nvPr/>
        </p:nvSpPr>
        <p:spPr>
          <a:xfrm>
            <a:off x="584198" y="1026137"/>
            <a:ext cx="11004828" cy="884858"/>
          </a:xfrm>
          <a:prstGeom prst="rect">
            <a:avLst/>
          </a:prstGeom>
        </p:spPr>
        <p:txBody>
          <a:bodyPr wrap="square" lIns="0" tIns="0" rIns="0" bIns="0" rtlCol="0" anchor="t">
            <a:spAutoFit/>
          </a:bodyPr>
          <a:lstStyle/>
          <a:p>
            <a:pPr marL="0" marR="0" lvl="0" indent="0" algn="l" defTabSz="914445" rtl="0" eaLnBrk="1" fontAlgn="auto" latinLnBrk="0" hangingPunct="1">
              <a:lnSpc>
                <a:spcPts val="6860"/>
              </a:lnSpc>
              <a:spcBef>
                <a:spcPts val="0"/>
              </a:spcBef>
              <a:spcAft>
                <a:spcPts val="0"/>
              </a:spcAft>
              <a:buClrTx/>
              <a:buSzTx/>
              <a:buFontTx/>
              <a:buNone/>
              <a:tabLst/>
              <a:defRPr/>
            </a:pPr>
            <a:r>
              <a:rPr kumimoji="0" lang="en-US" sz="6000" b="0" i="1" u="none" strike="noStrike" kern="1200" cap="none" spc="-413" normalizeH="0" baseline="0" noProof="0" dirty="0">
                <a:ln>
                  <a:noFill/>
                </a:ln>
                <a:solidFill>
                  <a:prstClr val="white"/>
                </a:solidFill>
                <a:effectLst/>
                <a:uLnTx/>
                <a:uFillTx/>
                <a:latin typeface="DM Sans Bold"/>
                <a:ea typeface="ＭＳ Ｐゴシック" panose="020B0600070205080204" pitchFamily="34" charset="-128"/>
                <a:cs typeface="+mn-cs"/>
              </a:rPr>
              <a:t>Q4. </a:t>
            </a:r>
            <a:r>
              <a:rPr kumimoji="0" lang="en-US" sz="6000" b="0" i="1" u="none" strike="noStrike" kern="1200" cap="none" spc="-413" normalizeH="0" baseline="0" noProof="0" dirty="0">
                <a:ln>
                  <a:noFill/>
                </a:ln>
                <a:solidFill>
                  <a:srgbClr val="FF0000"/>
                </a:solidFill>
                <a:effectLst/>
                <a:uLnTx/>
                <a:uFillTx/>
                <a:latin typeface="DM Sans Bold"/>
                <a:ea typeface="ＭＳ Ｐゴシック" panose="020B0600070205080204" pitchFamily="34" charset="-128"/>
                <a:cs typeface="+mn-cs"/>
              </a:rPr>
              <a:t>Answer </a:t>
            </a:r>
            <a:r>
              <a:rPr kumimoji="0" lang="en-US" sz="6000" b="0" i="1" u="none" strike="noStrike" kern="1200" cap="none" spc="-413" normalizeH="0" baseline="0" noProof="0" dirty="0">
                <a:ln>
                  <a:noFill/>
                </a:ln>
                <a:solidFill>
                  <a:prstClr val="white"/>
                </a:solidFill>
                <a:effectLst/>
                <a:uLnTx/>
                <a:uFillTx/>
                <a:latin typeface="DM Sans Bold"/>
                <a:ea typeface="ＭＳ Ｐゴシック" panose="020B0600070205080204" pitchFamily="34" charset="-128"/>
                <a:cs typeface="+mn-cs"/>
              </a:rPr>
              <a:t> </a:t>
            </a:r>
          </a:p>
        </p:txBody>
      </p:sp>
      <p:sp>
        <p:nvSpPr>
          <p:cNvPr id="5" name="TextBox 4">
            <a:extLst>
              <a:ext uri="{FF2B5EF4-FFF2-40B4-BE49-F238E27FC236}">
                <a16:creationId xmlns:a16="http://schemas.microsoft.com/office/drawing/2014/main" id="{FBC72077-9DFE-C61F-BE04-49CC6F044D14}"/>
              </a:ext>
            </a:extLst>
          </p:cNvPr>
          <p:cNvSpPr txBox="1"/>
          <p:nvPr/>
        </p:nvSpPr>
        <p:spPr>
          <a:xfrm>
            <a:off x="584197" y="2135706"/>
            <a:ext cx="13572069" cy="95410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F8F8F8"/>
                </a:solidFill>
                <a:effectLst/>
                <a:uLnTx/>
                <a:uFillTx/>
                <a:latin typeface="DM Sans Bold"/>
                <a:ea typeface="+mn-ea"/>
                <a:cs typeface="+mn-cs"/>
              </a:rPr>
              <a:t>What are the key components of a Global Climate Model, and why is coupling different models important?</a:t>
            </a:r>
          </a:p>
        </p:txBody>
      </p:sp>
      <p:sp>
        <p:nvSpPr>
          <p:cNvPr id="10" name="TextBox 9">
            <a:extLst>
              <a:ext uri="{FF2B5EF4-FFF2-40B4-BE49-F238E27FC236}">
                <a16:creationId xmlns:a16="http://schemas.microsoft.com/office/drawing/2014/main" id="{527DD5B6-813F-A4F5-8843-58975B57459B}"/>
              </a:ext>
            </a:extLst>
          </p:cNvPr>
          <p:cNvSpPr txBox="1"/>
          <p:nvPr/>
        </p:nvSpPr>
        <p:spPr>
          <a:xfrm>
            <a:off x="619401" y="3314524"/>
            <a:ext cx="15464456" cy="5632311"/>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marR="0" lvl="0" algn="l" defTabSz="914400" rtl="0" eaLnBrk="1" fontAlgn="auto" latinLnBrk="0" hangingPunct="1">
              <a:lnSpc>
                <a:spcPct val="100000"/>
              </a:lnSpc>
              <a:spcBef>
                <a:spcPts val="0"/>
              </a:spcBef>
              <a:spcAft>
                <a:spcPts val="0"/>
              </a:spcAft>
              <a:buClrTx/>
              <a:buSzTx/>
              <a:tabLst/>
              <a:defRPr/>
            </a:pPr>
            <a:r>
              <a:rPr kumimoji="0" lang="en-GB" sz="2400" b="0"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GCMs consist of five major components:</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400" b="0"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Atmosphere – Governs weather patterns, temperature, and precipitation.</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400" b="0"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Cryosphere – Includes ice sheets, glaciers, and sea ice, which influence albedo and ocean circulation.</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400" b="0"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Chemistry – Represents atmospheric composition, including greenhouse gases and aerosols.</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400" b="0"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Ocean – Regulates heat distribution through currents and interacts with the atmosphere.</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400" b="0"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Biosphere – Encompasses vegetation, land use, and ecosystems, which affect carbon cycling and climate feedbacks.</a:t>
            </a:r>
          </a:p>
          <a:p>
            <a:pPr marR="0" lvl="0" algn="l" defTabSz="914400" rtl="0" eaLnBrk="1" fontAlgn="auto" latinLnBrk="0" hangingPunct="1">
              <a:lnSpc>
                <a:spcPct val="100000"/>
              </a:lnSpc>
              <a:spcBef>
                <a:spcPts val="0"/>
              </a:spcBef>
              <a:spcAft>
                <a:spcPts val="0"/>
              </a:spcAft>
              <a:buClrTx/>
              <a:buSzTx/>
              <a:tabLst/>
              <a:defRPr/>
            </a:pPr>
            <a:endParaRPr kumimoji="0" lang="en-GB" sz="2400" b="0"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a:p>
            <a:pPr marR="0" lvl="0" algn="l" defTabSz="914400" rtl="0" eaLnBrk="1" fontAlgn="auto" latinLnBrk="0" hangingPunct="1">
              <a:lnSpc>
                <a:spcPct val="100000"/>
              </a:lnSpc>
              <a:spcBef>
                <a:spcPts val="0"/>
              </a:spcBef>
              <a:spcAft>
                <a:spcPts val="0"/>
              </a:spcAft>
              <a:buClrTx/>
              <a:buSzTx/>
              <a:tabLst/>
              <a:defRPr/>
            </a:pPr>
            <a:r>
              <a:rPr kumimoji="0" lang="en-GB" sz="2400" b="0"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Coupling these components is crucial, as their interactions drive climate variability. For example:</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400" b="0"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Ocean currents influence atmospheric circulation patterns.</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400" b="0"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Land-use changes impact surface albedo and greenhouse gas concentrations.</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400" b="0"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Ice dynamics regulate sea level and energy balance.</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a:p>
            <a:pPr marR="0" lvl="0" algn="l" defTabSz="914400" rtl="0" eaLnBrk="1" fontAlgn="auto" latinLnBrk="0" hangingPunct="1">
              <a:lnSpc>
                <a:spcPct val="100000"/>
              </a:lnSpc>
              <a:spcBef>
                <a:spcPts val="0"/>
              </a:spcBef>
              <a:spcAft>
                <a:spcPts val="0"/>
              </a:spcAft>
              <a:buClrTx/>
              <a:buSzTx/>
              <a:tabLst/>
              <a:defRPr/>
            </a:pPr>
            <a:r>
              <a:rPr kumimoji="0" lang="en-GB" sz="2400" b="0"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Without coupling, GCMs would fail to represent critical climate feedback mechanisms, such as the El Niño-Southern Oscillation (ENSO) and long-term climate shifts. Integrating these components ensures a more accurate representation of Earth’s climate system. Very big steps forward have been made in this space over the last 20 years. </a:t>
            </a:r>
          </a:p>
        </p:txBody>
      </p:sp>
    </p:spTree>
    <p:extLst>
      <p:ext uri="{BB962C8B-B14F-4D97-AF65-F5344CB8AC3E}">
        <p14:creationId xmlns:p14="http://schemas.microsoft.com/office/powerpoint/2010/main" val="2716015636"/>
      </p:ext>
    </p:extLst>
  </p:cSld>
  <p:clrMapOvr>
    <a:masterClrMapping/>
  </p:clrMapOvr>
  <mc:AlternateContent xmlns:mc="http://schemas.openxmlformats.org/markup-compatibility/2006" xmlns:p14="http://schemas.microsoft.com/office/powerpoint/2010/main">
    <mc:Choice Requires="p14">
      <p:transition spd="slow" p14:dur="2000" advTm="12715"/>
    </mc:Choice>
    <mc:Fallback xmlns="">
      <p:transition spd="slow" advTm="12715"/>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8E3B85-CA05-A3EC-04CE-55C8411527C8}"/>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500ABFF2-76B5-CBF4-57A4-1B275C92D764}"/>
              </a:ext>
            </a:extLst>
          </p:cNvPr>
          <p:cNvSpPr/>
          <p:nvPr/>
        </p:nvSpPr>
        <p:spPr>
          <a:xfrm>
            <a:off x="14147800"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914445"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
        <p:nvSpPr>
          <p:cNvPr id="5" name="TextBox 14">
            <a:extLst>
              <a:ext uri="{FF2B5EF4-FFF2-40B4-BE49-F238E27FC236}">
                <a16:creationId xmlns:a16="http://schemas.microsoft.com/office/drawing/2014/main" id="{2CC1AA51-D763-2433-D69D-E62C62C571B9}"/>
              </a:ext>
            </a:extLst>
          </p:cNvPr>
          <p:cNvSpPr txBox="1"/>
          <p:nvPr/>
        </p:nvSpPr>
        <p:spPr>
          <a:xfrm>
            <a:off x="584198" y="1026137"/>
            <a:ext cx="11004828" cy="884858"/>
          </a:xfrm>
          <a:prstGeom prst="rect">
            <a:avLst/>
          </a:prstGeom>
        </p:spPr>
        <p:txBody>
          <a:bodyPr wrap="square" lIns="0" tIns="0" rIns="0" bIns="0" rtlCol="0" anchor="t">
            <a:spAutoFit/>
          </a:bodyPr>
          <a:lstStyle/>
          <a:p>
            <a:pPr marL="0" marR="0" lvl="0" indent="0" algn="l" defTabSz="914445" rtl="0" eaLnBrk="1" fontAlgn="auto" latinLnBrk="0" hangingPunct="1">
              <a:lnSpc>
                <a:spcPts val="6860"/>
              </a:lnSpc>
              <a:spcBef>
                <a:spcPts val="0"/>
              </a:spcBef>
              <a:spcAft>
                <a:spcPts val="0"/>
              </a:spcAft>
              <a:buClrTx/>
              <a:buSzTx/>
              <a:buFontTx/>
              <a:buNone/>
              <a:tabLst/>
              <a:defRPr/>
            </a:pPr>
            <a:r>
              <a:rPr kumimoji="0" lang="en-US" sz="6000" b="0" i="1" u="none" strike="noStrike" kern="1200" cap="none" spc="-413" normalizeH="0" baseline="0" noProof="0" dirty="0">
                <a:ln>
                  <a:noFill/>
                </a:ln>
                <a:solidFill>
                  <a:srgbClr val="46245A"/>
                </a:solidFill>
                <a:effectLst/>
                <a:uLnTx/>
                <a:uFillTx/>
                <a:latin typeface="DM Sans Bold"/>
                <a:ea typeface="ＭＳ Ｐゴシック" panose="020B0600070205080204" pitchFamily="34" charset="-128"/>
                <a:cs typeface="+mn-cs"/>
              </a:rPr>
              <a:t>Q5. </a:t>
            </a:r>
          </a:p>
        </p:txBody>
      </p:sp>
      <p:sp>
        <p:nvSpPr>
          <p:cNvPr id="2" name="TextBox 1">
            <a:extLst>
              <a:ext uri="{FF2B5EF4-FFF2-40B4-BE49-F238E27FC236}">
                <a16:creationId xmlns:a16="http://schemas.microsoft.com/office/drawing/2014/main" id="{77C9A62E-C94B-0A46-9845-8D562A937631}"/>
              </a:ext>
            </a:extLst>
          </p:cNvPr>
          <p:cNvSpPr txBox="1"/>
          <p:nvPr/>
        </p:nvSpPr>
        <p:spPr>
          <a:xfrm>
            <a:off x="584197" y="2135706"/>
            <a:ext cx="13572069" cy="95410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dirty="0">
                <a:ln>
                  <a:noFill/>
                </a:ln>
                <a:effectLst/>
                <a:uLnTx/>
                <a:uFillTx/>
                <a:latin typeface="DM Sans"/>
                <a:ea typeface="+mn-ea"/>
                <a:cs typeface="+mn-cs"/>
              </a:rPr>
              <a:t>How can volcanic eruptions serve as a "natural experiment" for studying climate response to aerosol forcing?</a:t>
            </a:r>
          </a:p>
        </p:txBody>
      </p:sp>
    </p:spTree>
    <p:extLst>
      <p:ext uri="{BB962C8B-B14F-4D97-AF65-F5344CB8AC3E}">
        <p14:creationId xmlns:p14="http://schemas.microsoft.com/office/powerpoint/2010/main" val="40700828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F8FDAC3A-A173-0B8B-27A5-116E77AA8780}"/>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ABF8FB6F-F035-145F-7A30-482160CA0D35}"/>
              </a:ext>
            </a:extLst>
          </p:cNvPr>
          <p:cNvSpPr/>
          <p:nvPr/>
        </p:nvSpPr>
        <p:spPr>
          <a:xfrm>
            <a:off x="14554201"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45"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S PGothic" panose="020B0600070205080204" pitchFamily="34" charset="-128"/>
              <a:cs typeface="+mn-cs"/>
            </a:endParaRPr>
          </a:p>
        </p:txBody>
      </p:sp>
      <p:sp>
        <p:nvSpPr>
          <p:cNvPr id="2" name="TextBox 14">
            <a:extLst>
              <a:ext uri="{FF2B5EF4-FFF2-40B4-BE49-F238E27FC236}">
                <a16:creationId xmlns:a16="http://schemas.microsoft.com/office/drawing/2014/main" id="{604B632D-DB69-146C-1084-029B67C62FC5}"/>
              </a:ext>
            </a:extLst>
          </p:cNvPr>
          <p:cNvSpPr txBox="1"/>
          <p:nvPr/>
        </p:nvSpPr>
        <p:spPr>
          <a:xfrm>
            <a:off x="584198" y="1026137"/>
            <a:ext cx="11004828" cy="884858"/>
          </a:xfrm>
          <a:prstGeom prst="rect">
            <a:avLst/>
          </a:prstGeom>
        </p:spPr>
        <p:txBody>
          <a:bodyPr wrap="square" lIns="0" tIns="0" rIns="0" bIns="0" rtlCol="0" anchor="t">
            <a:spAutoFit/>
          </a:bodyPr>
          <a:lstStyle/>
          <a:p>
            <a:pPr marL="0" marR="0" lvl="0" indent="0" algn="l" defTabSz="914445" rtl="0" eaLnBrk="1" fontAlgn="auto" latinLnBrk="0" hangingPunct="1">
              <a:lnSpc>
                <a:spcPts val="6860"/>
              </a:lnSpc>
              <a:spcBef>
                <a:spcPts val="0"/>
              </a:spcBef>
              <a:spcAft>
                <a:spcPts val="0"/>
              </a:spcAft>
              <a:buClrTx/>
              <a:buSzTx/>
              <a:buFontTx/>
              <a:buNone/>
              <a:tabLst/>
              <a:defRPr/>
            </a:pPr>
            <a:r>
              <a:rPr kumimoji="0" lang="en-US" sz="6000" b="0" i="1" u="none" strike="noStrike" kern="1200" cap="none" spc="-413" normalizeH="0" baseline="0" noProof="0" dirty="0">
                <a:ln>
                  <a:noFill/>
                </a:ln>
                <a:solidFill>
                  <a:prstClr val="white"/>
                </a:solidFill>
                <a:effectLst/>
                <a:uLnTx/>
                <a:uFillTx/>
                <a:latin typeface="DM Sans Bold"/>
                <a:ea typeface="ＭＳ Ｐゴシック" panose="020B0600070205080204" pitchFamily="34" charset="-128"/>
                <a:cs typeface="+mn-cs"/>
              </a:rPr>
              <a:t>Q5. </a:t>
            </a:r>
            <a:r>
              <a:rPr kumimoji="0" lang="en-US" sz="6000" b="0" i="1" u="none" strike="noStrike" kern="1200" cap="none" spc="-413" normalizeH="0" baseline="0" noProof="0" dirty="0">
                <a:ln>
                  <a:noFill/>
                </a:ln>
                <a:solidFill>
                  <a:srgbClr val="FF0000"/>
                </a:solidFill>
                <a:effectLst/>
                <a:uLnTx/>
                <a:uFillTx/>
                <a:latin typeface="DM Sans Bold"/>
                <a:ea typeface="ＭＳ Ｐゴシック" panose="020B0600070205080204" pitchFamily="34" charset="-128"/>
                <a:cs typeface="+mn-cs"/>
              </a:rPr>
              <a:t>Answer </a:t>
            </a:r>
            <a:r>
              <a:rPr kumimoji="0" lang="en-US" sz="6000" b="0" i="1" u="none" strike="noStrike" kern="1200" cap="none" spc="-413" normalizeH="0" baseline="0" noProof="0" dirty="0">
                <a:ln>
                  <a:noFill/>
                </a:ln>
                <a:solidFill>
                  <a:prstClr val="white"/>
                </a:solidFill>
                <a:effectLst/>
                <a:uLnTx/>
                <a:uFillTx/>
                <a:latin typeface="DM Sans Bold"/>
                <a:ea typeface="ＭＳ Ｐゴシック" panose="020B0600070205080204" pitchFamily="34" charset="-128"/>
                <a:cs typeface="+mn-cs"/>
              </a:rPr>
              <a:t> </a:t>
            </a:r>
          </a:p>
        </p:txBody>
      </p:sp>
      <p:sp>
        <p:nvSpPr>
          <p:cNvPr id="5" name="TextBox 4">
            <a:extLst>
              <a:ext uri="{FF2B5EF4-FFF2-40B4-BE49-F238E27FC236}">
                <a16:creationId xmlns:a16="http://schemas.microsoft.com/office/drawing/2014/main" id="{420C3AD7-166E-8F97-9B49-031D511EF32E}"/>
              </a:ext>
            </a:extLst>
          </p:cNvPr>
          <p:cNvSpPr txBox="1"/>
          <p:nvPr/>
        </p:nvSpPr>
        <p:spPr>
          <a:xfrm>
            <a:off x="584197" y="2135706"/>
            <a:ext cx="13572069" cy="95410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dirty="0">
                <a:ln>
                  <a:noFill/>
                </a:ln>
                <a:solidFill>
                  <a:srgbClr val="EEECE1"/>
                </a:solidFill>
                <a:effectLst/>
                <a:uLnTx/>
                <a:uFillTx/>
                <a:latin typeface="DM Sans"/>
                <a:ea typeface="+mn-ea"/>
                <a:cs typeface="+mn-cs"/>
              </a:rPr>
              <a:t>How can volcanic eruptions serve as a "natural experiment" for studying climate response to aerosol forcing?</a:t>
            </a:r>
          </a:p>
        </p:txBody>
      </p:sp>
      <p:sp>
        <p:nvSpPr>
          <p:cNvPr id="10" name="TextBox 9">
            <a:extLst>
              <a:ext uri="{FF2B5EF4-FFF2-40B4-BE49-F238E27FC236}">
                <a16:creationId xmlns:a16="http://schemas.microsoft.com/office/drawing/2014/main" id="{D0CB9421-BB12-BAD3-158C-2D9FCF59EE4D}"/>
              </a:ext>
            </a:extLst>
          </p:cNvPr>
          <p:cNvSpPr txBox="1"/>
          <p:nvPr/>
        </p:nvSpPr>
        <p:spPr>
          <a:xfrm>
            <a:off x="584197" y="3796171"/>
            <a:ext cx="10628446" cy="5632311"/>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400" b="0"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Large volcanic eruptions can inject large quantities of aerosols (mostly sulphate) into the stratosphere, which temporarily cool the Earth's surface.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400" b="0"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Aerosols in the stratosphere have a longer lifetime than those in the troposphere, so their cooling effects last longer.</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400" b="0"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These events allow scientists to observe short-term (around a year) climatic responses to changes in radiative forcing.</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2400" dirty="0">
                <a:solidFill>
                  <a:schemeClr val="tx1"/>
                </a:solidFill>
                <a:latin typeface="Calibri" panose="020F0502020204030204" pitchFamily="34" charset="0"/>
                <a:cs typeface="Calibri" panose="020F0502020204030204" pitchFamily="34" charset="0"/>
              </a:rPr>
              <a:t>Smaller eruptions also emit large concentrations of aerosols in to the troposphere, like anthropogenic sources of aerosol.  </a:t>
            </a:r>
            <a:endParaRPr kumimoji="0" lang="en-GB" sz="2400" b="0"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400" b="0"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They provide real world data to test and validate climate model predictions about aerosol impacts.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400" b="0"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Case studies, such as the eruption of Mount Pinatubo in 1991, are important examples where measurable effects have been observed.</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2400" dirty="0">
                <a:solidFill>
                  <a:schemeClr val="tx1"/>
                </a:solidFill>
                <a:latin typeface="Calibri" panose="020F0502020204030204" pitchFamily="34" charset="0"/>
                <a:cs typeface="Calibri" panose="020F0502020204030204" pitchFamily="34" charset="0"/>
              </a:rPr>
              <a:t>Figure to the right shows key examples too</a:t>
            </a:r>
          </a:p>
          <a:p>
            <a:pPr marR="0" lvl="0" algn="l" defTabSz="914400" rtl="0" eaLnBrk="1" fontAlgn="auto" latinLnBrk="0" hangingPunct="1">
              <a:lnSpc>
                <a:spcPct val="100000"/>
              </a:lnSpc>
              <a:spcBef>
                <a:spcPts val="0"/>
              </a:spcBef>
              <a:spcAft>
                <a:spcPts val="0"/>
              </a:spcAft>
              <a:buClrTx/>
              <a:buSzTx/>
              <a:tabLst/>
              <a:defRPr/>
            </a:pPr>
            <a:endParaRPr kumimoji="0" lang="en-GB" sz="2400" b="0"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p:txBody>
      </p:sp>
      <p:pic>
        <p:nvPicPr>
          <p:cNvPr id="11" name="Picture 5" descr="volcano temps.jpg">
            <a:extLst>
              <a:ext uri="{FF2B5EF4-FFF2-40B4-BE49-F238E27FC236}">
                <a16:creationId xmlns:a16="http://schemas.microsoft.com/office/drawing/2014/main" id="{AC7FC8DC-9BFB-1493-5C65-3E208B6D16A6}"/>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1589026" y="2882243"/>
            <a:ext cx="5906231" cy="7090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27917788"/>
      </p:ext>
    </p:extLst>
  </p:cSld>
  <p:clrMapOvr>
    <a:masterClrMapping/>
  </p:clrMapOvr>
  <mc:AlternateContent xmlns:mc="http://schemas.openxmlformats.org/markup-compatibility/2006" xmlns:p14="http://schemas.microsoft.com/office/powerpoint/2010/main">
    <mc:Choice Requires="p14">
      <p:transition spd="slow" p14:dur="2000" advTm="12715"/>
    </mc:Choice>
    <mc:Fallback xmlns="">
      <p:transition spd="slow" advTm="12715"/>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D3367B-836C-8070-D94E-F9CB39E83729}"/>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5C7BE170-5077-7EB3-83CA-E3F6E253082A}"/>
              </a:ext>
            </a:extLst>
          </p:cNvPr>
          <p:cNvSpPr/>
          <p:nvPr/>
        </p:nvSpPr>
        <p:spPr>
          <a:xfrm>
            <a:off x="14147800"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914445"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
        <p:nvSpPr>
          <p:cNvPr id="5" name="TextBox 14">
            <a:extLst>
              <a:ext uri="{FF2B5EF4-FFF2-40B4-BE49-F238E27FC236}">
                <a16:creationId xmlns:a16="http://schemas.microsoft.com/office/drawing/2014/main" id="{C925E9AE-88AB-E43B-338E-7C5F7B8A395D}"/>
              </a:ext>
            </a:extLst>
          </p:cNvPr>
          <p:cNvSpPr txBox="1"/>
          <p:nvPr/>
        </p:nvSpPr>
        <p:spPr>
          <a:xfrm>
            <a:off x="584198" y="1026137"/>
            <a:ext cx="11004828" cy="884858"/>
          </a:xfrm>
          <a:prstGeom prst="rect">
            <a:avLst/>
          </a:prstGeom>
        </p:spPr>
        <p:txBody>
          <a:bodyPr wrap="square" lIns="0" tIns="0" rIns="0" bIns="0" rtlCol="0" anchor="t">
            <a:spAutoFit/>
          </a:bodyPr>
          <a:lstStyle/>
          <a:p>
            <a:pPr marL="0" marR="0" lvl="0" indent="0" algn="l" defTabSz="914445" rtl="0" eaLnBrk="1" fontAlgn="auto" latinLnBrk="0" hangingPunct="1">
              <a:lnSpc>
                <a:spcPts val="6860"/>
              </a:lnSpc>
              <a:spcBef>
                <a:spcPts val="0"/>
              </a:spcBef>
              <a:spcAft>
                <a:spcPts val="0"/>
              </a:spcAft>
              <a:buClrTx/>
              <a:buSzTx/>
              <a:buFontTx/>
              <a:buNone/>
              <a:tabLst/>
              <a:defRPr/>
            </a:pPr>
            <a:r>
              <a:rPr kumimoji="0" lang="en-US" sz="6000" b="0" i="1" u="none" strike="noStrike" kern="1200" cap="none" spc="-413" normalizeH="0" baseline="0" noProof="0" dirty="0">
                <a:ln>
                  <a:noFill/>
                </a:ln>
                <a:solidFill>
                  <a:srgbClr val="46245A"/>
                </a:solidFill>
                <a:effectLst/>
                <a:uLnTx/>
                <a:uFillTx/>
                <a:latin typeface="DM Sans Bold"/>
                <a:ea typeface="ＭＳ Ｐゴシック" panose="020B0600070205080204" pitchFamily="34" charset="-128"/>
                <a:cs typeface="+mn-cs"/>
              </a:rPr>
              <a:t>Q6. </a:t>
            </a:r>
          </a:p>
        </p:txBody>
      </p:sp>
      <p:sp>
        <p:nvSpPr>
          <p:cNvPr id="2" name="TextBox 1">
            <a:extLst>
              <a:ext uri="{FF2B5EF4-FFF2-40B4-BE49-F238E27FC236}">
                <a16:creationId xmlns:a16="http://schemas.microsoft.com/office/drawing/2014/main" id="{AF89ABED-9363-9256-FD70-1CD67E7AB6AF}"/>
              </a:ext>
            </a:extLst>
          </p:cNvPr>
          <p:cNvSpPr txBox="1"/>
          <p:nvPr/>
        </p:nvSpPr>
        <p:spPr>
          <a:xfrm>
            <a:off x="584198" y="2074144"/>
            <a:ext cx="11751733" cy="95410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dirty="0">
                <a:ln>
                  <a:noFill/>
                </a:ln>
                <a:effectLst/>
                <a:uLnTx/>
                <a:uFillTx/>
                <a:latin typeface="DM Sans"/>
                <a:ea typeface="+mn-ea"/>
                <a:cs typeface="+mn-cs"/>
              </a:rPr>
              <a:t>Can natural variability explain observed trends in global warming? Why or why not?</a:t>
            </a:r>
          </a:p>
        </p:txBody>
      </p:sp>
    </p:spTree>
    <p:extLst>
      <p:ext uri="{BB962C8B-B14F-4D97-AF65-F5344CB8AC3E}">
        <p14:creationId xmlns:p14="http://schemas.microsoft.com/office/powerpoint/2010/main" val="14680758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1BB5D09A-9284-7E5F-FFF5-3EE66FEF4B29}"/>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E5DA905F-1B11-86BF-7CCA-DC8309938657}"/>
              </a:ext>
            </a:extLst>
          </p:cNvPr>
          <p:cNvSpPr/>
          <p:nvPr/>
        </p:nvSpPr>
        <p:spPr>
          <a:xfrm>
            <a:off x="14554201"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45"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S PGothic" panose="020B0600070205080204" pitchFamily="34" charset="-128"/>
              <a:cs typeface="+mn-cs"/>
            </a:endParaRPr>
          </a:p>
        </p:txBody>
      </p:sp>
      <p:sp>
        <p:nvSpPr>
          <p:cNvPr id="2" name="TextBox 14">
            <a:extLst>
              <a:ext uri="{FF2B5EF4-FFF2-40B4-BE49-F238E27FC236}">
                <a16:creationId xmlns:a16="http://schemas.microsoft.com/office/drawing/2014/main" id="{B1C66A9E-D6E6-8F21-EB02-82929298AB3E}"/>
              </a:ext>
            </a:extLst>
          </p:cNvPr>
          <p:cNvSpPr txBox="1"/>
          <p:nvPr/>
        </p:nvSpPr>
        <p:spPr>
          <a:xfrm>
            <a:off x="584198" y="1026137"/>
            <a:ext cx="11004828" cy="884858"/>
          </a:xfrm>
          <a:prstGeom prst="rect">
            <a:avLst/>
          </a:prstGeom>
        </p:spPr>
        <p:txBody>
          <a:bodyPr wrap="square" lIns="0" tIns="0" rIns="0" bIns="0" rtlCol="0" anchor="t">
            <a:spAutoFit/>
          </a:bodyPr>
          <a:lstStyle/>
          <a:p>
            <a:pPr marL="0" marR="0" lvl="0" indent="0" algn="l" defTabSz="914445" rtl="0" eaLnBrk="1" fontAlgn="auto" latinLnBrk="0" hangingPunct="1">
              <a:lnSpc>
                <a:spcPts val="6860"/>
              </a:lnSpc>
              <a:spcBef>
                <a:spcPts val="0"/>
              </a:spcBef>
              <a:spcAft>
                <a:spcPts val="0"/>
              </a:spcAft>
              <a:buClrTx/>
              <a:buSzTx/>
              <a:buFontTx/>
              <a:buNone/>
              <a:tabLst/>
              <a:defRPr/>
            </a:pPr>
            <a:r>
              <a:rPr kumimoji="0" lang="en-US" sz="6000" b="0" i="1" u="none" strike="noStrike" kern="1200" cap="none" spc="-413" normalizeH="0" baseline="0" noProof="0" dirty="0">
                <a:ln>
                  <a:noFill/>
                </a:ln>
                <a:solidFill>
                  <a:prstClr val="white"/>
                </a:solidFill>
                <a:effectLst/>
                <a:uLnTx/>
                <a:uFillTx/>
                <a:latin typeface="DM Sans Bold"/>
                <a:ea typeface="ＭＳ Ｐゴシック" panose="020B0600070205080204" pitchFamily="34" charset="-128"/>
                <a:cs typeface="+mn-cs"/>
              </a:rPr>
              <a:t>Q6. </a:t>
            </a:r>
            <a:r>
              <a:rPr kumimoji="0" lang="en-US" sz="6000" b="0" i="1" u="none" strike="noStrike" kern="1200" cap="none" spc="-413" normalizeH="0" baseline="0" noProof="0" dirty="0">
                <a:ln>
                  <a:noFill/>
                </a:ln>
                <a:solidFill>
                  <a:srgbClr val="FF0000"/>
                </a:solidFill>
                <a:effectLst/>
                <a:uLnTx/>
                <a:uFillTx/>
                <a:latin typeface="DM Sans Bold"/>
                <a:ea typeface="ＭＳ Ｐゴシック" panose="020B0600070205080204" pitchFamily="34" charset="-128"/>
                <a:cs typeface="+mn-cs"/>
              </a:rPr>
              <a:t>Answer </a:t>
            </a:r>
            <a:r>
              <a:rPr kumimoji="0" lang="en-US" sz="6000" b="0" i="1" u="none" strike="noStrike" kern="1200" cap="none" spc="-413" normalizeH="0" baseline="0" noProof="0" dirty="0">
                <a:ln>
                  <a:noFill/>
                </a:ln>
                <a:solidFill>
                  <a:prstClr val="white"/>
                </a:solidFill>
                <a:effectLst/>
                <a:uLnTx/>
                <a:uFillTx/>
                <a:latin typeface="DM Sans Bold"/>
                <a:ea typeface="ＭＳ Ｐゴシック" panose="020B0600070205080204" pitchFamily="34" charset="-128"/>
                <a:cs typeface="+mn-cs"/>
              </a:rPr>
              <a:t> </a:t>
            </a:r>
          </a:p>
        </p:txBody>
      </p:sp>
      <p:sp>
        <p:nvSpPr>
          <p:cNvPr id="6" name="TextBox 5">
            <a:extLst>
              <a:ext uri="{FF2B5EF4-FFF2-40B4-BE49-F238E27FC236}">
                <a16:creationId xmlns:a16="http://schemas.microsoft.com/office/drawing/2014/main" id="{03F25462-154C-5CA6-C063-907346A97654}"/>
              </a:ext>
            </a:extLst>
          </p:cNvPr>
          <p:cNvSpPr txBox="1"/>
          <p:nvPr/>
        </p:nvSpPr>
        <p:spPr>
          <a:xfrm>
            <a:off x="584198" y="2074144"/>
            <a:ext cx="11751733" cy="95410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dirty="0">
                <a:ln>
                  <a:noFill/>
                </a:ln>
                <a:solidFill>
                  <a:prstClr val="white"/>
                </a:solidFill>
                <a:effectLst/>
                <a:uLnTx/>
                <a:uFillTx/>
                <a:latin typeface="DM Sans"/>
                <a:ea typeface="+mn-ea"/>
                <a:cs typeface="+mn-cs"/>
              </a:rPr>
              <a:t>Can natural variability explain observed trends in global warming? Why or why not?</a:t>
            </a:r>
          </a:p>
        </p:txBody>
      </p:sp>
      <p:sp>
        <p:nvSpPr>
          <p:cNvPr id="8" name="TextBox 7">
            <a:extLst>
              <a:ext uri="{FF2B5EF4-FFF2-40B4-BE49-F238E27FC236}">
                <a16:creationId xmlns:a16="http://schemas.microsoft.com/office/drawing/2014/main" id="{69D1C114-5A32-A678-DCA9-4A2A65D08C90}"/>
              </a:ext>
            </a:extLst>
          </p:cNvPr>
          <p:cNvSpPr txBox="1"/>
          <p:nvPr/>
        </p:nvSpPr>
        <p:spPr>
          <a:xfrm>
            <a:off x="584197" y="3378954"/>
            <a:ext cx="11751733" cy="6001643"/>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400" b="0"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Earth’s climate history has been reconstructed using indirect records such as ice cores, tree rings, glacier lengths, pollen remains, and ocean sediments, alongside studies of Earth’s orbital changes.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400" b="0"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These records reveal natural climate variability over long timescales, but they do not explain the warming observed since the 1950s. Instead, it is scientifically established that human activities have been the primary driver of this warming.</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400" b="0"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Key greenhouse gases, carbon dioxide, methane, and nitrous oxide have risen significantly since due to human activities. </a:t>
            </a:r>
            <a:r>
              <a:rPr kumimoji="0" lang="en-GB" sz="2400" b="0" i="1"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Can you remember how much by?</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400" b="0"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Their concentrations are now higher than at any point in the last 800,000 years. These emissions have intensified the greenhouse effect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400" b="0"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While natural processes have always influenced climate, they cannot account for the recent warming.</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2400" dirty="0">
                <a:solidFill>
                  <a:schemeClr val="tx1"/>
                </a:solidFill>
                <a:latin typeface="Calibri" panose="020F0502020204030204" pitchFamily="34" charset="0"/>
                <a:cs typeface="Calibri" panose="020F0502020204030204" pitchFamily="34" charset="0"/>
              </a:rPr>
              <a:t>This is all confirmed by the IPCC</a:t>
            </a:r>
            <a:endParaRPr kumimoji="0" lang="en-GB" sz="2400" b="0"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400" b="0" i="0" u="none" strike="noStrike" kern="120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Solar variations, for instance, can affect the amount of energy reaching Earth, but satellite data since 1978 show no net increase in solar output, even as global temperatures continue to rise.</a:t>
            </a:r>
          </a:p>
        </p:txBody>
      </p:sp>
      <p:pic>
        <p:nvPicPr>
          <p:cNvPr id="7" name="Picture 6" descr="A graph of different colored lines&#10;&#10;AI-generated content may be incorrect.">
            <a:extLst>
              <a:ext uri="{FF2B5EF4-FFF2-40B4-BE49-F238E27FC236}">
                <a16:creationId xmlns:a16="http://schemas.microsoft.com/office/drawing/2014/main" id="{F0853FE2-E2FC-D517-277C-870C0DA7D16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469877" y="4217436"/>
            <a:ext cx="5666338" cy="3694924"/>
          </a:xfrm>
          <a:prstGeom prst="rect">
            <a:avLst/>
          </a:prstGeom>
        </p:spPr>
      </p:pic>
    </p:spTree>
    <p:extLst>
      <p:ext uri="{BB962C8B-B14F-4D97-AF65-F5344CB8AC3E}">
        <p14:creationId xmlns:p14="http://schemas.microsoft.com/office/powerpoint/2010/main" val="4017811469"/>
      </p:ext>
    </p:extLst>
  </p:cSld>
  <p:clrMapOvr>
    <a:masterClrMapping/>
  </p:clrMapOvr>
  <mc:AlternateContent xmlns:mc="http://schemas.openxmlformats.org/markup-compatibility/2006" xmlns:p14="http://schemas.microsoft.com/office/powerpoint/2010/main">
    <mc:Choice Requires="p14">
      <p:transition spd="slow" p14:dur="2000" advTm="12715"/>
    </mc:Choice>
    <mc:Fallback xmlns="">
      <p:transition spd="slow" advTm="12715"/>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A4FD1-4B69-5146-5924-3A8031D07E28}"/>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A24A06CF-CECB-740E-D429-DAAEA7A3DAA5}"/>
              </a:ext>
            </a:extLst>
          </p:cNvPr>
          <p:cNvSpPr/>
          <p:nvPr/>
        </p:nvSpPr>
        <p:spPr>
          <a:xfrm>
            <a:off x="14147800"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914445"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
        <p:nvSpPr>
          <p:cNvPr id="5" name="TextBox 14">
            <a:extLst>
              <a:ext uri="{FF2B5EF4-FFF2-40B4-BE49-F238E27FC236}">
                <a16:creationId xmlns:a16="http://schemas.microsoft.com/office/drawing/2014/main" id="{69B387B1-CE8E-49BD-FD51-2323949A5167}"/>
              </a:ext>
            </a:extLst>
          </p:cNvPr>
          <p:cNvSpPr txBox="1"/>
          <p:nvPr/>
        </p:nvSpPr>
        <p:spPr>
          <a:xfrm>
            <a:off x="584198" y="1026137"/>
            <a:ext cx="11004828" cy="884858"/>
          </a:xfrm>
          <a:prstGeom prst="rect">
            <a:avLst/>
          </a:prstGeom>
        </p:spPr>
        <p:txBody>
          <a:bodyPr wrap="square" lIns="0" tIns="0" rIns="0" bIns="0" rtlCol="0" anchor="t">
            <a:spAutoFit/>
          </a:bodyPr>
          <a:lstStyle/>
          <a:p>
            <a:pPr marL="0" marR="0" lvl="0" indent="0" algn="l" defTabSz="914445" rtl="0" eaLnBrk="1" fontAlgn="auto" latinLnBrk="0" hangingPunct="1">
              <a:lnSpc>
                <a:spcPts val="6860"/>
              </a:lnSpc>
              <a:spcBef>
                <a:spcPts val="0"/>
              </a:spcBef>
              <a:spcAft>
                <a:spcPts val="0"/>
              </a:spcAft>
              <a:buClrTx/>
              <a:buSzTx/>
              <a:buFontTx/>
              <a:buNone/>
              <a:tabLst/>
              <a:defRPr/>
            </a:pPr>
            <a:r>
              <a:rPr kumimoji="0" lang="en-US" sz="6000" b="0" i="1" u="none" strike="noStrike" kern="1200" cap="none" spc="-413" normalizeH="0" baseline="0" noProof="0" dirty="0">
                <a:ln>
                  <a:noFill/>
                </a:ln>
                <a:solidFill>
                  <a:srgbClr val="46245A"/>
                </a:solidFill>
                <a:effectLst/>
                <a:uLnTx/>
                <a:uFillTx/>
                <a:latin typeface="DM Sans Bold"/>
                <a:ea typeface="ＭＳ Ｐゴシック" panose="020B0600070205080204" pitchFamily="34" charset="-128"/>
                <a:cs typeface="+mn-cs"/>
              </a:rPr>
              <a:t>Q7. </a:t>
            </a:r>
          </a:p>
        </p:txBody>
      </p:sp>
      <p:sp>
        <p:nvSpPr>
          <p:cNvPr id="4" name="TextBox 3">
            <a:extLst>
              <a:ext uri="{FF2B5EF4-FFF2-40B4-BE49-F238E27FC236}">
                <a16:creationId xmlns:a16="http://schemas.microsoft.com/office/drawing/2014/main" id="{A6A9C998-8470-7E85-2C48-D60BE819E168}"/>
              </a:ext>
            </a:extLst>
          </p:cNvPr>
          <p:cNvSpPr txBox="1"/>
          <p:nvPr/>
        </p:nvSpPr>
        <p:spPr>
          <a:xfrm>
            <a:off x="584197" y="2135706"/>
            <a:ext cx="13572069"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effectLst/>
                <a:uLnTx/>
                <a:uFillTx/>
                <a:latin typeface="DM Sans Bold"/>
                <a:ea typeface="+mn-ea"/>
                <a:cs typeface="+mn-cs"/>
              </a:rPr>
              <a:t>What do we need to improve future GCMs?</a:t>
            </a:r>
            <a:endParaRPr kumimoji="0" lang="en-GB" sz="2800" b="1" i="0" u="none" strike="noStrike" kern="1200" cap="none" spc="0" normalizeH="0" baseline="0" noProof="0" dirty="0">
              <a:ln>
                <a:noFill/>
              </a:ln>
              <a:effectLst/>
              <a:uLnTx/>
              <a:uFillTx/>
              <a:latin typeface="DM Sans"/>
              <a:ea typeface="+mn-ea"/>
              <a:cs typeface="+mn-cs"/>
            </a:endParaRPr>
          </a:p>
        </p:txBody>
      </p:sp>
    </p:spTree>
    <p:extLst>
      <p:ext uri="{BB962C8B-B14F-4D97-AF65-F5344CB8AC3E}">
        <p14:creationId xmlns:p14="http://schemas.microsoft.com/office/powerpoint/2010/main" val="39785358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EEB20A2C-251D-7251-87E8-8952839EEA0D}"/>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708A5EC7-BF9F-AE46-4488-907AACC6C60A}"/>
              </a:ext>
            </a:extLst>
          </p:cNvPr>
          <p:cNvSpPr/>
          <p:nvPr/>
        </p:nvSpPr>
        <p:spPr>
          <a:xfrm>
            <a:off x="14554201"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45"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S PGothic" panose="020B0600070205080204" pitchFamily="34" charset="-128"/>
              <a:cs typeface="+mn-cs"/>
            </a:endParaRPr>
          </a:p>
        </p:txBody>
      </p:sp>
      <p:sp>
        <p:nvSpPr>
          <p:cNvPr id="2" name="TextBox 14">
            <a:extLst>
              <a:ext uri="{FF2B5EF4-FFF2-40B4-BE49-F238E27FC236}">
                <a16:creationId xmlns:a16="http://schemas.microsoft.com/office/drawing/2014/main" id="{4D10B356-A97D-EE4E-FDBB-836BFC5C7357}"/>
              </a:ext>
            </a:extLst>
          </p:cNvPr>
          <p:cNvSpPr txBox="1"/>
          <p:nvPr/>
        </p:nvSpPr>
        <p:spPr>
          <a:xfrm>
            <a:off x="584198" y="1026137"/>
            <a:ext cx="11004828" cy="884858"/>
          </a:xfrm>
          <a:prstGeom prst="rect">
            <a:avLst/>
          </a:prstGeom>
        </p:spPr>
        <p:txBody>
          <a:bodyPr wrap="square" lIns="0" tIns="0" rIns="0" bIns="0" rtlCol="0" anchor="t">
            <a:spAutoFit/>
          </a:bodyPr>
          <a:lstStyle/>
          <a:p>
            <a:pPr marL="0" marR="0" lvl="0" indent="0" algn="l" defTabSz="914445" rtl="0" eaLnBrk="1" fontAlgn="auto" latinLnBrk="0" hangingPunct="1">
              <a:lnSpc>
                <a:spcPts val="6860"/>
              </a:lnSpc>
              <a:spcBef>
                <a:spcPts val="0"/>
              </a:spcBef>
              <a:spcAft>
                <a:spcPts val="0"/>
              </a:spcAft>
              <a:buClrTx/>
              <a:buSzTx/>
              <a:buFontTx/>
              <a:buNone/>
              <a:tabLst/>
              <a:defRPr/>
            </a:pPr>
            <a:r>
              <a:rPr kumimoji="0" lang="en-US" sz="6000" b="0" i="1" u="none" strike="noStrike" kern="1200" cap="none" spc="-413" normalizeH="0" baseline="0" noProof="0" dirty="0">
                <a:ln>
                  <a:noFill/>
                </a:ln>
                <a:solidFill>
                  <a:prstClr val="white"/>
                </a:solidFill>
                <a:effectLst/>
                <a:uLnTx/>
                <a:uFillTx/>
                <a:latin typeface="DM Sans Bold"/>
                <a:ea typeface="ＭＳ Ｐゴシック" panose="020B0600070205080204" pitchFamily="34" charset="-128"/>
                <a:cs typeface="+mn-cs"/>
              </a:rPr>
              <a:t>Q7. </a:t>
            </a:r>
            <a:r>
              <a:rPr kumimoji="0" lang="en-US" sz="6000" b="0" i="1" u="none" strike="noStrike" kern="1200" cap="none" spc="-413" normalizeH="0" baseline="0" noProof="0" dirty="0">
                <a:ln>
                  <a:noFill/>
                </a:ln>
                <a:solidFill>
                  <a:srgbClr val="FF0000"/>
                </a:solidFill>
                <a:effectLst/>
                <a:uLnTx/>
                <a:uFillTx/>
                <a:latin typeface="DM Sans Bold"/>
                <a:ea typeface="ＭＳ Ｐゴシック" panose="020B0600070205080204" pitchFamily="34" charset="-128"/>
                <a:cs typeface="+mn-cs"/>
              </a:rPr>
              <a:t>Answer </a:t>
            </a:r>
            <a:r>
              <a:rPr kumimoji="0" lang="en-US" sz="6000" b="0" i="1" u="none" strike="noStrike" kern="1200" cap="none" spc="-413" normalizeH="0" baseline="0" noProof="0" dirty="0">
                <a:ln>
                  <a:noFill/>
                </a:ln>
                <a:solidFill>
                  <a:prstClr val="white"/>
                </a:solidFill>
                <a:effectLst/>
                <a:uLnTx/>
                <a:uFillTx/>
                <a:latin typeface="DM Sans Bold"/>
                <a:ea typeface="ＭＳ Ｐゴシック" panose="020B0600070205080204" pitchFamily="34" charset="-128"/>
                <a:cs typeface="+mn-cs"/>
              </a:rPr>
              <a:t> </a:t>
            </a:r>
          </a:p>
        </p:txBody>
      </p:sp>
      <p:sp>
        <p:nvSpPr>
          <p:cNvPr id="5" name="TextBox 4">
            <a:extLst>
              <a:ext uri="{FF2B5EF4-FFF2-40B4-BE49-F238E27FC236}">
                <a16:creationId xmlns:a16="http://schemas.microsoft.com/office/drawing/2014/main" id="{B08A0FDA-4FFE-4DD6-B889-E73FDE7FCD37}"/>
              </a:ext>
            </a:extLst>
          </p:cNvPr>
          <p:cNvSpPr txBox="1"/>
          <p:nvPr/>
        </p:nvSpPr>
        <p:spPr>
          <a:xfrm>
            <a:off x="584197" y="2135706"/>
            <a:ext cx="13572069"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F8F8F8"/>
                </a:solidFill>
                <a:effectLst/>
                <a:uLnTx/>
                <a:uFillTx/>
                <a:latin typeface="DM Sans Bold"/>
                <a:ea typeface="+mn-ea"/>
                <a:cs typeface="+mn-cs"/>
              </a:rPr>
              <a:t>What do we need to improve future GCMs?</a:t>
            </a:r>
            <a:endParaRPr kumimoji="0" lang="en-GB" sz="2800" b="1" i="0" u="none" strike="noStrike" kern="1200" cap="none" spc="0" normalizeH="0" baseline="0" noProof="0" dirty="0">
              <a:ln>
                <a:noFill/>
              </a:ln>
              <a:solidFill>
                <a:prstClr val="white"/>
              </a:solidFill>
              <a:effectLst/>
              <a:uLnTx/>
              <a:uFillTx/>
              <a:latin typeface="DM Sans"/>
              <a:ea typeface="+mn-ea"/>
              <a:cs typeface="+mn-cs"/>
            </a:endParaRPr>
          </a:p>
        </p:txBody>
      </p:sp>
      <p:sp>
        <p:nvSpPr>
          <p:cNvPr id="10" name="TextBox 9">
            <a:extLst>
              <a:ext uri="{FF2B5EF4-FFF2-40B4-BE49-F238E27FC236}">
                <a16:creationId xmlns:a16="http://schemas.microsoft.com/office/drawing/2014/main" id="{D775B07B-2BCE-951D-03FC-E9AB7CB40BA6}"/>
              </a:ext>
            </a:extLst>
          </p:cNvPr>
          <p:cNvSpPr txBox="1"/>
          <p:nvPr/>
        </p:nvSpPr>
        <p:spPr>
          <a:xfrm>
            <a:off x="584197" y="3331507"/>
            <a:ext cx="12322334" cy="452431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marL="342900" indent="-342900" algn="l">
              <a:buFont typeface="Arial" panose="020B0604020202020204" pitchFamily="34" charset="0"/>
              <a:buChar char="•"/>
            </a:pPr>
            <a:r>
              <a:rPr lang="en-GB" sz="2400" i="0" u="none" strike="noStrike" dirty="0">
                <a:solidFill>
                  <a:schemeClr val="tx1"/>
                </a:solidFill>
                <a:effectLst/>
                <a:latin typeface="Calibri" panose="020F0502020204030204" pitchFamily="34" charset="0"/>
                <a:cs typeface="Calibri" panose="020F0502020204030204" pitchFamily="34" charset="0"/>
              </a:rPr>
              <a:t>Climate models are continually evolving with advances in technology and computing power, improving accuracy, resolution, and reducing uncertainties.</a:t>
            </a:r>
          </a:p>
          <a:p>
            <a:pPr marL="342900" indent="-342900" algn="l">
              <a:buFont typeface="Arial" panose="020B0604020202020204" pitchFamily="34" charset="0"/>
              <a:buChar char="•"/>
            </a:pPr>
            <a:r>
              <a:rPr lang="en-GB" sz="2400" i="0" u="none" strike="noStrike" dirty="0">
                <a:solidFill>
                  <a:schemeClr val="tx1"/>
                </a:solidFill>
                <a:effectLst/>
                <a:latin typeface="Calibri" panose="020F0502020204030204" pitchFamily="34" charset="0"/>
                <a:cs typeface="Calibri" panose="020F0502020204030204" pitchFamily="34" charset="0"/>
              </a:rPr>
              <a:t>Greater availability of observational data, particularly from the oceans, is crucial for refining models, though gaps remain. </a:t>
            </a:r>
          </a:p>
          <a:p>
            <a:pPr marL="342900" indent="-342900" algn="l">
              <a:buFont typeface="Arial" panose="020B0604020202020204" pitchFamily="34" charset="0"/>
              <a:buChar char="•"/>
            </a:pPr>
            <a:r>
              <a:rPr lang="en-GB" sz="2400" i="0" u="none" strike="noStrike" dirty="0">
                <a:solidFill>
                  <a:schemeClr val="tx1"/>
                </a:solidFill>
                <a:effectLst/>
                <a:latin typeface="Calibri" panose="020F0502020204030204" pitchFamily="34" charset="0"/>
                <a:cs typeface="Calibri" panose="020F0502020204030204" pitchFamily="34" charset="0"/>
              </a:rPr>
              <a:t>Using recent data ensures models reflect current climate conditions for more reliable projections.</a:t>
            </a:r>
          </a:p>
          <a:p>
            <a:pPr marL="342900" indent="-342900" algn="l">
              <a:buFont typeface="Arial" panose="020B0604020202020204" pitchFamily="34" charset="0"/>
              <a:buChar char="•"/>
            </a:pPr>
            <a:r>
              <a:rPr lang="en-GB" sz="2400" i="0" u="none" strike="noStrike" dirty="0">
                <a:solidFill>
                  <a:schemeClr val="tx1"/>
                </a:solidFill>
                <a:effectLst/>
                <a:latin typeface="Calibri" panose="020F0502020204030204" pitchFamily="34" charset="0"/>
                <a:cs typeface="Calibri" panose="020F0502020204030204" pitchFamily="34" charset="0"/>
              </a:rPr>
              <a:t>Enhanced computing power allows for higher-resolution models, faster computations, and efficient testing of multiple scenarios. </a:t>
            </a:r>
          </a:p>
          <a:p>
            <a:pPr marL="342900" indent="-342900" algn="l">
              <a:buFont typeface="Arial" panose="020B0604020202020204" pitchFamily="34" charset="0"/>
              <a:buChar char="•"/>
            </a:pPr>
            <a:r>
              <a:rPr lang="en-GB" sz="2400" i="0" u="none" strike="noStrike" dirty="0">
                <a:solidFill>
                  <a:schemeClr val="tx1"/>
                </a:solidFill>
                <a:effectLst/>
                <a:latin typeface="Calibri" panose="020F0502020204030204" pitchFamily="34" charset="0"/>
                <a:cs typeface="Calibri" panose="020F0502020204030204" pitchFamily="34" charset="0"/>
              </a:rPr>
              <a:t>Emerging AI and machine learning techniques further improve model accuracy by identifying patterns in complex processes.</a:t>
            </a:r>
          </a:p>
          <a:p>
            <a:pPr marL="342900" indent="-342900" algn="l">
              <a:buFont typeface="Arial" panose="020B0604020202020204" pitchFamily="34" charset="0"/>
              <a:buChar char="•"/>
            </a:pPr>
            <a:r>
              <a:rPr lang="en-GB" sz="2400" i="0" u="none" strike="noStrike" dirty="0">
                <a:solidFill>
                  <a:schemeClr val="tx1"/>
                </a:solidFill>
                <a:effectLst/>
                <a:latin typeface="Calibri" panose="020F0502020204030204" pitchFamily="34" charset="0"/>
                <a:cs typeface="Calibri" panose="020F0502020204030204" pitchFamily="34" charset="0"/>
              </a:rPr>
              <a:t>Despite limitations, advanced climate models provide critical insights for mitigating climate change and planning for a sustainable future.</a:t>
            </a:r>
          </a:p>
        </p:txBody>
      </p:sp>
    </p:spTree>
    <p:extLst>
      <p:ext uri="{BB962C8B-B14F-4D97-AF65-F5344CB8AC3E}">
        <p14:creationId xmlns:p14="http://schemas.microsoft.com/office/powerpoint/2010/main" val="112695891"/>
      </p:ext>
    </p:extLst>
  </p:cSld>
  <p:clrMapOvr>
    <a:masterClrMapping/>
  </p:clrMapOvr>
  <mc:AlternateContent xmlns:mc="http://schemas.openxmlformats.org/markup-compatibility/2006" xmlns:p14="http://schemas.microsoft.com/office/powerpoint/2010/main">
    <mc:Choice Requires="p14">
      <p:transition spd="slow" p14:dur="2000" advTm="12715"/>
    </mc:Choice>
    <mc:Fallback xmlns="">
      <p:transition spd="slow" advTm="12715"/>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C1BFC-FE01-21EB-832B-AC9C333BA957}"/>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1BAD4002-1BE6-9959-4BC8-B18BF3E91D01}"/>
              </a:ext>
            </a:extLst>
          </p:cNvPr>
          <p:cNvSpPr/>
          <p:nvPr/>
        </p:nvSpPr>
        <p:spPr>
          <a:xfrm>
            <a:off x="14147800"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914445"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
        <p:nvSpPr>
          <p:cNvPr id="5" name="TextBox 14">
            <a:extLst>
              <a:ext uri="{FF2B5EF4-FFF2-40B4-BE49-F238E27FC236}">
                <a16:creationId xmlns:a16="http://schemas.microsoft.com/office/drawing/2014/main" id="{BB50905B-F16B-A742-8643-A51C9236E48F}"/>
              </a:ext>
            </a:extLst>
          </p:cNvPr>
          <p:cNvSpPr txBox="1"/>
          <p:nvPr/>
        </p:nvSpPr>
        <p:spPr>
          <a:xfrm>
            <a:off x="584198" y="1026137"/>
            <a:ext cx="11004828" cy="884858"/>
          </a:xfrm>
          <a:prstGeom prst="rect">
            <a:avLst/>
          </a:prstGeom>
        </p:spPr>
        <p:txBody>
          <a:bodyPr wrap="square" lIns="0" tIns="0" rIns="0" bIns="0" rtlCol="0" anchor="t">
            <a:spAutoFit/>
          </a:bodyPr>
          <a:lstStyle/>
          <a:p>
            <a:pPr marL="0" marR="0" lvl="0" indent="0" algn="l" defTabSz="914445" rtl="0" eaLnBrk="1" fontAlgn="auto" latinLnBrk="0" hangingPunct="1">
              <a:lnSpc>
                <a:spcPts val="6860"/>
              </a:lnSpc>
              <a:spcBef>
                <a:spcPts val="0"/>
              </a:spcBef>
              <a:spcAft>
                <a:spcPts val="0"/>
              </a:spcAft>
              <a:buClrTx/>
              <a:buSzTx/>
              <a:buFontTx/>
              <a:buNone/>
              <a:tabLst/>
              <a:defRPr/>
            </a:pPr>
            <a:r>
              <a:rPr kumimoji="0" lang="en-US" sz="6000" b="0" i="1" u="none" strike="noStrike" kern="1200" cap="none" spc="-413" normalizeH="0" baseline="0" noProof="0" dirty="0">
                <a:ln>
                  <a:noFill/>
                </a:ln>
                <a:solidFill>
                  <a:srgbClr val="46245A"/>
                </a:solidFill>
                <a:effectLst/>
                <a:uLnTx/>
                <a:uFillTx/>
                <a:latin typeface="DM Sans Bold"/>
                <a:ea typeface="ＭＳ Ｐゴシック" panose="020B0600070205080204" pitchFamily="34" charset="-128"/>
                <a:cs typeface="+mn-cs"/>
              </a:rPr>
              <a:t>Q8. </a:t>
            </a:r>
          </a:p>
        </p:txBody>
      </p:sp>
      <p:sp>
        <p:nvSpPr>
          <p:cNvPr id="4" name="TextBox 3">
            <a:extLst>
              <a:ext uri="{FF2B5EF4-FFF2-40B4-BE49-F238E27FC236}">
                <a16:creationId xmlns:a16="http://schemas.microsoft.com/office/drawing/2014/main" id="{E85C821F-3348-B47F-D58D-276BF5AD84E0}"/>
              </a:ext>
            </a:extLst>
          </p:cNvPr>
          <p:cNvSpPr txBox="1"/>
          <p:nvPr/>
        </p:nvSpPr>
        <p:spPr>
          <a:xfrm>
            <a:off x="584197" y="2135706"/>
            <a:ext cx="14485818" cy="95410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effectLst/>
                <a:uLnTx/>
                <a:uFillTx/>
                <a:latin typeface="DM Sans Bold"/>
                <a:ea typeface="+mn-ea"/>
                <a:cs typeface="+mn-cs"/>
              </a:rPr>
              <a:t>How might improvements in observations (e.g., satellites, ocean measurements) help improve climate models?</a:t>
            </a:r>
          </a:p>
        </p:txBody>
      </p:sp>
    </p:spTree>
    <p:extLst>
      <p:ext uri="{BB962C8B-B14F-4D97-AF65-F5344CB8AC3E}">
        <p14:creationId xmlns:p14="http://schemas.microsoft.com/office/powerpoint/2010/main" val="34588185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6CF63EC0-13FD-DDE8-51A2-B0CCA51506F6}"/>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2B501EFC-A8B2-11E5-6E5D-074CEE859833}"/>
              </a:ext>
            </a:extLst>
          </p:cNvPr>
          <p:cNvSpPr/>
          <p:nvPr/>
        </p:nvSpPr>
        <p:spPr>
          <a:xfrm>
            <a:off x="14554201"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45"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S PGothic" panose="020B0600070205080204" pitchFamily="34" charset="-128"/>
              <a:cs typeface="+mn-cs"/>
            </a:endParaRPr>
          </a:p>
        </p:txBody>
      </p:sp>
      <p:sp>
        <p:nvSpPr>
          <p:cNvPr id="2" name="TextBox 14">
            <a:extLst>
              <a:ext uri="{FF2B5EF4-FFF2-40B4-BE49-F238E27FC236}">
                <a16:creationId xmlns:a16="http://schemas.microsoft.com/office/drawing/2014/main" id="{B0FD0FE3-CDFC-9D7E-7077-72161266DDEC}"/>
              </a:ext>
            </a:extLst>
          </p:cNvPr>
          <p:cNvSpPr txBox="1"/>
          <p:nvPr/>
        </p:nvSpPr>
        <p:spPr>
          <a:xfrm>
            <a:off x="584198" y="1026137"/>
            <a:ext cx="11004828" cy="884858"/>
          </a:xfrm>
          <a:prstGeom prst="rect">
            <a:avLst/>
          </a:prstGeom>
        </p:spPr>
        <p:txBody>
          <a:bodyPr wrap="square" lIns="0" tIns="0" rIns="0" bIns="0" rtlCol="0" anchor="t">
            <a:spAutoFit/>
          </a:bodyPr>
          <a:lstStyle/>
          <a:p>
            <a:pPr marL="0" marR="0" lvl="0" indent="0" algn="l" defTabSz="914445" rtl="0" eaLnBrk="1" fontAlgn="auto" latinLnBrk="0" hangingPunct="1">
              <a:lnSpc>
                <a:spcPts val="6860"/>
              </a:lnSpc>
              <a:spcBef>
                <a:spcPts val="0"/>
              </a:spcBef>
              <a:spcAft>
                <a:spcPts val="0"/>
              </a:spcAft>
              <a:buClrTx/>
              <a:buSzTx/>
              <a:buFontTx/>
              <a:buNone/>
              <a:tabLst/>
              <a:defRPr/>
            </a:pPr>
            <a:r>
              <a:rPr kumimoji="0" lang="en-US" sz="6000" b="0" i="1" u="none" strike="noStrike" kern="1200" cap="none" spc="-413" normalizeH="0" baseline="0" noProof="0" dirty="0">
                <a:ln>
                  <a:noFill/>
                </a:ln>
                <a:solidFill>
                  <a:prstClr val="white"/>
                </a:solidFill>
                <a:effectLst/>
                <a:uLnTx/>
                <a:uFillTx/>
                <a:latin typeface="DM Sans Bold"/>
                <a:ea typeface="ＭＳ Ｐゴシック" panose="020B0600070205080204" pitchFamily="34" charset="-128"/>
                <a:cs typeface="+mn-cs"/>
              </a:rPr>
              <a:t>Q8. </a:t>
            </a:r>
            <a:r>
              <a:rPr kumimoji="0" lang="en-US" sz="6000" b="0" i="1" u="none" strike="noStrike" kern="1200" cap="none" spc="-413" normalizeH="0" baseline="0" noProof="0" dirty="0">
                <a:ln>
                  <a:noFill/>
                </a:ln>
                <a:solidFill>
                  <a:srgbClr val="FF0000"/>
                </a:solidFill>
                <a:effectLst/>
                <a:uLnTx/>
                <a:uFillTx/>
                <a:latin typeface="DM Sans Bold"/>
                <a:ea typeface="ＭＳ Ｐゴシック" panose="020B0600070205080204" pitchFamily="34" charset="-128"/>
                <a:cs typeface="+mn-cs"/>
              </a:rPr>
              <a:t>Answer </a:t>
            </a:r>
            <a:r>
              <a:rPr kumimoji="0" lang="en-US" sz="6000" b="0" i="1" u="none" strike="noStrike" kern="1200" cap="none" spc="-413" normalizeH="0" baseline="0" noProof="0" dirty="0">
                <a:ln>
                  <a:noFill/>
                </a:ln>
                <a:solidFill>
                  <a:prstClr val="white"/>
                </a:solidFill>
                <a:effectLst/>
                <a:uLnTx/>
                <a:uFillTx/>
                <a:latin typeface="DM Sans Bold"/>
                <a:ea typeface="ＭＳ Ｐゴシック" panose="020B0600070205080204" pitchFamily="34" charset="-128"/>
                <a:cs typeface="+mn-cs"/>
              </a:rPr>
              <a:t> </a:t>
            </a:r>
          </a:p>
        </p:txBody>
      </p:sp>
      <p:sp>
        <p:nvSpPr>
          <p:cNvPr id="5" name="TextBox 4">
            <a:extLst>
              <a:ext uri="{FF2B5EF4-FFF2-40B4-BE49-F238E27FC236}">
                <a16:creationId xmlns:a16="http://schemas.microsoft.com/office/drawing/2014/main" id="{3420E6DF-9014-E4BA-3530-47C5067DB92A}"/>
              </a:ext>
            </a:extLst>
          </p:cNvPr>
          <p:cNvSpPr txBox="1"/>
          <p:nvPr/>
        </p:nvSpPr>
        <p:spPr>
          <a:xfrm>
            <a:off x="584197" y="2135706"/>
            <a:ext cx="13572069" cy="1384995"/>
          </a:xfrm>
          <a:prstGeom prst="rect">
            <a:avLst/>
          </a:prstGeom>
          <a:noFill/>
        </p:spPr>
        <p:txBody>
          <a:bodyPr wrap="square">
            <a:spAutoFit/>
          </a:bodyPr>
          <a:lstStyle/>
          <a:p>
            <a:pPr>
              <a:defRPr/>
            </a:pPr>
            <a:r>
              <a:rPr kumimoji="0" lang="en-US" sz="2800" b="0" i="0" u="none" strike="noStrike" kern="1200" cap="none" spc="0" normalizeH="0" baseline="0" noProof="0" dirty="0">
                <a:ln>
                  <a:noFill/>
                </a:ln>
                <a:solidFill>
                  <a:srgbClr val="F8F8F8"/>
                </a:solidFill>
                <a:effectLst/>
                <a:uLnTx/>
                <a:uFillTx/>
                <a:latin typeface="DM Sans Bold"/>
                <a:ea typeface="+mn-ea"/>
                <a:cs typeface="+mn-cs"/>
              </a:rPr>
              <a:t>How might improvements in observations (e.g., satellites, ocean measurements) help improve climate models?</a:t>
            </a:r>
          </a:p>
          <a:p>
            <a:pPr>
              <a:defRPr/>
            </a:pPr>
            <a:endParaRPr kumimoji="0" lang="en-GB" sz="2800" b="1" i="0" u="none" strike="noStrike" kern="1200" cap="none" spc="0" normalizeH="0" baseline="0" noProof="0" dirty="0">
              <a:ln>
                <a:noFill/>
              </a:ln>
              <a:solidFill>
                <a:prstClr val="white"/>
              </a:solidFill>
              <a:effectLst/>
              <a:uLnTx/>
              <a:uFillTx/>
              <a:latin typeface="DM Sans"/>
              <a:ea typeface="+mn-ea"/>
              <a:cs typeface="+mn-cs"/>
            </a:endParaRPr>
          </a:p>
        </p:txBody>
      </p:sp>
      <p:sp>
        <p:nvSpPr>
          <p:cNvPr id="10" name="TextBox 9">
            <a:extLst>
              <a:ext uri="{FF2B5EF4-FFF2-40B4-BE49-F238E27FC236}">
                <a16:creationId xmlns:a16="http://schemas.microsoft.com/office/drawing/2014/main" id="{7E23EABB-ACCD-E4E0-F9D9-4BED473A1E04}"/>
              </a:ext>
            </a:extLst>
          </p:cNvPr>
          <p:cNvSpPr txBox="1"/>
          <p:nvPr/>
        </p:nvSpPr>
        <p:spPr>
          <a:xfrm>
            <a:off x="584197" y="4420889"/>
            <a:ext cx="17029316" cy="378565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marL="342900" indent="-342900">
              <a:buFont typeface="Arial" panose="020B0604020202020204" pitchFamily="34" charset="0"/>
              <a:buChar char="•"/>
            </a:pPr>
            <a:endParaRPr lang="en-GB" sz="2400" dirty="0">
              <a:solidFill>
                <a:schemeClr val="tx1"/>
              </a:solidFill>
              <a:latin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GB" sz="2400" dirty="0">
                <a:solidFill>
                  <a:schemeClr val="tx1"/>
                </a:solidFill>
                <a:latin typeface="Calibri" panose="020F0502020204030204" pitchFamily="34" charset="0"/>
                <a:cs typeface="Calibri" panose="020F0502020204030204" pitchFamily="34" charset="0"/>
              </a:rPr>
              <a:t>Provide more accurate initial conditions for climate model simulations.</a:t>
            </a:r>
          </a:p>
          <a:p>
            <a:pPr marL="342900" indent="-342900">
              <a:buFont typeface="Arial" panose="020B0604020202020204" pitchFamily="34" charset="0"/>
              <a:buChar char="•"/>
            </a:pPr>
            <a:r>
              <a:rPr lang="en-GB" sz="2400" dirty="0">
                <a:solidFill>
                  <a:schemeClr val="tx1"/>
                </a:solidFill>
                <a:latin typeface="Calibri" panose="020F0502020204030204" pitchFamily="34" charset="0"/>
                <a:cs typeface="Calibri" panose="020F0502020204030204" pitchFamily="34" charset="0"/>
              </a:rPr>
              <a:t>Allow scientists to validate model outputs by comparing simulations with real-world measurements.</a:t>
            </a:r>
          </a:p>
          <a:p>
            <a:pPr marL="342900" indent="-342900">
              <a:buFont typeface="Arial" panose="020B0604020202020204" pitchFamily="34" charset="0"/>
              <a:buChar char="•"/>
            </a:pPr>
            <a:r>
              <a:rPr lang="en-GB" sz="2400" dirty="0">
                <a:solidFill>
                  <a:schemeClr val="tx1"/>
                </a:solidFill>
                <a:latin typeface="Calibri" panose="020F0502020204030204" pitchFamily="34" charset="0"/>
                <a:cs typeface="Calibri" panose="020F0502020204030204" pitchFamily="34" charset="0"/>
              </a:rPr>
              <a:t>Improve representation of poorly understood processes such as cloud formation, aerosol effects, and ocean circulation.</a:t>
            </a:r>
          </a:p>
          <a:p>
            <a:pPr marL="342900" indent="-342900">
              <a:buFont typeface="Arial" panose="020B0604020202020204" pitchFamily="34" charset="0"/>
              <a:buChar char="•"/>
            </a:pPr>
            <a:r>
              <a:rPr lang="en-GB" sz="2400" dirty="0">
                <a:solidFill>
                  <a:schemeClr val="tx1"/>
                </a:solidFill>
                <a:latin typeface="Calibri" panose="020F0502020204030204" pitchFamily="34" charset="0"/>
                <a:cs typeface="Calibri" panose="020F0502020204030204" pitchFamily="34" charset="0"/>
              </a:rPr>
              <a:t>Provide better coverage of remote regions (e.g., oceans, polar regions) that previously had limited observations.</a:t>
            </a:r>
          </a:p>
          <a:p>
            <a:pPr marL="342900" indent="-342900">
              <a:buFont typeface="Arial" panose="020B0604020202020204" pitchFamily="34" charset="0"/>
              <a:buChar char="•"/>
            </a:pPr>
            <a:r>
              <a:rPr lang="en-GB" sz="2400" dirty="0">
                <a:solidFill>
                  <a:schemeClr val="tx1"/>
                </a:solidFill>
                <a:latin typeface="Calibri" panose="020F0502020204030204" pitchFamily="34" charset="0"/>
                <a:cs typeface="Calibri" panose="020F0502020204030204" pitchFamily="34" charset="0"/>
              </a:rPr>
              <a:t>Help refine parameterisations used to represent small-scale processes that cannot be directly resolved in models.</a:t>
            </a:r>
          </a:p>
          <a:p>
            <a:pPr marL="342900" indent="-342900">
              <a:buFont typeface="Arial" panose="020B0604020202020204" pitchFamily="34" charset="0"/>
              <a:buChar char="•"/>
            </a:pPr>
            <a:r>
              <a:rPr lang="en-GB" sz="2400" dirty="0">
                <a:solidFill>
                  <a:schemeClr val="tx1"/>
                </a:solidFill>
                <a:latin typeface="Calibri" panose="020F0502020204030204" pitchFamily="34" charset="0"/>
                <a:cs typeface="Calibri" panose="020F0502020204030204" pitchFamily="34" charset="0"/>
              </a:rPr>
              <a:t>Improve estimates of key climate variables such as temperature, precipitation, sea ice extent, and ocean heat content.</a:t>
            </a:r>
          </a:p>
          <a:p>
            <a:pPr marL="342900" indent="-342900">
              <a:buFont typeface="Arial" panose="020B0604020202020204" pitchFamily="34" charset="0"/>
              <a:buChar char="•"/>
            </a:pPr>
            <a:r>
              <a:rPr lang="en-GB" sz="2400" dirty="0">
                <a:solidFill>
                  <a:schemeClr val="tx1"/>
                </a:solidFill>
                <a:latin typeface="Calibri" panose="020F0502020204030204" pitchFamily="34" charset="0"/>
                <a:cs typeface="Calibri" panose="020F0502020204030204" pitchFamily="34" charset="0"/>
              </a:rPr>
              <a:t>Enable continuous long-term datasets, which help detect trends and improve confidence in model projections</a:t>
            </a:r>
          </a:p>
          <a:p>
            <a:pPr marL="342900" indent="-342900">
              <a:buFont typeface="Arial" panose="020B0604020202020204" pitchFamily="34" charset="0"/>
              <a:buChar char="•"/>
            </a:pPr>
            <a:r>
              <a:rPr lang="en-GB" sz="2400" dirty="0">
                <a:solidFill>
                  <a:schemeClr val="tx1"/>
                </a:solidFill>
                <a:latin typeface="Calibri" panose="020F0502020204030204" pitchFamily="34" charset="0"/>
                <a:cs typeface="Calibri" panose="020F0502020204030204" pitchFamily="34" charset="0"/>
              </a:rPr>
              <a:t>And more perhaps…</a:t>
            </a:r>
          </a:p>
          <a:p>
            <a:endParaRPr lang="en-GB" sz="2400" dirty="0">
              <a:solidFill>
                <a:schemeClr val="tx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55035292"/>
      </p:ext>
    </p:extLst>
  </p:cSld>
  <p:clrMapOvr>
    <a:masterClrMapping/>
  </p:clrMapOvr>
  <mc:AlternateContent xmlns:mc="http://schemas.openxmlformats.org/markup-compatibility/2006" xmlns:p14="http://schemas.microsoft.com/office/powerpoint/2010/main">
    <mc:Choice Requires="p14">
      <p:transition spd="slow" p14:dur="2000" advTm="12715"/>
    </mc:Choice>
    <mc:Fallback xmlns="">
      <p:transition spd="slow" advTm="12715"/>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F63FA7-29D4-890D-577D-5B26EFD1F1A4}"/>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00CB4E05-D7B8-A1E2-CA1B-53B248311204}"/>
              </a:ext>
            </a:extLst>
          </p:cNvPr>
          <p:cNvSpPr/>
          <p:nvPr/>
        </p:nvSpPr>
        <p:spPr>
          <a:xfrm>
            <a:off x="14147800"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914445"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
        <p:nvSpPr>
          <p:cNvPr id="5" name="TextBox 14">
            <a:extLst>
              <a:ext uri="{FF2B5EF4-FFF2-40B4-BE49-F238E27FC236}">
                <a16:creationId xmlns:a16="http://schemas.microsoft.com/office/drawing/2014/main" id="{684D0F5B-6E93-DFB1-44C2-12AD47AE0BFD}"/>
              </a:ext>
            </a:extLst>
          </p:cNvPr>
          <p:cNvSpPr txBox="1"/>
          <p:nvPr/>
        </p:nvSpPr>
        <p:spPr>
          <a:xfrm>
            <a:off x="584198" y="1026137"/>
            <a:ext cx="11004828" cy="884858"/>
          </a:xfrm>
          <a:prstGeom prst="rect">
            <a:avLst/>
          </a:prstGeom>
        </p:spPr>
        <p:txBody>
          <a:bodyPr wrap="square" lIns="0" tIns="0" rIns="0" bIns="0" rtlCol="0" anchor="t">
            <a:spAutoFit/>
          </a:bodyPr>
          <a:lstStyle/>
          <a:p>
            <a:pPr marL="0" marR="0" lvl="0" indent="0" algn="l" defTabSz="914445" rtl="0" eaLnBrk="1" fontAlgn="auto" latinLnBrk="0" hangingPunct="1">
              <a:lnSpc>
                <a:spcPts val="6860"/>
              </a:lnSpc>
              <a:spcBef>
                <a:spcPts val="0"/>
              </a:spcBef>
              <a:spcAft>
                <a:spcPts val="0"/>
              </a:spcAft>
              <a:buClrTx/>
              <a:buSzTx/>
              <a:buFontTx/>
              <a:buNone/>
              <a:tabLst/>
              <a:defRPr/>
            </a:pPr>
            <a:r>
              <a:rPr kumimoji="0" lang="en-US" sz="6000" b="0" i="1" u="none" strike="noStrike" kern="1200" cap="none" spc="-413" normalizeH="0" baseline="0" noProof="0" dirty="0">
                <a:ln>
                  <a:noFill/>
                </a:ln>
                <a:solidFill>
                  <a:srgbClr val="46245A"/>
                </a:solidFill>
                <a:effectLst/>
                <a:uLnTx/>
                <a:uFillTx/>
                <a:latin typeface="DM Sans Bold"/>
                <a:ea typeface="ＭＳ Ｐゴシック" panose="020B0600070205080204" pitchFamily="34" charset="-128"/>
                <a:cs typeface="+mn-cs"/>
              </a:rPr>
              <a:t>Q9. </a:t>
            </a:r>
          </a:p>
        </p:txBody>
      </p:sp>
      <p:sp>
        <p:nvSpPr>
          <p:cNvPr id="4" name="TextBox 3">
            <a:extLst>
              <a:ext uri="{FF2B5EF4-FFF2-40B4-BE49-F238E27FC236}">
                <a16:creationId xmlns:a16="http://schemas.microsoft.com/office/drawing/2014/main" id="{EB91FFFC-4394-C112-78E6-A6939D8DAFDF}"/>
              </a:ext>
            </a:extLst>
          </p:cNvPr>
          <p:cNvSpPr txBox="1"/>
          <p:nvPr/>
        </p:nvSpPr>
        <p:spPr>
          <a:xfrm>
            <a:off x="584197" y="2135706"/>
            <a:ext cx="14485818" cy="95410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effectLst/>
                <a:uLnTx/>
                <a:uFillTx/>
                <a:latin typeface="DM Sans Bold"/>
                <a:ea typeface="+mn-ea"/>
                <a:cs typeface="+mn-cs"/>
              </a:rPr>
              <a:t>Do you think AI and machine learning will eventually replace physics-based climate models, or just complement them? Why?</a:t>
            </a:r>
          </a:p>
        </p:txBody>
      </p:sp>
    </p:spTree>
    <p:extLst>
      <p:ext uri="{BB962C8B-B14F-4D97-AF65-F5344CB8AC3E}">
        <p14:creationId xmlns:p14="http://schemas.microsoft.com/office/powerpoint/2010/main" val="31955936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63704296-904F-18DF-9B50-40F2E361F3D2}"/>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E4928993-A57C-A72F-2A3D-BA6FAB1C2621}"/>
              </a:ext>
            </a:extLst>
          </p:cNvPr>
          <p:cNvSpPr/>
          <p:nvPr/>
        </p:nvSpPr>
        <p:spPr>
          <a:xfrm>
            <a:off x="14554201"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45"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S PGothic" panose="020B0600070205080204" pitchFamily="34" charset="-128"/>
              <a:cs typeface="+mn-cs"/>
            </a:endParaRPr>
          </a:p>
        </p:txBody>
      </p:sp>
      <p:sp>
        <p:nvSpPr>
          <p:cNvPr id="2" name="TextBox 14">
            <a:extLst>
              <a:ext uri="{FF2B5EF4-FFF2-40B4-BE49-F238E27FC236}">
                <a16:creationId xmlns:a16="http://schemas.microsoft.com/office/drawing/2014/main" id="{D1F5AB6F-AD8C-1FA6-704A-C36E7761CD45}"/>
              </a:ext>
            </a:extLst>
          </p:cNvPr>
          <p:cNvSpPr txBox="1"/>
          <p:nvPr/>
        </p:nvSpPr>
        <p:spPr>
          <a:xfrm>
            <a:off x="584198" y="1026137"/>
            <a:ext cx="11004828" cy="884858"/>
          </a:xfrm>
          <a:prstGeom prst="rect">
            <a:avLst/>
          </a:prstGeom>
        </p:spPr>
        <p:txBody>
          <a:bodyPr wrap="square" lIns="0" tIns="0" rIns="0" bIns="0" rtlCol="0" anchor="t">
            <a:spAutoFit/>
          </a:bodyPr>
          <a:lstStyle/>
          <a:p>
            <a:pPr marL="0" marR="0" lvl="0" indent="0" algn="l" defTabSz="914445" rtl="0" eaLnBrk="1" fontAlgn="auto" latinLnBrk="0" hangingPunct="1">
              <a:lnSpc>
                <a:spcPts val="6860"/>
              </a:lnSpc>
              <a:spcBef>
                <a:spcPts val="0"/>
              </a:spcBef>
              <a:spcAft>
                <a:spcPts val="0"/>
              </a:spcAft>
              <a:buClrTx/>
              <a:buSzTx/>
              <a:buFontTx/>
              <a:buNone/>
              <a:tabLst/>
              <a:defRPr/>
            </a:pPr>
            <a:r>
              <a:rPr kumimoji="0" lang="en-US" sz="6000" b="0" i="1" u="none" strike="noStrike" kern="1200" cap="none" spc="-413" normalizeH="0" baseline="0" noProof="0" dirty="0">
                <a:ln>
                  <a:noFill/>
                </a:ln>
                <a:solidFill>
                  <a:prstClr val="white"/>
                </a:solidFill>
                <a:effectLst/>
                <a:uLnTx/>
                <a:uFillTx/>
                <a:latin typeface="DM Sans Bold"/>
                <a:ea typeface="ＭＳ Ｐゴシック" panose="020B0600070205080204" pitchFamily="34" charset="-128"/>
                <a:cs typeface="+mn-cs"/>
              </a:rPr>
              <a:t>Q9. </a:t>
            </a:r>
            <a:r>
              <a:rPr kumimoji="0" lang="en-US" sz="6000" b="0" i="1" u="none" strike="noStrike" kern="1200" cap="none" spc="-413" normalizeH="0" baseline="0" noProof="0" dirty="0">
                <a:ln>
                  <a:noFill/>
                </a:ln>
                <a:solidFill>
                  <a:srgbClr val="FF0000"/>
                </a:solidFill>
                <a:effectLst/>
                <a:uLnTx/>
                <a:uFillTx/>
                <a:latin typeface="DM Sans Bold"/>
                <a:ea typeface="ＭＳ Ｐゴシック" panose="020B0600070205080204" pitchFamily="34" charset="-128"/>
                <a:cs typeface="+mn-cs"/>
              </a:rPr>
              <a:t>Answer </a:t>
            </a:r>
            <a:r>
              <a:rPr kumimoji="0" lang="en-US" sz="6000" b="0" i="1" u="none" strike="noStrike" kern="1200" cap="none" spc="-413" normalizeH="0" baseline="0" noProof="0" dirty="0">
                <a:ln>
                  <a:noFill/>
                </a:ln>
                <a:solidFill>
                  <a:prstClr val="white"/>
                </a:solidFill>
                <a:effectLst/>
                <a:uLnTx/>
                <a:uFillTx/>
                <a:latin typeface="DM Sans Bold"/>
                <a:ea typeface="ＭＳ Ｐゴシック" panose="020B0600070205080204" pitchFamily="34" charset="-128"/>
                <a:cs typeface="+mn-cs"/>
              </a:rPr>
              <a:t> </a:t>
            </a:r>
          </a:p>
        </p:txBody>
      </p:sp>
      <p:sp>
        <p:nvSpPr>
          <p:cNvPr id="5" name="TextBox 4">
            <a:extLst>
              <a:ext uri="{FF2B5EF4-FFF2-40B4-BE49-F238E27FC236}">
                <a16:creationId xmlns:a16="http://schemas.microsoft.com/office/drawing/2014/main" id="{C4BEBFAC-73B1-16A6-E6CC-109459BFE623}"/>
              </a:ext>
            </a:extLst>
          </p:cNvPr>
          <p:cNvSpPr txBox="1"/>
          <p:nvPr/>
        </p:nvSpPr>
        <p:spPr>
          <a:xfrm>
            <a:off x="584197" y="2135706"/>
            <a:ext cx="13572069" cy="1815882"/>
          </a:xfrm>
          <a:prstGeom prst="rect">
            <a:avLst/>
          </a:prstGeom>
          <a:noFill/>
        </p:spPr>
        <p:txBody>
          <a:bodyPr wrap="square">
            <a:spAutoFit/>
          </a:bodyPr>
          <a:lstStyle/>
          <a:p>
            <a:pPr>
              <a:defRPr/>
            </a:pPr>
            <a:r>
              <a:rPr kumimoji="0" lang="en-US" sz="2800" b="0" i="0" u="none" strike="noStrike" kern="1200" cap="none" spc="0" normalizeH="0" baseline="0" noProof="0" dirty="0">
                <a:ln>
                  <a:noFill/>
                </a:ln>
                <a:solidFill>
                  <a:srgbClr val="F8F8F8"/>
                </a:solidFill>
                <a:effectLst/>
                <a:uLnTx/>
                <a:uFillTx/>
                <a:latin typeface="DM Sans Bold"/>
                <a:ea typeface="+mn-ea"/>
                <a:cs typeface="+mn-cs"/>
              </a:rPr>
              <a:t>Do you think AI and machine learning will eventually replace physics-based climate models, or just complement them? Why?</a:t>
            </a:r>
          </a:p>
          <a:p>
            <a:pPr>
              <a:defRPr/>
            </a:pPr>
            <a:endParaRPr kumimoji="0" lang="en-US" sz="2800" b="0" i="0" u="none" strike="noStrike" kern="1200" cap="none" spc="0" normalizeH="0" baseline="0" noProof="0" dirty="0">
              <a:ln>
                <a:noFill/>
              </a:ln>
              <a:solidFill>
                <a:srgbClr val="F8F8F8"/>
              </a:solidFill>
              <a:effectLst/>
              <a:uLnTx/>
              <a:uFillTx/>
              <a:latin typeface="DM Sans Bold"/>
              <a:ea typeface="+mn-ea"/>
              <a:cs typeface="+mn-cs"/>
            </a:endParaRPr>
          </a:p>
          <a:p>
            <a:pPr>
              <a:defRPr/>
            </a:pPr>
            <a:endParaRPr kumimoji="0" lang="en-GB" sz="2800" b="1" i="0" u="none" strike="noStrike" kern="1200" cap="none" spc="0" normalizeH="0" baseline="0" noProof="0" dirty="0">
              <a:ln>
                <a:noFill/>
              </a:ln>
              <a:solidFill>
                <a:prstClr val="white"/>
              </a:solidFill>
              <a:effectLst/>
              <a:uLnTx/>
              <a:uFillTx/>
              <a:latin typeface="DM Sans"/>
              <a:ea typeface="+mn-ea"/>
              <a:cs typeface="+mn-cs"/>
            </a:endParaRPr>
          </a:p>
        </p:txBody>
      </p:sp>
      <p:sp>
        <p:nvSpPr>
          <p:cNvPr id="10" name="TextBox 9">
            <a:extLst>
              <a:ext uri="{FF2B5EF4-FFF2-40B4-BE49-F238E27FC236}">
                <a16:creationId xmlns:a16="http://schemas.microsoft.com/office/drawing/2014/main" id="{A4D669E2-E677-82B5-6432-428F0358B2AB}"/>
              </a:ext>
            </a:extLst>
          </p:cNvPr>
          <p:cNvSpPr txBox="1"/>
          <p:nvPr/>
        </p:nvSpPr>
        <p:spPr>
          <a:xfrm>
            <a:off x="704538" y="3466807"/>
            <a:ext cx="16579122" cy="6247864"/>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GB" sz="2000" dirty="0">
                <a:latin typeface="Calibri" panose="020F0502020204030204" pitchFamily="34" charset="0"/>
                <a:cs typeface="Calibri" panose="020F0502020204030204" pitchFamily="34" charset="0"/>
              </a:rPr>
              <a:t>Current GCMs are grounded in physical laws, which ensures that simulations remain physically realistic. AI models typically learn patterns from data and do not inherently enforce these physical constraints.</a:t>
            </a:r>
          </a:p>
          <a:p>
            <a:endParaRPr lang="en-GB" sz="2000" dirty="0">
              <a:latin typeface="Calibri" panose="020F0502020204030204" pitchFamily="34" charset="0"/>
              <a:cs typeface="Calibri" panose="020F0502020204030204" pitchFamily="34" charset="0"/>
            </a:endParaRPr>
          </a:p>
          <a:p>
            <a:r>
              <a:rPr lang="en-GB" sz="2000" dirty="0">
                <a:latin typeface="Calibri" panose="020F0502020204030204" pitchFamily="34" charset="0"/>
                <a:cs typeface="Calibri" panose="020F0502020204030204" pitchFamily="34" charset="0"/>
              </a:rPr>
              <a:t>AI and machine learning are powerful for analysing large datasets. They can rapidly identify patterns in climate observations and model outputs that may be difficult for traditional methods to detect.</a:t>
            </a:r>
          </a:p>
          <a:p>
            <a:endParaRPr lang="en-GB" sz="2000" dirty="0">
              <a:latin typeface="Calibri" panose="020F0502020204030204" pitchFamily="34" charset="0"/>
              <a:cs typeface="Calibri" panose="020F0502020204030204" pitchFamily="34" charset="0"/>
            </a:endParaRPr>
          </a:p>
          <a:p>
            <a:r>
              <a:rPr lang="en-GB" sz="2000" dirty="0">
                <a:latin typeface="Calibri" panose="020F0502020204030204" pitchFamily="34" charset="0"/>
                <a:cs typeface="Calibri" panose="020F0502020204030204" pitchFamily="34" charset="0"/>
              </a:rPr>
              <a:t>Machine learning can improve parameterisations of small-scale processes (such as clouds, turbulence, or convection) that are difficult to represent accurately in traditional models.</a:t>
            </a:r>
          </a:p>
          <a:p>
            <a:endParaRPr lang="en-GB" sz="2000" dirty="0">
              <a:latin typeface="Calibri" panose="020F0502020204030204" pitchFamily="34" charset="0"/>
              <a:cs typeface="Calibri" panose="020F0502020204030204" pitchFamily="34" charset="0"/>
            </a:endParaRPr>
          </a:p>
          <a:p>
            <a:r>
              <a:rPr lang="en-GB" sz="2000" dirty="0">
                <a:latin typeface="Calibri" panose="020F0502020204030204" pitchFamily="34" charset="0"/>
                <a:cs typeface="Calibri" panose="020F0502020204030204" pitchFamily="34" charset="0"/>
              </a:rPr>
              <a:t>AI can significantly accelerate climate simulations. They can reproduce parts of climate models much faster, allowing scientists to run many more scenarios or sensitivity tests.</a:t>
            </a:r>
          </a:p>
          <a:p>
            <a:endParaRPr lang="en-GB" sz="2000" dirty="0">
              <a:latin typeface="Calibri" panose="020F0502020204030204" pitchFamily="34" charset="0"/>
              <a:cs typeface="Calibri" panose="020F0502020204030204" pitchFamily="34" charset="0"/>
            </a:endParaRPr>
          </a:p>
          <a:p>
            <a:r>
              <a:rPr lang="en-GB" sz="2000" dirty="0">
                <a:latin typeface="Calibri" panose="020F0502020204030204" pitchFamily="34" charset="0"/>
                <a:cs typeface="Calibri" panose="020F0502020204030204" pitchFamily="34" charset="0"/>
              </a:rPr>
              <a:t>AI can help improve prediction of extreme events (e.g., heatwaves, storms, or heavy rainfall) by learning from large historical datasets and high-resolution simulations.</a:t>
            </a:r>
          </a:p>
          <a:p>
            <a:endParaRPr lang="en-GB" sz="2000" dirty="0">
              <a:latin typeface="Calibri" panose="020F0502020204030204" pitchFamily="34" charset="0"/>
              <a:cs typeface="Calibri" panose="020F0502020204030204" pitchFamily="34" charset="0"/>
            </a:endParaRPr>
          </a:p>
          <a:p>
            <a:r>
              <a:rPr lang="en-GB" sz="2000" dirty="0">
                <a:latin typeface="Calibri" panose="020F0502020204030204" pitchFamily="34" charset="0"/>
                <a:cs typeface="Calibri" panose="020F0502020204030204" pitchFamily="34" charset="0"/>
              </a:rPr>
              <a:t>However, AI models depend strongly on the quality and quantity of training data, which may limit their reliability when projecting conditions that have not previously occurred.</a:t>
            </a:r>
          </a:p>
          <a:p>
            <a:endParaRPr lang="en-GB" sz="2000" dirty="0">
              <a:latin typeface="Calibri" panose="020F0502020204030204" pitchFamily="34" charset="0"/>
              <a:cs typeface="Calibri" panose="020F0502020204030204" pitchFamily="34" charset="0"/>
            </a:endParaRPr>
          </a:p>
          <a:p>
            <a:r>
              <a:rPr lang="en-GB" sz="2000" dirty="0">
                <a:latin typeface="Calibri" panose="020F0502020204030204" pitchFamily="34" charset="0"/>
                <a:cs typeface="Calibri" panose="020F0502020204030204" pitchFamily="34" charset="0"/>
              </a:rPr>
              <a:t>The most likely future approach is hybrid modelling, where machine learning techniques complement physics-based models to improve accuracy, efficiency, and representation of complex processes.</a:t>
            </a:r>
          </a:p>
        </p:txBody>
      </p:sp>
    </p:spTree>
    <p:extLst>
      <p:ext uri="{BB962C8B-B14F-4D97-AF65-F5344CB8AC3E}">
        <p14:creationId xmlns:p14="http://schemas.microsoft.com/office/powerpoint/2010/main" val="2569075475"/>
      </p:ext>
    </p:extLst>
  </p:cSld>
  <p:clrMapOvr>
    <a:masterClrMapping/>
  </p:clrMapOvr>
  <mc:AlternateContent xmlns:mc="http://schemas.openxmlformats.org/markup-compatibility/2006" xmlns:p14="http://schemas.microsoft.com/office/powerpoint/2010/main">
    <mc:Choice Requires="p14">
      <p:transition spd="slow" p14:dur="2000" advTm="12715"/>
    </mc:Choice>
    <mc:Fallback xmlns="">
      <p:transition spd="slow" advTm="12715"/>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DM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DM Sans"/>
        <a:ea typeface=""/>
        <a:cs typeface=""/>
        <a:font script="Jpan" typeface="ＭＳ Ｐゴシック"/>
        <a:font script="Hang" typeface="맑은 고딕"/>
        <a:font script="Hans" typeface="宋体"/>
        <a:font script="Hant" typeface="新細明體"/>
        <a:font script="Arab" typeface="DM Sans"/>
        <a:font script="Hebr" typeface="DM Sans"/>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DM Sans"/>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DM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DM Sans"/>
        <a:ea typeface=""/>
        <a:cs typeface=""/>
        <a:font script="Jpan" typeface="ＭＳ Ｐゴシック"/>
        <a:font script="Hang" typeface="맑은 고딕"/>
        <a:font script="Hans" typeface="宋体"/>
        <a:font script="Hant" typeface="新細明體"/>
        <a:font script="Arab" typeface="DM Sans"/>
        <a:font script="Hebr" typeface="DM Sans"/>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DM Sans"/>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DM Sans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DM Sans"/>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panose="020F0502020204030204"/>
        <a:ea typeface=""/>
        <a:cs typeface=""/>
        <a:font script="Jpan" typeface="游ゴシック"/>
        <a:font script="Hang" typeface="맑은 고딕"/>
        <a:font script="Hans" typeface="等线"/>
        <a:font script="Hant" typeface="新細明體"/>
        <a:font script="Arab" typeface="DM Sans"/>
        <a:font script="Hebr" typeface="DM Sans"/>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DM Sans"/>
        <a:font script="Uigh" typeface="Microsoft Uighur"/>
        <a:font script="Geor" typeface="Sylfaen"/>
        <a:font script="Armn" typeface="DM Sans"/>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2d04b034-a6a6-4c18-a06a-c7f1475d22b7">
      <UserInfo>
        <DisplayName>James Evans</DisplayName>
        <AccountId>12</AccountId>
        <AccountType/>
      </UserInfo>
    </SharedWithUsers>
    <TaxCatchAll xmlns="2d04b034-a6a6-4c18-a06a-c7f1475d22b7" xsi:nil="true"/>
    <lcf76f155ced4ddcb4097134ff3c332f xmlns="ef2cdc88-2d9e-4cc1-9996-acd9d00229e7">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BE28E7656B8F854EA3FBA2DC0FDE57D8" ma:contentTypeVersion="13" ma:contentTypeDescription="Create a new document." ma:contentTypeScope="" ma:versionID="2f55f3757423f8a9510e16e0485ceae4">
  <xsd:schema xmlns:xsd="http://www.w3.org/2001/XMLSchema" xmlns:xs="http://www.w3.org/2001/XMLSchema" xmlns:p="http://schemas.microsoft.com/office/2006/metadata/properties" xmlns:ns2="ef2cdc88-2d9e-4cc1-9996-acd9d00229e7" xmlns:ns3="2d04b034-a6a6-4c18-a06a-c7f1475d22b7" targetNamespace="http://schemas.microsoft.com/office/2006/metadata/properties" ma:root="true" ma:fieldsID="aad162b2229c38d96906976cd1e951d1" ns2:_="" ns3:_="">
    <xsd:import namespace="ef2cdc88-2d9e-4cc1-9996-acd9d00229e7"/>
    <xsd:import namespace="2d04b034-a6a6-4c18-a06a-c7f1475d22b7"/>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ServiceLocation"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f2cdc88-2d9e-4cc1-9996-acd9d00229e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d84f0fb1-3ff4-4041-99c9-0ff0a116d579"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18"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d04b034-a6a6-4c18-a06a-c7f1475d22b7"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c3033590-d564-48aa-a497-c6dbf64d132b}" ma:internalName="TaxCatchAll" ma:showField="CatchAllData" ma:web="2d04b034-a6a6-4c18-a06a-c7f1475d22b7">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4204787-5CC9-4B4C-895B-E2DD531E2E20}">
  <ds:schemaRefs>
    <ds:schemaRef ds:uri="2d04b034-a6a6-4c18-a06a-c7f1475d22b7"/>
    <ds:schemaRef ds:uri="ef2cdc88-2d9e-4cc1-9996-acd9d00229e7"/>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D75AF22D-E930-4A35-96C8-45C4552CEFD0}">
  <ds:schemaRefs>
    <ds:schemaRef ds:uri="2d04b034-a6a6-4c18-a06a-c7f1475d22b7"/>
    <ds:schemaRef ds:uri="ef2cdc88-2d9e-4cc1-9996-acd9d00229e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16E3B905-089B-4AAB-92C2-9145328F7EB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11428</TotalTime>
  <Words>1914</Words>
  <Application>Microsoft Macintosh PowerPoint</Application>
  <PresentationFormat>Custom</PresentationFormat>
  <Paragraphs>169</Paragraphs>
  <Slides>24</Slides>
  <Notes>24</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24</vt:i4>
      </vt:variant>
    </vt:vector>
  </HeadingPairs>
  <TitlesOfParts>
    <vt:vector size="30" baseType="lpstr">
      <vt:lpstr>DM Sans</vt:lpstr>
      <vt:lpstr>Arial</vt:lpstr>
      <vt:lpstr>Calibri</vt:lpstr>
      <vt:lpstr>DM Sans Bold</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Urban 360 Presentation Template</dc:title>
  <dc:creator>Rebecca Pinder</dc:creator>
  <cp:lastModifiedBy>Thomas Bannan</cp:lastModifiedBy>
  <cp:revision>73</cp:revision>
  <dcterms:created xsi:type="dcterms:W3CDTF">2006-08-16T00:00:00Z</dcterms:created>
  <dcterms:modified xsi:type="dcterms:W3CDTF">2026-03-18T18:39:45Z</dcterms:modified>
  <dc:identifier>DAFmF_MGmPY</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0x010100BE28E7656B8F854EA3FBA2DC0FDE57D8</vt:lpwstr>
  </property>
  <property fmtid="{D5CDD505-2E9C-101B-9397-08002B2CF9AE}" pid="3" name="MediaServiceImageTags">
    <vt:lpwstr/>
  </property>
</Properties>
</file>